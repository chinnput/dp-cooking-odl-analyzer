
<file path=[Content_Types].xml><?xml version="1.0" encoding="utf-8"?>
<Types xmlns="http://schemas.openxmlformats.org/package/2006/content-types">
  <Default Extension="bin" ContentType="application/vnd.openxmlformats-officedocument.oleObject"/>
  <Default Extension="png" ContentType="image/png"/>
  <Default Extension="emf" ContentType="image/x-emf"/>
  <Default Extension="jpeg" ContentType="image/jpeg"/>
  <Default Extension="wmf" ContentType="image/x-wmf"/>
  <Default Extension="rels" ContentType="application/vnd.openxmlformats-package.relationships+xml"/>
  <Default Extension="xml" ContentType="application/xml"/>
  <Default Extension="vml" ContentType="application/vnd.openxmlformats-officedocument.vmlDrawing"/>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media/image103.bin" ContentType="image/unknown"/>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290"/>
  </p:notesMasterIdLst>
  <p:sldIdLst>
    <p:sldId id="577" r:id="rId2"/>
    <p:sldId id="578" r:id="rId3"/>
    <p:sldId id="579" r:id="rId4"/>
    <p:sldId id="580" r:id="rId5"/>
    <p:sldId id="581" r:id="rId6"/>
    <p:sldId id="582" r:id="rId7"/>
    <p:sldId id="583" r:id="rId8"/>
    <p:sldId id="584" r:id="rId9"/>
    <p:sldId id="585" r:id="rId10"/>
    <p:sldId id="586" r:id="rId11"/>
    <p:sldId id="587" r:id="rId12"/>
    <p:sldId id="588" r:id="rId13"/>
    <p:sldId id="589" r:id="rId14"/>
    <p:sldId id="590" r:id="rId15"/>
    <p:sldId id="591" r:id="rId16"/>
    <p:sldId id="592" r:id="rId17"/>
    <p:sldId id="593" r:id="rId18"/>
    <p:sldId id="594" r:id="rId19"/>
    <p:sldId id="595" r:id="rId20"/>
    <p:sldId id="596" r:id="rId21"/>
    <p:sldId id="597" r:id="rId22"/>
    <p:sldId id="598" r:id="rId23"/>
    <p:sldId id="599" r:id="rId24"/>
    <p:sldId id="600" r:id="rId25"/>
    <p:sldId id="601" r:id="rId26"/>
    <p:sldId id="602" r:id="rId27"/>
    <p:sldId id="603" r:id="rId28"/>
    <p:sldId id="368" r:id="rId29"/>
    <p:sldId id="369" r:id="rId30"/>
    <p:sldId id="350" r:id="rId31"/>
    <p:sldId id="403" r:id="rId32"/>
    <p:sldId id="264" r:id="rId33"/>
    <p:sldId id="305" r:id="rId34"/>
    <p:sldId id="306" r:id="rId35"/>
    <p:sldId id="370" r:id="rId36"/>
    <p:sldId id="371" r:id="rId37"/>
    <p:sldId id="617" r:id="rId38"/>
    <p:sldId id="618" r:id="rId39"/>
    <p:sldId id="619" r:id="rId40"/>
    <p:sldId id="620" r:id="rId41"/>
    <p:sldId id="621" r:id="rId42"/>
    <p:sldId id="622" r:id="rId43"/>
    <p:sldId id="623" r:id="rId44"/>
    <p:sldId id="624" r:id="rId45"/>
    <p:sldId id="625" r:id="rId46"/>
    <p:sldId id="626" r:id="rId47"/>
    <p:sldId id="627" r:id="rId48"/>
    <p:sldId id="628" r:id="rId49"/>
    <p:sldId id="629" r:id="rId50"/>
    <p:sldId id="630" r:id="rId51"/>
    <p:sldId id="631" r:id="rId52"/>
    <p:sldId id="632" r:id="rId53"/>
    <p:sldId id="633" r:id="rId54"/>
    <p:sldId id="634" r:id="rId55"/>
    <p:sldId id="635" r:id="rId56"/>
    <p:sldId id="636" r:id="rId57"/>
    <p:sldId id="637" r:id="rId58"/>
    <p:sldId id="639" r:id="rId59"/>
    <p:sldId id="640" r:id="rId60"/>
    <p:sldId id="641" r:id="rId61"/>
    <p:sldId id="642" r:id="rId62"/>
    <p:sldId id="643" r:id="rId63"/>
    <p:sldId id="644" r:id="rId64"/>
    <p:sldId id="645" r:id="rId65"/>
    <p:sldId id="646" r:id="rId66"/>
    <p:sldId id="647" r:id="rId67"/>
    <p:sldId id="648" r:id="rId68"/>
    <p:sldId id="649" r:id="rId69"/>
    <p:sldId id="650" r:id="rId70"/>
    <p:sldId id="651" r:id="rId71"/>
    <p:sldId id="652" r:id="rId72"/>
    <p:sldId id="653" r:id="rId73"/>
    <p:sldId id="654" r:id="rId74"/>
    <p:sldId id="655" r:id="rId75"/>
    <p:sldId id="656" r:id="rId76"/>
    <p:sldId id="657" r:id="rId77"/>
    <p:sldId id="658" r:id="rId78"/>
    <p:sldId id="659" r:id="rId79"/>
    <p:sldId id="660" r:id="rId80"/>
    <p:sldId id="661" r:id="rId81"/>
    <p:sldId id="662" r:id="rId82"/>
    <p:sldId id="663" r:id="rId83"/>
    <p:sldId id="664" r:id="rId84"/>
    <p:sldId id="665" r:id="rId85"/>
    <p:sldId id="666" r:id="rId86"/>
    <p:sldId id="667" r:id="rId87"/>
    <p:sldId id="668" r:id="rId88"/>
    <p:sldId id="669" r:id="rId89"/>
    <p:sldId id="670" r:id="rId90"/>
    <p:sldId id="671" r:id="rId91"/>
    <p:sldId id="697" r:id="rId92"/>
    <p:sldId id="328" r:id="rId93"/>
    <p:sldId id="674" r:id="rId94"/>
    <p:sldId id="675" r:id="rId95"/>
    <p:sldId id="676" r:id="rId96"/>
    <p:sldId id="373" r:id="rId97"/>
    <p:sldId id="677" r:id="rId98"/>
    <p:sldId id="678" r:id="rId99"/>
    <p:sldId id="679" r:id="rId100"/>
    <p:sldId id="680" r:id="rId101"/>
    <p:sldId id="681" r:id="rId102"/>
    <p:sldId id="682" r:id="rId103"/>
    <p:sldId id="683" r:id="rId104"/>
    <p:sldId id="684" r:id="rId105"/>
    <p:sldId id="685" r:id="rId106"/>
    <p:sldId id="686" r:id="rId107"/>
    <p:sldId id="372" r:id="rId108"/>
    <p:sldId id="688" r:id="rId109"/>
    <p:sldId id="689" r:id="rId110"/>
    <p:sldId id="690" r:id="rId111"/>
    <p:sldId id="691" r:id="rId112"/>
    <p:sldId id="692" r:id="rId113"/>
    <p:sldId id="698" r:id="rId114"/>
    <p:sldId id="699" r:id="rId115"/>
    <p:sldId id="693" r:id="rId116"/>
    <p:sldId id="694" r:id="rId117"/>
    <p:sldId id="695" r:id="rId118"/>
    <p:sldId id="696" r:id="rId119"/>
    <p:sldId id="349" r:id="rId120"/>
    <p:sldId id="265" r:id="rId121"/>
    <p:sldId id="309" r:id="rId122"/>
    <p:sldId id="308" r:id="rId123"/>
    <p:sldId id="332" r:id="rId124"/>
    <p:sldId id="700" r:id="rId125"/>
    <p:sldId id="701" r:id="rId126"/>
    <p:sldId id="702" r:id="rId127"/>
    <p:sldId id="355" r:id="rId128"/>
    <p:sldId id="704" r:id="rId129"/>
    <p:sldId id="705" r:id="rId130"/>
    <p:sldId id="706" r:id="rId131"/>
    <p:sldId id="707" r:id="rId132"/>
    <p:sldId id="708" r:id="rId133"/>
    <p:sldId id="709" r:id="rId134"/>
    <p:sldId id="710" r:id="rId135"/>
    <p:sldId id="712" r:id="rId136"/>
    <p:sldId id="713" r:id="rId137"/>
    <p:sldId id="714" r:id="rId138"/>
    <p:sldId id="715" r:id="rId139"/>
    <p:sldId id="716" r:id="rId140"/>
    <p:sldId id="717" r:id="rId141"/>
    <p:sldId id="718" r:id="rId142"/>
    <p:sldId id="719" r:id="rId143"/>
    <p:sldId id="720" r:id="rId144"/>
    <p:sldId id="721" r:id="rId145"/>
    <p:sldId id="722" r:id="rId146"/>
    <p:sldId id="723" r:id="rId147"/>
    <p:sldId id="724" r:id="rId148"/>
    <p:sldId id="356" r:id="rId149"/>
    <p:sldId id="725" r:id="rId150"/>
    <p:sldId id="727" r:id="rId151"/>
    <p:sldId id="728" r:id="rId152"/>
    <p:sldId id="729" r:id="rId153"/>
    <p:sldId id="730" r:id="rId154"/>
    <p:sldId id="731" r:id="rId155"/>
    <p:sldId id="732" r:id="rId156"/>
    <p:sldId id="733" r:id="rId157"/>
    <p:sldId id="734" r:id="rId158"/>
    <p:sldId id="735" r:id="rId159"/>
    <p:sldId id="736" r:id="rId160"/>
    <p:sldId id="737" r:id="rId161"/>
    <p:sldId id="738" r:id="rId162"/>
    <p:sldId id="739" r:id="rId163"/>
    <p:sldId id="740" r:id="rId164"/>
    <p:sldId id="741" r:id="rId165"/>
    <p:sldId id="742" r:id="rId166"/>
    <p:sldId id="743" r:id="rId167"/>
    <p:sldId id="744" r:id="rId168"/>
    <p:sldId id="745" r:id="rId169"/>
    <p:sldId id="746" r:id="rId170"/>
    <p:sldId id="747" r:id="rId171"/>
    <p:sldId id="748" r:id="rId172"/>
    <p:sldId id="749" r:id="rId173"/>
    <p:sldId id="750" r:id="rId174"/>
    <p:sldId id="751" r:id="rId175"/>
    <p:sldId id="360" r:id="rId176"/>
    <p:sldId id="832" r:id="rId177"/>
    <p:sldId id="834" r:id="rId178"/>
    <p:sldId id="835" r:id="rId179"/>
    <p:sldId id="836" r:id="rId180"/>
    <p:sldId id="837" r:id="rId181"/>
    <p:sldId id="838" r:id="rId182"/>
    <p:sldId id="839" r:id="rId183"/>
    <p:sldId id="840" r:id="rId184"/>
    <p:sldId id="841" r:id="rId185"/>
    <p:sldId id="842" r:id="rId186"/>
    <p:sldId id="843" r:id="rId187"/>
    <p:sldId id="756" r:id="rId188"/>
    <p:sldId id="844" r:id="rId189"/>
    <p:sldId id="845" r:id="rId190"/>
    <p:sldId id="757" r:id="rId191"/>
    <p:sldId id="758" r:id="rId192"/>
    <p:sldId id="759" r:id="rId193"/>
    <p:sldId id="755" r:id="rId194"/>
    <p:sldId id="760" r:id="rId195"/>
    <p:sldId id="266" r:id="rId196"/>
    <p:sldId id="329" r:id="rId197"/>
    <p:sldId id="777" r:id="rId198"/>
    <p:sldId id="846" r:id="rId199"/>
    <p:sldId id="847" r:id="rId200"/>
    <p:sldId id="848" r:id="rId201"/>
    <p:sldId id="849" r:id="rId202"/>
    <p:sldId id="850" r:id="rId203"/>
    <p:sldId id="851" r:id="rId204"/>
    <p:sldId id="852" r:id="rId205"/>
    <p:sldId id="853" r:id="rId206"/>
    <p:sldId id="771" r:id="rId207"/>
    <p:sldId id="772" r:id="rId208"/>
    <p:sldId id="773" r:id="rId209"/>
    <p:sldId id="774" r:id="rId210"/>
    <p:sldId id="775" r:id="rId211"/>
    <p:sldId id="776" r:id="rId212"/>
    <p:sldId id="358" r:id="rId213"/>
    <p:sldId id="367" r:id="rId214"/>
    <p:sldId id="784" r:id="rId215"/>
    <p:sldId id="782" r:id="rId216"/>
    <p:sldId id="788" r:id="rId217"/>
    <p:sldId id="783" r:id="rId218"/>
    <p:sldId id="787" r:id="rId219"/>
    <p:sldId id="779" r:id="rId220"/>
    <p:sldId id="781" r:id="rId221"/>
    <p:sldId id="780" r:id="rId222"/>
    <p:sldId id="854" r:id="rId223"/>
    <p:sldId id="855" r:id="rId224"/>
    <p:sldId id="856" r:id="rId225"/>
    <p:sldId id="857" r:id="rId226"/>
    <p:sldId id="858" r:id="rId227"/>
    <p:sldId id="859" r:id="rId228"/>
    <p:sldId id="860" r:id="rId229"/>
    <p:sldId id="861" r:id="rId230"/>
    <p:sldId id="862" r:id="rId231"/>
    <p:sldId id="863" r:id="rId232"/>
    <p:sldId id="864" r:id="rId233"/>
    <p:sldId id="865" r:id="rId234"/>
    <p:sldId id="866" r:id="rId235"/>
    <p:sldId id="867" r:id="rId236"/>
    <p:sldId id="868" r:id="rId237"/>
    <p:sldId id="869" r:id="rId238"/>
    <p:sldId id="870" r:id="rId239"/>
    <p:sldId id="871" r:id="rId240"/>
    <p:sldId id="872" r:id="rId241"/>
    <p:sldId id="873" r:id="rId242"/>
    <p:sldId id="874" r:id="rId243"/>
    <p:sldId id="875" r:id="rId244"/>
    <p:sldId id="876" r:id="rId245"/>
    <p:sldId id="877" r:id="rId246"/>
    <p:sldId id="878" r:id="rId247"/>
    <p:sldId id="879" r:id="rId248"/>
    <p:sldId id="880" r:id="rId249"/>
    <p:sldId id="881" r:id="rId250"/>
    <p:sldId id="882" r:id="rId251"/>
    <p:sldId id="883" r:id="rId252"/>
    <p:sldId id="884" r:id="rId253"/>
    <p:sldId id="885" r:id="rId254"/>
    <p:sldId id="886" r:id="rId255"/>
    <p:sldId id="887" r:id="rId256"/>
    <p:sldId id="888" r:id="rId257"/>
    <p:sldId id="892" r:id="rId258"/>
    <p:sldId id="893" r:id="rId259"/>
    <p:sldId id="894" r:id="rId260"/>
    <p:sldId id="897" r:id="rId261"/>
    <p:sldId id="895" r:id="rId262"/>
    <p:sldId id="896" r:id="rId263"/>
    <p:sldId id="898" r:id="rId264"/>
    <p:sldId id="785" r:id="rId265"/>
    <p:sldId id="786" r:id="rId266"/>
    <p:sldId id="348" r:id="rId267"/>
    <p:sldId id="899" r:id="rId268"/>
    <p:sldId id="900" r:id="rId269"/>
    <p:sldId id="901" r:id="rId270"/>
    <p:sldId id="902" r:id="rId271"/>
    <p:sldId id="903" r:id="rId272"/>
    <p:sldId id="904" r:id="rId273"/>
    <p:sldId id="905" r:id="rId274"/>
    <p:sldId id="906" r:id="rId275"/>
    <p:sldId id="907" r:id="rId276"/>
    <p:sldId id="908" r:id="rId277"/>
    <p:sldId id="909" r:id="rId278"/>
    <p:sldId id="910" r:id="rId279"/>
    <p:sldId id="911" r:id="rId280"/>
    <p:sldId id="912" r:id="rId281"/>
    <p:sldId id="913" r:id="rId282"/>
    <p:sldId id="914" r:id="rId283"/>
    <p:sldId id="406" r:id="rId284"/>
    <p:sldId id="407" r:id="rId285"/>
    <p:sldId id="409" r:id="rId286"/>
    <p:sldId id="408" r:id="rId287"/>
    <p:sldId id="410" r:id="rId288"/>
    <p:sldId id="411" r:id="rId289"/>
  </p:sldIdLst>
  <p:sldSz cx="9144000" cy="6858000" type="screen4x3"/>
  <p:notesSz cx="6858000" cy="9144000"/>
  <p:defaultTextStyle>
    <a:defPPr>
      <a:defRPr lang="en-US"/>
    </a:defPPr>
    <a:lvl1pPr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1pPr>
    <a:lvl2pPr marL="457200"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2pPr>
    <a:lvl3pPr marL="914400"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3pPr>
    <a:lvl4pPr marL="1371600"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4pPr>
    <a:lvl5pPr marL="1828800"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5pPr>
    <a:lvl6pPr marL="2286000" algn="l" defTabSz="914400" rtl="0" eaLnBrk="1" latinLnBrk="0" hangingPunct="1">
      <a:defRPr kern="1200">
        <a:solidFill>
          <a:schemeClr val="tx1"/>
        </a:solidFill>
        <a:latin typeface="Calibri" panose="020F0502020204030204" pitchFamily="34" charset="0"/>
        <a:ea typeface="+mn-ea"/>
        <a:cs typeface="+mn-cs"/>
      </a:defRPr>
    </a:lvl6pPr>
    <a:lvl7pPr marL="2743200" algn="l" defTabSz="914400" rtl="0" eaLnBrk="1" latinLnBrk="0" hangingPunct="1">
      <a:defRPr kern="1200">
        <a:solidFill>
          <a:schemeClr val="tx1"/>
        </a:solidFill>
        <a:latin typeface="Calibri" panose="020F0502020204030204" pitchFamily="34" charset="0"/>
        <a:ea typeface="+mn-ea"/>
        <a:cs typeface="+mn-cs"/>
      </a:defRPr>
    </a:lvl7pPr>
    <a:lvl8pPr marL="3200400" algn="l" defTabSz="914400" rtl="0" eaLnBrk="1" latinLnBrk="0" hangingPunct="1">
      <a:defRPr kern="1200">
        <a:solidFill>
          <a:schemeClr val="tx1"/>
        </a:solidFill>
        <a:latin typeface="Calibri" panose="020F0502020204030204" pitchFamily="34" charset="0"/>
        <a:ea typeface="+mn-ea"/>
        <a:cs typeface="+mn-cs"/>
      </a:defRPr>
    </a:lvl8pPr>
    <a:lvl9pPr marL="3657600" algn="l" defTabSz="914400" rtl="0" eaLnBrk="1" latinLnBrk="0" hangingPunct="1">
      <a:defRPr kern="1200">
        <a:solidFill>
          <a:schemeClr val="tx1"/>
        </a:solidFill>
        <a:latin typeface="Calibri" panose="020F0502020204030204" pitchFamily="34" charset="0"/>
        <a:ea typeface="+mn-ea"/>
        <a:cs typeface="+mn-cs"/>
      </a:defRPr>
    </a:lvl9pPr>
  </p:defaultTextStyle>
  <p:extLst>
    <p:ext uri="{EFAFB233-063F-42B5-8137-9DF3F51BA10A}">
      <p15:sldGuideLst xmlns:p15="http://schemas.microsoft.com/office/powerpoint/2012/main" xmlns="">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CC"/>
    <a:srgbClr val="00B0F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87253" autoAdjust="0"/>
  </p:normalViewPr>
  <p:slideViewPr>
    <p:cSldViewPr snapToGrid="0">
      <p:cViewPr varScale="1">
        <p:scale>
          <a:sx n="65" d="100"/>
          <a:sy n="65" d="100"/>
        </p:scale>
        <p:origin x="-1536" y="-108"/>
      </p:cViewPr>
      <p:guideLst>
        <p:guide orient="horz" pos="216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247" Type="http://schemas.openxmlformats.org/officeDocument/2006/relationships/slide" Target="slides/slide246.xml"/><Relationship Id="rId107" Type="http://schemas.openxmlformats.org/officeDocument/2006/relationships/slide" Target="slides/slide106.xml"/><Relationship Id="rId268" Type="http://schemas.openxmlformats.org/officeDocument/2006/relationships/slide" Target="slides/slide267.xml"/><Relationship Id="rId289" Type="http://schemas.openxmlformats.org/officeDocument/2006/relationships/slide" Target="slides/slide288.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37" Type="http://schemas.openxmlformats.org/officeDocument/2006/relationships/slide" Target="slides/slide236.xml"/><Relationship Id="rId258" Type="http://schemas.openxmlformats.org/officeDocument/2006/relationships/slide" Target="slides/slide257.xml"/><Relationship Id="rId279" Type="http://schemas.openxmlformats.org/officeDocument/2006/relationships/slide" Target="slides/slide278.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290" Type="http://schemas.openxmlformats.org/officeDocument/2006/relationships/notesMaster" Target="notesMasters/notesMaster1.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slide" Target="slides/slide247.xml"/><Relationship Id="rId269" Type="http://schemas.openxmlformats.org/officeDocument/2006/relationships/slide" Target="slides/slide268.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280" Type="http://schemas.openxmlformats.org/officeDocument/2006/relationships/slide" Target="slides/slide279.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6" Type="http://schemas.openxmlformats.org/officeDocument/2006/relationships/slide" Target="slides/slide5.xml"/><Relationship Id="rId238" Type="http://schemas.openxmlformats.org/officeDocument/2006/relationships/slide" Target="slides/slide237.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291" Type="http://schemas.openxmlformats.org/officeDocument/2006/relationships/presProps" Target="presProps.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slide" Target="slides/slide280.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183" Type="http://schemas.openxmlformats.org/officeDocument/2006/relationships/slide" Target="slides/slide182.xml"/><Relationship Id="rId213" Type="http://schemas.openxmlformats.org/officeDocument/2006/relationships/slide" Target="slides/slide212.xml"/><Relationship Id="rId218" Type="http://schemas.openxmlformats.org/officeDocument/2006/relationships/slide" Target="slides/slide217.xml"/><Relationship Id="rId234" Type="http://schemas.openxmlformats.org/officeDocument/2006/relationships/slide" Target="slides/slide233.xml"/><Relationship Id="rId239" Type="http://schemas.openxmlformats.org/officeDocument/2006/relationships/slide" Target="slides/slide238.xml"/><Relationship Id="rId2" Type="http://schemas.openxmlformats.org/officeDocument/2006/relationships/slide" Target="slides/slide1.xml"/><Relationship Id="rId29" Type="http://schemas.openxmlformats.org/officeDocument/2006/relationships/slide" Target="slides/slide28.xml"/><Relationship Id="rId250" Type="http://schemas.openxmlformats.org/officeDocument/2006/relationships/slide" Target="slides/slide249.xml"/><Relationship Id="rId255" Type="http://schemas.openxmlformats.org/officeDocument/2006/relationships/slide" Target="slides/slide254.xml"/><Relationship Id="rId271" Type="http://schemas.openxmlformats.org/officeDocument/2006/relationships/slide" Target="slides/slide270.xml"/><Relationship Id="rId276" Type="http://schemas.openxmlformats.org/officeDocument/2006/relationships/slide" Target="slides/slide275.xml"/><Relationship Id="rId292" Type="http://schemas.openxmlformats.org/officeDocument/2006/relationships/viewProps" Target="viewProps.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199" Type="http://schemas.openxmlformats.org/officeDocument/2006/relationships/slide" Target="slides/slide198.xml"/><Relationship Id="rId203" Type="http://schemas.openxmlformats.org/officeDocument/2006/relationships/slide" Target="slides/slide202.xml"/><Relationship Id="rId208" Type="http://schemas.openxmlformats.org/officeDocument/2006/relationships/slide" Target="slides/slide207.xml"/><Relationship Id="rId229" Type="http://schemas.openxmlformats.org/officeDocument/2006/relationships/slide" Target="slides/slide228.xml"/><Relationship Id="rId19" Type="http://schemas.openxmlformats.org/officeDocument/2006/relationships/slide" Target="slides/slide18.xml"/><Relationship Id="rId224" Type="http://schemas.openxmlformats.org/officeDocument/2006/relationships/slide" Target="slides/slide223.xml"/><Relationship Id="rId240" Type="http://schemas.openxmlformats.org/officeDocument/2006/relationships/slide" Target="slides/slide239.xml"/><Relationship Id="rId245" Type="http://schemas.openxmlformats.org/officeDocument/2006/relationships/slide" Target="slides/slide244.xml"/><Relationship Id="rId261" Type="http://schemas.openxmlformats.org/officeDocument/2006/relationships/slide" Target="slides/slide260.xml"/><Relationship Id="rId266" Type="http://schemas.openxmlformats.org/officeDocument/2006/relationships/slide" Target="slides/slide265.xml"/><Relationship Id="rId287" Type="http://schemas.openxmlformats.org/officeDocument/2006/relationships/slide" Target="slides/slide286.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282" Type="http://schemas.openxmlformats.org/officeDocument/2006/relationships/slide" Target="slides/slide28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slide" Target="slides/slide188.xml"/><Relationship Id="rId219" Type="http://schemas.openxmlformats.org/officeDocument/2006/relationships/slide" Target="slides/slide218.xml"/><Relationship Id="rId3" Type="http://schemas.openxmlformats.org/officeDocument/2006/relationships/slide" Target="slides/slide2.xml"/><Relationship Id="rId214" Type="http://schemas.openxmlformats.org/officeDocument/2006/relationships/slide" Target="slides/slide213.xml"/><Relationship Id="rId230" Type="http://schemas.openxmlformats.org/officeDocument/2006/relationships/slide" Target="slides/slide229.xml"/><Relationship Id="rId235" Type="http://schemas.openxmlformats.org/officeDocument/2006/relationships/slide" Target="slides/slide234.xml"/><Relationship Id="rId251" Type="http://schemas.openxmlformats.org/officeDocument/2006/relationships/slide" Target="slides/slide250.xml"/><Relationship Id="rId256" Type="http://schemas.openxmlformats.org/officeDocument/2006/relationships/slide" Target="slides/slide255.xml"/><Relationship Id="rId277" Type="http://schemas.openxmlformats.org/officeDocument/2006/relationships/slide" Target="slides/slide276.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72" Type="http://schemas.openxmlformats.org/officeDocument/2006/relationships/slide" Target="slides/slide271.xml"/><Relationship Id="rId293" Type="http://schemas.openxmlformats.org/officeDocument/2006/relationships/theme" Target="theme/theme1.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209" Type="http://schemas.openxmlformats.org/officeDocument/2006/relationships/slide" Target="slides/slide208.xml"/><Relationship Id="rId190" Type="http://schemas.openxmlformats.org/officeDocument/2006/relationships/slide" Target="slides/slide189.xml"/><Relationship Id="rId204" Type="http://schemas.openxmlformats.org/officeDocument/2006/relationships/slide" Target="slides/slide203.xml"/><Relationship Id="rId220" Type="http://schemas.openxmlformats.org/officeDocument/2006/relationships/slide" Target="slides/slide219.xml"/><Relationship Id="rId225" Type="http://schemas.openxmlformats.org/officeDocument/2006/relationships/slide" Target="slides/slide224.xml"/><Relationship Id="rId241" Type="http://schemas.openxmlformats.org/officeDocument/2006/relationships/slide" Target="slides/slide240.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262" Type="http://schemas.openxmlformats.org/officeDocument/2006/relationships/slide" Target="slides/slide261.xml"/><Relationship Id="rId283" Type="http://schemas.openxmlformats.org/officeDocument/2006/relationships/slide" Target="slides/slide28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tableStyles" Target="tableStyles.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74.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86.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295.png"/></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eaLnBrk="1" fontAlgn="auto" hangingPunct="1">
              <a:spcBef>
                <a:spcPts val="0"/>
              </a:spcBef>
              <a:spcAft>
                <a:spcPts val="0"/>
              </a:spcAft>
              <a:defRPr sz="1200">
                <a:latin typeface="+mn-lt"/>
              </a:defRPr>
            </a:lvl1pPr>
          </a:lstStyle>
          <a:p>
            <a:pPr>
              <a:defRPr/>
            </a:pPr>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eaLnBrk="1" fontAlgn="auto" hangingPunct="1">
              <a:spcBef>
                <a:spcPts val="0"/>
              </a:spcBef>
              <a:spcAft>
                <a:spcPts val="0"/>
              </a:spcAft>
              <a:defRPr sz="1200">
                <a:latin typeface="+mn-lt"/>
              </a:defRPr>
            </a:lvl1pPr>
          </a:lstStyle>
          <a:p>
            <a:pPr>
              <a:defRPr/>
            </a:pPr>
            <a:fld id="{CDFEA357-5F7F-478A-80D3-B1F3CA60E833}" type="datetimeFigureOut">
              <a:rPr lang="en-US"/>
              <a:pPr>
                <a:defRPr/>
              </a:pPr>
              <a:t>6/7/2016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pPr lvl="0"/>
            <a:endParaRPr lang="en-US" noProof="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eaLnBrk="1" fontAlgn="auto" hangingPunct="1">
              <a:spcBef>
                <a:spcPts val="0"/>
              </a:spcBef>
              <a:spcAft>
                <a:spcPts val="0"/>
              </a:spcAft>
              <a:defRPr sz="1200">
                <a:latin typeface="+mn-lt"/>
              </a:defRPr>
            </a:lvl1pPr>
          </a:lstStyle>
          <a:p>
            <a:pPr>
              <a:defRPr/>
            </a:pPr>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eaLnBrk="1" fontAlgn="auto" hangingPunct="1">
              <a:spcBef>
                <a:spcPts val="0"/>
              </a:spcBef>
              <a:spcAft>
                <a:spcPts val="0"/>
              </a:spcAft>
              <a:defRPr sz="1200">
                <a:latin typeface="+mn-lt"/>
              </a:defRPr>
            </a:lvl1pPr>
          </a:lstStyle>
          <a:p>
            <a:pPr>
              <a:defRPr/>
            </a:pPr>
            <a:fld id="{88EA5212-6E05-4C4B-8CF3-02102B543BCB}" type="slidenum">
              <a:rPr lang="en-US"/>
              <a:pPr>
                <a:defRPr/>
              </a:pPr>
              <a:t>‹#›</a:t>
            </a:fld>
            <a:endParaRPr lang="en-US"/>
          </a:p>
        </p:txBody>
      </p:sp>
    </p:spTree>
    <p:extLst>
      <p:ext uri="{BB962C8B-B14F-4D97-AF65-F5344CB8AC3E}">
        <p14:creationId xmlns:p14="http://schemas.microsoft.com/office/powerpoint/2010/main" val="2009042306"/>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71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p>
        </p:txBody>
      </p:sp>
      <p:sp>
        <p:nvSpPr>
          <p:cNvPr id="4" name="Slide Number Placeholder 3"/>
          <p:cNvSpPr>
            <a:spLocks noGrp="1"/>
          </p:cNvSpPr>
          <p:nvPr>
            <p:ph type="sldNum" sz="quarter" idx="5"/>
          </p:nvPr>
        </p:nvSpPr>
        <p:spPr/>
        <p:txBody>
          <a:bodyPr/>
          <a:lstStyle/>
          <a:p>
            <a:pPr>
              <a:defRPr/>
            </a:pPr>
            <a:fld id="{705C49BD-1381-4D5D-AD49-D723E532E93C}" type="slidenum">
              <a:rPr lang="en-US" smtClean="0"/>
              <a:pPr>
                <a:defRPr/>
              </a:pPr>
              <a:t>28</a:t>
            </a:fld>
            <a:endParaRPr lang="en-US"/>
          </a:p>
        </p:txBody>
      </p:sp>
    </p:spTree>
    <p:extLst>
      <p:ext uri="{BB962C8B-B14F-4D97-AF65-F5344CB8AC3E}">
        <p14:creationId xmlns:p14="http://schemas.microsoft.com/office/powerpoint/2010/main" val="315192037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91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p>
        </p:txBody>
      </p:sp>
      <p:sp>
        <p:nvSpPr>
          <p:cNvPr id="4" name="Slide Number Placeholder 3"/>
          <p:cNvSpPr>
            <a:spLocks noGrp="1"/>
          </p:cNvSpPr>
          <p:nvPr>
            <p:ph type="sldNum" sz="quarter" idx="5"/>
          </p:nvPr>
        </p:nvSpPr>
        <p:spPr/>
        <p:txBody>
          <a:bodyPr/>
          <a:lstStyle/>
          <a:p>
            <a:pPr>
              <a:defRPr/>
            </a:pPr>
            <a:fld id="{A9FCCBD3-04A5-44F6-A319-F0065555188F}" type="slidenum">
              <a:rPr lang="en-US" smtClean="0"/>
              <a:pPr>
                <a:defRPr/>
              </a:pPr>
              <a:t>29</a:t>
            </a:fld>
            <a:endParaRPr lang="en-US"/>
          </a:p>
        </p:txBody>
      </p:sp>
    </p:spTree>
    <p:extLst>
      <p:ext uri="{BB962C8B-B14F-4D97-AF65-F5344CB8AC3E}">
        <p14:creationId xmlns:p14="http://schemas.microsoft.com/office/powerpoint/2010/main" val="207578935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12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61F0D6D3-A151-419C-B3A5-5EB4D5183226}" type="slidenum">
              <a:rPr lang="en-US" smtClean="0"/>
              <a:pPr>
                <a:defRPr/>
              </a:pPr>
              <a:t>30</a:t>
            </a:fld>
            <a:endParaRPr lang="en-US"/>
          </a:p>
        </p:txBody>
      </p:sp>
    </p:spTree>
    <p:extLst>
      <p:ext uri="{BB962C8B-B14F-4D97-AF65-F5344CB8AC3E}">
        <p14:creationId xmlns:p14="http://schemas.microsoft.com/office/powerpoint/2010/main" val="265097780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32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p>
        </p:txBody>
      </p:sp>
      <p:sp>
        <p:nvSpPr>
          <p:cNvPr id="4" name="Slide Number Placeholder 3"/>
          <p:cNvSpPr>
            <a:spLocks noGrp="1"/>
          </p:cNvSpPr>
          <p:nvPr>
            <p:ph type="sldNum" sz="quarter" idx="5"/>
          </p:nvPr>
        </p:nvSpPr>
        <p:spPr/>
        <p:txBody>
          <a:bodyPr/>
          <a:lstStyle/>
          <a:p>
            <a:pPr>
              <a:defRPr/>
            </a:pPr>
            <a:fld id="{71DDCE85-C62C-40FC-9891-B781E176CC4A}" type="slidenum">
              <a:rPr lang="en-US" smtClean="0"/>
              <a:pPr>
                <a:defRPr/>
              </a:pPr>
              <a:t>31</a:t>
            </a:fld>
            <a:endParaRPr lang="en-US"/>
          </a:p>
        </p:txBody>
      </p:sp>
    </p:spTree>
    <p:extLst>
      <p:ext uri="{BB962C8B-B14F-4D97-AF65-F5344CB8AC3E}">
        <p14:creationId xmlns:p14="http://schemas.microsoft.com/office/powerpoint/2010/main" val="179012595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3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53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p>
        </p:txBody>
      </p:sp>
      <p:sp>
        <p:nvSpPr>
          <p:cNvPr id="4" name="Slide Number Placeholder 3"/>
          <p:cNvSpPr>
            <a:spLocks noGrp="1"/>
          </p:cNvSpPr>
          <p:nvPr>
            <p:ph type="sldNum" sz="quarter" idx="5"/>
          </p:nvPr>
        </p:nvSpPr>
        <p:spPr/>
        <p:txBody>
          <a:bodyPr/>
          <a:lstStyle/>
          <a:p>
            <a:pPr>
              <a:defRPr/>
            </a:pPr>
            <a:fld id="{D202FC8F-87F9-4FD4-9A3B-6A18243B585C}" type="slidenum">
              <a:rPr lang="en-US" smtClean="0"/>
              <a:pPr>
                <a:defRPr/>
              </a:pPr>
              <a:t>32</a:t>
            </a:fld>
            <a:endParaRPr lang="en-US"/>
          </a:p>
        </p:txBody>
      </p:sp>
    </p:spTree>
    <p:extLst>
      <p:ext uri="{BB962C8B-B14F-4D97-AF65-F5344CB8AC3E}">
        <p14:creationId xmlns:p14="http://schemas.microsoft.com/office/powerpoint/2010/main" val="138957120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73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p>
        </p:txBody>
      </p:sp>
      <p:sp>
        <p:nvSpPr>
          <p:cNvPr id="4" name="Slide Number Placeholder 3"/>
          <p:cNvSpPr>
            <a:spLocks noGrp="1"/>
          </p:cNvSpPr>
          <p:nvPr>
            <p:ph type="sldNum" sz="quarter" idx="5"/>
          </p:nvPr>
        </p:nvSpPr>
        <p:spPr/>
        <p:txBody>
          <a:bodyPr/>
          <a:lstStyle/>
          <a:p>
            <a:pPr>
              <a:defRPr/>
            </a:pPr>
            <a:fld id="{7D3B3A6F-EAC2-4C90-8019-C91578847EA5}" type="slidenum">
              <a:rPr lang="en-US" smtClean="0"/>
              <a:pPr>
                <a:defRPr/>
              </a:pPr>
              <a:t>33</a:t>
            </a:fld>
            <a:endParaRPr lang="en-US"/>
          </a:p>
        </p:txBody>
      </p:sp>
    </p:spTree>
    <p:extLst>
      <p:ext uri="{BB962C8B-B14F-4D97-AF65-F5344CB8AC3E}">
        <p14:creationId xmlns:p14="http://schemas.microsoft.com/office/powerpoint/2010/main" val="92613143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94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p>
        </p:txBody>
      </p:sp>
      <p:sp>
        <p:nvSpPr>
          <p:cNvPr id="4" name="Slide Number Placeholder 3"/>
          <p:cNvSpPr>
            <a:spLocks noGrp="1"/>
          </p:cNvSpPr>
          <p:nvPr>
            <p:ph type="sldNum" sz="quarter" idx="5"/>
          </p:nvPr>
        </p:nvSpPr>
        <p:spPr/>
        <p:txBody>
          <a:bodyPr/>
          <a:lstStyle/>
          <a:p>
            <a:pPr>
              <a:defRPr/>
            </a:pPr>
            <a:fld id="{0A81BD90-C0AB-4297-A6C4-B6D54A79CC5A}" type="slidenum">
              <a:rPr lang="en-US" smtClean="0"/>
              <a:pPr>
                <a:defRPr/>
              </a:pPr>
              <a:t>34</a:t>
            </a:fld>
            <a:endParaRPr lang="en-US"/>
          </a:p>
        </p:txBody>
      </p:sp>
    </p:spTree>
    <p:extLst>
      <p:ext uri="{BB962C8B-B14F-4D97-AF65-F5344CB8AC3E}">
        <p14:creationId xmlns:p14="http://schemas.microsoft.com/office/powerpoint/2010/main" val="53251723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14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14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p>
        </p:txBody>
      </p:sp>
      <p:sp>
        <p:nvSpPr>
          <p:cNvPr id="4" name="Slide Number Placeholder 3"/>
          <p:cNvSpPr>
            <a:spLocks noGrp="1"/>
          </p:cNvSpPr>
          <p:nvPr>
            <p:ph type="sldNum" sz="quarter" idx="5"/>
          </p:nvPr>
        </p:nvSpPr>
        <p:spPr/>
        <p:txBody>
          <a:bodyPr/>
          <a:lstStyle/>
          <a:p>
            <a:pPr>
              <a:defRPr/>
            </a:pPr>
            <a:fld id="{8DD941BF-EA2A-427C-A618-C007E96EFFD4}" type="slidenum">
              <a:rPr lang="en-US" smtClean="0"/>
              <a:pPr>
                <a:defRPr/>
              </a:pPr>
              <a:t>35</a:t>
            </a:fld>
            <a:endParaRPr lang="en-US"/>
          </a:p>
        </p:txBody>
      </p:sp>
    </p:spTree>
    <p:extLst>
      <p:ext uri="{BB962C8B-B14F-4D97-AF65-F5344CB8AC3E}">
        <p14:creationId xmlns:p14="http://schemas.microsoft.com/office/powerpoint/2010/main" val="205502133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35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35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p>
        </p:txBody>
      </p:sp>
      <p:sp>
        <p:nvSpPr>
          <p:cNvPr id="4" name="Slide Number Placeholder 3"/>
          <p:cNvSpPr>
            <a:spLocks noGrp="1"/>
          </p:cNvSpPr>
          <p:nvPr>
            <p:ph type="sldNum" sz="quarter" idx="5"/>
          </p:nvPr>
        </p:nvSpPr>
        <p:spPr/>
        <p:txBody>
          <a:bodyPr/>
          <a:lstStyle/>
          <a:p>
            <a:pPr>
              <a:defRPr/>
            </a:pPr>
            <a:fld id="{AEA96839-AC05-4115-8D9D-5C7BD3361A7A}" type="slidenum">
              <a:rPr lang="en-US" smtClean="0"/>
              <a:pPr>
                <a:defRPr/>
              </a:pPr>
              <a:t>36</a:t>
            </a:fld>
            <a:endParaRPr lang="en-US"/>
          </a:p>
        </p:txBody>
      </p:sp>
    </p:spTree>
    <p:extLst>
      <p:ext uri="{BB962C8B-B14F-4D97-AF65-F5344CB8AC3E}">
        <p14:creationId xmlns:p14="http://schemas.microsoft.com/office/powerpoint/2010/main" val="132240837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5D5C17AC-3358-47C2-A365-BD45F9FDDF47}" type="slidenum">
              <a:rPr lang="en-US" altLang="en-US"/>
              <a:pPr>
                <a:defRPr/>
              </a:pPr>
              <a:t>84</a:t>
            </a:fld>
            <a:endParaRPr lang="th-TH" altLang="en-US"/>
          </a:p>
        </p:txBody>
      </p:sp>
      <p:sp>
        <p:nvSpPr>
          <p:cNvPr id="417795" name="Rectangle 2"/>
          <p:cNvSpPr>
            <a:spLocks noGrp="1" noRot="1" noChangeAspect="1" noChangeArrowheads="1" noTextEdit="1"/>
          </p:cNvSpPr>
          <p:nvPr>
            <p:ph type="sldImg"/>
          </p:nvPr>
        </p:nvSpPr>
        <p:spPr bwMode="auto">
          <a:xfrm>
            <a:off x="1303338" y="793750"/>
            <a:ext cx="4275137" cy="32067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7796" name="Rectangle 3"/>
          <p:cNvSpPr>
            <a:spLocks noGrp="1" noChangeArrowheads="1"/>
          </p:cNvSpPr>
          <p:nvPr>
            <p:ph type="body" idx="1"/>
          </p:nvPr>
        </p:nvSpPr>
        <p:spPr bwMode="auto">
          <a:xfrm>
            <a:off x="904875" y="4349750"/>
            <a:ext cx="5048250" cy="41275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wrap="square" numCol="1" anchor="t" anchorCtr="0" compatLnSpc="1">
            <a:prstTxWarp prst="textNoShape">
              <a:avLst/>
            </a:prstTxWarp>
          </a:bodyPr>
          <a:lstStyle/>
          <a:p>
            <a:endParaRPr lang="fi-FI" altLang="en-US" smtClean="0"/>
          </a:p>
        </p:txBody>
      </p:sp>
    </p:spTree>
    <p:extLst>
      <p:ext uri="{BB962C8B-B14F-4D97-AF65-F5344CB8AC3E}">
        <p14:creationId xmlns:p14="http://schemas.microsoft.com/office/powerpoint/2010/main" val="129454722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986" name="Rectangle 2"/>
          <p:cNvSpPr>
            <a:spLocks noGrp="1" noRot="1" noChangeAspect="1" noChangeArrowheads="1" noTextEdit="1"/>
          </p:cNvSpPr>
          <p:nvPr>
            <p:ph type="sldImg"/>
          </p:nvPr>
        </p:nvSpPr>
        <p:spPr bwMode="auto">
          <a:xfrm>
            <a:off x="1150938" y="692150"/>
            <a:ext cx="4556125" cy="3416300"/>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5987"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th-TH" altLang="en-US" smtClean="0"/>
          </a:p>
        </p:txBody>
      </p:sp>
    </p:spTree>
    <p:extLst>
      <p:ext uri="{BB962C8B-B14F-4D97-AF65-F5344CB8AC3E}">
        <p14:creationId xmlns:p14="http://schemas.microsoft.com/office/powerpoint/2010/main" val="301174912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0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80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p>
        </p:txBody>
      </p:sp>
      <p:sp>
        <p:nvSpPr>
          <p:cNvPr id="4" name="Slide Number Placeholder 3"/>
          <p:cNvSpPr>
            <a:spLocks noGrp="1"/>
          </p:cNvSpPr>
          <p:nvPr>
            <p:ph type="sldNum" sz="quarter" idx="5"/>
          </p:nvPr>
        </p:nvSpPr>
        <p:spPr/>
        <p:txBody>
          <a:bodyPr/>
          <a:lstStyle/>
          <a:p>
            <a:pPr>
              <a:defRPr/>
            </a:pPr>
            <a:fld id="{0E574830-7D4E-4305-B965-A24771B71756}" type="slidenum">
              <a:rPr lang="en-US" smtClean="0"/>
              <a:pPr>
                <a:defRPr/>
              </a:pPr>
              <a:t>92</a:t>
            </a:fld>
            <a:endParaRPr lang="en-US"/>
          </a:p>
        </p:txBody>
      </p:sp>
    </p:spTree>
    <p:extLst>
      <p:ext uri="{BB962C8B-B14F-4D97-AF65-F5344CB8AC3E}">
        <p14:creationId xmlns:p14="http://schemas.microsoft.com/office/powerpoint/2010/main" val="169589025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Rectangle 2"/>
          <p:cNvSpPr>
            <a:spLocks noGrp="1" noRot="1" noChangeAspect="1" noChangeArrowheads="1" noTextEdit="1"/>
          </p:cNvSpPr>
          <p:nvPr>
            <p:ph type="sldImg"/>
          </p:nvPr>
        </p:nvSpPr>
        <p:spPr bwMode="auto">
          <a:xfrm>
            <a:off x="1150938" y="692150"/>
            <a:ext cx="4556125" cy="3416300"/>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083"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th-TH" altLang="en-US" smtClean="0"/>
          </a:p>
        </p:txBody>
      </p:sp>
    </p:spTree>
    <p:extLst>
      <p:ext uri="{BB962C8B-B14F-4D97-AF65-F5344CB8AC3E}">
        <p14:creationId xmlns:p14="http://schemas.microsoft.com/office/powerpoint/2010/main" val="209254697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130" name="Rectangle 2"/>
          <p:cNvSpPr>
            <a:spLocks noGrp="1" noRot="1" noChangeAspect="1" noChangeArrowheads="1" noTextEdit="1"/>
          </p:cNvSpPr>
          <p:nvPr>
            <p:ph type="sldImg"/>
          </p:nvPr>
        </p:nvSpPr>
        <p:spPr bwMode="auto">
          <a:xfrm>
            <a:off x="1150938" y="692150"/>
            <a:ext cx="4556125" cy="3416300"/>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2131"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th-TH" altLang="en-US" smtClean="0"/>
          </a:p>
        </p:txBody>
      </p:sp>
    </p:spTree>
    <p:extLst>
      <p:ext uri="{BB962C8B-B14F-4D97-AF65-F5344CB8AC3E}">
        <p14:creationId xmlns:p14="http://schemas.microsoft.com/office/powerpoint/2010/main" val="267568406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Rectangle 2"/>
          <p:cNvSpPr>
            <a:spLocks noGrp="1" noRot="1" noChangeAspect="1" noChangeArrowheads="1" noTextEdit="1"/>
          </p:cNvSpPr>
          <p:nvPr>
            <p:ph type="sldImg"/>
          </p:nvPr>
        </p:nvSpPr>
        <p:spPr bwMode="auto">
          <a:xfrm>
            <a:off x="1150938" y="692150"/>
            <a:ext cx="4556125" cy="3416300"/>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th-TH" altLang="en-US" smtClean="0"/>
          </a:p>
        </p:txBody>
      </p:sp>
    </p:spTree>
    <p:extLst>
      <p:ext uri="{BB962C8B-B14F-4D97-AF65-F5344CB8AC3E}">
        <p14:creationId xmlns:p14="http://schemas.microsoft.com/office/powerpoint/2010/main" val="389800019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62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p>
        </p:txBody>
      </p:sp>
      <p:sp>
        <p:nvSpPr>
          <p:cNvPr id="4" name="Slide Number Placeholder 3"/>
          <p:cNvSpPr>
            <a:spLocks noGrp="1"/>
          </p:cNvSpPr>
          <p:nvPr>
            <p:ph type="sldNum" sz="quarter" idx="5"/>
          </p:nvPr>
        </p:nvSpPr>
        <p:spPr/>
        <p:txBody>
          <a:bodyPr/>
          <a:lstStyle/>
          <a:p>
            <a:pPr>
              <a:defRPr/>
            </a:pPr>
            <a:fld id="{AE677903-39AC-41D8-A36C-67183BC07B30}" type="slidenum">
              <a:rPr lang="en-US" smtClean="0"/>
              <a:pPr>
                <a:defRPr/>
              </a:pPr>
              <a:t>96</a:t>
            </a:fld>
            <a:endParaRPr lang="en-US"/>
          </a:p>
        </p:txBody>
      </p:sp>
    </p:spTree>
    <p:extLst>
      <p:ext uri="{BB962C8B-B14F-4D97-AF65-F5344CB8AC3E}">
        <p14:creationId xmlns:p14="http://schemas.microsoft.com/office/powerpoint/2010/main" val="73583708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8274" name="Rectangle 2"/>
          <p:cNvSpPr>
            <a:spLocks noGrp="1" noRot="1" noChangeAspect="1" noChangeArrowheads="1" noTextEdit="1"/>
          </p:cNvSpPr>
          <p:nvPr>
            <p:ph type="sldImg"/>
          </p:nvPr>
        </p:nvSpPr>
        <p:spPr bwMode="auto">
          <a:xfrm>
            <a:off x="1150938" y="692150"/>
            <a:ext cx="4556125" cy="3416300"/>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8275"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th-TH" altLang="en-US" smtClean="0"/>
          </a:p>
        </p:txBody>
      </p:sp>
    </p:spTree>
    <p:extLst>
      <p:ext uri="{BB962C8B-B14F-4D97-AF65-F5344CB8AC3E}">
        <p14:creationId xmlns:p14="http://schemas.microsoft.com/office/powerpoint/2010/main" val="396598376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Rectangle 2"/>
          <p:cNvSpPr>
            <a:spLocks noGrp="1" noRot="1" noChangeAspect="1" noChangeArrowheads="1" noTextEdit="1"/>
          </p:cNvSpPr>
          <p:nvPr>
            <p:ph type="sldImg"/>
          </p:nvPr>
        </p:nvSpPr>
        <p:spPr bwMode="auto">
          <a:xfrm>
            <a:off x="1150938" y="692150"/>
            <a:ext cx="4556125" cy="3416300"/>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23"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th-TH" altLang="en-US" smtClean="0"/>
          </a:p>
        </p:txBody>
      </p:sp>
    </p:spTree>
    <p:extLst>
      <p:ext uri="{BB962C8B-B14F-4D97-AF65-F5344CB8AC3E}">
        <p14:creationId xmlns:p14="http://schemas.microsoft.com/office/powerpoint/2010/main" val="25510527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370" name="Rectangle 2"/>
          <p:cNvSpPr>
            <a:spLocks noGrp="1" noRot="1" noChangeAspect="1" noChangeArrowheads="1" noTextEdit="1"/>
          </p:cNvSpPr>
          <p:nvPr>
            <p:ph type="sldImg"/>
          </p:nvPr>
        </p:nvSpPr>
        <p:spPr bwMode="auto">
          <a:xfrm>
            <a:off x="1150938" y="692150"/>
            <a:ext cx="4556125" cy="3416300"/>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2371"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th-TH" altLang="en-US" smtClean="0"/>
          </a:p>
        </p:txBody>
      </p:sp>
    </p:spTree>
    <p:extLst>
      <p:ext uri="{BB962C8B-B14F-4D97-AF65-F5344CB8AC3E}">
        <p14:creationId xmlns:p14="http://schemas.microsoft.com/office/powerpoint/2010/main" val="325267001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4418" name="Rectangle 2"/>
          <p:cNvSpPr>
            <a:spLocks noGrp="1" noRot="1" noChangeAspect="1" noChangeArrowheads="1" noTextEdit="1"/>
          </p:cNvSpPr>
          <p:nvPr>
            <p:ph type="sldImg"/>
          </p:nvPr>
        </p:nvSpPr>
        <p:spPr bwMode="auto">
          <a:xfrm>
            <a:off x="1150938" y="692150"/>
            <a:ext cx="4556125" cy="3416300"/>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441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th-TH" altLang="en-US" smtClean="0"/>
          </a:p>
        </p:txBody>
      </p:sp>
    </p:spTree>
    <p:extLst>
      <p:ext uri="{BB962C8B-B14F-4D97-AF65-F5344CB8AC3E}">
        <p14:creationId xmlns:p14="http://schemas.microsoft.com/office/powerpoint/2010/main" val="386219651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6466" name="Rectangle 2"/>
          <p:cNvSpPr>
            <a:spLocks noGrp="1" noRot="1" noChangeAspect="1" noChangeArrowheads="1" noTextEdit="1"/>
          </p:cNvSpPr>
          <p:nvPr>
            <p:ph type="sldImg"/>
          </p:nvPr>
        </p:nvSpPr>
        <p:spPr bwMode="auto">
          <a:xfrm>
            <a:off x="1150938" y="692150"/>
            <a:ext cx="4556125" cy="3416300"/>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6467"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th-TH" altLang="en-US" smtClean="0"/>
          </a:p>
        </p:txBody>
      </p:sp>
    </p:spTree>
    <p:extLst>
      <p:ext uri="{BB962C8B-B14F-4D97-AF65-F5344CB8AC3E}">
        <p14:creationId xmlns:p14="http://schemas.microsoft.com/office/powerpoint/2010/main" val="326217091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8514" name="Rectangle 2"/>
          <p:cNvSpPr>
            <a:spLocks noGrp="1" noRot="1" noChangeAspect="1" noChangeArrowheads="1" noTextEdit="1"/>
          </p:cNvSpPr>
          <p:nvPr>
            <p:ph type="sldImg"/>
          </p:nvPr>
        </p:nvSpPr>
        <p:spPr bwMode="auto">
          <a:xfrm>
            <a:off x="1150938" y="692150"/>
            <a:ext cx="4556125" cy="3416300"/>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8515"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th-TH" altLang="en-US" smtClean="0"/>
          </a:p>
        </p:txBody>
      </p:sp>
    </p:spTree>
    <p:extLst>
      <p:ext uri="{BB962C8B-B14F-4D97-AF65-F5344CB8AC3E}">
        <p14:creationId xmlns:p14="http://schemas.microsoft.com/office/powerpoint/2010/main" val="114105371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1586" name="Rectangle 2"/>
          <p:cNvSpPr>
            <a:spLocks noGrp="1" noRot="1" noChangeAspect="1" noChangeArrowheads="1" noTextEdit="1"/>
          </p:cNvSpPr>
          <p:nvPr>
            <p:ph type="sldImg"/>
          </p:nvPr>
        </p:nvSpPr>
        <p:spPr bwMode="auto">
          <a:xfrm>
            <a:off x="1150938" y="692150"/>
            <a:ext cx="4556125" cy="3416300"/>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1587"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th-TH" altLang="en-US" smtClean="0"/>
          </a:p>
        </p:txBody>
      </p:sp>
    </p:spTree>
    <p:extLst>
      <p:ext uri="{BB962C8B-B14F-4D97-AF65-F5344CB8AC3E}">
        <p14:creationId xmlns:p14="http://schemas.microsoft.com/office/powerpoint/2010/main" val="290844056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4" name="Rectangle 2"/>
          <p:cNvSpPr>
            <a:spLocks noGrp="1" noRot="1" noChangeAspect="1" noChangeArrowheads="1" noTextEdit="1"/>
          </p:cNvSpPr>
          <p:nvPr>
            <p:ph type="sldImg"/>
          </p:nvPr>
        </p:nvSpPr>
        <p:spPr bwMode="auto">
          <a:xfrm>
            <a:off x="1150938" y="692150"/>
            <a:ext cx="4556125" cy="3416300"/>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3635"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th-TH" altLang="en-US" smtClean="0"/>
          </a:p>
        </p:txBody>
      </p:sp>
    </p:spTree>
    <p:extLst>
      <p:ext uri="{BB962C8B-B14F-4D97-AF65-F5344CB8AC3E}">
        <p14:creationId xmlns:p14="http://schemas.microsoft.com/office/powerpoint/2010/main" val="247015969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7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67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p>
        </p:txBody>
      </p:sp>
      <p:sp>
        <p:nvSpPr>
          <p:cNvPr id="4" name="Slide Number Placeholder 3"/>
          <p:cNvSpPr>
            <a:spLocks noGrp="1"/>
          </p:cNvSpPr>
          <p:nvPr>
            <p:ph type="sldNum" sz="quarter" idx="5"/>
          </p:nvPr>
        </p:nvSpPr>
        <p:spPr/>
        <p:txBody>
          <a:bodyPr/>
          <a:lstStyle/>
          <a:p>
            <a:pPr>
              <a:defRPr/>
            </a:pPr>
            <a:fld id="{91CA02B4-2770-4B73-80E7-215705857BD7}" type="slidenum">
              <a:rPr lang="en-US" smtClean="0"/>
              <a:pPr>
                <a:defRPr/>
              </a:pPr>
              <a:t>107</a:t>
            </a:fld>
            <a:endParaRPr lang="en-US"/>
          </a:p>
        </p:txBody>
      </p:sp>
    </p:spTree>
    <p:extLst>
      <p:ext uri="{BB962C8B-B14F-4D97-AF65-F5344CB8AC3E}">
        <p14:creationId xmlns:p14="http://schemas.microsoft.com/office/powerpoint/2010/main" val="26376687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6"/>
          <p:cNvSpPr>
            <a:spLocks noGrp="1" noChangeArrowheads="1"/>
          </p:cNvSpPr>
          <p:nvPr>
            <p:ph type="ftr" sz="quarter" idx="4"/>
          </p:nvPr>
        </p:nvSpPr>
        <p:spPr/>
        <p:txBody>
          <a:bodyPr/>
          <a:lstStyle/>
          <a:p>
            <a:pPr>
              <a:defRPr/>
            </a:pPr>
            <a:r>
              <a:rPr lang="en-US" altLang="en-US"/>
              <a:t>hd4/aor/P'day/งาน_ppt./PP102_bleach_Chapter 2.ppt</a:t>
            </a:r>
            <a:endParaRPr lang="th-TH" altLang="en-US"/>
          </a:p>
        </p:txBody>
      </p:sp>
      <p:sp>
        <p:nvSpPr>
          <p:cNvPr id="7" name="Rectangle 7"/>
          <p:cNvSpPr>
            <a:spLocks noGrp="1" noChangeArrowheads="1"/>
          </p:cNvSpPr>
          <p:nvPr>
            <p:ph type="sldNum" sz="quarter" idx="5"/>
          </p:nvPr>
        </p:nvSpPr>
        <p:spPr/>
        <p:txBody>
          <a:bodyPr/>
          <a:lstStyle/>
          <a:p>
            <a:pPr>
              <a:defRPr/>
            </a:pPr>
            <a:fld id="{016D7B79-9062-4130-88AE-B33B2725C94F}" type="slidenum">
              <a:rPr lang="en-US" altLang="en-US"/>
              <a:pPr>
                <a:defRPr/>
              </a:pPr>
              <a:t>113</a:t>
            </a:fld>
            <a:endParaRPr lang="th-TH" altLang="en-US"/>
          </a:p>
        </p:txBody>
      </p:sp>
      <p:sp>
        <p:nvSpPr>
          <p:cNvPr id="463876"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3877"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Tree>
    <p:extLst>
      <p:ext uri="{BB962C8B-B14F-4D97-AF65-F5344CB8AC3E}">
        <p14:creationId xmlns:p14="http://schemas.microsoft.com/office/powerpoint/2010/main" val="5857106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6"/>
          <p:cNvSpPr>
            <a:spLocks noGrp="1" noChangeArrowheads="1"/>
          </p:cNvSpPr>
          <p:nvPr>
            <p:ph type="ftr" sz="quarter" idx="4"/>
          </p:nvPr>
        </p:nvSpPr>
        <p:spPr/>
        <p:txBody>
          <a:bodyPr/>
          <a:lstStyle/>
          <a:p>
            <a:pPr>
              <a:defRPr/>
            </a:pPr>
            <a:r>
              <a:rPr lang="en-US" altLang="en-US"/>
              <a:t>hd4/aor/P'day/งาน_ppt./PP102_bleach_Chapter 2.ppt</a:t>
            </a:r>
            <a:endParaRPr lang="th-TH" altLang="en-US"/>
          </a:p>
        </p:txBody>
      </p:sp>
      <p:sp>
        <p:nvSpPr>
          <p:cNvPr id="7" name="Rectangle 7"/>
          <p:cNvSpPr>
            <a:spLocks noGrp="1" noChangeArrowheads="1"/>
          </p:cNvSpPr>
          <p:nvPr>
            <p:ph type="sldNum" sz="quarter" idx="5"/>
          </p:nvPr>
        </p:nvSpPr>
        <p:spPr/>
        <p:txBody>
          <a:bodyPr/>
          <a:lstStyle/>
          <a:p>
            <a:pPr>
              <a:defRPr/>
            </a:pPr>
            <a:fld id="{80CB0F04-E749-47A4-82CD-799DD6F0E8B3}" type="slidenum">
              <a:rPr lang="en-US" altLang="en-US"/>
              <a:pPr>
                <a:defRPr/>
              </a:pPr>
              <a:t>114</a:t>
            </a:fld>
            <a:endParaRPr lang="th-TH" altLang="en-US"/>
          </a:p>
        </p:txBody>
      </p:sp>
      <p:sp>
        <p:nvSpPr>
          <p:cNvPr id="465924"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5925"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Tree>
    <p:extLst>
      <p:ext uri="{BB962C8B-B14F-4D97-AF65-F5344CB8AC3E}">
        <p14:creationId xmlns:p14="http://schemas.microsoft.com/office/powerpoint/2010/main" val="126711681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7970" name="Rectangle 2"/>
          <p:cNvSpPr>
            <a:spLocks noGrp="1" noRot="1" noChangeAspect="1" noChangeArrowheads="1" noTextEdit="1"/>
          </p:cNvSpPr>
          <p:nvPr>
            <p:ph type="sldImg"/>
          </p:nvPr>
        </p:nvSpPr>
        <p:spPr bwMode="auto">
          <a:xfrm>
            <a:off x="1150938" y="692150"/>
            <a:ext cx="4556125" cy="3416300"/>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7971"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th-TH" altLang="en-US" smtClean="0"/>
          </a:p>
        </p:txBody>
      </p:sp>
    </p:spTree>
    <p:extLst>
      <p:ext uri="{BB962C8B-B14F-4D97-AF65-F5344CB8AC3E}">
        <p14:creationId xmlns:p14="http://schemas.microsoft.com/office/powerpoint/2010/main" val="12104072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30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30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F91A2F75-FC55-44B8-A535-47D9C808DF65}" type="slidenum">
              <a:rPr lang="en-US" smtClean="0"/>
              <a:pPr>
                <a:defRPr/>
              </a:pPr>
              <a:t>119</a:t>
            </a:fld>
            <a:endParaRPr lang="en-US"/>
          </a:p>
        </p:txBody>
      </p:sp>
    </p:spTree>
    <p:extLst>
      <p:ext uri="{BB962C8B-B14F-4D97-AF65-F5344CB8AC3E}">
        <p14:creationId xmlns:p14="http://schemas.microsoft.com/office/powerpoint/2010/main" val="184973637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1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51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p>
        </p:txBody>
      </p:sp>
      <p:sp>
        <p:nvSpPr>
          <p:cNvPr id="4" name="Slide Number Placeholder 3"/>
          <p:cNvSpPr>
            <a:spLocks noGrp="1"/>
          </p:cNvSpPr>
          <p:nvPr>
            <p:ph type="sldNum" sz="quarter" idx="5"/>
          </p:nvPr>
        </p:nvSpPr>
        <p:spPr/>
        <p:txBody>
          <a:bodyPr/>
          <a:lstStyle/>
          <a:p>
            <a:pPr>
              <a:defRPr/>
            </a:pPr>
            <a:fld id="{91984CB6-850B-452A-9BA1-E0835C638411}" type="slidenum">
              <a:rPr lang="en-US" smtClean="0"/>
              <a:pPr>
                <a:defRPr/>
              </a:pPr>
              <a:t>120</a:t>
            </a:fld>
            <a:endParaRPr lang="en-US"/>
          </a:p>
        </p:txBody>
      </p:sp>
    </p:spTree>
    <p:extLst>
      <p:ext uri="{BB962C8B-B14F-4D97-AF65-F5344CB8AC3E}">
        <p14:creationId xmlns:p14="http://schemas.microsoft.com/office/powerpoint/2010/main" val="126431443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71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71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p>
        </p:txBody>
      </p:sp>
      <p:sp>
        <p:nvSpPr>
          <p:cNvPr id="4" name="Slide Number Placeholder 3"/>
          <p:cNvSpPr>
            <a:spLocks noGrp="1"/>
          </p:cNvSpPr>
          <p:nvPr>
            <p:ph type="sldNum" sz="quarter" idx="5"/>
          </p:nvPr>
        </p:nvSpPr>
        <p:spPr/>
        <p:txBody>
          <a:bodyPr/>
          <a:lstStyle/>
          <a:p>
            <a:pPr>
              <a:defRPr/>
            </a:pPr>
            <a:fld id="{D0A9364F-BFAD-4CEA-8512-896ED4EE2322}" type="slidenum">
              <a:rPr lang="en-US" smtClean="0"/>
              <a:pPr>
                <a:defRPr/>
              </a:pPr>
              <a:t>121</a:t>
            </a:fld>
            <a:endParaRPr lang="en-US"/>
          </a:p>
        </p:txBody>
      </p:sp>
    </p:spTree>
    <p:extLst>
      <p:ext uri="{BB962C8B-B14F-4D97-AF65-F5344CB8AC3E}">
        <p14:creationId xmlns:p14="http://schemas.microsoft.com/office/powerpoint/2010/main" val="428935478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92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92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p>
        </p:txBody>
      </p:sp>
      <p:sp>
        <p:nvSpPr>
          <p:cNvPr id="4" name="Slide Number Placeholder 3"/>
          <p:cNvSpPr>
            <a:spLocks noGrp="1"/>
          </p:cNvSpPr>
          <p:nvPr>
            <p:ph type="sldNum" sz="quarter" idx="5"/>
          </p:nvPr>
        </p:nvSpPr>
        <p:spPr/>
        <p:txBody>
          <a:bodyPr/>
          <a:lstStyle/>
          <a:p>
            <a:pPr>
              <a:defRPr/>
            </a:pPr>
            <a:fld id="{2457E98D-A6C8-4913-AEEE-2D45A0E31E87}" type="slidenum">
              <a:rPr lang="en-US" smtClean="0"/>
              <a:pPr>
                <a:defRPr/>
              </a:pPr>
              <a:t>122</a:t>
            </a:fld>
            <a:endParaRPr lang="en-US"/>
          </a:p>
        </p:txBody>
      </p:sp>
    </p:spTree>
    <p:extLst>
      <p:ext uri="{BB962C8B-B14F-4D97-AF65-F5344CB8AC3E}">
        <p14:creationId xmlns:p14="http://schemas.microsoft.com/office/powerpoint/2010/main" val="201611389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12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81CAB5D5-54FB-4625-9254-58ADAD7F0CEE}" type="slidenum">
              <a:rPr lang="en-US" smtClean="0"/>
              <a:pPr>
                <a:defRPr/>
              </a:pPr>
              <a:t>123</a:t>
            </a:fld>
            <a:endParaRPr lang="en-US"/>
          </a:p>
        </p:txBody>
      </p:sp>
    </p:spTree>
    <p:extLst>
      <p:ext uri="{BB962C8B-B14F-4D97-AF65-F5344CB8AC3E}">
        <p14:creationId xmlns:p14="http://schemas.microsoft.com/office/powerpoint/2010/main" val="21644374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8CC971DA-C278-48DF-BE3B-2EEC8A9107DF}" type="slidenum">
              <a:rPr lang="en-US" altLang="en-US"/>
              <a:pPr>
                <a:defRPr/>
              </a:pPr>
              <a:t>126</a:t>
            </a:fld>
            <a:endParaRPr lang="th-TH" altLang="en-US"/>
          </a:p>
        </p:txBody>
      </p:sp>
      <p:sp>
        <p:nvSpPr>
          <p:cNvPr id="485379"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538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th-TH" altLang="en-US" smtClean="0"/>
              <a:t>To describe process overview of chemical recovery section </a:t>
            </a:r>
          </a:p>
        </p:txBody>
      </p:sp>
    </p:spTree>
    <p:extLst>
      <p:ext uri="{BB962C8B-B14F-4D97-AF65-F5344CB8AC3E}">
        <p14:creationId xmlns:p14="http://schemas.microsoft.com/office/powerpoint/2010/main" val="144359217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74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74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321663D4-1FFD-46C3-AE9D-69CE6A0A12F5}" type="slidenum">
              <a:rPr lang="en-US" smtClean="0"/>
              <a:pPr>
                <a:defRPr/>
              </a:pPr>
              <a:t>127</a:t>
            </a:fld>
            <a:endParaRPr lang="en-US"/>
          </a:p>
        </p:txBody>
      </p:sp>
    </p:spTree>
    <p:extLst>
      <p:ext uri="{BB962C8B-B14F-4D97-AF65-F5344CB8AC3E}">
        <p14:creationId xmlns:p14="http://schemas.microsoft.com/office/powerpoint/2010/main" val="187735070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99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99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FAA77855-B345-4C9E-81C1-D86E349A0CA1}" type="slidenum">
              <a:rPr lang="en-US" smtClean="0"/>
              <a:pPr>
                <a:defRPr/>
              </a:pPr>
              <a:t>148</a:t>
            </a:fld>
            <a:endParaRPr lang="en-US"/>
          </a:p>
        </p:txBody>
      </p:sp>
    </p:spTree>
    <p:extLst>
      <p:ext uri="{BB962C8B-B14F-4D97-AF65-F5344CB8AC3E}">
        <p14:creationId xmlns:p14="http://schemas.microsoft.com/office/powerpoint/2010/main" val="171910015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F5D7FBDF-E04B-49F0-A2FA-20FDC796156F}" type="slidenum">
              <a:rPr lang="en-US" altLang="en-US"/>
              <a:pPr>
                <a:defRPr/>
              </a:pPr>
              <a:t>149</a:t>
            </a:fld>
            <a:endParaRPr lang="th-TH" altLang="en-US"/>
          </a:p>
        </p:txBody>
      </p:sp>
      <p:sp>
        <p:nvSpPr>
          <p:cNvPr id="512003"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00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th-TH" altLang="en-US" smtClean="0"/>
              <a:t>To show flue gas flowing to heat tube arrangement in boiler</a:t>
            </a:r>
          </a:p>
        </p:txBody>
      </p:sp>
    </p:spTree>
    <p:extLst>
      <p:ext uri="{BB962C8B-B14F-4D97-AF65-F5344CB8AC3E}">
        <p14:creationId xmlns:p14="http://schemas.microsoft.com/office/powerpoint/2010/main" val="189019209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3D3718D6-AAF9-4584-B329-676B32679677}" type="slidenum">
              <a:rPr lang="en-US" altLang="en-US"/>
              <a:pPr>
                <a:defRPr/>
              </a:pPr>
              <a:t>150</a:t>
            </a:fld>
            <a:endParaRPr lang="th-TH" altLang="en-US"/>
          </a:p>
        </p:txBody>
      </p:sp>
      <p:sp>
        <p:nvSpPr>
          <p:cNvPr id="51405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405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th-TH" altLang="en-US" smtClean="0"/>
              <a:t>To describe fuel type used to be burned in boiler</a:t>
            </a:r>
          </a:p>
        </p:txBody>
      </p:sp>
    </p:spTree>
    <p:extLst>
      <p:ext uri="{BB962C8B-B14F-4D97-AF65-F5344CB8AC3E}">
        <p14:creationId xmlns:p14="http://schemas.microsoft.com/office/powerpoint/2010/main" val="289425650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9E33FEBB-B8B3-40E6-BEFC-2D10DEC70E02}" type="slidenum">
              <a:rPr lang="en-US" altLang="en-US"/>
              <a:pPr>
                <a:defRPr/>
              </a:pPr>
              <a:t>152</a:t>
            </a:fld>
            <a:endParaRPr lang="th-TH" altLang="en-US"/>
          </a:p>
        </p:txBody>
      </p:sp>
      <p:sp>
        <p:nvSpPr>
          <p:cNvPr id="517123"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712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Tree>
    <p:extLst>
      <p:ext uri="{BB962C8B-B14F-4D97-AF65-F5344CB8AC3E}">
        <p14:creationId xmlns:p14="http://schemas.microsoft.com/office/powerpoint/2010/main" val="297457060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4964EB49-8407-4D60-8339-73C0DE9C82A9}" type="slidenum">
              <a:rPr lang="en-US" altLang="en-US"/>
              <a:pPr>
                <a:defRPr/>
              </a:pPr>
              <a:t>153</a:t>
            </a:fld>
            <a:endParaRPr lang="th-TH" altLang="en-US"/>
          </a:p>
        </p:txBody>
      </p:sp>
      <p:sp>
        <p:nvSpPr>
          <p:cNvPr id="51917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917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th-TH" altLang="en-US" smtClean="0"/>
              <a:t>To show DCE external</a:t>
            </a:r>
          </a:p>
        </p:txBody>
      </p:sp>
    </p:spTree>
    <p:extLst>
      <p:ext uri="{BB962C8B-B14F-4D97-AF65-F5344CB8AC3E}">
        <p14:creationId xmlns:p14="http://schemas.microsoft.com/office/powerpoint/2010/main" val="32615134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AA19CF56-B5EB-4399-97A7-AF2361186F37}" type="slidenum">
              <a:rPr lang="en-US" altLang="en-US"/>
              <a:pPr>
                <a:defRPr/>
              </a:pPr>
              <a:t>155</a:t>
            </a:fld>
            <a:endParaRPr lang="th-TH" altLang="en-US"/>
          </a:p>
        </p:txBody>
      </p:sp>
      <p:sp>
        <p:nvSpPr>
          <p:cNvPr id="522243"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224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th-TH" altLang="en-US" smtClean="0"/>
              <a:t>To describe flue gas flowing to heat B.L. in DCE </a:t>
            </a:r>
          </a:p>
        </p:txBody>
      </p:sp>
    </p:spTree>
    <p:extLst>
      <p:ext uri="{BB962C8B-B14F-4D97-AF65-F5344CB8AC3E}">
        <p14:creationId xmlns:p14="http://schemas.microsoft.com/office/powerpoint/2010/main" val="90871672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93338C11-8AFE-4B1C-A4CD-E90A465D24B8}" type="slidenum">
              <a:rPr lang="en-US" altLang="en-US"/>
              <a:pPr>
                <a:defRPr/>
              </a:pPr>
              <a:t>157</a:t>
            </a:fld>
            <a:endParaRPr lang="th-TH" altLang="en-US"/>
          </a:p>
        </p:txBody>
      </p:sp>
      <p:sp>
        <p:nvSpPr>
          <p:cNvPr id="52531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531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th-TH" altLang="en-US" smtClean="0"/>
              <a:t>To show spraying system</a:t>
            </a:r>
          </a:p>
        </p:txBody>
      </p:sp>
    </p:spTree>
    <p:extLst>
      <p:ext uri="{BB962C8B-B14F-4D97-AF65-F5344CB8AC3E}">
        <p14:creationId xmlns:p14="http://schemas.microsoft.com/office/powerpoint/2010/main" val="370927013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73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73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A82D4E72-6D96-4114-9A98-A20E8C896CA7}" type="slidenum">
              <a:rPr lang="en-US" smtClean="0"/>
              <a:pPr>
                <a:defRPr/>
              </a:pPr>
              <a:t>158</a:t>
            </a:fld>
            <a:endParaRPr lang="en-US"/>
          </a:p>
        </p:txBody>
      </p:sp>
    </p:spTree>
    <p:extLst>
      <p:ext uri="{BB962C8B-B14F-4D97-AF65-F5344CB8AC3E}">
        <p14:creationId xmlns:p14="http://schemas.microsoft.com/office/powerpoint/2010/main" val="97268829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4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94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B89836F6-2E56-478C-8644-D0044B6F7701}" type="slidenum">
              <a:rPr lang="en-US" smtClean="0"/>
              <a:pPr>
                <a:defRPr/>
              </a:pPr>
              <a:t>159</a:t>
            </a:fld>
            <a:endParaRPr lang="en-US"/>
          </a:p>
        </p:txBody>
      </p:sp>
    </p:spTree>
    <p:extLst>
      <p:ext uri="{BB962C8B-B14F-4D97-AF65-F5344CB8AC3E}">
        <p14:creationId xmlns:p14="http://schemas.microsoft.com/office/powerpoint/2010/main" val="388079225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76F04250-9B33-4F1C-978A-409FEB6BA192}" type="slidenum">
              <a:rPr lang="en-US" altLang="en-US"/>
              <a:pPr>
                <a:defRPr/>
              </a:pPr>
              <a:t>162</a:t>
            </a:fld>
            <a:endParaRPr lang="th-TH" altLang="en-US"/>
          </a:p>
        </p:txBody>
      </p:sp>
      <p:sp>
        <p:nvSpPr>
          <p:cNvPr id="53350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350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th-TH" altLang="en-US" smtClean="0"/>
              <a:t>To show air system in furnace with other fuction such as charbed, spraying of B.L.</a:t>
            </a:r>
          </a:p>
        </p:txBody>
      </p:sp>
    </p:spTree>
    <p:extLst>
      <p:ext uri="{BB962C8B-B14F-4D97-AF65-F5344CB8AC3E}">
        <p14:creationId xmlns:p14="http://schemas.microsoft.com/office/powerpoint/2010/main" val="213337588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2BF1AC10-A7B8-4B0C-84F3-7E308D77B812}" type="slidenum">
              <a:rPr lang="en-US" altLang="en-US"/>
              <a:pPr>
                <a:defRPr/>
              </a:pPr>
              <a:t>163</a:t>
            </a:fld>
            <a:endParaRPr lang="th-TH" altLang="en-US"/>
          </a:p>
        </p:txBody>
      </p:sp>
      <p:sp>
        <p:nvSpPr>
          <p:cNvPr id="53555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555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th-TH" altLang="en-US" smtClean="0"/>
              <a:t>To show smelt outlet at smelt spout and steam shattering system</a:t>
            </a:r>
          </a:p>
        </p:txBody>
      </p:sp>
    </p:spTree>
    <p:extLst>
      <p:ext uri="{BB962C8B-B14F-4D97-AF65-F5344CB8AC3E}">
        <p14:creationId xmlns:p14="http://schemas.microsoft.com/office/powerpoint/2010/main" val="96640541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22E4A91E-8307-43AB-BACD-3FEECDE472DC}" type="slidenum">
              <a:rPr lang="en-US" altLang="en-US"/>
              <a:pPr>
                <a:defRPr/>
              </a:pPr>
              <a:t>168</a:t>
            </a:fld>
            <a:endParaRPr lang="th-TH" altLang="en-US"/>
          </a:p>
        </p:txBody>
      </p:sp>
      <p:sp>
        <p:nvSpPr>
          <p:cNvPr id="541699"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170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th-TH" altLang="en-US" smtClean="0"/>
              <a:t>To describe time scale of burning B.L. in furnace</a:t>
            </a:r>
          </a:p>
        </p:txBody>
      </p:sp>
    </p:spTree>
    <p:extLst>
      <p:ext uri="{BB962C8B-B14F-4D97-AF65-F5344CB8AC3E}">
        <p14:creationId xmlns:p14="http://schemas.microsoft.com/office/powerpoint/2010/main" val="42799064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92FDF801-3ED7-484D-AC2F-A47DA4E6F737}" type="slidenum">
              <a:rPr lang="en-US" altLang="en-US"/>
              <a:pPr>
                <a:defRPr/>
              </a:pPr>
              <a:t>170</a:t>
            </a:fld>
            <a:endParaRPr lang="th-TH" altLang="en-US"/>
          </a:p>
        </p:txBody>
      </p:sp>
      <p:sp>
        <p:nvSpPr>
          <p:cNvPr id="54477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477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Tree>
    <p:extLst>
      <p:ext uri="{BB962C8B-B14F-4D97-AF65-F5344CB8AC3E}">
        <p14:creationId xmlns:p14="http://schemas.microsoft.com/office/powerpoint/2010/main" val="26379939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783E51E1-0991-4DB4-89E4-30BB62564CE9}" type="slidenum">
              <a:rPr lang="en-US" altLang="en-US"/>
              <a:pPr>
                <a:defRPr/>
              </a:pPr>
              <a:t>171</a:t>
            </a:fld>
            <a:endParaRPr lang="th-TH" altLang="en-US"/>
          </a:p>
        </p:txBody>
      </p:sp>
      <p:sp>
        <p:nvSpPr>
          <p:cNvPr id="546819"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682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th-TH" altLang="en-US" smtClean="0"/>
              <a:t>To show flowing of water and steam at each equipment</a:t>
            </a:r>
          </a:p>
        </p:txBody>
      </p:sp>
    </p:spTree>
    <p:extLst>
      <p:ext uri="{BB962C8B-B14F-4D97-AF65-F5344CB8AC3E}">
        <p14:creationId xmlns:p14="http://schemas.microsoft.com/office/powerpoint/2010/main" val="171382351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5AEFE428-B79C-4D25-A4DD-956A0894C2EB}" type="slidenum">
              <a:rPr lang="en-US" altLang="en-US"/>
              <a:pPr>
                <a:defRPr/>
              </a:pPr>
              <a:t>172</a:t>
            </a:fld>
            <a:endParaRPr lang="th-TH" altLang="en-US"/>
          </a:p>
        </p:txBody>
      </p:sp>
      <p:sp>
        <p:nvSpPr>
          <p:cNvPr id="54886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886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th-TH" altLang="en-US" smtClean="0"/>
              <a:t>Top compare water circulation for each type of boiler</a:t>
            </a:r>
          </a:p>
        </p:txBody>
      </p:sp>
    </p:spTree>
    <p:extLst>
      <p:ext uri="{BB962C8B-B14F-4D97-AF65-F5344CB8AC3E}">
        <p14:creationId xmlns:p14="http://schemas.microsoft.com/office/powerpoint/2010/main" val="43987174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58D77EC9-CD7B-4758-942C-C6C138041C1F}" type="slidenum">
              <a:rPr lang="en-US" smtClean="0"/>
              <a:pPr>
                <a:defRPr/>
              </a:pPr>
              <a:t>175</a:t>
            </a:fld>
            <a:endParaRPr lang="en-US"/>
          </a:p>
        </p:txBody>
      </p:sp>
    </p:spTree>
    <p:extLst>
      <p:ext uri="{BB962C8B-B14F-4D97-AF65-F5344CB8AC3E}">
        <p14:creationId xmlns:p14="http://schemas.microsoft.com/office/powerpoint/2010/main" val="122030216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50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Recausticizing is the process of converting the chemicals in the spent cooking liquor back to their original form so that they can be re-used in the kraft pulping process. In other words, it changes green liquor back into white liquor.</a:t>
            </a:r>
          </a:p>
          <a:p>
            <a:r>
              <a:rPr lang="en-US" altLang="en-US" smtClean="0"/>
              <a:t> </a:t>
            </a:r>
          </a:p>
          <a:p>
            <a:r>
              <a:rPr lang="en-US" altLang="en-US" smtClean="0"/>
              <a:t>The green liquor in the smelt dissolving tank is pumped first to the green liquor clarifier. The clarifier uses gravity to remove impurities called "dregs" from the process. Next, the green liquor enters a vessel called the slaker, where lime (CaO) is added. This is where the recausticizing, or recaust, process begins.</a:t>
            </a:r>
          </a:p>
          <a:p>
            <a:r>
              <a:rPr lang="en-US" altLang="en-US" smtClean="0"/>
              <a:t> </a:t>
            </a:r>
          </a:p>
          <a:p>
            <a:r>
              <a:rPr lang="en-US" altLang="en-US" smtClean="0"/>
              <a:t>After the slaker, the solution is transferred to a series of vessels called causticizers. This is where most of the causticizing reaction takes place. The causticizing reaction converts the green liquor to white liquor, and the lime (CaO) to lime mud (CaCO3).</a:t>
            </a:r>
          </a:p>
          <a:p>
            <a:r>
              <a:rPr lang="en-US" altLang="en-US" smtClean="0"/>
              <a:t> </a:t>
            </a:r>
          </a:p>
          <a:p>
            <a:r>
              <a:rPr lang="en-US" altLang="en-US" smtClean="0"/>
              <a:t>This discussion is continued on the next page.</a:t>
            </a:r>
          </a:p>
        </p:txBody>
      </p:sp>
      <p:sp>
        <p:nvSpPr>
          <p:cNvPr id="5550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461BA4D6-443E-4DA0-ACEF-32D7287896DB}" type="slidenum">
              <a:rPr lang="th-TH" altLang="en-US" smtClean="0"/>
              <a:pPr fontAlgn="base">
                <a:spcBef>
                  <a:spcPct val="0"/>
                </a:spcBef>
                <a:spcAft>
                  <a:spcPct val="0"/>
                </a:spcAft>
              </a:pPr>
              <a:t>176</a:t>
            </a:fld>
            <a:endParaRPr lang="th-TH" altLang="en-US" smtClean="0"/>
          </a:p>
        </p:txBody>
      </p:sp>
    </p:spTree>
    <p:extLst>
      <p:ext uri="{BB962C8B-B14F-4D97-AF65-F5344CB8AC3E}">
        <p14:creationId xmlns:p14="http://schemas.microsoft.com/office/powerpoint/2010/main" val="134394137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70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70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Recausticizing is the process of converting the chemicals in the spent cooking liquor back to their original form so that they can be re-used in the kraft pulping process. In other words, it changes green liquor back into white liquor.</a:t>
            </a:r>
          </a:p>
          <a:p>
            <a:r>
              <a:rPr lang="en-US" altLang="en-US" smtClean="0"/>
              <a:t> </a:t>
            </a:r>
          </a:p>
        </p:txBody>
      </p:sp>
      <p:sp>
        <p:nvSpPr>
          <p:cNvPr id="5570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803275" indent="-307975">
              <a:defRPr>
                <a:solidFill>
                  <a:schemeClr val="tx1"/>
                </a:solidFill>
                <a:latin typeface="Calibri" panose="020F0502020204030204" pitchFamily="34" charset="0"/>
              </a:defRPr>
            </a:lvl2pPr>
            <a:lvl3pPr marL="1236663" indent="-246063">
              <a:defRPr>
                <a:solidFill>
                  <a:schemeClr val="tx1"/>
                </a:solidFill>
                <a:latin typeface="Calibri" panose="020F0502020204030204" pitchFamily="34" charset="0"/>
              </a:defRPr>
            </a:lvl3pPr>
            <a:lvl4pPr marL="1731963" indent="-246063">
              <a:defRPr>
                <a:solidFill>
                  <a:schemeClr val="tx1"/>
                </a:solidFill>
                <a:latin typeface="Calibri" panose="020F0502020204030204" pitchFamily="34" charset="0"/>
              </a:defRPr>
            </a:lvl4pPr>
            <a:lvl5pPr marL="2227263" indent="-246063">
              <a:defRPr>
                <a:solidFill>
                  <a:schemeClr val="tx1"/>
                </a:solidFill>
                <a:latin typeface="Calibri" panose="020F0502020204030204" pitchFamily="34" charset="0"/>
              </a:defRPr>
            </a:lvl5pPr>
            <a:lvl6pPr marL="2684463" indent="-246063" eaLnBrk="0" fontAlgn="base" hangingPunct="0">
              <a:spcBef>
                <a:spcPct val="0"/>
              </a:spcBef>
              <a:spcAft>
                <a:spcPct val="0"/>
              </a:spcAft>
              <a:defRPr>
                <a:solidFill>
                  <a:schemeClr val="tx1"/>
                </a:solidFill>
                <a:latin typeface="Calibri" panose="020F0502020204030204" pitchFamily="34" charset="0"/>
              </a:defRPr>
            </a:lvl6pPr>
            <a:lvl7pPr marL="3141663" indent="-246063" eaLnBrk="0" fontAlgn="base" hangingPunct="0">
              <a:spcBef>
                <a:spcPct val="0"/>
              </a:spcBef>
              <a:spcAft>
                <a:spcPct val="0"/>
              </a:spcAft>
              <a:defRPr>
                <a:solidFill>
                  <a:schemeClr val="tx1"/>
                </a:solidFill>
                <a:latin typeface="Calibri" panose="020F0502020204030204" pitchFamily="34" charset="0"/>
              </a:defRPr>
            </a:lvl7pPr>
            <a:lvl8pPr marL="3598863" indent="-246063" eaLnBrk="0" fontAlgn="base" hangingPunct="0">
              <a:spcBef>
                <a:spcPct val="0"/>
              </a:spcBef>
              <a:spcAft>
                <a:spcPct val="0"/>
              </a:spcAft>
              <a:defRPr>
                <a:solidFill>
                  <a:schemeClr val="tx1"/>
                </a:solidFill>
                <a:latin typeface="Calibri" panose="020F0502020204030204" pitchFamily="34" charset="0"/>
              </a:defRPr>
            </a:lvl8pPr>
            <a:lvl9pPr marL="4056063" indent="-246063"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9FE9B5DA-804C-4991-AAA8-943713E746B2}" type="slidenum">
              <a:rPr lang="th-TH" altLang="en-US" sz="1300" smtClean="0"/>
              <a:pPr fontAlgn="base">
                <a:spcBef>
                  <a:spcPct val="0"/>
                </a:spcBef>
                <a:spcAft>
                  <a:spcPct val="0"/>
                </a:spcAft>
              </a:pPr>
              <a:t>177</a:t>
            </a:fld>
            <a:endParaRPr lang="th-TH" altLang="en-US" sz="1300" smtClean="0"/>
          </a:p>
        </p:txBody>
      </p:sp>
    </p:spTree>
    <p:extLst>
      <p:ext uri="{BB962C8B-B14F-4D97-AF65-F5344CB8AC3E}">
        <p14:creationId xmlns:p14="http://schemas.microsoft.com/office/powerpoint/2010/main" val="409537441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91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The green liquor in the smelt dissolving tank is pumped first to the green liquor clarifier. The clarifier uses gravity to remove impurities called "dregs" from the process. </a:t>
            </a:r>
          </a:p>
        </p:txBody>
      </p:sp>
      <p:sp>
        <p:nvSpPr>
          <p:cNvPr id="5591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803275" indent="-307975">
              <a:defRPr>
                <a:solidFill>
                  <a:schemeClr val="tx1"/>
                </a:solidFill>
                <a:latin typeface="Calibri" panose="020F0502020204030204" pitchFamily="34" charset="0"/>
              </a:defRPr>
            </a:lvl2pPr>
            <a:lvl3pPr marL="1236663" indent="-246063">
              <a:defRPr>
                <a:solidFill>
                  <a:schemeClr val="tx1"/>
                </a:solidFill>
                <a:latin typeface="Calibri" panose="020F0502020204030204" pitchFamily="34" charset="0"/>
              </a:defRPr>
            </a:lvl3pPr>
            <a:lvl4pPr marL="1731963" indent="-246063">
              <a:defRPr>
                <a:solidFill>
                  <a:schemeClr val="tx1"/>
                </a:solidFill>
                <a:latin typeface="Calibri" panose="020F0502020204030204" pitchFamily="34" charset="0"/>
              </a:defRPr>
            </a:lvl4pPr>
            <a:lvl5pPr marL="2227263" indent="-246063">
              <a:defRPr>
                <a:solidFill>
                  <a:schemeClr val="tx1"/>
                </a:solidFill>
                <a:latin typeface="Calibri" panose="020F0502020204030204" pitchFamily="34" charset="0"/>
              </a:defRPr>
            </a:lvl5pPr>
            <a:lvl6pPr marL="2684463" indent="-246063" eaLnBrk="0" fontAlgn="base" hangingPunct="0">
              <a:spcBef>
                <a:spcPct val="0"/>
              </a:spcBef>
              <a:spcAft>
                <a:spcPct val="0"/>
              </a:spcAft>
              <a:defRPr>
                <a:solidFill>
                  <a:schemeClr val="tx1"/>
                </a:solidFill>
                <a:latin typeface="Calibri" panose="020F0502020204030204" pitchFamily="34" charset="0"/>
              </a:defRPr>
            </a:lvl6pPr>
            <a:lvl7pPr marL="3141663" indent="-246063" eaLnBrk="0" fontAlgn="base" hangingPunct="0">
              <a:spcBef>
                <a:spcPct val="0"/>
              </a:spcBef>
              <a:spcAft>
                <a:spcPct val="0"/>
              </a:spcAft>
              <a:defRPr>
                <a:solidFill>
                  <a:schemeClr val="tx1"/>
                </a:solidFill>
                <a:latin typeface="Calibri" panose="020F0502020204030204" pitchFamily="34" charset="0"/>
              </a:defRPr>
            </a:lvl7pPr>
            <a:lvl8pPr marL="3598863" indent="-246063" eaLnBrk="0" fontAlgn="base" hangingPunct="0">
              <a:spcBef>
                <a:spcPct val="0"/>
              </a:spcBef>
              <a:spcAft>
                <a:spcPct val="0"/>
              </a:spcAft>
              <a:defRPr>
                <a:solidFill>
                  <a:schemeClr val="tx1"/>
                </a:solidFill>
                <a:latin typeface="Calibri" panose="020F0502020204030204" pitchFamily="34" charset="0"/>
              </a:defRPr>
            </a:lvl8pPr>
            <a:lvl9pPr marL="4056063" indent="-246063"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112F2013-3D61-48A6-88E0-8596C1C5D97F}" type="slidenum">
              <a:rPr lang="th-TH" altLang="en-US" sz="1300" smtClean="0"/>
              <a:pPr fontAlgn="base">
                <a:spcBef>
                  <a:spcPct val="0"/>
                </a:spcBef>
                <a:spcAft>
                  <a:spcPct val="0"/>
                </a:spcAft>
              </a:pPr>
              <a:t>178</a:t>
            </a:fld>
            <a:endParaRPr lang="th-TH" altLang="en-US" sz="1300" smtClean="0"/>
          </a:p>
        </p:txBody>
      </p:sp>
    </p:spTree>
    <p:extLst>
      <p:ext uri="{BB962C8B-B14F-4D97-AF65-F5344CB8AC3E}">
        <p14:creationId xmlns:p14="http://schemas.microsoft.com/office/powerpoint/2010/main" val="341849419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11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11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Next, the green liquor enters a vessel called the slaker, where lime (CaO) is added. This is where the recausticizing, or recaust, process begins.</a:t>
            </a:r>
          </a:p>
          <a:p>
            <a:r>
              <a:rPr lang="en-US" altLang="en-US" smtClean="0"/>
              <a:t> </a:t>
            </a:r>
          </a:p>
          <a:p>
            <a:r>
              <a:rPr lang="en-US" altLang="en-US" smtClean="0"/>
              <a:t>After the slaker, the solution is transferred to a series of vessels called causticizers. This is where most of the causticizing reaction takes place. </a:t>
            </a:r>
          </a:p>
        </p:txBody>
      </p:sp>
      <p:sp>
        <p:nvSpPr>
          <p:cNvPr id="5611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803275" indent="-307975">
              <a:defRPr>
                <a:solidFill>
                  <a:schemeClr val="tx1"/>
                </a:solidFill>
                <a:latin typeface="Calibri" panose="020F0502020204030204" pitchFamily="34" charset="0"/>
              </a:defRPr>
            </a:lvl2pPr>
            <a:lvl3pPr marL="1236663" indent="-246063">
              <a:defRPr>
                <a:solidFill>
                  <a:schemeClr val="tx1"/>
                </a:solidFill>
                <a:latin typeface="Calibri" panose="020F0502020204030204" pitchFamily="34" charset="0"/>
              </a:defRPr>
            </a:lvl3pPr>
            <a:lvl4pPr marL="1731963" indent="-246063">
              <a:defRPr>
                <a:solidFill>
                  <a:schemeClr val="tx1"/>
                </a:solidFill>
                <a:latin typeface="Calibri" panose="020F0502020204030204" pitchFamily="34" charset="0"/>
              </a:defRPr>
            </a:lvl4pPr>
            <a:lvl5pPr marL="2227263" indent="-246063">
              <a:defRPr>
                <a:solidFill>
                  <a:schemeClr val="tx1"/>
                </a:solidFill>
                <a:latin typeface="Calibri" panose="020F0502020204030204" pitchFamily="34" charset="0"/>
              </a:defRPr>
            </a:lvl5pPr>
            <a:lvl6pPr marL="2684463" indent="-246063" eaLnBrk="0" fontAlgn="base" hangingPunct="0">
              <a:spcBef>
                <a:spcPct val="0"/>
              </a:spcBef>
              <a:spcAft>
                <a:spcPct val="0"/>
              </a:spcAft>
              <a:defRPr>
                <a:solidFill>
                  <a:schemeClr val="tx1"/>
                </a:solidFill>
                <a:latin typeface="Calibri" panose="020F0502020204030204" pitchFamily="34" charset="0"/>
              </a:defRPr>
            </a:lvl6pPr>
            <a:lvl7pPr marL="3141663" indent="-246063" eaLnBrk="0" fontAlgn="base" hangingPunct="0">
              <a:spcBef>
                <a:spcPct val="0"/>
              </a:spcBef>
              <a:spcAft>
                <a:spcPct val="0"/>
              </a:spcAft>
              <a:defRPr>
                <a:solidFill>
                  <a:schemeClr val="tx1"/>
                </a:solidFill>
                <a:latin typeface="Calibri" panose="020F0502020204030204" pitchFamily="34" charset="0"/>
              </a:defRPr>
            </a:lvl7pPr>
            <a:lvl8pPr marL="3598863" indent="-246063" eaLnBrk="0" fontAlgn="base" hangingPunct="0">
              <a:spcBef>
                <a:spcPct val="0"/>
              </a:spcBef>
              <a:spcAft>
                <a:spcPct val="0"/>
              </a:spcAft>
              <a:defRPr>
                <a:solidFill>
                  <a:schemeClr val="tx1"/>
                </a:solidFill>
                <a:latin typeface="Calibri" panose="020F0502020204030204" pitchFamily="34" charset="0"/>
              </a:defRPr>
            </a:lvl8pPr>
            <a:lvl9pPr marL="4056063" indent="-246063"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1A17966E-B27A-4528-AA90-77DDCCD81C52}" type="slidenum">
              <a:rPr lang="th-TH" altLang="en-US" sz="1300" smtClean="0"/>
              <a:pPr fontAlgn="base">
                <a:spcBef>
                  <a:spcPct val="0"/>
                </a:spcBef>
                <a:spcAft>
                  <a:spcPct val="0"/>
                </a:spcAft>
              </a:pPr>
              <a:t>179</a:t>
            </a:fld>
            <a:endParaRPr lang="th-TH" altLang="en-US" sz="1300" smtClean="0"/>
          </a:p>
        </p:txBody>
      </p:sp>
    </p:spTree>
    <p:extLst>
      <p:ext uri="{BB962C8B-B14F-4D97-AF65-F5344CB8AC3E}">
        <p14:creationId xmlns:p14="http://schemas.microsoft.com/office/powerpoint/2010/main" val="70401481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32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The causticizing reaction converts the green liquor to white liquor, and the lime (CaO) to lime mud (CaCO3).</a:t>
            </a:r>
          </a:p>
        </p:txBody>
      </p:sp>
      <p:sp>
        <p:nvSpPr>
          <p:cNvPr id="5632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803275" indent="-307975">
              <a:defRPr>
                <a:solidFill>
                  <a:schemeClr val="tx1"/>
                </a:solidFill>
                <a:latin typeface="Calibri" panose="020F0502020204030204" pitchFamily="34" charset="0"/>
              </a:defRPr>
            </a:lvl2pPr>
            <a:lvl3pPr marL="1236663" indent="-246063">
              <a:defRPr>
                <a:solidFill>
                  <a:schemeClr val="tx1"/>
                </a:solidFill>
                <a:latin typeface="Calibri" panose="020F0502020204030204" pitchFamily="34" charset="0"/>
              </a:defRPr>
            </a:lvl3pPr>
            <a:lvl4pPr marL="1731963" indent="-246063">
              <a:defRPr>
                <a:solidFill>
                  <a:schemeClr val="tx1"/>
                </a:solidFill>
                <a:latin typeface="Calibri" panose="020F0502020204030204" pitchFamily="34" charset="0"/>
              </a:defRPr>
            </a:lvl4pPr>
            <a:lvl5pPr marL="2227263" indent="-246063">
              <a:defRPr>
                <a:solidFill>
                  <a:schemeClr val="tx1"/>
                </a:solidFill>
                <a:latin typeface="Calibri" panose="020F0502020204030204" pitchFamily="34" charset="0"/>
              </a:defRPr>
            </a:lvl5pPr>
            <a:lvl6pPr marL="2684463" indent="-246063" eaLnBrk="0" fontAlgn="base" hangingPunct="0">
              <a:spcBef>
                <a:spcPct val="0"/>
              </a:spcBef>
              <a:spcAft>
                <a:spcPct val="0"/>
              </a:spcAft>
              <a:defRPr>
                <a:solidFill>
                  <a:schemeClr val="tx1"/>
                </a:solidFill>
                <a:latin typeface="Calibri" panose="020F0502020204030204" pitchFamily="34" charset="0"/>
              </a:defRPr>
            </a:lvl6pPr>
            <a:lvl7pPr marL="3141663" indent="-246063" eaLnBrk="0" fontAlgn="base" hangingPunct="0">
              <a:spcBef>
                <a:spcPct val="0"/>
              </a:spcBef>
              <a:spcAft>
                <a:spcPct val="0"/>
              </a:spcAft>
              <a:defRPr>
                <a:solidFill>
                  <a:schemeClr val="tx1"/>
                </a:solidFill>
                <a:latin typeface="Calibri" panose="020F0502020204030204" pitchFamily="34" charset="0"/>
              </a:defRPr>
            </a:lvl7pPr>
            <a:lvl8pPr marL="3598863" indent="-246063" eaLnBrk="0" fontAlgn="base" hangingPunct="0">
              <a:spcBef>
                <a:spcPct val="0"/>
              </a:spcBef>
              <a:spcAft>
                <a:spcPct val="0"/>
              </a:spcAft>
              <a:defRPr>
                <a:solidFill>
                  <a:schemeClr val="tx1"/>
                </a:solidFill>
                <a:latin typeface="Calibri" panose="020F0502020204030204" pitchFamily="34" charset="0"/>
              </a:defRPr>
            </a:lvl8pPr>
            <a:lvl9pPr marL="4056063" indent="-246063"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55DF73B7-6B52-4CFC-9A12-BFFFDA3831BA}" type="slidenum">
              <a:rPr lang="th-TH" altLang="en-US" sz="1300" smtClean="0"/>
              <a:pPr fontAlgn="base">
                <a:spcBef>
                  <a:spcPct val="0"/>
                </a:spcBef>
                <a:spcAft>
                  <a:spcPct val="0"/>
                </a:spcAft>
              </a:pPr>
              <a:t>180</a:t>
            </a:fld>
            <a:endParaRPr lang="th-TH" altLang="en-US" sz="1300" smtClean="0"/>
          </a:p>
        </p:txBody>
      </p:sp>
    </p:spTree>
    <p:extLst>
      <p:ext uri="{BB962C8B-B14F-4D97-AF65-F5344CB8AC3E}">
        <p14:creationId xmlns:p14="http://schemas.microsoft.com/office/powerpoint/2010/main" val="145069474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52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52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After the causticizers, the lime mud (CaCO3) is filtered or settled out of the white liquor in the white liquor clarifier. The white liquor is then pumped to a white liquor storage tank, which supplies white liquor to the pulping process.</a:t>
            </a:r>
          </a:p>
          <a:p>
            <a:r>
              <a:rPr lang="en-US" altLang="en-US" smtClean="0"/>
              <a:t> </a:t>
            </a:r>
          </a:p>
          <a:p>
            <a:r>
              <a:rPr lang="en-US" altLang="en-US" smtClean="0"/>
              <a:t>The lime mud collected in the white liquor clarifier is washed to recover cooking chemicals. The "weak wash" from the lime mud washer is directed back to the smelt dissolving tank.</a:t>
            </a:r>
          </a:p>
          <a:p>
            <a:r>
              <a:rPr lang="en-US" altLang="en-US" smtClean="0"/>
              <a:t> </a:t>
            </a:r>
          </a:p>
          <a:p>
            <a:r>
              <a:rPr lang="en-US" altLang="en-US" smtClean="0"/>
              <a:t>The washed lime mud is sent to storage so that the flow of mud to the lime kiln can be controlled. The lime kiln converts the lime mud back to pure lime so that it can be re-used in the recaust process.</a:t>
            </a:r>
          </a:p>
        </p:txBody>
      </p:sp>
      <p:sp>
        <p:nvSpPr>
          <p:cNvPr id="5652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F0262ABD-47E0-4031-84E5-9E112E2139A9}" type="slidenum">
              <a:rPr lang="th-TH" altLang="en-US" smtClean="0"/>
              <a:pPr fontAlgn="base">
                <a:spcBef>
                  <a:spcPct val="0"/>
                </a:spcBef>
                <a:spcAft>
                  <a:spcPct val="0"/>
                </a:spcAft>
              </a:pPr>
              <a:t>181</a:t>
            </a:fld>
            <a:endParaRPr lang="th-TH" altLang="en-US" smtClean="0"/>
          </a:p>
        </p:txBody>
      </p:sp>
    </p:spTree>
    <p:extLst>
      <p:ext uri="{BB962C8B-B14F-4D97-AF65-F5344CB8AC3E}">
        <p14:creationId xmlns:p14="http://schemas.microsoft.com/office/powerpoint/2010/main" val="337725432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72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72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After the causticizers, the lime mud (CaCO3) is filtered or settled out of the white liquor in the white liquor clarifier. The white liquor is then pumped to a white liquor storage tank, which supplies white liquor to the pulping process.</a:t>
            </a:r>
          </a:p>
          <a:p>
            <a:r>
              <a:rPr lang="en-US" altLang="en-US" smtClean="0"/>
              <a:t> </a:t>
            </a:r>
          </a:p>
          <a:p>
            <a:r>
              <a:rPr lang="en-US" altLang="en-US" smtClean="0"/>
              <a:t>The lime mud collected in the white liquor clarifier is washed to recover cooking chemicals. The "weak wash" from the lime mud washer is directed back to the smelt dissolving tank.</a:t>
            </a:r>
          </a:p>
          <a:p>
            <a:r>
              <a:rPr lang="en-US" altLang="en-US" smtClean="0"/>
              <a:t> </a:t>
            </a:r>
          </a:p>
          <a:p>
            <a:r>
              <a:rPr lang="en-US" altLang="en-US" smtClean="0"/>
              <a:t>The washed lime mud is sent to storage so that the flow of mud to the lime kiln can be controlled. The lime kiln converts the lime mud back to pure lime so that it can be re-used in the recaust process.</a:t>
            </a:r>
          </a:p>
        </p:txBody>
      </p:sp>
      <p:sp>
        <p:nvSpPr>
          <p:cNvPr id="5673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803275" indent="-307975">
              <a:defRPr>
                <a:solidFill>
                  <a:schemeClr val="tx1"/>
                </a:solidFill>
                <a:latin typeface="Calibri" panose="020F0502020204030204" pitchFamily="34" charset="0"/>
              </a:defRPr>
            </a:lvl2pPr>
            <a:lvl3pPr marL="1236663" indent="-246063">
              <a:defRPr>
                <a:solidFill>
                  <a:schemeClr val="tx1"/>
                </a:solidFill>
                <a:latin typeface="Calibri" panose="020F0502020204030204" pitchFamily="34" charset="0"/>
              </a:defRPr>
            </a:lvl3pPr>
            <a:lvl4pPr marL="1731963" indent="-246063">
              <a:defRPr>
                <a:solidFill>
                  <a:schemeClr val="tx1"/>
                </a:solidFill>
                <a:latin typeface="Calibri" panose="020F0502020204030204" pitchFamily="34" charset="0"/>
              </a:defRPr>
            </a:lvl4pPr>
            <a:lvl5pPr marL="2227263" indent="-246063">
              <a:defRPr>
                <a:solidFill>
                  <a:schemeClr val="tx1"/>
                </a:solidFill>
                <a:latin typeface="Calibri" panose="020F0502020204030204" pitchFamily="34" charset="0"/>
              </a:defRPr>
            </a:lvl5pPr>
            <a:lvl6pPr marL="2684463" indent="-246063" eaLnBrk="0" fontAlgn="base" hangingPunct="0">
              <a:spcBef>
                <a:spcPct val="0"/>
              </a:spcBef>
              <a:spcAft>
                <a:spcPct val="0"/>
              </a:spcAft>
              <a:defRPr>
                <a:solidFill>
                  <a:schemeClr val="tx1"/>
                </a:solidFill>
                <a:latin typeface="Calibri" panose="020F0502020204030204" pitchFamily="34" charset="0"/>
              </a:defRPr>
            </a:lvl6pPr>
            <a:lvl7pPr marL="3141663" indent="-246063" eaLnBrk="0" fontAlgn="base" hangingPunct="0">
              <a:spcBef>
                <a:spcPct val="0"/>
              </a:spcBef>
              <a:spcAft>
                <a:spcPct val="0"/>
              </a:spcAft>
              <a:defRPr>
                <a:solidFill>
                  <a:schemeClr val="tx1"/>
                </a:solidFill>
                <a:latin typeface="Calibri" panose="020F0502020204030204" pitchFamily="34" charset="0"/>
              </a:defRPr>
            </a:lvl7pPr>
            <a:lvl8pPr marL="3598863" indent="-246063" eaLnBrk="0" fontAlgn="base" hangingPunct="0">
              <a:spcBef>
                <a:spcPct val="0"/>
              </a:spcBef>
              <a:spcAft>
                <a:spcPct val="0"/>
              </a:spcAft>
              <a:defRPr>
                <a:solidFill>
                  <a:schemeClr val="tx1"/>
                </a:solidFill>
                <a:latin typeface="Calibri" panose="020F0502020204030204" pitchFamily="34" charset="0"/>
              </a:defRPr>
            </a:lvl8pPr>
            <a:lvl9pPr marL="4056063" indent="-246063"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C647EC7F-E7DB-40DD-924C-EB28289244F8}" type="slidenum">
              <a:rPr lang="th-TH" altLang="en-US" sz="1300" smtClean="0"/>
              <a:pPr fontAlgn="base">
                <a:spcBef>
                  <a:spcPct val="0"/>
                </a:spcBef>
                <a:spcAft>
                  <a:spcPct val="0"/>
                </a:spcAft>
              </a:pPr>
              <a:t>182</a:t>
            </a:fld>
            <a:endParaRPr lang="th-TH" altLang="en-US" sz="1300" smtClean="0"/>
          </a:p>
        </p:txBody>
      </p:sp>
    </p:spTree>
    <p:extLst>
      <p:ext uri="{BB962C8B-B14F-4D97-AF65-F5344CB8AC3E}">
        <p14:creationId xmlns:p14="http://schemas.microsoft.com/office/powerpoint/2010/main" val="398096540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93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93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The lime mud collected in the white liquor clarifier is washed to recover cooking chemicals. The "weak wash" from the lime mud washer is directed back to the smelt dissolving tank.</a:t>
            </a:r>
          </a:p>
          <a:p>
            <a:r>
              <a:rPr lang="en-US" altLang="en-US" smtClean="0"/>
              <a:t> </a:t>
            </a:r>
          </a:p>
          <a:p>
            <a:r>
              <a:rPr lang="en-US" altLang="en-US" smtClean="0"/>
              <a:t>The washed lime mud is sent to storage so that the flow of mud to the lime kiln can be controlled. The lime kiln converts the lime mud back to pure lime so that it can be re-used in the recaust process.</a:t>
            </a:r>
          </a:p>
        </p:txBody>
      </p:sp>
      <p:sp>
        <p:nvSpPr>
          <p:cNvPr id="5693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803275" indent="-307975">
              <a:defRPr>
                <a:solidFill>
                  <a:schemeClr val="tx1"/>
                </a:solidFill>
                <a:latin typeface="Calibri" panose="020F0502020204030204" pitchFamily="34" charset="0"/>
              </a:defRPr>
            </a:lvl2pPr>
            <a:lvl3pPr marL="1236663" indent="-246063">
              <a:defRPr>
                <a:solidFill>
                  <a:schemeClr val="tx1"/>
                </a:solidFill>
                <a:latin typeface="Calibri" panose="020F0502020204030204" pitchFamily="34" charset="0"/>
              </a:defRPr>
            </a:lvl3pPr>
            <a:lvl4pPr marL="1731963" indent="-246063">
              <a:defRPr>
                <a:solidFill>
                  <a:schemeClr val="tx1"/>
                </a:solidFill>
                <a:latin typeface="Calibri" panose="020F0502020204030204" pitchFamily="34" charset="0"/>
              </a:defRPr>
            </a:lvl4pPr>
            <a:lvl5pPr marL="2227263" indent="-246063">
              <a:defRPr>
                <a:solidFill>
                  <a:schemeClr val="tx1"/>
                </a:solidFill>
                <a:latin typeface="Calibri" panose="020F0502020204030204" pitchFamily="34" charset="0"/>
              </a:defRPr>
            </a:lvl5pPr>
            <a:lvl6pPr marL="2684463" indent="-246063" eaLnBrk="0" fontAlgn="base" hangingPunct="0">
              <a:spcBef>
                <a:spcPct val="0"/>
              </a:spcBef>
              <a:spcAft>
                <a:spcPct val="0"/>
              </a:spcAft>
              <a:defRPr>
                <a:solidFill>
                  <a:schemeClr val="tx1"/>
                </a:solidFill>
                <a:latin typeface="Calibri" panose="020F0502020204030204" pitchFamily="34" charset="0"/>
              </a:defRPr>
            </a:lvl6pPr>
            <a:lvl7pPr marL="3141663" indent="-246063" eaLnBrk="0" fontAlgn="base" hangingPunct="0">
              <a:spcBef>
                <a:spcPct val="0"/>
              </a:spcBef>
              <a:spcAft>
                <a:spcPct val="0"/>
              </a:spcAft>
              <a:defRPr>
                <a:solidFill>
                  <a:schemeClr val="tx1"/>
                </a:solidFill>
                <a:latin typeface="Calibri" panose="020F0502020204030204" pitchFamily="34" charset="0"/>
              </a:defRPr>
            </a:lvl7pPr>
            <a:lvl8pPr marL="3598863" indent="-246063" eaLnBrk="0" fontAlgn="base" hangingPunct="0">
              <a:spcBef>
                <a:spcPct val="0"/>
              </a:spcBef>
              <a:spcAft>
                <a:spcPct val="0"/>
              </a:spcAft>
              <a:defRPr>
                <a:solidFill>
                  <a:schemeClr val="tx1"/>
                </a:solidFill>
                <a:latin typeface="Calibri" panose="020F0502020204030204" pitchFamily="34" charset="0"/>
              </a:defRPr>
            </a:lvl8pPr>
            <a:lvl9pPr marL="4056063" indent="-246063"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17ECD067-9C93-4144-B1A9-BB017D946D49}" type="slidenum">
              <a:rPr lang="th-TH" altLang="en-US" sz="1300" smtClean="0"/>
              <a:pPr fontAlgn="base">
                <a:spcBef>
                  <a:spcPct val="0"/>
                </a:spcBef>
                <a:spcAft>
                  <a:spcPct val="0"/>
                </a:spcAft>
              </a:pPr>
              <a:t>183</a:t>
            </a:fld>
            <a:endParaRPr lang="th-TH" altLang="en-US" sz="1300" smtClean="0"/>
          </a:p>
        </p:txBody>
      </p:sp>
    </p:spTree>
    <p:extLst>
      <p:ext uri="{BB962C8B-B14F-4D97-AF65-F5344CB8AC3E}">
        <p14:creationId xmlns:p14="http://schemas.microsoft.com/office/powerpoint/2010/main" val="315482616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13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13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In the recausticizing process, lime is added to the green liquor to initiate two reactions - slaking and causticizing. These two reactions change the green liquor to white liquor. They also change the lime (CaO) to slaked lime (Ca(OH)2) and then to calcium carbonate (CaCO3), which is also called lime mud.</a:t>
            </a:r>
          </a:p>
          <a:p>
            <a:r>
              <a:rPr lang="en-US" altLang="en-US" smtClean="0"/>
              <a:t> </a:t>
            </a:r>
          </a:p>
          <a:p>
            <a:r>
              <a:rPr lang="en-US" altLang="en-US" smtClean="0"/>
              <a:t>After causticizing, the lime mud and white liquor are separated so that the white liquor can be re-used in the pulping process. The lime mud is then sent back to the lime kiln to be converted back to pure lime so that it can be re- used in the recaust process.</a:t>
            </a:r>
          </a:p>
          <a:p>
            <a:r>
              <a:rPr lang="en-US" altLang="en-US" smtClean="0"/>
              <a:t> </a:t>
            </a:r>
          </a:p>
          <a:p>
            <a:r>
              <a:rPr lang="en-US" altLang="en-US" smtClean="0"/>
              <a:t>The conversion of lime mud (CaCO3) to lime (CaO) is the role of the lime kiln. This process is also sometimes referred to as "reburning" of the lime. </a:t>
            </a:r>
            <a:endParaRPr lang="th-TH" altLang="en-US" smtClean="0"/>
          </a:p>
        </p:txBody>
      </p:sp>
      <p:sp>
        <p:nvSpPr>
          <p:cNvPr id="5713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1179305D-2483-48F7-BFAC-29FF174A71BE}" type="slidenum">
              <a:rPr lang="th-TH" altLang="en-US" smtClean="0"/>
              <a:pPr fontAlgn="base">
                <a:spcBef>
                  <a:spcPct val="0"/>
                </a:spcBef>
                <a:spcAft>
                  <a:spcPct val="0"/>
                </a:spcAft>
              </a:pPr>
              <a:t>184</a:t>
            </a:fld>
            <a:endParaRPr lang="th-TH" altLang="en-US" smtClean="0"/>
          </a:p>
        </p:txBody>
      </p:sp>
    </p:spTree>
    <p:extLst>
      <p:ext uri="{BB962C8B-B14F-4D97-AF65-F5344CB8AC3E}">
        <p14:creationId xmlns:p14="http://schemas.microsoft.com/office/powerpoint/2010/main" val="4266092257"/>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34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In the recausticizing process, lime is added to the green liquor to initiate two reactions - slaking and causticizing. These two reactions change the green liquor to white liquor. They also change the lime (CaO) to slaked lime (Ca(OH)2) and then to calcium carbonate (CaCO3), which is also called lime mud.</a:t>
            </a:r>
          </a:p>
        </p:txBody>
      </p:sp>
      <p:sp>
        <p:nvSpPr>
          <p:cNvPr id="5734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803275" indent="-307975">
              <a:defRPr>
                <a:solidFill>
                  <a:schemeClr val="tx1"/>
                </a:solidFill>
                <a:latin typeface="Calibri" panose="020F0502020204030204" pitchFamily="34" charset="0"/>
              </a:defRPr>
            </a:lvl2pPr>
            <a:lvl3pPr marL="1236663" indent="-246063">
              <a:defRPr>
                <a:solidFill>
                  <a:schemeClr val="tx1"/>
                </a:solidFill>
                <a:latin typeface="Calibri" panose="020F0502020204030204" pitchFamily="34" charset="0"/>
              </a:defRPr>
            </a:lvl3pPr>
            <a:lvl4pPr marL="1731963" indent="-246063">
              <a:defRPr>
                <a:solidFill>
                  <a:schemeClr val="tx1"/>
                </a:solidFill>
                <a:latin typeface="Calibri" panose="020F0502020204030204" pitchFamily="34" charset="0"/>
              </a:defRPr>
            </a:lvl4pPr>
            <a:lvl5pPr marL="2227263" indent="-246063">
              <a:defRPr>
                <a:solidFill>
                  <a:schemeClr val="tx1"/>
                </a:solidFill>
                <a:latin typeface="Calibri" panose="020F0502020204030204" pitchFamily="34" charset="0"/>
              </a:defRPr>
            </a:lvl5pPr>
            <a:lvl6pPr marL="2684463" indent="-246063" eaLnBrk="0" fontAlgn="base" hangingPunct="0">
              <a:spcBef>
                <a:spcPct val="0"/>
              </a:spcBef>
              <a:spcAft>
                <a:spcPct val="0"/>
              </a:spcAft>
              <a:defRPr>
                <a:solidFill>
                  <a:schemeClr val="tx1"/>
                </a:solidFill>
                <a:latin typeface="Calibri" panose="020F0502020204030204" pitchFamily="34" charset="0"/>
              </a:defRPr>
            </a:lvl6pPr>
            <a:lvl7pPr marL="3141663" indent="-246063" eaLnBrk="0" fontAlgn="base" hangingPunct="0">
              <a:spcBef>
                <a:spcPct val="0"/>
              </a:spcBef>
              <a:spcAft>
                <a:spcPct val="0"/>
              </a:spcAft>
              <a:defRPr>
                <a:solidFill>
                  <a:schemeClr val="tx1"/>
                </a:solidFill>
                <a:latin typeface="Calibri" panose="020F0502020204030204" pitchFamily="34" charset="0"/>
              </a:defRPr>
            </a:lvl7pPr>
            <a:lvl8pPr marL="3598863" indent="-246063" eaLnBrk="0" fontAlgn="base" hangingPunct="0">
              <a:spcBef>
                <a:spcPct val="0"/>
              </a:spcBef>
              <a:spcAft>
                <a:spcPct val="0"/>
              </a:spcAft>
              <a:defRPr>
                <a:solidFill>
                  <a:schemeClr val="tx1"/>
                </a:solidFill>
                <a:latin typeface="Calibri" panose="020F0502020204030204" pitchFamily="34" charset="0"/>
              </a:defRPr>
            </a:lvl8pPr>
            <a:lvl9pPr marL="4056063" indent="-246063"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3D62A834-7DE2-4B7F-832E-17833A924D37}" type="slidenum">
              <a:rPr lang="th-TH" altLang="en-US" sz="1300" smtClean="0"/>
              <a:pPr fontAlgn="base">
                <a:spcBef>
                  <a:spcPct val="0"/>
                </a:spcBef>
                <a:spcAft>
                  <a:spcPct val="0"/>
                </a:spcAft>
              </a:pPr>
              <a:t>185</a:t>
            </a:fld>
            <a:endParaRPr lang="th-TH" altLang="en-US" sz="1300" smtClean="0"/>
          </a:p>
        </p:txBody>
      </p:sp>
    </p:spTree>
    <p:extLst>
      <p:ext uri="{BB962C8B-B14F-4D97-AF65-F5344CB8AC3E}">
        <p14:creationId xmlns:p14="http://schemas.microsoft.com/office/powerpoint/2010/main" val="156597621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54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54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After causticizing, the lime mud and white liquor are separated so that the white liquor can be re-used in the pulping process. The lime mud is then sent back to the lime kiln to be converted back to pure lime so that it can be re- used in the recaust process.</a:t>
            </a:r>
          </a:p>
        </p:txBody>
      </p:sp>
      <p:sp>
        <p:nvSpPr>
          <p:cNvPr id="5754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803275" indent="-307975">
              <a:defRPr>
                <a:solidFill>
                  <a:schemeClr val="tx1"/>
                </a:solidFill>
                <a:latin typeface="Calibri" panose="020F0502020204030204" pitchFamily="34" charset="0"/>
              </a:defRPr>
            </a:lvl2pPr>
            <a:lvl3pPr marL="1236663" indent="-246063">
              <a:defRPr>
                <a:solidFill>
                  <a:schemeClr val="tx1"/>
                </a:solidFill>
                <a:latin typeface="Calibri" panose="020F0502020204030204" pitchFamily="34" charset="0"/>
              </a:defRPr>
            </a:lvl3pPr>
            <a:lvl4pPr marL="1731963" indent="-246063">
              <a:defRPr>
                <a:solidFill>
                  <a:schemeClr val="tx1"/>
                </a:solidFill>
                <a:latin typeface="Calibri" panose="020F0502020204030204" pitchFamily="34" charset="0"/>
              </a:defRPr>
            </a:lvl4pPr>
            <a:lvl5pPr marL="2227263" indent="-246063">
              <a:defRPr>
                <a:solidFill>
                  <a:schemeClr val="tx1"/>
                </a:solidFill>
                <a:latin typeface="Calibri" panose="020F0502020204030204" pitchFamily="34" charset="0"/>
              </a:defRPr>
            </a:lvl5pPr>
            <a:lvl6pPr marL="2684463" indent="-246063" eaLnBrk="0" fontAlgn="base" hangingPunct="0">
              <a:spcBef>
                <a:spcPct val="0"/>
              </a:spcBef>
              <a:spcAft>
                <a:spcPct val="0"/>
              </a:spcAft>
              <a:defRPr>
                <a:solidFill>
                  <a:schemeClr val="tx1"/>
                </a:solidFill>
                <a:latin typeface="Calibri" panose="020F0502020204030204" pitchFamily="34" charset="0"/>
              </a:defRPr>
            </a:lvl6pPr>
            <a:lvl7pPr marL="3141663" indent="-246063" eaLnBrk="0" fontAlgn="base" hangingPunct="0">
              <a:spcBef>
                <a:spcPct val="0"/>
              </a:spcBef>
              <a:spcAft>
                <a:spcPct val="0"/>
              </a:spcAft>
              <a:defRPr>
                <a:solidFill>
                  <a:schemeClr val="tx1"/>
                </a:solidFill>
                <a:latin typeface="Calibri" panose="020F0502020204030204" pitchFamily="34" charset="0"/>
              </a:defRPr>
            </a:lvl7pPr>
            <a:lvl8pPr marL="3598863" indent="-246063" eaLnBrk="0" fontAlgn="base" hangingPunct="0">
              <a:spcBef>
                <a:spcPct val="0"/>
              </a:spcBef>
              <a:spcAft>
                <a:spcPct val="0"/>
              </a:spcAft>
              <a:defRPr>
                <a:solidFill>
                  <a:schemeClr val="tx1"/>
                </a:solidFill>
                <a:latin typeface="Calibri" panose="020F0502020204030204" pitchFamily="34" charset="0"/>
              </a:defRPr>
            </a:lvl8pPr>
            <a:lvl9pPr marL="4056063" indent="-246063"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8E5B91CE-A8EE-4993-88C6-0D020CC65910}" type="slidenum">
              <a:rPr lang="th-TH" altLang="en-US" sz="1300" smtClean="0"/>
              <a:pPr fontAlgn="base">
                <a:spcBef>
                  <a:spcPct val="0"/>
                </a:spcBef>
                <a:spcAft>
                  <a:spcPct val="0"/>
                </a:spcAft>
              </a:pPr>
              <a:t>186</a:t>
            </a:fld>
            <a:endParaRPr lang="th-TH" altLang="en-US" sz="1300" smtClean="0"/>
          </a:p>
        </p:txBody>
      </p:sp>
    </p:spTree>
    <p:extLst>
      <p:ext uri="{BB962C8B-B14F-4D97-AF65-F5344CB8AC3E}">
        <p14:creationId xmlns:p14="http://schemas.microsoft.com/office/powerpoint/2010/main" val="3974604695"/>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97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297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8BFEDBFA-CB10-4B1B-B17F-C09C04ADEE54}" type="slidenum">
              <a:rPr lang="en-US" smtClean="0"/>
              <a:pPr>
                <a:defRPr/>
              </a:pPr>
              <a:t>195</a:t>
            </a:fld>
            <a:endParaRPr lang="en-US"/>
          </a:p>
        </p:txBody>
      </p:sp>
    </p:spTree>
    <p:extLst>
      <p:ext uri="{BB962C8B-B14F-4D97-AF65-F5344CB8AC3E}">
        <p14:creationId xmlns:p14="http://schemas.microsoft.com/office/powerpoint/2010/main" val="284013609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18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318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p>
        </p:txBody>
      </p:sp>
      <p:sp>
        <p:nvSpPr>
          <p:cNvPr id="4" name="Slide Number Placeholder 3"/>
          <p:cNvSpPr>
            <a:spLocks noGrp="1"/>
          </p:cNvSpPr>
          <p:nvPr>
            <p:ph type="sldNum" sz="quarter" idx="5"/>
          </p:nvPr>
        </p:nvSpPr>
        <p:spPr/>
        <p:txBody>
          <a:bodyPr/>
          <a:lstStyle/>
          <a:p>
            <a:pPr>
              <a:defRPr/>
            </a:pPr>
            <a:fld id="{88339CFA-9CBF-4345-8FC4-5C34A038D1EA}" type="slidenum">
              <a:rPr lang="en-US" smtClean="0"/>
              <a:pPr>
                <a:defRPr/>
              </a:pPr>
              <a:t>196</a:t>
            </a:fld>
            <a:endParaRPr lang="en-US"/>
          </a:p>
        </p:txBody>
      </p:sp>
    </p:spTree>
    <p:extLst>
      <p:ext uri="{BB962C8B-B14F-4D97-AF65-F5344CB8AC3E}">
        <p14:creationId xmlns:p14="http://schemas.microsoft.com/office/powerpoint/2010/main" val="424176378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67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67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A lime kiln uses heat, motion, and air flow to convert lime mud to lime - or, in chemical terms, calcium carbonate (CaCO3) to calcium oxide (CaO). This process is referred to as "calcining."</a:t>
            </a:r>
          </a:p>
          <a:p>
            <a:r>
              <a:rPr lang="en-US" altLang="en-US" smtClean="0"/>
              <a:t> </a:t>
            </a:r>
          </a:p>
          <a:p>
            <a:r>
              <a:rPr lang="en-US" altLang="en-US" smtClean="0"/>
              <a:t>The most common lime kiln design found at kraft pulp mills is the rotary lime kiln. A rotary lime kiln is basically a long tube or cylinder, set at a slight incline, that slowly rotates.</a:t>
            </a:r>
          </a:p>
          <a:p>
            <a:r>
              <a:rPr lang="en-US" altLang="en-US" smtClean="0"/>
              <a:t> </a:t>
            </a:r>
          </a:p>
          <a:p>
            <a:r>
              <a:rPr lang="en-US" altLang="en-US" smtClean="0"/>
              <a:t>Lime mud is continuously fed in at the higher end of the cylinder, and the rotation and incline of the kiln cause the mud to slowly move down toward the opposite end. A burner at the lower end of the kiln provides the heat needed for the calcining reaction, and an induced draft (ID) fan at the lime mud feed end pulls the hot gases through the kiln.</a:t>
            </a:r>
          </a:p>
          <a:p>
            <a:r>
              <a:rPr lang="en-US" altLang="en-US" smtClean="0"/>
              <a:t> </a:t>
            </a:r>
          </a:p>
          <a:p>
            <a:r>
              <a:rPr lang="en-US" altLang="en-US" smtClean="0"/>
              <a:t>The rotation of the kiln "stirs" the lime mud as it travels to fully expose it to the heat. By the time the lime mud completes its journey to the lower end of the kiln, it is about 98% calcined. The lime is now ready to be re-used in the recaust process.</a:t>
            </a:r>
          </a:p>
          <a:p>
            <a:endParaRPr lang="en-US" altLang="en-US" smtClean="0"/>
          </a:p>
          <a:p>
            <a:r>
              <a:rPr lang="en-US" altLang="en-US" smtClean="0"/>
              <a:t>The design and operation of a rotary lime kiln will be described next.</a:t>
            </a:r>
          </a:p>
        </p:txBody>
      </p:sp>
      <p:sp>
        <p:nvSpPr>
          <p:cNvPr id="5867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5531E58B-4A28-495B-B9C0-FB458F8510AE}" type="slidenum">
              <a:rPr lang="th-TH" altLang="en-US" smtClean="0"/>
              <a:pPr fontAlgn="base">
                <a:spcBef>
                  <a:spcPct val="0"/>
                </a:spcBef>
                <a:spcAft>
                  <a:spcPct val="0"/>
                </a:spcAft>
              </a:pPr>
              <a:t>198</a:t>
            </a:fld>
            <a:endParaRPr lang="th-TH" altLang="en-US" smtClean="0"/>
          </a:p>
        </p:txBody>
      </p:sp>
    </p:spTree>
    <p:extLst>
      <p:ext uri="{BB962C8B-B14F-4D97-AF65-F5344CB8AC3E}">
        <p14:creationId xmlns:p14="http://schemas.microsoft.com/office/powerpoint/2010/main" val="2897350467"/>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88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88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A lime kiln uses heat, motion, and air flow to convert lime mud to lime - or, in chemical terms, calcium carbonate (CaCO3) to calcium oxide (CaO). This process is referred to as "calcining."</a:t>
            </a:r>
          </a:p>
        </p:txBody>
      </p:sp>
      <p:sp>
        <p:nvSpPr>
          <p:cNvPr id="5888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803275" indent="-307975">
              <a:defRPr>
                <a:solidFill>
                  <a:schemeClr val="tx1"/>
                </a:solidFill>
                <a:latin typeface="Calibri" panose="020F0502020204030204" pitchFamily="34" charset="0"/>
              </a:defRPr>
            </a:lvl2pPr>
            <a:lvl3pPr marL="1236663" indent="-246063">
              <a:defRPr>
                <a:solidFill>
                  <a:schemeClr val="tx1"/>
                </a:solidFill>
                <a:latin typeface="Calibri" panose="020F0502020204030204" pitchFamily="34" charset="0"/>
              </a:defRPr>
            </a:lvl3pPr>
            <a:lvl4pPr marL="1731963" indent="-246063">
              <a:defRPr>
                <a:solidFill>
                  <a:schemeClr val="tx1"/>
                </a:solidFill>
                <a:latin typeface="Calibri" panose="020F0502020204030204" pitchFamily="34" charset="0"/>
              </a:defRPr>
            </a:lvl4pPr>
            <a:lvl5pPr marL="2227263" indent="-246063">
              <a:defRPr>
                <a:solidFill>
                  <a:schemeClr val="tx1"/>
                </a:solidFill>
                <a:latin typeface="Calibri" panose="020F0502020204030204" pitchFamily="34" charset="0"/>
              </a:defRPr>
            </a:lvl5pPr>
            <a:lvl6pPr marL="2684463" indent="-246063" eaLnBrk="0" fontAlgn="base" hangingPunct="0">
              <a:spcBef>
                <a:spcPct val="0"/>
              </a:spcBef>
              <a:spcAft>
                <a:spcPct val="0"/>
              </a:spcAft>
              <a:defRPr>
                <a:solidFill>
                  <a:schemeClr val="tx1"/>
                </a:solidFill>
                <a:latin typeface="Calibri" panose="020F0502020204030204" pitchFamily="34" charset="0"/>
              </a:defRPr>
            </a:lvl6pPr>
            <a:lvl7pPr marL="3141663" indent="-246063" eaLnBrk="0" fontAlgn="base" hangingPunct="0">
              <a:spcBef>
                <a:spcPct val="0"/>
              </a:spcBef>
              <a:spcAft>
                <a:spcPct val="0"/>
              </a:spcAft>
              <a:defRPr>
                <a:solidFill>
                  <a:schemeClr val="tx1"/>
                </a:solidFill>
                <a:latin typeface="Calibri" panose="020F0502020204030204" pitchFamily="34" charset="0"/>
              </a:defRPr>
            </a:lvl7pPr>
            <a:lvl8pPr marL="3598863" indent="-246063" eaLnBrk="0" fontAlgn="base" hangingPunct="0">
              <a:spcBef>
                <a:spcPct val="0"/>
              </a:spcBef>
              <a:spcAft>
                <a:spcPct val="0"/>
              </a:spcAft>
              <a:defRPr>
                <a:solidFill>
                  <a:schemeClr val="tx1"/>
                </a:solidFill>
                <a:latin typeface="Calibri" panose="020F0502020204030204" pitchFamily="34" charset="0"/>
              </a:defRPr>
            </a:lvl8pPr>
            <a:lvl9pPr marL="4056063" indent="-246063"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946EA159-8D9C-4EE8-A9A2-B34B70DA5890}" type="slidenum">
              <a:rPr lang="th-TH" altLang="en-US" sz="1300" smtClean="0"/>
              <a:pPr fontAlgn="base">
                <a:spcBef>
                  <a:spcPct val="0"/>
                </a:spcBef>
                <a:spcAft>
                  <a:spcPct val="0"/>
                </a:spcAft>
              </a:pPr>
              <a:t>199</a:t>
            </a:fld>
            <a:endParaRPr lang="th-TH" altLang="en-US" sz="1300" smtClean="0"/>
          </a:p>
        </p:txBody>
      </p:sp>
    </p:spTree>
    <p:extLst>
      <p:ext uri="{BB962C8B-B14F-4D97-AF65-F5344CB8AC3E}">
        <p14:creationId xmlns:p14="http://schemas.microsoft.com/office/powerpoint/2010/main" val="2220101504"/>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08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908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The most common lime kiln design found at kraft pulp mills is the rotary lime kiln. A rotary lime kiln is basically a long tube or cylinder, set at a slight incline, that slowly rotates.</a:t>
            </a:r>
          </a:p>
          <a:p>
            <a:r>
              <a:rPr lang="en-US" altLang="en-US" smtClean="0"/>
              <a:t> </a:t>
            </a:r>
          </a:p>
          <a:p>
            <a:r>
              <a:rPr lang="en-US" altLang="en-US" smtClean="0"/>
              <a:t>Lime mud is continuously fed in at the higher end of the cylinder, and the rotation and incline of the kiln cause the mud to slowly move down toward the opposite end. A burner at the lower end of the kiln provides the heat needed for the calcining reaction, and an induced draft (ID) fan at the lime mud feed end pulls the hot gases through the kiln.</a:t>
            </a:r>
          </a:p>
          <a:p>
            <a:r>
              <a:rPr lang="en-US" altLang="en-US" smtClean="0"/>
              <a:t> </a:t>
            </a:r>
          </a:p>
          <a:p>
            <a:r>
              <a:rPr lang="en-US" altLang="en-US" smtClean="0"/>
              <a:t>The rotation of the kiln "stirs" the lime mud as it travels to fully expose it to the heat. By the time the lime mud completes its journey to the lower end of the kiln, it is about 98% calcined. The lime is now ready to be re-used in the recaust process.</a:t>
            </a:r>
          </a:p>
          <a:p>
            <a:endParaRPr lang="en-US" altLang="en-US" smtClean="0"/>
          </a:p>
          <a:p>
            <a:r>
              <a:rPr lang="en-US" altLang="en-US" smtClean="0"/>
              <a:t>The design and operation of a rotary lime kiln will be described next.</a:t>
            </a:r>
          </a:p>
        </p:txBody>
      </p:sp>
      <p:sp>
        <p:nvSpPr>
          <p:cNvPr id="5908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803275" indent="-307975">
              <a:defRPr>
                <a:solidFill>
                  <a:schemeClr val="tx1"/>
                </a:solidFill>
                <a:latin typeface="Calibri" panose="020F0502020204030204" pitchFamily="34" charset="0"/>
              </a:defRPr>
            </a:lvl2pPr>
            <a:lvl3pPr marL="1236663" indent="-246063">
              <a:defRPr>
                <a:solidFill>
                  <a:schemeClr val="tx1"/>
                </a:solidFill>
                <a:latin typeface="Calibri" panose="020F0502020204030204" pitchFamily="34" charset="0"/>
              </a:defRPr>
            </a:lvl3pPr>
            <a:lvl4pPr marL="1731963" indent="-246063">
              <a:defRPr>
                <a:solidFill>
                  <a:schemeClr val="tx1"/>
                </a:solidFill>
                <a:latin typeface="Calibri" panose="020F0502020204030204" pitchFamily="34" charset="0"/>
              </a:defRPr>
            </a:lvl4pPr>
            <a:lvl5pPr marL="2227263" indent="-246063">
              <a:defRPr>
                <a:solidFill>
                  <a:schemeClr val="tx1"/>
                </a:solidFill>
                <a:latin typeface="Calibri" panose="020F0502020204030204" pitchFamily="34" charset="0"/>
              </a:defRPr>
            </a:lvl5pPr>
            <a:lvl6pPr marL="2684463" indent="-246063" eaLnBrk="0" fontAlgn="base" hangingPunct="0">
              <a:spcBef>
                <a:spcPct val="0"/>
              </a:spcBef>
              <a:spcAft>
                <a:spcPct val="0"/>
              </a:spcAft>
              <a:defRPr>
                <a:solidFill>
                  <a:schemeClr val="tx1"/>
                </a:solidFill>
                <a:latin typeface="Calibri" panose="020F0502020204030204" pitchFamily="34" charset="0"/>
              </a:defRPr>
            </a:lvl6pPr>
            <a:lvl7pPr marL="3141663" indent="-246063" eaLnBrk="0" fontAlgn="base" hangingPunct="0">
              <a:spcBef>
                <a:spcPct val="0"/>
              </a:spcBef>
              <a:spcAft>
                <a:spcPct val="0"/>
              </a:spcAft>
              <a:defRPr>
                <a:solidFill>
                  <a:schemeClr val="tx1"/>
                </a:solidFill>
                <a:latin typeface="Calibri" panose="020F0502020204030204" pitchFamily="34" charset="0"/>
              </a:defRPr>
            </a:lvl7pPr>
            <a:lvl8pPr marL="3598863" indent="-246063" eaLnBrk="0" fontAlgn="base" hangingPunct="0">
              <a:spcBef>
                <a:spcPct val="0"/>
              </a:spcBef>
              <a:spcAft>
                <a:spcPct val="0"/>
              </a:spcAft>
              <a:defRPr>
                <a:solidFill>
                  <a:schemeClr val="tx1"/>
                </a:solidFill>
                <a:latin typeface="Calibri" panose="020F0502020204030204" pitchFamily="34" charset="0"/>
              </a:defRPr>
            </a:lvl8pPr>
            <a:lvl9pPr marL="4056063" indent="-246063"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B5D7FFA4-3FB5-4C60-A9B0-F9932D4F7293}" type="slidenum">
              <a:rPr lang="th-TH" altLang="en-US" sz="1300" smtClean="0"/>
              <a:pPr fontAlgn="base">
                <a:spcBef>
                  <a:spcPct val="0"/>
                </a:spcBef>
                <a:spcAft>
                  <a:spcPct val="0"/>
                </a:spcAft>
              </a:pPr>
              <a:t>200</a:t>
            </a:fld>
            <a:endParaRPr lang="th-TH" altLang="en-US" sz="1300" smtClean="0"/>
          </a:p>
        </p:txBody>
      </p:sp>
    </p:spTree>
    <p:extLst>
      <p:ext uri="{BB962C8B-B14F-4D97-AF65-F5344CB8AC3E}">
        <p14:creationId xmlns:p14="http://schemas.microsoft.com/office/powerpoint/2010/main" val="104543489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28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928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Lime mud is continuously fed in at the higher end of the cylinder, and the rotation and incline of the kiln cause the mud to slowly move down toward the opposite end. A burner at the lower end of the kiln provides the heat needed for the calcining reaction, and an induced draft (ID) fan at the lime mud feed end pulls the hot gases through the kiln.</a:t>
            </a:r>
          </a:p>
          <a:p>
            <a:endParaRPr lang="en-US" altLang="en-US" smtClean="0"/>
          </a:p>
        </p:txBody>
      </p:sp>
      <p:sp>
        <p:nvSpPr>
          <p:cNvPr id="5929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803275" indent="-307975">
              <a:defRPr>
                <a:solidFill>
                  <a:schemeClr val="tx1"/>
                </a:solidFill>
                <a:latin typeface="Calibri" panose="020F0502020204030204" pitchFamily="34" charset="0"/>
              </a:defRPr>
            </a:lvl2pPr>
            <a:lvl3pPr marL="1236663" indent="-246063">
              <a:defRPr>
                <a:solidFill>
                  <a:schemeClr val="tx1"/>
                </a:solidFill>
                <a:latin typeface="Calibri" panose="020F0502020204030204" pitchFamily="34" charset="0"/>
              </a:defRPr>
            </a:lvl3pPr>
            <a:lvl4pPr marL="1731963" indent="-246063">
              <a:defRPr>
                <a:solidFill>
                  <a:schemeClr val="tx1"/>
                </a:solidFill>
                <a:latin typeface="Calibri" panose="020F0502020204030204" pitchFamily="34" charset="0"/>
              </a:defRPr>
            </a:lvl4pPr>
            <a:lvl5pPr marL="2227263" indent="-246063">
              <a:defRPr>
                <a:solidFill>
                  <a:schemeClr val="tx1"/>
                </a:solidFill>
                <a:latin typeface="Calibri" panose="020F0502020204030204" pitchFamily="34" charset="0"/>
              </a:defRPr>
            </a:lvl5pPr>
            <a:lvl6pPr marL="2684463" indent="-246063" eaLnBrk="0" fontAlgn="base" hangingPunct="0">
              <a:spcBef>
                <a:spcPct val="0"/>
              </a:spcBef>
              <a:spcAft>
                <a:spcPct val="0"/>
              </a:spcAft>
              <a:defRPr>
                <a:solidFill>
                  <a:schemeClr val="tx1"/>
                </a:solidFill>
                <a:latin typeface="Calibri" panose="020F0502020204030204" pitchFamily="34" charset="0"/>
              </a:defRPr>
            </a:lvl6pPr>
            <a:lvl7pPr marL="3141663" indent="-246063" eaLnBrk="0" fontAlgn="base" hangingPunct="0">
              <a:spcBef>
                <a:spcPct val="0"/>
              </a:spcBef>
              <a:spcAft>
                <a:spcPct val="0"/>
              </a:spcAft>
              <a:defRPr>
                <a:solidFill>
                  <a:schemeClr val="tx1"/>
                </a:solidFill>
                <a:latin typeface="Calibri" panose="020F0502020204030204" pitchFamily="34" charset="0"/>
              </a:defRPr>
            </a:lvl7pPr>
            <a:lvl8pPr marL="3598863" indent="-246063" eaLnBrk="0" fontAlgn="base" hangingPunct="0">
              <a:spcBef>
                <a:spcPct val="0"/>
              </a:spcBef>
              <a:spcAft>
                <a:spcPct val="0"/>
              </a:spcAft>
              <a:defRPr>
                <a:solidFill>
                  <a:schemeClr val="tx1"/>
                </a:solidFill>
                <a:latin typeface="Calibri" panose="020F0502020204030204" pitchFamily="34" charset="0"/>
              </a:defRPr>
            </a:lvl8pPr>
            <a:lvl9pPr marL="4056063" indent="-246063"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649EDE97-D1FB-464F-91D6-AA9D6E01F0E5}" type="slidenum">
              <a:rPr lang="th-TH" altLang="en-US" sz="1300" smtClean="0"/>
              <a:pPr fontAlgn="base">
                <a:spcBef>
                  <a:spcPct val="0"/>
                </a:spcBef>
                <a:spcAft>
                  <a:spcPct val="0"/>
                </a:spcAft>
              </a:pPr>
              <a:t>201</a:t>
            </a:fld>
            <a:endParaRPr lang="th-TH" altLang="en-US" sz="1300" smtClean="0"/>
          </a:p>
        </p:txBody>
      </p:sp>
    </p:spTree>
    <p:extLst>
      <p:ext uri="{BB962C8B-B14F-4D97-AF65-F5344CB8AC3E}">
        <p14:creationId xmlns:p14="http://schemas.microsoft.com/office/powerpoint/2010/main" val="415134029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49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949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The rotation of the kiln "stirs" the lime mud as it travels to fully expose it to the heat. By the time the lime mud completes its journey to the lower end of the kiln, it is about 98% calcined. The lime is now ready to be re-used in the recaust process.</a:t>
            </a:r>
          </a:p>
        </p:txBody>
      </p:sp>
      <p:sp>
        <p:nvSpPr>
          <p:cNvPr id="5949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803275" indent="-307975">
              <a:defRPr>
                <a:solidFill>
                  <a:schemeClr val="tx1"/>
                </a:solidFill>
                <a:latin typeface="Calibri" panose="020F0502020204030204" pitchFamily="34" charset="0"/>
              </a:defRPr>
            </a:lvl2pPr>
            <a:lvl3pPr marL="1236663" indent="-246063">
              <a:defRPr>
                <a:solidFill>
                  <a:schemeClr val="tx1"/>
                </a:solidFill>
                <a:latin typeface="Calibri" panose="020F0502020204030204" pitchFamily="34" charset="0"/>
              </a:defRPr>
            </a:lvl3pPr>
            <a:lvl4pPr marL="1731963" indent="-246063">
              <a:defRPr>
                <a:solidFill>
                  <a:schemeClr val="tx1"/>
                </a:solidFill>
                <a:latin typeface="Calibri" panose="020F0502020204030204" pitchFamily="34" charset="0"/>
              </a:defRPr>
            </a:lvl4pPr>
            <a:lvl5pPr marL="2227263" indent="-246063">
              <a:defRPr>
                <a:solidFill>
                  <a:schemeClr val="tx1"/>
                </a:solidFill>
                <a:latin typeface="Calibri" panose="020F0502020204030204" pitchFamily="34" charset="0"/>
              </a:defRPr>
            </a:lvl5pPr>
            <a:lvl6pPr marL="2684463" indent="-246063" eaLnBrk="0" fontAlgn="base" hangingPunct="0">
              <a:spcBef>
                <a:spcPct val="0"/>
              </a:spcBef>
              <a:spcAft>
                <a:spcPct val="0"/>
              </a:spcAft>
              <a:defRPr>
                <a:solidFill>
                  <a:schemeClr val="tx1"/>
                </a:solidFill>
                <a:latin typeface="Calibri" panose="020F0502020204030204" pitchFamily="34" charset="0"/>
              </a:defRPr>
            </a:lvl6pPr>
            <a:lvl7pPr marL="3141663" indent="-246063" eaLnBrk="0" fontAlgn="base" hangingPunct="0">
              <a:spcBef>
                <a:spcPct val="0"/>
              </a:spcBef>
              <a:spcAft>
                <a:spcPct val="0"/>
              </a:spcAft>
              <a:defRPr>
                <a:solidFill>
                  <a:schemeClr val="tx1"/>
                </a:solidFill>
                <a:latin typeface="Calibri" panose="020F0502020204030204" pitchFamily="34" charset="0"/>
              </a:defRPr>
            </a:lvl7pPr>
            <a:lvl8pPr marL="3598863" indent="-246063" eaLnBrk="0" fontAlgn="base" hangingPunct="0">
              <a:spcBef>
                <a:spcPct val="0"/>
              </a:spcBef>
              <a:spcAft>
                <a:spcPct val="0"/>
              </a:spcAft>
              <a:defRPr>
                <a:solidFill>
                  <a:schemeClr val="tx1"/>
                </a:solidFill>
                <a:latin typeface="Calibri" panose="020F0502020204030204" pitchFamily="34" charset="0"/>
              </a:defRPr>
            </a:lvl8pPr>
            <a:lvl9pPr marL="4056063" indent="-246063"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43A82428-0AF7-4477-8716-AF730BE2A1FE}" type="slidenum">
              <a:rPr lang="th-TH" altLang="en-US" sz="1300" smtClean="0"/>
              <a:pPr fontAlgn="base">
                <a:spcBef>
                  <a:spcPct val="0"/>
                </a:spcBef>
                <a:spcAft>
                  <a:spcPct val="0"/>
                </a:spcAft>
              </a:pPr>
              <a:t>202</a:t>
            </a:fld>
            <a:endParaRPr lang="th-TH" altLang="en-US" sz="1300" smtClean="0"/>
          </a:p>
        </p:txBody>
      </p:sp>
    </p:spTree>
    <p:extLst>
      <p:ext uri="{BB962C8B-B14F-4D97-AF65-F5344CB8AC3E}">
        <p14:creationId xmlns:p14="http://schemas.microsoft.com/office/powerpoint/2010/main" val="6030777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69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969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Rotary lime kilns at kraft mills are fairly large. They can range from 7 to 15 feet (2 to 4.5 meters) in diameter and from 130 to 440 feet (40 to 135 meters) in length. The incline can vary, but it will usually be between 1 and 3 degrees.</a:t>
            </a:r>
          </a:p>
          <a:p>
            <a:r>
              <a:rPr lang="en-US" altLang="en-US" smtClean="0"/>
              <a:t> </a:t>
            </a:r>
          </a:p>
          <a:p>
            <a:r>
              <a:rPr lang="en-US" altLang="en-US" smtClean="0"/>
              <a:t>A drive motor working through a reducing gearbox rotates the kiln on multiple riding rings. The riding rings rest on large bearings which support the kiln along its length and allow it to rotate freely. Most kilns rotate at speeds between one-half a rotation per minute (RPM) and two rotations per minute.</a:t>
            </a:r>
          </a:p>
          <a:p>
            <a:r>
              <a:rPr lang="en-US" altLang="en-US" smtClean="0"/>
              <a:t> </a:t>
            </a:r>
          </a:p>
          <a:p>
            <a:r>
              <a:rPr lang="en-US" altLang="en-US" smtClean="0"/>
              <a:t>This discussion is continued on the next page.</a:t>
            </a:r>
          </a:p>
        </p:txBody>
      </p:sp>
      <p:sp>
        <p:nvSpPr>
          <p:cNvPr id="5969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5C8904CE-B0BE-406D-9748-D01F805A224D}" type="slidenum">
              <a:rPr lang="th-TH" altLang="en-US" smtClean="0"/>
              <a:pPr fontAlgn="base">
                <a:spcBef>
                  <a:spcPct val="0"/>
                </a:spcBef>
                <a:spcAft>
                  <a:spcPct val="0"/>
                </a:spcAft>
              </a:pPr>
              <a:t>203</a:t>
            </a:fld>
            <a:endParaRPr lang="th-TH" altLang="en-US" smtClean="0"/>
          </a:p>
        </p:txBody>
      </p:sp>
    </p:spTree>
    <p:extLst>
      <p:ext uri="{BB962C8B-B14F-4D97-AF65-F5344CB8AC3E}">
        <p14:creationId xmlns:p14="http://schemas.microsoft.com/office/powerpoint/2010/main" val="376546992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90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990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Rotary lime kilns at kraft mills are fairly large. They can range from 7 to 15 feet (2 to 4.5 meters) in diameter and from 130 to 440 feet (40 to 135 meters) in length. The incline can vary, but it will usually be between 1 and 3 degrees.</a:t>
            </a:r>
          </a:p>
        </p:txBody>
      </p:sp>
      <p:sp>
        <p:nvSpPr>
          <p:cNvPr id="5990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803275" indent="-307975">
              <a:defRPr>
                <a:solidFill>
                  <a:schemeClr val="tx1"/>
                </a:solidFill>
                <a:latin typeface="Calibri" panose="020F0502020204030204" pitchFamily="34" charset="0"/>
              </a:defRPr>
            </a:lvl2pPr>
            <a:lvl3pPr marL="1236663" indent="-246063">
              <a:defRPr>
                <a:solidFill>
                  <a:schemeClr val="tx1"/>
                </a:solidFill>
                <a:latin typeface="Calibri" panose="020F0502020204030204" pitchFamily="34" charset="0"/>
              </a:defRPr>
            </a:lvl3pPr>
            <a:lvl4pPr marL="1731963" indent="-246063">
              <a:defRPr>
                <a:solidFill>
                  <a:schemeClr val="tx1"/>
                </a:solidFill>
                <a:latin typeface="Calibri" panose="020F0502020204030204" pitchFamily="34" charset="0"/>
              </a:defRPr>
            </a:lvl4pPr>
            <a:lvl5pPr marL="2227263" indent="-246063">
              <a:defRPr>
                <a:solidFill>
                  <a:schemeClr val="tx1"/>
                </a:solidFill>
                <a:latin typeface="Calibri" panose="020F0502020204030204" pitchFamily="34" charset="0"/>
              </a:defRPr>
            </a:lvl5pPr>
            <a:lvl6pPr marL="2684463" indent="-246063" eaLnBrk="0" fontAlgn="base" hangingPunct="0">
              <a:spcBef>
                <a:spcPct val="0"/>
              </a:spcBef>
              <a:spcAft>
                <a:spcPct val="0"/>
              </a:spcAft>
              <a:defRPr>
                <a:solidFill>
                  <a:schemeClr val="tx1"/>
                </a:solidFill>
                <a:latin typeface="Calibri" panose="020F0502020204030204" pitchFamily="34" charset="0"/>
              </a:defRPr>
            </a:lvl6pPr>
            <a:lvl7pPr marL="3141663" indent="-246063" eaLnBrk="0" fontAlgn="base" hangingPunct="0">
              <a:spcBef>
                <a:spcPct val="0"/>
              </a:spcBef>
              <a:spcAft>
                <a:spcPct val="0"/>
              </a:spcAft>
              <a:defRPr>
                <a:solidFill>
                  <a:schemeClr val="tx1"/>
                </a:solidFill>
                <a:latin typeface="Calibri" panose="020F0502020204030204" pitchFamily="34" charset="0"/>
              </a:defRPr>
            </a:lvl7pPr>
            <a:lvl8pPr marL="3598863" indent="-246063" eaLnBrk="0" fontAlgn="base" hangingPunct="0">
              <a:spcBef>
                <a:spcPct val="0"/>
              </a:spcBef>
              <a:spcAft>
                <a:spcPct val="0"/>
              </a:spcAft>
              <a:defRPr>
                <a:solidFill>
                  <a:schemeClr val="tx1"/>
                </a:solidFill>
                <a:latin typeface="Calibri" panose="020F0502020204030204" pitchFamily="34" charset="0"/>
              </a:defRPr>
            </a:lvl8pPr>
            <a:lvl9pPr marL="4056063" indent="-246063"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A2154346-8E48-41C6-A196-53424F7193A0}" type="slidenum">
              <a:rPr lang="th-TH" altLang="en-US" sz="1300" smtClean="0"/>
              <a:pPr fontAlgn="base">
                <a:spcBef>
                  <a:spcPct val="0"/>
                </a:spcBef>
                <a:spcAft>
                  <a:spcPct val="0"/>
                </a:spcAft>
              </a:pPr>
              <a:t>204</a:t>
            </a:fld>
            <a:endParaRPr lang="th-TH" altLang="en-US" sz="1300" smtClean="0"/>
          </a:p>
        </p:txBody>
      </p:sp>
    </p:spTree>
    <p:extLst>
      <p:ext uri="{BB962C8B-B14F-4D97-AF65-F5344CB8AC3E}">
        <p14:creationId xmlns:p14="http://schemas.microsoft.com/office/powerpoint/2010/main" val="32208779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10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010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A drive motor working through a reducing gearbox rotates the kiln on multiple riding rings. The riding rings rest on large bearings which support the kiln along its length and allow it to rotate freely. Most kilns rotate at speeds between one-half a rotation per minute (RPM) and two rotations per minute.</a:t>
            </a:r>
          </a:p>
          <a:p>
            <a:r>
              <a:rPr lang="en-US" altLang="en-US" smtClean="0"/>
              <a:t> </a:t>
            </a:r>
          </a:p>
        </p:txBody>
      </p:sp>
      <p:sp>
        <p:nvSpPr>
          <p:cNvPr id="6010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803275" indent="-307975">
              <a:defRPr>
                <a:solidFill>
                  <a:schemeClr val="tx1"/>
                </a:solidFill>
                <a:latin typeface="Calibri" panose="020F0502020204030204" pitchFamily="34" charset="0"/>
              </a:defRPr>
            </a:lvl2pPr>
            <a:lvl3pPr marL="1236663" indent="-246063">
              <a:defRPr>
                <a:solidFill>
                  <a:schemeClr val="tx1"/>
                </a:solidFill>
                <a:latin typeface="Calibri" panose="020F0502020204030204" pitchFamily="34" charset="0"/>
              </a:defRPr>
            </a:lvl3pPr>
            <a:lvl4pPr marL="1731963" indent="-246063">
              <a:defRPr>
                <a:solidFill>
                  <a:schemeClr val="tx1"/>
                </a:solidFill>
                <a:latin typeface="Calibri" panose="020F0502020204030204" pitchFamily="34" charset="0"/>
              </a:defRPr>
            </a:lvl4pPr>
            <a:lvl5pPr marL="2227263" indent="-246063">
              <a:defRPr>
                <a:solidFill>
                  <a:schemeClr val="tx1"/>
                </a:solidFill>
                <a:latin typeface="Calibri" panose="020F0502020204030204" pitchFamily="34" charset="0"/>
              </a:defRPr>
            </a:lvl5pPr>
            <a:lvl6pPr marL="2684463" indent="-246063" eaLnBrk="0" fontAlgn="base" hangingPunct="0">
              <a:spcBef>
                <a:spcPct val="0"/>
              </a:spcBef>
              <a:spcAft>
                <a:spcPct val="0"/>
              </a:spcAft>
              <a:defRPr>
                <a:solidFill>
                  <a:schemeClr val="tx1"/>
                </a:solidFill>
                <a:latin typeface="Calibri" panose="020F0502020204030204" pitchFamily="34" charset="0"/>
              </a:defRPr>
            </a:lvl6pPr>
            <a:lvl7pPr marL="3141663" indent="-246063" eaLnBrk="0" fontAlgn="base" hangingPunct="0">
              <a:spcBef>
                <a:spcPct val="0"/>
              </a:spcBef>
              <a:spcAft>
                <a:spcPct val="0"/>
              </a:spcAft>
              <a:defRPr>
                <a:solidFill>
                  <a:schemeClr val="tx1"/>
                </a:solidFill>
                <a:latin typeface="Calibri" panose="020F0502020204030204" pitchFamily="34" charset="0"/>
              </a:defRPr>
            </a:lvl7pPr>
            <a:lvl8pPr marL="3598863" indent="-246063" eaLnBrk="0" fontAlgn="base" hangingPunct="0">
              <a:spcBef>
                <a:spcPct val="0"/>
              </a:spcBef>
              <a:spcAft>
                <a:spcPct val="0"/>
              </a:spcAft>
              <a:defRPr>
                <a:solidFill>
                  <a:schemeClr val="tx1"/>
                </a:solidFill>
                <a:latin typeface="Calibri" panose="020F0502020204030204" pitchFamily="34" charset="0"/>
              </a:defRPr>
            </a:lvl8pPr>
            <a:lvl9pPr marL="4056063" indent="-246063"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33D36FBC-C605-4F8C-87BF-F190950FBEB1}" type="slidenum">
              <a:rPr lang="th-TH" altLang="en-US" sz="1300" smtClean="0"/>
              <a:pPr fontAlgn="base">
                <a:spcBef>
                  <a:spcPct val="0"/>
                </a:spcBef>
                <a:spcAft>
                  <a:spcPct val="0"/>
                </a:spcAft>
              </a:pPr>
              <a:t>205</a:t>
            </a:fld>
            <a:endParaRPr lang="th-TH" altLang="en-US" sz="1300" smtClean="0"/>
          </a:p>
        </p:txBody>
      </p:sp>
    </p:spTree>
    <p:extLst>
      <p:ext uri="{BB962C8B-B14F-4D97-AF65-F5344CB8AC3E}">
        <p14:creationId xmlns:p14="http://schemas.microsoft.com/office/powerpoint/2010/main" val="3227603577"/>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31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031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The outer shell is typically made of steel, and the inner surface is lined with refractory bricks. Refractory bricks are ceramic bricks specially designed to withstand high temperatures. Some kiln designs also include a layer of insulating bricks between the refractory bricks and the outer shell.</a:t>
            </a:r>
          </a:p>
          <a:p>
            <a:r>
              <a:rPr lang="en-US" altLang="en-US" smtClean="0"/>
              <a:t> </a:t>
            </a:r>
          </a:p>
          <a:p>
            <a:r>
              <a:rPr lang="en-US" altLang="en-US" smtClean="0"/>
              <a:t>The upper end of the kiln, where the lime mud enters, is known as the "cold end." This end is often equipped with a section of hanging chains to help heat the mud and dry it. At the lower end of the kiln, a burner provides the flame and high heat necessary for calcining. This is called the "hot end" of the kiln.</a:t>
            </a:r>
          </a:p>
          <a:p>
            <a:r>
              <a:rPr lang="en-US" altLang="en-US" smtClean="0"/>
              <a:t> </a:t>
            </a:r>
          </a:p>
          <a:p>
            <a:r>
              <a:rPr lang="en-US" altLang="en-US" smtClean="0"/>
              <a:t>This discussion is continued on the next page.</a:t>
            </a:r>
          </a:p>
        </p:txBody>
      </p:sp>
      <p:sp>
        <p:nvSpPr>
          <p:cNvPr id="6031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9944264B-4720-43AF-8E27-4ED834162F15}" type="slidenum">
              <a:rPr lang="th-TH" altLang="en-US" smtClean="0"/>
              <a:pPr fontAlgn="base">
                <a:spcBef>
                  <a:spcPct val="0"/>
                </a:spcBef>
                <a:spcAft>
                  <a:spcPct val="0"/>
                </a:spcAft>
              </a:pPr>
              <a:t>206</a:t>
            </a:fld>
            <a:endParaRPr lang="th-TH" altLang="en-US" smtClean="0"/>
          </a:p>
        </p:txBody>
      </p:sp>
    </p:spTree>
    <p:extLst>
      <p:ext uri="{BB962C8B-B14F-4D97-AF65-F5344CB8AC3E}">
        <p14:creationId xmlns:p14="http://schemas.microsoft.com/office/powerpoint/2010/main" val="1360692856"/>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51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051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The outer shell is typically made of steel, and the inner surface is lined with refractory bricks. Refractory bricks are ceramic bricks specially designed to withstand high temperatures. Some kiln designs also include a layer of insulating bricks between the refractory bricks and the outer shell.</a:t>
            </a:r>
          </a:p>
        </p:txBody>
      </p:sp>
      <p:sp>
        <p:nvSpPr>
          <p:cNvPr id="6051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803275" indent="-307975">
              <a:defRPr>
                <a:solidFill>
                  <a:schemeClr val="tx1"/>
                </a:solidFill>
                <a:latin typeface="Calibri" panose="020F0502020204030204" pitchFamily="34" charset="0"/>
              </a:defRPr>
            </a:lvl2pPr>
            <a:lvl3pPr marL="1236663" indent="-246063">
              <a:defRPr>
                <a:solidFill>
                  <a:schemeClr val="tx1"/>
                </a:solidFill>
                <a:latin typeface="Calibri" panose="020F0502020204030204" pitchFamily="34" charset="0"/>
              </a:defRPr>
            </a:lvl3pPr>
            <a:lvl4pPr marL="1731963" indent="-246063">
              <a:defRPr>
                <a:solidFill>
                  <a:schemeClr val="tx1"/>
                </a:solidFill>
                <a:latin typeface="Calibri" panose="020F0502020204030204" pitchFamily="34" charset="0"/>
              </a:defRPr>
            </a:lvl4pPr>
            <a:lvl5pPr marL="2227263" indent="-246063">
              <a:defRPr>
                <a:solidFill>
                  <a:schemeClr val="tx1"/>
                </a:solidFill>
                <a:latin typeface="Calibri" panose="020F0502020204030204" pitchFamily="34" charset="0"/>
              </a:defRPr>
            </a:lvl5pPr>
            <a:lvl6pPr marL="2684463" indent="-246063" eaLnBrk="0" fontAlgn="base" hangingPunct="0">
              <a:spcBef>
                <a:spcPct val="0"/>
              </a:spcBef>
              <a:spcAft>
                <a:spcPct val="0"/>
              </a:spcAft>
              <a:defRPr>
                <a:solidFill>
                  <a:schemeClr val="tx1"/>
                </a:solidFill>
                <a:latin typeface="Calibri" panose="020F0502020204030204" pitchFamily="34" charset="0"/>
              </a:defRPr>
            </a:lvl6pPr>
            <a:lvl7pPr marL="3141663" indent="-246063" eaLnBrk="0" fontAlgn="base" hangingPunct="0">
              <a:spcBef>
                <a:spcPct val="0"/>
              </a:spcBef>
              <a:spcAft>
                <a:spcPct val="0"/>
              </a:spcAft>
              <a:defRPr>
                <a:solidFill>
                  <a:schemeClr val="tx1"/>
                </a:solidFill>
                <a:latin typeface="Calibri" panose="020F0502020204030204" pitchFamily="34" charset="0"/>
              </a:defRPr>
            </a:lvl7pPr>
            <a:lvl8pPr marL="3598863" indent="-246063" eaLnBrk="0" fontAlgn="base" hangingPunct="0">
              <a:spcBef>
                <a:spcPct val="0"/>
              </a:spcBef>
              <a:spcAft>
                <a:spcPct val="0"/>
              </a:spcAft>
              <a:defRPr>
                <a:solidFill>
                  <a:schemeClr val="tx1"/>
                </a:solidFill>
                <a:latin typeface="Calibri" panose="020F0502020204030204" pitchFamily="34" charset="0"/>
              </a:defRPr>
            </a:lvl8pPr>
            <a:lvl9pPr marL="4056063" indent="-246063"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DC2BAC17-4C3F-4181-99B5-9140748035DA}" type="slidenum">
              <a:rPr lang="th-TH" altLang="en-US" sz="1300" smtClean="0"/>
              <a:pPr fontAlgn="base">
                <a:spcBef>
                  <a:spcPct val="0"/>
                </a:spcBef>
                <a:spcAft>
                  <a:spcPct val="0"/>
                </a:spcAft>
              </a:pPr>
              <a:t>207</a:t>
            </a:fld>
            <a:endParaRPr lang="th-TH" altLang="en-US" sz="1300" smtClean="0"/>
          </a:p>
        </p:txBody>
      </p:sp>
    </p:spTree>
    <p:extLst>
      <p:ext uri="{BB962C8B-B14F-4D97-AF65-F5344CB8AC3E}">
        <p14:creationId xmlns:p14="http://schemas.microsoft.com/office/powerpoint/2010/main" val="4181126775"/>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72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072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The upper end of the kiln, where the lime mud enters, is known as the "cold end." This end is often equipped with a section of hanging chains to help heat the mud and dry it. At the lower end of the kiln, a burner provides the flame and high heat necessary for calcining. This is called the "hot end" of the kiln.</a:t>
            </a:r>
          </a:p>
        </p:txBody>
      </p:sp>
      <p:sp>
        <p:nvSpPr>
          <p:cNvPr id="6072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803275" indent="-307975">
              <a:defRPr>
                <a:solidFill>
                  <a:schemeClr val="tx1"/>
                </a:solidFill>
                <a:latin typeface="Calibri" panose="020F0502020204030204" pitchFamily="34" charset="0"/>
              </a:defRPr>
            </a:lvl2pPr>
            <a:lvl3pPr marL="1236663" indent="-246063">
              <a:defRPr>
                <a:solidFill>
                  <a:schemeClr val="tx1"/>
                </a:solidFill>
                <a:latin typeface="Calibri" panose="020F0502020204030204" pitchFamily="34" charset="0"/>
              </a:defRPr>
            </a:lvl3pPr>
            <a:lvl4pPr marL="1731963" indent="-246063">
              <a:defRPr>
                <a:solidFill>
                  <a:schemeClr val="tx1"/>
                </a:solidFill>
                <a:latin typeface="Calibri" panose="020F0502020204030204" pitchFamily="34" charset="0"/>
              </a:defRPr>
            </a:lvl4pPr>
            <a:lvl5pPr marL="2227263" indent="-246063">
              <a:defRPr>
                <a:solidFill>
                  <a:schemeClr val="tx1"/>
                </a:solidFill>
                <a:latin typeface="Calibri" panose="020F0502020204030204" pitchFamily="34" charset="0"/>
              </a:defRPr>
            </a:lvl5pPr>
            <a:lvl6pPr marL="2684463" indent="-246063" eaLnBrk="0" fontAlgn="base" hangingPunct="0">
              <a:spcBef>
                <a:spcPct val="0"/>
              </a:spcBef>
              <a:spcAft>
                <a:spcPct val="0"/>
              </a:spcAft>
              <a:defRPr>
                <a:solidFill>
                  <a:schemeClr val="tx1"/>
                </a:solidFill>
                <a:latin typeface="Calibri" panose="020F0502020204030204" pitchFamily="34" charset="0"/>
              </a:defRPr>
            </a:lvl6pPr>
            <a:lvl7pPr marL="3141663" indent="-246063" eaLnBrk="0" fontAlgn="base" hangingPunct="0">
              <a:spcBef>
                <a:spcPct val="0"/>
              </a:spcBef>
              <a:spcAft>
                <a:spcPct val="0"/>
              </a:spcAft>
              <a:defRPr>
                <a:solidFill>
                  <a:schemeClr val="tx1"/>
                </a:solidFill>
                <a:latin typeface="Calibri" panose="020F0502020204030204" pitchFamily="34" charset="0"/>
              </a:defRPr>
            </a:lvl7pPr>
            <a:lvl8pPr marL="3598863" indent="-246063" eaLnBrk="0" fontAlgn="base" hangingPunct="0">
              <a:spcBef>
                <a:spcPct val="0"/>
              </a:spcBef>
              <a:spcAft>
                <a:spcPct val="0"/>
              </a:spcAft>
              <a:defRPr>
                <a:solidFill>
                  <a:schemeClr val="tx1"/>
                </a:solidFill>
                <a:latin typeface="Calibri" panose="020F0502020204030204" pitchFamily="34" charset="0"/>
              </a:defRPr>
            </a:lvl8pPr>
            <a:lvl9pPr marL="4056063" indent="-246063"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3D641633-D9C3-407F-A53D-E1980E551EC8}" type="slidenum">
              <a:rPr lang="th-TH" altLang="en-US" sz="1300" smtClean="0"/>
              <a:pPr fontAlgn="base">
                <a:spcBef>
                  <a:spcPct val="0"/>
                </a:spcBef>
                <a:spcAft>
                  <a:spcPct val="0"/>
                </a:spcAft>
              </a:pPr>
              <a:t>208</a:t>
            </a:fld>
            <a:endParaRPr lang="th-TH" altLang="en-US" sz="1300" smtClean="0"/>
          </a:p>
        </p:txBody>
      </p:sp>
    </p:spTree>
    <p:extLst>
      <p:ext uri="{BB962C8B-B14F-4D97-AF65-F5344CB8AC3E}">
        <p14:creationId xmlns:p14="http://schemas.microsoft.com/office/powerpoint/2010/main" val="3182654178"/>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92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092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An induced draft fan at the cold end pulls the hot gases created by the burner through the kiln. (This fan is also sometimes called the ID fan.)</a:t>
            </a:r>
          </a:p>
          <a:p>
            <a:r>
              <a:rPr lang="en-US" altLang="en-US" smtClean="0"/>
              <a:t> </a:t>
            </a:r>
          </a:p>
          <a:p>
            <a:r>
              <a:rPr lang="en-US" altLang="en-US" smtClean="0"/>
              <a:t>This flow of hot gases serves to:</a:t>
            </a:r>
          </a:p>
          <a:p>
            <a:r>
              <a:rPr lang="en-US" altLang="en-US" smtClean="0"/>
              <a:t> </a:t>
            </a:r>
          </a:p>
          <a:p>
            <a:r>
              <a:rPr lang="en-US" altLang="en-US" smtClean="0"/>
              <a:t>•         Heat the shell, chains, and lime mud as they travel through the kiln</a:t>
            </a:r>
          </a:p>
          <a:p>
            <a:r>
              <a:rPr lang="en-US" altLang="en-US" smtClean="0"/>
              <a:t>•         Remove the carbon dioxide gas that is generated during calcining, and the water vapor that is generated in the chain section</a:t>
            </a:r>
          </a:p>
          <a:p>
            <a:r>
              <a:rPr lang="en-US" altLang="en-US" smtClean="0"/>
              <a:t> </a:t>
            </a:r>
          </a:p>
          <a:p>
            <a:r>
              <a:rPr lang="en-US" altLang="en-US" smtClean="0"/>
              <a:t>Hoods and seals at both ends connect the rotating kiln to stationary equipment. At the cold end, the hood provides openings for the lime mud feed and the induced draft fan. At the hot end, the hood supports the burner and flame management equipment, as well as a system for discharging the reburned lime.</a:t>
            </a:r>
          </a:p>
          <a:p>
            <a:endParaRPr lang="th-TH" altLang="en-US" smtClean="0"/>
          </a:p>
        </p:txBody>
      </p:sp>
      <p:sp>
        <p:nvSpPr>
          <p:cNvPr id="6092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10CF502F-6850-4568-91D1-5046413DE898}" type="slidenum">
              <a:rPr lang="th-TH" altLang="en-US" smtClean="0"/>
              <a:pPr fontAlgn="base">
                <a:spcBef>
                  <a:spcPct val="0"/>
                </a:spcBef>
                <a:spcAft>
                  <a:spcPct val="0"/>
                </a:spcAft>
              </a:pPr>
              <a:t>209</a:t>
            </a:fld>
            <a:endParaRPr lang="th-TH" altLang="en-US" smtClean="0"/>
          </a:p>
        </p:txBody>
      </p:sp>
    </p:spTree>
    <p:extLst>
      <p:ext uri="{BB962C8B-B14F-4D97-AF65-F5344CB8AC3E}">
        <p14:creationId xmlns:p14="http://schemas.microsoft.com/office/powerpoint/2010/main" val="1674992493"/>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13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13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An induced draft fan at the cold end pulls the hot gases created by the burner through the kiln. (This fan is also sometimes called the ID fan.)</a:t>
            </a:r>
          </a:p>
          <a:p>
            <a:r>
              <a:rPr lang="en-US" altLang="en-US" smtClean="0"/>
              <a:t> </a:t>
            </a:r>
          </a:p>
          <a:p>
            <a:r>
              <a:rPr lang="en-US" altLang="en-US" smtClean="0"/>
              <a:t>This flow of hot gases serves to:</a:t>
            </a:r>
          </a:p>
          <a:p>
            <a:r>
              <a:rPr lang="en-US" altLang="en-US" smtClean="0"/>
              <a:t> </a:t>
            </a:r>
          </a:p>
          <a:p>
            <a:r>
              <a:rPr lang="en-US" altLang="en-US" smtClean="0"/>
              <a:t>•         Heat the shell, chains, and lime mud as they travel through the kiln</a:t>
            </a:r>
          </a:p>
          <a:p>
            <a:r>
              <a:rPr lang="en-US" altLang="en-US" smtClean="0"/>
              <a:t>•         Remove the carbon dioxide gas that is generated during calcining, and the water vapor that is generated in the chain section</a:t>
            </a:r>
          </a:p>
        </p:txBody>
      </p:sp>
      <p:sp>
        <p:nvSpPr>
          <p:cNvPr id="61133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803275" indent="-307975">
              <a:defRPr>
                <a:solidFill>
                  <a:schemeClr val="tx1"/>
                </a:solidFill>
                <a:latin typeface="Calibri" panose="020F0502020204030204" pitchFamily="34" charset="0"/>
              </a:defRPr>
            </a:lvl2pPr>
            <a:lvl3pPr marL="1236663" indent="-246063">
              <a:defRPr>
                <a:solidFill>
                  <a:schemeClr val="tx1"/>
                </a:solidFill>
                <a:latin typeface="Calibri" panose="020F0502020204030204" pitchFamily="34" charset="0"/>
              </a:defRPr>
            </a:lvl3pPr>
            <a:lvl4pPr marL="1731963" indent="-246063">
              <a:defRPr>
                <a:solidFill>
                  <a:schemeClr val="tx1"/>
                </a:solidFill>
                <a:latin typeface="Calibri" panose="020F0502020204030204" pitchFamily="34" charset="0"/>
              </a:defRPr>
            </a:lvl4pPr>
            <a:lvl5pPr marL="2227263" indent="-246063">
              <a:defRPr>
                <a:solidFill>
                  <a:schemeClr val="tx1"/>
                </a:solidFill>
                <a:latin typeface="Calibri" panose="020F0502020204030204" pitchFamily="34" charset="0"/>
              </a:defRPr>
            </a:lvl5pPr>
            <a:lvl6pPr marL="2684463" indent="-246063" eaLnBrk="0" fontAlgn="base" hangingPunct="0">
              <a:spcBef>
                <a:spcPct val="0"/>
              </a:spcBef>
              <a:spcAft>
                <a:spcPct val="0"/>
              </a:spcAft>
              <a:defRPr>
                <a:solidFill>
                  <a:schemeClr val="tx1"/>
                </a:solidFill>
                <a:latin typeface="Calibri" panose="020F0502020204030204" pitchFamily="34" charset="0"/>
              </a:defRPr>
            </a:lvl6pPr>
            <a:lvl7pPr marL="3141663" indent="-246063" eaLnBrk="0" fontAlgn="base" hangingPunct="0">
              <a:spcBef>
                <a:spcPct val="0"/>
              </a:spcBef>
              <a:spcAft>
                <a:spcPct val="0"/>
              </a:spcAft>
              <a:defRPr>
                <a:solidFill>
                  <a:schemeClr val="tx1"/>
                </a:solidFill>
                <a:latin typeface="Calibri" panose="020F0502020204030204" pitchFamily="34" charset="0"/>
              </a:defRPr>
            </a:lvl7pPr>
            <a:lvl8pPr marL="3598863" indent="-246063" eaLnBrk="0" fontAlgn="base" hangingPunct="0">
              <a:spcBef>
                <a:spcPct val="0"/>
              </a:spcBef>
              <a:spcAft>
                <a:spcPct val="0"/>
              </a:spcAft>
              <a:defRPr>
                <a:solidFill>
                  <a:schemeClr val="tx1"/>
                </a:solidFill>
                <a:latin typeface="Calibri" panose="020F0502020204030204" pitchFamily="34" charset="0"/>
              </a:defRPr>
            </a:lvl8pPr>
            <a:lvl9pPr marL="4056063" indent="-246063"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8528951E-34F0-47C1-A970-6DE83669C6F3}" type="slidenum">
              <a:rPr lang="th-TH" altLang="en-US" sz="1300" smtClean="0"/>
              <a:pPr fontAlgn="base">
                <a:spcBef>
                  <a:spcPct val="0"/>
                </a:spcBef>
                <a:spcAft>
                  <a:spcPct val="0"/>
                </a:spcAft>
              </a:pPr>
              <a:t>210</a:t>
            </a:fld>
            <a:endParaRPr lang="th-TH" altLang="en-US" sz="1300" smtClean="0"/>
          </a:p>
        </p:txBody>
      </p:sp>
    </p:spTree>
    <p:extLst>
      <p:ext uri="{BB962C8B-B14F-4D97-AF65-F5344CB8AC3E}">
        <p14:creationId xmlns:p14="http://schemas.microsoft.com/office/powerpoint/2010/main" val="386036739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33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33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Hoods and seals at both ends connect the rotating kiln to stationary equipment. At the cold end, the hood provides openings for the lime mud feed and the induced draft fan. At the hot end, the hood supports the burner and flame management equipment, as well as a system for discharging the reburned lime.</a:t>
            </a:r>
          </a:p>
          <a:p>
            <a:endParaRPr lang="th-TH" altLang="en-US" smtClean="0"/>
          </a:p>
        </p:txBody>
      </p:sp>
      <p:sp>
        <p:nvSpPr>
          <p:cNvPr id="6133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803275" indent="-307975">
              <a:defRPr>
                <a:solidFill>
                  <a:schemeClr val="tx1"/>
                </a:solidFill>
                <a:latin typeface="Calibri" panose="020F0502020204030204" pitchFamily="34" charset="0"/>
              </a:defRPr>
            </a:lvl2pPr>
            <a:lvl3pPr marL="1236663" indent="-246063">
              <a:defRPr>
                <a:solidFill>
                  <a:schemeClr val="tx1"/>
                </a:solidFill>
                <a:latin typeface="Calibri" panose="020F0502020204030204" pitchFamily="34" charset="0"/>
              </a:defRPr>
            </a:lvl3pPr>
            <a:lvl4pPr marL="1731963" indent="-246063">
              <a:defRPr>
                <a:solidFill>
                  <a:schemeClr val="tx1"/>
                </a:solidFill>
                <a:latin typeface="Calibri" panose="020F0502020204030204" pitchFamily="34" charset="0"/>
              </a:defRPr>
            </a:lvl4pPr>
            <a:lvl5pPr marL="2227263" indent="-246063">
              <a:defRPr>
                <a:solidFill>
                  <a:schemeClr val="tx1"/>
                </a:solidFill>
                <a:latin typeface="Calibri" panose="020F0502020204030204" pitchFamily="34" charset="0"/>
              </a:defRPr>
            </a:lvl5pPr>
            <a:lvl6pPr marL="2684463" indent="-246063" eaLnBrk="0" fontAlgn="base" hangingPunct="0">
              <a:spcBef>
                <a:spcPct val="0"/>
              </a:spcBef>
              <a:spcAft>
                <a:spcPct val="0"/>
              </a:spcAft>
              <a:defRPr>
                <a:solidFill>
                  <a:schemeClr val="tx1"/>
                </a:solidFill>
                <a:latin typeface="Calibri" panose="020F0502020204030204" pitchFamily="34" charset="0"/>
              </a:defRPr>
            </a:lvl6pPr>
            <a:lvl7pPr marL="3141663" indent="-246063" eaLnBrk="0" fontAlgn="base" hangingPunct="0">
              <a:spcBef>
                <a:spcPct val="0"/>
              </a:spcBef>
              <a:spcAft>
                <a:spcPct val="0"/>
              </a:spcAft>
              <a:defRPr>
                <a:solidFill>
                  <a:schemeClr val="tx1"/>
                </a:solidFill>
                <a:latin typeface="Calibri" panose="020F0502020204030204" pitchFamily="34" charset="0"/>
              </a:defRPr>
            </a:lvl7pPr>
            <a:lvl8pPr marL="3598863" indent="-246063" eaLnBrk="0" fontAlgn="base" hangingPunct="0">
              <a:spcBef>
                <a:spcPct val="0"/>
              </a:spcBef>
              <a:spcAft>
                <a:spcPct val="0"/>
              </a:spcAft>
              <a:defRPr>
                <a:solidFill>
                  <a:schemeClr val="tx1"/>
                </a:solidFill>
                <a:latin typeface="Calibri" panose="020F0502020204030204" pitchFamily="34" charset="0"/>
              </a:defRPr>
            </a:lvl8pPr>
            <a:lvl9pPr marL="4056063" indent="-246063" eaLnBrk="0" fontAlgn="base" hangingPunct="0">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fld id="{67C4C3A3-2DA9-4601-BC99-649A8AFF18C5}" type="slidenum">
              <a:rPr lang="th-TH" altLang="en-US" sz="1300" smtClean="0"/>
              <a:pPr fontAlgn="base">
                <a:spcBef>
                  <a:spcPct val="0"/>
                </a:spcBef>
                <a:spcAft>
                  <a:spcPct val="0"/>
                </a:spcAft>
              </a:pPr>
              <a:t>211</a:t>
            </a:fld>
            <a:endParaRPr lang="th-TH" altLang="en-US" sz="1300" smtClean="0"/>
          </a:p>
        </p:txBody>
      </p:sp>
    </p:spTree>
    <p:extLst>
      <p:ext uri="{BB962C8B-B14F-4D97-AF65-F5344CB8AC3E}">
        <p14:creationId xmlns:p14="http://schemas.microsoft.com/office/powerpoint/2010/main" val="2600070124"/>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4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54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B79F00C8-F9EA-4F17-B4F8-6539B7E052D5}" type="slidenum">
              <a:rPr lang="en-US" smtClean="0"/>
              <a:pPr>
                <a:defRPr/>
              </a:pPr>
              <a:t>212</a:t>
            </a:fld>
            <a:endParaRPr lang="en-US"/>
          </a:p>
        </p:txBody>
      </p:sp>
    </p:spTree>
    <p:extLst>
      <p:ext uri="{BB962C8B-B14F-4D97-AF65-F5344CB8AC3E}">
        <p14:creationId xmlns:p14="http://schemas.microsoft.com/office/powerpoint/2010/main" val="2672074885"/>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74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74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1C0E14B5-480A-4682-9493-72063E317CE8}" type="slidenum">
              <a:rPr lang="en-US" smtClean="0"/>
              <a:pPr>
                <a:defRPr/>
              </a:pPr>
              <a:t>213</a:t>
            </a:fld>
            <a:endParaRPr lang="en-US"/>
          </a:p>
        </p:txBody>
      </p:sp>
    </p:spTree>
    <p:extLst>
      <p:ext uri="{BB962C8B-B14F-4D97-AF65-F5344CB8AC3E}">
        <p14:creationId xmlns:p14="http://schemas.microsoft.com/office/powerpoint/2010/main" val="919352378"/>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38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338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61F7203F-FC30-48DE-A95C-FD98B9A482EB}" type="slidenum">
              <a:rPr lang="en-US" smtClean="0"/>
              <a:pPr>
                <a:defRPr/>
              </a:pPr>
              <a:t>266</a:t>
            </a:fld>
            <a:endParaRPr lang="en-US"/>
          </a:p>
        </p:txBody>
      </p:sp>
    </p:spTree>
    <p:extLst>
      <p:ext uri="{BB962C8B-B14F-4D97-AF65-F5344CB8AC3E}">
        <p14:creationId xmlns:p14="http://schemas.microsoft.com/office/powerpoint/2010/main" val="1414728496"/>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119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9C9B5578-195B-45D0-B98E-8158241A6637}" type="slidenum">
              <a:rPr lang="en-US" smtClean="0"/>
              <a:pPr>
                <a:defRPr/>
              </a:pPr>
              <a:t>267</a:t>
            </a:fld>
            <a:endParaRPr lang="en-US"/>
          </a:p>
        </p:txBody>
      </p:sp>
    </p:spTree>
    <p:extLst>
      <p:ext uri="{BB962C8B-B14F-4D97-AF65-F5344CB8AC3E}">
        <p14:creationId xmlns:p14="http://schemas.microsoft.com/office/powerpoint/2010/main" val="2395303749"/>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140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6A9D152C-7772-4405-8501-3FF7CEAD6EB1}" type="slidenum">
              <a:rPr lang="en-US" smtClean="0"/>
              <a:pPr>
                <a:defRPr/>
              </a:pPr>
              <a:t>268</a:t>
            </a:fld>
            <a:endParaRPr lang="en-US"/>
          </a:p>
        </p:txBody>
      </p:sp>
    </p:spTree>
    <p:extLst>
      <p:ext uri="{BB962C8B-B14F-4D97-AF65-F5344CB8AC3E}">
        <p14:creationId xmlns:p14="http://schemas.microsoft.com/office/powerpoint/2010/main" val="205655656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16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3EB0161D-E0B3-4ED4-BD3F-023D84F677E9}" type="slidenum">
              <a:rPr lang="en-US" smtClean="0"/>
              <a:pPr>
                <a:defRPr/>
              </a:pPr>
              <a:t>269</a:t>
            </a:fld>
            <a:endParaRPr lang="en-US"/>
          </a:p>
        </p:txBody>
      </p:sp>
    </p:spTree>
    <p:extLst>
      <p:ext uri="{BB962C8B-B14F-4D97-AF65-F5344CB8AC3E}">
        <p14:creationId xmlns:p14="http://schemas.microsoft.com/office/powerpoint/2010/main" val="1103823190"/>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181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7BFAD322-951F-4EA2-B456-399C5D0B1D26}" type="slidenum">
              <a:rPr lang="en-US" smtClean="0"/>
              <a:pPr>
                <a:defRPr/>
              </a:pPr>
              <a:t>270</a:t>
            </a:fld>
            <a:endParaRPr lang="en-US"/>
          </a:p>
        </p:txBody>
      </p:sp>
    </p:spTree>
    <p:extLst>
      <p:ext uri="{BB962C8B-B14F-4D97-AF65-F5344CB8AC3E}">
        <p14:creationId xmlns:p14="http://schemas.microsoft.com/office/powerpoint/2010/main" val="768734924"/>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01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505E67D6-8B31-49BF-B141-434D7BB21E7D}" type="slidenum">
              <a:rPr lang="en-US" smtClean="0"/>
              <a:pPr>
                <a:defRPr/>
              </a:pPr>
              <a:t>271</a:t>
            </a:fld>
            <a:endParaRPr lang="en-US"/>
          </a:p>
        </p:txBody>
      </p:sp>
    </p:spTree>
    <p:extLst>
      <p:ext uri="{BB962C8B-B14F-4D97-AF65-F5344CB8AC3E}">
        <p14:creationId xmlns:p14="http://schemas.microsoft.com/office/powerpoint/2010/main" val="4253380535"/>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22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4643884B-AAAD-4AEF-9AC8-AB52806A52CA}" type="slidenum">
              <a:rPr lang="en-US" smtClean="0"/>
              <a:pPr>
                <a:defRPr/>
              </a:pPr>
              <a:t>272</a:t>
            </a:fld>
            <a:endParaRPr lang="en-US"/>
          </a:p>
        </p:txBody>
      </p:sp>
    </p:spTree>
    <p:extLst>
      <p:ext uri="{BB962C8B-B14F-4D97-AF65-F5344CB8AC3E}">
        <p14:creationId xmlns:p14="http://schemas.microsoft.com/office/powerpoint/2010/main" val="1373680076"/>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42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21C37035-C603-44D3-AC91-38F15C922045}" type="slidenum">
              <a:rPr lang="en-US" smtClean="0"/>
              <a:pPr>
                <a:defRPr/>
              </a:pPr>
              <a:t>273</a:t>
            </a:fld>
            <a:endParaRPr lang="en-US"/>
          </a:p>
        </p:txBody>
      </p:sp>
    </p:spTree>
    <p:extLst>
      <p:ext uri="{BB962C8B-B14F-4D97-AF65-F5344CB8AC3E}">
        <p14:creationId xmlns:p14="http://schemas.microsoft.com/office/powerpoint/2010/main" val="2409856462"/>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63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76BC88D0-0BF7-4B31-B792-B4D7E435A361}" type="slidenum">
              <a:rPr lang="en-US" smtClean="0"/>
              <a:pPr>
                <a:defRPr/>
              </a:pPr>
              <a:t>274</a:t>
            </a:fld>
            <a:endParaRPr lang="en-US"/>
          </a:p>
        </p:txBody>
      </p:sp>
    </p:spTree>
    <p:extLst>
      <p:ext uri="{BB962C8B-B14F-4D97-AF65-F5344CB8AC3E}">
        <p14:creationId xmlns:p14="http://schemas.microsoft.com/office/powerpoint/2010/main" val="3051850030"/>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83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63EDE3DF-DA3F-4472-9506-77FDB4A1FAF3}" type="slidenum">
              <a:rPr lang="en-US" smtClean="0"/>
              <a:pPr>
                <a:defRPr/>
              </a:pPr>
              <a:t>275</a:t>
            </a:fld>
            <a:endParaRPr lang="en-US"/>
          </a:p>
        </p:txBody>
      </p:sp>
    </p:spTree>
    <p:extLst>
      <p:ext uri="{BB962C8B-B14F-4D97-AF65-F5344CB8AC3E}">
        <p14:creationId xmlns:p14="http://schemas.microsoft.com/office/powerpoint/2010/main" val="127679392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04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47BA6E59-27CB-4311-B641-A9DDB620C629}" type="slidenum">
              <a:rPr lang="en-US" smtClean="0"/>
              <a:pPr>
                <a:defRPr/>
              </a:pPr>
              <a:t>276</a:t>
            </a:fld>
            <a:endParaRPr lang="en-US"/>
          </a:p>
        </p:txBody>
      </p:sp>
    </p:spTree>
    <p:extLst>
      <p:ext uri="{BB962C8B-B14F-4D97-AF65-F5344CB8AC3E}">
        <p14:creationId xmlns:p14="http://schemas.microsoft.com/office/powerpoint/2010/main" val="992237170"/>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24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EDC5BF64-2AA2-4C9C-A708-E3B317105A1A}" type="slidenum">
              <a:rPr lang="en-US" smtClean="0"/>
              <a:pPr>
                <a:defRPr/>
              </a:pPr>
              <a:t>277</a:t>
            </a:fld>
            <a:endParaRPr lang="en-US"/>
          </a:p>
        </p:txBody>
      </p:sp>
    </p:spTree>
    <p:extLst>
      <p:ext uri="{BB962C8B-B14F-4D97-AF65-F5344CB8AC3E}">
        <p14:creationId xmlns:p14="http://schemas.microsoft.com/office/powerpoint/2010/main" val="1747314955"/>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44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B14C45A3-AB68-4880-949F-0F2DFEBB281C}" type="slidenum">
              <a:rPr lang="en-US" smtClean="0"/>
              <a:pPr>
                <a:defRPr/>
              </a:pPr>
              <a:t>278</a:t>
            </a:fld>
            <a:endParaRPr lang="en-US"/>
          </a:p>
        </p:txBody>
      </p:sp>
    </p:spTree>
    <p:extLst>
      <p:ext uri="{BB962C8B-B14F-4D97-AF65-F5344CB8AC3E}">
        <p14:creationId xmlns:p14="http://schemas.microsoft.com/office/powerpoint/2010/main" val="243786870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65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BD62DA31-85E0-41BC-862E-33168514F605}" type="slidenum">
              <a:rPr lang="en-US" smtClean="0"/>
              <a:pPr>
                <a:defRPr/>
              </a:pPr>
              <a:t>279</a:t>
            </a:fld>
            <a:endParaRPr lang="en-US"/>
          </a:p>
        </p:txBody>
      </p:sp>
    </p:spTree>
    <p:extLst>
      <p:ext uri="{BB962C8B-B14F-4D97-AF65-F5344CB8AC3E}">
        <p14:creationId xmlns:p14="http://schemas.microsoft.com/office/powerpoint/2010/main" val="316820085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85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F380B130-0D37-49AC-BF0E-44F6F588EAC2}" type="slidenum">
              <a:rPr lang="en-US" smtClean="0"/>
              <a:pPr>
                <a:defRPr/>
              </a:pPr>
              <a:t>280</a:t>
            </a:fld>
            <a:endParaRPr lang="en-US"/>
          </a:p>
        </p:txBody>
      </p:sp>
    </p:spTree>
    <p:extLst>
      <p:ext uri="{BB962C8B-B14F-4D97-AF65-F5344CB8AC3E}">
        <p14:creationId xmlns:p14="http://schemas.microsoft.com/office/powerpoint/2010/main" val="4117223442"/>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406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9B62AC0A-780F-4EE1-A4AA-E5FC71597238}" type="slidenum">
              <a:rPr lang="en-US" smtClean="0"/>
              <a:pPr>
                <a:defRPr/>
              </a:pPr>
              <a:t>281</a:t>
            </a:fld>
            <a:endParaRPr lang="en-US"/>
          </a:p>
        </p:txBody>
      </p:sp>
    </p:spTree>
    <p:extLst>
      <p:ext uri="{BB962C8B-B14F-4D97-AF65-F5344CB8AC3E}">
        <p14:creationId xmlns:p14="http://schemas.microsoft.com/office/powerpoint/2010/main" val="1317707411"/>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426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FBD58930-BDD3-4885-9C04-26083DE989A4}" type="slidenum">
              <a:rPr lang="en-US" smtClean="0"/>
              <a:pPr>
                <a:defRPr/>
              </a:pPr>
              <a:t>282</a:t>
            </a:fld>
            <a:endParaRPr lang="en-US"/>
          </a:p>
        </p:txBody>
      </p:sp>
    </p:spTree>
    <p:extLst>
      <p:ext uri="{BB962C8B-B14F-4D97-AF65-F5344CB8AC3E}">
        <p14:creationId xmlns:p14="http://schemas.microsoft.com/office/powerpoint/2010/main" val="3534165628"/>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86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686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5D6A93B3-4209-4D91-A212-05B32156AE7D}" type="slidenum">
              <a:rPr lang="en-US" smtClean="0"/>
              <a:pPr>
                <a:defRPr/>
              </a:pPr>
              <a:t>283</a:t>
            </a:fld>
            <a:endParaRPr lang="en-US"/>
          </a:p>
        </p:txBody>
      </p:sp>
    </p:spTree>
    <p:extLst>
      <p:ext uri="{BB962C8B-B14F-4D97-AF65-F5344CB8AC3E}">
        <p14:creationId xmlns:p14="http://schemas.microsoft.com/office/powerpoint/2010/main" val="260265027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07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707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93D04995-0D87-40BD-8433-6E6A3A0DC25E}" type="slidenum">
              <a:rPr lang="en-US" smtClean="0"/>
              <a:pPr>
                <a:defRPr/>
              </a:pPr>
              <a:t>284</a:t>
            </a:fld>
            <a:endParaRPr lang="en-US"/>
          </a:p>
        </p:txBody>
      </p:sp>
    </p:spTree>
    <p:extLst>
      <p:ext uri="{BB962C8B-B14F-4D97-AF65-F5344CB8AC3E}">
        <p14:creationId xmlns:p14="http://schemas.microsoft.com/office/powerpoint/2010/main" val="219530418"/>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27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727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2389D7A5-70BF-454E-BDBB-63E0E0C700EA}" type="slidenum">
              <a:rPr lang="en-US" smtClean="0"/>
              <a:pPr>
                <a:defRPr/>
              </a:pPr>
              <a:t>285</a:t>
            </a:fld>
            <a:endParaRPr lang="en-US"/>
          </a:p>
        </p:txBody>
      </p:sp>
    </p:spTree>
    <p:extLst>
      <p:ext uri="{BB962C8B-B14F-4D97-AF65-F5344CB8AC3E}">
        <p14:creationId xmlns:p14="http://schemas.microsoft.com/office/powerpoint/2010/main" val="2951835142"/>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48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748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8C92C0E4-49CC-4D9A-A7CE-112A76B15E1C}" type="slidenum">
              <a:rPr lang="en-US" smtClean="0"/>
              <a:pPr>
                <a:defRPr/>
              </a:pPr>
              <a:t>286</a:t>
            </a:fld>
            <a:endParaRPr lang="en-US"/>
          </a:p>
        </p:txBody>
      </p:sp>
    </p:spTree>
    <p:extLst>
      <p:ext uri="{BB962C8B-B14F-4D97-AF65-F5344CB8AC3E}">
        <p14:creationId xmlns:p14="http://schemas.microsoft.com/office/powerpoint/2010/main" val="1218093208"/>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68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768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7AC6151F-3B7B-4F92-88A3-25D9964DC001}" type="slidenum">
              <a:rPr lang="en-US" smtClean="0"/>
              <a:pPr>
                <a:defRPr/>
              </a:pPr>
              <a:t>287</a:t>
            </a:fld>
            <a:endParaRPr lang="en-US"/>
          </a:p>
        </p:txBody>
      </p:sp>
    </p:spTree>
    <p:extLst>
      <p:ext uri="{BB962C8B-B14F-4D97-AF65-F5344CB8AC3E}">
        <p14:creationId xmlns:p14="http://schemas.microsoft.com/office/powerpoint/2010/main" val="915163908"/>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89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789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4" name="Slide Number Placeholder 3"/>
          <p:cNvSpPr>
            <a:spLocks noGrp="1"/>
          </p:cNvSpPr>
          <p:nvPr>
            <p:ph type="sldNum" sz="quarter" idx="5"/>
          </p:nvPr>
        </p:nvSpPr>
        <p:spPr/>
        <p:txBody>
          <a:bodyPr/>
          <a:lstStyle/>
          <a:p>
            <a:pPr>
              <a:defRPr/>
            </a:pPr>
            <a:fld id="{88ACD813-6E52-487E-A624-A2DF5ACA873B}" type="slidenum">
              <a:rPr lang="en-US" smtClean="0"/>
              <a:pPr>
                <a:defRPr/>
              </a:pPr>
              <a:t>288</a:t>
            </a:fld>
            <a:endParaRPr lang="en-US"/>
          </a:p>
        </p:txBody>
      </p:sp>
    </p:spTree>
    <p:extLst>
      <p:ext uri="{BB962C8B-B14F-4D97-AF65-F5344CB8AC3E}">
        <p14:creationId xmlns:p14="http://schemas.microsoft.com/office/powerpoint/2010/main" val="65732601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933DCF87-12AF-44CB-BAE7-C87B4360A6FF}" type="datetimeFigureOut">
              <a:rPr lang="en-US"/>
              <a:pPr>
                <a:defRPr/>
              </a:pPr>
              <a:t>6/7/2016</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997C9871-8C8F-4D39-B020-8F7C694C89B2}" type="slidenum">
              <a:rPr lang="en-US"/>
              <a:pPr>
                <a:defRPr/>
              </a:pPr>
              <a:t>‹#›</a:t>
            </a:fld>
            <a:endParaRPr lang="en-US"/>
          </a:p>
        </p:txBody>
      </p:sp>
    </p:spTree>
    <p:extLst>
      <p:ext uri="{BB962C8B-B14F-4D97-AF65-F5344CB8AC3E}">
        <p14:creationId xmlns:p14="http://schemas.microsoft.com/office/powerpoint/2010/main" val="274363128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933DCF87-12AF-44CB-BAE7-C87B4360A6FF}" type="datetimeFigureOut">
              <a:rPr lang="en-US"/>
              <a:pPr>
                <a:defRPr/>
              </a:pPr>
              <a:t>6/7/2016</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8B34E001-A7A2-42C7-B9D0-B33F87C89612}" type="slidenum">
              <a:rPr lang="en-US"/>
              <a:pPr>
                <a:defRPr/>
              </a:pPr>
              <a:t>‹#›</a:t>
            </a:fld>
            <a:endParaRPr lang="en-US"/>
          </a:p>
        </p:txBody>
      </p:sp>
    </p:spTree>
    <p:extLst>
      <p:ext uri="{BB962C8B-B14F-4D97-AF65-F5344CB8AC3E}">
        <p14:creationId xmlns:p14="http://schemas.microsoft.com/office/powerpoint/2010/main" val="372884587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933DCF87-12AF-44CB-BAE7-C87B4360A6FF}" type="datetimeFigureOut">
              <a:rPr lang="en-US"/>
              <a:pPr>
                <a:defRPr/>
              </a:pPr>
              <a:t>6/7/2016</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D9B38AC2-D64E-4B55-8C28-9187B8172E59}" type="slidenum">
              <a:rPr lang="en-US"/>
              <a:pPr>
                <a:defRPr/>
              </a:pPr>
              <a:t>‹#›</a:t>
            </a:fld>
            <a:endParaRPr lang="en-US"/>
          </a:p>
        </p:txBody>
      </p:sp>
    </p:spTree>
    <p:extLst>
      <p:ext uri="{BB962C8B-B14F-4D97-AF65-F5344CB8AC3E}">
        <p14:creationId xmlns:p14="http://schemas.microsoft.com/office/powerpoint/2010/main" val="306388802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457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933DCF87-12AF-44CB-BAE7-C87B4360A6FF}" type="datetimeFigureOut">
              <a:rPr lang="en-US"/>
              <a:pPr>
                <a:defRPr/>
              </a:pPr>
              <a:t>6/7/2016</a:t>
            </a:fld>
            <a:endParaRPr lang="en-US"/>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endParaRPr lang="en-US"/>
          </a:p>
        </p:txBody>
      </p:sp>
      <p:sp>
        <p:nvSpPr>
          <p:cNvPr id="7" name="Slide Number Placeholder 6"/>
          <p:cNvSpPr>
            <a:spLocks noGrp="1"/>
          </p:cNvSpPr>
          <p:nvPr>
            <p:ph type="sldNum" sz="quarter" idx="12"/>
          </p:nvPr>
        </p:nvSpPr>
        <p:spPr>
          <a:xfrm>
            <a:off x="6553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E0094F88-5315-4400-A0A0-B06531E711D5}" type="slidenum">
              <a:rPr lang="en-US"/>
              <a:pPr>
                <a:defRPr/>
              </a:pPr>
              <a:t>‹#›</a:t>
            </a:fld>
            <a:endParaRPr lang="en-US"/>
          </a:p>
        </p:txBody>
      </p:sp>
    </p:spTree>
    <p:extLst>
      <p:ext uri="{BB962C8B-B14F-4D97-AF65-F5344CB8AC3E}">
        <p14:creationId xmlns:p14="http://schemas.microsoft.com/office/powerpoint/2010/main" val="38154677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a:xfrm>
            <a:off x="457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933DCF87-12AF-44CB-BAE7-C87B4360A6FF}" type="datetimeFigureOut">
              <a:rPr lang="en-US"/>
              <a:pPr>
                <a:defRPr/>
              </a:pPr>
              <a:t>6/7/2016</a:t>
            </a:fld>
            <a:endParaRPr lang="en-US"/>
          </a:p>
        </p:txBody>
      </p:sp>
      <p:sp>
        <p:nvSpPr>
          <p:cNvPr id="8" name="Footer Placeholder 7"/>
          <p:cNvSpPr>
            <a:spLocks noGrp="1"/>
          </p:cNvSpPr>
          <p:nvPr>
            <p:ph type="ftr" sz="quarter" idx="11"/>
          </p:nvPr>
        </p:nvSpPr>
        <p:spPr>
          <a:xfrm>
            <a:off x="3124200" y="6356350"/>
            <a:ext cx="2895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endParaRPr lang="en-US"/>
          </a:p>
        </p:txBody>
      </p:sp>
      <p:sp>
        <p:nvSpPr>
          <p:cNvPr id="9" name="Slide Number Placeholder 8"/>
          <p:cNvSpPr>
            <a:spLocks noGrp="1"/>
          </p:cNvSpPr>
          <p:nvPr>
            <p:ph type="sldNum" sz="quarter" idx="12"/>
          </p:nvPr>
        </p:nvSpPr>
        <p:spPr>
          <a:xfrm>
            <a:off x="6553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9B921949-0F77-4E29-9D7E-C4F74E708F3F}" type="slidenum">
              <a:rPr lang="en-US"/>
              <a:pPr>
                <a:defRPr/>
              </a:pPr>
              <a:t>‹#›</a:t>
            </a:fld>
            <a:endParaRPr lang="en-US"/>
          </a:p>
        </p:txBody>
      </p:sp>
    </p:spTree>
    <p:extLst>
      <p:ext uri="{BB962C8B-B14F-4D97-AF65-F5344CB8AC3E}">
        <p14:creationId xmlns:p14="http://schemas.microsoft.com/office/powerpoint/2010/main" val="249418720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457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933DCF87-12AF-44CB-BAE7-C87B4360A6FF}" type="datetimeFigureOut">
              <a:rPr lang="en-US"/>
              <a:pPr>
                <a:defRPr/>
              </a:pPr>
              <a:t>6/7/2016</a:t>
            </a:fld>
            <a:endParaRPr lang="en-US"/>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endParaRPr lang="en-US"/>
          </a:p>
        </p:txBody>
      </p:sp>
      <p:sp>
        <p:nvSpPr>
          <p:cNvPr id="5" name="Slide Number Placeholder 4"/>
          <p:cNvSpPr>
            <a:spLocks noGrp="1"/>
          </p:cNvSpPr>
          <p:nvPr>
            <p:ph type="sldNum" sz="quarter" idx="12"/>
          </p:nvPr>
        </p:nvSpPr>
        <p:spPr>
          <a:xfrm>
            <a:off x="6553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4C6B7E2B-1479-4ECF-828E-CE8BFDA1234C}" type="slidenum">
              <a:rPr lang="en-US"/>
              <a:pPr>
                <a:defRPr/>
              </a:pPr>
              <a:t>‹#›</a:t>
            </a:fld>
            <a:endParaRPr lang="en-US"/>
          </a:p>
        </p:txBody>
      </p:sp>
    </p:spTree>
    <p:extLst>
      <p:ext uri="{BB962C8B-B14F-4D97-AF65-F5344CB8AC3E}">
        <p14:creationId xmlns:p14="http://schemas.microsoft.com/office/powerpoint/2010/main" val="3701659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933DCF87-12AF-44CB-BAE7-C87B4360A6FF}" type="datetimeFigureOut">
              <a:rPr lang="en-US"/>
              <a:pPr>
                <a:defRPr/>
              </a:pPr>
              <a:t>6/7/2016</a:t>
            </a:fld>
            <a:endParaRPr lang="en-US"/>
          </a:p>
        </p:txBody>
      </p:sp>
      <p:sp>
        <p:nvSpPr>
          <p:cNvPr id="3" name="Footer Placeholder 2"/>
          <p:cNvSpPr>
            <a:spLocks noGrp="1"/>
          </p:cNvSpPr>
          <p:nvPr>
            <p:ph type="ftr" sz="quarter" idx="11"/>
          </p:nvPr>
        </p:nvSpPr>
        <p:spPr>
          <a:xfrm>
            <a:off x="3124200" y="6356350"/>
            <a:ext cx="2895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endParaRPr lang="en-US"/>
          </a:p>
        </p:txBody>
      </p:sp>
      <p:sp>
        <p:nvSpPr>
          <p:cNvPr id="4" name="Slide Number Placeholder 3"/>
          <p:cNvSpPr>
            <a:spLocks noGrp="1"/>
          </p:cNvSpPr>
          <p:nvPr>
            <p:ph type="sldNum" sz="quarter" idx="12"/>
          </p:nvPr>
        </p:nvSpPr>
        <p:spPr>
          <a:xfrm>
            <a:off x="6553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0F0678BE-D7AD-47FA-930C-A1DAFB46E77A}" type="slidenum">
              <a:rPr lang="en-US"/>
              <a:pPr>
                <a:defRPr/>
              </a:pPr>
              <a:t>‹#›</a:t>
            </a:fld>
            <a:endParaRPr lang="en-US"/>
          </a:p>
        </p:txBody>
      </p:sp>
    </p:spTree>
    <p:extLst>
      <p:ext uri="{BB962C8B-B14F-4D97-AF65-F5344CB8AC3E}">
        <p14:creationId xmlns:p14="http://schemas.microsoft.com/office/powerpoint/2010/main" val="308175117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933DCF87-12AF-44CB-BAE7-C87B4360A6FF}" type="datetimeFigureOut">
              <a:rPr lang="en-US"/>
              <a:pPr>
                <a:defRPr/>
              </a:pPr>
              <a:t>6/7/2016</a:t>
            </a:fld>
            <a:endParaRPr lang="en-US"/>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endParaRPr lang="en-US"/>
          </a:p>
        </p:txBody>
      </p:sp>
      <p:sp>
        <p:nvSpPr>
          <p:cNvPr id="7" name="Slide Number Placeholder 6"/>
          <p:cNvSpPr>
            <a:spLocks noGrp="1"/>
          </p:cNvSpPr>
          <p:nvPr>
            <p:ph type="sldNum" sz="quarter" idx="12"/>
          </p:nvPr>
        </p:nvSpPr>
        <p:spPr>
          <a:xfrm>
            <a:off x="6553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49348E79-184F-4CA8-BEA6-DA94D3C7205F}" type="slidenum">
              <a:rPr lang="en-US"/>
              <a:pPr>
                <a:defRPr/>
              </a:pPr>
              <a:t>‹#›</a:t>
            </a:fld>
            <a:endParaRPr lang="en-US"/>
          </a:p>
        </p:txBody>
      </p:sp>
    </p:spTree>
    <p:extLst>
      <p:ext uri="{BB962C8B-B14F-4D97-AF65-F5344CB8AC3E}">
        <p14:creationId xmlns:p14="http://schemas.microsoft.com/office/powerpoint/2010/main" val="841501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933DCF87-12AF-44CB-BAE7-C87B4360A6FF}" type="datetimeFigureOut">
              <a:rPr lang="en-US"/>
              <a:pPr>
                <a:defRPr/>
              </a:pPr>
              <a:t>6/7/2016</a:t>
            </a:fld>
            <a:endParaRPr lang="en-US"/>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endParaRPr lang="en-US"/>
          </a:p>
        </p:txBody>
      </p:sp>
      <p:sp>
        <p:nvSpPr>
          <p:cNvPr id="7" name="Slide Number Placeholder 6"/>
          <p:cNvSpPr>
            <a:spLocks noGrp="1"/>
          </p:cNvSpPr>
          <p:nvPr>
            <p:ph type="sldNum" sz="quarter" idx="12"/>
          </p:nvPr>
        </p:nvSpPr>
        <p:spPr>
          <a:xfrm>
            <a:off x="6553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A6C8D5A5-BDEA-4860-ABFA-323DC7C31CB7}" type="slidenum">
              <a:rPr lang="en-US"/>
              <a:pPr>
                <a:defRPr/>
              </a:pPr>
              <a:t>‹#›</a:t>
            </a:fld>
            <a:endParaRPr lang="en-US"/>
          </a:p>
        </p:txBody>
      </p:sp>
    </p:spTree>
    <p:extLst>
      <p:ext uri="{BB962C8B-B14F-4D97-AF65-F5344CB8AC3E}">
        <p14:creationId xmlns:p14="http://schemas.microsoft.com/office/powerpoint/2010/main" val="297715227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933DCF87-12AF-44CB-BAE7-C87B4360A6FF}" type="datetimeFigureOut">
              <a:rPr lang="en-US"/>
              <a:pPr>
                <a:defRPr/>
              </a:pPr>
              <a:t>6/7/2016</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75254677-200E-4279-A4FD-93FFE6E499A8}" type="slidenum">
              <a:rPr lang="en-US"/>
              <a:pPr>
                <a:defRPr/>
              </a:pPr>
              <a:t>‹#›</a:t>
            </a:fld>
            <a:endParaRPr lang="en-US"/>
          </a:p>
        </p:txBody>
      </p:sp>
    </p:spTree>
    <p:extLst>
      <p:ext uri="{BB962C8B-B14F-4D97-AF65-F5344CB8AC3E}">
        <p14:creationId xmlns:p14="http://schemas.microsoft.com/office/powerpoint/2010/main" val="44805841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933DCF87-12AF-44CB-BAE7-C87B4360A6FF}" type="datetimeFigureOut">
              <a:rPr lang="en-US"/>
              <a:pPr>
                <a:defRPr/>
              </a:pPr>
              <a:t>6/7/2016</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lvl1pPr defTabSz="457200" eaLnBrk="1" fontAlgn="auto" hangingPunct="1">
              <a:spcBef>
                <a:spcPts val="0"/>
              </a:spcBef>
              <a:spcAft>
                <a:spcPts val="0"/>
              </a:spcAft>
              <a:defRPr>
                <a:solidFill>
                  <a:prstClr val="black"/>
                </a:solidFill>
                <a:latin typeface="+mn-lt"/>
              </a:defRPr>
            </a:lvl1pPr>
          </a:lstStyle>
          <a:p>
            <a:pPr>
              <a:defRPr/>
            </a:pPr>
            <a:fld id="{49E8477C-04F9-4E9E-9913-1495AFEB02BE}" type="slidenum">
              <a:rPr lang="en-US"/>
              <a:pPr>
                <a:defRPr/>
              </a:pPr>
              <a:t>‹#›</a:t>
            </a:fld>
            <a:endParaRPr lang="en-US"/>
          </a:p>
        </p:txBody>
      </p:sp>
    </p:spTree>
    <p:extLst>
      <p:ext uri="{BB962C8B-B14F-4D97-AF65-F5344CB8AC3E}">
        <p14:creationId xmlns:p14="http://schemas.microsoft.com/office/powerpoint/2010/main" val="325132056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274638"/>
            <a:ext cx="8229600" cy="58515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Rectangle 4"/>
          <p:cNvSpPr>
            <a:spLocks noGrp="1" noChangeArrowheads="1"/>
          </p:cNvSpPr>
          <p:nvPr>
            <p:ph type="dt" sz="half" idx="10"/>
          </p:nvPr>
        </p:nvSpPr>
        <p:spPr>
          <a:xfrm>
            <a:off x="457200" y="6245225"/>
            <a:ext cx="2133600" cy="476250"/>
          </a:xfrm>
          <a:prstGeom prst="rect">
            <a:avLst/>
          </a:prstGeom>
        </p:spPr>
        <p:txBody>
          <a:bodyPr/>
          <a:lstStyle>
            <a:lvl1pPr>
              <a:defRPr/>
            </a:lvl1pPr>
          </a:lstStyle>
          <a:p>
            <a:pPr>
              <a:defRPr/>
            </a:pPr>
            <a:endParaRPr lang="th-TH"/>
          </a:p>
        </p:txBody>
      </p:sp>
      <p:sp>
        <p:nvSpPr>
          <p:cNvPr id="4" name="Rectangle 5"/>
          <p:cNvSpPr>
            <a:spLocks noGrp="1" noChangeArrowheads="1"/>
          </p:cNvSpPr>
          <p:nvPr>
            <p:ph type="ftr" sz="quarter" idx="11"/>
          </p:nvPr>
        </p:nvSpPr>
        <p:spPr>
          <a:xfrm>
            <a:off x="3124200" y="6245225"/>
            <a:ext cx="2895600" cy="476250"/>
          </a:xfrm>
          <a:prstGeom prst="rect">
            <a:avLst/>
          </a:prstGeom>
        </p:spPr>
        <p:txBody>
          <a:bodyPr/>
          <a:lstStyle>
            <a:lvl1pPr>
              <a:defRPr/>
            </a:lvl1pPr>
          </a:lstStyle>
          <a:p>
            <a:pPr>
              <a:defRPr/>
            </a:pPr>
            <a:endParaRPr lang="th-TH"/>
          </a:p>
        </p:txBody>
      </p:sp>
      <p:sp>
        <p:nvSpPr>
          <p:cNvPr id="5" name="Rectangle 6"/>
          <p:cNvSpPr>
            <a:spLocks noGrp="1" noChangeArrowheads="1"/>
          </p:cNvSpPr>
          <p:nvPr>
            <p:ph type="sldNum" sz="quarter" idx="12"/>
          </p:nvPr>
        </p:nvSpPr>
        <p:spPr>
          <a:xfrm>
            <a:off x="6553200" y="6245225"/>
            <a:ext cx="2133600" cy="476250"/>
          </a:xfrm>
          <a:prstGeom prst="rect">
            <a:avLst/>
          </a:prstGeom>
        </p:spPr>
        <p:txBody>
          <a:bodyPr/>
          <a:lstStyle>
            <a:lvl1pPr>
              <a:defRPr/>
            </a:lvl1pPr>
          </a:lstStyle>
          <a:p>
            <a:pPr>
              <a:defRPr/>
            </a:pPr>
            <a:fld id="{ADA8B649-75B8-4AF3-8DFD-68B2D9CAC8E4}" type="slidenum">
              <a:rPr lang="en-US" altLang="en-US"/>
              <a:pPr>
                <a:defRPr/>
              </a:pPr>
              <a:t>‹#›</a:t>
            </a:fld>
            <a:endParaRPr lang="th-TH" altLang="en-US"/>
          </a:p>
        </p:txBody>
      </p:sp>
    </p:spTree>
    <p:extLst>
      <p:ext uri="{BB962C8B-B14F-4D97-AF65-F5344CB8AC3E}">
        <p14:creationId xmlns:p14="http://schemas.microsoft.com/office/powerpoint/2010/main" val="18063726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457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noChangeArrowheads="1"/>
          </p:cNvSpPr>
          <p:nvPr>
            <p:ph type="dt" sz="half" idx="10"/>
          </p:nvPr>
        </p:nvSpPr>
        <p:spPr>
          <a:xfrm>
            <a:off x="457200" y="6245225"/>
            <a:ext cx="2133600" cy="476250"/>
          </a:xfrm>
          <a:prstGeom prst="rect">
            <a:avLst/>
          </a:prstGeom>
        </p:spPr>
        <p:txBody>
          <a:bodyPr/>
          <a:lstStyle>
            <a:lvl1pPr>
              <a:defRPr/>
            </a:lvl1pPr>
          </a:lstStyle>
          <a:p>
            <a:pPr>
              <a:defRPr/>
            </a:pPr>
            <a:endParaRPr lang="th-TH"/>
          </a:p>
        </p:txBody>
      </p:sp>
      <p:sp>
        <p:nvSpPr>
          <p:cNvPr id="6" name="Footer Placeholder 5"/>
          <p:cNvSpPr>
            <a:spLocks noGrp="1" noChangeArrowheads="1"/>
          </p:cNvSpPr>
          <p:nvPr>
            <p:ph type="ftr" sz="quarter" idx="11"/>
          </p:nvPr>
        </p:nvSpPr>
        <p:spPr>
          <a:xfrm>
            <a:off x="3124200" y="6245225"/>
            <a:ext cx="2895600" cy="476250"/>
          </a:xfrm>
          <a:prstGeom prst="rect">
            <a:avLst/>
          </a:prstGeom>
        </p:spPr>
        <p:txBody>
          <a:bodyPr/>
          <a:lstStyle>
            <a:lvl1pPr>
              <a:defRPr/>
            </a:lvl1pPr>
          </a:lstStyle>
          <a:p>
            <a:pPr>
              <a:defRPr/>
            </a:pPr>
            <a:endParaRPr lang="th-TH"/>
          </a:p>
        </p:txBody>
      </p:sp>
      <p:sp>
        <p:nvSpPr>
          <p:cNvPr id="7" name="Slide Number Placeholder 6"/>
          <p:cNvSpPr>
            <a:spLocks noGrp="1" noChangeArrowheads="1"/>
          </p:cNvSpPr>
          <p:nvPr>
            <p:ph type="sldNum" sz="quarter" idx="12"/>
          </p:nvPr>
        </p:nvSpPr>
        <p:spPr>
          <a:xfrm>
            <a:off x="6553200" y="6245225"/>
            <a:ext cx="2133600" cy="476250"/>
          </a:xfrm>
          <a:prstGeom prst="rect">
            <a:avLst/>
          </a:prstGeom>
        </p:spPr>
        <p:txBody>
          <a:bodyPr/>
          <a:lstStyle>
            <a:lvl1pPr>
              <a:defRPr/>
            </a:lvl1pPr>
          </a:lstStyle>
          <a:p>
            <a:pPr>
              <a:defRPr/>
            </a:pPr>
            <a:fld id="{EE56E6A1-FA31-4A9B-A80F-A2585AE86F64}" type="slidenum">
              <a:rPr lang="en-US" altLang="en-US"/>
              <a:pPr>
                <a:defRPr/>
              </a:pPr>
              <a:t>‹#›</a:t>
            </a:fld>
            <a:endParaRPr lang="th-TH" altLang="en-US"/>
          </a:p>
        </p:txBody>
      </p:sp>
    </p:spTree>
    <p:extLst>
      <p:ext uri="{BB962C8B-B14F-4D97-AF65-F5344CB8AC3E}">
        <p14:creationId xmlns:p14="http://schemas.microsoft.com/office/powerpoint/2010/main" val="322825500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chart">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28650" y="365125"/>
            <a:ext cx="7886700" cy="1325563"/>
          </a:xfrm>
          <a:prstGeom prst="rect">
            <a:avLst/>
          </a:prstGeom>
        </p:spPr>
        <p:txBody>
          <a:bodyPr/>
          <a:lstStyle/>
          <a:p>
            <a:r>
              <a:rPr lang="en-US" smtClean="0"/>
              <a:t>Click to edit Master title style</a:t>
            </a:r>
            <a:endParaRPr lang="en-US"/>
          </a:p>
        </p:txBody>
      </p:sp>
      <p:sp>
        <p:nvSpPr>
          <p:cNvPr id="3" name="Chart Placeholder 2"/>
          <p:cNvSpPr>
            <a:spLocks noGrp="1"/>
          </p:cNvSpPr>
          <p:nvPr>
            <p:ph type="chart" idx="1"/>
          </p:nvPr>
        </p:nvSpPr>
        <p:spPr>
          <a:xfrm>
            <a:off x="457200" y="1600200"/>
            <a:ext cx="8229600" cy="4525963"/>
          </a:xfrm>
        </p:spPr>
        <p:txBody>
          <a:bodyPr/>
          <a:lstStyle/>
          <a:p>
            <a:pPr lvl="0"/>
            <a:endParaRPr lang="en-US" noProof="0"/>
          </a:p>
        </p:txBody>
      </p:sp>
      <p:sp>
        <p:nvSpPr>
          <p:cNvPr id="4" name="Footer Placeholder 3"/>
          <p:cNvSpPr>
            <a:spLocks noGrp="1"/>
          </p:cNvSpPr>
          <p:nvPr>
            <p:ph type="ftr" sz="quarter" idx="10"/>
          </p:nvPr>
        </p:nvSpPr>
        <p:spPr>
          <a:xfrm>
            <a:off x="3124200" y="6245225"/>
            <a:ext cx="2895600" cy="476250"/>
          </a:xfrm>
          <a:prstGeom prst="rect">
            <a:avLst/>
          </a:prstGeom>
        </p:spPr>
        <p:txBody>
          <a:bodyPr/>
          <a:lstStyle>
            <a:lvl1pPr>
              <a:defRPr/>
            </a:lvl1pPr>
          </a:lstStyle>
          <a:p>
            <a:pPr>
              <a:defRPr/>
            </a:pPr>
            <a:endParaRPr lang="th-TH" altLang="en-US"/>
          </a:p>
        </p:txBody>
      </p:sp>
      <p:sp>
        <p:nvSpPr>
          <p:cNvPr id="5" name="Slide Number Placeholder 4"/>
          <p:cNvSpPr>
            <a:spLocks noGrp="1"/>
          </p:cNvSpPr>
          <p:nvPr>
            <p:ph type="sldNum" sz="quarter" idx="11"/>
          </p:nvPr>
        </p:nvSpPr>
        <p:spPr>
          <a:xfrm>
            <a:off x="3995738" y="6330950"/>
            <a:ext cx="2133600" cy="476250"/>
          </a:xfrm>
          <a:prstGeom prst="rect">
            <a:avLst/>
          </a:prstGeom>
        </p:spPr>
        <p:txBody>
          <a:bodyPr/>
          <a:lstStyle>
            <a:lvl1pPr>
              <a:defRPr/>
            </a:lvl1pPr>
          </a:lstStyle>
          <a:p>
            <a:pPr>
              <a:defRPr/>
            </a:pPr>
            <a:fld id="{D1C5493A-6BDB-4376-9959-A2573A0C5F77}" type="slidenum">
              <a:rPr lang="en-US" altLang="en-US"/>
              <a:pPr>
                <a:defRPr/>
              </a:pPr>
              <a:t>‹#›</a:t>
            </a:fld>
            <a:endParaRPr lang="th-TH" altLang="en-US"/>
          </a:p>
        </p:txBody>
      </p:sp>
    </p:spTree>
    <p:extLst>
      <p:ext uri="{BB962C8B-B14F-4D97-AF65-F5344CB8AC3E}">
        <p14:creationId xmlns:p14="http://schemas.microsoft.com/office/powerpoint/2010/main" val="286635003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277813"/>
            <a:ext cx="8229600" cy="1139825"/>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457200" y="1600200"/>
            <a:ext cx="8229600" cy="4525963"/>
          </a:xfrm>
        </p:spPr>
        <p:txBody>
          <a:bodyPr/>
          <a:lstStyle/>
          <a:p>
            <a:pPr lvl="0"/>
            <a:endParaRPr lang="en-US" noProof="0"/>
          </a:p>
        </p:txBody>
      </p:sp>
      <p:sp>
        <p:nvSpPr>
          <p:cNvPr id="4" name="Date Placeholder 3"/>
          <p:cNvSpPr>
            <a:spLocks noGrp="1"/>
          </p:cNvSpPr>
          <p:nvPr>
            <p:ph type="dt" sz="half" idx="10"/>
          </p:nvPr>
        </p:nvSpPr>
        <p:spPr>
          <a:xfrm>
            <a:off x="457200" y="6245225"/>
            <a:ext cx="2133600" cy="476250"/>
          </a:xfrm>
          <a:prstGeom prst="rect">
            <a:avLst/>
          </a:prstGeom>
        </p:spPr>
        <p:txBody>
          <a:bodyPr/>
          <a:lstStyle>
            <a:lvl1pPr>
              <a:defRPr/>
            </a:lvl1pPr>
          </a:lstStyle>
          <a:p>
            <a:pPr>
              <a:defRPr/>
            </a:pPr>
            <a:endParaRPr lang="th-TH" altLang="en-US"/>
          </a:p>
        </p:txBody>
      </p:sp>
      <p:sp>
        <p:nvSpPr>
          <p:cNvPr id="5" name="Footer Placeholder 4"/>
          <p:cNvSpPr>
            <a:spLocks noGrp="1"/>
          </p:cNvSpPr>
          <p:nvPr>
            <p:ph type="ftr" sz="quarter" idx="11"/>
          </p:nvPr>
        </p:nvSpPr>
        <p:spPr>
          <a:xfrm>
            <a:off x="3124200" y="6245225"/>
            <a:ext cx="2895600" cy="476250"/>
          </a:xfrm>
          <a:prstGeom prst="rect">
            <a:avLst/>
          </a:prstGeom>
        </p:spPr>
        <p:txBody>
          <a:bodyPr/>
          <a:lstStyle>
            <a:lvl1pPr>
              <a:defRPr/>
            </a:lvl1pPr>
          </a:lstStyle>
          <a:p>
            <a:pPr>
              <a:defRPr/>
            </a:pPr>
            <a:endParaRPr lang="th-TH" altLang="en-US"/>
          </a:p>
        </p:txBody>
      </p:sp>
      <p:sp>
        <p:nvSpPr>
          <p:cNvPr id="6" name="Slide Number Placeholder 5"/>
          <p:cNvSpPr>
            <a:spLocks noGrp="1"/>
          </p:cNvSpPr>
          <p:nvPr>
            <p:ph type="sldNum" sz="quarter" idx="12"/>
          </p:nvPr>
        </p:nvSpPr>
        <p:spPr>
          <a:xfrm>
            <a:off x="6553200" y="6245225"/>
            <a:ext cx="2133600" cy="476250"/>
          </a:xfrm>
          <a:prstGeom prst="rect">
            <a:avLst/>
          </a:prstGeom>
        </p:spPr>
        <p:txBody>
          <a:bodyPr/>
          <a:lstStyle>
            <a:lvl1pPr>
              <a:defRPr/>
            </a:lvl1pPr>
          </a:lstStyle>
          <a:p>
            <a:pPr>
              <a:defRPr/>
            </a:pPr>
            <a:fld id="{E7ED26C9-D18E-45B7-A656-B4ED1DDCC734}" type="slidenum">
              <a:rPr lang="en-US" altLang="en-US"/>
              <a:pPr>
                <a:defRPr/>
              </a:pPr>
              <a:t>‹#›</a:t>
            </a:fld>
            <a:endParaRPr lang="th-TH" altLang="en-US"/>
          </a:p>
        </p:txBody>
      </p:sp>
    </p:spTree>
    <p:extLst>
      <p:ext uri="{BB962C8B-B14F-4D97-AF65-F5344CB8AC3E}">
        <p14:creationId xmlns:p14="http://schemas.microsoft.com/office/powerpoint/2010/main" val="160046517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xAndTwoObj">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7813"/>
            <a:ext cx="8229600" cy="1139825"/>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457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4648200" y="1600200"/>
            <a:ext cx="4038600" cy="21859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4648200" y="3938588"/>
            <a:ext cx="4038600" cy="21875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Date Placeholder 5"/>
          <p:cNvSpPr>
            <a:spLocks noGrp="1"/>
          </p:cNvSpPr>
          <p:nvPr>
            <p:ph type="dt" sz="half" idx="10"/>
          </p:nvPr>
        </p:nvSpPr>
        <p:spPr>
          <a:xfrm>
            <a:off x="457200" y="6245225"/>
            <a:ext cx="2133600" cy="476250"/>
          </a:xfrm>
          <a:prstGeom prst="rect">
            <a:avLst/>
          </a:prstGeom>
        </p:spPr>
        <p:txBody>
          <a:bodyPr/>
          <a:lstStyle>
            <a:lvl1pPr>
              <a:defRPr/>
            </a:lvl1pPr>
          </a:lstStyle>
          <a:p>
            <a:pPr>
              <a:defRPr/>
            </a:pPr>
            <a:endParaRPr lang="th-TH" altLang="en-US"/>
          </a:p>
        </p:txBody>
      </p:sp>
      <p:sp>
        <p:nvSpPr>
          <p:cNvPr id="7" name="Footer Placeholder 6"/>
          <p:cNvSpPr>
            <a:spLocks noGrp="1"/>
          </p:cNvSpPr>
          <p:nvPr>
            <p:ph type="ftr" sz="quarter" idx="11"/>
          </p:nvPr>
        </p:nvSpPr>
        <p:spPr>
          <a:xfrm>
            <a:off x="3124200" y="6245225"/>
            <a:ext cx="2895600" cy="476250"/>
          </a:xfrm>
          <a:prstGeom prst="rect">
            <a:avLst/>
          </a:prstGeom>
        </p:spPr>
        <p:txBody>
          <a:bodyPr/>
          <a:lstStyle>
            <a:lvl1pPr>
              <a:defRPr/>
            </a:lvl1pPr>
          </a:lstStyle>
          <a:p>
            <a:pPr>
              <a:defRPr/>
            </a:pPr>
            <a:endParaRPr lang="th-TH" altLang="en-US"/>
          </a:p>
        </p:txBody>
      </p:sp>
      <p:sp>
        <p:nvSpPr>
          <p:cNvPr id="8" name="Slide Number Placeholder 7"/>
          <p:cNvSpPr>
            <a:spLocks noGrp="1"/>
          </p:cNvSpPr>
          <p:nvPr>
            <p:ph type="sldNum" sz="quarter" idx="12"/>
          </p:nvPr>
        </p:nvSpPr>
        <p:spPr>
          <a:xfrm>
            <a:off x="6553200" y="6245225"/>
            <a:ext cx="2133600" cy="476250"/>
          </a:xfrm>
          <a:prstGeom prst="rect">
            <a:avLst/>
          </a:prstGeom>
        </p:spPr>
        <p:txBody>
          <a:bodyPr/>
          <a:lstStyle>
            <a:lvl1pPr>
              <a:defRPr/>
            </a:lvl1pPr>
          </a:lstStyle>
          <a:p>
            <a:pPr>
              <a:defRPr/>
            </a:pPr>
            <a:fld id="{1F020C3C-F01D-48A2-89D2-AD4525EC6D7C}" type="slidenum">
              <a:rPr lang="en-US" altLang="en-US"/>
              <a:pPr>
                <a:defRPr/>
              </a:pPr>
              <a:t>‹#›</a:t>
            </a:fld>
            <a:endParaRPr lang="th-TH" altLang="en-US"/>
          </a:p>
        </p:txBody>
      </p:sp>
    </p:spTree>
    <p:extLst>
      <p:ext uri="{BB962C8B-B14F-4D97-AF65-F5344CB8AC3E}">
        <p14:creationId xmlns:p14="http://schemas.microsoft.com/office/powerpoint/2010/main" val="428501867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985870" y="203200"/>
            <a:ext cx="7586658" cy="582594"/>
          </a:xfrm>
          <a:prstGeom prst="rect">
            <a:avLst/>
          </a:prstGeom>
        </p:spPr>
        <p:txBody>
          <a:bodyPr/>
          <a:lstStyle>
            <a:lvl1pPr algn="l">
              <a:defRPr sz="2400" b="1"/>
            </a:lvl1pPr>
          </a:lstStyle>
          <a:p>
            <a:r>
              <a:rPr lang="en-US" dirty="0" smtClean="0"/>
              <a:t>Click to edit Master title style</a:t>
            </a:r>
            <a:endParaRPr lang="th-TH" dirty="0"/>
          </a:p>
        </p:txBody>
      </p:sp>
    </p:spTree>
    <p:extLst>
      <p:ext uri="{BB962C8B-B14F-4D97-AF65-F5344CB8AC3E}">
        <p14:creationId xmlns:p14="http://schemas.microsoft.com/office/powerpoint/2010/main" val="3684477259"/>
      </p:ext>
    </p:extLst>
  </p:cSld>
  <p:clrMapOvr>
    <a:masterClrMapping/>
  </p:clrMapOvr>
  <p:transition>
    <p:fade/>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image" Target="../media/image1.emf"/><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26" name="Picture 6"/>
          <p:cNvPicPr>
            <a:picLocks noChangeAspect="1"/>
          </p:cNvPicPr>
          <p:nvPr userDrawn="1"/>
        </p:nvPicPr>
        <p:blipFill>
          <a:blip r:embed="rId19">
            <a:extLst>
              <a:ext uri="{28A0092B-C50C-407E-A947-70E740481C1C}">
                <a14:useLocalDpi xmlns:a14="http://schemas.microsoft.com/office/drawing/2010/main" val="0"/>
              </a:ext>
            </a:extLst>
          </a:blip>
          <a:srcRect/>
          <a:stretch>
            <a:fillRect/>
          </a:stretch>
        </p:blipFill>
        <p:spPr bwMode="auto">
          <a:xfrm>
            <a:off x="0" y="5675313"/>
            <a:ext cx="9144000" cy="1196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7"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smtClean="0"/>
              <a:t>Click to edit Master title style</a:t>
            </a:r>
          </a:p>
        </p:txBody>
      </p:sp>
      <p:sp>
        <p:nvSpPr>
          <p:cNvPr id="1028"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71" name="Rectangle 70"/>
          <p:cNvSpPr/>
          <p:nvPr userDrawn="1"/>
        </p:nvSpPr>
        <p:spPr>
          <a:xfrm>
            <a:off x="0" y="6565900"/>
            <a:ext cx="3794125" cy="277813"/>
          </a:xfrm>
          <a:prstGeom prst="rect">
            <a:avLst/>
          </a:prstGeom>
          <a:solidFill>
            <a:srgbClr val="FF0000"/>
          </a:solidFill>
        </p:spPr>
        <p:txBody>
          <a:bodyPr>
            <a:spAutoFit/>
          </a:bodyPr>
          <a:lstStyle/>
          <a:p>
            <a:pPr defTabSz="457200" eaLnBrk="1" fontAlgn="auto" hangingPunct="1">
              <a:spcBef>
                <a:spcPts val="0"/>
              </a:spcBef>
              <a:spcAft>
                <a:spcPts val="0"/>
              </a:spcAft>
              <a:buFont typeface="Arial" pitchFamily="34" charset="0"/>
              <a:buNone/>
              <a:defRPr/>
            </a:pPr>
            <a:r>
              <a:rPr lang="en-US" sz="1200" b="1" dirty="0">
                <a:solidFill>
                  <a:prstClr val="white"/>
                </a:solidFill>
                <a:latin typeface="+mn-lt"/>
              </a:rPr>
              <a:t>© SPEC (SCGP Excellence Training Center Co., Ltd.), 2014</a:t>
            </a:r>
            <a:endParaRPr lang="en-US" sz="1050" b="1" dirty="0">
              <a:solidFill>
                <a:prstClr val="white"/>
              </a:solidFill>
              <a:latin typeface="+mn-lt"/>
            </a:endParaRPr>
          </a:p>
        </p:txBody>
      </p:sp>
      <p:sp>
        <p:nvSpPr>
          <p:cNvPr id="72" name="Slide Number Placeholder 5"/>
          <p:cNvSpPr txBox="1">
            <a:spLocks/>
          </p:cNvSpPr>
          <p:nvPr userDrawn="1"/>
        </p:nvSpPr>
        <p:spPr>
          <a:xfrm>
            <a:off x="3527425" y="6502400"/>
            <a:ext cx="2133600" cy="365125"/>
          </a:xfrm>
          <a:prstGeom prst="rect">
            <a:avLst/>
          </a:prstGeom>
        </p:spPr>
        <p:txBody>
          <a:bodyPr/>
          <a:lstStyle>
            <a:defPPr>
              <a:defRPr lang="en-US"/>
            </a:defPPr>
            <a:lvl1pPr marL="0" algn="ctr" defTabSz="457200" rtl="0" eaLnBrk="1" latinLnBrk="0" hangingPunct="1">
              <a:defRPr sz="1600" b="1" kern="1200">
                <a:solidFill>
                  <a:schemeClr val="bg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fontAlgn="auto">
              <a:spcBef>
                <a:spcPts val="0"/>
              </a:spcBef>
              <a:spcAft>
                <a:spcPts val="0"/>
              </a:spcAft>
              <a:defRPr/>
            </a:pPr>
            <a:fld id="{23F20A0D-3C01-4317-9561-ED3914768846}" type="slidenum">
              <a:rPr lang="en-US" smtClean="0">
                <a:solidFill>
                  <a:prstClr val="white"/>
                </a:solidFill>
              </a:rPr>
              <a:pPr fontAlgn="auto">
                <a:spcBef>
                  <a:spcPts val="0"/>
                </a:spcBef>
                <a:spcAft>
                  <a:spcPts val="0"/>
                </a:spcAft>
                <a:defRPr/>
              </a:pPr>
              <a:t>‹#›</a:t>
            </a:fld>
            <a:endParaRPr lang="en-US">
              <a:solidFill>
                <a:prstClr val="white"/>
              </a:solidFill>
            </a:endParaRPr>
          </a:p>
        </p:txBody>
      </p:sp>
    </p:spTree>
  </p:cSld>
  <p:clrMap bg1="lt1" tx1="dk1" bg2="lt2" tx2="dk2" accent1="accent1" accent2="accent2" accent3="accent3" accent4="accent4" accent5="accent5" accent6="accent6" hlink="hlink" folHlink="folHlink"/>
  <p:sldLayoutIdLst>
    <p:sldLayoutId id="2147484390" r:id="rId1"/>
    <p:sldLayoutId id="2147484391" r:id="rId2"/>
    <p:sldLayoutId id="2147484392" r:id="rId3"/>
    <p:sldLayoutId id="2147484393" r:id="rId4"/>
    <p:sldLayoutId id="2147484394" r:id="rId5"/>
    <p:sldLayoutId id="2147484395" r:id="rId6"/>
    <p:sldLayoutId id="2147484396" r:id="rId7"/>
    <p:sldLayoutId id="2147484397" r:id="rId8"/>
    <p:sldLayoutId id="2147484398" r:id="rId9"/>
    <p:sldLayoutId id="2147484399" r:id="rId10"/>
    <p:sldLayoutId id="2147484400" r:id="rId11"/>
    <p:sldLayoutId id="2147484401" r:id="rId12"/>
    <p:sldLayoutId id="2147484402" r:id="rId13"/>
    <p:sldLayoutId id="2147484404" r:id="rId14"/>
    <p:sldLayoutId id="2147484405" r:id="rId15"/>
    <p:sldLayoutId id="2147484406" r:id="rId16"/>
    <p:sldLayoutId id="2147484407" r:id="rId17"/>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anose="020F0502020204030204" pitchFamily="34" charset="0"/>
        </a:defRPr>
      </a:lvl2pPr>
      <a:lvl3pPr algn="ctr" rtl="0" eaLnBrk="0" fontAlgn="base" hangingPunct="0">
        <a:spcBef>
          <a:spcPct val="0"/>
        </a:spcBef>
        <a:spcAft>
          <a:spcPct val="0"/>
        </a:spcAft>
        <a:defRPr sz="4400">
          <a:solidFill>
            <a:schemeClr val="tx1"/>
          </a:solidFill>
          <a:latin typeface="Calibri" panose="020F0502020204030204" pitchFamily="34" charset="0"/>
        </a:defRPr>
      </a:lvl3pPr>
      <a:lvl4pPr algn="ctr" rtl="0" eaLnBrk="0" fontAlgn="base" hangingPunct="0">
        <a:spcBef>
          <a:spcPct val="0"/>
        </a:spcBef>
        <a:spcAft>
          <a:spcPct val="0"/>
        </a:spcAft>
        <a:defRPr sz="4400">
          <a:solidFill>
            <a:schemeClr val="tx1"/>
          </a:solidFill>
          <a:latin typeface="Calibri" panose="020F0502020204030204" pitchFamily="34" charset="0"/>
        </a:defRPr>
      </a:lvl4pPr>
      <a:lvl5pPr algn="ctr" rtl="0" eaLnBrk="0" fontAlgn="base" hangingPunct="0">
        <a:spcBef>
          <a:spcPct val="0"/>
        </a:spcBef>
        <a:spcAft>
          <a:spcPct val="0"/>
        </a:spcAft>
        <a:defRPr sz="4400">
          <a:solidFill>
            <a:schemeClr val="tx1"/>
          </a:solidFill>
          <a:latin typeface="Calibri" panose="020F0502020204030204" pitchFamily="34"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image" Target="../media/image5.jpe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7.xml"/><Relationship Id="rId1" Type="http://schemas.openxmlformats.org/officeDocument/2006/relationships/vmlDrawing" Target="../drawings/vmlDrawing1.vml"/><Relationship Id="rId4" Type="http://schemas.openxmlformats.org/officeDocument/2006/relationships/image" Target="../media/image11.emf"/></Relationships>
</file>

<file path=ppt/slides/_rels/slide19.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1.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29.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2.xml"/><Relationship Id="rId1" Type="http://schemas.openxmlformats.org/officeDocument/2006/relationships/slideLayout" Target="../slideLayouts/slideLayout2.xml"/><Relationship Id="rId4" Type="http://schemas.openxmlformats.org/officeDocument/2006/relationships/image" Target="../media/image16.jpeg"/></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file:///C:\Users\SPEC-7\Desktop\PP407\Convergence%20VDO\14%20-%20Pulp%20Bleaching.mp4" TargetMode="External"/><Relationship Id="rId1" Type="http://schemas.microsoft.com/office/2007/relationships/media" Target="file:///C:\Users\SPEC-7\Desktop\PP407\Convergence%20VDO\14%20-%20Pulp%20Bleaching.mp4" TargetMode="External"/><Relationship Id="rId5" Type="http://schemas.openxmlformats.org/officeDocument/2006/relationships/image" Target="../media/image17.png"/><Relationship Id="rId4" Type="http://schemas.openxmlformats.org/officeDocument/2006/relationships/notesSlide" Target="../notesSlides/notesSlide4.xml"/></Relationships>
</file>

<file path=ppt/slides/_rels/slide32.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19.png"/></Relationships>
</file>

<file path=ppt/slides/_rels/slide33.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21.png"/></Relationships>
</file>

<file path=ppt/slides/_rels/slide3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23.png"/></Relationships>
</file>

<file path=ppt/slides/_rels/slide3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xml"/><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image" Target="../media/image28.jpeg"/><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image" Target="../media/image31.jpeg"/><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png"/><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image" Target="../media/image48.jpeg"/><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image" Target="../media/image50.jpeg"/><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image" Target="../media/image51.jpeg"/><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image" Target="../media/image52.jpeg"/><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image" Target="../media/image27.png"/><Relationship Id="rId1" Type="http://schemas.openxmlformats.org/officeDocument/2006/relationships/slideLayout" Target="../slideLayouts/slideLayout2.xml"/><Relationship Id="rId4" Type="http://schemas.openxmlformats.org/officeDocument/2006/relationships/image" Target="../media/image56.jpeg"/></Relationships>
</file>

<file path=ppt/slides/_rels/slide64.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image" Target="../media/image58.jpeg"/><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image" Target="../media/image62.jpeg"/><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63.png"/><Relationship Id="rId1" Type="http://schemas.openxmlformats.org/officeDocument/2006/relationships/slideLayout" Target="../slideLayouts/slideLayout2.xml"/><Relationship Id="rId6" Type="http://schemas.openxmlformats.org/officeDocument/2006/relationships/image" Target="../media/image67.png"/><Relationship Id="rId5" Type="http://schemas.openxmlformats.org/officeDocument/2006/relationships/image" Target="../media/image66.jpeg"/><Relationship Id="rId4" Type="http://schemas.openxmlformats.org/officeDocument/2006/relationships/image" Target="../media/image65.png"/></Relationships>
</file>

<file path=ppt/slides/_rels/slide72.xml.rels><?xml version="1.0" encoding="UTF-8" standalone="yes"?>
<Relationships xmlns="http://schemas.openxmlformats.org/package/2006/relationships"><Relationship Id="rId2" Type="http://schemas.openxmlformats.org/officeDocument/2006/relationships/image" Target="../media/image68.emf"/><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3" Type="http://schemas.openxmlformats.org/officeDocument/2006/relationships/image" Target="../media/image70.wmf"/><Relationship Id="rId2" Type="http://schemas.openxmlformats.org/officeDocument/2006/relationships/image" Target="../media/image69.wmf"/><Relationship Id="rId1" Type="http://schemas.openxmlformats.org/officeDocument/2006/relationships/slideLayout" Target="../slideLayouts/slideLayout2.xml"/><Relationship Id="rId4" Type="http://schemas.openxmlformats.org/officeDocument/2006/relationships/image" Target="../media/image71.wmf"/></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3" Type="http://schemas.openxmlformats.org/officeDocument/2006/relationships/image" Target="../media/image73.jpeg"/><Relationship Id="rId2" Type="http://schemas.openxmlformats.org/officeDocument/2006/relationships/image" Target="../media/image72.jpeg"/><Relationship Id="rId1" Type="http://schemas.openxmlformats.org/officeDocument/2006/relationships/slideLayout" Target="../slideLayouts/slideLayout12.xml"/></Relationships>
</file>

<file path=ppt/slides/_rels/slide77.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Layout" Target="../slideLayouts/slideLayout14.xml"/><Relationship Id="rId1" Type="http://schemas.openxmlformats.org/officeDocument/2006/relationships/vmlDrawing" Target="../drawings/vmlDrawing2.vml"/><Relationship Id="rId4" Type="http://schemas.openxmlformats.org/officeDocument/2006/relationships/image" Target="../media/image74.emf"/></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2" Type="http://schemas.openxmlformats.org/officeDocument/2006/relationships/image" Target="../media/image76.jpeg"/><Relationship Id="rId1" Type="http://schemas.openxmlformats.org/officeDocument/2006/relationships/slideLayout" Target="../slideLayouts/slideLayout6.xml"/></Relationships>
</file>

<file path=ppt/slides/_rels/slide84.xml.rels><?xml version="1.0" encoding="UTF-8" standalone="yes"?>
<Relationships xmlns="http://schemas.openxmlformats.org/package/2006/relationships"><Relationship Id="rId3" Type="http://schemas.openxmlformats.org/officeDocument/2006/relationships/image" Target="../media/image77.wmf"/><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2" Type="http://schemas.openxmlformats.org/officeDocument/2006/relationships/image" Target="../media/image78.jpeg"/><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2" Type="http://schemas.openxmlformats.org/officeDocument/2006/relationships/image" Target="../media/image79.emf"/><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2" Type="http://schemas.openxmlformats.org/officeDocument/2006/relationships/image" Target="../media/image80.png"/><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6.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notesSlide" Target="../notesSlides/notesSlide26.xml"/><Relationship Id="rId1" Type="http://schemas.openxmlformats.org/officeDocument/2006/relationships/slideLayout" Target="../slideLayouts/slideLayout12.xml"/></Relationships>
</file>

<file path=ppt/slides/_rels/slide114.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notesSlide" Target="../notesSlides/notesSlide27.xml"/><Relationship Id="rId1" Type="http://schemas.openxmlformats.org/officeDocument/2006/relationships/slideLayout" Target="../slideLayouts/slideLayout12.xml"/></Relationships>
</file>

<file path=ppt/slides/_rels/slide115.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6.xml"/><Relationship Id="rId1" Type="http://schemas.openxmlformats.org/officeDocument/2006/relationships/vmlDrawing" Target="../drawings/vmlDrawing3.vml"/><Relationship Id="rId5" Type="http://schemas.openxmlformats.org/officeDocument/2006/relationships/image" Target="../media/image86.wmf"/><Relationship Id="rId4" Type="http://schemas.openxmlformats.org/officeDocument/2006/relationships/oleObject" Target="../embeddings/oleObject3.bin"/></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Layout" Target="../slideLayouts/slideLayout6.xml"/></Relationships>
</file>

<file path=ppt/slides/_rels/slide118.xml.rels><?xml version="1.0" encoding="UTF-8" standalone="yes"?>
<Relationships xmlns="http://schemas.openxmlformats.org/package/2006/relationships"><Relationship Id="rId2" Type="http://schemas.openxmlformats.org/officeDocument/2006/relationships/image" Target="../media/image88.jpeg"/><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notesSlide" Target="../notesSlides/notesSlide30.xml"/><Relationship Id="rId1" Type="http://schemas.openxmlformats.org/officeDocument/2006/relationships/slideLayout" Target="../slideLayouts/slideLayout2.xml"/><Relationship Id="rId4" Type="http://schemas.openxmlformats.org/officeDocument/2006/relationships/image" Target="../media/image90.png"/></Relationships>
</file>

<file path=ppt/slides/_rels/slide121.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notesSlide" Target="../notesSlides/notesSlide31.xml"/><Relationship Id="rId1" Type="http://schemas.openxmlformats.org/officeDocument/2006/relationships/slideLayout" Target="../slideLayouts/slideLayout2.xml"/><Relationship Id="rId4" Type="http://schemas.openxmlformats.org/officeDocument/2006/relationships/image" Target="../media/image92.png"/></Relationships>
</file>

<file path=ppt/slides/_rels/slide122.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32.xml"/><Relationship Id="rId1" Type="http://schemas.openxmlformats.org/officeDocument/2006/relationships/slideLayout" Target="../slideLayouts/slideLayout2.xml"/><Relationship Id="rId4" Type="http://schemas.openxmlformats.org/officeDocument/2006/relationships/image" Target="../media/image94.png"/></Relationships>
</file>

<file path=ppt/slides/_rels/slide123.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image" Target="../media/image96.jpeg"/><Relationship Id="rId1" Type="http://schemas.openxmlformats.org/officeDocument/2006/relationships/slideLayout" Target="../slideLayouts/slideLayout4.xml"/><Relationship Id="rId4" Type="http://schemas.openxmlformats.org/officeDocument/2006/relationships/image" Target="../media/image98.pn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3" Type="http://schemas.openxmlformats.org/officeDocument/2006/relationships/image" Target="../media/image99.jpeg"/><Relationship Id="rId2" Type="http://schemas.openxmlformats.org/officeDocument/2006/relationships/notesSlide" Target="../notesSlides/notesSlide35.xml"/><Relationship Id="rId1" Type="http://schemas.openxmlformats.org/officeDocument/2006/relationships/slideLayout" Target="../slideLayouts/slideLayout2.xml"/><Relationship Id="rId5" Type="http://schemas.openxmlformats.org/officeDocument/2006/relationships/image" Target="../media/image101.jpeg"/><Relationship Id="rId4" Type="http://schemas.openxmlformats.org/officeDocument/2006/relationships/image" Target="../media/image100.jpeg"/></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2" Type="http://schemas.openxmlformats.org/officeDocument/2006/relationships/image" Target="../media/image100.jpeg"/><Relationship Id="rId1" Type="http://schemas.openxmlformats.org/officeDocument/2006/relationships/slideLayout" Target="../slideLayouts/slideLayout12.xml"/></Relationships>
</file>

<file path=ppt/slides/_rels/slide131.xml.rels><?xml version="1.0" encoding="UTF-8" standalone="yes"?>
<Relationships xmlns="http://schemas.openxmlformats.org/package/2006/relationships"><Relationship Id="rId2" Type="http://schemas.openxmlformats.org/officeDocument/2006/relationships/image" Target="../media/image99.jpeg"/><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2" Type="http://schemas.openxmlformats.org/officeDocument/2006/relationships/image" Target="../media/image97.png"/><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2" Type="http://schemas.openxmlformats.org/officeDocument/2006/relationships/image" Target="../media/image102.png"/><Relationship Id="rId1" Type="http://schemas.openxmlformats.org/officeDocument/2006/relationships/slideLayout" Target="../slideLayouts/slideLayout12.xml"/></Relationships>
</file>

<file path=ppt/slides/_rels/slide136.xml.rels><?xml version="1.0" encoding="UTF-8" standalone="yes"?>
<Relationships xmlns="http://schemas.openxmlformats.org/package/2006/relationships"><Relationship Id="rId2" Type="http://schemas.openxmlformats.org/officeDocument/2006/relationships/image" Target="../media/image103.bin"/><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3" Type="http://schemas.openxmlformats.org/officeDocument/2006/relationships/image" Target="../media/image105.jpeg"/><Relationship Id="rId2" Type="http://schemas.openxmlformats.org/officeDocument/2006/relationships/image" Target="../media/image104.jpeg"/><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image" Target="../media/image106.jpeg"/><Relationship Id="rId1" Type="http://schemas.openxmlformats.org/officeDocument/2006/relationships/slideLayout" Target="../slideLayouts/slideLayout13.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46.xml.rels><?xml version="1.0" encoding="UTF-8" standalone="yes"?>
<Relationships xmlns="http://schemas.openxmlformats.org/package/2006/relationships"><Relationship Id="rId2" Type="http://schemas.openxmlformats.org/officeDocument/2006/relationships/image" Target="../media/image108.jpeg"/><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2" Type="http://schemas.openxmlformats.org/officeDocument/2006/relationships/image" Target="../media/image110.jpeg"/><Relationship Id="rId1" Type="http://schemas.openxmlformats.org/officeDocument/2006/relationships/slideLayout" Target="../slideLayouts/slideLayout12.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2" Type="http://schemas.openxmlformats.org/officeDocument/2006/relationships/image" Target="../media/image112.jpeg"/><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3" Type="http://schemas.openxmlformats.org/officeDocument/2006/relationships/image" Target="../media/image113.jpeg"/><Relationship Id="rId2" Type="http://schemas.openxmlformats.org/officeDocument/2006/relationships/notesSlide" Target="../notesSlides/notesSlide41.xml"/><Relationship Id="rId1" Type="http://schemas.openxmlformats.org/officeDocument/2006/relationships/slideLayout" Target="../slideLayouts/slideLayout4.xml"/><Relationship Id="rId5" Type="http://schemas.openxmlformats.org/officeDocument/2006/relationships/slide" Target="slide137.xml"/><Relationship Id="rId4" Type="http://schemas.openxmlformats.org/officeDocument/2006/relationships/image" Target="../media/image114.jpeg"/></Relationships>
</file>

<file path=ppt/slides/_rels/slide156.xml.rels><?xml version="1.0" encoding="UTF-8" standalone="yes"?>
<Relationships xmlns="http://schemas.openxmlformats.org/package/2006/relationships"><Relationship Id="rId2" Type="http://schemas.openxmlformats.org/officeDocument/2006/relationships/image" Target="../media/image115.jpeg"/><Relationship Id="rId1" Type="http://schemas.openxmlformats.org/officeDocument/2006/relationships/slideLayout" Target="../slideLayouts/slideLayout12.xml"/></Relationships>
</file>

<file path=ppt/slides/_rels/slide157.xml.rels><?xml version="1.0" encoding="UTF-8" standalone="yes"?>
<Relationships xmlns="http://schemas.openxmlformats.org/package/2006/relationships"><Relationship Id="rId3" Type="http://schemas.openxmlformats.org/officeDocument/2006/relationships/image" Target="../media/image116.jpeg"/><Relationship Id="rId2" Type="http://schemas.openxmlformats.org/officeDocument/2006/relationships/notesSlide" Target="../notesSlides/notesSlide42.xml"/><Relationship Id="rId1" Type="http://schemas.openxmlformats.org/officeDocument/2006/relationships/slideLayout" Target="../slideLayouts/slideLayout16.xml"/><Relationship Id="rId6" Type="http://schemas.openxmlformats.org/officeDocument/2006/relationships/image" Target="../media/image119.jpeg"/><Relationship Id="rId5" Type="http://schemas.openxmlformats.org/officeDocument/2006/relationships/image" Target="../media/image118.jpeg"/><Relationship Id="rId4" Type="http://schemas.openxmlformats.org/officeDocument/2006/relationships/image" Target="../media/image117.jpeg"/></Relationships>
</file>

<file path=ppt/slides/_rels/slide158.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notesSlide" Target="../notesSlides/notesSlide43.xml"/><Relationship Id="rId1" Type="http://schemas.openxmlformats.org/officeDocument/2006/relationships/slideLayout" Target="../slideLayouts/slideLayout2.xml"/><Relationship Id="rId6" Type="http://schemas.openxmlformats.org/officeDocument/2006/relationships/image" Target="../media/image123.png"/><Relationship Id="rId5" Type="http://schemas.openxmlformats.org/officeDocument/2006/relationships/image" Target="../media/image122.png"/><Relationship Id="rId4" Type="http://schemas.openxmlformats.org/officeDocument/2006/relationships/image" Target="../media/image121.png"/></Relationships>
</file>

<file path=ppt/slides/_rels/slide159.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notesSlide" Target="../notesSlides/notesSlide44.xml"/><Relationship Id="rId1" Type="http://schemas.openxmlformats.org/officeDocument/2006/relationships/slideLayout" Target="../slideLayouts/slideLayout6.xml"/><Relationship Id="rId5" Type="http://schemas.openxmlformats.org/officeDocument/2006/relationships/image" Target="../media/image126.png"/><Relationship Id="rId4" Type="http://schemas.openxmlformats.org/officeDocument/2006/relationships/image" Target="../media/image125.png"/></Relationships>
</file>

<file path=ppt/slides/_rels/slide160.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image" Target="../media/image127.png"/><Relationship Id="rId1" Type="http://schemas.openxmlformats.org/officeDocument/2006/relationships/slideLayout" Target="../slideLayouts/slideLayout6.xml"/><Relationship Id="rId4" Type="http://schemas.openxmlformats.org/officeDocument/2006/relationships/image" Target="../media/image129.png"/></Relationships>
</file>

<file path=ppt/slides/_rels/slide161.xml.rels><?xml version="1.0" encoding="UTF-8" standalone="yes"?>
<Relationships xmlns="http://schemas.openxmlformats.org/package/2006/relationships"><Relationship Id="rId2" Type="http://schemas.openxmlformats.org/officeDocument/2006/relationships/image" Target="../media/image130.png"/><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3" Type="http://schemas.openxmlformats.org/officeDocument/2006/relationships/image" Target="../media/image131.jpeg"/><Relationship Id="rId2" Type="http://schemas.openxmlformats.org/officeDocument/2006/relationships/notesSlide" Target="../notesSlides/notesSlide46.xml"/><Relationship Id="rId1" Type="http://schemas.openxmlformats.org/officeDocument/2006/relationships/slideLayout" Target="../slideLayouts/slideLayout4.xml"/><Relationship Id="rId4" Type="http://schemas.openxmlformats.org/officeDocument/2006/relationships/image" Target="../media/image132.jpeg"/></Relationships>
</file>

<file path=ppt/slides/_rels/slide164.xml.rels><?xml version="1.0" encoding="UTF-8" standalone="yes"?>
<Relationships xmlns="http://schemas.openxmlformats.org/package/2006/relationships"><Relationship Id="rId2" Type="http://schemas.openxmlformats.org/officeDocument/2006/relationships/image" Target="../media/image133.png"/><Relationship Id="rId1" Type="http://schemas.openxmlformats.org/officeDocument/2006/relationships/slideLayout" Target="../slideLayouts/slideLayout1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5.xml"/></Relationships>
</file>

<file path=ppt/slides/_rels/slide169.xml.rels><?xml version="1.0" encoding="UTF-8" standalone="yes"?>
<Relationships xmlns="http://schemas.openxmlformats.org/package/2006/relationships"><Relationship Id="rId2" Type="http://schemas.openxmlformats.org/officeDocument/2006/relationships/image" Target="../media/image134.jpeg"/><Relationship Id="rId1" Type="http://schemas.openxmlformats.org/officeDocument/2006/relationships/slideLayout" Target="../slideLayouts/slideLayout12.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7.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172.xml.rels><?xml version="1.0" encoding="UTF-8" standalone="yes"?>
<Relationships xmlns="http://schemas.openxmlformats.org/package/2006/relationships"><Relationship Id="rId3" Type="http://schemas.openxmlformats.org/officeDocument/2006/relationships/image" Target="../media/image135.jpeg"/><Relationship Id="rId2" Type="http://schemas.openxmlformats.org/officeDocument/2006/relationships/notesSlide" Target="../notesSlides/notesSlide50.xml"/><Relationship Id="rId1" Type="http://schemas.openxmlformats.org/officeDocument/2006/relationships/slideLayout" Target="../slideLayouts/slideLayout1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5.xml.rels><?xml version="1.0" encoding="UTF-8" standalone="yes"?>
<Relationships xmlns="http://schemas.openxmlformats.org/package/2006/relationships"><Relationship Id="rId3" Type="http://schemas.openxmlformats.org/officeDocument/2006/relationships/image" Target="../media/image110.jpeg"/><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3" Type="http://schemas.openxmlformats.org/officeDocument/2006/relationships/slideLayout" Target="../slideLayouts/slideLayout17.xml"/><Relationship Id="rId2" Type="http://schemas.openxmlformats.org/officeDocument/2006/relationships/video" Target="file:///C:\Users\SPEC-7\Desktop\SPEC%20Files\PP106%20Lime%20Kiln\convert\03.mp4" TargetMode="External"/><Relationship Id="rId1" Type="http://schemas.microsoft.com/office/2007/relationships/media" Target="file:///C:\Users\SPEC-7\Desktop\SPEC%20Files\PP106%20Lime%20Kiln\convert\03.mp4" TargetMode="External"/><Relationship Id="rId6" Type="http://schemas.openxmlformats.org/officeDocument/2006/relationships/image" Target="../media/image137.png"/><Relationship Id="rId5" Type="http://schemas.openxmlformats.org/officeDocument/2006/relationships/image" Target="../media/image136.png"/><Relationship Id="rId4" Type="http://schemas.openxmlformats.org/officeDocument/2006/relationships/notesSlide" Target="../notesSlides/notesSlide52.xml"/></Relationships>
</file>

<file path=ppt/slides/_rels/slide177.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notesSlide" Target="../notesSlides/notesSlide53.xml"/><Relationship Id="rId1" Type="http://schemas.openxmlformats.org/officeDocument/2006/relationships/slideLayout" Target="../slideLayouts/slideLayout17.xml"/><Relationship Id="rId4" Type="http://schemas.openxmlformats.org/officeDocument/2006/relationships/image" Target="../media/image139.png"/></Relationships>
</file>

<file path=ppt/slides/_rels/slide178.xml.rels><?xml version="1.0" encoding="UTF-8" standalone="yes"?>
<Relationships xmlns="http://schemas.openxmlformats.org/package/2006/relationships"><Relationship Id="rId3" Type="http://schemas.openxmlformats.org/officeDocument/2006/relationships/image" Target="../media/image140.png"/><Relationship Id="rId2" Type="http://schemas.openxmlformats.org/officeDocument/2006/relationships/notesSlide" Target="../notesSlides/notesSlide54.xml"/><Relationship Id="rId1" Type="http://schemas.openxmlformats.org/officeDocument/2006/relationships/slideLayout" Target="../slideLayouts/slideLayout17.xml"/><Relationship Id="rId4" Type="http://schemas.openxmlformats.org/officeDocument/2006/relationships/image" Target="../media/image141.png"/></Relationships>
</file>

<file path=ppt/slides/_rels/slide179.xml.rels><?xml version="1.0" encoding="UTF-8" standalone="yes"?>
<Relationships xmlns="http://schemas.openxmlformats.org/package/2006/relationships"><Relationship Id="rId3" Type="http://schemas.openxmlformats.org/officeDocument/2006/relationships/image" Target="../media/image142.png"/><Relationship Id="rId2" Type="http://schemas.openxmlformats.org/officeDocument/2006/relationships/notesSlide" Target="../notesSlides/notesSlide55.xml"/><Relationship Id="rId1" Type="http://schemas.openxmlformats.org/officeDocument/2006/relationships/slideLayout" Target="../slideLayouts/slideLayout17.xml"/><Relationship Id="rId4" Type="http://schemas.openxmlformats.org/officeDocument/2006/relationships/image" Target="../media/image143.png"/></Relationships>
</file>

<file path=ppt/slides/_rels/slide180.xml.rels><?xml version="1.0" encoding="UTF-8" standalone="yes"?>
<Relationships xmlns="http://schemas.openxmlformats.org/package/2006/relationships"><Relationship Id="rId3" Type="http://schemas.openxmlformats.org/officeDocument/2006/relationships/image" Target="../media/image144.png"/><Relationship Id="rId2" Type="http://schemas.openxmlformats.org/officeDocument/2006/relationships/notesSlide" Target="../notesSlides/notesSlide56.xml"/><Relationship Id="rId1" Type="http://schemas.openxmlformats.org/officeDocument/2006/relationships/slideLayout" Target="../slideLayouts/slideLayout17.xml"/></Relationships>
</file>

<file path=ppt/slides/_rels/slide181.xml.rels><?xml version="1.0" encoding="UTF-8" standalone="yes"?>
<Relationships xmlns="http://schemas.openxmlformats.org/package/2006/relationships"><Relationship Id="rId3" Type="http://schemas.openxmlformats.org/officeDocument/2006/relationships/notesSlide" Target="../notesSlides/notesSlide57.xml"/><Relationship Id="rId2" Type="http://schemas.openxmlformats.org/officeDocument/2006/relationships/slideLayout" Target="../slideLayouts/slideLayout17.xml"/><Relationship Id="rId1" Type="http://schemas.openxmlformats.org/officeDocument/2006/relationships/video" Target="file:///C:\Users\pisach\Desktop\Lime%20Kiln\convert\04.mp4" TargetMode="External"/><Relationship Id="rId4" Type="http://schemas.openxmlformats.org/officeDocument/2006/relationships/image" Target="../media/image145.png"/></Relationships>
</file>

<file path=ppt/slides/_rels/slide182.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notesSlide" Target="../notesSlides/notesSlide58.xml"/><Relationship Id="rId1" Type="http://schemas.openxmlformats.org/officeDocument/2006/relationships/slideLayout" Target="../slideLayouts/slideLayout17.xml"/><Relationship Id="rId4" Type="http://schemas.openxmlformats.org/officeDocument/2006/relationships/image" Target="../media/image147.png"/></Relationships>
</file>

<file path=ppt/slides/_rels/slide183.xml.rels><?xml version="1.0" encoding="UTF-8" standalone="yes"?>
<Relationships xmlns="http://schemas.openxmlformats.org/package/2006/relationships"><Relationship Id="rId3" Type="http://schemas.openxmlformats.org/officeDocument/2006/relationships/image" Target="../media/image148.png"/><Relationship Id="rId2" Type="http://schemas.openxmlformats.org/officeDocument/2006/relationships/notesSlide" Target="../notesSlides/notesSlide59.xml"/><Relationship Id="rId1" Type="http://schemas.openxmlformats.org/officeDocument/2006/relationships/slideLayout" Target="../slideLayouts/slideLayout17.xml"/><Relationship Id="rId4" Type="http://schemas.openxmlformats.org/officeDocument/2006/relationships/image" Target="../media/image149.png"/></Relationships>
</file>

<file path=ppt/slides/_rels/slide184.xml.rels><?xml version="1.0" encoding="UTF-8" standalone="yes"?>
<Relationships xmlns="http://schemas.openxmlformats.org/package/2006/relationships"><Relationship Id="rId3" Type="http://schemas.openxmlformats.org/officeDocument/2006/relationships/notesSlide" Target="../notesSlides/notesSlide60.xml"/><Relationship Id="rId2" Type="http://schemas.openxmlformats.org/officeDocument/2006/relationships/slideLayout" Target="../slideLayouts/slideLayout17.xml"/><Relationship Id="rId1" Type="http://schemas.openxmlformats.org/officeDocument/2006/relationships/video" Target="file:///C:\Users\pisach\Desktop\Lime%20Kiln\convert\05.mp4" TargetMode="External"/><Relationship Id="rId4" Type="http://schemas.openxmlformats.org/officeDocument/2006/relationships/image" Target="../media/image150.png"/></Relationships>
</file>

<file path=ppt/slides/_rels/slide185.xml.rels><?xml version="1.0" encoding="UTF-8" standalone="yes"?>
<Relationships xmlns="http://schemas.openxmlformats.org/package/2006/relationships"><Relationship Id="rId3" Type="http://schemas.openxmlformats.org/officeDocument/2006/relationships/image" Target="../media/image151.png"/><Relationship Id="rId2" Type="http://schemas.openxmlformats.org/officeDocument/2006/relationships/notesSlide" Target="../notesSlides/notesSlide61.xml"/><Relationship Id="rId1" Type="http://schemas.openxmlformats.org/officeDocument/2006/relationships/slideLayout" Target="../slideLayouts/slideLayout17.xml"/><Relationship Id="rId4" Type="http://schemas.openxmlformats.org/officeDocument/2006/relationships/image" Target="../media/image152.png"/></Relationships>
</file>

<file path=ppt/slides/_rels/slide186.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notesSlide" Target="../notesSlides/notesSlide62.xml"/><Relationship Id="rId1" Type="http://schemas.openxmlformats.org/officeDocument/2006/relationships/slideLayout" Target="../slideLayouts/slideLayout17.xml"/></Relationships>
</file>

<file path=ppt/slides/_rels/slide187.xml.rels><?xml version="1.0" encoding="UTF-8" standalone="yes"?>
<Relationships xmlns="http://schemas.openxmlformats.org/package/2006/relationships"><Relationship Id="rId2" Type="http://schemas.openxmlformats.org/officeDocument/2006/relationships/image" Target="../media/image98.png"/><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3" Type="http://schemas.openxmlformats.org/officeDocument/2006/relationships/image" Target="../media/image155.png"/><Relationship Id="rId2" Type="http://schemas.openxmlformats.org/officeDocument/2006/relationships/image" Target="../media/image154.jpeg"/><Relationship Id="rId1" Type="http://schemas.openxmlformats.org/officeDocument/2006/relationships/slideLayout" Target="../slideLayouts/slideLayout12.xml"/></Relationships>
</file>

<file path=ppt/slides/_rels/slide189.xml.rels><?xml version="1.0" encoding="UTF-8" standalone="yes"?>
<Relationships xmlns="http://schemas.openxmlformats.org/package/2006/relationships"><Relationship Id="rId3" Type="http://schemas.openxmlformats.org/officeDocument/2006/relationships/image" Target="../media/image157.png"/><Relationship Id="rId2" Type="http://schemas.openxmlformats.org/officeDocument/2006/relationships/image" Target="../media/image156.png"/><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2" Type="http://schemas.openxmlformats.org/officeDocument/2006/relationships/image" Target="../media/image158.png"/><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2" Type="http://schemas.openxmlformats.org/officeDocument/2006/relationships/image" Target="../media/image159.png"/><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2" Type="http://schemas.openxmlformats.org/officeDocument/2006/relationships/image" Target="../media/image160.png"/><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3" Type="http://schemas.openxmlformats.org/officeDocument/2006/relationships/image" Target="../media/image155.png"/><Relationship Id="rId2" Type="http://schemas.openxmlformats.org/officeDocument/2006/relationships/image" Target="../media/image154.jpeg"/><Relationship Id="rId1" Type="http://schemas.openxmlformats.org/officeDocument/2006/relationships/slideLayout" Target="../slideLayouts/slideLayout12.xml"/></Relationships>
</file>

<file path=ppt/slides/_rels/slide194.xml.rels><?xml version="1.0" encoding="UTF-8" standalone="yes"?>
<Relationships xmlns="http://schemas.openxmlformats.org/package/2006/relationships"><Relationship Id="rId3" Type="http://schemas.openxmlformats.org/officeDocument/2006/relationships/image" Target="../media/image162.png"/><Relationship Id="rId2" Type="http://schemas.openxmlformats.org/officeDocument/2006/relationships/image" Target="../media/image161.png"/><Relationship Id="rId1" Type="http://schemas.openxmlformats.org/officeDocument/2006/relationships/slideLayout" Target="../slideLayouts/slideLayout2.xml"/><Relationship Id="rId4" Type="http://schemas.openxmlformats.org/officeDocument/2006/relationships/image" Target="../media/image163.jpeg"/></Relationships>
</file>

<file path=ppt/slides/_rels/slide195.xml.rels><?xml version="1.0" encoding="UTF-8" standalone="yes"?>
<Relationships xmlns="http://schemas.openxmlformats.org/package/2006/relationships"><Relationship Id="rId8" Type="http://schemas.openxmlformats.org/officeDocument/2006/relationships/image" Target="../media/image169.png"/><Relationship Id="rId13" Type="http://schemas.openxmlformats.org/officeDocument/2006/relationships/image" Target="../media/image174.png"/><Relationship Id="rId3" Type="http://schemas.openxmlformats.org/officeDocument/2006/relationships/image" Target="../media/image164.png"/><Relationship Id="rId7" Type="http://schemas.openxmlformats.org/officeDocument/2006/relationships/image" Target="../media/image168.png"/><Relationship Id="rId12" Type="http://schemas.openxmlformats.org/officeDocument/2006/relationships/image" Target="../media/image173.png"/><Relationship Id="rId2" Type="http://schemas.openxmlformats.org/officeDocument/2006/relationships/notesSlide" Target="../notesSlides/notesSlide63.xml"/><Relationship Id="rId1" Type="http://schemas.openxmlformats.org/officeDocument/2006/relationships/slideLayout" Target="../slideLayouts/slideLayout2.xml"/><Relationship Id="rId6" Type="http://schemas.openxmlformats.org/officeDocument/2006/relationships/image" Target="../media/image167.png"/><Relationship Id="rId11" Type="http://schemas.openxmlformats.org/officeDocument/2006/relationships/image" Target="../media/image172.png"/><Relationship Id="rId5" Type="http://schemas.openxmlformats.org/officeDocument/2006/relationships/image" Target="../media/image166.png"/><Relationship Id="rId10" Type="http://schemas.openxmlformats.org/officeDocument/2006/relationships/image" Target="../media/image171.png"/><Relationship Id="rId4" Type="http://schemas.openxmlformats.org/officeDocument/2006/relationships/image" Target="../media/image165.png"/><Relationship Id="rId9" Type="http://schemas.openxmlformats.org/officeDocument/2006/relationships/image" Target="../media/image170.png"/></Relationships>
</file>

<file path=ppt/slides/_rels/slide196.xml.rels><?xml version="1.0" encoding="UTF-8" standalone="yes"?>
<Relationships xmlns="http://schemas.openxmlformats.org/package/2006/relationships"><Relationship Id="rId8" Type="http://schemas.openxmlformats.org/officeDocument/2006/relationships/image" Target="../media/image178.png"/><Relationship Id="rId13" Type="http://schemas.openxmlformats.org/officeDocument/2006/relationships/image" Target="../media/image183.png"/><Relationship Id="rId18" Type="http://schemas.openxmlformats.org/officeDocument/2006/relationships/image" Target="../media/image188.png"/><Relationship Id="rId3" Type="http://schemas.openxmlformats.org/officeDocument/2006/relationships/image" Target="../media/image175.png"/><Relationship Id="rId7" Type="http://schemas.openxmlformats.org/officeDocument/2006/relationships/image" Target="../media/image166.png"/><Relationship Id="rId12" Type="http://schemas.openxmlformats.org/officeDocument/2006/relationships/image" Target="../media/image182.png"/><Relationship Id="rId17" Type="http://schemas.openxmlformats.org/officeDocument/2006/relationships/image" Target="../media/image187.png"/><Relationship Id="rId2" Type="http://schemas.openxmlformats.org/officeDocument/2006/relationships/notesSlide" Target="../notesSlides/notesSlide64.xml"/><Relationship Id="rId16" Type="http://schemas.openxmlformats.org/officeDocument/2006/relationships/image" Target="../media/image186.png"/><Relationship Id="rId1" Type="http://schemas.openxmlformats.org/officeDocument/2006/relationships/slideLayout" Target="../slideLayouts/slideLayout2.xml"/><Relationship Id="rId6" Type="http://schemas.openxmlformats.org/officeDocument/2006/relationships/image" Target="../media/image177.jpeg"/><Relationship Id="rId11" Type="http://schemas.openxmlformats.org/officeDocument/2006/relationships/image" Target="../media/image181.png"/><Relationship Id="rId5" Type="http://schemas.openxmlformats.org/officeDocument/2006/relationships/image" Target="../media/image176.png"/><Relationship Id="rId15" Type="http://schemas.openxmlformats.org/officeDocument/2006/relationships/image" Target="../media/image185.png"/><Relationship Id="rId10" Type="http://schemas.openxmlformats.org/officeDocument/2006/relationships/image" Target="../media/image180.png"/><Relationship Id="rId4" Type="http://schemas.openxmlformats.org/officeDocument/2006/relationships/image" Target="../media/image164.png"/><Relationship Id="rId9" Type="http://schemas.openxmlformats.org/officeDocument/2006/relationships/image" Target="../media/image179.png"/><Relationship Id="rId14" Type="http://schemas.openxmlformats.org/officeDocument/2006/relationships/image" Target="../media/image184.png"/></Relationships>
</file>

<file path=ppt/slides/_rels/slide197.xml.rels><?xml version="1.0" encoding="UTF-8" standalone="yes"?>
<Relationships xmlns="http://schemas.openxmlformats.org/package/2006/relationships"><Relationship Id="rId2" Type="http://schemas.openxmlformats.org/officeDocument/2006/relationships/image" Target="../media/image189.jpeg"/><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3" Type="http://schemas.openxmlformats.org/officeDocument/2006/relationships/notesSlide" Target="../notesSlides/notesSlide65.xml"/><Relationship Id="rId2" Type="http://schemas.openxmlformats.org/officeDocument/2006/relationships/slideLayout" Target="../slideLayouts/slideLayout17.xml"/><Relationship Id="rId1" Type="http://schemas.openxmlformats.org/officeDocument/2006/relationships/video" Target="file:///C:\Users\pisach\Desktop\Lime%20Kiln\convert\06.mp4" TargetMode="External"/><Relationship Id="rId4" Type="http://schemas.openxmlformats.org/officeDocument/2006/relationships/image" Target="../media/image190.png"/></Relationships>
</file>

<file path=ppt/slides/_rels/slide199.xml.rels><?xml version="1.0" encoding="UTF-8" standalone="yes"?>
<Relationships xmlns="http://schemas.openxmlformats.org/package/2006/relationships"><Relationship Id="rId3" Type="http://schemas.openxmlformats.org/officeDocument/2006/relationships/image" Target="../media/image191.png"/><Relationship Id="rId2" Type="http://schemas.openxmlformats.org/officeDocument/2006/relationships/notesSlide" Target="../notesSlides/notesSlide66.xml"/><Relationship Id="rId1" Type="http://schemas.openxmlformats.org/officeDocument/2006/relationships/slideLayout" Target="../slideLayouts/slideLayout17.xml"/><Relationship Id="rId4" Type="http://schemas.openxmlformats.org/officeDocument/2006/relationships/image" Target="../media/image192.png"/></Relationships>
</file>

<file path=ppt/slides/_rels/slide200.xml.rels><?xml version="1.0" encoding="UTF-8" standalone="yes"?>
<Relationships xmlns="http://schemas.openxmlformats.org/package/2006/relationships"><Relationship Id="rId3" Type="http://schemas.openxmlformats.org/officeDocument/2006/relationships/image" Target="../media/image193.png"/><Relationship Id="rId2" Type="http://schemas.openxmlformats.org/officeDocument/2006/relationships/notesSlide" Target="../notesSlides/notesSlide67.xml"/><Relationship Id="rId1" Type="http://schemas.openxmlformats.org/officeDocument/2006/relationships/slideLayout" Target="../slideLayouts/slideLayout17.xml"/><Relationship Id="rId6" Type="http://schemas.openxmlformats.org/officeDocument/2006/relationships/image" Target="../media/image196.png"/><Relationship Id="rId5" Type="http://schemas.openxmlformats.org/officeDocument/2006/relationships/image" Target="../media/image195.png"/><Relationship Id="rId4" Type="http://schemas.openxmlformats.org/officeDocument/2006/relationships/image" Target="../media/image194.png"/></Relationships>
</file>

<file path=ppt/slides/_rels/slide201.xml.rels><?xml version="1.0" encoding="UTF-8" standalone="yes"?>
<Relationships xmlns="http://schemas.openxmlformats.org/package/2006/relationships"><Relationship Id="rId3" Type="http://schemas.openxmlformats.org/officeDocument/2006/relationships/image" Target="../media/image197.png"/><Relationship Id="rId2" Type="http://schemas.openxmlformats.org/officeDocument/2006/relationships/notesSlide" Target="../notesSlides/notesSlide68.xml"/><Relationship Id="rId1" Type="http://schemas.openxmlformats.org/officeDocument/2006/relationships/slideLayout" Target="../slideLayouts/slideLayout17.xml"/><Relationship Id="rId5" Type="http://schemas.openxmlformats.org/officeDocument/2006/relationships/image" Target="../media/image199.png"/><Relationship Id="rId4" Type="http://schemas.openxmlformats.org/officeDocument/2006/relationships/image" Target="../media/image198.png"/></Relationships>
</file>

<file path=ppt/slides/_rels/slide202.xml.rels><?xml version="1.0" encoding="UTF-8" standalone="yes"?>
<Relationships xmlns="http://schemas.openxmlformats.org/package/2006/relationships"><Relationship Id="rId3" Type="http://schemas.openxmlformats.org/officeDocument/2006/relationships/image" Target="../media/image200.png"/><Relationship Id="rId2" Type="http://schemas.openxmlformats.org/officeDocument/2006/relationships/notesSlide" Target="../notesSlides/notesSlide69.xml"/><Relationship Id="rId1" Type="http://schemas.openxmlformats.org/officeDocument/2006/relationships/slideLayout" Target="../slideLayouts/slideLayout17.xml"/><Relationship Id="rId5" Type="http://schemas.openxmlformats.org/officeDocument/2006/relationships/image" Target="../media/image202.png"/><Relationship Id="rId4" Type="http://schemas.openxmlformats.org/officeDocument/2006/relationships/image" Target="../media/image201.png"/></Relationships>
</file>

<file path=ppt/slides/_rels/slide203.xml.rels><?xml version="1.0" encoding="UTF-8" standalone="yes"?>
<Relationships xmlns="http://schemas.openxmlformats.org/package/2006/relationships"><Relationship Id="rId3" Type="http://schemas.openxmlformats.org/officeDocument/2006/relationships/notesSlide" Target="../notesSlides/notesSlide70.xml"/><Relationship Id="rId2" Type="http://schemas.openxmlformats.org/officeDocument/2006/relationships/slideLayout" Target="../slideLayouts/slideLayout17.xml"/><Relationship Id="rId1" Type="http://schemas.openxmlformats.org/officeDocument/2006/relationships/video" Target="file:///C:\Users\pisach\Desktop\Lime%20Kiln\convert\07.mp4" TargetMode="External"/><Relationship Id="rId4" Type="http://schemas.openxmlformats.org/officeDocument/2006/relationships/image" Target="../media/image203.png"/></Relationships>
</file>

<file path=ppt/slides/_rels/slide204.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notesSlide" Target="../notesSlides/notesSlide71.xml"/><Relationship Id="rId1" Type="http://schemas.openxmlformats.org/officeDocument/2006/relationships/slideLayout" Target="../slideLayouts/slideLayout17.xml"/><Relationship Id="rId5" Type="http://schemas.openxmlformats.org/officeDocument/2006/relationships/image" Target="../media/image206.png"/><Relationship Id="rId4" Type="http://schemas.openxmlformats.org/officeDocument/2006/relationships/image" Target="../media/image205.png"/></Relationships>
</file>

<file path=ppt/slides/_rels/slide205.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notesSlide" Target="../notesSlides/notesSlide72.xml"/><Relationship Id="rId1" Type="http://schemas.openxmlformats.org/officeDocument/2006/relationships/slideLayout" Target="../slideLayouts/slideLayout17.xml"/><Relationship Id="rId6" Type="http://schemas.openxmlformats.org/officeDocument/2006/relationships/image" Target="../media/image210.png"/><Relationship Id="rId5" Type="http://schemas.openxmlformats.org/officeDocument/2006/relationships/image" Target="../media/image209.png"/><Relationship Id="rId4" Type="http://schemas.openxmlformats.org/officeDocument/2006/relationships/image" Target="../media/image208.png"/></Relationships>
</file>

<file path=ppt/slides/_rels/slide206.xml.rels><?xml version="1.0" encoding="UTF-8" standalone="yes"?>
<Relationships xmlns="http://schemas.openxmlformats.org/package/2006/relationships"><Relationship Id="rId3" Type="http://schemas.openxmlformats.org/officeDocument/2006/relationships/notesSlide" Target="../notesSlides/notesSlide73.xml"/><Relationship Id="rId2" Type="http://schemas.openxmlformats.org/officeDocument/2006/relationships/slideLayout" Target="../slideLayouts/slideLayout17.xml"/><Relationship Id="rId1" Type="http://schemas.openxmlformats.org/officeDocument/2006/relationships/video" Target="file:///C:\Users\pisach\Desktop\Lime%20Kiln\convert\08.mp4" TargetMode="External"/><Relationship Id="rId4" Type="http://schemas.openxmlformats.org/officeDocument/2006/relationships/image" Target="../media/image211.png"/></Relationships>
</file>

<file path=ppt/slides/_rels/slide207.xml.rels><?xml version="1.0" encoding="UTF-8" standalone="yes"?>
<Relationships xmlns="http://schemas.openxmlformats.org/package/2006/relationships"><Relationship Id="rId3" Type="http://schemas.openxmlformats.org/officeDocument/2006/relationships/image" Target="../media/image212.png"/><Relationship Id="rId2" Type="http://schemas.openxmlformats.org/officeDocument/2006/relationships/notesSlide" Target="../notesSlides/notesSlide74.xml"/><Relationship Id="rId1" Type="http://schemas.openxmlformats.org/officeDocument/2006/relationships/slideLayout" Target="../slideLayouts/slideLayout17.xml"/><Relationship Id="rId5" Type="http://schemas.openxmlformats.org/officeDocument/2006/relationships/image" Target="../media/image214.png"/><Relationship Id="rId4" Type="http://schemas.openxmlformats.org/officeDocument/2006/relationships/image" Target="../media/image213.png"/></Relationships>
</file>

<file path=ppt/slides/_rels/slide208.xml.rels><?xml version="1.0" encoding="UTF-8" standalone="yes"?>
<Relationships xmlns="http://schemas.openxmlformats.org/package/2006/relationships"><Relationship Id="rId3" Type="http://schemas.openxmlformats.org/officeDocument/2006/relationships/image" Target="../media/image215.png"/><Relationship Id="rId2" Type="http://schemas.openxmlformats.org/officeDocument/2006/relationships/notesSlide" Target="../notesSlides/notesSlide75.xml"/><Relationship Id="rId1" Type="http://schemas.openxmlformats.org/officeDocument/2006/relationships/slideLayout" Target="../slideLayouts/slideLayout17.xml"/><Relationship Id="rId5" Type="http://schemas.openxmlformats.org/officeDocument/2006/relationships/image" Target="../media/image217.png"/><Relationship Id="rId4" Type="http://schemas.openxmlformats.org/officeDocument/2006/relationships/image" Target="../media/image216.png"/></Relationships>
</file>

<file path=ppt/slides/_rels/slide209.xml.rels><?xml version="1.0" encoding="UTF-8" standalone="yes"?>
<Relationships xmlns="http://schemas.openxmlformats.org/package/2006/relationships"><Relationship Id="rId3" Type="http://schemas.openxmlformats.org/officeDocument/2006/relationships/notesSlide" Target="../notesSlides/notesSlide76.xml"/><Relationship Id="rId2" Type="http://schemas.openxmlformats.org/officeDocument/2006/relationships/slideLayout" Target="../slideLayouts/slideLayout17.xml"/><Relationship Id="rId1" Type="http://schemas.openxmlformats.org/officeDocument/2006/relationships/video" Target="file:///C:\Users\pisach\Desktop\Lime%20Kiln\convert\09.mp4" TargetMode="External"/><Relationship Id="rId4" Type="http://schemas.openxmlformats.org/officeDocument/2006/relationships/image" Target="../media/image218.png"/></Relationships>
</file>

<file path=ppt/slides/_rels/slide210.xml.rels><?xml version="1.0" encoding="UTF-8" standalone="yes"?>
<Relationships xmlns="http://schemas.openxmlformats.org/package/2006/relationships"><Relationship Id="rId3" Type="http://schemas.openxmlformats.org/officeDocument/2006/relationships/image" Target="../media/image219.png"/><Relationship Id="rId2" Type="http://schemas.openxmlformats.org/officeDocument/2006/relationships/notesSlide" Target="../notesSlides/notesSlide77.xml"/><Relationship Id="rId1" Type="http://schemas.openxmlformats.org/officeDocument/2006/relationships/slideLayout" Target="../slideLayouts/slideLayout17.xml"/><Relationship Id="rId4" Type="http://schemas.openxmlformats.org/officeDocument/2006/relationships/image" Target="../media/image220.png"/></Relationships>
</file>

<file path=ppt/slides/_rels/slide211.xml.rels><?xml version="1.0" encoding="UTF-8" standalone="yes"?>
<Relationships xmlns="http://schemas.openxmlformats.org/package/2006/relationships"><Relationship Id="rId3" Type="http://schemas.openxmlformats.org/officeDocument/2006/relationships/image" Target="../media/image221.png"/><Relationship Id="rId2" Type="http://schemas.openxmlformats.org/officeDocument/2006/relationships/notesSlide" Target="../notesSlides/notesSlide78.xml"/><Relationship Id="rId1" Type="http://schemas.openxmlformats.org/officeDocument/2006/relationships/slideLayout" Target="../slideLayouts/slideLayout17.xml"/><Relationship Id="rId5" Type="http://schemas.openxmlformats.org/officeDocument/2006/relationships/image" Target="../media/image223.png"/><Relationship Id="rId4" Type="http://schemas.openxmlformats.org/officeDocument/2006/relationships/image" Target="../media/image222.png"/></Relationships>
</file>

<file path=ppt/slides/_rels/slide212.xml.rels><?xml version="1.0" encoding="UTF-8" standalone="yes"?>
<Relationships xmlns="http://schemas.openxmlformats.org/package/2006/relationships"><Relationship Id="rId3" Type="http://schemas.openxmlformats.org/officeDocument/2006/relationships/image" Target="../media/image224.png"/><Relationship Id="rId7" Type="http://schemas.openxmlformats.org/officeDocument/2006/relationships/image" Target="../media/image228.png"/><Relationship Id="rId2" Type="http://schemas.openxmlformats.org/officeDocument/2006/relationships/notesSlide" Target="../notesSlides/notesSlide79.xml"/><Relationship Id="rId1" Type="http://schemas.openxmlformats.org/officeDocument/2006/relationships/slideLayout" Target="../slideLayouts/slideLayout2.xml"/><Relationship Id="rId6" Type="http://schemas.openxmlformats.org/officeDocument/2006/relationships/image" Target="../media/image227.png"/><Relationship Id="rId5" Type="http://schemas.openxmlformats.org/officeDocument/2006/relationships/image" Target="../media/image226.png"/><Relationship Id="rId4" Type="http://schemas.openxmlformats.org/officeDocument/2006/relationships/image" Target="../media/image225.png"/></Relationships>
</file>

<file path=ppt/slides/_rels/slide213.xml.rels><?xml version="1.0" encoding="UTF-8" standalone="yes"?>
<Relationships xmlns="http://schemas.openxmlformats.org/package/2006/relationships"><Relationship Id="rId3" Type="http://schemas.openxmlformats.org/officeDocument/2006/relationships/image" Target="../media/image229.png"/><Relationship Id="rId2" Type="http://schemas.openxmlformats.org/officeDocument/2006/relationships/notesSlide" Target="../notesSlides/notesSlide80.xml"/><Relationship Id="rId1" Type="http://schemas.openxmlformats.org/officeDocument/2006/relationships/slideLayout" Target="../slideLayouts/slideLayout2.xml"/><Relationship Id="rId4" Type="http://schemas.openxmlformats.org/officeDocument/2006/relationships/image" Target="../media/image230.png"/></Relationships>
</file>

<file path=ppt/slides/_rels/slide214.xml.rels><?xml version="1.0" encoding="UTF-8" standalone="yes"?>
<Relationships xmlns="http://schemas.openxmlformats.org/package/2006/relationships"><Relationship Id="rId2" Type="http://schemas.openxmlformats.org/officeDocument/2006/relationships/image" Target="../media/image231.png"/><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3" Type="http://schemas.openxmlformats.org/officeDocument/2006/relationships/image" Target="../media/image233.png"/><Relationship Id="rId2" Type="http://schemas.openxmlformats.org/officeDocument/2006/relationships/image" Target="../media/image232.jpeg"/><Relationship Id="rId1" Type="http://schemas.openxmlformats.org/officeDocument/2006/relationships/slideLayout" Target="../slideLayouts/slideLayout7.xml"/></Relationships>
</file>

<file path=ppt/slides/_rels/slide216.xml.rels><?xml version="1.0" encoding="UTF-8" standalone="yes"?>
<Relationships xmlns="http://schemas.openxmlformats.org/package/2006/relationships"><Relationship Id="rId2" Type="http://schemas.openxmlformats.org/officeDocument/2006/relationships/image" Target="../media/image234.gif"/><Relationship Id="rId1" Type="http://schemas.openxmlformats.org/officeDocument/2006/relationships/slideLayout" Target="../slideLayouts/slideLayout7.xml"/></Relationships>
</file>

<file path=ppt/slides/_rels/slide217.xml.rels><?xml version="1.0" encoding="UTF-8" standalone="yes"?>
<Relationships xmlns="http://schemas.openxmlformats.org/package/2006/relationships"><Relationship Id="rId3" Type="http://schemas.openxmlformats.org/officeDocument/2006/relationships/image" Target="../media/image236.png"/><Relationship Id="rId2" Type="http://schemas.openxmlformats.org/officeDocument/2006/relationships/image" Target="../media/image235.jpeg"/><Relationship Id="rId1" Type="http://schemas.openxmlformats.org/officeDocument/2006/relationships/slideLayout" Target="../slideLayouts/slideLayout7.xml"/></Relationships>
</file>

<file path=ppt/slides/_rels/slide218.xml.rels><?xml version="1.0" encoding="UTF-8" standalone="yes"?>
<Relationships xmlns="http://schemas.openxmlformats.org/package/2006/relationships"><Relationship Id="rId2" Type="http://schemas.openxmlformats.org/officeDocument/2006/relationships/image" Target="../media/image237.jpeg"/><Relationship Id="rId1" Type="http://schemas.openxmlformats.org/officeDocument/2006/relationships/slideLayout" Target="../slideLayouts/slideLayout7.xml"/></Relationships>
</file>

<file path=ppt/slides/_rels/slide219.xml.rels><?xml version="1.0" encoding="UTF-8" standalone="yes"?>
<Relationships xmlns="http://schemas.openxmlformats.org/package/2006/relationships"><Relationship Id="rId2" Type="http://schemas.openxmlformats.org/officeDocument/2006/relationships/image" Target="../media/image238.jpeg"/><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3" Type="http://schemas.openxmlformats.org/officeDocument/2006/relationships/image" Target="../media/image240.png"/><Relationship Id="rId2" Type="http://schemas.openxmlformats.org/officeDocument/2006/relationships/image" Target="../media/image239.jpeg"/><Relationship Id="rId1" Type="http://schemas.openxmlformats.org/officeDocument/2006/relationships/slideLayout" Target="../slideLayouts/slideLayout7.xml"/></Relationships>
</file>

<file path=ppt/slides/_rels/slide221.xml.rels><?xml version="1.0" encoding="UTF-8" standalone="yes"?>
<Relationships xmlns="http://schemas.openxmlformats.org/package/2006/relationships"><Relationship Id="rId3" Type="http://schemas.openxmlformats.org/officeDocument/2006/relationships/image" Target="../media/image242.jpeg"/><Relationship Id="rId2" Type="http://schemas.openxmlformats.org/officeDocument/2006/relationships/image" Target="../media/image241.jpeg"/><Relationship Id="rId1" Type="http://schemas.openxmlformats.org/officeDocument/2006/relationships/slideLayout" Target="../slideLayouts/slideLayout2.xml"/><Relationship Id="rId6" Type="http://schemas.openxmlformats.org/officeDocument/2006/relationships/image" Target="../media/image245.jpeg"/><Relationship Id="rId5" Type="http://schemas.openxmlformats.org/officeDocument/2006/relationships/image" Target="../media/image244.jpeg"/><Relationship Id="rId4" Type="http://schemas.openxmlformats.org/officeDocument/2006/relationships/image" Target="../media/image243.jpeg"/></Relationships>
</file>

<file path=ppt/slides/_rels/slide222.xml.rels><?xml version="1.0" encoding="UTF-8" standalone="yes"?>
<Relationships xmlns="http://schemas.openxmlformats.org/package/2006/relationships"><Relationship Id="rId2" Type="http://schemas.openxmlformats.org/officeDocument/2006/relationships/image" Target="../media/image246.png"/><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2" Type="http://schemas.openxmlformats.org/officeDocument/2006/relationships/image" Target="../media/image247.png"/><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2" Type="http://schemas.openxmlformats.org/officeDocument/2006/relationships/image" Target="../media/image248.png"/><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2" Type="http://schemas.openxmlformats.org/officeDocument/2006/relationships/image" Target="../media/image249.png"/><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2" Type="http://schemas.openxmlformats.org/officeDocument/2006/relationships/image" Target="../media/image250.png"/><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2" Type="http://schemas.openxmlformats.org/officeDocument/2006/relationships/image" Target="../media/image251.png"/><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2" Type="http://schemas.openxmlformats.org/officeDocument/2006/relationships/image" Target="../media/image252.png"/><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2" Type="http://schemas.openxmlformats.org/officeDocument/2006/relationships/image" Target="../media/image253.png"/><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2" Type="http://schemas.openxmlformats.org/officeDocument/2006/relationships/image" Target="../media/image254.png"/><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2" Type="http://schemas.openxmlformats.org/officeDocument/2006/relationships/image" Target="../media/image255.png"/><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2" Type="http://schemas.openxmlformats.org/officeDocument/2006/relationships/image" Target="../media/image256.png"/><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2" Type="http://schemas.openxmlformats.org/officeDocument/2006/relationships/image" Target="../media/image257.png"/><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2" Type="http://schemas.openxmlformats.org/officeDocument/2006/relationships/image" Target="../media/image258.png"/><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2" Type="http://schemas.openxmlformats.org/officeDocument/2006/relationships/image" Target="../media/image259.png"/><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2" Type="http://schemas.openxmlformats.org/officeDocument/2006/relationships/image" Target="../media/image260.png"/><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2" Type="http://schemas.openxmlformats.org/officeDocument/2006/relationships/image" Target="../media/image261.png"/><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2" Type="http://schemas.openxmlformats.org/officeDocument/2006/relationships/image" Target="../media/image262.png"/><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2" Type="http://schemas.openxmlformats.org/officeDocument/2006/relationships/image" Target="../media/image263.png"/><Relationship Id="rId1" Type="http://schemas.openxmlformats.org/officeDocument/2006/relationships/slideLayout" Target="../slideLayouts/slideLayout2.xml"/></Relationships>
</file>

<file path=ppt/slides/_rels/slide240.xml.rels><?xml version="1.0" encoding="UTF-8" standalone="yes"?>
<Relationships xmlns="http://schemas.openxmlformats.org/package/2006/relationships"><Relationship Id="rId2" Type="http://schemas.openxmlformats.org/officeDocument/2006/relationships/image" Target="../media/image264.png"/><Relationship Id="rId1" Type="http://schemas.openxmlformats.org/officeDocument/2006/relationships/slideLayout" Target="../slideLayouts/slideLayout2.xml"/></Relationships>
</file>

<file path=ppt/slides/_rels/slide241.xml.rels><?xml version="1.0" encoding="UTF-8" standalone="yes"?>
<Relationships xmlns="http://schemas.openxmlformats.org/package/2006/relationships"><Relationship Id="rId2" Type="http://schemas.openxmlformats.org/officeDocument/2006/relationships/image" Target="../media/image265.jpeg"/><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2" Type="http://schemas.openxmlformats.org/officeDocument/2006/relationships/image" Target="../media/image266.png"/><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2" Type="http://schemas.openxmlformats.org/officeDocument/2006/relationships/image" Target="../media/image267.png"/><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2" Type="http://schemas.openxmlformats.org/officeDocument/2006/relationships/image" Target="../media/image268.png"/><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2" Type="http://schemas.openxmlformats.org/officeDocument/2006/relationships/image" Target="../media/image269.png"/><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2" Type="http://schemas.openxmlformats.org/officeDocument/2006/relationships/image" Target="../media/image270.png"/><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2" Type="http://schemas.openxmlformats.org/officeDocument/2006/relationships/image" Target="../media/image271.png"/><Relationship Id="rId1"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3" Type="http://schemas.openxmlformats.org/officeDocument/2006/relationships/image" Target="../media/image273.png"/><Relationship Id="rId2" Type="http://schemas.openxmlformats.org/officeDocument/2006/relationships/image" Target="../media/image272.png"/><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2" Type="http://schemas.openxmlformats.org/officeDocument/2006/relationships/image" Target="../media/image274.png"/><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2" Type="http://schemas.openxmlformats.org/officeDocument/2006/relationships/image" Target="../media/image275.png"/><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2" Type="http://schemas.openxmlformats.org/officeDocument/2006/relationships/image" Target="../media/image276.png"/><Relationship Id="rId1" Type="http://schemas.openxmlformats.org/officeDocument/2006/relationships/slideLayout" Target="../slideLayouts/slideLayout2.xml"/></Relationships>
</file>

<file path=ppt/slides/_rels/slide252.xml.rels><?xml version="1.0" encoding="UTF-8" standalone="yes"?>
<Relationships xmlns="http://schemas.openxmlformats.org/package/2006/relationships"><Relationship Id="rId2" Type="http://schemas.openxmlformats.org/officeDocument/2006/relationships/image" Target="../media/image277.png"/><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2" Type="http://schemas.openxmlformats.org/officeDocument/2006/relationships/image" Target="../media/image278.png"/><Relationship Id="rId1" Type="http://schemas.openxmlformats.org/officeDocument/2006/relationships/slideLayout" Target="../slideLayouts/slideLayout2.xml"/></Relationships>
</file>

<file path=ppt/slides/_rels/slide254.xml.rels><?xml version="1.0" encoding="UTF-8" standalone="yes"?>
<Relationships xmlns="http://schemas.openxmlformats.org/package/2006/relationships"><Relationship Id="rId2" Type="http://schemas.openxmlformats.org/officeDocument/2006/relationships/image" Target="../media/image279.png"/><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2" Type="http://schemas.openxmlformats.org/officeDocument/2006/relationships/image" Target="../media/image280.png"/><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2" Type="http://schemas.openxmlformats.org/officeDocument/2006/relationships/image" Target="../media/image281.png"/><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2" Type="http://schemas.openxmlformats.org/officeDocument/2006/relationships/image" Target="../media/image282.png"/><Relationship Id="rId1" Type="http://schemas.openxmlformats.org/officeDocument/2006/relationships/slideLayout" Target="../slideLayouts/slideLayout2.xml"/></Relationships>
</file>

<file path=ppt/slides/_rels/slide258.xml.rels><?xml version="1.0" encoding="UTF-8" standalone="yes"?>
<Relationships xmlns="http://schemas.openxmlformats.org/package/2006/relationships"><Relationship Id="rId2" Type="http://schemas.openxmlformats.org/officeDocument/2006/relationships/image" Target="../media/image283.png"/><Relationship Id="rId1" Type="http://schemas.openxmlformats.org/officeDocument/2006/relationships/slideLayout" Target="../slideLayouts/slideLayout2.xml"/></Relationships>
</file>

<file path=ppt/slides/_rels/slide259.xml.rels><?xml version="1.0" encoding="UTF-8" standalone="yes"?>
<Relationships xmlns="http://schemas.openxmlformats.org/package/2006/relationships"><Relationship Id="rId2" Type="http://schemas.openxmlformats.org/officeDocument/2006/relationships/image" Target="../media/image284.png"/><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2" Type="http://schemas.openxmlformats.org/officeDocument/2006/relationships/image" Target="../media/image285.png"/><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2" Type="http://schemas.openxmlformats.org/officeDocument/2006/relationships/image" Target="../media/image286.png"/><Relationship Id="rId1" Type="http://schemas.openxmlformats.org/officeDocument/2006/relationships/slideLayout" Target="../slideLayouts/slideLayout2.xml"/></Relationships>
</file>

<file path=ppt/slides/_rels/slide262.xml.rels><?xml version="1.0" encoding="UTF-8" standalone="yes"?>
<Relationships xmlns="http://schemas.openxmlformats.org/package/2006/relationships"><Relationship Id="rId2" Type="http://schemas.openxmlformats.org/officeDocument/2006/relationships/image" Target="../media/image287.png"/><Relationship Id="rId1" Type="http://schemas.openxmlformats.org/officeDocument/2006/relationships/slideLayout" Target="../slideLayouts/slideLayout2.xml"/></Relationships>
</file>

<file path=ppt/slides/_rels/slide263.xml.rels><?xml version="1.0" encoding="UTF-8" standalone="yes"?>
<Relationships xmlns="http://schemas.openxmlformats.org/package/2006/relationships"><Relationship Id="rId2" Type="http://schemas.openxmlformats.org/officeDocument/2006/relationships/image" Target="../media/image288.png"/><Relationship Id="rId1" Type="http://schemas.openxmlformats.org/officeDocument/2006/relationships/slideLayout" Target="../slideLayouts/slideLayout2.xml"/></Relationships>
</file>

<file path=ppt/slides/_rels/slide264.xml.rels><?xml version="1.0" encoding="UTF-8" standalone="yes"?>
<Relationships xmlns="http://schemas.openxmlformats.org/package/2006/relationships"><Relationship Id="rId2" Type="http://schemas.openxmlformats.org/officeDocument/2006/relationships/image" Target="../media/image289.jpeg"/><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3" Type="http://schemas.openxmlformats.org/officeDocument/2006/relationships/image" Target="../media/image290.jpeg"/><Relationship Id="rId7" Type="http://schemas.openxmlformats.org/officeDocument/2006/relationships/image" Target="../media/image294.jpeg"/><Relationship Id="rId2" Type="http://schemas.openxmlformats.org/officeDocument/2006/relationships/slideLayout" Target="../slideLayouts/slideLayout2.xml"/><Relationship Id="rId1" Type="http://schemas.openxmlformats.org/officeDocument/2006/relationships/video" Target="file:///D:\Gasification\Gasifier%20INNO\Scale%20up\LP\D%2025%20MW\Implementation\8%20Apr%2009\start%20up%20before%20feed.MPG" TargetMode="External"/><Relationship Id="rId6" Type="http://schemas.openxmlformats.org/officeDocument/2006/relationships/image" Target="../media/image293.jpeg"/><Relationship Id="rId5" Type="http://schemas.openxmlformats.org/officeDocument/2006/relationships/image" Target="../media/image292.jpeg"/><Relationship Id="rId4" Type="http://schemas.openxmlformats.org/officeDocument/2006/relationships/image" Target="../media/image291.jpeg"/></Relationships>
</file>

<file path=ppt/slides/_rels/slide266.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267.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268.xml.rels><?xml version="1.0" encoding="UTF-8" standalone="yes"?>
<Relationships xmlns="http://schemas.openxmlformats.org/package/2006/relationships"><Relationship Id="rId8" Type="http://schemas.openxmlformats.org/officeDocument/2006/relationships/image" Target="../media/image295.png"/><Relationship Id="rId3" Type="http://schemas.openxmlformats.org/officeDocument/2006/relationships/notesSlide" Target="../notesSlides/notesSlide83.xml"/><Relationship Id="rId7" Type="http://schemas.openxmlformats.org/officeDocument/2006/relationships/oleObject" Target="../embeddings/oleObject4.bin"/><Relationship Id="rId2" Type="http://schemas.openxmlformats.org/officeDocument/2006/relationships/slideLayout" Target="../slideLayouts/slideLayout2.xml"/><Relationship Id="rId1" Type="http://schemas.openxmlformats.org/officeDocument/2006/relationships/vmlDrawing" Target="../drawings/vmlDrawing4.vml"/><Relationship Id="rId6" Type="http://schemas.openxmlformats.org/officeDocument/2006/relationships/image" Target="../media/image297.jpeg"/><Relationship Id="rId5" Type="http://schemas.openxmlformats.org/officeDocument/2006/relationships/image" Target="../media/image296.jpeg"/><Relationship Id="rId4" Type="http://schemas.openxmlformats.org/officeDocument/2006/relationships/slide" Target="slide125.xm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270.xml.rels><?xml version="1.0" encoding="UTF-8" standalone="yes"?>
<Relationships xmlns="http://schemas.openxmlformats.org/package/2006/relationships"><Relationship Id="rId3" Type="http://schemas.openxmlformats.org/officeDocument/2006/relationships/image" Target="../media/image298.png"/><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3" Type="http://schemas.openxmlformats.org/officeDocument/2006/relationships/image" Target="../media/image299.png"/><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272.xml.rels><?xml version="1.0" encoding="UTF-8" standalone="yes"?>
<Relationships xmlns="http://schemas.openxmlformats.org/package/2006/relationships"><Relationship Id="rId3" Type="http://schemas.openxmlformats.org/officeDocument/2006/relationships/image" Target="../media/image300.png"/><Relationship Id="rId7" Type="http://schemas.openxmlformats.org/officeDocument/2006/relationships/image" Target="../media/image304.png"/><Relationship Id="rId2" Type="http://schemas.openxmlformats.org/officeDocument/2006/relationships/notesSlide" Target="../notesSlides/notesSlide87.xml"/><Relationship Id="rId1" Type="http://schemas.openxmlformats.org/officeDocument/2006/relationships/slideLayout" Target="../slideLayouts/slideLayout2.xml"/><Relationship Id="rId6" Type="http://schemas.openxmlformats.org/officeDocument/2006/relationships/image" Target="../media/image303.jpeg"/><Relationship Id="rId5" Type="http://schemas.openxmlformats.org/officeDocument/2006/relationships/image" Target="../media/image302.jpeg"/><Relationship Id="rId4" Type="http://schemas.openxmlformats.org/officeDocument/2006/relationships/image" Target="../media/image301.jpeg"/></Relationships>
</file>

<file path=ppt/slides/_rels/slide273.xml.rels><?xml version="1.0" encoding="UTF-8" standalone="yes"?>
<Relationships xmlns="http://schemas.openxmlformats.org/package/2006/relationships"><Relationship Id="rId3" Type="http://schemas.openxmlformats.org/officeDocument/2006/relationships/image" Target="../media/image305.png"/><Relationship Id="rId2" Type="http://schemas.openxmlformats.org/officeDocument/2006/relationships/notesSlide" Target="../notesSlides/notesSlide88.xml"/><Relationship Id="rId1" Type="http://schemas.openxmlformats.org/officeDocument/2006/relationships/slideLayout" Target="../slideLayouts/slideLayout2.xml"/><Relationship Id="rId4" Type="http://schemas.openxmlformats.org/officeDocument/2006/relationships/image" Target="../media/image306.png"/></Relationships>
</file>

<file path=ppt/slides/_rels/slide274.xml.rels><?xml version="1.0" encoding="UTF-8" standalone="yes"?>
<Relationships xmlns="http://schemas.openxmlformats.org/package/2006/relationships"><Relationship Id="rId3" Type="http://schemas.openxmlformats.org/officeDocument/2006/relationships/image" Target="../media/image307.jpeg"/><Relationship Id="rId2" Type="http://schemas.openxmlformats.org/officeDocument/2006/relationships/notesSlide" Target="../notesSlides/notesSlide89.xml"/><Relationship Id="rId1" Type="http://schemas.openxmlformats.org/officeDocument/2006/relationships/slideLayout" Target="../slideLayouts/slideLayout2.xml"/><Relationship Id="rId4" Type="http://schemas.openxmlformats.org/officeDocument/2006/relationships/image" Target="../media/image308.jpeg"/></Relationships>
</file>

<file path=ppt/slides/_rels/slide275.xml.rels><?xml version="1.0" encoding="UTF-8" standalone="yes"?>
<Relationships xmlns="http://schemas.openxmlformats.org/package/2006/relationships"><Relationship Id="rId3" Type="http://schemas.openxmlformats.org/officeDocument/2006/relationships/image" Target="../media/image309.jpeg"/><Relationship Id="rId2" Type="http://schemas.openxmlformats.org/officeDocument/2006/relationships/notesSlide" Target="../notesSlides/notesSlide90.xml"/><Relationship Id="rId1" Type="http://schemas.openxmlformats.org/officeDocument/2006/relationships/slideLayout" Target="../slideLayouts/slideLayout2.xml"/><Relationship Id="rId4" Type="http://schemas.openxmlformats.org/officeDocument/2006/relationships/image" Target="../media/image303.jpeg"/></Relationships>
</file>

<file path=ppt/slides/_rels/slide276.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277.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3" Type="http://schemas.openxmlformats.org/officeDocument/2006/relationships/image" Target="../media/image310.jpeg"/><Relationship Id="rId2" Type="http://schemas.openxmlformats.org/officeDocument/2006/relationships/notesSlide" Target="../notesSlides/notesSlide94.xml"/><Relationship Id="rId1" Type="http://schemas.openxmlformats.org/officeDocument/2006/relationships/slideLayout" Target="../slideLayouts/slideLayout2.xml"/><Relationship Id="rId5" Type="http://schemas.openxmlformats.org/officeDocument/2006/relationships/image" Target="../media/image312.jpeg"/><Relationship Id="rId4" Type="http://schemas.openxmlformats.org/officeDocument/2006/relationships/image" Target="../media/image311.png"/></Relationships>
</file>

<file path=ppt/slides/_rels/slide280.xml.rels><?xml version="1.0" encoding="UTF-8" standalone="yes"?>
<Relationships xmlns="http://schemas.openxmlformats.org/package/2006/relationships"><Relationship Id="rId3" Type="http://schemas.openxmlformats.org/officeDocument/2006/relationships/image" Target="../media/image313.jpeg"/><Relationship Id="rId2" Type="http://schemas.openxmlformats.org/officeDocument/2006/relationships/notesSlide" Target="../notesSlides/notesSlide95.xml"/><Relationship Id="rId1" Type="http://schemas.openxmlformats.org/officeDocument/2006/relationships/slideLayout" Target="../slideLayouts/slideLayout2.xml"/><Relationship Id="rId4" Type="http://schemas.openxmlformats.org/officeDocument/2006/relationships/image" Target="../media/image314.jpeg"/></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282.xml.rels><?xml version="1.0" encoding="UTF-8" standalone="yes"?>
<Relationships xmlns="http://schemas.openxmlformats.org/package/2006/relationships"><Relationship Id="rId8" Type="http://schemas.openxmlformats.org/officeDocument/2006/relationships/image" Target="../media/image319.png"/><Relationship Id="rId13" Type="http://schemas.openxmlformats.org/officeDocument/2006/relationships/image" Target="../media/image174.png"/><Relationship Id="rId3" Type="http://schemas.openxmlformats.org/officeDocument/2006/relationships/image" Target="../media/image168.png"/><Relationship Id="rId7" Type="http://schemas.openxmlformats.org/officeDocument/2006/relationships/image" Target="../media/image318.png"/><Relationship Id="rId12" Type="http://schemas.openxmlformats.org/officeDocument/2006/relationships/image" Target="../media/image170.png"/><Relationship Id="rId2" Type="http://schemas.openxmlformats.org/officeDocument/2006/relationships/notesSlide" Target="../notesSlides/notesSlide97.xml"/><Relationship Id="rId16" Type="http://schemas.openxmlformats.org/officeDocument/2006/relationships/image" Target="../media/image323.png"/><Relationship Id="rId1" Type="http://schemas.openxmlformats.org/officeDocument/2006/relationships/slideLayout" Target="../slideLayouts/slideLayout2.xml"/><Relationship Id="rId6" Type="http://schemas.openxmlformats.org/officeDocument/2006/relationships/image" Target="../media/image317.png"/><Relationship Id="rId11" Type="http://schemas.openxmlformats.org/officeDocument/2006/relationships/image" Target="../media/image169.png"/><Relationship Id="rId5" Type="http://schemas.openxmlformats.org/officeDocument/2006/relationships/image" Target="../media/image316.png"/><Relationship Id="rId15" Type="http://schemas.openxmlformats.org/officeDocument/2006/relationships/image" Target="../media/image171.png"/><Relationship Id="rId10" Type="http://schemas.openxmlformats.org/officeDocument/2006/relationships/image" Target="../media/image321.png"/><Relationship Id="rId4" Type="http://schemas.openxmlformats.org/officeDocument/2006/relationships/image" Target="../media/image315.png"/><Relationship Id="rId9" Type="http://schemas.openxmlformats.org/officeDocument/2006/relationships/image" Target="../media/image320.png"/><Relationship Id="rId14" Type="http://schemas.openxmlformats.org/officeDocument/2006/relationships/image" Target="../media/image322.png"/></Relationships>
</file>

<file path=ppt/slides/_rels/slide283.xml.rels><?xml version="1.0" encoding="UTF-8" standalone="yes"?>
<Relationships xmlns="http://schemas.openxmlformats.org/package/2006/relationships"><Relationship Id="rId3" Type="http://schemas.openxmlformats.org/officeDocument/2006/relationships/hyperlink" Target="mailto:pisach@scg.co.th" TargetMode="External"/><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284.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286.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287.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288.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6" name="Rectangle 2"/>
          <p:cNvSpPr>
            <a:spLocks noGrp="1" noChangeArrowheads="1"/>
          </p:cNvSpPr>
          <p:nvPr>
            <p:ph type="title"/>
          </p:nvPr>
        </p:nvSpPr>
        <p:spPr>
          <a:noFill/>
        </p:spPr>
        <p:txBody>
          <a:bodyPr/>
          <a:lstStyle/>
          <a:p>
            <a:pPr algn="l"/>
            <a:r>
              <a:rPr lang="en-US" altLang="en-US" b="1" smtClean="0">
                <a:solidFill>
                  <a:schemeClr val="hlink"/>
                </a:solidFill>
              </a:rPr>
              <a:t>Topic outlines</a:t>
            </a:r>
            <a:endParaRPr lang="th-TH" altLang="en-US" b="1" smtClean="0">
              <a:solidFill>
                <a:schemeClr val="hlink"/>
              </a:solidFill>
            </a:endParaRPr>
          </a:p>
        </p:txBody>
      </p:sp>
      <p:sp>
        <p:nvSpPr>
          <p:cNvPr id="280579" name="Rectangle 3"/>
          <p:cNvSpPr>
            <a:spLocks noGrp="1" noChangeArrowheads="1"/>
          </p:cNvSpPr>
          <p:nvPr>
            <p:ph type="body" idx="1"/>
          </p:nvPr>
        </p:nvSpPr>
        <p:spPr>
          <a:xfrm>
            <a:off x="685800" y="1981200"/>
            <a:ext cx="8229600" cy="3657600"/>
          </a:xfrm>
        </p:spPr>
        <p:txBody>
          <a:bodyPr/>
          <a:lstStyle/>
          <a:p>
            <a:pPr marL="609600" indent="-609600">
              <a:buClr>
                <a:schemeClr val="tx1"/>
              </a:buClr>
              <a:buFont typeface="Wingdings" panose="05000000000000000000" pitchFamily="2" charset="2"/>
              <a:buNone/>
              <a:defRPr/>
            </a:pPr>
            <a:r>
              <a:rPr lang="en-US" altLang="en-US" dirty="0">
                <a:solidFill>
                  <a:srgbClr val="969696"/>
                </a:solidFill>
                <a:latin typeface="Arial" panose="020B0604020202020204" pitchFamily="34" charset="0"/>
                <a:cs typeface="Arial" panose="020B0604020202020204" pitchFamily="34" charset="0"/>
              </a:rPr>
              <a:t>1.   Objectives of pulp washing</a:t>
            </a:r>
          </a:p>
          <a:p>
            <a:pPr marL="609600" indent="-609600">
              <a:buClr>
                <a:schemeClr val="tx1"/>
              </a:buClr>
              <a:buFont typeface="Wingdings" panose="05000000000000000000" pitchFamily="2" charset="2"/>
              <a:buNone/>
              <a:defRPr/>
            </a:pPr>
            <a:r>
              <a:rPr lang="en-US" altLang="en-US" dirty="0">
                <a:solidFill>
                  <a:srgbClr val="808080"/>
                </a:solidFill>
                <a:latin typeface="Arial" panose="020B0604020202020204" pitchFamily="34" charset="0"/>
                <a:cs typeface="Arial" panose="020B0604020202020204" pitchFamily="34" charset="0"/>
              </a:rPr>
              <a:t>2.   Principles of pulp washing</a:t>
            </a:r>
          </a:p>
          <a:p>
            <a:pPr marL="609600" indent="-609600">
              <a:buClr>
                <a:schemeClr val="tx1"/>
              </a:buClr>
              <a:buFont typeface="Wingdings" panose="05000000000000000000" pitchFamily="2" charset="2"/>
              <a:buNone/>
              <a:defRPr/>
            </a:pPr>
            <a:r>
              <a:rPr lang="en-US" altLang="en-US" sz="4000" b="1" dirty="0">
                <a:solidFill>
                  <a:srgbClr val="FF0000"/>
                </a:solidFill>
                <a:latin typeface="Arial" panose="020B0604020202020204" pitchFamily="34" charset="0"/>
                <a:cs typeface="Arial" panose="020B0604020202020204" pitchFamily="34" charset="0"/>
              </a:rPr>
              <a:t>3.   Washing </a:t>
            </a:r>
            <a:r>
              <a:rPr lang="en-US" altLang="en-US" sz="4000" b="1" dirty="0" err="1">
                <a:solidFill>
                  <a:srgbClr val="FF0000"/>
                </a:solidFill>
                <a:latin typeface="Arial" panose="020B0604020202020204" pitchFamily="34" charset="0"/>
                <a:cs typeface="Arial" panose="020B0604020202020204" pitchFamily="34" charset="0"/>
              </a:rPr>
              <a:t>equipments</a:t>
            </a:r>
            <a:endParaRPr lang="en-US" altLang="en-US" sz="4000" b="1" dirty="0">
              <a:solidFill>
                <a:srgbClr val="FF0000"/>
              </a:solidFill>
              <a:latin typeface="Arial" panose="020B0604020202020204" pitchFamily="34" charset="0"/>
              <a:cs typeface="Arial" panose="020B0604020202020204" pitchFamily="34" charset="0"/>
            </a:endParaRPr>
          </a:p>
          <a:p>
            <a:pPr marL="609600" indent="-609600">
              <a:buClr>
                <a:schemeClr val="tx1"/>
              </a:buClr>
              <a:buFont typeface="Wingdings" panose="05000000000000000000" pitchFamily="2" charset="2"/>
              <a:buNone/>
              <a:defRPr/>
            </a:pPr>
            <a:r>
              <a:rPr lang="en-US" altLang="en-US" dirty="0">
                <a:solidFill>
                  <a:srgbClr val="969696"/>
                </a:solidFill>
                <a:latin typeface="Arial" panose="020B0604020202020204" pitchFamily="34" charset="0"/>
                <a:cs typeface="Arial" panose="020B0604020202020204" pitchFamily="34" charset="0"/>
              </a:rPr>
              <a:t>4.   Multi-stage counter-current washing</a:t>
            </a:r>
          </a:p>
          <a:p>
            <a:pPr marL="609600" indent="-609600">
              <a:buClr>
                <a:schemeClr val="tx1"/>
              </a:buClr>
              <a:buFont typeface="Wingdings" panose="05000000000000000000" pitchFamily="2" charset="2"/>
              <a:buNone/>
              <a:defRPr/>
            </a:pPr>
            <a:r>
              <a:rPr lang="en-US" altLang="en-US" dirty="0">
                <a:solidFill>
                  <a:srgbClr val="969696"/>
                </a:solidFill>
                <a:latin typeface="Arial" panose="020B0604020202020204" pitchFamily="34" charset="0"/>
                <a:cs typeface="Arial" panose="020B0604020202020204" pitchFamily="34" charset="0"/>
              </a:rPr>
              <a:t>5.   Washing parameters and efficiency</a:t>
            </a:r>
          </a:p>
          <a:p>
            <a:pPr marL="0" indent="0">
              <a:buClr>
                <a:schemeClr val="tx1"/>
              </a:buClr>
              <a:buFont typeface="Arial" panose="020B0604020202020204" pitchFamily="34" charset="0"/>
              <a:buNone/>
              <a:defRPr/>
            </a:pPr>
            <a:endParaRPr lang="en-US" altLang="en-US" dirty="0">
              <a:solidFill>
                <a:srgbClr val="969696"/>
              </a:solidFill>
              <a:latin typeface="Arial" panose="020B0604020202020204" pitchFamily="34" charset="0"/>
              <a:cs typeface="Arial" panose="020B0604020202020204" pitchFamily="34" charset="0"/>
            </a:endParaRPr>
          </a:p>
        </p:txBody>
      </p:sp>
    </p:spTree>
  </p:cSld>
  <p:clrMapOvr>
    <a:masterClrMapping/>
  </p:clrMapOvr>
  <p:transition spd="slow"/>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90" name="Text Box 2"/>
          <p:cNvSpPr txBox="1">
            <a:spLocks noChangeArrowheads="1"/>
          </p:cNvSpPr>
          <p:nvPr/>
        </p:nvSpPr>
        <p:spPr bwMode="auto">
          <a:xfrm>
            <a:off x="755650" y="1749425"/>
            <a:ext cx="7993063" cy="3840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a:defRPr>
                <a:solidFill>
                  <a:schemeClr val="tx1"/>
                </a:solidFill>
                <a:latin typeface="Calibri" panose="020F0502020204030204" pitchFamily="34" charset="0"/>
              </a:defRPr>
            </a:lvl1pPr>
            <a:lvl2pPr marL="914400" indent="-457200">
              <a:defRPr>
                <a:solidFill>
                  <a:schemeClr val="tx1"/>
                </a:solidFill>
                <a:latin typeface="Calibri" panose="020F0502020204030204" pitchFamily="34" charset="0"/>
              </a:defRPr>
            </a:lvl2pPr>
            <a:lvl3pPr marL="1371600" indent="-457200">
              <a:defRPr>
                <a:solidFill>
                  <a:schemeClr val="tx1"/>
                </a:solidFill>
                <a:latin typeface="Calibri" panose="020F0502020204030204" pitchFamily="34" charset="0"/>
              </a:defRPr>
            </a:lvl3pPr>
            <a:lvl4pPr marL="1828800" indent="-457200">
              <a:defRPr>
                <a:solidFill>
                  <a:schemeClr val="tx1"/>
                </a:solidFill>
                <a:latin typeface="Calibri" panose="020F0502020204030204" pitchFamily="34" charset="0"/>
              </a:defRPr>
            </a:lvl4pPr>
            <a:lvl5pPr marL="2286000" indent="-457200">
              <a:defRPr>
                <a:solidFill>
                  <a:schemeClr val="tx1"/>
                </a:solidFill>
                <a:latin typeface="Calibri" panose="020F0502020204030204" pitchFamily="34" charset="0"/>
              </a:defRPr>
            </a:lvl5pPr>
            <a:lvl6pPr marL="2743200" indent="-457200" eaLnBrk="0" fontAlgn="base" hangingPunct="0">
              <a:spcBef>
                <a:spcPct val="0"/>
              </a:spcBef>
              <a:spcAft>
                <a:spcPct val="0"/>
              </a:spcAft>
              <a:defRPr>
                <a:solidFill>
                  <a:schemeClr val="tx1"/>
                </a:solidFill>
                <a:latin typeface="Calibri" panose="020F0502020204030204" pitchFamily="34" charset="0"/>
              </a:defRPr>
            </a:lvl6pPr>
            <a:lvl7pPr marL="3200400" indent="-457200" eaLnBrk="0" fontAlgn="base" hangingPunct="0">
              <a:spcBef>
                <a:spcPct val="0"/>
              </a:spcBef>
              <a:spcAft>
                <a:spcPct val="0"/>
              </a:spcAft>
              <a:defRPr>
                <a:solidFill>
                  <a:schemeClr val="tx1"/>
                </a:solidFill>
                <a:latin typeface="Calibri" panose="020F0502020204030204" pitchFamily="34" charset="0"/>
              </a:defRPr>
            </a:lvl7pPr>
            <a:lvl8pPr marL="3657600" indent="-457200" eaLnBrk="0" fontAlgn="base" hangingPunct="0">
              <a:spcBef>
                <a:spcPct val="0"/>
              </a:spcBef>
              <a:spcAft>
                <a:spcPct val="0"/>
              </a:spcAft>
              <a:defRPr>
                <a:solidFill>
                  <a:schemeClr val="tx1"/>
                </a:solidFill>
                <a:latin typeface="Calibri" panose="020F0502020204030204" pitchFamily="34" charset="0"/>
              </a:defRPr>
            </a:lvl8pPr>
            <a:lvl9pPr marL="4114800" indent="-457200" eaLnBrk="0" fontAlgn="base" hangingPunct="0">
              <a:spcBef>
                <a:spcPct val="0"/>
              </a:spcBef>
              <a:spcAft>
                <a:spcPct val="0"/>
              </a:spcAft>
              <a:defRPr>
                <a:solidFill>
                  <a:schemeClr val="tx1"/>
                </a:solidFill>
                <a:latin typeface="Calibri" panose="020F0502020204030204" pitchFamily="34" charset="0"/>
              </a:defRPr>
            </a:lvl9pPr>
          </a:lstStyle>
          <a:p>
            <a:r>
              <a:rPr lang="en-US" altLang="en-US" sz="3000" b="1">
                <a:solidFill>
                  <a:schemeClr val="hlink"/>
                </a:solidFill>
                <a:latin typeface="Arial" panose="020B0604020202020204" pitchFamily="34" charset="0"/>
                <a:cs typeface="Angsana New" panose="02020603050405020304" pitchFamily="18" charset="-34"/>
              </a:rPr>
              <a:t>1. Rotary Vacuum Washer</a:t>
            </a:r>
          </a:p>
          <a:p>
            <a:endParaRPr lang="en-US" altLang="en-US" sz="1200" b="1">
              <a:solidFill>
                <a:schemeClr val="hlink"/>
              </a:solidFill>
              <a:latin typeface="Arial" panose="020B0604020202020204" pitchFamily="34" charset="0"/>
              <a:cs typeface="Angsana New" panose="02020603050405020304" pitchFamily="18" charset="-34"/>
            </a:endParaRPr>
          </a:p>
          <a:p>
            <a:r>
              <a:rPr lang="en-US" altLang="en-US" sz="3000" b="1">
                <a:solidFill>
                  <a:srgbClr val="808080"/>
                </a:solidFill>
                <a:latin typeface="Arial" panose="020B0604020202020204" pitchFamily="34" charset="0"/>
                <a:cs typeface="Angsana New" panose="02020603050405020304" pitchFamily="18" charset="-34"/>
              </a:rPr>
              <a:t>2. Rotary Pressure Washer</a:t>
            </a:r>
          </a:p>
          <a:p>
            <a:endParaRPr lang="en-US" altLang="en-US" sz="1200" b="1">
              <a:solidFill>
                <a:srgbClr val="808080"/>
              </a:solidFill>
              <a:latin typeface="Arial" panose="020B0604020202020204" pitchFamily="34" charset="0"/>
              <a:cs typeface="Angsana New" panose="02020603050405020304" pitchFamily="18" charset="-34"/>
            </a:endParaRPr>
          </a:p>
          <a:p>
            <a:pPr>
              <a:buFontTx/>
              <a:buAutoNum type="arabicPeriod" startAt="3"/>
            </a:pPr>
            <a:r>
              <a:rPr lang="en-US" altLang="en-US" sz="3000" b="1">
                <a:solidFill>
                  <a:srgbClr val="808080"/>
                </a:solidFill>
                <a:latin typeface="Arial" panose="020B0604020202020204" pitchFamily="34" charset="0"/>
                <a:cs typeface="Angsana New" panose="02020603050405020304" pitchFamily="18" charset="-34"/>
              </a:rPr>
              <a:t>Diffusion Washers</a:t>
            </a:r>
          </a:p>
          <a:p>
            <a:pPr lvl="1"/>
            <a:r>
              <a:rPr lang="en-US" altLang="en-US" sz="3000" b="1">
                <a:solidFill>
                  <a:srgbClr val="808080"/>
                </a:solidFill>
                <a:latin typeface="Arial" panose="020B0604020202020204" pitchFamily="34" charset="0"/>
                <a:cs typeface="Angsana New" panose="02020603050405020304" pitchFamily="18" charset="-34"/>
              </a:rPr>
              <a:t>-  Continuous digester hi heat washing</a:t>
            </a:r>
          </a:p>
          <a:p>
            <a:r>
              <a:rPr lang="en-US" altLang="en-US" sz="3000" b="1">
                <a:solidFill>
                  <a:srgbClr val="808080"/>
                </a:solidFill>
                <a:latin typeface="Arial" panose="020B0604020202020204" pitchFamily="34" charset="0"/>
                <a:cs typeface="Angsana New" panose="02020603050405020304" pitchFamily="18" charset="-34"/>
              </a:rPr>
              <a:t>	-  Atmospheric diffusion washer</a:t>
            </a:r>
          </a:p>
          <a:p>
            <a:r>
              <a:rPr lang="en-US" altLang="en-US" sz="3000" b="1">
                <a:solidFill>
                  <a:srgbClr val="808080"/>
                </a:solidFill>
                <a:latin typeface="Arial" panose="020B0604020202020204" pitchFamily="34" charset="0"/>
                <a:cs typeface="Angsana New" panose="02020603050405020304" pitchFamily="18" charset="-34"/>
              </a:rPr>
              <a:t>	-  Pressure diffusion washer</a:t>
            </a:r>
          </a:p>
          <a:p>
            <a:endParaRPr lang="en-US" altLang="en-US" sz="1200" b="1">
              <a:solidFill>
                <a:srgbClr val="808080"/>
              </a:solidFill>
              <a:latin typeface="Arial" panose="020B0604020202020204" pitchFamily="34" charset="0"/>
              <a:cs typeface="Angsana New" panose="02020603050405020304" pitchFamily="18" charset="-34"/>
            </a:endParaRPr>
          </a:p>
          <a:p>
            <a:r>
              <a:rPr lang="en-US" altLang="en-US" sz="3000" b="1">
                <a:solidFill>
                  <a:srgbClr val="808080"/>
                </a:solidFill>
                <a:latin typeface="Arial" panose="020B0604020202020204" pitchFamily="34" charset="0"/>
                <a:cs typeface="Angsana New" panose="02020603050405020304" pitchFamily="18" charset="-34"/>
              </a:rPr>
              <a:t>4. Wash Press</a:t>
            </a:r>
            <a:endParaRPr lang="en-US" altLang="en-US" sz="1200" b="1">
              <a:solidFill>
                <a:srgbClr val="808080"/>
              </a:solidFill>
              <a:latin typeface="Arial" panose="020B0604020202020204" pitchFamily="34" charset="0"/>
              <a:cs typeface="Angsana New" panose="02020603050405020304" pitchFamily="18" charset="-34"/>
            </a:endParaRPr>
          </a:p>
        </p:txBody>
      </p:sp>
      <p:sp>
        <p:nvSpPr>
          <p:cNvPr id="214019" name="Rectangle 3"/>
          <p:cNvSpPr>
            <a:spLocks noChangeArrowheads="1"/>
          </p:cNvSpPr>
          <p:nvPr/>
        </p:nvSpPr>
        <p:spPr bwMode="auto">
          <a:xfrm>
            <a:off x="1066800" y="381000"/>
            <a:ext cx="7391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nchor="ctr"/>
          <a:lstStyle>
            <a:lvl1pPr>
              <a:defRPr sz="2400">
                <a:solidFill>
                  <a:schemeClr val="tx1"/>
                </a:solidFill>
                <a:latin typeface="Times New Roman" panose="02020603050405020304" pitchFamily="18" charset="0"/>
                <a:cs typeface="Angsana New" panose="02020603050405020304" pitchFamily="18" charset="-34"/>
              </a:defRPr>
            </a:lvl1pPr>
            <a:lvl2pPr>
              <a:defRPr sz="2400">
                <a:solidFill>
                  <a:schemeClr val="tx1"/>
                </a:solidFill>
                <a:latin typeface="Times New Roman" panose="02020603050405020304" pitchFamily="18" charset="0"/>
                <a:cs typeface="Angsana New" panose="02020603050405020304" pitchFamily="18" charset="-34"/>
              </a:defRPr>
            </a:lvl2pPr>
            <a:lvl3pPr>
              <a:defRPr sz="2400">
                <a:solidFill>
                  <a:schemeClr val="tx1"/>
                </a:solidFill>
                <a:latin typeface="Times New Roman" panose="02020603050405020304" pitchFamily="18" charset="0"/>
                <a:cs typeface="Angsana New" panose="02020603050405020304" pitchFamily="18" charset="-34"/>
              </a:defRPr>
            </a:lvl3pPr>
            <a:lvl4pPr>
              <a:defRPr sz="2400">
                <a:solidFill>
                  <a:schemeClr val="tx1"/>
                </a:solidFill>
                <a:latin typeface="Times New Roman" panose="02020603050405020304" pitchFamily="18" charset="0"/>
                <a:cs typeface="Angsana New" panose="02020603050405020304" pitchFamily="18" charset="-34"/>
              </a:defRPr>
            </a:lvl4pPr>
            <a:lvl5pPr>
              <a:defRPr sz="2400">
                <a:solidFill>
                  <a:schemeClr val="tx1"/>
                </a:solidFill>
                <a:latin typeface="Times New Roman" panose="02020603050405020304" pitchFamily="18" charset="0"/>
                <a:cs typeface="Angsana New" panose="02020603050405020304" pitchFamily="18" charset="-34"/>
              </a:defRPr>
            </a:lvl5pPr>
            <a:lvl6pPr marL="4572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6pPr>
            <a:lvl7pPr marL="9144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7pPr>
            <a:lvl8pPr marL="13716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8pPr>
            <a:lvl9pPr marL="18288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9pPr>
          </a:lstStyle>
          <a:p>
            <a:pPr>
              <a:defRPr/>
            </a:pPr>
            <a:r>
              <a:rPr lang="en-US" altLang="en-US" sz="3600" b="1" dirty="0" smtClean="0">
                <a:solidFill>
                  <a:srgbClr val="FF0000"/>
                </a:solidFill>
                <a:effectLst>
                  <a:outerShdw blurRad="38100" dist="38100" dir="2700000" algn="tl">
                    <a:srgbClr val="C0C0C0"/>
                  </a:outerShdw>
                </a:effectLst>
                <a:latin typeface="Arial" panose="020B0604020202020204" pitchFamily="34" charset="0"/>
                <a:cs typeface="Arial" panose="020B0604020202020204" pitchFamily="34" charset="0"/>
              </a:rPr>
              <a:t>Washing </a:t>
            </a:r>
            <a:r>
              <a:rPr lang="en-US" altLang="en-US" sz="3600" b="1" dirty="0" err="1" smtClean="0">
                <a:solidFill>
                  <a:srgbClr val="FF0000"/>
                </a:solidFill>
                <a:effectLst>
                  <a:outerShdw blurRad="38100" dist="38100" dir="2700000" algn="tl">
                    <a:srgbClr val="C0C0C0"/>
                  </a:outerShdw>
                </a:effectLst>
                <a:latin typeface="Arial" panose="020B0604020202020204" pitchFamily="34" charset="0"/>
                <a:cs typeface="Arial" panose="020B0604020202020204" pitchFamily="34" charset="0"/>
              </a:rPr>
              <a:t>equipments</a:t>
            </a:r>
            <a:endParaRPr lang="th-TH" altLang="en-US" sz="3600" b="1" dirty="0" smtClean="0">
              <a:solidFill>
                <a:srgbClr val="FF0000"/>
              </a:solidFill>
              <a:effectLst>
                <a:outerShdw blurRad="38100" dist="38100" dir="2700000" algn="tl">
                  <a:srgbClr val="C0C0C0"/>
                </a:outerShdw>
              </a:effectLst>
              <a:latin typeface="Arial" panose="020B0604020202020204" pitchFamily="34" charset="0"/>
              <a:cs typeface="Arial" panose="020B0604020202020204" pitchFamily="34" charset="0"/>
            </a:endParaRPr>
          </a:p>
        </p:txBody>
      </p:sp>
    </p:spTree>
  </p:cSld>
  <p:clrMapOvr>
    <a:masterClrMapping/>
  </p:clrMapOvr>
  <p:transition spd="slow"/>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Rectangle 2"/>
          <p:cNvSpPr>
            <a:spLocks noChangeArrowheads="1"/>
          </p:cNvSpPr>
          <p:nvPr/>
        </p:nvSpPr>
        <p:spPr bwMode="auto">
          <a:xfrm>
            <a:off x="1042988" y="260350"/>
            <a:ext cx="7391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nchor="ctr"/>
          <a:lstStyle>
            <a:lvl1pPr>
              <a:defRPr sz="2400">
                <a:solidFill>
                  <a:schemeClr val="tx1"/>
                </a:solidFill>
                <a:latin typeface="Times New Roman" panose="02020603050405020304" pitchFamily="18" charset="0"/>
                <a:cs typeface="Angsana New" panose="02020603050405020304" pitchFamily="18" charset="-34"/>
              </a:defRPr>
            </a:lvl1pPr>
            <a:lvl2pPr>
              <a:defRPr sz="2400">
                <a:solidFill>
                  <a:schemeClr val="tx1"/>
                </a:solidFill>
                <a:latin typeface="Times New Roman" panose="02020603050405020304" pitchFamily="18" charset="0"/>
                <a:cs typeface="Angsana New" panose="02020603050405020304" pitchFamily="18" charset="-34"/>
              </a:defRPr>
            </a:lvl2pPr>
            <a:lvl3pPr>
              <a:defRPr sz="2400">
                <a:solidFill>
                  <a:schemeClr val="tx1"/>
                </a:solidFill>
                <a:latin typeface="Times New Roman" panose="02020603050405020304" pitchFamily="18" charset="0"/>
                <a:cs typeface="Angsana New" panose="02020603050405020304" pitchFamily="18" charset="-34"/>
              </a:defRPr>
            </a:lvl3pPr>
            <a:lvl4pPr>
              <a:defRPr sz="2400">
                <a:solidFill>
                  <a:schemeClr val="tx1"/>
                </a:solidFill>
                <a:latin typeface="Times New Roman" panose="02020603050405020304" pitchFamily="18" charset="0"/>
                <a:cs typeface="Angsana New" panose="02020603050405020304" pitchFamily="18" charset="-34"/>
              </a:defRPr>
            </a:lvl4pPr>
            <a:lvl5pPr>
              <a:defRPr sz="2400">
                <a:solidFill>
                  <a:schemeClr val="tx1"/>
                </a:solidFill>
                <a:latin typeface="Times New Roman" panose="02020603050405020304" pitchFamily="18" charset="0"/>
                <a:cs typeface="Angsana New" panose="02020603050405020304" pitchFamily="18" charset="-34"/>
              </a:defRPr>
            </a:lvl5pPr>
            <a:lvl6pPr marL="4572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6pPr>
            <a:lvl7pPr marL="9144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7pPr>
            <a:lvl8pPr marL="13716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8pPr>
            <a:lvl9pPr marL="18288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9pPr>
          </a:lstStyle>
          <a:p>
            <a:pPr>
              <a:defRPr/>
            </a:pPr>
            <a:r>
              <a:rPr lang="en-US" altLang="en-US" sz="3200" b="1" dirty="0" smtClean="0">
                <a:solidFill>
                  <a:srgbClr val="FF0000"/>
                </a:solidFill>
                <a:effectLst>
                  <a:outerShdw blurRad="38100" dist="38100" dir="2700000" algn="tl">
                    <a:srgbClr val="C0C0C0"/>
                  </a:outerShdw>
                </a:effectLst>
                <a:latin typeface="Arial" panose="020B0604020202020204" pitchFamily="34" charset="0"/>
                <a:cs typeface="Arial" panose="020B0604020202020204" pitchFamily="34" charset="0"/>
              </a:rPr>
              <a:t>Principle of </a:t>
            </a:r>
            <a:r>
              <a:rPr lang="en-US" altLang="en-US" sz="3200" b="1" dirty="0" smtClean="0">
                <a:solidFill>
                  <a:schemeClr val="hlink"/>
                </a:solidFill>
                <a:effectLst>
                  <a:outerShdw blurRad="38100" dist="38100" dir="2700000" algn="tl">
                    <a:srgbClr val="C0C0C0"/>
                  </a:outerShdw>
                </a:effectLst>
                <a:latin typeface="Arial" panose="020B0604020202020204" pitchFamily="34" charset="0"/>
                <a:cs typeface="Arial" panose="020B0604020202020204" pitchFamily="34" charset="0"/>
              </a:rPr>
              <a:t>vacuum drum</a:t>
            </a:r>
            <a:r>
              <a:rPr lang="en-US" altLang="en-US" sz="3200" b="1" dirty="0" smtClean="0">
                <a:solidFill>
                  <a:schemeClr val="bg1"/>
                </a:solidFill>
                <a:effectLst>
                  <a:outerShdw blurRad="38100" dist="38100" dir="2700000" algn="tl">
                    <a:srgbClr val="C0C0C0"/>
                  </a:outerShdw>
                </a:effectLst>
                <a:latin typeface="Arial" panose="020B0604020202020204" pitchFamily="34" charset="0"/>
                <a:cs typeface="Arial" panose="020B0604020202020204" pitchFamily="34" charset="0"/>
              </a:rPr>
              <a:t> </a:t>
            </a:r>
            <a:r>
              <a:rPr lang="en-US" altLang="en-US" sz="3200" b="1" dirty="0" smtClean="0">
                <a:solidFill>
                  <a:srgbClr val="FF0000"/>
                </a:solidFill>
                <a:effectLst>
                  <a:outerShdw blurRad="38100" dist="38100" dir="2700000" algn="tl">
                    <a:srgbClr val="C0C0C0"/>
                  </a:outerShdw>
                </a:effectLst>
                <a:latin typeface="Arial" panose="020B0604020202020204" pitchFamily="34" charset="0"/>
                <a:cs typeface="Arial" panose="020B0604020202020204" pitchFamily="34" charset="0"/>
              </a:rPr>
              <a:t>washer</a:t>
            </a:r>
            <a:endParaRPr lang="th-TH" altLang="en-US" sz="3200" b="1" dirty="0" smtClean="0">
              <a:solidFill>
                <a:srgbClr val="FF0000"/>
              </a:solidFill>
              <a:effectLst>
                <a:outerShdw blurRad="38100" dist="38100" dir="2700000" algn="tl">
                  <a:srgbClr val="C0C0C0"/>
                </a:outerShdw>
              </a:effectLst>
              <a:latin typeface="Arial" panose="020B0604020202020204" pitchFamily="34" charset="0"/>
              <a:cs typeface="Arial" panose="020B0604020202020204" pitchFamily="34" charset="0"/>
            </a:endParaRPr>
          </a:p>
        </p:txBody>
      </p:sp>
      <p:pic>
        <p:nvPicPr>
          <p:cNvPr id="320515" name="Picture 4" descr="jn17-01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1371600"/>
            <a:ext cx="6781800" cy="510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16" name="AutoShape 5" descr="70%"/>
          <p:cNvSpPr>
            <a:spLocks noChangeArrowheads="1"/>
          </p:cNvSpPr>
          <p:nvPr/>
        </p:nvSpPr>
        <p:spPr bwMode="auto">
          <a:xfrm flipH="1">
            <a:off x="6096000" y="3352800"/>
            <a:ext cx="685800" cy="914400"/>
          </a:xfrm>
          <a:custGeom>
            <a:avLst/>
            <a:gdLst>
              <a:gd name="T0" fmla="*/ 2147483646 w 21600"/>
              <a:gd name="T1" fmla="*/ 0 h 21600"/>
              <a:gd name="T2" fmla="*/ 2147483646 w 21600"/>
              <a:gd name="T3" fmla="*/ 2147483646 h 21600"/>
              <a:gd name="T4" fmla="*/ 2147483646 w 21600"/>
              <a:gd name="T5" fmla="*/ 2147483646 h 21600"/>
              <a:gd name="T6" fmla="*/ 2147483646 w 21600"/>
              <a:gd name="T7" fmla="*/ 2147483646 h 21600"/>
              <a:gd name="T8" fmla="*/ 2147483646 w 21600"/>
              <a:gd name="T9" fmla="*/ 2147483646 h 21600"/>
              <a:gd name="T10" fmla="*/ 17694720 60000 65536"/>
              <a:gd name="T11" fmla="*/ 5898240 60000 65536"/>
              <a:gd name="T12" fmla="*/ 5898240 60000 65536"/>
              <a:gd name="T13" fmla="*/ 5898240 60000 65536"/>
              <a:gd name="T14" fmla="*/ 0 60000 65536"/>
              <a:gd name="T15" fmla="*/ 0 w 21600"/>
              <a:gd name="T16" fmla="*/ 8310 h 21600"/>
              <a:gd name="T17" fmla="*/ 6110 w 21600"/>
              <a:gd name="T18" fmla="*/ 21600 h 21600"/>
            </a:gdLst>
            <a:ahLst/>
            <a:cxnLst>
              <a:cxn ang="T10">
                <a:pos x="T0" y="T1"/>
              </a:cxn>
              <a:cxn ang="T11">
                <a:pos x="T2" y="T3"/>
              </a:cxn>
              <a:cxn ang="T12">
                <a:pos x="T4" y="T5"/>
              </a:cxn>
              <a:cxn ang="T13">
                <a:pos x="T6" y="T7"/>
              </a:cxn>
              <a:cxn ang="T14">
                <a:pos x="T8" y="T9"/>
              </a:cxn>
            </a:cxnLst>
            <a:rect l="T15" t="T16" r="T17" b="T18"/>
            <a:pathLst>
              <a:path w="21600" h="21600">
                <a:moveTo>
                  <a:pt x="15662" y="14285"/>
                </a:moveTo>
                <a:lnTo>
                  <a:pt x="21600" y="8310"/>
                </a:lnTo>
                <a:lnTo>
                  <a:pt x="18630" y="8310"/>
                </a:lnTo>
                <a:cubicBezTo>
                  <a:pt x="18630" y="3721"/>
                  <a:pt x="14430" y="0"/>
                  <a:pt x="9250" y="0"/>
                </a:cubicBezTo>
                <a:cubicBezTo>
                  <a:pt x="4141" y="0"/>
                  <a:pt x="0" y="3799"/>
                  <a:pt x="0" y="8485"/>
                </a:cubicBezTo>
                <a:lnTo>
                  <a:pt x="0" y="21600"/>
                </a:lnTo>
                <a:lnTo>
                  <a:pt x="6110" y="21600"/>
                </a:lnTo>
                <a:lnTo>
                  <a:pt x="6110" y="8310"/>
                </a:lnTo>
                <a:cubicBezTo>
                  <a:pt x="6110" y="6947"/>
                  <a:pt x="7362" y="5842"/>
                  <a:pt x="8907" y="5842"/>
                </a:cubicBezTo>
                <a:lnTo>
                  <a:pt x="9725" y="5842"/>
                </a:lnTo>
                <a:cubicBezTo>
                  <a:pt x="11269" y="5842"/>
                  <a:pt x="12520" y="6947"/>
                  <a:pt x="12520" y="8310"/>
                </a:cubicBezTo>
                <a:lnTo>
                  <a:pt x="9725" y="8310"/>
                </a:lnTo>
                <a:lnTo>
                  <a:pt x="15662" y="14285"/>
                </a:lnTo>
                <a:close/>
              </a:path>
            </a:pathLst>
          </a:custGeom>
          <a:pattFill prst="pct70">
            <a:fgClr>
              <a:srgbClr val="996633"/>
            </a:fgClr>
            <a:bgClr>
              <a:srgbClr val="FFFFFF"/>
            </a:bgClr>
          </a:patt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0517" name="Text Box 6"/>
          <p:cNvSpPr txBox="1">
            <a:spLocks noChangeArrowheads="1"/>
          </p:cNvSpPr>
          <p:nvPr/>
        </p:nvSpPr>
        <p:spPr bwMode="auto">
          <a:xfrm>
            <a:off x="6084888" y="4292600"/>
            <a:ext cx="1223962" cy="1054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50000"/>
              </a:spcBef>
              <a:buFontTx/>
              <a:buNone/>
            </a:pPr>
            <a:r>
              <a:rPr lang="en-US" altLang="en-US" sz="1800" b="1">
                <a:solidFill>
                  <a:schemeClr val="hlink"/>
                </a:solidFill>
              </a:rPr>
              <a:t>PULP INLET</a:t>
            </a:r>
          </a:p>
          <a:p>
            <a:pPr algn="ctr">
              <a:spcBef>
                <a:spcPct val="50000"/>
              </a:spcBef>
              <a:buFontTx/>
              <a:buNone/>
            </a:pPr>
            <a:r>
              <a:rPr lang="en-US" altLang="en-US" sz="1800" b="1">
                <a:solidFill>
                  <a:schemeClr val="hlink"/>
                </a:solidFill>
              </a:rPr>
              <a:t>Cons 1%</a:t>
            </a:r>
          </a:p>
        </p:txBody>
      </p:sp>
      <p:sp>
        <p:nvSpPr>
          <p:cNvPr id="320518" name="AutoShape 7"/>
          <p:cNvSpPr>
            <a:spLocks noChangeArrowheads="1"/>
          </p:cNvSpPr>
          <p:nvPr/>
        </p:nvSpPr>
        <p:spPr bwMode="auto">
          <a:xfrm rot="-1800000">
            <a:off x="1258888" y="2349500"/>
            <a:ext cx="576262" cy="360363"/>
          </a:xfrm>
          <a:prstGeom prst="leftArrow">
            <a:avLst>
              <a:gd name="adj1" fmla="val 50000"/>
              <a:gd name="adj2" fmla="val 39978"/>
            </a:avLst>
          </a:prstGeom>
          <a:solidFill>
            <a:srgbClr val="996600"/>
          </a:solidFill>
          <a:ln w="9525">
            <a:solidFill>
              <a:srgbClr val="9966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20519" name="Text Box 8"/>
          <p:cNvSpPr txBox="1">
            <a:spLocks noChangeArrowheads="1"/>
          </p:cNvSpPr>
          <p:nvPr/>
        </p:nvSpPr>
        <p:spPr bwMode="auto">
          <a:xfrm>
            <a:off x="684213" y="1268413"/>
            <a:ext cx="1800225" cy="1054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50000"/>
              </a:spcBef>
              <a:buFontTx/>
              <a:buNone/>
            </a:pPr>
            <a:r>
              <a:rPr lang="en-US" altLang="en-US" sz="1800" b="1">
                <a:solidFill>
                  <a:schemeClr val="hlink"/>
                </a:solidFill>
              </a:rPr>
              <a:t>PULP DISCHARGE</a:t>
            </a:r>
          </a:p>
          <a:p>
            <a:pPr algn="ctr">
              <a:spcBef>
                <a:spcPct val="50000"/>
              </a:spcBef>
              <a:buFontTx/>
              <a:buNone/>
            </a:pPr>
            <a:r>
              <a:rPr lang="en-US" altLang="en-US" sz="1800" b="1">
                <a:solidFill>
                  <a:schemeClr val="hlink"/>
                </a:solidFill>
              </a:rPr>
              <a:t>Cons 12-14%</a:t>
            </a:r>
          </a:p>
        </p:txBody>
      </p:sp>
      <p:sp>
        <p:nvSpPr>
          <p:cNvPr id="320520" name="Text Box 9"/>
          <p:cNvSpPr txBox="1">
            <a:spLocks noChangeArrowheads="1"/>
          </p:cNvSpPr>
          <p:nvPr/>
        </p:nvSpPr>
        <p:spPr bwMode="auto">
          <a:xfrm>
            <a:off x="4859338" y="2205038"/>
            <a:ext cx="1511300" cy="557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lnSpc>
                <a:spcPct val="70000"/>
              </a:lnSpc>
              <a:spcBef>
                <a:spcPct val="50000"/>
              </a:spcBef>
              <a:buFontTx/>
              <a:buNone/>
            </a:pPr>
            <a:r>
              <a:rPr lang="en-US" altLang="en-US" sz="1600" b="1">
                <a:solidFill>
                  <a:schemeClr val="bg2"/>
                </a:solidFill>
              </a:rPr>
              <a:t>Wash water</a:t>
            </a:r>
          </a:p>
          <a:p>
            <a:pPr algn="ctr">
              <a:lnSpc>
                <a:spcPct val="70000"/>
              </a:lnSpc>
              <a:spcBef>
                <a:spcPct val="50000"/>
              </a:spcBef>
              <a:buFontTx/>
              <a:buNone/>
            </a:pPr>
            <a:r>
              <a:rPr lang="en-US" altLang="en-US" sz="1600" b="1">
                <a:solidFill>
                  <a:schemeClr val="bg2"/>
                </a:solidFill>
              </a:rPr>
              <a:t>shower</a:t>
            </a:r>
          </a:p>
        </p:txBody>
      </p:sp>
      <p:sp>
        <p:nvSpPr>
          <p:cNvPr id="320521" name="Line 11"/>
          <p:cNvSpPr>
            <a:spLocks noChangeShapeType="1"/>
          </p:cNvSpPr>
          <p:nvPr/>
        </p:nvSpPr>
        <p:spPr bwMode="auto">
          <a:xfrm>
            <a:off x="5003800" y="5229225"/>
            <a:ext cx="1081088" cy="504825"/>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0522" name="Text Box 12"/>
          <p:cNvSpPr txBox="1">
            <a:spLocks noChangeArrowheads="1"/>
          </p:cNvSpPr>
          <p:nvPr/>
        </p:nvSpPr>
        <p:spPr bwMode="auto">
          <a:xfrm rot="1526786">
            <a:off x="4787900" y="5157788"/>
            <a:ext cx="165576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50000"/>
              </a:spcBef>
              <a:buFontTx/>
              <a:buNone/>
            </a:pPr>
            <a:r>
              <a:rPr lang="en-US" altLang="en-US" sz="1600" b="1">
                <a:solidFill>
                  <a:schemeClr val="bg2"/>
                </a:solidFill>
              </a:rPr>
              <a:t>VAT LEVEL</a:t>
            </a:r>
          </a:p>
        </p:txBody>
      </p:sp>
    </p:spTree>
  </p:cSld>
  <p:clrMapOvr>
    <a:masterClrMapping/>
  </p:clrMapOvr>
  <p:transition spd="slow"/>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8" name="Rectangle 2"/>
          <p:cNvSpPr>
            <a:spLocks noGrp="1" noChangeArrowheads="1"/>
          </p:cNvSpPr>
          <p:nvPr>
            <p:ph type="title"/>
          </p:nvPr>
        </p:nvSpPr>
        <p:spPr>
          <a:xfrm>
            <a:off x="550863" y="557213"/>
            <a:ext cx="8143875" cy="1143000"/>
          </a:xfrm>
        </p:spPr>
        <p:txBody>
          <a:bodyPr/>
          <a:lstStyle/>
          <a:p>
            <a:pPr algn="l"/>
            <a:r>
              <a:rPr lang="en-US" altLang="en-US" sz="3600" b="1" smtClean="0">
                <a:solidFill>
                  <a:srgbClr val="FF0000"/>
                </a:solidFill>
              </a:rPr>
              <a:t>Displacement principle of </a:t>
            </a:r>
            <a:r>
              <a:rPr lang="en-US" altLang="en-US" sz="3600" b="1" smtClean="0">
                <a:solidFill>
                  <a:schemeClr val="hlink"/>
                </a:solidFill>
              </a:rPr>
              <a:t>rotary vacuum</a:t>
            </a:r>
            <a:r>
              <a:rPr lang="en-US" altLang="en-US" sz="3600" b="1" smtClean="0">
                <a:solidFill>
                  <a:schemeClr val="bg1"/>
                </a:solidFill>
              </a:rPr>
              <a:t> </a:t>
            </a:r>
            <a:r>
              <a:rPr lang="en-US" altLang="en-US" sz="3600" b="1" smtClean="0">
                <a:solidFill>
                  <a:srgbClr val="FF0000"/>
                </a:solidFill>
              </a:rPr>
              <a:t>washer</a:t>
            </a:r>
            <a:endParaRPr lang="th-TH" altLang="en-US" sz="3600" b="1" smtClean="0">
              <a:solidFill>
                <a:srgbClr val="FF0000"/>
              </a:solidFill>
            </a:endParaRPr>
          </a:p>
        </p:txBody>
      </p:sp>
      <p:pic>
        <p:nvPicPr>
          <p:cNvPr id="321539" name="Picture 3" descr="jn28-001"/>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1619250" y="1754188"/>
            <a:ext cx="6121400" cy="4586287"/>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slow"/>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Rectangle 2"/>
          <p:cNvSpPr>
            <a:spLocks noChangeArrowheads="1"/>
          </p:cNvSpPr>
          <p:nvPr/>
        </p:nvSpPr>
        <p:spPr bwMode="auto">
          <a:xfrm>
            <a:off x="1042988" y="188913"/>
            <a:ext cx="7391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nchor="ctr"/>
          <a:lstStyle>
            <a:lvl1pPr>
              <a:defRPr sz="2400">
                <a:solidFill>
                  <a:schemeClr val="tx1"/>
                </a:solidFill>
                <a:latin typeface="Times New Roman" panose="02020603050405020304" pitchFamily="18" charset="0"/>
                <a:cs typeface="Angsana New" panose="02020603050405020304" pitchFamily="18" charset="-34"/>
              </a:defRPr>
            </a:lvl1pPr>
            <a:lvl2pPr>
              <a:defRPr sz="2400">
                <a:solidFill>
                  <a:schemeClr val="tx1"/>
                </a:solidFill>
                <a:latin typeface="Times New Roman" panose="02020603050405020304" pitchFamily="18" charset="0"/>
                <a:cs typeface="Angsana New" panose="02020603050405020304" pitchFamily="18" charset="-34"/>
              </a:defRPr>
            </a:lvl2pPr>
            <a:lvl3pPr>
              <a:defRPr sz="2400">
                <a:solidFill>
                  <a:schemeClr val="tx1"/>
                </a:solidFill>
                <a:latin typeface="Times New Roman" panose="02020603050405020304" pitchFamily="18" charset="0"/>
                <a:cs typeface="Angsana New" panose="02020603050405020304" pitchFamily="18" charset="-34"/>
              </a:defRPr>
            </a:lvl3pPr>
            <a:lvl4pPr>
              <a:defRPr sz="2400">
                <a:solidFill>
                  <a:schemeClr val="tx1"/>
                </a:solidFill>
                <a:latin typeface="Times New Roman" panose="02020603050405020304" pitchFamily="18" charset="0"/>
                <a:cs typeface="Angsana New" panose="02020603050405020304" pitchFamily="18" charset="-34"/>
              </a:defRPr>
            </a:lvl4pPr>
            <a:lvl5pPr>
              <a:defRPr sz="2400">
                <a:solidFill>
                  <a:schemeClr val="tx1"/>
                </a:solidFill>
                <a:latin typeface="Times New Roman" panose="02020603050405020304" pitchFamily="18" charset="0"/>
                <a:cs typeface="Angsana New" panose="02020603050405020304" pitchFamily="18" charset="-34"/>
              </a:defRPr>
            </a:lvl5pPr>
            <a:lvl6pPr marL="4572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6pPr>
            <a:lvl7pPr marL="9144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7pPr>
            <a:lvl8pPr marL="13716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8pPr>
            <a:lvl9pPr marL="18288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9pPr>
          </a:lstStyle>
          <a:p>
            <a:pPr>
              <a:defRPr/>
            </a:pPr>
            <a:r>
              <a:rPr lang="en-US" altLang="en-US" sz="3200" b="1" dirty="0" smtClean="0">
                <a:solidFill>
                  <a:srgbClr val="FF0000"/>
                </a:solidFill>
                <a:effectLst>
                  <a:outerShdw blurRad="38100" dist="38100" dir="2700000" algn="tl">
                    <a:srgbClr val="C0C0C0"/>
                  </a:outerShdw>
                </a:effectLst>
                <a:latin typeface="Arial" panose="020B0604020202020204" pitchFamily="34" charset="0"/>
                <a:cs typeface="Arial" panose="020B0604020202020204" pitchFamily="34" charset="0"/>
              </a:rPr>
              <a:t>Structure of </a:t>
            </a:r>
            <a:r>
              <a:rPr lang="en-US" altLang="en-US" sz="3200" b="1" dirty="0" smtClean="0">
                <a:solidFill>
                  <a:schemeClr val="hlink"/>
                </a:solidFill>
                <a:effectLst>
                  <a:outerShdw blurRad="38100" dist="38100" dir="2700000" algn="tl">
                    <a:srgbClr val="C0C0C0"/>
                  </a:outerShdw>
                </a:effectLst>
                <a:latin typeface="Arial" panose="020B0604020202020204" pitchFamily="34" charset="0"/>
                <a:cs typeface="Arial" panose="020B0604020202020204" pitchFamily="34" charset="0"/>
              </a:rPr>
              <a:t>vacuum drum</a:t>
            </a:r>
            <a:r>
              <a:rPr lang="en-US" altLang="en-US" sz="3200" b="1" dirty="0" smtClean="0">
                <a:solidFill>
                  <a:schemeClr val="bg1"/>
                </a:solidFill>
                <a:effectLst>
                  <a:outerShdw blurRad="38100" dist="38100" dir="2700000" algn="tl">
                    <a:srgbClr val="C0C0C0"/>
                  </a:outerShdw>
                </a:effectLst>
                <a:latin typeface="Arial" panose="020B0604020202020204" pitchFamily="34" charset="0"/>
                <a:cs typeface="Arial" panose="020B0604020202020204" pitchFamily="34" charset="0"/>
              </a:rPr>
              <a:t> </a:t>
            </a:r>
            <a:r>
              <a:rPr lang="en-US" altLang="en-US" sz="3200" b="1" dirty="0" smtClean="0">
                <a:solidFill>
                  <a:srgbClr val="FF0000"/>
                </a:solidFill>
                <a:effectLst>
                  <a:outerShdw blurRad="38100" dist="38100" dir="2700000" algn="tl">
                    <a:srgbClr val="C0C0C0"/>
                  </a:outerShdw>
                </a:effectLst>
                <a:latin typeface="Arial" panose="020B0604020202020204" pitchFamily="34" charset="0"/>
                <a:cs typeface="Arial" panose="020B0604020202020204" pitchFamily="34" charset="0"/>
              </a:rPr>
              <a:t>washer</a:t>
            </a:r>
            <a:endParaRPr lang="th-TH" altLang="en-US" sz="3200" b="1" dirty="0" smtClean="0">
              <a:solidFill>
                <a:srgbClr val="FF0000"/>
              </a:solidFill>
              <a:effectLst>
                <a:outerShdw blurRad="38100" dist="38100" dir="2700000" algn="tl">
                  <a:srgbClr val="C0C0C0"/>
                </a:outerShdw>
              </a:effectLst>
              <a:latin typeface="Arial" panose="020B0604020202020204" pitchFamily="34" charset="0"/>
              <a:cs typeface="Arial" panose="020B0604020202020204" pitchFamily="34" charset="0"/>
            </a:endParaRPr>
          </a:p>
        </p:txBody>
      </p:sp>
      <p:grpSp>
        <p:nvGrpSpPr>
          <p:cNvPr id="322563" name="Group 3"/>
          <p:cNvGrpSpPr>
            <a:grpSpLocks/>
          </p:cNvGrpSpPr>
          <p:nvPr/>
        </p:nvGrpSpPr>
        <p:grpSpPr bwMode="auto">
          <a:xfrm>
            <a:off x="1187450" y="1196975"/>
            <a:ext cx="6630988" cy="5270500"/>
            <a:chOff x="748" y="816"/>
            <a:chExt cx="4177" cy="3320"/>
          </a:xfrm>
        </p:grpSpPr>
        <p:pic>
          <p:nvPicPr>
            <p:cNvPr id="322564" name="Picture 4" descr="jn17-01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16" y="816"/>
              <a:ext cx="4109" cy="3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565" name="Text Box 5"/>
            <p:cNvSpPr txBox="1">
              <a:spLocks noChangeArrowheads="1"/>
            </p:cNvSpPr>
            <p:nvPr/>
          </p:nvSpPr>
          <p:spPr bwMode="auto">
            <a:xfrm>
              <a:off x="748" y="3702"/>
              <a:ext cx="771" cy="3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50000"/>
                </a:spcBef>
                <a:buFontTx/>
                <a:buNone/>
              </a:pPr>
              <a:r>
                <a:rPr lang="en-US" altLang="en-US" sz="1600" b="1">
                  <a:solidFill>
                    <a:schemeClr val="hlink"/>
                  </a:solidFill>
                </a:rPr>
                <a:t>PULP INLET</a:t>
              </a:r>
            </a:p>
          </p:txBody>
        </p:sp>
        <p:sp>
          <p:nvSpPr>
            <p:cNvPr id="322566" name="Text Box 6"/>
            <p:cNvSpPr txBox="1">
              <a:spLocks noChangeArrowheads="1"/>
            </p:cNvSpPr>
            <p:nvPr/>
          </p:nvSpPr>
          <p:spPr bwMode="auto">
            <a:xfrm>
              <a:off x="1292" y="3884"/>
              <a:ext cx="1225"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50000"/>
                </a:spcBef>
                <a:buFontTx/>
                <a:buNone/>
              </a:pPr>
              <a:r>
                <a:rPr lang="en-US" altLang="en-US" sz="1600" b="1">
                  <a:solidFill>
                    <a:schemeClr val="bg2"/>
                  </a:solidFill>
                </a:rPr>
                <a:t>FILTRATE </a:t>
              </a:r>
            </a:p>
          </p:txBody>
        </p:sp>
        <p:sp>
          <p:nvSpPr>
            <p:cNvPr id="322567" name="Text Box 7"/>
            <p:cNvSpPr txBox="1">
              <a:spLocks noChangeArrowheads="1"/>
            </p:cNvSpPr>
            <p:nvPr/>
          </p:nvSpPr>
          <p:spPr bwMode="auto">
            <a:xfrm>
              <a:off x="3606" y="845"/>
              <a:ext cx="1225"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50000"/>
                </a:spcBef>
                <a:buFontTx/>
                <a:buNone/>
              </a:pPr>
              <a:r>
                <a:rPr lang="en-US" altLang="en-US" sz="1600" b="1">
                  <a:solidFill>
                    <a:schemeClr val="bg2"/>
                  </a:solidFill>
                </a:rPr>
                <a:t>VENT</a:t>
              </a:r>
            </a:p>
          </p:txBody>
        </p:sp>
        <p:sp>
          <p:nvSpPr>
            <p:cNvPr id="322568" name="Text Box 8"/>
            <p:cNvSpPr txBox="1">
              <a:spLocks noChangeArrowheads="1"/>
            </p:cNvSpPr>
            <p:nvPr/>
          </p:nvSpPr>
          <p:spPr bwMode="auto">
            <a:xfrm>
              <a:off x="3379" y="3249"/>
              <a:ext cx="1180" cy="3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50000"/>
                </a:spcBef>
                <a:buFontTx/>
                <a:buNone/>
              </a:pPr>
              <a:r>
                <a:rPr lang="en-US" altLang="en-US" sz="1600" b="1">
                  <a:solidFill>
                    <a:schemeClr val="hlink"/>
                  </a:solidFill>
                </a:rPr>
                <a:t>PULP DISCHARGE</a:t>
              </a:r>
            </a:p>
          </p:txBody>
        </p:sp>
        <p:sp>
          <p:nvSpPr>
            <p:cNvPr id="322569" name="AutoShape 9"/>
            <p:cNvSpPr>
              <a:spLocks noChangeArrowheads="1"/>
            </p:cNvSpPr>
            <p:nvPr/>
          </p:nvSpPr>
          <p:spPr bwMode="auto">
            <a:xfrm rot="2988413">
              <a:off x="2676" y="2183"/>
              <a:ext cx="273" cy="227"/>
            </a:xfrm>
            <a:prstGeom prst="rightArrow">
              <a:avLst>
                <a:gd name="adj1" fmla="val 50000"/>
                <a:gd name="adj2" fmla="val 30066"/>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spTree>
  </p:cSld>
  <p:clrMapOvr>
    <a:masterClrMapping/>
  </p:clrMapOvr>
  <p:transition spd="slow"/>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3586" name="Picture 2" descr="jn17-0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16013" y="981075"/>
            <a:ext cx="6715125" cy="554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115" name="Rectangle 3"/>
          <p:cNvSpPr>
            <a:spLocks noChangeArrowheads="1"/>
          </p:cNvSpPr>
          <p:nvPr/>
        </p:nvSpPr>
        <p:spPr bwMode="auto">
          <a:xfrm>
            <a:off x="990600" y="0"/>
            <a:ext cx="7391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nchor="ctr"/>
          <a:lstStyle>
            <a:lvl1pPr>
              <a:defRPr sz="2400">
                <a:solidFill>
                  <a:schemeClr val="tx1"/>
                </a:solidFill>
                <a:latin typeface="Times New Roman" panose="02020603050405020304" pitchFamily="18" charset="0"/>
                <a:cs typeface="Angsana New" panose="02020603050405020304" pitchFamily="18" charset="-34"/>
              </a:defRPr>
            </a:lvl1pPr>
            <a:lvl2pPr>
              <a:defRPr sz="2400">
                <a:solidFill>
                  <a:schemeClr val="tx1"/>
                </a:solidFill>
                <a:latin typeface="Times New Roman" panose="02020603050405020304" pitchFamily="18" charset="0"/>
                <a:cs typeface="Angsana New" panose="02020603050405020304" pitchFamily="18" charset="-34"/>
              </a:defRPr>
            </a:lvl2pPr>
            <a:lvl3pPr>
              <a:defRPr sz="2400">
                <a:solidFill>
                  <a:schemeClr val="tx1"/>
                </a:solidFill>
                <a:latin typeface="Times New Roman" panose="02020603050405020304" pitchFamily="18" charset="0"/>
                <a:cs typeface="Angsana New" panose="02020603050405020304" pitchFamily="18" charset="-34"/>
              </a:defRPr>
            </a:lvl3pPr>
            <a:lvl4pPr>
              <a:defRPr sz="2400">
                <a:solidFill>
                  <a:schemeClr val="tx1"/>
                </a:solidFill>
                <a:latin typeface="Times New Roman" panose="02020603050405020304" pitchFamily="18" charset="0"/>
                <a:cs typeface="Angsana New" panose="02020603050405020304" pitchFamily="18" charset="-34"/>
              </a:defRPr>
            </a:lvl4pPr>
            <a:lvl5pPr>
              <a:defRPr sz="2400">
                <a:solidFill>
                  <a:schemeClr val="tx1"/>
                </a:solidFill>
                <a:latin typeface="Times New Roman" panose="02020603050405020304" pitchFamily="18" charset="0"/>
                <a:cs typeface="Angsana New" panose="02020603050405020304" pitchFamily="18" charset="-34"/>
              </a:defRPr>
            </a:lvl5pPr>
            <a:lvl6pPr marL="4572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6pPr>
            <a:lvl7pPr marL="9144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7pPr>
            <a:lvl8pPr marL="13716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8pPr>
            <a:lvl9pPr marL="18288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9pPr>
          </a:lstStyle>
          <a:p>
            <a:pPr>
              <a:defRPr/>
            </a:pPr>
            <a:r>
              <a:rPr lang="en-US" altLang="en-US" sz="3600" b="1" dirty="0" smtClean="0">
                <a:solidFill>
                  <a:srgbClr val="FF0000"/>
                </a:solidFill>
                <a:effectLst>
                  <a:outerShdw blurRad="38100" dist="38100" dir="2700000" algn="tl">
                    <a:srgbClr val="C0C0C0"/>
                  </a:outerShdw>
                </a:effectLst>
                <a:latin typeface="Arial" panose="020B0604020202020204" pitchFamily="34" charset="0"/>
                <a:cs typeface="Arial" panose="020B0604020202020204" pitchFamily="34" charset="0"/>
              </a:rPr>
              <a:t>Internal of </a:t>
            </a:r>
            <a:r>
              <a:rPr lang="en-US" altLang="en-US" sz="3600" b="1" dirty="0" smtClean="0">
                <a:solidFill>
                  <a:schemeClr val="hlink"/>
                </a:solidFill>
                <a:effectLst>
                  <a:outerShdw blurRad="38100" dist="38100" dir="2700000" algn="tl">
                    <a:srgbClr val="C0C0C0"/>
                  </a:outerShdw>
                </a:effectLst>
                <a:latin typeface="Arial" panose="020B0604020202020204" pitchFamily="34" charset="0"/>
                <a:cs typeface="Arial" panose="020B0604020202020204" pitchFamily="34" charset="0"/>
              </a:rPr>
              <a:t>vacuum drum</a:t>
            </a:r>
            <a:r>
              <a:rPr lang="en-US" altLang="en-US" sz="3600" b="1" dirty="0" smtClean="0">
                <a:solidFill>
                  <a:schemeClr val="bg1"/>
                </a:solidFill>
                <a:effectLst>
                  <a:outerShdw blurRad="38100" dist="38100" dir="2700000" algn="tl">
                    <a:srgbClr val="C0C0C0"/>
                  </a:outerShdw>
                </a:effectLst>
                <a:latin typeface="Arial" panose="020B0604020202020204" pitchFamily="34" charset="0"/>
                <a:cs typeface="Arial" panose="020B0604020202020204" pitchFamily="34" charset="0"/>
              </a:rPr>
              <a:t> </a:t>
            </a:r>
            <a:r>
              <a:rPr lang="en-US" altLang="en-US" sz="3600" b="1" dirty="0" smtClean="0">
                <a:solidFill>
                  <a:srgbClr val="FF0000"/>
                </a:solidFill>
                <a:effectLst>
                  <a:outerShdw blurRad="38100" dist="38100" dir="2700000" algn="tl">
                    <a:srgbClr val="C0C0C0"/>
                  </a:outerShdw>
                </a:effectLst>
                <a:latin typeface="Arial" panose="020B0604020202020204" pitchFamily="34" charset="0"/>
                <a:cs typeface="Arial" panose="020B0604020202020204" pitchFamily="34" charset="0"/>
              </a:rPr>
              <a:t>washer</a:t>
            </a:r>
            <a:endParaRPr lang="th-TH" altLang="en-US" sz="3600" b="1" dirty="0" smtClean="0">
              <a:solidFill>
                <a:srgbClr val="FF0000"/>
              </a:solidFill>
              <a:effectLst>
                <a:outerShdw blurRad="38100" dist="38100" dir="2700000" algn="tl">
                  <a:srgbClr val="C0C0C0"/>
                </a:outerShdw>
              </a:effectLst>
              <a:latin typeface="Arial" panose="020B0604020202020204" pitchFamily="34" charset="0"/>
              <a:cs typeface="Arial" panose="020B0604020202020204" pitchFamily="34" charset="0"/>
            </a:endParaRPr>
          </a:p>
        </p:txBody>
      </p:sp>
      <p:pic>
        <p:nvPicPr>
          <p:cNvPr id="218116" name="Picture 4" descr="139_399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67400" y="1557338"/>
            <a:ext cx="3105150" cy="2328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218116"/>
                                        </p:tgtEl>
                                        <p:attrNameLst>
                                          <p:attrName>style.visibility</p:attrName>
                                        </p:attrNameLst>
                                      </p:cBhvr>
                                      <p:to>
                                        <p:strVal val="visible"/>
                                      </p:to>
                                    </p:set>
                                    <p:animEffect transition="in" filter="dissolve">
                                      <p:cBhvr>
                                        <p:cTn id="7" dur="500"/>
                                        <p:tgtEl>
                                          <p:spTgt spid="218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4610" name="Picture 2" descr="jn17-00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92275" y="908050"/>
            <a:ext cx="5805488" cy="5619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0163" name="Rectangle 3"/>
          <p:cNvSpPr>
            <a:spLocks noChangeArrowheads="1"/>
          </p:cNvSpPr>
          <p:nvPr/>
        </p:nvSpPr>
        <p:spPr bwMode="auto">
          <a:xfrm>
            <a:off x="971550" y="0"/>
            <a:ext cx="7391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nchor="ctr"/>
          <a:lstStyle>
            <a:lvl1pPr>
              <a:defRPr sz="2400">
                <a:solidFill>
                  <a:schemeClr val="tx1"/>
                </a:solidFill>
                <a:latin typeface="Times New Roman" panose="02020603050405020304" pitchFamily="18" charset="0"/>
                <a:cs typeface="Angsana New" panose="02020603050405020304" pitchFamily="18" charset="-34"/>
              </a:defRPr>
            </a:lvl1pPr>
            <a:lvl2pPr>
              <a:defRPr sz="2400">
                <a:solidFill>
                  <a:schemeClr val="tx1"/>
                </a:solidFill>
                <a:latin typeface="Times New Roman" panose="02020603050405020304" pitchFamily="18" charset="0"/>
                <a:cs typeface="Angsana New" panose="02020603050405020304" pitchFamily="18" charset="-34"/>
              </a:defRPr>
            </a:lvl2pPr>
            <a:lvl3pPr>
              <a:defRPr sz="2400">
                <a:solidFill>
                  <a:schemeClr val="tx1"/>
                </a:solidFill>
                <a:latin typeface="Times New Roman" panose="02020603050405020304" pitchFamily="18" charset="0"/>
                <a:cs typeface="Angsana New" panose="02020603050405020304" pitchFamily="18" charset="-34"/>
              </a:defRPr>
            </a:lvl3pPr>
            <a:lvl4pPr>
              <a:defRPr sz="2400">
                <a:solidFill>
                  <a:schemeClr val="tx1"/>
                </a:solidFill>
                <a:latin typeface="Times New Roman" panose="02020603050405020304" pitchFamily="18" charset="0"/>
                <a:cs typeface="Angsana New" panose="02020603050405020304" pitchFamily="18" charset="-34"/>
              </a:defRPr>
            </a:lvl4pPr>
            <a:lvl5pPr>
              <a:defRPr sz="2400">
                <a:solidFill>
                  <a:schemeClr val="tx1"/>
                </a:solidFill>
                <a:latin typeface="Times New Roman" panose="02020603050405020304" pitchFamily="18" charset="0"/>
                <a:cs typeface="Angsana New" panose="02020603050405020304" pitchFamily="18" charset="-34"/>
              </a:defRPr>
            </a:lvl5pPr>
            <a:lvl6pPr marL="4572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6pPr>
            <a:lvl7pPr marL="9144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7pPr>
            <a:lvl8pPr marL="13716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8pPr>
            <a:lvl9pPr marL="18288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9pPr>
          </a:lstStyle>
          <a:p>
            <a:pPr>
              <a:defRPr/>
            </a:pPr>
            <a:r>
              <a:rPr lang="en-US" altLang="en-US" sz="3600" b="1" dirty="0" smtClean="0">
                <a:solidFill>
                  <a:srgbClr val="FF0000"/>
                </a:solidFill>
                <a:effectLst>
                  <a:outerShdw blurRad="38100" dist="38100" dir="2700000" algn="tl">
                    <a:srgbClr val="C0C0C0"/>
                  </a:outerShdw>
                </a:effectLst>
                <a:latin typeface="Arial" panose="020B0604020202020204" pitchFamily="34" charset="0"/>
                <a:cs typeface="Arial" panose="020B0604020202020204" pitchFamily="34" charset="0"/>
              </a:rPr>
              <a:t>Washing zone in </a:t>
            </a:r>
            <a:r>
              <a:rPr lang="en-US" altLang="en-US" sz="3600" b="1" dirty="0" err="1" smtClean="0">
                <a:solidFill>
                  <a:schemeClr val="hlink"/>
                </a:solidFill>
                <a:effectLst>
                  <a:outerShdw blurRad="38100" dist="38100" dir="2700000" algn="tl">
                    <a:srgbClr val="C0C0C0"/>
                  </a:outerShdw>
                </a:effectLst>
                <a:latin typeface="Arial" panose="020B0604020202020204" pitchFamily="34" charset="0"/>
                <a:cs typeface="Arial" panose="020B0604020202020204" pitchFamily="34" charset="0"/>
              </a:rPr>
              <a:t>Kamyr</a:t>
            </a:r>
            <a:r>
              <a:rPr lang="en-US" altLang="en-US" sz="3600" b="1" dirty="0" smtClean="0">
                <a:solidFill>
                  <a:schemeClr val="hlink"/>
                </a:solidFill>
                <a:effectLst>
                  <a:outerShdw blurRad="38100" dist="38100" dir="2700000" algn="tl">
                    <a:srgbClr val="C0C0C0"/>
                  </a:outerShdw>
                </a:effectLst>
                <a:latin typeface="Arial" panose="020B0604020202020204" pitchFamily="34" charset="0"/>
                <a:cs typeface="Arial" panose="020B0604020202020204" pitchFamily="34" charset="0"/>
              </a:rPr>
              <a:t> digester</a:t>
            </a:r>
            <a:endParaRPr lang="th-TH" altLang="en-US" sz="3600" b="1" dirty="0" smtClean="0">
              <a:solidFill>
                <a:schemeClr val="hlink"/>
              </a:solidFill>
              <a:effectLst>
                <a:outerShdw blurRad="38100" dist="38100" dir="2700000" algn="tl">
                  <a:srgbClr val="C0C0C0"/>
                </a:outerShdw>
              </a:effectLst>
              <a:latin typeface="Arial" panose="020B0604020202020204" pitchFamily="34" charset="0"/>
              <a:cs typeface="Arial" panose="020B0604020202020204" pitchFamily="34" charset="0"/>
            </a:endParaRPr>
          </a:p>
        </p:txBody>
      </p:sp>
    </p:spTree>
  </p:cSld>
  <p:clrMapOvr>
    <a:masterClrMapping/>
  </p:clrMapOvr>
  <p:transition spd="slow"/>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4" name="Rectangle 2"/>
          <p:cNvSpPr>
            <a:spLocks noGrp="1" noChangeArrowheads="1"/>
          </p:cNvSpPr>
          <p:nvPr>
            <p:ph type="title"/>
          </p:nvPr>
        </p:nvSpPr>
        <p:spPr>
          <a:noFill/>
        </p:spPr>
        <p:txBody>
          <a:bodyPr/>
          <a:lstStyle/>
          <a:p>
            <a:pPr algn="l"/>
            <a:r>
              <a:rPr lang="en-US" altLang="en-US" b="1" smtClean="0">
                <a:solidFill>
                  <a:schemeClr val="hlink"/>
                </a:solidFill>
              </a:rPr>
              <a:t>Topic outlines</a:t>
            </a:r>
            <a:endParaRPr lang="th-TH" altLang="en-US" b="1" smtClean="0">
              <a:solidFill>
                <a:schemeClr val="hlink"/>
              </a:solidFill>
            </a:endParaRPr>
          </a:p>
        </p:txBody>
      </p:sp>
      <p:sp>
        <p:nvSpPr>
          <p:cNvPr id="325635" name="Rectangle 3"/>
          <p:cNvSpPr>
            <a:spLocks noGrp="1" noChangeArrowheads="1"/>
          </p:cNvSpPr>
          <p:nvPr>
            <p:ph type="body" idx="1"/>
          </p:nvPr>
        </p:nvSpPr>
        <p:spPr>
          <a:xfrm>
            <a:off x="685800" y="1981200"/>
            <a:ext cx="8229600" cy="3657600"/>
          </a:xfrm>
          <a:noFill/>
        </p:spPr>
        <p:txBody>
          <a:bodyPr/>
          <a:lstStyle/>
          <a:p>
            <a:pPr marL="609600" indent="-609600">
              <a:buClr>
                <a:schemeClr val="tx1"/>
              </a:buClr>
              <a:buFont typeface="Wingdings" panose="05000000000000000000" pitchFamily="2" charset="2"/>
              <a:buNone/>
            </a:pPr>
            <a:r>
              <a:rPr lang="en-US" altLang="en-US" smtClean="0">
                <a:solidFill>
                  <a:srgbClr val="969696"/>
                </a:solidFill>
                <a:latin typeface="Arial" panose="020B0604020202020204" pitchFamily="34" charset="0"/>
                <a:cs typeface="Arial" panose="020B0604020202020204" pitchFamily="34" charset="0"/>
              </a:rPr>
              <a:t>1.   Objectives of pulp washing</a:t>
            </a:r>
          </a:p>
          <a:p>
            <a:pPr marL="609600" indent="-609600">
              <a:buClr>
                <a:schemeClr val="tx1"/>
              </a:buClr>
              <a:buFont typeface="Wingdings" panose="05000000000000000000" pitchFamily="2" charset="2"/>
              <a:buNone/>
            </a:pPr>
            <a:r>
              <a:rPr lang="en-US" altLang="en-US" smtClean="0">
                <a:solidFill>
                  <a:srgbClr val="808080"/>
                </a:solidFill>
                <a:latin typeface="Arial" panose="020B0604020202020204" pitchFamily="34" charset="0"/>
                <a:cs typeface="Arial" panose="020B0604020202020204" pitchFamily="34" charset="0"/>
              </a:rPr>
              <a:t>2.   Principles of pulp washing</a:t>
            </a:r>
          </a:p>
          <a:p>
            <a:pPr marL="609600" indent="-609600">
              <a:buClr>
                <a:schemeClr val="tx1"/>
              </a:buClr>
              <a:buFont typeface="Wingdings" panose="05000000000000000000" pitchFamily="2" charset="2"/>
              <a:buNone/>
            </a:pPr>
            <a:r>
              <a:rPr lang="en-US" altLang="en-US" smtClean="0">
                <a:solidFill>
                  <a:srgbClr val="969696"/>
                </a:solidFill>
                <a:latin typeface="Arial" panose="020B0604020202020204" pitchFamily="34" charset="0"/>
                <a:cs typeface="Arial" panose="020B0604020202020204" pitchFamily="34" charset="0"/>
              </a:rPr>
              <a:t>3.   Washing equipments</a:t>
            </a:r>
          </a:p>
          <a:p>
            <a:pPr marL="609600" indent="-609600">
              <a:buClr>
                <a:schemeClr val="tx1"/>
              </a:buClr>
              <a:buFont typeface="Wingdings" panose="05000000000000000000" pitchFamily="2" charset="2"/>
              <a:buNone/>
            </a:pPr>
            <a:r>
              <a:rPr lang="en-US" altLang="en-US" b="1" smtClean="0">
                <a:solidFill>
                  <a:srgbClr val="FF0000"/>
                </a:solidFill>
                <a:latin typeface="Arial" panose="020B0604020202020204" pitchFamily="34" charset="0"/>
                <a:cs typeface="Arial" panose="020B0604020202020204" pitchFamily="34" charset="0"/>
              </a:rPr>
              <a:t>4.   Multi-stage counter-current </a:t>
            </a:r>
            <a:r>
              <a:rPr lang="en-US" altLang="en-US" b="1" smtClean="0">
                <a:solidFill>
                  <a:schemeClr val="bg1"/>
                </a:solidFill>
                <a:latin typeface="Arial" panose="020B0604020202020204" pitchFamily="34" charset="0"/>
                <a:cs typeface="Arial" panose="020B0604020202020204" pitchFamily="34" charset="0"/>
              </a:rPr>
              <a:t>washing</a:t>
            </a:r>
          </a:p>
          <a:p>
            <a:pPr marL="609600" indent="-609600">
              <a:buClr>
                <a:schemeClr val="tx1"/>
              </a:buClr>
              <a:buFont typeface="Wingdings" panose="05000000000000000000" pitchFamily="2" charset="2"/>
              <a:buNone/>
            </a:pPr>
            <a:r>
              <a:rPr lang="en-US" altLang="en-US" smtClean="0">
                <a:solidFill>
                  <a:srgbClr val="969696"/>
                </a:solidFill>
                <a:latin typeface="Arial" panose="020B0604020202020204" pitchFamily="34" charset="0"/>
                <a:cs typeface="Arial" panose="020B0604020202020204" pitchFamily="34" charset="0"/>
              </a:rPr>
              <a:t>5.   Washing parameters and efficiency</a:t>
            </a:r>
          </a:p>
        </p:txBody>
      </p:sp>
    </p:spTree>
  </p:cSld>
  <p:clrMapOvr>
    <a:masterClrMapping/>
  </p:clrMapOvr>
  <p:transition spd="slow"/>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6658" name="Picture 2" descr="jn17-01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1000" y="1828800"/>
            <a:ext cx="8458200" cy="402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8819" name="Rectangle 3"/>
          <p:cNvSpPr>
            <a:spLocks noChangeArrowheads="1"/>
          </p:cNvSpPr>
          <p:nvPr/>
        </p:nvSpPr>
        <p:spPr bwMode="auto">
          <a:xfrm>
            <a:off x="457200" y="304800"/>
            <a:ext cx="83820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nchor="ctr"/>
          <a:lstStyle>
            <a:lvl1pPr>
              <a:defRPr sz="2400">
                <a:solidFill>
                  <a:schemeClr val="tx1"/>
                </a:solidFill>
                <a:latin typeface="Times New Roman" panose="02020603050405020304" pitchFamily="18" charset="0"/>
                <a:cs typeface="Angsana New" panose="02020603050405020304" pitchFamily="18" charset="-34"/>
              </a:defRPr>
            </a:lvl1pPr>
            <a:lvl2pPr>
              <a:defRPr sz="2400">
                <a:solidFill>
                  <a:schemeClr val="tx1"/>
                </a:solidFill>
                <a:latin typeface="Times New Roman" panose="02020603050405020304" pitchFamily="18" charset="0"/>
                <a:cs typeface="Angsana New" panose="02020603050405020304" pitchFamily="18" charset="-34"/>
              </a:defRPr>
            </a:lvl2pPr>
            <a:lvl3pPr>
              <a:defRPr sz="2400">
                <a:solidFill>
                  <a:schemeClr val="tx1"/>
                </a:solidFill>
                <a:latin typeface="Times New Roman" panose="02020603050405020304" pitchFamily="18" charset="0"/>
                <a:cs typeface="Angsana New" panose="02020603050405020304" pitchFamily="18" charset="-34"/>
              </a:defRPr>
            </a:lvl3pPr>
            <a:lvl4pPr>
              <a:defRPr sz="2400">
                <a:solidFill>
                  <a:schemeClr val="tx1"/>
                </a:solidFill>
                <a:latin typeface="Times New Roman" panose="02020603050405020304" pitchFamily="18" charset="0"/>
                <a:cs typeface="Angsana New" panose="02020603050405020304" pitchFamily="18" charset="-34"/>
              </a:defRPr>
            </a:lvl4pPr>
            <a:lvl5pPr>
              <a:defRPr sz="2400">
                <a:solidFill>
                  <a:schemeClr val="tx1"/>
                </a:solidFill>
                <a:latin typeface="Times New Roman" panose="02020603050405020304" pitchFamily="18" charset="0"/>
                <a:cs typeface="Angsana New" panose="02020603050405020304" pitchFamily="18" charset="-34"/>
              </a:defRPr>
            </a:lvl5pPr>
            <a:lvl6pPr marL="4572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6pPr>
            <a:lvl7pPr marL="9144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7pPr>
            <a:lvl8pPr marL="13716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8pPr>
            <a:lvl9pPr marL="18288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9pPr>
          </a:lstStyle>
          <a:p>
            <a:pPr algn="ctr">
              <a:defRPr/>
            </a:pPr>
            <a:r>
              <a:rPr lang="en-US" altLang="en-US" sz="3200" b="1" smtClean="0">
                <a:solidFill>
                  <a:srgbClr val="FF0000"/>
                </a:solidFill>
                <a:effectLst>
                  <a:outerShdw blurRad="38100" dist="38100" dir="2700000" algn="tl">
                    <a:srgbClr val="C0C0C0"/>
                  </a:outerShdw>
                </a:effectLst>
                <a:latin typeface="Arial" panose="020B0604020202020204" pitchFamily="34" charset="0"/>
                <a:cs typeface="Arial" panose="020B0604020202020204" pitchFamily="34" charset="0"/>
              </a:rPr>
              <a:t>Multi-stage counter-current washing </a:t>
            </a:r>
            <a:endParaRPr lang="th-TH" altLang="en-US" sz="3200" b="1" dirty="0" smtClean="0">
              <a:solidFill>
                <a:srgbClr val="FF0000"/>
              </a:solidFill>
              <a:effectLst>
                <a:outerShdw blurRad="38100" dist="38100" dir="2700000" algn="tl">
                  <a:srgbClr val="C0C0C0"/>
                </a:outerShdw>
              </a:effectLst>
              <a:latin typeface="Arial" panose="020B0604020202020204" pitchFamily="34" charset="0"/>
              <a:cs typeface="Arial" panose="020B0604020202020204" pitchFamily="34" charset="0"/>
            </a:endParaRPr>
          </a:p>
        </p:txBody>
      </p:sp>
    </p:spTree>
  </p:cSld>
  <p:clrMapOvr>
    <a:masterClrMapping/>
  </p:clrMapOvr>
  <p:transition spd="slow"/>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682" name="Picture 2" descr="jn17-0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143000"/>
            <a:ext cx="9144000" cy="51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9843" name="Rectangle 3"/>
          <p:cNvSpPr>
            <a:spLocks noChangeArrowheads="1"/>
          </p:cNvSpPr>
          <p:nvPr/>
        </p:nvSpPr>
        <p:spPr bwMode="auto">
          <a:xfrm>
            <a:off x="179388" y="0"/>
            <a:ext cx="87630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nchor="ctr"/>
          <a:lstStyle>
            <a:lvl1pPr>
              <a:defRPr sz="2400">
                <a:solidFill>
                  <a:schemeClr val="tx1"/>
                </a:solidFill>
                <a:latin typeface="Times New Roman" panose="02020603050405020304" pitchFamily="18" charset="0"/>
                <a:cs typeface="Angsana New" panose="02020603050405020304" pitchFamily="18" charset="-34"/>
              </a:defRPr>
            </a:lvl1pPr>
            <a:lvl2pPr>
              <a:defRPr sz="2400">
                <a:solidFill>
                  <a:schemeClr val="tx1"/>
                </a:solidFill>
                <a:latin typeface="Times New Roman" panose="02020603050405020304" pitchFamily="18" charset="0"/>
                <a:cs typeface="Angsana New" panose="02020603050405020304" pitchFamily="18" charset="-34"/>
              </a:defRPr>
            </a:lvl2pPr>
            <a:lvl3pPr>
              <a:defRPr sz="2400">
                <a:solidFill>
                  <a:schemeClr val="tx1"/>
                </a:solidFill>
                <a:latin typeface="Times New Roman" panose="02020603050405020304" pitchFamily="18" charset="0"/>
                <a:cs typeface="Angsana New" panose="02020603050405020304" pitchFamily="18" charset="-34"/>
              </a:defRPr>
            </a:lvl3pPr>
            <a:lvl4pPr>
              <a:defRPr sz="2400">
                <a:solidFill>
                  <a:schemeClr val="tx1"/>
                </a:solidFill>
                <a:latin typeface="Times New Roman" panose="02020603050405020304" pitchFamily="18" charset="0"/>
                <a:cs typeface="Angsana New" panose="02020603050405020304" pitchFamily="18" charset="-34"/>
              </a:defRPr>
            </a:lvl4pPr>
            <a:lvl5pPr>
              <a:defRPr sz="2400">
                <a:solidFill>
                  <a:schemeClr val="tx1"/>
                </a:solidFill>
                <a:latin typeface="Times New Roman" panose="02020603050405020304" pitchFamily="18" charset="0"/>
                <a:cs typeface="Angsana New" panose="02020603050405020304" pitchFamily="18" charset="-34"/>
              </a:defRPr>
            </a:lvl5pPr>
            <a:lvl6pPr marL="4572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6pPr>
            <a:lvl7pPr marL="9144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7pPr>
            <a:lvl8pPr marL="13716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8pPr>
            <a:lvl9pPr marL="18288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9pPr>
          </a:lstStyle>
          <a:p>
            <a:pPr algn="ctr">
              <a:defRPr/>
            </a:pPr>
            <a:r>
              <a:rPr lang="en-US" altLang="en-US" sz="3200" b="1" dirty="0" smtClean="0">
                <a:solidFill>
                  <a:srgbClr val="FF0000"/>
                </a:solidFill>
                <a:effectLst>
                  <a:outerShdw blurRad="38100" dist="38100" dir="2700000" algn="tl">
                    <a:srgbClr val="C0C0C0"/>
                  </a:outerShdw>
                </a:effectLst>
                <a:latin typeface="Arial" panose="020B0604020202020204" pitchFamily="34" charset="0"/>
                <a:cs typeface="Arial" panose="020B0604020202020204" pitchFamily="34" charset="0"/>
              </a:rPr>
              <a:t>Brown stock washing plant </a:t>
            </a:r>
            <a:r>
              <a:rPr lang="en-US" altLang="en-US" sz="3200" b="1" dirty="0" smtClean="0">
                <a:solidFill>
                  <a:schemeClr val="hlink"/>
                </a:solidFill>
                <a:effectLst>
                  <a:outerShdw blurRad="38100" dist="38100" dir="2700000" algn="tl">
                    <a:srgbClr val="C0C0C0"/>
                  </a:outerShdw>
                </a:effectLst>
                <a:latin typeface="Arial" panose="020B0604020202020204" pitchFamily="34" charset="0"/>
                <a:cs typeface="Arial" panose="020B0604020202020204" pitchFamily="34" charset="0"/>
              </a:rPr>
              <a:t>(SCL)</a:t>
            </a:r>
            <a:endParaRPr lang="th-TH" altLang="en-US" sz="3200" b="1" dirty="0" smtClean="0">
              <a:solidFill>
                <a:schemeClr val="hlink"/>
              </a:solidFill>
              <a:effectLst>
                <a:outerShdw blurRad="38100" dist="38100" dir="2700000" algn="tl">
                  <a:srgbClr val="C0C0C0"/>
                </a:outerShdw>
              </a:effectLst>
              <a:latin typeface="Arial" panose="020B0604020202020204" pitchFamily="34" charset="0"/>
              <a:cs typeface="Arial" panose="020B0604020202020204" pitchFamily="34" charset="0"/>
            </a:endParaRPr>
          </a:p>
        </p:txBody>
      </p:sp>
    </p:spTree>
  </p:cSld>
  <p:clrMapOvr>
    <a:masterClrMapping/>
  </p:clrMapOvr>
  <p:transition spd="slow"/>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866" name="Rectangle 2"/>
          <p:cNvSpPr>
            <a:spLocks noChangeArrowheads="1"/>
          </p:cNvSpPr>
          <p:nvPr/>
        </p:nvSpPr>
        <p:spPr bwMode="auto">
          <a:xfrm>
            <a:off x="201613" y="53975"/>
            <a:ext cx="87630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nchor="ctr"/>
          <a:lstStyle>
            <a:lvl1pPr>
              <a:defRPr sz="2400">
                <a:solidFill>
                  <a:schemeClr val="tx1"/>
                </a:solidFill>
                <a:latin typeface="Times New Roman" panose="02020603050405020304" pitchFamily="18" charset="0"/>
                <a:cs typeface="Angsana New" panose="02020603050405020304" pitchFamily="18" charset="-34"/>
              </a:defRPr>
            </a:lvl1pPr>
            <a:lvl2pPr>
              <a:defRPr sz="2400">
                <a:solidFill>
                  <a:schemeClr val="tx1"/>
                </a:solidFill>
                <a:latin typeface="Times New Roman" panose="02020603050405020304" pitchFamily="18" charset="0"/>
                <a:cs typeface="Angsana New" panose="02020603050405020304" pitchFamily="18" charset="-34"/>
              </a:defRPr>
            </a:lvl2pPr>
            <a:lvl3pPr>
              <a:defRPr sz="2400">
                <a:solidFill>
                  <a:schemeClr val="tx1"/>
                </a:solidFill>
                <a:latin typeface="Times New Roman" panose="02020603050405020304" pitchFamily="18" charset="0"/>
                <a:cs typeface="Angsana New" panose="02020603050405020304" pitchFamily="18" charset="-34"/>
              </a:defRPr>
            </a:lvl3pPr>
            <a:lvl4pPr>
              <a:defRPr sz="2400">
                <a:solidFill>
                  <a:schemeClr val="tx1"/>
                </a:solidFill>
                <a:latin typeface="Times New Roman" panose="02020603050405020304" pitchFamily="18" charset="0"/>
                <a:cs typeface="Angsana New" panose="02020603050405020304" pitchFamily="18" charset="-34"/>
              </a:defRPr>
            </a:lvl4pPr>
            <a:lvl5pPr>
              <a:defRPr sz="2400">
                <a:solidFill>
                  <a:schemeClr val="tx1"/>
                </a:solidFill>
                <a:latin typeface="Times New Roman" panose="02020603050405020304" pitchFamily="18" charset="0"/>
                <a:cs typeface="Angsana New" panose="02020603050405020304" pitchFamily="18" charset="-34"/>
              </a:defRPr>
            </a:lvl5pPr>
            <a:lvl6pPr marL="4572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6pPr>
            <a:lvl7pPr marL="9144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7pPr>
            <a:lvl8pPr marL="13716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8pPr>
            <a:lvl9pPr marL="1828800" fontAlgn="base">
              <a:spcBef>
                <a:spcPct val="0"/>
              </a:spcBef>
              <a:spcAft>
                <a:spcPct val="0"/>
              </a:spcAft>
              <a:defRPr sz="2400">
                <a:solidFill>
                  <a:schemeClr val="tx1"/>
                </a:solidFill>
                <a:latin typeface="Times New Roman" panose="02020603050405020304" pitchFamily="18" charset="0"/>
                <a:cs typeface="Angsana New" panose="02020603050405020304" pitchFamily="18" charset="-34"/>
              </a:defRPr>
            </a:lvl9pPr>
          </a:lstStyle>
          <a:p>
            <a:pPr algn="ctr">
              <a:defRPr/>
            </a:pPr>
            <a:r>
              <a:rPr lang="en-US" altLang="en-US" sz="2800" b="1" dirty="0" smtClean="0">
                <a:solidFill>
                  <a:srgbClr val="FF0000"/>
                </a:solidFill>
                <a:effectLst>
                  <a:outerShdw blurRad="38100" dist="38100" dir="2700000" algn="tl">
                    <a:srgbClr val="C0C0C0"/>
                  </a:outerShdw>
                </a:effectLst>
                <a:latin typeface="Arial" panose="020B0604020202020204" pitchFamily="34" charset="0"/>
                <a:cs typeface="Arial" panose="020B0604020202020204" pitchFamily="34" charset="0"/>
              </a:rPr>
              <a:t> Washing after O2 delignification plant </a:t>
            </a:r>
            <a:r>
              <a:rPr lang="en-US" altLang="en-US" sz="2800" b="1" dirty="0" smtClean="0">
                <a:solidFill>
                  <a:schemeClr val="hlink"/>
                </a:solidFill>
                <a:effectLst>
                  <a:outerShdw blurRad="38100" dist="38100" dir="2700000" algn="tl">
                    <a:srgbClr val="C0C0C0"/>
                  </a:outerShdw>
                </a:effectLst>
                <a:latin typeface="Arial" panose="020B0604020202020204" pitchFamily="34" charset="0"/>
                <a:cs typeface="Arial" panose="020B0604020202020204" pitchFamily="34" charset="0"/>
              </a:rPr>
              <a:t>(SCL)</a:t>
            </a:r>
            <a:endParaRPr lang="th-TH" altLang="en-US" sz="2800" b="1" dirty="0" smtClean="0">
              <a:solidFill>
                <a:schemeClr val="hlink"/>
              </a:solidFill>
              <a:effectLst>
                <a:outerShdw blurRad="38100" dist="38100" dir="2700000" algn="tl">
                  <a:srgbClr val="C0C0C0"/>
                </a:outerShdw>
              </a:effectLst>
              <a:latin typeface="Arial" panose="020B0604020202020204" pitchFamily="34" charset="0"/>
              <a:cs typeface="Arial" panose="020B0604020202020204" pitchFamily="34" charset="0"/>
            </a:endParaRPr>
          </a:p>
        </p:txBody>
      </p:sp>
      <p:pic>
        <p:nvPicPr>
          <p:cNvPr id="328707" name="Picture 3" descr="jn28-01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0825" y="1196975"/>
            <a:ext cx="8785225" cy="5224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Rectangle 2"/>
          <p:cNvSpPr>
            <a:spLocks noGrp="1" noChangeArrowheads="1"/>
          </p:cNvSpPr>
          <p:nvPr>
            <p:ph type="title"/>
          </p:nvPr>
        </p:nvSpPr>
        <p:spPr>
          <a:noFill/>
        </p:spPr>
        <p:txBody>
          <a:bodyPr/>
          <a:lstStyle/>
          <a:p>
            <a:pPr algn="l"/>
            <a:r>
              <a:rPr lang="en-US" altLang="en-US" b="1" smtClean="0">
                <a:solidFill>
                  <a:schemeClr val="hlink"/>
                </a:solidFill>
              </a:rPr>
              <a:t>Topic outlines</a:t>
            </a:r>
            <a:endParaRPr lang="th-TH" altLang="en-US" b="1" smtClean="0">
              <a:solidFill>
                <a:schemeClr val="hlink"/>
              </a:solidFill>
            </a:endParaRPr>
          </a:p>
        </p:txBody>
      </p:sp>
      <p:sp>
        <p:nvSpPr>
          <p:cNvPr id="421891" name="Rectangle 3"/>
          <p:cNvSpPr>
            <a:spLocks noGrp="1" noChangeArrowheads="1"/>
          </p:cNvSpPr>
          <p:nvPr>
            <p:ph type="body" idx="1"/>
          </p:nvPr>
        </p:nvSpPr>
        <p:spPr>
          <a:xfrm>
            <a:off x="685800" y="1981200"/>
            <a:ext cx="8229600" cy="3657600"/>
          </a:xfrm>
        </p:spPr>
        <p:txBody>
          <a:bodyPr/>
          <a:lstStyle/>
          <a:p>
            <a:pPr marL="609600" indent="-609600">
              <a:buClr>
                <a:schemeClr val="tx1"/>
              </a:buClr>
              <a:buFont typeface="Wingdings" panose="05000000000000000000" pitchFamily="2" charset="2"/>
              <a:buNone/>
              <a:defRPr/>
            </a:pPr>
            <a:r>
              <a:rPr lang="en-US" altLang="en-US" sz="2800" dirty="0">
                <a:solidFill>
                  <a:srgbClr val="969696"/>
                </a:solidFill>
                <a:latin typeface="Arial" panose="020B0604020202020204" pitchFamily="34" charset="0"/>
                <a:cs typeface="Arial" panose="020B0604020202020204" pitchFamily="34" charset="0"/>
              </a:rPr>
              <a:t>1.   Objectives of pulp washing</a:t>
            </a:r>
          </a:p>
          <a:p>
            <a:pPr marL="609600" indent="-609600">
              <a:buClr>
                <a:schemeClr val="tx1"/>
              </a:buClr>
              <a:buFont typeface="Wingdings" panose="05000000000000000000" pitchFamily="2" charset="2"/>
              <a:buNone/>
              <a:defRPr/>
            </a:pPr>
            <a:r>
              <a:rPr lang="en-US" altLang="en-US" sz="2800" dirty="0">
                <a:solidFill>
                  <a:srgbClr val="808080"/>
                </a:solidFill>
                <a:latin typeface="Arial" panose="020B0604020202020204" pitchFamily="34" charset="0"/>
                <a:cs typeface="Arial" panose="020B0604020202020204" pitchFamily="34" charset="0"/>
              </a:rPr>
              <a:t>2.   Principles of pulp washing</a:t>
            </a:r>
          </a:p>
          <a:p>
            <a:pPr marL="609600" indent="-609600">
              <a:buClr>
                <a:schemeClr val="tx1"/>
              </a:buClr>
              <a:buFont typeface="Wingdings" panose="05000000000000000000" pitchFamily="2" charset="2"/>
              <a:buNone/>
              <a:defRPr/>
            </a:pPr>
            <a:r>
              <a:rPr lang="en-US" altLang="en-US" sz="2800" dirty="0">
                <a:solidFill>
                  <a:srgbClr val="969696"/>
                </a:solidFill>
                <a:latin typeface="Arial" panose="020B0604020202020204" pitchFamily="34" charset="0"/>
                <a:cs typeface="Arial" panose="020B0604020202020204" pitchFamily="34" charset="0"/>
              </a:rPr>
              <a:t>3.   Washing </a:t>
            </a:r>
            <a:r>
              <a:rPr lang="en-US" altLang="en-US" sz="2800" dirty="0" err="1">
                <a:solidFill>
                  <a:srgbClr val="969696"/>
                </a:solidFill>
                <a:latin typeface="Arial" panose="020B0604020202020204" pitchFamily="34" charset="0"/>
                <a:cs typeface="Arial" panose="020B0604020202020204" pitchFamily="34" charset="0"/>
              </a:rPr>
              <a:t>equipments</a:t>
            </a:r>
            <a:endParaRPr lang="en-US" altLang="en-US" sz="2800" dirty="0">
              <a:solidFill>
                <a:srgbClr val="969696"/>
              </a:solidFill>
              <a:latin typeface="Arial" panose="020B0604020202020204" pitchFamily="34" charset="0"/>
              <a:cs typeface="Arial" panose="020B0604020202020204" pitchFamily="34" charset="0"/>
            </a:endParaRPr>
          </a:p>
          <a:p>
            <a:pPr marL="609600" indent="-609600">
              <a:buClr>
                <a:schemeClr val="tx1"/>
              </a:buClr>
              <a:buFont typeface="Wingdings" panose="05000000000000000000" pitchFamily="2" charset="2"/>
              <a:buNone/>
              <a:defRPr/>
            </a:pPr>
            <a:r>
              <a:rPr lang="en-US" altLang="en-US" sz="2800" dirty="0">
                <a:solidFill>
                  <a:srgbClr val="969696"/>
                </a:solidFill>
                <a:latin typeface="Arial" panose="020B0604020202020204" pitchFamily="34" charset="0"/>
                <a:cs typeface="Arial" panose="020B0604020202020204" pitchFamily="34" charset="0"/>
              </a:rPr>
              <a:t>4.   Multi-stage counter-current washing</a:t>
            </a:r>
          </a:p>
          <a:p>
            <a:pPr marL="609600" indent="-609600">
              <a:buClr>
                <a:schemeClr val="tx1"/>
              </a:buClr>
              <a:buFont typeface="Wingdings" panose="05000000000000000000" pitchFamily="2" charset="2"/>
              <a:buNone/>
              <a:defRPr/>
            </a:pPr>
            <a:r>
              <a:rPr lang="en-US" altLang="en-US" b="1" dirty="0">
                <a:solidFill>
                  <a:srgbClr val="FF0000"/>
                </a:solidFill>
                <a:latin typeface="Arial" panose="020B0604020202020204" pitchFamily="34" charset="0"/>
                <a:cs typeface="Arial" panose="020B0604020202020204" pitchFamily="34" charset="0"/>
              </a:rPr>
              <a:t>5.   Washing parameters and efficiency</a:t>
            </a:r>
          </a:p>
          <a:p>
            <a:pPr marL="0" indent="0">
              <a:buClr>
                <a:schemeClr val="tx1"/>
              </a:buClr>
              <a:buFont typeface="Arial" panose="020B0604020202020204" pitchFamily="34" charset="0"/>
              <a:buNone/>
              <a:defRPr/>
            </a:pPr>
            <a:endParaRPr lang="en-US" altLang="en-US" sz="2800" dirty="0">
              <a:solidFill>
                <a:srgbClr val="969696"/>
              </a:solidFill>
              <a:latin typeface="Arial" panose="020B0604020202020204" pitchFamily="34" charset="0"/>
              <a:cs typeface="Arial" panose="020B0604020202020204" pitchFamily="34" charset="0"/>
            </a:endParaRPr>
          </a:p>
        </p:txBody>
      </p:sp>
    </p:spTree>
  </p:cSld>
  <p:clrMapOvr>
    <a:masterClrMapping/>
  </p:clrMapOvr>
  <p:transition spd="slow"/>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Rectangle 2"/>
          <p:cNvSpPr>
            <a:spLocks noGrp="1" noChangeArrowheads="1"/>
          </p:cNvSpPr>
          <p:nvPr>
            <p:ph type="title"/>
          </p:nvPr>
        </p:nvSpPr>
        <p:spPr/>
        <p:txBody>
          <a:bodyPr/>
          <a:lstStyle/>
          <a:p>
            <a:pPr algn="l"/>
            <a:r>
              <a:rPr lang="en-US" altLang="en-US" b="1" smtClean="0">
                <a:solidFill>
                  <a:srgbClr val="FF0000"/>
                </a:solidFill>
              </a:rPr>
              <a:t>Ideal Washing Efficiency</a:t>
            </a:r>
            <a:endParaRPr lang="th-TH" altLang="en-US" b="1" smtClean="0">
              <a:solidFill>
                <a:srgbClr val="FF0000"/>
              </a:solidFill>
            </a:endParaRPr>
          </a:p>
        </p:txBody>
      </p:sp>
      <p:sp>
        <p:nvSpPr>
          <p:cNvPr id="330755" name="Text Box 3"/>
          <p:cNvSpPr txBox="1">
            <a:spLocks noChangeArrowheads="1"/>
          </p:cNvSpPr>
          <p:nvPr/>
        </p:nvSpPr>
        <p:spPr bwMode="auto">
          <a:xfrm>
            <a:off x="665163" y="2073275"/>
            <a:ext cx="7070725"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a:solidFill>
                  <a:schemeClr val="hlink"/>
                </a:solidFill>
              </a:rPr>
              <a:t>1. Volume of Wash liquor		= 	Liquor in pulp</a:t>
            </a:r>
          </a:p>
          <a:p>
            <a:pPr>
              <a:spcBef>
                <a:spcPct val="0"/>
              </a:spcBef>
              <a:buFontTx/>
              <a:buNone/>
            </a:pPr>
            <a:r>
              <a:rPr lang="en-US" altLang="en-US" sz="2000" b="1">
                <a:solidFill>
                  <a:schemeClr val="hlink"/>
                </a:solidFill>
              </a:rPr>
              <a:t>2. %Solid in pulp discharge	=	%solid of wash liquor</a:t>
            </a:r>
          </a:p>
        </p:txBody>
      </p:sp>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Rectangle 2"/>
          <p:cNvSpPr>
            <a:spLocks noGrp="1" noChangeArrowheads="1"/>
          </p:cNvSpPr>
          <p:nvPr>
            <p:ph type="title"/>
          </p:nvPr>
        </p:nvSpPr>
        <p:spPr/>
        <p:txBody>
          <a:bodyPr/>
          <a:lstStyle/>
          <a:p>
            <a:pPr algn="l"/>
            <a:r>
              <a:rPr lang="en-US" altLang="en-US" sz="4000" b="1" smtClean="0">
                <a:solidFill>
                  <a:srgbClr val="FF0000"/>
                </a:solidFill>
              </a:rPr>
              <a:t>Measuring Washing Efficiency</a:t>
            </a:r>
            <a:endParaRPr lang="th-TH" altLang="en-US" sz="4000" b="1" smtClean="0">
              <a:solidFill>
                <a:srgbClr val="FF0000"/>
              </a:solidFill>
            </a:endParaRPr>
          </a:p>
        </p:txBody>
      </p:sp>
      <p:sp>
        <p:nvSpPr>
          <p:cNvPr id="423939" name="Rectangle 3"/>
          <p:cNvSpPr>
            <a:spLocks noGrp="1" noChangeArrowheads="1"/>
          </p:cNvSpPr>
          <p:nvPr>
            <p:ph type="body" idx="1"/>
          </p:nvPr>
        </p:nvSpPr>
        <p:spPr>
          <a:xfrm>
            <a:off x="685800" y="1981200"/>
            <a:ext cx="7772400" cy="2527300"/>
          </a:xfrm>
        </p:spPr>
        <p:txBody>
          <a:bodyPr/>
          <a:lstStyle/>
          <a:p>
            <a:pPr>
              <a:defRPr/>
            </a:pPr>
            <a:r>
              <a:rPr lang="en-US" altLang="en-US" dirty="0">
                <a:solidFill>
                  <a:schemeClr val="bg1">
                    <a:lumMod val="65000"/>
                  </a:schemeClr>
                </a:solidFill>
                <a:latin typeface="Arial" panose="020B0604020202020204" pitchFamily="34" charset="0"/>
              </a:rPr>
              <a:t>Dilution Factor</a:t>
            </a:r>
          </a:p>
          <a:p>
            <a:pPr>
              <a:defRPr/>
            </a:pPr>
            <a:r>
              <a:rPr lang="en-US" altLang="en-US" dirty="0">
                <a:solidFill>
                  <a:schemeClr val="bg1">
                    <a:lumMod val="65000"/>
                  </a:schemeClr>
                </a:solidFill>
                <a:latin typeface="Arial" panose="020B0604020202020204" pitchFamily="34" charset="0"/>
              </a:rPr>
              <a:t>Displacement ratio</a:t>
            </a:r>
          </a:p>
          <a:p>
            <a:pPr>
              <a:defRPr/>
            </a:pPr>
            <a:r>
              <a:rPr lang="en-US" altLang="en-US" dirty="0">
                <a:solidFill>
                  <a:schemeClr val="bg1">
                    <a:lumMod val="65000"/>
                  </a:schemeClr>
                </a:solidFill>
                <a:latin typeface="Arial" panose="020B0604020202020204" pitchFamily="34" charset="0"/>
              </a:rPr>
              <a:t>Thickening Factor</a:t>
            </a:r>
          </a:p>
          <a:p>
            <a:pPr>
              <a:defRPr/>
            </a:pPr>
            <a:r>
              <a:rPr lang="en-US" altLang="en-US" b="1" dirty="0">
                <a:solidFill>
                  <a:schemeClr val="hlink"/>
                </a:solidFill>
                <a:effectLst>
                  <a:outerShdw blurRad="38100" dist="38100" dir="2700000" algn="tl">
                    <a:srgbClr val="C0C0C0"/>
                  </a:outerShdw>
                </a:effectLst>
                <a:latin typeface="Arial" panose="020B0604020202020204" pitchFamily="34" charset="0"/>
              </a:rPr>
              <a:t>Overall Washing Efficiency</a:t>
            </a:r>
            <a:endParaRPr lang="th-TH" altLang="en-US" b="1" dirty="0">
              <a:solidFill>
                <a:schemeClr val="hlink"/>
              </a:solidFill>
              <a:effectLst>
                <a:outerShdw blurRad="38100" dist="38100" dir="2700000" algn="tl">
                  <a:srgbClr val="C0C0C0"/>
                </a:outerShdw>
              </a:effectLst>
              <a:latin typeface="Arial" panose="020B0604020202020204" pitchFamily="34" charset="0"/>
            </a:endParaRPr>
          </a:p>
        </p:txBody>
      </p:sp>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2" name="Rectangle 2"/>
          <p:cNvSpPr>
            <a:spLocks noGrp="1" noChangeArrowheads="1"/>
          </p:cNvSpPr>
          <p:nvPr>
            <p:ph type="title"/>
          </p:nvPr>
        </p:nvSpPr>
        <p:spPr/>
        <p:txBody>
          <a:bodyPr/>
          <a:lstStyle/>
          <a:p>
            <a:pPr algn="l"/>
            <a:r>
              <a:rPr lang="en-US" altLang="en-US" b="1" smtClean="0">
                <a:solidFill>
                  <a:srgbClr val="FF0000"/>
                </a:solidFill>
              </a:rPr>
              <a:t>Dilution Factor</a:t>
            </a:r>
            <a:endParaRPr lang="th-TH" altLang="en-US" b="1" smtClean="0">
              <a:solidFill>
                <a:srgbClr val="FF0000"/>
              </a:solidFill>
            </a:endParaRPr>
          </a:p>
        </p:txBody>
      </p:sp>
      <p:sp>
        <p:nvSpPr>
          <p:cNvPr id="332803" name="Rectangle 3"/>
          <p:cNvSpPr>
            <a:spLocks noGrp="1" noChangeArrowheads="1"/>
          </p:cNvSpPr>
          <p:nvPr>
            <p:ph type="body" idx="1"/>
          </p:nvPr>
        </p:nvSpPr>
        <p:spPr/>
        <p:txBody>
          <a:bodyPr/>
          <a:lstStyle/>
          <a:p>
            <a:r>
              <a:rPr lang="en-US" altLang="en-US" sz="2800" smtClean="0">
                <a:latin typeface="Arial" panose="020B0604020202020204" pitchFamily="34" charset="0"/>
              </a:rPr>
              <a:t>Define as the amount of wash water applied in excess of the amount required for total displacement.</a:t>
            </a:r>
          </a:p>
          <a:p>
            <a:r>
              <a:rPr lang="en-US" altLang="en-US" sz="2800" smtClean="0">
                <a:latin typeface="Arial" panose="020B0604020202020204" pitchFamily="34" charset="0"/>
              </a:rPr>
              <a:t>Expressed in pounds of water per pound of dry pulp produced.</a:t>
            </a:r>
          </a:p>
          <a:p>
            <a:r>
              <a:rPr lang="en-US" altLang="en-US" sz="2800" smtClean="0">
                <a:latin typeface="Arial" panose="020B0604020202020204" pitchFamily="34" charset="0"/>
              </a:rPr>
              <a:t>Perhaps most important economic indicator of system efficiency.</a:t>
            </a:r>
            <a:endParaRPr lang="th-TH" altLang="en-US" sz="2800" smtClean="0">
              <a:latin typeface="Arial" panose="020B0604020202020204" pitchFamily="34" charset="0"/>
            </a:endParaRPr>
          </a:p>
        </p:txBody>
      </p: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6" name="Rectangle 2"/>
          <p:cNvSpPr>
            <a:spLocks noChangeArrowheads="1"/>
          </p:cNvSpPr>
          <p:nvPr/>
        </p:nvSpPr>
        <p:spPr bwMode="auto">
          <a:xfrm>
            <a:off x="468313" y="3068638"/>
            <a:ext cx="8135937" cy="865187"/>
          </a:xfrm>
          <a:prstGeom prst="rect">
            <a:avLst/>
          </a:prstGeom>
          <a:solidFill>
            <a:srgbClr val="FFFF00"/>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solidFill>
                <a:schemeClr val="bg1"/>
              </a:solidFill>
            </a:endParaRPr>
          </a:p>
        </p:txBody>
      </p:sp>
      <p:sp>
        <p:nvSpPr>
          <p:cNvPr id="425987" name="Text Box 3"/>
          <p:cNvSpPr txBox="1">
            <a:spLocks noChangeArrowheads="1"/>
          </p:cNvSpPr>
          <p:nvPr/>
        </p:nvSpPr>
        <p:spPr bwMode="auto">
          <a:xfrm>
            <a:off x="463550" y="479425"/>
            <a:ext cx="8451850" cy="2232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66FF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defRPr/>
            </a:pPr>
            <a:endParaRPr lang="en-US" altLang="en-US" sz="1900" b="1" dirty="0">
              <a:solidFill>
                <a:srgbClr val="FF0000"/>
              </a:solidFill>
              <a:effectLst>
                <a:outerShdw blurRad="38100" dist="38100" dir="2700000" algn="tl">
                  <a:srgbClr val="C0C0C0"/>
                </a:outerShdw>
              </a:effectLst>
              <a:latin typeface="Times New Roman" panose="02020603050405020304" pitchFamily="18" charset="0"/>
            </a:endParaRPr>
          </a:p>
          <a:p>
            <a:pPr>
              <a:defRPr/>
            </a:pPr>
            <a:r>
              <a:rPr lang="en-US" altLang="en-US" sz="3200" b="1" dirty="0">
                <a:solidFill>
                  <a:srgbClr val="FF0000"/>
                </a:solidFill>
                <a:effectLst>
                  <a:outerShdw blurRad="38100" dist="38100" dir="2700000" algn="tl">
                    <a:srgbClr val="C0C0C0"/>
                  </a:outerShdw>
                </a:effectLst>
                <a:cs typeface="Arial" panose="020B0604020202020204" pitchFamily="34" charset="0"/>
              </a:rPr>
              <a:t>DILUTION FACTOR :</a:t>
            </a:r>
          </a:p>
          <a:p>
            <a:pPr>
              <a:defRPr/>
            </a:pPr>
            <a:endParaRPr lang="en-US" altLang="en-US" sz="3200" b="1" dirty="0">
              <a:solidFill>
                <a:srgbClr val="FF0000"/>
              </a:solidFill>
              <a:effectLst>
                <a:outerShdw blurRad="38100" dist="38100" dir="2700000" algn="tl">
                  <a:srgbClr val="C0C0C0"/>
                </a:outerShdw>
              </a:effectLst>
              <a:cs typeface="Arial" panose="020B0604020202020204" pitchFamily="34" charset="0"/>
            </a:endParaRPr>
          </a:p>
          <a:p>
            <a:pPr>
              <a:defRPr/>
            </a:pPr>
            <a:r>
              <a:rPr lang="en-US" altLang="en-US" sz="2800" b="1" dirty="0">
                <a:solidFill>
                  <a:srgbClr val="FF0000"/>
                </a:solidFill>
                <a:effectLst>
                  <a:outerShdw blurRad="38100" dist="38100" dir="2700000" algn="tl">
                    <a:srgbClr val="C0C0C0"/>
                  </a:outerShdw>
                </a:effectLst>
                <a:latin typeface="Times New Roman" panose="02020603050405020304" pitchFamily="18" charset="0"/>
              </a:rPr>
              <a:t>  </a:t>
            </a:r>
          </a:p>
          <a:p>
            <a:pPr>
              <a:defRPr/>
            </a:pPr>
            <a:r>
              <a:rPr lang="en-US" altLang="en-US" sz="2400" dirty="0">
                <a:effectLst>
                  <a:outerShdw blurRad="38100" dist="38100" dir="2700000" algn="tl">
                    <a:srgbClr val="C0C0C0"/>
                  </a:outerShdw>
                </a:effectLst>
              </a:rPr>
              <a:t>Expresses the quantity of water used for washing pulp</a:t>
            </a:r>
            <a:endParaRPr lang="th-TH" altLang="en-US" sz="2400" dirty="0">
              <a:effectLst>
                <a:outerShdw blurRad="38100" dist="38100" dir="2700000" algn="tl">
                  <a:srgbClr val="C0C0C0"/>
                </a:outerShdw>
              </a:effectLst>
            </a:endParaRPr>
          </a:p>
        </p:txBody>
      </p:sp>
      <p:grpSp>
        <p:nvGrpSpPr>
          <p:cNvPr id="333828" name="Group 4"/>
          <p:cNvGrpSpPr>
            <a:grpSpLocks/>
          </p:cNvGrpSpPr>
          <p:nvPr/>
        </p:nvGrpSpPr>
        <p:grpSpPr bwMode="auto">
          <a:xfrm>
            <a:off x="533400" y="2895600"/>
            <a:ext cx="8077200" cy="1143000"/>
            <a:chOff x="384" y="1920"/>
            <a:chExt cx="5088" cy="720"/>
          </a:xfrm>
        </p:grpSpPr>
        <p:sp>
          <p:nvSpPr>
            <p:cNvPr id="333830" name="Text Box 5"/>
            <p:cNvSpPr txBox="1">
              <a:spLocks noChangeArrowheads="1"/>
            </p:cNvSpPr>
            <p:nvPr/>
          </p:nvSpPr>
          <p:spPr bwMode="auto">
            <a:xfrm>
              <a:off x="958" y="2029"/>
              <a:ext cx="4087" cy="5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40000"/>
                </a:lnSpc>
                <a:spcBef>
                  <a:spcPct val="0"/>
                </a:spcBef>
                <a:buFontTx/>
                <a:buNone/>
              </a:pPr>
              <a:r>
                <a:rPr lang="en-US" altLang="en-US" sz="1800" b="1">
                  <a:solidFill>
                    <a:srgbClr val="FF0000"/>
                  </a:solidFill>
                </a:rPr>
                <a:t>DF = </a:t>
              </a:r>
              <a:r>
                <a:rPr lang="en-US" altLang="en-US" sz="1800" b="1" u="sng">
                  <a:solidFill>
                    <a:srgbClr val="FF0000"/>
                  </a:solidFill>
                </a:rPr>
                <a:t>kg WASH WATER  – kg WATER IN PULP LEAVING THE WASHER</a:t>
              </a:r>
            </a:p>
            <a:p>
              <a:pPr>
                <a:lnSpc>
                  <a:spcPct val="140000"/>
                </a:lnSpc>
                <a:spcBef>
                  <a:spcPct val="0"/>
                </a:spcBef>
                <a:buFontTx/>
                <a:buNone/>
              </a:pPr>
              <a:r>
                <a:rPr lang="en-US" altLang="en-US" sz="1800" b="1">
                  <a:solidFill>
                    <a:srgbClr val="FF0000"/>
                  </a:solidFill>
                </a:rPr>
                <a:t>			BD kg PULP</a:t>
              </a:r>
              <a:endParaRPr lang="th-TH" altLang="en-US" sz="1800" b="1">
                <a:solidFill>
                  <a:srgbClr val="FF0000"/>
                </a:solidFill>
              </a:endParaRPr>
            </a:p>
          </p:txBody>
        </p:sp>
        <p:sp>
          <p:nvSpPr>
            <p:cNvPr id="333831" name="Rectangle 6"/>
            <p:cNvSpPr>
              <a:spLocks noChangeArrowheads="1"/>
            </p:cNvSpPr>
            <p:nvPr/>
          </p:nvSpPr>
          <p:spPr bwMode="auto">
            <a:xfrm>
              <a:off x="384" y="1920"/>
              <a:ext cx="5088" cy="7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sp>
        <p:nvSpPr>
          <p:cNvPr id="425991" name="Text Box 7"/>
          <p:cNvSpPr txBox="1">
            <a:spLocks noChangeArrowheads="1"/>
          </p:cNvSpPr>
          <p:nvPr/>
        </p:nvSpPr>
        <p:spPr bwMode="auto">
          <a:xfrm>
            <a:off x="457200" y="3886200"/>
            <a:ext cx="845185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66FF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defRPr/>
            </a:pPr>
            <a:r>
              <a:rPr lang="en-US" altLang="en-US" sz="2800" b="1" dirty="0">
                <a:solidFill>
                  <a:srgbClr val="0000CC"/>
                </a:solidFill>
                <a:effectLst>
                  <a:outerShdw blurRad="38100" dist="38100" dir="2700000" algn="tl">
                    <a:srgbClr val="C0C0C0"/>
                  </a:outerShdw>
                </a:effectLst>
              </a:rPr>
              <a:t> </a:t>
            </a:r>
          </a:p>
          <a:p>
            <a:pPr>
              <a:defRPr/>
            </a:pPr>
            <a:r>
              <a:rPr lang="en-US" altLang="en-US" sz="2800" b="1" dirty="0">
                <a:solidFill>
                  <a:srgbClr val="0000CC"/>
                </a:solidFill>
                <a:effectLst>
                  <a:outerShdw blurRad="38100" dist="38100" dir="2700000" algn="tl">
                    <a:srgbClr val="C0C0C0"/>
                  </a:outerShdw>
                </a:effectLst>
              </a:rPr>
              <a:t>Typical Dilution factor = 1.0-2.5 </a:t>
            </a:r>
            <a:endParaRPr lang="th-TH" altLang="en-US" sz="2800" b="1" dirty="0">
              <a:solidFill>
                <a:srgbClr val="0000CC"/>
              </a:solidFill>
              <a:effectLst>
                <a:outerShdw blurRad="38100" dist="38100" dir="2700000" algn="tl">
                  <a:srgbClr val="C0C0C0"/>
                </a:outerShdw>
              </a:effectLst>
            </a:endParaRPr>
          </a:p>
        </p:txBody>
      </p:sp>
    </p:spTree>
  </p:cSld>
  <p:clrMapOvr>
    <a:masterClrMapping/>
  </p:clrMapOvr>
  <p:transition spd="slow"/>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10" name="Text Box 2"/>
          <p:cNvSpPr txBox="1">
            <a:spLocks noChangeArrowheads="1"/>
          </p:cNvSpPr>
          <p:nvPr/>
        </p:nvSpPr>
        <p:spPr bwMode="auto">
          <a:xfrm>
            <a:off x="463550" y="152400"/>
            <a:ext cx="8451850" cy="877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66FF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defRPr/>
            </a:pPr>
            <a:endParaRPr lang="en-US" altLang="en-US" sz="1900" b="1" dirty="0">
              <a:solidFill>
                <a:srgbClr val="FF0000"/>
              </a:solidFill>
              <a:effectLst>
                <a:outerShdw blurRad="38100" dist="38100" dir="2700000" algn="tl">
                  <a:srgbClr val="C0C0C0"/>
                </a:outerShdw>
              </a:effectLst>
              <a:latin typeface="Times New Roman" panose="02020603050405020304" pitchFamily="18" charset="0"/>
            </a:endParaRPr>
          </a:p>
          <a:p>
            <a:pPr>
              <a:defRPr/>
            </a:pPr>
            <a:r>
              <a:rPr lang="en-US" altLang="en-US" sz="3200" b="1" dirty="0">
                <a:solidFill>
                  <a:srgbClr val="FF0000"/>
                </a:solidFill>
                <a:effectLst>
                  <a:outerShdw blurRad="38100" dist="38100" dir="2700000" algn="tl">
                    <a:srgbClr val="C0C0C0"/>
                  </a:outerShdw>
                </a:effectLst>
                <a:cs typeface="Arial" panose="020B0604020202020204" pitchFamily="34" charset="0"/>
              </a:rPr>
              <a:t>DILUTION FACTOR :</a:t>
            </a:r>
            <a:endParaRPr lang="th-TH" altLang="en-US" dirty="0">
              <a:solidFill>
                <a:srgbClr val="FF0000"/>
              </a:solidFill>
              <a:effectLst>
                <a:outerShdw blurRad="38100" dist="38100" dir="2700000" algn="tl">
                  <a:srgbClr val="C0C0C0"/>
                </a:outerShdw>
              </a:effectLst>
            </a:endParaRPr>
          </a:p>
        </p:txBody>
      </p:sp>
      <p:sp>
        <p:nvSpPr>
          <p:cNvPr id="334851" name="Text Box 3"/>
          <p:cNvSpPr txBox="1">
            <a:spLocks noChangeArrowheads="1"/>
          </p:cNvSpPr>
          <p:nvPr/>
        </p:nvSpPr>
        <p:spPr bwMode="auto">
          <a:xfrm>
            <a:off x="1135063" y="1411288"/>
            <a:ext cx="8077200" cy="1465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solidFill>
                  <a:srgbClr val="FF0000"/>
                </a:solidFill>
              </a:rPr>
              <a:t>= Total Water to washer – (100-discharge consist)(Flow pulp*input consist)</a:t>
            </a:r>
          </a:p>
          <a:p>
            <a:pPr>
              <a:spcBef>
                <a:spcPct val="0"/>
              </a:spcBef>
              <a:buFontTx/>
              <a:buNone/>
            </a:pPr>
            <a:r>
              <a:rPr lang="en-US" altLang="en-US" sz="1800">
                <a:solidFill>
                  <a:srgbClr val="FF0000"/>
                </a:solidFill>
              </a:rPr>
              <a:t>			     discharge consist                 100</a:t>
            </a:r>
          </a:p>
          <a:p>
            <a:pPr>
              <a:spcBef>
                <a:spcPct val="0"/>
              </a:spcBef>
              <a:buFontTx/>
              <a:buNone/>
            </a:pPr>
            <a:endParaRPr lang="en-US" altLang="en-US" sz="1800">
              <a:solidFill>
                <a:srgbClr val="FF0000"/>
              </a:solidFill>
            </a:endParaRPr>
          </a:p>
          <a:p>
            <a:pPr>
              <a:spcBef>
                <a:spcPct val="0"/>
              </a:spcBef>
              <a:buFontTx/>
              <a:buNone/>
            </a:pPr>
            <a:r>
              <a:rPr lang="en-US" altLang="en-US" sz="1800">
                <a:solidFill>
                  <a:srgbClr val="FF0000"/>
                </a:solidFill>
              </a:rPr>
              <a:t>                                         Flow pulp*input consist</a:t>
            </a:r>
          </a:p>
          <a:p>
            <a:pPr>
              <a:spcBef>
                <a:spcPct val="0"/>
              </a:spcBef>
              <a:buFontTx/>
              <a:buNone/>
            </a:pPr>
            <a:r>
              <a:rPr lang="en-US" altLang="en-US" sz="1800">
                <a:solidFill>
                  <a:srgbClr val="FF0000"/>
                </a:solidFill>
              </a:rPr>
              <a:t>			       100</a:t>
            </a:r>
            <a:endParaRPr lang="th-TH" altLang="en-US" sz="1800">
              <a:solidFill>
                <a:srgbClr val="FF0000"/>
              </a:solidFill>
            </a:endParaRPr>
          </a:p>
        </p:txBody>
      </p:sp>
      <p:sp>
        <p:nvSpPr>
          <p:cNvPr id="334852" name="Line 4"/>
          <p:cNvSpPr>
            <a:spLocks noChangeShapeType="1"/>
          </p:cNvSpPr>
          <p:nvPr/>
        </p:nvSpPr>
        <p:spPr bwMode="auto">
          <a:xfrm>
            <a:off x="3624263" y="1752600"/>
            <a:ext cx="21669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4853" name="Line 5"/>
          <p:cNvSpPr>
            <a:spLocks noChangeShapeType="1"/>
          </p:cNvSpPr>
          <p:nvPr/>
        </p:nvSpPr>
        <p:spPr bwMode="auto">
          <a:xfrm>
            <a:off x="5867400" y="1752600"/>
            <a:ext cx="23622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4854" name="Line 6"/>
          <p:cNvSpPr>
            <a:spLocks noChangeShapeType="1"/>
          </p:cNvSpPr>
          <p:nvPr/>
        </p:nvSpPr>
        <p:spPr bwMode="auto">
          <a:xfrm>
            <a:off x="3298825" y="2514600"/>
            <a:ext cx="23622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4855" name="Line 7"/>
          <p:cNvSpPr>
            <a:spLocks noChangeShapeType="1"/>
          </p:cNvSpPr>
          <p:nvPr/>
        </p:nvSpPr>
        <p:spPr bwMode="auto">
          <a:xfrm>
            <a:off x="914400" y="2133600"/>
            <a:ext cx="74676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4856" name="Rectangle 8"/>
          <p:cNvSpPr>
            <a:spLocks noChangeArrowheads="1"/>
          </p:cNvSpPr>
          <p:nvPr/>
        </p:nvSpPr>
        <p:spPr bwMode="auto">
          <a:xfrm>
            <a:off x="3624263" y="1355725"/>
            <a:ext cx="4605337" cy="685800"/>
          </a:xfrm>
          <a:prstGeom prst="rect">
            <a:avLst/>
          </a:prstGeom>
          <a:solidFill>
            <a:srgbClr val="00B0F0">
              <a:alpha val="16078"/>
            </a:srgbClr>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27017" name="Text Box 9"/>
          <p:cNvSpPr txBox="1">
            <a:spLocks noChangeArrowheads="1"/>
          </p:cNvSpPr>
          <p:nvPr/>
        </p:nvSpPr>
        <p:spPr bwMode="auto">
          <a:xfrm>
            <a:off x="457200" y="3436938"/>
            <a:ext cx="968375"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b="1" u="sng" dirty="0">
                <a:effectLst>
                  <a:outerShdw blurRad="38100" dist="38100" dir="2700000" algn="tl">
                    <a:srgbClr val="C0C0C0"/>
                  </a:outerShdw>
                </a:effectLst>
              </a:rPr>
              <a:t>Concept</a:t>
            </a:r>
            <a:endParaRPr lang="th-TH" altLang="en-US" b="1" u="sng" dirty="0">
              <a:effectLst>
                <a:outerShdw blurRad="38100" dist="38100" dir="2700000" algn="tl">
                  <a:srgbClr val="C0C0C0"/>
                </a:outerShdw>
              </a:effectLst>
            </a:endParaRPr>
          </a:p>
        </p:txBody>
      </p:sp>
      <p:sp>
        <p:nvSpPr>
          <p:cNvPr id="334858" name="Text Box 10"/>
          <p:cNvSpPr txBox="1">
            <a:spLocks noChangeArrowheads="1"/>
          </p:cNvSpPr>
          <p:nvPr/>
        </p:nvSpPr>
        <p:spPr bwMode="auto">
          <a:xfrm>
            <a:off x="2438400" y="3700463"/>
            <a:ext cx="4800600" cy="1631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t>BDT</a:t>
            </a:r>
            <a:r>
              <a:rPr lang="en-US" altLang="en-US" sz="1800" baseline="-25000"/>
              <a:t>input</a:t>
            </a:r>
            <a:r>
              <a:rPr lang="en-US" altLang="en-US" sz="1800"/>
              <a:t>		=	BDT</a:t>
            </a:r>
            <a:r>
              <a:rPr lang="en-US" altLang="en-US" sz="1800" baseline="-25000"/>
              <a:t>discharge</a:t>
            </a:r>
            <a:endParaRPr lang="en-US" altLang="en-US" sz="1800"/>
          </a:p>
          <a:p>
            <a:pPr>
              <a:spcBef>
                <a:spcPct val="0"/>
              </a:spcBef>
              <a:buFontTx/>
              <a:buNone/>
            </a:pPr>
            <a:r>
              <a:rPr lang="en-US" altLang="en-US" sz="1800"/>
              <a:t>P</a:t>
            </a:r>
            <a:r>
              <a:rPr lang="en-US" altLang="en-US" sz="1800" baseline="-25000"/>
              <a:t>in</a:t>
            </a:r>
            <a:r>
              <a:rPr lang="en-US" altLang="en-US" sz="1800"/>
              <a:t>*C</a:t>
            </a:r>
            <a:r>
              <a:rPr lang="en-US" altLang="en-US" sz="1800" baseline="-25000"/>
              <a:t>in</a:t>
            </a:r>
            <a:r>
              <a:rPr lang="en-US" altLang="en-US" sz="1800"/>
              <a:t>		=	P</a:t>
            </a:r>
            <a:r>
              <a:rPr lang="en-US" altLang="en-US" sz="1800" baseline="-25000"/>
              <a:t>d</a:t>
            </a:r>
            <a:r>
              <a:rPr lang="en-US" altLang="en-US" sz="1800"/>
              <a:t>C</a:t>
            </a:r>
            <a:r>
              <a:rPr lang="en-US" altLang="en-US" sz="1800" baseline="-25000"/>
              <a:t>d</a:t>
            </a:r>
            <a:endParaRPr lang="en-US" altLang="en-US" sz="1800"/>
          </a:p>
          <a:p>
            <a:pPr>
              <a:spcBef>
                <a:spcPct val="0"/>
              </a:spcBef>
              <a:buFontTx/>
              <a:buNone/>
            </a:pPr>
            <a:endParaRPr lang="en-US" altLang="en-US" sz="1600"/>
          </a:p>
          <a:p>
            <a:pPr>
              <a:spcBef>
                <a:spcPct val="0"/>
              </a:spcBef>
              <a:buFontTx/>
              <a:buNone/>
            </a:pPr>
            <a:r>
              <a:rPr lang="en-US" altLang="en-US" sz="1800"/>
              <a:t>P</a:t>
            </a:r>
            <a:r>
              <a:rPr lang="en-US" altLang="en-US" sz="1800" baseline="-25000"/>
              <a:t>d</a:t>
            </a:r>
            <a:r>
              <a:rPr lang="en-US" altLang="en-US" sz="1800"/>
              <a:t>		=	P</a:t>
            </a:r>
            <a:r>
              <a:rPr lang="en-US" altLang="en-US" sz="1800" baseline="-25000"/>
              <a:t>in</a:t>
            </a:r>
            <a:r>
              <a:rPr lang="en-US" altLang="en-US" sz="1800"/>
              <a:t>*C</a:t>
            </a:r>
            <a:r>
              <a:rPr lang="en-US" altLang="en-US" sz="1800" baseline="-25000"/>
              <a:t>in</a:t>
            </a:r>
            <a:r>
              <a:rPr lang="en-US" altLang="en-US" sz="1800"/>
              <a:t>	</a:t>
            </a:r>
          </a:p>
          <a:p>
            <a:pPr>
              <a:spcBef>
                <a:spcPct val="0"/>
              </a:spcBef>
              <a:buFontTx/>
              <a:buNone/>
            </a:pPr>
            <a:r>
              <a:rPr lang="en-US" altLang="en-US" sz="1800"/>
              <a:t>			   C</a:t>
            </a:r>
            <a:r>
              <a:rPr lang="en-US" altLang="en-US" sz="1800" baseline="-25000"/>
              <a:t>d</a:t>
            </a:r>
          </a:p>
          <a:p>
            <a:pPr>
              <a:spcBef>
                <a:spcPct val="0"/>
              </a:spcBef>
              <a:buFontTx/>
              <a:buNone/>
            </a:pPr>
            <a:endParaRPr lang="th-TH" altLang="en-US" sz="1800" baseline="-25000"/>
          </a:p>
        </p:txBody>
      </p:sp>
      <p:sp>
        <p:nvSpPr>
          <p:cNvPr id="334859" name="Line 11"/>
          <p:cNvSpPr>
            <a:spLocks noChangeShapeType="1"/>
          </p:cNvSpPr>
          <p:nvPr/>
        </p:nvSpPr>
        <p:spPr bwMode="auto">
          <a:xfrm>
            <a:off x="5122863" y="4854575"/>
            <a:ext cx="7556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4860" name="Text Box 12"/>
          <p:cNvSpPr txBox="1">
            <a:spLocks noChangeArrowheads="1"/>
          </p:cNvSpPr>
          <p:nvPr/>
        </p:nvSpPr>
        <p:spPr bwMode="auto">
          <a:xfrm>
            <a:off x="457200" y="3051175"/>
            <a:ext cx="545465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a:t>Total water leaving the washer = {(100-C</a:t>
            </a:r>
            <a:r>
              <a:rPr lang="en-US" altLang="en-US" sz="2000" baseline="-25000"/>
              <a:t>d</a:t>
            </a:r>
            <a:r>
              <a:rPr lang="en-US" altLang="en-US" sz="2000"/>
              <a:t>)*P</a:t>
            </a:r>
            <a:r>
              <a:rPr lang="en-US" altLang="en-US" sz="2000" baseline="-25000"/>
              <a:t>d</a:t>
            </a:r>
            <a:r>
              <a:rPr lang="en-US" altLang="en-US" sz="2000"/>
              <a:t>}/100</a:t>
            </a:r>
            <a:endParaRPr lang="th-TH" altLang="en-US" sz="2000" baseline="-25000"/>
          </a:p>
        </p:txBody>
      </p:sp>
      <p:sp>
        <p:nvSpPr>
          <p:cNvPr id="334861" name="Text Box 13"/>
          <p:cNvSpPr txBox="1">
            <a:spLocks noChangeArrowheads="1"/>
          </p:cNvSpPr>
          <p:nvPr/>
        </p:nvSpPr>
        <p:spPr bwMode="auto">
          <a:xfrm>
            <a:off x="457200" y="5410200"/>
            <a:ext cx="6599238" cy="954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a:t>Total water leaving the washer 	= {(100-C</a:t>
            </a:r>
            <a:r>
              <a:rPr lang="en-US" altLang="en-US" sz="2000" baseline="-25000"/>
              <a:t>d</a:t>
            </a:r>
            <a:r>
              <a:rPr lang="en-US" altLang="en-US" sz="2000"/>
              <a:t>)* </a:t>
            </a:r>
            <a:r>
              <a:rPr lang="en-US" altLang="en-US" sz="1800"/>
              <a:t>P</a:t>
            </a:r>
            <a:r>
              <a:rPr lang="en-US" altLang="en-US" sz="1800" baseline="-25000"/>
              <a:t>in</a:t>
            </a:r>
            <a:r>
              <a:rPr lang="en-US" altLang="en-US" sz="1800"/>
              <a:t>*C</a:t>
            </a:r>
            <a:r>
              <a:rPr lang="en-US" altLang="en-US" sz="1800" baseline="-25000"/>
              <a:t>in</a:t>
            </a:r>
            <a:r>
              <a:rPr lang="en-US" altLang="en-US" sz="2000"/>
              <a:t>}/100 </a:t>
            </a:r>
            <a:r>
              <a:rPr lang="en-US" altLang="en-US" sz="1800"/>
              <a:t>C</a:t>
            </a:r>
            <a:r>
              <a:rPr lang="en-US" altLang="en-US" sz="1800" baseline="-25000"/>
              <a:t>d</a:t>
            </a:r>
            <a:endParaRPr lang="en-US" altLang="en-US" sz="1800"/>
          </a:p>
          <a:p>
            <a:pPr>
              <a:spcBef>
                <a:spcPct val="0"/>
              </a:spcBef>
              <a:buFontTx/>
              <a:buNone/>
            </a:pPr>
            <a:r>
              <a:rPr lang="en-US" altLang="en-US" sz="1800"/>
              <a:t>				= (100-C</a:t>
            </a:r>
            <a:r>
              <a:rPr lang="en-US" altLang="en-US" sz="1800" baseline="-25000"/>
              <a:t>d</a:t>
            </a:r>
            <a:r>
              <a:rPr lang="en-US" altLang="en-US" sz="1800"/>
              <a:t>)(P</a:t>
            </a:r>
            <a:r>
              <a:rPr lang="en-US" altLang="en-US" sz="1800" baseline="-25000"/>
              <a:t>in</a:t>
            </a:r>
            <a:r>
              <a:rPr lang="en-US" altLang="en-US" sz="1800"/>
              <a:t>*C</a:t>
            </a:r>
            <a:r>
              <a:rPr lang="en-US" altLang="en-US" sz="1800" baseline="-25000"/>
              <a:t>in</a:t>
            </a:r>
            <a:r>
              <a:rPr lang="en-US" altLang="en-US" sz="1800"/>
              <a:t>)</a:t>
            </a:r>
          </a:p>
          <a:p>
            <a:pPr>
              <a:spcBef>
                <a:spcPct val="0"/>
              </a:spcBef>
              <a:buFontTx/>
              <a:buNone/>
            </a:pPr>
            <a:r>
              <a:rPr lang="en-US" altLang="en-US" sz="1800"/>
              <a:t>				         C</a:t>
            </a:r>
            <a:r>
              <a:rPr lang="en-US" altLang="en-US" sz="1800" baseline="-25000"/>
              <a:t>d</a:t>
            </a:r>
            <a:r>
              <a:rPr lang="en-US" altLang="en-US" sz="1800"/>
              <a:t>       100</a:t>
            </a:r>
            <a:endParaRPr lang="th-TH" altLang="en-US" sz="1800" baseline="-25000"/>
          </a:p>
        </p:txBody>
      </p:sp>
      <p:sp>
        <p:nvSpPr>
          <p:cNvPr id="334862" name="Line 14"/>
          <p:cNvSpPr>
            <a:spLocks noChangeShapeType="1"/>
          </p:cNvSpPr>
          <p:nvPr/>
        </p:nvSpPr>
        <p:spPr bwMode="auto">
          <a:xfrm>
            <a:off x="4259263" y="6070600"/>
            <a:ext cx="8461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4863" name="Line 15"/>
          <p:cNvSpPr>
            <a:spLocks noChangeShapeType="1"/>
          </p:cNvSpPr>
          <p:nvPr/>
        </p:nvSpPr>
        <p:spPr bwMode="auto">
          <a:xfrm>
            <a:off x="5191125" y="6070600"/>
            <a:ext cx="6477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Tree>
  </p:cSld>
  <p:clrMapOvr>
    <a:masterClrMapping/>
  </p:clrMapOvr>
  <p:transition spd="slow"/>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035" name="Text Box 3"/>
          <p:cNvSpPr txBox="1">
            <a:spLocks noChangeArrowheads="1"/>
          </p:cNvSpPr>
          <p:nvPr/>
        </p:nvSpPr>
        <p:spPr bwMode="auto">
          <a:xfrm>
            <a:off x="463550" y="152400"/>
            <a:ext cx="8451850" cy="877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66FF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defRPr/>
            </a:pPr>
            <a:endParaRPr lang="en-US" altLang="en-US" sz="1900" b="1">
              <a:solidFill>
                <a:srgbClr val="FF0000"/>
              </a:solidFill>
              <a:effectLst>
                <a:outerShdw blurRad="38100" dist="38100" dir="2700000" algn="tl">
                  <a:srgbClr val="C0C0C0"/>
                </a:outerShdw>
              </a:effectLst>
              <a:latin typeface="Times New Roman" panose="02020603050405020304" pitchFamily="18" charset="0"/>
            </a:endParaRPr>
          </a:p>
          <a:p>
            <a:pPr>
              <a:defRPr/>
            </a:pPr>
            <a:r>
              <a:rPr lang="en-US" altLang="en-US" sz="3200" b="1" dirty="0">
                <a:solidFill>
                  <a:srgbClr val="FF0000"/>
                </a:solidFill>
                <a:effectLst>
                  <a:outerShdw blurRad="38100" dist="38100" dir="2700000" algn="tl">
                    <a:srgbClr val="C0C0C0"/>
                  </a:outerShdw>
                </a:effectLst>
                <a:cs typeface="Arial" panose="020B0604020202020204" pitchFamily="34" charset="0"/>
              </a:rPr>
              <a:t>DILUTION FACTOR :</a:t>
            </a:r>
            <a:endParaRPr lang="th-TH" altLang="en-US" dirty="0">
              <a:solidFill>
                <a:srgbClr val="FF0000"/>
              </a:solidFill>
              <a:effectLst>
                <a:outerShdw blurRad="38100" dist="38100" dir="2700000" algn="tl">
                  <a:srgbClr val="C0C0C0"/>
                </a:outerShdw>
              </a:effectLst>
            </a:endParaRPr>
          </a:p>
        </p:txBody>
      </p:sp>
      <p:graphicFrame>
        <p:nvGraphicFramePr>
          <p:cNvPr id="335875" name="Object 2"/>
          <p:cNvGraphicFramePr>
            <a:graphicFrameLocks noChangeAspect="1"/>
          </p:cNvGraphicFramePr>
          <p:nvPr/>
        </p:nvGraphicFramePr>
        <p:xfrm>
          <a:off x="1371600" y="1371600"/>
          <a:ext cx="6519863" cy="2819400"/>
        </p:xfrm>
        <a:graphic>
          <a:graphicData uri="http://schemas.openxmlformats.org/presentationml/2006/ole">
            <mc:AlternateContent xmlns:mc="http://schemas.openxmlformats.org/markup-compatibility/2006">
              <mc:Choice xmlns:v="urn:schemas-microsoft-com:vml" Requires="v">
                <p:oleObj spid="_x0000_s335892" name="Worksheet" r:id="rId3" imgW="8620351" imgH="4124566" progId="Excel.Sheet.8">
                  <p:embed/>
                </p:oleObj>
              </mc:Choice>
              <mc:Fallback>
                <p:oleObj name="Worksheet" r:id="rId3" imgW="8620351" imgH="4124566" progId="Excel.Sheet.8">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71600" y="1371600"/>
                        <a:ext cx="6519863" cy="2819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5876" name="Rectangle 4"/>
          <p:cNvSpPr>
            <a:spLocks noChangeArrowheads="1"/>
          </p:cNvSpPr>
          <p:nvPr/>
        </p:nvSpPr>
        <p:spPr bwMode="auto">
          <a:xfrm>
            <a:off x="6477000" y="1295400"/>
            <a:ext cx="1676400" cy="762000"/>
          </a:xfrm>
          <a:prstGeom prst="rect">
            <a:avLst/>
          </a:prstGeom>
          <a:solidFill>
            <a:schemeClr val="accent1">
              <a:alpha val="50195"/>
            </a:schemeClr>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17" name="Text Box 5"/>
          <p:cNvSpPr txBox="1">
            <a:spLocks noChangeArrowheads="1"/>
          </p:cNvSpPr>
          <p:nvPr/>
        </p:nvSpPr>
        <p:spPr bwMode="auto">
          <a:xfrm>
            <a:off x="6248400" y="914400"/>
            <a:ext cx="2109788"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a:effectLst>
                  <a:outerShdw blurRad="38100" dist="38100" dir="2700000" algn="tl">
                    <a:srgbClr val="C0C0C0"/>
                  </a:outerShdw>
                </a:effectLst>
              </a:rPr>
              <a:t>Total water flow = P</a:t>
            </a:r>
            <a:r>
              <a:rPr lang="en-US" altLang="en-US" baseline="-25000">
                <a:effectLst>
                  <a:outerShdw blurRad="38100" dist="38100" dir="2700000" algn="tl">
                    <a:srgbClr val="C0C0C0"/>
                  </a:outerShdw>
                </a:effectLst>
              </a:rPr>
              <a:t>1</a:t>
            </a:r>
            <a:endParaRPr lang="th-TH" altLang="en-US" baseline="-25000">
              <a:effectLst>
                <a:outerShdw blurRad="38100" dist="38100" dir="2700000" algn="tl">
                  <a:srgbClr val="C0C0C0"/>
                </a:outerShdw>
              </a:effectLst>
            </a:endParaRPr>
          </a:p>
        </p:txBody>
      </p:sp>
      <p:sp>
        <p:nvSpPr>
          <p:cNvPr id="18" name="Text Box 6"/>
          <p:cNvSpPr txBox="1">
            <a:spLocks noChangeArrowheads="1"/>
          </p:cNvSpPr>
          <p:nvPr/>
        </p:nvSpPr>
        <p:spPr bwMode="auto">
          <a:xfrm>
            <a:off x="3200400" y="2254250"/>
            <a:ext cx="846138" cy="646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dirty="0">
                <a:effectLst>
                  <a:outerShdw blurRad="38100" dist="38100" dir="2700000" algn="tl">
                    <a:srgbClr val="C0C0C0"/>
                  </a:outerShdw>
                </a:effectLst>
              </a:rPr>
              <a:t>P</a:t>
            </a:r>
            <a:r>
              <a:rPr lang="en-US" altLang="en-US" baseline="-25000" dirty="0">
                <a:effectLst>
                  <a:outerShdw blurRad="38100" dist="38100" dir="2700000" algn="tl">
                    <a:srgbClr val="C0C0C0"/>
                  </a:outerShdw>
                </a:effectLst>
              </a:rPr>
              <a:t>in</a:t>
            </a:r>
            <a:r>
              <a:rPr lang="en-US" altLang="en-US" dirty="0">
                <a:effectLst>
                  <a:outerShdw blurRad="38100" dist="38100" dir="2700000" algn="tl">
                    <a:srgbClr val="C0C0C0"/>
                  </a:outerShdw>
                </a:effectLst>
              </a:rPr>
              <a:t> = P</a:t>
            </a:r>
            <a:r>
              <a:rPr lang="en-US" altLang="en-US" baseline="-25000" dirty="0">
                <a:effectLst>
                  <a:outerShdw blurRad="38100" dist="38100" dir="2700000" algn="tl">
                    <a:srgbClr val="C0C0C0"/>
                  </a:outerShdw>
                </a:effectLst>
              </a:rPr>
              <a:t>2</a:t>
            </a:r>
            <a:endParaRPr lang="en-US" altLang="en-US" dirty="0">
              <a:effectLst>
                <a:outerShdw blurRad="38100" dist="38100" dir="2700000" algn="tl">
                  <a:srgbClr val="C0C0C0"/>
                </a:outerShdw>
              </a:effectLst>
            </a:endParaRPr>
          </a:p>
          <a:p>
            <a:pPr>
              <a:defRPr/>
            </a:pPr>
            <a:r>
              <a:rPr lang="en-US" altLang="en-US" dirty="0" err="1">
                <a:effectLst>
                  <a:outerShdw blurRad="38100" dist="38100" dir="2700000" algn="tl">
                    <a:srgbClr val="C0C0C0"/>
                  </a:outerShdw>
                </a:effectLst>
              </a:rPr>
              <a:t>C</a:t>
            </a:r>
            <a:r>
              <a:rPr lang="en-US" altLang="en-US" baseline="-25000" dirty="0" err="1">
                <a:effectLst>
                  <a:outerShdw blurRad="38100" dist="38100" dir="2700000" algn="tl">
                    <a:srgbClr val="C0C0C0"/>
                  </a:outerShdw>
                </a:effectLst>
              </a:rPr>
              <a:t>in</a:t>
            </a:r>
            <a:r>
              <a:rPr lang="en-US" altLang="en-US" dirty="0">
                <a:effectLst>
                  <a:outerShdw blurRad="38100" dist="38100" dir="2700000" algn="tl">
                    <a:srgbClr val="C0C0C0"/>
                  </a:outerShdw>
                </a:effectLst>
              </a:rPr>
              <a:t> = C</a:t>
            </a:r>
            <a:r>
              <a:rPr lang="en-US" altLang="en-US" baseline="-25000" dirty="0">
                <a:effectLst>
                  <a:outerShdw blurRad="38100" dist="38100" dir="2700000" algn="tl">
                    <a:srgbClr val="C0C0C0"/>
                  </a:outerShdw>
                </a:effectLst>
              </a:rPr>
              <a:t>3</a:t>
            </a:r>
            <a:endParaRPr lang="th-TH" altLang="en-US" baseline="-25000" dirty="0">
              <a:effectLst>
                <a:outerShdw blurRad="38100" dist="38100" dir="2700000" algn="tl">
                  <a:srgbClr val="C0C0C0"/>
                </a:outerShdw>
              </a:effectLst>
            </a:endParaRPr>
          </a:p>
        </p:txBody>
      </p:sp>
      <p:sp>
        <p:nvSpPr>
          <p:cNvPr id="19" name="Text Box 7"/>
          <p:cNvSpPr txBox="1">
            <a:spLocks noChangeArrowheads="1"/>
          </p:cNvSpPr>
          <p:nvPr/>
        </p:nvSpPr>
        <p:spPr bwMode="auto">
          <a:xfrm>
            <a:off x="5715000" y="1720850"/>
            <a:ext cx="815975" cy="646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a:effectLst>
                  <a:outerShdw blurRad="38100" dist="38100" dir="2700000" algn="tl">
                    <a:srgbClr val="C0C0C0"/>
                  </a:outerShdw>
                </a:effectLst>
              </a:rPr>
              <a:t>P</a:t>
            </a:r>
            <a:r>
              <a:rPr lang="en-US" altLang="en-US" baseline="-25000">
                <a:effectLst>
                  <a:outerShdw blurRad="38100" dist="38100" dir="2700000" algn="tl">
                    <a:srgbClr val="C0C0C0"/>
                  </a:outerShdw>
                </a:effectLst>
              </a:rPr>
              <a:t>d</a:t>
            </a:r>
            <a:r>
              <a:rPr lang="en-US" altLang="en-US">
                <a:effectLst>
                  <a:outerShdw blurRad="38100" dist="38100" dir="2700000" algn="tl">
                    <a:srgbClr val="C0C0C0"/>
                  </a:outerShdw>
                </a:effectLst>
              </a:rPr>
              <a:t> = ??</a:t>
            </a:r>
          </a:p>
          <a:p>
            <a:pPr>
              <a:defRPr/>
            </a:pPr>
            <a:r>
              <a:rPr lang="en-US" altLang="en-US">
                <a:effectLst>
                  <a:outerShdw blurRad="38100" dist="38100" dir="2700000" algn="tl">
                    <a:srgbClr val="C0C0C0"/>
                  </a:outerShdw>
                </a:effectLst>
              </a:rPr>
              <a:t>C</a:t>
            </a:r>
            <a:r>
              <a:rPr lang="en-US" altLang="en-US" baseline="-25000">
                <a:effectLst>
                  <a:outerShdw blurRad="38100" dist="38100" dir="2700000" algn="tl">
                    <a:srgbClr val="C0C0C0"/>
                  </a:outerShdw>
                </a:effectLst>
              </a:rPr>
              <a:t>d</a:t>
            </a:r>
            <a:r>
              <a:rPr lang="en-US" altLang="en-US">
                <a:effectLst>
                  <a:outerShdw blurRad="38100" dist="38100" dir="2700000" algn="tl">
                    <a:srgbClr val="C0C0C0"/>
                  </a:outerShdw>
                </a:effectLst>
              </a:rPr>
              <a:t> = C</a:t>
            </a:r>
            <a:r>
              <a:rPr lang="en-US" altLang="en-US" baseline="-25000">
                <a:effectLst>
                  <a:outerShdw blurRad="38100" dist="38100" dir="2700000" algn="tl">
                    <a:srgbClr val="C0C0C0"/>
                  </a:outerShdw>
                </a:effectLst>
              </a:rPr>
              <a:t>2</a:t>
            </a:r>
            <a:endParaRPr lang="th-TH" altLang="en-US" baseline="-25000">
              <a:effectLst>
                <a:outerShdw blurRad="38100" dist="38100" dir="2700000" algn="tl">
                  <a:srgbClr val="C0C0C0"/>
                </a:outerShdw>
              </a:effectLst>
            </a:endParaRPr>
          </a:p>
        </p:txBody>
      </p:sp>
      <p:sp>
        <p:nvSpPr>
          <p:cNvPr id="335880" name="Text Box 8"/>
          <p:cNvSpPr txBox="1">
            <a:spLocks noChangeArrowheads="1"/>
          </p:cNvSpPr>
          <p:nvPr/>
        </p:nvSpPr>
        <p:spPr bwMode="auto">
          <a:xfrm>
            <a:off x="2041525" y="4687888"/>
            <a:ext cx="5197475" cy="138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solidFill>
                  <a:schemeClr val="hlink"/>
                </a:solidFill>
              </a:rPr>
              <a:t>DF = 	</a:t>
            </a:r>
            <a:r>
              <a:rPr lang="en-US" altLang="en-US" sz="1800"/>
              <a:t>P</a:t>
            </a:r>
            <a:r>
              <a:rPr lang="en-US" altLang="en-US" sz="1800" baseline="-25000"/>
              <a:t>1</a:t>
            </a:r>
            <a:r>
              <a:rPr lang="en-US" altLang="en-US" sz="1800"/>
              <a:t>-</a:t>
            </a:r>
            <a:r>
              <a:rPr lang="en-US" altLang="en-US" sz="1800">
                <a:solidFill>
                  <a:schemeClr val="bg2"/>
                </a:solidFill>
              </a:rPr>
              <a:t> </a:t>
            </a:r>
            <a:r>
              <a:rPr lang="en-US" altLang="en-US" sz="1800">
                <a:solidFill>
                  <a:schemeClr val="accent2"/>
                </a:solidFill>
              </a:rPr>
              <a:t>{ (100-C</a:t>
            </a:r>
            <a:r>
              <a:rPr lang="en-US" altLang="en-US" sz="1800" baseline="-25000">
                <a:solidFill>
                  <a:schemeClr val="accent2"/>
                </a:solidFill>
              </a:rPr>
              <a:t>2</a:t>
            </a:r>
            <a:r>
              <a:rPr lang="en-US" altLang="en-US" sz="1800">
                <a:solidFill>
                  <a:schemeClr val="accent2"/>
                </a:solidFill>
              </a:rPr>
              <a:t>) x (P</a:t>
            </a:r>
            <a:r>
              <a:rPr lang="en-US" altLang="en-US" sz="1800" baseline="-25000">
                <a:solidFill>
                  <a:schemeClr val="accent2"/>
                </a:solidFill>
              </a:rPr>
              <a:t>2</a:t>
            </a:r>
            <a:r>
              <a:rPr lang="en-US" altLang="en-US" sz="1800">
                <a:solidFill>
                  <a:schemeClr val="accent2"/>
                </a:solidFill>
              </a:rPr>
              <a:t>xC</a:t>
            </a:r>
            <a:r>
              <a:rPr lang="en-US" altLang="en-US" sz="1800" baseline="-25000">
                <a:solidFill>
                  <a:schemeClr val="accent2"/>
                </a:solidFill>
              </a:rPr>
              <a:t>3</a:t>
            </a:r>
            <a:r>
              <a:rPr lang="en-US" altLang="en-US" sz="1800">
                <a:solidFill>
                  <a:schemeClr val="accent2"/>
                </a:solidFill>
              </a:rPr>
              <a:t>) }</a:t>
            </a:r>
          </a:p>
          <a:p>
            <a:pPr>
              <a:spcBef>
                <a:spcPct val="0"/>
              </a:spcBef>
              <a:buFontTx/>
              <a:buNone/>
            </a:pPr>
            <a:r>
              <a:rPr lang="en-US" altLang="en-US" sz="1800">
                <a:solidFill>
                  <a:schemeClr val="accent2"/>
                </a:solidFill>
              </a:rPr>
              <a:t>                                C</a:t>
            </a:r>
            <a:r>
              <a:rPr lang="en-US" altLang="en-US" sz="1800" baseline="-25000">
                <a:solidFill>
                  <a:schemeClr val="accent2"/>
                </a:solidFill>
              </a:rPr>
              <a:t>2</a:t>
            </a:r>
            <a:r>
              <a:rPr lang="en-US" altLang="en-US" sz="1800">
                <a:solidFill>
                  <a:schemeClr val="accent2"/>
                </a:solidFill>
              </a:rPr>
              <a:t>           100</a:t>
            </a:r>
          </a:p>
          <a:p>
            <a:pPr>
              <a:spcBef>
                <a:spcPct val="0"/>
              </a:spcBef>
              <a:buFontTx/>
              <a:buNone/>
            </a:pPr>
            <a:endParaRPr lang="en-US" altLang="en-US" sz="1200">
              <a:solidFill>
                <a:schemeClr val="accent2"/>
              </a:solidFill>
            </a:endParaRPr>
          </a:p>
          <a:p>
            <a:pPr>
              <a:spcBef>
                <a:spcPct val="0"/>
              </a:spcBef>
              <a:buFontTx/>
              <a:buNone/>
            </a:pPr>
            <a:r>
              <a:rPr lang="en-US" altLang="en-US" sz="1800">
                <a:solidFill>
                  <a:schemeClr val="bg2"/>
                </a:solidFill>
              </a:rPr>
              <a:t>		</a:t>
            </a:r>
            <a:r>
              <a:rPr lang="en-US" altLang="en-US" sz="1800"/>
              <a:t> P</a:t>
            </a:r>
            <a:r>
              <a:rPr lang="en-US" altLang="en-US" sz="1800" baseline="-25000"/>
              <a:t>2</a:t>
            </a:r>
            <a:r>
              <a:rPr lang="en-US" altLang="en-US" sz="1800"/>
              <a:t>xC</a:t>
            </a:r>
            <a:r>
              <a:rPr lang="en-US" altLang="en-US" sz="1800" baseline="-25000"/>
              <a:t>3</a:t>
            </a:r>
          </a:p>
          <a:p>
            <a:pPr>
              <a:spcBef>
                <a:spcPct val="0"/>
              </a:spcBef>
              <a:buFontTx/>
              <a:buNone/>
            </a:pPr>
            <a:r>
              <a:rPr lang="en-US" altLang="en-US" sz="1800"/>
              <a:t>		  100 </a:t>
            </a:r>
            <a:endParaRPr lang="th-TH" altLang="en-US" sz="1800"/>
          </a:p>
        </p:txBody>
      </p:sp>
      <p:sp>
        <p:nvSpPr>
          <p:cNvPr id="335881" name="Line 9"/>
          <p:cNvSpPr>
            <a:spLocks noChangeShapeType="1"/>
          </p:cNvSpPr>
          <p:nvPr/>
        </p:nvSpPr>
        <p:spPr bwMode="auto">
          <a:xfrm>
            <a:off x="3352800" y="5003800"/>
            <a:ext cx="194468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5882" name="Line 10"/>
          <p:cNvSpPr>
            <a:spLocks noChangeShapeType="1"/>
          </p:cNvSpPr>
          <p:nvPr/>
        </p:nvSpPr>
        <p:spPr bwMode="auto">
          <a:xfrm>
            <a:off x="2365375" y="5399088"/>
            <a:ext cx="37338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5883" name="Line 11"/>
          <p:cNvSpPr>
            <a:spLocks noChangeShapeType="1"/>
          </p:cNvSpPr>
          <p:nvPr/>
        </p:nvSpPr>
        <p:spPr bwMode="auto">
          <a:xfrm>
            <a:off x="3908425" y="5729288"/>
            <a:ext cx="7064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Tree>
  </p:cSld>
  <p:clrMapOvr>
    <a:masterClrMapping/>
  </p:clrMapOvr>
  <p:transition spd="slow"/>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8" name="Rectangle 2"/>
          <p:cNvSpPr>
            <a:spLocks noGrp="1" noChangeArrowheads="1"/>
          </p:cNvSpPr>
          <p:nvPr>
            <p:ph type="title"/>
          </p:nvPr>
        </p:nvSpPr>
        <p:spPr>
          <a:xfrm>
            <a:off x="685800" y="115888"/>
            <a:ext cx="7772400" cy="1143000"/>
          </a:xfrm>
        </p:spPr>
        <p:txBody>
          <a:bodyPr/>
          <a:lstStyle/>
          <a:p>
            <a:pPr algn="l"/>
            <a:r>
              <a:rPr lang="en-US" altLang="en-US" sz="4000" b="1" smtClean="0">
                <a:solidFill>
                  <a:srgbClr val="FF0000"/>
                </a:solidFill>
              </a:rPr>
              <a:t>Principles of washing Theory</a:t>
            </a:r>
            <a:endParaRPr lang="th-TH" altLang="en-US" sz="4000" b="1" smtClean="0">
              <a:solidFill>
                <a:srgbClr val="FF0000"/>
              </a:solidFill>
            </a:endParaRPr>
          </a:p>
        </p:txBody>
      </p:sp>
      <p:pic>
        <p:nvPicPr>
          <p:cNvPr id="336899" name="Picture 3" descr="ap26^001"/>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1965325" y="1123950"/>
            <a:ext cx="5000625" cy="5256213"/>
          </a:xfrm>
          <a:noFill/>
          <a:ln w="28575">
            <a:solidFill>
              <a:schemeClr val="bg2"/>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2" name="Text Box 2"/>
          <p:cNvSpPr txBox="1">
            <a:spLocks noChangeArrowheads="1"/>
          </p:cNvSpPr>
          <p:nvPr/>
        </p:nvSpPr>
        <p:spPr bwMode="auto">
          <a:xfrm>
            <a:off x="539750" y="549275"/>
            <a:ext cx="2519363"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b="1" u="sng">
                <a:solidFill>
                  <a:srgbClr val="FF0000"/>
                </a:solidFill>
              </a:rPr>
              <a:t>Question 1.</a:t>
            </a:r>
          </a:p>
        </p:txBody>
      </p:sp>
      <p:sp>
        <p:nvSpPr>
          <p:cNvPr id="337923" name="Text Box 3"/>
          <p:cNvSpPr txBox="1">
            <a:spLocks noChangeArrowheads="1"/>
          </p:cNvSpPr>
          <p:nvPr/>
        </p:nvSpPr>
        <p:spPr bwMode="auto">
          <a:xfrm>
            <a:off x="611188" y="1341438"/>
            <a:ext cx="72009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th-TH" altLang="en-US" sz="1800" b="1">
                <a:solidFill>
                  <a:schemeClr val="hlink"/>
                </a:solidFill>
                <a:cs typeface="CordiaUPC" panose="020B0304020202020204" pitchFamily="34" charset="-34"/>
              </a:rPr>
              <a:t>ประสิทธิภาพของการล้างเยื่อขึ้นกับน้ำที่ใช้ล้างเยื่อ และปริมาณที่ล้าง ถ้าเป็นเช่นนั้น ทำไมถึงไม่ใช้น้ำล้างเยื่อมากๆ</a:t>
            </a:r>
          </a:p>
        </p:txBody>
      </p:sp>
      <p:sp>
        <p:nvSpPr>
          <p:cNvPr id="430084" name="Text Box 4"/>
          <p:cNvSpPr txBox="1">
            <a:spLocks noChangeArrowheads="1"/>
          </p:cNvSpPr>
          <p:nvPr/>
        </p:nvSpPr>
        <p:spPr bwMode="auto">
          <a:xfrm>
            <a:off x="611188" y="2425700"/>
            <a:ext cx="7264400" cy="830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a:defRPr>
                <a:solidFill>
                  <a:schemeClr val="tx1"/>
                </a:solidFill>
                <a:latin typeface="Calibri" panose="020F0502020204030204" pitchFamily="34" charset="0"/>
              </a:defRPr>
            </a:lvl1pPr>
            <a:lvl2pPr marL="914400" indent="-457200">
              <a:defRPr>
                <a:solidFill>
                  <a:schemeClr val="tx1"/>
                </a:solidFill>
                <a:latin typeface="Calibri" panose="020F0502020204030204" pitchFamily="34" charset="0"/>
              </a:defRPr>
            </a:lvl2pPr>
            <a:lvl3pPr marL="1371600" indent="-457200">
              <a:defRPr>
                <a:solidFill>
                  <a:schemeClr val="tx1"/>
                </a:solidFill>
                <a:latin typeface="Calibri" panose="020F0502020204030204" pitchFamily="34" charset="0"/>
              </a:defRPr>
            </a:lvl3pPr>
            <a:lvl4pPr marL="1828800" indent="-457200">
              <a:defRPr>
                <a:solidFill>
                  <a:schemeClr val="tx1"/>
                </a:solidFill>
                <a:latin typeface="Calibri" panose="020F0502020204030204" pitchFamily="34" charset="0"/>
              </a:defRPr>
            </a:lvl4pPr>
            <a:lvl5pPr marL="2286000" indent="-457200">
              <a:defRPr>
                <a:solidFill>
                  <a:schemeClr val="tx1"/>
                </a:solidFill>
                <a:latin typeface="Calibri" panose="020F0502020204030204" pitchFamily="34" charset="0"/>
              </a:defRPr>
            </a:lvl5pPr>
            <a:lvl6pPr marL="2743200" indent="-457200" eaLnBrk="0" fontAlgn="base" hangingPunct="0">
              <a:spcBef>
                <a:spcPct val="0"/>
              </a:spcBef>
              <a:spcAft>
                <a:spcPct val="0"/>
              </a:spcAft>
              <a:defRPr>
                <a:solidFill>
                  <a:schemeClr val="tx1"/>
                </a:solidFill>
                <a:latin typeface="Calibri" panose="020F0502020204030204" pitchFamily="34" charset="0"/>
              </a:defRPr>
            </a:lvl6pPr>
            <a:lvl7pPr marL="3200400" indent="-457200" eaLnBrk="0" fontAlgn="base" hangingPunct="0">
              <a:spcBef>
                <a:spcPct val="0"/>
              </a:spcBef>
              <a:spcAft>
                <a:spcPct val="0"/>
              </a:spcAft>
              <a:defRPr>
                <a:solidFill>
                  <a:schemeClr val="tx1"/>
                </a:solidFill>
                <a:latin typeface="Calibri" panose="020F0502020204030204" pitchFamily="34" charset="0"/>
              </a:defRPr>
            </a:lvl7pPr>
            <a:lvl8pPr marL="3657600" indent="-457200" eaLnBrk="0" fontAlgn="base" hangingPunct="0">
              <a:spcBef>
                <a:spcPct val="0"/>
              </a:spcBef>
              <a:spcAft>
                <a:spcPct val="0"/>
              </a:spcAft>
              <a:defRPr>
                <a:solidFill>
                  <a:schemeClr val="tx1"/>
                </a:solidFill>
                <a:latin typeface="Calibri" panose="020F0502020204030204" pitchFamily="34" charset="0"/>
              </a:defRPr>
            </a:lvl8pPr>
            <a:lvl9pPr marL="4114800" indent="-457200" eaLnBrk="0" fontAlgn="base" hangingPunct="0">
              <a:spcBef>
                <a:spcPct val="0"/>
              </a:spcBef>
              <a:spcAft>
                <a:spcPct val="0"/>
              </a:spcAft>
              <a:defRPr>
                <a:solidFill>
                  <a:schemeClr val="tx1"/>
                </a:solidFill>
                <a:latin typeface="Calibri" panose="020F0502020204030204" pitchFamily="34" charset="0"/>
              </a:defRPr>
            </a:lvl9pPr>
          </a:lstStyle>
          <a:p>
            <a:pPr>
              <a:buFontTx/>
              <a:buAutoNum type="arabicPeriod"/>
            </a:pPr>
            <a:r>
              <a:rPr lang="th-TH" altLang="en-US" sz="2400">
                <a:latin typeface="Arial" panose="020B0604020202020204" pitchFamily="34" charset="0"/>
                <a:cs typeface="CordiaUPC" panose="020B0304020202020204" pitchFamily="34" charset="-34"/>
              </a:rPr>
              <a:t>ความสามารถในการเกาะของเยื่อบน </a:t>
            </a:r>
            <a:r>
              <a:rPr lang="en-US" altLang="en-US" sz="2400">
                <a:latin typeface="Arial" panose="020B0604020202020204" pitchFamily="34" charset="0"/>
                <a:cs typeface="CordiaUPC" panose="020B0304020202020204" pitchFamily="34" charset="-34"/>
              </a:rPr>
              <a:t>Wire</a:t>
            </a:r>
          </a:p>
          <a:p>
            <a:pPr>
              <a:buFontTx/>
              <a:buAutoNum type="arabicPeriod"/>
            </a:pPr>
            <a:r>
              <a:rPr lang="th-TH" altLang="en-US" sz="2400">
                <a:latin typeface="Arial" panose="020B0604020202020204" pitchFamily="34" charset="0"/>
                <a:cs typeface="CordiaUPC" panose="020B0304020202020204" pitchFamily="34" charset="-34"/>
              </a:rPr>
              <a:t>เพิ่มภาระที่ </a:t>
            </a:r>
            <a:r>
              <a:rPr lang="en-US" altLang="en-US" sz="2400">
                <a:latin typeface="Arial" panose="020B0604020202020204" pitchFamily="34" charset="0"/>
                <a:cs typeface="CordiaUPC" panose="020B0304020202020204" pitchFamily="34" charset="-34"/>
              </a:rPr>
              <a:t>Evaporator </a:t>
            </a:r>
            <a:r>
              <a:rPr lang="th-TH" altLang="en-US" sz="2400">
                <a:latin typeface="Arial" panose="020B0604020202020204" pitchFamily="34" charset="0"/>
                <a:cs typeface="CordiaUPC" panose="020B0304020202020204" pitchFamily="34" charset="-34"/>
              </a:rPr>
              <a:t>เนื่องจากมีน้ำส่งไปมาก</a:t>
            </a:r>
            <a:endParaRPr lang="en-US" altLang="en-US" sz="2400">
              <a:latin typeface="Arial" panose="020B0604020202020204" pitchFamily="34" charset="0"/>
              <a:cs typeface="CordiaUPC" panose="020B0304020202020204" pitchFamily="34" charset="-34"/>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30084"/>
                                        </p:tgtEl>
                                        <p:attrNameLst>
                                          <p:attrName>style.visibility</p:attrName>
                                        </p:attrNameLst>
                                      </p:cBhvr>
                                      <p:to>
                                        <p:strVal val="visible"/>
                                      </p:to>
                                    </p:set>
                                    <p:animEffect transition="in" filter="dissolve">
                                      <p:cBhvr>
                                        <p:cTn id="7" dur="500"/>
                                        <p:tgtEl>
                                          <p:spTgt spid="4300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084"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6" name="Rectangle 2"/>
          <p:cNvSpPr>
            <a:spLocks noGrp="1" noChangeArrowheads="1"/>
          </p:cNvSpPr>
          <p:nvPr>
            <p:ph type="title"/>
          </p:nvPr>
        </p:nvSpPr>
        <p:spPr/>
        <p:txBody>
          <a:bodyPr/>
          <a:lstStyle/>
          <a:p>
            <a:pPr algn="l"/>
            <a:r>
              <a:rPr lang="en-US" altLang="en-US" sz="4000" b="1" smtClean="0">
                <a:solidFill>
                  <a:srgbClr val="FF0000"/>
                </a:solidFill>
              </a:rPr>
              <a:t>Displacement Ratio (</a:t>
            </a:r>
            <a:r>
              <a:rPr lang="th-TH" altLang="en-US" sz="4000" b="1" smtClean="0">
                <a:solidFill>
                  <a:srgbClr val="FF0000"/>
                </a:solidFill>
              </a:rPr>
              <a:t>อัตราส่วนการแทนที่ด้วยน้ำล้างเยื่อ</a:t>
            </a:r>
            <a:r>
              <a:rPr lang="en-US" altLang="en-US" sz="4000" b="1" smtClean="0">
                <a:solidFill>
                  <a:srgbClr val="FF0000"/>
                </a:solidFill>
              </a:rPr>
              <a:t>)</a:t>
            </a:r>
            <a:endParaRPr lang="th-TH" altLang="en-US" sz="4000" b="1" smtClean="0">
              <a:solidFill>
                <a:srgbClr val="FF0000"/>
              </a:solidFill>
            </a:endParaRPr>
          </a:p>
        </p:txBody>
      </p:sp>
      <p:sp>
        <p:nvSpPr>
          <p:cNvPr id="338947" name="Rectangle 3"/>
          <p:cNvSpPr>
            <a:spLocks noGrp="1" noChangeArrowheads="1"/>
          </p:cNvSpPr>
          <p:nvPr>
            <p:ph type="body" idx="1"/>
          </p:nvPr>
        </p:nvSpPr>
        <p:spPr/>
        <p:txBody>
          <a:bodyPr/>
          <a:lstStyle/>
          <a:p>
            <a:r>
              <a:rPr lang="en-US" altLang="en-US" smtClean="0">
                <a:latin typeface="Arial" panose="020B0604020202020204" pitchFamily="34" charset="0"/>
              </a:rPr>
              <a:t>Key measurement of ability to evenly displace high concentration liquor with low concentration liquor.</a:t>
            </a:r>
          </a:p>
          <a:p>
            <a:r>
              <a:rPr lang="en-US" altLang="en-US" smtClean="0">
                <a:latin typeface="Arial" panose="020B0604020202020204" pitchFamily="34" charset="0"/>
              </a:rPr>
              <a:t>Influenced by :</a:t>
            </a:r>
          </a:p>
          <a:p>
            <a:pPr lvl="1"/>
            <a:r>
              <a:rPr lang="en-US" altLang="en-US" smtClean="0">
                <a:latin typeface="Arial" panose="020B0604020202020204" pitchFamily="34" charset="0"/>
              </a:rPr>
              <a:t>Dilution factor, solids content, temperature, fiber length and air content</a:t>
            </a:r>
            <a:endParaRPr lang="th-TH" altLang="en-US" smtClean="0">
              <a:latin typeface="Arial" panose="020B0604020202020204" pitchFamily="34" charset="0"/>
            </a:endParaRPr>
          </a:p>
        </p:txBody>
      </p: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70" name="Rectangle 2"/>
          <p:cNvSpPr>
            <a:spLocks noChangeArrowheads="1"/>
          </p:cNvSpPr>
          <p:nvPr/>
        </p:nvSpPr>
        <p:spPr bwMode="auto">
          <a:xfrm>
            <a:off x="1370013" y="2874963"/>
            <a:ext cx="6480175" cy="865187"/>
          </a:xfrm>
          <a:prstGeom prst="rect">
            <a:avLst/>
          </a:prstGeom>
          <a:solidFill>
            <a:srgbClr val="FFFF00"/>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32131" name="Text Box 3"/>
          <p:cNvSpPr txBox="1">
            <a:spLocks noChangeArrowheads="1"/>
          </p:cNvSpPr>
          <p:nvPr/>
        </p:nvSpPr>
        <p:spPr bwMode="auto">
          <a:xfrm>
            <a:off x="609600" y="533400"/>
            <a:ext cx="8001000"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defRPr/>
            </a:pPr>
            <a:r>
              <a:rPr lang="en-US" altLang="en-US" sz="2800" b="1" u="sng" dirty="0">
                <a:solidFill>
                  <a:srgbClr val="FF0000"/>
                </a:solidFill>
                <a:effectLst>
                  <a:outerShdw blurRad="38100" dist="38100" dir="2700000" algn="tl">
                    <a:srgbClr val="C0C0C0"/>
                  </a:outerShdw>
                </a:effectLst>
                <a:cs typeface="Arial" panose="020B0604020202020204" pitchFamily="34" charset="0"/>
              </a:rPr>
              <a:t>DISPLACEMENT RATIO</a:t>
            </a:r>
            <a:r>
              <a:rPr lang="en-US" altLang="en-US" sz="3200" u="sng" dirty="0">
                <a:solidFill>
                  <a:srgbClr val="FF0000"/>
                </a:solidFill>
                <a:effectLst>
                  <a:outerShdw blurRad="38100" dist="38100" dir="2700000" algn="tl">
                    <a:srgbClr val="C0C0C0"/>
                  </a:outerShdw>
                </a:effectLst>
                <a:cs typeface="Arial" panose="020B0604020202020204" pitchFamily="34" charset="0"/>
              </a:rPr>
              <a:t> </a:t>
            </a:r>
            <a:r>
              <a:rPr lang="en-US" altLang="en-US" sz="2800" b="1" u="sng" dirty="0">
                <a:solidFill>
                  <a:srgbClr val="FF0000"/>
                </a:solidFill>
                <a:effectLst>
                  <a:outerShdw blurRad="38100" dist="38100" dir="2700000" algn="tl">
                    <a:srgbClr val="C0C0C0"/>
                  </a:outerShdw>
                </a:effectLst>
                <a:cs typeface="Arial" panose="020B0604020202020204" pitchFamily="34" charset="0"/>
              </a:rPr>
              <a:t>(DR)</a:t>
            </a:r>
            <a:r>
              <a:rPr lang="en-US" altLang="en-US" sz="3200" u="sng" dirty="0">
                <a:solidFill>
                  <a:srgbClr val="FF0000"/>
                </a:solidFill>
                <a:effectLst>
                  <a:outerShdw blurRad="38100" dist="38100" dir="2700000" algn="tl">
                    <a:srgbClr val="C0C0C0"/>
                  </a:outerShdw>
                </a:effectLst>
                <a:cs typeface="Arial" panose="020B0604020202020204" pitchFamily="34" charset="0"/>
              </a:rPr>
              <a:t> : </a:t>
            </a:r>
          </a:p>
          <a:p>
            <a:pPr>
              <a:defRPr/>
            </a:pPr>
            <a:endParaRPr lang="en-US" altLang="en-US" sz="3200" u="sng" dirty="0">
              <a:solidFill>
                <a:schemeClr val="bg1"/>
              </a:solidFill>
              <a:effectLst>
                <a:outerShdw blurRad="38100" dist="38100" dir="2700000" algn="tl">
                  <a:srgbClr val="C0C0C0"/>
                </a:outerShdw>
              </a:effectLst>
              <a:cs typeface="Arial" panose="020B0604020202020204" pitchFamily="34" charset="0"/>
            </a:endParaRPr>
          </a:p>
          <a:p>
            <a:pPr>
              <a:defRPr/>
            </a:pPr>
            <a:r>
              <a:rPr lang="en-US" altLang="en-US" sz="2800" dirty="0">
                <a:solidFill>
                  <a:srgbClr val="FF0000"/>
                </a:solidFill>
                <a:effectLst>
                  <a:outerShdw blurRad="38100" dist="38100" dir="2700000" algn="tl">
                    <a:srgbClr val="C0C0C0"/>
                  </a:outerShdw>
                </a:effectLst>
              </a:rPr>
              <a:t>Expresses the </a:t>
            </a:r>
            <a:r>
              <a:rPr lang="en-US" altLang="en-US" sz="2800" dirty="0">
                <a:solidFill>
                  <a:schemeClr val="hlink"/>
                </a:solidFill>
                <a:effectLst>
                  <a:outerShdw blurRad="38100" dist="38100" dir="2700000" algn="tl">
                    <a:srgbClr val="C0C0C0"/>
                  </a:outerShdw>
                </a:effectLst>
              </a:rPr>
              <a:t>effectiveness of  Displacement</a:t>
            </a:r>
            <a:r>
              <a:rPr lang="en-US" altLang="en-US" sz="2800" dirty="0">
                <a:solidFill>
                  <a:schemeClr val="bg2"/>
                </a:solidFill>
                <a:effectLst>
                  <a:outerShdw blurRad="38100" dist="38100" dir="2700000" algn="tl">
                    <a:srgbClr val="C0C0C0"/>
                  </a:outerShdw>
                </a:effectLst>
              </a:rPr>
              <a:t> </a:t>
            </a:r>
            <a:r>
              <a:rPr lang="en-US" altLang="en-US" sz="2800" dirty="0">
                <a:solidFill>
                  <a:srgbClr val="FF0000"/>
                </a:solidFill>
                <a:effectLst>
                  <a:outerShdw blurRad="38100" dist="38100" dir="2700000" algn="tl">
                    <a:srgbClr val="C0C0C0"/>
                  </a:outerShdw>
                </a:effectLst>
              </a:rPr>
              <a:t>washing effect in removing solids from the pulp</a:t>
            </a:r>
            <a:endParaRPr lang="th-TH" altLang="en-US" sz="2800" dirty="0">
              <a:solidFill>
                <a:srgbClr val="FF0000"/>
              </a:solidFill>
              <a:effectLst>
                <a:outerShdw blurRad="38100" dist="38100" dir="2700000" algn="tl">
                  <a:srgbClr val="C0C0C0"/>
                </a:outerShdw>
              </a:effectLst>
            </a:endParaRPr>
          </a:p>
        </p:txBody>
      </p:sp>
      <p:sp>
        <p:nvSpPr>
          <p:cNvPr id="432132" name="Text Box 4"/>
          <p:cNvSpPr txBox="1">
            <a:spLocks noChangeArrowheads="1"/>
          </p:cNvSpPr>
          <p:nvPr/>
        </p:nvSpPr>
        <p:spPr bwMode="auto">
          <a:xfrm>
            <a:off x="685800" y="4292600"/>
            <a:ext cx="66325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a:solidFill>
                  <a:schemeClr val="hlink"/>
                </a:solidFill>
                <a:effectLst>
                  <a:outerShdw blurRad="38100" dist="38100" dir="2700000" algn="tl">
                    <a:srgbClr val="C0C0C0"/>
                  </a:outerShdw>
                </a:effectLst>
              </a:rPr>
              <a:t>Cv = %Solids </a:t>
            </a:r>
            <a:r>
              <a:rPr lang="th-TH" altLang="en-US">
                <a:solidFill>
                  <a:schemeClr val="hlink"/>
                </a:solidFill>
                <a:effectLst>
                  <a:outerShdw blurRad="38100" dist="38100" dir="2700000" algn="tl">
                    <a:srgbClr val="C0C0C0"/>
                  </a:outerShdw>
                </a:effectLst>
              </a:rPr>
              <a:t>ของ </a:t>
            </a:r>
            <a:r>
              <a:rPr lang="en-US" altLang="en-US">
                <a:solidFill>
                  <a:schemeClr val="hlink"/>
                </a:solidFill>
                <a:effectLst>
                  <a:outerShdw blurRad="38100" dist="38100" dir="2700000" algn="tl">
                    <a:srgbClr val="C0C0C0"/>
                  </a:outerShdw>
                </a:effectLst>
              </a:rPr>
              <a:t>Black liquor </a:t>
            </a:r>
            <a:r>
              <a:rPr lang="th-TH" altLang="en-US">
                <a:solidFill>
                  <a:schemeClr val="hlink"/>
                </a:solidFill>
                <a:effectLst>
                  <a:outerShdw blurRad="38100" dist="38100" dir="2700000" algn="tl">
                    <a:srgbClr val="C0C0C0"/>
                  </a:outerShdw>
                </a:effectLst>
              </a:rPr>
              <a:t>ในเยื่อที่ป้อนเข้า </a:t>
            </a:r>
            <a:r>
              <a:rPr lang="en-US" altLang="en-US">
                <a:solidFill>
                  <a:schemeClr val="hlink"/>
                </a:solidFill>
                <a:effectLst>
                  <a:outerShdw blurRad="38100" dist="38100" dir="2700000" algn="tl">
                    <a:srgbClr val="C0C0C0"/>
                  </a:outerShdw>
                </a:effectLst>
              </a:rPr>
              <a:t>Washer</a:t>
            </a:r>
          </a:p>
          <a:p>
            <a:pPr>
              <a:defRPr/>
            </a:pPr>
            <a:r>
              <a:rPr lang="en-US" altLang="en-US">
                <a:solidFill>
                  <a:schemeClr val="hlink"/>
                </a:solidFill>
                <a:effectLst>
                  <a:outerShdw blurRad="38100" dist="38100" dir="2700000" algn="tl">
                    <a:srgbClr val="C0C0C0"/>
                  </a:outerShdw>
                </a:effectLst>
              </a:rPr>
              <a:t>Cs = %Solids </a:t>
            </a:r>
            <a:r>
              <a:rPr lang="th-TH" altLang="en-US">
                <a:solidFill>
                  <a:schemeClr val="hlink"/>
                </a:solidFill>
                <a:effectLst>
                  <a:outerShdw blurRad="38100" dist="38100" dir="2700000" algn="tl">
                    <a:srgbClr val="C0C0C0"/>
                  </a:outerShdw>
                </a:effectLst>
              </a:rPr>
              <a:t>ของ </a:t>
            </a:r>
            <a:r>
              <a:rPr lang="en-US" altLang="en-US">
                <a:solidFill>
                  <a:schemeClr val="hlink"/>
                </a:solidFill>
                <a:effectLst>
                  <a:outerShdw blurRad="38100" dist="38100" dir="2700000" algn="tl">
                    <a:srgbClr val="C0C0C0"/>
                  </a:outerShdw>
                </a:effectLst>
              </a:rPr>
              <a:t>Black liquor </a:t>
            </a:r>
            <a:r>
              <a:rPr lang="th-TH" altLang="en-US">
                <a:solidFill>
                  <a:schemeClr val="hlink"/>
                </a:solidFill>
                <a:effectLst>
                  <a:outerShdw blurRad="38100" dist="38100" dir="2700000" algn="tl">
                    <a:srgbClr val="C0C0C0"/>
                  </a:outerShdw>
                </a:effectLst>
              </a:rPr>
              <a:t>ในเยื่อที่ออกจาก </a:t>
            </a:r>
            <a:r>
              <a:rPr lang="en-US" altLang="en-US">
                <a:solidFill>
                  <a:schemeClr val="hlink"/>
                </a:solidFill>
                <a:effectLst>
                  <a:outerShdw blurRad="38100" dist="38100" dir="2700000" algn="tl">
                    <a:srgbClr val="C0C0C0"/>
                  </a:outerShdw>
                </a:effectLst>
              </a:rPr>
              <a:t>Washer</a:t>
            </a:r>
          </a:p>
          <a:p>
            <a:pPr>
              <a:defRPr/>
            </a:pPr>
            <a:r>
              <a:rPr lang="en-US" altLang="en-US">
                <a:solidFill>
                  <a:schemeClr val="hlink"/>
                </a:solidFill>
                <a:effectLst>
                  <a:outerShdw blurRad="38100" dist="38100" dir="2700000" algn="tl">
                    <a:srgbClr val="C0C0C0"/>
                  </a:outerShdw>
                </a:effectLst>
              </a:rPr>
              <a:t>Cw = %Solids in wash water</a:t>
            </a:r>
            <a:endParaRPr lang="th-TH" altLang="en-US">
              <a:solidFill>
                <a:schemeClr val="hlink"/>
              </a:solidFill>
              <a:effectLst>
                <a:outerShdw blurRad="38100" dist="38100" dir="2700000" algn="tl">
                  <a:srgbClr val="C0C0C0"/>
                </a:outerShdw>
              </a:effectLst>
            </a:endParaRPr>
          </a:p>
        </p:txBody>
      </p:sp>
      <p:grpSp>
        <p:nvGrpSpPr>
          <p:cNvPr id="339973" name="Group 5"/>
          <p:cNvGrpSpPr>
            <a:grpSpLocks/>
          </p:cNvGrpSpPr>
          <p:nvPr/>
        </p:nvGrpSpPr>
        <p:grpSpPr bwMode="auto">
          <a:xfrm>
            <a:off x="1763713" y="2924175"/>
            <a:ext cx="5203825" cy="765175"/>
            <a:chOff x="1392" y="1870"/>
            <a:chExt cx="3278" cy="482"/>
          </a:xfrm>
        </p:grpSpPr>
        <p:sp>
          <p:nvSpPr>
            <p:cNvPr id="339975" name="Text Box 6"/>
            <p:cNvSpPr txBox="1">
              <a:spLocks noChangeArrowheads="1"/>
            </p:cNvSpPr>
            <p:nvPr/>
          </p:nvSpPr>
          <p:spPr bwMode="auto">
            <a:xfrm>
              <a:off x="1584" y="1870"/>
              <a:ext cx="3086"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a:solidFill>
                    <a:srgbClr val="FF0000"/>
                  </a:solidFill>
                </a:rPr>
                <a:t>DR         =           Cv – Cs                Ideal DR = 1.0</a:t>
              </a:r>
            </a:p>
            <a:p>
              <a:pPr>
                <a:spcBef>
                  <a:spcPct val="0"/>
                </a:spcBef>
                <a:buFontTx/>
                <a:buNone/>
              </a:pPr>
              <a:r>
                <a:rPr lang="en-US" altLang="en-US" sz="2000" b="1">
                  <a:solidFill>
                    <a:srgbClr val="FF0000"/>
                  </a:solidFill>
                </a:rPr>
                <a:t>                           Cv – Cw                (Cs = Cw)</a:t>
              </a:r>
              <a:endParaRPr lang="th-TH" altLang="en-US" sz="2000" b="1">
                <a:solidFill>
                  <a:srgbClr val="FF0000"/>
                </a:solidFill>
              </a:endParaRPr>
            </a:p>
          </p:txBody>
        </p:sp>
        <p:sp>
          <p:nvSpPr>
            <p:cNvPr id="339976" name="Rectangle 7"/>
            <p:cNvSpPr>
              <a:spLocks noChangeArrowheads="1"/>
            </p:cNvSpPr>
            <p:nvPr/>
          </p:nvSpPr>
          <p:spPr bwMode="auto">
            <a:xfrm>
              <a:off x="1392" y="1872"/>
              <a:ext cx="2160"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sp>
        <p:nvSpPr>
          <p:cNvPr id="339974" name="Line 9"/>
          <p:cNvSpPr>
            <a:spLocks noChangeShapeType="1"/>
          </p:cNvSpPr>
          <p:nvPr/>
        </p:nvSpPr>
        <p:spPr bwMode="auto">
          <a:xfrm>
            <a:off x="3435350" y="3262313"/>
            <a:ext cx="12954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Tree>
  </p:cSld>
  <p:clrMapOvr>
    <a:masterClrMapping/>
  </p:clrMapOvr>
  <p:transition spd="slow"/>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4" name="Rectangle 2"/>
          <p:cNvSpPr>
            <a:spLocks noGrp="1" noChangeArrowheads="1"/>
          </p:cNvSpPr>
          <p:nvPr>
            <p:ph type="title"/>
          </p:nvPr>
        </p:nvSpPr>
        <p:spPr/>
        <p:txBody>
          <a:bodyPr/>
          <a:lstStyle/>
          <a:p>
            <a:pPr algn="l"/>
            <a:r>
              <a:rPr lang="en-US" altLang="en-US" b="1" smtClean="0">
                <a:solidFill>
                  <a:srgbClr val="FF0000"/>
                </a:solidFill>
              </a:rPr>
              <a:t>Thickening Factor</a:t>
            </a:r>
            <a:endParaRPr lang="th-TH" altLang="en-US" b="1" smtClean="0">
              <a:solidFill>
                <a:srgbClr val="FF0000"/>
              </a:solidFill>
            </a:endParaRPr>
          </a:p>
        </p:txBody>
      </p:sp>
      <p:sp>
        <p:nvSpPr>
          <p:cNvPr id="340995" name="Rectangle 3"/>
          <p:cNvSpPr>
            <a:spLocks noGrp="1" noChangeArrowheads="1"/>
          </p:cNvSpPr>
          <p:nvPr>
            <p:ph type="body" idx="1"/>
          </p:nvPr>
        </p:nvSpPr>
        <p:spPr>
          <a:xfrm>
            <a:off x="685800" y="1981200"/>
            <a:ext cx="7772400" cy="2743200"/>
          </a:xfrm>
        </p:spPr>
        <p:txBody>
          <a:bodyPr/>
          <a:lstStyle/>
          <a:p>
            <a:r>
              <a:rPr lang="en-US" altLang="en-US" smtClean="0">
                <a:latin typeface="Arial" panose="020B0604020202020204" pitchFamily="34" charset="0"/>
              </a:rPr>
              <a:t>Used to express the drainage character of a washing system.</a:t>
            </a:r>
          </a:p>
          <a:p>
            <a:r>
              <a:rPr lang="en-US" altLang="en-US" smtClean="0">
                <a:latin typeface="Arial" panose="020B0604020202020204" pitchFamily="34" charset="0"/>
              </a:rPr>
              <a:t>Ratio of actual liquor drainage to the maximum possible liquor drainage through fiber mat.</a:t>
            </a:r>
            <a:endParaRPr lang="th-TH" altLang="en-US" smtClean="0">
              <a:latin typeface="Arial" panose="020B0604020202020204" pitchFamily="34" charset="0"/>
            </a:endParaRPr>
          </a:p>
        </p:txBody>
      </p: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8" name="Rectangle 2"/>
          <p:cNvSpPr>
            <a:spLocks noChangeArrowheads="1"/>
          </p:cNvSpPr>
          <p:nvPr/>
        </p:nvSpPr>
        <p:spPr bwMode="auto">
          <a:xfrm>
            <a:off x="1590675" y="4733925"/>
            <a:ext cx="6480175" cy="8651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42019" name="Rectangle 3"/>
          <p:cNvSpPr>
            <a:spLocks noChangeArrowheads="1"/>
          </p:cNvSpPr>
          <p:nvPr/>
        </p:nvSpPr>
        <p:spPr bwMode="auto">
          <a:xfrm>
            <a:off x="1692275" y="2708275"/>
            <a:ext cx="6480175" cy="8651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solidFill>
                <a:srgbClr val="FF0000"/>
              </a:solidFill>
            </a:endParaRPr>
          </a:p>
        </p:txBody>
      </p:sp>
      <p:sp>
        <p:nvSpPr>
          <p:cNvPr id="434180" name="Text Box 4"/>
          <p:cNvSpPr txBox="1">
            <a:spLocks noChangeArrowheads="1"/>
          </p:cNvSpPr>
          <p:nvPr/>
        </p:nvSpPr>
        <p:spPr bwMode="auto">
          <a:xfrm>
            <a:off x="762000" y="609600"/>
            <a:ext cx="7772400"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defRPr/>
            </a:pPr>
            <a:r>
              <a:rPr lang="en-US" altLang="en-US" sz="2800" b="1" u="sng" dirty="0">
                <a:solidFill>
                  <a:srgbClr val="FF0000"/>
                </a:solidFill>
                <a:effectLst>
                  <a:outerShdw blurRad="38100" dist="38100" dir="2700000" algn="tl">
                    <a:srgbClr val="C0C0C0"/>
                  </a:outerShdw>
                </a:effectLst>
                <a:cs typeface="Arial" panose="020B0604020202020204" pitchFamily="34" charset="0"/>
              </a:rPr>
              <a:t>THICKENING  FACTOR (TF)</a:t>
            </a:r>
            <a:r>
              <a:rPr lang="en-US" altLang="en-US" sz="3200" u="sng" dirty="0">
                <a:solidFill>
                  <a:srgbClr val="FF0000"/>
                </a:solidFill>
                <a:effectLst>
                  <a:outerShdw blurRad="38100" dist="38100" dir="2700000" algn="tl">
                    <a:srgbClr val="C0C0C0"/>
                  </a:outerShdw>
                </a:effectLst>
                <a:cs typeface="Arial" panose="020B0604020202020204" pitchFamily="34" charset="0"/>
              </a:rPr>
              <a:t> :</a:t>
            </a:r>
            <a:r>
              <a:rPr lang="en-US" altLang="en-US" sz="3200" dirty="0">
                <a:solidFill>
                  <a:srgbClr val="FF0000"/>
                </a:solidFill>
                <a:effectLst>
                  <a:outerShdw blurRad="38100" dist="38100" dir="2700000" algn="tl">
                    <a:srgbClr val="C0C0C0"/>
                  </a:outerShdw>
                </a:effectLst>
                <a:cs typeface="Arial" panose="020B0604020202020204" pitchFamily="34" charset="0"/>
              </a:rPr>
              <a:t> </a:t>
            </a:r>
          </a:p>
          <a:p>
            <a:pPr>
              <a:defRPr/>
            </a:pPr>
            <a:endParaRPr lang="en-US" altLang="en-US" sz="3200" dirty="0">
              <a:solidFill>
                <a:schemeClr val="bg1"/>
              </a:solidFill>
              <a:effectLst>
                <a:outerShdw blurRad="38100" dist="38100" dir="2700000" algn="tl">
                  <a:srgbClr val="C0C0C0"/>
                </a:outerShdw>
              </a:effectLst>
              <a:cs typeface="Arial" panose="020B0604020202020204" pitchFamily="34" charset="0"/>
            </a:endParaRPr>
          </a:p>
          <a:p>
            <a:pPr>
              <a:defRPr/>
            </a:pPr>
            <a:r>
              <a:rPr lang="en-US" altLang="en-US" sz="2800" dirty="0">
                <a:solidFill>
                  <a:srgbClr val="FF0000"/>
                </a:solidFill>
                <a:effectLst>
                  <a:outerShdw blurRad="38100" dist="38100" dir="2700000" algn="tl">
                    <a:srgbClr val="C0C0C0"/>
                  </a:outerShdw>
                </a:effectLst>
              </a:rPr>
              <a:t>Expresses the </a:t>
            </a:r>
            <a:r>
              <a:rPr lang="en-US" altLang="en-US" sz="2800" dirty="0">
                <a:solidFill>
                  <a:schemeClr val="hlink"/>
                </a:solidFill>
                <a:effectLst>
                  <a:outerShdw blurRad="38100" dist="38100" dir="2700000" algn="tl">
                    <a:srgbClr val="C0C0C0"/>
                  </a:outerShdw>
                </a:effectLst>
              </a:rPr>
              <a:t>effectiveness thickening</a:t>
            </a:r>
            <a:r>
              <a:rPr lang="en-US" altLang="en-US" sz="2800" dirty="0">
                <a:solidFill>
                  <a:schemeClr val="bg1"/>
                </a:solidFill>
                <a:effectLst>
                  <a:outerShdw blurRad="38100" dist="38100" dir="2700000" algn="tl">
                    <a:srgbClr val="C0C0C0"/>
                  </a:outerShdw>
                </a:effectLst>
              </a:rPr>
              <a:t> </a:t>
            </a:r>
            <a:r>
              <a:rPr lang="en-US" altLang="en-US" sz="2800" dirty="0">
                <a:solidFill>
                  <a:srgbClr val="FF0000"/>
                </a:solidFill>
                <a:effectLst>
                  <a:outerShdw blurRad="38100" dist="38100" dir="2700000" algn="tl">
                    <a:srgbClr val="C0C0C0"/>
                  </a:outerShdw>
                </a:effectLst>
              </a:rPr>
              <a:t>effect on removal of dissolved solids</a:t>
            </a:r>
            <a:endParaRPr lang="th-TH" altLang="en-US" sz="2800" dirty="0">
              <a:solidFill>
                <a:srgbClr val="FF0000"/>
              </a:solidFill>
              <a:effectLst>
                <a:outerShdw blurRad="38100" dist="38100" dir="2700000" algn="tl">
                  <a:srgbClr val="C0C0C0"/>
                </a:outerShdw>
              </a:effectLst>
            </a:endParaRPr>
          </a:p>
        </p:txBody>
      </p:sp>
      <p:sp>
        <p:nvSpPr>
          <p:cNvPr id="342021" name="Text Box 5"/>
          <p:cNvSpPr txBox="1">
            <a:spLocks noChangeArrowheads="1"/>
          </p:cNvSpPr>
          <p:nvPr/>
        </p:nvSpPr>
        <p:spPr bwMode="auto">
          <a:xfrm>
            <a:off x="838200" y="3884613"/>
            <a:ext cx="4776788" cy="646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solidFill>
                  <a:srgbClr val="FF0000"/>
                </a:solidFill>
              </a:rPr>
              <a:t>W(in)   = kg of liquor per kg pulp (stock entering) </a:t>
            </a:r>
          </a:p>
          <a:p>
            <a:pPr>
              <a:spcBef>
                <a:spcPct val="0"/>
              </a:spcBef>
              <a:buFontTx/>
              <a:buNone/>
            </a:pPr>
            <a:r>
              <a:rPr lang="en-US" altLang="en-US" sz="1800">
                <a:solidFill>
                  <a:srgbClr val="FF0000"/>
                </a:solidFill>
              </a:rPr>
              <a:t>W(out) = kg of liquor per kg pulp (stock leaving) </a:t>
            </a:r>
          </a:p>
        </p:txBody>
      </p:sp>
      <p:sp>
        <p:nvSpPr>
          <p:cNvPr id="342022" name="Text Box 6"/>
          <p:cNvSpPr txBox="1">
            <a:spLocks noChangeArrowheads="1"/>
          </p:cNvSpPr>
          <p:nvPr/>
        </p:nvSpPr>
        <p:spPr bwMode="auto">
          <a:xfrm>
            <a:off x="3005138" y="2781300"/>
            <a:ext cx="2843212"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a:solidFill>
                  <a:srgbClr val="FF0000"/>
                </a:solidFill>
              </a:rPr>
              <a:t>TF         =   W(in) – W(out)</a:t>
            </a:r>
          </a:p>
          <a:p>
            <a:pPr>
              <a:spcBef>
                <a:spcPct val="0"/>
              </a:spcBef>
              <a:buFontTx/>
              <a:buNone/>
            </a:pPr>
            <a:r>
              <a:rPr lang="en-US" altLang="en-US" sz="2000" b="1">
                <a:solidFill>
                  <a:srgbClr val="FF0000"/>
                </a:solidFill>
              </a:rPr>
              <a:t>                           W(in)</a:t>
            </a:r>
            <a:endParaRPr lang="th-TH" altLang="en-US" sz="2000" b="1">
              <a:solidFill>
                <a:srgbClr val="FF0000"/>
              </a:solidFill>
            </a:endParaRPr>
          </a:p>
        </p:txBody>
      </p:sp>
      <p:sp>
        <p:nvSpPr>
          <p:cNvPr id="342023" name="Line 7"/>
          <p:cNvSpPr>
            <a:spLocks noChangeShapeType="1"/>
          </p:cNvSpPr>
          <p:nvPr/>
        </p:nvSpPr>
        <p:spPr bwMode="auto">
          <a:xfrm>
            <a:off x="4130675" y="3106738"/>
            <a:ext cx="16002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2024" name="Text Box 8"/>
          <p:cNvSpPr txBox="1">
            <a:spLocks noChangeArrowheads="1"/>
          </p:cNvSpPr>
          <p:nvPr/>
        </p:nvSpPr>
        <p:spPr bwMode="auto">
          <a:xfrm>
            <a:off x="3171825" y="4764088"/>
            <a:ext cx="2616200"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a:solidFill>
                  <a:srgbClr val="FF0000"/>
                </a:solidFill>
              </a:rPr>
              <a:t>W         =       100 – Cons</a:t>
            </a:r>
          </a:p>
          <a:p>
            <a:pPr>
              <a:spcBef>
                <a:spcPct val="0"/>
              </a:spcBef>
              <a:buFontTx/>
              <a:buNone/>
            </a:pPr>
            <a:r>
              <a:rPr lang="en-US" altLang="en-US" sz="2000" b="1">
                <a:solidFill>
                  <a:srgbClr val="FF0000"/>
                </a:solidFill>
              </a:rPr>
              <a:t>                           Cons</a:t>
            </a:r>
            <a:endParaRPr lang="th-TH" altLang="en-US" sz="2000" b="1">
              <a:solidFill>
                <a:srgbClr val="FF0000"/>
              </a:solidFill>
            </a:endParaRPr>
          </a:p>
        </p:txBody>
      </p:sp>
      <p:sp>
        <p:nvSpPr>
          <p:cNvPr id="342025" name="Line 9"/>
          <p:cNvSpPr>
            <a:spLocks noChangeShapeType="1"/>
          </p:cNvSpPr>
          <p:nvPr/>
        </p:nvSpPr>
        <p:spPr bwMode="auto">
          <a:xfrm>
            <a:off x="4368800" y="5091113"/>
            <a:ext cx="16002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Tree>
  </p:cSld>
  <p:clrMapOvr>
    <a:masterClrMapping/>
  </p:clrMapOvr>
  <p:transition spd="slow"/>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2" name="Rectangle 2"/>
          <p:cNvSpPr>
            <a:spLocks noChangeArrowheads="1"/>
          </p:cNvSpPr>
          <p:nvPr/>
        </p:nvSpPr>
        <p:spPr bwMode="auto">
          <a:xfrm>
            <a:off x="1331913" y="4365625"/>
            <a:ext cx="6480175" cy="86518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35203" name="Text Box 3"/>
          <p:cNvSpPr txBox="1">
            <a:spLocks noChangeArrowheads="1"/>
          </p:cNvSpPr>
          <p:nvPr/>
        </p:nvSpPr>
        <p:spPr bwMode="auto">
          <a:xfrm>
            <a:off x="609600" y="533400"/>
            <a:ext cx="8001000" cy="3201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defRPr/>
            </a:pPr>
            <a:r>
              <a:rPr lang="en-US" altLang="en-US" sz="2800" b="1" u="sng" dirty="0">
                <a:solidFill>
                  <a:srgbClr val="FF0000"/>
                </a:solidFill>
                <a:effectLst>
                  <a:outerShdw blurRad="38100" dist="38100" dir="2700000" algn="tl">
                    <a:srgbClr val="C0C0C0"/>
                  </a:outerShdw>
                </a:effectLst>
                <a:cs typeface="Arial" panose="020B0604020202020204" pitchFamily="34" charset="0"/>
              </a:rPr>
              <a:t>THE OVERALL WASING EFFICIENCY</a:t>
            </a:r>
            <a:r>
              <a:rPr lang="en-US" altLang="en-US" sz="3200" u="sng" dirty="0">
                <a:solidFill>
                  <a:srgbClr val="FF0000"/>
                </a:solidFill>
                <a:effectLst>
                  <a:outerShdw blurRad="38100" dist="38100" dir="2700000" algn="tl">
                    <a:srgbClr val="C0C0C0"/>
                  </a:outerShdw>
                </a:effectLst>
                <a:cs typeface="Arial" panose="020B0604020202020204" pitchFamily="34" charset="0"/>
              </a:rPr>
              <a:t> : </a:t>
            </a:r>
          </a:p>
          <a:p>
            <a:pPr>
              <a:defRPr/>
            </a:pPr>
            <a:endParaRPr lang="en-US" altLang="en-US" sz="3200" u="sng" dirty="0">
              <a:solidFill>
                <a:schemeClr val="bg1"/>
              </a:solidFill>
              <a:effectLst>
                <a:outerShdw blurRad="38100" dist="38100" dir="2700000" algn="tl">
                  <a:srgbClr val="C0C0C0"/>
                </a:outerShdw>
              </a:effectLst>
              <a:cs typeface="Arial" panose="020B0604020202020204" pitchFamily="34" charset="0"/>
            </a:endParaRPr>
          </a:p>
          <a:p>
            <a:pPr>
              <a:defRPr/>
            </a:pPr>
            <a:r>
              <a:rPr lang="en-US" altLang="en-US" sz="2800" dirty="0">
                <a:effectLst>
                  <a:outerShdw blurRad="38100" dist="38100" dir="2700000" algn="tl">
                    <a:srgbClr val="C0C0C0"/>
                  </a:outerShdw>
                </a:effectLst>
              </a:rPr>
              <a:t>Expresses the overall efficiency in removing dissolved solids from the pulp</a:t>
            </a:r>
          </a:p>
          <a:p>
            <a:pPr>
              <a:defRPr/>
            </a:pPr>
            <a:endParaRPr lang="en-US" altLang="en-US" sz="2800" dirty="0">
              <a:effectLst>
                <a:outerShdw blurRad="38100" dist="38100" dir="2700000" algn="tl">
                  <a:srgbClr val="C0C0C0"/>
                </a:outerShdw>
              </a:effectLst>
            </a:endParaRPr>
          </a:p>
          <a:p>
            <a:pPr>
              <a:defRPr/>
            </a:pPr>
            <a:r>
              <a:rPr lang="en-US" altLang="en-US" sz="2800" dirty="0">
                <a:effectLst>
                  <a:outerShdw blurRad="38100" dist="38100" dir="2700000" algn="tl">
                    <a:srgbClr val="C0C0C0"/>
                  </a:outerShdw>
                </a:effectLst>
              </a:rPr>
              <a:t>Combination of displacement efficiency and thickening efficiency</a:t>
            </a:r>
            <a:endParaRPr lang="th-TH" altLang="en-US" sz="2800" dirty="0">
              <a:effectLst>
                <a:outerShdw blurRad="38100" dist="38100" dir="2700000" algn="tl">
                  <a:srgbClr val="C0C0C0"/>
                </a:outerShdw>
              </a:effectLst>
            </a:endParaRPr>
          </a:p>
        </p:txBody>
      </p:sp>
      <p:sp>
        <p:nvSpPr>
          <p:cNvPr id="343044" name="Text Box 4"/>
          <p:cNvSpPr txBox="1">
            <a:spLocks noChangeArrowheads="1"/>
          </p:cNvSpPr>
          <p:nvPr/>
        </p:nvSpPr>
        <p:spPr bwMode="auto">
          <a:xfrm>
            <a:off x="1641475" y="4537075"/>
            <a:ext cx="5861050" cy="522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b="1">
                <a:solidFill>
                  <a:srgbClr val="FF0000"/>
                </a:solidFill>
              </a:rPr>
              <a:t>% Efficiency   =   [TF + (1-TF)</a:t>
            </a:r>
            <a:r>
              <a:rPr lang="en-US" altLang="en-US" sz="2800" b="1">
                <a:solidFill>
                  <a:srgbClr val="FF0000"/>
                </a:solidFill>
                <a:cs typeface="Arial" panose="020B0604020202020204" pitchFamily="34" charset="0"/>
              </a:rPr>
              <a:t>x</a:t>
            </a:r>
            <a:r>
              <a:rPr lang="en-US" altLang="en-US" sz="2800" b="1">
                <a:solidFill>
                  <a:srgbClr val="FF0000"/>
                </a:solidFill>
              </a:rPr>
              <a:t>DR] </a:t>
            </a:r>
            <a:r>
              <a:rPr lang="en-US" altLang="en-US" sz="2800" b="1">
                <a:solidFill>
                  <a:srgbClr val="FF0000"/>
                </a:solidFill>
                <a:cs typeface="Arial" panose="020B0604020202020204" pitchFamily="34" charset="0"/>
              </a:rPr>
              <a:t>x</a:t>
            </a:r>
            <a:r>
              <a:rPr lang="en-US" altLang="en-US" sz="2800" b="1">
                <a:solidFill>
                  <a:srgbClr val="FF0000"/>
                </a:solidFill>
              </a:rPr>
              <a:t> 100</a:t>
            </a:r>
            <a:endParaRPr lang="th-TH" altLang="en-US" sz="2800" b="1">
              <a:solidFill>
                <a:srgbClr val="FF0000"/>
              </a:solidFill>
            </a:endParaRPr>
          </a:p>
        </p:txBody>
      </p:sp>
    </p:spTree>
  </p:cSld>
  <p:clrMapOvr>
    <a:masterClrMapping/>
  </p:clrMapOvr>
  <p:transition spd="slow"/>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26" name="Text Box 2"/>
          <p:cNvSpPr txBox="1">
            <a:spLocks noChangeArrowheads="1"/>
          </p:cNvSpPr>
          <p:nvPr/>
        </p:nvSpPr>
        <p:spPr bwMode="auto">
          <a:xfrm>
            <a:off x="762000" y="762000"/>
            <a:ext cx="7670800" cy="4789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defRPr/>
            </a:pPr>
            <a:r>
              <a:rPr lang="en-US" altLang="en-US" sz="3200" b="1" dirty="0">
                <a:solidFill>
                  <a:srgbClr val="FF0000"/>
                </a:solidFill>
                <a:effectLst>
                  <a:outerShdw blurRad="38100" dist="38100" dir="2700000" algn="tl">
                    <a:srgbClr val="C0C0C0"/>
                  </a:outerShdw>
                </a:effectLst>
                <a:cs typeface="Arial" panose="020B0604020202020204" pitchFamily="34" charset="0"/>
              </a:rPr>
              <a:t>WASHING LOSSES</a:t>
            </a:r>
          </a:p>
          <a:p>
            <a:pPr>
              <a:defRPr/>
            </a:pPr>
            <a:r>
              <a:rPr lang="en-US" altLang="en-US" sz="2300" dirty="0">
                <a:effectLst>
                  <a:outerShdw blurRad="38100" dist="38100" dir="2700000" algn="tl">
                    <a:srgbClr val="C0C0C0"/>
                  </a:outerShdw>
                </a:effectLst>
              </a:rPr>
              <a:t>Efficiency of the washing systems</a:t>
            </a:r>
            <a:endParaRPr lang="en-US" altLang="en-US" sz="1600" b="1" dirty="0">
              <a:effectLst>
                <a:outerShdw blurRad="38100" dist="38100" dir="2700000" algn="tl">
                  <a:srgbClr val="C0C0C0"/>
                </a:outerShdw>
              </a:effectLst>
            </a:endParaRPr>
          </a:p>
          <a:p>
            <a:pPr>
              <a:defRPr/>
            </a:pPr>
            <a:endParaRPr lang="en-US" altLang="en-US" sz="2300" b="1" dirty="0">
              <a:solidFill>
                <a:schemeClr val="bg2"/>
              </a:solidFill>
              <a:effectLst>
                <a:outerShdw blurRad="38100" dist="38100" dir="2700000" algn="tl">
                  <a:srgbClr val="C0C0C0"/>
                </a:outerShdw>
              </a:effectLst>
            </a:endParaRPr>
          </a:p>
          <a:p>
            <a:pPr>
              <a:defRPr/>
            </a:pPr>
            <a:r>
              <a:rPr lang="en-US" altLang="en-US" sz="2300" b="1" dirty="0">
                <a:solidFill>
                  <a:schemeClr val="hlink"/>
                </a:solidFill>
                <a:effectLst>
                  <a:outerShdw blurRad="38100" dist="38100" dir="2700000" algn="tl">
                    <a:srgbClr val="C0C0C0"/>
                  </a:outerShdw>
                </a:effectLst>
              </a:rPr>
              <a:t>SODA LOSS</a:t>
            </a:r>
            <a:endParaRPr lang="en-US" altLang="en-US" sz="2300" dirty="0">
              <a:solidFill>
                <a:schemeClr val="hlink"/>
              </a:solidFill>
              <a:effectLst>
                <a:outerShdw blurRad="38100" dist="38100" dir="2700000" algn="tl">
                  <a:srgbClr val="C0C0C0"/>
                </a:outerShdw>
              </a:effectLst>
            </a:endParaRPr>
          </a:p>
          <a:p>
            <a:pPr>
              <a:buFontTx/>
              <a:buChar char="-"/>
              <a:defRPr/>
            </a:pPr>
            <a:r>
              <a:rPr lang="en-US" altLang="en-US" sz="2300" dirty="0">
                <a:effectLst>
                  <a:outerShdw blurRad="38100" dist="38100" dir="2700000" algn="tl">
                    <a:srgbClr val="C0C0C0"/>
                  </a:outerShdw>
                </a:effectLst>
              </a:rPr>
              <a:t>  Expresses the sodium content remaining in the pulp</a:t>
            </a:r>
          </a:p>
          <a:p>
            <a:pPr>
              <a:defRPr/>
            </a:pPr>
            <a:r>
              <a:rPr lang="en-US" altLang="en-US" sz="2300" dirty="0">
                <a:effectLst>
                  <a:outerShdw blurRad="38100" dist="38100" dir="2700000" algn="tl">
                    <a:srgbClr val="C0C0C0"/>
                  </a:outerShdw>
                </a:effectLst>
              </a:rPr>
              <a:t>   leaving the washing systems</a:t>
            </a:r>
          </a:p>
          <a:p>
            <a:pPr>
              <a:defRPr/>
            </a:pPr>
            <a:r>
              <a:rPr lang="en-US" altLang="en-US" sz="2300" dirty="0">
                <a:effectLst>
                  <a:outerShdw blurRad="38100" dist="38100" dir="2700000" algn="tl">
                    <a:srgbClr val="C0C0C0"/>
                  </a:outerShdw>
                </a:effectLst>
              </a:rPr>
              <a:t>-  Soda makeup in the cycle</a:t>
            </a:r>
          </a:p>
          <a:p>
            <a:pPr>
              <a:defRPr/>
            </a:pPr>
            <a:endParaRPr lang="en-US" altLang="en-US" sz="2300" dirty="0">
              <a:solidFill>
                <a:schemeClr val="bg2"/>
              </a:solidFill>
              <a:effectLst>
                <a:outerShdw blurRad="38100" dist="38100" dir="2700000" algn="tl">
                  <a:srgbClr val="C0C0C0"/>
                </a:outerShdw>
              </a:effectLst>
            </a:endParaRPr>
          </a:p>
          <a:p>
            <a:pPr>
              <a:defRPr/>
            </a:pPr>
            <a:r>
              <a:rPr lang="en-US" altLang="en-US" sz="2300" b="1" dirty="0">
                <a:solidFill>
                  <a:schemeClr val="hlink"/>
                </a:solidFill>
                <a:effectLst>
                  <a:outerShdw blurRad="38100" dist="38100" dir="2700000" algn="tl">
                    <a:srgbClr val="C0C0C0"/>
                  </a:outerShdw>
                </a:effectLst>
              </a:rPr>
              <a:t>COD LOSS</a:t>
            </a:r>
          </a:p>
          <a:p>
            <a:pPr>
              <a:buFontTx/>
              <a:buChar char="-"/>
              <a:defRPr/>
            </a:pPr>
            <a:r>
              <a:rPr lang="en-US" altLang="en-US" sz="2300" dirty="0">
                <a:effectLst>
                  <a:outerShdw blurRad="38100" dist="38100" dir="2700000" algn="tl">
                    <a:srgbClr val="C0C0C0"/>
                  </a:outerShdw>
                </a:effectLst>
              </a:rPr>
              <a:t>   Expresses the water-soluble organic matter </a:t>
            </a:r>
          </a:p>
          <a:p>
            <a:pPr>
              <a:defRPr/>
            </a:pPr>
            <a:r>
              <a:rPr lang="en-US" altLang="en-US" sz="2300" dirty="0">
                <a:effectLst>
                  <a:outerShdw blurRad="38100" dist="38100" dir="2700000" algn="tl">
                    <a:srgbClr val="C0C0C0"/>
                  </a:outerShdw>
                </a:effectLst>
              </a:rPr>
              <a:t>    remaining in the pulp leaving the washing systems</a:t>
            </a:r>
          </a:p>
          <a:p>
            <a:pPr>
              <a:defRPr/>
            </a:pPr>
            <a:r>
              <a:rPr lang="en-US" altLang="en-US" sz="2300" dirty="0">
                <a:effectLst>
                  <a:outerShdw blurRad="38100" dist="38100" dir="2700000" algn="tl">
                    <a:srgbClr val="C0C0C0"/>
                  </a:outerShdw>
                </a:effectLst>
              </a:rPr>
              <a:t>-   consume more bleaching chemicals</a:t>
            </a:r>
          </a:p>
          <a:p>
            <a:pPr>
              <a:defRPr/>
            </a:pPr>
            <a:endParaRPr lang="th-TH" altLang="en-US" sz="2300" dirty="0">
              <a:solidFill>
                <a:schemeClr val="bg2"/>
              </a:solidFill>
              <a:effectLst>
                <a:outerShdw blurRad="38100" dist="38100" dir="2700000" algn="tl">
                  <a:srgbClr val="C0C0C0"/>
                </a:outerShdw>
              </a:effectLst>
            </a:endParaRPr>
          </a:p>
        </p:txBody>
      </p:sp>
    </p:spTree>
  </p:cSld>
  <p:clrMapOvr>
    <a:masterClrMapping/>
  </p:clrMapOvr>
  <p:transition spd="slow"/>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7250" name="Text Box 2"/>
          <p:cNvSpPr txBox="1">
            <a:spLocks noChangeArrowheads="1"/>
          </p:cNvSpPr>
          <p:nvPr/>
        </p:nvSpPr>
        <p:spPr bwMode="auto">
          <a:xfrm>
            <a:off x="690563" y="112713"/>
            <a:ext cx="8210550" cy="6480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defRPr/>
            </a:pPr>
            <a:r>
              <a:rPr lang="th-TH" altLang="en-US" sz="4000" b="1" dirty="0">
                <a:solidFill>
                  <a:srgbClr val="FF0000"/>
                </a:solidFill>
                <a:effectLst>
                  <a:outerShdw blurRad="38100" dist="38100" dir="2700000" algn="tl">
                    <a:srgbClr val="C0C0C0"/>
                  </a:outerShdw>
                </a:effectLst>
                <a:latin typeface="Angsana New" panose="02020603050405020304" pitchFamily="18" charset="-34"/>
              </a:rPr>
              <a:t>การวัดประสิทธิภาพการล้างเยื่อด้วย </a:t>
            </a:r>
            <a:r>
              <a:rPr lang="en-US" altLang="en-US" sz="4000" b="1" dirty="0">
                <a:solidFill>
                  <a:srgbClr val="FF0000"/>
                </a:solidFill>
                <a:effectLst>
                  <a:outerShdw blurRad="38100" dist="38100" dir="2700000" algn="tl">
                    <a:srgbClr val="C0C0C0"/>
                  </a:outerShdw>
                </a:effectLst>
                <a:latin typeface="Angsana New" panose="02020603050405020304" pitchFamily="18" charset="-34"/>
              </a:rPr>
              <a:t>Soda Loss</a:t>
            </a:r>
            <a:endParaRPr lang="th-TH" altLang="en-US" sz="4000" b="1" dirty="0">
              <a:solidFill>
                <a:srgbClr val="FF0000"/>
              </a:solidFill>
              <a:effectLst>
                <a:outerShdw blurRad="38100" dist="38100" dir="2700000" algn="tl">
                  <a:srgbClr val="C0C0C0"/>
                </a:outerShdw>
              </a:effectLst>
              <a:latin typeface="Angsana New" panose="02020603050405020304" pitchFamily="18" charset="-34"/>
            </a:endParaRPr>
          </a:p>
          <a:p>
            <a:pPr>
              <a:defRPr/>
            </a:pPr>
            <a:r>
              <a:rPr lang="th-TH" altLang="en-US" sz="4000" b="1" dirty="0">
                <a:solidFill>
                  <a:schemeClr val="bg1"/>
                </a:solidFill>
                <a:effectLst>
                  <a:outerShdw blurRad="38100" dist="38100" dir="2700000" algn="tl">
                    <a:srgbClr val="C0C0C0"/>
                  </a:outerShdw>
                </a:effectLst>
                <a:latin typeface="Angsana New" panose="02020603050405020304" pitchFamily="18" charset="-34"/>
              </a:rPr>
              <a:t>      </a:t>
            </a:r>
            <a:r>
              <a:rPr lang="en-US" altLang="en-US" sz="3500" b="1" dirty="0">
                <a:solidFill>
                  <a:schemeClr val="hlink"/>
                </a:solidFill>
                <a:effectLst>
                  <a:outerShdw blurRad="38100" dist="38100" dir="2700000" algn="tl">
                    <a:srgbClr val="C0C0C0"/>
                  </a:outerShdw>
                </a:effectLst>
                <a:latin typeface="Angsana New" panose="02020603050405020304" pitchFamily="18" charset="-34"/>
              </a:rPr>
              <a:t>Soda Loss</a:t>
            </a:r>
          </a:p>
          <a:p>
            <a:pPr>
              <a:defRPr/>
            </a:pPr>
            <a:r>
              <a:rPr lang="en-US" altLang="en-US" dirty="0">
                <a:effectLst>
                  <a:outerShdw blurRad="38100" dist="38100" dir="2700000" algn="tl">
                    <a:srgbClr val="C0C0C0"/>
                  </a:outerShdw>
                </a:effectLst>
                <a:latin typeface="Angsana New" panose="02020603050405020304" pitchFamily="18" charset="-34"/>
              </a:rPr>
              <a:t>     </a:t>
            </a:r>
            <a:r>
              <a:rPr lang="th-TH" altLang="en-US" dirty="0">
                <a:effectLst>
                  <a:outerShdw blurRad="38100" dist="38100" dir="2700000" algn="tl">
                    <a:srgbClr val="C0C0C0"/>
                  </a:outerShdw>
                </a:effectLst>
                <a:latin typeface="Angsana New" panose="02020603050405020304" pitchFamily="18" charset="-34"/>
              </a:rPr>
              <a:t> </a:t>
            </a:r>
            <a:r>
              <a:rPr lang="en-US" altLang="en-US" sz="2800" b="1" dirty="0">
                <a:effectLst>
                  <a:outerShdw blurRad="38100" dist="38100" dir="2700000" algn="tl">
                    <a:srgbClr val="C0C0C0"/>
                  </a:outerShdw>
                </a:effectLst>
                <a:latin typeface="Angsana New" panose="02020603050405020304" pitchFamily="18" charset="-34"/>
              </a:rPr>
              <a:t>-  </a:t>
            </a:r>
            <a:r>
              <a:rPr lang="th-TH" altLang="en-US" sz="2800" b="1" dirty="0">
                <a:effectLst>
                  <a:outerShdw blurRad="38100" dist="38100" dir="2700000" algn="tl">
                    <a:srgbClr val="C0C0C0"/>
                  </a:outerShdw>
                </a:effectLst>
                <a:latin typeface="Angsana New" panose="02020603050405020304" pitchFamily="18" charset="-34"/>
              </a:rPr>
              <a:t>เป็นการวัดประสิทธิภาพของระบบการล้างเยื่อ</a:t>
            </a:r>
          </a:p>
          <a:p>
            <a:pPr>
              <a:defRPr/>
            </a:pPr>
            <a:r>
              <a:rPr lang="th-TH" altLang="en-US" sz="2800" b="1" dirty="0">
                <a:effectLst>
                  <a:outerShdw blurRad="38100" dist="38100" dir="2700000" algn="tl">
                    <a:srgbClr val="C0C0C0"/>
                  </a:outerShdw>
                </a:effectLst>
                <a:latin typeface="Angsana New" panose="02020603050405020304" pitchFamily="18" charset="-34"/>
              </a:rPr>
              <a:t>     -  แสดงปริมาณโซเดียม </a:t>
            </a:r>
            <a:r>
              <a:rPr lang="en-US" altLang="en-US" sz="2800" b="1" dirty="0">
                <a:effectLst>
                  <a:outerShdw blurRad="38100" dist="38100" dir="2700000" algn="tl">
                    <a:srgbClr val="C0C0C0"/>
                  </a:outerShdw>
                </a:effectLst>
                <a:latin typeface="Angsana New" panose="02020603050405020304" pitchFamily="18" charset="-34"/>
              </a:rPr>
              <a:t>(Na) </a:t>
            </a:r>
            <a:r>
              <a:rPr lang="th-TH" altLang="en-US" sz="2800" b="1" dirty="0">
                <a:effectLst>
                  <a:outerShdw blurRad="38100" dist="38100" dir="2700000" algn="tl">
                    <a:srgbClr val="C0C0C0"/>
                  </a:outerShdw>
                </a:effectLst>
                <a:latin typeface="Angsana New" panose="02020603050405020304" pitchFamily="18" charset="-34"/>
              </a:rPr>
              <a:t>ที่เหลือในเยื่อ หลังจากผ่านระบบ </a:t>
            </a:r>
            <a:r>
              <a:rPr lang="en-US" altLang="en-US" sz="2800" b="1" dirty="0">
                <a:effectLst>
                  <a:outerShdw blurRad="38100" dist="38100" dir="2700000" algn="tl">
                    <a:srgbClr val="C0C0C0"/>
                  </a:outerShdw>
                </a:effectLst>
                <a:latin typeface="Angsana New" panose="02020603050405020304" pitchFamily="18" charset="-34"/>
              </a:rPr>
              <a:t>Washing</a:t>
            </a:r>
          </a:p>
          <a:p>
            <a:pPr>
              <a:defRPr/>
            </a:pPr>
            <a:r>
              <a:rPr lang="en-US" altLang="en-US" sz="2800" b="1" dirty="0">
                <a:effectLst>
                  <a:outerShdw blurRad="38100" dist="38100" dir="2700000" algn="tl">
                    <a:srgbClr val="C0C0C0"/>
                  </a:outerShdw>
                </a:effectLst>
                <a:latin typeface="Angsana New" panose="02020603050405020304" pitchFamily="18" charset="-34"/>
              </a:rPr>
              <a:t>     -  </a:t>
            </a:r>
            <a:r>
              <a:rPr lang="th-TH" altLang="en-US" sz="2800" b="1" dirty="0">
                <a:effectLst>
                  <a:outerShdw blurRad="38100" dist="38100" dir="2700000" algn="tl">
                    <a:srgbClr val="C0C0C0"/>
                  </a:outerShdw>
                </a:effectLst>
                <a:latin typeface="Angsana New" panose="02020603050405020304" pitchFamily="18" charset="-34"/>
              </a:rPr>
              <a:t>มีหน่วยเป็น </a:t>
            </a:r>
            <a:r>
              <a:rPr lang="en-US" altLang="en-US" sz="2800" b="1" dirty="0">
                <a:effectLst>
                  <a:outerShdw blurRad="38100" dist="38100" dir="2700000" algn="tl">
                    <a:srgbClr val="C0C0C0"/>
                  </a:outerShdw>
                </a:effectLst>
                <a:latin typeface="Angsana New" panose="02020603050405020304" pitchFamily="18" charset="-34"/>
              </a:rPr>
              <a:t>kg as Na</a:t>
            </a:r>
            <a:r>
              <a:rPr lang="en-US" altLang="en-US" sz="2800" b="1" baseline="-25000" dirty="0">
                <a:effectLst>
                  <a:outerShdw blurRad="38100" dist="38100" dir="2700000" algn="tl">
                    <a:srgbClr val="C0C0C0"/>
                  </a:outerShdw>
                </a:effectLst>
                <a:latin typeface="Angsana New" panose="02020603050405020304" pitchFamily="18" charset="-34"/>
              </a:rPr>
              <a:t>2</a:t>
            </a:r>
            <a:r>
              <a:rPr lang="en-US" altLang="en-US" sz="2800" b="1" dirty="0">
                <a:effectLst>
                  <a:outerShdw blurRad="38100" dist="38100" dir="2700000" algn="tl">
                    <a:srgbClr val="C0C0C0"/>
                  </a:outerShdw>
                </a:effectLst>
                <a:latin typeface="Angsana New" panose="02020603050405020304" pitchFamily="18" charset="-34"/>
              </a:rPr>
              <a:t>O/ton </a:t>
            </a:r>
            <a:r>
              <a:rPr lang="th-TH" altLang="en-US" sz="2800" b="1" dirty="0">
                <a:effectLst>
                  <a:outerShdw blurRad="38100" dist="38100" dir="2700000" algn="tl">
                    <a:srgbClr val="C0C0C0"/>
                  </a:outerShdw>
                </a:effectLst>
                <a:latin typeface="Angsana New" panose="02020603050405020304" pitchFamily="18" charset="-34"/>
              </a:rPr>
              <a:t> เยื่อ</a:t>
            </a:r>
          </a:p>
          <a:p>
            <a:pPr>
              <a:defRPr/>
            </a:pPr>
            <a:endParaRPr lang="th-TH" altLang="en-US" sz="2000" b="1" dirty="0">
              <a:solidFill>
                <a:schemeClr val="bg2"/>
              </a:solidFill>
              <a:effectLst>
                <a:outerShdw blurRad="38100" dist="38100" dir="2700000" algn="tl">
                  <a:srgbClr val="C0C0C0"/>
                </a:outerShdw>
              </a:effectLst>
              <a:latin typeface="Angsana New" panose="02020603050405020304" pitchFamily="18" charset="-34"/>
            </a:endParaRPr>
          </a:p>
          <a:p>
            <a:pPr>
              <a:defRPr/>
            </a:pPr>
            <a:r>
              <a:rPr lang="th-TH" altLang="en-US" sz="3500" b="1" dirty="0">
                <a:solidFill>
                  <a:schemeClr val="bg1"/>
                </a:solidFill>
                <a:effectLst>
                  <a:outerShdw blurRad="38100" dist="38100" dir="2700000" algn="tl">
                    <a:srgbClr val="C0C0C0"/>
                  </a:outerShdw>
                </a:effectLst>
                <a:latin typeface="Angsana New" panose="02020603050405020304" pitchFamily="18" charset="-34"/>
              </a:rPr>
              <a:t>       </a:t>
            </a:r>
            <a:r>
              <a:rPr lang="th-TH" altLang="en-US" sz="3500" b="1" dirty="0">
                <a:solidFill>
                  <a:schemeClr val="hlink"/>
                </a:solidFill>
                <a:effectLst>
                  <a:outerShdw blurRad="38100" dist="38100" dir="2700000" algn="tl">
                    <a:srgbClr val="C0C0C0"/>
                  </a:outerShdw>
                </a:effectLst>
                <a:latin typeface="Angsana New" panose="02020603050405020304" pitchFamily="18" charset="-34"/>
              </a:rPr>
              <a:t>ผลกระทบของ </a:t>
            </a:r>
            <a:r>
              <a:rPr lang="en-US" altLang="en-US" sz="3500" b="1" dirty="0">
                <a:solidFill>
                  <a:schemeClr val="hlink"/>
                </a:solidFill>
                <a:effectLst>
                  <a:outerShdw blurRad="38100" dist="38100" dir="2700000" algn="tl">
                    <a:srgbClr val="C0C0C0"/>
                  </a:outerShdw>
                </a:effectLst>
                <a:latin typeface="Angsana New" panose="02020603050405020304" pitchFamily="18" charset="-34"/>
              </a:rPr>
              <a:t>Soda Loss </a:t>
            </a:r>
            <a:r>
              <a:rPr lang="th-TH" altLang="en-US" sz="3500" b="1" dirty="0">
                <a:solidFill>
                  <a:schemeClr val="hlink"/>
                </a:solidFill>
                <a:effectLst>
                  <a:outerShdw blurRad="38100" dist="38100" dir="2700000" algn="tl">
                    <a:srgbClr val="C0C0C0"/>
                  </a:outerShdw>
                </a:effectLst>
                <a:latin typeface="Angsana New" panose="02020603050405020304" pitchFamily="18" charset="-34"/>
              </a:rPr>
              <a:t>สูง</a:t>
            </a:r>
          </a:p>
          <a:p>
            <a:pPr>
              <a:defRPr/>
            </a:pPr>
            <a:r>
              <a:rPr lang="th-TH" altLang="en-US" dirty="0">
                <a:effectLst>
                  <a:outerShdw blurRad="38100" dist="38100" dir="2700000" algn="tl">
                    <a:srgbClr val="C0C0C0"/>
                  </a:outerShdw>
                </a:effectLst>
                <a:latin typeface="Angsana New" panose="02020603050405020304" pitchFamily="18" charset="-34"/>
              </a:rPr>
              <a:t>     </a:t>
            </a:r>
            <a:r>
              <a:rPr lang="th-TH" altLang="en-US" sz="2800" b="1" dirty="0">
                <a:effectLst>
                  <a:outerShdw blurRad="38100" dist="38100" dir="2700000" algn="tl">
                    <a:srgbClr val="C0C0C0"/>
                  </a:outerShdw>
                </a:effectLst>
                <a:latin typeface="Angsana New" panose="02020603050405020304" pitchFamily="18" charset="-34"/>
              </a:rPr>
              <a:t>-   </a:t>
            </a:r>
            <a:r>
              <a:rPr lang="en-US" altLang="en-US" sz="2800" b="1" dirty="0">
                <a:effectLst>
                  <a:outerShdw blurRad="38100" dist="38100" dir="2700000" algn="tl">
                    <a:srgbClr val="C0C0C0"/>
                  </a:outerShdw>
                </a:effectLst>
                <a:latin typeface="Angsana New" panose="02020603050405020304" pitchFamily="18" charset="-34"/>
              </a:rPr>
              <a:t>Na (</a:t>
            </a:r>
            <a:r>
              <a:rPr lang="th-TH" altLang="en-US" sz="2800" b="1" dirty="0">
                <a:effectLst>
                  <a:outerShdw blurRad="38100" dist="38100" dir="2700000" algn="tl">
                    <a:srgbClr val="C0C0C0"/>
                  </a:outerShdw>
                </a:effectLst>
                <a:latin typeface="Angsana New" panose="02020603050405020304" pitchFamily="18" charset="-34"/>
              </a:rPr>
              <a:t>ทั้ง </a:t>
            </a:r>
            <a:r>
              <a:rPr lang="en-US" altLang="en-US" sz="2800" b="1" dirty="0">
                <a:effectLst>
                  <a:outerShdw blurRad="38100" dist="38100" dir="2700000" algn="tl">
                    <a:srgbClr val="C0C0C0"/>
                  </a:outerShdw>
                </a:effectLst>
                <a:latin typeface="Angsana New" panose="02020603050405020304" pitchFamily="18" charset="-34"/>
              </a:rPr>
              <a:t>Na2CO3, Na2O</a:t>
            </a:r>
            <a:r>
              <a:rPr lang="th-TH" altLang="en-US" sz="2800" b="1" dirty="0">
                <a:effectLst>
                  <a:outerShdw blurRad="38100" dist="38100" dir="2700000" algn="tl">
                    <a:srgbClr val="C0C0C0"/>
                  </a:outerShdw>
                </a:effectLst>
                <a:latin typeface="Angsana New" panose="02020603050405020304" pitchFamily="18" charset="-34"/>
              </a:rPr>
              <a:t> และ </a:t>
            </a:r>
            <a:r>
              <a:rPr lang="en-US" altLang="en-US" sz="2800" b="1" dirty="0" err="1">
                <a:effectLst>
                  <a:outerShdw blurRad="38100" dist="38100" dir="2700000" algn="tl">
                    <a:srgbClr val="C0C0C0"/>
                  </a:outerShdw>
                </a:effectLst>
                <a:latin typeface="Angsana New" panose="02020603050405020304" pitchFamily="18" charset="-34"/>
              </a:rPr>
              <a:t>NaOH</a:t>
            </a:r>
            <a:r>
              <a:rPr lang="en-US" altLang="en-US" sz="2800" b="1" dirty="0">
                <a:effectLst>
                  <a:outerShdw blurRad="38100" dist="38100" dir="2700000" algn="tl">
                    <a:srgbClr val="C0C0C0"/>
                  </a:outerShdw>
                </a:effectLst>
                <a:latin typeface="Angsana New" panose="02020603050405020304" pitchFamily="18" charset="-34"/>
              </a:rPr>
              <a:t>) </a:t>
            </a:r>
            <a:r>
              <a:rPr lang="th-TH" altLang="en-US" sz="2800" b="1" dirty="0">
                <a:effectLst>
                  <a:outerShdw blurRad="38100" dist="38100" dir="2700000" algn="tl">
                    <a:srgbClr val="C0C0C0"/>
                  </a:outerShdw>
                </a:effectLst>
                <a:latin typeface="Angsana New" panose="02020603050405020304" pitchFamily="18" charset="-34"/>
              </a:rPr>
              <a:t>หายไปจากระบบ ทำให้ต้องเติมชดเชยที่</a:t>
            </a:r>
          </a:p>
          <a:p>
            <a:pPr>
              <a:defRPr/>
            </a:pPr>
            <a:r>
              <a:rPr lang="th-TH" altLang="en-US" sz="2800" b="1" dirty="0">
                <a:effectLst>
                  <a:outerShdw blurRad="38100" dist="38100" dir="2700000" algn="tl">
                    <a:srgbClr val="C0C0C0"/>
                  </a:outerShdw>
                </a:effectLst>
                <a:latin typeface="Angsana New" panose="02020603050405020304" pitchFamily="18" charset="-34"/>
              </a:rPr>
              <a:t>        ระบบ น้ำยาเคมีกลับคืน (เช่น </a:t>
            </a:r>
            <a:r>
              <a:rPr lang="en-US" altLang="en-US" sz="2800" b="1" dirty="0">
                <a:effectLst>
                  <a:outerShdw blurRad="38100" dist="38100" dir="2700000" algn="tl">
                    <a:srgbClr val="C0C0C0"/>
                  </a:outerShdw>
                </a:effectLst>
                <a:latin typeface="Angsana New" panose="02020603050405020304" pitchFamily="18" charset="-34"/>
              </a:rPr>
              <a:t>loss 10 kg as Na2O/ADT </a:t>
            </a:r>
            <a:r>
              <a:rPr lang="th-TH" altLang="en-US" sz="2800" b="1" dirty="0">
                <a:effectLst>
                  <a:outerShdw blurRad="38100" dist="38100" dir="2700000" algn="tl">
                    <a:srgbClr val="C0C0C0"/>
                  </a:outerShdw>
                </a:effectLst>
                <a:latin typeface="Angsana New" panose="02020603050405020304" pitchFamily="18" charset="-34"/>
              </a:rPr>
              <a:t>เยื่อต้องเติมชดเชย 10  </a:t>
            </a:r>
          </a:p>
          <a:p>
            <a:pPr>
              <a:defRPr/>
            </a:pPr>
            <a:r>
              <a:rPr lang="th-TH" altLang="en-US" sz="2800" b="1" dirty="0">
                <a:effectLst>
                  <a:outerShdw blurRad="38100" dist="38100" dir="2700000" algn="tl">
                    <a:srgbClr val="C0C0C0"/>
                  </a:outerShdw>
                </a:effectLst>
                <a:latin typeface="Angsana New" panose="02020603050405020304" pitchFamily="18" charset="-34"/>
              </a:rPr>
              <a:t>         </a:t>
            </a:r>
            <a:r>
              <a:rPr lang="en-US" altLang="en-US" sz="2800" b="1" dirty="0">
                <a:effectLst>
                  <a:outerShdw blurRad="38100" dist="38100" dir="2700000" algn="tl">
                    <a:srgbClr val="C0C0C0"/>
                  </a:outerShdw>
                </a:effectLst>
                <a:latin typeface="Angsana New" panose="02020603050405020304" pitchFamily="18" charset="-34"/>
              </a:rPr>
              <a:t>kg</a:t>
            </a:r>
            <a:r>
              <a:rPr lang="th-TH" altLang="en-US" sz="2800" b="1" dirty="0">
                <a:effectLst>
                  <a:outerShdw blurRad="38100" dist="38100" dir="2700000" algn="tl">
                    <a:srgbClr val="C0C0C0"/>
                  </a:outerShdw>
                </a:effectLst>
                <a:latin typeface="Angsana New" panose="02020603050405020304" pitchFamily="18" charset="-34"/>
              </a:rPr>
              <a:t> </a:t>
            </a:r>
            <a:r>
              <a:rPr lang="en-US" altLang="en-US" sz="2800" b="1" dirty="0">
                <a:effectLst>
                  <a:outerShdw blurRad="38100" dist="38100" dir="2700000" algn="tl">
                    <a:srgbClr val="C0C0C0"/>
                  </a:outerShdw>
                </a:effectLst>
                <a:latin typeface="Angsana New" panose="02020603050405020304" pitchFamily="18" charset="-34"/>
              </a:rPr>
              <a:t>Na2O/ADT </a:t>
            </a:r>
            <a:r>
              <a:rPr lang="th-TH" altLang="en-US" sz="2800" b="1" dirty="0">
                <a:effectLst>
                  <a:outerShdw blurRad="38100" dist="38100" dir="2700000" algn="tl">
                    <a:srgbClr val="C0C0C0"/>
                  </a:outerShdw>
                </a:effectLst>
                <a:latin typeface="Angsana New" panose="02020603050405020304" pitchFamily="18" charset="-34"/>
              </a:rPr>
              <a:t>เยื่อ)</a:t>
            </a:r>
          </a:p>
          <a:p>
            <a:pPr>
              <a:defRPr/>
            </a:pPr>
            <a:r>
              <a:rPr lang="th-TH" altLang="en-US" sz="2800" b="1" dirty="0">
                <a:effectLst>
                  <a:outerShdw blurRad="38100" dist="38100" dir="2700000" algn="tl">
                    <a:srgbClr val="C0C0C0"/>
                  </a:outerShdw>
                </a:effectLst>
                <a:latin typeface="Angsana New" panose="02020603050405020304" pitchFamily="18" charset="-34"/>
              </a:rPr>
              <a:t>    -   ถ้าเป็นระบบฟอกเยื่อ จะกินสารเคมีในการฟอก </a:t>
            </a:r>
            <a:r>
              <a:rPr lang="en-US" altLang="en-US" sz="2800" b="1" dirty="0">
                <a:effectLst>
                  <a:outerShdw blurRad="38100" dist="38100" dir="2700000" algn="tl">
                    <a:srgbClr val="C0C0C0"/>
                  </a:outerShdw>
                </a:effectLst>
                <a:latin typeface="Angsana New" panose="02020603050405020304" pitchFamily="18" charset="-34"/>
              </a:rPr>
              <a:t>Chlorine</a:t>
            </a:r>
          </a:p>
          <a:p>
            <a:pPr>
              <a:defRPr/>
            </a:pPr>
            <a:r>
              <a:rPr lang="en-US" altLang="en-US" sz="2800" b="1" dirty="0">
                <a:effectLst>
                  <a:outerShdw blurRad="38100" dist="38100" dir="2700000" algn="tl">
                    <a:srgbClr val="C0C0C0"/>
                  </a:outerShdw>
                </a:effectLst>
                <a:latin typeface="Angsana New" panose="02020603050405020304" pitchFamily="18" charset="-34"/>
              </a:rPr>
              <a:t>    -</a:t>
            </a:r>
            <a:r>
              <a:rPr lang="th-TH" altLang="en-US" sz="2800" b="1" dirty="0">
                <a:effectLst>
                  <a:outerShdw blurRad="38100" dist="38100" dir="2700000" algn="tl">
                    <a:srgbClr val="C0C0C0"/>
                  </a:outerShdw>
                </a:effectLst>
                <a:latin typeface="Angsana New" panose="02020603050405020304" pitchFamily="18" charset="-34"/>
              </a:rPr>
              <a:t> </a:t>
            </a:r>
            <a:r>
              <a:rPr lang="en-US" altLang="en-US" sz="2800" b="1" dirty="0">
                <a:effectLst>
                  <a:outerShdw blurRad="38100" dist="38100" dir="2700000" algn="tl">
                    <a:srgbClr val="C0C0C0"/>
                  </a:outerShdw>
                </a:effectLst>
                <a:latin typeface="Angsana New" panose="02020603050405020304" pitchFamily="18" charset="-34"/>
              </a:rPr>
              <a:t>  </a:t>
            </a:r>
            <a:r>
              <a:rPr lang="th-TH" altLang="en-US" sz="2800" b="1" dirty="0">
                <a:effectLst>
                  <a:outerShdw blurRad="38100" dist="38100" dir="2700000" algn="tl">
                    <a:srgbClr val="C0C0C0"/>
                  </a:outerShdw>
                </a:effectLst>
                <a:latin typeface="Angsana New" panose="02020603050405020304" pitchFamily="18" charset="-34"/>
              </a:rPr>
              <a:t>ผลกระทบต่อสิ่งแวดล้อม</a:t>
            </a:r>
            <a:endParaRPr lang="en-US" altLang="en-US" sz="2800" b="1" dirty="0">
              <a:effectLst>
                <a:outerShdw blurRad="38100" dist="38100" dir="2700000" algn="tl">
                  <a:srgbClr val="C0C0C0"/>
                </a:outerShdw>
              </a:effectLst>
              <a:latin typeface="Angsana New" panose="02020603050405020304" pitchFamily="18" charset="-34"/>
            </a:endParaRPr>
          </a:p>
        </p:txBody>
      </p:sp>
      <p:sp>
        <p:nvSpPr>
          <p:cNvPr id="437251" name="AutoShape 3"/>
          <p:cNvSpPr>
            <a:spLocks noChangeArrowheads="1"/>
          </p:cNvSpPr>
          <p:nvPr/>
        </p:nvSpPr>
        <p:spPr bwMode="auto">
          <a:xfrm>
            <a:off x="855663" y="900113"/>
            <a:ext cx="304800" cy="304800"/>
          </a:xfrm>
          <a:prstGeom prst="star5">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th-TH" altLang="en-US">
              <a:solidFill>
                <a:schemeClr val="bg1"/>
              </a:solidFill>
              <a:latin typeface="Times New Roman" panose="02020603050405020304" pitchFamily="18" charset="0"/>
            </a:endParaRPr>
          </a:p>
        </p:txBody>
      </p:sp>
      <p:sp>
        <p:nvSpPr>
          <p:cNvPr id="437252" name="AutoShape 4"/>
          <p:cNvSpPr>
            <a:spLocks noChangeArrowheads="1"/>
          </p:cNvSpPr>
          <p:nvPr/>
        </p:nvSpPr>
        <p:spPr bwMode="auto">
          <a:xfrm>
            <a:off x="855663" y="3048000"/>
            <a:ext cx="304800" cy="304800"/>
          </a:xfrm>
          <a:prstGeom prst="star5">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a:p>
        </p:txBody>
      </p:sp>
    </p:spTree>
  </p:cSld>
  <p:clrMapOvr>
    <a:masterClrMapping/>
  </p:clrMapOvr>
  <p:transition spd="slow"/>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4. Overview of Pulping methodology </a:t>
            </a:r>
          </a:p>
        </p:txBody>
      </p:sp>
      <p:sp>
        <p:nvSpPr>
          <p:cNvPr id="346115" name="TextBox 6"/>
          <p:cNvSpPr txBox="1">
            <a:spLocks noChangeArrowheads="1"/>
          </p:cNvSpPr>
          <p:nvPr/>
        </p:nvSpPr>
        <p:spPr bwMode="auto">
          <a:xfrm>
            <a:off x="-14288" y="5872163"/>
            <a:ext cx="5543551"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a:t>Ref: http://www.kpatents.com/images/press/news13_image.jpg</a:t>
            </a:r>
          </a:p>
          <a:p>
            <a:pPr>
              <a:spcBef>
                <a:spcPct val="0"/>
              </a:spcBef>
              <a:buFontTx/>
              <a:buNone/>
            </a:pPr>
            <a:r>
              <a:rPr lang="en-US" altLang="en-US" sz="1600"/>
              <a:t>Ref: http://www.rdt.co.kr/kemotron/99024-1.gif</a:t>
            </a:r>
          </a:p>
        </p:txBody>
      </p:sp>
      <p:grpSp>
        <p:nvGrpSpPr>
          <p:cNvPr id="346116" name="Group 6"/>
          <p:cNvGrpSpPr>
            <a:grpSpLocks/>
          </p:cNvGrpSpPr>
          <p:nvPr/>
        </p:nvGrpSpPr>
        <p:grpSpPr bwMode="auto">
          <a:xfrm>
            <a:off x="176213" y="1355725"/>
            <a:ext cx="5695950" cy="3570288"/>
            <a:chOff x="176981" y="1356370"/>
            <a:chExt cx="5695133" cy="3570172"/>
          </a:xfrm>
        </p:grpSpPr>
        <p:grpSp>
          <p:nvGrpSpPr>
            <p:cNvPr id="346121" name="Group 4"/>
            <p:cNvGrpSpPr>
              <a:grpSpLocks/>
            </p:cNvGrpSpPr>
            <p:nvPr/>
          </p:nvGrpSpPr>
          <p:grpSpPr bwMode="auto">
            <a:xfrm>
              <a:off x="176981" y="1356370"/>
              <a:ext cx="5352300" cy="3436856"/>
              <a:chOff x="309716" y="1444901"/>
              <a:chExt cx="6386052" cy="3864518"/>
            </a:xfrm>
          </p:grpSpPr>
          <p:grpSp>
            <p:nvGrpSpPr>
              <p:cNvPr id="346123" name="Group 3"/>
              <p:cNvGrpSpPr>
                <a:grpSpLocks/>
              </p:cNvGrpSpPr>
              <p:nvPr/>
            </p:nvGrpSpPr>
            <p:grpSpPr bwMode="auto">
              <a:xfrm>
                <a:off x="309716" y="1444901"/>
                <a:ext cx="6386052" cy="3864518"/>
                <a:chOff x="309716" y="1444901"/>
                <a:chExt cx="6314468" cy="3982506"/>
              </a:xfrm>
            </p:grpSpPr>
            <p:pic>
              <p:nvPicPr>
                <p:cNvPr id="346125"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09716" y="1444901"/>
                  <a:ext cx="6314468" cy="3982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309716" y="1444901"/>
                  <a:ext cx="1533668" cy="126924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2" name="Rectangle 11"/>
              <p:cNvSpPr/>
              <p:nvPr/>
            </p:nvSpPr>
            <p:spPr>
              <a:xfrm>
                <a:off x="5144690" y="2333822"/>
                <a:ext cx="1551056" cy="123163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7" name="Rectangle 16"/>
            <p:cNvSpPr/>
            <p:nvPr/>
          </p:nvSpPr>
          <p:spPr>
            <a:xfrm>
              <a:off x="4572137" y="3831203"/>
              <a:ext cx="1299977" cy="10953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pic>
        <p:nvPicPr>
          <p:cNvPr id="346117" name="Picture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967288" y="3363913"/>
            <a:ext cx="4108450" cy="2638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6118" name="TextBox 6"/>
          <p:cNvSpPr txBox="1">
            <a:spLocks noChangeArrowheads="1"/>
          </p:cNvSpPr>
          <p:nvPr/>
        </p:nvSpPr>
        <p:spPr bwMode="auto">
          <a:xfrm>
            <a:off x="5329238" y="1125538"/>
            <a:ext cx="3638550" cy="2338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b="1"/>
              <a:t>Drum washer </a:t>
            </a:r>
            <a:r>
              <a:rPr lang="en-US" altLang="en-US" sz="1600"/>
              <a:t>is use for washing the chemical and lignin (Filtrate Water) out so the Fiber/Pulp can be separate and send to other stage.</a:t>
            </a:r>
          </a:p>
          <a:p>
            <a:pPr>
              <a:spcBef>
                <a:spcPct val="0"/>
              </a:spcBef>
              <a:buFontTx/>
              <a:buNone/>
            </a:pPr>
            <a:r>
              <a:rPr lang="en-US" altLang="en-US" sz="1600"/>
              <a:t>Normally, they are connected in series the filtrate water from the last stage can be reuse as wash liquor in the early washing stage.</a:t>
            </a:r>
          </a:p>
          <a:p>
            <a:pPr>
              <a:spcBef>
                <a:spcPct val="0"/>
              </a:spcBef>
              <a:buFontTx/>
              <a:buNone/>
            </a:pPr>
            <a:endParaRPr lang="en-US" altLang="en-US" sz="1600"/>
          </a:p>
        </p:txBody>
      </p:sp>
      <p:sp>
        <p:nvSpPr>
          <p:cNvPr id="346119" name="TextBox 13"/>
          <p:cNvSpPr txBox="1">
            <a:spLocks noChangeArrowheads="1"/>
          </p:cNvSpPr>
          <p:nvPr/>
        </p:nvSpPr>
        <p:spPr bwMode="auto">
          <a:xfrm>
            <a:off x="457200" y="895350"/>
            <a:ext cx="1944688" cy="4603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t>Drum Washer</a:t>
            </a:r>
          </a:p>
        </p:txBody>
      </p:sp>
      <p:sp>
        <p:nvSpPr>
          <p:cNvPr id="346120" name="TextBox 6"/>
          <p:cNvSpPr txBox="1">
            <a:spLocks noChangeArrowheads="1"/>
          </p:cNvSpPr>
          <p:nvPr/>
        </p:nvSpPr>
        <p:spPr bwMode="auto">
          <a:xfrm>
            <a:off x="4008438" y="3984625"/>
            <a:ext cx="9144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a:t>Pulp out</a:t>
            </a:r>
            <a:endParaRPr lang="en-US" altLang="en-US" sz="1400"/>
          </a:p>
          <a:p>
            <a:pPr>
              <a:spcBef>
                <a:spcPct val="0"/>
              </a:spcBef>
              <a:buFontTx/>
              <a:buNone/>
            </a:pPr>
            <a:endParaRPr lang="en-US" altLang="en-US" sz="1400"/>
          </a:p>
        </p:txBody>
      </p:sp>
    </p:spTree>
  </p:cSld>
  <p:clrMapOvr>
    <a:masterClrMapping/>
  </p:clrMapOvr>
  <p:transition spd="slow"/>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62"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4. Overview of Pulping methodology </a:t>
            </a:r>
          </a:p>
        </p:txBody>
      </p:sp>
      <p:sp>
        <p:nvSpPr>
          <p:cNvPr id="348163" name="TextBox 6"/>
          <p:cNvSpPr txBox="1">
            <a:spLocks noChangeArrowheads="1"/>
          </p:cNvSpPr>
          <p:nvPr/>
        </p:nvSpPr>
        <p:spPr bwMode="auto">
          <a:xfrm>
            <a:off x="0" y="6122988"/>
            <a:ext cx="7315200"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a:t>Ref: http://cdn.glvpulppaper.com/Products/2146_2473_Dry-Dek-2-revised.jpg</a:t>
            </a:r>
          </a:p>
        </p:txBody>
      </p:sp>
      <p:sp>
        <p:nvSpPr>
          <p:cNvPr id="348164" name="TextBox 13"/>
          <p:cNvSpPr txBox="1">
            <a:spLocks noChangeArrowheads="1"/>
          </p:cNvSpPr>
          <p:nvPr/>
        </p:nvSpPr>
        <p:spPr bwMode="auto">
          <a:xfrm>
            <a:off x="457200" y="895350"/>
            <a:ext cx="3810000" cy="4603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t>Twin Roll Press / Wash Press</a:t>
            </a:r>
          </a:p>
        </p:txBody>
      </p:sp>
      <p:sp>
        <p:nvSpPr>
          <p:cNvPr id="348165" name="TextBox 6"/>
          <p:cNvSpPr txBox="1">
            <a:spLocks noChangeArrowheads="1"/>
          </p:cNvSpPr>
          <p:nvPr/>
        </p:nvSpPr>
        <p:spPr bwMode="auto">
          <a:xfrm>
            <a:off x="457200" y="4159250"/>
            <a:ext cx="8229600"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b="1"/>
              <a:t>Wash Press </a:t>
            </a:r>
            <a:r>
              <a:rPr lang="en-US" altLang="en-US" sz="1800"/>
              <a:t>has a similar principle as washer but it use pressure to press the liquor out of the Fiber/Pulp. The liquor is also collected as “Filtrate” and the fiber is deliver to the next stage. </a:t>
            </a:r>
          </a:p>
          <a:p>
            <a:pPr>
              <a:spcBef>
                <a:spcPct val="0"/>
              </a:spcBef>
              <a:buFontTx/>
              <a:buNone/>
            </a:pPr>
            <a:r>
              <a:rPr lang="en-US" altLang="en-US" sz="1800"/>
              <a:t>Twin Roll Press is more efficient in term of dewatering the liquor out of the fiber. Therefore, the Soda Loss is less than the normal washer. </a:t>
            </a:r>
            <a:endParaRPr lang="en-US" altLang="en-US" sz="1600"/>
          </a:p>
          <a:p>
            <a:pPr>
              <a:spcBef>
                <a:spcPct val="0"/>
              </a:spcBef>
              <a:buFontTx/>
              <a:buNone/>
            </a:pPr>
            <a:endParaRPr lang="en-US" altLang="en-US" sz="1600"/>
          </a:p>
        </p:txBody>
      </p:sp>
      <p:pic>
        <p:nvPicPr>
          <p:cNvPr id="348166" name="Picture 6"/>
          <p:cNvPicPr>
            <a:picLocks noChangeAspect="1"/>
          </p:cNvPicPr>
          <p:nvPr/>
        </p:nvPicPr>
        <p:blipFill>
          <a:blip r:embed="rId3">
            <a:extLst>
              <a:ext uri="{28A0092B-C50C-407E-A947-70E740481C1C}">
                <a14:useLocalDpi xmlns:a14="http://schemas.microsoft.com/office/drawing/2010/main" val="0"/>
              </a:ext>
            </a:extLst>
          </a:blip>
          <a:srcRect t="16724" b="12309"/>
          <a:stretch>
            <a:fillRect/>
          </a:stretch>
        </p:blipFill>
        <p:spPr bwMode="auto">
          <a:xfrm>
            <a:off x="846138" y="1616075"/>
            <a:ext cx="3303587" cy="2343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8167" name="Picture 8"/>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459288" y="1433513"/>
            <a:ext cx="3979862" cy="270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10" name="Title 1"/>
          <p:cNvSpPr>
            <a:spLocks noGrp="1"/>
          </p:cNvSpPr>
          <p:nvPr>
            <p:ph type="title"/>
          </p:nvPr>
        </p:nvSpPr>
        <p:spPr>
          <a:xfrm>
            <a:off x="441325" y="2660650"/>
            <a:ext cx="8229600" cy="1143000"/>
          </a:xfrm>
        </p:spPr>
        <p:txBody>
          <a:bodyPr/>
          <a:lstStyle/>
          <a:p>
            <a:pPr eaLnBrk="1" hangingPunct="1"/>
            <a:r>
              <a:rPr lang="en-US" altLang="en-US" sz="3600" b="1" smtClean="0">
                <a:latin typeface="Tahoma" panose="020B0604030504040204" pitchFamily="34" charset="0"/>
                <a:cs typeface="Tahoma" panose="020B0604030504040204" pitchFamily="34" charset="0"/>
              </a:rPr>
              <a:t>5. Bleaching sequences </a:t>
            </a:r>
          </a:p>
        </p:txBody>
      </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8"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5. Bleaching sequences </a:t>
            </a:r>
          </a:p>
        </p:txBody>
      </p:sp>
      <p:sp>
        <p:nvSpPr>
          <p:cNvPr id="352259" name="TextBox 6"/>
          <p:cNvSpPr txBox="1">
            <a:spLocks noChangeArrowheads="1"/>
          </p:cNvSpPr>
          <p:nvPr/>
        </p:nvSpPr>
        <p:spPr bwMode="auto">
          <a:xfrm>
            <a:off x="-14288" y="6092825"/>
            <a:ext cx="25701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a:t>Credit: Convergence Training</a:t>
            </a:r>
          </a:p>
        </p:txBody>
      </p:sp>
      <p:pic>
        <p:nvPicPr>
          <p:cNvPr id="2" name="14 - Pulp Bleaching.mp4">
            <a:hlinkClick r:id="" action="ppaction://media"/>
          </p:cNvPr>
          <p:cNvPicPr>
            <a:picLocks noChangeAspect="1"/>
          </p:cNvPicPr>
          <p:nvPr>
            <a:videoFile r:link="rId2"/>
            <p:extLst>
              <p:ext uri="{DAA4B4D4-6D71-4841-9C94-3DE7FCFB9230}">
                <p14:media xmlns:p14="http://schemas.microsoft.com/office/powerpoint/2010/main" r:link="rId1"/>
              </p:ext>
            </p:extLst>
          </p:nvPr>
        </p:nvPicPr>
        <p:blipFill>
          <a:blip r:embed="rId5">
            <a:extLst>
              <a:ext uri="{28A0092B-C50C-407E-A947-70E740481C1C}">
                <a14:useLocalDpi xmlns:a14="http://schemas.microsoft.com/office/drawing/2010/main" val="0"/>
              </a:ext>
            </a:extLst>
          </a:blip>
          <a:srcRect/>
          <a:stretch>
            <a:fillRect/>
          </a:stretch>
        </p:blipFill>
        <p:spPr bwMode="auto">
          <a:xfrm>
            <a:off x="879475" y="903288"/>
            <a:ext cx="7385050" cy="566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restart="whenNotActive" fill="hold" evtFilter="cancelBubble" nodeType="interactiveSeq">
                <p:stCondLst>
                  <p:cond evt="onClick" delay="0">
                    <p:tgtEl>
                      <p:spTgt spid="2"/>
                    </p:tgtEl>
                  </p:cond>
                </p:stCondLst>
                <p:endSync evt="end" delay="0">
                  <p:rtn val="all"/>
                </p:endSync>
                <p:childTnLst>
                  <p:par>
                    <p:cTn id="3" fill="hold" nodeType="clickPar">
                      <p:stCondLst>
                        <p:cond delay="0"/>
                      </p:stCondLst>
                      <p:childTnLst>
                        <p:par>
                          <p:cTn id="4" fill="hold" nodeType="withGroup">
                            <p:stCondLst>
                              <p:cond delay="0"/>
                            </p:stCondLst>
                            <p:childTnLst>
                              <p:par>
                                <p:cTn id="5" presetID="2" presetClass="mediacall" presetSubtype="0" fill="hold" nodeType="clickEffect">
                                  <p:stCondLst>
                                    <p:cond delay="0"/>
                                  </p:stCondLst>
                                  <p:childTnLst>
                                    <p:cmd type="call" cmd="togglePause">
                                      <p:cBhvr>
                                        <p:cTn id="6" dur="1" fill="hold"/>
                                        <p:tgtEl>
                                          <p:spTgt spid="2"/>
                                        </p:tgtEl>
                                      </p:cBhvr>
                                    </p:cmd>
                                  </p:childTnLst>
                                </p:cTn>
                              </p:par>
                            </p:childTnLst>
                          </p:cTn>
                        </p:par>
                      </p:childTnLst>
                    </p:cTn>
                  </p:par>
                </p:childTnLst>
              </p:cTn>
              <p:nextCondLst>
                <p:cond evt="onClick" delay="0">
                  <p:tgtEl>
                    <p:spTgt spid="2"/>
                  </p:tgtEl>
                </p:cond>
              </p:nextCondLst>
            </p:seq>
            <p:video>
              <p:cMediaNode vol="80000">
                <p:cTn id="7" fill="hold" display="0">
                  <p:stCondLst>
                    <p:cond delay="indefinite"/>
                  </p:stCondLst>
                </p:cTn>
                <p:tgtEl>
                  <p:spTgt spid="2"/>
                </p:tgtEl>
              </p:cMediaNode>
            </p:video>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06"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5. Bleaching sequences </a:t>
            </a:r>
          </a:p>
        </p:txBody>
      </p:sp>
      <p:pic>
        <p:nvPicPr>
          <p:cNvPr id="354307"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01613" y="981075"/>
            <a:ext cx="4321175" cy="3240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4308" name="Picture 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643438" y="981075"/>
            <a:ext cx="4368800" cy="3240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4309" name="TextBox 8"/>
          <p:cNvSpPr txBox="1">
            <a:spLocks noChangeArrowheads="1"/>
          </p:cNvSpPr>
          <p:nvPr/>
        </p:nvSpPr>
        <p:spPr bwMode="auto">
          <a:xfrm>
            <a:off x="165100" y="4292600"/>
            <a:ext cx="4344988"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800"/>
              <a:t>The purpose of pulp bleaching is to lighten, brighten, or whiten the pulp. This can be done with several different chemicals. The most commonly used chemicals are: </a:t>
            </a:r>
          </a:p>
        </p:txBody>
      </p:sp>
      <p:sp>
        <p:nvSpPr>
          <p:cNvPr id="354310" name="TextBox 9"/>
          <p:cNvSpPr txBox="1">
            <a:spLocks noChangeArrowheads="1"/>
          </p:cNvSpPr>
          <p:nvPr/>
        </p:nvSpPr>
        <p:spPr bwMode="auto">
          <a:xfrm>
            <a:off x="4637088" y="4292600"/>
            <a:ext cx="4344987" cy="163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2000"/>
              <a:t>•   Chlorine Dioxide </a:t>
            </a:r>
          </a:p>
          <a:p>
            <a:pPr eaLnBrk="1" hangingPunct="1">
              <a:spcBef>
                <a:spcPct val="0"/>
              </a:spcBef>
              <a:buFontTx/>
              <a:buNone/>
            </a:pPr>
            <a:r>
              <a:rPr lang="en-US" altLang="en-US" sz="2000"/>
              <a:t>•   Chlorine </a:t>
            </a:r>
          </a:p>
          <a:p>
            <a:pPr eaLnBrk="1" hangingPunct="1">
              <a:spcBef>
                <a:spcPct val="0"/>
              </a:spcBef>
              <a:buFontTx/>
              <a:buNone/>
            </a:pPr>
            <a:r>
              <a:rPr lang="en-US" altLang="en-US" sz="2000"/>
              <a:t>•   Sodium hydroxide </a:t>
            </a:r>
          </a:p>
          <a:p>
            <a:pPr eaLnBrk="1" hangingPunct="1">
              <a:spcBef>
                <a:spcPct val="0"/>
              </a:spcBef>
              <a:buFontTx/>
              <a:buNone/>
            </a:pPr>
            <a:r>
              <a:rPr lang="en-US" altLang="en-US" sz="2000"/>
              <a:t>•   Oxygen </a:t>
            </a:r>
          </a:p>
          <a:p>
            <a:pPr eaLnBrk="1" hangingPunct="1">
              <a:spcBef>
                <a:spcPct val="0"/>
              </a:spcBef>
              <a:buFontTx/>
              <a:buNone/>
            </a:pPr>
            <a:r>
              <a:rPr lang="en-US" altLang="en-US" sz="2000"/>
              <a:t>•   Hydrogen Peroxide </a:t>
            </a:r>
          </a:p>
        </p:txBody>
      </p:sp>
      <p:sp>
        <p:nvSpPr>
          <p:cNvPr id="354311" name="TextBox 6"/>
          <p:cNvSpPr txBox="1">
            <a:spLocks noChangeArrowheads="1"/>
          </p:cNvSpPr>
          <p:nvPr/>
        </p:nvSpPr>
        <p:spPr bwMode="auto">
          <a:xfrm>
            <a:off x="-14288" y="6092825"/>
            <a:ext cx="25701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a:t>Credit: Convergence Training</a:t>
            </a:r>
          </a:p>
        </p:txBody>
      </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4"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5. Bleaching sequences </a:t>
            </a:r>
          </a:p>
        </p:txBody>
      </p:sp>
      <p:pic>
        <p:nvPicPr>
          <p:cNvPr id="35635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36525" y="1044575"/>
            <a:ext cx="4356100" cy="324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6356" name="Picture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681538" y="1044575"/>
            <a:ext cx="4354512" cy="324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6357" name="TextBox 8"/>
          <p:cNvSpPr txBox="1">
            <a:spLocks noChangeArrowheads="1"/>
          </p:cNvSpPr>
          <p:nvPr/>
        </p:nvSpPr>
        <p:spPr bwMode="auto">
          <a:xfrm>
            <a:off x="165100" y="4292600"/>
            <a:ext cx="4344988"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800"/>
              <a:t>The goal of bleaching is different for mechanical and chemical pulps. Mechanical pulps still contain most of the lignin from the wood, and so these pulps are bleached with chemicals like hydrogen peroxide that alter the lignin to make it less dark. This lightens and brightens the pulp. </a:t>
            </a:r>
          </a:p>
        </p:txBody>
      </p:sp>
      <p:sp>
        <p:nvSpPr>
          <p:cNvPr id="356358" name="TextBox 9"/>
          <p:cNvSpPr txBox="1">
            <a:spLocks noChangeArrowheads="1"/>
          </p:cNvSpPr>
          <p:nvPr/>
        </p:nvSpPr>
        <p:spPr bwMode="auto">
          <a:xfrm>
            <a:off x="4637088" y="4292600"/>
            <a:ext cx="4344987"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2000"/>
              <a:t>Chemical pulps contain much less lignin and the goal of the bleaching chemicals is to remove the remaining lignin from, or "delignify," the pulp. </a:t>
            </a:r>
          </a:p>
        </p:txBody>
      </p:sp>
      <p:sp>
        <p:nvSpPr>
          <p:cNvPr id="356359" name="TextBox 6"/>
          <p:cNvSpPr txBox="1">
            <a:spLocks noChangeArrowheads="1"/>
          </p:cNvSpPr>
          <p:nvPr/>
        </p:nvSpPr>
        <p:spPr bwMode="auto">
          <a:xfrm>
            <a:off x="4594225" y="5894388"/>
            <a:ext cx="25701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a:t>Credit: Convergence Training</a:t>
            </a:r>
          </a:p>
        </p:txBody>
      </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02"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5. Bleaching sequences </a:t>
            </a:r>
          </a:p>
        </p:txBody>
      </p:sp>
      <p:pic>
        <p:nvPicPr>
          <p:cNvPr id="358403"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09538" y="981075"/>
            <a:ext cx="4391025" cy="3284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8404"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645025" y="981075"/>
            <a:ext cx="4391025" cy="3276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405" name="TextBox 6"/>
          <p:cNvSpPr txBox="1">
            <a:spLocks noChangeArrowheads="1"/>
          </p:cNvSpPr>
          <p:nvPr/>
        </p:nvSpPr>
        <p:spPr bwMode="auto">
          <a:xfrm>
            <a:off x="165100" y="4292600"/>
            <a:ext cx="887095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800"/>
              <a:t>The chemicals are typically applied one or two at a time, in "stages." In each stage, the pulp is mixed with the chemical or chemicals, given time to react in a tank or "tower," and then washed with water. The number and order of the stages varies, but most "bleaching sequences" contain 3 to 5 stages. </a:t>
            </a:r>
          </a:p>
        </p:txBody>
      </p:sp>
      <p:sp>
        <p:nvSpPr>
          <p:cNvPr id="358406" name="TextBox 1"/>
          <p:cNvSpPr txBox="1">
            <a:spLocks noChangeArrowheads="1"/>
          </p:cNvSpPr>
          <p:nvPr/>
        </p:nvSpPr>
        <p:spPr bwMode="auto">
          <a:xfrm>
            <a:off x="6276975" y="2616200"/>
            <a:ext cx="1246188"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b="1">
                <a:solidFill>
                  <a:schemeClr val="bg1"/>
                </a:solidFill>
              </a:rPr>
              <a:t>1) Reacting</a:t>
            </a:r>
          </a:p>
          <a:p>
            <a:pPr>
              <a:spcBef>
                <a:spcPct val="0"/>
              </a:spcBef>
              <a:buFontTx/>
              <a:buNone/>
            </a:pPr>
            <a:r>
              <a:rPr lang="en-US" altLang="en-US" sz="1800" b="1">
                <a:solidFill>
                  <a:schemeClr val="bg1"/>
                </a:solidFill>
              </a:rPr>
              <a:t>Stage</a:t>
            </a:r>
          </a:p>
        </p:txBody>
      </p:sp>
      <p:sp>
        <p:nvSpPr>
          <p:cNvPr id="358407" name="TextBox 9"/>
          <p:cNvSpPr txBox="1">
            <a:spLocks noChangeArrowheads="1"/>
          </p:cNvSpPr>
          <p:nvPr/>
        </p:nvSpPr>
        <p:spPr bwMode="auto">
          <a:xfrm>
            <a:off x="7667625" y="2063750"/>
            <a:ext cx="1246188"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b="1">
                <a:solidFill>
                  <a:schemeClr val="bg1"/>
                </a:solidFill>
              </a:rPr>
              <a:t>2) Washing</a:t>
            </a:r>
          </a:p>
          <a:p>
            <a:pPr>
              <a:spcBef>
                <a:spcPct val="0"/>
              </a:spcBef>
              <a:buFontTx/>
              <a:buNone/>
            </a:pPr>
            <a:r>
              <a:rPr lang="en-US" altLang="en-US" sz="1800" b="1">
                <a:solidFill>
                  <a:schemeClr val="bg1"/>
                </a:solidFill>
              </a:rPr>
              <a:t>Stage</a:t>
            </a:r>
          </a:p>
        </p:txBody>
      </p:sp>
      <p:sp>
        <p:nvSpPr>
          <p:cNvPr id="358408" name="TextBox 10"/>
          <p:cNvSpPr txBox="1">
            <a:spLocks noChangeArrowheads="1"/>
          </p:cNvSpPr>
          <p:nvPr/>
        </p:nvSpPr>
        <p:spPr bwMode="auto">
          <a:xfrm>
            <a:off x="1266825" y="2616200"/>
            <a:ext cx="20780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b="1">
                <a:solidFill>
                  <a:schemeClr val="bg1"/>
                </a:solidFill>
              </a:rPr>
              <a:t>3-5 Chemical Stages</a:t>
            </a:r>
          </a:p>
        </p:txBody>
      </p:sp>
      <p:sp>
        <p:nvSpPr>
          <p:cNvPr id="358409" name="TextBox 8"/>
          <p:cNvSpPr txBox="1">
            <a:spLocks noChangeArrowheads="1"/>
          </p:cNvSpPr>
          <p:nvPr/>
        </p:nvSpPr>
        <p:spPr bwMode="auto">
          <a:xfrm>
            <a:off x="-14288" y="6092825"/>
            <a:ext cx="25701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a:t>Credit: Convergence Training</a:t>
            </a:r>
          </a:p>
        </p:txBody>
      </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0450"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5. Bleaching sequences </a:t>
            </a:r>
          </a:p>
        </p:txBody>
      </p:sp>
      <p:pic>
        <p:nvPicPr>
          <p:cNvPr id="360451" name="Picture 4" descr="pulp unbleached to bleached"/>
          <p:cNvPicPr>
            <a:picLocks noGrp="1" noChangeAspect="1" noChangeArrowheads="1"/>
          </p:cNvPicPr>
          <p:nvPr>
            <p:ph idx="1"/>
          </p:nvPr>
        </p:nvPicPr>
        <p:blipFill>
          <a:blip r:embed="rId3">
            <a:extLst>
              <a:ext uri="{28A0092B-C50C-407E-A947-70E740481C1C}">
                <a14:useLocalDpi xmlns:a14="http://schemas.microsoft.com/office/drawing/2010/main" val="0"/>
              </a:ext>
            </a:extLst>
          </a:blip>
          <a:srcRect/>
          <a:stretch>
            <a:fillRect/>
          </a:stretch>
        </p:blipFill>
        <p:spPr>
          <a:xfrm>
            <a:off x="685800" y="847725"/>
            <a:ext cx="7772400" cy="5167313"/>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2498"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5. Bleaching sequences </a:t>
            </a:r>
          </a:p>
        </p:txBody>
      </p:sp>
      <p:pic>
        <p:nvPicPr>
          <p:cNvPr id="362499"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82563" y="1635125"/>
            <a:ext cx="4406900" cy="3783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500" name="TextBox 7"/>
          <p:cNvSpPr txBox="1">
            <a:spLocks noChangeArrowheads="1"/>
          </p:cNvSpPr>
          <p:nvPr/>
        </p:nvSpPr>
        <p:spPr bwMode="auto">
          <a:xfrm>
            <a:off x="457200" y="895350"/>
            <a:ext cx="2033588" cy="4603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t>Delignification</a:t>
            </a:r>
          </a:p>
        </p:txBody>
      </p:sp>
      <p:sp>
        <p:nvSpPr>
          <p:cNvPr id="362501" name="TextBox 6"/>
          <p:cNvSpPr txBox="1">
            <a:spLocks noChangeArrowheads="1"/>
          </p:cNvSpPr>
          <p:nvPr/>
        </p:nvSpPr>
        <p:spPr bwMode="auto">
          <a:xfrm>
            <a:off x="5245100" y="1471613"/>
            <a:ext cx="3790950" cy="1477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800" b="1"/>
              <a:t>Oxygen</a:t>
            </a:r>
            <a:r>
              <a:rPr lang="en-US" altLang="en-US" sz="1800"/>
              <a:t> is use at this stage to break the bond between Lignin and Fiber/Pulp after cooking stage. This effect the pulp color to be come light brown.</a:t>
            </a:r>
          </a:p>
        </p:txBody>
      </p:sp>
      <p:pic>
        <p:nvPicPr>
          <p:cNvPr id="362502" name="Picture 10"/>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271963" y="3341688"/>
            <a:ext cx="4872037" cy="2355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2"/>
          <p:cNvSpPr>
            <a:spLocks noGrp="1" noChangeArrowheads="1"/>
          </p:cNvSpPr>
          <p:nvPr>
            <p:ph type="ctrTitle"/>
          </p:nvPr>
        </p:nvSpPr>
        <p:spPr/>
        <p:txBody>
          <a:bodyPr/>
          <a:lstStyle/>
          <a:p>
            <a:pPr>
              <a:defRPr/>
            </a:pPr>
            <a:r>
              <a:rPr lang="en-US" altLang="en-US" b="1" dirty="0">
                <a:solidFill>
                  <a:srgbClr val="0033CC"/>
                </a:solidFill>
                <a:effectLst>
                  <a:outerShdw blurRad="38100" dist="38100" dir="2700000" algn="tl">
                    <a:srgbClr val="C0C0C0"/>
                  </a:outerShdw>
                </a:effectLst>
              </a:rPr>
              <a:t>Oxygen Delignification</a:t>
            </a:r>
            <a:endParaRPr lang="th-TH" altLang="en-US" b="1" dirty="0">
              <a:solidFill>
                <a:srgbClr val="0033CC"/>
              </a:solidFill>
              <a:effectLst>
                <a:outerShdw blurRad="38100" dist="38100" dir="2700000" algn="tl">
                  <a:srgbClr val="C0C0C0"/>
                </a:outerShdw>
              </a:effectLst>
            </a:endParaRPr>
          </a:p>
        </p:txBody>
      </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570" name="Text Box 4"/>
          <p:cNvSpPr txBox="1">
            <a:spLocks noChangeArrowheads="1"/>
          </p:cNvSpPr>
          <p:nvPr/>
        </p:nvSpPr>
        <p:spPr bwMode="auto">
          <a:xfrm>
            <a:off x="468313" y="419100"/>
            <a:ext cx="5372100"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Oxygen Delignification Outline</a:t>
            </a:r>
            <a:endParaRPr lang="th-TH" altLang="en-US" b="1"/>
          </a:p>
        </p:txBody>
      </p:sp>
      <p:sp>
        <p:nvSpPr>
          <p:cNvPr id="365571" name="Text Box 5"/>
          <p:cNvSpPr txBox="1">
            <a:spLocks noChangeArrowheads="1"/>
          </p:cNvSpPr>
          <p:nvPr/>
        </p:nvSpPr>
        <p:spPr bwMode="auto">
          <a:xfrm>
            <a:off x="395288" y="1355725"/>
            <a:ext cx="6426200" cy="3743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Char char="•"/>
            </a:pPr>
            <a:r>
              <a:rPr lang="en-US" altLang="en-US" sz="2400"/>
              <a:t> Objective of Oxygen Delignification &amp; Benefit</a:t>
            </a:r>
          </a:p>
          <a:p>
            <a:pPr>
              <a:spcBef>
                <a:spcPct val="0"/>
              </a:spcBef>
              <a:buFontTx/>
              <a:buNone/>
            </a:pPr>
            <a:endParaRPr lang="en-US" altLang="en-US" sz="2400"/>
          </a:p>
          <a:p>
            <a:pPr>
              <a:spcBef>
                <a:spcPct val="0"/>
              </a:spcBef>
              <a:buFontTx/>
              <a:buChar char="•"/>
            </a:pPr>
            <a:r>
              <a:rPr lang="en-US" altLang="en-US" sz="2400"/>
              <a:t> Oxygen Delignification Process</a:t>
            </a:r>
          </a:p>
          <a:p>
            <a:pPr>
              <a:spcBef>
                <a:spcPct val="0"/>
              </a:spcBef>
              <a:buFontTx/>
              <a:buNone/>
            </a:pPr>
            <a:endParaRPr lang="en-US" altLang="en-US" sz="2400"/>
          </a:p>
          <a:p>
            <a:pPr>
              <a:spcBef>
                <a:spcPct val="0"/>
              </a:spcBef>
              <a:buFontTx/>
              <a:buChar char="•"/>
            </a:pPr>
            <a:r>
              <a:rPr lang="en-US" altLang="en-US" sz="2400"/>
              <a:t> Double Stage Delignification</a:t>
            </a:r>
          </a:p>
          <a:p>
            <a:pPr>
              <a:spcBef>
                <a:spcPct val="0"/>
              </a:spcBef>
              <a:buFontTx/>
              <a:buChar char="•"/>
            </a:pPr>
            <a:endParaRPr lang="en-US" altLang="en-US" sz="2400"/>
          </a:p>
          <a:p>
            <a:pPr>
              <a:spcBef>
                <a:spcPct val="0"/>
              </a:spcBef>
              <a:buFontTx/>
              <a:buChar char="•"/>
            </a:pPr>
            <a:r>
              <a:rPr lang="en-US" altLang="en-US" sz="2400"/>
              <a:t> Operation and Control</a:t>
            </a:r>
          </a:p>
          <a:p>
            <a:pPr>
              <a:spcBef>
                <a:spcPct val="0"/>
              </a:spcBef>
              <a:buFontTx/>
              <a:buNone/>
            </a:pPr>
            <a:endParaRPr lang="en-US" altLang="en-US" sz="2400"/>
          </a:p>
          <a:p>
            <a:pPr>
              <a:spcBef>
                <a:spcPct val="0"/>
              </a:spcBef>
              <a:buFontTx/>
              <a:buChar char="•"/>
            </a:pPr>
            <a:endParaRPr lang="th-TH" altLang="en-US" sz="2400"/>
          </a:p>
          <a:p>
            <a:pPr>
              <a:spcBef>
                <a:spcPct val="0"/>
              </a:spcBef>
              <a:buFontTx/>
              <a:buChar char="-"/>
            </a:pPr>
            <a:endParaRPr lang="th-TH" altLang="en-US" sz="2400"/>
          </a:p>
        </p:txBody>
      </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6594" name="Text Box 2"/>
          <p:cNvSpPr txBox="1">
            <a:spLocks noChangeArrowheads="1"/>
          </p:cNvSpPr>
          <p:nvPr/>
        </p:nvSpPr>
        <p:spPr bwMode="auto">
          <a:xfrm>
            <a:off x="468313" y="477838"/>
            <a:ext cx="5372100"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Oxygen Delignification Outline</a:t>
            </a:r>
            <a:endParaRPr lang="th-TH" altLang="en-US" b="1"/>
          </a:p>
        </p:txBody>
      </p:sp>
      <p:sp>
        <p:nvSpPr>
          <p:cNvPr id="366595" name="Text Box 3"/>
          <p:cNvSpPr txBox="1">
            <a:spLocks noChangeArrowheads="1"/>
          </p:cNvSpPr>
          <p:nvPr/>
        </p:nvSpPr>
        <p:spPr bwMode="auto">
          <a:xfrm>
            <a:off x="395288" y="1414463"/>
            <a:ext cx="6426200" cy="3743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Char char="•"/>
            </a:pPr>
            <a:r>
              <a:rPr lang="en-US" altLang="en-US" sz="2400"/>
              <a:t> Objective of Oxygen Delignification &amp; Benefit</a:t>
            </a:r>
          </a:p>
          <a:p>
            <a:pPr>
              <a:spcBef>
                <a:spcPct val="0"/>
              </a:spcBef>
              <a:buFontTx/>
              <a:buNone/>
            </a:pPr>
            <a:endParaRPr lang="en-US" altLang="en-US" sz="2400"/>
          </a:p>
          <a:p>
            <a:pPr>
              <a:spcBef>
                <a:spcPct val="0"/>
              </a:spcBef>
              <a:buFontTx/>
              <a:buChar char="•"/>
            </a:pPr>
            <a:r>
              <a:rPr lang="en-US" altLang="en-US" sz="2400"/>
              <a:t> </a:t>
            </a:r>
            <a:r>
              <a:rPr lang="en-US" altLang="en-US" sz="2400">
                <a:solidFill>
                  <a:srgbClr val="B2B2B2"/>
                </a:solidFill>
              </a:rPr>
              <a:t>Oxygen Delignification Process</a:t>
            </a:r>
          </a:p>
          <a:p>
            <a:pPr>
              <a:spcBef>
                <a:spcPct val="0"/>
              </a:spcBef>
              <a:buFontTx/>
              <a:buNone/>
            </a:pPr>
            <a:endParaRPr lang="en-US" altLang="en-US" sz="2400">
              <a:solidFill>
                <a:srgbClr val="B2B2B2"/>
              </a:solidFill>
            </a:endParaRPr>
          </a:p>
          <a:p>
            <a:pPr>
              <a:spcBef>
                <a:spcPct val="0"/>
              </a:spcBef>
              <a:buFontTx/>
              <a:buChar char="•"/>
            </a:pPr>
            <a:r>
              <a:rPr lang="en-US" altLang="en-US" sz="2400">
                <a:solidFill>
                  <a:srgbClr val="B2B2B2"/>
                </a:solidFill>
              </a:rPr>
              <a:t> Double Stage Delignification</a:t>
            </a:r>
          </a:p>
          <a:p>
            <a:pPr>
              <a:spcBef>
                <a:spcPct val="0"/>
              </a:spcBef>
              <a:buFontTx/>
              <a:buChar char="•"/>
            </a:pPr>
            <a:endParaRPr lang="en-US" altLang="en-US" sz="2400">
              <a:solidFill>
                <a:srgbClr val="B2B2B2"/>
              </a:solidFill>
            </a:endParaRPr>
          </a:p>
          <a:p>
            <a:pPr>
              <a:spcBef>
                <a:spcPct val="0"/>
              </a:spcBef>
              <a:buFontTx/>
              <a:buChar char="•"/>
            </a:pPr>
            <a:r>
              <a:rPr lang="en-US" altLang="en-US" sz="2400">
                <a:solidFill>
                  <a:srgbClr val="B2B2B2"/>
                </a:solidFill>
              </a:rPr>
              <a:t> Operation and Control</a:t>
            </a:r>
          </a:p>
          <a:p>
            <a:pPr>
              <a:spcBef>
                <a:spcPct val="0"/>
              </a:spcBef>
              <a:buFontTx/>
              <a:buNone/>
            </a:pPr>
            <a:endParaRPr lang="en-US" altLang="en-US" sz="2400">
              <a:solidFill>
                <a:srgbClr val="B2B2B2"/>
              </a:solidFill>
            </a:endParaRPr>
          </a:p>
          <a:p>
            <a:pPr>
              <a:spcBef>
                <a:spcPct val="0"/>
              </a:spcBef>
              <a:buFontTx/>
              <a:buChar char="•"/>
            </a:pPr>
            <a:endParaRPr lang="th-TH" altLang="en-US" sz="2400"/>
          </a:p>
          <a:p>
            <a:pPr>
              <a:spcBef>
                <a:spcPct val="0"/>
              </a:spcBef>
              <a:buFontTx/>
              <a:buChar char="-"/>
            </a:pPr>
            <a:endParaRPr lang="th-TH" altLang="en-US" sz="2400"/>
          </a:p>
        </p:txBody>
      </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18" name="Text Box 4"/>
          <p:cNvSpPr txBox="1">
            <a:spLocks noChangeArrowheads="1"/>
          </p:cNvSpPr>
          <p:nvPr/>
        </p:nvSpPr>
        <p:spPr bwMode="auto">
          <a:xfrm>
            <a:off x="395288" y="1325563"/>
            <a:ext cx="4986337" cy="410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Char char="•"/>
            </a:pPr>
            <a:r>
              <a:rPr lang="en-US" altLang="en-US" sz="2400"/>
              <a:t> Process use to continue the </a:t>
            </a:r>
          </a:p>
          <a:p>
            <a:pPr>
              <a:spcBef>
                <a:spcPct val="0"/>
              </a:spcBef>
              <a:buFontTx/>
              <a:buNone/>
            </a:pPr>
            <a:r>
              <a:rPr lang="en-US" altLang="en-US" sz="2400"/>
              <a:t>   delignification of the Pulp</a:t>
            </a:r>
          </a:p>
          <a:p>
            <a:pPr>
              <a:spcBef>
                <a:spcPct val="0"/>
              </a:spcBef>
              <a:buFontTx/>
              <a:buNone/>
            </a:pPr>
            <a:r>
              <a:rPr lang="en-US" altLang="en-US" sz="2400"/>
              <a:t>   (Removal Lignin)</a:t>
            </a:r>
          </a:p>
          <a:p>
            <a:pPr>
              <a:spcBef>
                <a:spcPct val="0"/>
              </a:spcBef>
              <a:buFontTx/>
              <a:buNone/>
            </a:pPr>
            <a:endParaRPr lang="en-US" altLang="en-US" sz="2400"/>
          </a:p>
          <a:p>
            <a:pPr>
              <a:spcBef>
                <a:spcPct val="0"/>
              </a:spcBef>
              <a:buFontTx/>
              <a:buChar char="•"/>
            </a:pPr>
            <a:r>
              <a:rPr lang="en-US" altLang="en-US" sz="2400"/>
              <a:t> Maximum Kappa reduction and</a:t>
            </a:r>
          </a:p>
          <a:p>
            <a:pPr>
              <a:spcBef>
                <a:spcPct val="0"/>
              </a:spcBef>
              <a:buFontTx/>
              <a:buNone/>
            </a:pPr>
            <a:r>
              <a:rPr lang="en-US" altLang="en-US" sz="2400"/>
              <a:t>  good pulp Bleachability </a:t>
            </a:r>
          </a:p>
          <a:p>
            <a:pPr>
              <a:spcBef>
                <a:spcPct val="0"/>
              </a:spcBef>
              <a:buFontTx/>
              <a:buNone/>
            </a:pPr>
            <a:endParaRPr lang="en-US" altLang="en-US" sz="2400"/>
          </a:p>
          <a:p>
            <a:pPr>
              <a:spcBef>
                <a:spcPct val="0"/>
              </a:spcBef>
              <a:buFontTx/>
              <a:buChar char="•"/>
            </a:pPr>
            <a:r>
              <a:rPr lang="en-US" altLang="en-US" sz="2400"/>
              <a:t> More selective than cooking stage</a:t>
            </a:r>
          </a:p>
          <a:p>
            <a:pPr>
              <a:spcBef>
                <a:spcPct val="0"/>
              </a:spcBef>
              <a:buFontTx/>
              <a:buChar char="•"/>
            </a:pPr>
            <a:endParaRPr lang="en-US" altLang="en-US" sz="2400"/>
          </a:p>
          <a:p>
            <a:pPr>
              <a:spcBef>
                <a:spcPct val="0"/>
              </a:spcBef>
              <a:buFontTx/>
              <a:buChar char="•"/>
            </a:pPr>
            <a:r>
              <a:rPr lang="en-US" altLang="en-US" sz="2400"/>
              <a:t> Less Cellulose degradation</a:t>
            </a:r>
            <a:endParaRPr lang="th-TH" altLang="en-US" sz="2400"/>
          </a:p>
          <a:p>
            <a:pPr>
              <a:spcBef>
                <a:spcPct val="0"/>
              </a:spcBef>
              <a:buFontTx/>
              <a:buChar char="-"/>
            </a:pPr>
            <a:endParaRPr lang="th-TH" altLang="en-US" sz="2400"/>
          </a:p>
        </p:txBody>
      </p:sp>
      <p:pic>
        <p:nvPicPr>
          <p:cNvPr id="367619"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34025" y="1397000"/>
            <a:ext cx="3233738" cy="4105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620" name="Text Box 8"/>
          <p:cNvSpPr txBox="1">
            <a:spLocks noChangeArrowheads="1"/>
          </p:cNvSpPr>
          <p:nvPr/>
        </p:nvSpPr>
        <p:spPr bwMode="auto">
          <a:xfrm>
            <a:off x="468313" y="388938"/>
            <a:ext cx="5584825"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What is Oxygen Delignification?</a:t>
            </a:r>
            <a:endParaRPr lang="th-TH" altLang="en-US" b="1"/>
          </a:p>
        </p:txBody>
      </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42" name="Text Box 3"/>
          <p:cNvSpPr txBox="1">
            <a:spLocks noChangeArrowheads="1"/>
          </p:cNvSpPr>
          <p:nvPr/>
        </p:nvSpPr>
        <p:spPr bwMode="auto">
          <a:xfrm>
            <a:off x="468313" y="536575"/>
            <a:ext cx="5073650"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Why Oxygen Delignification?</a:t>
            </a:r>
            <a:endParaRPr lang="th-TH" altLang="en-US" b="1"/>
          </a:p>
        </p:txBody>
      </p:sp>
      <p:pic>
        <p:nvPicPr>
          <p:cNvPr id="368643" name="Picture 2" descr="jn28-01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60000">
            <a:off x="107950" y="1693863"/>
            <a:ext cx="4568825" cy="3767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644" name="Picture 4" descr="KE000097A"/>
          <p:cNvPicPr>
            <a:picLocks noChangeAspect="1" noChangeArrowheads="1"/>
          </p:cNvPicPr>
          <p:nvPr/>
        </p:nvPicPr>
        <p:blipFill>
          <a:blip r:embed="rId3">
            <a:extLst>
              <a:ext uri="{28A0092B-C50C-407E-A947-70E740481C1C}">
                <a14:useLocalDpi xmlns:a14="http://schemas.microsoft.com/office/drawing/2010/main" val="0"/>
              </a:ext>
            </a:extLst>
          </a:blip>
          <a:srcRect l="6665" t="7799" r="8240" b="7271"/>
          <a:stretch>
            <a:fillRect/>
          </a:stretch>
        </p:blipFill>
        <p:spPr bwMode="auto">
          <a:xfrm>
            <a:off x="4692650" y="2133600"/>
            <a:ext cx="4271963" cy="307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666" name="Text Box 3"/>
          <p:cNvSpPr txBox="1">
            <a:spLocks noChangeArrowheads="1"/>
          </p:cNvSpPr>
          <p:nvPr/>
        </p:nvSpPr>
        <p:spPr bwMode="auto">
          <a:xfrm>
            <a:off x="468313" y="522288"/>
            <a:ext cx="5946775"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Benefits of Oxygen Delignification</a:t>
            </a:r>
            <a:endParaRPr lang="th-TH" altLang="en-US" b="1"/>
          </a:p>
        </p:txBody>
      </p:sp>
      <p:pic>
        <p:nvPicPr>
          <p:cNvPr id="369667"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56325" y="1674813"/>
            <a:ext cx="2844800" cy="3744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9668" name="Text Box 5"/>
          <p:cNvSpPr txBox="1">
            <a:spLocks noChangeArrowheads="1"/>
          </p:cNvSpPr>
          <p:nvPr/>
        </p:nvSpPr>
        <p:spPr bwMode="auto">
          <a:xfrm>
            <a:off x="539750" y="1530350"/>
            <a:ext cx="5510213" cy="337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Char char="•"/>
            </a:pPr>
            <a:r>
              <a:rPr lang="en-US" altLang="en-US" sz="2400"/>
              <a:t> </a:t>
            </a:r>
            <a:r>
              <a:rPr lang="en-US" altLang="en-US" sz="2400" b="1"/>
              <a:t>Economics</a:t>
            </a:r>
            <a:r>
              <a:rPr lang="en-US" altLang="en-US" sz="2400"/>
              <a:t> – Bleaching Chemical</a:t>
            </a:r>
          </a:p>
          <a:p>
            <a:pPr>
              <a:spcBef>
                <a:spcPct val="0"/>
              </a:spcBef>
              <a:buFontTx/>
              <a:buNone/>
            </a:pPr>
            <a:r>
              <a:rPr lang="en-US" altLang="en-US" sz="2400"/>
              <a:t>  Cost saving</a:t>
            </a:r>
          </a:p>
          <a:p>
            <a:pPr>
              <a:spcBef>
                <a:spcPct val="0"/>
              </a:spcBef>
              <a:buFontTx/>
              <a:buNone/>
            </a:pPr>
            <a:endParaRPr lang="en-US" altLang="en-US" sz="2400"/>
          </a:p>
          <a:p>
            <a:pPr>
              <a:spcBef>
                <a:spcPct val="0"/>
              </a:spcBef>
              <a:buFontTx/>
              <a:buChar char="•"/>
            </a:pPr>
            <a:r>
              <a:rPr lang="en-US" altLang="en-US" sz="2400"/>
              <a:t> </a:t>
            </a:r>
            <a:r>
              <a:rPr lang="en-US" altLang="en-US" sz="2400" b="1"/>
              <a:t>Environmental</a:t>
            </a:r>
            <a:r>
              <a:rPr lang="en-US" altLang="en-US" sz="2400"/>
              <a:t> Benefits</a:t>
            </a:r>
          </a:p>
          <a:p>
            <a:pPr>
              <a:spcBef>
                <a:spcPct val="0"/>
              </a:spcBef>
              <a:buFontTx/>
              <a:buNone/>
            </a:pPr>
            <a:endParaRPr lang="en-US" altLang="en-US" sz="2400"/>
          </a:p>
          <a:p>
            <a:pPr>
              <a:spcBef>
                <a:spcPct val="0"/>
              </a:spcBef>
              <a:buFontTx/>
              <a:buChar char="•"/>
            </a:pPr>
            <a:r>
              <a:rPr lang="en-US" altLang="en-US" sz="2400"/>
              <a:t> </a:t>
            </a:r>
            <a:r>
              <a:rPr lang="en-US" altLang="en-US" sz="2400" b="1"/>
              <a:t>Energy Recovery</a:t>
            </a:r>
            <a:r>
              <a:rPr lang="en-US" altLang="en-US" sz="2400"/>
              <a:t> – Recovery of heat</a:t>
            </a:r>
          </a:p>
          <a:p>
            <a:pPr>
              <a:spcBef>
                <a:spcPct val="0"/>
              </a:spcBef>
              <a:buFontTx/>
              <a:buNone/>
            </a:pPr>
            <a:r>
              <a:rPr lang="en-US" altLang="en-US" sz="2400"/>
              <a:t>  by burning lignin removed from the </a:t>
            </a:r>
          </a:p>
          <a:p>
            <a:pPr>
              <a:spcBef>
                <a:spcPct val="0"/>
              </a:spcBef>
              <a:buFontTx/>
              <a:buNone/>
            </a:pPr>
            <a:r>
              <a:rPr lang="en-US" altLang="en-US" sz="2400"/>
              <a:t>  pulp</a:t>
            </a:r>
            <a:endParaRPr lang="th-TH" altLang="en-US" sz="2400"/>
          </a:p>
          <a:p>
            <a:pPr>
              <a:spcBef>
                <a:spcPct val="0"/>
              </a:spcBef>
              <a:buFontTx/>
              <a:buChar char="-"/>
            </a:pPr>
            <a:endParaRPr lang="th-TH" altLang="en-US" sz="2400"/>
          </a:p>
        </p:txBody>
      </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690" name="Text Box 4"/>
          <p:cNvSpPr txBox="1">
            <a:spLocks noChangeArrowheads="1"/>
          </p:cNvSpPr>
          <p:nvPr/>
        </p:nvSpPr>
        <p:spPr bwMode="auto">
          <a:xfrm>
            <a:off x="468313" y="447675"/>
            <a:ext cx="5500687"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Bleaching Chemical Cost Saving</a:t>
            </a:r>
            <a:endParaRPr lang="th-TH" altLang="en-US" b="1"/>
          </a:p>
        </p:txBody>
      </p:sp>
      <p:sp>
        <p:nvSpPr>
          <p:cNvPr id="370691" name="Text Box 5"/>
          <p:cNvSpPr txBox="1">
            <a:spLocks noChangeArrowheads="1"/>
          </p:cNvSpPr>
          <p:nvPr/>
        </p:nvSpPr>
        <p:spPr bwMode="auto">
          <a:xfrm>
            <a:off x="611188" y="879475"/>
            <a:ext cx="5913437" cy="2647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2400" b="1">
              <a:solidFill>
                <a:schemeClr val="tx2"/>
              </a:solidFill>
              <a:cs typeface="Arial" panose="020B0604020202020204" pitchFamily="34" charset="0"/>
            </a:endParaRPr>
          </a:p>
          <a:p>
            <a:pPr>
              <a:spcBef>
                <a:spcPct val="0"/>
              </a:spcBef>
              <a:buSzPct val="150000"/>
              <a:buFontTx/>
              <a:buChar char="•"/>
            </a:pPr>
            <a:r>
              <a:rPr lang="en-US" altLang="en-US" sz="2400"/>
              <a:t>   Due to reductions in the need of </a:t>
            </a:r>
          </a:p>
          <a:p>
            <a:pPr>
              <a:spcBef>
                <a:spcPct val="0"/>
              </a:spcBef>
              <a:buSzPct val="150000"/>
              <a:buFontTx/>
              <a:buNone/>
            </a:pPr>
            <a:r>
              <a:rPr lang="en-US" altLang="en-US" sz="2400"/>
              <a:t>     Chlorine, caustic and chlorine dioxide</a:t>
            </a:r>
          </a:p>
          <a:p>
            <a:pPr>
              <a:spcBef>
                <a:spcPct val="0"/>
              </a:spcBef>
              <a:buSzPct val="150000"/>
              <a:buFontTx/>
              <a:buNone/>
            </a:pPr>
            <a:r>
              <a:rPr lang="en-US" altLang="en-US" sz="2400"/>
              <a:t>     (Less bleach plant incoming kappa no.)</a:t>
            </a:r>
          </a:p>
          <a:p>
            <a:pPr>
              <a:spcBef>
                <a:spcPct val="0"/>
              </a:spcBef>
              <a:buSzPct val="150000"/>
              <a:buFontTx/>
              <a:buChar char="•"/>
            </a:pPr>
            <a:r>
              <a:rPr lang="en-US" altLang="en-US" sz="2400"/>
              <a:t>   Oxygen cost  in O2 delignification is</a:t>
            </a:r>
          </a:p>
          <a:p>
            <a:pPr>
              <a:spcBef>
                <a:spcPct val="0"/>
              </a:spcBef>
              <a:buSzPct val="150000"/>
              <a:buFontTx/>
              <a:buNone/>
            </a:pPr>
            <a:r>
              <a:rPr lang="en-US" altLang="en-US" sz="2400"/>
              <a:t>     Cheaper material</a:t>
            </a:r>
          </a:p>
          <a:p>
            <a:pPr>
              <a:spcBef>
                <a:spcPct val="0"/>
              </a:spcBef>
              <a:buSzPct val="150000"/>
              <a:buFontTx/>
              <a:buNone/>
            </a:pPr>
            <a:endParaRPr lang="th-TH" altLang="en-US" sz="2400"/>
          </a:p>
        </p:txBody>
      </p:sp>
      <p:pic>
        <p:nvPicPr>
          <p:cNvPr id="370692" name="Picture 6" descr="Valdivia_fiberlin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32588" y="1744663"/>
            <a:ext cx="2173287" cy="2084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0693" name="Picture 7" descr="Cooking_Stend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76600" y="3040063"/>
            <a:ext cx="3024188" cy="273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4" name="Text Box 2"/>
          <p:cNvSpPr txBox="1">
            <a:spLocks noChangeArrowheads="1"/>
          </p:cNvSpPr>
          <p:nvPr/>
        </p:nvSpPr>
        <p:spPr bwMode="auto">
          <a:xfrm>
            <a:off x="611188" y="835025"/>
            <a:ext cx="6929437"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2400" b="1">
              <a:solidFill>
                <a:schemeClr val="tx2"/>
              </a:solidFill>
              <a:cs typeface="Arial" panose="020B0604020202020204" pitchFamily="34" charset="0"/>
            </a:endParaRPr>
          </a:p>
          <a:p>
            <a:pPr>
              <a:spcBef>
                <a:spcPct val="0"/>
              </a:spcBef>
              <a:buSzPct val="155000"/>
              <a:buFontTx/>
              <a:buChar char="•"/>
            </a:pPr>
            <a:r>
              <a:rPr lang="en-US" altLang="en-US" sz="2400"/>
              <a:t>   Reduction in bleach plant effluent BOD,</a:t>
            </a:r>
          </a:p>
          <a:p>
            <a:pPr>
              <a:spcBef>
                <a:spcPct val="0"/>
              </a:spcBef>
              <a:buSzPct val="155000"/>
              <a:buFontTx/>
              <a:buNone/>
            </a:pPr>
            <a:r>
              <a:rPr lang="en-US" altLang="en-US" sz="2400"/>
              <a:t>     Color and Organic Chlorine Compounds</a:t>
            </a:r>
          </a:p>
          <a:p>
            <a:pPr>
              <a:spcBef>
                <a:spcPct val="0"/>
              </a:spcBef>
              <a:buSzPct val="155000"/>
              <a:buFontTx/>
              <a:buChar char="•"/>
            </a:pPr>
            <a:endParaRPr lang="en-US" altLang="en-US" sz="2400"/>
          </a:p>
          <a:p>
            <a:pPr>
              <a:spcBef>
                <a:spcPct val="0"/>
              </a:spcBef>
              <a:buClr>
                <a:schemeClr val="tx1"/>
              </a:buClr>
              <a:buSzPct val="155000"/>
              <a:buFontTx/>
              <a:buChar char="•"/>
            </a:pPr>
            <a:r>
              <a:rPr lang="en-US" altLang="en-US" sz="2400"/>
              <a:t>   Dissolved material (no Chlorine Contaminated)</a:t>
            </a:r>
          </a:p>
          <a:p>
            <a:pPr>
              <a:spcBef>
                <a:spcPct val="0"/>
              </a:spcBef>
              <a:buSzPct val="155000"/>
              <a:buFontTx/>
              <a:buNone/>
            </a:pPr>
            <a:r>
              <a:rPr lang="en-US" altLang="en-US" sz="2400"/>
              <a:t>     Is recycled back to Recovery Boiler.</a:t>
            </a:r>
            <a:endParaRPr lang="th-TH" altLang="en-US" sz="2400"/>
          </a:p>
        </p:txBody>
      </p:sp>
      <p:sp>
        <p:nvSpPr>
          <p:cNvPr id="371715" name="Text Box 3"/>
          <p:cNvSpPr txBox="1">
            <a:spLocks noChangeArrowheads="1"/>
          </p:cNvSpPr>
          <p:nvPr/>
        </p:nvSpPr>
        <p:spPr bwMode="auto">
          <a:xfrm>
            <a:off x="468313" y="403225"/>
            <a:ext cx="7299325" cy="585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O2 Delignification Environmental Benefits</a:t>
            </a:r>
            <a:endParaRPr lang="th-TH" altLang="en-US" b="1"/>
          </a:p>
        </p:txBody>
      </p:sp>
      <p:pic>
        <p:nvPicPr>
          <p:cNvPr id="3717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932363" y="3346450"/>
            <a:ext cx="3600450" cy="2205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7171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650" y="3355975"/>
            <a:ext cx="3455988" cy="2236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Text Box 2"/>
          <p:cNvSpPr txBox="1">
            <a:spLocks noChangeArrowheads="1"/>
          </p:cNvSpPr>
          <p:nvPr/>
        </p:nvSpPr>
        <p:spPr bwMode="auto">
          <a:xfrm>
            <a:off x="611188" y="865188"/>
            <a:ext cx="75057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2400" b="1">
              <a:solidFill>
                <a:schemeClr val="tx2"/>
              </a:solidFill>
              <a:cs typeface="Arial" panose="020B0604020202020204" pitchFamily="34" charset="0"/>
            </a:endParaRPr>
          </a:p>
          <a:p>
            <a:pPr>
              <a:spcBef>
                <a:spcPct val="0"/>
              </a:spcBef>
              <a:buSzPct val="155000"/>
              <a:buFontTx/>
              <a:buChar char="•"/>
            </a:pPr>
            <a:r>
              <a:rPr lang="en-US" altLang="en-US" sz="2400"/>
              <a:t>   Recovery organic material (lignin) from unbleached</a:t>
            </a:r>
          </a:p>
          <a:p>
            <a:pPr>
              <a:spcBef>
                <a:spcPct val="0"/>
              </a:spcBef>
              <a:buSzPct val="155000"/>
              <a:buFontTx/>
              <a:buNone/>
            </a:pPr>
            <a:r>
              <a:rPr lang="en-US" altLang="en-US" sz="2400"/>
              <a:t>     part to bunt as fuel in Recovery Boiler  </a:t>
            </a:r>
          </a:p>
        </p:txBody>
      </p:sp>
      <p:sp>
        <p:nvSpPr>
          <p:cNvPr id="372739" name="Text Box 3"/>
          <p:cNvSpPr txBox="1">
            <a:spLocks noChangeArrowheads="1"/>
          </p:cNvSpPr>
          <p:nvPr/>
        </p:nvSpPr>
        <p:spPr bwMode="auto">
          <a:xfrm>
            <a:off x="468313" y="433388"/>
            <a:ext cx="2992437"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Energy Recovery</a:t>
            </a:r>
            <a:endParaRPr lang="th-TH" altLang="en-US" b="1"/>
          </a:p>
        </p:txBody>
      </p:sp>
      <p:pic>
        <p:nvPicPr>
          <p:cNvPr id="37274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1550" y="2463800"/>
            <a:ext cx="7164388" cy="300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72741" name="AutoShape 7"/>
          <p:cNvSpPr>
            <a:spLocks noChangeArrowheads="1"/>
          </p:cNvSpPr>
          <p:nvPr/>
        </p:nvSpPr>
        <p:spPr bwMode="auto">
          <a:xfrm>
            <a:off x="3563938" y="2089150"/>
            <a:ext cx="4321175" cy="358775"/>
          </a:xfrm>
          <a:prstGeom prst="leftArrow">
            <a:avLst>
              <a:gd name="adj1" fmla="val 38463"/>
              <a:gd name="adj2" fmla="val 108231"/>
            </a:avLst>
          </a:prstGeom>
          <a:gradFill rotWithShape="1">
            <a:gsLst>
              <a:gs pos="0">
                <a:schemeClr val="tx1"/>
              </a:gs>
              <a:gs pos="100000">
                <a:srgbClr val="0099FF"/>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72742" name="Text Box 8"/>
          <p:cNvSpPr txBox="1">
            <a:spLocks noChangeArrowheads="1"/>
          </p:cNvSpPr>
          <p:nvPr/>
        </p:nvSpPr>
        <p:spPr bwMode="auto">
          <a:xfrm>
            <a:off x="8027988" y="1941513"/>
            <a:ext cx="749300"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b="1">
                <a:solidFill>
                  <a:srgbClr val="0033CC"/>
                </a:solidFill>
              </a:rPr>
              <a:t>Fresh</a:t>
            </a:r>
          </a:p>
          <a:p>
            <a:pPr>
              <a:spcBef>
                <a:spcPct val="0"/>
              </a:spcBef>
              <a:buFontTx/>
              <a:buNone/>
            </a:pPr>
            <a:r>
              <a:rPr lang="en-US" altLang="en-US" sz="1600" b="1">
                <a:solidFill>
                  <a:srgbClr val="0033CC"/>
                </a:solidFill>
              </a:rPr>
              <a:t>Water</a:t>
            </a:r>
            <a:endParaRPr lang="th-TH" altLang="en-US" sz="1600" b="1">
              <a:solidFill>
                <a:srgbClr val="0033CC"/>
              </a:solidFill>
            </a:endParaRPr>
          </a:p>
        </p:txBody>
      </p:sp>
      <p:sp>
        <p:nvSpPr>
          <p:cNvPr id="45065" name="Text Box 9"/>
          <p:cNvSpPr txBox="1">
            <a:spLocks noChangeArrowheads="1"/>
          </p:cNvSpPr>
          <p:nvPr/>
        </p:nvSpPr>
        <p:spPr bwMode="auto">
          <a:xfrm>
            <a:off x="323850" y="2092325"/>
            <a:ext cx="3160713" cy="1004888"/>
          </a:xfrm>
          <a:prstGeom prst="rect">
            <a:avLst/>
          </a:prstGeom>
          <a:solidFill>
            <a:schemeClr val="bg1">
              <a:alpha val="7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b="1">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W</a:t>
            </a:r>
            <a:r>
              <a:rPr lang="en-US" altLang="en-US" b="1">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eak </a:t>
            </a:r>
            <a:r>
              <a:rPr lang="en-US" altLang="en-US" b="1">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B</a:t>
            </a:r>
            <a:r>
              <a:rPr lang="en-US" altLang="en-US" b="1">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lack</a:t>
            </a:r>
            <a:r>
              <a:rPr lang="en-US" altLang="en-US" b="1">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 L</a:t>
            </a:r>
            <a:r>
              <a:rPr lang="en-US" altLang="en-US" b="1">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iquor</a:t>
            </a:r>
            <a:r>
              <a:rPr lang="en-US" altLang="en-US" b="1">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 (WBL) </a:t>
            </a:r>
          </a:p>
          <a:p>
            <a:pPr>
              <a:defRPr/>
            </a:pPr>
            <a:r>
              <a:rPr lang="en-US" altLang="en-US" sz="1400" b="1">
                <a:solidFill>
                  <a:srgbClr val="0000CC"/>
                </a:solidFill>
                <a:latin typeface="Microsoft Sans Serif" panose="020B0604020202020204" pitchFamily="34" charset="0"/>
                <a:cs typeface="Microsoft Sans Serif" panose="020B0604020202020204" pitchFamily="34" charset="0"/>
              </a:rPr>
              <a:t>Soluble lignin (COD, dissolved lignin)</a:t>
            </a:r>
            <a:r>
              <a:rPr lang="en-US" altLang="en-US" sz="1400" b="1">
                <a:solidFill>
                  <a:srgbClr val="000000"/>
                </a:solidFill>
                <a:latin typeface="Microsoft Sans Serif" panose="020B0604020202020204" pitchFamily="34" charset="0"/>
                <a:cs typeface="Microsoft Sans Serif" panose="020B0604020202020204" pitchFamily="34" charset="0"/>
              </a:rPr>
              <a:t> </a:t>
            </a:r>
          </a:p>
          <a:p>
            <a:pPr>
              <a:defRPr/>
            </a:pPr>
            <a:r>
              <a:rPr lang="en-US" altLang="en-US" sz="1400" b="1">
                <a:solidFill>
                  <a:srgbClr val="000000"/>
                </a:solidFill>
                <a:latin typeface="Microsoft Sans Serif" panose="020B0604020202020204" pitchFamily="34" charset="0"/>
                <a:cs typeface="Microsoft Sans Serif" panose="020B0604020202020204" pitchFamily="34" charset="0"/>
              </a:rPr>
              <a:t>from brown stock washing goes to </a:t>
            </a:r>
          </a:p>
          <a:p>
            <a:pPr>
              <a:defRPr/>
            </a:pPr>
            <a:r>
              <a:rPr lang="en-US" altLang="en-US" sz="1400" b="1">
                <a:solidFill>
                  <a:srgbClr val="000000"/>
                </a:solidFill>
                <a:latin typeface="Microsoft Sans Serif" panose="020B0604020202020204" pitchFamily="34" charset="0"/>
                <a:cs typeface="Microsoft Sans Serif" panose="020B0604020202020204" pitchFamily="34" charset="0"/>
              </a:rPr>
              <a:t>recovery boiler</a:t>
            </a:r>
            <a:endParaRPr lang="th-TH" altLang="en-US" sz="2000">
              <a:latin typeface="Times New Roman" panose="02020603050405020304" pitchFamily="18" charset="0"/>
            </a:endParaRPr>
          </a:p>
        </p:txBody>
      </p:sp>
      <p:sp>
        <p:nvSpPr>
          <p:cNvPr id="45066" name="Text Box 10"/>
          <p:cNvSpPr txBox="1">
            <a:spLocks noChangeArrowheads="1"/>
          </p:cNvSpPr>
          <p:nvPr/>
        </p:nvSpPr>
        <p:spPr bwMode="auto">
          <a:xfrm>
            <a:off x="4067175" y="5341938"/>
            <a:ext cx="4419600" cy="852487"/>
          </a:xfrm>
          <a:prstGeom prst="rect">
            <a:avLst/>
          </a:prstGeom>
          <a:solidFill>
            <a:schemeClr val="bg1">
              <a:alpha val="89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ct val="90000"/>
              </a:lnSpc>
              <a:spcBef>
                <a:spcPct val="20000"/>
              </a:spcBef>
              <a:buClr>
                <a:srgbClr val="0A036B"/>
              </a:buClr>
              <a:buSzPct val="75000"/>
              <a:buFont typeface="Wingdings" panose="05000000000000000000" pitchFamily="2" charset="2"/>
              <a:buNone/>
              <a:defRPr/>
            </a:pPr>
            <a:r>
              <a:rPr lang="en-US" altLang="en-US" sz="1600" b="1">
                <a:latin typeface="Microsoft Sans Serif" panose="020B0604020202020204" pitchFamily="34" charset="0"/>
                <a:cs typeface="Microsoft Sans Serif" panose="020B0604020202020204" pitchFamily="34" charset="0"/>
              </a:rPr>
              <a:t>Dissolved lignin and extra bleaching </a:t>
            </a:r>
          </a:p>
          <a:p>
            <a:pPr>
              <a:lnSpc>
                <a:spcPct val="90000"/>
              </a:lnSpc>
              <a:spcBef>
                <a:spcPct val="20000"/>
              </a:spcBef>
              <a:buClr>
                <a:srgbClr val="0A036B"/>
              </a:buClr>
              <a:buSzPct val="75000"/>
              <a:buFont typeface="Wingdings" panose="05000000000000000000" pitchFamily="2" charset="2"/>
              <a:buNone/>
              <a:defRPr/>
            </a:pPr>
            <a:r>
              <a:rPr lang="en-US" altLang="en-US" sz="1600" b="1">
                <a:latin typeface="Microsoft Sans Serif" panose="020B0604020202020204" pitchFamily="34" charset="0"/>
                <a:cs typeface="Microsoft Sans Serif" panose="020B0604020202020204" pitchFamily="34" charset="0"/>
              </a:rPr>
              <a:t>Chemicals from bleaching is pollution and </a:t>
            </a:r>
          </a:p>
          <a:p>
            <a:pPr>
              <a:lnSpc>
                <a:spcPct val="90000"/>
              </a:lnSpc>
              <a:spcBef>
                <a:spcPct val="20000"/>
              </a:spcBef>
              <a:buClr>
                <a:srgbClr val="0A036B"/>
              </a:buClr>
              <a:buSzPct val="75000"/>
              <a:buFont typeface="Wingdings" panose="05000000000000000000" pitchFamily="2" charset="2"/>
              <a:buNone/>
              <a:defRPr/>
            </a:pPr>
            <a:r>
              <a:rPr lang="en-US" altLang="en-US" sz="1600" b="1">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goes to effluent treatment plant. </a:t>
            </a:r>
          </a:p>
        </p:txBody>
      </p:sp>
      <p:sp>
        <p:nvSpPr>
          <p:cNvPr id="372745" name="AutoShape 11"/>
          <p:cNvSpPr>
            <a:spLocks noChangeArrowheads="1"/>
          </p:cNvSpPr>
          <p:nvPr/>
        </p:nvSpPr>
        <p:spPr bwMode="auto">
          <a:xfrm rot="10800000">
            <a:off x="1116013" y="5330825"/>
            <a:ext cx="2989262" cy="358775"/>
          </a:xfrm>
          <a:prstGeom prst="leftArrow">
            <a:avLst>
              <a:gd name="adj1" fmla="val 38463"/>
              <a:gd name="adj2" fmla="val 74871"/>
            </a:avLst>
          </a:prstGeom>
          <a:gradFill rotWithShape="1">
            <a:gsLst>
              <a:gs pos="0">
                <a:schemeClr val="accent2"/>
              </a:gs>
              <a:gs pos="100000">
                <a:srgbClr val="CCCC00"/>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5068" name="Text Box 12"/>
          <p:cNvSpPr txBox="1">
            <a:spLocks noChangeArrowheads="1"/>
          </p:cNvSpPr>
          <p:nvPr/>
        </p:nvSpPr>
        <p:spPr bwMode="auto">
          <a:xfrm rot="5400000">
            <a:off x="7681119" y="3005932"/>
            <a:ext cx="14795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b="1">
                <a:solidFill>
                  <a:srgbClr val="CC0099"/>
                </a:solidFill>
                <a:effectLst>
                  <a:outerShdw blurRad="38100" dist="38100" dir="2700000" algn="tl">
                    <a:srgbClr val="C0C0C0"/>
                  </a:outerShdw>
                </a:effectLst>
              </a:rPr>
              <a:t>Unbleached</a:t>
            </a:r>
            <a:endParaRPr lang="th-TH" altLang="en-US" b="1">
              <a:solidFill>
                <a:srgbClr val="CC0099"/>
              </a:solidFill>
              <a:effectLst>
                <a:outerShdw blurRad="38100" dist="38100" dir="2700000" algn="tl">
                  <a:srgbClr val="C0C0C0"/>
                </a:outerShdw>
              </a:effectLst>
            </a:endParaRPr>
          </a:p>
        </p:txBody>
      </p:sp>
      <p:sp>
        <p:nvSpPr>
          <p:cNvPr id="45069" name="Text Box 13"/>
          <p:cNvSpPr txBox="1">
            <a:spLocks noChangeArrowheads="1"/>
          </p:cNvSpPr>
          <p:nvPr/>
        </p:nvSpPr>
        <p:spPr bwMode="auto">
          <a:xfrm rot="5400000">
            <a:off x="7827169" y="4666457"/>
            <a:ext cx="1200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b="1">
                <a:solidFill>
                  <a:srgbClr val="996600"/>
                </a:solidFill>
                <a:effectLst>
                  <a:outerShdw blurRad="38100" dist="38100" dir="2700000" algn="tl">
                    <a:srgbClr val="C0C0C0"/>
                  </a:outerShdw>
                </a:effectLst>
              </a:rPr>
              <a:t>Bleached</a:t>
            </a:r>
            <a:endParaRPr lang="th-TH" altLang="en-US" b="1">
              <a:solidFill>
                <a:srgbClr val="996600"/>
              </a:solidFill>
              <a:effectLst>
                <a:outerShdw blurRad="38100" dist="38100" dir="2700000" algn="tl">
                  <a:srgbClr val="C0C0C0"/>
                </a:outerShdw>
              </a:effectLst>
            </a:endParaRPr>
          </a:p>
        </p:txBody>
      </p:sp>
      <p:sp>
        <p:nvSpPr>
          <p:cNvPr id="372748" name="Line 14"/>
          <p:cNvSpPr>
            <a:spLocks noChangeShapeType="1"/>
          </p:cNvSpPr>
          <p:nvPr/>
        </p:nvSpPr>
        <p:spPr bwMode="auto">
          <a:xfrm>
            <a:off x="395288" y="3962400"/>
            <a:ext cx="8569325" cy="0"/>
          </a:xfrm>
          <a:prstGeom prst="line">
            <a:avLst/>
          </a:prstGeom>
          <a:noFill/>
          <a:ln w="38100">
            <a:solidFill>
              <a:srgbClr val="0033CC"/>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5065"/>
                                        </p:tgtEl>
                                        <p:attrNameLst>
                                          <p:attrName>style.visibility</p:attrName>
                                        </p:attrNameLst>
                                      </p:cBhvr>
                                      <p:to>
                                        <p:strVal val="visible"/>
                                      </p:to>
                                    </p:set>
                                    <p:animEffect transition="in" filter="checkerboard(across)">
                                      <p:cBhvr>
                                        <p:cTn id="7" dur="1000"/>
                                        <p:tgtEl>
                                          <p:spTgt spid="4506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45066"/>
                                        </p:tgtEl>
                                        <p:attrNameLst>
                                          <p:attrName>style.visibility</p:attrName>
                                        </p:attrNameLst>
                                      </p:cBhvr>
                                      <p:to>
                                        <p:strVal val="visible"/>
                                      </p:to>
                                    </p:set>
                                    <p:animEffect transition="in" filter="checkerboard(across)">
                                      <p:cBhvr>
                                        <p:cTn id="12" dur="1000"/>
                                        <p:tgtEl>
                                          <p:spTgt spid="450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65" grpId="0" animBg="1"/>
      <p:bldP spid="45066"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3762" name="Picture 4"/>
          <p:cNvPicPr>
            <a:picLocks noGrp="1" noChangeAspect="1" noChangeArrowheads="1"/>
          </p:cNvPicPr>
          <p:nvPr>
            <p:ph type="body" idx="1"/>
          </p:nvPr>
        </p:nvPicPr>
        <p:blipFill>
          <a:blip r:embed="rId2">
            <a:extLst>
              <a:ext uri="{28A0092B-C50C-407E-A947-70E740481C1C}">
                <a14:useLocalDpi xmlns:a14="http://schemas.microsoft.com/office/drawing/2010/main" val="0"/>
              </a:ext>
            </a:extLst>
          </a:blip>
          <a:srcRect/>
          <a:stretch>
            <a:fillRect/>
          </a:stretch>
        </p:blipFill>
        <p:spPr>
          <a:xfrm>
            <a:off x="250825" y="1366838"/>
            <a:ext cx="8686800" cy="4305300"/>
          </a:xfrm>
          <a:noFill/>
        </p:spPr>
      </p:pic>
      <p:sp>
        <p:nvSpPr>
          <p:cNvPr id="373763" name="Rectangle 5"/>
          <p:cNvSpPr>
            <a:spLocks noChangeArrowheads="1"/>
          </p:cNvSpPr>
          <p:nvPr/>
        </p:nvSpPr>
        <p:spPr bwMode="auto">
          <a:xfrm>
            <a:off x="5940425" y="1509713"/>
            <a:ext cx="1800225" cy="1655762"/>
          </a:xfrm>
          <a:prstGeom prst="rect">
            <a:avLst/>
          </a:prstGeom>
          <a:noFill/>
          <a:ln w="28575">
            <a:solidFill>
              <a:srgbClr val="FF0000"/>
            </a:solidFill>
            <a:prstDash val="dash"/>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17414" name="Text Box 6"/>
          <p:cNvSpPr txBox="1">
            <a:spLocks noChangeArrowheads="1"/>
          </p:cNvSpPr>
          <p:nvPr/>
        </p:nvSpPr>
        <p:spPr bwMode="auto">
          <a:xfrm>
            <a:off x="5238750" y="1112838"/>
            <a:ext cx="29337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sz="2000" b="1">
                <a:solidFill>
                  <a:srgbClr val="FF3300"/>
                </a:solidFill>
                <a:effectLst>
                  <a:outerShdw blurRad="38100" dist="38100" dir="2700000" algn="tl">
                    <a:srgbClr val="C0C0C0"/>
                  </a:outerShdw>
                </a:effectLst>
              </a:rPr>
              <a:t>Oxygen Delignification</a:t>
            </a:r>
            <a:endParaRPr lang="th-TH" altLang="en-US" sz="2000" b="1">
              <a:solidFill>
                <a:srgbClr val="FF3300"/>
              </a:solidFill>
              <a:effectLst>
                <a:outerShdw blurRad="38100" dist="38100" dir="2700000" algn="tl">
                  <a:srgbClr val="C0C0C0"/>
                </a:outerShdw>
              </a:effectLst>
            </a:endParaRPr>
          </a:p>
        </p:txBody>
      </p:sp>
      <p:sp>
        <p:nvSpPr>
          <p:cNvPr id="373765" name="Text Box 8"/>
          <p:cNvSpPr txBox="1">
            <a:spLocks noChangeArrowheads="1"/>
          </p:cNvSpPr>
          <p:nvPr/>
        </p:nvSpPr>
        <p:spPr bwMode="auto">
          <a:xfrm>
            <a:off x="468313" y="285750"/>
            <a:ext cx="5441950"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Where Oxygen Delignification?</a:t>
            </a:r>
            <a:endParaRPr lang="th-TH" altLang="en-US" b="1"/>
          </a:p>
        </p:txBody>
      </p: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4786" name="Picture 4"/>
          <p:cNvPicPr>
            <a:picLocks noGrp="1" noChangeAspect="1" noChangeArrowheads="1"/>
          </p:cNvPicPr>
          <p:nvPr>
            <p:ph type="body" idx="1"/>
          </p:nvPr>
        </p:nvPicPr>
        <p:blipFill>
          <a:blip r:embed="rId2">
            <a:extLst>
              <a:ext uri="{28A0092B-C50C-407E-A947-70E740481C1C}">
                <a14:useLocalDpi xmlns:a14="http://schemas.microsoft.com/office/drawing/2010/main" val="0"/>
              </a:ext>
            </a:extLst>
          </a:blip>
          <a:srcRect/>
          <a:stretch>
            <a:fillRect/>
          </a:stretch>
        </p:blipFill>
        <p:spPr>
          <a:xfrm>
            <a:off x="539750" y="1181100"/>
            <a:ext cx="7991475" cy="4394200"/>
          </a:xfrm>
          <a:noFill/>
        </p:spPr>
      </p:pic>
      <p:sp>
        <p:nvSpPr>
          <p:cNvPr id="374787" name="Text Box 5"/>
          <p:cNvSpPr txBox="1">
            <a:spLocks noChangeArrowheads="1"/>
          </p:cNvSpPr>
          <p:nvPr/>
        </p:nvSpPr>
        <p:spPr bwMode="auto">
          <a:xfrm>
            <a:off x="611188" y="461963"/>
            <a:ext cx="5840412" cy="585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Growth of Oxygen Delignification</a:t>
            </a:r>
            <a:endParaRPr lang="th-TH" altLang="en-US" b="1"/>
          </a:p>
        </p:txBody>
      </p:sp>
    </p:spTree>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10" name="Text Box 2"/>
          <p:cNvSpPr txBox="1">
            <a:spLocks noChangeArrowheads="1"/>
          </p:cNvSpPr>
          <p:nvPr/>
        </p:nvSpPr>
        <p:spPr bwMode="auto">
          <a:xfrm>
            <a:off x="468313" y="388938"/>
            <a:ext cx="5372100"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Oxygen Delignification Outline</a:t>
            </a:r>
            <a:endParaRPr lang="th-TH" altLang="en-US" b="1"/>
          </a:p>
        </p:txBody>
      </p:sp>
      <p:sp>
        <p:nvSpPr>
          <p:cNvPr id="375811" name="Text Box 3"/>
          <p:cNvSpPr txBox="1">
            <a:spLocks noChangeArrowheads="1"/>
          </p:cNvSpPr>
          <p:nvPr/>
        </p:nvSpPr>
        <p:spPr bwMode="auto">
          <a:xfrm>
            <a:off x="395288" y="1325563"/>
            <a:ext cx="6426200" cy="3743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Char char="•"/>
            </a:pPr>
            <a:r>
              <a:rPr lang="en-US" altLang="en-US" sz="2400"/>
              <a:t> </a:t>
            </a:r>
            <a:r>
              <a:rPr lang="en-US" altLang="en-US" sz="2400">
                <a:solidFill>
                  <a:srgbClr val="DDDDDD"/>
                </a:solidFill>
              </a:rPr>
              <a:t>Objective of Oxygen Delignification &amp; Benefit</a:t>
            </a:r>
          </a:p>
          <a:p>
            <a:pPr>
              <a:spcBef>
                <a:spcPct val="0"/>
              </a:spcBef>
              <a:buFontTx/>
              <a:buNone/>
            </a:pPr>
            <a:endParaRPr lang="en-US" altLang="en-US" sz="2400">
              <a:solidFill>
                <a:srgbClr val="DDDDDD"/>
              </a:solidFill>
            </a:endParaRPr>
          </a:p>
          <a:p>
            <a:pPr>
              <a:spcBef>
                <a:spcPct val="0"/>
              </a:spcBef>
              <a:buFontTx/>
              <a:buChar char="•"/>
            </a:pPr>
            <a:r>
              <a:rPr lang="en-US" altLang="en-US" sz="2400"/>
              <a:t> Oxygen Delignification Process</a:t>
            </a:r>
          </a:p>
          <a:p>
            <a:pPr>
              <a:spcBef>
                <a:spcPct val="0"/>
              </a:spcBef>
              <a:buFontTx/>
              <a:buNone/>
            </a:pPr>
            <a:endParaRPr lang="en-US" altLang="en-US" sz="2400">
              <a:solidFill>
                <a:srgbClr val="DDDDDD"/>
              </a:solidFill>
            </a:endParaRPr>
          </a:p>
          <a:p>
            <a:pPr>
              <a:spcBef>
                <a:spcPct val="0"/>
              </a:spcBef>
              <a:buFontTx/>
              <a:buChar char="•"/>
            </a:pPr>
            <a:r>
              <a:rPr lang="en-US" altLang="en-US" sz="2400">
                <a:solidFill>
                  <a:srgbClr val="DDDDDD"/>
                </a:solidFill>
              </a:rPr>
              <a:t> Double Stage Delignification</a:t>
            </a:r>
          </a:p>
          <a:p>
            <a:pPr>
              <a:spcBef>
                <a:spcPct val="0"/>
              </a:spcBef>
              <a:buFontTx/>
              <a:buChar char="•"/>
            </a:pPr>
            <a:endParaRPr lang="en-US" altLang="en-US" sz="2400">
              <a:solidFill>
                <a:srgbClr val="DDDDDD"/>
              </a:solidFill>
            </a:endParaRPr>
          </a:p>
          <a:p>
            <a:pPr>
              <a:spcBef>
                <a:spcPct val="0"/>
              </a:spcBef>
              <a:buFontTx/>
              <a:buChar char="•"/>
            </a:pPr>
            <a:r>
              <a:rPr lang="en-US" altLang="en-US" sz="2400">
                <a:solidFill>
                  <a:srgbClr val="DDDDDD"/>
                </a:solidFill>
              </a:rPr>
              <a:t> Operation and Control</a:t>
            </a:r>
          </a:p>
          <a:p>
            <a:pPr>
              <a:spcBef>
                <a:spcPct val="0"/>
              </a:spcBef>
              <a:buFontTx/>
              <a:buChar char="•"/>
            </a:pPr>
            <a:endParaRPr lang="en-US" altLang="en-US" sz="2400">
              <a:solidFill>
                <a:srgbClr val="DDDDDD"/>
              </a:solidFill>
            </a:endParaRPr>
          </a:p>
          <a:p>
            <a:pPr>
              <a:spcBef>
                <a:spcPct val="0"/>
              </a:spcBef>
              <a:buFontTx/>
              <a:buChar char="•"/>
            </a:pPr>
            <a:endParaRPr lang="th-TH" altLang="en-US" sz="2400"/>
          </a:p>
          <a:p>
            <a:pPr>
              <a:spcBef>
                <a:spcPct val="0"/>
              </a:spcBef>
              <a:buFontTx/>
              <a:buChar char="-"/>
            </a:pPr>
            <a:endParaRPr lang="th-TH" altLang="en-US" sz="2400"/>
          </a:p>
        </p:txBody>
      </p:sp>
    </p:spTree>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683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481138"/>
            <a:ext cx="9144000" cy="3214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76835" name="Text Box 5"/>
          <p:cNvSpPr txBox="1">
            <a:spLocks noChangeArrowheads="1"/>
          </p:cNvSpPr>
          <p:nvPr/>
        </p:nvSpPr>
        <p:spPr bwMode="auto">
          <a:xfrm>
            <a:off x="611188" y="447675"/>
            <a:ext cx="5389562"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Oxygen Delignification Process</a:t>
            </a:r>
            <a:endParaRPr lang="th-TH" altLang="en-US" b="1"/>
          </a:p>
        </p:txBody>
      </p:sp>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785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388" y="2670175"/>
            <a:ext cx="8748712" cy="3074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77859" name="Text Box 5"/>
          <p:cNvSpPr txBox="1">
            <a:spLocks noChangeArrowheads="1"/>
          </p:cNvSpPr>
          <p:nvPr/>
        </p:nvSpPr>
        <p:spPr bwMode="auto">
          <a:xfrm>
            <a:off x="611188" y="344488"/>
            <a:ext cx="5956300"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Oxygen Delignification Equipment</a:t>
            </a:r>
            <a:endParaRPr lang="th-TH" altLang="en-US" b="1"/>
          </a:p>
        </p:txBody>
      </p:sp>
      <p:sp>
        <p:nvSpPr>
          <p:cNvPr id="377860" name="Text Box 6"/>
          <p:cNvSpPr txBox="1">
            <a:spLocks noChangeArrowheads="1"/>
          </p:cNvSpPr>
          <p:nvPr/>
        </p:nvSpPr>
        <p:spPr bwMode="auto">
          <a:xfrm>
            <a:off x="592138" y="1125538"/>
            <a:ext cx="3668712"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marL="533400" indent="-533400">
              <a:spcBef>
                <a:spcPct val="20000"/>
              </a:spcBef>
              <a:buFont typeface="Arial" panose="020B0604020202020204" pitchFamily="34" charset="0"/>
              <a:buChar char="•"/>
              <a:defRPr sz="3200">
                <a:solidFill>
                  <a:schemeClr val="tx1"/>
                </a:solidFill>
                <a:latin typeface="Calibri" panose="020F0502020204030204" pitchFamily="34" charset="0"/>
              </a:defRPr>
            </a:lvl1pPr>
            <a:lvl2pPr marL="990600" indent="-533400">
              <a:spcBef>
                <a:spcPct val="20000"/>
              </a:spcBef>
              <a:buFont typeface="Arial" panose="020B0604020202020204" pitchFamily="34" charset="0"/>
              <a:buChar char="–"/>
              <a:defRPr sz="2800">
                <a:solidFill>
                  <a:schemeClr val="tx1"/>
                </a:solidFill>
                <a:latin typeface="Calibri" panose="020F0502020204030204" pitchFamily="34" charset="0"/>
              </a:defRPr>
            </a:lvl2pPr>
            <a:lvl3pPr marL="1447800" indent="-5334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905000" indent="-5334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362200" indent="-5334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819400" indent="-5334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3276600" indent="-5334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733800" indent="-5334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4191000" indent="-5334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AutoNum type="arabicPeriod"/>
            </a:pPr>
            <a:r>
              <a:rPr lang="en-US" altLang="en-US" sz="2400">
                <a:latin typeface="Arial" panose="020B0604020202020204" pitchFamily="34" charset="0"/>
                <a:cs typeface="Angsana New" panose="02020603050405020304" pitchFamily="18" charset="-34"/>
              </a:rPr>
              <a:t>MC-Pump</a:t>
            </a:r>
          </a:p>
          <a:p>
            <a:pPr>
              <a:spcBef>
                <a:spcPct val="0"/>
              </a:spcBef>
              <a:buFontTx/>
              <a:buAutoNum type="arabicPeriod"/>
            </a:pPr>
            <a:r>
              <a:rPr lang="en-US" altLang="en-US" sz="2400">
                <a:latin typeface="Arial" panose="020B0604020202020204" pitchFamily="34" charset="0"/>
                <a:cs typeface="Angsana New" panose="02020603050405020304" pitchFamily="18" charset="-34"/>
              </a:rPr>
              <a:t>MC-Mixer</a:t>
            </a:r>
          </a:p>
          <a:p>
            <a:pPr>
              <a:spcBef>
                <a:spcPct val="0"/>
              </a:spcBef>
              <a:buFontTx/>
              <a:buAutoNum type="arabicPeriod"/>
            </a:pPr>
            <a:r>
              <a:rPr lang="en-US" altLang="en-US" sz="2400">
                <a:latin typeface="Arial" panose="020B0604020202020204" pitchFamily="34" charset="0"/>
                <a:cs typeface="Angsana New" panose="02020603050405020304" pitchFamily="18" charset="-34"/>
              </a:rPr>
              <a:t>Reactor</a:t>
            </a:r>
          </a:p>
          <a:p>
            <a:pPr>
              <a:spcBef>
                <a:spcPct val="0"/>
              </a:spcBef>
              <a:buFontTx/>
              <a:buAutoNum type="arabicPeriod"/>
            </a:pPr>
            <a:r>
              <a:rPr lang="en-US" altLang="en-US" sz="2400">
                <a:latin typeface="Arial" panose="020B0604020202020204" pitchFamily="34" charset="0"/>
                <a:cs typeface="Angsana New" panose="02020603050405020304" pitchFamily="18" charset="-34"/>
              </a:rPr>
              <a:t>Discharger/Distributor</a:t>
            </a:r>
            <a:endParaRPr lang="th-TH" altLang="en-US" sz="2400">
              <a:latin typeface="Arial" panose="020B0604020202020204" pitchFamily="34" charset="0"/>
              <a:cs typeface="Angsana New" panose="02020603050405020304" pitchFamily="18" charset="-34"/>
            </a:endParaRPr>
          </a:p>
        </p:txBody>
      </p:sp>
      <p:sp>
        <p:nvSpPr>
          <p:cNvPr id="377861" name="Text Box 7"/>
          <p:cNvSpPr txBox="1">
            <a:spLocks noChangeArrowheads="1"/>
          </p:cNvSpPr>
          <p:nvPr/>
        </p:nvSpPr>
        <p:spPr bwMode="auto">
          <a:xfrm>
            <a:off x="4427538" y="1136650"/>
            <a:ext cx="417512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marL="533400" indent="-533400">
              <a:spcBef>
                <a:spcPct val="20000"/>
              </a:spcBef>
              <a:buFont typeface="Arial" panose="020B0604020202020204" pitchFamily="34" charset="0"/>
              <a:buChar char="•"/>
              <a:defRPr sz="3200">
                <a:solidFill>
                  <a:schemeClr val="tx1"/>
                </a:solidFill>
                <a:latin typeface="Calibri" panose="020F0502020204030204" pitchFamily="34" charset="0"/>
              </a:defRPr>
            </a:lvl1pPr>
            <a:lvl2pPr marL="990600" indent="-533400">
              <a:spcBef>
                <a:spcPct val="20000"/>
              </a:spcBef>
              <a:buFont typeface="Arial" panose="020B0604020202020204" pitchFamily="34" charset="0"/>
              <a:buChar char="–"/>
              <a:defRPr sz="2800">
                <a:solidFill>
                  <a:schemeClr val="tx1"/>
                </a:solidFill>
                <a:latin typeface="Calibri" panose="020F0502020204030204" pitchFamily="34" charset="0"/>
              </a:defRPr>
            </a:lvl2pPr>
            <a:lvl3pPr marL="1447800" indent="-5334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905000" indent="-5334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362200" indent="-5334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819400" indent="-5334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3276600" indent="-5334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733800" indent="-5334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4191000" indent="-5334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AutoNum type="arabicPeriod" startAt="5"/>
            </a:pPr>
            <a:r>
              <a:rPr lang="en-US" altLang="en-US" sz="2400">
                <a:latin typeface="Arial" panose="020B0604020202020204" pitchFamily="34" charset="0"/>
                <a:cs typeface="Angsana New" panose="02020603050405020304" pitchFamily="18" charset="-34"/>
              </a:rPr>
              <a:t>MC-Pump</a:t>
            </a:r>
          </a:p>
          <a:p>
            <a:pPr>
              <a:spcBef>
                <a:spcPct val="0"/>
              </a:spcBef>
              <a:buFontTx/>
              <a:buAutoNum type="arabicPeriod" startAt="5"/>
            </a:pPr>
            <a:r>
              <a:rPr lang="en-US" altLang="en-US" sz="2400">
                <a:latin typeface="Arial" panose="020B0604020202020204" pitchFamily="34" charset="0"/>
                <a:cs typeface="Angsana New" panose="02020603050405020304" pitchFamily="18" charset="-34"/>
              </a:rPr>
              <a:t>Blow Tank </a:t>
            </a:r>
          </a:p>
          <a:p>
            <a:pPr>
              <a:spcBef>
                <a:spcPct val="0"/>
              </a:spcBef>
              <a:buFontTx/>
              <a:buAutoNum type="arabicPeriod" startAt="5"/>
            </a:pPr>
            <a:r>
              <a:rPr lang="en-US" altLang="en-US" sz="2400">
                <a:latin typeface="Arial" panose="020B0604020202020204" pitchFamily="34" charset="0"/>
                <a:cs typeface="Angsana New" panose="02020603050405020304" pitchFamily="18" charset="-34"/>
              </a:rPr>
              <a:t>Washer (Twin Roll Press)</a:t>
            </a:r>
          </a:p>
        </p:txBody>
      </p:sp>
      <p:sp>
        <p:nvSpPr>
          <p:cNvPr id="377862" name="Text Box 8"/>
          <p:cNvSpPr txBox="1">
            <a:spLocks noChangeArrowheads="1"/>
          </p:cNvSpPr>
          <p:nvPr/>
        </p:nvSpPr>
        <p:spPr bwMode="auto">
          <a:xfrm>
            <a:off x="1749425" y="5183188"/>
            <a:ext cx="354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b="1">
                <a:solidFill>
                  <a:srgbClr val="0000FF"/>
                </a:solidFill>
              </a:rPr>
              <a:t>1.</a:t>
            </a:r>
            <a:endParaRPr lang="th-TH" altLang="en-US" sz="1600" b="1">
              <a:solidFill>
                <a:srgbClr val="0000FF"/>
              </a:solidFill>
            </a:endParaRPr>
          </a:p>
        </p:txBody>
      </p:sp>
      <p:sp>
        <p:nvSpPr>
          <p:cNvPr id="377863" name="Text Box 9"/>
          <p:cNvSpPr txBox="1">
            <a:spLocks noChangeArrowheads="1"/>
          </p:cNvSpPr>
          <p:nvPr/>
        </p:nvSpPr>
        <p:spPr bwMode="auto">
          <a:xfrm>
            <a:off x="2973388" y="5189538"/>
            <a:ext cx="354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b="1">
                <a:solidFill>
                  <a:srgbClr val="0000FF"/>
                </a:solidFill>
              </a:rPr>
              <a:t>1.</a:t>
            </a:r>
            <a:endParaRPr lang="th-TH" altLang="en-US" sz="1600" b="1">
              <a:solidFill>
                <a:srgbClr val="0000FF"/>
              </a:solidFill>
            </a:endParaRPr>
          </a:p>
        </p:txBody>
      </p:sp>
      <p:sp>
        <p:nvSpPr>
          <p:cNvPr id="377864" name="Text Box 10"/>
          <p:cNvSpPr txBox="1">
            <a:spLocks noChangeArrowheads="1"/>
          </p:cNvSpPr>
          <p:nvPr/>
        </p:nvSpPr>
        <p:spPr bwMode="auto">
          <a:xfrm>
            <a:off x="4427538" y="5457825"/>
            <a:ext cx="354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b="1">
                <a:solidFill>
                  <a:srgbClr val="0000FF"/>
                </a:solidFill>
              </a:rPr>
              <a:t>1.</a:t>
            </a:r>
            <a:endParaRPr lang="th-TH" altLang="en-US" sz="1600" b="1">
              <a:solidFill>
                <a:srgbClr val="0000FF"/>
              </a:solidFill>
            </a:endParaRPr>
          </a:p>
        </p:txBody>
      </p:sp>
      <p:sp>
        <p:nvSpPr>
          <p:cNvPr id="377865" name="Text Box 11"/>
          <p:cNvSpPr txBox="1">
            <a:spLocks noChangeArrowheads="1"/>
          </p:cNvSpPr>
          <p:nvPr/>
        </p:nvSpPr>
        <p:spPr bwMode="auto">
          <a:xfrm>
            <a:off x="5753100" y="5313363"/>
            <a:ext cx="354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b="1">
                <a:solidFill>
                  <a:srgbClr val="0000FF"/>
                </a:solidFill>
              </a:rPr>
              <a:t>1.</a:t>
            </a:r>
            <a:endParaRPr lang="th-TH" altLang="en-US" sz="1600" b="1">
              <a:solidFill>
                <a:srgbClr val="0000FF"/>
              </a:solidFill>
            </a:endParaRPr>
          </a:p>
        </p:txBody>
      </p:sp>
      <p:sp>
        <p:nvSpPr>
          <p:cNvPr id="377866" name="Text Box 12"/>
          <p:cNvSpPr txBox="1">
            <a:spLocks noChangeArrowheads="1"/>
          </p:cNvSpPr>
          <p:nvPr/>
        </p:nvSpPr>
        <p:spPr bwMode="auto">
          <a:xfrm>
            <a:off x="2051050" y="5192713"/>
            <a:ext cx="354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b="1">
                <a:solidFill>
                  <a:srgbClr val="008000"/>
                </a:solidFill>
              </a:rPr>
              <a:t>2.</a:t>
            </a:r>
            <a:endParaRPr lang="th-TH" altLang="en-US" sz="1600" b="1">
              <a:solidFill>
                <a:srgbClr val="008000"/>
              </a:solidFill>
            </a:endParaRPr>
          </a:p>
        </p:txBody>
      </p:sp>
      <p:sp>
        <p:nvSpPr>
          <p:cNvPr id="377867" name="Text Box 13"/>
          <p:cNvSpPr txBox="1">
            <a:spLocks noChangeArrowheads="1"/>
          </p:cNvSpPr>
          <p:nvPr/>
        </p:nvSpPr>
        <p:spPr bwMode="auto">
          <a:xfrm>
            <a:off x="3209925" y="5192713"/>
            <a:ext cx="354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b="1">
                <a:solidFill>
                  <a:srgbClr val="008000"/>
                </a:solidFill>
              </a:rPr>
              <a:t>2.</a:t>
            </a:r>
            <a:endParaRPr lang="th-TH" altLang="en-US" sz="1600" b="1">
              <a:solidFill>
                <a:srgbClr val="008000"/>
              </a:solidFill>
            </a:endParaRPr>
          </a:p>
        </p:txBody>
      </p:sp>
      <p:sp>
        <p:nvSpPr>
          <p:cNvPr id="377868" name="Text Box 14"/>
          <p:cNvSpPr txBox="1">
            <a:spLocks noChangeArrowheads="1"/>
          </p:cNvSpPr>
          <p:nvPr/>
        </p:nvSpPr>
        <p:spPr bwMode="auto">
          <a:xfrm>
            <a:off x="2339975" y="4305300"/>
            <a:ext cx="354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b="1">
                <a:solidFill>
                  <a:srgbClr val="996600"/>
                </a:solidFill>
              </a:rPr>
              <a:t>3.</a:t>
            </a:r>
            <a:endParaRPr lang="th-TH" altLang="en-US" sz="1600" b="1">
              <a:solidFill>
                <a:srgbClr val="996600"/>
              </a:solidFill>
            </a:endParaRPr>
          </a:p>
        </p:txBody>
      </p:sp>
      <p:sp>
        <p:nvSpPr>
          <p:cNvPr id="377869" name="Text Box 15"/>
          <p:cNvSpPr txBox="1">
            <a:spLocks noChangeArrowheads="1"/>
          </p:cNvSpPr>
          <p:nvPr/>
        </p:nvSpPr>
        <p:spPr bwMode="auto">
          <a:xfrm>
            <a:off x="3471863" y="4256088"/>
            <a:ext cx="354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b="1">
                <a:solidFill>
                  <a:srgbClr val="996600"/>
                </a:solidFill>
              </a:rPr>
              <a:t>3.</a:t>
            </a:r>
            <a:endParaRPr lang="th-TH" altLang="en-US" sz="1600" b="1">
              <a:solidFill>
                <a:srgbClr val="996600"/>
              </a:solidFill>
            </a:endParaRPr>
          </a:p>
        </p:txBody>
      </p:sp>
      <p:sp>
        <p:nvSpPr>
          <p:cNvPr id="377870" name="Text Box 16"/>
          <p:cNvSpPr txBox="1">
            <a:spLocks noChangeArrowheads="1"/>
          </p:cNvSpPr>
          <p:nvPr/>
        </p:nvSpPr>
        <p:spPr bwMode="auto">
          <a:xfrm>
            <a:off x="3924300" y="2792413"/>
            <a:ext cx="354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b="1"/>
              <a:t>4.</a:t>
            </a:r>
            <a:endParaRPr lang="th-TH" altLang="en-US" sz="1600" b="1"/>
          </a:p>
        </p:txBody>
      </p:sp>
      <p:sp>
        <p:nvSpPr>
          <p:cNvPr id="377871" name="Text Box 17"/>
          <p:cNvSpPr txBox="1">
            <a:spLocks noChangeArrowheads="1"/>
          </p:cNvSpPr>
          <p:nvPr/>
        </p:nvSpPr>
        <p:spPr bwMode="auto">
          <a:xfrm>
            <a:off x="2268538" y="3248025"/>
            <a:ext cx="354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b="1">
                <a:solidFill>
                  <a:srgbClr val="FF0000"/>
                </a:solidFill>
              </a:rPr>
              <a:t>4.</a:t>
            </a:r>
            <a:endParaRPr lang="th-TH" altLang="en-US" sz="1600" b="1">
              <a:solidFill>
                <a:srgbClr val="FF0000"/>
              </a:solidFill>
            </a:endParaRPr>
          </a:p>
        </p:txBody>
      </p:sp>
      <p:sp>
        <p:nvSpPr>
          <p:cNvPr id="377872" name="Text Box 18"/>
          <p:cNvSpPr txBox="1">
            <a:spLocks noChangeArrowheads="1"/>
          </p:cNvSpPr>
          <p:nvPr/>
        </p:nvSpPr>
        <p:spPr bwMode="auto">
          <a:xfrm>
            <a:off x="3425825" y="3105150"/>
            <a:ext cx="354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b="1">
                <a:solidFill>
                  <a:srgbClr val="FF0000"/>
                </a:solidFill>
              </a:rPr>
              <a:t>4.</a:t>
            </a:r>
            <a:endParaRPr lang="th-TH" altLang="en-US" sz="1600" b="1">
              <a:solidFill>
                <a:srgbClr val="FF0000"/>
              </a:solidFill>
            </a:endParaRPr>
          </a:p>
        </p:txBody>
      </p:sp>
      <p:sp>
        <p:nvSpPr>
          <p:cNvPr id="377873" name="Text Box 19"/>
          <p:cNvSpPr txBox="1">
            <a:spLocks noChangeArrowheads="1"/>
          </p:cNvSpPr>
          <p:nvPr/>
        </p:nvSpPr>
        <p:spPr bwMode="auto">
          <a:xfrm>
            <a:off x="2562225" y="5408613"/>
            <a:ext cx="354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b="1">
                <a:solidFill>
                  <a:srgbClr val="CC0099"/>
                </a:solidFill>
              </a:rPr>
              <a:t>5.</a:t>
            </a:r>
            <a:endParaRPr lang="th-TH" altLang="en-US" sz="1600" b="1">
              <a:solidFill>
                <a:srgbClr val="CC0099"/>
              </a:solidFill>
            </a:endParaRPr>
          </a:p>
        </p:txBody>
      </p:sp>
      <p:sp>
        <p:nvSpPr>
          <p:cNvPr id="377874" name="Text Box 20"/>
          <p:cNvSpPr txBox="1">
            <a:spLocks noChangeArrowheads="1"/>
          </p:cNvSpPr>
          <p:nvPr/>
        </p:nvSpPr>
        <p:spPr bwMode="auto">
          <a:xfrm>
            <a:off x="4067175" y="4665663"/>
            <a:ext cx="354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b="1">
                <a:solidFill>
                  <a:srgbClr val="FF9900"/>
                </a:solidFill>
              </a:rPr>
              <a:t>6.</a:t>
            </a:r>
            <a:endParaRPr lang="th-TH" altLang="en-US" sz="1600" b="1">
              <a:solidFill>
                <a:srgbClr val="FF9900"/>
              </a:solidFill>
            </a:endParaRPr>
          </a:p>
        </p:txBody>
      </p:sp>
      <p:sp>
        <p:nvSpPr>
          <p:cNvPr id="377875" name="Text Box 21"/>
          <p:cNvSpPr txBox="1">
            <a:spLocks noChangeArrowheads="1"/>
          </p:cNvSpPr>
          <p:nvPr/>
        </p:nvSpPr>
        <p:spPr bwMode="auto">
          <a:xfrm>
            <a:off x="762000" y="3297238"/>
            <a:ext cx="354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b="1">
                <a:solidFill>
                  <a:srgbClr val="006666"/>
                </a:solidFill>
              </a:rPr>
              <a:t>7.</a:t>
            </a:r>
            <a:endParaRPr lang="th-TH" altLang="en-US" sz="1600" b="1">
              <a:solidFill>
                <a:srgbClr val="006666"/>
              </a:solidFill>
            </a:endParaRPr>
          </a:p>
        </p:txBody>
      </p:sp>
      <p:sp>
        <p:nvSpPr>
          <p:cNvPr id="377876" name="Text Box 24"/>
          <p:cNvSpPr txBox="1">
            <a:spLocks noChangeArrowheads="1"/>
          </p:cNvSpPr>
          <p:nvPr/>
        </p:nvSpPr>
        <p:spPr bwMode="auto">
          <a:xfrm>
            <a:off x="4787900" y="3297238"/>
            <a:ext cx="354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b="1">
                <a:solidFill>
                  <a:srgbClr val="006666"/>
                </a:solidFill>
              </a:rPr>
              <a:t>7.</a:t>
            </a:r>
            <a:endParaRPr lang="th-TH" altLang="en-US" sz="1600" b="1">
              <a:solidFill>
                <a:srgbClr val="006666"/>
              </a:solidFill>
            </a:endParaRPr>
          </a:p>
        </p:txBody>
      </p:sp>
      <p:sp>
        <p:nvSpPr>
          <p:cNvPr id="377877" name="Text Box 25"/>
          <p:cNvSpPr txBox="1">
            <a:spLocks noChangeArrowheads="1"/>
          </p:cNvSpPr>
          <p:nvPr/>
        </p:nvSpPr>
        <p:spPr bwMode="auto">
          <a:xfrm>
            <a:off x="7458075" y="3297238"/>
            <a:ext cx="354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b="1">
                <a:solidFill>
                  <a:srgbClr val="006666"/>
                </a:solidFill>
              </a:rPr>
              <a:t>7.</a:t>
            </a:r>
            <a:endParaRPr lang="th-TH" altLang="en-US" sz="1600" b="1">
              <a:solidFill>
                <a:srgbClr val="006666"/>
              </a:solidFill>
            </a:endParaRPr>
          </a:p>
        </p:txBody>
      </p:sp>
    </p:spTree>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882"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708400" y="1927225"/>
            <a:ext cx="5256213" cy="3160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78883"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4213" y="3397250"/>
            <a:ext cx="2663825" cy="1884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78884" name="Text Box 8"/>
          <p:cNvSpPr txBox="1">
            <a:spLocks noChangeArrowheads="1"/>
          </p:cNvSpPr>
          <p:nvPr/>
        </p:nvSpPr>
        <p:spPr bwMode="auto">
          <a:xfrm>
            <a:off x="611188" y="300038"/>
            <a:ext cx="1878012" cy="585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MC-Pump</a:t>
            </a:r>
            <a:endParaRPr lang="th-TH" altLang="en-US" b="1"/>
          </a:p>
        </p:txBody>
      </p:sp>
      <p:sp>
        <p:nvSpPr>
          <p:cNvPr id="378885" name="Text Box 10"/>
          <p:cNvSpPr txBox="1">
            <a:spLocks noChangeArrowheads="1"/>
          </p:cNvSpPr>
          <p:nvPr/>
        </p:nvSpPr>
        <p:spPr bwMode="auto">
          <a:xfrm>
            <a:off x="395288" y="1639888"/>
            <a:ext cx="4957762" cy="1766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Char char="-"/>
            </a:pPr>
            <a:r>
              <a:rPr lang="en-US" altLang="en-US" sz="2200"/>
              <a:t> Use for pump at medium consistency</a:t>
            </a:r>
          </a:p>
          <a:p>
            <a:pPr>
              <a:spcBef>
                <a:spcPct val="0"/>
              </a:spcBef>
              <a:buFontTx/>
              <a:buNone/>
            </a:pPr>
            <a:r>
              <a:rPr lang="en-US" altLang="en-US" sz="2200"/>
              <a:t>  (10-12)% to Reactor</a:t>
            </a:r>
          </a:p>
          <a:p>
            <a:pPr>
              <a:spcBef>
                <a:spcPct val="0"/>
              </a:spcBef>
              <a:buFontTx/>
              <a:buChar char="-"/>
            </a:pPr>
            <a:r>
              <a:rPr lang="en-US" altLang="en-US" sz="2200"/>
              <a:t> Have internal or external vacuum</a:t>
            </a:r>
          </a:p>
          <a:p>
            <a:pPr>
              <a:spcBef>
                <a:spcPct val="0"/>
              </a:spcBef>
              <a:buFontTx/>
              <a:buNone/>
            </a:pPr>
            <a:r>
              <a:rPr lang="en-US" altLang="en-US" sz="2200"/>
              <a:t>  system for removal air in pulp</a:t>
            </a:r>
          </a:p>
          <a:p>
            <a:pPr>
              <a:spcBef>
                <a:spcPct val="0"/>
              </a:spcBef>
              <a:buFontTx/>
              <a:buChar char="-"/>
            </a:pPr>
            <a:endParaRPr lang="th-TH" altLang="en-US" sz="2200"/>
          </a:p>
        </p:txBody>
      </p:sp>
    </p:spTree>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06" name="Text Box 4"/>
          <p:cNvSpPr txBox="1">
            <a:spLocks noChangeArrowheads="1"/>
          </p:cNvSpPr>
          <p:nvPr/>
        </p:nvSpPr>
        <p:spPr bwMode="auto">
          <a:xfrm>
            <a:off x="611188" y="358775"/>
            <a:ext cx="1879600" cy="585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MC-Mixer</a:t>
            </a:r>
            <a:endParaRPr lang="th-TH" altLang="en-US" b="1"/>
          </a:p>
        </p:txBody>
      </p:sp>
      <p:sp>
        <p:nvSpPr>
          <p:cNvPr id="379907" name="Text Box 5"/>
          <p:cNvSpPr txBox="1">
            <a:spLocks noChangeArrowheads="1"/>
          </p:cNvSpPr>
          <p:nvPr/>
        </p:nvSpPr>
        <p:spPr bwMode="auto">
          <a:xfrm>
            <a:off x="395288" y="1698625"/>
            <a:ext cx="491172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Char char="-"/>
            </a:pPr>
            <a:r>
              <a:rPr lang="en-US" altLang="en-US" sz="2200"/>
              <a:t> High shear mixer</a:t>
            </a:r>
          </a:p>
          <a:p>
            <a:pPr>
              <a:spcBef>
                <a:spcPct val="0"/>
              </a:spcBef>
              <a:buFontTx/>
              <a:buChar char="-"/>
            </a:pPr>
            <a:r>
              <a:rPr lang="en-US" altLang="en-US" sz="2200"/>
              <a:t> To thoroughly mix a pulp suspension</a:t>
            </a:r>
          </a:p>
          <a:p>
            <a:pPr>
              <a:spcBef>
                <a:spcPct val="0"/>
              </a:spcBef>
              <a:buFontTx/>
              <a:buNone/>
            </a:pPr>
            <a:r>
              <a:rPr lang="en-US" altLang="en-US" sz="2200"/>
              <a:t>  with gas or liquid ex</a:t>
            </a:r>
            <a:r>
              <a:rPr lang="th-TH" altLang="en-US" sz="2200"/>
              <a:t> </a:t>
            </a:r>
            <a:r>
              <a:rPr lang="en-US" altLang="en-US" sz="2200"/>
              <a:t>Oxygen, Steam </a:t>
            </a:r>
            <a:endParaRPr lang="th-TH" altLang="en-US" sz="2200"/>
          </a:p>
        </p:txBody>
      </p:sp>
      <p:pic>
        <p:nvPicPr>
          <p:cNvPr id="37990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64163" y="1655763"/>
            <a:ext cx="3529012" cy="2774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79909"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9750" y="2951163"/>
            <a:ext cx="4679950" cy="246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0930"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51500" y="188913"/>
            <a:ext cx="2124075" cy="6446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0931" name="Text Box 6"/>
          <p:cNvSpPr txBox="1">
            <a:spLocks noChangeArrowheads="1"/>
          </p:cNvSpPr>
          <p:nvPr/>
        </p:nvSpPr>
        <p:spPr bwMode="auto">
          <a:xfrm>
            <a:off x="611188" y="536575"/>
            <a:ext cx="1495425"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Reactor</a:t>
            </a:r>
            <a:endParaRPr lang="th-TH" altLang="en-US" b="1"/>
          </a:p>
        </p:txBody>
      </p:sp>
      <p:sp>
        <p:nvSpPr>
          <p:cNvPr id="380932" name="Text Box 8"/>
          <p:cNvSpPr txBox="1">
            <a:spLocks noChangeArrowheads="1"/>
          </p:cNvSpPr>
          <p:nvPr/>
        </p:nvSpPr>
        <p:spPr bwMode="auto">
          <a:xfrm>
            <a:off x="409575" y="1360488"/>
            <a:ext cx="467995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Char char="-"/>
            </a:pPr>
            <a:r>
              <a:rPr lang="en-US" altLang="en-US" sz="2200"/>
              <a:t> Control Temperature and Pressure</a:t>
            </a:r>
          </a:p>
          <a:p>
            <a:pPr>
              <a:spcBef>
                <a:spcPct val="0"/>
              </a:spcBef>
              <a:buFontTx/>
              <a:buChar char="-"/>
            </a:pPr>
            <a:r>
              <a:rPr lang="en-US" altLang="en-US" sz="2200"/>
              <a:t> Control Reaction Time </a:t>
            </a:r>
            <a:endParaRPr lang="th-TH" altLang="en-US" sz="2200"/>
          </a:p>
        </p:txBody>
      </p:sp>
    </p:spTree>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954" name="Text Box 2"/>
          <p:cNvSpPr txBox="1">
            <a:spLocks noChangeArrowheads="1"/>
          </p:cNvSpPr>
          <p:nvPr/>
        </p:nvSpPr>
        <p:spPr bwMode="auto">
          <a:xfrm>
            <a:off x="552450" y="358775"/>
            <a:ext cx="1339850" cy="585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Heater</a:t>
            </a:r>
            <a:endParaRPr lang="th-TH" altLang="en-US" b="1"/>
          </a:p>
        </p:txBody>
      </p:sp>
      <p:sp>
        <p:nvSpPr>
          <p:cNvPr id="381955" name="Text Box 3"/>
          <p:cNvSpPr txBox="1">
            <a:spLocks noChangeArrowheads="1"/>
          </p:cNvSpPr>
          <p:nvPr/>
        </p:nvSpPr>
        <p:spPr bwMode="auto">
          <a:xfrm>
            <a:off x="425450" y="1123950"/>
            <a:ext cx="4367213"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Char char="-"/>
            </a:pPr>
            <a:r>
              <a:rPr lang="en-US" altLang="en-US" sz="2200"/>
              <a:t>To heat the pulp suspension with</a:t>
            </a:r>
          </a:p>
          <a:p>
            <a:pPr>
              <a:spcBef>
                <a:spcPct val="0"/>
              </a:spcBef>
              <a:buFontTx/>
              <a:buNone/>
            </a:pPr>
            <a:r>
              <a:rPr lang="en-US" altLang="en-US" sz="2200"/>
              <a:t>  medium pressure (MP) steam </a:t>
            </a:r>
            <a:endParaRPr lang="th-TH" altLang="en-US" sz="2200"/>
          </a:p>
        </p:txBody>
      </p:sp>
      <p:pic>
        <p:nvPicPr>
          <p:cNvPr id="38195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06488" y="2306638"/>
            <a:ext cx="6162675" cy="4022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978" name="Text Box 2"/>
          <p:cNvSpPr txBox="1">
            <a:spLocks noChangeArrowheads="1"/>
          </p:cNvSpPr>
          <p:nvPr/>
        </p:nvSpPr>
        <p:spPr bwMode="auto">
          <a:xfrm>
            <a:off x="611188" y="241300"/>
            <a:ext cx="2382837"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Top Scrapper</a:t>
            </a:r>
            <a:endParaRPr lang="th-TH" altLang="en-US" b="1"/>
          </a:p>
        </p:txBody>
      </p:sp>
      <p:pic>
        <p:nvPicPr>
          <p:cNvPr id="38297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62550" y="2735263"/>
            <a:ext cx="3478213" cy="3717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82980"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7563" y="3036888"/>
            <a:ext cx="3636962" cy="31130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2981" name="Text Box 3"/>
          <p:cNvSpPr txBox="1">
            <a:spLocks noChangeArrowheads="1"/>
          </p:cNvSpPr>
          <p:nvPr/>
        </p:nvSpPr>
        <p:spPr bwMode="auto">
          <a:xfrm>
            <a:off x="395288" y="925513"/>
            <a:ext cx="5192712" cy="2771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Char char="-"/>
            </a:pPr>
            <a:r>
              <a:rPr lang="en-US" altLang="en-US" sz="2200"/>
              <a:t> To discharge an even pulp flow  from</a:t>
            </a:r>
          </a:p>
          <a:p>
            <a:pPr>
              <a:spcBef>
                <a:spcPct val="0"/>
              </a:spcBef>
              <a:buFontTx/>
              <a:buNone/>
            </a:pPr>
            <a:r>
              <a:rPr lang="en-US" altLang="en-US" sz="2200"/>
              <a:t>  a top of a tower/Reactor</a:t>
            </a:r>
          </a:p>
          <a:p>
            <a:pPr>
              <a:spcBef>
                <a:spcPct val="0"/>
              </a:spcBef>
              <a:buFontTx/>
              <a:buChar char="-"/>
            </a:pPr>
            <a:r>
              <a:rPr lang="en-US" altLang="en-US" sz="2200"/>
              <a:t> Flow scraper sweeps around the </a:t>
            </a:r>
          </a:p>
          <a:p>
            <a:pPr>
              <a:spcBef>
                <a:spcPct val="0"/>
              </a:spcBef>
              <a:buFontTx/>
              <a:buNone/>
            </a:pPr>
            <a:r>
              <a:rPr lang="en-US" altLang="en-US" sz="2200"/>
              <a:t>  spherical head to prevent the pulp from</a:t>
            </a:r>
          </a:p>
          <a:p>
            <a:pPr>
              <a:spcBef>
                <a:spcPct val="0"/>
              </a:spcBef>
              <a:buFontTx/>
              <a:buNone/>
            </a:pPr>
            <a:r>
              <a:rPr lang="en-US" altLang="en-US" sz="2200"/>
              <a:t>  becoming stagnant in any one area</a:t>
            </a:r>
          </a:p>
          <a:p>
            <a:pPr>
              <a:spcBef>
                <a:spcPct val="0"/>
              </a:spcBef>
              <a:buFontTx/>
              <a:buChar char="-"/>
            </a:pPr>
            <a:r>
              <a:rPr lang="en-US" altLang="en-US" sz="2200"/>
              <a:t> To transports the pulp to discharge </a:t>
            </a:r>
          </a:p>
          <a:p>
            <a:pPr>
              <a:spcBef>
                <a:spcPct val="0"/>
              </a:spcBef>
              <a:buFontTx/>
              <a:buNone/>
            </a:pPr>
            <a:r>
              <a:rPr lang="en-US" altLang="en-US" sz="2200"/>
              <a:t>   nozzle</a:t>
            </a:r>
            <a:endParaRPr lang="th-TH" altLang="en-US" sz="2200"/>
          </a:p>
          <a:p>
            <a:pPr>
              <a:spcBef>
                <a:spcPct val="0"/>
              </a:spcBef>
              <a:buFontTx/>
              <a:buNone/>
            </a:pPr>
            <a:r>
              <a:rPr lang="en-US" altLang="en-US" sz="2200"/>
              <a:t>   </a:t>
            </a:r>
            <a:endParaRPr lang="th-TH" altLang="en-US" sz="2200"/>
          </a:p>
        </p:txBody>
      </p:sp>
    </p:spTree>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2" name="Text Box 2"/>
          <p:cNvSpPr txBox="1">
            <a:spLocks noChangeArrowheads="1"/>
          </p:cNvSpPr>
          <p:nvPr/>
        </p:nvSpPr>
        <p:spPr bwMode="auto">
          <a:xfrm>
            <a:off x="581025" y="344488"/>
            <a:ext cx="2038350"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Distributor</a:t>
            </a:r>
            <a:endParaRPr lang="th-TH" altLang="en-US" b="1"/>
          </a:p>
        </p:txBody>
      </p:sp>
      <p:sp>
        <p:nvSpPr>
          <p:cNvPr id="384003" name="Text Box 3"/>
          <p:cNvSpPr txBox="1">
            <a:spLocks noChangeArrowheads="1"/>
          </p:cNvSpPr>
          <p:nvPr/>
        </p:nvSpPr>
        <p:spPr bwMode="auto">
          <a:xfrm>
            <a:off x="581025" y="928688"/>
            <a:ext cx="4757738" cy="1431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Char char="-"/>
            </a:pPr>
            <a:r>
              <a:rPr lang="en-US" altLang="en-US" sz="2200"/>
              <a:t> To distribute an even pulp flow into</a:t>
            </a:r>
          </a:p>
          <a:p>
            <a:pPr>
              <a:spcBef>
                <a:spcPct val="0"/>
              </a:spcBef>
              <a:buFontTx/>
              <a:buNone/>
            </a:pPr>
            <a:r>
              <a:rPr lang="en-US" altLang="en-US" sz="2200"/>
              <a:t>  a bottom of a tower/Reactor</a:t>
            </a:r>
          </a:p>
          <a:p>
            <a:pPr>
              <a:spcBef>
                <a:spcPct val="0"/>
              </a:spcBef>
              <a:buFontTx/>
              <a:buChar char="-"/>
            </a:pPr>
            <a:r>
              <a:rPr lang="en-US" altLang="en-US" sz="2200"/>
              <a:t> To transports the pulp to discharge </a:t>
            </a:r>
          </a:p>
          <a:p>
            <a:pPr>
              <a:spcBef>
                <a:spcPct val="0"/>
              </a:spcBef>
              <a:buFontTx/>
              <a:buNone/>
            </a:pPr>
            <a:r>
              <a:rPr lang="en-US" altLang="en-US" sz="2200"/>
              <a:t>   nozzle</a:t>
            </a:r>
            <a:endParaRPr lang="th-TH" altLang="en-US" sz="2200"/>
          </a:p>
        </p:txBody>
      </p:sp>
      <p:pic>
        <p:nvPicPr>
          <p:cNvPr id="384004"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25775" y="2341563"/>
            <a:ext cx="3230563" cy="417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5026"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730750" y="1690688"/>
            <a:ext cx="4032250" cy="29860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5027" name="Text Box 4"/>
          <p:cNvSpPr txBox="1">
            <a:spLocks noChangeArrowheads="1"/>
          </p:cNvSpPr>
          <p:nvPr/>
        </p:nvSpPr>
        <p:spPr bwMode="auto">
          <a:xfrm>
            <a:off x="558800" y="312738"/>
            <a:ext cx="4373563"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Washer (Twin Roll Press)</a:t>
            </a:r>
            <a:endParaRPr lang="th-TH" altLang="en-US" b="1"/>
          </a:p>
        </p:txBody>
      </p:sp>
      <p:sp>
        <p:nvSpPr>
          <p:cNvPr id="385028" name="Text Box 5"/>
          <p:cNvSpPr txBox="1">
            <a:spLocks noChangeArrowheads="1"/>
          </p:cNvSpPr>
          <p:nvPr/>
        </p:nvSpPr>
        <p:spPr bwMode="auto">
          <a:xfrm>
            <a:off x="381000" y="1522413"/>
            <a:ext cx="4349750" cy="1431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Char char="-"/>
            </a:pPr>
            <a:r>
              <a:rPr lang="en-US" altLang="en-US" sz="2200"/>
              <a:t> To Wash Pulp suspension using</a:t>
            </a:r>
          </a:p>
          <a:p>
            <a:pPr>
              <a:spcBef>
                <a:spcPct val="0"/>
              </a:spcBef>
              <a:buFontTx/>
              <a:buNone/>
            </a:pPr>
            <a:r>
              <a:rPr lang="en-US" altLang="en-US" sz="2200"/>
              <a:t>   Dewatering and Displacement</a:t>
            </a:r>
          </a:p>
          <a:p>
            <a:pPr>
              <a:spcBef>
                <a:spcPct val="0"/>
              </a:spcBef>
              <a:buFontTx/>
              <a:buNone/>
            </a:pPr>
            <a:r>
              <a:rPr lang="en-US" altLang="en-US" sz="2200"/>
              <a:t>   Washing Principle</a:t>
            </a:r>
          </a:p>
          <a:p>
            <a:pPr>
              <a:spcBef>
                <a:spcPct val="0"/>
              </a:spcBef>
              <a:buFontTx/>
              <a:buChar char="-"/>
            </a:pPr>
            <a:endParaRPr lang="th-TH" altLang="en-US" sz="2200"/>
          </a:p>
        </p:txBody>
      </p:sp>
      <p:pic>
        <p:nvPicPr>
          <p:cNvPr id="385029"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8800" y="3060700"/>
            <a:ext cx="3816350" cy="289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6050" name="Group 5126"/>
          <p:cNvGrpSpPr>
            <a:grpSpLocks/>
          </p:cNvGrpSpPr>
          <p:nvPr/>
        </p:nvGrpSpPr>
        <p:grpSpPr bwMode="auto">
          <a:xfrm>
            <a:off x="447675" y="1104900"/>
            <a:ext cx="7923213" cy="4718050"/>
            <a:chOff x="338" y="957"/>
            <a:chExt cx="4991" cy="2972"/>
          </a:xfrm>
        </p:grpSpPr>
        <p:grpSp>
          <p:nvGrpSpPr>
            <p:cNvPr id="386052" name="Group 5"/>
            <p:cNvGrpSpPr>
              <a:grpSpLocks noChangeAspect="1"/>
            </p:cNvGrpSpPr>
            <p:nvPr/>
          </p:nvGrpSpPr>
          <p:grpSpPr bwMode="auto">
            <a:xfrm>
              <a:off x="4941" y="1260"/>
              <a:ext cx="293" cy="195"/>
              <a:chOff x="4630" y="1040"/>
              <a:chExt cx="482" cy="320"/>
            </a:xfrm>
          </p:grpSpPr>
          <p:sp>
            <p:nvSpPr>
              <p:cNvPr id="391149" name="Freeform 6"/>
              <p:cNvSpPr>
                <a:spLocks noChangeAspect="1"/>
              </p:cNvSpPr>
              <p:nvPr/>
            </p:nvSpPr>
            <p:spPr bwMode="auto">
              <a:xfrm>
                <a:off x="4631" y="1077"/>
                <a:ext cx="477" cy="126"/>
              </a:xfrm>
              <a:custGeom>
                <a:avLst/>
                <a:gdLst>
                  <a:gd name="T0" fmla="*/ 196 w 477"/>
                  <a:gd name="T1" fmla="*/ 0 h 126"/>
                  <a:gd name="T2" fmla="*/ 288 w 477"/>
                  <a:gd name="T3" fmla="*/ 0 h 126"/>
                  <a:gd name="T4" fmla="*/ 477 w 477"/>
                  <a:gd name="T5" fmla="*/ 48 h 126"/>
                  <a:gd name="T6" fmla="*/ 477 w 477"/>
                  <a:gd name="T7" fmla="*/ 114 h 126"/>
                  <a:gd name="T8" fmla="*/ 91 w 477"/>
                  <a:gd name="T9" fmla="*/ 115 h 126"/>
                  <a:gd name="T10" fmla="*/ 91 w 477"/>
                  <a:gd name="T11" fmla="*/ 126 h 126"/>
                  <a:gd name="T12" fmla="*/ 0 w 477"/>
                  <a:gd name="T13" fmla="*/ 121 h 126"/>
                  <a:gd name="T14" fmla="*/ 0 w 477"/>
                  <a:gd name="T15" fmla="*/ 61 h 126"/>
                  <a:gd name="T16" fmla="*/ 196 w 477"/>
                  <a:gd name="T17" fmla="*/ 0 h 1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77" h="126">
                    <a:moveTo>
                      <a:pt x="196" y="0"/>
                    </a:moveTo>
                    <a:lnTo>
                      <a:pt x="288" y="0"/>
                    </a:lnTo>
                    <a:lnTo>
                      <a:pt x="477" y="48"/>
                    </a:lnTo>
                    <a:lnTo>
                      <a:pt x="477" y="114"/>
                    </a:lnTo>
                    <a:lnTo>
                      <a:pt x="91" y="115"/>
                    </a:lnTo>
                    <a:lnTo>
                      <a:pt x="91" y="126"/>
                    </a:lnTo>
                    <a:lnTo>
                      <a:pt x="0" y="121"/>
                    </a:lnTo>
                    <a:lnTo>
                      <a:pt x="0" y="61"/>
                    </a:lnTo>
                    <a:lnTo>
                      <a:pt x="196" y="0"/>
                    </a:lnTo>
                    <a:close/>
                  </a:path>
                </a:pathLst>
              </a:custGeom>
              <a:gradFill rotWithShape="1">
                <a:gsLst>
                  <a:gs pos="0">
                    <a:srgbClr val="FFEFD7"/>
                  </a:gs>
                  <a:gs pos="100000">
                    <a:srgbClr val="FF9900"/>
                  </a:gs>
                </a:gsLst>
                <a:lin ang="5400000" scaled="1"/>
              </a:gradFill>
              <a:ln>
                <a:noFill/>
              </a:ln>
              <a:effectLst/>
              <a:extLst>
                <a:ext uri="{91240B29-F687-4F45-9708-019B960494DF}">
                  <a14:hiddenLine xmlns:a14="http://schemas.microsoft.com/office/drawing/2010/main" w="317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1150" name="Oval 7"/>
              <p:cNvSpPr>
                <a:spLocks noChangeAspect="1" noChangeArrowheads="1"/>
              </p:cNvSpPr>
              <p:nvPr/>
            </p:nvSpPr>
            <p:spPr bwMode="auto">
              <a:xfrm>
                <a:off x="4806" y="1294"/>
                <a:ext cx="120" cy="66"/>
              </a:xfrm>
              <a:prstGeom prst="ellipse">
                <a:avLst/>
              </a:prstGeom>
              <a:gradFill rotWithShape="1">
                <a:gsLst>
                  <a:gs pos="0">
                    <a:srgbClr val="FFEFD7"/>
                  </a:gs>
                  <a:gs pos="100000">
                    <a:srgbClr val="FF9900"/>
                  </a:gs>
                </a:gsLst>
                <a:lin ang="5400000" scaled="1"/>
              </a:gra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1151" name="Freeform 8"/>
              <p:cNvSpPr>
                <a:spLocks noChangeAspect="1"/>
              </p:cNvSpPr>
              <p:nvPr/>
            </p:nvSpPr>
            <p:spPr bwMode="auto">
              <a:xfrm>
                <a:off x="4630" y="1188"/>
                <a:ext cx="482" cy="144"/>
              </a:xfrm>
              <a:custGeom>
                <a:avLst/>
                <a:gdLst>
                  <a:gd name="T0" fmla="*/ 70 w 496"/>
                  <a:gd name="T1" fmla="*/ 12 h 144"/>
                  <a:gd name="T2" fmla="*/ 0 w 496"/>
                  <a:gd name="T3" fmla="*/ 12 h 144"/>
                  <a:gd name="T4" fmla="*/ 45 w 496"/>
                  <a:gd name="T5" fmla="*/ 28 h 144"/>
                  <a:gd name="T6" fmla="*/ 62 w 496"/>
                  <a:gd name="T7" fmla="*/ 144 h 144"/>
                  <a:gd name="T8" fmla="*/ 331 w 496"/>
                  <a:gd name="T9" fmla="*/ 144 h 144"/>
                  <a:gd name="T10" fmla="*/ 343 w 496"/>
                  <a:gd name="T11" fmla="*/ 20 h 144"/>
                  <a:gd name="T12" fmla="*/ 384 w 496"/>
                  <a:gd name="T13" fmla="*/ 0 h 144"/>
                  <a:gd name="T14" fmla="*/ 300 w 496"/>
                  <a:gd name="T15" fmla="*/ 0 h 14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96" h="144">
                    <a:moveTo>
                      <a:pt x="88" y="12"/>
                    </a:moveTo>
                    <a:lnTo>
                      <a:pt x="0" y="12"/>
                    </a:lnTo>
                    <a:lnTo>
                      <a:pt x="56" y="28"/>
                    </a:lnTo>
                    <a:lnTo>
                      <a:pt x="80" y="144"/>
                    </a:lnTo>
                    <a:lnTo>
                      <a:pt x="428" y="144"/>
                    </a:lnTo>
                    <a:lnTo>
                      <a:pt x="444" y="20"/>
                    </a:lnTo>
                    <a:lnTo>
                      <a:pt x="496" y="0"/>
                    </a:lnTo>
                    <a:lnTo>
                      <a:pt x="388" y="0"/>
                    </a:lnTo>
                  </a:path>
                </a:pathLst>
              </a:custGeom>
              <a:gradFill rotWithShape="1">
                <a:gsLst>
                  <a:gs pos="0">
                    <a:srgbClr val="FFEFD7"/>
                  </a:gs>
                  <a:gs pos="100000">
                    <a:srgbClr val="FF9900"/>
                  </a:gs>
                </a:gsLst>
                <a:lin ang="5400000" scaled="1"/>
              </a:gradFill>
              <a:ln w="317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1152" name="Rectangle 9"/>
              <p:cNvSpPr>
                <a:spLocks noChangeAspect="1" noChangeArrowheads="1"/>
              </p:cNvSpPr>
              <p:nvPr/>
            </p:nvSpPr>
            <p:spPr bwMode="auto">
              <a:xfrm>
                <a:off x="4828" y="1040"/>
                <a:ext cx="86" cy="118"/>
              </a:xfrm>
              <a:prstGeom prst="rect">
                <a:avLst/>
              </a:prstGeom>
              <a:gradFill rotWithShape="1">
                <a:gsLst>
                  <a:gs pos="0">
                    <a:srgbClr val="FFEFD7"/>
                  </a:gs>
                  <a:gs pos="100000">
                    <a:srgbClr val="FF9900"/>
                  </a:gs>
                </a:gsLst>
                <a:lin ang="5400000" scaled="1"/>
              </a:gradFill>
              <a:ln w="31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1153" name="Oval 10"/>
              <p:cNvSpPr>
                <a:spLocks noChangeAspect="1" noChangeArrowheads="1"/>
              </p:cNvSpPr>
              <p:nvPr/>
            </p:nvSpPr>
            <p:spPr bwMode="auto">
              <a:xfrm>
                <a:off x="4840" y="1068"/>
                <a:ext cx="63" cy="63"/>
              </a:xfrm>
              <a:prstGeom prst="ellipse">
                <a:avLst/>
              </a:prstGeom>
              <a:gradFill rotWithShape="1">
                <a:gsLst>
                  <a:gs pos="0">
                    <a:srgbClr val="FFEFD7"/>
                  </a:gs>
                  <a:gs pos="100000">
                    <a:srgbClr val="FF9900"/>
                  </a:gs>
                </a:gsLst>
                <a:lin ang="5400000" scaled="1"/>
              </a:gra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1154" name="Oval 11"/>
              <p:cNvSpPr>
                <a:spLocks noChangeAspect="1" noChangeArrowheads="1"/>
              </p:cNvSpPr>
              <p:nvPr/>
            </p:nvSpPr>
            <p:spPr bwMode="auto">
              <a:xfrm>
                <a:off x="4720" y="1134"/>
                <a:ext cx="150" cy="150"/>
              </a:xfrm>
              <a:prstGeom prst="ellipse">
                <a:avLst/>
              </a:prstGeom>
              <a:gradFill rotWithShape="1">
                <a:gsLst>
                  <a:gs pos="0">
                    <a:srgbClr val="FFEFD7"/>
                  </a:gs>
                  <a:gs pos="100000">
                    <a:srgbClr val="FF9900"/>
                  </a:gs>
                </a:gsLst>
                <a:lin ang="5400000" scaled="1"/>
              </a:gra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1155" name="Oval 12"/>
              <p:cNvSpPr>
                <a:spLocks noChangeAspect="1" noChangeArrowheads="1"/>
              </p:cNvSpPr>
              <p:nvPr/>
            </p:nvSpPr>
            <p:spPr bwMode="auto">
              <a:xfrm>
                <a:off x="4872" y="1134"/>
                <a:ext cx="150" cy="150"/>
              </a:xfrm>
              <a:prstGeom prst="ellipse">
                <a:avLst/>
              </a:prstGeom>
              <a:gradFill rotWithShape="1">
                <a:gsLst>
                  <a:gs pos="0">
                    <a:srgbClr val="FFEFD7"/>
                  </a:gs>
                  <a:gs pos="100000">
                    <a:srgbClr val="FF9900"/>
                  </a:gs>
                </a:gsLst>
                <a:lin ang="5400000" scaled="1"/>
              </a:gra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1156" name="Line 13"/>
              <p:cNvSpPr>
                <a:spLocks noChangeAspect="1" noChangeShapeType="1"/>
              </p:cNvSpPr>
              <p:nvPr/>
            </p:nvSpPr>
            <p:spPr bwMode="auto">
              <a:xfrm flipV="1">
                <a:off x="4630" y="1136"/>
                <a:ext cx="0" cy="62"/>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1157" name="Line 14"/>
              <p:cNvSpPr>
                <a:spLocks noChangeAspect="1" noChangeShapeType="1"/>
              </p:cNvSpPr>
              <p:nvPr/>
            </p:nvSpPr>
            <p:spPr bwMode="auto">
              <a:xfrm flipV="1">
                <a:off x="5108" y="1124"/>
                <a:ext cx="0" cy="62"/>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1158" name="Freeform 15"/>
              <p:cNvSpPr>
                <a:spLocks noChangeAspect="1"/>
              </p:cNvSpPr>
              <p:nvPr/>
            </p:nvSpPr>
            <p:spPr bwMode="auto">
              <a:xfrm>
                <a:off x="4630" y="1062"/>
                <a:ext cx="198" cy="78"/>
              </a:xfrm>
              <a:custGeom>
                <a:avLst/>
                <a:gdLst>
                  <a:gd name="T0" fmla="*/ 0 w 198"/>
                  <a:gd name="T1" fmla="*/ 78 h 78"/>
                  <a:gd name="T2" fmla="*/ 96 w 198"/>
                  <a:gd name="T3" fmla="*/ 10 h 78"/>
                  <a:gd name="T4" fmla="*/ 198 w 198"/>
                  <a:gd name="T5" fmla="*/ 18 h 78"/>
                  <a:gd name="T6" fmla="*/ 0 60000 65536"/>
                  <a:gd name="T7" fmla="*/ 0 60000 65536"/>
                  <a:gd name="T8" fmla="*/ 0 60000 65536"/>
                </a:gdLst>
                <a:ahLst/>
                <a:cxnLst>
                  <a:cxn ang="T6">
                    <a:pos x="T0" y="T1"/>
                  </a:cxn>
                  <a:cxn ang="T7">
                    <a:pos x="T2" y="T3"/>
                  </a:cxn>
                  <a:cxn ang="T8">
                    <a:pos x="T4" y="T5"/>
                  </a:cxn>
                </a:cxnLst>
                <a:rect l="0" t="0" r="r" b="b"/>
                <a:pathLst>
                  <a:path w="198" h="78">
                    <a:moveTo>
                      <a:pt x="0" y="78"/>
                    </a:moveTo>
                    <a:cubicBezTo>
                      <a:pt x="31" y="49"/>
                      <a:pt x="63" y="20"/>
                      <a:pt x="96" y="10"/>
                    </a:cubicBezTo>
                    <a:cubicBezTo>
                      <a:pt x="129" y="0"/>
                      <a:pt x="167" y="13"/>
                      <a:pt x="198" y="18"/>
                    </a:cubicBezTo>
                  </a:path>
                </a:pathLst>
              </a:custGeom>
              <a:gradFill rotWithShape="1">
                <a:gsLst>
                  <a:gs pos="0">
                    <a:srgbClr val="FF9900"/>
                  </a:gs>
                  <a:gs pos="100000">
                    <a:srgbClr val="FFEFD7"/>
                  </a:gs>
                </a:gsLst>
                <a:lin ang="2700000" scaled="1"/>
              </a:gradFill>
              <a:ln w="317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1159" name="Freeform 16"/>
              <p:cNvSpPr>
                <a:spLocks noChangeAspect="1"/>
              </p:cNvSpPr>
              <p:nvPr/>
            </p:nvSpPr>
            <p:spPr bwMode="auto">
              <a:xfrm>
                <a:off x="4914" y="1054"/>
                <a:ext cx="194" cy="72"/>
              </a:xfrm>
              <a:custGeom>
                <a:avLst/>
                <a:gdLst>
                  <a:gd name="T0" fmla="*/ 194 w 194"/>
                  <a:gd name="T1" fmla="*/ 72 h 72"/>
                  <a:gd name="T2" fmla="*/ 76 w 194"/>
                  <a:gd name="T3" fmla="*/ 8 h 72"/>
                  <a:gd name="T4" fmla="*/ 0 w 194"/>
                  <a:gd name="T5" fmla="*/ 26 h 72"/>
                  <a:gd name="T6" fmla="*/ 0 60000 65536"/>
                  <a:gd name="T7" fmla="*/ 0 60000 65536"/>
                  <a:gd name="T8" fmla="*/ 0 60000 65536"/>
                </a:gdLst>
                <a:ahLst/>
                <a:cxnLst>
                  <a:cxn ang="T6">
                    <a:pos x="T0" y="T1"/>
                  </a:cxn>
                  <a:cxn ang="T7">
                    <a:pos x="T2" y="T3"/>
                  </a:cxn>
                  <a:cxn ang="T8">
                    <a:pos x="T4" y="T5"/>
                  </a:cxn>
                </a:cxnLst>
                <a:rect l="0" t="0" r="r" b="b"/>
                <a:pathLst>
                  <a:path w="194" h="72">
                    <a:moveTo>
                      <a:pt x="194" y="72"/>
                    </a:moveTo>
                    <a:cubicBezTo>
                      <a:pt x="151" y="44"/>
                      <a:pt x="108" y="16"/>
                      <a:pt x="76" y="8"/>
                    </a:cubicBezTo>
                    <a:cubicBezTo>
                      <a:pt x="44" y="0"/>
                      <a:pt x="8" y="19"/>
                      <a:pt x="0" y="26"/>
                    </a:cubicBezTo>
                  </a:path>
                </a:pathLst>
              </a:custGeom>
              <a:gradFill rotWithShape="1">
                <a:gsLst>
                  <a:gs pos="0">
                    <a:srgbClr val="FFEFD7"/>
                  </a:gs>
                  <a:gs pos="100000">
                    <a:srgbClr val="FF9900"/>
                  </a:gs>
                </a:gsLst>
                <a:lin ang="18900000" scaled="1"/>
              </a:gradFill>
              <a:ln w="317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86053" name="Rectangle 17"/>
            <p:cNvSpPr>
              <a:spLocks noChangeAspect="1" noChangeArrowheads="1"/>
            </p:cNvSpPr>
            <p:nvPr/>
          </p:nvSpPr>
          <p:spPr bwMode="auto">
            <a:xfrm>
              <a:off x="2735" y="1568"/>
              <a:ext cx="2" cy="44"/>
            </a:xfrm>
            <a:prstGeom prst="rect">
              <a:avLst/>
            </a:prstGeom>
            <a:solidFill>
              <a:srgbClr val="D7D7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54" name="Rectangle 18"/>
            <p:cNvSpPr>
              <a:spLocks noChangeAspect="1" noChangeArrowheads="1"/>
            </p:cNvSpPr>
            <p:nvPr/>
          </p:nvSpPr>
          <p:spPr bwMode="auto">
            <a:xfrm>
              <a:off x="5145" y="1267"/>
              <a:ext cx="1"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55" name="Rectangle 19"/>
            <p:cNvSpPr>
              <a:spLocks noChangeAspect="1" noChangeArrowheads="1"/>
            </p:cNvSpPr>
            <p:nvPr/>
          </p:nvSpPr>
          <p:spPr bwMode="auto">
            <a:xfrm>
              <a:off x="2967" y="2247"/>
              <a:ext cx="1"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56" name="Rectangle 20"/>
            <p:cNvSpPr>
              <a:spLocks noChangeAspect="1" noChangeArrowheads="1"/>
            </p:cNvSpPr>
            <p:nvPr/>
          </p:nvSpPr>
          <p:spPr bwMode="auto">
            <a:xfrm>
              <a:off x="3618" y="2852"/>
              <a:ext cx="1"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57" name="Rectangle 21"/>
            <p:cNvSpPr>
              <a:spLocks noChangeAspect="1" noChangeArrowheads="1"/>
            </p:cNvSpPr>
            <p:nvPr/>
          </p:nvSpPr>
          <p:spPr bwMode="auto">
            <a:xfrm>
              <a:off x="3279" y="3724"/>
              <a:ext cx="1"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58" name="Rectangle 22"/>
            <p:cNvSpPr>
              <a:spLocks noChangeAspect="1" noChangeArrowheads="1"/>
            </p:cNvSpPr>
            <p:nvPr/>
          </p:nvSpPr>
          <p:spPr bwMode="auto">
            <a:xfrm>
              <a:off x="4064" y="3495"/>
              <a:ext cx="1" cy="15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59" name="Rectangle 23"/>
            <p:cNvSpPr>
              <a:spLocks noChangeAspect="1" noChangeArrowheads="1"/>
            </p:cNvSpPr>
            <p:nvPr/>
          </p:nvSpPr>
          <p:spPr bwMode="auto">
            <a:xfrm>
              <a:off x="4833" y="3044"/>
              <a:ext cx="1" cy="1"/>
            </a:xfrm>
            <a:prstGeom prst="rect">
              <a:avLst/>
            </a:prstGeom>
            <a:solidFill>
              <a:srgbClr val="E8E8E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60" name="Rectangle 24"/>
            <p:cNvSpPr>
              <a:spLocks noChangeAspect="1" noChangeArrowheads="1"/>
            </p:cNvSpPr>
            <p:nvPr/>
          </p:nvSpPr>
          <p:spPr bwMode="auto">
            <a:xfrm>
              <a:off x="4946" y="3137"/>
              <a:ext cx="1" cy="1"/>
            </a:xfrm>
            <a:prstGeom prst="rect">
              <a:avLst/>
            </a:prstGeom>
            <a:solidFill>
              <a:srgbClr val="E8E8E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61" name="Rectangle 25"/>
            <p:cNvSpPr>
              <a:spLocks noChangeAspect="1" noChangeArrowheads="1"/>
            </p:cNvSpPr>
            <p:nvPr/>
          </p:nvSpPr>
          <p:spPr bwMode="auto">
            <a:xfrm>
              <a:off x="2499" y="3370"/>
              <a:ext cx="0" cy="38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62" name="Freeform 27"/>
            <p:cNvSpPr>
              <a:spLocks noChangeAspect="1"/>
            </p:cNvSpPr>
            <p:nvPr/>
          </p:nvSpPr>
          <p:spPr bwMode="auto">
            <a:xfrm>
              <a:off x="889" y="1454"/>
              <a:ext cx="5" cy="2"/>
            </a:xfrm>
            <a:custGeom>
              <a:avLst/>
              <a:gdLst>
                <a:gd name="T0" fmla="*/ 0 w 18"/>
                <a:gd name="T1" fmla="*/ 0 h 6"/>
                <a:gd name="T2" fmla="*/ 0 w 18"/>
                <a:gd name="T3" fmla="*/ 0 h 6"/>
                <a:gd name="T4" fmla="*/ 0 w 18"/>
                <a:gd name="T5" fmla="*/ 0 h 6"/>
                <a:gd name="T6" fmla="*/ 0 w 18"/>
                <a:gd name="T7" fmla="*/ 0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 h="6">
                  <a:moveTo>
                    <a:pt x="0" y="6"/>
                  </a:moveTo>
                  <a:lnTo>
                    <a:pt x="18" y="0"/>
                  </a:lnTo>
                  <a:lnTo>
                    <a:pt x="12" y="6"/>
                  </a:lnTo>
                  <a:lnTo>
                    <a:pt x="0" y="6"/>
                  </a:lnTo>
                  <a:close/>
                </a:path>
              </a:pathLst>
            </a:custGeom>
            <a:solidFill>
              <a:srgbClr val="ECE9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063" name="Freeform 28"/>
            <p:cNvSpPr>
              <a:spLocks noChangeAspect="1"/>
            </p:cNvSpPr>
            <p:nvPr/>
          </p:nvSpPr>
          <p:spPr bwMode="auto">
            <a:xfrm>
              <a:off x="781" y="1754"/>
              <a:ext cx="4" cy="2"/>
            </a:xfrm>
            <a:custGeom>
              <a:avLst/>
              <a:gdLst>
                <a:gd name="T0" fmla="*/ 0 w 15"/>
                <a:gd name="T1" fmla="*/ 0 h 5"/>
                <a:gd name="T2" fmla="*/ 0 w 15"/>
                <a:gd name="T3" fmla="*/ 0 h 5"/>
                <a:gd name="T4" fmla="*/ 0 w 15"/>
                <a:gd name="T5" fmla="*/ 0 h 5"/>
                <a:gd name="T6" fmla="*/ 0 w 15"/>
                <a:gd name="T7" fmla="*/ 0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5">
                  <a:moveTo>
                    <a:pt x="12" y="0"/>
                  </a:moveTo>
                  <a:lnTo>
                    <a:pt x="15" y="5"/>
                  </a:lnTo>
                  <a:lnTo>
                    <a:pt x="0" y="0"/>
                  </a:lnTo>
                  <a:lnTo>
                    <a:pt x="12" y="0"/>
                  </a:lnTo>
                  <a:close/>
                </a:path>
              </a:pathLst>
            </a:custGeom>
            <a:solidFill>
              <a:srgbClr val="998E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064" name="Rectangle 29"/>
            <p:cNvSpPr>
              <a:spLocks noChangeAspect="1" noChangeArrowheads="1"/>
            </p:cNvSpPr>
            <p:nvPr/>
          </p:nvSpPr>
          <p:spPr bwMode="auto">
            <a:xfrm>
              <a:off x="2397" y="1568"/>
              <a:ext cx="2" cy="45"/>
            </a:xfrm>
            <a:prstGeom prst="rect">
              <a:avLst/>
            </a:prstGeom>
            <a:solidFill>
              <a:srgbClr val="A8A7A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65" name="Rectangle 30"/>
            <p:cNvSpPr>
              <a:spLocks noChangeAspect="1" noChangeArrowheads="1"/>
            </p:cNvSpPr>
            <p:nvPr/>
          </p:nvSpPr>
          <p:spPr bwMode="auto">
            <a:xfrm>
              <a:off x="2746" y="1568"/>
              <a:ext cx="2" cy="44"/>
            </a:xfrm>
            <a:prstGeom prst="rect">
              <a:avLst/>
            </a:prstGeom>
            <a:solidFill>
              <a:srgbClr val="BFBF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66" name="Rectangle 31"/>
            <p:cNvSpPr>
              <a:spLocks noChangeAspect="1" noChangeArrowheads="1"/>
            </p:cNvSpPr>
            <p:nvPr/>
          </p:nvSpPr>
          <p:spPr bwMode="auto">
            <a:xfrm>
              <a:off x="3030" y="1392"/>
              <a:ext cx="3" cy="265"/>
            </a:xfrm>
            <a:prstGeom prst="rect">
              <a:avLst/>
            </a:prstGeom>
            <a:solidFill>
              <a:srgbClr val="6779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67" name="Freeform 32"/>
            <p:cNvSpPr>
              <a:spLocks noChangeAspect="1"/>
            </p:cNvSpPr>
            <p:nvPr/>
          </p:nvSpPr>
          <p:spPr bwMode="auto">
            <a:xfrm>
              <a:off x="3030" y="1378"/>
              <a:ext cx="3" cy="13"/>
            </a:xfrm>
            <a:custGeom>
              <a:avLst/>
              <a:gdLst>
                <a:gd name="T0" fmla="*/ 0 w 8"/>
                <a:gd name="T1" fmla="*/ 0 h 45"/>
                <a:gd name="T2" fmla="*/ 0 w 8"/>
                <a:gd name="T3" fmla="*/ 0 h 45"/>
                <a:gd name="T4" fmla="*/ 0 w 8"/>
                <a:gd name="T5" fmla="*/ 0 h 45"/>
                <a:gd name="T6" fmla="*/ 0 w 8"/>
                <a:gd name="T7" fmla="*/ 0 h 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45">
                  <a:moveTo>
                    <a:pt x="8" y="0"/>
                  </a:moveTo>
                  <a:lnTo>
                    <a:pt x="8" y="45"/>
                  </a:lnTo>
                  <a:lnTo>
                    <a:pt x="0" y="45"/>
                  </a:lnTo>
                  <a:lnTo>
                    <a:pt x="8" y="0"/>
                  </a:lnTo>
                  <a:close/>
                </a:path>
              </a:pathLst>
            </a:custGeom>
            <a:solidFill>
              <a:srgbClr val="6779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068" name="Rectangle 33"/>
            <p:cNvSpPr>
              <a:spLocks noChangeAspect="1" noChangeArrowheads="1"/>
            </p:cNvSpPr>
            <p:nvPr/>
          </p:nvSpPr>
          <p:spPr bwMode="auto">
            <a:xfrm>
              <a:off x="4095" y="2658"/>
              <a:ext cx="1" cy="7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69" name="Freeform 34"/>
            <p:cNvSpPr>
              <a:spLocks noChangeAspect="1"/>
            </p:cNvSpPr>
            <p:nvPr/>
          </p:nvSpPr>
          <p:spPr bwMode="auto">
            <a:xfrm>
              <a:off x="1581" y="2750"/>
              <a:ext cx="2" cy="15"/>
            </a:xfrm>
            <a:custGeom>
              <a:avLst/>
              <a:gdLst>
                <a:gd name="T0" fmla="*/ 0 w 6"/>
                <a:gd name="T1" fmla="*/ 0 h 51"/>
                <a:gd name="T2" fmla="*/ 0 w 6"/>
                <a:gd name="T3" fmla="*/ 0 h 51"/>
                <a:gd name="T4" fmla="*/ 0 w 6"/>
                <a:gd name="T5" fmla="*/ 0 h 51"/>
                <a:gd name="T6" fmla="*/ 0 w 6"/>
                <a:gd name="T7" fmla="*/ 0 h 5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51">
                  <a:moveTo>
                    <a:pt x="6" y="0"/>
                  </a:moveTo>
                  <a:lnTo>
                    <a:pt x="6" y="51"/>
                  </a:lnTo>
                  <a:lnTo>
                    <a:pt x="0" y="51"/>
                  </a:lnTo>
                  <a:lnTo>
                    <a:pt x="6" y="0"/>
                  </a:lnTo>
                  <a:close/>
                </a:path>
              </a:pathLst>
            </a:custGeom>
            <a:solidFill>
              <a:srgbClr val="F29B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070" name="Freeform 35"/>
            <p:cNvSpPr>
              <a:spLocks noChangeAspect="1"/>
            </p:cNvSpPr>
            <p:nvPr/>
          </p:nvSpPr>
          <p:spPr bwMode="auto">
            <a:xfrm>
              <a:off x="1907" y="2748"/>
              <a:ext cx="2" cy="15"/>
            </a:xfrm>
            <a:custGeom>
              <a:avLst/>
              <a:gdLst>
                <a:gd name="T0" fmla="*/ 0 w 7"/>
                <a:gd name="T1" fmla="*/ 0 h 52"/>
                <a:gd name="T2" fmla="*/ 0 w 7"/>
                <a:gd name="T3" fmla="*/ 0 h 52"/>
                <a:gd name="T4" fmla="*/ 0 w 7"/>
                <a:gd name="T5" fmla="*/ 0 h 52"/>
                <a:gd name="T6" fmla="*/ 0 w 7"/>
                <a:gd name="T7" fmla="*/ 0 h 5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52">
                  <a:moveTo>
                    <a:pt x="7" y="0"/>
                  </a:moveTo>
                  <a:lnTo>
                    <a:pt x="7" y="52"/>
                  </a:lnTo>
                  <a:lnTo>
                    <a:pt x="0" y="52"/>
                  </a:lnTo>
                  <a:lnTo>
                    <a:pt x="7" y="0"/>
                  </a:lnTo>
                  <a:close/>
                </a:path>
              </a:pathLst>
            </a:custGeom>
            <a:solidFill>
              <a:srgbClr val="F29B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071" name="Rectangle 36"/>
            <p:cNvSpPr>
              <a:spLocks noChangeAspect="1" noChangeArrowheads="1"/>
            </p:cNvSpPr>
            <p:nvPr/>
          </p:nvSpPr>
          <p:spPr bwMode="auto">
            <a:xfrm>
              <a:off x="3618" y="2673"/>
              <a:ext cx="1" cy="17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72" name="Freeform 37"/>
            <p:cNvSpPr>
              <a:spLocks noChangeAspect="1"/>
            </p:cNvSpPr>
            <p:nvPr/>
          </p:nvSpPr>
          <p:spPr bwMode="auto">
            <a:xfrm>
              <a:off x="3334" y="3435"/>
              <a:ext cx="1" cy="2"/>
            </a:xfrm>
            <a:custGeom>
              <a:avLst/>
              <a:gdLst>
                <a:gd name="T0" fmla="*/ 0 w 4"/>
                <a:gd name="T1" fmla="*/ 1 h 4"/>
                <a:gd name="T2" fmla="*/ 0 w 4"/>
                <a:gd name="T3" fmla="*/ 0 h 4"/>
                <a:gd name="T4" fmla="*/ 0 w 4"/>
                <a:gd name="T5" fmla="*/ 1 h 4"/>
                <a:gd name="T6" fmla="*/ 0 w 4"/>
                <a:gd name="T7" fmla="*/ 1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4">
                  <a:moveTo>
                    <a:pt x="0" y="4"/>
                  </a:moveTo>
                  <a:lnTo>
                    <a:pt x="3" y="0"/>
                  </a:lnTo>
                  <a:lnTo>
                    <a:pt x="4" y="1"/>
                  </a:lnTo>
                  <a:lnTo>
                    <a:pt x="0" y="4"/>
                  </a:lnTo>
                  <a:close/>
                </a:path>
              </a:pathLst>
            </a:custGeom>
            <a:solidFill>
              <a:srgbClr val="FBFA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073" name="Freeform 38"/>
            <p:cNvSpPr>
              <a:spLocks noChangeAspect="1"/>
            </p:cNvSpPr>
            <p:nvPr/>
          </p:nvSpPr>
          <p:spPr bwMode="auto">
            <a:xfrm>
              <a:off x="3357" y="3432"/>
              <a:ext cx="1" cy="0"/>
            </a:xfrm>
            <a:custGeom>
              <a:avLst/>
              <a:gdLst>
                <a:gd name="T0" fmla="*/ 0 w 4"/>
                <a:gd name="T1" fmla="*/ 0 h 2"/>
                <a:gd name="T2" fmla="*/ 0 w 4"/>
                <a:gd name="T3" fmla="*/ 1 h 2"/>
                <a:gd name="T4" fmla="*/ 0 w 4"/>
                <a:gd name="T5" fmla="*/ 1 h 2"/>
                <a:gd name="T6" fmla="*/ 0 w 4"/>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4" y="0"/>
                  </a:moveTo>
                  <a:lnTo>
                    <a:pt x="4" y="1"/>
                  </a:lnTo>
                  <a:lnTo>
                    <a:pt x="0" y="2"/>
                  </a:lnTo>
                  <a:lnTo>
                    <a:pt x="4" y="0"/>
                  </a:lnTo>
                  <a:close/>
                </a:path>
              </a:pathLst>
            </a:custGeom>
            <a:solidFill>
              <a:srgbClr val="8F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074" name="Freeform 39"/>
            <p:cNvSpPr>
              <a:spLocks noChangeAspect="1"/>
            </p:cNvSpPr>
            <p:nvPr/>
          </p:nvSpPr>
          <p:spPr bwMode="auto">
            <a:xfrm>
              <a:off x="1044" y="1479"/>
              <a:ext cx="2" cy="1"/>
            </a:xfrm>
            <a:custGeom>
              <a:avLst/>
              <a:gdLst>
                <a:gd name="T0" fmla="*/ 0 w 6"/>
                <a:gd name="T1" fmla="*/ 0 h 4"/>
                <a:gd name="T2" fmla="*/ 0 w 6"/>
                <a:gd name="T3" fmla="*/ 0 h 4"/>
                <a:gd name="T4" fmla="*/ 0 w 6"/>
                <a:gd name="T5" fmla="*/ 0 h 4"/>
                <a:gd name="T6" fmla="*/ 0 w 6"/>
                <a:gd name="T7" fmla="*/ 0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4">
                  <a:moveTo>
                    <a:pt x="0" y="0"/>
                  </a:moveTo>
                  <a:lnTo>
                    <a:pt x="6" y="0"/>
                  </a:lnTo>
                  <a:lnTo>
                    <a:pt x="6" y="4"/>
                  </a:lnTo>
                  <a:lnTo>
                    <a:pt x="0" y="0"/>
                  </a:lnTo>
                  <a:close/>
                </a:path>
              </a:pathLst>
            </a:custGeom>
            <a:solidFill>
              <a:srgbClr val="5D7E7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075" name="Freeform 40"/>
            <p:cNvSpPr>
              <a:spLocks noChangeAspect="1"/>
            </p:cNvSpPr>
            <p:nvPr/>
          </p:nvSpPr>
          <p:spPr bwMode="auto">
            <a:xfrm>
              <a:off x="1043" y="1479"/>
              <a:ext cx="3" cy="1"/>
            </a:xfrm>
            <a:custGeom>
              <a:avLst/>
              <a:gdLst>
                <a:gd name="T0" fmla="*/ 0 w 10"/>
                <a:gd name="T1" fmla="*/ 0 h 7"/>
                <a:gd name="T2" fmla="*/ 0 w 10"/>
                <a:gd name="T3" fmla="*/ 0 h 7"/>
                <a:gd name="T4" fmla="*/ 0 w 10"/>
                <a:gd name="T5" fmla="*/ 0 h 7"/>
                <a:gd name="T6" fmla="*/ 0 w 10"/>
                <a:gd name="T7" fmla="*/ 0 h 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 h="7">
                  <a:moveTo>
                    <a:pt x="0" y="0"/>
                  </a:moveTo>
                  <a:lnTo>
                    <a:pt x="10" y="0"/>
                  </a:lnTo>
                  <a:lnTo>
                    <a:pt x="10" y="7"/>
                  </a:lnTo>
                  <a:lnTo>
                    <a:pt x="0" y="0"/>
                  </a:lnTo>
                  <a:close/>
                </a:path>
              </a:pathLst>
            </a:custGeom>
            <a:solidFill>
              <a:srgbClr val="5D7E7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076" name="Rectangle 41"/>
            <p:cNvSpPr>
              <a:spLocks noChangeAspect="1" noChangeArrowheads="1"/>
            </p:cNvSpPr>
            <p:nvPr/>
          </p:nvSpPr>
          <p:spPr bwMode="auto">
            <a:xfrm>
              <a:off x="923" y="1506"/>
              <a:ext cx="69"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77" name="Rectangle 42"/>
            <p:cNvSpPr>
              <a:spLocks noChangeAspect="1" noChangeArrowheads="1"/>
            </p:cNvSpPr>
            <p:nvPr/>
          </p:nvSpPr>
          <p:spPr bwMode="auto">
            <a:xfrm>
              <a:off x="923" y="1498"/>
              <a:ext cx="69"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78" name="Rectangle 43"/>
            <p:cNvSpPr>
              <a:spLocks noChangeAspect="1" noChangeArrowheads="1"/>
            </p:cNvSpPr>
            <p:nvPr/>
          </p:nvSpPr>
          <p:spPr bwMode="auto">
            <a:xfrm>
              <a:off x="923" y="1494"/>
              <a:ext cx="69"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79" name="Rectangle 44"/>
            <p:cNvSpPr>
              <a:spLocks noChangeAspect="1" noChangeArrowheads="1"/>
            </p:cNvSpPr>
            <p:nvPr/>
          </p:nvSpPr>
          <p:spPr bwMode="auto">
            <a:xfrm>
              <a:off x="923" y="1487"/>
              <a:ext cx="69"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80" name="Rectangle 45"/>
            <p:cNvSpPr>
              <a:spLocks noChangeAspect="1" noChangeArrowheads="1"/>
            </p:cNvSpPr>
            <p:nvPr/>
          </p:nvSpPr>
          <p:spPr bwMode="auto">
            <a:xfrm>
              <a:off x="923" y="1479"/>
              <a:ext cx="69"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81" name="Rectangle 46"/>
            <p:cNvSpPr>
              <a:spLocks noChangeAspect="1" noChangeArrowheads="1"/>
            </p:cNvSpPr>
            <p:nvPr/>
          </p:nvSpPr>
          <p:spPr bwMode="auto">
            <a:xfrm>
              <a:off x="923" y="1476"/>
              <a:ext cx="69"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82" name="Rectangle 47"/>
            <p:cNvSpPr>
              <a:spLocks noChangeAspect="1" noChangeArrowheads="1"/>
            </p:cNvSpPr>
            <p:nvPr/>
          </p:nvSpPr>
          <p:spPr bwMode="auto">
            <a:xfrm>
              <a:off x="923" y="1468"/>
              <a:ext cx="69" cy="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83" name="Rectangle 48"/>
            <p:cNvSpPr>
              <a:spLocks noChangeAspect="1" noChangeArrowheads="1"/>
            </p:cNvSpPr>
            <p:nvPr/>
          </p:nvSpPr>
          <p:spPr bwMode="auto">
            <a:xfrm>
              <a:off x="923" y="1459"/>
              <a:ext cx="69"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84" name="Rectangle 49"/>
            <p:cNvSpPr>
              <a:spLocks noChangeAspect="1" noChangeArrowheads="1"/>
            </p:cNvSpPr>
            <p:nvPr/>
          </p:nvSpPr>
          <p:spPr bwMode="auto">
            <a:xfrm>
              <a:off x="923" y="1450"/>
              <a:ext cx="69"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85" name="Rectangle 50"/>
            <p:cNvSpPr>
              <a:spLocks noChangeAspect="1" noChangeArrowheads="1"/>
            </p:cNvSpPr>
            <p:nvPr/>
          </p:nvSpPr>
          <p:spPr bwMode="auto">
            <a:xfrm>
              <a:off x="923" y="1449"/>
              <a:ext cx="69"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86" name="Rectangle 51"/>
            <p:cNvSpPr>
              <a:spLocks noChangeAspect="1" noChangeArrowheads="1"/>
            </p:cNvSpPr>
            <p:nvPr/>
          </p:nvSpPr>
          <p:spPr bwMode="auto">
            <a:xfrm>
              <a:off x="923" y="1440"/>
              <a:ext cx="69"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87" name="Rectangle 52"/>
            <p:cNvSpPr>
              <a:spLocks noChangeAspect="1" noChangeArrowheads="1"/>
            </p:cNvSpPr>
            <p:nvPr/>
          </p:nvSpPr>
          <p:spPr bwMode="auto">
            <a:xfrm>
              <a:off x="923" y="1432"/>
              <a:ext cx="69"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88" name="Rectangle 53"/>
            <p:cNvSpPr>
              <a:spLocks noChangeAspect="1" noChangeArrowheads="1"/>
            </p:cNvSpPr>
            <p:nvPr/>
          </p:nvSpPr>
          <p:spPr bwMode="auto">
            <a:xfrm>
              <a:off x="923" y="1424"/>
              <a:ext cx="69" cy="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89" name="Rectangle 54"/>
            <p:cNvSpPr>
              <a:spLocks noChangeAspect="1" noChangeArrowheads="1"/>
            </p:cNvSpPr>
            <p:nvPr/>
          </p:nvSpPr>
          <p:spPr bwMode="auto">
            <a:xfrm>
              <a:off x="923" y="1421"/>
              <a:ext cx="69"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90" name="Rectangle 55"/>
            <p:cNvSpPr>
              <a:spLocks noChangeAspect="1" noChangeArrowheads="1"/>
            </p:cNvSpPr>
            <p:nvPr/>
          </p:nvSpPr>
          <p:spPr bwMode="auto">
            <a:xfrm>
              <a:off x="923" y="1413"/>
              <a:ext cx="69"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91" name="Rectangle 56"/>
            <p:cNvSpPr>
              <a:spLocks noChangeAspect="1" noChangeArrowheads="1"/>
            </p:cNvSpPr>
            <p:nvPr/>
          </p:nvSpPr>
          <p:spPr bwMode="auto">
            <a:xfrm>
              <a:off x="992" y="1504"/>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92" name="Rectangle 57"/>
            <p:cNvSpPr>
              <a:spLocks noChangeAspect="1" noChangeArrowheads="1"/>
            </p:cNvSpPr>
            <p:nvPr/>
          </p:nvSpPr>
          <p:spPr bwMode="auto">
            <a:xfrm>
              <a:off x="992" y="1487"/>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93" name="Rectangle 58"/>
            <p:cNvSpPr>
              <a:spLocks noChangeAspect="1" noChangeArrowheads="1"/>
            </p:cNvSpPr>
            <p:nvPr/>
          </p:nvSpPr>
          <p:spPr bwMode="auto">
            <a:xfrm>
              <a:off x="992" y="1477"/>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94" name="Rectangle 59"/>
            <p:cNvSpPr>
              <a:spLocks noChangeAspect="1" noChangeArrowheads="1"/>
            </p:cNvSpPr>
            <p:nvPr/>
          </p:nvSpPr>
          <p:spPr bwMode="auto">
            <a:xfrm>
              <a:off x="992" y="1468"/>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95" name="Rectangle 60"/>
            <p:cNvSpPr>
              <a:spLocks noChangeAspect="1" noChangeArrowheads="1"/>
            </p:cNvSpPr>
            <p:nvPr/>
          </p:nvSpPr>
          <p:spPr bwMode="auto">
            <a:xfrm>
              <a:off x="992" y="1457"/>
              <a:ext cx="31"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96" name="Rectangle 61"/>
            <p:cNvSpPr>
              <a:spLocks noChangeAspect="1" noChangeArrowheads="1"/>
            </p:cNvSpPr>
            <p:nvPr/>
          </p:nvSpPr>
          <p:spPr bwMode="auto">
            <a:xfrm>
              <a:off x="992" y="1441"/>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97" name="Rectangle 62"/>
            <p:cNvSpPr>
              <a:spLocks noChangeAspect="1" noChangeArrowheads="1"/>
            </p:cNvSpPr>
            <p:nvPr/>
          </p:nvSpPr>
          <p:spPr bwMode="auto">
            <a:xfrm>
              <a:off x="992" y="1430"/>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98" name="Rectangle 63"/>
            <p:cNvSpPr>
              <a:spLocks noChangeAspect="1" noChangeArrowheads="1"/>
            </p:cNvSpPr>
            <p:nvPr/>
          </p:nvSpPr>
          <p:spPr bwMode="auto">
            <a:xfrm>
              <a:off x="992" y="1421"/>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099" name="Rectangle 64"/>
            <p:cNvSpPr>
              <a:spLocks noChangeAspect="1" noChangeArrowheads="1"/>
            </p:cNvSpPr>
            <p:nvPr/>
          </p:nvSpPr>
          <p:spPr bwMode="auto">
            <a:xfrm>
              <a:off x="992" y="1405"/>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00" name="Rectangle 65"/>
            <p:cNvSpPr>
              <a:spLocks noChangeAspect="1" noChangeArrowheads="1"/>
            </p:cNvSpPr>
            <p:nvPr/>
          </p:nvSpPr>
          <p:spPr bwMode="auto">
            <a:xfrm>
              <a:off x="992" y="1398"/>
              <a:ext cx="31" cy="3"/>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01" name="Rectangle 66"/>
            <p:cNvSpPr>
              <a:spLocks noChangeAspect="1" noChangeArrowheads="1"/>
            </p:cNvSpPr>
            <p:nvPr/>
          </p:nvSpPr>
          <p:spPr bwMode="auto">
            <a:xfrm>
              <a:off x="992" y="1398"/>
              <a:ext cx="31" cy="0"/>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02" name="Rectangle 67"/>
            <p:cNvSpPr>
              <a:spLocks noChangeAspect="1" noChangeArrowheads="1"/>
            </p:cNvSpPr>
            <p:nvPr/>
          </p:nvSpPr>
          <p:spPr bwMode="auto">
            <a:xfrm>
              <a:off x="1023" y="1545"/>
              <a:ext cx="210" cy="2"/>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03" name="Rectangle 68"/>
            <p:cNvSpPr>
              <a:spLocks noChangeAspect="1" noChangeArrowheads="1"/>
            </p:cNvSpPr>
            <p:nvPr/>
          </p:nvSpPr>
          <p:spPr bwMode="auto">
            <a:xfrm>
              <a:off x="1023" y="1542"/>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04" name="Rectangle 69"/>
            <p:cNvSpPr>
              <a:spLocks noChangeAspect="1" noChangeArrowheads="1"/>
            </p:cNvSpPr>
            <p:nvPr/>
          </p:nvSpPr>
          <p:spPr bwMode="auto">
            <a:xfrm>
              <a:off x="1023" y="1533"/>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05" name="Rectangle 70"/>
            <p:cNvSpPr>
              <a:spLocks noChangeAspect="1" noChangeArrowheads="1"/>
            </p:cNvSpPr>
            <p:nvPr/>
          </p:nvSpPr>
          <p:spPr bwMode="auto">
            <a:xfrm>
              <a:off x="1023" y="1525"/>
              <a:ext cx="21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06" name="Rectangle 71"/>
            <p:cNvSpPr>
              <a:spLocks noChangeAspect="1" noChangeArrowheads="1"/>
            </p:cNvSpPr>
            <p:nvPr/>
          </p:nvSpPr>
          <p:spPr bwMode="auto">
            <a:xfrm>
              <a:off x="1023" y="1523"/>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07" name="Rectangle 72"/>
            <p:cNvSpPr>
              <a:spLocks noChangeAspect="1" noChangeArrowheads="1"/>
            </p:cNvSpPr>
            <p:nvPr/>
          </p:nvSpPr>
          <p:spPr bwMode="auto">
            <a:xfrm>
              <a:off x="1023" y="1514"/>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08" name="Rectangle 73"/>
            <p:cNvSpPr>
              <a:spLocks noChangeAspect="1" noChangeArrowheads="1"/>
            </p:cNvSpPr>
            <p:nvPr/>
          </p:nvSpPr>
          <p:spPr bwMode="auto">
            <a:xfrm>
              <a:off x="1023" y="1506"/>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09" name="Rectangle 74"/>
            <p:cNvSpPr>
              <a:spLocks noChangeAspect="1" noChangeArrowheads="1"/>
            </p:cNvSpPr>
            <p:nvPr/>
          </p:nvSpPr>
          <p:spPr bwMode="auto">
            <a:xfrm>
              <a:off x="1023" y="1498"/>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10" name="Rectangle 75"/>
            <p:cNvSpPr>
              <a:spLocks noChangeAspect="1" noChangeArrowheads="1"/>
            </p:cNvSpPr>
            <p:nvPr/>
          </p:nvSpPr>
          <p:spPr bwMode="auto">
            <a:xfrm>
              <a:off x="1023" y="1494"/>
              <a:ext cx="210"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11" name="Rectangle 76"/>
            <p:cNvSpPr>
              <a:spLocks noChangeAspect="1" noChangeArrowheads="1"/>
            </p:cNvSpPr>
            <p:nvPr/>
          </p:nvSpPr>
          <p:spPr bwMode="auto">
            <a:xfrm>
              <a:off x="1023" y="1487"/>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12" name="Rectangle 77"/>
            <p:cNvSpPr>
              <a:spLocks noChangeAspect="1" noChangeArrowheads="1"/>
            </p:cNvSpPr>
            <p:nvPr/>
          </p:nvSpPr>
          <p:spPr bwMode="auto">
            <a:xfrm>
              <a:off x="1023" y="1479"/>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13" name="Rectangle 78"/>
            <p:cNvSpPr>
              <a:spLocks noChangeAspect="1" noChangeArrowheads="1"/>
            </p:cNvSpPr>
            <p:nvPr/>
          </p:nvSpPr>
          <p:spPr bwMode="auto">
            <a:xfrm>
              <a:off x="1023" y="1476"/>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14" name="Rectangle 79"/>
            <p:cNvSpPr>
              <a:spLocks noChangeAspect="1" noChangeArrowheads="1"/>
            </p:cNvSpPr>
            <p:nvPr/>
          </p:nvSpPr>
          <p:spPr bwMode="auto">
            <a:xfrm>
              <a:off x="1023" y="1468"/>
              <a:ext cx="210" cy="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15" name="Rectangle 80"/>
            <p:cNvSpPr>
              <a:spLocks noChangeAspect="1" noChangeArrowheads="1"/>
            </p:cNvSpPr>
            <p:nvPr/>
          </p:nvSpPr>
          <p:spPr bwMode="auto">
            <a:xfrm>
              <a:off x="1023" y="1459"/>
              <a:ext cx="21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16" name="Rectangle 81"/>
            <p:cNvSpPr>
              <a:spLocks noChangeAspect="1" noChangeArrowheads="1"/>
            </p:cNvSpPr>
            <p:nvPr/>
          </p:nvSpPr>
          <p:spPr bwMode="auto">
            <a:xfrm>
              <a:off x="1023" y="1450"/>
              <a:ext cx="210"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17" name="Rectangle 82"/>
            <p:cNvSpPr>
              <a:spLocks noChangeAspect="1" noChangeArrowheads="1"/>
            </p:cNvSpPr>
            <p:nvPr/>
          </p:nvSpPr>
          <p:spPr bwMode="auto">
            <a:xfrm>
              <a:off x="1023" y="1449"/>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18" name="Rectangle 83"/>
            <p:cNvSpPr>
              <a:spLocks noChangeAspect="1" noChangeArrowheads="1"/>
            </p:cNvSpPr>
            <p:nvPr/>
          </p:nvSpPr>
          <p:spPr bwMode="auto">
            <a:xfrm>
              <a:off x="1023" y="1440"/>
              <a:ext cx="21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19" name="Rectangle 84"/>
            <p:cNvSpPr>
              <a:spLocks noChangeAspect="1" noChangeArrowheads="1"/>
            </p:cNvSpPr>
            <p:nvPr/>
          </p:nvSpPr>
          <p:spPr bwMode="auto">
            <a:xfrm>
              <a:off x="1023" y="1432"/>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20" name="Rectangle 85"/>
            <p:cNvSpPr>
              <a:spLocks noChangeAspect="1" noChangeArrowheads="1"/>
            </p:cNvSpPr>
            <p:nvPr/>
          </p:nvSpPr>
          <p:spPr bwMode="auto">
            <a:xfrm>
              <a:off x="1023" y="1424"/>
              <a:ext cx="210" cy="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21" name="Rectangle 86"/>
            <p:cNvSpPr>
              <a:spLocks noChangeAspect="1" noChangeArrowheads="1"/>
            </p:cNvSpPr>
            <p:nvPr/>
          </p:nvSpPr>
          <p:spPr bwMode="auto">
            <a:xfrm>
              <a:off x="1023" y="1421"/>
              <a:ext cx="21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22" name="Rectangle 87"/>
            <p:cNvSpPr>
              <a:spLocks noChangeAspect="1" noChangeArrowheads="1"/>
            </p:cNvSpPr>
            <p:nvPr/>
          </p:nvSpPr>
          <p:spPr bwMode="auto">
            <a:xfrm>
              <a:off x="1023" y="1413"/>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23" name="Rectangle 88"/>
            <p:cNvSpPr>
              <a:spLocks noChangeAspect="1" noChangeArrowheads="1"/>
            </p:cNvSpPr>
            <p:nvPr/>
          </p:nvSpPr>
          <p:spPr bwMode="auto">
            <a:xfrm>
              <a:off x="1233" y="1560"/>
              <a:ext cx="31" cy="3"/>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24" name="Rectangle 89"/>
            <p:cNvSpPr>
              <a:spLocks noChangeAspect="1" noChangeArrowheads="1"/>
            </p:cNvSpPr>
            <p:nvPr/>
          </p:nvSpPr>
          <p:spPr bwMode="auto">
            <a:xfrm>
              <a:off x="1233" y="1550"/>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25" name="Rectangle 90"/>
            <p:cNvSpPr>
              <a:spLocks noChangeAspect="1" noChangeArrowheads="1"/>
            </p:cNvSpPr>
            <p:nvPr/>
          </p:nvSpPr>
          <p:spPr bwMode="auto">
            <a:xfrm>
              <a:off x="1233" y="1533"/>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26" name="Rectangle 91"/>
            <p:cNvSpPr>
              <a:spLocks noChangeAspect="1" noChangeArrowheads="1"/>
            </p:cNvSpPr>
            <p:nvPr/>
          </p:nvSpPr>
          <p:spPr bwMode="auto">
            <a:xfrm>
              <a:off x="1233" y="1524"/>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27" name="Rectangle 92"/>
            <p:cNvSpPr>
              <a:spLocks noChangeAspect="1" noChangeArrowheads="1"/>
            </p:cNvSpPr>
            <p:nvPr/>
          </p:nvSpPr>
          <p:spPr bwMode="auto">
            <a:xfrm>
              <a:off x="1233" y="1513"/>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28" name="Rectangle 93"/>
            <p:cNvSpPr>
              <a:spLocks noChangeAspect="1" noChangeArrowheads="1"/>
            </p:cNvSpPr>
            <p:nvPr/>
          </p:nvSpPr>
          <p:spPr bwMode="auto">
            <a:xfrm>
              <a:off x="1233" y="1504"/>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29" name="Rectangle 94"/>
            <p:cNvSpPr>
              <a:spLocks noChangeAspect="1" noChangeArrowheads="1"/>
            </p:cNvSpPr>
            <p:nvPr/>
          </p:nvSpPr>
          <p:spPr bwMode="auto">
            <a:xfrm>
              <a:off x="1233" y="1487"/>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30" name="Rectangle 95"/>
            <p:cNvSpPr>
              <a:spLocks noChangeAspect="1" noChangeArrowheads="1"/>
            </p:cNvSpPr>
            <p:nvPr/>
          </p:nvSpPr>
          <p:spPr bwMode="auto">
            <a:xfrm>
              <a:off x="1233" y="1477"/>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31" name="Rectangle 96"/>
            <p:cNvSpPr>
              <a:spLocks noChangeAspect="1" noChangeArrowheads="1"/>
            </p:cNvSpPr>
            <p:nvPr/>
          </p:nvSpPr>
          <p:spPr bwMode="auto">
            <a:xfrm>
              <a:off x="1233" y="1468"/>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32" name="Rectangle 97"/>
            <p:cNvSpPr>
              <a:spLocks noChangeAspect="1" noChangeArrowheads="1"/>
            </p:cNvSpPr>
            <p:nvPr/>
          </p:nvSpPr>
          <p:spPr bwMode="auto">
            <a:xfrm>
              <a:off x="1233" y="1457"/>
              <a:ext cx="31"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33" name="Rectangle 98"/>
            <p:cNvSpPr>
              <a:spLocks noChangeAspect="1" noChangeArrowheads="1"/>
            </p:cNvSpPr>
            <p:nvPr/>
          </p:nvSpPr>
          <p:spPr bwMode="auto">
            <a:xfrm>
              <a:off x="1233" y="1441"/>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34" name="Rectangle 99"/>
            <p:cNvSpPr>
              <a:spLocks noChangeAspect="1" noChangeArrowheads="1"/>
            </p:cNvSpPr>
            <p:nvPr/>
          </p:nvSpPr>
          <p:spPr bwMode="auto">
            <a:xfrm>
              <a:off x="1233" y="1430"/>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35" name="Rectangle 100"/>
            <p:cNvSpPr>
              <a:spLocks noChangeAspect="1" noChangeArrowheads="1"/>
            </p:cNvSpPr>
            <p:nvPr/>
          </p:nvSpPr>
          <p:spPr bwMode="auto">
            <a:xfrm>
              <a:off x="1233" y="1421"/>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36" name="Rectangle 101"/>
            <p:cNvSpPr>
              <a:spLocks noChangeAspect="1" noChangeArrowheads="1"/>
            </p:cNvSpPr>
            <p:nvPr/>
          </p:nvSpPr>
          <p:spPr bwMode="auto">
            <a:xfrm>
              <a:off x="1233" y="1405"/>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37" name="Rectangle 102"/>
            <p:cNvSpPr>
              <a:spLocks noChangeAspect="1" noChangeArrowheads="1"/>
            </p:cNvSpPr>
            <p:nvPr/>
          </p:nvSpPr>
          <p:spPr bwMode="auto">
            <a:xfrm>
              <a:off x="1233" y="1398"/>
              <a:ext cx="31" cy="3"/>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38" name="Rectangle 103"/>
            <p:cNvSpPr>
              <a:spLocks noChangeAspect="1" noChangeArrowheads="1"/>
            </p:cNvSpPr>
            <p:nvPr/>
          </p:nvSpPr>
          <p:spPr bwMode="auto">
            <a:xfrm>
              <a:off x="1233" y="1398"/>
              <a:ext cx="31" cy="0"/>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39" name="Rectangle 104"/>
            <p:cNvSpPr>
              <a:spLocks noChangeAspect="1" noChangeArrowheads="1"/>
            </p:cNvSpPr>
            <p:nvPr/>
          </p:nvSpPr>
          <p:spPr bwMode="auto">
            <a:xfrm>
              <a:off x="1264" y="1545"/>
              <a:ext cx="70" cy="2"/>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40" name="Rectangle 105"/>
            <p:cNvSpPr>
              <a:spLocks noChangeAspect="1" noChangeArrowheads="1"/>
            </p:cNvSpPr>
            <p:nvPr/>
          </p:nvSpPr>
          <p:spPr bwMode="auto">
            <a:xfrm>
              <a:off x="1264" y="1542"/>
              <a:ext cx="7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41" name="Rectangle 106"/>
            <p:cNvSpPr>
              <a:spLocks noChangeAspect="1" noChangeArrowheads="1"/>
            </p:cNvSpPr>
            <p:nvPr/>
          </p:nvSpPr>
          <p:spPr bwMode="auto">
            <a:xfrm>
              <a:off x="1264" y="1534"/>
              <a:ext cx="70" cy="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42" name="Rectangle 107"/>
            <p:cNvSpPr>
              <a:spLocks noChangeAspect="1" noChangeArrowheads="1"/>
            </p:cNvSpPr>
            <p:nvPr/>
          </p:nvSpPr>
          <p:spPr bwMode="auto">
            <a:xfrm>
              <a:off x="1264" y="1525"/>
              <a:ext cx="7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43" name="Rectangle 108"/>
            <p:cNvSpPr>
              <a:spLocks noChangeAspect="1" noChangeArrowheads="1"/>
            </p:cNvSpPr>
            <p:nvPr/>
          </p:nvSpPr>
          <p:spPr bwMode="auto">
            <a:xfrm>
              <a:off x="1264" y="1523"/>
              <a:ext cx="7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44" name="Rectangle 109"/>
            <p:cNvSpPr>
              <a:spLocks noChangeAspect="1" noChangeArrowheads="1"/>
            </p:cNvSpPr>
            <p:nvPr/>
          </p:nvSpPr>
          <p:spPr bwMode="auto">
            <a:xfrm>
              <a:off x="1264" y="1514"/>
              <a:ext cx="7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45" name="Rectangle 110"/>
            <p:cNvSpPr>
              <a:spLocks noChangeAspect="1" noChangeArrowheads="1"/>
            </p:cNvSpPr>
            <p:nvPr/>
          </p:nvSpPr>
          <p:spPr bwMode="auto">
            <a:xfrm>
              <a:off x="1264" y="1506"/>
              <a:ext cx="7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46" name="Rectangle 111"/>
            <p:cNvSpPr>
              <a:spLocks noChangeAspect="1" noChangeArrowheads="1"/>
            </p:cNvSpPr>
            <p:nvPr/>
          </p:nvSpPr>
          <p:spPr bwMode="auto">
            <a:xfrm>
              <a:off x="1264" y="1498"/>
              <a:ext cx="7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47" name="Rectangle 112"/>
            <p:cNvSpPr>
              <a:spLocks noChangeAspect="1" noChangeArrowheads="1"/>
            </p:cNvSpPr>
            <p:nvPr/>
          </p:nvSpPr>
          <p:spPr bwMode="auto">
            <a:xfrm>
              <a:off x="1264" y="1494"/>
              <a:ext cx="70"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48" name="Rectangle 113"/>
            <p:cNvSpPr>
              <a:spLocks noChangeAspect="1" noChangeArrowheads="1"/>
            </p:cNvSpPr>
            <p:nvPr/>
          </p:nvSpPr>
          <p:spPr bwMode="auto">
            <a:xfrm>
              <a:off x="1264" y="1487"/>
              <a:ext cx="7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49" name="Rectangle 114"/>
            <p:cNvSpPr>
              <a:spLocks noChangeAspect="1" noChangeArrowheads="1"/>
            </p:cNvSpPr>
            <p:nvPr/>
          </p:nvSpPr>
          <p:spPr bwMode="auto">
            <a:xfrm>
              <a:off x="1264" y="1479"/>
              <a:ext cx="7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50" name="Rectangle 115"/>
            <p:cNvSpPr>
              <a:spLocks noChangeAspect="1" noChangeArrowheads="1"/>
            </p:cNvSpPr>
            <p:nvPr/>
          </p:nvSpPr>
          <p:spPr bwMode="auto">
            <a:xfrm>
              <a:off x="1264" y="1468"/>
              <a:ext cx="70" cy="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51" name="Rectangle 116"/>
            <p:cNvSpPr>
              <a:spLocks noChangeAspect="1" noChangeArrowheads="1"/>
            </p:cNvSpPr>
            <p:nvPr/>
          </p:nvSpPr>
          <p:spPr bwMode="auto">
            <a:xfrm>
              <a:off x="1264" y="1459"/>
              <a:ext cx="7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52" name="Rectangle 117"/>
            <p:cNvSpPr>
              <a:spLocks noChangeAspect="1" noChangeArrowheads="1"/>
            </p:cNvSpPr>
            <p:nvPr/>
          </p:nvSpPr>
          <p:spPr bwMode="auto">
            <a:xfrm>
              <a:off x="1264" y="1450"/>
              <a:ext cx="70"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53" name="Rectangle 118"/>
            <p:cNvSpPr>
              <a:spLocks noChangeAspect="1" noChangeArrowheads="1"/>
            </p:cNvSpPr>
            <p:nvPr/>
          </p:nvSpPr>
          <p:spPr bwMode="auto">
            <a:xfrm>
              <a:off x="1264" y="1449"/>
              <a:ext cx="7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54" name="Rectangle 119"/>
            <p:cNvSpPr>
              <a:spLocks noChangeAspect="1" noChangeArrowheads="1"/>
            </p:cNvSpPr>
            <p:nvPr/>
          </p:nvSpPr>
          <p:spPr bwMode="auto">
            <a:xfrm>
              <a:off x="1264" y="1440"/>
              <a:ext cx="7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55" name="Rectangle 120"/>
            <p:cNvSpPr>
              <a:spLocks noChangeAspect="1" noChangeArrowheads="1"/>
            </p:cNvSpPr>
            <p:nvPr/>
          </p:nvSpPr>
          <p:spPr bwMode="auto">
            <a:xfrm>
              <a:off x="1264" y="1432"/>
              <a:ext cx="7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56" name="Rectangle 121"/>
            <p:cNvSpPr>
              <a:spLocks noChangeAspect="1" noChangeArrowheads="1"/>
            </p:cNvSpPr>
            <p:nvPr/>
          </p:nvSpPr>
          <p:spPr bwMode="auto">
            <a:xfrm>
              <a:off x="1264" y="1424"/>
              <a:ext cx="7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57" name="Rectangle 122"/>
            <p:cNvSpPr>
              <a:spLocks noChangeAspect="1" noChangeArrowheads="1"/>
            </p:cNvSpPr>
            <p:nvPr/>
          </p:nvSpPr>
          <p:spPr bwMode="auto">
            <a:xfrm>
              <a:off x="1264" y="1421"/>
              <a:ext cx="7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58" name="Rectangle 123"/>
            <p:cNvSpPr>
              <a:spLocks noChangeAspect="1" noChangeArrowheads="1"/>
            </p:cNvSpPr>
            <p:nvPr/>
          </p:nvSpPr>
          <p:spPr bwMode="auto">
            <a:xfrm>
              <a:off x="1264" y="1413"/>
              <a:ext cx="7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59" name="Freeform 124"/>
            <p:cNvSpPr>
              <a:spLocks noChangeAspect="1"/>
            </p:cNvSpPr>
            <p:nvPr/>
          </p:nvSpPr>
          <p:spPr bwMode="auto">
            <a:xfrm>
              <a:off x="5211" y="1445"/>
              <a:ext cx="3" cy="4"/>
            </a:xfrm>
            <a:custGeom>
              <a:avLst/>
              <a:gdLst>
                <a:gd name="T0" fmla="*/ 0 w 11"/>
                <a:gd name="T1" fmla="*/ 0 h 11"/>
                <a:gd name="T2" fmla="*/ 0 w 11"/>
                <a:gd name="T3" fmla="*/ 0 h 11"/>
                <a:gd name="T4" fmla="*/ 0 w 11"/>
                <a:gd name="T5" fmla="*/ 0 h 11"/>
                <a:gd name="T6" fmla="*/ 0 w 11"/>
                <a:gd name="T7" fmla="*/ 0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1">
                  <a:moveTo>
                    <a:pt x="0" y="11"/>
                  </a:moveTo>
                  <a:lnTo>
                    <a:pt x="11" y="0"/>
                  </a:lnTo>
                  <a:lnTo>
                    <a:pt x="11" y="1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86160" name="Group 125"/>
            <p:cNvGrpSpPr>
              <a:grpSpLocks noChangeAspect="1"/>
            </p:cNvGrpSpPr>
            <p:nvPr/>
          </p:nvGrpSpPr>
          <p:grpSpPr bwMode="auto">
            <a:xfrm>
              <a:off x="412" y="1280"/>
              <a:ext cx="372" cy="350"/>
              <a:chOff x="164" y="534"/>
              <a:chExt cx="433" cy="414"/>
            </a:xfrm>
          </p:grpSpPr>
          <p:sp>
            <p:nvSpPr>
              <p:cNvPr id="64638" name="Freeform 126"/>
              <p:cNvSpPr>
                <a:spLocks noChangeAspect="1"/>
              </p:cNvSpPr>
              <p:nvPr/>
            </p:nvSpPr>
            <p:spPr bwMode="auto">
              <a:xfrm>
                <a:off x="412" y="885"/>
                <a:ext cx="12" cy="14"/>
              </a:xfrm>
              <a:custGeom>
                <a:avLst/>
                <a:gdLst>
                  <a:gd name="T0" fmla="*/ 0 w 34"/>
                  <a:gd name="T1" fmla="*/ 45 h 45"/>
                  <a:gd name="T2" fmla="*/ 18 w 34"/>
                  <a:gd name="T3" fmla="*/ 0 h 45"/>
                  <a:gd name="T4" fmla="*/ 34 w 34"/>
                  <a:gd name="T5" fmla="*/ 22 h 45"/>
                  <a:gd name="T6" fmla="*/ 0 w 34"/>
                  <a:gd name="T7" fmla="*/ 45 h 45"/>
                </a:gdLst>
                <a:ahLst/>
                <a:cxnLst>
                  <a:cxn ang="0">
                    <a:pos x="T0" y="T1"/>
                  </a:cxn>
                  <a:cxn ang="0">
                    <a:pos x="T2" y="T3"/>
                  </a:cxn>
                  <a:cxn ang="0">
                    <a:pos x="T4" y="T5"/>
                  </a:cxn>
                  <a:cxn ang="0">
                    <a:pos x="T6" y="T7"/>
                  </a:cxn>
                </a:cxnLst>
                <a:rect l="0" t="0" r="r" b="b"/>
                <a:pathLst>
                  <a:path w="34" h="45">
                    <a:moveTo>
                      <a:pt x="0" y="45"/>
                    </a:moveTo>
                    <a:lnTo>
                      <a:pt x="18" y="0"/>
                    </a:lnTo>
                    <a:lnTo>
                      <a:pt x="34" y="22"/>
                    </a:lnTo>
                    <a:lnTo>
                      <a:pt x="0" y="45"/>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39" name="Freeform 127"/>
              <p:cNvSpPr>
                <a:spLocks noChangeAspect="1"/>
              </p:cNvSpPr>
              <p:nvPr/>
            </p:nvSpPr>
            <p:spPr bwMode="auto">
              <a:xfrm>
                <a:off x="401" y="878"/>
                <a:ext cx="22" cy="30"/>
              </a:xfrm>
              <a:custGeom>
                <a:avLst/>
                <a:gdLst>
                  <a:gd name="T0" fmla="*/ 65 w 65"/>
                  <a:gd name="T1" fmla="*/ 43 h 90"/>
                  <a:gd name="T2" fmla="*/ 64 w 65"/>
                  <a:gd name="T3" fmla="*/ 45 h 90"/>
                  <a:gd name="T4" fmla="*/ 0 w 65"/>
                  <a:gd name="T5" fmla="*/ 90 h 90"/>
                  <a:gd name="T6" fmla="*/ 35 w 65"/>
                  <a:gd name="T7" fmla="*/ 0 h 90"/>
                  <a:gd name="T8" fmla="*/ 65 w 65"/>
                  <a:gd name="T9" fmla="*/ 43 h 90"/>
                </a:gdLst>
                <a:ahLst/>
                <a:cxnLst>
                  <a:cxn ang="0">
                    <a:pos x="T0" y="T1"/>
                  </a:cxn>
                  <a:cxn ang="0">
                    <a:pos x="T2" y="T3"/>
                  </a:cxn>
                  <a:cxn ang="0">
                    <a:pos x="T4" y="T5"/>
                  </a:cxn>
                  <a:cxn ang="0">
                    <a:pos x="T6" y="T7"/>
                  </a:cxn>
                  <a:cxn ang="0">
                    <a:pos x="T8" y="T9"/>
                  </a:cxn>
                </a:cxnLst>
                <a:rect l="0" t="0" r="r" b="b"/>
                <a:pathLst>
                  <a:path w="65" h="90">
                    <a:moveTo>
                      <a:pt x="65" y="43"/>
                    </a:moveTo>
                    <a:lnTo>
                      <a:pt x="64" y="45"/>
                    </a:lnTo>
                    <a:lnTo>
                      <a:pt x="0" y="90"/>
                    </a:lnTo>
                    <a:lnTo>
                      <a:pt x="35" y="0"/>
                    </a:lnTo>
                    <a:lnTo>
                      <a:pt x="65"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40" name="Freeform 128"/>
              <p:cNvSpPr>
                <a:spLocks noChangeAspect="1"/>
              </p:cNvSpPr>
              <p:nvPr/>
            </p:nvSpPr>
            <p:spPr bwMode="auto">
              <a:xfrm>
                <a:off x="390" y="871"/>
                <a:ext cx="28" cy="44"/>
              </a:xfrm>
              <a:custGeom>
                <a:avLst/>
                <a:gdLst>
                  <a:gd name="T0" fmla="*/ 82 w 82"/>
                  <a:gd name="T1" fmla="*/ 43 h 132"/>
                  <a:gd name="T2" fmla="*/ 64 w 82"/>
                  <a:gd name="T3" fmla="*/ 88 h 132"/>
                  <a:gd name="T4" fmla="*/ 0 w 82"/>
                  <a:gd name="T5" fmla="*/ 132 h 132"/>
                  <a:gd name="T6" fmla="*/ 51 w 82"/>
                  <a:gd name="T7" fmla="*/ 0 h 132"/>
                  <a:gd name="T8" fmla="*/ 82 w 82"/>
                  <a:gd name="T9" fmla="*/ 43 h 132"/>
                </a:gdLst>
                <a:ahLst/>
                <a:cxnLst>
                  <a:cxn ang="0">
                    <a:pos x="T0" y="T1"/>
                  </a:cxn>
                  <a:cxn ang="0">
                    <a:pos x="T2" y="T3"/>
                  </a:cxn>
                  <a:cxn ang="0">
                    <a:pos x="T4" y="T5"/>
                  </a:cxn>
                  <a:cxn ang="0">
                    <a:pos x="T6" y="T7"/>
                  </a:cxn>
                  <a:cxn ang="0">
                    <a:pos x="T8" y="T9"/>
                  </a:cxn>
                </a:cxnLst>
                <a:rect l="0" t="0" r="r" b="b"/>
                <a:pathLst>
                  <a:path w="82" h="132">
                    <a:moveTo>
                      <a:pt x="82" y="43"/>
                    </a:moveTo>
                    <a:lnTo>
                      <a:pt x="64" y="88"/>
                    </a:lnTo>
                    <a:lnTo>
                      <a:pt x="0" y="132"/>
                    </a:lnTo>
                    <a:lnTo>
                      <a:pt x="51" y="0"/>
                    </a:lnTo>
                    <a:lnTo>
                      <a:pt x="82"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41" name="Freeform 129"/>
              <p:cNvSpPr>
                <a:spLocks noChangeAspect="1"/>
              </p:cNvSpPr>
              <p:nvPr/>
            </p:nvSpPr>
            <p:spPr bwMode="auto">
              <a:xfrm>
                <a:off x="381" y="864"/>
                <a:ext cx="35" cy="58"/>
              </a:xfrm>
              <a:custGeom>
                <a:avLst/>
                <a:gdLst>
                  <a:gd name="T0" fmla="*/ 99 w 99"/>
                  <a:gd name="T1" fmla="*/ 42 h 175"/>
                  <a:gd name="T2" fmla="*/ 64 w 99"/>
                  <a:gd name="T3" fmla="*/ 132 h 175"/>
                  <a:gd name="T4" fmla="*/ 0 w 99"/>
                  <a:gd name="T5" fmla="*/ 175 h 175"/>
                  <a:gd name="T6" fmla="*/ 68 w 99"/>
                  <a:gd name="T7" fmla="*/ 0 h 175"/>
                  <a:gd name="T8" fmla="*/ 99 w 99"/>
                  <a:gd name="T9" fmla="*/ 42 h 175"/>
                </a:gdLst>
                <a:ahLst/>
                <a:cxnLst>
                  <a:cxn ang="0">
                    <a:pos x="T0" y="T1"/>
                  </a:cxn>
                  <a:cxn ang="0">
                    <a:pos x="T2" y="T3"/>
                  </a:cxn>
                  <a:cxn ang="0">
                    <a:pos x="T4" y="T5"/>
                  </a:cxn>
                  <a:cxn ang="0">
                    <a:pos x="T6" y="T7"/>
                  </a:cxn>
                  <a:cxn ang="0">
                    <a:pos x="T8" y="T9"/>
                  </a:cxn>
                </a:cxnLst>
                <a:rect l="0" t="0" r="r" b="b"/>
                <a:pathLst>
                  <a:path w="99" h="175">
                    <a:moveTo>
                      <a:pt x="99" y="42"/>
                    </a:moveTo>
                    <a:lnTo>
                      <a:pt x="64" y="132"/>
                    </a:lnTo>
                    <a:lnTo>
                      <a:pt x="0" y="175"/>
                    </a:lnTo>
                    <a:lnTo>
                      <a:pt x="68" y="0"/>
                    </a:lnTo>
                    <a:lnTo>
                      <a:pt x="99" y="4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42" name="Freeform 130"/>
              <p:cNvSpPr>
                <a:spLocks noChangeAspect="1"/>
              </p:cNvSpPr>
              <p:nvPr/>
            </p:nvSpPr>
            <p:spPr bwMode="auto">
              <a:xfrm>
                <a:off x="371" y="857"/>
                <a:ext cx="36" cy="69"/>
              </a:xfrm>
              <a:custGeom>
                <a:avLst/>
                <a:gdLst>
                  <a:gd name="T0" fmla="*/ 108 w 108"/>
                  <a:gd name="T1" fmla="*/ 42 h 208"/>
                  <a:gd name="T2" fmla="*/ 57 w 108"/>
                  <a:gd name="T3" fmla="*/ 174 h 208"/>
                  <a:gd name="T4" fmla="*/ 7 w 108"/>
                  <a:gd name="T5" fmla="*/ 208 h 208"/>
                  <a:gd name="T6" fmla="*/ 0 w 108"/>
                  <a:gd name="T7" fmla="*/ 198 h 208"/>
                  <a:gd name="T8" fmla="*/ 78 w 108"/>
                  <a:gd name="T9" fmla="*/ 0 h 208"/>
                  <a:gd name="T10" fmla="*/ 108 w 108"/>
                  <a:gd name="T11" fmla="*/ 42 h 208"/>
                </a:gdLst>
                <a:ahLst/>
                <a:cxnLst>
                  <a:cxn ang="0">
                    <a:pos x="T0" y="T1"/>
                  </a:cxn>
                  <a:cxn ang="0">
                    <a:pos x="T2" y="T3"/>
                  </a:cxn>
                  <a:cxn ang="0">
                    <a:pos x="T4" y="T5"/>
                  </a:cxn>
                  <a:cxn ang="0">
                    <a:pos x="T6" y="T7"/>
                  </a:cxn>
                  <a:cxn ang="0">
                    <a:pos x="T8" y="T9"/>
                  </a:cxn>
                  <a:cxn ang="0">
                    <a:pos x="T10" y="T11"/>
                  </a:cxn>
                </a:cxnLst>
                <a:rect l="0" t="0" r="r" b="b"/>
                <a:pathLst>
                  <a:path w="108" h="208">
                    <a:moveTo>
                      <a:pt x="108" y="42"/>
                    </a:moveTo>
                    <a:lnTo>
                      <a:pt x="57" y="174"/>
                    </a:lnTo>
                    <a:lnTo>
                      <a:pt x="7" y="208"/>
                    </a:lnTo>
                    <a:lnTo>
                      <a:pt x="0" y="198"/>
                    </a:lnTo>
                    <a:lnTo>
                      <a:pt x="78" y="0"/>
                    </a:lnTo>
                    <a:lnTo>
                      <a:pt x="108" y="4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43" name="Freeform 131"/>
              <p:cNvSpPr>
                <a:spLocks noChangeAspect="1"/>
              </p:cNvSpPr>
              <p:nvPr/>
            </p:nvSpPr>
            <p:spPr bwMode="auto">
              <a:xfrm>
                <a:off x="367" y="849"/>
                <a:ext cx="35" cy="77"/>
              </a:xfrm>
              <a:custGeom>
                <a:avLst/>
                <a:gdLst>
                  <a:gd name="T0" fmla="*/ 108 w 108"/>
                  <a:gd name="T1" fmla="*/ 43 h 230"/>
                  <a:gd name="T2" fmla="*/ 40 w 108"/>
                  <a:gd name="T3" fmla="*/ 218 h 230"/>
                  <a:gd name="T4" fmla="*/ 22 w 108"/>
                  <a:gd name="T5" fmla="*/ 230 h 230"/>
                  <a:gd name="T6" fmla="*/ 0 w 108"/>
                  <a:gd name="T7" fmla="*/ 199 h 230"/>
                  <a:gd name="T8" fmla="*/ 78 w 108"/>
                  <a:gd name="T9" fmla="*/ 0 h 230"/>
                  <a:gd name="T10" fmla="*/ 108 w 108"/>
                  <a:gd name="T11" fmla="*/ 43 h 230"/>
                </a:gdLst>
                <a:ahLst/>
                <a:cxnLst>
                  <a:cxn ang="0">
                    <a:pos x="T0" y="T1"/>
                  </a:cxn>
                  <a:cxn ang="0">
                    <a:pos x="T2" y="T3"/>
                  </a:cxn>
                  <a:cxn ang="0">
                    <a:pos x="T4" y="T5"/>
                  </a:cxn>
                  <a:cxn ang="0">
                    <a:pos x="T6" y="T7"/>
                  </a:cxn>
                  <a:cxn ang="0">
                    <a:pos x="T8" y="T9"/>
                  </a:cxn>
                  <a:cxn ang="0">
                    <a:pos x="T10" y="T11"/>
                  </a:cxn>
                </a:cxnLst>
                <a:rect l="0" t="0" r="r" b="b"/>
                <a:pathLst>
                  <a:path w="108" h="230">
                    <a:moveTo>
                      <a:pt x="108" y="43"/>
                    </a:moveTo>
                    <a:lnTo>
                      <a:pt x="40" y="218"/>
                    </a:lnTo>
                    <a:lnTo>
                      <a:pt x="22" y="230"/>
                    </a:lnTo>
                    <a:lnTo>
                      <a:pt x="0" y="199"/>
                    </a:lnTo>
                    <a:lnTo>
                      <a:pt x="78" y="0"/>
                    </a:lnTo>
                    <a:lnTo>
                      <a:pt x="108"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44" name="Freeform 132"/>
              <p:cNvSpPr>
                <a:spLocks noChangeAspect="1"/>
              </p:cNvSpPr>
              <p:nvPr/>
            </p:nvSpPr>
            <p:spPr bwMode="auto">
              <a:xfrm>
                <a:off x="361" y="842"/>
                <a:ext cx="36" cy="84"/>
              </a:xfrm>
              <a:custGeom>
                <a:avLst/>
                <a:gdLst>
                  <a:gd name="T0" fmla="*/ 108 w 108"/>
                  <a:gd name="T1" fmla="*/ 44 h 242"/>
                  <a:gd name="T2" fmla="*/ 30 w 108"/>
                  <a:gd name="T3" fmla="*/ 242 h 242"/>
                  <a:gd name="T4" fmla="*/ 0 w 108"/>
                  <a:gd name="T5" fmla="*/ 200 h 242"/>
                  <a:gd name="T6" fmla="*/ 78 w 108"/>
                  <a:gd name="T7" fmla="*/ 0 h 242"/>
                  <a:gd name="T8" fmla="*/ 108 w 108"/>
                  <a:gd name="T9" fmla="*/ 44 h 242"/>
                </a:gdLst>
                <a:ahLst/>
                <a:cxnLst>
                  <a:cxn ang="0">
                    <a:pos x="T0" y="T1"/>
                  </a:cxn>
                  <a:cxn ang="0">
                    <a:pos x="T2" y="T3"/>
                  </a:cxn>
                  <a:cxn ang="0">
                    <a:pos x="T4" y="T5"/>
                  </a:cxn>
                  <a:cxn ang="0">
                    <a:pos x="T6" y="T7"/>
                  </a:cxn>
                  <a:cxn ang="0">
                    <a:pos x="T8" y="T9"/>
                  </a:cxn>
                </a:cxnLst>
                <a:rect l="0" t="0" r="r" b="b"/>
                <a:pathLst>
                  <a:path w="108" h="242">
                    <a:moveTo>
                      <a:pt x="108" y="44"/>
                    </a:moveTo>
                    <a:lnTo>
                      <a:pt x="30" y="242"/>
                    </a:lnTo>
                    <a:lnTo>
                      <a:pt x="0" y="200"/>
                    </a:lnTo>
                    <a:lnTo>
                      <a:pt x="78" y="0"/>
                    </a:lnTo>
                    <a:lnTo>
                      <a:pt x="108" y="44"/>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45" name="Freeform 133"/>
              <p:cNvSpPr>
                <a:spLocks noChangeAspect="1"/>
              </p:cNvSpPr>
              <p:nvPr/>
            </p:nvSpPr>
            <p:spPr bwMode="auto">
              <a:xfrm>
                <a:off x="356" y="834"/>
                <a:ext cx="36" cy="82"/>
              </a:xfrm>
              <a:custGeom>
                <a:avLst/>
                <a:gdLst>
                  <a:gd name="T0" fmla="*/ 109 w 109"/>
                  <a:gd name="T1" fmla="*/ 43 h 242"/>
                  <a:gd name="T2" fmla="*/ 31 w 109"/>
                  <a:gd name="T3" fmla="*/ 242 h 242"/>
                  <a:gd name="T4" fmla="*/ 0 w 109"/>
                  <a:gd name="T5" fmla="*/ 200 h 242"/>
                  <a:gd name="T6" fmla="*/ 79 w 109"/>
                  <a:gd name="T7" fmla="*/ 0 h 242"/>
                  <a:gd name="T8" fmla="*/ 109 w 109"/>
                  <a:gd name="T9" fmla="*/ 43 h 242"/>
                </a:gdLst>
                <a:ahLst/>
                <a:cxnLst>
                  <a:cxn ang="0">
                    <a:pos x="T0" y="T1"/>
                  </a:cxn>
                  <a:cxn ang="0">
                    <a:pos x="T2" y="T3"/>
                  </a:cxn>
                  <a:cxn ang="0">
                    <a:pos x="T4" y="T5"/>
                  </a:cxn>
                  <a:cxn ang="0">
                    <a:pos x="T6" y="T7"/>
                  </a:cxn>
                  <a:cxn ang="0">
                    <a:pos x="T8" y="T9"/>
                  </a:cxn>
                </a:cxnLst>
                <a:rect l="0" t="0" r="r" b="b"/>
                <a:pathLst>
                  <a:path w="109" h="242">
                    <a:moveTo>
                      <a:pt x="109" y="43"/>
                    </a:moveTo>
                    <a:lnTo>
                      <a:pt x="31" y="242"/>
                    </a:lnTo>
                    <a:lnTo>
                      <a:pt x="0" y="200"/>
                    </a:lnTo>
                    <a:lnTo>
                      <a:pt x="79" y="0"/>
                    </a:lnTo>
                    <a:lnTo>
                      <a:pt x="109"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46" name="Freeform 134"/>
              <p:cNvSpPr>
                <a:spLocks noChangeAspect="1"/>
              </p:cNvSpPr>
              <p:nvPr/>
            </p:nvSpPr>
            <p:spPr bwMode="auto">
              <a:xfrm>
                <a:off x="351" y="829"/>
                <a:ext cx="36" cy="80"/>
              </a:xfrm>
              <a:custGeom>
                <a:avLst/>
                <a:gdLst>
                  <a:gd name="T0" fmla="*/ 109 w 109"/>
                  <a:gd name="T1" fmla="*/ 42 h 242"/>
                  <a:gd name="T2" fmla="*/ 31 w 109"/>
                  <a:gd name="T3" fmla="*/ 242 h 242"/>
                  <a:gd name="T4" fmla="*/ 0 w 109"/>
                  <a:gd name="T5" fmla="*/ 199 h 242"/>
                  <a:gd name="T6" fmla="*/ 78 w 109"/>
                  <a:gd name="T7" fmla="*/ 0 h 242"/>
                  <a:gd name="T8" fmla="*/ 109 w 109"/>
                  <a:gd name="T9" fmla="*/ 42 h 242"/>
                </a:gdLst>
                <a:ahLst/>
                <a:cxnLst>
                  <a:cxn ang="0">
                    <a:pos x="T0" y="T1"/>
                  </a:cxn>
                  <a:cxn ang="0">
                    <a:pos x="T2" y="T3"/>
                  </a:cxn>
                  <a:cxn ang="0">
                    <a:pos x="T4" y="T5"/>
                  </a:cxn>
                  <a:cxn ang="0">
                    <a:pos x="T6" y="T7"/>
                  </a:cxn>
                  <a:cxn ang="0">
                    <a:pos x="T8" y="T9"/>
                  </a:cxn>
                </a:cxnLst>
                <a:rect l="0" t="0" r="r" b="b"/>
                <a:pathLst>
                  <a:path w="109" h="242">
                    <a:moveTo>
                      <a:pt x="109" y="42"/>
                    </a:moveTo>
                    <a:lnTo>
                      <a:pt x="31" y="242"/>
                    </a:lnTo>
                    <a:lnTo>
                      <a:pt x="0" y="199"/>
                    </a:lnTo>
                    <a:lnTo>
                      <a:pt x="78" y="0"/>
                    </a:lnTo>
                    <a:lnTo>
                      <a:pt x="109" y="4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47" name="Freeform 135"/>
              <p:cNvSpPr>
                <a:spLocks noChangeAspect="1"/>
              </p:cNvSpPr>
              <p:nvPr/>
            </p:nvSpPr>
            <p:spPr bwMode="auto">
              <a:xfrm>
                <a:off x="346" y="821"/>
                <a:ext cx="36" cy="78"/>
              </a:xfrm>
              <a:custGeom>
                <a:avLst/>
                <a:gdLst>
                  <a:gd name="T0" fmla="*/ 109 w 109"/>
                  <a:gd name="T1" fmla="*/ 43 h 243"/>
                  <a:gd name="T2" fmla="*/ 30 w 109"/>
                  <a:gd name="T3" fmla="*/ 243 h 243"/>
                  <a:gd name="T4" fmla="*/ 0 w 109"/>
                  <a:gd name="T5" fmla="*/ 200 h 243"/>
                  <a:gd name="T6" fmla="*/ 78 w 109"/>
                  <a:gd name="T7" fmla="*/ 0 h 243"/>
                  <a:gd name="T8" fmla="*/ 109 w 109"/>
                  <a:gd name="T9" fmla="*/ 43 h 243"/>
                </a:gdLst>
                <a:ahLst/>
                <a:cxnLst>
                  <a:cxn ang="0">
                    <a:pos x="T0" y="T1"/>
                  </a:cxn>
                  <a:cxn ang="0">
                    <a:pos x="T2" y="T3"/>
                  </a:cxn>
                  <a:cxn ang="0">
                    <a:pos x="T4" y="T5"/>
                  </a:cxn>
                  <a:cxn ang="0">
                    <a:pos x="T6" y="T7"/>
                  </a:cxn>
                  <a:cxn ang="0">
                    <a:pos x="T8" y="T9"/>
                  </a:cxn>
                </a:cxnLst>
                <a:rect l="0" t="0" r="r" b="b"/>
                <a:pathLst>
                  <a:path w="109" h="243">
                    <a:moveTo>
                      <a:pt x="109" y="43"/>
                    </a:moveTo>
                    <a:lnTo>
                      <a:pt x="30" y="243"/>
                    </a:lnTo>
                    <a:lnTo>
                      <a:pt x="0" y="200"/>
                    </a:lnTo>
                    <a:lnTo>
                      <a:pt x="78" y="0"/>
                    </a:lnTo>
                    <a:lnTo>
                      <a:pt x="109"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48" name="Freeform 136"/>
              <p:cNvSpPr>
                <a:spLocks noChangeAspect="1"/>
              </p:cNvSpPr>
              <p:nvPr/>
            </p:nvSpPr>
            <p:spPr bwMode="auto">
              <a:xfrm>
                <a:off x="341" y="814"/>
                <a:ext cx="36" cy="79"/>
              </a:xfrm>
              <a:custGeom>
                <a:avLst/>
                <a:gdLst>
                  <a:gd name="T0" fmla="*/ 109 w 109"/>
                  <a:gd name="T1" fmla="*/ 43 h 242"/>
                  <a:gd name="T2" fmla="*/ 31 w 109"/>
                  <a:gd name="T3" fmla="*/ 242 h 242"/>
                  <a:gd name="T4" fmla="*/ 0 w 109"/>
                  <a:gd name="T5" fmla="*/ 200 h 242"/>
                  <a:gd name="T6" fmla="*/ 79 w 109"/>
                  <a:gd name="T7" fmla="*/ 0 h 242"/>
                  <a:gd name="T8" fmla="*/ 109 w 109"/>
                  <a:gd name="T9" fmla="*/ 43 h 242"/>
                </a:gdLst>
                <a:ahLst/>
                <a:cxnLst>
                  <a:cxn ang="0">
                    <a:pos x="T0" y="T1"/>
                  </a:cxn>
                  <a:cxn ang="0">
                    <a:pos x="T2" y="T3"/>
                  </a:cxn>
                  <a:cxn ang="0">
                    <a:pos x="T4" y="T5"/>
                  </a:cxn>
                  <a:cxn ang="0">
                    <a:pos x="T6" y="T7"/>
                  </a:cxn>
                  <a:cxn ang="0">
                    <a:pos x="T8" y="T9"/>
                  </a:cxn>
                </a:cxnLst>
                <a:rect l="0" t="0" r="r" b="b"/>
                <a:pathLst>
                  <a:path w="109" h="242">
                    <a:moveTo>
                      <a:pt x="109" y="43"/>
                    </a:moveTo>
                    <a:lnTo>
                      <a:pt x="31" y="242"/>
                    </a:lnTo>
                    <a:lnTo>
                      <a:pt x="0" y="200"/>
                    </a:lnTo>
                    <a:lnTo>
                      <a:pt x="79" y="0"/>
                    </a:lnTo>
                    <a:lnTo>
                      <a:pt x="109"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49" name="Freeform 137"/>
              <p:cNvSpPr>
                <a:spLocks noChangeAspect="1"/>
              </p:cNvSpPr>
              <p:nvPr/>
            </p:nvSpPr>
            <p:spPr bwMode="auto">
              <a:xfrm>
                <a:off x="336" y="807"/>
                <a:ext cx="36" cy="79"/>
              </a:xfrm>
              <a:custGeom>
                <a:avLst/>
                <a:gdLst>
                  <a:gd name="T0" fmla="*/ 109 w 109"/>
                  <a:gd name="T1" fmla="*/ 42 h 242"/>
                  <a:gd name="T2" fmla="*/ 31 w 109"/>
                  <a:gd name="T3" fmla="*/ 242 h 242"/>
                  <a:gd name="T4" fmla="*/ 0 w 109"/>
                  <a:gd name="T5" fmla="*/ 200 h 242"/>
                  <a:gd name="T6" fmla="*/ 78 w 109"/>
                  <a:gd name="T7" fmla="*/ 0 h 242"/>
                  <a:gd name="T8" fmla="*/ 109 w 109"/>
                  <a:gd name="T9" fmla="*/ 42 h 242"/>
                </a:gdLst>
                <a:ahLst/>
                <a:cxnLst>
                  <a:cxn ang="0">
                    <a:pos x="T0" y="T1"/>
                  </a:cxn>
                  <a:cxn ang="0">
                    <a:pos x="T2" y="T3"/>
                  </a:cxn>
                  <a:cxn ang="0">
                    <a:pos x="T4" y="T5"/>
                  </a:cxn>
                  <a:cxn ang="0">
                    <a:pos x="T6" y="T7"/>
                  </a:cxn>
                  <a:cxn ang="0">
                    <a:pos x="T8" y="T9"/>
                  </a:cxn>
                </a:cxnLst>
                <a:rect l="0" t="0" r="r" b="b"/>
                <a:pathLst>
                  <a:path w="109" h="242">
                    <a:moveTo>
                      <a:pt x="109" y="42"/>
                    </a:moveTo>
                    <a:lnTo>
                      <a:pt x="31" y="242"/>
                    </a:lnTo>
                    <a:lnTo>
                      <a:pt x="0" y="200"/>
                    </a:lnTo>
                    <a:lnTo>
                      <a:pt x="78" y="0"/>
                    </a:lnTo>
                    <a:lnTo>
                      <a:pt x="109" y="4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50" name="Freeform 138"/>
              <p:cNvSpPr>
                <a:spLocks noChangeAspect="1"/>
              </p:cNvSpPr>
              <p:nvPr/>
            </p:nvSpPr>
            <p:spPr bwMode="auto">
              <a:xfrm>
                <a:off x="330" y="799"/>
                <a:ext cx="36" cy="82"/>
              </a:xfrm>
              <a:custGeom>
                <a:avLst/>
                <a:gdLst>
                  <a:gd name="T0" fmla="*/ 109 w 109"/>
                  <a:gd name="T1" fmla="*/ 43 h 243"/>
                  <a:gd name="T2" fmla="*/ 30 w 109"/>
                  <a:gd name="T3" fmla="*/ 243 h 243"/>
                  <a:gd name="T4" fmla="*/ 0 w 109"/>
                  <a:gd name="T5" fmla="*/ 200 h 243"/>
                  <a:gd name="T6" fmla="*/ 78 w 109"/>
                  <a:gd name="T7" fmla="*/ 0 h 243"/>
                  <a:gd name="T8" fmla="*/ 109 w 109"/>
                  <a:gd name="T9" fmla="*/ 43 h 243"/>
                </a:gdLst>
                <a:ahLst/>
                <a:cxnLst>
                  <a:cxn ang="0">
                    <a:pos x="T0" y="T1"/>
                  </a:cxn>
                  <a:cxn ang="0">
                    <a:pos x="T2" y="T3"/>
                  </a:cxn>
                  <a:cxn ang="0">
                    <a:pos x="T4" y="T5"/>
                  </a:cxn>
                  <a:cxn ang="0">
                    <a:pos x="T6" y="T7"/>
                  </a:cxn>
                  <a:cxn ang="0">
                    <a:pos x="T8" y="T9"/>
                  </a:cxn>
                </a:cxnLst>
                <a:rect l="0" t="0" r="r" b="b"/>
                <a:pathLst>
                  <a:path w="109" h="243">
                    <a:moveTo>
                      <a:pt x="109" y="43"/>
                    </a:moveTo>
                    <a:lnTo>
                      <a:pt x="30" y="243"/>
                    </a:lnTo>
                    <a:lnTo>
                      <a:pt x="0" y="200"/>
                    </a:lnTo>
                    <a:lnTo>
                      <a:pt x="78" y="0"/>
                    </a:lnTo>
                    <a:lnTo>
                      <a:pt x="109"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51" name="Freeform 139"/>
              <p:cNvSpPr>
                <a:spLocks noChangeAspect="1"/>
              </p:cNvSpPr>
              <p:nvPr/>
            </p:nvSpPr>
            <p:spPr bwMode="auto">
              <a:xfrm>
                <a:off x="325" y="792"/>
                <a:ext cx="37" cy="82"/>
              </a:xfrm>
              <a:custGeom>
                <a:avLst/>
                <a:gdLst>
                  <a:gd name="T0" fmla="*/ 109 w 109"/>
                  <a:gd name="T1" fmla="*/ 43 h 243"/>
                  <a:gd name="T2" fmla="*/ 31 w 109"/>
                  <a:gd name="T3" fmla="*/ 243 h 243"/>
                  <a:gd name="T4" fmla="*/ 0 w 109"/>
                  <a:gd name="T5" fmla="*/ 200 h 243"/>
                  <a:gd name="T6" fmla="*/ 79 w 109"/>
                  <a:gd name="T7" fmla="*/ 0 h 243"/>
                  <a:gd name="T8" fmla="*/ 109 w 109"/>
                  <a:gd name="T9" fmla="*/ 43 h 243"/>
                </a:gdLst>
                <a:ahLst/>
                <a:cxnLst>
                  <a:cxn ang="0">
                    <a:pos x="T0" y="T1"/>
                  </a:cxn>
                  <a:cxn ang="0">
                    <a:pos x="T2" y="T3"/>
                  </a:cxn>
                  <a:cxn ang="0">
                    <a:pos x="T4" y="T5"/>
                  </a:cxn>
                  <a:cxn ang="0">
                    <a:pos x="T6" y="T7"/>
                  </a:cxn>
                  <a:cxn ang="0">
                    <a:pos x="T8" y="T9"/>
                  </a:cxn>
                </a:cxnLst>
                <a:rect l="0" t="0" r="r" b="b"/>
                <a:pathLst>
                  <a:path w="109" h="243">
                    <a:moveTo>
                      <a:pt x="109" y="43"/>
                    </a:moveTo>
                    <a:lnTo>
                      <a:pt x="31" y="243"/>
                    </a:lnTo>
                    <a:lnTo>
                      <a:pt x="0" y="200"/>
                    </a:lnTo>
                    <a:lnTo>
                      <a:pt x="79" y="0"/>
                    </a:lnTo>
                    <a:lnTo>
                      <a:pt x="109"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52" name="Freeform 140"/>
              <p:cNvSpPr>
                <a:spLocks noChangeAspect="1"/>
              </p:cNvSpPr>
              <p:nvPr/>
            </p:nvSpPr>
            <p:spPr bwMode="auto">
              <a:xfrm>
                <a:off x="321" y="785"/>
                <a:ext cx="36" cy="83"/>
              </a:xfrm>
              <a:custGeom>
                <a:avLst/>
                <a:gdLst>
                  <a:gd name="T0" fmla="*/ 108 w 108"/>
                  <a:gd name="T1" fmla="*/ 42 h 242"/>
                  <a:gd name="T2" fmla="*/ 30 w 108"/>
                  <a:gd name="T3" fmla="*/ 242 h 242"/>
                  <a:gd name="T4" fmla="*/ 0 w 108"/>
                  <a:gd name="T5" fmla="*/ 200 h 242"/>
                  <a:gd name="T6" fmla="*/ 77 w 108"/>
                  <a:gd name="T7" fmla="*/ 0 h 242"/>
                  <a:gd name="T8" fmla="*/ 108 w 108"/>
                  <a:gd name="T9" fmla="*/ 42 h 242"/>
                </a:gdLst>
                <a:ahLst/>
                <a:cxnLst>
                  <a:cxn ang="0">
                    <a:pos x="T0" y="T1"/>
                  </a:cxn>
                  <a:cxn ang="0">
                    <a:pos x="T2" y="T3"/>
                  </a:cxn>
                  <a:cxn ang="0">
                    <a:pos x="T4" y="T5"/>
                  </a:cxn>
                  <a:cxn ang="0">
                    <a:pos x="T6" y="T7"/>
                  </a:cxn>
                  <a:cxn ang="0">
                    <a:pos x="T8" y="T9"/>
                  </a:cxn>
                </a:cxnLst>
                <a:rect l="0" t="0" r="r" b="b"/>
                <a:pathLst>
                  <a:path w="108" h="242">
                    <a:moveTo>
                      <a:pt x="108" y="42"/>
                    </a:moveTo>
                    <a:lnTo>
                      <a:pt x="30" y="242"/>
                    </a:lnTo>
                    <a:lnTo>
                      <a:pt x="0" y="200"/>
                    </a:lnTo>
                    <a:lnTo>
                      <a:pt x="77" y="0"/>
                    </a:lnTo>
                    <a:lnTo>
                      <a:pt x="108" y="4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53" name="Freeform 141"/>
              <p:cNvSpPr>
                <a:spLocks noChangeAspect="1"/>
              </p:cNvSpPr>
              <p:nvPr/>
            </p:nvSpPr>
            <p:spPr bwMode="auto">
              <a:xfrm>
                <a:off x="316" y="778"/>
                <a:ext cx="36" cy="83"/>
              </a:xfrm>
              <a:custGeom>
                <a:avLst/>
                <a:gdLst>
                  <a:gd name="T0" fmla="*/ 108 w 108"/>
                  <a:gd name="T1" fmla="*/ 42 h 242"/>
                  <a:gd name="T2" fmla="*/ 29 w 108"/>
                  <a:gd name="T3" fmla="*/ 242 h 242"/>
                  <a:gd name="T4" fmla="*/ 0 w 108"/>
                  <a:gd name="T5" fmla="*/ 200 h 242"/>
                  <a:gd name="T6" fmla="*/ 77 w 108"/>
                  <a:gd name="T7" fmla="*/ 0 h 242"/>
                  <a:gd name="T8" fmla="*/ 108 w 108"/>
                  <a:gd name="T9" fmla="*/ 42 h 242"/>
                </a:gdLst>
                <a:ahLst/>
                <a:cxnLst>
                  <a:cxn ang="0">
                    <a:pos x="T0" y="T1"/>
                  </a:cxn>
                  <a:cxn ang="0">
                    <a:pos x="T2" y="T3"/>
                  </a:cxn>
                  <a:cxn ang="0">
                    <a:pos x="T4" y="T5"/>
                  </a:cxn>
                  <a:cxn ang="0">
                    <a:pos x="T6" y="T7"/>
                  </a:cxn>
                  <a:cxn ang="0">
                    <a:pos x="T8" y="T9"/>
                  </a:cxn>
                </a:cxnLst>
                <a:rect l="0" t="0" r="r" b="b"/>
                <a:pathLst>
                  <a:path w="108" h="242">
                    <a:moveTo>
                      <a:pt x="108" y="42"/>
                    </a:moveTo>
                    <a:lnTo>
                      <a:pt x="29" y="242"/>
                    </a:lnTo>
                    <a:lnTo>
                      <a:pt x="0" y="200"/>
                    </a:lnTo>
                    <a:lnTo>
                      <a:pt x="77" y="0"/>
                    </a:lnTo>
                    <a:lnTo>
                      <a:pt x="108" y="4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54" name="Freeform 142"/>
              <p:cNvSpPr>
                <a:spLocks noChangeAspect="1"/>
              </p:cNvSpPr>
              <p:nvPr/>
            </p:nvSpPr>
            <p:spPr bwMode="auto">
              <a:xfrm>
                <a:off x="309" y="771"/>
                <a:ext cx="36" cy="84"/>
              </a:xfrm>
              <a:custGeom>
                <a:avLst/>
                <a:gdLst>
                  <a:gd name="T0" fmla="*/ 108 w 108"/>
                  <a:gd name="T1" fmla="*/ 43 h 243"/>
                  <a:gd name="T2" fmla="*/ 31 w 108"/>
                  <a:gd name="T3" fmla="*/ 243 h 243"/>
                  <a:gd name="T4" fmla="*/ 0 w 108"/>
                  <a:gd name="T5" fmla="*/ 200 h 243"/>
                  <a:gd name="T6" fmla="*/ 78 w 108"/>
                  <a:gd name="T7" fmla="*/ 0 h 243"/>
                  <a:gd name="T8" fmla="*/ 108 w 108"/>
                  <a:gd name="T9" fmla="*/ 43 h 243"/>
                </a:gdLst>
                <a:ahLst/>
                <a:cxnLst>
                  <a:cxn ang="0">
                    <a:pos x="T0" y="T1"/>
                  </a:cxn>
                  <a:cxn ang="0">
                    <a:pos x="T2" y="T3"/>
                  </a:cxn>
                  <a:cxn ang="0">
                    <a:pos x="T4" y="T5"/>
                  </a:cxn>
                  <a:cxn ang="0">
                    <a:pos x="T6" y="T7"/>
                  </a:cxn>
                  <a:cxn ang="0">
                    <a:pos x="T8" y="T9"/>
                  </a:cxn>
                </a:cxnLst>
                <a:rect l="0" t="0" r="r" b="b"/>
                <a:pathLst>
                  <a:path w="108" h="243">
                    <a:moveTo>
                      <a:pt x="108" y="43"/>
                    </a:moveTo>
                    <a:lnTo>
                      <a:pt x="31" y="243"/>
                    </a:lnTo>
                    <a:lnTo>
                      <a:pt x="0" y="200"/>
                    </a:lnTo>
                    <a:lnTo>
                      <a:pt x="78" y="0"/>
                    </a:lnTo>
                    <a:lnTo>
                      <a:pt x="108"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55" name="Freeform 143"/>
              <p:cNvSpPr>
                <a:spLocks noChangeAspect="1"/>
              </p:cNvSpPr>
              <p:nvPr/>
            </p:nvSpPr>
            <p:spPr bwMode="auto">
              <a:xfrm>
                <a:off x="305" y="763"/>
                <a:ext cx="36" cy="82"/>
              </a:xfrm>
              <a:custGeom>
                <a:avLst/>
                <a:gdLst>
                  <a:gd name="T0" fmla="*/ 108 w 108"/>
                  <a:gd name="T1" fmla="*/ 43 h 243"/>
                  <a:gd name="T2" fmla="*/ 31 w 108"/>
                  <a:gd name="T3" fmla="*/ 243 h 243"/>
                  <a:gd name="T4" fmla="*/ 0 w 108"/>
                  <a:gd name="T5" fmla="*/ 200 h 243"/>
                  <a:gd name="T6" fmla="*/ 77 w 108"/>
                  <a:gd name="T7" fmla="*/ 0 h 243"/>
                  <a:gd name="T8" fmla="*/ 108 w 108"/>
                  <a:gd name="T9" fmla="*/ 43 h 243"/>
                </a:gdLst>
                <a:ahLst/>
                <a:cxnLst>
                  <a:cxn ang="0">
                    <a:pos x="T0" y="T1"/>
                  </a:cxn>
                  <a:cxn ang="0">
                    <a:pos x="T2" y="T3"/>
                  </a:cxn>
                  <a:cxn ang="0">
                    <a:pos x="T4" y="T5"/>
                  </a:cxn>
                  <a:cxn ang="0">
                    <a:pos x="T6" y="T7"/>
                  </a:cxn>
                  <a:cxn ang="0">
                    <a:pos x="T8" y="T9"/>
                  </a:cxn>
                </a:cxnLst>
                <a:rect l="0" t="0" r="r" b="b"/>
                <a:pathLst>
                  <a:path w="108" h="243">
                    <a:moveTo>
                      <a:pt x="108" y="43"/>
                    </a:moveTo>
                    <a:lnTo>
                      <a:pt x="31" y="243"/>
                    </a:lnTo>
                    <a:lnTo>
                      <a:pt x="0" y="200"/>
                    </a:lnTo>
                    <a:lnTo>
                      <a:pt x="77" y="0"/>
                    </a:lnTo>
                    <a:lnTo>
                      <a:pt x="108"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56" name="Freeform 144"/>
              <p:cNvSpPr>
                <a:spLocks noChangeAspect="1"/>
              </p:cNvSpPr>
              <p:nvPr/>
            </p:nvSpPr>
            <p:spPr bwMode="auto">
              <a:xfrm>
                <a:off x="300" y="758"/>
                <a:ext cx="36" cy="80"/>
              </a:xfrm>
              <a:custGeom>
                <a:avLst/>
                <a:gdLst>
                  <a:gd name="T0" fmla="*/ 108 w 108"/>
                  <a:gd name="T1" fmla="*/ 42 h 242"/>
                  <a:gd name="T2" fmla="*/ 30 w 108"/>
                  <a:gd name="T3" fmla="*/ 242 h 242"/>
                  <a:gd name="T4" fmla="*/ 0 w 108"/>
                  <a:gd name="T5" fmla="*/ 200 h 242"/>
                  <a:gd name="T6" fmla="*/ 78 w 108"/>
                  <a:gd name="T7" fmla="*/ 0 h 242"/>
                  <a:gd name="T8" fmla="*/ 108 w 108"/>
                  <a:gd name="T9" fmla="*/ 42 h 242"/>
                </a:gdLst>
                <a:ahLst/>
                <a:cxnLst>
                  <a:cxn ang="0">
                    <a:pos x="T0" y="T1"/>
                  </a:cxn>
                  <a:cxn ang="0">
                    <a:pos x="T2" y="T3"/>
                  </a:cxn>
                  <a:cxn ang="0">
                    <a:pos x="T4" y="T5"/>
                  </a:cxn>
                  <a:cxn ang="0">
                    <a:pos x="T6" y="T7"/>
                  </a:cxn>
                  <a:cxn ang="0">
                    <a:pos x="T8" y="T9"/>
                  </a:cxn>
                </a:cxnLst>
                <a:rect l="0" t="0" r="r" b="b"/>
                <a:pathLst>
                  <a:path w="108" h="242">
                    <a:moveTo>
                      <a:pt x="108" y="42"/>
                    </a:moveTo>
                    <a:lnTo>
                      <a:pt x="30" y="242"/>
                    </a:lnTo>
                    <a:lnTo>
                      <a:pt x="0" y="200"/>
                    </a:lnTo>
                    <a:lnTo>
                      <a:pt x="78" y="0"/>
                    </a:lnTo>
                    <a:lnTo>
                      <a:pt x="108" y="4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57" name="Freeform 145"/>
              <p:cNvSpPr>
                <a:spLocks noChangeAspect="1"/>
              </p:cNvSpPr>
              <p:nvPr/>
            </p:nvSpPr>
            <p:spPr bwMode="auto">
              <a:xfrm>
                <a:off x="296" y="750"/>
                <a:ext cx="35" cy="78"/>
              </a:xfrm>
              <a:custGeom>
                <a:avLst/>
                <a:gdLst>
                  <a:gd name="T0" fmla="*/ 108 w 108"/>
                  <a:gd name="T1" fmla="*/ 42 h 242"/>
                  <a:gd name="T2" fmla="*/ 31 w 108"/>
                  <a:gd name="T3" fmla="*/ 242 h 242"/>
                  <a:gd name="T4" fmla="*/ 0 w 108"/>
                  <a:gd name="T5" fmla="*/ 198 h 242"/>
                  <a:gd name="T6" fmla="*/ 79 w 108"/>
                  <a:gd name="T7" fmla="*/ 0 h 242"/>
                  <a:gd name="T8" fmla="*/ 108 w 108"/>
                  <a:gd name="T9" fmla="*/ 42 h 242"/>
                </a:gdLst>
                <a:ahLst/>
                <a:cxnLst>
                  <a:cxn ang="0">
                    <a:pos x="T0" y="T1"/>
                  </a:cxn>
                  <a:cxn ang="0">
                    <a:pos x="T2" y="T3"/>
                  </a:cxn>
                  <a:cxn ang="0">
                    <a:pos x="T4" y="T5"/>
                  </a:cxn>
                  <a:cxn ang="0">
                    <a:pos x="T6" y="T7"/>
                  </a:cxn>
                  <a:cxn ang="0">
                    <a:pos x="T8" y="T9"/>
                  </a:cxn>
                </a:cxnLst>
                <a:rect l="0" t="0" r="r" b="b"/>
                <a:pathLst>
                  <a:path w="108" h="242">
                    <a:moveTo>
                      <a:pt x="108" y="42"/>
                    </a:moveTo>
                    <a:lnTo>
                      <a:pt x="31" y="242"/>
                    </a:lnTo>
                    <a:lnTo>
                      <a:pt x="0" y="198"/>
                    </a:lnTo>
                    <a:lnTo>
                      <a:pt x="79" y="0"/>
                    </a:lnTo>
                    <a:lnTo>
                      <a:pt x="108" y="4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58" name="Freeform 146"/>
              <p:cNvSpPr>
                <a:spLocks noChangeAspect="1"/>
              </p:cNvSpPr>
              <p:nvPr/>
            </p:nvSpPr>
            <p:spPr bwMode="auto">
              <a:xfrm>
                <a:off x="290" y="743"/>
                <a:ext cx="36" cy="78"/>
              </a:xfrm>
              <a:custGeom>
                <a:avLst/>
                <a:gdLst>
                  <a:gd name="T0" fmla="*/ 109 w 109"/>
                  <a:gd name="T1" fmla="*/ 43 h 243"/>
                  <a:gd name="T2" fmla="*/ 31 w 109"/>
                  <a:gd name="T3" fmla="*/ 243 h 243"/>
                  <a:gd name="T4" fmla="*/ 0 w 109"/>
                  <a:gd name="T5" fmla="*/ 199 h 243"/>
                  <a:gd name="T6" fmla="*/ 78 w 109"/>
                  <a:gd name="T7" fmla="*/ 0 h 243"/>
                  <a:gd name="T8" fmla="*/ 109 w 109"/>
                  <a:gd name="T9" fmla="*/ 43 h 243"/>
                </a:gdLst>
                <a:ahLst/>
                <a:cxnLst>
                  <a:cxn ang="0">
                    <a:pos x="T0" y="T1"/>
                  </a:cxn>
                  <a:cxn ang="0">
                    <a:pos x="T2" y="T3"/>
                  </a:cxn>
                  <a:cxn ang="0">
                    <a:pos x="T4" y="T5"/>
                  </a:cxn>
                  <a:cxn ang="0">
                    <a:pos x="T6" y="T7"/>
                  </a:cxn>
                  <a:cxn ang="0">
                    <a:pos x="T8" y="T9"/>
                  </a:cxn>
                </a:cxnLst>
                <a:rect l="0" t="0" r="r" b="b"/>
                <a:pathLst>
                  <a:path w="109" h="243">
                    <a:moveTo>
                      <a:pt x="109" y="43"/>
                    </a:moveTo>
                    <a:lnTo>
                      <a:pt x="31" y="243"/>
                    </a:lnTo>
                    <a:lnTo>
                      <a:pt x="0" y="199"/>
                    </a:lnTo>
                    <a:lnTo>
                      <a:pt x="78" y="0"/>
                    </a:lnTo>
                    <a:lnTo>
                      <a:pt x="109"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59" name="Freeform 147"/>
              <p:cNvSpPr>
                <a:spLocks noChangeAspect="1"/>
              </p:cNvSpPr>
              <p:nvPr/>
            </p:nvSpPr>
            <p:spPr bwMode="auto">
              <a:xfrm>
                <a:off x="285" y="735"/>
                <a:ext cx="36" cy="80"/>
              </a:xfrm>
              <a:custGeom>
                <a:avLst/>
                <a:gdLst>
                  <a:gd name="T0" fmla="*/ 109 w 109"/>
                  <a:gd name="T1" fmla="*/ 44 h 242"/>
                  <a:gd name="T2" fmla="*/ 30 w 109"/>
                  <a:gd name="T3" fmla="*/ 242 h 242"/>
                  <a:gd name="T4" fmla="*/ 0 w 109"/>
                  <a:gd name="T5" fmla="*/ 200 h 242"/>
                  <a:gd name="T6" fmla="*/ 78 w 109"/>
                  <a:gd name="T7" fmla="*/ 0 h 242"/>
                  <a:gd name="T8" fmla="*/ 109 w 109"/>
                  <a:gd name="T9" fmla="*/ 44 h 242"/>
                </a:gdLst>
                <a:ahLst/>
                <a:cxnLst>
                  <a:cxn ang="0">
                    <a:pos x="T0" y="T1"/>
                  </a:cxn>
                  <a:cxn ang="0">
                    <a:pos x="T2" y="T3"/>
                  </a:cxn>
                  <a:cxn ang="0">
                    <a:pos x="T4" y="T5"/>
                  </a:cxn>
                  <a:cxn ang="0">
                    <a:pos x="T6" y="T7"/>
                  </a:cxn>
                  <a:cxn ang="0">
                    <a:pos x="T8" y="T9"/>
                  </a:cxn>
                </a:cxnLst>
                <a:rect l="0" t="0" r="r" b="b"/>
                <a:pathLst>
                  <a:path w="109" h="242">
                    <a:moveTo>
                      <a:pt x="109" y="44"/>
                    </a:moveTo>
                    <a:lnTo>
                      <a:pt x="30" y="242"/>
                    </a:lnTo>
                    <a:lnTo>
                      <a:pt x="0" y="200"/>
                    </a:lnTo>
                    <a:lnTo>
                      <a:pt x="78" y="0"/>
                    </a:lnTo>
                    <a:lnTo>
                      <a:pt x="109" y="44"/>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grpSp>
            <p:nvGrpSpPr>
              <p:cNvPr id="390741" name="Group 148"/>
              <p:cNvGrpSpPr>
                <a:grpSpLocks noChangeAspect="1"/>
              </p:cNvGrpSpPr>
              <p:nvPr/>
            </p:nvGrpSpPr>
            <p:grpSpPr bwMode="auto">
              <a:xfrm>
                <a:off x="164" y="534"/>
                <a:ext cx="433" cy="409"/>
                <a:chOff x="164" y="534"/>
                <a:chExt cx="433" cy="409"/>
              </a:xfrm>
            </p:grpSpPr>
            <p:sp>
              <p:nvSpPr>
                <p:cNvPr id="64661" name="Freeform 149"/>
                <p:cNvSpPr>
                  <a:spLocks noChangeAspect="1"/>
                </p:cNvSpPr>
                <p:nvPr/>
              </p:nvSpPr>
              <p:spPr bwMode="auto">
                <a:xfrm>
                  <a:off x="280" y="728"/>
                  <a:ext cx="36" cy="82"/>
                </a:xfrm>
                <a:custGeom>
                  <a:avLst/>
                  <a:gdLst>
                    <a:gd name="T0" fmla="*/ 109 w 109"/>
                    <a:gd name="T1" fmla="*/ 43 h 242"/>
                    <a:gd name="T2" fmla="*/ 31 w 109"/>
                    <a:gd name="T3" fmla="*/ 242 h 242"/>
                    <a:gd name="T4" fmla="*/ 0 w 109"/>
                    <a:gd name="T5" fmla="*/ 200 h 242"/>
                    <a:gd name="T6" fmla="*/ 79 w 109"/>
                    <a:gd name="T7" fmla="*/ 0 h 242"/>
                    <a:gd name="T8" fmla="*/ 109 w 109"/>
                    <a:gd name="T9" fmla="*/ 43 h 242"/>
                  </a:gdLst>
                  <a:ahLst/>
                  <a:cxnLst>
                    <a:cxn ang="0">
                      <a:pos x="T0" y="T1"/>
                    </a:cxn>
                    <a:cxn ang="0">
                      <a:pos x="T2" y="T3"/>
                    </a:cxn>
                    <a:cxn ang="0">
                      <a:pos x="T4" y="T5"/>
                    </a:cxn>
                    <a:cxn ang="0">
                      <a:pos x="T6" y="T7"/>
                    </a:cxn>
                    <a:cxn ang="0">
                      <a:pos x="T8" y="T9"/>
                    </a:cxn>
                  </a:cxnLst>
                  <a:rect l="0" t="0" r="r" b="b"/>
                  <a:pathLst>
                    <a:path w="109" h="242">
                      <a:moveTo>
                        <a:pt x="109" y="43"/>
                      </a:moveTo>
                      <a:lnTo>
                        <a:pt x="31" y="242"/>
                      </a:lnTo>
                      <a:lnTo>
                        <a:pt x="0" y="200"/>
                      </a:lnTo>
                      <a:lnTo>
                        <a:pt x="79" y="0"/>
                      </a:lnTo>
                      <a:lnTo>
                        <a:pt x="109"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62" name="Freeform 150"/>
                <p:cNvSpPr>
                  <a:spLocks noChangeAspect="1"/>
                </p:cNvSpPr>
                <p:nvPr/>
              </p:nvSpPr>
              <p:spPr bwMode="auto">
                <a:xfrm>
                  <a:off x="275" y="721"/>
                  <a:ext cx="36" cy="83"/>
                </a:xfrm>
                <a:custGeom>
                  <a:avLst/>
                  <a:gdLst>
                    <a:gd name="T0" fmla="*/ 109 w 109"/>
                    <a:gd name="T1" fmla="*/ 42 h 242"/>
                    <a:gd name="T2" fmla="*/ 31 w 109"/>
                    <a:gd name="T3" fmla="*/ 242 h 242"/>
                    <a:gd name="T4" fmla="*/ 0 w 109"/>
                    <a:gd name="T5" fmla="*/ 199 h 242"/>
                    <a:gd name="T6" fmla="*/ 78 w 109"/>
                    <a:gd name="T7" fmla="*/ 0 h 242"/>
                    <a:gd name="T8" fmla="*/ 109 w 109"/>
                    <a:gd name="T9" fmla="*/ 42 h 242"/>
                  </a:gdLst>
                  <a:ahLst/>
                  <a:cxnLst>
                    <a:cxn ang="0">
                      <a:pos x="T0" y="T1"/>
                    </a:cxn>
                    <a:cxn ang="0">
                      <a:pos x="T2" y="T3"/>
                    </a:cxn>
                    <a:cxn ang="0">
                      <a:pos x="T4" y="T5"/>
                    </a:cxn>
                    <a:cxn ang="0">
                      <a:pos x="T6" y="T7"/>
                    </a:cxn>
                    <a:cxn ang="0">
                      <a:pos x="T8" y="T9"/>
                    </a:cxn>
                  </a:cxnLst>
                  <a:rect l="0" t="0" r="r" b="b"/>
                  <a:pathLst>
                    <a:path w="109" h="242">
                      <a:moveTo>
                        <a:pt x="109" y="42"/>
                      </a:moveTo>
                      <a:lnTo>
                        <a:pt x="31" y="242"/>
                      </a:lnTo>
                      <a:lnTo>
                        <a:pt x="0" y="199"/>
                      </a:lnTo>
                      <a:lnTo>
                        <a:pt x="78" y="0"/>
                      </a:lnTo>
                      <a:lnTo>
                        <a:pt x="109" y="4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63" name="Freeform 151"/>
                <p:cNvSpPr>
                  <a:spLocks noChangeAspect="1"/>
                </p:cNvSpPr>
                <p:nvPr/>
              </p:nvSpPr>
              <p:spPr bwMode="auto">
                <a:xfrm>
                  <a:off x="270" y="714"/>
                  <a:ext cx="36" cy="83"/>
                </a:xfrm>
                <a:custGeom>
                  <a:avLst/>
                  <a:gdLst>
                    <a:gd name="T0" fmla="*/ 109 w 109"/>
                    <a:gd name="T1" fmla="*/ 43 h 243"/>
                    <a:gd name="T2" fmla="*/ 30 w 109"/>
                    <a:gd name="T3" fmla="*/ 243 h 243"/>
                    <a:gd name="T4" fmla="*/ 0 w 109"/>
                    <a:gd name="T5" fmla="*/ 200 h 243"/>
                    <a:gd name="T6" fmla="*/ 78 w 109"/>
                    <a:gd name="T7" fmla="*/ 0 h 243"/>
                    <a:gd name="T8" fmla="*/ 109 w 109"/>
                    <a:gd name="T9" fmla="*/ 43 h 243"/>
                  </a:gdLst>
                  <a:ahLst/>
                  <a:cxnLst>
                    <a:cxn ang="0">
                      <a:pos x="T0" y="T1"/>
                    </a:cxn>
                    <a:cxn ang="0">
                      <a:pos x="T2" y="T3"/>
                    </a:cxn>
                    <a:cxn ang="0">
                      <a:pos x="T4" y="T5"/>
                    </a:cxn>
                    <a:cxn ang="0">
                      <a:pos x="T6" y="T7"/>
                    </a:cxn>
                    <a:cxn ang="0">
                      <a:pos x="T8" y="T9"/>
                    </a:cxn>
                  </a:cxnLst>
                  <a:rect l="0" t="0" r="r" b="b"/>
                  <a:pathLst>
                    <a:path w="109" h="243">
                      <a:moveTo>
                        <a:pt x="109" y="43"/>
                      </a:moveTo>
                      <a:lnTo>
                        <a:pt x="30" y="243"/>
                      </a:lnTo>
                      <a:lnTo>
                        <a:pt x="0" y="200"/>
                      </a:lnTo>
                      <a:lnTo>
                        <a:pt x="78" y="0"/>
                      </a:lnTo>
                      <a:lnTo>
                        <a:pt x="109"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64" name="Freeform 152"/>
                <p:cNvSpPr>
                  <a:spLocks noChangeAspect="1"/>
                </p:cNvSpPr>
                <p:nvPr/>
              </p:nvSpPr>
              <p:spPr bwMode="auto">
                <a:xfrm>
                  <a:off x="264" y="707"/>
                  <a:ext cx="37" cy="84"/>
                </a:xfrm>
                <a:custGeom>
                  <a:avLst/>
                  <a:gdLst>
                    <a:gd name="T0" fmla="*/ 109 w 109"/>
                    <a:gd name="T1" fmla="*/ 43 h 242"/>
                    <a:gd name="T2" fmla="*/ 31 w 109"/>
                    <a:gd name="T3" fmla="*/ 242 h 242"/>
                    <a:gd name="T4" fmla="*/ 0 w 109"/>
                    <a:gd name="T5" fmla="*/ 200 h 242"/>
                    <a:gd name="T6" fmla="*/ 79 w 109"/>
                    <a:gd name="T7" fmla="*/ 0 h 242"/>
                    <a:gd name="T8" fmla="*/ 109 w 109"/>
                    <a:gd name="T9" fmla="*/ 43 h 242"/>
                  </a:gdLst>
                  <a:ahLst/>
                  <a:cxnLst>
                    <a:cxn ang="0">
                      <a:pos x="T0" y="T1"/>
                    </a:cxn>
                    <a:cxn ang="0">
                      <a:pos x="T2" y="T3"/>
                    </a:cxn>
                    <a:cxn ang="0">
                      <a:pos x="T4" y="T5"/>
                    </a:cxn>
                    <a:cxn ang="0">
                      <a:pos x="T6" y="T7"/>
                    </a:cxn>
                    <a:cxn ang="0">
                      <a:pos x="T8" y="T9"/>
                    </a:cxn>
                  </a:cxnLst>
                  <a:rect l="0" t="0" r="r" b="b"/>
                  <a:pathLst>
                    <a:path w="109" h="242">
                      <a:moveTo>
                        <a:pt x="109" y="43"/>
                      </a:moveTo>
                      <a:lnTo>
                        <a:pt x="31" y="242"/>
                      </a:lnTo>
                      <a:lnTo>
                        <a:pt x="0" y="200"/>
                      </a:lnTo>
                      <a:lnTo>
                        <a:pt x="79" y="0"/>
                      </a:lnTo>
                      <a:lnTo>
                        <a:pt x="109"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65" name="Freeform 153"/>
                <p:cNvSpPr>
                  <a:spLocks noChangeAspect="1"/>
                </p:cNvSpPr>
                <p:nvPr/>
              </p:nvSpPr>
              <p:spPr bwMode="auto">
                <a:xfrm>
                  <a:off x="259" y="700"/>
                  <a:ext cx="36" cy="84"/>
                </a:xfrm>
                <a:custGeom>
                  <a:avLst/>
                  <a:gdLst>
                    <a:gd name="T0" fmla="*/ 109 w 109"/>
                    <a:gd name="T1" fmla="*/ 42 h 242"/>
                    <a:gd name="T2" fmla="*/ 31 w 109"/>
                    <a:gd name="T3" fmla="*/ 242 h 242"/>
                    <a:gd name="T4" fmla="*/ 0 w 109"/>
                    <a:gd name="T5" fmla="*/ 200 h 242"/>
                    <a:gd name="T6" fmla="*/ 78 w 109"/>
                    <a:gd name="T7" fmla="*/ 0 h 242"/>
                    <a:gd name="T8" fmla="*/ 109 w 109"/>
                    <a:gd name="T9" fmla="*/ 42 h 242"/>
                  </a:gdLst>
                  <a:ahLst/>
                  <a:cxnLst>
                    <a:cxn ang="0">
                      <a:pos x="T0" y="T1"/>
                    </a:cxn>
                    <a:cxn ang="0">
                      <a:pos x="T2" y="T3"/>
                    </a:cxn>
                    <a:cxn ang="0">
                      <a:pos x="T4" y="T5"/>
                    </a:cxn>
                    <a:cxn ang="0">
                      <a:pos x="T6" y="T7"/>
                    </a:cxn>
                    <a:cxn ang="0">
                      <a:pos x="T8" y="T9"/>
                    </a:cxn>
                  </a:cxnLst>
                  <a:rect l="0" t="0" r="r" b="b"/>
                  <a:pathLst>
                    <a:path w="109" h="242">
                      <a:moveTo>
                        <a:pt x="109" y="42"/>
                      </a:moveTo>
                      <a:lnTo>
                        <a:pt x="31" y="242"/>
                      </a:lnTo>
                      <a:lnTo>
                        <a:pt x="0" y="200"/>
                      </a:lnTo>
                      <a:lnTo>
                        <a:pt x="78" y="0"/>
                      </a:lnTo>
                      <a:lnTo>
                        <a:pt x="109" y="4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66" name="Freeform 154"/>
                <p:cNvSpPr>
                  <a:spLocks noChangeAspect="1"/>
                </p:cNvSpPr>
                <p:nvPr/>
              </p:nvSpPr>
              <p:spPr bwMode="auto">
                <a:xfrm>
                  <a:off x="255" y="694"/>
                  <a:ext cx="36" cy="80"/>
                </a:xfrm>
                <a:custGeom>
                  <a:avLst/>
                  <a:gdLst>
                    <a:gd name="T0" fmla="*/ 108 w 108"/>
                    <a:gd name="T1" fmla="*/ 43 h 243"/>
                    <a:gd name="T2" fmla="*/ 29 w 108"/>
                    <a:gd name="T3" fmla="*/ 243 h 243"/>
                    <a:gd name="T4" fmla="*/ 0 w 108"/>
                    <a:gd name="T5" fmla="*/ 200 h 243"/>
                    <a:gd name="T6" fmla="*/ 77 w 108"/>
                    <a:gd name="T7" fmla="*/ 0 h 243"/>
                    <a:gd name="T8" fmla="*/ 108 w 108"/>
                    <a:gd name="T9" fmla="*/ 43 h 243"/>
                  </a:gdLst>
                  <a:ahLst/>
                  <a:cxnLst>
                    <a:cxn ang="0">
                      <a:pos x="T0" y="T1"/>
                    </a:cxn>
                    <a:cxn ang="0">
                      <a:pos x="T2" y="T3"/>
                    </a:cxn>
                    <a:cxn ang="0">
                      <a:pos x="T4" y="T5"/>
                    </a:cxn>
                    <a:cxn ang="0">
                      <a:pos x="T6" y="T7"/>
                    </a:cxn>
                    <a:cxn ang="0">
                      <a:pos x="T8" y="T9"/>
                    </a:cxn>
                  </a:cxnLst>
                  <a:rect l="0" t="0" r="r" b="b"/>
                  <a:pathLst>
                    <a:path w="108" h="243">
                      <a:moveTo>
                        <a:pt x="108" y="43"/>
                      </a:moveTo>
                      <a:lnTo>
                        <a:pt x="29" y="243"/>
                      </a:lnTo>
                      <a:lnTo>
                        <a:pt x="0" y="200"/>
                      </a:lnTo>
                      <a:lnTo>
                        <a:pt x="77" y="0"/>
                      </a:lnTo>
                      <a:lnTo>
                        <a:pt x="108"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67" name="Freeform 155"/>
                <p:cNvSpPr>
                  <a:spLocks noChangeAspect="1"/>
                </p:cNvSpPr>
                <p:nvPr/>
              </p:nvSpPr>
              <p:spPr bwMode="auto">
                <a:xfrm>
                  <a:off x="249" y="687"/>
                  <a:ext cx="36" cy="80"/>
                </a:xfrm>
                <a:custGeom>
                  <a:avLst/>
                  <a:gdLst>
                    <a:gd name="T0" fmla="*/ 108 w 108"/>
                    <a:gd name="T1" fmla="*/ 43 h 243"/>
                    <a:gd name="T2" fmla="*/ 30 w 108"/>
                    <a:gd name="T3" fmla="*/ 243 h 243"/>
                    <a:gd name="T4" fmla="*/ 0 w 108"/>
                    <a:gd name="T5" fmla="*/ 200 h 243"/>
                    <a:gd name="T6" fmla="*/ 78 w 108"/>
                    <a:gd name="T7" fmla="*/ 0 h 243"/>
                    <a:gd name="T8" fmla="*/ 108 w 108"/>
                    <a:gd name="T9" fmla="*/ 43 h 243"/>
                  </a:gdLst>
                  <a:ahLst/>
                  <a:cxnLst>
                    <a:cxn ang="0">
                      <a:pos x="T0" y="T1"/>
                    </a:cxn>
                    <a:cxn ang="0">
                      <a:pos x="T2" y="T3"/>
                    </a:cxn>
                    <a:cxn ang="0">
                      <a:pos x="T4" y="T5"/>
                    </a:cxn>
                    <a:cxn ang="0">
                      <a:pos x="T6" y="T7"/>
                    </a:cxn>
                    <a:cxn ang="0">
                      <a:pos x="T8" y="T9"/>
                    </a:cxn>
                  </a:cxnLst>
                  <a:rect l="0" t="0" r="r" b="b"/>
                  <a:pathLst>
                    <a:path w="108" h="243">
                      <a:moveTo>
                        <a:pt x="108" y="43"/>
                      </a:moveTo>
                      <a:lnTo>
                        <a:pt x="30" y="243"/>
                      </a:lnTo>
                      <a:lnTo>
                        <a:pt x="0" y="200"/>
                      </a:lnTo>
                      <a:lnTo>
                        <a:pt x="78" y="0"/>
                      </a:lnTo>
                      <a:lnTo>
                        <a:pt x="108"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68" name="Freeform 156"/>
                <p:cNvSpPr>
                  <a:spLocks noChangeAspect="1"/>
                </p:cNvSpPr>
                <p:nvPr/>
              </p:nvSpPr>
              <p:spPr bwMode="auto">
                <a:xfrm>
                  <a:off x="244" y="679"/>
                  <a:ext cx="36" cy="78"/>
                </a:xfrm>
                <a:custGeom>
                  <a:avLst/>
                  <a:gdLst>
                    <a:gd name="T0" fmla="*/ 108 w 108"/>
                    <a:gd name="T1" fmla="*/ 42 h 242"/>
                    <a:gd name="T2" fmla="*/ 31 w 108"/>
                    <a:gd name="T3" fmla="*/ 242 h 242"/>
                    <a:gd name="T4" fmla="*/ 0 w 108"/>
                    <a:gd name="T5" fmla="*/ 200 h 242"/>
                    <a:gd name="T6" fmla="*/ 77 w 108"/>
                    <a:gd name="T7" fmla="*/ 0 h 242"/>
                    <a:gd name="T8" fmla="*/ 108 w 108"/>
                    <a:gd name="T9" fmla="*/ 42 h 242"/>
                  </a:gdLst>
                  <a:ahLst/>
                  <a:cxnLst>
                    <a:cxn ang="0">
                      <a:pos x="T0" y="T1"/>
                    </a:cxn>
                    <a:cxn ang="0">
                      <a:pos x="T2" y="T3"/>
                    </a:cxn>
                    <a:cxn ang="0">
                      <a:pos x="T4" y="T5"/>
                    </a:cxn>
                    <a:cxn ang="0">
                      <a:pos x="T6" y="T7"/>
                    </a:cxn>
                    <a:cxn ang="0">
                      <a:pos x="T8" y="T9"/>
                    </a:cxn>
                  </a:cxnLst>
                  <a:rect l="0" t="0" r="r" b="b"/>
                  <a:pathLst>
                    <a:path w="108" h="242">
                      <a:moveTo>
                        <a:pt x="108" y="42"/>
                      </a:moveTo>
                      <a:lnTo>
                        <a:pt x="31" y="242"/>
                      </a:lnTo>
                      <a:lnTo>
                        <a:pt x="0" y="200"/>
                      </a:lnTo>
                      <a:lnTo>
                        <a:pt x="77" y="0"/>
                      </a:lnTo>
                      <a:lnTo>
                        <a:pt x="108" y="4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69" name="Freeform 157"/>
                <p:cNvSpPr>
                  <a:spLocks noChangeAspect="1"/>
                </p:cNvSpPr>
                <p:nvPr/>
              </p:nvSpPr>
              <p:spPr bwMode="auto">
                <a:xfrm>
                  <a:off x="238" y="672"/>
                  <a:ext cx="36" cy="79"/>
                </a:xfrm>
                <a:custGeom>
                  <a:avLst/>
                  <a:gdLst>
                    <a:gd name="T0" fmla="*/ 108 w 108"/>
                    <a:gd name="T1" fmla="*/ 42 h 242"/>
                    <a:gd name="T2" fmla="*/ 30 w 108"/>
                    <a:gd name="T3" fmla="*/ 242 h 242"/>
                    <a:gd name="T4" fmla="*/ 0 w 108"/>
                    <a:gd name="T5" fmla="*/ 200 h 242"/>
                    <a:gd name="T6" fmla="*/ 78 w 108"/>
                    <a:gd name="T7" fmla="*/ 0 h 242"/>
                    <a:gd name="T8" fmla="*/ 108 w 108"/>
                    <a:gd name="T9" fmla="*/ 42 h 242"/>
                  </a:gdLst>
                  <a:ahLst/>
                  <a:cxnLst>
                    <a:cxn ang="0">
                      <a:pos x="T0" y="T1"/>
                    </a:cxn>
                    <a:cxn ang="0">
                      <a:pos x="T2" y="T3"/>
                    </a:cxn>
                    <a:cxn ang="0">
                      <a:pos x="T4" y="T5"/>
                    </a:cxn>
                    <a:cxn ang="0">
                      <a:pos x="T6" y="T7"/>
                    </a:cxn>
                    <a:cxn ang="0">
                      <a:pos x="T8" y="T9"/>
                    </a:cxn>
                  </a:cxnLst>
                  <a:rect l="0" t="0" r="r" b="b"/>
                  <a:pathLst>
                    <a:path w="108" h="242">
                      <a:moveTo>
                        <a:pt x="108" y="42"/>
                      </a:moveTo>
                      <a:lnTo>
                        <a:pt x="30" y="242"/>
                      </a:lnTo>
                      <a:lnTo>
                        <a:pt x="0" y="200"/>
                      </a:lnTo>
                      <a:lnTo>
                        <a:pt x="78" y="0"/>
                      </a:lnTo>
                      <a:lnTo>
                        <a:pt x="108" y="4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70" name="Freeform 158"/>
                <p:cNvSpPr>
                  <a:spLocks noChangeAspect="1"/>
                </p:cNvSpPr>
                <p:nvPr/>
              </p:nvSpPr>
              <p:spPr bwMode="auto">
                <a:xfrm>
                  <a:off x="234" y="664"/>
                  <a:ext cx="36" cy="80"/>
                </a:xfrm>
                <a:custGeom>
                  <a:avLst/>
                  <a:gdLst>
                    <a:gd name="T0" fmla="*/ 108 w 108"/>
                    <a:gd name="T1" fmla="*/ 43 h 243"/>
                    <a:gd name="T2" fmla="*/ 31 w 108"/>
                    <a:gd name="T3" fmla="*/ 243 h 243"/>
                    <a:gd name="T4" fmla="*/ 0 w 108"/>
                    <a:gd name="T5" fmla="*/ 200 h 243"/>
                    <a:gd name="T6" fmla="*/ 79 w 108"/>
                    <a:gd name="T7" fmla="*/ 0 h 243"/>
                    <a:gd name="T8" fmla="*/ 108 w 108"/>
                    <a:gd name="T9" fmla="*/ 43 h 243"/>
                  </a:gdLst>
                  <a:ahLst/>
                  <a:cxnLst>
                    <a:cxn ang="0">
                      <a:pos x="T0" y="T1"/>
                    </a:cxn>
                    <a:cxn ang="0">
                      <a:pos x="T2" y="T3"/>
                    </a:cxn>
                    <a:cxn ang="0">
                      <a:pos x="T4" y="T5"/>
                    </a:cxn>
                    <a:cxn ang="0">
                      <a:pos x="T6" y="T7"/>
                    </a:cxn>
                    <a:cxn ang="0">
                      <a:pos x="T8" y="T9"/>
                    </a:cxn>
                  </a:cxnLst>
                  <a:rect l="0" t="0" r="r" b="b"/>
                  <a:pathLst>
                    <a:path w="108" h="243">
                      <a:moveTo>
                        <a:pt x="108" y="43"/>
                      </a:moveTo>
                      <a:lnTo>
                        <a:pt x="31" y="243"/>
                      </a:lnTo>
                      <a:lnTo>
                        <a:pt x="0" y="200"/>
                      </a:lnTo>
                      <a:lnTo>
                        <a:pt x="79" y="0"/>
                      </a:lnTo>
                      <a:lnTo>
                        <a:pt x="108"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71" name="Freeform 159"/>
                <p:cNvSpPr>
                  <a:spLocks noChangeAspect="1"/>
                </p:cNvSpPr>
                <p:nvPr/>
              </p:nvSpPr>
              <p:spPr bwMode="auto">
                <a:xfrm>
                  <a:off x="229" y="657"/>
                  <a:ext cx="36" cy="82"/>
                </a:xfrm>
                <a:custGeom>
                  <a:avLst/>
                  <a:gdLst>
                    <a:gd name="T0" fmla="*/ 109 w 109"/>
                    <a:gd name="T1" fmla="*/ 43 h 243"/>
                    <a:gd name="T2" fmla="*/ 31 w 109"/>
                    <a:gd name="T3" fmla="*/ 243 h 243"/>
                    <a:gd name="T4" fmla="*/ 0 w 109"/>
                    <a:gd name="T5" fmla="*/ 200 h 243"/>
                    <a:gd name="T6" fmla="*/ 78 w 109"/>
                    <a:gd name="T7" fmla="*/ 0 h 243"/>
                    <a:gd name="T8" fmla="*/ 109 w 109"/>
                    <a:gd name="T9" fmla="*/ 43 h 243"/>
                  </a:gdLst>
                  <a:ahLst/>
                  <a:cxnLst>
                    <a:cxn ang="0">
                      <a:pos x="T0" y="T1"/>
                    </a:cxn>
                    <a:cxn ang="0">
                      <a:pos x="T2" y="T3"/>
                    </a:cxn>
                    <a:cxn ang="0">
                      <a:pos x="T4" y="T5"/>
                    </a:cxn>
                    <a:cxn ang="0">
                      <a:pos x="T6" y="T7"/>
                    </a:cxn>
                    <a:cxn ang="0">
                      <a:pos x="T8" y="T9"/>
                    </a:cxn>
                  </a:cxnLst>
                  <a:rect l="0" t="0" r="r" b="b"/>
                  <a:pathLst>
                    <a:path w="109" h="243">
                      <a:moveTo>
                        <a:pt x="109" y="43"/>
                      </a:moveTo>
                      <a:lnTo>
                        <a:pt x="31" y="243"/>
                      </a:lnTo>
                      <a:lnTo>
                        <a:pt x="0" y="200"/>
                      </a:lnTo>
                      <a:lnTo>
                        <a:pt x="78" y="0"/>
                      </a:lnTo>
                      <a:lnTo>
                        <a:pt x="109"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72" name="Freeform 160"/>
                <p:cNvSpPr>
                  <a:spLocks noChangeAspect="1"/>
                </p:cNvSpPr>
                <p:nvPr/>
              </p:nvSpPr>
              <p:spPr bwMode="auto">
                <a:xfrm>
                  <a:off x="225" y="650"/>
                  <a:ext cx="35" cy="83"/>
                </a:xfrm>
                <a:custGeom>
                  <a:avLst/>
                  <a:gdLst>
                    <a:gd name="T0" fmla="*/ 109 w 109"/>
                    <a:gd name="T1" fmla="*/ 42 h 242"/>
                    <a:gd name="T2" fmla="*/ 30 w 109"/>
                    <a:gd name="T3" fmla="*/ 242 h 242"/>
                    <a:gd name="T4" fmla="*/ 0 w 109"/>
                    <a:gd name="T5" fmla="*/ 200 h 242"/>
                    <a:gd name="T6" fmla="*/ 78 w 109"/>
                    <a:gd name="T7" fmla="*/ 0 h 242"/>
                    <a:gd name="T8" fmla="*/ 109 w 109"/>
                    <a:gd name="T9" fmla="*/ 42 h 242"/>
                  </a:gdLst>
                  <a:ahLst/>
                  <a:cxnLst>
                    <a:cxn ang="0">
                      <a:pos x="T0" y="T1"/>
                    </a:cxn>
                    <a:cxn ang="0">
                      <a:pos x="T2" y="T3"/>
                    </a:cxn>
                    <a:cxn ang="0">
                      <a:pos x="T4" y="T5"/>
                    </a:cxn>
                    <a:cxn ang="0">
                      <a:pos x="T6" y="T7"/>
                    </a:cxn>
                    <a:cxn ang="0">
                      <a:pos x="T8" y="T9"/>
                    </a:cxn>
                  </a:cxnLst>
                  <a:rect l="0" t="0" r="r" b="b"/>
                  <a:pathLst>
                    <a:path w="109" h="242">
                      <a:moveTo>
                        <a:pt x="109" y="42"/>
                      </a:moveTo>
                      <a:lnTo>
                        <a:pt x="30" y="242"/>
                      </a:lnTo>
                      <a:lnTo>
                        <a:pt x="0" y="200"/>
                      </a:lnTo>
                      <a:lnTo>
                        <a:pt x="78" y="0"/>
                      </a:lnTo>
                      <a:lnTo>
                        <a:pt x="109" y="4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73" name="Freeform 161"/>
                <p:cNvSpPr>
                  <a:spLocks noChangeAspect="1"/>
                </p:cNvSpPr>
                <p:nvPr/>
              </p:nvSpPr>
              <p:spPr bwMode="auto">
                <a:xfrm>
                  <a:off x="219" y="643"/>
                  <a:ext cx="36" cy="83"/>
                </a:xfrm>
                <a:custGeom>
                  <a:avLst/>
                  <a:gdLst>
                    <a:gd name="T0" fmla="*/ 109 w 109"/>
                    <a:gd name="T1" fmla="*/ 42 h 242"/>
                    <a:gd name="T2" fmla="*/ 31 w 109"/>
                    <a:gd name="T3" fmla="*/ 242 h 242"/>
                    <a:gd name="T4" fmla="*/ 0 w 109"/>
                    <a:gd name="T5" fmla="*/ 198 h 242"/>
                    <a:gd name="T6" fmla="*/ 79 w 109"/>
                    <a:gd name="T7" fmla="*/ 0 h 242"/>
                    <a:gd name="T8" fmla="*/ 109 w 109"/>
                    <a:gd name="T9" fmla="*/ 42 h 242"/>
                  </a:gdLst>
                  <a:ahLst/>
                  <a:cxnLst>
                    <a:cxn ang="0">
                      <a:pos x="T0" y="T1"/>
                    </a:cxn>
                    <a:cxn ang="0">
                      <a:pos x="T2" y="T3"/>
                    </a:cxn>
                    <a:cxn ang="0">
                      <a:pos x="T4" y="T5"/>
                    </a:cxn>
                    <a:cxn ang="0">
                      <a:pos x="T6" y="T7"/>
                    </a:cxn>
                    <a:cxn ang="0">
                      <a:pos x="T8" y="T9"/>
                    </a:cxn>
                  </a:cxnLst>
                  <a:rect l="0" t="0" r="r" b="b"/>
                  <a:pathLst>
                    <a:path w="109" h="242">
                      <a:moveTo>
                        <a:pt x="109" y="42"/>
                      </a:moveTo>
                      <a:lnTo>
                        <a:pt x="31" y="242"/>
                      </a:lnTo>
                      <a:lnTo>
                        <a:pt x="0" y="198"/>
                      </a:lnTo>
                      <a:lnTo>
                        <a:pt x="79" y="0"/>
                      </a:lnTo>
                      <a:lnTo>
                        <a:pt x="109" y="4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74" name="Freeform 162"/>
                <p:cNvSpPr>
                  <a:spLocks noChangeAspect="1"/>
                </p:cNvSpPr>
                <p:nvPr/>
              </p:nvSpPr>
              <p:spPr bwMode="auto">
                <a:xfrm>
                  <a:off x="214" y="636"/>
                  <a:ext cx="36" cy="84"/>
                </a:xfrm>
                <a:custGeom>
                  <a:avLst/>
                  <a:gdLst>
                    <a:gd name="T0" fmla="*/ 109 w 109"/>
                    <a:gd name="T1" fmla="*/ 43 h 243"/>
                    <a:gd name="T2" fmla="*/ 31 w 109"/>
                    <a:gd name="T3" fmla="*/ 243 h 243"/>
                    <a:gd name="T4" fmla="*/ 0 w 109"/>
                    <a:gd name="T5" fmla="*/ 199 h 243"/>
                    <a:gd name="T6" fmla="*/ 78 w 109"/>
                    <a:gd name="T7" fmla="*/ 0 h 243"/>
                    <a:gd name="T8" fmla="*/ 109 w 109"/>
                    <a:gd name="T9" fmla="*/ 43 h 243"/>
                  </a:gdLst>
                  <a:ahLst/>
                  <a:cxnLst>
                    <a:cxn ang="0">
                      <a:pos x="T0" y="T1"/>
                    </a:cxn>
                    <a:cxn ang="0">
                      <a:pos x="T2" y="T3"/>
                    </a:cxn>
                    <a:cxn ang="0">
                      <a:pos x="T4" y="T5"/>
                    </a:cxn>
                    <a:cxn ang="0">
                      <a:pos x="T6" y="T7"/>
                    </a:cxn>
                    <a:cxn ang="0">
                      <a:pos x="T8" y="T9"/>
                    </a:cxn>
                  </a:cxnLst>
                  <a:rect l="0" t="0" r="r" b="b"/>
                  <a:pathLst>
                    <a:path w="109" h="243">
                      <a:moveTo>
                        <a:pt x="109" y="43"/>
                      </a:moveTo>
                      <a:lnTo>
                        <a:pt x="31" y="243"/>
                      </a:lnTo>
                      <a:lnTo>
                        <a:pt x="0" y="199"/>
                      </a:lnTo>
                      <a:lnTo>
                        <a:pt x="78" y="0"/>
                      </a:lnTo>
                      <a:lnTo>
                        <a:pt x="109"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75" name="Freeform 163"/>
                <p:cNvSpPr>
                  <a:spLocks noChangeAspect="1"/>
                </p:cNvSpPr>
                <p:nvPr/>
              </p:nvSpPr>
              <p:spPr bwMode="auto">
                <a:xfrm>
                  <a:off x="209" y="629"/>
                  <a:ext cx="36" cy="80"/>
                </a:xfrm>
                <a:custGeom>
                  <a:avLst/>
                  <a:gdLst>
                    <a:gd name="T0" fmla="*/ 109 w 109"/>
                    <a:gd name="T1" fmla="*/ 44 h 242"/>
                    <a:gd name="T2" fmla="*/ 30 w 109"/>
                    <a:gd name="T3" fmla="*/ 242 h 242"/>
                    <a:gd name="T4" fmla="*/ 0 w 109"/>
                    <a:gd name="T5" fmla="*/ 200 h 242"/>
                    <a:gd name="T6" fmla="*/ 78 w 109"/>
                    <a:gd name="T7" fmla="*/ 0 h 242"/>
                    <a:gd name="T8" fmla="*/ 109 w 109"/>
                    <a:gd name="T9" fmla="*/ 44 h 242"/>
                  </a:gdLst>
                  <a:ahLst/>
                  <a:cxnLst>
                    <a:cxn ang="0">
                      <a:pos x="T0" y="T1"/>
                    </a:cxn>
                    <a:cxn ang="0">
                      <a:pos x="T2" y="T3"/>
                    </a:cxn>
                    <a:cxn ang="0">
                      <a:pos x="T4" y="T5"/>
                    </a:cxn>
                    <a:cxn ang="0">
                      <a:pos x="T6" y="T7"/>
                    </a:cxn>
                    <a:cxn ang="0">
                      <a:pos x="T8" y="T9"/>
                    </a:cxn>
                  </a:cxnLst>
                  <a:rect l="0" t="0" r="r" b="b"/>
                  <a:pathLst>
                    <a:path w="109" h="242">
                      <a:moveTo>
                        <a:pt x="109" y="44"/>
                      </a:moveTo>
                      <a:lnTo>
                        <a:pt x="30" y="242"/>
                      </a:lnTo>
                      <a:lnTo>
                        <a:pt x="0" y="200"/>
                      </a:lnTo>
                      <a:lnTo>
                        <a:pt x="78" y="0"/>
                      </a:lnTo>
                      <a:lnTo>
                        <a:pt x="109" y="44"/>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76" name="Freeform 164"/>
                <p:cNvSpPr>
                  <a:spLocks noChangeAspect="1"/>
                </p:cNvSpPr>
                <p:nvPr/>
              </p:nvSpPr>
              <p:spPr bwMode="auto">
                <a:xfrm>
                  <a:off x="204" y="622"/>
                  <a:ext cx="36" cy="80"/>
                </a:xfrm>
                <a:custGeom>
                  <a:avLst/>
                  <a:gdLst>
                    <a:gd name="T0" fmla="*/ 109 w 109"/>
                    <a:gd name="T1" fmla="*/ 43 h 242"/>
                    <a:gd name="T2" fmla="*/ 31 w 109"/>
                    <a:gd name="T3" fmla="*/ 242 h 242"/>
                    <a:gd name="T4" fmla="*/ 0 w 109"/>
                    <a:gd name="T5" fmla="*/ 200 h 242"/>
                    <a:gd name="T6" fmla="*/ 79 w 109"/>
                    <a:gd name="T7" fmla="*/ 0 h 242"/>
                    <a:gd name="T8" fmla="*/ 109 w 109"/>
                    <a:gd name="T9" fmla="*/ 43 h 242"/>
                  </a:gdLst>
                  <a:ahLst/>
                  <a:cxnLst>
                    <a:cxn ang="0">
                      <a:pos x="T0" y="T1"/>
                    </a:cxn>
                    <a:cxn ang="0">
                      <a:pos x="T2" y="T3"/>
                    </a:cxn>
                    <a:cxn ang="0">
                      <a:pos x="T4" y="T5"/>
                    </a:cxn>
                    <a:cxn ang="0">
                      <a:pos x="T6" y="T7"/>
                    </a:cxn>
                    <a:cxn ang="0">
                      <a:pos x="T8" y="T9"/>
                    </a:cxn>
                  </a:cxnLst>
                  <a:rect l="0" t="0" r="r" b="b"/>
                  <a:pathLst>
                    <a:path w="109" h="242">
                      <a:moveTo>
                        <a:pt x="109" y="43"/>
                      </a:moveTo>
                      <a:lnTo>
                        <a:pt x="31" y="242"/>
                      </a:lnTo>
                      <a:lnTo>
                        <a:pt x="0" y="200"/>
                      </a:lnTo>
                      <a:lnTo>
                        <a:pt x="79" y="0"/>
                      </a:lnTo>
                      <a:lnTo>
                        <a:pt x="109"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77" name="Freeform 165"/>
                <p:cNvSpPr>
                  <a:spLocks noChangeAspect="1"/>
                </p:cNvSpPr>
                <p:nvPr/>
              </p:nvSpPr>
              <p:spPr bwMode="auto">
                <a:xfrm>
                  <a:off x="198" y="616"/>
                  <a:ext cx="37" cy="79"/>
                </a:xfrm>
                <a:custGeom>
                  <a:avLst/>
                  <a:gdLst>
                    <a:gd name="T0" fmla="*/ 109 w 109"/>
                    <a:gd name="T1" fmla="*/ 42 h 242"/>
                    <a:gd name="T2" fmla="*/ 31 w 109"/>
                    <a:gd name="T3" fmla="*/ 242 h 242"/>
                    <a:gd name="T4" fmla="*/ 0 w 109"/>
                    <a:gd name="T5" fmla="*/ 199 h 242"/>
                    <a:gd name="T6" fmla="*/ 78 w 109"/>
                    <a:gd name="T7" fmla="*/ 0 h 242"/>
                    <a:gd name="T8" fmla="*/ 109 w 109"/>
                    <a:gd name="T9" fmla="*/ 42 h 242"/>
                  </a:gdLst>
                  <a:ahLst/>
                  <a:cxnLst>
                    <a:cxn ang="0">
                      <a:pos x="T0" y="T1"/>
                    </a:cxn>
                    <a:cxn ang="0">
                      <a:pos x="T2" y="T3"/>
                    </a:cxn>
                    <a:cxn ang="0">
                      <a:pos x="T4" y="T5"/>
                    </a:cxn>
                    <a:cxn ang="0">
                      <a:pos x="T6" y="T7"/>
                    </a:cxn>
                    <a:cxn ang="0">
                      <a:pos x="T8" y="T9"/>
                    </a:cxn>
                  </a:cxnLst>
                  <a:rect l="0" t="0" r="r" b="b"/>
                  <a:pathLst>
                    <a:path w="109" h="242">
                      <a:moveTo>
                        <a:pt x="109" y="42"/>
                      </a:moveTo>
                      <a:lnTo>
                        <a:pt x="31" y="242"/>
                      </a:lnTo>
                      <a:lnTo>
                        <a:pt x="0" y="199"/>
                      </a:lnTo>
                      <a:lnTo>
                        <a:pt x="78" y="0"/>
                      </a:lnTo>
                      <a:lnTo>
                        <a:pt x="109" y="4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78" name="Freeform 166"/>
                <p:cNvSpPr>
                  <a:spLocks noChangeAspect="1"/>
                </p:cNvSpPr>
                <p:nvPr/>
              </p:nvSpPr>
              <p:spPr bwMode="auto">
                <a:xfrm>
                  <a:off x="194" y="607"/>
                  <a:ext cx="36" cy="79"/>
                </a:xfrm>
                <a:custGeom>
                  <a:avLst/>
                  <a:gdLst>
                    <a:gd name="T0" fmla="*/ 108 w 108"/>
                    <a:gd name="T1" fmla="*/ 43 h 243"/>
                    <a:gd name="T2" fmla="*/ 29 w 108"/>
                    <a:gd name="T3" fmla="*/ 243 h 243"/>
                    <a:gd name="T4" fmla="*/ 0 w 108"/>
                    <a:gd name="T5" fmla="*/ 200 h 243"/>
                    <a:gd name="T6" fmla="*/ 77 w 108"/>
                    <a:gd name="T7" fmla="*/ 0 h 243"/>
                    <a:gd name="T8" fmla="*/ 108 w 108"/>
                    <a:gd name="T9" fmla="*/ 43 h 243"/>
                  </a:gdLst>
                  <a:ahLst/>
                  <a:cxnLst>
                    <a:cxn ang="0">
                      <a:pos x="T0" y="T1"/>
                    </a:cxn>
                    <a:cxn ang="0">
                      <a:pos x="T2" y="T3"/>
                    </a:cxn>
                    <a:cxn ang="0">
                      <a:pos x="T4" y="T5"/>
                    </a:cxn>
                    <a:cxn ang="0">
                      <a:pos x="T6" y="T7"/>
                    </a:cxn>
                    <a:cxn ang="0">
                      <a:pos x="T8" y="T9"/>
                    </a:cxn>
                  </a:cxnLst>
                  <a:rect l="0" t="0" r="r" b="b"/>
                  <a:pathLst>
                    <a:path w="108" h="243">
                      <a:moveTo>
                        <a:pt x="108" y="43"/>
                      </a:moveTo>
                      <a:lnTo>
                        <a:pt x="29" y="243"/>
                      </a:lnTo>
                      <a:lnTo>
                        <a:pt x="0" y="200"/>
                      </a:lnTo>
                      <a:lnTo>
                        <a:pt x="77" y="0"/>
                      </a:lnTo>
                      <a:lnTo>
                        <a:pt x="108" y="4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79" name="Freeform 167"/>
                <p:cNvSpPr>
                  <a:spLocks noChangeAspect="1"/>
                </p:cNvSpPr>
                <p:nvPr/>
              </p:nvSpPr>
              <p:spPr bwMode="auto">
                <a:xfrm>
                  <a:off x="188" y="601"/>
                  <a:ext cx="36" cy="79"/>
                </a:xfrm>
                <a:custGeom>
                  <a:avLst/>
                  <a:gdLst>
                    <a:gd name="T0" fmla="*/ 108 w 108"/>
                    <a:gd name="T1" fmla="*/ 42 h 241"/>
                    <a:gd name="T2" fmla="*/ 30 w 108"/>
                    <a:gd name="T3" fmla="*/ 241 h 241"/>
                    <a:gd name="T4" fmla="*/ 0 w 108"/>
                    <a:gd name="T5" fmla="*/ 199 h 241"/>
                    <a:gd name="T6" fmla="*/ 77 w 108"/>
                    <a:gd name="T7" fmla="*/ 0 h 241"/>
                    <a:gd name="T8" fmla="*/ 77 w 108"/>
                    <a:gd name="T9" fmla="*/ 0 h 241"/>
                    <a:gd name="T10" fmla="*/ 77 w 108"/>
                    <a:gd name="T11" fmla="*/ 0 h 241"/>
                    <a:gd name="T12" fmla="*/ 77 w 108"/>
                    <a:gd name="T13" fmla="*/ 0 h 241"/>
                    <a:gd name="T14" fmla="*/ 77 w 108"/>
                    <a:gd name="T15" fmla="*/ 0 h 241"/>
                    <a:gd name="T16" fmla="*/ 78 w 108"/>
                    <a:gd name="T17" fmla="*/ 0 h 241"/>
                    <a:gd name="T18" fmla="*/ 78 w 108"/>
                    <a:gd name="T19" fmla="*/ 0 h 241"/>
                    <a:gd name="T20" fmla="*/ 78 w 108"/>
                    <a:gd name="T21" fmla="*/ 0 h 241"/>
                    <a:gd name="T22" fmla="*/ 78 w 108"/>
                    <a:gd name="T23" fmla="*/ 0 h 241"/>
                    <a:gd name="T24" fmla="*/ 78 w 108"/>
                    <a:gd name="T25" fmla="*/ 0 h 241"/>
                    <a:gd name="T26" fmla="*/ 82 w 108"/>
                    <a:gd name="T27" fmla="*/ 3 h 241"/>
                    <a:gd name="T28" fmla="*/ 83 w 108"/>
                    <a:gd name="T29" fmla="*/ 5 h 241"/>
                    <a:gd name="T30" fmla="*/ 84 w 108"/>
                    <a:gd name="T31" fmla="*/ 6 h 241"/>
                    <a:gd name="T32" fmla="*/ 85 w 108"/>
                    <a:gd name="T33" fmla="*/ 7 h 241"/>
                    <a:gd name="T34" fmla="*/ 85 w 108"/>
                    <a:gd name="T35" fmla="*/ 9 h 241"/>
                    <a:gd name="T36" fmla="*/ 86 w 108"/>
                    <a:gd name="T37" fmla="*/ 11 h 241"/>
                    <a:gd name="T38" fmla="*/ 87 w 108"/>
                    <a:gd name="T39" fmla="*/ 12 h 241"/>
                    <a:gd name="T40" fmla="*/ 88 w 108"/>
                    <a:gd name="T41" fmla="*/ 13 h 241"/>
                    <a:gd name="T42" fmla="*/ 89 w 108"/>
                    <a:gd name="T43" fmla="*/ 15 h 241"/>
                    <a:gd name="T44" fmla="*/ 108 w 108"/>
                    <a:gd name="T45" fmla="*/ 42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8" h="241">
                      <a:moveTo>
                        <a:pt x="108" y="42"/>
                      </a:moveTo>
                      <a:lnTo>
                        <a:pt x="30" y="241"/>
                      </a:lnTo>
                      <a:lnTo>
                        <a:pt x="0" y="199"/>
                      </a:lnTo>
                      <a:lnTo>
                        <a:pt x="77" y="0"/>
                      </a:lnTo>
                      <a:lnTo>
                        <a:pt x="77" y="0"/>
                      </a:lnTo>
                      <a:lnTo>
                        <a:pt x="77" y="0"/>
                      </a:lnTo>
                      <a:lnTo>
                        <a:pt x="77" y="0"/>
                      </a:lnTo>
                      <a:lnTo>
                        <a:pt x="77" y="0"/>
                      </a:lnTo>
                      <a:lnTo>
                        <a:pt x="78" y="0"/>
                      </a:lnTo>
                      <a:lnTo>
                        <a:pt x="78" y="0"/>
                      </a:lnTo>
                      <a:lnTo>
                        <a:pt x="78" y="0"/>
                      </a:lnTo>
                      <a:lnTo>
                        <a:pt x="78" y="0"/>
                      </a:lnTo>
                      <a:lnTo>
                        <a:pt x="78" y="0"/>
                      </a:lnTo>
                      <a:lnTo>
                        <a:pt x="82" y="3"/>
                      </a:lnTo>
                      <a:lnTo>
                        <a:pt x="83" y="5"/>
                      </a:lnTo>
                      <a:lnTo>
                        <a:pt x="84" y="6"/>
                      </a:lnTo>
                      <a:lnTo>
                        <a:pt x="85" y="7"/>
                      </a:lnTo>
                      <a:lnTo>
                        <a:pt x="85" y="9"/>
                      </a:lnTo>
                      <a:lnTo>
                        <a:pt x="86" y="11"/>
                      </a:lnTo>
                      <a:lnTo>
                        <a:pt x="87" y="12"/>
                      </a:lnTo>
                      <a:lnTo>
                        <a:pt x="88" y="13"/>
                      </a:lnTo>
                      <a:lnTo>
                        <a:pt x="89" y="15"/>
                      </a:lnTo>
                      <a:lnTo>
                        <a:pt x="108" y="4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80" name="Freeform 168"/>
                <p:cNvSpPr>
                  <a:spLocks noChangeAspect="1"/>
                </p:cNvSpPr>
                <p:nvPr/>
              </p:nvSpPr>
              <p:spPr bwMode="auto">
                <a:xfrm>
                  <a:off x="183" y="596"/>
                  <a:ext cx="36" cy="78"/>
                </a:xfrm>
                <a:custGeom>
                  <a:avLst/>
                  <a:gdLst>
                    <a:gd name="T0" fmla="*/ 108 w 108"/>
                    <a:gd name="T1" fmla="*/ 35 h 235"/>
                    <a:gd name="T2" fmla="*/ 31 w 108"/>
                    <a:gd name="T3" fmla="*/ 235 h 235"/>
                    <a:gd name="T4" fmla="*/ 0 w 108"/>
                    <a:gd name="T5" fmla="*/ 193 h 235"/>
                    <a:gd name="T6" fmla="*/ 74 w 108"/>
                    <a:gd name="T7" fmla="*/ 0 h 235"/>
                    <a:gd name="T8" fmla="*/ 77 w 108"/>
                    <a:gd name="T9" fmla="*/ 2 h 235"/>
                    <a:gd name="T10" fmla="*/ 79 w 108"/>
                    <a:gd name="T11" fmla="*/ 3 h 235"/>
                    <a:gd name="T12" fmla="*/ 82 w 108"/>
                    <a:gd name="T13" fmla="*/ 5 h 235"/>
                    <a:gd name="T14" fmla="*/ 85 w 108"/>
                    <a:gd name="T15" fmla="*/ 8 h 235"/>
                    <a:gd name="T16" fmla="*/ 87 w 108"/>
                    <a:gd name="T17" fmla="*/ 9 h 235"/>
                    <a:gd name="T18" fmla="*/ 89 w 108"/>
                    <a:gd name="T19" fmla="*/ 11 h 235"/>
                    <a:gd name="T20" fmla="*/ 91 w 108"/>
                    <a:gd name="T21" fmla="*/ 13 h 235"/>
                    <a:gd name="T22" fmla="*/ 93 w 108"/>
                    <a:gd name="T23" fmla="*/ 15 h 235"/>
                    <a:gd name="T24" fmla="*/ 93 w 108"/>
                    <a:gd name="T25" fmla="*/ 15 h 235"/>
                    <a:gd name="T26" fmla="*/ 97 w 108"/>
                    <a:gd name="T27" fmla="*/ 18 h 235"/>
                    <a:gd name="T28" fmla="*/ 98 w 108"/>
                    <a:gd name="T29" fmla="*/ 20 h 235"/>
                    <a:gd name="T30" fmla="*/ 99 w 108"/>
                    <a:gd name="T31" fmla="*/ 21 h 235"/>
                    <a:gd name="T32" fmla="*/ 100 w 108"/>
                    <a:gd name="T33" fmla="*/ 22 h 235"/>
                    <a:gd name="T34" fmla="*/ 100 w 108"/>
                    <a:gd name="T35" fmla="*/ 24 h 235"/>
                    <a:gd name="T36" fmla="*/ 101 w 108"/>
                    <a:gd name="T37" fmla="*/ 26 h 235"/>
                    <a:gd name="T38" fmla="*/ 102 w 108"/>
                    <a:gd name="T39" fmla="*/ 27 h 235"/>
                    <a:gd name="T40" fmla="*/ 103 w 108"/>
                    <a:gd name="T41" fmla="*/ 28 h 235"/>
                    <a:gd name="T42" fmla="*/ 104 w 108"/>
                    <a:gd name="T43" fmla="*/ 30 h 235"/>
                    <a:gd name="T44" fmla="*/ 108 w 108"/>
                    <a:gd name="T45" fmla="*/ 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8" h="235">
                      <a:moveTo>
                        <a:pt x="108" y="35"/>
                      </a:moveTo>
                      <a:lnTo>
                        <a:pt x="31" y="235"/>
                      </a:lnTo>
                      <a:lnTo>
                        <a:pt x="0" y="193"/>
                      </a:lnTo>
                      <a:lnTo>
                        <a:pt x="74" y="0"/>
                      </a:lnTo>
                      <a:lnTo>
                        <a:pt x="77" y="2"/>
                      </a:lnTo>
                      <a:lnTo>
                        <a:pt x="79" y="3"/>
                      </a:lnTo>
                      <a:lnTo>
                        <a:pt x="82" y="5"/>
                      </a:lnTo>
                      <a:lnTo>
                        <a:pt x="85" y="8"/>
                      </a:lnTo>
                      <a:lnTo>
                        <a:pt x="87" y="9"/>
                      </a:lnTo>
                      <a:lnTo>
                        <a:pt x="89" y="11"/>
                      </a:lnTo>
                      <a:lnTo>
                        <a:pt x="91" y="13"/>
                      </a:lnTo>
                      <a:lnTo>
                        <a:pt x="93" y="15"/>
                      </a:lnTo>
                      <a:lnTo>
                        <a:pt x="93" y="15"/>
                      </a:lnTo>
                      <a:lnTo>
                        <a:pt x="97" y="18"/>
                      </a:lnTo>
                      <a:lnTo>
                        <a:pt x="98" y="20"/>
                      </a:lnTo>
                      <a:lnTo>
                        <a:pt x="99" y="21"/>
                      </a:lnTo>
                      <a:lnTo>
                        <a:pt x="100" y="22"/>
                      </a:lnTo>
                      <a:lnTo>
                        <a:pt x="100" y="24"/>
                      </a:lnTo>
                      <a:lnTo>
                        <a:pt x="101" y="26"/>
                      </a:lnTo>
                      <a:lnTo>
                        <a:pt x="102" y="27"/>
                      </a:lnTo>
                      <a:lnTo>
                        <a:pt x="103" y="28"/>
                      </a:lnTo>
                      <a:lnTo>
                        <a:pt x="104" y="30"/>
                      </a:lnTo>
                      <a:lnTo>
                        <a:pt x="108" y="35"/>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81" name="Freeform 169"/>
                <p:cNvSpPr>
                  <a:spLocks noChangeAspect="1"/>
                </p:cNvSpPr>
                <p:nvPr/>
              </p:nvSpPr>
              <p:spPr bwMode="auto">
                <a:xfrm>
                  <a:off x="178" y="593"/>
                  <a:ext cx="36" cy="75"/>
                </a:xfrm>
                <a:custGeom>
                  <a:avLst/>
                  <a:gdLst>
                    <a:gd name="T0" fmla="*/ 107 w 107"/>
                    <a:gd name="T1" fmla="*/ 23 h 222"/>
                    <a:gd name="T2" fmla="*/ 30 w 107"/>
                    <a:gd name="T3" fmla="*/ 222 h 222"/>
                    <a:gd name="T4" fmla="*/ 0 w 107"/>
                    <a:gd name="T5" fmla="*/ 179 h 222"/>
                    <a:gd name="T6" fmla="*/ 69 w 107"/>
                    <a:gd name="T7" fmla="*/ 0 h 222"/>
                    <a:gd name="T8" fmla="*/ 70 w 107"/>
                    <a:gd name="T9" fmla="*/ 1 h 222"/>
                    <a:gd name="T10" fmla="*/ 71 w 107"/>
                    <a:gd name="T11" fmla="*/ 1 h 222"/>
                    <a:gd name="T12" fmla="*/ 73 w 107"/>
                    <a:gd name="T13" fmla="*/ 1 h 222"/>
                    <a:gd name="T14" fmla="*/ 74 w 107"/>
                    <a:gd name="T15" fmla="*/ 2 h 222"/>
                    <a:gd name="T16" fmla="*/ 75 w 107"/>
                    <a:gd name="T17" fmla="*/ 2 h 222"/>
                    <a:gd name="T18" fmla="*/ 76 w 107"/>
                    <a:gd name="T19" fmla="*/ 2 h 222"/>
                    <a:gd name="T20" fmla="*/ 77 w 107"/>
                    <a:gd name="T21" fmla="*/ 3 h 222"/>
                    <a:gd name="T22" fmla="*/ 79 w 107"/>
                    <a:gd name="T23" fmla="*/ 3 h 222"/>
                    <a:gd name="T24" fmla="*/ 83 w 107"/>
                    <a:gd name="T25" fmla="*/ 5 h 222"/>
                    <a:gd name="T26" fmla="*/ 86 w 107"/>
                    <a:gd name="T27" fmla="*/ 7 h 222"/>
                    <a:gd name="T28" fmla="*/ 90 w 107"/>
                    <a:gd name="T29" fmla="*/ 9 h 222"/>
                    <a:gd name="T30" fmla="*/ 94 w 107"/>
                    <a:gd name="T31" fmla="*/ 11 h 222"/>
                    <a:gd name="T32" fmla="*/ 98 w 107"/>
                    <a:gd name="T33" fmla="*/ 13 h 222"/>
                    <a:gd name="T34" fmla="*/ 101 w 107"/>
                    <a:gd name="T35" fmla="*/ 17 h 222"/>
                    <a:gd name="T36" fmla="*/ 104 w 107"/>
                    <a:gd name="T37" fmla="*/ 20 h 222"/>
                    <a:gd name="T38" fmla="*/ 107 w 107"/>
                    <a:gd name="T39" fmla="*/ 23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7" h="222">
                      <a:moveTo>
                        <a:pt x="107" y="23"/>
                      </a:moveTo>
                      <a:lnTo>
                        <a:pt x="30" y="222"/>
                      </a:lnTo>
                      <a:lnTo>
                        <a:pt x="0" y="179"/>
                      </a:lnTo>
                      <a:lnTo>
                        <a:pt x="69" y="0"/>
                      </a:lnTo>
                      <a:lnTo>
                        <a:pt x="70" y="1"/>
                      </a:lnTo>
                      <a:lnTo>
                        <a:pt x="71" y="1"/>
                      </a:lnTo>
                      <a:lnTo>
                        <a:pt x="73" y="1"/>
                      </a:lnTo>
                      <a:lnTo>
                        <a:pt x="74" y="2"/>
                      </a:lnTo>
                      <a:lnTo>
                        <a:pt x="75" y="2"/>
                      </a:lnTo>
                      <a:lnTo>
                        <a:pt x="76" y="2"/>
                      </a:lnTo>
                      <a:lnTo>
                        <a:pt x="77" y="3"/>
                      </a:lnTo>
                      <a:lnTo>
                        <a:pt x="79" y="3"/>
                      </a:lnTo>
                      <a:lnTo>
                        <a:pt x="83" y="5"/>
                      </a:lnTo>
                      <a:lnTo>
                        <a:pt x="86" y="7"/>
                      </a:lnTo>
                      <a:lnTo>
                        <a:pt x="90" y="9"/>
                      </a:lnTo>
                      <a:lnTo>
                        <a:pt x="94" y="11"/>
                      </a:lnTo>
                      <a:lnTo>
                        <a:pt x="98" y="13"/>
                      </a:lnTo>
                      <a:lnTo>
                        <a:pt x="101" y="17"/>
                      </a:lnTo>
                      <a:lnTo>
                        <a:pt x="104" y="20"/>
                      </a:lnTo>
                      <a:lnTo>
                        <a:pt x="107" y="2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82" name="Freeform 170"/>
                <p:cNvSpPr>
                  <a:spLocks noChangeAspect="1"/>
                </p:cNvSpPr>
                <p:nvPr/>
              </p:nvSpPr>
              <p:spPr bwMode="auto">
                <a:xfrm>
                  <a:off x="173" y="592"/>
                  <a:ext cx="35" cy="69"/>
                </a:xfrm>
                <a:custGeom>
                  <a:avLst/>
                  <a:gdLst>
                    <a:gd name="T0" fmla="*/ 105 w 105"/>
                    <a:gd name="T1" fmla="*/ 10 h 203"/>
                    <a:gd name="T2" fmla="*/ 31 w 105"/>
                    <a:gd name="T3" fmla="*/ 203 h 203"/>
                    <a:gd name="T4" fmla="*/ 0 w 105"/>
                    <a:gd name="T5" fmla="*/ 160 h 203"/>
                    <a:gd name="T6" fmla="*/ 63 w 105"/>
                    <a:gd name="T7" fmla="*/ 0 h 203"/>
                    <a:gd name="T8" fmla="*/ 67 w 105"/>
                    <a:gd name="T9" fmla="*/ 0 h 203"/>
                    <a:gd name="T10" fmla="*/ 71 w 105"/>
                    <a:gd name="T11" fmla="*/ 0 h 203"/>
                    <a:gd name="T12" fmla="*/ 74 w 105"/>
                    <a:gd name="T13" fmla="*/ 0 h 203"/>
                    <a:gd name="T14" fmla="*/ 79 w 105"/>
                    <a:gd name="T15" fmla="*/ 1 h 203"/>
                    <a:gd name="T16" fmla="*/ 83 w 105"/>
                    <a:gd name="T17" fmla="*/ 2 h 203"/>
                    <a:gd name="T18" fmla="*/ 86 w 105"/>
                    <a:gd name="T19" fmla="*/ 3 h 203"/>
                    <a:gd name="T20" fmla="*/ 90 w 105"/>
                    <a:gd name="T21" fmla="*/ 4 h 203"/>
                    <a:gd name="T22" fmla="*/ 95 w 105"/>
                    <a:gd name="T23" fmla="*/ 5 h 203"/>
                    <a:gd name="T24" fmla="*/ 96 w 105"/>
                    <a:gd name="T25" fmla="*/ 6 h 203"/>
                    <a:gd name="T26" fmla="*/ 97 w 105"/>
                    <a:gd name="T27" fmla="*/ 6 h 203"/>
                    <a:gd name="T28" fmla="*/ 99 w 105"/>
                    <a:gd name="T29" fmla="*/ 7 h 203"/>
                    <a:gd name="T30" fmla="*/ 100 w 105"/>
                    <a:gd name="T31" fmla="*/ 8 h 203"/>
                    <a:gd name="T32" fmla="*/ 102 w 105"/>
                    <a:gd name="T33" fmla="*/ 8 h 203"/>
                    <a:gd name="T34" fmla="*/ 103 w 105"/>
                    <a:gd name="T35" fmla="*/ 9 h 203"/>
                    <a:gd name="T36" fmla="*/ 104 w 105"/>
                    <a:gd name="T37" fmla="*/ 10 h 203"/>
                    <a:gd name="T38" fmla="*/ 105 w 105"/>
                    <a:gd name="T39" fmla="*/ 1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203">
                      <a:moveTo>
                        <a:pt x="105" y="10"/>
                      </a:moveTo>
                      <a:lnTo>
                        <a:pt x="31" y="203"/>
                      </a:lnTo>
                      <a:lnTo>
                        <a:pt x="0" y="160"/>
                      </a:lnTo>
                      <a:lnTo>
                        <a:pt x="63" y="0"/>
                      </a:lnTo>
                      <a:lnTo>
                        <a:pt x="67" y="0"/>
                      </a:lnTo>
                      <a:lnTo>
                        <a:pt x="71" y="0"/>
                      </a:lnTo>
                      <a:lnTo>
                        <a:pt x="74" y="0"/>
                      </a:lnTo>
                      <a:lnTo>
                        <a:pt x="79" y="1"/>
                      </a:lnTo>
                      <a:lnTo>
                        <a:pt x="83" y="2"/>
                      </a:lnTo>
                      <a:lnTo>
                        <a:pt x="86" y="3"/>
                      </a:lnTo>
                      <a:lnTo>
                        <a:pt x="90" y="4"/>
                      </a:lnTo>
                      <a:lnTo>
                        <a:pt x="95" y="5"/>
                      </a:lnTo>
                      <a:lnTo>
                        <a:pt x="96" y="6"/>
                      </a:lnTo>
                      <a:lnTo>
                        <a:pt x="97" y="6"/>
                      </a:lnTo>
                      <a:lnTo>
                        <a:pt x="99" y="7"/>
                      </a:lnTo>
                      <a:lnTo>
                        <a:pt x="100" y="8"/>
                      </a:lnTo>
                      <a:lnTo>
                        <a:pt x="102" y="8"/>
                      </a:lnTo>
                      <a:lnTo>
                        <a:pt x="103" y="9"/>
                      </a:lnTo>
                      <a:lnTo>
                        <a:pt x="104" y="10"/>
                      </a:lnTo>
                      <a:lnTo>
                        <a:pt x="105" y="1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83" name="Freeform 171"/>
                <p:cNvSpPr>
                  <a:spLocks noChangeAspect="1"/>
                </p:cNvSpPr>
                <p:nvPr/>
              </p:nvSpPr>
              <p:spPr bwMode="auto">
                <a:xfrm>
                  <a:off x="167" y="592"/>
                  <a:ext cx="34" cy="63"/>
                </a:xfrm>
                <a:custGeom>
                  <a:avLst/>
                  <a:gdLst>
                    <a:gd name="T0" fmla="*/ 100 w 100"/>
                    <a:gd name="T1" fmla="*/ 2 h 181"/>
                    <a:gd name="T2" fmla="*/ 31 w 100"/>
                    <a:gd name="T3" fmla="*/ 181 h 181"/>
                    <a:gd name="T4" fmla="*/ 0 w 100"/>
                    <a:gd name="T5" fmla="*/ 139 h 181"/>
                    <a:gd name="T6" fmla="*/ 0 w 100"/>
                    <a:gd name="T7" fmla="*/ 138 h 181"/>
                    <a:gd name="T8" fmla="*/ 1 w 100"/>
                    <a:gd name="T9" fmla="*/ 137 h 181"/>
                    <a:gd name="T10" fmla="*/ 1 w 100"/>
                    <a:gd name="T11" fmla="*/ 137 h 181"/>
                    <a:gd name="T12" fmla="*/ 1 w 100"/>
                    <a:gd name="T13" fmla="*/ 137 h 181"/>
                    <a:gd name="T14" fmla="*/ 1 w 100"/>
                    <a:gd name="T15" fmla="*/ 137 h 181"/>
                    <a:gd name="T16" fmla="*/ 1 w 100"/>
                    <a:gd name="T17" fmla="*/ 137 h 181"/>
                    <a:gd name="T18" fmla="*/ 1 w 100"/>
                    <a:gd name="T19" fmla="*/ 137 h 181"/>
                    <a:gd name="T20" fmla="*/ 1 w 100"/>
                    <a:gd name="T21" fmla="*/ 137 h 181"/>
                    <a:gd name="T22" fmla="*/ 1 w 100"/>
                    <a:gd name="T23" fmla="*/ 136 h 181"/>
                    <a:gd name="T24" fmla="*/ 1 w 100"/>
                    <a:gd name="T25" fmla="*/ 136 h 181"/>
                    <a:gd name="T26" fmla="*/ 52 w 100"/>
                    <a:gd name="T27" fmla="*/ 4 h 181"/>
                    <a:gd name="T28" fmla="*/ 58 w 100"/>
                    <a:gd name="T29" fmla="*/ 2 h 181"/>
                    <a:gd name="T30" fmla="*/ 64 w 100"/>
                    <a:gd name="T31" fmla="*/ 1 h 181"/>
                    <a:gd name="T32" fmla="*/ 70 w 100"/>
                    <a:gd name="T33" fmla="*/ 0 h 181"/>
                    <a:gd name="T34" fmla="*/ 77 w 100"/>
                    <a:gd name="T35" fmla="*/ 0 h 181"/>
                    <a:gd name="T36" fmla="*/ 82 w 100"/>
                    <a:gd name="T37" fmla="*/ 0 h 181"/>
                    <a:gd name="T38" fmla="*/ 88 w 100"/>
                    <a:gd name="T39" fmla="*/ 0 h 181"/>
                    <a:gd name="T40" fmla="*/ 95 w 100"/>
                    <a:gd name="T41" fmla="*/ 1 h 181"/>
                    <a:gd name="T42" fmla="*/ 100 w 100"/>
                    <a:gd name="T43" fmla="*/ 2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0" h="181">
                      <a:moveTo>
                        <a:pt x="100" y="2"/>
                      </a:moveTo>
                      <a:lnTo>
                        <a:pt x="31" y="181"/>
                      </a:lnTo>
                      <a:lnTo>
                        <a:pt x="0" y="139"/>
                      </a:lnTo>
                      <a:lnTo>
                        <a:pt x="0" y="138"/>
                      </a:lnTo>
                      <a:lnTo>
                        <a:pt x="1" y="137"/>
                      </a:lnTo>
                      <a:lnTo>
                        <a:pt x="1" y="137"/>
                      </a:lnTo>
                      <a:lnTo>
                        <a:pt x="1" y="137"/>
                      </a:lnTo>
                      <a:lnTo>
                        <a:pt x="1" y="137"/>
                      </a:lnTo>
                      <a:lnTo>
                        <a:pt x="1" y="137"/>
                      </a:lnTo>
                      <a:lnTo>
                        <a:pt x="1" y="137"/>
                      </a:lnTo>
                      <a:lnTo>
                        <a:pt x="1" y="137"/>
                      </a:lnTo>
                      <a:lnTo>
                        <a:pt x="1" y="136"/>
                      </a:lnTo>
                      <a:lnTo>
                        <a:pt x="1" y="136"/>
                      </a:lnTo>
                      <a:lnTo>
                        <a:pt x="52" y="4"/>
                      </a:lnTo>
                      <a:lnTo>
                        <a:pt x="58" y="2"/>
                      </a:lnTo>
                      <a:lnTo>
                        <a:pt x="64" y="1"/>
                      </a:lnTo>
                      <a:lnTo>
                        <a:pt x="70" y="0"/>
                      </a:lnTo>
                      <a:lnTo>
                        <a:pt x="77" y="0"/>
                      </a:lnTo>
                      <a:lnTo>
                        <a:pt x="82" y="0"/>
                      </a:lnTo>
                      <a:lnTo>
                        <a:pt x="88" y="0"/>
                      </a:lnTo>
                      <a:lnTo>
                        <a:pt x="95" y="1"/>
                      </a:lnTo>
                      <a:lnTo>
                        <a:pt x="100" y="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84" name="Freeform 172"/>
                <p:cNvSpPr>
                  <a:spLocks noChangeAspect="1"/>
                </p:cNvSpPr>
                <p:nvPr/>
              </p:nvSpPr>
              <p:spPr bwMode="auto">
                <a:xfrm>
                  <a:off x="165" y="592"/>
                  <a:ext cx="29" cy="54"/>
                </a:xfrm>
                <a:custGeom>
                  <a:avLst/>
                  <a:gdLst>
                    <a:gd name="T0" fmla="*/ 88 w 88"/>
                    <a:gd name="T1" fmla="*/ 0 h 160"/>
                    <a:gd name="T2" fmla="*/ 25 w 88"/>
                    <a:gd name="T3" fmla="*/ 160 h 160"/>
                    <a:gd name="T4" fmla="*/ 10 w 88"/>
                    <a:gd name="T5" fmla="*/ 138 h 160"/>
                    <a:gd name="T6" fmla="*/ 11 w 88"/>
                    <a:gd name="T7" fmla="*/ 137 h 160"/>
                    <a:gd name="T8" fmla="*/ 9 w 88"/>
                    <a:gd name="T9" fmla="*/ 132 h 160"/>
                    <a:gd name="T10" fmla="*/ 7 w 88"/>
                    <a:gd name="T11" fmla="*/ 129 h 160"/>
                    <a:gd name="T12" fmla="*/ 6 w 88"/>
                    <a:gd name="T13" fmla="*/ 125 h 160"/>
                    <a:gd name="T14" fmla="*/ 5 w 88"/>
                    <a:gd name="T15" fmla="*/ 121 h 160"/>
                    <a:gd name="T16" fmla="*/ 2 w 88"/>
                    <a:gd name="T17" fmla="*/ 116 h 160"/>
                    <a:gd name="T18" fmla="*/ 1 w 88"/>
                    <a:gd name="T19" fmla="*/ 112 h 160"/>
                    <a:gd name="T20" fmla="*/ 1 w 88"/>
                    <a:gd name="T21" fmla="*/ 107 h 160"/>
                    <a:gd name="T22" fmla="*/ 0 w 88"/>
                    <a:gd name="T23" fmla="*/ 103 h 160"/>
                    <a:gd name="T24" fmla="*/ 32 w 88"/>
                    <a:gd name="T25" fmla="*/ 21 h 160"/>
                    <a:gd name="T26" fmla="*/ 39 w 88"/>
                    <a:gd name="T27" fmla="*/ 17 h 160"/>
                    <a:gd name="T28" fmla="*/ 45 w 88"/>
                    <a:gd name="T29" fmla="*/ 12 h 160"/>
                    <a:gd name="T30" fmla="*/ 51 w 88"/>
                    <a:gd name="T31" fmla="*/ 8 h 160"/>
                    <a:gd name="T32" fmla="*/ 59 w 88"/>
                    <a:gd name="T33" fmla="*/ 5 h 160"/>
                    <a:gd name="T34" fmla="*/ 65 w 88"/>
                    <a:gd name="T35" fmla="*/ 3 h 160"/>
                    <a:gd name="T36" fmla="*/ 73 w 88"/>
                    <a:gd name="T37" fmla="*/ 1 h 160"/>
                    <a:gd name="T38" fmla="*/ 80 w 88"/>
                    <a:gd name="T39" fmla="*/ 0 h 160"/>
                    <a:gd name="T40" fmla="*/ 88 w 88"/>
                    <a:gd name="T4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8" h="160">
                      <a:moveTo>
                        <a:pt x="88" y="0"/>
                      </a:moveTo>
                      <a:lnTo>
                        <a:pt x="25" y="160"/>
                      </a:lnTo>
                      <a:lnTo>
                        <a:pt x="10" y="138"/>
                      </a:lnTo>
                      <a:lnTo>
                        <a:pt x="11" y="137"/>
                      </a:lnTo>
                      <a:lnTo>
                        <a:pt x="9" y="132"/>
                      </a:lnTo>
                      <a:lnTo>
                        <a:pt x="7" y="129"/>
                      </a:lnTo>
                      <a:lnTo>
                        <a:pt x="6" y="125"/>
                      </a:lnTo>
                      <a:lnTo>
                        <a:pt x="5" y="121"/>
                      </a:lnTo>
                      <a:lnTo>
                        <a:pt x="2" y="116"/>
                      </a:lnTo>
                      <a:lnTo>
                        <a:pt x="1" y="112"/>
                      </a:lnTo>
                      <a:lnTo>
                        <a:pt x="1" y="107"/>
                      </a:lnTo>
                      <a:lnTo>
                        <a:pt x="0" y="103"/>
                      </a:lnTo>
                      <a:lnTo>
                        <a:pt x="32" y="21"/>
                      </a:lnTo>
                      <a:lnTo>
                        <a:pt x="39" y="17"/>
                      </a:lnTo>
                      <a:lnTo>
                        <a:pt x="45" y="12"/>
                      </a:lnTo>
                      <a:lnTo>
                        <a:pt x="51" y="8"/>
                      </a:lnTo>
                      <a:lnTo>
                        <a:pt x="59" y="5"/>
                      </a:lnTo>
                      <a:lnTo>
                        <a:pt x="65" y="3"/>
                      </a:lnTo>
                      <a:lnTo>
                        <a:pt x="73" y="1"/>
                      </a:lnTo>
                      <a:lnTo>
                        <a:pt x="80" y="0"/>
                      </a:lnTo>
                      <a:lnTo>
                        <a:pt x="88" y="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85" name="Freeform 173"/>
                <p:cNvSpPr>
                  <a:spLocks noChangeAspect="1" noEditPoints="1"/>
                </p:cNvSpPr>
                <p:nvPr/>
              </p:nvSpPr>
              <p:spPr bwMode="auto">
                <a:xfrm>
                  <a:off x="164" y="594"/>
                  <a:ext cx="21" cy="45"/>
                </a:xfrm>
                <a:custGeom>
                  <a:avLst/>
                  <a:gdLst>
                    <a:gd name="T0" fmla="*/ 63 w 63"/>
                    <a:gd name="T1" fmla="*/ 0 h 135"/>
                    <a:gd name="T2" fmla="*/ 12 w 63"/>
                    <a:gd name="T3" fmla="*/ 132 h 135"/>
                    <a:gd name="T4" fmla="*/ 8 w 63"/>
                    <a:gd name="T5" fmla="*/ 123 h 135"/>
                    <a:gd name="T6" fmla="*/ 5 w 63"/>
                    <a:gd name="T7" fmla="*/ 114 h 135"/>
                    <a:gd name="T8" fmla="*/ 2 w 63"/>
                    <a:gd name="T9" fmla="*/ 104 h 135"/>
                    <a:gd name="T10" fmla="*/ 1 w 63"/>
                    <a:gd name="T11" fmla="*/ 94 h 135"/>
                    <a:gd name="T12" fmla="*/ 0 w 63"/>
                    <a:gd name="T13" fmla="*/ 85 h 135"/>
                    <a:gd name="T14" fmla="*/ 1 w 63"/>
                    <a:gd name="T15" fmla="*/ 74 h 135"/>
                    <a:gd name="T16" fmla="*/ 3 w 63"/>
                    <a:gd name="T17" fmla="*/ 64 h 135"/>
                    <a:gd name="T18" fmla="*/ 7 w 63"/>
                    <a:gd name="T19" fmla="*/ 54 h 135"/>
                    <a:gd name="T20" fmla="*/ 12 w 63"/>
                    <a:gd name="T21" fmla="*/ 44 h 135"/>
                    <a:gd name="T22" fmla="*/ 17 w 63"/>
                    <a:gd name="T23" fmla="*/ 35 h 135"/>
                    <a:gd name="T24" fmla="*/ 23 w 63"/>
                    <a:gd name="T25" fmla="*/ 27 h 135"/>
                    <a:gd name="T26" fmla="*/ 30 w 63"/>
                    <a:gd name="T27" fmla="*/ 20 h 135"/>
                    <a:gd name="T28" fmla="*/ 38 w 63"/>
                    <a:gd name="T29" fmla="*/ 14 h 135"/>
                    <a:gd name="T30" fmla="*/ 46 w 63"/>
                    <a:gd name="T31" fmla="*/ 8 h 135"/>
                    <a:gd name="T32" fmla="*/ 55 w 63"/>
                    <a:gd name="T33" fmla="*/ 3 h 135"/>
                    <a:gd name="T34" fmla="*/ 63 w 63"/>
                    <a:gd name="T35" fmla="*/ 0 h 135"/>
                    <a:gd name="T36" fmla="*/ 11 w 63"/>
                    <a:gd name="T37" fmla="*/ 134 h 135"/>
                    <a:gd name="T38" fmla="*/ 11 w 63"/>
                    <a:gd name="T39" fmla="*/ 135 h 135"/>
                    <a:gd name="T40" fmla="*/ 11 w 63"/>
                    <a:gd name="T41" fmla="*/ 134 h 135"/>
                    <a:gd name="T42" fmla="*/ 11 w 63"/>
                    <a:gd name="T43" fmla="*/ 13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135">
                      <a:moveTo>
                        <a:pt x="63" y="0"/>
                      </a:moveTo>
                      <a:lnTo>
                        <a:pt x="12" y="132"/>
                      </a:lnTo>
                      <a:lnTo>
                        <a:pt x="8" y="123"/>
                      </a:lnTo>
                      <a:lnTo>
                        <a:pt x="5" y="114"/>
                      </a:lnTo>
                      <a:lnTo>
                        <a:pt x="2" y="104"/>
                      </a:lnTo>
                      <a:lnTo>
                        <a:pt x="1" y="94"/>
                      </a:lnTo>
                      <a:lnTo>
                        <a:pt x="0" y="85"/>
                      </a:lnTo>
                      <a:lnTo>
                        <a:pt x="1" y="74"/>
                      </a:lnTo>
                      <a:lnTo>
                        <a:pt x="3" y="64"/>
                      </a:lnTo>
                      <a:lnTo>
                        <a:pt x="7" y="54"/>
                      </a:lnTo>
                      <a:lnTo>
                        <a:pt x="12" y="44"/>
                      </a:lnTo>
                      <a:lnTo>
                        <a:pt x="17" y="35"/>
                      </a:lnTo>
                      <a:lnTo>
                        <a:pt x="23" y="27"/>
                      </a:lnTo>
                      <a:lnTo>
                        <a:pt x="30" y="20"/>
                      </a:lnTo>
                      <a:lnTo>
                        <a:pt x="38" y="14"/>
                      </a:lnTo>
                      <a:lnTo>
                        <a:pt x="46" y="8"/>
                      </a:lnTo>
                      <a:lnTo>
                        <a:pt x="55" y="3"/>
                      </a:lnTo>
                      <a:lnTo>
                        <a:pt x="63" y="0"/>
                      </a:lnTo>
                      <a:close/>
                      <a:moveTo>
                        <a:pt x="11" y="134"/>
                      </a:moveTo>
                      <a:lnTo>
                        <a:pt x="11" y="135"/>
                      </a:lnTo>
                      <a:lnTo>
                        <a:pt x="11" y="134"/>
                      </a:lnTo>
                      <a:lnTo>
                        <a:pt x="11" y="134"/>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86" name="Freeform 174"/>
                <p:cNvSpPr>
                  <a:spLocks noChangeAspect="1"/>
                </p:cNvSpPr>
                <p:nvPr/>
              </p:nvSpPr>
              <p:spPr bwMode="auto">
                <a:xfrm>
                  <a:off x="164" y="599"/>
                  <a:ext cx="10" cy="28"/>
                </a:xfrm>
                <a:custGeom>
                  <a:avLst/>
                  <a:gdLst>
                    <a:gd name="T0" fmla="*/ 33 w 33"/>
                    <a:gd name="T1" fmla="*/ 0 h 82"/>
                    <a:gd name="T2" fmla="*/ 1 w 33"/>
                    <a:gd name="T3" fmla="*/ 82 h 82"/>
                    <a:gd name="T4" fmla="*/ 0 w 33"/>
                    <a:gd name="T5" fmla="*/ 76 h 82"/>
                    <a:gd name="T6" fmla="*/ 0 w 33"/>
                    <a:gd name="T7" fmla="*/ 71 h 82"/>
                    <a:gd name="T8" fmla="*/ 1 w 33"/>
                    <a:gd name="T9" fmla="*/ 65 h 82"/>
                    <a:gd name="T10" fmla="*/ 1 w 33"/>
                    <a:gd name="T11" fmla="*/ 59 h 82"/>
                    <a:gd name="T12" fmla="*/ 2 w 33"/>
                    <a:gd name="T13" fmla="*/ 54 h 82"/>
                    <a:gd name="T14" fmla="*/ 3 w 33"/>
                    <a:gd name="T15" fmla="*/ 48 h 82"/>
                    <a:gd name="T16" fmla="*/ 6 w 33"/>
                    <a:gd name="T17" fmla="*/ 42 h 82"/>
                    <a:gd name="T18" fmla="*/ 7 w 33"/>
                    <a:gd name="T19" fmla="*/ 37 h 82"/>
                    <a:gd name="T20" fmla="*/ 10 w 33"/>
                    <a:gd name="T21" fmla="*/ 32 h 82"/>
                    <a:gd name="T22" fmla="*/ 12 w 33"/>
                    <a:gd name="T23" fmla="*/ 26 h 82"/>
                    <a:gd name="T24" fmla="*/ 15 w 33"/>
                    <a:gd name="T25" fmla="*/ 21 h 82"/>
                    <a:gd name="T26" fmla="*/ 18 w 33"/>
                    <a:gd name="T27" fmla="*/ 17 h 82"/>
                    <a:gd name="T28" fmla="*/ 22 w 33"/>
                    <a:gd name="T29" fmla="*/ 11 h 82"/>
                    <a:gd name="T30" fmla="*/ 25 w 33"/>
                    <a:gd name="T31" fmla="*/ 7 h 82"/>
                    <a:gd name="T32" fmla="*/ 29 w 33"/>
                    <a:gd name="T33" fmla="*/ 4 h 82"/>
                    <a:gd name="T34" fmla="*/ 33 w 33"/>
                    <a:gd name="T35"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82">
                      <a:moveTo>
                        <a:pt x="33" y="0"/>
                      </a:moveTo>
                      <a:lnTo>
                        <a:pt x="1" y="82"/>
                      </a:lnTo>
                      <a:lnTo>
                        <a:pt x="0" y="76"/>
                      </a:lnTo>
                      <a:lnTo>
                        <a:pt x="0" y="71"/>
                      </a:lnTo>
                      <a:lnTo>
                        <a:pt x="1" y="65"/>
                      </a:lnTo>
                      <a:lnTo>
                        <a:pt x="1" y="59"/>
                      </a:lnTo>
                      <a:lnTo>
                        <a:pt x="2" y="54"/>
                      </a:lnTo>
                      <a:lnTo>
                        <a:pt x="3" y="48"/>
                      </a:lnTo>
                      <a:lnTo>
                        <a:pt x="6" y="42"/>
                      </a:lnTo>
                      <a:lnTo>
                        <a:pt x="7" y="37"/>
                      </a:lnTo>
                      <a:lnTo>
                        <a:pt x="10" y="32"/>
                      </a:lnTo>
                      <a:lnTo>
                        <a:pt x="12" y="26"/>
                      </a:lnTo>
                      <a:lnTo>
                        <a:pt x="15" y="21"/>
                      </a:lnTo>
                      <a:lnTo>
                        <a:pt x="18" y="17"/>
                      </a:lnTo>
                      <a:lnTo>
                        <a:pt x="22" y="11"/>
                      </a:lnTo>
                      <a:lnTo>
                        <a:pt x="25" y="7"/>
                      </a:lnTo>
                      <a:lnTo>
                        <a:pt x="29" y="4"/>
                      </a:lnTo>
                      <a:lnTo>
                        <a:pt x="33" y="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687" name="Freeform 175"/>
                <p:cNvSpPr>
                  <a:spLocks noChangeAspect="1"/>
                </p:cNvSpPr>
                <p:nvPr/>
              </p:nvSpPr>
              <p:spPr bwMode="auto">
                <a:xfrm>
                  <a:off x="164" y="592"/>
                  <a:ext cx="260" cy="335"/>
                </a:xfrm>
                <a:custGeom>
                  <a:avLst/>
                  <a:gdLst>
                    <a:gd name="T0" fmla="*/ 121 w 776"/>
                    <a:gd name="T1" fmla="*/ 5 h 1001"/>
                    <a:gd name="T2" fmla="*/ 125 w 776"/>
                    <a:gd name="T3" fmla="*/ 7 h 1001"/>
                    <a:gd name="T4" fmla="*/ 129 w 776"/>
                    <a:gd name="T5" fmla="*/ 9 h 1001"/>
                    <a:gd name="T6" fmla="*/ 132 w 776"/>
                    <a:gd name="T7" fmla="*/ 11 h 1001"/>
                    <a:gd name="T8" fmla="*/ 136 w 776"/>
                    <a:gd name="T9" fmla="*/ 13 h 1001"/>
                    <a:gd name="T10" fmla="*/ 140 w 776"/>
                    <a:gd name="T11" fmla="*/ 17 h 1001"/>
                    <a:gd name="T12" fmla="*/ 144 w 776"/>
                    <a:gd name="T13" fmla="*/ 19 h 1001"/>
                    <a:gd name="T14" fmla="*/ 147 w 776"/>
                    <a:gd name="T15" fmla="*/ 22 h 1001"/>
                    <a:gd name="T16" fmla="*/ 150 w 776"/>
                    <a:gd name="T17" fmla="*/ 25 h 1001"/>
                    <a:gd name="T18" fmla="*/ 150 w 776"/>
                    <a:gd name="T19" fmla="*/ 25 h 1001"/>
                    <a:gd name="T20" fmla="*/ 154 w 776"/>
                    <a:gd name="T21" fmla="*/ 28 h 1001"/>
                    <a:gd name="T22" fmla="*/ 155 w 776"/>
                    <a:gd name="T23" fmla="*/ 30 h 1001"/>
                    <a:gd name="T24" fmla="*/ 156 w 776"/>
                    <a:gd name="T25" fmla="*/ 31 h 1001"/>
                    <a:gd name="T26" fmla="*/ 157 w 776"/>
                    <a:gd name="T27" fmla="*/ 32 h 1001"/>
                    <a:gd name="T28" fmla="*/ 157 w 776"/>
                    <a:gd name="T29" fmla="*/ 34 h 1001"/>
                    <a:gd name="T30" fmla="*/ 158 w 776"/>
                    <a:gd name="T31" fmla="*/ 36 h 1001"/>
                    <a:gd name="T32" fmla="*/ 159 w 776"/>
                    <a:gd name="T33" fmla="*/ 37 h 1001"/>
                    <a:gd name="T34" fmla="*/ 160 w 776"/>
                    <a:gd name="T35" fmla="*/ 38 h 1001"/>
                    <a:gd name="T36" fmla="*/ 161 w 776"/>
                    <a:gd name="T37" fmla="*/ 40 h 1001"/>
                    <a:gd name="T38" fmla="*/ 776 w 776"/>
                    <a:gd name="T39" fmla="*/ 900 h 1001"/>
                    <a:gd name="T40" fmla="*/ 628 w 776"/>
                    <a:gd name="T41" fmla="*/ 1001 h 1001"/>
                    <a:gd name="T42" fmla="*/ 11 w 776"/>
                    <a:gd name="T43" fmla="*/ 138 h 1001"/>
                    <a:gd name="T44" fmla="*/ 12 w 776"/>
                    <a:gd name="T45" fmla="*/ 137 h 1001"/>
                    <a:gd name="T46" fmla="*/ 8 w 776"/>
                    <a:gd name="T47" fmla="*/ 128 h 1001"/>
                    <a:gd name="T48" fmla="*/ 5 w 776"/>
                    <a:gd name="T49" fmla="*/ 119 h 1001"/>
                    <a:gd name="T50" fmla="*/ 2 w 776"/>
                    <a:gd name="T51" fmla="*/ 109 h 1001"/>
                    <a:gd name="T52" fmla="*/ 1 w 776"/>
                    <a:gd name="T53" fmla="*/ 98 h 1001"/>
                    <a:gd name="T54" fmla="*/ 0 w 776"/>
                    <a:gd name="T55" fmla="*/ 89 h 1001"/>
                    <a:gd name="T56" fmla="*/ 1 w 776"/>
                    <a:gd name="T57" fmla="*/ 78 h 1001"/>
                    <a:gd name="T58" fmla="*/ 3 w 776"/>
                    <a:gd name="T59" fmla="*/ 69 h 1001"/>
                    <a:gd name="T60" fmla="*/ 7 w 776"/>
                    <a:gd name="T61" fmla="*/ 58 h 1001"/>
                    <a:gd name="T62" fmla="*/ 11 w 776"/>
                    <a:gd name="T63" fmla="*/ 49 h 1001"/>
                    <a:gd name="T64" fmla="*/ 15 w 776"/>
                    <a:gd name="T65" fmla="*/ 42 h 1001"/>
                    <a:gd name="T66" fmla="*/ 20 w 776"/>
                    <a:gd name="T67" fmla="*/ 35 h 1001"/>
                    <a:gd name="T68" fmla="*/ 26 w 776"/>
                    <a:gd name="T69" fmla="*/ 27 h 1001"/>
                    <a:gd name="T70" fmla="*/ 32 w 776"/>
                    <a:gd name="T71" fmla="*/ 22 h 1001"/>
                    <a:gd name="T72" fmla="*/ 40 w 776"/>
                    <a:gd name="T73" fmla="*/ 17 h 1001"/>
                    <a:gd name="T74" fmla="*/ 46 w 776"/>
                    <a:gd name="T75" fmla="*/ 11 h 1001"/>
                    <a:gd name="T76" fmla="*/ 53 w 776"/>
                    <a:gd name="T77" fmla="*/ 8 h 1001"/>
                    <a:gd name="T78" fmla="*/ 62 w 776"/>
                    <a:gd name="T79" fmla="*/ 5 h 1001"/>
                    <a:gd name="T80" fmla="*/ 69 w 776"/>
                    <a:gd name="T81" fmla="*/ 2 h 1001"/>
                    <a:gd name="T82" fmla="*/ 78 w 776"/>
                    <a:gd name="T83" fmla="*/ 1 h 1001"/>
                    <a:gd name="T84" fmla="*/ 86 w 776"/>
                    <a:gd name="T85" fmla="*/ 0 h 1001"/>
                    <a:gd name="T86" fmla="*/ 95 w 776"/>
                    <a:gd name="T87" fmla="*/ 0 h 1001"/>
                    <a:gd name="T88" fmla="*/ 103 w 776"/>
                    <a:gd name="T89" fmla="*/ 1 h 1001"/>
                    <a:gd name="T90" fmla="*/ 112 w 776"/>
                    <a:gd name="T91" fmla="*/ 3 h 1001"/>
                    <a:gd name="T92" fmla="*/ 121 w 776"/>
                    <a:gd name="T93" fmla="*/ 5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76" h="1001">
                      <a:moveTo>
                        <a:pt x="121" y="5"/>
                      </a:moveTo>
                      <a:lnTo>
                        <a:pt x="125" y="7"/>
                      </a:lnTo>
                      <a:lnTo>
                        <a:pt x="129" y="9"/>
                      </a:lnTo>
                      <a:lnTo>
                        <a:pt x="132" y="11"/>
                      </a:lnTo>
                      <a:lnTo>
                        <a:pt x="136" y="13"/>
                      </a:lnTo>
                      <a:lnTo>
                        <a:pt x="140" y="17"/>
                      </a:lnTo>
                      <a:lnTo>
                        <a:pt x="144" y="19"/>
                      </a:lnTo>
                      <a:lnTo>
                        <a:pt x="147" y="22"/>
                      </a:lnTo>
                      <a:lnTo>
                        <a:pt x="150" y="25"/>
                      </a:lnTo>
                      <a:lnTo>
                        <a:pt x="150" y="25"/>
                      </a:lnTo>
                      <a:lnTo>
                        <a:pt x="154" y="28"/>
                      </a:lnTo>
                      <a:lnTo>
                        <a:pt x="155" y="30"/>
                      </a:lnTo>
                      <a:lnTo>
                        <a:pt x="156" y="31"/>
                      </a:lnTo>
                      <a:lnTo>
                        <a:pt x="157" y="32"/>
                      </a:lnTo>
                      <a:lnTo>
                        <a:pt x="157" y="34"/>
                      </a:lnTo>
                      <a:lnTo>
                        <a:pt x="158" y="36"/>
                      </a:lnTo>
                      <a:lnTo>
                        <a:pt x="159" y="37"/>
                      </a:lnTo>
                      <a:lnTo>
                        <a:pt x="160" y="38"/>
                      </a:lnTo>
                      <a:lnTo>
                        <a:pt x="161" y="40"/>
                      </a:lnTo>
                      <a:lnTo>
                        <a:pt x="776" y="900"/>
                      </a:lnTo>
                      <a:lnTo>
                        <a:pt x="628" y="1001"/>
                      </a:lnTo>
                      <a:lnTo>
                        <a:pt x="11" y="138"/>
                      </a:lnTo>
                      <a:lnTo>
                        <a:pt x="12" y="137"/>
                      </a:lnTo>
                      <a:lnTo>
                        <a:pt x="8" y="128"/>
                      </a:lnTo>
                      <a:lnTo>
                        <a:pt x="5" y="119"/>
                      </a:lnTo>
                      <a:lnTo>
                        <a:pt x="2" y="109"/>
                      </a:lnTo>
                      <a:lnTo>
                        <a:pt x="1" y="98"/>
                      </a:lnTo>
                      <a:lnTo>
                        <a:pt x="0" y="89"/>
                      </a:lnTo>
                      <a:lnTo>
                        <a:pt x="1" y="78"/>
                      </a:lnTo>
                      <a:lnTo>
                        <a:pt x="3" y="69"/>
                      </a:lnTo>
                      <a:lnTo>
                        <a:pt x="7" y="58"/>
                      </a:lnTo>
                      <a:lnTo>
                        <a:pt x="11" y="49"/>
                      </a:lnTo>
                      <a:lnTo>
                        <a:pt x="15" y="42"/>
                      </a:lnTo>
                      <a:lnTo>
                        <a:pt x="20" y="35"/>
                      </a:lnTo>
                      <a:lnTo>
                        <a:pt x="26" y="27"/>
                      </a:lnTo>
                      <a:lnTo>
                        <a:pt x="32" y="22"/>
                      </a:lnTo>
                      <a:lnTo>
                        <a:pt x="40" y="17"/>
                      </a:lnTo>
                      <a:lnTo>
                        <a:pt x="46" y="11"/>
                      </a:lnTo>
                      <a:lnTo>
                        <a:pt x="53" y="8"/>
                      </a:lnTo>
                      <a:lnTo>
                        <a:pt x="62" y="5"/>
                      </a:lnTo>
                      <a:lnTo>
                        <a:pt x="69" y="2"/>
                      </a:lnTo>
                      <a:lnTo>
                        <a:pt x="78" y="1"/>
                      </a:lnTo>
                      <a:lnTo>
                        <a:pt x="86" y="0"/>
                      </a:lnTo>
                      <a:lnTo>
                        <a:pt x="95" y="0"/>
                      </a:lnTo>
                      <a:lnTo>
                        <a:pt x="103" y="1"/>
                      </a:lnTo>
                      <a:lnTo>
                        <a:pt x="112" y="3"/>
                      </a:lnTo>
                      <a:lnTo>
                        <a:pt x="121" y="5"/>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688" name="Freeform 176"/>
                <p:cNvSpPr>
                  <a:spLocks noChangeAspect="1"/>
                </p:cNvSpPr>
                <p:nvPr/>
              </p:nvSpPr>
              <p:spPr bwMode="auto">
                <a:xfrm>
                  <a:off x="206" y="596"/>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689" name="Freeform 177"/>
                <p:cNvSpPr>
                  <a:spLocks noChangeAspect="1"/>
                </p:cNvSpPr>
                <p:nvPr/>
              </p:nvSpPr>
              <p:spPr bwMode="auto">
                <a:xfrm>
                  <a:off x="207" y="596"/>
                  <a:ext cx="1" cy="0"/>
                </a:xfrm>
                <a:custGeom>
                  <a:avLst/>
                  <a:gdLst>
                    <a:gd name="T0" fmla="*/ 0 h 1"/>
                    <a:gd name="T1" fmla="*/ 0 h 1"/>
                    <a:gd name="T2" fmla="*/ 1 h 1"/>
                    <a:gd name="T3" fmla="*/ 1 h 1"/>
                    <a:gd name="T4" fmla="*/ 1 h 1"/>
                    <a:gd name="T5" fmla="*/ 1 h 1"/>
                    <a:gd name="T6" fmla="*/ 1 h 1"/>
                    <a:gd name="T7" fmla="*/ 1 h 1"/>
                    <a:gd name="T8" fmla="*/ 1 h 1"/>
                    <a:gd name="T9" fmla="*/ 1 h 1"/>
                    <a:gd name="T10" fmla="*/ 1 h 1"/>
                    <a:gd name="T11" fmla="*/ 1 h 1"/>
                    <a:gd name="T12" fmla="*/ 1 h 1"/>
                    <a:gd name="T13" fmla="*/ 1 h 1"/>
                    <a:gd name="T14" fmla="*/ 1 h 1"/>
                    <a:gd name="T15" fmla="*/ 0 h 1"/>
                    <a:gd name="T16"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0"/>
                      </a:moveTo>
                      <a:lnTo>
                        <a:pt x="0" y="0"/>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690" name="Freeform 178"/>
                <p:cNvSpPr>
                  <a:spLocks noChangeAspect="1"/>
                </p:cNvSpPr>
                <p:nvPr/>
              </p:nvSpPr>
              <p:spPr bwMode="auto">
                <a:xfrm>
                  <a:off x="209" y="596"/>
                  <a:ext cx="1" cy="1"/>
                </a:xfrm>
                <a:custGeom>
                  <a:avLst/>
                  <a:gdLst>
                    <a:gd name="T0" fmla="*/ 0 w 1"/>
                    <a:gd name="T1" fmla="*/ 0 h 1"/>
                    <a:gd name="T2" fmla="*/ 0 w 1"/>
                    <a:gd name="T3" fmla="*/ 0 h 1"/>
                    <a:gd name="T4" fmla="*/ 0 w 1"/>
                    <a:gd name="T5" fmla="*/ 0 h 1"/>
                    <a:gd name="T6" fmla="*/ 0 w 1"/>
                    <a:gd name="T7" fmla="*/ 1 h 1"/>
                    <a:gd name="T8" fmla="*/ 0 w 1"/>
                    <a:gd name="T9" fmla="*/ 1 h 1"/>
                    <a:gd name="T10" fmla="*/ 0 w 1"/>
                    <a:gd name="T11" fmla="*/ 1 h 1"/>
                    <a:gd name="T12" fmla="*/ 0 w 1"/>
                    <a:gd name="T13" fmla="*/ 1 h 1"/>
                    <a:gd name="T14" fmla="*/ 1 w 1"/>
                    <a:gd name="T15" fmla="*/ 1 h 1"/>
                    <a:gd name="T16" fmla="*/ 1 w 1"/>
                    <a:gd name="T17" fmla="*/ 1 h 1"/>
                    <a:gd name="T18" fmla="*/ 1 w 1"/>
                    <a:gd name="T19" fmla="*/ 1 h 1"/>
                    <a:gd name="T20" fmla="*/ 0 w 1"/>
                    <a:gd name="T21" fmla="*/ 1 h 1"/>
                    <a:gd name="T22" fmla="*/ 0 w 1"/>
                    <a:gd name="T23" fmla="*/ 1 h 1"/>
                    <a:gd name="T24" fmla="*/ 0 w 1"/>
                    <a:gd name="T25" fmla="*/ 1 h 1"/>
                    <a:gd name="T26" fmla="*/ 0 w 1"/>
                    <a:gd name="T27" fmla="*/ 1 h 1"/>
                    <a:gd name="T28" fmla="*/ 0 w 1"/>
                    <a:gd name="T29" fmla="*/ 0 h 1"/>
                    <a:gd name="T30" fmla="*/ 0 w 1"/>
                    <a:gd name="T31" fmla="*/ 0 h 1"/>
                    <a:gd name="T32" fmla="*/ 0 w 1"/>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0" y="0"/>
                      </a:moveTo>
                      <a:lnTo>
                        <a:pt x="0" y="0"/>
                      </a:lnTo>
                      <a:lnTo>
                        <a:pt x="0" y="0"/>
                      </a:lnTo>
                      <a:lnTo>
                        <a:pt x="0" y="1"/>
                      </a:lnTo>
                      <a:lnTo>
                        <a:pt x="0" y="1"/>
                      </a:lnTo>
                      <a:lnTo>
                        <a:pt x="0" y="1"/>
                      </a:lnTo>
                      <a:lnTo>
                        <a:pt x="0" y="1"/>
                      </a:lnTo>
                      <a:lnTo>
                        <a:pt x="1" y="1"/>
                      </a:lnTo>
                      <a:lnTo>
                        <a:pt x="1" y="1"/>
                      </a:lnTo>
                      <a:lnTo>
                        <a:pt x="1" y="1"/>
                      </a:lnTo>
                      <a:lnTo>
                        <a:pt x="0" y="1"/>
                      </a:lnTo>
                      <a:lnTo>
                        <a:pt x="0" y="1"/>
                      </a:lnTo>
                      <a:lnTo>
                        <a:pt x="0" y="1"/>
                      </a:lnTo>
                      <a:lnTo>
                        <a:pt x="0" y="1"/>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691" name="Freeform 179"/>
                <p:cNvSpPr>
                  <a:spLocks noChangeAspect="1"/>
                </p:cNvSpPr>
                <p:nvPr/>
              </p:nvSpPr>
              <p:spPr bwMode="auto">
                <a:xfrm>
                  <a:off x="209" y="59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692" name="Freeform 180"/>
                <p:cNvSpPr>
                  <a:spLocks noChangeAspect="1"/>
                </p:cNvSpPr>
                <p:nvPr/>
              </p:nvSpPr>
              <p:spPr bwMode="auto">
                <a:xfrm>
                  <a:off x="211" y="597"/>
                  <a:ext cx="0"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693" name="Freeform 181"/>
                <p:cNvSpPr>
                  <a:spLocks noChangeAspect="1"/>
                </p:cNvSpPr>
                <p:nvPr/>
              </p:nvSpPr>
              <p:spPr bwMode="auto">
                <a:xfrm>
                  <a:off x="211" y="597"/>
                  <a:ext cx="1" cy="1"/>
                </a:xfrm>
                <a:custGeom>
                  <a:avLst/>
                  <a:gdLst>
                    <a:gd name="T0" fmla="*/ 0 w 1"/>
                    <a:gd name="T1" fmla="*/ 0 w 1"/>
                    <a:gd name="T2" fmla="*/ 0 w 1"/>
                    <a:gd name="T3" fmla="*/ 0 w 1"/>
                    <a:gd name="T4" fmla="*/ 0 w 1"/>
                    <a:gd name="T5" fmla="*/ 0 w 1"/>
                    <a:gd name="T6" fmla="*/ 0 w 1"/>
                    <a:gd name="T7" fmla="*/ 1 w 1"/>
                    <a:gd name="T8" fmla="*/ 1 w 1"/>
                    <a:gd name="T9" fmla="*/ 1 w 1"/>
                    <a:gd name="T10" fmla="*/ 0 w 1"/>
                    <a:gd name="T11" fmla="*/ 0 w 1"/>
                    <a:gd name="T12" fmla="*/ 0 w 1"/>
                    <a:gd name="T13" fmla="*/ 0 w 1"/>
                    <a:gd name="T14" fmla="*/ 0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lnTo>
                        <a:pt x="0" y="0"/>
                      </a:lnTo>
                      <a:lnTo>
                        <a:pt x="0" y="0"/>
                      </a:lnTo>
                      <a:lnTo>
                        <a:pt x="0" y="0"/>
                      </a:lnTo>
                      <a:lnTo>
                        <a:pt x="0" y="0"/>
                      </a:lnTo>
                      <a:lnTo>
                        <a:pt x="0" y="0"/>
                      </a:lnTo>
                      <a:lnTo>
                        <a:pt x="0" y="0"/>
                      </a:lnTo>
                      <a:lnTo>
                        <a:pt x="1" y="0"/>
                      </a:lnTo>
                      <a:lnTo>
                        <a:pt x="1" y="0"/>
                      </a:lnTo>
                      <a:lnTo>
                        <a:pt x="1"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694" name="Freeform 182"/>
                <p:cNvSpPr>
                  <a:spLocks noChangeAspect="1"/>
                </p:cNvSpPr>
                <p:nvPr/>
              </p:nvSpPr>
              <p:spPr bwMode="auto">
                <a:xfrm>
                  <a:off x="211" y="59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695" name="Freeform 183"/>
                <p:cNvSpPr>
                  <a:spLocks noChangeAspect="1"/>
                </p:cNvSpPr>
                <p:nvPr/>
              </p:nvSpPr>
              <p:spPr bwMode="auto">
                <a:xfrm>
                  <a:off x="212" y="598"/>
                  <a:ext cx="1" cy="1"/>
                </a:xfrm>
                <a:custGeom>
                  <a:avLst/>
                  <a:gdLst>
                    <a:gd name="T0" fmla="*/ 0 w 1"/>
                    <a:gd name="T1" fmla="*/ 0 w 1"/>
                    <a:gd name="T2" fmla="*/ 0 w 1"/>
                    <a:gd name="T3" fmla="*/ 1 w 1"/>
                    <a:gd name="T4" fmla="*/ 1 w 1"/>
                    <a:gd name="T5" fmla="*/ 1 w 1"/>
                    <a:gd name="T6" fmla="*/ 1 w 1"/>
                    <a:gd name="T7" fmla="*/ 1 w 1"/>
                    <a:gd name="T8" fmla="*/ 1 w 1"/>
                    <a:gd name="T9" fmla="*/ 1 w 1"/>
                    <a:gd name="T10" fmla="*/ 1 w 1"/>
                    <a:gd name="T11" fmla="*/ 1 w 1"/>
                    <a:gd name="T12" fmla="*/ 1 w 1"/>
                    <a:gd name="T13" fmla="*/ 1 w 1"/>
                    <a:gd name="T14" fmla="*/ 0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lnTo>
                        <a:pt x="0" y="0"/>
                      </a:lnTo>
                      <a:lnTo>
                        <a:pt x="0" y="0"/>
                      </a:lnTo>
                      <a:lnTo>
                        <a:pt x="1" y="0"/>
                      </a:lnTo>
                      <a:lnTo>
                        <a:pt x="1" y="0"/>
                      </a:lnTo>
                      <a:lnTo>
                        <a:pt x="1" y="0"/>
                      </a:lnTo>
                      <a:lnTo>
                        <a:pt x="1" y="0"/>
                      </a:lnTo>
                      <a:lnTo>
                        <a:pt x="1" y="0"/>
                      </a:lnTo>
                      <a:lnTo>
                        <a:pt x="1" y="0"/>
                      </a:lnTo>
                      <a:lnTo>
                        <a:pt x="1" y="0"/>
                      </a:lnTo>
                      <a:lnTo>
                        <a:pt x="1" y="0"/>
                      </a:lnTo>
                      <a:lnTo>
                        <a:pt x="1" y="0"/>
                      </a:lnTo>
                      <a:lnTo>
                        <a:pt x="1" y="0"/>
                      </a:lnTo>
                      <a:lnTo>
                        <a:pt x="1"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696" name="Freeform 184"/>
                <p:cNvSpPr>
                  <a:spLocks noChangeAspect="1"/>
                </p:cNvSpPr>
                <p:nvPr/>
              </p:nvSpPr>
              <p:spPr bwMode="auto">
                <a:xfrm>
                  <a:off x="212" y="599"/>
                  <a:ext cx="1" cy="1"/>
                </a:xfrm>
                <a:custGeom>
                  <a:avLst/>
                  <a:gdLst>
                    <a:gd name="T0" fmla="*/ 0 h 1"/>
                    <a:gd name="T1" fmla="*/ 1 h 1"/>
                    <a:gd name="T2" fmla="*/ 1 h 1"/>
                    <a:gd name="T3" fmla="*/ 1 h 1"/>
                    <a:gd name="T4" fmla="*/ 1 h 1"/>
                    <a:gd name="T5" fmla="*/ 1 h 1"/>
                    <a:gd name="T6" fmla="*/ 1 h 1"/>
                    <a:gd name="T7" fmla="*/ 1 h 1"/>
                    <a:gd name="T8" fmla="*/ 1 h 1"/>
                    <a:gd name="T9" fmla="*/ 1 h 1"/>
                    <a:gd name="T10" fmla="*/ 1 h 1"/>
                    <a:gd name="T11" fmla="*/ 1 h 1"/>
                    <a:gd name="T12" fmla="*/ 1 h 1"/>
                    <a:gd name="T13" fmla="*/ 1 h 1"/>
                    <a:gd name="T14" fmla="*/ 1 h 1"/>
                    <a:gd name="T15" fmla="*/ 1 h 1"/>
                    <a:gd name="T16"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0"/>
                      </a:move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697" name="Freeform 185"/>
                <p:cNvSpPr>
                  <a:spLocks noChangeAspect="1"/>
                </p:cNvSpPr>
                <p:nvPr/>
              </p:nvSpPr>
              <p:spPr bwMode="auto">
                <a:xfrm>
                  <a:off x="213" y="599"/>
                  <a:ext cx="1" cy="1"/>
                </a:xfrm>
                <a:custGeom>
                  <a:avLst/>
                  <a:gdLst>
                    <a:gd name="T0" fmla="*/ 0 w 1"/>
                    <a:gd name="T1" fmla="*/ 0 w 1"/>
                    <a:gd name="T2" fmla="*/ 0 w 1"/>
                    <a:gd name="T3" fmla="*/ 0 w 1"/>
                    <a:gd name="T4" fmla="*/ 1 w 1"/>
                    <a:gd name="T5" fmla="*/ 1 w 1"/>
                    <a:gd name="T6" fmla="*/ 1 w 1"/>
                    <a:gd name="T7" fmla="*/ 1 w 1"/>
                    <a:gd name="T8" fmla="*/ 1 w 1"/>
                    <a:gd name="T9" fmla="*/ 1 w 1"/>
                    <a:gd name="T10" fmla="*/ 1 w 1"/>
                    <a:gd name="T11" fmla="*/ 1 w 1"/>
                    <a:gd name="T12" fmla="*/ 1 w 1"/>
                    <a:gd name="T13" fmla="*/ 0 w 1"/>
                    <a:gd name="T14" fmla="*/ 0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lnTo>
                        <a:pt x="0" y="0"/>
                      </a:lnTo>
                      <a:lnTo>
                        <a:pt x="0" y="0"/>
                      </a:lnTo>
                      <a:lnTo>
                        <a:pt x="0" y="0"/>
                      </a:lnTo>
                      <a:lnTo>
                        <a:pt x="1" y="0"/>
                      </a:lnTo>
                      <a:lnTo>
                        <a:pt x="1" y="0"/>
                      </a:lnTo>
                      <a:lnTo>
                        <a:pt x="1" y="0"/>
                      </a:lnTo>
                      <a:lnTo>
                        <a:pt x="1" y="0"/>
                      </a:lnTo>
                      <a:lnTo>
                        <a:pt x="1" y="0"/>
                      </a:lnTo>
                      <a:lnTo>
                        <a:pt x="1" y="0"/>
                      </a:lnTo>
                      <a:lnTo>
                        <a:pt x="1" y="0"/>
                      </a:lnTo>
                      <a:lnTo>
                        <a:pt x="1" y="0"/>
                      </a:lnTo>
                      <a:lnTo>
                        <a:pt x="1"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698" name="Freeform 186"/>
                <p:cNvSpPr>
                  <a:spLocks noChangeAspect="1"/>
                </p:cNvSpPr>
                <p:nvPr/>
              </p:nvSpPr>
              <p:spPr bwMode="auto">
                <a:xfrm>
                  <a:off x="213" y="600"/>
                  <a:ext cx="1" cy="1"/>
                </a:xfrm>
                <a:custGeom>
                  <a:avLst/>
                  <a:gdLst>
                    <a:gd name="T0" fmla="*/ 0 h 1"/>
                    <a:gd name="T1" fmla="*/ 0 h 1"/>
                    <a:gd name="T2" fmla="*/ 0 h 1"/>
                    <a:gd name="T3" fmla="*/ 0 h 1"/>
                    <a:gd name="T4" fmla="*/ 0 h 1"/>
                    <a:gd name="T5" fmla="*/ 0 h 1"/>
                    <a:gd name="T6" fmla="*/ 0 h 1"/>
                    <a:gd name="T7" fmla="*/ 0 h 1"/>
                    <a:gd name="T8" fmla="*/ 1 h 1"/>
                    <a:gd name="T9" fmla="*/ 0 h 1"/>
                    <a:gd name="T10" fmla="*/ 0 h 1"/>
                    <a:gd name="T11" fmla="*/ 0 h 1"/>
                    <a:gd name="T12" fmla="*/ 0 h 1"/>
                    <a:gd name="T13" fmla="*/ 0 h 1"/>
                    <a:gd name="T14" fmla="*/ 0 h 1"/>
                    <a:gd name="T15" fmla="*/ 0 h 1"/>
                    <a:gd name="T16"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0"/>
                      </a:moveTo>
                      <a:lnTo>
                        <a:pt x="0" y="0"/>
                      </a:lnTo>
                      <a:lnTo>
                        <a:pt x="0" y="0"/>
                      </a:lnTo>
                      <a:lnTo>
                        <a:pt x="0" y="0"/>
                      </a:lnTo>
                      <a:lnTo>
                        <a:pt x="0" y="0"/>
                      </a:lnTo>
                      <a:lnTo>
                        <a:pt x="0" y="0"/>
                      </a:lnTo>
                      <a:lnTo>
                        <a:pt x="0" y="0"/>
                      </a:lnTo>
                      <a:lnTo>
                        <a:pt x="0" y="0"/>
                      </a:lnTo>
                      <a:lnTo>
                        <a:pt x="0" y="1"/>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699" name="Freeform 187"/>
                <p:cNvSpPr>
                  <a:spLocks noChangeAspect="1"/>
                </p:cNvSpPr>
                <p:nvPr/>
              </p:nvSpPr>
              <p:spPr bwMode="auto">
                <a:xfrm>
                  <a:off x="214" y="600"/>
                  <a:ext cx="1" cy="1"/>
                </a:xfrm>
                <a:custGeom>
                  <a:avLst/>
                  <a:gdLst>
                    <a:gd name="T0" fmla="*/ 0 w 1"/>
                    <a:gd name="T1" fmla="*/ 0 w 1"/>
                    <a:gd name="T2" fmla="*/ 0 w 1"/>
                    <a:gd name="T3" fmla="*/ 0 w 1"/>
                    <a:gd name="T4" fmla="*/ 0 w 1"/>
                    <a:gd name="T5" fmla="*/ 0 w 1"/>
                    <a:gd name="T6" fmla="*/ 1 w 1"/>
                    <a:gd name="T7" fmla="*/ 1 w 1"/>
                    <a:gd name="T8" fmla="*/ 1 w 1"/>
                    <a:gd name="T9" fmla="*/ 1 w 1"/>
                    <a:gd name="T10" fmla="*/ 1 w 1"/>
                    <a:gd name="T11" fmla="*/ 0 w 1"/>
                    <a:gd name="T12" fmla="*/ 0 w 1"/>
                    <a:gd name="T13" fmla="*/ 0 w 1"/>
                    <a:gd name="T14" fmla="*/ 0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lnTo>
                        <a:pt x="0" y="0"/>
                      </a:lnTo>
                      <a:lnTo>
                        <a:pt x="0" y="0"/>
                      </a:lnTo>
                      <a:lnTo>
                        <a:pt x="0" y="0"/>
                      </a:lnTo>
                      <a:lnTo>
                        <a:pt x="0" y="0"/>
                      </a:lnTo>
                      <a:lnTo>
                        <a:pt x="0" y="0"/>
                      </a:lnTo>
                      <a:lnTo>
                        <a:pt x="1" y="0"/>
                      </a:lnTo>
                      <a:lnTo>
                        <a:pt x="1" y="0"/>
                      </a:lnTo>
                      <a:lnTo>
                        <a:pt x="1" y="0"/>
                      </a:lnTo>
                      <a:lnTo>
                        <a:pt x="1" y="0"/>
                      </a:lnTo>
                      <a:lnTo>
                        <a:pt x="1"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00" name="Freeform 188"/>
                <p:cNvSpPr>
                  <a:spLocks noChangeAspect="1"/>
                </p:cNvSpPr>
                <p:nvPr/>
              </p:nvSpPr>
              <p:spPr bwMode="auto">
                <a:xfrm>
                  <a:off x="216" y="60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01" name="Freeform 189"/>
                <p:cNvSpPr>
                  <a:spLocks noChangeAspect="1"/>
                </p:cNvSpPr>
                <p:nvPr/>
              </p:nvSpPr>
              <p:spPr bwMode="auto">
                <a:xfrm>
                  <a:off x="218" y="603"/>
                  <a:ext cx="0" cy="1"/>
                </a:xfrm>
                <a:custGeom>
                  <a:avLst/>
                  <a:gdLst>
                    <a:gd name="T0" fmla="*/ 0 h 2"/>
                    <a:gd name="T1" fmla="*/ 2 h 2"/>
                    <a:gd name="T2" fmla="*/ 2 h 2"/>
                    <a:gd name="T3" fmla="*/ 2 h 2"/>
                    <a:gd name="T4" fmla="*/ 2 h 2"/>
                    <a:gd name="T5" fmla="*/ 2 h 2"/>
                    <a:gd name="T6" fmla="*/ 2 h 2"/>
                    <a:gd name="T7" fmla="*/ 2 h 2"/>
                    <a:gd name="T8" fmla="*/ 2 h 2"/>
                    <a:gd name="T9" fmla="*/ 2 h 2"/>
                    <a:gd name="T10" fmla="*/ 2 h 2"/>
                    <a:gd name="T11" fmla="*/ 2 h 2"/>
                    <a:gd name="T12" fmla="*/ 2 h 2"/>
                    <a:gd name="T13" fmla="*/ 2 h 2"/>
                    <a:gd name="T14" fmla="*/ 2 h 2"/>
                    <a:gd name="T15" fmla="*/ 2 h 2"/>
                    <a:gd name="T16"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2">
                      <a:moveTo>
                        <a:pt x="0" y="0"/>
                      </a:move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02" name="Freeform 190"/>
                <p:cNvSpPr>
                  <a:spLocks noChangeAspect="1"/>
                </p:cNvSpPr>
                <p:nvPr/>
              </p:nvSpPr>
              <p:spPr bwMode="auto">
                <a:xfrm>
                  <a:off x="218" y="604"/>
                  <a:ext cx="0"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1 h 1"/>
                    <a:gd name="T12" fmla="*/ 0 w 1"/>
                    <a:gd name="T13" fmla="*/ 1 h 1"/>
                    <a:gd name="T14" fmla="*/ 0 w 1"/>
                    <a:gd name="T15" fmla="*/ 1 h 1"/>
                    <a:gd name="T16" fmla="*/ 1 w 1"/>
                    <a:gd name="T17" fmla="*/ 1 h 1"/>
                    <a:gd name="T18" fmla="*/ 0 w 1"/>
                    <a:gd name="T19" fmla="*/ 1 h 1"/>
                    <a:gd name="T20" fmla="*/ 0 w 1"/>
                    <a:gd name="T21" fmla="*/ 1 h 1"/>
                    <a:gd name="T22" fmla="*/ 0 w 1"/>
                    <a:gd name="T23" fmla="*/ 1 h 1"/>
                    <a:gd name="T24" fmla="*/ 0 w 1"/>
                    <a:gd name="T25" fmla="*/ 0 h 1"/>
                    <a:gd name="T26" fmla="*/ 0 w 1"/>
                    <a:gd name="T27" fmla="*/ 0 h 1"/>
                    <a:gd name="T28" fmla="*/ 0 w 1"/>
                    <a:gd name="T29" fmla="*/ 0 h 1"/>
                    <a:gd name="T30" fmla="*/ 0 w 1"/>
                    <a:gd name="T31" fmla="*/ 0 h 1"/>
                    <a:gd name="T32" fmla="*/ 0 w 1"/>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0" y="0"/>
                      </a:moveTo>
                      <a:lnTo>
                        <a:pt x="0" y="0"/>
                      </a:lnTo>
                      <a:lnTo>
                        <a:pt x="0" y="0"/>
                      </a:lnTo>
                      <a:lnTo>
                        <a:pt x="0" y="0"/>
                      </a:lnTo>
                      <a:lnTo>
                        <a:pt x="0" y="0"/>
                      </a:lnTo>
                      <a:lnTo>
                        <a:pt x="0" y="1"/>
                      </a:lnTo>
                      <a:lnTo>
                        <a:pt x="0" y="1"/>
                      </a:lnTo>
                      <a:lnTo>
                        <a:pt x="0" y="1"/>
                      </a:lnTo>
                      <a:lnTo>
                        <a:pt x="1" y="1"/>
                      </a:lnTo>
                      <a:lnTo>
                        <a:pt x="0" y="1"/>
                      </a:lnTo>
                      <a:lnTo>
                        <a:pt x="0" y="1"/>
                      </a:lnTo>
                      <a:lnTo>
                        <a:pt x="0" y="1"/>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03" name="Freeform 191"/>
                <p:cNvSpPr>
                  <a:spLocks noChangeAspect="1"/>
                </p:cNvSpPr>
                <p:nvPr/>
              </p:nvSpPr>
              <p:spPr bwMode="auto">
                <a:xfrm>
                  <a:off x="218" y="605"/>
                  <a:ext cx="0" cy="1"/>
                </a:xfrm>
                <a:custGeom>
                  <a:avLst/>
                  <a:gdLst>
                    <a:gd name="T0" fmla="*/ 0 w 2"/>
                    <a:gd name="T1" fmla="*/ 0 h 3"/>
                    <a:gd name="T2" fmla="*/ 0 w 2"/>
                    <a:gd name="T3" fmla="*/ 0 h 3"/>
                    <a:gd name="T4" fmla="*/ 1 w 2"/>
                    <a:gd name="T5" fmla="*/ 0 h 3"/>
                    <a:gd name="T6" fmla="*/ 1 w 2"/>
                    <a:gd name="T7" fmla="*/ 1 h 3"/>
                    <a:gd name="T8" fmla="*/ 1 w 2"/>
                    <a:gd name="T9" fmla="*/ 1 h 3"/>
                    <a:gd name="T10" fmla="*/ 1 w 2"/>
                    <a:gd name="T11" fmla="*/ 2 h 3"/>
                    <a:gd name="T12" fmla="*/ 2 w 2"/>
                    <a:gd name="T13" fmla="*/ 2 h 3"/>
                    <a:gd name="T14" fmla="*/ 2 w 2"/>
                    <a:gd name="T15" fmla="*/ 2 h 3"/>
                    <a:gd name="T16" fmla="*/ 2 w 2"/>
                    <a:gd name="T17" fmla="*/ 3 h 3"/>
                    <a:gd name="T18" fmla="*/ 2 w 2"/>
                    <a:gd name="T19" fmla="*/ 3 h 3"/>
                    <a:gd name="T20" fmla="*/ 2 w 2"/>
                    <a:gd name="T21" fmla="*/ 2 h 3"/>
                    <a:gd name="T22" fmla="*/ 1 w 2"/>
                    <a:gd name="T23" fmla="*/ 2 h 3"/>
                    <a:gd name="T24" fmla="*/ 1 w 2"/>
                    <a:gd name="T25" fmla="*/ 2 h 3"/>
                    <a:gd name="T26" fmla="*/ 1 w 2"/>
                    <a:gd name="T27" fmla="*/ 1 h 3"/>
                    <a:gd name="T28" fmla="*/ 1 w 2"/>
                    <a:gd name="T29" fmla="*/ 1 h 3"/>
                    <a:gd name="T30" fmla="*/ 1 w 2"/>
                    <a:gd name="T31" fmla="*/ 0 h 3"/>
                    <a:gd name="T32" fmla="*/ 0 w 2"/>
                    <a:gd name="T33" fmla="*/ 0 h 3"/>
                    <a:gd name="T34" fmla="*/ 0 w 2"/>
                    <a:gd name="T3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 h="3">
                      <a:moveTo>
                        <a:pt x="0" y="0"/>
                      </a:moveTo>
                      <a:lnTo>
                        <a:pt x="0" y="0"/>
                      </a:lnTo>
                      <a:lnTo>
                        <a:pt x="1" y="0"/>
                      </a:lnTo>
                      <a:lnTo>
                        <a:pt x="1" y="1"/>
                      </a:lnTo>
                      <a:lnTo>
                        <a:pt x="1" y="1"/>
                      </a:lnTo>
                      <a:lnTo>
                        <a:pt x="1" y="2"/>
                      </a:lnTo>
                      <a:lnTo>
                        <a:pt x="2" y="2"/>
                      </a:lnTo>
                      <a:lnTo>
                        <a:pt x="2" y="2"/>
                      </a:lnTo>
                      <a:lnTo>
                        <a:pt x="2" y="3"/>
                      </a:lnTo>
                      <a:lnTo>
                        <a:pt x="2" y="3"/>
                      </a:lnTo>
                      <a:lnTo>
                        <a:pt x="2" y="2"/>
                      </a:lnTo>
                      <a:lnTo>
                        <a:pt x="1" y="2"/>
                      </a:lnTo>
                      <a:lnTo>
                        <a:pt x="1" y="2"/>
                      </a:lnTo>
                      <a:lnTo>
                        <a:pt x="1" y="1"/>
                      </a:lnTo>
                      <a:lnTo>
                        <a:pt x="1" y="1"/>
                      </a:lnTo>
                      <a:lnTo>
                        <a:pt x="1"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04" name="Freeform 192"/>
                <p:cNvSpPr>
                  <a:spLocks noChangeAspect="1"/>
                </p:cNvSpPr>
                <p:nvPr/>
              </p:nvSpPr>
              <p:spPr bwMode="auto">
                <a:xfrm>
                  <a:off x="165" y="625"/>
                  <a:ext cx="2" cy="13"/>
                </a:xfrm>
                <a:custGeom>
                  <a:avLst/>
                  <a:gdLst>
                    <a:gd name="T0" fmla="*/ 11 w 11"/>
                    <a:gd name="T1" fmla="*/ 38 h 38"/>
                    <a:gd name="T2" fmla="*/ 9 w 11"/>
                    <a:gd name="T3" fmla="*/ 33 h 38"/>
                    <a:gd name="T4" fmla="*/ 7 w 11"/>
                    <a:gd name="T5" fmla="*/ 29 h 38"/>
                    <a:gd name="T6" fmla="*/ 6 w 11"/>
                    <a:gd name="T7" fmla="*/ 25 h 38"/>
                    <a:gd name="T8" fmla="*/ 4 w 11"/>
                    <a:gd name="T9" fmla="*/ 21 h 38"/>
                    <a:gd name="T10" fmla="*/ 2 w 11"/>
                    <a:gd name="T11" fmla="*/ 15 h 38"/>
                    <a:gd name="T12" fmla="*/ 1 w 11"/>
                    <a:gd name="T13" fmla="*/ 11 h 38"/>
                    <a:gd name="T14" fmla="*/ 0 w 11"/>
                    <a:gd name="T15" fmla="*/ 6 h 38"/>
                    <a:gd name="T16" fmla="*/ 0 w 11"/>
                    <a:gd name="T17" fmla="*/ 2 h 38"/>
                    <a:gd name="T18" fmla="*/ 0 w 11"/>
                    <a:gd name="T19" fmla="*/ 2 h 38"/>
                    <a:gd name="T20" fmla="*/ 0 w 11"/>
                    <a:gd name="T21" fmla="*/ 2 h 38"/>
                    <a:gd name="T22" fmla="*/ 0 w 11"/>
                    <a:gd name="T23" fmla="*/ 2 h 38"/>
                    <a:gd name="T24" fmla="*/ 0 w 11"/>
                    <a:gd name="T25" fmla="*/ 2 h 38"/>
                    <a:gd name="T26" fmla="*/ 0 w 11"/>
                    <a:gd name="T27" fmla="*/ 2 h 38"/>
                    <a:gd name="T28" fmla="*/ 0 w 11"/>
                    <a:gd name="T29" fmla="*/ 2 h 38"/>
                    <a:gd name="T30" fmla="*/ 0 w 11"/>
                    <a:gd name="T31" fmla="*/ 2 h 38"/>
                    <a:gd name="T32" fmla="*/ 0 w 11"/>
                    <a:gd name="T33" fmla="*/ 2 h 38"/>
                    <a:gd name="T34" fmla="*/ 0 w 11"/>
                    <a:gd name="T35" fmla="*/ 2 h 38"/>
                    <a:gd name="T36" fmla="*/ 0 w 11"/>
                    <a:gd name="T37" fmla="*/ 0 h 38"/>
                    <a:gd name="T38" fmla="*/ 0 w 11"/>
                    <a:gd name="T39" fmla="*/ 0 h 38"/>
                    <a:gd name="T40" fmla="*/ 0 w 11"/>
                    <a:gd name="T41" fmla="*/ 0 h 38"/>
                    <a:gd name="T42" fmla="*/ 0 w 11"/>
                    <a:gd name="T43" fmla="*/ 0 h 38"/>
                    <a:gd name="T44" fmla="*/ 0 w 11"/>
                    <a:gd name="T45" fmla="*/ 0 h 38"/>
                    <a:gd name="T46" fmla="*/ 0 w 11"/>
                    <a:gd name="T47" fmla="*/ 0 h 38"/>
                    <a:gd name="T48" fmla="*/ 0 w 11"/>
                    <a:gd name="T49" fmla="*/ 0 h 38"/>
                    <a:gd name="T50" fmla="*/ 0 w 11"/>
                    <a:gd name="T51" fmla="*/ 0 h 38"/>
                    <a:gd name="T52" fmla="*/ 0 w 11"/>
                    <a:gd name="T53" fmla="*/ 0 h 38"/>
                    <a:gd name="T54" fmla="*/ 0 w 11"/>
                    <a:gd name="T55" fmla="*/ 0 h 38"/>
                    <a:gd name="T56" fmla="*/ 0 w 11"/>
                    <a:gd name="T57" fmla="*/ 0 h 38"/>
                    <a:gd name="T58" fmla="*/ 0 w 11"/>
                    <a:gd name="T59" fmla="*/ 0 h 38"/>
                    <a:gd name="T60" fmla="*/ 0 w 11"/>
                    <a:gd name="T61" fmla="*/ 0 h 38"/>
                    <a:gd name="T62" fmla="*/ 0 w 11"/>
                    <a:gd name="T63" fmla="*/ 2 h 38"/>
                    <a:gd name="T64" fmla="*/ 0 w 11"/>
                    <a:gd name="T65" fmla="*/ 2 h 38"/>
                    <a:gd name="T66" fmla="*/ 0 w 11"/>
                    <a:gd name="T67" fmla="*/ 2 h 38"/>
                    <a:gd name="T68" fmla="*/ 0 w 11"/>
                    <a:gd name="T69" fmla="*/ 2 h 38"/>
                    <a:gd name="T70" fmla="*/ 0 w 11"/>
                    <a:gd name="T71" fmla="*/ 2 h 38"/>
                    <a:gd name="T72" fmla="*/ 0 w 11"/>
                    <a:gd name="T73" fmla="*/ 2 h 38"/>
                    <a:gd name="T74" fmla="*/ 0 w 11"/>
                    <a:gd name="T75" fmla="*/ 2 h 38"/>
                    <a:gd name="T76" fmla="*/ 0 w 11"/>
                    <a:gd name="T77" fmla="*/ 2 h 38"/>
                    <a:gd name="T78" fmla="*/ 0 w 11"/>
                    <a:gd name="T79" fmla="*/ 2 h 38"/>
                    <a:gd name="T80" fmla="*/ 0 w 11"/>
                    <a:gd name="T81" fmla="*/ 2 h 38"/>
                    <a:gd name="T82" fmla="*/ 0 w 11"/>
                    <a:gd name="T83" fmla="*/ 6 h 38"/>
                    <a:gd name="T84" fmla="*/ 1 w 11"/>
                    <a:gd name="T85" fmla="*/ 11 h 38"/>
                    <a:gd name="T86" fmla="*/ 2 w 11"/>
                    <a:gd name="T87" fmla="*/ 15 h 38"/>
                    <a:gd name="T88" fmla="*/ 4 w 11"/>
                    <a:gd name="T89" fmla="*/ 21 h 38"/>
                    <a:gd name="T90" fmla="*/ 6 w 11"/>
                    <a:gd name="T91" fmla="*/ 25 h 38"/>
                    <a:gd name="T92" fmla="*/ 7 w 11"/>
                    <a:gd name="T93" fmla="*/ 29 h 38"/>
                    <a:gd name="T94" fmla="*/ 9 w 11"/>
                    <a:gd name="T95" fmla="*/ 33 h 38"/>
                    <a:gd name="T96" fmla="*/ 11 w 11"/>
                    <a:gd name="T9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 h="38">
                      <a:moveTo>
                        <a:pt x="11" y="38"/>
                      </a:moveTo>
                      <a:lnTo>
                        <a:pt x="9" y="33"/>
                      </a:lnTo>
                      <a:lnTo>
                        <a:pt x="7" y="29"/>
                      </a:lnTo>
                      <a:lnTo>
                        <a:pt x="6" y="25"/>
                      </a:lnTo>
                      <a:lnTo>
                        <a:pt x="4" y="21"/>
                      </a:lnTo>
                      <a:lnTo>
                        <a:pt x="2" y="15"/>
                      </a:lnTo>
                      <a:lnTo>
                        <a:pt x="1" y="11"/>
                      </a:lnTo>
                      <a:lnTo>
                        <a:pt x="0" y="6"/>
                      </a:lnTo>
                      <a:lnTo>
                        <a:pt x="0" y="2"/>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2"/>
                      </a:lnTo>
                      <a:lnTo>
                        <a:pt x="0" y="2"/>
                      </a:lnTo>
                      <a:lnTo>
                        <a:pt x="0" y="2"/>
                      </a:lnTo>
                      <a:lnTo>
                        <a:pt x="0" y="2"/>
                      </a:lnTo>
                      <a:lnTo>
                        <a:pt x="0" y="2"/>
                      </a:lnTo>
                      <a:lnTo>
                        <a:pt x="0" y="2"/>
                      </a:lnTo>
                      <a:lnTo>
                        <a:pt x="0" y="2"/>
                      </a:lnTo>
                      <a:lnTo>
                        <a:pt x="0" y="2"/>
                      </a:lnTo>
                      <a:lnTo>
                        <a:pt x="0" y="2"/>
                      </a:lnTo>
                      <a:lnTo>
                        <a:pt x="0" y="2"/>
                      </a:lnTo>
                      <a:lnTo>
                        <a:pt x="0" y="6"/>
                      </a:lnTo>
                      <a:lnTo>
                        <a:pt x="1" y="11"/>
                      </a:lnTo>
                      <a:lnTo>
                        <a:pt x="2" y="15"/>
                      </a:lnTo>
                      <a:lnTo>
                        <a:pt x="4" y="21"/>
                      </a:lnTo>
                      <a:lnTo>
                        <a:pt x="6" y="25"/>
                      </a:lnTo>
                      <a:lnTo>
                        <a:pt x="7" y="29"/>
                      </a:lnTo>
                      <a:lnTo>
                        <a:pt x="9" y="33"/>
                      </a:lnTo>
                      <a:lnTo>
                        <a:pt x="11" y="38"/>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05" name="Freeform 193"/>
                <p:cNvSpPr>
                  <a:spLocks noChangeAspect="1"/>
                </p:cNvSpPr>
                <p:nvPr/>
              </p:nvSpPr>
              <p:spPr bwMode="auto">
                <a:xfrm>
                  <a:off x="164" y="624"/>
                  <a:ext cx="1" cy="1"/>
                </a:xfrm>
                <a:custGeom>
                  <a:avLst/>
                  <a:gdLst>
                    <a:gd name="T0" fmla="*/ 1 w 1"/>
                    <a:gd name="T1" fmla="*/ 2 h 2"/>
                    <a:gd name="T2" fmla="*/ 0 w 1"/>
                    <a:gd name="T3" fmla="*/ 1 h 2"/>
                    <a:gd name="T4" fmla="*/ 0 w 1"/>
                    <a:gd name="T5" fmla="*/ 1 h 2"/>
                    <a:gd name="T6" fmla="*/ 0 w 1"/>
                    <a:gd name="T7" fmla="*/ 1 h 2"/>
                    <a:gd name="T8" fmla="*/ 0 w 1"/>
                    <a:gd name="T9" fmla="*/ 1 h 2"/>
                    <a:gd name="T10" fmla="*/ 0 w 1"/>
                    <a:gd name="T11" fmla="*/ 1 h 2"/>
                    <a:gd name="T12" fmla="*/ 0 w 1"/>
                    <a:gd name="T13" fmla="*/ 1 h 2"/>
                    <a:gd name="T14" fmla="*/ 0 w 1"/>
                    <a:gd name="T15" fmla="*/ 0 h 2"/>
                    <a:gd name="T16" fmla="*/ 0 w 1"/>
                    <a:gd name="T17" fmla="*/ 0 h 2"/>
                    <a:gd name="T18" fmla="*/ 0 w 1"/>
                    <a:gd name="T19" fmla="*/ 0 h 2"/>
                    <a:gd name="T20" fmla="*/ 0 w 1"/>
                    <a:gd name="T21" fmla="*/ 1 h 2"/>
                    <a:gd name="T22" fmla="*/ 0 w 1"/>
                    <a:gd name="T23" fmla="*/ 1 h 2"/>
                    <a:gd name="T24" fmla="*/ 0 w 1"/>
                    <a:gd name="T25" fmla="*/ 1 h 2"/>
                    <a:gd name="T26" fmla="*/ 0 w 1"/>
                    <a:gd name="T27" fmla="*/ 1 h 2"/>
                    <a:gd name="T28" fmla="*/ 0 w 1"/>
                    <a:gd name="T29" fmla="*/ 1 h 2"/>
                    <a:gd name="T30" fmla="*/ 0 w 1"/>
                    <a:gd name="T31" fmla="*/ 1 h 2"/>
                    <a:gd name="T32" fmla="*/ 1 w 1"/>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2">
                      <a:moveTo>
                        <a:pt x="1" y="2"/>
                      </a:moveTo>
                      <a:lnTo>
                        <a:pt x="0" y="1"/>
                      </a:lnTo>
                      <a:lnTo>
                        <a:pt x="0" y="1"/>
                      </a:lnTo>
                      <a:lnTo>
                        <a:pt x="0" y="1"/>
                      </a:lnTo>
                      <a:lnTo>
                        <a:pt x="0" y="1"/>
                      </a:lnTo>
                      <a:lnTo>
                        <a:pt x="0" y="1"/>
                      </a:lnTo>
                      <a:lnTo>
                        <a:pt x="0" y="1"/>
                      </a:lnTo>
                      <a:lnTo>
                        <a:pt x="0" y="0"/>
                      </a:lnTo>
                      <a:lnTo>
                        <a:pt x="0" y="0"/>
                      </a:lnTo>
                      <a:lnTo>
                        <a:pt x="0" y="0"/>
                      </a:lnTo>
                      <a:lnTo>
                        <a:pt x="0" y="1"/>
                      </a:lnTo>
                      <a:lnTo>
                        <a:pt x="0" y="1"/>
                      </a:lnTo>
                      <a:lnTo>
                        <a:pt x="0" y="1"/>
                      </a:lnTo>
                      <a:lnTo>
                        <a:pt x="0" y="1"/>
                      </a:lnTo>
                      <a:lnTo>
                        <a:pt x="0" y="1"/>
                      </a:lnTo>
                      <a:lnTo>
                        <a:pt x="0" y="1"/>
                      </a:lnTo>
                      <a:lnTo>
                        <a:pt x="1" y="2"/>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06" name="Freeform 194"/>
                <p:cNvSpPr>
                  <a:spLocks noChangeAspect="1"/>
                </p:cNvSpPr>
                <p:nvPr/>
              </p:nvSpPr>
              <p:spPr bwMode="auto">
                <a:xfrm>
                  <a:off x="164" y="622"/>
                  <a:ext cx="1" cy="2"/>
                </a:xfrm>
                <a:custGeom>
                  <a:avLst/>
                  <a:gdLst>
                    <a:gd name="T0" fmla="*/ 6 h 6"/>
                    <a:gd name="T1" fmla="*/ 5 h 6"/>
                    <a:gd name="T2" fmla="*/ 5 h 6"/>
                    <a:gd name="T3" fmla="*/ 4 h 6"/>
                    <a:gd name="T4" fmla="*/ 3 h 6"/>
                    <a:gd name="T5" fmla="*/ 2 h 6"/>
                    <a:gd name="T6" fmla="*/ 2 h 6"/>
                    <a:gd name="T7" fmla="*/ 1 h 6"/>
                    <a:gd name="T8" fmla="*/ 0 h 6"/>
                    <a:gd name="T9" fmla="*/ 1 h 6"/>
                    <a:gd name="T10" fmla="*/ 2 h 6"/>
                    <a:gd name="T11" fmla="*/ 2 h 6"/>
                    <a:gd name="T12" fmla="*/ 3 h 6"/>
                    <a:gd name="T13" fmla="*/ 4 h 6"/>
                    <a:gd name="T14" fmla="*/ 5 h 6"/>
                    <a:gd name="T15" fmla="*/ 5 h 6"/>
                    <a:gd name="T16" fmla="*/ 6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6">
                      <a:moveTo>
                        <a:pt x="0" y="6"/>
                      </a:moveTo>
                      <a:lnTo>
                        <a:pt x="0" y="5"/>
                      </a:lnTo>
                      <a:lnTo>
                        <a:pt x="0" y="5"/>
                      </a:lnTo>
                      <a:lnTo>
                        <a:pt x="0" y="4"/>
                      </a:lnTo>
                      <a:lnTo>
                        <a:pt x="0" y="3"/>
                      </a:lnTo>
                      <a:lnTo>
                        <a:pt x="0" y="2"/>
                      </a:lnTo>
                      <a:lnTo>
                        <a:pt x="0" y="2"/>
                      </a:lnTo>
                      <a:lnTo>
                        <a:pt x="0" y="1"/>
                      </a:lnTo>
                      <a:lnTo>
                        <a:pt x="0" y="0"/>
                      </a:lnTo>
                      <a:lnTo>
                        <a:pt x="0" y="1"/>
                      </a:lnTo>
                      <a:lnTo>
                        <a:pt x="0" y="2"/>
                      </a:lnTo>
                      <a:lnTo>
                        <a:pt x="0" y="2"/>
                      </a:lnTo>
                      <a:lnTo>
                        <a:pt x="0" y="3"/>
                      </a:lnTo>
                      <a:lnTo>
                        <a:pt x="0" y="4"/>
                      </a:lnTo>
                      <a:lnTo>
                        <a:pt x="0" y="5"/>
                      </a:lnTo>
                      <a:lnTo>
                        <a:pt x="0" y="5"/>
                      </a:lnTo>
                      <a:lnTo>
                        <a:pt x="0" y="6"/>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07" name="Freeform 195"/>
                <p:cNvSpPr>
                  <a:spLocks noChangeAspect="1"/>
                </p:cNvSpPr>
                <p:nvPr/>
              </p:nvSpPr>
              <p:spPr bwMode="auto">
                <a:xfrm>
                  <a:off x="164" y="622"/>
                  <a:ext cx="1" cy="1"/>
                </a:xfrm>
                <a:custGeom>
                  <a:avLst/>
                  <a:gdLst>
                    <a:gd name="T0" fmla="*/ 2 h 2"/>
                    <a:gd name="T1" fmla="*/ 2 h 2"/>
                    <a:gd name="T2" fmla="*/ 1 h 2"/>
                    <a:gd name="T3" fmla="*/ 1 h 2"/>
                    <a:gd name="T4" fmla="*/ 1 h 2"/>
                    <a:gd name="T5" fmla="*/ 1 h 2"/>
                    <a:gd name="T6" fmla="*/ 1 h 2"/>
                    <a:gd name="T7" fmla="*/ 0 h 2"/>
                    <a:gd name="T8" fmla="*/ 0 h 2"/>
                    <a:gd name="T9" fmla="*/ 0 h 2"/>
                    <a:gd name="T10" fmla="*/ 1 h 2"/>
                    <a:gd name="T11" fmla="*/ 1 h 2"/>
                    <a:gd name="T12" fmla="*/ 1 h 2"/>
                    <a:gd name="T13" fmla="*/ 1 h 2"/>
                    <a:gd name="T14" fmla="*/ 1 h 2"/>
                    <a:gd name="T15" fmla="*/ 2 h 2"/>
                    <a:gd name="T16"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2">
                      <a:moveTo>
                        <a:pt x="0" y="2"/>
                      </a:moveTo>
                      <a:lnTo>
                        <a:pt x="0" y="2"/>
                      </a:lnTo>
                      <a:lnTo>
                        <a:pt x="0" y="1"/>
                      </a:lnTo>
                      <a:lnTo>
                        <a:pt x="0" y="1"/>
                      </a:lnTo>
                      <a:lnTo>
                        <a:pt x="0" y="1"/>
                      </a:lnTo>
                      <a:lnTo>
                        <a:pt x="0" y="1"/>
                      </a:lnTo>
                      <a:lnTo>
                        <a:pt x="0" y="1"/>
                      </a:lnTo>
                      <a:lnTo>
                        <a:pt x="0" y="0"/>
                      </a:lnTo>
                      <a:lnTo>
                        <a:pt x="0" y="0"/>
                      </a:lnTo>
                      <a:lnTo>
                        <a:pt x="0" y="0"/>
                      </a:lnTo>
                      <a:lnTo>
                        <a:pt x="0" y="1"/>
                      </a:lnTo>
                      <a:lnTo>
                        <a:pt x="0" y="1"/>
                      </a:lnTo>
                      <a:lnTo>
                        <a:pt x="0" y="1"/>
                      </a:lnTo>
                      <a:lnTo>
                        <a:pt x="0" y="1"/>
                      </a:lnTo>
                      <a:lnTo>
                        <a:pt x="0" y="1"/>
                      </a:lnTo>
                      <a:lnTo>
                        <a:pt x="0" y="2"/>
                      </a:lnTo>
                      <a:lnTo>
                        <a:pt x="0" y="2"/>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08" name="Freeform 196"/>
                <p:cNvSpPr>
                  <a:spLocks noChangeAspect="1"/>
                </p:cNvSpPr>
                <p:nvPr/>
              </p:nvSpPr>
              <p:spPr bwMode="auto">
                <a:xfrm>
                  <a:off x="164" y="622"/>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09" name="Freeform 197"/>
                <p:cNvSpPr>
                  <a:spLocks noChangeAspect="1"/>
                </p:cNvSpPr>
                <p:nvPr/>
              </p:nvSpPr>
              <p:spPr bwMode="auto">
                <a:xfrm>
                  <a:off x="165" y="620"/>
                  <a:ext cx="1" cy="1"/>
                </a:xfrm>
                <a:custGeom>
                  <a:avLst/>
                  <a:gdLst>
                    <a:gd name="T0" fmla="*/ 2 h 2"/>
                    <a:gd name="T1" fmla="*/ 2 h 2"/>
                    <a:gd name="T2" fmla="*/ 1 h 2"/>
                    <a:gd name="T3" fmla="*/ 1 h 2"/>
                    <a:gd name="T4" fmla="*/ 1 h 2"/>
                    <a:gd name="T5" fmla="*/ 1 h 2"/>
                    <a:gd name="T6" fmla="*/ 1 h 2"/>
                    <a:gd name="T7" fmla="*/ 0 h 2"/>
                    <a:gd name="T8" fmla="*/ 0 h 2"/>
                    <a:gd name="T9" fmla="*/ 0 h 2"/>
                    <a:gd name="T10" fmla="*/ 1 h 2"/>
                    <a:gd name="T11" fmla="*/ 1 h 2"/>
                    <a:gd name="T12" fmla="*/ 1 h 2"/>
                    <a:gd name="T13" fmla="*/ 1 h 2"/>
                    <a:gd name="T14" fmla="*/ 1 h 2"/>
                    <a:gd name="T15" fmla="*/ 2 h 2"/>
                    <a:gd name="T16"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2">
                      <a:moveTo>
                        <a:pt x="0" y="2"/>
                      </a:moveTo>
                      <a:lnTo>
                        <a:pt x="0" y="2"/>
                      </a:lnTo>
                      <a:lnTo>
                        <a:pt x="0" y="1"/>
                      </a:lnTo>
                      <a:lnTo>
                        <a:pt x="0" y="1"/>
                      </a:lnTo>
                      <a:lnTo>
                        <a:pt x="0" y="1"/>
                      </a:lnTo>
                      <a:lnTo>
                        <a:pt x="0" y="1"/>
                      </a:lnTo>
                      <a:lnTo>
                        <a:pt x="0" y="1"/>
                      </a:lnTo>
                      <a:lnTo>
                        <a:pt x="0" y="0"/>
                      </a:lnTo>
                      <a:lnTo>
                        <a:pt x="0" y="0"/>
                      </a:lnTo>
                      <a:lnTo>
                        <a:pt x="0" y="0"/>
                      </a:lnTo>
                      <a:lnTo>
                        <a:pt x="0" y="1"/>
                      </a:lnTo>
                      <a:lnTo>
                        <a:pt x="0" y="1"/>
                      </a:lnTo>
                      <a:lnTo>
                        <a:pt x="0" y="1"/>
                      </a:lnTo>
                      <a:lnTo>
                        <a:pt x="0" y="1"/>
                      </a:lnTo>
                      <a:lnTo>
                        <a:pt x="0" y="1"/>
                      </a:lnTo>
                      <a:lnTo>
                        <a:pt x="0" y="2"/>
                      </a:lnTo>
                      <a:lnTo>
                        <a:pt x="0" y="2"/>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10" name="Freeform 198"/>
                <p:cNvSpPr>
                  <a:spLocks noChangeAspect="1"/>
                </p:cNvSpPr>
                <p:nvPr/>
              </p:nvSpPr>
              <p:spPr bwMode="auto">
                <a:xfrm>
                  <a:off x="165" y="619"/>
                  <a:ext cx="1" cy="1"/>
                </a:xfrm>
                <a:custGeom>
                  <a:avLst/>
                  <a:gdLst>
                    <a:gd name="T0" fmla="*/ 1 h 1"/>
                    <a:gd name="T1" fmla="*/ 1 h 1"/>
                    <a:gd name="T2" fmla="*/ 1 h 1"/>
                    <a:gd name="T3" fmla="*/ 1 h 1"/>
                    <a:gd name="T4" fmla="*/ 1 h 1"/>
                    <a:gd name="T5" fmla="*/ 1 h 1"/>
                    <a:gd name="T6" fmla="*/ 0 h 1"/>
                    <a:gd name="T7" fmla="*/ 0 h 1"/>
                    <a:gd name="T8" fmla="*/ 0 h 1"/>
                    <a:gd name="T9" fmla="*/ 0 h 1"/>
                    <a:gd name="T10" fmla="*/ 0 h 1"/>
                    <a:gd name="T11" fmla="*/ 1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1"/>
                      </a:lnTo>
                      <a:lnTo>
                        <a:pt x="0" y="0"/>
                      </a:lnTo>
                      <a:lnTo>
                        <a:pt x="0" y="0"/>
                      </a:lnTo>
                      <a:lnTo>
                        <a:pt x="0" y="0"/>
                      </a:lnTo>
                      <a:lnTo>
                        <a:pt x="0" y="0"/>
                      </a:lnTo>
                      <a:lnTo>
                        <a:pt x="0" y="0"/>
                      </a:lnTo>
                      <a:lnTo>
                        <a:pt x="0" y="1"/>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11" name="Freeform 199"/>
                <p:cNvSpPr>
                  <a:spLocks noChangeAspect="1"/>
                </p:cNvSpPr>
                <p:nvPr/>
              </p:nvSpPr>
              <p:spPr bwMode="auto">
                <a:xfrm>
                  <a:off x="165" y="619"/>
                  <a:ext cx="1" cy="1"/>
                </a:xfrm>
                <a:custGeom>
                  <a:avLst/>
                  <a:gdLst>
                    <a:gd name="T0" fmla="*/ 1 h 1"/>
                    <a:gd name="T1" fmla="*/ 1 h 1"/>
                    <a:gd name="T2" fmla="*/ 1 h 1"/>
                    <a:gd name="T3" fmla="*/ 1 h 1"/>
                    <a:gd name="T4" fmla="*/ 1 h 1"/>
                    <a:gd name="T5" fmla="*/ 1 h 1"/>
                    <a:gd name="T6" fmla="*/ 1 h 1"/>
                    <a:gd name="T7" fmla="*/ 0 h 1"/>
                    <a:gd name="T8" fmla="*/ 0 h 1"/>
                    <a:gd name="T9" fmla="*/ 0 h 1"/>
                    <a:gd name="T10" fmla="*/ 1 h 1"/>
                    <a:gd name="T11" fmla="*/ 1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1"/>
                      </a:lnTo>
                      <a:lnTo>
                        <a:pt x="0" y="1"/>
                      </a:lnTo>
                      <a:lnTo>
                        <a:pt x="0" y="0"/>
                      </a:lnTo>
                      <a:lnTo>
                        <a:pt x="0" y="0"/>
                      </a:lnTo>
                      <a:lnTo>
                        <a:pt x="0" y="0"/>
                      </a:lnTo>
                      <a:lnTo>
                        <a:pt x="0" y="1"/>
                      </a:lnTo>
                      <a:lnTo>
                        <a:pt x="0" y="1"/>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12" name="Freeform 200"/>
                <p:cNvSpPr>
                  <a:spLocks noChangeAspect="1"/>
                </p:cNvSpPr>
                <p:nvPr/>
              </p:nvSpPr>
              <p:spPr bwMode="auto">
                <a:xfrm>
                  <a:off x="165" y="618"/>
                  <a:ext cx="1" cy="1"/>
                </a:xfrm>
                <a:custGeom>
                  <a:avLst/>
                  <a:gdLst>
                    <a:gd name="T0" fmla="*/ 1 h 1"/>
                    <a:gd name="T1" fmla="*/ 1 h 1"/>
                    <a:gd name="T2" fmla="*/ 1 h 1"/>
                    <a:gd name="T3" fmla="*/ 1 h 1"/>
                    <a:gd name="T4" fmla="*/ 1 h 1"/>
                    <a:gd name="T5" fmla="*/ 0 h 1"/>
                    <a:gd name="T6" fmla="*/ 0 h 1"/>
                    <a:gd name="T7" fmla="*/ 0 h 1"/>
                    <a:gd name="T8" fmla="*/ 0 h 1"/>
                    <a:gd name="T9" fmla="*/ 0 h 1"/>
                    <a:gd name="T10" fmla="*/ 0 h 1"/>
                    <a:gd name="T11" fmla="*/ 0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0"/>
                      </a:lnTo>
                      <a:lnTo>
                        <a:pt x="0" y="0"/>
                      </a:lnTo>
                      <a:lnTo>
                        <a:pt x="0" y="0"/>
                      </a:lnTo>
                      <a:lnTo>
                        <a:pt x="0" y="0"/>
                      </a:lnTo>
                      <a:lnTo>
                        <a:pt x="0" y="0"/>
                      </a:lnTo>
                      <a:lnTo>
                        <a:pt x="0" y="0"/>
                      </a:lnTo>
                      <a:lnTo>
                        <a:pt x="0" y="0"/>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13" name="Freeform 201"/>
                <p:cNvSpPr>
                  <a:spLocks noChangeAspect="1"/>
                </p:cNvSpPr>
                <p:nvPr/>
              </p:nvSpPr>
              <p:spPr bwMode="auto">
                <a:xfrm>
                  <a:off x="165" y="617"/>
                  <a:ext cx="1" cy="1"/>
                </a:xfrm>
                <a:custGeom>
                  <a:avLst/>
                  <a:gdLst>
                    <a:gd name="T0" fmla="*/ 1 h 1"/>
                    <a:gd name="T1" fmla="*/ 1 h 1"/>
                    <a:gd name="T2" fmla="*/ 1 h 1"/>
                    <a:gd name="T3" fmla="*/ 0 h 1"/>
                    <a:gd name="T4" fmla="*/ 0 h 1"/>
                    <a:gd name="T5" fmla="*/ 0 h 1"/>
                    <a:gd name="T6" fmla="*/ 0 h 1"/>
                    <a:gd name="T7" fmla="*/ 0 h 1"/>
                    <a:gd name="T8" fmla="*/ 0 h 1"/>
                    <a:gd name="T9" fmla="*/ 0 h 1"/>
                    <a:gd name="T10" fmla="*/ 0 h 1"/>
                    <a:gd name="T11" fmla="*/ 0 h 1"/>
                    <a:gd name="T12" fmla="*/ 0 h 1"/>
                    <a:gd name="T13" fmla="*/ 0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0"/>
                      </a:lnTo>
                      <a:lnTo>
                        <a:pt x="0" y="0"/>
                      </a:lnTo>
                      <a:lnTo>
                        <a:pt x="0" y="0"/>
                      </a:lnTo>
                      <a:lnTo>
                        <a:pt x="0" y="0"/>
                      </a:lnTo>
                      <a:lnTo>
                        <a:pt x="0" y="0"/>
                      </a:lnTo>
                      <a:lnTo>
                        <a:pt x="0" y="0"/>
                      </a:lnTo>
                      <a:lnTo>
                        <a:pt x="0" y="0"/>
                      </a:lnTo>
                      <a:lnTo>
                        <a:pt x="0" y="0"/>
                      </a:lnTo>
                      <a:lnTo>
                        <a:pt x="0" y="0"/>
                      </a:lnTo>
                      <a:lnTo>
                        <a:pt x="0" y="0"/>
                      </a:lnTo>
                      <a:lnTo>
                        <a:pt x="0" y="0"/>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14" name="Freeform 202"/>
                <p:cNvSpPr>
                  <a:spLocks noChangeAspect="1"/>
                </p:cNvSpPr>
                <p:nvPr/>
              </p:nvSpPr>
              <p:spPr bwMode="auto">
                <a:xfrm>
                  <a:off x="165" y="617"/>
                  <a:ext cx="1" cy="1"/>
                </a:xfrm>
                <a:custGeom>
                  <a:avLst/>
                  <a:gdLst>
                    <a:gd name="T0" fmla="*/ 1 h 1"/>
                    <a:gd name="T1" fmla="*/ 1 h 1"/>
                    <a:gd name="T2" fmla="*/ 1 h 1"/>
                    <a:gd name="T3" fmla="*/ 1 h 1"/>
                    <a:gd name="T4" fmla="*/ 0 h 1"/>
                    <a:gd name="T5" fmla="*/ 0 h 1"/>
                    <a:gd name="T6" fmla="*/ 0 h 1"/>
                    <a:gd name="T7" fmla="*/ 0 h 1"/>
                    <a:gd name="T8" fmla="*/ 0 h 1"/>
                    <a:gd name="T9" fmla="*/ 0 h 1"/>
                    <a:gd name="T10" fmla="*/ 0 h 1"/>
                    <a:gd name="T11" fmla="*/ 0 h 1"/>
                    <a:gd name="T12" fmla="*/ 0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0"/>
                      </a:lnTo>
                      <a:lnTo>
                        <a:pt x="0" y="0"/>
                      </a:lnTo>
                      <a:lnTo>
                        <a:pt x="0" y="0"/>
                      </a:lnTo>
                      <a:lnTo>
                        <a:pt x="0" y="0"/>
                      </a:lnTo>
                      <a:lnTo>
                        <a:pt x="0" y="0"/>
                      </a:lnTo>
                      <a:lnTo>
                        <a:pt x="0" y="0"/>
                      </a:lnTo>
                      <a:lnTo>
                        <a:pt x="0" y="0"/>
                      </a:lnTo>
                      <a:lnTo>
                        <a:pt x="0" y="0"/>
                      </a:lnTo>
                      <a:lnTo>
                        <a:pt x="0" y="0"/>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15" name="Freeform 203"/>
                <p:cNvSpPr>
                  <a:spLocks noChangeAspect="1"/>
                </p:cNvSpPr>
                <p:nvPr/>
              </p:nvSpPr>
              <p:spPr bwMode="auto">
                <a:xfrm>
                  <a:off x="165" y="616"/>
                  <a:ext cx="1" cy="1"/>
                </a:xfrm>
                <a:custGeom>
                  <a:avLst/>
                  <a:gdLst>
                    <a:gd name="T0" fmla="*/ 1 h 1"/>
                    <a:gd name="T1" fmla="*/ 1 h 1"/>
                    <a:gd name="T2" fmla="*/ 1 h 1"/>
                    <a:gd name="T3" fmla="*/ 0 h 1"/>
                    <a:gd name="T4" fmla="*/ 0 h 1"/>
                    <a:gd name="T5" fmla="*/ 0 h 1"/>
                    <a:gd name="T6" fmla="*/ 0 h 1"/>
                    <a:gd name="T7" fmla="*/ 0 h 1"/>
                    <a:gd name="T8" fmla="*/ 0 h 1"/>
                    <a:gd name="T9" fmla="*/ 0 h 1"/>
                    <a:gd name="T10" fmla="*/ 0 h 1"/>
                    <a:gd name="T11" fmla="*/ 0 h 1"/>
                    <a:gd name="T12" fmla="*/ 0 h 1"/>
                    <a:gd name="T13" fmla="*/ 0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0"/>
                      </a:lnTo>
                      <a:lnTo>
                        <a:pt x="0" y="0"/>
                      </a:lnTo>
                      <a:lnTo>
                        <a:pt x="0" y="0"/>
                      </a:lnTo>
                      <a:lnTo>
                        <a:pt x="0" y="0"/>
                      </a:lnTo>
                      <a:lnTo>
                        <a:pt x="0" y="0"/>
                      </a:lnTo>
                      <a:lnTo>
                        <a:pt x="0" y="0"/>
                      </a:lnTo>
                      <a:lnTo>
                        <a:pt x="0" y="0"/>
                      </a:lnTo>
                      <a:lnTo>
                        <a:pt x="0" y="0"/>
                      </a:lnTo>
                      <a:lnTo>
                        <a:pt x="0" y="0"/>
                      </a:lnTo>
                      <a:lnTo>
                        <a:pt x="0" y="0"/>
                      </a:lnTo>
                      <a:lnTo>
                        <a:pt x="0" y="0"/>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16" name="Freeform 204"/>
                <p:cNvSpPr>
                  <a:spLocks noChangeAspect="1"/>
                </p:cNvSpPr>
                <p:nvPr/>
              </p:nvSpPr>
              <p:spPr bwMode="auto">
                <a:xfrm>
                  <a:off x="165" y="616"/>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17" name="Freeform 205"/>
                <p:cNvSpPr>
                  <a:spLocks noChangeAspect="1"/>
                </p:cNvSpPr>
                <p:nvPr/>
              </p:nvSpPr>
              <p:spPr bwMode="auto">
                <a:xfrm>
                  <a:off x="166" y="616"/>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18" name="Freeform 206"/>
                <p:cNvSpPr>
                  <a:spLocks noChangeAspect="1"/>
                </p:cNvSpPr>
                <p:nvPr/>
              </p:nvSpPr>
              <p:spPr bwMode="auto">
                <a:xfrm>
                  <a:off x="166" y="6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19" name="Freeform 207"/>
                <p:cNvSpPr>
                  <a:spLocks noChangeAspect="1"/>
                </p:cNvSpPr>
                <p:nvPr/>
              </p:nvSpPr>
              <p:spPr bwMode="auto">
                <a:xfrm>
                  <a:off x="166" y="61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20" name="Freeform 208"/>
                <p:cNvSpPr>
                  <a:spLocks noChangeAspect="1"/>
                </p:cNvSpPr>
                <p:nvPr/>
              </p:nvSpPr>
              <p:spPr bwMode="auto">
                <a:xfrm>
                  <a:off x="167" y="612"/>
                  <a:ext cx="0"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21" name="Freeform 209"/>
                <p:cNvSpPr>
                  <a:spLocks noChangeAspect="1"/>
                </p:cNvSpPr>
                <p:nvPr/>
              </p:nvSpPr>
              <p:spPr bwMode="auto">
                <a:xfrm>
                  <a:off x="372" y="883"/>
                  <a:ext cx="58" cy="60"/>
                </a:xfrm>
                <a:custGeom>
                  <a:avLst/>
                  <a:gdLst>
                    <a:gd name="T0" fmla="*/ 128 w 173"/>
                    <a:gd name="T1" fmla="*/ 10 h 180"/>
                    <a:gd name="T2" fmla="*/ 141 w 173"/>
                    <a:gd name="T3" fmla="*/ 20 h 180"/>
                    <a:gd name="T4" fmla="*/ 153 w 173"/>
                    <a:gd name="T5" fmla="*/ 31 h 180"/>
                    <a:gd name="T6" fmla="*/ 163 w 173"/>
                    <a:gd name="T7" fmla="*/ 45 h 180"/>
                    <a:gd name="T8" fmla="*/ 169 w 173"/>
                    <a:gd name="T9" fmla="*/ 61 h 180"/>
                    <a:gd name="T10" fmla="*/ 172 w 173"/>
                    <a:gd name="T11" fmla="*/ 78 h 180"/>
                    <a:gd name="T12" fmla="*/ 172 w 173"/>
                    <a:gd name="T13" fmla="*/ 95 h 180"/>
                    <a:gd name="T14" fmla="*/ 169 w 173"/>
                    <a:gd name="T15" fmla="*/ 113 h 180"/>
                    <a:gd name="T16" fmla="*/ 163 w 173"/>
                    <a:gd name="T17" fmla="*/ 130 h 180"/>
                    <a:gd name="T18" fmla="*/ 153 w 173"/>
                    <a:gd name="T19" fmla="*/ 145 h 180"/>
                    <a:gd name="T20" fmla="*/ 141 w 173"/>
                    <a:gd name="T21" fmla="*/ 158 h 180"/>
                    <a:gd name="T22" fmla="*/ 128 w 173"/>
                    <a:gd name="T23" fmla="*/ 167 h 180"/>
                    <a:gd name="T24" fmla="*/ 112 w 173"/>
                    <a:gd name="T25" fmla="*/ 175 h 180"/>
                    <a:gd name="T26" fmla="*/ 96 w 173"/>
                    <a:gd name="T27" fmla="*/ 179 h 180"/>
                    <a:gd name="T28" fmla="*/ 79 w 173"/>
                    <a:gd name="T29" fmla="*/ 180 h 180"/>
                    <a:gd name="T30" fmla="*/ 62 w 173"/>
                    <a:gd name="T31" fmla="*/ 177 h 180"/>
                    <a:gd name="T32" fmla="*/ 46 w 173"/>
                    <a:gd name="T33" fmla="*/ 171 h 180"/>
                    <a:gd name="T34" fmla="*/ 31 w 173"/>
                    <a:gd name="T35" fmla="*/ 161 h 180"/>
                    <a:gd name="T36" fmla="*/ 19 w 173"/>
                    <a:gd name="T37" fmla="*/ 149 h 180"/>
                    <a:gd name="T38" fmla="*/ 10 w 173"/>
                    <a:gd name="T39" fmla="*/ 135 h 180"/>
                    <a:gd name="T40" fmla="*/ 4 w 173"/>
                    <a:gd name="T41" fmla="*/ 120 h 180"/>
                    <a:gd name="T42" fmla="*/ 0 w 173"/>
                    <a:gd name="T43" fmla="*/ 103 h 180"/>
                    <a:gd name="T44" fmla="*/ 0 w 173"/>
                    <a:gd name="T45" fmla="*/ 85 h 180"/>
                    <a:gd name="T46" fmla="*/ 3 w 173"/>
                    <a:gd name="T47" fmla="*/ 67 h 180"/>
                    <a:gd name="T48" fmla="*/ 10 w 173"/>
                    <a:gd name="T49" fmla="*/ 50 h 180"/>
                    <a:gd name="T50" fmla="*/ 20 w 173"/>
                    <a:gd name="T51" fmla="*/ 36 h 180"/>
                    <a:gd name="T52" fmla="*/ 32 w 173"/>
                    <a:gd name="T53" fmla="*/ 23 h 180"/>
                    <a:gd name="T54" fmla="*/ 46 w 173"/>
                    <a:gd name="T55" fmla="*/ 12 h 180"/>
                    <a:gd name="T56" fmla="*/ 61 w 173"/>
                    <a:gd name="T57" fmla="*/ 6 h 180"/>
                    <a:gd name="T58" fmla="*/ 78 w 173"/>
                    <a:gd name="T59" fmla="*/ 2 h 180"/>
                    <a:gd name="T60" fmla="*/ 93 w 173"/>
                    <a:gd name="T61" fmla="*/ 0 h 180"/>
                    <a:gd name="T62" fmla="*/ 111 w 173"/>
                    <a:gd name="T63" fmla="*/ 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3" h="180">
                      <a:moveTo>
                        <a:pt x="119" y="6"/>
                      </a:moveTo>
                      <a:lnTo>
                        <a:pt x="128" y="10"/>
                      </a:lnTo>
                      <a:lnTo>
                        <a:pt x="135" y="14"/>
                      </a:lnTo>
                      <a:lnTo>
                        <a:pt x="141" y="20"/>
                      </a:lnTo>
                      <a:lnTo>
                        <a:pt x="148" y="25"/>
                      </a:lnTo>
                      <a:lnTo>
                        <a:pt x="153" y="31"/>
                      </a:lnTo>
                      <a:lnTo>
                        <a:pt x="158" y="38"/>
                      </a:lnTo>
                      <a:lnTo>
                        <a:pt x="163" y="45"/>
                      </a:lnTo>
                      <a:lnTo>
                        <a:pt x="166" y="53"/>
                      </a:lnTo>
                      <a:lnTo>
                        <a:pt x="169" y="61"/>
                      </a:lnTo>
                      <a:lnTo>
                        <a:pt x="171" y="70"/>
                      </a:lnTo>
                      <a:lnTo>
                        <a:pt x="172" y="78"/>
                      </a:lnTo>
                      <a:lnTo>
                        <a:pt x="173" y="87"/>
                      </a:lnTo>
                      <a:lnTo>
                        <a:pt x="172" y="95"/>
                      </a:lnTo>
                      <a:lnTo>
                        <a:pt x="171" y="104"/>
                      </a:lnTo>
                      <a:lnTo>
                        <a:pt x="169" y="113"/>
                      </a:lnTo>
                      <a:lnTo>
                        <a:pt x="167" y="122"/>
                      </a:lnTo>
                      <a:lnTo>
                        <a:pt x="163" y="130"/>
                      </a:lnTo>
                      <a:lnTo>
                        <a:pt x="158" y="138"/>
                      </a:lnTo>
                      <a:lnTo>
                        <a:pt x="153" y="145"/>
                      </a:lnTo>
                      <a:lnTo>
                        <a:pt x="148" y="151"/>
                      </a:lnTo>
                      <a:lnTo>
                        <a:pt x="141" y="158"/>
                      </a:lnTo>
                      <a:lnTo>
                        <a:pt x="134" y="163"/>
                      </a:lnTo>
                      <a:lnTo>
                        <a:pt x="128" y="167"/>
                      </a:lnTo>
                      <a:lnTo>
                        <a:pt x="120" y="172"/>
                      </a:lnTo>
                      <a:lnTo>
                        <a:pt x="112" y="175"/>
                      </a:lnTo>
                      <a:lnTo>
                        <a:pt x="104" y="178"/>
                      </a:lnTo>
                      <a:lnTo>
                        <a:pt x="96" y="179"/>
                      </a:lnTo>
                      <a:lnTo>
                        <a:pt x="87" y="180"/>
                      </a:lnTo>
                      <a:lnTo>
                        <a:pt x="79" y="180"/>
                      </a:lnTo>
                      <a:lnTo>
                        <a:pt x="70" y="179"/>
                      </a:lnTo>
                      <a:lnTo>
                        <a:pt x="62" y="177"/>
                      </a:lnTo>
                      <a:lnTo>
                        <a:pt x="53" y="175"/>
                      </a:lnTo>
                      <a:lnTo>
                        <a:pt x="46" y="171"/>
                      </a:lnTo>
                      <a:lnTo>
                        <a:pt x="38" y="166"/>
                      </a:lnTo>
                      <a:lnTo>
                        <a:pt x="31" y="161"/>
                      </a:lnTo>
                      <a:lnTo>
                        <a:pt x="25" y="156"/>
                      </a:lnTo>
                      <a:lnTo>
                        <a:pt x="19" y="149"/>
                      </a:lnTo>
                      <a:lnTo>
                        <a:pt x="15" y="143"/>
                      </a:lnTo>
                      <a:lnTo>
                        <a:pt x="10" y="135"/>
                      </a:lnTo>
                      <a:lnTo>
                        <a:pt x="6" y="128"/>
                      </a:lnTo>
                      <a:lnTo>
                        <a:pt x="4" y="120"/>
                      </a:lnTo>
                      <a:lnTo>
                        <a:pt x="2" y="111"/>
                      </a:lnTo>
                      <a:lnTo>
                        <a:pt x="0" y="103"/>
                      </a:lnTo>
                      <a:lnTo>
                        <a:pt x="0" y="94"/>
                      </a:lnTo>
                      <a:lnTo>
                        <a:pt x="0" y="85"/>
                      </a:lnTo>
                      <a:lnTo>
                        <a:pt x="1" y="77"/>
                      </a:lnTo>
                      <a:lnTo>
                        <a:pt x="3" y="67"/>
                      </a:lnTo>
                      <a:lnTo>
                        <a:pt x="6" y="59"/>
                      </a:lnTo>
                      <a:lnTo>
                        <a:pt x="10" y="50"/>
                      </a:lnTo>
                      <a:lnTo>
                        <a:pt x="15" y="43"/>
                      </a:lnTo>
                      <a:lnTo>
                        <a:pt x="20" y="36"/>
                      </a:lnTo>
                      <a:lnTo>
                        <a:pt x="25" y="29"/>
                      </a:lnTo>
                      <a:lnTo>
                        <a:pt x="32" y="23"/>
                      </a:lnTo>
                      <a:lnTo>
                        <a:pt x="38" y="17"/>
                      </a:lnTo>
                      <a:lnTo>
                        <a:pt x="46" y="12"/>
                      </a:lnTo>
                      <a:lnTo>
                        <a:pt x="53" y="9"/>
                      </a:lnTo>
                      <a:lnTo>
                        <a:pt x="61" y="6"/>
                      </a:lnTo>
                      <a:lnTo>
                        <a:pt x="69" y="3"/>
                      </a:lnTo>
                      <a:lnTo>
                        <a:pt x="78" y="2"/>
                      </a:lnTo>
                      <a:lnTo>
                        <a:pt x="86" y="0"/>
                      </a:lnTo>
                      <a:lnTo>
                        <a:pt x="93" y="0"/>
                      </a:lnTo>
                      <a:lnTo>
                        <a:pt x="102" y="2"/>
                      </a:lnTo>
                      <a:lnTo>
                        <a:pt x="111" y="4"/>
                      </a:lnTo>
                      <a:lnTo>
                        <a:pt x="119" y="6"/>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22" name="Freeform 210"/>
                <p:cNvSpPr>
                  <a:spLocks noChangeAspect="1"/>
                </p:cNvSpPr>
                <p:nvPr/>
              </p:nvSpPr>
              <p:spPr bwMode="auto">
                <a:xfrm>
                  <a:off x="372" y="883"/>
                  <a:ext cx="58" cy="60"/>
                </a:xfrm>
                <a:custGeom>
                  <a:avLst/>
                  <a:gdLst>
                    <a:gd name="T0" fmla="*/ 128 w 173"/>
                    <a:gd name="T1" fmla="*/ 10 h 180"/>
                    <a:gd name="T2" fmla="*/ 141 w 173"/>
                    <a:gd name="T3" fmla="*/ 20 h 180"/>
                    <a:gd name="T4" fmla="*/ 153 w 173"/>
                    <a:gd name="T5" fmla="*/ 31 h 180"/>
                    <a:gd name="T6" fmla="*/ 163 w 173"/>
                    <a:gd name="T7" fmla="*/ 45 h 180"/>
                    <a:gd name="T8" fmla="*/ 169 w 173"/>
                    <a:gd name="T9" fmla="*/ 61 h 180"/>
                    <a:gd name="T10" fmla="*/ 172 w 173"/>
                    <a:gd name="T11" fmla="*/ 78 h 180"/>
                    <a:gd name="T12" fmla="*/ 172 w 173"/>
                    <a:gd name="T13" fmla="*/ 95 h 180"/>
                    <a:gd name="T14" fmla="*/ 169 w 173"/>
                    <a:gd name="T15" fmla="*/ 113 h 180"/>
                    <a:gd name="T16" fmla="*/ 163 w 173"/>
                    <a:gd name="T17" fmla="*/ 130 h 180"/>
                    <a:gd name="T18" fmla="*/ 153 w 173"/>
                    <a:gd name="T19" fmla="*/ 145 h 180"/>
                    <a:gd name="T20" fmla="*/ 141 w 173"/>
                    <a:gd name="T21" fmla="*/ 158 h 180"/>
                    <a:gd name="T22" fmla="*/ 128 w 173"/>
                    <a:gd name="T23" fmla="*/ 167 h 180"/>
                    <a:gd name="T24" fmla="*/ 112 w 173"/>
                    <a:gd name="T25" fmla="*/ 175 h 180"/>
                    <a:gd name="T26" fmla="*/ 96 w 173"/>
                    <a:gd name="T27" fmla="*/ 179 h 180"/>
                    <a:gd name="T28" fmla="*/ 79 w 173"/>
                    <a:gd name="T29" fmla="*/ 180 h 180"/>
                    <a:gd name="T30" fmla="*/ 62 w 173"/>
                    <a:gd name="T31" fmla="*/ 177 h 180"/>
                    <a:gd name="T32" fmla="*/ 46 w 173"/>
                    <a:gd name="T33" fmla="*/ 171 h 180"/>
                    <a:gd name="T34" fmla="*/ 31 w 173"/>
                    <a:gd name="T35" fmla="*/ 161 h 180"/>
                    <a:gd name="T36" fmla="*/ 19 w 173"/>
                    <a:gd name="T37" fmla="*/ 149 h 180"/>
                    <a:gd name="T38" fmla="*/ 10 w 173"/>
                    <a:gd name="T39" fmla="*/ 135 h 180"/>
                    <a:gd name="T40" fmla="*/ 4 w 173"/>
                    <a:gd name="T41" fmla="*/ 120 h 180"/>
                    <a:gd name="T42" fmla="*/ 0 w 173"/>
                    <a:gd name="T43" fmla="*/ 103 h 180"/>
                    <a:gd name="T44" fmla="*/ 0 w 173"/>
                    <a:gd name="T45" fmla="*/ 85 h 180"/>
                    <a:gd name="T46" fmla="*/ 3 w 173"/>
                    <a:gd name="T47" fmla="*/ 67 h 180"/>
                    <a:gd name="T48" fmla="*/ 10 w 173"/>
                    <a:gd name="T49" fmla="*/ 50 h 180"/>
                    <a:gd name="T50" fmla="*/ 20 w 173"/>
                    <a:gd name="T51" fmla="*/ 36 h 180"/>
                    <a:gd name="T52" fmla="*/ 32 w 173"/>
                    <a:gd name="T53" fmla="*/ 23 h 180"/>
                    <a:gd name="T54" fmla="*/ 46 w 173"/>
                    <a:gd name="T55" fmla="*/ 12 h 180"/>
                    <a:gd name="T56" fmla="*/ 61 w 173"/>
                    <a:gd name="T57" fmla="*/ 6 h 180"/>
                    <a:gd name="T58" fmla="*/ 78 w 173"/>
                    <a:gd name="T59" fmla="*/ 2 h 180"/>
                    <a:gd name="T60" fmla="*/ 93 w 173"/>
                    <a:gd name="T61" fmla="*/ 0 h 180"/>
                    <a:gd name="T62" fmla="*/ 111 w 173"/>
                    <a:gd name="T63" fmla="*/ 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3" h="180">
                      <a:moveTo>
                        <a:pt x="119" y="6"/>
                      </a:moveTo>
                      <a:lnTo>
                        <a:pt x="128" y="10"/>
                      </a:lnTo>
                      <a:lnTo>
                        <a:pt x="135" y="14"/>
                      </a:lnTo>
                      <a:lnTo>
                        <a:pt x="141" y="20"/>
                      </a:lnTo>
                      <a:lnTo>
                        <a:pt x="148" y="25"/>
                      </a:lnTo>
                      <a:lnTo>
                        <a:pt x="153" y="31"/>
                      </a:lnTo>
                      <a:lnTo>
                        <a:pt x="158" y="38"/>
                      </a:lnTo>
                      <a:lnTo>
                        <a:pt x="163" y="45"/>
                      </a:lnTo>
                      <a:lnTo>
                        <a:pt x="166" y="53"/>
                      </a:lnTo>
                      <a:lnTo>
                        <a:pt x="169" y="61"/>
                      </a:lnTo>
                      <a:lnTo>
                        <a:pt x="171" y="70"/>
                      </a:lnTo>
                      <a:lnTo>
                        <a:pt x="172" y="78"/>
                      </a:lnTo>
                      <a:lnTo>
                        <a:pt x="173" y="87"/>
                      </a:lnTo>
                      <a:lnTo>
                        <a:pt x="172" y="95"/>
                      </a:lnTo>
                      <a:lnTo>
                        <a:pt x="171" y="104"/>
                      </a:lnTo>
                      <a:lnTo>
                        <a:pt x="169" y="113"/>
                      </a:lnTo>
                      <a:lnTo>
                        <a:pt x="167" y="122"/>
                      </a:lnTo>
                      <a:lnTo>
                        <a:pt x="163" y="130"/>
                      </a:lnTo>
                      <a:lnTo>
                        <a:pt x="158" y="138"/>
                      </a:lnTo>
                      <a:lnTo>
                        <a:pt x="153" y="145"/>
                      </a:lnTo>
                      <a:lnTo>
                        <a:pt x="148" y="151"/>
                      </a:lnTo>
                      <a:lnTo>
                        <a:pt x="141" y="158"/>
                      </a:lnTo>
                      <a:lnTo>
                        <a:pt x="134" y="163"/>
                      </a:lnTo>
                      <a:lnTo>
                        <a:pt x="128" y="167"/>
                      </a:lnTo>
                      <a:lnTo>
                        <a:pt x="120" y="172"/>
                      </a:lnTo>
                      <a:lnTo>
                        <a:pt x="112" y="175"/>
                      </a:lnTo>
                      <a:lnTo>
                        <a:pt x="104" y="178"/>
                      </a:lnTo>
                      <a:lnTo>
                        <a:pt x="96" y="179"/>
                      </a:lnTo>
                      <a:lnTo>
                        <a:pt x="87" y="180"/>
                      </a:lnTo>
                      <a:lnTo>
                        <a:pt x="79" y="180"/>
                      </a:lnTo>
                      <a:lnTo>
                        <a:pt x="70" y="179"/>
                      </a:lnTo>
                      <a:lnTo>
                        <a:pt x="62" y="177"/>
                      </a:lnTo>
                      <a:lnTo>
                        <a:pt x="53" y="175"/>
                      </a:lnTo>
                      <a:lnTo>
                        <a:pt x="46" y="171"/>
                      </a:lnTo>
                      <a:lnTo>
                        <a:pt x="38" y="166"/>
                      </a:lnTo>
                      <a:lnTo>
                        <a:pt x="31" y="161"/>
                      </a:lnTo>
                      <a:lnTo>
                        <a:pt x="25" y="156"/>
                      </a:lnTo>
                      <a:lnTo>
                        <a:pt x="19" y="149"/>
                      </a:lnTo>
                      <a:lnTo>
                        <a:pt x="15" y="143"/>
                      </a:lnTo>
                      <a:lnTo>
                        <a:pt x="10" y="135"/>
                      </a:lnTo>
                      <a:lnTo>
                        <a:pt x="6" y="128"/>
                      </a:lnTo>
                      <a:lnTo>
                        <a:pt x="4" y="120"/>
                      </a:lnTo>
                      <a:lnTo>
                        <a:pt x="2" y="111"/>
                      </a:lnTo>
                      <a:lnTo>
                        <a:pt x="0" y="103"/>
                      </a:lnTo>
                      <a:lnTo>
                        <a:pt x="0" y="94"/>
                      </a:lnTo>
                      <a:lnTo>
                        <a:pt x="0" y="85"/>
                      </a:lnTo>
                      <a:lnTo>
                        <a:pt x="1" y="77"/>
                      </a:lnTo>
                      <a:lnTo>
                        <a:pt x="3" y="67"/>
                      </a:lnTo>
                      <a:lnTo>
                        <a:pt x="6" y="59"/>
                      </a:lnTo>
                      <a:lnTo>
                        <a:pt x="10" y="50"/>
                      </a:lnTo>
                      <a:lnTo>
                        <a:pt x="15" y="43"/>
                      </a:lnTo>
                      <a:lnTo>
                        <a:pt x="20" y="36"/>
                      </a:lnTo>
                      <a:lnTo>
                        <a:pt x="25" y="29"/>
                      </a:lnTo>
                      <a:lnTo>
                        <a:pt x="32" y="23"/>
                      </a:lnTo>
                      <a:lnTo>
                        <a:pt x="38" y="17"/>
                      </a:lnTo>
                      <a:lnTo>
                        <a:pt x="46" y="12"/>
                      </a:lnTo>
                      <a:lnTo>
                        <a:pt x="53" y="9"/>
                      </a:lnTo>
                      <a:lnTo>
                        <a:pt x="61" y="6"/>
                      </a:lnTo>
                      <a:lnTo>
                        <a:pt x="69" y="3"/>
                      </a:lnTo>
                      <a:lnTo>
                        <a:pt x="78" y="2"/>
                      </a:lnTo>
                      <a:lnTo>
                        <a:pt x="86" y="0"/>
                      </a:lnTo>
                      <a:lnTo>
                        <a:pt x="93" y="0"/>
                      </a:lnTo>
                      <a:lnTo>
                        <a:pt x="102" y="2"/>
                      </a:lnTo>
                      <a:lnTo>
                        <a:pt x="111" y="4"/>
                      </a:lnTo>
                      <a:lnTo>
                        <a:pt x="119" y="6"/>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23" name="Freeform 211"/>
                <p:cNvSpPr>
                  <a:spLocks noChangeAspect="1"/>
                </p:cNvSpPr>
                <p:nvPr/>
              </p:nvSpPr>
              <p:spPr bwMode="auto">
                <a:xfrm>
                  <a:off x="573" y="875"/>
                  <a:ext cx="17" cy="26"/>
                </a:xfrm>
                <a:custGeom>
                  <a:avLst/>
                  <a:gdLst>
                    <a:gd name="T0" fmla="*/ 0 w 54"/>
                    <a:gd name="T1" fmla="*/ 74 h 74"/>
                    <a:gd name="T2" fmla="*/ 29 w 54"/>
                    <a:gd name="T3" fmla="*/ 0 h 74"/>
                    <a:gd name="T4" fmla="*/ 54 w 54"/>
                    <a:gd name="T5" fmla="*/ 37 h 74"/>
                    <a:gd name="T6" fmla="*/ 0 w 54"/>
                    <a:gd name="T7" fmla="*/ 74 h 74"/>
                  </a:gdLst>
                  <a:ahLst/>
                  <a:cxnLst>
                    <a:cxn ang="0">
                      <a:pos x="T0" y="T1"/>
                    </a:cxn>
                    <a:cxn ang="0">
                      <a:pos x="T2" y="T3"/>
                    </a:cxn>
                    <a:cxn ang="0">
                      <a:pos x="T4" y="T5"/>
                    </a:cxn>
                    <a:cxn ang="0">
                      <a:pos x="T6" y="T7"/>
                    </a:cxn>
                  </a:cxnLst>
                  <a:rect l="0" t="0" r="r" b="b"/>
                  <a:pathLst>
                    <a:path w="54" h="74">
                      <a:moveTo>
                        <a:pt x="0" y="74"/>
                      </a:moveTo>
                      <a:lnTo>
                        <a:pt x="29" y="0"/>
                      </a:lnTo>
                      <a:lnTo>
                        <a:pt x="54" y="37"/>
                      </a:lnTo>
                      <a:lnTo>
                        <a:pt x="0" y="74"/>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24" name="Freeform 212"/>
                <p:cNvSpPr>
                  <a:spLocks noChangeAspect="1"/>
                </p:cNvSpPr>
                <p:nvPr/>
              </p:nvSpPr>
              <p:spPr bwMode="auto">
                <a:xfrm>
                  <a:off x="562" y="869"/>
                  <a:ext cx="24" cy="39"/>
                </a:xfrm>
                <a:custGeom>
                  <a:avLst/>
                  <a:gdLst>
                    <a:gd name="T0" fmla="*/ 74 w 74"/>
                    <a:gd name="T1" fmla="*/ 39 h 113"/>
                    <a:gd name="T2" fmla="*/ 61 w 74"/>
                    <a:gd name="T3" fmla="*/ 73 h 113"/>
                    <a:gd name="T4" fmla="*/ 0 w 74"/>
                    <a:gd name="T5" fmla="*/ 113 h 113"/>
                    <a:gd name="T6" fmla="*/ 45 w 74"/>
                    <a:gd name="T7" fmla="*/ 0 h 113"/>
                    <a:gd name="T8" fmla="*/ 74 w 74"/>
                    <a:gd name="T9" fmla="*/ 39 h 113"/>
                  </a:gdLst>
                  <a:ahLst/>
                  <a:cxnLst>
                    <a:cxn ang="0">
                      <a:pos x="T0" y="T1"/>
                    </a:cxn>
                    <a:cxn ang="0">
                      <a:pos x="T2" y="T3"/>
                    </a:cxn>
                    <a:cxn ang="0">
                      <a:pos x="T4" y="T5"/>
                    </a:cxn>
                    <a:cxn ang="0">
                      <a:pos x="T6" y="T7"/>
                    </a:cxn>
                    <a:cxn ang="0">
                      <a:pos x="T8" y="T9"/>
                    </a:cxn>
                  </a:cxnLst>
                  <a:rect l="0" t="0" r="r" b="b"/>
                  <a:pathLst>
                    <a:path w="74" h="113">
                      <a:moveTo>
                        <a:pt x="74" y="39"/>
                      </a:moveTo>
                      <a:lnTo>
                        <a:pt x="61" y="73"/>
                      </a:lnTo>
                      <a:lnTo>
                        <a:pt x="0" y="113"/>
                      </a:lnTo>
                      <a:lnTo>
                        <a:pt x="45" y="0"/>
                      </a:lnTo>
                      <a:lnTo>
                        <a:pt x="74"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25" name="Freeform 213"/>
                <p:cNvSpPr>
                  <a:spLocks noChangeAspect="1"/>
                </p:cNvSpPr>
                <p:nvPr/>
              </p:nvSpPr>
              <p:spPr bwMode="auto">
                <a:xfrm>
                  <a:off x="552" y="862"/>
                  <a:ext cx="30" cy="52"/>
                </a:xfrm>
                <a:custGeom>
                  <a:avLst/>
                  <a:gdLst>
                    <a:gd name="T0" fmla="*/ 90 w 90"/>
                    <a:gd name="T1" fmla="*/ 40 h 155"/>
                    <a:gd name="T2" fmla="*/ 61 w 90"/>
                    <a:gd name="T3" fmla="*/ 114 h 155"/>
                    <a:gd name="T4" fmla="*/ 0 w 90"/>
                    <a:gd name="T5" fmla="*/ 155 h 155"/>
                    <a:gd name="T6" fmla="*/ 61 w 90"/>
                    <a:gd name="T7" fmla="*/ 0 h 155"/>
                    <a:gd name="T8" fmla="*/ 90 w 90"/>
                    <a:gd name="T9" fmla="*/ 40 h 155"/>
                  </a:gdLst>
                  <a:ahLst/>
                  <a:cxnLst>
                    <a:cxn ang="0">
                      <a:pos x="T0" y="T1"/>
                    </a:cxn>
                    <a:cxn ang="0">
                      <a:pos x="T2" y="T3"/>
                    </a:cxn>
                    <a:cxn ang="0">
                      <a:pos x="T4" y="T5"/>
                    </a:cxn>
                    <a:cxn ang="0">
                      <a:pos x="T6" y="T7"/>
                    </a:cxn>
                    <a:cxn ang="0">
                      <a:pos x="T8" y="T9"/>
                    </a:cxn>
                  </a:cxnLst>
                  <a:rect l="0" t="0" r="r" b="b"/>
                  <a:pathLst>
                    <a:path w="90" h="155">
                      <a:moveTo>
                        <a:pt x="90" y="40"/>
                      </a:moveTo>
                      <a:lnTo>
                        <a:pt x="61" y="114"/>
                      </a:lnTo>
                      <a:lnTo>
                        <a:pt x="0" y="155"/>
                      </a:lnTo>
                      <a:lnTo>
                        <a:pt x="61" y="0"/>
                      </a:lnTo>
                      <a:lnTo>
                        <a:pt x="90"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26" name="Freeform 214"/>
                <p:cNvSpPr>
                  <a:spLocks noChangeAspect="1"/>
                </p:cNvSpPr>
                <p:nvPr/>
              </p:nvSpPr>
              <p:spPr bwMode="auto">
                <a:xfrm>
                  <a:off x="542" y="856"/>
                  <a:ext cx="35" cy="65"/>
                </a:xfrm>
                <a:custGeom>
                  <a:avLst/>
                  <a:gdLst>
                    <a:gd name="T0" fmla="*/ 104 w 104"/>
                    <a:gd name="T1" fmla="*/ 41 h 196"/>
                    <a:gd name="T2" fmla="*/ 59 w 104"/>
                    <a:gd name="T3" fmla="*/ 154 h 196"/>
                    <a:gd name="T4" fmla="*/ 0 w 104"/>
                    <a:gd name="T5" fmla="*/ 196 h 196"/>
                    <a:gd name="T6" fmla="*/ 76 w 104"/>
                    <a:gd name="T7" fmla="*/ 0 h 196"/>
                    <a:gd name="T8" fmla="*/ 104 w 104"/>
                    <a:gd name="T9" fmla="*/ 41 h 196"/>
                  </a:gdLst>
                  <a:ahLst/>
                  <a:cxnLst>
                    <a:cxn ang="0">
                      <a:pos x="T0" y="T1"/>
                    </a:cxn>
                    <a:cxn ang="0">
                      <a:pos x="T2" y="T3"/>
                    </a:cxn>
                    <a:cxn ang="0">
                      <a:pos x="T4" y="T5"/>
                    </a:cxn>
                    <a:cxn ang="0">
                      <a:pos x="T6" y="T7"/>
                    </a:cxn>
                    <a:cxn ang="0">
                      <a:pos x="T8" y="T9"/>
                    </a:cxn>
                  </a:cxnLst>
                  <a:rect l="0" t="0" r="r" b="b"/>
                  <a:pathLst>
                    <a:path w="104" h="196">
                      <a:moveTo>
                        <a:pt x="104" y="41"/>
                      </a:moveTo>
                      <a:lnTo>
                        <a:pt x="59" y="154"/>
                      </a:lnTo>
                      <a:lnTo>
                        <a:pt x="0" y="196"/>
                      </a:lnTo>
                      <a:lnTo>
                        <a:pt x="76" y="0"/>
                      </a:lnTo>
                      <a:lnTo>
                        <a:pt x="104"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27" name="Freeform 215"/>
                <p:cNvSpPr>
                  <a:spLocks noChangeAspect="1"/>
                </p:cNvSpPr>
                <p:nvPr/>
              </p:nvSpPr>
              <p:spPr bwMode="auto">
                <a:xfrm>
                  <a:off x="536" y="849"/>
                  <a:ext cx="36" cy="72"/>
                </a:xfrm>
                <a:custGeom>
                  <a:avLst/>
                  <a:gdLst>
                    <a:gd name="T0" fmla="*/ 106 w 106"/>
                    <a:gd name="T1" fmla="*/ 40 h 218"/>
                    <a:gd name="T2" fmla="*/ 45 w 106"/>
                    <a:gd name="T3" fmla="*/ 195 h 218"/>
                    <a:gd name="T4" fmla="*/ 12 w 106"/>
                    <a:gd name="T5" fmla="*/ 218 h 218"/>
                    <a:gd name="T6" fmla="*/ 0 w 106"/>
                    <a:gd name="T7" fmla="*/ 200 h 218"/>
                    <a:gd name="T8" fmla="*/ 77 w 106"/>
                    <a:gd name="T9" fmla="*/ 0 h 218"/>
                    <a:gd name="T10" fmla="*/ 106 w 106"/>
                    <a:gd name="T11" fmla="*/ 40 h 218"/>
                  </a:gdLst>
                  <a:ahLst/>
                  <a:cxnLst>
                    <a:cxn ang="0">
                      <a:pos x="T0" y="T1"/>
                    </a:cxn>
                    <a:cxn ang="0">
                      <a:pos x="T2" y="T3"/>
                    </a:cxn>
                    <a:cxn ang="0">
                      <a:pos x="T4" y="T5"/>
                    </a:cxn>
                    <a:cxn ang="0">
                      <a:pos x="T6" y="T7"/>
                    </a:cxn>
                    <a:cxn ang="0">
                      <a:pos x="T8" y="T9"/>
                    </a:cxn>
                    <a:cxn ang="0">
                      <a:pos x="T10" y="T11"/>
                    </a:cxn>
                  </a:cxnLst>
                  <a:rect l="0" t="0" r="r" b="b"/>
                  <a:pathLst>
                    <a:path w="106" h="218">
                      <a:moveTo>
                        <a:pt x="106" y="40"/>
                      </a:moveTo>
                      <a:lnTo>
                        <a:pt x="45" y="195"/>
                      </a:lnTo>
                      <a:lnTo>
                        <a:pt x="12" y="218"/>
                      </a:lnTo>
                      <a:lnTo>
                        <a:pt x="0" y="200"/>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28" name="Freeform 216"/>
                <p:cNvSpPr>
                  <a:spLocks noChangeAspect="1"/>
                </p:cNvSpPr>
                <p:nvPr/>
              </p:nvSpPr>
              <p:spPr bwMode="auto">
                <a:xfrm>
                  <a:off x="532" y="843"/>
                  <a:ext cx="36" cy="78"/>
                </a:xfrm>
                <a:custGeom>
                  <a:avLst/>
                  <a:gdLst>
                    <a:gd name="T0" fmla="*/ 107 w 107"/>
                    <a:gd name="T1" fmla="*/ 40 h 238"/>
                    <a:gd name="T2" fmla="*/ 31 w 107"/>
                    <a:gd name="T3" fmla="*/ 236 h 238"/>
                    <a:gd name="T4" fmla="*/ 27 w 107"/>
                    <a:gd name="T5" fmla="*/ 238 h 238"/>
                    <a:gd name="T6" fmla="*/ 0 w 107"/>
                    <a:gd name="T7" fmla="*/ 200 h 238"/>
                    <a:gd name="T8" fmla="*/ 79 w 107"/>
                    <a:gd name="T9" fmla="*/ 0 h 238"/>
                    <a:gd name="T10" fmla="*/ 107 w 107"/>
                    <a:gd name="T11" fmla="*/ 40 h 238"/>
                  </a:gdLst>
                  <a:ahLst/>
                  <a:cxnLst>
                    <a:cxn ang="0">
                      <a:pos x="T0" y="T1"/>
                    </a:cxn>
                    <a:cxn ang="0">
                      <a:pos x="T2" y="T3"/>
                    </a:cxn>
                    <a:cxn ang="0">
                      <a:pos x="T4" y="T5"/>
                    </a:cxn>
                    <a:cxn ang="0">
                      <a:pos x="T6" y="T7"/>
                    </a:cxn>
                    <a:cxn ang="0">
                      <a:pos x="T8" y="T9"/>
                    </a:cxn>
                    <a:cxn ang="0">
                      <a:pos x="T10" y="T11"/>
                    </a:cxn>
                  </a:cxnLst>
                  <a:rect l="0" t="0" r="r" b="b"/>
                  <a:pathLst>
                    <a:path w="107" h="238">
                      <a:moveTo>
                        <a:pt x="107" y="40"/>
                      </a:moveTo>
                      <a:lnTo>
                        <a:pt x="31" y="236"/>
                      </a:lnTo>
                      <a:lnTo>
                        <a:pt x="27" y="238"/>
                      </a:lnTo>
                      <a:lnTo>
                        <a:pt x="0" y="200"/>
                      </a:lnTo>
                      <a:lnTo>
                        <a:pt x="79"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29" name="Freeform 217"/>
                <p:cNvSpPr>
                  <a:spLocks noChangeAspect="1"/>
                </p:cNvSpPr>
                <p:nvPr/>
              </p:nvSpPr>
              <p:spPr bwMode="auto">
                <a:xfrm>
                  <a:off x="527" y="834"/>
                  <a:ext cx="36" cy="79"/>
                </a:xfrm>
                <a:custGeom>
                  <a:avLst/>
                  <a:gdLst>
                    <a:gd name="T0" fmla="*/ 106 w 106"/>
                    <a:gd name="T1" fmla="*/ 40 h 240"/>
                    <a:gd name="T2" fmla="*/ 29 w 106"/>
                    <a:gd name="T3" fmla="*/ 240 h 240"/>
                    <a:gd name="T4" fmla="*/ 0 w 106"/>
                    <a:gd name="T5" fmla="*/ 200 h 240"/>
                    <a:gd name="T6" fmla="*/ 78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9" y="240"/>
                      </a:lnTo>
                      <a:lnTo>
                        <a:pt x="0" y="200"/>
                      </a:lnTo>
                      <a:lnTo>
                        <a:pt x="78"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30" name="Freeform 218"/>
                <p:cNvSpPr>
                  <a:spLocks noChangeAspect="1"/>
                </p:cNvSpPr>
                <p:nvPr/>
              </p:nvSpPr>
              <p:spPr bwMode="auto">
                <a:xfrm>
                  <a:off x="523" y="830"/>
                  <a:ext cx="35" cy="78"/>
                </a:xfrm>
                <a:custGeom>
                  <a:avLst/>
                  <a:gdLst>
                    <a:gd name="T0" fmla="*/ 108 w 108"/>
                    <a:gd name="T1" fmla="*/ 39 h 239"/>
                    <a:gd name="T2" fmla="*/ 29 w 108"/>
                    <a:gd name="T3" fmla="*/ 239 h 239"/>
                    <a:gd name="T4" fmla="*/ 0 w 108"/>
                    <a:gd name="T5" fmla="*/ 198 h 239"/>
                    <a:gd name="T6" fmla="*/ 79 w 108"/>
                    <a:gd name="T7" fmla="*/ 0 h 239"/>
                    <a:gd name="T8" fmla="*/ 108 w 108"/>
                    <a:gd name="T9" fmla="*/ 39 h 239"/>
                  </a:gdLst>
                  <a:ahLst/>
                  <a:cxnLst>
                    <a:cxn ang="0">
                      <a:pos x="T0" y="T1"/>
                    </a:cxn>
                    <a:cxn ang="0">
                      <a:pos x="T2" y="T3"/>
                    </a:cxn>
                    <a:cxn ang="0">
                      <a:pos x="T4" y="T5"/>
                    </a:cxn>
                    <a:cxn ang="0">
                      <a:pos x="T6" y="T7"/>
                    </a:cxn>
                    <a:cxn ang="0">
                      <a:pos x="T8" y="T9"/>
                    </a:cxn>
                  </a:cxnLst>
                  <a:rect l="0" t="0" r="r" b="b"/>
                  <a:pathLst>
                    <a:path w="108" h="239">
                      <a:moveTo>
                        <a:pt x="108" y="39"/>
                      </a:moveTo>
                      <a:lnTo>
                        <a:pt x="29" y="239"/>
                      </a:lnTo>
                      <a:lnTo>
                        <a:pt x="0" y="198"/>
                      </a:lnTo>
                      <a:lnTo>
                        <a:pt x="79" y="0"/>
                      </a:lnTo>
                      <a:lnTo>
                        <a:pt x="108"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31" name="Freeform 219"/>
                <p:cNvSpPr>
                  <a:spLocks noChangeAspect="1"/>
                </p:cNvSpPr>
                <p:nvPr/>
              </p:nvSpPr>
              <p:spPr bwMode="auto">
                <a:xfrm>
                  <a:off x="518" y="821"/>
                  <a:ext cx="35" cy="79"/>
                </a:xfrm>
                <a:custGeom>
                  <a:avLst/>
                  <a:gdLst>
                    <a:gd name="T0" fmla="*/ 107 w 107"/>
                    <a:gd name="T1" fmla="*/ 40 h 240"/>
                    <a:gd name="T2" fmla="*/ 29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32" name="Freeform 220"/>
                <p:cNvSpPr>
                  <a:spLocks noChangeAspect="1"/>
                </p:cNvSpPr>
                <p:nvPr/>
              </p:nvSpPr>
              <p:spPr bwMode="auto">
                <a:xfrm>
                  <a:off x="513" y="814"/>
                  <a:ext cx="36" cy="80"/>
                </a:xfrm>
                <a:custGeom>
                  <a:avLst/>
                  <a:gdLst>
                    <a:gd name="T0" fmla="*/ 107 w 107"/>
                    <a:gd name="T1" fmla="*/ 41 h 239"/>
                    <a:gd name="T2" fmla="*/ 28 w 107"/>
                    <a:gd name="T3" fmla="*/ 239 h 239"/>
                    <a:gd name="T4" fmla="*/ 0 w 107"/>
                    <a:gd name="T5" fmla="*/ 200 h 239"/>
                    <a:gd name="T6" fmla="*/ 78 w 107"/>
                    <a:gd name="T7" fmla="*/ 0 h 239"/>
                    <a:gd name="T8" fmla="*/ 107 w 107"/>
                    <a:gd name="T9" fmla="*/ 41 h 239"/>
                  </a:gdLst>
                  <a:ahLst/>
                  <a:cxnLst>
                    <a:cxn ang="0">
                      <a:pos x="T0" y="T1"/>
                    </a:cxn>
                    <a:cxn ang="0">
                      <a:pos x="T2" y="T3"/>
                    </a:cxn>
                    <a:cxn ang="0">
                      <a:pos x="T4" y="T5"/>
                    </a:cxn>
                    <a:cxn ang="0">
                      <a:pos x="T6" y="T7"/>
                    </a:cxn>
                    <a:cxn ang="0">
                      <a:pos x="T8" y="T9"/>
                    </a:cxn>
                  </a:cxnLst>
                  <a:rect l="0" t="0" r="r" b="b"/>
                  <a:pathLst>
                    <a:path w="107" h="239">
                      <a:moveTo>
                        <a:pt x="107" y="41"/>
                      </a:moveTo>
                      <a:lnTo>
                        <a:pt x="28" y="239"/>
                      </a:lnTo>
                      <a:lnTo>
                        <a:pt x="0" y="200"/>
                      </a:lnTo>
                      <a:lnTo>
                        <a:pt x="78" y="0"/>
                      </a:lnTo>
                      <a:lnTo>
                        <a:pt x="107"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33" name="Freeform 221"/>
                <p:cNvSpPr>
                  <a:spLocks noChangeAspect="1"/>
                </p:cNvSpPr>
                <p:nvPr/>
              </p:nvSpPr>
              <p:spPr bwMode="auto">
                <a:xfrm>
                  <a:off x="509" y="808"/>
                  <a:ext cx="35" cy="79"/>
                </a:xfrm>
                <a:custGeom>
                  <a:avLst/>
                  <a:gdLst>
                    <a:gd name="T0" fmla="*/ 106 w 106"/>
                    <a:gd name="T1" fmla="*/ 40 h 240"/>
                    <a:gd name="T2" fmla="*/ 28 w 106"/>
                    <a:gd name="T3" fmla="*/ 240 h 240"/>
                    <a:gd name="T4" fmla="*/ 0 w 106"/>
                    <a:gd name="T5" fmla="*/ 200 h 240"/>
                    <a:gd name="T6" fmla="*/ 77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8" y="240"/>
                      </a:lnTo>
                      <a:lnTo>
                        <a:pt x="0" y="200"/>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34" name="Freeform 222"/>
                <p:cNvSpPr>
                  <a:spLocks noChangeAspect="1"/>
                </p:cNvSpPr>
                <p:nvPr/>
              </p:nvSpPr>
              <p:spPr bwMode="auto">
                <a:xfrm>
                  <a:off x="504" y="801"/>
                  <a:ext cx="35" cy="80"/>
                </a:xfrm>
                <a:custGeom>
                  <a:avLst/>
                  <a:gdLst>
                    <a:gd name="T0" fmla="*/ 106 w 106"/>
                    <a:gd name="T1" fmla="*/ 40 h 240"/>
                    <a:gd name="T2" fmla="*/ 28 w 106"/>
                    <a:gd name="T3" fmla="*/ 240 h 240"/>
                    <a:gd name="T4" fmla="*/ 0 w 106"/>
                    <a:gd name="T5" fmla="*/ 200 h 240"/>
                    <a:gd name="T6" fmla="*/ 77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8" y="240"/>
                      </a:lnTo>
                      <a:lnTo>
                        <a:pt x="0" y="200"/>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35" name="Freeform 223"/>
                <p:cNvSpPr>
                  <a:spLocks noChangeAspect="1"/>
                </p:cNvSpPr>
                <p:nvPr/>
              </p:nvSpPr>
              <p:spPr bwMode="auto">
                <a:xfrm>
                  <a:off x="499" y="795"/>
                  <a:ext cx="35" cy="79"/>
                </a:xfrm>
                <a:custGeom>
                  <a:avLst/>
                  <a:gdLst>
                    <a:gd name="T0" fmla="*/ 106 w 106"/>
                    <a:gd name="T1" fmla="*/ 39 h 239"/>
                    <a:gd name="T2" fmla="*/ 29 w 106"/>
                    <a:gd name="T3" fmla="*/ 239 h 239"/>
                    <a:gd name="T4" fmla="*/ 0 w 106"/>
                    <a:gd name="T5" fmla="*/ 198 h 239"/>
                    <a:gd name="T6" fmla="*/ 79 w 106"/>
                    <a:gd name="T7" fmla="*/ 0 h 239"/>
                    <a:gd name="T8" fmla="*/ 106 w 106"/>
                    <a:gd name="T9" fmla="*/ 39 h 239"/>
                  </a:gdLst>
                  <a:ahLst/>
                  <a:cxnLst>
                    <a:cxn ang="0">
                      <a:pos x="T0" y="T1"/>
                    </a:cxn>
                    <a:cxn ang="0">
                      <a:pos x="T2" y="T3"/>
                    </a:cxn>
                    <a:cxn ang="0">
                      <a:pos x="T4" y="T5"/>
                    </a:cxn>
                    <a:cxn ang="0">
                      <a:pos x="T6" y="T7"/>
                    </a:cxn>
                    <a:cxn ang="0">
                      <a:pos x="T8" y="T9"/>
                    </a:cxn>
                  </a:cxnLst>
                  <a:rect l="0" t="0" r="r" b="b"/>
                  <a:pathLst>
                    <a:path w="106" h="239">
                      <a:moveTo>
                        <a:pt x="106" y="39"/>
                      </a:moveTo>
                      <a:lnTo>
                        <a:pt x="29" y="239"/>
                      </a:lnTo>
                      <a:lnTo>
                        <a:pt x="0" y="198"/>
                      </a:lnTo>
                      <a:lnTo>
                        <a:pt x="79" y="0"/>
                      </a:lnTo>
                      <a:lnTo>
                        <a:pt x="106"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36" name="Freeform 224"/>
                <p:cNvSpPr>
                  <a:spLocks noChangeAspect="1"/>
                </p:cNvSpPr>
                <p:nvPr/>
              </p:nvSpPr>
              <p:spPr bwMode="auto">
                <a:xfrm>
                  <a:off x="495" y="788"/>
                  <a:ext cx="35" cy="80"/>
                </a:xfrm>
                <a:custGeom>
                  <a:avLst/>
                  <a:gdLst>
                    <a:gd name="T0" fmla="*/ 106 w 106"/>
                    <a:gd name="T1" fmla="*/ 40 h 240"/>
                    <a:gd name="T2" fmla="*/ 29 w 106"/>
                    <a:gd name="T3" fmla="*/ 240 h 240"/>
                    <a:gd name="T4" fmla="*/ 0 w 106"/>
                    <a:gd name="T5" fmla="*/ 200 h 240"/>
                    <a:gd name="T6" fmla="*/ 78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9" y="240"/>
                      </a:lnTo>
                      <a:lnTo>
                        <a:pt x="0" y="200"/>
                      </a:lnTo>
                      <a:lnTo>
                        <a:pt x="78"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37" name="Freeform 225"/>
                <p:cNvSpPr>
                  <a:spLocks noChangeAspect="1"/>
                </p:cNvSpPr>
                <p:nvPr/>
              </p:nvSpPr>
              <p:spPr bwMode="auto">
                <a:xfrm>
                  <a:off x="489" y="781"/>
                  <a:ext cx="36" cy="80"/>
                </a:xfrm>
                <a:custGeom>
                  <a:avLst/>
                  <a:gdLst>
                    <a:gd name="T0" fmla="*/ 108 w 108"/>
                    <a:gd name="T1" fmla="*/ 41 h 239"/>
                    <a:gd name="T2" fmla="*/ 29 w 108"/>
                    <a:gd name="T3" fmla="*/ 239 h 239"/>
                    <a:gd name="T4" fmla="*/ 0 w 108"/>
                    <a:gd name="T5" fmla="*/ 200 h 239"/>
                    <a:gd name="T6" fmla="*/ 79 w 108"/>
                    <a:gd name="T7" fmla="*/ 0 h 239"/>
                    <a:gd name="T8" fmla="*/ 108 w 108"/>
                    <a:gd name="T9" fmla="*/ 41 h 239"/>
                  </a:gdLst>
                  <a:ahLst/>
                  <a:cxnLst>
                    <a:cxn ang="0">
                      <a:pos x="T0" y="T1"/>
                    </a:cxn>
                    <a:cxn ang="0">
                      <a:pos x="T2" y="T3"/>
                    </a:cxn>
                    <a:cxn ang="0">
                      <a:pos x="T4" y="T5"/>
                    </a:cxn>
                    <a:cxn ang="0">
                      <a:pos x="T6" y="T7"/>
                    </a:cxn>
                    <a:cxn ang="0">
                      <a:pos x="T8" y="T9"/>
                    </a:cxn>
                  </a:cxnLst>
                  <a:rect l="0" t="0" r="r" b="b"/>
                  <a:pathLst>
                    <a:path w="108" h="239">
                      <a:moveTo>
                        <a:pt x="108" y="41"/>
                      </a:moveTo>
                      <a:lnTo>
                        <a:pt x="29" y="239"/>
                      </a:lnTo>
                      <a:lnTo>
                        <a:pt x="0" y="200"/>
                      </a:lnTo>
                      <a:lnTo>
                        <a:pt x="79" y="0"/>
                      </a:lnTo>
                      <a:lnTo>
                        <a:pt x="108"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38" name="Freeform 226"/>
                <p:cNvSpPr>
                  <a:spLocks noChangeAspect="1"/>
                </p:cNvSpPr>
                <p:nvPr/>
              </p:nvSpPr>
              <p:spPr bwMode="auto">
                <a:xfrm>
                  <a:off x="484" y="774"/>
                  <a:ext cx="36" cy="80"/>
                </a:xfrm>
                <a:custGeom>
                  <a:avLst/>
                  <a:gdLst>
                    <a:gd name="T0" fmla="*/ 107 w 107"/>
                    <a:gd name="T1" fmla="*/ 40 h 240"/>
                    <a:gd name="T2" fmla="*/ 29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39" name="Freeform 227"/>
                <p:cNvSpPr>
                  <a:spLocks noChangeAspect="1"/>
                </p:cNvSpPr>
                <p:nvPr/>
              </p:nvSpPr>
              <p:spPr bwMode="auto">
                <a:xfrm>
                  <a:off x="479" y="768"/>
                  <a:ext cx="36" cy="80"/>
                </a:xfrm>
                <a:custGeom>
                  <a:avLst/>
                  <a:gdLst>
                    <a:gd name="T0" fmla="*/ 108 w 108"/>
                    <a:gd name="T1" fmla="*/ 40 h 240"/>
                    <a:gd name="T2" fmla="*/ 29 w 108"/>
                    <a:gd name="T3" fmla="*/ 240 h 240"/>
                    <a:gd name="T4" fmla="*/ 0 w 108"/>
                    <a:gd name="T5" fmla="*/ 200 h 240"/>
                    <a:gd name="T6" fmla="*/ 79 w 108"/>
                    <a:gd name="T7" fmla="*/ 0 h 240"/>
                    <a:gd name="T8" fmla="*/ 108 w 108"/>
                    <a:gd name="T9" fmla="*/ 40 h 240"/>
                  </a:gdLst>
                  <a:ahLst/>
                  <a:cxnLst>
                    <a:cxn ang="0">
                      <a:pos x="T0" y="T1"/>
                    </a:cxn>
                    <a:cxn ang="0">
                      <a:pos x="T2" y="T3"/>
                    </a:cxn>
                    <a:cxn ang="0">
                      <a:pos x="T4" y="T5"/>
                    </a:cxn>
                    <a:cxn ang="0">
                      <a:pos x="T6" y="T7"/>
                    </a:cxn>
                    <a:cxn ang="0">
                      <a:pos x="T8" y="T9"/>
                    </a:cxn>
                  </a:cxnLst>
                  <a:rect l="0" t="0" r="r" b="b"/>
                  <a:pathLst>
                    <a:path w="108" h="240">
                      <a:moveTo>
                        <a:pt x="108" y="40"/>
                      </a:moveTo>
                      <a:lnTo>
                        <a:pt x="29" y="240"/>
                      </a:lnTo>
                      <a:lnTo>
                        <a:pt x="0" y="200"/>
                      </a:lnTo>
                      <a:lnTo>
                        <a:pt x="79" y="0"/>
                      </a:lnTo>
                      <a:lnTo>
                        <a:pt x="108"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40" name="Freeform 228"/>
                <p:cNvSpPr>
                  <a:spLocks noChangeAspect="1"/>
                </p:cNvSpPr>
                <p:nvPr/>
              </p:nvSpPr>
              <p:spPr bwMode="auto">
                <a:xfrm>
                  <a:off x="475" y="761"/>
                  <a:ext cx="35" cy="80"/>
                </a:xfrm>
                <a:custGeom>
                  <a:avLst/>
                  <a:gdLst>
                    <a:gd name="T0" fmla="*/ 107 w 107"/>
                    <a:gd name="T1" fmla="*/ 40 h 240"/>
                    <a:gd name="T2" fmla="*/ 29 w 107"/>
                    <a:gd name="T3" fmla="*/ 240 h 240"/>
                    <a:gd name="T4" fmla="*/ 0 w 107"/>
                    <a:gd name="T5" fmla="*/ 199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199"/>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41" name="Freeform 229"/>
                <p:cNvSpPr>
                  <a:spLocks noChangeAspect="1"/>
                </p:cNvSpPr>
                <p:nvPr/>
              </p:nvSpPr>
              <p:spPr bwMode="auto">
                <a:xfrm>
                  <a:off x="470" y="754"/>
                  <a:ext cx="36" cy="80"/>
                </a:xfrm>
                <a:custGeom>
                  <a:avLst/>
                  <a:gdLst>
                    <a:gd name="T0" fmla="*/ 106 w 106"/>
                    <a:gd name="T1" fmla="*/ 40 h 240"/>
                    <a:gd name="T2" fmla="*/ 27 w 106"/>
                    <a:gd name="T3" fmla="*/ 240 h 240"/>
                    <a:gd name="T4" fmla="*/ 0 w 106"/>
                    <a:gd name="T5" fmla="*/ 200 h 240"/>
                    <a:gd name="T6" fmla="*/ 77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7" y="240"/>
                      </a:lnTo>
                      <a:lnTo>
                        <a:pt x="0" y="200"/>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42" name="Freeform 230"/>
                <p:cNvSpPr>
                  <a:spLocks noChangeAspect="1"/>
                </p:cNvSpPr>
                <p:nvPr/>
              </p:nvSpPr>
              <p:spPr bwMode="auto">
                <a:xfrm>
                  <a:off x="465" y="748"/>
                  <a:ext cx="36" cy="79"/>
                </a:xfrm>
                <a:custGeom>
                  <a:avLst/>
                  <a:gdLst>
                    <a:gd name="T0" fmla="*/ 106 w 106"/>
                    <a:gd name="T1" fmla="*/ 40 h 239"/>
                    <a:gd name="T2" fmla="*/ 28 w 106"/>
                    <a:gd name="T3" fmla="*/ 239 h 239"/>
                    <a:gd name="T4" fmla="*/ 0 w 106"/>
                    <a:gd name="T5" fmla="*/ 200 h 239"/>
                    <a:gd name="T6" fmla="*/ 77 w 106"/>
                    <a:gd name="T7" fmla="*/ 0 h 239"/>
                    <a:gd name="T8" fmla="*/ 106 w 106"/>
                    <a:gd name="T9" fmla="*/ 40 h 239"/>
                  </a:gdLst>
                  <a:ahLst/>
                  <a:cxnLst>
                    <a:cxn ang="0">
                      <a:pos x="T0" y="T1"/>
                    </a:cxn>
                    <a:cxn ang="0">
                      <a:pos x="T2" y="T3"/>
                    </a:cxn>
                    <a:cxn ang="0">
                      <a:pos x="T4" y="T5"/>
                    </a:cxn>
                    <a:cxn ang="0">
                      <a:pos x="T6" y="T7"/>
                    </a:cxn>
                    <a:cxn ang="0">
                      <a:pos x="T8" y="T9"/>
                    </a:cxn>
                  </a:cxnLst>
                  <a:rect l="0" t="0" r="r" b="b"/>
                  <a:pathLst>
                    <a:path w="106" h="239">
                      <a:moveTo>
                        <a:pt x="106" y="40"/>
                      </a:moveTo>
                      <a:lnTo>
                        <a:pt x="28" y="239"/>
                      </a:lnTo>
                      <a:lnTo>
                        <a:pt x="0" y="200"/>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43" name="Freeform 231"/>
                <p:cNvSpPr>
                  <a:spLocks noChangeAspect="1"/>
                </p:cNvSpPr>
                <p:nvPr/>
              </p:nvSpPr>
              <p:spPr bwMode="auto">
                <a:xfrm>
                  <a:off x="461" y="741"/>
                  <a:ext cx="35" cy="80"/>
                </a:xfrm>
                <a:custGeom>
                  <a:avLst/>
                  <a:gdLst>
                    <a:gd name="T0" fmla="*/ 106 w 106"/>
                    <a:gd name="T1" fmla="*/ 40 h 240"/>
                    <a:gd name="T2" fmla="*/ 29 w 106"/>
                    <a:gd name="T3" fmla="*/ 240 h 240"/>
                    <a:gd name="T4" fmla="*/ 0 w 106"/>
                    <a:gd name="T5" fmla="*/ 200 h 240"/>
                    <a:gd name="T6" fmla="*/ 78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9" y="240"/>
                      </a:lnTo>
                      <a:lnTo>
                        <a:pt x="0" y="200"/>
                      </a:lnTo>
                      <a:lnTo>
                        <a:pt x="78"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44" name="Freeform 232"/>
                <p:cNvSpPr>
                  <a:spLocks noChangeAspect="1"/>
                </p:cNvSpPr>
                <p:nvPr/>
              </p:nvSpPr>
              <p:spPr bwMode="auto">
                <a:xfrm>
                  <a:off x="456" y="734"/>
                  <a:ext cx="35" cy="80"/>
                </a:xfrm>
                <a:custGeom>
                  <a:avLst/>
                  <a:gdLst>
                    <a:gd name="T0" fmla="*/ 106 w 106"/>
                    <a:gd name="T1" fmla="*/ 40 h 240"/>
                    <a:gd name="T2" fmla="*/ 29 w 106"/>
                    <a:gd name="T3" fmla="*/ 240 h 240"/>
                    <a:gd name="T4" fmla="*/ 0 w 106"/>
                    <a:gd name="T5" fmla="*/ 200 h 240"/>
                    <a:gd name="T6" fmla="*/ 79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9" y="240"/>
                      </a:lnTo>
                      <a:lnTo>
                        <a:pt x="0" y="200"/>
                      </a:lnTo>
                      <a:lnTo>
                        <a:pt x="79"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45" name="Freeform 233"/>
                <p:cNvSpPr>
                  <a:spLocks noChangeAspect="1"/>
                </p:cNvSpPr>
                <p:nvPr/>
              </p:nvSpPr>
              <p:spPr bwMode="auto">
                <a:xfrm>
                  <a:off x="452" y="728"/>
                  <a:ext cx="35" cy="80"/>
                </a:xfrm>
                <a:custGeom>
                  <a:avLst/>
                  <a:gdLst>
                    <a:gd name="T0" fmla="*/ 107 w 107"/>
                    <a:gd name="T1" fmla="*/ 40 h 240"/>
                    <a:gd name="T2" fmla="*/ 29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46" name="Freeform 234"/>
                <p:cNvSpPr>
                  <a:spLocks noChangeAspect="1"/>
                </p:cNvSpPr>
                <p:nvPr/>
              </p:nvSpPr>
              <p:spPr bwMode="auto">
                <a:xfrm>
                  <a:off x="446" y="721"/>
                  <a:ext cx="36" cy="80"/>
                </a:xfrm>
                <a:custGeom>
                  <a:avLst/>
                  <a:gdLst>
                    <a:gd name="T0" fmla="*/ 108 w 108"/>
                    <a:gd name="T1" fmla="*/ 39 h 239"/>
                    <a:gd name="T2" fmla="*/ 29 w 108"/>
                    <a:gd name="T3" fmla="*/ 239 h 239"/>
                    <a:gd name="T4" fmla="*/ 0 w 108"/>
                    <a:gd name="T5" fmla="*/ 198 h 239"/>
                    <a:gd name="T6" fmla="*/ 79 w 108"/>
                    <a:gd name="T7" fmla="*/ 0 h 239"/>
                    <a:gd name="T8" fmla="*/ 108 w 108"/>
                    <a:gd name="T9" fmla="*/ 39 h 239"/>
                  </a:gdLst>
                  <a:ahLst/>
                  <a:cxnLst>
                    <a:cxn ang="0">
                      <a:pos x="T0" y="T1"/>
                    </a:cxn>
                    <a:cxn ang="0">
                      <a:pos x="T2" y="T3"/>
                    </a:cxn>
                    <a:cxn ang="0">
                      <a:pos x="T4" y="T5"/>
                    </a:cxn>
                    <a:cxn ang="0">
                      <a:pos x="T6" y="T7"/>
                    </a:cxn>
                    <a:cxn ang="0">
                      <a:pos x="T8" y="T9"/>
                    </a:cxn>
                  </a:cxnLst>
                  <a:rect l="0" t="0" r="r" b="b"/>
                  <a:pathLst>
                    <a:path w="108" h="239">
                      <a:moveTo>
                        <a:pt x="108" y="39"/>
                      </a:moveTo>
                      <a:lnTo>
                        <a:pt x="29" y="239"/>
                      </a:lnTo>
                      <a:lnTo>
                        <a:pt x="0" y="198"/>
                      </a:lnTo>
                      <a:lnTo>
                        <a:pt x="79" y="0"/>
                      </a:lnTo>
                      <a:lnTo>
                        <a:pt x="108"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47" name="Freeform 235"/>
                <p:cNvSpPr>
                  <a:spLocks noChangeAspect="1"/>
                </p:cNvSpPr>
                <p:nvPr/>
              </p:nvSpPr>
              <p:spPr bwMode="auto">
                <a:xfrm>
                  <a:off x="441" y="714"/>
                  <a:ext cx="36" cy="80"/>
                </a:xfrm>
                <a:custGeom>
                  <a:avLst/>
                  <a:gdLst>
                    <a:gd name="T0" fmla="*/ 107 w 107"/>
                    <a:gd name="T1" fmla="*/ 40 h 240"/>
                    <a:gd name="T2" fmla="*/ 29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48" name="Freeform 236"/>
                <p:cNvSpPr>
                  <a:spLocks noChangeAspect="1"/>
                </p:cNvSpPr>
                <p:nvPr/>
              </p:nvSpPr>
              <p:spPr bwMode="auto">
                <a:xfrm>
                  <a:off x="438" y="708"/>
                  <a:ext cx="35" cy="79"/>
                </a:xfrm>
                <a:custGeom>
                  <a:avLst/>
                  <a:gdLst>
                    <a:gd name="T0" fmla="*/ 107 w 107"/>
                    <a:gd name="T1" fmla="*/ 41 h 239"/>
                    <a:gd name="T2" fmla="*/ 28 w 107"/>
                    <a:gd name="T3" fmla="*/ 239 h 239"/>
                    <a:gd name="T4" fmla="*/ 0 w 107"/>
                    <a:gd name="T5" fmla="*/ 200 h 239"/>
                    <a:gd name="T6" fmla="*/ 78 w 107"/>
                    <a:gd name="T7" fmla="*/ 0 h 239"/>
                    <a:gd name="T8" fmla="*/ 107 w 107"/>
                    <a:gd name="T9" fmla="*/ 41 h 239"/>
                  </a:gdLst>
                  <a:ahLst/>
                  <a:cxnLst>
                    <a:cxn ang="0">
                      <a:pos x="T0" y="T1"/>
                    </a:cxn>
                    <a:cxn ang="0">
                      <a:pos x="T2" y="T3"/>
                    </a:cxn>
                    <a:cxn ang="0">
                      <a:pos x="T4" y="T5"/>
                    </a:cxn>
                    <a:cxn ang="0">
                      <a:pos x="T6" y="T7"/>
                    </a:cxn>
                    <a:cxn ang="0">
                      <a:pos x="T8" y="T9"/>
                    </a:cxn>
                  </a:cxnLst>
                  <a:rect l="0" t="0" r="r" b="b"/>
                  <a:pathLst>
                    <a:path w="107" h="239">
                      <a:moveTo>
                        <a:pt x="107" y="41"/>
                      </a:moveTo>
                      <a:lnTo>
                        <a:pt x="28" y="239"/>
                      </a:lnTo>
                      <a:lnTo>
                        <a:pt x="0" y="200"/>
                      </a:lnTo>
                      <a:lnTo>
                        <a:pt x="78" y="0"/>
                      </a:lnTo>
                      <a:lnTo>
                        <a:pt x="107"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49" name="Freeform 237"/>
                <p:cNvSpPr>
                  <a:spLocks noChangeAspect="1"/>
                </p:cNvSpPr>
                <p:nvPr/>
              </p:nvSpPr>
              <p:spPr bwMode="auto">
                <a:xfrm>
                  <a:off x="432" y="701"/>
                  <a:ext cx="35" cy="80"/>
                </a:xfrm>
                <a:custGeom>
                  <a:avLst/>
                  <a:gdLst>
                    <a:gd name="T0" fmla="*/ 106 w 106"/>
                    <a:gd name="T1" fmla="*/ 40 h 240"/>
                    <a:gd name="T2" fmla="*/ 28 w 106"/>
                    <a:gd name="T3" fmla="*/ 240 h 240"/>
                    <a:gd name="T4" fmla="*/ 0 w 106"/>
                    <a:gd name="T5" fmla="*/ 200 h 240"/>
                    <a:gd name="T6" fmla="*/ 77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8" y="240"/>
                      </a:lnTo>
                      <a:lnTo>
                        <a:pt x="0" y="200"/>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50" name="Freeform 238"/>
                <p:cNvSpPr>
                  <a:spLocks noChangeAspect="1"/>
                </p:cNvSpPr>
                <p:nvPr/>
              </p:nvSpPr>
              <p:spPr bwMode="auto">
                <a:xfrm>
                  <a:off x="427" y="694"/>
                  <a:ext cx="36" cy="80"/>
                </a:xfrm>
                <a:custGeom>
                  <a:avLst/>
                  <a:gdLst>
                    <a:gd name="T0" fmla="*/ 106 w 106"/>
                    <a:gd name="T1" fmla="*/ 40 h 240"/>
                    <a:gd name="T2" fmla="*/ 28 w 106"/>
                    <a:gd name="T3" fmla="*/ 240 h 240"/>
                    <a:gd name="T4" fmla="*/ 0 w 106"/>
                    <a:gd name="T5" fmla="*/ 200 h 240"/>
                    <a:gd name="T6" fmla="*/ 78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8" y="240"/>
                      </a:lnTo>
                      <a:lnTo>
                        <a:pt x="0" y="200"/>
                      </a:lnTo>
                      <a:lnTo>
                        <a:pt x="78"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51" name="Freeform 239"/>
                <p:cNvSpPr>
                  <a:spLocks noChangeAspect="1"/>
                </p:cNvSpPr>
                <p:nvPr/>
              </p:nvSpPr>
              <p:spPr bwMode="auto">
                <a:xfrm>
                  <a:off x="422" y="688"/>
                  <a:ext cx="36" cy="80"/>
                </a:xfrm>
                <a:custGeom>
                  <a:avLst/>
                  <a:gdLst>
                    <a:gd name="T0" fmla="*/ 106 w 106"/>
                    <a:gd name="T1" fmla="*/ 40 h 240"/>
                    <a:gd name="T2" fmla="*/ 29 w 106"/>
                    <a:gd name="T3" fmla="*/ 240 h 240"/>
                    <a:gd name="T4" fmla="*/ 0 w 106"/>
                    <a:gd name="T5" fmla="*/ 199 h 240"/>
                    <a:gd name="T6" fmla="*/ 79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9" y="240"/>
                      </a:lnTo>
                      <a:lnTo>
                        <a:pt x="0" y="199"/>
                      </a:lnTo>
                      <a:lnTo>
                        <a:pt x="79"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52" name="Freeform 240"/>
                <p:cNvSpPr>
                  <a:spLocks noChangeAspect="1"/>
                </p:cNvSpPr>
                <p:nvPr/>
              </p:nvSpPr>
              <p:spPr bwMode="auto">
                <a:xfrm>
                  <a:off x="418" y="681"/>
                  <a:ext cx="35" cy="80"/>
                </a:xfrm>
                <a:custGeom>
                  <a:avLst/>
                  <a:gdLst>
                    <a:gd name="T0" fmla="*/ 107 w 107"/>
                    <a:gd name="T1" fmla="*/ 40 h 240"/>
                    <a:gd name="T2" fmla="*/ 29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53" name="Freeform 241"/>
                <p:cNvSpPr>
                  <a:spLocks noChangeAspect="1"/>
                </p:cNvSpPr>
                <p:nvPr/>
              </p:nvSpPr>
              <p:spPr bwMode="auto">
                <a:xfrm>
                  <a:off x="413" y="674"/>
                  <a:ext cx="36" cy="80"/>
                </a:xfrm>
                <a:custGeom>
                  <a:avLst/>
                  <a:gdLst>
                    <a:gd name="T0" fmla="*/ 108 w 108"/>
                    <a:gd name="T1" fmla="*/ 40 h 239"/>
                    <a:gd name="T2" fmla="*/ 29 w 108"/>
                    <a:gd name="T3" fmla="*/ 239 h 239"/>
                    <a:gd name="T4" fmla="*/ 0 w 108"/>
                    <a:gd name="T5" fmla="*/ 200 h 239"/>
                    <a:gd name="T6" fmla="*/ 79 w 108"/>
                    <a:gd name="T7" fmla="*/ 0 h 239"/>
                    <a:gd name="T8" fmla="*/ 108 w 108"/>
                    <a:gd name="T9" fmla="*/ 40 h 239"/>
                  </a:gdLst>
                  <a:ahLst/>
                  <a:cxnLst>
                    <a:cxn ang="0">
                      <a:pos x="T0" y="T1"/>
                    </a:cxn>
                    <a:cxn ang="0">
                      <a:pos x="T2" y="T3"/>
                    </a:cxn>
                    <a:cxn ang="0">
                      <a:pos x="T4" y="T5"/>
                    </a:cxn>
                    <a:cxn ang="0">
                      <a:pos x="T6" y="T7"/>
                    </a:cxn>
                    <a:cxn ang="0">
                      <a:pos x="T8" y="T9"/>
                    </a:cxn>
                  </a:cxnLst>
                  <a:rect l="0" t="0" r="r" b="b"/>
                  <a:pathLst>
                    <a:path w="108" h="239">
                      <a:moveTo>
                        <a:pt x="108" y="40"/>
                      </a:moveTo>
                      <a:lnTo>
                        <a:pt x="29" y="239"/>
                      </a:lnTo>
                      <a:lnTo>
                        <a:pt x="0" y="200"/>
                      </a:lnTo>
                      <a:lnTo>
                        <a:pt x="79" y="0"/>
                      </a:lnTo>
                      <a:lnTo>
                        <a:pt x="108"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54" name="Freeform 242"/>
                <p:cNvSpPr>
                  <a:spLocks noChangeAspect="1"/>
                </p:cNvSpPr>
                <p:nvPr/>
              </p:nvSpPr>
              <p:spPr bwMode="auto">
                <a:xfrm>
                  <a:off x="408" y="668"/>
                  <a:ext cx="36" cy="80"/>
                </a:xfrm>
                <a:custGeom>
                  <a:avLst/>
                  <a:gdLst>
                    <a:gd name="T0" fmla="*/ 107 w 107"/>
                    <a:gd name="T1" fmla="*/ 40 h 240"/>
                    <a:gd name="T2" fmla="*/ 29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55" name="Freeform 243"/>
                <p:cNvSpPr>
                  <a:spLocks noChangeAspect="1"/>
                </p:cNvSpPr>
                <p:nvPr/>
              </p:nvSpPr>
              <p:spPr bwMode="auto">
                <a:xfrm>
                  <a:off x="403" y="661"/>
                  <a:ext cx="36" cy="80"/>
                </a:xfrm>
                <a:custGeom>
                  <a:avLst/>
                  <a:gdLst>
                    <a:gd name="T0" fmla="*/ 108 w 108"/>
                    <a:gd name="T1" fmla="*/ 40 h 240"/>
                    <a:gd name="T2" fmla="*/ 29 w 108"/>
                    <a:gd name="T3" fmla="*/ 240 h 240"/>
                    <a:gd name="T4" fmla="*/ 0 w 108"/>
                    <a:gd name="T5" fmla="*/ 200 h 240"/>
                    <a:gd name="T6" fmla="*/ 79 w 108"/>
                    <a:gd name="T7" fmla="*/ 0 h 240"/>
                    <a:gd name="T8" fmla="*/ 108 w 108"/>
                    <a:gd name="T9" fmla="*/ 40 h 240"/>
                  </a:gdLst>
                  <a:ahLst/>
                  <a:cxnLst>
                    <a:cxn ang="0">
                      <a:pos x="T0" y="T1"/>
                    </a:cxn>
                    <a:cxn ang="0">
                      <a:pos x="T2" y="T3"/>
                    </a:cxn>
                    <a:cxn ang="0">
                      <a:pos x="T4" y="T5"/>
                    </a:cxn>
                    <a:cxn ang="0">
                      <a:pos x="T6" y="T7"/>
                    </a:cxn>
                    <a:cxn ang="0">
                      <a:pos x="T8" y="T9"/>
                    </a:cxn>
                  </a:cxnLst>
                  <a:rect l="0" t="0" r="r" b="b"/>
                  <a:pathLst>
                    <a:path w="108" h="240">
                      <a:moveTo>
                        <a:pt x="108" y="40"/>
                      </a:moveTo>
                      <a:lnTo>
                        <a:pt x="29" y="240"/>
                      </a:lnTo>
                      <a:lnTo>
                        <a:pt x="0" y="200"/>
                      </a:lnTo>
                      <a:lnTo>
                        <a:pt x="79" y="0"/>
                      </a:lnTo>
                      <a:lnTo>
                        <a:pt x="108"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56" name="Freeform 244"/>
                <p:cNvSpPr>
                  <a:spLocks noChangeAspect="1"/>
                </p:cNvSpPr>
                <p:nvPr/>
              </p:nvSpPr>
              <p:spPr bwMode="auto">
                <a:xfrm>
                  <a:off x="399" y="655"/>
                  <a:ext cx="35" cy="79"/>
                </a:xfrm>
                <a:custGeom>
                  <a:avLst/>
                  <a:gdLst>
                    <a:gd name="T0" fmla="*/ 106 w 106"/>
                    <a:gd name="T1" fmla="*/ 40 h 240"/>
                    <a:gd name="T2" fmla="*/ 28 w 106"/>
                    <a:gd name="T3" fmla="*/ 240 h 240"/>
                    <a:gd name="T4" fmla="*/ 0 w 106"/>
                    <a:gd name="T5" fmla="*/ 199 h 240"/>
                    <a:gd name="T6" fmla="*/ 77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8" y="240"/>
                      </a:lnTo>
                      <a:lnTo>
                        <a:pt x="0" y="199"/>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57" name="Freeform 245"/>
                <p:cNvSpPr>
                  <a:spLocks noChangeAspect="1"/>
                </p:cNvSpPr>
                <p:nvPr/>
              </p:nvSpPr>
              <p:spPr bwMode="auto">
                <a:xfrm>
                  <a:off x="394" y="648"/>
                  <a:ext cx="35" cy="80"/>
                </a:xfrm>
                <a:custGeom>
                  <a:avLst/>
                  <a:gdLst>
                    <a:gd name="T0" fmla="*/ 107 w 107"/>
                    <a:gd name="T1" fmla="*/ 40 h 240"/>
                    <a:gd name="T2" fmla="*/ 28 w 107"/>
                    <a:gd name="T3" fmla="*/ 240 h 240"/>
                    <a:gd name="T4" fmla="*/ 0 w 107"/>
                    <a:gd name="T5" fmla="*/ 199 h 240"/>
                    <a:gd name="T6" fmla="*/ 79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8" y="240"/>
                      </a:lnTo>
                      <a:lnTo>
                        <a:pt x="0" y="199"/>
                      </a:lnTo>
                      <a:lnTo>
                        <a:pt x="79"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58" name="Freeform 246"/>
                <p:cNvSpPr>
                  <a:spLocks noChangeAspect="1"/>
                </p:cNvSpPr>
                <p:nvPr/>
              </p:nvSpPr>
              <p:spPr bwMode="auto">
                <a:xfrm>
                  <a:off x="389" y="642"/>
                  <a:ext cx="35" cy="79"/>
                </a:xfrm>
                <a:custGeom>
                  <a:avLst/>
                  <a:gdLst>
                    <a:gd name="T0" fmla="*/ 106 w 106"/>
                    <a:gd name="T1" fmla="*/ 40 h 239"/>
                    <a:gd name="T2" fmla="*/ 29 w 106"/>
                    <a:gd name="T3" fmla="*/ 239 h 239"/>
                    <a:gd name="T4" fmla="*/ 0 w 106"/>
                    <a:gd name="T5" fmla="*/ 200 h 239"/>
                    <a:gd name="T6" fmla="*/ 78 w 106"/>
                    <a:gd name="T7" fmla="*/ 0 h 239"/>
                    <a:gd name="T8" fmla="*/ 106 w 106"/>
                    <a:gd name="T9" fmla="*/ 40 h 239"/>
                  </a:gdLst>
                  <a:ahLst/>
                  <a:cxnLst>
                    <a:cxn ang="0">
                      <a:pos x="T0" y="T1"/>
                    </a:cxn>
                    <a:cxn ang="0">
                      <a:pos x="T2" y="T3"/>
                    </a:cxn>
                    <a:cxn ang="0">
                      <a:pos x="T4" y="T5"/>
                    </a:cxn>
                    <a:cxn ang="0">
                      <a:pos x="T6" y="T7"/>
                    </a:cxn>
                    <a:cxn ang="0">
                      <a:pos x="T8" y="T9"/>
                    </a:cxn>
                  </a:cxnLst>
                  <a:rect l="0" t="0" r="r" b="b"/>
                  <a:pathLst>
                    <a:path w="106" h="239">
                      <a:moveTo>
                        <a:pt x="106" y="40"/>
                      </a:moveTo>
                      <a:lnTo>
                        <a:pt x="29" y="239"/>
                      </a:lnTo>
                      <a:lnTo>
                        <a:pt x="0" y="200"/>
                      </a:lnTo>
                      <a:lnTo>
                        <a:pt x="78"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59" name="Freeform 247"/>
                <p:cNvSpPr>
                  <a:spLocks noChangeAspect="1"/>
                </p:cNvSpPr>
                <p:nvPr/>
              </p:nvSpPr>
              <p:spPr bwMode="auto">
                <a:xfrm>
                  <a:off x="384" y="635"/>
                  <a:ext cx="36" cy="79"/>
                </a:xfrm>
                <a:custGeom>
                  <a:avLst/>
                  <a:gdLst>
                    <a:gd name="T0" fmla="*/ 107 w 107"/>
                    <a:gd name="T1" fmla="*/ 40 h 239"/>
                    <a:gd name="T2" fmla="*/ 28 w 107"/>
                    <a:gd name="T3" fmla="*/ 239 h 239"/>
                    <a:gd name="T4" fmla="*/ 0 w 107"/>
                    <a:gd name="T5" fmla="*/ 200 h 239"/>
                    <a:gd name="T6" fmla="*/ 78 w 107"/>
                    <a:gd name="T7" fmla="*/ 0 h 239"/>
                    <a:gd name="T8" fmla="*/ 107 w 107"/>
                    <a:gd name="T9" fmla="*/ 40 h 239"/>
                  </a:gdLst>
                  <a:ahLst/>
                  <a:cxnLst>
                    <a:cxn ang="0">
                      <a:pos x="T0" y="T1"/>
                    </a:cxn>
                    <a:cxn ang="0">
                      <a:pos x="T2" y="T3"/>
                    </a:cxn>
                    <a:cxn ang="0">
                      <a:pos x="T4" y="T5"/>
                    </a:cxn>
                    <a:cxn ang="0">
                      <a:pos x="T6" y="T7"/>
                    </a:cxn>
                    <a:cxn ang="0">
                      <a:pos x="T8" y="T9"/>
                    </a:cxn>
                  </a:cxnLst>
                  <a:rect l="0" t="0" r="r" b="b"/>
                  <a:pathLst>
                    <a:path w="107" h="239">
                      <a:moveTo>
                        <a:pt x="107" y="40"/>
                      </a:moveTo>
                      <a:lnTo>
                        <a:pt x="28" y="239"/>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60" name="Freeform 248"/>
                <p:cNvSpPr>
                  <a:spLocks noChangeAspect="1"/>
                </p:cNvSpPr>
                <p:nvPr/>
              </p:nvSpPr>
              <p:spPr bwMode="auto">
                <a:xfrm>
                  <a:off x="379" y="629"/>
                  <a:ext cx="36" cy="79"/>
                </a:xfrm>
                <a:custGeom>
                  <a:avLst/>
                  <a:gdLst>
                    <a:gd name="T0" fmla="*/ 107 w 107"/>
                    <a:gd name="T1" fmla="*/ 40 h 240"/>
                    <a:gd name="T2" fmla="*/ 29 w 107"/>
                    <a:gd name="T3" fmla="*/ 240 h 240"/>
                    <a:gd name="T4" fmla="*/ 0 w 107"/>
                    <a:gd name="T5" fmla="*/ 200 h 240"/>
                    <a:gd name="T6" fmla="*/ 79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9"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61" name="Freeform 249"/>
                <p:cNvSpPr>
                  <a:spLocks noChangeAspect="1"/>
                </p:cNvSpPr>
                <p:nvPr/>
              </p:nvSpPr>
              <p:spPr bwMode="auto">
                <a:xfrm>
                  <a:off x="375" y="622"/>
                  <a:ext cx="35" cy="79"/>
                </a:xfrm>
                <a:custGeom>
                  <a:avLst/>
                  <a:gdLst>
                    <a:gd name="T0" fmla="*/ 107 w 107"/>
                    <a:gd name="T1" fmla="*/ 40 h 240"/>
                    <a:gd name="T2" fmla="*/ 29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62" name="Freeform 250"/>
                <p:cNvSpPr>
                  <a:spLocks noChangeAspect="1"/>
                </p:cNvSpPr>
                <p:nvPr/>
              </p:nvSpPr>
              <p:spPr bwMode="auto">
                <a:xfrm>
                  <a:off x="370" y="614"/>
                  <a:ext cx="36" cy="79"/>
                </a:xfrm>
                <a:custGeom>
                  <a:avLst/>
                  <a:gdLst>
                    <a:gd name="T0" fmla="*/ 108 w 108"/>
                    <a:gd name="T1" fmla="*/ 41 h 241"/>
                    <a:gd name="T2" fmla="*/ 29 w 108"/>
                    <a:gd name="T3" fmla="*/ 241 h 241"/>
                    <a:gd name="T4" fmla="*/ 0 w 108"/>
                    <a:gd name="T5" fmla="*/ 200 h 241"/>
                    <a:gd name="T6" fmla="*/ 79 w 108"/>
                    <a:gd name="T7" fmla="*/ 0 h 241"/>
                    <a:gd name="T8" fmla="*/ 108 w 108"/>
                    <a:gd name="T9" fmla="*/ 41 h 241"/>
                  </a:gdLst>
                  <a:ahLst/>
                  <a:cxnLst>
                    <a:cxn ang="0">
                      <a:pos x="T0" y="T1"/>
                    </a:cxn>
                    <a:cxn ang="0">
                      <a:pos x="T2" y="T3"/>
                    </a:cxn>
                    <a:cxn ang="0">
                      <a:pos x="T4" y="T5"/>
                    </a:cxn>
                    <a:cxn ang="0">
                      <a:pos x="T6" y="T7"/>
                    </a:cxn>
                    <a:cxn ang="0">
                      <a:pos x="T8" y="T9"/>
                    </a:cxn>
                  </a:cxnLst>
                  <a:rect l="0" t="0" r="r" b="b"/>
                  <a:pathLst>
                    <a:path w="108" h="241">
                      <a:moveTo>
                        <a:pt x="108" y="41"/>
                      </a:moveTo>
                      <a:lnTo>
                        <a:pt x="29" y="241"/>
                      </a:lnTo>
                      <a:lnTo>
                        <a:pt x="0" y="200"/>
                      </a:lnTo>
                      <a:lnTo>
                        <a:pt x="79" y="0"/>
                      </a:lnTo>
                      <a:lnTo>
                        <a:pt x="108"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63" name="Freeform 251"/>
                <p:cNvSpPr>
                  <a:spLocks noChangeAspect="1"/>
                </p:cNvSpPr>
                <p:nvPr/>
              </p:nvSpPr>
              <p:spPr bwMode="auto">
                <a:xfrm>
                  <a:off x="365" y="609"/>
                  <a:ext cx="36" cy="79"/>
                </a:xfrm>
                <a:custGeom>
                  <a:avLst/>
                  <a:gdLst>
                    <a:gd name="T0" fmla="*/ 106 w 106"/>
                    <a:gd name="T1" fmla="*/ 40 h 240"/>
                    <a:gd name="T2" fmla="*/ 28 w 106"/>
                    <a:gd name="T3" fmla="*/ 240 h 240"/>
                    <a:gd name="T4" fmla="*/ 0 w 106"/>
                    <a:gd name="T5" fmla="*/ 200 h 240"/>
                    <a:gd name="T6" fmla="*/ 77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8" y="240"/>
                      </a:lnTo>
                      <a:lnTo>
                        <a:pt x="0" y="200"/>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64" name="Freeform 252"/>
                <p:cNvSpPr>
                  <a:spLocks noChangeAspect="1"/>
                </p:cNvSpPr>
                <p:nvPr/>
              </p:nvSpPr>
              <p:spPr bwMode="auto">
                <a:xfrm>
                  <a:off x="360" y="601"/>
                  <a:ext cx="36" cy="79"/>
                </a:xfrm>
                <a:custGeom>
                  <a:avLst/>
                  <a:gdLst>
                    <a:gd name="T0" fmla="*/ 107 w 107"/>
                    <a:gd name="T1" fmla="*/ 39 h 239"/>
                    <a:gd name="T2" fmla="*/ 28 w 107"/>
                    <a:gd name="T3" fmla="*/ 239 h 239"/>
                    <a:gd name="T4" fmla="*/ 0 w 107"/>
                    <a:gd name="T5" fmla="*/ 200 h 239"/>
                    <a:gd name="T6" fmla="*/ 78 w 107"/>
                    <a:gd name="T7" fmla="*/ 0 h 239"/>
                    <a:gd name="T8" fmla="*/ 107 w 107"/>
                    <a:gd name="T9" fmla="*/ 39 h 239"/>
                  </a:gdLst>
                  <a:ahLst/>
                  <a:cxnLst>
                    <a:cxn ang="0">
                      <a:pos x="T0" y="T1"/>
                    </a:cxn>
                    <a:cxn ang="0">
                      <a:pos x="T2" y="T3"/>
                    </a:cxn>
                    <a:cxn ang="0">
                      <a:pos x="T4" y="T5"/>
                    </a:cxn>
                    <a:cxn ang="0">
                      <a:pos x="T6" y="T7"/>
                    </a:cxn>
                    <a:cxn ang="0">
                      <a:pos x="T8" y="T9"/>
                    </a:cxn>
                  </a:cxnLst>
                  <a:rect l="0" t="0" r="r" b="b"/>
                  <a:pathLst>
                    <a:path w="107" h="239">
                      <a:moveTo>
                        <a:pt x="107" y="39"/>
                      </a:moveTo>
                      <a:lnTo>
                        <a:pt x="28" y="239"/>
                      </a:lnTo>
                      <a:lnTo>
                        <a:pt x="0" y="200"/>
                      </a:lnTo>
                      <a:lnTo>
                        <a:pt x="78" y="0"/>
                      </a:lnTo>
                      <a:lnTo>
                        <a:pt x="107"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65" name="Freeform 253"/>
                <p:cNvSpPr>
                  <a:spLocks noChangeAspect="1"/>
                </p:cNvSpPr>
                <p:nvPr/>
              </p:nvSpPr>
              <p:spPr bwMode="auto">
                <a:xfrm>
                  <a:off x="356" y="596"/>
                  <a:ext cx="35" cy="78"/>
                </a:xfrm>
                <a:custGeom>
                  <a:avLst/>
                  <a:gdLst>
                    <a:gd name="T0" fmla="*/ 106 w 106"/>
                    <a:gd name="T1" fmla="*/ 39 h 239"/>
                    <a:gd name="T2" fmla="*/ 29 w 106"/>
                    <a:gd name="T3" fmla="*/ 239 h 239"/>
                    <a:gd name="T4" fmla="*/ 0 w 106"/>
                    <a:gd name="T5" fmla="*/ 199 h 239"/>
                    <a:gd name="T6" fmla="*/ 78 w 106"/>
                    <a:gd name="T7" fmla="*/ 0 h 239"/>
                    <a:gd name="T8" fmla="*/ 78 w 106"/>
                    <a:gd name="T9" fmla="*/ 0 h 239"/>
                    <a:gd name="T10" fmla="*/ 78 w 106"/>
                    <a:gd name="T11" fmla="*/ 0 h 239"/>
                    <a:gd name="T12" fmla="*/ 78 w 106"/>
                    <a:gd name="T13" fmla="*/ 0 h 239"/>
                    <a:gd name="T14" fmla="*/ 78 w 106"/>
                    <a:gd name="T15" fmla="*/ 0 h 239"/>
                    <a:gd name="T16" fmla="*/ 78 w 106"/>
                    <a:gd name="T17" fmla="*/ 0 h 239"/>
                    <a:gd name="T18" fmla="*/ 79 w 106"/>
                    <a:gd name="T19" fmla="*/ 0 h 239"/>
                    <a:gd name="T20" fmla="*/ 79 w 106"/>
                    <a:gd name="T21" fmla="*/ 0 h 239"/>
                    <a:gd name="T22" fmla="*/ 79 w 106"/>
                    <a:gd name="T23" fmla="*/ 0 h 239"/>
                    <a:gd name="T24" fmla="*/ 79 w 106"/>
                    <a:gd name="T25" fmla="*/ 0 h 239"/>
                    <a:gd name="T26" fmla="*/ 82 w 106"/>
                    <a:gd name="T27" fmla="*/ 4 h 239"/>
                    <a:gd name="T28" fmla="*/ 83 w 106"/>
                    <a:gd name="T29" fmla="*/ 5 h 239"/>
                    <a:gd name="T30" fmla="*/ 84 w 106"/>
                    <a:gd name="T31" fmla="*/ 6 h 239"/>
                    <a:gd name="T32" fmla="*/ 85 w 106"/>
                    <a:gd name="T33" fmla="*/ 8 h 239"/>
                    <a:gd name="T34" fmla="*/ 86 w 106"/>
                    <a:gd name="T35" fmla="*/ 10 h 239"/>
                    <a:gd name="T36" fmla="*/ 87 w 106"/>
                    <a:gd name="T37" fmla="*/ 11 h 239"/>
                    <a:gd name="T38" fmla="*/ 87 w 106"/>
                    <a:gd name="T39" fmla="*/ 12 h 239"/>
                    <a:gd name="T40" fmla="*/ 88 w 106"/>
                    <a:gd name="T41" fmla="*/ 14 h 239"/>
                    <a:gd name="T42" fmla="*/ 89 w 106"/>
                    <a:gd name="T43" fmla="*/ 15 h 239"/>
                    <a:gd name="T44" fmla="*/ 106 w 106"/>
                    <a:gd name="T45" fmla="*/ 3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39">
                      <a:moveTo>
                        <a:pt x="106" y="39"/>
                      </a:moveTo>
                      <a:lnTo>
                        <a:pt x="29" y="239"/>
                      </a:lnTo>
                      <a:lnTo>
                        <a:pt x="0" y="199"/>
                      </a:lnTo>
                      <a:lnTo>
                        <a:pt x="78" y="0"/>
                      </a:lnTo>
                      <a:lnTo>
                        <a:pt x="78" y="0"/>
                      </a:lnTo>
                      <a:lnTo>
                        <a:pt x="78" y="0"/>
                      </a:lnTo>
                      <a:lnTo>
                        <a:pt x="78" y="0"/>
                      </a:lnTo>
                      <a:lnTo>
                        <a:pt x="78" y="0"/>
                      </a:lnTo>
                      <a:lnTo>
                        <a:pt x="78" y="0"/>
                      </a:lnTo>
                      <a:lnTo>
                        <a:pt x="79" y="0"/>
                      </a:lnTo>
                      <a:lnTo>
                        <a:pt x="79" y="0"/>
                      </a:lnTo>
                      <a:lnTo>
                        <a:pt x="79" y="0"/>
                      </a:lnTo>
                      <a:lnTo>
                        <a:pt x="79" y="0"/>
                      </a:lnTo>
                      <a:lnTo>
                        <a:pt x="82" y="4"/>
                      </a:lnTo>
                      <a:lnTo>
                        <a:pt x="83" y="5"/>
                      </a:lnTo>
                      <a:lnTo>
                        <a:pt x="84" y="6"/>
                      </a:lnTo>
                      <a:lnTo>
                        <a:pt x="85" y="8"/>
                      </a:lnTo>
                      <a:lnTo>
                        <a:pt x="86" y="10"/>
                      </a:lnTo>
                      <a:lnTo>
                        <a:pt x="87" y="11"/>
                      </a:lnTo>
                      <a:lnTo>
                        <a:pt x="87" y="12"/>
                      </a:lnTo>
                      <a:lnTo>
                        <a:pt x="88" y="14"/>
                      </a:lnTo>
                      <a:lnTo>
                        <a:pt x="89" y="15"/>
                      </a:lnTo>
                      <a:lnTo>
                        <a:pt x="106"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66" name="Freeform 254"/>
                <p:cNvSpPr>
                  <a:spLocks noChangeAspect="1"/>
                </p:cNvSpPr>
                <p:nvPr/>
              </p:nvSpPr>
              <p:spPr bwMode="auto">
                <a:xfrm>
                  <a:off x="351" y="590"/>
                  <a:ext cx="35" cy="78"/>
                </a:xfrm>
                <a:custGeom>
                  <a:avLst/>
                  <a:gdLst>
                    <a:gd name="T0" fmla="*/ 107 w 107"/>
                    <a:gd name="T1" fmla="*/ 33 h 233"/>
                    <a:gd name="T2" fmla="*/ 29 w 107"/>
                    <a:gd name="T3" fmla="*/ 233 h 233"/>
                    <a:gd name="T4" fmla="*/ 0 w 107"/>
                    <a:gd name="T5" fmla="*/ 193 h 233"/>
                    <a:gd name="T6" fmla="*/ 76 w 107"/>
                    <a:gd name="T7" fmla="*/ 0 h 233"/>
                    <a:gd name="T8" fmla="*/ 78 w 107"/>
                    <a:gd name="T9" fmla="*/ 2 h 233"/>
                    <a:gd name="T10" fmla="*/ 81 w 107"/>
                    <a:gd name="T11" fmla="*/ 3 h 233"/>
                    <a:gd name="T12" fmla="*/ 83 w 107"/>
                    <a:gd name="T13" fmla="*/ 5 h 233"/>
                    <a:gd name="T14" fmla="*/ 85 w 107"/>
                    <a:gd name="T15" fmla="*/ 7 h 233"/>
                    <a:gd name="T16" fmla="*/ 87 w 107"/>
                    <a:gd name="T17" fmla="*/ 9 h 233"/>
                    <a:gd name="T18" fmla="*/ 89 w 107"/>
                    <a:gd name="T19" fmla="*/ 11 h 233"/>
                    <a:gd name="T20" fmla="*/ 92 w 107"/>
                    <a:gd name="T21" fmla="*/ 13 h 233"/>
                    <a:gd name="T22" fmla="*/ 94 w 107"/>
                    <a:gd name="T23" fmla="*/ 14 h 233"/>
                    <a:gd name="T24" fmla="*/ 94 w 107"/>
                    <a:gd name="T25" fmla="*/ 14 h 233"/>
                    <a:gd name="T26" fmla="*/ 97 w 107"/>
                    <a:gd name="T27" fmla="*/ 18 h 233"/>
                    <a:gd name="T28" fmla="*/ 98 w 107"/>
                    <a:gd name="T29" fmla="*/ 19 h 233"/>
                    <a:gd name="T30" fmla="*/ 99 w 107"/>
                    <a:gd name="T31" fmla="*/ 20 h 233"/>
                    <a:gd name="T32" fmla="*/ 100 w 107"/>
                    <a:gd name="T33" fmla="*/ 22 h 233"/>
                    <a:gd name="T34" fmla="*/ 101 w 107"/>
                    <a:gd name="T35" fmla="*/ 24 h 233"/>
                    <a:gd name="T36" fmla="*/ 102 w 107"/>
                    <a:gd name="T37" fmla="*/ 25 h 233"/>
                    <a:gd name="T38" fmla="*/ 102 w 107"/>
                    <a:gd name="T39" fmla="*/ 26 h 233"/>
                    <a:gd name="T40" fmla="*/ 103 w 107"/>
                    <a:gd name="T41" fmla="*/ 28 h 233"/>
                    <a:gd name="T42" fmla="*/ 104 w 107"/>
                    <a:gd name="T43" fmla="*/ 29 h 233"/>
                    <a:gd name="T44" fmla="*/ 107 w 107"/>
                    <a:gd name="T45" fmla="*/ 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7" h="233">
                      <a:moveTo>
                        <a:pt x="107" y="33"/>
                      </a:moveTo>
                      <a:lnTo>
                        <a:pt x="29" y="233"/>
                      </a:lnTo>
                      <a:lnTo>
                        <a:pt x="0" y="193"/>
                      </a:lnTo>
                      <a:lnTo>
                        <a:pt x="76" y="0"/>
                      </a:lnTo>
                      <a:lnTo>
                        <a:pt x="78" y="2"/>
                      </a:lnTo>
                      <a:lnTo>
                        <a:pt x="81" y="3"/>
                      </a:lnTo>
                      <a:lnTo>
                        <a:pt x="83" y="5"/>
                      </a:lnTo>
                      <a:lnTo>
                        <a:pt x="85" y="7"/>
                      </a:lnTo>
                      <a:lnTo>
                        <a:pt x="87" y="9"/>
                      </a:lnTo>
                      <a:lnTo>
                        <a:pt x="89" y="11"/>
                      </a:lnTo>
                      <a:lnTo>
                        <a:pt x="92" y="13"/>
                      </a:lnTo>
                      <a:lnTo>
                        <a:pt x="94" y="14"/>
                      </a:lnTo>
                      <a:lnTo>
                        <a:pt x="94" y="14"/>
                      </a:lnTo>
                      <a:lnTo>
                        <a:pt x="97" y="18"/>
                      </a:lnTo>
                      <a:lnTo>
                        <a:pt x="98" y="19"/>
                      </a:lnTo>
                      <a:lnTo>
                        <a:pt x="99" y="20"/>
                      </a:lnTo>
                      <a:lnTo>
                        <a:pt x="100" y="22"/>
                      </a:lnTo>
                      <a:lnTo>
                        <a:pt x="101" y="24"/>
                      </a:lnTo>
                      <a:lnTo>
                        <a:pt x="102" y="25"/>
                      </a:lnTo>
                      <a:lnTo>
                        <a:pt x="102" y="26"/>
                      </a:lnTo>
                      <a:lnTo>
                        <a:pt x="103" y="28"/>
                      </a:lnTo>
                      <a:lnTo>
                        <a:pt x="104" y="29"/>
                      </a:lnTo>
                      <a:lnTo>
                        <a:pt x="107" y="3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67" name="Freeform 255"/>
                <p:cNvSpPr>
                  <a:spLocks noChangeAspect="1"/>
                </p:cNvSpPr>
                <p:nvPr/>
              </p:nvSpPr>
              <p:spPr bwMode="auto">
                <a:xfrm>
                  <a:off x="346" y="587"/>
                  <a:ext cx="36" cy="73"/>
                </a:xfrm>
                <a:custGeom>
                  <a:avLst/>
                  <a:gdLst>
                    <a:gd name="T0" fmla="*/ 107 w 107"/>
                    <a:gd name="T1" fmla="*/ 22 h 221"/>
                    <a:gd name="T2" fmla="*/ 29 w 107"/>
                    <a:gd name="T3" fmla="*/ 221 h 221"/>
                    <a:gd name="T4" fmla="*/ 0 w 107"/>
                    <a:gd name="T5" fmla="*/ 180 h 221"/>
                    <a:gd name="T6" fmla="*/ 70 w 107"/>
                    <a:gd name="T7" fmla="*/ 0 h 221"/>
                    <a:gd name="T8" fmla="*/ 71 w 107"/>
                    <a:gd name="T9" fmla="*/ 1 h 221"/>
                    <a:gd name="T10" fmla="*/ 73 w 107"/>
                    <a:gd name="T11" fmla="*/ 1 h 221"/>
                    <a:gd name="T12" fmla="*/ 74 w 107"/>
                    <a:gd name="T13" fmla="*/ 1 h 221"/>
                    <a:gd name="T14" fmla="*/ 75 w 107"/>
                    <a:gd name="T15" fmla="*/ 1 h 221"/>
                    <a:gd name="T16" fmla="*/ 75 w 107"/>
                    <a:gd name="T17" fmla="*/ 2 h 221"/>
                    <a:gd name="T18" fmla="*/ 76 w 107"/>
                    <a:gd name="T19" fmla="*/ 2 h 221"/>
                    <a:gd name="T20" fmla="*/ 77 w 107"/>
                    <a:gd name="T21" fmla="*/ 2 h 221"/>
                    <a:gd name="T22" fmla="*/ 78 w 107"/>
                    <a:gd name="T23" fmla="*/ 3 h 221"/>
                    <a:gd name="T24" fmla="*/ 82 w 107"/>
                    <a:gd name="T25" fmla="*/ 4 h 221"/>
                    <a:gd name="T26" fmla="*/ 85 w 107"/>
                    <a:gd name="T27" fmla="*/ 6 h 221"/>
                    <a:gd name="T28" fmla="*/ 90 w 107"/>
                    <a:gd name="T29" fmla="*/ 8 h 221"/>
                    <a:gd name="T30" fmla="*/ 94 w 107"/>
                    <a:gd name="T31" fmla="*/ 10 h 221"/>
                    <a:gd name="T32" fmla="*/ 97 w 107"/>
                    <a:gd name="T33" fmla="*/ 13 h 221"/>
                    <a:gd name="T34" fmla="*/ 100 w 107"/>
                    <a:gd name="T35" fmla="*/ 16 h 221"/>
                    <a:gd name="T36" fmla="*/ 103 w 107"/>
                    <a:gd name="T37" fmla="*/ 19 h 221"/>
                    <a:gd name="T38" fmla="*/ 107 w 107"/>
                    <a:gd name="T39" fmla="*/ 22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7" h="221">
                      <a:moveTo>
                        <a:pt x="107" y="22"/>
                      </a:moveTo>
                      <a:lnTo>
                        <a:pt x="29" y="221"/>
                      </a:lnTo>
                      <a:lnTo>
                        <a:pt x="0" y="180"/>
                      </a:lnTo>
                      <a:lnTo>
                        <a:pt x="70" y="0"/>
                      </a:lnTo>
                      <a:lnTo>
                        <a:pt x="71" y="1"/>
                      </a:lnTo>
                      <a:lnTo>
                        <a:pt x="73" y="1"/>
                      </a:lnTo>
                      <a:lnTo>
                        <a:pt x="74" y="1"/>
                      </a:lnTo>
                      <a:lnTo>
                        <a:pt x="75" y="1"/>
                      </a:lnTo>
                      <a:lnTo>
                        <a:pt x="75" y="2"/>
                      </a:lnTo>
                      <a:lnTo>
                        <a:pt x="76" y="2"/>
                      </a:lnTo>
                      <a:lnTo>
                        <a:pt x="77" y="2"/>
                      </a:lnTo>
                      <a:lnTo>
                        <a:pt x="78" y="3"/>
                      </a:lnTo>
                      <a:lnTo>
                        <a:pt x="82" y="4"/>
                      </a:lnTo>
                      <a:lnTo>
                        <a:pt x="85" y="6"/>
                      </a:lnTo>
                      <a:lnTo>
                        <a:pt x="90" y="8"/>
                      </a:lnTo>
                      <a:lnTo>
                        <a:pt x="94" y="10"/>
                      </a:lnTo>
                      <a:lnTo>
                        <a:pt x="97" y="13"/>
                      </a:lnTo>
                      <a:lnTo>
                        <a:pt x="100" y="16"/>
                      </a:lnTo>
                      <a:lnTo>
                        <a:pt x="103" y="19"/>
                      </a:lnTo>
                      <a:lnTo>
                        <a:pt x="107" y="2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68" name="Freeform 256"/>
                <p:cNvSpPr>
                  <a:spLocks noChangeAspect="1"/>
                </p:cNvSpPr>
                <p:nvPr/>
              </p:nvSpPr>
              <p:spPr bwMode="auto">
                <a:xfrm>
                  <a:off x="341" y="586"/>
                  <a:ext cx="35" cy="69"/>
                </a:xfrm>
                <a:custGeom>
                  <a:avLst/>
                  <a:gdLst>
                    <a:gd name="T0" fmla="*/ 104 w 104"/>
                    <a:gd name="T1" fmla="*/ 12 h 205"/>
                    <a:gd name="T2" fmla="*/ 28 w 104"/>
                    <a:gd name="T3" fmla="*/ 205 h 205"/>
                    <a:gd name="T4" fmla="*/ 0 w 104"/>
                    <a:gd name="T5" fmla="*/ 165 h 205"/>
                    <a:gd name="T6" fmla="*/ 64 w 104"/>
                    <a:gd name="T7" fmla="*/ 0 h 205"/>
                    <a:gd name="T8" fmla="*/ 67 w 104"/>
                    <a:gd name="T9" fmla="*/ 2 h 205"/>
                    <a:gd name="T10" fmla="*/ 71 w 104"/>
                    <a:gd name="T11" fmla="*/ 2 h 205"/>
                    <a:gd name="T12" fmla="*/ 75 w 104"/>
                    <a:gd name="T13" fmla="*/ 2 h 205"/>
                    <a:gd name="T14" fmla="*/ 78 w 104"/>
                    <a:gd name="T15" fmla="*/ 3 h 205"/>
                    <a:gd name="T16" fmla="*/ 81 w 104"/>
                    <a:gd name="T17" fmla="*/ 4 h 205"/>
                    <a:gd name="T18" fmla="*/ 84 w 104"/>
                    <a:gd name="T19" fmla="*/ 4 h 205"/>
                    <a:gd name="T20" fmla="*/ 89 w 104"/>
                    <a:gd name="T21" fmla="*/ 5 h 205"/>
                    <a:gd name="T22" fmla="*/ 92 w 104"/>
                    <a:gd name="T23" fmla="*/ 7 h 205"/>
                    <a:gd name="T24" fmla="*/ 93 w 104"/>
                    <a:gd name="T25" fmla="*/ 7 h 205"/>
                    <a:gd name="T26" fmla="*/ 95 w 104"/>
                    <a:gd name="T27" fmla="*/ 8 h 205"/>
                    <a:gd name="T28" fmla="*/ 96 w 104"/>
                    <a:gd name="T29" fmla="*/ 8 h 205"/>
                    <a:gd name="T30" fmla="*/ 98 w 104"/>
                    <a:gd name="T31" fmla="*/ 9 h 205"/>
                    <a:gd name="T32" fmla="*/ 99 w 104"/>
                    <a:gd name="T33" fmla="*/ 10 h 205"/>
                    <a:gd name="T34" fmla="*/ 100 w 104"/>
                    <a:gd name="T35" fmla="*/ 11 h 205"/>
                    <a:gd name="T36" fmla="*/ 102 w 104"/>
                    <a:gd name="T37" fmla="*/ 11 h 205"/>
                    <a:gd name="T38" fmla="*/ 104 w 104"/>
                    <a:gd name="T39" fmla="*/ 12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205">
                      <a:moveTo>
                        <a:pt x="104" y="12"/>
                      </a:moveTo>
                      <a:lnTo>
                        <a:pt x="28" y="205"/>
                      </a:lnTo>
                      <a:lnTo>
                        <a:pt x="0" y="165"/>
                      </a:lnTo>
                      <a:lnTo>
                        <a:pt x="64" y="0"/>
                      </a:lnTo>
                      <a:lnTo>
                        <a:pt x="67" y="2"/>
                      </a:lnTo>
                      <a:lnTo>
                        <a:pt x="71" y="2"/>
                      </a:lnTo>
                      <a:lnTo>
                        <a:pt x="75" y="2"/>
                      </a:lnTo>
                      <a:lnTo>
                        <a:pt x="78" y="3"/>
                      </a:lnTo>
                      <a:lnTo>
                        <a:pt x="81" y="4"/>
                      </a:lnTo>
                      <a:lnTo>
                        <a:pt x="84" y="4"/>
                      </a:lnTo>
                      <a:lnTo>
                        <a:pt x="89" y="5"/>
                      </a:lnTo>
                      <a:lnTo>
                        <a:pt x="92" y="7"/>
                      </a:lnTo>
                      <a:lnTo>
                        <a:pt x="93" y="7"/>
                      </a:lnTo>
                      <a:lnTo>
                        <a:pt x="95" y="8"/>
                      </a:lnTo>
                      <a:lnTo>
                        <a:pt x="96" y="8"/>
                      </a:lnTo>
                      <a:lnTo>
                        <a:pt x="98" y="9"/>
                      </a:lnTo>
                      <a:lnTo>
                        <a:pt x="99" y="10"/>
                      </a:lnTo>
                      <a:lnTo>
                        <a:pt x="100" y="11"/>
                      </a:lnTo>
                      <a:lnTo>
                        <a:pt x="102" y="11"/>
                      </a:lnTo>
                      <a:lnTo>
                        <a:pt x="104" y="1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69" name="Freeform 257"/>
                <p:cNvSpPr>
                  <a:spLocks noChangeAspect="1"/>
                </p:cNvSpPr>
                <p:nvPr/>
              </p:nvSpPr>
              <p:spPr bwMode="auto">
                <a:xfrm>
                  <a:off x="336" y="586"/>
                  <a:ext cx="33" cy="62"/>
                </a:xfrm>
                <a:custGeom>
                  <a:avLst/>
                  <a:gdLst>
                    <a:gd name="T0" fmla="*/ 99 w 99"/>
                    <a:gd name="T1" fmla="*/ 4 h 184"/>
                    <a:gd name="T2" fmla="*/ 29 w 99"/>
                    <a:gd name="T3" fmla="*/ 184 h 184"/>
                    <a:gd name="T4" fmla="*/ 0 w 99"/>
                    <a:gd name="T5" fmla="*/ 145 h 184"/>
                    <a:gd name="T6" fmla="*/ 56 w 99"/>
                    <a:gd name="T7" fmla="*/ 4 h 184"/>
                    <a:gd name="T8" fmla="*/ 61 w 99"/>
                    <a:gd name="T9" fmla="*/ 3 h 184"/>
                    <a:gd name="T10" fmla="*/ 66 w 99"/>
                    <a:gd name="T11" fmla="*/ 2 h 184"/>
                    <a:gd name="T12" fmla="*/ 72 w 99"/>
                    <a:gd name="T13" fmla="*/ 0 h 184"/>
                    <a:gd name="T14" fmla="*/ 78 w 99"/>
                    <a:gd name="T15" fmla="*/ 0 h 184"/>
                    <a:gd name="T16" fmla="*/ 83 w 99"/>
                    <a:gd name="T17" fmla="*/ 2 h 184"/>
                    <a:gd name="T18" fmla="*/ 89 w 99"/>
                    <a:gd name="T19" fmla="*/ 2 h 184"/>
                    <a:gd name="T20" fmla="*/ 94 w 99"/>
                    <a:gd name="T21" fmla="*/ 3 h 184"/>
                    <a:gd name="T22" fmla="*/ 99 w 99"/>
                    <a:gd name="T23" fmla="*/ 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 h="184">
                      <a:moveTo>
                        <a:pt x="99" y="4"/>
                      </a:moveTo>
                      <a:lnTo>
                        <a:pt x="29" y="184"/>
                      </a:lnTo>
                      <a:lnTo>
                        <a:pt x="0" y="145"/>
                      </a:lnTo>
                      <a:lnTo>
                        <a:pt x="56" y="4"/>
                      </a:lnTo>
                      <a:lnTo>
                        <a:pt x="61" y="3"/>
                      </a:lnTo>
                      <a:lnTo>
                        <a:pt x="66" y="2"/>
                      </a:lnTo>
                      <a:lnTo>
                        <a:pt x="72" y="0"/>
                      </a:lnTo>
                      <a:lnTo>
                        <a:pt x="78" y="0"/>
                      </a:lnTo>
                      <a:lnTo>
                        <a:pt x="83" y="2"/>
                      </a:lnTo>
                      <a:lnTo>
                        <a:pt x="89" y="2"/>
                      </a:lnTo>
                      <a:lnTo>
                        <a:pt x="94" y="3"/>
                      </a:lnTo>
                      <a:lnTo>
                        <a:pt x="99" y="4"/>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70" name="Freeform 258"/>
                <p:cNvSpPr>
                  <a:spLocks noChangeAspect="1"/>
                </p:cNvSpPr>
                <p:nvPr/>
              </p:nvSpPr>
              <p:spPr bwMode="auto">
                <a:xfrm>
                  <a:off x="333" y="586"/>
                  <a:ext cx="30" cy="56"/>
                </a:xfrm>
                <a:custGeom>
                  <a:avLst/>
                  <a:gdLst>
                    <a:gd name="T0" fmla="*/ 89 w 89"/>
                    <a:gd name="T1" fmla="*/ 0 h 165"/>
                    <a:gd name="T2" fmla="*/ 25 w 89"/>
                    <a:gd name="T3" fmla="*/ 165 h 165"/>
                    <a:gd name="T4" fmla="*/ 7 w 89"/>
                    <a:gd name="T5" fmla="*/ 140 h 165"/>
                    <a:gd name="T6" fmla="*/ 8 w 89"/>
                    <a:gd name="T7" fmla="*/ 139 h 165"/>
                    <a:gd name="T8" fmla="*/ 7 w 89"/>
                    <a:gd name="T9" fmla="*/ 135 h 165"/>
                    <a:gd name="T10" fmla="*/ 6 w 89"/>
                    <a:gd name="T11" fmla="*/ 132 h 165"/>
                    <a:gd name="T12" fmla="*/ 5 w 89"/>
                    <a:gd name="T13" fmla="*/ 130 h 165"/>
                    <a:gd name="T14" fmla="*/ 4 w 89"/>
                    <a:gd name="T15" fmla="*/ 127 h 165"/>
                    <a:gd name="T16" fmla="*/ 2 w 89"/>
                    <a:gd name="T17" fmla="*/ 125 h 165"/>
                    <a:gd name="T18" fmla="*/ 2 w 89"/>
                    <a:gd name="T19" fmla="*/ 122 h 165"/>
                    <a:gd name="T20" fmla="*/ 1 w 89"/>
                    <a:gd name="T21" fmla="*/ 118 h 165"/>
                    <a:gd name="T22" fmla="*/ 0 w 89"/>
                    <a:gd name="T23" fmla="*/ 115 h 165"/>
                    <a:gd name="T24" fmla="*/ 39 w 89"/>
                    <a:gd name="T25" fmla="*/ 15 h 165"/>
                    <a:gd name="T26" fmla="*/ 44 w 89"/>
                    <a:gd name="T27" fmla="*/ 12 h 165"/>
                    <a:gd name="T28" fmla="*/ 51 w 89"/>
                    <a:gd name="T29" fmla="*/ 9 h 165"/>
                    <a:gd name="T30" fmla="*/ 56 w 89"/>
                    <a:gd name="T31" fmla="*/ 7 h 165"/>
                    <a:gd name="T32" fmla="*/ 63 w 89"/>
                    <a:gd name="T33" fmla="*/ 5 h 165"/>
                    <a:gd name="T34" fmla="*/ 69 w 89"/>
                    <a:gd name="T35" fmla="*/ 3 h 165"/>
                    <a:gd name="T36" fmla="*/ 75 w 89"/>
                    <a:gd name="T37" fmla="*/ 2 h 165"/>
                    <a:gd name="T38" fmla="*/ 83 w 89"/>
                    <a:gd name="T39" fmla="*/ 0 h 165"/>
                    <a:gd name="T40" fmla="*/ 89 w 89"/>
                    <a:gd name="T4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9" h="165">
                      <a:moveTo>
                        <a:pt x="89" y="0"/>
                      </a:moveTo>
                      <a:lnTo>
                        <a:pt x="25" y="165"/>
                      </a:lnTo>
                      <a:lnTo>
                        <a:pt x="7" y="140"/>
                      </a:lnTo>
                      <a:lnTo>
                        <a:pt x="8" y="139"/>
                      </a:lnTo>
                      <a:lnTo>
                        <a:pt x="7" y="135"/>
                      </a:lnTo>
                      <a:lnTo>
                        <a:pt x="6" y="132"/>
                      </a:lnTo>
                      <a:lnTo>
                        <a:pt x="5" y="130"/>
                      </a:lnTo>
                      <a:lnTo>
                        <a:pt x="4" y="127"/>
                      </a:lnTo>
                      <a:lnTo>
                        <a:pt x="2" y="125"/>
                      </a:lnTo>
                      <a:lnTo>
                        <a:pt x="2" y="122"/>
                      </a:lnTo>
                      <a:lnTo>
                        <a:pt x="1" y="118"/>
                      </a:lnTo>
                      <a:lnTo>
                        <a:pt x="0" y="115"/>
                      </a:lnTo>
                      <a:lnTo>
                        <a:pt x="39" y="15"/>
                      </a:lnTo>
                      <a:lnTo>
                        <a:pt x="44" y="12"/>
                      </a:lnTo>
                      <a:lnTo>
                        <a:pt x="51" y="9"/>
                      </a:lnTo>
                      <a:lnTo>
                        <a:pt x="56" y="7"/>
                      </a:lnTo>
                      <a:lnTo>
                        <a:pt x="63" y="5"/>
                      </a:lnTo>
                      <a:lnTo>
                        <a:pt x="69" y="3"/>
                      </a:lnTo>
                      <a:lnTo>
                        <a:pt x="75" y="2"/>
                      </a:lnTo>
                      <a:lnTo>
                        <a:pt x="83" y="0"/>
                      </a:lnTo>
                      <a:lnTo>
                        <a:pt x="89" y="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71" name="Freeform 259"/>
                <p:cNvSpPr>
                  <a:spLocks noChangeAspect="1"/>
                </p:cNvSpPr>
                <p:nvPr/>
              </p:nvSpPr>
              <p:spPr bwMode="auto">
                <a:xfrm>
                  <a:off x="332" y="587"/>
                  <a:ext cx="23" cy="47"/>
                </a:xfrm>
                <a:custGeom>
                  <a:avLst/>
                  <a:gdLst>
                    <a:gd name="T0" fmla="*/ 68 w 68"/>
                    <a:gd name="T1" fmla="*/ 0 h 141"/>
                    <a:gd name="T2" fmla="*/ 12 w 68"/>
                    <a:gd name="T3" fmla="*/ 141 h 141"/>
                    <a:gd name="T4" fmla="*/ 9 w 68"/>
                    <a:gd name="T5" fmla="*/ 136 h 141"/>
                    <a:gd name="T6" fmla="*/ 10 w 68"/>
                    <a:gd name="T7" fmla="*/ 135 h 141"/>
                    <a:gd name="T8" fmla="*/ 6 w 68"/>
                    <a:gd name="T9" fmla="*/ 125 h 141"/>
                    <a:gd name="T10" fmla="*/ 3 w 68"/>
                    <a:gd name="T11" fmla="*/ 116 h 141"/>
                    <a:gd name="T12" fmla="*/ 1 w 68"/>
                    <a:gd name="T13" fmla="*/ 106 h 141"/>
                    <a:gd name="T14" fmla="*/ 0 w 68"/>
                    <a:gd name="T15" fmla="*/ 96 h 141"/>
                    <a:gd name="T16" fmla="*/ 0 w 68"/>
                    <a:gd name="T17" fmla="*/ 86 h 141"/>
                    <a:gd name="T18" fmla="*/ 0 w 68"/>
                    <a:gd name="T19" fmla="*/ 76 h 141"/>
                    <a:gd name="T20" fmla="*/ 2 w 68"/>
                    <a:gd name="T21" fmla="*/ 66 h 141"/>
                    <a:gd name="T22" fmla="*/ 6 w 68"/>
                    <a:gd name="T23" fmla="*/ 55 h 141"/>
                    <a:gd name="T24" fmla="*/ 10 w 68"/>
                    <a:gd name="T25" fmla="*/ 45 h 141"/>
                    <a:gd name="T26" fmla="*/ 17 w 68"/>
                    <a:gd name="T27" fmla="*/ 36 h 141"/>
                    <a:gd name="T28" fmla="*/ 23 w 68"/>
                    <a:gd name="T29" fmla="*/ 27 h 141"/>
                    <a:gd name="T30" fmla="*/ 31 w 68"/>
                    <a:gd name="T31" fmla="*/ 19 h 141"/>
                    <a:gd name="T32" fmla="*/ 39 w 68"/>
                    <a:gd name="T33" fmla="*/ 12 h 141"/>
                    <a:gd name="T34" fmla="*/ 49 w 68"/>
                    <a:gd name="T35" fmla="*/ 7 h 141"/>
                    <a:gd name="T36" fmla="*/ 58 w 68"/>
                    <a:gd name="T37" fmla="*/ 3 h 141"/>
                    <a:gd name="T38" fmla="*/ 68 w 68"/>
                    <a:gd name="T39"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8" h="141">
                      <a:moveTo>
                        <a:pt x="68" y="0"/>
                      </a:moveTo>
                      <a:lnTo>
                        <a:pt x="12" y="141"/>
                      </a:lnTo>
                      <a:lnTo>
                        <a:pt x="9" y="136"/>
                      </a:lnTo>
                      <a:lnTo>
                        <a:pt x="10" y="135"/>
                      </a:lnTo>
                      <a:lnTo>
                        <a:pt x="6" y="125"/>
                      </a:lnTo>
                      <a:lnTo>
                        <a:pt x="3" y="116"/>
                      </a:lnTo>
                      <a:lnTo>
                        <a:pt x="1" y="106"/>
                      </a:lnTo>
                      <a:lnTo>
                        <a:pt x="0" y="96"/>
                      </a:lnTo>
                      <a:lnTo>
                        <a:pt x="0" y="86"/>
                      </a:lnTo>
                      <a:lnTo>
                        <a:pt x="0" y="76"/>
                      </a:lnTo>
                      <a:lnTo>
                        <a:pt x="2" y="66"/>
                      </a:lnTo>
                      <a:lnTo>
                        <a:pt x="6" y="55"/>
                      </a:lnTo>
                      <a:lnTo>
                        <a:pt x="10" y="45"/>
                      </a:lnTo>
                      <a:lnTo>
                        <a:pt x="17" y="36"/>
                      </a:lnTo>
                      <a:lnTo>
                        <a:pt x="23" y="27"/>
                      </a:lnTo>
                      <a:lnTo>
                        <a:pt x="31" y="19"/>
                      </a:lnTo>
                      <a:lnTo>
                        <a:pt x="39" y="12"/>
                      </a:lnTo>
                      <a:lnTo>
                        <a:pt x="49" y="7"/>
                      </a:lnTo>
                      <a:lnTo>
                        <a:pt x="58" y="3"/>
                      </a:lnTo>
                      <a:lnTo>
                        <a:pt x="68" y="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72" name="Freeform 260"/>
                <p:cNvSpPr>
                  <a:spLocks noChangeAspect="1"/>
                </p:cNvSpPr>
                <p:nvPr/>
              </p:nvSpPr>
              <p:spPr bwMode="auto">
                <a:xfrm>
                  <a:off x="332" y="591"/>
                  <a:ext cx="14" cy="33"/>
                </a:xfrm>
                <a:custGeom>
                  <a:avLst/>
                  <a:gdLst>
                    <a:gd name="T0" fmla="*/ 42 w 42"/>
                    <a:gd name="T1" fmla="*/ 0 h 100"/>
                    <a:gd name="T2" fmla="*/ 3 w 42"/>
                    <a:gd name="T3" fmla="*/ 100 h 100"/>
                    <a:gd name="T4" fmla="*/ 2 w 42"/>
                    <a:gd name="T5" fmla="*/ 94 h 100"/>
                    <a:gd name="T6" fmla="*/ 1 w 42"/>
                    <a:gd name="T7" fmla="*/ 88 h 100"/>
                    <a:gd name="T8" fmla="*/ 0 w 42"/>
                    <a:gd name="T9" fmla="*/ 80 h 100"/>
                    <a:gd name="T10" fmla="*/ 1 w 42"/>
                    <a:gd name="T11" fmla="*/ 73 h 100"/>
                    <a:gd name="T12" fmla="*/ 1 w 42"/>
                    <a:gd name="T13" fmla="*/ 66 h 100"/>
                    <a:gd name="T14" fmla="*/ 3 w 42"/>
                    <a:gd name="T15" fmla="*/ 59 h 100"/>
                    <a:gd name="T16" fmla="*/ 4 w 42"/>
                    <a:gd name="T17" fmla="*/ 51 h 100"/>
                    <a:gd name="T18" fmla="*/ 7 w 42"/>
                    <a:gd name="T19" fmla="*/ 44 h 100"/>
                    <a:gd name="T20" fmla="*/ 9 w 42"/>
                    <a:gd name="T21" fmla="*/ 38 h 100"/>
                    <a:gd name="T22" fmla="*/ 13 w 42"/>
                    <a:gd name="T23" fmla="*/ 31 h 100"/>
                    <a:gd name="T24" fmla="*/ 17 w 42"/>
                    <a:gd name="T25" fmla="*/ 25 h 100"/>
                    <a:gd name="T26" fmla="*/ 21 w 42"/>
                    <a:gd name="T27" fmla="*/ 19 h 100"/>
                    <a:gd name="T28" fmla="*/ 26 w 42"/>
                    <a:gd name="T29" fmla="*/ 14 h 100"/>
                    <a:gd name="T30" fmla="*/ 32 w 42"/>
                    <a:gd name="T31" fmla="*/ 9 h 100"/>
                    <a:gd name="T32" fmla="*/ 37 w 42"/>
                    <a:gd name="T33" fmla="*/ 5 h 100"/>
                    <a:gd name="T34" fmla="*/ 42 w 42"/>
                    <a:gd name="T3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100">
                      <a:moveTo>
                        <a:pt x="42" y="0"/>
                      </a:moveTo>
                      <a:lnTo>
                        <a:pt x="3" y="100"/>
                      </a:lnTo>
                      <a:lnTo>
                        <a:pt x="2" y="94"/>
                      </a:lnTo>
                      <a:lnTo>
                        <a:pt x="1" y="88"/>
                      </a:lnTo>
                      <a:lnTo>
                        <a:pt x="0" y="80"/>
                      </a:lnTo>
                      <a:lnTo>
                        <a:pt x="1" y="73"/>
                      </a:lnTo>
                      <a:lnTo>
                        <a:pt x="1" y="66"/>
                      </a:lnTo>
                      <a:lnTo>
                        <a:pt x="3" y="59"/>
                      </a:lnTo>
                      <a:lnTo>
                        <a:pt x="4" y="51"/>
                      </a:lnTo>
                      <a:lnTo>
                        <a:pt x="7" y="44"/>
                      </a:lnTo>
                      <a:lnTo>
                        <a:pt x="9" y="38"/>
                      </a:lnTo>
                      <a:lnTo>
                        <a:pt x="13" y="31"/>
                      </a:lnTo>
                      <a:lnTo>
                        <a:pt x="17" y="25"/>
                      </a:lnTo>
                      <a:lnTo>
                        <a:pt x="21" y="19"/>
                      </a:lnTo>
                      <a:lnTo>
                        <a:pt x="26" y="14"/>
                      </a:lnTo>
                      <a:lnTo>
                        <a:pt x="32" y="9"/>
                      </a:lnTo>
                      <a:lnTo>
                        <a:pt x="37" y="5"/>
                      </a:lnTo>
                      <a:lnTo>
                        <a:pt x="42" y="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773" name="Freeform 261"/>
                <p:cNvSpPr>
                  <a:spLocks noChangeAspect="1"/>
                </p:cNvSpPr>
                <p:nvPr/>
              </p:nvSpPr>
              <p:spPr bwMode="auto">
                <a:xfrm>
                  <a:off x="332" y="586"/>
                  <a:ext cx="258" cy="335"/>
                </a:xfrm>
                <a:custGeom>
                  <a:avLst/>
                  <a:gdLst>
                    <a:gd name="T0" fmla="*/ 119 w 774"/>
                    <a:gd name="T1" fmla="*/ 7 h 1003"/>
                    <a:gd name="T2" fmla="*/ 123 w 774"/>
                    <a:gd name="T3" fmla="*/ 8 h 1003"/>
                    <a:gd name="T4" fmla="*/ 127 w 774"/>
                    <a:gd name="T5" fmla="*/ 10 h 1003"/>
                    <a:gd name="T6" fmla="*/ 131 w 774"/>
                    <a:gd name="T7" fmla="*/ 12 h 1003"/>
                    <a:gd name="T8" fmla="*/ 135 w 774"/>
                    <a:gd name="T9" fmla="*/ 15 h 1003"/>
                    <a:gd name="T10" fmla="*/ 138 w 774"/>
                    <a:gd name="T11" fmla="*/ 17 h 1003"/>
                    <a:gd name="T12" fmla="*/ 142 w 774"/>
                    <a:gd name="T13" fmla="*/ 21 h 1003"/>
                    <a:gd name="T14" fmla="*/ 145 w 774"/>
                    <a:gd name="T15" fmla="*/ 23 h 1003"/>
                    <a:gd name="T16" fmla="*/ 149 w 774"/>
                    <a:gd name="T17" fmla="*/ 26 h 1003"/>
                    <a:gd name="T18" fmla="*/ 149 w 774"/>
                    <a:gd name="T19" fmla="*/ 26 h 1003"/>
                    <a:gd name="T20" fmla="*/ 152 w 774"/>
                    <a:gd name="T21" fmla="*/ 30 h 1003"/>
                    <a:gd name="T22" fmla="*/ 153 w 774"/>
                    <a:gd name="T23" fmla="*/ 31 h 1003"/>
                    <a:gd name="T24" fmla="*/ 154 w 774"/>
                    <a:gd name="T25" fmla="*/ 32 h 1003"/>
                    <a:gd name="T26" fmla="*/ 155 w 774"/>
                    <a:gd name="T27" fmla="*/ 34 h 1003"/>
                    <a:gd name="T28" fmla="*/ 156 w 774"/>
                    <a:gd name="T29" fmla="*/ 36 h 1003"/>
                    <a:gd name="T30" fmla="*/ 157 w 774"/>
                    <a:gd name="T31" fmla="*/ 37 h 1003"/>
                    <a:gd name="T32" fmla="*/ 157 w 774"/>
                    <a:gd name="T33" fmla="*/ 38 h 1003"/>
                    <a:gd name="T34" fmla="*/ 158 w 774"/>
                    <a:gd name="T35" fmla="*/ 40 h 1003"/>
                    <a:gd name="T36" fmla="*/ 159 w 774"/>
                    <a:gd name="T37" fmla="*/ 41 h 1003"/>
                    <a:gd name="T38" fmla="*/ 774 w 774"/>
                    <a:gd name="T39" fmla="*/ 902 h 1003"/>
                    <a:gd name="T40" fmla="*/ 626 w 774"/>
                    <a:gd name="T41" fmla="*/ 1003 h 1003"/>
                    <a:gd name="T42" fmla="*/ 9 w 774"/>
                    <a:gd name="T43" fmla="*/ 140 h 1003"/>
                    <a:gd name="T44" fmla="*/ 10 w 774"/>
                    <a:gd name="T45" fmla="*/ 139 h 1003"/>
                    <a:gd name="T46" fmla="*/ 6 w 774"/>
                    <a:gd name="T47" fmla="*/ 129 h 1003"/>
                    <a:gd name="T48" fmla="*/ 3 w 774"/>
                    <a:gd name="T49" fmla="*/ 120 h 1003"/>
                    <a:gd name="T50" fmla="*/ 1 w 774"/>
                    <a:gd name="T51" fmla="*/ 110 h 1003"/>
                    <a:gd name="T52" fmla="*/ 0 w 774"/>
                    <a:gd name="T53" fmla="*/ 100 h 1003"/>
                    <a:gd name="T54" fmla="*/ 0 w 774"/>
                    <a:gd name="T55" fmla="*/ 90 h 1003"/>
                    <a:gd name="T56" fmla="*/ 0 w 774"/>
                    <a:gd name="T57" fmla="*/ 80 h 1003"/>
                    <a:gd name="T58" fmla="*/ 2 w 774"/>
                    <a:gd name="T59" fmla="*/ 70 h 1003"/>
                    <a:gd name="T60" fmla="*/ 6 w 774"/>
                    <a:gd name="T61" fmla="*/ 59 h 1003"/>
                    <a:gd name="T62" fmla="*/ 9 w 774"/>
                    <a:gd name="T63" fmla="*/ 51 h 1003"/>
                    <a:gd name="T64" fmla="*/ 13 w 774"/>
                    <a:gd name="T65" fmla="*/ 43 h 1003"/>
                    <a:gd name="T66" fmla="*/ 19 w 774"/>
                    <a:gd name="T67" fmla="*/ 36 h 1003"/>
                    <a:gd name="T68" fmla="*/ 25 w 774"/>
                    <a:gd name="T69" fmla="*/ 29 h 1003"/>
                    <a:gd name="T70" fmla="*/ 31 w 774"/>
                    <a:gd name="T71" fmla="*/ 23 h 1003"/>
                    <a:gd name="T72" fmla="*/ 38 w 774"/>
                    <a:gd name="T73" fmla="*/ 17 h 1003"/>
                    <a:gd name="T74" fmla="*/ 44 w 774"/>
                    <a:gd name="T75" fmla="*/ 13 h 1003"/>
                    <a:gd name="T76" fmla="*/ 53 w 774"/>
                    <a:gd name="T77" fmla="*/ 9 h 1003"/>
                    <a:gd name="T78" fmla="*/ 60 w 774"/>
                    <a:gd name="T79" fmla="*/ 6 h 1003"/>
                    <a:gd name="T80" fmla="*/ 68 w 774"/>
                    <a:gd name="T81" fmla="*/ 4 h 1003"/>
                    <a:gd name="T82" fmla="*/ 76 w 774"/>
                    <a:gd name="T83" fmla="*/ 2 h 1003"/>
                    <a:gd name="T84" fmla="*/ 85 w 774"/>
                    <a:gd name="T85" fmla="*/ 0 h 1003"/>
                    <a:gd name="T86" fmla="*/ 93 w 774"/>
                    <a:gd name="T87" fmla="*/ 0 h 1003"/>
                    <a:gd name="T88" fmla="*/ 102 w 774"/>
                    <a:gd name="T89" fmla="*/ 2 h 1003"/>
                    <a:gd name="T90" fmla="*/ 110 w 774"/>
                    <a:gd name="T91" fmla="*/ 4 h 1003"/>
                    <a:gd name="T92" fmla="*/ 119 w 774"/>
                    <a:gd name="T93" fmla="*/ 7 h 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74" h="1003">
                      <a:moveTo>
                        <a:pt x="119" y="7"/>
                      </a:moveTo>
                      <a:lnTo>
                        <a:pt x="123" y="8"/>
                      </a:lnTo>
                      <a:lnTo>
                        <a:pt x="127" y="10"/>
                      </a:lnTo>
                      <a:lnTo>
                        <a:pt x="131" y="12"/>
                      </a:lnTo>
                      <a:lnTo>
                        <a:pt x="135" y="15"/>
                      </a:lnTo>
                      <a:lnTo>
                        <a:pt x="138" y="17"/>
                      </a:lnTo>
                      <a:lnTo>
                        <a:pt x="142" y="21"/>
                      </a:lnTo>
                      <a:lnTo>
                        <a:pt x="145" y="23"/>
                      </a:lnTo>
                      <a:lnTo>
                        <a:pt x="149" y="26"/>
                      </a:lnTo>
                      <a:lnTo>
                        <a:pt x="149" y="26"/>
                      </a:lnTo>
                      <a:lnTo>
                        <a:pt x="152" y="30"/>
                      </a:lnTo>
                      <a:lnTo>
                        <a:pt x="153" y="31"/>
                      </a:lnTo>
                      <a:lnTo>
                        <a:pt x="154" y="32"/>
                      </a:lnTo>
                      <a:lnTo>
                        <a:pt x="155" y="34"/>
                      </a:lnTo>
                      <a:lnTo>
                        <a:pt x="156" y="36"/>
                      </a:lnTo>
                      <a:lnTo>
                        <a:pt x="157" y="37"/>
                      </a:lnTo>
                      <a:lnTo>
                        <a:pt x="157" y="38"/>
                      </a:lnTo>
                      <a:lnTo>
                        <a:pt x="158" y="40"/>
                      </a:lnTo>
                      <a:lnTo>
                        <a:pt x="159" y="41"/>
                      </a:lnTo>
                      <a:lnTo>
                        <a:pt x="774" y="902"/>
                      </a:lnTo>
                      <a:lnTo>
                        <a:pt x="626" y="1003"/>
                      </a:lnTo>
                      <a:lnTo>
                        <a:pt x="9" y="140"/>
                      </a:lnTo>
                      <a:lnTo>
                        <a:pt x="10" y="139"/>
                      </a:lnTo>
                      <a:lnTo>
                        <a:pt x="6" y="129"/>
                      </a:lnTo>
                      <a:lnTo>
                        <a:pt x="3" y="120"/>
                      </a:lnTo>
                      <a:lnTo>
                        <a:pt x="1" y="110"/>
                      </a:lnTo>
                      <a:lnTo>
                        <a:pt x="0" y="100"/>
                      </a:lnTo>
                      <a:lnTo>
                        <a:pt x="0" y="90"/>
                      </a:lnTo>
                      <a:lnTo>
                        <a:pt x="0" y="80"/>
                      </a:lnTo>
                      <a:lnTo>
                        <a:pt x="2" y="70"/>
                      </a:lnTo>
                      <a:lnTo>
                        <a:pt x="6" y="59"/>
                      </a:lnTo>
                      <a:lnTo>
                        <a:pt x="9" y="51"/>
                      </a:lnTo>
                      <a:lnTo>
                        <a:pt x="13" y="43"/>
                      </a:lnTo>
                      <a:lnTo>
                        <a:pt x="19" y="36"/>
                      </a:lnTo>
                      <a:lnTo>
                        <a:pt x="25" y="29"/>
                      </a:lnTo>
                      <a:lnTo>
                        <a:pt x="31" y="23"/>
                      </a:lnTo>
                      <a:lnTo>
                        <a:pt x="38" y="17"/>
                      </a:lnTo>
                      <a:lnTo>
                        <a:pt x="44" y="13"/>
                      </a:lnTo>
                      <a:lnTo>
                        <a:pt x="53" y="9"/>
                      </a:lnTo>
                      <a:lnTo>
                        <a:pt x="60" y="6"/>
                      </a:lnTo>
                      <a:lnTo>
                        <a:pt x="68" y="4"/>
                      </a:lnTo>
                      <a:lnTo>
                        <a:pt x="76" y="2"/>
                      </a:lnTo>
                      <a:lnTo>
                        <a:pt x="85" y="0"/>
                      </a:lnTo>
                      <a:lnTo>
                        <a:pt x="93" y="0"/>
                      </a:lnTo>
                      <a:lnTo>
                        <a:pt x="102" y="2"/>
                      </a:lnTo>
                      <a:lnTo>
                        <a:pt x="110" y="4"/>
                      </a:lnTo>
                      <a:lnTo>
                        <a:pt x="119" y="7"/>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74" name="Freeform 262"/>
                <p:cNvSpPr>
                  <a:spLocks noChangeAspect="1"/>
                </p:cNvSpPr>
                <p:nvPr/>
              </p:nvSpPr>
              <p:spPr bwMode="auto">
                <a:xfrm>
                  <a:off x="374" y="59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75" name="Freeform 263"/>
                <p:cNvSpPr>
                  <a:spLocks noChangeAspect="1"/>
                </p:cNvSpPr>
                <p:nvPr/>
              </p:nvSpPr>
              <p:spPr bwMode="auto">
                <a:xfrm>
                  <a:off x="374" y="590"/>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76" name="Freeform 264"/>
                <p:cNvSpPr>
                  <a:spLocks noChangeAspect="1"/>
                </p:cNvSpPr>
                <p:nvPr/>
              </p:nvSpPr>
              <p:spPr bwMode="auto">
                <a:xfrm>
                  <a:off x="376" y="590"/>
                  <a:ext cx="1" cy="1"/>
                </a:xfrm>
                <a:custGeom>
                  <a:avLst/>
                  <a:gdLst>
                    <a:gd name="T0" fmla="*/ 0 w 1"/>
                    <a:gd name="T1" fmla="*/ 0 w 1"/>
                    <a:gd name="T2" fmla="*/ 1 w 1"/>
                    <a:gd name="T3" fmla="*/ 1 w 1"/>
                    <a:gd name="T4" fmla="*/ 1 w 1"/>
                    <a:gd name="T5" fmla="*/ 1 w 1"/>
                    <a:gd name="T6" fmla="*/ 1 w 1"/>
                    <a:gd name="T7" fmla="*/ 1 w 1"/>
                    <a:gd name="T8" fmla="*/ 1 w 1"/>
                    <a:gd name="T9" fmla="*/ 1 w 1"/>
                    <a:gd name="T10" fmla="*/ 1 w 1"/>
                    <a:gd name="T11" fmla="*/ 1 w 1"/>
                    <a:gd name="T12" fmla="*/ 1 w 1"/>
                    <a:gd name="T13" fmla="*/ 1 w 1"/>
                    <a:gd name="T14" fmla="*/ 1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lnTo>
                        <a:pt x="0" y="0"/>
                      </a:lnTo>
                      <a:lnTo>
                        <a:pt x="1" y="0"/>
                      </a:lnTo>
                      <a:lnTo>
                        <a:pt x="1" y="0"/>
                      </a:lnTo>
                      <a:lnTo>
                        <a:pt x="1" y="0"/>
                      </a:lnTo>
                      <a:lnTo>
                        <a:pt x="1" y="0"/>
                      </a:lnTo>
                      <a:lnTo>
                        <a:pt x="1" y="0"/>
                      </a:lnTo>
                      <a:lnTo>
                        <a:pt x="1" y="0"/>
                      </a:lnTo>
                      <a:lnTo>
                        <a:pt x="1" y="0"/>
                      </a:lnTo>
                      <a:lnTo>
                        <a:pt x="1" y="0"/>
                      </a:lnTo>
                      <a:lnTo>
                        <a:pt x="1" y="0"/>
                      </a:lnTo>
                      <a:lnTo>
                        <a:pt x="1" y="0"/>
                      </a:lnTo>
                      <a:lnTo>
                        <a:pt x="1" y="0"/>
                      </a:lnTo>
                      <a:lnTo>
                        <a:pt x="1" y="0"/>
                      </a:lnTo>
                      <a:lnTo>
                        <a:pt x="1"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77" name="Freeform 265"/>
                <p:cNvSpPr>
                  <a:spLocks noChangeAspect="1"/>
                </p:cNvSpPr>
                <p:nvPr/>
              </p:nvSpPr>
              <p:spPr bwMode="auto">
                <a:xfrm>
                  <a:off x="377" y="59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78" name="Freeform 266"/>
                <p:cNvSpPr>
                  <a:spLocks noChangeAspect="1"/>
                </p:cNvSpPr>
                <p:nvPr/>
              </p:nvSpPr>
              <p:spPr bwMode="auto">
                <a:xfrm>
                  <a:off x="378" y="59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79" name="Freeform 267"/>
                <p:cNvSpPr>
                  <a:spLocks noChangeAspect="1"/>
                </p:cNvSpPr>
                <p:nvPr/>
              </p:nvSpPr>
              <p:spPr bwMode="auto">
                <a:xfrm>
                  <a:off x="378" y="591"/>
                  <a:ext cx="1" cy="1"/>
                </a:xfrm>
                <a:custGeom>
                  <a:avLst/>
                  <a:gdLst>
                    <a:gd name="T0" fmla="*/ 0 h 1"/>
                    <a:gd name="T1" fmla="*/ 0 h 1"/>
                    <a:gd name="T2" fmla="*/ 0 h 1"/>
                    <a:gd name="T3" fmla="*/ 0 h 1"/>
                    <a:gd name="T4" fmla="*/ 0 h 1"/>
                    <a:gd name="T5" fmla="*/ 0 h 1"/>
                    <a:gd name="T6" fmla="*/ 0 h 1"/>
                    <a:gd name="T7" fmla="*/ 1 h 1"/>
                    <a:gd name="T8" fmla="*/ 1 h 1"/>
                    <a:gd name="T9" fmla="*/ 1 h 1"/>
                    <a:gd name="T10" fmla="*/ 0 h 1"/>
                    <a:gd name="T11" fmla="*/ 0 h 1"/>
                    <a:gd name="T12" fmla="*/ 0 h 1"/>
                    <a:gd name="T13" fmla="*/ 0 h 1"/>
                    <a:gd name="T14" fmla="*/ 0 h 1"/>
                    <a:gd name="T15" fmla="*/ 0 h 1"/>
                    <a:gd name="T16"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0"/>
                      </a:moveTo>
                      <a:lnTo>
                        <a:pt x="0" y="0"/>
                      </a:lnTo>
                      <a:lnTo>
                        <a:pt x="0" y="0"/>
                      </a:lnTo>
                      <a:lnTo>
                        <a:pt x="0" y="0"/>
                      </a:lnTo>
                      <a:lnTo>
                        <a:pt x="0" y="0"/>
                      </a:lnTo>
                      <a:lnTo>
                        <a:pt x="0" y="0"/>
                      </a:lnTo>
                      <a:lnTo>
                        <a:pt x="0" y="0"/>
                      </a:lnTo>
                      <a:lnTo>
                        <a:pt x="0" y="1"/>
                      </a:lnTo>
                      <a:lnTo>
                        <a:pt x="0" y="1"/>
                      </a:lnTo>
                      <a:lnTo>
                        <a:pt x="0" y="1"/>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80" name="Freeform 268"/>
                <p:cNvSpPr>
                  <a:spLocks noChangeAspect="1"/>
                </p:cNvSpPr>
                <p:nvPr/>
              </p:nvSpPr>
              <p:spPr bwMode="auto">
                <a:xfrm>
                  <a:off x="379" y="592"/>
                  <a:ext cx="1" cy="1"/>
                </a:xfrm>
                <a:custGeom>
                  <a:avLst/>
                  <a:gdLst>
                    <a:gd name="T0" fmla="*/ 0 h 2"/>
                    <a:gd name="T1" fmla="*/ 2 h 2"/>
                    <a:gd name="T2" fmla="*/ 2 h 2"/>
                    <a:gd name="T3" fmla="*/ 2 h 2"/>
                    <a:gd name="T4" fmla="*/ 2 h 2"/>
                    <a:gd name="T5" fmla="*/ 2 h 2"/>
                    <a:gd name="T6" fmla="*/ 2 h 2"/>
                    <a:gd name="T7" fmla="*/ 2 h 2"/>
                    <a:gd name="T8" fmla="*/ 2 h 2"/>
                    <a:gd name="T9" fmla="*/ 2 h 2"/>
                    <a:gd name="T10" fmla="*/ 2 h 2"/>
                    <a:gd name="T11" fmla="*/ 2 h 2"/>
                    <a:gd name="T12" fmla="*/ 2 h 2"/>
                    <a:gd name="T13" fmla="*/ 2 h 2"/>
                    <a:gd name="T14" fmla="*/ 2 h 2"/>
                    <a:gd name="T15" fmla="*/ 2 h 2"/>
                    <a:gd name="T16"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2">
                      <a:moveTo>
                        <a:pt x="0" y="0"/>
                      </a:move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81" name="Freeform 269"/>
                <p:cNvSpPr>
                  <a:spLocks noChangeAspect="1"/>
                </p:cNvSpPr>
                <p:nvPr/>
              </p:nvSpPr>
              <p:spPr bwMode="auto">
                <a:xfrm>
                  <a:off x="379" y="59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82" name="Freeform 270"/>
                <p:cNvSpPr>
                  <a:spLocks noChangeAspect="1"/>
                </p:cNvSpPr>
                <p:nvPr/>
              </p:nvSpPr>
              <p:spPr bwMode="auto">
                <a:xfrm>
                  <a:off x="381" y="593"/>
                  <a:ext cx="0"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83" name="Freeform 271"/>
                <p:cNvSpPr>
                  <a:spLocks noChangeAspect="1"/>
                </p:cNvSpPr>
                <p:nvPr/>
              </p:nvSpPr>
              <p:spPr bwMode="auto">
                <a:xfrm>
                  <a:off x="381" y="593"/>
                  <a:ext cx="0" cy="1"/>
                </a:xfrm>
                <a:custGeom>
                  <a:avLst/>
                  <a:gdLst>
                    <a:gd name="T0" fmla="*/ 0 w 1"/>
                    <a:gd name="T1" fmla="*/ 0 h 1"/>
                    <a:gd name="T2" fmla="*/ 1 w 1"/>
                    <a:gd name="T3" fmla="*/ 0 h 1"/>
                    <a:gd name="T4" fmla="*/ 1 w 1"/>
                    <a:gd name="T5" fmla="*/ 0 h 1"/>
                    <a:gd name="T6" fmla="*/ 1 w 1"/>
                    <a:gd name="T7" fmla="*/ 0 h 1"/>
                    <a:gd name="T8" fmla="*/ 1 w 1"/>
                    <a:gd name="T9" fmla="*/ 0 h 1"/>
                    <a:gd name="T10" fmla="*/ 1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0 h 1"/>
                    <a:gd name="T26" fmla="*/ 1 w 1"/>
                    <a:gd name="T27" fmla="*/ 0 h 1"/>
                    <a:gd name="T28" fmla="*/ 1 w 1"/>
                    <a:gd name="T29" fmla="*/ 0 h 1"/>
                    <a:gd name="T30" fmla="*/ 1 w 1"/>
                    <a:gd name="T31" fmla="*/ 0 h 1"/>
                    <a:gd name="T32" fmla="*/ 0 w 1"/>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0" y="0"/>
                      </a:moveTo>
                      <a:lnTo>
                        <a:pt x="1" y="0"/>
                      </a:lnTo>
                      <a:lnTo>
                        <a:pt x="1" y="0"/>
                      </a:lnTo>
                      <a:lnTo>
                        <a:pt x="1" y="0"/>
                      </a:lnTo>
                      <a:lnTo>
                        <a:pt x="1" y="0"/>
                      </a:lnTo>
                      <a:lnTo>
                        <a:pt x="1" y="1"/>
                      </a:lnTo>
                      <a:lnTo>
                        <a:pt x="1" y="1"/>
                      </a:lnTo>
                      <a:lnTo>
                        <a:pt x="1" y="1"/>
                      </a:lnTo>
                      <a:lnTo>
                        <a:pt x="1" y="1"/>
                      </a:lnTo>
                      <a:lnTo>
                        <a:pt x="1" y="1"/>
                      </a:lnTo>
                      <a:lnTo>
                        <a:pt x="1" y="1"/>
                      </a:lnTo>
                      <a:lnTo>
                        <a:pt x="1" y="1"/>
                      </a:lnTo>
                      <a:lnTo>
                        <a:pt x="1" y="0"/>
                      </a:lnTo>
                      <a:lnTo>
                        <a:pt x="1" y="0"/>
                      </a:lnTo>
                      <a:lnTo>
                        <a:pt x="1" y="0"/>
                      </a:lnTo>
                      <a:lnTo>
                        <a:pt x="1"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84" name="Freeform 272"/>
                <p:cNvSpPr>
                  <a:spLocks noChangeAspect="1"/>
                </p:cNvSpPr>
                <p:nvPr/>
              </p:nvSpPr>
              <p:spPr bwMode="auto">
                <a:xfrm>
                  <a:off x="381" y="59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85" name="Freeform 273"/>
                <p:cNvSpPr>
                  <a:spLocks noChangeAspect="1"/>
                </p:cNvSpPr>
                <p:nvPr/>
              </p:nvSpPr>
              <p:spPr bwMode="auto">
                <a:xfrm>
                  <a:off x="381" y="594"/>
                  <a:ext cx="1" cy="1"/>
                </a:xfrm>
                <a:custGeom>
                  <a:avLst/>
                  <a:gdLst>
                    <a:gd name="T0" fmla="*/ 0 w 1"/>
                    <a:gd name="T1" fmla="*/ 0 w 1"/>
                    <a:gd name="T2" fmla="*/ 1 w 1"/>
                    <a:gd name="T3" fmla="*/ 1 w 1"/>
                    <a:gd name="T4" fmla="*/ 1 w 1"/>
                    <a:gd name="T5" fmla="*/ 1 w 1"/>
                    <a:gd name="T6" fmla="*/ 1 w 1"/>
                    <a:gd name="T7" fmla="*/ 1 w 1"/>
                    <a:gd name="T8" fmla="*/ 1 w 1"/>
                    <a:gd name="T9" fmla="*/ 1 w 1"/>
                    <a:gd name="T10" fmla="*/ 1 w 1"/>
                    <a:gd name="T11" fmla="*/ 1 w 1"/>
                    <a:gd name="T12" fmla="*/ 1 w 1"/>
                    <a:gd name="T13" fmla="*/ 1 w 1"/>
                    <a:gd name="T14" fmla="*/ 1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lnTo>
                        <a:pt x="0" y="0"/>
                      </a:lnTo>
                      <a:lnTo>
                        <a:pt x="1" y="0"/>
                      </a:lnTo>
                      <a:lnTo>
                        <a:pt x="1" y="0"/>
                      </a:lnTo>
                      <a:lnTo>
                        <a:pt x="1" y="0"/>
                      </a:lnTo>
                      <a:lnTo>
                        <a:pt x="1" y="0"/>
                      </a:lnTo>
                      <a:lnTo>
                        <a:pt x="1" y="0"/>
                      </a:lnTo>
                      <a:lnTo>
                        <a:pt x="1" y="0"/>
                      </a:lnTo>
                      <a:lnTo>
                        <a:pt x="1" y="0"/>
                      </a:lnTo>
                      <a:lnTo>
                        <a:pt x="1" y="0"/>
                      </a:lnTo>
                      <a:lnTo>
                        <a:pt x="1" y="0"/>
                      </a:lnTo>
                      <a:lnTo>
                        <a:pt x="1" y="0"/>
                      </a:lnTo>
                      <a:lnTo>
                        <a:pt x="1" y="0"/>
                      </a:lnTo>
                      <a:lnTo>
                        <a:pt x="1" y="0"/>
                      </a:lnTo>
                      <a:lnTo>
                        <a:pt x="1"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86" name="Freeform 274"/>
                <p:cNvSpPr>
                  <a:spLocks noChangeAspect="1"/>
                </p:cNvSpPr>
                <p:nvPr/>
              </p:nvSpPr>
              <p:spPr bwMode="auto">
                <a:xfrm>
                  <a:off x="384" y="59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87" name="Freeform 275"/>
                <p:cNvSpPr>
                  <a:spLocks noChangeAspect="1"/>
                </p:cNvSpPr>
                <p:nvPr/>
              </p:nvSpPr>
              <p:spPr bwMode="auto">
                <a:xfrm>
                  <a:off x="384" y="597"/>
                  <a:ext cx="1" cy="1"/>
                </a:xfrm>
                <a:custGeom>
                  <a:avLst/>
                  <a:gdLst>
                    <a:gd name="T0" fmla="*/ 0 w 1"/>
                    <a:gd name="T1" fmla="*/ 0 h 2"/>
                    <a:gd name="T2" fmla="*/ 0 w 1"/>
                    <a:gd name="T3" fmla="*/ 0 h 2"/>
                    <a:gd name="T4" fmla="*/ 0 w 1"/>
                    <a:gd name="T5" fmla="*/ 0 h 2"/>
                    <a:gd name="T6" fmla="*/ 0 w 1"/>
                    <a:gd name="T7" fmla="*/ 0 h 2"/>
                    <a:gd name="T8" fmla="*/ 0 w 1"/>
                    <a:gd name="T9" fmla="*/ 0 h 2"/>
                    <a:gd name="T10" fmla="*/ 0 w 1"/>
                    <a:gd name="T11" fmla="*/ 0 h 2"/>
                    <a:gd name="T12" fmla="*/ 0 w 1"/>
                    <a:gd name="T13" fmla="*/ 0 h 2"/>
                    <a:gd name="T14" fmla="*/ 0 w 1"/>
                    <a:gd name="T15" fmla="*/ 2 h 2"/>
                    <a:gd name="T16" fmla="*/ 1 w 1"/>
                    <a:gd name="T17" fmla="*/ 2 h 2"/>
                    <a:gd name="T18" fmla="*/ 0 w 1"/>
                    <a:gd name="T19" fmla="*/ 2 h 2"/>
                    <a:gd name="T20" fmla="*/ 0 w 1"/>
                    <a:gd name="T21" fmla="*/ 0 h 2"/>
                    <a:gd name="T22" fmla="*/ 0 w 1"/>
                    <a:gd name="T23" fmla="*/ 0 h 2"/>
                    <a:gd name="T24" fmla="*/ 0 w 1"/>
                    <a:gd name="T25" fmla="*/ 0 h 2"/>
                    <a:gd name="T26" fmla="*/ 0 w 1"/>
                    <a:gd name="T27" fmla="*/ 0 h 2"/>
                    <a:gd name="T28" fmla="*/ 0 w 1"/>
                    <a:gd name="T29" fmla="*/ 0 h 2"/>
                    <a:gd name="T30" fmla="*/ 0 w 1"/>
                    <a:gd name="T31" fmla="*/ 0 h 2"/>
                    <a:gd name="T32" fmla="*/ 0 w 1"/>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2">
                      <a:moveTo>
                        <a:pt x="0" y="0"/>
                      </a:moveTo>
                      <a:lnTo>
                        <a:pt x="0" y="0"/>
                      </a:lnTo>
                      <a:lnTo>
                        <a:pt x="0" y="0"/>
                      </a:lnTo>
                      <a:lnTo>
                        <a:pt x="0" y="0"/>
                      </a:lnTo>
                      <a:lnTo>
                        <a:pt x="0" y="0"/>
                      </a:lnTo>
                      <a:lnTo>
                        <a:pt x="0" y="0"/>
                      </a:lnTo>
                      <a:lnTo>
                        <a:pt x="0" y="0"/>
                      </a:lnTo>
                      <a:lnTo>
                        <a:pt x="0" y="2"/>
                      </a:lnTo>
                      <a:lnTo>
                        <a:pt x="1" y="2"/>
                      </a:lnTo>
                      <a:lnTo>
                        <a:pt x="0" y="2"/>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88" name="Freeform 276"/>
                <p:cNvSpPr>
                  <a:spLocks noChangeAspect="1"/>
                </p:cNvSpPr>
                <p:nvPr/>
              </p:nvSpPr>
              <p:spPr bwMode="auto">
                <a:xfrm>
                  <a:off x="384" y="598"/>
                  <a:ext cx="1" cy="1"/>
                </a:xfrm>
                <a:custGeom>
                  <a:avLst/>
                  <a:gdLst>
                    <a:gd name="T0" fmla="*/ 0 w 1"/>
                    <a:gd name="T1" fmla="*/ 0 w 1"/>
                    <a:gd name="T2" fmla="*/ 0 w 1"/>
                    <a:gd name="T3" fmla="*/ 0 w 1"/>
                    <a:gd name="T4" fmla="*/ 0 w 1"/>
                    <a:gd name="T5" fmla="*/ 0 w 1"/>
                    <a:gd name="T6" fmla="*/ 1 w 1"/>
                    <a:gd name="T7" fmla="*/ 1 w 1"/>
                    <a:gd name="T8" fmla="*/ 1 w 1"/>
                    <a:gd name="T9" fmla="*/ 1 w 1"/>
                    <a:gd name="T10" fmla="*/ 1 w 1"/>
                    <a:gd name="T11" fmla="*/ 0 w 1"/>
                    <a:gd name="T12" fmla="*/ 0 w 1"/>
                    <a:gd name="T13" fmla="*/ 0 w 1"/>
                    <a:gd name="T14" fmla="*/ 0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lnTo>
                        <a:pt x="0" y="0"/>
                      </a:lnTo>
                      <a:lnTo>
                        <a:pt x="0" y="0"/>
                      </a:lnTo>
                      <a:lnTo>
                        <a:pt x="0" y="0"/>
                      </a:lnTo>
                      <a:lnTo>
                        <a:pt x="0" y="0"/>
                      </a:lnTo>
                      <a:lnTo>
                        <a:pt x="0" y="0"/>
                      </a:lnTo>
                      <a:lnTo>
                        <a:pt x="1" y="0"/>
                      </a:lnTo>
                      <a:lnTo>
                        <a:pt x="1" y="0"/>
                      </a:lnTo>
                      <a:lnTo>
                        <a:pt x="1" y="0"/>
                      </a:lnTo>
                      <a:lnTo>
                        <a:pt x="1" y="0"/>
                      </a:lnTo>
                      <a:lnTo>
                        <a:pt x="1"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89" name="Freeform 277"/>
                <p:cNvSpPr>
                  <a:spLocks noChangeAspect="1"/>
                </p:cNvSpPr>
                <p:nvPr/>
              </p:nvSpPr>
              <p:spPr bwMode="auto">
                <a:xfrm>
                  <a:off x="385" y="599"/>
                  <a:ext cx="1" cy="1"/>
                </a:xfrm>
                <a:custGeom>
                  <a:avLst/>
                  <a:gdLst>
                    <a:gd name="T0" fmla="*/ 0 w 2"/>
                    <a:gd name="T1" fmla="*/ 0 h 3"/>
                    <a:gd name="T2" fmla="*/ 0 w 2"/>
                    <a:gd name="T3" fmla="*/ 0 h 3"/>
                    <a:gd name="T4" fmla="*/ 1 w 2"/>
                    <a:gd name="T5" fmla="*/ 1 h 3"/>
                    <a:gd name="T6" fmla="*/ 1 w 2"/>
                    <a:gd name="T7" fmla="*/ 1 h 3"/>
                    <a:gd name="T8" fmla="*/ 1 w 2"/>
                    <a:gd name="T9" fmla="*/ 2 h 3"/>
                    <a:gd name="T10" fmla="*/ 1 w 2"/>
                    <a:gd name="T11" fmla="*/ 2 h 3"/>
                    <a:gd name="T12" fmla="*/ 2 w 2"/>
                    <a:gd name="T13" fmla="*/ 2 h 3"/>
                    <a:gd name="T14" fmla="*/ 2 w 2"/>
                    <a:gd name="T15" fmla="*/ 3 h 3"/>
                    <a:gd name="T16" fmla="*/ 2 w 2"/>
                    <a:gd name="T17" fmla="*/ 3 h 3"/>
                    <a:gd name="T18" fmla="*/ 2 w 2"/>
                    <a:gd name="T19" fmla="*/ 3 h 3"/>
                    <a:gd name="T20" fmla="*/ 2 w 2"/>
                    <a:gd name="T21" fmla="*/ 3 h 3"/>
                    <a:gd name="T22" fmla="*/ 2 w 2"/>
                    <a:gd name="T23" fmla="*/ 2 h 3"/>
                    <a:gd name="T24" fmla="*/ 1 w 2"/>
                    <a:gd name="T25" fmla="*/ 2 h 3"/>
                    <a:gd name="T26" fmla="*/ 1 w 2"/>
                    <a:gd name="T27" fmla="*/ 2 h 3"/>
                    <a:gd name="T28" fmla="*/ 1 w 2"/>
                    <a:gd name="T29" fmla="*/ 1 h 3"/>
                    <a:gd name="T30" fmla="*/ 1 w 2"/>
                    <a:gd name="T31" fmla="*/ 1 h 3"/>
                    <a:gd name="T32" fmla="*/ 0 w 2"/>
                    <a:gd name="T33" fmla="*/ 0 h 3"/>
                    <a:gd name="T34" fmla="*/ 0 w 2"/>
                    <a:gd name="T3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 h="3">
                      <a:moveTo>
                        <a:pt x="0" y="0"/>
                      </a:moveTo>
                      <a:lnTo>
                        <a:pt x="0" y="0"/>
                      </a:lnTo>
                      <a:lnTo>
                        <a:pt x="1" y="1"/>
                      </a:lnTo>
                      <a:lnTo>
                        <a:pt x="1" y="1"/>
                      </a:lnTo>
                      <a:lnTo>
                        <a:pt x="1" y="2"/>
                      </a:lnTo>
                      <a:lnTo>
                        <a:pt x="1" y="2"/>
                      </a:lnTo>
                      <a:lnTo>
                        <a:pt x="2" y="2"/>
                      </a:lnTo>
                      <a:lnTo>
                        <a:pt x="2" y="3"/>
                      </a:lnTo>
                      <a:lnTo>
                        <a:pt x="2" y="3"/>
                      </a:lnTo>
                      <a:lnTo>
                        <a:pt x="2" y="3"/>
                      </a:lnTo>
                      <a:lnTo>
                        <a:pt x="2" y="3"/>
                      </a:lnTo>
                      <a:lnTo>
                        <a:pt x="2" y="2"/>
                      </a:lnTo>
                      <a:lnTo>
                        <a:pt x="1" y="2"/>
                      </a:lnTo>
                      <a:lnTo>
                        <a:pt x="1" y="2"/>
                      </a:lnTo>
                      <a:lnTo>
                        <a:pt x="1" y="1"/>
                      </a:lnTo>
                      <a:lnTo>
                        <a:pt x="1" y="1"/>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90" name="Freeform 278"/>
                <p:cNvSpPr>
                  <a:spLocks noChangeAspect="1"/>
                </p:cNvSpPr>
                <p:nvPr/>
              </p:nvSpPr>
              <p:spPr bwMode="auto">
                <a:xfrm>
                  <a:off x="332" y="619"/>
                  <a:ext cx="6" cy="13"/>
                </a:xfrm>
                <a:custGeom>
                  <a:avLst/>
                  <a:gdLst>
                    <a:gd name="T0" fmla="*/ 10 w 10"/>
                    <a:gd name="T1" fmla="*/ 38 h 38"/>
                    <a:gd name="T2" fmla="*/ 8 w 10"/>
                    <a:gd name="T3" fmla="*/ 34 h 38"/>
                    <a:gd name="T4" fmla="*/ 6 w 10"/>
                    <a:gd name="T5" fmla="*/ 30 h 38"/>
                    <a:gd name="T6" fmla="*/ 5 w 10"/>
                    <a:gd name="T7" fmla="*/ 25 h 38"/>
                    <a:gd name="T8" fmla="*/ 3 w 10"/>
                    <a:gd name="T9" fmla="*/ 21 h 38"/>
                    <a:gd name="T10" fmla="*/ 2 w 10"/>
                    <a:gd name="T11" fmla="*/ 16 h 38"/>
                    <a:gd name="T12" fmla="*/ 1 w 10"/>
                    <a:gd name="T13" fmla="*/ 11 h 38"/>
                    <a:gd name="T14" fmla="*/ 0 w 10"/>
                    <a:gd name="T15" fmla="*/ 7 h 38"/>
                    <a:gd name="T16" fmla="*/ 0 w 10"/>
                    <a:gd name="T17" fmla="*/ 1 h 38"/>
                    <a:gd name="T18" fmla="*/ 0 w 10"/>
                    <a:gd name="T19" fmla="*/ 1 h 38"/>
                    <a:gd name="T20" fmla="*/ 0 w 10"/>
                    <a:gd name="T21" fmla="*/ 1 h 38"/>
                    <a:gd name="T22" fmla="*/ 0 w 10"/>
                    <a:gd name="T23" fmla="*/ 1 h 38"/>
                    <a:gd name="T24" fmla="*/ 0 w 10"/>
                    <a:gd name="T25" fmla="*/ 1 h 38"/>
                    <a:gd name="T26" fmla="*/ 0 w 10"/>
                    <a:gd name="T27" fmla="*/ 1 h 38"/>
                    <a:gd name="T28" fmla="*/ 0 w 10"/>
                    <a:gd name="T29" fmla="*/ 1 h 38"/>
                    <a:gd name="T30" fmla="*/ 0 w 10"/>
                    <a:gd name="T31" fmla="*/ 1 h 38"/>
                    <a:gd name="T32" fmla="*/ 0 w 10"/>
                    <a:gd name="T33" fmla="*/ 1 h 38"/>
                    <a:gd name="T34" fmla="*/ 0 w 10"/>
                    <a:gd name="T35" fmla="*/ 1 h 38"/>
                    <a:gd name="T36" fmla="*/ 0 w 10"/>
                    <a:gd name="T37" fmla="*/ 1 h 38"/>
                    <a:gd name="T38" fmla="*/ 0 w 10"/>
                    <a:gd name="T39" fmla="*/ 1 h 38"/>
                    <a:gd name="T40" fmla="*/ 0 w 10"/>
                    <a:gd name="T41" fmla="*/ 1 h 38"/>
                    <a:gd name="T42" fmla="*/ 0 w 10"/>
                    <a:gd name="T43" fmla="*/ 1 h 38"/>
                    <a:gd name="T44" fmla="*/ 0 w 10"/>
                    <a:gd name="T45" fmla="*/ 1 h 38"/>
                    <a:gd name="T46" fmla="*/ 0 w 10"/>
                    <a:gd name="T47" fmla="*/ 0 h 38"/>
                    <a:gd name="T48" fmla="*/ 0 w 10"/>
                    <a:gd name="T49" fmla="*/ 0 h 38"/>
                    <a:gd name="T50" fmla="*/ 0 w 10"/>
                    <a:gd name="T51" fmla="*/ 0 h 38"/>
                    <a:gd name="T52" fmla="*/ 0 w 10"/>
                    <a:gd name="T53" fmla="*/ 1 h 38"/>
                    <a:gd name="T54" fmla="*/ 0 w 10"/>
                    <a:gd name="T55" fmla="*/ 1 h 38"/>
                    <a:gd name="T56" fmla="*/ 0 w 10"/>
                    <a:gd name="T57" fmla="*/ 1 h 38"/>
                    <a:gd name="T58" fmla="*/ 0 w 10"/>
                    <a:gd name="T59" fmla="*/ 1 h 38"/>
                    <a:gd name="T60" fmla="*/ 0 w 10"/>
                    <a:gd name="T61" fmla="*/ 1 h 38"/>
                    <a:gd name="T62" fmla="*/ 0 w 10"/>
                    <a:gd name="T63" fmla="*/ 1 h 38"/>
                    <a:gd name="T64" fmla="*/ 0 w 10"/>
                    <a:gd name="T65" fmla="*/ 1 h 38"/>
                    <a:gd name="T66" fmla="*/ 0 w 10"/>
                    <a:gd name="T67" fmla="*/ 1 h 38"/>
                    <a:gd name="T68" fmla="*/ 0 w 10"/>
                    <a:gd name="T69" fmla="*/ 1 h 38"/>
                    <a:gd name="T70" fmla="*/ 0 w 10"/>
                    <a:gd name="T71" fmla="*/ 1 h 38"/>
                    <a:gd name="T72" fmla="*/ 0 w 10"/>
                    <a:gd name="T73" fmla="*/ 1 h 38"/>
                    <a:gd name="T74" fmla="*/ 0 w 10"/>
                    <a:gd name="T75" fmla="*/ 1 h 38"/>
                    <a:gd name="T76" fmla="*/ 0 w 10"/>
                    <a:gd name="T77" fmla="*/ 1 h 38"/>
                    <a:gd name="T78" fmla="*/ 0 w 10"/>
                    <a:gd name="T79" fmla="*/ 1 h 38"/>
                    <a:gd name="T80" fmla="*/ 0 w 10"/>
                    <a:gd name="T81" fmla="*/ 1 h 38"/>
                    <a:gd name="T82" fmla="*/ 0 w 10"/>
                    <a:gd name="T83" fmla="*/ 7 h 38"/>
                    <a:gd name="T84" fmla="*/ 1 w 10"/>
                    <a:gd name="T85" fmla="*/ 11 h 38"/>
                    <a:gd name="T86" fmla="*/ 2 w 10"/>
                    <a:gd name="T87" fmla="*/ 16 h 38"/>
                    <a:gd name="T88" fmla="*/ 3 w 10"/>
                    <a:gd name="T89" fmla="*/ 21 h 38"/>
                    <a:gd name="T90" fmla="*/ 5 w 10"/>
                    <a:gd name="T91" fmla="*/ 25 h 38"/>
                    <a:gd name="T92" fmla="*/ 6 w 10"/>
                    <a:gd name="T93" fmla="*/ 30 h 38"/>
                    <a:gd name="T94" fmla="*/ 8 w 10"/>
                    <a:gd name="T95" fmla="*/ 34 h 38"/>
                    <a:gd name="T96" fmla="*/ 10 w 10"/>
                    <a:gd name="T9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38">
                      <a:moveTo>
                        <a:pt x="10" y="38"/>
                      </a:moveTo>
                      <a:lnTo>
                        <a:pt x="8" y="34"/>
                      </a:lnTo>
                      <a:lnTo>
                        <a:pt x="6" y="30"/>
                      </a:lnTo>
                      <a:lnTo>
                        <a:pt x="5" y="25"/>
                      </a:lnTo>
                      <a:lnTo>
                        <a:pt x="3" y="21"/>
                      </a:lnTo>
                      <a:lnTo>
                        <a:pt x="2" y="16"/>
                      </a:lnTo>
                      <a:lnTo>
                        <a:pt x="1" y="11"/>
                      </a:lnTo>
                      <a:lnTo>
                        <a:pt x="0" y="7"/>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0"/>
                      </a:lnTo>
                      <a:lnTo>
                        <a:pt x="0" y="0"/>
                      </a:lnTo>
                      <a:lnTo>
                        <a:pt x="0" y="0"/>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7"/>
                      </a:lnTo>
                      <a:lnTo>
                        <a:pt x="1" y="11"/>
                      </a:lnTo>
                      <a:lnTo>
                        <a:pt x="2" y="16"/>
                      </a:lnTo>
                      <a:lnTo>
                        <a:pt x="3" y="21"/>
                      </a:lnTo>
                      <a:lnTo>
                        <a:pt x="5" y="25"/>
                      </a:lnTo>
                      <a:lnTo>
                        <a:pt x="6" y="30"/>
                      </a:lnTo>
                      <a:lnTo>
                        <a:pt x="8" y="34"/>
                      </a:lnTo>
                      <a:lnTo>
                        <a:pt x="10" y="38"/>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91" name="Freeform 279"/>
                <p:cNvSpPr>
                  <a:spLocks noChangeAspect="1"/>
                </p:cNvSpPr>
                <p:nvPr/>
              </p:nvSpPr>
              <p:spPr bwMode="auto">
                <a:xfrm>
                  <a:off x="332" y="619"/>
                  <a:ext cx="1" cy="1"/>
                </a:xfrm>
                <a:custGeom>
                  <a:avLst/>
                  <a:gdLst>
                    <a:gd name="T0" fmla="*/ 1 h 1"/>
                    <a:gd name="T1" fmla="*/ 1 h 1"/>
                    <a:gd name="T2" fmla="*/ 1 h 1"/>
                    <a:gd name="T3" fmla="*/ 1 h 1"/>
                    <a:gd name="T4" fmla="*/ 0 h 1"/>
                    <a:gd name="T5" fmla="*/ 0 h 1"/>
                    <a:gd name="T6" fmla="*/ 0 h 1"/>
                    <a:gd name="T7" fmla="*/ 0 h 1"/>
                    <a:gd name="T8" fmla="*/ 0 h 1"/>
                    <a:gd name="T9" fmla="*/ 0 h 1"/>
                    <a:gd name="T10" fmla="*/ 0 h 1"/>
                    <a:gd name="T11" fmla="*/ 0 h 1"/>
                    <a:gd name="T12" fmla="*/ 0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0"/>
                      </a:lnTo>
                      <a:lnTo>
                        <a:pt x="0" y="0"/>
                      </a:lnTo>
                      <a:lnTo>
                        <a:pt x="0" y="0"/>
                      </a:lnTo>
                      <a:lnTo>
                        <a:pt x="0" y="0"/>
                      </a:lnTo>
                      <a:lnTo>
                        <a:pt x="0" y="0"/>
                      </a:lnTo>
                      <a:lnTo>
                        <a:pt x="0" y="0"/>
                      </a:lnTo>
                      <a:lnTo>
                        <a:pt x="0" y="0"/>
                      </a:lnTo>
                      <a:lnTo>
                        <a:pt x="0" y="0"/>
                      </a:lnTo>
                      <a:lnTo>
                        <a:pt x="0" y="0"/>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92" name="Freeform 280"/>
                <p:cNvSpPr>
                  <a:spLocks noChangeAspect="1"/>
                </p:cNvSpPr>
                <p:nvPr/>
              </p:nvSpPr>
              <p:spPr bwMode="auto">
                <a:xfrm>
                  <a:off x="332" y="617"/>
                  <a:ext cx="1" cy="2"/>
                </a:xfrm>
                <a:custGeom>
                  <a:avLst/>
                  <a:gdLst>
                    <a:gd name="T0" fmla="*/ 1 w 1"/>
                    <a:gd name="T1" fmla="*/ 6 h 6"/>
                    <a:gd name="T2" fmla="*/ 1 w 1"/>
                    <a:gd name="T3" fmla="*/ 5 h 6"/>
                    <a:gd name="T4" fmla="*/ 1 w 1"/>
                    <a:gd name="T5" fmla="*/ 4 h 6"/>
                    <a:gd name="T6" fmla="*/ 0 w 1"/>
                    <a:gd name="T7" fmla="*/ 3 h 6"/>
                    <a:gd name="T8" fmla="*/ 0 w 1"/>
                    <a:gd name="T9" fmla="*/ 3 h 6"/>
                    <a:gd name="T10" fmla="*/ 0 w 1"/>
                    <a:gd name="T11" fmla="*/ 2 h 6"/>
                    <a:gd name="T12" fmla="*/ 0 w 1"/>
                    <a:gd name="T13" fmla="*/ 1 h 6"/>
                    <a:gd name="T14" fmla="*/ 0 w 1"/>
                    <a:gd name="T15" fmla="*/ 0 h 6"/>
                    <a:gd name="T16" fmla="*/ 1 w 1"/>
                    <a:gd name="T17" fmla="*/ 0 h 6"/>
                    <a:gd name="T18" fmla="*/ 0 w 1"/>
                    <a:gd name="T19" fmla="*/ 0 h 6"/>
                    <a:gd name="T20" fmla="*/ 0 w 1"/>
                    <a:gd name="T21" fmla="*/ 1 h 6"/>
                    <a:gd name="T22" fmla="*/ 0 w 1"/>
                    <a:gd name="T23" fmla="*/ 2 h 6"/>
                    <a:gd name="T24" fmla="*/ 0 w 1"/>
                    <a:gd name="T25" fmla="*/ 3 h 6"/>
                    <a:gd name="T26" fmla="*/ 0 w 1"/>
                    <a:gd name="T27" fmla="*/ 3 h 6"/>
                    <a:gd name="T28" fmla="*/ 1 w 1"/>
                    <a:gd name="T29" fmla="*/ 4 h 6"/>
                    <a:gd name="T30" fmla="*/ 1 w 1"/>
                    <a:gd name="T31" fmla="*/ 5 h 6"/>
                    <a:gd name="T32" fmla="*/ 1 w 1"/>
                    <a:gd name="T3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6">
                      <a:moveTo>
                        <a:pt x="1" y="6"/>
                      </a:moveTo>
                      <a:lnTo>
                        <a:pt x="1" y="5"/>
                      </a:lnTo>
                      <a:lnTo>
                        <a:pt x="1" y="4"/>
                      </a:lnTo>
                      <a:lnTo>
                        <a:pt x="0" y="3"/>
                      </a:lnTo>
                      <a:lnTo>
                        <a:pt x="0" y="3"/>
                      </a:lnTo>
                      <a:lnTo>
                        <a:pt x="0" y="2"/>
                      </a:lnTo>
                      <a:lnTo>
                        <a:pt x="0" y="1"/>
                      </a:lnTo>
                      <a:lnTo>
                        <a:pt x="0" y="0"/>
                      </a:lnTo>
                      <a:lnTo>
                        <a:pt x="1" y="0"/>
                      </a:lnTo>
                      <a:lnTo>
                        <a:pt x="0" y="0"/>
                      </a:lnTo>
                      <a:lnTo>
                        <a:pt x="0" y="1"/>
                      </a:lnTo>
                      <a:lnTo>
                        <a:pt x="0" y="2"/>
                      </a:lnTo>
                      <a:lnTo>
                        <a:pt x="0" y="3"/>
                      </a:lnTo>
                      <a:lnTo>
                        <a:pt x="0" y="3"/>
                      </a:lnTo>
                      <a:lnTo>
                        <a:pt x="1" y="4"/>
                      </a:lnTo>
                      <a:lnTo>
                        <a:pt x="1" y="5"/>
                      </a:lnTo>
                      <a:lnTo>
                        <a:pt x="1" y="6"/>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93" name="Freeform 281"/>
                <p:cNvSpPr>
                  <a:spLocks noChangeAspect="1"/>
                </p:cNvSpPr>
                <p:nvPr/>
              </p:nvSpPr>
              <p:spPr bwMode="auto">
                <a:xfrm>
                  <a:off x="332" y="616"/>
                  <a:ext cx="1" cy="1"/>
                </a:xfrm>
                <a:custGeom>
                  <a:avLst/>
                  <a:gdLst>
                    <a:gd name="T0" fmla="*/ 1 h 1"/>
                    <a:gd name="T1" fmla="*/ 1 h 1"/>
                    <a:gd name="T2" fmla="*/ 1 h 1"/>
                    <a:gd name="T3" fmla="*/ 1 h 1"/>
                    <a:gd name="T4" fmla="*/ 0 h 1"/>
                    <a:gd name="T5" fmla="*/ 0 h 1"/>
                    <a:gd name="T6" fmla="*/ 0 h 1"/>
                    <a:gd name="T7" fmla="*/ 0 h 1"/>
                    <a:gd name="T8" fmla="*/ 0 h 1"/>
                    <a:gd name="T9" fmla="*/ 0 h 1"/>
                    <a:gd name="T10" fmla="*/ 0 h 1"/>
                    <a:gd name="T11" fmla="*/ 0 h 1"/>
                    <a:gd name="T12" fmla="*/ 0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0"/>
                      </a:lnTo>
                      <a:lnTo>
                        <a:pt x="0" y="0"/>
                      </a:lnTo>
                      <a:lnTo>
                        <a:pt x="0" y="0"/>
                      </a:lnTo>
                      <a:lnTo>
                        <a:pt x="0" y="0"/>
                      </a:lnTo>
                      <a:lnTo>
                        <a:pt x="0" y="0"/>
                      </a:lnTo>
                      <a:lnTo>
                        <a:pt x="0" y="0"/>
                      </a:lnTo>
                      <a:lnTo>
                        <a:pt x="0" y="0"/>
                      </a:lnTo>
                      <a:lnTo>
                        <a:pt x="0" y="0"/>
                      </a:lnTo>
                      <a:lnTo>
                        <a:pt x="0" y="0"/>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94" name="Freeform 282"/>
                <p:cNvSpPr>
                  <a:spLocks noChangeAspect="1"/>
                </p:cNvSpPr>
                <p:nvPr/>
              </p:nvSpPr>
              <p:spPr bwMode="auto">
                <a:xfrm>
                  <a:off x="332" y="616"/>
                  <a:ext cx="1" cy="0"/>
                </a:xfrm>
                <a:custGeom>
                  <a:avLst/>
                  <a:gdLst>
                    <a:gd name="T0" fmla="*/ 1 h 1"/>
                    <a:gd name="T1" fmla="*/ 1 h 1"/>
                    <a:gd name="T2" fmla="*/ 1 h 1"/>
                    <a:gd name="T3" fmla="*/ 1 h 1"/>
                    <a:gd name="T4" fmla="*/ 1 h 1"/>
                    <a:gd name="T5" fmla="*/ 0 h 1"/>
                    <a:gd name="T6" fmla="*/ 0 h 1"/>
                    <a:gd name="T7" fmla="*/ 0 h 1"/>
                    <a:gd name="T8" fmla="*/ 0 h 1"/>
                    <a:gd name="T9" fmla="*/ 0 h 1"/>
                    <a:gd name="T10" fmla="*/ 0 h 1"/>
                    <a:gd name="T11" fmla="*/ 0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0"/>
                      </a:lnTo>
                      <a:lnTo>
                        <a:pt x="0" y="0"/>
                      </a:lnTo>
                      <a:lnTo>
                        <a:pt x="0" y="0"/>
                      </a:lnTo>
                      <a:lnTo>
                        <a:pt x="0" y="0"/>
                      </a:lnTo>
                      <a:lnTo>
                        <a:pt x="0" y="0"/>
                      </a:lnTo>
                      <a:lnTo>
                        <a:pt x="0" y="0"/>
                      </a:lnTo>
                      <a:lnTo>
                        <a:pt x="0" y="0"/>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95" name="Freeform 283"/>
                <p:cNvSpPr>
                  <a:spLocks noChangeAspect="1"/>
                </p:cNvSpPr>
                <p:nvPr/>
              </p:nvSpPr>
              <p:spPr bwMode="auto">
                <a:xfrm>
                  <a:off x="332" y="616"/>
                  <a:ext cx="1" cy="0"/>
                </a:xfrm>
                <a:custGeom>
                  <a:avLst/>
                  <a:gdLst>
                    <a:gd name="T0" fmla="*/ 1 h 1"/>
                    <a:gd name="T1" fmla="*/ 1 h 1"/>
                    <a:gd name="T2" fmla="*/ 1 h 1"/>
                    <a:gd name="T3" fmla="*/ 1 h 1"/>
                    <a:gd name="T4" fmla="*/ 0 h 1"/>
                    <a:gd name="T5" fmla="*/ 0 h 1"/>
                    <a:gd name="T6" fmla="*/ 0 h 1"/>
                    <a:gd name="T7" fmla="*/ 0 h 1"/>
                    <a:gd name="T8" fmla="*/ 0 h 1"/>
                    <a:gd name="T9" fmla="*/ 0 h 1"/>
                    <a:gd name="T10" fmla="*/ 0 h 1"/>
                    <a:gd name="T11" fmla="*/ 0 h 1"/>
                    <a:gd name="T12" fmla="*/ 0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0"/>
                      </a:lnTo>
                      <a:lnTo>
                        <a:pt x="0" y="0"/>
                      </a:lnTo>
                      <a:lnTo>
                        <a:pt x="0" y="0"/>
                      </a:lnTo>
                      <a:lnTo>
                        <a:pt x="0" y="0"/>
                      </a:lnTo>
                      <a:lnTo>
                        <a:pt x="0" y="0"/>
                      </a:lnTo>
                      <a:lnTo>
                        <a:pt x="0" y="0"/>
                      </a:lnTo>
                      <a:lnTo>
                        <a:pt x="0" y="0"/>
                      </a:lnTo>
                      <a:lnTo>
                        <a:pt x="0" y="0"/>
                      </a:lnTo>
                      <a:lnTo>
                        <a:pt x="0" y="0"/>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96" name="Freeform 284"/>
                <p:cNvSpPr>
                  <a:spLocks noChangeAspect="1"/>
                </p:cNvSpPr>
                <p:nvPr/>
              </p:nvSpPr>
              <p:spPr bwMode="auto">
                <a:xfrm>
                  <a:off x="332" y="614"/>
                  <a:ext cx="1" cy="1"/>
                </a:xfrm>
                <a:custGeom>
                  <a:avLst/>
                  <a:gdLst>
                    <a:gd name="T0" fmla="*/ 1 h 1"/>
                    <a:gd name="T1" fmla="*/ 1 h 1"/>
                    <a:gd name="T2" fmla="*/ 0 h 1"/>
                    <a:gd name="T3" fmla="*/ 0 h 1"/>
                    <a:gd name="T4" fmla="*/ 0 h 1"/>
                    <a:gd name="T5" fmla="*/ 0 h 1"/>
                    <a:gd name="T6" fmla="*/ 0 h 1"/>
                    <a:gd name="T7" fmla="*/ 0 h 1"/>
                    <a:gd name="T8" fmla="*/ 0 h 1"/>
                    <a:gd name="T9" fmla="*/ 0 h 1"/>
                    <a:gd name="T10" fmla="*/ 0 h 1"/>
                    <a:gd name="T11" fmla="*/ 0 h 1"/>
                    <a:gd name="T12" fmla="*/ 0 h 1"/>
                    <a:gd name="T13" fmla="*/ 0 h 1"/>
                    <a:gd name="T14" fmla="*/ 0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97" name="Freeform 285"/>
                <p:cNvSpPr>
                  <a:spLocks noChangeAspect="1"/>
                </p:cNvSpPr>
                <p:nvPr/>
              </p:nvSpPr>
              <p:spPr bwMode="auto">
                <a:xfrm>
                  <a:off x="332" y="613"/>
                  <a:ext cx="1" cy="1"/>
                </a:xfrm>
                <a:custGeom>
                  <a:avLst/>
                  <a:gdLst>
                    <a:gd name="T0" fmla="*/ 1 h 1"/>
                    <a:gd name="T1" fmla="*/ 1 h 1"/>
                    <a:gd name="T2" fmla="*/ 0 h 1"/>
                    <a:gd name="T3" fmla="*/ 0 h 1"/>
                    <a:gd name="T4" fmla="*/ 0 h 1"/>
                    <a:gd name="T5" fmla="*/ 0 h 1"/>
                    <a:gd name="T6" fmla="*/ 0 h 1"/>
                    <a:gd name="T7" fmla="*/ 0 h 1"/>
                    <a:gd name="T8" fmla="*/ 0 h 1"/>
                    <a:gd name="T9" fmla="*/ 0 h 1"/>
                    <a:gd name="T10" fmla="*/ 0 h 1"/>
                    <a:gd name="T11" fmla="*/ 0 h 1"/>
                    <a:gd name="T12" fmla="*/ 0 h 1"/>
                    <a:gd name="T13" fmla="*/ 0 h 1"/>
                    <a:gd name="T14" fmla="*/ 0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98" name="Freeform 286"/>
                <p:cNvSpPr>
                  <a:spLocks noChangeAspect="1"/>
                </p:cNvSpPr>
                <p:nvPr/>
              </p:nvSpPr>
              <p:spPr bwMode="auto">
                <a:xfrm>
                  <a:off x="333" y="61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799" name="Freeform 287"/>
                <p:cNvSpPr>
                  <a:spLocks noChangeAspect="1"/>
                </p:cNvSpPr>
                <p:nvPr/>
              </p:nvSpPr>
              <p:spPr bwMode="auto">
                <a:xfrm>
                  <a:off x="333" y="611"/>
                  <a:ext cx="1" cy="1"/>
                </a:xfrm>
                <a:custGeom>
                  <a:avLst/>
                  <a:gdLst>
                    <a:gd name="T0" fmla="*/ 1 h 1"/>
                    <a:gd name="T1" fmla="*/ 1 h 1"/>
                    <a:gd name="T2" fmla="*/ 1 h 1"/>
                    <a:gd name="T3" fmla="*/ 1 h 1"/>
                    <a:gd name="T4" fmla="*/ 1 h 1"/>
                    <a:gd name="T5" fmla="*/ 1 h 1"/>
                    <a:gd name="T6" fmla="*/ 1 h 1"/>
                    <a:gd name="T7" fmla="*/ 0 h 1"/>
                    <a:gd name="T8" fmla="*/ 0 h 1"/>
                    <a:gd name="T9" fmla="*/ 0 h 1"/>
                    <a:gd name="T10" fmla="*/ 1 h 1"/>
                    <a:gd name="T11" fmla="*/ 1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1"/>
                      </a:lnTo>
                      <a:lnTo>
                        <a:pt x="0" y="1"/>
                      </a:lnTo>
                      <a:lnTo>
                        <a:pt x="0" y="0"/>
                      </a:lnTo>
                      <a:lnTo>
                        <a:pt x="0" y="0"/>
                      </a:lnTo>
                      <a:lnTo>
                        <a:pt x="0" y="0"/>
                      </a:lnTo>
                      <a:lnTo>
                        <a:pt x="0" y="1"/>
                      </a:lnTo>
                      <a:lnTo>
                        <a:pt x="0" y="1"/>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00" name="Freeform 288"/>
                <p:cNvSpPr>
                  <a:spLocks noChangeAspect="1"/>
                </p:cNvSpPr>
                <p:nvPr/>
              </p:nvSpPr>
              <p:spPr bwMode="auto">
                <a:xfrm>
                  <a:off x="333" y="61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01" name="Freeform 289"/>
                <p:cNvSpPr>
                  <a:spLocks noChangeAspect="1"/>
                </p:cNvSpPr>
                <p:nvPr/>
              </p:nvSpPr>
              <p:spPr bwMode="auto">
                <a:xfrm>
                  <a:off x="333" y="61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02" name="Freeform 290"/>
                <p:cNvSpPr>
                  <a:spLocks noChangeAspect="1"/>
                </p:cNvSpPr>
                <p:nvPr/>
              </p:nvSpPr>
              <p:spPr bwMode="auto">
                <a:xfrm>
                  <a:off x="333" y="61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03" name="Freeform 291"/>
                <p:cNvSpPr>
                  <a:spLocks noChangeAspect="1"/>
                </p:cNvSpPr>
                <p:nvPr/>
              </p:nvSpPr>
              <p:spPr bwMode="auto">
                <a:xfrm>
                  <a:off x="333" y="609"/>
                  <a:ext cx="1" cy="0"/>
                </a:xfrm>
                <a:custGeom>
                  <a:avLst/>
                  <a:gdLst>
                    <a:gd name="T0" fmla="*/ 1 h 1"/>
                    <a:gd name="T1" fmla="*/ 1 h 1"/>
                    <a:gd name="T2" fmla="*/ 1 h 1"/>
                    <a:gd name="T3" fmla="*/ 1 h 1"/>
                    <a:gd name="T4" fmla="*/ 1 h 1"/>
                    <a:gd name="T5" fmla="*/ 1 h 1"/>
                    <a:gd name="T6" fmla="*/ 0 h 1"/>
                    <a:gd name="T7" fmla="*/ 0 h 1"/>
                    <a:gd name="T8" fmla="*/ 0 h 1"/>
                    <a:gd name="T9" fmla="*/ 0 h 1"/>
                    <a:gd name="T10" fmla="*/ 0 h 1"/>
                    <a:gd name="T11" fmla="*/ 1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1"/>
                      </a:lnTo>
                      <a:lnTo>
                        <a:pt x="0" y="0"/>
                      </a:lnTo>
                      <a:lnTo>
                        <a:pt x="0" y="0"/>
                      </a:lnTo>
                      <a:lnTo>
                        <a:pt x="0" y="0"/>
                      </a:lnTo>
                      <a:lnTo>
                        <a:pt x="0" y="0"/>
                      </a:lnTo>
                      <a:lnTo>
                        <a:pt x="0" y="0"/>
                      </a:lnTo>
                      <a:lnTo>
                        <a:pt x="0" y="1"/>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04" name="Freeform 292"/>
                <p:cNvSpPr>
                  <a:spLocks noChangeAspect="1"/>
                </p:cNvSpPr>
                <p:nvPr/>
              </p:nvSpPr>
              <p:spPr bwMode="auto">
                <a:xfrm>
                  <a:off x="333" y="609"/>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05" name="Freeform 293"/>
                <p:cNvSpPr>
                  <a:spLocks noChangeAspect="1"/>
                </p:cNvSpPr>
                <p:nvPr/>
              </p:nvSpPr>
              <p:spPr bwMode="auto">
                <a:xfrm>
                  <a:off x="334" y="607"/>
                  <a:ext cx="1" cy="1"/>
                </a:xfrm>
                <a:custGeom>
                  <a:avLst/>
                  <a:gdLst>
                    <a:gd name="T0" fmla="*/ 1 h 1"/>
                    <a:gd name="T1" fmla="*/ 1 h 1"/>
                    <a:gd name="T2" fmla="*/ 1 h 1"/>
                    <a:gd name="T3" fmla="*/ 1 h 1"/>
                    <a:gd name="T4" fmla="*/ 1 h 1"/>
                    <a:gd name="T5" fmla="*/ 1 h 1"/>
                    <a:gd name="T6" fmla="*/ 0 h 1"/>
                    <a:gd name="T7" fmla="*/ 0 h 1"/>
                    <a:gd name="T8" fmla="*/ 0 h 1"/>
                    <a:gd name="T9" fmla="*/ 0 h 1"/>
                    <a:gd name="T10" fmla="*/ 0 h 1"/>
                    <a:gd name="T11" fmla="*/ 1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1"/>
                      </a:lnTo>
                      <a:lnTo>
                        <a:pt x="0" y="0"/>
                      </a:lnTo>
                      <a:lnTo>
                        <a:pt x="0" y="0"/>
                      </a:lnTo>
                      <a:lnTo>
                        <a:pt x="0" y="0"/>
                      </a:lnTo>
                      <a:lnTo>
                        <a:pt x="0" y="0"/>
                      </a:lnTo>
                      <a:lnTo>
                        <a:pt x="0" y="0"/>
                      </a:lnTo>
                      <a:lnTo>
                        <a:pt x="0" y="1"/>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06" name="Freeform 294"/>
                <p:cNvSpPr>
                  <a:spLocks noChangeAspect="1"/>
                </p:cNvSpPr>
                <p:nvPr/>
              </p:nvSpPr>
              <p:spPr bwMode="auto">
                <a:xfrm>
                  <a:off x="334" y="606"/>
                  <a:ext cx="1" cy="1"/>
                </a:xfrm>
                <a:custGeom>
                  <a:avLst/>
                  <a:gdLst>
                    <a:gd name="T0" fmla="*/ 1 h 1"/>
                    <a:gd name="T1" fmla="*/ 1 h 1"/>
                    <a:gd name="T2" fmla="*/ 1 h 1"/>
                    <a:gd name="T3" fmla="*/ 0 h 1"/>
                    <a:gd name="T4" fmla="*/ 0 h 1"/>
                    <a:gd name="T5" fmla="*/ 0 h 1"/>
                    <a:gd name="T6" fmla="*/ 0 h 1"/>
                    <a:gd name="T7" fmla="*/ 0 h 1"/>
                    <a:gd name="T8" fmla="*/ 0 h 1"/>
                    <a:gd name="T9" fmla="*/ 0 h 1"/>
                    <a:gd name="T10" fmla="*/ 0 h 1"/>
                    <a:gd name="T11" fmla="*/ 0 h 1"/>
                    <a:gd name="T12" fmla="*/ 0 h 1"/>
                    <a:gd name="T13" fmla="*/ 0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0"/>
                      </a:lnTo>
                      <a:lnTo>
                        <a:pt x="0" y="0"/>
                      </a:lnTo>
                      <a:lnTo>
                        <a:pt x="0" y="0"/>
                      </a:lnTo>
                      <a:lnTo>
                        <a:pt x="0" y="0"/>
                      </a:lnTo>
                      <a:lnTo>
                        <a:pt x="0" y="0"/>
                      </a:lnTo>
                      <a:lnTo>
                        <a:pt x="0" y="0"/>
                      </a:lnTo>
                      <a:lnTo>
                        <a:pt x="0" y="0"/>
                      </a:lnTo>
                      <a:lnTo>
                        <a:pt x="0" y="0"/>
                      </a:lnTo>
                      <a:lnTo>
                        <a:pt x="0" y="0"/>
                      </a:lnTo>
                      <a:lnTo>
                        <a:pt x="0" y="0"/>
                      </a:lnTo>
                      <a:lnTo>
                        <a:pt x="0" y="0"/>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07" name="Freeform 295"/>
                <p:cNvSpPr>
                  <a:spLocks noChangeAspect="1"/>
                </p:cNvSpPr>
                <p:nvPr/>
              </p:nvSpPr>
              <p:spPr bwMode="auto">
                <a:xfrm>
                  <a:off x="539" y="878"/>
                  <a:ext cx="58" cy="59"/>
                </a:xfrm>
                <a:custGeom>
                  <a:avLst/>
                  <a:gdLst>
                    <a:gd name="T0" fmla="*/ 128 w 174"/>
                    <a:gd name="T1" fmla="*/ 9 h 179"/>
                    <a:gd name="T2" fmla="*/ 142 w 174"/>
                    <a:gd name="T3" fmla="*/ 19 h 179"/>
                    <a:gd name="T4" fmla="*/ 153 w 174"/>
                    <a:gd name="T5" fmla="*/ 30 h 179"/>
                    <a:gd name="T6" fmla="*/ 163 w 174"/>
                    <a:gd name="T7" fmla="*/ 45 h 179"/>
                    <a:gd name="T8" fmla="*/ 169 w 174"/>
                    <a:gd name="T9" fmla="*/ 60 h 179"/>
                    <a:gd name="T10" fmla="*/ 173 w 174"/>
                    <a:gd name="T11" fmla="*/ 77 h 179"/>
                    <a:gd name="T12" fmla="*/ 173 w 174"/>
                    <a:gd name="T13" fmla="*/ 95 h 179"/>
                    <a:gd name="T14" fmla="*/ 169 w 174"/>
                    <a:gd name="T15" fmla="*/ 112 h 179"/>
                    <a:gd name="T16" fmla="*/ 163 w 174"/>
                    <a:gd name="T17" fmla="*/ 129 h 179"/>
                    <a:gd name="T18" fmla="*/ 153 w 174"/>
                    <a:gd name="T19" fmla="*/ 145 h 179"/>
                    <a:gd name="T20" fmla="*/ 142 w 174"/>
                    <a:gd name="T21" fmla="*/ 158 h 179"/>
                    <a:gd name="T22" fmla="*/ 128 w 174"/>
                    <a:gd name="T23" fmla="*/ 167 h 179"/>
                    <a:gd name="T24" fmla="*/ 112 w 174"/>
                    <a:gd name="T25" fmla="*/ 175 h 179"/>
                    <a:gd name="T26" fmla="*/ 96 w 174"/>
                    <a:gd name="T27" fmla="*/ 179 h 179"/>
                    <a:gd name="T28" fmla="*/ 79 w 174"/>
                    <a:gd name="T29" fmla="*/ 179 h 179"/>
                    <a:gd name="T30" fmla="*/ 62 w 174"/>
                    <a:gd name="T31" fmla="*/ 177 h 179"/>
                    <a:gd name="T32" fmla="*/ 46 w 174"/>
                    <a:gd name="T33" fmla="*/ 171 h 179"/>
                    <a:gd name="T34" fmla="*/ 32 w 174"/>
                    <a:gd name="T35" fmla="*/ 161 h 179"/>
                    <a:gd name="T36" fmla="*/ 19 w 174"/>
                    <a:gd name="T37" fmla="*/ 149 h 179"/>
                    <a:gd name="T38" fmla="*/ 11 w 174"/>
                    <a:gd name="T39" fmla="*/ 134 h 179"/>
                    <a:gd name="T40" fmla="*/ 4 w 174"/>
                    <a:gd name="T41" fmla="*/ 120 h 179"/>
                    <a:gd name="T42" fmla="*/ 1 w 174"/>
                    <a:gd name="T43" fmla="*/ 102 h 179"/>
                    <a:gd name="T44" fmla="*/ 0 w 174"/>
                    <a:gd name="T45" fmla="*/ 84 h 179"/>
                    <a:gd name="T46" fmla="*/ 3 w 174"/>
                    <a:gd name="T47" fmla="*/ 67 h 179"/>
                    <a:gd name="T48" fmla="*/ 11 w 174"/>
                    <a:gd name="T49" fmla="*/ 50 h 179"/>
                    <a:gd name="T50" fmla="*/ 20 w 174"/>
                    <a:gd name="T51" fmla="*/ 34 h 179"/>
                    <a:gd name="T52" fmla="*/ 32 w 174"/>
                    <a:gd name="T53" fmla="*/ 22 h 179"/>
                    <a:gd name="T54" fmla="*/ 46 w 174"/>
                    <a:gd name="T55" fmla="*/ 12 h 179"/>
                    <a:gd name="T56" fmla="*/ 61 w 174"/>
                    <a:gd name="T57" fmla="*/ 5 h 179"/>
                    <a:gd name="T58" fmla="*/ 78 w 174"/>
                    <a:gd name="T59" fmla="*/ 0 h 179"/>
                    <a:gd name="T60" fmla="*/ 95 w 174"/>
                    <a:gd name="T61" fmla="*/ 0 h 179"/>
                    <a:gd name="T62" fmla="*/ 112 w 174"/>
                    <a:gd name="T63" fmla="*/ 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4" h="179">
                      <a:moveTo>
                        <a:pt x="119" y="6"/>
                      </a:moveTo>
                      <a:lnTo>
                        <a:pt x="128" y="9"/>
                      </a:lnTo>
                      <a:lnTo>
                        <a:pt x="135" y="13"/>
                      </a:lnTo>
                      <a:lnTo>
                        <a:pt x="142" y="19"/>
                      </a:lnTo>
                      <a:lnTo>
                        <a:pt x="148" y="24"/>
                      </a:lnTo>
                      <a:lnTo>
                        <a:pt x="153" y="30"/>
                      </a:lnTo>
                      <a:lnTo>
                        <a:pt x="159" y="38"/>
                      </a:lnTo>
                      <a:lnTo>
                        <a:pt x="163" y="45"/>
                      </a:lnTo>
                      <a:lnTo>
                        <a:pt x="166" y="53"/>
                      </a:lnTo>
                      <a:lnTo>
                        <a:pt x="169" y="60"/>
                      </a:lnTo>
                      <a:lnTo>
                        <a:pt x="172" y="68"/>
                      </a:lnTo>
                      <a:lnTo>
                        <a:pt x="173" y="77"/>
                      </a:lnTo>
                      <a:lnTo>
                        <a:pt x="174" y="85"/>
                      </a:lnTo>
                      <a:lnTo>
                        <a:pt x="173" y="95"/>
                      </a:lnTo>
                      <a:lnTo>
                        <a:pt x="172" y="104"/>
                      </a:lnTo>
                      <a:lnTo>
                        <a:pt x="169" y="112"/>
                      </a:lnTo>
                      <a:lnTo>
                        <a:pt x="167" y="121"/>
                      </a:lnTo>
                      <a:lnTo>
                        <a:pt x="163" y="129"/>
                      </a:lnTo>
                      <a:lnTo>
                        <a:pt x="159" y="138"/>
                      </a:lnTo>
                      <a:lnTo>
                        <a:pt x="153" y="145"/>
                      </a:lnTo>
                      <a:lnTo>
                        <a:pt x="148" y="151"/>
                      </a:lnTo>
                      <a:lnTo>
                        <a:pt x="142" y="158"/>
                      </a:lnTo>
                      <a:lnTo>
                        <a:pt x="135" y="163"/>
                      </a:lnTo>
                      <a:lnTo>
                        <a:pt x="128" y="167"/>
                      </a:lnTo>
                      <a:lnTo>
                        <a:pt x="120" y="172"/>
                      </a:lnTo>
                      <a:lnTo>
                        <a:pt x="112" y="175"/>
                      </a:lnTo>
                      <a:lnTo>
                        <a:pt x="104" y="177"/>
                      </a:lnTo>
                      <a:lnTo>
                        <a:pt x="96" y="179"/>
                      </a:lnTo>
                      <a:lnTo>
                        <a:pt x="87" y="179"/>
                      </a:lnTo>
                      <a:lnTo>
                        <a:pt x="79" y="179"/>
                      </a:lnTo>
                      <a:lnTo>
                        <a:pt x="70" y="178"/>
                      </a:lnTo>
                      <a:lnTo>
                        <a:pt x="62" y="177"/>
                      </a:lnTo>
                      <a:lnTo>
                        <a:pt x="53" y="174"/>
                      </a:lnTo>
                      <a:lnTo>
                        <a:pt x="46" y="171"/>
                      </a:lnTo>
                      <a:lnTo>
                        <a:pt x="38" y="166"/>
                      </a:lnTo>
                      <a:lnTo>
                        <a:pt x="32" y="161"/>
                      </a:lnTo>
                      <a:lnTo>
                        <a:pt x="26" y="156"/>
                      </a:lnTo>
                      <a:lnTo>
                        <a:pt x="19" y="149"/>
                      </a:lnTo>
                      <a:lnTo>
                        <a:pt x="15" y="142"/>
                      </a:lnTo>
                      <a:lnTo>
                        <a:pt x="11" y="134"/>
                      </a:lnTo>
                      <a:lnTo>
                        <a:pt x="7" y="127"/>
                      </a:lnTo>
                      <a:lnTo>
                        <a:pt x="4" y="120"/>
                      </a:lnTo>
                      <a:lnTo>
                        <a:pt x="2" y="111"/>
                      </a:lnTo>
                      <a:lnTo>
                        <a:pt x="1" y="102"/>
                      </a:lnTo>
                      <a:lnTo>
                        <a:pt x="0" y="94"/>
                      </a:lnTo>
                      <a:lnTo>
                        <a:pt x="0" y="84"/>
                      </a:lnTo>
                      <a:lnTo>
                        <a:pt x="1" y="76"/>
                      </a:lnTo>
                      <a:lnTo>
                        <a:pt x="3" y="67"/>
                      </a:lnTo>
                      <a:lnTo>
                        <a:pt x="7" y="59"/>
                      </a:lnTo>
                      <a:lnTo>
                        <a:pt x="11" y="50"/>
                      </a:lnTo>
                      <a:lnTo>
                        <a:pt x="15" y="42"/>
                      </a:lnTo>
                      <a:lnTo>
                        <a:pt x="20" y="34"/>
                      </a:lnTo>
                      <a:lnTo>
                        <a:pt x="26" y="28"/>
                      </a:lnTo>
                      <a:lnTo>
                        <a:pt x="32" y="22"/>
                      </a:lnTo>
                      <a:lnTo>
                        <a:pt x="38" y="16"/>
                      </a:lnTo>
                      <a:lnTo>
                        <a:pt x="46" y="12"/>
                      </a:lnTo>
                      <a:lnTo>
                        <a:pt x="53" y="8"/>
                      </a:lnTo>
                      <a:lnTo>
                        <a:pt x="61" y="5"/>
                      </a:lnTo>
                      <a:lnTo>
                        <a:pt x="69" y="3"/>
                      </a:lnTo>
                      <a:lnTo>
                        <a:pt x="78" y="0"/>
                      </a:lnTo>
                      <a:lnTo>
                        <a:pt x="86" y="0"/>
                      </a:lnTo>
                      <a:lnTo>
                        <a:pt x="95" y="0"/>
                      </a:lnTo>
                      <a:lnTo>
                        <a:pt x="103" y="0"/>
                      </a:lnTo>
                      <a:lnTo>
                        <a:pt x="112" y="3"/>
                      </a:lnTo>
                      <a:lnTo>
                        <a:pt x="119" y="6"/>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08" name="Freeform 296"/>
                <p:cNvSpPr>
                  <a:spLocks noChangeAspect="1"/>
                </p:cNvSpPr>
                <p:nvPr/>
              </p:nvSpPr>
              <p:spPr bwMode="auto">
                <a:xfrm>
                  <a:off x="539" y="878"/>
                  <a:ext cx="58" cy="59"/>
                </a:xfrm>
                <a:custGeom>
                  <a:avLst/>
                  <a:gdLst>
                    <a:gd name="T0" fmla="*/ 128 w 174"/>
                    <a:gd name="T1" fmla="*/ 9 h 179"/>
                    <a:gd name="T2" fmla="*/ 142 w 174"/>
                    <a:gd name="T3" fmla="*/ 19 h 179"/>
                    <a:gd name="T4" fmla="*/ 153 w 174"/>
                    <a:gd name="T5" fmla="*/ 30 h 179"/>
                    <a:gd name="T6" fmla="*/ 163 w 174"/>
                    <a:gd name="T7" fmla="*/ 45 h 179"/>
                    <a:gd name="T8" fmla="*/ 169 w 174"/>
                    <a:gd name="T9" fmla="*/ 60 h 179"/>
                    <a:gd name="T10" fmla="*/ 173 w 174"/>
                    <a:gd name="T11" fmla="*/ 77 h 179"/>
                    <a:gd name="T12" fmla="*/ 173 w 174"/>
                    <a:gd name="T13" fmla="*/ 95 h 179"/>
                    <a:gd name="T14" fmla="*/ 169 w 174"/>
                    <a:gd name="T15" fmla="*/ 112 h 179"/>
                    <a:gd name="T16" fmla="*/ 163 w 174"/>
                    <a:gd name="T17" fmla="*/ 129 h 179"/>
                    <a:gd name="T18" fmla="*/ 153 w 174"/>
                    <a:gd name="T19" fmla="*/ 145 h 179"/>
                    <a:gd name="T20" fmla="*/ 142 w 174"/>
                    <a:gd name="T21" fmla="*/ 158 h 179"/>
                    <a:gd name="T22" fmla="*/ 128 w 174"/>
                    <a:gd name="T23" fmla="*/ 167 h 179"/>
                    <a:gd name="T24" fmla="*/ 112 w 174"/>
                    <a:gd name="T25" fmla="*/ 175 h 179"/>
                    <a:gd name="T26" fmla="*/ 96 w 174"/>
                    <a:gd name="T27" fmla="*/ 179 h 179"/>
                    <a:gd name="T28" fmla="*/ 79 w 174"/>
                    <a:gd name="T29" fmla="*/ 179 h 179"/>
                    <a:gd name="T30" fmla="*/ 62 w 174"/>
                    <a:gd name="T31" fmla="*/ 177 h 179"/>
                    <a:gd name="T32" fmla="*/ 46 w 174"/>
                    <a:gd name="T33" fmla="*/ 171 h 179"/>
                    <a:gd name="T34" fmla="*/ 32 w 174"/>
                    <a:gd name="T35" fmla="*/ 161 h 179"/>
                    <a:gd name="T36" fmla="*/ 19 w 174"/>
                    <a:gd name="T37" fmla="*/ 149 h 179"/>
                    <a:gd name="T38" fmla="*/ 11 w 174"/>
                    <a:gd name="T39" fmla="*/ 134 h 179"/>
                    <a:gd name="T40" fmla="*/ 4 w 174"/>
                    <a:gd name="T41" fmla="*/ 120 h 179"/>
                    <a:gd name="T42" fmla="*/ 1 w 174"/>
                    <a:gd name="T43" fmla="*/ 102 h 179"/>
                    <a:gd name="T44" fmla="*/ 0 w 174"/>
                    <a:gd name="T45" fmla="*/ 84 h 179"/>
                    <a:gd name="T46" fmla="*/ 3 w 174"/>
                    <a:gd name="T47" fmla="*/ 67 h 179"/>
                    <a:gd name="T48" fmla="*/ 11 w 174"/>
                    <a:gd name="T49" fmla="*/ 50 h 179"/>
                    <a:gd name="T50" fmla="*/ 20 w 174"/>
                    <a:gd name="T51" fmla="*/ 34 h 179"/>
                    <a:gd name="T52" fmla="*/ 32 w 174"/>
                    <a:gd name="T53" fmla="*/ 22 h 179"/>
                    <a:gd name="T54" fmla="*/ 46 w 174"/>
                    <a:gd name="T55" fmla="*/ 12 h 179"/>
                    <a:gd name="T56" fmla="*/ 61 w 174"/>
                    <a:gd name="T57" fmla="*/ 5 h 179"/>
                    <a:gd name="T58" fmla="*/ 78 w 174"/>
                    <a:gd name="T59" fmla="*/ 0 h 179"/>
                    <a:gd name="T60" fmla="*/ 95 w 174"/>
                    <a:gd name="T61" fmla="*/ 0 h 179"/>
                    <a:gd name="T62" fmla="*/ 112 w 174"/>
                    <a:gd name="T63" fmla="*/ 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4" h="179">
                      <a:moveTo>
                        <a:pt x="119" y="6"/>
                      </a:moveTo>
                      <a:lnTo>
                        <a:pt x="128" y="9"/>
                      </a:lnTo>
                      <a:lnTo>
                        <a:pt x="135" y="13"/>
                      </a:lnTo>
                      <a:lnTo>
                        <a:pt x="142" y="19"/>
                      </a:lnTo>
                      <a:lnTo>
                        <a:pt x="148" y="24"/>
                      </a:lnTo>
                      <a:lnTo>
                        <a:pt x="153" y="30"/>
                      </a:lnTo>
                      <a:lnTo>
                        <a:pt x="159" y="38"/>
                      </a:lnTo>
                      <a:lnTo>
                        <a:pt x="163" y="45"/>
                      </a:lnTo>
                      <a:lnTo>
                        <a:pt x="166" y="53"/>
                      </a:lnTo>
                      <a:lnTo>
                        <a:pt x="169" y="60"/>
                      </a:lnTo>
                      <a:lnTo>
                        <a:pt x="172" y="68"/>
                      </a:lnTo>
                      <a:lnTo>
                        <a:pt x="173" y="77"/>
                      </a:lnTo>
                      <a:lnTo>
                        <a:pt x="174" y="85"/>
                      </a:lnTo>
                      <a:lnTo>
                        <a:pt x="173" y="95"/>
                      </a:lnTo>
                      <a:lnTo>
                        <a:pt x="172" y="104"/>
                      </a:lnTo>
                      <a:lnTo>
                        <a:pt x="169" y="112"/>
                      </a:lnTo>
                      <a:lnTo>
                        <a:pt x="167" y="121"/>
                      </a:lnTo>
                      <a:lnTo>
                        <a:pt x="163" y="129"/>
                      </a:lnTo>
                      <a:lnTo>
                        <a:pt x="159" y="138"/>
                      </a:lnTo>
                      <a:lnTo>
                        <a:pt x="153" y="145"/>
                      </a:lnTo>
                      <a:lnTo>
                        <a:pt x="148" y="151"/>
                      </a:lnTo>
                      <a:lnTo>
                        <a:pt x="142" y="158"/>
                      </a:lnTo>
                      <a:lnTo>
                        <a:pt x="135" y="163"/>
                      </a:lnTo>
                      <a:lnTo>
                        <a:pt x="128" y="167"/>
                      </a:lnTo>
                      <a:lnTo>
                        <a:pt x="120" y="172"/>
                      </a:lnTo>
                      <a:lnTo>
                        <a:pt x="112" y="175"/>
                      </a:lnTo>
                      <a:lnTo>
                        <a:pt x="104" y="177"/>
                      </a:lnTo>
                      <a:lnTo>
                        <a:pt x="96" y="179"/>
                      </a:lnTo>
                      <a:lnTo>
                        <a:pt x="87" y="179"/>
                      </a:lnTo>
                      <a:lnTo>
                        <a:pt x="79" y="179"/>
                      </a:lnTo>
                      <a:lnTo>
                        <a:pt x="70" y="178"/>
                      </a:lnTo>
                      <a:lnTo>
                        <a:pt x="62" y="177"/>
                      </a:lnTo>
                      <a:lnTo>
                        <a:pt x="53" y="174"/>
                      </a:lnTo>
                      <a:lnTo>
                        <a:pt x="46" y="171"/>
                      </a:lnTo>
                      <a:lnTo>
                        <a:pt x="38" y="166"/>
                      </a:lnTo>
                      <a:lnTo>
                        <a:pt x="32" y="161"/>
                      </a:lnTo>
                      <a:lnTo>
                        <a:pt x="26" y="156"/>
                      </a:lnTo>
                      <a:lnTo>
                        <a:pt x="19" y="149"/>
                      </a:lnTo>
                      <a:lnTo>
                        <a:pt x="15" y="142"/>
                      </a:lnTo>
                      <a:lnTo>
                        <a:pt x="11" y="134"/>
                      </a:lnTo>
                      <a:lnTo>
                        <a:pt x="7" y="127"/>
                      </a:lnTo>
                      <a:lnTo>
                        <a:pt x="4" y="120"/>
                      </a:lnTo>
                      <a:lnTo>
                        <a:pt x="2" y="111"/>
                      </a:lnTo>
                      <a:lnTo>
                        <a:pt x="1" y="102"/>
                      </a:lnTo>
                      <a:lnTo>
                        <a:pt x="0" y="94"/>
                      </a:lnTo>
                      <a:lnTo>
                        <a:pt x="0" y="84"/>
                      </a:lnTo>
                      <a:lnTo>
                        <a:pt x="1" y="76"/>
                      </a:lnTo>
                      <a:lnTo>
                        <a:pt x="3" y="67"/>
                      </a:lnTo>
                      <a:lnTo>
                        <a:pt x="7" y="59"/>
                      </a:lnTo>
                      <a:lnTo>
                        <a:pt x="11" y="50"/>
                      </a:lnTo>
                      <a:lnTo>
                        <a:pt x="15" y="42"/>
                      </a:lnTo>
                      <a:lnTo>
                        <a:pt x="20" y="34"/>
                      </a:lnTo>
                      <a:lnTo>
                        <a:pt x="26" y="28"/>
                      </a:lnTo>
                      <a:lnTo>
                        <a:pt x="32" y="22"/>
                      </a:lnTo>
                      <a:lnTo>
                        <a:pt x="38" y="16"/>
                      </a:lnTo>
                      <a:lnTo>
                        <a:pt x="46" y="12"/>
                      </a:lnTo>
                      <a:lnTo>
                        <a:pt x="53" y="8"/>
                      </a:lnTo>
                      <a:lnTo>
                        <a:pt x="61" y="5"/>
                      </a:lnTo>
                      <a:lnTo>
                        <a:pt x="69" y="3"/>
                      </a:lnTo>
                      <a:lnTo>
                        <a:pt x="78" y="0"/>
                      </a:lnTo>
                      <a:lnTo>
                        <a:pt x="86" y="0"/>
                      </a:lnTo>
                      <a:lnTo>
                        <a:pt x="95" y="0"/>
                      </a:lnTo>
                      <a:lnTo>
                        <a:pt x="103" y="0"/>
                      </a:lnTo>
                      <a:lnTo>
                        <a:pt x="112" y="3"/>
                      </a:lnTo>
                      <a:lnTo>
                        <a:pt x="119" y="6"/>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09" name="Freeform 297"/>
                <p:cNvSpPr>
                  <a:spLocks noChangeAspect="1"/>
                </p:cNvSpPr>
                <p:nvPr/>
              </p:nvSpPr>
              <p:spPr bwMode="auto">
                <a:xfrm>
                  <a:off x="538" y="823"/>
                  <a:ext cx="20" cy="26"/>
                </a:xfrm>
                <a:custGeom>
                  <a:avLst/>
                  <a:gdLst>
                    <a:gd name="T0" fmla="*/ 0 w 55"/>
                    <a:gd name="T1" fmla="*/ 73 h 73"/>
                    <a:gd name="T2" fmla="*/ 29 w 55"/>
                    <a:gd name="T3" fmla="*/ 0 h 73"/>
                    <a:gd name="T4" fmla="*/ 55 w 55"/>
                    <a:gd name="T5" fmla="*/ 36 h 73"/>
                    <a:gd name="T6" fmla="*/ 0 w 55"/>
                    <a:gd name="T7" fmla="*/ 73 h 73"/>
                  </a:gdLst>
                  <a:ahLst/>
                  <a:cxnLst>
                    <a:cxn ang="0">
                      <a:pos x="T0" y="T1"/>
                    </a:cxn>
                    <a:cxn ang="0">
                      <a:pos x="T2" y="T3"/>
                    </a:cxn>
                    <a:cxn ang="0">
                      <a:pos x="T4" y="T5"/>
                    </a:cxn>
                    <a:cxn ang="0">
                      <a:pos x="T6" y="T7"/>
                    </a:cxn>
                  </a:cxnLst>
                  <a:rect l="0" t="0" r="r" b="b"/>
                  <a:pathLst>
                    <a:path w="55" h="73">
                      <a:moveTo>
                        <a:pt x="0" y="73"/>
                      </a:moveTo>
                      <a:lnTo>
                        <a:pt x="29" y="0"/>
                      </a:lnTo>
                      <a:lnTo>
                        <a:pt x="55" y="36"/>
                      </a:lnTo>
                      <a:lnTo>
                        <a:pt x="0" y="7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10" name="Freeform 298"/>
                <p:cNvSpPr>
                  <a:spLocks noChangeAspect="1"/>
                </p:cNvSpPr>
                <p:nvPr/>
              </p:nvSpPr>
              <p:spPr bwMode="auto">
                <a:xfrm>
                  <a:off x="528" y="817"/>
                  <a:ext cx="22" cy="39"/>
                </a:xfrm>
                <a:custGeom>
                  <a:avLst/>
                  <a:gdLst>
                    <a:gd name="T0" fmla="*/ 73 w 73"/>
                    <a:gd name="T1" fmla="*/ 41 h 114"/>
                    <a:gd name="T2" fmla="*/ 61 w 73"/>
                    <a:gd name="T3" fmla="*/ 74 h 114"/>
                    <a:gd name="T4" fmla="*/ 0 w 73"/>
                    <a:gd name="T5" fmla="*/ 114 h 114"/>
                    <a:gd name="T6" fmla="*/ 45 w 73"/>
                    <a:gd name="T7" fmla="*/ 0 h 114"/>
                    <a:gd name="T8" fmla="*/ 73 w 73"/>
                    <a:gd name="T9" fmla="*/ 41 h 114"/>
                  </a:gdLst>
                  <a:ahLst/>
                  <a:cxnLst>
                    <a:cxn ang="0">
                      <a:pos x="T0" y="T1"/>
                    </a:cxn>
                    <a:cxn ang="0">
                      <a:pos x="T2" y="T3"/>
                    </a:cxn>
                    <a:cxn ang="0">
                      <a:pos x="T4" y="T5"/>
                    </a:cxn>
                    <a:cxn ang="0">
                      <a:pos x="T6" y="T7"/>
                    </a:cxn>
                    <a:cxn ang="0">
                      <a:pos x="T8" y="T9"/>
                    </a:cxn>
                  </a:cxnLst>
                  <a:rect l="0" t="0" r="r" b="b"/>
                  <a:pathLst>
                    <a:path w="73" h="114">
                      <a:moveTo>
                        <a:pt x="73" y="41"/>
                      </a:moveTo>
                      <a:lnTo>
                        <a:pt x="61" y="74"/>
                      </a:lnTo>
                      <a:lnTo>
                        <a:pt x="0" y="114"/>
                      </a:lnTo>
                      <a:lnTo>
                        <a:pt x="45" y="0"/>
                      </a:lnTo>
                      <a:lnTo>
                        <a:pt x="73"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11" name="Freeform 299"/>
                <p:cNvSpPr>
                  <a:spLocks noChangeAspect="1"/>
                </p:cNvSpPr>
                <p:nvPr/>
              </p:nvSpPr>
              <p:spPr bwMode="auto">
                <a:xfrm>
                  <a:off x="518" y="810"/>
                  <a:ext cx="29" cy="52"/>
                </a:xfrm>
                <a:custGeom>
                  <a:avLst/>
                  <a:gdLst>
                    <a:gd name="T0" fmla="*/ 89 w 89"/>
                    <a:gd name="T1" fmla="*/ 41 h 155"/>
                    <a:gd name="T2" fmla="*/ 60 w 89"/>
                    <a:gd name="T3" fmla="*/ 114 h 155"/>
                    <a:gd name="T4" fmla="*/ 0 w 89"/>
                    <a:gd name="T5" fmla="*/ 155 h 155"/>
                    <a:gd name="T6" fmla="*/ 60 w 89"/>
                    <a:gd name="T7" fmla="*/ 0 h 155"/>
                    <a:gd name="T8" fmla="*/ 89 w 89"/>
                    <a:gd name="T9" fmla="*/ 41 h 155"/>
                  </a:gdLst>
                  <a:ahLst/>
                  <a:cxnLst>
                    <a:cxn ang="0">
                      <a:pos x="T0" y="T1"/>
                    </a:cxn>
                    <a:cxn ang="0">
                      <a:pos x="T2" y="T3"/>
                    </a:cxn>
                    <a:cxn ang="0">
                      <a:pos x="T4" y="T5"/>
                    </a:cxn>
                    <a:cxn ang="0">
                      <a:pos x="T6" y="T7"/>
                    </a:cxn>
                    <a:cxn ang="0">
                      <a:pos x="T8" y="T9"/>
                    </a:cxn>
                  </a:cxnLst>
                  <a:rect l="0" t="0" r="r" b="b"/>
                  <a:pathLst>
                    <a:path w="89" h="155">
                      <a:moveTo>
                        <a:pt x="89" y="41"/>
                      </a:moveTo>
                      <a:lnTo>
                        <a:pt x="60" y="114"/>
                      </a:lnTo>
                      <a:lnTo>
                        <a:pt x="0" y="155"/>
                      </a:lnTo>
                      <a:lnTo>
                        <a:pt x="60" y="0"/>
                      </a:lnTo>
                      <a:lnTo>
                        <a:pt x="89"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12" name="Freeform 300"/>
                <p:cNvSpPr>
                  <a:spLocks noChangeAspect="1"/>
                </p:cNvSpPr>
                <p:nvPr/>
              </p:nvSpPr>
              <p:spPr bwMode="auto">
                <a:xfrm>
                  <a:off x="507" y="804"/>
                  <a:ext cx="36" cy="65"/>
                </a:xfrm>
                <a:custGeom>
                  <a:avLst/>
                  <a:gdLst>
                    <a:gd name="T0" fmla="*/ 106 w 106"/>
                    <a:gd name="T1" fmla="*/ 40 h 196"/>
                    <a:gd name="T2" fmla="*/ 61 w 106"/>
                    <a:gd name="T3" fmla="*/ 154 h 196"/>
                    <a:gd name="T4" fmla="*/ 0 w 106"/>
                    <a:gd name="T5" fmla="*/ 196 h 196"/>
                    <a:gd name="T6" fmla="*/ 77 w 106"/>
                    <a:gd name="T7" fmla="*/ 0 h 196"/>
                    <a:gd name="T8" fmla="*/ 106 w 106"/>
                    <a:gd name="T9" fmla="*/ 40 h 196"/>
                  </a:gdLst>
                  <a:ahLst/>
                  <a:cxnLst>
                    <a:cxn ang="0">
                      <a:pos x="T0" y="T1"/>
                    </a:cxn>
                    <a:cxn ang="0">
                      <a:pos x="T2" y="T3"/>
                    </a:cxn>
                    <a:cxn ang="0">
                      <a:pos x="T4" y="T5"/>
                    </a:cxn>
                    <a:cxn ang="0">
                      <a:pos x="T6" y="T7"/>
                    </a:cxn>
                    <a:cxn ang="0">
                      <a:pos x="T8" y="T9"/>
                    </a:cxn>
                  </a:cxnLst>
                  <a:rect l="0" t="0" r="r" b="b"/>
                  <a:pathLst>
                    <a:path w="106" h="196">
                      <a:moveTo>
                        <a:pt x="106" y="40"/>
                      </a:moveTo>
                      <a:lnTo>
                        <a:pt x="61" y="154"/>
                      </a:lnTo>
                      <a:lnTo>
                        <a:pt x="0" y="196"/>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13" name="Freeform 301"/>
                <p:cNvSpPr>
                  <a:spLocks noChangeAspect="1"/>
                </p:cNvSpPr>
                <p:nvPr/>
              </p:nvSpPr>
              <p:spPr bwMode="auto">
                <a:xfrm>
                  <a:off x="502" y="795"/>
                  <a:ext cx="36" cy="73"/>
                </a:xfrm>
                <a:custGeom>
                  <a:avLst/>
                  <a:gdLst>
                    <a:gd name="T0" fmla="*/ 107 w 107"/>
                    <a:gd name="T1" fmla="*/ 40 h 218"/>
                    <a:gd name="T2" fmla="*/ 47 w 107"/>
                    <a:gd name="T3" fmla="*/ 195 h 218"/>
                    <a:gd name="T4" fmla="*/ 13 w 107"/>
                    <a:gd name="T5" fmla="*/ 218 h 218"/>
                    <a:gd name="T6" fmla="*/ 0 w 107"/>
                    <a:gd name="T7" fmla="*/ 200 h 218"/>
                    <a:gd name="T8" fmla="*/ 79 w 107"/>
                    <a:gd name="T9" fmla="*/ 0 h 218"/>
                    <a:gd name="T10" fmla="*/ 107 w 107"/>
                    <a:gd name="T11" fmla="*/ 40 h 218"/>
                  </a:gdLst>
                  <a:ahLst/>
                  <a:cxnLst>
                    <a:cxn ang="0">
                      <a:pos x="T0" y="T1"/>
                    </a:cxn>
                    <a:cxn ang="0">
                      <a:pos x="T2" y="T3"/>
                    </a:cxn>
                    <a:cxn ang="0">
                      <a:pos x="T4" y="T5"/>
                    </a:cxn>
                    <a:cxn ang="0">
                      <a:pos x="T6" y="T7"/>
                    </a:cxn>
                    <a:cxn ang="0">
                      <a:pos x="T8" y="T9"/>
                    </a:cxn>
                    <a:cxn ang="0">
                      <a:pos x="T10" y="T11"/>
                    </a:cxn>
                  </a:cxnLst>
                  <a:rect l="0" t="0" r="r" b="b"/>
                  <a:pathLst>
                    <a:path w="107" h="218">
                      <a:moveTo>
                        <a:pt x="107" y="40"/>
                      </a:moveTo>
                      <a:lnTo>
                        <a:pt x="47" y="195"/>
                      </a:lnTo>
                      <a:lnTo>
                        <a:pt x="13" y="218"/>
                      </a:lnTo>
                      <a:lnTo>
                        <a:pt x="0" y="200"/>
                      </a:lnTo>
                      <a:lnTo>
                        <a:pt x="79"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14" name="Freeform 302"/>
                <p:cNvSpPr>
                  <a:spLocks noChangeAspect="1"/>
                </p:cNvSpPr>
                <p:nvPr/>
              </p:nvSpPr>
              <p:spPr bwMode="auto">
                <a:xfrm>
                  <a:off x="498" y="789"/>
                  <a:ext cx="35" cy="79"/>
                </a:xfrm>
                <a:custGeom>
                  <a:avLst/>
                  <a:gdLst>
                    <a:gd name="T0" fmla="*/ 106 w 106"/>
                    <a:gd name="T1" fmla="*/ 39 h 237"/>
                    <a:gd name="T2" fmla="*/ 29 w 106"/>
                    <a:gd name="T3" fmla="*/ 235 h 237"/>
                    <a:gd name="T4" fmla="*/ 26 w 106"/>
                    <a:gd name="T5" fmla="*/ 237 h 237"/>
                    <a:gd name="T6" fmla="*/ 0 w 106"/>
                    <a:gd name="T7" fmla="*/ 198 h 237"/>
                    <a:gd name="T8" fmla="*/ 77 w 106"/>
                    <a:gd name="T9" fmla="*/ 0 h 237"/>
                    <a:gd name="T10" fmla="*/ 106 w 106"/>
                    <a:gd name="T11" fmla="*/ 39 h 237"/>
                  </a:gdLst>
                  <a:ahLst/>
                  <a:cxnLst>
                    <a:cxn ang="0">
                      <a:pos x="T0" y="T1"/>
                    </a:cxn>
                    <a:cxn ang="0">
                      <a:pos x="T2" y="T3"/>
                    </a:cxn>
                    <a:cxn ang="0">
                      <a:pos x="T4" y="T5"/>
                    </a:cxn>
                    <a:cxn ang="0">
                      <a:pos x="T6" y="T7"/>
                    </a:cxn>
                    <a:cxn ang="0">
                      <a:pos x="T8" y="T9"/>
                    </a:cxn>
                    <a:cxn ang="0">
                      <a:pos x="T10" y="T11"/>
                    </a:cxn>
                  </a:cxnLst>
                  <a:rect l="0" t="0" r="r" b="b"/>
                  <a:pathLst>
                    <a:path w="106" h="237">
                      <a:moveTo>
                        <a:pt x="106" y="39"/>
                      </a:moveTo>
                      <a:lnTo>
                        <a:pt x="29" y="235"/>
                      </a:lnTo>
                      <a:lnTo>
                        <a:pt x="26" y="237"/>
                      </a:lnTo>
                      <a:lnTo>
                        <a:pt x="0" y="198"/>
                      </a:lnTo>
                      <a:lnTo>
                        <a:pt x="77" y="0"/>
                      </a:lnTo>
                      <a:lnTo>
                        <a:pt x="106"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15" name="Freeform 303"/>
                <p:cNvSpPr>
                  <a:spLocks noChangeAspect="1"/>
                </p:cNvSpPr>
                <p:nvPr/>
              </p:nvSpPr>
              <p:spPr bwMode="auto">
                <a:xfrm>
                  <a:off x="493" y="782"/>
                  <a:ext cx="35" cy="79"/>
                </a:xfrm>
                <a:custGeom>
                  <a:avLst/>
                  <a:gdLst>
                    <a:gd name="T0" fmla="*/ 107 w 107"/>
                    <a:gd name="T1" fmla="*/ 40 h 240"/>
                    <a:gd name="T2" fmla="*/ 28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8"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16" name="Freeform 304"/>
                <p:cNvSpPr>
                  <a:spLocks noChangeAspect="1"/>
                </p:cNvSpPr>
                <p:nvPr/>
              </p:nvSpPr>
              <p:spPr bwMode="auto">
                <a:xfrm>
                  <a:off x="488" y="775"/>
                  <a:ext cx="35" cy="80"/>
                </a:xfrm>
                <a:custGeom>
                  <a:avLst/>
                  <a:gdLst>
                    <a:gd name="T0" fmla="*/ 106 w 106"/>
                    <a:gd name="T1" fmla="*/ 41 h 239"/>
                    <a:gd name="T2" fmla="*/ 29 w 106"/>
                    <a:gd name="T3" fmla="*/ 239 h 239"/>
                    <a:gd name="T4" fmla="*/ 0 w 106"/>
                    <a:gd name="T5" fmla="*/ 200 h 239"/>
                    <a:gd name="T6" fmla="*/ 78 w 106"/>
                    <a:gd name="T7" fmla="*/ 0 h 239"/>
                    <a:gd name="T8" fmla="*/ 106 w 106"/>
                    <a:gd name="T9" fmla="*/ 41 h 239"/>
                  </a:gdLst>
                  <a:ahLst/>
                  <a:cxnLst>
                    <a:cxn ang="0">
                      <a:pos x="T0" y="T1"/>
                    </a:cxn>
                    <a:cxn ang="0">
                      <a:pos x="T2" y="T3"/>
                    </a:cxn>
                    <a:cxn ang="0">
                      <a:pos x="T4" y="T5"/>
                    </a:cxn>
                    <a:cxn ang="0">
                      <a:pos x="T6" y="T7"/>
                    </a:cxn>
                    <a:cxn ang="0">
                      <a:pos x="T8" y="T9"/>
                    </a:cxn>
                  </a:cxnLst>
                  <a:rect l="0" t="0" r="r" b="b"/>
                  <a:pathLst>
                    <a:path w="106" h="239">
                      <a:moveTo>
                        <a:pt x="106" y="41"/>
                      </a:moveTo>
                      <a:lnTo>
                        <a:pt x="29" y="239"/>
                      </a:lnTo>
                      <a:lnTo>
                        <a:pt x="0" y="200"/>
                      </a:lnTo>
                      <a:lnTo>
                        <a:pt x="78" y="0"/>
                      </a:lnTo>
                      <a:lnTo>
                        <a:pt x="106"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17" name="Freeform 305"/>
                <p:cNvSpPr>
                  <a:spLocks noChangeAspect="1"/>
                </p:cNvSpPr>
                <p:nvPr/>
              </p:nvSpPr>
              <p:spPr bwMode="auto">
                <a:xfrm>
                  <a:off x="483" y="769"/>
                  <a:ext cx="36" cy="79"/>
                </a:xfrm>
                <a:custGeom>
                  <a:avLst/>
                  <a:gdLst>
                    <a:gd name="T0" fmla="*/ 107 w 107"/>
                    <a:gd name="T1" fmla="*/ 40 h 240"/>
                    <a:gd name="T2" fmla="*/ 29 w 107"/>
                    <a:gd name="T3" fmla="*/ 240 h 240"/>
                    <a:gd name="T4" fmla="*/ 0 w 107"/>
                    <a:gd name="T5" fmla="*/ 200 h 240"/>
                    <a:gd name="T6" fmla="*/ 79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9"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18" name="Freeform 306"/>
                <p:cNvSpPr>
                  <a:spLocks noChangeAspect="1"/>
                </p:cNvSpPr>
                <p:nvPr/>
              </p:nvSpPr>
              <p:spPr bwMode="auto">
                <a:xfrm>
                  <a:off x="478" y="762"/>
                  <a:ext cx="36" cy="80"/>
                </a:xfrm>
                <a:custGeom>
                  <a:avLst/>
                  <a:gdLst>
                    <a:gd name="T0" fmla="*/ 107 w 107"/>
                    <a:gd name="T1" fmla="*/ 40 h 240"/>
                    <a:gd name="T2" fmla="*/ 29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19" name="Freeform 307"/>
                <p:cNvSpPr>
                  <a:spLocks noChangeAspect="1"/>
                </p:cNvSpPr>
                <p:nvPr/>
              </p:nvSpPr>
              <p:spPr bwMode="auto">
                <a:xfrm>
                  <a:off x="474" y="756"/>
                  <a:ext cx="35" cy="79"/>
                </a:xfrm>
                <a:custGeom>
                  <a:avLst/>
                  <a:gdLst>
                    <a:gd name="T0" fmla="*/ 107 w 107"/>
                    <a:gd name="T1" fmla="*/ 39 h 239"/>
                    <a:gd name="T2" fmla="*/ 28 w 107"/>
                    <a:gd name="T3" fmla="*/ 239 h 239"/>
                    <a:gd name="T4" fmla="*/ 0 w 107"/>
                    <a:gd name="T5" fmla="*/ 198 h 239"/>
                    <a:gd name="T6" fmla="*/ 78 w 107"/>
                    <a:gd name="T7" fmla="*/ 0 h 239"/>
                    <a:gd name="T8" fmla="*/ 107 w 107"/>
                    <a:gd name="T9" fmla="*/ 39 h 239"/>
                  </a:gdLst>
                  <a:ahLst/>
                  <a:cxnLst>
                    <a:cxn ang="0">
                      <a:pos x="T0" y="T1"/>
                    </a:cxn>
                    <a:cxn ang="0">
                      <a:pos x="T2" y="T3"/>
                    </a:cxn>
                    <a:cxn ang="0">
                      <a:pos x="T4" y="T5"/>
                    </a:cxn>
                    <a:cxn ang="0">
                      <a:pos x="T6" y="T7"/>
                    </a:cxn>
                    <a:cxn ang="0">
                      <a:pos x="T8" y="T9"/>
                    </a:cxn>
                  </a:cxnLst>
                  <a:rect l="0" t="0" r="r" b="b"/>
                  <a:pathLst>
                    <a:path w="107" h="239">
                      <a:moveTo>
                        <a:pt x="107" y="39"/>
                      </a:moveTo>
                      <a:lnTo>
                        <a:pt x="28" y="239"/>
                      </a:lnTo>
                      <a:lnTo>
                        <a:pt x="0" y="198"/>
                      </a:lnTo>
                      <a:lnTo>
                        <a:pt x="78" y="0"/>
                      </a:lnTo>
                      <a:lnTo>
                        <a:pt x="107"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20" name="Freeform 308"/>
                <p:cNvSpPr>
                  <a:spLocks noChangeAspect="1"/>
                </p:cNvSpPr>
                <p:nvPr/>
              </p:nvSpPr>
              <p:spPr bwMode="auto">
                <a:xfrm>
                  <a:off x="469" y="749"/>
                  <a:ext cx="35" cy="80"/>
                </a:xfrm>
                <a:custGeom>
                  <a:avLst/>
                  <a:gdLst>
                    <a:gd name="T0" fmla="*/ 107 w 107"/>
                    <a:gd name="T1" fmla="*/ 40 h 240"/>
                    <a:gd name="T2" fmla="*/ 29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21" name="Freeform 309"/>
                <p:cNvSpPr>
                  <a:spLocks noChangeAspect="1"/>
                </p:cNvSpPr>
                <p:nvPr/>
              </p:nvSpPr>
              <p:spPr bwMode="auto">
                <a:xfrm>
                  <a:off x="464" y="742"/>
                  <a:ext cx="36" cy="80"/>
                </a:xfrm>
                <a:custGeom>
                  <a:avLst/>
                  <a:gdLst>
                    <a:gd name="T0" fmla="*/ 106 w 106"/>
                    <a:gd name="T1" fmla="*/ 41 h 239"/>
                    <a:gd name="T2" fmla="*/ 28 w 106"/>
                    <a:gd name="T3" fmla="*/ 239 h 239"/>
                    <a:gd name="T4" fmla="*/ 0 w 106"/>
                    <a:gd name="T5" fmla="*/ 200 h 239"/>
                    <a:gd name="T6" fmla="*/ 77 w 106"/>
                    <a:gd name="T7" fmla="*/ 0 h 239"/>
                    <a:gd name="T8" fmla="*/ 106 w 106"/>
                    <a:gd name="T9" fmla="*/ 41 h 239"/>
                  </a:gdLst>
                  <a:ahLst/>
                  <a:cxnLst>
                    <a:cxn ang="0">
                      <a:pos x="T0" y="T1"/>
                    </a:cxn>
                    <a:cxn ang="0">
                      <a:pos x="T2" y="T3"/>
                    </a:cxn>
                    <a:cxn ang="0">
                      <a:pos x="T4" y="T5"/>
                    </a:cxn>
                    <a:cxn ang="0">
                      <a:pos x="T6" y="T7"/>
                    </a:cxn>
                    <a:cxn ang="0">
                      <a:pos x="T8" y="T9"/>
                    </a:cxn>
                  </a:cxnLst>
                  <a:rect l="0" t="0" r="r" b="b"/>
                  <a:pathLst>
                    <a:path w="106" h="239">
                      <a:moveTo>
                        <a:pt x="106" y="41"/>
                      </a:moveTo>
                      <a:lnTo>
                        <a:pt x="28" y="239"/>
                      </a:lnTo>
                      <a:lnTo>
                        <a:pt x="0" y="200"/>
                      </a:lnTo>
                      <a:lnTo>
                        <a:pt x="77" y="0"/>
                      </a:lnTo>
                      <a:lnTo>
                        <a:pt x="106"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22" name="Freeform 310"/>
                <p:cNvSpPr>
                  <a:spLocks noChangeAspect="1"/>
                </p:cNvSpPr>
                <p:nvPr/>
              </p:nvSpPr>
              <p:spPr bwMode="auto">
                <a:xfrm>
                  <a:off x="458" y="735"/>
                  <a:ext cx="36" cy="80"/>
                </a:xfrm>
                <a:custGeom>
                  <a:avLst/>
                  <a:gdLst>
                    <a:gd name="T0" fmla="*/ 106 w 106"/>
                    <a:gd name="T1" fmla="*/ 40 h 240"/>
                    <a:gd name="T2" fmla="*/ 28 w 106"/>
                    <a:gd name="T3" fmla="*/ 240 h 240"/>
                    <a:gd name="T4" fmla="*/ 0 w 106"/>
                    <a:gd name="T5" fmla="*/ 200 h 240"/>
                    <a:gd name="T6" fmla="*/ 78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8" y="240"/>
                      </a:lnTo>
                      <a:lnTo>
                        <a:pt x="0" y="200"/>
                      </a:lnTo>
                      <a:lnTo>
                        <a:pt x="78"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23" name="Freeform 311"/>
                <p:cNvSpPr>
                  <a:spLocks noChangeAspect="1"/>
                </p:cNvSpPr>
                <p:nvPr/>
              </p:nvSpPr>
              <p:spPr bwMode="auto">
                <a:xfrm>
                  <a:off x="455" y="729"/>
                  <a:ext cx="35" cy="80"/>
                </a:xfrm>
                <a:custGeom>
                  <a:avLst/>
                  <a:gdLst>
                    <a:gd name="T0" fmla="*/ 106 w 106"/>
                    <a:gd name="T1" fmla="*/ 40 h 240"/>
                    <a:gd name="T2" fmla="*/ 29 w 106"/>
                    <a:gd name="T3" fmla="*/ 240 h 240"/>
                    <a:gd name="T4" fmla="*/ 0 w 106"/>
                    <a:gd name="T5" fmla="*/ 200 h 240"/>
                    <a:gd name="T6" fmla="*/ 78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9" y="240"/>
                      </a:lnTo>
                      <a:lnTo>
                        <a:pt x="0" y="200"/>
                      </a:lnTo>
                      <a:lnTo>
                        <a:pt x="78"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24" name="Freeform 312"/>
                <p:cNvSpPr>
                  <a:spLocks noChangeAspect="1"/>
                </p:cNvSpPr>
                <p:nvPr/>
              </p:nvSpPr>
              <p:spPr bwMode="auto">
                <a:xfrm>
                  <a:off x="450" y="722"/>
                  <a:ext cx="35" cy="80"/>
                </a:xfrm>
                <a:custGeom>
                  <a:avLst/>
                  <a:gdLst>
                    <a:gd name="T0" fmla="*/ 107 w 107"/>
                    <a:gd name="T1" fmla="*/ 40 h 240"/>
                    <a:gd name="T2" fmla="*/ 29 w 107"/>
                    <a:gd name="T3" fmla="*/ 240 h 240"/>
                    <a:gd name="T4" fmla="*/ 0 w 107"/>
                    <a:gd name="T5" fmla="*/ 200 h 240"/>
                    <a:gd name="T6" fmla="*/ 79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9"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25" name="Freeform 313"/>
                <p:cNvSpPr>
                  <a:spLocks noChangeAspect="1"/>
                </p:cNvSpPr>
                <p:nvPr/>
              </p:nvSpPr>
              <p:spPr bwMode="auto">
                <a:xfrm>
                  <a:off x="445" y="716"/>
                  <a:ext cx="36" cy="79"/>
                </a:xfrm>
                <a:custGeom>
                  <a:avLst/>
                  <a:gdLst>
                    <a:gd name="T0" fmla="*/ 107 w 107"/>
                    <a:gd name="T1" fmla="*/ 39 h 239"/>
                    <a:gd name="T2" fmla="*/ 29 w 107"/>
                    <a:gd name="T3" fmla="*/ 239 h 239"/>
                    <a:gd name="T4" fmla="*/ 0 w 107"/>
                    <a:gd name="T5" fmla="*/ 198 h 239"/>
                    <a:gd name="T6" fmla="*/ 78 w 107"/>
                    <a:gd name="T7" fmla="*/ 0 h 239"/>
                    <a:gd name="T8" fmla="*/ 107 w 107"/>
                    <a:gd name="T9" fmla="*/ 39 h 239"/>
                  </a:gdLst>
                  <a:ahLst/>
                  <a:cxnLst>
                    <a:cxn ang="0">
                      <a:pos x="T0" y="T1"/>
                    </a:cxn>
                    <a:cxn ang="0">
                      <a:pos x="T2" y="T3"/>
                    </a:cxn>
                    <a:cxn ang="0">
                      <a:pos x="T4" y="T5"/>
                    </a:cxn>
                    <a:cxn ang="0">
                      <a:pos x="T6" y="T7"/>
                    </a:cxn>
                    <a:cxn ang="0">
                      <a:pos x="T8" y="T9"/>
                    </a:cxn>
                  </a:cxnLst>
                  <a:rect l="0" t="0" r="r" b="b"/>
                  <a:pathLst>
                    <a:path w="107" h="239">
                      <a:moveTo>
                        <a:pt x="107" y="39"/>
                      </a:moveTo>
                      <a:lnTo>
                        <a:pt x="29" y="239"/>
                      </a:lnTo>
                      <a:lnTo>
                        <a:pt x="0" y="198"/>
                      </a:lnTo>
                      <a:lnTo>
                        <a:pt x="78" y="0"/>
                      </a:lnTo>
                      <a:lnTo>
                        <a:pt x="107"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26" name="Freeform 314"/>
                <p:cNvSpPr>
                  <a:spLocks noChangeAspect="1"/>
                </p:cNvSpPr>
                <p:nvPr/>
              </p:nvSpPr>
              <p:spPr bwMode="auto">
                <a:xfrm>
                  <a:off x="440" y="709"/>
                  <a:ext cx="36" cy="80"/>
                </a:xfrm>
                <a:custGeom>
                  <a:avLst/>
                  <a:gdLst>
                    <a:gd name="T0" fmla="*/ 108 w 108"/>
                    <a:gd name="T1" fmla="*/ 40 h 240"/>
                    <a:gd name="T2" fmla="*/ 29 w 108"/>
                    <a:gd name="T3" fmla="*/ 240 h 240"/>
                    <a:gd name="T4" fmla="*/ 0 w 108"/>
                    <a:gd name="T5" fmla="*/ 200 h 240"/>
                    <a:gd name="T6" fmla="*/ 79 w 108"/>
                    <a:gd name="T7" fmla="*/ 0 h 240"/>
                    <a:gd name="T8" fmla="*/ 108 w 108"/>
                    <a:gd name="T9" fmla="*/ 40 h 240"/>
                  </a:gdLst>
                  <a:ahLst/>
                  <a:cxnLst>
                    <a:cxn ang="0">
                      <a:pos x="T0" y="T1"/>
                    </a:cxn>
                    <a:cxn ang="0">
                      <a:pos x="T2" y="T3"/>
                    </a:cxn>
                    <a:cxn ang="0">
                      <a:pos x="T4" y="T5"/>
                    </a:cxn>
                    <a:cxn ang="0">
                      <a:pos x="T6" y="T7"/>
                    </a:cxn>
                    <a:cxn ang="0">
                      <a:pos x="T8" y="T9"/>
                    </a:cxn>
                  </a:cxnLst>
                  <a:rect l="0" t="0" r="r" b="b"/>
                  <a:pathLst>
                    <a:path w="108" h="240">
                      <a:moveTo>
                        <a:pt x="108" y="40"/>
                      </a:moveTo>
                      <a:lnTo>
                        <a:pt x="29" y="240"/>
                      </a:lnTo>
                      <a:lnTo>
                        <a:pt x="0" y="200"/>
                      </a:lnTo>
                      <a:lnTo>
                        <a:pt x="79" y="0"/>
                      </a:lnTo>
                      <a:lnTo>
                        <a:pt x="108"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27" name="Freeform 315"/>
                <p:cNvSpPr>
                  <a:spLocks noChangeAspect="1"/>
                </p:cNvSpPr>
                <p:nvPr/>
              </p:nvSpPr>
              <p:spPr bwMode="auto">
                <a:xfrm>
                  <a:off x="435" y="702"/>
                  <a:ext cx="36" cy="80"/>
                </a:xfrm>
                <a:custGeom>
                  <a:avLst/>
                  <a:gdLst>
                    <a:gd name="T0" fmla="*/ 107 w 107"/>
                    <a:gd name="T1" fmla="*/ 41 h 239"/>
                    <a:gd name="T2" fmla="*/ 29 w 107"/>
                    <a:gd name="T3" fmla="*/ 239 h 239"/>
                    <a:gd name="T4" fmla="*/ 0 w 107"/>
                    <a:gd name="T5" fmla="*/ 200 h 239"/>
                    <a:gd name="T6" fmla="*/ 78 w 107"/>
                    <a:gd name="T7" fmla="*/ 0 h 239"/>
                    <a:gd name="T8" fmla="*/ 107 w 107"/>
                    <a:gd name="T9" fmla="*/ 41 h 239"/>
                  </a:gdLst>
                  <a:ahLst/>
                  <a:cxnLst>
                    <a:cxn ang="0">
                      <a:pos x="T0" y="T1"/>
                    </a:cxn>
                    <a:cxn ang="0">
                      <a:pos x="T2" y="T3"/>
                    </a:cxn>
                    <a:cxn ang="0">
                      <a:pos x="T4" y="T5"/>
                    </a:cxn>
                    <a:cxn ang="0">
                      <a:pos x="T6" y="T7"/>
                    </a:cxn>
                    <a:cxn ang="0">
                      <a:pos x="T8" y="T9"/>
                    </a:cxn>
                  </a:cxnLst>
                  <a:rect l="0" t="0" r="r" b="b"/>
                  <a:pathLst>
                    <a:path w="107" h="239">
                      <a:moveTo>
                        <a:pt x="107" y="41"/>
                      </a:moveTo>
                      <a:lnTo>
                        <a:pt x="29" y="239"/>
                      </a:lnTo>
                      <a:lnTo>
                        <a:pt x="0" y="200"/>
                      </a:lnTo>
                      <a:lnTo>
                        <a:pt x="78" y="0"/>
                      </a:lnTo>
                      <a:lnTo>
                        <a:pt x="107"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28" name="Freeform 316"/>
                <p:cNvSpPr>
                  <a:spLocks noChangeAspect="1"/>
                </p:cNvSpPr>
                <p:nvPr/>
              </p:nvSpPr>
              <p:spPr bwMode="auto">
                <a:xfrm>
                  <a:off x="431" y="695"/>
                  <a:ext cx="35" cy="80"/>
                </a:xfrm>
                <a:custGeom>
                  <a:avLst/>
                  <a:gdLst>
                    <a:gd name="T0" fmla="*/ 106 w 106"/>
                    <a:gd name="T1" fmla="*/ 40 h 240"/>
                    <a:gd name="T2" fmla="*/ 27 w 106"/>
                    <a:gd name="T3" fmla="*/ 240 h 240"/>
                    <a:gd name="T4" fmla="*/ 0 w 106"/>
                    <a:gd name="T5" fmla="*/ 200 h 240"/>
                    <a:gd name="T6" fmla="*/ 77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7" y="240"/>
                      </a:lnTo>
                      <a:lnTo>
                        <a:pt x="0" y="200"/>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29" name="Freeform 317"/>
                <p:cNvSpPr>
                  <a:spLocks noChangeAspect="1"/>
                </p:cNvSpPr>
                <p:nvPr/>
              </p:nvSpPr>
              <p:spPr bwMode="auto">
                <a:xfrm>
                  <a:off x="426" y="689"/>
                  <a:ext cx="35" cy="80"/>
                </a:xfrm>
                <a:custGeom>
                  <a:avLst/>
                  <a:gdLst>
                    <a:gd name="T0" fmla="*/ 106 w 106"/>
                    <a:gd name="T1" fmla="*/ 40 h 240"/>
                    <a:gd name="T2" fmla="*/ 28 w 106"/>
                    <a:gd name="T3" fmla="*/ 240 h 240"/>
                    <a:gd name="T4" fmla="*/ 0 w 106"/>
                    <a:gd name="T5" fmla="*/ 200 h 240"/>
                    <a:gd name="T6" fmla="*/ 77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8" y="240"/>
                      </a:lnTo>
                      <a:lnTo>
                        <a:pt x="0" y="200"/>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30" name="Freeform 318"/>
                <p:cNvSpPr>
                  <a:spLocks noChangeAspect="1"/>
                </p:cNvSpPr>
                <p:nvPr/>
              </p:nvSpPr>
              <p:spPr bwMode="auto">
                <a:xfrm>
                  <a:off x="421" y="682"/>
                  <a:ext cx="36" cy="80"/>
                </a:xfrm>
                <a:custGeom>
                  <a:avLst/>
                  <a:gdLst>
                    <a:gd name="T0" fmla="*/ 106 w 106"/>
                    <a:gd name="T1" fmla="*/ 39 h 239"/>
                    <a:gd name="T2" fmla="*/ 29 w 106"/>
                    <a:gd name="T3" fmla="*/ 239 h 239"/>
                    <a:gd name="T4" fmla="*/ 0 w 106"/>
                    <a:gd name="T5" fmla="*/ 198 h 239"/>
                    <a:gd name="T6" fmla="*/ 77 w 106"/>
                    <a:gd name="T7" fmla="*/ 0 h 239"/>
                    <a:gd name="T8" fmla="*/ 106 w 106"/>
                    <a:gd name="T9" fmla="*/ 39 h 239"/>
                  </a:gdLst>
                  <a:ahLst/>
                  <a:cxnLst>
                    <a:cxn ang="0">
                      <a:pos x="T0" y="T1"/>
                    </a:cxn>
                    <a:cxn ang="0">
                      <a:pos x="T2" y="T3"/>
                    </a:cxn>
                    <a:cxn ang="0">
                      <a:pos x="T4" y="T5"/>
                    </a:cxn>
                    <a:cxn ang="0">
                      <a:pos x="T6" y="T7"/>
                    </a:cxn>
                    <a:cxn ang="0">
                      <a:pos x="T8" y="T9"/>
                    </a:cxn>
                  </a:cxnLst>
                  <a:rect l="0" t="0" r="r" b="b"/>
                  <a:pathLst>
                    <a:path w="106" h="239">
                      <a:moveTo>
                        <a:pt x="106" y="39"/>
                      </a:moveTo>
                      <a:lnTo>
                        <a:pt x="29" y="239"/>
                      </a:lnTo>
                      <a:lnTo>
                        <a:pt x="0" y="198"/>
                      </a:lnTo>
                      <a:lnTo>
                        <a:pt x="77" y="0"/>
                      </a:lnTo>
                      <a:lnTo>
                        <a:pt x="106"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31" name="Freeform 319"/>
                <p:cNvSpPr>
                  <a:spLocks noChangeAspect="1"/>
                </p:cNvSpPr>
                <p:nvPr/>
              </p:nvSpPr>
              <p:spPr bwMode="auto">
                <a:xfrm>
                  <a:off x="415" y="675"/>
                  <a:ext cx="36" cy="80"/>
                </a:xfrm>
                <a:custGeom>
                  <a:avLst/>
                  <a:gdLst>
                    <a:gd name="T0" fmla="*/ 106 w 106"/>
                    <a:gd name="T1" fmla="*/ 40 h 240"/>
                    <a:gd name="T2" fmla="*/ 29 w 106"/>
                    <a:gd name="T3" fmla="*/ 240 h 240"/>
                    <a:gd name="T4" fmla="*/ 0 w 106"/>
                    <a:gd name="T5" fmla="*/ 200 h 240"/>
                    <a:gd name="T6" fmla="*/ 79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9" y="240"/>
                      </a:lnTo>
                      <a:lnTo>
                        <a:pt x="0" y="200"/>
                      </a:lnTo>
                      <a:lnTo>
                        <a:pt x="79"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32" name="Freeform 320"/>
                <p:cNvSpPr>
                  <a:spLocks noChangeAspect="1"/>
                </p:cNvSpPr>
                <p:nvPr/>
              </p:nvSpPr>
              <p:spPr bwMode="auto">
                <a:xfrm>
                  <a:off x="412" y="669"/>
                  <a:ext cx="35" cy="79"/>
                </a:xfrm>
                <a:custGeom>
                  <a:avLst/>
                  <a:gdLst>
                    <a:gd name="T0" fmla="*/ 106 w 106"/>
                    <a:gd name="T1" fmla="*/ 41 h 239"/>
                    <a:gd name="T2" fmla="*/ 29 w 106"/>
                    <a:gd name="T3" fmla="*/ 239 h 239"/>
                    <a:gd name="T4" fmla="*/ 0 w 106"/>
                    <a:gd name="T5" fmla="*/ 200 h 239"/>
                    <a:gd name="T6" fmla="*/ 78 w 106"/>
                    <a:gd name="T7" fmla="*/ 0 h 239"/>
                    <a:gd name="T8" fmla="*/ 106 w 106"/>
                    <a:gd name="T9" fmla="*/ 41 h 239"/>
                  </a:gdLst>
                  <a:ahLst/>
                  <a:cxnLst>
                    <a:cxn ang="0">
                      <a:pos x="T0" y="T1"/>
                    </a:cxn>
                    <a:cxn ang="0">
                      <a:pos x="T2" y="T3"/>
                    </a:cxn>
                    <a:cxn ang="0">
                      <a:pos x="T4" y="T5"/>
                    </a:cxn>
                    <a:cxn ang="0">
                      <a:pos x="T6" y="T7"/>
                    </a:cxn>
                    <a:cxn ang="0">
                      <a:pos x="T8" y="T9"/>
                    </a:cxn>
                  </a:cxnLst>
                  <a:rect l="0" t="0" r="r" b="b"/>
                  <a:pathLst>
                    <a:path w="106" h="239">
                      <a:moveTo>
                        <a:pt x="106" y="41"/>
                      </a:moveTo>
                      <a:lnTo>
                        <a:pt x="29" y="239"/>
                      </a:lnTo>
                      <a:lnTo>
                        <a:pt x="0" y="200"/>
                      </a:lnTo>
                      <a:lnTo>
                        <a:pt x="78" y="0"/>
                      </a:lnTo>
                      <a:lnTo>
                        <a:pt x="106"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33" name="Freeform 321"/>
                <p:cNvSpPr>
                  <a:spLocks noChangeAspect="1"/>
                </p:cNvSpPr>
                <p:nvPr/>
              </p:nvSpPr>
              <p:spPr bwMode="auto">
                <a:xfrm>
                  <a:off x="407" y="662"/>
                  <a:ext cx="36" cy="80"/>
                </a:xfrm>
                <a:custGeom>
                  <a:avLst/>
                  <a:gdLst>
                    <a:gd name="T0" fmla="*/ 108 w 108"/>
                    <a:gd name="T1" fmla="*/ 40 h 240"/>
                    <a:gd name="T2" fmla="*/ 29 w 108"/>
                    <a:gd name="T3" fmla="*/ 240 h 240"/>
                    <a:gd name="T4" fmla="*/ 0 w 108"/>
                    <a:gd name="T5" fmla="*/ 200 h 240"/>
                    <a:gd name="T6" fmla="*/ 79 w 108"/>
                    <a:gd name="T7" fmla="*/ 0 h 240"/>
                    <a:gd name="T8" fmla="*/ 108 w 108"/>
                    <a:gd name="T9" fmla="*/ 40 h 240"/>
                  </a:gdLst>
                  <a:ahLst/>
                  <a:cxnLst>
                    <a:cxn ang="0">
                      <a:pos x="T0" y="T1"/>
                    </a:cxn>
                    <a:cxn ang="0">
                      <a:pos x="T2" y="T3"/>
                    </a:cxn>
                    <a:cxn ang="0">
                      <a:pos x="T4" y="T5"/>
                    </a:cxn>
                    <a:cxn ang="0">
                      <a:pos x="T6" y="T7"/>
                    </a:cxn>
                    <a:cxn ang="0">
                      <a:pos x="T8" y="T9"/>
                    </a:cxn>
                  </a:cxnLst>
                  <a:rect l="0" t="0" r="r" b="b"/>
                  <a:pathLst>
                    <a:path w="108" h="240">
                      <a:moveTo>
                        <a:pt x="108" y="40"/>
                      </a:moveTo>
                      <a:lnTo>
                        <a:pt x="29" y="240"/>
                      </a:lnTo>
                      <a:lnTo>
                        <a:pt x="0" y="200"/>
                      </a:lnTo>
                      <a:lnTo>
                        <a:pt x="79" y="0"/>
                      </a:lnTo>
                      <a:lnTo>
                        <a:pt x="108"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34" name="Freeform 322"/>
                <p:cNvSpPr>
                  <a:spLocks noChangeAspect="1"/>
                </p:cNvSpPr>
                <p:nvPr/>
              </p:nvSpPr>
              <p:spPr bwMode="auto">
                <a:xfrm>
                  <a:off x="401" y="655"/>
                  <a:ext cx="36" cy="80"/>
                </a:xfrm>
                <a:custGeom>
                  <a:avLst/>
                  <a:gdLst>
                    <a:gd name="T0" fmla="*/ 107 w 107"/>
                    <a:gd name="T1" fmla="*/ 40 h 240"/>
                    <a:gd name="T2" fmla="*/ 29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35" name="Freeform 323"/>
                <p:cNvSpPr>
                  <a:spLocks noChangeAspect="1"/>
                </p:cNvSpPr>
                <p:nvPr/>
              </p:nvSpPr>
              <p:spPr bwMode="auto">
                <a:xfrm>
                  <a:off x="397" y="649"/>
                  <a:ext cx="36" cy="80"/>
                </a:xfrm>
                <a:custGeom>
                  <a:avLst/>
                  <a:gdLst>
                    <a:gd name="T0" fmla="*/ 108 w 108"/>
                    <a:gd name="T1" fmla="*/ 40 h 240"/>
                    <a:gd name="T2" fmla="*/ 29 w 108"/>
                    <a:gd name="T3" fmla="*/ 240 h 240"/>
                    <a:gd name="T4" fmla="*/ 0 w 108"/>
                    <a:gd name="T5" fmla="*/ 199 h 240"/>
                    <a:gd name="T6" fmla="*/ 79 w 108"/>
                    <a:gd name="T7" fmla="*/ 0 h 240"/>
                    <a:gd name="T8" fmla="*/ 108 w 108"/>
                    <a:gd name="T9" fmla="*/ 40 h 240"/>
                  </a:gdLst>
                  <a:ahLst/>
                  <a:cxnLst>
                    <a:cxn ang="0">
                      <a:pos x="T0" y="T1"/>
                    </a:cxn>
                    <a:cxn ang="0">
                      <a:pos x="T2" y="T3"/>
                    </a:cxn>
                    <a:cxn ang="0">
                      <a:pos x="T4" y="T5"/>
                    </a:cxn>
                    <a:cxn ang="0">
                      <a:pos x="T6" y="T7"/>
                    </a:cxn>
                    <a:cxn ang="0">
                      <a:pos x="T8" y="T9"/>
                    </a:cxn>
                  </a:cxnLst>
                  <a:rect l="0" t="0" r="r" b="b"/>
                  <a:pathLst>
                    <a:path w="108" h="240">
                      <a:moveTo>
                        <a:pt x="108" y="40"/>
                      </a:moveTo>
                      <a:lnTo>
                        <a:pt x="29" y="240"/>
                      </a:lnTo>
                      <a:lnTo>
                        <a:pt x="0" y="199"/>
                      </a:lnTo>
                      <a:lnTo>
                        <a:pt x="79" y="0"/>
                      </a:lnTo>
                      <a:lnTo>
                        <a:pt x="108"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36" name="Freeform 324"/>
                <p:cNvSpPr>
                  <a:spLocks noChangeAspect="1"/>
                </p:cNvSpPr>
                <p:nvPr/>
              </p:nvSpPr>
              <p:spPr bwMode="auto">
                <a:xfrm>
                  <a:off x="393" y="642"/>
                  <a:ext cx="35" cy="80"/>
                </a:xfrm>
                <a:custGeom>
                  <a:avLst/>
                  <a:gdLst>
                    <a:gd name="T0" fmla="*/ 106 w 106"/>
                    <a:gd name="T1" fmla="*/ 40 h 240"/>
                    <a:gd name="T2" fmla="*/ 28 w 106"/>
                    <a:gd name="T3" fmla="*/ 240 h 240"/>
                    <a:gd name="T4" fmla="*/ 0 w 106"/>
                    <a:gd name="T5" fmla="*/ 199 h 240"/>
                    <a:gd name="T6" fmla="*/ 77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8" y="240"/>
                      </a:lnTo>
                      <a:lnTo>
                        <a:pt x="0" y="199"/>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37" name="Freeform 325"/>
                <p:cNvSpPr>
                  <a:spLocks noChangeAspect="1"/>
                </p:cNvSpPr>
                <p:nvPr/>
              </p:nvSpPr>
              <p:spPr bwMode="auto">
                <a:xfrm>
                  <a:off x="387" y="635"/>
                  <a:ext cx="36" cy="80"/>
                </a:xfrm>
                <a:custGeom>
                  <a:avLst/>
                  <a:gdLst>
                    <a:gd name="T0" fmla="*/ 106 w 106"/>
                    <a:gd name="T1" fmla="*/ 40 h 239"/>
                    <a:gd name="T2" fmla="*/ 27 w 106"/>
                    <a:gd name="T3" fmla="*/ 239 h 239"/>
                    <a:gd name="T4" fmla="*/ 0 w 106"/>
                    <a:gd name="T5" fmla="*/ 200 h 239"/>
                    <a:gd name="T6" fmla="*/ 77 w 106"/>
                    <a:gd name="T7" fmla="*/ 0 h 239"/>
                    <a:gd name="T8" fmla="*/ 106 w 106"/>
                    <a:gd name="T9" fmla="*/ 40 h 239"/>
                  </a:gdLst>
                  <a:ahLst/>
                  <a:cxnLst>
                    <a:cxn ang="0">
                      <a:pos x="T0" y="T1"/>
                    </a:cxn>
                    <a:cxn ang="0">
                      <a:pos x="T2" y="T3"/>
                    </a:cxn>
                    <a:cxn ang="0">
                      <a:pos x="T4" y="T5"/>
                    </a:cxn>
                    <a:cxn ang="0">
                      <a:pos x="T6" y="T7"/>
                    </a:cxn>
                    <a:cxn ang="0">
                      <a:pos x="T8" y="T9"/>
                    </a:cxn>
                  </a:cxnLst>
                  <a:rect l="0" t="0" r="r" b="b"/>
                  <a:pathLst>
                    <a:path w="106" h="239">
                      <a:moveTo>
                        <a:pt x="106" y="40"/>
                      </a:moveTo>
                      <a:lnTo>
                        <a:pt x="27" y="239"/>
                      </a:lnTo>
                      <a:lnTo>
                        <a:pt x="0" y="200"/>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38" name="Freeform 326"/>
                <p:cNvSpPr>
                  <a:spLocks noChangeAspect="1"/>
                </p:cNvSpPr>
                <p:nvPr/>
              </p:nvSpPr>
              <p:spPr bwMode="auto">
                <a:xfrm>
                  <a:off x="383" y="629"/>
                  <a:ext cx="35" cy="79"/>
                </a:xfrm>
                <a:custGeom>
                  <a:avLst/>
                  <a:gdLst>
                    <a:gd name="T0" fmla="*/ 106 w 106"/>
                    <a:gd name="T1" fmla="*/ 40 h 239"/>
                    <a:gd name="T2" fmla="*/ 29 w 106"/>
                    <a:gd name="T3" fmla="*/ 239 h 239"/>
                    <a:gd name="T4" fmla="*/ 0 w 106"/>
                    <a:gd name="T5" fmla="*/ 200 h 239"/>
                    <a:gd name="T6" fmla="*/ 79 w 106"/>
                    <a:gd name="T7" fmla="*/ 0 h 239"/>
                    <a:gd name="T8" fmla="*/ 106 w 106"/>
                    <a:gd name="T9" fmla="*/ 40 h 239"/>
                  </a:gdLst>
                  <a:ahLst/>
                  <a:cxnLst>
                    <a:cxn ang="0">
                      <a:pos x="T0" y="T1"/>
                    </a:cxn>
                    <a:cxn ang="0">
                      <a:pos x="T2" y="T3"/>
                    </a:cxn>
                    <a:cxn ang="0">
                      <a:pos x="T4" y="T5"/>
                    </a:cxn>
                    <a:cxn ang="0">
                      <a:pos x="T6" y="T7"/>
                    </a:cxn>
                    <a:cxn ang="0">
                      <a:pos x="T8" y="T9"/>
                    </a:cxn>
                  </a:cxnLst>
                  <a:rect l="0" t="0" r="r" b="b"/>
                  <a:pathLst>
                    <a:path w="106" h="239">
                      <a:moveTo>
                        <a:pt x="106" y="40"/>
                      </a:moveTo>
                      <a:lnTo>
                        <a:pt x="29" y="239"/>
                      </a:lnTo>
                      <a:lnTo>
                        <a:pt x="0" y="200"/>
                      </a:lnTo>
                      <a:lnTo>
                        <a:pt x="79"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39" name="Freeform 327"/>
                <p:cNvSpPr>
                  <a:spLocks noChangeAspect="1"/>
                </p:cNvSpPr>
                <p:nvPr/>
              </p:nvSpPr>
              <p:spPr bwMode="auto">
                <a:xfrm>
                  <a:off x="378" y="622"/>
                  <a:ext cx="36" cy="80"/>
                </a:xfrm>
                <a:custGeom>
                  <a:avLst/>
                  <a:gdLst>
                    <a:gd name="T0" fmla="*/ 106 w 106"/>
                    <a:gd name="T1" fmla="*/ 40 h 240"/>
                    <a:gd name="T2" fmla="*/ 29 w 106"/>
                    <a:gd name="T3" fmla="*/ 240 h 240"/>
                    <a:gd name="T4" fmla="*/ 0 w 106"/>
                    <a:gd name="T5" fmla="*/ 200 h 240"/>
                    <a:gd name="T6" fmla="*/ 78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9" y="240"/>
                      </a:lnTo>
                      <a:lnTo>
                        <a:pt x="0" y="200"/>
                      </a:lnTo>
                      <a:lnTo>
                        <a:pt x="78"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40" name="Freeform 328"/>
                <p:cNvSpPr>
                  <a:spLocks noChangeAspect="1"/>
                </p:cNvSpPr>
                <p:nvPr/>
              </p:nvSpPr>
              <p:spPr bwMode="auto">
                <a:xfrm>
                  <a:off x="374" y="616"/>
                  <a:ext cx="35" cy="79"/>
                </a:xfrm>
                <a:custGeom>
                  <a:avLst/>
                  <a:gdLst>
                    <a:gd name="T0" fmla="*/ 108 w 108"/>
                    <a:gd name="T1" fmla="*/ 40 h 240"/>
                    <a:gd name="T2" fmla="*/ 29 w 108"/>
                    <a:gd name="T3" fmla="*/ 240 h 240"/>
                    <a:gd name="T4" fmla="*/ 0 w 108"/>
                    <a:gd name="T5" fmla="*/ 200 h 240"/>
                    <a:gd name="T6" fmla="*/ 79 w 108"/>
                    <a:gd name="T7" fmla="*/ 0 h 240"/>
                    <a:gd name="T8" fmla="*/ 108 w 108"/>
                    <a:gd name="T9" fmla="*/ 40 h 240"/>
                  </a:gdLst>
                  <a:ahLst/>
                  <a:cxnLst>
                    <a:cxn ang="0">
                      <a:pos x="T0" y="T1"/>
                    </a:cxn>
                    <a:cxn ang="0">
                      <a:pos x="T2" y="T3"/>
                    </a:cxn>
                    <a:cxn ang="0">
                      <a:pos x="T4" y="T5"/>
                    </a:cxn>
                    <a:cxn ang="0">
                      <a:pos x="T6" y="T7"/>
                    </a:cxn>
                    <a:cxn ang="0">
                      <a:pos x="T8" y="T9"/>
                    </a:cxn>
                  </a:cxnLst>
                  <a:rect l="0" t="0" r="r" b="b"/>
                  <a:pathLst>
                    <a:path w="108" h="240">
                      <a:moveTo>
                        <a:pt x="108" y="40"/>
                      </a:moveTo>
                      <a:lnTo>
                        <a:pt x="29" y="240"/>
                      </a:lnTo>
                      <a:lnTo>
                        <a:pt x="0" y="200"/>
                      </a:lnTo>
                      <a:lnTo>
                        <a:pt x="79" y="0"/>
                      </a:lnTo>
                      <a:lnTo>
                        <a:pt x="108"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41" name="Freeform 329"/>
                <p:cNvSpPr>
                  <a:spLocks noChangeAspect="1"/>
                </p:cNvSpPr>
                <p:nvPr/>
              </p:nvSpPr>
              <p:spPr bwMode="auto">
                <a:xfrm>
                  <a:off x="369" y="609"/>
                  <a:ext cx="35" cy="80"/>
                </a:xfrm>
                <a:custGeom>
                  <a:avLst/>
                  <a:gdLst>
                    <a:gd name="T0" fmla="*/ 107 w 107"/>
                    <a:gd name="T1" fmla="*/ 40 h 240"/>
                    <a:gd name="T2" fmla="*/ 29 w 107"/>
                    <a:gd name="T3" fmla="*/ 240 h 240"/>
                    <a:gd name="T4" fmla="*/ 0 w 107"/>
                    <a:gd name="T5" fmla="*/ 199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199"/>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42" name="Freeform 330"/>
                <p:cNvSpPr>
                  <a:spLocks noChangeAspect="1"/>
                </p:cNvSpPr>
                <p:nvPr/>
              </p:nvSpPr>
              <p:spPr bwMode="auto">
                <a:xfrm>
                  <a:off x="364" y="603"/>
                  <a:ext cx="36" cy="79"/>
                </a:xfrm>
                <a:custGeom>
                  <a:avLst/>
                  <a:gdLst>
                    <a:gd name="T0" fmla="*/ 108 w 108"/>
                    <a:gd name="T1" fmla="*/ 40 h 240"/>
                    <a:gd name="T2" fmla="*/ 29 w 108"/>
                    <a:gd name="T3" fmla="*/ 240 h 240"/>
                    <a:gd name="T4" fmla="*/ 0 w 108"/>
                    <a:gd name="T5" fmla="*/ 200 h 240"/>
                    <a:gd name="T6" fmla="*/ 79 w 108"/>
                    <a:gd name="T7" fmla="*/ 0 h 240"/>
                    <a:gd name="T8" fmla="*/ 108 w 108"/>
                    <a:gd name="T9" fmla="*/ 40 h 240"/>
                  </a:gdLst>
                  <a:ahLst/>
                  <a:cxnLst>
                    <a:cxn ang="0">
                      <a:pos x="T0" y="T1"/>
                    </a:cxn>
                    <a:cxn ang="0">
                      <a:pos x="T2" y="T3"/>
                    </a:cxn>
                    <a:cxn ang="0">
                      <a:pos x="T4" y="T5"/>
                    </a:cxn>
                    <a:cxn ang="0">
                      <a:pos x="T6" y="T7"/>
                    </a:cxn>
                    <a:cxn ang="0">
                      <a:pos x="T8" y="T9"/>
                    </a:cxn>
                  </a:cxnLst>
                  <a:rect l="0" t="0" r="r" b="b"/>
                  <a:pathLst>
                    <a:path w="108" h="240">
                      <a:moveTo>
                        <a:pt x="108" y="40"/>
                      </a:moveTo>
                      <a:lnTo>
                        <a:pt x="29" y="240"/>
                      </a:lnTo>
                      <a:lnTo>
                        <a:pt x="0" y="200"/>
                      </a:lnTo>
                      <a:lnTo>
                        <a:pt x="79" y="0"/>
                      </a:lnTo>
                      <a:lnTo>
                        <a:pt x="108"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43" name="Freeform 331"/>
                <p:cNvSpPr>
                  <a:spLocks noChangeAspect="1"/>
                </p:cNvSpPr>
                <p:nvPr/>
              </p:nvSpPr>
              <p:spPr bwMode="auto">
                <a:xfrm>
                  <a:off x="360" y="596"/>
                  <a:ext cx="35" cy="79"/>
                </a:xfrm>
                <a:custGeom>
                  <a:avLst/>
                  <a:gdLst>
                    <a:gd name="T0" fmla="*/ 106 w 106"/>
                    <a:gd name="T1" fmla="*/ 40 h 239"/>
                    <a:gd name="T2" fmla="*/ 28 w 106"/>
                    <a:gd name="T3" fmla="*/ 239 h 239"/>
                    <a:gd name="T4" fmla="*/ 0 w 106"/>
                    <a:gd name="T5" fmla="*/ 200 h 239"/>
                    <a:gd name="T6" fmla="*/ 77 w 106"/>
                    <a:gd name="T7" fmla="*/ 0 h 239"/>
                    <a:gd name="T8" fmla="*/ 106 w 106"/>
                    <a:gd name="T9" fmla="*/ 40 h 239"/>
                  </a:gdLst>
                  <a:ahLst/>
                  <a:cxnLst>
                    <a:cxn ang="0">
                      <a:pos x="T0" y="T1"/>
                    </a:cxn>
                    <a:cxn ang="0">
                      <a:pos x="T2" y="T3"/>
                    </a:cxn>
                    <a:cxn ang="0">
                      <a:pos x="T4" y="T5"/>
                    </a:cxn>
                    <a:cxn ang="0">
                      <a:pos x="T6" y="T7"/>
                    </a:cxn>
                    <a:cxn ang="0">
                      <a:pos x="T8" y="T9"/>
                    </a:cxn>
                  </a:cxnLst>
                  <a:rect l="0" t="0" r="r" b="b"/>
                  <a:pathLst>
                    <a:path w="106" h="239">
                      <a:moveTo>
                        <a:pt x="106" y="40"/>
                      </a:moveTo>
                      <a:lnTo>
                        <a:pt x="28" y="239"/>
                      </a:lnTo>
                      <a:lnTo>
                        <a:pt x="0" y="200"/>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44" name="Freeform 332"/>
                <p:cNvSpPr>
                  <a:spLocks noChangeAspect="1"/>
                </p:cNvSpPr>
                <p:nvPr/>
              </p:nvSpPr>
              <p:spPr bwMode="auto">
                <a:xfrm>
                  <a:off x="354" y="590"/>
                  <a:ext cx="36" cy="79"/>
                </a:xfrm>
                <a:custGeom>
                  <a:avLst/>
                  <a:gdLst>
                    <a:gd name="T0" fmla="*/ 107 w 107"/>
                    <a:gd name="T1" fmla="*/ 40 h 240"/>
                    <a:gd name="T2" fmla="*/ 28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8"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45" name="Freeform 333"/>
                <p:cNvSpPr>
                  <a:spLocks noChangeAspect="1"/>
                </p:cNvSpPr>
                <p:nvPr/>
              </p:nvSpPr>
              <p:spPr bwMode="auto">
                <a:xfrm>
                  <a:off x="350" y="582"/>
                  <a:ext cx="35" cy="78"/>
                </a:xfrm>
                <a:custGeom>
                  <a:avLst/>
                  <a:gdLst>
                    <a:gd name="T0" fmla="*/ 106 w 106"/>
                    <a:gd name="T1" fmla="*/ 40 h 240"/>
                    <a:gd name="T2" fmla="*/ 29 w 106"/>
                    <a:gd name="T3" fmla="*/ 240 h 240"/>
                    <a:gd name="T4" fmla="*/ 0 w 106"/>
                    <a:gd name="T5" fmla="*/ 200 h 240"/>
                    <a:gd name="T6" fmla="*/ 77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9" y="240"/>
                      </a:lnTo>
                      <a:lnTo>
                        <a:pt x="0" y="200"/>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46" name="Freeform 334"/>
                <p:cNvSpPr>
                  <a:spLocks noChangeAspect="1"/>
                </p:cNvSpPr>
                <p:nvPr/>
              </p:nvSpPr>
              <p:spPr bwMode="auto">
                <a:xfrm>
                  <a:off x="346" y="575"/>
                  <a:ext cx="35" cy="79"/>
                </a:xfrm>
                <a:custGeom>
                  <a:avLst/>
                  <a:gdLst>
                    <a:gd name="T0" fmla="*/ 106 w 106"/>
                    <a:gd name="T1" fmla="*/ 41 h 241"/>
                    <a:gd name="T2" fmla="*/ 28 w 106"/>
                    <a:gd name="T3" fmla="*/ 241 h 241"/>
                    <a:gd name="T4" fmla="*/ 0 w 106"/>
                    <a:gd name="T5" fmla="*/ 200 h 241"/>
                    <a:gd name="T6" fmla="*/ 78 w 106"/>
                    <a:gd name="T7" fmla="*/ 0 h 241"/>
                    <a:gd name="T8" fmla="*/ 106 w 106"/>
                    <a:gd name="T9" fmla="*/ 41 h 241"/>
                  </a:gdLst>
                  <a:ahLst/>
                  <a:cxnLst>
                    <a:cxn ang="0">
                      <a:pos x="T0" y="T1"/>
                    </a:cxn>
                    <a:cxn ang="0">
                      <a:pos x="T2" y="T3"/>
                    </a:cxn>
                    <a:cxn ang="0">
                      <a:pos x="T4" y="T5"/>
                    </a:cxn>
                    <a:cxn ang="0">
                      <a:pos x="T6" y="T7"/>
                    </a:cxn>
                    <a:cxn ang="0">
                      <a:pos x="T8" y="T9"/>
                    </a:cxn>
                  </a:cxnLst>
                  <a:rect l="0" t="0" r="r" b="b"/>
                  <a:pathLst>
                    <a:path w="106" h="241">
                      <a:moveTo>
                        <a:pt x="106" y="41"/>
                      </a:moveTo>
                      <a:lnTo>
                        <a:pt x="28" y="241"/>
                      </a:lnTo>
                      <a:lnTo>
                        <a:pt x="0" y="200"/>
                      </a:lnTo>
                      <a:lnTo>
                        <a:pt x="78" y="0"/>
                      </a:lnTo>
                      <a:lnTo>
                        <a:pt x="106"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47" name="Freeform 335"/>
                <p:cNvSpPr>
                  <a:spLocks noChangeAspect="1"/>
                </p:cNvSpPr>
                <p:nvPr/>
              </p:nvSpPr>
              <p:spPr bwMode="auto">
                <a:xfrm>
                  <a:off x="340" y="569"/>
                  <a:ext cx="35" cy="78"/>
                </a:xfrm>
                <a:custGeom>
                  <a:avLst/>
                  <a:gdLst>
                    <a:gd name="T0" fmla="*/ 106 w 106"/>
                    <a:gd name="T1" fmla="*/ 40 h 240"/>
                    <a:gd name="T2" fmla="*/ 29 w 106"/>
                    <a:gd name="T3" fmla="*/ 240 h 240"/>
                    <a:gd name="T4" fmla="*/ 0 w 106"/>
                    <a:gd name="T5" fmla="*/ 200 h 240"/>
                    <a:gd name="T6" fmla="*/ 79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9" y="240"/>
                      </a:lnTo>
                      <a:lnTo>
                        <a:pt x="0" y="200"/>
                      </a:lnTo>
                      <a:lnTo>
                        <a:pt x="79"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48" name="Freeform 336"/>
                <p:cNvSpPr>
                  <a:spLocks noChangeAspect="1"/>
                </p:cNvSpPr>
                <p:nvPr/>
              </p:nvSpPr>
              <p:spPr bwMode="auto">
                <a:xfrm>
                  <a:off x="335" y="562"/>
                  <a:ext cx="36" cy="79"/>
                </a:xfrm>
                <a:custGeom>
                  <a:avLst/>
                  <a:gdLst>
                    <a:gd name="T0" fmla="*/ 107 w 107"/>
                    <a:gd name="T1" fmla="*/ 39 h 239"/>
                    <a:gd name="T2" fmla="*/ 29 w 107"/>
                    <a:gd name="T3" fmla="*/ 239 h 239"/>
                    <a:gd name="T4" fmla="*/ 0 w 107"/>
                    <a:gd name="T5" fmla="*/ 200 h 239"/>
                    <a:gd name="T6" fmla="*/ 78 w 107"/>
                    <a:gd name="T7" fmla="*/ 0 h 239"/>
                    <a:gd name="T8" fmla="*/ 107 w 107"/>
                    <a:gd name="T9" fmla="*/ 39 h 239"/>
                  </a:gdLst>
                  <a:ahLst/>
                  <a:cxnLst>
                    <a:cxn ang="0">
                      <a:pos x="T0" y="T1"/>
                    </a:cxn>
                    <a:cxn ang="0">
                      <a:pos x="T2" y="T3"/>
                    </a:cxn>
                    <a:cxn ang="0">
                      <a:pos x="T4" y="T5"/>
                    </a:cxn>
                    <a:cxn ang="0">
                      <a:pos x="T6" y="T7"/>
                    </a:cxn>
                    <a:cxn ang="0">
                      <a:pos x="T8" y="T9"/>
                    </a:cxn>
                  </a:cxnLst>
                  <a:rect l="0" t="0" r="r" b="b"/>
                  <a:pathLst>
                    <a:path w="107" h="239">
                      <a:moveTo>
                        <a:pt x="107" y="39"/>
                      </a:moveTo>
                      <a:lnTo>
                        <a:pt x="29" y="239"/>
                      </a:lnTo>
                      <a:lnTo>
                        <a:pt x="0" y="200"/>
                      </a:lnTo>
                      <a:lnTo>
                        <a:pt x="78" y="0"/>
                      </a:lnTo>
                      <a:lnTo>
                        <a:pt x="107"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49" name="Freeform 337"/>
                <p:cNvSpPr>
                  <a:spLocks noChangeAspect="1"/>
                </p:cNvSpPr>
                <p:nvPr/>
              </p:nvSpPr>
              <p:spPr bwMode="auto">
                <a:xfrm>
                  <a:off x="330" y="555"/>
                  <a:ext cx="36" cy="79"/>
                </a:xfrm>
                <a:custGeom>
                  <a:avLst/>
                  <a:gdLst>
                    <a:gd name="T0" fmla="*/ 108 w 108"/>
                    <a:gd name="T1" fmla="*/ 40 h 240"/>
                    <a:gd name="T2" fmla="*/ 29 w 108"/>
                    <a:gd name="T3" fmla="*/ 240 h 240"/>
                    <a:gd name="T4" fmla="*/ 0 w 108"/>
                    <a:gd name="T5" fmla="*/ 200 h 240"/>
                    <a:gd name="T6" fmla="*/ 79 w 108"/>
                    <a:gd name="T7" fmla="*/ 0 h 240"/>
                    <a:gd name="T8" fmla="*/ 108 w 108"/>
                    <a:gd name="T9" fmla="*/ 40 h 240"/>
                  </a:gdLst>
                  <a:ahLst/>
                  <a:cxnLst>
                    <a:cxn ang="0">
                      <a:pos x="T0" y="T1"/>
                    </a:cxn>
                    <a:cxn ang="0">
                      <a:pos x="T2" y="T3"/>
                    </a:cxn>
                    <a:cxn ang="0">
                      <a:pos x="T4" y="T5"/>
                    </a:cxn>
                    <a:cxn ang="0">
                      <a:pos x="T6" y="T7"/>
                    </a:cxn>
                    <a:cxn ang="0">
                      <a:pos x="T8" y="T9"/>
                    </a:cxn>
                  </a:cxnLst>
                  <a:rect l="0" t="0" r="r" b="b"/>
                  <a:pathLst>
                    <a:path w="108" h="240">
                      <a:moveTo>
                        <a:pt x="108" y="40"/>
                      </a:moveTo>
                      <a:lnTo>
                        <a:pt x="29" y="240"/>
                      </a:lnTo>
                      <a:lnTo>
                        <a:pt x="0" y="200"/>
                      </a:lnTo>
                      <a:lnTo>
                        <a:pt x="79" y="0"/>
                      </a:lnTo>
                      <a:lnTo>
                        <a:pt x="108"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50" name="Freeform 338"/>
                <p:cNvSpPr>
                  <a:spLocks noChangeAspect="1"/>
                </p:cNvSpPr>
                <p:nvPr/>
              </p:nvSpPr>
              <p:spPr bwMode="auto">
                <a:xfrm>
                  <a:off x="326" y="549"/>
                  <a:ext cx="35" cy="79"/>
                </a:xfrm>
                <a:custGeom>
                  <a:avLst/>
                  <a:gdLst>
                    <a:gd name="T0" fmla="*/ 107 w 107"/>
                    <a:gd name="T1" fmla="*/ 40 h 240"/>
                    <a:gd name="T2" fmla="*/ 29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51" name="Freeform 339"/>
                <p:cNvSpPr>
                  <a:spLocks noChangeAspect="1"/>
                </p:cNvSpPr>
                <p:nvPr/>
              </p:nvSpPr>
              <p:spPr bwMode="auto">
                <a:xfrm>
                  <a:off x="321" y="542"/>
                  <a:ext cx="36" cy="79"/>
                </a:xfrm>
                <a:custGeom>
                  <a:avLst/>
                  <a:gdLst>
                    <a:gd name="T0" fmla="*/ 107 w 107"/>
                    <a:gd name="T1" fmla="*/ 39 h 239"/>
                    <a:gd name="T2" fmla="*/ 28 w 107"/>
                    <a:gd name="T3" fmla="*/ 239 h 239"/>
                    <a:gd name="T4" fmla="*/ 0 w 107"/>
                    <a:gd name="T5" fmla="*/ 198 h 239"/>
                    <a:gd name="T6" fmla="*/ 77 w 107"/>
                    <a:gd name="T7" fmla="*/ 0 h 239"/>
                    <a:gd name="T8" fmla="*/ 78 w 107"/>
                    <a:gd name="T9" fmla="*/ 0 h 239"/>
                    <a:gd name="T10" fmla="*/ 78 w 107"/>
                    <a:gd name="T11" fmla="*/ 0 h 239"/>
                    <a:gd name="T12" fmla="*/ 78 w 107"/>
                    <a:gd name="T13" fmla="*/ 0 h 239"/>
                    <a:gd name="T14" fmla="*/ 78 w 107"/>
                    <a:gd name="T15" fmla="*/ 0 h 239"/>
                    <a:gd name="T16" fmla="*/ 78 w 107"/>
                    <a:gd name="T17" fmla="*/ 1 h 239"/>
                    <a:gd name="T18" fmla="*/ 78 w 107"/>
                    <a:gd name="T19" fmla="*/ 1 h 239"/>
                    <a:gd name="T20" fmla="*/ 78 w 107"/>
                    <a:gd name="T21" fmla="*/ 1 h 239"/>
                    <a:gd name="T22" fmla="*/ 78 w 107"/>
                    <a:gd name="T23" fmla="*/ 1 h 239"/>
                    <a:gd name="T24" fmla="*/ 79 w 107"/>
                    <a:gd name="T25" fmla="*/ 0 h 239"/>
                    <a:gd name="T26" fmla="*/ 82 w 107"/>
                    <a:gd name="T27" fmla="*/ 4 h 239"/>
                    <a:gd name="T28" fmla="*/ 83 w 107"/>
                    <a:gd name="T29" fmla="*/ 5 h 239"/>
                    <a:gd name="T30" fmla="*/ 84 w 107"/>
                    <a:gd name="T31" fmla="*/ 7 h 239"/>
                    <a:gd name="T32" fmla="*/ 85 w 107"/>
                    <a:gd name="T33" fmla="*/ 8 h 239"/>
                    <a:gd name="T34" fmla="*/ 86 w 107"/>
                    <a:gd name="T35" fmla="*/ 9 h 239"/>
                    <a:gd name="T36" fmla="*/ 87 w 107"/>
                    <a:gd name="T37" fmla="*/ 10 h 239"/>
                    <a:gd name="T38" fmla="*/ 88 w 107"/>
                    <a:gd name="T39" fmla="*/ 12 h 239"/>
                    <a:gd name="T40" fmla="*/ 89 w 107"/>
                    <a:gd name="T41" fmla="*/ 13 h 239"/>
                    <a:gd name="T42" fmla="*/ 90 w 107"/>
                    <a:gd name="T43" fmla="*/ 15 h 239"/>
                    <a:gd name="T44" fmla="*/ 107 w 107"/>
                    <a:gd name="T45" fmla="*/ 3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7" h="239">
                      <a:moveTo>
                        <a:pt x="107" y="39"/>
                      </a:moveTo>
                      <a:lnTo>
                        <a:pt x="28" y="239"/>
                      </a:lnTo>
                      <a:lnTo>
                        <a:pt x="0" y="198"/>
                      </a:lnTo>
                      <a:lnTo>
                        <a:pt x="77" y="0"/>
                      </a:lnTo>
                      <a:lnTo>
                        <a:pt x="78" y="0"/>
                      </a:lnTo>
                      <a:lnTo>
                        <a:pt x="78" y="0"/>
                      </a:lnTo>
                      <a:lnTo>
                        <a:pt x="78" y="0"/>
                      </a:lnTo>
                      <a:lnTo>
                        <a:pt x="78" y="0"/>
                      </a:lnTo>
                      <a:lnTo>
                        <a:pt x="78" y="1"/>
                      </a:lnTo>
                      <a:lnTo>
                        <a:pt x="78" y="1"/>
                      </a:lnTo>
                      <a:lnTo>
                        <a:pt x="78" y="1"/>
                      </a:lnTo>
                      <a:lnTo>
                        <a:pt x="78" y="1"/>
                      </a:lnTo>
                      <a:lnTo>
                        <a:pt x="79" y="0"/>
                      </a:lnTo>
                      <a:lnTo>
                        <a:pt x="82" y="4"/>
                      </a:lnTo>
                      <a:lnTo>
                        <a:pt x="83" y="5"/>
                      </a:lnTo>
                      <a:lnTo>
                        <a:pt x="84" y="7"/>
                      </a:lnTo>
                      <a:lnTo>
                        <a:pt x="85" y="8"/>
                      </a:lnTo>
                      <a:lnTo>
                        <a:pt x="86" y="9"/>
                      </a:lnTo>
                      <a:lnTo>
                        <a:pt x="87" y="10"/>
                      </a:lnTo>
                      <a:lnTo>
                        <a:pt x="88" y="12"/>
                      </a:lnTo>
                      <a:lnTo>
                        <a:pt x="89" y="13"/>
                      </a:lnTo>
                      <a:lnTo>
                        <a:pt x="90" y="15"/>
                      </a:lnTo>
                      <a:lnTo>
                        <a:pt x="107"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52" name="Freeform 340"/>
                <p:cNvSpPr>
                  <a:spLocks noChangeAspect="1"/>
                </p:cNvSpPr>
                <p:nvPr/>
              </p:nvSpPr>
              <p:spPr bwMode="auto">
                <a:xfrm>
                  <a:off x="316" y="538"/>
                  <a:ext cx="36" cy="78"/>
                </a:xfrm>
                <a:custGeom>
                  <a:avLst/>
                  <a:gdLst>
                    <a:gd name="T0" fmla="*/ 106 w 106"/>
                    <a:gd name="T1" fmla="*/ 33 h 233"/>
                    <a:gd name="T2" fmla="*/ 28 w 106"/>
                    <a:gd name="T3" fmla="*/ 233 h 233"/>
                    <a:gd name="T4" fmla="*/ 0 w 106"/>
                    <a:gd name="T5" fmla="*/ 192 h 233"/>
                    <a:gd name="T6" fmla="*/ 75 w 106"/>
                    <a:gd name="T7" fmla="*/ 0 h 233"/>
                    <a:gd name="T8" fmla="*/ 77 w 106"/>
                    <a:gd name="T9" fmla="*/ 2 h 233"/>
                    <a:gd name="T10" fmla="*/ 80 w 106"/>
                    <a:gd name="T11" fmla="*/ 3 h 233"/>
                    <a:gd name="T12" fmla="*/ 82 w 106"/>
                    <a:gd name="T13" fmla="*/ 5 h 233"/>
                    <a:gd name="T14" fmla="*/ 84 w 106"/>
                    <a:gd name="T15" fmla="*/ 7 h 233"/>
                    <a:gd name="T16" fmla="*/ 86 w 106"/>
                    <a:gd name="T17" fmla="*/ 8 h 233"/>
                    <a:gd name="T18" fmla="*/ 88 w 106"/>
                    <a:gd name="T19" fmla="*/ 10 h 233"/>
                    <a:gd name="T20" fmla="*/ 90 w 106"/>
                    <a:gd name="T21" fmla="*/ 13 h 233"/>
                    <a:gd name="T22" fmla="*/ 92 w 106"/>
                    <a:gd name="T23" fmla="*/ 15 h 233"/>
                    <a:gd name="T24" fmla="*/ 93 w 106"/>
                    <a:gd name="T25" fmla="*/ 14 h 233"/>
                    <a:gd name="T26" fmla="*/ 96 w 106"/>
                    <a:gd name="T27" fmla="*/ 18 h 233"/>
                    <a:gd name="T28" fmla="*/ 97 w 106"/>
                    <a:gd name="T29" fmla="*/ 19 h 233"/>
                    <a:gd name="T30" fmla="*/ 98 w 106"/>
                    <a:gd name="T31" fmla="*/ 21 h 233"/>
                    <a:gd name="T32" fmla="*/ 99 w 106"/>
                    <a:gd name="T33" fmla="*/ 22 h 233"/>
                    <a:gd name="T34" fmla="*/ 100 w 106"/>
                    <a:gd name="T35" fmla="*/ 23 h 233"/>
                    <a:gd name="T36" fmla="*/ 101 w 106"/>
                    <a:gd name="T37" fmla="*/ 24 h 233"/>
                    <a:gd name="T38" fmla="*/ 102 w 106"/>
                    <a:gd name="T39" fmla="*/ 26 h 233"/>
                    <a:gd name="T40" fmla="*/ 103 w 106"/>
                    <a:gd name="T41" fmla="*/ 27 h 233"/>
                    <a:gd name="T42" fmla="*/ 104 w 106"/>
                    <a:gd name="T43" fmla="*/ 29 h 233"/>
                    <a:gd name="T44" fmla="*/ 106 w 106"/>
                    <a:gd name="T45" fmla="*/ 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33">
                      <a:moveTo>
                        <a:pt x="106" y="33"/>
                      </a:moveTo>
                      <a:lnTo>
                        <a:pt x="28" y="233"/>
                      </a:lnTo>
                      <a:lnTo>
                        <a:pt x="0" y="192"/>
                      </a:lnTo>
                      <a:lnTo>
                        <a:pt x="75" y="0"/>
                      </a:lnTo>
                      <a:lnTo>
                        <a:pt x="77" y="2"/>
                      </a:lnTo>
                      <a:lnTo>
                        <a:pt x="80" y="3"/>
                      </a:lnTo>
                      <a:lnTo>
                        <a:pt x="82" y="5"/>
                      </a:lnTo>
                      <a:lnTo>
                        <a:pt x="84" y="7"/>
                      </a:lnTo>
                      <a:lnTo>
                        <a:pt x="86" y="8"/>
                      </a:lnTo>
                      <a:lnTo>
                        <a:pt x="88" y="10"/>
                      </a:lnTo>
                      <a:lnTo>
                        <a:pt x="90" y="13"/>
                      </a:lnTo>
                      <a:lnTo>
                        <a:pt x="92" y="15"/>
                      </a:lnTo>
                      <a:lnTo>
                        <a:pt x="93" y="14"/>
                      </a:lnTo>
                      <a:lnTo>
                        <a:pt x="96" y="18"/>
                      </a:lnTo>
                      <a:lnTo>
                        <a:pt x="97" y="19"/>
                      </a:lnTo>
                      <a:lnTo>
                        <a:pt x="98" y="21"/>
                      </a:lnTo>
                      <a:lnTo>
                        <a:pt x="99" y="22"/>
                      </a:lnTo>
                      <a:lnTo>
                        <a:pt x="100" y="23"/>
                      </a:lnTo>
                      <a:lnTo>
                        <a:pt x="101" y="24"/>
                      </a:lnTo>
                      <a:lnTo>
                        <a:pt x="102" y="26"/>
                      </a:lnTo>
                      <a:lnTo>
                        <a:pt x="103" y="27"/>
                      </a:lnTo>
                      <a:lnTo>
                        <a:pt x="104" y="29"/>
                      </a:lnTo>
                      <a:lnTo>
                        <a:pt x="106" y="3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53" name="Freeform 341"/>
                <p:cNvSpPr>
                  <a:spLocks noChangeAspect="1"/>
                </p:cNvSpPr>
                <p:nvPr/>
              </p:nvSpPr>
              <p:spPr bwMode="auto">
                <a:xfrm>
                  <a:off x="311" y="535"/>
                  <a:ext cx="36" cy="73"/>
                </a:xfrm>
                <a:custGeom>
                  <a:avLst/>
                  <a:gdLst>
                    <a:gd name="T0" fmla="*/ 106 w 106"/>
                    <a:gd name="T1" fmla="*/ 22 h 220"/>
                    <a:gd name="T2" fmla="*/ 29 w 106"/>
                    <a:gd name="T3" fmla="*/ 220 h 220"/>
                    <a:gd name="T4" fmla="*/ 0 w 106"/>
                    <a:gd name="T5" fmla="*/ 181 h 220"/>
                    <a:gd name="T6" fmla="*/ 71 w 106"/>
                    <a:gd name="T7" fmla="*/ 0 h 220"/>
                    <a:gd name="T8" fmla="*/ 72 w 106"/>
                    <a:gd name="T9" fmla="*/ 0 h 220"/>
                    <a:gd name="T10" fmla="*/ 72 w 106"/>
                    <a:gd name="T11" fmla="*/ 0 h 220"/>
                    <a:gd name="T12" fmla="*/ 73 w 106"/>
                    <a:gd name="T13" fmla="*/ 0 h 220"/>
                    <a:gd name="T14" fmla="*/ 74 w 106"/>
                    <a:gd name="T15" fmla="*/ 1 h 220"/>
                    <a:gd name="T16" fmla="*/ 75 w 106"/>
                    <a:gd name="T17" fmla="*/ 1 h 220"/>
                    <a:gd name="T18" fmla="*/ 76 w 106"/>
                    <a:gd name="T19" fmla="*/ 1 h 220"/>
                    <a:gd name="T20" fmla="*/ 76 w 106"/>
                    <a:gd name="T21" fmla="*/ 2 h 220"/>
                    <a:gd name="T22" fmla="*/ 78 w 106"/>
                    <a:gd name="T23" fmla="*/ 2 h 220"/>
                    <a:gd name="T24" fmla="*/ 82 w 106"/>
                    <a:gd name="T25" fmla="*/ 5 h 220"/>
                    <a:gd name="T26" fmla="*/ 86 w 106"/>
                    <a:gd name="T27" fmla="*/ 6 h 220"/>
                    <a:gd name="T28" fmla="*/ 90 w 106"/>
                    <a:gd name="T29" fmla="*/ 8 h 220"/>
                    <a:gd name="T30" fmla="*/ 94 w 106"/>
                    <a:gd name="T31" fmla="*/ 11 h 220"/>
                    <a:gd name="T32" fmla="*/ 97 w 106"/>
                    <a:gd name="T33" fmla="*/ 13 h 220"/>
                    <a:gd name="T34" fmla="*/ 101 w 106"/>
                    <a:gd name="T35" fmla="*/ 16 h 220"/>
                    <a:gd name="T36" fmla="*/ 104 w 106"/>
                    <a:gd name="T37" fmla="*/ 18 h 220"/>
                    <a:gd name="T38" fmla="*/ 106 w 106"/>
                    <a:gd name="T39" fmla="*/ 22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6" h="220">
                      <a:moveTo>
                        <a:pt x="106" y="22"/>
                      </a:moveTo>
                      <a:lnTo>
                        <a:pt x="29" y="220"/>
                      </a:lnTo>
                      <a:lnTo>
                        <a:pt x="0" y="181"/>
                      </a:lnTo>
                      <a:lnTo>
                        <a:pt x="71" y="0"/>
                      </a:lnTo>
                      <a:lnTo>
                        <a:pt x="72" y="0"/>
                      </a:lnTo>
                      <a:lnTo>
                        <a:pt x="72" y="0"/>
                      </a:lnTo>
                      <a:lnTo>
                        <a:pt x="73" y="0"/>
                      </a:lnTo>
                      <a:lnTo>
                        <a:pt x="74" y="1"/>
                      </a:lnTo>
                      <a:lnTo>
                        <a:pt x="75" y="1"/>
                      </a:lnTo>
                      <a:lnTo>
                        <a:pt x="76" y="1"/>
                      </a:lnTo>
                      <a:lnTo>
                        <a:pt x="76" y="2"/>
                      </a:lnTo>
                      <a:lnTo>
                        <a:pt x="78" y="2"/>
                      </a:lnTo>
                      <a:lnTo>
                        <a:pt x="82" y="5"/>
                      </a:lnTo>
                      <a:lnTo>
                        <a:pt x="86" y="6"/>
                      </a:lnTo>
                      <a:lnTo>
                        <a:pt x="90" y="8"/>
                      </a:lnTo>
                      <a:lnTo>
                        <a:pt x="94" y="11"/>
                      </a:lnTo>
                      <a:lnTo>
                        <a:pt x="97" y="13"/>
                      </a:lnTo>
                      <a:lnTo>
                        <a:pt x="101" y="16"/>
                      </a:lnTo>
                      <a:lnTo>
                        <a:pt x="104" y="18"/>
                      </a:lnTo>
                      <a:lnTo>
                        <a:pt x="106" y="2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54" name="Freeform 342"/>
                <p:cNvSpPr>
                  <a:spLocks noChangeAspect="1"/>
                </p:cNvSpPr>
                <p:nvPr/>
              </p:nvSpPr>
              <p:spPr bwMode="auto">
                <a:xfrm>
                  <a:off x="307" y="534"/>
                  <a:ext cx="34" cy="69"/>
                </a:xfrm>
                <a:custGeom>
                  <a:avLst/>
                  <a:gdLst>
                    <a:gd name="T0" fmla="*/ 104 w 104"/>
                    <a:gd name="T1" fmla="*/ 11 h 203"/>
                    <a:gd name="T2" fmla="*/ 29 w 104"/>
                    <a:gd name="T3" fmla="*/ 203 h 203"/>
                    <a:gd name="T4" fmla="*/ 0 w 104"/>
                    <a:gd name="T5" fmla="*/ 164 h 203"/>
                    <a:gd name="T6" fmla="*/ 64 w 104"/>
                    <a:gd name="T7" fmla="*/ 0 h 203"/>
                    <a:gd name="T8" fmla="*/ 68 w 104"/>
                    <a:gd name="T9" fmla="*/ 0 h 203"/>
                    <a:gd name="T10" fmla="*/ 71 w 104"/>
                    <a:gd name="T11" fmla="*/ 0 h 203"/>
                    <a:gd name="T12" fmla="*/ 75 w 104"/>
                    <a:gd name="T13" fmla="*/ 1 h 203"/>
                    <a:gd name="T14" fmla="*/ 78 w 104"/>
                    <a:gd name="T15" fmla="*/ 1 h 203"/>
                    <a:gd name="T16" fmla="*/ 82 w 104"/>
                    <a:gd name="T17" fmla="*/ 2 h 203"/>
                    <a:gd name="T18" fmla="*/ 85 w 104"/>
                    <a:gd name="T19" fmla="*/ 3 h 203"/>
                    <a:gd name="T20" fmla="*/ 88 w 104"/>
                    <a:gd name="T21" fmla="*/ 4 h 203"/>
                    <a:gd name="T22" fmla="*/ 92 w 104"/>
                    <a:gd name="T23" fmla="*/ 5 h 203"/>
                    <a:gd name="T24" fmla="*/ 94 w 104"/>
                    <a:gd name="T25" fmla="*/ 7 h 203"/>
                    <a:gd name="T26" fmla="*/ 95 w 104"/>
                    <a:gd name="T27" fmla="*/ 7 h 203"/>
                    <a:gd name="T28" fmla="*/ 97 w 104"/>
                    <a:gd name="T29" fmla="*/ 8 h 203"/>
                    <a:gd name="T30" fmla="*/ 98 w 104"/>
                    <a:gd name="T31" fmla="*/ 8 h 203"/>
                    <a:gd name="T32" fmla="*/ 99 w 104"/>
                    <a:gd name="T33" fmla="*/ 9 h 203"/>
                    <a:gd name="T34" fmla="*/ 101 w 104"/>
                    <a:gd name="T35" fmla="*/ 10 h 203"/>
                    <a:gd name="T36" fmla="*/ 102 w 104"/>
                    <a:gd name="T37" fmla="*/ 11 h 203"/>
                    <a:gd name="T38" fmla="*/ 104 w 104"/>
                    <a:gd name="T39" fmla="*/ 11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203">
                      <a:moveTo>
                        <a:pt x="104" y="11"/>
                      </a:moveTo>
                      <a:lnTo>
                        <a:pt x="29" y="203"/>
                      </a:lnTo>
                      <a:lnTo>
                        <a:pt x="0" y="164"/>
                      </a:lnTo>
                      <a:lnTo>
                        <a:pt x="64" y="0"/>
                      </a:lnTo>
                      <a:lnTo>
                        <a:pt x="68" y="0"/>
                      </a:lnTo>
                      <a:lnTo>
                        <a:pt x="71" y="0"/>
                      </a:lnTo>
                      <a:lnTo>
                        <a:pt x="75" y="1"/>
                      </a:lnTo>
                      <a:lnTo>
                        <a:pt x="78" y="1"/>
                      </a:lnTo>
                      <a:lnTo>
                        <a:pt x="82" y="2"/>
                      </a:lnTo>
                      <a:lnTo>
                        <a:pt x="85" y="3"/>
                      </a:lnTo>
                      <a:lnTo>
                        <a:pt x="88" y="4"/>
                      </a:lnTo>
                      <a:lnTo>
                        <a:pt x="92" y="5"/>
                      </a:lnTo>
                      <a:lnTo>
                        <a:pt x="94" y="7"/>
                      </a:lnTo>
                      <a:lnTo>
                        <a:pt x="95" y="7"/>
                      </a:lnTo>
                      <a:lnTo>
                        <a:pt x="97" y="8"/>
                      </a:lnTo>
                      <a:lnTo>
                        <a:pt x="98" y="8"/>
                      </a:lnTo>
                      <a:lnTo>
                        <a:pt x="99" y="9"/>
                      </a:lnTo>
                      <a:lnTo>
                        <a:pt x="101" y="10"/>
                      </a:lnTo>
                      <a:lnTo>
                        <a:pt x="102" y="11"/>
                      </a:lnTo>
                      <a:lnTo>
                        <a:pt x="104" y="1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55" name="Freeform 343"/>
                <p:cNvSpPr>
                  <a:spLocks noChangeAspect="1"/>
                </p:cNvSpPr>
                <p:nvPr/>
              </p:nvSpPr>
              <p:spPr bwMode="auto">
                <a:xfrm>
                  <a:off x="303" y="534"/>
                  <a:ext cx="35" cy="62"/>
                </a:xfrm>
                <a:custGeom>
                  <a:avLst/>
                  <a:gdLst>
                    <a:gd name="T0" fmla="*/ 99 w 99"/>
                    <a:gd name="T1" fmla="*/ 3 h 184"/>
                    <a:gd name="T2" fmla="*/ 28 w 99"/>
                    <a:gd name="T3" fmla="*/ 184 h 184"/>
                    <a:gd name="T4" fmla="*/ 0 w 99"/>
                    <a:gd name="T5" fmla="*/ 144 h 184"/>
                    <a:gd name="T6" fmla="*/ 54 w 99"/>
                    <a:gd name="T7" fmla="*/ 2 h 184"/>
                    <a:gd name="T8" fmla="*/ 61 w 99"/>
                    <a:gd name="T9" fmla="*/ 1 h 184"/>
                    <a:gd name="T10" fmla="*/ 66 w 99"/>
                    <a:gd name="T11" fmla="*/ 0 h 184"/>
                    <a:gd name="T12" fmla="*/ 71 w 99"/>
                    <a:gd name="T13" fmla="*/ 0 h 184"/>
                    <a:gd name="T14" fmla="*/ 77 w 99"/>
                    <a:gd name="T15" fmla="*/ 0 h 184"/>
                    <a:gd name="T16" fmla="*/ 82 w 99"/>
                    <a:gd name="T17" fmla="*/ 0 h 184"/>
                    <a:gd name="T18" fmla="*/ 87 w 99"/>
                    <a:gd name="T19" fmla="*/ 0 h 184"/>
                    <a:gd name="T20" fmla="*/ 94 w 99"/>
                    <a:gd name="T21" fmla="*/ 1 h 184"/>
                    <a:gd name="T22" fmla="*/ 99 w 99"/>
                    <a:gd name="T23" fmla="*/ 3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 h="184">
                      <a:moveTo>
                        <a:pt x="99" y="3"/>
                      </a:moveTo>
                      <a:lnTo>
                        <a:pt x="28" y="184"/>
                      </a:lnTo>
                      <a:lnTo>
                        <a:pt x="0" y="144"/>
                      </a:lnTo>
                      <a:lnTo>
                        <a:pt x="54" y="2"/>
                      </a:lnTo>
                      <a:lnTo>
                        <a:pt x="61" y="1"/>
                      </a:lnTo>
                      <a:lnTo>
                        <a:pt x="66" y="0"/>
                      </a:lnTo>
                      <a:lnTo>
                        <a:pt x="71" y="0"/>
                      </a:lnTo>
                      <a:lnTo>
                        <a:pt x="77" y="0"/>
                      </a:lnTo>
                      <a:lnTo>
                        <a:pt x="82" y="0"/>
                      </a:lnTo>
                      <a:lnTo>
                        <a:pt x="87" y="0"/>
                      </a:lnTo>
                      <a:lnTo>
                        <a:pt x="94" y="1"/>
                      </a:lnTo>
                      <a:lnTo>
                        <a:pt x="99" y="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56" name="Freeform 344"/>
                <p:cNvSpPr>
                  <a:spLocks noChangeAspect="1"/>
                </p:cNvSpPr>
                <p:nvPr/>
              </p:nvSpPr>
              <p:spPr bwMode="auto">
                <a:xfrm>
                  <a:off x="298" y="534"/>
                  <a:ext cx="30" cy="56"/>
                </a:xfrm>
                <a:custGeom>
                  <a:avLst/>
                  <a:gdLst>
                    <a:gd name="T0" fmla="*/ 90 w 90"/>
                    <a:gd name="T1" fmla="*/ 0 h 164"/>
                    <a:gd name="T2" fmla="*/ 26 w 90"/>
                    <a:gd name="T3" fmla="*/ 164 h 164"/>
                    <a:gd name="T4" fmla="*/ 8 w 90"/>
                    <a:gd name="T5" fmla="*/ 138 h 164"/>
                    <a:gd name="T6" fmla="*/ 10 w 90"/>
                    <a:gd name="T7" fmla="*/ 137 h 164"/>
                    <a:gd name="T8" fmla="*/ 8 w 90"/>
                    <a:gd name="T9" fmla="*/ 134 h 164"/>
                    <a:gd name="T10" fmla="*/ 7 w 90"/>
                    <a:gd name="T11" fmla="*/ 132 h 164"/>
                    <a:gd name="T12" fmla="*/ 6 w 90"/>
                    <a:gd name="T13" fmla="*/ 129 h 164"/>
                    <a:gd name="T14" fmla="*/ 5 w 90"/>
                    <a:gd name="T15" fmla="*/ 127 h 164"/>
                    <a:gd name="T16" fmla="*/ 4 w 90"/>
                    <a:gd name="T17" fmla="*/ 123 h 164"/>
                    <a:gd name="T18" fmla="*/ 3 w 90"/>
                    <a:gd name="T19" fmla="*/ 120 h 164"/>
                    <a:gd name="T20" fmla="*/ 2 w 90"/>
                    <a:gd name="T21" fmla="*/ 117 h 164"/>
                    <a:gd name="T22" fmla="*/ 0 w 90"/>
                    <a:gd name="T23" fmla="*/ 115 h 164"/>
                    <a:gd name="T24" fmla="*/ 40 w 90"/>
                    <a:gd name="T25" fmla="*/ 14 h 164"/>
                    <a:gd name="T26" fmla="*/ 46 w 90"/>
                    <a:gd name="T27" fmla="*/ 11 h 164"/>
                    <a:gd name="T28" fmla="*/ 52 w 90"/>
                    <a:gd name="T29" fmla="*/ 8 h 164"/>
                    <a:gd name="T30" fmla="*/ 58 w 90"/>
                    <a:gd name="T31" fmla="*/ 5 h 164"/>
                    <a:gd name="T32" fmla="*/ 64 w 90"/>
                    <a:gd name="T33" fmla="*/ 3 h 164"/>
                    <a:gd name="T34" fmla="*/ 71 w 90"/>
                    <a:gd name="T35" fmla="*/ 1 h 164"/>
                    <a:gd name="T36" fmla="*/ 77 w 90"/>
                    <a:gd name="T37" fmla="*/ 0 h 164"/>
                    <a:gd name="T38" fmla="*/ 83 w 90"/>
                    <a:gd name="T39" fmla="*/ 0 h 164"/>
                    <a:gd name="T40" fmla="*/ 90 w 90"/>
                    <a:gd name="T4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64">
                      <a:moveTo>
                        <a:pt x="90" y="0"/>
                      </a:moveTo>
                      <a:lnTo>
                        <a:pt x="26" y="164"/>
                      </a:lnTo>
                      <a:lnTo>
                        <a:pt x="8" y="138"/>
                      </a:lnTo>
                      <a:lnTo>
                        <a:pt x="10" y="137"/>
                      </a:lnTo>
                      <a:lnTo>
                        <a:pt x="8" y="134"/>
                      </a:lnTo>
                      <a:lnTo>
                        <a:pt x="7" y="132"/>
                      </a:lnTo>
                      <a:lnTo>
                        <a:pt x="6" y="129"/>
                      </a:lnTo>
                      <a:lnTo>
                        <a:pt x="5" y="127"/>
                      </a:lnTo>
                      <a:lnTo>
                        <a:pt x="4" y="123"/>
                      </a:lnTo>
                      <a:lnTo>
                        <a:pt x="3" y="120"/>
                      </a:lnTo>
                      <a:lnTo>
                        <a:pt x="2" y="117"/>
                      </a:lnTo>
                      <a:lnTo>
                        <a:pt x="0" y="115"/>
                      </a:lnTo>
                      <a:lnTo>
                        <a:pt x="40" y="14"/>
                      </a:lnTo>
                      <a:lnTo>
                        <a:pt x="46" y="11"/>
                      </a:lnTo>
                      <a:lnTo>
                        <a:pt x="52" y="8"/>
                      </a:lnTo>
                      <a:lnTo>
                        <a:pt x="58" y="5"/>
                      </a:lnTo>
                      <a:lnTo>
                        <a:pt x="64" y="3"/>
                      </a:lnTo>
                      <a:lnTo>
                        <a:pt x="71" y="1"/>
                      </a:lnTo>
                      <a:lnTo>
                        <a:pt x="77" y="0"/>
                      </a:lnTo>
                      <a:lnTo>
                        <a:pt x="83" y="0"/>
                      </a:lnTo>
                      <a:lnTo>
                        <a:pt x="90" y="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57" name="Freeform 345"/>
                <p:cNvSpPr>
                  <a:spLocks noChangeAspect="1"/>
                </p:cNvSpPr>
                <p:nvPr/>
              </p:nvSpPr>
              <p:spPr bwMode="auto">
                <a:xfrm>
                  <a:off x="297" y="535"/>
                  <a:ext cx="23" cy="47"/>
                </a:xfrm>
                <a:custGeom>
                  <a:avLst/>
                  <a:gdLst>
                    <a:gd name="T0" fmla="*/ 68 w 68"/>
                    <a:gd name="T1" fmla="*/ 0 h 142"/>
                    <a:gd name="T2" fmla="*/ 14 w 68"/>
                    <a:gd name="T3" fmla="*/ 142 h 142"/>
                    <a:gd name="T4" fmla="*/ 10 w 68"/>
                    <a:gd name="T5" fmla="*/ 136 h 142"/>
                    <a:gd name="T6" fmla="*/ 12 w 68"/>
                    <a:gd name="T7" fmla="*/ 135 h 142"/>
                    <a:gd name="T8" fmla="*/ 8 w 68"/>
                    <a:gd name="T9" fmla="*/ 127 h 142"/>
                    <a:gd name="T10" fmla="*/ 5 w 68"/>
                    <a:gd name="T11" fmla="*/ 117 h 142"/>
                    <a:gd name="T12" fmla="*/ 1 w 68"/>
                    <a:gd name="T13" fmla="*/ 108 h 142"/>
                    <a:gd name="T14" fmla="*/ 0 w 68"/>
                    <a:gd name="T15" fmla="*/ 97 h 142"/>
                    <a:gd name="T16" fmla="*/ 0 w 68"/>
                    <a:gd name="T17" fmla="*/ 87 h 142"/>
                    <a:gd name="T18" fmla="*/ 1 w 68"/>
                    <a:gd name="T19" fmla="*/ 77 h 142"/>
                    <a:gd name="T20" fmla="*/ 4 w 68"/>
                    <a:gd name="T21" fmla="*/ 66 h 142"/>
                    <a:gd name="T22" fmla="*/ 7 w 68"/>
                    <a:gd name="T23" fmla="*/ 57 h 142"/>
                    <a:gd name="T24" fmla="*/ 12 w 68"/>
                    <a:gd name="T25" fmla="*/ 46 h 142"/>
                    <a:gd name="T26" fmla="*/ 17 w 68"/>
                    <a:gd name="T27" fmla="*/ 36 h 142"/>
                    <a:gd name="T28" fmla="*/ 24 w 68"/>
                    <a:gd name="T29" fmla="*/ 28 h 142"/>
                    <a:gd name="T30" fmla="*/ 32 w 68"/>
                    <a:gd name="T31" fmla="*/ 20 h 142"/>
                    <a:gd name="T32" fmla="*/ 41 w 68"/>
                    <a:gd name="T33" fmla="*/ 14 h 142"/>
                    <a:gd name="T34" fmla="*/ 49 w 68"/>
                    <a:gd name="T35" fmla="*/ 8 h 142"/>
                    <a:gd name="T36" fmla="*/ 59 w 68"/>
                    <a:gd name="T37" fmla="*/ 3 h 142"/>
                    <a:gd name="T38" fmla="*/ 68 w 68"/>
                    <a:gd name="T39"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8" h="142">
                      <a:moveTo>
                        <a:pt x="68" y="0"/>
                      </a:moveTo>
                      <a:lnTo>
                        <a:pt x="14" y="142"/>
                      </a:lnTo>
                      <a:lnTo>
                        <a:pt x="10" y="136"/>
                      </a:lnTo>
                      <a:lnTo>
                        <a:pt x="12" y="135"/>
                      </a:lnTo>
                      <a:lnTo>
                        <a:pt x="8" y="127"/>
                      </a:lnTo>
                      <a:lnTo>
                        <a:pt x="5" y="117"/>
                      </a:lnTo>
                      <a:lnTo>
                        <a:pt x="1" y="108"/>
                      </a:lnTo>
                      <a:lnTo>
                        <a:pt x="0" y="97"/>
                      </a:lnTo>
                      <a:lnTo>
                        <a:pt x="0" y="87"/>
                      </a:lnTo>
                      <a:lnTo>
                        <a:pt x="1" y="77"/>
                      </a:lnTo>
                      <a:lnTo>
                        <a:pt x="4" y="66"/>
                      </a:lnTo>
                      <a:lnTo>
                        <a:pt x="7" y="57"/>
                      </a:lnTo>
                      <a:lnTo>
                        <a:pt x="12" y="46"/>
                      </a:lnTo>
                      <a:lnTo>
                        <a:pt x="17" y="36"/>
                      </a:lnTo>
                      <a:lnTo>
                        <a:pt x="24" y="28"/>
                      </a:lnTo>
                      <a:lnTo>
                        <a:pt x="32" y="20"/>
                      </a:lnTo>
                      <a:lnTo>
                        <a:pt x="41" y="14"/>
                      </a:lnTo>
                      <a:lnTo>
                        <a:pt x="49" y="8"/>
                      </a:lnTo>
                      <a:lnTo>
                        <a:pt x="59" y="3"/>
                      </a:lnTo>
                      <a:lnTo>
                        <a:pt x="68" y="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58" name="Freeform 346"/>
                <p:cNvSpPr>
                  <a:spLocks noChangeAspect="1"/>
                </p:cNvSpPr>
                <p:nvPr/>
              </p:nvSpPr>
              <p:spPr bwMode="auto">
                <a:xfrm>
                  <a:off x="297" y="539"/>
                  <a:ext cx="14" cy="33"/>
                </a:xfrm>
                <a:custGeom>
                  <a:avLst/>
                  <a:gdLst>
                    <a:gd name="T0" fmla="*/ 42 w 42"/>
                    <a:gd name="T1" fmla="*/ 0 h 101"/>
                    <a:gd name="T2" fmla="*/ 2 w 42"/>
                    <a:gd name="T3" fmla="*/ 101 h 101"/>
                    <a:gd name="T4" fmla="*/ 1 w 42"/>
                    <a:gd name="T5" fmla="*/ 94 h 101"/>
                    <a:gd name="T6" fmla="*/ 0 w 42"/>
                    <a:gd name="T7" fmla="*/ 87 h 101"/>
                    <a:gd name="T8" fmla="*/ 0 w 42"/>
                    <a:gd name="T9" fmla="*/ 80 h 101"/>
                    <a:gd name="T10" fmla="*/ 0 w 42"/>
                    <a:gd name="T11" fmla="*/ 73 h 101"/>
                    <a:gd name="T12" fmla="*/ 1 w 42"/>
                    <a:gd name="T13" fmla="*/ 66 h 101"/>
                    <a:gd name="T14" fmla="*/ 2 w 42"/>
                    <a:gd name="T15" fmla="*/ 58 h 101"/>
                    <a:gd name="T16" fmla="*/ 5 w 42"/>
                    <a:gd name="T17" fmla="*/ 51 h 101"/>
                    <a:gd name="T18" fmla="*/ 7 w 42"/>
                    <a:gd name="T19" fmla="*/ 45 h 101"/>
                    <a:gd name="T20" fmla="*/ 10 w 42"/>
                    <a:gd name="T21" fmla="*/ 37 h 101"/>
                    <a:gd name="T22" fmla="*/ 13 w 42"/>
                    <a:gd name="T23" fmla="*/ 31 h 101"/>
                    <a:gd name="T24" fmla="*/ 17 w 42"/>
                    <a:gd name="T25" fmla="*/ 24 h 101"/>
                    <a:gd name="T26" fmla="*/ 22 w 42"/>
                    <a:gd name="T27" fmla="*/ 19 h 101"/>
                    <a:gd name="T28" fmla="*/ 26 w 42"/>
                    <a:gd name="T29" fmla="*/ 14 h 101"/>
                    <a:gd name="T30" fmla="*/ 31 w 42"/>
                    <a:gd name="T31" fmla="*/ 8 h 101"/>
                    <a:gd name="T32" fmla="*/ 37 w 42"/>
                    <a:gd name="T33" fmla="*/ 4 h 101"/>
                    <a:gd name="T34" fmla="*/ 42 w 42"/>
                    <a:gd name="T3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101">
                      <a:moveTo>
                        <a:pt x="42" y="0"/>
                      </a:moveTo>
                      <a:lnTo>
                        <a:pt x="2" y="101"/>
                      </a:lnTo>
                      <a:lnTo>
                        <a:pt x="1" y="94"/>
                      </a:lnTo>
                      <a:lnTo>
                        <a:pt x="0" y="87"/>
                      </a:lnTo>
                      <a:lnTo>
                        <a:pt x="0" y="80"/>
                      </a:lnTo>
                      <a:lnTo>
                        <a:pt x="0" y="73"/>
                      </a:lnTo>
                      <a:lnTo>
                        <a:pt x="1" y="66"/>
                      </a:lnTo>
                      <a:lnTo>
                        <a:pt x="2" y="58"/>
                      </a:lnTo>
                      <a:lnTo>
                        <a:pt x="5" y="51"/>
                      </a:lnTo>
                      <a:lnTo>
                        <a:pt x="7" y="45"/>
                      </a:lnTo>
                      <a:lnTo>
                        <a:pt x="10" y="37"/>
                      </a:lnTo>
                      <a:lnTo>
                        <a:pt x="13" y="31"/>
                      </a:lnTo>
                      <a:lnTo>
                        <a:pt x="17" y="24"/>
                      </a:lnTo>
                      <a:lnTo>
                        <a:pt x="22" y="19"/>
                      </a:lnTo>
                      <a:lnTo>
                        <a:pt x="26" y="14"/>
                      </a:lnTo>
                      <a:lnTo>
                        <a:pt x="31" y="8"/>
                      </a:lnTo>
                      <a:lnTo>
                        <a:pt x="37" y="4"/>
                      </a:lnTo>
                      <a:lnTo>
                        <a:pt x="42" y="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59" name="Freeform 347"/>
                <p:cNvSpPr>
                  <a:spLocks noChangeAspect="1"/>
                </p:cNvSpPr>
                <p:nvPr/>
              </p:nvSpPr>
              <p:spPr bwMode="auto">
                <a:xfrm>
                  <a:off x="297" y="534"/>
                  <a:ext cx="261" cy="335"/>
                </a:xfrm>
                <a:custGeom>
                  <a:avLst/>
                  <a:gdLst>
                    <a:gd name="T0" fmla="*/ 120 w 776"/>
                    <a:gd name="T1" fmla="*/ 5 h 1002"/>
                    <a:gd name="T2" fmla="*/ 124 w 776"/>
                    <a:gd name="T3" fmla="*/ 8 h 1002"/>
                    <a:gd name="T4" fmla="*/ 128 w 776"/>
                    <a:gd name="T5" fmla="*/ 10 h 1002"/>
                    <a:gd name="T6" fmla="*/ 132 w 776"/>
                    <a:gd name="T7" fmla="*/ 12 h 1002"/>
                    <a:gd name="T8" fmla="*/ 136 w 776"/>
                    <a:gd name="T9" fmla="*/ 14 h 1002"/>
                    <a:gd name="T10" fmla="*/ 140 w 776"/>
                    <a:gd name="T11" fmla="*/ 16 h 1002"/>
                    <a:gd name="T12" fmla="*/ 143 w 776"/>
                    <a:gd name="T13" fmla="*/ 19 h 1002"/>
                    <a:gd name="T14" fmla="*/ 146 w 776"/>
                    <a:gd name="T15" fmla="*/ 22 h 1002"/>
                    <a:gd name="T16" fmla="*/ 149 w 776"/>
                    <a:gd name="T17" fmla="*/ 26 h 1002"/>
                    <a:gd name="T18" fmla="*/ 150 w 776"/>
                    <a:gd name="T19" fmla="*/ 25 h 1002"/>
                    <a:gd name="T20" fmla="*/ 153 w 776"/>
                    <a:gd name="T21" fmla="*/ 29 h 1002"/>
                    <a:gd name="T22" fmla="*/ 154 w 776"/>
                    <a:gd name="T23" fmla="*/ 30 h 1002"/>
                    <a:gd name="T24" fmla="*/ 155 w 776"/>
                    <a:gd name="T25" fmla="*/ 32 h 1002"/>
                    <a:gd name="T26" fmla="*/ 156 w 776"/>
                    <a:gd name="T27" fmla="*/ 33 h 1002"/>
                    <a:gd name="T28" fmla="*/ 157 w 776"/>
                    <a:gd name="T29" fmla="*/ 34 h 1002"/>
                    <a:gd name="T30" fmla="*/ 158 w 776"/>
                    <a:gd name="T31" fmla="*/ 35 h 1002"/>
                    <a:gd name="T32" fmla="*/ 159 w 776"/>
                    <a:gd name="T33" fmla="*/ 37 h 1002"/>
                    <a:gd name="T34" fmla="*/ 160 w 776"/>
                    <a:gd name="T35" fmla="*/ 38 h 1002"/>
                    <a:gd name="T36" fmla="*/ 161 w 776"/>
                    <a:gd name="T37" fmla="*/ 40 h 1002"/>
                    <a:gd name="T38" fmla="*/ 776 w 776"/>
                    <a:gd name="T39" fmla="*/ 901 h 1002"/>
                    <a:gd name="T40" fmla="*/ 627 w 776"/>
                    <a:gd name="T41" fmla="*/ 1002 h 1002"/>
                    <a:gd name="T42" fmla="*/ 10 w 776"/>
                    <a:gd name="T43" fmla="*/ 138 h 1002"/>
                    <a:gd name="T44" fmla="*/ 12 w 776"/>
                    <a:gd name="T45" fmla="*/ 137 h 1002"/>
                    <a:gd name="T46" fmla="*/ 8 w 776"/>
                    <a:gd name="T47" fmla="*/ 129 h 1002"/>
                    <a:gd name="T48" fmla="*/ 5 w 776"/>
                    <a:gd name="T49" fmla="*/ 119 h 1002"/>
                    <a:gd name="T50" fmla="*/ 1 w 776"/>
                    <a:gd name="T51" fmla="*/ 110 h 1002"/>
                    <a:gd name="T52" fmla="*/ 0 w 776"/>
                    <a:gd name="T53" fmla="*/ 99 h 1002"/>
                    <a:gd name="T54" fmla="*/ 0 w 776"/>
                    <a:gd name="T55" fmla="*/ 89 h 1002"/>
                    <a:gd name="T56" fmla="*/ 1 w 776"/>
                    <a:gd name="T57" fmla="*/ 79 h 1002"/>
                    <a:gd name="T58" fmla="*/ 4 w 776"/>
                    <a:gd name="T59" fmla="*/ 68 h 1002"/>
                    <a:gd name="T60" fmla="*/ 7 w 776"/>
                    <a:gd name="T61" fmla="*/ 59 h 1002"/>
                    <a:gd name="T62" fmla="*/ 11 w 776"/>
                    <a:gd name="T63" fmla="*/ 50 h 1002"/>
                    <a:gd name="T64" fmla="*/ 15 w 776"/>
                    <a:gd name="T65" fmla="*/ 42 h 1002"/>
                    <a:gd name="T66" fmla="*/ 21 w 776"/>
                    <a:gd name="T67" fmla="*/ 35 h 1002"/>
                    <a:gd name="T68" fmla="*/ 26 w 776"/>
                    <a:gd name="T69" fmla="*/ 28 h 1002"/>
                    <a:gd name="T70" fmla="*/ 32 w 776"/>
                    <a:gd name="T71" fmla="*/ 22 h 1002"/>
                    <a:gd name="T72" fmla="*/ 39 w 776"/>
                    <a:gd name="T73" fmla="*/ 17 h 1002"/>
                    <a:gd name="T74" fmla="*/ 46 w 776"/>
                    <a:gd name="T75" fmla="*/ 12 h 1002"/>
                    <a:gd name="T76" fmla="*/ 54 w 776"/>
                    <a:gd name="T77" fmla="*/ 8 h 1002"/>
                    <a:gd name="T78" fmla="*/ 61 w 776"/>
                    <a:gd name="T79" fmla="*/ 4 h 1002"/>
                    <a:gd name="T80" fmla="*/ 70 w 776"/>
                    <a:gd name="T81" fmla="*/ 2 h 1002"/>
                    <a:gd name="T82" fmla="*/ 78 w 776"/>
                    <a:gd name="T83" fmla="*/ 1 h 1002"/>
                    <a:gd name="T84" fmla="*/ 87 w 776"/>
                    <a:gd name="T85" fmla="*/ 0 h 1002"/>
                    <a:gd name="T86" fmla="*/ 94 w 776"/>
                    <a:gd name="T87" fmla="*/ 0 h 1002"/>
                    <a:gd name="T88" fmla="*/ 103 w 776"/>
                    <a:gd name="T89" fmla="*/ 1 h 1002"/>
                    <a:gd name="T90" fmla="*/ 111 w 776"/>
                    <a:gd name="T91" fmla="*/ 2 h 1002"/>
                    <a:gd name="T92" fmla="*/ 120 w 776"/>
                    <a:gd name="T93" fmla="*/ 5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76" h="1002">
                      <a:moveTo>
                        <a:pt x="120" y="5"/>
                      </a:moveTo>
                      <a:lnTo>
                        <a:pt x="124" y="8"/>
                      </a:lnTo>
                      <a:lnTo>
                        <a:pt x="128" y="10"/>
                      </a:lnTo>
                      <a:lnTo>
                        <a:pt x="132" y="12"/>
                      </a:lnTo>
                      <a:lnTo>
                        <a:pt x="136" y="14"/>
                      </a:lnTo>
                      <a:lnTo>
                        <a:pt x="140" y="16"/>
                      </a:lnTo>
                      <a:lnTo>
                        <a:pt x="143" y="19"/>
                      </a:lnTo>
                      <a:lnTo>
                        <a:pt x="146" y="22"/>
                      </a:lnTo>
                      <a:lnTo>
                        <a:pt x="149" y="26"/>
                      </a:lnTo>
                      <a:lnTo>
                        <a:pt x="150" y="25"/>
                      </a:lnTo>
                      <a:lnTo>
                        <a:pt x="153" y="29"/>
                      </a:lnTo>
                      <a:lnTo>
                        <a:pt x="154" y="30"/>
                      </a:lnTo>
                      <a:lnTo>
                        <a:pt x="155" y="32"/>
                      </a:lnTo>
                      <a:lnTo>
                        <a:pt x="156" y="33"/>
                      </a:lnTo>
                      <a:lnTo>
                        <a:pt x="157" y="34"/>
                      </a:lnTo>
                      <a:lnTo>
                        <a:pt x="158" y="35"/>
                      </a:lnTo>
                      <a:lnTo>
                        <a:pt x="159" y="37"/>
                      </a:lnTo>
                      <a:lnTo>
                        <a:pt x="160" y="38"/>
                      </a:lnTo>
                      <a:lnTo>
                        <a:pt x="161" y="40"/>
                      </a:lnTo>
                      <a:lnTo>
                        <a:pt x="776" y="901"/>
                      </a:lnTo>
                      <a:lnTo>
                        <a:pt x="627" y="1002"/>
                      </a:lnTo>
                      <a:lnTo>
                        <a:pt x="10" y="138"/>
                      </a:lnTo>
                      <a:lnTo>
                        <a:pt x="12" y="137"/>
                      </a:lnTo>
                      <a:lnTo>
                        <a:pt x="8" y="129"/>
                      </a:lnTo>
                      <a:lnTo>
                        <a:pt x="5" y="119"/>
                      </a:lnTo>
                      <a:lnTo>
                        <a:pt x="1" y="110"/>
                      </a:lnTo>
                      <a:lnTo>
                        <a:pt x="0" y="99"/>
                      </a:lnTo>
                      <a:lnTo>
                        <a:pt x="0" y="89"/>
                      </a:lnTo>
                      <a:lnTo>
                        <a:pt x="1" y="79"/>
                      </a:lnTo>
                      <a:lnTo>
                        <a:pt x="4" y="68"/>
                      </a:lnTo>
                      <a:lnTo>
                        <a:pt x="7" y="59"/>
                      </a:lnTo>
                      <a:lnTo>
                        <a:pt x="11" y="50"/>
                      </a:lnTo>
                      <a:lnTo>
                        <a:pt x="15" y="42"/>
                      </a:lnTo>
                      <a:lnTo>
                        <a:pt x="21" y="35"/>
                      </a:lnTo>
                      <a:lnTo>
                        <a:pt x="26" y="28"/>
                      </a:lnTo>
                      <a:lnTo>
                        <a:pt x="32" y="22"/>
                      </a:lnTo>
                      <a:lnTo>
                        <a:pt x="39" y="17"/>
                      </a:lnTo>
                      <a:lnTo>
                        <a:pt x="46" y="12"/>
                      </a:lnTo>
                      <a:lnTo>
                        <a:pt x="54" y="8"/>
                      </a:lnTo>
                      <a:lnTo>
                        <a:pt x="61" y="4"/>
                      </a:lnTo>
                      <a:lnTo>
                        <a:pt x="70" y="2"/>
                      </a:lnTo>
                      <a:lnTo>
                        <a:pt x="78" y="1"/>
                      </a:lnTo>
                      <a:lnTo>
                        <a:pt x="87" y="0"/>
                      </a:lnTo>
                      <a:lnTo>
                        <a:pt x="94" y="0"/>
                      </a:lnTo>
                      <a:lnTo>
                        <a:pt x="103" y="1"/>
                      </a:lnTo>
                      <a:lnTo>
                        <a:pt x="111" y="2"/>
                      </a:lnTo>
                      <a:lnTo>
                        <a:pt x="120" y="5"/>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60" name="Freeform 348"/>
                <p:cNvSpPr>
                  <a:spLocks noChangeAspect="1"/>
                </p:cNvSpPr>
                <p:nvPr/>
              </p:nvSpPr>
              <p:spPr bwMode="auto">
                <a:xfrm>
                  <a:off x="339" y="538"/>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grpSp>
          <p:grpSp>
            <p:nvGrpSpPr>
              <p:cNvPr id="390742" name="Group 349"/>
              <p:cNvGrpSpPr>
                <a:grpSpLocks noChangeAspect="1"/>
              </p:cNvGrpSpPr>
              <p:nvPr/>
            </p:nvGrpSpPr>
            <p:grpSpPr bwMode="auto">
              <a:xfrm>
                <a:off x="244" y="537"/>
                <a:ext cx="318" cy="411"/>
                <a:chOff x="244" y="537"/>
                <a:chExt cx="318" cy="411"/>
              </a:xfrm>
            </p:grpSpPr>
            <p:sp>
              <p:nvSpPr>
                <p:cNvPr id="64862" name="Freeform 350"/>
                <p:cNvSpPr>
                  <a:spLocks noChangeAspect="1"/>
                </p:cNvSpPr>
                <p:nvPr/>
              </p:nvSpPr>
              <p:spPr bwMode="auto">
                <a:xfrm>
                  <a:off x="340" y="541"/>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63" name="Freeform 351"/>
                <p:cNvSpPr>
                  <a:spLocks noChangeAspect="1"/>
                </p:cNvSpPr>
                <p:nvPr/>
              </p:nvSpPr>
              <p:spPr bwMode="auto">
                <a:xfrm>
                  <a:off x="342" y="541"/>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64" name="Freeform 352"/>
                <p:cNvSpPr>
                  <a:spLocks noChangeAspect="1"/>
                </p:cNvSpPr>
                <p:nvPr/>
              </p:nvSpPr>
              <p:spPr bwMode="auto">
                <a:xfrm>
                  <a:off x="343" y="541"/>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65" name="Freeform 353"/>
                <p:cNvSpPr>
                  <a:spLocks noChangeAspect="1"/>
                </p:cNvSpPr>
                <p:nvPr/>
              </p:nvSpPr>
              <p:spPr bwMode="auto">
                <a:xfrm>
                  <a:off x="343" y="541"/>
                  <a:ext cx="1" cy="0"/>
                </a:xfrm>
                <a:custGeom>
                  <a:avLst/>
                  <a:gdLst>
                    <a:gd name="T0" fmla="*/ 0 w 1"/>
                    <a:gd name="T1" fmla="*/ 0 h 1"/>
                    <a:gd name="T2" fmla="*/ 0 w 1"/>
                    <a:gd name="T3" fmla="*/ 0 h 1"/>
                    <a:gd name="T4" fmla="*/ 0 w 1"/>
                    <a:gd name="T5" fmla="*/ 0 h 1"/>
                    <a:gd name="T6" fmla="*/ 0 w 1"/>
                    <a:gd name="T7" fmla="*/ 1 h 1"/>
                    <a:gd name="T8" fmla="*/ 0 w 1"/>
                    <a:gd name="T9" fmla="*/ 1 h 1"/>
                    <a:gd name="T10" fmla="*/ 0 w 1"/>
                    <a:gd name="T11" fmla="*/ 1 h 1"/>
                    <a:gd name="T12" fmla="*/ 0 w 1"/>
                    <a:gd name="T13" fmla="*/ 1 h 1"/>
                    <a:gd name="T14" fmla="*/ 1 w 1"/>
                    <a:gd name="T15" fmla="*/ 1 h 1"/>
                    <a:gd name="T16" fmla="*/ 1 w 1"/>
                    <a:gd name="T17" fmla="*/ 1 h 1"/>
                    <a:gd name="T18" fmla="*/ 1 w 1"/>
                    <a:gd name="T19" fmla="*/ 1 h 1"/>
                    <a:gd name="T20" fmla="*/ 0 w 1"/>
                    <a:gd name="T21" fmla="*/ 1 h 1"/>
                    <a:gd name="T22" fmla="*/ 0 w 1"/>
                    <a:gd name="T23" fmla="*/ 1 h 1"/>
                    <a:gd name="T24" fmla="*/ 0 w 1"/>
                    <a:gd name="T25" fmla="*/ 1 h 1"/>
                    <a:gd name="T26" fmla="*/ 0 w 1"/>
                    <a:gd name="T27" fmla="*/ 1 h 1"/>
                    <a:gd name="T28" fmla="*/ 0 w 1"/>
                    <a:gd name="T29" fmla="*/ 0 h 1"/>
                    <a:gd name="T30" fmla="*/ 0 w 1"/>
                    <a:gd name="T31" fmla="*/ 0 h 1"/>
                    <a:gd name="T32" fmla="*/ 0 w 1"/>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0" y="0"/>
                      </a:moveTo>
                      <a:lnTo>
                        <a:pt x="0" y="0"/>
                      </a:lnTo>
                      <a:lnTo>
                        <a:pt x="0" y="0"/>
                      </a:lnTo>
                      <a:lnTo>
                        <a:pt x="0" y="1"/>
                      </a:lnTo>
                      <a:lnTo>
                        <a:pt x="0" y="1"/>
                      </a:lnTo>
                      <a:lnTo>
                        <a:pt x="0" y="1"/>
                      </a:lnTo>
                      <a:lnTo>
                        <a:pt x="0" y="1"/>
                      </a:lnTo>
                      <a:lnTo>
                        <a:pt x="1" y="1"/>
                      </a:lnTo>
                      <a:lnTo>
                        <a:pt x="1" y="1"/>
                      </a:lnTo>
                      <a:lnTo>
                        <a:pt x="1" y="1"/>
                      </a:lnTo>
                      <a:lnTo>
                        <a:pt x="0" y="1"/>
                      </a:lnTo>
                      <a:lnTo>
                        <a:pt x="0" y="1"/>
                      </a:lnTo>
                      <a:lnTo>
                        <a:pt x="0" y="1"/>
                      </a:lnTo>
                      <a:lnTo>
                        <a:pt x="0" y="1"/>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66" name="Freeform 354"/>
                <p:cNvSpPr>
                  <a:spLocks noChangeAspect="1"/>
                </p:cNvSpPr>
                <p:nvPr/>
              </p:nvSpPr>
              <p:spPr bwMode="auto">
                <a:xfrm>
                  <a:off x="344" y="541"/>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67" name="Freeform 355"/>
                <p:cNvSpPr>
                  <a:spLocks noChangeAspect="1"/>
                </p:cNvSpPr>
                <p:nvPr/>
              </p:nvSpPr>
              <p:spPr bwMode="auto">
                <a:xfrm>
                  <a:off x="344" y="541"/>
                  <a:ext cx="1" cy="0"/>
                </a:xfrm>
                <a:custGeom>
                  <a:avLst/>
                  <a:gdLst>
                    <a:gd name="T0" fmla="*/ 0 w 1"/>
                    <a:gd name="T1" fmla="*/ 0 w 1"/>
                    <a:gd name="T2" fmla="*/ 0 w 1"/>
                    <a:gd name="T3" fmla="*/ 1 w 1"/>
                    <a:gd name="T4" fmla="*/ 1 w 1"/>
                    <a:gd name="T5" fmla="*/ 1 w 1"/>
                    <a:gd name="T6" fmla="*/ 1 w 1"/>
                    <a:gd name="T7" fmla="*/ 1 w 1"/>
                    <a:gd name="T8" fmla="*/ 1 w 1"/>
                    <a:gd name="T9" fmla="*/ 1 w 1"/>
                    <a:gd name="T10" fmla="*/ 1 w 1"/>
                    <a:gd name="T11" fmla="*/ 1 w 1"/>
                    <a:gd name="T12" fmla="*/ 1 w 1"/>
                    <a:gd name="T13" fmla="*/ 1 w 1"/>
                    <a:gd name="T14" fmla="*/ 0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lnTo>
                        <a:pt x="0" y="0"/>
                      </a:lnTo>
                      <a:lnTo>
                        <a:pt x="0" y="0"/>
                      </a:lnTo>
                      <a:lnTo>
                        <a:pt x="1" y="0"/>
                      </a:lnTo>
                      <a:lnTo>
                        <a:pt x="1" y="0"/>
                      </a:lnTo>
                      <a:lnTo>
                        <a:pt x="1" y="0"/>
                      </a:lnTo>
                      <a:lnTo>
                        <a:pt x="1" y="0"/>
                      </a:lnTo>
                      <a:lnTo>
                        <a:pt x="1" y="0"/>
                      </a:lnTo>
                      <a:lnTo>
                        <a:pt x="1" y="0"/>
                      </a:lnTo>
                      <a:lnTo>
                        <a:pt x="1" y="0"/>
                      </a:lnTo>
                      <a:lnTo>
                        <a:pt x="1" y="0"/>
                      </a:lnTo>
                      <a:lnTo>
                        <a:pt x="1" y="0"/>
                      </a:lnTo>
                      <a:lnTo>
                        <a:pt x="1" y="0"/>
                      </a:lnTo>
                      <a:lnTo>
                        <a:pt x="1"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68" name="Freeform 356"/>
                <p:cNvSpPr>
                  <a:spLocks noChangeAspect="1"/>
                </p:cNvSpPr>
                <p:nvPr/>
              </p:nvSpPr>
              <p:spPr bwMode="auto">
                <a:xfrm>
                  <a:off x="347" y="541"/>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69" name="Freeform 357"/>
                <p:cNvSpPr>
                  <a:spLocks noChangeAspect="1"/>
                </p:cNvSpPr>
                <p:nvPr/>
              </p:nvSpPr>
              <p:spPr bwMode="auto">
                <a:xfrm>
                  <a:off x="347" y="541"/>
                  <a:ext cx="0" cy="0"/>
                </a:xfrm>
                <a:custGeom>
                  <a:avLst/>
                  <a:gdLst>
                    <a:gd name="T0" fmla="*/ 0 w 1"/>
                    <a:gd name="T1" fmla="*/ 0 h 1"/>
                    <a:gd name="T2" fmla="*/ 0 w 1"/>
                    <a:gd name="T3" fmla="*/ 0 h 1"/>
                    <a:gd name="T4" fmla="*/ 1 w 1"/>
                    <a:gd name="T5" fmla="*/ 0 h 1"/>
                    <a:gd name="T6" fmla="*/ 1 w 1"/>
                    <a:gd name="T7" fmla="*/ 0 h 1"/>
                    <a:gd name="T8" fmla="*/ 1 w 1"/>
                    <a:gd name="T9" fmla="*/ 0 h 1"/>
                    <a:gd name="T10" fmla="*/ 1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0 h 1"/>
                    <a:gd name="T26" fmla="*/ 1 w 1"/>
                    <a:gd name="T27" fmla="*/ 0 h 1"/>
                    <a:gd name="T28" fmla="*/ 1 w 1"/>
                    <a:gd name="T29" fmla="*/ 0 h 1"/>
                    <a:gd name="T30" fmla="*/ 0 w 1"/>
                    <a:gd name="T31" fmla="*/ 0 h 1"/>
                    <a:gd name="T32" fmla="*/ 0 w 1"/>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0" y="0"/>
                      </a:moveTo>
                      <a:lnTo>
                        <a:pt x="0" y="0"/>
                      </a:lnTo>
                      <a:lnTo>
                        <a:pt x="1" y="0"/>
                      </a:lnTo>
                      <a:lnTo>
                        <a:pt x="1" y="0"/>
                      </a:lnTo>
                      <a:lnTo>
                        <a:pt x="1" y="0"/>
                      </a:lnTo>
                      <a:lnTo>
                        <a:pt x="1" y="1"/>
                      </a:lnTo>
                      <a:lnTo>
                        <a:pt x="1" y="1"/>
                      </a:lnTo>
                      <a:lnTo>
                        <a:pt x="1" y="1"/>
                      </a:lnTo>
                      <a:lnTo>
                        <a:pt x="1" y="1"/>
                      </a:lnTo>
                      <a:lnTo>
                        <a:pt x="1" y="1"/>
                      </a:lnTo>
                      <a:lnTo>
                        <a:pt x="1" y="1"/>
                      </a:lnTo>
                      <a:lnTo>
                        <a:pt x="1" y="1"/>
                      </a:lnTo>
                      <a:lnTo>
                        <a:pt x="1" y="0"/>
                      </a:lnTo>
                      <a:lnTo>
                        <a:pt x="1" y="0"/>
                      </a:lnTo>
                      <a:lnTo>
                        <a:pt x="1"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70" name="Freeform 358"/>
                <p:cNvSpPr>
                  <a:spLocks noChangeAspect="1"/>
                </p:cNvSpPr>
                <p:nvPr/>
              </p:nvSpPr>
              <p:spPr bwMode="auto">
                <a:xfrm>
                  <a:off x="347" y="541"/>
                  <a:ext cx="0"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71" name="Freeform 359"/>
                <p:cNvSpPr>
                  <a:spLocks noChangeAspect="1"/>
                </p:cNvSpPr>
                <p:nvPr/>
              </p:nvSpPr>
              <p:spPr bwMode="auto">
                <a:xfrm>
                  <a:off x="347" y="541"/>
                  <a:ext cx="0" cy="1"/>
                </a:xfrm>
                <a:custGeom>
                  <a:avLst/>
                  <a:gdLst>
                    <a:gd name="T0" fmla="*/ 0 w 1"/>
                    <a:gd name="T1" fmla="*/ 0 w 1"/>
                    <a:gd name="T2" fmla="*/ 0 w 1"/>
                    <a:gd name="T3" fmla="*/ 1 w 1"/>
                    <a:gd name="T4" fmla="*/ 1 w 1"/>
                    <a:gd name="T5" fmla="*/ 1 w 1"/>
                    <a:gd name="T6" fmla="*/ 1 w 1"/>
                    <a:gd name="T7" fmla="*/ 1 w 1"/>
                    <a:gd name="T8" fmla="*/ 1 w 1"/>
                    <a:gd name="T9" fmla="*/ 1 w 1"/>
                    <a:gd name="T10" fmla="*/ 1 w 1"/>
                    <a:gd name="T11" fmla="*/ 1 w 1"/>
                    <a:gd name="T12" fmla="*/ 1 w 1"/>
                    <a:gd name="T13" fmla="*/ 1 w 1"/>
                    <a:gd name="T14" fmla="*/ 0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lnTo>
                        <a:pt x="0" y="0"/>
                      </a:lnTo>
                      <a:lnTo>
                        <a:pt x="0" y="0"/>
                      </a:lnTo>
                      <a:lnTo>
                        <a:pt x="1" y="0"/>
                      </a:lnTo>
                      <a:lnTo>
                        <a:pt x="1" y="0"/>
                      </a:lnTo>
                      <a:lnTo>
                        <a:pt x="1" y="0"/>
                      </a:lnTo>
                      <a:lnTo>
                        <a:pt x="1" y="0"/>
                      </a:lnTo>
                      <a:lnTo>
                        <a:pt x="1" y="0"/>
                      </a:lnTo>
                      <a:lnTo>
                        <a:pt x="1" y="0"/>
                      </a:lnTo>
                      <a:lnTo>
                        <a:pt x="1" y="0"/>
                      </a:lnTo>
                      <a:lnTo>
                        <a:pt x="1" y="0"/>
                      </a:lnTo>
                      <a:lnTo>
                        <a:pt x="1" y="0"/>
                      </a:lnTo>
                      <a:lnTo>
                        <a:pt x="1" y="0"/>
                      </a:lnTo>
                      <a:lnTo>
                        <a:pt x="1"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72" name="Freeform 360"/>
                <p:cNvSpPr>
                  <a:spLocks noChangeAspect="1"/>
                </p:cNvSpPr>
                <p:nvPr/>
              </p:nvSpPr>
              <p:spPr bwMode="auto">
                <a:xfrm>
                  <a:off x="347" y="542"/>
                  <a:ext cx="1" cy="1"/>
                </a:xfrm>
                <a:custGeom>
                  <a:avLst/>
                  <a:gdLst>
                    <a:gd name="T0" fmla="*/ 0 h 1"/>
                    <a:gd name="T1" fmla="*/ 0 h 1"/>
                    <a:gd name="T2" fmla="*/ 1 h 1"/>
                    <a:gd name="T3" fmla="*/ 1 h 1"/>
                    <a:gd name="T4" fmla="*/ 1 h 1"/>
                    <a:gd name="T5" fmla="*/ 1 h 1"/>
                    <a:gd name="T6" fmla="*/ 1 h 1"/>
                    <a:gd name="T7" fmla="*/ 1 h 1"/>
                    <a:gd name="T8" fmla="*/ 1 h 1"/>
                    <a:gd name="T9" fmla="*/ 1 h 1"/>
                    <a:gd name="T10" fmla="*/ 1 h 1"/>
                    <a:gd name="T11" fmla="*/ 1 h 1"/>
                    <a:gd name="T12" fmla="*/ 1 h 1"/>
                    <a:gd name="T13" fmla="*/ 1 h 1"/>
                    <a:gd name="T14" fmla="*/ 1 h 1"/>
                    <a:gd name="T15" fmla="*/ 0 h 1"/>
                    <a:gd name="T16"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0"/>
                      </a:moveTo>
                      <a:lnTo>
                        <a:pt x="0" y="0"/>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73" name="Freeform 361"/>
                <p:cNvSpPr>
                  <a:spLocks noChangeAspect="1"/>
                </p:cNvSpPr>
                <p:nvPr/>
              </p:nvSpPr>
              <p:spPr bwMode="auto">
                <a:xfrm>
                  <a:off x="349" y="547"/>
                  <a:ext cx="1" cy="0"/>
                </a:xfrm>
                <a:custGeom>
                  <a:avLst/>
                  <a:gdLst>
                    <a:gd name="T0" fmla="*/ 0 w 1"/>
                    <a:gd name="T1" fmla="*/ 0 w 1"/>
                    <a:gd name="T2" fmla="*/ 0 w 1"/>
                    <a:gd name="T3" fmla="*/ 0 w 1"/>
                    <a:gd name="T4" fmla="*/ 1 w 1"/>
                    <a:gd name="T5" fmla="*/ 1 w 1"/>
                    <a:gd name="T6" fmla="*/ 1 w 1"/>
                    <a:gd name="T7" fmla="*/ 1 w 1"/>
                    <a:gd name="T8" fmla="*/ 1 w 1"/>
                    <a:gd name="T9" fmla="*/ 1 w 1"/>
                    <a:gd name="T10" fmla="*/ 1 w 1"/>
                    <a:gd name="T11" fmla="*/ 1 w 1"/>
                    <a:gd name="T12" fmla="*/ 1 w 1"/>
                    <a:gd name="T13" fmla="*/ 0 w 1"/>
                    <a:gd name="T14" fmla="*/ 0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lnTo>
                        <a:pt x="0" y="0"/>
                      </a:lnTo>
                      <a:lnTo>
                        <a:pt x="0" y="0"/>
                      </a:lnTo>
                      <a:lnTo>
                        <a:pt x="0" y="0"/>
                      </a:lnTo>
                      <a:lnTo>
                        <a:pt x="1" y="0"/>
                      </a:lnTo>
                      <a:lnTo>
                        <a:pt x="1" y="0"/>
                      </a:lnTo>
                      <a:lnTo>
                        <a:pt x="1" y="0"/>
                      </a:lnTo>
                      <a:lnTo>
                        <a:pt x="1" y="0"/>
                      </a:lnTo>
                      <a:lnTo>
                        <a:pt x="1" y="0"/>
                      </a:lnTo>
                      <a:lnTo>
                        <a:pt x="1" y="0"/>
                      </a:lnTo>
                      <a:lnTo>
                        <a:pt x="1" y="0"/>
                      </a:lnTo>
                      <a:lnTo>
                        <a:pt x="1" y="0"/>
                      </a:lnTo>
                      <a:lnTo>
                        <a:pt x="1"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74" name="Freeform 362"/>
                <p:cNvSpPr>
                  <a:spLocks noChangeAspect="1"/>
                </p:cNvSpPr>
                <p:nvPr/>
              </p:nvSpPr>
              <p:spPr bwMode="auto">
                <a:xfrm>
                  <a:off x="349" y="547"/>
                  <a:ext cx="1" cy="0"/>
                </a:xfrm>
                <a:custGeom>
                  <a:avLst/>
                  <a:gdLst>
                    <a:gd name="T0" fmla="*/ 0 w 1"/>
                    <a:gd name="T1" fmla="*/ 0 h 1"/>
                    <a:gd name="T2" fmla="*/ 1 w 1"/>
                    <a:gd name="T3" fmla="*/ 0 h 1"/>
                    <a:gd name="T4" fmla="*/ 1 w 1"/>
                    <a:gd name="T5" fmla="*/ 0 h 1"/>
                    <a:gd name="T6" fmla="*/ 1 w 1"/>
                    <a:gd name="T7" fmla="*/ 1 h 1"/>
                    <a:gd name="T8" fmla="*/ 1 w 1"/>
                    <a:gd name="T9" fmla="*/ 1 h 1"/>
                    <a:gd name="T10" fmla="*/ 1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1 h 1"/>
                    <a:gd name="T26" fmla="*/ 1 w 1"/>
                    <a:gd name="T27" fmla="*/ 1 h 1"/>
                    <a:gd name="T28" fmla="*/ 1 w 1"/>
                    <a:gd name="T29" fmla="*/ 0 h 1"/>
                    <a:gd name="T30" fmla="*/ 1 w 1"/>
                    <a:gd name="T31" fmla="*/ 0 h 1"/>
                    <a:gd name="T32" fmla="*/ 0 w 1"/>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0" y="0"/>
                      </a:moveTo>
                      <a:lnTo>
                        <a:pt x="1" y="0"/>
                      </a:lnTo>
                      <a:lnTo>
                        <a:pt x="1" y="0"/>
                      </a:lnTo>
                      <a:lnTo>
                        <a:pt x="1" y="1"/>
                      </a:lnTo>
                      <a:lnTo>
                        <a:pt x="1" y="1"/>
                      </a:lnTo>
                      <a:lnTo>
                        <a:pt x="1" y="1"/>
                      </a:lnTo>
                      <a:lnTo>
                        <a:pt x="1" y="1"/>
                      </a:lnTo>
                      <a:lnTo>
                        <a:pt x="1" y="1"/>
                      </a:lnTo>
                      <a:lnTo>
                        <a:pt x="1" y="1"/>
                      </a:lnTo>
                      <a:lnTo>
                        <a:pt x="1" y="1"/>
                      </a:lnTo>
                      <a:lnTo>
                        <a:pt x="1" y="1"/>
                      </a:lnTo>
                      <a:lnTo>
                        <a:pt x="1" y="1"/>
                      </a:lnTo>
                      <a:lnTo>
                        <a:pt x="1" y="1"/>
                      </a:lnTo>
                      <a:lnTo>
                        <a:pt x="1" y="1"/>
                      </a:lnTo>
                      <a:lnTo>
                        <a:pt x="1" y="0"/>
                      </a:lnTo>
                      <a:lnTo>
                        <a:pt x="1"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75" name="Freeform 363"/>
                <p:cNvSpPr>
                  <a:spLocks noChangeAspect="1"/>
                </p:cNvSpPr>
                <p:nvPr/>
              </p:nvSpPr>
              <p:spPr bwMode="auto">
                <a:xfrm>
                  <a:off x="350" y="547"/>
                  <a:ext cx="1" cy="0"/>
                </a:xfrm>
                <a:custGeom>
                  <a:avLst/>
                  <a:gdLst>
                    <a:gd name="T0" fmla="*/ 0 h 1"/>
                    <a:gd name="T1" fmla="*/ 0 h 1"/>
                    <a:gd name="T2" fmla="*/ 0 h 1"/>
                    <a:gd name="T3" fmla="*/ 0 h 1"/>
                    <a:gd name="T4" fmla="*/ 0 h 1"/>
                    <a:gd name="T5" fmla="*/ 0 h 1"/>
                    <a:gd name="T6" fmla="*/ 0 h 1"/>
                    <a:gd name="T7" fmla="*/ 1 h 1"/>
                    <a:gd name="T8" fmla="*/ 1 h 1"/>
                    <a:gd name="T9" fmla="*/ 1 h 1"/>
                    <a:gd name="T10" fmla="*/ 0 h 1"/>
                    <a:gd name="T11" fmla="*/ 0 h 1"/>
                    <a:gd name="T12" fmla="*/ 0 h 1"/>
                    <a:gd name="T13" fmla="*/ 0 h 1"/>
                    <a:gd name="T14" fmla="*/ 0 h 1"/>
                    <a:gd name="T15" fmla="*/ 0 h 1"/>
                    <a:gd name="T16"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0"/>
                      </a:moveTo>
                      <a:lnTo>
                        <a:pt x="0" y="0"/>
                      </a:lnTo>
                      <a:lnTo>
                        <a:pt x="0" y="0"/>
                      </a:lnTo>
                      <a:lnTo>
                        <a:pt x="0" y="0"/>
                      </a:lnTo>
                      <a:lnTo>
                        <a:pt x="0" y="0"/>
                      </a:lnTo>
                      <a:lnTo>
                        <a:pt x="0" y="0"/>
                      </a:lnTo>
                      <a:lnTo>
                        <a:pt x="0" y="0"/>
                      </a:lnTo>
                      <a:lnTo>
                        <a:pt x="0" y="1"/>
                      </a:lnTo>
                      <a:lnTo>
                        <a:pt x="0" y="1"/>
                      </a:lnTo>
                      <a:lnTo>
                        <a:pt x="0" y="1"/>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76" name="Freeform 364"/>
                <p:cNvSpPr>
                  <a:spLocks noChangeAspect="1"/>
                </p:cNvSpPr>
                <p:nvPr/>
              </p:nvSpPr>
              <p:spPr bwMode="auto">
                <a:xfrm>
                  <a:off x="350" y="547"/>
                  <a:ext cx="1" cy="0"/>
                </a:xfrm>
                <a:custGeom>
                  <a:avLst/>
                  <a:gdLst>
                    <a:gd name="T0" fmla="*/ 0 w 2"/>
                    <a:gd name="T1" fmla="*/ 0 h 4"/>
                    <a:gd name="T2" fmla="*/ 0 w 2"/>
                    <a:gd name="T3" fmla="*/ 1 h 4"/>
                    <a:gd name="T4" fmla="*/ 0 w 2"/>
                    <a:gd name="T5" fmla="*/ 1 h 4"/>
                    <a:gd name="T6" fmla="*/ 0 w 2"/>
                    <a:gd name="T7" fmla="*/ 2 h 4"/>
                    <a:gd name="T8" fmla="*/ 1 w 2"/>
                    <a:gd name="T9" fmla="*/ 2 h 4"/>
                    <a:gd name="T10" fmla="*/ 1 w 2"/>
                    <a:gd name="T11" fmla="*/ 2 h 4"/>
                    <a:gd name="T12" fmla="*/ 1 w 2"/>
                    <a:gd name="T13" fmla="*/ 4 h 4"/>
                    <a:gd name="T14" fmla="*/ 1 w 2"/>
                    <a:gd name="T15" fmla="*/ 4 h 4"/>
                    <a:gd name="T16" fmla="*/ 2 w 2"/>
                    <a:gd name="T17" fmla="*/ 4 h 4"/>
                    <a:gd name="T18" fmla="*/ 2 w 2"/>
                    <a:gd name="T19" fmla="*/ 4 h 4"/>
                    <a:gd name="T20" fmla="*/ 1 w 2"/>
                    <a:gd name="T21" fmla="*/ 4 h 4"/>
                    <a:gd name="T22" fmla="*/ 1 w 2"/>
                    <a:gd name="T23" fmla="*/ 4 h 4"/>
                    <a:gd name="T24" fmla="*/ 1 w 2"/>
                    <a:gd name="T25" fmla="*/ 2 h 4"/>
                    <a:gd name="T26" fmla="*/ 1 w 2"/>
                    <a:gd name="T27" fmla="*/ 2 h 4"/>
                    <a:gd name="T28" fmla="*/ 0 w 2"/>
                    <a:gd name="T29" fmla="*/ 2 h 4"/>
                    <a:gd name="T30" fmla="*/ 0 w 2"/>
                    <a:gd name="T31" fmla="*/ 1 h 4"/>
                    <a:gd name="T32" fmla="*/ 0 w 2"/>
                    <a:gd name="T33" fmla="*/ 1 h 4"/>
                    <a:gd name="T34" fmla="*/ 0 w 2"/>
                    <a:gd name="T3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 h="4">
                      <a:moveTo>
                        <a:pt x="0" y="0"/>
                      </a:moveTo>
                      <a:lnTo>
                        <a:pt x="0" y="1"/>
                      </a:lnTo>
                      <a:lnTo>
                        <a:pt x="0" y="1"/>
                      </a:lnTo>
                      <a:lnTo>
                        <a:pt x="0" y="2"/>
                      </a:lnTo>
                      <a:lnTo>
                        <a:pt x="1" y="2"/>
                      </a:lnTo>
                      <a:lnTo>
                        <a:pt x="1" y="2"/>
                      </a:lnTo>
                      <a:lnTo>
                        <a:pt x="1" y="4"/>
                      </a:lnTo>
                      <a:lnTo>
                        <a:pt x="1" y="4"/>
                      </a:lnTo>
                      <a:lnTo>
                        <a:pt x="2" y="4"/>
                      </a:lnTo>
                      <a:lnTo>
                        <a:pt x="2" y="4"/>
                      </a:lnTo>
                      <a:lnTo>
                        <a:pt x="1" y="4"/>
                      </a:lnTo>
                      <a:lnTo>
                        <a:pt x="1" y="4"/>
                      </a:lnTo>
                      <a:lnTo>
                        <a:pt x="1" y="2"/>
                      </a:lnTo>
                      <a:lnTo>
                        <a:pt x="1" y="2"/>
                      </a:lnTo>
                      <a:lnTo>
                        <a:pt x="0" y="2"/>
                      </a:lnTo>
                      <a:lnTo>
                        <a:pt x="0" y="1"/>
                      </a:lnTo>
                      <a:lnTo>
                        <a:pt x="0" y="1"/>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77" name="Freeform 365"/>
                <p:cNvSpPr>
                  <a:spLocks noChangeAspect="1"/>
                </p:cNvSpPr>
                <p:nvPr/>
              </p:nvSpPr>
              <p:spPr bwMode="auto">
                <a:xfrm>
                  <a:off x="298" y="567"/>
                  <a:ext cx="3" cy="13"/>
                </a:xfrm>
                <a:custGeom>
                  <a:avLst/>
                  <a:gdLst>
                    <a:gd name="T0" fmla="*/ 12 w 12"/>
                    <a:gd name="T1" fmla="*/ 37 h 37"/>
                    <a:gd name="T2" fmla="*/ 10 w 12"/>
                    <a:gd name="T3" fmla="*/ 33 h 37"/>
                    <a:gd name="T4" fmla="*/ 8 w 12"/>
                    <a:gd name="T5" fmla="*/ 29 h 37"/>
                    <a:gd name="T6" fmla="*/ 6 w 12"/>
                    <a:gd name="T7" fmla="*/ 25 h 37"/>
                    <a:gd name="T8" fmla="*/ 5 w 12"/>
                    <a:gd name="T9" fmla="*/ 19 h 37"/>
                    <a:gd name="T10" fmla="*/ 4 w 12"/>
                    <a:gd name="T11" fmla="*/ 15 h 37"/>
                    <a:gd name="T12" fmla="*/ 2 w 12"/>
                    <a:gd name="T13" fmla="*/ 11 h 37"/>
                    <a:gd name="T14" fmla="*/ 1 w 12"/>
                    <a:gd name="T15" fmla="*/ 5 h 37"/>
                    <a:gd name="T16" fmla="*/ 0 w 12"/>
                    <a:gd name="T17" fmla="*/ 1 h 37"/>
                    <a:gd name="T18" fmla="*/ 0 w 12"/>
                    <a:gd name="T19" fmla="*/ 1 h 37"/>
                    <a:gd name="T20" fmla="*/ 0 w 12"/>
                    <a:gd name="T21" fmla="*/ 1 h 37"/>
                    <a:gd name="T22" fmla="*/ 0 w 12"/>
                    <a:gd name="T23" fmla="*/ 1 h 37"/>
                    <a:gd name="T24" fmla="*/ 0 w 12"/>
                    <a:gd name="T25" fmla="*/ 1 h 37"/>
                    <a:gd name="T26" fmla="*/ 0 w 12"/>
                    <a:gd name="T27" fmla="*/ 1 h 37"/>
                    <a:gd name="T28" fmla="*/ 0 w 12"/>
                    <a:gd name="T29" fmla="*/ 1 h 37"/>
                    <a:gd name="T30" fmla="*/ 0 w 12"/>
                    <a:gd name="T31" fmla="*/ 0 h 37"/>
                    <a:gd name="T32" fmla="*/ 0 w 12"/>
                    <a:gd name="T33" fmla="*/ 0 h 37"/>
                    <a:gd name="T34" fmla="*/ 0 w 12"/>
                    <a:gd name="T35" fmla="*/ 0 h 37"/>
                    <a:gd name="T36" fmla="*/ 0 w 12"/>
                    <a:gd name="T37" fmla="*/ 0 h 37"/>
                    <a:gd name="T38" fmla="*/ 0 w 12"/>
                    <a:gd name="T39" fmla="*/ 0 h 37"/>
                    <a:gd name="T40" fmla="*/ 0 w 12"/>
                    <a:gd name="T41" fmla="*/ 0 h 37"/>
                    <a:gd name="T42" fmla="*/ 0 w 12"/>
                    <a:gd name="T43" fmla="*/ 0 h 37"/>
                    <a:gd name="T44" fmla="*/ 0 w 12"/>
                    <a:gd name="T45" fmla="*/ 0 h 37"/>
                    <a:gd name="T46" fmla="*/ 0 w 12"/>
                    <a:gd name="T47" fmla="*/ 0 h 37"/>
                    <a:gd name="T48" fmla="*/ 0 w 12"/>
                    <a:gd name="T49" fmla="*/ 0 h 37"/>
                    <a:gd name="T50" fmla="*/ 0 w 12"/>
                    <a:gd name="T51" fmla="*/ 0 h 37"/>
                    <a:gd name="T52" fmla="*/ 0 w 12"/>
                    <a:gd name="T53" fmla="*/ 0 h 37"/>
                    <a:gd name="T54" fmla="*/ 0 w 12"/>
                    <a:gd name="T55" fmla="*/ 0 h 37"/>
                    <a:gd name="T56" fmla="*/ 0 w 12"/>
                    <a:gd name="T57" fmla="*/ 0 h 37"/>
                    <a:gd name="T58" fmla="*/ 0 w 12"/>
                    <a:gd name="T59" fmla="*/ 0 h 37"/>
                    <a:gd name="T60" fmla="*/ 0 w 12"/>
                    <a:gd name="T61" fmla="*/ 0 h 37"/>
                    <a:gd name="T62" fmla="*/ 0 w 12"/>
                    <a:gd name="T63" fmla="*/ 0 h 37"/>
                    <a:gd name="T64" fmla="*/ 0 w 12"/>
                    <a:gd name="T65" fmla="*/ 0 h 37"/>
                    <a:gd name="T66" fmla="*/ 0 w 12"/>
                    <a:gd name="T67" fmla="*/ 0 h 37"/>
                    <a:gd name="T68" fmla="*/ 0 w 12"/>
                    <a:gd name="T69" fmla="*/ 1 h 37"/>
                    <a:gd name="T70" fmla="*/ 0 w 12"/>
                    <a:gd name="T71" fmla="*/ 1 h 37"/>
                    <a:gd name="T72" fmla="*/ 0 w 12"/>
                    <a:gd name="T73" fmla="*/ 1 h 37"/>
                    <a:gd name="T74" fmla="*/ 0 w 12"/>
                    <a:gd name="T75" fmla="*/ 1 h 37"/>
                    <a:gd name="T76" fmla="*/ 0 w 12"/>
                    <a:gd name="T77" fmla="*/ 1 h 37"/>
                    <a:gd name="T78" fmla="*/ 0 w 12"/>
                    <a:gd name="T79" fmla="*/ 1 h 37"/>
                    <a:gd name="T80" fmla="*/ 0 w 12"/>
                    <a:gd name="T81" fmla="*/ 1 h 37"/>
                    <a:gd name="T82" fmla="*/ 1 w 12"/>
                    <a:gd name="T83" fmla="*/ 5 h 37"/>
                    <a:gd name="T84" fmla="*/ 2 w 12"/>
                    <a:gd name="T85" fmla="*/ 11 h 37"/>
                    <a:gd name="T86" fmla="*/ 4 w 12"/>
                    <a:gd name="T87" fmla="*/ 15 h 37"/>
                    <a:gd name="T88" fmla="*/ 5 w 12"/>
                    <a:gd name="T89" fmla="*/ 19 h 37"/>
                    <a:gd name="T90" fmla="*/ 6 w 12"/>
                    <a:gd name="T91" fmla="*/ 25 h 37"/>
                    <a:gd name="T92" fmla="*/ 8 w 12"/>
                    <a:gd name="T93" fmla="*/ 29 h 37"/>
                    <a:gd name="T94" fmla="*/ 10 w 12"/>
                    <a:gd name="T95" fmla="*/ 33 h 37"/>
                    <a:gd name="T96" fmla="*/ 12 w 12"/>
                    <a:gd name="T9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 h="37">
                      <a:moveTo>
                        <a:pt x="12" y="37"/>
                      </a:moveTo>
                      <a:lnTo>
                        <a:pt x="10" y="33"/>
                      </a:lnTo>
                      <a:lnTo>
                        <a:pt x="8" y="29"/>
                      </a:lnTo>
                      <a:lnTo>
                        <a:pt x="6" y="25"/>
                      </a:lnTo>
                      <a:lnTo>
                        <a:pt x="5" y="19"/>
                      </a:lnTo>
                      <a:lnTo>
                        <a:pt x="4" y="15"/>
                      </a:lnTo>
                      <a:lnTo>
                        <a:pt x="2" y="11"/>
                      </a:lnTo>
                      <a:lnTo>
                        <a:pt x="1" y="5"/>
                      </a:lnTo>
                      <a:lnTo>
                        <a:pt x="0" y="1"/>
                      </a:lnTo>
                      <a:lnTo>
                        <a:pt x="0" y="1"/>
                      </a:lnTo>
                      <a:lnTo>
                        <a:pt x="0" y="1"/>
                      </a:lnTo>
                      <a:lnTo>
                        <a:pt x="0" y="1"/>
                      </a:lnTo>
                      <a:lnTo>
                        <a:pt x="0" y="1"/>
                      </a:lnTo>
                      <a:lnTo>
                        <a:pt x="0" y="1"/>
                      </a:lnTo>
                      <a:lnTo>
                        <a:pt x="0" y="1"/>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1"/>
                      </a:lnTo>
                      <a:lnTo>
                        <a:pt x="0" y="1"/>
                      </a:lnTo>
                      <a:lnTo>
                        <a:pt x="0" y="1"/>
                      </a:lnTo>
                      <a:lnTo>
                        <a:pt x="0" y="1"/>
                      </a:lnTo>
                      <a:lnTo>
                        <a:pt x="0" y="1"/>
                      </a:lnTo>
                      <a:lnTo>
                        <a:pt x="0" y="1"/>
                      </a:lnTo>
                      <a:lnTo>
                        <a:pt x="0" y="1"/>
                      </a:lnTo>
                      <a:lnTo>
                        <a:pt x="1" y="5"/>
                      </a:lnTo>
                      <a:lnTo>
                        <a:pt x="2" y="11"/>
                      </a:lnTo>
                      <a:lnTo>
                        <a:pt x="4" y="15"/>
                      </a:lnTo>
                      <a:lnTo>
                        <a:pt x="5" y="19"/>
                      </a:lnTo>
                      <a:lnTo>
                        <a:pt x="6" y="25"/>
                      </a:lnTo>
                      <a:lnTo>
                        <a:pt x="8" y="29"/>
                      </a:lnTo>
                      <a:lnTo>
                        <a:pt x="10" y="33"/>
                      </a:lnTo>
                      <a:lnTo>
                        <a:pt x="12" y="37"/>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78" name="Freeform 366"/>
                <p:cNvSpPr>
                  <a:spLocks noChangeAspect="1"/>
                </p:cNvSpPr>
                <p:nvPr/>
              </p:nvSpPr>
              <p:spPr bwMode="auto">
                <a:xfrm>
                  <a:off x="298" y="566"/>
                  <a:ext cx="0" cy="1"/>
                </a:xfrm>
                <a:custGeom>
                  <a:avLst/>
                  <a:gdLst>
                    <a:gd name="T0" fmla="*/ 2 h 2"/>
                    <a:gd name="T1" fmla="*/ 1 h 2"/>
                    <a:gd name="T2" fmla="*/ 1 h 2"/>
                    <a:gd name="T3" fmla="*/ 1 h 2"/>
                    <a:gd name="T4" fmla="*/ 1 h 2"/>
                    <a:gd name="T5" fmla="*/ 1 h 2"/>
                    <a:gd name="T6" fmla="*/ 0 h 2"/>
                    <a:gd name="T7" fmla="*/ 0 h 2"/>
                    <a:gd name="T8" fmla="*/ 0 h 2"/>
                    <a:gd name="T9" fmla="*/ 0 h 2"/>
                    <a:gd name="T10" fmla="*/ 0 h 2"/>
                    <a:gd name="T11" fmla="*/ 1 h 2"/>
                    <a:gd name="T12" fmla="*/ 1 h 2"/>
                    <a:gd name="T13" fmla="*/ 1 h 2"/>
                    <a:gd name="T14" fmla="*/ 1 h 2"/>
                    <a:gd name="T15" fmla="*/ 1 h 2"/>
                    <a:gd name="T16"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2">
                      <a:moveTo>
                        <a:pt x="0" y="2"/>
                      </a:moveTo>
                      <a:lnTo>
                        <a:pt x="0" y="1"/>
                      </a:lnTo>
                      <a:lnTo>
                        <a:pt x="0" y="1"/>
                      </a:lnTo>
                      <a:lnTo>
                        <a:pt x="0" y="1"/>
                      </a:lnTo>
                      <a:lnTo>
                        <a:pt x="0" y="1"/>
                      </a:lnTo>
                      <a:lnTo>
                        <a:pt x="0" y="1"/>
                      </a:lnTo>
                      <a:lnTo>
                        <a:pt x="0" y="0"/>
                      </a:lnTo>
                      <a:lnTo>
                        <a:pt x="0" y="0"/>
                      </a:lnTo>
                      <a:lnTo>
                        <a:pt x="0" y="0"/>
                      </a:lnTo>
                      <a:lnTo>
                        <a:pt x="0" y="0"/>
                      </a:lnTo>
                      <a:lnTo>
                        <a:pt x="0" y="0"/>
                      </a:lnTo>
                      <a:lnTo>
                        <a:pt x="0" y="1"/>
                      </a:lnTo>
                      <a:lnTo>
                        <a:pt x="0" y="1"/>
                      </a:lnTo>
                      <a:lnTo>
                        <a:pt x="0" y="1"/>
                      </a:lnTo>
                      <a:lnTo>
                        <a:pt x="0" y="1"/>
                      </a:lnTo>
                      <a:lnTo>
                        <a:pt x="0" y="1"/>
                      </a:lnTo>
                      <a:lnTo>
                        <a:pt x="0" y="2"/>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79" name="Freeform 367"/>
                <p:cNvSpPr>
                  <a:spLocks noChangeAspect="1"/>
                </p:cNvSpPr>
                <p:nvPr/>
              </p:nvSpPr>
              <p:spPr bwMode="auto">
                <a:xfrm>
                  <a:off x="298" y="566"/>
                  <a:ext cx="0" cy="0"/>
                </a:xfrm>
                <a:custGeom>
                  <a:avLst/>
                  <a:gdLst>
                    <a:gd name="T0" fmla="*/ 6 h 6"/>
                    <a:gd name="T1" fmla="*/ 5 h 6"/>
                    <a:gd name="T2" fmla="*/ 4 h 6"/>
                    <a:gd name="T3" fmla="*/ 4 h 6"/>
                    <a:gd name="T4" fmla="*/ 3 h 6"/>
                    <a:gd name="T5" fmla="*/ 2 h 6"/>
                    <a:gd name="T6" fmla="*/ 2 h 6"/>
                    <a:gd name="T7" fmla="*/ 1 h 6"/>
                    <a:gd name="T8" fmla="*/ 0 h 6"/>
                    <a:gd name="T9" fmla="*/ 1 h 6"/>
                    <a:gd name="T10" fmla="*/ 2 h 6"/>
                    <a:gd name="T11" fmla="*/ 2 h 6"/>
                    <a:gd name="T12" fmla="*/ 3 h 6"/>
                    <a:gd name="T13" fmla="*/ 4 h 6"/>
                    <a:gd name="T14" fmla="*/ 4 h 6"/>
                    <a:gd name="T15" fmla="*/ 5 h 6"/>
                    <a:gd name="T16" fmla="*/ 6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6">
                      <a:moveTo>
                        <a:pt x="0" y="6"/>
                      </a:moveTo>
                      <a:lnTo>
                        <a:pt x="0" y="5"/>
                      </a:lnTo>
                      <a:lnTo>
                        <a:pt x="0" y="4"/>
                      </a:lnTo>
                      <a:lnTo>
                        <a:pt x="0" y="4"/>
                      </a:lnTo>
                      <a:lnTo>
                        <a:pt x="0" y="3"/>
                      </a:lnTo>
                      <a:lnTo>
                        <a:pt x="0" y="2"/>
                      </a:lnTo>
                      <a:lnTo>
                        <a:pt x="0" y="2"/>
                      </a:lnTo>
                      <a:lnTo>
                        <a:pt x="0" y="1"/>
                      </a:lnTo>
                      <a:lnTo>
                        <a:pt x="0" y="0"/>
                      </a:lnTo>
                      <a:lnTo>
                        <a:pt x="0" y="1"/>
                      </a:lnTo>
                      <a:lnTo>
                        <a:pt x="0" y="2"/>
                      </a:lnTo>
                      <a:lnTo>
                        <a:pt x="0" y="2"/>
                      </a:lnTo>
                      <a:lnTo>
                        <a:pt x="0" y="3"/>
                      </a:lnTo>
                      <a:lnTo>
                        <a:pt x="0" y="4"/>
                      </a:lnTo>
                      <a:lnTo>
                        <a:pt x="0" y="4"/>
                      </a:lnTo>
                      <a:lnTo>
                        <a:pt x="0" y="5"/>
                      </a:lnTo>
                      <a:lnTo>
                        <a:pt x="0" y="6"/>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80" name="Freeform 368"/>
                <p:cNvSpPr>
                  <a:spLocks noChangeAspect="1"/>
                </p:cNvSpPr>
                <p:nvPr/>
              </p:nvSpPr>
              <p:spPr bwMode="auto">
                <a:xfrm>
                  <a:off x="298" y="566"/>
                  <a:ext cx="0" cy="0"/>
                </a:xfrm>
                <a:custGeom>
                  <a:avLst/>
                  <a:gdLst>
                    <a:gd name="T0" fmla="*/ 3 h 3"/>
                    <a:gd name="T1" fmla="*/ 1 h 3"/>
                    <a:gd name="T2" fmla="*/ 1 h 3"/>
                    <a:gd name="T3" fmla="*/ 1 h 3"/>
                    <a:gd name="T4" fmla="*/ 1 h 3"/>
                    <a:gd name="T5" fmla="*/ 1 h 3"/>
                    <a:gd name="T6" fmla="*/ 0 h 3"/>
                    <a:gd name="T7" fmla="*/ 0 h 3"/>
                    <a:gd name="T8" fmla="*/ 0 h 3"/>
                    <a:gd name="T9" fmla="*/ 0 h 3"/>
                    <a:gd name="T10" fmla="*/ 0 h 3"/>
                    <a:gd name="T11" fmla="*/ 1 h 3"/>
                    <a:gd name="T12" fmla="*/ 1 h 3"/>
                    <a:gd name="T13" fmla="*/ 1 h 3"/>
                    <a:gd name="T14" fmla="*/ 1 h 3"/>
                    <a:gd name="T15" fmla="*/ 1 h 3"/>
                    <a:gd name="T16"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3">
                      <a:moveTo>
                        <a:pt x="0" y="3"/>
                      </a:moveTo>
                      <a:lnTo>
                        <a:pt x="0" y="1"/>
                      </a:lnTo>
                      <a:lnTo>
                        <a:pt x="0" y="1"/>
                      </a:lnTo>
                      <a:lnTo>
                        <a:pt x="0" y="1"/>
                      </a:lnTo>
                      <a:lnTo>
                        <a:pt x="0" y="1"/>
                      </a:lnTo>
                      <a:lnTo>
                        <a:pt x="0" y="1"/>
                      </a:lnTo>
                      <a:lnTo>
                        <a:pt x="0" y="0"/>
                      </a:lnTo>
                      <a:lnTo>
                        <a:pt x="0" y="0"/>
                      </a:lnTo>
                      <a:lnTo>
                        <a:pt x="0" y="0"/>
                      </a:lnTo>
                      <a:lnTo>
                        <a:pt x="0" y="0"/>
                      </a:lnTo>
                      <a:lnTo>
                        <a:pt x="0" y="0"/>
                      </a:lnTo>
                      <a:lnTo>
                        <a:pt x="0" y="1"/>
                      </a:lnTo>
                      <a:lnTo>
                        <a:pt x="0" y="1"/>
                      </a:lnTo>
                      <a:lnTo>
                        <a:pt x="0" y="1"/>
                      </a:lnTo>
                      <a:lnTo>
                        <a:pt x="0" y="1"/>
                      </a:lnTo>
                      <a:lnTo>
                        <a:pt x="0" y="1"/>
                      </a:lnTo>
                      <a:lnTo>
                        <a:pt x="0" y="3"/>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81" name="Freeform 369"/>
                <p:cNvSpPr>
                  <a:spLocks noChangeAspect="1"/>
                </p:cNvSpPr>
                <p:nvPr/>
              </p:nvSpPr>
              <p:spPr bwMode="auto">
                <a:xfrm>
                  <a:off x="298" y="566"/>
                  <a:ext cx="0" cy="0"/>
                </a:xfrm>
                <a:custGeom>
                  <a:avLst/>
                  <a:gdLst>
                    <a:gd name="T0" fmla="*/ 1 h 1"/>
                    <a:gd name="T1" fmla="*/ 1 h 1"/>
                    <a:gd name="T2" fmla="*/ 1 h 1"/>
                    <a:gd name="T3" fmla="*/ 1 h 1"/>
                    <a:gd name="T4" fmla="*/ 1 h 1"/>
                    <a:gd name="T5" fmla="*/ 1 h 1"/>
                    <a:gd name="T6" fmla="*/ 1 h 1"/>
                    <a:gd name="T7" fmla="*/ 0 h 1"/>
                    <a:gd name="T8" fmla="*/ 0 h 1"/>
                    <a:gd name="T9" fmla="*/ 0 h 1"/>
                    <a:gd name="T10" fmla="*/ 1 h 1"/>
                    <a:gd name="T11" fmla="*/ 1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1"/>
                      </a:lnTo>
                      <a:lnTo>
                        <a:pt x="0" y="1"/>
                      </a:lnTo>
                      <a:lnTo>
                        <a:pt x="0" y="0"/>
                      </a:lnTo>
                      <a:lnTo>
                        <a:pt x="0" y="0"/>
                      </a:lnTo>
                      <a:lnTo>
                        <a:pt x="0" y="0"/>
                      </a:lnTo>
                      <a:lnTo>
                        <a:pt x="0" y="1"/>
                      </a:lnTo>
                      <a:lnTo>
                        <a:pt x="0" y="1"/>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82" name="Freeform 370"/>
                <p:cNvSpPr>
                  <a:spLocks noChangeAspect="1"/>
                </p:cNvSpPr>
                <p:nvPr/>
              </p:nvSpPr>
              <p:spPr bwMode="auto">
                <a:xfrm>
                  <a:off x="298" y="562"/>
                  <a:ext cx="0" cy="1"/>
                </a:xfrm>
                <a:custGeom>
                  <a:avLst/>
                  <a:gdLst>
                    <a:gd name="T0" fmla="*/ 1 h 1"/>
                    <a:gd name="T1" fmla="*/ 1 h 1"/>
                    <a:gd name="T2" fmla="*/ 1 h 1"/>
                    <a:gd name="T3" fmla="*/ 1 h 1"/>
                    <a:gd name="T4" fmla="*/ 1 h 1"/>
                    <a:gd name="T5" fmla="*/ 1 h 1"/>
                    <a:gd name="T6" fmla="*/ 0 h 1"/>
                    <a:gd name="T7" fmla="*/ 0 h 1"/>
                    <a:gd name="T8" fmla="*/ 0 h 1"/>
                    <a:gd name="T9" fmla="*/ 0 h 1"/>
                    <a:gd name="T10" fmla="*/ 0 h 1"/>
                    <a:gd name="T11" fmla="*/ 1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1"/>
                      </a:lnTo>
                      <a:lnTo>
                        <a:pt x="0" y="0"/>
                      </a:lnTo>
                      <a:lnTo>
                        <a:pt x="0" y="0"/>
                      </a:lnTo>
                      <a:lnTo>
                        <a:pt x="0" y="0"/>
                      </a:lnTo>
                      <a:lnTo>
                        <a:pt x="0" y="0"/>
                      </a:lnTo>
                      <a:lnTo>
                        <a:pt x="0" y="0"/>
                      </a:lnTo>
                      <a:lnTo>
                        <a:pt x="0" y="1"/>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83" name="Freeform 371"/>
                <p:cNvSpPr>
                  <a:spLocks noChangeAspect="1"/>
                </p:cNvSpPr>
                <p:nvPr/>
              </p:nvSpPr>
              <p:spPr bwMode="auto">
                <a:xfrm>
                  <a:off x="298" y="561"/>
                  <a:ext cx="0" cy="1"/>
                </a:xfrm>
                <a:custGeom>
                  <a:avLst/>
                  <a:gdLst>
                    <a:gd name="T0" fmla="*/ 1 h 1"/>
                    <a:gd name="T1" fmla="*/ 1 h 1"/>
                    <a:gd name="T2" fmla="*/ 1 h 1"/>
                    <a:gd name="T3" fmla="*/ 1 h 1"/>
                    <a:gd name="T4" fmla="*/ 1 h 1"/>
                    <a:gd name="T5" fmla="*/ 0 h 1"/>
                    <a:gd name="T6" fmla="*/ 0 h 1"/>
                    <a:gd name="T7" fmla="*/ 0 h 1"/>
                    <a:gd name="T8" fmla="*/ 0 h 1"/>
                    <a:gd name="T9" fmla="*/ 0 h 1"/>
                    <a:gd name="T10" fmla="*/ 0 h 1"/>
                    <a:gd name="T11" fmla="*/ 0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0"/>
                      </a:lnTo>
                      <a:lnTo>
                        <a:pt x="0" y="0"/>
                      </a:lnTo>
                      <a:lnTo>
                        <a:pt x="0" y="0"/>
                      </a:lnTo>
                      <a:lnTo>
                        <a:pt x="0" y="0"/>
                      </a:lnTo>
                      <a:lnTo>
                        <a:pt x="0" y="0"/>
                      </a:lnTo>
                      <a:lnTo>
                        <a:pt x="0" y="0"/>
                      </a:lnTo>
                      <a:lnTo>
                        <a:pt x="0" y="0"/>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84" name="Freeform 372"/>
                <p:cNvSpPr>
                  <a:spLocks noChangeAspect="1"/>
                </p:cNvSpPr>
                <p:nvPr/>
              </p:nvSpPr>
              <p:spPr bwMode="auto">
                <a:xfrm>
                  <a:off x="298" y="561"/>
                  <a:ext cx="1" cy="1"/>
                </a:xfrm>
                <a:custGeom>
                  <a:avLst/>
                  <a:gdLst>
                    <a:gd name="T0" fmla="*/ 1 h 1"/>
                    <a:gd name="T1" fmla="*/ 1 h 1"/>
                    <a:gd name="T2" fmla="*/ 1 h 1"/>
                    <a:gd name="T3" fmla="*/ 1 h 1"/>
                    <a:gd name="T4" fmla="*/ 1 h 1"/>
                    <a:gd name="T5" fmla="*/ 0 h 1"/>
                    <a:gd name="T6" fmla="*/ 0 h 1"/>
                    <a:gd name="T7" fmla="*/ 0 h 1"/>
                    <a:gd name="T8" fmla="*/ 0 h 1"/>
                    <a:gd name="T9" fmla="*/ 0 h 1"/>
                    <a:gd name="T10" fmla="*/ 0 h 1"/>
                    <a:gd name="T11" fmla="*/ 0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0"/>
                      </a:lnTo>
                      <a:lnTo>
                        <a:pt x="0" y="0"/>
                      </a:lnTo>
                      <a:lnTo>
                        <a:pt x="0" y="0"/>
                      </a:lnTo>
                      <a:lnTo>
                        <a:pt x="0" y="0"/>
                      </a:lnTo>
                      <a:lnTo>
                        <a:pt x="0" y="0"/>
                      </a:lnTo>
                      <a:lnTo>
                        <a:pt x="0" y="0"/>
                      </a:lnTo>
                      <a:lnTo>
                        <a:pt x="0" y="0"/>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85" name="Freeform 373"/>
                <p:cNvSpPr>
                  <a:spLocks noChangeAspect="1"/>
                </p:cNvSpPr>
                <p:nvPr/>
              </p:nvSpPr>
              <p:spPr bwMode="auto">
                <a:xfrm>
                  <a:off x="298" y="560"/>
                  <a:ext cx="1" cy="1"/>
                </a:xfrm>
                <a:custGeom>
                  <a:avLst/>
                  <a:gdLst>
                    <a:gd name="T0" fmla="*/ 1 h 1"/>
                    <a:gd name="T1" fmla="*/ 0 h 1"/>
                    <a:gd name="T2" fmla="*/ 0 h 1"/>
                    <a:gd name="T3" fmla="*/ 0 h 1"/>
                    <a:gd name="T4" fmla="*/ 0 h 1"/>
                    <a:gd name="T5" fmla="*/ 0 h 1"/>
                    <a:gd name="T6" fmla="*/ 0 h 1"/>
                    <a:gd name="T7" fmla="*/ 0 h 1"/>
                    <a:gd name="T8" fmla="*/ 0 h 1"/>
                    <a:gd name="T9" fmla="*/ 0 h 1"/>
                    <a:gd name="T10" fmla="*/ 0 h 1"/>
                    <a:gd name="T11" fmla="*/ 0 h 1"/>
                    <a:gd name="T12" fmla="*/ 0 h 1"/>
                    <a:gd name="T13" fmla="*/ 0 h 1"/>
                    <a:gd name="T14" fmla="*/ 0 h 1"/>
                    <a:gd name="T15" fmla="*/ 0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86" name="Freeform 374"/>
                <p:cNvSpPr>
                  <a:spLocks noChangeAspect="1"/>
                </p:cNvSpPr>
                <p:nvPr/>
              </p:nvSpPr>
              <p:spPr bwMode="auto">
                <a:xfrm>
                  <a:off x="298" y="560"/>
                  <a:ext cx="1" cy="0"/>
                </a:xfrm>
                <a:custGeom>
                  <a:avLst/>
                  <a:gdLst>
                    <a:gd name="T0" fmla="*/ 1 h 1"/>
                    <a:gd name="T1" fmla="*/ 1 h 1"/>
                    <a:gd name="T2" fmla="*/ 0 h 1"/>
                    <a:gd name="T3" fmla="*/ 0 h 1"/>
                    <a:gd name="T4" fmla="*/ 0 h 1"/>
                    <a:gd name="T5" fmla="*/ 0 h 1"/>
                    <a:gd name="T6" fmla="*/ 0 h 1"/>
                    <a:gd name="T7" fmla="*/ 0 h 1"/>
                    <a:gd name="T8" fmla="*/ 0 h 1"/>
                    <a:gd name="T9" fmla="*/ 0 h 1"/>
                    <a:gd name="T10" fmla="*/ 0 h 1"/>
                    <a:gd name="T11" fmla="*/ 0 h 1"/>
                    <a:gd name="T12" fmla="*/ 0 h 1"/>
                    <a:gd name="T13" fmla="*/ 0 h 1"/>
                    <a:gd name="T14" fmla="*/ 0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87" name="Freeform 375"/>
                <p:cNvSpPr>
                  <a:spLocks noChangeAspect="1"/>
                </p:cNvSpPr>
                <p:nvPr/>
              </p:nvSpPr>
              <p:spPr bwMode="auto">
                <a:xfrm>
                  <a:off x="298" y="560"/>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88" name="Freeform 376"/>
                <p:cNvSpPr>
                  <a:spLocks noChangeAspect="1"/>
                </p:cNvSpPr>
                <p:nvPr/>
              </p:nvSpPr>
              <p:spPr bwMode="auto">
                <a:xfrm>
                  <a:off x="298" y="560"/>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89" name="Freeform 377"/>
                <p:cNvSpPr>
                  <a:spLocks noChangeAspect="1"/>
                </p:cNvSpPr>
                <p:nvPr/>
              </p:nvSpPr>
              <p:spPr bwMode="auto">
                <a:xfrm>
                  <a:off x="299" y="560"/>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90" name="Freeform 378"/>
                <p:cNvSpPr>
                  <a:spLocks noChangeAspect="1"/>
                </p:cNvSpPr>
                <p:nvPr/>
              </p:nvSpPr>
              <p:spPr bwMode="auto">
                <a:xfrm>
                  <a:off x="299" y="55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91" name="Freeform 379"/>
                <p:cNvSpPr>
                  <a:spLocks noChangeAspect="1"/>
                </p:cNvSpPr>
                <p:nvPr/>
              </p:nvSpPr>
              <p:spPr bwMode="auto">
                <a:xfrm>
                  <a:off x="299" y="55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92" name="Freeform 380"/>
                <p:cNvSpPr>
                  <a:spLocks noChangeAspect="1"/>
                </p:cNvSpPr>
                <p:nvPr/>
              </p:nvSpPr>
              <p:spPr bwMode="auto">
                <a:xfrm>
                  <a:off x="299" y="555"/>
                  <a:ext cx="1" cy="1"/>
                </a:xfrm>
                <a:custGeom>
                  <a:avLst/>
                  <a:gdLst>
                    <a:gd name="T0" fmla="*/ 0 w 1"/>
                    <a:gd name="T1" fmla="*/ 0 w 1"/>
                    <a:gd name="T2" fmla="*/ 0 w 1"/>
                    <a:gd name="T3" fmla="*/ 1 w 1"/>
                    <a:gd name="T4" fmla="*/ 1 w 1"/>
                    <a:gd name="T5" fmla="*/ 1 w 1"/>
                    <a:gd name="T6" fmla="*/ 1 w 1"/>
                    <a:gd name="T7" fmla="*/ 1 w 1"/>
                    <a:gd name="T8" fmla="*/ 1 w 1"/>
                    <a:gd name="T9" fmla="*/ 1 w 1"/>
                    <a:gd name="T10" fmla="*/ 1 w 1"/>
                    <a:gd name="T11" fmla="*/ 1 w 1"/>
                    <a:gd name="T12" fmla="*/ 1 w 1"/>
                    <a:gd name="T13" fmla="*/ 1 w 1"/>
                    <a:gd name="T14" fmla="*/ 0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lnTo>
                        <a:pt x="0" y="0"/>
                      </a:lnTo>
                      <a:lnTo>
                        <a:pt x="0" y="0"/>
                      </a:lnTo>
                      <a:lnTo>
                        <a:pt x="1" y="0"/>
                      </a:lnTo>
                      <a:lnTo>
                        <a:pt x="1" y="0"/>
                      </a:lnTo>
                      <a:lnTo>
                        <a:pt x="1" y="0"/>
                      </a:lnTo>
                      <a:lnTo>
                        <a:pt x="1" y="0"/>
                      </a:lnTo>
                      <a:lnTo>
                        <a:pt x="1" y="0"/>
                      </a:lnTo>
                      <a:lnTo>
                        <a:pt x="1" y="0"/>
                      </a:lnTo>
                      <a:lnTo>
                        <a:pt x="1" y="0"/>
                      </a:lnTo>
                      <a:lnTo>
                        <a:pt x="1" y="0"/>
                      </a:lnTo>
                      <a:lnTo>
                        <a:pt x="1" y="0"/>
                      </a:lnTo>
                      <a:lnTo>
                        <a:pt x="1" y="0"/>
                      </a:lnTo>
                      <a:lnTo>
                        <a:pt x="1"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93" name="Freeform 381"/>
                <p:cNvSpPr>
                  <a:spLocks noChangeAspect="1"/>
                </p:cNvSpPr>
                <p:nvPr/>
              </p:nvSpPr>
              <p:spPr bwMode="auto">
                <a:xfrm>
                  <a:off x="299" y="55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94" name="Freeform 382"/>
                <p:cNvSpPr>
                  <a:spLocks noChangeAspect="1"/>
                </p:cNvSpPr>
                <p:nvPr/>
              </p:nvSpPr>
              <p:spPr bwMode="auto">
                <a:xfrm>
                  <a:off x="505" y="825"/>
                  <a:ext cx="57" cy="60"/>
                </a:xfrm>
                <a:custGeom>
                  <a:avLst/>
                  <a:gdLst>
                    <a:gd name="T0" fmla="*/ 128 w 173"/>
                    <a:gd name="T1" fmla="*/ 9 h 180"/>
                    <a:gd name="T2" fmla="*/ 142 w 173"/>
                    <a:gd name="T3" fmla="*/ 18 h 180"/>
                    <a:gd name="T4" fmla="*/ 154 w 173"/>
                    <a:gd name="T5" fmla="*/ 31 h 180"/>
                    <a:gd name="T6" fmla="*/ 164 w 173"/>
                    <a:gd name="T7" fmla="*/ 45 h 180"/>
                    <a:gd name="T8" fmla="*/ 170 w 173"/>
                    <a:gd name="T9" fmla="*/ 61 h 180"/>
                    <a:gd name="T10" fmla="*/ 173 w 173"/>
                    <a:gd name="T11" fmla="*/ 77 h 180"/>
                    <a:gd name="T12" fmla="*/ 173 w 173"/>
                    <a:gd name="T13" fmla="*/ 95 h 180"/>
                    <a:gd name="T14" fmla="*/ 170 w 173"/>
                    <a:gd name="T15" fmla="*/ 112 h 180"/>
                    <a:gd name="T16" fmla="*/ 164 w 173"/>
                    <a:gd name="T17" fmla="*/ 130 h 180"/>
                    <a:gd name="T18" fmla="*/ 154 w 173"/>
                    <a:gd name="T19" fmla="*/ 145 h 180"/>
                    <a:gd name="T20" fmla="*/ 141 w 173"/>
                    <a:gd name="T21" fmla="*/ 157 h 180"/>
                    <a:gd name="T22" fmla="*/ 128 w 173"/>
                    <a:gd name="T23" fmla="*/ 167 h 180"/>
                    <a:gd name="T24" fmla="*/ 113 w 173"/>
                    <a:gd name="T25" fmla="*/ 174 h 180"/>
                    <a:gd name="T26" fmla="*/ 96 w 173"/>
                    <a:gd name="T27" fmla="*/ 179 h 180"/>
                    <a:gd name="T28" fmla="*/ 80 w 173"/>
                    <a:gd name="T29" fmla="*/ 180 h 180"/>
                    <a:gd name="T30" fmla="*/ 63 w 173"/>
                    <a:gd name="T31" fmla="*/ 177 h 180"/>
                    <a:gd name="T32" fmla="*/ 46 w 173"/>
                    <a:gd name="T33" fmla="*/ 170 h 180"/>
                    <a:gd name="T34" fmla="*/ 32 w 173"/>
                    <a:gd name="T35" fmla="*/ 161 h 180"/>
                    <a:gd name="T36" fmla="*/ 20 w 173"/>
                    <a:gd name="T37" fmla="*/ 149 h 180"/>
                    <a:gd name="T38" fmla="*/ 11 w 173"/>
                    <a:gd name="T39" fmla="*/ 135 h 180"/>
                    <a:gd name="T40" fmla="*/ 4 w 173"/>
                    <a:gd name="T41" fmla="*/ 119 h 180"/>
                    <a:gd name="T42" fmla="*/ 1 w 173"/>
                    <a:gd name="T43" fmla="*/ 102 h 180"/>
                    <a:gd name="T44" fmla="*/ 1 w 173"/>
                    <a:gd name="T45" fmla="*/ 85 h 180"/>
                    <a:gd name="T46" fmla="*/ 4 w 173"/>
                    <a:gd name="T47" fmla="*/ 67 h 180"/>
                    <a:gd name="T48" fmla="*/ 11 w 173"/>
                    <a:gd name="T49" fmla="*/ 50 h 180"/>
                    <a:gd name="T50" fmla="*/ 20 w 173"/>
                    <a:gd name="T51" fmla="*/ 35 h 180"/>
                    <a:gd name="T52" fmla="*/ 32 w 173"/>
                    <a:gd name="T53" fmla="*/ 22 h 180"/>
                    <a:gd name="T54" fmla="*/ 46 w 173"/>
                    <a:gd name="T55" fmla="*/ 12 h 180"/>
                    <a:gd name="T56" fmla="*/ 62 w 173"/>
                    <a:gd name="T57" fmla="*/ 5 h 180"/>
                    <a:gd name="T58" fmla="*/ 78 w 173"/>
                    <a:gd name="T59" fmla="*/ 1 h 180"/>
                    <a:gd name="T60" fmla="*/ 95 w 173"/>
                    <a:gd name="T61" fmla="*/ 0 h 180"/>
                    <a:gd name="T62" fmla="*/ 112 w 173"/>
                    <a:gd name="T63" fmla="*/ 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3" h="180">
                      <a:moveTo>
                        <a:pt x="120" y="5"/>
                      </a:moveTo>
                      <a:lnTo>
                        <a:pt x="128" y="9"/>
                      </a:lnTo>
                      <a:lnTo>
                        <a:pt x="135" y="14"/>
                      </a:lnTo>
                      <a:lnTo>
                        <a:pt x="142" y="18"/>
                      </a:lnTo>
                      <a:lnTo>
                        <a:pt x="149" y="25"/>
                      </a:lnTo>
                      <a:lnTo>
                        <a:pt x="154" y="31"/>
                      </a:lnTo>
                      <a:lnTo>
                        <a:pt x="160" y="37"/>
                      </a:lnTo>
                      <a:lnTo>
                        <a:pt x="164" y="45"/>
                      </a:lnTo>
                      <a:lnTo>
                        <a:pt x="167" y="52"/>
                      </a:lnTo>
                      <a:lnTo>
                        <a:pt x="170" y="61"/>
                      </a:lnTo>
                      <a:lnTo>
                        <a:pt x="172" y="68"/>
                      </a:lnTo>
                      <a:lnTo>
                        <a:pt x="173" y="77"/>
                      </a:lnTo>
                      <a:lnTo>
                        <a:pt x="173" y="86"/>
                      </a:lnTo>
                      <a:lnTo>
                        <a:pt x="173" y="95"/>
                      </a:lnTo>
                      <a:lnTo>
                        <a:pt x="172" y="103"/>
                      </a:lnTo>
                      <a:lnTo>
                        <a:pt x="170" y="112"/>
                      </a:lnTo>
                      <a:lnTo>
                        <a:pt x="167" y="121"/>
                      </a:lnTo>
                      <a:lnTo>
                        <a:pt x="164" y="130"/>
                      </a:lnTo>
                      <a:lnTo>
                        <a:pt x="158" y="137"/>
                      </a:lnTo>
                      <a:lnTo>
                        <a:pt x="154" y="145"/>
                      </a:lnTo>
                      <a:lnTo>
                        <a:pt x="148" y="151"/>
                      </a:lnTo>
                      <a:lnTo>
                        <a:pt x="141" y="157"/>
                      </a:lnTo>
                      <a:lnTo>
                        <a:pt x="135" y="163"/>
                      </a:lnTo>
                      <a:lnTo>
                        <a:pt x="128" y="167"/>
                      </a:lnTo>
                      <a:lnTo>
                        <a:pt x="120" y="171"/>
                      </a:lnTo>
                      <a:lnTo>
                        <a:pt x="113" y="174"/>
                      </a:lnTo>
                      <a:lnTo>
                        <a:pt x="104" y="177"/>
                      </a:lnTo>
                      <a:lnTo>
                        <a:pt x="96" y="179"/>
                      </a:lnTo>
                      <a:lnTo>
                        <a:pt x="88" y="180"/>
                      </a:lnTo>
                      <a:lnTo>
                        <a:pt x="80" y="180"/>
                      </a:lnTo>
                      <a:lnTo>
                        <a:pt x="71" y="179"/>
                      </a:lnTo>
                      <a:lnTo>
                        <a:pt x="63" y="177"/>
                      </a:lnTo>
                      <a:lnTo>
                        <a:pt x="54" y="174"/>
                      </a:lnTo>
                      <a:lnTo>
                        <a:pt x="46" y="170"/>
                      </a:lnTo>
                      <a:lnTo>
                        <a:pt x="38" y="166"/>
                      </a:lnTo>
                      <a:lnTo>
                        <a:pt x="32" y="161"/>
                      </a:lnTo>
                      <a:lnTo>
                        <a:pt x="25" y="155"/>
                      </a:lnTo>
                      <a:lnTo>
                        <a:pt x="20" y="149"/>
                      </a:lnTo>
                      <a:lnTo>
                        <a:pt x="15" y="143"/>
                      </a:lnTo>
                      <a:lnTo>
                        <a:pt x="11" y="135"/>
                      </a:lnTo>
                      <a:lnTo>
                        <a:pt x="7" y="127"/>
                      </a:lnTo>
                      <a:lnTo>
                        <a:pt x="4" y="119"/>
                      </a:lnTo>
                      <a:lnTo>
                        <a:pt x="2" y="111"/>
                      </a:lnTo>
                      <a:lnTo>
                        <a:pt x="1" y="102"/>
                      </a:lnTo>
                      <a:lnTo>
                        <a:pt x="0" y="94"/>
                      </a:lnTo>
                      <a:lnTo>
                        <a:pt x="1" y="85"/>
                      </a:lnTo>
                      <a:lnTo>
                        <a:pt x="2" y="76"/>
                      </a:lnTo>
                      <a:lnTo>
                        <a:pt x="4" y="67"/>
                      </a:lnTo>
                      <a:lnTo>
                        <a:pt x="7" y="59"/>
                      </a:lnTo>
                      <a:lnTo>
                        <a:pt x="11" y="50"/>
                      </a:lnTo>
                      <a:lnTo>
                        <a:pt x="15" y="43"/>
                      </a:lnTo>
                      <a:lnTo>
                        <a:pt x="20" y="35"/>
                      </a:lnTo>
                      <a:lnTo>
                        <a:pt x="26" y="28"/>
                      </a:lnTo>
                      <a:lnTo>
                        <a:pt x="32" y="22"/>
                      </a:lnTo>
                      <a:lnTo>
                        <a:pt x="39" y="17"/>
                      </a:lnTo>
                      <a:lnTo>
                        <a:pt x="46" y="12"/>
                      </a:lnTo>
                      <a:lnTo>
                        <a:pt x="54" y="9"/>
                      </a:lnTo>
                      <a:lnTo>
                        <a:pt x="62" y="5"/>
                      </a:lnTo>
                      <a:lnTo>
                        <a:pt x="69" y="2"/>
                      </a:lnTo>
                      <a:lnTo>
                        <a:pt x="78" y="1"/>
                      </a:lnTo>
                      <a:lnTo>
                        <a:pt x="86" y="0"/>
                      </a:lnTo>
                      <a:lnTo>
                        <a:pt x="95" y="0"/>
                      </a:lnTo>
                      <a:lnTo>
                        <a:pt x="103" y="1"/>
                      </a:lnTo>
                      <a:lnTo>
                        <a:pt x="112" y="2"/>
                      </a:lnTo>
                      <a:lnTo>
                        <a:pt x="120" y="5"/>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95" name="Freeform 383"/>
                <p:cNvSpPr>
                  <a:spLocks noChangeAspect="1"/>
                </p:cNvSpPr>
                <p:nvPr/>
              </p:nvSpPr>
              <p:spPr bwMode="auto">
                <a:xfrm>
                  <a:off x="505" y="825"/>
                  <a:ext cx="57" cy="60"/>
                </a:xfrm>
                <a:custGeom>
                  <a:avLst/>
                  <a:gdLst>
                    <a:gd name="T0" fmla="*/ 128 w 173"/>
                    <a:gd name="T1" fmla="*/ 9 h 180"/>
                    <a:gd name="T2" fmla="*/ 142 w 173"/>
                    <a:gd name="T3" fmla="*/ 18 h 180"/>
                    <a:gd name="T4" fmla="*/ 154 w 173"/>
                    <a:gd name="T5" fmla="*/ 31 h 180"/>
                    <a:gd name="T6" fmla="*/ 164 w 173"/>
                    <a:gd name="T7" fmla="*/ 45 h 180"/>
                    <a:gd name="T8" fmla="*/ 170 w 173"/>
                    <a:gd name="T9" fmla="*/ 61 h 180"/>
                    <a:gd name="T10" fmla="*/ 173 w 173"/>
                    <a:gd name="T11" fmla="*/ 77 h 180"/>
                    <a:gd name="T12" fmla="*/ 173 w 173"/>
                    <a:gd name="T13" fmla="*/ 95 h 180"/>
                    <a:gd name="T14" fmla="*/ 170 w 173"/>
                    <a:gd name="T15" fmla="*/ 112 h 180"/>
                    <a:gd name="T16" fmla="*/ 164 w 173"/>
                    <a:gd name="T17" fmla="*/ 130 h 180"/>
                    <a:gd name="T18" fmla="*/ 154 w 173"/>
                    <a:gd name="T19" fmla="*/ 145 h 180"/>
                    <a:gd name="T20" fmla="*/ 141 w 173"/>
                    <a:gd name="T21" fmla="*/ 157 h 180"/>
                    <a:gd name="T22" fmla="*/ 128 w 173"/>
                    <a:gd name="T23" fmla="*/ 167 h 180"/>
                    <a:gd name="T24" fmla="*/ 113 w 173"/>
                    <a:gd name="T25" fmla="*/ 174 h 180"/>
                    <a:gd name="T26" fmla="*/ 96 w 173"/>
                    <a:gd name="T27" fmla="*/ 179 h 180"/>
                    <a:gd name="T28" fmla="*/ 80 w 173"/>
                    <a:gd name="T29" fmla="*/ 180 h 180"/>
                    <a:gd name="T30" fmla="*/ 63 w 173"/>
                    <a:gd name="T31" fmla="*/ 177 h 180"/>
                    <a:gd name="T32" fmla="*/ 46 w 173"/>
                    <a:gd name="T33" fmla="*/ 170 h 180"/>
                    <a:gd name="T34" fmla="*/ 32 w 173"/>
                    <a:gd name="T35" fmla="*/ 161 h 180"/>
                    <a:gd name="T36" fmla="*/ 20 w 173"/>
                    <a:gd name="T37" fmla="*/ 149 h 180"/>
                    <a:gd name="T38" fmla="*/ 11 w 173"/>
                    <a:gd name="T39" fmla="*/ 135 h 180"/>
                    <a:gd name="T40" fmla="*/ 4 w 173"/>
                    <a:gd name="T41" fmla="*/ 119 h 180"/>
                    <a:gd name="T42" fmla="*/ 1 w 173"/>
                    <a:gd name="T43" fmla="*/ 102 h 180"/>
                    <a:gd name="T44" fmla="*/ 1 w 173"/>
                    <a:gd name="T45" fmla="*/ 85 h 180"/>
                    <a:gd name="T46" fmla="*/ 4 w 173"/>
                    <a:gd name="T47" fmla="*/ 67 h 180"/>
                    <a:gd name="T48" fmla="*/ 11 w 173"/>
                    <a:gd name="T49" fmla="*/ 50 h 180"/>
                    <a:gd name="T50" fmla="*/ 20 w 173"/>
                    <a:gd name="T51" fmla="*/ 35 h 180"/>
                    <a:gd name="T52" fmla="*/ 32 w 173"/>
                    <a:gd name="T53" fmla="*/ 22 h 180"/>
                    <a:gd name="T54" fmla="*/ 46 w 173"/>
                    <a:gd name="T55" fmla="*/ 12 h 180"/>
                    <a:gd name="T56" fmla="*/ 62 w 173"/>
                    <a:gd name="T57" fmla="*/ 5 h 180"/>
                    <a:gd name="T58" fmla="*/ 78 w 173"/>
                    <a:gd name="T59" fmla="*/ 1 h 180"/>
                    <a:gd name="T60" fmla="*/ 95 w 173"/>
                    <a:gd name="T61" fmla="*/ 0 h 180"/>
                    <a:gd name="T62" fmla="*/ 112 w 173"/>
                    <a:gd name="T63" fmla="*/ 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3" h="180">
                      <a:moveTo>
                        <a:pt x="120" y="5"/>
                      </a:moveTo>
                      <a:lnTo>
                        <a:pt x="128" y="9"/>
                      </a:lnTo>
                      <a:lnTo>
                        <a:pt x="135" y="14"/>
                      </a:lnTo>
                      <a:lnTo>
                        <a:pt x="142" y="18"/>
                      </a:lnTo>
                      <a:lnTo>
                        <a:pt x="149" y="25"/>
                      </a:lnTo>
                      <a:lnTo>
                        <a:pt x="154" y="31"/>
                      </a:lnTo>
                      <a:lnTo>
                        <a:pt x="160" y="37"/>
                      </a:lnTo>
                      <a:lnTo>
                        <a:pt x="164" y="45"/>
                      </a:lnTo>
                      <a:lnTo>
                        <a:pt x="167" y="52"/>
                      </a:lnTo>
                      <a:lnTo>
                        <a:pt x="170" y="61"/>
                      </a:lnTo>
                      <a:lnTo>
                        <a:pt x="172" y="68"/>
                      </a:lnTo>
                      <a:lnTo>
                        <a:pt x="173" y="77"/>
                      </a:lnTo>
                      <a:lnTo>
                        <a:pt x="173" y="86"/>
                      </a:lnTo>
                      <a:lnTo>
                        <a:pt x="173" y="95"/>
                      </a:lnTo>
                      <a:lnTo>
                        <a:pt x="172" y="103"/>
                      </a:lnTo>
                      <a:lnTo>
                        <a:pt x="170" y="112"/>
                      </a:lnTo>
                      <a:lnTo>
                        <a:pt x="167" y="121"/>
                      </a:lnTo>
                      <a:lnTo>
                        <a:pt x="164" y="130"/>
                      </a:lnTo>
                      <a:lnTo>
                        <a:pt x="158" y="137"/>
                      </a:lnTo>
                      <a:lnTo>
                        <a:pt x="154" y="145"/>
                      </a:lnTo>
                      <a:lnTo>
                        <a:pt x="148" y="151"/>
                      </a:lnTo>
                      <a:lnTo>
                        <a:pt x="141" y="157"/>
                      </a:lnTo>
                      <a:lnTo>
                        <a:pt x="135" y="163"/>
                      </a:lnTo>
                      <a:lnTo>
                        <a:pt x="128" y="167"/>
                      </a:lnTo>
                      <a:lnTo>
                        <a:pt x="120" y="171"/>
                      </a:lnTo>
                      <a:lnTo>
                        <a:pt x="113" y="174"/>
                      </a:lnTo>
                      <a:lnTo>
                        <a:pt x="104" y="177"/>
                      </a:lnTo>
                      <a:lnTo>
                        <a:pt x="96" y="179"/>
                      </a:lnTo>
                      <a:lnTo>
                        <a:pt x="88" y="180"/>
                      </a:lnTo>
                      <a:lnTo>
                        <a:pt x="80" y="180"/>
                      </a:lnTo>
                      <a:lnTo>
                        <a:pt x="71" y="179"/>
                      </a:lnTo>
                      <a:lnTo>
                        <a:pt x="63" y="177"/>
                      </a:lnTo>
                      <a:lnTo>
                        <a:pt x="54" y="174"/>
                      </a:lnTo>
                      <a:lnTo>
                        <a:pt x="46" y="170"/>
                      </a:lnTo>
                      <a:lnTo>
                        <a:pt x="38" y="166"/>
                      </a:lnTo>
                      <a:lnTo>
                        <a:pt x="32" y="161"/>
                      </a:lnTo>
                      <a:lnTo>
                        <a:pt x="25" y="155"/>
                      </a:lnTo>
                      <a:lnTo>
                        <a:pt x="20" y="149"/>
                      </a:lnTo>
                      <a:lnTo>
                        <a:pt x="15" y="143"/>
                      </a:lnTo>
                      <a:lnTo>
                        <a:pt x="11" y="135"/>
                      </a:lnTo>
                      <a:lnTo>
                        <a:pt x="7" y="127"/>
                      </a:lnTo>
                      <a:lnTo>
                        <a:pt x="4" y="119"/>
                      </a:lnTo>
                      <a:lnTo>
                        <a:pt x="2" y="111"/>
                      </a:lnTo>
                      <a:lnTo>
                        <a:pt x="1" y="102"/>
                      </a:lnTo>
                      <a:lnTo>
                        <a:pt x="0" y="94"/>
                      </a:lnTo>
                      <a:lnTo>
                        <a:pt x="1" y="85"/>
                      </a:lnTo>
                      <a:lnTo>
                        <a:pt x="2" y="76"/>
                      </a:lnTo>
                      <a:lnTo>
                        <a:pt x="4" y="67"/>
                      </a:lnTo>
                      <a:lnTo>
                        <a:pt x="7" y="59"/>
                      </a:lnTo>
                      <a:lnTo>
                        <a:pt x="11" y="50"/>
                      </a:lnTo>
                      <a:lnTo>
                        <a:pt x="15" y="43"/>
                      </a:lnTo>
                      <a:lnTo>
                        <a:pt x="20" y="35"/>
                      </a:lnTo>
                      <a:lnTo>
                        <a:pt x="26" y="28"/>
                      </a:lnTo>
                      <a:lnTo>
                        <a:pt x="32" y="22"/>
                      </a:lnTo>
                      <a:lnTo>
                        <a:pt x="39" y="17"/>
                      </a:lnTo>
                      <a:lnTo>
                        <a:pt x="46" y="12"/>
                      </a:lnTo>
                      <a:lnTo>
                        <a:pt x="54" y="9"/>
                      </a:lnTo>
                      <a:lnTo>
                        <a:pt x="62" y="5"/>
                      </a:lnTo>
                      <a:lnTo>
                        <a:pt x="69" y="2"/>
                      </a:lnTo>
                      <a:lnTo>
                        <a:pt x="78" y="1"/>
                      </a:lnTo>
                      <a:lnTo>
                        <a:pt x="86" y="0"/>
                      </a:lnTo>
                      <a:lnTo>
                        <a:pt x="95" y="0"/>
                      </a:lnTo>
                      <a:lnTo>
                        <a:pt x="103" y="1"/>
                      </a:lnTo>
                      <a:lnTo>
                        <a:pt x="112" y="2"/>
                      </a:lnTo>
                      <a:lnTo>
                        <a:pt x="120" y="5"/>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896" name="Freeform 384"/>
                <p:cNvSpPr>
                  <a:spLocks noChangeAspect="1"/>
                </p:cNvSpPr>
                <p:nvPr/>
              </p:nvSpPr>
              <p:spPr bwMode="auto">
                <a:xfrm>
                  <a:off x="500" y="885"/>
                  <a:ext cx="16" cy="25"/>
                </a:xfrm>
                <a:custGeom>
                  <a:avLst/>
                  <a:gdLst>
                    <a:gd name="T0" fmla="*/ 0 w 55"/>
                    <a:gd name="T1" fmla="*/ 74 h 74"/>
                    <a:gd name="T2" fmla="*/ 29 w 55"/>
                    <a:gd name="T3" fmla="*/ 0 h 74"/>
                    <a:gd name="T4" fmla="*/ 55 w 55"/>
                    <a:gd name="T5" fmla="*/ 37 h 74"/>
                    <a:gd name="T6" fmla="*/ 0 w 55"/>
                    <a:gd name="T7" fmla="*/ 74 h 74"/>
                  </a:gdLst>
                  <a:ahLst/>
                  <a:cxnLst>
                    <a:cxn ang="0">
                      <a:pos x="T0" y="T1"/>
                    </a:cxn>
                    <a:cxn ang="0">
                      <a:pos x="T2" y="T3"/>
                    </a:cxn>
                    <a:cxn ang="0">
                      <a:pos x="T4" y="T5"/>
                    </a:cxn>
                    <a:cxn ang="0">
                      <a:pos x="T6" y="T7"/>
                    </a:cxn>
                  </a:cxnLst>
                  <a:rect l="0" t="0" r="r" b="b"/>
                  <a:pathLst>
                    <a:path w="55" h="74">
                      <a:moveTo>
                        <a:pt x="0" y="74"/>
                      </a:moveTo>
                      <a:lnTo>
                        <a:pt x="29" y="0"/>
                      </a:lnTo>
                      <a:lnTo>
                        <a:pt x="55" y="37"/>
                      </a:lnTo>
                      <a:lnTo>
                        <a:pt x="0" y="74"/>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97" name="Freeform 385"/>
                <p:cNvSpPr>
                  <a:spLocks noChangeAspect="1"/>
                </p:cNvSpPr>
                <p:nvPr/>
              </p:nvSpPr>
              <p:spPr bwMode="auto">
                <a:xfrm>
                  <a:off x="490" y="879"/>
                  <a:ext cx="27" cy="37"/>
                </a:xfrm>
                <a:custGeom>
                  <a:avLst/>
                  <a:gdLst>
                    <a:gd name="T0" fmla="*/ 74 w 74"/>
                    <a:gd name="T1" fmla="*/ 39 h 113"/>
                    <a:gd name="T2" fmla="*/ 61 w 74"/>
                    <a:gd name="T3" fmla="*/ 73 h 113"/>
                    <a:gd name="T4" fmla="*/ 0 w 74"/>
                    <a:gd name="T5" fmla="*/ 113 h 113"/>
                    <a:gd name="T6" fmla="*/ 45 w 74"/>
                    <a:gd name="T7" fmla="*/ 0 h 113"/>
                    <a:gd name="T8" fmla="*/ 74 w 74"/>
                    <a:gd name="T9" fmla="*/ 39 h 113"/>
                  </a:gdLst>
                  <a:ahLst/>
                  <a:cxnLst>
                    <a:cxn ang="0">
                      <a:pos x="T0" y="T1"/>
                    </a:cxn>
                    <a:cxn ang="0">
                      <a:pos x="T2" y="T3"/>
                    </a:cxn>
                    <a:cxn ang="0">
                      <a:pos x="T4" y="T5"/>
                    </a:cxn>
                    <a:cxn ang="0">
                      <a:pos x="T6" y="T7"/>
                    </a:cxn>
                    <a:cxn ang="0">
                      <a:pos x="T8" y="T9"/>
                    </a:cxn>
                  </a:cxnLst>
                  <a:rect l="0" t="0" r="r" b="b"/>
                  <a:pathLst>
                    <a:path w="74" h="113">
                      <a:moveTo>
                        <a:pt x="74" y="39"/>
                      </a:moveTo>
                      <a:lnTo>
                        <a:pt x="61" y="73"/>
                      </a:lnTo>
                      <a:lnTo>
                        <a:pt x="0" y="113"/>
                      </a:lnTo>
                      <a:lnTo>
                        <a:pt x="45" y="0"/>
                      </a:lnTo>
                      <a:lnTo>
                        <a:pt x="74"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98" name="Freeform 386"/>
                <p:cNvSpPr>
                  <a:spLocks noChangeAspect="1"/>
                </p:cNvSpPr>
                <p:nvPr/>
              </p:nvSpPr>
              <p:spPr bwMode="auto">
                <a:xfrm>
                  <a:off x="481" y="872"/>
                  <a:ext cx="29" cy="51"/>
                </a:xfrm>
                <a:custGeom>
                  <a:avLst/>
                  <a:gdLst>
                    <a:gd name="T0" fmla="*/ 89 w 89"/>
                    <a:gd name="T1" fmla="*/ 40 h 155"/>
                    <a:gd name="T2" fmla="*/ 60 w 89"/>
                    <a:gd name="T3" fmla="*/ 114 h 155"/>
                    <a:gd name="T4" fmla="*/ 0 w 89"/>
                    <a:gd name="T5" fmla="*/ 155 h 155"/>
                    <a:gd name="T6" fmla="*/ 60 w 89"/>
                    <a:gd name="T7" fmla="*/ 0 h 155"/>
                    <a:gd name="T8" fmla="*/ 89 w 89"/>
                    <a:gd name="T9" fmla="*/ 40 h 155"/>
                  </a:gdLst>
                  <a:ahLst/>
                  <a:cxnLst>
                    <a:cxn ang="0">
                      <a:pos x="T0" y="T1"/>
                    </a:cxn>
                    <a:cxn ang="0">
                      <a:pos x="T2" y="T3"/>
                    </a:cxn>
                    <a:cxn ang="0">
                      <a:pos x="T4" y="T5"/>
                    </a:cxn>
                    <a:cxn ang="0">
                      <a:pos x="T6" y="T7"/>
                    </a:cxn>
                    <a:cxn ang="0">
                      <a:pos x="T8" y="T9"/>
                    </a:cxn>
                  </a:cxnLst>
                  <a:rect l="0" t="0" r="r" b="b"/>
                  <a:pathLst>
                    <a:path w="89" h="155">
                      <a:moveTo>
                        <a:pt x="89" y="40"/>
                      </a:moveTo>
                      <a:lnTo>
                        <a:pt x="60" y="114"/>
                      </a:lnTo>
                      <a:lnTo>
                        <a:pt x="0" y="155"/>
                      </a:lnTo>
                      <a:lnTo>
                        <a:pt x="60" y="0"/>
                      </a:lnTo>
                      <a:lnTo>
                        <a:pt x="89"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899" name="Freeform 387"/>
                <p:cNvSpPr>
                  <a:spLocks noChangeAspect="1"/>
                </p:cNvSpPr>
                <p:nvPr/>
              </p:nvSpPr>
              <p:spPr bwMode="auto">
                <a:xfrm>
                  <a:off x="470" y="865"/>
                  <a:ext cx="35" cy="65"/>
                </a:xfrm>
                <a:custGeom>
                  <a:avLst/>
                  <a:gdLst>
                    <a:gd name="T0" fmla="*/ 105 w 105"/>
                    <a:gd name="T1" fmla="*/ 41 h 196"/>
                    <a:gd name="T2" fmla="*/ 60 w 105"/>
                    <a:gd name="T3" fmla="*/ 154 h 196"/>
                    <a:gd name="T4" fmla="*/ 0 w 105"/>
                    <a:gd name="T5" fmla="*/ 196 h 196"/>
                    <a:gd name="T6" fmla="*/ 76 w 105"/>
                    <a:gd name="T7" fmla="*/ 0 h 196"/>
                    <a:gd name="T8" fmla="*/ 105 w 105"/>
                    <a:gd name="T9" fmla="*/ 41 h 196"/>
                  </a:gdLst>
                  <a:ahLst/>
                  <a:cxnLst>
                    <a:cxn ang="0">
                      <a:pos x="T0" y="T1"/>
                    </a:cxn>
                    <a:cxn ang="0">
                      <a:pos x="T2" y="T3"/>
                    </a:cxn>
                    <a:cxn ang="0">
                      <a:pos x="T4" y="T5"/>
                    </a:cxn>
                    <a:cxn ang="0">
                      <a:pos x="T6" y="T7"/>
                    </a:cxn>
                    <a:cxn ang="0">
                      <a:pos x="T8" y="T9"/>
                    </a:cxn>
                  </a:cxnLst>
                  <a:rect l="0" t="0" r="r" b="b"/>
                  <a:pathLst>
                    <a:path w="105" h="196">
                      <a:moveTo>
                        <a:pt x="105" y="41"/>
                      </a:moveTo>
                      <a:lnTo>
                        <a:pt x="60" y="154"/>
                      </a:lnTo>
                      <a:lnTo>
                        <a:pt x="0" y="196"/>
                      </a:lnTo>
                      <a:lnTo>
                        <a:pt x="76" y="0"/>
                      </a:lnTo>
                      <a:lnTo>
                        <a:pt x="105"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00" name="Freeform 388"/>
                <p:cNvSpPr>
                  <a:spLocks noChangeAspect="1"/>
                </p:cNvSpPr>
                <p:nvPr/>
              </p:nvSpPr>
              <p:spPr bwMode="auto">
                <a:xfrm>
                  <a:off x="465" y="858"/>
                  <a:ext cx="35" cy="73"/>
                </a:xfrm>
                <a:custGeom>
                  <a:avLst/>
                  <a:gdLst>
                    <a:gd name="T0" fmla="*/ 106 w 106"/>
                    <a:gd name="T1" fmla="*/ 40 h 218"/>
                    <a:gd name="T2" fmla="*/ 46 w 106"/>
                    <a:gd name="T3" fmla="*/ 195 h 218"/>
                    <a:gd name="T4" fmla="*/ 12 w 106"/>
                    <a:gd name="T5" fmla="*/ 218 h 218"/>
                    <a:gd name="T6" fmla="*/ 0 w 106"/>
                    <a:gd name="T7" fmla="*/ 200 h 218"/>
                    <a:gd name="T8" fmla="*/ 78 w 106"/>
                    <a:gd name="T9" fmla="*/ 0 h 218"/>
                    <a:gd name="T10" fmla="*/ 106 w 106"/>
                    <a:gd name="T11" fmla="*/ 40 h 218"/>
                  </a:gdLst>
                  <a:ahLst/>
                  <a:cxnLst>
                    <a:cxn ang="0">
                      <a:pos x="T0" y="T1"/>
                    </a:cxn>
                    <a:cxn ang="0">
                      <a:pos x="T2" y="T3"/>
                    </a:cxn>
                    <a:cxn ang="0">
                      <a:pos x="T4" y="T5"/>
                    </a:cxn>
                    <a:cxn ang="0">
                      <a:pos x="T6" y="T7"/>
                    </a:cxn>
                    <a:cxn ang="0">
                      <a:pos x="T8" y="T9"/>
                    </a:cxn>
                    <a:cxn ang="0">
                      <a:pos x="T10" y="T11"/>
                    </a:cxn>
                  </a:cxnLst>
                  <a:rect l="0" t="0" r="r" b="b"/>
                  <a:pathLst>
                    <a:path w="106" h="218">
                      <a:moveTo>
                        <a:pt x="106" y="40"/>
                      </a:moveTo>
                      <a:lnTo>
                        <a:pt x="46" y="195"/>
                      </a:lnTo>
                      <a:lnTo>
                        <a:pt x="12" y="218"/>
                      </a:lnTo>
                      <a:lnTo>
                        <a:pt x="0" y="200"/>
                      </a:lnTo>
                      <a:lnTo>
                        <a:pt x="78"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01" name="Freeform 389"/>
                <p:cNvSpPr>
                  <a:spLocks noChangeAspect="1"/>
                </p:cNvSpPr>
                <p:nvPr/>
              </p:nvSpPr>
              <p:spPr bwMode="auto">
                <a:xfrm>
                  <a:off x="460" y="852"/>
                  <a:ext cx="35" cy="79"/>
                </a:xfrm>
                <a:custGeom>
                  <a:avLst/>
                  <a:gdLst>
                    <a:gd name="T0" fmla="*/ 106 w 106"/>
                    <a:gd name="T1" fmla="*/ 40 h 238"/>
                    <a:gd name="T2" fmla="*/ 30 w 106"/>
                    <a:gd name="T3" fmla="*/ 236 h 238"/>
                    <a:gd name="T4" fmla="*/ 26 w 106"/>
                    <a:gd name="T5" fmla="*/ 238 h 238"/>
                    <a:gd name="T6" fmla="*/ 0 w 106"/>
                    <a:gd name="T7" fmla="*/ 200 h 238"/>
                    <a:gd name="T8" fmla="*/ 77 w 106"/>
                    <a:gd name="T9" fmla="*/ 0 h 238"/>
                    <a:gd name="T10" fmla="*/ 106 w 106"/>
                    <a:gd name="T11" fmla="*/ 40 h 238"/>
                  </a:gdLst>
                  <a:ahLst/>
                  <a:cxnLst>
                    <a:cxn ang="0">
                      <a:pos x="T0" y="T1"/>
                    </a:cxn>
                    <a:cxn ang="0">
                      <a:pos x="T2" y="T3"/>
                    </a:cxn>
                    <a:cxn ang="0">
                      <a:pos x="T4" y="T5"/>
                    </a:cxn>
                    <a:cxn ang="0">
                      <a:pos x="T6" y="T7"/>
                    </a:cxn>
                    <a:cxn ang="0">
                      <a:pos x="T8" y="T9"/>
                    </a:cxn>
                    <a:cxn ang="0">
                      <a:pos x="T10" y="T11"/>
                    </a:cxn>
                  </a:cxnLst>
                  <a:rect l="0" t="0" r="r" b="b"/>
                  <a:pathLst>
                    <a:path w="106" h="238">
                      <a:moveTo>
                        <a:pt x="106" y="40"/>
                      </a:moveTo>
                      <a:lnTo>
                        <a:pt x="30" y="236"/>
                      </a:lnTo>
                      <a:lnTo>
                        <a:pt x="26" y="238"/>
                      </a:lnTo>
                      <a:lnTo>
                        <a:pt x="0" y="200"/>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02" name="Freeform 390"/>
                <p:cNvSpPr>
                  <a:spLocks noChangeAspect="1"/>
                </p:cNvSpPr>
                <p:nvPr/>
              </p:nvSpPr>
              <p:spPr bwMode="auto">
                <a:xfrm>
                  <a:off x="455" y="845"/>
                  <a:ext cx="36" cy="80"/>
                </a:xfrm>
                <a:custGeom>
                  <a:avLst/>
                  <a:gdLst>
                    <a:gd name="T0" fmla="*/ 107 w 107"/>
                    <a:gd name="T1" fmla="*/ 39 h 239"/>
                    <a:gd name="T2" fmla="*/ 29 w 107"/>
                    <a:gd name="T3" fmla="*/ 239 h 239"/>
                    <a:gd name="T4" fmla="*/ 0 w 107"/>
                    <a:gd name="T5" fmla="*/ 198 h 239"/>
                    <a:gd name="T6" fmla="*/ 79 w 107"/>
                    <a:gd name="T7" fmla="*/ 0 h 239"/>
                    <a:gd name="T8" fmla="*/ 107 w 107"/>
                    <a:gd name="T9" fmla="*/ 39 h 239"/>
                  </a:gdLst>
                  <a:ahLst/>
                  <a:cxnLst>
                    <a:cxn ang="0">
                      <a:pos x="T0" y="T1"/>
                    </a:cxn>
                    <a:cxn ang="0">
                      <a:pos x="T2" y="T3"/>
                    </a:cxn>
                    <a:cxn ang="0">
                      <a:pos x="T4" y="T5"/>
                    </a:cxn>
                    <a:cxn ang="0">
                      <a:pos x="T6" y="T7"/>
                    </a:cxn>
                    <a:cxn ang="0">
                      <a:pos x="T8" y="T9"/>
                    </a:cxn>
                  </a:cxnLst>
                  <a:rect l="0" t="0" r="r" b="b"/>
                  <a:pathLst>
                    <a:path w="107" h="239">
                      <a:moveTo>
                        <a:pt x="107" y="39"/>
                      </a:moveTo>
                      <a:lnTo>
                        <a:pt x="29" y="239"/>
                      </a:lnTo>
                      <a:lnTo>
                        <a:pt x="0" y="198"/>
                      </a:lnTo>
                      <a:lnTo>
                        <a:pt x="79" y="0"/>
                      </a:lnTo>
                      <a:lnTo>
                        <a:pt x="107"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03" name="Freeform 391"/>
                <p:cNvSpPr>
                  <a:spLocks noChangeAspect="1"/>
                </p:cNvSpPr>
                <p:nvPr/>
              </p:nvSpPr>
              <p:spPr bwMode="auto">
                <a:xfrm>
                  <a:off x="450" y="838"/>
                  <a:ext cx="36" cy="80"/>
                </a:xfrm>
                <a:custGeom>
                  <a:avLst/>
                  <a:gdLst>
                    <a:gd name="T0" fmla="*/ 106 w 106"/>
                    <a:gd name="T1" fmla="*/ 40 h 240"/>
                    <a:gd name="T2" fmla="*/ 29 w 106"/>
                    <a:gd name="T3" fmla="*/ 240 h 240"/>
                    <a:gd name="T4" fmla="*/ 0 w 106"/>
                    <a:gd name="T5" fmla="*/ 200 h 240"/>
                    <a:gd name="T6" fmla="*/ 78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9" y="240"/>
                      </a:lnTo>
                      <a:lnTo>
                        <a:pt x="0" y="200"/>
                      </a:lnTo>
                      <a:lnTo>
                        <a:pt x="78"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04" name="Freeform 392"/>
                <p:cNvSpPr>
                  <a:spLocks noChangeAspect="1"/>
                </p:cNvSpPr>
                <p:nvPr/>
              </p:nvSpPr>
              <p:spPr bwMode="auto">
                <a:xfrm>
                  <a:off x="446" y="832"/>
                  <a:ext cx="35" cy="79"/>
                </a:xfrm>
                <a:custGeom>
                  <a:avLst/>
                  <a:gdLst>
                    <a:gd name="T0" fmla="*/ 108 w 108"/>
                    <a:gd name="T1" fmla="*/ 41 h 239"/>
                    <a:gd name="T2" fmla="*/ 29 w 108"/>
                    <a:gd name="T3" fmla="*/ 239 h 239"/>
                    <a:gd name="T4" fmla="*/ 0 w 108"/>
                    <a:gd name="T5" fmla="*/ 200 h 239"/>
                    <a:gd name="T6" fmla="*/ 79 w 108"/>
                    <a:gd name="T7" fmla="*/ 0 h 239"/>
                    <a:gd name="T8" fmla="*/ 108 w 108"/>
                    <a:gd name="T9" fmla="*/ 41 h 239"/>
                  </a:gdLst>
                  <a:ahLst/>
                  <a:cxnLst>
                    <a:cxn ang="0">
                      <a:pos x="T0" y="T1"/>
                    </a:cxn>
                    <a:cxn ang="0">
                      <a:pos x="T2" y="T3"/>
                    </a:cxn>
                    <a:cxn ang="0">
                      <a:pos x="T4" y="T5"/>
                    </a:cxn>
                    <a:cxn ang="0">
                      <a:pos x="T6" y="T7"/>
                    </a:cxn>
                    <a:cxn ang="0">
                      <a:pos x="T8" y="T9"/>
                    </a:cxn>
                  </a:cxnLst>
                  <a:rect l="0" t="0" r="r" b="b"/>
                  <a:pathLst>
                    <a:path w="108" h="239">
                      <a:moveTo>
                        <a:pt x="108" y="41"/>
                      </a:moveTo>
                      <a:lnTo>
                        <a:pt x="29" y="239"/>
                      </a:lnTo>
                      <a:lnTo>
                        <a:pt x="0" y="200"/>
                      </a:lnTo>
                      <a:lnTo>
                        <a:pt x="79" y="0"/>
                      </a:lnTo>
                      <a:lnTo>
                        <a:pt x="108"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05" name="Freeform 393"/>
                <p:cNvSpPr>
                  <a:spLocks noChangeAspect="1"/>
                </p:cNvSpPr>
                <p:nvPr/>
              </p:nvSpPr>
              <p:spPr bwMode="auto">
                <a:xfrm>
                  <a:off x="441" y="825"/>
                  <a:ext cx="35" cy="80"/>
                </a:xfrm>
                <a:custGeom>
                  <a:avLst/>
                  <a:gdLst>
                    <a:gd name="T0" fmla="*/ 107 w 107"/>
                    <a:gd name="T1" fmla="*/ 40 h 240"/>
                    <a:gd name="T2" fmla="*/ 29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06" name="Freeform 394"/>
                <p:cNvSpPr>
                  <a:spLocks noChangeAspect="1"/>
                </p:cNvSpPr>
                <p:nvPr/>
              </p:nvSpPr>
              <p:spPr bwMode="auto">
                <a:xfrm>
                  <a:off x="436" y="818"/>
                  <a:ext cx="36" cy="80"/>
                </a:xfrm>
                <a:custGeom>
                  <a:avLst/>
                  <a:gdLst>
                    <a:gd name="T0" fmla="*/ 107 w 107"/>
                    <a:gd name="T1" fmla="*/ 40 h 240"/>
                    <a:gd name="T2" fmla="*/ 28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8"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07" name="Freeform 395"/>
                <p:cNvSpPr>
                  <a:spLocks noChangeAspect="1"/>
                </p:cNvSpPr>
                <p:nvPr/>
              </p:nvSpPr>
              <p:spPr bwMode="auto">
                <a:xfrm>
                  <a:off x="432" y="812"/>
                  <a:ext cx="35" cy="80"/>
                </a:xfrm>
                <a:custGeom>
                  <a:avLst/>
                  <a:gdLst>
                    <a:gd name="T0" fmla="*/ 106 w 106"/>
                    <a:gd name="T1" fmla="*/ 40 h 240"/>
                    <a:gd name="T2" fmla="*/ 28 w 106"/>
                    <a:gd name="T3" fmla="*/ 240 h 240"/>
                    <a:gd name="T4" fmla="*/ 0 w 106"/>
                    <a:gd name="T5" fmla="*/ 199 h 240"/>
                    <a:gd name="T6" fmla="*/ 78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8" y="240"/>
                      </a:lnTo>
                      <a:lnTo>
                        <a:pt x="0" y="199"/>
                      </a:lnTo>
                      <a:lnTo>
                        <a:pt x="78"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08" name="Freeform 396"/>
                <p:cNvSpPr>
                  <a:spLocks noChangeAspect="1"/>
                </p:cNvSpPr>
                <p:nvPr/>
              </p:nvSpPr>
              <p:spPr bwMode="auto">
                <a:xfrm>
                  <a:off x="427" y="805"/>
                  <a:ext cx="35" cy="80"/>
                </a:xfrm>
                <a:custGeom>
                  <a:avLst/>
                  <a:gdLst>
                    <a:gd name="T0" fmla="*/ 106 w 106"/>
                    <a:gd name="T1" fmla="*/ 40 h 240"/>
                    <a:gd name="T2" fmla="*/ 28 w 106"/>
                    <a:gd name="T3" fmla="*/ 240 h 240"/>
                    <a:gd name="T4" fmla="*/ 0 w 106"/>
                    <a:gd name="T5" fmla="*/ 199 h 240"/>
                    <a:gd name="T6" fmla="*/ 77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8" y="240"/>
                      </a:lnTo>
                      <a:lnTo>
                        <a:pt x="0" y="199"/>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09" name="Freeform 397"/>
                <p:cNvSpPr>
                  <a:spLocks noChangeAspect="1"/>
                </p:cNvSpPr>
                <p:nvPr/>
              </p:nvSpPr>
              <p:spPr bwMode="auto">
                <a:xfrm>
                  <a:off x="422" y="798"/>
                  <a:ext cx="35" cy="80"/>
                </a:xfrm>
                <a:custGeom>
                  <a:avLst/>
                  <a:gdLst>
                    <a:gd name="T0" fmla="*/ 107 w 107"/>
                    <a:gd name="T1" fmla="*/ 40 h 239"/>
                    <a:gd name="T2" fmla="*/ 29 w 107"/>
                    <a:gd name="T3" fmla="*/ 239 h 239"/>
                    <a:gd name="T4" fmla="*/ 0 w 107"/>
                    <a:gd name="T5" fmla="*/ 200 h 239"/>
                    <a:gd name="T6" fmla="*/ 79 w 107"/>
                    <a:gd name="T7" fmla="*/ 0 h 239"/>
                    <a:gd name="T8" fmla="*/ 107 w 107"/>
                    <a:gd name="T9" fmla="*/ 40 h 239"/>
                  </a:gdLst>
                  <a:ahLst/>
                  <a:cxnLst>
                    <a:cxn ang="0">
                      <a:pos x="T0" y="T1"/>
                    </a:cxn>
                    <a:cxn ang="0">
                      <a:pos x="T2" y="T3"/>
                    </a:cxn>
                    <a:cxn ang="0">
                      <a:pos x="T4" y="T5"/>
                    </a:cxn>
                    <a:cxn ang="0">
                      <a:pos x="T6" y="T7"/>
                    </a:cxn>
                    <a:cxn ang="0">
                      <a:pos x="T8" y="T9"/>
                    </a:cxn>
                  </a:cxnLst>
                  <a:rect l="0" t="0" r="r" b="b"/>
                  <a:pathLst>
                    <a:path w="107" h="239">
                      <a:moveTo>
                        <a:pt x="107" y="40"/>
                      </a:moveTo>
                      <a:lnTo>
                        <a:pt x="29" y="239"/>
                      </a:lnTo>
                      <a:lnTo>
                        <a:pt x="0" y="200"/>
                      </a:lnTo>
                      <a:lnTo>
                        <a:pt x="79"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10" name="Freeform 398"/>
                <p:cNvSpPr>
                  <a:spLocks noChangeAspect="1"/>
                </p:cNvSpPr>
                <p:nvPr/>
              </p:nvSpPr>
              <p:spPr bwMode="auto">
                <a:xfrm>
                  <a:off x="418" y="792"/>
                  <a:ext cx="35" cy="79"/>
                </a:xfrm>
                <a:custGeom>
                  <a:avLst/>
                  <a:gdLst>
                    <a:gd name="T0" fmla="*/ 106 w 106"/>
                    <a:gd name="T1" fmla="*/ 40 h 239"/>
                    <a:gd name="T2" fmla="*/ 29 w 106"/>
                    <a:gd name="T3" fmla="*/ 239 h 239"/>
                    <a:gd name="T4" fmla="*/ 0 w 106"/>
                    <a:gd name="T5" fmla="*/ 200 h 239"/>
                    <a:gd name="T6" fmla="*/ 78 w 106"/>
                    <a:gd name="T7" fmla="*/ 0 h 239"/>
                    <a:gd name="T8" fmla="*/ 106 w 106"/>
                    <a:gd name="T9" fmla="*/ 40 h 239"/>
                  </a:gdLst>
                  <a:ahLst/>
                  <a:cxnLst>
                    <a:cxn ang="0">
                      <a:pos x="T0" y="T1"/>
                    </a:cxn>
                    <a:cxn ang="0">
                      <a:pos x="T2" y="T3"/>
                    </a:cxn>
                    <a:cxn ang="0">
                      <a:pos x="T4" y="T5"/>
                    </a:cxn>
                    <a:cxn ang="0">
                      <a:pos x="T6" y="T7"/>
                    </a:cxn>
                    <a:cxn ang="0">
                      <a:pos x="T8" y="T9"/>
                    </a:cxn>
                  </a:cxnLst>
                  <a:rect l="0" t="0" r="r" b="b"/>
                  <a:pathLst>
                    <a:path w="106" h="239">
                      <a:moveTo>
                        <a:pt x="106" y="40"/>
                      </a:moveTo>
                      <a:lnTo>
                        <a:pt x="29" y="239"/>
                      </a:lnTo>
                      <a:lnTo>
                        <a:pt x="0" y="200"/>
                      </a:lnTo>
                      <a:lnTo>
                        <a:pt x="78"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11" name="Freeform 399"/>
                <p:cNvSpPr>
                  <a:spLocks noChangeAspect="1"/>
                </p:cNvSpPr>
                <p:nvPr/>
              </p:nvSpPr>
              <p:spPr bwMode="auto">
                <a:xfrm>
                  <a:off x="412" y="785"/>
                  <a:ext cx="36" cy="80"/>
                </a:xfrm>
                <a:custGeom>
                  <a:avLst/>
                  <a:gdLst>
                    <a:gd name="T0" fmla="*/ 108 w 108"/>
                    <a:gd name="T1" fmla="*/ 40 h 240"/>
                    <a:gd name="T2" fmla="*/ 29 w 108"/>
                    <a:gd name="T3" fmla="*/ 240 h 240"/>
                    <a:gd name="T4" fmla="*/ 0 w 108"/>
                    <a:gd name="T5" fmla="*/ 200 h 240"/>
                    <a:gd name="T6" fmla="*/ 79 w 108"/>
                    <a:gd name="T7" fmla="*/ 0 h 240"/>
                    <a:gd name="T8" fmla="*/ 108 w 108"/>
                    <a:gd name="T9" fmla="*/ 40 h 240"/>
                  </a:gdLst>
                  <a:ahLst/>
                  <a:cxnLst>
                    <a:cxn ang="0">
                      <a:pos x="T0" y="T1"/>
                    </a:cxn>
                    <a:cxn ang="0">
                      <a:pos x="T2" y="T3"/>
                    </a:cxn>
                    <a:cxn ang="0">
                      <a:pos x="T4" y="T5"/>
                    </a:cxn>
                    <a:cxn ang="0">
                      <a:pos x="T6" y="T7"/>
                    </a:cxn>
                    <a:cxn ang="0">
                      <a:pos x="T8" y="T9"/>
                    </a:cxn>
                  </a:cxnLst>
                  <a:rect l="0" t="0" r="r" b="b"/>
                  <a:pathLst>
                    <a:path w="108" h="240">
                      <a:moveTo>
                        <a:pt x="108" y="40"/>
                      </a:moveTo>
                      <a:lnTo>
                        <a:pt x="29" y="240"/>
                      </a:lnTo>
                      <a:lnTo>
                        <a:pt x="0" y="200"/>
                      </a:lnTo>
                      <a:lnTo>
                        <a:pt x="79" y="0"/>
                      </a:lnTo>
                      <a:lnTo>
                        <a:pt x="108"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12" name="Freeform 400"/>
                <p:cNvSpPr>
                  <a:spLocks noChangeAspect="1"/>
                </p:cNvSpPr>
                <p:nvPr/>
              </p:nvSpPr>
              <p:spPr bwMode="auto">
                <a:xfrm>
                  <a:off x="407" y="778"/>
                  <a:ext cx="36" cy="80"/>
                </a:xfrm>
                <a:custGeom>
                  <a:avLst/>
                  <a:gdLst>
                    <a:gd name="T0" fmla="*/ 107 w 107"/>
                    <a:gd name="T1" fmla="*/ 40 h 240"/>
                    <a:gd name="T2" fmla="*/ 29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13" name="Freeform 401"/>
                <p:cNvSpPr>
                  <a:spLocks noChangeAspect="1"/>
                </p:cNvSpPr>
                <p:nvPr/>
              </p:nvSpPr>
              <p:spPr bwMode="auto">
                <a:xfrm>
                  <a:off x="404" y="772"/>
                  <a:ext cx="35" cy="80"/>
                </a:xfrm>
                <a:custGeom>
                  <a:avLst/>
                  <a:gdLst>
                    <a:gd name="T0" fmla="*/ 107 w 107"/>
                    <a:gd name="T1" fmla="*/ 39 h 239"/>
                    <a:gd name="T2" fmla="*/ 28 w 107"/>
                    <a:gd name="T3" fmla="*/ 239 h 239"/>
                    <a:gd name="T4" fmla="*/ 0 w 107"/>
                    <a:gd name="T5" fmla="*/ 198 h 239"/>
                    <a:gd name="T6" fmla="*/ 78 w 107"/>
                    <a:gd name="T7" fmla="*/ 0 h 239"/>
                    <a:gd name="T8" fmla="*/ 107 w 107"/>
                    <a:gd name="T9" fmla="*/ 39 h 239"/>
                  </a:gdLst>
                  <a:ahLst/>
                  <a:cxnLst>
                    <a:cxn ang="0">
                      <a:pos x="T0" y="T1"/>
                    </a:cxn>
                    <a:cxn ang="0">
                      <a:pos x="T2" y="T3"/>
                    </a:cxn>
                    <a:cxn ang="0">
                      <a:pos x="T4" y="T5"/>
                    </a:cxn>
                    <a:cxn ang="0">
                      <a:pos x="T6" y="T7"/>
                    </a:cxn>
                    <a:cxn ang="0">
                      <a:pos x="T8" y="T9"/>
                    </a:cxn>
                  </a:cxnLst>
                  <a:rect l="0" t="0" r="r" b="b"/>
                  <a:pathLst>
                    <a:path w="107" h="239">
                      <a:moveTo>
                        <a:pt x="107" y="39"/>
                      </a:moveTo>
                      <a:lnTo>
                        <a:pt x="28" y="239"/>
                      </a:lnTo>
                      <a:lnTo>
                        <a:pt x="0" y="198"/>
                      </a:lnTo>
                      <a:lnTo>
                        <a:pt x="78" y="0"/>
                      </a:lnTo>
                      <a:lnTo>
                        <a:pt x="107"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14" name="Freeform 402"/>
                <p:cNvSpPr>
                  <a:spLocks noChangeAspect="1"/>
                </p:cNvSpPr>
                <p:nvPr/>
              </p:nvSpPr>
              <p:spPr bwMode="auto">
                <a:xfrm>
                  <a:off x="398" y="765"/>
                  <a:ext cx="35" cy="80"/>
                </a:xfrm>
                <a:custGeom>
                  <a:avLst/>
                  <a:gdLst>
                    <a:gd name="T0" fmla="*/ 106 w 106"/>
                    <a:gd name="T1" fmla="*/ 40 h 240"/>
                    <a:gd name="T2" fmla="*/ 28 w 106"/>
                    <a:gd name="T3" fmla="*/ 240 h 240"/>
                    <a:gd name="T4" fmla="*/ 0 w 106"/>
                    <a:gd name="T5" fmla="*/ 200 h 240"/>
                    <a:gd name="T6" fmla="*/ 77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8" y="240"/>
                      </a:lnTo>
                      <a:lnTo>
                        <a:pt x="0" y="200"/>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15" name="Freeform 403"/>
                <p:cNvSpPr>
                  <a:spLocks noChangeAspect="1"/>
                </p:cNvSpPr>
                <p:nvPr/>
              </p:nvSpPr>
              <p:spPr bwMode="auto">
                <a:xfrm>
                  <a:off x="393" y="759"/>
                  <a:ext cx="36" cy="79"/>
                </a:xfrm>
                <a:custGeom>
                  <a:avLst/>
                  <a:gdLst>
                    <a:gd name="T0" fmla="*/ 106 w 106"/>
                    <a:gd name="T1" fmla="*/ 41 h 239"/>
                    <a:gd name="T2" fmla="*/ 28 w 106"/>
                    <a:gd name="T3" fmla="*/ 239 h 239"/>
                    <a:gd name="T4" fmla="*/ 0 w 106"/>
                    <a:gd name="T5" fmla="*/ 200 h 239"/>
                    <a:gd name="T6" fmla="*/ 77 w 106"/>
                    <a:gd name="T7" fmla="*/ 0 h 239"/>
                    <a:gd name="T8" fmla="*/ 106 w 106"/>
                    <a:gd name="T9" fmla="*/ 41 h 239"/>
                  </a:gdLst>
                  <a:ahLst/>
                  <a:cxnLst>
                    <a:cxn ang="0">
                      <a:pos x="T0" y="T1"/>
                    </a:cxn>
                    <a:cxn ang="0">
                      <a:pos x="T2" y="T3"/>
                    </a:cxn>
                    <a:cxn ang="0">
                      <a:pos x="T4" y="T5"/>
                    </a:cxn>
                    <a:cxn ang="0">
                      <a:pos x="T6" y="T7"/>
                    </a:cxn>
                    <a:cxn ang="0">
                      <a:pos x="T8" y="T9"/>
                    </a:cxn>
                  </a:cxnLst>
                  <a:rect l="0" t="0" r="r" b="b"/>
                  <a:pathLst>
                    <a:path w="106" h="239">
                      <a:moveTo>
                        <a:pt x="106" y="41"/>
                      </a:moveTo>
                      <a:lnTo>
                        <a:pt x="28" y="239"/>
                      </a:lnTo>
                      <a:lnTo>
                        <a:pt x="0" y="200"/>
                      </a:lnTo>
                      <a:lnTo>
                        <a:pt x="77" y="0"/>
                      </a:lnTo>
                      <a:lnTo>
                        <a:pt x="106"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16" name="Freeform 404"/>
                <p:cNvSpPr>
                  <a:spLocks noChangeAspect="1"/>
                </p:cNvSpPr>
                <p:nvPr/>
              </p:nvSpPr>
              <p:spPr bwMode="auto">
                <a:xfrm>
                  <a:off x="389" y="753"/>
                  <a:ext cx="36" cy="79"/>
                </a:xfrm>
                <a:custGeom>
                  <a:avLst/>
                  <a:gdLst>
                    <a:gd name="T0" fmla="*/ 106 w 106"/>
                    <a:gd name="T1" fmla="*/ 40 h 240"/>
                    <a:gd name="T2" fmla="*/ 29 w 106"/>
                    <a:gd name="T3" fmla="*/ 240 h 240"/>
                    <a:gd name="T4" fmla="*/ 0 w 106"/>
                    <a:gd name="T5" fmla="*/ 200 h 240"/>
                    <a:gd name="T6" fmla="*/ 79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9" y="240"/>
                      </a:lnTo>
                      <a:lnTo>
                        <a:pt x="0" y="200"/>
                      </a:lnTo>
                      <a:lnTo>
                        <a:pt x="79"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17" name="Freeform 405"/>
                <p:cNvSpPr>
                  <a:spLocks noChangeAspect="1"/>
                </p:cNvSpPr>
                <p:nvPr/>
              </p:nvSpPr>
              <p:spPr bwMode="auto">
                <a:xfrm>
                  <a:off x="384" y="746"/>
                  <a:ext cx="35" cy="79"/>
                </a:xfrm>
                <a:custGeom>
                  <a:avLst/>
                  <a:gdLst>
                    <a:gd name="T0" fmla="*/ 106 w 106"/>
                    <a:gd name="T1" fmla="*/ 40 h 240"/>
                    <a:gd name="T2" fmla="*/ 29 w 106"/>
                    <a:gd name="T3" fmla="*/ 240 h 240"/>
                    <a:gd name="T4" fmla="*/ 0 w 106"/>
                    <a:gd name="T5" fmla="*/ 200 h 240"/>
                    <a:gd name="T6" fmla="*/ 78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9" y="240"/>
                      </a:lnTo>
                      <a:lnTo>
                        <a:pt x="0" y="200"/>
                      </a:lnTo>
                      <a:lnTo>
                        <a:pt x="78"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18" name="Freeform 406"/>
                <p:cNvSpPr>
                  <a:spLocks noChangeAspect="1"/>
                </p:cNvSpPr>
                <p:nvPr/>
              </p:nvSpPr>
              <p:spPr bwMode="auto">
                <a:xfrm>
                  <a:off x="379" y="740"/>
                  <a:ext cx="36" cy="78"/>
                </a:xfrm>
                <a:custGeom>
                  <a:avLst/>
                  <a:gdLst>
                    <a:gd name="T0" fmla="*/ 108 w 108"/>
                    <a:gd name="T1" fmla="*/ 40 h 240"/>
                    <a:gd name="T2" fmla="*/ 29 w 108"/>
                    <a:gd name="T3" fmla="*/ 240 h 240"/>
                    <a:gd name="T4" fmla="*/ 0 w 108"/>
                    <a:gd name="T5" fmla="*/ 199 h 240"/>
                    <a:gd name="T6" fmla="*/ 79 w 108"/>
                    <a:gd name="T7" fmla="*/ 0 h 240"/>
                    <a:gd name="T8" fmla="*/ 108 w 108"/>
                    <a:gd name="T9" fmla="*/ 40 h 240"/>
                  </a:gdLst>
                  <a:ahLst/>
                  <a:cxnLst>
                    <a:cxn ang="0">
                      <a:pos x="T0" y="T1"/>
                    </a:cxn>
                    <a:cxn ang="0">
                      <a:pos x="T2" y="T3"/>
                    </a:cxn>
                    <a:cxn ang="0">
                      <a:pos x="T4" y="T5"/>
                    </a:cxn>
                    <a:cxn ang="0">
                      <a:pos x="T6" y="T7"/>
                    </a:cxn>
                    <a:cxn ang="0">
                      <a:pos x="T8" y="T9"/>
                    </a:cxn>
                  </a:cxnLst>
                  <a:rect l="0" t="0" r="r" b="b"/>
                  <a:pathLst>
                    <a:path w="108" h="240">
                      <a:moveTo>
                        <a:pt x="108" y="40"/>
                      </a:moveTo>
                      <a:lnTo>
                        <a:pt x="29" y="240"/>
                      </a:lnTo>
                      <a:lnTo>
                        <a:pt x="0" y="199"/>
                      </a:lnTo>
                      <a:lnTo>
                        <a:pt x="79" y="0"/>
                      </a:lnTo>
                      <a:lnTo>
                        <a:pt x="108"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19" name="Freeform 407"/>
                <p:cNvSpPr>
                  <a:spLocks noChangeAspect="1"/>
                </p:cNvSpPr>
                <p:nvPr/>
              </p:nvSpPr>
              <p:spPr bwMode="auto">
                <a:xfrm>
                  <a:off x="375" y="733"/>
                  <a:ext cx="36" cy="79"/>
                </a:xfrm>
                <a:custGeom>
                  <a:avLst/>
                  <a:gdLst>
                    <a:gd name="T0" fmla="*/ 107 w 107"/>
                    <a:gd name="T1" fmla="*/ 40 h 240"/>
                    <a:gd name="T2" fmla="*/ 29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20" name="Freeform 408"/>
                <p:cNvSpPr>
                  <a:spLocks noChangeAspect="1"/>
                </p:cNvSpPr>
                <p:nvPr/>
              </p:nvSpPr>
              <p:spPr bwMode="auto">
                <a:xfrm>
                  <a:off x="369" y="727"/>
                  <a:ext cx="36" cy="78"/>
                </a:xfrm>
                <a:custGeom>
                  <a:avLst/>
                  <a:gdLst>
                    <a:gd name="T0" fmla="*/ 108 w 108"/>
                    <a:gd name="T1" fmla="*/ 40 h 239"/>
                    <a:gd name="T2" fmla="*/ 29 w 108"/>
                    <a:gd name="T3" fmla="*/ 239 h 239"/>
                    <a:gd name="T4" fmla="*/ 0 w 108"/>
                    <a:gd name="T5" fmla="*/ 200 h 239"/>
                    <a:gd name="T6" fmla="*/ 79 w 108"/>
                    <a:gd name="T7" fmla="*/ 0 h 239"/>
                    <a:gd name="T8" fmla="*/ 108 w 108"/>
                    <a:gd name="T9" fmla="*/ 40 h 239"/>
                  </a:gdLst>
                  <a:ahLst/>
                  <a:cxnLst>
                    <a:cxn ang="0">
                      <a:pos x="T0" y="T1"/>
                    </a:cxn>
                    <a:cxn ang="0">
                      <a:pos x="T2" y="T3"/>
                    </a:cxn>
                    <a:cxn ang="0">
                      <a:pos x="T4" y="T5"/>
                    </a:cxn>
                    <a:cxn ang="0">
                      <a:pos x="T6" y="T7"/>
                    </a:cxn>
                    <a:cxn ang="0">
                      <a:pos x="T8" y="T9"/>
                    </a:cxn>
                  </a:cxnLst>
                  <a:rect l="0" t="0" r="r" b="b"/>
                  <a:pathLst>
                    <a:path w="108" h="239">
                      <a:moveTo>
                        <a:pt x="108" y="40"/>
                      </a:moveTo>
                      <a:lnTo>
                        <a:pt x="29" y="239"/>
                      </a:lnTo>
                      <a:lnTo>
                        <a:pt x="0" y="200"/>
                      </a:lnTo>
                      <a:lnTo>
                        <a:pt x="79" y="0"/>
                      </a:lnTo>
                      <a:lnTo>
                        <a:pt x="108"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21" name="Freeform 409"/>
                <p:cNvSpPr>
                  <a:spLocks noChangeAspect="1"/>
                </p:cNvSpPr>
                <p:nvPr/>
              </p:nvSpPr>
              <p:spPr bwMode="auto">
                <a:xfrm>
                  <a:off x="364" y="721"/>
                  <a:ext cx="36" cy="77"/>
                </a:xfrm>
                <a:custGeom>
                  <a:avLst/>
                  <a:gdLst>
                    <a:gd name="T0" fmla="*/ 107 w 107"/>
                    <a:gd name="T1" fmla="*/ 40 h 240"/>
                    <a:gd name="T2" fmla="*/ 29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22" name="Freeform 410"/>
                <p:cNvSpPr>
                  <a:spLocks noChangeAspect="1"/>
                </p:cNvSpPr>
                <p:nvPr/>
              </p:nvSpPr>
              <p:spPr bwMode="auto">
                <a:xfrm>
                  <a:off x="361" y="714"/>
                  <a:ext cx="35" cy="78"/>
                </a:xfrm>
                <a:custGeom>
                  <a:avLst/>
                  <a:gdLst>
                    <a:gd name="T0" fmla="*/ 106 w 106"/>
                    <a:gd name="T1" fmla="*/ 40 h 240"/>
                    <a:gd name="T2" fmla="*/ 27 w 106"/>
                    <a:gd name="T3" fmla="*/ 240 h 240"/>
                    <a:gd name="T4" fmla="*/ 0 w 106"/>
                    <a:gd name="T5" fmla="*/ 200 h 240"/>
                    <a:gd name="T6" fmla="*/ 77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7" y="240"/>
                      </a:lnTo>
                      <a:lnTo>
                        <a:pt x="0" y="200"/>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23" name="Freeform 411"/>
                <p:cNvSpPr>
                  <a:spLocks noChangeAspect="1"/>
                </p:cNvSpPr>
                <p:nvPr/>
              </p:nvSpPr>
              <p:spPr bwMode="auto">
                <a:xfrm>
                  <a:off x="355" y="708"/>
                  <a:ext cx="35" cy="77"/>
                </a:xfrm>
                <a:custGeom>
                  <a:avLst/>
                  <a:gdLst>
                    <a:gd name="T0" fmla="*/ 106 w 106"/>
                    <a:gd name="T1" fmla="*/ 40 h 240"/>
                    <a:gd name="T2" fmla="*/ 28 w 106"/>
                    <a:gd name="T3" fmla="*/ 240 h 240"/>
                    <a:gd name="T4" fmla="*/ 0 w 106"/>
                    <a:gd name="T5" fmla="*/ 199 h 240"/>
                    <a:gd name="T6" fmla="*/ 77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8" y="240"/>
                      </a:lnTo>
                      <a:lnTo>
                        <a:pt x="0" y="199"/>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24" name="Freeform 412"/>
                <p:cNvSpPr>
                  <a:spLocks noChangeAspect="1"/>
                </p:cNvSpPr>
                <p:nvPr/>
              </p:nvSpPr>
              <p:spPr bwMode="auto">
                <a:xfrm>
                  <a:off x="350" y="698"/>
                  <a:ext cx="36" cy="79"/>
                </a:xfrm>
                <a:custGeom>
                  <a:avLst/>
                  <a:gdLst>
                    <a:gd name="T0" fmla="*/ 106 w 106"/>
                    <a:gd name="T1" fmla="*/ 40 h 240"/>
                    <a:gd name="T2" fmla="*/ 29 w 106"/>
                    <a:gd name="T3" fmla="*/ 240 h 240"/>
                    <a:gd name="T4" fmla="*/ 0 w 106"/>
                    <a:gd name="T5" fmla="*/ 199 h 240"/>
                    <a:gd name="T6" fmla="*/ 78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9" y="240"/>
                      </a:lnTo>
                      <a:lnTo>
                        <a:pt x="0" y="199"/>
                      </a:lnTo>
                      <a:lnTo>
                        <a:pt x="78"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25" name="Freeform 413"/>
                <p:cNvSpPr>
                  <a:spLocks noChangeAspect="1"/>
                </p:cNvSpPr>
                <p:nvPr/>
              </p:nvSpPr>
              <p:spPr bwMode="auto">
                <a:xfrm>
                  <a:off x="347" y="695"/>
                  <a:ext cx="35" cy="77"/>
                </a:xfrm>
                <a:custGeom>
                  <a:avLst/>
                  <a:gdLst>
                    <a:gd name="T0" fmla="*/ 106 w 106"/>
                    <a:gd name="T1" fmla="*/ 40 h 239"/>
                    <a:gd name="T2" fmla="*/ 29 w 106"/>
                    <a:gd name="T3" fmla="*/ 239 h 239"/>
                    <a:gd name="T4" fmla="*/ 0 w 106"/>
                    <a:gd name="T5" fmla="*/ 200 h 239"/>
                    <a:gd name="T6" fmla="*/ 79 w 106"/>
                    <a:gd name="T7" fmla="*/ 0 h 239"/>
                    <a:gd name="T8" fmla="*/ 106 w 106"/>
                    <a:gd name="T9" fmla="*/ 40 h 239"/>
                  </a:gdLst>
                  <a:ahLst/>
                  <a:cxnLst>
                    <a:cxn ang="0">
                      <a:pos x="T0" y="T1"/>
                    </a:cxn>
                    <a:cxn ang="0">
                      <a:pos x="T2" y="T3"/>
                    </a:cxn>
                    <a:cxn ang="0">
                      <a:pos x="T4" y="T5"/>
                    </a:cxn>
                    <a:cxn ang="0">
                      <a:pos x="T6" y="T7"/>
                    </a:cxn>
                    <a:cxn ang="0">
                      <a:pos x="T8" y="T9"/>
                    </a:cxn>
                  </a:cxnLst>
                  <a:rect l="0" t="0" r="r" b="b"/>
                  <a:pathLst>
                    <a:path w="106" h="239">
                      <a:moveTo>
                        <a:pt x="106" y="40"/>
                      </a:moveTo>
                      <a:lnTo>
                        <a:pt x="29" y="239"/>
                      </a:lnTo>
                      <a:lnTo>
                        <a:pt x="0" y="200"/>
                      </a:lnTo>
                      <a:lnTo>
                        <a:pt x="79"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26" name="Freeform 414"/>
                <p:cNvSpPr>
                  <a:spLocks noChangeAspect="1"/>
                </p:cNvSpPr>
                <p:nvPr/>
              </p:nvSpPr>
              <p:spPr bwMode="auto">
                <a:xfrm>
                  <a:off x="341" y="685"/>
                  <a:ext cx="35" cy="79"/>
                </a:xfrm>
                <a:custGeom>
                  <a:avLst/>
                  <a:gdLst>
                    <a:gd name="T0" fmla="*/ 107 w 107"/>
                    <a:gd name="T1" fmla="*/ 40 h 239"/>
                    <a:gd name="T2" fmla="*/ 29 w 107"/>
                    <a:gd name="T3" fmla="*/ 239 h 239"/>
                    <a:gd name="T4" fmla="*/ 0 w 107"/>
                    <a:gd name="T5" fmla="*/ 200 h 239"/>
                    <a:gd name="T6" fmla="*/ 78 w 107"/>
                    <a:gd name="T7" fmla="*/ 0 h 239"/>
                    <a:gd name="T8" fmla="*/ 107 w 107"/>
                    <a:gd name="T9" fmla="*/ 40 h 239"/>
                  </a:gdLst>
                  <a:ahLst/>
                  <a:cxnLst>
                    <a:cxn ang="0">
                      <a:pos x="T0" y="T1"/>
                    </a:cxn>
                    <a:cxn ang="0">
                      <a:pos x="T2" y="T3"/>
                    </a:cxn>
                    <a:cxn ang="0">
                      <a:pos x="T4" y="T5"/>
                    </a:cxn>
                    <a:cxn ang="0">
                      <a:pos x="T6" y="T7"/>
                    </a:cxn>
                    <a:cxn ang="0">
                      <a:pos x="T8" y="T9"/>
                    </a:cxn>
                  </a:cxnLst>
                  <a:rect l="0" t="0" r="r" b="b"/>
                  <a:pathLst>
                    <a:path w="107" h="239">
                      <a:moveTo>
                        <a:pt x="107" y="40"/>
                      </a:moveTo>
                      <a:lnTo>
                        <a:pt x="29" y="239"/>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27" name="Freeform 415"/>
                <p:cNvSpPr>
                  <a:spLocks noChangeAspect="1"/>
                </p:cNvSpPr>
                <p:nvPr/>
              </p:nvSpPr>
              <p:spPr bwMode="auto">
                <a:xfrm>
                  <a:off x="336" y="678"/>
                  <a:ext cx="36" cy="80"/>
                </a:xfrm>
                <a:custGeom>
                  <a:avLst/>
                  <a:gdLst>
                    <a:gd name="T0" fmla="*/ 108 w 108"/>
                    <a:gd name="T1" fmla="*/ 40 h 240"/>
                    <a:gd name="T2" fmla="*/ 29 w 108"/>
                    <a:gd name="T3" fmla="*/ 240 h 240"/>
                    <a:gd name="T4" fmla="*/ 0 w 108"/>
                    <a:gd name="T5" fmla="*/ 200 h 240"/>
                    <a:gd name="T6" fmla="*/ 79 w 108"/>
                    <a:gd name="T7" fmla="*/ 0 h 240"/>
                    <a:gd name="T8" fmla="*/ 108 w 108"/>
                    <a:gd name="T9" fmla="*/ 40 h 240"/>
                  </a:gdLst>
                  <a:ahLst/>
                  <a:cxnLst>
                    <a:cxn ang="0">
                      <a:pos x="T0" y="T1"/>
                    </a:cxn>
                    <a:cxn ang="0">
                      <a:pos x="T2" y="T3"/>
                    </a:cxn>
                    <a:cxn ang="0">
                      <a:pos x="T4" y="T5"/>
                    </a:cxn>
                    <a:cxn ang="0">
                      <a:pos x="T6" y="T7"/>
                    </a:cxn>
                    <a:cxn ang="0">
                      <a:pos x="T8" y="T9"/>
                    </a:cxn>
                  </a:cxnLst>
                  <a:rect l="0" t="0" r="r" b="b"/>
                  <a:pathLst>
                    <a:path w="108" h="240">
                      <a:moveTo>
                        <a:pt x="108" y="40"/>
                      </a:moveTo>
                      <a:lnTo>
                        <a:pt x="29" y="240"/>
                      </a:lnTo>
                      <a:lnTo>
                        <a:pt x="0" y="200"/>
                      </a:lnTo>
                      <a:lnTo>
                        <a:pt x="79" y="0"/>
                      </a:lnTo>
                      <a:lnTo>
                        <a:pt x="108"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28" name="Freeform 416"/>
                <p:cNvSpPr>
                  <a:spLocks noChangeAspect="1"/>
                </p:cNvSpPr>
                <p:nvPr/>
              </p:nvSpPr>
              <p:spPr bwMode="auto">
                <a:xfrm>
                  <a:off x="333" y="672"/>
                  <a:ext cx="35" cy="80"/>
                </a:xfrm>
                <a:custGeom>
                  <a:avLst/>
                  <a:gdLst>
                    <a:gd name="T0" fmla="*/ 107 w 107"/>
                    <a:gd name="T1" fmla="*/ 40 h 240"/>
                    <a:gd name="T2" fmla="*/ 29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29" name="Freeform 417"/>
                <p:cNvSpPr>
                  <a:spLocks noChangeAspect="1"/>
                </p:cNvSpPr>
                <p:nvPr/>
              </p:nvSpPr>
              <p:spPr bwMode="auto">
                <a:xfrm>
                  <a:off x="326" y="665"/>
                  <a:ext cx="36" cy="80"/>
                </a:xfrm>
                <a:custGeom>
                  <a:avLst/>
                  <a:gdLst>
                    <a:gd name="T0" fmla="*/ 107 w 107"/>
                    <a:gd name="T1" fmla="*/ 41 h 241"/>
                    <a:gd name="T2" fmla="*/ 28 w 107"/>
                    <a:gd name="T3" fmla="*/ 241 h 241"/>
                    <a:gd name="T4" fmla="*/ 0 w 107"/>
                    <a:gd name="T5" fmla="*/ 200 h 241"/>
                    <a:gd name="T6" fmla="*/ 78 w 107"/>
                    <a:gd name="T7" fmla="*/ 0 h 241"/>
                    <a:gd name="T8" fmla="*/ 107 w 107"/>
                    <a:gd name="T9" fmla="*/ 41 h 241"/>
                  </a:gdLst>
                  <a:ahLst/>
                  <a:cxnLst>
                    <a:cxn ang="0">
                      <a:pos x="T0" y="T1"/>
                    </a:cxn>
                    <a:cxn ang="0">
                      <a:pos x="T2" y="T3"/>
                    </a:cxn>
                    <a:cxn ang="0">
                      <a:pos x="T4" y="T5"/>
                    </a:cxn>
                    <a:cxn ang="0">
                      <a:pos x="T6" y="T7"/>
                    </a:cxn>
                    <a:cxn ang="0">
                      <a:pos x="T8" y="T9"/>
                    </a:cxn>
                  </a:cxnLst>
                  <a:rect l="0" t="0" r="r" b="b"/>
                  <a:pathLst>
                    <a:path w="107" h="241">
                      <a:moveTo>
                        <a:pt x="107" y="41"/>
                      </a:moveTo>
                      <a:lnTo>
                        <a:pt x="28" y="241"/>
                      </a:lnTo>
                      <a:lnTo>
                        <a:pt x="0" y="200"/>
                      </a:lnTo>
                      <a:lnTo>
                        <a:pt x="78" y="0"/>
                      </a:lnTo>
                      <a:lnTo>
                        <a:pt x="107"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30" name="Freeform 418"/>
                <p:cNvSpPr>
                  <a:spLocks noChangeAspect="1"/>
                </p:cNvSpPr>
                <p:nvPr/>
              </p:nvSpPr>
              <p:spPr bwMode="auto">
                <a:xfrm>
                  <a:off x="322" y="658"/>
                  <a:ext cx="35" cy="80"/>
                </a:xfrm>
                <a:custGeom>
                  <a:avLst/>
                  <a:gdLst>
                    <a:gd name="T0" fmla="*/ 106 w 106"/>
                    <a:gd name="T1" fmla="*/ 40 h 240"/>
                    <a:gd name="T2" fmla="*/ 28 w 106"/>
                    <a:gd name="T3" fmla="*/ 240 h 240"/>
                    <a:gd name="T4" fmla="*/ 0 w 106"/>
                    <a:gd name="T5" fmla="*/ 200 h 240"/>
                    <a:gd name="T6" fmla="*/ 77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8" y="240"/>
                      </a:lnTo>
                      <a:lnTo>
                        <a:pt x="0" y="200"/>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31" name="Freeform 419"/>
                <p:cNvSpPr>
                  <a:spLocks noChangeAspect="1"/>
                </p:cNvSpPr>
                <p:nvPr/>
              </p:nvSpPr>
              <p:spPr bwMode="auto">
                <a:xfrm>
                  <a:off x="319" y="652"/>
                  <a:ext cx="35" cy="79"/>
                </a:xfrm>
                <a:custGeom>
                  <a:avLst/>
                  <a:gdLst>
                    <a:gd name="T0" fmla="*/ 106 w 106"/>
                    <a:gd name="T1" fmla="*/ 39 h 239"/>
                    <a:gd name="T2" fmla="*/ 28 w 106"/>
                    <a:gd name="T3" fmla="*/ 239 h 239"/>
                    <a:gd name="T4" fmla="*/ 0 w 106"/>
                    <a:gd name="T5" fmla="*/ 200 h 239"/>
                    <a:gd name="T6" fmla="*/ 78 w 106"/>
                    <a:gd name="T7" fmla="*/ 0 h 239"/>
                    <a:gd name="T8" fmla="*/ 106 w 106"/>
                    <a:gd name="T9" fmla="*/ 39 h 239"/>
                  </a:gdLst>
                  <a:ahLst/>
                  <a:cxnLst>
                    <a:cxn ang="0">
                      <a:pos x="T0" y="T1"/>
                    </a:cxn>
                    <a:cxn ang="0">
                      <a:pos x="T2" y="T3"/>
                    </a:cxn>
                    <a:cxn ang="0">
                      <a:pos x="T4" y="T5"/>
                    </a:cxn>
                    <a:cxn ang="0">
                      <a:pos x="T6" y="T7"/>
                    </a:cxn>
                    <a:cxn ang="0">
                      <a:pos x="T8" y="T9"/>
                    </a:cxn>
                  </a:cxnLst>
                  <a:rect l="0" t="0" r="r" b="b"/>
                  <a:pathLst>
                    <a:path w="106" h="239">
                      <a:moveTo>
                        <a:pt x="106" y="39"/>
                      </a:moveTo>
                      <a:lnTo>
                        <a:pt x="28" y="239"/>
                      </a:lnTo>
                      <a:lnTo>
                        <a:pt x="0" y="200"/>
                      </a:lnTo>
                      <a:lnTo>
                        <a:pt x="78" y="0"/>
                      </a:lnTo>
                      <a:lnTo>
                        <a:pt x="106"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32" name="Freeform 420"/>
                <p:cNvSpPr>
                  <a:spLocks noChangeAspect="1"/>
                </p:cNvSpPr>
                <p:nvPr/>
              </p:nvSpPr>
              <p:spPr bwMode="auto">
                <a:xfrm>
                  <a:off x="312" y="645"/>
                  <a:ext cx="35" cy="80"/>
                </a:xfrm>
                <a:custGeom>
                  <a:avLst/>
                  <a:gdLst>
                    <a:gd name="T0" fmla="*/ 106 w 106"/>
                    <a:gd name="T1" fmla="*/ 40 h 240"/>
                    <a:gd name="T2" fmla="*/ 29 w 106"/>
                    <a:gd name="T3" fmla="*/ 240 h 240"/>
                    <a:gd name="T4" fmla="*/ 0 w 106"/>
                    <a:gd name="T5" fmla="*/ 200 h 240"/>
                    <a:gd name="T6" fmla="*/ 78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9" y="240"/>
                      </a:lnTo>
                      <a:lnTo>
                        <a:pt x="0" y="200"/>
                      </a:lnTo>
                      <a:lnTo>
                        <a:pt x="78"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33" name="Freeform 421"/>
                <p:cNvSpPr>
                  <a:spLocks noChangeAspect="1"/>
                </p:cNvSpPr>
                <p:nvPr/>
              </p:nvSpPr>
              <p:spPr bwMode="auto">
                <a:xfrm>
                  <a:off x="307" y="638"/>
                  <a:ext cx="36" cy="80"/>
                </a:xfrm>
                <a:custGeom>
                  <a:avLst/>
                  <a:gdLst>
                    <a:gd name="T0" fmla="*/ 107 w 107"/>
                    <a:gd name="T1" fmla="*/ 40 h 240"/>
                    <a:gd name="T2" fmla="*/ 29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34" name="Freeform 422"/>
                <p:cNvSpPr>
                  <a:spLocks noChangeAspect="1"/>
                </p:cNvSpPr>
                <p:nvPr/>
              </p:nvSpPr>
              <p:spPr bwMode="auto">
                <a:xfrm>
                  <a:off x="305" y="632"/>
                  <a:ext cx="35" cy="80"/>
                </a:xfrm>
                <a:custGeom>
                  <a:avLst/>
                  <a:gdLst>
                    <a:gd name="T0" fmla="*/ 107 w 107"/>
                    <a:gd name="T1" fmla="*/ 40 h 240"/>
                    <a:gd name="T2" fmla="*/ 29 w 107"/>
                    <a:gd name="T3" fmla="*/ 240 h 240"/>
                    <a:gd name="T4" fmla="*/ 0 w 107"/>
                    <a:gd name="T5" fmla="*/ 199 h 240"/>
                    <a:gd name="T6" fmla="*/ 79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199"/>
                      </a:lnTo>
                      <a:lnTo>
                        <a:pt x="79"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35" name="Freeform 423"/>
                <p:cNvSpPr>
                  <a:spLocks noChangeAspect="1"/>
                </p:cNvSpPr>
                <p:nvPr/>
              </p:nvSpPr>
              <p:spPr bwMode="auto">
                <a:xfrm>
                  <a:off x="298" y="625"/>
                  <a:ext cx="35" cy="80"/>
                </a:xfrm>
                <a:custGeom>
                  <a:avLst/>
                  <a:gdLst>
                    <a:gd name="T0" fmla="*/ 107 w 107"/>
                    <a:gd name="T1" fmla="*/ 40 h 240"/>
                    <a:gd name="T2" fmla="*/ 29 w 107"/>
                    <a:gd name="T3" fmla="*/ 240 h 240"/>
                    <a:gd name="T4" fmla="*/ 0 w 107"/>
                    <a:gd name="T5" fmla="*/ 199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199"/>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36" name="Freeform 424"/>
                <p:cNvSpPr>
                  <a:spLocks noChangeAspect="1"/>
                </p:cNvSpPr>
                <p:nvPr/>
              </p:nvSpPr>
              <p:spPr bwMode="auto">
                <a:xfrm>
                  <a:off x="293" y="618"/>
                  <a:ext cx="36" cy="80"/>
                </a:xfrm>
                <a:custGeom>
                  <a:avLst/>
                  <a:gdLst>
                    <a:gd name="T0" fmla="*/ 107 w 107"/>
                    <a:gd name="T1" fmla="*/ 40 h 239"/>
                    <a:gd name="T2" fmla="*/ 28 w 107"/>
                    <a:gd name="T3" fmla="*/ 239 h 239"/>
                    <a:gd name="T4" fmla="*/ 0 w 107"/>
                    <a:gd name="T5" fmla="*/ 200 h 239"/>
                    <a:gd name="T6" fmla="*/ 78 w 107"/>
                    <a:gd name="T7" fmla="*/ 0 h 239"/>
                    <a:gd name="T8" fmla="*/ 107 w 107"/>
                    <a:gd name="T9" fmla="*/ 40 h 239"/>
                  </a:gdLst>
                  <a:ahLst/>
                  <a:cxnLst>
                    <a:cxn ang="0">
                      <a:pos x="T0" y="T1"/>
                    </a:cxn>
                    <a:cxn ang="0">
                      <a:pos x="T2" y="T3"/>
                    </a:cxn>
                    <a:cxn ang="0">
                      <a:pos x="T4" y="T5"/>
                    </a:cxn>
                    <a:cxn ang="0">
                      <a:pos x="T6" y="T7"/>
                    </a:cxn>
                    <a:cxn ang="0">
                      <a:pos x="T8" y="T9"/>
                    </a:cxn>
                  </a:cxnLst>
                  <a:rect l="0" t="0" r="r" b="b"/>
                  <a:pathLst>
                    <a:path w="107" h="239">
                      <a:moveTo>
                        <a:pt x="107" y="40"/>
                      </a:moveTo>
                      <a:lnTo>
                        <a:pt x="28" y="239"/>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37" name="Freeform 425"/>
                <p:cNvSpPr>
                  <a:spLocks noChangeAspect="1"/>
                </p:cNvSpPr>
                <p:nvPr/>
              </p:nvSpPr>
              <p:spPr bwMode="auto">
                <a:xfrm>
                  <a:off x="290" y="612"/>
                  <a:ext cx="36" cy="79"/>
                </a:xfrm>
                <a:custGeom>
                  <a:avLst/>
                  <a:gdLst>
                    <a:gd name="T0" fmla="*/ 106 w 106"/>
                    <a:gd name="T1" fmla="*/ 40 h 239"/>
                    <a:gd name="T2" fmla="*/ 28 w 106"/>
                    <a:gd name="T3" fmla="*/ 239 h 239"/>
                    <a:gd name="T4" fmla="*/ 0 w 106"/>
                    <a:gd name="T5" fmla="*/ 200 h 239"/>
                    <a:gd name="T6" fmla="*/ 77 w 106"/>
                    <a:gd name="T7" fmla="*/ 0 h 239"/>
                    <a:gd name="T8" fmla="*/ 106 w 106"/>
                    <a:gd name="T9" fmla="*/ 40 h 239"/>
                  </a:gdLst>
                  <a:ahLst/>
                  <a:cxnLst>
                    <a:cxn ang="0">
                      <a:pos x="T0" y="T1"/>
                    </a:cxn>
                    <a:cxn ang="0">
                      <a:pos x="T2" y="T3"/>
                    </a:cxn>
                    <a:cxn ang="0">
                      <a:pos x="T4" y="T5"/>
                    </a:cxn>
                    <a:cxn ang="0">
                      <a:pos x="T6" y="T7"/>
                    </a:cxn>
                    <a:cxn ang="0">
                      <a:pos x="T8" y="T9"/>
                    </a:cxn>
                  </a:cxnLst>
                  <a:rect l="0" t="0" r="r" b="b"/>
                  <a:pathLst>
                    <a:path w="106" h="239">
                      <a:moveTo>
                        <a:pt x="106" y="40"/>
                      </a:moveTo>
                      <a:lnTo>
                        <a:pt x="28" y="239"/>
                      </a:lnTo>
                      <a:lnTo>
                        <a:pt x="0" y="200"/>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38" name="Freeform 426"/>
                <p:cNvSpPr>
                  <a:spLocks noChangeAspect="1"/>
                </p:cNvSpPr>
                <p:nvPr/>
              </p:nvSpPr>
              <p:spPr bwMode="auto">
                <a:xfrm>
                  <a:off x="283" y="605"/>
                  <a:ext cx="36" cy="80"/>
                </a:xfrm>
                <a:custGeom>
                  <a:avLst/>
                  <a:gdLst>
                    <a:gd name="T0" fmla="*/ 107 w 107"/>
                    <a:gd name="T1" fmla="*/ 39 h 239"/>
                    <a:gd name="T2" fmla="*/ 29 w 107"/>
                    <a:gd name="T3" fmla="*/ 239 h 239"/>
                    <a:gd name="T4" fmla="*/ 0 w 107"/>
                    <a:gd name="T5" fmla="*/ 199 h 239"/>
                    <a:gd name="T6" fmla="*/ 79 w 107"/>
                    <a:gd name="T7" fmla="*/ 0 h 239"/>
                    <a:gd name="T8" fmla="*/ 79 w 107"/>
                    <a:gd name="T9" fmla="*/ 0 h 239"/>
                    <a:gd name="T10" fmla="*/ 79 w 107"/>
                    <a:gd name="T11" fmla="*/ 0 h 239"/>
                    <a:gd name="T12" fmla="*/ 79 w 107"/>
                    <a:gd name="T13" fmla="*/ 0 h 239"/>
                    <a:gd name="T14" fmla="*/ 79 w 107"/>
                    <a:gd name="T15" fmla="*/ 0 h 239"/>
                    <a:gd name="T16" fmla="*/ 79 w 107"/>
                    <a:gd name="T17" fmla="*/ 0 h 239"/>
                    <a:gd name="T18" fmla="*/ 79 w 107"/>
                    <a:gd name="T19" fmla="*/ 0 h 239"/>
                    <a:gd name="T20" fmla="*/ 79 w 107"/>
                    <a:gd name="T21" fmla="*/ 0 h 239"/>
                    <a:gd name="T22" fmla="*/ 79 w 107"/>
                    <a:gd name="T23" fmla="*/ 1 h 239"/>
                    <a:gd name="T24" fmla="*/ 80 w 107"/>
                    <a:gd name="T25" fmla="*/ 0 h 239"/>
                    <a:gd name="T26" fmla="*/ 82 w 107"/>
                    <a:gd name="T27" fmla="*/ 4 h 239"/>
                    <a:gd name="T28" fmla="*/ 83 w 107"/>
                    <a:gd name="T29" fmla="*/ 5 h 239"/>
                    <a:gd name="T30" fmla="*/ 84 w 107"/>
                    <a:gd name="T31" fmla="*/ 6 h 239"/>
                    <a:gd name="T32" fmla="*/ 85 w 107"/>
                    <a:gd name="T33" fmla="*/ 8 h 239"/>
                    <a:gd name="T34" fmla="*/ 86 w 107"/>
                    <a:gd name="T35" fmla="*/ 9 h 239"/>
                    <a:gd name="T36" fmla="*/ 87 w 107"/>
                    <a:gd name="T37" fmla="*/ 10 h 239"/>
                    <a:gd name="T38" fmla="*/ 88 w 107"/>
                    <a:gd name="T39" fmla="*/ 13 h 239"/>
                    <a:gd name="T40" fmla="*/ 89 w 107"/>
                    <a:gd name="T41" fmla="*/ 14 h 239"/>
                    <a:gd name="T42" fmla="*/ 90 w 107"/>
                    <a:gd name="T43" fmla="*/ 15 h 239"/>
                    <a:gd name="T44" fmla="*/ 107 w 107"/>
                    <a:gd name="T45" fmla="*/ 3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7" h="239">
                      <a:moveTo>
                        <a:pt x="107" y="39"/>
                      </a:moveTo>
                      <a:lnTo>
                        <a:pt x="29" y="239"/>
                      </a:lnTo>
                      <a:lnTo>
                        <a:pt x="0" y="199"/>
                      </a:lnTo>
                      <a:lnTo>
                        <a:pt x="79" y="0"/>
                      </a:lnTo>
                      <a:lnTo>
                        <a:pt x="79" y="0"/>
                      </a:lnTo>
                      <a:lnTo>
                        <a:pt x="79" y="0"/>
                      </a:lnTo>
                      <a:lnTo>
                        <a:pt x="79" y="0"/>
                      </a:lnTo>
                      <a:lnTo>
                        <a:pt x="79" y="0"/>
                      </a:lnTo>
                      <a:lnTo>
                        <a:pt x="79" y="0"/>
                      </a:lnTo>
                      <a:lnTo>
                        <a:pt x="79" y="0"/>
                      </a:lnTo>
                      <a:lnTo>
                        <a:pt x="79" y="0"/>
                      </a:lnTo>
                      <a:lnTo>
                        <a:pt x="79" y="1"/>
                      </a:lnTo>
                      <a:lnTo>
                        <a:pt x="80" y="0"/>
                      </a:lnTo>
                      <a:lnTo>
                        <a:pt x="82" y="4"/>
                      </a:lnTo>
                      <a:lnTo>
                        <a:pt x="83" y="5"/>
                      </a:lnTo>
                      <a:lnTo>
                        <a:pt x="84" y="6"/>
                      </a:lnTo>
                      <a:lnTo>
                        <a:pt x="85" y="8"/>
                      </a:lnTo>
                      <a:lnTo>
                        <a:pt x="86" y="9"/>
                      </a:lnTo>
                      <a:lnTo>
                        <a:pt x="87" y="10"/>
                      </a:lnTo>
                      <a:lnTo>
                        <a:pt x="88" y="13"/>
                      </a:lnTo>
                      <a:lnTo>
                        <a:pt x="89" y="14"/>
                      </a:lnTo>
                      <a:lnTo>
                        <a:pt x="90" y="15"/>
                      </a:lnTo>
                      <a:lnTo>
                        <a:pt x="107"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39" name="Freeform 427"/>
                <p:cNvSpPr>
                  <a:spLocks noChangeAspect="1"/>
                </p:cNvSpPr>
                <p:nvPr/>
              </p:nvSpPr>
              <p:spPr bwMode="auto">
                <a:xfrm>
                  <a:off x="279" y="601"/>
                  <a:ext cx="35" cy="77"/>
                </a:xfrm>
                <a:custGeom>
                  <a:avLst/>
                  <a:gdLst>
                    <a:gd name="T0" fmla="*/ 106 w 106"/>
                    <a:gd name="T1" fmla="*/ 33 h 233"/>
                    <a:gd name="T2" fmla="*/ 29 w 106"/>
                    <a:gd name="T3" fmla="*/ 233 h 233"/>
                    <a:gd name="T4" fmla="*/ 0 w 106"/>
                    <a:gd name="T5" fmla="*/ 192 h 233"/>
                    <a:gd name="T6" fmla="*/ 76 w 106"/>
                    <a:gd name="T7" fmla="*/ 0 h 233"/>
                    <a:gd name="T8" fmla="*/ 78 w 106"/>
                    <a:gd name="T9" fmla="*/ 2 h 233"/>
                    <a:gd name="T10" fmla="*/ 80 w 106"/>
                    <a:gd name="T11" fmla="*/ 3 h 233"/>
                    <a:gd name="T12" fmla="*/ 82 w 106"/>
                    <a:gd name="T13" fmla="*/ 5 h 233"/>
                    <a:gd name="T14" fmla="*/ 84 w 106"/>
                    <a:gd name="T15" fmla="*/ 6 h 233"/>
                    <a:gd name="T16" fmla="*/ 86 w 106"/>
                    <a:gd name="T17" fmla="*/ 9 h 233"/>
                    <a:gd name="T18" fmla="*/ 88 w 106"/>
                    <a:gd name="T19" fmla="*/ 11 h 233"/>
                    <a:gd name="T20" fmla="*/ 90 w 106"/>
                    <a:gd name="T21" fmla="*/ 13 h 233"/>
                    <a:gd name="T22" fmla="*/ 93 w 106"/>
                    <a:gd name="T23" fmla="*/ 15 h 233"/>
                    <a:gd name="T24" fmla="*/ 94 w 106"/>
                    <a:gd name="T25" fmla="*/ 14 h 233"/>
                    <a:gd name="T26" fmla="*/ 96 w 106"/>
                    <a:gd name="T27" fmla="*/ 18 h 233"/>
                    <a:gd name="T28" fmla="*/ 97 w 106"/>
                    <a:gd name="T29" fmla="*/ 19 h 233"/>
                    <a:gd name="T30" fmla="*/ 98 w 106"/>
                    <a:gd name="T31" fmla="*/ 20 h 233"/>
                    <a:gd name="T32" fmla="*/ 99 w 106"/>
                    <a:gd name="T33" fmla="*/ 22 h 233"/>
                    <a:gd name="T34" fmla="*/ 100 w 106"/>
                    <a:gd name="T35" fmla="*/ 23 h 233"/>
                    <a:gd name="T36" fmla="*/ 101 w 106"/>
                    <a:gd name="T37" fmla="*/ 24 h 233"/>
                    <a:gd name="T38" fmla="*/ 102 w 106"/>
                    <a:gd name="T39" fmla="*/ 27 h 233"/>
                    <a:gd name="T40" fmla="*/ 103 w 106"/>
                    <a:gd name="T41" fmla="*/ 28 h 233"/>
                    <a:gd name="T42" fmla="*/ 104 w 106"/>
                    <a:gd name="T43" fmla="*/ 29 h 233"/>
                    <a:gd name="T44" fmla="*/ 106 w 106"/>
                    <a:gd name="T45" fmla="*/ 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33">
                      <a:moveTo>
                        <a:pt x="106" y="33"/>
                      </a:moveTo>
                      <a:lnTo>
                        <a:pt x="29" y="233"/>
                      </a:lnTo>
                      <a:lnTo>
                        <a:pt x="0" y="192"/>
                      </a:lnTo>
                      <a:lnTo>
                        <a:pt x="76" y="0"/>
                      </a:lnTo>
                      <a:lnTo>
                        <a:pt x="78" y="2"/>
                      </a:lnTo>
                      <a:lnTo>
                        <a:pt x="80" y="3"/>
                      </a:lnTo>
                      <a:lnTo>
                        <a:pt x="82" y="5"/>
                      </a:lnTo>
                      <a:lnTo>
                        <a:pt x="84" y="6"/>
                      </a:lnTo>
                      <a:lnTo>
                        <a:pt x="86" y="9"/>
                      </a:lnTo>
                      <a:lnTo>
                        <a:pt x="88" y="11"/>
                      </a:lnTo>
                      <a:lnTo>
                        <a:pt x="90" y="13"/>
                      </a:lnTo>
                      <a:lnTo>
                        <a:pt x="93" y="15"/>
                      </a:lnTo>
                      <a:lnTo>
                        <a:pt x="94" y="14"/>
                      </a:lnTo>
                      <a:lnTo>
                        <a:pt x="96" y="18"/>
                      </a:lnTo>
                      <a:lnTo>
                        <a:pt x="97" y="19"/>
                      </a:lnTo>
                      <a:lnTo>
                        <a:pt x="98" y="20"/>
                      </a:lnTo>
                      <a:lnTo>
                        <a:pt x="99" y="22"/>
                      </a:lnTo>
                      <a:lnTo>
                        <a:pt x="100" y="23"/>
                      </a:lnTo>
                      <a:lnTo>
                        <a:pt x="101" y="24"/>
                      </a:lnTo>
                      <a:lnTo>
                        <a:pt x="102" y="27"/>
                      </a:lnTo>
                      <a:lnTo>
                        <a:pt x="103" y="28"/>
                      </a:lnTo>
                      <a:lnTo>
                        <a:pt x="104" y="29"/>
                      </a:lnTo>
                      <a:lnTo>
                        <a:pt x="106" y="3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40" name="Freeform 428"/>
                <p:cNvSpPr>
                  <a:spLocks noChangeAspect="1"/>
                </p:cNvSpPr>
                <p:nvPr/>
              </p:nvSpPr>
              <p:spPr bwMode="auto">
                <a:xfrm>
                  <a:off x="276" y="599"/>
                  <a:ext cx="36" cy="73"/>
                </a:xfrm>
                <a:custGeom>
                  <a:avLst/>
                  <a:gdLst>
                    <a:gd name="T0" fmla="*/ 107 w 107"/>
                    <a:gd name="T1" fmla="*/ 21 h 220"/>
                    <a:gd name="T2" fmla="*/ 28 w 107"/>
                    <a:gd name="T3" fmla="*/ 220 h 220"/>
                    <a:gd name="T4" fmla="*/ 0 w 107"/>
                    <a:gd name="T5" fmla="*/ 179 h 220"/>
                    <a:gd name="T6" fmla="*/ 70 w 107"/>
                    <a:gd name="T7" fmla="*/ 0 h 220"/>
                    <a:gd name="T8" fmla="*/ 71 w 107"/>
                    <a:gd name="T9" fmla="*/ 0 h 220"/>
                    <a:gd name="T10" fmla="*/ 71 w 107"/>
                    <a:gd name="T11" fmla="*/ 0 h 220"/>
                    <a:gd name="T12" fmla="*/ 72 w 107"/>
                    <a:gd name="T13" fmla="*/ 0 h 220"/>
                    <a:gd name="T14" fmla="*/ 74 w 107"/>
                    <a:gd name="T15" fmla="*/ 1 h 220"/>
                    <a:gd name="T16" fmla="*/ 75 w 107"/>
                    <a:gd name="T17" fmla="*/ 1 h 220"/>
                    <a:gd name="T18" fmla="*/ 76 w 107"/>
                    <a:gd name="T19" fmla="*/ 1 h 220"/>
                    <a:gd name="T20" fmla="*/ 76 w 107"/>
                    <a:gd name="T21" fmla="*/ 1 h 220"/>
                    <a:gd name="T22" fmla="*/ 77 w 107"/>
                    <a:gd name="T23" fmla="*/ 2 h 220"/>
                    <a:gd name="T24" fmla="*/ 77 w 107"/>
                    <a:gd name="T25" fmla="*/ 2 h 220"/>
                    <a:gd name="T26" fmla="*/ 81 w 107"/>
                    <a:gd name="T27" fmla="*/ 3 h 220"/>
                    <a:gd name="T28" fmla="*/ 85 w 107"/>
                    <a:gd name="T29" fmla="*/ 5 h 220"/>
                    <a:gd name="T30" fmla="*/ 90 w 107"/>
                    <a:gd name="T31" fmla="*/ 7 h 220"/>
                    <a:gd name="T32" fmla="*/ 93 w 107"/>
                    <a:gd name="T33" fmla="*/ 9 h 220"/>
                    <a:gd name="T34" fmla="*/ 96 w 107"/>
                    <a:gd name="T35" fmla="*/ 12 h 220"/>
                    <a:gd name="T36" fmla="*/ 100 w 107"/>
                    <a:gd name="T37" fmla="*/ 14 h 220"/>
                    <a:gd name="T38" fmla="*/ 103 w 107"/>
                    <a:gd name="T39" fmla="*/ 18 h 220"/>
                    <a:gd name="T40" fmla="*/ 107 w 107"/>
                    <a:gd name="T41" fmla="*/ 21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7" h="220">
                      <a:moveTo>
                        <a:pt x="107" y="21"/>
                      </a:moveTo>
                      <a:lnTo>
                        <a:pt x="28" y="220"/>
                      </a:lnTo>
                      <a:lnTo>
                        <a:pt x="0" y="179"/>
                      </a:lnTo>
                      <a:lnTo>
                        <a:pt x="70" y="0"/>
                      </a:lnTo>
                      <a:lnTo>
                        <a:pt x="71" y="0"/>
                      </a:lnTo>
                      <a:lnTo>
                        <a:pt x="71" y="0"/>
                      </a:lnTo>
                      <a:lnTo>
                        <a:pt x="72" y="0"/>
                      </a:lnTo>
                      <a:lnTo>
                        <a:pt x="74" y="1"/>
                      </a:lnTo>
                      <a:lnTo>
                        <a:pt x="75" y="1"/>
                      </a:lnTo>
                      <a:lnTo>
                        <a:pt x="76" y="1"/>
                      </a:lnTo>
                      <a:lnTo>
                        <a:pt x="76" y="1"/>
                      </a:lnTo>
                      <a:lnTo>
                        <a:pt x="77" y="2"/>
                      </a:lnTo>
                      <a:lnTo>
                        <a:pt x="77" y="2"/>
                      </a:lnTo>
                      <a:lnTo>
                        <a:pt x="81" y="3"/>
                      </a:lnTo>
                      <a:lnTo>
                        <a:pt x="85" y="5"/>
                      </a:lnTo>
                      <a:lnTo>
                        <a:pt x="90" y="7"/>
                      </a:lnTo>
                      <a:lnTo>
                        <a:pt x="93" y="9"/>
                      </a:lnTo>
                      <a:lnTo>
                        <a:pt x="96" y="12"/>
                      </a:lnTo>
                      <a:lnTo>
                        <a:pt x="100" y="14"/>
                      </a:lnTo>
                      <a:lnTo>
                        <a:pt x="103" y="18"/>
                      </a:lnTo>
                      <a:lnTo>
                        <a:pt x="107" y="2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41" name="Freeform 429"/>
                <p:cNvSpPr>
                  <a:spLocks noChangeAspect="1"/>
                </p:cNvSpPr>
                <p:nvPr/>
              </p:nvSpPr>
              <p:spPr bwMode="auto">
                <a:xfrm>
                  <a:off x="269" y="599"/>
                  <a:ext cx="36" cy="66"/>
                </a:xfrm>
                <a:custGeom>
                  <a:avLst/>
                  <a:gdLst>
                    <a:gd name="T0" fmla="*/ 105 w 105"/>
                    <a:gd name="T1" fmla="*/ 12 h 204"/>
                    <a:gd name="T2" fmla="*/ 29 w 105"/>
                    <a:gd name="T3" fmla="*/ 204 h 204"/>
                    <a:gd name="T4" fmla="*/ 0 w 105"/>
                    <a:gd name="T5" fmla="*/ 165 h 204"/>
                    <a:gd name="T6" fmla="*/ 64 w 105"/>
                    <a:gd name="T7" fmla="*/ 0 h 204"/>
                    <a:gd name="T8" fmla="*/ 68 w 105"/>
                    <a:gd name="T9" fmla="*/ 1 h 204"/>
                    <a:gd name="T10" fmla="*/ 72 w 105"/>
                    <a:gd name="T11" fmla="*/ 1 h 204"/>
                    <a:gd name="T12" fmla="*/ 75 w 105"/>
                    <a:gd name="T13" fmla="*/ 1 h 204"/>
                    <a:gd name="T14" fmla="*/ 78 w 105"/>
                    <a:gd name="T15" fmla="*/ 2 h 204"/>
                    <a:gd name="T16" fmla="*/ 81 w 105"/>
                    <a:gd name="T17" fmla="*/ 4 h 204"/>
                    <a:gd name="T18" fmla="*/ 85 w 105"/>
                    <a:gd name="T19" fmla="*/ 4 h 204"/>
                    <a:gd name="T20" fmla="*/ 89 w 105"/>
                    <a:gd name="T21" fmla="*/ 5 h 204"/>
                    <a:gd name="T22" fmla="*/ 92 w 105"/>
                    <a:gd name="T23" fmla="*/ 7 h 204"/>
                    <a:gd name="T24" fmla="*/ 92 w 105"/>
                    <a:gd name="T25" fmla="*/ 7 h 204"/>
                    <a:gd name="T26" fmla="*/ 94 w 105"/>
                    <a:gd name="T27" fmla="*/ 7 h 204"/>
                    <a:gd name="T28" fmla="*/ 95 w 105"/>
                    <a:gd name="T29" fmla="*/ 8 h 204"/>
                    <a:gd name="T30" fmla="*/ 97 w 105"/>
                    <a:gd name="T31" fmla="*/ 9 h 204"/>
                    <a:gd name="T32" fmla="*/ 98 w 105"/>
                    <a:gd name="T33" fmla="*/ 9 h 204"/>
                    <a:gd name="T34" fmla="*/ 100 w 105"/>
                    <a:gd name="T35" fmla="*/ 10 h 204"/>
                    <a:gd name="T36" fmla="*/ 101 w 105"/>
                    <a:gd name="T37" fmla="*/ 11 h 204"/>
                    <a:gd name="T38" fmla="*/ 102 w 105"/>
                    <a:gd name="T39" fmla="*/ 11 h 204"/>
                    <a:gd name="T40" fmla="*/ 105 w 105"/>
                    <a:gd name="T41" fmla="*/ 1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5" h="204">
                      <a:moveTo>
                        <a:pt x="105" y="12"/>
                      </a:moveTo>
                      <a:lnTo>
                        <a:pt x="29" y="204"/>
                      </a:lnTo>
                      <a:lnTo>
                        <a:pt x="0" y="165"/>
                      </a:lnTo>
                      <a:lnTo>
                        <a:pt x="64" y="0"/>
                      </a:lnTo>
                      <a:lnTo>
                        <a:pt x="68" y="1"/>
                      </a:lnTo>
                      <a:lnTo>
                        <a:pt x="72" y="1"/>
                      </a:lnTo>
                      <a:lnTo>
                        <a:pt x="75" y="1"/>
                      </a:lnTo>
                      <a:lnTo>
                        <a:pt x="78" y="2"/>
                      </a:lnTo>
                      <a:lnTo>
                        <a:pt x="81" y="4"/>
                      </a:lnTo>
                      <a:lnTo>
                        <a:pt x="85" y="4"/>
                      </a:lnTo>
                      <a:lnTo>
                        <a:pt x="89" y="5"/>
                      </a:lnTo>
                      <a:lnTo>
                        <a:pt x="92" y="7"/>
                      </a:lnTo>
                      <a:lnTo>
                        <a:pt x="92" y="7"/>
                      </a:lnTo>
                      <a:lnTo>
                        <a:pt x="94" y="7"/>
                      </a:lnTo>
                      <a:lnTo>
                        <a:pt x="95" y="8"/>
                      </a:lnTo>
                      <a:lnTo>
                        <a:pt x="97" y="9"/>
                      </a:lnTo>
                      <a:lnTo>
                        <a:pt x="98" y="9"/>
                      </a:lnTo>
                      <a:lnTo>
                        <a:pt x="100" y="10"/>
                      </a:lnTo>
                      <a:lnTo>
                        <a:pt x="101" y="11"/>
                      </a:lnTo>
                      <a:lnTo>
                        <a:pt x="102" y="11"/>
                      </a:lnTo>
                      <a:lnTo>
                        <a:pt x="105" y="1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42" name="Freeform 430"/>
                <p:cNvSpPr>
                  <a:spLocks noChangeAspect="1"/>
                </p:cNvSpPr>
                <p:nvPr/>
              </p:nvSpPr>
              <p:spPr bwMode="auto">
                <a:xfrm>
                  <a:off x="264" y="599"/>
                  <a:ext cx="34" cy="59"/>
                </a:xfrm>
                <a:custGeom>
                  <a:avLst/>
                  <a:gdLst>
                    <a:gd name="T0" fmla="*/ 99 w 99"/>
                    <a:gd name="T1" fmla="*/ 5 h 184"/>
                    <a:gd name="T2" fmla="*/ 29 w 99"/>
                    <a:gd name="T3" fmla="*/ 184 h 184"/>
                    <a:gd name="T4" fmla="*/ 0 w 99"/>
                    <a:gd name="T5" fmla="*/ 145 h 184"/>
                    <a:gd name="T6" fmla="*/ 56 w 99"/>
                    <a:gd name="T7" fmla="*/ 4 h 184"/>
                    <a:gd name="T8" fmla="*/ 61 w 99"/>
                    <a:gd name="T9" fmla="*/ 2 h 184"/>
                    <a:gd name="T10" fmla="*/ 66 w 99"/>
                    <a:gd name="T11" fmla="*/ 1 h 184"/>
                    <a:gd name="T12" fmla="*/ 72 w 99"/>
                    <a:gd name="T13" fmla="*/ 1 h 184"/>
                    <a:gd name="T14" fmla="*/ 77 w 99"/>
                    <a:gd name="T15" fmla="*/ 0 h 184"/>
                    <a:gd name="T16" fmla="*/ 82 w 99"/>
                    <a:gd name="T17" fmla="*/ 1 h 184"/>
                    <a:gd name="T18" fmla="*/ 88 w 99"/>
                    <a:gd name="T19" fmla="*/ 1 h 184"/>
                    <a:gd name="T20" fmla="*/ 94 w 99"/>
                    <a:gd name="T21" fmla="*/ 2 h 184"/>
                    <a:gd name="T22" fmla="*/ 99 w 99"/>
                    <a:gd name="T23" fmla="*/ 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 h="184">
                      <a:moveTo>
                        <a:pt x="99" y="5"/>
                      </a:moveTo>
                      <a:lnTo>
                        <a:pt x="29" y="184"/>
                      </a:lnTo>
                      <a:lnTo>
                        <a:pt x="0" y="145"/>
                      </a:lnTo>
                      <a:lnTo>
                        <a:pt x="56" y="4"/>
                      </a:lnTo>
                      <a:lnTo>
                        <a:pt x="61" y="2"/>
                      </a:lnTo>
                      <a:lnTo>
                        <a:pt x="66" y="1"/>
                      </a:lnTo>
                      <a:lnTo>
                        <a:pt x="72" y="1"/>
                      </a:lnTo>
                      <a:lnTo>
                        <a:pt x="77" y="0"/>
                      </a:lnTo>
                      <a:lnTo>
                        <a:pt x="82" y="1"/>
                      </a:lnTo>
                      <a:lnTo>
                        <a:pt x="88" y="1"/>
                      </a:lnTo>
                      <a:lnTo>
                        <a:pt x="94" y="2"/>
                      </a:lnTo>
                      <a:lnTo>
                        <a:pt x="99" y="5"/>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43" name="Freeform 431"/>
                <p:cNvSpPr>
                  <a:spLocks noChangeAspect="1"/>
                </p:cNvSpPr>
                <p:nvPr/>
              </p:nvSpPr>
              <p:spPr bwMode="auto">
                <a:xfrm>
                  <a:off x="262" y="599"/>
                  <a:ext cx="28" cy="53"/>
                </a:xfrm>
                <a:custGeom>
                  <a:avLst/>
                  <a:gdLst>
                    <a:gd name="T0" fmla="*/ 88 w 88"/>
                    <a:gd name="T1" fmla="*/ 0 h 165"/>
                    <a:gd name="T2" fmla="*/ 24 w 88"/>
                    <a:gd name="T3" fmla="*/ 165 h 165"/>
                    <a:gd name="T4" fmla="*/ 6 w 88"/>
                    <a:gd name="T5" fmla="*/ 140 h 165"/>
                    <a:gd name="T6" fmla="*/ 8 w 88"/>
                    <a:gd name="T7" fmla="*/ 139 h 165"/>
                    <a:gd name="T8" fmla="*/ 7 w 88"/>
                    <a:gd name="T9" fmla="*/ 135 h 165"/>
                    <a:gd name="T10" fmla="*/ 5 w 88"/>
                    <a:gd name="T11" fmla="*/ 133 h 165"/>
                    <a:gd name="T12" fmla="*/ 4 w 88"/>
                    <a:gd name="T13" fmla="*/ 130 h 165"/>
                    <a:gd name="T14" fmla="*/ 3 w 88"/>
                    <a:gd name="T15" fmla="*/ 127 h 165"/>
                    <a:gd name="T16" fmla="*/ 2 w 88"/>
                    <a:gd name="T17" fmla="*/ 125 h 165"/>
                    <a:gd name="T18" fmla="*/ 1 w 88"/>
                    <a:gd name="T19" fmla="*/ 122 h 165"/>
                    <a:gd name="T20" fmla="*/ 0 w 88"/>
                    <a:gd name="T21" fmla="*/ 118 h 165"/>
                    <a:gd name="T22" fmla="*/ 0 w 88"/>
                    <a:gd name="T23" fmla="*/ 115 h 165"/>
                    <a:gd name="T24" fmla="*/ 38 w 88"/>
                    <a:gd name="T25" fmla="*/ 15 h 165"/>
                    <a:gd name="T26" fmla="*/ 44 w 88"/>
                    <a:gd name="T27" fmla="*/ 12 h 165"/>
                    <a:gd name="T28" fmla="*/ 50 w 88"/>
                    <a:gd name="T29" fmla="*/ 9 h 165"/>
                    <a:gd name="T30" fmla="*/ 56 w 88"/>
                    <a:gd name="T31" fmla="*/ 7 h 165"/>
                    <a:gd name="T32" fmla="*/ 63 w 88"/>
                    <a:gd name="T33" fmla="*/ 5 h 165"/>
                    <a:gd name="T34" fmla="*/ 69 w 88"/>
                    <a:gd name="T35" fmla="*/ 2 h 165"/>
                    <a:gd name="T36" fmla="*/ 75 w 88"/>
                    <a:gd name="T37" fmla="*/ 1 h 165"/>
                    <a:gd name="T38" fmla="*/ 82 w 88"/>
                    <a:gd name="T39" fmla="*/ 1 h 165"/>
                    <a:gd name="T40" fmla="*/ 88 w 88"/>
                    <a:gd name="T4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8" h="165">
                      <a:moveTo>
                        <a:pt x="88" y="0"/>
                      </a:moveTo>
                      <a:lnTo>
                        <a:pt x="24" y="165"/>
                      </a:lnTo>
                      <a:lnTo>
                        <a:pt x="6" y="140"/>
                      </a:lnTo>
                      <a:lnTo>
                        <a:pt x="8" y="139"/>
                      </a:lnTo>
                      <a:lnTo>
                        <a:pt x="7" y="135"/>
                      </a:lnTo>
                      <a:lnTo>
                        <a:pt x="5" y="133"/>
                      </a:lnTo>
                      <a:lnTo>
                        <a:pt x="4" y="130"/>
                      </a:lnTo>
                      <a:lnTo>
                        <a:pt x="3" y="127"/>
                      </a:lnTo>
                      <a:lnTo>
                        <a:pt x="2" y="125"/>
                      </a:lnTo>
                      <a:lnTo>
                        <a:pt x="1" y="122"/>
                      </a:lnTo>
                      <a:lnTo>
                        <a:pt x="0" y="118"/>
                      </a:lnTo>
                      <a:lnTo>
                        <a:pt x="0" y="115"/>
                      </a:lnTo>
                      <a:lnTo>
                        <a:pt x="38" y="15"/>
                      </a:lnTo>
                      <a:lnTo>
                        <a:pt x="44" y="12"/>
                      </a:lnTo>
                      <a:lnTo>
                        <a:pt x="50" y="9"/>
                      </a:lnTo>
                      <a:lnTo>
                        <a:pt x="56" y="7"/>
                      </a:lnTo>
                      <a:lnTo>
                        <a:pt x="63" y="5"/>
                      </a:lnTo>
                      <a:lnTo>
                        <a:pt x="69" y="2"/>
                      </a:lnTo>
                      <a:lnTo>
                        <a:pt x="75" y="1"/>
                      </a:lnTo>
                      <a:lnTo>
                        <a:pt x="82" y="1"/>
                      </a:lnTo>
                      <a:lnTo>
                        <a:pt x="88" y="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44" name="Freeform 432"/>
                <p:cNvSpPr>
                  <a:spLocks noChangeAspect="1"/>
                </p:cNvSpPr>
                <p:nvPr/>
              </p:nvSpPr>
              <p:spPr bwMode="auto">
                <a:xfrm>
                  <a:off x="262" y="599"/>
                  <a:ext cx="21" cy="46"/>
                </a:xfrm>
                <a:custGeom>
                  <a:avLst/>
                  <a:gdLst>
                    <a:gd name="T0" fmla="*/ 69 w 69"/>
                    <a:gd name="T1" fmla="*/ 0 h 141"/>
                    <a:gd name="T2" fmla="*/ 13 w 69"/>
                    <a:gd name="T3" fmla="*/ 141 h 141"/>
                    <a:gd name="T4" fmla="*/ 9 w 69"/>
                    <a:gd name="T5" fmla="*/ 136 h 141"/>
                    <a:gd name="T6" fmla="*/ 11 w 69"/>
                    <a:gd name="T7" fmla="*/ 135 h 141"/>
                    <a:gd name="T8" fmla="*/ 7 w 69"/>
                    <a:gd name="T9" fmla="*/ 125 h 141"/>
                    <a:gd name="T10" fmla="*/ 4 w 69"/>
                    <a:gd name="T11" fmla="*/ 116 h 141"/>
                    <a:gd name="T12" fmla="*/ 1 w 69"/>
                    <a:gd name="T13" fmla="*/ 106 h 141"/>
                    <a:gd name="T14" fmla="*/ 0 w 69"/>
                    <a:gd name="T15" fmla="*/ 96 h 141"/>
                    <a:gd name="T16" fmla="*/ 0 w 69"/>
                    <a:gd name="T17" fmla="*/ 86 h 141"/>
                    <a:gd name="T18" fmla="*/ 1 w 69"/>
                    <a:gd name="T19" fmla="*/ 76 h 141"/>
                    <a:gd name="T20" fmla="*/ 3 w 69"/>
                    <a:gd name="T21" fmla="*/ 65 h 141"/>
                    <a:gd name="T22" fmla="*/ 6 w 69"/>
                    <a:gd name="T23" fmla="*/ 56 h 141"/>
                    <a:gd name="T24" fmla="*/ 11 w 69"/>
                    <a:gd name="T25" fmla="*/ 45 h 141"/>
                    <a:gd name="T26" fmla="*/ 17 w 69"/>
                    <a:gd name="T27" fmla="*/ 36 h 141"/>
                    <a:gd name="T28" fmla="*/ 23 w 69"/>
                    <a:gd name="T29" fmla="*/ 27 h 141"/>
                    <a:gd name="T30" fmla="*/ 31 w 69"/>
                    <a:gd name="T31" fmla="*/ 20 h 141"/>
                    <a:gd name="T32" fmla="*/ 40 w 69"/>
                    <a:gd name="T33" fmla="*/ 12 h 141"/>
                    <a:gd name="T34" fmla="*/ 48 w 69"/>
                    <a:gd name="T35" fmla="*/ 7 h 141"/>
                    <a:gd name="T36" fmla="*/ 58 w 69"/>
                    <a:gd name="T37" fmla="*/ 3 h 141"/>
                    <a:gd name="T38" fmla="*/ 69 w 69"/>
                    <a:gd name="T39"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9" h="141">
                      <a:moveTo>
                        <a:pt x="69" y="0"/>
                      </a:moveTo>
                      <a:lnTo>
                        <a:pt x="13" y="141"/>
                      </a:lnTo>
                      <a:lnTo>
                        <a:pt x="9" y="136"/>
                      </a:lnTo>
                      <a:lnTo>
                        <a:pt x="11" y="135"/>
                      </a:lnTo>
                      <a:lnTo>
                        <a:pt x="7" y="125"/>
                      </a:lnTo>
                      <a:lnTo>
                        <a:pt x="4" y="116"/>
                      </a:lnTo>
                      <a:lnTo>
                        <a:pt x="1" y="106"/>
                      </a:lnTo>
                      <a:lnTo>
                        <a:pt x="0" y="96"/>
                      </a:lnTo>
                      <a:lnTo>
                        <a:pt x="0" y="86"/>
                      </a:lnTo>
                      <a:lnTo>
                        <a:pt x="1" y="76"/>
                      </a:lnTo>
                      <a:lnTo>
                        <a:pt x="3" y="65"/>
                      </a:lnTo>
                      <a:lnTo>
                        <a:pt x="6" y="56"/>
                      </a:lnTo>
                      <a:lnTo>
                        <a:pt x="11" y="45"/>
                      </a:lnTo>
                      <a:lnTo>
                        <a:pt x="17" y="36"/>
                      </a:lnTo>
                      <a:lnTo>
                        <a:pt x="23" y="27"/>
                      </a:lnTo>
                      <a:lnTo>
                        <a:pt x="31" y="20"/>
                      </a:lnTo>
                      <a:lnTo>
                        <a:pt x="40" y="12"/>
                      </a:lnTo>
                      <a:lnTo>
                        <a:pt x="48" y="7"/>
                      </a:lnTo>
                      <a:lnTo>
                        <a:pt x="58" y="3"/>
                      </a:lnTo>
                      <a:lnTo>
                        <a:pt x="69" y="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45" name="Freeform 433"/>
                <p:cNvSpPr>
                  <a:spLocks noChangeAspect="1"/>
                </p:cNvSpPr>
                <p:nvPr/>
              </p:nvSpPr>
              <p:spPr bwMode="auto">
                <a:xfrm>
                  <a:off x="262" y="605"/>
                  <a:ext cx="14" cy="32"/>
                </a:xfrm>
                <a:custGeom>
                  <a:avLst/>
                  <a:gdLst>
                    <a:gd name="T0" fmla="*/ 41 w 41"/>
                    <a:gd name="T1" fmla="*/ 0 h 100"/>
                    <a:gd name="T2" fmla="*/ 3 w 41"/>
                    <a:gd name="T3" fmla="*/ 100 h 100"/>
                    <a:gd name="T4" fmla="*/ 1 w 41"/>
                    <a:gd name="T5" fmla="*/ 94 h 100"/>
                    <a:gd name="T6" fmla="*/ 0 w 41"/>
                    <a:gd name="T7" fmla="*/ 87 h 100"/>
                    <a:gd name="T8" fmla="*/ 0 w 41"/>
                    <a:gd name="T9" fmla="*/ 80 h 100"/>
                    <a:gd name="T10" fmla="*/ 0 w 41"/>
                    <a:gd name="T11" fmla="*/ 73 h 100"/>
                    <a:gd name="T12" fmla="*/ 1 w 41"/>
                    <a:gd name="T13" fmla="*/ 66 h 100"/>
                    <a:gd name="T14" fmla="*/ 2 w 41"/>
                    <a:gd name="T15" fmla="*/ 59 h 100"/>
                    <a:gd name="T16" fmla="*/ 4 w 41"/>
                    <a:gd name="T17" fmla="*/ 51 h 100"/>
                    <a:gd name="T18" fmla="*/ 6 w 41"/>
                    <a:gd name="T19" fmla="*/ 45 h 100"/>
                    <a:gd name="T20" fmla="*/ 9 w 41"/>
                    <a:gd name="T21" fmla="*/ 37 h 100"/>
                    <a:gd name="T22" fmla="*/ 12 w 41"/>
                    <a:gd name="T23" fmla="*/ 31 h 100"/>
                    <a:gd name="T24" fmla="*/ 17 w 41"/>
                    <a:gd name="T25" fmla="*/ 25 h 100"/>
                    <a:gd name="T26" fmla="*/ 21 w 41"/>
                    <a:gd name="T27" fmla="*/ 19 h 100"/>
                    <a:gd name="T28" fmla="*/ 25 w 41"/>
                    <a:gd name="T29" fmla="*/ 14 h 100"/>
                    <a:gd name="T30" fmla="*/ 30 w 41"/>
                    <a:gd name="T31" fmla="*/ 9 h 100"/>
                    <a:gd name="T32" fmla="*/ 36 w 41"/>
                    <a:gd name="T33" fmla="*/ 4 h 100"/>
                    <a:gd name="T34" fmla="*/ 41 w 41"/>
                    <a:gd name="T3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100">
                      <a:moveTo>
                        <a:pt x="41" y="0"/>
                      </a:moveTo>
                      <a:lnTo>
                        <a:pt x="3" y="100"/>
                      </a:lnTo>
                      <a:lnTo>
                        <a:pt x="1" y="94"/>
                      </a:lnTo>
                      <a:lnTo>
                        <a:pt x="0" y="87"/>
                      </a:lnTo>
                      <a:lnTo>
                        <a:pt x="0" y="80"/>
                      </a:lnTo>
                      <a:lnTo>
                        <a:pt x="0" y="73"/>
                      </a:lnTo>
                      <a:lnTo>
                        <a:pt x="1" y="66"/>
                      </a:lnTo>
                      <a:lnTo>
                        <a:pt x="2" y="59"/>
                      </a:lnTo>
                      <a:lnTo>
                        <a:pt x="4" y="51"/>
                      </a:lnTo>
                      <a:lnTo>
                        <a:pt x="6" y="45"/>
                      </a:lnTo>
                      <a:lnTo>
                        <a:pt x="9" y="37"/>
                      </a:lnTo>
                      <a:lnTo>
                        <a:pt x="12" y="31"/>
                      </a:lnTo>
                      <a:lnTo>
                        <a:pt x="17" y="25"/>
                      </a:lnTo>
                      <a:lnTo>
                        <a:pt x="21" y="19"/>
                      </a:lnTo>
                      <a:lnTo>
                        <a:pt x="25" y="14"/>
                      </a:lnTo>
                      <a:lnTo>
                        <a:pt x="30" y="9"/>
                      </a:lnTo>
                      <a:lnTo>
                        <a:pt x="36" y="4"/>
                      </a:lnTo>
                      <a:lnTo>
                        <a:pt x="41" y="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46" name="Freeform 434"/>
                <p:cNvSpPr>
                  <a:spLocks noChangeAspect="1"/>
                </p:cNvSpPr>
                <p:nvPr/>
              </p:nvSpPr>
              <p:spPr bwMode="auto">
                <a:xfrm>
                  <a:off x="262" y="599"/>
                  <a:ext cx="256" cy="332"/>
                </a:xfrm>
                <a:custGeom>
                  <a:avLst/>
                  <a:gdLst>
                    <a:gd name="T0" fmla="*/ 119 w 775"/>
                    <a:gd name="T1" fmla="*/ 6 h 1002"/>
                    <a:gd name="T2" fmla="*/ 123 w 775"/>
                    <a:gd name="T3" fmla="*/ 7 h 1002"/>
                    <a:gd name="T4" fmla="*/ 127 w 775"/>
                    <a:gd name="T5" fmla="*/ 9 h 1002"/>
                    <a:gd name="T6" fmla="*/ 132 w 775"/>
                    <a:gd name="T7" fmla="*/ 11 h 1002"/>
                    <a:gd name="T8" fmla="*/ 135 w 775"/>
                    <a:gd name="T9" fmla="*/ 14 h 1002"/>
                    <a:gd name="T10" fmla="*/ 139 w 775"/>
                    <a:gd name="T11" fmla="*/ 16 h 1002"/>
                    <a:gd name="T12" fmla="*/ 142 w 775"/>
                    <a:gd name="T13" fmla="*/ 20 h 1002"/>
                    <a:gd name="T14" fmla="*/ 145 w 775"/>
                    <a:gd name="T15" fmla="*/ 23 h 1002"/>
                    <a:gd name="T16" fmla="*/ 149 w 775"/>
                    <a:gd name="T17" fmla="*/ 26 h 1002"/>
                    <a:gd name="T18" fmla="*/ 150 w 775"/>
                    <a:gd name="T19" fmla="*/ 25 h 1002"/>
                    <a:gd name="T20" fmla="*/ 152 w 775"/>
                    <a:gd name="T21" fmla="*/ 29 h 1002"/>
                    <a:gd name="T22" fmla="*/ 153 w 775"/>
                    <a:gd name="T23" fmla="*/ 30 h 1002"/>
                    <a:gd name="T24" fmla="*/ 154 w 775"/>
                    <a:gd name="T25" fmla="*/ 31 h 1002"/>
                    <a:gd name="T26" fmla="*/ 155 w 775"/>
                    <a:gd name="T27" fmla="*/ 33 h 1002"/>
                    <a:gd name="T28" fmla="*/ 156 w 775"/>
                    <a:gd name="T29" fmla="*/ 34 h 1002"/>
                    <a:gd name="T30" fmla="*/ 157 w 775"/>
                    <a:gd name="T31" fmla="*/ 35 h 1002"/>
                    <a:gd name="T32" fmla="*/ 158 w 775"/>
                    <a:gd name="T33" fmla="*/ 38 h 1002"/>
                    <a:gd name="T34" fmla="*/ 159 w 775"/>
                    <a:gd name="T35" fmla="*/ 39 h 1002"/>
                    <a:gd name="T36" fmla="*/ 160 w 775"/>
                    <a:gd name="T37" fmla="*/ 40 h 1002"/>
                    <a:gd name="T38" fmla="*/ 775 w 775"/>
                    <a:gd name="T39" fmla="*/ 901 h 1002"/>
                    <a:gd name="T40" fmla="*/ 626 w 775"/>
                    <a:gd name="T41" fmla="*/ 1002 h 1002"/>
                    <a:gd name="T42" fmla="*/ 9 w 775"/>
                    <a:gd name="T43" fmla="*/ 139 h 1002"/>
                    <a:gd name="T44" fmla="*/ 11 w 775"/>
                    <a:gd name="T45" fmla="*/ 138 h 1002"/>
                    <a:gd name="T46" fmla="*/ 7 w 775"/>
                    <a:gd name="T47" fmla="*/ 128 h 1002"/>
                    <a:gd name="T48" fmla="*/ 4 w 775"/>
                    <a:gd name="T49" fmla="*/ 119 h 1002"/>
                    <a:gd name="T50" fmla="*/ 1 w 775"/>
                    <a:gd name="T51" fmla="*/ 109 h 1002"/>
                    <a:gd name="T52" fmla="*/ 0 w 775"/>
                    <a:gd name="T53" fmla="*/ 99 h 1002"/>
                    <a:gd name="T54" fmla="*/ 0 w 775"/>
                    <a:gd name="T55" fmla="*/ 89 h 1002"/>
                    <a:gd name="T56" fmla="*/ 1 w 775"/>
                    <a:gd name="T57" fmla="*/ 79 h 1002"/>
                    <a:gd name="T58" fmla="*/ 3 w 775"/>
                    <a:gd name="T59" fmla="*/ 68 h 1002"/>
                    <a:gd name="T60" fmla="*/ 6 w 775"/>
                    <a:gd name="T61" fmla="*/ 59 h 1002"/>
                    <a:gd name="T62" fmla="*/ 10 w 775"/>
                    <a:gd name="T63" fmla="*/ 50 h 1002"/>
                    <a:gd name="T64" fmla="*/ 14 w 775"/>
                    <a:gd name="T65" fmla="*/ 42 h 1002"/>
                    <a:gd name="T66" fmla="*/ 20 w 775"/>
                    <a:gd name="T67" fmla="*/ 34 h 1002"/>
                    <a:gd name="T68" fmla="*/ 25 w 775"/>
                    <a:gd name="T69" fmla="*/ 28 h 1002"/>
                    <a:gd name="T70" fmla="*/ 31 w 775"/>
                    <a:gd name="T71" fmla="*/ 22 h 1002"/>
                    <a:gd name="T72" fmla="*/ 38 w 775"/>
                    <a:gd name="T73" fmla="*/ 16 h 1002"/>
                    <a:gd name="T74" fmla="*/ 45 w 775"/>
                    <a:gd name="T75" fmla="*/ 12 h 1002"/>
                    <a:gd name="T76" fmla="*/ 53 w 775"/>
                    <a:gd name="T77" fmla="*/ 8 h 1002"/>
                    <a:gd name="T78" fmla="*/ 60 w 775"/>
                    <a:gd name="T79" fmla="*/ 5 h 1002"/>
                    <a:gd name="T80" fmla="*/ 69 w 775"/>
                    <a:gd name="T81" fmla="*/ 3 h 1002"/>
                    <a:gd name="T82" fmla="*/ 77 w 775"/>
                    <a:gd name="T83" fmla="*/ 0 h 1002"/>
                    <a:gd name="T84" fmla="*/ 86 w 775"/>
                    <a:gd name="T85" fmla="*/ 0 h 1002"/>
                    <a:gd name="T86" fmla="*/ 94 w 775"/>
                    <a:gd name="T87" fmla="*/ 0 h 1002"/>
                    <a:gd name="T88" fmla="*/ 102 w 775"/>
                    <a:gd name="T89" fmla="*/ 0 h 1002"/>
                    <a:gd name="T90" fmla="*/ 110 w 775"/>
                    <a:gd name="T91" fmla="*/ 3 h 1002"/>
                    <a:gd name="T92" fmla="*/ 119 w 775"/>
                    <a:gd name="T93" fmla="*/ 6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75" h="1002">
                      <a:moveTo>
                        <a:pt x="119" y="6"/>
                      </a:moveTo>
                      <a:lnTo>
                        <a:pt x="123" y="7"/>
                      </a:lnTo>
                      <a:lnTo>
                        <a:pt x="127" y="9"/>
                      </a:lnTo>
                      <a:lnTo>
                        <a:pt x="132" y="11"/>
                      </a:lnTo>
                      <a:lnTo>
                        <a:pt x="135" y="14"/>
                      </a:lnTo>
                      <a:lnTo>
                        <a:pt x="139" y="16"/>
                      </a:lnTo>
                      <a:lnTo>
                        <a:pt x="142" y="20"/>
                      </a:lnTo>
                      <a:lnTo>
                        <a:pt x="145" y="23"/>
                      </a:lnTo>
                      <a:lnTo>
                        <a:pt x="149" y="26"/>
                      </a:lnTo>
                      <a:lnTo>
                        <a:pt x="150" y="25"/>
                      </a:lnTo>
                      <a:lnTo>
                        <a:pt x="152" y="29"/>
                      </a:lnTo>
                      <a:lnTo>
                        <a:pt x="153" y="30"/>
                      </a:lnTo>
                      <a:lnTo>
                        <a:pt x="154" y="31"/>
                      </a:lnTo>
                      <a:lnTo>
                        <a:pt x="155" y="33"/>
                      </a:lnTo>
                      <a:lnTo>
                        <a:pt x="156" y="34"/>
                      </a:lnTo>
                      <a:lnTo>
                        <a:pt x="157" y="35"/>
                      </a:lnTo>
                      <a:lnTo>
                        <a:pt x="158" y="38"/>
                      </a:lnTo>
                      <a:lnTo>
                        <a:pt x="159" y="39"/>
                      </a:lnTo>
                      <a:lnTo>
                        <a:pt x="160" y="40"/>
                      </a:lnTo>
                      <a:lnTo>
                        <a:pt x="775" y="901"/>
                      </a:lnTo>
                      <a:lnTo>
                        <a:pt x="626" y="1002"/>
                      </a:lnTo>
                      <a:lnTo>
                        <a:pt x="9" y="139"/>
                      </a:lnTo>
                      <a:lnTo>
                        <a:pt x="11" y="138"/>
                      </a:lnTo>
                      <a:lnTo>
                        <a:pt x="7" y="128"/>
                      </a:lnTo>
                      <a:lnTo>
                        <a:pt x="4" y="119"/>
                      </a:lnTo>
                      <a:lnTo>
                        <a:pt x="1" y="109"/>
                      </a:lnTo>
                      <a:lnTo>
                        <a:pt x="0" y="99"/>
                      </a:lnTo>
                      <a:lnTo>
                        <a:pt x="0" y="89"/>
                      </a:lnTo>
                      <a:lnTo>
                        <a:pt x="1" y="79"/>
                      </a:lnTo>
                      <a:lnTo>
                        <a:pt x="3" y="68"/>
                      </a:lnTo>
                      <a:lnTo>
                        <a:pt x="6" y="59"/>
                      </a:lnTo>
                      <a:lnTo>
                        <a:pt x="10" y="50"/>
                      </a:lnTo>
                      <a:lnTo>
                        <a:pt x="14" y="42"/>
                      </a:lnTo>
                      <a:lnTo>
                        <a:pt x="20" y="34"/>
                      </a:lnTo>
                      <a:lnTo>
                        <a:pt x="25" y="28"/>
                      </a:lnTo>
                      <a:lnTo>
                        <a:pt x="31" y="22"/>
                      </a:lnTo>
                      <a:lnTo>
                        <a:pt x="38" y="16"/>
                      </a:lnTo>
                      <a:lnTo>
                        <a:pt x="45" y="12"/>
                      </a:lnTo>
                      <a:lnTo>
                        <a:pt x="53" y="8"/>
                      </a:lnTo>
                      <a:lnTo>
                        <a:pt x="60" y="5"/>
                      </a:lnTo>
                      <a:lnTo>
                        <a:pt x="69" y="3"/>
                      </a:lnTo>
                      <a:lnTo>
                        <a:pt x="77" y="0"/>
                      </a:lnTo>
                      <a:lnTo>
                        <a:pt x="86" y="0"/>
                      </a:lnTo>
                      <a:lnTo>
                        <a:pt x="94" y="0"/>
                      </a:lnTo>
                      <a:lnTo>
                        <a:pt x="102" y="0"/>
                      </a:lnTo>
                      <a:lnTo>
                        <a:pt x="110" y="3"/>
                      </a:lnTo>
                      <a:lnTo>
                        <a:pt x="119" y="6"/>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47" name="Freeform 435"/>
                <p:cNvSpPr>
                  <a:spLocks noChangeAspect="1"/>
                </p:cNvSpPr>
                <p:nvPr/>
              </p:nvSpPr>
              <p:spPr bwMode="auto">
                <a:xfrm>
                  <a:off x="301" y="59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48" name="Freeform 436"/>
                <p:cNvSpPr>
                  <a:spLocks noChangeAspect="1"/>
                </p:cNvSpPr>
                <p:nvPr/>
              </p:nvSpPr>
              <p:spPr bwMode="auto">
                <a:xfrm>
                  <a:off x="305" y="600"/>
                  <a:ext cx="0"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49" name="Freeform 437"/>
                <p:cNvSpPr>
                  <a:spLocks noChangeAspect="1"/>
                </p:cNvSpPr>
                <p:nvPr/>
              </p:nvSpPr>
              <p:spPr bwMode="auto">
                <a:xfrm>
                  <a:off x="305" y="601"/>
                  <a:ext cx="0"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50" name="Freeform 438"/>
                <p:cNvSpPr>
                  <a:spLocks noChangeAspect="1"/>
                </p:cNvSpPr>
                <p:nvPr/>
              </p:nvSpPr>
              <p:spPr bwMode="auto">
                <a:xfrm>
                  <a:off x="305" y="60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51" name="Freeform 439"/>
                <p:cNvSpPr>
                  <a:spLocks noChangeAspect="1"/>
                </p:cNvSpPr>
                <p:nvPr/>
              </p:nvSpPr>
              <p:spPr bwMode="auto">
                <a:xfrm>
                  <a:off x="305" y="605"/>
                  <a:ext cx="1" cy="0"/>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1 w 1"/>
                    <a:gd name="T13" fmla="*/ 0 h 1"/>
                    <a:gd name="T14" fmla="*/ 1 w 1"/>
                    <a:gd name="T15" fmla="*/ 0 h 1"/>
                    <a:gd name="T16" fmla="*/ 1 w 1"/>
                    <a:gd name="T17" fmla="*/ 1 h 1"/>
                    <a:gd name="T18" fmla="*/ 1 w 1"/>
                    <a:gd name="T19" fmla="*/ 0 h 1"/>
                    <a:gd name="T20" fmla="*/ 1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0" y="0"/>
                      </a:moveTo>
                      <a:lnTo>
                        <a:pt x="0" y="0"/>
                      </a:lnTo>
                      <a:lnTo>
                        <a:pt x="0" y="0"/>
                      </a:lnTo>
                      <a:lnTo>
                        <a:pt x="0" y="0"/>
                      </a:lnTo>
                      <a:lnTo>
                        <a:pt x="0" y="0"/>
                      </a:lnTo>
                      <a:lnTo>
                        <a:pt x="0" y="0"/>
                      </a:lnTo>
                      <a:lnTo>
                        <a:pt x="1" y="0"/>
                      </a:lnTo>
                      <a:lnTo>
                        <a:pt x="1" y="0"/>
                      </a:lnTo>
                      <a:lnTo>
                        <a:pt x="1" y="1"/>
                      </a:lnTo>
                      <a:lnTo>
                        <a:pt x="1" y="0"/>
                      </a:lnTo>
                      <a:lnTo>
                        <a:pt x="1"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52" name="Freeform 440"/>
                <p:cNvSpPr>
                  <a:spLocks noChangeAspect="1"/>
                </p:cNvSpPr>
                <p:nvPr/>
              </p:nvSpPr>
              <p:spPr bwMode="auto">
                <a:xfrm>
                  <a:off x="306" y="605"/>
                  <a:ext cx="1" cy="0"/>
                </a:xfrm>
                <a:custGeom>
                  <a:avLst/>
                  <a:gdLst>
                    <a:gd name="T0" fmla="*/ 0 h 1"/>
                    <a:gd name="T1" fmla="*/ 0 h 1"/>
                    <a:gd name="T2" fmla="*/ 1 h 1"/>
                    <a:gd name="T3" fmla="*/ 1 h 1"/>
                    <a:gd name="T4" fmla="*/ 1 h 1"/>
                    <a:gd name="T5" fmla="*/ 1 h 1"/>
                    <a:gd name="T6" fmla="*/ 1 h 1"/>
                    <a:gd name="T7" fmla="*/ 1 h 1"/>
                    <a:gd name="T8" fmla="*/ 1 h 1"/>
                    <a:gd name="T9" fmla="*/ 1 h 1"/>
                    <a:gd name="T10" fmla="*/ 1 h 1"/>
                    <a:gd name="T11" fmla="*/ 1 h 1"/>
                    <a:gd name="T12" fmla="*/ 1 h 1"/>
                    <a:gd name="T13" fmla="*/ 1 h 1"/>
                    <a:gd name="T14" fmla="*/ 1 h 1"/>
                    <a:gd name="T15" fmla="*/ 0 h 1"/>
                    <a:gd name="T16"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0"/>
                      </a:moveTo>
                      <a:lnTo>
                        <a:pt x="0" y="0"/>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53" name="Freeform 441"/>
                <p:cNvSpPr>
                  <a:spLocks noChangeAspect="1"/>
                </p:cNvSpPr>
                <p:nvPr/>
              </p:nvSpPr>
              <p:spPr bwMode="auto">
                <a:xfrm>
                  <a:off x="306" y="605"/>
                  <a:ext cx="1" cy="0"/>
                </a:xfrm>
                <a:custGeom>
                  <a:avLst/>
                  <a:gdLst>
                    <a:gd name="T0" fmla="*/ 0 w 1"/>
                    <a:gd name="T1" fmla="*/ 0 w 1"/>
                    <a:gd name="T2" fmla="*/ 1 w 1"/>
                    <a:gd name="T3" fmla="*/ 1 w 1"/>
                    <a:gd name="T4" fmla="*/ 1 w 1"/>
                    <a:gd name="T5" fmla="*/ 1 w 1"/>
                    <a:gd name="T6" fmla="*/ 1 w 1"/>
                    <a:gd name="T7" fmla="*/ 1 w 1"/>
                    <a:gd name="T8" fmla="*/ 1 w 1"/>
                    <a:gd name="T9" fmla="*/ 1 w 1"/>
                    <a:gd name="T10" fmla="*/ 1 w 1"/>
                    <a:gd name="T11" fmla="*/ 1 w 1"/>
                    <a:gd name="T12" fmla="*/ 1 w 1"/>
                    <a:gd name="T13" fmla="*/ 1 w 1"/>
                    <a:gd name="T14" fmla="*/ 1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lnTo>
                        <a:pt x="0" y="0"/>
                      </a:lnTo>
                      <a:lnTo>
                        <a:pt x="1" y="0"/>
                      </a:lnTo>
                      <a:lnTo>
                        <a:pt x="1" y="0"/>
                      </a:lnTo>
                      <a:lnTo>
                        <a:pt x="1" y="0"/>
                      </a:lnTo>
                      <a:lnTo>
                        <a:pt x="1" y="0"/>
                      </a:lnTo>
                      <a:lnTo>
                        <a:pt x="1" y="0"/>
                      </a:lnTo>
                      <a:lnTo>
                        <a:pt x="1" y="0"/>
                      </a:lnTo>
                      <a:lnTo>
                        <a:pt x="1" y="0"/>
                      </a:lnTo>
                      <a:lnTo>
                        <a:pt x="1" y="0"/>
                      </a:lnTo>
                      <a:lnTo>
                        <a:pt x="1" y="0"/>
                      </a:lnTo>
                      <a:lnTo>
                        <a:pt x="1" y="0"/>
                      </a:lnTo>
                      <a:lnTo>
                        <a:pt x="1" y="0"/>
                      </a:lnTo>
                      <a:lnTo>
                        <a:pt x="1" y="0"/>
                      </a:lnTo>
                      <a:lnTo>
                        <a:pt x="1"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54" name="Freeform 442"/>
                <p:cNvSpPr>
                  <a:spLocks noChangeAspect="1"/>
                </p:cNvSpPr>
                <p:nvPr/>
              </p:nvSpPr>
              <p:spPr bwMode="auto">
                <a:xfrm>
                  <a:off x="307" y="605"/>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55" name="Freeform 443"/>
                <p:cNvSpPr>
                  <a:spLocks noChangeAspect="1"/>
                </p:cNvSpPr>
                <p:nvPr/>
              </p:nvSpPr>
              <p:spPr bwMode="auto">
                <a:xfrm>
                  <a:off x="307" y="605"/>
                  <a:ext cx="1" cy="0"/>
                </a:xfrm>
                <a:custGeom>
                  <a:avLst/>
                  <a:gdLst>
                    <a:gd name="T0" fmla="*/ 0 w 1"/>
                    <a:gd name="T1" fmla="*/ 1 w 1"/>
                    <a:gd name="T2" fmla="*/ 1 w 1"/>
                    <a:gd name="T3" fmla="*/ 1 w 1"/>
                    <a:gd name="T4" fmla="*/ 1 w 1"/>
                    <a:gd name="T5" fmla="*/ 1 w 1"/>
                    <a:gd name="T6" fmla="*/ 1 w 1"/>
                    <a:gd name="T7" fmla="*/ 1 w 1"/>
                    <a:gd name="T8" fmla="*/ 1 w 1"/>
                    <a:gd name="T9" fmla="*/ 1 w 1"/>
                    <a:gd name="T10" fmla="*/ 1 w 1"/>
                    <a:gd name="T11" fmla="*/ 1 w 1"/>
                    <a:gd name="T12" fmla="*/ 1 w 1"/>
                    <a:gd name="T13" fmla="*/ 1 w 1"/>
                    <a:gd name="T14" fmla="*/ 1 w 1"/>
                    <a:gd name="T15" fmla="*/ 1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lnTo>
                        <a:pt x="1" y="0"/>
                      </a:lnTo>
                      <a:lnTo>
                        <a:pt x="1" y="0"/>
                      </a:lnTo>
                      <a:lnTo>
                        <a:pt x="1" y="0"/>
                      </a:lnTo>
                      <a:lnTo>
                        <a:pt x="1" y="0"/>
                      </a:lnTo>
                      <a:lnTo>
                        <a:pt x="1" y="0"/>
                      </a:lnTo>
                      <a:lnTo>
                        <a:pt x="1" y="0"/>
                      </a:lnTo>
                      <a:lnTo>
                        <a:pt x="1" y="0"/>
                      </a:lnTo>
                      <a:lnTo>
                        <a:pt x="1" y="0"/>
                      </a:lnTo>
                      <a:lnTo>
                        <a:pt x="1" y="0"/>
                      </a:lnTo>
                      <a:lnTo>
                        <a:pt x="1" y="0"/>
                      </a:lnTo>
                      <a:lnTo>
                        <a:pt x="1" y="0"/>
                      </a:lnTo>
                      <a:lnTo>
                        <a:pt x="1" y="0"/>
                      </a:lnTo>
                      <a:lnTo>
                        <a:pt x="1" y="0"/>
                      </a:lnTo>
                      <a:lnTo>
                        <a:pt x="1" y="0"/>
                      </a:lnTo>
                      <a:lnTo>
                        <a:pt x="1"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56" name="Freeform 444"/>
                <p:cNvSpPr>
                  <a:spLocks noChangeAspect="1"/>
                </p:cNvSpPr>
                <p:nvPr/>
              </p:nvSpPr>
              <p:spPr bwMode="auto">
                <a:xfrm>
                  <a:off x="308" y="605"/>
                  <a:ext cx="1" cy="0"/>
                </a:xfrm>
                <a:custGeom>
                  <a:avLst/>
                  <a:gdLst>
                    <a:gd name="T0" fmla="*/ 0 h 1"/>
                    <a:gd name="T1" fmla="*/ 0 h 1"/>
                    <a:gd name="T2" fmla="*/ 0 h 1"/>
                    <a:gd name="T3" fmla="*/ 1 h 1"/>
                    <a:gd name="T4" fmla="*/ 1 h 1"/>
                    <a:gd name="T5" fmla="*/ 1 h 1"/>
                    <a:gd name="T6" fmla="*/ 1 h 1"/>
                    <a:gd name="T7" fmla="*/ 1 h 1"/>
                    <a:gd name="T8" fmla="*/ 1 h 1"/>
                    <a:gd name="T9" fmla="*/ 1 h 1"/>
                    <a:gd name="T10" fmla="*/ 1 h 1"/>
                    <a:gd name="T11" fmla="*/ 1 h 1"/>
                    <a:gd name="T12" fmla="*/ 1 h 1"/>
                    <a:gd name="T13" fmla="*/ 1 h 1"/>
                    <a:gd name="T14" fmla="*/ 0 h 1"/>
                    <a:gd name="T15" fmla="*/ 0 h 1"/>
                    <a:gd name="T16"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0"/>
                      </a:moveTo>
                      <a:lnTo>
                        <a:pt x="0" y="0"/>
                      </a:lnTo>
                      <a:lnTo>
                        <a:pt x="0" y="0"/>
                      </a:lnTo>
                      <a:lnTo>
                        <a:pt x="0" y="1"/>
                      </a:lnTo>
                      <a:lnTo>
                        <a:pt x="0" y="1"/>
                      </a:lnTo>
                      <a:lnTo>
                        <a:pt x="0" y="1"/>
                      </a:lnTo>
                      <a:lnTo>
                        <a:pt x="0" y="1"/>
                      </a:lnTo>
                      <a:lnTo>
                        <a:pt x="0" y="1"/>
                      </a:lnTo>
                      <a:lnTo>
                        <a:pt x="0" y="1"/>
                      </a:lnTo>
                      <a:lnTo>
                        <a:pt x="0" y="1"/>
                      </a:lnTo>
                      <a:lnTo>
                        <a:pt x="0" y="1"/>
                      </a:lnTo>
                      <a:lnTo>
                        <a:pt x="0" y="1"/>
                      </a:lnTo>
                      <a:lnTo>
                        <a:pt x="0" y="1"/>
                      </a:lnTo>
                      <a:lnTo>
                        <a:pt x="0" y="1"/>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57" name="Freeform 445"/>
                <p:cNvSpPr>
                  <a:spLocks noChangeAspect="1"/>
                </p:cNvSpPr>
                <p:nvPr/>
              </p:nvSpPr>
              <p:spPr bwMode="auto">
                <a:xfrm>
                  <a:off x="308" y="605"/>
                  <a:ext cx="1" cy="1"/>
                </a:xfrm>
                <a:custGeom>
                  <a:avLst/>
                  <a:gdLst>
                    <a:gd name="T0" fmla="*/ 0 w 1"/>
                    <a:gd name="T1" fmla="*/ 0 w 1"/>
                    <a:gd name="T2" fmla="*/ 1 w 1"/>
                    <a:gd name="T3" fmla="*/ 1 w 1"/>
                    <a:gd name="T4" fmla="*/ 1 w 1"/>
                    <a:gd name="T5" fmla="*/ 1 w 1"/>
                    <a:gd name="T6" fmla="*/ 1 w 1"/>
                    <a:gd name="T7" fmla="*/ 1 w 1"/>
                    <a:gd name="T8" fmla="*/ 1 w 1"/>
                    <a:gd name="T9" fmla="*/ 1 w 1"/>
                    <a:gd name="T10" fmla="*/ 1 w 1"/>
                    <a:gd name="T11" fmla="*/ 1 w 1"/>
                    <a:gd name="T12" fmla="*/ 1 w 1"/>
                    <a:gd name="T13" fmla="*/ 1 w 1"/>
                    <a:gd name="T14" fmla="*/ 1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lnTo>
                        <a:pt x="0" y="0"/>
                      </a:lnTo>
                      <a:lnTo>
                        <a:pt x="1" y="0"/>
                      </a:lnTo>
                      <a:lnTo>
                        <a:pt x="1" y="0"/>
                      </a:lnTo>
                      <a:lnTo>
                        <a:pt x="1" y="0"/>
                      </a:lnTo>
                      <a:lnTo>
                        <a:pt x="1" y="0"/>
                      </a:lnTo>
                      <a:lnTo>
                        <a:pt x="1" y="0"/>
                      </a:lnTo>
                      <a:lnTo>
                        <a:pt x="1" y="0"/>
                      </a:lnTo>
                      <a:lnTo>
                        <a:pt x="1" y="0"/>
                      </a:lnTo>
                      <a:lnTo>
                        <a:pt x="1" y="0"/>
                      </a:lnTo>
                      <a:lnTo>
                        <a:pt x="1" y="0"/>
                      </a:lnTo>
                      <a:lnTo>
                        <a:pt x="1" y="0"/>
                      </a:lnTo>
                      <a:lnTo>
                        <a:pt x="1" y="0"/>
                      </a:lnTo>
                      <a:lnTo>
                        <a:pt x="1" y="0"/>
                      </a:lnTo>
                      <a:lnTo>
                        <a:pt x="1"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58" name="Freeform 446"/>
                <p:cNvSpPr>
                  <a:spLocks noChangeAspect="1"/>
                </p:cNvSpPr>
                <p:nvPr/>
              </p:nvSpPr>
              <p:spPr bwMode="auto">
                <a:xfrm>
                  <a:off x="309" y="605"/>
                  <a:ext cx="1" cy="1"/>
                </a:xfrm>
                <a:custGeom>
                  <a:avLst/>
                  <a:gdLst>
                    <a:gd name="T0" fmla="*/ 0 h 1"/>
                    <a:gd name="T1" fmla="*/ 0 h 1"/>
                    <a:gd name="T2" fmla="*/ 0 h 1"/>
                    <a:gd name="T3" fmla="*/ 0 h 1"/>
                    <a:gd name="T4" fmla="*/ 0 h 1"/>
                    <a:gd name="T5" fmla="*/ 0 h 1"/>
                    <a:gd name="T6" fmla="*/ 0 h 1"/>
                    <a:gd name="T7" fmla="*/ 1 h 1"/>
                    <a:gd name="T8" fmla="*/ 1 h 1"/>
                    <a:gd name="T9" fmla="*/ 1 h 1"/>
                    <a:gd name="T10" fmla="*/ 0 h 1"/>
                    <a:gd name="T11" fmla="*/ 0 h 1"/>
                    <a:gd name="T12" fmla="*/ 0 h 1"/>
                    <a:gd name="T13" fmla="*/ 0 h 1"/>
                    <a:gd name="T14" fmla="*/ 0 h 1"/>
                    <a:gd name="T15" fmla="*/ 0 h 1"/>
                    <a:gd name="T16"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0"/>
                      </a:moveTo>
                      <a:lnTo>
                        <a:pt x="0" y="0"/>
                      </a:lnTo>
                      <a:lnTo>
                        <a:pt x="0" y="0"/>
                      </a:lnTo>
                      <a:lnTo>
                        <a:pt x="0" y="0"/>
                      </a:lnTo>
                      <a:lnTo>
                        <a:pt x="0" y="0"/>
                      </a:lnTo>
                      <a:lnTo>
                        <a:pt x="0" y="0"/>
                      </a:lnTo>
                      <a:lnTo>
                        <a:pt x="0" y="0"/>
                      </a:lnTo>
                      <a:lnTo>
                        <a:pt x="0" y="1"/>
                      </a:lnTo>
                      <a:lnTo>
                        <a:pt x="0" y="1"/>
                      </a:lnTo>
                      <a:lnTo>
                        <a:pt x="0" y="1"/>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59" name="Freeform 447"/>
                <p:cNvSpPr>
                  <a:spLocks noChangeAspect="1"/>
                </p:cNvSpPr>
                <p:nvPr/>
              </p:nvSpPr>
              <p:spPr bwMode="auto">
                <a:xfrm>
                  <a:off x="312" y="611"/>
                  <a:ext cx="0" cy="0"/>
                </a:xfrm>
                <a:custGeom>
                  <a:avLst/>
                  <a:gdLst>
                    <a:gd name="T0" fmla="*/ 0 w 1"/>
                    <a:gd name="T1" fmla="*/ 0 w 1"/>
                    <a:gd name="T2" fmla="*/ 0 w 1"/>
                    <a:gd name="T3" fmla="*/ 1 w 1"/>
                    <a:gd name="T4" fmla="*/ 1 w 1"/>
                    <a:gd name="T5" fmla="*/ 1 w 1"/>
                    <a:gd name="T6" fmla="*/ 1 w 1"/>
                    <a:gd name="T7" fmla="*/ 1 w 1"/>
                    <a:gd name="T8" fmla="*/ 1 w 1"/>
                    <a:gd name="T9" fmla="*/ 1 w 1"/>
                    <a:gd name="T10" fmla="*/ 1 w 1"/>
                    <a:gd name="T11" fmla="*/ 1 w 1"/>
                    <a:gd name="T12" fmla="*/ 1 w 1"/>
                    <a:gd name="T13" fmla="*/ 1 w 1"/>
                    <a:gd name="T14" fmla="*/ 0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lnTo>
                        <a:pt x="0" y="0"/>
                      </a:lnTo>
                      <a:lnTo>
                        <a:pt x="0" y="0"/>
                      </a:lnTo>
                      <a:lnTo>
                        <a:pt x="1" y="0"/>
                      </a:lnTo>
                      <a:lnTo>
                        <a:pt x="1" y="0"/>
                      </a:lnTo>
                      <a:lnTo>
                        <a:pt x="1" y="0"/>
                      </a:lnTo>
                      <a:lnTo>
                        <a:pt x="1" y="0"/>
                      </a:lnTo>
                      <a:lnTo>
                        <a:pt x="1" y="0"/>
                      </a:lnTo>
                      <a:lnTo>
                        <a:pt x="1" y="0"/>
                      </a:lnTo>
                      <a:lnTo>
                        <a:pt x="1" y="0"/>
                      </a:lnTo>
                      <a:lnTo>
                        <a:pt x="1" y="0"/>
                      </a:lnTo>
                      <a:lnTo>
                        <a:pt x="1" y="0"/>
                      </a:lnTo>
                      <a:lnTo>
                        <a:pt x="1" y="0"/>
                      </a:lnTo>
                      <a:lnTo>
                        <a:pt x="1"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60" name="Freeform 448"/>
                <p:cNvSpPr>
                  <a:spLocks noChangeAspect="1"/>
                </p:cNvSpPr>
                <p:nvPr/>
              </p:nvSpPr>
              <p:spPr bwMode="auto">
                <a:xfrm>
                  <a:off x="312" y="611"/>
                  <a:ext cx="1" cy="0"/>
                </a:xfrm>
                <a:custGeom>
                  <a:avLst/>
                  <a:gdLst>
                    <a:gd name="T0" fmla="*/ 0 h 1"/>
                    <a:gd name="T1" fmla="*/ 0 h 1"/>
                    <a:gd name="T2" fmla="*/ 0 h 1"/>
                    <a:gd name="T3" fmla="*/ 0 h 1"/>
                    <a:gd name="T4" fmla="*/ 0 h 1"/>
                    <a:gd name="T5" fmla="*/ 0 h 1"/>
                    <a:gd name="T6" fmla="*/ 1 h 1"/>
                    <a:gd name="T7" fmla="*/ 1 h 1"/>
                    <a:gd name="T8" fmla="*/ 1 h 1"/>
                    <a:gd name="T9" fmla="*/ 1 h 1"/>
                    <a:gd name="T10" fmla="*/ 1 h 1"/>
                    <a:gd name="T11" fmla="*/ 0 h 1"/>
                    <a:gd name="T12" fmla="*/ 0 h 1"/>
                    <a:gd name="T13" fmla="*/ 0 h 1"/>
                    <a:gd name="T14" fmla="*/ 0 h 1"/>
                    <a:gd name="T15" fmla="*/ 0 h 1"/>
                    <a:gd name="T16"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0"/>
                      </a:moveTo>
                      <a:lnTo>
                        <a:pt x="0" y="0"/>
                      </a:lnTo>
                      <a:lnTo>
                        <a:pt x="0" y="0"/>
                      </a:lnTo>
                      <a:lnTo>
                        <a:pt x="0" y="0"/>
                      </a:lnTo>
                      <a:lnTo>
                        <a:pt x="0" y="0"/>
                      </a:lnTo>
                      <a:lnTo>
                        <a:pt x="0" y="0"/>
                      </a:lnTo>
                      <a:lnTo>
                        <a:pt x="0" y="1"/>
                      </a:lnTo>
                      <a:lnTo>
                        <a:pt x="0" y="1"/>
                      </a:lnTo>
                      <a:lnTo>
                        <a:pt x="0" y="1"/>
                      </a:lnTo>
                      <a:lnTo>
                        <a:pt x="0" y="1"/>
                      </a:lnTo>
                      <a:lnTo>
                        <a:pt x="0" y="1"/>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61" name="Freeform 449"/>
                <p:cNvSpPr>
                  <a:spLocks noChangeAspect="1"/>
                </p:cNvSpPr>
                <p:nvPr/>
              </p:nvSpPr>
              <p:spPr bwMode="auto">
                <a:xfrm>
                  <a:off x="312" y="611"/>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62" name="Freeform 450"/>
                <p:cNvSpPr>
                  <a:spLocks noChangeAspect="1"/>
                </p:cNvSpPr>
                <p:nvPr/>
              </p:nvSpPr>
              <p:spPr bwMode="auto">
                <a:xfrm>
                  <a:off x="313" y="611"/>
                  <a:ext cx="1" cy="0"/>
                </a:xfrm>
                <a:custGeom>
                  <a:avLst/>
                  <a:gdLst>
                    <a:gd name="T0" fmla="*/ 0 w 2"/>
                    <a:gd name="T1" fmla="*/ 0 h 3"/>
                    <a:gd name="T2" fmla="*/ 0 w 2"/>
                    <a:gd name="T3" fmla="*/ 1 h 3"/>
                    <a:gd name="T4" fmla="*/ 0 w 2"/>
                    <a:gd name="T5" fmla="*/ 1 h 3"/>
                    <a:gd name="T6" fmla="*/ 0 w 2"/>
                    <a:gd name="T7" fmla="*/ 1 h 3"/>
                    <a:gd name="T8" fmla="*/ 1 w 2"/>
                    <a:gd name="T9" fmla="*/ 2 h 3"/>
                    <a:gd name="T10" fmla="*/ 1 w 2"/>
                    <a:gd name="T11" fmla="*/ 2 h 3"/>
                    <a:gd name="T12" fmla="*/ 1 w 2"/>
                    <a:gd name="T13" fmla="*/ 2 h 3"/>
                    <a:gd name="T14" fmla="*/ 1 w 2"/>
                    <a:gd name="T15" fmla="*/ 3 h 3"/>
                    <a:gd name="T16" fmla="*/ 2 w 2"/>
                    <a:gd name="T17" fmla="*/ 3 h 3"/>
                    <a:gd name="T18" fmla="*/ 2 w 2"/>
                    <a:gd name="T19" fmla="*/ 3 h 3"/>
                    <a:gd name="T20" fmla="*/ 1 w 2"/>
                    <a:gd name="T21" fmla="*/ 3 h 3"/>
                    <a:gd name="T22" fmla="*/ 1 w 2"/>
                    <a:gd name="T23" fmla="*/ 2 h 3"/>
                    <a:gd name="T24" fmla="*/ 1 w 2"/>
                    <a:gd name="T25" fmla="*/ 2 h 3"/>
                    <a:gd name="T26" fmla="*/ 1 w 2"/>
                    <a:gd name="T27" fmla="*/ 2 h 3"/>
                    <a:gd name="T28" fmla="*/ 0 w 2"/>
                    <a:gd name="T29" fmla="*/ 1 h 3"/>
                    <a:gd name="T30" fmla="*/ 0 w 2"/>
                    <a:gd name="T31" fmla="*/ 1 h 3"/>
                    <a:gd name="T32" fmla="*/ 0 w 2"/>
                    <a:gd name="T33" fmla="*/ 1 h 3"/>
                    <a:gd name="T34" fmla="*/ 0 w 2"/>
                    <a:gd name="T3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 h="3">
                      <a:moveTo>
                        <a:pt x="0" y="0"/>
                      </a:moveTo>
                      <a:lnTo>
                        <a:pt x="0" y="1"/>
                      </a:lnTo>
                      <a:lnTo>
                        <a:pt x="0" y="1"/>
                      </a:lnTo>
                      <a:lnTo>
                        <a:pt x="0" y="1"/>
                      </a:lnTo>
                      <a:lnTo>
                        <a:pt x="1" y="2"/>
                      </a:lnTo>
                      <a:lnTo>
                        <a:pt x="1" y="2"/>
                      </a:lnTo>
                      <a:lnTo>
                        <a:pt x="1" y="2"/>
                      </a:lnTo>
                      <a:lnTo>
                        <a:pt x="1" y="3"/>
                      </a:lnTo>
                      <a:lnTo>
                        <a:pt x="2" y="3"/>
                      </a:lnTo>
                      <a:lnTo>
                        <a:pt x="2" y="3"/>
                      </a:lnTo>
                      <a:lnTo>
                        <a:pt x="1" y="3"/>
                      </a:lnTo>
                      <a:lnTo>
                        <a:pt x="1" y="2"/>
                      </a:lnTo>
                      <a:lnTo>
                        <a:pt x="1" y="2"/>
                      </a:lnTo>
                      <a:lnTo>
                        <a:pt x="1" y="2"/>
                      </a:lnTo>
                      <a:lnTo>
                        <a:pt x="0" y="1"/>
                      </a:lnTo>
                      <a:lnTo>
                        <a:pt x="0" y="1"/>
                      </a:lnTo>
                      <a:lnTo>
                        <a:pt x="0" y="1"/>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63" name="Freeform 451"/>
                <p:cNvSpPr>
                  <a:spLocks noChangeAspect="1"/>
                </p:cNvSpPr>
                <p:nvPr/>
              </p:nvSpPr>
              <p:spPr bwMode="auto">
                <a:xfrm>
                  <a:off x="262" y="631"/>
                  <a:ext cx="2" cy="12"/>
                </a:xfrm>
                <a:custGeom>
                  <a:avLst/>
                  <a:gdLst>
                    <a:gd name="T0" fmla="*/ 11 w 11"/>
                    <a:gd name="T1" fmla="*/ 39 h 39"/>
                    <a:gd name="T2" fmla="*/ 9 w 11"/>
                    <a:gd name="T3" fmla="*/ 34 h 39"/>
                    <a:gd name="T4" fmla="*/ 7 w 11"/>
                    <a:gd name="T5" fmla="*/ 30 h 39"/>
                    <a:gd name="T6" fmla="*/ 5 w 11"/>
                    <a:gd name="T7" fmla="*/ 25 h 39"/>
                    <a:gd name="T8" fmla="*/ 4 w 11"/>
                    <a:gd name="T9" fmla="*/ 20 h 39"/>
                    <a:gd name="T10" fmla="*/ 3 w 11"/>
                    <a:gd name="T11" fmla="*/ 16 h 39"/>
                    <a:gd name="T12" fmla="*/ 2 w 11"/>
                    <a:gd name="T13" fmla="*/ 12 h 39"/>
                    <a:gd name="T14" fmla="*/ 1 w 11"/>
                    <a:gd name="T15" fmla="*/ 7 h 39"/>
                    <a:gd name="T16" fmla="*/ 0 w 11"/>
                    <a:gd name="T17" fmla="*/ 2 h 39"/>
                    <a:gd name="T18" fmla="*/ 0 w 11"/>
                    <a:gd name="T19" fmla="*/ 2 h 39"/>
                    <a:gd name="T20" fmla="*/ 0 w 11"/>
                    <a:gd name="T21" fmla="*/ 1 h 39"/>
                    <a:gd name="T22" fmla="*/ 0 w 11"/>
                    <a:gd name="T23" fmla="*/ 1 h 39"/>
                    <a:gd name="T24" fmla="*/ 0 w 11"/>
                    <a:gd name="T25" fmla="*/ 1 h 39"/>
                    <a:gd name="T26" fmla="*/ 0 w 11"/>
                    <a:gd name="T27" fmla="*/ 1 h 39"/>
                    <a:gd name="T28" fmla="*/ 0 w 11"/>
                    <a:gd name="T29" fmla="*/ 1 h 39"/>
                    <a:gd name="T30" fmla="*/ 0 w 11"/>
                    <a:gd name="T31" fmla="*/ 1 h 39"/>
                    <a:gd name="T32" fmla="*/ 0 w 11"/>
                    <a:gd name="T33" fmla="*/ 1 h 39"/>
                    <a:gd name="T34" fmla="*/ 0 w 11"/>
                    <a:gd name="T35" fmla="*/ 1 h 39"/>
                    <a:gd name="T36" fmla="*/ 0 w 11"/>
                    <a:gd name="T37" fmla="*/ 1 h 39"/>
                    <a:gd name="T38" fmla="*/ 0 w 11"/>
                    <a:gd name="T39" fmla="*/ 1 h 39"/>
                    <a:gd name="T40" fmla="*/ 0 w 11"/>
                    <a:gd name="T41" fmla="*/ 1 h 39"/>
                    <a:gd name="T42" fmla="*/ 0 w 11"/>
                    <a:gd name="T43" fmla="*/ 1 h 39"/>
                    <a:gd name="T44" fmla="*/ 0 w 11"/>
                    <a:gd name="T45" fmla="*/ 1 h 39"/>
                    <a:gd name="T46" fmla="*/ 0 w 11"/>
                    <a:gd name="T47" fmla="*/ 1 h 39"/>
                    <a:gd name="T48" fmla="*/ 0 w 11"/>
                    <a:gd name="T49" fmla="*/ 0 h 39"/>
                    <a:gd name="T50" fmla="*/ 0 w 11"/>
                    <a:gd name="T51" fmla="*/ 1 h 39"/>
                    <a:gd name="T52" fmla="*/ 0 w 11"/>
                    <a:gd name="T53" fmla="*/ 1 h 39"/>
                    <a:gd name="T54" fmla="*/ 0 w 11"/>
                    <a:gd name="T55" fmla="*/ 1 h 39"/>
                    <a:gd name="T56" fmla="*/ 0 w 11"/>
                    <a:gd name="T57" fmla="*/ 1 h 39"/>
                    <a:gd name="T58" fmla="*/ 0 w 11"/>
                    <a:gd name="T59" fmla="*/ 1 h 39"/>
                    <a:gd name="T60" fmla="*/ 0 w 11"/>
                    <a:gd name="T61" fmla="*/ 1 h 39"/>
                    <a:gd name="T62" fmla="*/ 0 w 11"/>
                    <a:gd name="T63" fmla="*/ 1 h 39"/>
                    <a:gd name="T64" fmla="*/ 0 w 11"/>
                    <a:gd name="T65" fmla="*/ 1 h 39"/>
                    <a:gd name="T66" fmla="*/ 0 w 11"/>
                    <a:gd name="T67" fmla="*/ 1 h 39"/>
                    <a:gd name="T68" fmla="*/ 0 w 11"/>
                    <a:gd name="T69" fmla="*/ 1 h 39"/>
                    <a:gd name="T70" fmla="*/ 0 w 11"/>
                    <a:gd name="T71" fmla="*/ 1 h 39"/>
                    <a:gd name="T72" fmla="*/ 0 w 11"/>
                    <a:gd name="T73" fmla="*/ 1 h 39"/>
                    <a:gd name="T74" fmla="*/ 0 w 11"/>
                    <a:gd name="T75" fmla="*/ 1 h 39"/>
                    <a:gd name="T76" fmla="*/ 0 w 11"/>
                    <a:gd name="T77" fmla="*/ 1 h 39"/>
                    <a:gd name="T78" fmla="*/ 0 w 11"/>
                    <a:gd name="T79" fmla="*/ 2 h 39"/>
                    <a:gd name="T80" fmla="*/ 0 w 11"/>
                    <a:gd name="T81" fmla="*/ 2 h 39"/>
                    <a:gd name="T82" fmla="*/ 1 w 11"/>
                    <a:gd name="T83" fmla="*/ 7 h 39"/>
                    <a:gd name="T84" fmla="*/ 2 w 11"/>
                    <a:gd name="T85" fmla="*/ 12 h 39"/>
                    <a:gd name="T86" fmla="*/ 3 w 11"/>
                    <a:gd name="T87" fmla="*/ 16 h 39"/>
                    <a:gd name="T88" fmla="*/ 4 w 11"/>
                    <a:gd name="T89" fmla="*/ 20 h 39"/>
                    <a:gd name="T90" fmla="*/ 5 w 11"/>
                    <a:gd name="T91" fmla="*/ 25 h 39"/>
                    <a:gd name="T92" fmla="*/ 7 w 11"/>
                    <a:gd name="T93" fmla="*/ 30 h 39"/>
                    <a:gd name="T94" fmla="*/ 9 w 11"/>
                    <a:gd name="T95" fmla="*/ 34 h 39"/>
                    <a:gd name="T96" fmla="*/ 11 w 11"/>
                    <a:gd name="T9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 h="39">
                      <a:moveTo>
                        <a:pt x="11" y="39"/>
                      </a:moveTo>
                      <a:lnTo>
                        <a:pt x="9" y="34"/>
                      </a:lnTo>
                      <a:lnTo>
                        <a:pt x="7" y="30"/>
                      </a:lnTo>
                      <a:lnTo>
                        <a:pt x="5" y="25"/>
                      </a:lnTo>
                      <a:lnTo>
                        <a:pt x="4" y="20"/>
                      </a:lnTo>
                      <a:lnTo>
                        <a:pt x="3" y="16"/>
                      </a:lnTo>
                      <a:lnTo>
                        <a:pt x="2" y="12"/>
                      </a:lnTo>
                      <a:lnTo>
                        <a:pt x="1" y="7"/>
                      </a:lnTo>
                      <a:lnTo>
                        <a:pt x="0" y="2"/>
                      </a:lnTo>
                      <a:lnTo>
                        <a:pt x="0" y="2"/>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0"/>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2"/>
                      </a:lnTo>
                      <a:lnTo>
                        <a:pt x="0" y="2"/>
                      </a:lnTo>
                      <a:lnTo>
                        <a:pt x="1" y="7"/>
                      </a:lnTo>
                      <a:lnTo>
                        <a:pt x="2" y="12"/>
                      </a:lnTo>
                      <a:lnTo>
                        <a:pt x="3" y="16"/>
                      </a:lnTo>
                      <a:lnTo>
                        <a:pt x="4" y="20"/>
                      </a:lnTo>
                      <a:lnTo>
                        <a:pt x="5" y="25"/>
                      </a:lnTo>
                      <a:lnTo>
                        <a:pt x="7" y="30"/>
                      </a:lnTo>
                      <a:lnTo>
                        <a:pt x="9" y="34"/>
                      </a:lnTo>
                      <a:lnTo>
                        <a:pt x="11" y="39"/>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64" name="Freeform 452"/>
                <p:cNvSpPr>
                  <a:spLocks noChangeAspect="1"/>
                </p:cNvSpPr>
                <p:nvPr/>
              </p:nvSpPr>
              <p:spPr bwMode="auto">
                <a:xfrm>
                  <a:off x="262" y="631"/>
                  <a:ext cx="0" cy="0"/>
                </a:xfrm>
                <a:custGeom>
                  <a:avLst/>
                  <a:gdLst>
                    <a:gd name="T0" fmla="*/ 1 h 1"/>
                    <a:gd name="T1" fmla="*/ 1 h 1"/>
                    <a:gd name="T2" fmla="*/ 1 h 1"/>
                    <a:gd name="T3" fmla="*/ 1 h 1"/>
                    <a:gd name="T4" fmla="*/ 1 h 1"/>
                    <a:gd name="T5" fmla="*/ 0 h 1"/>
                    <a:gd name="T6" fmla="*/ 0 h 1"/>
                    <a:gd name="T7" fmla="*/ 0 h 1"/>
                    <a:gd name="T8" fmla="*/ 0 h 1"/>
                    <a:gd name="T9" fmla="*/ 0 h 1"/>
                    <a:gd name="T10" fmla="*/ 0 h 1"/>
                    <a:gd name="T11" fmla="*/ 0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0"/>
                      </a:lnTo>
                      <a:lnTo>
                        <a:pt x="0" y="0"/>
                      </a:lnTo>
                      <a:lnTo>
                        <a:pt x="0" y="0"/>
                      </a:lnTo>
                      <a:lnTo>
                        <a:pt x="0" y="0"/>
                      </a:lnTo>
                      <a:lnTo>
                        <a:pt x="0" y="0"/>
                      </a:lnTo>
                      <a:lnTo>
                        <a:pt x="0" y="0"/>
                      </a:lnTo>
                      <a:lnTo>
                        <a:pt x="0" y="0"/>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65" name="Freeform 453"/>
                <p:cNvSpPr>
                  <a:spLocks noChangeAspect="1"/>
                </p:cNvSpPr>
                <p:nvPr/>
              </p:nvSpPr>
              <p:spPr bwMode="auto">
                <a:xfrm>
                  <a:off x="262" y="627"/>
                  <a:ext cx="0" cy="2"/>
                </a:xfrm>
                <a:custGeom>
                  <a:avLst/>
                  <a:gdLst>
                    <a:gd name="T0" fmla="*/ 6 h 6"/>
                    <a:gd name="T1" fmla="*/ 5 h 6"/>
                    <a:gd name="T2" fmla="*/ 4 h 6"/>
                    <a:gd name="T3" fmla="*/ 3 h 6"/>
                    <a:gd name="T4" fmla="*/ 3 h 6"/>
                    <a:gd name="T5" fmla="*/ 2 h 6"/>
                    <a:gd name="T6" fmla="*/ 1 h 6"/>
                    <a:gd name="T7" fmla="*/ 1 h 6"/>
                    <a:gd name="T8" fmla="*/ 0 h 6"/>
                    <a:gd name="T9" fmla="*/ 1 h 6"/>
                    <a:gd name="T10" fmla="*/ 1 h 6"/>
                    <a:gd name="T11" fmla="*/ 2 h 6"/>
                    <a:gd name="T12" fmla="*/ 3 h 6"/>
                    <a:gd name="T13" fmla="*/ 3 h 6"/>
                    <a:gd name="T14" fmla="*/ 4 h 6"/>
                    <a:gd name="T15" fmla="*/ 5 h 6"/>
                    <a:gd name="T16" fmla="*/ 6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6">
                      <a:moveTo>
                        <a:pt x="0" y="6"/>
                      </a:moveTo>
                      <a:lnTo>
                        <a:pt x="0" y="5"/>
                      </a:lnTo>
                      <a:lnTo>
                        <a:pt x="0" y="4"/>
                      </a:lnTo>
                      <a:lnTo>
                        <a:pt x="0" y="3"/>
                      </a:lnTo>
                      <a:lnTo>
                        <a:pt x="0" y="3"/>
                      </a:lnTo>
                      <a:lnTo>
                        <a:pt x="0" y="2"/>
                      </a:lnTo>
                      <a:lnTo>
                        <a:pt x="0" y="1"/>
                      </a:lnTo>
                      <a:lnTo>
                        <a:pt x="0" y="1"/>
                      </a:lnTo>
                      <a:lnTo>
                        <a:pt x="0" y="0"/>
                      </a:lnTo>
                      <a:lnTo>
                        <a:pt x="0" y="1"/>
                      </a:lnTo>
                      <a:lnTo>
                        <a:pt x="0" y="1"/>
                      </a:lnTo>
                      <a:lnTo>
                        <a:pt x="0" y="2"/>
                      </a:lnTo>
                      <a:lnTo>
                        <a:pt x="0" y="3"/>
                      </a:lnTo>
                      <a:lnTo>
                        <a:pt x="0" y="3"/>
                      </a:lnTo>
                      <a:lnTo>
                        <a:pt x="0" y="4"/>
                      </a:lnTo>
                      <a:lnTo>
                        <a:pt x="0" y="5"/>
                      </a:lnTo>
                      <a:lnTo>
                        <a:pt x="0" y="6"/>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66" name="Freeform 454"/>
                <p:cNvSpPr>
                  <a:spLocks noChangeAspect="1"/>
                </p:cNvSpPr>
                <p:nvPr/>
              </p:nvSpPr>
              <p:spPr bwMode="auto">
                <a:xfrm>
                  <a:off x="262" y="627"/>
                  <a:ext cx="0" cy="1"/>
                </a:xfrm>
                <a:custGeom>
                  <a:avLst/>
                  <a:gdLst>
                    <a:gd name="T0" fmla="*/ 1 h 1"/>
                    <a:gd name="T1" fmla="*/ 1 h 1"/>
                    <a:gd name="T2" fmla="*/ 1 h 1"/>
                    <a:gd name="T3" fmla="*/ 1 h 1"/>
                    <a:gd name="T4" fmla="*/ 1 h 1"/>
                    <a:gd name="T5" fmla="*/ 0 h 1"/>
                    <a:gd name="T6" fmla="*/ 0 h 1"/>
                    <a:gd name="T7" fmla="*/ 0 h 1"/>
                    <a:gd name="T8" fmla="*/ 0 h 1"/>
                    <a:gd name="T9" fmla="*/ 0 h 1"/>
                    <a:gd name="T10" fmla="*/ 0 h 1"/>
                    <a:gd name="T11" fmla="*/ 0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0"/>
                      </a:lnTo>
                      <a:lnTo>
                        <a:pt x="0" y="0"/>
                      </a:lnTo>
                      <a:lnTo>
                        <a:pt x="0" y="0"/>
                      </a:lnTo>
                      <a:lnTo>
                        <a:pt x="0" y="0"/>
                      </a:lnTo>
                      <a:lnTo>
                        <a:pt x="0" y="0"/>
                      </a:lnTo>
                      <a:lnTo>
                        <a:pt x="0" y="0"/>
                      </a:lnTo>
                      <a:lnTo>
                        <a:pt x="0" y="0"/>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67" name="Freeform 455"/>
                <p:cNvSpPr>
                  <a:spLocks noChangeAspect="1"/>
                </p:cNvSpPr>
                <p:nvPr/>
              </p:nvSpPr>
              <p:spPr bwMode="auto">
                <a:xfrm>
                  <a:off x="262" y="626"/>
                  <a:ext cx="0" cy="1"/>
                </a:xfrm>
                <a:custGeom>
                  <a:avLst/>
                  <a:gdLst>
                    <a:gd name="T0" fmla="*/ 1 h 1"/>
                    <a:gd name="T1" fmla="*/ 1 h 1"/>
                    <a:gd name="T2" fmla="*/ 1 h 1"/>
                    <a:gd name="T3" fmla="*/ 1 h 1"/>
                    <a:gd name="T4" fmla="*/ 1 h 1"/>
                    <a:gd name="T5" fmla="*/ 1 h 1"/>
                    <a:gd name="T6" fmla="*/ 0 h 1"/>
                    <a:gd name="T7" fmla="*/ 0 h 1"/>
                    <a:gd name="T8" fmla="*/ 0 h 1"/>
                    <a:gd name="T9" fmla="*/ 0 h 1"/>
                    <a:gd name="T10" fmla="*/ 0 h 1"/>
                    <a:gd name="T11" fmla="*/ 1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1"/>
                      </a:lnTo>
                      <a:lnTo>
                        <a:pt x="0" y="0"/>
                      </a:lnTo>
                      <a:lnTo>
                        <a:pt x="0" y="0"/>
                      </a:lnTo>
                      <a:lnTo>
                        <a:pt x="0" y="0"/>
                      </a:lnTo>
                      <a:lnTo>
                        <a:pt x="0" y="0"/>
                      </a:lnTo>
                      <a:lnTo>
                        <a:pt x="0" y="0"/>
                      </a:lnTo>
                      <a:lnTo>
                        <a:pt x="0" y="1"/>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68" name="Freeform 456"/>
                <p:cNvSpPr>
                  <a:spLocks noChangeAspect="1"/>
                </p:cNvSpPr>
                <p:nvPr/>
              </p:nvSpPr>
              <p:spPr bwMode="auto">
                <a:xfrm>
                  <a:off x="262" y="625"/>
                  <a:ext cx="0" cy="1"/>
                </a:xfrm>
                <a:custGeom>
                  <a:avLst/>
                  <a:gdLst>
                    <a:gd name="T0" fmla="*/ 1 h 1"/>
                    <a:gd name="T1" fmla="*/ 1 h 1"/>
                    <a:gd name="T2" fmla="*/ 1 h 1"/>
                    <a:gd name="T3" fmla="*/ 1 h 1"/>
                    <a:gd name="T4" fmla="*/ 1 h 1"/>
                    <a:gd name="T5" fmla="*/ 0 h 1"/>
                    <a:gd name="T6" fmla="*/ 0 h 1"/>
                    <a:gd name="T7" fmla="*/ 0 h 1"/>
                    <a:gd name="T8" fmla="*/ 0 h 1"/>
                    <a:gd name="T9" fmla="*/ 0 h 1"/>
                    <a:gd name="T10" fmla="*/ 0 h 1"/>
                    <a:gd name="T11" fmla="*/ 0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0"/>
                      </a:lnTo>
                      <a:lnTo>
                        <a:pt x="0" y="0"/>
                      </a:lnTo>
                      <a:lnTo>
                        <a:pt x="0" y="0"/>
                      </a:lnTo>
                      <a:lnTo>
                        <a:pt x="0" y="0"/>
                      </a:lnTo>
                      <a:lnTo>
                        <a:pt x="0" y="0"/>
                      </a:lnTo>
                      <a:lnTo>
                        <a:pt x="0" y="0"/>
                      </a:lnTo>
                      <a:lnTo>
                        <a:pt x="0" y="0"/>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69" name="Freeform 457"/>
                <p:cNvSpPr>
                  <a:spLocks noChangeAspect="1"/>
                </p:cNvSpPr>
                <p:nvPr/>
              </p:nvSpPr>
              <p:spPr bwMode="auto">
                <a:xfrm>
                  <a:off x="262" y="624"/>
                  <a:ext cx="0" cy="1"/>
                </a:xfrm>
                <a:custGeom>
                  <a:avLst/>
                  <a:gdLst>
                    <a:gd name="T0" fmla="*/ 0 w 1"/>
                    <a:gd name="T1" fmla="*/ 1 h 1"/>
                    <a:gd name="T2" fmla="*/ 0 w 1"/>
                    <a:gd name="T3" fmla="*/ 1 h 1"/>
                    <a:gd name="T4" fmla="*/ 0 w 1"/>
                    <a:gd name="T5" fmla="*/ 1 h 1"/>
                    <a:gd name="T6" fmla="*/ 0 w 1"/>
                    <a:gd name="T7" fmla="*/ 0 h 1"/>
                    <a:gd name="T8" fmla="*/ 0 w 1"/>
                    <a:gd name="T9" fmla="*/ 0 h 1"/>
                    <a:gd name="T10" fmla="*/ 0 w 1"/>
                    <a:gd name="T11" fmla="*/ 0 h 1"/>
                    <a:gd name="T12" fmla="*/ 0 w 1"/>
                    <a:gd name="T13" fmla="*/ 0 h 1"/>
                    <a:gd name="T14" fmla="*/ 1 w 1"/>
                    <a:gd name="T15" fmla="*/ 0 h 1"/>
                    <a:gd name="T16" fmla="*/ 1 w 1"/>
                    <a:gd name="T17" fmla="*/ 0 h 1"/>
                    <a:gd name="T18" fmla="*/ 1 w 1"/>
                    <a:gd name="T19" fmla="*/ 0 h 1"/>
                    <a:gd name="T20" fmla="*/ 0 w 1"/>
                    <a:gd name="T21" fmla="*/ 0 h 1"/>
                    <a:gd name="T22" fmla="*/ 0 w 1"/>
                    <a:gd name="T23" fmla="*/ 0 h 1"/>
                    <a:gd name="T24" fmla="*/ 0 w 1"/>
                    <a:gd name="T25" fmla="*/ 0 h 1"/>
                    <a:gd name="T26" fmla="*/ 0 w 1"/>
                    <a:gd name="T27" fmla="*/ 0 h 1"/>
                    <a:gd name="T28" fmla="*/ 0 w 1"/>
                    <a:gd name="T29" fmla="*/ 1 h 1"/>
                    <a:gd name="T30" fmla="*/ 0 w 1"/>
                    <a:gd name="T31" fmla="*/ 1 h 1"/>
                    <a:gd name="T32" fmla="*/ 0 w 1"/>
                    <a:gd name="T3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0" y="1"/>
                      </a:moveTo>
                      <a:lnTo>
                        <a:pt x="0" y="1"/>
                      </a:lnTo>
                      <a:lnTo>
                        <a:pt x="0" y="1"/>
                      </a:lnTo>
                      <a:lnTo>
                        <a:pt x="0" y="0"/>
                      </a:lnTo>
                      <a:lnTo>
                        <a:pt x="0" y="0"/>
                      </a:lnTo>
                      <a:lnTo>
                        <a:pt x="0" y="0"/>
                      </a:lnTo>
                      <a:lnTo>
                        <a:pt x="0" y="0"/>
                      </a:lnTo>
                      <a:lnTo>
                        <a:pt x="1" y="0"/>
                      </a:lnTo>
                      <a:lnTo>
                        <a:pt x="1" y="0"/>
                      </a:lnTo>
                      <a:lnTo>
                        <a:pt x="1" y="0"/>
                      </a:lnTo>
                      <a:lnTo>
                        <a:pt x="0" y="0"/>
                      </a:lnTo>
                      <a:lnTo>
                        <a:pt x="0" y="0"/>
                      </a:lnTo>
                      <a:lnTo>
                        <a:pt x="0" y="0"/>
                      </a:lnTo>
                      <a:lnTo>
                        <a:pt x="0" y="0"/>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70" name="Freeform 458"/>
                <p:cNvSpPr>
                  <a:spLocks noChangeAspect="1"/>
                </p:cNvSpPr>
                <p:nvPr/>
              </p:nvSpPr>
              <p:spPr bwMode="auto">
                <a:xfrm>
                  <a:off x="262" y="624"/>
                  <a:ext cx="0" cy="1"/>
                </a:xfrm>
                <a:custGeom>
                  <a:avLst/>
                  <a:gdLst>
                    <a:gd name="T0" fmla="*/ 1 h 1"/>
                    <a:gd name="T1" fmla="*/ 1 h 1"/>
                    <a:gd name="T2" fmla="*/ 1 h 1"/>
                    <a:gd name="T3" fmla="*/ 0 h 1"/>
                    <a:gd name="T4" fmla="*/ 0 h 1"/>
                    <a:gd name="T5" fmla="*/ 0 h 1"/>
                    <a:gd name="T6" fmla="*/ 0 h 1"/>
                    <a:gd name="T7" fmla="*/ 0 h 1"/>
                    <a:gd name="T8" fmla="*/ 0 h 1"/>
                    <a:gd name="T9" fmla="*/ 0 h 1"/>
                    <a:gd name="T10" fmla="*/ 0 h 1"/>
                    <a:gd name="T11" fmla="*/ 0 h 1"/>
                    <a:gd name="T12" fmla="*/ 0 h 1"/>
                    <a:gd name="T13" fmla="*/ 0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0"/>
                      </a:lnTo>
                      <a:lnTo>
                        <a:pt x="0" y="0"/>
                      </a:lnTo>
                      <a:lnTo>
                        <a:pt x="0" y="0"/>
                      </a:lnTo>
                      <a:lnTo>
                        <a:pt x="0" y="0"/>
                      </a:lnTo>
                      <a:lnTo>
                        <a:pt x="0" y="0"/>
                      </a:lnTo>
                      <a:lnTo>
                        <a:pt x="0" y="0"/>
                      </a:lnTo>
                      <a:lnTo>
                        <a:pt x="0" y="0"/>
                      </a:lnTo>
                      <a:lnTo>
                        <a:pt x="0" y="0"/>
                      </a:lnTo>
                      <a:lnTo>
                        <a:pt x="0" y="0"/>
                      </a:lnTo>
                      <a:lnTo>
                        <a:pt x="0" y="0"/>
                      </a:lnTo>
                      <a:lnTo>
                        <a:pt x="0" y="0"/>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71" name="Freeform 459"/>
                <p:cNvSpPr>
                  <a:spLocks noChangeAspect="1"/>
                </p:cNvSpPr>
                <p:nvPr/>
              </p:nvSpPr>
              <p:spPr bwMode="auto">
                <a:xfrm>
                  <a:off x="262" y="624"/>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72" name="Freeform 460"/>
                <p:cNvSpPr>
                  <a:spLocks noChangeAspect="1"/>
                </p:cNvSpPr>
                <p:nvPr/>
              </p:nvSpPr>
              <p:spPr bwMode="auto">
                <a:xfrm>
                  <a:off x="262" y="624"/>
                  <a:ext cx="0" cy="0"/>
                </a:xfrm>
                <a:custGeom>
                  <a:avLst/>
                  <a:gdLst>
                    <a:gd name="T0" fmla="*/ 0 w 1"/>
                    <a:gd name="T1" fmla="*/ 1 h 1"/>
                    <a:gd name="T2" fmla="*/ 0 w 1"/>
                    <a:gd name="T3" fmla="*/ 1 h 1"/>
                    <a:gd name="T4" fmla="*/ 0 w 1"/>
                    <a:gd name="T5" fmla="*/ 1 h 1"/>
                    <a:gd name="T6" fmla="*/ 0 w 1"/>
                    <a:gd name="T7" fmla="*/ 1 h 1"/>
                    <a:gd name="T8" fmla="*/ 0 w 1"/>
                    <a:gd name="T9" fmla="*/ 1 h 1"/>
                    <a:gd name="T10" fmla="*/ 0 w 1"/>
                    <a:gd name="T11" fmla="*/ 1 h 1"/>
                    <a:gd name="T12" fmla="*/ 0 w 1"/>
                    <a:gd name="T13" fmla="*/ 1 h 1"/>
                    <a:gd name="T14" fmla="*/ 0 w 1"/>
                    <a:gd name="T15" fmla="*/ 0 h 1"/>
                    <a:gd name="T16" fmla="*/ 1 w 1"/>
                    <a:gd name="T17" fmla="*/ 0 h 1"/>
                    <a:gd name="T18" fmla="*/ 0 w 1"/>
                    <a:gd name="T19" fmla="*/ 0 h 1"/>
                    <a:gd name="T20" fmla="*/ 0 w 1"/>
                    <a:gd name="T21" fmla="*/ 1 h 1"/>
                    <a:gd name="T22" fmla="*/ 0 w 1"/>
                    <a:gd name="T23" fmla="*/ 1 h 1"/>
                    <a:gd name="T24" fmla="*/ 0 w 1"/>
                    <a:gd name="T25" fmla="*/ 1 h 1"/>
                    <a:gd name="T26" fmla="*/ 0 w 1"/>
                    <a:gd name="T27" fmla="*/ 1 h 1"/>
                    <a:gd name="T28" fmla="*/ 0 w 1"/>
                    <a:gd name="T29" fmla="*/ 1 h 1"/>
                    <a:gd name="T30" fmla="*/ 0 w 1"/>
                    <a:gd name="T31" fmla="*/ 1 h 1"/>
                    <a:gd name="T32" fmla="*/ 0 w 1"/>
                    <a:gd name="T3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0" y="1"/>
                      </a:moveTo>
                      <a:lnTo>
                        <a:pt x="0" y="1"/>
                      </a:lnTo>
                      <a:lnTo>
                        <a:pt x="0" y="1"/>
                      </a:lnTo>
                      <a:lnTo>
                        <a:pt x="0" y="1"/>
                      </a:lnTo>
                      <a:lnTo>
                        <a:pt x="0" y="1"/>
                      </a:lnTo>
                      <a:lnTo>
                        <a:pt x="0" y="1"/>
                      </a:lnTo>
                      <a:lnTo>
                        <a:pt x="0" y="1"/>
                      </a:lnTo>
                      <a:lnTo>
                        <a:pt x="0" y="0"/>
                      </a:lnTo>
                      <a:lnTo>
                        <a:pt x="1" y="0"/>
                      </a:lnTo>
                      <a:lnTo>
                        <a:pt x="0" y="0"/>
                      </a:lnTo>
                      <a:lnTo>
                        <a:pt x="0" y="1"/>
                      </a:lnTo>
                      <a:lnTo>
                        <a:pt x="0" y="1"/>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73" name="Freeform 461"/>
                <p:cNvSpPr>
                  <a:spLocks noChangeAspect="1"/>
                </p:cNvSpPr>
                <p:nvPr/>
              </p:nvSpPr>
              <p:spPr bwMode="auto">
                <a:xfrm>
                  <a:off x="262" y="624"/>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74" name="Freeform 462"/>
                <p:cNvSpPr>
                  <a:spLocks noChangeAspect="1"/>
                </p:cNvSpPr>
                <p:nvPr/>
              </p:nvSpPr>
              <p:spPr bwMode="auto">
                <a:xfrm>
                  <a:off x="262" y="624"/>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75" name="Freeform 463"/>
                <p:cNvSpPr>
                  <a:spLocks noChangeAspect="1"/>
                </p:cNvSpPr>
                <p:nvPr/>
              </p:nvSpPr>
              <p:spPr bwMode="auto">
                <a:xfrm>
                  <a:off x="262" y="620"/>
                  <a:ext cx="0"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76" name="Freeform 464"/>
                <p:cNvSpPr>
                  <a:spLocks noChangeAspect="1"/>
                </p:cNvSpPr>
                <p:nvPr/>
              </p:nvSpPr>
              <p:spPr bwMode="auto">
                <a:xfrm>
                  <a:off x="262" y="619"/>
                  <a:ext cx="0" cy="1"/>
                </a:xfrm>
                <a:custGeom>
                  <a:avLst/>
                  <a:gdLst>
                    <a:gd name="T0" fmla="*/ 1 h 1"/>
                    <a:gd name="T1" fmla="*/ 1 h 1"/>
                    <a:gd name="T2" fmla="*/ 1 h 1"/>
                    <a:gd name="T3" fmla="*/ 1 h 1"/>
                    <a:gd name="T4" fmla="*/ 1 h 1"/>
                    <a:gd name="T5" fmla="*/ 1 h 1"/>
                    <a:gd name="T6" fmla="*/ 1 h 1"/>
                    <a:gd name="T7" fmla="*/ 0 h 1"/>
                    <a:gd name="T8" fmla="*/ 0 h 1"/>
                    <a:gd name="T9" fmla="*/ 0 h 1"/>
                    <a:gd name="T10" fmla="*/ 1 h 1"/>
                    <a:gd name="T11" fmla="*/ 1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1"/>
                      </a:lnTo>
                      <a:lnTo>
                        <a:pt x="0" y="1"/>
                      </a:lnTo>
                      <a:lnTo>
                        <a:pt x="0" y="0"/>
                      </a:lnTo>
                      <a:lnTo>
                        <a:pt x="0" y="0"/>
                      </a:lnTo>
                      <a:lnTo>
                        <a:pt x="0" y="0"/>
                      </a:lnTo>
                      <a:lnTo>
                        <a:pt x="0" y="1"/>
                      </a:lnTo>
                      <a:lnTo>
                        <a:pt x="0" y="1"/>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77" name="Freeform 465"/>
                <p:cNvSpPr>
                  <a:spLocks noChangeAspect="1"/>
                </p:cNvSpPr>
                <p:nvPr/>
              </p:nvSpPr>
              <p:spPr bwMode="auto">
                <a:xfrm>
                  <a:off x="262" y="619"/>
                  <a:ext cx="0"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78" name="Freeform 466"/>
                <p:cNvSpPr>
                  <a:spLocks noChangeAspect="1"/>
                </p:cNvSpPr>
                <p:nvPr/>
              </p:nvSpPr>
              <p:spPr bwMode="auto">
                <a:xfrm>
                  <a:off x="262" y="618"/>
                  <a:ext cx="1" cy="1"/>
                </a:xfrm>
                <a:custGeom>
                  <a:avLst/>
                  <a:gdLst>
                    <a:gd name="T0" fmla="*/ 1 h 1"/>
                    <a:gd name="T1" fmla="*/ 1 h 1"/>
                    <a:gd name="T2" fmla="*/ 1 h 1"/>
                    <a:gd name="T3" fmla="*/ 1 h 1"/>
                    <a:gd name="T4" fmla="*/ 1 h 1"/>
                    <a:gd name="T5" fmla="*/ 1 h 1"/>
                    <a:gd name="T6" fmla="*/ 1 h 1"/>
                    <a:gd name="T7" fmla="*/ 1 h 1"/>
                    <a:gd name="T8" fmla="*/ 0 h 1"/>
                    <a:gd name="T9" fmla="*/ 1 h 1"/>
                    <a:gd name="T10" fmla="*/ 1 h 1"/>
                    <a:gd name="T11" fmla="*/ 1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1"/>
                      </a:lnTo>
                      <a:lnTo>
                        <a:pt x="0" y="1"/>
                      </a:lnTo>
                      <a:lnTo>
                        <a:pt x="0" y="1"/>
                      </a:lnTo>
                      <a:lnTo>
                        <a:pt x="0" y="0"/>
                      </a:lnTo>
                      <a:lnTo>
                        <a:pt x="0" y="1"/>
                      </a:lnTo>
                      <a:lnTo>
                        <a:pt x="0" y="1"/>
                      </a:lnTo>
                      <a:lnTo>
                        <a:pt x="0" y="1"/>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79" name="Freeform 467"/>
                <p:cNvSpPr>
                  <a:spLocks noChangeAspect="1"/>
                </p:cNvSpPr>
                <p:nvPr/>
              </p:nvSpPr>
              <p:spPr bwMode="auto">
                <a:xfrm>
                  <a:off x="262" y="618"/>
                  <a:ext cx="1" cy="0"/>
                </a:xfrm>
                <a:custGeom>
                  <a:avLst/>
                  <a:gdLst>
                    <a:gd name="T0" fmla="*/ 1 h 1"/>
                    <a:gd name="T1" fmla="*/ 1 h 1"/>
                    <a:gd name="T2" fmla="*/ 1 h 1"/>
                    <a:gd name="T3" fmla="*/ 1 h 1"/>
                    <a:gd name="T4" fmla="*/ 1 h 1"/>
                    <a:gd name="T5" fmla="*/ 1 h 1"/>
                    <a:gd name="T6" fmla="*/ 0 h 1"/>
                    <a:gd name="T7" fmla="*/ 0 h 1"/>
                    <a:gd name="T8" fmla="*/ 0 h 1"/>
                    <a:gd name="T9" fmla="*/ 0 h 1"/>
                    <a:gd name="T10" fmla="*/ 0 h 1"/>
                    <a:gd name="T11" fmla="*/ 1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1"/>
                      </a:lnTo>
                      <a:lnTo>
                        <a:pt x="0" y="0"/>
                      </a:lnTo>
                      <a:lnTo>
                        <a:pt x="0" y="0"/>
                      </a:lnTo>
                      <a:lnTo>
                        <a:pt x="0" y="0"/>
                      </a:lnTo>
                      <a:lnTo>
                        <a:pt x="0" y="0"/>
                      </a:lnTo>
                      <a:lnTo>
                        <a:pt x="0" y="0"/>
                      </a:lnTo>
                      <a:lnTo>
                        <a:pt x="0" y="1"/>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80" name="Freeform 468"/>
                <p:cNvSpPr>
                  <a:spLocks noChangeAspect="1"/>
                </p:cNvSpPr>
                <p:nvPr/>
              </p:nvSpPr>
              <p:spPr bwMode="auto">
                <a:xfrm>
                  <a:off x="467" y="888"/>
                  <a:ext cx="58" cy="60"/>
                </a:xfrm>
                <a:custGeom>
                  <a:avLst/>
                  <a:gdLst>
                    <a:gd name="T0" fmla="*/ 127 w 173"/>
                    <a:gd name="T1" fmla="*/ 9 h 179"/>
                    <a:gd name="T2" fmla="*/ 142 w 173"/>
                    <a:gd name="T3" fmla="*/ 18 h 179"/>
                    <a:gd name="T4" fmla="*/ 153 w 173"/>
                    <a:gd name="T5" fmla="*/ 30 h 179"/>
                    <a:gd name="T6" fmla="*/ 163 w 173"/>
                    <a:gd name="T7" fmla="*/ 45 h 179"/>
                    <a:gd name="T8" fmla="*/ 169 w 173"/>
                    <a:gd name="T9" fmla="*/ 60 h 179"/>
                    <a:gd name="T10" fmla="*/ 173 w 173"/>
                    <a:gd name="T11" fmla="*/ 77 h 179"/>
                    <a:gd name="T12" fmla="*/ 173 w 173"/>
                    <a:gd name="T13" fmla="*/ 95 h 179"/>
                    <a:gd name="T14" fmla="*/ 169 w 173"/>
                    <a:gd name="T15" fmla="*/ 112 h 179"/>
                    <a:gd name="T16" fmla="*/ 163 w 173"/>
                    <a:gd name="T17" fmla="*/ 129 h 179"/>
                    <a:gd name="T18" fmla="*/ 153 w 173"/>
                    <a:gd name="T19" fmla="*/ 145 h 179"/>
                    <a:gd name="T20" fmla="*/ 141 w 173"/>
                    <a:gd name="T21" fmla="*/ 158 h 179"/>
                    <a:gd name="T22" fmla="*/ 127 w 173"/>
                    <a:gd name="T23" fmla="*/ 167 h 179"/>
                    <a:gd name="T24" fmla="*/ 112 w 173"/>
                    <a:gd name="T25" fmla="*/ 175 h 179"/>
                    <a:gd name="T26" fmla="*/ 96 w 173"/>
                    <a:gd name="T27" fmla="*/ 179 h 179"/>
                    <a:gd name="T28" fmla="*/ 79 w 173"/>
                    <a:gd name="T29" fmla="*/ 179 h 179"/>
                    <a:gd name="T30" fmla="*/ 62 w 173"/>
                    <a:gd name="T31" fmla="*/ 177 h 179"/>
                    <a:gd name="T32" fmla="*/ 45 w 173"/>
                    <a:gd name="T33" fmla="*/ 170 h 179"/>
                    <a:gd name="T34" fmla="*/ 31 w 173"/>
                    <a:gd name="T35" fmla="*/ 161 h 179"/>
                    <a:gd name="T36" fmla="*/ 19 w 173"/>
                    <a:gd name="T37" fmla="*/ 149 h 179"/>
                    <a:gd name="T38" fmla="*/ 10 w 173"/>
                    <a:gd name="T39" fmla="*/ 134 h 179"/>
                    <a:gd name="T40" fmla="*/ 3 w 173"/>
                    <a:gd name="T41" fmla="*/ 119 h 179"/>
                    <a:gd name="T42" fmla="*/ 0 w 173"/>
                    <a:gd name="T43" fmla="*/ 102 h 179"/>
                    <a:gd name="T44" fmla="*/ 0 w 173"/>
                    <a:gd name="T45" fmla="*/ 85 h 179"/>
                    <a:gd name="T46" fmla="*/ 3 w 173"/>
                    <a:gd name="T47" fmla="*/ 67 h 179"/>
                    <a:gd name="T48" fmla="*/ 10 w 173"/>
                    <a:gd name="T49" fmla="*/ 50 h 179"/>
                    <a:gd name="T50" fmla="*/ 19 w 173"/>
                    <a:gd name="T51" fmla="*/ 34 h 179"/>
                    <a:gd name="T52" fmla="*/ 31 w 173"/>
                    <a:gd name="T53" fmla="*/ 23 h 179"/>
                    <a:gd name="T54" fmla="*/ 46 w 173"/>
                    <a:gd name="T55" fmla="*/ 12 h 179"/>
                    <a:gd name="T56" fmla="*/ 61 w 173"/>
                    <a:gd name="T57" fmla="*/ 5 h 179"/>
                    <a:gd name="T58" fmla="*/ 77 w 173"/>
                    <a:gd name="T59" fmla="*/ 0 h 179"/>
                    <a:gd name="T60" fmla="*/ 94 w 173"/>
                    <a:gd name="T61" fmla="*/ 0 h 179"/>
                    <a:gd name="T62" fmla="*/ 111 w 173"/>
                    <a:gd name="T63" fmla="*/ 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3" h="179">
                      <a:moveTo>
                        <a:pt x="119" y="6"/>
                      </a:moveTo>
                      <a:lnTo>
                        <a:pt x="127" y="9"/>
                      </a:lnTo>
                      <a:lnTo>
                        <a:pt x="134" y="13"/>
                      </a:lnTo>
                      <a:lnTo>
                        <a:pt x="142" y="18"/>
                      </a:lnTo>
                      <a:lnTo>
                        <a:pt x="148" y="24"/>
                      </a:lnTo>
                      <a:lnTo>
                        <a:pt x="153" y="30"/>
                      </a:lnTo>
                      <a:lnTo>
                        <a:pt x="159" y="38"/>
                      </a:lnTo>
                      <a:lnTo>
                        <a:pt x="163" y="45"/>
                      </a:lnTo>
                      <a:lnTo>
                        <a:pt x="166" y="52"/>
                      </a:lnTo>
                      <a:lnTo>
                        <a:pt x="169" y="60"/>
                      </a:lnTo>
                      <a:lnTo>
                        <a:pt x="171" y="68"/>
                      </a:lnTo>
                      <a:lnTo>
                        <a:pt x="173" y="77"/>
                      </a:lnTo>
                      <a:lnTo>
                        <a:pt x="173" y="85"/>
                      </a:lnTo>
                      <a:lnTo>
                        <a:pt x="173" y="95"/>
                      </a:lnTo>
                      <a:lnTo>
                        <a:pt x="171" y="103"/>
                      </a:lnTo>
                      <a:lnTo>
                        <a:pt x="169" y="112"/>
                      </a:lnTo>
                      <a:lnTo>
                        <a:pt x="166" y="120"/>
                      </a:lnTo>
                      <a:lnTo>
                        <a:pt x="163" y="129"/>
                      </a:lnTo>
                      <a:lnTo>
                        <a:pt x="158" y="137"/>
                      </a:lnTo>
                      <a:lnTo>
                        <a:pt x="153" y="145"/>
                      </a:lnTo>
                      <a:lnTo>
                        <a:pt x="147" y="151"/>
                      </a:lnTo>
                      <a:lnTo>
                        <a:pt x="141" y="158"/>
                      </a:lnTo>
                      <a:lnTo>
                        <a:pt x="134" y="163"/>
                      </a:lnTo>
                      <a:lnTo>
                        <a:pt x="127" y="167"/>
                      </a:lnTo>
                      <a:lnTo>
                        <a:pt x="119" y="171"/>
                      </a:lnTo>
                      <a:lnTo>
                        <a:pt x="112" y="175"/>
                      </a:lnTo>
                      <a:lnTo>
                        <a:pt x="103" y="177"/>
                      </a:lnTo>
                      <a:lnTo>
                        <a:pt x="96" y="179"/>
                      </a:lnTo>
                      <a:lnTo>
                        <a:pt x="87" y="179"/>
                      </a:lnTo>
                      <a:lnTo>
                        <a:pt x="79" y="179"/>
                      </a:lnTo>
                      <a:lnTo>
                        <a:pt x="70" y="179"/>
                      </a:lnTo>
                      <a:lnTo>
                        <a:pt x="62" y="177"/>
                      </a:lnTo>
                      <a:lnTo>
                        <a:pt x="53" y="174"/>
                      </a:lnTo>
                      <a:lnTo>
                        <a:pt x="45" y="170"/>
                      </a:lnTo>
                      <a:lnTo>
                        <a:pt x="37" y="166"/>
                      </a:lnTo>
                      <a:lnTo>
                        <a:pt x="31" y="161"/>
                      </a:lnTo>
                      <a:lnTo>
                        <a:pt x="25" y="156"/>
                      </a:lnTo>
                      <a:lnTo>
                        <a:pt x="19" y="149"/>
                      </a:lnTo>
                      <a:lnTo>
                        <a:pt x="14" y="142"/>
                      </a:lnTo>
                      <a:lnTo>
                        <a:pt x="10" y="134"/>
                      </a:lnTo>
                      <a:lnTo>
                        <a:pt x="7" y="127"/>
                      </a:lnTo>
                      <a:lnTo>
                        <a:pt x="3" y="119"/>
                      </a:lnTo>
                      <a:lnTo>
                        <a:pt x="1" y="111"/>
                      </a:lnTo>
                      <a:lnTo>
                        <a:pt x="0" y="102"/>
                      </a:lnTo>
                      <a:lnTo>
                        <a:pt x="0" y="94"/>
                      </a:lnTo>
                      <a:lnTo>
                        <a:pt x="0" y="85"/>
                      </a:lnTo>
                      <a:lnTo>
                        <a:pt x="1" y="76"/>
                      </a:lnTo>
                      <a:lnTo>
                        <a:pt x="3" y="67"/>
                      </a:lnTo>
                      <a:lnTo>
                        <a:pt x="7" y="59"/>
                      </a:lnTo>
                      <a:lnTo>
                        <a:pt x="10" y="50"/>
                      </a:lnTo>
                      <a:lnTo>
                        <a:pt x="14" y="42"/>
                      </a:lnTo>
                      <a:lnTo>
                        <a:pt x="19" y="34"/>
                      </a:lnTo>
                      <a:lnTo>
                        <a:pt x="26" y="28"/>
                      </a:lnTo>
                      <a:lnTo>
                        <a:pt x="31" y="23"/>
                      </a:lnTo>
                      <a:lnTo>
                        <a:pt x="38" y="16"/>
                      </a:lnTo>
                      <a:lnTo>
                        <a:pt x="46" y="12"/>
                      </a:lnTo>
                      <a:lnTo>
                        <a:pt x="53" y="8"/>
                      </a:lnTo>
                      <a:lnTo>
                        <a:pt x="61" y="5"/>
                      </a:lnTo>
                      <a:lnTo>
                        <a:pt x="69" y="2"/>
                      </a:lnTo>
                      <a:lnTo>
                        <a:pt x="77" y="0"/>
                      </a:lnTo>
                      <a:lnTo>
                        <a:pt x="85" y="0"/>
                      </a:lnTo>
                      <a:lnTo>
                        <a:pt x="94" y="0"/>
                      </a:lnTo>
                      <a:lnTo>
                        <a:pt x="102" y="1"/>
                      </a:lnTo>
                      <a:lnTo>
                        <a:pt x="111" y="2"/>
                      </a:lnTo>
                      <a:lnTo>
                        <a:pt x="119" y="6"/>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81" name="Freeform 469"/>
                <p:cNvSpPr>
                  <a:spLocks noChangeAspect="1"/>
                </p:cNvSpPr>
                <p:nvPr/>
              </p:nvSpPr>
              <p:spPr bwMode="auto">
                <a:xfrm>
                  <a:off x="467" y="888"/>
                  <a:ext cx="58" cy="60"/>
                </a:xfrm>
                <a:custGeom>
                  <a:avLst/>
                  <a:gdLst>
                    <a:gd name="T0" fmla="*/ 127 w 173"/>
                    <a:gd name="T1" fmla="*/ 9 h 179"/>
                    <a:gd name="T2" fmla="*/ 142 w 173"/>
                    <a:gd name="T3" fmla="*/ 18 h 179"/>
                    <a:gd name="T4" fmla="*/ 153 w 173"/>
                    <a:gd name="T5" fmla="*/ 30 h 179"/>
                    <a:gd name="T6" fmla="*/ 163 w 173"/>
                    <a:gd name="T7" fmla="*/ 45 h 179"/>
                    <a:gd name="T8" fmla="*/ 169 w 173"/>
                    <a:gd name="T9" fmla="*/ 60 h 179"/>
                    <a:gd name="T10" fmla="*/ 173 w 173"/>
                    <a:gd name="T11" fmla="*/ 77 h 179"/>
                    <a:gd name="T12" fmla="*/ 173 w 173"/>
                    <a:gd name="T13" fmla="*/ 95 h 179"/>
                    <a:gd name="T14" fmla="*/ 169 w 173"/>
                    <a:gd name="T15" fmla="*/ 112 h 179"/>
                    <a:gd name="T16" fmla="*/ 163 w 173"/>
                    <a:gd name="T17" fmla="*/ 129 h 179"/>
                    <a:gd name="T18" fmla="*/ 153 w 173"/>
                    <a:gd name="T19" fmla="*/ 145 h 179"/>
                    <a:gd name="T20" fmla="*/ 141 w 173"/>
                    <a:gd name="T21" fmla="*/ 158 h 179"/>
                    <a:gd name="T22" fmla="*/ 127 w 173"/>
                    <a:gd name="T23" fmla="*/ 167 h 179"/>
                    <a:gd name="T24" fmla="*/ 112 w 173"/>
                    <a:gd name="T25" fmla="*/ 175 h 179"/>
                    <a:gd name="T26" fmla="*/ 96 w 173"/>
                    <a:gd name="T27" fmla="*/ 179 h 179"/>
                    <a:gd name="T28" fmla="*/ 79 w 173"/>
                    <a:gd name="T29" fmla="*/ 179 h 179"/>
                    <a:gd name="T30" fmla="*/ 62 w 173"/>
                    <a:gd name="T31" fmla="*/ 177 h 179"/>
                    <a:gd name="T32" fmla="*/ 45 w 173"/>
                    <a:gd name="T33" fmla="*/ 170 h 179"/>
                    <a:gd name="T34" fmla="*/ 31 w 173"/>
                    <a:gd name="T35" fmla="*/ 161 h 179"/>
                    <a:gd name="T36" fmla="*/ 19 w 173"/>
                    <a:gd name="T37" fmla="*/ 149 h 179"/>
                    <a:gd name="T38" fmla="*/ 10 w 173"/>
                    <a:gd name="T39" fmla="*/ 134 h 179"/>
                    <a:gd name="T40" fmla="*/ 3 w 173"/>
                    <a:gd name="T41" fmla="*/ 119 h 179"/>
                    <a:gd name="T42" fmla="*/ 0 w 173"/>
                    <a:gd name="T43" fmla="*/ 102 h 179"/>
                    <a:gd name="T44" fmla="*/ 0 w 173"/>
                    <a:gd name="T45" fmla="*/ 85 h 179"/>
                    <a:gd name="T46" fmla="*/ 3 w 173"/>
                    <a:gd name="T47" fmla="*/ 67 h 179"/>
                    <a:gd name="T48" fmla="*/ 10 w 173"/>
                    <a:gd name="T49" fmla="*/ 50 h 179"/>
                    <a:gd name="T50" fmla="*/ 19 w 173"/>
                    <a:gd name="T51" fmla="*/ 34 h 179"/>
                    <a:gd name="T52" fmla="*/ 31 w 173"/>
                    <a:gd name="T53" fmla="*/ 23 h 179"/>
                    <a:gd name="T54" fmla="*/ 46 w 173"/>
                    <a:gd name="T55" fmla="*/ 12 h 179"/>
                    <a:gd name="T56" fmla="*/ 61 w 173"/>
                    <a:gd name="T57" fmla="*/ 5 h 179"/>
                    <a:gd name="T58" fmla="*/ 77 w 173"/>
                    <a:gd name="T59" fmla="*/ 0 h 179"/>
                    <a:gd name="T60" fmla="*/ 94 w 173"/>
                    <a:gd name="T61" fmla="*/ 0 h 179"/>
                    <a:gd name="T62" fmla="*/ 111 w 173"/>
                    <a:gd name="T63" fmla="*/ 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3" h="179">
                      <a:moveTo>
                        <a:pt x="119" y="6"/>
                      </a:moveTo>
                      <a:lnTo>
                        <a:pt x="127" y="9"/>
                      </a:lnTo>
                      <a:lnTo>
                        <a:pt x="134" y="13"/>
                      </a:lnTo>
                      <a:lnTo>
                        <a:pt x="142" y="18"/>
                      </a:lnTo>
                      <a:lnTo>
                        <a:pt x="148" y="24"/>
                      </a:lnTo>
                      <a:lnTo>
                        <a:pt x="153" y="30"/>
                      </a:lnTo>
                      <a:lnTo>
                        <a:pt x="159" y="38"/>
                      </a:lnTo>
                      <a:lnTo>
                        <a:pt x="163" y="45"/>
                      </a:lnTo>
                      <a:lnTo>
                        <a:pt x="166" y="52"/>
                      </a:lnTo>
                      <a:lnTo>
                        <a:pt x="169" y="60"/>
                      </a:lnTo>
                      <a:lnTo>
                        <a:pt x="171" y="68"/>
                      </a:lnTo>
                      <a:lnTo>
                        <a:pt x="173" y="77"/>
                      </a:lnTo>
                      <a:lnTo>
                        <a:pt x="173" y="85"/>
                      </a:lnTo>
                      <a:lnTo>
                        <a:pt x="173" y="95"/>
                      </a:lnTo>
                      <a:lnTo>
                        <a:pt x="171" y="103"/>
                      </a:lnTo>
                      <a:lnTo>
                        <a:pt x="169" y="112"/>
                      </a:lnTo>
                      <a:lnTo>
                        <a:pt x="166" y="120"/>
                      </a:lnTo>
                      <a:lnTo>
                        <a:pt x="163" y="129"/>
                      </a:lnTo>
                      <a:lnTo>
                        <a:pt x="158" y="137"/>
                      </a:lnTo>
                      <a:lnTo>
                        <a:pt x="153" y="145"/>
                      </a:lnTo>
                      <a:lnTo>
                        <a:pt x="147" y="151"/>
                      </a:lnTo>
                      <a:lnTo>
                        <a:pt x="141" y="158"/>
                      </a:lnTo>
                      <a:lnTo>
                        <a:pt x="134" y="163"/>
                      </a:lnTo>
                      <a:lnTo>
                        <a:pt x="127" y="167"/>
                      </a:lnTo>
                      <a:lnTo>
                        <a:pt x="119" y="171"/>
                      </a:lnTo>
                      <a:lnTo>
                        <a:pt x="112" y="175"/>
                      </a:lnTo>
                      <a:lnTo>
                        <a:pt x="103" y="177"/>
                      </a:lnTo>
                      <a:lnTo>
                        <a:pt x="96" y="179"/>
                      </a:lnTo>
                      <a:lnTo>
                        <a:pt x="87" y="179"/>
                      </a:lnTo>
                      <a:lnTo>
                        <a:pt x="79" y="179"/>
                      </a:lnTo>
                      <a:lnTo>
                        <a:pt x="70" y="179"/>
                      </a:lnTo>
                      <a:lnTo>
                        <a:pt x="62" y="177"/>
                      </a:lnTo>
                      <a:lnTo>
                        <a:pt x="53" y="174"/>
                      </a:lnTo>
                      <a:lnTo>
                        <a:pt x="45" y="170"/>
                      </a:lnTo>
                      <a:lnTo>
                        <a:pt x="37" y="166"/>
                      </a:lnTo>
                      <a:lnTo>
                        <a:pt x="31" y="161"/>
                      </a:lnTo>
                      <a:lnTo>
                        <a:pt x="25" y="156"/>
                      </a:lnTo>
                      <a:lnTo>
                        <a:pt x="19" y="149"/>
                      </a:lnTo>
                      <a:lnTo>
                        <a:pt x="14" y="142"/>
                      </a:lnTo>
                      <a:lnTo>
                        <a:pt x="10" y="134"/>
                      </a:lnTo>
                      <a:lnTo>
                        <a:pt x="7" y="127"/>
                      </a:lnTo>
                      <a:lnTo>
                        <a:pt x="3" y="119"/>
                      </a:lnTo>
                      <a:lnTo>
                        <a:pt x="1" y="111"/>
                      </a:lnTo>
                      <a:lnTo>
                        <a:pt x="0" y="102"/>
                      </a:lnTo>
                      <a:lnTo>
                        <a:pt x="0" y="94"/>
                      </a:lnTo>
                      <a:lnTo>
                        <a:pt x="0" y="85"/>
                      </a:lnTo>
                      <a:lnTo>
                        <a:pt x="1" y="76"/>
                      </a:lnTo>
                      <a:lnTo>
                        <a:pt x="3" y="67"/>
                      </a:lnTo>
                      <a:lnTo>
                        <a:pt x="7" y="59"/>
                      </a:lnTo>
                      <a:lnTo>
                        <a:pt x="10" y="50"/>
                      </a:lnTo>
                      <a:lnTo>
                        <a:pt x="14" y="42"/>
                      </a:lnTo>
                      <a:lnTo>
                        <a:pt x="19" y="34"/>
                      </a:lnTo>
                      <a:lnTo>
                        <a:pt x="26" y="28"/>
                      </a:lnTo>
                      <a:lnTo>
                        <a:pt x="31" y="23"/>
                      </a:lnTo>
                      <a:lnTo>
                        <a:pt x="38" y="16"/>
                      </a:lnTo>
                      <a:lnTo>
                        <a:pt x="46" y="12"/>
                      </a:lnTo>
                      <a:lnTo>
                        <a:pt x="53" y="8"/>
                      </a:lnTo>
                      <a:lnTo>
                        <a:pt x="61" y="5"/>
                      </a:lnTo>
                      <a:lnTo>
                        <a:pt x="69" y="2"/>
                      </a:lnTo>
                      <a:lnTo>
                        <a:pt x="77" y="0"/>
                      </a:lnTo>
                      <a:lnTo>
                        <a:pt x="85" y="0"/>
                      </a:lnTo>
                      <a:lnTo>
                        <a:pt x="94" y="0"/>
                      </a:lnTo>
                      <a:lnTo>
                        <a:pt x="102" y="1"/>
                      </a:lnTo>
                      <a:lnTo>
                        <a:pt x="111" y="2"/>
                      </a:lnTo>
                      <a:lnTo>
                        <a:pt x="119" y="6"/>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4982" name="Freeform 470"/>
                <p:cNvSpPr>
                  <a:spLocks noChangeAspect="1"/>
                </p:cNvSpPr>
                <p:nvPr/>
              </p:nvSpPr>
              <p:spPr bwMode="auto">
                <a:xfrm>
                  <a:off x="484" y="827"/>
                  <a:ext cx="17" cy="25"/>
                </a:xfrm>
                <a:custGeom>
                  <a:avLst/>
                  <a:gdLst>
                    <a:gd name="T0" fmla="*/ 0 w 54"/>
                    <a:gd name="T1" fmla="*/ 74 h 74"/>
                    <a:gd name="T2" fmla="*/ 29 w 54"/>
                    <a:gd name="T3" fmla="*/ 0 h 74"/>
                    <a:gd name="T4" fmla="*/ 54 w 54"/>
                    <a:gd name="T5" fmla="*/ 37 h 74"/>
                    <a:gd name="T6" fmla="*/ 0 w 54"/>
                    <a:gd name="T7" fmla="*/ 74 h 74"/>
                  </a:gdLst>
                  <a:ahLst/>
                  <a:cxnLst>
                    <a:cxn ang="0">
                      <a:pos x="T0" y="T1"/>
                    </a:cxn>
                    <a:cxn ang="0">
                      <a:pos x="T2" y="T3"/>
                    </a:cxn>
                    <a:cxn ang="0">
                      <a:pos x="T4" y="T5"/>
                    </a:cxn>
                    <a:cxn ang="0">
                      <a:pos x="T6" y="T7"/>
                    </a:cxn>
                  </a:cxnLst>
                  <a:rect l="0" t="0" r="r" b="b"/>
                  <a:pathLst>
                    <a:path w="54" h="74">
                      <a:moveTo>
                        <a:pt x="0" y="74"/>
                      </a:moveTo>
                      <a:lnTo>
                        <a:pt x="29" y="0"/>
                      </a:lnTo>
                      <a:lnTo>
                        <a:pt x="54" y="37"/>
                      </a:lnTo>
                      <a:lnTo>
                        <a:pt x="0" y="74"/>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83" name="Freeform 471"/>
                <p:cNvSpPr>
                  <a:spLocks noChangeAspect="1"/>
                </p:cNvSpPr>
                <p:nvPr/>
              </p:nvSpPr>
              <p:spPr bwMode="auto">
                <a:xfrm>
                  <a:off x="474" y="820"/>
                  <a:ext cx="24" cy="38"/>
                </a:xfrm>
                <a:custGeom>
                  <a:avLst/>
                  <a:gdLst>
                    <a:gd name="T0" fmla="*/ 74 w 74"/>
                    <a:gd name="T1" fmla="*/ 40 h 114"/>
                    <a:gd name="T2" fmla="*/ 61 w 74"/>
                    <a:gd name="T3" fmla="*/ 74 h 114"/>
                    <a:gd name="T4" fmla="*/ 0 w 74"/>
                    <a:gd name="T5" fmla="*/ 114 h 114"/>
                    <a:gd name="T6" fmla="*/ 45 w 74"/>
                    <a:gd name="T7" fmla="*/ 0 h 114"/>
                    <a:gd name="T8" fmla="*/ 74 w 74"/>
                    <a:gd name="T9" fmla="*/ 40 h 114"/>
                  </a:gdLst>
                  <a:ahLst/>
                  <a:cxnLst>
                    <a:cxn ang="0">
                      <a:pos x="T0" y="T1"/>
                    </a:cxn>
                    <a:cxn ang="0">
                      <a:pos x="T2" y="T3"/>
                    </a:cxn>
                    <a:cxn ang="0">
                      <a:pos x="T4" y="T5"/>
                    </a:cxn>
                    <a:cxn ang="0">
                      <a:pos x="T6" y="T7"/>
                    </a:cxn>
                    <a:cxn ang="0">
                      <a:pos x="T8" y="T9"/>
                    </a:cxn>
                  </a:cxnLst>
                  <a:rect l="0" t="0" r="r" b="b"/>
                  <a:pathLst>
                    <a:path w="74" h="114">
                      <a:moveTo>
                        <a:pt x="74" y="40"/>
                      </a:moveTo>
                      <a:lnTo>
                        <a:pt x="61" y="74"/>
                      </a:lnTo>
                      <a:lnTo>
                        <a:pt x="0" y="114"/>
                      </a:lnTo>
                      <a:lnTo>
                        <a:pt x="45" y="0"/>
                      </a:lnTo>
                      <a:lnTo>
                        <a:pt x="74"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84" name="Freeform 472"/>
                <p:cNvSpPr>
                  <a:spLocks noChangeAspect="1"/>
                </p:cNvSpPr>
                <p:nvPr/>
              </p:nvSpPr>
              <p:spPr bwMode="auto">
                <a:xfrm>
                  <a:off x="464" y="814"/>
                  <a:ext cx="30" cy="51"/>
                </a:xfrm>
                <a:custGeom>
                  <a:avLst/>
                  <a:gdLst>
                    <a:gd name="T0" fmla="*/ 90 w 90"/>
                    <a:gd name="T1" fmla="*/ 40 h 155"/>
                    <a:gd name="T2" fmla="*/ 61 w 90"/>
                    <a:gd name="T3" fmla="*/ 114 h 155"/>
                    <a:gd name="T4" fmla="*/ 0 w 90"/>
                    <a:gd name="T5" fmla="*/ 155 h 155"/>
                    <a:gd name="T6" fmla="*/ 61 w 90"/>
                    <a:gd name="T7" fmla="*/ 0 h 155"/>
                    <a:gd name="T8" fmla="*/ 90 w 90"/>
                    <a:gd name="T9" fmla="*/ 40 h 155"/>
                  </a:gdLst>
                  <a:ahLst/>
                  <a:cxnLst>
                    <a:cxn ang="0">
                      <a:pos x="T0" y="T1"/>
                    </a:cxn>
                    <a:cxn ang="0">
                      <a:pos x="T2" y="T3"/>
                    </a:cxn>
                    <a:cxn ang="0">
                      <a:pos x="T4" y="T5"/>
                    </a:cxn>
                    <a:cxn ang="0">
                      <a:pos x="T6" y="T7"/>
                    </a:cxn>
                    <a:cxn ang="0">
                      <a:pos x="T8" y="T9"/>
                    </a:cxn>
                  </a:cxnLst>
                  <a:rect l="0" t="0" r="r" b="b"/>
                  <a:pathLst>
                    <a:path w="90" h="155">
                      <a:moveTo>
                        <a:pt x="90" y="40"/>
                      </a:moveTo>
                      <a:lnTo>
                        <a:pt x="61" y="114"/>
                      </a:lnTo>
                      <a:lnTo>
                        <a:pt x="0" y="155"/>
                      </a:lnTo>
                      <a:lnTo>
                        <a:pt x="61" y="0"/>
                      </a:lnTo>
                      <a:lnTo>
                        <a:pt x="90"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85" name="Freeform 473"/>
                <p:cNvSpPr>
                  <a:spLocks noChangeAspect="1"/>
                </p:cNvSpPr>
                <p:nvPr/>
              </p:nvSpPr>
              <p:spPr bwMode="auto">
                <a:xfrm>
                  <a:off x="454" y="807"/>
                  <a:ext cx="35" cy="65"/>
                </a:xfrm>
                <a:custGeom>
                  <a:avLst/>
                  <a:gdLst>
                    <a:gd name="T0" fmla="*/ 104 w 104"/>
                    <a:gd name="T1" fmla="*/ 40 h 195"/>
                    <a:gd name="T2" fmla="*/ 59 w 104"/>
                    <a:gd name="T3" fmla="*/ 154 h 195"/>
                    <a:gd name="T4" fmla="*/ 0 w 104"/>
                    <a:gd name="T5" fmla="*/ 195 h 195"/>
                    <a:gd name="T6" fmla="*/ 75 w 104"/>
                    <a:gd name="T7" fmla="*/ 0 h 195"/>
                    <a:gd name="T8" fmla="*/ 104 w 104"/>
                    <a:gd name="T9" fmla="*/ 40 h 195"/>
                  </a:gdLst>
                  <a:ahLst/>
                  <a:cxnLst>
                    <a:cxn ang="0">
                      <a:pos x="T0" y="T1"/>
                    </a:cxn>
                    <a:cxn ang="0">
                      <a:pos x="T2" y="T3"/>
                    </a:cxn>
                    <a:cxn ang="0">
                      <a:pos x="T4" y="T5"/>
                    </a:cxn>
                    <a:cxn ang="0">
                      <a:pos x="T6" y="T7"/>
                    </a:cxn>
                    <a:cxn ang="0">
                      <a:pos x="T8" y="T9"/>
                    </a:cxn>
                  </a:cxnLst>
                  <a:rect l="0" t="0" r="r" b="b"/>
                  <a:pathLst>
                    <a:path w="104" h="195">
                      <a:moveTo>
                        <a:pt x="104" y="40"/>
                      </a:moveTo>
                      <a:lnTo>
                        <a:pt x="59" y="154"/>
                      </a:lnTo>
                      <a:lnTo>
                        <a:pt x="0" y="195"/>
                      </a:lnTo>
                      <a:lnTo>
                        <a:pt x="75" y="0"/>
                      </a:lnTo>
                      <a:lnTo>
                        <a:pt x="104"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86" name="Freeform 474"/>
                <p:cNvSpPr>
                  <a:spLocks noChangeAspect="1"/>
                </p:cNvSpPr>
                <p:nvPr/>
              </p:nvSpPr>
              <p:spPr bwMode="auto">
                <a:xfrm>
                  <a:off x="449" y="800"/>
                  <a:ext cx="35" cy="73"/>
                </a:xfrm>
                <a:custGeom>
                  <a:avLst/>
                  <a:gdLst>
                    <a:gd name="T0" fmla="*/ 106 w 106"/>
                    <a:gd name="T1" fmla="*/ 40 h 218"/>
                    <a:gd name="T2" fmla="*/ 45 w 106"/>
                    <a:gd name="T3" fmla="*/ 195 h 218"/>
                    <a:gd name="T4" fmla="*/ 12 w 106"/>
                    <a:gd name="T5" fmla="*/ 218 h 218"/>
                    <a:gd name="T6" fmla="*/ 0 w 106"/>
                    <a:gd name="T7" fmla="*/ 199 h 218"/>
                    <a:gd name="T8" fmla="*/ 77 w 106"/>
                    <a:gd name="T9" fmla="*/ 0 h 218"/>
                    <a:gd name="T10" fmla="*/ 106 w 106"/>
                    <a:gd name="T11" fmla="*/ 40 h 218"/>
                  </a:gdLst>
                  <a:ahLst/>
                  <a:cxnLst>
                    <a:cxn ang="0">
                      <a:pos x="T0" y="T1"/>
                    </a:cxn>
                    <a:cxn ang="0">
                      <a:pos x="T2" y="T3"/>
                    </a:cxn>
                    <a:cxn ang="0">
                      <a:pos x="T4" y="T5"/>
                    </a:cxn>
                    <a:cxn ang="0">
                      <a:pos x="T6" y="T7"/>
                    </a:cxn>
                    <a:cxn ang="0">
                      <a:pos x="T8" y="T9"/>
                    </a:cxn>
                    <a:cxn ang="0">
                      <a:pos x="T10" y="T11"/>
                    </a:cxn>
                  </a:cxnLst>
                  <a:rect l="0" t="0" r="r" b="b"/>
                  <a:pathLst>
                    <a:path w="106" h="218">
                      <a:moveTo>
                        <a:pt x="106" y="40"/>
                      </a:moveTo>
                      <a:lnTo>
                        <a:pt x="45" y="195"/>
                      </a:lnTo>
                      <a:lnTo>
                        <a:pt x="12" y="218"/>
                      </a:lnTo>
                      <a:lnTo>
                        <a:pt x="0" y="199"/>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87" name="Freeform 475"/>
                <p:cNvSpPr>
                  <a:spLocks noChangeAspect="1"/>
                </p:cNvSpPr>
                <p:nvPr/>
              </p:nvSpPr>
              <p:spPr bwMode="auto">
                <a:xfrm>
                  <a:off x="446" y="793"/>
                  <a:ext cx="35" cy="80"/>
                </a:xfrm>
                <a:custGeom>
                  <a:avLst/>
                  <a:gdLst>
                    <a:gd name="T0" fmla="*/ 106 w 106"/>
                    <a:gd name="T1" fmla="*/ 41 h 239"/>
                    <a:gd name="T2" fmla="*/ 31 w 106"/>
                    <a:gd name="T3" fmla="*/ 236 h 239"/>
                    <a:gd name="T4" fmla="*/ 27 w 106"/>
                    <a:gd name="T5" fmla="*/ 239 h 239"/>
                    <a:gd name="T6" fmla="*/ 0 w 106"/>
                    <a:gd name="T7" fmla="*/ 200 h 239"/>
                    <a:gd name="T8" fmla="*/ 79 w 106"/>
                    <a:gd name="T9" fmla="*/ 0 h 239"/>
                    <a:gd name="T10" fmla="*/ 106 w 106"/>
                    <a:gd name="T11" fmla="*/ 41 h 239"/>
                  </a:gdLst>
                  <a:ahLst/>
                  <a:cxnLst>
                    <a:cxn ang="0">
                      <a:pos x="T0" y="T1"/>
                    </a:cxn>
                    <a:cxn ang="0">
                      <a:pos x="T2" y="T3"/>
                    </a:cxn>
                    <a:cxn ang="0">
                      <a:pos x="T4" y="T5"/>
                    </a:cxn>
                    <a:cxn ang="0">
                      <a:pos x="T6" y="T7"/>
                    </a:cxn>
                    <a:cxn ang="0">
                      <a:pos x="T8" y="T9"/>
                    </a:cxn>
                    <a:cxn ang="0">
                      <a:pos x="T10" y="T11"/>
                    </a:cxn>
                  </a:cxnLst>
                  <a:rect l="0" t="0" r="r" b="b"/>
                  <a:pathLst>
                    <a:path w="106" h="239">
                      <a:moveTo>
                        <a:pt x="106" y="41"/>
                      </a:moveTo>
                      <a:lnTo>
                        <a:pt x="31" y="236"/>
                      </a:lnTo>
                      <a:lnTo>
                        <a:pt x="27" y="239"/>
                      </a:lnTo>
                      <a:lnTo>
                        <a:pt x="0" y="200"/>
                      </a:lnTo>
                      <a:lnTo>
                        <a:pt x="79" y="0"/>
                      </a:lnTo>
                      <a:lnTo>
                        <a:pt x="106"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88" name="Freeform 476"/>
                <p:cNvSpPr>
                  <a:spLocks noChangeAspect="1"/>
                </p:cNvSpPr>
                <p:nvPr/>
              </p:nvSpPr>
              <p:spPr bwMode="auto">
                <a:xfrm>
                  <a:off x="439" y="787"/>
                  <a:ext cx="35" cy="80"/>
                </a:xfrm>
                <a:custGeom>
                  <a:avLst/>
                  <a:gdLst>
                    <a:gd name="T0" fmla="*/ 106 w 106"/>
                    <a:gd name="T1" fmla="*/ 40 h 239"/>
                    <a:gd name="T2" fmla="*/ 29 w 106"/>
                    <a:gd name="T3" fmla="*/ 239 h 239"/>
                    <a:gd name="T4" fmla="*/ 0 w 106"/>
                    <a:gd name="T5" fmla="*/ 199 h 239"/>
                    <a:gd name="T6" fmla="*/ 78 w 106"/>
                    <a:gd name="T7" fmla="*/ 0 h 239"/>
                    <a:gd name="T8" fmla="*/ 106 w 106"/>
                    <a:gd name="T9" fmla="*/ 40 h 239"/>
                  </a:gdLst>
                  <a:ahLst/>
                  <a:cxnLst>
                    <a:cxn ang="0">
                      <a:pos x="T0" y="T1"/>
                    </a:cxn>
                    <a:cxn ang="0">
                      <a:pos x="T2" y="T3"/>
                    </a:cxn>
                    <a:cxn ang="0">
                      <a:pos x="T4" y="T5"/>
                    </a:cxn>
                    <a:cxn ang="0">
                      <a:pos x="T6" y="T7"/>
                    </a:cxn>
                    <a:cxn ang="0">
                      <a:pos x="T8" y="T9"/>
                    </a:cxn>
                  </a:cxnLst>
                  <a:rect l="0" t="0" r="r" b="b"/>
                  <a:pathLst>
                    <a:path w="106" h="239">
                      <a:moveTo>
                        <a:pt x="106" y="40"/>
                      </a:moveTo>
                      <a:lnTo>
                        <a:pt x="29" y="239"/>
                      </a:lnTo>
                      <a:lnTo>
                        <a:pt x="0" y="199"/>
                      </a:lnTo>
                      <a:lnTo>
                        <a:pt x="78"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89" name="Freeform 477"/>
                <p:cNvSpPr>
                  <a:spLocks noChangeAspect="1"/>
                </p:cNvSpPr>
                <p:nvPr/>
              </p:nvSpPr>
              <p:spPr bwMode="auto">
                <a:xfrm>
                  <a:off x="434" y="780"/>
                  <a:ext cx="36" cy="80"/>
                </a:xfrm>
                <a:custGeom>
                  <a:avLst/>
                  <a:gdLst>
                    <a:gd name="T0" fmla="*/ 108 w 108"/>
                    <a:gd name="T1" fmla="*/ 39 h 239"/>
                    <a:gd name="T2" fmla="*/ 29 w 108"/>
                    <a:gd name="T3" fmla="*/ 239 h 239"/>
                    <a:gd name="T4" fmla="*/ 0 w 108"/>
                    <a:gd name="T5" fmla="*/ 200 h 239"/>
                    <a:gd name="T6" fmla="*/ 79 w 108"/>
                    <a:gd name="T7" fmla="*/ 0 h 239"/>
                    <a:gd name="T8" fmla="*/ 108 w 108"/>
                    <a:gd name="T9" fmla="*/ 39 h 239"/>
                  </a:gdLst>
                  <a:ahLst/>
                  <a:cxnLst>
                    <a:cxn ang="0">
                      <a:pos x="T0" y="T1"/>
                    </a:cxn>
                    <a:cxn ang="0">
                      <a:pos x="T2" y="T3"/>
                    </a:cxn>
                    <a:cxn ang="0">
                      <a:pos x="T4" y="T5"/>
                    </a:cxn>
                    <a:cxn ang="0">
                      <a:pos x="T6" y="T7"/>
                    </a:cxn>
                    <a:cxn ang="0">
                      <a:pos x="T8" y="T9"/>
                    </a:cxn>
                  </a:cxnLst>
                  <a:rect l="0" t="0" r="r" b="b"/>
                  <a:pathLst>
                    <a:path w="108" h="239">
                      <a:moveTo>
                        <a:pt x="108" y="39"/>
                      </a:moveTo>
                      <a:lnTo>
                        <a:pt x="29" y="239"/>
                      </a:lnTo>
                      <a:lnTo>
                        <a:pt x="0" y="200"/>
                      </a:lnTo>
                      <a:lnTo>
                        <a:pt x="79" y="0"/>
                      </a:lnTo>
                      <a:lnTo>
                        <a:pt x="108"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90" name="Freeform 478"/>
                <p:cNvSpPr>
                  <a:spLocks noChangeAspect="1"/>
                </p:cNvSpPr>
                <p:nvPr/>
              </p:nvSpPr>
              <p:spPr bwMode="auto">
                <a:xfrm>
                  <a:off x="429" y="774"/>
                  <a:ext cx="36" cy="79"/>
                </a:xfrm>
                <a:custGeom>
                  <a:avLst/>
                  <a:gdLst>
                    <a:gd name="T0" fmla="*/ 107 w 107"/>
                    <a:gd name="T1" fmla="*/ 40 h 239"/>
                    <a:gd name="T2" fmla="*/ 29 w 107"/>
                    <a:gd name="T3" fmla="*/ 239 h 239"/>
                    <a:gd name="T4" fmla="*/ 0 w 107"/>
                    <a:gd name="T5" fmla="*/ 200 h 239"/>
                    <a:gd name="T6" fmla="*/ 78 w 107"/>
                    <a:gd name="T7" fmla="*/ 0 h 239"/>
                    <a:gd name="T8" fmla="*/ 107 w 107"/>
                    <a:gd name="T9" fmla="*/ 40 h 239"/>
                  </a:gdLst>
                  <a:ahLst/>
                  <a:cxnLst>
                    <a:cxn ang="0">
                      <a:pos x="T0" y="T1"/>
                    </a:cxn>
                    <a:cxn ang="0">
                      <a:pos x="T2" y="T3"/>
                    </a:cxn>
                    <a:cxn ang="0">
                      <a:pos x="T4" y="T5"/>
                    </a:cxn>
                    <a:cxn ang="0">
                      <a:pos x="T6" y="T7"/>
                    </a:cxn>
                    <a:cxn ang="0">
                      <a:pos x="T8" y="T9"/>
                    </a:cxn>
                  </a:cxnLst>
                  <a:rect l="0" t="0" r="r" b="b"/>
                  <a:pathLst>
                    <a:path w="107" h="239">
                      <a:moveTo>
                        <a:pt x="107" y="40"/>
                      </a:moveTo>
                      <a:lnTo>
                        <a:pt x="29" y="239"/>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91" name="Freeform 479"/>
                <p:cNvSpPr>
                  <a:spLocks noChangeAspect="1"/>
                </p:cNvSpPr>
                <p:nvPr/>
              </p:nvSpPr>
              <p:spPr bwMode="auto">
                <a:xfrm>
                  <a:off x="425" y="767"/>
                  <a:ext cx="35" cy="80"/>
                </a:xfrm>
                <a:custGeom>
                  <a:avLst/>
                  <a:gdLst>
                    <a:gd name="T0" fmla="*/ 108 w 108"/>
                    <a:gd name="T1" fmla="*/ 40 h 240"/>
                    <a:gd name="T2" fmla="*/ 29 w 108"/>
                    <a:gd name="T3" fmla="*/ 240 h 240"/>
                    <a:gd name="T4" fmla="*/ 0 w 108"/>
                    <a:gd name="T5" fmla="*/ 200 h 240"/>
                    <a:gd name="T6" fmla="*/ 79 w 108"/>
                    <a:gd name="T7" fmla="*/ 0 h 240"/>
                    <a:gd name="T8" fmla="*/ 108 w 108"/>
                    <a:gd name="T9" fmla="*/ 40 h 240"/>
                  </a:gdLst>
                  <a:ahLst/>
                  <a:cxnLst>
                    <a:cxn ang="0">
                      <a:pos x="T0" y="T1"/>
                    </a:cxn>
                    <a:cxn ang="0">
                      <a:pos x="T2" y="T3"/>
                    </a:cxn>
                    <a:cxn ang="0">
                      <a:pos x="T4" y="T5"/>
                    </a:cxn>
                    <a:cxn ang="0">
                      <a:pos x="T6" y="T7"/>
                    </a:cxn>
                    <a:cxn ang="0">
                      <a:pos x="T8" y="T9"/>
                    </a:cxn>
                  </a:cxnLst>
                  <a:rect l="0" t="0" r="r" b="b"/>
                  <a:pathLst>
                    <a:path w="108" h="240">
                      <a:moveTo>
                        <a:pt x="108" y="40"/>
                      </a:moveTo>
                      <a:lnTo>
                        <a:pt x="29" y="240"/>
                      </a:lnTo>
                      <a:lnTo>
                        <a:pt x="0" y="200"/>
                      </a:lnTo>
                      <a:lnTo>
                        <a:pt x="79" y="0"/>
                      </a:lnTo>
                      <a:lnTo>
                        <a:pt x="108"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92" name="Freeform 480"/>
                <p:cNvSpPr>
                  <a:spLocks noChangeAspect="1"/>
                </p:cNvSpPr>
                <p:nvPr/>
              </p:nvSpPr>
              <p:spPr bwMode="auto">
                <a:xfrm>
                  <a:off x="420" y="760"/>
                  <a:ext cx="35" cy="80"/>
                </a:xfrm>
                <a:custGeom>
                  <a:avLst/>
                  <a:gdLst>
                    <a:gd name="T0" fmla="*/ 106 w 106"/>
                    <a:gd name="T1" fmla="*/ 41 h 241"/>
                    <a:gd name="T2" fmla="*/ 28 w 106"/>
                    <a:gd name="T3" fmla="*/ 241 h 241"/>
                    <a:gd name="T4" fmla="*/ 0 w 106"/>
                    <a:gd name="T5" fmla="*/ 200 h 241"/>
                    <a:gd name="T6" fmla="*/ 77 w 106"/>
                    <a:gd name="T7" fmla="*/ 0 h 241"/>
                    <a:gd name="T8" fmla="*/ 106 w 106"/>
                    <a:gd name="T9" fmla="*/ 41 h 241"/>
                  </a:gdLst>
                  <a:ahLst/>
                  <a:cxnLst>
                    <a:cxn ang="0">
                      <a:pos x="T0" y="T1"/>
                    </a:cxn>
                    <a:cxn ang="0">
                      <a:pos x="T2" y="T3"/>
                    </a:cxn>
                    <a:cxn ang="0">
                      <a:pos x="T4" y="T5"/>
                    </a:cxn>
                    <a:cxn ang="0">
                      <a:pos x="T6" y="T7"/>
                    </a:cxn>
                    <a:cxn ang="0">
                      <a:pos x="T8" y="T9"/>
                    </a:cxn>
                  </a:cxnLst>
                  <a:rect l="0" t="0" r="r" b="b"/>
                  <a:pathLst>
                    <a:path w="106" h="241">
                      <a:moveTo>
                        <a:pt x="106" y="41"/>
                      </a:moveTo>
                      <a:lnTo>
                        <a:pt x="28" y="241"/>
                      </a:lnTo>
                      <a:lnTo>
                        <a:pt x="0" y="200"/>
                      </a:lnTo>
                      <a:lnTo>
                        <a:pt x="77" y="0"/>
                      </a:lnTo>
                      <a:lnTo>
                        <a:pt x="106"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93" name="Freeform 481"/>
                <p:cNvSpPr>
                  <a:spLocks noChangeAspect="1"/>
                </p:cNvSpPr>
                <p:nvPr/>
              </p:nvSpPr>
              <p:spPr bwMode="auto">
                <a:xfrm>
                  <a:off x="415" y="754"/>
                  <a:ext cx="36" cy="80"/>
                </a:xfrm>
                <a:custGeom>
                  <a:avLst/>
                  <a:gdLst>
                    <a:gd name="T0" fmla="*/ 106 w 106"/>
                    <a:gd name="T1" fmla="*/ 40 h 240"/>
                    <a:gd name="T2" fmla="*/ 27 w 106"/>
                    <a:gd name="T3" fmla="*/ 240 h 240"/>
                    <a:gd name="T4" fmla="*/ 0 w 106"/>
                    <a:gd name="T5" fmla="*/ 199 h 240"/>
                    <a:gd name="T6" fmla="*/ 77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7" y="240"/>
                      </a:lnTo>
                      <a:lnTo>
                        <a:pt x="0" y="199"/>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94" name="Freeform 482"/>
                <p:cNvSpPr>
                  <a:spLocks noChangeAspect="1"/>
                </p:cNvSpPr>
                <p:nvPr/>
              </p:nvSpPr>
              <p:spPr bwMode="auto">
                <a:xfrm>
                  <a:off x="411" y="747"/>
                  <a:ext cx="35" cy="80"/>
                </a:xfrm>
                <a:custGeom>
                  <a:avLst/>
                  <a:gdLst>
                    <a:gd name="T0" fmla="*/ 106 w 106"/>
                    <a:gd name="T1" fmla="*/ 39 h 239"/>
                    <a:gd name="T2" fmla="*/ 29 w 106"/>
                    <a:gd name="T3" fmla="*/ 239 h 239"/>
                    <a:gd name="T4" fmla="*/ 0 w 106"/>
                    <a:gd name="T5" fmla="*/ 200 h 239"/>
                    <a:gd name="T6" fmla="*/ 79 w 106"/>
                    <a:gd name="T7" fmla="*/ 0 h 239"/>
                    <a:gd name="T8" fmla="*/ 106 w 106"/>
                    <a:gd name="T9" fmla="*/ 39 h 239"/>
                  </a:gdLst>
                  <a:ahLst/>
                  <a:cxnLst>
                    <a:cxn ang="0">
                      <a:pos x="T0" y="T1"/>
                    </a:cxn>
                    <a:cxn ang="0">
                      <a:pos x="T2" y="T3"/>
                    </a:cxn>
                    <a:cxn ang="0">
                      <a:pos x="T4" y="T5"/>
                    </a:cxn>
                    <a:cxn ang="0">
                      <a:pos x="T6" y="T7"/>
                    </a:cxn>
                    <a:cxn ang="0">
                      <a:pos x="T8" y="T9"/>
                    </a:cxn>
                  </a:cxnLst>
                  <a:rect l="0" t="0" r="r" b="b"/>
                  <a:pathLst>
                    <a:path w="106" h="239">
                      <a:moveTo>
                        <a:pt x="106" y="39"/>
                      </a:moveTo>
                      <a:lnTo>
                        <a:pt x="29" y="239"/>
                      </a:lnTo>
                      <a:lnTo>
                        <a:pt x="0" y="200"/>
                      </a:lnTo>
                      <a:lnTo>
                        <a:pt x="79" y="0"/>
                      </a:lnTo>
                      <a:lnTo>
                        <a:pt x="106"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95" name="Freeform 483"/>
                <p:cNvSpPr>
                  <a:spLocks noChangeAspect="1"/>
                </p:cNvSpPr>
                <p:nvPr/>
              </p:nvSpPr>
              <p:spPr bwMode="auto">
                <a:xfrm>
                  <a:off x="406" y="740"/>
                  <a:ext cx="35" cy="80"/>
                </a:xfrm>
                <a:custGeom>
                  <a:avLst/>
                  <a:gdLst>
                    <a:gd name="T0" fmla="*/ 106 w 106"/>
                    <a:gd name="T1" fmla="*/ 40 h 239"/>
                    <a:gd name="T2" fmla="*/ 29 w 106"/>
                    <a:gd name="T3" fmla="*/ 239 h 239"/>
                    <a:gd name="T4" fmla="*/ 0 w 106"/>
                    <a:gd name="T5" fmla="*/ 200 h 239"/>
                    <a:gd name="T6" fmla="*/ 78 w 106"/>
                    <a:gd name="T7" fmla="*/ 0 h 239"/>
                    <a:gd name="T8" fmla="*/ 106 w 106"/>
                    <a:gd name="T9" fmla="*/ 40 h 239"/>
                  </a:gdLst>
                  <a:ahLst/>
                  <a:cxnLst>
                    <a:cxn ang="0">
                      <a:pos x="T0" y="T1"/>
                    </a:cxn>
                    <a:cxn ang="0">
                      <a:pos x="T2" y="T3"/>
                    </a:cxn>
                    <a:cxn ang="0">
                      <a:pos x="T4" y="T5"/>
                    </a:cxn>
                    <a:cxn ang="0">
                      <a:pos x="T6" y="T7"/>
                    </a:cxn>
                    <a:cxn ang="0">
                      <a:pos x="T8" y="T9"/>
                    </a:cxn>
                  </a:cxnLst>
                  <a:rect l="0" t="0" r="r" b="b"/>
                  <a:pathLst>
                    <a:path w="106" h="239">
                      <a:moveTo>
                        <a:pt x="106" y="40"/>
                      </a:moveTo>
                      <a:lnTo>
                        <a:pt x="29" y="239"/>
                      </a:lnTo>
                      <a:lnTo>
                        <a:pt x="0" y="200"/>
                      </a:lnTo>
                      <a:lnTo>
                        <a:pt x="78"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96" name="Freeform 484"/>
                <p:cNvSpPr>
                  <a:spLocks noChangeAspect="1"/>
                </p:cNvSpPr>
                <p:nvPr/>
              </p:nvSpPr>
              <p:spPr bwMode="auto">
                <a:xfrm>
                  <a:off x="401" y="734"/>
                  <a:ext cx="36" cy="80"/>
                </a:xfrm>
                <a:custGeom>
                  <a:avLst/>
                  <a:gdLst>
                    <a:gd name="T0" fmla="*/ 108 w 108"/>
                    <a:gd name="T1" fmla="*/ 40 h 240"/>
                    <a:gd name="T2" fmla="*/ 29 w 108"/>
                    <a:gd name="T3" fmla="*/ 240 h 240"/>
                    <a:gd name="T4" fmla="*/ 0 w 108"/>
                    <a:gd name="T5" fmla="*/ 200 h 240"/>
                    <a:gd name="T6" fmla="*/ 79 w 108"/>
                    <a:gd name="T7" fmla="*/ 0 h 240"/>
                    <a:gd name="T8" fmla="*/ 108 w 108"/>
                    <a:gd name="T9" fmla="*/ 40 h 240"/>
                  </a:gdLst>
                  <a:ahLst/>
                  <a:cxnLst>
                    <a:cxn ang="0">
                      <a:pos x="T0" y="T1"/>
                    </a:cxn>
                    <a:cxn ang="0">
                      <a:pos x="T2" y="T3"/>
                    </a:cxn>
                    <a:cxn ang="0">
                      <a:pos x="T4" y="T5"/>
                    </a:cxn>
                    <a:cxn ang="0">
                      <a:pos x="T6" y="T7"/>
                    </a:cxn>
                    <a:cxn ang="0">
                      <a:pos x="T8" y="T9"/>
                    </a:cxn>
                  </a:cxnLst>
                  <a:rect l="0" t="0" r="r" b="b"/>
                  <a:pathLst>
                    <a:path w="108" h="240">
                      <a:moveTo>
                        <a:pt x="108" y="40"/>
                      </a:moveTo>
                      <a:lnTo>
                        <a:pt x="29" y="240"/>
                      </a:lnTo>
                      <a:lnTo>
                        <a:pt x="0" y="200"/>
                      </a:lnTo>
                      <a:lnTo>
                        <a:pt x="79" y="0"/>
                      </a:lnTo>
                      <a:lnTo>
                        <a:pt x="108"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97" name="Freeform 485"/>
                <p:cNvSpPr>
                  <a:spLocks noChangeAspect="1"/>
                </p:cNvSpPr>
                <p:nvPr/>
              </p:nvSpPr>
              <p:spPr bwMode="auto">
                <a:xfrm>
                  <a:off x="396" y="727"/>
                  <a:ext cx="36" cy="80"/>
                </a:xfrm>
                <a:custGeom>
                  <a:avLst/>
                  <a:gdLst>
                    <a:gd name="T0" fmla="*/ 107 w 107"/>
                    <a:gd name="T1" fmla="*/ 40 h 240"/>
                    <a:gd name="T2" fmla="*/ 29 w 107"/>
                    <a:gd name="T3" fmla="*/ 240 h 240"/>
                    <a:gd name="T4" fmla="*/ 0 w 107"/>
                    <a:gd name="T5" fmla="*/ 199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199"/>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98" name="Freeform 486"/>
                <p:cNvSpPr>
                  <a:spLocks noChangeAspect="1"/>
                </p:cNvSpPr>
                <p:nvPr/>
              </p:nvSpPr>
              <p:spPr bwMode="auto">
                <a:xfrm>
                  <a:off x="391" y="721"/>
                  <a:ext cx="36" cy="79"/>
                </a:xfrm>
                <a:custGeom>
                  <a:avLst/>
                  <a:gdLst>
                    <a:gd name="T0" fmla="*/ 108 w 108"/>
                    <a:gd name="T1" fmla="*/ 41 h 241"/>
                    <a:gd name="T2" fmla="*/ 29 w 108"/>
                    <a:gd name="T3" fmla="*/ 241 h 241"/>
                    <a:gd name="T4" fmla="*/ 0 w 108"/>
                    <a:gd name="T5" fmla="*/ 200 h 241"/>
                    <a:gd name="T6" fmla="*/ 79 w 108"/>
                    <a:gd name="T7" fmla="*/ 0 h 241"/>
                    <a:gd name="T8" fmla="*/ 108 w 108"/>
                    <a:gd name="T9" fmla="*/ 41 h 241"/>
                  </a:gdLst>
                  <a:ahLst/>
                  <a:cxnLst>
                    <a:cxn ang="0">
                      <a:pos x="T0" y="T1"/>
                    </a:cxn>
                    <a:cxn ang="0">
                      <a:pos x="T2" y="T3"/>
                    </a:cxn>
                    <a:cxn ang="0">
                      <a:pos x="T4" y="T5"/>
                    </a:cxn>
                    <a:cxn ang="0">
                      <a:pos x="T6" y="T7"/>
                    </a:cxn>
                    <a:cxn ang="0">
                      <a:pos x="T8" y="T9"/>
                    </a:cxn>
                  </a:cxnLst>
                  <a:rect l="0" t="0" r="r" b="b"/>
                  <a:pathLst>
                    <a:path w="108" h="241">
                      <a:moveTo>
                        <a:pt x="108" y="41"/>
                      </a:moveTo>
                      <a:lnTo>
                        <a:pt x="29" y="241"/>
                      </a:lnTo>
                      <a:lnTo>
                        <a:pt x="0" y="200"/>
                      </a:lnTo>
                      <a:lnTo>
                        <a:pt x="79" y="0"/>
                      </a:lnTo>
                      <a:lnTo>
                        <a:pt x="108"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4999" name="Freeform 487"/>
                <p:cNvSpPr>
                  <a:spLocks noChangeAspect="1"/>
                </p:cNvSpPr>
                <p:nvPr/>
              </p:nvSpPr>
              <p:spPr bwMode="auto">
                <a:xfrm>
                  <a:off x="386" y="714"/>
                  <a:ext cx="36" cy="79"/>
                </a:xfrm>
                <a:custGeom>
                  <a:avLst/>
                  <a:gdLst>
                    <a:gd name="T0" fmla="*/ 107 w 107"/>
                    <a:gd name="T1" fmla="*/ 40 h 239"/>
                    <a:gd name="T2" fmla="*/ 29 w 107"/>
                    <a:gd name="T3" fmla="*/ 239 h 239"/>
                    <a:gd name="T4" fmla="*/ 0 w 107"/>
                    <a:gd name="T5" fmla="*/ 200 h 239"/>
                    <a:gd name="T6" fmla="*/ 78 w 107"/>
                    <a:gd name="T7" fmla="*/ 0 h 239"/>
                    <a:gd name="T8" fmla="*/ 107 w 107"/>
                    <a:gd name="T9" fmla="*/ 40 h 239"/>
                  </a:gdLst>
                  <a:ahLst/>
                  <a:cxnLst>
                    <a:cxn ang="0">
                      <a:pos x="T0" y="T1"/>
                    </a:cxn>
                    <a:cxn ang="0">
                      <a:pos x="T2" y="T3"/>
                    </a:cxn>
                    <a:cxn ang="0">
                      <a:pos x="T4" y="T5"/>
                    </a:cxn>
                    <a:cxn ang="0">
                      <a:pos x="T6" y="T7"/>
                    </a:cxn>
                    <a:cxn ang="0">
                      <a:pos x="T8" y="T9"/>
                    </a:cxn>
                  </a:cxnLst>
                  <a:rect l="0" t="0" r="r" b="b"/>
                  <a:pathLst>
                    <a:path w="107" h="239">
                      <a:moveTo>
                        <a:pt x="107" y="40"/>
                      </a:moveTo>
                      <a:lnTo>
                        <a:pt x="29" y="239"/>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00" name="Freeform 488"/>
                <p:cNvSpPr>
                  <a:spLocks noChangeAspect="1"/>
                </p:cNvSpPr>
                <p:nvPr/>
              </p:nvSpPr>
              <p:spPr bwMode="auto">
                <a:xfrm>
                  <a:off x="382" y="708"/>
                  <a:ext cx="36" cy="79"/>
                </a:xfrm>
                <a:custGeom>
                  <a:avLst/>
                  <a:gdLst>
                    <a:gd name="T0" fmla="*/ 107 w 107"/>
                    <a:gd name="T1" fmla="*/ 39 h 239"/>
                    <a:gd name="T2" fmla="*/ 28 w 107"/>
                    <a:gd name="T3" fmla="*/ 239 h 239"/>
                    <a:gd name="T4" fmla="*/ 0 w 107"/>
                    <a:gd name="T5" fmla="*/ 200 h 239"/>
                    <a:gd name="T6" fmla="*/ 78 w 107"/>
                    <a:gd name="T7" fmla="*/ 0 h 239"/>
                    <a:gd name="T8" fmla="*/ 107 w 107"/>
                    <a:gd name="T9" fmla="*/ 39 h 239"/>
                  </a:gdLst>
                  <a:ahLst/>
                  <a:cxnLst>
                    <a:cxn ang="0">
                      <a:pos x="T0" y="T1"/>
                    </a:cxn>
                    <a:cxn ang="0">
                      <a:pos x="T2" y="T3"/>
                    </a:cxn>
                    <a:cxn ang="0">
                      <a:pos x="T4" y="T5"/>
                    </a:cxn>
                    <a:cxn ang="0">
                      <a:pos x="T6" y="T7"/>
                    </a:cxn>
                    <a:cxn ang="0">
                      <a:pos x="T8" y="T9"/>
                    </a:cxn>
                  </a:cxnLst>
                  <a:rect l="0" t="0" r="r" b="b"/>
                  <a:pathLst>
                    <a:path w="107" h="239">
                      <a:moveTo>
                        <a:pt x="107" y="39"/>
                      </a:moveTo>
                      <a:lnTo>
                        <a:pt x="28" y="239"/>
                      </a:lnTo>
                      <a:lnTo>
                        <a:pt x="0" y="200"/>
                      </a:lnTo>
                      <a:lnTo>
                        <a:pt x="78" y="0"/>
                      </a:lnTo>
                      <a:lnTo>
                        <a:pt x="107"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01" name="Freeform 489"/>
                <p:cNvSpPr>
                  <a:spLocks noChangeAspect="1"/>
                </p:cNvSpPr>
                <p:nvPr/>
              </p:nvSpPr>
              <p:spPr bwMode="auto">
                <a:xfrm>
                  <a:off x="377" y="701"/>
                  <a:ext cx="35" cy="79"/>
                </a:xfrm>
                <a:custGeom>
                  <a:avLst/>
                  <a:gdLst>
                    <a:gd name="T0" fmla="*/ 106 w 106"/>
                    <a:gd name="T1" fmla="*/ 40 h 240"/>
                    <a:gd name="T2" fmla="*/ 28 w 106"/>
                    <a:gd name="T3" fmla="*/ 240 h 240"/>
                    <a:gd name="T4" fmla="*/ 0 w 106"/>
                    <a:gd name="T5" fmla="*/ 200 h 240"/>
                    <a:gd name="T6" fmla="*/ 77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8" y="240"/>
                      </a:lnTo>
                      <a:lnTo>
                        <a:pt x="0" y="200"/>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02" name="Freeform 490"/>
                <p:cNvSpPr>
                  <a:spLocks noChangeAspect="1"/>
                </p:cNvSpPr>
                <p:nvPr/>
              </p:nvSpPr>
              <p:spPr bwMode="auto">
                <a:xfrm>
                  <a:off x="372" y="695"/>
                  <a:ext cx="36" cy="79"/>
                </a:xfrm>
                <a:custGeom>
                  <a:avLst/>
                  <a:gdLst>
                    <a:gd name="T0" fmla="*/ 106 w 106"/>
                    <a:gd name="T1" fmla="*/ 40 h 240"/>
                    <a:gd name="T2" fmla="*/ 28 w 106"/>
                    <a:gd name="T3" fmla="*/ 240 h 240"/>
                    <a:gd name="T4" fmla="*/ 0 w 106"/>
                    <a:gd name="T5" fmla="*/ 199 h 240"/>
                    <a:gd name="T6" fmla="*/ 78 w 106"/>
                    <a:gd name="T7" fmla="*/ 0 h 240"/>
                    <a:gd name="T8" fmla="*/ 106 w 106"/>
                    <a:gd name="T9" fmla="*/ 40 h 240"/>
                  </a:gdLst>
                  <a:ahLst/>
                  <a:cxnLst>
                    <a:cxn ang="0">
                      <a:pos x="T0" y="T1"/>
                    </a:cxn>
                    <a:cxn ang="0">
                      <a:pos x="T2" y="T3"/>
                    </a:cxn>
                    <a:cxn ang="0">
                      <a:pos x="T4" y="T5"/>
                    </a:cxn>
                    <a:cxn ang="0">
                      <a:pos x="T6" y="T7"/>
                    </a:cxn>
                    <a:cxn ang="0">
                      <a:pos x="T8" y="T9"/>
                    </a:cxn>
                  </a:cxnLst>
                  <a:rect l="0" t="0" r="r" b="b"/>
                  <a:pathLst>
                    <a:path w="106" h="240">
                      <a:moveTo>
                        <a:pt x="106" y="40"/>
                      </a:moveTo>
                      <a:lnTo>
                        <a:pt x="28" y="240"/>
                      </a:lnTo>
                      <a:lnTo>
                        <a:pt x="0" y="199"/>
                      </a:lnTo>
                      <a:lnTo>
                        <a:pt x="78"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03" name="Freeform 491"/>
                <p:cNvSpPr>
                  <a:spLocks noChangeAspect="1"/>
                </p:cNvSpPr>
                <p:nvPr/>
              </p:nvSpPr>
              <p:spPr bwMode="auto">
                <a:xfrm>
                  <a:off x="368" y="688"/>
                  <a:ext cx="36" cy="79"/>
                </a:xfrm>
                <a:custGeom>
                  <a:avLst/>
                  <a:gdLst>
                    <a:gd name="T0" fmla="*/ 106 w 106"/>
                    <a:gd name="T1" fmla="*/ 41 h 241"/>
                    <a:gd name="T2" fmla="*/ 29 w 106"/>
                    <a:gd name="T3" fmla="*/ 241 h 241"/>
                    <a:gd name="T4" fmla="*/ 0 w 106"/>
                    <a:gd name="T5" fmla="*/ 200 h 241"/>
                    <a:gd name="T6" fmla="*/ 79 w 106"/>
                    <a:gd name="T7" fmla="*/ 0 h 241"/>
                    <a:gd name="T8" fmla="*/ 106 w 106"/>
                    <a:gd name="T9" fmla="*/ 41 h 241"/>
                  </a:gdLst>
                  <a:ahLst/>
                  <a:cxnLst>
                    <a:cxn ang="0">
                      <a:pos x="T0" y="T1"/>
                    </a:cxn>
                    <a:cxn ang="0">
                      <a:pos x="T2" y="T3"/>
                    </a:cxn>
                    <a:cxn ang="0">
                      <a:pos x="T4" y="T5"/>
                    </a:cxn>
                    <a:cxn ang="0">
                      <a:pos x="T6" y="T7"/>
                    </a:cxn>
                    <a:cxn ang="0">
                      <a:pos x="T8" y="T9"/>
                    </a:cxn>
                  </a:cxnLst>
                  <a:rect l="0" t="0" r="r" b="b"/>
                  <a:pathLst>
                    <a:path w="106" h="241">
                      <a:moveTo>
                        <a:pt x="106" y="41"/>
                      </a:moveTo>
                      <a:lnTo>
                        <a:pt x="29" y="241"/>
                      </a:lnTo>
                      <a:lnTo>
                        <a:pt x="0" y="200"/>
                      </a:lnTo>
                      <a:lnTo>
                        <a:pt x="79" y="0"/>
                      </a:lnTo>
                      <a:lnTo>
                        <a:pt x="106"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04" name="Freeform 492"/>
                <p:cNvSpPr>
                  <a:spLocks noChangeAspect="1"/>
                </p:cNvSpPr>
                <p:nvPr/>
              </p:nvSpPr>
              <p:spPr bwMode="auto">
                <a:xfrm>
                  <a:off x="363" y="682"/>
                  <a:ext cx="35" cy="78"/>
                </a:xfrm>
                <a:custGeom>
                  <a:avLst/>
                  <a:gdLst>
                    <a:gd name="T0" fmla="*/ 107 w 107"/>
                    <a:gd name="T1" fmla="*/ 40 h 239"/>
                    <a:gd name="T2" fmla="*/ 29 w 107"/>
                    <a:gd name="T3" fmla="*/ 239 h 239"/>
                    <a:gd name="T4" fmla="*/ 0 w 107"/>
                    <a:gd name="T5" fmla="*/ 199 h 239"/>
                    <a:gd name="T6" fmla="*/ 78 w 107"/>
                    <a:gd name="T7" fmla="*/ 0 h 239"/>
                    <a:gd name="T8" fmla="*/ 107 w 107"/>
                    <a:gd name="T9" fmla="*/ 40 h 239"/>
                  </a:gdLst>
                  <a:ahLst/>
                  <a:cxnLst>
                    <a:cxn ang="0">
                      <a:pos x="T0" y="T1"/>
                    </a:cxn>
                    <a:cxn ang="0">
                      <a:pos x="T2" y="T3"/>
                    </a:cxn>
                    <a:cxn ang="0">
                      <a:pos x="T4" y="T5"/>
                    </a:cxn>
                    <a:cxn ang="0">
                      <a:pos x="T6" y="T7"/>
                    </a:cxn>
                    <a:cxn ang="0">
                      <a:pos x="T8" y="T9"/>
                    </a:cxn>
                  </a:cxnLst>
                  <a:rect l="0" t="0" r="r" b="b"/>
                  <a:pathLst>
                    <a:path w="107" h="239">
                      <a:moveTo>
                        <a:pt x="107" y="40"/>
                      </a:moveTo>
                      <a:lnTo>
                        <a:pt x="29" y="239"/>
                      </a:lnTo>
                      <a:lnTo>
                        <a:pt x="0" y="199"/>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05" name="Freeform 493"/>
                <p:cNvSpPr>
                  <a:spLocks noChangeAspect="1"/>
                </p:cNvSpPr>
                <p:nvPr/>
              </p:nvSpPr>
              <p:spPr bwMode="auto">
                <a:xfrm>
                  <a:off x="358" y="676"/>
                  <a:ext cx="36" cy="77"/>
                </a:xfrm>
                <a:custGeom>
                  <a:avLst/>
                  <a:gdLst>
                    <a:gd name="T0" fmla="*/ 108 w 108"/>
                    <a:gd name="T1" fmla="*/ 39 h 239"/>
                    <a:gd name="T2" fmla="*/ 29 w 108"/>
                    <a:gd name="T3" fmla="*/ 239 h 239"/>
                    <a:gd name="T4" fmla="*/ 0 w 108"/>
                    <a:gd name="T5" fmla="*/ 200 h 239"/>
                    <a:gd name="T6" fmla="*/ 79 w 108"/>
                    <a:gd name="T7" fmla="*/ 0 h 239"/>
                    <a:gd name="T8" fmla="*/ 108 w 108"/>
                    <a:gd name="T9" fmla="*/ 39 h 239"/>
                  </a:gdLst>
                  <a:ahLst/>
                  <a:cxnLst>
                    <a:cxn ang="0">
                      <a:pos x="T0" y="T1"/>
                    </a:cxn>
                    <a:cxn ang="0">
                      <a:pos x="T2" y="T3"/>
                    </a:cxn>
                    <a:cxn ang="0">
                      <a:pos x="T4" y="T5"/>
                    </a:cxn>
                    <a:cxn ang="0">
                      <a:pos x="T6" y="T7"/>
                    </a:cxn>
                    <a:cxn ang="0">
                      <a:pos x="T8" y="T9"/>
                    </a:cxn>
                  </a:cxnLst>
                  <a:rect l="0" t="0" r="r" b="b"/>
                  <a:pathLst>
                    <a:path w="108" h="239">
                      <a:moveTo>
                        <a:pt x="108" y="39"/>
                      </a:moveTo>
                      <a:lnTo>
                        <a:pt x="29" y="239"/>
                      </a:lnTo>
                      <a:lnTo>
                        <a:pt x="0" y="200"/>
                      </a:lnTo>
                      <a:lnTo>
                        <a:pt x="79" y="0"/>
                      </a:lnTo>
                      <a:lnTo>
                        <a:pt x="108"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06" name="Freeform 494"/>
                <p:cNvSpPr>
                  <a:spLocks noChangeAspect="1"/>
                </p:cNvSpPr>
                <p:nvPr/>
              </p:nvSpPr>
              <p:spPr bwMode="auto">
                <a:xfrm>
                  <a:off x="354" y="669"/>
                  <a:ext cx="35" cy="78"/>
                </a:xfrm>
                <a:custGeom>
                  <a:avLst/>
                  <a:gdLst>
                    <a:gd name="T0" fmla="*/ 107 w 107"/>
                    <a:gd name="T1" fmla="*/ 40 h 239"/>
                    <a:gd name="T2" fmla="*/ 29 w 107"/>
                    <a:gd name="T3" fmla="*/ 239 h 239"/>
                    <a:gd name="T4" fmla="*/ 0 w 107"/>
                    <a:gd name="T5" fmla="*/ 200 h 239"/>
                    <a:gd name="T6" fmla="*/ 78 w 107"/>
                    <a:gd name="T7" fmla="*/ 0 h 239"/>
                    <a:gd name="T8" fmla="*/ 107 w 107"/>
                    <a:gd name="T9" fmla="*/ 40 h 239"/>
                  </a:gdLst>
                  <a:ahLst/>
                  <a:cxnLst>
                    <a:cxn ang="0">
                      <a:pos x="T0" y="T1"/>
                    </a:cxn>
                    <a:cxn ang="0">
                      <a:pos x="T2" y="T3"/>
                    </a:cxn>
                    <a:cxn ang="0">
                      <a:pos x="T4" y="T5"/>
                    </a:cxn>
                    <a:cxn ang="0">
                      <a:pos x="T6" y="T7"/>
                    </a:cxn>
                    <a:cxn ang="0">
                      <a:pos x="T8" y="T9"/>
                    </a:cxn>
                  </a:cxnLst>
                  <a:rect l="0" t="0" r="r" b="b"/>
                  <a:pathLst>
                    <a:path w="107" h="239">
                      <a:moveTo>
                        <a:pt x="107" y="40"/>
                      </a:moveTo>
                      <a:lnTo>
                        <a:pt x="29" y="239"/>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07" name="Freeform 495"/>
                <p:cNvSpPr>
                  <a:spLocks noChangeAspect="1"/>
                </p:cNvSpPr>
                <p:nvPr/>
              </p:nvSpPr>
              <p:spPr bwMode="auto">
                <a:xfrm>
                  <a:off x="348" y="663"/>
                  <a:ext cx="36" cy="77"/>
                </a:xfrm>
                <a:custGeom>
                  <a:avLst/>
                  <a:gdLst>
                    <a:gd name="T0" fmla="*/ 107 w 107"/>
                    <a:gd name="T1" fmla="*/ 40 h 240"/>
                    <a:gd name="T2" fmla="*/ 28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8"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08" name="Freeform 496"/>
                <p:cNvSpPr>
                  <a:spLocks noChangeAspect="1"/>
                </p:cNvSpPr>
                <p:nvPr/>
              </p:nvSpPr>
              <p:spPr bwMode="auto">
                <a:xfrm>
                  <a:off x="344" y="653"/>
                  <a:ext cx="35" cy="79"/>
                </a:xfrm>
                <a:custGeom>
                  <a:avLst/>
                  <a:gdLst>
                    <a:gd name="T0" fmla="*/ 106 w 106"/>
                    <a:gd name="T1" fmla="*/ 41 h 241"/>
                    <a:gd name="T2" fmla="*/ 28 w 106"/>
                    <a:gd name="T3" fmla="*/ 241 h 241"/>
                    <a:gd name="T4" fmla="*/ 0 w 106"/>
                    <a:gd name="T5" fmla="*/ 200 h 241"/>
                    <a:gd name="T6" fmla="*/ 77 w 106"/>
                    <a:gd name="T7" fmla="*/ 0 h 241"/>
                    <a:gd name="T8" fmla="*/ 106 w 106"/>
                    <a:gd name="T9" fmla="*/ 41 h 241"/>
                  </a:gdLst>
                  <a:ahLst/>
                  <a:cxnLst>
                    <a:cxn ang="0">
                      <a:pos x="T0" y="T1"/>
                    </a:cxn>
                    <a:cxn ang="0">
                      <a:pos x="T2" y="T3"/>
                    </a:cxn>
                    <a:cxn ang="0">
                      <a:pos x="T4" y="T5"/>
                    </a:cxn>
                    <a:cxn ang="0">
                      <a:pos x="T6" y="T7"/>
                    </a:cxn>
                    <a:cxn ang="0">
                      <a:pos x="T8" y="T9"/>
                    </a:cxn>
                  </a:cxnLst>
                  <a:rect l="0" t="0" r="r" b="b"/>
                  <a:pathLst>
                    <a:path w="106" h="241">
                      <a:moveTo>
                        <a:pt x="106" y="41"/>
                      </a:moveTo>
                      <a:lnTo>
                        <a:pt x="28" y="241"/>
                      </a:lnTo>
                      <a:lnTo>
                        <a:pt x="0" y="200"/>
                      </a:lnTo>
                      <a:lnTo>
                        <a:pt x="77" y="0"/>
                      </a:lnTo>
                      <a:lnTo>
                        <a:pt x="106"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09" name="Freeform 497"/>
                <p:cNvSpPr>
                  <a:spLocks noChangeAspect="1"/>
                </p:cNvSpPr>
                <p:nvPr/>
              </p:nvSpPr>
              <p:spPr bwMode="auto">
                <a:xfrm>
                  <a:off x="340" y="650"/>
                  <a:ext cx="35" cy="77"/>
                </a:xfrm>
                <a:custGeom>
                  <a:avLst/>
                  <a:gdLst>
                    <a:gd name="T0" fmla="*/ 106 w 106"/>
                    <a:gd name="T1" fmla="*/ 41 h 241"/>
                    <a:gd name="T2" fmla="*/ 28 w 106"/>
                    <a:gd name="T3" fmla="*/ 241 h 241"/>
                    <a:gd name="T4" fmla="*/ 0 w 106"/>
                    <a:gd name="T5" fmla="*/ 200 h 241"/>
                    <a:gd name="T6" fmla="*/ 78 w 106"/>
                    <a:gd name="T7" fmla="*/ 0 h 241"/>
                    <a:gd name="T8" fmla="*/ 106 w 106"/>
                    <a:gd name="T9" fmla="*/ 41 h 241"/>
                  </a:gdLst>
                  <a:ahLst/>
                  <a:cxnLst>
                    <a:cxn ang="0">
                      <a:pos x="T0" y="T1"/>
                    </a:cxn>
                    <a:cxn ang="0">
                      <a:pos x="T2" y="T3"/>
                    </a:cxn>
                    <a:cxn ang="0">
                      <a:pos x="T4" y="T5"/>
                    </a:cxn>
                    <a:cxn ang="0">
                      <a:pos x="T6" y="T7"/>
                    </a:cxn>
                    <a:cxn ang="0">
                      <a:pos x="T8" y="T9"/>
                    </a:cxn>
                  </a:cxnLst>
                  <a:rect l="0" t="0" r="r" b="b"/>
                  <a:pathLst>
                    <a:path w="106" h="241">
                      <a:moveTo>
                        <a:pt x="106" y="41"/>
                      </a:moveTo>
                      <a:lnTo>
                        <a:pt x="28" y="241"/>
                      </a:lnTo>
                      <a:lnTo>
                        <a:pt x="0" y="200"/>
                      </a:lnTo>
                      <a:lnTo>
                        <a:pt x="78" y="0"/>
                      </a:lnTo>
                      <a:lnTo>
                        <a:pt x="106"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10" name="Freeform 498"/>
                <p:cNvSpPr>
                  <a:spLocks noChangeAspect="1"/>
                </p:cNvSpPr>
                <p:nvPr/>
              </p:nvSpPr>
              <p:spPr bwMode="auto">
                <a:xfrm>
                  <a:off x="334" y="640"/>
                  <a:ext cx="35" cy="80"/>
                </a:xfrm>
                <a:custGeom>
                  <a:avLst/>
                  <a:gdLst>
                    <a:gd name="T0" fmla="*/ 106 w 106"/>
                    <a:gd name="T1" fmla="*/ 39 h 239"/>
                    <a:gd name="T2" fmla="*/ 29 w 106"/>
                    <a:gd name="T3" fmla="*/ 239 h 239"/>
                    <a:gd name="T4" fmla="*/ 0 w 106"/>
                    <a:gd name="T5" fmla="*/ 200 h 239"/>
                    <a:gd name="T6" fmla="*/ 78 w 106"/>
                    <a:gd name="T7" fmla="*/ 0 h 239"/>
                    <a:gd name="T8" fmla="*/ 106 w 106"/>
                    <a:gd name="T9" fmla="*/ 39 h 239"/>
                  </a:gdLst>
                  <a:ahLst/>
                  <a:cxnLst>
                    <a:cxn ang="0">
                      <a:pos x="T0" y="T1"/>
                    </a:cxn>
                    <a:cxn ang="0">
                      <a:pos x="T2" y="T3"/>
                    </a:cxn>
                    <a:cxn ang="0">
                      <a:pos x="T4" y="T5"/>
                    </a:cxn>
                    <a:cxn ang="0">
                      <a:pos x="T6" y="T7"/>
                    </a:cxn>
                    <a:cxn ang="0">
                      <a:pos x="T8" y="T9"/>
                    </a:cxn>
                  </a:cxnLst>
                  <a:rect l="0" t="0" r="r" b="b"/>
                  <a:pathLst>
                    <a:path w="106" h="239">
                      <a:moveTo>
                        <a:pt x="106" y="39"/>
                      </a:moveTo>
                      <a:lnTo>
                        <a:pt x="29" y="239"/>
                      </a:lnTo>
                      <a:lnTo>
                        <a:pt x="0" y="200"/>
                      </a:lnTo>
                      <a:lnTo>
                        <a:pt x="78" y="0"/>
                      </a:lnTo>
                      <a:lnTo>
                        <a:pt x="106"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11" name="Freeform 499"/>
                <p:cNvSpPr>
                  <a:spLocks noChangeAspect="1"/>
                </p:cNvSpPr>
                <p:nvPr/>
              </p:nvSpPr>
              <p:spPr bwMode="auto">
                <a:xfrm>
                  <a:off x="329" y="637"/>
                  <a:ext cx="36" cy="77"/>
                </a:xfrm>
                <a:custGeom>
                  <a:avLst/>
                  <a:gdLst>
                    <a:gd name="T0" fmla="*/ 107 w 107"/>
                    <a:gd name="T1" fmla="*/ 39 h 239"/>
                    <a:gd name="T2" fmla="*/ 29 w 107"/>
                    <a:gd name="T3" fmla="*/ 239 h 239"/>
                    <a:gd name="T4" fmla="*/ 0 w 107"/>
                    <a:gd name="T5" fmla="*/ 200 h 239"/>
                    <a:gd name="T6" fmla="*/ 78 w 107"/>
                    <a:gd name="T7" fmla="*/ 0 h 239"/>
                    <a:gd name="T8" fmla="*/ 107 w 107"/>
                    <a:gd name="T9" fmla="*/ 39 h 239"/>
                  </a:gdLst>
                  <a:ahLst/>
                  <a:cxnLst>
                    <a:cxn ang="0">
                      <a:pos x="T0" y="T1"/>
                    </a:cxn>
                    <a:cxn ang="0">
                      <a:pos x="T2" y="T3"/>
                    </a:cxn>
                    <a:cxn ang="0">
                      <a:pos x="T4" y="T5"/>
                    </a:cxn>
                    <a:cxn ang="0">
                      <a:pos x="T6" y="T7"/>
                    </a:cxn>
                    <a:cxn ang="0">
                      <a:pos x="T8" y="T9"/>
                    </a:cxn>
                  </a:cxnLst>
                  <a:rect l="0" t="0" r="r" b="b"/>
                  <a:pathLst>
                    <a:path w="107" h="239">
                      <a:moveTo>
                        <a:pt x="107" y="39"/>
                      </a:moveTo>
                      <a:lnTo>
                        <a:pt x="29" y="239"/>
                      </a:lnTo>
                      <a:lnTo>
                        <a:pt x="0" y="200"/>
                      </a:lnTo>
                      <a:lnTo>
                        <a:pt x="78" y="0"/>
                      </a:lnTo>
                      <a:lnTo>
                        <a:pt x="107"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12" name="Freeform 500"/>
                <p:cNvSpPr>
                  <a:spLocks noChangeAspect="1"/>
                </p:cNvSpPr>
                <p:nvPr/>
              </p:nvSpPr>
              <p:spPr bwMode="auto">
                <a:xfrm>
                  <a:off x="326" y="627"/>
                  <a:ext cx="35" cy="80"/>
                </a:xfrm>
                <a:custGeom>
                  <a:avLst/>
                  <a:gdLst>
                    <a:gd name="T0" fmla="*/ 107 w 107"/>
                    <a:gd name="T1" fmla="*/ 40 h 240"/>
                    <a:gd name="T2" fmla="*/ 29 w 107"/>
                    <a:gd name="T3" fmla="*/ 240 h 240"/>
                    <a:gd name="T4" fmla="*/ 0 w 107"/>
                    <a:gd name="T5" fmla="*/ 200 h 240"/>
                    <a:gd name="T6" fmla="*/ 79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200"/>
                      </a:lnTo>
                      <a:lnTo>
                        <a:pt x="79"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13" name="Freeform 501"/>
                <p:cNvSpPr>
                  <a:spLocks noChangeAspect="1"/>
                </p:cNvSpPr>
                <p:nvPr/>
              </p:nvSpPr>
              <p:spPr bwMode="auto">
                <a:xfrm>
                  <a:off x="320" y="620"/>
                  <a:ext cx="35" cy="80"/>
                </a:xfrm>
                <a:custGeom>
                  <a:avLst/>
                  <a:gdLst>
                    <a:gd name="T0" fmla="*/ 107 w 107"/>
                    <a:gd name="T1" fmla="*/ 40 h 240"/>
                    <a:gd name="T2" fmla="*/ 29 w 107"/>
                    <a:gd name="T3" fmla="*/ 240 h 240"/>
                    <a:gd name="T4" fmla="*/ 0 w 107"/>
                    <a:gd name="T5" fmla="*/ 199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9" y="240"/>
                      </a:lnTo>
                      <a:lnTo>
                        <a:pt x="0" y="199"/>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14" name="Freeform 502"/>
                <p:cNvSpPr>
                  <a:spLocks noChangeAspect="1"/>
                </p:cNvSpPr>
                <p:nvPr/>
              </p:nvSpPr>
              <p:spPr bwMode="auto">
                <a:xfrm>
                  <a:off x="315" y="613"/>
                  <a:ext cx="36" cy="82"/>
                </a:xfrm>
                <a:custGeom>
                  <a:avLst/>
                  <a:gdLst>
                    <a:gd name="T0" fmla="*/ 107 w 107"/>
                    <a:gd name="T1" fmla="*/ 41 h 241"/>
                    <a:gd name="T2" fmla="*/ 28 w 107"/>
                    <a:gd name="T3" fmla="*/ 241 h 241"/>
                    <a:gd name="T4" fmla="*/ 0 w 107"/>
                    <a:gd name="T5" fmla="*/ 200 h 241"/>
                    <a:gd name="T6" fmla="*/ 78 w 107"/>
                    <a:gd name="T7" fmla="*/ 0 h 241"/>
                    <a:gd name="T8" fmla="*/ 107 w 107"/>
                    <a:gd name="T9" fmla="*/ 41 h 241"/>
                  </a:gdLst>
                  <a:ahLst/>
                  <a:cxnLst>
                    <a:cxn ang="0">
                      <a:pos x="T0" y="T1"/>
                    </a:cxn>
                    <a:cxn ang="0">
                      <a:pos x="T2" y="T3"/>
                    </a:cxn>
                    <a:cxn ang="0">
                      <a:pos x="T4" y="T5"/>
                    </a:cxn>
                    <a:cxn ang="0">
                      <a:pos x="T6" y="T7"/>
                    </a:cxn>
                    <a:cxn ang="0">
                      <a:pos x="T8" y="T9"/>
                    </a:cxn>
                  </a:cxnLst>
                  <a:rect l="0" t="0" r="r" b="b"/>
                  <a:pathLst>
                    <a:path w="107" h="241">
                      <a:moveTo>
                        <a:pt x="107" y="41"/>
                      </a:moveTo>
                      <a:lnTo>
                        <a:pt x="28" y="241"/>
                      </a:lnTo>
                      <a:lnTo>
                        <a:pt x="0" y="200"/>
                      </a:lnTo>
                      <a:lnTo>
                        <a:pt x="78" y="0"/>
                      </a:lnTo>
                      <a:lnTo>
                        <a:pt x="107"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15" name="Freeform 503"/>
                <p:cNvSpPr>
                  <a:spLocks noChangeAspect="1"/>
                </p:cNvSpPr>
                <p:nvPr/>
              </p:nvSpPr>
              <p:spPr bwMode="auto">
                <a:xfrm>
                  <a:off x="312" y="607"/>
                  <a:ext cx="35" cy="80"/>
                </a:xfrm>
                <a:custGeom>
                  <a:avLst/>
                  <a:gdLst>
                    <a:gd name="T0" fmla="*/ 106 w 106"/>
                    <a:gd name="T1" fmla="*/ 40 h 239"/>
                    <a:gd name="T2" fmla="*/ 28 w 106"/>
                    <a:gd name="T3" fmla="*/ 239 h 239"/>
                    <a:gd name="T4" fmla="*/ 0 w 106"/>
                    <a:gd name="T5" fmla="*/ 199 h 239"/>
                    <a:gd name="T6" fmla="*/ 77 w 106"/>
                    <a:gd name="T7" fmla="*/ 0 h 239"/>
                    <a:gd name="T8" fmla="*/ 106 w 106"/>
                    <a:gd name="T9" fmla="*/ 40 h 239"/>
                  </a:gdLst>
                  <a:ahLst/>
                  <a:cxnLst>
                    <a:cxn ang="0">
                      <a:pos x="T0" y="T1"/>
                    </a:cxn>
                    <a:cxn ang="0">
                      <a:pos x="T2" y="T3"/>
                    </a:cxn>
                    <a:cxn ang="0">
                      <a:pos x="T4" y="T5"/>
                    </a:cxn>
                    <a:cxn ang="0">
                      <a:pos x="T6" y="T7"/>
                    </a:cxn>
                    <a:cxn ang="0">
                      <a:pos x="T8" y="T9"/>
                    </a:cxn>
                  </a:cxnLst>
                  <a:rect l="0" t="0" r="r" b="b"/>
                  <a:pathLst>
                    <a:path w="106" h="239">
                      <a:moveTo>
                        <a:pt x="106" y="40"/>
                      </a:moveTo>
                      <a:lnTo>
                        <a:pt x="28" y="239"/>
                      </a:lnTo>
                      <a:lnTo>
                        <a:pt x="0" y="199"/>
                      </a:lnTo>
                      <a:lnTo>
                        <a:pt x="77"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16" name="Freeform 504"/>
                <p:cNvSpPr>
                  <a:spLocks noChangeAspect="1"/>
                </p:cNvSpPr>
                <p:nvPr/>
              </p:nvSpPr>
              <p:spPr bwMode="auto">
                <a:xfrm>
                  <a:off x="305" y="600"/>
                  <a:ext cx="36" cy="80"/>
                </a:xfrm>
                <a:custGeom>
                  <a:avLst/>
                  <a:gdLst>
                    <a:gd name="T0" fmla="*/ 107 w 107"/>
                    <a:gd name="T1" fmla="*/ 39 h 239"/>
                    <a:gd name="T2" fmla="*/ 29 w 107"/>
                    <a:gd name="T3" fmla="*/ 239 h 239"/>
                    <a:gd name="T4" fmla="*/ 0 w 107"/>
                    <a:gd name="T5" fmla="*/ 200 h 239"/>
                    <a:gd name="T6" fmla="*/ 79 w 107"/>
                    <a:gd name="T7" fmla="*/ 0 h 239"/>
                    <a:gd name="T8" fmla="*/ 107 w 107"/>
                    <a:gd name="T9" fmla="*/ 39 h 239"/>
                  </a:gdLst>
                  <a:ahLst/>
                  <a:cxnLst>
                    <a:cxn ang="0">
                      <a:pos x="T0" y="T1"/>
                    </a:cxn>
                    <a:cxn ang="0">
                      <a:pos x="T2" y="T3"/>
                    </a:cxn>
                    <a:cxn ang="0">
                      <a:pos x="T4" y="T5"/>
                    </a:cxn>
                    <a:cxn ang="0">
                      <a:pos x="T6" y="T7"/>
                    </a:cxn>
                    <a:cxn ang="0">
                      <a:pos x="T8" y="T9"/>
                    </a:cxn>
                  </a:cxnLst>
                  <a:rect l="0" t="0" r="r" b="b"/>
                  <a:pathLst>
                    <a:path w="107" h="239">
                      <a:moveTo>
                        <a:pt x="107" y="39"/>
                      </a:moveTo>
                      <a:lnTo>
                        <a:pt x="29" y="239"/>
                      </a:lnTo>
                      <a:lnTo>
                        <a:pt x="0" y="200"/>
                      </a:lnTo>
                      <a:lnTo>
                        <a:pt x="79" y="0"/>
                      </a:lnTo>
                      <a:lnTo>
                        <a:pt x="107"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17" name="Freeform 505"/>
                <p:cNvSpPr>
                  <a:spLocks noChangeAspect="1"/>
                </p:cNvSpPr>
                <p:nvPr/>
              </p:nvSpPr>
              <p:spPr bwMode="auto">
                <a:xfrm>
                  <a:off x="301" y="594"/>
                  <a:ext cx="35" cy="79"/>
                </a:xfrm>
                <a:custGeom>
                  <a:avLst/>
                  <a:gdLst>
                    <a:gd name="T0" fmla="*/ 106 w 106"/>
                    <a:gd name="T1" fmla="*/ 40 h 239"/>
                    <a:gd name="T2" fmla="*/ 29 w 106"/>
                    <a:gd name="T3" fmla="*/ 239 h 239"/>
                    <a:gd name="T4" fmla="*/ 0 w 106"/>
                    <a:gd name="T5" fmla="*/ 200 h 239"/>
                    <a:gd name="T6" fmla="*/ 78 w 106"/>
                    <a:gd name="T7" fmla="*/ 0 h 239"/>
                    <a:gd name="T8" fmla="*/ 106 w 106"/>
                    <a:gd name="T9" fmla="*/ 40 h 239"/>
                  </a:gdLst>
                  <a:ahLst/>
                  <a:cxnLst>
                    <a:cxn ang="0">
                      <a:pos x="T0" y="T1"/>
                    </a:cxn>
                    <a:cxn ang="0">
                      <a:pos x="T2" y="T3"/>
                    </a:cxn>
                    <a:cxn ang="0">
                      <a:pos x="T4" y="T5"/>
                    </a:cxn>
                    <a:cxn ang="0">
                      <a:pos x="T6" y="T7"/>
                    </a:cxn>
                    <a:cxn ang="0">
                      <a:pos x="T8" y="T9"/>
                    </a:cxn>
                  </a:cxnLst>
                  <a:rect l="0" t="0" r="r" b="b"/>
                  <a:pathLst>
                    <a:path w="106" h="239">
                      <a:moveTo>
                        <a:pt x="106" y="40"/>
                      </a:moveTo>
                      <a:lnTo>
                        <a:pt x="29" y="239"/>
                      </a:lnTo>
                      <a:lnTo>
                        <a:pt x="0" y="200"/>
                      </a:lnTo>
                      <a:lnTo>
                        <a:pt x="78" y="0"/>
                      </a:lnTo>
                      <a:lnTo>
                        <a:pt x="106"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18" name="Freeform 506"/>
                <p:cNvSpPr>
                  <a:spLocks noChangeAspect="1"/>
                </p:cNvSpPr>
                <p:nvPr/>
              </p:nvSpPr>
              <p:spPr bwMode="auto">
                <a:xfrm>
                  <a:off x="298" y="587"/>
                  <a:ext cx="35" cy="80"/>
                </a:xfrm>
                <a:custGeom>
                  <a:avLst/>
                  <a:gdLst>
                    <a:gd name="T0" fmla="*/ 107 w 107"/>
                    <a:gd name="T1" fmla="*/ 40 h 240"/>
                    <a:gd name="T2" fmla="*/ 28 w 107"/>
                    <a:gd name="T3" fmla="*/ 240 h 240"/>
                    <a:gd name="T4" fmla="*/ 0 w 107"/>
                    <a:gd name="T5" fmla="*/ 199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8" y="240"/>
                      </a:lnTo>
                      <a:lnTo>
                        <a:pt x="0" y="199"/>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19" name="Freeform 507"/>
                <p:cNvSpPr>
                  <a:spLocks noChangeAspect="1"/>
                </p:cNvSpPr>
                <p:nvPr/>
              </p:nvSpPr>
              <p:spPr bwMode="auto">
                <a:xfrm>
                  <a:off x="291" y="580"/>
                  <a:ext cx="36" cy="80"/>
                </a:xfrm>
                <a:custGeom>
                  <a:avLst/>
                  <a:gdLst>
                    <a:gd name="T0" fmla="*/ 107 w 107"/>
                    <a:gd name="T1" fmla="*/ 41 h 241"/>
                    <a:gd name="T2" fmla="*/ 29 w 107"/>
                    <a:gd name="T3" fmla="*/ 241 h 241"/>
                    <a:gd name="T4" fmla="*/ 0 w 107"/>
                    <a:gd name="T5" fmla="*/ 200 h 241"/>
                    <a:gd name="T6" fmla="*/ 78 w 107"/>
                    <a:gd name="T7" fmla="*/ 0 h 241"/>
                    <a:gd name="T8" fmla="*/ 107 w 107"/>
                    <a:gd name="T9" fmla="*/ 41 h 241"/>
                  </a:gdLst>
                  <a:ahLst/>
                  <a:cxnLst>
                    <a:cxn ang="0">
                      <a:pos x="T0" y="T1"/>
                    </a:cxn>
                    <a:cxn ang="0">
                      <a:pos x="T2" y="T3"/>
                    </a:cxn>
                    <a:cxn ang="0">
                      <a:pos x="T4" y="T5"/>
                    </a:cxn>
                    <a:cxn ang="0">
                      <a:pos x="T6" y="T7"/>
                    </a:cxn>
                    <a:cxn ang="0">
                      <a:pos x="T8" y="T9"/>
                    </a:cxn>
                  </a:cxnLst>
                  <a:rect l="0" t="0" r="r" b="b"/>
                  <a:pathLst>
                    <a:path w="107" h="241">
                      <a:moveTo>
                        <a:pt x="107" y="41"/>
                      </a:moveTo>
                      <a:lnTo>
                        <a:pt x="29" y="241"/>
                      </a:lnTo>
                      <a:lnTo>
                        <a:pt x="0" y="200"/>
                      </a:lnTo>
                      <a:lnTo>
                        <a:pt x="78" y="0"/>
                      </a:lnTo>
                      <a:lnTo>
                        <a:pt x="107"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20" name="Freeform 508"/>
                <p:cNvSpPr>
                  <a:spLocks noChangeAspect="1"/>
                </p:cNvSpPr>
                <p:nvPr/>
              </p:nvSpPr>
              <p:spPr bwMode="auto">
                <a:xfrm>
                  <a:off x="286" y="573"/>
                  <a:ext cx="36" cy="80"/>
                </a:xfrm>
                <a:custGeom>
                  <a:avLst/>
                  <a:gdLst>
                    <a:gd name="T0" fmla="*/ 107 w 107"/>
                    <a:gd name="T1" fmla="*/ 41 h 240"/>
                    <a:gd name="T2" fmla="*/ 29 w 107"/>
                    <a:gd name="T3" fmla="*/ 240 h 240"/>
                    <a:gd name="T4" fmla="*/ 0 w 107"/>
                    <a:gd name="T5" fmla="*/ 200 h 240"/>
                    <a:gd name="T6" fmla="*/ 78 w 107"/>
                    <a:gd name="T7" fmla="*/ 0 h 240"/>
                    <a:gd name="T8" fmla="*/ 107 w 107"/>
                    <a:gd name="T9" fmla="*/ 41 h 240"/>
                  </a:gdLst>
                  <a:ahLst/>
                  <a:cxnLst>
                    <a:cxn ang="0">
                      <a:pos x="T0" y="T1"/>
                    </a:cxn>
                    <a:cxn ang="0">
                      <a:pos x="T2" y="T3"/>
                    </a:cxn>
                    <a:cxn ang="0">
                      <a:pos x="T4" y="T5"/>
                    </a:cxn>
                    <a:cxn ang="0">
                      <a:pos x="T6" y="T7"/>
                    </a:cxn>
                    <a:cxn ang="0">
                      <a:pos x="T8" y="T9"/>
                    </a:cxn>
                  </a:cxnLst>
                  <a:rect l="0" t="0" r="r" b="b"/>
                  <a:pathLst>
                    <a:path w="107" h="240">
                      <a:moveTo>
                        <a:pt x="107" y="41"/>
                      </a:moveTo>
                      <a:lnTo>
                        <a:pt x="29" y="240"/>
                      </a:lnTo>
                      <a:lnTo>
                        <a:pt x="0" y="200"/>
                      </a:lnTo>
                      <a:lnTo>
                        <a:pt x="78" y="0"/>
                      </a:lnTo>
                      <a:lnTo>
                        <a:pt x="107" y="4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21" name="Freeform 509"/>
                <p:cNvSpPr>
                  <a:spLocks noChangeAspect="1"/>
                </p:cNvSpPr>
                <p:nvPr/>
              </p:nvSpPr>
              <p:spPr bwMode="auto">
                <a:xfrm>
                  <a:off x="283" y="567"/>
                  <a:ext cx="36" cy="80"/>
                </a:xfrm>
                <a:custGeom>
                  <a:avLst/>
                  <a:gdLst>
                    <a:gd name="T0" fmla="*/ 107 w 107"/>
                    <a:gd name="T1" fmla="*/ 39 h 239"/>
                    <a:gd name="T2" fmla="*/ 29 w 107"/>
                    <a:gd name="T3" fmla="*/ 239 h 239"/>
                    <a:gd name="T4" fmla="*/ 0 w 107"/>
                    <a:gd name="T5" fmla="*/ 200 h 239"/>
                    <a:gd name="T6" fmla="*/ 79 w 107"/>
                    <a:gd name="T7" fmla="*/ 0 h 239"/>
                    <a:gd name="T8" fmla="*/ 107 w 107"/>
                    <a:gd name="T9" fmla="*/ 39 h 239"/>
                  </a:gdLst>
                  <a:ahLst/>
                  <a:cxnLst>
                    <a:cxn ang="0">
                      <a:pos x="T0" y="T1"/>
                    </a:cxn>
                    <a:cxn ang="0">
                      <a:pos x="T2" y="T3"/>
                    </a:cxn>
                    <a:cxn ang="0">
                      <a:pos x="T4" y="T5"/>
                    </a:cxn>
                    <a:cxn ang="0">
                      <a:pos x="T6" y="T7"/>
                    </a:cxn>
                    <a:cxn ang="0">
                      <a:pos x="T8" y="T9"/>
                    </a:cxn>
                  </a:cxnLst>
                  <a:rect l="0" t="0" r="r" b="b"/>
                  <a:pathLst>
                    <a:path w="107" h="239">
                      <a:moveTo>
                        <a:pt x="107" y="39"/>
                      </a:moveTo>
                      <a:lnTo>
                        <a:pt x="29" y="239"/>
                      </a:lnTo>
                      <a:lnTo>
                        <a:pt x="0" y="200"/>
                      </a:lnTo>
                      <a:lnTo>
                        <a:pt x="79" y="0"/>
                      </a:lnTo>
                      <a:lnTo>
                        <a:pt x="107"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22" name="Freeform 510"/>
                <p:cNvSpPr>
                  <a:spLocks noChangeAspect="1"/>
                </p:cNvSpPr>
                <p:nvPr/>
              </p:nvSpPr>
              <p:spPr bwMode="auto">
                <a:xfrm>
                  <a:off x="277" y="560"/>
                  <a:ext cx="35" cy="80"/>
                </a:xfrm>
                <a:custGeom>
                  <a:avLst/>
                  <a:gdLst>
                    <a:gd name="T0" fmla="*/ 106 w 106"/>
                    <a:gd name="T1" fmla="*/ 39 h 239"/>
                    <a:gd name="T2" fmla="*/ 28 w 106"/>
                    <a:gd name="T3" fmla="*/ 239 h 239"/>
                    <a:gd name="T4" fmla="*/ 0 w 106"/>
                    <a:gd name="T5" fmla="*/ 200 h 239"/>
                    <a:gd name="T6" fmla="*/ 77 w 106"/>
                    <a:gd name="T7" fmla="*/ 0 h 239"/>
                    <a:gd name="T8" fmla="*/ 106 w 106"/>
                    <a:gd name="T9" fmla="*/ 39 h 239"/>
                  </a:gdLst>
                  <a:ahLst/>
                  <a:cxnLst>
                    <a:cxn ang="0">
                      <a:pos x="T0" y="T1"/>
                    </a:cxn>
                    <a:cxn ang="0">
                      <a:pos x="T2" y="T3"/>
                    </a:cxn>
                    <a:cxn ang="0">
                      <a:pos x="T4" y="T5"/>
                    </a:cxn>
                    <a:cxn ang="0">
                      <a:pos x="T6" y="T7"/>
                    </a:cxn>
                    <a:cxn ang="0">
                      <a:pos x="T8" y="T9"/>
                    </a:cxn>
                  </a:cxnLst>
                  <a:rect l="0" t="0" r="r" b="b"/>
                  <a:pathLst>
                    <a:path w="106" h="239">
                      <a:moveTo>
                        <a:pt x="106" y="39"/>
                      </a:moveTo>
                      <a:lnTo>
                        <a:pt x="28" y="239"/>
                      </a:lnTo>
                      <a:lnTo>
                        <a:pt x="0" y="200"/>
                      </a:lnTo>
                      <a:lnTo>
                        <a:pt x="77" y="0"/>
                      </a:lnTo>
                      <a:lnTo>
                        <a:pt x="106"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23" name="Freeform 511"/>
                <p:cNvSpPr>
                  <a:spLocks noChangeAspect="1"/>
                </p:cNvSpPr>
                <p:nvPr/>
              </p:nvSpPr>
              <p:spPr bwMode="auto">
                <a:xfrm>
                  <a:off x="272" y="554"/>
                  <a:ext cx="36" cy="80"/>
                </a:xfrm>
                <a:custGeom>
                  <a:avLst/>
                  <a:gdLst>
                    <a:gd name="T0" fmla="*/ 107 w 107"/>
                    <a:gd name="T1" fmla="*/ 40 h 240"/>
                    <a:gd name="T2" fmla="*/ 28 w 107"/>
                    <a:gd name="T3" fmla="*/ 240 h 240"/>
                    <a:gd name="T4" fmla="*/ 0 w 107"/>
                    <a:gd name="T5" fmla="*/ 200 h 240"/>
                    <a:gd name="T6" fmla="*/ 78 w 107"/>
                    <a:gd name="T7" fmla="*/ 0 h 240"/>
                    <a:gd name="T8" fmla="*/ 107 w 107"/>
                    <a:gd name="T9" fmla="*/ 40 h 240"/>
                  </a:gdLst>
                  <a:ahLst/>
                  <a:cxnLst>
                    <a:cxn ang="0">
                      <a:pos x="T0" y="T1"/>
                    </a:cxn>
                    <a:cxn ang="0">
                      <a:pos x="T2" y="T3"/>
                    </a:cxn>
                    <a:cxn ang="0">
                      <a:pos x="T4" y="T5"/>
                    </a:cxn>
                    <a:cxn ang="0">
                      <a:pos x="T6" y="T7"/>
                    </a:cxn>
                    <a:cxn ang="0">
                      <a:pos x="T8" y="T9"/>
                    </a:cxn>
                  </a:cxnLst>
                  <a:rect l="0" t="0" r="r" b="b"/>
                  <a:pathLst>
                    <a:path w="107" h="240">
                      <a:moveTo>
                        <a:pt x="107" y="40"/>
                      </a:moveTo>
                      <a:lnTo>
                        <a:pt x="28" y="240"/>
                      </a:lnTo>
                      <a:lnTo>
                        <a:pt x="0" y="200"/>
                      </a:lnTo>
                      <a:lnTo>
                        <a:pt x="78" y="0"/>
                      </a:lnTo>
                      <a:lnTo>
                        <a:pt x="107" y="4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24" name="Freeform 512"/>
                <p:cNvSpPr>
                  <a:spLocks noChangeAspect="1"/>
                </p:cNvSpPr>
                <p:nvPr/>
              </p:nvSpPr>
              <p:spPr bwMode="auto">
                <a:xfrm>
                  <a:off x="269" y="547"/>
                  <a:ext cx="36" cy="80"/>
                </a:xfrm>
                <a:custGeom>
                  <a:avLst/>
                  <a:gdLst>
                    <a:gd name="T0" fmla="*/ 106 w 106"/>
                    <a:gd name="T1" fmla="*/ 39 h 239"/>
                    <a:gd name="T2" fmla="*/ 29 w 106"/>
                    <a:gd name="T3" fmla="*/ 239 h 239"/>
                    <a:gd name="T4" fmla="*/ 0 w 106"/>
                    <a:gd name="T5" fmla="*/ 198 h 239"/>
                    <a:gd name="T6" fmla="*/ 78 w 106"/>
                    <a:gd name="T7" fmla="*/ 0 h 239"/>
                    <a:gd name="T8" fmla="*/ 78 w 106"/>
                    <a:gd name="T9" fmla="*/ 0 h 239"/>
                    <a:gd name="T10" fmla="*/ 78 w 106"/>
                    <a:gd name="T11" fmla="*/ 0 h 239"/>
                    <a:gd name="T12" fmla="*/ 78 w 106"/>
                    <a:gd name="T13" fmla="*/ 0 h 239"/>
                    <a:gd name="T14" fmla="*/ 78 w 106"/>
                    <a:gd name="T15" fmla="*/ 0 h 239"/>
                    <a:gd name="T16" fmla="*/ 78 w 106"/>
                    <a:gd name="T17" fmla="*/ 0 h 239"/>
                    <a:gd name="T18" fmla="*/ 78 w 106"/>
                    <a:gd name="T19" fmla="*/ 0 h 239"/>
                    <a:gd name="T20" fmla="*/ 79 w 106"/>
                    <a:gd name="T21" fmla="*/ 1 h 239"/>
                    <a:gd name="T22" fmla="*/ 79 w 106"/>
                    <a:gd name="T23" fmla="*/ 1 h 239"/>
                    <a:gd name="T24" fmla="*/ 79 w 106"/>
                    <a:gd name="T25" fmla="*/ 0 h 239"/>
                    <a:gd name="T26" fmla="*/ 82 w 106"/>
                    <a:gd name="T27" fmla="*/ 4 h 239"/>
                    <a:gd name="T28" fmla="*/ 83 w 106"/>
                    <a:gd name="T29" fmla="*/ 5 h 239"/>
                    <a:gd name="T30" fmla="*/ 84 w 106"/>
                    <a:gd name="T31" fmla="*/ 7 h 239"/>
                    <a:gd name="T32" fmla="*/ 85 w 106"/>
                    <a:gd name="T33" fmla="*/ 8 h 239"/>
                    <a:gd name="T34" fmla="*/ 86 w 106"/>
                    <a:gd name="T35" fmla="*/ 9 h 239"/>
                    <a:gd name="T36" fmla="*/ 86 w 106"/>
                    <a:gd name="T37" fmla="*/ 10 h 239"/>
                    <a:gd name="T38" fmla="*/ 87 w 106"/>
                    <a:gd name="T39" fmla="*/ 12 h 239"/>
                    <a:gd name="T40" fmla="*/ 88 w 106"/>
                    <a:gd name="T41" fmla="*/ 13 h 239"/>
                    <a:gd name="T42" fmla="*/ 89 w 106"/>
                    <a:gd name="T43" fmla="*/ 14 h 239"/>
                    <a:gd name="T44" fmla="*/ 106 w 106"/>
                    <a:gd name="T45" fmla="*/ 3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39">
                      <a:moveTo>
                        <a:pt x="106" y="39"/>
                      </a:moveTo>
                      <a:lnTo>
                        <a:pt x="29" y="239"/>
                      </a:lnTo>
                      <a:lnTo>
                        <a:pt x="0" y="198"/>
                      </a:lnTo>
                      <a:lnTo>
                        <a:pt x="78" y="0"/>
                      </a:lnTo>
                      <a:lnTo>
                        <a:pt x="78" y="0"/>
                      </a:lnTo>
                      <a:lnTo>
                        <a:pt x="78" y="0"/>
                      </a:lnTo>
                      <a:lnTo>
                        <a:pt x="78" y="0"/>
                      </a:lnTo>
                      <a:lnTo>
                        <a:pt x="78" y="0"/>
                      </a:lnTo>
                      <a:lnTo>
                        <a:pt x="78" y="0"/>
                      </a:lnTo>
                      <a:lnTo>
                        <a:pt x="78" y="0"/>
                      </a:lnTo>
                      <a:lnTo>
                        <a:pt x="79" y="1"/>
                      </a:lnTo>
                      <a:lnTo>
                        <a:pt x="79" y="1"/>
                      </a:lnTo>
                      <a:lnTo>
                        <a:pt x="79" y="0"/>
                      </a:lnTo>
                      <a:lnTo>
                        <a:pt x="82" y="4"/>
                      </a:lnTo>
                      <a:lnTo>
                        <a:pt x="83" y="5"/>
                      </a:lnTo>
                      <a:lnTo>
                        <a:pt x="84" y="7"/>
                      </a:lnTo>
                      <a:lnTo>
                        <a:pt x="85" y="8"/>
                      </a:lnTo>
                      <a:lnTo>
                        <a:pt x="86" y="9"/>
                      </a:lnTo>
                      <a:lnTo>
                        <a:pt x="86" y="10"/>
                      </a:lnTo>
                      <a:lnTo>
                        <a:pt x="87" y="12"/>
                      </a:lnTo>
                      <a:lnTo>
                        <a:pt x="88" y="13"/>
                      </a:lnTo>
                      <a:lnTo>
                        <a:pt x="89" y="14"/>
                      </a:lnTo>
                      <a:lnTo>
                        <a:pt x="106" y="39"/>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25" name="Freeform 513"/>
                <p:cNvSpPr>
                  <a:spLocks noChangeAspect="1"/>
                </p:cNvSpPr>
                <p:nvPr/>
              </p:nvSpPr>
              <p:spPr bwMode="auto">
                <a:xfrm>
                  <a:off x="262" y="543"/>
                  <a:ext cx="36" cy="77"/>
                </a:xfrm>
                <a:custGeom>
                  <a:avLst/>
                  <a:gdLst>
                    <a:gd name="T0" fmla="*/ 107 w 107"/>
                    <a:gd name="T1" fmla="*/ 33 h 233"/>
                    <a:gd name="T2" fmla="*/ 29 w 107"/>
                    <a:gd name="T3" fmla="*/ 233 h 233"/>
                    <a:gd name="T4" fmla="*/ 0 w 107"/>
                    <a:gd name="T5" fmla="*/ 192 h 233"/>
                    <a:gd name="T6" fmla="*/ 76 w 107"/>
                    <a:gd name="T7" fmla="*/ 0 h 233"/>
                    <a:gd name="T8" fmla="*/ 78 w 107"/>
                    <a:gd name="T9" fmla="*/ 2 h 233"/>
                    <a:gd name="T10" fmla="*/ 81 w 107"/>
                    <a:gd name="T11" fmla="*/ 3 h 233"/>
                    <a:gd name="T12" fmla="*/ 83 w 107"/>
                    <a:gd name="T13" fmla="*/ 5 h 233"/>
                    <a:gd name="T14" fmla="*/ 85 w 107"/>
                    <a:gd name="T15" fmla="*/ 6 h 233"/>
                    <a:gd name="T16" fmla="*/ 87 w 107"/>
                    <a:gd name="T17" fmla="*/ 8 h 233"/>
                    <a:gd name="T18" fmla="*/ 89 w 107"/>
                    <a:gd name="T19" fmla="*/ 10 h 233"/>
                    <a:gd name="T20" fmla="*/ 92 w 107"/>
                    <a:gd name="T21" fmla="*/ 12 h 233"/>
                    <a:gd name="T22" fmla="*/ 94 w 107"/>
                    <a:gd name="T23" fmla="*/ 15 h 233"/>
                    <a:gd name="T24" fmla="*/ 94 w 107"/>
                    <a:gd name="T25" fmla="*/ 14 h 233"/>
                    <a:gd name="T26" fmla="*/ 97 w 107"/>
                    <a:gd name="T27" fmla="*/ 18 h 233"/>
                    <a:gd name="T28" fmla="*/ 98 w 107"/>
                    <a:gd name="T29" fmla="*/ 19 h 233"/>
                    <a:gd name="T30" fmla="*/ 99 w 107"/>
                    <a:gd name="T31" fmla="*/ 21 h 233"/>
                    <a:gd name="T32" fmla="*/ 100 w 107"/>
                    <a:gd name="T33" fmla="*/ 22 h 233"/>
                    <a:gd name="T34" fmla="*/ 101 w 107"/>
                    <a:gd name="T35" fmla="*/ 23 h 233"/>
                    <a:gd name="T36" fmla="*/ 101 w 107"/>
                    <a:gd name="T37" fmla="*/ 24 h 233"/>
                    <a:gd name="T38" fmla="*/ 102 w 107"/>
                    <a:gd name="T39" fmla="*/ 26 h 233"/>
                    <a:gd name="T40" fmla="*/ 103 w 107"/>
                    <a:gd name="T41" fmla="*/ 27 h 233"/>
                    <a:gd name="T42" fmla="*/ 104 w 107"/>
                    <a:gd name="T43" fmla="*/ 28 h 233"/>
                    <a:gd name="T44" fmla="*/ 107 w 107"/>
                    <a:gd name="T45" fmla="*/ 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7" h="233">
                      <a:moveTo>
                        <a:pt x="107" y="33"/>
                      </a:moveTo>
                      <a:lnTo>
                        <a:pt x="29" y="233"/>
                      </a:lnTo>
                      <a:lnTo>
                        <a:pt x="0" y="192"/>
                      </a:lnTo>
                      <a:lnTo>
                        <a:pt x="76" y="0"/>
                      </a:lnTo>
                      <a:lnTo>
                        <a:pt x="78" y="2"/>
                      </a:lnTo>
                      <a:lnTo>
                        <a:pt x="81" y="3"/>
                      </a:lnTo>
                      <a:lnTo>
                        <a:pt x="83" y="5"/>
                      </a:lnTo>
                      <a:lnTo>
                        <a:pt x="85" y="6"/>
                      </a:lnTo>
                      <a:lnTo>
                        <a:pt x="87" y="8"/>
                      </a:lnTo>
                      <a:lnTo>
                        <a:pt x="89" y="10"/>
                      </a:lnTo>
                      <a:lnTo>
                        <a:pt x="92" y="12"/>
                      </a:lnTo>
                      <a:lnTo>
                        <a:pt x="94" y="15"/>
                      </a:lnTo>
                      <a:lnTo>
                        <a:pt x="94" y="14"/>
                      </a:lnTo>
                      <a:lnTo>
                        <a:pt x="97" y="18"/>
                      </a:lnTo>
                      <a:lnTo>
                        <a:pt x="98" y="19"/>
                      </a:lnTo>
                      <a:lnTo>
                        <a:pt x="99" y="21"/>
                      </a:lnTo>
                      <a:lnTo>
                        <a:pt x="100" y="22"/>
                      </a:lnTo>
                      <a:lnTo>
                        <a:pt x="101" y="23"/>
                      </a:lnTo>
                      <a:lnTo>
                        <a:pt x="101" y="24"/>
                      </a:lnTo>
                      <a:lnTo>
                        <a:pt x="102" y="26"/>
                      </a:lnTo>
                      <a:lnTo>
                        <a:pt x="103" y="27"/>
                      </a:lnTo>
                      <a:lnTo>
                        <a:pt x="104" y="28"/>
                      </a:lnTo>
                      <a:lnTo>
                        <a:pt x="107" y="3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26" name="Freeform 514"/>
                <p:cNvSpPr>
                  <a:spLocks noChangeAspect="1"/>
                </p:cNvSpPr>
                <p:nvPr/>
              </p:nvSpPr>
              <p:spPr bwMode="auto">
                <a:xfrm>
                  <a:off x="258" y="541"/>
                  <a:ext cx="35" cy="72"/>
                </a:xfrm>
                <a:custGeom>
                  <a:avLst/>
                  <a:gdLst>
                    <a:gd name="T0" fmla="*/ 107 w 107"/>
                    <a:gd name="T1" fmla="*/ 22 h 220"/>
                    <a:gd name="T2" fmla="*/ 29 w 107"/>
                    <a:gd name="T3" fmla="*/ 220 h 220"/>
                    <a:gd name="T4" fmla="*/ 0 w 107"/>
                    <a:gd name="T5" fmla="*/ 181 h 220"/>
                    <a:gd name="T6" fmla="*/ 70 w 107"/>
                    <a:gd name="T7" fmla="*/ 0 h 220"/>
                    <a:gd name="T8" fmla="*/ 71 w 107"/>
                    <a:gd name="T9" fmla="*/ 0 h 220"/>
                    <a:gd name="T10" fmla="*/ 73 w 107"/>
                    <a:gd name="T11" fmla="*/ 0 h 220"/>
                    <a:gd name="T12" fmla="*/ 74 w 107"/>
                    <a:gd name="T13" fmla="*/ 0 h 220"/>
                    <a:gd name="T14" fmla="*/ 75 w 107"/>
                    <a:gd name="T15" fmla="*/ 1 h 220"/>
                    <a:gd name="T16" fmla="*/ 75 w 107"/>
                    <a:gd name="T17" fmla="*/ 1 h 220"/>
                    <a:gd name="T18" fmla="*/ 76 w 107"/>
                    <a:gd name="T19" fmla="*/ 1 h 220"/>
                    <a:gd name="T20" fmla="*/ 77 w 107"/>
                    <a:gd name="T21" fmla="*/ 1 h 220"/>
                    <a:gd name="T22" fmla="*/ 78 w 107"/>
                    <a:gd name="T23" fmla="*/ 2 h 220"/>
                    <a:gd name="T24" fmla="*/ 82 w 107"/>
                    <a:gd name="T25" fmla="*/ 3 h 220"/>
                    <a:gd name="T26" fmla="*/ 85 w 107"/>
                    <a:gd name="T27" fmla="*/ 6 h 220"/>
                    <a:gd name="T28" fmla="*/ 90 w 107"/>
                    <a:gd name="T29" fmla="*/ 8 h 220"/>
                    <a:gd name="T30" fmla="*/ 93 w 107"/>
                    <a:gd name="T31" fmla="*/ 11 h 220"/>
                    <a:gd name="T32" fmla="*/ 97 w 107"/>
                    <a:gd name="T33" fmla="*/ 13 h 220"/>
                    <a:gd name="T34" fmla="*/ 100 w 107"/>
                    <a:gd name="T35" fmla="*/ 15 h 220"/>
                    <a:gd name="T36" fmla="*/ 103 w 107"/>
                    <a:gd name="T37" fmla="*/ 18 h 220"/>
                    <a:gd name="T38" fmla="*/ 107 w 107"/>
                    <a:gd name="T39" fmla="*/ 22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7" h="220">
                      <a:moveTo>
                        <a:pt x="107" y="22"/>
                      </a:moveTo>
                      <a:lnTo>
                        <a:pt x="29" y="220"/>
                      </a:lnTo>
                      <a:lnTo>
                        <a:pt x="0" y="181"/>
                      </a:lnTo>
                      <a:lnTo>
                        <a:pt x="70" y="0"/>
                      </a:lnTo>
                      <a:lnTo>
                        <a:pt x="71" y="0"/>
                      </a:lnTo>
                      <a:lnTo>
                        <a:pt x="73" y="0"/>
                      </a:lnTo>
                      <a:lnTo>
                        <a:pt x="74" y="0"/>
                      </a:lnTo>
                      <a:lnTo>
                        <a:pt x="75" y="1"/>
                      </a:lnTo>
                      <a:lnTo>
                        <a:pt x="75" y="1"/>
                      </a:lnTo>
                      <a:lnTo>
                        <a:pt x="76" y="1"/>
                      </a:lnTo>
                      <a:lnTo>
                        <a:pt x="77" y="1"/>
                      </a:lnTo>
                      <a:lnTo>
                        <a:pt x="78" y="2"/>
                      </a:lnTo>
                      <a:lnTo>
                        <a:pt x="82" y="3"/>
                      </a:lnTo>
                      <a:lnTo>
                        <a:pt x="85" y="6"/>
                      </a:lnTo>
                      <a:lnTo>
                        <a:pt x="90" y="8"/>
                      </a:lnTo>
                      <a:lnTo>
                        <a:pt x="93" y="11"/>
                      </a:lnTo>
                      <a:lnTo>
                        <a:pt x="97" y="13"/>
                      </a:lnTo>
                      <a:lnTo>
                        <a:pt x="100" y="15"/>
                      </a:lnTo>
                      <a:lnTo>
                        <a:pt x="103" y="18"/>
                      </a:lnTo>
                      <a:lnTo>
                        <a:pt x="107" y="22"/>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27" name="Freeform 515"/>
                <p:cNvSpPr>
                  <a:spLocks noChangeAspect="1"/>
                </p:cNvSpPr>
                <p:nvPr/>
              </p:nvSpPr>
              <p:spPr bwMode="auto">
                <a:xfrm>
                  <a:off x="255" y="541"/>
                  <a:ext cx="35" cy="66"/>
                </a:xfrm>
                <a:custGeom>
                  <a:avLst/>
                  <a:gdLst>
                    <a:gd name="T0" fmla="*/ 104 w 104"/>
                    <a:gd name="T1" fmla="*/ 11 h 203"/>
                    <a:gd name="T2" fmla="*/ 28 w 104"/>
                    <a:gd name="T3" fmla="*/ 203 h 203"/>
                    <a:gd name="T4" fmla="*/ 0 w 104"/>
                    <a:gd name="T5" fmla="*/ 164 h 203"/>
                    <a:gd name="T6" fmla="*/ 64 w 104"/>
                    <a:gd name="T7" fmla="*/ 0 h 203"/>
                    <a:gd name="T8" fmla="*/ 67 w 104"/>
                    <a:gd name="T9" fmla="*/ 0 h 203"/>
                    <a:gd name="T10" fmla="*/ 71 w 104"/>
                    <a:gd name="T11" fmla="*/ 0 h 203"/>
                    <a:gd name="T12" fmla="*/ 74 w 104"/>
                    <a:gd name="T13" fmla="*/ 0 h 203"/>
                    <a:gd name="T14" fmla="*/ 78 w 104"/>
                    <a:gd name="T15" fmla="*/ 1 h 203"/>
                    <a:gd name="T16" fmla="*/ 81 w 104"/>
                    <a:gd name="T17" fmla="*/ 2 h 203"/>
                    <a:gd name="T18" fmla="*/ 84 w 104"/>
                    <a:gd name="T19" fmla="*/ 3 h 203"/>
                    <a:gd name="T20" fmla="*/ 88 w 104"/>
                    <a:gd name="T21" fmla="*/ 4 h 203"/>
                    <a:gd name="T22" fmla="*/ 92 w 104"/>
                    <a:gd name="T23" fmla="*/ 5 h 203"/>
                    <a:gd name="T24" fmla="*/ 92 w 104"/>
                    <a:gd name="T25" fmla="*/ 5 h 203"/>
                    <a:gd name="T26" fmla="*/ 93 w 104"/>
                    <a:gd name="T27" fmla="*/ 5 h 203"/>
                    <a:gd name="T28" fmla="*/ 95 w 104"/>
                    <a:gd name="T29" fmla="*/ 6 h 203"/>
                    <a:gd name="T30" fmla="*/ 96 w 104"/>
                    <a:gd name="T31" fmla="*/ 7 h 203"/>
                    <a:gd name="T32" fmla="*/ 98 w 104"/>
                    <a:gd name="T33" fmla="*/ 7 h 203"/>
                    <a:gd name="T34" fmla="*/ 99 w 104"/>
                    <a:gd name="T35" fmla="*/ 9 h 203"/>
                    <a:gd name="T36" fmla="*/ 100 w 104"/>
                    <a:gd name="T37" fmla="*/ 10 h 203"/>
                    <a:gd name="T38" fmla="*/ 102 w 104"/>
                    <a:gd name="T39" fmla="*/ 11 h 203"/>
                    <a:gd name="T40" fmla="*/ 104 w 104"/>
                    <a:gd name="T41" fmla="*/ 11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 h="203">
                      <a:moveTo>
                        <a:pt x="104" y="11"/>
                      </a:moveTo>
                      <a:lnTo>
                        <a:pt x="28" y="203"/>
                      </a:lnTo>
                      <a:lnTo>
                        <a:pt x="0" y="164"/>
                      </a:lnTo>
                      <a:lnTo>
                        <a:pt x="64" y="0"/>
                      </a:lnTo>
                      <a:lnTo>
                        <a:pt x="67" y="0"/>
                      </a:lnTo>
                      <a:lnTo>
                        <a:pt x="71" y="0"/>
                      </a:lnTo>
                      <a:lnTo>
                        <a:pt x="74" y="0"/>
                      </a:lnTo>
                      <a:lnTo>
                        <a:pt x="78" y="1"/>
                      </a:lnTo>
                      <a:lnTo>
                        <a:pt x="81" y="2"/>
                      </a:lnTo>
                      <a:lnTo>
                        <a:pt x="84" y="3"/>
                      </a:lnTo>
                      <a:lnTo>
                        <a:pt x="88" y="4"/>
                      </a:lnTo>
                      <a:lnTo>
                        <a:pt x="92" y="5"/>
                      </a:lnTo>
                      <a:lnTo>
                        <a:pt x="92" y="5"/>
                      </a:lnTo>
                      <a:lnTo>
                        <a:pt x="93" y="5"/>
                      </a:lnTo>
                      <a:lnTo>
                        <a:pt x="95" y="6"/>
                      </a:lnTo>
                      <a:lnTo>
                        <a:pt x="96" y="7"/>
                      </a:lnTo>
                      <a:lnTo>
                        <a:pt x="98" y="7"/>
                      </a:lnTo>
                      <a:lnTo>
                        <a:pt x="99" y="9"/>
                      </a:lnTo>
                      <a:lnTo>
                        <a:pt x="100" y="10"/>
                      </a:lnTo>
                      <a:lnTo>
                        <a:pt x="102" y="11"/>
                      </a:lnTo>
                      <a:lnTo>
                        <a:pt x="104" y="11"/>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28" name="Freeform 516"/>
                <p:cNvSpPr>
                  <a:spLocks noChangeAspect="1"/>
                </p:cNvSpPr>
                <p:nvPr/>
              </p:nvSpPr>
              <p:spPr bwMode="auto">
                <a:xfrm>
                  <a:off x="248" y="541"/>
                  <a:ext cx="35" cy="59"/>
                </a:xfrm>
                <a:custGeom>
                  <a:avLst/>
                  <a:gdLst>
                    <a:gd name="T0" fmla="*/ 99 w 99"/>
                    <a:gd name="T1" fmla="*/ 3 h 184"/>
                    <a:gd name="T2" fmla="*/ 29 w 99"/>
                    <a:gd name="T3" fmla="*/ 184 h 184"/>
                    <a:gd name="T4" fmla="*/ 0 w 99"/>
                    <a:gd name="T5" fmla="*/ 144 h 184"/>
                    <a:gd name="T6" fmla="*/ 56 w 99"/>
                    <a:gd name="T7" fmla="*/ 2 h 184"/>
                    <a:gd name="T8" fmla="*/ 61 w 99"/>
                    <a:gd name="T9" fmla="*/ 1 h 184"/>
                    <a:gd name="T10" fmla="*/ 66 w 99"/>
                    <a:gd name="T11" fmla="*/ 0 h 184"/>
                    <a:gd name="T12" fmla="*/ 72 w 99"/>
                    <a:gd name="T13" fmla="*/ 0 h 184"/>
                    <a:gd name="T14" fmla="*/ 77 w 99"/>
                    <a:gd name="T15" fmla="*/ 0 h 184"/>
                    <a:gd name="T16" fmla="*/ 83 w 99"/>
                    <a:gd name="T17" fmla="*/ 0 h 184"/>
                    <a:gd name="T18" fmla="*/ 89 w 99"/>
                    <a:gd name="T19" fmla="*/ 0 h 184"/>
                    <a:gd name="T20" fmla="*/ 94 w 99"/>
                    <a:gd name="T21" fmla="*/ 1 h 184"/>
                    <a:gd name="T22" fmla="*/ 99 w 99"/>
                    <a:gd name="T23" fmla="*/ 3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 h="184">
                      <a:moveTo>
                        <a:pt x="99" y="3"/>
                      </a:moveTo>
                      <a:lnTo>
                        <a:pt x="29" y="184"/>
                      </a:lnTo>
                      <a:lnTo>
                        <a:pt x="0" y="144"/>
                      </a:lnTo>
                      <a:lnTo>
                        <a:pt x="56" y="2"/>
                      </a:lnTo>
                      <a:lnTo>
                        <a:pt x="61" y="1"/>
                      </a:lnTo>
                      <a:lnTo>
                        <a:pt x="66" y="0"/>
                      </a:lnTo>
                      <a:lnTo>
                        <a:pt x="72" y="0"/>
                      </a:lnTo>
                      <a:lnTo>
                        <a:pt x="77" y="0"/>
                      </a:lnTo>
                      <a:lnTo>
                        <a:pt x="83" y="0"/>
                      </a:lnTo>
                      <a:lnTo>
                        <a:pt x="89" y="0"/>
                      </a:lnTo>
                      <a:lnTo>
                        <a:pt x="94" y="1"/>
                      </a:lnTo>
                      <a:lnTo>
                        <a:pt x="99" y="3"/>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29" name="Freeform 517"/>
                <p:cNvSpPr>
                  <a:spLocks noChangeAspect="1"/>
                </p:cNvSpPr>
                <p:nvPr/>
              </p:nvSpPr>
              <p:spPr bwMode="auto">
                <a:xfrm>
                  <a:off x="245" y="541"/>
                  <a:ext cx="29" cy="53"/>
                </a:xfrm>
                <a:custGeom>
                  <a:avLst/>
                  <a:gdLst>
                    <a:gd name="T0" fmla="*/ 89 w 89"/>
                    <a:gd name="T1" fmla="*/ 0 h 164"/>
                    <a:gd name="T2" fmla="*/ 25 w 89"/>
                    <a:gd name="T3" fmla="*/ 164 h 164"/>
                    <a:gd name="T4" fmla="*/ 7 w 89"/>
                    <a:gd name="T5" fmla="*/ 138 h 164"/>
                    <a:gd name="T6" fmla="*/ 8 w 89"/>
                    <a:gd name="T7" fmla="*/ 137 h 164"/>
                    <a:gd name="T8" fmla="*/ 7 w 89"/>
                    <a:gd name="T9" fmla="*/ 134 h 164"/>
                    <a:gd name="T10" fmla="*/ 6 w 89"/>
                    <a:gd name="T11" fmla="*/ 132 h 164"/>
                    <a:gd name="T12" fmla="*/ 5 w 89"/>
                    <a:gd name="T13" fmla="*/ 129 h 164"/>
                    <a:gd name="T14" fmla="*/ 3 w 89"/>
                    <a:gd name="T15" fmla="*/ 126 h 164"/>
                    <a:gd name="T16" fmla="*/ 2 w 89"/>
                    <a:gd name="T17" fmla="*/ 123 h 164"/>
                    <a:gd name="T18" fmla="*/ 2 w 89"/>
                    <a:gd name="T19" fmla="*/ 120 h 164"/>
                    <a:gd name="T20" fmla="*/ 1 w 89"/>
                    <a:gd name="T21" fmla="*/ 117 h 164"/>
                    <a:gd name="T22" fmla="*/ 0 w 89"/>
                    <a:gd name="T23" fmla="*/ 115 h 164"/>
                    <a:gd name="T24" fmla="*/ 39 w 89"/>
                    <a:gd name="T25" fmla="*/ 14 h 164"/>
                    <a:gd name="T26" fmla="*/ 44 w 89"/>
                    <a:gd name="T27" fmla="*/ 11 h 164"/>
                    <a:gd name="T28" fmla="*/ 51 w 89"/>
                    <a:gd name="T29" fmla="*/ 7 h 164"/>
                    <a:gd name="T30" fmla="*/ 56 w 89"/>
                    <a:gd name="T31" fmla="*/ 5 h 164"/>
                    <a:gd name="T32" fmla="*/ 63 w 89"/>
                    <a:gd name="T33" fmla="*/ 3 h 164"/>
                    <a:gd name="T34" fmla="*/ 69 w 89"/>
                    <a:gd name="T35" fmla="*/ 1 h 164"/>
                    <a:gd name="T36" fmla="*/ 75 w 89"/>
                    <a:gd name="T37" fmla="*/ 0 h 164"/>
                    <a:gd name="T38" fmla="*/ 83 w 89"/>
                    <a:gd name="T39" fmla="*/ 0 h 164"/>
                    <a:gd name="T40" fmla="*/ 89 w 89"/>
                    <a:gd name="T4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9" h="164">
                      <a:moveTo>
                        <a:pt x="89" y="0"/>
                      </a:moveTo>
                      <a:lnTo>
                        <a:pt x="25" y="164"/>
                      </a:lnTo>
                      <a:lnTo>
                        <a:pt x="7" y="138"/>
                      </a:lnTo>
                      <a:lnTo>
                        <a:pt x="8" y="137"/>
                      </a:lnTo>
                      <a:lnTo>
                        <a:pt x="7" y="134"/>
                      </a:lnTo>
                      <a:lnTo>
                        <a:pt x="6" y="132"/>
                      </a:lnTo>
                      <a:lnTo>
                        <a:pt x="5" y="129"/>
                      </a:lnTo>
                      <a:lnTo>
                        <a:pt x="3" y="126"/>
                      </a:lnTo>
                      <a:lnTo>
                        <a:pt x="2" y="123"/>
                      </a:lnTo>
                      <a:lnTo>
                        <a:pt x="2" y="120"/>
                      </a:lnTo>
                      <a:lnTo>
                        <a:pt x="1" y="117"/>
                      </a:lnTo>
                      <a:lnTo>
                        <a:pt x="0" y="115"/>
                      </a:lnTo>
                      <a:lnTo>
                        <a:pt x="39" y="14"/>
                      </a:lnTo>
                      <a:lnTo>
                        <a:pt x="44" y="11"/>
                      </a:lnTo>
                      <a:lnTo>
                        <a:pt x="51" y="7"/>
                      </a:lnTo>
                      <a:lnTo>
                        <a:pt x="56" y="5"/>
                      </a:lnTo>
                      <a:lnTo>
                        <a:pt x="63" y="3"/>
                      </a:lnTo>
                      <a:lnTo>
                        <a:pt x="69" y="1"/>
                      </a:lnTo>
                      <a:lnTo>
                        <a:pt x="75" y="0"/>
                      </a:lnTo>
                      <a:lnTo>
                        <a:pt x="83" y="0"/>
                      </a:lnTo>
                      <a:lnTo>
                        <a:pt x="89" y="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30" name="Freeform 518"/>
                <p:cNvSpPr>
                  <a:spLocks noChangeAspect="1"/>
                </p:cNvSpPr>
                <p:nvPr/>
              </p:nvSpPr>
              <p:spPr bwMode="auto">
                <a:xfrm>
                  <a:off x="244" y="541"/>
                  <a:ext cx="23" cy="46"/>
                </a:xfrm>
                <a:custGeom>
                  <a:avLst/>
                  <a:gdLst>
                    <a:gd name="T0" fmla="*/ 69 w 69"/>
                    <a:gd name="T1" fmla="*/ 0 h 142"/>
                    <a:gd name="T2" fmla="*/ 13 w 69"/>
                    <a:gd name="T3" fmla="*/ 142 h 142"/>
                    <a:gd name="T4" fmla="*/ 10 w 69"/>
                    <a:gd name="T5" fmla="*/ 136 h 142"/>
                    <a:gd name="T6" fmla="*/ 11 w 69"/>
                    <a:gd name="T7" fmla="*/ 135 h 142"/>
                    <a:gd name="T8" fmla="*/ 7 w 69"/>
                    <a:gd name="T9" fmla="*/ 126 h 142"/>
                    <a:gd name="T10" fmla="*/ 4 w 69"/>
                    <a:gd name="T11" fmla="*/ 117 h 142"/>
                    <a:gd name="T12" fmla="*/ 2 w 69"/>
                    <a:gd name="T13" fmla="*/ 108 h 142"/>
                    <a:gd name="T14" fmla="*/ 1 w 69"/>
                    <a:gd name="T15" fmla="*/ 97 h 142"/>
                    <a:gd name="T16" fmla="*/ 0 w 69"/>
                    <a:gd name="T17" fmla="*/ 87 h 142"/>
                    <a:gd name="T18" fmla="*/ 1 w 69"/>
                    <a:gd name="T19" fmla="*/ 77 h 142"/>
                    <a:gd name="T20" fmla="*/ 3 w 69"/>
                    <a:gd name="T21" fmla="*/ 66 h 142"/>
                    <a:gd name="T22" fmla="*/ 6 w 69"/>
                    <a:gd name="T23" fmla="*/ 57 h 142"/>
                    <a:gd name="T24" fmla="*/ 11 w 69"/>
                    <a:gd name="T25" fmla="*/ 46 h 142"/>
                    <a:gd name="T26" fmla="*/ 18 w 69"/>
                    <a:gd name="T27" fmla="*/ 36 h 142"/>
                    <a:gd name="T28" fmla="*/ 24 w 69"/>
                    <a:gd name="T29" fmla="*/ 28 h 142"/>
                    <a:gd name="T30" fmla="*/ 32 w 69"/>
                    <a:gd name="T31" fmla="*/ 20 h 142"/>
                    <a:gd name="T32" fmla="*/ 40 w 69"/>
                    <a:gd name="T33" fmla="*/ 13 h 142"/>
                    <a:gd name="T34" fmla="*/ 50 w 69"/>
                    <a:gd name="T35" fmla="*/ 8 h 142"/>
                    <a:gd name="T36" fmla="*/ 59 w 69"/>
                    <a:gd name="T37" fmla="*/ 3 h 142"/>
                    <a:gd name="T38" fmla="*/ 69 w 69"/>
                    <a:gd name="T39"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9" h="142">
                      <a:moveTo>
                        <a:pt x="69" y="0"/>
                      </a:moveTo>
                      <a:lnTo>
                        <a:pt x="13" y="142"/>
                      </a:lnTo>
                      <a:lnTo>
                        <a:pt x="10" y="136"/>
                      </a:lnTo>
                      <a:lnTo>
                        <a:pt x="11" y="135"/>
                      </a:lnTo>
                      <a:lnTo>
                        <a:pt x="7" y="126"/>
                      </a:lnTo>
                      <a:lnTo>
                        <a:pt x="4" y="117"/>
                      </a:lnTo>
                      <a:lnTo>
                        <a:pt x="2" y="108"/>
                      </a:lnTo>
                      <a:lnTo>
                        <a:pt x="1" y="97"/>
                      </a:lnTo>
                      <a:lnTo>
                        <a:pt x="0" y="87"/>
                      </a:lnTo>
                      <a:lnTo>
                        <a:pt x="1" y="77"/>
                      </a:lnTo>
                      <a:lnTo>
                        <a:pt x="3" y="66"/>
                      </a:lnTo>
                      <a:lnTo>
                        <a:pt x="6" y="57"/>
                      </a:lnTo>
                      <a:lnTo>
                        <a:pt x="11" y="46"/>
                      </a:lnTo>
                      <a:lnTo>
                        <a:pt x="18" y="36"/>
                      </a:lnTo>
                      <a:lnTo>
                        <a:pt x="24" y="28"/>
                      </a:lnTo>
                      <a:lnTo>
                        <a:pt x="32" y="20"/>
                      </a:lnTo>
                      <a:lnTo>
                        <a:pt x="40" y="13"/>
                      </a:lnTo>
                      <a:lnTo>
                        <a:pt x="50" y="8"/>
                      </a:lnTo>
                      <a:lnTo>
                        <a:pt x="59" y="3"/>
                      </a:lnTo>
                      <a:lnTo>
                        <a:pt x="69" y="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31" name="Freeform 519"/>
                <p:cNvSpPr>
                  <a:spLocks noChangeAspect="1"/>
                </p:cNvSpPr>
                <p:nvPr/>
              </p:nvSpPr>
              <p:spPr bwMode="auto">
                <a:xfrm>
                  <a:off x="244" y="547"/>
                  <a:ext cx="14" cy="32"/>
                </a:xfrm>
                <a:custGeom>
                  <a:avLst/>
                  <a:gdLst>
                    <a:gd name="T0" fmla="*/ 42 w 42"/>
                    <a:gd name="T1" fmla="*/ 0 h 101"/>
                    <a:gd name="T2" fmla="*/ 3 w 42"/>
                    <a:gd name="T3" fmla="*/ 101 h 101"/>
                    <a:gd name="T4" fmla="*/ 2 w 42"/>
                    <a:gd name="T5" fmla="*/ 93 h 101"/>
                    <a:gd name="T6" fmla="*/ 1 w 42"/>
                    <a:gd name="T7" fmla="*/ 87 h 101"/>
                    <a:gd name="T8" fmla="*/ 0 w 42"/>
                    <a:gd name="T9" fmla="*/ 80 h 101"/>
                    <a:gd name="T10" fmla="*/ 1 w 42"/>
                    <a:gd name="T11" fmla="*/ 72 h 101"/>
                    <a:gd name="T12" fmla="*/ 1 w 42"/>
                    <a:gd name="T13" fmla="*/ 66 h 101"/>
                    <a:gd name="T14" fmla="*/ 2 w 42"/>
                    <a:gd name="T15" fmla="*/ 58 h 101"/>
                    <a:gd name="T16" fmla="*/ 4 w 42"/>
                    <a:gd name="T17" fmla="*/ 51 h 101"/>
                    <a:gd name="T18" fmla="*/ 6 w 42"/>
                    <a:gd name="T19" fmla="*/ 45 h 101"/>
                    <a:gd name="T20" fmla="*/ 9 w 42"/>
                    <a:gd name="T21" fmla="*/ 37 h 101"/>
                    <a:gd name="T22" fmla="*/ 13 w 42"/>
                    <a:gd name="T23" fmla="*/ 31 h 101"/>
                    <a:gd name="T24" fmla="*/ 17 w 42"/>
                    <a:gd name="T25" fmla="*/ 24 h 101"/>
                    <a:gd name="T26" fmla="*/ 21 w 42"/>
                    <a:gd name="T27" fmla="*/ 19 h 101"/>
                    <a:gd name="T28" fmla="*/ 26 w 42"/>
                    <a:gd name="T29" fmla="*/ 14 h 101"/>
                    <a:gd name="T30" fmla="*/ 30 w 42"/>
                    <a:gd name="T31" fmla="*/ 8 h 101"/>
                    <a:gd name="T32" fmla="*/ 36 w 42"/>
                    <a:gd name="T33" fmla="*/ 4 h 101"/>
                    <a:gd name="T34" fmla="*/ 42 w 42"/>
                    <a:gd name="T3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101">
                      <a:moveTo>
                        <a:pt x="42" y="0"/>
                      </a:moveTo>
                      <a:lnTo>
                        <a:pt x="3" y="101"/>
                      </a:lnTo>
                      <a:lnTo>
                        <a:pt x="2" y="93"/>
                      </a:lnTo>
                      <a:lnTo>
                        <a:pt x="1" y="87"/>
                      </a:lnTo>
                      <a:lnTo>
                        <a:pt x="0" y="80"/>
                      </a:lnTo>
                      <a:lnTo>
                        <a:pt x="1" y="72"/>
                      </a:lnTo>
                      <a:lnTo>
                        <a:pt x="1" y="66"/>
                      </a:lnTo>
                      <a:lnTo>
                        <a:pt x="2" y="58"/>
                      </a:lnTo>
                      <a:lnTo>
                        <a:pt x="4" y="51"/>
                      </a:lnTo>
                      <a:lnTo>
                        <a:pt x="6" y="45"/>
                      </a:lnTo>
                      <a:lnTo>
                        <a:pt x="9" y="37"/>
                      </a:lnTo>
                      <a:lnTo>
                        <a:pt x="13" y="31"/>
                      </a:lnTo>
                      <a:lnTo>
                        <a:pt x="17" y="24"/>
                      </a:lnTo>
                      <a:lnTo>
                        <a:pt x="21" y="19"/>
                      </a:lnTo>
                      <a:lnTo>
                        <a:pt x="26" y="14"/>
                      </a:lnTo>
                      <a:lnTo>
                        <a:pt x="30" y="8"/>
                      </a:lnTo>
                      <a:lnTo>
                        <a:pt x="36" y="4"/>
                      </a:lnTo>
                      <a:lnTo>
                        <a:pt x="42" y="0"/>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32" name="Freeform 520"/>
                <p:cNvSpPr>
                  <a:spLocks noChangeAspect="1"/>
                </p:cNvSpPr>
                <p:nvPr/>
              </p:nvSpPr>
              <p:spPr bwMode="auto">
                <a:xfrm>
                  <a:off x="244" y="541"/>
                  <a:ext cx="257" cy="334"/>
                </a:xfrm>
                <a:custGeom>
                  <a:avLst/>
                  <a:gdLst>
                    <a:gd name="T0" fmla="*/ 120 w 775"/>
                    <a:gd name="T1" fmla="*/ 5 h 1002"/>
                    <a:gd name="T2" fmla="*/ 124 w 775"/>
                    <a:gd name="T3" fmla="*/ 6 h 1002"/>
                    <a:gd name="T4" fmla="*/ 128 w 775"/>
                    <a:gd name="T5" fmla="*/ 9 h 1002"/>
                    <a:gd name="T6" fmla="*/ 132 w 775"/>
                    <a:gd name="T7" fmla="*/ 11 h 1002"/>
                    <a:gd name="T8" fmla="*/ 136 w 775"/>
                    <a:gd name="T9" fmla="*/ 14 h 1002"/>
                    <a:gd name="T10" fmla="*/ 139 w 775"/>
                    <a:gd name="T11" fmla="*/ 16 h 1002"/>
                    <a:gd name="T12" fmla="*/ 143 w 775"/>
                    <a:gd name="T13" fmla="*/ 19 h 1002"/>
                    <a:gd name="T14" fmla="*/ 146 w 775"/>
                    <a:gd name="T15" fmla="*/ 22 h 1002"/>
                    <a:gd name="T16" fmla="*/ 150 w 775"/>
                    <a:gd name="T17" fmla="*/ 26 h 1002"/>
                    <a:gd name="T18" fmla="*/ 150 w 775"/>
                    <a:gd name="T19" fmla="*/ 25 h 1002"/>
                    <a:gd name="T20" fmla="*/ 153 w 775"/>
                    <a:gd name="T21" fmla="*/ 29 h 1002"/>
                    <a:gd name="T22" fmla="*/ 154 w 775"/>
                    <a:gd name="T23" fmla="*/ 30 h 1002"/>
                    <a:gd name="T24" fmla="*/ 155 w 775"/>
                    <a:gd name="T25" fmla="*/ 32 h 1002"/>
                    <a:gd name="T26" fmla="*/ 156 w 775"/>
                    <a:gd name="T27" fmla="*/ 33 h 1002"/>
                    <a:gd name="T28" fmla="*/ 157 w 775"/>
                    <a:gd name="T29" fmla="*/ 34 h 1002"/>
                    <a:gd name="T30" fmla="*/ 157 w 775"/>
                    <a:gd name="T31" fmla="*/ 35 h 1002"/>
                    <a:gd name="T32" fmla="*/ 158 w 775"/>
                    <a:gd name="T33" fmla="*/ 37 h 1002"/>
                    <a:gd name="T34" fmla="*/ 159 w 775"/>
                    <a:gd name="T35" fmla="*/ 38 h 1002"/>
                    <a:gd name="T36" fmla="*/ 160 w 775"/>
                    <a:gd name="T37" fmla="*/ 39 h 1002"/>
                    <a:gd name="T38" fmla="*/ 775 w 775"/>
                    <a:gd name="T39" fmla="*/ 901 h 1002"/>
                    <a:gd name="T40" fmla="*/ 627 w 775"/>
                    <a:gd name="T41" fmla="*/ 1002 h 1002"/>
                    <a:gd name="T42" fmla="*/ 10 w 775"/>
                    <a:gd name="T43" fmla="*/ 138 h 1002"/>
                    <a:gd name="T44" fmla="*/ 11 w 775"/>
                    <a:gd name="T45" fmla="*/ 137 h 1002"/>
                    <a:gd name="T46" fmla="*/ 7 w 775"/>
                    <a:gd name="T47" fmla="*/ 128 h 1002"/>
                    <a:gd name="T48" fmla="*/ 4 w 775"/>
                    <a:gd name="T49" fmla="*/ 119 h 1002"/>
                    <a:gd name="T50" fmla="*/ 2 w 775"/>
                    <a:gd name="T51" fmla="*/ 110 h 1002"/>
                    <a:gd name="T52" fmla="*/ 1 w 775"/>
                    <a:gd name="T53" fmla="*/ 99 h 1002"/>
                    <a:gd name="T54" fmla="*/ 0 w 775"/>
                    <a:gd name="T55" fmla="*/ 89 h 1002"/>
                    <a:gd name="T56" fmla="*/ 1 w 775"/>
                    <a:gd name="T57" fmla="*/ 79 h 1002"/>
                    <a:gd name="T58" fmla="*/ 3 w 775"/>
                    <a:gd name="T59" fmla="*/ 68 h 1002"/>
                    <a:gd name="T60" fmla="*/ 6 w 775"/>
                    <a:gd name="T61" fmla="*/ 59 h 1002"/>
                    <a:gd name="T62" fmla="*/ 10 w 775"/>
                    <a:gd name="T63" fmla="*/ 50 h 1002"/>
                    <a:gd name="T64" fmla="*/ 14 w 775"/>
                    <a:gd name="T65" fmla="*/ 42 h 1002"/>
                    <a:gd name="T66" fmla="*/ 20 w 775"/>
                    <a:gd name="T67" fmla="*/ 34 h 1002"/>
                    <a:gd name="T68" fmla="*/ 25 w 775"/>
                    <a:gd name="T69" fmla="*/ 28 h 1002"/>
                    <a:gd name="T70" fmla="*/ 32 w 775"/>
                    <a:gd name="T71" fmla="*/ 21 h 1002"/>
                    <a:gd name="T72" fmla="*/ 39 w 775"/>
                    <a:gd name="T73" fmla="*/ 16 h 1002"/>
                    <a:gd name="T74" fmla="*/ 45 w 775"/>
                    <a:gd name="T75" fmla="*/ 12 h 1002"/>
                    <a:gd name="T76" fmla="*/ 53 w 775"/>
                    <a:gd name="T77" fmla="*/ 7 h 1002"/>
                    <a:gd name="T78" fmla="*/ 61 w 775"/>
                    <a:gd name="T79" fmla="*/ 4 h 1002"/>
                    <a:gd name="T80" fmla="*/ 69 w 775"/>
                    <a:gd name="T81" fmla="*/ 2 h 1002"/>
                    <a:gd name="T82" fmla="*/ 77 w 775"/>
                    <a:gd name="T83" fmla="*/ 0 h 1002"/>
                    <a:gd name="T84" fmla="*/ 86 w 775"/>
                    <a:gd name="T85" fmla="*/ 0 h 1002"/>
                    <a:gd name="T86" fmla="*/ 94 w 775"/>
                    <a:gd name="T87" fmla="*/ 0 h 1002"/>
                    <a:gd name="T88" fmla="*/ 103 w 775"/>
                    <a:gd name="T89" fmla="*/ 0 h 1002"/>
                    <a:gd name="T90" fmla="*/ 111 w 775"/>
                    <a:gd name="T91" fmla="*/ 2 h 1002"/>
                    <a:gd name="T92" fmla="*/ 120 w 775"/>
                    <a:gd name="T93" fmla="*/ 5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75" h="1002">
                      <a:moveTo>
                        <a:pt x="120" y="5"/>
                      </a:moveTo>
                      <a:lnTo>
                        <a:pt x="124" y="6"/>
                      </a:lnTo>
                      <a:lnTo>
                        <a:pt x="128" y="9"/>
                      </a:lnTo>
                      <a:lnTo>
                        <a:pt x="132" y="11"/>
                      </a:lnTo>
                      <a:lnTo>
                        <a:pt x="136" y="14"/>
                      </a:lnTo>
                      <a:lnTo>
                        <a:pt x="139" y="16"/>
                      </a:lnTo>
                      <a:lnTo>
                        <a:pt x="143" y="19"/>
                      </a:lnTo>
                      <a:lnTo>
                        <a:pt x="146" y="22"/>
                      </a:lnTo>
                      <a:lnTo>
                        <a:pt x="150" y="26"/>
                      </a:lnTo>
                      <a:lnTo>
                        <a:pt x="150" y="25"/>
                      </a:lnTo>
                      <a:lnTo>
                        <a:pt x="153" y="29"/>
                      </a:lnTo>
                      <a:lnTo>
                        <a:pt x="154" y="30"/>
                      </a:lnTo>
                      <a:lnTo>
                        <a:pt x="155" y="32"/>
                      </a:lnTo>
                      <a:lnTo>
                        <a:pt x="156" y="33"/>
                      </a:lnTo>
                      <a:lnTo>
                        <a:pt x="157" y="34"/>
                      </a:lnTo>
                      <a:lnTo>
                        <a:pt x="157" y="35"/>
                      </a:lnTo>
                      <a:lnTo>
                        <a:pt x="158" y="37"/>
                      </a:lnTo>
                      <a:lnTo>
                        <a:pt x="159" y="38"/>
                      </a:lnTo>
                      <a:lnTo>
                        <a:pt x="160" y="39"/>
                      </a:lnTo>
                      <a:lnTo>
                        <a:pt x="775" y="901"/>
                      </a:lnTo>
                      <a:lnTo>
                        <a:pt x="627" y="1002"/>
                      </a:lnTo>
                      <a:lnTo>
                        <a:pt x="10" y="138"/>
                      </a:lnTo>
                      <a:lnTo>
                        <a:pt x="11" y="137"/>
                      </a:lnTo>
                      <a:lnTo>
                        <a:pt x="7" y="128"/>
                      </a:lnTo>
                      <a:lnTo>
                        <a:pt x="4" y="119"/>
                      </a:lnTo>
                      <a:lnTo>
                        <a:pt x="2" y="110"/>
                      </a:lnTo>
                      <a:lnTo>
                        <a:pt x="1" y="99"/>
                      </a:lnTo>
                      <a:lnTo>
                        <a:pt x="0" y="89"/>
                      </a:lnTo>
                      <a:lnTo>
                        <a:pt x="1" y="79"/>
                      </a:lnTo>
                      <a:lnTo>
                        <a:pt x="3" y="68"/>
                      </a:lnTo>
                      <a:lnTo>
                        <a:pt x="6" y="59"/>
                      </a:lnTo>
                      <a:lnTo>
                        <a:pt x="10" y="50"/>
                      </a:lnTo>
                      <a:lnTo>
                        <a:pt x="14" y="42"/>
                      </a:lnTo>
                      <a:lnTo>
                        <a:pt x="20" y="34"/>
                      </a:lnTo>
                      <a:lnTo>
                        <a:pt x="25" y="28"/>
                      </a:lnTo>
                      <a:lnTo>
                        <a:pt x="32" y="21"/>
                      </a:lnTo>
                      <a:lnTo>
                        <a:pt x="39" y="16"/>
                      </a:lnTo>
                      <a:lnTo>
                        <a:pt x="45" y="12"/>
                      </a:lnTo>
                      <a:lnTo>
                        <a:pt x="53" y="7"/>
                      </a:lnTo>
                      <a:lnTo>
                        <a:pt x="61" y="4"/>
                      </a:lnTo>
                      <a:lnTo>
                        <a:pt x="69" y="2"/>
                      </a:lnTo>
                      <a:lnTo>
                        <a:pt x="77" y="0"/>
                      </a:lnTo>
                      <a:lnTo>
                        <a:pt x="86" y="0"/>
                      </a:lnTo>
                      <a:lnTo>
                        <a:pt x="94" y="0"/>
                      </a:lnTo>
                      <a:lnTo>
                        <a:pt x="103" y="0"/>
                      </a:lnTo>
                      <a:lnTo>
                        <a:pt x="111" y="2"/>
                      </a:lnTo>
                      <a:lnTo>
                        <a:pt x="120" y="5"/>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33" name="Freeform 521"/>
                <p:cNvSpPr>
                  <a:spLocks noChangeAspect="1"/>
                </p:cNvSpPr>
                <p:nvPr/>
              </p:nvSpPr>
              <p:spPr bwMode="auto">
                <a:xfrm>
                  <a:off x="285" y="541"/>
                  <a:ext cx="1" cy="1"/>
                </a:xfrm>
                <a:custGeom>
                  <a:avLst/>
                  <a:gdLst>
                    <a:gd name="T0" fmla="*/ 0 w 1"/>
                    <a:gd name="T1" fmla="*/ 0 w 1"/>
                    <a:gd name="T2" fmla="*/ 0 w 1"/>
                    <a:gd name="T3" fmla="*/ 1 w 1"/>
                    <a:gd name="T4" fmla="*/ 1 w 1"/>
                    <a:gd name="T5" fmla="*/ 1 w 1"/>
                    <a:gd name="T6" fmla="*/ 1 w 1"/>
                    <a:gd name="T7" fmla="*/ 1 w 1"/>
                    <a:gd name="T8" fmla="*/ 1 w 1"/>
                    <a:gd name="T9" fmla="*/ 1 w 1"/>
                    <a:gd name="T10" fmla="*/ 1 w 1"/>
                    <a:gd name="T11" fmla="*/ 1 w 1"/>
                    <a:gd name="T12" fmla="*/ 1 w 1"/>
                    <a:gd name="T13" fmla="*/ 1 w 1"/>
                    <a:gd name="T14" fmla="*/ 0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lnTo>
                        <a:pt x="0" y="0"/>
                      </a:lnTo>
                      <a:lnTo>
                        <a:pt x="0" y="0"/>
                      </a:lnTo>
                      <a:lnTo>
                        <a:pt x="1" y="0"/>
                      </a:lnTo>
                      <a:lnTo>
                        <a:pt x="1" y="0"/>
                      </a:lnTo>
                      <a:lnTo>
                        <a:pt x="1" y="0"/>
                      </a:lnTo>
                      <a:lnTo>
                        <a:pt x="1" y="0"/>
                      </a:lnTo>
                      <a:lnTo>
                        <a:pt x="1" y="0"/>
                      </a:lnTo>
                      <a:lnTo>
                        <a:pt x="1" y="0"/>
                      </a:lnTo>
                      <a:lnTo>
                        <a:pt x="1" y="0"/>
                      </a:lnTo>
                      <a:lnTo>
                        <a:pt x="1" y="0"/>
                      </a:lnTo>
                      <a:lnTo>
                        <a:pt x="1" y="0"/>
                      </a:lnTo>
                      <a:lnTo>
                        <a:pt x="1" y="0"/>
                      </a:lnTo>
                      <a:lnTo>
                        <a:pt x="1"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34" name="Freeform 522"/>
                <p:cNvSpPr>
                  <a:spLocks noChangeAspect="1"/>
                </p:cNvSpPr>
                <p:nvPr/>
              </p:nvSpPr>
              <p:spPr bwMode="auto">
                <a:xfrm>
                  <a:off x="286" y="54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35" name="Freeform 523"/>
                <p:cNvSpPr>
                  <a:spLocks noChangeAspect="1"/>
                </p:cNvSpPr>
                <p:nvPr/>
              </p:nvSpPr>
              <p:spPr bwMode="auto">
                <a:xfrm>
                  <a:off x="290" y="543"/>
                  <a:ext cx="0" cy="1"/>
                </a:xfrm>
                <a:custGeom>
                  <a:avLst/>
                  <a:gdLst>
                    <a:gd name="T0" fmla="*/ 0 w 1"/>
                    <a:gd name="T1" fmla="*/ 0 w 1"/>
                    <a:gd name="T2" fmla="*/ 0 w 1"/>
                    <a:gd name="T3" fmla="*/ 0 w 1"/>
                    <a:gd name="T4" fmla="*/ 1 w 1"/>
                    <a:gd name="T5" fmla="*/ 1 w 1"/>
                    <a:gd name="T6" fmla="*/ 1 w 1"/>
                    <a:gd name="T7" fmla="*/ 1 w 1"/>
                    <a:gd name="T8" fmla="*/ 1 w 1"/>
                    <a:gd name="T9" fmla="*/ 1 w 1"/>
                    <a:gd name="T10" fmla="*/ 1 w 1"/>
                    <a:gd name="T11" fmla="*/ 1 w 1"/>
                    <a:gd name="T12" fmla="*/ 1 w 1"/>
                    <a:gd name="T13" fmla="*/ 0 w 1"/>
                    <a:gd name="T14" fmla="*/ 0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lnTo>
                        <a:pt x="0" y="0"/>
                      </a:lnTo>
                      <a:lnTo>
                        <a:pt x="0" y="0"/>
                      </a:lnTo>
                      <a:lnTo>
                        <a:pt x="0" y="0"/>
                      </a:lnTo>
                      <a:lnTo>
                        <a:pt x="1" y="0"/>
                      </a:lnTo>
                      <a:lnTo>
                        <a:pt x="1" y="0"/>
                      </a:lnTo>
                      <a:lnTo>
                        <a:pt x="1" y="0"/>
                      </a:lnTo>
                      <a:lnTo>
                        <a:pt x="1" y="0"/>
                      </a:lnTo>
                      <a:lnTo>
                        <a:pt x="1" y="0"/>
                      </a:lnTo>
                      <a:lnTo>
                        <a:pt x="1" y="0"/>
                      </a:lnTo>
                      <a:lnTo>
                        <a:pt x="1" y="0"/>
                      </a:lnTo>
                      <a:lnTo>
                        <a:pt x="1" y="0"/>
                      </a:lnTo>
                      <a:lnTo>
                        <a:pt x="1"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36" name="Freeform 524"/>
                <p:cNvSpPr>
                  <a:spLocks noChangeAspect="1"/>
                </p:cNvSpPr>
                <p:nvPr/>
              </p:nvSpPr>
              <p:spPr bwMode="auto">
                <a:xfrm>
                  <a:off x="290" y="543"/>
                  <a:ext cx="0"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37" name="Freeform 525"/>
                <p:cNvSpPr>
                  <a:spLocks noChangeAspect="1"/>
                </p:cNvSpPr>
                <p:nvPr/>
              </p:nvSpPr>
              <p:spPr bwMode="auto">
                <a:xfrm>
                  <a:off x="290" y="547"/>
                  <a:ext cx="0" cy="0"/>
                </a:xfrm>
                <a:custGeom>
                  <a:avLst/>
                  <a:gdLst>
                    <a:gd name="T0" fmla="*/ 0 h 1"/>
                    <a:gd name="T1" fmla="*/ 0 h 1"/>
                    <a:gd name="T2" fmla="*/ 0 h 1"/>
                    <a:gd name="T3" fmla="*/ 0 h 1"/>
                    <a:gd name="T4" fmla="*/ 0 h 1"/>
                    <a:gd name="T5" fmla="*/ 0 h 1"/>
                    <a:gd name="T6" fmla="*/ 1 h 1"/>
                    <a:gd name="T7" fmla="*/ 1 h 1"/>
                    <a:gd name="T8" fmla="*/ 1 h 1"/>
                    <a:gd name="T9" fmla="*/ 1 h 1"/>
                    <a:gd name="T10" fmla="*/ 1 h 1"/>
                    <a:gd name="T11" fmla="*/ 0 h 1"/>
                    <a:gd name="T12" fmla="*/ 0 h 1"/>
                    <a:gd name="T13" fmla="*/ 0 h 1"/>
                    <a:gd name="T14" fmla="*/ 0 h 1"/>
                    <a:gd name="T15" fmla="*/ 0 h 1"/>
                    <a:gd name="T16"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0"/>
                      </a:moveTo>
                      <a:lnTo>
                        <a:pt x="0" y="0"/>
                      </a:lnTo>
                      <a:lnTo>
                        <a:pt x="0" y="0"/>
                      </a:lnTo>
                      <a:lnTo>
                        <a:pt x="0" y="0"/>
                      </a:lnTo>
                      <a:lnTo>
                        <a:pt x="0" y="0"/>
                      </a:lnTo>
                      <a:lnTo>
                        <a:pt x="0" y="0"/>
                      </a:lnTo>
                      <a:lnTo>
                        <a:pt x="0" y="1"/>
                      </a:lnTo>
                      <a:lnTo>
                        <a:pt x="0" y="1"/>
                      </a:lnTo>
                      <a:lnTo>
                        <a:pt x="0" y="1"/>
                      </a:lnTo>
                      <a:lnTo>
                        <a:pt x="0" y="1"/>
                      </a:lnTo>
                      <a:lnTo>
                        <a:pt x="0" y="1"/>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38" name="Freeform 526"/>
                <p:cNvSpPr>
                  <a:spLocks noChangeAspect="1"/>
                </p:cNvSpPr>
                <p:nvPr/>
              </p:nvSpPr>
              <p:spPr bwMode="auto">
                <a:xfrm>
                  <a:off x="290" y="547"/>
                  <a:ext cx="1" cy="0"/>
                </a:xfrm>
                <a:custGeom>
                  <a:avLst/>
                  <a:gdLst>
                    <a:gd name="T0" fmla="*/ 0 w 1"/>
                    <a:gd name="T1" fmla="*/ 0 w 1"/>
                    <a:gd name="T2" fmla="*/ 0 w 1"/>
                    <a:gd name="T3" fmla="*/ 0 w 1"/>
                    <a:gd name="T4" fmla="*/ 1 w 1"/>
                    <a:gd name="T5" fmla="*/ 1 w 1"/>
                    <a:gd name="T6" fmla="*/ 1 w 1"/>
                    <a:gd name="T7" fmla="*/ 1 w 1"/>
                    <a:gd name="T8" fmla="*/ 1 w 1"/>
                    <a:gd name="T9" fmla="*/ 1 w 1"/>
                    <a:gd name="T10" fmla="*/ 1 w 1"/>
                    <a:gd name="T11" fmla="*/ 1 w 1"/>
                    <a:gd name="T12" fmla="*/ 1 w 1"/>
                    <a:gd name="T13" fmla="*/ 0 w 1"/>
                    <a:gd name="T14" fmla="*/ 0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lnTo>
                        <a:pt x="0" y="0"/>
                      </a:lnTo>
                      <a:lnTo>
                        <a:pt x="0" y="0"/>
                      </a:lnTo>
                      <a:lnTo>
                        <a:pt x="0" y="0"/>
                      </a:lnTo>
                      <a:lnTo>
                        <a:pt x="1" y="0"/>
                      </a:lnTo>
                      <a:lnTo>
                        <a:pt x="1" y="0"/>
                      </a:lnTo>
                      <a:lnTo>
                        <a:pt x="1" y="0"/>
                      </a:lnTo>
                      <a:lnTo>
                        <a:pt x="1" y="0"/>
                      </a:lnTo>
                      <a:lnTo>
                        <a:pt x="1" y="0"/>
                      </a:lnTo>
                      <a:lnTo>
                        <a:pt x="1" y="0"/>
                      </a:lnTo>
                      <a:lnTo>
                        <a:pt x="1" y="0"/>
                      </a:lnTo>
                      <a:lnTo>
                        <a:pt x="1" y="0"/>
                      </a:lnTo>
                      <a:lnTo>
                        <a:pt x="1"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39" name="Freeform 527"/>
                <p:cNvSpPr>
                  <a:spLocks noChangeAspect="1"/>
                </p:cNvSpPr>
                <p:nvPr/>
              </p:nvSpPr>
              <p:spPr bwMode="auto">
                <a:xfrm>
                  <a:off x="290" y="547"/>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40" name="Freeform 528"/>
                <p:cNvSpPr>
                  <a:spLocks noChangeAspect="1"/>
                </p:cNvSpPr>
                <p:nvPr/>
              </p:nvSpPr>
              <p:spPr bwMode="auto">
                <a:xfrm>
                  <a:off x="291" y="547"/>
                  <a:ext cx="1" cy="0"/>
                </a:xfrm>
                <a:custGeom>
                  <a:avLst/>
                  <a:gdLst>
                    <a:gd name="T0" fmla="*/ 0 w 1"/>
                    <a:gd name="T1" fmla="*/ 1 w 1"/>
                    <a:gd name="T2" fmla="*/ 1 w 1"/>
                    <a:gd name="T3" fmla="*/ 1 w 1"/>
                    <a:gd name="T4" fmla="*/ 1 w 1"/>
                    <a:gd name="T5" fmla="*/ 1 w 1"/>
                    <a:gd name="T6" fmla="*/ 1 w 1"/>
                    <a:gd name="T7" fmla="*/ 1 w 1"/>
                    <a:gd name="T8" fmla="*/ 1 w 1"/>
                    <a:gd name="T9" fmla="*/ 1 w 1"/>
                    <a:gd name="T10" fmla="*/ 1 w 1"/>
                    <a:gd name="T11" fmla="*/ 1 w 1"/>
                    <a:gd name="T12" fmla="*/ 1 w 1"/>
                    <a:gd name="T13" fmla="*/ 1 w 1"/>
                    <a:gd name="T14" fmla="*/ 1 w 1"/>
                    <a:gd name="T15" fmla="*/ 1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lnTo>
                        <a:pt x="1" y="0"/>
                      </a:lnTo>
                      <a:lnTo>
                        <a:pt x="1" y="0"/>
                      </a:lnTo>
                      <a:lnTo>
                        <a:pt x="1" y="0"/>
                      </a:lnTo>
                      <a:lnTo>
                        <a:pt x="1" y="0"/>
                      </a:lnTo>
                      <a:lnTo>
                        <a:pt x="1" y="0"/>
                      </a:lnTo>
                      <a:lnTo>
                        <a:pt x="1" y="0"/>
                      </a:lnTo>
                      <a:lnTo>
                        <a:pt x="1" y="0"/>
                      </a:lnTo>
                      <a:lnTo>
                        <a:pt x="1" y="0"/>
                      </a:lnTo>
                      <a:lnTo>
                        <a:pt x="1" y="0"/>
                      </a:lnTo>
                      <a:lnTo>
                        <a:pt x="1" y="0"/>
                      </a:lnTo>
                      <a:lnTo>
                        <a:pt x="1" y="0"/>
                      </a:lnTo>
                      <a:lnTo>
                        <a:pt x="1" y="0"/>
                      </a:lnTo>
                      <a:lnTo>
                        <a:pt x="1" y="0"/>
                      </a:lnTo>
                      <a:lnTo>
                        <a:pt x="1" y="0"/>
                      </a:lnTo>
                      <a:lnTo>
                        <a:pt x="1"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41" name="Freeform 529"/>
                <p:cNvSpPr>
                  <a:spLocks noChangeAspect="1"/>
                </p:cNvSpPr>
                <p:nvPr/>
              </p:nvSpPr>
              <p:spPr bwMode="auto">
                <a:xfrm>
                  <a:off x="291" y="547"/>
                  <a:ext cx="1" cy="0"/>
                </a:xfrm>
                <a:custGeom>
                  <a:avLst/>
                  <a:gdLst>
                    <a:gd name="T0" fmla="*/ 0 h 1"/>
                    <a:gd name="T1" fmla="*/ 0 h 1"/>
                    <a:gd name="T2" fmla="*/ 0 h 1"/>
                    <a:gd name="T3" fmla="*/ 0 h 1"/>
                    <a:gd name="T4" fmla="*/ 0 h 1"/>
                    <a:gd name="T5" fmla="*/ 0 h 1"/>
                    <a:gd name="T6" fmla="*/ 0 h 1"/>
                    <a:gd name="T7" fmla="*/ 0 h 1"/>
                    <a:gd name="T8" fmla="*/ 1 h 1"/>
                    <a:gd name="T9" fmla="*/ 0 h 1"/>
                    <a:gd name="T10" fmla="*/ 0 h 1"/>
                    <a:gd name="T11" fmla="*/ 0 h 1"/>
                    <a:gd name="T12" fmla="*/ 0 h 1"/>
                    <a:gd name="T13" fmla="*/ 0 h 1"/>
                    <a:gd name="T14" fmla="*/ 0 h 1"/>
                    <a:gd name="T15" fmla="*/ 0 h 1"/>
                    <a:gd name="T16"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0"/>
                      </a:moveTo>
                      <a:lnTo>
                        <a:pt x="0" y="0"/>
                      </a:lnTo>
                      <a:lnTo>
                        <a:pt x="0" y="0"/>
                      </a:lnTo>
                      <a:lnTo>
                        <a:pt x="0" y="0"/>
                      </a:lnTo>
                      <a:lnTo>
                        <a:pt x="0" y="0"/>
                      </a:lnTo>
                      <a:lnTo>
                        <a:pt x="0" y="0"/>
                      </a:lnTo>
                      <a:lnTo>
                        <a:pt x="0" y="0"/>
                      </a:lnTo>
                      <a:lnTo>
                        <a:pt x="0" y="0"/>
                      </a:lnTo>
                      <a:lnTo>
                        <a:pt x="0" y="1"/>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42" name="Freeform 530"/>
                <p:cNvSpPr>
                  <a:spLocks noChangeAspect="1"/>
                </p:cNvSpPr>
                <p:nvPr/>
              </p:nvSpPr>
              <p:spPr bwMode="auto">
                <a:xfrm>
                  <a:off x="292" y="547"/>
                  <a:ext cx="1" cy="0"/>
                </a:xfrm>
                <a:custGeom>
                  <a:avLst/>
                  <a:gdLst>
                    <a:gd name="T0" fmla="*/ 0 w 1"/>
                    <a:gd name="T1" fmla="*/ 0 h 1"/>
                    <a:gd name="T2" fmla="*/ 0 w 1"/>
                    <a:gd name="T3" fmla="*/ 1 h 1"/>
                    <a:gd name="T4" fmla="*/ 1 w 1"/>
                    <a:gd name="T5" fmla="*/ 1 h 1"/>
                    <a:gd name="T6" fmla="*/ 1 w 1"/>
                    <a:gd name="T7" fmla="*/ 1 h 1"/>
                    <a:gd name="T8" fmla="*/ 1 w 1"/>
                    <a:gd name="T9" fmla="*/ 1 h 1"/>
                    <a:gd name="T10" fmla="*/ 1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0 w 1"/>
                    <a:gd name="T31" fmla="*/ 1 h 1"/>
                    <a:gd name="T32" fmla="*/ 0 w 1"/>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0" y="0"/>
                      </a:moveTo>
                      <a:lnTo>
                        <a:pt x="0"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0" y="1"/>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43" name="Freeform 531"/>
                <p:cNvSpPr>
                  <a:spLocks noChangeAspect="1"/>
                </p:cNvSpPr>
                <p:nvPr/>
              </p:nvSpPr>
              <p:spPr bwMode="auto">
                <a:xfrm>
                  <a:off x="292" y="547"/>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44" name="Freeform 532"/>
                <p:cNvSpPr>
                  <a:spLocks noChangeAspect="1"/>
                </p:cNvSpPr>
                <p:nvPr/>
              </p:nvSpPr>
              <p:spPr bwMode="auto">
                <a:xfrm>
                  <a:off x="293" y="547"/>
                  <a:ext cx="1" cy="1"/>
                </a:xfrm>
                <a:custGeom>
                  <a:avLst/>
                  <a:gdLst>
                    <a:gd name="T0" fmla="*/ 0 w 1"/>
                    <a:gd name="T1" fmla="*/ 0 h 2"/>
                    <a:gd name="T2" fmla="*/ 0 w 1"/>
                    <a:gd name="T3" fmla="*/ 0 h 2"/>
                    <a:gd name="T4" fmla="*/ 0 w 1"/>
                    <a:gd name="T5" fmla="*/ 0 h 2"/>
                    <a:gd name="T6" fmla="*/ 0 w 1"/>
                    <a:gd name="T7" fmla="*/ 0 h 2"/>
                    <a:gd name="T8" fmla="*/ 1 w 1"/>
                    <a:gd name="T9" fmla="*/ 0 h 2"/>
                    <a:gd name="T10" fmla="*/ 1 w 1"/>
                    <a:gd name="T11" fmla="*/ 2 h 2"/>
                    <a:gd name="T12" fmla="*/ 1 w 1"/>
                    <a:gd name="T13" fmla="*/ 2 h 2"/>
                    <a:gd name="T14" fmla="*/ 1 w 1"/>
                    <a:gd name="T15" fmla="*/ 2 h 2"/>
                    <a:gd name="T16" fmla="*/ 1 w 1"/>
                    <a:gd name="T17" fmla="*/ 2 h 2"/>
                    <a:gd name="T18" fmla="*/ 1 w 1"/>
                    <a:gd name="T19" fmla="*/ 2 h 2"/>
                    <a:gd name="T20" fmla="*/ 1 w 1"/>
                    <a:gd name="T21" fmla="*/ 2 h 2"/>
                    <a:gd name="T22" fmla="*/ 1 w 1"/>
                    <a:gd name="T23" fmla="*/ 2 h 2"/>
                    <a:gd name="T24" fmla="*/ 1 w 1"/>
                    <a:gd name="T25" fmla="*/ 0 h 2"/>
                    <a:gd name="T26" fmla="*/ 0 w 1"/>
                    <a:gd name="T27" fmla="*/ 0 h 2"/>
                    <a:gd name="T28" fmla="*/ 0 w 1"/>
                    <a:gd name="T29" fmla="*/ 0 h 2"/>
                    <a:gd name="T30" fmla="*/ 0 w 1"/>
                    <a:gd name="T31" fmla="*/ 0 h 2"/>
                    <a:gd name="T32" fmla="*/ 0 w 1"/>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2">
                      <a:moveTo>
                        <a:pt x="0" y="0"/>
                      </a:moveTo>
                      <a:lnTo>
                        <a:pt x="0" y="0"/>
                      </a:lnTo>
                      <a:lnTo>
                        <a:pt x="0" y="0"/>
                      </a:lnTo>
                      <a:lnTo>
                        <a:pt x="0" y="0"/>
                      </a:lnTo>
                      <a:lnTo>
                        <a:pt x="1" y="0"/>
                      </a:lnTo>
                      <a:lnTo>
                        <a:pt x="1" y="2"/>
                      </a:lnTo>
                      <a:lnTo>
                        <a:pt x="1" y="2"/>
                      </a:lnTo>
                      <a:lnTo>
                        <a:pt x="1" y="2"/>
                      </a:lnTo>
                      <a:lnTo>
                        <a:pt x="1" y="2"/>
                      </a:lnTo>
                      <a:lnTo>
                        <a:pt x="1" y="2"/>
                      </a:lnTo>
                      <a:lnTo>
                        <a:pt x="1" y="2"/>
                      </a:lnTo>
                      <a:lnTo>
                        <a:pt x="1" y="2"/>
                      </a:lnTo>
                      <a:lnTo>
                        <a:pt x="1"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45" name="Freeform 533"/>
                <p:cNvSpPr>
                  <a:spLocks noChangeAspect="1"/>
                </p:cNvSpPr>
                <p:nvPr/>
              </p:nvSpPr>
              <p:spPr bwMode="auto">
                <a:xfrm>
                  <a:off x="298" y="554"/>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46" name="Freeform 534"/>
                <p:cNvSpPr>
                  <a:spLocks noChangeAspect="1"/>
                </p:cNvSpPr>
                <p:nvPr/>
              </p:nvSpPr>
              <p:spPr bwMode="auto">
                <a:xfrm>
                  <a:off x="298" y="554"/>
                  <a:ext cx="0" cy="0"/>
                </a:xfrm>
                <a:custGeom>
                  <a:avLst/>
                  <a:gdLst>
                    <a:gd name="T0" fmla="*/ 0 h 1"/>
                    <a:gd name="T1" fmla="*/ 0 h 1"/>
                    <a:gd name="T2" fmla="*/ 0 h 1"/>
                    <a:gd name="T3" fmla="*/ 0 h 1"/>
                    <a:gd name="T4" fmla="*/ 1 h 1"/>
                    <a:gd name="T5" fmla="*/ 1 h 1"/>
                    <a:gd name="T6" fmla="*/ 1 h 1"/>
                    <a:gd name="T7" fmla="*/ 1 h 1"/>
                    <a:gd name="T8" fmla="*/ 1 h 1"/>
                    <a:gd name="T9" fmla="*/ 1 h 1"/>
                    <a:gd name="T10" fmla="*/ 1 h 1"/>
                    <a:gd name="T11" fmla="*/ 1 h 1"/>
                    <a:gd name="T12" fmla="*/ 1 h 1"/>
                    <a:gd name="T13" fmla="*/ 0 h 1"/>
                    <a:gd name="T14" fmla="*/ 0 h 1"/>
                    <a:gd name="T15" fmla="*/ 0 h 1"/>
                    <a:gd name="T16"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0"/>
                      </a:moveTo>
                      <a:lnTo>
                        <a:pt x="0" y="0"/>
                      </a:lnTo>
                      <a:lnTo>
                        <a:pt x="0" y="0"/>
                      </a:lnTo>
                      <a:lnTo>
                        <a:pt x="0" y="0"/>
                      </a:lnTo>
                      <a:lnTo>
                        <a:pt x="0" y="1"/>
                      </a:lnTo>
                      <a:lnTo>
                        <a:pt x="0" y="1"/>
                      </a:lnTo>
                      <a:lnTo>
                        <a:pt x="0" y="1"/>
                      </a:lnTo>
                      <a:lnTo>
                        <a:pt x="0" y="1"/>
                      </a:lnTo>
                      <a:lnTo>
                        <a:pt x="0" y="1"/>
                      </a:lnTo>
                      <a:lnTo>
                        <a:pt x="0" y="1"/>
                      </a:lnTo>
                      <a:lnTo>
                        <a:pt x="0" y="1"/>
                      </a:lnTo>
                      <a:lnTo>
                        <a:pt x="0" y="1"/>
                      </a:lnTo>
                      <a:lnTo>
                        <a:pt x="0" y="1"/>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47" name="Freeform 535"/>
                <p:cNvSpPr>
                  <a:spLocks noChangeAspect="1"/>
                </p:cNvSpPr>
                <p:nvPr/>
              </p:nvSpPr>
              <p:spPr bwMode="auto">
                <a:xfrm>
                  <a:off x="298" y="554"/>
                  <a:ext cx="0" cy="0"/>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1 w 1"/>
                    <a:gd name="T15" fmla="*/ 0 h 1"/>
                    <a:gd name="T16" fmla="*/ 1 w 1"/>
                    <a:gd name="T17" fmla="*/ 1 h 1"/>
                    <a:gd name="T18" fmla="*/ 1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0" y="0"/>
                      </a:moveTo>
                      <a:lnTo>
                        <a:pt x="0" y="0"/>
                      </a:lnTo>
                      <a:lnTo>
                        <a:pt x="0" y="0"/>
                      </a:lnTo>
                      <a:lnTo>
                        <a:pt x="0" y="0"/>
                      </a:lnTo>
                      <a:lnTo>
                        <a:pt x="0" y="0"/>
                      </a:lnTo>
                      <a:lnTo>
                        <a:pt x="0" y="0"/>
                      </a:lnTo>
                      <a:lnTo>
                        <a:pt x="0" y="0"/>
                      </a:lnTo>
                      <a:lnTo>
                        <a:pt x="1" y="0"/>
                      </a:lnTo>
                      <a:lnTo>
                        <a:pt x="1" y="1"/>
                      </a:lnTo>
                      <a:lnTo>
                        <a:pt x="1"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48" name="Freeform 536"/>
                <p:cNvSpPr>
                  <a:spLocks noChangeAspect="1"/>
                </p:cNvSpPr>
                <p:nvPr/>
              </p:nvSpPr>
              <p:spPr bwMode="auto">
                <a:xfrm>
                  <a:off x="298" y="554"/>
                  <a:ext cx="0" cy="0"/>
                </a:xfrm>
                <a:custGeom>
                  <a:avLst/>
                  <a:gdLst>
                    <a:gd name="T0" fmla="*/ 0 w 2"/>
                    <a:gd name="T1" fmla="*/ 0 h 3"/>
                    <a:gd name="T2" fmla="*/ 0 w 2"/>
                    <a:gd name="T3" fmla="*/ 1 h 3"/>
                    <a:gd name="T4" fmla="*/ 1 w 2"/>
                    <a:gd name="T5" fmla="*/ 1 h 3"/>
                    <a:gd name="T6" fmla="*/ 1 w 2"/>
                    <a:gd name="T7" fmla="*/ 1 h 3"/>
                    <a:gd name="T8" fmla="*/ 1 w 2"/>
                    <a:gd name="T9" fmla="*/ 2 h 3"/>
                    <a:gd name="T10" fmla="*/ 1 w 2"/>
                    <a:gd name="T11" fmla="*/ 2 h 3"/>
                    <a:gd name="T12" fmla="*/ 2 w 2"/>
                    <a:gd name="T13" fmla="*/ 3 h 3"/>
                    <a:gd name="T14" fmla="*/ 2 w 2"/>
                    <a:gd name="T15" fmla="*/ 3 h 3"/>
                    <a:gd name="T16" fmla="*/ 2 w 2"/>
                    <a:gd name="T17" fmla="*/ 3 h 3"/>
                    <a:gd name="T18" fmla="*/ 2 w 2"/>
                    <a:gd name="T19" fmla="*/ 3 h 3"/>
                    <a:gd name="T20" fmla="*/ 2 w 2"/>
                    <a:gd name="T21" fmla="*/ 3 h 3"/>
                    <a:gd name="T22" fmla="*/ 2 w 2"/>
                    <a:gd name="T23" fmla="*/ 3 h 3"/>
                    <a:gd name="T24" fmla="*/ 1 w 2"/>
                    <a:gd name="T25" fmla="*/ 2 h 3"/>
                    <a:gd name="T26" fmla="*/ 1 w 2"/>
                    <a:gd name="T27" fmla="*/ 2 h 3"/>
                    <a:gd name="T28" fmla="*/ 1 w 2"/>
                    <a:gd name="T29" fmla="*/ 1 h 3"/>
                    <a:gd name="T30" fmla="*/ 1 w 2"/>
                    <a:gd name="T31" fmla="*/ 1 h 3"/>
                    <a:gd name="T32" fmla="*/ 0 w 2"/>
                    <a:gd name="T33" fmla="*/ 1 h 3"/>
                    <a:gd name="T34" fmla="*/ 0 w 2"/>
                    <a:gd name="T3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 h="3">
                      <a:moveTo>
                        <a:pt x="0" y="0"/>
                      </a:moveTo>
                      <a:lnTo>
                        <a:pt x="0" y="1"/>
                      </a:lnTo>
                      <a:lnTo>
                        <a:pt x="1" y="1"/>
                      </a:lnTo>
                      <a:lnTo>
                        <a:pt x="1" y="1"/>
                      </a:lnTo>
                      <a:lnTo>
                        <a:pt x="1" y="2"/>
                      </a:lnTo>
                      <a:lnTo>
                        <a:pt x="1" y="2"/>
                      </a:lnTo>
                      <a:lnTo>
                        <a:pt x="2" y="3"/>
                      </a:lnTo>
                      <a:lnTo>
                        <a:pt x="2" y="3"/>
                      </a:lnTo>
                      <a:lnTo>
                        <a:pt x="2" y="3"/>
                      </a:lnTo>
                      <a:lnTo>
                        <a:pt x="2" y="3"/>
                      </a:lnTo>
                      <a:lnTo>
                        <a:pt x="2" y="3"/>
                      </a:lnTo>
                      <a:lnTo>
                        <a:pt x="2" y="3"/>
                      </a:lnTo>
                      <a:lnTo>
                        <a:pt x="1" y="2"/>
                      </a:lnTo>
                      <a:lnTo>
                        <a:pt x="1" y="2"/>
                      </a:lnTo>
                      <a:lnTo>
                        <a:pt x="1" y="1"/>
                      </a:lnTo>
                      <a:lnTo>
                        <a:pt x="1" y="1"/>
                      </a:lnTo>
                      <a:lnTo>
                        <a:pt x="0" y="1"/>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49" name="Freeform 537"/>
                <p:cNvSpPr>
                  <a:spLocks noChangeAspect="1"/>
                </p:cNvSpPr>
                <p:nvPr/>
              </p:nvSpPr>
              <p:spPr bwMode="auto">
                <a:xfrm>
                  <a:off x="244" y="573"/>
                  <a:ext cx="3" cy="13"/>
                </a:xfrm>
                <a:custGeom>
                  <a:avLst/>
                  <a:gdLst>
                    <a:gd name="T0" fmla="*/ 10 w 10"/>
                    <a:gd name="T1" fmla="*/ 37 h 37"/>
                    <a:gd name="T2" fmla="*/ 8 w 10"/>
                    <a:gd name="T3" fmla="*/ 33 h 37"/>
                    <a:gd name="T4" fmla="*/ 6 w 10"/>
                    <a:gd name="T5" fmla="*/ 29 h 37"/>
                    <a:gd name="T6" fmla="*/ 5 w 10"/>
                    <a:gd name="T7" fmla="*/ 24 h 37"/>
                    <a:gd name="T8" fmla="*/ 3 w 10"/>
                    <a:gd name="T9" fmla="*/ 19 h 37"/>
                    <a:gd name="T10" fmla="*/ 2 w 10"/>
                    <a:gd name="T11" fmla="*/ 15 h 37"/>
                    <a:gd name="T12" fmla="*/ 1 w 10"/>
                    <a:gd name="T13" fmla="*/ 11 h 37"/>
                    <a:gd name="T14" fmla="*/ 0 w 10"/>
                    <a:gd name="T15" fmla="*/ 5 h 37"/>
                    <a:gd name="T16" fmla="*/ 0 w 10"/>
                    <a:gd name="T17" fmla="*/ 1 h 37"/>
                    <a:gd name="T18" fmla="*/ 0 w 10"/>
                    <a:gd name="T19" fmla="*/ 1 h 37"/>
                    <a:gd name="T20" fmla="*/ 0 w 10"/>
                    <a:gd name="T21" fmla="*/ 1 h 37"/>
                    <a:gd name="T22" fmla="*/ 0 w 10"/>
                    <a:gd name="T23" fmla="*/ 1 h 37"/>
                    <a:gd name="T24" fmla="*/ 0 w 10"/>
                    <a:gd name="T25" fmla="*/ 0 h 37"/>
                    <a:gd name="T26" fmla="*/ 0 w 10"/>
                    <a:gd name="T27" fmla="*/ 0 h 37"/>
                    <a:gd name="T28" fmla="*/ 0 w 10"/>
                    <a:gd name="T29" fmla="*/ 0 h 37"/>
                    <a:gd name="T30" fmla="*/ 0 w 10"/>
                    <a:gd name="T31" fmla="*/ 0 h 37"/>
                    <a:gd name="T32" fmla="*/ 0 w 10"/>
                    <a:gd name="T33" fmla="*/ 0 h 37"/>
                    <a:gd name="T34" fmla="*/ 0 w 10"/>
                    <a:gd name="T35" fmla="*/ 0 h 37"/>
                    <a:gd name="T36" fmla="*/ 0 w 10"/>
                    <a:gd name="T37" fmla="*/ 0 h 37"/>
                    <a:gd name="T38" fmla="*/ 0 w 10"/>
                    <a:gd name="T39" fmla="*/ 0 h 37"/>
                    <a:gd name="T40" fmla="*/ 0 w 10"/>
                    <a:gd name="T41" fmla="*/ 0 h 37"/>
                    <a:gd name="T42" fmla="*/ 0 w 10"/>
                    <a:gd name="T43" fmla="*/ 0 h 37"/>
                    <a:gd name="T44" fmla="*/ 0 w 10"/>
                    <a:gd name="T45" fmla="*/ 0 h 37"/>
                    <a:gd name="T46" fmla="*/ 0 w 10"/>
                    <a:gd name="T47" fmla="*/ 0 h 37"/>
                    <a:gd name="T48" fmla="*/ 0 w 10"/>
                    <a:gd name="T49" fmla="*/ 0 h 37"/>
                    <a:gd name="T50" fmla="*/ 0 w 10"/>
                    <a:gd name="T51" fmla="*/ 0 h 37"/>
                    <a:gd name="T52" fmla="*/ 0 w 10"/>
                    <a:gd name="T53" fmla="*/ 0 h 37"/>
                    <a:gd name="T54" fmla="*/ 0 w 10"/>
                    <a:gd name="T55" fmla="*/ 0 h 37"/>
                    <a:gd name="T56" fmla="*/ 0 w 10"/>
                    <a:gd name="T57" fmla="*/ 0 h 37"/>
                    <a:gd name="T58" fmla="*/ 0 w 10"/>
                    <a:gd name="T59" fmla="*/ 0 h 37"/>
                    <a:gd name="T60" fmla="*/ 0 w 10"/>
                    <a:gd name="T61" fmla="*/ 0 h 37"/>
                    <a:gd name="T62" fmla="*/ 0 w 10"/>
                    <a:gd name="T63" fmla="*/ 0 h 37"/>
                    <a:gd name="T64" fmla="*/ 0 w 10"/>
                    <a:gd name="T65" fmla="*/ 0 h 37"/>
                    <a:gd name="T66" fmla="*/ 0 w 10"/>
                    <a:gd name="T67" fmla="*/ 0 h 37"/>
                    <a:gd name="T68" fmla="*/ 0 w 10"/>
                    <a:gd name="T69" fmla="*/ 0 h 37"/>
                    <a:gd name="T70" fmla="*/ 0 w 10"/>
                    <a:gd name="T71" fmla="*/ 0 h 37"/>
                    <a:gd name="T72" fmla="*/ 0 w 10"/>
                    <a:gd name="T73" fmla="*/ 0 h 37"/>
                    <a:gd name="T74" fmla="*/ 0 w 10"/>
                    <a:gd name="T75" fmla="*/ 1 h 37"/>
                    <a:gd name="T76" fmla="*/ 0 w 10"/>
                    <a:gd name="T77" fmla="*/ 1 h 37"/>
                    <a:gd name="T78" fmla="*/ 0 w 10"/>
                    <a:gd name="T79" fmla="*/ 1 h 37"/>
                    <a:gd name="T80" fmla="*/ 0 w 10"/>
                    <a:gd name="T81" fmla="*/ 1 h 37"/>
                    <a:gd name="T82" fmla="*/ 0 w 10"/>
                    <a:gd name="T83" fmla="*/ 5 h 37"/>
                    <a:gd name="T84" fmla="*/ 1 w 10"/>
                    <a:gd name="T85" fmla="*/ 11 h 37"/>
                    <a:gd name="T86" fmla="*/ 2 w 10"/>
                    <a:gd name="T87" fmla="*/ 15 h 37"/>
                    <a:gd name="T88" fmla="*/ 3 w 10"/>
                    <a:gd name="T89" fmla="*/ 19 h 37"/>
                    <a:gd name="T90" fmla="*/ 5 w 10"/>
                    <a:gd name="T91" fmla="*/ 24 h 37"/>
                    <a:gd name="T92" fmla="*/ 6 w 10"/>
                    <a:gd name="T93" fmla="*/ 29 h 37"/>
                    <a:gd name="T94" fmla="*/ 8 w 10"/>
                    <a:gd name="T95" fmla="*/ 33 h 37"/>
                    <a:gd name="T96" fmla="*/ 10 w 10"/>
                    <a:gd name="T9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37">
                      <a:moveTo>
                        <a:pt x="10" y="37"/>
                      </a:moveTo>
                      <a:lnTo>
                        <a:pt x="8" y="33"/>
                      </a:lnTo>
                      <a:lnTo>
                        <a:pt x="6" y="29"/>
                      </a:lnTo>
                      <a:lnTo>
                        <a:pt x="5" y="24"/>
                      </a:lnTo>
                      <a:lnTo>
                        <a:pt x="3" y="19"/>
                      </a:lnTo>
                      <a:lnTo>
                        <a:pt x="2" y="15"/>
                      </a:lnTo>
                      <a:lnTo>
                        <a:pt x="1" y="11"/>
                      </a:lnTo>
                      <a:lnTo>
                        <a:pt x="0" y="5"/>
                      </a:lnTo>
                      <a:lnTo>
                        <a:pt x="0" y="1"/>
                      </a:lnTo>
                      <a:lnTo>
                        <a:pt x="0" y="1"/>
                      </a:lnTo>
                      <a:lnTo>
                        <a:pt x="0" y="1"/>
                      </a:lnTo>
                      <a:lnTo>
                        <a:pt x="0" y="1"/>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1"/>
                      </a:lnTo>
                      <a:lnTo>
                        <a:pt x="0" y="1"/>
                      </a:lnTo>
                      <a:lnTo>
                        <a:pt x="0" y="1"/>
                      </a:lnTo>
                      <a:lnTo>
                        <a:pt x="0" y="1"/>
                      </a:lnTo>
                      <a:lnTo>
                        <a:pt x="0" y="5"/>
                      </a:lnTo>
                      <a:lnTo>
                        <a:pt x="1" y="11"/>
                      </a:lnTo>
                      <a:lnTo>
                        <a:pt x="2" y="15"/>
                      </a:lnTo>
                      <a:lnTo>
                        <a:pt x="3" y="19"/>
                      </a:lnTo>
                      <a:lnTo>
                        <a:pt x="5" y="24"/>
                      </a:lnTo>
                      <a:lnTo>
                        <a:pt x="6" y="29"/>
                      </a:lnTo>
                      <a:lnTo>
                        <a:pt x="8" y="33"/>
                      </a:lnTo>
                      <a:lnTo>
                        <a:pt x="10" y="37"/>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50" name="Freeform 538"/>
                <p:cNvSpPr>
                  <a:spLocks noChangeAspect="1"/>
                </p:cNvSpPr>
                <p:nvPr/>
              </p:nvSpPr>
              <p:spPr bwMode="auto">
                <a:xfrm>
                  <a:off x="244" y="573"/>
                  <a:ext cx="1" cy="0"/>
                </a:xfrm>
                <a:custGeom>
                  <a:avLst/>
                  <a:gdLst>
                    <a:gd name="T0" fmla="*/ 1 w 1"/>
                    <a:gd name="T1" fmla="*/ 1 h 1"/>
                    <a:gd name="T2" fmla="*/ 1 w 1"/>
                    <a:gd name="T3" fmla="*/ 1 h 1"/>
                    <a:gd name="T4" fmla="*/ 1 w 1"/>
                    <a:gd name="T5" fmla="*/ 1 h 1"/>
                    <a:gd name="T6" fmla="*/ 1 w 1"/>
                    <a:gd name="T7" fmla="*/ 1 h 1"/>
                    <a:gd name="T8" fmla="*/ 1 w 1"/>
                    <a:gd name="T9" fmla="*/ 1 h 1"/>
                    <a:gd name="T10" fmla="*/ 1 w 1"/>
                    <a:gd name="T11" fmla="*/ 0 h 1"/>
                    <a:gd name="T12" fmla="*/ 1 w 1"/>
                    <a:gd name="T13" fmla="*/ 0 h 1"/>
                    <a:gd name="T14" fmla="*/ 0 w 1"/>
                    <a:gd name="T15" fmla="*/ 0 h 1"/>
                    <a:gd name="T16" fmla="*/ 0 w 1"/>
                    <a:gd name="T17" fmla="*/ 0 h 1"/>
                    <a:gd name="T18" fmla="*/ 0 w 1"/>
                    <a:gd name="T19" fmla="*/ 0 h 1"/>
                    <a:gd name="T20" fmla="*/ 1 w 1"/>
                    <a:gd name="T21" fmla="*/ 0 h 1"/>
                    <a:gd name="T22" fmla="*/ 1 w 1"/>
                    <a:gd name="T23" fmla="*/ 0 h 1"/>
                    <a:gd name="T24" fmla="*/ 1 w 1"/>
                    <a:gd name="T25" fmla="*/ 1 h 1"/>
                    <a:gd name="T26" fmla="*/ 1 w 1"/>
                    <a:gd name="T27" fmla="*/ 1 h 1"/>
                    <a:gd name="T28" fmla="*/ 1 w 1"/>
                    <a:gd name="T29" fmla="*/ 1 h 1"/>
                    <a:gd name="T30" fmla="*/ 1 w 1"/>
                    <a:gd name="T31" fmla="*/ 1 h 1"/>
                    <a:gd name="T32" fmla="*/ 1 w 1"/>
                    <a:gd name="T3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1" y="1"/>
                      </a:moveTo>
                      <a:lnTo>
                        <a:pt x="1" y="1"/>
                      </a:lnTo>
                      <a:lnTo>
                        <a:pt x="1" y="1"/>
                      </a:lnTo>
                      <a:lnTo>
                        <a:pt x="1" y="1"/>
                      </a:lnTo>
                      <a:lnTo>
                        <a:pt x="1" y="1"/>
                      </a:lnTo>
                      <a:lnTo>
                        <a:pt x="1" y="0"/>
                      </a:lnTo>
                      <a:lnTo>
                        <a:pt x="1" y="0"/>
                      </a:lnTo>
                      <a:lnTo>
                        <a:pt x="0" y="0"/>
                      </a:lnTo>
                      <a:lnTo>
                        <a:pt x="0" y="0"/>
                      </a:lnTo>
                      <a:lnTo>
                        <a:pt x="0" y="0"/>
                      </a:lnTo>
                      <a:lnTo>
                        <a:pt x="1" y="0"/>
                      </a:lnTo>
                      <a:lnTo>
                        <a:pt x="1" y="0"/>
                      </a:lnTo>
                      <a:lnTo>
                        <a:pt x="1" y="1"/>
                      </a:lnTo>
                      <a:lnTo>
                        <a:pt x="1" y="1"/>
                      </a:lnTo>
                      <a:lnTo>
                        <a:pt x="1" y="1"/>
                      </a:lnTo>
                      <a:lnTo>
                        <a:pt x="1" y="1"/>
                      </a:lnTo>
                      <a:lnTo>
                        <a:pt x="1"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51" name="Freeform 539"/>
                <p:cNvSpPr>
                  <a:spLocks noChangeAspect="1"/>
                </p:cNvSpPr>
                <p:nvPr/>
              </p:nvSpPr>
              <p:spPr bwMode="auto">
                <a:xfrm>
                  <a:off x="244" y="569"/>
                  <a:ext cx="1" cy="2"/>
                </a:xfrm>
                <a:custGeom>
                  <a:avLst/>
                  <a:gdLst>
                    <a:gd name="T0" fmla="*/ 7 h 7"/>
                    <a:gd name="T1" fmla="*/ 6 h 7"/>
                    <a:gd name="T2" fmla="*/ 5 h 7"/>
                    <a:gd name="T3" fmla="*/ 5 h 7"/>
                    <a:gd name="T4" fmla="*/ 4 h 7"/>
                    <a:gd name="T5" fmla="*/ 3 h 7"/>
                    <a:gd name="T6" fmla="*/ 1 h 7"/>
                    <a:gd name="T7" fmla="*/ 1 h 7"/>
                    <a:gd name="T8" fmla="*/ 0 h 7"/>
                    <a:gd name="T9" fmla="*/ 1 h 7"/>
                    <a:gd name="T10" fmla="*/ 1 h 7"/>
                    <a:gd name="T11" fmla="*/ 3 h 7"/>
                    <a:gd name="T12" fmla="*/ 4 h 7"/>
                    <a:gd name="T13" fmla="*/ 5 h 7"/>
                    <a:gd name="T14" fmla="*/ 5 h 7"/>
                    <a:gd name="T15" fmla="*/ 6 h 7"/>
                    <a:gd name="T16" fmla="*/ 7 h 7"/>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7">
                      <a:moveTo>
                        <a:pt x="0" y="7"/>
                      </a:moveTo>
                      <a:lnTo>
                        <a:pt x="0" y="6"/>
                      </a:lnTo>
                      <a:lnTo>
                        <a:pt x="0" y="5"/>
                      </a:lnTo>
                      <a:lnTo>
                        <a:pt x="0" y="5"/>
                      </a:lnTo>
                      <a:lnTo>
                        <a:pt x="0" y="4"/>
                      </a:lnTo>
                      <a:lnTo>
                        <a:pt x="0" y="3"/>
                      </a:lnTo>
                      <a:lnTo>
                        <a:pt x="0" y="1"/>
                      </a:lnTo>
                      <a:lnTo>
                        <a:pt x="0" y="1"/>
                      </a:lnTo>
                      <a:lnTo>
                        <a:pt x="0" y="0"/>
                      </a:lnTo>
                      <a:lnTo>
                        <a:pt x="0" y="1"/>
                      </a:lnTo>
                      <a:lnTo>
                        <a:pt x="0" y="1"/>
                      </a:lnTo>
                      <a:lnTo>
                        <a:pt x="0" y="3"/>
                      </a:lnTo>
                      <a:lnTo>
                        <a:pt x="0" y="4"/>
                      </a:lnTo>
                      <a:lnTo>
                        <a:pt x="0" y="5"/>
                      </a:lnTo>
                      <a:lnTo>
                        <a:pt x="0" y="5"/>
                      </a:lnTo>
                      <a:lnTo>
                        <a:pt x="0" y="6"/>
                      </a:lnTo>
                      <a:lnTo>
                        <a:pt x="0" y="7"/>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52" name="Freeform 540"/>
                <p:cNvSpPr>
                  <a:spLocks noChangeAspect="1"/>
                </p:cNvSpPr>
                <p:nvPr/>
              </p:nvSpPr>
              <p:spPr bwMode="auto">
                <a:xfrm>
                  <a:off x="244" y="568"/>
                  <a:ext cx="1" cy="1"/>
                </a:xfrm>
                <a:custGeom>
                  <a:avLst/>
                  <a:gdLst>
                    <a:gd name="T0" fmla="*/ 1 h 1"/>
                    <a:gd name="T1" fmla="*/ 1 h 1"/>
                    <a:gd name="T2" fmla="*/ 1 h 1"/>
                    <a:gd name="T3" fmla="*/ 1 h 1"/>
                    <a:gd name="T4" fmla="*/ 1 h 1"/>
                    <a:gd name="T5" fmla="*/ 0 h 1"/>
                    <a:gd name="T6" fmla="*/ 0 h 1"/>
                    <a:gd name="T7" fmla="*/ 0 h 1"/>
                    <a:gd name="T8" fmla="*/ 0 h 1"/>
                    <a:gd name="T9" fmla="*/ 0 h 1"/>
                    <a:gd name="T10" fmla="*/ 0 h 1"/>
                    <a:gd name="T11" fmla="*/ 0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0"/>
                      </a:lnTo>
                      <a:lnTo>
                        <a:pt x="0" y="0"/>
                      </a:lnTo>
                      <a:lnTo>
                        <a:pt x="0" y="0"/>
                      </a:lnTo>
                      <a:lnTo>
                        <a:pt x="0" y="0"/>
                      </a:lnTo>
                      <a:lnTo>
                        <a:pt x="0" y="0"/>
                      </a:lnTo>
                      <a:lnTo>
                        <a:pt x="0" y="0"/>
                      </a:lnTo>
                      <a:lnTo>
                        <a:pt x="0" y="0"/>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53" name="Freeform 541"/>
                <p:cNvSpPr>
                  <a:spLocks noChangeAspect="1"/>
                </p:cNvSpPr>
                <p:nvPr/>
              </p:nvSpPr>
              <p:spPr bwMode="auto">
                <a:xfrm>
                  <a:off x="244" y="568"/>
                  <a:ext cx="1" cy="1"/>
                </a:xfrm>
                <a:custGeom>
                  <a:avLst/>
                  <a:gdLst>
                    <a:gd name="T0" fmla="*/ 1 h 1"/>
                    <a:gd name="T1" fmla="*/ 1 h 1"/>
                    <a:gd name="T2" fmla="*/ 1 h 1"/>
                    <a:gd name="T3" fmla="*/ 1 h 1"/>
                    <a:gd name="T4" fmla="*/ 1 h 1"/>
                    <a:gd name="T5" fmla="*/ 1 h 1"/>
                    <a:gd name="T6" fmla="*/ 0 h 1"/>
                    <a:gd name="T7" fmla="*/ 0 h 1"/>
                    <a:gd name="T8" fmla="*/ 0 h 1"/>
                    <a:gd name="T9" fmla="*/ 0 h 1"/>
                    <a:gd name="T10" fmla="*/ 0 h 1"/>
                    <a:gd name="T11" fmla="*/ 1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1"/>
                      </a:lnTo>
                      <a:lnTo>
                        <a:pt x="0" y="0"/>
                      </a:lnTo>
                      <a:lnTo>
                        <a:pt x="0" y="0"/>
                      </a:lnTo>
                      <a:lnTo>
                        <a:pt x="0" y="0"/>
                      </a:lnTo>
                      <a:lnTo>
                        <a:pt x="0" y="0"/>
                      </a:lnTo>
                      <a:lnTo>
                        <a:pt x="0" y="0"/>
                      </a:lnTo>
                      <a:lnTo>
                        <a:pt x="0" y="1"/>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54" name="Freeform 542"/>
                <p:cNvSpPr>
                  <a:spLocks noChangeAspect="1"/>
                </p:cNvSpPr>
                <p:nvPr/>
              </p:nvSpPr>
              <p:spPr bwMode="auto">
                <a:xfrm>
                  <a:off x="244" y="567"/>
                  <a:ext cx="1" cy="1"/>
                </a:xfrm>
                <a:custGeom>
                  <a:avLst/>
                  <a:gdLst>
                    <a:gd name="T0" fmla="*/ 1 h 1"/>
                    <a:gd name="T1" fmla="*/ 1 h 1"/>
                    <a:gd name="T2" fmla="*/ 1 h 1"/>
                    <a:gd name="T3" fmla="*/ 1 h 1"/>
                    <a:gd name="T4" fmla="*/ 1 h 1"/>
                    <a:gd name="T5" fmla="*/ 0 h 1"/>
                    <a:gd name="T6" fmla="*/ 0 h 1"/>
                    <a:gd name="T7" fmla="*/ 0 h 1"/>
                    <a:gd name="T8" fmla="*/ 0 h 1"/>
                    <a:gd name="T9" fmla="*/ 0 h 1"/>
                    <a:gd name="T10" fmla="*/ 0 h 1"/>
                    <a:gd name="T11" fmla="*/ 0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0"/>
                      </a:lnTo>
                      <a:lnTo>
                        <a:pt x="0" y="0"/>
                      </a:lnTo>
                      <a:lnTo>
                        <a:pt x="0" y="0"/>
                      </a:lnTo>
                      <a:lnTo>
                        <a:pt x="0" y="0"/>
                      </a:lnTo>
                      <a:lnTo>
                        <a:pt x="0" y="0"/>
                      </a:lnTo>
                      <a:lnTo>
                        <a:pt x="0" y="0"/>
                      </a:lnTo>
                      <a:lnTo>
                        <a:pt x="0" y="0"/>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55" name="Freeform 543"/>
                <p:cNvSpPr>
                  <a:spLocks noChangeAspect="1"/>
                </p:cNvSpPr>
                <p:nvPr/>
              </p:nvSpPr>
              <p:spPr bwMode="auto">
                <a:xfrm>
                  <a:off x="244" y="566"/>
                  <a:ext cx="1" cy="1"/>
                </a:xfrm>
                <a:custGeom>
                  <a:avLst/>
                  <a:gdLst>
                    <a:gd name="T0" fmla="*/ 1 h 1"/>
                    <a:gd name="T1" fmla="*/ 1 h 1"/>
                    <a:gd name="T2" fmla="*/ 1 h 1"/>
                    <a:gd name="T3" fmla="*/ 1 h 1"/>
                    <a:gd name="T4" fmla="*/ 0 h 1"/>
                    <a:gd name="T5" fmla="*/ 0 h 1"/>
                    <a:gd name="T6" fmla="*/ 0 h 1"/>
                    <a:gd name="T7" fmla="*/ 0 h 1"/>
                    <a:gd name="T8" fmla="*/ 0 h 1"/>
                    <a:gd name="T9" fmla="*/ 0 h 1"/>
                    <a:gd name="T10" fmla="*/ 0 h 1"/>
                    <a:gd name="T11" fmla="*/ 0 h 1"/>
                    <a:gd name="T12" fmla="*/ 0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0"/>
                      </a:lnTo>
                      <a:lnTo>
                        <a:pt x="0" y="0"/>
                      </a:lnTo>
                      <a:lnTo>
                        <a:pt x="0" y="0"/>
                      </a:lnTo>
                      <a:lnTo>
                        <a:pt x="0" y="0"/>
                      </a:lnTo>
                      <a:lnTo>
                        <a:pt x="0" y="0"/>
                      </a:lnTo>
                      <a:lnTo>
                        <a:pt x="0" y="0"/>
                      </a:lnTo>
                      <a:lnTo>
                        <a:pt x="0" y="0"/>
                      </a:lnTo>
                      <a:lnTo>
                        <a:pt x="0" y="0"/>
                      </a:lnTo>
                      <a:lnTo>
                        <a:pt x="0" y="0"/>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56" name="Freeform 544"/>
                <p:cNvSpPr>
                  <a:spLocks noChangeAspect="1"/>
                </p:cNvSpPr>
                <p:nvPr/>
              </p:nvSpPr>
              <p:spPr bwMode="auto">
                <a:xfrm>
                  <a:off x="244" y="566"/>
                  <a:ext cx="1" cy="1"/>
                </a:xfrm>
                <a:custGeom>
                  <a:avLst/>
                  <a:gdLst>
                    <a:gd name="T0" fmla="*/ 1 h 1"/>
                    <a:gd name="T1" fmla="*/ 1 h 1"/>
                    <a:gd name="T2" fmla="*/ 1 h 1"/>
                    <a:gd name="T3" fmla="*/ 1 h 1"/>
                    <a:gd name="T4" fmla="*/ 0 h 1"/>
                    <a:gd name="T5" fmla="*/ 0 h 1"/>
                    <a:gd name="T6" fmla="*/ 0 h 1"/>
                    <a:gd name="T7" fmla="*/ 0 h 1"/>
                    <a:gd name="T8" fmla="*/ 0 h 1"/>
                    <a:gd name="T9" fmla="*/ 0 h 1"/>
                    <a:gd name="T10" fmla="*/ 0 h 1"/>
                    <a:gd name="T11" fmla="*/ 0 h 1"/>
                    <a:gd name="T12" fmla="*/ 0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0"/>
                      </a:lnTo>
                      <a:lnTo>
                        <a:pt x="0" y="0"/>
                      </a:lnTo>
                      <a:lnTo>
                        <a:pt x="0" y="0"/>
                      </a:lnTo>
                      <a:lnTo>
                        <a:pt x="0" y="0"/>
                      </a:lnTo>
                      <a:lnTo>
                        <a:pt x="0" y="0"/>
                      </a:lnTo>
                      <a:lnTo>
                        <a:pt x="0" y="0"/>
                      </a:lnTo>
                      <a:lnTo>
                        <a:pt x="0" y="0"/>
                      </a:lnTo>
                      <a:lnTo>
                        <a:pt x="0" y="0"/>
                      </a:lnTo>
                      <a:lnTo>
                        <a:pt x="0" y="0"/>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57" name="Freeform 545"/>
                <p:cNvSpPr>
                  <a:spLocks noChangeAspect="1"/>
                </p:cNvSpPr>
                <p:nvPr/>
              </p:nvSpPr>
              <p:spPr bwMode="auto">
                <a:xfrm>
                  <a:off x="244" y="566"/>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58" name="Freeform 546"/>
                <p:cNvSpPr>
                  <a:spLocks noChangeAspect="1"/>
                </p:cNvSpPr>
                <p:nvPr/>
              </p:nvSpPr>
              <p:spPr bwMode="auto">
                <a:xfrm>
                  <a:off x="244" y="566"/>
                  <a:ext cx="1" cy="0"/>
                </a:xfrm>
                <a:custGeom>
                  <a:avLst/>
                  <a:gdLst>
                    <a:gd name="T0" fmla="*/ 3 h 3"/>
                    <a:gd name="T1" fmla="*/ 2 h 3"/>
                    <a:gd name="T2" fmla="*/ 2 h 3"/>
                    <a:gd name="T3" fmla="*/ 2 h 3"/>
                    <a:gd name="T4" fmla="*/ 2 h 3"/>
                    <a:gd name="T5" fmla="*/ 2 h 3"/>
                    <a:gd name="T6" fmla="*/ 2 h 3"/>
                    <a:gd name="T7" fmla="*/ 2 h 3"/>
                    <a:gd name="T8" fmla="*/ 0 h 3"/>
                    <a:gd name="T9" fmla="*/ 2 h 3"/>
                    <a:gd name="T10" fmla="*/ 2 h 3"/>
                    <a:gd name="T11" fmla="*/ 2 h 3"/>
                    <a:gd name="T12" fmla="*/ 2 h 3"/>
                    <a:gd name="T13" fmla="*/ 2 h 3"/>
                    <a:gd name="T14" fmla="*/ 2 h 3"/>
                    <a:gd name="T15" fmla="*/ 2 h 3"/>
                    <a:gd name="T16"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3">
                      <a:moveTo>
                        <a:pt x="0" y="3"/>
                      </a:moveTo>
                      <a:lnTo>
                        <a:pt x="0" y="2"/>
                      </a:lnTo>
                      <a:lnTo>
                        <a:pt x="0" y="2"/>
                      </a:lnTo>
                      <a:lnTo>
                        <a:pt x="0" y="2"/>
                      </a:lnTo>
                      <a:lnTo>
                        <a:pt x="0" y="2"/>
                      </a:lnTo>
                      <a:lnTo>
                        <a:pt x="0" y="2"/>
                      </a:lnTo>
                      <a:lnTo>
                        <a:pt x="0" y="2"/>
                      </a:lnTo>
                      <a:lnTo>
                        <a:pt x="0" y="2"/>
                      </a:lnTo>
                      <a:lnTo>
                        <a:pt x="0" y="0"/>
                      </a:lnTo>
                      <a:lnTo>
                        <a:pt x="0" y="2"/>
                      </a:lnTo>
                      <a:lnTo>
                        <a:pt x="0" y="2"/>
                      </a:lnTo>
                      <a:lnTo>
                        <a:pt x="0" y="2"/>
                      </a:lnTo>
                      <a:lnTo>
                        <a:pt x="0" y="2"/>
                      </a:lnTo>
                      <a:lnTo>
                        <a:pt x="0" y="2"/>
                      </a:lnTo>
                      <a:lnTo>
                        <a:pt x="0" y="2"/>
                      </a:lnTo>
                      <a:lnTo>
                        <a:pt x="0" y="2"/>
                      </a:lnTo>
                      <a:lnTo>
                        <a:pt x="0" y="3"/>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59" name="Freeform 547"/>
                <p:cNvSpPr>
                  <a:spLocks noChangeAspect="1"/>
                </p:cNvSpPr>
                <p:nvPr/>
              </p:nvSpPr>
              <p:spPr bwMode="auto">
                <a:xfrm>
                  <a:off x="244" y="566"/>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60" name="Freeform 548"/>
                <p:cNvSpPr>
                  <a:spLocks noChangeAspect="1"/>
                </p:cNvSpPr>
                <p:nvPr/>
              </p:nvSpPr>
              <p:spPr bwMode="auto">
                <a:xfrm>
                  <a:off x="245" y="566"/>
                  <a:ext cx="1"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61" name="Freeform 549"/>
                <p:cNvSpPr>
                  <a:spLocks noChangeAspect="1"/>
                </p:cNvSpPr>
                <p:nvPr/>
              </p:nvSpPr>
              <p:spPr bwMode="auto">
                <a:xfrm>
                  <a:off x="245" y="56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grpSp>
          <p:sp>
            <p:nvSpPr>
              <p:cNvPr id="65062" name="Freeform 550"/>
              <p:cNvSpPr>
                <a:spLocks noChangeAspect="1"/>
              </p:cNvSpPr>
              <p:nvPr/>
            </p:nvSpPr>
            <p:spPr bwMode="auto">
              <a:xfrm>
                <a:off x="245" y="561"/>
                <a:ext cx="0" cy="1"/>
              </a:xfrm>
              <a:custGeom>
                <a:avLst/>
                <a:gdLst>
                  <a:gd name="T0" fmla="*/ 1 h 1"/>
                  <a:gd name="T1" fmla="*/ 1 h 1"/>
                  <a:gd name="T2" fmla="*/ 1 h 1"/>
                  <a:gd name="T3" fmla="*/ 1 h 1"/>
                  <a:gd name="T4" fmla="*/ 1 h 1"/>
                  <a:gd name="T5" fmla="*/ 1 h 1"/>
                  <a:gd name="T6" fmla="*/ 1 h 1"/>
                  <a:gd name="T7" fmla="*/ 1 h 1"/>
                  <a:gd name="T8" fmla="*/ 0 h 1"/>
                  <a:gd name="T9" fmla="*/ 1 h 1"/>
                  <a:gd name="T10" fmla="*/ 1 h 1"/>
                  <a:gd name="T11" fmla="*/ 1 h 1"/>
                  <a:gd name="T12" fmla="*/ 1 h 1"/>
                  <a:gd name="T13" fmla="*/ 1 h 1"/>
                  <a:gd name="T14" fmla="*/ 1 h 1"/>
                  <a:gd name="T15" fmla="*/ 1 h 1"/>
                  <a:gd name="T16"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lnTo>
                      <a:pt x="0" y="1"/>
                    </a:lnTo>
                    <a:lnTo>
                      <a:pt x="0" y="1"/>
                    </a:lnTo>
                    <a:lnTo>
                      <a:pt x="0" y="1"/>
                    </a:lnTo>
                    <a:lnTo>
                      <a:pt x="0" y="1"/>
                    </a:lnTo>
                    <a:lnTo>
                      <a:pt x="0" y="1"/>
                    </a:lnTo>
                    <a:lnTo>
                      <a:pt x="0" y="1"/>
                    </a:lnTo>
                    <a:lnTo>
                      <a:pt x="0" y="1"/>
                    </a:lnTo>
                    <a:lnTo>
                      <a:pt x="0" y="0"/>
                    </a:lnTo>
                    <a:lnTo>
                      <a:pt x="0" y="1"/>
                    </a:lnTo>
                    <a:lnTo>
                      <a:pt x="0" y="1"/>
                    </a:lnTo>
                    <a:lnTo>
                      <a:pt x="0" y="1"/>
                    </a:lnTo>
                    <a:lnTo>
                      <a:pt x="0" y="1"/>
                    </a:lnTo>
                    <a:lnTo>
                      <a:pt x="0" y="1"/>
                    </a:lnTo>
                    <a:lnTo>
                      <a:pt x="0" y="1"/>
                    </a:lnTo>
                    <a:lnTo>
                      <a:pt x="0" y="1"/>
                    </a:lnTo>
                    <a:lnTo>
                      <a:pt x="0" y="1"/>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63" name="Freeform 551"/>
              <p:cNvSpPr>
                <a:spLocks noChangeAspect="1"/>
              </p:cNvSpPr>
              <p:nvPr/>
            </p:nvSpPr>
            <p:spPr bwMode="auto">
              <a:xfrm>
                <a:off x="245" y="561"/>
                <a:ext cx="0"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64" name="Freeform 552"/>
              <p:cNvSpPr>
                <a:spLocks noChangeAspect="1"/>
              </p:cNvSpPr>
              <p:nvPr/>
            </p:nvSpPr>
            <p:spPr bwMode="auto">
              <a:xfrm>
                <a:off x="245" y="560"/>
                <a:ext cx="0"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65" name="Freeform 553"/>
              <p:cNvSpPr>
                <a:spLocks noChangeAspect="1"/>
              </p:cNvSpPr>
              <p:nvPr/>
            </p:nvSpPr>
            <p:spPr bwMode="auto">
              <a:xfrm>
                <a:off x="245" y="559"/>
                <a:ext cx="0"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sp>
            <p:nvSpPr>
              <p:cNvPr id="65066" name="Freeform 554"/>
              <p:cNvSpPr>
                <a:spLocks noChangeAspect="1"/>
              </p:cNvSpPr>
              <p:nvPr/>
            </p:nvSpPr>
            <p:spPr bwMode="auto">
              <a:xfrm>
                <a:off x="452" y="830"/>
                <a:ext cx="57" cy="60"/>
              </a:xfrm>
              <a:custGeom>
                <a:avLst/>
                <a:gdLst>
                  <a:gd name="T0" fmla="*/ 128 w 174"/>
                  <a:gd name="T1" fmla="*/ 8 h 180"/>
                  <a:gd name="T2" fmla="*/ 142 w 174"/>
                  <a:gd name="T3" fmla="*/ 18 h 180"/>
                  <a:gd name="T4" fmla="*/ 153 w 174"/>
                  <a:gd name="T5" fmla="*/ 31 h 180"/>
                  <a:gd name="T6" fmla="*/ 163 w 174"/>
                  <a:gd name="T7" fmla="*/ 45 h 180"/>
                  <a:gd name="T8" fmla="*/ 169 w 174"/>
                  <a:gd name="T9" fmla="*/ 60 h 180"/>
                  <a:gd name="T10" fmla="*/ 173 w 174"/>
                  <a:gd name="T11" fmla="*/ 77 h 180"/>
                  <a:gd name="T12" fmla="*/ 173 w 174"/>
                  <a:gd name="T13" fmla="*/ 95 h 180"/>
                  <a:gd name="T14" fmla="*/ 169 w 174"/>
                  <a:gd name="T15" fmla="*/ 112 h 180"/>
                  <a:gd name="T16" fmla="*/ 163 w 174"/>
                  <a:gd name="T17" fmla="*/ 129 h 180"/>
                  <a:gd name="T18" fmla="*/ 153 w 174"/>
                  <a:gd name="T19" fmla="*/ 145 h 180"/>
                  <a:gd name="T20" fmla="*/ 142 w 174"/>
                  <a:gd name="T21" fmla="*/ 157 h 180"/>
                  <a:gd name="T22" fmla="*/ 128 w 174"/>
                  <a:gd name="T23" fmla="*/ 167 h 180"/>
                  <a:gd name="T24" fmla="*/ 112 w 174"/>
                  <a:gd name="T25" fmla="*/ 174 h 180"/>
                  <a:gd name="T26" fmla="*/ 96 w 174"/>
                  <a:gd name="T27" fmla="*/ 179 h 180"/>
                  <a:gd name="T28" fmla="*/ 79 w 174"/>
                  <a:gd name="T29" fmla="*/ 180 h 180"/>
                  <a:gd name="T30" fmla="*/ 62 w 174"/>
                  <a:gd name="T31" fmla="*/ 176 h 180"/>
                  <a:gd name="T32" fmla="*/ 46 w 174"/>
                  <a:gd name="T33" fmla="*/ 170 h 180"/>
                  <a:gd name="T34" fmla="*/ 31 w 174"/>
                  <a:gd name="T35" fmla="*/ 161 h 180"/>
                  <a:gd name="T36" fmla="*/ 19 w 174"/>
                  <a:gd name="T37" fmla="*/ 149 h 180"/>
                  <a:gd name="T38" fmla="*/ 11 w 174"/>
                  <a:gd name="T39" fmla="*/ 135 h 180"/>
                  <a:gd name="T40" fmla="*/ 4 w 174"/>
                  <a:gd name="T41" fmla="*/ 119 h 180"/>
                  <a:gd name="T42" fmla="*/ 0 w 174"/>
                  <a:gd name="T43" fmla="*/ 102 h 180"/>
                  <a:gd name="T44" fmla="*/ 0 w 174"/>
                  <a:gd name="T45" fmla="*/ 85 h 180"/>
                  <a:gd name="T46" fmla="*/ 3 w 174"/>
                  <a:gd name="T47" fmla="*/ 67 h 180"/>
                  <a:gd name="T48" fmla="*/ 11 w 174"/>
                  <a:gd name="T49" fmla="*/ 50 h 180"/>
                  <a:gd name="T50" fmla="*/ 20 w 174"/>
                  <a:gd name="T51" fmla="*/ 35 h 180"/>
                  <a:gd name="T52" fmla="*/ 32 w 174"/>
                  <a:gd name="T53" fmla="*/ 22 h 180"/>
                  <a:gd name="T54" fmla="*/ 46 w 174"/>
                  <a:gd name="T55" fmla="*/ 12 h 180"/>
                  <a:gd name="T56" fmla="*/ 61 w 174"/>
                  <a:gd name="T57" fmla="*/ 4 h 180"/>
                  <a:gd name="T58" fmla="*/ 78 w 174"/>
                  <a:gd name="T59" fmla="*/ 1 h 180"/>
                  <a:gd name="T60" fmla="*/ 95 w 174"/>
                  <a:gd name="T61" fmla="*/ 0 h 180"/>
                  <a:gd name="T62" fmla="*/ 111 w 174"/>
                  <a:gd name="T63" fmla="*/ 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4" h="180">
                    <a:moveTo>
                      <a:pt x="119" y="5"/>
                    </a:moveTo>
                    <a:lnTo>
                      <a:pt x="128" y="8"/>
                    </a:lnTo>
                    <a:lnTo>
                      <a:pt x="135" y="13"/>
                    </a:lnTo>
                    <a:lnTo>
                      <a:pt x="142" y="18"/>
                    </a:lnTo>
                    <a:lnTo>
                      <a:pt x="148" y="24"/>
                    </a:lnTo>
                    <a:lnTo>
                      <a:pt x="153" y="31"/>
                    </a:lnTo>
                    <a:lnTo>
                      <a:pt x="159" y="37"/>
                    </a:lnTo>
                    <a:lnTo>
                      <a:pt x="163" y="45"/>
                    </a:lnTo>
                    <a:lnTo>
                      <a:pt x="166" y="52"/>
                    </a:lnTo>
                    <a:lnTo>
                      <a:pt x="169" y="60"/>
                    </a:lnTo>
                    <a:lnTo>
                      <a:pt x="172" y="68"/>
                    </a:lnTo>
                    <a:lnTo>
                      <a:pt x="173" y="77"/>
                    </a:lnTo>
                    <a:lnTo>
                      <a:pt x="174" y="85"/>
                    </a:lnTo>
                    <a:lnTo>
                      <a:pt x="173" y="95"/>
                    </a:lnTo>
                    <a:lnTo>
                      <a:pt x="172" y="103"/>
                    </a:lnTo>
                    <a:lnTo>
                      <a:pt x="169" y="112"/>
                    </a:lnTo>
                    <a:lnTo>
                      <a:pt x="167" y="121"/>
                    </a:lnTo>
                    <a:lnTo>
                      <a:pt x="163" y="129"/>
                    </a:lnTo>
                    <a:lnTo>
                      <a:pt x="159" y="137"/>
                    </a:lnTo>
                    <a:lnTo>
                      <a:pt x="153" y="145"/>
                    </a:lnTo>
                    <a:lnTo>
                      <a:pt x="148" y="151"/>
                    </a:lnTo>
                    <a:lnTo>
                      <a:pt x="142" y="157"/>
                    </a:lnTo>
                    <a:lnTo>
                      <a:pt x="134" y="163"/>
                    </a:lnTo>
                    <a:lnTo>
                      <a:pt x="128" y="167"/>
                    </a:lnTo>
                    <a:lnTo>
                      <a:pt x="120" y="171"/>
                    </a:lnTo>
                    <a:lnTo>
                      <a:pt x="112" y="174"/>
                    </a:lnTo>
                    <a:lnTo>
                      <a:pt x="104" y="176"/>
                    </a:lnTo>
                    <a:lnTo>
                      <a:pt x="96" y="179"/>
                    </a:lnTo>
                    <a:lnTo>
                      <a:pt x="87" y="180"/>
                    </a:lnTo>
                    <a:lnTo>
                      <a:pt x="79" y="180"/>
                    </a:lnTo>
                    <a:lnTo>
                      <a:pt x="70" y="179"/>
                    </a:lnTo>
                    <a:lnTo>
                      <a:pt x="62" y="176"/>
                    </a:lnTo>
                    <a:lnTo>
                      <a:pt x="53" y="173"/>
                    </a:lnTo>
                    <a:lnTo>
                      <a:pt x="46" y="170"/>
                    </a:lnTo>
                    <a:lnTo>
                      <a:pt x="38" y="166"/>
                    </a:lnTo>
                    <a:lnTo>
                      <a:pt x="31" y="161"/>
                    </a:lnTo>
                    <a:lnTo>
                      <a:pt x="26" y="155"/>
                    </a:lnTo>
                    <a:lnTo>
                      <a:pt x="19" y="149"/>
                    </a:lnTo>
                    <a:lnTo>
                      <a:pt x="15" y="141"/>
                    </a:lnTo>
                    <a:lnTo>
                      <a:pt x="11" y="135"/>
                    </a:lnTo>
                    <a:lnTo>
                      <a:pt x="7" y="126"/>
                    </a:lnTo>
                    <a:lnTo>
                      <a:pt x="4" y="119"/>
                    </a:lnTo>
                    <a:lnTo>
                      <a:pt x="2" y="111"/>
                    </a:lnTo>
                    <a:lnTo>
                      <a:pt x="0" y="102"/>
                    </a:lnTo>
                    <a:lnTo>
                      <a:pt x="0" y="94"/>
                    </a:lnTo>
                    <a:lnTo>
                      <a:pt x="0" y="85"/>
                    </a:lnTo>
                    <a:lnTo>
                      <a:pt x="1" y="75"/>
                    </a:lnTo>
                    <a:lnTo>
                      <a:pt x="3" y="67"/>
                    </a:lnTo>
                    <a:lnTo>
                      <a:pt x="7" y="58"/>
                    </a:lnTo>
                    <a:lnTo>
                      <a:pt x="11" y="50"/>
                    </a:lnTo>
                    <a:lnTo>
                      <a:pt x="15" y="41"/>
                    </a:lnTo>
                    <a:lnTo>
                      <a:pt x="20" y="35"/>
                    </a:lnTo>
                    <a:lnTo>
                      <a:pt x="26" y="28"/>
                    </a:lnTo>
                    <a:lnTo>
                      <a:pt x="32" y="22"/>
                    </a:lnTo>
                    <a:lnTo>
                      <a:pt x="38" y="17"/>
                    </a:lnTo>
                    <a:lnTo>
                      <a:pt x="46" y="12"/>
                    </a:lnTo>
                    <a:lnTo>
                      <a:pt x="53" y="7"/>
                    </a:lnTo>
                    <a:lnTo>
                      <a:pt x="61" y="4"/>
                    </a:lnTo>
                    <a:lnTo>
                      <a:pt x="69" y="2"/>
                    </a:lnTo>
                    <a:lnTo>
                      <a:pt x="78" y="1"/>
                    </a:lnTo>
                    <a:lnTo>
                      <a:pt x="86" y="0"/>
                    </a:lnTo>
                    <a:lnTo>
                      <a:pt x="95" y="0"/>
                    </a:lnTo>
                    <a:lnTo>
                      <a:pt x="103" y="1"/>
                    </a:lnTo>
                    <a:lnTo>
                      <a:pt x="111" y="2"/>
                    </a:lnTo>
                    <a:lnTo>
                      <a:pt x="119" y="5"/>
                    </a:lnTo>
                    <a:close/>
                  </a:path>
                </a:pathLst>
              </a:custGeom>
              <a:gradFill rotWithShape="0">
                <a:gsLst>
                  <a:gs pos="0">
                    <a:schemeClr val="folHlink">
                      <a:gamma/>
                      <a:tint val="43922"/>
                      <a:invGamma/>
                    </a:schemeClr>
                  </a:gs>
                  <a:gs pos="100000">
                    <a:schemeClr val="folHlink"/>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067" name="Freeform 555"/>
              <p:cNvSpPr>
                <a:spLocks noChangeAspect="1"/>
              </p:cNvSpPr>
              <p:nvPr/>
            </p:nvSpPr>
            <p:spPr bwMode="auto">
              <a:xfrm>
                <a:off x="452" y="830"/>
                <a:ext cx="57" cy="60"/>
              </a:xfrm>
              <a:custGeom>
                <a:avLst/>
                <a:gdLst>
                  <a:gd name="T0" fmla="*/ 128 w 174"/>
                  <a:gd name="T1" fmla="*/ 8 h 180"/>
                  <a:gd name="T2" fmla="*/ 142 w 174"/>
                  <a:gd name="T3" fmla="*/ 18 h 180"/>
                  <a:gd name="T4" fmla="*/ 153 w 174"/>
                  <a:gd name="T5" fmla="*/ 31 h 180"/>
                  <a:gd name="T6" fmla="*/ 163 w 174"/>
                  <a:gd name="T7" fmla="*/ 45 h 180"/>
                  <a:gd name="T8" fmla="*/ 169 w 174"/>
                  <a:gd name="T9" fmla="*/ 60 h 180"/>
                  <a:gd name="T10" fmla="*/ 173 w 174"/>
                  <a:gd name="T11" fmla="*/ 77 h 180"/>
                  <a:gd name="T12" fmla="*/ 173 w 174"/>
                  <a:gd name="T13" fmla="*/ 95 h 180"/>
                  <a:gd name="T14" fmla="*/ 169 w 174"/>
                  <a:gd name="T15" fmla="*/ 112 h 180"/>
                  <a:gd name="T16" fmla="*/ 163 w 174"/>
                  <a:gd name="T17" fmla="*/ 129 h 180"/>
                  <a:gd name="T18" fmla="*/ 153 w 174"/>
                  <a:gd name="T19" fmla="*/ 145 h 180"/>
                  <a:gd name="T20" fmla="*/ 142 w 174"/>
                  <a:gd name="T21" fmla="*/ 157 h 180"/>
                  <a:gd name="T22" fmla="*/ 128 w 174"/>
                  <a:gd name="T23" fmla="*/ 167 h 180"/>
                  <a:gd name="T24" fmla="*/ 112 w 174"/>
                  <a:gd name="T25" fmla="*/ 174 h 180"/>
                  <a:gd name="T26" fmla="*/ 96 w 174"/>
                  <a:gd name="T27" fmla="*/ 179 h 180"/>
                  <a:gd name="T28" fmla="*/ 79 w 174"/>
                  <a:gd name="T29" fmla="*/ 180 h 180"/>
                  <a:gd name="T30" fmla="*/ 62 w 174"/>
                  <a:gd name="T31" fmla="*/ 176 h 180"/>
                  <a:gd name="T32" fmla="*/ 46 w 174"/>
                  <a:gd name="T33" fmla="*/ 170 h 180"/>
                  <a:gd name="T34" fmla="*/ 31 w 174"/>
                  <a:gd name="T35" fmla="*/ 161 h 180"/>
                  <a:gd name="T36" fmla="*/ 19 w 174"/>
                  <a:gd name="T37" fmla="*/ 149 h 180"/>
                  <a:gd name="T38" fmla="*/ 11 w 174"/>
                  <a:gd name="T39" fmla="*/ 135 h 180"/>
                  <a:gd name="T40" fmla="*/ 4 w 174"/>
                  <a:gd name="T41" fmla="*/ 119 h 180"/>
                  <a:gd name="T42" fmla="*/ 0 w 174"/>
                  <a:gd name="T43" fmla="*/ 102 h 180"/>
                  <a:gd name="T44" fmla="*/ 0 w 174"/>
                  <a:gd name="T45" fmla="*/ 85 h 180"/>
                  <a:gd name="T46" fmla="*/ 3 w 174"/>
                  <a:gd name="T47" fmla="*/ 67 h 180"/>
                  <a:gd name="T48" fmla="*/ 11 w 174"/>
                  <a:gd name="T49" fmla="*/ 50 h 180"/>
                  <a:gd name="T50" fmla="*/ 20 w 174"/>
                  <a:gd name="T51" fmla="*/ 35 h 180"/>
                  <a:gd name="T52" fmla="*/ 32 w 174"/>
                  <a:gd name="T53" fmla="*/ 22 h 180"/>
                  <a:gd name="T54" fmla="*/ 46 w 174"/>
                  <a:gd name="T55" fmla="*/ 12 h 180"/>
                  <a:gd name="T56" fmla="*/ 61 w 174"/>
                  <a:gd name="T57" fmla="*/ 4 h 180"/>
                  <a:gd name="T58" fmla="*/ 78 w 174"/>
                  <a:gd name="T59" fmla="*/ 1 h 180"/>
                  <a:gd name="T60" fmla="*/ 95 w 174"/>
                  <a:gd name="T61" fmla="*/ 0 h 180"/>
                  <a:gd name="T62" fmla="*/ 111 w 174"/>
                  <a:gd name="T63" fmla="*/ 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4" h="180">
                    <a:moveTo>
                      <a:pt x="119" y="5"/>
                    </a:moveTo>
                    <a:lnTo>
                      <a:pt x="128" y="8"/>
                    </a:lnTo>
                    <a:lnTo>
                      <a:pt x="135" y="13"/>
                    </a:lnTo>
                    <a:lnTo>
                      <a:pt x="142" y="18"/>
                    </a:lnTo>
                    <a:lnTo>
                      <a:pt x="148" y="24"/>
                    </a:lnTo>
                    <a:lnTo>
                      <a:pt x="153" y="31"/>
                    </a:lnTo>
                    <a:lnTo>
                      <a:pt x="159" y="37"/>
                    </a:lnTo>
                    <a:lnTo>
                      <a:pt x="163" y="45"/>
                    </a:lnTo>
                    <a:lnTo>
                      <a:pt x="166" y="52"/>
                    </a:lnTo>
                    <a:lnTo>
                      <a:pt x="169" y="60"/>
                    </a:lnTo>
                    <a:lnTo>
                      <a:pt x="172" y="68"/>
                    </a:lnTo>
                    <a:lnTo>
                      <a:pt x="173" y="77"/>
                    </a:lnTo>
                    <a:lnTo>
                      <a:pt x="174" y="85"/>
                    </a:lnTo>
                    <a:lnTo>
                      <a:pt x="173" y="95"/>
                    </a:lnTo>
                    <a:lnTo>
                      <a:pt x="172" y="103"/>
                    </a:lnTo>
                    <a:lnTo>
                      <a:pt x="169" y="112"/>
                    </a:lnTo>
                    <a:lnTo>
                      <a:pt x="167" y="121"/>
                    </a:lnTo>
                    <a:lnTo>
                      <a:pt x="163" y="129"/>
                    </a:lnTo>
                    <a:lnTo>
                      <a:pt x="159" y="137"/>
                    </a:lnTo>
                    <a:lnTo>
                      <a:pt x="153" y="145"/>
                    </a:lnTo>
                    <a:lnTo>
                      <a:pt x="148" y="151"/>
                    </a:lnTo>
                    <a:lnTo>
                      <a:pt x="142" y="157"/>
                    </a:lnTo>
                    <a:lnTo>
                      <a:pt x="134" y="163"/>
                    </a:lnTo>
                    <a:lnTo>
                      <a:pt x="128" y="167"/>
                    </a:lnTo>
                    <a:lnTo>
                      <a:pt x="120" y="171"/>
                    </a:lnTo>
                    <a:lnTo>
                      <a:pt x="112" y="174"/>
                    </a:lnTo>
                    <a:lnTo>
                      <a:pt x="104" y="176"/>
                    </a:lnTo>
                    <a:lnTo>
                      <a:pt x="96" y="179"/>
                    </a:lnTo>
                    <a:lnTo>
                      <a:pt x="87" y="180"/>
                    </a:lnTo>
                    <a:lnTo>
                      <a:pt x="79" y="180"/>
                    </a:lnTo>
                    <a:lnTo>
                      <a:pt x="70" y="179"/>
                    </a:lnTo>
                    <a:lnTo>
                      <a:pt x="62" y="176"/>
                    </a:lnTo>
                    <a:lnTo>
                      <a:pt x="53" y="173"/>
                    </a:lnTo>
                    <a:lnTo>
                      <a:pt x="46" y="170"/>
                    </a:lnTo>
                    <a:lnTo>
                      <a:pt x="38" y="166"/>
                    </a:lnTo>
                    <a:lnTo>
                      <a:pt x="31" y="161"/>
                    </a:lnTo>
                    <a:lnTo>
                      <a:pt x="26" y="155"/>
                    </a:lnTo>
                    <a:lnTo>
                      <a:pt x="19" y="149"/>
                    </a:lnTo>
                    <a:lnTo>
                      <a:pt x="15" y="141"/>
                    </a:lnTo>
                    <a:lnTo>
                      <a:pt x="11" y="135"/>
                    </a:lnTo>
                    <a:lnTo>
                      <a:pt x="7" y="126"/>
                    </a:lnTo>
                    <a:lnTo>
                      <a:pt x="4" y="119"/>
                    </a:lnTo>
                    <a:lnTo>
                      <a:pt x="2" y="111"/>
                    </a:lnTo>
                    <a:lnTo>
                      <a:pt x="0" y="102"/>
                    </a:lnTo>
                    <a:lnTo>
                      <a:pt x="0" y="94"/>
                    </a:lnTo>
                    <a:lnTo>
                      <a:pt x="0" y="85"/>
                    </a:lnTo>
                    <a:lnTo>
                      <a:pt x="1" y="75"/>
                    </a:lnTo>
                    <a:lnTo>
                      <a:pt x="3" y="67"/>
                    </a:lnTo>
                    <a:lnTo>
                      <a:pt x="7" y="58"/>
                    </a:lnTo>
                    <a:lnTo>
                      <a:pt x="11" y="50"/>
                    </a:lnTo>
                    <a:lnTo>
                      <a:pt x="15" y="41"/>
                    </a:lnTo>
                    <a:lnTo>
                      <a:pt x="20" y="35"/>
                    </a:lnTo>
                    <a:lnTo>
                      <a:pt x="26" y="28"/>
                    </a:lnTo>
                    <a:lnTo>
                      <a:pt x="32" y="22"/>
                    </a:lnTo>
                    <a:lnTo>
                      <a:pt x="38" y="17"/>
                    </a:lnTo>
                    <a:lnTo>
                      <a:pt x="46" y="12"/>
                    </a:lnTo>
                    <a:lnTo>
                      <a:pt x="53" y="7"/>
                    </a:lnTo>
                    <a:lnTo>
                      <a:pt x="61" y="4"/>
                    </a:lnTo>
                    <a:lnTo>
                      <a:pt x="69" y="2"/>
                    </a:lnTo>
                    <a:lnTo>
                      <a:pt x="78" y="1"/>
                    </a:lnTo>
                    <a:lnTo>
                      <a:pt x="86" y="0"/>
                    </a:lnTo>
                    <a:lnTo>
                      <a:pt x="95" y="0"/>
                    </a:lnTo>
                    <a:lnTo>
                      <a:pt x="103" y="1"/>
                    </a:lnTo>
                    <a:lnTo>
                      <a:pt x="111" y="2"/>
                    </a:lnTo>
                    <a:lnTo>
                      <a:pt x="119" y="5"/>
                    </a:lnTo>
                  </a:path>
                </a:pathLst>
              </a:custGeom>
              <a:gradFill rotWithShape="0">
                <a:gsLst>
                  <a:gs pos="0">
                    <a:schemeClr val="folHlink">
                      <a:gamma/>
                      <a:tint val="43922"/>
                      <a:invGamma/>
                    </a:schemeClr>
                  </a:gs>
                  <a:gs pos="100000">
                    <a:schemeClr val="folHlink"/>
                  </a:gs>
                </a:gsLst>
                <a:lin ang="2700000" scaled="1"/>
              </a:gradFill>
              <a:ln w="1588">
                <a:solidFill>
                  <a:srgbClr val="1F1A17"/>
                </a:solidFill>
                <a:prstDash val="solid"/>
                <a:round/>
                <a:headEnd/>
                <a:tailEnd/>
              </a:ln>
            </p:spPr>
            <p:txBody>
              <a:bodyPr/>
              <a:lstStyle/>
              <a:p>
                <a:pPr>
                  <a:defRPr/>
                </a:pPr>
                <a:endParaRPr lang="en-US"/>
              </a:p>
            </p:txBody>
          </p:sp>
        </p:grpSp>
        <p:grpSp>
          <p:nvGrpSpPr>
            <p:cNvPr id="386161" name="Group 556"/>
            <p:cNvGrpSpPr>
              <a:grpSpLocks noChangeAspect="1"/>
            </p:cNvGrpSpPr>
            <p:nvPr/>
          </p:nvGrpSpPr>
          <p:grpSpPr bwMode="auto">
            <a:xfrm>
              <a:off x="2414" y="1420"/>
              <a:ext cx="235" cy="288"/>
              <a:chOff x="2416" y="955"/>
              <a:chExt cx="459" cy="526"/>
            </a:xfrm>
          </p:grpSpPr>
          <p:grpSp>
            <p:nvGrpSpPr>
              <p:cNvPr id="390530" name="Group 557"/>
              <p:cNvGrpSpPr>
                <a:grpSpLocks noChangeAspect="1"/>
              </p:cNvGrpSpPr>
              <p:nvPr/>
            </p:nvGrpSpPr>
            <p:grpSpPr bwMode="auto">
              <a:xfrm>
                <a:off x="2416" y="955"/>
                <a:ext cx="459" cy="526"/>
                <a:chOff x="2416" y="955"/>
                <a:chExt cx="459" cy="526"/>
              </a:xfrm>
            </p:grpSpPr>
            <p:sp>
              <p:nvSpPr>
                <p:cNvPr id="390552" name="Rectangle 558"/>
                <p:cNvSpPr>
                  <a:spLocks noChangeAspect="1" noChangeArrowheads="1"/>
                </p:cNvSpPr>
                <p:nvPr/>
              </p:nvSpPr>
              <p:spPr bwMode="auto">
                <a:xfrm>
                  <a:off x="2866" y="1381"/>
                  <a:ext cx="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53" name="Rectangle 559"/>
                <p:cNvSpPr>
                  <a:spLocks noChangeAspect="1" noChangeArrowheads="1"/>
                </p:cNvSpPr>
                <p:nvPr/>
              </p:nvSpPr>
              <p:spPr bwMode="auto">
                <a:xfrm>
                  <a:off x="2857"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54" name="Rectangle 560"/>
                <p:cNvSpPr>
                  <a:spLocks noChangeAspect="1" noChangeArrowheads="1"/>
                </p:cNvSpPr>
                <p:nvPr/>
              </p:nvSpPr>
              <p:spPr bwMode="auto">
                <a:xfrm>
                  <a:off x="2848"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55" name="Rectangle 561"/>
                <p:cNvSpPr>
                  <a:spLocks noChangeAspect="1" noChangeArrowheads="1"/>
                </p:cNvSpPr>
                <p:nvPr/>
              </p:nvSpPr>
              <p:spPr bwMode="auto">
                <a:xfrm>
                  <a:off x="2839"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56" name="Rectangle 562"/>
                <p:cNvSpPr>
                  <a:spLocks noChangeAspect="1" noChangeArrowheads="1"/>
                </p:cNvSpPr>
                <p:nvPr/>
              </p:nvSpPr>
              <p:spPr bwMode="auto">
                <a:xfrm>
                  <a:off x="2829" y="1381"/>
                  <a:ext cx="1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57" name="Rectangle 563"/>
                <p:cNvSpPr>
                  <a:spLocks noChangeAspect="1" noChangeArrowheads="1"/>
                </p:cNvSpPr>
                <p:nvPr/>
              </p:nvSpPr>
              <p:spPr bwMode="auto">
                <a:xfrm>
                  <a:off x="2820" y="1381"/>
                  <a:ext cx="1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58" name="Rectangle 564"/>
                <p:cNvSpPr>
                  <a:spLocks noChangeAspect="1" noChangeArrowheads="1"/>
                </p:cNvSpPr>
                <p:nvPr/>
              </p:nvSpPr>
              <p:spPr bwMode="auto">
                <a:xfrm>
                  <a:off x="2811"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59" name="Rectangle 565"/>
                <p:cNvSpPr>
                  <a:spLocks noChangeAspect="1" noChangeArrowheads="1"/>
                </p:cNvSpPr>
                <p:nvPr/>
              </p:nvSpPr>
              <p:spPr bwMode="auto">
                <a:xfrm>
                  <a:off x="2802"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60" name="Rectangle 566"/>
                <p:cNvSpPr>
                  <a:spLocks noChangeAspect="1" noChangeArrowheads="1"/>
                </p:cNvSpPr>
                <p:nvPr/>
              </p:nvSpPr>
              <p:spPr bwMode="auto">
                <a:xfrm>
                  <a:off x="2793"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61" name="Rectangle 567"/>
                <p:cNvSpPr>
                  <a:spLocks noChangeAspect="1" noChangeArrowheads="1"/>
                </p:cNvSpPr>
                <p:nvPr/>
              </p:nvSpPr>
              <p:spPr bwMode="auto">
                <a:xfrm>
                  <a:off x="2784"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62" name="Rectangle 568"/>
                <p:cNvSpPr>
                  <a:spLocks noChangeAspect="1" noChangeArrowheads="1"/>
                </p:cNvSpPr>
                <p:nvPr/>
              </p:nvSpPr>
              <p:spPr bwMode="auto">
                <a:xfrm>
                  <a:off x="2774" y="1381"/>
                  <a:ext cx="1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63" name="Rectangle 569"/>
                <p:cNvSpPr>
                  <a:spLocks noChangeAspect="1" noChangeArrowheads="1"/>
                </p:cNvSpPr>
                <p:nvPr/>
              </p:nvSpPr>
              <p:spPr bwMode="auto">
                <a:xfrm>
                  <a:off x="2765" y="1381"/>
                  <a:ext cx="1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64" name="Rectangle 570"/>
                <p:cNvSpPr>
                  <a:spLocks noChangeAspect="1" noChangeArrowheads="1"/>
                </p:cNvSpPr>
                <p:nvPr/>
              </p:nvSpPr>
              <p:spPr bwMode="auto">
                <a:xfrm>
                  <a:off x="2756"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65" name="Rectangle 571"/>
                <p:cNvSpPr>
                  <a:spLocks noChangeAspect="1" noChangeArrowheads="1"/>
                </p:cNvSpPr>
                <p:nvPr/>
              </p:nvSpPr>
              <p:spPr bwMode="auto">
                <a:xfrm>
                  <a:off x="2747"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66" name="Rectangle 572"/>
                <p:cNvSpPr>
                  <a:spLocks noChangeAspect="1" noChangeArrowheads="1"/>
                </p:cNvSpPr>
                <p:nvPr/>
              </p:nvSpPr>
              <p:spPr bwMode="auto">
                <a:xfrm>
                  <a:off x="2737" y="1381"/>
                  <a:ext cx="1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67" name="Rectangle 573"/>
                <p:cNvSpPr>
                  <a:spLocks noChangeAspect="1" noChangeArrowheads="1"/>
                </p:cNvSpPr>
                <p:nvPr/>
              </p:nvSpPr>
              <p:spPr bwMode="auto">
                <a:xfrm>
                  <a:off x="2728" y="1381"/>
                  <a:ext cx="1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68" name="Rectangle 574"/>
                <p:cNvSpPr>
                  <a:spLocks noChangeAspect="1" noChangeArrowheads="1"/>
                </p:cNvSpPr>
                <p:nvPr/>
              </p:nvSpPr>
              <p:spPr bwMode="auto">
                <a:xfrm>
                  <a:off x="2719"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69" name="Rectangle 575"/>
                <p:cNvSpPr>
                  <a:spLocks noChangeAspect="1" noChangeArrowheads="1"/>
                </p:cNvSpPr>
                <p:nvPr/>
              </p:nvSpPr>
              <p:spPr bwMode="auto">
                <a:xfrm>
                  <a:off x="2710"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70" name="Rectangle 576"/>
                <p:cNvSpPr>
                  <a:spLocks noChangeAspect="1" noChangeArrowheads="1"/>
                </p:cNvSpPr>
                <p:nvPr/>
              </p:nvSpPr>
              <p:spPr bwMode="auto">
                <a:xfrm>
                  <a:off x="2701"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71" name="Rectangle 577"/>
                <p:cNvSpPr>
                  <a:spLocks noChangeAspect="1" noChangeArrowheads="1"/>
                </p:cNvSpPr>
                <p:nvPr/>
              </p:nvSpPr>
              <p:spPr bwMode="auto">
                <a:xfrm>
                  <a:off x="2692"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72" name="Rectangle 578"/>
                <p:cNvSpPr>
                  <a:spLocks noChangeAspect="1" noChangeArrowheads="1"/>
                </p:cNvSpPr>
                <p:nvPr/>
              </p:nvSpPr>
              <p:spPr bwMode="auto">
                <a:xfrm>
                  <a:off x="2682" y="1381"/>
                  <a:ext cx="1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73" name="Rectangle 579"/>
                <p:cNvSpPr>
                  <a:spLocks noChangeAspect="1" noChangeArrowheads="1"/>
                </p:cNvSpPr>
                <p:nvPr/>
              </p:nvSpPr>
              <p:spPr bwMode="auto">
                <a:xfrm>
                  <a:off x="2673" y="1381"/>
                  <a:ext cx="1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74" name="Rectangle 580"/>
                <p:cNvSpPr>
                  <a:spLocks noChangeAspect="1" noChangeArrowheads="1"/>
                </p:cNvSpPr>
                <p:nvPr/>
              </p:nvSpPr>
              <p:spPr bwMode="auto">
                <a:xfrm>
                  <a:off x="2664"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75" name="Rectangle 581"/>
                <p:cNvSpPr>
                  <a:spLocks noChangeAspect="1" noChangeArrowheads="1"/>
                </p:cNvSpPr>
                <p:nvPr/>
              </p:nvSpPr>
              <p:spPr bwMode="auto">
                <a:xfrm>
                  <a:off x="2655"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76" name="Rectangle 582"/>
                <p:cNvSpPr>
                  <a:spLocks noChangeAspect="1" noChangeArrowheads="1"/>
                </p:cNvSpPr>
                <p:nvPr/>
              </p:nvSpPr>
              <p:spPr bwMode="auto">
                <a:xfrm>
                  <a:off x="2646"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77" name="Rectangle 583"/>
                <p:cNvSpPr>
                  <a:spLocks noChangeAspect="1" noChangeArrowheads="1"/>
                </p:cNvSpPr>
                <p:nvPr/>
              </p:nvSpPr>
              <p:spPr bwMode="auto">
                <a:xfrm>
                  <a:off x="2637"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78" name="Rectangle 584"/>
                <p:cNvSpPr>
                  <a:spLocks noChangeAspect="1" noChangeArrowheads="1"/>
                </p:cNvSpPr>
                <p:nvPr/>
              </p:nvSpPr>
              <p:spPr bwMode="auto">
                <a:xfrm>
                  <a:off x="2627" y="1381"/>
                  <a:ext cx="1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79" name="Rectangle 585"/>
                <p:cNvSpPr>
                  <a:spLocks noChangeAspect="1" noChangeArrowheads="1"/>
                </p:cNvSpPr>
                <p:nvPr/>
              </p:nvSpPr>
              <p:spPr bwMode="auto">
                <a:xfrm>
                  <a:off x="2618" y="1381"/>
                  <a:ext cx="1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80" name="Rectangle 586"/>
                <p:cNvSpPr>
                  <a:spLocks noChangeAspect="1" noChangeArrowheads="1"/>
                </p:cNvSpPr>
                <p:nvPr/>
              </p:nvSpPr>
              <p:spPr bwMode="auto">
                <a:xfrm>
                  <a:off x="2609"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81" name="Rectangle 587"/>
                <p:cNvSpPr>
                  <a:spLocks noChangeAspect="1" noChangeArrowheads="1"/>
                </p:cNvSpPr>
                <p:nvPr/>
              </p:nvSpPr>
              <p:spPr bwMode="auto">
                <a:xfrm>
                  <a:off x="2600"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82" name="Rectangle 588"/>
                <p:cNvSpPr>
                  <a:spLocks noChangeAspect="1" noChangeArrowheads="1"/>
                </p:cNvSpPr>
                <p:nvPr/>
              </p:nvSpPr>
              <p:spPr bwMode="auto">
                <a:xfrm>
                  <a:off x="2591"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83" name="Rectangle 589"/>
                <p:cNvSpPr>
                  <a:spLocks noChangeAspect="1" noChangeArrowheads="1"/>
                </p:cNvSpPr>
                <p:nvPr/>
              </p:nvSpPr>
              <p:spPr bwMode="auto">
                <a:xfrm>
                  <a:off x="2581" y="1381"/>
                  <a:ext cx="1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84" name="Rectangle 590"/>
                <p:cNvSpPr>
                  <a:spLocks noChangeAspect="1" noChangeArrowheads="1"/>
                </p:cNvSpPr>
                <p:nvPr/>
              </p:nvSpPr>
              <p:spPr bwMode="auto">
                <a:xfrm>
                  <a:off x="2572" y="1381"/>
                  <a:ext cx="1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85" name="Rectangle 591"/>
                <p:cNvSpPr>
                  <a:spLocks noChangeAspect="1" noChangeArrowheads="1"/>
                </p:cNvSpPr>
                <p:nvPr/>
              </p:nvSpPr>
              <p:spPr bwMode="auto">
                <a:xfrm>
                  <a:off x="2563"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86" name="Rectangle 592"/>
                <p:cNvSpPr>
                  <a:spLocks noChangeAspect="1" noChangeArrowheads="1"/>
                </p:cNvSpPr>
                <p:nvPr/>
              </p:nvSpPr>
              <p:spPr bwMode="auto">
                <a:xfrm>
                  <a:off x="2554"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87" name="Rectangle 593"/>
                <p:cNvSpPr>
                  <a:spLocks noChangeAspect="1" noChangeArrowheads="1"/>
                </p:cNvSpPr>
                <p:nvPr/>
              </p:nvSpPr>
              <p:spPr bwMode="auto">
                <a:xfrm>
                  <a:off x="2545"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88" name="Rectangle 594"/>
                <p:cNvSpPr>
                  <a:spLocks noChangeAspect="1" noChangeArrowheads="1"/>
                </p:cNvSpPr>
                <p:nvPr/>
              </p:nvSpPr>
              <p:spPr bwMode="auto">
                <a:xfrm>
                  <a:off x="2536"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89" name="Rectangle 595"/>
                <p:cNvSpPr>
                  <a:spLocks noChangeAspect="1" noChangeArrowheads="1"/>
                </p:cNvSpPr>
                <p:nvPr/>
              </p:nvSpPr>
              <p:spPr bwMode="auto">
                <a:xfrm>
                  <a:off x="2526" y="1381"/>
                  <a:ext cx="1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90" name="Rectangle 596"/>
                <p:cNvSpPr>
                  <a:spLocks noChangeAspect="1" noChangeArrowheads="1"/>
                </p:cNvSpPr>
                <p:nvPr/>
              </p:nvSpPr>
              <p:spPr bwMode="auto">
                <a:xfrm>
                  <a:off x="2517" y="1381"/>
                  <a:ext cx="1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91" name="Rectangle 597"/>
                <p:cNvSpPr>
                  <a:spLocks noChangeAspect="1" noChangeArrowheads="1"/>
                </p:cNvSpPr>
                <p:nvPr/>
              </p:nvSpPr>
              <p:spPr bwMode="auto">
                <a:xfrm>
                  <a:off x="2508"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92" name="Rectangle 598"/>
                <p:cNvSpPr>
                  <a:spLocks noChangeAspect="1" noChangeArrowheads="1"/>
                </p:cNvSpPr>
                <p:nvPr/>
              </p:nvSpPr>
              <p:spPr bwMode="auto">
                <a:xfrm>
                  <a:off x="2499"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93" name="Rectangle 599"/>
                <p:cNvSpPr>
                  <a:spLocks noChangeAspect="1" noChangeArrowheads="1"/>
                </p:cNvSpPr>
                <p:nvPr/>
              </p:nvSpPr>
              <p:spPr bwMode="auto">
                <a:xfrm>
                  <a:off x="2489" y="1381"/>
                  <a:ext cx="1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94" name="Rectangle 600"/>
                <p:cNvSpPr>
                  <a:spLocks noChangeAspect="1" noChangeArrowheads="1"/>
                </p:cNvSpPr>
                <p:nvPr/>
              </p:nvSpPr>
              <p:spPr bwMode="auto">
                <a:xfrm>
                  <a:off x="2481"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95" name="Rectangle 601"/>
                <p:cNvSpPr>
                  <a:spLocks noChangeAspect="1" noChangeArrowheads="1"/>
                </p:cNvSpPr>
                <p:nvPr/>
              </p:nvSpPr>
              <p:spPr bwMode="auto">
                <a:xfrm>
                  <a:off x="2471"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96" name="Rectangle 602"/>
                <p:cNvSpPr>
                  <a:spLocks noChangeAspect="1" noChangeArrowheads="1"/>
                </p:cNvSpPr>
                <p:nvPr/>
              </p:nvSpPr>
              <p:spPr bwMode="auto">
                <a:xfrm>
                  <a:off x="2462" y="1381"/>
                  <a:ext cx="1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97" name="Rectangle 603"/>
                <p:cNvSpPr>
                  <a:spLocks noChangeAspect="1" noChangeArrowheads="1"/>
                </p:cNvSpPr>
                <p:nvPr/>
              </p:nvSpPr>
              <p:spPr bwMode="auto">
                <a:xfrm>
                  <a:off x="2453"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98" name="Rectangle 604"/>
                <p:cNvSpPr>
                  <a:spLocks noChangeAspect="1" noChangeArrowheads="1"/>
                </p:cNvSpPr>
                <p:nvPr/>
              </p:nvSpPr>
              <p:spPr bwMode="auto">
                <a:xfrm>
                  <a:off x="2444"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99" name="Rectangle 605"/>
                <p:cNvSpPr>
                  <a:spLocks noChangeAspect="1" noChangeArrowheads="1"/>
                </p:cNvSpPr>
                <p:nvPr/>
              </p:nvSpPr>
              <p:spPr bwMode="auto">
                <a:xfrm>
                  <a:off x="2434" y="1381"/>
                  <a:ext cx="1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600" name="Rectangle 606"/>
                <p:cNvSpPr>
                  <a:spLocks noChangeAspect="1" noChangeArrowheads="1"/>
                </p:cNvSpPr>
                <p:nvPr/>
              </p:nvSpPr>
              <p:spPr bwMode="auto">
                <a:xfrm>
                  <a:off x="2425" y="1381"/>
                  <a:ext cx="1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601" name="Rectangle 607"/>
                <p:cNvSpPr>
                  <a:spLocks noChangeAspect="1" noChangeArrowheads="1"/>
                </p:cNvSpPr>
                <p:nvPr/>
              </p:nvSpPr>
              <p:spPr bwMode="auto">
                <a:xfrm>
                  <a:off x="2416" y="1381"/>
                  <a:ext cx="18"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602" name="Rectangle 608"/>
                <p:cNvSpPr>
                  <a:spLocks noChangeAspect="1" noChangeArrowheads="1"/>
                </p:cNvSpPr>
                <p:nvPr/>
              </p:nvSpPr>
              <p:spPr bwMode="auto">
                <a:xfrm>
                  <a:off x="2416" y="1381"/>
                  <a:ext cx="9" cy="48"/>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603" name="Rectangle 609"/>
                <p:cNvSpPr>
                  <a:spLocks noChangeAspect="1" noChangeArrowheads="1"/>
                </p:cNvSpPr>
                <p:nvPr/>
              </p:nvSpPr>
              <p:spPr bwMode="auto">
                <a:xfrm>
                  <a:off x="2416" y="1381"/>
                  <a:ext cx="459" cy="48"/>
                </a:xfrm>
                <a:prstGeom prst="rect">
                  <a:avLst/>
                </a:prstGeom>
                <a:gradFill rotWithShape="0">
                  <a:gsLst>
                    <a:gs pos="0">
                      <a:srgbClr val="525252"/>
                    </a:gs>
                    <a:gs pos="50000">
                      <a:srgbClr val="B2B2B2"/>
                    </a:gs>
                    <a:gs pos="100000">
                      <a:srgbClr val="525252"/>
                    </a:gs>
                  </a:gsLst>
                  <a:lin ang="2700000" scaled="1"/>
                </a:gradFill>
                <a:ln w="1588">
                  <a:solidFill>
                    <a:srgbClr val="1F1A17"/>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604" name="Freeform 610"/>
                <p:cNvSpPr>
                  <a:spLocks noChangeAspect="1"/>
                </p:cNvSpPr>
                <p:nvPr/>
              </p:nvSpPr>
              <p:spPr bwMode="auto">
                <a:xfrm>
                  <a:off x="2451" y="955"/>
                  <a:ext cx="12" cy="12"/>
                </a:xfrm>
                <a:custGeom>
                  <a:avLst/>
                  <a:gdLst>
                    <a:gd name="T0" fmla="*/ 0 w 37"/>
                    <a:gd name="T1" fmla="*/ 0 h 37"/>
                    <a:gd name="T2" fmla="*/ 0 w 37"/>
                    <a:gd name="T3" fmla="*/ 0 h 37"/>
                    <a:gd name="T4" fmla="*/ 0 w 37"/>
                    <a:gd name="T5" fmla="*/ 0 h 37"/>
                    <a:gd name="T6" fmla="*/ 0 w 37"/>
                    <a:gd name="T7" fmla="*/ 0 h 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 h="37">
                      <a:moveTo>
                        <a:pt x="37" y="0"/>
                      </a:moveTo>
                      <a:lnTo>
                        <a:pt x="0" y="37"/>
                      </a:lnTo>
                      <a:lnTo>
                        <a:pt x="0" y="0"/>
                      </a:lnTo>
                      <a:lnTo>
                        <a:pt x="37" y="0"/>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05" name="Freeform 611"/>
                <p:cNvSpPr>
                  <a:spLocks noChangeAspect="1"/>
                </p:cNvSpPr>
                <p:nvPr/>
              </p:nvSpPr>
              <p:spPr bwMode="auto">
                <a:xfrm>
                  <a:off x="2451" y="955"/>
                  <a:ext cx="24" cy="25"/>
                </a:xfrm>
                <a:custGeom>
                  <a:avLst/>
                  <a:gdLst>
                    <a:gd name="T0" fmla="*/ 0 w 74"/>
                    <a:gd name="T1" fmla="*/ 0 h 75"/>
                    <a:gd name="T2" fmla="*/ 0 w 74"/>
                    <a:gd name="T3" fmla="*/ 0 h 75"/>
                    <a:gd name="T4" fmla="*/ 0 w 74"/>
                    <a:gd name="T5" fmla="*/ 0 h 75"/>
                    <a:gd name="T6" fmla="*/ 0 w 74"/>
                    <a:gd name="T7" fmla="*/ 0 h 7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4" h="75">
                      <a:moveTo>
                        <a:pt x="74" y="0"/>
                      </a:moveTo>
                      <a:lnTo>
                        <a:pt x="0" y="75"/>
                      </a:lnTo>
                      <a:lnTo>
                        <a:pt x="0" y="0"/>
                      </a:lnTo>
                      <a:lnTo>
                        <a:pt x="74" y="0"/>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06" name="Freeform 612"/>
                <p:cNvSpPr>
                  <a:spLocks noChangeAspect="1"/>
                </p:cNvSpPr>
                <p:nvPr/>
              </p:nvSpPr>
              <p:spPr bwMode="auto">
                <a:xfrm>
                  <a:off x="2451" y="955"/>
                  <a:ext cx="37" cy="37"/>
                </a:xfrm>
                <a:custGeom>
                  <a:avLst/>
                  <a:gdLst>
                    <a:gd name="T0" fmla="*/ 0 w 111"/>
                    <a:gd name="T1" fmla="*/ 0 h 112"/>
                    <a:gd name="T2" fmla="*/ 0 w 111"/>
                    <a:gd name="T3" fmla="*/ 0 h 112"/>
                    <a:gd name="T4" fmla="*/ 0 w 111"/>
                    <a:gd name="T5" fmla="*/ 0 h 112"/>
                    <a:gd name="T6" fmla="*/ 0 w 111"/>
                    <a:gd name="T7" fmla="*/ 0 h 112"/>
                    <a:gd name="T8" fmla="*/ 0 w 111"/>
                    <a:gd name="T9" fmla="*/ 0 h 1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1" h="112">
                      <a:moveTo>
                        <a:pt x="0" y="37"/>
                      </a:moveTo>
                      <a:lnTo>
                        <a:pt x="37" y="0"/>
                      </a:lnTo>
                      <a:lnTo>
                        <a:pt x="111" y="0"/>
                      </a:lnTo>
                      <a:lnTo>
                        <a:pt x="0" y="112"/>
                      </a:lnTo>
                      <a:lnTo>
                        <a:pt x="0" y="37"/>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07" name="Freeform 613"/>
                <p:cNvSpPr>
                  <a:spLocks noChangeAspect="1"/>
                </p:cNvSpPr>
                <p:nvPr/>
              </p:nvSpPr>
              <p:spPr bwMode="auto">
                <a:xfrm>
                  <a:off x="2451" y="955"/>
                  <a:ext cx="49" cy="49"/>
                </a:xfrm>
                <a:custGeom>
                  <a:avLst/>
                  <a:gdLst>
                    <a:gd name="T0" fmla="*/ 0 w 148"/>
                    <a:gd name="T1" fmla="*/ 0 h 148"/>
                    <a:gd name="T2" fmla="*/ 0 w 148"/>
                    <a:gd name="T3" fmla="*/ 0 h 148"/>
                    <a:gd name="T4" fmla="*/ 0 w 148"/>
                    <a:gd name="T5" fmla="*/ 0 h 148"/>
                    <a:gd name="T6" fmla="*/ 0 w 148"/>
                    <a:gd name="T7" fmla="*/ 0 h 148"/>
                    <a:gd name="T8" fmla="*/ 0 w 148"/>
                    <a:gd name="T9" fmla="*/ 0 h 1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8" h="148">
                      <a:moveTo>
                        <a:pt x="0" y="75"/>
                      </a:moveTo>
                      <a:lnTo>
                        <a:pt x="74" y="0"/>
                      </a:lnTo>
                      <a:lnTo>
                        <a:pt x="148" y="0"/>
                      </a:lnTo>
                      <a:lnTo>
                        <a:pt x="0" y="148"/>
                      </a:lnTo>
                      <a:lnTo>
                        <a:pt x="0" y="75"/>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08" name="Freeform 614"/>
                <p:cNvSpPr>
                  <a:spLocks noChangeAspect="1"/>
                </p:cNvSpPr>
                <p:nvPr/>
              </p:nvSpPr>
              <p:spPr bwMode="auto">
                <a:xfrm>
                  <a:off x="2451" y="955"/>
                  <a:ext cx="61" cy="62"/>
                </a:xfrm>
                <a:custGeom>
                  <a:avLst/>
                  <a:gdLst>
                    <a:gd name="T0" fmla="*/ 0 w 184"/>
                    <a:gd name="T1" fmla="*/ 0 h 185"/>
                    <a:gd name="T2" fmla="*/ 0 w 184"/>
                    <a:gd name="T3" fmla="*/ 0 h 185"/>
                    <a:gd name="T4" fmla="*/ 0 w 184"/>
                    <a:gd name="T5" fmla="*/ 0 h 185"/>
                    <a:gd name="T6" fmla="*/ 0 w 184"/>
                    <a:gd name="T7" fmla="*/ 0 h 185"/>
                    <a:gd name="T8" fmla="*/ 0 w 184"/>
                    <a:gd name="T9" fmla="*/ 0 h 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5">
                      <a:moveTo>
                        <a:pt x="0" y="112"/>
                      </a:moveTo>
                      <a:lnTo>
                        <a:pt x="111" y="0"/>
                      </a:lnTo>
                      <a:lnTo>
                        <a:pt x="184" y="0"/>
                      </a:lnTo>
                      <a:lnTo>
                        <a:pt x="0" y="185"/>
                      </a:lnTo>
                      <a:lnTo>
                        <a:pt x="0" y="112"/>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09" name="Freeform 615"/>
                <p:cNvSpPr>
                  <a:spLocks noChangeAspect="1"/>
                </p:cNvSpPr>
                <p:nvPr/>
              </p:nvSpPr>
              <p:spPr bwMode="auto">
                <a:xfrm>
                  <a:off x="2451" y="955"/>
                  <a:ext cx="74" cy="74"/>
                </a:xfrm>
                <a:custGeom>
                  <a:avLst/>
                  <a:gdLst>
                    <a:gd name="T0" fmla="*/ 0 w 222"/>
                    <a:gd name="T1" fmla="*/ 0 h 222"/>
                    <a:gd name="T2" fmla="*/ 0 w 222"/>
                    <a:gd name="T3" fmla="*/ 0 h 222"/>
                    <a:gd name="T4" fmla="*/ 0 w 222"/>
                    <a:gd name="T5" fmla="*/ 0 h 222"/>
                    <a:gd name="T6" fmla="*/ 0 w 222"/>
                    <a:gd name="T7" fmla="*/ 0 h 222"/>
                    <a:gd name="T8" fmla="*/ 0 w 222"/>
                    <a:gd name="T9" fmla="*/ 0 h 2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2" h="222">
                      <a:moveTo>
                        <a:pt x="0" y="148"/>
                      </a:moveTo>
                      <a:lnTo>
                        <a:pt x="148" y="0"/>
                      </a:lnTo>
                      <a:lnTo>
                        <a:pt x="222" y="0"/>
                      </a:lnTo>
                      <a:lnTo>
                        <a:pt x="0" y="222"/>
                      </a:lnTo>
                      <a:lnTo>
                        <a:pt x="0" y="14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10" name="Freeform 616"/>
                <p:cNvSpPr>
                  <a:spLocks noChangeAspect="1"/>
                </p:cNvSpPr>
                <p:nvPr/>
              </p:nvSpPr>
              <p:spPr bwMode="auto">
                <a:xfrm>
                  <a:off x="2451" y="955"/>
                  <a:ext cx="86" cy="87"/>
                </a:xfrm>
                <a:custGeom>
                  <a:avLst/>
                  <a:gdLst>
                    <a:gd name="T0" fmla="*/ 0 w 259"/>
                    <a:gd name="T1" fmla="*/ 0 h 260"/>
                    <a:gd name="T2" fmla="*/ 0 w 259"/>
                    <a:gd name="T3" fmla="*/ 0 h 260"/>
                    <a:gd name="T4" fmla="*/ 0 w 259"/>
                    <a:gd name="T5" fmla="*/ 0 h 260"/>
                    <a:gd name="T6" fmla="*/ 0 w 259"/>
                    <a:gd name="T7" fmla="*/ 0 h 260"/>
                    <a:gd name="T8" fmla="*/ 0 w 259"/>
                    <a:gd name="T9" fmla="*/ 0 h 2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9" h="260">
                      <a:moveTo>
                        <a:pt x="0" y="185"/>
                      </a:moveTo>
                      <a:lnTo>
                        <a:pt x="184" y="0"/>
                      </a:lnTo>
                      <a:lnTo>
                        <a:pt x="259" y="0"/>
                      </a:lnTo>
                      <a:lnTo>
                        <a:pt x="0" y="260"/>
                      </a:lnTo>
                      <a:lnTo>
                        <a:pt x="0" y="185"/>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11" name="Freeform 617"/>
                <p:cNvSpPr>
                  <a:spLocks noChangeAspect="1"/>
                </p:cNvSpPr>
                <p:nvPr/>
              </p:nvSpPr>
              <p:spPr bwMode="auto">
                <a:xfrm>
                  <a:off x="2451" y="955"/>
                  <a:ext cx="98" cy="99"/>
                </a:xfrm>
                <a:custGeom>
                  <a:avLst/>
                  <a:gdLst>
                    <a:gd name="T0" fmla="*/ 0 w 296"/>
                    <a:gd name="T1" fmla="*/ 0 h 296"/>
                    <a:gd name="T2" fmla="*/ 0 w 296"/>
                    <a:gd name="T3" fmla="*/ 0 h 296"/>
                    <a:gd name="T4" fmla="*/ 0 w 296"/>
                    <a:gd name="T5" fmla="*/ 0 h 296"/>
                    <a:gd name="T6" fmla="*/ 0 w 296"/>
                    <a:gd name="T7" fmla="*/ 0 h 296"/>
                    <a:gd name="T8" fmla="*/ 0 w 296"/>
                    <a:gd name="T9" fmla="*/ 0 h 2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96">
                      <a:moveTo>
                        <a:pt x="0" y="222"/>
                      </a:moveTo>
                      <a:lnTo>
                        <a:pt x="222" y="0"/>
                      </a:lnTo>
                      <a:lnTo>
                        <a:pt x="296" y="0"/>
                      </a:lnTo>
                      <a:lnTo>
                        <a:pt x="0" y="296"/>
                      </a:lnTo>
                      <a:lnTo>
                        <a:pt x="0" y="222"/>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12" name="Freeform 618"/>
                <p:cNvSpPr>
                  <a:spLocks noChangeAspect="1"/>
                </p:cNvSpPr>
                <p:nvPr/>
              </p:nvSpPr>
              <p:spPr bwMode="auto">
                <a:xfrm>
                  <a:off x="2451" y="955"/>
                  <a:ext cx="110" cy="111"/>
                </a:xfrm>
                <a:custGeom>
                  <a:avLst/>
                  <a:gdLst>
                    <a:gd name="T0" fmla="*/ 0 w 332"/>
                    <a:gd name="T1" fmla="*/ 0 h 333"/>
                    <a:gd name="T2" fmla="*/ 0 w 332"/>
                    <a:gd name="T3" fmla="*/ 0 h 333"/>
                    <a:gd name="T4" fmla="*/ 0 w 332"/>
                    <a:gd name="T5" fmla="*/ 0 h 333"/>
                    <a:gd name="T6" fmla="*/ 0 w 332"/>
                    <a:gd name="T7" fmla="*/ 0 h 333"/>
                    <a:gd name="T8" fmla="*/ 0 w 332"/>
                    <a:gd name="T9" fmla="*/ 0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2" h="333">
                      <a:moveTo>
                        <a:pt x="0" y="260"/>
                      </a:moveTo>
                      <a:lnTo>
                        <a:pt x="259" y="0"/>
                      </a:lnTo>
                      <a:lnTo>
                        <a:pt x="332" y="0"/>
                      </a:lnTo>
                      <a:lnTo>
                        <a:pt x="0" y="333"/>
                      </a:lnTo>
                      <a:lnTo>
                        <a:pt x="0" y="260"/>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13" name="Freeform 619"/>
                <p:cNvSpPr>
                  <a:spLocks noChangeAspect="1"/>
                </p:cNvSpPr>
                <p:nvPr/>
              </p:nvSpPr>
              <p:spPr bwMode="auto">
                <a:xfrm>
                  <a:off x="2451" y="955"/>
                  <a:ext cx="123" cy="123"/>
                </a:xfrm>
                <a:custGeom>
                  <a:avLst/>
                  <a:gdLst>
                    <a:gd name="T0" fmla="*/ 0 w 370"/>
                    <a:gd name="T1" fmla="*/ 0 h 370"/>
                    <a:gd name="T2" fmla="*/ 0 w 370"/>
                    <a:gd name="T3" fmla="*/ 0 h 370"/>
                    <a:gd name="T4" fmla="*/ 0 w 370"/>
                    <a:gd name="T5" fmla="*/ 0 h 370"/>
                    <a:gd name="T6" fmla="*/ 0 w 370"/>
                    <a:gd name="T7" fmla="*/ 0 h 370"/>
                    <a:gd name="T8" fmla="*/ 0 w 370"/>
                    <a:gd name="T9" fmla="*/ 0 h 3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0" h="370">
                      <a:moveTo>
                        <a:pt x="0" y="296"/>
                      </a:moveTo>
                      <a:lnTo>
                        <a:pt x="296" y="0"/>
                      </a:lnTo>
                      <a:lnTo>
                        <a:pt x="370" y="0"/>
                      </a:lnTo>
                      <a:lnTo>
                        <a:pt x="0" y="370"/>
                      </a:lnTo>
                      <a:lnTo>
                        <a:pt x="0" y="296"/>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14" name="Freeform 620"/>
                <p:cNvSpPr>
                  <a:spLocks noChangeAspect="1"/>
                </p:cNvSpPr>
                <p:nvPr/>
              </p:nvSpPr>
              <p:spPr bwMode="auto">
                <a:xfrm>
                  <a:off x="2451" y="955"/>
                  <a:ext cx="135" cy="136"/>
                </a:xfrm>
                <a:custGeom>
                  <a:avLst/>
                  <a:gdLst>
                    <a:gd name="T0" fmla="*/ 0 w 407"/>
                    <a:gd name="T1" fmla="*/ 0 h 407"/>
                    <a:gd name="T2" fmla="*/ 0 w 407"/>
                    <a:gd name="T3" fmla="*/ 0 h 407"/>
                    <a:gd name="T4" fmla="*/ 0 w 407"/>
                    <a:gd name="T5" fmla="*/ 0 h 407"/>
                    <a:gd name="T6" fmla="*/ 0 w 407"/>
                    <a:gd name="T7" fmla="*/ 0 h 407"/>
                    <a:gd name="T8" fmla="*/ 0 w 407"/>
                    <a:gd name="T9" fmla="*/ 0 h 4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7" h="407">
                      <a:moveTo>
                        <a:pt x="0" y="333"/>
                      </a:moveTo>
                      <a:lnTo>
                        <a:pt x="332" y="0"/>
                      </a:lnTo>
                      <a:lnTo>
                        <a:pt x="407" y="0"/>
                      </a:lnTo>
                      <a:lnTo>
                        <a:pt x="0" y="407"/>
                      </a:lnTo>
                      <a:lnTo>
                        <a:pt x="0" y="333"/>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15" name="Freeform 621"/>
                <p:cNvSpPr>
                  <a:spLocks noChangeAspect="1"/>
                </p:cNvSpPr>
                <p:nvPr/>
              </p:nvSpPr>
              <p:spPr bwMode="auto">
                <a:xfrm>
                  <a:off x="2451" y="955"/>
                  <a:ext cx="148" cy="148"/>
                </a:xfrm>
                <a:custGeom>
                  <a:avLst/>
                  <a:gdLst>
                    <a:gd name="T0" fmla="*/ 0 w 444"/>
                    <a:gd name="T1" fmla="*/ 0 h 444"/>
                    <a:gd name="T2" fmla="*/ 0 w 444"/>
                    <a:gd name="T3" fmla="*/ 0 h 444"/>
                    <a:gd name="T4" fmla="*/ 0 w 444"/>
                    <a:gd name="T5" fmla="*/ 0 h 444"/>
                    <a:gd name="T6" fmla="*/ 0 w 444"/>
                    <a:gd name="T7" fmla="*/ 0 h 444"/>
                    <a:gd name="T8" fmla="*/ 0 w 444"/>
                    <a:gd name="T9" fmla="*/ 0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4" h="444">
                      <a:moveTo>
                        <a:pt x="0" y="370"/>
                      </a:moveTo>
                      <a:lnTo>
                        <a:pt x="370" y="0"/>
                      </a:lnTo>
                      <a:lnTo>
                        <a:pt x="444" y="0"/>
                      </a:lnTo>
                      <a:lnTo>
                        <a:pt x="0" y="444"/>
                      </a:lnTo>
                      <a:lnTo>
                        <a:pt x="0" y="370"/>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16" name="Freeform 622"/>
                <p:cNvSpPr>
                  <a:spLocks noChangeAspect="1"/>
                </p:cNvSpPr>
                <p:nvPr/>
              </p:nvSpPr>
              <p:spPr bwMode="auto">
                <a:xfrm>
                  <a:off x="2451" y="955"/>
                  <a:ext cx="160" cy="160"/>
                </a:xfrm>
                <a:custGeom>
                  <a:avLst/>
                  <a:gdLst>
                    <a:gd name="T0" fmla="*/ 0 w 480"/>
                    <a:gd name="T1" fmla="*/ 0 h 481"/>
                    <a:gd name="T2" fmla="*/ 0 w 480"/>
                    <a:gd name="T3" fmla="*/ 0 h 481"/>
                    <a:gd name="T4" fmla="*/ 0 w 480"/>
                    <a:gd name="T5" fmla="*/ 0 h 481"/>
                    <a:gd name="T6" fmla="*/ 0 w 480"/>
                    <a:gd name="T7" fmla="*/ 0 h 481"/>
                    <a:gd name="T8" fmla="*/ 0 w 480"/>
                    <a:gd name="T9" fmla="*/ 0 h 4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0" h="481">
                      <a:moveTo>
                        <a:pt x="0" y="407"/>
                      </a:moveTo>
                      <a:lnTo>
                        <a:pt x="407" y="0"/>
                      </a:lnTo>
                      <a:lnTo>
                        <a:pt x="480" y="0"/>
                      </a:lnTo>
                      <a:lnTo>
                        <a:pt x="0" y="481"/>
                      </a:lnTo>
                      <a:lnTo>
                        <a:pt x="0" y="407"/>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17" name="Freeform 623"/>
                <p:cNvSpPr>
                  <a:spLocks noChangeAspect="1"/>
                </p:cNvSpPr>
                <p:nvPr/>
              </p:nvSpPr>
              <p:spPr bwMode="auto">
                <a:xfrm>
                  <a:off x="2451" y="955"/>
                  <a:ext cx="172" cy="173"/>
                </a:xfrm>
                <a:custGeom>
                  <a:avLst/>
                  <a:gdLst>
                    <a:gd name="T0" fmla="*/ 0 w 518"/>
                    <a:gd name="T1" fmla="*/ 0 h 518"/>
                    <a:gd name="T2" fmla="*/ 0 w 518"/>
                    <a:gd name="T3" fmla="*/ 0 h 518"/>
                    <a:gd name="T4" fmla="*/ 0 w 518"/>
                    <a:gd name="T5" fmla="*/ 0 h 518"/>
                    <a:gd name="T6" fmla="*/ 0 w 518"/>
                    <a:gd name="T7" fmla="*/ 0 h 518"/>
                    <a:gd name="T8" fmla="*/ 0 w 518"/>
                    <a:gd name="T9" fmla="*/ 0 h 5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8" h="518">
                      <a:moveTo>
                        <a:pt x="0" y="444"/>
                      </a:moveTo>
                      <a:lnTo>
                        <a:pt x="444" y="0"/>
                      </a:lnTo>
                      <a:lnTo>
                        <a:pt x="518" y="0"/>
                      </a:lnTo>
                      <a:lnTo>
                        <a:pt x="0" y="518"/>
                      </a:lnTo>
                      <a:lnTo>
                        <a:pt x="0" y="444"/>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18" name="Freeform 624"/>
                <p:cNvSpPr>
                  <a:spLocks noChangeAspect="1"/>
                </p:cNvSpPr>
                <p:nvPr/>
              </p:nvSpPr>
              <p:spPr bwMode="auto">
                <a:xfrm>
                  <a:off x="2451" y="955"/>
                  <a:ext cx="185" cy="185"/>
                </a:xfrm>
                <a:custGeom>
                  <a:avLst/>
                  <a:gdLst>
                    <a:gd name="T0" fmla="*/ 0 w 555"/>
                    <a:gd name="T1" fmla="*/ 0 h 555"/>
                    <a:gd name="T2" fmla="*/ 0 w 555"/>
                    <a:gd name="T3" fmla="*/ 0 h 555"/>
                    <a:gd name="T4" fmla="*/ 0 w 555"/>
                    <a:gd name="T5" fmla="*/ 0 h 555"/>
                    <a:gd name="T6" fmla="*/ 0 w 555"/>
                    <a:gd name="T7" fmla="*/ 0 h 555"/>
                    <a:gd name="T8" fmla="*/ 0 w 555"/>
                    <a:gd name="T9" fmla="*/ 0 h 5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55" h="555">
                      <a:moveTo>
                        <a:pt x="0" y="481"/>
                      </a:moveTo>
                      <a:lnTo>
                        <a:pt x="480" y="0"/>
                      </a:lnTo>
                      <a:lnTo>
                        <a:pt x="555" y="0"/>
                      </a:lnTo>
                      <a:lnTo>
                        <a:pt x="0" y="555"/>
                      </a:lnTo>
                      <a:lnTo>
                        <a:pt x="0" y="481"/>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19" name="Freeform 625"/>
                <p:cNvSpPr>
                  <a:spLocks noChangeAspect="1"/>
                </p:cNvSpPr>
                <p:nvPr/>
              </p:nvSpPr>
              <p:spPr bwMode="auto">
                <a:xfrm>
                  <a:off x="2451" y="955"/>
                  <a:ext cx="189" cy="197"/>
                </a:xfrm>
                <a:custGeom>
                  <a:avLst/>
                  <a:gdLst>
                    <a:gd name="T0" fmla="*/ 0 w 569"/>
                    <a:gd name="T1" fmla="*/ 0 h 591"/>
                    <a:gd name="T2" fmla="*/ 0 w 569"/>
                    <a:gd name="T3" fmla="*/ 0 h 591"/>
                    <a:gd name="T4" fmla="*/ 0 w 569"/>
                    <a:gd name="T5" fmla="*/ 0 h 591"/>
                    <a:gd name="T6" fmla="*/ 0 w 569"/>
                    <a:gd name="T7" fmla="*/ 0 h 591"/>
                    <a:gd name="T8" fmla="*/ 0 w 569"/>
                    <a:gd name="T9" fmla="*/ 0 h 591"/>
                    <a:gd name="T10" fmla="*/ 0 w 569"/>
                    <a:gd name="T11" fmla="*/ 0 h 59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69" h="591">
                      <a:moveTo>
                        <a:pt x="0" y="518"/>
                      </a:moveTo>
                      <a:lnTo>
                        <a:pt x="518" y="0"/>
                      </a:lnTo>
                      <a:lnTo>
                        <a:pt x="569" y="0"/>
                      </a:lnTo>
                      <a:lnTo>
                        <a:pt x="569" y="24"/>
                      </a:lnTo>
                      <a:lnTo>
                        <a:pt x="0" y="591"/>
                      </a:lnTo>
                      <a:lnTo>
                        <a:pt x="0" y="51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20" name="Freeform 626"/>
                <p:cNvSpPr>
                  <a:spLocks noChangeAspect="1"/>
                </p:cNvSpPr>
                <p:nvPr/>
              </p:nvSpPr>
              <p:spPr bwMode="auto">
                <a:xfrm>
                  <a:off x="2451" y="955"/>
                  <a:ext cx="189" cy="210"/>
                </a:xfrm>
                <a:custGeom>
                  <a:avLst/>
                  <a:gdLst>
                    <a:gd name="T0" fmla="*/ 0 w 569"/>
                    <a:gd name="T1" fmla="*/ 0 h 629"/>
                    <a:gd name="T2" fmla="*/ 0 w 569"/>
                    <a:gd name="T3" fmla="*/ 0 h 629"/>
                    <a:gd name="T4" fmla="*/ 0 w 569"/>
                    <a:gd name="T5" fmla="*/ 0 h 629"/>
                    <a:gd name="T6" fmla="*/ 0 w 569"/>
                    <a:gd name="T7" fmla="*/ 0 h 629"/>
                    <a:gd name="T8" fmla="*/ 0 w 569"/>
                    <a:gd name="T9" fmla="*/ 0 h 629"/>
                    <a:gd name="T10" fmla="*/ 0 w 569"/>
                    <a:gd name="T11" fmla="*/ 0 h 62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69" h="629">
                      <a:moveTo>
                        <a:pt x="0" y="555"/>
                      </a:moveTo>
                      <a:lnTo>
                        <a:pt x="555" y="0"/>
                      </a:lnTo>
                      <a:lnTo>
                        <a:pt x="569" y="0"/>
                      </a:lnTo>
                      <a:lnTo>
                        <a:pt x="569" y="60"/>
                      </a:lnTo>
                      <a:lnTo>
                        <a:pt x="0" y="629"/>
                      </a:lnTo>
                      <a:lnTo>
                        <a:pt x="0" y="555"/>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21" name="Freeform 627"/>
                <p:cNvSpPr>
                  <a:spLocks noChangeAspect="1"/>
                </p:cNvSpPr>
                <p:nvPr/>
              </p:nvSpPr>
              <p:spPr bwMode="auto">
                <a:xfrm>
                  <a:off x="2451" y="963"/>
                  <a:ext cx="189" cy="214"/>
                </a:xfrm>
                <a:custGeom>
                  <a:avLst/>
                  <a:gdLst>
                    <a:gd name="T0" fmla="*/ 0 w 569"/>
                    <a:gd name="T1" fmla="*/ 0 h 642"/>
                    <a:gd name="T2" fmla="*/ 0 w 569"/>
                    <a:gd name="T3" fmla="*/ 0 h 642"/>
                    <a:gd name="T4" fmla="*/ 0 w 569"/>
                    <a:gd name="T5" fmla="*/ 0 h 642"/>
                    <a:gd name="T6" fmla="*/ 0 w 569"/>
                    <a:gd name="T7" fmla="*/ 0 h 642"/>
                    <a:gd name="T8" fmla="*/ 0 w 569"/>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9" h="642">
                      <a:moveTo>
                        <a:pt x="0" y="567"/>
                      </a:moveTo>
                      <a:lnTo>
                        <a:pt x="569" y="0"/>
                      </a:lnTo>
                      <a:lnTo>
                        <a:pt x="569" y="73"/>
                      </a:lnTo>
                      <a:lnTo>
                        <a:pt x="0" y="642"/>
                      </a:lnTo>
                      <a:lnTo>
                        <a:pt x="0" y="567"/>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22" name="Freeform 628"/>
                <p:cNvSpPr>
                  <a:spLocks noChangeAspect="1"/>
                </p:cNvSpPr>
                <p:nvPr/>
              </p:nvSpPr>
              <p:spPr bwMode="auto">
                <a:xfrm>
                  <a:off x="2451" y="975"/>
                  <a:ext cx="189" cy="214"/>
                </a:xfrm>
                <a:custGeom>
                  <a:avLst/>
                  <a:gdLst>
                    <a:gd name="T0" fmla="*/ 0 w 569"/>
                    <a:gd name="T1" fmla="*/ 0 h 643"/>
                    <a:gd name="T2" fmla="*/ 0 w 569"/>
                    <a:gd name="T3" fmla="*/ 0 h 643"/>
                    <a:gd name="T4" fmla="*/ 0 w 569"/>
                    <a:gd name="T5" fmla="*/ 0 h 643"/>
                    <a:gd name="T6" fmla="*/ 0 w 569"/>
                    <a:gd name="T7" fmla="*/ 0 h 643"/>
                    <a:gd name="T8" fmla="*/ 0 w 569"/>
                    <a:gd name="T9" fmla="*/ 0 h 6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9" h="643">
                      <a:moveTo>
                        <a:pt x="0" y="569"/>
                      </a:moveTo>
                      <a:lnTo>
                        <a:pt x="569" y="0"/>
                      </a:lnTo>
                      <a:lnTo>
                        <a:pt x="569" y="74"/>
                      </a:lnTo>
                      <a:lnTo>
                        <a:pt x="0" y="643"/>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23" name="Freeform 629"/>
                <p:cNvSpPr>
                  <a:spLocks noChangeAspect="1"/>
                </p:cNvSpPr>
                <p:nvPr/>
              </p:nvSpPr>
              <p:spPr bwMode="auto">
                <a:xfrm>
                  <a:off x="2451" y="987"/>
                  <a:ext cx="189" cy="214"/>
                </a:xfrm>
                <a:custGeom>
                  <a:avLst/>
                  <a:gdLst>
                    <a:gd name="T0" fmla="*/ 0 w 569"/>
                    <a:gd name="T1" fmla="*/ 0 h 642"/>
                    <a:gd name="T2" fmla="*/ 0 w 569"/>
                    <a:gd name="T3" fmla="*/ 0 h 642"/>
                    <a:gd name="T4" fmla="*/ 0 w 569"/>
                    <a:gd name="T5" fmla="*/ 0 h 642"/>
                    <a:gd name="T6" fmla="*/ 0 w 569"/>
                    <a:gd name="T7" fmla="*/ 0 h 642"/>
                    <a:gd name="T8" fmla="*/ 0 w 569"/>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9" h="642">
                      <a:moveTo>
                        <a:pt x="0" y="569"/>
                      </a:moveTo>
                      <a:lnTo>
                        <a:pt x="569" y="0"/>
                      </a:lnTo>
                      <a:lnTo>
                        <a:pt x="569" y="74"/>
                      </a:lnTo>
                      <a:lnTo>
                        <a:pt x="0" y="642"/>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24" name="Freeform 630"/>
                <p:cNvSpPr>
                  <a:spLocks noChangeAspect="1"/>
                </p:cNvSpPr>
                <p:nvPr/>
              </p:nvSpPr>
              <p:spPr bwMode="auto">
                <a:xfrm>
                  <a:off x="2451" y="1000"/>
                  <a:ext cx="189" cy="214"/>
                </a:xfrm>
                <a:custGeom>
                  <a:avLst/>
                  <a:gdLst>
                    <a:gd name="T0" fmla="*/ 0 w 569"/>
                    <a:gd name="T1" fmla="*/ 0 h 642"/>
                    <a:gd name="T2" fmla="*/ 0 w 569"/>
                    <a:gd name="T3" fmla="*/ 0 h 642"/>
                    <a:gd name="T4" fmla="*/ 0 w 569"/>
                    <a:gd name="T5" fmla="*/ 0 h 642"/>
                    <a:gd name="T6" fmla="*/ 0 w 569"/>
                    <a:gd name="T7" fmla="*/ 0 h 642"/>
                    <a:gd name="T8" fmla="*/ 0 w 569"/>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9" h="642">
                      <a:moveTo>
                        <a:pt x="0" y="569"/>
                      </a:moveTo>
                      <a:lnTo>
                        <a:pt x="569" y="0"/>
                      </a:lnTo>
                      <a:lnTo>
                        <a:pt x="569" y="74"/>
                      </a:lnTo>
                      <a:lnTo>
                        <a:pt x="0" y="642"/>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25" name="Freeform 631"/>
                <p:cNvSpPr>
                  <a:spLocks noChangeAspect="1"/>
                </p:cNvSpPr>
                <p:nvPr/>
              </p:nvSpPr>
              <p:spPr bwMode="auto">
                <a:xfrm>
                  <a:off x="2451" y="1012"/>
                  <a:ext cx="189" cy="214"/>
                </a:xfrm>
                <a:custGeom>
                  <a:avLst/>
                  <a:gdLst>
                    <a:gd name="T0" fmla="*/ 0 w 569"/>
                    <a:gd name="T1" fmla="*/ 0 h 643"/>
                    <a:gd name="T2" fmla="*/ 0 w 569"/>
                    <a:gd name="T3" fmla="*/ 0 h 643"/>
                    <a:gd name="T4" fmla="*/ 0 w 569"/>
                    <a:gd name="T5" fmla="*/ 0 h 643"/>
                    <a:gd name="T6" fmla="*/ 0 w 569"/>
                    <a:gd name="T7" fmla="*/ 0 h 643"/>
                    <a:gd name="T8" fmla="*/ 0 w 569"/>
                    <a:gd name="T9" fmla="*/ 0 h 6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9" h="643">
                      <a:moveTo>
                        <a:pt x="0" y="568"/>
                      </a:moveTo>
                      <a:lnTo>
                        <a:pt x="569" y="0"/>
                      </a:lnTo>
                      <a:lnTo>
                        <a:pt x="569" y="74"/>
                      </a:lnTo>
                      <a:lnTo>
                        <a:pt x="0" y="643"/>
                      </a:lnTo>
                      <a:lnTo>
                        <a:pt x="0" y="56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26" name="Freeform 632"/>
                <p:cNvSpPr>
                  <a:spLocks noChangeAspect="1"/>
                </p:cNvSpPr>
                <p:nvPr/>
              </p:nvSpPr>
              <p:spPr bwMode="auto">
                <a:xfrm>
                  <a:off x="2451" y="1024"/>
                  <a:ext cx="189" cy="215"/>
                </a:xfrm>
                <a:custGeom>
                  <a:avLst/>
                  <a:gdLst>
                    <a:gd name="T0" fmla="*/ 0 w 569"/>
                    <a:gd name="T1" fmla="*/ 0 h 643"/>
                    <a:gd name="T2" fmla="*/ 0 w 569"/>
                    <a:gd name="T3" fmla="*/ 0 h 643"/>
                    <a:gd name="T4" fmla="*/ 0 w 569"/>
                    <a:gd name="T5" fmla="*/ 0 h 643"/>
                    <a:gd name="T6" fmla="*/ 0 w 569"/>
                    <a:gd name="T7" fmla="*/ 0 h 643"/>
                    <a:gd name="T8" fmla="*/ 0 w 569"/>
                    <a:gd name="T9" fmla="*/ 0 h 6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9" h="643">
                      <a:moveTo>
                        <a:pt x="0" y="568"/>
                      </a:moveTo>
                      <a:lnTo>
                        <a:pt x="569" y="0"/>
                      </a:lnTo>
                      <a:lnTo>
                        <a:pt x="569" y="74"/>
                      </a:lnTo>
                      <a:lnTo>
                        <a:pt x="0" y="643"/>
                      </a:lnTo>
                      <a:lnTo>
                        <a:pt x="0" y="56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27" name="Freeform 633"/>
                <p:cNvSpPr>
                  <a:spLocks noChangeAspect="1"/>
                </p:cNvSpPr>
                <p:nvPr/>
              </p:nvSpPr>
              <p:spPr bwMode="auto">
                <a:xfrm>
                  <a:off x="2451" y="1037"/>
                  <a:ext cx="189" cy="214"/>
                </a:xfrm>
                <a:custGeom>
                  <a:avLst/>
                  <a:gdLst>
                    <a:gd name="T0" fmla="*/ 0 w 569"/>
                    <a:gd name="T1" fmla="*/ 0 h 642"/>
                    <a:gd name="T2" fmla="*/ 0 w 569"/>
                    <a:gd name="T3" fmla="*/ 0 h 642"/>
                    <a:gd name="T4" fmla="*/ 0 w 569"/>
                    <a:gd name="T5" fmla="*/ 0 h 642"/>
                    <a:gd name="T6" fmla="*/ 0 w 569"/>
                    <a:gd name="T7" fmla="*/ 0 h 642"/>
                    <a:gd name="T8" fmla="*/ 0 w 569"/>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9" h="642">
                      <a:moveTo>
                        <a:pt x="0" y="569"/>
                      </a:moveTo>
                      <a:lnTo>
                        <a:pt x="569" y="0"/>
                      </a:lnTo>
                      <a:lnTo>
                        <a:pt x="569" y="74"/>
                      </a:lnTo>
                      <a:lnTo>
                        <a:pt x="0" y="642"/>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28" name="Freeform 634"/>
                <p:cNvSpPr>
                  <a:spLocks noChangeAspect="1"/>
                </p:cNvSpPr>
                <p:nvPr/>
              </p:nvSpPr>
              <p:spPr bwMode="auto">
                <a:xfrm>
                  <a:off x="2451" y="1049"/>
                  <a:ext cx="189" cy="214"/>
                </a:xfrm>
                <a:custGeom>
                  <a:avLst/>
                  <a:gdLst>
                    <a:gd name="T0" fmla="*/ 0 w 569"/>
                    <a:gd name="T1" fmla="*/ 0 h 642"/>
                    <a:gd name="T2" fmla="*/ 0 w 569"/>
                    <a:gd name="T3" fmla="*/ 0 h 642"/>
                    <a:gd name="T4" fmla="*/ 0 w 569"/>
                    <a:gd name="T5" fmla="*/ 0 h 642"/>
                    <a:gd name="T6" fmla="*/ 0 w 569"/>
                    <a:gd name="T7" fmla="*/ 0 h 642"/>
                    <a:gd name="T8" fmla="*/ 0 w 569"/>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9" h="642">
                      <a:moveTo>
                        <a:pt x="0" y="569"/>
                      </a:moveTo>
                      <a:lnTo>
                        <a:pt x="569" y="0"/>
                      </a:lnTo>
                      <a:lnTo>
                        <a:pt x="569" y="73"/>
                      </a:lnTo>
                      <a:lnTo>
                        <a:pt x="0" y="642"/>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29" name="Freeform 635"/>
                <p:cNvSpPr>
                  <a:spLocks noChangeAspect="1"/>
                </p:cNvSpPr>
                <p:nvPr/>
              </p:nvSpPr>
              <p:spPr bwMode="auto">
                <a:xfrm>
                  <a:off x="2451" y="1061"/>
                  <a:ext cx="189" cy="214"/>
                </a:xfrm>
                <a:custGeom>
                  <a:avLst/>
                  <a:gdLst>
                    <a:gd name="T0" fmla="*/ 0 w 569"/>
                    <a:gd name="T1" fmla="*/ 0 h 642"/>
                    <a:gd name="T2" fmla="*/ 0 w 569"/>
                    <a:gd name="T3" fmla="*/ 0 h 642"/>
                    <a:gd name="T4" fmla="*/ 0 w 569"/>
                    <a:gd name="T5" fmla="*/ 0 h 642"/>
                    <a:gd name="T6" fmla="*/ 0 w 569"/>
                    <a:gd name="T7" fmla="*/ 0 h 642"/>
                    <a:gd name="T8" fmla="*/ 0 w 569"/>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9" h="642">
                      <a:moveTo>
                        <a:pt x="0" y="568"/>
                      </a:moveTo>
                      <a:lnTo>
                        <a:pt x="569" y="0"/>
                      </a:lnTo>
                      <a:lnTo>
                        <a:pt x="569" y="74"/>
                      </a:lnTo>
                      <a:lnTo>
                        <a:pt x="0" y="642"/>
                      </a:lnTo>
                      <a:lnTo>
                        <a:pt x="0" y="56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30" name="Freeform 636"/>
                <p:cNvSpPr>
                  <a:spLocks noChangeAspect="1"/>
                </p:cNvSpPr>
                <p:nvPr/>
              </p:nvSpPr>
              <p:spPr bwMode="auto">
                <a:xfrm>
                  <a:off x="2451" y="1073"/>
                  <a:ext cx="189" cy="214"/>
                </a:xfrm>
                <a:custGeom>
                  <a:avLst/>
                  <a:gdLst>
                    <a:gd name="T0" fmla="*/ 0 w 569"/>
                    <a:gd name="T1" fmla="*/ 0 h 642"/>
                    <a:gd name="T2" fmla="*/ 0 w 569"/>
                    <a:gd name="T3" fmla="*/ 0 h 642"/>
                    <a:gd name="T4" fmla="*/ 0 w 569"/>
                    <a:gd name="T5" fmla="*/ 0 h 642"/>
                    <a:gd name="T6" fmla="*/ 0 w 569"/>
                    <a:gd name="T7" fmla="*/ 0 h 642"/>
                    <a:gd name="T8" fmla="*/ 0 w 569"/>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9" h="642">
                      <a:moveTo>
                        <a:pt x="0" y="569"/>
                      </a:moveTo>
                      <a:lnTo>
                        <a:pt x="569" y="0"/>
                      </a:lnTo>
                      <a:lnTo>
                        <a:pt x="569" y="75"/>
                      </a:lnTo>
                      <a:lnTo>
                        <a:pt x="0" y="642"/>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31" name="Freeform 637"/>
                <p:cNvSpPr>
                  <a:spLocks noChangeAspect="1"/>
                </p:cNvSpPr>
                <p:nvPr/>
              </p:nvSpPr>
              <p:spPr bwMode="auto">
                <a:xfrm>
                  <a:off x="2451" y="1086"/>
                  <a:ext cx="189" cy="214"/>
                </a:xfrm>
                <a:custGeom>
                  <a:avLst/>
                  <a:gdLst>
                    <a:gd name="T0" fmla="*/ 0 w 569"/>
                    <a:gd name="T1" fmla="*/ 0 h 642"/>
                    <a:gd name="T2" fmla="*/ 0 w 569"/>
                    <a:gd name="T3" fmla="*/ 0 h 642"/>
                    <a:gd name="T4" fmla="*/ 0 w 569"/>
                    <a:gd name="T5" fmla="*/ 0 h 642"/>
                    <a:gd name="T6" fmla="*/ 0 w 569"/>
                    <a:gd name="T7" fmla="*/ 0 h 642"/>
                    <a:gd name="T8" fmla="*/ 0 w 569"/>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9" h="642">
                      <a:moveTo>
                        <a:pt x="0" y="568"/>
                      </a:moveTo>
                      <a:lnTo>
                        <a:pt x="569" y="0"/>
                      </a:lnTo>
                      <a:lnTo>
                        <a:pt x="569" y="74"/>
                      </a:lnTo>
                      <a:lnTo>
                        <a:pt x="0" y="642"/>
                      </a:lnTo>
                      <a:lnTo>
                        <a:pt x="0" y="56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32" name="Freeform 638"/>
                <p:cNvSpPr>
                  <a:spLocks noChangeAspect="1"/>
                </p:cNvSpPr>
                <p:nvPr/>
              </p:nvSpPr>
              <p:spPr bwMode="auto">
                <a:xfrm>
                  <a:off x="2451" y="1098"/>
                  <a:ext cx="189" cy="214"/>
                </a:xfrm>
                <a:custGeom>
                  <a:avLst/>
                  <a:gdLst>
                    <a:gd name="T0" fmla="*/ 0 w 569"/>
                    <a:gd name="T1" fmla="*/ 0 h 642"/>
                    <a:gd name="T2" fmla="*/ 0 w 569"/>
                    <a:gd name="T3" fmla="*/ 0 h 642"/>
                    <a:gd name="T4" fmla="*/ 0 w 569"/>
                    <a:gd name="T5" fmla="*/ 0 h 642"/>
                    <a:gd name="T6" fmla="*/ 0 w 569"/>
                    <a:gd name="T7" fmla="*/ 0 h 642"/>
                    <a:gd name="T8" fmla="*/ 0 w 569"/>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9" h="642">
                      <a:moveTo>
                        <a:pt x="0" y="567"/>
                      </a:moveTo>
                      <a:lnTo>
                        <a:pt x="569" y="0"/>
                      </a:lnTo>
                      <a:lnTo>
                        <a:pt x="569" y="73"/>
                      </a:lnTo>
                      <a:lnTo>
                        <a:pt x="0" y="642"/>
                      </a:lnTo>
                      <a:lnTo>
                        <a:pt x="0" y="567"/>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33" name="Freeform 639"/>
                <p:cNvSpPr>
                  <a:spLocks noChangeAspect="1"/>
                </p:cNvSpPr>
                <p:nvPr/>
              </p:nvSpPr>
              <p:spPr bwMode="auto">
                <a:xfrm>
                  <a:off x="2451" y="1111"/>
                  <a:ext cx="189" cy="214"/>
                </a:xfrm>
                <a:custGeom>
                  <a:avLst/>
                  <a:gdLst>
                    <a:gd name="T0" fmla="*/ 0 w 569"/>
                    <a:gd name="T1" fmla="*/ 0 h 642"/>
                    <a:gd name="T2" fmla="*/ 0 w 569"/>
                    <a:gd name="T3" fmla="*/ 0 h 642"/>
                    <a:gd name="T4" fmla="*/ 0 w 569"/>
                    <a:gd name="T5" fmla="*/ 0 h 642"/>
                    <a:gd name="T6" fmla="*/ 0 w 569"/>
                    <a:gd name="T7" fmla="*/ 0 h 642"/>
                    <a:gd name="T8" fmla="*/ 0 w 569"/>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9" h="642">
                      <a:moveTo>
                        <a:pt x="0" y="568"/>
                      </a:moveTo>
                      <a:lnTo>
                        <a:pt x="569" y="0"/>
                      </a:lnTo>
                      <a:lnTo>
                        <a:pt x="569" y="73"/>
                      </a:lnTo>
                      <a:lnTo>
                        <a:pt x="0" y="642"/>
                      </a:lnTo>
                      <a:lnTo>
                        <a:pt x="0" y="56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34" name="Freeform 640"/>
                <p:cNvSpPr>
                  <a:spLocks noChangeAspect="1"/>
                </p:cNvSpPr>
                <p:nvPr/>
              </p:nvSpPr>
              <p:spPr bwMode="auto">
                <a:xfrm>
                  <a:off x="2451" y="1123"/>
                  <a:ext cx="189" cy="214"/>
                </a:xfrm>
                <a:custGeom>
                  <a:avLst/>
                  <a:gdLst>
                    <a:gd name="T0" fmla="*/ 0 w 569"/>
                    <a:gd name="T1" fmla="*/ 0 h 642"/>
                    <a:gd name="T2" fmla="*/ 0 w 569"/>
                    <a:gd name="T3" fmla="*/ 0 h 642"/>
                    <a:gd name="T4" fmla="*/ 0 w 569"/>
                    <a:gd name="T5" fmla="*/ 0 h 642"/>
                    <a:gd name="T6" fmla="*/ 0 w 569"/>
                    <a:gd name="T7" fmla="*/ 0 h 642"/>
                    <a:gd name="T8" fmla="*/ 0 w 569"/>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9" h="642">
                      <a:moveTo>
                        <a:pt x="0" y="569"/>
                      </a:moveTo>
                      <a:lnTo>
                        <a:pt x="569" y="0"/>
                      </a:lnTo>
                      <a:lnTo>
                        <a:pt x="569" y="74"/>
                      </a:lnTo>
                      <a:lnTo>
                        <a:pt x="0" y="642"/>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35" name="Freeform 641"/>
                <p:cNvSpPr>
                  <a:spLocks noChangeAspect="1"/>
                </p:cNvSpPr>
                <p:nvPr/>
              </p:nvSpPr>
              <p:spPr bwMode="auto">
                <a:xfrm>
                  <a:off x="2451" y="1135"/>
                  <a:ext cx="189" cy="214"/>
                </a:xfrm>
                <a:custGeom>
                  <a:avLst/>
                  <a:gdLst>
                    <a:gd name="T0" fmla="*/ 0 w 569"/>
                    <a:gd name="T1" fmla="*/ 0 h 642"/>
                    <a:gd name="T2" fmla="*/ 0 w 569"/>
                    <a:gd name="T3" fmla="*/ 0 h 642"/>
                    <a:gd name="T4" fmla="*/ 0 w 569"/>
                    <a:gd name="T5" fmla="*/ 0 h 642"/>
                    <a:gd name="T6" fmla="*/ 0 w 569"/>
                    <a:gd name="T7" fmla="*/ 0 h 642"/>
                    <a:gd name="T8" fmla="*/ 0 w 569"/>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9" h="642">
                      <a:moveTo>
                        <a:pt x="0" y="569"/>
                      </a:moveTo>
                      <a:lnTo>
                        <a:pt x="569" y="0"/>
                      </a:lnTo>
                      <a:lnTo>
                        <a:pt x="569" y="75"/>
                      </a:lnTo>
                      <a:lnTo>
                        <a:pt x="0" y="642"/>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36" name="Freeform 642"/>
                <p:cNvSpPr>
                  <a:spLocks noChangeAspect="1"/>
                </p:cNvSpPr>
                <p:nvPr/>
              </p:nvSpPr>
              <p:spPr bwMode="auto">
                <a:xfrm>
                  <a:off x="2451" y="1147"/>
                  <a:ext cx="189" cy="215"/>
                </a:xfrm>
                <a:custGeom>
                  <a:avLst/>
                  <a:gdLst>
                    <a:gd name="T0" fmla="*/ 0 w 569"/>
                    <a:gd name="T1" fmla="*/ 0 h 643"/>
                    <a:gd name="T2" fmla="*/ 0 w 569"/>
                    <a:gd name="T3" fmla="*/ 0 h 643"/>
                    <a:gd name="T4" fmla="*/ 0 w 569"/>
                    <a:gd name="T5" fmla="*/ 0 h 643"/>
                    <a:gd name="T6" fmla="*/ 0 w 569"/>
                    <a:gd name="T7" fmla="*/ 0 h 643"/>
                    <a:gd name="T8" fmla="*/ 0 w 569"/>
                    <a:gd name="T9" fmla="*/ 0 h 6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9" h="643">
                      <a:moveTo>
                        <a:pt x="0" y="568"/>
                      </a:moveTo>
                      <a:lnTo>
                        <a:pt x="569" y="0"/>
                      </a:lnTo>
                      <a:lnTo>
                        <a:pt x="569" y="74"/>
                      </a:lnTo>
                      <a:lnTo>
                        <a:pt x="0" y="643"/>
                      </a:lnTo>
                      <a:lnTo>
                        <a:pt x="0" y="56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37" name="Freeform 643"/>
                <p:cNvSpPr>
                  <a:spLocks noChangeAspect="1"/>
                </p:cNvSpPr>
                <p:nvPr/>
              </p:nvSpPr>
              <p:spPr bwMode="auto">
                <a:xfrm>
                  <a:off x="2451" y="1160"/>
                  <a:ext cx="189" cy="214"/>
                </a:xfrm>
                <a:custGeom>
                  <a:avLst/>
                  <a:gdLst>
                    <a:gd name="T0" fmla="*/ 0 w 569"/>
                    <a:gd name="T1" fmla="*/ 0 h 642"/>
                    <a:gd name="T2" fmla="*/ 0 w 569"/>
                    <a:gd name="T3" fmla="*/ 0 h 642"/>
                    <a:gd name="T4" fmla="*/ 0 w 569"/>
                    <a:gd name="T5" fmla="*/ 0 h 642"/>
                    <a:gd name="T6" fmla="*/ 0 w 569"/>
                    <a:gd name="T7" fmla="*/ 0 h 642"/>
                    <a:gd name="T8" fmla="*/ 0 w 569"/>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9" h="642">
                      <a:moveTo>
                        <a:pt x="0" y="567"/>
                      </a:moveTo>
                      <a:lnTo>
                        <a:pt x="569" y="0"/>
                      </a:lnTo>
                      <a:lnTo>
                        <a:pt x="569" y="73"/>
                      </a:lnTo>
                      <a:lnTo>
                        <a:pt x="0" y="642"/>
                      </a:lnTo>
                      <a:lnTo>
                        <a:pt x="0" y="567"/>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38" name="Freeform 644"/>
                <p:cNvSpPr>
                  <a:spLocks noChangeAspect="1"/>
                </p:cNvSpPr>
                <p:nvPr/>
              </p:nvSpPr>
              <p:spPr bwMode="auto">
                <a:xfrm>
                  <a:off x="2451" y="1172"/>
                  <a:ext cx="189" cy="209"/>
                </a:xfrm>
                <a:custGeom>
                  <a:avLst/>
                  <a:gdLst>
                    <a:gd name="T0" fmla="*/ 0 w 569"/>
                    <a:gd name="T1" fmla="*/ 0 h 628"/>
                    <a:gd name="T2" fmla="*/ 0 w 569"/>
                    <a:gd name="T3" fmla="*/ 0 h 628"/>
                    <a:gd name="T4" fmla="*/ 0 w 569"/>
                    <a:gd name="T5" fmla="*/ 0 h 628"/>
                    <a:gd name="T6" fmla="*/ 0 w 569"/>
                    <a:gd name="T7" fmla="*/ 0 h 628"/>
                    <a:gd name="T8" fmla="*/ 0 w 569"/>
                    <a:gd name="T9" fmla="*/ 0 h 628"/>
                    <a:gd name="T10" fmla="*/ 0 w 569"/>
                    <a:gd name="T11" fmla="*/ 0 h 6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69" h="628">
                      <a:moveTo>
                        <a:pt x="0" y="569"/>
                      </a:moveTo>
                      <a:lnTo>
                        <a:pt x="569" y="0"/>
                      </a:lnTo>
                      <a:lnTo>
                        <a:pt x="569" y="74"/>
                      </a:lnTo>
                      <a:lnTo>
                        <a:pt x="14" y="628"/>
                      </a:lnTo>
                      <a:lnTo>
                        <a:pt x="0" y="628"/>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39" name="Freeform 645"/>
                <p:cNvSpPr>
                  <a:spLocks noChangeAspect="1"/>
                </p:cNvSpPr>
                <p:nvPr/>
              </p:nvSpPr>
              <p:spPr bwMode="auto">
                <a:xfrm>
                  <a:off x="2451" y="1184"/>
                  <a:ext cx="189" cy="197"/>
                </a:xfrm>
                <a:custGeom>
                  <a:avLst/>
                  <a:gdLst>
                    <a:gd name="T0" fmla="*/ 0 w 569"/>
                    <a:gd name="T1" fmla="*/ 0 h 591"/>
                    <a:gd name="T2" fmla="*/ 0 w 569"/>
                    <a:gd name="T3" fmla="*/ 0 h 591"/>
                    <a:gd name="T4" fmla="*/ 0 w 569"/>
                    <a:gd name="T5" fmla="*/ 0 h 591"/>
                    <a:gd name="T6" fmla="*/ 0 w 569"/>
                    <a:gd name="T7" fmla="*/ 0 h 591"/>
                    <a:gd name="T8" fmla="*/ 0 w 569"/>
                    <a:gd name="T9" fmla="*/ 0 h 591"/>
                    <a:gd name="T10" fmla="*/ 0 w 569"/>
                    <a:gd name="T11" fmla="*/ 0 h 591"/>
                    <a:gd name="T12" fmla="*/ 0 w 569"/>
                    <a:gd name="T13" fmla="*/ 0 h 59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69" h="591">
                      <a:moveTo>
                        <a:pt x="0" y="569"/>
                      </a:moveTo>
                      <a:lnTo>
                        <a:pt x="569" y="0"/>
                      </a:lnTo>
                      <a:lnTo>
                        <a:pt x="569" y="74"/>
                      </a:lnTo>
                      <a:lnTo>
                        <a:pt x="51" y="591"/>
                      </a:lnTo>
                      <a:lnTo>
                        <a:pt x="0" y="591"/>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40" name="Freeform 646"/>
                <p:cNvSpPr>
                  <a:spLocks noChangeAspect="1"/>
                </p:cNvSpPr>
                <p:nvPr/>
              </p:nvSpPr>
              <p:spPr bwMode="auto">
                <a:xfrm>
                  <a:off x="2455" y="1197"/>
                  <a:ext cx="185" cy="184"/>
                </a:xfrm>
                <a:custGeom>
                  <a:avLst/>
                  <a:gdLst>
                    <a:gd name="T0" fmla="*/ 0 w 555"/>
                    <a:gd name="T1" fmla="*/ 0 h 554"/>
                    <a:gd name="T2" fmla="*/ 0 w 555"/>
                    <a:gd name="T3" fmla="*/ 0 h 554"/>
                    <a:gd name="T4" fmla="*/ 0 w 555"/>
                    <a:gd name="T5" fmla="*/ 0 h 554"/>
                    <a:gd name="T6" fmla="*/ 0 w 555"/>
                    <a:gd name="T7" fmla="*/ 0 h 554"/>
                    <a:gd name="T8" fmla="*/ 0 w 555"/>
                    <a:gd name="T9" fmla="*/ 0 h 5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55" h="554">
                      <a:moveTo>
                        <a:pt x="0" y="554"/>
                      </a:moveTo>
                      <a:lnTo>
                        <a:pt x="555" y="0"/>
                      </a:lnTo>
                      <a:lnTo>
                        <a:pt x="555" y="74"/>
                      </a:lnTo>
                      <a:lnTo>
                        <a:pt x="74" y="554"/>
                      </a:lnTo>
                      <a:lnTo>
                        <a:pt x="0" y="554"/>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41" name="Freeform 647"/>
                <p:cNvSpPr>
                  <a:spLocks noChangeAspect="1"/>
                </p:cNvSpPr>
                <p:nvPr/>
              </p:nvSpPr>
              <p:spPr bwMode="auto">
                <a:xfrm>
                  <a:off x="2468" y="1209"/>
                  <a:ext cx="172" cy="172"/>
                </a:xfrm>
                <a:custGeom>
                  <a:avLst/>
                  <a:gdLst>
                    <a:gd name="T0" fmla="*/ 0 w 518"/>
                    <a:gd name="T1" fmla="*/ 0 h 517"/>
                    <a:gd name="T2" fmla="*/ 0 w 518"/>
                    <a:gd name="T3" fmla="*/ 0 h 517"/>
                    <a:gd name="T4" fmla="*/ 0 w 518"/>
                    <a:gd name="T5" fmla="*/ 0 h 517"/>
                    <a:gd name="T6" fmla="*/ 0 w 518"/>
                    <a:gd name="T7" fmla="*/ 0 h 517"/>
                    <a:gd name="T8" fmla="*/ 0 w 518"/>
                    <a:gd name="T9" fmla="*/ 0 h 5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8" h="517">
                      <a:moveTo>
                        <a:pt x="0" y="517"/>
                      </a:moveTo>
                      <a:lnTo>
                        <a:pt x="518" y="0"/>
                      </a:lnTo>
                      <a:lnTo>
                        <a:pt x="518" y="74"/>
                      </a:lnTo>
                      <a:lnTo>
                        <a:pt x="74" y="517"/>
                      </a:lnTo>
                      <a:lnTo>
                        <a:pt x="0" y="517"/>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42" name="Freeform 648"/>
                <p:cNvSpPr>
                  <a:spLocks noChangeAspect="1"/>
                </p:cNvSpPr>
                <p:nvPr/>
              </p:nvSpPr>
              <p:spPr bwMode="auto">
                <a:xfrm>
                  <a:off x="2480" y="1221"/>
                  <a:ext cx="160" cy="160"/>
                </a:xfrm>
                <a:custGeom>
                  <a:avLst/>
                  <a:gdLst>
                    <a:gd name="T0" fmla="*/ 0 w 481"/>
                    <a:gd name="T1" fmla="*/ 0 h 480"/>
                    <a:gd name="T2" fmla="*/ 0 w 481"/>
                    <a:gd name="T3" fmla="*/ 0 h 480"/>
                    <a:gd name="T4" fmla="*/ 0 w 481"/>
                    <a:gd name="T5" fmla="*/ 0 h 480"/>
                    <a:gd name="T6" fmla="*/ 0 w 481"/>
                    <a:gd name="T7" fmla="*/ 0 h 480"/>
                    <a:gd name="T8" fmla="*/ 0 w 481"/>
                    <a:gd name="T9" fmla="*/ 0 h 4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1" h="480">
                      <a:moveTo>
                        <a:pt x="0" y="480"/>
                      </a:moveTo>
                      <a:lnTo>
                        <a:pt x="481" y="0"/>
                      </a:lnTo>
                      <a:lnTo>
                        <a:pt x="481" y="74"/>
                      </a:lnTo>
                      <a:lnTo>
                        <a:pt x="74" y="480"/>
                      </a:lnTo>
                      <a:lnTo>
                        <a:pt x="0" y="480"/>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43" name="Freeform 649"/>
                <p:cNvSpPr>
                  <a:spLocks noChangeAspect="1"/>
                </p:cNvSpPr>
                <p:nvPr/>
              </p:nvSpPr>
              <p:spPr bwMode="auto">
                <a:xfrm>
                  <a:off x="2492" y="1234"/>
                  <a:ext cx="148" cy="147"/>
                </a:xfrm>
                <a:custGeom>
                  <a:avLst/>
                  <a:gdLst>
                    <a:gd name="T0" fmla="*/ 0 w 444"/>
                    <a:gd name="T1" fmla="*/ 0 h 443"/>
                    <a:gd name="T2" fmla="*/ 0 w 444"/>
                    <a:gd name="T3" fmla="*/ 0 h 443"/>
                    <a:gd name="T4" fmla="*/ 0 w 444"/>
                    <a:gd name="T5" fmla="*/ 0 h 443"/>
                    <a:gd name="T6" fmla="*/ 0 w 444"/>
                    <a:gd name="T7" fmla="*/ 0 h 443"/>
                    <a:gd name="T8" fmla="*/ 0 w 444"/>
                    <a:gd name="T9" fmla="*/ 0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4" h="443">
                      <a:moveTo>
                        <a:pt x="0" y="443"/>
                      </a:moveTo>
                      <a:lnTo>
                        <a:pt x="444" y="0"/>
                      </a:lnTo>
                      <a:lnTo>
                        <a:pt x="444" y="74"/>
                      </a:lnTo>
                      <a:lnTo>
                        <a:pt x="74" y="443"/>
                      </a:lnTo>
                      <a:lnTo>
                        <a:pt x="0" y="443"/>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44" name="Freeform 650"/>
                <p:cNvSpPr>
                  <a:spLocks noChangeAspect="1"/>
                </p:cNvSpPr>
                <p:nvPr/>
              </p:nvSpPr>
              <p:spPr bwMode="auto">
                <a:xfrm>
                  <a:off x="2505" y="1246"/>
                  <a:ext cx="135" cy="135"/>
                </a:xfrm>
                <a:custGeom>
                  <a:avLst/>
                  <a:gdLst>
                    <a:gd name="T0" fmla="*/ 0 w 407"/>
                    <a:gd name="T1" fmla="*/ 0 h 406"/>
                    <a:gd name="T2" fmla="*/ 0 w 407"/>
                    <a:gd name="T3" fmla="*/ 0 h 406"/>
                    <a:gd name="T4" fmla="*/ 0 w 407"/>
                    <a:gd name="T5" fmla="*/ 0 h 406"/>
                    <a:gd name="T6" fmla="*/ 0 w 407"/>
                    <a:gd name="T7" fmla="*/ 0 h 406"/>
                    <a:gd name="T8" fmla="*/ 0 w 407"/>
                    <a:gd name="T9" fmla="*/ 0 h 4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7" h="406">
                      <a:moveTo>
                        <a:pt x="0" y="406"/>
                      </a:moveTo>
                      <a:lnTo>
                        <a:pt x="407" y="0"/>
                      </a:lnTo>
                      <a:lnTo>
                        <a:pt x="407" y="73"/>
                      </a:lnTo>
                      <a:lnTo>
                        <a:pt x="74" y="406"/>
                      </a:lnTo>
                      <a:lnTo>
                        <a:pt x="0" y="406"/>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45" name="Freeform 651"/>
                <p:cNvSpPr>
                  <a:spLocks noChangeAspect="1"/>
                </p:cNvSpPr>
                <p:nvPr/>
              </p:nvSpPr>
              <p:spPr bwMode="auto">
                <a:xfrm>
                  <a:off x="2517" y="1258"/>
                  <a:ext cx="123" cy="123"/>
                </a:xfrm>
                <a:custGeom>
                  <a:avLst/>
                  <a:gdLst>
                    <a:gd name="T0" fmla="*/ 0 w 370"/>
                    <a:gd name="T1" fmla="*/ 0 h 369"/>
                    <a:gd name="T2" fmla="*/ 0 w 370"/>
                    <a:gd name="T3" fmla="*/ 0 h 369"/>
                    <a:gd name="T4" fmla="*/ 0 w 370"/>
                    <a:gd name="T5" fmla="*/ 0 h 369"/>
                    <a:gd name="T6" fmla="*/ 0 w 370"/>
                    <a:gd name="T7" fmla="*/ 0 h 369"/>
                    <a:gd name="T8" fmla="*/ 0 w 370"/>
                    <a:gd name="T9" fmla="*/ 0 h 3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0" h="369">
                      <a:moveTo>
                        <a:pt x="0" y="369"/>
                      </a:moveTo>
                      <a:lnTo>
                        <a:pt x="370" y="0"/>
                      </a:lnTo>
                      <a:lnTo>
                        <a:pt x="370" y="74"/>
                      </a:lnTo>
                      <a:lnTo>
                        <a:pt x="74" y="369"/>
                      </a:lnTo>
                      <a:lnTo>
                        <a:pt x="0" y="3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46" name="Freeform 652"/>
                <p:cNvSpPr>
                  <a:spLocks noChangeAspect="1"/>
                </p:cNvSpPr>
                <p:nvPr/>
              </p:nvSpPr>
              <p:spPr bwMode="auto">
                <a:xfrm>
                  <a:off x="2529" y="1270"/>
                  <a:ext cx="111" cy="111"/>
                </a:xfrm>
                <a:custGeom>
                  <a:avLst/>
                  <a:gdLst>
                    <a:gd name="T0" fmla="*/ 0 w 333"/>
                    <a:gd name="T1" fmla="*/ 0 h 333"/>
                    <a:gd name="T2" fmla="*/ 0 w 333"/>
                    <a:gd name="T3" fmla="*/ 0 h 333"/>
                    <a:gd name="T4" fmla="*/ 0 w 333"/>
                    <a:gd name="T5" fmla="*/ 0 h 333"/>
                    <a:gd name="T6" fmla="*/ 0 w 333"/>
                    <a:gd name="T7" fmla="*/ 0 h 333"/>
                    <a:gd name="T8" fmla="*/ 0 w 333"/>
                    <a:gd name="T9" fmla="*/ 0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3" h="333">
                      <a:moveTo>
                        <a:pt x="0" y="333"/>
                      </a:moveTo>
                      <a:lnTo>
                        <a:pt x="333" y="0"/>
                      </a:lnTo>
                      <a:lnTo>
                        <a:pt x="333" y="75"/>
                      </a:lnTo>
                      <a:lnTo>
                        <a:pt x="74" y="333"/>
                      </a:lnTo>
                      <a:lnTo>
                        <a:pt x="0" y="333"/>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47" name="Freeform 653"/>
                <p:cNvSpPr>
                  <a:spLocks noChangeAspect="1"/>
                </p:cNvSpPr>
                <p:nvPr/>
              </p:nvSpPr>
              <p:spPr bwMode="auto">
                <a:xfrm>
                  <a:off x="2542" y="1283"/>
                  <a:ext cx="98" cy="98"/>
                </a:xfrm>
                <a:custGeom>
                  <a:avLst/>
                  <a:gdLst>
                    <a:gd name="T0" fmla="*/ 0 w 296"/>
                    <a:gd name="T1" fmla="*/ 0 h 295"/>
                    <a:gd name="T2" fmla="*/ 0 w 296"/>
                    <a:gd name="T3" fmla="*/ 0 h 295"/>
                    <a:gd name="T4" fmla="*/ 0 w 296"/>
                    <a:gd name="T5" fmla="*/ 0 h 295"/>
                    <a:gd name="T6" fmla="*/ 0 w 296"/>
                    <a:gd name="T7" fmla="*/ 0 h 295"/>
                    <a:gd name="T8" fmla="*/ 0 w 296"/>
                    <a:gd name="T9" fmla="*/ 0 h 2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95">
                      <a:moveTo>
                        <a:pt x="0" y="295"/>
                      </a:moveTo>
                      <a:lnTo>
                        <a:pt x="296" y="0"/>
                      </a:lnTo>
                      <a:lnTo>
                        <a:pt x="296" y="74"/>
                      </a:lnTo>
                      <a:lnTo>
                        <a:pt x="74" y="295"/>
                      </a:lnTo>
                      <a:lnTo>
                        <a:pt x="0" y="295"/>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48" name="Freeform 654"/>
                <p:cNvSpPr>
                  <a:spLocks noChangeAspect="1"/>
                </p:cNvSpPr>
                <p:nvPr/>
              </p:nvSpPr>
              <p:spPr bwMode="auto">
                <a:xfrm>
                  <a:off x="2554" y="1295"/>
                  <a:ext cx="86" cy="86"/>
                </a:xfrm>
                <a:custGeom>
                  <a:avLst/>
                  <a:gdLst>
                    <a:gd name="T0" fmla="*/ 0 w 259"/>
                    <a:gd name="T1" fmla="*/ 0 h 258"/>
                    <a:gd name="T2" fmla="*/ 0 w 259"/>
                    <a:gd name="T3" fmla="*/ 0 h 258"/>
                    <a:gd name="T4" fmla="*/ 0 w 259"/>
                    <a:gd name="T5" fmla="*/ 0 h 258"/>
                    <a:gd name="T6" fmla="*/ 0 w 259"/>
                    <a:gd name="T7" fmla="*/ 0 h 258"/>
                    <a:gd name="T8" fmla="*/ 0 w 259"/>
                    <a:gd name="T9" fmla="*/ 0 h 2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9" h="258">
                      <a:moveTo>
                        <a:pt x="0" y="258"/>
                      </a:moveTo>
                      <a:lnTo>
                        <a:pt x="259" y="0"/>
                      </a:lnTo>
                      <a:lnTo>
                        <a:pt x="259" y="73"/>
                      </a:lnTo>
                      <a:lnTo>
                        <a:pt x="73" y="258"/>
                      </a:lnTo>
                      <a:lnTo>
                        <a:pt x="0" y="25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49" name="Freeform 655"/>
                <p:cNvSpPr>
                  <a:spLocks noChangeAspect="1"/>
                </p:cNvSpPr>
                <p:nvPr/>
              </p:nvSpPr>
              <p:spPr bwMode="auto">
                <a:xfrm>
                  <a:off x="2566" y="1308"/>
                  <a:ext cx="74" cy="73"/>
                </a:xfrm>
                <a:custGeom>
                  <a:avLst/>
                  <a:gdLst>
                    <a:gd name="T0" fmla="*/ 0 w 222"/>
                    <a:gd name="T1" fmla="*/ 0 h 221"/>
                    <a:gd name="T2" fmla="*/ 0 w 222"/>
                    <a:gd name="T3" fmla="*/ 0 h 221"/>
                    <a:gd name="T4" fmla="*/ 0 w 222"/>
                    <a:gd name="T5" fmla="*/ 0 h 221"/>
                    <a:gd name="T6" fmla="*/ 0 w 222"/>
                    <a:gd name="T7" fmla="*/ 0 h 221"/>
                    <a:gd name="T8" fmla="*/ 0 w 222"/>
                    <a:gd name="T9" fmla="*/ 0 h 2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2" h="221">
                      <a:moveTo>
                        <a:pt x="0" y="221"/>
                      </a:moveTo>
                      <a:lnTo>
                        <a:pt x="222" y="0"/>
                      </a:lnTo>
                      <a:lnTo>
                        <a:pt x="222" y="73"/>
                      </a:lnTo>
                      <a:lnTo>
                        <a:pt x="74" y="221"/>
                      </a:lnTo>
                      <a:lnTo>
                        <a:pt x="0" y="221"/>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50" name="Freeform 656"/>
                <p:cNvSpPr>
                  <a:spLocks noChangeAspect="1"/>
                </p:cNvSpPr>
                <p:nvPr/>
              </p:nvSpPr>
              <p:spPr bwMode="auto">
                <a:xfrm>
                  <a:off x="2578" y="1320"/>
                  <a:ext cx="62" cy="61"/>
                </a:xfrm>
                <a:custGeom>
                  <a:avLst/>
                  <a:gdLst>
                    <a:gd name="T0" fmla="*/ 0 w 186"/>
                    <a:gd name="T1" fmla="*/ 0 h 185"/>
                    <a:gd name="T2" fmla="*/ 0 w 186"/>
                    <a:gd name="T3" fmla="*/ 0 h 185"/>
                    <a:gd name="T4" fmla="*/ 0 w 186"/>
                    <a:gd name="T5" fmla="*/ 0 h 185"/>
                    <a:gd name="T6" fmla="*/ 0 w 186"/>
                    <a:gd name="T7" fmla="*/ 0 h 185"/>
                    <a:gd name="T8" fmla="*/ 0 w 186"/>
                    <a:gd name="T9" fmla="*/ 0 h 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6" h="185">
                      <a:moveTo>
                        <a:pt x="0" y="185"/>
                      </a:moveTo>
                      <a:lnTo>
                        <a:pt x="186" y="0"/>
                      </a:lnTo>
                      <a:lnTo>
                        <a:pt x="186" y="75"/>
                      </a:lnTo>
                      <a:lnTo>
                        <a:pt x="75" y="185"/>
                      </a:lnTo>
                      <a:lnTo>
                        <a:pt x="0" y="185"/>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51" name="Freeform 657"/>
                <p:cNvSpPr>
                  <a:spLocks noChangeAspect="1"/>
                </p:cNvSpPr>
                <p:nvPr/>
              </p:nvSpPr>
              <p:spPr bwMode="auto">
                <a:xfrm>
                  <a:off x="2591" y="1332"/>
                  <a:ext cx="49" cy="49"/>
                </a:xfrm>
                <a:custGeom>
                  <a:avLst/>
                  <a:gdLst>
                    <a:gd name="T0" fmla="*/ 0 w 148"/>
                    <a:gd name="T1" fmla="*/ 0 h 148"/>
                    <a:gd name="T2" fmla="*/ 0 w 148"/>
                    <a:gd name="T3" fmla="*/ 0 h 148"/>
                    <a:gd name="T4" fmla="*/ 0 w 148"/>
                    <a:gd name="T5" fmla="*/ 0 h 148"/>
                    <a:gd name="T6" fmla="*/ 0 w 148"/>
                    <a:gd name="T7" fmla="*/ 0 h 148"/>
                    <a:gd name="T8" fmla="*/ 0 w 148"/>
                    <a:gd name="T9" fmla="*/ 0 h 1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8" h="148">
                      <a:moveTo>
                        <a:pt x="0" y="148"/>
                      </a:moveTo>
                      <a:lnTo>
                        <a:pt x="148" y="0"/>
                      </a:lnTo>
                      <a:lnTo>
                        <a:pt x="148" y="75"/>
                      </a:lnTo>
                      <a:lnTo>
                        <a:pt x="74" y="148"/>
                      </a:lnTo>
                      <a:lnTo>
                        <a:pt x="0" y="14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52" name="Freeform 658"/>
                <p:cNvSpPr>
                  <a:spLocks noChangeAspect="1"/>
                </p:cNvSpPr>
                <p:nvPr/>
              </p:nvSpPr>
              <p:spPr bwMode="auto">
                <a:xfrm>
                  <a:off x="2603" y="1345"/>
                  <a:ext cx="37" cy="36"/>
                </a:xfrm>
                <a:custGeom>
                  <a:avLst/>
                  <a:gdLst>
                    <a:gd name="T0" fmla="*/ 0 w 111"/>
                    <a:gd name="T1" fmla="*/ 0 h 110"/>
                    <a:gd name="T2" fmla="*/ 0 w 111"/>
                    <a:gd name="T3" fmla="*/ 0 h 110"/>
                    <a:gd name="T4" fmla="*/ 0 w 111"/>
                    <a:gd name="T5" fmla="*/ 0 h 110"/>
                    <a:gd name="T6" fmla="*/ 0 w 111"/>
                    <a:gd name="T7" fmla="*/ 0 h 110"/>
                    <a:gd name="T8" fmla="*/ 0 w 111"/>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1" h="110">
                      <a:moveTo>
                        <a:pt x="0" y="110"/>
                      </a:moveTo>
                      <a:lnTo>
                        <a:pt x="111" y="0"/>
                      </a:lnTo>
                      <a:lnTo>
                        <a:pt x="111" y="73"/>
                      </a:lnTo>
                      <a:lnTo>
                        <a:pt x="73" y="110"/>
                      </a:lnTo>
                      <a:lnTo>
                        <a:pt x="0" y="110"/>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53" name="Freeform 659"/>
                <p:cNvSpPr>
                  <a:spLocks noChangeAspect="1"/>
                </p:cNvSpPr>
                <p:nvPr/>
              </p:nvSpPr>
              <p:spPr bwMode="auto">
                <a:xfrm>
                  <a:off x="2616" y="1357"/>
                  <a:ext cx="24" cy="24"/>
                </a:xfrm>
                <a:custGeom>
                  <a:avLst/>
                  <a:gdLst>
                    <a:gd name="T0" fmla="*/ 0 w 74"/>
                    <a:gd name="T1" fmla="*/ 0 h 73"/>
                    <a:gd name="T2" fmla="*/ 0 w 74"/>
                    <a:gd name="T3" fmla="*/ 0 h 73"/>
                    <a:gd name="T4" fmla="*/ 0 w 74"/>
                    <a:gd name="T5" fmla="*/ 0 h 73"/>
                    <a:gd name="T6" fmla="*/ 0 w 74"/>
                    <a:gd name="T7" fmla="*/ 0 h 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4" h="73">
                      <a:moveTo>
                        <a:pt x="0" y="73"/>
                      </a:moveTo>
                      <a:lnTo>
                        <a:pt x="74" y="0"/>
                      </a:lnTo>
                      <a:lnTo>
                        <a:pt x="74" y="73"/>
                      </a:lnTo>
                      <a:lnTo>
                        <a:pt x="0" y="73"/>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54" name="Freeform 660"/>
                <p:cNvSpPr>
                  <a:spLocks noChangeAspect="1"/>
                </p:cNvSpPr>
                <p:nvPr/>
              </p:nvSpPr>
              <p:spPr bwMode="auto">
                <a:xfrm>
                  <a:off x="2628" y="1369"/>
                  <a:ext cx="12" cy="12"/>
                </a:xfrm>
                <a:custGeom>
                  <a:avLst/>
                  <a:gdLst>
                    <a:gd name="T0" fmla="*/ 0 w 38"/>
                    <a:gd name="T1" fmla="*/ 0 h 37"/>
                    <a:gd name="T2" fmla="*/ 0 w 38"/>
                    <a:gd name="T3" fmla="*/ 0 h 37"/>
                    <a:gd name="T4" fmla="*/ 0 w 38"/>
                    <a:gd name="T5" fmla="*/ 0 h 37"/>
                    <a:gd name="T6" fmla="*/ 0 w 38"/>
                    <a:gd name="T7" fmla="*/ 0 h 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8" h="37">
                      <a:moveTo>
                        <a:pt x="0" y="37"/>
                      </a:moveTo>
                      <a:lnTo>
                        <a:pt x="38" y="0"/>
                      </a:lnTo>
                      <a:lnTo>
                        <a:pt x="38" y="37"/>
                      </a:lnTo>
                      <a:lnTo>
                        <a:pt x="0" y="37"/>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55" name="Rectangle 661"/>
                <p:cNvSpPr>
                  <a:spLocks noChangeAspect="1" noChangeArrowheads="1"/>
                </p:cNvSpPr>
                <p:nvPr/>
              </p:nvSpPr>
              <p:spPr bwMode="auto">
                <a:xfrm>
                  <a:off x="2451" y="955"/>
                  <a:ext cx="189" cy="426"/>
                </a:xfrm>
                <a:prstGeom prst="rect">
                  <a:avLst/>
                </a:prstGeom>
                <a:gradFill rotWithShape="0">
                  <a:gsLst>
                    <a:gs pos="0">
                      <a:srgbClr val="525252"/>
                    </a:gs>
                    <a:gs pos="50000">
                      <a:srgbClr val="B2B2B2"/>
                    </a:gs>
                    <a:gs pos="100000">
                      <a:srgbClr val="525252"/>
                    </a:gs>
                  </a:gsLst>
                  <a:lin ang="2700000" scaled="1"/>
                </a:gradFill>
                <a:ln w="1588">
                  <a:solidFill>
                    <a:srgbClr val="1F1A17"/>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656" name="Freeform 662"/>
                <p:cNvSpPr>
                  <a:spLocks noChangeAspect="1"/>
                </p:cNvSpPr>
                <p:nvPr/>
              </p:nvSpPr>
              <p:spPr bwMode="auto">
                <a:xfrm>
                  <a:off x="2653" y="955"/>
                  <a:ext cx="12" cy="12"/>
                </a:xfrm>
                <a:custGeom>
                  <a:avLst/>
                  <a:gdLst>
                    <a:gd name="T0" fmla="*/ 0 w 36"/>
                    <a:gd name="T1" fmla="*/ 0 h 37"/>
                    <a:gd name="T2" fmla="*/ 0 w 36"/>
                    <a:gd name="T3" fmla="*/ 0 h 37"/>
                    <a:gd name="T4" fmla="*/ 0 w 36"/>
                    <a:gd name="T5" fmla="*/ 0 h 37"/>
                    <a:gd name="T6" fmla="*/ 0 w 36"/>
                    <a:gd name="T7" fmla="*/ 0 h 37"/>
                    <a:gd name="T8" fmla="*/ 0 w 36"/>
                    <a:gd name="T9" fmla="*/ 0 h 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 h="37">
                      <a:moveTo>
                        <a:pt x="0" y="0"/>
                      </a:moveTo>
                      <a:lnTo>
                        <a:pt x="0" y="0"/>
                      </a:lnTo>
                      <a:lnTo>
                        <a:pt x="36" y="0"/>
                      </a:lnTo>
                      <a:lnTo>
                        <a:pt x="0" y="37"/>
                      </a:lnTo>
                      <a:lnTo>
                        <a:pt x="0" y="0"/>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57" name="Freeform 663"/>
                <p:cNvSpPr>
                  <a:spLocks noChangeAspect="1"/>
                </p:cNvSpPr>
                <p:nvPr/>
              </p:nvSpPr>
              <p:spPr bwMode="auto">
                <a:xfrm>
                  <a:off x="2653" y="955"/>
                  <a:ext cx="25" cy="25"/>
                </a:xfrm>
                <a:custGeom>
                  <a:avLst/>
                  <a:gdLst>
                    <a:gd name="T0" fmla="*/ 0 w 73"/>
                    <a:gd name="T1" fmla="*/ 0 h 75"/>
                    <a:gd name="T2" fmla="*/ 0 w 73"/>
                    <a:gd name="T3" fmla="*/ 0 h 75"/>
                    <a:gd name="T4" fmla="*/ 0 w 73"/>
                    <a:gd name="T5" fmla="*/ 0 h 75"/>
                    <a:gd name="T6" fmla="*/ 0 w 73"/>
                    <a:gd name="T7" fmla="*/ 0 h 75"/>
                    <a:gd name="T8" fmla="*/ 0 w 73"/>
                    <a:gd name="T9" fmla="*/ 0 h 7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 h="75">
                      <a:moveTo>
                        <a:pt x="0" y="0"/>
                      </a:moveTo>
                      <a:lnTo>
                        <a:pt x="0" y="0"/>
                      </a:lnTo>
                      <a:lnTo>
                        <a:pt x="73" y="0"/>
                      </a:lnTo>
                      <a:lnTo>
                        <a:pt x="0" y="75"/>
                      </a:lnTo>
                      <a:lnTo>
                        <a:pt x="0" y="0"/>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58" name="Freeform 664"/>
                <p:cNvSpPr>
                  <a:spLocks noChangeAspect="1"/>
                </p:cNvSpPr>
                <p:nvPr/>
              </p:nvSpPr>
              <p:spPr bwMode="auto">
                <a:xfrm>
                  <a:off x="2653" y="955"/>
                  <a:ext cx="37" cy="37"/>
                </a:xfrm>
                <a:custGeom>
                  <a:avLst/>
                  <a:gdLst>
                    <a:gd name="T0" fmla="*/ 0 w 111"/>
                    <a:gd name="T1" fmla="*/ 0 h 112"/>
                    <a:gd name="T2" fmla="*/ 0 w 111"/>
                    <a:gd name="T3" fmla="*/ 0 h 112"/>
                    <a:gd name="T4" fmla="*/ 0 w 111"/>
                    <a:gd name="T5" fmla="*/ 0 h 112"/>
                    <a:gd name="T6" fmla="*/ 0 w 111"/>
                    <a:gd name="T7" fmla="*/ 0 h 112"/>
                    <a:gd name="T8" fmla="*/ 0 w 111"/>
                    <a:gd name="T9" fmla="*/ 0 h 1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1" h="112">
                      <a:moveTo>
                        <a:pt x="0" y="37"/>
                      </a:moveTo>
                      <a:lnTo>
                        <a:pt x="36" y="0"/>
                      </a:lnTo>
                      <a:lnTo>
                        <a:pt x="111" y="0"/>
                      </a:lnTo>
                      <a:lnTo>
                        <a:pt x="0" y="112"/>
                      </a:lnTo>
                      <a:lnTo>
                        <a:pt x="0" y="37"/>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59" name="Freeform 665"/>
                <p:cNvSpPr>
                  <a:spLocks noChangeAspect="1"/>
                </p:cNvSpPr>
                <p:nvPr/>
              </p:nvSpPr>
              <p:spPr bwMode="auto">
                <a:xfrm>
                  <a:off x="2653" y="955"/>
                  <a:ext cx="50" cy="49"/>
                </a:xfrm>
                <a:custGeom>
                  <a:avLst/>
                  <a:gdLst>
                    <a:gd name="T0" fmla="*/ 0 w 148"/>
                    <a:gd name="T1" fmla="*/ 0 h 148"/>
                    <a:gd name="T2" fmla="*/ 0 w 148"/>
                    <a:gd name="T3" fmla="*/ 0 h 148"/>
                    <a:gd name="T4" fmla="*/ 0 w 148"/>
                    <a:gd name="T5" fmla="*/ 0 h 148"/>
                    <a:gd name="T6" fmla="*/ 0 w 148"/>
                    <a:gd name="T7" fmla="*/ 0 h 148"/>
                    <a:gd name="T8" fmla="*/ 0 w 148"/>
                    <a:gd name="T9" fmla="*/ 0 h 1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8" h="148">
                      <a:moveTo>
                        <a:pt x="0" y="75"/>
                      </a:moveTo>
                      <a:lnTo>
                        <a:pt x="73" y="0"/>
                      </a:lnTo>
                      <a:lnTo>
                        <a:pt x="148" y="0"/>
                      </a:lnTo>
                      <a:lnTo>
                        <a:pt x="0" y="148"/>
                      </a:lnTo>
                      <a:lnTo>
                        <a:pt x="0" y="75"/>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60" name="Freeform 666"/>
                <p:cNvSpPr>
                  <a:spLocks noChangeAspect="1"/>
                </p:cNvSpPr>
                <p:nvPr/>
              </p:nvSpPr>
              <p:spPr bwMode="auto">
                <a:xfrm>
                  <a:off x="2653" y="955"/>
                  <a:ext cx="62" cy="62"/>
                </a:xfrm>
                <a:custGeom>
                  <a:avLst/>
                  <a:gdLst>
                    <a:gd name="T0" fmla="*/ 0 w 184"/>
                    <a:gd name="T1" fmla="*/ 0 h 185"/>
                    <a:gd name="T2" fmla="*/ 0 w 184"/>
                    <a:gd name="T3" fmla="*/ 0 h 185"/>
                    <a:gd name="T4" fmla="*/ 0 w 184"/>
                    <a:gd name="T5" fmla="*/ 0 h 185"/>
                    <a:gd name="T6" fmla="*/ 0 w 184"/>
                    <a:gd name="T7" fmla="*/ 0 h 185"/>
                    <a:gd name="T8" fmla="*/ 0 w 184"/>
                    <a:gd name="T9" fmla="*/ 0 h 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5">
                      <a:moveTo>
                        <a:pt x="0" y="112"/>
                      </a:moveTo>
                      <a:lnTo>
                        <a:pt x="111" y="0"/>
                      </a:lnTo>
                      <a:lnTo>
                        <a:pt x="184" y="0"/>
                      </a:lnTo>
                      <a:lnTo>
                        <a:pt x="0" y="185"/>
                      </a:lnTo>
                      <a:lnTo>
                        <a:pt x="0" y="112"/>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61" name="Freeform 667"/>
                <p:cNvSpPr>
                  <a:spLocks noChangeAspect="1"/>
                </p:cNvSpPr>
                <p:nvPr/>
              </p:nvSpPr>
              <p:spPr bwMode="auto">
                <a:xfrm>
                  <a:off x="2653" y="955"/>
                  <a:ext cx="74" cy="74"/>
                </a:xfrm>
                <a:custGeom>
                  <a:avLst/>
                  <a:gdLst>
                    <a:gd name="T0" fmla="*/ 0 w 221"/>
                    <a:gd name="T1" fmla="*/ 0 h 222"/>
                    <a:gd name="T2" fmla="*/ 0 w 221"/>
                    <a:gd name="T3" fmla="*/ 0 h 222"/>
                    <a:gd name="T4" fmla="*/ 0 w 221"/>
                    <a:gd name="T5" fmla="*/ 0 h 222"/>
                    <a:gd name="T6" fmla="*/ 0 w 221"/>
                    <a:gd name="T7" fmla="*/ 0 h 222"/>
                    <a:gd name="T8" fmla="*/ 0 w 221"/>
                    <a:gd name="T9" fmla="*/ 0 h 2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 h="222">
                      <a:moveTo>
                        <a:pt x="0" y="148"/>
                      </a:moveTo>
                      <a:lnTo>
                        <a:pt x="148" y="0"/>
                      </a:lnTo>
                      <a:lnTo>
                        <a:pt x="221" y="0"/>
                      </a:lnTo>
                      <a:lnTo>
                        <a:pt x="0" y="222"/>
                      </a:lnTo>
                      <a:lnTo>
                        <a:pt x="0" y="14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62" name="Freeform 668"/>
                <p:cNvSpPr>
                  <a:spLocks noChangeAspect="1"/>
                </p:cNvSpPr>
                <p:nvPr/>
              </p:nvSpPr>
              <p:spPr bwMode="auto">
                <a:xfrm>
                  <a:off x="2653" y="955"/>
                  <a:ext cx="87" cy="87"/>
                </a:xfrm>
                <a:custGeom>
                  <a:avLst/>
                  <a:gdLst>
                    <a:gd name="T0" fmla="*/ 0 w 259"/>
                    <a:gd name="T1" fmla="*/ 0 h 260"/>
                    <a:gd name="T2" fmla="*/ 0 w 259"/>
                    <a:gd name="T3" fmla="*/ 0 h 260"/>
                    <a:gd name="T4" fmla="*/ 0 w 259"/>
                    <a:gd name="T5" fmla="*/ 0 h 260"/>
                    <a:gd name="T6" fmla="*/ 0 w 259"/>
                    <a:gd name="T7" fmla="*/ 0 h 260"/>
                    <a:gd name="T8" fmla="*/ 0 w 259"/>
                    <a:gd name="T9" fmla="*/ 0 h 2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9" h="260">
                      <a:moveTo>
                        <a:pt x="0" y="185"/>
                      </a:moveTo>
                      <a:lnTo>
                        <a:pt x="184" y="0"/>
                      </a:lnTo>
                      <a:lnTo>
                        <a:pt x="259" y="0"/>
                      </a:lnTo>
                      <a:lnTo>
                        <a:pt x="0" y="260"/>
                      </a:lnTo>
                      <a:lnTo>
                        <a:pt x="0" y="185"/>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63" name="Freeform 669"/>
                <p:cNvSpPr>
                  <a:spLocks noChangeAspect="1"/>
                </p:cNvSpPr>
                <p:nvPr/>
              </p:nvSpPr>
              <p:spPr bwMode="auto">
                <a:xfrm>
                  <a:off x="2653" y="955"/>
                  <a:ext cx="99" cy="99"/>
                </a:xfrm>
                <a:custGeom>
                  <a:avLst/>
                  <a:gdLst>
                    <a:gd name="T0" fmla="*/ 0 w 296"/>
                    <a:gd name="T1" fmla="*/ 0 h 296"/>
                    <a:gd name="T2" fmla="*/ 0 w 296"/>
                    <a:gd name="T3" fmla="*/ 0 h 296"/>
                    <a:gd name="T4" fmla="*/ 0 w 296"/>
                    <a:gd name="T5" fmla="*/ 0 h 296"/>
                    <a:gd name="T6" fmla="*/ 0 w 296"/>
                    <a:gd name="T7" fmla="*/ 0 h 296"/>
                    <a:gd name="T8" fmla="*/ 0 w 296"/>
                    <a:gd name="T9" fmla="*/ 0 h 2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96">
                      <a:moveTo>
                        <a:pt x="0" y="222"/>
                      </a:moveTo>
                      <a:lnTo>
                        <a:pt x="221" y="0"/>
                      </a:lnTo>
                      <a:lnTo>
                        <a:pt x="296" y="0"/>
                      </a:lnTo>
                      <a:lnTo>
                        <a:pt x="0" y="296"/>
                      </a:lnTo>
                      <a:lnTo>
                        <a:pt x="0" y="222"/>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64" name="Freeform 670"/>
                <p:cNvSpPr>
                  <a:spLocks noChangeAspect="1"/>
                </p:cNvSpPr>
                <p:nvPr/>
              </p:nvSpPr>
              <p:spPr bwMode="auto">
                <a:xfrm>
                  <a:off x="2653" y="955"/>
                  <a:ext cx="111" cy="111"/>
                </a:xfrm>
                <a:custGeom>
                  <a:avLst/>
                  <a:gdLst>
                    <a:gd name="T0" fmla="*/ 0 w 332"/>
                    <a:gd name="T1" fmla="*/ 0 h 333"/>
                    <a:gd name="T2" fmla="*/ 0 w 332"/>
                    <a:gd name="T3" fmla="*/ 0 h 333"/>
                    <a:gd name="T4" fmla="*/ 0 w 332"/>
                    <a:gd name="T5" fmla="*/ 0 h 333"/>
                    <a:gd name="T6" fmla="*/ 0 w 332"/>
                    <a:gd name="T7" fmla="*/ 0 h 333"/>
                    <a:gd name="T8" fmla="*/ 0 w 332"/>
                    <a:gd name="T9" fmla="*/ 0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2" h="333">
                      <a:moveTo>
                        <a:pt x="0" y="260"/>
                      </a:moveTo>
                      <a:lnTo>
                        <a:pt x="259" y="0"/>
                      </a:lnTo>
                      <a:lnTo>
                        <a:pt x="332" y="0"/>
                      </a:lnTo>
                      <a:lnTo>
                        <a:pt x="0" y="333"/>
                      </a:lnTo>
                      <a:lnTo>
                        <a:pt x="0" y="260"/>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65" name="Freeform 671"/>
                <p:cNvSpPr>
                  <a:spLocks noChangeAspect="1"/>
                </p:cNvSpPr>
                <p:nvPr/>
              </p:nvSpPr>
              <p:spPr bwMode="auto">
                <a:xfrm>
                  <a:off x="2653" y="955"/>
                  <a:ext cx="123" cy="123"/>
                </a:xfrm>
                <a:custGeom>
                  <a:avLst/>
                  <a:gdLst>
                    <a:gd name="T0" fmla="*/ 0 w 369"/>
                    <a:gd name="T1" fmla="*/ 0 h 370"/>
                    <a:gd name="T2" fmla="*/ 0 w 369"/>
                    <a:gd name="T3" fmla="*/ 0 h 370"/>
                    <a:gd name="T4" fmla="*/ 0 w 369"/>
                    <a:gd name="T5" fmla="*/ 0 h 370"/>
                    <a:gd name="T6" fmla="*/ 0 w 369"/>
                    <a:gd name="T7" fmla="*/ 0 h 370"/>
                    <a:gd name="T8" fmla="*/ 0 w 369"/>
                    <a:gd name="T9" fmla="*/ 0 h 3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9" h="370">
                      <a:moveTo>
                        <a:pt x="0" y="296"/>
                      </a:moveTo>
                      <a:lnTo>
                        <a:pt x="296" y="0"/>
                      </a:lnTo>
                      <a:lnTo>
                        <a:pt x="369" y="0"/>
                      </a:lnTo>
                      <a:lnTo>
                        <a:pt x="0" y="370"/>
                      </a:lnTo>
                      <a:lnTo>
                        <a:pt x="0" y="296"/>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66" name="Freeform 672"/>
                <p:cNvSpPr>
                  <a:spLocks noChangeAspect="1"/>
                </p:cNvSpPr>
                <p:nvPr/>
              </p:nvSpPr>
              <p:spPr bwMode="auto">
                <a:xfrm>
                  <a:off x="2653" y="955"/>
                  <a:ext cx="136" cy="136"/>
                </a:xfrm>
                <a:custGeom>
                  <a:avLst/>
                  <a:gdLst>
                    <a:gd name="T0" fmla="*/ 0 w 407"/>
                    <a:gd name="T1" fmla="*/ 0 h 407"/>
                    <a:gd name="T2" fmla="*/ 0 w 407"/>
                    <a:gd name="T3" fmla="*/ 0 h 407"/>
                    <a:gd name="T4" fmla="*/ 0 w 407"/>
                    <a:gd name="T5" fmla="*/ 0 h 407"/>
                    <a:gd name="T6" fmla="*/ 0 w 407"/>
                    <a:gd name="T7" fmla="*/ 0 h 407"/>
                    <a:gd name="T8" fmla="*/ 0 w 407"/>
                    <a:gd name="T9" fmla="*/ 0 h 4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7" h="407">
                      <a:moveTo>
                        <a:pt x="0" y="333"/>
                      </a:moveTo>
                      <a:lnTo>
                        <a:pt x="332" y="0"/>
                      </a:lnTo>
                      <a:lnTo>
                        <a:pt x="407" y="0"/>
                      </a:lnTo>
                      <a:lnTo>
                        <a:pt x="0" y="407"/>
                      </a:lnTo>
                      <a:lnTo>
                        <a:pt x="0" y="333"/>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67" name="Freeform 673"/>
                <p:cNvSpPr>
                  <a:spLocks noChangeAspect="1"/>
                </p:cNvSpPr>
                <p:nvPr/>
              </p:nvSpPr>
              <p:spPr bwMode="auto">
                <a:xfrm>
                  <a:off x="2653" y="955"/>
                  <a:ext cx="148" cy="148"/>
                </a:xfrm>
                <a:custGeom>
                  <a:avLst/>
                  <a:gdLst>
                    <a:gd name="T0" fmla="*/ 0 w 444"/>
                    <a:gd name="T1" fmla="*/ 0 h 444"/>
                    <a:gd name="T2" fmla="*/ 0 w 444"/>
                    <a:gd name="T3" fmla="*/ 0 h 444"/>
                    <a:gd name="T4" fmla="*/ 0 w 444"/>
                    <a:gd name="T5" fmla="*/ 0 h 444"/>
                    <a:gd name="T6" fmla="*/ 0 w 444"/>
                    <a:gd name="T7" fmla="*/ 0 h 444"/>
                    <a:gd name="T8" fmla="*/ 0 w 444"/>
                    <a:gd name="T9" fmla="*/ 0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4" h="444">
                      <a:moveTo>
                        <a:pt x="0" y="370"/>
                      </a:moveTo>
                      <a:lnTo>
                        <a:pt x="369" y="0"/>
                      </a:lnTo>
                      <a:lnTo>
                        <a:pt x="444" y="0"/>
                      </a:lnTo>
                      <a:lnTo>
                        <a:pt x="0" y="444"/>
                      </a:lnTo>
                      <a:lnTo>
                        <a:pt x="0" y="370"/>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68" name="Freeform 674"/>
                <p:cNvSpPr>
                  <a:spLocks noChangeAspect="1"/>
                </p:cNvSpPr>
                <p:nvPr/>
              </p:nvSpPr>
              <p:spPr bwMode="auto">
                <a:xfrm>
                  <a:off x="2653" y="955"/>
                  <a:ext cx="160" cy="160"/>
                </a:xfrm>
                <a:custGeom>
                  <a:avLst/>
                  <a:gdLst>
                    <a:gd name="T0" fmla="*/ 0 w 480"/>
                    <a:gd name="T1" fmla="*/ 0 h 481"/>
                    <a:gd name="T2" fmla="*/ 0 w 480"/>
                    <a:gd name="T3" fmla="*/ 0 h 481"/>
                    <a:gd name="T4" fmla="*/ 0 w 480"/>
                    <a:gd name="T5" fmla="*/ 0 h 481"/>
                    <a:gd name="T6" fmla="*/ 0 w 480"/>
                    <a:gd name="T7" fmla="*/ 0 h 481"/>
                    <a:gd name="T8" fmla="*/ 0 w 480"/>
                    <a:gd name="T9" fmla="*/ 0 h 4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0" h="481">
                      <a:moveTo>
                        <a:pt x="0" y="407"/>
                      </a:moveTo>
                      <a:lnTo>
                        <a:pt x="407" y="0"/>
                      </a:lnTo>
                      <a:lnTo>
                        <a:pt x="480" y="0"/>
                      </a:lnTo>
                      <a:lnTo>
                        <a:pt x="0" y="481"/>
                      </a:lnTo>
                      <a:lnTo>
                        <a:pt x="0" y="407"/>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69" name="Freeform 675"/>
                <p:cNvSpPr>
                  <a:spLocks noChangeAspect="1"/>
                </p:cNvSpPr>
                <p:nvPr/>
              </p:nvSpPr>
              <p:spPr bwMode="auto">
                <a:xfrm>
                  <a:off x="2653" y="955"/>
                  <a:ext cx="173" cy="173"/>
                </a:xfrm>
                <a:custGeom>
                  <a:avLst/>
                  <a:gdLst>
                    <a:gd name="T0" fmla="*/ 0 w 517"/>
                    <a:gd name="T1" fmla="*/ 0 h 518"/>
                    <a:gd name="T2" fmla="*/ 0 w 517"/>
                    <a:gd name="T3" fmla="*/ 0 h 518"/>
                    <a:gd name="T4" fmla="*/ 0 w 517"/>
                    <a:gd name="T5" fmla="*/ 0 h 518"/>
                    <a:gd name="T6" fmla="*/ 0 w 517"/>
                    <a:gd name="T7" fmla="*/ 0 h 518"/>
                    <a:gd name="T8" fmla="*/ 0 w 517"/>
                    <a:gd name="T9" fmla="*/ 0 h 5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 h="518">
                      <a:moveTo>
                        <a:pt x="0" y="444"/>
                      </a:moveTo>
                      <a:lnTo>
                        <a:pt x="444" y="0"/>
                      </a:lnTo>
                      <a:lnTo>
                        <a:pt x="517" y="0"/>
                      </a:lnTo>
                      <a:lnTo>
                        <a:pt x="0" y="518"/>
                      </a:lnTo>
                      <a:lnTo>
                        <a:pt x="0" y="444"/>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70" name="Freeform 676"/>
                <p:cNvSpPr>
                  <a:spLocks noChangeAspect="1"/>
                </p:cNvSpPr>
                <p:nvPr/>
              </p:nvSpPr>
              <p:spPr bwMode="auto">
                <a:xfrm>
                  <a:off x="2653" y="955"/>
                  <a:ext cx="185" cy="185"/>
                </a:xfrm>
                <a:custGeom>
                  <a:avLst/>
                  <a:gdLst>
                    <a:gd name="T0" fmla="*/ 0 w 555"/>
                    <a:gd name="T1" fmla="*/ 0 h 555"/>
                    <a:gd name="T2" fmla="*/ 0 w 555"/>
                    <a:gd name="T3" fmla="*/ 0 h 555"/>
                    <a:gd name="T4" fmla="*/ 0 w 555"/>
                    <a:gd name="T5" fmla="*/ 0 h 555"/>
                    <a:gd name="T6" fmla="*/ 0 w 555"/>
                    <a:gd name="T7" fmla="*/ 0 h 555"/>
                    <a:gd name="T8" fmla="*/ 0 w 555"/>
                    <a:gd name="T9" fmla="*/ 0 h 5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55" h="555">
                      <a:moveTo>
                        <a:pt x="0" y="481"/>
                      </a:moveTo>
                      <a:lnTo>
                        <a:pt x="480" y="0"/>
                      </a:lnTo>
                      <a:lnTo>
                        <a:pt x="555" y="0"/>
                      </a:lnTo>
                      <a:lnTo>
                        <a:pt x="0" y="555"/>
                      </a:lnTo>
                      <a:lnTo>
                        <a:pt x="0" y="481"/>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71" name="Freeform 677"/>
                <p:cNvSpPr>
                  <a:spLocks noChangeAspect="1"/>
                </p:cNvSpPr>
                <p:nvPr/>
              </p:nvSpPr>
              <p:spPr bwMode="auto">
                <a:xfrm>
                  <a:off x="2653" y="955"/>
                  <a:ext cx="190" cy="197"/>
                </a:xfrm>
                <a:custGeom>
                  <a:avLst/>
                  <a:gdLst>
                    <a:gd name="T0" fmla="*/ 0 w 568"/>
                    <a:gd name="T1" fmla="*/ 0 h 591"/>
                    <a:gd name="T2" fmla="*/ 0 w 568"/>
                    <a:gd name="T3" fmla="*/ 0 h 591"/>
                    <a:gd name="T4" fmla="*/ 0 w 568"/>
                    <a:gd name="T5" fmla="*/ 0 h 591"/>
                    <a:gd name="T6" fmla="*/ 0 w 568"/>
                    <a:gd name="T7" fmla="*/ 0 h 591"/>
                    <a:gd name="T8" fmla="*/ 0 w 568"/>
                    <a:gd name="T9" fmla="*/ 0 h 591"/>
                    <a:gd name="T10" fmla="*/ 0 w 568"/>
                    <a:gd name="T11" fmla="*/ 0 h 59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68" h="591">
                      <a:moveTo>
                        <a:pt x="0" y="518"/>
                      </a:moveTo>
                      <a:lnTo>
                        <a:pt x="517" y="0"/>
                      </a:lnTo>
                      <a:lnTo>
                        <a:pt x="568" y="0"/>
                      </a:lnTo>
                      <a:lnTo>
                        <a:pt x="568" y="24"/>
                      </a:lnTo>
                      <a:lnTo>
                        <a:pt x="0" y="591"/>
                      </a:lnTo>
                      <a:lnTo>
                        <a:pt x="0" y="51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72" name="Freeform 678"/>
                <p:cNvSpPr>
                  <a:spLocks noChangeAspect="1"/>
                </p:cNvSpPr>
                <p:nvPr/>
              </p:nvSpPr>
              <p:spPr bwMode="auto">
                <a:xfrm>
                  <a:off x="2653" y="955"/>
                  <a:ext cx="190" cy="210"/>
                </a:xfrm>
                <a:custGeom>
                  <a:avLst/>
                  <a:gdLst>
                    <a:gd name="T0" fmla="*/ 0 w 568"/>
                    <a:gd name="T1" fmla="*/ 0 h 629"/>
                    <a:gd name="T2" fmla="*/ 0 w 568"/>
                    <a:gd name="T3" fmla="*/ 0 h 629"/>
                    <a:gd name="T4" fmla="*/ 0 w 568"/>
                    <a:gd name="T5" fmla="*/ 0 h 629"/>
                    <a:gd name="T6" fmla="*/ 0 w 568"/>
                    <a:gd name="T7" fmla="*/ 0 h 629"/>
                    <a:gd name="T8" fmla="*/ 0 w 568"/>
                    <a:gd name="T9" fmla="*/ 0 h 629"/>
                    <a:gd name="T10" fmla="*/ 0 w 568"/>
                    <a:gd name="T11" fmla="*/ 0 h 62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68" h="629">
                      <a:moveTo>
                        <a:pt x="0" y="555"/>
                      </a:moveTo>
                      <a:lnTo>
                        <a:pt x="555" y="0"/>
                      </a:lnTo>
                      <a:lnTo>
                        <a:pt x="568" y="0"/>
                      </a:lnTo>
                      <a:lnTo>
                        <a:pt x="568" y="60"/>
                      </a:lnTo>
                      <a:lnTo>
                        <a:pt x="0" y="629"/>
                      </a:lnTo>
                      <a:lnTo>
                        <a:pt x="0" y="555"/>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73" name="Freeform 679"/>
                <p:cNvSpPr>
                  <a:spLocks noChangeAspect="1"/>
                </p:cNvSpPr>
                <p:nvPr/>
              </p:nvSpPr>
              <p:spPr bwMode="auto">
                <a:xfrm>
                  <a:off x="2653" y="963"/>
                  <a:ext cx="190" cy="214"/>
                </a:xfrm>
                <a:custGeom>
                  <a:avLst/>
                  <a:gdLst>
                    <a:gd name="T0" fmla="*/ 0 w 568"/>
                    <a:gd name="T1" fmla="*/ 0 h 642"/>
                    <a:gd name="T2" fmla="*/ 0 w 568"/>
                    <a:gd name="T3" fmla="*/ 0 h 642"/>
                    <a:gd name="T4" fmla="*/ 0 w 568"/>
                    <a:gd name="T5" fmla="*/ 0 h 642"/>
                    <a:gd name="T6" fmla="*/ 0 w 568"/>
                    <a:gd name="T7" fmla="*/ 0 h 642"/>
                    <a:gd name="T8" fmla="*/ 0 w 568"/>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8" h="642">
                      <a:moveTo>
                        <a:pt x="0" y="567"/>
                      </a:moveTo>
                      <a:lnTo>
                        <a:pt x="568" y="0"/>
                      </a:lnTo>
                      <a:lnTo>
                        <a:pt x="568" y="73"/>
                      </a:lnTo>
                      <a:lnTo>
                        <a:pt x="0" y="642"/>
                      </a:lnTo>
                      <a:lnTo>
                        <a:pt x="0" y="567"/>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74" name="Freeform 680"/>
                <p:cNvSpPr>
                  <a:spLocks noChangeAspect="1"/>
                </p:cNvSpPr>
                <p:nvPr/>
              </p:nvSpPr>
              <p:spPr bwMode="auto">
                <a:xfrm>
                  <a:off x="2653" y="975"/>
                  <a:ext cx="190" cy="214"/>
                </a:xfrm>
                <a:custGeom>
                  <a:avLst/>
                  <a:gdLst>
                    <a:gd name="T0" fmla="*/ 0 w 568"/>
                    <a:gd name="T1" fmla="*/ 0 h 643"/>
                    <a:gd name="T2" fmla="*/ 0 w 568"/>
                    <a:gd name="T3" fmla="*/ 0 h 643"/>
                    <a:gd name="T4" fmla="*/ 0 w 568"/>
                    <a:gd name="T5" fmla="*/ 0 h 643"/>
                    <a:gd name="T6" fmla="*/ 0 w 568"/>
                    <a:gd name="T7" fmla="*/ 0 h 643"/>
                    <a:gd name="T8" fmla="*/ 0 w 568"/>
                    <a:gd name="T9" fmla="*/ 0 h 6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8" h="643">
                      <a:moveTo>
                        <a:pt x="0" y="569"/>
                      </a:moveTo>
                      <a:lnTo>
                        <a:pt x="568" y="0"/>
                      </a:lnTo>
                      <a:lnTo>
                        <a:pt x="568" y="74"/>
                      </a:lnTo>
                      <a:lnTo>
                        <a:pt x="0" y="643"/>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75" name="Freeform 681"/>
                <p:cNvSpPr>
                  <a:spLocks noChangeAspect="1"/>
                </p:cNvSpPr>
                <p:nvPr/>
              </p:nvSpPr>
              <p:spPr bwMode="auto">
                <a:xfrm>
                  <a:off x="2653" y="987"/>
                  <a:ext cx="190" cy="214"/>
                </a:xfrm>
                <a:custGeom>
                  <a:avLst/>
                  <a:gdLst>
                    <a:gd name="T0" fmla="*/ 0 w 568"/>
                    <a:gd name="T1" fmla="*/ 0 h 642"/>
                    <a:gd name="T2" fmla="*/ 0 w 568"/>
                    <a:gd name="T3" fmla="*/ 0 h 642"/>
                    <a:gd name="T4" fmla="*/ 0 w 568"/>
                    <a:gd name="T5" fmla="*/ 0 h 642"/>
                    <a:gd name="T6" fmla="*/ 0 w 568"/>
                    <a:gd name="T7" fmla="*/ 0 h 642"/>
                    <a:gd name="T8" fmla="*/ 0 w 568"/>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8" h="642">
                      <a:moveTo>
                        <a:pt x="0" y="569"/>
                      </a:moveTo>
                      <a:lnTo>
                        <a:pt x="568" y="0"/>
                      </a:lnTo>
                      <a:lnTo>
                        <a:pt x="568" y="74"/>
                      </a:lnTo>
                      <a:lnTo>
                        <a:pt x="0" y="642"/>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76" name="Freeform 682"/>
                <p:cNvSpPr>
                  <a:spLocks noChangeAspect="1"/>
                </p:cNvSpPr>
                <p:nvPr/>
              </p:nvSpPr>
              <p:spPr bwMode="auto">
                <a:xfrm>
                  <a:off x="2653" y="1000"/>
                  <a:ext cx="190" cy="214"/>
                </a:xfrm>
                <a:custGeom>
                  <a:avLst/>
                  <a:gdLst>
                    <a:gd name="T0" fmla="*/ 0 w 568"/>
                    <a:gd name="T1" fmla="*/ 0 h 642"/>
                    <a:gd name="T2" fmla="*/ 0 w 568"/>
                    <a:gd name="T3" fmla="*/ 0 h 642"/>
                    <a:gd name="T4" fmla="*/ 0 w 568"/>
                    <a:gd name="T5" fmla="*/ 0 h 642"/>
                    <a:gd name="T6" fmla="*/ 0 w 568"/>
                    <a:gd name="T7" fmla="*/ 0 h 642"/>
                    <a:gd name="T8" fmla="*/ 0 w 568"/>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8" h="642">
                      <a:moveTo>
                        <a:pt x="0" y="569"/>
                      </a:moveTo>
                      <a:lnTo>
                        <a:pt x="568" y="0"/>
                      </a:lnTo>
                      <a:lnTo>
                        <a:pt x="568" y="74"/>
                      </a:lnTo>
                      <a:lnTo>
                        <a:pt x="0" y="642"/>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77" name="Freeform 683"/>
                <p:cNvSpPr>
                  <a:spLocks noChangeAspect="1"/>
                </p:cNvSpPr>
                <p:nvPr/>
              </p:nvSpPr>
              <p:spPr bwMode="auto">
                <a:xfrm>
                  <a:off x="2653" y="1012"/>
                  <a:ext cx="190" cy="214"/>
                </a:xfrm>
                <a:custGeom>
                  <a:avLst/>
                  <a:gdLst>
                    <a:gd name="T0" fmla="*/ 0 w 568"/>
                    <a:gd name="T1" fmla="*/ 0 h 643"/>
                    <a:gd name="T2" fmla="*/ 0 w 568"/>
                    <a:gd name="T3" fmla="*/ 0 h 643"/>
                    <a:gd name="T4" fmla="*/ 0 w 568"/>
                    <a:gd name="T5" fmla="*/ 0 h 643"/>
                    <a:gd name="T6" fmla="*/ 0 w 568"/>
                    <a:gd name="T7" fmla="*/ 0 h 643"/>
                    <a:gd name="T8" fmla="*/ 0 w 568"/>
                    <a:gd name="T9" fmla="*/ 0 h 6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8" h="643">
                      <a:moveTo>
                        <a:pt x="0" y="568"/>
                      </a:moveTo>
                      <a:lnTo>
                        <a:pt x="568" y="0"/>
                      </a:lnTo>
                      <a:lnTo>
                        <a:pt x="568" y="74"/>
                      </a:lnTo>
                      <a:lnTo>
                        <a:pt x="0" y="643"/>
                      </a:lnTo>
                      <a:lnTo>
                        <a:pt x="0" y="56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78" name="Freeform 684"/>
                <p:cNvSpPr>
                  <a:spLocks noChangeAspect="1"/>
                </p:cNvSpPr>
                <p:nvPr/>
              </p:nvSpPr>
              <p:spPr bwMode="auto">
                <a:xfrm>
                  <a:off x="2653" y="1024"/>
                  <a:ext cx="190" cy="215"/>
                </a:xfrm>
                <a:custGeom>
                  <a:avLst/>
                  <a:gdLst>
                    <a:gd name="T0" fmla="*/ 0 w 568"/>
                    <a:gd name="T1" fmla="*/ 0 h 643"/>
                    <a:gd name="T2" fmla="*/ 0 w 568"/>
                    <a:gd name="T3" fmla="*/ 0 h 643"/>
                    <a:gd name="T4" fmla="*/ 0 w 568"/>
                    <a:gd name="T5" fmla="*/ 0 h 643"/>
                    <a:gd name="T6" fmla="*/ 0 w 568"/>
                    <a:gd name="T7" fmla="*/ 0 h 643"/>
                    <a:gd name="T8" fmla="*/ 0 w 568"/>
                    <a:gd name="T9" fmla="*/ 0 h 6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8" h="643">
                      <a:moveTo>
                        <a:pt x="0" y="568"/>
                      </a:moveTo>
                      <a:lnTo>
                        <a:pt x="568" y="0"/>
                      </a:lnTo>
                      <a:lnTo>
                        <a:pt x="568" y="74"/>
                      </a:lnTo>
                      <a:lnTo>
                        <a:pt x="0" y="643"/>
                      </a:lnTo>
                      <a:lnTo>
                        <a:pt x="0" y="56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79" name="Freeform 685"/>
                <p:cNvSpPr>
                  <a:spLocks noChangeAspect="1"/>
                </p:cNvSpPr>
                <p:nvPr/>
              </p:nvSpPr>
              <p:spPr bwMode="auto">
                <a:xfrm>
                  <a:off x="2653" y="1037"/>
                  <a:ext cx="190" cy="214"/>
                </a:xfrm>
                <a:custGeom>
                  <a:avLst/>
                  <a:gdLst>
                    <a:gd name="T0" fmla="*/ 0 w 568"/>
                    <a:gd name="T1" fmla="*/ 0 h 642"/>
                    <a:gd name="T2" fmla="*/ 0 w 568"/>
                    <a:gd name="T3" fmla="*/ 0 h 642"/>
                    <a:gd name="T4" fmla="*/ 0 w 568"/>
                    <a:gd name="T5" fmla="*/ 0 h 642"/>
                    <a:gd name="T6" fmla="*/ 0 w 568"/>
                    <a:gd name="T7" fmla="*/ 0 h 642"/>
                    <a:gd name="T8" fmla="*/ 0 w 568"/>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8" h="642">
                      <a:moveTo>
                        <a:pt x="0" y="569"/>
                      </a:moveTo>
                      <a:lnTo>
                        <a:pt x="568" y="0"/>
                      </a:lnTo>
                      <a:lnTo>
                        <a:pt x="568" y="74"/>
                      </a:lnTo>
                      <a:lnTo>
                        <a:pt x="0" y="642"/>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80" name="Freeform 686"/>
                <p:cNvSpPr>
                  <a:spLocks noChangeAspect="1"/>
                </p:cNvSpPr>
                <p:nvPr/>
              </p:nvSpPr>
              <p:spPr bwMode="auto">
                <a:xfrm>
                  <a:off x="2653" y="1049"/>
                  <a:ext cx="190" cy="214"/>
                </a:xfrm>
                <a:custGeom>
                  <a:avLst/>
                  <a:gdLst>
                    <a:gd name="T0" fmla="*/ 0 w 568"/>
                    <a:gd name="T1" fmla="*/ 0 h 642"/>
                    <a:gd name="T2" fmla="*/ 0 w 568"/>
                    <a:gd name="T3" fmla="*/ 0 h 642"/>
                    <a:gd name="T4" fmla="*/ 0 w 568"/>
                    <a:gd name="T5" fmla="*/ 0 h 642"/>
                    <a:gd name="T6" fmla="*/ 0 w 568"/>
                    <a:gd name="T7" fmla="*/ 0 h 642"/>
                    <a:gd name="T8" fmla="*/ 0 w 568"/>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8" h="642">
                      <a:moveTo>
                        <a:pt x="0" y="569"/>
                      </a:moveTo>
                      <a:lnTo>
                        <a:pt x="568" y="0"/>
                      </a:lnTo>
                      <a:lnTo>
                        <a:pt x="568" y="73"/>
                      </a:lnTo>
                      <a:lnTo>
                        <a:pt x="0" y="642"/>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81" name="Freeform 687"/>
                <p:cNvSpPr>
                  <a:spLocks noChangeAspect="1"/>
                </p:cNvSpPr>
                <p:nvPr/>
              </p:nvSpPr>
              <p:spPr bwMode="auto">
                <a:xfrm>
                  <a:off x="2653" y="1061"/>
                  <a:ext cx="190" cy="214"/>
                </a:xfrm>
                <a:custGeom>
                  <a:avLst/>
                  <a:gdLst>
                    <a:gd name="T0" fmla="*/ 0 w 568"/>
                    <a:gd name="T1" fmla="*/ 0 h 642"/>
                    <a:gd name="T2" fmla="*/ 0 w 568"/>
                    <a:gd name="T3" fmla="*/ 0 h 642"/>
                    <a:gd name="T4" fmla="*/ 0 w 568"/>
                    <a:gd name="T5" fmla="*/ 0 h 642"/>
                    <a:gd name="T6" fmla="*/ 0 w 568"/>
                    <a:gd name="T7" fmla="*/ 0 h 642"/>
                    <a:gd name="T8" fmla="*/ 0 w 568"/>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8" h="642">
                      <a:moveTo>
                        <a:pt x="0" y="568"/>
                      </a:moveTo>
                      <a:lnTo>
                        <a:pt x="568" y="0"/>
                      </a:lnTo>
                      <a:lnTo>
                        <a:pt x="568" y="74"/>
                      </a:lnTo>
                      <a:lnTo>
                        <a:pt x="0" y="642"/>
                      </a:lnTo>
                      <a:lnTo>
                        <a:pt x="0" y="56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82" name="Freeform 688"/>
                <p:cNvSpPr>
                  <a:spLocks noChangeAspect="1"/>
                </p:cNvSpPr>
                <p:nvPr/>
              </p:nvSpPr>
              <p:spPr bwMode="auto">
                <a:xfrm>
                  <a:off x="2653" y="1073"/>
                  <a:ext cx="190" cy="214"/>
                </a:xfrm>
                <a:custGeom>
                  <a:avLst/>
                  <a:gdLst>
                    <a:gd name="T0" fmla="*/ 0 w 568"/>
                    <a:gd name="T1" fmla="*/ 0 h 642"/>
                    <a:gd name="T2" fmla="*/ 0 w 568"/>
                    <a:gd name="T3" fmla="*/ 0 h 642"/>
                    <a:gd name="T4" fmla="*/ 0 w 568"/>
                    <a:gd name="T5" fmla="*/ 0 h 642"/>
                    <a:gd name="T6" fmla="*/ 0 w 568"/>
                    <a:gd name="T7" fmla="*/ 0 h 642"/>
                    <a:gd name="T8" fmla="*/ 0 w 568"/>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8" h="642">
                      <a:moveTo>
                        <a:pt x="0" y="569"/>
                      </a:moveTo>
                      <a:lnTo>
                        <a:pt x="568" y="0"/>
                      </a:lnTo>
                      <a:lnTo>
                        <a:pt x="568" y="75"/>
                      </a:lnTo>
                      <a:lnTo>
                        <a:pt x="0" y="642"/>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83" name="Freeform 689"/>
                <p:cNvSpPr>
                  <a:spLocks noChangeAspect="1"/>
                </p:cNvSpPr>
                <p:nvPr/>
              </p:nvSpPr>
              <p:spPr bwMode="auto">
                <a:xfrm>
                  <a:off x="2653" y="1086"/>
                  <a:ext cx="190" cy="214"/>
                </a:xfrm>
                <a:custGeom>
                  <a:avLst/>
                  <a:gdLst>
                    <a:gd name="T0" fmla="*/ 0 w 568"/>
                    <a:gd name="T1" fmla="*/ 0 h 642"/>
                    <a:gd name="T2" fmla="*/ 0 w 568"/>
                    <a:gd name="T3" fmla="*/ 0 h 642"/>
                    <a:gd name="T4" fmla="*/ 0 w 568"/>
                    <a:gd name="T5" fmla="*/ 0 h 642"/>
                    <a:gd name="T6" fmla="*/ 0 w 568"/>
                    <a:gd name="T7" fmla="*/ 0 h 642"/>
                    <a:gd name="T8" fmla="*/ 0 w 568"/>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8" h="642">
                      <a:moveTo>
                        <a:pt x="0" y="568"/>
                      </a:moveTo>
                      <a:lnTo>
                        <a:pt x="568" y="0"/>
                      </a:lnTo>
                      <a:lnTo>
                        <a:pt x="568" y="74"/>
                      </a:lnTo>
                      <a:lnTo>
                        <a:pt x="0" y="642"/>
                      </a:lnTo>
                      <a:lnTo>
                        <a:pt x="0" y="56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84" name="Freeform 690"/>
                <p:cNvSpPr>
                  <a:spLocks noChangeAspect="1"/>
                </p:cNvSpPr>
                <p:nvPr/>
              </p:nvSpPr>
              <p:spPr bwMode="auto">
                <a:xfrm>
                  <a:off x="2653" y="1098"/>
                  <a:ext cx="190" cy="214"/>
                </a:xfrm>
                <a:custGeom>
                  <a:avLst/>
                  <a:gdLst>
                    <a:gd name="T0" fmla="*/ 0 w 568"/>
                    <a:gd name="T1" fmla="*/ 0 h 642"/>
                    <a:gd name="T2" fmla="*/ 0 w 568"/>
                    <a:gd name="T3" fmla="*/ 0 h 642"/>
                    <a:gd name="T4" fmla="*/ 0 w 568"/>
                    <a:gd name="T5" fmla="*/ 0 h 642"/>
                    <a:gd name="T6" fmla="*/ 0 w 568"/>
                    <a:gd name="T7" fmla="*/ 0 h 642"/>
                    <a:gd name="T8" fmla="*/ 0 w 568"/>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8" h="642">
                      <a:moveTo>
                        <a:pt x="0" y="567"/>
                      </a:moveTo>
                      <a:lnTo>
                        <a:pt x="568" y="0"/>
                      </a:lnTo>
                      <a:lnTo>
                        <a:pt x="568" y="73"/>
                      </a:lnTo>
                      <a:lnTo>
                        <a:pt x="0" y="642"/>
                      </a:lnTo>
                      <a:lnTo>
                        <a:pt x="0" y="567"/>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85" name="Freeform 691"/>
                <p:cNvSpPr>
                  <a:spLocks noChangeAspect="1"/>
                </p:cNvSpPr>
                <p:nvPr/>
              </p:nvSpPr>
              <p:spPr bwMode="auto">
                <a:xfrm>
                  <a:off x="2653" y="1111"/>
                  <a:ext cx="190" cy="214"/>
                </a:xfrm>
                <a:custGeom>
                  <a:avLst/>
                  <a:gdLst>
                    <a:gd name="T0" fmla="*/ 0 w 568"/>
                    <a:gd name="T1" fmla="*/ 0 h 642"/>
                    <a:gd name="T2" fmla="*/ 0 w 568"/>
                    <a:gd name="T3" fmla="*/ 0 h 642"/>
                    <a:gd name="T4" fmla="*/ 0 w 568"/>
                    <a:gd name="T5" fmla="*/ 0 h 642"/>
                    <a:gd name="T6" fmla="*/ 0 w 568"/>
                    <a:gd name="T7" fmla="*/ 0 h 642"/>
                    <a:gd name="T8" fmla="*/ 0 w 568"/>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8" h="642">
                      <a:moveTo>
                        <a:pt x="0" y="568"/>
                      </a:moveTo>
                      <a:lnTo>
                        <a:pt x="568" y="0"/>
                      </a:lnTo>
                      <a:lnTo>
                        <a:pt x="568" y="73"/>
                      </a:lnTo>
                      <a:lnTo>
                        <a:pt x="0" y="642"/>
                      </a:lnTo>
                      <a:lnTo>
                        <a:pt x="0" y="56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86" name="Freeform 692"/>
                <p:cNvSpPr>
                  <a:spLocks noChangeAspect="1"/>
                </p:cNvSpPr>
                <p:nvPr/>
              </p:nvSpPr>
              <p:spPr bwMode="auto">
                <a:xfrm>
                  <a:off x="2653" y="1123"/>
                  <a:ext cx="190" cy="214"/>
                </a:xfrm>
                <a:custGeom>
                  <a:avLst/>
                  <a:gdLst>
                    <a:gd name="T0" fmla="*/ 0 w 568"/>
                    <a:gd name="T1" fmla="*/ 0 h 642"/>
                    <a:gd name="T2" fmla="*/ 0 w 568"/>
                    <a:gd name="T3" fmla="*/ 0 h 642"/>
                    <a:gd name="T4" fmla="*/ 0 w 568"/>
                    <a:gd name="T5" fmla="*/ 0 h 642"/>
                    <a:gd name="T6" fmla="*/ 0 w 568"/>
                    <a:gd name="T7" fmla="*/ 0 h 642"/>
                    <a:gd name="T8" fmla="*/ 0 w 568"/>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8" h="642">
                      <a:moveTo>
                        <a:pt x="0" y="569"/>
                      </a:moveTo>
                      <a:lnTo>
                        <a:pt x="568" y="0"/>
                      </a:lnTo>
                      <a:lnTo>
                        <a:pt x="568" y="74"/>
                      </a:lnTo>
                      <a:lnTo>
                        <a:pt x="0" y="642"/>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87" name="Freeform 693"/>
                <p:cNvSpPr>
                  <a:spLocks noChangeAspect="1"/>
                </p:cNvSpPr>
                <p:nvPr/>
              </p:nvSpPr>
              <p:spPr bwMode="auto">
                <a:xfrm>
                  <a:off x="2653" y="1135"/>
                  <a:ext cx="190" cy="214"/>
                </a:xfrm>
                <a:custGeom>
                  <a:avLst/>
                  <a:gdLst>
                    <a:gd name="T0" fmla="*/ 0 w 568"/>
                    <a:gd name="T1" fmla="*/ 0 h 642"/>
                    <a:gd name="T2" fmla="*/ 0 w 568"/>
                    <a:gd name="T3" fmla="*/ 0 h 642"/>
                    <a:gd name="T4" fmla="*/ 0 w 568"/>
                    <a:gd name="T5" fmla="*/ 0 h 642"/>
                    <a:gd name="T6" fmla="*/ 0 w 568"/>
                    <a:gd name="T7" fmla="*/ 0 h 642"/>
                    <a:gd name="T8" fmla="*/ 0 w 568"/>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8" h="642">
                      <a:moveTo>
                        <a:pt x="0" y="569"/>
                      </a:moveTo>
                      <a:lnTo>
                        <a:pt x="568" y="0"/>
                      </a:lnTo>
                      <a:lnTo>
                        <a:pt x="568" y="75"/>
                      </a:lnTo>
                      <a:lnTo>
                        <a:pt x="0" y="642"/>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88" name="Freeform 694"/>
                <p:cNvSpPr>
                  <a:spLocks noChangeAspect="1"/>
                </p:cNvSpPr>
                <p:nvPr/>
              </p:nvSpPr>
              <p:spPr bwMode="auto">
                <a:xfrm>
                  <a:off x="2653" y="1147"/>
                  <a:ext cx="190" cy="215"/>
                </a:xfrm>
                <a:custGeom>
                  <a:avLst/>
                  <a:gdLst>
                    <a:gd name="T0" fmla="*/ 0 w 568"/>
                    <a:gd name="T1" fmla="*/ 0 h 643"/>
                    <a:gd name="T2" fmla="*/ 0 w 568"/>
                    <a:gd name="T3" fmla="*/ 0 h 643"/>
                    <a:gd name="T4" fmla="*/ 0 w 568"/>
                    <a:gd name="T5" fmla="*/ 0 h 643"/>
                    <a:gd name="T6" fmla="*/ 0 w 568"/>
                    <a:gd name="T7" fmla="*/ 0 h 643"/>
                    <a:gd name="T8" fmla="*/ 0 w 568"/>
                    <a:gd name="T9" fmla="*/ 0 h 6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8" h="643">
                      <a:moveTo>
                        <a:pt x="0" y="568"/>
                      </a:moveTo>
                      <a:lnTo>
                        <a:pt x="568" y="0"/>
                      </a:lnTo>
                      <a:lnTo>
                        <a:pt x="568" y="74"/>
                      </a:lnTo>
                      <a:lnTo>
                        <a:pt x="0" y="643"/>
                      </a:lnTo>
                      <a:lnTo>
                        <a:pt x="0" y="56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89" name="Freeform 695"/>
                <p:cNvSpPr>
                  <a:spLocks noChangeAspect="1"/>
                </p:cNvSpPr>
                <p:nvPr/>
              </p:nvSpPr>
              <p:spPr bwMode="auto">
                <a:xfrm>
                  <a:off x="2653" y="1160"/>
                  <a:ext cx="190" cy="214"/>
                </a:xfrm>
                <a:custGeom>
                  <a:avLst/>
                  <a:gdLst>
                    <a:gd name="T0" fmla="*/ 0 w 568"/>
                    <a:gd name="T1" fmla="*/ 0 h 642"/>
                    <a:gd name="T2" fmla="*/ 0 w 568"/>
                    <a:gd name="T3" fmla="*/ 0 h 642"/>
                    <a:gd name="T4" fmla="*/ 0 w 568"/>
                    <a:gd name="T5" fmla="*/ 0 h 642"/>
                    <a:gd name="T6" fmla="*/ 0 w 568"/>
                    <a:gd name="T7" fmla="*/ 0 h 642"/>
                    <a:gd name="T8" fmla="*/ 0 w 568"/>
                    <a:gd name="T9" fmla="*/ 0 h 6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8" h="642">
                      <a:moveTo>
                        <a:pt x="0" y="567"/>
                      </a:moveTo>
                      <a:lnTo>
                        <a:pt x="568" y="0"/>
                      </a:lnTo>
                      <a:lnTo>
                        <a:pt x="568" y="73"/>
                      </a:lnTo>
                      <a:lnTo>
                        <a:pt x="0" y="642"/>
                      </a:lnTo>
                      <a:lnTo>
                        <a:pt x="0" y="567"/>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90" name="Freeform 696"/>
                <p:cNvSpPr>
                  <a:spLocks noChangeAspect="1"/>
                </p:cNvSpPr>
                <p:nvPr/>
              </p:nvSpPr>
              <p:spPr bwMode="auto">
                <a:xfrm>
                  <a:off x="2653" y="1172"/>
                  <a:ext cx="190" cy="209"/>
                </a:xfrm>
                <a:custGeom>
                  <a:avLst/>
                  <a:gdLst>
                    <a:gd name="T0" fmla="*/ 0 w 568"/>
                    <a:gd name="T1" fmla="*/ 0 h 628"/>
                    <a:gd name="T2" fmla="*/ 0 w 568"/>
                    <a:gd name="T3" fmla="*/ 0 h 628"/>
                    <a:gd name="T4" fmla="*/ 0 w 568"/>
                    <a:gd name="T5" fmla="*/ 0 h 628"/>
                    <a:gd name="T6" fmla="*/ 0 w 568"/>
                    <a:gd name="T7" fmla="*/ 0 h 628"/>
                    <a:gd name="T8" fmla="*/ 0 w 568"/>
                    <a:gd name="T9" fmla="*/ 0 h 628"/>
                    <a:gd name="T10" fmla="*/ 0 w 568"/>
                    <a:gd name="T11" fmla="*/ 0 h 6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68" h="628">
                      <a:moveTo>
                        <a:pt x="0" y="569"/>
                      </a:moveTo>
                      <a:lnTo>
                        <a:pt x="568" y="0"/>
                      </a:lnTo>
                      <a:lnTo>
                        <a:pt x="568" y="74"/>
                      </a:lnTo>
                      <a:lnTo>
                        <a:pt x="14" y="628"/>
                      </a:lnTo>
                      <a:lnTo>
                        <a:pt x="0" y="628"/>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91" name="Freeform 697"/>
                <p:cNvSpPr>
                  <a:spLocks noChangeAspect="1"/>
                </p:cNvSpPr>
                <p:nvPr/>
              </p:nvSpPr>
              <p:spPr bwMode="auto">
                <a:xfrm>
                  <a:off x="2653" y="1184"/>
                  <a:ext cx="190" cy="197"/>
                </a:xfrm>
                <a:custGeom>
                  <a:avLst/>
                  <a:gdLst>
                    <a:gd name="T0" fmla="*/ 0 w 568"/>
                    <a:gd name="T1" fmla="*/ 0 h 591"/>
                    <a:gd name="T2" fmla="*/ 0 w 568"/>
                    <a:gd name="T3" fmla="*/ 0 h 591"/>
                    <a:gd name="T4" fmla="*/ 0 w 568"/>
                    <a:gd name="T5" fmla="*/ 0 h 591"/>
                    <a:gd name="T6" fmla="*/ 0 w 568"/>
                    <a:gd name="T7" fmla="*/ 0 h 591"/>
                    <a:gd name="T8" fmla="*/ 0 w 568"/>
                    <a:gd name="T9" fmla="*/ 0 h 591"/>
                    <a:gd name="T10" fmla="*/ 0 w 568"/>
                    <a:gd name="T11" fmla="*/ 0 h 59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68" h="591">
                      <a:moveTo>
                        <a:pt x="0" y="569"/>
                      </a:moveTo>
                      <a:lnTo>
                        <a:pt x="568" y="0"/>
                      </a:lnTo>
                      <a:lnTo>
                        <a:pt x="568" y="74"/>
                      </a:lnTo>
                      <a:lnTo>
                        <a:pt x="51" y="591"/>
                      </a:lnTo>
                      <a:lnTo>
                        <a:pt x="0" y="591"/>
                      </a:lnTo>
                      <a:lnTo>
                        <a:pt x="0" y="5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92" name="Freeform 698"/>
                <p:cNvSpPr>
                  <a:spLocks noChangeAspect="1"/>
                </p:cNvSpPr>
                <p:nvPr/>
              </p:nvSpPr>
              <p:spPr bwMode="auto">
                <a:xfrm>
                  <a:off x="2658" y="1197"/>
                  <a:ext cx="185" cy="184"/>
                </a:xfrm>
                <a:custGeom>
                  <a:avLst/>
                  <a:gdLst>
                    <a:gd name="T0" fmla="*/ 0 w 554"/>
                    <a:gd name="T1" fmla="*/ 0 h 554"/>
                    <a:gd name="T2" fmla="*/ 0 w 554"/>
                    <a:gd name="T3" fmla="*/ 0 h 554"/>
                    <a:gd name="T4" fmla="*/ 0 w 554"/>
                    <a:gd name="T5" fmla="*/ 0 h 554"/>
                    <a:gd name="T6" fmla="*/ 0 w 554"/>
                    <a:gd name="T7" fmla="*/ 0 h 554"/>
                    <a:gd name="T8" fmla="*/ 0 w 554"/>
                    <a:gd name="T9" fmla="*/ 0 h 5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54" h="554">
                      <a:moveTo>
                        <a:pt x="0" y="554"/>
                      </a:moveTo>
                      <a:lnTo>
                        <a:pt x="554" y="0"/>
                      </a:lnTo>
                      <a:lnTo>
                        <a:pt x="554" y="74"/>
                      </a:lnTo>
                      <a:lnTo>
                        <a:pt x="73" y="554"/>
                      </a:lnTo>
                      <a:lnTo>
                        <a:pt x="0" y="554"/>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93" name="Freeform 699"/>
                <p:cNvSpPr>
                  <a:spLocks noChangeAspect="1"/>
                </p:cNvSpPr>
                <p:nvPr/>
              </p:nvSpPr>
              <p:spPr bwMode="auto">
                <a:xfrm>
                  <a:off x="2670" y="1209"/>
                  <a:ext cx="173" cy="172"/>
                </a:xfrm>
                <a:custGeom>
                  <a:avLst/>
                  <a:gdLst>
                    <a:gd name="T0" fmla="*/ 0 w 517"/>
                    <a:gd name="T1" fmla="*/ 0 h 517"/>
                    <a:gd name="T2" fmla="*/ 0 w 517"/>
                    <a:gd name="T3" fmla="*/ 0 h 517"/>
                    <a:gd name="T4" fmla="*/ 0 w 517"/>
                    <a:gd name="T5" fmla="*/ 0 h 517"/>
                    <a:gd name="T6" fmla="*/ 0 w 517"/>
                    <a:gd name="T7" fmla="*/ 0 h 517"/>
                    <a:gd name="T8" fmla="*/ 0 w 517"/>
                    <a:gd name="T9" fmla="*/ 0 h 5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 h="517">
                      <a:moveTo>
                        <a:pt x="0" y="517"/>
                      </a:moveTo>
                      <a:lnTo>
                        <a:pt x="517" y="0"/>
                      </a:lnTo>
                      <a:lnTo>
                        <a:pt x="517" y="74"/>
                      </a:lnTo>
                      <a:lnTo>
                        <a:pt x="74" y="517"/>
                      </a:lnTo>
                      <a:lnTo>
                        <a:pt x="0" y="517"/>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94" name="Freeform 700"/>
                <p:cNvSpPr>
                  <a:spLocks noChangeAspect="1"/>
                </p:cNvSpPr>
                <p:nvPr/>
              </p:nvSpPr>
              <p:spPr bwMode="auto">
                <a:xfrm>
                  <a:off x="2682" y="1221"/>
                  <a:ext cx="161" cy="160"/>
                </a:xfrm>
                <a:custGeom>
                  <a:avLst/>
                  <a:gdLst>
                    <a:gd name="T0" fmla="*/ 0 w 481"/>
                    <a:gd name="T1" fmla="*/ 0 h 480"/>
                    <a:gd name="T2" fmla="*/ 0 w 481"/>
                    <a:gd name="T3" fmla="*/ 0 h 480"/>
                    <a:gd name="T4" fmla="*/ 0 w 481"/>
                    <a:gd name="T5" fmla="*/ 0 h 480"/>
                    <a:gd name="T6" fmla="*/ 0 w 481"/>
                    <a:gd name="T7" fmla="*/ 0 h 480"/>
                    <a:gd name="T8" fmla="*/ 0 w 481"/>
                    <a:gd name="T9" fmla="*/ 0 h 4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1" h="480">
                      <a:moveTo>
                        <a:pt x="0" y="480"/>
                      </a:moveTo>
                      <a:lnTo>
                        <a:pt x="481" y="0"/>
                      </a:lnTo>
                      <a:lnTo>
                        <a:pt x="481" y="74"/>
                      </a:lnTo>
                      <a:lnTo>
                        <a:pt x="75" y="480"/>
                      </a:lnTo>
                      <a:lnTo>
                        <a:pt x="0" y="480"/>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95" name="Freeform 701"/>
                <p:cNvSpPr>
                  <a:spLocks noChangeAspect="1"/>
                </p:cNvSpPr>
                <p:nvPr/>
              </p:nvSpPr>
              <p:spPr bwMode="auto">
                <a:xfrm>
                  <a:off x="2695" y="1234"/>
                  <a:ext cx="148" cy="147"/>
                </a:xfrm>
                <a:custGeom>
                  <a:avLst/>
                  <a:gdLst>
                    <a:gd name="T0" fmla="*/ 0 w 443"/>
                    <a:gd name="T1" fmla="*/ 0 h 443"/>
                    <a:gd name="T2" fmla="*/ 0 w 443"/>
                    <a:gd name="T3" fmla="*/ 0 h 443"/>
                    <a:gd name="T4" fmla="*/ 0 w 443"/>
                    <a:gd name="T5" fmla="*/ 0 h 443"/>
                    <a:gd name="T6" fmla="*/ 0 w 443"/>
                    <a:gd name="T7" fmla="*/ 0 h 443"/>
                    <a:gd name="T8" fmla="*/ 0 w 443"/>
                    <a:gd name="T9" fmla="*/ 0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3" h="443">
                      <a:moveTo>
                        <a:pt x="0" y="443"/>
                      </a:moveTo>
                      <a:lnTo>
                        <a:pt x="443" y="0"/>
                      </a:lnTo>
                      <a:lnTo>
                        <a:pt x="443" y="74"/>
                      </a:lnTo>
                      <a:lnTo>
                        <a:pt x="74" y="443"/>
                      </a:lnTo>
                      <a:lnTo>
                        <a:pt x="0" y="443"/>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96" name="Freeform 702"/>
                <p:cNvSpPr>
                  <a:spLocks noChangeAspect="1"/>
                </p:cNvSpPr>
                <p:nvPr/>
              </p:nvSpPr>
              <p:spPr bwMode="auto">
                <a:xfrm>
                  <a:off x="2707" y="1246"/>
                  <a:ext cx="136" cy="135"/>
                </a:xfrm>
                <a:custGeom>
                  <a:avLst/>
                  <a:gdLst>
                    <a:gd name="T0" fmla="*/ 0 w 406"/>
                    <a:gd name="T1" fmla="*/ 0 h 406"/>
                    <a:gd name="T2" fmla="*/ 0 w 406"/>
                    <a:gd name="T3" fmla="*/ 0 h 406"/>
                    <a:gd name="T4" fmla="*/ 0 w 406"/>
                    <a:gd name="T5" fmla="*/ 0 h 406"/>
                    <a:gd name="T6" fmla="*/ 0 w 406"/>
                    <a:gd name="T7" fmla="*/ 0 h 406"/>
                    <a:gd name="T8" fmla="*/ 0 w 406"/>
                    <a:gd name="T9" fmla="*/ 0 h 4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6" h="406">
                      <a:moveTo>
                        <a:pt x="0" y="406"/>
                      </a:moveTo>
                      <a:lnTo>
                        <a:pt x="406" y="0"/>
                      </a:lnTo>
                      <a:lnTo>
                        <a:pt x="406" y="73"/>
                      </a:lnTo>
                      <a:lnTo>
                        <a:pt x="73" y="406"/>
                      </a:lnTo>
                      <a:lnTo>
                        <a:pt x="0" y="406"/>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97" name="Freeform 703"/>
                <p:cNvSpPr>
                  <a:spLocks noChangeAspect="1"/>
                </p:cNvSpPr>
                <p:nvPr/>
              </p:nvSpPr>
              <p:spPr bwMode="auto">
                <a:xfrm>
                  <a:off x="2720" y="1258"/>
                  <a:ext cx="123" cy="123"/>
                </a:xfrm>
                <a:custGeom>
                  <a:avLst/>
                  <a:gdLst>
                    <a:gd name="T0" fmla="*/ 0 w 369"/>
                    <a:gd name="T1" fmla="*/ 0 h 369"/>
                    <a:gd name="T2" fmla="*/ 0 w 369"/>
                    <a:gd name="T3" fmla="*/ 0 h 369"/>
                    <a:gd name="T4" fmla="*/ 0 w 369"/>
                    <a:gd name="T5" fmla="*/ 0 h 369"/>
                    <a:gd name="T6" fmla="*/ 0 w 369"/>
                    <a:gd name="T7" fmla="*/ 0 h 369"/>
                    <a:gd name="T8" fmla="*/ 0 w 369"/>
                    <a:gd name="T9" fmla="*/ 0 h 3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9" h="369">
                      <a:moveTo>
                        <a:pt x="0" y="369"/>
                      </a:moveTo>
                      <a:lnTo>
                        <a:pt x="369" y="0"/>
                      </a:lnTo>
                      <a:lnTo>
                        <a:pt x="369" y="74"/>
                      </a:lnTo>
                      <a:lnTo>
                        <a:pt x="73" y="369"/>
                      </a:lnTo>
                      <a:lnTo>
                        <a:pt x="0" y="369"/>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98" name="Freeform 704"/>
                <p:cNvSpPr>
                  <a:spLocks noChangeAspect="1"/>
                </p:cNvSpPr>
                <p:nvPr/>
              </p:nvSpPr>
              <p:spPr bwMode="auto">
                <a:xfrm>
                  <a:off x="2732" y="1270"/>
                  <a:ext cx="111" cy="111"/>
                </a:xfrm>
                <a:custGeom>
                  <a:avLst/>
                  <a:gdLst>
                    <a:gd name="T0" fmla="*/ 0 w 333"/>
                    <a:gd name="T1" fmla="*/ 0 h 333"/>
                    <a:gd name="T2" fmla="*/ 0 w 333"/>
                    <a:gd name="T3" fmla="*/ 0 h 333"/>
                    <a:gd name="T4" fmla="*/ 0 w 333"/>
                    <a:gd name="T5" fmla="*/ 0 h 333"/>
                    <a:gd name="T6" fmla="*/ 0 w 333"/>
                    <a:gd name="T7" fmla="*/ 0 h 333"/>
                    <a:gd name="T8" fmla="*/ 0 w 333"/>
                    <a:gd name="T9" fmla="*/ 0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3" h="333">
                      <a:moveTo>
                        <a:pt x="0" y="333"/>
                      </a:moveTo>
                      <a:lnTo>
                        <a:pt x="333" y="0"/>
                      </a:lnTo>
                      <a:lnTo>
                        <a:pt x="333" y="75"/>
                      </a:lnTo>
                      <a:lnTo>
                        <a:pt x="75" y="333"/>
                      </a:lnTo>
                      <a:lnTo>
                        <a:pt x="0" y="333"/>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99" name="Freeform 705"/>
                <p:cNvSpPr>
                  <a:spLocks noChangeAspect="1"/>
                </p:cNvSpPr>
                <p:nvPr/>
              </p:nvSpPr>
              <p:spPr bwMode="auto">
                <a:xfrm>
                  <a:off x="2744" y="1283"/>
                  <a:ext cx="99" cy="98"/>
                </a:xfrm>
                <a:custGeom>
                  <a:avLst/>
                  <a:gdLst>
                    <a:gd name="T0" fmla="*/ 0 w 296"/>
                    <a:gd name="T1" fmla="*/ 0 h 295"/>
                    <a:gd name="T2" fmla="*/ 0 w 296"/>
                    <a:gd name="T3" fmla="*/ 0 h 295"/>
                    <a:gd name="T4" fmla="*/ 0 w 296"/>
                    <a:gd name="T5" fmla="*/ 0 h 295"/>
                    <a:gd name="T6" fmla="*/ 0 w 296"/>
                    <a:gd name="T7" fmla="*/ 0 h 295"/>
                    <a:gd name="T8" fmla="*/ 0 w 296"/>
                    <a:gd name="T9" fmla="*/ 0 h 2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95">
                      <a:moveTo>
                        <a:pt x="0" y="295"/>
                      </a:moveTo>
                      <a:lnTo>
                        <a:pt x="296" y="0"/>
                      </a:lnTo>
                      <a:lnTo>
                        <a:pt x="296" y="74"/>
                      </a:lnTo>
                      <a:lnTo>
                        <a:pt x="75" y="295"/>
                      </a:lnTo>
                      <a:lnTo>
                        <a:pt x="0" y="295"/>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700" name="Freeform 706"/>
                <p:cNvSpPr>
                  <a:spLocks noChangeAspect="1"/>
                </p:cNvSpPr>
                <p:nvPr/>
              </p:nvSpPr>
              <p:spPr bwMode="auto">
                <a:xfrm>
                  <a:off x="2757" y="1295"/>
                  <a:ext cx="86" cy="86"/>
                </a:xfrm>
                <a:custGeom>
                  <a:avLst/>
                  <a:gdLst>
                    <a:gd name="T0" fmla="*/ 0 w 258"/>
                    <a:gd name="T1" fmla="*/ 0 h 258"/>
                    <a:gd name="T2" fmla="*/ 0 w 258"/>
                    <a:gd name="T3" fmla="*/ 0 h 258"/>
                    <a:gd name="T4" fmla="*/ 0 w 258"/>
                    <a:gd name="T5" fmla="*/ 0 h 258"/>
                    <a:gd name="T6" fmla="*/ 0 w 258"/>
                    <a:gd name="T7" fmla="*/ 0 h 258"/>
                    <a:gd name="T8" fmla="*/ 0 w 258"/>
                    <a:gd name="T9" fmla="*/ 0 h 2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258">
                      <a:moveTo>
                        <a:pt x="0" y="258"/>
                      </a:moveTo>
                      <a:lnTo>
                        <a:pt x="258" y="0"/>
                      </a:lnTo>
                      <a:lnTo>
                        <a:pt x="258" y="73"/>
                      </a:lnTo>
                      <a:lnTo>
                        <a:pt x="73" y="258"/>
                      </a:lnTo>
                      <a:lnTo>
                        <a:pt x="0" y="25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701" name="Freeform 707"/>
                <p:cNvSpPr>
                  <a:spLocks noChangeAspect="1"/>
                </p:cNvSpPr>
                <p:nvPr/>
              </p:nvSpPr>
              <p:spPr bwMode="auto">
                <a:xfrm>
                  <a:off x="2769" y="1308"/>
                  <a:ext cx="74" cy="73"/>
                </a:xfrm>
                <a:custGeom>
                  <a:avLst/>
                  <a:gdLst>
                    <a:gd name="T0" fmla="*/ 0 w 221"/>
                    <a:gd name="T1" fmla="*/ 0 h 221"/>
                    <a:gd name="T2" fmla="*/ 0 w 221"/>
                    <a:gd name="T3" fmla="*/ 0 h 221"/>
                    <a:gd name="T4" fmla="*/ 0 w 221"/>
                    <a:gd name="T5" fmla="*/ 0 h 221"/>
                    <a:gd name="T6" fmla="*/ 0 w 221"/>
                    <a:gd name="T7" fmla="*/ 0 h 221"/>
                    <a:gd name="T8" fmla="*/ 0 w 221"/>
                    <a:gd name="T9" fmla="*/ 0 h 2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 h="221">
                      <a:moveTo>
                        <a:pt x="0" y="221"/>
                      </a:moveTo>
                      <a:lnTo>
                        <a:pt x="221" y="0"/>
                      </a:lnTo>
                      <a:lnTo>
                        <a:pt x="221" y="73"/>
                      </a:lnTo>
                      <a:lnTo>
                        <a:pt x="73" y="221"/>
                      </a:lnTo>
                      <a:lnTo>
                        <a:pt x="0" y="221"/>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702" name="Freeform 708"/>
                <p:cNvSpPr>
                  <a:spLocks noChangeAspect="1"/>
                </p:cNvSpPr>
                <p:nvPr/>
              </p:nvSpPr>
              <p:spPr bwMode="auto">
                <a:xfrm>
                  <a:off x="2781" y="1320"/>
                  <a:ext cx="62" cy="61"/>
                </a:xfrm>
                <a:custGeom>
                  <a:avLst/>
                  <a:gdLst>
                    <a:gd name="T0" fmla="*/ 0 w 185"/>
                    <a:gd name="T1" fmla="*/ 0 h 185"/>
                    <a:gd name="T2" fmla="*/ 0 w 185"/>
                    <a:gd name="T3" fmla="*/ 0 h 185"/>
                    <a:gd name="T4" fmla="*/ 0 w 185"/>
                    <a:gd name="T5" fmla="*/ 0 h 185"/>
                    <a:gd name="T6" fmla="*/ 0 w 185"/>
                    <a:gd name="T7" fmla="*/ 0 h 185"/>
                    <a:gd name="T8" fmla="*/ 0 w 185"/>
                    <a:gd name="T9" fmla="*/ 0 h 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185">
                      <a:moveTo>
                        <a:pt x="0" y="185"/>
                      </a:moveTo>
                      <a:lnTo>
                        <a:pt x="185" y="0"/>
                      </a:lnTo>
                      <a:lnTo>
                        <a:pt x="185" y="75"/>
                      </a:lnTo>
                      <a:lnTo>
                        <a:pt x="75" y="185"/>
                      </a:lnTo>
                      <a:lnTo>
                        <a:pt x="0" y="185"/>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703" name="Freeform 709"/>
                <p:cNvSpPr>
                  <a:spLocks noChangeAspect="1"/>
                </p:cNvSpPr>
                <p:nvPr/>
              </p:nvSpPr>
              <p:spPr bwMode="auto">
                <a:xfrm>
                  <a:off x="2793" y="1332"/>
                  <a:ext cx="50" cy="49"/>
                </a:xfrm>
                <a:custGeom>
                  <a:avLst/>
                  <a:gdLst>
                    <a:gd name="T0" fmla="*/ 0 w 148"/>
                    <a:gd name="T1" fmla="*/ 0 h 148"/>
                    <a:gd name="T2" fmla="*/ 0 w 148"/>
                    <a:gd name="T3" fmla="*/ 0 h 148"/>
                    <a:gd name="T4" fmla="*/ 0 w 148"/>
                    <a:gd name="T5" fmla="*/ 0 h 148"/>
                    <a:gd name="T6" fmla="*/ 0 w 148"/>
                    <a:gd name="T7" fmla="*/ 0 h 148"/>
                    <a:gd name="T8" fmla="*/ 0 w 148"/>
                    <a:gd name="T9" fmla="*/ 0 h 1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8" h="148">
                      <a:moveTo>
                        <a:pt x="0" y="148"/>
                      </a:moveTo>
                      <a:lnTo>
                        <a:pt x="148" y="0"/>
                      </a:lnTo>
                      <a:lnTo>
                        <a:pt x="148" y="75"/>
                      </a:lnTo>
                      <a:lnTo>
                        <a:pt x="75" y="148"/>
                      </a:lnTo>
                      <a:lnTo>
                        <a:pt x="0" y="148"/>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704" name="Freeform 710"/>
                <p:cNvSpPr>
                  <a:spLocks noChangeAspect="1"/>
                </p:cNvSpPr>
                <p:nvPr/>
              </p:nvSpPr>
              <p:spPr bwMode="auto">
                <a:xfrm>
                  <a:off x="2806" y="1345"/>
                  <a:ext cx="37" cy="36"/>
                </a:xfrm>
                <a:custGeom>
                  <a:avLst/>
                  <a:gdLst>
                    <a:gd name="T0" fmla="*/ 0 w 110"/>
                    <a:gd name="T1" fmla="*/ 0 h 110"/>
                    <a:gd name="T2" fmla="*/ 0 w 110"/>
                    <a:gd name="T3" fmla="*/ 0 h 110"/>
                    <a:gd name="T4" fmla="*/ 0 w 110"/>
                    <a:gd name="T5" fmla="*/ 0 h 110"/>
                    <a:gd name="T6" fmla="*/ 0 w 110"/>
                    <a:gd name="T7" fmla="*/ 0 h 110"/>
                    <a:gd name="T8" fmla="*/ 0 w 110"/>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0" h="110">
                      <a:moveTo>
                        <a:pt x="0" y="110"/>
                      </a:moveTo>
                      <a:lnTo>
                        <a:pt x="110" y="0"/>
                      </a:lnTo>
                      <a:lnTo>
                        <a:pt x="110" y="73"/>
                      </a:lnTo>
                      <a:lnTo>
                        <a:pt x="73" y="110"/>
                      </a:lnTo>
                      <a:lnTo>
                        <a:pt x="0" y="110"/>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705" name="Freeform 711"/>
                <p:cNvSpPr>
                  <a:spLocks noChangeAspect="1"/>
                </p:cNvSpPr>
                <p:nvPr/>
              </p:nvSpPr>
              <p:spPr bwMode="auto">
                <a:xfrm>
                  <a:off x="2818" y="1357"/>
                  <a:ext cx="25" cy="24"/>
                </a:xfrm>
                <a:custGeom>
                  <a:avLst/>
                  <a:gdLst>
                    <a:gd name="T0" fmla="*/ 0 w 73"/>
                    <a:gd name="T1" fmla="*/ 0 h 73"/>
                    <a:gd name="T2" fmla="*/ 0 w 73"/>
                    <a:gd name="T3" fmla="*/ 0 h 73"/>
                    <a:gd name="T4" fmla="*/ 0 w 73"/>
                    <a:gd name="T5" fmla="*/ 0 h 73"/>
                    <a:gd name="T6" fmla="*/ 0 w 73"/>
                    <a:gd name="T7" fmla="*/ 0 h 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3" h="73">
                      <a:moveTo>
                        <a:pt x="0" y="73"/>
                      </a:moveTo>
                      <a:lnTo>
                        <a:pt x="73" y="0"/>
                      </a:lnTo>
                      <a:lnTo>
                        <a:pt x="73" y="73"/>
                      </a:lnTo>
                      <a:lnTo>
                        <a:pt x="0" y="73"/>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706" name="Freeform 712"/>
                <p:cNvSpPr>
                  <a:spLocks noChangeAspect="1"/>
                </p:cNvSpPr>
                <p:nvPr/>
              </p:nvSpPr>
              <p:spPr bwMode="auto">
                <a:xfrm>
                  <a:off x="2830" y="1369"/>
                  <a:ext cx="13" cy="12"/>
                </a:xfrm>
                <a:custGeom>
                  <a:avLst/>
                  <a:gdLst>
                    <a:gd name="T0" fmla="*/ 0 w 37"/>
                    <a:gd name="T1" fmla="*/ 0 h 37"/>
                    <a:gd name="T2" fmla="*/ 0 w 37"/>
                    <a:gd name="T3" fmla="*/ 0 h 37"/>
                    <a:gd name="T4" fmla="*/ 0 w 37"/>
                    <a:gd name="T5" fmla="*/ 0 h 37"/>
                    <a:gd name="T6" fmla="*/ 0 w 37"/>
                    <a:gd name="T7" fmla="*/ 0 h 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 h="37">
                      <a:moveTo>
                        <a:pt x="0" y="37"/>
                      </a:moveTo>
                      <a:lnTo>
                        <a:pt x="37" y="0"/>
                      </a:lnTo>
                      <a:lnTo>
                        <a:pt x="37" y="37"/>
                      </a:lnTo>
                      <a:lnTo>
                        <a:pt x="0" y="37"/>
                      </a:lnTo>
                      <a:close/>
                    </a:path>
                  </a:pathLst>
                </a:cu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707" name="Rectangle 713"/>
                <p:cNvSpPr>
                  <a:spLocks noChangeAspect="1" noChangeArrowheads="1"/>
                </p:cNvSpPr>
                <p:nvPr/>
              </p:nvSpPr>
              <p:spPr bwMode="auto">
                <a:xfrm>
                  <a:off x="2653" y="955"/>
                  <a:ext cx="190" cy="426"/>
                </a:xfrm>
                <a:prstGeom prst="rect">
                  <a:avLst/>
                </a:prstGeom>
                <a:gradFill rotWithShape="0">
                  <a:gsLst>
                    <a:gs pos="0">
                      <a:srgbClr val="525252"/>
                    </a:gs>
                    <a:gs pos="50000">
                      <a:srgbClr val="B2B2B2"/>
                    </a:gs>
                    <a:gs pos="100000">
                      <a:srgbClr val="525252"/>
                    </a:gs>
                  </a:gsLst>
                  <a:lin ang="2700000" scaled="1"/>
                </a:gradFill>
                <a:ln w="1588">
                  <a:solidFill>
                    <a:srgbClr val="1F1A17"/>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708" name="Rectangle 714"/>
                <p:cNvSpPr>
                  <a:spLocks noChangeAspect="1" noChangeArrowheads="1"/>
                </p:cNvSpPr>
                <p:nvPr/>
              </p:nvSpPr>
              <p:spPr bwMode="auto">
                <a:xfrm>
                  <a:off x="2464" y="1429"/>
                  <a:ext cx="2" cy="52"/>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709" name="Rectangle 715"/>
                <p:cNvSpPr>
                  <a:spLocks noChangeAspect="1" noChangeArrowheads="1"/>
                </p:cNvSpPr>
                <p:nvPr/>
              </p:nvSpPr>
              <p:spPr bwMode="auto">
                <a:xfrm>
                  <a:off x="2463" y="1429"/>
                  <a:ext cx="2" cy="52"/>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710" name="Rectangle 716"/>
                <p:cNvSpPr>
                  <a:spLocks noChangeAspect="1" noChangeArrowheads="1"/>
                </p:cNvSpPr>
                <p:nvPr/>
              </p:nvSpPr>
              <p:spPr bwMode="auto">
                <a:xfrm>
                  <a:off x="2462" y="1429"/>
                  <a:ext cx="2" cy="52"/>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711" name="Rectangle 717"/>
                <p:cNvSpPr>
                  <a:spLocks noChangeAspect="1" noChangeArrowheads="1"/>
                </p:cNvSpPr>
                <p:nvPr/>
              </p:nvSpPr>
              <p:spPr bwMode="auto">
                <a:xfrm>
                  <a:off x="2456" y="1429"/>
                  <a:ext cx="3" cy="52"/>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712" name="Rectangle 718"/>
                <p:cNvSpPr>
                  <a:spLocks noChangeAspect="1" noChangeArrowheads="1"/>
                </p:cNvSpPr>
                <p:nvPr/>
              </p:nvSpPr>
              <p:spPr bwMode="auto">
                <a:xfrm>
                  <a:off x="2455" y="1429"/>
                  <a:ext cx="3" cy="52"/>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713" name="Rectangle 719"/>
                <p:cNvSpPr>
                  <a:spLocks noChangeAspect="1" noChangeArrowheads="1"/>
                </p:cNvSpPr>
                <p:nvPr/>
              </p:nvSpPr>
              <p:spPr bwMode="auto">
                <a:xfrm>
                  <a:off x="2449" y="1429"/>
                  <a:ext cx="2" cy="52"/>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714" name="Rectangle 720"/>
                <p:cNvSpPr>
                  <a:spLocks noChangeAspect="1" noChangeArrowheads="1"/>
                </p:cNvSpPr>
                <p:nvPr/>
              </p:nvSpPr>
              <p:spPr bwMode="auto">
                <a:xfrm>
                  <a:off x="2448" y="1429"/>
                  <a:ext cx="2" cy="52"/>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715" name="Rectangle 721"/>
                <p:cNvSpPr>
                  <a:spLocks noChangeAspect="1" noChangeArrowheads="1"/>
                </p:cNvSpPr>
                <p:nvPr/>
              </p:nvSpPr>
              <p:spPr bwMode="auto">
                <a:xfrm>
                  <a:off x="2442" y="1429"/>
                  <a:ext cx="2" cy="52"/>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716" name="Rectangle 722"/>
                <p:cNvSpPr>
                  <a:spLocks noChangeAspect="1" noChangeArrowheads="1"/>
                </p:cNvSpPr>
                <p:nvPr/>
              </p:nvSpPr>
              <p:spPr bwMode="auto">
                <a:xfrm>
                  <a:off x="2441" y="1429"/>
                  <a:ext cx="2" cy="52"/>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717" name="Rectangle 723"/>
                <p:cNvSpPr>
                  <a:spLocks noChangeAspect="1" noChangeArrowheads="1"/>
                </p:cNvSpPr>
                <p:nvPr/>
              </p:nvSpPr>
              <p:spPr bwMode="auto">
                <a:xfrm>
                  <a:off x="2435" y="1429"/>
                  <a:ext cx="2" cy="52"/>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718" name="Rectangle 724"/>
                <p:cNvSpPr>
                  <a:spLocks noChangeAspect="1" noChangeArrowheads="1"/>
                </p:cNvSpPr>
                <p:nvPr/>
              </p:nvSpPr>
              <p:spPr bwMode="auto">
                <a:xfrm>
                  <a:off x="2434" y="1429"/>
                  <a:ext cx="2" cy="52"/>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sp>
            <p:nvSpPr>
              <p:cNvPr id="390531" name="Rectangle 725"/>
              <p:cNvSpPr>
                <a:spLocks noChangeAspect="1" noChangeArrowheads="1"/>
              </p:cNvSpPr>
              <p:nvPr/>
            </p:nvSpPr>
            <p:spPr bwMode="auto">
              <a:xfrm>
                <a:off x="2428" y="1429"/>
                <a:ext cx="3" cy="52"/>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32" name="Rectangle 726"/>
              <p:cNvSpPr>
                <a:spLocks noChangeAspect="1" noChangeArrowheads="1"/>
              </p:cNvSpPr>
              <p:nvPr/>
            </p:nvSpPr>
            <p:spPr bwMode="auto">
              <a:xfrm>
                <a:off x="2427" y="1429"/>
                <a:ext cx="2" cy="52"/>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33" name="Rectangle 727"/>
              <p:cNvSpPr>
                <a:spLocks noChangeAspect="1" noChangeArrowheads="1"/>
              </p:cNvSpPr>
              <p:nvPr/>
            </p:nvSpPr>
            <p:spPr bwMode="auto">
              <a:xfrm>
                <a:off x="2421" y="1429"/>
                <a:ext cx="2" cy="52"/>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34" name="Rectangle 728"/>
              <p:cNvSpPr>
                <a:spLocks noChangeAspect="1" noChangeArrowheads="1"/>
              </p:cNvSpPr>
              <p:nvPr/>
            </p:nvSpPr>
            <p:spPr bwMode="auto">
              <a:xfrm>
                <a:off x="2420" y="1429"/>
                <a:ext cx="2" cy="52"/>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35" name="Rectangle 729"/>
              <p:cNvSpPr>
                <a:spLocks noChangeAspect="1" noChangeArrowheads="1"/>
              </p:cNvSpPr>
              <p:nvPr/>
            </p:nvSpPr>
            <p:spPr bwMode="auto">
              <a:xfrm>
                <a:off x="2416" y="1429"/>
                <a:ext cx="52" cy="52"/>
              </a:xfrm>
              <a:prstGeom prst="rect">
                <a:avLst/>
              </a:prstGeom>
              <a:gradFill rotWithShape="0">
                <a:gsLst>
                  <a:gs pos="0">
                    <a:srgbClr val="525252"/>
                  </a:gs>
                  <a:gs pos="50000">
                    <a:srgbClr val="B2B2B2"/>
                  </a:gs>
                  <a:gs pos="100000">
                    <a:srgbClr val="525252"/>
                  </a:gs>
                </a:gsLst>
                <a:lin ang="2700000" scaled="1"/>
              </a:gradFill>
              <a:ln w="1588">
                <a:solidFill>
                  <a:srgbClr val="1F1A17"/>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36" name="Rectangle 730"/>
              <p:cNvSpPr>
                <a:spLocks noChangeAspect="1" noChangeArrowheads="1"/>
              </p:cNvSpPr>
              <p:nvPr/>
            </p:nvSpPr>
            <p:spPr bwMode="auto">
              <a:xfrm>
                <a:off x="2869" y="1429"/>
                <a:ext cx="3" cy="51"/>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37" name="Rectangle 731"/>
              <p:cNvSpPr>
                <a:spLocks noChangeAspect="1" noChangeArrowheads="1"/>
              </p:cNvSpPr>
              <p:nvPr/>
            </p:nvSpPr>
            <p:spPr bwMode="auto">
              <a:xfrm>
                <a:off x="2868" y="1429"/>
                <a:ext cx="2" cy="51"/>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38" name="Rectangle 732"/>
              <p:cNvSpPr>
                <a:spLocks noChangeAspect="1" noChangeArrowheads="1"/>
              </p:cNvSpPr>
              <p:nvPr/>
            </p:nvSpPr>
            <p:spPr bwMode="auto">
              <a:xfrm>
                <a:off x="2862" y="1429"/>
                <a:ext cx="2" cy="51"/>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39" name="Rectangle 733"/>
              <p:cNvSpPr>
                <a:spLocks noChangeAspect="1" noChangeArrowheads="1"/>
              </p:cNvSpPr>
              <p:nvPr/>
            </p:nvSpPr>
            <p:spPr bwMode="auto">
              <a:xfrm>
                <a:off x="2861" y="1429"/>
                <a:ext cx="2" cy="51"/>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40" name="Rectangle 734"/>
              <p:cNvSpPr>
                <a:spLocks noChangeAspect="1" noChangeArrowheads="1"/>
              </p:cNvSpPr>
              <p:nvPr/>
            </p:nvSpPr>
            <p:spPr bwMode="auto">
              <a:xfrm>
                <a:off x="2855" y="1429"/>
                <a:ext cx="2" cy="51"/>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41" name="Rectangle 735"/>
              <p:cNvSpPr>
                <a:spLocks noChangeAspect="1" noChangeArrowheads="1"/>
              </p:cNvSpPr>
              <p:nvPr/>
            </p:nvSpPr>
            <p:spPr bwMode="auto">
              <a:xfrm>
                <a:off x="2854" y="1429"/>
                <a:ext cx="2" cy="51"/>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42" name="Rectangle 736"/>
              <p:cNvSpPr>
                <a:spLocks noChangeAspect="1" noChangeArrowheads="1"/>
              </p:cNvSpPr>
              <p:nvPr/>
            </p:nvSpPr>
            <p:spPr bwMode="auto">
              <a:xfrm>
                <a:off x="2848" y="1429"/>
                <a:ext cx="2" cy="51"/>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43" name="Rectangle 737"/>
              <p:cNvSpPr>
                <a:spLocks noChangeAspect="1" noChangeArrowheads="1"/>
              </p:cNvSpPr>
              <p:nvPr/>
            </p:nvSpPr>
            <p:spPr bwMode="auto">
              <a:xfrm>
                <a:off x="2847" y="1429"/>
                <a:ext cx="2" cy="51"/>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44" name="Rectangle 738"/>
              <p:cNvSpPr>
                <a:spLocks noChangeAspect="1" noChangeArrowheads="1"/>
              </p:cNvSpPr>
              <p:nvPr/>
            </p:nvSpPr>
            <p:spPr bwMode="auto">
              <a:xfrm>
                <a:off x="2846" y="1429"/>
                <a:ext cx="2" cy="51"/>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45" name="Rectangle 739"/>
              <p:cNvSpPr>
                <a:spLocks noChangeAspect="1" noChangeArrowheads="1"/>
              </p:cNvSpPr>
              <p:nvPr/>
            </p:nvSpPr>
            <p:spPr bwMode="auto">
              <a:xfrm>
                <a:off x="2840" y="1429"/>
                <a:ext cx="2" cy="51"/>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46" name="Rectangle 740"/>
              <p:cNvSpPr>
                <a:spLocks noChangeAspect="1" noChangeArrowheads="1"/>
              </p:cNvSpPr>
              <p:nvPr/>
            </p:nvSpPr>
            <p:spPr bwMode="auto">
              <a:xfrm>
                <a:off x="2839" y="1429"/>
                <a:ext cx="2" cy="51"/>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47" name="Rectangle 741"/>
              <p:cNvSpPr>
                <a:spLocks noChangeAspect="1" noChangeArrowheads="1"/>
              </p:cNvSpPr>
              <p:nvPr/>
            </p:nvSpPr>
            <p:spPr bwMode="auto">
              <a:xfrm>
                <a:off x="2833" y="1429"/>
                <a:ext cx="2" cy="51"/>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48" name="Rectangle 742"/>
              <p:cNvSpPr>
                <a:spLocks noChangeAspect="1" noChangeArrowheads="1"/>
              </p:cNvSpPr>
              <p:nvPr/>
            </p:nvSpPr>
            <p:spPr bwMode="auto">
              <a:xfrm>
                <a:off x="2832" y="1429"/>
                <a:ext cx="2" cy="51"/>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49" name="Rectangle 743"/>
              <p:cNvSpPr>
                <a:spLocks noChangeAspect="1" noChangeArrowheads="1"/>
              </p:cNvSpPr>
              <p:nvPr/>
            </p:nvSpPr>
            <p:spPr bwMode="auto">
              <a:xfrm>
                <a:off x="2826" y="1429"/>
                <a:ext cx="2" cy="51"/>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50" name="Rectangle 744"/>
              <p:cNvSpPr>
                <a:spLocks noChangeAspect="1" noChangeArrowheads="1"/>
              </p:cNvSpPr>
              <p:nvPr/>
            </p:nvSpPr>
            <p:spPr bwMode="auto">
              <a:xfrm>
                <a:off x="2825" y="1429"/>
                <a:ext cx="2" cy="51"/>
              </a:xfrm>
              <a:prstGeom prst="rect">
                <a:avLst/>
              </a:prstGeom>
              <a:gradFill rotWithShape="0">
                <a:gsLst>
                  <a:gs pos="0">
                    <a:srgbClr val="525252"/>
                  </a:gs>
                  <a:gs pos="50000">
                    <a:srgbClr val="B2B2B2"/>
                  </a:gs>
                  <a:gs pos="100000">
                    <a:srgbClr val="525252"/>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90551" name="Rectangle 745"/>
              <p:cNvSpPr>
                <a:spLocks noChangeAspect="1" noChangeArrowheads="1"/>
              </p:cNvSpPr>
              <p:nvPr/>
            </p:nvSpPr>
            <p:spPr bwMode="auto">
              <a:xfrm>
                <a:off x="2824" y="1429"/>
                <a:ext cx="51" cy="51"/>
              </a:xfrm>
              <a:prstGeom prst="rect">
                <a:avLst/>
              </a:prstGeom>
              <a:gradFill rotWithShape="0">
                <a:gsLst>
                  <a:gs pos="0">
                    <a:srgbClr val="525252"/>
                  </a:gs>
                  <a:gs pos="50000">
                    <a:srgbClr val="B2B2B2"/>
                  </a:gs>
                  <a:gs pos="100000">
                    <a:srgbClr val="525252"/>
                  </a:gs>
                </a:gsLst>
                <a:lin ang="2700000" scaled="1"/>
              </a:gradFill>
              <a:ln w="1588">
                <a:solidFill>
                  <a:srgbClr val="1F1A17"/>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grpSp>
          <p:nvGrpSpPr>
            <p:cNvPr id="386162" name="Group 746"/>
            <p:cNvGrpSpPr>
              <a:grpSpLocks noChangeAspect="1"/>
            </p:cNvGrpSpPr>
            <p:nvPr/>
          </p:nvGrpSpPr>
          <p:grpSpPr bwMode="auto">
            <a:xfrm>
              <a:off x="2899" y="957"/>
              <a:ext cx="181" cy="942"/>
              <a:chOff x="3159" y="701"/>
              <a:chExt cx="175" cy="1006"/>
            </a:xfrm>
          </p:grpSpPr>
          <p:sp>
            <p:nvSpPr>
              <p:cNvPr id="65259" name="Rectangle 747"/>
              <p:cNvSpPr>
                <a:spLocks noChangeAspect="1" noChangeArrowheads="1"/>
              </p:cNvSpPr>
              <p:nvPr/>
            </p:nvSpPr>
            <p:spPr bwMode="auto">
              <a:xfrm>
                <a:off x="3172" y="1230"/>
                <a:ext cx="15"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60" name="Rectangle 748"/>
              <p:cNvSpPr>
                <a:spLocks noChangeAspect="1" noChangeArrowheads="1"/>
              </p:cNvSpPr>
              <p:nvPr/>
            </p:nvSpPr>
            <p:spPr bwMode="auto">
              <a:xfrm>
                <a:off x="3175"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61" name="Rectangle 749"/>
              <p:cNvSpPr>
                <a:spLocks noChangeAspect="1" noChangeArrowheads="1"/>
              </p:cNvSpPr>
              <p:nvPr/>
            </p:nvSpPr>
            <p:spPr bwMode="auto">
              <a:xfrm>
                <a:off x="3178"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62" name="Rectangle 750"/>
              <p:cNvSpPr>
                <a:spLocks noChangeAspect="1" noChangeArrowheads="1"/>
              </p:cNvSpPr>
              <p:nvPr/>
            </p:nvSpPr>
            <p:spPr bwMode="auto">
              <a:xfrm>
                <a:off x="3181"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63" name="Rectangle 751"/>
              <p:cNvSpPr>
                <a:spLocks noChangeAspect="1" noChangeArrowheads="1"/>
              </p:cNvSpPr>
              <p:nvPr/>
            </p:nvSpPr>
            <p:spPr bwMode="auto">
              <a:xfrm>
                <a:off x="3184"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64" name="Rectangle 752"/>
              <p:cNvSpPr>
                <a:spLocks noChangeAspect="1" noChangeArrowheads="1"/>
              </p:cNvSpPr>
              <p:nvPr/>
            </p:nvSpPr>
            <p:spPr bwMode="auto">
              <a:xfrm>
                <a:off x="3187"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65" name="Rectangle 753"/>
              <p:cNvSpPr>
                <a:spLocks noChangeAspect="1" noChangeArrowheads="1"/>
              </p:cNvSpPr>
              <p:nvPr/>
            </p:nvSpPr>
            <p:spPr bwMode="auto">
              <a:xfrm>
                <a:off x="3193" y="1230"/>
                <a:ext cx="5"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66" name="Rectangle 754"/>
              <p:cNvSpPr>
                <a:spLocks noChangeAspect="1" noChangeArrowheads="1"/>
              </p:cNvSpPr>
              <p:nvPr/>
            </p:nvSpPr>
            <p:spPr bwMode="auto">
              <a:xfrm>
                <a:off x="3195"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67" name="Rectangle 755"/>
              <p:cNvSpPr>
                <a:spLocks noChangeAspect="1" noChangeArrowheads="1"/>
              </p:cNvSpPr>
              <p:nvPr/>
            </p:nvSpPr>
            <p:spPr bwMode="auto">
              <a:xfrm>
                <a:off x="3198" y="1230"/>
                <a:ext cx="15"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68" name="Rectangle 756"/>
              <p:cNvSpPr>
                <a:spLocks noChangeAspect="1" noChangeArrowheads="1"/>
              </p:cNvSpPr>
              <p:nvPr/>
            </p:nvSpPr>
            <p:spPr bwMode="auto">
              <a:xfrm>
                <a:off x="3201" y="1230"/>
                <a:ext cx="15"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69" name="Rectangle 757"/>
              <p:cNvSpPr>
                <a:spLocks noChangeAspect="1" noChangeArrowheads="1"/>
              </p:cNvSpPr>
              <p:nvPr/>
            </p:nvSpPr>
            <p:spPr bwMode="auto">
              <a:xfrm>
                <a:off x="3207"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70" name="Rectangle 758"/>
              <p:cNvSpPr>
                <a:spLocks noChangeAspect="1" noChangeArrowheads="1"/>
              </p:cNvSpPr>
              <p:nvPr/>
            </p:nvSpPr>
            <p:spPr bwMode="auto">
              <a:xfrm>
                <a:off x="3210"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71" name="Rectangle 759"/>
              <p:cNvSpPr>
                <a:spLocks noChangeAspect="1" noChangeArrowheads="1"/>
              </p:cNvSpPr>
              <p:nvPr/>
            </p:nvSpPr>
            <p:spPr bwMode="auto">
              <a:xfrm>
                <a:off x="3213" y="1230"/>
                <a:ext cx="5"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72" name="Rectangle 760"/>
              <p:cNvSpPr>
                <a:spLocks noChangeAspect="1" noChangeArrowheads="1"/>
              </p:cNvSpPr>
              <p:nvPr/>
            </p:nvSpPr>
            <p:spPr bwMode="auto">
              <a:xfrm>
                <a:off x="3216" y="1230"/>
                <a:ext cx="5"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73" name="Rectangle 761"/>
              <p:cNvSpPr>
                <a:spLocks noChangeAspect="1" noChangeArrowheads="1"/>
              </p:cNvSpPr>
              <p:nvPr/>
            </p:nvSpPr>
            <p:spPr bwMode="auto">
              <a:xfrm>
                <a:off x="3221"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74" name="Rectangle 762"/>
              <p:cNvSpPr>
                <a:spLocks noChangeAspect="1" noChangeArrowheads="1"/>
              </p:cNvSpPr>
              <p:nvPr/>
            </p:nvSpPr>
            <p:spPr bwMode="auto">
              <a:xfrm>
                <a:off x="3224"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75" name="Rectangle 763"/>
              <p:cNvSpPr>
                <a:spLocks noChangeAspect="1" noChangeArrowheads="1"/>
              </p:cNvSpPr>
              <p:nvPr/>
            </p:nvSpPr>
            <p:spPr bwMode="auto">
              <a:xfrm>
                <a:off x="3227" y="1230"/>
                <a:ext cx="15"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76" name="Rectangle 764"/>
              <p:cNvSpPr>
                <a:spLocks noChangeAspect="1" noChangeArrowheads="1"/>
              </p:cNvSpPr>
              <p:nvPr/>
            </p:nvSpPr>
            <p:spPr bwMode="auto">
              <a:xfrm>
                <a:off x="3230" y="1230"/>
                <a:ext cx="15"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77" name="Rectangle 765"/>
              <p:cNvSpPr>
                <a:spLocks noChangeAspect="1" noChangeArrowheads="1"/>
              </p:cNvSpPr>
              <p:nvPr/>
            </p:nvSpPr>
            <p:spPr bwMode="auto">
              <a:xfrm>
                <a:off x="3236"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78" name="Rectangle 766"/>
              <p:cNvSpPr>
                <a:spLocks noChangeAspect="1" noChangeArrowheads="1"/>
              </p:cNvSpPr>
              <p:nvPr/>
            </p:nvSpPr>
            <p:spPr bwMode="auto">
              <a:xfrm>
                <a:off x="3239" y="1230"/>
                <a:ext cx="5"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79" name="Rectangle 767"/>
              <p:cNvSpPr>
                <a:spLocks noChangeAspect="1" noChangeArrowheads="1"/>
              </p:cNvSpPr>
              <p:nvPr/>
            </p:nvSpPr>
            <p:spPr bwMode="auto">
              <a:xfrm>
                <a:off x="3242" y="1230"/>
                <a:ext cx="5"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80" name="Rectangle 768"/>
              <p:cNvSpPr>
                <a:spLocks noChangeAspect="1" noChangeArrowheads="1"/>
              </p:cNvSpPr>
              <p:nvPr/>
            </p:nvSpPr>
            <p:spPr bwMode="auto">
              <a:xfrm>
                <a:off x="3244"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81" name="Rectangle 769"/>
              <p:cNvSpPr>
                <a:spLocks noChangeAspect="1" noChangeArrowheads="1"/>
              </p:cNvSpPr>
              <p:nvPr/>
            </p:nvSpPr>
            <p:spPr bwMode="auto">
              <a:xfrm>
                <a:off x="3250"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82" name="Rectangle 770"/>
              <p:cNvSpPr>
                <a:spLocks noChangeAspect="1" noChangeArrowheads="1"/>
              </p:cNvSpPr>
              <p:nvPr/>
            </p:nvSpPr>
            <p:spPr bwMode="auto">
              <a:xfrm>
                <a:off x="3253"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83" name="Rectangle 771"/>
              <p:cNvSpPr>
                <a:spLocks noChangeAspect="1" noChangeArrowheads="1"/>
              </p:cNvSpPr>
              <p:nvPr/>
            </p:nvSpPr>
            <p:spPr bwMode="auto">
              <a:xfrm>
                <a:off x="3256" y="1230"/>
                <a:ext cx="15"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84" name="Rectangle 772"/>
              <p:cNvSpPr>
                <a:spLocks noChangeAspect="1" noChangeArrowheads="1"/>
              </p:cNvSpPr>
              <p:nvPr/>
            </p:nvSpPr>
            <p:spPr bwMode="auto">
              <a:xfrm>
                <a:off x="3259" y="1230"/>
                <a:ext cx="15"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85" name="Rectangle 773"/>
              <p:cNvSpPr>
                <a:spLocks noChangeAspect="1" noChangeArrowheads="1"/>
              </p:cNvSpPr>
              <p:nvPr/>
            </p:nvSpPr>
            <p:spPr bwMode="auto">
              <a:xfrm>
                <a:off x="3265" y="1230"/>
                <a:ext cx="5"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86" name="Rectangle 774"/>
              <p:cNvSpPr>
                <a:spLocks noChangeAspect="1" noChangeArrowheads="1"/>
              </p:cNvSpPr>
              <p:nvPr/>
            </p:nvSpPr>
            <p:spPr bwMode="auto">
              <a:xfrm>
                <a:off x="3267"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87" name="Rectangle 775"/>
              <p:cNvSpPr>
                <a:spLocks noChangeAspect="1" noChangeArrowheads="1"/>
              </p:cNvSpPr>
              <p:nvPr/>
            </p:nvSpPr>
            <p:spPr bwMode="auto">
              <a:xfrm>
                <a:off x="3270"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88" name="Rectangle 776"/>
              <p:cNvSpPr>
                <a:spLocks noChangeAspect="1" noChangeArrowheads="1"/>
              </p:cNvSpPr>
              <p:nvPr/>
            </p:nvSpPr>
            <p:spPr bwMode="auto">
              <a:xfrm>
                <a:off x="3273"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89" name="Rectangle 777"/>
              <p:cNvSpPr>
                <a:spLocks noChangeAspect="1" noChangeArrowheads="1"/>
              </p:cNvSpPr>
              <p:nvPr/>
            </p:nvSpPr>
            <p:spPr bwMode="auto">
              <a:xfrm>
                <a:off x="3276"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90" name="Rectangle 778"/>
              <p:cNvSpPr>
                <a:spLocks noChangeAspect="1" noChangeArrowheads="1"/>
              </p:cNvSpPr>
              <p:nvPr/>
            </p:nvSpPr>
            <p:spPr bwMode="auto">
              <a:xfrm>
                <a:off x="3279"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91" name="Rectangle 779"/>
              <p:cNvSpPr>
                <a:spLocks noChangeAspect="1" noChangeArrowheads="1"/>
              </p:cNvSpPr>
              <p:nvPr/>
            </p:nvSpPr>
            <p:spPr bwMode="auto">
              <a:xfrm>
                <a:off x="3285" y="1230"/>
                <a:ext cx="5"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92" name="Rectangle 780"/>
              <p:cNvSpPr>
                <a:spLocks noChangeAspect="1" noChangeArrowheads="1"/>
              </p:cNvSpPr>
              <p:nvPr/>
            </p:nvSpPr>
            <p:spPr bwMode="auto">
              <a:xfrm>
                <a:off x="3288" y="1230"/>
                <a:ext cx="14"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93" name="Rectangle 781"/>
              <p:cNvSpPr>
                <a:spLocks noChangeAspect="1" noChangeArrowheads="1"/>
              </p:cNvSpPr>
              <p:nvPr/>
            </p:nvSpPr>
            <p:spPr bwMode="auto">
              <a:xfrm>
                <a:off x="3290" y="1230"/>
                <a:ext cx="15"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94" name="Rectangle 782"/>
              <p:cNvSpPr>
                <a:spLocks noChangeAspect="1" noChangeArrowheads="1"/>
              </p:cNvSpPr>
              <p:nvPr/>
            </p:nvSpPr>
            <p:spPr bwMode="auto">
              <a:xfrm>
                <a:off x="3293"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95" name="Rectangle 783"/>
              <p:cNvSpPr>
                <a:spLocks noChangeAspect="1" noChangeArrowheads="1"/>
              </p:cNvSpPr>
              <p:nvPr/>
            </p:nvSpPr>
            <p:spPr bwMode="auto">
              <a:xfrm>
                <a:off x="3299"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96" name="Rectangle 784"/>
              <p:cNvSpPr>
                <a:spLocks noChangeAspect="1" noChangeArrowheads="1"/>
              </p:cNvSpPr>
              <p:nvPr/>
            </p:nvSpPr>
            <p:spPr bwMode="auto">
              <a:xfrm>
                <a:off x="3302"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97" name="Rectangle 785"/>
              <p:cNvSpPr>
                <a:spLocks noChangeAspect="1" noChangeArrowheads="1"/>
              </p:cNvSpPr>
              <p:nvPr/>
            </p:nvSpPr>
            <p:spPr bwMode="auto">
              <a:xfrm>
                <a:off x="3305"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98" name="Rectangle 786"/>
              <p:cNvSpPr>
                <a:spLocks noChangeAspect="1" noChangeArrowheads="1"/>
              </p:cNvSpPr>
              <p:nvPr/>
            </p:nvSpPr>
            <p:spPr bwMode="auto">
              <a:xfrm>
                <a:off x="3308" y="1230"/>
                <a:ext cx="6" cy="30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299" name="Rectangle 787"/>
              <p:cNvSpPr>
                <a:spLocks noChangeAspect="1" noChangeArrowheads="1"/>
              </p:cNvSpPr>
              <p:nvPr/>
            </p:nvSpPr>
            <p:spPr bwMode="auto">
              <a:xfrm>
                <a:off x="3172" y="1230"/>
                <a:ext cx="144" cy="301"/>
              </a:xfrm>
              <a:prstGeom prst="rect">
                <a:avLst/>
              </a:prstGeom>
              <a:gradFill rotWithShape="0">
                <a:gsLst>
                  <a:gs pos="0">
                    <a:schemeClr val="hlink"/>
                  </a:gs>
                  <a:gs pos="50000">
                    <a:schemeClr val="hlink">
                      <a:gamma/>
                      <a:tint val="31373"/>
                      <a:invGamma/>
                    </a:schemeClr>
                  </a:gs>
                  <a:gs pos="100000">
                    <a:schemeClr val="hlink"/>
                  </a:gs>
                </a:gsLst>
                <a:lin ang="0" scaled="1"/>
              </a:gradFill>
              <a:ln w="1588">
                <a:solidFill>
                  <a:srgbClr val="1F1A17"/>
                </a:solidFill>
                <a:miter lim="800000"/>
                <a:headEnd/>
                <a:tailEnd/>
              </a:ln>
            </p:spPr>
            <p:txBody>
              <a:bodyPr/>
              <a:lstStyle/>
              <a:p>
                <a:pPr>
                  <a:defRPr/>
                </a:pPr>
                <a:endParaRPr lang="en-US"/>
              </a:p>
            </p:txBody>
          </p:sp>
          <p:sp>
            <p:nvSpPr>
              <p:cNvPr id="65300" name="Rectangle 788"/>
              <p:cNvSpPr>
                <a:spLocks noChangeAspect="1" noChangeArrowheads="1"/>
              </p:cNvSpPr>
              <p:nvPr/>
            </p:nvSpPr>
            <p:spPr bwMode="auto">
              <a:xfrm>
                <a:off x="3185"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01" name="Rectangle 789"/>
              <p:cNvSpPr>
                <a:spLocks noChangeAspect="1" noChangeArrowheads="1"/>
              </p:cNvSpPr>
              <p:nvPr/>
            </p:nvSpPr>
            <p:spPr bwMode="auto">
              <a:xfrm>
                <a:off x="3188"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02" name="Rectangle 790"/>
              <p:cNvSpPr>
                <a:spLocks noChangeAspect="1" noChangeArrowheads="1"/>
              </p:cNvSpPr>
              <p:nvPr/>
            </p:nvSpPr>
            <p:spPr bwMode="auto">
              <a:xfrm>
                <a:off x="3193" y="953"/>
                <a:ext cx="4"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03" name="Rectangle 791"/>
              <p:cNvSpPr>
                <a:spLocks noChangeAspect="1" noChangeArrowheads="1"/>
              </p:cNvSpPr>
              <p:nvPr/>
            </p:nvSpPr>
            <p:spPr bwMode="auto">
              <a:xfrm>
                <a:off x="3195"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04" name="Rectangle 792"/>
              <p:cNvSpPr>
                <a:spLocks noChangeAspect="1" noChangeArrowheads="1"/>
              </p:cNvSpPr>
              <p:nvPr/>
            </p:nvSpPr>
            <p:spPr bwMode="auto">
              <a:xfrm>
                <a:off x="3200" y="953"/>
                <a:ext cx="14"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05" name="Rectangle 793"/>
              <p:cNvSpPr>
                <a:spLocks noChangeAspect="1" noChangeArrowheads="1"/>
              </p:cNvSpPr>
              <p:nvPr/>
            </p:nvSpPr>
            <p:spPr bwMode="auto">
              <a:xfrm>
                <a:off x="3202" y="953"/>
                <a:ext cx="14"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06" name="Rectangle 794"/>
              <p:cNvSpPr>
                <a:spLocks noChangeAspect="1" noChangeArrowheads="1"/>
              </p:cNvSpPr>
              <p:nvPr/>
            </p:nvSpPr>
            <p:spPr bwMode="auto">
              <a:xfrm>
                <a:off x="3207"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07" name="Rectangle 795"/>
              <p:cNvSpPr>
                <a:spLocks noChangeAspect="1" noChangeArrowheads="1"/>
              </p:cNvSpPr>
              <p:nvPr/>
            </p:nvSpPr>
            <p:spPr bwMode="auto">
              <a:xfrm>
                <a:off x="3209"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08" name="Rectangle 796"/>
              <p:cNvSpPr>
                <a:spLocks noChangeAspect="1" noChangeArrowheads="1"/>
              </p:cNvSpPr>
              <p:nvPr/>
            </p:nvSpPr>
            <p:spPr bwMode="auto">
              <a:xfrm>
                <a:off x="3214"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09" name="Rectangle 797"/>
              <p:cNvSpPr>
                <a:spLocks noChangeAspect="1" noChangeArrowheads="1"/>
              </p:cNvSpPr>
              <p:nvPr/>
            </p:nvSpPr>
            <p:spPr bwMode="auto">
              <a:xfrm>
                <a:off x="3217" y="953"/>
                <a:ext cx="4"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10" name="Rectangle 798"/>
              <p:cNvSpPr>
                <a:spLocks noChangeAspect="1" noChangeArrowheads="1"/>
              </p:cNvSpPr>
              <p:nvPr/>
            </p:nvSpPr>
            <p:spPr bwMode="auto">
              <a:xfrm>
                <a:off x="3221"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11" name="Rectangle 799"/>
              <p:cNvSpPr>
                <a:spLocks noChangeAspect="1" noChangeArrowheads="1"/>
              </p:cNvSpPr>
              <p:nvPr/>
            </p:nvSpPr>
            <p:spPr bwMode="auto">
              <a:xfrm>
                <a:off x="3224"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12" name="Rectangle 800"/>
              <p:cNvSpPr>
                <a:spLocks noChangeAspect="1" noChangeArrowheads="1"/>
              </p:cNvSpPr>
              <p:nvPr/>
            </p:nvSpPr>
            <p:spPr bwMode="auto">
              <a:xfrm>
                <a:off x="3229" y="953"/>
                <a:ext cx="13"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13" name="Rectangle 801"/>
              <p:cNvSpPr>
                <a:spLocks noChangeAspect="1" noChangeArrowheads="1"/>
              </p:cNvSpPr>
              <p:nvPr/>
            </p:nvSpPr>
            <p:spPr bwMode="auto">
              <a:xfrm>
                <a:off x="3231" y="953"/>
                <a:ext cx="14"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14" name="Rectangle 802"/>
              <p:cNvSpPr>
                <a:spLocks noChangeAspect="1" noChangeArrowheads="1"/>
              </p:cNvSpPr>
              <p:nvPr/>
            </p:nvSpPr>
            <p:spPr bwMode="auto">
              <a:xfrm>
                <a:off x="3236"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15" name="Rectangle 803"/>
              <p:cNvSpPr>
                <a:spLocks noChangeAspect="1" noChangeArrowheads="1"/>
              </p:cNvSpPr>
              <p:nvPr/>
            </p:nvSpPr>
            <p:spPr bwMode="auto">
              <a:xfrm>
                <a:off x="3238"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16" name="Rectangle 804"/>
              <p:cNvSpPr>
                <a:spLocks noChangeAspect="1" noChangeArrowheads="1"/>
              </p:cNvSpPr>
              <p:nvPr/>
            </p:nvSpPr>
            <p:spPr bwMode="auto">
              <a:xfrm>
                <a:off x="3243"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17" name="Rectangle 805"/>
              <p:cNvSpPr>
                <a:spLocks noChangeAspect="1" noChangeArrowheads="1"/>
              </p:cNvSpPr>
              <p:nvPr/>
            </p:nvSpPr>
            <p:spPr bwMode="auto">
              <a:xfrm>
                <a:off x="3245"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18" name="Rectangle 806"/>
              <p:cNvSpPr>
                <a:spLocks noChangeAspect="1" noChangeArrowheads="1"/>
              </p:cNvSpPr>
              <p:nvPr/>
            </p:nvSpPr>
            <p:spPr bwMode="auto">
              <a:xfrm>
                <a:off x="3250"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19" name="Rectangle 807"/>
              <p:cNvSpPr>
                <a:spLocks noChangeAspect="1" noChangeArrowheads="1"/>
              </p:cNvSpPr>
              <p:nvPr/>
            </p:nvSpPr>
            <p:spPr bwMode="auto">
              <a:xfrm>
                <a:off x="3253" y="953"/>
                <a:ext cx="4"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20" name="Rectangle 808"/>
              <p:cNvSpPr>
                <a:spLocks noChangeAspect="1" noChangeArrowheads="1"/>
              </p:cNvSpPr>
              <p:nvPr/>
            </p:nvSpPr>
            <p:spPr bwMode="auto">
              <a:xfrm>
                <a:off x="3257" y="953"/>
                <a:ext cx="14"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21" name="Rectangle 809"/>
              <p:cNvSpPr>
                <a:spLocks noChangeAspect="1" noChangeArrowheads="1"/>
              </p:cNvSpPr>
              <p:nvPr/>
            </p:nvSpPr>
            <p:spPr bwMode="auto">
              <a:xfrm>
                <a:off x="3260" y="953"/>
                <a:ext cx="14"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22" name="Rectangle 810"/>
              <p:cNvSpPr>
                <a:spLocks noChangeAspect="1" noChangeArrowheads="1"/>
              </p:cNvSpPr>
              <p:nvPr/>
            </p:nvSpPr>
            <p:spPr bwMode="auto">
              <a:xfrm>
                <a:off x="3265"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23" name="Rectangle 811"/>
              <p:cNvSpPr>
                <a:spLocks noChangeAspect="1" noChangeArrowheads="1"/>
              </p:cNvSpPr>
              <p:nvPr/>
            </p:nvSpPr>
            <p:spPr bwMode="auto">
              <a:xfrm>
                <a:off x="3267"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24" name="Rectangle 812"/>
              <p:cNvSpPr>
                <a:spLocks noChangeAspect="1" noChangeArrowheads="1"/>
              </p:cNvSpPr>
              <p:nvPr/>
            </p:nvSpPr>
            <p:spPr bwMode="auto">
              <a:xfrm>
                <a:off x="3270"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25" name="Rectangle 813"/>
              <p:cNvSpPr>
                <a:spLocks noChangeAspect="1" noChangeArrowheads="1"/>
              </p:cNvSpPr>
              <p:nvPr/>
            </p:nvSpPr>
            <p:spPr bwMode="auto">
              <a:xfrm>
                <a:off x="3272"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26" name="Rectangle 814"/>
              <p:cNvSpPr>
                <a:spLocks noChangeAspect="1" noChangeArrowheads="1"/>
              </p:cNvSpPr>
              <p:nvPr/>
            </p:nvSpPr>
            <p:spPr bwMode="auto">
              <a:xfrm>
                <a:off x="3277"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27" name="Rectangle 815"/>
              <p:cNvSpPr>
                <a:spLocks noChangeAspect="1" noChangeArrowheads="1"/>
              </p:cNvSpPr>
              <p:nvPr/>
            </p:nvSpPr>
            <p:spPr bwMode="auto">
              <a:xfrm>
                <a:off x="3279"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28" name="Rectangle 816"/>
              <p:cNvSpPr>
                <a:spLocks noChangeAspect="1" noChangeArrowheads="1"/>
              </p:cNvSpPr>
              <p:nvPr/>
            </p:nvSpPr>
            <p:spPr bwMode="auto">
              <a:xfrm>
                <a:off x="3284"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29" name="Rectangle 817"/>
              <p:cNvSpPr>
                <a:spLocks noChangeAspect="1" noChangeArrowheads="1"/>
              </p:cNvSpPr>
              <p:nvPr/>
            </p:nvSpPr>
            <p:spPr bwMode="auto">
              <a:xfrm>
                <a:off x="3287" y="953"/>
                <a:ext cx="13"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30" name="Rectangle 818"/>
              <p:cNvSpPr>
                <a:spLocks noChangeAspect="1" noChangeArrowheads="1"/>
              </p:cNvSpPr>
              <p:nvPr/>
            </p:nvSpPr>
            <p:spPr bwMode="auto">
              <a:xfrm>
                <a:off x="3291"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31" name="Rectangle 819"/>
              <p:cNvSpPr>
                <a:spLocks noChangeAspect="1" noChangeArrowheads="1"/>
              </p:cNvSpPr>
              <p:nvPr/>
            </p:nvSpPr>
            <p:spPr bwMode="auto">
              <a:xfrm>
                <a:off x="3294"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32" name="Rectangle 820"/>
              <p:cNvSpPr>
                <a:spLocks noChangeAspect="1" noChangeArrowheads="1"/>
              </p:cNvSpPr>
              <p:nvPr/>
            </p:nvSpPr>
            <p:spPr bwMode="auto">
              <a:xfrm>
                <a:off x="3296" y="953"/>
                <a:ext cx="5"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33" name="Rectangle 821"/>
              <p:cNvSpPr>
                <a:spLocks noChangeAspect="1" noChangeArrowheads="1"/>
              </p:cNvSpPr>
              <p:nvPr/>
            </p:nvSpPr>
            <p:spPr bwMode="auto">
              <a:xfrm>
                <a:off x="3303" y="953"/>
                <a:ext cx="1" cy="220"/>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34" name="Rectangle 822"/>
              <p:cNvSpPr>
                <a:spLocks noChangeAspect="1" noChangeArrowheads="1"/>
              </p:cNvSpPr>
              <p:nvPr/>
            </p:nvSpPr>
            <p:spPr bwMode="auto">
              <a:xfrm>
                <a:off x="3183" y="953"/>
                <a:ext cx="120" cy="220"/>
              </a:xfrm>
              <a:prstGeom prst="rect">
                <a:avLst/>
              </a:prstGeom>
              <a:gradFill rotWithShape="0">
                <a:gsLst>
                  <a:gs pos="0">
                    <a:schemeClr val="hlink"/>
                  </a:gs>
                  <a:gs pos="50000">
                    <a:schemeClr val="hlink">
                      <a:gamma/>
                      <a:tint val="31373"/>
                      <a:invGamma/>
                    </a:schemeClr>
                  </a:gs>
                  <a:gs pos="100000">
                    <a:schemeClr val="hlink"/>
                  </a:gs>
                </a:gsLst>
                <a:lin ang="0" scaled="1"/>
              </a:gradFill>
              <a:ln w="1588">
                <a:solidFill>
                  <a:srgbClr val="1F1A17"/>
                </a:solidFill>
                <a:miter lim="800000"/>
                <a:headEnd/>
                <a:tailEnd/>
              </a:ln>
            </p:spPr>
            <p:txBody>
              <a:bodyPr/>
              <a:lstStyle/>
              <a:p>
                <a:pPr>
                  <a:defRPr/>
                </a:pPr>
                <a:endParaRPr lang="en-US"/>
              </a:p>
            </p:txBody>
          </p:sp>
          <p:sp>
            <p:nvSpPr>
              <p:cNvPr id="65335" name="Freeform 823"/>
              <p:cNvSpPr>
                <a:spLocks noChangeAspect="1"/>
              </p:cNvSpPr>
              <p:nvPr/>
            </p:nvSpPr>
            <p:spPr bwMode="auto">
              <a:xfrm>
                <a:off x="3172" y="1199"/>
                <a:ext cx="15" cy="30"/>
              </a:xfrm>
              <a:custGeom>
                <a:avLst/>
                <a:gdLst>
                  <a:gd name="T0" fmla="*/ 17 w 17"/>
                  <a:gd name="T1" fmla="*/ 0 h 88"/>
                  <a:gd name="T2" fmla="*/ 17 w 17"/>
                  <a:gd name="T3" fmla="*/ 88 h 88"/>
                  <a:gd name="T4" fmla="*/ 0 w 17"/>
                  <a:gd name="T5" fmla="*/ 88 h 88"/>
                  <a:gd name="T6" fmla="*/ 17 w 17"/>
                  <a:gd name="T7" fmla="*/ 0 h 88"/>
                </a:gdLst>
                <a:ahLst/>
                <a:cxnLst>
                  <a:cxn ang="0">
                    <a:pos x="T0" y="T1"/>
                  </a:cxn>
                  <a:cxn ang="0">
                    <a:pos x="T2" y="T3"/>
                  </a:cxn>
                  <a:cxn ang="0">
                    <a:pos x="T4" y="T5"/>
                  </a:cxn>
                  <a:cxn ang="0">
                    <a:pos x="T6" y="T7"/>
                  </a:cxn>
                </a:cxnLst>
                <a:rect l="0" t="0" r="r" b="b"/>
                <a:pathLst>
                  <a:path w="17" h="88">
                    <a:moveTo>
                      <a:pt x="17" y="0"/>
                    </a:moveTo>
                    <a:lnTo>
                      <a:pt x="17" y="88"/>
                    </a:lnTo>
                    <a:lnTo>
                      <a:pt x="0" y="88"/>
                    </a:lnTo>
                    <a:lnTo>
                      <a:pt x="17" y="0"/>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336" name="Freeform 824"/>
              <p:cNvSpPr>
                <a:spLocks noChangeAspect="1"/>
              </p:cNvSpPr>
              <p:nvPr/>
            </p:nvSpPr>
            <p:spPr bwMode="auto">
              <a:xfrm>
                <a:off x="3175" y="1185"/>
                <a:ext cx="6" cy="44"/>
              </a:xfrm>
              <a:custGeom>
                <a:avLst/>
                <a:gdLst>
                  <a:gd name="T0" fmla="*/ 0 w 18"/>
                  <a:gd name="T1" fmla="*/ 132 h 132"/>
                  <a:gd name="T2" fmla="*/ 0 w 18"/>
                  <a:gd name="T3" fmla="*/ 87 h 132"/>
                  <a:gd name="T4" fmla="*/ 18 w 18"/>
                  <a:gd name="T5" fmla="*/ 0 h 132"/>
                  <a:gd name="T6" fmla="*/ 18 w 18"/>
                  <a:gd name="T7" fmla="*/ 132 h 132"/>
                  <a:gd name="T8" fmla="*/ 0 w 18"/>
                  <a:gd name="T9" fmla="*/ 132 h 132"/>
                </a:gdLst>
                <a:ahLst/>
                <a:cxnLst>
                  <a:cxn ang="0">
                    <a:pos x="T0" y="T1"/>
                  </a:cxn>
                  <a:cxn ang="0">
                    <a:pos x="T2" y="T3"/>
                  </a:cxn>
                  <a:cxn ang="0">
                    <a:pos x="T4" y="T5"/>
                  </a:cxn>
                  <a:cxn ang="0">
                    <a:pos x="T6" y="T7"/>
                  </a:cxn>
                  <a:cxn ang="0">
                    <a:pos x="T8" y="T9"/>
                  </a:cxn>
                </a:cxnLst>
                <a:rect l="0" t="0" r="r" b="b"/>
                <a:pathLst>
                  <a:path w="18" h="132">
                    <a:moveTo>
                      <a:pt x="0" y="132"/>
                    </a:moveTo>
                    <a:lnTo>
                      <a:pt x="0" y="87"/>
                    </a:lnTo>
                    <a:lnTo>
                      <a:pt x="18" y="0"/>
                    </a:lnTo>
                    <a:lnTo>
                      <a:pt x="18" y="132"/>
                    </a:lnTo>
                    <a:lnTo>
                      <a:pt x="0" y="132"/>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337" name="Freeform 825"/>
              <p:cNvSpPr>
                <a:spLocks noChangeAspect="1"/>
              </p:cNvSpPr>
              <p:nvPr/>
            </p:nvSpPr>
            <p:spPr bwMode="auto">
              <a:xfrm>
                <a:off x="3178" y="1173"/>
                <a:ext cx="5" cy="56"/>
              </a:xfrm>
              <a:custGeom>
                <a:avLst/>
                <a:gdLst>
                  <a:gd name="T0" fmla="*/ 0 w 17"/>
                  <a:gd name="T1" fmla="*/ 167 h 167"/>
                  <a:gd name="T2" fmla="*/ 0 w 17"/>
                  <a:gd name="T3" fmla="*/ 79 h 167"/>
                  <a:gd name="T4" fmla="*/ 16 w 17"/>
                  <a:gd name="T5" fmla="*/ 0 h 167"/>
                  <a:gd name="T6" fmla="*/ 17 w 17"/>
                  <a:gd name="T7" fmla="*/ 0 h 167"/>
                  <a:gd name="T8" fmla="*/ 17 w 17"/>
                  <a:gd name="T9" fmla="*/ 167 h 167"/>
                  <a:gd name="T10" fmla="*/ 0 w 17"/>
                  <a:gd name="T11" fmla="*/ 167 h 167"/>
                </a:gdLst>
                <a:ahLst/>
                <a:cxnLst>
                  <a:cxn ang="0">
                    <a:pos x="T0" y="T1"/>
                  </a:cxn>
                  <a:cxn ang="0">
                    <a:pos x="T2" y="T3"/>
                  </a:cxn>
                  <a:cxn ang="0">
                    <a:pos x="T4" y="T5"/>
                  </a:cxn>
                  <a:cxn ang="0">
                    <a:pos x="T6" y="T7"/>
                  </a:cxn>
                  <a:cxn ang="0">
                    <a:pos x="T8" y="T9"/>
                  </a:cxn>
                  <a:cxn ang="0">
                    <a:pos x="T10" y="T11"/>
                  </a:cxn>
                </a:cxnLst>
                <a:rect l="0" t="0" r="r" b="b"/>
                <a:pathLst>
                  <a:path w="17" h="167">
                    <a:moveTo>
                      <a:pt x="0" y="167"/>
                    </a:moveTo>
                    <a:lnTo>
                      <a:pt x="0" y="79"/>
                    </a:lnTo>
                    <a:lnTo>
                      <a:pt x="16" y="0"/>
                    </a:lnTo>
                    <a:lnTo>
                      <a:pt x="17" y="0"/>
                    </a:lnTo>
                    <a:lnTo>
                      <a:pt x="17" y="167"/>
                    </a:lnTo>
                    <a:lnTo>
                      <a:pt x="0" y="167"/>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338" name="Freeform 826"/>
              <p:cNvSpPr>
                <a:spLocks noChangeAspect="1"/>
              </p:cNvSpPr>
              <p:nvPr/>
            </p:nvSpPr>
            <p:spPr bwMode="auto">
              <a:xfrm>
                <a:off x="3181" y="1173"/>
                <a:ext cx="5" cy="56"/>
              </a:xfrm>
              <a:custGeom>
                <a:avLst/>
                <a:gdLst>
                  <a:gd name="T0" fmla="*/ 0 w 17"/>
                  <a:gd name="T1" fmla="*/ 167 h 167"/>
                  <a:gd name="T2" fmla="*/ 0 w 17"/>
                  <a:gd name="T3" fmla="*/ 35 h 167"/>
                  <a:gd name="T4" fmla="*/ 7 w 17"/>
                  <a:gd name="T5" fmla="*/ 0 h 167"/>
                  <a:gd name="T6" fmla="*/ 17 w 17"/>
                  <a:gd name="T7" fmla="*/ 0 h 167"/>
                  <a:gd name="T8" fmla="*/ 17 w 17"/>
                  <a:gd name="T9" fmla="*/ 167 h 167"/>
                  <a:gd name="T10" fmla="*/ 0 w 17"/>
                  <a:gd name="T11" fmla="*/ 167 h 167"/>
                </a:gdLst>
                <a:ahLst/>
                <a:cxnLst>
                  <a:cxn ang="0">
                    <a:pos x="T0" y="T1"/>
                  </a:cxn>
                  <a:cxn ang="0">
                    <a:pos x="T2" y="T3"/>
                  </a:cxn>
                  <a:cxn ang="0">
                    <a:pos x="T4" y="T5"/>
                  </a:cxn>
                  <a:cxn ang="0">
                    <a:pos x="T6" y="T7"/>
                  </a:cxn>
                  <a:cxn ang="0">
                    <a:pos x="T8" y="T9"/>
                  </a:cxn>
                  <a:cxn ang="0">
                    <a:pos x="T10" y="T11"/>
                  </a:cxn>
                </a:cxnLst>
                <a:rect l="0" t="0" r="r" b="b"/>
                <a:pathLst>
                  <a:path w="17" h="167">
                    <a:moveTo>
                      <a:pt x="0" y="167"/>
                    </a:moveTo>
                    <a:lnTo>
                      <a:pt x="0" y="35"/>
                    </a:lnTo>
                    <a:lnTo>
                      <a:pt x="7" y="0"/>
                    </a:lnTo>
                    <a:lnTo>
                      <a:pt x="17" y="0"/>
                    </a:lnTo>
                    <a:lnTo>
                      <a:pt x="17" y="167"/>
                    </a:lnTo>
                    <a:lnTo>
                      <a:pt x="0" y="167"/>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339" name="Rectangle 827"/>
              <p:cNvSpPr>
                <a:spLocks noChangeAspect="1" noChangeArrowheads="1"/>
              </p:cNvSpPr>
              <p:nvPr/>
            </p:nvSpPr>
            <p:spPr bwMode="auto">
              <a:xfrm>
                <a:off x="3186"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40" name="Rectangle 828"/>
              <p:cNvSpPr>
                <a:spLocks noChangeAspect="1" noChangeArrowheads="1"/>
              </p:cNvSpPr>
              <p:nvPr/>
            </p:nvSpPr>
            <p:spPr bwMode="auto">
              <a:xfrm>
                <a:off x="3189"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41" name="Rectangle 829"/>
              <p:cNvSpPr>
                <a:spLocks noChangeAspect="1" noChangeArrowheads="1"/>
              </p:cNvSpPr>
              <p:nvPr/>
            </p:nvSpPr>
            <p:spPr bwMode="auto">
              <a:xfrm>
                <a:off x="3192"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42" name="Rectangle 830"/>
              <p:cNvSpPr>
                <a:spLocks noChangeAspect="1" noChangeArrowheads="1"/>
              </p:cNvSpPr>
              <p:nvPr/>
            </p:nvSpPr>
            <p:spPr bwMode="auto">
              <a:xfrm>
                <a:off x="3195"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43" name="Rectangle 831"/>
              <p:cNvSpPr>
                <a:spLocks noChangeAspect="1" noChangeArrowheads="1"/>
              </p:cNvSpPr>
              <p:nvPr/>
            </p:nvSpPr>
            <p:spPr bwMode="auto">
              <a:xfrm>
                <a:off x="3198" y="1173"/>
                <a:ext cx="15"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44" name="Rectangle 832"/>
              <p:cNvSpPr>
                <a:spLocks noChangeAspect="1" noChangeArrowheads="1"/>
              </p:cNvSpPr>
              <p:nvPr/>
            </p:nvSpPr>
            <p:spPr bwMode="auto">
              <a:xfrm>
                <a:off x="3201" y="1173"/>
                <a:ext cx="15"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45" name="Rectangle 833"/>
              <p:cNvSpPr>
                <a:spLocks noChangeAspect="1" noChangeArrowheads="1"/>
              </p:cNvSpPr>
              <p:nvPr/>
            </p:nvSpPr>
            <p:spPr bwMode="auto">
              <a:xfrm>
                <a:off x="3207" y="1173"/>
                <a:ext cx="5"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46" name="Rectangle 834"/>
              <p:cNvSpPr>
                <a:spLocks noChangeAspect="1" noChangeArrowheads="1"/>
              </p:cNvSpPr>
              <p:nvPr/>
            </p:nvSpPr>
            <p:spPr bwMode="auto">
              <a:xfrm>
                <a:off x="3210" y="1173"/>
                <a:ext cx="5"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47" name="Rectangle 835"/>
              <p:cNvSpPr>
                <a:spLocks noChangeAspect="1" noChangeArrowheads="1"/>
              </p:cNvSpPr>
              <p:nvPr/>
            </p:nvSpPr>
            <p:spPr bwMode="auto">
              <a:xfrm>
                <a:off x="3212"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48" name="Rectangle 836"/>
              <p:cNvSpPr>
                <a:spLocks noChangeAspect="1" noChangeArrowheads="1"/>
              </p:cNvSpPr>
              <p:nvPr/>
            </p:nvSpPr>
            <p:spPr bwMode="auto">
              <a:xfrm>
                <a:off x="3215"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49" name="Rectangle 837"/>
              <p:cNvSpPr>
                <a:spLocks noChangeAspect="1" noChangeArrowheads="1"/>
              </p:cNvSpPr>
              <p:nvPr/>
            </p:nvSpPr>
            <p:spPr bwMode="auto">
              <a:xfrm>
                <a:off x="3221"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50" name="Rectangle 838"/>
              <p:cNvSpPr>
                <a:spLocks noChangeAspect="1" noChangeArrowheads="1"/>
              </p:cNvSpPr>
              <p:nvPr/>
            </p:nvSpPr>
            <p:spPr bwMode="auto">
              <a:xfrm>
                <a:off x="3224"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51" name="Rectangle 839"/>
              <p:cNvSpPr>
                <a:spLocks noChangeAspect="1" noChangeArrowheads="1"/>
              </p:cNvSpPr>
              <p:nvPr/>
            </p:nvSpPr>
            <p:spPr bwMode="auto">
              <a:xfrm>
                <a:off x="3227" y="1173"/>
                <a:ext cx="15"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52" name="Rectangle 840"/>
              <p:cNvSpPr>
                <a:spLocks noChangeAspect="1" noChangeArrowheads="1"/>
              </p:cNvSpPr>
              <p:nvPr/>
            </p:nvSpPr>
            <p:spPr bwMode="auto">
              <a:xfrm>
                <a:off x="3230" y="1173"/>
                <a:ext cx="14"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53" name="Rectangle 841"/>
              <p:cNvSpPr>
                <a:spLocks noChangeAspect="1" noChangeArrowheads="1"/>
              </p:cNvSpPr>
              <p:nvPr/>
            </p:nvSpPr>
            <p:spPr bwMode="auto">
              <a:xfrm>
                <a:off x="3235"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54" name="Rectangle 842"/>
              <p:cNvSpPr>
                <a:spLocks noChangeAspect="1" noChangeArrowheads="1"/>
              </p:cNvSpPr>
              <p:nvPr/>
            </p:nvSpPr>
            <p:spPr bwMode="auto">
              <a:xfrm>
                <a:off x="3238"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55" name="Rectangle 843"/>
              <p:cNvSpPr>
                <a:spLocks noChangeAspect="1" noChangeArrowheads="1"/>
              </p:cNvSpPr>
              <p:nvPr/>
            </p:nvSpPr>
            <p:spPr bwMode="auto">
              <a:xfrm>
                <a:off x="3241"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grpSp>
            <p:nvGrpSpPr>
              <p:cNvPr id="390202" name="Group 844"/>
              <p:cNvGrpSpPr>
                <a:grpSpLocks noChangeAspect="1"/>
              </p:cNvGrpSpPr>
              <p:nvPr/>
            </p:nvGrpSpPr>
            <p:grpSpPr bwMode="auto">
              <a:xfrm>
                <a:off x="3172" y="701"/>
                <a:ext cx="145" cy="529"/>
                <a:chOff x="3172" y="701"/>
                <a:chExt cx="145" cy="529"/>
              </a:xfrm>
            </p:grpSpPr>
            <p:sp>
              <p:nvSpPr>
                <p:cNvPr id="65357" name="Rectangle 845"/>
                <p:cNvSpPr>
                  <a:spLocks noChangeAspect="1" noChangeArrowheads="1"/>
                </p:cNvSpPr>
                <p:nvPr/>
              </p:nvSpPr>
              <p:spPr bwMode="auto">
                <a:xfrm>
                  <a:off x="3235" y="1173"/>
                  <a:ext cx="15"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58" name="Rectangle 846"/>
                <p:cNvSpPr>
                  <a:spLocks noChangeAspect="1" noChangeArrowheads="1"/>
                </p:cNvSpPr>
                <p:nvPr/>
              </p:nvSpPr>
              <p:spPr bwMode="auto">
                <a:xfrm>
                  <a:off x="3247"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59" name="Rectangle 847"/>
                <p:cNvSpPr>
                  <a:spLocks noChangeAspect="1" noChangeArrowheads="1"/>
                </p:cNvSpPr>
                <p:nvPr/>
              </p:nvSpPr>
              <p:spPr bwMode="auto">
                <a:xfrm>
                  <a:off x="3250"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60" name="Rectangle 848"/>
                <p:cNvSpPr>
                  <a:spLocks noChangeAspect="1" noChangeArrowheads="1"/>
                </p:cNvSpPr>
                <p:nvPr/>
              </p:nvSpPr>
              <p:spPr bwMode="auto">
                <a:xfrm>
                  <a:off x="3253"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61" name="Rectangle 849"/>
                <p:cNvSpPr>
                  <a:spLocks noChangeAspect="1" noChangeArrowheads="1"/>
                </p:cNvSpPr>
                <p:nvPr/>
              </p:nvSpPr>
              <p:spPr bwMode="auto">
                <a:xfrm>
                  <a:off x="3256" y="1173"/>
                  <a:ext cx="5"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62" name="Rectangle 850"/>
                <p:cNvSpPr>
                  <a:spLocks noChangeAspect="1" noChangeArrowheads="1"/>
                </p:cNvSpPr>
                <p:nvPr/>
              </p:nvSpPr>
              <p:spPr bwMode="auto">
                <a:xfrm>
                  <a:off x="3259"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63" name="Rectangle 851"/>
                <p:cNvSpPr>
                  <a:spLocks noChangeAspect="1" noChangeArrowheads="1"/>
                </p:cNvSpPr>
                <p:nvPr/>
              </p:nvSpPr>
              <p:spPr bwMode="auto">
                <a:xfrm>
                  <a:off x="3261"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64" name="Rectangle 852"/>
                <p:cNvSpPr>
                  <a:spLocks noChangeAspect="1" noChangeArrowheads="1"/>
                </p:cNvSpPr>
                <p:nvPr/>
              </p:nvSpPr>
              <p:spPr bwMode="auto">
                <a:xfrm>
                  <a:off x="3261" y="1173"/>
                  <a:ext cx="5"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65" name="Rectangle 853"/>
                <p:cNvSpPr>
                  <a:spLocks noChangeAspect="1" noChangeArrowheads="1"/>
                </p:cNvSpPr>
                <p:nvPr/>
              </p:nvSpPr>
              <p:spPr bwMode="auto">
                <a:xfrm>
                  <a:off x="3261"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66" name="Rectangle 854"/>
                <p:cNvSpPr>
                  <a:spLocks noChangeAspect="1" noChangeArrowheads="1"/>
                </p:cNvSpPr>
                <p:nvPr/>
              </p:nvSpPr>
              <p:spPr bwMode="auto">
                <a:xfrm>
                  <a:off x="3261" y="1173"/>
                  <a:ext cx="15"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67" name="Rectangle 855"/>
                <p:cNvSpPr>
                  <a:spLocks noChangeAspect="1" noChangeArrowheads="1"/>
                </p:cNvSpPr>
                <p:nvPr/>
              </p:nvSpPr>
              <p:spPr bwMode="auto">
                <a:xfrm>
                  <a:off x="3264" y="1173"/>
                  <a:ext cx="15"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68" name="Rectangle 856"/>
                <p:cNvSpPr>
                  <a:spLocks noChangeAspect="1" noChangeArrowheads="1"/>
                </p:cNvSpPr>
                <p:nvPr/>
              </p:nvSpPr>
              <p:spPr bwMode="auto">
                <a:xfrm>
                  <a:off x="3276"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69" name="Rectangle 857"/>
                <p:cNvSpPr>
                  <a:spLocks noChangeAspect="1" noChangeArrowheads="1"/>
                </p:cNvSpPr>
                <p:nvPr/>
              </p:nvSpPr>
              <p:spPr bwMode="auto">
                <a:xfrm>
                  <a:off x="3279"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70" name="Rectangle 858"/>
                <p:cNvSpPr>
                  <a:spLocks noChangeAspect="1" noChangeArrowheads="1"/>
                </p:cNvSpPr>
                <p:nvPr/>
              </p:nvSpPr>
              <p:spPr bwMode="auto">
                <a:xfrm>
                  <a:off x="3282"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71" name="Rectangle 859"/>
                <p:cNvSpPr>
                  <a:spLocks noChangeAspect="1" noChangeArrowheads="1"/>
                </p:cNvSpPr>
                <p:nvPr/>
              </p:nvSpPr>
              <p:spPr bwMode="auto">
                <a:xfrm>
                  <a:off x="3285" y="1173"/>
                  <a:ext cx="5"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72" name="Rectangle 860"/>
                <p:cNvSpPr>
                  <a:spLocks noChangeAspect="1" noChangeArrowheads="1"/>
                </p:cNvSpPr>
                <p:nvPr/>
              </p:nvSpPr>
              <p:spPr bwMode="auto">
                <a:xfrm>
                  <a:off x="3288" y="1173"/>
                  <a:ext cx="5"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73" name="Rectangle 861"/>
                <p:cNvSpPr>
                  <a:spLocks noChangeAspect="1" noChangeArrowheads="1"/>
                </p:cNvSpPr>
                <p:nvPr/>
              </p:nvSpPr>
              <p:spPr bwMode="auto">
                <a:xfrm>
                  <a:off x="3290"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74" name="Rectangle 862"/>
                <p:cNvSpPr>
                  <a:spLocks noChangeAspect="1" noChangeArrowheads="1"/>
                </p:cNvSpPr>
                <p:nvPr/>
              </p:nvSpPr>
              <p:spPr bwMode="auto">
                <a:xfrm>
                  <a:off x="3290"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75" name="Rectangle 863"/>
                <p:cNvSpPr>
                  <a:spLocks noChangeAspect="1" noChangeArrowheads="1"/>
                </p:cNvSpPr>
                <p:nvPr/>
              </p:nvSpPr>
              <p:spPr bwMode="auto">
                <a:xfrm>
                  <a:off x="3290" y="1173"/>
                  <a:ext cx="6" cy="56"/>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76" name="Freeform 864"/>
                <p:cNvSpPr>
                  <a:spLocks noChangeAspect="1"/>
                </p:cNvSpPr>
                <p:nvPr/>
              </p:nvSpPr>
              <p:spPr bwMode="auto">
                <a:xfrm>
                  <a:off x="3290" y="1173"/>
                  <a:ext cx="15" cy="56"/>
                </a:xfrm>
                <a:custGeom>
                  <a:avLst/>
                  <a:gdLst>
                    <a:gd name="T0" fmla="*/ 0 w 18"/>
                    <a:gd name="T1" fmla="*/ 167 h 167"/>
                    <a:gd name="T2" fmla="*/ 0 w 18"/>
                    <a:gd name="T3" fmla="*/ 0 h 167"/>
                    <a:gd name="T4" fmla="*/ 13 w 18"/>
                    <a:gd name="T5" fmla="*/ 0 h 167"/>
                    <a:gd name="T6" fmla="*/ 18 w 18"/>
                    <a:gd name="T7" fmla="*/ 20 h 167"/>
                    <a:gd name="T8" fmla="*/ 18 w 18"/>
                    <a:gd name="T9" fmla="*/ 167 h 167"/>
                    <a:gd name="T10" fmla="*/ 0 w 18"/>
                    <a:gd name="T11" fmla="*/ 167 h 167"/>
                  </a:gdLst>
                  <a:ahLst/>
                  <a:cxnLst>
                    <a:cxn ang="0">
                      <a:pos x="T0" y="T1"/>
                    </a:cxn>
                    <a:cxn ang="0">
                      <a:pos x="T2" y="T3"/>
                    </a:cxn>
                    <a:cxn ang="0">
                      <a:pos x="T4" y="T5"/>
                    </a:cxn>
                    <a:cxn ang="0">
                      <a:pos x="T6" y="T7"/>
                    </a:cxn>
                    <a:cxn ang="0">
                      <a:pos x="T8" y="T9"/>
                    </a:cxn>
                    <a:cxn ang="0">
                      <a:pos x="T10" y="T11"/>
                    </a:cxn>
                  </a:cxnLst>
                  <a:rect l="0" t="0" r="r" b="b"/>
                  <a:pathLst>
                    <a:path w="18" h="167">
                      <a:moveTo>
                        <a:pt x="0" y="167"/>
                      </a:moveTo>
                      <a:lnTo>
                        <a:pt x="0" y="0"/>
                      </a:lnTo>
                      <a:lnTo>
                        <a:pt x="13" y="0"/>
                      </a:lnTo>
                      <a:lnTo>
                        <a:pt x="18" y="20"/>
                      </a:lnTo>
                      <a:lnTo>
                        <a:pt x="18" y="167"/>
                      </a:lnTo>
                      <a:lnTo>
                        <a:pt x="0" y="167"/>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377" name="Freeform 865"/>
                <p:cNvSpPr>
                  <a:spLocks noChangeAspect="1"/>
                </p:cNvSpPr>
                <p:nvPr/>
              </p:nvSpPr>
              <p:spPr bwMode="auto">
                <a:xfrm>
                  <a:off x="3293" y="1173"/>
                  <a:ext cx="15" cy="56"/>
                </a:xfrm>
                <a:custGeom>
                  <a:avLst/>
                  <a:gdLst>
                    <a:gd name="T0" fmla="*/ 0 w 17"/>
                    <a:gd name="T1" fmla="*/ 167 h 167"/>
                    <a:gd name="T2" fmla="*/ 0 w 17"/>
                    <a:gd name="T3" fmla="*/ 0 h 167"/>
                    <a:gd name="T4" fmla="*/ 3 w 17"/>
                    <a:gd name="T5" fmla="*/ 0 h 167"/>
                    <a:gd name="T6" fmla="*/ 17 w 17"/>
                    <a:gd name="T7" fmla="*/ 56 h 167"/>
                    <a:gd name="T8" fmla="*/ 17 w 17"/>
                    <a:gd name="T9" fmla="*/ 167 h 167"/>
                    <a:gd name="T10" fmla="*/ 0 w 17"/>
                    <a:gd name="T11" fmla="*/ 167 h 167"/>
                  </a:gdLst>
                  <a:ahLst/>
                  <a:cxnLst>
                    <a:cxn ang="0">
                      <a:pos x="T0" y="T1"/>
                    </a:cxn>
                    <a:cxn ang="0">
                      <a:pos x="T2" y="T3"/>
                    </a:cxn>
                    <a:cxn ang="0">
                      <a:pos x="T4" y="T5"/>
                    </a:cxn>
                    <a:cxn ang="0">
                      <a:pos x="T6" y="T7"/>
                    </a:cxn>
                    <a:cxn ang="0">
                      <a:pos x="T8" y="T9"/>
                    </a:cxn>
                    <a:cxn ang="0">
                      <a:pos x="T10" y="T11"/>
                    </a:cxn>
                  </a:cxnLst>
                  <a:rect l="0" t="0" r="r" b="b"/>
                  <a:pathLst>
                    <a:path w="17" h="167">
                      <a:moveTo>
                        <a:pt x="0" y="167"/>
                      </a:moveTo>
                      <a:lnTo>
                        <a:pt x="0" y="0"/>
                      </a:lnTo>
                      <a:lnTo>
                        <a:pt x="3" y="0"/>
                      </a:lnTo>
                      <a:lnTo>
                        <a:pt x="17" y="56"/>
                      </a:lnTo>
                      <a:lnTo>
                        <a:pt x="17" y="167"/>
                      </a:lnTo>
                      <a:lnTo>
                        <a:pt x="0" y="167"/>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378" name="Freeform 866"/>
                <p:cNvSpPr>
                  <a:spLocks noChangeAspect="1"/>
                </p:cNvSpPr>
                <p:nvPr/>
              </p:nvSpPr>
              <p:spPr bwMode="auto">
                <a:xfrm>
                  <a:off x="3305" y="1175"/>
                  <a:ext cx="6" cy="47"/>
                </a:xfrm>
                <a:custGeom>
                  <a:avLst/>
                  <a:gdLst>
                    <a:gd name="T0" fmla="*/ 0 w 17"/>
                    <a:gd name="T1" fmla="*/ 147 h 147"/>
                    <a:gd name="T2" fmla="*/ 0 w 17"/>
                    <a:gd name="T3" fmla="*/ 0 h 147"/>
                    <a:gd name="T4" fmla="*/ 17 w 17"/>
                    <a:gd name="T5" fmla="*/ 74 h 147"/>
                    <a:gd name="T6" fmla="*/ 17 w 17"/>
                    <a:gd name="T7" fmla="*/ 147 h 147"/>
                    <a:gd name="T8" fmla="*/ 0 w 17"/>
                    <a:gd name="T9" fmla="*/ 147 h 147"/>
                  </a:gdLst>
                  <a:ahLst/>
                  <a:cxnLst>
                    <a:cxn ang="0">
                      <a:pos x="T0" y="T1"/>
                    </a:cxn>
                    <a:cxn ang="0">
                      <a:pos x="T2" y="T3"/>
                    </a:cxn>
                    <a:cxn ang="0">
                      <a:pos x="T4" y="T5"/>
                    </a:cxn>
                    <a:cxn ang="0">
                      <a:pos x="T6" y="T7"/>
                    </a:cxn>
                    <a:cxn ang="0">
                      <a:pos x="T8" y="T9"/>
                    </a:cxn>
                  </a:cxnLst>
                  <a:rect l="0" t="0" r="r" b="b"/>
                  <a:pathLst>
                    <a:path w="17" h="147">
                      <a:moveTo>
                        <a:pt x="0" y="147"/>
                      </a:moveTo>
                      <a:lnTo>
                        <a:pt x="0" y="0"/>
                      </a:lnTo>
                      <a:lnTo>
                        <a:pt x="17" y="74"/>
                      </a:lnTo>
                      <a:lnTo>
                        <a:pt x="17" y="147"/>
                      </a:lnTo>
                      <a:lnTo>
                        <a:pt x="0" y="147"/>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379" name="Freeform 867"/>
                <p:cNvSpPr>
                  <a:spLocks noChangeAspect="1"/>
                </p:cNvSpPr>
                <p:nvPr/>
              </p:nvSpPr>
              <p:spPr bwMode="auto">
                <a:xfrm>
                  <a:off x="3308" y="1191"/>
                  <a:ext cx="6" cy="31"/>
                </a:xfrm>
                <a:custGeom>
                  <a:avLst/>
                  <a:gdLst>
                    <a:gd name="T0" fmla="*/ 0 w 17"/>
                    <a:gd name="T1" fmla="*/ 111 h 111"/>
                    <a:gd name="T2" fmla="*/ 0 w 17"/>
                    <a:gd name="T3" fmla="*/ 0 h 111"/>
                    <a:gd name="T4" fmla="*/ 17 w 17"/>
                    <a:gd name="T5" fmla="*/ 74 h 111"/>
                    <a:gd name="T6" fmla="*/ 17 w 17"/>
                    <a:gd name="T7" fmla="*/ 111 h 111"/>
                    <a:gd name="T8" fmla="*/ 0 w 17"/>
                    <a:gd name="T9" fmla="*/ 111 h 111"/>
                  </a:gdLst>
                  <a:ahLst/>
                  <a:cxnLst>
                    <a:cxn ang="0">
                      <a:pos x="T0" y="T1"/>
                    </a:cxn>
                    <a:cxn ang="0">
                      <a:pos x="T2" y="T3"/>
                    </a:cxn>
                    <a:cxn ang="0">
                      <a:pos x="T4" y="T5"/>
                    </a:cxn>
                    <a:cxn ang="0">
                      <a:pos x="T6" y="T7"/>
                    </a:cxn>
                    <a:cxn ang="0">
                      <a:pos x="T8" y="T9"/>
                    </a:cxn>
                  </a:cxnLst>
                  <a:rect l="0" t="0" r="r" b="b"/>
                  <a:pathLst>
                    <a:path w="17" h="111">
                      <a:moveTo>
                        <a:pt x="0" y="111"/>
                      </a:moveTo>
                      <a:lnTo>
                        <a:pt x="0" y="0"/>
                      </a:lnTo>
                      <a:lnTo>
                        <a:pt x="17" y="74"/>
                      </a:lnTo>
                      <a:lnTo>
                        <a:pt x="17" y="111"/>
                      </a:lnTo>
                      <a:lnTo>
                        <a:pt x="0" y="11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380" name="Freeform 868"/>
                <p:cNvSpPr>
                  <a:spLocks noChangeAspect="1"/>
                </p:cNvSpPr>
                <p:nvPr/>
              </p:nvSpPr>
              <p:spPr bwMode="auto">
                <a:xfrm>
                  <a:off x="3311" y="1204"/>
                  <a:ext cx="5" cy="25"/>
                </a:xfrm>
                <a:custGeom>
                  <a:avLst/>
                  <a:gdLst>
                    <a:gd name="T0" fmla="*/ 0 w 17"/>
                    <a:gd name="T1" fmla="*/ 73 h 73"/>
                    <a:gd name="T2" fmla="*/ 0 w 17"/>
                    <a:gd name="T3" fmla="*/ 0 h 73"/>
                    <a:gd name="T4" fmla="*/ 17 w 17"/>
                    <a:gd name="T5" fmla="*/ 73 h 73"/>
                    <a:gd name="T6" fmla="*/ 17 w 17"/>
                    <a:gd name="T7" fmla="*/ 73 h 73"/>
                    <a:gd name="T8" fmla="*/ 0 w 17"/>
                    <a:gd name="T9" fmla="*/ 73 h 73"/>
                  </a:gdLst>
                  <a:ahLst/>
                  <a:cxnLst>
                    <a:cxn ang="0">
                      <a:pos x="T0" y="T1"/>
                    </a:cxn>
                    <a:cxn ang="0">
                      <a:pos x="T2" y="T3"/>
                    </a:cxn>
                    <a:cxn ang="0">
                      <a:pos x="T4" y="T5"/>
                    </a:cxn>
                    <a:cxn ang="0">
                      <a:pos x="T6" y="T7"/>
                    </a:cxn>
                    <a:cxn ang="0">
                      <a:pos x="T8" y="T9"/>
                    </a:cxn>
                  </a:cxnLst>
                  <a:rect l="0" t="0" r="r" b="b"/>
                  <a:pathLst>
                    <a:path w="17" h="73">
                      <a:moveTo>
                        <a:pt x="0" y="73"/>
                      </a:moveTo>
                      <a:lnTo>
                        <a:pt x="0" y="0"/>
                      </a:lnTo>
                      <a:lnTo>
                        <a:pt x="17" y="73"/>
                      </a:lnTo>
                      <a:lnTo>
                        <a:pt x="17" y="73"/>
                      </a:lnTo>
                      <a:lnTo>
                        <a:pt x="0" y="73"/>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381" name="Freeform 869"/>
                <p:cNvSpPr>
                  <a:spLocks noChangeAspect="1"/>
                </p:cNvSpPr>
                <p:nvPr/>
              </p:nvSpPr>
              <p:spPr bwMode="auto">
                <a:xfrm>
                  <a:off x="3314" y="1216"/>
                  <a:ext cx="2" cy="13"/>
                </a:xfrm>
                <a:custGeom>
                  <a:avLst/>
                  <a:gdLst>
                    <a:gd name="T0" fmla="*/ 0 w 8"/>
                    <a:gd name="T1" fmla="*/ 37 h 37"/>
                    <a:gd name="T2" fmla="*/ 0 w 8"/>
                    <a:gd name="T3" fmla="*/ 0 h 37"/>
                    <a:gd name="T4" fmla="*/ 8 w 8"/>
                    <a:gd name="T5" fmla="*/ 37 h 37"/>
                    <a:gd name="T6" fmla="*/ 0 w 8"/>
                    <a:gd name="T7" fmla="*/ 37 h 37"/>
                  </a:gdLst>
                  <a:ahLst/>
                  <a:cxnLst>
                    <a:cxn ang="0">
                      <a:pos x="T0" y="T1"/>
                    </a:cxn>
                    <a:cxn ang="0">
                      <a:pos x="T2" y="T3"/>
                    </a:cxn>
                    <a:cxn ang="0">
                      <a:pos x="T4" y="T5"/>
                    </a:cxn>
                    <a:cxn ang="0">
                      <a:pos x="T6" y="T7"/>
                    </a:cxn>
                  </a:cxnLst>
                  <a:rect l="0" t="0" r="r" b="b"/>
                  <a:pathLst>
                    <a:path w="8" h="37">
                      <a:moveTo>
                        <a:pt x="0" y="37"/>
                      </a:moveTo>
                      <a:lnTo>
                        <a:pt x="0" y="0"/>
                      </a:lnTo>
                      <a:lnTo>
                        <a:pt x="8" y="37"/>
                      </a:lnTo>
                      <a:lnTo>
                        <a:pt x="0" y="37"/>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382" name="Rectangle 870"/>
                <p:cNvSpPr>
                  <a:spLocks noChangeAspect="1" noChangeArrowheads="1"/>
                </p:cNvSpPr>
                <p:nvPr/>
              </p:nvSpPr>
              <p:spPr bwMode="auto">
                <a:xfrm>
                  <a:off x="3316" y="1229"/>
                  <a:ext cx="1" cy="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83" name="Freeform 871"/>
                <p:cNvSpPr>
                  <a:spLocks noChangeAspect="1"/>
                </p:cNvSpPr>
                <p:nvPr/>
              </p:nvSpPr>
              <p:spPr bwMode="auto">
                <a:xfrm>
                  <a:off x="3172" y="1173"/>
                  <a:ext cx="144" cy="56"/>
                </a:xfrm>
                <a:custGeom>
                  <a:avLst/>
                  <a:gdLst>
                    <a:gd name="T0" fmla="*/ 33 w 433"/>
                    <a:gd name="T1" fmla="*/ 0 h 167"/>
                    <a:gd name="T2" fmla="*/ 0 w 433"/>
                    <a:gd name="T3" fmla="*/ 167 h 167"/>
                    <a:gd name="T4" fmla="*/ 433 w 433"/>
                    <a:gd name="T5" fmla="*/ 167 h 167"/>
                    <a:gd name="T6" fmla="*/ 394 w 433"/>
                    <a:gd name="T7" fmla="*/ 0 h 167"/>
                    <a:gd name="T8" fmla="*/ 33 w 433"/>
                    <a:gd name="T9" fmla="*/ 0 h 167"/>
                  </a:gdLst>
                  <a:ahLst/>
                  <a:cxnLst>
                    <a:cxn ang="0">
                      <a:pos x="T0" y="T1"/>
                    </a:cxn>
                    <a:cxn ang="0">
                      <a:pos x="T2" y="T3"/>
                    </a:cxn>
                    <a:cxn ang="0">
                      <a:pos x="T4" y="T5"/>
                    </a:cxn>
                    <a:cxn ang="0">
                      <a:pos x="T6" y="T7"/>
                    </a:cxn>
                    <a:cxn ang="0">
                      <a:pos x="T8" y="T9"/>
                    </a:cxn>
                  </a:cxnLst>
                  <a:rect l="0" t="0" r="r" b="b"/>
                  <a:pathLst>
                    <a:path w="433" h="167">
                      <a:moveTo>
                        <a:pt x="33" y="0"/>
                      </a:moveTo>
                      <a:lnTo>
                        <a:pt x="0" y="167"/>
                      </a:lnTo>
                      <a:lnTo>
                        <a:pt x="433" y="167"/>
                      </a:lnTo>
                      <a:lnTo>
                        <a:pt x="394" y="0"/>
                      </a:lnTo>
                      <a:lnTo>
                        <a:pt x="33" y="0"/>
                      </a:lnTo>
                    </a:path>
                  </a:pathLst>
                </a:custGeom>
                <a:gradFill rotWithShape="0">
                  <a:gsLst>
                    <a:gs pos="0">
                      <a:schemeClr val="hlink"/>
                    </a:gs>
                    <a:gs pos="50000">
                      <a:schemeClr val="hlink">
                        <a:gamma/>
                        <a:tint val="31373"/>
                        <a:invGamma/>
                      </a:schemeClr>
                    </a:gs>
                    <a:gs pos="100000">
                      <a:schemeClr val="hlink"/>
                    </a:gs>
                  </a:gsLst>
                  <a:lin ang="0" scaled="1"/>
                </a:gradFill>
                <a:ln w="1588">
                  <a:solidFill>
                    <a:srgbClr val="1F1A17"/>
                  </a:solidFill>
                  <a:prstDash val="solid"/>
                  <a:round/>
                  <a:headEnd/>
                  <a:tailEnd/>
                </a:ln>
              </p:spPr>
              <p:txBody>
                <a:bodyPr/>
                <a:lstStyle/>
                <a:p>
                  <a:pPr>
                    <a:defRPr/>
                  </a:pPr>
                  <a:endParaRPr lang="en-US"/>
                </a:p>
              </p:txBody>
            </p:sp>
            <p:sp>
              <p:nvSpPr>
                <p:cNvPr id="65384" name="Rectangle 872"/>
                <p:cNvSpPr>
                  <a:spLocks noChangeAspect="1" noChangeArrowheads="1"/>
                </p:cNvSpPr>
                <p:nvPr/>
              </p:nvSpPr>
              <p:spPr bwMode="auto">
                <a:xfrm>
                  <a:off x="3194" y="843"/>
                  <a:ext cx="2"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85" name="Rectangle 873"/>
                <p:cNvSpPr>
                  <a:spLocks noChangeAspect="1" noChangeArrowheads="1"/>
                </p:cNvSpPr>
                <p:nvPr/>
              </p:nvSpPr>
              <p:spPr bwMode="auto">
                <a:xfrm>
                  <a:off x="3194"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86" name="Rectangle 874"/>
                <p:cNvSpPr>
                  <a:spLocks noChangeAspect="1" noChangeArrowheads="1"/>
                </p:cNvSpPr>
                <p:nvPr/>
              </p:nvSpPr>
              <p:spPr bwMode="auto">
                <a:xfrm>
                  <a:off x="3196"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87" name="Rectangle 875"/>
                <p:cNvSpPr>
                  <a:spLocks noChangeAspect="1" noChangeArrowheads="1"/>
                </p:cNvSpPr>
                <p:nvPr/>
              </p:nvSpPr>
              <p:spPr bwMode="auto">
                <a:xfrm>
                  <a:off x="3198"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88" name="Rectangle 876"/>
                <p:cNvSpPr>
                  <a:spLocks noChangeAspect="1" noChangeArrowheads="1"/>
                </p:cNvSpPr>
                <p:nvPr/>
              </p:nvSpPr>
              <p:spPr bwMode="auto">
                <a:xfrm>
                  <a:off x="3200"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89" name="Rectangle 877"/>
                <p:cNvSpPr>
                  <a:spLocks noChangeAspect="1" noChangeArrowheads="1"/>
                </p:cNvSpPr>
                <p:nvPr/>
              </p:nvSpPr>
              <p:spPr bwMode="auto">
                <a:xfrm>
                  <a:off x="3202"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90" name="Rectangle 878"/>
                <p:cNvSpPr>
                  <a:spLocks noChangeAspect="1" noChangeArrowheads="1"/>
                </p:cNvSpPr>
                <p:nvPr/>
              </p:nvSpPr>
              <p:spPr bwMode="auto">
                <a:xfrm>
                  <a:off x="3203" y="843"/>
                  <a:ext cx="3"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91" name="Rectangle 879"/>
                <p:cNvSpPr>
                  <a:spLocks noChangeAspect="1" noChangeArrowheads="1"/>
                </p:cNvSpPr>
                <p:nvPr/>
              </p:nvSpPr>
              <p:spPr bwMode="auto">
                <a:xfrm>
                  <a:off x="3203"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92" name="Rectangle 880"/>
                <p:cNvSpPr>
                  <a:spLocks noChangeAspect="1" noChangeArrowheads="1"/>
                </p:cNvSpPr>
                <p:nvPr/>
              </p:nvSpPr>
              <p:spPr bwMode="auto">
                <a:xfrm>
                  <a:off x="3203" y="843"/>
                  <a:ext cx="5"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93" name="Rectangle 881"/>
                <p:cNvSpPr>
                  <a:spLocks noChangeAspect="1" noChangeArrowheads="1"/>
                </p:cNvSpPr>
                <p:nvPr/>
              </p:nvSpPr>
              <p:spPr bwMode="auto">
                <a:xfrm>
                  <a:off x="3203" y="843"/>
                  <a:ext cx="3"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94" name="Rectangle 882"/>
                <p:cNvSpPr>
                  <a:spLocks noChangeAspect="1" noChangeArrowheads="1"/>
                </p:cNvSpPr>
                <p:nvPr/>
              </p:nvSpPr>
              <p:spPr bwMode="auto">
                <a:xfrm>
                  <a:off x="3203" y="843"/>
                  <a:ext cx="13"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95" name="Rectangle 883"/>
                <p:cNvSpPr>
                  <a:spLocks noChangeAspect="1" noChangeArrowheads="1"/>
                </p:cNvSpPr>
                <p:nvPr/>
              </p:nvSpPr>
              <p:spPr bwMode="auto">
                <a:xfrm>
                  <a:off x="3204" y="843"/>
                  <a:ext cx="13"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96" name="Rectangle 884"/>
                <p:cNvSpPr>
                  <a:spLocks noChangeAspect="1" noChangeArrowheads="1"/>
                </p:cNvSpPr>
                <p:nvPr/>
              </p:nvSpPr>
              <p:spPr bwMode="auto">
                <a:xfrm>
                  <a:off x="3216"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97" name="Rectangle 885"/>
                <p:cNvSpPr>
                  <a:spLocks noChangeAspect="1" noChangeArrowheads="1"/>
                </p:cNvSpPr>
                <p:nvPr/>
              </p:nvSpPr>
              <p:spPr bwMode="auto">
                <a:xfrm>
                  <a:off x="3217"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98" name="Rectangle 886"/>
                <p:cNvSpPr>
                  <a:spLocks noChangeAspect="1" noChangeArrowheads="1"/>
                </p:cNvSpPr>
                <p:nvPr/>
              </p:nvSpPr>
              <p:spPr bwMode="auto">
                <a:xfrm>
                  <a:off x="3220" y="843"/>
                  <a:ext cx="3"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399" name="Rectangle 887"/>
                <p:cNvSpPr>
                  <a:spLocks noChangeAspect="1" noChangeArrowheads="1"/>
                </p:cNvSpPr>
                <p:nvPr/>
              </p:nvSpPr>
              <p:spPr bwMode="auto">
                <a:xfrm>
                  <a:off x="3221"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00" name="Rectangle 888"/>
                <p:cNvSpPr>
                  <a:spLocks noChangeAspect="1" noChangeArrowheads="1"/>
                </p:cNvSpPr>
                <p:nvPr/>
              </p:nvSpPr>
              <p:spPr bwMode="auto">
                <a:xfrm>
                  <a:off x="3223"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01" name="Rectangle 889"/>
                <p:cNvSpPr>
                  <a:spLocks noChangeAspect="1" noChangeArrowheads="1"/>
                </p:cNvSpPr>
                <p:nvPr/>
              </p:nvSpPr>
              <p:spPr bwMode="auto">
                <a:xfrm>
                  <a:off x="3225"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02" name="Rectangle 890"/>
                <p:cNvSpPr>
                  <a:spLocks noChangeAspect="1" noChangeArrowheads="1"/>
                </p:cNvSpPr>
                <p:nvPr/>
              </p:nvSpPr>
              <p:spPr bwMode="auto">
                <a:xfrm>
                  <a:off x="3227"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03" name="Rectangle 891"/>
                <p:cNvSpPr>
                  <a:spLocks noChangeAspect="1" noChangeArrowheads="1"/>
                </p:cNvSpPr>
                <p:nvPr/>
              </p:nvSpPr>
              <p:spPr bwMode="auto">
                <a:xfrm>
                  <a:off x="3229"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04" name="Rectangle 892"/>
                <p:cNvSpPr>
                  <a:spLocks noChangeAspect="1" noChangeArrowheads="1"/>
                </p:cNvSpPr>
                <p:nvPr/>
              </p:nvSpPr>
              <p:spPr bwMode="auto">
                <a:xfrm>
                  <a:off x="3231"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05" name="Rectangle 893"/>
                <p:cNvSpPr>
                  <a:spLocks noChangeAspect="1" noChangeArrowheads="1"/>
                </p:cNvSpPr>
                <p:nvPr/>
              </p:nvSpPr>
              <p:spPr bwMode="auto">
                <a:xfrm>
                  <a:off x="3232"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06" name="Rectangle 894"/>
                <p:cNvSpPr>
                  <a:spLocks noChangeAspect="1" noChangeArrowheads="1"/>
                </p:cNvSpPr>
                <p:nvPr/>
              </p:nvSpPr>
              <p:spPr bwMode="auto">
                <a:xfrm>
                  <a:off x="3232"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07" name="Rectangle 895"/>
                <p:cNvSpPr>
                  <a:spLocks noChangeAspect="1" noChangeArrowheads="1"/>
                </p:cNvSpPr>
                <p:nvPr/>
              </p:nvSpPr>
              <p:spPr bwMode="auto">
                <a:xfrm>
                  <a:off x="3232"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08" name="Rectangle 896"/>
                <p:cNvSpPr>
                  <a:spLocks noChangeAspect="1" noChangeArrowheads="1"/>
                </p:cNvSpPr>
                <p:nvPr/>
              </p:nvSpPr>
              <p:spPr bwMode="auto">
                <a:xfrm>
                  <a:off x="3232"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09" name="Rectangle 897"/>
                <p:cNvSpPr>
                  <a:spLocks noChangeAspect="1" noChangeArrowheads="1"/>
                </p:cNvSpPr>
                <p:nvPr/>
              </p:nvSpPr>
              <p:spPr bwMode="auto">
                <a:xfrm>
                  <a:off x="3232" y="843"/>
                  <a:ext cx="13"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10" name="Rectangle 898"/>
                <p:cNvSpPr>
                  <a:spLocks noChangeAspect="1" noChangeArrowheads="1"/>
                </p:cNvSpPr>
                <p:nvPr/>
              </p:nvSpPr>
              <p:spPr bwMode="auto">
                <a:xfrm>
                  <a:off x="3234" y="843"/>
                  <a:ext cx="13"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11" name="Rectangle 899"/>
                <p:cNvSpPr>
                  <a:spLocks noChangeAspect="1" noChangeArrowheads="1"/>
                </p:cNvSpPr>
                <p:nvPr/>
              </p:nvSpPr>
              <p:spPr bwMode="auto">
                <a:xfrm>
                  <a:off x="3245"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12" name="Rectangle 900"/>
                <p:cNvSpPr>
                  <a:spLocks noChangeAspect="1" noChangeArrowheads="1"/>
                </p:cNvSpPr>
                <p:nvPr/>
              </p:nvSpPr>
              <p:spPr bwMode="auto">
                <a:xfrm>
                  <a:off x="3247"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13" name="Rectangle 901"/>
                <p:cNvSpPr>
                  <a:spLocks noChangeAspect="1" noChangeArrowheads="1"/>
                </p:cNvSpPr>
                <p:nvPr/>
              </p:nvSpPr>
              <p:spPr bwMode="auto">
                <a:xfrm>
                  <a:off x="3249"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14" name="Rectangle 902"/>
                <p:cNvSpPr>
                  <a:spLocks noChangeAspect="1" noChangeArrowheads="1"/>
                </p:cNvSpPr>
                <p:nvPr/>
              </p:nvSpPr>
              <p:spPr bwMode="auto">
                <a:xfrm>
                  <a:off x="3251"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15" name="Rectangle 903"/>
                <p:cNvSpPr>
                  <a:spLocks noChangeAspect="1" noChangeArrowheads="1"/>
                </p:cNvSpPr>
                <p:nvPr/>
              </p:nvSpPr>
              <p:spPr bwMode="auto">
                <a:xfrm>
                  <a:off x="3253"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16" name="Rectangle 904"/>
                <p:cNvSpPr>
                  <a:spLocks noChangeAspect="1" noChangeArrowheads="1"/>
                </p:cNvSpPr>
                <p:nvPr/>
              </p:nvSpPr>
              <p:spPr bwMode="auto">
                <a:xfrm>
                  <a:off x="3255"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17" name="Rectangle 905"/>
                <p:cNvSpPr>
                  <a:spLocks noChangeAspect="1" noChangeArrowheads="1"/>
                </p:cNvSpPr>
                <p:nvPr/>
              </p:nvSpPr>
              <p:spPr bwMode="auto">
                <a:xfrm>
                  <a:off x="3257"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18" name="Rectangle 906"/>
                <p:cNvSpPr>
                  <a:spLocks noChangeAspect="1" noChangeArrowheads="1"/>
                </p:cNvSpPr>
                <p:nvPr/>
              </p:nvSpPr>
              <p:spPr bwMode="auto">
                <a:xfrm>
                  <a:off x="3259"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19" name="Rectangle 907"/>
                <p:cNvSpPr>
                  <a:spLocks noChangeAspect="1" noChangeArrowheads="1"/>
                </p:cNvSpPr>
                <p:nvPr/>
              </p:nvSpPr>
              <p:spPr bwMode="auto">
                <a:xfrm>
                  <a:off x="3261"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20" name="Rectangle 908"/>
                <p:cNvSpPr>
                  <a:spLocks noChangeAspect="1" noChangeArrowheads="1"/>
                </p:cNvSpPr>
                <p:nvPr/>
              </p:nvSpPr>
              <p:spPr bwMode="auto">
                <a:xfrm>
                  <a:off x="3261"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21" name="Rectangle 909"/>
                <p:cNvSpPr>
                  <a:spLocks noChangeAspect="1" noChangeArrowheads="1"/>
                </p:cNvSpPr>
                <p:nvPr/>
              </p:nvSpPr>
              <p:spPr bwMode="auto">
                <a:xfrm>
                  <a:off x="3261"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22" name="Rectangle 910"/>
                <p:cNvSpPr>
                  <a:spLocks noChangeAspect="1" noChangeArrowheads="1"/>
                </p:cNvSpPr>
                <p:nvPr/>
              </p:nvSpPr>
              <p:spPr bwMode="auto">
                <a:xfrm>
                  <a:off x="3261"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23" name="Rectangle 911"/>
                <p:cNvSpPr>
                  <a:spLocks noChangeAspect="1" noChangeArrowheads="1"/>
                </p:cNvSpPr>
                <p:nvPr/>
              </p:nvSpPr>
              <p:spPr bwMode="auto">
                <a:xfrm>
                  <a:off x="3261"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24" name="Rectangle 912"/>
                <p:cNvSpPr>
                  <a:spLocks noChangeAspect="1" noChangeArrowheads="1"/>
                </p:cNvSpPr>
                <p:nvPr/>
              </p:nvSpPr>
              <p:spPr bwMode="auto">
                <a:xfrm>
                  <a:off x="3262" y="843"/>
                  <a:ext cx="13"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25" name="Rectangle 913"/>
                <p:cNvSpPr>
                  <a:spLocks noChangeAspect="1" noChangeArrowheads="1"/>
                </p:cNvSpPr>
                <p:nvPr/>
              </p:nvSpPr>
              <p:spPr bwMode="auto">
                <a:xfrm>
                  <a:off x="3264" y="843"/>
                  <a:ext cx="13"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26" name="Rectangle 914"/>
                <p:cNvSpPr>
                  <a:spLocks noChangeAspect="1" noChangeArrowheads="1"/>
                </p:cNvSpPr>
                <p:nvPr/>
              </p:nvSpPr>
              <p:spPr bwMode="auto">
                <a:xfrm>
                  <a:off x="3275" y="843"/>
                  <a:ext cx="3"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27" name="Rectangle 915"/>
                <p:cNvSpPr>
                  <a:spLocks noChangeAspect="1" noChangeArrowheads="1"/>
                </p:cNvSpPr>
                <p:nvPr/>
              </p:nvSpPr>
              <p:spPr bwMode="auto">
                <a:xfrm>
                  <a:off x="3277"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28" name="Rectangle 916"/>
                <p:cNvSpPr>
                  <a:spLocks noChangeAspect="1" noChangeArrowheads="1"/>
                </p:cNvSpPr>
                <p:nvPr/>
              </p:nvSpPr>
              <p:spPr bwMode="auto">
                <a:xfrm>
                  <a:off x="3278" y="843"/>
                  <a:ext cx="5"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29" name="Rectangle 917"/>
                <p:cNvSpPr>
                  <a:spLocks noChangeAspect="1" noChangeArrowheads="1"/>
                </p:cNvSpPr>
                <p:nvPr/>
              </p:nvSpPr>
              <p:spPr bwMode="auto">
                <a:xfrm>
                  <a:off x="3281" y="843"/>
                  <a:ext cx="3"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30" name="Rectangle 918"/>
                <p:cNvSpPr>
                  <a:spLocks noChangeAspect="1" noChangeArrowheads="1"/>
                </p:cNvSpPr>
                <p:nvPr/>
              </p:nvSpPr>
              <p:spPr bwMode="auto">
                <a:xfrm>
                  <a:off x="3283"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31" name="Rectangle 919"/>
                <p:cNvSpPr>
                  <a:spLocks noChangeAspect="1" noChangeArrowheads="1"/>
                </p:cNvSpPr>
                <p:nvPr/>
              </p:nvSpPr>
              <p:spPr bwMode="auto">
                <a:xfrm>
                  <a:off x="3284"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32" name="Rectangle 920"/>
                <p:cNvSpPr>
                  <a:spLocks noChangeAspect="1" noChangeArrowheads="1"/>
                </p:cNvSpPr>
                <p:nvPr/>
              </p:nvSpPr>
              <p:spPr bwMode="auto">
                <a:xfrm>
                  <a:off x="3287" y="843"/>
                  <a:ext cx="3"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33" name="Rectangle 921"/>
                <p:cNvSpPr>
                  <a:spLocks noChangeAspect="1" noChangeArrowheads="1"/>
                </p:cNvSpPr>
                <p:nvPr/>
              </p:nvSpPr>
              <p:spPr bwMode="auto">
                <a:xfrm>
                  <a:off x="3288" y="843"/>
                  <a:ext cx="4"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34" name="Rectangle 922"/>
                <p:cNvSpPr>
                  <a:spLocks noChangeAspect="1" noChangeArrowheads="1"/>
                </p:cNvSpPr>
                <p:nvPr/>
              </p:nvSpPr>
              <p:spPr bwMode="auto">
                <a:xfrm>
                  <a:off x="3290" y="843"/>
                  <a:ext cx="2"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35" name="Rectangle 923"/>
                <p:cNvSpPr>
                  <a:spLocks noChangeAspect="1" noChangeArrowheads="1"/>
                </p:cNvSpPr>
                <p:nvPr/>
              </p:nvSpPr>
              <p:spPr bwMode="auto">
                <a:xfrm>
                  <a:off x="3290" y="843"/>
                  <a:ext cx="1" cy="61"/>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36" name="Rectangle 924"/>
                <p:cNvSpPr>
                  <a:spLocks noChangeAspect="1" noChangeArrowheads="1"/>
                </p:cNvSpPr>
                <p:nvPr/>
              </p:nvSpPr>
              <p:spPr bwMode="auto">
                <a:xfrm>
                  <a:off x="3194" y="843"/>
                  <a:ext cx="98" cy="61"/>
                </a:xfrm>
                <a:prstGeom prst="rect">
                  <a:avLst/>
                </a:prstGeom>
                <a:gradFill rotWithShape="0">
                  <a:gsLst>
                    <a:gs pos="0">
                      <a:schemeClr val="hlink"/>
                    </a:gs>
                    <a:gs pos="50000">
                      <a:schemeClr val="hlink">
                        <a:gamma/>
                        <a:tint val="31373"/>
                        <a:invGamma/>
                      </a:schemeClr>
                    </a:gs>
                    <a:gs pos="100000">
                      <a:schemeClr val="hlink"/>
                    </a:gs>
                  </a:gsLst>
                  <a:lin ang="0" scaled="1"/>
                </a:gradFill>
                <a:ln w="1588">
                  <a:solidFill>
                    <a:srgbClr val="1F1A17"/>
                  </a:solidFill>
                  <a:miter lim="800000"/>
                  <a:headEnd/>
                  <a:tailEnd/>
                </a:ln>
              </p:spPr>
              <p:txBody>
                <a:bodyPr/>
                <a:lstStyle/>
                <a:p>
                  <a:pPr>
                    <a:defRPr/>
                  </a:pPr>
                  <a:endParaRPr lang="en-US"/>
                </a:p>
              </p:txBody>
            </p:sp>
            <p:sp>
              <p:nvSpPr>
                <p:cNvPr id="65437" name="Freeform 925"/>
                <p:cNvSpPr>
                  <a:spLocks noChangeAspect="1"/>
                </p:cNvSpPr>
                <p:nvPr/>
              </p:nvSpPr>
              <p:spPr bwMode="auto">
                <a:xfrm>
                  <a:off x="3174" y="942"/>
                  <a:ext cx="2" cy="11"/>
                </a:xfrm>
                <a:custGeom>
                  <a:avLst/>
                  <a:gdLst>
                    <a:gd name="T0" fmla="*/ 6 w 6"/>
                    <a:gd name="T1" fmla="*/ 0 h 33"/>
                    <a:gd name="T2" fmla="*/ 6 w 6"/>
                    <a:gd name="T3" fmla="*/ 33 h 33"/>
                    <a:gd name="T4" fmla="*/ 0 w 6"/>
                    <a:gd name="T5" fmla="*/ 33 h 33"/>
                    <a:gd name="T6" fmla="*/ 6 w 6"/>
                    <a:gd name="T7" fmla="*/ 0 h 33"/>
                  </a:gdLst>
                  <a:ahLst/>
                  <a:cxnLst>
                    <a:cxn ang="0">
                      <a:pos x="T0" y="T1"/>
                    </a:cxn>
                    <a:cxn ang="0">
                      <a:pos x="T2" y="T3"/>
                    </a:cxn>
                    <a:cxn ang="0">
                      <a:pos x="T4" y="T5"/>
                    </a:cxn>
                    <a:cxn ang="0">
                      <a:pos x="T6" y="T7"/>
                    </a:cxn>
                  </a:cxnLst>
                  <a:rect l="0" t="0" r="r" b="b"/>
                  <a:pathLst>
                    <a:path w="6" h="33">
                      <a:moveTo>
                        <a:pt x="6" y="0"/>
                      </a:moveTo>
                      <a:lnTo>
                        <a:pt x="6" y="33"/>
                      </a:lnTo>
                      <a:lnTo>
                        <a:pt x="0" y="33"/>
                      </a:lnTo>
                      <a:lnTo>
                        <a:pt x="6" y="0"/>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38" name="Freeform 926"/>
                <p:cNvSpPr>
                  <a:spLocks noChangeAspect="1"/>
                </p:cNvSpPr>
                <p:nvPr/>
              </p:nvSpPr>
              <p:spPr bwMode="auto">
                <a:xfrm>
                  <a:off x="3174" y="932"/>
                  <a:ext cx="14" cy="21"/>
                </a:xfrm>
                <a:custGeom>
                  <a:avLst/>
                  <a:gdLst>
                    <a:gd name="T0" fmla="*/ 14 w 14"/>
                    <a:gd name="T1" fmla="*/ 0 h 65"/>
                    <a:gd name="T2" fmla="*/ 14 w 14"/>
                    <a:gd name="T3" fmla="*/ 65 h 65"/>
                    <a:gd name="T4" fmla="*/ 0 w 14"/>
                    <a:gd name="T5" fmla="*/ 65 h 65"/>
                    <a:gd name="T6" fmla="*/ 14 w 14"/>
                    <a:gd name="T7" fmla="*/ 0 h 65"/>
                  </a:gdLst>
                  <a:ahLst/>
                  <a:cxnLst>
                    <a:cxn ang="0">
                      <a:pos x="T0" y="T1"/>
                    </a:cxn>
                    <a:cxn ang="0">
                      <a:pos x="T2" y="T3"/>
                    </a:cxn>
                    <a:cxn ang="0">
                      <a:pos x="T4" y="T5"/>
                    </a:cxn>
                    <a:cxn ang="0">
                      <a:pos x="T6" y="T7"/>
                    </a:cxn>
                  </a:cxnLst>
                  <a:rect l="0" t="0" r="r" b="b"/>
                  <a:pathLst>
                    <a:path w="14" h="65">
                      <a:moveTo>
                        <a:pt x="14" y="0"/>
                      </a:moveTo>
                      <a:lnTo>
                        <a:pt x="14" y="65"/>
                      </a:lnTo>
                      <a:lnTo>
                        <a:pt x="0" y="65"/>
                      </a:lnTo>
                      <a:lnTo>
                        <a:pt x="14" y="0"/>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39" name="Freeform 927"/>
                <p:cNvSpPr>
                  <a:spLocks noChangeAspect="1"/>
                </p:cNvSpPr>
                <p:nvPr/>
              </p:nvSpPr>
              <p:spPr bwMode="auto">
                <a:xfrm>
                  <a:off x="3176" y="921"/>
                  <a:ext cx="14" cy="32"/>
                </a:xfrm>
                <a:custGeom>
                  <a:avLst/>
                  <a:gdLst>
                    <a:gd name="T0" fmla="*/ 0 w 15"/>
                    <a:gd name="T1" fmla="*/ 98 h 98"/>
                    <a:gd name="T2" fmla="*/ 0 w 15"/>
                    <a:gd name="T3" fmla="*/ 65 h 98"/>
                    <a:gd name="T4" fmla="*/ 15 w 15"/>
                    <a:gd name="T5" fmla="*/ 0 h 98"/>
                    <a:gd name="T6" fmla="*/ 15 w 15"/>
                    <a:gd name="T7" fmla="*/ 98 h 98"/>
                    <a:gd name="T8" fmla="*/ 0 w 15"/>
                    <a:gd name="T9" fmla="*/ 98 h 98"/>
                  </a:gdLst>
                  <a:ahLst/>
                  <a:cxnLst>
                    <a:cxn ang="0">
                      <a:pos x="T0" y="T1"/>
                    </a:cxn>
                    <a:cxn ang="0">
                      <a:pos x="T2" y="T3"/>
                    </a:cxn>
                    <a:cxn ang="0">
                      <a:pos x="T4" y="T5"/>
                    </a:cxn>
                    <a:cxn ang="0">
                      <a:pos x="T6" y="T7"/>
                    </a:cxn>
                    <a:cxn ang="0">
                      <a:pos x="T8" y="T9"/>
                    </a:cxn>
                  </a:cxnLst>
                  <a:rect l="0" t="0" r="r" b="b"/>
                  <a:pathLst>
                    <a:path w="15" h="98">
                      <a:moveTo>
                        <a:pt x="0" y="98"/>
                      </a:moveTo>
                      <a:lnTo>
                        <a:pt x="0" y="65"/>
                      </a:lnTo>
                      <a:lnTo>
                        <a:pt x="15" y="0"/>
                      </a:lnTo>
                      <a:lnTo>
                        <a:pt x="15" y="98"/>
                      </a:lnTo>
                      <a:lnTo>
                        <a:pt x="0" y="98"/>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40" name="Freeform 928"/>
                <p:cNvSpPr>
                  <a:spLocks noChangeAspect="1"/>
                </p:cNvSpPr>
                <p:nvPr/>
              </p:nvSpPr>
              <p:spPr bwMode="auto">
                <a:xfrm>
                  <a:off x="3188" y="910"/>
                  <a:ext cx="5" cy="43"/>
                </a:xfrm>
                <a:custGeom>
                  <a:avLst/>
                  <a:gdLst>
                    <a:gd name="T0" fmla="*/ 0 w 15"/>
                    <a:gd name="T1" fmla="*/ 131 h 131"/>
                    <a:gd name="T2" fmla="*/ 0 w 15"/>
                    <a:gd name="T3" fmla="*/ 66 h 131"/>
                    <a:gd name="T4" fmla="*/ 15 w 15"/>
                    <a:gd name="T5" fmla="*/ 0 h 131"/>
                    <a:gd name="T6" fmla="*/ 15 w 15"/>
                    <a:gd name="T7" fmla="*/ 131 h 131"/>
                    <a:gd name="T8" fmla="*/ 0 w 15"/>
                    <a:gd name="T9" fmla="*/ 131 h 131"/>
                  </a:gdLst>
                  <a:ahLst/>
                  <a:cxnLst>
                    <a:cxn ang="0">
                      <a:pos x="T0" y="T1"/>
                    </a:cxn>
                    <a:cxn ang="0">
                      <a:pos x="T2" y="T3"/>
                    </a:cxn>
                    <a:cxn ang="0">
                      <a:pos x="T4" y="T5"/>
                    </a:cxn>
                    <a:cxn ang="0">
                      <a:pos x="T6" y="T7"/>
                    </a:cxn>
                    <a:cxn ang="0">
                      <a:pos x="T8" y="T9"/>
                    </a:cxn>
                  </a:cxnLst>
                  <a:rect l="0" t="0" r="r" b="b"/>
                  <a:pathLst>
                    <a:path w="15" h="131">
                      <a:moveTo>
                        <a:pt x="0" y="131"/>
                      </a:moveTo>
                      <a:lnTo>
                        <a:pt x="0" y="66"/>
                      </a:lnTo>
                      <a:lnTo>
                        <a:pt x="15" y="0"/>
                      </a:lnTo>
                      <a:lnTo>
                        <a:pt x="15" y="131"/>
                      </a:lnTo>
                      <a:lnTo>
                        <a:pt x="0" y="13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41" name="Freeform 929"/>
                <p:cNvSpPr>
                  <a:spLocks noChangeAspect="1"/>
                </p:cNvSpPr>
                <p:nvPr/>
              </p:nvSpPr>
              <p:spPr bwMode="auto">
                <a:xfrm>
                  <a:off x="3190" y="904"/>
                  <a:ext cx="5" cy="49"/>
                </a:xfrm>
                <a:custGeom>
                  <a:avLst/>
                  <a:gdLst>
                    <a:gd name="T0" fmla="*/ 0 w 15"/>
                    <a:gd name="T1" fmla="*/ 148 h 148"/>
                    <a:gd name="T2" fmla="*/ 0 w 15"/>
                    <a:gd name="T3" fmla="*/ 50 h 148"/>
                    <a:gd name="T4" fmla="*/ 11 w 15"/>
                    <a:gd name="T5" fmla="*/ 0 h 148"/>
                    <a:gd name="T6" fmla="*/ 15 w 15"/>
                    <a:gd name="T7" fmla="*/ 0 h 148"/>
                    <a:gd name="T8" fmla="*/ 15 w 15"/>
                    <a:gd name="T9" fmla="*/ 148 h 148"/>
                    <a:gd name="T10" fmla="*/ 0 w 15"/>
                    <a:gd name="T11" fmla="*/ 148 h 148"/>
                  </a:gdLst>
                  <a:ahLst/>
                  <a:cxnLst>
                    <a:cxn ang="0">
                      <a:pos x="T0" y="T1"/>
                    </a:cxn>
                    <a:cxn ang="0">
                      <a:pos x="T2" y="T3"/>
                    </a:cxn>
                    <a:cxn ang="0">
                      <a:pos x="T4" y="T5"/>
                    </a:cxn>
                    <a:cxn ang="0">
                      <a:pos x="T6" y="T7"/>
                    </a:cxn>
                    <a:cxn ang="0">
                      <a:pos x="T8" y="T9"/>
                    </a:cxn>
                    <a:cxn ang="0">
                      <a:pos x="T10" y="T11"/>
                    </a:cxn>
                  </a:cxnLst>
                  <a:rect l="0" t="0" r="r" b="b"/>
                  <a:pathLst>
                    <a:path w="15" h="148">
                      <a:moveTo>
                        <a:pt x="0" y="148"/>
                      </a:moveTo>
                      <a:lnTo>
                        <a:pt x="0" y="50"/>
                      </a:lnTo>
                      <a:lnTo>
                        <a:pt x="11" y="0"/>
                      </a:lnTo>
                      <a:lnTo>
                        <a:pt x="15" y="0"/>
                      </a:lnTo>
                      <a:lnTo>
                        <a:pt x="15" y="148"/>
                      </a:lnTo>
                      <a:lnTo>
                        <a:pt x="0" y="148"/>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42" name="Freeform 930"/>
                <p:cNvSpPr>
                  <a:spLocks noChangeAspect="1"/>
                </p:cNvSpPr>
                <p:nvPr/>
              </p:nvSpPr>
              <p:spPr bwMode="auto">
                <a:xfrm>
                  <a:off x="3193" y="904"/>
                  <a:ext cx="4" cy="49"/>
                </a:xfrm>
                <a:custGeom>
                  <a:avLst/>
                  <a:gdLst>
                    <a:gd name="T0" fmla="*/ 0 w 14"/>
                    <a:gd name="T1" fmla="*/ 148 h 148"/>
                    <a:gd name="T2" fmla="*/ 0 w 14"/>
                    <a:gd name="T3" fmla="*/ 17 h 148"/>
                    <a:gd name="T4" fmla="*/ 3 w 14"/>
                    <a:gd name="T5" fmla="*/ 0 h 148"/>
                    <a:gd name="T6" fmla="*/ 14 w 14"/>
                    <a:gd name="T7" fmla="*/ 0 h 148"/>
                    <a:gd name="T8" fmla="*/ 14 w 14"/>
                    <a:gd name="T9" fmla="*/ 148 h 148"/>
                    <a:gd name="T10" fmla="*/ 0 w 14"/>
                    <a:gd name="T11" fmla="*/ 148 h 148"/>
                  </a:gdLst>
                  <a:ahLst/>
                  <a:cxnLst>
                    <a:cxn ang="0">
                      <a:pos x="T0" y="T1"/>
                    </a:cxn>
                    <a:cxn ang="0">
                      <a:pos x="T2" y="T3"/>
                    </a:cxn>
                    <a:cxn ang="0">
                      <a:pos x="T4" y="T5"/>
                    </a:cxn>
                    <a:cxn ang="0">
                      <a:pos x="T6" y="T7"/>
                    </a:cxn>
                    <a:cxn ang="0">
                      <a:pos x="T8" y="T9"/>
                    </a:cxn>
                    <a:cxn ang="0">
                      <a:pos x="T10" y="T11"/>
                    </a:cxn>
                  </a:cxnLst>
                  <a:rect l="0" t="0" r="r" b="b"/>
                  <a:pathLst>
                    <a:path w="14" h="148">
                      <a:moveTo>
                        <a:pt x="0" y="148"/>
                      </a:moveTo>
                      <a:lnTo>
                        <a:pt x="0" y="17"/>
                      </a:lnTo>
                      <a:lnTo>
                        <a:pt x="3" y="0"/>
                      </a:lnTo>
                      <a:lnTo>
                        <a:pt x="14" y="0"/>
                      </a:lnTo>
                      <a:lnTo>
                        <a:pt x="14" y="148"/>
                      </a:lnTo>
                      <a:lnTo>
                        <a:pt x="0" y="148"/>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43" name="Rectangle 931"/>
                <p:cNvSpPr>
                  <a:spLocks noChangeAspect="1" noChangeArrowheads="1"/>
                </p:cNvSpPr>
                <p:nvPr/>
              </p:nvSpPr>
              <p:spPr bwMode="auto">
                <a:xfrm>
                  <a:off x="3195"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44" name="Rectangle 932"/>
                <p:cNvSpPr>
                  <a:spLocks noChangeAspect="1" noChangeArrowheads="1"/>
                </p:cNvSpPr>
                <p:nvPr/>
              </p:nvSpPr>
              <p:spPr bwMode="auto">
                <a:xfrm>
                  <a:off x="3197"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45" name="Rectangle 933"/>
                <p:cNvSpPr>
                  <a:spLocks noChangeAspect="1" noChangeArrowheads="1"/>
                </p:cNvSpPr>
                <p:nvPr/>
              </p:nvSpPr>
              <p:spPr bwMode="auto">
                <a:xfrm>
                  <a:off x="3200"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46" name="Rectangle 934"/>
                <p:cNvSpPr>
                  <a:spLocks noChangeAspect="1" noChangeArrowheads="1"/>
                </p:cNvSpPr>
                <p:nvPr/>
              </p:nvSpPr>
              <p:spPr bwMode="auto">
                <a:xfrm>
                  <a:off x="3202"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47" name="Rectangle 935"/>
                <p:cNvSpPr>
                  <a:spLocks noChangeAspect="1" noChangeArrowheads="1"/>
                </p:cNvSpPr>
                <p:nvPr/>
              </p:nvSpPr>
              <p:spPr bwMode="auto">
                <a:xfrm>
                  <a:off x="3203" y="904"/>
                  <a:ext cx="4"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48" name="Rectangle 936"/>
                <p:cNvSpPr>
                  <a:spLocks noChangeAspect="1" noChangeArrowheads="1"/>
                </p:cNvSpPr>
                <p:nvPr/>
              </p:nvSpPr>
              <p:spPr bwMode="auto">
                <a:xfrm>
                  <a:off x="3203"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49" name="Rectangle 937"/>
                <p:cNvSpPr>
                  <a:spLocks noChangeAspect="1" noChangeArrowheads="1"/>
                </p:cNvSpPr>
                <p:nvPr/>
              </p:nvSpPr>
              <p:spPr bwMode="auto">
                <a:xfrm>
                  <a:off x="3203"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50" name="Rectangle 938"/>
                <p:cNvSpPr>
                  <a:spLocks noChangeAspect="1" noChangeArrowheads="1"/>
                </p:cNvSpPr>
                <p:nvPr/>
              </p:nvSpPr>
              <p:spPr bwMode="auto">
                <a:xfrm>
                  <a:off x="3203" y="904"/>
                  <a:ext cx="14"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51" name="Rectangle 939"/>
                <p:cNvSpPr>
                  <a:spLocks noChangeAspect="1" noChangeArrowheads="1"/>
                </p:cNvSpPr>
                <p:nvPr/>
              </p:nvSpPr>
              <p:spPr bwMode="auto">
                <a:xfrm>
                  <a:off x="3205" y="904"/>
                  <a:ext cx="14"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52" name="Rectangle 940"/>
                <p:cNvSpPr>
                  <a:spLocks noChangeAspect="1" noChangeArrowheads="1"/>
                </p:cNvSpPr>
                <p:nvPr/>
              </p:nvSpPr>
              <p:spPr bwMode="auto">
                <a:xfrm>
                  <a:off x="3217" y="904"/>
                  <a:ext cx="4"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53" name="Rectangle 941"/>
                <p:cNvSpPr>
                  <a:spLocks noChangeAspect="1" noChangeArrowheads="1"/>
                </p:cNvSpPr>
                <p:nvPr/>
              </p:nvSpPr>
              <p:spPr bwMode="auto">
                <a:xfrm>
                  <a:off x="3219"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54" name="Rectangle 942"/>
                <p:cNvSpPr>
                  <a:spLocks noChangeAspect="1" noChangeArrowheads="1"/>
                </p:cNvSpPr>
                <p:nvPr/>
              </p:nvSpPr>
              <p:spPr bwMode="auto">
                <a:xfrm>
                  <a:off x="3221"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55" name="Rectangle 943"/>
                <p:cNvSpPr>
                  <a:spLocks noChangeAspect="1" noChangeArrowheads="1"/>
                </p:cNvSpPr>
                <p:nvPr/>
              </p:nvSpPr>
              <p:spPr bwMode="auto">
                <a:xfrm>
                  <a:off x="3224"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56" name="Rectangle 944"/>
                <p:cNvSpPr>
                  <a:spLocks noChangeAspect="1" noChangeArrowheads="1"/>
                </p:cNvSpPr>
                <p:nvPr/>
              </p:nvSpPr>
              <p:spPr bwMode="auto">
                <a:xfrm>
                  <a:off x="3226"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57" name="Rectangle 945"/>
                <p:cNvSpPr>
                  <a:spLocks noChangeAspect="1" noChangeArrowheads="1"/>
                </p:cNvSpPr>
                <p:nvPr/>
              </p:nvSpPr>
              <p:spPr bwMode="auto">
                <a:xfrm>
                  <a:off x="3229" y="904"/>
                  <a:ext cx="4"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58" name="Rectangle 946"/>
                <p:cNvSpPr>
                  <a:spLocks noChangeAspect="1" noChangeArrowheads="1"/>
                </p:cNvSpPr>
                <p:nvPr/>
              </p:nvSpPr>
              <p:spPr bwMode="auto">
                <a:xfrm>
                  <a:off x="3231"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59" name="Rectangle 947"/>
                <p:cNvSpPr>
                  <a:spLocks noChangeAspect="1" noChangeArrowheads="1"/>
                </p:cNvSpPr>
                <p:nvPr/>
              </p:nvSpPr>
              <p:spPr bwMode="auto">
                <a:xfrm>
                  <a:off x="3232"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60" name="Rectangle 948"/>
                <p:cNvSpPr>
                  <a:spLocks noChangeAspect="1" noChangeArrowheads="1"/>
                </p:cNvSpPr>
                <p:nvPr/>
              </p:nvSpPr>
              <p:spPr bwMode="auto">
                <a:xfrm>
                  <a:off x="3232"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61" name="Rectangle 949"/>
                <p:cNvSpPr>
                  <a:spLocks noChangeAspect="1" noChangeArrowheads="1"/>
                </p:cNvSpPr>
                <p:nvPr/>
              </p:nvSpPr>
              <p:spPr bwMode="auto">
                <a:xfrm>
                  <a:off x="3232"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62" name="Rectangle 950"/>
                <p:cNvSpPr>
                  <a:spLocks noChangeAspect="1" noChangeArrowheads="1"/>
                </p:cNvSpPr>
                <p:nvPr/>
              </p:nvSpPr>
              <p:spPr bwMode="auto">
                <a:xfrm>
                  <a:off x="3232" y="904"/>
                  <a:ext cx="13"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63" name="Rectangle 951"/>
                <p:cNvSpPr>
                  <a:spLocks noChangeAspect="1" noChangeArrowheads="1"/>
                </p:cNvSpPr>
                <p:nvPr/>
              </p:nvSpPr>
              <p:spPr bwMode="auto">
                <a:xfrm>
                  <a:off x="3234" y="904"/>
                  <a:ext cx="14"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64" name="Rectangle 952"/>
                <p:cNvSpPr>
                  <a:spLocks noChangeAspect="1" noChangeArrowheads="1"/>
                </p:cNvSpPr>
                <p:nvPr/>
              </p:nvSpPr>
              <p:spPr bwMode="auto">
                <a:xfrm>
                  <a:off x="3245"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65" name="Rectangle 953"/>
                <p:cNvSpPr>
                  <a:spLocks noChangeAspect="1" noChangeArrowheads="1"/>
                </p:cNvSpPr>
                <p:nvPr/>
              </p:nvSpPr>
              <p:spPr bwMode="auto">
                <a:xfrm>
                  <a:off x="3248"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66" name="Rectangle 954"/>
                <p:cNvSpPr>
                  <a:spLocks noChangeAspect="1" noChangeArrowheads="1"/>
                </p:cNvSpPr>
                <p:nvPr/>
              </p:nvSpPr>
              <p:spPr bwMode="auto">
                <a:xfrm>
                  <a:off x="3250"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67" name="Rectangle 955"/>
                <p:cNvSpPr>
                  <a:spLocks noChangeAspect="1" noChangeArrowheads="1"/>
                </p:cNvSpPr>
                <p:nvPr/>
              </p:nvSpPr>
              <p:spPr bwMode="auto">
                <a:xfrm>
                  <a:off x="3253" y="904"/>
                  <a:ext cx="4"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68" name="Rectangle 956"/>
                <p:cNvSpPr>
                  <a:spLocks noChangeAspect="1" noChangeArrowheads="1"/>
                </p:cNvSpPr>
                <p:nvPr/>
              </p:nvSpPr>
              <p:spPr bwMode="auto">
                <a:xfrm>
                  <a:off x="3255"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69" name="Rectangle 957"/>
                <p:cNvSpPr>
                  <a:spLocks noChangeAspect="1" noChangeArrowheads="1"/>
                </p:cNvSpPr>
                <p:nvPr/>
              </p:nvSpPr>
              <p:spPr bwMode="auto">
                <a:xfrm>
                  <a:off x="3257"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70" name="Rectangle 958"/>
                <p:cNvSpPr>
                  <a:spLocks noChangeAspect="1" noChangeArrowheads="1"/>
                </p:cNvSpPr>
                <p:nvPr/>
              </p:nvSpPr>
              <p:spPr bwMode="auto">
                <a:xfrm>
                  <a:off x="3260"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71" name="Rectangle 959"/>
                <p:cNvSpPr>
                  <a:spLocks noChangeAspect="1" noChangeArrowheads="1"/>
                </p:cNvSpPr>
                <p:nvPr/>
              </p:nvSpPr>
              <p:spPr bwMode="auto">
                <a:xfrm>
                  <a:off x="3261"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72" name="Rectangle 960"/>
                <p:cNvSpPr>
                  <a:spLocks noChangeAspect="1" noChangeArrowheads="1"/>
                </p:cNvSpPr>
                <p:nvPr/>
              </p:nvSpPr>
              <p:spPr bwMode="auto">
                <a:xfrm>
                  <a:off x="3261"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73" name="Rectangle 961"/>
                <p:cNvSpPr>
                  <a:spLocks noChangeAspect="1" noChangeArrowheads="1"/>
                </p:cNvSpPr>
                <p:nvPr/>
              </p:nvSpPr>
              <p:spPr bwMode="auto">
                <a:xfrm>
                  <a:off x="3261"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74" name="Rectangle 962"/>
                <p:cNvSpPr>
                  <a:spLocks noChangeAspect="1" noChangeArrowheads="1"/>
                </p:cNvSpPr>
                <p:nvPr/>
              </p:nvSpPr>
              <p:spPr bwMode="auto">
                <a:xfrm>
                  <a:off x="3261" y="904"/>
                  <a:ext cx="14"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75" name="Rectangle 963"/>
                <p:cNvSpPr>
                  <a:spLocks noChangeAspect="1" noChangeArrowheads="1"/>
                </p:cNvSpPr>
                <p:nvPr/>
              </p:nvSpPr>
              <p:spPr bwMode="auto">
                <a:xfrm>
                  <a:off x="3263" y="904"/>
                  <a:ext cx="14"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76" name="Rectangle 964"/>
                <p:cNvSpPr>
                  <a:spLocks noChangeAspect="1" noChangeArrowheads="1"/>
                </p:cNvSpPr>
                <p:nvPr/>
              </p:nvSpPr>
              <p:spPr bwMode="auto">
                <a:xfrm>
                  <a:off x="3275" y="904"/>
                  <a:ext cx="4"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77" name="Rectangle 965"/>
                <p:cNvSpPr>
                  <a:spLocks noChangeAspect="1" noChangeArrowheads="1"/>
                </p:cNvSpPr>
                <p:nvPr/>
              </p:nvSpPr>
              <p:spPr bwMode="auto">
                <a:xfrm>
                  <a:off x="3277"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78" name="Rectangle 966"/>
                <p:cNvSpPr>
                  <a:spLocks noChangeAspect="1" noChangeArrowheads="1"/>
                </p:cNvSpPr>
                <p:nvPr/>
              </p:nvSpPr>
              <p:spPr bwMode="auto">
                <a:xfrm>
                  <a:off x="3279"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79" name="Rectangle 967"/>
                <p:cNvSpPr>
                  <a:spLocks noChangeAspect="1" noChangeArrowheads="1"/>
                </p:cNvSpPr>
                <p:nvPr/>
              </p:nvSpPr>
              <p:spPr bwMode="auto">
                <a:xfrm>
                  <a:off x="3282"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80" name="Rectangle 968"/>
                <p:cNvSpPr>
                  <a:spLocks noChangeAspect="1" noChangeArrowheads="1"/>
                </p:cNvSpPr>
                <p:nvPr/>
              </p:nvSpPr>
              <p:spPr bwMode="auto">
                <a:xfrm>
                  <a:off x="3284" y="904"/>
                  <a:ext cx="5"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81" name="Rectangle 969"/>
                <p:cNvSpPr>
                  <a:spLocks noChangeAspect="1" noChangeArrowheads="1"/>
                </p:cNvSpPr>
                <p:nvPr/>
              </p:nvSpPr>
              <p:spPr bwMode="auto">
                <a:xfrm>
                  <a:off x="3287" y="904"/>
                  <a:ext cx="4" cy="4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482" name="Freeform 970"/>
                <p:cNvSpPr>
                  <a:spLocks noChangeAspect="1"/>
                </p:cNvSpPr>
                <p:nvPr/>
              </p:nvSpPr>
              <p:spPr bwMode="auto">
                <a:xfrm>
                  <a:off x="3289" y="904"/>
                  <a:ext cx="5" cy="49"/>
                </a:xfrm>
                <a:custGeom>
                  <a:avLst/>
                  <a:gdLst>
                    <a:gd name="T0" fmla="*/ 0 w 15"/>
                    <a:gd name="T1" fmla="*/ 148 h 148"/>
                    <a:gd name="T2" fmla="*/ 0 w 15"/>
                    <a:gd name="T3" fmla="*/ 0 h 148"/>
                    <a:gd name="T4" fmla="*/ 11 w 15"/>
                    <a:gd name="T5" fmla="*/ 0 h 148"/>
                    <a:gd name="T6" fmla="*/ 15 w 15"/>
                    <a:gd name="T7" fmla="*/ 17 h 148"/>
                    <a:gd name="T8" fmla="*/ 15 w 15"/>
                    <a:gd name="T9" fmla="*/ 148 h 148"/>
                    <a:gd name="T10" fmla="*/ 0 w 15"/>
                    <a:gd name="T11" fmla="*/ 148 h 148"/>
                  </a:gdLst>
                  <a:ahLst/>
                  <a:cxnLst>
                    <a:cxn ang="0">
                      <a:pos x="T0" y="T1"/>
                    </a:cxn>
                    <a:cxn ang="0">
                      <a:pos x="T2" y="T3"/>
                    </a:cxn>
                    <a:cxn ang="0">
                      <a:pos x="T4" y="T5"/>
                    </a:cxn>
                    <a:cxn ang="0">
                      <a:pos x="T6" y="T7"/>
                    </a:cxn>
                    <a:cxn ang="0">
                      <a:pos x="T8" y="T9"/>
                    </a:cxn>
                    <a:cxn ang="0">
                      <a:pos x="T10" y="T11"/>
                    </a:cxn>
                  </a:cxnLst>
                  <a:rect l="0" t="0" r="r" b="b"/>
                  <a:pathLst>
                    <a:path w="15" h="148">
                      <a:moveTo>
                        <a:pt x="0" y="148"/>
                      </a:moveTo>
                      <a:lnTo>
                        <a:pt x="0" y="0"/>
                      </a:lnTo>
                      <a:lnTo>
                        <a:pt x="11" y="0"/>
                      </a:lnTo>
                      <a:lnTo>
                        <a:pt x="15" y="17"/>
                      </a:lnTo>
                      <a:lnTo>
                        <a:pt x="15" y="148"/>
                      </a:lnTo>
                      <a:lnTo>
                        <a:pt x="0" y="148"/>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83" name="Freeform 971"/>
                <p:cNvSpPr>
                  <a:spLocks noChangeAspect="1"/>
                </p:cNvSpPr>
                <p:nvPr/>
              </p:nvSpPr>
              <p:spPr bwMode="auto">
                <a:xfrm>
                  <a:off x="3290" y="904"/>
                  <a:ext cx="5" cy="49"/>
                </a:xfrm>
                <a:custGeom>
                  <a:avLst/>
                  <a:gdLst>
                    <a:gd name="T0" fmla="*/ 0 w 14"/>
                    <a:gd name="T1" fmla="*/ 148 h 148"/>
                    <a:gd name="T2" fmla="*/ 0 w 14"/>
                    <a:gd name="T3" fmla="*/ 0 h 148"/>
                    <a:gd name="T4" fmla="*/ 3 w 14"/>
                    <a:gd name="T5" fmla="*/ 0 h 148"/>
                    <a:gd name="T6" fmla="*/ 14 w 14"/>
                    <a:gd name="T7" fmla="*/ 50 h 148"/>
                    <a:gd name="T8" fmla="*/ 14 w 14"/>
                    <a:gd name="T9" fmla="*/ 148 h 148"/>
                    <a:gd name="T10" fmla="*/ 0 w 14"/>
                    <a:gd name="T11" fmla="*/ 148 h 148"/>
                  </a:gdLst>
                  <a:ahLst/>
                  <a:cxnLst>
                    <a:cxn ang="0">
                      <a:pos x="T0" y="T1"/>
                    </a:cxn>
                    <a:cxn ang="0">
                      <a:pos x="T2" y="T3"/>
                    </a:cxn>
                    <a:cxn ang="0">
                      <a:pos x="T4" y="T5"/>
                    </a:cxn>
                    <a:cxn ang="0">
                      <a:pos x="T6" y="T7"/>
                    </a:cxn>
                    <a:cxn ang="0">
                      <a:pos x="T8" y="T9"/>
                    </a:cxn>
                    <a:cxn ang="0">
                      <a:pos x="T10" y="T11"/>
                    </a:cxn>
                  </a:cxnLst>
                  <a:rect l="0" t="0" r="r" b="b"/>
                  <a:pathLst>
                    <a:path w="14" h="148">
                      <a:moveTo>
                        <a:pt x="0" y="148"/>
                      </a:moveTo>
                      <a:lnTo>
                        <a:pt x="0" y="0"/>
                      </a:lnTo>
                      <a:lnTo>
                        <a:pt x="3" y="0"/>
                      </a:lnTo>
                      <a:lnTo>
                        <a:pt x="14" y="50"/>
                      </a:lnTo>
                      <a:lnTo>
                        <a:pt x="14" y="148"/>
                      </a:lnTo>
                      <a:lnTo>
                        <a:pt x="0" y="148"/>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84" name="Freeform 972"/>
                <p:cNvSpPr>
                  <a:spLocks noChangeAspect="1"/>
                </p:cNvSpPr>
                <p:nvPr/>
              </p:nvSpPr>
              <p:spPr bwMode="auto">
                <a:xfrm>
                  <a:off x="3290" y="910"/>
                  <a:ext cx="5" cy="43"/>
                </a:xfrm>
                <a:custGeom>
                  <a:avLst/>
                  <a:gdLst>
                    <a:gd name="T0" fmla="*/ 0 w 15"/>
                    <a:gd name="T1" fmla="*/ 131 h 131"/>
                    <a:gd name="T2" fmla="*/ 0 w 15"/>
                    <a:gd name="T3" fmla="*/ 0 h 131"/>
                    <a:gd name="T4" fmla="*/ 15 w 15"/>
                    <a:gd name="T5" fmla="*/ 66 h 131"/>
                    <a:gd name="T6" fmla="*/ 15 w 15"/>
                    <a:gd name="T7" fmla="*/ 131 h 131"/>
                    <a:gd name="T8" fmla="*/ 0 w 15"/>
                    <a:gd name="T9" fmla="*/ 131 h 131"/>
                  </a:gdLst>
                  <a:ahLst/>
                  <a:cxnLst>
                    <a:cxn ang="0">
                      <a:pos x="T0" y="T1"/>
                    </a:cxn>
                    <a:cxn ang="0">
                      <a:pos x="T2" y="T3"/>
                    </a:cxn>
                    <a:cxn ang="0">
                      <a:pos x="T4" y="T5"/>
                    </a:cxn>
                    <a:cxn ang="0">
                      <a:pos x="T6" y="T7"/>
                    </a:cxn>
                    <a:cxn ang="0">
                      <a:pos x="T8" y="T9"/>
                    </a:cxn>
                  </a:cxnLst>
                  <a:rect l="0" t="0" r="r" b="b"/>
                  <a:pathLst>
                    <a:path w="15" h="131">
                      <a:moveTo>
                        <a:pt x="0" y="131"/>
                      </a:moveTo>
                      <a:lnTo>
                        <a:pt x="0" y="0"/>
                      </a:lnTo>
                      <a:lnTo>
                        <a:pt x="15" y="66"/>
                      </a:lnTo>
                      <a:lnTo>
                        <a:pt x="15" y="131"/>
                      </a:lnTo>
                      <a:lnTo>
                        <a:pt x="0" y="13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85" name="Freeform 973"/>
                <p:cNvSpPr>
                  <a:spLocks noChangeAspect="1"/>
                </p:cNvSpPr>
                <p:nvPr/>
              </p:nvSpPr>
              <p:spPr bwMode="auto">
                <a:xfrm>
                  <a:off x="3290" y="921"/>
                  <a:ext cx="5" cy="32"/>
                </a:xfrm>
                <a:custGeom>
                  <a:avLst/>
                  <a:gdLst>
                    <a:gd name="T0" fmla="*/ 0 w 14"/>
                    <a:gd name="T1" fmla="*/ 98 h 98"/>
                    <a:gd name="T2" fmla="*/ 0 w 14"/>
                    <a:gd name="T3" fmla="*/ 0 h 98"/>
                    <a:gd name="T4" fmla="*/ 14 w 14"/>
                    <a:gd name="T5" fmla="*/ 65 h 98"/>
                    <a:gd name="T6" fmla="*/ 14 w 14"/>
                    <a:gd name="T7" fmla="*/ 98 h 98"/>
                    <a:gd name="T8" fmla="*/ 0 w 14"/>
                    <a:gd name="T9" fmla="*/ 98 h 98"/>
                  </a:gdLst>
                  <a:ahLst/>
                  <a:cxnLst>
                    <a:cxn ang="0">
                      <a:pos x="T0" y="T1"/>
                    </a:cxn>
                    <a:cxn ang="0">
                      <a:pos x="T2" y="T3"/>
                    </a:cxn>
                    <a:cxn ang="0">
                      <a:pos x="T4" y="T5"/>
                    </a:cxn>
                    <a:cxn ang="0">
                      <a:pos x="T6" y="T7"/>
                    </a:cxn>
                    <a:cxn ang="0">
                      <a:pos x="T8" y="T9"/>
                    </a:cxn>
                  </a:cxnLst>
                  <a:rect l="0" t="0" r="r" b="b"/>
                  <a:pathLst>
                    <a:path w="14" h="98">
                      <a:moveTo>
                        <a:pt x="0" y="98"/>
                      </a:moveTo>
                      <a:lnTo>
                        <a:pt x="0" y="0"/>
                      </a:lnTo>
                      <a:lnTo>
                        <a:pt x="14" y="65"/>
                      </a:lnTo>
                      <a:lnTo>
                        <a:pt x="14" y="98"/>
                      </a:lnTo>
                      <a:lnTo>
                        <a:pt x="0" y="98"/>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86" name="Freeform 974"/>
                <p:cNvSpPr>
                  <a:spLocks noChangeAspect="1"/>
                </p:cNvSpPr>
                <p:nvPr/>
              </p:nvSpPr>
              <p:spPr bwMode="auto">
                <a:xfrm>
                  <a:off x="3290" y="932"/>
                  <a:ext cx="13" cy="21"/>
                </a:xfrm>
                <a:custGeom>
                  <a:avLst/>
                  <a:gdLst>
                    <a:gd name="T0" fmla="*/ 0 w 14"/>
                    <a:gd name="T1" fmla="*/ 65 h 65"/>
                    <a:gd name="T2" fmla="*/ 0 w 14"/>
                    <a:gd name="T3" fmla="*/ 0 h 65"/>
                    <a:gd name="T4" fmla="*/ 14 w 14"/>
                    <a:gd name="T5" fmla="*/ 65 h 65"/>
                    <a:gd name="T6" fmla="*/ 0 w 14"/>
                    <a:gd name="T7" fmla="*/ 65 h 65"/>
                  </a:gdLst>
                  <a:ahLst/>
                  <a:cxnLst>
                    <a:cxn ang="0">
                      <a:pos x="T0" y="T1"/>
                    </a:cxn>
                    <a:cxn ang="0">
                      <a:pos x="T2" y="T3"/>
                    </a:cxn>
                    <a:cxn ang="0">
                      <a:pos x="T4" y="T5"/>
                    </a:cxn>
                    <a:cxn ang="0">
                      <a:pos x="T6" y="T7"/>
                    </a:cxn>
                  </a:cxnLst>
                  <a:rect l="0" t="0" r="r" b="b"/>
                  <a:pathLst>
                    <a:path w="14" h="65">
                      <a:moveTo>
                        <a:pt x="0" y="65"/>
                      </a:moveTo>
                      <a:lnTo>
                        <a:pt x="0" y="0"/>
                      </a:lnTo>
                      <a:lnTo>
                        <a:pt x="14" y="65"/>
                      </a:lnTo>
                      <a:lnTo>
                        <a:pt x="0" y="6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87" name="Freeform 975"/>
                <p:cNvSpPr>
                  <a:spLocks noChangeAspect="1"/>
                </p:cNvSpPr>
                <p:nvPr/>
              </p:nvSpPr>
              <p:spPr bwMode="auto">
                <a:xfrm>
                  <a:off x="3292" y="942"/>
                  <a:ext cx="11" cy="11"/>
                </a:xfrm>
                <a:custGeom>
                  <a:avLst/>
                  <a:gdLst>
                    <a:gd name="T0" fmla="*/ 0 w 8"/>
                    <a:gd name="T1" fmla="*/ 33 h 33"/>
                    <a:gd name="T2" fmla="*/ 0 w 8"/>
                    <a:gd name="T3" fmla="*/ 0 h 33"/>
                    <a:gd name="T4" fmla="*/ 8 w 8"/>
                    <a:gd name="T5" fmla="*/ 33 h 33"/>
                    <a:gd name="T6" fmla="*/ 0 w 8"/>
                    <a:gd name="T7" fmla="*/ 33 h 33"/>
                  </a:gdLst>
                  <a:ahLst/>
                  <a:cxnLst>
                    <a:cxn ang="0">
                      <a:pos x="T0" y="T1"/>
                    </a:cxn>
                    <a:cxn ang="0">
                      <a:pos x="T2" y="T3"/>
                    </a:cxn>
                    <a:cxn ang="0">
                      <a:pos x="T4" y="T5"/>
                    </a:cxn>
                    <a:cxn ang="0">
                      <a:pos x="T6" y="T7"/>
                    </a:cxn>
                  </a:cxnLst>
                  <a:rect l="0" t="0" r="r" b="b"/>
                  <a:pathLst>
                    <a:path w="8" h="33">
                      <a:moveTo>
                        <a:pt x="0" y="33"/>
                      </a:moveTo>
                      <a:lnTo>
                        <a:pt x="0" y="0"/>
                      </a:lnTo>
                      <a:lnTo>
                        <a:pt x="8" y="33"/>
                      </a:lnTo>
                      <a:lnTo>
                        <a:pt x="0" y="33"/>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88" name="Freeform 976"/>
                <p:cNvSpPr>
                  <a:spLocks noChangeAspect="1"/>
                </p:cNvSpPr>
                <p:nvPr/>
              </p:nvSpPr>
              <p:spPr bwMode="auto">
                <a:xfrm>
                  <a:off x="3174" y="904"/>
                  <a:ext cx="129" cy="49"/>
                </a:xfrm>
                <a:custGeom>
                  <a:avLst/>
                  <a:gdLst>
                    <a:gd name="T0" fmla="*/ 0 w 361"/>
                    <a:gd name="T1" fmla="*/ 148 h 148"/>
                    <a:gd name="T2" fmla="*/ 32 w 361"/>
                    <a:gd name="T3" fmla="*/ 0 h 148"/>
                    <a:gd name="T4" fmla="*/ 328 w 361"/>
                    <a:gd name="T5" fmla="*/ 0 h 148"/>
                    <a:gd name="T6" fmla="*/ 361 w 361"/>
                    <a:gd name="T7" fmla="*/ 148 h 148"/>
                    <a:gd name="T8" fmla="*/ 0 w 361"/>
                    <a:gd name="T9" fmla="*/ 148 h 148"/>
                  </a:gdLst>
                  <a:ahLst/>
                  <a:cxnLst>
                    <a:cxn ang="0">
                      <a:pos x="T0" y="T1"/>
                    </a:cxn>
                    <a:cxn ang="0">
                      <a:pos x="T2" y="T3"/>
                    </a:cxn>
                    <a:cxn ang="0">
                      <a:pos x="T4" y="T5"/>
                    </a:cxn>
                    <a:cxn ang="0">
                      <a:pos x="T6" y="T7"/>
                    </a:cxn>
                    <a:cxn ang="0">
                      <a:pos x="T8" y="T9"/>
                    </a:cxn>
                  </a:cxnLst>
                  <a:rect l="0" t="0" r="r" b="b"/>
                  <a:pathLst>
                    <a:path w="361" h="148">
                      <a:moveTo>
                        <a:pt x="0" y="148"/>
                      </a:moveTo>
                      <a:lnTo>
                        <a:pt x="32" y="0"/>
                      </a:lnTo>
                      <a:lnTo>
                        <a:pt x="328" y="0"/>
                      </a:lnTo>
                      <a:lnTo>
                        <a:pt x="361" y="148"/>
                      </a:lnTo>
                      <a:lnTo>
                        <a:pt x="0" y="148"/>
                      </a:lnTo>
                    </a:path>
                  </a:pathLst>
                </a:custGeom>
                <a:gradFill rotWithShape="0">
                  <a:gsLst>
                    <a:gs pos="0">
                      <a:schemeClr val="hlink"/>
                    </a:gs>
                    <a:gs pos="50000">
                      <a:schemeClr val="hlink">
                        <a:gamma/>
                        <a:tint val="31373"/>
                        <a:invGamma/>
                      </a:schemeClr>
                    </a:gs>
                    <a:gs pos="100000">
                      <a:schemeClr val="hlink"/>
                    </a:gs>
                  </a:gsLst>
                  <a:lin ang="0" scaled="1"/>
                </a:gradFill>
                <a:ln w="1588">
                  <a:solidFill>
                    <a:srgbClr val="1F1A17"/>
                  </a:solidFill>
                  <a:prstDash val="solid"/>
                  <a:round/>
                  <a:headEnd/>
                  <a:tailEnd/>
                </a:ln>
              </p:spPr>
              <p:txBody>
                <a:bodyPr/>
                <a:lstStyle/>
                <a:p>
                  <a:pPr>
                    <a:defRPr/>
                  </a:pPr>
                  <a:endParaRPr lang="en-US"/>
                </a:p>
              </p:txBody>
            </p:sp>
            <p:sp>
              <p:nvSpPr>
                <p:cNvPr id="65489" name="Freeform 977"/>
                <p:cNvSpPr>
                  <a:spLocks noChangeAspect="1"/>
                </p:cNvSpPr>
                <p:nvPr/>
              </p:nvSpPr>
              <p:spPr bwMode="auto">
                <a:xfrm>
                  <a:off x="3203" y="726"/>
                  <a:ext cx="1" cy="77"/>
                </a:xfrm>
                <a:custGeom>
                  <a:avLst/>
                  <a:gdLst>
                    <a:gd name="T0" fmla="*/ 5 w 5"/>
                    <a:gd name="T1" fmla="*/ 0 h 220"/>
                    <a:gd name="T2" fmla="*/ 5 w 5"/>
                    <a:gd name="T3" fmla="*/ 220 h 220"/>
                    <a:gd name="T4" fmla="*/ 0 w 5"/>
                    <a:gd name="T5" fmla="*/ 220 h 220"/>
                    <a:gd name="T6" fmla="*/ 0 w 5"/>
                    <a:gd name="T7" fmla="*/ 40 h 220"/>
                    <a:gd name="T8" fmla="*/ 1 w 5"/>
                    <a:gd name="T9" fmla="*/ 40 h 220"/>
                    <a:gd name="T10" fmla="*/ 1 w 5"/>
                    <a:gd name="T11" fmla="*/ 39 h 220"/>
                    <a:gd name="T12" fmla="*/ 1 w 5"/>
                    <a:gd name="T13" fmla="*/ 36 h 220"/>
                    <a:gd name="T14" fmla="*/ 1 w 5"/>
                    <a:gd name="T15" fmla="*/ 35 h 220"/>
                    <a:gd name="T16" fmla="*/ 0 w 5"/>
                    <a:gd name="T17" fmla="*/ 34 h 220"/>
                    <a:gd name="T18" fmla="*/ 0 w 5"/>
                    <a:gd name="T19" fmla="*/ 33 h 220"/>
                    <a:gd name="T20" fmla="*/ 0 w 5"/>
                    <a:gd name="T21" fmla="*/ 32 h 220"/>
                    <a:gd name="T22" fmla="*/ 0 w 5"/>
                    <a:gd name="T23" fmla="*/ 30 h 220"/>
                    <a:gd name="T24" fmla="*/ 0 w 5"/>
                    <a:gd name="T25" fmla="*/ 29 h 220"/>
                    <a:gd name="T26" fmla="*/ 0 w 5"/>
                    <a:gd name="T27" fmla="*/ 26 h 220"/>
                    <a:gd name="T28" fmla="*/ 1 w 5"/>
                    <a:gd name="T29" fmla="*/ 22 h 220"/>
                    <a:gd name="T30" fmla="*/ 1 w 5"/>
                    <a:gd name="T31" fmla="*/ 18 h 220"/>
                    <a:gd name="T32" fmla="*/ 1 w 5"/>
                    <a:gd name="T33" fmla="*/ 14 h 220"/>
                    <a:gd name="T34" fmla="*/ 2 w 5"/>
                    <a:gd name="T35" fmla="*/ 11 h 220"/>
                    <a:gd name="T36" fmla="*/ 3 w 5"/>
                    <a:gd name="T37" fmla="*/ 7 h 220"/>
                    <a:gd name="T38" fmla="*/ 4 w 5"/>
                    <a:gd name="T39" fmla="*/ 4 h 220"/>
                    <a:gd name="T40" fmla="*/ 5 w 5"/>
                    <a:gd name="T41"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220">
                      <a:moveTo>
                        <a:pt x="5" y="0"/>
                      </a:moveTo>
                      <a:lnTo>
                        <a:pt x="5" y="220"/>
                      </a:lnTo>
                      <a:lnTo>
                        <a:pt x="0" y="220"/>
                      </a:lnTo>
                      <a:lnTo>
                        <a:pt x="0" y="40"/>
                      </a:lnTo>
                      <a:lnTo>
                        <a:pt x="1" y="40"/>
                      </a:lnTo>
                      <a:lnTo>
                        <a:pt x="1" y="39"/>
                      </a:lnTo>
                      <a:lnTo>
                        <a:pt x="1" y="36"/>
                      </a:lnTo>
                      <a:lnTo>
                        <a:pt x="1" y="35"/>
                      </a:lnTo>
                      <a:lnTo>
                        <a:pt x="0" y="34"/>
                      </a:lnTo>
                      <a:lnTo>
                        <a:pt x="0" y="33"/>
                      </a:lnTo>
                      <a:lnTo>
                        <a:pt x="0" y="32"/>
                      </a:lnTo>
                      <a:lnTo>
                        <a:pt x="0" y="30"/>
                      </a:lnTo>
                      <a:lnTo>
                        <a:pt x="0" y="29"/>
                      </a:lnTo>
                      <a:lnTo>
                        <a:pt x="0" y="26"/>
                      </a:lnTo>
                      <a:lnTo>
                        <a:pt x="1" y="22"/>
                      </a:lnTo>
                      <a:lnTo>
                        <a:pt x="1" y="18"/>
                      </a:lnTo>
                      <a:lnTo>
                        <a:pt x="1" y="14"/>
                      </a:lnTo>
                      <a:lnTo>
                        <a:pt x="2" y="11"/>
                      </a:lnTo>
                      <a:lnTo>
                        <a:pt x="3" y="7"/>
                      </a:lnTo>
                      <a:lnTo>
                        <a:pt x="4" y="4"/>
                      </a:lnTo>
                      <a:lnTo>
                        <a:pt x="5" y="0"/>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90" name="Freeform 978"/>
                <p:cNvSpPr>
                  <a:spLocks noChangeAspect="1"/>
                </p:cNvSpPr>
                <p:nvPr/>
              </p:nvSpPr>
              <p:spPr bwMode="auto">
                <a:xfrm>
                  <a:off x="3203" y="722"/>
                  <a:ext cx="3" cy="77"/>
                </a:xfrm>
                <a:custGeom>
                  <a:avLst/>
                  <a:gdLst>
                    <a:gd name="T0" fmla="*/ 9 w 9"/>
                    <a:gd name="T1" fmla="*/ 0 h 231"/>
                    <a:gd name="T2" fmla="*/ 9 w 9"/>
                    <a:gd name="T3" fmla="*/ 231 h 231"/>
                    <a:gd name="T4" fmla="*/ 0 w 9"/>
                    <a:gd name="T5" fmla="*/ 231 h 231"/>
                    <a:gd name="T6" fmla="*/ 0 w 9"/>
                    <a:gd name="T7" fmla="*/ 51 h 231"/>
                    <a:gd name="T8" fmla="*/ 1 w 9"/>
                    <a:gd name="T9" fmla="*/ 51 h 231"/>
                    <a:gd name="T10" fmla="*/ 1 w 9"/>
                    <a:gd name="T11" fmla="*/ 50 h 231"/>
                    <a:gd name="T12" fmla="*/ 1 w 9"/>
                    <a:gd name="T13" fmla="*/ 47 h 231"/>
                    <a:gd name="T14" fmla="*/ 1 w 9"/>
                    <a:gd name="T15" fmla="*/ 46 h 231"/>
                    <a:gd name="T16" fmla="*/ 0 w 9"/>
                    <a:gd name="T17" fmla="*/ 45 h 231"/>
                    <a:gd name="T18" fmla="*/ 0 w 9"/>
                    <a:gd name="T19" fmla="*/ 44 h 231"/>
                    <a:gd name="T20" fmla="*/ 0 w 9"/>
                    <a:gd name="T21" fmla="*/ 43 h 231"/>
                    <a:gd name="T22" fmla="*/ 0 w 9"/>
                    <a:gd name="T23" fmla="*/ 41 h 231"/>
                    <a:gd name="T24" fmla="*/ 0 w 9"/>
                    <a:gd name="T25" fmla="*/ 40 h 231"/>
                    <a:gd name="T26" fmla="*/ 1 w 9"/>
                    <a:gd name="T27" fmla="*/ 35 h 231"/>
                    <a:gd name="T28" fmla="*/ 1 w 9"/>
                    <a:gd name="T29" fmla="*/ 29 h 231"/>
                    <a:gd name="T30" fmla="*/ 2 w 9"/>
                    <a:gd name="T31" fmla="*/ 24 h 231"/>
                    <a:gd name="T32" fmla="*/ 3 w 9"/>
                    <a:gd name="T33" fmla="*/ 19 h 231"/>
                    <a:gd name="T34" fmla="*/ 4 w 9"/>
                    <a:gd name="T35" fmla="*/ 13 h 231"/>
                    <a:gd name="T36" fmla="*/ 5 w 9"/>
                    <a:gd name="T37" fmla="*/ 9 h 231"/>
                    <a:gd name="T38" fmla="*/ 7 w 9"/>
                    <a:gd name="T39" fmla="*/ 4 h 231"/>
                    <a:gd name="T40" fmla="*/ 9 w 9"/>
                    <a:gd name="T4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231">
                      <a:moveTo>
                        <a:pt x="9" y="0"/>
                      </a:moveTo>
                      <a:lnTo>
                        <a:pt x="9" y="231"/>
                      </a:lnTo>
                      <a:lnTo>
                        <a:pt x="0" y="231"/>
                      </a:lnTo>
                      <a:lnTo>
                        <a:pt x="0" y="51"/>
                      </a:lnTo>
                      <a:lnTo>
                        <a:pt x="1" y="51"/>
                      </a:lnTo>
                      <a:lnTo>
                        <a:pt x="1" y="50"/>
                      </a:lnTo>
                      <a:lnTo>
                        <a:pt x="1" y="47"/>
                      </a:lnTo>
                      <a:lnTo>
                        <a:pt x="1" y="46"/>
                      </a:lnTo>
                      <a:lnTo>
                        <a:pt x="0" y="45"/>
                      </a:lnTo>
                      <a:lnTo>
                        <a:pt x="0" y="44"/>
                      </a:lnTo>
                      <a:lnTo>
                        <a:pt x="0" y="43"/>
                      </a:lnTo>
                      <a:lnTo>
                        <a:pt x="0" y="41"/>
                      </a:lnTo>
                      <a:lnTo>
                        <a:pt x="0" y="40"/>
                      </a:lnTo>
                      <a:lnTo>
                        <a:pt x="1" y="35"/>
                      </a:lnTo>
                      <a:lnTo>
                        <a:pt x="1" y="29"/>
                      </a:lnTo>
                      <a:lnTo>
                        <a:pt x="2" y="24"/>
                      </a:lnTo>
                      <a:lnTo>
                        <a:pt x="3" y="19"/>
                      </a:lnTo>
                      <a:lnTo>
                        <a:pt x="4" y="13"/>
                      </a:lnTo>
                      <a:lnTo>
                        <a:pt x="5" y="9"/>
                      </a:lnTo>
                      <a:lnTo>
                        <a:pt x="7" y="4"/>
                      </a:lnTo>
                      <a:lnTo>
                        <a:pt x="9" y="0"/>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91" name="Freeform 979"/>
                <p:cNvSpPr>
                  <a:spLocks noChangeAspect="1"/>
                </p:cNvSpPr>
                <p:nvPr/>
              </p:nvSpPr>
              <p:spPr bwMode="auto">
                <a:xfrm>
                  <a:off x="3203" y="719"/>
                  <a:ext cx="3" cy="80"/>
                </a:xfrm>
                <a:custGeom>
                  <a:avLst/>
                  <a:gdLst>
                    <a:gd name="T0" fmla="*/ 0 w 9"/>
                    <a:gd name="T1" fmla="*/ 241 h 241"/>
                    <a:gd name="T2" fmla="*/ 0 w 9"/>
                    <a:gd name="T3" fmla="*/ 21 h 241"/>
                    <a:gd name="T4" fmla="*/ 0 w 9"/>
                    <a:gd name="T5" fmla="*/ 18 h 241"/>
                    <a:gd name="T6" fmla="*/ 1 w 9"/>
                    <a:gd name="T7" fmla="*/ 16 h 241"/>
                    <a:gd name="T8" fmla="*/ 2 w 9"/>
                    <a:gd name="T9" fmla="*/ 13 h 241"/>
                    <a:gd name="T10" fmla="*/ 3 w 9"/>
                    <a:gd name="T11" fmla="*/ 11 h 241"/>
                    <a:gd name="T12" fmla="*/ 6 w 9"/>
                    <a:gd name="T13" fmla="*/ 8 h 241"/>
                    <a:gd name="T14" fmla="*/ 7 w 9"/>
                    <a:gd name="T15" fmla="*/ 5 h 241"/>
                    <a:gd name="T16" fmla="*/ 8 w 9"/>
                    <a:gd name="T17" fmla="*/ 3 h 241"/>
                    <a:gd name="T18" fmla="*/ 9 w 9"/>
                    <a:gd name="T19" fmla="*/ 0 h 241"/>
                    <a:gd name="T20" fmla="*/ 9 w 9"/>
                    <a:gd name="T21" fmla="*/ 241 h 241"/>
                    <a:gd name="T22" fmla="*/ 0 w 9"/>
                    <a:gd name="T23"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41">
                      <a:moveTo>
                        <a:pt x="0" y="241"/>
                      </a:moveTo>
                      <a:lnTo>
                        <a:pt x="0" y="21"/>
                      </a:lnTo>
                      <a:lnTo>
                        <a:pt x="0" y="18"/>
                      </a:lnTo>
                      <a:lnTo>
                        <a:pt x="1" y="16"/>
                      </a:lnTo>
                      <a:lnTo>
                        <a:pt x="2" y="13"/>
                      </a:lnTo>
                      <a:lnTo>
                        <a:pt x="3" y="11"/>
                      </a:lnTo>
                      <a:lnTo>
                        <a:pt x="6" y="8"/>
                      </a:lnTo>
                      <a:lnTo>
                        <a:pt x="7" y="5"/>
                      </a:lnTo>
                      <a:lnTo>
                        <a:pt x="8" y="3"/>
                      </a:lnTo>
                      <a:lnTo>
                        <a:pt x="9" y="0"/>
                      </a:lnTo>
                      <a:lnTo>
                        <a:pt x="9" y="241"/>
                      </a:lnTo>
                      <a:lnTo>
                        <a:pt x="0" y="24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92" name="Freeform 980"/>
                <p:cNvSpPr>
                  <a:spLocks noChangeAspect="1"/>
                </p:cNvSpPr>
                <p:nvPr/>
              </p:nvSpPr>
              <p:spPr bwMode="auto">
                <a:xfrm>
                  <a:off x="3203" y="717"/>
                  <a:ext cx="3" cy="82"/>
                </a:xfrm>
                <a:custGeom>
                  <a:avLst/>
                  <a:gdLst>
                    <a:gd name="T0" fmla="*/ 0 w 10"/>
                    <a:gd name="T1" fmla="*/ 247 h 247"/>
                    <a:gd name="T2" fmla="*/ 0 w 10"/>
                    <a:gd name="T3" fmla="*/ 16 h 247"/>
                    <a:gd name="T4" fmla="*/ 2 w 10"/>
                    <a:gd name="T5" fmla="*/ 14 h 247"/>
                    <a:gd name="T6" fmla="*/ 3 w 10"/>
                    <a:gd name="T7" fmla="*/ 11 h 247"/>
                    <a:gd name="T8" fmla="*/ 4 w 10"/>
                    <a:gd name="T9" fmla="*/ 9 h 247"/>
                    <a:gd name="T10" fmla="*/ 5 w 10"/>
                    <a:gd name="T11" fmla="*/ 7 h 247"/>
                    <a:gd name="T12" fmla="*/ 6 w 10"/>
                    <a:gd name="T13" fmla="*/ 5 h 247"/>
                    <a:gd name="T14" fmla="*/ 7 w 10"/>
                    <a:gd name="T15" fmla="*/ 3 h 247"/>
                    <a:gd name="T16" fmla="*/ 8 w 10"/>
                    <a:gd name="T17" fmla="*/ 2 h 247"/>
                    <a:gd name="T18" fmla="*/ 10 w 10"/>
                    <a:gd name="T19" fmla="*/ 0 h 247"/>
                    <a:gd name="T20" fmla="*/ 10 w 10"/>
                    <a:gd name="T21" fmla="*/ 247 h 247"/>
                    <a:gd name="T22" fmla="*/ 0 w 10"/>
                    <a:gd name="T23"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47">
                      <a:moveTo>
                        <a:pt x="0" y="247"/>
                      </a:moveTo>
                      <a:lnTo>
                        <a:pt x="0" y="16"/>
                      </a:lnTo>
                      <a:lnTo>
                        <a:pt x="2" y="14"/>
                      </a:lnTo>
                      <a:lnTo>
                        <a:pt x="3" y="11"/>
                      </a:lnTo>
                      <a:lnTo>
                        <a:pt x="4" y="9"/>
                      </a:lnTo>
                      <a:lnTo>
                        <a:pt x="5" y="7"/>
                      </a:lnTo>
                      <a:lnTo>
                        <a:pt x="6" y="5"/>
                      </a:lnTo>
                      <a:lnTo>
                        <a:pt x="7" y="3"/>
                      </a:lnTo>
                      <a:lnTo>
                        <a:pt x="8" y="2"/>
                      </a:lnTo>
                      <a:lnTo>
                        <a:pt x="10" y="0"/>
                      </a:lnTo>
                      <a:lnTo>
                        <a:pt x="10" y="247"/>
                      </a:lnTo>
                      <a:lnTo>
                        <a:pt x="0" y="247"/>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93" name="Freeform 981"/>
                <p:cNvSpPr>
                  <a:spLocks noChangeAspect="1"/>
                </p:cNvSpPr>
                <p:nvPr/>
              </p:nvSpPr>
              <p:spPr bwMode="auto">
                <a:xfrm>
                  <a:off x="3203" y="714"/>
                  <a:ext cx="3" cy="85"/>
                </a:xfrm>
                <a:custGeom>
                  <a:avLst/>
                  <a:gdLst>
                    <a:gd name="T0" fmla="*/ 0 w 9"/>
                    <a:gd name="T1" fmla="*/ 254 h 254"/>
                    <a:gd name="T2" fmla="*/ 0 w 9"/>
                    <a:gd name="T3" fmla="*/ 13 h 254"/>
                    <a:gd name="T4" fmla="*/ 1 w 9"/>
                    <a:gd name="T5" fmla="*/ 12 h 254"/>
                    <a:gd name="T6" fmla="*/ 2 w 9"/>
                    <a:gd name="T7" fmla="*/ 10 h 254"/>
                    <a:gd name="T8" fmla="*/ 3 w 9"/>
                    <a:gd name="T9" fmla="*/ 9 h 254"/>
                    <a:gd name="T10" fmla="*/ 4 w 9"/>
                    <a:gd name="T11" fmla="*/ 7 h 254"/>
                    <a:gd name="T12" fmla="*/ 5 w 9"/>
                    <a:gd name="T13" fmla="*/ 6 h 254"/>
                    <a:gd name="T14" fmla="*/ 7 w 9"/>
                    <a:gd name="T15" fmla="*/ 4 h 254"/>
                    <a:gd name="T16" fmla="*/ 8 w 9"/>
                    <a:gd name="T17" fmla="*/ 2 h 254"/>
                    <a:gd name="T18" fmla="*/ 9 w 9"/>
                    <a:gd name="T19" fmla="*/ 0 h 254"/>
                    <a:gd name="T20" fmla="*/ 9 w 9"/>
                    <a:gd name="T21" fmla="*/ 254 h 254"/>
                    <a:gd name="T22" fmla="*/ 0 w 9"/>
                    <a:gd name="T23" fmla="*/ 25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54">
                      <a:moveTo>
                        <a:pt x="0" y="254"/>
                      </a:moveTo>
                      <a:lnTo>
                        <a:pt x="0" y="13"/>
                      </a:lnTo>
                      <a:lnTo>
                        <a:pt x="1" y="12"/>
                      </a:lnTo>
                      <a:lnTo>
                        <a:pt x="2" y="10"/>
                      </a:lnTo>
                      <a:lnTo>
                        <a:pt x="3" y="9"/>
                      </a:lnTo>
                      <a:lnTo>
                        <a:pt x="4" y="7"/>
                      </a:lnTo>
                      <a:lnTo>
                        <a:pt x="5" y="6"/>
                      </a:lnTo>
                      <a:lnTo>
                        <a:pt x="7" y="4"/>
                      </a:lnTo>
                      <a:lnTo>
                        <a:pt x="8" y="2"/>
                      </a:lnTo>
                      <a:lnTo>
                        <a:pt x="9" y="0"/>
                      </a:lnTo>
                      <a:lnTo>
                        <a:pt x="9" y="254"/>
                      </a:lnTo>
                      <a:lnTo>
                        <a:pt x="0" y="254"/>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94" name="Freeform 982"/>
                <p:cNvSpPr>
                  <a:spLocks noChangeAspect="1"/>
                </p:cNvSpPr>
                <p:nvPr/>
              </p:nvSpPr>
              <p:spPr bwMode="auto">
                <a:xfrm>
                  <a:off x="3203" y="713"/>
                  <a:ext cx="3" cy="90"/>
                </a:xfrm>
                <a:custGeom>
                  <a:avLst/>
                  <a:gdLst>
                    <a:gd name="T0" fmla="*/ 0 w 9"/>
                    <a:gd name="T1" fmla="*/ 259 h 259"/>
                    <a:gd name="T2" fmla="*/ 0 w 9"/>
                    <a:gd name="T3" fmla="*/ 12 h 259"/>
                    <a:gd name="T4" fmla="*/ 1 w 9"/>
                    <a:gd name="T5" fmla="*/ 10 h 259"/>
                    <a:gd name="T6" fmla="*/ 2 w 9"/>
                    <a:gd name="T7" fmla="*/ 9 h 259"/>
                    <a:gd name="T8" fmla="*/ 3 w 9"/>
                    <a:gd name="T9" fmla="*/ 7 h 259"/>
                    <a:gd name="T10" fmla="*/ 4 w 9"/>
                    <a:gd name="T11" fmla="*/ 5 h 259"/>
                    <a:gd name="T12" fmla="*/ 5 w 9"/>
                    <a:gd name="T13" fmla="*/ 4 h 259"/>
                    <a:gd name="T14" fmla="*/ 6 w 9"/>
                    <a:gd name="T15" fmla="*/ 3 h 259"/>
                    <a:gd name="T16" fmla="*/ 7 w 9"/>
                    <a:gd name="T17" fmla="*/ 1 h 259"/>
                    <a:gd name="T18" fmla="*/ 9 w 9"/>
                    <a:gd name="T19" fmla="*/ 0 h 259"/>
                    <a:gd name="T20" fmla="*/ 9 w 9"/>
                    <a:gd name="T21" fmla="*/ 259 h 259"/>
                    <a:gd name="T22" fmla="*/ 0 w 9"/>
                    <a:gd name="T23" fmla="*/ 259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59">
                      <a:moveTo>
                        <a:pt x="0" y="259"/>
                      </a:moveTo>
                      <a:lnTo>
                        <a:pt x="0" y="12"/>
                      </a:lnTo>
                      <a:lnTo>
                        <a:pt x="1" y="10"/>
                      </a:lnTo>
                      <a:lnTo>
                        <a:pt x="2" y="9"/>
                      </a:lnTo>
                      <a:lnTo>
                        <a:pt x="3" y="7"/>
                      </a:lnTo>
                      <a:lnTo>
                        <a:pt x="4" y="5"/>
                      </a:lnTo>
                      <a:lnTo>
                        <a:pt x="5" y="4"/>
                      </a:lnTo>
                      <a:lnTo>
                        <a:pt x="6" y="3"/>
                      </a:lnTo>
                      <a:lnTo>
                        <a:pt x="7" y="1"/>
                      </a:lnTo>
                      <a:lnTo>
                        <a:pt x="9" y="0"/>
                      </a:lnTo>
                      <a:lnTo>
                        <a:pt x="9" y="259"/>
                      </a:lnTo>
                      <a:lnTo>
                        <a:pt x="0" y="259"/>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95" name="Freeform 983"/>
                <p:cNvSpPr>
                  <a:spLocks noChangeAspect="1"/>
                </p:cNvSpPr>
                <p:nvPr/>
              </p:nvSpPr>
              <p:spPr bwMode="auto">
                <a:xfrm>
                  <a:off x="3203" y="711"/>
                  <a:ext cx="13" cy="92"/>
                </a:xfrm>
                <a:custGeom>
                  <a:avLst/>
                  <a:gdLst>
                    <a:gd name="T0" fmla="*/ 0 w 10"/>
                    <a:gd name="T1" fmla="*/ 263 h 263"/>
                    <a:gd name="T2" fmla="*/ 0 w 10"/>
                    <a:gd name="T3" fmla="*/ 9 h 263"/>
                    <a:gd name="T4" fmla="*/ 1 w 10"/>
                    <a:gd name="T5" fmla="*/ 8 h 263"/>
                    <a:gd name="T6" fmla="*/ 2 w 10"/>
                    <a:gd name="T7" fmla="*/ 7 h 263"/>
                    <a:gd name="T8" fmla="*/ 3 w 10"/>
                    <a:gd name="T9" fmla="*/ 6 h 263"/>
                    <a:gd name="T10" fmla="*/ 5 w 10"/>
                    <a:gd name="T11" fmla="*/ 4 h 263"/>
                    <a:gd name="T12" fmla="*/ 6 w 10"/>
                    <a:gd name="T13" fmla="*/ 3 h 263"/>
                    <a:gd name="T14" fmla="*/ 7 w 10"/>
                    <a:gd name="T15" fmla="*/ 2 h 263"/>
                    <a:gd name="T16" fmla="*/ 8 w 10"/>
                    <a:gd name="T17" fmla="*/ 1 h 263"/>
                    <a:gd name="T18" fmla="*/ 10 w 10"/>
                    <a:gd name="T19" fmla="*/ 0 h 263"/>
                    <a:gd name="T20" fmla="*/ 10 w 10"/>
                    <a:gd name="T21" fmla="*/ 263 h 263"/>
                    <a:gd name="T22" fmla="*/ 0 w 10"/>
                    <a:gd name="T23" fmla="*/ 26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63">
                      <a:moveTo>
                        <a:pt x="0" y="263"/>
                      </a:moveTo>
                      <a:lnTo>
                        <a:pt x="0" y="9"/>
                      </a:lnTo>
                      <a:lnTo>
                        <a:pt x="1" y="8"/>
                      </a:lnTo>
                      <a:lnTo>
                        <a:pt x="2" y="7"/>
                      </a:lnTo>
                      <a:lnTo>
                        <a:pt x="3" y="6"/>
                      </a:lnTo>
                      <a:lnTo>
                        <a:pt x="5" y="4"/>
                      </a:lnTo>
                      <a:lnTo>
                        <a:pt x="6" y="3"/>
                      </a:lnTo>
                      <a:lnTo>
                        <a:pt x="7" y="2"/>
                      </a:lnTo>
                      <a:lnTo>
                        <a:pt x="8" y="1"/>
                      </a:lnTo>
                      <a:lnTo>
                        <a:pt x="10" y="0"/>
                      </a:lnTo>
                      <a:lnTo>
                        <a:pt x="10" y="263"/>
                      </a:lnTo>
                      <a:lnTo>
                        <a:pt x="0" y="263"/>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96" name="Freeform 984"/>
                <p:cNvSpPr>
                  <a:spLocks noChangeAspect="1"/>
                </p:cNvSpPr>
                <p:nvPr/>
              </p:nvSpPr>
              <p:spPr bwMode="auto">
                <a:xfrm>
                  <a:off x="3205" y="710"/>
                  <a:ext cx="12" cy="93"/>
                </a:xfrm>
                <a:custGeom>
                  <a:avLst/>
                  <a:gdLst>
                    <a:gd name="T0" fmla="*/ 0 w 9"/>
                    <a:gd name="T1" fmla="*/ 268 h 268"/>
                    <a:gd name="T2" fmla="*/ 0 w 9"/>
                    <a:gd name="T3" fmla="*/ 9 h 268"/>
                    <a:gd name="T4" fmla="*/ 1 w 9"/>
                    <a:gd name="T5" fmla="*/ 8 h 268"/>
                    <a:gd name="T6" fmla="*/ 2 w 9"/>
                    <a:gd name="T7" fmla="*/ 7 h 268"/>
                    <a:gd name="T8" fmla="*/ 3 w 9"/>
                    <a:gd name="T9" fmla="*/ 6 h 268"/>
                    <a:gd name="T10" fmla="*/ 4 w 9"/>
                    <a:gd name="T11" fmla="*/ 5 h 268"/>
                    <a:gd name="T12" fmla="*/ 6 w 9"/>
                    <a:gd name="T13" fmla="*/ 4 h 268"/>
                    <a:gd name="T14" fmla="*/ 7 w 9"/>
                    <a:gd name="T15" fmla="*/ 3 h 268"/>
                    <a:gd name="T16" fmla="*/ 8 w 9"/>
                    <a:gd name="T17" fmla="*/ 2 h 268"/>
                    <a:gd name="T18" fmla="*/ 9 w 9"/>
                    <a:gd name="T19" fmla="*/ 0 h 268"/>
                    <a:gd name="T20" fmla="*/ 9 w 9"/>
                    <a:gd name="T21" fmla="*/ 268 h 268"/>
                    <a:gd name="T22" fmla="*/ 0 w 9"/>
                    <a:gd name="T23" fmla="*/ 268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68">
                      <a:moveTo>
                        <a:pt x="0" y="268"/>
                      </a:moveTo>
                      <a:lnTo>
                        <a:pt x="0" y="9"/>
                      </a:lnTo>
                      <a:lnTo>
                        <a:pt x="1" y="8"/>
                      </a:lnTo>
                      <a:lnTo>
                        <a:pt x="2" y="7"/>
                      </a:lnTo>
                      <a:lnTo>
                        <a:pt x="3" y="6"/>
                      </a:lnTo>
                      <a:lnTo>
                        <a:pt x="4" y="5"/>
                      </a:lnTo>
                      <a:lnTo>
                        <a:pt x="6" y="4"/>
                      </a:lnTo>
                      <a:lnTo>
                        <a:pt x="7" y="3"/>
                      </a:lnTo>
                      <a:lnTo>
                        <a:pt x="8" y="2"/>
                      </a:lnTo>
                      <a:lnTo>
                        <a:pt x="9" y="0"/>
                      </a:lnTo>
                      <a:lnTo>
                        <a:pt x="9" y="268"/>
                      </a:lnTo>
                      <a:lnTo>
                        <a:pt x="0" y="268"/>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97" name="Freeform 985"/>
                <p:cNvSpPr>
                  <a:spLocks noChangeAspect="1"/>
                </p:cNvSpPr>
                <p:nvPr/>
              </p:nvSpPr>
              <p:spPr bwMode="auto">
                <a:xfrm>
                  <a:off x="3216" y="708"/>
                  <a:ext cx="2" cy="91"/>
                </a:xfrm>
                <a:custGeom>
                  <a:avLst/>
                  <a:gdLst>
                    <a:gd name="T0" fmla="*/ 0 w 8"/>
                    <a:gd name="T1" fmla="*/ 271 h 271"/>
                    <a:gd name="T2" fmla="*/ 0 w 8"/>
                    <a:gd name="T3" fmla="*/ 8 h 271"/>
                    <a:gd name="T4" fmla="*/ 1 w 8"/>
                    <a:gd name="T5" fmla="*/ 7 h 271"/>
                    <a:gd name="T6" fmla="*/ 2 w 8"/>
                    <a:gd name="T7" fmla="*/ 6 h 271"/>
                    <a:gd name="T8" fmla="*/ 3 w 8"/>
                    <a:gd name="T9" fmla="*/ 5 h 271"/>
                    <a:gd name="T10" fmla="*/ 4 w 8"/>
                    <a:gd name="T11" fmla="*/ 3 h 271"/>
                    <a:gd name="T12" fmla="*/ 5 w 8"/>
                    <a:gd name="T13" fmla="*/ 2 h 271"/>
                    <a:gd name="T14" fmla="*/ 6 w 8"/>
                    <a:gd name="T15" fmla="*/ 1 h 271"/>
                    <a:gd name="T16" fmla="*/ 7 w 8"/>
                    <a:gd name="T17" fmla="*/ 0 h 271"/>
                    <a:gd name="T18" fmla="*/ 8 w 8"/>
                    <a:gd name="T19" fmla="*/ 0 h 271"/>
                    <a:gd name="T20" fmla="*/ 8 w 8"/>
                    <a:gd name="T21" fmla="*/ 271 h 271"/>
                    <a:gd name="T22" fmla="*/ 0 w 8"/>
                    <a:gd name="T23" fmla="*/ 27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271">
                      <a:moveTo>
                        <a:pt x="0" y="271"/>
                      </a:moveTo>
                      <a:lnTo>
                        <a:pt x="0" y="8"/>
                      </a:lnTo>
                      <a:lnTo>
                        <a:pt x="1" y="7"/>
                      </a:lnTo>
                      <a:lnTo>
                        <a:pt x="2" y="6"/>
                      </a:lnTo>
                      <a:lnTo>
                        <a:pt x="3" y="5"/>
                      </a:lnTo>
                      <a:lnTo>
                        <a:pt x="4" y="3"/>
                      </a:lnTo>
                      <a:lnTo>
                        <a:pt x="5" y="2"/>
                      </a:lnTo>
                      <a:lnTo>
                        <a:pt x="6" y="1"/>
                      </a:lnTo>
                      <a:lnTo>
                        <a:pt x="7" y="0"/>
                      </a:lnTo>
                      <a:lnTo>
                        <a:pt x="8" y="0"/>
                      </a:lnTo>
                      <a:lnTo>
                        <a:pt x="8" y="271"/>
                      </a:lnTo>
                      <a:lnTo>
                        <a:pt x="0" y="27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98" name="Freeform 986"/>
                <p:cNvSpPr>
                  <a:spLocks noChangeAspect="1"/>
                </p:cNvSpPr>
                <p:nvPr/>
              </p:nvSpPr>
              <p:spPr bwMode="auto">
                <a:xfrm>
                  <a:off x="3217" y="707"/>
                  <a:ext cx="3" cy="92"/>
                </a:xfrm>
                <a:custGeom>
                  <a:avLst/>
                  <a:gdLst>
                    <a:gd name="T0" fmla="*/ 0 w 10"/>
                    <a:gd name="T1" fmla="*/ 275 h 275"/>
                    <a:gd name="T2" fmla="*/ 0 w 10"/>
                    <a:gd name="T3" fmla="*/ 7 h 275"/>
                    <a:gd name="T4" fmla="*/ 1 w 10"/>
                    <a:gd name="T5" fmla="*/ 6 h 275"/>
                    <a:gd name="T6" fmla="*/ 2 w 10"/>
                    <a:gd name="T7" fmla="*/ 5 h 275"/>
                    <a:gd name="T8" fmla="*/ 3 w 10"/>
                    <a:gd name="T9" fmla="*/ 4 h 275"/>
                    <a:gd name="T10" fmla="*/ 4 w 10"/>
                    <a:gd name="T11" fmla="*/ 4 h 275"/>
                    <a:gd name="T12" fmla="*/ 5 w 10"/>
                    <a:gd name="T13" fmla="*/ 3 h 275"/>
                    <a:gd name="T14" fmla="*/ 7 w 10"/>
                    <a:gd name="T15" fmla="*/ 2 h 275"/>
                    <a:gd name="T16" fmla="*/ 8 w 10"/>
                    <a:gd name="T17" fmla="*/ 1 h 275"/>
                    <a:gd name="T18" fmla="*/ 10 w 10"/>
                    <a:gd name="T19" fmla="*/ 0 h 275"/>
                    <a:gd name="T20" fmla="*/ 10 w 10"/>
                    <a:gd name="T21" fmla="*/ 275 h 275"/>
                    <a:gd name="T22" fmla="*/ 0 w 10"/>
                    <a:gd name="T23"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75">
                      <a:moveTo>
                        <a:pt x="0" y="275"/>
                      </a:moveTo>
                      <a:lnTo>
                        <a:pt x="0" y="7"/>
                      </a:lnTo>
                      <a:lnTo>
                        <a:pt x="1" y="6"/>
                      </a:lnTo>
                      <a:lnTo>
                        <a:pt x="2" y="5"/>
                      </a:lnTo>
                      <a:lnTo>
                        <a:pt x="3" y="4"/>
                      </a:lnTo>
                      <a:lnTo>
                        <a:pt x="4" y="4"/>
                      </a:lnTo>
                      <a:lnTo>
                        <a:pt x="5" y="3"/>
                      </a:lnTo>
                      <a:lnTo>
                        <a:pt x="7" y="2"/>
                      </a:lnTo>
                      <a:lnTo>
                        <a:pt x="8" y="1"/>
                      </a:lnTo>
                      <a:lnTo>
                        <a:pt x="10" y="0"/>
                      </a:lnTo>
                      <a:lnTo>
                        <a:pt x="10" y="275"/>
                      </a:lnTo>
                      <a:lnTo>
                        <a:pt x="0" y="27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499" name="Freeform 987"/>
                <p:cNvSpPr>
                  <a:spLocks noChangeAspect="1"/>
                </p:cNvSpPr>
                <p:nvPr/>
              </p:nvSpPr>
              <p:spPr bwMode="auto">
                <a:xfrm>
                  <a:off x="3218" y="707"/>
                  <a:ext cx="4" cy="92"/>
                </a:xfrm>
                <a:custGeom>
                  <a:avLst/>
                  <a:gdLst>
                    <a:gd name="T0" fmla="*/ 0 w 10"/>
                    <a:gd name="T1" fmla="*/ 277 h 277"/>
                    <a:gd name="T2" fmla="*/ 0 w 10"/>
                    <a:gd name="T3" fmla="*/ 6 h 277"/>
                    <a:gd name="T4" fmla="*/ 1 w 10"/>
                    <a:gd name="T5" fmla="*/ 5 h 277"/>
                    <a:gd name="T6" fmla="*/ 3 w 10"/>
                    <a:gd name="T7" fmla="*/ 4 h 277"/>
                    <a:gd name="T8" fmla="*/ 4 w 10"/>
                    <a:gd name="T9" fmla="*/ 3 h 277"/>
                    <a:gd name="T10" fmla="*/ 5 w 10"/>
                    <a:gd name="T11" fmla="*/ 2 h 277"/>
                    <a:gd name="T12" fmla="*/ 7 w 10"/>
                    <a:gd name="T13" fmla="*/ 2 h 277"/>
                    <a:gd name="T14" fmla="*/ 8 w 10"/>
                    <a:gd name="T15" fmla="*/ 1 h 277"/>
                    <a:gd name="T16" fmla="*/ 9 w 10"/>
                    <a:gd name="T17" fmla="*/ 0 h 277"/>
                    <a:gd name="T18" fmla="*/ 10 w 10"/>
                    <a:gd name="T19" fmla="*/ 0 h 277"/>
                    <a:gd name="T20" fmla="*/ 10 w 10"/>
                    <a:gd name="T21" fmla="*/ 277 h 277"/>
                    <a:gd name="T22" fmla="*/ 0 w 10"/>
                    <a:gd name="T23" fmla="*/ 277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77">
                      <a:moveTo>
                        <a:pt x="0" y="277"/>
                      </a:moveTo>
                      <a:lnTo>
                        <a:pt x="0" y="6"/>
                      </a:lnTo>
                      <a:lnTo>
                        <a:pt x="1" y="5"/>
                      </a:lnTo>
                      <a:lnTo>
                        <a:pt x="3" y="4"/>
                      </a:lnTo>
                      <a:lnTo>
                        <a:pt x="4" y="3"/>
                      </a:lnTo>
                      <a:lnTo>
                        <a:pt x="5" y="2"/>
                      </a:lnTo>
                      <a:lnTo>
                        <a:pt x="7" y="2"/>
                      </a:lnTo>
                      <a:lnTo>
                        <a:pt x="8" y="1"/>
                      </a:lnTo>
                      <a:lnTo>
                        <a:pt x="9" y="0"/>
                      </a:lnTo>
                      <a:lnTo>
                        <a:pt x="10" y="0"/>
                      </a:lnTo>
                      <a:lnTo>
                        <a:pt x="10" y="277"/>
                      </a:lnTo>
                      <a:lnTo>
                        <a:pt x="0" y="277"/>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00" name="Freeform 988"/>
                <p:cNvSpPr>
                  <a:spLocks noChangeAspect="1"/>
                </p:cNvSpPr>
                <p:nvPr/>
              </p:nvSpPr>
              <p:spPr bwMode="auto">
                <a:xfrm>
                  <a:off x="3220" y="706"/>
                  <a:ext cx="3" cy="93"/>
                </a:xfrm>
                <a:custGeom>
                  <a:avLst/>
                  <a:gdLst>
                    <a:gd name="T0" fmla="*/ 0 w 8"/>
                    <a:gd name="T1" fmla="*/ 280 h 280"/>
                    <a:gd name="T2" fmla="*/ 0 w 8"/>
                    <a:gd name="T3" fmla="*/ 5 h 280"/>
                    <a:gd name="T4" fmla="*/ 1 w 8"/>
                    <a:gd name="T5" fmla="*/ 5 h 280"/>
                    <a:gd name="T6" fmla="*/ 2 w 8"/>
                    <a:gd name="T7" fmla="*/ 4 h 280"/>
                    <a:gd name="T8" fmla="*/ 3 w 8"/>
                    <a:gd name="T9" fmla="*/ 3 h 280"/>
                    <a:gd name="T10" fmla="*/ 4 w 8"/>
                    <a:gd name="T11" fmla="*/ 3 h 280"/>
                    <a:gd name="T12" fmla="*/ 5 w 8"/>
                    <a:gd name="T13" fmla="*/ 2 h 280"/>
                    <a:gd name="T14" fmla="*/ 6 w 8"/>
                    <a:gd name="T15" fmla="*/ 1 h 280"/>
                    <a:gd name="T16" fmla="*/ 7 w 8"/>
                    <a:gd name="T17" fmla="*/ 1 h 280"/>
                    <a:gd name="T18" fmla="*/ 8 w 8"/>
                    <a:gd name="T19" fmla="*/ 0 h 280"/>
                    <a:gd name="T20" fmla="*/ 8 w 8"/>
                    <a:gd name="T21" fmla="*/ 280 h 280"/>
                    <a:gd name="T22" fmla="*/ 0 w 8"/>
                    <a:gd name="T23"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280">
                      <a:moveTo>
                        <a:pt x="0" y="280"/>
                      </a:moveTo>
                      <a:lnTo>
                        <a:pt x="0" y="5"/>
                      </a:lnTo>
                      <a:lnTo>
                        <a:pt x="1" y="5"/>
                      </a:lnTo>
                      <a:lnTo>
                        <a:pt x="2" y="4"/>
                      </a:lnTo>
                      <a:lnTo>
                        <a:pt x="3" y="3"/>
                      </a:lnTo>
                      <a:lnTo>
                        <a:pt x="4" y="3"/>
                      </a:lnTo>
                      <a:lnTo>
                        <a:pt x="5" y="2"/>
                      </a:lnTo>
                      <a:lnTo>
                        <a:pt x="6" y="1"/>
                      </a:lnTo>
                      <a:lnTo>
                        <a:pt x="7" y="1"/>
                      </a:lnTo>
                      <a:lnTo>
                        <a:pt x="8" y="0"/>
                      </a:lnTo>
                      <a:lnTo>
                        <a:pt x="8" y="280"/>
                      </a:lnTo>
                      <a:lnTo>
                        <a:pt x="0" y="280"/>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01" name="Freeform 989"/>
                <p:cNvSpPr>
                  <a:spLocks noChangeAspect="1"/>
                </p:cNvSpPr>
                <p:nvPr/>
              </p:nvSpPr>
              <p:spPr bwMode="auto">
                <a:xfrm>
                  <a:off x="3222" y="705"/>
                  <a:ext cx="3" cy="94"/>
                </a:xfrm>
                <a:custGeom>
                  <a:avLst/>
                  <a:gdLst>
                    <a:gd name="T0" fmla="*/ 0 w 10"/>
                    <a:gd name="T1" fmla="*/ 282 h 282"/>
                    <a:gd name="T2" fmla="*/ 0 w 10"/>
                    <a:gd name="T3" fmla="*/ 5 h 282"/>
                    <a:gd name="T4" fmla="*/ 1 w 10"/>
                    <a:gd name="T5" fmla="*/ 4 h 282"/>
                    <a:gd name="T6" fmla="*/ 2 w 10"/>
                    <a:gd name="T7" fmla="*/ 3 h 282"/>
                    <a:gd name="T8" fmla="*/ 3 w 10"/>
                    <a:gd name="T9" fmla="*/ 3 h 282"/>
                    <a:gd name="T10" fmla="*/ 4 w 10"/>
                    <a:gd name="T11" fmla="*/ 2 h 282"/>
                    <a:gd name="T12" fmla="*/ 5 w 10"/>
                    <a:gd name="T13" fmla="*/ 1 h 282"/>
                    <a:gd name="T14" fmla="*/ 6 w 10"/>
                    <a:gd name="T15" fmla="*/ 1 h 282"/>
                    <a:gd name="T16" fmla="*/ 7 w 10"/>
                    <a:gd name="T17" fmla="*/ 0 h 282"/>
                    <a:gd name="T18" fmla="*/ 10 w 10"/>
                    <a:gd name="T19" fmla="*/ 0 h 282"/>
                    <a:gd name="T20" fmla="*/ 10 w 10"/>
                    <a:gd name="T21" fmla="*/ 282 h 282"/>
                    <a:gd name="T22" fmla="*/ 0 w 10"/>
                    <a:gd name="T23" fmla="*/ 28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82">
                      <a:moveTo>
                        <a:pt x="0" y="282"/>
                      </a:moveTo>
                      <a:lnTo>
                        <a:pt x="0" y="5"/>
                      </a:lnTo>
                      <a:lnTo>
                        <a:pt x="1" y="4"/>
                      </a:lnTo>
                      <a:lnTo>
                        <a:pt x="2" y="3"/>
                      </a:lnTo>
                      <a:lnTo>
                        <a:pt x="3" y="3"/>
                      </a:lnTo>
                      <a:lnTo>
                        <a:pt x="4" y="2"/>
                      </a:lnTo>
                      <a:lnTo>
                        <a:pt x="5" y="1"/>
                      </a:lnTo>
                      <a:lnTo>
                        <a:pt x="6" y="1"/>
                      </a:lnTo>
                      <a:lnTo>
                        <a:pt x="7" y="0"/>
                      </a:lnTo>
                      <a:lnTo>
                        <a:pt x="10" y="0"/>
                      </a:lnTo>
                      <a:lnTo>
                        <a:pt x="10" y="282"/>
                      </a:lnTo>
                      <a:lnTo>
                        <a:pt x="0" y="282"/>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02" name="Freeform 990"/>
                <p:cNvSpPr>
                  <a:spLocks noChangeAspect="1"/>
                </p:cNvSpPr>
                <p:nvPr/>
              </p:nvSpPr>
              <p:spPr bwMode="auto">
                <a:xfrm>
                  <a:off x="3223" y="704"/>
                  <a:ext cx="3" cy="95"/>
                </a:xfrm>
                <a:custGeom>
                  <a:avLst/>
                  <a:gdLst>
                    <a:gd name="T0" fmla="*/ 0 w 10"/>
                    <a:gd name="T1" fmla="*/ 285 h 285"/>
                    <a:gd name="T2" fmla="*/ 0 w 10"/>
                    <a:gd name="T3" fmla="*/ 5 h 285"/>
                    <a:gd name="T4" fmla="*/ 1 w 10"/>
                    <a:gd name="T5" fmla="*/ 4 h 285"/>
                    <a:gd name="T6" fmla="*/ 2 w 10"/>
                    <a:gd name="T7" fmla="*/ 4 h 285"/>
                    <a:gd name="T8" fmla="*/ 3 w 10"/>
                    <a:gd name="T9" fmla="*/ 3 h 285"/>
                    <a:gd name="T10" fmla="*/ 4 w 10"/>
                    <a:gd name="T11" fmla="*/ 3 h 285"/>
                    <a:gd name="T12" fmla="*/ 7 w 10"/>
                    <a:gd name="T13" fmla="*/ 2 h 285"/>
                    <a:gd name="T14" fmla="*/ 8 w 10"/>
                    <a:gd name="T15" fmla="*/ 2 h 285"/>
                    <a:gd name="T16" fmla="*/ 9 w 10"/>
                    <a:gd name="T17" fmla="*/ 0 h 285"/>
                    <a:gd name="T18" fmla="*/ 10 w 10"/>
                    <a:gd name="T19" fmla="*/ 0 h 285"/>
                    <a:gd name="T20" fmla="*/ 10 w 10"/>
                    <a:gd name="T21" fmla="*/ 285 h 285"/>
                    <a:gd name="T22" fmla="*/ 0 w 10"/>
                    <a:gd name="T23"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85">
                      <a:moveTo>
                        <a:pt x="0" y="285"/>
                      </a:moveTo>
                      <a:lnTo>
                        <a:pt x="0" y="5"/>
                      </a:lnTo>
                      <a:lnTo>
                        <a:pt x="1" y="4"/>
                      </a:lnTo>
                      <a:lnTo>
                        <a:pt x="2" y="4"/>
                      </a:lnTo>
                      <a:lnTo>
                        <a:pt x="3" y="3"/>
                      </a:lnTo>
                      <a:lnTo>
                        <a:pt x="4" y="3"/>
                      </a:lnTo>
                      <a:lnTo>
                        <a:pt x="7" y="2"/>
                      </a:lnTo>
                      <a:lnTo>
                        <a:pt x="8" y="2"/>
                      </a:lnTo>
                      <a:lnTo>
                        <a:pt x="9" y="0"/>
                      </a:lnTo>
                      <a:lnTo>
                        <a:pt x="10" y="0"/>
                      </a:lnTo>
                      <a:lnTo>
                        <a:pt x="10" y="285"/>
                      </a:lnTo>
                      <a:lnTo>
                        <a:pt x="0" y="28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03" name="Freeform 991"/>
                <p:cNvSpPr>
                  <a:spLocks noChangeAspect="1"/>
                </p:cNvSpPr>
                <p:nvPr/>
              </p:nvSpPr>
              <p:spPr bwMode="auto">
                <a:xfrm>
                  <a:off x="3225" y="703"/>
                  <a:ext cx="3" cy="96"/>
                </a:xfrm>
                <a:custGeom>
                  <a:avLst/>
                  <a:gdLst>
                    <a:gd name="T0" fmla="*/ 0 w 8"/>
                    <a:gd name="T1" fmla="*/ 287 h 287"/>
                    <a:gd name="T2" fmla="*/ 0 w 8"/>
                    <a:gd name="T3" fmla="*/ 5 h 287"/>
                    <a:gd name="T4" fmla="*/ 1 w 8"/>
                    <a:gd name="T5" fmla="*/ 4 h 287"/>
                    <a:gd name="T6" fmla="*/ 2 w 8"/>
                    <a:gd name="T7" fmla="*/ 4 h 287"/>
                    <a:gd name="T8" fmla="*/ 3 w 8"/>
                    <a:gd name="T9" fmla="*/ 2 h 287"/>
                    <a:gd name="T10" fmla="*/ 4 w 8"/>
                    <a:gd name="T11" fmla="*/ 2 h 287"/>
                    <a:gd name="T12" fmla="*/ 5 w 8"/>
                    <a:gd name="T13" fmla="*/ 1 h 287"/>
                    <a:gd name="T14" fmla="*/ 6 w 8"/>
                    <a:gd name="T15" fmla="*/ 1 h 287"/>
                    <a:gd name="T16" fmla="*/ 7 w 8"/>
                    <a:gd name="T17" fmla="*/ 0 h 287"/>
                    <a:gd name="T18" fmla="*/ 8 w 8"/>
                    <a:gd name="T19" fmla="*/ 0 h 287"/>
                    <a:gd name="T20" fmla="*/ 8 w 8"/>
                    <a:gd name="T21" fmla="*/ 287 h 287"/>
                    <a:gd name="T22" fmla="*/ 0 w 8"/>
                    <a:gd name="T23"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287">
                      <a:moveTo>
                        <a:pt x="0" y="287"/>
                      </a:moveTo>
                      <a:lnTo>
                        <a:pt x="0" y="5"/>
                      </a:lnTo>
                      <a:lnTo>
                        <a:pt x="1" y="4"/>
                      </a:lnTo>
                      <a:lnTo>
                        <a:pt x="2" y="4"/>
                      </a:lnTo>
                      <a:lnTo>
                        <a:pt x="3" y="2"/>
                      </a:lnTo>
                      <a:lnTo>
                        <a:pt x="4" y="2"/>
                      </a:lnTo>
                      <a:lnTo>
                        <a:pt x="5" y="1"/>
                      </a:lnTo>
                      <a:lnTo>
                        <a:pt x="6" y="1"/>
                      </a:lnTo>
                      <a:lnTo>
                        <a:pt x="7" y="0"/>
                      </a:lnTo>
                      <a:lnTo>
                        <a:pt x="8" y="0"/>
                      </a:lnTo>
                      <a:lnTo>
                        <a:pt x="8" y="287"/>
                      </a:lnTo>
                      <a:lnTo>
                        <a:pt x="0" y="287"/>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04" name="Freeform 992"/>
                <p:cNvSpPr>
                  <a:spLocks noChangeAspect="1"/>
                </p:cNvSpPr>
                <p:nvPr/>
              </p:nvSpPr>
              <p:spPr bwMode="auto">
                <a:xfrm>
                  <a:off x="3226" y="703"/>
                  <a:ext cx="3" cy="96"/>
                </a:xfrm>
                <a:custGeom>
                  <a:avLst/>
                  <a:gdLst>
                    <a:gd name="T0" fmla="*/ 0 w 8"/>
                    <a:gd name="T1" fmla="*/ 289 h 289"/>
                    <a:gd name="T2" fmla="*/ 0 w 8"/>
                    <a:gd name="T3" fmla="*/ 4 h 289"/>
                    <a:gd name="T4" fmla="*/ 1 w 8"/>
                    <a:gd name="T5" fmla="*/ 3 h 289"/>
                    <a:gd name="T6" fmla="*/ 2 w 8"/>
                    <a:gd name="T7" fmla="*/ 3 h 289"/>
                    <a:gd name="T8" fmla="*/ 3 w 8"/>
                    <a:gd name="T9" fmla="*/ 2 h 289"/>
                    <a:gd name="T10" fmla="*/ 4 w 8"/>
                    <a:gd name="T11" fmla="*/ 2 h 289"/>
                    <a:gd name="T12" fmla="*/ 5 w 8"/>
                    <a:gd name="T13" fmla="*/ 1 h 289"/>
                    <a:gd name="T14" fmla="*/ 6 w 8"/>
                    <a:gd name="T15" fmla="*/ 1 h 289"/>
                    <a:gd name="T16" fmla="*/ 7 w 8"/>
                    <a:gd name="T17" fmla="*/ 1 h 289"/>
                    <a:gd name="T18" fmla="*/ 8 w 8"/>
                    <a:gd name="T19" fmla="*/ 0 h 289"/>
                    <a:gd name="T20" fmla="*/ 8 w 8"/>
                    <a:gd name="T21" fmla="*/ 289 h 289"/>
                    <a:gd name="T22" fmla="*/ 0 w 8"/>
                    <a:gd name="T23"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289">
                      <a:moveTo>
                        <a:pt x="0" y="289"/>
                      </a:moveTo>
                      <a:lnTo>
                        <a:pt x="0" y="4"/>
                      </a:lnTo>
                      <a:lnTo>
                        <a:pt x="1" y="3"/>
                      </a:lnTo>
                      <a:lnTo>
                        <a:pt x="2" y="3"/>
                      </a:lnTo>
                      <a:lnTo>
                        <a:pt x="3" y="2"/>
                      </a:lnTo>
                      <a:lnTo>
                        <a:pt x="4" y="2"/>
                      </a:lnTo>
                      <a:lnTo>
                        <a:pt x="5" y="1"/>
                      </a:lnTo>
                      <a:lnTo>
                        <a:pt x="6" y="1"/>
                      </a:lnTo>
                      <a:lnTo>
                        <a:pt x="7" y="1"/>
                      </a:lnTo>
                      <a:lnTo>
                        <a:pt x="8" y="0"/>
                      </a:lnTo>
                      <a:lnTo>
                        <a:pt x="8" y="289"/>
                      </a:lnTo>
                      <a:lnTo>
                        <a:pt x="0" y="289"/>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05" name="Freeform 993"/>
                <p:cNvSpPr>
                  <a:spLocks noChangeAspect="1"/>
                </p:cNvSpPr>
                <p:nvPr/>
              </p:nvSpPr>
              <p:spPr bwMode="auto">
                <a:xfrm>
                  <a:off x="3228" y="702"/>
                  <a:ext cx="3" cy="97"/>
                </a:xfrm>
                <a:custGeom>
                  <a:avLst/>
                  <a:gdLst>
                    <a:gd name="T0" fmla="*/ 0 w 10"/>
                    <a:gd name="T1" fmla="*/ 290 h 290"/>
                    <a:gd name="T2" fmla="*/ 0 w 10"/>
                    <a:gd name="T3" fmla="*/ 3 h 290"/>
                    <a:gd name="T4" fmla="*/ 1 w 10"/>
                    <a:gd name="T5" fmla="*/ 2 h 290"/>
                    <a:gd name="T6" fmla="*/ 2 w 10"/>
                    <a:gd name="T7" fmla="*/ 2 h 290"/>
                    <a:gd name="T8" fmla="*/ 3 w 10"/>
                    <a:gd name="T9" fmla="*/ 2 h 290"/>
                    <a:gd name="T10" fmla="*/ 4 w 10"/>
                    <a:gd name="T11" fmla="*/ 1 h 290"/>
                    <a:gd name="T12" fmla="*/ 6 w 10"/>
                    <a:gd name="T13" fmla="*/ 1 h 290"/>
                    <a:gd name="T14" fmla="*/ 8 w 10"/>
                    <a:gd name="T15" fmla="*/ 0 h 290"/>
                    <a:gd name="T16" fmla="*/ 9 w 10"/>
                    <a:gd name="T17" fmla="*/ 0 h 290"/>
                    <a:gd name="T18" fmla="*/ 10 w 10"/>
                    <a:gd name="T19" fmla="*/ 0 h 290"/>
                    <a:gd name="T20" fmla="*/ 10 w 10"/>
                    <a:gd name="T21" fmla="*/ 290 h 290"/>
                    <a:gd name="T22" fmla="*/ 0 w 10"/>
                    <a:gd name="T23" fmla="*/ 29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90">
                      <a:moveTo>
                        <a:pt x="0" y="290"/>
                      </a:moveTo>
                      <a:lnTo>
                        <a:pt x="0" y="3"/>
                      </a:lnTo>
                      <a:lnTo>
                        <a:pt x="1" y="2"/>
                      </a:lnTo>
                      <a:lnTo>
                        <a:pt x="2" y="2"/>
                      </a:lnTo>
                      <a:lnTo>
                        <a:pt x="3" y="2"/>
                      </a:lnTo>
                      <a:lnTo>
                        <a:pt x="4" y="1"/>
                      </a:lnTo>
                      <a:lnTo>
                        <a:pt x="6" y="1"/>
                      </a:lnTo>
                      <a:lnTo>
                        <a:pt x="8" y="0"/>
                      </a:lnTo>
                      <a:lnTo>
                        <a:pt x="9" y="0"/>
                      </a:lnTo>
                      <a:lnTo>
                        <a:pt x="10" y="0"/>
                      </a:lnTo>
                      <a:lnTo>
                        <a:pt x="10" y="290"/>
                      </a:lnTo>
                      <a:lnTo>
                        <a:pt x="0" y="290"/>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06" name="Freeform 994"/>
                <p:cNvSpPr>
                  <a:spLocks noChangeAspect="1"/>
                </p:cNvSpPr>
                <p:nvPr/>
              </p:nvSpPr>
              <p:spPr bwMode="auto">
                <a:xfrm>
                  <a:off x="3229" y="702"/>
                  <a:ext cx="3" cy="97"/>
                </a:xfrm>
                <a:custGeom>
                  <a:avLst/>
                  <a:gdLst>
                    <a:gd name="T0" fmla="*/ 0 w 10"/>
                    <a:gd name="T1" fmla="*/ 291 h 291"/>
                    <a:gd name="T2" fmla="*/ 0 w 10"/>
                    <a:gd name="T3" fmla="*/ 2 h 291"/>
                    <a:gd name="T4" fmla="*/ 2 w 10"/>
                    <a:gd name="T5" fmla="*/ 2 h 291"/>
                    <a:gd name="T6" fmla="*/ 4 w 10"/>
                    <a:gd name="T7" fmla="*/ 1 h 291"/>
                    <a:gd name="T8" fmla="*/ 5 w 10"/>
                    <a:gd name="T9" fmla="*/ 1 h 291"/>
                    <a:gd name="T10" fmla="*/ 6 w 10"/>
                    <a:gd name="T11" fmla="*/ 1 h 291"/>
                    <a:gd name="T12" fmla="*/ 7 w 10"/>
                    <a:gd name="T13" fmla="*/ 0 h 291"/>
                    <a:gd name="T14" fmla="*/ 8 w 10"/>
                    <a:gd name="T15" fmla="*/ 0 h 291"/>
                    <a:gd name="T16" fmla="*/ 9 w 10"/>
                    <a:gd name="T17" fmla="*/ 0 h 291"/>
                    <a:gd name="T18" fmla="*/ 10 w 10"/>
                    <a:gd name="T19" fmla="*/ 0 h 291"/>
                    <a:gd name="T20" fmla="*/ 10 w 10"/>
                    <a:gd name="T21" fmla="*/ 291 h 291"/>
                    <a:gd name="T22" fmla="*/ 0 w 10"/>
                    <a:gd name="T23" fmla="*/ 291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91">
                      <a:moveTo>
                        <a:pt x="0" y="291"/>
                      </a:moveTo>
                      <a:lnTo>
                        <a:pt x="0" y="2"/>
                      </a:lnTo>
                      <a:lnTo>
                        <a:pt x="2" y="2"/>
                      </a:lnTo>
                      <a:lnTo>
                        <a:pt x="4" y="1"/>
                      </a:lnTo>
                      <a:lnTo>
                        <a:pt x="5" y="1"/>
                      </a:lnTo>
                      <a:lnTo>
                        <a:pt x="6" y="1"/>
                      </a:lnTo>
                      <a:lnTo>
                        <a:pt x="7" y="0"/>
                      </a:lnTo>
                      <a:lnTo>
                        <a:pt x="8" y="0"/>
                      </a:lnTo>
                      <a:lnTo>
                        <a:pt x="9" y="0"/>
                      </a:lnTo>
                      <a:lnTo>
                        <a:pt x="10" y="0"/>
                      </a:lnTo>
                      <a:lnTo>
                        <a:pt x="10" y="291"/>
                      </a:lnTo>
                      <a:lnTo>
                        <a:pt x="0" y="29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07" name="Freeform 995"/>
                <p:cNvSpPr>
                  <a:spLocks noChangeAspect="1"/>
                </p:cNvSpPr>
                <p:nvPr/>
              </p:nvSpPr>
              <p:spPr bwMode="auto">
                <a:xfrm>
                  <a:off x="3231" y="701"/>
                  <a:ext cx="3" cy="98"/>
                </a:xfrm>
                <a:custGeom>
                  <a:avLst/>
                  <a:gdLst>
                    <a:gd name="T0" fmla="*/ 0 w 8"/>
                    <a:gd name="T1" fmla="*/ 293 h 293"/>
                    <a:gd name="T2" fmla="*/ 0 w 8"/>
                    <a:gd name="T3" fmla="*/ 3 h 293"/>
                    <a:gd name="T4" fmla="*/ 1 w 8"/>
                    <a:gd name="T5" fmla="*/ 2 h 293"/>
                    <a:gd name="T6" fmla="*/ 2 w 8"/>
                    <a:gd name="T7" fmla="*/ 2 h 293"/>
                    <a:gd name="T8" fmla="*/ 3 w 8"/>
                    <a:gd name="T9" fmla="*/ 2 h 293"/>
                    <a:gd name="T10" fmla="*/ 4 w 8"/>
                    <a:gd name="T11" fmla="*/ 2 h 293"/>
                    <a:gd name="T12" fmla="*/ 5 w 8"/>
                    <a:gd name="T13" fmla="*/ 1 h 293"/>
                    <a:gd name="T14" fmla="*/ 6 w 8"/>
                    <a:gd name="T15" fmla="*/ 1 h 293"/>
                    <a:gd name="T16" fmla="*/ 7 w 8"/>
                    <a:gd name="T17" fmla="*/ 1 h 293"/>
                    <a:gd name="T18" fmla="*/ 8 w 8"/>
                    <a:gd name="T19" fmla="*/ 0 h 293"/>
                    <a:gd name="T20" fmla="*/ 8 w 8"/>
                    <a:gd name="T21" fmla="*/ 293 h 293"/>
                    <a:gd name="T22" fmla="*/ 0 w 8"/>
                    <a:gd name="T23"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293">
                      <a:moveTo>
                        <a:pt x="0" y="293"/>
                      </a:moveTo>
                      <a:lnTo>
                        <a:pt x="0" y="3"/>
                      </a:lnTo>
                      <a:lnTo>
                        <a:pt x="1" y="2"/>
                      </a:lnTo>
                      <a:lnTo>
                        <a:pt x="2" y="2"/>
                      </a:lnTo>
                      <a:lnTo>
                        <a:pt x="3" y="2"/>
                      </a:lnTo>
                      <a:lnTo>
                        <a:pt x="4" y="2"/>
                      </a:lnTo>
                      <a:lnTo>
                        <a:pt x="5" y="1"/>
                      </a:lnTo>
                      <a:lnTo>
                        <a:pt x="6" y="1"/>
                      </a:lnTo>
                      <a:lnTo>
                        <a:pt x="7" y="1"/>
                      </a:lnTo>
                      <a:lnTo>
                        <a:pt x="8" y="0"/>
                      </a:lnTo>
                      <a:lnTo>
                        <a:pt x="8" y="293"/>
                      </a:lnTo>
                      <a:lnTo>
                        <a:pt x="0" y="293"/>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08" name="Freeform 996"/>
                <p:cNvSpPr>
                  <a:spLocks noChangeAspect="1"/>
                </p:cNvSpPr>
                <p:nvPr/>
              </p:nvSpPr>
              <p:spPr bwMode="auto">
                <a:xfrm>
                  <a:off x="3232" y="701"/>
                  <a:ext cx="3" cy="98"/>
                </a:xfrm>
                <a:custGeom>
                  <a:avLst/>
                  <a:gdLst>
                    <a:gd name="T0" fmla="*/ 0 w 9"/>
                    <a:gd name="T1" fmla="*/ 293 h 293"/>
                    <a:gd name="T2" fmla="*/ 0 w 9"/>
                    <a:gd name="T3" fmla="*/ 2 h 293"/>
                    <a:gd name="T4" fmla="*/ 1 w 9"/>
                    <a:gd name="T5" fmla="*/ 1 h 293"/>
                    <a:gd name="T6" fmla="*/ 2 w 9"/>
                    <a:gd name="T7" fmla="*/ 1 h 293"/>
                    <a:gd name="T8" fmla="*/ 3 w 9"/>
                    <a:gd name="T9" fmla="*/ 1 h 293"/>
                    <a:gd name="T10" fmla="*/ 4 w 9"/>
                    <a:gd name="T11" fmla="*/ 0 h 293"/>
                    <a:gd name="T12" fmla="*/ 6 w 9"/>
                    <a:gd name="T13" fmla="*/ 0 h 293"/>
                    <a:gd name="T14" fmla="*/ 7 w 9"/>
                    <a:gd name="T15" fmla="*/ 0 h 293"/>
                    <a:gd name="T16" fmla="*/ 8 w 9"/>
                    <a:gd name="T17" fmla="*/ 0 h 293"/>
                    <a:gd name="T18" fmla="*/ 9 w 9"/>
                    <a:gd name="T19" fmla="*/ 0 h 293"/>
                    <a:gd name="T20" fmla="*/ 9 w 9"/>
                    <a:gd name="T21" fmla="*/ 293 h 293"/>
                    <a:gd name="T22" fmla="*/ 0 w 9"/>
                    <a:gd name="T23"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93">
                      <a:moveTo>
                        <a:pt x="0" y="293"/>
                      </a:moveTo>
                      <a:lnTo>
                        <a:pt x="0" y="2"/>
                      </a:lnTo>
                      <a:lnTo>
                        <a:pt x="1" y="1"/>
                      </a:lnTo>
                      <a:lnTo>
                        <a:pt x="2" y="1"/>
                      </a:lnTo>
                      <a:lnTo>
                        <a:pt x="3" y="1"/>
                      </a:lnTo>
                      <a:lnTo>
                        <a:pt x="4" y="0"/>
                      </a:lnTo>
                      <a:lnTo>
                        <a:pt x="6" y="0"/>
                      </a:lnTo>
                      <a:lnTo>
                        <a:pt x="7" y="0"/>
                      </a:lnTo>
                      <a:lnTo>
                        <a:pt x="8" y="0"/>
                      </a:lnTo>
                      <a:lnTo>
                        <a:pt x="9" y="0"/>
                      </a:lnTo>
                      <a:lnTo>
                        <a:pt x="9" y="293"/>
                      </a:lnTo>
                      <a:lnTo>
                        <a:pt x="0" y="293"/>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09" name="Freeform 997"/>
                <p:cNvSpPr>
                  <a:spLocks noChangeAspect="1"/>
                </p:cNvSpPr>
                <p:nvPr/>
              </p:nvSpPr>
              <p:spPr bwMode="auto">
                <a:xfrm>
                  <a:off x="3232" y="701"/>
                  <a:ext cx="3" cy="98"/>
                </a:xfrm>
                <a:custGeom>
                  <a:avLst/>
                  <a:gdLst>
                    <a:gd name="T0" fmla="*/ 0 w 10"/>
                    <a:gd name="T1" fmla="*/ 294 h 294"/>
                    <a:gd name="T2" fmla="*/ 0 w 10"/>
                    <a:gd name="T3" fmla="*/ 1 h 294"/>
                    <a:gd name="T4" fmla="*/ 2 w 10"/>
                    <a:gd name="T5" fmla="*/ 1 h 294"/>
                    <a:gd name="T6" fmla="*/ 3 w 10"/>
                    <a:gd name="T7" fmla="*/ 1 h 294"/>
                    <a:gd name="T8" fmla="*/ 4 w 10"/>
                    <a:gd name="T9" fmla="*/ 1 h 294"/>
                    <a:gd name="T10" fmla="*/ 5 w 10"/>
                    <a:gd name="T11" fmla="*/ 1 h 294"/>
                    <a:gd name="T12" fmla="*/ 7 w 10"/>
                    <a:gd name="T13" fmla="*/ 0 h 294"/>
                    <a:gd name="T14" fmla="*/ 8 w 10"/>
                    <a:gd name="T15" fmla="*/ 0 h 294"/>
                    <a:gd name="T16" fmla="*/ 9 w 10"/>
                    <a:gd name="T17" fmla="*/ 0 h 294"/>
                    <a:gd name="T18" fmla="*/ 10 w 10"/>
                    <a:gd name="T19" fmla="*/ 0 h 294"/>
                    <a:gd name="T20" fmla="*/ 10 w 10"/>
                    <a:gd name="T21" fmla="*/ 294 h 294"/>
                    <a:gd name="T22" fmla="*/ 0 w 10"/>
                    <a:gd name="T23" fmla="*/ 29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94">
                      <a:moveTo>
                        <a:pt x="0" y="294"/>
                      </a:moveTo>
                      <a:lnTo>
                        <a:pt x="0" y="1"/>
                      </a:lnTo>
                      <a:lnTo>
                        <a:pt x="2" y="1"/>
                      </a:lnTo>
                      <a:lnTo>
                        <a:pt x="3" y="1"/>
                      </a:lnTo>
                      <a:lnTo>
                        <a:pt x="4" y="1"/>
                      </a:lnTo>
                      <a:lnTo>
                        <a:pt x="5" y="1"/>
                      </a:lnTo>
                      <a:lnTo>
                        <a:pt x="7" y="0"/>
                      </a:lnTo>
                      <a:lnTo>
                        <a:pt x="8" y="0"/>
                      </a:lnTo>
                      <a:lnTo>
                        <a:pt x="9" y="0"/>
                      </a:lnTo>
                      <a:lnTo>
                        <a:pt x="10" y="0"/>
                      </a:lnTo>
                      <a:lnTo>
                        <a:pt x="10" y="294"/>
                      </a:lnTo>
                      <a:lnTo>
                        <a:pt x="0" y="294"/>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10" name="Freeform 998"/>
                <p:cNvSpPr>
                  <a:spLocks noChangeAspect="1"/>
                </p:cNvSpPr>
                <p:nvPr/>
              </p:nvSpPr>
              <p:spPr bwMode="auto">
                <a:xfrm>
                  <a:off x="3232" y="701"/>
                  <a:ext cx="3" cy="98"/>
                </a:xfrm>
                <a:custGeom>
                  <a:avLst/>
                  <a:gdLst>
                    <a:gd name="T0" fmla="*/ 0 w 9"/>
                    <a:gd name="T1" fmla="*/ 295 h 295"/>
                    <a:gd name="T2" fmla="*/ 0 w 9"/>
                    <a:gd name="T3" fmla="*/ 2 h 295"/>
                    <a:gd name="T4" fmla="*/ 2 w 9"/>
                    <a:gd name="T5" fmla="*/ 1 h 295"/>
                    <a:gd name="T6" fmla="*/ 3 w 9"/>
                    <a:gd name="T7" fmla="*/ 1 h 295"/>
                    <a:gd name="T8" fmla="*/ 4 w 9"/>
                    <a:gd name="T9" fmla="*/ 1 h 295"/>
                    <a:gd name="T10" fmla="*/ 5 w 9"/>
                    <a:gd name="T11" fmla="*/ 1 h 295"/>
                    <a:gd name="T12" fmla="*/ 6 w 9"/>
                    <a:gd name="T13" fmla="*/ 1 h 295"/>
                    <a:gd name="T14" fmla="*/ 7 w 9"/>
                    <a:gd name="T15" fmla="*/ 1 h 295"/>
                    <a:gd name="T16" fmla="*/ 8 w 9"/>
                    <a:gd name="T17" fmla="*/ 0 h 295"/>
                    <a:gd name="T18" fmla="*/ 9 w 9"/>
                    <a:gd name="T19" fmla="*/ 0 h 295"/>
                    <a:gd name="T20" fmla="*/ 9 w 9"/>
                    <a:gd name="T21" fmla="*/ 295 h 295"/>
                    <a:gd name="T22" fmla="*/ 0 w 9"/>
                    <a:gd name="T23" fmla="*/ 29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95">
                      <a:moveTo>
                        <a:pt x="0" y="295"/>
                      </a:moveTo>
                      <a:lnTo>
                        <a:pt x="0" y="2"/>
                      </a:lnTo>
                      <a:lnTo>
                        <a:pt x="2" y="1"/>
                      </a:lnTo>
                      <a:lnTo>
                        <a:pt x="3" y="1"/>
                      </a:lnTo>
                      <a:lnTo>
                        <a:pt x="4" y="1"/>
                      </a:lnTo>
                      <a:lnTo>
                        <a:pt x="5" y="1"/>
                      </a:lnTo>
                      <a:lnTo>
                        <a:pt x="6" y="1"/>
                      </a:lnTo>
                      <a:lnTo>
                        <a:pt x="7" y="1"/>
                      </a:lnTo>
                      <a:lnTo>
                        <a:pt x="8" y="0"/>
                      </a:lnTo>
                      <a:lnTo>
                        <a:pt x="9" y="0"/>
                      </a:lnTo>
                      <a:lnTo>
                        <a:pt x="9" y="295"/>
                      </a:lnTo>
                      <a:lnTo>
                        <a:pt x="0" y="29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11" name="Freeform 999"/>
                <p:cNvSpPr>
                  <a:spLocks noChangeAspect="1"/>
                </p:cNvSpPr>
                <p:nvPr/>
              </p:nvSpPr>
              <p:spPr bwMode="auto">
                <a:xfrm>
                  <a:off x="3232" y="701"/>
                  <a:ext cx="3" cy="98"/>
                </a:xfrm>
                <a:custGeom>
                  <a:avLst/>
                  <a:gdLst>
                    <a:gd name="T0" fmla="*/ 0 w 9"/>
                    <a:gd name="T1" fmla="*/ 295 h 295"/>
                    <a:gd name="T2" fmla="*/ 0 w 9"/>
                    <a:gd name="T3" fmla="*/ 1 h 295"/>
                    <a:gd name="T4" fmla="*/ 1 w 9"/>
                    <a:gd name="T5" fmla="*/ 1 h 295"/>
                    <a:gd name="T6" fmla="*/ 2 w 9"/>
                    <a:gd name="T7" fmla="*/ 1 h 295"/>
                    <a:gd name="T8" fmla="*/ 3 w 9"/>
                    <a:gd name="T9" fmla="*/ 0 h 295"/>
                    <a:gd name="T10" fmla="*/ 4 w 9"/>
                    <a:gd name="T11" fmla="*/ 0 h 295"/>
                    <a:gd name="T12" fmla="*/ 5 w 9"/>
                    <a:gd name="T13" fmla="*/ 0 h 295"/>
                    <a:gd name="T14" fmla="*/ 7 w 9"/>
                    <a:gd name="T15" fmla="*/ 0 h 295"/>
                    <a:gd name="T16" fmla="*/ 8 w 9"/>
                    <a:gd name="T17" fmla="*/ 0 h 295"/>
                    <a:gd name="T18" fmla="*/ 9 w 9"/>
                    <a:gd name="T19" fmla="*/ 0 h 295"/>
                    <a:gd name="T20" fmla="*/ 9 w 9"/>
                    <a:gd name="T21" fmla="*/ 295 h 295"/>
                    <a:gd name="T22" fmla="*/ 0 w 9"/>
                    <a:gd name="T23" fmla="*/ 29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95">
                      <a:moveTo>
                        <a:pt x="0" y="295"/>
                      </a:moveTo>
                      <a:lnTo>
                        <a:pt x="0" y="1"/>
                      </a:lnTo>
                      <a:lnTo>
                        <a:pt x="1" y="1"/>
                      </a:lnTo>
                      <a:lnTo>
                        <a:pt x="2" y="1"/>
                      </a:lnTo>
                      <a:lnTo>
                        <a:pt x="3" y="0"/>
                      </a:lnTo>
                      <a:lnTo>
                        <a:pt x="4" y="0"/>
                      </a:lnTo>
                      <a:lnTo>
                        <a:pt x="5" y="0"/>
                      </a:lnTo>
                      <a:lnTo>
                        <a:pt x="7" y="0"/>
                      </a:lnTo>
                      <a:lnTo>
                        <a:pt x="8" y="0"/>
                      </a:lnTo>
                      <a:lnTo>
                        <a:pt x="9" y="0"/>
                      </a:lnTo>
                      <a:lnTo>
                        <a:pt x="9" y="295"/>
                      </a:lnTo>
                      <a:lnTo>
                        <a:pt x="0" y="29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12" name="Freeform 1000"/>
                <p:cNvSpPr>
                  <a:spLocks noChangeAspect="1"/>
                </p:cNvSpPr>
                <p:nvPr/>
              </p:nvSpPr>
              <p:spPr bwMode="auto">
                <a:xfrm>
                  <a:off x="3232" y="701"/>
                  <a:ext cx="4" cy="98"/>
                </a:xfrm>
                <a:custGeom>
                  <a:avLst/>
                  <a:gdLst>
                    <a:gd name="T0" fmla="*/ 0 w 10"/>
                    <a:gd name="T1" fmla="*/ 295 h 295"/>
                    <a:gd name="T2" fmla="*/ 0 w 10"/>
                    <a:gd name="T3" fmla="*/ 0 h 295"/>
                    <a:gd name="T4" fmla="*/ 1 w 10"/>
                    <a:gd name="T5" fmla="*/ 0 h 295"/>
                    <a:gd name="T6" fmla="*/ 3 w 10"/>
                    <a:gd name="T7" fmla="*/ 0 h 295"/>
                    <a:gd name="T8" fmla="*/ 4 w 10"/>
                    <a:gd name="T9" fmla="*/ 0 h 295"/>
                    <a:gd name="T10" fmla="*/ 5 w 10"/>
                    <a:gd name="T11" fmla="*/ 0 h 295"/>
                    <a:gd name="T12" fmla="*/ 6 w 10"/>
                    <a:gd name="T13" fmla="*/ 0 h 295"/>
                    <a:gd name="T14" fmla="*/ 7 w 10"/>
                    <a:gd name="T15" fmla="*/ 0 h 295"/>
                    <a:gd name="T16" fmla="*/ 8 w 10"/>
                    <a:gd name="T17" fmla="*/ 0 h 295"/>
                    <a:gd name="T18" fmla="*/ 10 w 10"/>
                    <a:gd name="T19" fmla="*/ 0 h 295"/>
                    <a:gd name="T20" fmla="*/ 10 w 10"/>
                    <a:gd name="T21" fmla="*/ 295 h 295"/>
                    <a:gd name="T22" fmla="*/ 0 w 10"/>
                    <a:gd name="T23" fmla="*/ 29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95">
                      <a:moveTo>
                        <a:pt x="0" y="295"/>
                      </a:moveTo>
                      <a:lnTo>
                        <a:pt x="0" y="0"/>
                      </a:lnTo>
                      <a:lnTo>
                        <a:pt x="1" y="0"/>
                      </a:lnTo>
                      <a:lnTo>
                        <a:pt x="3" y="0"/>
                      </a:lnTo>
                      <a:lnTo>
                        <a:pt x="4" y="0"/>
                      </a:lnTo>
                      <a:lnTo>
                        <a:pt x="5" y="0"/>
                      </a:lnTo>
                      <a:lnTo>
                        <a:pt x="6" y="0"/>
                      </a:lnTo>
                      <a:lnTo>
                        <a:pt x="7" y="0"/>
                      </a:lnTo>
                      <a:lnTo>
                        <a:pt x="8" y="0"/>
                      </a:lnTo>
                      <a:lnTo>
                        <a:pt x="10" y="0"/>
                      </a:lnTo>
                      <a:lnTo>
                        <a:pt x="10" y="295"/>
                      </a:lnTo>
                      <a:lnTo>
                        <a:pt x="0" y="29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13" name="Freeform 1001"/>
                <p:cNvSpPr>
                  <a:spLocks noChangeAspect="1"/>
                </p:cNvSpPr>
                <p:nvPr/>
              </p:nvSpPr>
              <p:spPr bwMode="auto">
                <a:xfrm>
                  <a:off x="3232" y="701"/>
                  <a:ext cx="3" cy="98"/>
                </a:xfrm>
                <a:custGeom>
                  <a:avLst/>
                  <a:gdLst>
                    <a:gd name="T0" fmla="*/ 0 w 9"/>
                    <a:gd name="T1" fmla="*/ 295 h 295"/>
                    <a:gd name="T2" fmla="*/ 0 w 9"/>
                    <a:gd name="T3" fmla="*/ 0 h 295"/>
                    <a:gd name="T4" fmla="*/ 1 w 9"/>
                    <a:gd name="T5" fmla="*/ 0 h 295"/>
                    <a:gd name="T6" fmla="*/ 2 w 9"/>
                    <a:gd name="T7" fmla="*/ 0 h 295"/>
                    <a:gd name="T8" fmla="*/ 3 w 9"/>
                    <a:gd name="T9" fmla="*/ 0 h 295"/>
                    <a:gd name="T10" fmla="*/ 5 w 9"/>
                    <a:gd name="T11" fmla="*/ 0 h 295"/>
                    <a:gd name="T12" fmla="*/ 6 w 9"/>
                    <a:gd name="T13" fmla="*/ 0 h 295"/>
                    <a:gd name="T14" fmla="*/ 7 w 9"/>
                    <a:gd name="T15" fmla="*/ 0 h 295"/>
                    <a:gd name="T16" fmla="*/ 8 w 9"/>
                    <a:gd name="T17" fmla="*/ 0 h 295"/>
                    <a:gd name="T18" fmla="*/ 9 w 9"/>
                    <a:gd name="T19" fmla="*/ 0 h 295"/>
                    <a:gd name="T20" fmla="*/ 9 w 9"/>
                    <a:gd name="T21" fmla="*/ 295 h 295"/>
                    <a:gd name="T22" fmla="*/ 0 w 9"/>
                    <a:gd name="T23" fmla="*/ 29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95">
                      <a:moveTo>
                        <a:pt x="0" y="295"/>
                      </a:moveTo>
                      <a:lnTo>
                        <a:pt x="0" y="0"/>
                      </a:lnTo>
                      <a:lnTo>
                        <a:pt x="1" y="0"/>
                      </a:lnTo>
                      <a:lnTo>
                        <a:pt x="2" y="0"/>
                      </a:lnTo>
                      <a:lnTo>
                        <a:pt x="3" y="0"/>
                      </a:lnTo>
                      <a:lnTo>
                        <a:pt x="5" y="0"/>
                      </a:lnTo>
                      <a:lnTo>
                        <a:pt x="6" y="0"/>
                      </a:lnTo>
                      <a:lnTo>
                        <a:pt x="7" y="0"/>
                      </a:lnTo>
                      <a:lnTo>
                        <a:pt x="8" y="0"/>
                      </a:lnTo>
                      <a:lnTo>
                        <a:pt x="9" y="0"/>
                      </a:lnTo>
                      <a:lnTo>
                        <a:pt x="9" y="295"/>
                      </a:lnTo>
                      <a:lnTo>
                        <a:pt x="0" y="29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14" name="Freeform 1002"/>
                <p:cNvSpPr>
                  <a:spLocks noChangeAspect="1"/>
                </p:cNvSpPr>
                <p:nvPr/>
              </p:nvSpPr>
              <p:spPr bwMode="auto">
                <a:xfrm>
                  <a:off x="3233" y="701"/>
                  <a:ext cx="12" cy="98"/>
                </a:xfrm>
                <a:custGeom>
                  <a:avLst/>
                  <a:gdLst>
                    <a:gd name="T0" fmla="*/ 0 w 9"/>
                    <a:gd name="T1" fmla="*/ 295 h 295"/>
                    <a:gd name="T2" fmla="*/ 0 w 9"/>
                    <a:gd name="T3" fmla="*/ 0 h 295"/>
                    <a:gd name="T4" fmla="*/ 1 w 9"/>
                    <a:gd name="T5" fmla="*/ 0 h 295"/>
                    <a:gd name="T6" fmla="*/ 1 w 9"/>
                    <a:gd name="T7" fmla="*/ 0 h 295"/>
                    <a:gd name="T8" fmla="*/ 2 w 9"/>
                    <a:gd name="T9" fmla="*/ 0 h 295"/>
                    <a:gd name="T10" fmla="*/ 2 w 9"/>
                    <a:gd name="T11" fmla="*/ 0 h 295"/>
                    <a:gd name="T12" fmla="*/ 3 w 9"/>
                    <a:gd name="T13" fmla="*/ 0 h 295"/>
                    <a:gd name="T14" fmla="*/ 3 w 9"/>
                    <a:gd name="T15" fmla="*/ 0 h 295"/>
                    <a:gd name="T16" fmla="*/ 4 w 9"/>
                    <a:gd name="T17" fmla="*/ 0 h 295"/>
                    <a:gd name="T18" fmla="*/ 4 w 9"/>
                    <a:gd name="T19" fmla="*/ 0 h 295"/>
                    <a:gd name="T20" fmla="*/ 5 w 9"/>
                    <a:gd name="T21" fmla="*/ 0 h 295"/>
                    <a:gd name="T22" fmla="*/ 5 w 9"/>
                    <a:gd name="T23" fmla="*/ 0 h 295"/>
                    <a:gd name="T24" fmla="*/ 6 w 9"/>
                    <a:gd name="T25" fmla="*/ 0 h 295"/>
                    <a:gd name="T26" fmla="*/ 7 w 9"/>
                    <a:gd name="T27" fmla="*/ 0 h 295"/>
                    <a:gd name="T28" fmla="*/ 7 w 9"/>
                    <a:gd name="T29" fmla="*/ 0 h 295"/>
                    <a:gd name="T30" fmla="*/ 8 w 9"/>
                    <a:gd name="T31" fmla="*/ 0 h 295"/>
                    <a:gd name="T32" fmla="*/ 8 w 9"/>
                    <a:gd name="T33" fmla="*/ 0 h 295"/>
                    <a:gd name="T34" fmla="*/ 9 w 9"/>
                    <a:gd name="T35" fmla="*/ 0 h 295"/>
                    <a:gd name="T36" fmla="*/ 9 w 9"/>
                    <a:gd name="T37" fmla="*/ 295 h 295"/>
                    <a:gd name="T38" fmla="*/ 0 w 9"/>
                    <a:gd name="T39" fmla="*/ 29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295">
                      <a:moveTo>
                        <a:pt x="0" y="295"/>
                      </a:moveTo>
                      <a:lnTo>
                        <a:pt x="0" y="0"/>
                      </a:lnTo>
                      <a:lnTo>
                        <a:pt x="1" y="0"/>
                      </a:lnTo>
                      <a:lnTo>
                        <a:pt x="1" y="0"/>
                      </a:lnTo>
                      <a:lnTo>
                        <a:pt x="2" y="0"/>
                      </a:lnTo>
                      <a:lnTo>
                        <a:pt x="2" y="0"/>
                      </a:lnTo>
                      <a:lnTo>
                        <a:pt x="3" y="0"/>
                      </a:lnTo>
                      <a:lnTo>
                        <a:pt x="3" y="0"/>
                      </a:lnTo>
                      <a:lnTo>
                        <a:pt x="4" y="0"/>
                      </a:lnTo>
                      <a:lnTo>
                        <a:pt x="4" y="0"/>
                      </a:lnTo>
                      <a:lnTo>
                        <a:pt x="5" y="0"/>
                      </a:lnTo>
                      <a:lnTo>
                        <a:pt x="5" y="0"/>
                      </a:lnTo>
                      <a:lnTo>
                        <a:pt x="6" y="0"/>
                      </a:lnTo>
                      <a:lnTo>
                        <a:pt x="7" y="0"/>
                      </a:lnTo>
                      <a:lnTo>
                        <a:pt x="7" y="0"/>
                      </a:lnTo>
                      <a:lnTo>
                        <a:pt x="8" y="0"/>
                      </a:lnTo>
                      <a:lnTo>
                        <a:pt x="8" y="0"/>
                      </a:lnTo>
                      <a:lnTo>
                        <a:pt x="9" y="0"/>
                      </a:lnTo>
                      <a:lnTo>
                        <a:pt x="9" y="295"/>
                      </a:lnTo>
                      <a:lnTo>
                        <a:pt x="0" y="29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15" name="Freeform 1003"/>
                <p:cNvSpPr>
                  <a:spLocks noChangeAspect="1"/>
                </p:cNvSpPr>
                <p:nvPr/>
              </p:nvSpPr>
              <p:spPr bwMode="auto">
                <a:xfrm>
                  <a:off x="3234" y="701"/>
                  <a:ext cx="12" cy="98"/>
                </a:xfrm>
                <a:custGeom>
                  <a:avLst/>
                  <a:gdLst>
                    <a:gd name="T0" fmla="*/ 0 w 9"/>
                    <a:gd name="T1" fmla="*/ 295 h 295"/>
                    <a:gd name="T2" fmla="*/ 0 w 9"/>
                    <a:gd name="T3" fmla="*/ 0 h 295"/>
                    <a:gd name="T4" fmla="*/ 0 w 9"/>
                    <a:gd name="T5" fmla="*/ 0 h 295"/>
                    <a:gd name="T6" fmla="*/ 2 w 9"/>
                    <a:gd name="T7" fmla="*/ 0 h 295"/>
                    <a:gd name="T8" fmla="*/ 3 w 9"/>
                    <a:gd name="T9" fmla="*/ 0 h 295"/>
                    <a:gd name="T10" fmla="*/ 4 w 9"/>
                    <a:gd name="T11" fmla="*/ 0 h 295"/>
                    <a:gd name="T12" fmla="*/ 5 w 9"/>
                    <a:gd name="T13" fmla="*/ 0 h 295"/>
                    <a:gd name="T14" fmla="*/ 6 w 9"/>
                    <a:gd name="T15" fmla="*/ 0 h 295"/>
                    <a:gd name="T16" fmla="*/ 7 w 9"/>
                    <a:gd name="T17" fmla="*/ 0 h 295"/>
                    <a:gd name="T18" fmla="*/ 8 w 9"/>
                    <a:gd name="T19" fmla="*/ 0 h 295"/>
                    <a:gd name="T20" fmla="*/ 9 w 9"/>
                    <a:gd name="T21" fmla="*/ 0 h 295"/>
                    <a:gd name="T22" fmla="*/ 9 w 9"/>
                    <a:gd name="T23" fmla="*/ 295 h 295"/>
                    <a:gd name="T24" fmla="*/ 0 w 9"/>
                    <a:gd name="T25" fmla="*/ 29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295">
                      <a:moveTo>
                        <a:pt x="0" y="295"/>
                      </a:moveTo>
                      <a:lnTo>
                        <a:pt x="0" y="0"/>
                      </a:lnTo>
                      <a:lnTo>
                        <a:pt x="0" y="0"/>
                      </a:lnTo>
                      <a:lnTo>
                        <a:pt x="2" y="0"/>
                      </a:lnTo>
                      <a:lnTo>
                        <a:pt x="3" y="0"/>
                      </a:lnTo>
                      <a:lnTo>
                        <a:pt x="4" y="0"/>
                      </a:lnTo>
                      <a:lnTo>
                        <a:pt x="5" y="0"/>
                      </a:lnTo>
                      <a:lnTo>
                        <a:pt x="6" y="0"/>
                      </a:lnTo>
                      <a:lnTo>
                        <a:pt x="7" y="0"/>
                      </a:lnTo>
                      <a:lnTo>
                        <a:pt x="8" y="0"/>
                      </a:lnTo>
                      <a:lnTo>
                        <a:pt x="9" y="0"/>
                      </a:lnTo>
                      <a:lnTo>
                        <a:pt x="9" y="295"/>
                      </a:lnTo>
                      <a:lnTo>
                        <a:pt x="0" y="29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16" name="Freeform 1004"/>
                <p:cNvSpPr>
                  <a:spLocks noChangeAspect="1"/>
                </p:cNvSpPr>
                <p:nvPr/>
              </p:nvSpPr>
              <p:spPr bwMode="auto">
                <a:xfrm>
                  <a:off x="3245" y="701"/>
                  <a:ext cx="3" cy="98"/>
                </a:xfrm>
                <a:custGeom>
                  <a:avLst/>
                  <a:gdLst>
                    <a:gd name="T0" fmla="*/ 0 w 9"/>
                    <a:gd name="T1" fmla="*/ 295 h 295"/>
                    <a:gd name="T2" fmla="*/ 0 w 9"/>
                    <a:gd name="T3" fmla="*/ 0 h 295"/>
                    <a:gd name="T4" fmla="*/ 1 w 9"/>
                    <a:gd name="T5" fmla="*/ 0 h 295"/>
                    <a:gd name="T6" fmla="*/ 2 w 9"/>
                    <a:gd name="T7" fmla="*/ 0 h 295"/>
                    <a:gd name="T8" fmla="*/ 3 w 9"/>
                    <a:gd name="T9" fmla="*/ 0 h 295"/>
                    <a:gd name="T10" fmla="*/ 4 w 9"/>
                    <a:gd name="T11" fmla="*/ 0 h 295"/>
                    <a:gd name="T12" fmla="*/ 5 w 9"/>
                    <a:gd name="T13" fmla="*/ 0 h 295"/>
                    <a:gd name="T14" fmla="*/ 7 w 9"/>
                    <a:gd name="T15" fmla="*/ 0 h 295"/>
                    <a:gd name="T16" fmla="*/ 8 w 9"/>
                    <a:gd name="T17" fmla="*/ 0 h 295"/>
                    <a:gd name="T18" fmla="*/ 9 w 9"/>
                    <a:gd name="T19" fmla="*/ 0 h 295"/>
                    <a:gd name="T20" fmla="*/ 9 w 9"/>
                    <a:gd name="T21" fmla="*/ 295 h 295"/>
                    <a:gd name="T22" fmla="*/ 0 w 9"/>
                    <a:gd name="T23" fmla="*/ 29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95">
                      <a:moveTo>
                        <a:pt x="0" y="295"/>
                      </a:moveTo>
                      <a:lnTo>
                        <a:pt x="0" y="0"/>
                      </a:lnTo>
                      <a:lnTo>
                        <a:pt x="1" y="0"/>
                      </a:lnTo>
                      <a:lnTo>
                        <a:pt x="2" y="0"/>
                      </a:lnTo>
                      <a:lnTo>
                        <a:pt x="3" y="0"/>
                      </a:lnTo>
                      <a:lnTo>
                        <a:pt x="4" y="0"/>
                      </a:lnTo>
                      <a:lnTo>
                        <a:pt x="5" y="0"/>
                      </a:lnTo>
                      <a:lnTo>
                        <a:pt x="7" y="0"/>
                      </a:lnTo>
                      <a:lnTo>
                        <a:pt x="8" y="0"/>
                      </a:lnTo>
                      <a:lnTo>
                        <a:pt x="9" y="0"/>
                      </a:lnTo>
                      <a:lnTo>
                        <a:pt x="9" y="295"/>
                      </a:lnTo>
                      <a:lnTo>
                        <a:pt x="0" y="29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17" name="Freeform 1005"/>
                <p:cNvSpPr>
                  <a:spLocks noChangeAspect="1"/>
                </p:cNvSpPr>
                <p:nvPr/>
              </p:nvSpPr>
              <p:spPr bwMode="auto">
                <a:xfrm>
                  <a:off x="3246" y="701"/>
                  <a:ext cx="3" cy="98"/>
                </a:xfrm>
                <a:custGeom>
                  <a:avLst/>
                  <a:gdLst>
                    <a:gd name="T0" fmla="*/ 0 w 10"/>
                    <a:gd name="T1" fmla="*/ 295 h 295"/>
                    <a:gd name="T2" fmla="*/ 0 w 10"/>
                    <a:gd name="T3" fmla="*/ 0 h 295"/>
                    <a:gd name="T4" fmla="*/ 1 w 10"/>
                    <a:gd name="T5" fmla="*/ 0 h 295"/>
                    <a:gd name="T6" fmla="*/ 3 w 10"/>
                    <a:gd name="T7" fmla="*/ 0 h 295"/>
                    <a:gd name="T8" fmla="*/ 4 w 10"/>
                    <a:gd name="T9" fmla="*/ 0 h 295"/>
                    <a:gd name="T10" fmla="*/ 5 w 10"/>
                    <a:gd name="T11" fmla="*/ 0 h 295"/>
                    <a:gd name="T12" fmla="*/ 6 w 10"/>
                    <a:gd name="T13" fmla="*/ 0 h 295"/>
                    <a:gd name="T14" fmla="*/ 8 w 10"/>
                    <a:gd name="T15" fmla="*/ 1 h 295"/>
                    <a:gd name="T16" fmla="*/ 9 w 10"/>
                    <a:gd name="T17" fmla="*/ 1 h 295"/>
                    <a:gd name="T18" fmla="*/ 10 w 10"/>
                    <a:gd name="T19" fmla="*/ 1 h 295"/>
                    <a:gd name="T20" fmla="*/ 10 w 10"/>
                    <a:gd name="T21" fmla="*/ 295 h 295"/>
                    <a:gd name="T22" fmla="*/ 0 w 10"/>
                    <a:gd name="T23" fmla="*/ 29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95">
                      <a:moveTo>
                        <a:pt x="0" y="295"/>
                      </a:moveTo>
                      <a:lnTo>
                        <a:pt x="0" y="0"/>
                      </a:lnTo>
                      <a:lnTo>
                        <a:pt x="1" y="0"/>
                      </a:lnTo>
                      <a:lnTo>
                        <a:pt x="3" y="0"/>
                      </a:lnTo>
                      <a:lnTo>
                        <a:pt x="4" y="0"/>
                      </a:lnTo>
                      <a:lnTo>
                        <a:pt x="5" y="0"/>
                      </a:lnTo>
                      <a:lnTo>
                        <a:pt x="6" y="0"/>
                      </a:lnTo>
                      <a:lnTo>
                        <a:pt x="8" y="1"/>
                      </a:lnTo>
                      <a:lnTo>
                        <a:pt x="9" y="1"/>
                      </a:lnTo>
                      <a:lnTo>
                        <a:pt x="10" y="1"/>
                      </a:lnTo>
                      <a:lnTo>
                        <a:pt x="10" y="295"/>
                      </a:lnTo>
                      <a:lnTo>
                        <a:pt x="0" y="29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18" name="Freeform 1006"/>
                <p:cNvSpPr>
                  <a:spLocks noChangeAspect="1"/>
                </p:cNvSpPr>
                <p:nvPr/>
              </p:nvSpPr>
              <p:spPr bwMode="auto">
                <a:xfrm>
                  <a:off x="3248" y="701"/>
                  <a:ext cx="3" cy="98"/>
                </a:xfrm>
                <a:custGeom>
                  <a:avLst/>
                  <a:gdLst>
                    <a:gd name="T0" fmla="*/ 0 w 9"/>
                    <a:gd name="T1" fmla="*/ 295 h 295"/>
                    <a:gd name="T2" fmla="*/ 0 w 9"/>
                    <a:gd name="T3" fmla="*/ 0 h 295"/>
                    <a:gd name="T4" fmla="*/ 1 w 9"/>
                    <a:gd name="T5" fmla="*/ 0 h 295"/>
                    <a:gd name="T6" fmla="*/ 3 w 9"/>
                    <a:gd name="T7" fmla="*/ 1 h 295"/>
                    <a:gd name="T8" fmla="*/ 4 w 9"/>
                    <a:gd name="T9" fmla="*/ 1 h 295"/>
                    <a:gd name="T10" fmla="*/ 5 w 9"/>
                    <a:gd name="T11" fmla="*/ 1 h 295"/>
                    <a:gd name="T12" fmla="*/ 6 w 9"/>
                    <a:gd name="T13" fmla="*/ 1 h 295"/>
                    <a:gd name="T14" fmla="*/ 7 w 9"/>
                    <a:gd name="T15" fmla="*/ 1 h 295"/>
                    <a:gd name="T16" fmla="*/ 8 w 9"/>
                    <a:gd name="T17" fmla="*/ 1 h 295"/>
                    <a:gd name="T18" fmla="*/ 9 w 9"/>
                    <a:gd name="T19" fmla="*/ 2 h 295"/>
                    <a:gd name="T20" fmla="*/ 9 w 9"/>
                    <a:gd name="T21" fmla="*/ 295 h 295"/>
                    <a:gd name="T22" fmla="*/ 0 w 9"/>
                    <a:gd name="T23" fmla="*/ 29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95">
                      <a:moveTo>
                        <a:pt x="0" y="295"/>
                      </a:moveTo>
                      <a:lnTo>
                        <a:pt x="0" y="0"/>
                      </a:lnTo>
                      <a:lnTo>
                        <a:pt x="1" y="0"/>
                      </a:lnTo>
                      <a:lnTo>
                        <a:pt x="3" y="1"/>
                      </a:lnTo>
                      <a:lnTo>
                        <a:pt x="4" y="1"/>
                      </a:lnTo>
                      <a:lnTo>
                        <a:pt x="5" y="1"/>
                      </a:lnTo>
                      <a:lnTo>
                        <a:pt x="6" y="1"/>
                      </a:lnTo>
                      <a:lnTo>
                        <a:pt x="7" y="1"/>
                      </a:lnTo>
                      <a:lnTo>
                        <a:pt x="8" y="1"/>
                      </a:lnTo>
                      <a:lnTo>
                        <a:pt x="9" y="2"/>
                      </a:lnTo>
                      <a:lnTo>
                        <a:pt x="9" y="295"/>
                      </a:lnTo>
                      <a:lnTo>
                        <a:pt x="0" y="29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19" name="Freeform 1007"/>
                <p:cNvSpPr>
                  <a:spLocks noChangeAspect="1"/>
                </p:cNvSpPr>
                <p:nvPr/>
              </p:nvSpPr>
              <p:spPr bwMode="auto">
                <a:xfrm>
                  <a:off x="3249" y="701"/>
                  <a:ext cx="3" cy="98"/>
                </a:xfrm>
                <a:custGeom>
                  <a:avLst/>
                  <a:gdLst>
                    <a:gd name="T0" fmla="*/ 0 w 8"/>
                    <a:gd name="T1" fmla="*/ 294 h 294"/>
                    <a:gd name="T2" fmla="*/ 0 w 8"/>
                    <a:gd name="T3" fmla="*/ 0 h 294"/>
                    <a:gd name="T4" fmla="*/ 1 w 8"/>
                    <a:gd name="T5" fmla="*/ 0 h 294"/>
                    <a:gd name="T6" fmla="*/ 2 w 8"/>
                    <a:gd name="T7" fmla="*/ 0 h 294"/>
                    <a:gd name="T8" fmla="*/ 3 w 8"/>
                    <a:gd name="T9" fmla="*/ 0 h 294"/>
                    <a:gd name="T10" fmla="*/ 4 w 8"/>
                    <a:gd name="T11" fmla="*/ 1 h 294"/>
                    <a:gd name="T12" fmla="*/ 5 w 8"/>
                    <a:gd name="T13" fmla="*/ 1 h 294"/>
                    <a:gd name="T14" fmla="*/ 6 w 8"/>
                    <a:gd name="T15" fmla="*/ 1 h 294"/>
                    <a:gd name="T16" fmla="*/ 7 w 8"/>
                    <a:gd name="T17" fmla="*/ 1 h 294"/>
                    <a:gd name="T18" fmla="*/ 8 w 8"/>
                    <a:gd name="T19" fmla="*/ 1 h 294"/>
                    <a:gd name="T20" fmla="*/ 8 w 8"/>
                    <a:gd name="T21" fmla="*/ 294 h 294"/>
                    <a:gd name="T22" fmla="*/ 0 w 8"/>
                    <a:gd name="T23" fmla="*/ 29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294">
                      <a:moveTo>
                        <a:pt x="0" y="294"/>
                      </a:moveTo>
                      <a:lnTo>
                        <a:pt x="0" y="0"/>
                      </a:lnTo>
                      <a:lnTo>
                        <a:pt x="1" y="0"/>
                      </a:lnTo>
                      <a:lnTo>
                        <a:pt x="2" y="0"/>
                      </a:lnTo>
                      <a:lnTo>
                        <a:pt x="3" y="0"/>
                      </a:lnTo>
                      <a:lnTo>
                        <a:pt x="4" y="1"/>
                      </a:lnTo>
                      <a:lnTo>
                        <a:pt x="5" y="1"/>
                      </a:lnTo>
                      <a:lnTo>
                        <a:pt x="6" y="1"/>
                      </a:lnTo>
                      <a:lnTo>
                        <a:pt x="7" y="1"/>
                      </a:lnTo>
                      <a:lnTo>
                        <a:pt x="8" y="1"/>
                      </a:lnTo>
                      <a:lnTo>
                        <a:pt x="8" y="294"/>
                      </a:lnTo>
                      <a:lnTo>
                        <a:pt x="0" y="294"/>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20" name="Freeform 1008"/>
                <p:cNvSpPr>
                  <a:spLocks noChangeAspect="1"/>
                </p:cNvSpPr>
                <p:nvPr/>
              </p:nvSpPr>
              <p:spPr bwMode="auto">
                <a:xfrm>
                  <a:off x="3251" y="701"/>
                  <a:ext cx="3" cy="98"/>
                </a:xfrm>
                <a:custGeom>
                  <a:avLst/>
                  <a:gdLst>
                    <a:gd name="T0" fmla="*/ 0 w 10"/>
                    <a:gd name="T1" fmla="*/ 293 h 293"/>
                    <a:gd name="T2" fmla="*/ 0 w 10"/>
                    <a:gd name="T3" fmla="*/ 0 h 293"/>
                    <a:gd name="T4" fmla="*/ 1 w 10"/>
                    <a:gd name="T5" fmla="*/ 0 h 293"/>
                    <a:gd name="T6" fmla="*/ 2 w 10"/>
                    <a:gd name="T7" fmla="*/ 0 h 293"/>
                    <a:gd name="T8" fmla="*/ 3 w 10"/>
                    <a:gd name="T9" fmla="*/ 0 h 293"/>
                    <a:gd name="T10" fmla="*/ 4 w 10"/>
                    <a:gd name="T11" fmla="*/ 0 h 293"/>
                    <a:gd name="T12" fmla="*/ 6 w 10"/>
                    <a:gd name="T13" fmla="*/ 1 h 293"/>
                    <a:gd name="T14" fmla="*/ 8 w 10"/>
                    <a:gd name="T15" fmla="*/ 1 h 293"/>
                    <a:gd name="T16" fmla="*/ 9 w 10"/>
                    <a:gd name="T17" fmla="*/ 1 h 293"/>
                    <a:gd name="T18" fmla="*/ 10 w 10"/>
                    <a:gd name="T19" fmla="*/ 2 h 293"/>
                    <a:gd name="T20" fmla="*/ 10 w 10"/>
                    <a:gd name="T21" fmla="*/ 293 h 293"/>
                    <a:gd name="T22" fmla="*/ 0 w 10"/>
                    <a:gd name="T23"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93">
                      <a:moveTo>
                        <a:pt x="0" y="293"/>
                      </a:moveTo>
                      <a:lnTo>
                        <a:pt x="0" y="0"/>
                      </a:lnTo>
                      <a:lnTo>
                        <a:pt x="1" y="0"/>
                      </a:lnTo>
                      <a:lnTo>
                        <a:pt x="2" y="0"/>
                      </a:lnTo>
                      <a:lnTo>
                        <a:pt x="3" y="0"/>
                      </a:lnTo>
                      <a:lnTo>
                        <a:pt x="4" y="0"/>
                      </a:lnTo>
                      <a:lnTo>
                        <a:pt x="6" y="1"/>
                      </a:lnTo>
                      <a:lnTo>
                        <a:pt x="8" y="1"/>
                      </a:lnTo>
                      <a:lnTo>
                        <a:pt x="9" y="1"/>
                      </a:lnTo>
                      <a:lnTo>
                        <a:pt x="10" y="2"/>
                      </a:lnTo>
                      <a:lnTo>
                        <a:pt x="10" y="293"/>
                      </a:lnTo>
                      <a:lnTo>
                        <a:pt x="0" y="293"/>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21" name="Freeform 1009"/>
                <p:cNvSpPr>
                  <a:spLocks noChangeAspect="1"/>
                </p:cNvSpPr>
                <p:nvPr/>
              </p:nvSpPr>
              <p:spPr bwMode="auto">
                <a:xfrm>
                  <a:off x="3252" y="701"/>
                  <a:ext cx="3" cy="98"/>
                </a:xfrm>
                <a:custGeom>
                  <a:avLst/>
                  <a:gdLst>
                    <a:gd name="T0" fmla="*/ 0 w 10"/>
                    <a:gd name="T1" fmla="*/ 293 h 293"/>
                    <a:gd name="T2" fmla="*/ 0 w 10"/>
                    <a:gd name="T3" fmla="*/ 0 h 293"/>
                    <a:gd name="T4" fmla="*/ 2 w 10"/>
                    <a:gd name="T5" fmla="*/ 1 h 293"/>
                    <a:gd name="T6" fmla="*/ 4 w 10"/>
                    <a:gd name="T7" fmla="*/ 1 h 293"/>
                    <a:gd name="T8" fmla="*/ 5 w 10"/>
                    <a:gd name="T9" fmla="*/ 1 h 293"/>
                    <a:gd name="T10" fmla="*/ 6 w 10"/>
                    <a:gd name="T11" fmla="*/ 2 h 293"/>
                    <a:gd name="T12" fmla="*/ 7 w 10"/>
                    <a:gd name="T13" fmla="*/ 2 h 293"/>
                    <a:gd name="T14" fmla="*/ 8 w 10"/>
                    <a:gd name="T15" fmla="*/ 2 h 293"/>
                    <a:gd name="T16" fmla="*/ 9 w 10"/>
                    <a:gd name="T17" fmla="*/ 2 h 293"/>
                    <a:gd name="T18" fmla="*/ 10 w 10"/>
                    <a:gd name="T19" fmla="*/ 3 h 293"/>
                    <a:gd name="T20" fmla="*/ 10 w 10"/>
                    <a:gd name="T21" fmla="*/ 293 h 293"/>
                    <a:gd name="T22" fmla="*/ 0 w 10"/>
                    <a:gd name="T23"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93">
                      <a:moveTo>
                        <a:pt x="0" y="293"/>
                      </a:moveTo>
                      <a:lnTo>
                        <a:pt x="0" y="0"/>
                      </a:lnTo>
                      <a:lnTo>
                        <a:pt x="2" y="1"/>
                      </a:lnTo>
                      <a:lnTo>
                        <a:pt x="4" y="1"/>
                      </a:lnTo>
                      <a:lnTo>
                        <a:pt x="5" y="1"/>
                      </a:lnTo>
                      <a:lnTo>
                        <a:pt x="6" y="2"/>
                      </a:lnTo>
                      <a:lnTo>
                        <a:pt x="7" y="2"/>
                      </a:lnTo>
                      <a:lnTo>
                        <a:pt x="8" y="2"/>
                      </a:lnTo>
                      <a:lnTo>
                        <a:pt x="9" y="2"/>
                      </a:lnTo>
                      <a:lnTo>
                        <a:pt x="10" y="3"/>
                      </a:lnTo>
                      <a:lnTo>
                        <a:pt x="10" y="293"/>
                      </a:lnTo>
                      <a:lnTo>
                        <a:pt x="0" y="293"/>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22" name="Freeform 1010"/>
                <p:cNvSpPr>
                  <a:spLocks noChangeAspect="1"/>
                </p:cNvSpPr>
                <p:nvPr/>
              </p:nvSpPr>
              <p:spPr bwMode="auto">
                <a:xfrm>
                  <a:off x="3254" y="702"/>
                  <a:ext cx="3" cy="97"/>
                </a:xfrm>
                <a:custGeom>
                  <a:avLst/>
                  <a:gdLst>
                    <a:gd name="T0" fmla="*/ 0 w 8"/>
                    <a:gd name="T1" fmla="*/ 291 h 291"/>
                    <a:gd name="T2" fmla="*/ 0 w 8"/>
                    <a:gd name="T3" fmla="*/ 0 h 291"/>
                    <a:gd name="T4" fmla="*/ 1 w 8"/>
                    <a:gd name="T5" fmla="*/ 0 h 291"/>
                    <a:gd name="T6" fmla="*/ 2 w 8"/>
                    <a:gd name="T7" fmla="*/ 0 h 291"/>
                    <a:gd name="T8" fmla="*/ 3 w 8"/>
                    <a:gd name="T9" fmla="*/ 0 h 291"/>
                    <a:gd name="T10" fmla="*/ 4 w 8"/>
                    <a:gd name="T11" fmla="*/ 1 h 291"/>
                    <a:gd name="T12" fmla="*/ 5 w 8"/>
                    <a:gd name="T13" fmla="*/ 1 h 291"/>
                    <a:gd name="T14" fmla="*/ 6 w 8"/>
                    <a:gd name="T15" fmla="*/ 1 h 291"/>
                    <a:gd name="T16" fmla="*/ 7 w 8"/>
                    <a:gd name="T17" fmla="*/ 2 h 291"/>
                    <a:gd name="T18" fmla="*/ 8 w 8"/>
                    <a:gd name="T19" fmla="*/ 2 h 291"/>
                    <a:gd name="T20" fmla="*/ 8 w 8"/>
                    <a:gd name="T21" fmla="*/ 291 h 291"/>
                    <a:gd name="T22" fmla="*/ 0 w 8"/>
                    <a:gd name="T23" fmla="*/ 291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291">
                      <a:moveTo>
                        <a:pt x="0" y="291"/>
                      </a:moveTo>
                      <a:lnTo>
                        <a:pt x="0" y="0"/>
                      </a:lnTo>
                      <a:lnTo>
                        <a:pt x="1" y="0"/>
                      </a:lnTo>
                      <a:lnTo>
                        <a:pt x="2" y="0"/>
                      </a:lnTo>
                      <a:lnTo>
                        <a:pt x="3" y="0"/>
                      </a:lnTo>
                      <a:lnTo>
                        <a:pt x="4" y="1"/>
                      </a:lnTo>
                      <a:lnTo>
                        <a:pt x="5" y="1"/>
                      </a:lnTo>
                      <a:lnTo>
                        <a:pt x="6" y="1"/>
                      </a:lnTo>
                      <a:lnTo>
                        <a:pt x="7" y="2"/>
                      </a:lnTo>
                      <a:lnTo>
                        <a:pt x="8" y="2"/>
                      </a:lnTo>
                      <a:lnTo>
                        <a:pt x="8" y="291"/>
                      </a:lnTo>
                      <a:lnTo>
                        <a:pt x="0" y="29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23" name="Freeform 1011"/>
                <p:cNvSpPr>
                  <a:spLocks noChangeAspect="1"/>
                </p:cNvSpPr>
                <p:nvPr/>
              </p:nvSpPr>
              <p:spPr bwMode="auto">
                <a:xfrm>
                  <a:off x="3255" y="702"/>
                  <a:ext cx="4" cy="97"/>
                </a:xfrm>
                <a:custGeom>
                  <a:avLst/>
                  <a:gdLst>
                    <a:gd name="T0" fmla="*/ 0 w 10"/>
                    <a:gd name="T1" fmla="*/ 290 h 290"/>
                    <a:gd name="T2" fmla="*/ 0 w 10"/>
                    <a:gd name="T3" fmla="*/ 0 h 290"/>
                    <a:gd name="T4" fmla="*/ 1 w 10"/>
                    <a:gd name="T5" fmla="*/ 0 h 290"/>
                    <a:gd name="T6" fmla="*/ 2 w 10"/>
                    <a:gd name="T7" fmla="*/ 0 h 290"/>
                    <a:gd name="T8" fmla="*/ 3 w 10"/>
                    <a:gd name="T9" fmla="*/ 1 h 290"/>
                    <a:gd name="T10" fmla="*/ 4 w 10"/>
                    <a:gd name="T11" fmla="*/ 1 h 290"/>
                    <a:gd name="T12" fmla="*/ 5 w 10"/>
                    <a:gd name="T13" fmla="*/ 2 h 290"/>
                    <a:gd name="T14" fmla="*/ 6 w 10"/>
                    <a:gd name="T15" fmla="*/ 2 h 290"/>
                    <a:gd name="T16" fmla="*/ 9 w 10"/>
                    <a:gd name="T17" fmla="*/ 2 h 290"/>
                    <a:gd name="T18" fmla="*/ 10 w 10"/>
                    <a:gd name="T19" fmla="*/ 3 h 290"/>
                    <a:gd name="T20" fmla="*/ 10 w 10"/>
                    <a:gd name="T21" fmla="*/ 290 h 290"/>
                    <a:gd name="T22" fmla="*/ 0 w 10"/>
                    <a:gd name="T23" fmla="*/ 29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90">
                      <a:moveTo>
                        <a:pt x="0" y="290"/>
                      </a:moveTo>
                      <a:lnTo>
                        <a:pt x="0" y="0"/>
                      </a:lnTo>
                      <a:lnTo>
                        <a:pt x="1" y="0"/>
                      </a:lnTo>
                      <a:lnTo>
                        <a:pt x="2" y="0"/>
                      </a:lnTo>
                      <a:lnTo>
                        <a:pt x="3" y="1"/>
                      </a:lnTo>
                      <a:lnTo>
                        <a:pt x="4" y="1"/>
                      </a:lnTo>
                      <a:lnTo>
                        <a:pt x="5" y="2"/>
                      </a:lnTo>
                      <a:lnTo>
                        <a:pt x="6" y="2"/>
                      </a:lnTo>
                      <a:lnTo>
                        <a:pt x="9" y="2"/>
                      </a:lnTo>
                      <a:lnTo>
                        <a:pt x="10" y="3"/>
                      </a:lnTo>
                      <a:lnTo>
                        <a:pt x="10" y="290"/>
                      </a:lnTo>
                      <a:lnTo>
                        <a:pt x="0" y="290"/>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24" name="Freeform 1012"/>
                <p:cNvSpPr>
                  <a:spLocks noChangeAspect="1"/>
                </p:cNvSpPr>
                <p:nvPr/>
              </p:nvSpPr>
              <p:spPr bwMode="auto">
                <a:xfrm>
                  <a:off x="3257" y="703"/>
                  <a:ext cx="3" cy="96"/>
                </a:xfrm>
                <a:custGeom>
                  <a:avLst/>
                  <a:gdLst>
                    <a:gd name="T0" fmla="*/ 0 w 10"/>
                    <a:gd name="T1" fmla="*/ 289 h 289"/>
                    <a:gd name="T2" fmla="*/ 0 w 10"/>
                    <a:gd name="T3" fmla="*/ 0 h 289"/>
                    <a:gd name="T4" fmla="*/ 1 w 10"/>
                    <a:gd name="T5" fmla="*/ 1 h 289"/>
                    <a:gd name="T6" fmla="*/ 2 w 10"/>
                    <a:gd name="T7" fmla="*/ 1 h 289"/>
                    <a:gd name="T8" fmla="*/ 5 w 10"/>
                    <a:gd name="T9" fmla="*/ 1 h 289"/>
                    <a:gd name="T10" fmla="*/ 6 w 10"/>
                    <a:gd name="T11" fmla="*/ 2 h 289"/>
                    <a:gd name="T12" fmla="*/ 7 w 10"/>
                    <a:gd name="T13" fmla="*/ 2 h 289"/>
                    <a:gd name="T14" fmla="*/ 8 w 10"/>
                    <a:gd name="T15" fmla="*/ 3 h 289"/>
                    <a:gd name="T16" fmla="*/ 9 w 10"/>
                    <a:gd name="T17" fmla="*/ 3 h 289"/>
                    <a:gd name="T18" fmla="*/ 10 w 10"/>
                    <a:gd name="T19" fmla="*/ 4 h 289"/>
                    <a:gd name="T20" fmla="*/ 10 w 10"/>
                    <a:gd name="T21" fmla="*/ 289 h 289"/>
                    <a:gd name="T22" fmla="*/ 0 w 10"/>
                    <a:gd name="T23"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89">
                      <a:moveTo>
                        <a:pt x="0" y="289"/>
                      </a:moveTo>
                      <a:lnTo>
                        <a:pt x="0" y="0"/>
                      </a:lnTo>
                      <a:lnTo>
                        <a:pt x="1" y="1"/>
                      </a:lnTo>
                      <a:lnTo>
                        <a:pt x="2" y="1"/>
                      </a:lnTo>
                      <a:lnTo>
                        <a:pt x="5" y="1"/>
                      </a:lnTo>
                      <a:lnTo>
                        <a:pt x="6" y="2"/>
                      </a:lnTo>
                      <a:lnTo>
                        <a:pt x="7" y="2"/>
                      </a:lnTo>
                      <a:lnTo>
                        <a:pt x="8" y="3"/>
                      </a:lnTo>
                      <a:lnTo>
                        <a:pt x="9" y="3"/>
                      </a:lnTo>
                      <a:lnTo>
                        <a:pt x="10" y="4"/>
                      </a:lnTo>
                      <a:lnTo>
                        <a:pt x="10" y="289"/>
                      </a:lnTo>
                      <a:lnTo>
                        <a:pt x="0" y="289"/>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25" name="Freeform 1013"/>
                <p:cNvSpPr>
                  <a:spLocks noChangeAspect="1"/>
                </p:cNvSpPr>
                <p:nvPr/>
              </p:nvSpPr>
              <p:spPr bwMode="auto">
                <a:xfrm>
                  <a:off x="3259" y="703"/>
                  <a:ext cx="2" cy="96"/>
                </a:xfrm>
                <a:custGeom>
                  <a:avLst/>
                  <a:gdLst>
                    <a:gd name="T0" fmla="*/ 0 w 8"/>
                    <a:gd name="T1" fmla="*/ 287 h 287"/>
                    <a:gd name="T2" fmla="*/ 0 w 8"/>
                    <a:gd name="T3" fmla="*/ 0 h 287"/>
                    <a:gd name="T4" fmla="*/ 1 w 8"/>
                    <a:gd name="T5" fmla="*/ 0 h 287"/>
                    <a:gd name="T6" fmla="*/ 2 w 8"/>
                    <a:gd name="T7" fmla="*/ 1 h 287"/>
                    <a:gd name="T8" fmla="*/ 3 w 8"/>
                    <a:gd name="T9" fmla="*/ 1 h 287"/>
                    <a:gd name="T10" fmla="*/ 4 w 8"/>
                    <a:gd name="T11" fmla="*/ 2 h 287"/>
                    <a:gd name="T12" fmla="*/ 5 w 8"/>
                    <a:gd name="T13" fmla="*/ 2 h 287"/>
                    <a:gd name="T14" fmla="*/ 6 w 8"/>
                    <a:gd name="T15" fmla="*/ 4 h 287"/>
                    <a:gd name="T16" fmla="*/ 7 w 8"/>
                    <a:gd name="T17" fmla="*/ 4 h 287"/>
                    <a:gd name="T18" fmla="*/ 8 w 8"/>
                    <a:gd name="T19" fmla="*/ 5 h 287"/>
                    <a:gd name="T20" fmla="*/ 8 w 8"/>
                    <a:gd name="T21" fmla="*/ 287 h 287"/>
                    <a:gd name="T22" fmla="*/ 0 w 8"/>
                    <a:gd name="T23"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287">
                      <a:moveTo>
                        <a:pt x="0" y="287"/>
                      </a:moveTo>
                      <a:lnTo>
                        <a:pt x="0" y="0"/>
                      </a:lnTo>
                      <a:lnTo>
                        <a:pt x="1" y="0"/>
                      </a:lnTo>
                      <a:lnTo>
                        <a:pt x="2" y="1"/>
                      </a:lnTo>
                      <a:lnTo>
                        <a:pt x="3" y="1"/>
                      </a:lnTo>
                      <a:lnTo>
                        <a:pt x="4" y="2"/>
                      </a:lnTo>
                      <a:lnTo>
                        <a:pt x="5" y="2"/>
                      </a:lnTo>
                      <a:lnTo>
                        <a:pt x="6" y="4"/>
                      </a:lnTo>
                      <a:lnTo>
                        <a:pt x="7" y="4"/>
                      </a:lnTo>
                      <a:lnTo>
                        <a:pt x="8" y="5"/>
                      </a:lnTo>
                      <a:lnTo>
                        <a:pt x="8" y="287"/>
                      </a:lnTo>
                      <a:lnTo>
                        <a:pt x="0" y="287"/>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26" name="Freeform 1014"/>
                <p:cNvSpPr>
                  <a:spLocks noChangeAspect="1"/>
                </p:cNvSpPr>
                <p:nvPr/>
              </p:nvSpPr>
              <p:spPr bwMode="auto">
                <a:xfrm>
                  <a:off x="3260" y="704"/>
                  <a:ext cx="3" cy="95"/>
                </a:xfrm>
                <a:custGeom>
                  <a:avLst/>
                  <a:gdLst>
                    <a:gd name="T0" fmla="*/ 0 w 9"/>
                    <a:gd name="T1" fmla="*/ 285 h 285"/>
                    <a:gd name="T2" fmla="*/ 0 w 9"/>
                    <a:gd name="T3" fmla="*/ 0 h 285"/>
                    <a:gd name="T4" fmla="*/ 1 w 9"/>
                    <a:gd name="T5" fmla="*/ 0 h 285"/>
                    <a:gd name="T6" fmla="*/ 2 w 9"/>
                    <a:gd name="T7" fmla="*/ 2 h 285"/>
                    <a:gd name="T8" fmla="*/ 3 w 9"/>
                    <a:gd name="T9" fmla="*/ 2 h 285"/>
                    <a:gd name="T10" fmla="*/ 4 w 9"/>
                    <a:gd name="T11" fmla="*/ 3 h 285"/>
                    <a:gd name="T12" fmla="*/ 5 w 9"/>
                    <a:gd name="T13" fmla="*/ 3 h 285"/>
                    <a:gd name="T14" fmla="*/ 6 w 9"/>
                    <a:gd name="T15" fmla="*/ 4 h 285"/>
                    <a:gd name="T16" fmla="*/ 8 w 9"/>
                    <a:gd name="T17" fmla="*/ 4 h 285"/>
                    <a:gd name="T18" fmla="*/ 9 w 9"/>
                    <a:gd name="T19" fmla="*/ 5 h 285"/>
                    <a:gd name="T20" fmla="*/ 9 w 9"/>
                    <a:gd name="T21" fmla="*/ 285 h 285"/>
                    <a:gd name="T22" fmla="*/ 0 w 9"/>
                    <a:gd name="T23"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85">
                      <a:moveTo>
                        <a:pt x="0" y="285"/>
                      </a:moveTo>
                      <a:lnTo>
                        <a:pt x="0" y="0"/>
                      </a:lnTo>
                      <a:lnTo>
                        <a:pt x="1" y="0"/>
                      </a:lnTo>
                      <a:lnTo>
                        <a:pt x="2" y="2"/>
                      </a:lnTo>
                      <a:lnTo>
                        <a:pt x="3" y="2"/>
                      </a:lnTo>
                      <a:lnTo>
                        <a:pt x="4" y="3"/>
                      </a:lnTo>
                      <a:lnTo>
                        <a:pt x="5" y="3"/>
                      </a:lnTo>
                      <a:lnTo>
                        <a:pt x="6" y="4"/>
                      </a:lnTo>
                      <a:lnTo>
                        <a:pt x="8" y="4"/>
                      </a:lnTo>
                      <a:lnTo>
                        <a:pt x="9" y="5"/>
                      </a:lnTo>
                      <a:lnTo>
                        <a:pt x="9" y="285"/>
                      </a:lnTo>
                      <a:lnTo>
                        <a:pt x="0" y="28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27" name="Freeform 1015"/>
                <p:cNvSpPr>
                  <a:spLocks noChangeAspect="1"/>
                </p:cNvSpPr>
                <p:nvPr/>
              </p:nvSpPr>
              <p:spPr bwMode="auto">
                <a:xfrm>
                  <a:off x="3261" y="705"/>
                  <a:ext cx="4" cy="94"/>
                </a:xfrm>
                <a:custGeom>
                  <a:avLst/>
                  <a:gdLst>
                    <a:gd name="T0" fmla="*/ 0 w 10"/>
                    <a:gd name="T1" fmla="*/ 282 h 282"/>
                    <a:gd name="T2" fmla="*/ 0 w 10"/>
                    <a:gd name="T3" fmla="*/ 0 h 282"/>
                    <a:gd name="T4" fmla="*/ 1 w 10"/>
                    <a:gd name="T5" fmla="*/ 0 h 282"/>
                    <a:gd name="T6" fmla="*/ 2 w 10"/>
                    <a:gd name="T7" fmla="*/ 1 h 282"/>
                    <a:gd name="T8" fmla="*/ 4 w 10"/>
                    <a:gd name="T9" fmla="*/ 1 h 282"/>
                    <a:gd name="T10" fmla="*/ 5 w 10"/>
                    <a:gd name="T11" fmla="*/ 2 h 282"/>
                    <a:gd name="T12" fmla="*/ 7 w 10"/>
                    <a:gd name="T13" fmla="*/ 3 h 282"/>
                    <a:gd name="T14" fmla="*/ 8 w 10"/>
                    <a:gd name="T15" fmla="*/ 3 h 282"/>
                    <a:gd name="T16" fmla="*/ 9 w 10"/>
                    <a:gd name="T17" fmla="*/ 4 h 282"/>
                    <a:gd name="T18" fmla="*/ 10 w 10"/>
                    <a:gd name="T19" fmla="*/ 5 h 282"/>
                    <a:gd name="T20" fmla="*/ 10 w 10"/>
                    <a:gd name="T21" fmla="*/ 282 h 282"/>
                    <a:gd name="T22" fmla="*/ 0 w 10"/>
                    <a:gd name="T23" fmla="*/ 28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82">
                      <a:moveTo>
                        <a:pt x="0" y="282"/>
                      </a:moveTo>
                      <a:lnTo>
                        <a:pt x="0" y="0"/>
                      </a:lnTo>
                      <a:lnTo>
                        <a:pt x="1" y="0"/>
                      </a:lnTo>
                      <a:lnTo>
                        <a:pt x="2" y="1"/>
                      </a:lnTo>
                      <a:lnTo>
                        <a:pt x="4" y="1"/>
                      </a:lnTo>
                      <a:lnTo>
                        <a:pt x="5" y="2"/>
                      </a:lnTo>
                      <a:lnTo>
                        <a:pt x="7" y="3"/>
                      </a:lnTo>
                      <a:lnTo>
                        <a:pt x="8" y="3"/>
                      </a:lnTo>
                      <a:lnTo>
                        <a:pt x="9" y="4"/>
                      </a:lnTo>
                      <a:lnTo>
                        <a:pt x="10" y="5"/>
                      </a:lnTo>
                      <a:lnTo>
                        <a:pt x="10" y="282"/>
                      </a:lnTo>
                      <a:lnTo>
                        <a:pt x="0" y="282"/>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28" name="Freeform 1016"/>
                <p:cNvSpPr>
                  <a:spLocks noChangeAspect="1"/>
                </p:cNvSpPr>
                <p:nvPr/>
              </p:nvSpPr>
              <p:spPr bwMode="auto">
                <a:xfrm>
                  <a:off x="3261" y="706"/>
                  <a:ext cx="3" cy="93"/>
                </a:xfrm>
                <a:custGeom>
                  <a:avLst/>
                  <a:gdLst>
                    <a:gd name="T0" fmla="*/ 0 w 9"/>
                    <a:gd name="T1" fmla="*/ 280 h 280"/>
                    <a:gd name="T2" fmla="*/ 0 w 9"/>
                    <a:gd name="T3" fmla="*/ 0 h 280"/>
                    <a:gd name="T4" fmla="*/ 2 w 9"/>
                    <a:gd name="T5" fmla="*/ 1 h 280"/>
                    <a:gd name="T6" fmla="*/ 3 w 9"/>
                    <a:gd name="T7" fmla="*/ 1 h 280"/>
                    <a:gd name="T8" fmla="*/ 4 w 9"/>
                    <a:gd name="T9" fmla="*/ 2 h 280"/>
                    <a:gd name="T10" fmla="*/ 5 w 9"/>
                    <a:gd name="T11" fmla="*/ 3 h 280"/>
                    <a:gd name="T12" fmla="*/ 6 w 9"/>
                    <a:gd name="T13" fmla="*/ 3 h 280"/>
                    <a:gd name="T14" fmla="*/ 7 w 9"/>
                    <a:gd name="T15" fmla="*/ 4 h 280"/>
                    <a:gd name="T16" fmla="*/ 8 w 9"/>
                    <a:gd name="T17" fmla="*/ 5 h 280"/>
                    <a:gd name="T18" fmla="*/ 9 w 9"/>
                    <a:gd name="T19" fmla="*/ 5 h 280"/>
                    <a:gd name="T20" fmla="*/ 9 w 9"/>
                    <a:gd name="T21" fmla="*/ 280 h 280"/>
                    <a:gd name="T22" fmla="*/ 0 w 9"/>
                    <a:gd name="T23"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80">
                      <a:moveTo>
                        <a:pt x="0" y="280"/>
                      </a:moveTo>
                      <a:lnTo>
                        <a:pt x="0" y="0"/>
                      </a:lnTo>
                      <a:lnTo>
                        <a:pt x="2" y="1"/>
                      </a:lnTo>
                      <a:lnTo>
                        <a:pt x="3" y="1"/>
                      </a:lnTo>
                      <a:lnTo>
                        <a:pt x="4" y="2"/>
                      </a:lnTo>
                      <a:lnTo>
                        <a:pt x="5" y="3"/>
                      </a:lnTo>
                      <a:lnTo>
                        <a:pt x="6" y="3"/>
                      </a:lnTo>
                      <a:lnTo>
                        <a:pt x="7" y="4"/>
                      </a:lnTo>
                      <a:lnTo>
                        <a:pt x="8" y="5"/>
                      </a:lnTo>
                      <a:lnTo>
                        <a:pt x="9" y="5"/>
                      </a:lnTo>
                      <a:lnTo>
                        <a:pt x="9" y="280"/>
                      </a:lnTo>
                      <a:lnTo>
                        <a:pt x="0" y="280"/>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29" name="Freeform 1017"/>
                <p:cNvSpPr>
                  <a:spLocks noChangeAspect="1"/>
                </p:cNvSpPr>
                <p:nvPr/>
              </p:nvSpPr>
              <p:spPr bwMode="auto">
                <a:xfrm>
                  <a:off x="3261" y="707"/>
                  <a:ext cx="3" cy="92"/>
                </a:xfrm>
                <a:custGeom>
                  <a:avLst/>
                  <a:gdLst>
                    <a:gd name="T0" fmla="*/ 0 w 9"/>
                    <a:gd name="T1" fmla="*/ 277 h 277"/>
                    <a:gd name="T2" fmla="*/ 0 w 9"/>
                    <a:gd name="T3" fmla="*/ 0 h 277"/>
                    <a:gd name="T4" fmla="*/ 1 w 9"/>
                    <a:gd name="T5" fmla="*/ 0 h 277"/>
                    <a:gd name="T6" fmla="*/ 2 w 9"/>
                    <a:gd name="T7" fmla="*/ 1 h 277"/>
                    <a:gd name="T8" fmla="*/ 3 w 9"/>
                    <a:gd name="T9" fmla="*/ 2 h 277"/>
                    <a:gd name="T10" fmla="*/ 4 w 9"/>
                    <a:gd name="T11" fmla="*/ 2 h 277"/>
                    <a:gd name="T12" fmla="*/ 5 w 9"/>
                    <a:gd name="T13" fmla="*/ 3 h 277"/>
                    <a:gd name="T14" fmla="*/ 6 w 9"/>
                    <a:gd name="T15" fmla="*/ 4 h 277"/>
                    <a:gd name="T16" fmla="*/ 8 w 9"/>
                    <a:gd name="T17" fmla="*/ 5 h 277"/>
                    <a:gd name="T18" fmla="*/ 9 w 9"/>
                    <a:gd name="T19" fmla="*/ 6 h 277"/>
                    <a:gd name="T20" fmla="*/ 9 w 9"/>
                    <a:gd name="T21" fmla="*/ 277 h 277"/>
                    <a:gd name="T22" fmla="*/ 0 w 9"/>
                    <a:gd name="T23" fmla="*/ 277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77">
                      <a:moveTo>
                        <a:pt x="0" y="277"/>
                      </a:moveTo>
                      <a:lnTo>
                        <a:pt x="0" y="0"/>
                      </a:lnTo>
                      <a:lnTo>
                        <a:pt x="1" y="0"/>
                      </a:lnTo>
                      <a:lnTo>
                        <a:pt x="2" y="1"/>
                      </a:lnTo>
                      <a:lnTo>
                        <a:pt x="3" y="2"/>
                      </a:lnTo>
                      <a:lnTo>
                        <a:pt x="4" y="2"/>
                      </a:lnTo>
                      <a:lnTo>
                        <a:pt x="5" y="3"/>
                      </a:lnTo>
                      <a:lnTo>
                        <a:pt x="6" y="4"/>
                      </a:lnTo>
                      <a:lnTo>
                        <a:pt x="8" y="5"/>
                      </a:lnTo>
                      <a:lnTo>
                        <a:pt x="9" y="6"/>
                      </a:lnTo>
                      <a:lnTo>
                        <a:pt x="9" y="277"/>
                      </a:lnTo>
                      <a:lnTo>
                        <a:pt x="0" y="277"/>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30" name="Freeform 1018"/>
                <p:cNvSpPr>
                  <a:spLocks noChangeAspect="1"/>
                </p:cNvSpPr>
                <p:nvPr/>
              </p:nvSpPr>
              <p:spPr bwMode="auto">
                <a:xfrm>
                  <a:off x="3261" y="707"/>
                  <a:ext cx="3" cy="92"/>
                </a:xfrm>
                <a:custGeom>
                  <a:avLst/>
                  <a:gdLst>
                    <a:gd name="T0" fmla="*/ 0 w 10"/>
                    <a:gd name="T1" fmla="*/ 275 h 275"/>
                    <a:gd name="T2" fmla="*/ 0 w 10"/>
                    <a:gd name="T3" fmla="*/ 0 h 275"/>
                    <a:gd name="T4" fmla="*/ 1 w 10"/>
                    <a:gd name="T5" fmla="*/ 1 h 275"/>
                    <a:gd name="T6" fmla="*/ 2 w 10"/>
                    <a:gd name="T7" fmla="*/ 2 h 275"/>
                    <a:gd name="T8" fmla="*/ 4 w 10"/>
                    <a:gd name="T9" fmla="*/ 3 h 275"/>
                    <a:gd name="T10" fmla="*/ 5 w 10"/>
                    <a:gd name="T11" fmla="*/ 4 h 275"/>
                    <a:gd name="T12" fmla="*/ 6 w 10"/>
                    <a:gd name="T13" fmla="*/ 4 h 275"/>
                    <a:gd name="T14" fmla="*/ 7 w 10"/>
                    <a:gd name="T15" fmla="*/ 5 h 275"/>
                    <a:gd name="T16" fmla="*/ 9 w 10"/>
                    <a:gd name="T17" fmla="*/ 6 h 275"/>
                    <a:gd name="T18" fmla="*/ 10 w 10"/>
                    <a:gd name="T19" fmla="*/ 7 h 275"/>
                    <a:gd name="T20" fmla="*/ 10 w 10"/>
                    <a:gd name="T21" fmla="*/ 275 h 275"/>
                    <a:gd name="T22" fmla="*/ 0 w 10"/>
                    <a:gd name="T23"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75">
                      <a:moveTo>
                        <a:pt x="0" y="275"/>
                      </a:moveTo>
                      <a:lnTo>
                        <a:pt x="0" y="0"/>
                      </a:lnTo>
                      <a:lnTo>
                        <a:pt x="1" y="1"/>
                      </a:lnTo>
                      <a:lnTo>
                        <a:pt x="2" y="2"/>
                      </a:lnTo>
                      <a:lnTo>
                        <a:pt x="4" y="3"/>
                      </a:lnTo>
                      <a:lnTo>
                        <a:pt x="5" y="4"/>
                      </a:lnTo>
                      <a:lnTo>
                        <a:pt x="6" y="4"/>
                      </a:lnTo>
                      <a:lnTo>
                        <a:pt x="7" y="5"/>
                      </a:lnTo>
                      <a:lnTo>
                        <a:pt x="9" y="6"/>
                      </a:lnTo>
                      <a:lnTo>
                        <a:pt x="10" y="7"/>
                      </a:lnTo>
                      <a:lnTo>
                        <a:pt x="10" y="275"/>
                      </a:lnTo>
                      <a:lnTo>
                        <a:pt x="0" y="27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31" name="Freeform 1019"/>
                <p:cNvSpPr>
                  <a:spLocks noChangeAspect="1"/>
                </p:cNvSpPr>
                <p:nvPr/>
              </p:nvSpPr>
              <p:spPr bwMode="auto">
                <a:xfrm>
                  <a:off x="3261" y="708"/>
                  <a:ext cx="3" cy="91"/>
                </a:xfrm>
                <a:custGeom>
                  <a:avLst/>
                  <a:gdLst>
                    <a:gd name="T0" fmla="*/ 0 w 9"/>
                    <a:gd name="T1" fmla="*/ 271 h 271"/>
                    <a:gd name="T2" fmla="*/ 0 w 9"/>
                    <a:gd name="T3" fmla="*/ 0 h 271"/>
                    <a:gd name="T4" fmla="*/ 1 w 9"/>
                    <a:gd name="T5" fmla="*/ 0 h 271"/>
                    <a:gd name="T6" fmla="*/ 2 w 9"/>
                    <a:gd name="T7" fmla="*/ 1 h 271"/>
                    <a:gd name="T8" fmla="*/ 4 w 9"/>
                    <a:gd name="T9" fmla="*/ 2 h 271"/>
                    <a:gd name="T10" fmla="*/ 5 w 9"/>
                    <a:gd name="T11" fmla="*/ 3 h 271"/>
                    <a:gd name="T12" fmla="*/ 6 w 9"/>
                    <a:gd name="T13" fmla="*/ 5 h 271"/>
                    <a:gd name="T14" fmla="*/ 7 w 9"/>
                    <a:gd name="T15" fmla="*/ 6 h 271"/>
                    <a:gd name="T16" fmla="*/ 8 w 9"/>
                    <a:gd name="T17" fmla="*/ 7 h 271"/>
                    <a:gd name="T18" fmla="*/ 9 w 9"/>
                    <a:gd name="T19" fmla="*/ 8 h 271"/>
                    <a:gd name="T20" fmla="*/ 9 w 9"/>
                    <a:gd name="T21" fmla="*/ 271 h 271"/>
                    <a:gd name="T22" fmla="*/ 0 w 9"/>
                    <a:gd name="T23" fmla="*/ 27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71">
                      <a:moveTo>
                        <a:pt x="0" y="271"/>
                      </a:moveTo>
                      <a:lnTo>
                        <a:pt x="0" y="0"/>
                      </a:lnTo>
                      <a:lnTo>
                        <a:pt x="1" y="0"/>
                      </a:lnTo>
                      <a:lnTo>
                        <a:pt x="2" y="1"/>
                      </a:lnTo>
                      <a:lnTo>
                        <a:pt x="4" y="2"/>
                      </a:lnTo>
                      <a:lnTo>
                        <a:pt x="5" y="3"/>
                      </a:lnTo>
                      <a:lnTo>
                        <a:pt x="6" y="5"/>
                      </a:lnTo>
                      <a:lnTo>
                        <a:pt x="7" y="6"/>
                      </a:lnTo>
                      <a:lnTo>
                        <a:pt x="8" y="7"/>
                      </a:lnTo>
                      <a:lnTo>
                        <a:pt x="9" y="8"/>
                      </a:lnTo>
                      <a:lnTo>
                        <a:pt x="9" y="271"/>
                      </a:lnTo>
                      <a:lnTo>
                        <a:pt x="0" y="27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32" name="Freeform 1020"/>
                <p:cNvSpPr>
                  <a:spLocks noChangeAspect="1"/>
                </p:cNvSpPr>
                <p:nvPr/>
              </p:nvSpPr>
              <p:spPr bwMode="auto">
                <a:xfrm>
                  <a:off x="3261" y="710"/>
                  <a:ext cx="3" cy="93"/>
                </a:xfrm>
                <a:custGeom>
                  <a:avLst/>
                  <a:gdLst>
                    <a:gd name="T0" fmla="*/ 0 w 9"/>
                    <a:gd name="T1" fmla="*/ 268 h 268"/>
                    <a:gd name="T2" fmla="*/ 0 w 9"/>
                    <a:gd name="T3" fmla="*/ 0 h 268"/>
                    <a:gd name="T4" fmla="*/ 1 w 9"/>
                    <a:gd name="T5" fmla="*/ 2 h 268"/>
                    <a:gd name="T6" fmla="*/ 2 w 9"/>
                    <a:gd name="T7" fmla="*/ 3 h 268"/>
                    <a:gd name="T8" fmla="*/ 3 w 9"/>
                    <a:gd name="T9" fmla="*/ 4 h 268"/>
                    <a:gd name="T10" fmla="*/ 4 w 9"/>
                    <a:gd name="T11" fmla="*/ 5 h 268"/>
                    <a:gd name="T12" fmla="*/ 5 w 9"/>
                    <a:gd name="T13" fmla="*/ 6 h 268"/>
                    <a:gd name="T14" fmla="*/ 6 w 9"/>
                    <a:gd name="T15" fmla="*/ 7 h 268"/>
                    <a:gd name="T16" fmla="*/ 8 w 9"/>
                    <a:gd name="T17" fmla="*/ 8 h 268"/>
                    <a:gd name="T18" fmla="*/ 9 w 9"/>
                    <a:gd name="T19" fmla="*/ 9 h 268"/>
                    <a:gd name="T20" fmla="*/ 9 w 9"/>
                    <a:gd name="T21" fmla="*/ 268 h 268"/>
                    <a:gd name="T22" fmla="*/ 0 w 9"/>
                    <a:gd name="T23" fmla="*/ 268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68">
                      <a:moveTo>
                        <a:pt x="0" y="268"/>
                      </a:moveTo>
                      <a:lnTo>
                        <a:pt x="0" y="0"/>
                      </a:lnTo>
                      <a:lnTo>
                        <a:pt x="1" y="2"/>
                      </a:lnTo>
                      <a:lnTo>
                        <a:pt x="2" y="3"/>
                      </a:lnTo>
                      <a:lnTo>
                        <a:pt x="3" y="4"/>
                      </a:lnTo>
                      <a:lnTo>
                        <a:pt x="4" y="5"/>
                      </a:lnTo>
                      <a:lnTo>
                        <a:pt x="5" y="6"/>
                      </a:lnTo>
                      <a:lnTo>
                        <a:pt x="6" y="7"/>
                      </a:lnTo>
                      <a:lnTo>
                        <a:pt x="8" y="8"/>
                      </a:lnTo>
                      <a:lnTo>
                        <a:pt x="9" y="9"/>
                      </a:lnTo>
                      <a:lnTo>
                        <a:pt x="9" y="268"/>
                      </a:lnTo>
                      <a:lnTo>
                        <a:pt x="0" y="268"/>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33" name="Freeform 1021"/>
                <p:cNvSpPr>
                  <a:spLocks noChangeAspect="1"/>
                </p:cNvSpPr>
                <p:nvPr/>
              </p:nvSpPr>
              <p:spPr bwMode="auto">
                <a:xfrm>
                  <a:off x="3262" y="711"/>
                  <a:ext cx="12" cy="92"/>
                </a:xfrm>
                <a:custGeom>
                  <a:avLst/>
                  <a:gdLst>
                    <a:gd name="T0" fmla="*/ 0 w 9"/>
                    <a:gd name="T1" fmla="*/ 263 h 263"/>
                    <a:gd name="T2" fmla="*/ 0 w 9"/>
                    <a:gd name="T3" fmla="*/ 0 h 263"/>
                    <a:gd name="T4" fmla="*/ 1 w 9"/>
                    <a:gd name="T5" fmla="*/ 1 h 263"/>
                    <a:gd name="T6" fmla="*/ 2 w 9"/>
                    <a:gd name="T7" fmla="*/ 2 h 263"/>
                    <a:gd name="T8" fmla="*/ 4 w 9"/>
                    <a:gd name="T9" fmla="*/ 3 h 263"/>
                    <a:gd name="T10" fmla="*/ 5 w 9"/>
                    <a:gd name="T11" fmla="*/ 4 h 263"/>
                    <a:gd name="T12" fmla="*/ 6 w 9"/>
                    <a:gd name="T13" fmla="*/ 6 h 263"/>
                    <a:gd name="T14" fmla="*/ 7 w 9"/>
                    <a:gd name="T15" fmla="*/ 7 h 263"/>
                    <a:gd name="T16" fmla="*/ 8 w 9"/>
                    <a:gd name="T17" fmla="*/ 8 h 263"/>
                    <a:gd name="T18" fmla="*/ 9 w 9"/>
                    <a:gd name="T19" fmla="*/ 9 h 263"/>
                    <a:gd name="T20" fmla="*/ 9 w 9"/>
                    <a:gd name="T21" fmla="*/ 263 h 263"/>
                    <a:gd name="T22" fmla="*/ 0 w 9"/>
                    <a:gd name="T23" fmla="*/ 26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63">
                      <a:moveTo>
                        <a:pt x="0" y="263"/>
                      </a:moveTo>
                      <a:lnTo>
                        <a:pt x="0" y="0"/>
                      </a:lnTo>
                      <a:lnTo>
                        <a:pt x="1" y="1"/>
                      </a:lnTo>
                      <a:lnTo>
                        <a:pt x="2" y="2"/>
                      </a:lnTo>
                      <a:lnTo>
                        <a:pt x="4" y="3"/>
                      </a:lnTo>
                      <a:lnTo>
                        <a:pt x="5" y="4"/>
                      </a:lnTo>
                      <a:lnTo>
                        <a:pt x="6" y="6"/>
                      </a:lnTo>
                      <a:lnTo>
                        <a:pt x="7" y="7"/>
                      </a:lnTo>
                      <a:lnTo>
                        <a:pt x="8" y="8"/>
                      </a:lnTo>
                      <a:lnTo>
                        <a:pt x="9" y="9"/>
                      </a:lnTo>
                      <a:lnTo>
                        <a:pt x="9" y="263"/>
                      </a:lnTo>
                      <a:lnTo>
                        <a:pt x="0" y="263"/>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34" name="Freeform 1022"/>
                <p:cNvSpPr>
                  <a:spLocks noChangeAspect="1"/>
                </p:cNvSpPr>
                <p:nvPr/>
              </p:nvSpPr>
              <p:spPr bwMode="auto">
                <a:xfrm>
                  <a:off x="3263" y="713"/>
                  <a:ext cx="12" cy="90"/>
                </a:xfrm>
                <a:custGeom>
                  <a:avLst/>
                  <a:gdLst>
                    <a:gd name="T0" fmla="*/ 0 w 9"/>
                    <a:gd name="T1" fmla="*/ 259 h 259"/>
                    <a:gd name="T2" fmla="*/ 0 w 9"/>
                    <a:gd name="T3" fmla="*/ 0 h 259"/>
                    <a:gd name="T4" fmla="*/ 1 w 9"/>
                    <a:gd name="T5" fmla="*/ 1 h 259"/>
                    <a:gd name="T6" fmla="*/ 2 w 9"/>
                    <a:gd name="T7" fmla="*/ 3 h 259"/>
                    <a:gd name="T8" fmla="*/ 3 w 9"/>
                    <a:gd name="T9" fmla="*/ 4 h 259"/>
                    <a:gd name="T10" fmla="*/ 4 w 9"/>
                    <a:gd name="T11" fmla="*/ 5 h 259"/>
                    <a:gd name="T12" fmla="*/ 5 w 9"/>
                    <a:gd name="T13" fmla="*/ 7 h 259"/>
                    <a:gd name="T14" fmla="*/ 7 w 9"/>
                    <a:gd name="T15" fmla="*/ 9 h 259"/>
                    <a:gd name="T16" fmla="*/ 8 w 9"/>
                    <a:gd name="T17" fmla="*/ 10 h 259"/>
                    <a:gd name="T18" fmla="*/ 9 w 9"/>
                    <a:gd name="T19" fmla="*/ 12 h 259"/>
                    <a:gd name="T20" fmla="*/ 9 w 9"/>
                    <a:gd name="T21" fmla="*/ 259 h 259"/>
                    <a:gd name="T22" fmla="*/ 0 w 9"/>
                    <a:gd name="T23" fmla="*/ 259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59">
                      <a:moveTo>
                        <a:pt x="0" y="259"/>
                      </a:moveTo>
                      <a:lnTo>
                        <a:pt x="0" y="0"/>
                      </a:lnTo>
                      <a:lnTo>
                        <a:pt x="1" y="1"/>
                      </a:lnTo>
                      <a:lnTo>
                        <a:pt x="2" y="3"/>
                      </a:lnTo>
                      <a:lnTo>
                        <a:pt x="3" y="4"/>
                      </a:lnTo>
                      <a:lnTo>
                        <a:pt x="4" y="5"/>
                      </a:lnTo>
                      <a:lnTo>
                        <a:pt x="5" y="7"/>
                      </a:lnTo>
                      <a:lnTo>
                        <a:pt x="7" y="9"/>
                      </a:lnTo>
                      <a:lnTo>
                        <a:pt x="8" y="10"/>
                      </a:lnTo>
                      <a:lnTo>
                        <a:pt x="9" y="12"/>
                      </a:lnTo>
                      <a:lnTo>
                        <a:pt x="9" y="259"/>
                      </a:lnTo>
                      <a:lnTo>
                        <a:pt x="0" y="259"/>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35" name="Freeform 1023"/>
                <p:cNvSpPr>
                  <a:spLocks noChangeAspect="1"/>
                </p:cNvSpPr>
                <p:nvPr/>
              </p:nvSpPr>
              <p:spPr bwMode="auto">
                <a:xfrm>
                  <a:off x="3274" y="714"/>
                  <a:ext cx="3" cy="85"/>
                </a:xfrm>
                <a:custGeom>
                  <a:avLst/>
                  <a:gdLst>
                    <a:gd name="T0" fmla="*/ 0 w 10"/>
                    <a:gd name="T1" fmla="*/ 254 h 254"/>
                    <a:gd name="T2" fmla="*/ 0 w 10"/>
                    <a:gd name="T3" fmla="*/ 0 h 254"/>
                    <a:gd name="T4" fmla="*/ 1 w 10"/>
                    <a:gd name="T5" fmla="*/ 2 h 254"/>
                    <a:gd name="T6" fmla="*/ 3 w 10"/>
                    <a:gd name="T7" fmla="*/ 4 h 254"/>
                    <a:gd name="T8" fmla="*/ 4 w 10"/>
                    <a:gd name="T9" fmla="*/ 6 h 254"/>
                    <a:gd name="T10" fmla="*/ 5 w 10"/>
                    <a:gd name="T11" fmla="*/ 7 h 254"/>
                    <a:gd name="T12" fmla="*/ 6 w 10"/>
                    <a:gd name="T13" fmla="*/ 9 h 254"/>
                    <a:gd name="T14" fmla="*/ 8 w 10"/>
                    <a:gd name="T15" fmla="*/ 10 h 254"/>
                    <a:gd name="T16" fmla="*/ 9 w 10"/>
                    <a:gd name="T17" fmla="*/ 12 h 254"/>
                    <a:gd name="T18" fmla="*/ 10 w 10"/>
                    <a:gd name="T19" fmla="*/ 13 h 254"/>
                    <a:gd name="T20" fmla="*/ 10 w 10"/>
                    <a:gd name="T21" fmla="*/ 254 h 254"/>
                    <a:gd name="T22" fmla="*/ 0 w 10"/>
                    <a:gd name="T23" fmla="*/ 25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54">
                      <a:moveTo>
                        <a:pt x="0" y="254"/>
                      </a:moveTo>
                      <a:lnTo>
                        <a:pt x="0" y="0"/>
                      </a:lnTo>
                      <a:lnTo>
                        <a:pt x="1" y="2"/>
                      </a:lnTo>
                      <a:lnTo>
                        <a:pt x="3" y="4"/>
                      </a:lnTo>
                      <a:lnTo>
                        <a:pt x="4" y="6"/>
                      </a:lnTo>
                      <a:lnTo>
                        <a:pt x="5" y="7"/>
                      </a:lnTo>
                      <a:lnTo>
                        <a:pt x="6" y="9"/>
                      </a:lnTo>
                      <a:lnTo>
                        <a:pt x="8" y="10"/>
                      </a:lnTo>
                      <a:lnTo>
                        <a:pt x="9" y="12"/>
                      </a:lnTo>
                      <a:lnTo>
                        <a:pt x="10" y="13"/>
                      </a:lnTo>
                      <a:lnTo>
                        <a:pt x="10" y="254"/>
                      </a:lnTo>
                      <a:lnTo>
                        <a:pt x="0" y="254"/>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36" name="Freeform 1024"/>
                <p:cNvSpPr>
                  <a:spLocks noChangeAspect="1"/>
                </p:cNvSpPr>
                <p:nvPr/>
              </p:nvSpPr>
              <p:spPr bwMode="auto">
                <a:xfrm>
                  <a:off x="3275" y="717"/>
                  <a:ext cx="3" cy="82"/>
                </a:xfrm>
                <a:custGeom>
                  <a:avLst/>
                  <a:gdLst>
                    <a:gd name="T0" fmla="*/ 0 w 9"/>
                    <a:gd name="T1" fmla="*/ 247 h 247"/>
                    <a:gd name="T2" fmla="*/ 0 w 9"/>
                    <a:gd name="T3" fmla="*/ 0 h 247"/>
                    <a:gd name="T4" fmla="*/ 1 w 9"/>
                    <a:gd name="T5" fmla="*/ 2 h 247"/>
                    <a:gd name="T6" fmla="*/ 3 w 9"/>
                    <a:gd name="T7" fmla="*/ 3 h 247"/>
                    <a:gd name="T8" fmla="*/ 4 w 9"/>
                    <a:gd name="T9" fmla="*/ 5 h 247"/>
                    <a:gd name="T10" fmla="*/ 5 w 9"/>
                    <a:gd name="T11" fmla="*/ 7 h 247"/>
                    <a:gd name="T12" fmla="*/ 6 w 9"/>
                    <a:gd name="T13" fmla="*/ 9 h 247"/>
                    <a:gd name="T14" fmla="*/ 7 w 9"/>
                    <a:gd name="T15" fmla="*/ 11 h 247"/>
                    <a:gd name="T16" fmla="*/ 8 w 9"/>
                    <a:gd name="T17" fmla="*/ 14 h 247"/>
                    <a:gd name="T18" fmla="*/ 9 w 9"/>
                    <a:gd name="T19" fmla="*/ 16 h 247"/>
                    <a:gd name="T20" fmla="*/ 9 w 9"/>
                    <a:gd name="T21" fmla="*/ 247 h 247"/>
                    <a:gd name="T22" fmla="*/ 0 w 9"/>
                    <a:gd name="T23"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47">
                      <a:moveTo>
                        <a:pt x="0" y="247"/>
                      </a:moveTo>
                      <a:lnTo>
                        <a:pt x="0" y="0"/>
                      </a:lnTo>
                      <a:lnTo>
                        <a:pt x="1" y="2"/>
                      </a:lnTo>
                      <a:lnTo>
                        <a:pt x="3" y="3"/>
                      </a:lnTo>
                      <a:lnTo>
                        <a:pt x="4" y="5"/>
                      </a:lnTo>
                      <a:lnTo>
                        <a:pt x="5" y="7"/>
                      </a:lnTo>
                      <a:lnTo>
                        <a:pt x="6" y="9"/>
                      </a:lnTo>
                      <a:lnTo>
                        <a:pt x="7" y="11"/>
                      </a:lnTo>
                      <a:lnTo>
                        <a:pt x="8" y="14"/>
                      </a:lnTo>
                      <a:lnTo>
                        <a:pt x="9" y="16"/>
                      </a:lnTo>
                      <a:lnTo>
                        <a:pt x="9" y="247"/>
                      </a:lnTo>
                      <a:lnTo>
                        <a:pt x="0" y="247"/>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37" name="Freeform 1025"/>
                <p:cNvSpPr>
                  <a:spLocks noChangeAspect="1"/>
                </p:cNvSpPr>
                <p:nvPr/>
              </p:nvSpPr>
              <p:spPr bwMode="auto">
                <a:xfrm>
                  <a:off x="3277" y="719"/>
                  <a:ext cx="3" cy="80"/>
                </a:xfrm>
                <a:custGeom>
                  <a:avLst/>
                  <a:gdLst>
                    <a:gd name="T0" fmla="*/ 0 w 9"/>
                    <a:gd name="T1" fmla="*/ 241 h 241"/>
                    <a:gd name="T2" fmla="*/ 0 w 9"/>
                    <a:gd name="T3" fmla="*/ 0 h 241"/>
                    <a:gd name="T4" fmla="*/ 1 w 9"/>
                    <a:gd name="T5" fmla="*/ 3 h 241"/>
                    <a:gd name="T6" fmla="*/ 2 w 9"/>
                    <a:gd name="T7" fmla="*/ 5 h 241"/>
                    <a:gd name="T8" fmla="*/ 3 w 9"/>
                    <a:gd name="T9" fmla="*/ 8 h 241"/>
                    <a:gd name="T10" fmla="*/ 4 w 9"/>
                    <a:gd name="T11" fmla="*/ 11 h 241"/>
                    <a:gd name="T12" fmla="*/ 5 w 9"/>
                    <a:gd name="T13" fmla="*/ 13 h 241"/>
                    <a:gd name="T14" fmla="*/ 6 w 9"/>
                    <a:gd name="T15" fmla="*/ 16 h 241"/>
                    <a:gd name="T16" fmla="*/ 7 w 9"/>
                    <a:gd name="T17" fmla="*/ 18 h 241"/>
                    <a:gd name="T18" fmla="*/ 9 w 9"/>
                    <a:gd name="T19" fmla="*/ 21 h 241"/>
                    <a:gd name="T20" fmla="*/ 9 w 9"/>
                    <a:gd name="T21" fmla="*/ 241 h 241"/>
                    <a:gd name="T22" fmla="*/ 0 w 9"/>
                    <a:gd name="T23"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41">
                      <a:moveTo>
                        <a:pt x="0" y="241"/>
                      </a:moveTo>
                      <a:lnTo>
                        <a:pt x="0" y="0"/>
                      </a:lnTo>
                      <a:lnTo>
                        <a:pt x="1" y="3"/>
                      </a:lnTo>
                      <a:lnTo>
                        <a:pt x="2" y="5"/>
                      </a:lnTo>
                      <a:lnTo>
                        <a:pt x="3" y="8"/>
                      </a:lnTo>
                      <a:lnTo>
                        <a:pt x="4" y="11"/>
                      </a:lnTo>
                      <a:lnTo>
                        <a:pt x="5" y="13"/>
                      </a:lnTo>
                      <a:lnTo>
                        <a:pt x="6" y="16"/>
                      </a:lnTo>
                      <a:lnTo>
                        <a:pt x="7" y="18"/>
                      </a:lnTo>
                      <a:lnTo>
                        <a:pt x="9" y="21"/>
                      </a:lnTo>
                      <a:lnTo>
                        <a:pt x="9" y="241"/>
                      </a:lnTo>
                      <a:lnTo>
                        <a:pt x="0" y="24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38" name="Freeform 1026"/>
                <p:cNvSpPr>
                  <a:spLocks noChangeAspect="1"/>
                </p:cNvSpPr>
                <p:nvPr/>
              </p:nvSpPr>
              <p:spPr bwMode="auto">
                <a:xfrm>
                  <a:off x="3278" y="722"/>
                  <a:ext cx="3" cy="77"/>
                </a:xfrm>
                <a:custGeom>
                  <a:avLst/>
                  <a:gdLst>
                    <a:gd name="T0" fmla="*/ 0 w 9"/>
                    <a:gd name="T1" fmla="*/ 231 h 231"/>
                    <a:gd name="T2" fmla="*/ 0 w 9"/>
                    <a:gd name="T3" fmla="*/ 0 h 231"/>
                    <a:gd name="T4" fmla="*/ 2 w 9"/>
                    <a:gd name="T5" fmla="*/ 4 h 231"/>
                    <a:gd name="T6" fmla="*/ 3 w 9"/>
                    <a:gd name="T7" fmla="*/ 9 h 231"/>
                    <a:gd name="T8" fmla="*/ 6 w 9"/>
                    <a:gd name="T9" fmla="*/ 13 h 231"/>
                    <a:gd name="T10" fmla="*/ 7 w 9"/>
                    <a:gd name="T11" fmla="*/ 19 h 231"/>
                    <a:gd name="T12" fmla="*/ 8 w 9"/>
                    <a:gd name="T13" fmla="*/ 24 h 231"/>
                    <a:gd name="T14" fmla="*/ 9 w 9"/>
                    <a:gd name="T15" fmla="*/ 29 h 231"/>
                    <a:gd name="T16" fmla="*/ 9 w 9"/>
                    <a:gd name="T17" fmla="*/ 35 h 231"/>
                    <a:gd name="T18" fmla="*/ 9 w 9"/>
                    <a:gd name="T19" fmla="*/ 40 h 231"/>
                    <a:gd name="T20" fmla="*/ 9 w 9"/>
                    <a:gd name="T21" fmla="*/ 40 h 231"/>
                    <a:gd name="T22" fmla="*/ 9 w 9"/>
                    <a:gd name="T23" fmla="*/ 41 h 231"/>
                    <a:gd name="T24" fmla="*/ 9 w 9"/>
                    <a:gd name="T25" fmla="*/ 43 h 231"/>
                    <a:gd name="T26" fmla="*/ 9 w 9"/>
                    <a:gd name="T27" fmla="*/ 44 h 231"/>
                    <a:gd name="T28" fmla="*/ 9 w 9"/>
                    <a:gd name="T29" fmla="*/ 45 h 231"/>
                    <a:gd name="T30" fmla="*/ 9 w 9"/>
                    <a:gd name="T31" fmla="*/ 46 h 231"/>
                    <a:gd name="T32" fmla="*/ 9 w 9"/>
                    <a:gd name="T33" fmla="*/ 47 h 231"/>
                    <a:gd name="T34" fmla="*/ 9 w 9"/>
                    <a:gd name="T35" fmla="*/ 50 h 231"/>
                    <a:gd name="T36" fmla="*/ 9 w 9"/>
                    <a:gd name="T37" fmla="*/ 51 h 231"/>
                    <a:gd name="T38" fmla="*/ 9 w 9"/>
                    <a:gd name="T39" fmla="*/ 51 h 231"/>
                    <a:gd name="T40" fmla="*/ 9 w 9"/>
                    <a:gd name="T41" fmla="*/ 231 h 231"/>
                    <a:gd name="T42" fmla="*/ 0 w 9"/>
                    <a:gd name="T43"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231">
                      <a:moveTo>
                        <a:pt x="0" y="231"/>
                      </a:moveTo>
                      <a:lnTo>
                        <a:pt x="0" y="0"/>
                      </a:lnTo>
                      <a:lnTo>
                        <a:pt x="2" y="4"/>
                      </a:lnTo>
                      <a:lnTo>
                        <a:pt x="3" y="9"/>
                      </a:lnTo>
                      <a:lnTo>
                        <a:pt x="6" y="13"/>
                      </a:lnTo>
                      <a:lnTo>
                        <a:pt x="7" y="19"/>
                      </a:lnTo>
                      <a:lnTo>
                        <a:pt x="8" y="24"/>
                      </a:lnTo>
                      <a:lnTo>
                        <a:pt x="9" y="29"/>
                      </a:lnTo>
                      <a:lnTo>
                        <a:pt x="9" y="35"/>
                      </a:lnTo>
                      <a:lnTo>
                        <a:pt x="9" y="40"/>
                      </a:lnTo>
                      <a:lnTo>
                        <a:pt x="9" y="40"/>
                      </a:lnTo>
                      <a:lnTo>
                        <a:pt x="9" y="41"/>
                      </a:lnTo>
                      <a:lnTo>
                        <a:pt x="9" y="43"/>
                      </a:lnTo>
                      <a:lnTo>
                        <a:pt x="9" y="44"/>
                      </a:lnTo>
                      <a:lnTo>
                        <a:pt x="9" y="45"/>
                      </a:lnTo>
                      <a:lnTo>
                        <a:pt x="9" y="46"/>
                      </a:lnTo>
                      <a:lnTo>
                        <a:pt x="9" y="47"/>
                      </a:lnTo>
                      <a:lnTo>
                        <a:pt x="9" y="50"/>
                      </a:lnTo>
                      <a:lnTo>
                        <a:pt x="9" y="51"/>
                      </a:lnTo>
                      <a:lnTo>
                        <a:pt x="9" y="51"/>
                      </a:lnTo>
                      <a:lnTo>
                        <a:pt x="9" y="231"/>
                      </a:lnTo>
                      <a:lnTo>
                        <a:pt x="0" y="23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39" name="Freeform 1027"/>
                <p:cNvSpPr>
                  <a:spLocks noChangeAspect="1"/>
                </p:cNvSpPr>
                <p:nvPr/>
              </p:nvSpPr>
              <p:spPr bwMode="auto">
                <a:xfrm>
                  <a:off x="3280" y="726"/>
                  <a:ext cx="1" cy="77"/>
                </a:xfrm>
                <a:custGeom>
                  <a:avLst/>
                  <a:gdLst>
                    <a:gd name="T0" fmla="*/ 0 w 4"/>
                    <a:gd name="T1" fmla="*/ 220 h 220"/>
                    <a:gd name="T2" fmla="*/ 0 w 4"/>
                    <a:gd name="T3" fmla="*/ 0 h 220"/>
                    <a:gd name="T4" fmla="*/ 1 w 4"/>
                    <a:gd name="T5" fmla="*/ 4 h 220"/>
                    <a:gd name="T6" fmla="*/ 2 w 4"/>
                    <a:gd name="T7" fmla="*/ 7 h 220"/>
                    <a:gd name="T8" fmla="*/ 3 w 4"/>
                    <a:gd name="T9" fmla="*/ 11 h 220"/>
                    <a:gd name="T10" fmla="*/ 3 w 4"/>
                    <a:gd name="T11" fmla="*/ 14 h 220"/>
                    <a:gd name="T12" fmla="*/ 4 w 4"/>
                    <a:gd name="T13" fmla="*/ 18 h 220"/>
                    <a:gd name="T14" fmla="*/ 4 w 4"/>
                    <a:gd name="T15" fmla="*/ 22 h 220"/>
                    <a:gd name="T16" fmla="*/ 4 w 4"/>
                    <a:gd name="T17" fmla="*/ 26 h 220"/>
                    <a:gd name="T18" fmla="*/ 4 w 4"/>
                    <a:gd name="T19" fmla="*/ 29 h 220"/>
                    <a:gd name="T20" fmla="*/ 4 w 4"/>
                    <a:gd name="T21" fmla="*/ 30 h 220"/>
                    <a:gd name="T22" fmla="*/ 4 w 4"/>
                    <a:gd name="T23" fmla="*/ 32 h 220"/>
                    <a:gd name="T24" fmla="*/ 4 w 4"/>
                    <a:gd name="T25" fmla="*/ 33 h 220"/>
                    <a:gd name="T26" fmla="*/ 4 w 4"/>
                    <a:gd name="T27" fmla="*/ 34 h 220"/>
                    <a:gd name="T28" fmla="*/ 4 w 4"/>
                    <a:gd name="T29" fmla="*/ 35 h 220"/>
                    <a:gd name="T30" fmla="*/ 4 w 4"/>
                    <a:gd name="T31" fmla="*/ 36 h 220"/>
                    <a:gd name="T32" fmla="*/ 4 w 4"/>
                    <a:gd name="T33" fmla="*/ 39 h 220"/>
                    <a:gd name="T34" fmla="*/ 4 w 4"/>
                    <a:gd name="T35" fmla="*/ 40 h 220"/>
                    <a:gd name="T36" fmla="*/ 4 w 4"/>
                    <a:gd name="T37" fmla="*/ 40 h 220"/>
                    <a:gd name="T38" fmla="*/ 4 w 4"/>
                    <a:gd name="T39" fmla="*/ 220 h 220"/>
                    <a:gd name="T40" fmla="*/ 0 w 4"/>
                    <a:gd name="T41"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220">
                      <a:moveTo>
                        <a:pt x="0" y="220"/>
                      </a:moveTo>
                      <a:lnTo>
                        <a:pt x="0" y="0"/>
                      </a:lnTo>
                      <a:lnTo>
                        <a:pt x="1" y="4"/>
                      </a:lnTo>
                      <a:lnTo>
                        <a:pt x="2" y="7"/>
                      </a:lnTo>
                      <a:lnTo>
                        <a:pt x="3" y="11"/>
                      </a:lnTo>
                      <a:lnTo>
                        <a:pt x="3" y="14"/>
                      </a:lnTo>
                      <a:lnTo>
                        <a:pt x="4" y="18"/>
                      </a:lnTo>
                      <a:lnTo>
                        <a:pt x="4" y="22"/>
                      </a:lnTo>
                      <a:lnTo>
                        <a:pt x="4" y="26"/>
                      </a:lnTo>
                      <a:lnTo>
                        <a:pt x="4" y="29"/>
                      </a:lnTo>
                      <a:lnTo>
                        <a:pt x="4" y="30"/>
                      </a:lnTo>
                      <a:lnTo>
                        <a:pt x="4" y="32"/>
                      </a:lnTo>
                      <a:lnTo>
                        <a:pt x="4" y="33"/>
                      </a:lnTo>
                      <a:lnTo>
                        <a:pt x="4" y="34"/>
                      </a:lnTo>
                      <a:lnTo>
                        <a:pt x="4" y="35"/>
                      </a:lnTo>
                      <a:lnTo>
                        <a:pt x="4" y="36"/>
                      </a:lnTo>
                      <a:lnTo>
                        <a:pt x="4" y="39"/>
                      </a:lnTo>
                      <a:lnTo>
                        <a:pt x="4" y="40"/>
                      </a:lnTo>
                      <a:lnTo>
                        <a:pt x="4" y="40"/>
                      </a:lnTo>
                      <a:lnTo>
                        <a:pt x="4" y="220"/>
                      </a:lnTo>
                      <a:lnTo>
                        <a:pt x="0" y="220"/>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40" name="Freeform 1028"/>
                <p:cNvSpPr>
                  <a:spLocks noChangeAspect="1" noEditPoints="1"/>
                </p:cNvSpPr>
                <p:nvPr/>
              </p:nvSpPr>
              <p:spPr bwMode="auto">
                <a:xfrm>
                  <a:off x="3281" y="735"/>
                  <a:ext cx="1" cy="64"/>
                </a:xfrm>
                <a:custGeom>
                  <a:avLst/>
                  <a:gdLst>
                    <a:gd name="T0" fmla="*/ 191 h 191"/>
                    <a:gd name="T1" fmla="*/ 11 h 191"/>
                    <a:gd name="T2" fmla="*/ 11 h 191"/>
                    <a:gd name="T3" fmla="*/ 191 h 191"/>
                    <a:gd name="T4" fmla="*/ 191 h 191"/>
                    <a:gd name="T5" fmla="*/ 0 h 191"/>
                    <a:gd name="T6" fmla="*/ 0 h 191"/>
                    <a:gd name="T7" fmla="*/ 0 h 191"/>
                    <a:gd name="T8" fmla="*/ 0 h 191"/>
                    <a:gd name="T9" fmla="*/ 0 h 191"/>
                    <a:gd name="T10" fmla="*/ 0 h 191"/>
                    <a:gd name="T11" fmla="*/ 0 h 191"/>
                    <a:gd name="T12" fmla="*/ 0 h 191"/>
                    <a:gd name="T13" fmla="*/ 0 h 191"/>
                    <a:gd name="T14" fmla="*/ 0 h 191"/>
                    <a:gd name="T15" fmla="*/ 0 h 191"/>
                    <a:gd name="T16" fmla="*/ 0 h 191"/>
                    <a:gd name="T17" fmla="*/ 0 h 191"/>
                    <a:gd name="T18" fmla="*/ 0 h 191"/>
                    <a:gd name="T19" fmla="*/ 0 h 19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Lst>
                  <a:rect l="0" t="0" r="r" b="b"/>
                  <a:pathLst>
                    <a:path h="191">
                      <a:moveTo>
                        <a:pt x="0" y="191"/>
                      </a:moveTo>
                      <a:lnTo>
                        <a:pt x="0" y="11"/>
                      </a:lnTo>
                      <a:lnTo>
                        <a:pt x="0" y="11"/>
                      </a:lnTo>
                      <a:lnTo>
                        <a:pt x="0" y="191"/>
                      </a:lnTo>
                      <a:lnTo>
                        <a:pt x="0" y="191"/>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41" name="Freeform 1029"/>
                <p:cNvSpPr>
                  <a:spLocks noChangeAspect="1"/>
                </p:cNvSpPr>
                <p:nvPr/>
              </p:nvSpPr>
              <p:spPr bwMode="auto">
                <a:xfrm>
                  <a:off x="3203" y="701"/>
                  <a:ext cx="76" cy="98"/>
                </a:xfrm>
                <a:custGeom>
                  <a:avLst/>
                  <a:gdLst>
                    <a:gd name="T0" fmla="*/ 0 w 230"/>
                    <a:gd name="T1" fmla="*/ 115 h 295"/>
                    <a:gd name="T2" fmla="*/ 1 w 230"/>
                    <a:gd name="T3" fmla="*/ 115 h 295"/>
                    <a:gd name="T4" fmla="*/ 1 w 230"/>
                    <a:gd name="T5" fmla="*/ 114 h 295"/>
                    <a:gd name="T6" fmla="*/ 1 w 230"/>
                    <a:gd name="T7" fmla="*/ 111 h 295"/>
                    <a:gd name="T8" fmla="*/ 1 w 230"/>
                    <a:gd name="T9" fmla="*/ 110 h 295"/>
                    <a:gd name="T10" fmla="*/ 0 w 230"/>
                    <a:gd name="T11" fmla="*/ 109 h 295"/>
                    <a:gd name="T12" fmla="*/ 0 w 230"/>
                    <a:gd name="T13" fmla="*/ 108 h 295"/>
                    <a:gd name="T14" fmla="*/ 0 w 230"/>
                    <a:gd name="T15" fmla="*/ 107 h 295"/>
                    <a:gd name="T16" fmla="*/ 0 w 230"/>
                    <a:gd name="T17" fmla="*/ 105 h 295"/>
                    <a:gd name="T18" fmla="*/ 0 w 230"/>
                    <a:gd name="T19" fmla="*/ 104 h 295"/>
                    <a:gd name="T20" fmla="*/ 1 w 230"/>
                    <a:gd name="T21" fmla="*/ 93 h 295"/>
                    <a:gd name="T22" fmla="*/ 3 w 230"/>
                    <a:gd name="T23" fmla="*/ 83 h 295"/>
                    <a:gd name="T24" fmla="*/ 5 w 230"/>
                    <a:gd name="T25" fmla="*/ 73 h 295"/>
                    <a:gd name="T26" fmla="*/ 9 w 230"/>
                    <a:gd name="T27" fmla="*/ 64 h 295"/>
                    <a:gd name="T28" fmla="*/ 14 w 230"/>
                    <a:gd name="T29" fmla="*/ 54 h 295"/>
                    <a:gd name="T30" fmla="*/ 20 w 230"/>
                    <a:gd name="T31" fmla="*/ 46 h 295"/>
                    <a:gd name="T32" fmla="*/ 26 w 230"/>
                    <a:gd name="T33" fmla="*/ 38 h 295"/>
                    <a:gd name="T34" fmla="*/ 34 w 230"/>
                    <a:gd name="T35" fmla="*/ 30 h 295"/>
                    <a:gd name="T36" fmla="*/ 42 w 230"/>
                    <a:gd name="T37" fmla="*/ 23 h 295"/>
                    <a:gd name="T38" fmla="*/ 51 w 230"/>
                    <a:gd name="T39" fmla="*/ 17 h 295"/>
                    <a:gd name="T40" fmla="*/ 61 w 230"/>
                    <a:gd name="T41" fmla="*/ 12 h 295"/>
                    <a:gd name="T42" fmla="*/ 70 w 230"/>
                    <a:gd name="T43" fmla="*/ 7 h 295"/>
                    <a:gd name="T44" fmla="*/ 81 w 230"/>
                    <a:gd name="T45" fmla="*/ 4 h 295"/>
                    <a:gd name="T46" fmla="*/ 92 w 230"/>
                    <a:gd name="T47" fmla="*/ 2 h 295"/>
                    <a:gd name="T48" fmla="*/ 103 w 230"/>
                    <a:gd name="T49" fmla="*/ 0 h 295"/>
                    <a:gd name="T50" fmla="*/ 115 w 230"/>
                    <a:gd name="T51" fmla="*/ 0 h 295"/>
                    <a:gd name="T52" fmla="*/ 127 w 230"/>
                    <a:gd name="T53" fmla="*/ 0 h 295"/>
                    <a:gd name="T54" fmla="*/ 138 w 230"/>
                    <a:gd name="T55" fmla="*/ 2 h 295"/>
                    <a:gd name="T56" fmla="*/ 149 w 230"/>
                    <a:gd name="T57" fmla="*/ 4 h 295"/>
                    <a:gd name="T58" fmla="*/ 160 w 230"/>
                    <a:gd name="T59" fmla="*/ 7 h 295"/>
                    <a:gd name="T60" fmla="*/ 170 w 230"/>
                    <a:gd name="T61" fmla="*/ 12 h 295"/>
                    <a:gd name="T62" fmla="*/ 180 w 230"/>
                    <a:gd name="T63" fmla="*/ 17 h 295"/>
                    <a:gd name="T64" fmla="*/ 188 w 230"/>
                    <a:gd name="T65" fmla="*/ 23 h 295"/>
                    <a:gd name="T66" fmla="*/ 197 w 230"/>
                    <a:gd name="T67" fmla="*/ 30 h 295"/>
                    <a:gd name="T68" fmla="*/ 204 w 230"/>
                    <a:gd name="T69" fmla="*/ 38 h 295"/>
                    <a:gd name="T70" fmla="*/ 211 w 230"/>
                    <a:gd name="T71" fmla="*/ 46 h 295"/>
                    <a:gd name="T72" fmla="*/ 216 w 230"/>
                    <a:gd name="T73" fmla="*/ 54 h 295"/>
                    <a:gd name="T74" fmla="*/ 221 w 230"/>
                    <a:gd name="T75" fmla="*/ 64 h 295"/>
                    <a:gd name="T76" fmla="*/ 226 w 230"/>
                    <a:gd name="T77" fmla="*/ 73 h 295"/>
                    <a:gd name="T78" fmla="*/ 228 w 230"/>
                    <a:gd name="T79" fmla="*/ 83 h 295"/>
                    <a:gd name="T80" fmla="*/ 230 w 230"/>
                    <a:gd name="T81" fmla="*/ 93 h 295"/>
                    <a:gd name="T82" fmla="*/ 230 w 230"/>
                    <a:gd name="T83" fmla="*/ 104 h 295"/>
                    <a:gd name="T84" fmla="*/ 230 w 230"/>
                    <a:gd name="T85" fmla="*/ 105 h 295"/>
                    <a:gd name="T86" fmla="*/ 230 w 230"/>
                    <a:gd name="T87" fmla="*/ 107 h 295"/>
                    <a:gd name="T88" fmla="*/ 230 w 230"/>
                    <a:gd name="T89" fmla="*/ 108 h 295"/>
                    <a:gd name="T90" fmla="*/ 230 w 230"/>
                    <a:gd name="T91" fmla="*/ 109 h 295"/>
                    <a:gd name="T92" fmla="*/ 230 w 230"/>
                    <a:gd name="T93" fmla="*/ 110 h 295"/>
                    <a:gd name="T94" fmla="*/ 230 w 230"/>
                    <a:gd name="T95" fmla="*/ 111 h 295"/>
                    <a:gd name="T96" fmla="*/ 230 w 230"/>
                    <a:gd name="T97" fmla="*/ 114 h 295"/>
                    <a:gd name="T98" fmla="*/ 230 w 230"/>
                    <a:gd name="T99" fmla="*/ 115 h 295"/>
                    <a:gd name="T100" fmla="*/ 230 w 230"/>
                    <a:gd name="T101" fmla="*/ 115 h 295"/>
                    <a:gd name="T102" fmla="*/ 230 w 230"/>
                    <a:gd name="T103" fmla="*/ 295 h 295"/>
                    <a:gd name="T104" fmla="*/ 0 w 230"/>
                    <a:gd name="T105" fmla="*/ 295 h 295"/>
                    <a:gd name="T106" fmla="*/ 0 w 230"/>
                    <a:gd name="T107" fmla="*/ 11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0" h="295">
                      <a:moveTo>
                        <a:pt x="0" y="115"/>
                      </a:moveTo>
                      <a:lnTo>
                        <a:pt x="1" y="115"/>
                      </a:lnTo>
                      <a:lnTo>
                        <a:pt x="1" y="114"/>
                      </a:lnTo>
                      <a:lnTo>
                        <a:pt x="1" y="111"/>
                      </a:lnTo>
                      <a:lnTo>
                        <a:pt x="1" y="110"/>
                      </a:lnTo>
                      <a:lnTo>
                        <a:pt x="0" y="109"/>
                      </a:lnTo>
                      <a:lnTo>
                        <a:pt x="0" y="108"/>
                      </a:lnTo>
                      <a:lnTo>
                        <a:pt x="0" y="107"/>
                      </a:lnTo>
                      <a:lnTo>
                        <a:pt x="0" y="105"/>
                      </a:lnTo>
                      <a:lnTo>
                        <a:pt x="0" y="104"/>
                      </a:lnTo>
                      <a:lnTo>
                        <a:pt x="1" y="93"/>
                      </a:lnTo>
                      <a:lnTo>
                        <a:pt x="3" y="83"/>
                      </a:lnTo>
                      <a:lnTo>
                        <a:pt x="5" y="73"/>
                      </a:lnTo>
                      <a:lnTo>
                        <a:pt x="9" y="64"/>
                      </a:lnTo>
                      <a:lnTo>
                        <a:pt x="14" y="54"/>
                      </a:lnTo>
                      <a:lnTo>
                        <a:pt x="20" y="46"/>
                      </a:lnTo>
                      <a:lnTo>
                        <a:pt x="26" y="38"/>
                      </a:lnTo>
                      <a:lnTo>
                        <a:pt x="34" y="30"/>
                      </a:lnTo>
                      <a:lnTo>
                        <a:pt x="42" y="23"/>
                      </a:lnTo>
                      <a:lnTo>
                        <a:pt x="51" y="17"/>
                      </a:lnTo>
                      <a:lnTo>
                        <a:pt x="61" y="12"/>
                      </a:lnTo>
                      <a:lnTo>
                        <a:pt x="70" y="7"/>
                      </a:lnTo>
                      <a:lnTo>
                        <a:pt x="81" y="4"/>
                      </a:lnTo>
                      <a:lnTo>
                        <a:pt x="92" y="2"/>
                      </a:lnTo>
                      <a:lnTo>
                        <a:pt x="103" y="0"/>
                      </a:lnTo>
                      <a:lnTo>
                        <a:pt x="115" y="0"/>
                      </a:lnTo>
                      <a:lnTo>
                        <a:pt x="127" y="0"/>
                      </a:lnTo>
                      <a:lnTo>
                        <a:pt x="138" y="2"/>
                      </a:lnTo>
                      <a:lnTo>
                        <a:pt x="149" y="4"/>
                      </a:lnTo>
                      <a:lnTo>
                        <a:pt x="160" y="7"/>
                      </a:lnTo>
                      <a:lnTo>
                        <a:pt x="170" y="12"/>
                      </a:lnTo>
                      <a:lnTo>
                        <a:pt x="180" y="17"/>
                      </a:lnTo>
                      <a:lnTo>
                        <a:pt x="188" y="23"/>
                      </a:lnTo>
                      <a:lnTo>
                        <a:pt x="197" y="30"/>
                      </a:lnTo>
                      <a:lnTo>
                        <a:pt x="204" y="38"/>
                      </a:lnTo>
                      <a:lnTo>
                        <a:pt x="211" y="46"/>
                      </a:lnTo>
                      <a:lnTo>
                        <a:pt x="216" y="54"/>
                      </a:lnTo>
                      <a:lnTo>
                        <a:pt x="221" y="64"/>
                      </a:lnTo>
                      <a:lnTo>
                        <a:pt x="226" y="73"/>
                      </a:lnTo>
                      <a:lnTo>
                        <a:pt x="228" y="83"/>
                      </a:lnTo>
                      <a:lnTo>
                        <a:pt x="230" y="93"/>
                      </a:lnTo>
                      <a:lnTo>
                        <a:pt x="230" y="104"/>
                      </a:lnTo>
                      <a:lnTo>
                        <a:pt x="230" y="105"/>
                      </a:lnTo>
                      <a:lnTo>
                        <a:pt x="230" y="107"/>
                      </a:lnTo>
                      <a:lnTo>
                        <a:pt x="230" y="108"/>
                      </a:lnTo>
                      <a:lnTo>
                        <a:pt x="230" y="109"/>
                      </a:lnTo>
                      <a:lnTo>
                        <a:pt x="230" y="110"/>
                      </a:lnTo>
                      <a:lnTo>
                        <a:pt x="230" y="111"/>
                      </a:lnTo>
                      <a:lnTo>
                        <a:pt x="230" y="114"/>
                      </a:lnTo>
                      <a:lnTo>
                        <a:pt x="230" y="115"/>
                      </a:lnTo>
                      <a:lnTo>
                        <a:pt x="230" y="115"/>
                      </a:lnTo>
                      <a:lnTo>
                        <a:pt x="230" y="295"/>
                      </a:lnTo>
                      <a:lnTo>
                        <a:pt x="0" y="295"/>
                      </a:lnTo>
                      <a:lnTo>
                        <a:pt x="0" y="115"/>
                      </a:lnTo>
                    </a:path>
                  </a:pathLst>
                </a:custGeom>
                <a:gradFill rotWithShape="0">
                  <a:gsLst>
                    <a:gs pos="0">
                      <a:schemeClr val="hlink"/>
                    </a:gs>
                    <a:gs pos="50000">
                      <a:schemeClr val="hlink">
                        <a:gamma/>
                        <a:tint val="31373"/>
                        <a:invGamma/>
                      </a:schemeClr>
                    </a:gs>
                    <a:gs pos="100000">
                      <a:schemeClr val="hlink"/>
                    </a:gs>
                  </a:gsLst>
                  <a:lin ang="0" scaled="1"/>
                </a:gradFill>
                <a:ln w="1588">
                  <a:solidFill>
                    <a:srgbClr val="1F1A17"/>
                  </a:solidFill>
                  <a:prstDash val="solid"/>
                  <a:round/>
                  <a:headEnd/>
                  <a:tailEnd/>
                </a:ln>
              </p:spPr>
              <p:txBody>
                <a:bodyPr/>
                <a:lstStyle/>
                <a:p>
                  <a:pPr>
                    <a:defRPr/>
                  </a:pPr>
                  <a:endParaRPr lang="en-US"/>
                </a:p>
              </p:txBody>
            </p:sp>
            <p:sp>
              <p:nvSpPr>
                <p:cNvPr id="65542" name="Freeform 1030"/>
                <p:cNvSpPr>
                  <a:spLocks noChangeAspect="1"/>
                </p:cNvSpPr>
                <p:nvPr/>
              </p:nvSpPr>
              <p:spPr bwMode="auto">
                <a:xfrm>
                  <a:off x="3194" y="836"/>
                  <a:ext cx="2" cy="13"/>
                </a:xfrm>
                <a:custGeom>
                  <a:avLst/>
                  <a:gdLst>
                    <a:gd name="T0" fmla="*/ 6 w 6"/>
                    <a:gd name="T1" fmla="*/ 0 h 23"/>
                    <a:gd name="T2" fmla="*/ 6 w 6"/>
                    <a:gd name="T3" fmla="*/ 23 h 23"/>
                    <a:gd name="T4" fmla="*/ 0 w 6"/>
                    <a:gd name="T5" fmla="*/ 23 h 23"/>
                    <a:gd name="T6" fmla="*/ 6 w 6"/>
                    <a:gd name="T7" fmla="*/ 0 h 23"/>
                  </a:gdLst>
                  <a:ahLst/>
                  <a:cxnLst>
                    <a:cxn ang="0">
                      <a:pos x="T0" y="T1"/>
                    </a:cxn>
                    <a:cxn ang="0">
                      <a:pos x="T2" y="T3"/>
                    </a:cxn>
                    <a:cxn ang="0">
                      <a:pos x="T4" y="T5"/>
                    </a:cxn>
                    <a:cxn ang="0">
                      <a:pos x="T6" y="T7"/>
                    </a:cxn>
                  </a:cxnLst>
                  <a:rect l="0" t="0" r="r" b="b"/>
                  <a:pathLst>
                    <a:path w="6" h="23">
                      <a:moveTo>
                        <a:pt x="6" y="0"/>
                      </a:moveTo>
                      <a:lnTo>
                        <a:pt x="6" y="23"/>
                      </a:lnTo>
                      <a:lnTo>
                        <a:pt x="0" y="23"/>
                      </a:lnTo>
                      <a:lnTo>
                        <a:pt x="6" y="0"/>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43" name="Freeform 1031"/>
                <p:cNvSpPr>
                  <a:spLocks noChangeAspect="1"/>
                </p:cNvSpPr>
                <p:nvPr/>
              </p:nvSpPr>
              <p:spPr bwMode="auto">
                <a:xfrm>
                  <a:off x="3194" y="828"/>
                  <a:ext cx="4" cy="16"/>
                </a:xfrm>
                <a:custGeom>
                  <a:avLst/>
                  <a:gdLst>
                    <a:gd name="T0" fmla="*/ 13 w 13"/>
                    <a:gd name="T1" fmla="*/ 0 h 47"/>
                    <a:gd name="T2" fmla="*/ 13 w 13"/>
                    <a:gd name="T3" fmla="*/ 47 h 47"/>
                    <a:gd name="T4" fmla="*/ 0 w 13"/>
                    <a:gd name="T5" fmla="*/ 47 h 47"/>
                    <a:gd name="T6" fmla="*/ 13 w 13"/>
                    <a:gd name="T7" fmla="*/ 0 h 47"/>
                  </a:gdLst>
                  <a:ahLst/>
                  <a:cxnLst>
                    <a:cxn ang="0">
                      <a:pos x="T0" y="T1"/>
                    </a:cxn>
                    <a:cxn ang="0">
                      <a:pos x="T2" y="T3"/>
                    </a:cxn>
                    <a:cxn ang="0">
                      <a:pos x="T4" y="T5"/>
                    </a:cxn>
                    <a:cxn ang="0">
                      <a:pos x="T6" y="T7"/>
                    </a:cxn>
                  </a:cxnLst>
                  <a:rect l="0" t="0" r="r" b="b"/>
                  <a:pathLst>
                    <a:path w="13" h="47">
                      <a:moveTo>
                        <a:pt x="13" y="0"/>
                      </a:moveTo>
                      <a:lnTo>
                        <a:pt x="13" y="47"/>
                      </a:lnTo>
                      <a:lnTo>
                        <a:pt x="0" y="47"/>
                      </a:lnTo>
                      <a:lnTo>
                        <a:pt x="13" y="0"/>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44" name="Freeform 1032"/>
                <p:cNvSpPr>
                  <a:spLocks noChangeAspect="1"/>
                </p:cNvSpPr>
                <p:nvPr/>
              </p:nvSpPr>
              <p:spPr bwMode="auto">
                <a:xfrm>
                  <a:off x="3196" y="820"/>
                  <a:ext cx="4" cy="29"/>
                </a:xfrm>
                <a:custGeom>
                  <a:avLst/>
                  <a:gdLst>
                    <a:gd name="T0" fmla="*/ 0 w 12"/>
                    <a:gd name="T1" fmla="*/ 72 h 72"/>
                    <a:gd name="T2" fmla="*/ 0 w 12"/>
                    <a:gd name="T3" fmla="*/ 49 h 72"/>
                    <a:gd name="T4" fmla="*/ 12 w 12"/>
                    <a:gd name="T5" fmla="*/ 0 h 72"/>
                    <a:gd name="T6" fmla="*/ 12 w 12"/>
                    <a:gd name="T7" fmla="*/ 72 h 72"/>
                    <a:gd name="T8" fmla="*/ 0 w 12"/>
                    <a:gd name="T9" fmla="*/ 72 h 72"/>
                  </a:gdLst>
                  <a:ahLst/>
                  <a:cxnLst>
                    <a:cxn ang="0">
                      <a:pos x="T0" y="T1"/>
                    </a:cxn>
                    <a:cxn ang="0">
                      <a:pos x="T2" y="T3"/>
                    </a:cxn>
                    <a:cxn ang="0">
                      <a:pos x="T4" y="T5"/>
                    </a:cxn>
                    <a:cxn ang="0">
                      <a:pos x="T6" y="T7"/>
                    </a:cxn>
                    <a:cxn ang="0">
                      <a:pos x="T8" y="T9"/>
                    </a:cxn>
                  </a:cxnLst>
                  <a:rect l="0" t="0" r="r" b="b"/>
                  <a:pathLst>
                    <a:path w="12" h="72">
                      <a:moveTo>
                        <a:pt x="0" y="72"/>
                      </a:moveTo>
                      <a:lnTo>
                        <a:pt x="0" y="49"/>
                      </a:lnTo>
                      <a:lnTo>
                        <a:pt x="12" y="0"/>
                      </a:lnTo>
                      <a:lnTo>
                        <a:pt x="12" y="72"/>
                      </a:lnTo>
                      <a:lnTo>
                        <a:pt x="0" y="72"/>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45" name="Freeform 1033"/>
                <p:cNvSpPr>
                  <a:spLocks noChangeAspect="1"/>
                </p:cNvSpPr>
                <p:nvPr/>
              </p:nvSpPr>
              <p:spPr bwMode="auto">
                <a:xfrm>
                  <a:off x="3198" y="812"/>
                  <a:ext cx="4" cy="32"/>
                </a:xfrm>
                <a:custGeom>
                  <a:avLst/>
                  <a:gdLst>
                    <a:gd name="T0" fmla="*/ 0 w 11"/>
                    <a:gd name="T1" fmla="*/ 96 h 96"/>
                    <a:gd name="T2" fmla="*/ 0 w 11"/>
                    <a:gd name="T3" fmla="*/ 49 h 96"/>
                    <a:gd name="T4" fmla="*/ 11 w 11"/>
                    <a:gd name="T5" fmla="*/ 0 h 96"/>
                    <a:gd name="T6" fmla="*/ 11 w 11"/>
                    <a:gd name="T7" fmla="*/ 96 h 96"/>
                    <a:gd name="T8" fmla="*/ 0 w 11"/>
                    <a:gd name="T9" fmla="*/ 96 h 96"/>
                  </a:gdLst>
                  <a:ahLst/>
                  <a:cxnLst>
                    <a:cxn ang="0">
                      <a:pos x="T0" y="T1"/>
                    </a:cxn>
                    <a:cxn ang="0">
                      <a:pos x="T2" y="T3"/>
                    </a:cxn>
                    <a:cxn ang="0">
                      <a:pos x="T4" y="T5"/>
                    </a:cxn>
                    <a:cxn ang="0">
                      <a:pos x="T6" y="T7"/>
                    </a:cxn>
                    <a:cxn ang="0">
                      <a:pos x="T8" y="T9"/>
                    </a:cxn>
                  </a:cxnLst>
                  <a:rect l="0" t="0" r="r" b="b"/>
                  <a:pathLst>
                    <a:path w="11" h="96">
                      <a:moveTo>
                        <a:pt x="0" y="96"/>
                      </a:moveTo>
                      <a:lnTo>
                        <a:pt x="0" y="49"/>
                      </a:lnTo>
                      <a:lnTo>
                        <a:pt x="11" y="0"/>
                      </a:lnTo>
                      <a:lnTo>
                        <a:pt x="11" y="96"/>
                      </a:lnTo>
                      <a:lnTo>
                        <a:pt x="0" y="96"/>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46" name="Freeform 1034"/>
                <p:cNvSpPr>
                  <a:spLocks noChangeAspect="1"/>
                </p:cNvSpPr>
                <p:nvPr/>
              </p:nvSpPr>
              <p:spPr bwMode="auto">
                <a:xfrm>
                  <a:off x="3200" y="804"/>
                  <a:ext cx="4" cy="45"/>
                </a:xfrm>
                <a:custGeom>
                  <a:avLst/>
                  <a:gdLst>
                    <a:gd name="T0" fmla="*/ 0 w 12"/>
                    <a:gd name="T1" fmla="*/ 121 h 121"/>
                    <a:gd name="T2" fmla="*/ 0 w 12"/>
                    <a:gd name="T3" fmla="*/ 49 h 121"/>
                    <a:gd name="T4" fmla="*/ 12 w 12"/>
                    <a:gd name="T5" fmla="*/ 0 h 121"/>
                    <a:gd name="T6" fmla="*/ 12 w 12"/>
                    <a:gd name="T7" fmla="*/ 121 h 121"/>
                    <a:gd name="T8" fmla="*/ 0 w 12"/>
                    <a:gd name="T9" fmla="*/ 121 h 121"/>
                  </a:gdLst>
                  <a:ahLst/>
                  <a:cxnLst>
                    <a:cxn ang="0">
                      <a:pos x="T0" y="T1"/>
                    </a:cxn>
                    <a:cxn ang="0">
                      <a:pos x="T2" y="T3"/>
                    </a:cxn>
                    <a:cxn ang="0">
                      <a:pos x="T4" y="T5"/>
                    </a:cxn>
                    <a:cxn ang="0">
                      <a:pos x="T6" y="T7"/>
                    </a:cxn>
                    <a:cxn ang="0">
                      <a:pos x="T8" y="T9"/>
                    </a:cxn>
                  </a:cxnLst>
                  <a:rect l="0" t="0" r="r" b="b"/>
                  <a:pathLst>
                    <a:path w="12" h="121">
                      <a:moveTo>
                        <a:pt x="0" y="121"/>
                      </a:moveTo>
                      <a:lnTo>
                        <a:pt x="0" y="49"/>
                      </a:lnTo>
                      <a:lnTo>
                        <a:pt x="12" y="0"/>
                      </a:lnTo>
                      <a:lnTo>
                        <a:pt x="12" y="121"/>
                      </a:lnTo>
                      <a:lnTo>
                        <a:pt x="0" y="12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47" name="Freeform 1035"/>
                <p:cNvSpPr>
                  <a:spLocks noChangeAspect="1"/>
                </p:cNvSpPr>
                <p:nvPr/>
              </p:nvSpPr>
              <p:spPr bwMode="auto">
                <a:xfrm>
                  <a:off x="3202" y="799"/>
                  <a:ext cx="4" cy="45"/>
                </a:xfrm>
                <a:custGeom>
                  <a:avLst/>
                  <a:gdLst>
                    <a:gd name="T0" fmla="*/ 0 w 12"/>
                    <a:gd name="T1" fmla="*/ 135 h 135"/>
                    <a:gd name="T2" fmla="*/ 0 w 12"/>
                    <a:gd name="T3" fmla="*/ 39 h 135"/>
                    <a:gd name="T4" fmla="*/ 9 w 12"/>
                    <a:gd name="T5" fmla="*/ 0 h 135"/>
                    <a:gd name="T6" fmla="*/ 12 w 12"/>
                    <a:gd name="T7" fmla="*/ 0 h 135"/>
                    <a:gd name="T8" fmla="*/ 12 w 12"/>
                    <a:gd name="T9" fmla="*/ 135 h 135"/>
                    <a:gd name="T10" fmla="*/ 0 w 12"/>
                    <a:gd name="T11" fmla="*/ 135 h 135"/>
                  </a:gdLst>
                  <a:ahLst/>
                  <a:cxnLst>
                    <a:cxn ang="0">
                      <a:pos x="T0" y="T1"/>
                    </a:cxn>
                    <a:cxn ang="0">
                      <a:pos x="T2" y="T3"/>
                    </a:cxn>
                    <a:cxn ang="0">
                      <a:pos x="T4" y="T5"/>
                    </a:cxn>
                    <a:cxn ang="0">
                      <a:pos x="T6" y="T7"/>
                    </a:cxn>
                    <a:cxn ang="0">
                      <a:pos x="T8" y="T9"/>
                    </a:cxn>
                    <a:cxn ang="0">
                      <a:pos x="T10" y="T11"/>
                    </a:cxn>
                  </a:cxnLst>
                  <a:rect l="0" t="0" r="r" b="b"/>
                  <a:pathLst>
                    <a:path w="12" h="135">
                      <a:moveTo>
                        <a:pt x="0" y="135"/>
                      </a:moveTo>
                      <a:lnTo>
                        <a:pt x="0" y="39"/>
                      </a:lnTo>
                      <a:lnTo>
                        <a:pt x="9" y="0"/>
                      </a:lnTo>
                      <a:lnTo>
                        <a:pt x="12" y="0"/>
                      </a:lnTo>
                      <a:lnTo>
                        <a:pt x="12" y="135"/>
                      </a:lnTo>
                      <a:lnTo>
                        <a:pt x="0" y="13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48" name="Freeform 1036"/>
                <p:cNvSpPr>
                  <a:spLocks noChangeAspect="1"/>
                </p:cNvSpPr>
                <p:nvPr/>
              </p:nvSpPr>
              <p:spPr bwMode="auto">
                <a:xfrm>
                  <a:off x="3203" y="799"/>
                  <a:ext cx="3" cy="45"/>
                </a:xfrm>
                <a:custGeom>
                  <a:avLst/>
                  <a:gdLst>
                    <a:gd name="T0" fmla="*/ 0 w 11"/>
                    <a:gd name="T1" fmla="*/ 135 h 135"/>
                    <a:gd name="T2" fmla="*/ 0 w 11"/>
                    <a:gd name="T3" fmla="*/ 14 h 135"/>
                    <a:gd name="T4" fmla="*/ 3 w 11"/>
                    <a:gd name="T5" fmla="*/ 0 h 135"/>
                    <a:gd name="T6" fmla="*/ 11 w 11"/>
                    <a:gd name="T7" fmla="*/ 0 h 135"/>
                    <a:gd name="T8" fmla="*/ 11 w 11"/>
                    <a:gd name="T9" fmla="*/ 135 h 135"/>
                    <a:gd name="T10" fmla="*/ 0 w 11"/>
                    <a:gd name="T11" fmla="*/ 135 h 135"/>
                  </a:gdLst>
                  <a:ahLst/>
                  <a:cxnLst>
                    <a:cxn ang="0">
                      <a:pos x="T0" y="T1"/>
                    </a:cxn>
                    <a:cxn ang="0">
                      <a:pos x="T2" y="T3"/>
                    </a:cxn>
                    <a:cxn ang="0">
                      <a:pos x="T4" y="T5"/>
                    </a:cxn>
                    <a:cxn ang="0">
                      <a:pos x="T6" y="T7"/>
                    </a:cxn>
                    <a:cxn ang="0">
                      <a:pos x="T8" y="T9"/>
                    </a:cxn>
                    <a:cxn ang="0">
                      <a:pos x="T10" y="T11"/>
                    </a:cxn>
                  </a:cxnLst>
                  <a:rect l="0" t="0" r="r" b="b"/>
                  <a:pathLst>
                    <a:path w="11" h="135">
                      <a:moveTo>
                        <a:pt x="0" y="135"/>
                      </a:moveTo>
                      <a:lnTo>
                        <a:pt x="0" y="14"/>
                      </a:lnTo>
                      <a:lnTo>
                        <a:pt x="3" y="0"/>
                      </a:lnTo>
                      <a:lnTo>
                        <a:pt x="11" y="0"/>
                      </a:lnTo>
                      <a:lnTo>
                        <a:pt x="11" y="135"/>
                      </a:lnTo>
                      <a:lnTo>
                        <a:pt x="0" y="13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49" name="Rectangle 1037"/>
                <p:cNvSpPr>
                  <a:spLocks noChangeAspect="1" noChangeArrowheads="1"/>
                </p:cNvSpPr>
                <p:nvPr/>
              </p:nvSpPr>
              <p:spPr bwMode="auto">
                <a:xfrm>
                  <a:off x="3203" y="799"/>
                  <a:ext cx="4"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50" name="Rectangle 1038"/>
                <p:cNvSpPr>
                  <a:spLocks noChangeAspect="1" noChangeArrowheads="1"/>
                </p:cNvSpPr>
                <p:nvPr/>
              </p:nvSpPr>
              <p:spPr bwMode="auto">
                <a:xfrm>
                  <a:off x="3203" y="799"/>
                  <a:ext cx="4"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51" name="Rectangle 1039"/>
                <p:cNvSpPr>
                  <a:spLocks noChangeAspect="1" noChangeArrowheads="1"/>
                </p:cNvSpPr>
                <p:nvPr/>
              </p:nvSpPr>
              <p:spPr bwMode="auto">
                <a:xfrm>
                  <a:off x="3203" y="799"/>
                  <a:ext cx="3"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52" name="Rectangle 1040"/>
                <p:cNvSpPr>
                  <a:spLocks noChangeAspect="1" noChangeArrowheads="1"/>
                </p:cNvSpPr>
                <p:nvPr/>
              </p:nvSpPr>
              <p:spPr bwMode="auto">
                <a:xfrm>
                  <a:off x="3203" y="799"/>
                  <a:ext cx="14"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53" name="Rectangle 1041"/>
                <p:cNvSpPr>
                  <a:spLocks noChangeAspect="1" noChangeArrowheads="1"/>
                </p:cNvSpPr>
                <p:nvPr/>
              </p:nvSpPr>
              <p:spPr bwMode="auto">
                <a:xfrm>
                  <a:off x="3204" y="799"/>
                  <a:ext cx="13"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54" name="Rectangle 1042"/>
                <p:cNvSpPr>
                  <a:spLocks noChangeAspect="1" noChangeArrowheads="1"/>
                </p:cNvSpPr>
                <p:nvPr/>
              </p:nvSpPr>
              <p:spPr bwMode="auto">
                <a:xfrm>
                  <a:off x="3216" y="799"/>
                  <a:ext cx="4"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55" name="Rectangle 1043"/>
                <p:cNvSpPr>
                  <a:spLocks noChangeAspect="1" noChangeArrowheads="1"/>
                </p:cNvSpPr>
                <p:nvPr/>
              </p:nvSpPr>
              <p:spPr bwMode="auto">
                <a:xfrm>
                  <a:off x="3217" y="799"/>
                  <a:ext cx="4"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56" name="Rectangle 1044"/>
                <p:cNvSpPr>
                  <a:spLocks noChangeAspect="1" noChangeArrowheads="1"/>
                </p:cNvSpPr>
                <p:nvPr/>
              </p:nvSpPr>
              <p:spPr bwMode="auto">
                <a:xfrm>
                  <a:off x="3220" y="799"/>
                  <a:ext cx="3"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grpSp>
          <p:sp>
            <p:nvSpPr>
              <p:cNvPr id="65557" name="Rectangle 1045"/>
              <p:cNvSpPr>
                <a:spLocks noChangeAspect="1" noChangeArrowheads="1"/>
              </p:cNvSpPr>
              <p:nvPr/>
            </p:nvSpPr>
            <p:spPr bwMode="auto">
              <a:xfrm>
                <a:off x="3221" y="799"/>
                <a:ext cx="4"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58" name="Rectangle 1046"/>
              <p:cNvSpPr>
                <a:spLocks noChangeAspect="1" noChangeArrowheads="1"/>
              </p:cNvSpPr>
              <p:nvPr/>
            </p:nvSpPr>
            <p:spPr bwMode="auto">
              <a:xfrm>
                <a:off x="3223" y="799"/>
                <a:ext cx="4"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59" name="Rectangle 1047"/>
              <p:cNvSpPr>
                <a:spLocks noChangeAspect="1" noChangeArrowheads="1"/>
              </p:cNvSpPr>
              <p:nvPr/>
            </p:nvSpPr>
            <p:spPr bwMode="auto">
              <a:xfrm>
                <a:off x="3229" y="799"/>
                <a:ext cx="13"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60" name="Rectangle 1048"/>
              <p:cNvSpPr>
                <a:spLocks noChangeAspect="1" noChangeArrowheads="1"/>
              </p:cNvSpPr>
              <p:nvPr/>
            </p:nvSpPr>
            <p:spPr bwMode="auto">
              <a:xfrm>
                <a:off x="3231" y="799"/>
                <a:ext cx="13"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61" name="Rectangle 1049"/>
              <p:cNvSpPr>
                <a:spLocks noChangeAspect="1" noChangeArrowheads="1"/>
              </p:cNvSpPr>
              <p:nvPr/>
            </p:nvSpPr>
            <p:spPr bwMode="auto">
              <a:xfrm>
                <a:off x="3237" y="799"/>
                <a:ext cx="4"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62" name="Rectangle 1050"/>
              <p:cNvSpPr>
                <a:spLocks noChangeAspect="1" noChangeArrowheads="1"/>
              </p:cNvSpPr>
              <p:nvPr/>
            </p:nvSpPr>
            <p:spPr bwMode="auto">
              <a:xfrm>
                <a:off x="3239" y="799"/>
                <a:ext cx="4"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63" name="Rectangle 1051"/>
              <p:cNvSpPr>
                <a:spLocks noChangeAspect="1" noChangeArrowheads="1"/>
              </p:cNvSpPr>
              <p:nvPr/>
            </p:nvSpPr>
            <p:spPr bwMode="auto">
              <a:xfrm>
                <a:off x="3243" y="799"/>
                <a:ext cx="4"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64" name="Rectangle 1052"/>
              <p:cNvSpPr>
                <a:spLocks noChangeAspect="1" noChangeArrowheads="1"/>
              </p:cNvSpPr>
              <p:nvPr/>
            </p:nvSpPr>
            <p:spPr bwMode="auto">
              <a:xfrm>
                <a:off x="3245" y="799"/>
                <a:ext cx="4"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65" name="Rectangle 1053"/>
              <p:cNvSpPr>
                <a:spLocks noChangeAspect="1" noChangeArrowheads="1"/>
              </p:cNvSpPr>
              <p:nvPr/>
            </p:nvSpPr>
            <p:spPr bwMode="auto">
              <a:xfrm>
                <a:off x="3251" y="799"/>
                <a:ext cx="4"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66" name="Rectangle 1054"/>
              <p:cNvSpPr>
                <a:spLocks noChangeAspect="1" noChangeArrowheads="1"/>
              </p:cNvSpPr>
              <p:nvPr/>
            </p:nvSpPr>
            <p:spPr bwMode="auto">
              <a:xfrm>
                <a:off x="3253" y="799"/>
                <a:ext cx="4"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67" name="Rectangle 1055"/>
              <p:cNvSpPr>
                <a:spLocks noChangeAspect="1" noChangeArrowheads="1"/>
              </p:cNvSpPr>
              <p:nvPr/>
            </p:nvSpPr>
            <p:spPr bwMode="auto">
              <a:xfrm>
                <a:off x="3257" y="799"/>
                <a:ext cx="4"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68" name="Rectangle 1056"/>
              <p:cNvSpPr>
                <a:spLocks noChangeAspect="1" noChangeArrowheads="1"/>
              </p:cNvSpPr>
              <p:nvPr/>
            </p:nvSpPr>
            <p:spPr bwMode="auto">
              <a:xfrm>
                <a:off x="3259" y="799"/>
                <a:ext cx="13"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69" name="Rectangle 1057"/>
              <p:cNvSpPr>
                <a:spLocks noChangeAspect="1" noChangeArrowheads="1"/>
              </p:cNvSpPr>
              <p:nvPr/>
            </p:nvSpPr>
            <p:spPr bwMode="auto">
              <a:xfrm>
                <a:off x="3265" y="799"/>
                <a:ext cx="4"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70" name="Rectangle 1058"/>
              <p:cNvSpPr>
                <a:spLocks noChangeAspect="1" noChangeArrowheads="1"/>
              </p:cNvSpPr>
              <p:nvPr/>
            </p:nvSpPr>
            <p:spPr bwMode="auto">
              <a:xfrm>
                <a:off x="3267" y="799"/>
                <a:ext cx="4"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71" name="Rectangle 1059"/>
              <p:cNvSpPr>
                <a:spLocks noChangeAspect="1" noChangeArrowheads="1"/>
              </p:cNvSpPr>
              <p:nvPr/>
            </p:nvSpPr>
            <p:spPr bwMode="auto">
              <a:xfrm>
                <a:off x="3271" y="799"/>
                <a:ext cx="4"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72" name="Rectangle 1060"/>
              <p:cNvSpPr>
                <a:spLocks noChangeAspect="1" noChangeArrowheads="1"/>
              </p:cNvSpPr>
              <p:nvPr/>
            </p:nvSpPr>
            <p:spPr bwMode="auto">
              <a:xfrm>
                <a:off x="3273" y="799"/>
                <a:ext cx="4" cy="45"/>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573" name="Freeform 1061"/>
              <p:cNvSpPr>
                <a:spLocks noChangeAspect="1"/>
              </p:cNvSpPr>
              <p:nvPr/>
            </p:nvSpPr>
            <p:spPr bwMode="auto">
              <a:xfrm>
                <a:off x="3278" y="799"/>
                <a:ext cx="5" cy="45"/>
              </a:xfrm>
              <a:custGeom>
                <a:avLst/>
                <a:gdLst>
                  <a:gd name="T0" fmla="*/ 0 w 13"/>
                  <a:gd name="T1" fmla="*/ 135 h 135"/>
                  <a:gd name="T2" fmla="*/ 0 w 13"/>
                  <a:gd name="T3" fmla="*/ 0 h 135"/>
                  <a:gd name="T4" fmla="*/ 9 w 13"/>
                  <a:gd name="T5" fmla="*/ 0 h 135"/>
                  <a:gd name="T6" fmla="*/ 13 w 13"/>
                  <a:gd name="T7" fmla="*/ 14 h 135"/>
                  <a:gd name="T8" fmla="*/ 13 w 13"/>
                  <a:gd name="T9" fmla="*/ 135 h 135"/>
                  <a:gd name="T10" fmla="*/ 0 w 13"/>
                  <a:gd name="T11" fmla="*/ 135 h 135"/>
                </a:gdLst>
                <a:ahLst/>
                <a:cxnLst>
                  <a:cxn ang="0">
                    <a:pos x="T0" y="T1"/>
                  </a:cxn>
                  <a:cxn ang="0">
                    <a:pos x="T2" y="T3"/>
                  </a:cxn>
                  <a:cxn ang="0">
                    <a:pos x="T4" y="T5"/>
                  </a:cxn>
                  <a:cxn ang="0">
                    <a:pos x="T6" y="T7"/>
                  </a:cxn>
                  <a:cxn ang="0">
                    <a:pos x="T8" y="T9"/>
                  </a:cxn>
                  <a:cxn ang="0">
                    <a:pos x="T10" y="T11"/>
                  </a:cxn>
                </a:cxnLst>
                <a:rect l="0" t="0" r="r" b="b"/>
                <a:pathLst>
                  <a:path w="13" h="135">
                    <a:moveTo>
                      <a:pt x="0" y="135"/>
                    </a:moveTo>
                    <a:lnTo>
                      <a:pt x="0" y="0"/>
                    </a:lnTo>
                    <a:lnTo>
                      <a:pt x="9" y="0"/>
                    </a:lnTo>
                    <a:lnTo>
                      <a:pt x="13" y="14"/>
                    </a:lnTo>
                    <a:lnTo>
                      <a:pt x="13" y="135"/>
                    </a:lnTo>
                    <a:lnTo>
                      <a:pt x="0" y="13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74" name="Freeform 1062"/>
              <p:cNvSpPr>
                <a:spLocks noChangeAspect="1"/>
              </p:cNvSpPr>
              <p:nvPr/>
            </p:nvSpPr>
            <p:spPr bwMode="auto">
              <a:xfrm>
                <a:off x="3281" y="799"/>
                <a:ext cx="3" cy="45"/>
              </a:xfrm>
              <a:custGeom>
                <a:avLst/>
                <a:gdLst>
                  <a:gd name="T0" fmla="*/ 0 w 11"/>
                  <a:gd name="T1" fmla="*/ 135 h 135"/>
                  <a:gd name="T2" fmla="*/ 0 w 11"/>
                  <a:gd name="T3" fmla="*/ 0 h 135"/>
                  <a:gd name="T4" fmla="*/ 2 w 11"/>
                  <a:gd name="T5" fmla="*/ 0 h 135"/>
                  <a:gd name="T6" fmla="*/ 11 w 11"/>
                  <a:gd name="T7" fmla="*/ 39 h 135"/>
                  <a:gd name="T8" fmla="*/ 11 w 11"/>
                  <a:gd name="T9" fmla="*/ 135 h 135"/>
                  <a:gd name="T10" fmla="*/ 0 w 11"/>
                  <a:gd name="T11" fmla="*/ 135 h 135"/>
                </a:gdLst>
                <a:ahLst/>
                <a:cxnLst>
                  <a:cxn ang="0">
                    <a:pos x="T0" y="T1"/>
                  </a:cxn>
                  <a:cxn ang="0">
                    <a:pos x="T2" y="T3"/>
                  </a:cxn>
                  <a:cxn ang="0">
                    <a:pos x="T4" y="T5"/>
                  </a:cxn>
                  <a:cxn ang="0">
                    <a:pos x="T6" y="T7"/>
                  </a:cxn>
                  <a:cxn ang="0">
                    <a:pos x="T8" y="T9"/>
                  </a:cxn>
                  <a:cxn ang="0">
                    <a:pos x="T10" y="T11"/>
                  </a:cxn>
                </a:cxnLst>
                <a:rect l="0" t="0" r="r" b="b"/>
                <a:pathLst>
                  <a:path w="11" h="135">
                    <a:moveTo>
                      <a:pt x="0" y="135"/>
                    </a:moveTo>
                    <a:lnTo>
                      <a:pt x="0" y="0"/>
                    </a:lnTo>
                    <a:lnTo>
                      <a:pt x="2" y="0"/>
                    </a:lnTo>
                    <a:lnTo>
                      <a:pt x="11" y="39"/>
                    </a:lnTo>
                    <a:lnTo>
                      <a:pt x="11" y="135"/>
                    </a:lnTo>
                    <a:lnTo>
                      <a:pt x="0" y="13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75" name="Freeform 1063"/>
              <p:cNvSpPr>
                <a:spLocks noChangeAspect="1"/>
              </p:cNvSpPr>
              <p:nvPr/>
            </p:nvSpPr>
            <p:spPr bwMode="auto">
              <a:xfrm>
                <a:off x="3283" y="804"/>
                <a:ext cx="4" cy="47"/>
              </a:xfrm>
              <a:custGeom>
                <a:avLst/>
                <a:gdLst>
                  <a:gd name="T0" fmla="*/ 0 w 12"/>
                  <a:gd name="T1" fmla="*/ 121 h 121"/>
                  <a:gd name="T2" fmla="*/ 0 w 12"/>
                  <a:gd name="T3" fmla="*/ 0 h 121"/>
                  <a:gd name="T4" fmla="*/ 12 w 12"/>
                  <a:gd name="T5" fmla="*/ 49 h 121"/>
                  <a:gd name="T6" fmla="*/ 12 w 12"/>
                  <a:gd name="T7" fmla="*/ 121 h 121"/>
                  <a:gd name="T8" fmla="*/ 0 w 12"/>
                  <a:gd name="T9" fmla="*/ 121 h 121"/>
                </a:gdLst>
                <a:ahLst/>
                <a:cxnLst>
                  <a:cxn ang="0">
                    <a:pos x="T0" y="T1"/>
                  </a:cxn>
                  <a:cxn ang="0">
                    <a:pos x="T2" y="T3"/>
                  </a:cxn>
                  <a:cxn ang="0">
                    <a:pos x="T4" y="T5"/>
                  </a:cxn>
                  <a:cxn ang="0">
                    <a:pos x="T6" y="T7"/>
                  </a:cxn>
                  <a:cxn ang="0">
                    <a:pos x="T8" y="T9"/>
                  </a:cxn>
                </a:cxnLst>
                <a:rect l="0" t="0" r="r" b="b"/>
                <a:pathLst>
                  <a:path w="12" h="121">
                    <a:moveTo>
                      <a:pt x="0" y="121"/>
                    </a:moveTo>
                    <a:lnTo>
                      <a:pt x="0" y="0"/>
                    </a:lnTo>
                    <a:lnTo>
                      <a:pt x="12" y="49"/>
                    </a:lnTo>
                    <a:lnTo>
                      <a:pt x="12" y="121"/>
                    </a:lnTo>
                    <a:lnTo>
                      <a:pt x="0" y="12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76" name="Freeform 1064"/>
              <p:cNvSpPr>
                <a:spLocks noChangeAspect="1"/>
              </p:cNvSpPr>
              <p:nvPr/>
            </p:nvSpPr>
            <p:spPr bwMode="auto">
              <a:xfrm>
                <a:off x="3284" y="812"/>
                <a:ext cx="4" cy="32"/>
              </a:xfrm>
              <a:custGeom>
                <a:avLst/>
                <a:gdLst>
                  <a:gd name="T0" fmla="*/ 0 w 12"/>
                  <a:gd name="T1" fmla="*/ 96 h 96"/>
                  <a:gd name="T2" fmla="*/ 0 w 12"/>
                  <a:gd name="T3" fmla="*/ 0 h 96"/>
                  <a:gd name="T4" fmla="*/ 12 w 12"/>
                  <a:gd name="T5" fmla="*/ 49 h 96"/>
                  <a:gd name="T6" fmla="*/ 12 w 12"/>
                  <a:gd name="T7" fmla="*/ 96 h 96"/>
                  <a:gd name="T8" fmla="*/ 0 w 12"/>
                  <a:gd name="T9" fmla="*/ 96 h 96"/>
                </a:gdLst>
                <a:ahLst/>
                <a:cxnLst>
                  <a:cxn ang="0">
                    <a:pos x="T0" y="T1"/>
                  </a:cxn>
                  <a:cxn ang="0">
                    <a:pos x="T2" y="T3"/>
                  </a:cxn>
                  <a:cxn ang="0">
                    <a:pos x="T4" y="T5"/>
                  </a:cxn>
                  <a:cxn ang="0">
                    <a:pos x="T6" y="T7"/>
                  </a:cxn>
                  <a:cxn ang="0">
                    <a:pos x="T8" y="T9"/>
                  </a:cxn>
                </a:cxnLst>
                <a:rect l="0" t="0" r="r" b="b"/>
                <a:pathLst>
                  <a:path w="12" h="96">
                    <a:moveTo>
                      <a:pt x="0" y="96"/>
                    </a:moveTo>
                    <a:lnTo>
                      <a:pt x="0" y="0"/>
                    </a:lnTo>
                    <a:lnTo>
                      <a:pt x="12" y="49"/>
                    </a:lnTo>
                    <a:lnTo>
                      <a:pt x="12" y="96"/>
                    </a:lnTo>
                    <a:lnTo>
                      <a:pt x="0" y="96"/>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77" name="Freeform 1065"/>
              <p:cNvSpPr>
                <a:spLocks noChangeAspect="1"/>
              </p:cNvSpPr>
              <p:nvPr/>
            </p:nvSpPr>
            <p:spPr bwMode="auto">
              <a:xfrm>
                <a:off x="3287" y="820"/>
                <a:ext cx="3" cy="31"/>
              </a:xfrm>
              <a:custGeom>
                <a:avLst/>
                <a:gdLst>
                  <a:gd name="T0" fmla="*/ 0 w 11"/>
                  <a:gd name="T1" fmla="*/ 72 h 72"/>
                  <a:gd name="T2" fmla="*/ 0 w 11"/>
                  <a:gd name="T3" fmla="*/ 0 h 72"/>
                  <a:gd name="T4" fmla="*/ 11 w 11"/>
                  <a:gd name="T5" fmla="*/ 48 h 72"/>
                  <a:gd name="T6" fmla="*/ 11 w 11"/>
                  <a:gd name="T7" fmla="*/ 72 h 72"/>
                  <a:gd name="T8" fmla="*/ 0 w 11"/>
                  <a:gd name="T9" fmla="*/ 72 h 72"/>
                </a:gdLst>
                <a:ahLst/>
                <a:cxnLst>
                  <a:cxn ang="0">
                    <a:pos x="T0" y="T1"/>
                  </a:cxn>
                  <a:cxn ang="0">
                    <a:pos x="T2" y="T3"/>
                  </a:cxn>
                  <a:cxn ang="0">
                    <a:pos x="T4" y="T5"/>
                  </a:cxn>
                  <a:cxn ang="0">
                    <a:pos x="T6" y="T7"/>
                  </a:cxn>
                  <a:cxn ang="0">
                    <a:pos x="T8" y="T9"/>
                  </a:cxn>
                </a:cxnLst>
                <a:rect l="0" t="0" r="r" b="b"/>
                <a:pathLst>
                  <a:path w="11" h="72">
                    <a:moveTo>
                      <a:pt x="0" y="72"/>
                    </a:moveTo>
                    <a:lnTo>
                      <a:pt x="0" y="0"/>
                    </a:lnTo>
                    <a:lnTo>
                      <a:pt x="11" y="48"/>
                    </a:lnTo>
                    <a:lnTo>
                      <a:pt x="11" y="72"/>
                    </a:lnTo>
                    <a:lnTo>
                      <a:pt x="0" y="72"/>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78" name="Freeform 1066"/>
              <p:cNvSpPr>
                <a:spLocks noChangeAspect="1"/>
              </p:cNvSpPr>
              <p:nvPr/>
            </p:nvSpPr>
            <p:spPr bwMode="auto">
              <a:xfrm>
                <a:off x="3288" y="828"/>
                <a:ext cx="13" cy="16"/>
              </a:xfrm>
              <a:custGeom>
                <a:avLst/>
                <a:gdLst>
                  <a:gd name="T0" fmla="*/ 0 w 12"/>
                  <a:gd name="T1" fmla="*/ 47 h 47"/>
                  <a:gd name="T2" fmla="*/ 0 w 12"/>
                  <a:gd name="T3" fmla="*/ 0 h 47"/>
                  <a:gd name="T4" fmla="*/ 12 w 12"/>
                  <a:gd name="T5" fmla="*/ 47 h 47"/>
                  <a:gd name="T6" fmla="*/ 0 w 12"/>
                  <a:gd name="T7" fmla="*/ 47 h 47"/>
                </a:gdLst>
                <a:ahLst/>
                <a:cxnLst>
                  <a:cxn ang="0">
                    <a:pos x="T0" y="T1"/>
                  </a:cxn>
                  <a:cxn ang="0">
                    <a:pos x="T2" y="T3"/>
                  </a:cxn>
                  <a:cxn ang="0">
                    <a:pos x="T4" y="T5"/>
                  </a:cxn>
                  <a:cxn ang="0">
                    <a:pos x="T6" y="T7"/>
                  </a:cxn>
                </a:cxnLst>
                <a:rect l="0" t="0" r="r" b="b"/>
                <a:pathLst>
                  <a:path w="12" h="47">
                    <a:moveTo>
                      <a:pt x="0" y="47"/>
                    </a:moveTo>
                    <a:lnTo>
                      <a:pt x="0" y="0"/>
                    </a:lnTo>
                    <a:lnTo>
                      <a:pt x="12" y="47"/>
                    </a:lnTo>
                    <a:lnTo>
                      <a:pt x="0" y="47"/>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79" name="Freeform 1067"/>
              <p:cNvSpPr>
                <a:spLocks noChangeAspect="1"/>
              </p:cNvSpPr>
              <p:nvPr/>
            </p:nvSpPr>
            <p:spPr bwMode="auto">
              <a:xfrm>
                <a:off x="3290" y="836"/>
                <a:ext cx="11" cy="15"/>
              </a:xfrm>
              <a:custGeom>
                <a:avLst/>
                <a:gdLst>
                  <a:gd name="T0" fmla="*/ 0 w 6"/>
                  <a:gd name="T1" fmla="*/ 24 h 24"/>
                  <a:gd name="T2" fmla="*/ 0 w 6"/>
                  <a:gd name="T3" fmla="*/ 0 h 24"/>
                  <a:gd name="T4" fmla="*/ 6 w 6"/>
                  <a:gd name="T5" fmla="*/ 24 h 24"/>
                  <a:gd name="T6" fmla="*/ 0 w 6"/>
                  <a:gd name="T7" fmla="*/ 24 h 24"/>
                </a:gdLst>
                <a:ahLst/>
                <a:cxnLst>
                  <a:cxn ang="0">
                    <a:pos x="T0" y="T1"/>
                  </a:cxn>
                  <a:cxn ang="0">
                    <a:pos x="T2" y="T3"/>
                  </a:cxn>
                  <a:cxn ang="0">
                    <a:pos x="T4" y="T5"/>
                  </a:cxn>
                  <a:cxn ang="0">
                    <a:pos x="T6" y="T7"/>
                  </a:cxn>
                </a:cxnLst>
                <a:rect l="0" t="0" r="r" b="b"/>
                <a:pathLst>
                  <a:path w="6" h="24">
                    <a:moveTo>
                      <a:pt x="0" y="24"/>
                    </a:moveTo>
                    <a:lnTo>
                      <a:pt x="0" y="0"/>
                    </a:lnTo>
                    <a:lnTo>
                      <a:pt x="6" y="24"/>
                    </a:lnTo>
                    <a:lnTo>
                      <a:pt x="0" y="24"/>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80" name="Freeform 1068"/>
              <p:cNvSpPr>
                <a:spLocks noChangeAspect="1"/>
              </p:cNvSpPr>
              <p:nvPr/>
            </p:nvSpPr>
            <p:spPr bwMode="auto">
              <a:xfrm>
                <a:off x="3194" y="799"/>
                <a:ext cx="102" cy="45"/>
              </a:xfrm>
              <a:custGeom>
                <a:avLst/>
                <a:gdLst>
                  <a:gd name="T0" fmla="*/ 0 w 296"/>
                  <a:gd name="T1" fmla="*/ 135 h 135"/>
                  <a:gd name="T2" fmla="*/ 33 w 296"/>
                  <a:gd name="T3" fmla="*/ 0 h 135"/>
                  <a:gd name="T4" fmla="*/ 263 w 296"/>
                  <a:gd name="T5" fmla="*/ 0 h 135"/>
                  <a:gd name="T6" fmla="*/ 296 w 296"/>
                  <a:gd name="T7" fmla="*/ 135 h 135"/>
                  <a:gd name="T8" fmla="*/ 0 w 296"/>
                  <a:gd name="T9" fmla="*/ 135 h 135"/>
                </a:gdLst>
                <a:ahLst/>
                <a:cxnLst>
                  <a:cxn ang="0">
                    <a:pos x="T0" y="T1"/>
                  </a:cxn>
                  <a:cxn ang="0">
                    <a:pos x="T2" y="T3"/>
                  </a:cxn>
                  <a:cxn ang="0">
                    <a:pos x="T4" y="T5"/>
                  </a:cxn>
                  <a:cxn ang="0">
                    <a:pos x="T6" y="T7"/>
                  </a:cxn>
                  <a:cxn ang="0">
                    <a:pos x="T8" y="T9"/>
                  </a:cxn>
                </a:cxnLst>
                <a:rect l="0" t="0" r="r" b="b"/>
                <a:pathLst>
                  <a:path w="296" h="135">
                    <a:moveTo>
                      <a:pt x="0" y="135"/>
                    </a:moveTo>
                    <a:lnTo>
                      <a:pt x="33" y="0"/>
                    </a:lnTo>
                    <a:lnTo>
                      <a:pt x="263" y="0"/>
                    </a:lnTo>
                    <a:lnTo>
                      <a:pt x="296" y="135"/>
                    </a:lnTo>
                    <a:lnTo>
                      <a:pt x="0" y="135"/>
                    </a:lnTo>
                  </a:path>
                </a:pathLst>
              </a:custGeom>
              <a:gradFill rotWithShape="0">
                <a:gsLst>
                  <a:gs pos="0">
                    <a:schemeClr val="hlink"/>
                  </a:gs>
                  <a:gs pos="50000">
                    <a:schemeClr val="hlink">
                      <a:gamma/>
                      <a:tint val="31373"/>
                      <a:invGamma/>
                    </a:schemeClr>
                  </a:gs>
                  <a:gs pos="100000">
                    <a:schemeClr val="hlink"/>
                  </a:gs>
                </a:gsLst>
                <a:lin ang="0" scaled="1"/>
              </a:gradFill>
              <a:ln w="1588">
                <a:solidFill>
                  <a:srgbClr val="1F1A17"/>
                </a:solidFill>
                <a:prstDash val="solid"/>
                <a:round/>
                <a:headEnd/>
                <a:tailEnd/>
              </a:ln>
            </p:spPr>
            <p:txBody>
              <a:bodyPr/>
              <a:lstStyle/>
              <a:p>
                <a:pPr>
                  <a:defRPr/>
                </a:pPr>
                <a:endParaRPr lang="en-US"/>
              </a:p>
            </p:txBody>
          </p:sp>
          <p:sp>
            <p:nvSpPr>
              <p:cNvPr id="65581" name="Freeform 1069"/>
              <p:cNvSpPr>
                <a:spLocks noChangeAspect="1"/>
              </p:cNvSpPr>
              <p:nvPr/>
            </p:nvSpPr>
            <p:spPr bwMode="auto">
              <a:xfrm>
                <a:off x="3159" y="1590"/>
                <a:ext cx="3" cy="78"/>
              </a:xfrm>
              <a:custGeom>
                <a:avLst/>
                <a:gdLst>
                  <a:gd name="T0" fmla="*/ 0 w 10"/>
                  <a:gd name="T1" fmla="*/ 161 h 214"/>
                  <a:gd name="T2" fmla="*/ 0 w 10"/>
                  <a:gd name="T3" fmla="*/ 0 h 214"/>
                  <a:gd name="T4" fmla="*/ 10 w 10"/>
                  <a:gd name="T5" fmla="*/ 0 h 214"/>
                  <a:gd name="T6" fmla="*/ 10 w 10"/>
                  <a:gd name="T7" fmla="*/ 214 h 214"/>
                  <a:gd name="T8" fmla="*/ 7 w 10"/>
                  <a:gd name="T9" fmla="*/ 208 h 214"/>
                  <a:gd name="T10" fmla="*/ 5 w 10"/>
                  <a:gd name="T11" fmla="*/ 201 h 214"/>
                  <a:gd name="T12" fmla="*/ 4 w 10"/>
                  <a:gd name="T13" fmla="*/ 195 h 214"/>
                  <a:gd name="T14" fmla="*/ 2 w 10"/>
                  <a:gd name="T15" fmla="*/ 189 h 214"/>
                  <a:gd name="T16" fmla="*/ 1 w 10"/>
                  <a:gd name="T17" fmla="*/ 181 h 214"/>
                  <a:gd name="T18" fmla="*/ 0 w 10"/>
                  <a:gd name="T19" fmla="*/ 175 h 214"/>
                  <a:gd name="T20" fmla="*/ 0 w 10"/>
                  <a:gd name="T21" fmla="*/ 168 h 214"/>
                  <a:gd name="T22" fmla="*/ 0 w 10"/>
                  <a:gd name="T23" fmla="*/ 16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14">
                    <a:moveTo>
                      <a:pt x="0" y="161"/>
                    </a:moveTo>
                    <a:lnTo>
                      <a:pt x="0" y="0"/>
                    </a:lnTo>
                    <a:lnTo>
                      <a:pt x="10" y="0"/>
                    </a:lnTo>
                    <a:lnTo>
                      <a:pt x="10" y="214"/>
                    </a:lnTo>
                    <a:lnTo>
                      <a:pt x="7" y="208"/>
                    </a:lnTo>
                    <a:lnTo>
                      <a:pt x="5" y="201"/>
                    </a:lnTo>
                    <a:lnTo>
                      <a:pt x="4" y="195"/>
                    </a:lnTo>
                    <a:lnTo>
                      <a:pt x="2" y="189"/>
                    </a:lnTo>
                    <a:lnTo>
                      <a:pt x="1" y="181"/>
                    </a:lnTo>
                    <a:lnTo>
                      <a:pt x="0" y="175"/>
                    </a:lnTo>
                    <a:lnTo>
                      <a:pt x="0" y="168"/>
                    </a:lnTo>
                    <a:lnTo>
                      <a:pt x="0" y="16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82" name="Freeform 1070"/>
              <p:cNvSpPr>
                <a:spLocks noChangeAspect="1"/>
              </p:cNvSpPr>
              <p:nvPr/>
            </p:nvSpPr>
            <p:spPr bwMode="auto">
              <a:xfrm>
                <a:off x="3159" y="1590"/>
                <a:ext cx="7" cy="78"/>
              </a:xfrm>
              <a:custGeom>
                <a:avLst/>
                <a:gdLst>
                  <a:gd name="T0" fmla="*/ 0 w 20"/>
                  <a:gd name="T1" fmla="*/ 161 h 235"/>
                  <a:gd name="T2" fmla="*/ 0 w 20"/>
                  <a:gd name="T3" fmla="*/ 0 h 235"/>
                  <a:gd name="T4" fmla="*/ 20 w 20"/>
                  <a:gd name="T5" fmla="*/ 0 h 235"/>
                  <a:gd name="T6" fmla="*/ 20 w 20"/>
                  <a:gd name="T7" fmla="*/ 235 h 235"/>
                  <a:gd name="T8" fmla="*/ 16 w 20"/>
                  <a:gd name="T9" fmla="*/ 227 h 235"/>
                  <a:gd name="T10" fmla="*/ 11 w 20"/>
                  <a:gd name="T11" fmla="*/ 218 h 235"/>
                  <a:gd name="T12" fmla="*/ 8 w 20"/>
                  <a:gd name="T13" fmla="*/ 209 h 235"/>
                  <a:gd name="T14" fmla="*/ 5 w 20"/>
                  <a:gd name="T15" fmla="*/ 199 h 235"/>
                  <a:gd name="T16" fmla="*/ 3 w 20"/>
                  <a:gd name="T17" fmla="*/ 191 h 235"/>
                  <a:gd name="T18" fmla="*/ 1 w 20"/>
                  <a:gd name="T19" fmla="*/ 181 h 235"/>
                  <a:gd name="T20" fmla="*/ 0 w 20"/>
                  <a:gd name="T21" fmla="*/ 170 h 235"/>
                  <a:gd name="T22" fmla="*/ 0 w 20"/>
                  <a:gd name="T23" fmla="*/ 161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235">
                    <a:moveTo>
                      <a:pt x="0" y="161"/>
                    </a:moveTo>
                    <a:lnTo>
                      <a:pt x="0" y="0"/>
                    </a:lnTo>
                    <a:lnTo>
                      <a:pt x="20" y="0"/>
                    </a:lnTo>
                    <a:lnTo>
                      <a:pt x="20" y="235"/>
                    </a:lnTo>
                    <a:lnTo>
                      <a:pt x="16" y="227"/>
                    </a:lnTo>
                    <a:lnTo>
                      <a:pt x="11" y="218"/>
                    </a:lnTo>
                    <a:lnTo>
                      <a:pt x="8" y="209"/>
                    </a:lnTo>
                    <a:lnTo>
                      <a:pt x="5" y="199"/>
                    </a:lnTo>
                    <a:lnTo>
                      <a:pt x="3" y="191"/>
                    </a:lnTo>
                    <a:lnTo>
                      <a:pt x="1" y="181"/>
                    </a:lnTo>
                    <a:lnTo>
                      <a:pt x="0" y="170"/>
                    </a:lnTo>
                    <a:lnTo>
                      <a:pt x="0" y="16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83" name="Freeform 1071"/>
              <p:cNvSpPr>
                <a:spLocks noChangeAspect="1"/>
              </p:cNvSpPr>
              <p:nvPr/>
            </p:nvSpPr>
            <p:spPr bwMode="auto">
              <a:xfrm>
                <a:off x="3162" y="1590"/>
                <a:ext cx="7" cy="84"/>
              </a:xfrm>
              <a:custGeom>
                <a:avLst/>
                <a:gdLst>
                  <a:gd name="T0" fmla="*/ 0 w 20"/>
                  <a:gd name="T1" fmla="*/ 214 h 251"/>
                  <a:gd name="T2" fmla="*/ 0 w 20"/>
                  <a:gd name="T3" fmla="*/ 0 h 251"/>
                  <a:gd name="T4" fmla="*/ 20 w 20"/>
                  <a:gd name="T5" fmla="*/ 0 h 251"/>
                  <a:gd name="T6" fmla="*/ 20 w 20"/>
                  <a:gd name="T7" fmla="*/ 251 h 251"/>
                  <a:gd name="T8" fmla="*/ 17 w 20"/>
                  <a:gd name="T9" fmla="*/ 247 h 251"/>
                  <a:gd name="T10" fmla="*/ 14 w 20"/>
                  <a:gd name="T11" fmla="*/ 243 h 251"/>
                  <a:gd name="T12" fmla="*/ 12 w 20"/>
                  <a:gd name="T13" fmla="*/ 239 h 251"/>
                  <a:gd name="T14" fmla="*/ 9 w 20"/>
                  <a:gd name="T15" fmla="*/ 233 h 251"/>
                  <a:gd name="T16" fmla="*/ 7 w 20"/>
                  <a:gd name="T17" fmla="*/ 229 h 251"/>
                  <a:gd name="T18" fmla="*/ 4 w 20"/>
                  <a:gd name="T19" fmla="*/ 224 h 251"/>
                  <a:gd name="T20" fmla="*/ 1 w 20"/>
                  <a:gd name="T21" fmla="*/ 219 h 251"/>
                  <a:gd name="T22" fmla="*/ 0 w 20"/>
                  <a:gd name="T23" fmla="*/ 214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251">
                    <a:moveTo>
                      <a:pt x="0" y="214"/>
                    </a:moveTo>
                    <a:lnTo>
                      <a:pt x="0" y="0"/>
                    </a:lnTo>
                    <a:lnTo>
                      <a:pt x="20" y="0"/>
                    </a:lnTo>
                    <a:lnTo>
                      <a:pt x="20" y="251"/>
                    </a:lnTo>
                    <a:lnTo>
                      <a:pt x="17" y="247"/>
                    </a:lnTo>
                    <a:lnTo>
                      <a:pt x="14" y="243"/>
                    </a:lnTo>
                    <a:lnTo>
                      <a:pt x="12" y="239"/>
                    </a:lnTo>
                    <a:lnTo>
                      <a:pt x="9" y="233"/>
                    </a:lnTo>
                    <a:lnTo>
                      <a:pt x="7" y="229"/>
                    </a:lnTo>
                    <a:lnTo>
                      <a:pt x="4" y="224"/>
                    </a:lnTo>
                    <a:lnTo>
                      <a:pt x="1" y="219"/>
                    </a:lnTo>
                    <a:lnTo>
                      <a:pt x="0" y="214"/>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84" name="Freeform 1072"/>
              <p:cNvSpPr>
                <a:spLocks noChangeAspect="1"/>
              </p:cNvSpPr>
              <p:nvPr/>
            </p:nvSpPr>
            <p:spPr bwMode="auto">
              <a:xfrm>
                <a:off x="3166" y="1590"/>
                <a:ext cx="7" cy="94"/>
              </a:xfrm>
              <a:custGeom>
                <a:avLst/>
                <a:gdLst>
                  <a:gd name="T0" fmla="*/ 0 w 21"/>
                  <a:gd name="T1" fmla="*/ 235 h 264"/>
                  <a:gd name="T2" fmla="*/ 0 w 21"/>
                  <a:gd name="T3" fmla="*/ 0 h 264"/>
                  <a:gd name="T4" fmla="*/ 21 w 21"/>
                  <a:gd name="T5" fmla="*/ 0 h 264"/>
                  <a:gd name="T6" fmla="*/ 21 w 21"/>
                  <a:gd name="T7" fmla="*/ 264 h 264"/>
                  <a:gd name="T8" fmla="*/ 18 w 21"/>
                  <a:gd name="T9" fmla="*/ 261 h 264"/>
                  <a:gd name="T10" fmla="*/ 16 w 21"/>
                  <a:gd name="T11" fmla="*/ 258 h 264"/>
                  <a:gd name="T12" fmla="*/ 13 w 21"/>
                  <a:gd name="T13" fmla="*/ 254 h 264"/>
                  <a:gd name="T14" fmla="*/ 10 w 21"/>
                  <a:gd name="T15" fmla="*/ 250 h 264"/>
                  <a:gd name="T16" fmla="*/ 7 w 21"/>
                  <a:gd name="T17" fmla="*/ 247 h 264"/>
                  <a:gd name="T18" fmla="*/ 5 w 21"/>
                  <a:gd name="T19" fmla="*/ 243 h 264"/>
                  <a:gd name="T20" fmla="*/ 3 w 21"/>
                  <a:gd name="T21" fmla="*/ 240 h 264"/>
                  <a:gd name="T22" fmla="*/ 0 w 21"/>
                  <a:gd name="T23" fmla="*/ 235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264">
                    <a:moveTo>
                      <a:pt x="0" y="235"/>
                    </a:moveTo>
                    <a:lnTo>
                      <a:pt x="0" y="0"/>
                    </a:lnTo>
                    <a:lnTo>
                      <a:pt x="21" y="0"/>
                    </a:lnTo>
                    <a:lnTo>
                      <a:pt x="21" y="264"/>
                    </a:lnTo>
                    <a:lnTo>
                      <a:pt x="18" y="261"/>
                    </a:lnTo>
                    <a:lnTo>
                      <a:pt x="16" y="258"/>
                    </a:lnTo>
                    <a:lnTo>
                      <a:pt x="13" y="254"/>
                    </a:lnTo>
                    <a:lnTo>
                      <a:pt x="10" y="250"/>
                    </a:lnTo>
                    <a:lnTo>
                      <a:pt x="7" y="247"/>
                    </a:lnTo>
                    <a:lnTo>
                      <a:pt x="5" y="243"/>
                    </a:lnTo>
                    <a:lnTo>
                      <a:pt x="3" y="240"/>
                    </a:lnTo>
                    <a:lnTo>
                      <a:pt x="0" y="23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85" name="Freeform 1073"/>
              <p:cNvSpPr>
                <a:spLocks noChangeAspect="1"/>
              </p:cNvSpPr>
              <p:nvPr/>
            </p:nvSpPr>
            <p:spPr bwMode="auto">
              <a:xfrm>
                <a:off x="3169" y="1590"/>
                <a:ext cx="15" cy="94"/>
              </a:xfrm>
              <a:custGeom>
                <a:avLst/>
                <a:gdLst>
                  <a:gd name="T0" fmla="*/ 0 w 22"/>
                  <a:gd name="T1" fmla="*/ 251 h 276"/>
                  <a:gd name="T2" fmla="*/ 0 w 22"/>
                  <a:gd name="T3" fmla="*/ 0 h 276"/>
                  <a:gd name="T4" fmla="*/ 22 w 22"/>
                  <a:gd name="T5" fmla="*/ 0 h 276"/>
                  <a:gd name="T6" fmla="*/ 22 w 22"/>
                  <a:gd name="T7" fmla="*/ 276 h 276"/>
                  <a:gd name="T8" fmla="*/ 19 w 22"/>
                  <a:gd name="T9" fmla="*/ 273 h 276"/>
                  <a:gd name="T10" fmla="*/ 16 w 22"/>
                  <a:gd name="T11" fmla="*/ 269 h 276"/>
                  <a:gd name="T12" fmla="*/ 13 w 22"/>
                  <a:gd name="T13" fmla="*/ 267 h 276"/>
                  <a:gd name="T14" fmla="*/ 11 w 22"/>
                  <a:gd name="T15" fmla="*/ 264 h 276"/>
                  <a:gd name="T16" fmla="*/ 8 w 22"/>
                  <a:gd name="T17" fmla="*/ 261 h 276"/>
                  <a:gd name="T18" fmla="*/ 6 w 22"/>
                  <a:gd name="T19" fmla="*/ 258 h 276"/>
                  <a:gd name="T20" fmla="*/ 4 w 22"/>
                  <a:gd name="T21" fmla="*/ 254 h 276"/>
                  <a:gd name="T22" fmla="*/ 0 w 22"/>
                  <a:gd name="T23" fmla="*/ 251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76">
                    <a:moveTo>
                      <a:pt x="0" y="251"/>
                    </a:moveTo>
                    <a:lnTo>
                      <a:pt x="0" y="0"/>
                    </a:lnTo>
                    <a:lnTo>
                      <a:pt x="22" y="0"/>
                    </a:lnTo>
                    <a:lnTo>
                      <a:pt x="22" y="276"/>
                    </a:lnTo>
                    <a:lnTo>
                      <a:pt x="19" y="273"/>
                    </a:lnTo>
                    <a:lnTo>
                      <a:pt x="16" y="269"/>
                    </a:lnTo>
                    <a:lnTo>
                      <a:pt x="13" y="267"/>
                    </a:lnTo>
                    <a:lnTo>
                      <a:pt x="11" y="264"/>
                    </a:lnTo>
                    <a:lnTo>
                      <a:pt x="8" y="261"/>
                    </a:lnTo>
                    <a:lnTo>
                      <a:pt x="6" y="258"/>
                    </a:lnTo>
                    <a:lnTo>
                      <a:pt x="4" y="254"/>
                    </a:lnTo>
                    <a:lnTo>
                      <a:pt x="0" y="25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86" name="Freeform 1074"/>
              <p:cNvSpPr>
                <a:spLocks noChangeAspect="1"/>
              </p:cNvSpPr>
              <p:nvPr/>
            </p:nvSpPr>
            <p:spPr bwMode="auto">
              <a:xfrm>
                <a:off x="3173" y="1590"/>
                <a:ext cx="15" cy="95"/>
              </a:xfrm>
              <a:custGeom>
                <a:avLst/>
                <a:gdLst>
                  <a:gd name="T0" fmla="*/ 0 w 21"/>
                  <a:gd name="T1" fmla="*/ 264 h 285"/>
                  <a:gd name="T2" fmla="*/ 0 w 21"/>
                  <a:gd name="T3" fmla="*/ 0 h 285"/>
                  <a:gd name="T4" fmla="*/ 21 w 21"/>
                  <a:gd name="T5" fmla="*/ 0 h 285"/>
                  <a:gd name="T6" fmla="*/ 21 w 21"/>
                  <a:gd name="T7" fmla="*/ 285 h 285"/>
                  <a:gd name="T8" fmla="*/ 18 w 21"/>
                  <a:gd name="T9" fmla="*/ 282 h 285"/>
                  <a:gd name="T10" fmla="*/ 16 w 21"/>
                  <a:gd name="T11" fmla="*/ 280 h 285"/>
                  <a:gd name="T12" fmla="*/ 13 w 21"/>
                  <a:gd name="T13" fmla="*/ 278 h 285"/>
                  <a:gd name="T14" fmla="*/ 11 w 21"/>
                  <a:gd name="T15" fmla="*/ 275 h 285"/>
                  <a:gd name="T16" fmla="*/ 8 w 21"/>
                  <a:gd name="T17" fmla="*/ 273 h 285"/>
                  <a:gd name="T18" fmla="*/ 5 w 21"/>
                  <a:gd name="T19" fmla="*/ 269 h 285"/>
                  <a:gd name="T20" fmla="*/ 2 w 21"/>
                  <a:gd name="T21" fmla="*/ 267 h 285"/>
                  <a:gd name="T22" fmla="*/ 0 w 21"/>
                  <a:gd name="T23" fmla="*/ 264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285">
                    <a:moveTo>
                      <a:pt x="0" y="264"/>
                    </a:moveTo>
                    <a:lnTo>
                      <a:pt x="0" y="0"/>
                    </a:lnTo>
                    <a:lnTo>
                      <a:pt x="21" y="0"/>
                    </a:lnTo>
                    <a:lnTo>
                      <a:pt x="21" y="285"/>
                    </a:lnTo>
                    <a:lnTo>
                      <a:pt x="18" y="282"/>
                    </a:lnTo>
                    <a:lnTo>
                      <a:pt x="16" y="280"/>
                    </a:lnTo>
                    <a:lnTo>
                      <a:pt x="13" y="278"/>
                    </a:lnTo>
                    <a:lnTo>
                      <a:pt x="11" y="275"/>
                    </a:lnTo>
                    <a:lnTo>
                      <a:pt x="8" y="273"/>
                    </a:lnTo>
                    <a:lnTo>
                      <a:pt x="5" y="269"/>
                    </a:lnTo>
                    <a:lnTo>
                      <a:pt x="2" y="267"/>
                    </a:lnTo>
                    <a:lnTo>
                      <a:pt x="0" y="264"/>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87" name="Freeform 1075"/>
              <p:cNvSpPr>
                <a:spLocks noChangeAspect="1"/>
              </p:cNvSpPr>
              <p:nvPr/>
            </p:nvSpPr>
            <p:spPr bwMode="auto">
              <a:xfrm>
                <a:off x="3176" y="1590"/>
                <a:ext cx="7" cy="98"/>
              </a:xfrm>
              <a:custGeom>
                <a:avLst/>
                <a:gdLst>
                  <a:gd name="T0" fmla="*/ 0 w 21"/>
                  <a:gd name="T1" fmla="*/ 276 h 294"/>
                  <a:gd name="T2" fmla="*/ 0 w 21"/>
                  <a:gd name="T3" fmla="*/ 0 h 294"/>
                  <a:gd name="T4" fmla="*/ 21 w 21"/>
                  <a:gd name="T5" fmla="*/ 0 h 294"/>
                  <a:gd name="T6" fmla="*/ 21 w 21"/>
                  <a:gd name="T7" fmla="*/ 294 h 294"/>
                  <a:gd name="T8" fmla="*/ 18 w 21"/>
                  <a:gd name="T9" fmla="*/ 292 h 294"/>
                  <a:gd name="T10" fmla="*/ 16 w 21"/>
                  <a:gd name="T11" fmla="*/ 290 h 294"/>
                  <a:gd name="T12" fmla="*/ 13 w 21"/>
                  <a:gd name="T13" fmla="*/ 286 h 294"/>
                  <a:gd name="T14" fmla="*/ 10 w 21"/>
                  <a:gd name="T15" fmla="*/ 284 h 294"/>
                  <a:gd name="T16" fmla="*/ 7 w 21"/>
                  <a:gd name="T17" fmla="*/ 282 h 294"/>
                  <a:gd name="T18" fmla="*/ 5 w 21"/>
                  <a:gd name="T19" fmla="*/ 280 h 294"/>
                  <a:gd name="T20" fmla="*/ 2 w 21"/>
                  <a:gd name="T21" fmla="*/ 278 h 294"/>
                  <a:gd name="T22" fmla="*/ 0 w 21"/>
                  <a:gd name="T23" fmla="*/ 276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294">
                    <a:moveTo>
                      <a:pt x="0" y="276"/>
                    </a:moveTo>
                    <a:lnTo>
                      <a:pt x="0" y="0"/>
                    </a:lnTo>
                    <a:lnTo>
                      <a:pt x="21" y="0"/>
                    </a:lnTo>
                    <a:lnTo>
                      <a:pt x="21" y="294"/>
                    </a:lnTo>
                    <a:lnTo>
                      <a:pt x="18" y="292"/>
                    </a:lnTo>
                    <a:lnTo>
                      <a:pt x="16" y="290"/>
                    </a:lnTo>
                    <a:lnTo>
                      <a:pt x="13" y="286"/>
                    </a:lnTo>
                    <a:lnTo>
                      <a:pt x="10" y="284"/>
                    </a:lnTo>
                    <a:lnTo>
                      <a:pt x="7" y="282"/>
                    </a:lnTo>
                    <a:lnTo>
                      <a:pt x="5" y="280"/>
                    </a:lnTo>
                    <a:lnTo>
                      <a:pt x="2" y="278"/>
                    </a:lnTo>
                    <a:lnTo>
                      <a:pt x="0" y="276"/>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88" name="Freeform 1076"/>
              <p:cNvSpPr>
                <a:spLocks noChangeAspect="1"/>
              </p:cNvSpPr>
              <p:nvPr/>
            </p:nvSpPr>
            <p:spPr bwMode="auto">
              <a:xfrm>
                <a:off x="3180" y="1590"/>
                <a:ext cx="7" cy="100"/>
              </a:xfrm>
              <a:custGeom>
                <a:avLst/>
                <a:gdLst>
                  <a:gd name="T0" fmla="*/ 0 w 22"/>
                  <a:gd name="T1" fmla="*/ 285 h 301"/>
                  <a:gd name="T2" fmla="*/ 0 w 22"/>
                  <a:gd name="T3" fmla="*/ 0 h 301"/>
                  <a:gd name="T4" fmla="*/ 22 w 22"/>
                  <a:gd name="T5" fmla="*/ 0 h 301"/>
                  <a:gd name="T6" fmla="*/ 22 w 22"/>
                  <a:gd name="T7" fmla="*/ 301 h 301"/>
                  <a:gd name="T8" fmla="*/ 18 w 22"/>
                  <a:gd name="T9" fmla="*/ 299 h 301"/>
                  <a:gd name="T10" fmla="*/ 16 w 22"/>
                  <a:gd name="T11" fmla="*/ 297 h 301"/>
                  <a:gd name="T12" fmla="*/ 13 w 22"/>
                  <a:gd name="T13" fmla="*/ 295 h 301"/>
                  <a:gd name="T14" fmla="*/ 11 w 22"/>
                  <a:gd name="T15" fmla="*/ 293 h 301"/>
                  <a:gd name="T16" fmla="*/ 8 w 22"/>
                  <a:gd name="T17" fmla="*/ 291 h 301"/>
                  <a:gd name="T18" fmla="*/ 6 w 22"/>
                  <a:gd name="T19" fmla="*/ 290 h 301"/>
                  <a:gd name="T20" fmla="*/ 3 w 22"/>
                  <a:gd name="T21" fmla="*/ 287 h 301"/>
                  <a:gd name="T22" fmla="*/ 0 w 22"/>
                  <a:gd name="T23" fmla="*/ 28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301">
                    <a:moveTo>
                      <a:pt x="0" y="285"/>
                    </a:moveTo>
                    <a:lnTo>
                      <a:pt x="0" y="0"/>
                    </a:lnTo>
                    <a:lnTo>
                      <a:pt x="22" y="0"/>
                    </a:lnTo>
                    <a:lnTo>
                      <a:pt x="22" y="301"/>
                    </a:lnTo>
                    <a:lnTo>
                      <a:pt x="18" y="299"/>
                    </a:lnTo>
                    <a:lnTo>
                      <a:pt x="16" y="297"/>
                    </a:lnTo>
                    <a:lnTo>
                      <a:pt x="13" y="295"/>
                    </a:lnTo>
                    <a:lnTo>
                      <a:pt x="11" y="293"/>
                    </a:lnTo>
                    <a:lnTo>
                      <a:pt x="8" y="291"/>
                    </a:lnTo>
                    <a:lnTo>
                      <a:pt x="6" y="290"/>
                    </a:lnTo>
                    <a:lnTo>
                      <a:pt x="3" y="287"/>
                    </a:lnTo>
                    <a:lnTo>
                      <a:pt x="0" y="28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89" name="Freeform 1077"/>
              <p:cNvSpPr>
                <a:spLocks noChangeAspect="1"/>
              </p:cNvSpPr>
              <p:nvPr/>
            </p:nvSpPr>
            <p:spPr bwMode="auto">
              <a:xfrm>
                <a:off x="3183" y="1590"/>
                <a:ext cx="7" cy="110"/>
              </a:xfrm>
              <a:custGeom>
                <a:avLst/>
                <a:gdLst>
                  <a:gd name="T0" fmla="*/ 0 w 21"/>
                  <a:gd name="T1" fmla="*/ 294 h 308"/>
                  <a:gd name="T2" fmla="*/ 0 w 21"/>
                  <a:gd name="T3" fmla="*/ 0 h 308"/>
                  <a:gd name="T4" fmla="*/ 21 w 21"/>
                  <a:gd name="T5" fmla="*/ 0 h 308"/>
                  <a:gd name="T6" fmla="*/ 21 w 21"/>
                  <a:gd name="T7" fmla="*/ 308 h 308"/>
                  <a:gd name="T8" fmla="*/ 18 w 21"/>
                  <a:gd name="T9" fmla="*/ 305 h 308"/>
                  <a:gd name="T10" fmla="*/ 15 w 21"/>
                  <a:gd name="T11" fmla="*/ 304 h 308"/>
                  <a:gd name="T12" fmla="*/ 13 w 21"/>
                  <a:gd name="T13" fmla="*/ 302 h 308"/>
                  <a:gd name="T14" fmla="*/ 10 w 21"/>
                  <a:gd name="T15" fmla="*/ 300 h 308"/>
                  <a:gd name="T16" fmla="*/ 7 w 21"/>
                  <a:gd name="T17" fmla="*/ 299 h 308"/>
                  <a:gd name="T18" fmla="*/ 5 w 21"/>
                  <a:gd name="T19" fmla="*/ 297 h 308"/>
                  <a:gd name="T20" fmla="*/ 2 w 21"/>
                  <a:gd name="T21" fmla="*/ 295 h 308"/>
                  <a:gd name="T22" fmla="*/ 0 w 21"/>
                  <a:gd name="T23" fmla="*/ 29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308">
                    <a:moveTo>
                      <a:pt x="0" y="294"/>
                    </a:moveTo>
                    <a:lnTo>
                      <a:pt x="0" y="0"/>
                    </a:lnTo>
                    <a:lnTo>
                      <a:pt x="21" y="0"/>
                    </a:lnTo>
                    <a:lnTo>
                      <a:pt x="21" y="308"/>
                    </a:lnTo>
                    <a:lnTo>
                      <a:pt x="18" y="305"/>
                    </a:lnTo>
                    <a:lnTo>
                      <a:pt x="15" y="304"/>
                    </a:lnTo>
                    <a:lnTo>
                      <a:pt x="13" y="302"/>
                    </a:lnTo>
                    <a:lnTo>
                      <a:pt x="10" y="300"/>
                    </a:lnTo>
                    <a:lnTo>
                      <a:pt x="7" y="299"/>
                    </a:lnTo>
                    <a:lnTo>
                      <a:pt x="5" y="297"/>
                    </a:lnTo>
                    <a:lnTo>
                      <a:pt x="2" y="295"/>
                    </a:lnTo>
                    <a:lnTo>
                      <a:pt x="0" y="294"/>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90" name="Freeform 1078"/>
              <p:cNvSpPr>
                <a:spLocks noChangeAspect="1"/>
              </p:cNvSpPr>
              <p:nvPr/>
            </p:nvSpPr>
            <p:spPr bwMode="auto">
              <a:xfrm>
                <a:off x="3187" y="1590"/>
                <a:ext cx="7" cy="110"/>
              </a:xfrm>
              <a:custGeom>
                <a:avLst/>
                <a:gdLst>
                  <a:gd name="T0" fmla="*/ 0 w 20"/>
                  <a:gd name="T1" fmla="*/ 301 h 314"/>
                  <a:gd name="T2" fmla="*/ 0 w 20"/>
                  <a:gd name="T3" fmla="*/ 0 h 314"/>
                  <a:gd name="T4" fmla="*/ 20 w 20"/>
                  <a:gd name="T5" fmla="*/ 0 h 314"/>
                  <a:gd name="T6" fmla="*/ 20 w 20"/>
                  <a:gd name="T7" fmla="*/ 314 h 314"/>
                  <a:gd name="T8" fmla="*/ 18 w 20"/>
                  <a:gd name="T9" fmla="*/ 312 h 314"/>
                  <a:gd name="T10" fmla="*/ 15 w 20"/>
                  <a:gd name="T11" fmla="*/ 311 h 314"/>
                  <a:gd name="T12" fmla="*/ 12 w 20"/>
                  <a:gd name="T13" fmla="*/ 309 h 314"/>
                  <a:gd name="T14" fmla="*/ 9 w 20"/>
                  <a:gd name="T15" fmla="*/ 308 h 314"/>
                  <a:gd name="T16" fmla="*/ 7 w 20"/>
                  <a:gd name="T17" fmla="*/ 305 h 314"/>
                  <a:gd name="T18" fmla="*/ 5 w 20"/>
                  <a:gd name="T19" fmla="*/ 304 h 314"/>
                  <a:gd name="T20" fmla="*/ 2 w 20"/>
                  <a:gd name="T21" fmla="*/ 302 h 314"/>
                  <a:gd name="T22" fmla="*/ 0 w 20"/>
                  <a:gd name="T23" fmla="*/ 30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314">
                    <a:moveTo>
                      <a:pt x="0" y="301"/>
                    </a:moveTo>
                    <a:lnTo>
                      <a:pt x="0" y="0"/>
                    </a:lnTo>
                    <a:lnTo>
                      <a:pt x="20" y="0"/>
                    </a:lnTo>
                    <a:lnTo>
                      <a:pt x="20" y="314"/>
                    </a:lnTo>
                    <a:lnTo>
                      <a:pt x="18" y="312"/>
                    </a:lnTo>
                    <a:lnTo>
                      <a:pt x="15" y="311"/>
                    </a:lnTo>
                    <a:lnTo>
                      <a:pt x="12" y="309"/>
                    </a:lnTo>
                    <a:lnTo>
                      <a:pt x="9" y="308"/>
                    </a:lnTo>
                    <a:lnTo>
                      <a:pt x="7" y="305"/>
                    </a:lnTo>
                    <a:lnTo>
                      <a:pt x="5" y="304"/>
                    </a:lnTo>
                    <a:lnTo>
                      <a:pt x="2" y="302"/>
                    </a:lnTo>
                    <a:lnTo>
                      <a:pt x="0" y="30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91" name="Freeform 1079"/>
              <p:cNvSpPr>
                <a:spLocks noChangeAspect="1"/>
              </p:cNvSpPr>
              <p:nvPr/>
            </p:nvSpPr>
            <p:spPr bwMode="auto">
              <a:xfrm>
                <a:off x="3190" y="1590"/>
                <a:ext cx="7" cy="110"/>
              </a:xfrm>
              <a:custGeom>
                <a:avLst/>
                <a:gdLst>
                  <a:gd name="T0" fmla="*/ 0 w 21"/>
                  <a:gd name="T1" fmla="*/ 308 h 319"/>
                  <a:gd name="T2" fmla="*/ 0 w 21"/>
                  <a:gd name="T3" fmla="*/ 0 h 319"/>
                  <a:gd name="T4" fmla="*/ 21 w 21"/>
                  <a:gd name="T5" fmla="*/ 0 h 319"/>
                  <a:gd name="T6" fmla="*/ 21 w 21"/>
                  <a:gd name="T7" fmla="*/ 319 h 319"/>
                  <a:gd name="T8" fmla="*/ 18 w 21"/>
                  <a:gd name="T9" fmla="*/ 318 h 319"/>
                  <a:gd name="T10" fmla="*/ 15 w 21"/>
                  <a:gd name="T11" fmla="*/ 316 h 319"/>
                  <a:gd name="T12" fmla="*/ 13 w 21"/>
                  <a:gd name="T13" fmla="*/ 315 h 319"/>
                  <a:gd name="T14" fmla="*/ 10 w 21"/>
                  <a:gd name="T15" fmla="*/ 314 h 319"/>
                  <a:gd name="T16" fmla="*/ 8 w 21"/>
                  <a:gd name="T17" fmla="*/ 312 h 319"/>
                  <a:gd name="T18" fmla="*/ 5 w 21"/>
                  <a:gd name="T19" fmla="*/ 311 h 319"/>
                  <a:gd name="T20" fmla="*/ 2 w 21"/>
                  <a:gd name="T21" fmla="*/ 309 h 319"/>
                  <a:gd name="T22" fmla="*/ 0 w 21"/>
                  <a:gd name="T23" fmla="*/ 308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319">
                    <a:moveTo>
                      <a:pt x="0" y="308"/>
                    </a:moveTo>
                    <a:lnTo>
                      <a:pt x="0" y="0"/>
                    </a:lnTo>
                    <a:lnTo>
                      <a:pt x="21" y="0"/>
                    </a:lnTo>
                    <a:lnTo>
                      <a:pt x="21" y="319"/>
                    </a:lnTo>
                    <a:lnTo>
                      <a:pt x="18" y="318"/>
                    </a:lnTo>
                    <a:lnTo>
                      <a:pt x="15" y="316"/>
                    </a:lnTo>
                    <a:lnTo>
                      <a:pt x="13" y="315"/>
                    </a:lnTo>
                    <a:lnTo>
                      <a:pt x="10" y="314"/>
                    </a:lnTo>
                    <a:lnTo>
                      <a:pt x="8" y="312"/>
                    </a:lnTo>
                    <a:lnTo>
                      <a:pt x="5" y="311"/>
                    </a:lnTo>
                    <a:lnTo>
                      <a:pt x="2" y="309"/>
                    </a:lnTo>
                    <a:lnTo>
                      <a:pt x="0" y="308"/>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92" name="Freeform 1080"/>
              <p:cNvSpPr>
                <a:spLocks noChangeAspect="1"/>
              </p:cNvSpPr>
              <p:nvPr/>
            </p:nvSpPr>
            <p:spPr bwMode="auto">
              <a:xfrm>
                <a:off x="3194" y="1590"/>
                <a:ext cx="7" cy="110"/>
              </a:xfrm>
              <a:custGeom>
                <a:avLst/>
                <a:gdLst>
                  <a:gd name="T0" fmla="*/ 0 w 21"/>
                  <a:gd name="T1" fmla="*/ 316 h 326"/>
                  <a:gd name="T2" fmla="*/ 0 w 21"/>
                  <a:gd name="T3" fmla="*/ 2 h 326"/>
                  <a:gd name="T4" fmla="*/ 15 w 21"/>
                  <a:gd name="T5" fmla="*/ 2 h 326"/>
                  <a:gd name="T6" fmla="*/ 16 w 21"/>
                  <a:gd name="T7" fmla="*/ 2 h 326"/>
                  <a:gd name="T8" fmla="*/ 17 w 21"/>
                  <a:gd name="T9" fmla="*/ 2 h 326"/>
                  <a:gd name="T10" fmla="*/ 18 w 21"/>
                  <a:gd name="T11" fmla="*/ 1 h 326"/>
                  <a:gd name="T12" fmla="*/ 18 w 21"/>
                  <a:gd name="T13" fmla="*/ 1 h 326"/>
                  <a:gd name="T14" fmla="*/ 19 w 21"/>
                  <a:gd name="T15" fmla="*/ 1 h 326"/>
                  <a:gd name="T16" fmla="*/ 20 w 21"/>
                  <a:gd name="T17" fmla="*/ 0 h 326"/>
                  <a:gd name="T18" fmla="*/ 21 w 21"/>
                  <a:gd name="T19" fmla="*/ 0 h 326"/>
                  <a:gd name="T20" fmla="*/ 21 w 21"/>
                  <a:gd name="T21" fmla="*/ 0 h 326"/>
                  <a:gd name="T22" fmla="*/ 21 w 21"/>
                  <a:gd name="T23" fmla="*/ 326 h 326"/>
                  <a:gd name="T24" fmla="*/ 19 w 21"/>
                  <a:gd name="T25" fmla="*/ 325 h 326"/>
                  <a:gd name="T26" fmla="*/ 16 w 21"/>
                  <a:gd name="T27" fmla="*/ 323 h 326"/>
                  <a:gd name="T28" fmla="*/ 14 w 21"/>
                  <a:gd name="T29" fmla="*/ 322 h 326"/>
                  <a:gd name="T30" fmla="*/ 11 w 21"/>
                  <a:gd name="T31" fmla="*/ 321 h 326"/>
                  <a:gd name="T32" fmla="*/ 8 w 21"/>
                  <a:gd name="T33" fmla="*/ 320 h 326"/>
                  <a:gd name="T34" fmla="*/ 5 w 21"/>
                  <a:gd name="T35" fmla="*/ 318 h 326"/>
                  <a:gd name="T36" fmla="*/ 3 w 21"/>
                  <a:gd name="T37" fmla="*/ 317 h 326"/>
                  <a:gd name="T38" fmla="*/ 0 w 21"/>
                  <a:gd name="T39" fmla="*/ 31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326">
                    <a:moveTo>
                      <a:pt x="0" y="316"/>
                    </a:moveTo>
                    <a:lnTo>
                      <a:pt x="0" y="2"/>
                    </a:lnTo>
                    <a:lnTo>
                      <a:pt x="15" y="2"/>
                    </a:lnTo>
                    <a:lnTo>
                      <a:pt x="16" y="2"/>
                    </a:lnTo>
                    <a:lnTo>
                      <a:pt x="17" y="2"/>
                    </a:lnTo>
                    <a:lnTo>
                      <a:pt x="18" y="1"/>
                    </a:lnTo>
                    <a:lnTo>
                      <a:pt x="18" y="1"/>
                    </a:lnTo>
                    <a:lnTo>
                      <a:pt x="19" y="1"/>
                    </a:lnTo>
                    <a:lnTo>
                      <a:pt x="20" y="0"/>
                    </a:lnTo>
                    <a:lnTo>
                      <a:pt x="21" y="0"/>
                    </a:lnTo>
                    <a:lnTo>
                      <a:pt x="21" y="0"/>
                    </a:lnTo>
                    <a:lnTo>
                      <a:pt x="21" y="326"/>
                    </a:lnTo>
                    <a:lnTo>
                      <a:pt x="19" y="325"/>
                    </a:lnTo>
                    <a:lnTo>
                      <a:pt x="16" y="323"/>
                    </a:lnTo>
                    <a:lnTo>
                      <a:pt x="14" y="322"/>
                    </a:lnTo>
                    <a:lnTo>
                      <a:pt x="11" y="321"/>
                    </a:lnTo>
                    <a:lnTo>
                      <a:pt x="8" y="320"/>
                    </a:lnTo>
                    <a:lnTo>
                      <a:pt x="5" y="318"/>
                    </a:lnTo>
                    <a:lnTo>
                      <a:pt x="3" y="317"/>
                    </a:lnTo>
                    <a:lnTo>
                      <a:pt x="0" y="316"/>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93" name="Freeform 1081"/>
              <p:cNvSpPr>
                <a:spLocks noChangeAspect="1"/>
              </p:cNvSpPr>
              <p:nvPr/>
            </p:nvSpPr>
            <p:spPr bwMode="auto">
              <a:xfrm>
                <a:off x="3197" y="1588"/>
                <a:ext cx="15" cy="111"/>
              </a:xfrm>
              <a:custGeom>
                <a:avLst/>
                <a:gdLst>
                  <a:gd name="T0" fmla="*/ 0 w 21"/>
                  <a:gd name="T1" fmla="*/ 326 h 336"/>
                  <a:gd name="T2" fmla="*/ 0 w 21"/>
                  <a:gd name="T3" fmla="*/ 7 h 336"/>
                  <a:gd name="T4" fmla="*/ 4 w 21"/>
                  <a:gd name="T5" fmla="*/ 7 h 336"/>
                  <a:gd name="T6" fmla="*/ 6 w 21"/>
                  <a:gd name="T7" fmla="*/ 6 h 336"/>
                  <a:gd name="T8" fmla="*/ 8 w 21"/>
                  <a:gd name="T9" fmla="*/ 5 h 336"/>
                  <a:gd name="T10" fmla="*/ 10 w 21"/>
                  <a:gd name="T11" fmla="*/ 5 h 336"/>
                  <a:gd name="T12" fmla="*/ 12 w 21"/>
                  <a:gd name="T13" fmla="*/ 4 h 336"/>
                  <a:gd name="T14" fmla="*/ 14 w 21"/>
                  <a:gd name="T15" fmla="*/ 3 h 336"/>
                  <a:gd name="T16" fmla="*/ 17 w 21"/>
                  <a:gd name="T17" fmla="*/ 2 h 336"/>
                  <a:gd name="T18" fmla="*/ 19 w 21"/>
                  <a:gd name="T19" fmla="*/ 1 h 336"/>
                  <a:gd name="T20" fmla="*/ 21 w 21"/>
                  <a:gd name="T21" fmla="*/ 0 h 336"/>
                  <a:gd name="T22" fmla="*/ 21 w 21"/>
                  <a:gd name="T23" fmla="*/ 336 h 336"/>
                  <a:gd name="T24" fmla="*/ 19 w 21"/>
                  <a:gd name="T25" fmla="*/ 335 h 336"/>
                  <a:gd name="T26" fmla="*/ 15 w 21"/>
                  <a:gd name="T27" fmla="*/ 334 h 336"/>
                  <a:gd name="T28" fmla="*/ 13 w 21"/>
                  <a:gd name="T29" fmla="*/ 333 h 336"/>
                  <a:gd name="T30" fmla="*/ 10 w 21"/>
                  <a:gd name="T31" fmla="*/ 331 h 336"/>
                  <a:gd name="T32" fmla="*/ 8 w 21"/>
                  <a:gd name="T33" fmla="*/ 330 h 336"/>
                  <a:gd name="T34" fmla="*/ 5 w 21"/>
                  <a:gd name="T35" fmla="*/ 328 h 336"/>
                  <a:gd name="T36" fmla="*/ 3 w 21"/>
                  <a:gd name="T37" fmla="*/ 327 h 336"/>
                  <a:gd name="T38" fmla="*/ 0 w 21"/>
                  <a:gd name="T39" fmla="*/ 32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336">
                    <a:moveTo>
                      <a:pt x="0" y="326"/>
                    </a:moveTo>
                    <a:lnTo>
                      <a:pt x="0" y="7"/>
                    </a:lnTo>
                    <a:lnTo>
                      <a:pt x="4" y="7"/>
                    </a:lnTo>
                    <a:lnTo>
                      <a:pt x="6" y="6"/>
                    </a:lnTo>
                    <a:lnTo>
                      <a:pt x="8" y="5"/>
                    </a:lnTo>
                    <a:lnTo>
                      <a:pt x="10" y="5"/>
                    </a:lnTo>
                    <a:lnTo>
                      <a:pt x="12" y="4"/>
                    </a:lnTo>
                    <a:lnTo>
                      <a:pt x="14" y="3"/>
                    </a:lnTo>
                    <a:lnTo>
                      <a:pt x="17" y="2"/>
                    </a:lnTo>
                    <a:lnTo>
                      <a:pt x="19" y="1"/>
                    </a:lnTo>
                    <a:lnTo>
                      <a:pt x="21" y="0"/>
                    </a:lnTo>
                    <a:lnTo>
                      <a:pt x="21" y="336"/>
                    </a:lnTo>
                    <a:lnTo>
                      <a:pt x="19" y="335"/>
                    </a:lnTo>
                    <a:lnTo>
                      <a:pt x="15" y="334"/>
                    </a:lnTo>
                    <a:lnTo>
                      <a:pt x="13" y="333"/>
                    </a:lnTo>
                    <a:lnTo>
                      <a:pt x="10" y="331"/>
                    </a:lnTo>
                    <a:lnTo>
                      <a:pt x="8" y="330"/>
                    </a:lnTo>
                    <a:lnTo>
                      <a:pt x="5" y="328"/>
                    </a:lnTo>
                    <a:lnTo>
                      <a:pt x="3" y="327"/>
                    </a:lnTo>
                    <a:lnTo>
                      <a:pt x="0" y="326"/>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94" name="Freeform 1082"/>
              <p:cNvSpPr>
                <a:spLocks noChangeAspect="1"/>
              </p:cNvSpPr>
              <p:nvPr/>
            </p:nvSpPr>
            <p:spPr bwMode="auto">
              <a:xfrm>
                <a:off x="3201" y="1587"/>
                <a:ext cx="15" cy="112"/>
              </a:xfrm>
              <a:custGeom>
                <a:avLst/>
                <a:gdLst>
                  <a:gd name="T0" fmla="*/ 0 w 21"/>
                  <a:gd name="T1" fmla="*/ 334 h 342"/>
                  <a:gd name="T2" fmla="*/ 0 w 21"/>
                  <a:gd name="T3" fmla="*/ 8 h 342"/>
                  <a:gd name="T4" fmla="*/ 3 w 21"/>
                  <a:gd name="T5" fmla="*/ 7 h 342"/>
                  <a:gd name="T6" fmla="*/ 5 w 21"/>
                  <a:gd name="T7" fmla="*/ 6 h 342"/>
                  <a:gd name="T8" fmla="*/ 9 w 21"/>
                  <a:gd name="T9" fmla="*/ 4 h 342"/>
                  <a:gd name="T10" fmla="*/ 11 w 21"/>
                  <a:gd name="T11" fmla="*/ 3 h 342"/>
                  <a:gd name="T12" fmla="*/ 13 w 21"/>
                  <a:gd name="T13" fmla="*/ 3 h 342"/>
                  <a:gd name="T14" fmla="*/ 16 w 21"/>
                  <a:gd name="T15" fmla="*/ 2 h 342"/>
                  <a:gd name="T16" fmla="*/ 18 w 21"/>
                  <a:gd name="T17" fmla="*/ 1 h 342"/>
                  <a:gd name="T18" fmla="*/ 21 w 21"/>
                  <a:gd name="T19" fmla="*/ 0 h 342"/>
                  <a:gd name="T20" fmla="*/ 21 w 21"/>
                  <a:gd name="T21" fmla="*/ 342 h 342"/>
                  <a:gd name="T22" fmla="*/ 18 w 21"/>
                  <a:gd name="T23" fmla="*/ 341 h 342"/>
                  <a:gd name="T24" fmla="*/ 16 w 21"/>
                  <a:gd name="T25" fmla="*/ 341 h 342"/>
                  <a:gd name="T26" fmla="*/ 13 w 21"/>
                  <a:gd name="T27" fmla="*/ 340 h 342"/>
                  <a:gd name="T28" fmla="*/ 11 w 21"/>
                  <a:gd name="T29" fmla="*/ 339 h 342"/>
                  <a:gd name="T30" fmla="*/ 9 w 21"/>
                  <a:gd name="T31" fmla="*/ 338 h 342"/>
                  <a:gd name="T32" fmla="*/ 5 w 21"/>
                  <a:gd name="T33" fmla="*/ 337 h 342"/>
                  <a:gd name="T34" fmla="*/ 3 w 21"/>
                  <a:gd name="T35" fmla="*/ 336 h 342"/>
                  <a:gd name="T36" fmla="*/ 0 w 21"/>
                  <a:gd name="T37" fmla="*/ 334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342">
                    <a:moveTo>
                      <a:pt x="0" y="334"/>
                    </a:moveTo>
                    <a:lnTo>
                      <a:pt x="0" y="8"/>
                    </a:lnTo>
                    <a:lnTo>
                      <a:pt x="3" y="7"/>
                    </a:lnTo>
                    <a:lnTo>
                      <a:pt x="5" y="6"/>
                    </a:lnTo>
                    <a:lnTo>
                      <a:pt x="9" y="4"/>
                    </a:lnTo>
                    <a:lnTo>
                      <a:pt x="11" y="3"/>
                    </a:lnTo>
                    <a:lnTo>
                      <a:pt x="13" y="3"/>
                    </a:lnTo>
                    <a:lnTo>
                      <a:pt x="16" y="2"/>
                    </a:lnTo>
                    <a:lnTo>
                      <a:pt x="18" y="1"/>
                    </a:lnTo>
                    <a:lnTo>
                      <a:pt x="21" y="0"/>
                    </a:lnTo>
                    <a:lnTo>
                      <a:pt x="21" y="342"/>
                    </a:lnTo>
                    <a:lnTo>
                      <a:pt x="18" y="341"/>
                    </a:lnTo>
                    <a:lnTo>
                      <a:pt x="16" y="341"/>
                    </a:lnTo>
                    <a:lnTo>
                      <a:pt x="13" y="340"/>
                    </a:lnTo>
                    <a:lnTo>
                      <a:pt x="11" y="339"/>
                    </a:lnTo>
                    <a:lnTo>
                      <a:pt x="9" y="338"/>
                    </a:lnTo>
                    <a:lnTo>
                      <a:pt x="5" y="337"/>
                    </a:lnTo>
                    <a:lnTo>
                      <a:pt x="3" y="336"/>
                    </a:lnTo>
                    <a:lnTo>
                      <a:pt x="0" y="334"/>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95" name="Freeform 1083"/>
              <p:cNvSpPr>
                <a:spLocks noChangeAspect="1"/>
              </p:cNvSpPr>
              <p:nvPr/>
            </p:nvSpPr>
            <p:spPr bwMode="auto">
              <a:xfrm>
                <a:off x="3204" y="1585"/>
                <a:ext cx="7" cy="114"/>
              </a:xfrm>
              <a:custGeom>
                <a:avLst/>
                <a:gdLst>
                  <a:gd name="T0" fmla="*/ 0 w 21"/>
                  <a:gd name="T1" fmla="*/ 344 h 351"/>
                  <a:gd name="T2" fmla="*/ 0 w 21"/>
                  <a:gd name="T3" fmla="*/ 8 h 351"/>
                  <a:gd name="T4" fmla="*/ 3 w 21"/>
                  <a:gd name="T5" fmla="*/ 7 h 351"/>
                  <a:gd name="T6" fmla="*/ 5 w 21"/>
                  <a:gd name="T7" fmla="*/ 7 h 351"/>
                  <a:gd name="T8" fmla="*/ 7 w 21"/>
                  <a:gd name="T9" fmla="*/ 6 h 351"/>
                  <a:gd name="T10" fmla="*/ 10 w 21"/>
                  <a:gd name="T11" fmla="*/ 5 h 351"/>
                  <a:gd name="T12" fmla="*/ 13 w 21"/>
                  <a:gd name="T13" fmla="*/ 4 h 351"/>
                  <a:gd name="T14" fmla="*/ 16 w 21"/>
                  <a:gd name="T15" fmla="*/ 3 h 351"/>
                  <a:gd name="T16" fmla="*/ 18 w 21"/>
                  <a:gd name="T17" fmla="*/ 2 h 351"/>
                  <a:gd name="T18" fmla="*/ 21 w 21"/>
                  <a:gd name="T19" fmla="*/ 0 h 351"/>
                  <a:gd name="T20" fmla="*/ 21 w 21"/>
                  <a:gd name="T21" fmla="*/ 351 h 351"/>
                  <a:gd name="T22" fmla="*/ 18 w 21"/>
                  <a:gd name="T23" fmla="*/ 350 h 351"/>
                  <a:gd name="T24" fmla="*/ 16 w 21"/>
                  <a:gd name="T25" fmla="*/ 349 h 351"/>
                  <a:gd name="T26" fmla="*/ 13 w 21"/>
                  <a:gd name="T27" fmla="*/ 348 h 351"/>
                  <a:gd name="T28" fmla="*/ 10 w 21"/>
                  <a:gd name="T29" fmla="*/ 347 h 351"/>
                  <a:gd name="T30" fmla="*/ 7 w 21"/>
                  <a:gd name="T31" fmla="*/ 346 h 351"/>
                  <a:gd name="T32" fmla="*/ 5 w 21"/>
                  <a:gd name="T33" fmla="*/ 346 h 351"/>
                  <a:gd name="T34" fmla="*/ 3 w 21"/>
                  <a:gd name="T35" fmla="*/ 345 h 351"/>
                  <a:gd name="T36" fmla="*/ 0 w 21"/>
                  <a:gd name="T37" fmla="*/ 344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351">
                    <a:moveTo>
                      <a:pt x="0" y="344"/>
                    </a:moveTo>
                    <a:lnTo>
                      <a:pt x="0" y="8"/>
                    </a:lnTo>
                    <a:lnTo>
                      <a:pt x="3" y="7"/>
                    </a:lnTo>
                    <a:lnTo>
                      <a:pt x="5" y="7"/>
                    </a:lnTo>
                    <a:lnTo>
                      <a:pt x="7" y="6"/>
                    </a:lnTo>
                    <a:lnTo>
                      <a:pt x="10" y="5"/>
                    </a:lnTo>
                    <a:lnTo>
                      <a:pt x="13" y="4"/>
                    </a:lnTo>
                    <a:lnTo>
                      <a:pt x="16" y="3"/>
                    </a:lnTo>
                    <a:lnTo>
                      <a:pt x="18" y="2"/>
                    </a:lnTo>
                    <a:lnTo>
                      <a:pt x="21" y="0"/>
                    </a:lnTo>
                    <a:lnTo>
                      <a:pt x="21" y="351"/>
                    </a:lnTo>
                    <a:lnTo>
                      <a:pt x="18" y="350"/>
                    </a:lnTo>
                    <a:lnTo>
                      <a:pt x="16" y="349"/>
                    </a:lnTo>
                    <a:lnTo>
                      <a:pt x="13" y="348"/>
                    </a:lnTo>
                    <a:lnTo>
                      <a:pt x="10" y="347"/>
                    </a:lnTo>
                    <a:lnTo>
                      <a:pt x="7" y="346"/>
                    </a:lnTo>
                    <a:lnTo>
                      <a:pt x="5" y="346"/>
                    </a:lnTo>
                    <a:lnTo>
                      <a:pt x="3" y="345"/>
                    </a:lnTo>
                    <a:lnTo>
                      <a:pt x="0" y="344"/>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96" name="Freeform 1084"/>
              <p:cNvSpPr>
                <a:spLocks noChangeAspect="1"/>
              </p:cNvSpPr>
              <p:nvPr/>
            </p:nvSpPr>
            <p:spPr bwMode="auto">
              <a:xfrm>
                <a:off x="3208" y="1584"/>
                <a:ext cx="7" cy="119"/>
              </a:xfrm>
              <a:custGeom>
                <a:avLst/>
                <a:gdLst>
                  <a:gd name="T0" fmla="*/ 0 w 22"/>
                  <a:gd name="T1" fmla="*/ 350 h 358"/>
                  <a:gd name="T2" fmla="*/ 0 w 22"/>
                  <a:gd name="T3" fmla="*/ 8 h 358"/>
                  <a:gd name="T4" fmla="*/ 3 w 22"/>
                  <a:gd name="T5" fmla="*/ 7 h 358"/>
                  <a:gd name="T6" fmla="*/ 6 w 22"/>
                  <a:gd name="T7" fmla="*/ 6 h 358"/>
                  <a:gd name="T8" fmla="*/ 8 w 22"/>
                  <a:gd name="T9" fmla="*/ 5 h 358"/>
                  <a:gd name="T10" fmla="*/ 11 w 22"/>
                  <a:gd name="T11" fmla="*/ 3 h 358"/>
                  <a:gd name="T12" fmla="*/ 13 w 22"/>
                  <a:gd name="T13" fmla="*/ 3 h 358"/>
                  <a:gd name="T14" fmla="*/ 16 w 22"/>
                  <a:gd name="T15" fmla="*/ 2 h 358"/>
                  <a:gd name="T16" fmla="*/ 19 w 22"/>
                  <a:gd name="T17" fmla="*/ 1 h 358"/>
                  <a:gd name="T18" fmla="*/ 22 w 22"/>
                  <a:gd name="T19" fmla="*/ 0 h 358"/>
                  <a:gd name="T20" fmla="*/ 22 w 22"/>
                  <a:gd name="T21" fmla="*/ 358 h 358"/>
                  <a:gd name="T22" fmla="*/ 19 w 22"/>
                  <a:gd name="T23" fmla="*/ 356 h 358"/>
                  <a:gd name="T24" fmla="*/ 16 w 22"/>
                  <a:gd name="T25" fmla="*/ 355 h 358"/>
                  <a:gd name="T26" fmla="*/ 13 w 22"/>
                  <a:gd name="T27" fmla="*/ 354 h 358"/>
                  <a:gd name="T28" fmla="*/ 11 w 22"/>
                  <a:gd name="T29" fmla="*/ 354 h 358"/>
                  <a:gd name="T30" fmla="*/ 8 w 22"/>
                  <a:gd name="T31" fmla="*/ 353 h 358"/>
                  <a:gd name="T32" fmla="*/ 6 w 22"/>
                  <a:gd name="T33" fmla="*/ 352 h 358"/>
                  <a:gd name="T34" fmla="*/ 3 w 22"/>
                  <a:gd name="T35" fmla="*/ 351 h 358"/>
                  <a:gd name="T36" fmla="*/ 0 w 22"/>
                  <a:gd name="T37" fmla="*/ 35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358">
                    <a:moveTo>
                      <a:pt x="0" y="350"/>
                    </a:moveTo>
                    <a:lnTo>
                      <a:pt x="0" y="8"/>
                    </a:lnTo>
                    <a:lnTo>
                      <a:pt x="3" y="7"/>
                    </a:lnTo>
                    <a:lnTo>
                      <a:pt x="6" y="6"/>
                    </a:lnTo>
                    <a:lnTo>
                      <a:pt x="8" y="5"/>
                    </a:lnTo>
                    <a:lnTo>
                      <a:pt x="11" y="3"/>
                    </a:lnTo>
                    <a:lnTo>
                      <a:pt x="13" y="3"/>
                    </a:lnTo>
                    <a:lnTo>
                      <a:pt x="16" y="2"/>
                    </a:lnTo>
                    <a:lnTo>
                      <a:pt x="19" y="1"/>
                    </a:lnTo>
                    <a:lnTo>
                      <a:pt x="22" y="0"/>
                    </a:lnTo>
                    <a:lnTo>
                      <a:pt x="22" y="358"/>
                    </a:lnTo>
                    <a:lnTo>
                      <a:pt x="19" y="356"/>
                    </a:lnTo>
                    <a:lnTo>
                      <a:pt x="16" y="355"/>
                    </a:lnTo>
                    <a:lnTo>
                      <a:pt x="13" y="354"/>
                    </a:lnTo>
                    <a:lnTo>
                      <a:pt x="11" y="354"/>
                    </a:lnTo>
                    <a:lnTo>
                      <a:pt x="8" y="353"/>
                    </a:lnTo>
                    <a:lnTo>
                      <a:pt x="6" y="352"/>
                    </a:lnTo>
                    <a:lnTo>
                      <a:pt x="3" y="351"/>
                    </a:lnTo>
                    <a:lnTo>
                      <a:pt x="0" y="350"/>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97" name="Freeform 1085"/>
              <p:cNvSpPr>
                <a:spLocks noChangeAspect="1"/>
              </p:cNvSpPr>
              <p:nvPr/>
            </p:nvSpPr>
            <p:spPr bwMode="auto">
              <a:xfrm>
                <a:off x="3211" y="1583"/>
                <a:ext cx="7" cy="121"/>
              </a:xfrm>
              <a:custGeom>
                <a:avLst/>
                <a:gdLst>
                  <a:gd name="T0" fmla="*/ 0 w 21"/>
                  <a:gd name="T1" fmla="*/ 356 h 362"/>
                  <a:gd name="T2" fmla="*/ 0 w 21"/>
                  <a:gd name="T3" fmla="*/ 5 h 362"/>
                  <a:gd name="T4" fmla="*/ 2 w 21"/>
                  <a:gd name="T5" fmla="*/ 5 h 362"/>
                  <a:gd name="T6" fmla="*/ 5 w 21"/>
                  <a:gd name="T7" fmla="*/ 4 h 362"/>
                  <a:gd name="T8" fmla="*/ 8 w 21"/>
                  <a:gd name="T9" fmla="*/ 3 h 362"/>
                  <a:gd name="T10" fmla="*/ 11 w 21"/>
                  <a:gd name="T11" fmla="*/ 2 h 362"/>
                  <a:gd name="T12" fmla="*/ 13 w 21"/>
                  <a:gd name="T13" fmla="*/ 2 h 362"/>
                  <a:gd name="T14" fmla="*/ 16 w 21"/>
                  <a:gd name="T15" fmla="*/ 1 h 362"/>
                  <a:gd name="T16" fmla="*/ 18 w 21"/>
                  <a:gd name="T17" fmla="*/ 0 h 362"/>
                  <a:gd name="T18" fmla="*/ 21 w 21"/>
                  <a:gd name="T19" fmla="*/ 0 h 362"/>
                  <a:gd name="T20" fmla="*/ 21 w 21"/>
                  <a:gd name="T21" fmla="*/ 362 h 362"/>
                  <a:gd name="T22" fmla="*/ 18 w 21"/>
                  <a:gd name="T23" fmla="*/ 362 h 362"/>
                  <a:gd name="T24" fmla="*/ 16 w 21"/>
                  <a:gd name="T25" fmla="*/ 361 h 362"/>
                  <a:gd name="T26" fmla="*/ 13 w 21"/>
                  <a:gd name="T27" fmla="*/ 360 h 362"/>
                  <a:gd name="T28" fmla="*/ 11 w 21"/>
                  <a:gd name="T29" fmla="*/ 360 h 362"/>
                  <a:gd name="T30" fmla="*/ 8 w 21"/>
                  <a:gd name="T31" fmla="*/ 358 h 362"/>
                  <a:gd name="T32" fmla="*/ 5 w 21"/>
                  <a:gd name="T33" fmla="*/ 357 h 362"/>
                  <a:gd name="T34" fmla="*/ 2 w 21"/>
                  <a:gd name="T35" fmla="*/ 357 h 362"/>
                  <a:gd name="T36" fmla="*/ 0 w 21"/>
                  <a:gd name="T37" fmla="*/ 356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362">
                    <a:moveTo>
                      <a:pt x="0" y="356"/>
                    </a:moveTo>
                    <a:lnTo>
                      <a:pt x="0" y="5"/>
                    </a:lnTo>
                    <a:lnTo>
                      <a:pt x="2" y="5"/>
                    </a:lnTo>
                    <a:lnTo>
                      <a:pt x="5" y="4"/>
                    </a:lnTo>
                    <a:lnTo>
                      <a:pt x="8" y="3"/>
                    </a:lnTo>
                    <a:lnTo>
                      <a:pt x="11" y="2"/>
                    </a:lnTo>
                    <a:lnTo>
                      <a:pt x="13" y="2"/>
                    </a:lnTo>
                    <a:lnTo>
                      <a:pt x="16" y="1"/>
                    </a:lnTo>
                    <a:lnTo>
                      <a:pt x="18" y="0"/>
                    </a:lnTo>
                    <a:lnTo>
                      <a:pt x="21" y="0"/>
                    </a:lnTo>
                    <a:lnTo>
                      <a:pt x="21" y="362"/>
                    </a:lnTo>
                    <a:lnTo>
                      <a:pt x="18" y="362"/>
                    </a:lnTo>
                    <a:lnTo>
                      <a:pt x="16" y="361"/>
                    </a:lnTo>
                    <a:lnTo>
                      <a:pt x="13" y="360"/>
                    </a:lnTo>
                    <a:lnTo>
                      <a:pt x="11" y="360"/>
                    </a:lnTo>
                    <a:lnTo>
                      <a:pt x="8" y="358"/>
                    </a:lnTo>
                    <a:lnTo>
                      <a:pt x="5" y="357"/>
                    </a:lnTo>
                    <a:lnTo>
                      <a:pt x="2" y="357"/>
                    </a:lnTo>
                    <a:lnTo>
                      <a:pt x="0" y="356"/>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98" name="Freeform 1086"/>
              <p:cNvSpPr>
                <a:spLocks noChangeAspect="1"/>
              </p:cNvSpPr>
              <p:nvPr/>
            </p:nvSpPr>
            <p:spPr bwMode="auto">
              <a:xfrm>
                <a:off x="3215" y="1582"/>
                <a:ext cx="7" cy="123"/>
              </a:xfrm>
              <a:custGeom>
                <a:avLst/>
                <a:gdLst>
                  <a:gd name="T0" fmla="*/ 0 w 21"/>
                  <a:gd name="T1" fmla="*/ 363 h 368"/>
                  <a:gd name="T2" fmla="*/ 0 w 21"/>
                  <a:gd name="T3" fmla="*/ 5 h 368"/>
                  <a:gd name="T4" fmla="*/ 2 w 21"/>
                  <a:gd name="T5" fmla="*/ 5 h 368"/>
                  <a:gd name="T6" fmla="*/ 5 w 21"/>
                  <a:gd name="T7" fmla="*/ 4 h 368"/>
                  <a:gd name="T8" fmla="*/ 7 w 21"/>
                  <a:gd name="T9" fmla="*/ 3 h 368"/>
                  <a:gd name="T10" fmla="*/ 10 w 21"/>
                  <a:gd name="T11" fmla="*/ 3 h 368"/>
                  <a:gd name="T12" fmla="*/ 13 w 21"/>
                  <a:gd name="T13" fmla="*/ 2 h 368"/>
                  <a:gd name="T14" fmla="*/ 16 w 21"/>
                  <a:gd name="T15" fmla="*/ 2 h 368"/>
                  <a:gd name="T16" fmla="*/ 18 w 21"/>
                  <a:gd name="T17" fmla="*/ 1 h 368"/>
                  <a:gd name="T18" fmla="*/ 21 w 21"/>
                  <a:gd name="T19" fmla="*/ 0 h 368"/>
                  <a:gd name="T20" fmla="*/ 21 w 21"/>
                  <a:gd name="T21" fmla="*/ 368 h 368"/>
                  <a:gd name="T22" fmla="*/ 18 w 21"/>
                  <a:gd name="T23" fmla="*/ 367 h 368"/>
                  <a:gd name="T24" fmla="*/ 16 w 21"/>
                  <a:gd name="T25" fmla="*/ 366 h 368"/>
                  <a:gd name="T26" fmla="*/ 13 w 21"/>
                  <a:gd name="T27" fmla="*/ 366 h 368"/>
                  <a:gd name="T28" fmla="*/ 10 w 21"/>
                  <a:gd name="T29" fmla="*/ 365 h 368"/>
                  <a:gd name="T30" fmla="*/ 7 w 21"/>
                  <a:gd name="T31" fmla="*/ 365 h 368"/>
                  <a:gd name="T32" fmla="*/ 5 w 21"/>
                  <a:gd name="T33" fmla="*/ 364 h 368"/>
                  <a:gd name="T34" fmla="*/ 2 w 21"/>
                  <a:gd name="T35" fmla="*/ 363 h 368"/>
                  <a:gd name="T36" fmla="*/ 0 w 21"/>
                  <a:gd name="T37" fmla="*/ 363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368">
                    <a:moveTo>
                      <a:pt x="0" y="363"/>
                    </a:moveTo>
                    <a:lnTo>
                      <a:pt x="0" y="5"/>
                    </a:lnTo>
                    <a:lnTo>
                      <a:pt x="2" y="5"/>
                    </a:lnTo>
                    <a:lnTo>
                      <a:pt x="5" y="4"/>
                    </a:lnTo>
                    <a:lnTo>
                      <a:pt x="7" y="3"/>
                    </a:lnTo>
                    <a:lnTo>
                      <a:pt x="10" y="3"/>
                    </a:lnTo>
                    <a:lnTo>
                      <a:pt x="13" y="2"/>
                    </a:lnTo>
                    <a:lnTo>
                      <a:pt x="16" y="2"/>
                    </a:lnTo>
                    <a:lnTo>
                      <a:pt x="18" y="1"/>
                    </a:lnTo>
                    <a:lnTo>
                      <a:pt x="21" y="0"/>
                    </a:lnTo>
                    <a:lnTo>
                      <a:pt x="21" y="368"/>
                    </a:lnTo>
                    <a:lnTo>
                      <a:pt x="18" y="367"/>
                    </a:lnTo>
                    <a:lnTo>
                      <a:pt x="16" y="366"/>
                    </a:lnTo>
                    <a:lnTo>
                      <a:pt x="13" y="366"/>
                    </a:lnTo>
                    <a:lnTo>
                      <a:pt x="10" y="365"/>
                    </a:lnTo>
                    <a:lnTo>
                      <a:pt x="7" y="365"/>
                    </a:lnTo>
                    <a:lnTo>
                      <a:pt x="5" y="364"/>
                    </a:lnTo>
                    <a:lnTo>
                      <a:pt x="2" y="363"/>
                    </a:lnTo>
                    <a:lnTo>
                      <a:pt x="0" y="363"/>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599" name="Freeform 1087"/>
              <p:cNvSpPr>
                <a:spLocks noChangeAspect="1"/>
              </p:cNvSpPr>
              <p:nvPr/>
            </p:nvSpPr>
            <p:spPr bwMode="auto">
              <a:xfrm>
                <a:off x="3218" y="1582"/>
                <a:ext cx="7" cy="124"/>
              </a:xfrm>
              <a:custGeom>
                <a:avLst/>
                <a:gdLst>
                  <a:gd name="T0" fmla="*/ 0 w 21"/>
                  <a:gd name="T1" fmla="*/ 366 h 371"/>
                  <a:gd name="T2" fmla="*/ 0 w 21"/>
                  <a:gd name="T3" fmla="*/ 4 h 371"/>
                  <a:gd name="T4" fmla="*/ 3 w 21"/>
                  <a:gd name="T5" fmla="*/ 3 h 371"/>
                  <a:gd name="T6" fmla="*/ 6 w 21"/>
                  <a:gd name="T7" fmla="*/ 3 h 371"/>
                  <a:gd name="T8" fmla="*/ 8 w 21"/>
                  <a:gd name="T9" fmla="*/ 2 h 371"/>
                  <a:gd name="T10" fmla="*/ 10 w 21"/>
                  <a:gd name="T11" fmla="*/ 2 h 371"/>
                  <a:gd name="T12" fmla="*/ 13 w 21"/>
                  <a:gd name="T13" fmla="*/ 1 h 371"/>
                  <a:gd name="T14" fmla="*/ 15 w 21"/>
                  <a:gd name="T15" fmla="*/ 0 h 371"/>
                  <a:gd name="T16" fmla="*/ 18 w 21"/>
                  <a:gd name="T17" fmla="*/ 0 h 371"/>
                  <a:gd name="T18" fmla="*/ 21 w 21"/>
                  <a:gd name="T19" fmla="*/ 0 h 371"/>
                  <a:gd name="T20" fmla="*/ 21 w 21"/>
                  <a:gd name="T21" fmla="*/ 371 h 371"/>
                  <a:gd name="T22" fmla="*/ 18 w 21"/>
                  <a:gd name="T23" fmla="*/ 370 h 371"/>
                  <a:gd name="T24" fmla="*/ 15 w 21"/>
                  <a:gd name="T25" fmla="*/ 370 h 371"/>
                  <a:gd name="T26" fmla="*/ 13 w 21"/>
                  <a:gd name="T27" fmla="*/ 369 h 371"/>
                  <a:gd name="T28" fmla="*/ 10 w 21"/>
                  <a:gd name="T29" fmla="*/ 369 h 371"/>
                  <a:gd name="T30" fmla="*/ 8 w 21"/>
                  <a:gd name="T31" fmla="*/ 368 h 371"/>
                  <a:gd name="T32" fmla="*/ 6 w 21"/>
                  <a:gd name="T33" fmla="*/ 368 h 371"/>
                  <a:gd name="T34" fmla="*/ 3 w 21"/>
                  <a:gd name="T35" fmla="*/ 367 h 371"/>
                  <a:gd name="T36" fmla="*/ 0 w 21"/>
                  <a:gd name="T37" fmla="*/ 36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371">
                    <a:moveTo>
                      <a:pt x="0" y="366"/>
                    </a:moveTo>
                    <a:lnTo>
                      <a:pt x="0" y="4"/>
                    </a:lnTo>
                    <a:lnTo>
                      <a:pt x="3" y="3"/>
                    </a:lnTo>
                    <a:lnTo>
                      <a:pt x="6" y="3"/>
                    </a:lnTo>
                    <a:lnTo>
                      <a:pt x="8" y="2"/>
                    </a:lnTo>
                    <a:lnTo>
                      <a:pt x="10" y="2"/>
                    </a:lnTo>
                    <a:lnTo>
                      <a:pt x="13" y="1"/>
                    </a:lnTo>
                    <a:lnTo>
                      <a:pt x="15" y="0"/>
                    </a:lnTo>
                    <a:lnTo>
                      <a:pt x="18" y="0"/>
                    </a:lnTo>
                    <a:lnTo>
                      <a:pt x="21" y="0"/>
                    </a:lnTo>
                    <a:lnTo>
                      <a:pt x="21" y="371"/>
                    </a:lnTo>
                    <a:lnTo>
                      <a:pt x="18" y="370"/>
                    </a:lnTo>
                    <a:lnTo>
                      <a:pt x="15" y="370"/>
                    </a:lnTo>
                    <a:lnTo>
                      <a:pt x="13" y="369"/>
                    </a:lnTo>
                    <a:lnTo>
                      <a:pt x="10" y="369"/>
                    </a:lnTo>
                    <a:lnTo>
                      <a:pt x="8" y="368"/>
                    </a:lnTo>
                    <a:lnTo>
                      <a:pt x="6" y="368"/>
                    </a:lnTo>
                    <a:lnTo>
                      <a:pt x="3" y="367"/>
                    </a:lnTo>
                    <a:lnTo>
                      <a:pt x="0" y="366"/>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00" name="Freeform 1088"/>
              <p:cNvSpPr>
                <a:spLocks noChangeAspect="1"/>
              </p:cNvSpPr>
              <p:nvPr/>
            </p:nvSpPr>
            <p:spPr bwMode="auto">
              <a:xfrm>
                <a:off x="3222" y="1581"/>
                <a:ext cx="7" cy="125"/>
              </a:xfrm>
              <a:custGeom>
                <a:avLst/>
                <a:gdLst>
                  <a:gd name="T0" fmla="*/ 0 w 20"/>
                  <a:gd name="T1" fmla="*/ 371 h 374"/>
                  <a:gd name="T2" fmla="*/ 0 w 20"/>
                  <a:gd name="T3" fmla="*/ 3 h 374"/>
                  <a:gd name="T4" fmla="*/ 2 w 20"/>
                  <a:gd name="T5" fmla="*/ 3 h 374"/>
                  <a:gd name="T6" fmla="*/ 4 w 20"/>
                  <a:gd name="T7" fmla="*/ 2 h 374"/>
                  <a:gd name="T8" fmla="*/ 7 w 20"/>
                  <a:gd name="T9" fmla="*/ 2 h 374"/>
                  <a:gd name="T10" fmla="*/ 10 w 20"/>
                  <a:gd name="T11" fmla="*/ 2 h 374"/>
                  <a:gd name="T12" fmla="*/ 13 w 20"/>
                  <a:gd name="T13" fmla="*/ 1 h 374"/>
                  <a:gd name="T14" fmla="*/ 15 w 20"/>
                  <a:gd name="T15" fmla="*/ 1 h 374"/>
                  <a:gd name="T16" fmla="*/ 18 w 20"/>
                  <a:gd name="T17" fmla="*/ 0 h 374"/>
                  <a:gd name="T18" fmla="*/ 20 w 20"/>
                  <a:gd name="T19" fmla="*/ 0 h 374"/>
                  <a:gd name="T20" fmla="*/ 20 w 20"/>
                  <a:gd name="T21" fmla="*/ 374 h 374"/>
                  <a:gd name="T22" fmla="*/ 18 w 20"/>
                  <a:gd name="T23" fmla="*/ 374 h 374"/>
                  <a:gd name="T24" fmla="*/ 15 w 20"/>
                  <a:gd name="T25" fmla="*/ 373 h 374"/>
                  <a:gd name="T26" fmla="*/ 13 w 20"/>
                  <a:gd name="T27" fmla="*/ 373 h 374"/>
                  <a:gd name="T28" fmla="*/ 10 w 20"/>
                  <a:gd name="T29" fmla="*/ 373 h 374"/>
                  <a:gd name="T30" fmla="*/ 7 w 20"/>
                  <a:gd name="T31" fmla="*/ 372 h 374"/>
                  <a:gd name="T32" fmla="*/ 4 w 20"/>
                  <a:gd name="T33" fmla="*/ 372 h 374"/>
                  <a:gd name="T34" fmla="*/ 2 w 20"/>
                  <a:gd name="T35" fmla="*/ 371 h 374"/>
                  <a:gd name="T36" fmla="*/ 0 w 20"/>
                  <a:gd name="T37" fmla="*/ 371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374">
                    <a:moveTo>
                      <a:pt x="0" y="371"/>
                    </a:moveTo>
                    <a:lnTo>
                      <a:pt x="0" y="3"/>
                    </a:lnTo>
                    <a:lnTo>
                      <a:pt x="2" y="3"/>
                    </a:lnTo>
                    <a:lnTo>
                      <a:pt x="4" y="2"/>
                    </a:lnTo>
                    <a:lnTo>
                      <a:pt x="7" y="2"/>
                    </a:lnTo>
                    <a:lnTo>
                      <a:pt x="10" y="2"/>
                    </a:lnTo>
                    <a:lnTo>
                      <a:pt x="13" y="1"/>
                    </a:lnTo>
                    <a:lnTo>
                      <a:pt x="15" y="1"/>
                    </a:lnTo>
                    <a:lnTo>
                      <a:pt x="18" y="0"/>
                    </a:lnTo>
                    <a:lnTo>
                      <a:pt x="20" y="0"/>
                    </a:lnTo>
                    <a:lnTo>
                      <a:pt x="20" y="374"/>
                    </a:lnTo>
                    <a:lnTo>
                      <a:pt x="18" y="374"/>
                    </a:lnTo>
                    <a:lnTo>
                      <a:pt x="15" y="373"/>
                    </a:lnTo>
                    <a:lnTo>
                      <a:pt x="13" y="373"/>
                    </a:lnTo>
                    <a:lnTo>
                      <a:pt x="10" y="373"/>
                    </a:lnTo>
                    <a:lnTo>
                      <a:pt x="7" y="372"/>
                    </a:lnTo>
                    <a:lnTo>
                      <a:pt x="4" y="372"/>
                    </a:lnTo>
                    <a:lnTo>
                      <a:pt x="2" y="371"/>
                    </a:lnTo>
                    <a:lnTo>
                      <a:pt x="0" y="37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01" name="Freeform 1089"/>
              <p:cNvSpPr>
                <a:spLocks noChangeAspect="1"/>
              </p:cNvSpPr>
              <p:nvPr/>
            </p:nvSpPr>
            <p:spPr bwMode="auto">
              <a:xfrm>
                <a:off x="3225" y="1581"/>
                <a:ext cx="15" cy="125"/>
              </a:xfrm>
              <a:custGeom>
                <a:avLst/>
                <a:gdLst>
                  <a:gd name="T0" fmla="*/ 0 w 21"/>
                  <a:gd name="T1" fmla="*/ 374 h 376"/>
                  <a:gd name="T2" fmla="*/ 0 w 21"/>
                  <a:gd name="T3" fmla="*/ 3 h 376"/>
                  <a:gd name="T4" fmla="*/ 3 w 21"/>
                  <a:gd name="T5" fmla="*/ 2 h 376"/>
                  <a:gd name="T6" fmla="*/ 5 w 21"/>
                  <a:gd name="T7" fmla="*/ 2 h 376"/>
                  <a:gd name="T8" fmla="*/ 8 w 21"/>
                  <a:gd name="T9" fmla="*/ 1 h 376"/>
                  <a:gd name="T10" fmla="*/ 10 w 21"/>
                  <a:gd name="T11" fmla="*/ 1 h 376"/>
                  <a:gd name="T12" fmla="*/ 13 w 21"/>
                  <a:gd name="T13" fmla="*/ 1 h 376"/>
                  <a:gd name="T14" fmla="*/ 16 w 21"/>
                  <a:gd name="T15" fmla="*/ 0 h 376"/>
                  <a:gd name="T16" fmla="*/ 19 w 21"/>
                  <a:gd name="T17" fmla="*/ 0 h 376"/>
                  <a:gd name="T18" fmla="*/ 21 w 21"/>
                  <a:gd name="T19" fmla="*/ 0 h 376"/>
                  <a:gd name="T20" fmla="*/ 21 w 21"/>
                  <a:gd name="T21" fmla="*/ 376 h 376"/>
                  <a:gd name="T22" fmla="*/ 19 w 21"/>
                  <a:gd name="T23" fmla="*/ 376 h 376"/>
                  <a:gd name="T24" fmla="*/ 16 w 21"/>
                  <a:gd name="T25" fmla="*/ 376 h 376"/>
                  <a:gd name="T26" fmla="*/ 13 w 21"/>
                  <a:gd name="T27" fmla="*/ 376 h 376"/>
                  <a:gd name="T28" fmla="*/ 10 w 21"/>
                  <a:gd name="T29" fmla="*/ 375 h 376"/>
                  <a:gd name="T30" fmla="*/ 8 w 21"/>
                  <a:gd name="T31" fmla="*/ 375 h 376"/>
                  <a:gd name="T32" fmla="*/ 5 w 21"/>
                  <a:gd name="T33" fmla="*/ 374 h 376"/>
                  <a:gd name="T34" fmla="*/ 3 w 21"/>
                  <a:gd name="T35" fmla="*/ 374 h 376"/>
                  <a:gd name="T36" fmla="*/ 0 w 21"/>
                  <a:gd name="T37" fmla="*/ 37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376">
                    <a:moveTo>
                      <a:pt x="0" y="374"/>
                    </a:moveTo>
                    <a:lnTo>
                      <a:pt x="0" y="3"/>
                    </a:lnTo>
                    <a:lnTo>
                      <a:pt x="3" y="2"/>
                    </a:lnTo>
                    <a:lnTo>
                      <a:pt x="5" y="2"/>
                    </a:lnTo>
                    <a:lnTo>
                      <a:pt x="8" y="1"/>
                    </a:lnTo>
                    <a:lnTo>
                      <a:pt x="10" y="1"/>
                    </a:lnTo>
                    <a:lnTo>
                      <a:pt x="13" y="1"/>
                    </a:lnTo>
                    <a:lnTo>
                      <a:pt x="16" y="0"/>
                    </a:lnTo>
                    <a:lnTo>
                      <a:pt x="19" y="0"/>
                    </a:lnTo>
                    <a:lnTo>
                      <a:pt x="21" y="0"/>
                    </a:lnTo>
                    <a:lnTo>
                      <a:pt x="21" y="376"/>
                    </a:lnTo>
                    <a:lnTo>
                      <a:pt x="19" y="376"/>
                    </a:lnTo>
                    <a:lnTo>
                      <a:pt x="16" y="376"/>
                    </a:lnTo>
                    <a:lnTo>
                      <a:pt x="13" y="376"/>
                    </a:lnTo>
                    <a:lnTo>
                      <a:pt x="10" y="375"/>
                    </a:lnTo>
                    <a:lnTo>
                      <a:pt x="8" y="375"/>
                    </a:lnTo>
                    <a:lnTo>
                      <a:pt x="5" y="374"/>
                    </a:lnTo>
                    <a:lnTo>
                      <a:pt x="3" y="374"/>
                    </a:lnTo>
                    <a:lnTo>
                      <a:pt x="0" y="374"/>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02" name="Freeform 1090"/>
              <p:cNvSpPr>
                <a:spLocks noChangeAspect="1"/>
              </p:cNvSpPr>
              <p:nvPr/>
            </p:nvSpPr>
            <p:spPr bwMode="auto">
              <a:xfrm>
                <a:off x="3229" y="1581"/>
                <a:ext cx="15" cy="126"/>
              </a:xfrm>
              <a:custGeom>
                <a:avLst/>
                <a:gdLst>
                  <a:gd name="T0" fmla="*/ 0 w 22"/>
                  <a:gd name="T1" fmla="*/ 376 h 378"/>
                  <a:gd name="T2" fmla="*/ 0 w 22"/>
                  <a:gd name="T3" fmla="*/ 2 h 378"/>
                  <a:gd name="T4" fmla="*/ 3 w 22"/>
                  <a:gd name="T5" fmla="*/ 2 h 378"/>
                  <a:gd name="T6" fmla="*/ 6 w 22"/>
                  <a:gd name="T7" fmla="*/ 1 h 378"/>
                  <a:gd name="T8" fmla="*/ 9 w 22"/>
                  <a:gd name="T9" fmla="*/ 1 h 378"/>
                  <a:gd name="T10" fmla="*/ 11 w 22"/>
                  <a:gd name="T11" fmla="*/ 1 h 378"/>
                  <a:gd name="T12" fmla="*/ 14 w 22"/>
                  <a:gd name="T13" fmla="*/ 0 h 378"/>
                  <a:gd name="T14" fmla="*/ 16 w 22"/>
                  <a:gd name="T15" fmla="*/ 0 h 378"/>
                  <a:gd name="T16" fmla="*/ 19 w 22"/>
                  <a:gd name="T17" fmla="*/ 0 h 378"/>
                  <a:gd name="T18" fmla="*/ 22 w 22"/>
                  <a:gd name="T19" fmla="*/ 0 h 378"/>
                  <a:gd name="T20" fmla="*/ 22 w 22"/>
                  <a:gd name="T21" fmla="*/ 378 h 378"/>
                  <a:gd name="T22" fmla="*/ 19 w 22"/>
                  <a:gd name="T23" fmla="*/ 378 h 378"/>
                  <a:gd name="T24" fmla="*/ 16 w 22"/>
                  <a:gd name="T25" fmla="*/ 378 h 378"/>
                  <a:gd name="T26" fmla="*/ 14 w 22"/>
                  <a:gd name="T27" fmla="*/ 378 h 378"/>
                  <a:gd name="T28" fmla="*/ 11 w 22"/>
                  <a:gd name="T29" fmla="*/ 377 h 378"/>
                  <a:gd name="T30" fmla="*/ 9 w 22"/>
                  <a:gd name="T31" fmla="*/ 377 h 378"/>
                  <a:gd name="T32" fmla="*/ 6 w 22"/>
                  <a:gd name="T33" fmla="*/ 377 h 378"/>
                  <a:gd name="T34" fmla="*/ 3 w 22"/>
                  <a:gd name="T35" fmla="*/ 377 h 378"/>
                  <a:gd name="T36" fmla="*/ 0 w 22"/>
                  <a:gd name="T37" fmla="*/ 376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378">
                    <a:moveTo>
                      <a:pt x="0" y="376"/>
                    </a:moveTo>
                    <a:lnTo>
                      <a:pt x="0" y="2"/>
                    </a:lnTo>
                    <a:lnTo>
                      <a:pt x="3" y="2"/>
                    </a:lnTo>
                    <a:lnTo>
                      <a:pt x="6" y="1"/>
                    </a:lnTo>
                    <a:lnTo>
                      <a:pt x="9" y="1"/>
                    </a:lnTo>
                    <a:lnTo>
                      <a:pt x="11" y="1"/>
                    </a:lnTo>
                    <a:lnTo>
                      <a:pt x="14" y="0"/>
                    </a:lnTo>
                    <a:lnTo>
                      <a:pt x="16" y="0"/>
                    </a:lnTo>
                    <a:lnTo>
                      <a:pt x="19" y="0"/>
                    </a:lnTo>
                    <a:lnTo>
                      <a:pt x="22" y="0"/>
                    </a:lnTo>
                    <a:lnTo>
                      <a:pt x="22" y="378"/>
                    </a:lnTo>
                    <a:lnTo>
                      <a:pt x="19" y="378"/>
                    </a:lnTo>
                    <a:lnTo>
                      <a:pt x="16" y="378"/>
                    </a:lnTo>
                    <a:lnTo>
                      <a:pt x="14" y="378"/>
                    </a:lnTo>
                    <a:lnTo>
                      <a:pt x="11" y="377"/>
                    </a:lnTo>
                    <a:lnTo>
                      <a:pt x="9" y="377"/>
                    </a:lnTo>
                    <a:lnTo>
                      <a:pt x="6" y="377"/>
                    </a:lnTo>
                    <a:lnTo>
                      <a:pt x="3" y="377"/>
                    </a:lnTo>
                    <a:lnTo>
                      <a:pt x="0" y="376"/>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03" name="Freeform 1091"/>
              <p:cNvSpPr>
                <a:spLocks noChangeAspect="1"/>
              </p:cNvSpPr>
              <p:nvPr/>
            </p:nvSpPr>
            <p:spPr bwMode="auto">
              <a:xfrm>
                <a:off x="3232" y="1580"/>
                <a:ext cx="7" cy="127"/>
              </a:xfrm>
              <a:custGeom>
                <a:avLst/>
                <a:gdLst>
                  <a:gd name="T0" fmla="*/ 0 w 21"/>
                  <a:gd name="T1" fmla="*/ 378 h 380"/>
                  <a:gd name="T2" fmla="*/ 0 w 21"/>
                  <a:gd name="T3" fmla="*/ 2 h 380"/>
                  <a:gd name="T4" fmla="*/ 3 w 21"/>
                  <a:gd name="T5" fmla="*/ 1 h 380"/>
                  <a:gd name="T6" fmla="*/ 5 w 21"/>
                  <a:gd name="T7" fmla="*/ 1 h 380"/>
                  <a:gd name="T8" fmla="*/ 8 w 21"/>
                  <a:gd name="T9" fmla="*/ 1 h 380"/>
                  <a:gd name="T10" fmla="*/ 11 w 21"/>
                  <a:gd name="T11" fmla="*/ 1 h 380"/>
                  <a:gd name="T12" fmla="*/ 13 w 21"/>
                  <a:gd name="T13" fmla="*/ 0 h 380"/>
                  <a:gd name="T14" fmla="*/ 16 w 21"/>
                  <a:gd name="T15" fmla="*/ 0 h 380"/>
                  <a:gd name="T16" fmla="*/ 18 w 21"/>
                  <a:gd name="T17" fmla="*/ 0 h 380"/>
                  <a:gd name="T18" fmla="*/ 21 w 21"/>
                  <a:gd name="T19" fmla="*/ 0 h 380"/>
                  <a:gd name="T20" fmla="*/ 21 w 21"/>
                  <a:gd name="T21" fmla="*/ 380 h 380"/>
                  <a:gd name="T22" fmla="*/ 18 w 21"/>
                  <a:gd name="T23" fmla="*/ 380 h 380"/>
                  <a:gd name="T24" fmla="*/ 16 w 21"/>
                  <a:gd name="T25" fmla="*/ 380 h 380"/>
                  <a:gd name="T26" fmla="*/ 13 w 21"/>
                  <a:gd name="T27" fmla="*/ 380 h 380"/>
                  <a:gd name="T28" fmla="*/ 11 w 21"/>
                  <a:gd name="T29" fmla="*/ 379 h 380"/>
                  <a:gd name="T30" fmla="*/ 8 w 21"/>
                  <a:gd name="T31" fmla="*/ 379 h 380"/>
                  <a:gd name="T32" fmla="*/ 5 w 21"/>
                  <a:gd name="T33" fmla="*/ 379 h 380"/>
                  <a:gd name="T34" fmla="*/ 3 w 21"/>
                  <a:gd name="T35" fmla="*/ 379 h 380"/>
                  <a:gd name="T36" fmla="*/ 0 w 21"/>
                  <a:gd name="T37" fmla="*/ 378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380">
                    <a:moveTo>
                      <a:pt x="0" y="378"/>
                    </a:moveTo>
                    <a:lnTo>
                      <a:pt x="0" y="2"/>
                    </a:lnTo>
                    <a:lnTo>
                      <a:pt x="3" y="1"/>
                    </a:lnTo>
                    <a:lnTo>
                      <a:pt x="5" y="1"/>
                    </a:lnTo>
                    <a:lnTo>
                      <a:pt x="8" y="1"/>
                    </a:lnTo>
                    <a:lnTo>
                      <a:pt x="11" y="1"/>
                    </a:lnTo>
                    <a:lnTo>
                      <a:pt x="13" y="0"/>
                    </a:lnTo>
                    <a:lnTo>
                      <a:pt x="16" y="0"/>
                    </a:lnTo>
                    <a:lnTo>
                      <a:pt x="18" y="0"/>
                    </a:lnTo>
                    <a:lnTo>
                      <a:pt x="21" y="0"/>
                    </a:lnTo>
                    <a:lnTo>
                      <a:pt x="21" y="380"/>
                    </a:lnTo>
                    <a:lnTo>
                      <a:pt x="18" y="380"/>
                    </a:lnTo>
                    <a:lnTo>
                      <a:pt x="16" y="380"/>
                    </a:lnTo>
                    <a:lnTo>
                      <a:pt x="13" y="380"/>
                    </a:lnTo>
                    <a:lnTo>
                      <a:pt x="11" y="379"/>
                    </a:lnTo>
                    <a:lnTo>
                      <a:pt x="8" y="379"/>
                    </a:lnTo>
                    <a:lnTo>
                      <a:pt x="5" y="379"/>
                    </a:lnTo>
                    <a:lnTo>
                      <a:pt x="3" y="379"/>
                    </a:lnTo>
                    <a:lnTo>
                      <a:pt x="0" y="378"/>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04" name="Freeform 1092"/>
              <p:cNvSpPr>
                <a:spLocks noChangeAspect="1"/>
              </p:cNvSpPr>
              <p:nvPr/>
            </p:nvSpPr>
            <p:spPr bwMode="auto">
              <a:xfrm>
                <a:off x="3236" y="1580"/>
                <a:ext cx="7" cy="127"/>
              </a:xfrm>
              <a:custGeom>
                <a:avLst/>
                <a:gdLst>
                  <a:gd name="T0" fmla="*/ 0 w 21"/>
                  <a:gd name="T1" fmla="*/ 380 h 382"/>
                  <a:gd name="T2" fmla="*/ 0 w 21"/>
                  <a:gd name="T3" fmla="*/ 2 h 382"/>
                  <a:gd name="T4" fmla="*/ 2 w 21"/>
                  <a:gd name="T5" fmla="*/ 1 h 382"/>
                  <a:gd name="T6" fmla="*/ 5 w 21"/>
                  <a:gd name="T7" fmla="*/ 1 h 382"/>
                  <a:gd name="T8" fmla="*/ 7 w 21"/>
                  <a:gd name="T9" fmla="*/ 1 h 382"/>
                  <a:gd name="T10" fmla="*/ 10 w 21"/>
                  <a:gd name="T11" fmla="*/ 1 h 382"/>
                  <a:gd name="T12" fmla="*/ 12 w 21"/>
                  <a:gd name="T13" fmla="*/ 1 h 382"/>
                  <a:gd name="T14" fmla="*/ 15 w 21"/>
                  <a:gd name="T15" fmla="*/ 1 h 382"/>
                  <a:gd name="T16" fmla="*/ 18 w 21"/>
                  <a:gd name="T17" fmla="*/ 1 h 382"/>
                  <a:gd name="T18" fmla="*/ 21 w 21"/>
                  <a:gd name="T19" fmla="*/ 0 h 382"/>
                  <a:gd name="T20" fmla="*/ 21 w 21"/>
                  <a:gd name="T21" fmla="*/ 382 h 382"/>
                  <a:gd name="T22" fmla="*/ 18 w 21"/>
                  <a:gd name="T23" fmla="*/ 382 h 382"/>
                  <a:gd name="T24" fmla="*/ 15 w 21"/>
                  <a:gd name="T25" fmla="*/ 381 h 382"/>
                  <a:gd name="T26" fmla="*/ 12 w 21"/>
                  <a:gd name="T27" fmla="*/ 381 h 382"/>
                  <a:gd name="T28" fmla="*/ 10 w 21"/>
                  <a:gd name="T29" fmla="*/ 381 h 382"/>
                  <a:gd name="T30" fmla="*/ 7 w 21"/>
                  <a:gd name="T31" fmla="*/ 381 h 382"/>
                  <a:gd name="T32" fmla="*/ 5 w 21"/>
                  <a:gd name="T33" fmla="*/ 381 h 382"/>
                  <a:gd name="T34" fmla="*/ 2 w 21"/>
                  <a:gd name="T35" fmla="*/ 381 h 382"/>
                  <a:gd name="T36" fmla="*/ 0 w 21"/>
                  <a:gd name="T37" fmla="*/ 380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382">
                    <a:moveTo>
                      <a:pt x="0" y="380"/>
                    </a:moveTo>
                    <a:lnTo>
                      <a:pt x="0" y="2"/>
                    </a:lnTo>
                    <a:lnTo>
                      <a:pt x="2" y="1"/>
                    </a:lnTo>
                    <a:lnTo>
                      <a:pt x="5" y="1"/>
                    </a:lnTo>
                    <a:lnTo>
                      <a:pt x="7" y="1"/>
                    </a:lnTo>
                    <a:lnTo>
                      <a:pt x="10" y="1"/>
                    </a:lnTo>
                    <a:lnTo>
                      <a:pt x="12" y="1"/>
                    </a:lnTo>
                    <a:lnTo>
                      <a:pt x="15" y="1"/>
                    </a:lnTo>
                    <a:lnTo>
                      <a:pt x="18" y="1"/>
                    </a:lnTo>
                    <a:lnTo>
                      <a:pt x="21" y="0"/>
                    </a:lnTo>
                    <a:lnTo>
                      <a:pt x="21" y="382"/>
                    </a:lnTo>
                    <a:lnTo>
                      <a:pt x="18" y="382"/>
                    </a:lnTo>
                    <a:lnTo>
                      <a:pt x="15" y="381"/>
                    </a:lnTo>
                    <a:lnTo>
                      <a:pt x="12" y="381"/>
                    </a:lnTo>
                    <a:lnTo>
                      <a:pt x="10" y="381"/>
                    </a:lnTo>
                    <a:lnTo>
                      <a:pt x="7" y="381"/>
                    </a:lnTo>
                    <a:lnTo>
                      <a:pt x="5" y="381"/>
                    </a:lnTo>
                    <a:lnTo>
                      <a:pt x="2" y="381"/>
                    </a:lnTo>
                    <a:lnTo>
                      <a:pt x="0" y="380"/>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05" name="Freeform 1093"/>
              <p:cNvSpPr>
                <a:spLocks noChangeAspect="1"/>
              </p:cNvSpPr>
              <p:nvPr/>
            </p:nvSpPr>
            <p:spPr bwMode="auto">
              <a:xfrm>
                <a:off x="3239" y="1580"/>
                <a:ext cx="7" cy="127"/>
              </a:xfrm>
              <a:custGeom>
                <a:avLst/>
                <a:gdLst>
                  <a:gd name="T0" fmla="*/ 0 w 21"/>
                  <a:gd name="T1" fmla="*/ 381 h 382"/>
                  <a:gd name="T2" fmla="*/ 0 w 21"/>
                  <a:gd name="T3" fmla="*/ 1 h 382"/>
                  <a:gd name="T4" fmla="*/ 2 w 21"/>
                  <a:gd name="T5" fmla="*/ 1 h 382"/>
                  <a:gd name="T6" fmla="*/ 5 w 21"/>
                  <a:gd name="T7" fmla="*/ 1 h 382"/>
                  <a:gd name="T8" fmla="*/ 8 w 21"/>
                  <a:gd name="T9" fmla="*/ 1 h 382"/>
                  <a:gd name="T10" fmla="*/ 11 w 21"/>
                  <a:gd name="T11" fmla="*/ 0 h 382"/>
                  <a:gd name="T12" fmla="*/ 13 w 21"/>
                  <a:gd name="T13" fmla="*/ 0 h 382"/>
                  <a:gd name="T14" fmla="*/ 16 w 21"/>
                  <a:gd name="T15" fmla="*/ 0 h 382"/>
                  <a:gd name="T16" fmla="*/ 18 w 21"/>
                  <a:gd name="T17" fmla="*/ 0 h 382"/>
                  <a:gd name="T18" fmla="*/ 21 w 21"/>
                  <a:gd name="T19" fmla="*/ 0 h 382"/>
                  <a:gd name="T20" fmla="*/ 21 w 21"/>
                  <a:gd name="T21" fmla="*/ 382 h 382"/>
                  <a:gd name="T22" fmla="*/ 18 w 21"/>
                  <a:gd name="T23" fmla="*/ 382 h 382"/>
                  <a:gd name="T24" fmla="*/ 16 w 21"/>
                  <a:gd name="T25" fmla="*/ 382 h 382"/>
                  <a:gd name="T26" fmla="*/ 13 w 21"/>
                  <a:gd name="T27" fmla="*/ 382 h 382"/>
                  <a:gd name="T28" fmla="*/ 11 w 21"/>
                  <a:gd name="T29" fmla="*/ 382 h 382"/>
                  <a:gd name="T30" fmla="*/ 8 w 21"/>
                  <a:gd name="T31" fmla="*/ 382 h 382"/>
                  <a:gd name="T32" fmla="*/ 5 w 21"/>
                  <a:gd name="T33" fmla="*/ 381 h 382"/>
                  <a:gd name="T34" fmla="*/ 2 w 21"/>
                  <a:gd name="T35" fmla="*/ 381 h 382"/>
                  <a:gd name="T36" fmla="*/ 0 w 21"/>
                  <a:gd name="T37" fmla="*/ 381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382">
                    <a:moveTo>
                      <a:pt x="0" y="381"/>
                    </a:moveTo>
                    <a:lnTo>
                      <a:pt x="0" y="1"/>
                    </a:lnTo>
                    <a:lnTo>
                      <a:pt x="2" y="1"/>
                    </a:lnTo>
                    <a:lnTo>
                      <a:pt x="5" y="1"/>
                    </a:lnTo>
                    <a:lnTo>
                      <a:pt x="8" y="1"/>
                    </a:lnTo>
                    <a:lnTo>
                      <a:pt x="11" y="0"/>
                    </a:lnTo>
                    <a:lnTo>
                      <a:pt x="13" y="0"/>
                    </a:lnTo>
                    <a:lnTo>
                      <a:pt x="16" y="0"/>
                    </a:lnTo>
                    <a:lnTo>
                      <a:pt x="18" y="0"/>
                    </a:lnTo>
                    <a:lnTo>
                      <a:pt x="21" y="0"/>
                    </a:lnTo>
                    <a:lnTo>
                      <a:pt x="21" y="382"/>
                    </a:lnTo>
                    <a:lnTo>
                      <a:pt x="18" y="382"/>
                    </a:lnTo>
                    <a:lnTo>
                      <a:pt x="16" y="382"/>
                    </a:lnTo>
                    <a:lnTo>
                      <a:pt x="13" y="382"/>
                    </a:lnTo>
                    <a:lnTo>
                      <a:pt x="11" y="382"/>
                    </a:lnTo>
                    <a:lnTo>
                      <a:pt x="8" y="382"/>
                    </a:lnTo>
                    <a:lnTo>
                      <a:pt x="5" y="381"/>
                    </a:lnTo>
                    <a:lnTo>
                      <a:pt x="2" y="381"/>
                    </a:lnTo>
                    <a:lnTo>
                      <a:pt x="0" y="38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06" name="Freeform 1094"/>
              <p:cNvSpPr>
                <a:spLocks noChangeAspect="1"/>
              </p:cNvSpPr>
              <p:nvPr/>
            </p:nvSpPr>
            <p:spPr bwMode="auto">
              <a:xfrm>
                <a:off x="3243" y="1580"/>
                <a:ext cx="7" cy="127"/>
              </a:xfrm>
              <a:custGeom>
                <a:avLst/>
                <a:gdLst>
                  <a:gd name="T0" fmla="*/ 0 w 21"/>
                  <a:gd name="T1" fmla="*/ 382 h 382"/>
                  <a:gd name="T2" fmla="*/ 0 w 21"/>
                  <a:gd name="T3" fmla="*/ 0 h 382"/>
                  <a:gd name="T4" fmla="*/ 1 w 21"/>
                  <a:gd name="T5" fmla="*/ 0 h 382"/>
                  <a:gd name="T6" fmla="*/ 2 w 21"/>
                  <a:gd name="T7" fmla="*/ 0 h 382"/>
                  <a:gd name="T8" fmla="*/ 3 w 21"/>
                  <a:gd name="T9" fmla="*/ 0 h 382"/>
                  <a:gd name="T10" fmla="*/ 5 w 21"/>
                  <a:gd name="T11" fmla="*/ 0 h 382"/>
                  <a:gd name="T12" fmla="*/ 6 w 21"/>
                  <a:gd name="T13" fmla="*/ 0 h 382"/>
                  <a:gd name="T14" fmla="*/ 7 w 21"/>
                  <a:gd name="T15" fmla="*/ 0 h 382"/>
                  <a:gd name="T16" fmla="*/ 8 w 21"/>
                  <a:gd name="T17" fmla="*/ 0 h 382"/>
                  <a:gd name="T18" fmla="*/ 10 w 21"/>
                  <a:gd name="T19" fmla="*/ 0 h 382"/>
                  <a:gd name="T20" fmla="*/ 12 w 21"/>
                  <a:gd name="T21" fmla="*/ 0 h 382"/>
                  <a:gd name="T22" fmla="*/ 13 w 21"/>
                  <a:gd name="T23" fmla="*/ 0 h 382"/>
                  <a:gd name="T24" fmla="*/ 14 w 21"/>
                  <a:gd name="T25" fmla="*/ 0 h 382"/>
                  <a:gd name="T26" fmla="*/ 16 w 21"/>
                  <a:gd name="T27" fmla="*/ 0 h 382"/>
                  <a:gd name="T28" fmla="*/ 17 w 21"/>
                  <a:gd name="T29" fmla="*/ 0 h 382"/>
                  <a:gd name="T30" fmla="*/ 18 w 21"/>
                  <a:gd name="T31" fmla="*/ 0 h 382"/>
                  <a:gd name="T32" fmla="*/ 19 w 21"/>
                  <a:gd name="T33" fmla="*/ 0 h 382"/>
                  <a:gd name="T34" fmla="*/ 21 w 21"/>
                  <a:gd name="T35" fmla="*/ 0 h 382"/>
                  <a:gd name="T36" fmla="*/ 21 w 21"/>
                  <a:gd name="T37" fmla="*/ 382 h 382"/>
                  <a:gd name="T38" fmla="*/ 19 w 21"/>
                  <a:gd name="T39" fmla="*/ 382 h 382"/>
                  <a:gd name="T40" fmla="*/ 18 w 21"/>
                  <a:gd name="T41" fmla="*/ 382 h 382"/>
                  <a:gd name="T42" fmla="*/ 17 w 21"/>
                  <a:gd name="T43" fmla="*/ 382 h 382"/>
                  <a:gd name="T44" fmla="*/ 16 w 21"/>
                  <a:gd name="T45" fmla="*/ 382 h 382"/>
                  <a:gd name="T46" fmla="*/ 14 w 21"/>
                  <a:gd name="T47" fmla="*/ 382 h 382"/>
                  <a:gd name="T48" fmla="*/ 13 w 21"/>
                  <a:gd name="T49" fmla="*/ 382 h 382"/>
                  <a:gd name="T50" fmla="*/ 12 w 21"/>
                  <a:gd name="T51" fmla="*/ 382 h 382"/>
                  <a:gd name="T52" fmla="*/ 10 w 21"/>
                  <a:gd name="T53" fmla="*/ 382 h 382"/>
                  <a:gd name="T54" fmla="*/ 8 w 21"/>
                  <a:gd name="T55" fmla="*/ 382 h 382"/>
                  <a:gd name="T56" fmla="*/ 7 w 21"/>
                  <a:gd name="T57" fmla="*/ 382 h 382"/>
                  <a:gd name="T58" fmla="*/ 6 w 21"/>
                  <a:gd name="T59" fmla="*/ 382 h 382"/>
                  <a:gd name="T60" fmla="*/ 5 w 21"/>
                  <a:gd name="T61" fmla="*/ 382 h 382"/>
                  <a:gd name="T62" fmla="*/ 3 w 21"/>
                  <a:gd name="T63" fmla="*/ 382 h 382"/>
                  <a:gd name="T64" fmla="*/ 2 w 21"/>
                  <a:gd name="T65" fmla="*/ 382 h 382"/>
                  <a:gd name="T66" fmla="*/ 1 w 21"/>
                  <a:gd name="T67" fmla="*/ 382 h 382"/>
                  <a:gd name="T68" fmla="*/ 0 w 21"/>
                  <a:gd name="T69" fmla="*/ 382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 h="382">
                    <a:moveTo>
                      <a:pt x="0" y="382"/>
                    </a:moveTo>
                    <a:lnTo>
                      <a:pt x="0" y="0"/>
                    </a:lnTo>
                    <a:lnTo>
                      <a:pt x="1" y="0"/>
                    </a:lnTo>
                    <a:lnTo>
                      <a:pt x="2" y="0"/>
                    </a:lnTo>
                    <a:lnTo>
                      <a:pt x="3" y="0"/>
                    </a:lnTo>
                    <a:lnTo>
                      <a:pt x="5" y="0"/>
                    </a:lnTo>
                    <a:lnTo>
                      <a:pt x="6" y="0"/>
                    </a:lnTo>
                    <a:lnTo>
                      <a:pt x="7" y="0"/>
                    </a:lnTo>
                    <a:lnTo>
                      <a:pt x="8" y="0"/>
                    </a:lnTo>
                    <a:lnTo>
                      <a:pt x="10" y="0"/>
                    </a:lnTo>
                    <a:lnTo>
                      <a:pt x="12" y="0"/>
                    </a:lnTo>
                    <a:lnTo>
                      <a:pt x="13" y="0"/>
                    </a:lnTo>
                    <a:lnTo>
                      <a:pt x="14" y="0"/>
                    </a:lnTo>
                    <a:lnTo>
                      <a:pt x="16" y="0"/>
                    </a:lnTo>
                    <a:lnTo>
                      <a:pt x="17" y="0"/>
                    </a:lnTo>
                    <a:lnTo>
                      <a:pt x="18" y="0"/>
                    </a:lnTo>
                    <a:lnTo>
                      <a:pt x="19" y="0"/>
                    </a:lnTo>
                    <a:lnTo>
                      <a:pt x="21" y="0"/>
                    </a:lnTo>
                    <a:lnTo>
                      <a:pt x="21" y="382"/>
                    </a:lnTo>
                    <a:lnTo>
                      <a:pt x="19" y="382"/>
                    </a:lnTo>
                    <a:lnTo>
                      <a:pt x="18" y="382"/>
                    </a:lnTo>
                    <a:lnTo>
                      <a:pt x="17" y="382"/>
                    </a:lnTo>
                    <a:lnTo>
                      <a:pt x="16" y="382"/>
                    </a:lnTo>
                    <a:lnTo>
                      <a:pt x="14" y="382"/>
                    </a:lnTo>
                    <a:lnTo>
                      <a:pt x="13" y="382"/>
                    </a:lnTo>
                    <a:lnTo>
                      <a:pt x="12" y="382"/>
                    </a:lnTo>
                    <a:lnTo>
                      <a:pt x="10" y="382"/>
                    </a:lnTo>
                    <a:lnTo>
                      <a:pt x="8" y="382"/>
                    </a:lnTo>
                    <a:lnTo>
                      <a:pt x="7" y="382"/>
                    </a:lnTo>
                    <a:lnTo>
                      <a:pt x="6" y="382"/>
                    </a:lnTo>
                    <a:lnTo>
                      <a:pt x="5" y="382"/>
                    </a:lnTo>
                    <a:lnTo>
                      <a:pt x="3" y="382"/>
                    </a:lnTo>
                    <a:lnTo>
                      <a:pt x="2" y="382"/>
                    </a:lnTo>
                    <a:lnTo>
                      <a:pt x="1" y="382"/>
                    </a:lnTo>
                    <a:lnTo>
                      <a:pt x="0" y="382"/>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07" name="Freeform 1095"/>
              <p:cNvSpPr>
                <a:spLocks noChangeAspect="1"/>
              </p:cNvSpPr>
              <p:nvPr/>
            </p:nvSpPr>
            <p:spPr bwMode="auto">
              <a:xfrm>
                <a:off x="3246" y="1580"/>
                <a:ext cx="7" cy="127"/>
              </a:xfrm>
              <a:custGeom>
                <a:avLst/>
                <a:gdLst>
                  <a:gd name="T0" fmla="*/ 0 w 21"/>
                  <a:gd name="T1" fmla="*/ 382 h 382"/>
                  <a:gd name="T2" fmla="*/ 0 w 21"/>
                  <a:gd name="T3" fmla="*/ 0 h 382"/>
                  <a:gd name="T4" fmla="*/ 3 w 21"/>
                  <a:gd name="T5" fmla="*/ 0 h 382"/>
                  <a:gd name="T6" fmla="*/ 6 w 21"/>
                  <a:gd name="T7" fmla="*/ 0 h 382"/>
                  <a:gd name="T8" fmla="*/ 8 w 21"/>
                  <a:gd name="T9" fmla="*/ 0 h 382"/>
                  <a:gd name="T10" fmla="*/ 11 w 21"/>
                  <a:gd name="T11" fmla="*/ 0 h 382"/>
                  <a:gd name="T12" fmla="*/ 13 w 21"/>
                  <a:gd name="T13" fmla="*/ 1 h 382"/>
                  <a:gd name="T14" fmla="*/ 16 w 21"/>
                  <a:gd name="T15" fmla="*/ 1 h 382"/>
                  <a:gd name="T16" fmla="*/ 19 w 21"/>
                  <a:gd name="T17" fmla="*/ 1 h 382"/>
                  <a:gd name="T18" fmla="*/ 21 w 21"/>
                  <a:gd name="T19" fmla="*/ 1 h 382"/>
                  <a:gd name="T20" fmla="*/ 21 w 21"/>
                  <a:gd name="T21" fmla="*/ 381 h 382"/>
                  <a:gd name="T22" fmla="*/ 19 w 21"/>
                  <a:gd name="T23" fmla="*/ 381 h 382"/>
                  <a:gd name="T24" fmla="*/ 16 w 21"/>
                  <a:gd name="T25" fmla="*/ 381 h 382"/>
                  <a:gd name="T26" fmla="*/ 13 w 21"/>
                  <a:gd name="T27" fmla="*/ 382 h 382"/>
                  <a:gd name="T28" fmla="*/ 11 w 21"/>
                  <a:gd name="T29" fmla="*/ 382 h 382"/>
                  <a:gd name="T30" fmla="*/ 8 w 21"/>
                  <a:gd name="T31" fmla="*/ 382 h 382"/>
                  <a:gd name="T32" fmla="*/ 6 w 21"/>
                  <a:gd name="T33" fmla="*/ 382 h 382"/>
                  <a:gd name="T34" fmla="*/ 3 w 21"/>
                  <a:gd name="T35" fmla="*/ 382 h 382"/>
                  <a:gd name="T36" fmla="*/ 0 w 21"/>
                  <a:gd name="T37" fmla="*/ 382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382">
                    <a:moveTo>
                      <a:pt x="0" y="382"/>
                    </a:moveTo>
                    <a:lnTo>
                      <a:pt x="0" y="0"/>
                    </a:lnTo>
                    <a:lnTo>
                      <a:pt x="3" y="0"/>
                    </a:lnTo>
                    <a:lnTo>
                      <a:pt x="6" y="0"/>
                    </a:lnTo>
                    <a:lnTo>
                      <a:pt x="8" y="0"/>
                    </a:lnTo>
                    <a:lnTo>
                      <a:pt x="11" y="0"/>
                    </a:lnTo>
                    <a:lnTo>
                      <a:pt x="13" y="1"/>
                    </a:lnTo>
                    <a:lnTo>
                      <a:pt x="16" y="1"/>
                    </a:lnTo>
                    <a:lnTo>
                      <a:pt x="19" y="1"/>
                    </a:lnTo>
                    <a:lnTo>
                      <a:pt x="21" y="1"/>
                    </a:lnTo>
                    <a:lnTo>
                      <a:pt x="21" y="381"/>
                    </a:lnTo>
                    <a:lnTo>
                      <a:pt x="19" y="381"/>
                    </a:lnTo>
                    <a:lnTo>
                      <a:pt x="16" y="381"/>
                    </a:lnTo>
                    <a:lnTo>
                      <a:pt x="13" y="382"/>
                    </a:lnTo>
                    <a:lnTo>
                      <a:pt x="11" y="382"/>
                    </a:lnTo>
                    <a:lnTo>
                      <a:pt x="8" y="382"/>
                    </a:lnTo>
                    <a:lnTo>
                      <a:pt x="6" y="382"/>
                    </a:lnTo>
                    <a:lnTo>
                      <a:pt x="3" y="382"/>
                    </a:lnTo>
                    <a:lnTo>
                      <a:pt x="0" y="382"/>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08" name="Freeform 1096"/>
              <p:cNvSpPr>
                <a:spLocks noChangeAspect="1"/>
              </p:cNvSpPr>
              <p:nvPr/>
            </p:nvSpPr>
            <p:spPr bwMode="auto">
              <a:xfrm>
                <a:off x="3250" y="1580"/>
                <a:ext cx="7" cy="127"/>
              </a:xfrm>
              <a:custGeom>
                <a:avLst/>
                <a:gdLst>
                  <a:gd name="T0" fmla="*/ 0 w 20"/>
                  <a:gd name="T1" fmla="*/ 382 h 382"/>
                  <a:gd name="T2" fmla="*/ 0 w 20"/>
                  <a:gd name="T3" fmla="*/ 0 h 382"/>
                  <a:gd name="T4" fmla="*/ 2 w 20"/>
                  <a:gd name="T5" fmla="*/ 1 h 382"/>
                  <a:gd name="T6" fmla="*/ 5 w 20"/>
                  <a:gd name="T7" fmla="*/ 1 h 382"/>
                  <a:gd name="T8" fmla="*/ 8 w 20"/>
                  <a:gd name="T9" fmla="*/ 1 h 382"/>
                  <a:gd name="T10" fmla="*/ 10 w 20"/>
                  <a:gd name="T11" fmla="*/ 1 h 382"/>
                  <a:gd name="T12" fmla="*/ 13 w 20"/>
                  <a:gd name="T13" fmla="*/ 1 h 382"/>
                  <a:gd name="T14" fmla="*/ 15 w 20"/>
                  <a:gd name="T15" fmla="*/ 1 h 382"/>
                  <a:gd name="T16" fmla="*/ 18 w 20"/>
                  <a:gd name="T17" fmla="*/ 1 h 382"/>
                  <a:gd name="T18" fmla="*/ 20 w 20"/>
                  <a:gd name="T19" fmla="*/ 2 h 382"/>
                  <a:gd name="T20" fmla="*/ 20 w 20"/>
                  <a:gd name="T21" fmla="*/ 380 h 382"/>
                  <a:gd name="T22" fmla="*/ 18 w 20"/>
                  <a:gd name="T23" fmla="*/ 381 h 382"/>
                  <a:gd name="T24" fmla="*/ 15 w 20"/>
                  <a:gd name="T25" fmla="*/ 381 h 382"/>
                  <a:gd name="T26" fmla="*/ 13 w 20"/>
                  <a:gd name="T27" fmla="*/ 381 h 382"/>
                  <a:gd name="T28" fmla="*/ 10 w 20"/>
                  <a:gd name="T29" fmla="*/ 381 h 382"/>
                  <a:gd name="T30" fmla="*/ 8 w 20"/>
                  <a:gd name="T31" fmla="*/ 381 h 382"/>
                  <a:gd name="T32" fmla="*/ 5 w 20"/>
                  <a:gd name="T33" fmla="*/ 381 h 382"/>
                  <a:gd name="T34" fmla="*/ 2 w 20"/>
                  <a:gd name="T35" fmla="*/ 382 h 382"/>
                  <a:gd name="T36" fmla="*/ 0 w 20"/>
                  <a:gd name="T37" fmla="*/ 382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382">
                    <a:moveTo>
                      <a:pt x="0" y="382"/>
                    </a:moveTo>
                    <a:lnTo>
                      <a:pt x="0" y="0"/>
                    </a:lnTo>
                    <a:lnTo>
                      <a:pt x="2" y="1"/>
                    </a:lnTo>
                    <a:lnTo>
                      <a:pt x="5" y="1"/>
                    </a:lnTo>
                    <a:lnTo>
                      <a:pt x="8" y="1"/>
                    </a:lnTo>
                    <a:lnTo>
                      <a:pt x="10" y="1"/>
                    </a:lnTo>
                    <a:lnTo>
                      <a:pt x="13" y="1"/>
                    </a:lnTo>
                    <a:lnTo>
                      <a:pt x="15" y="1"/>
                    </a:lnTo>
                    <a:lnTo>
                      <a:pt x="18" y="1"/>
                    </a:lnTo>
                    <a:lnTo>
                      <a:pt x="20" y="2"/>
                    </a:lnTo>
                    <a:lnTo>
                      <a:pt x="20" y="380"/>
                    </a:lnTo>
                    <a:lnTo>
                      <a:pt x="18" y="381"/>
                    </a:lnTo>
                    <a:lnTo>
                      <a:pt x="15" y="381"/>
                    </a:lnTo>
                    <a:lnTo>
                      <a:pt x="13" y="381"/>
                    </a:lnTo>
                    <a:lnTo>
                      <a:pt x="10" y="381"/>
                    </a:lnTo>
                    <a:lnTo>
                      <a:pt x="8" y="381"/>
                    </a:lnTo>
                    <a:lnTo>
                      <a:pt x="5" y="381"/>
                    </a:lnTo>
                    <a:lnTo>
                      <a:pt x="2" y="382"/>
                    </a:lnTo>
                    <a:lnTo>
                      <a:pt x="0" y="382"/>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09" name="Freeform 1097"/>
              <p:cNvSpPr>
                <a:spLocks noChangeAspect="1"/>
              </p:cNvSpPr>
              <p:nvPr/>
            </p:nvSpPr>
            <p:spPr bwMode="auto">
              <a:xfrm>
                <a:off x="3253" y="1580"/>
                <a:ext cx="7" cy="127"/>
              </a:xfrm>
              <a:custGeom>
                <a:avLst/>
                <a:gdLst>
                  <a:gd name="T0" fmla="*/ 0 w 21"/>
                  <a:gd name="T1" fmla="*/ 380 h 380"/>
                  <a:gd name="T2" fmla="*/ 0 w 21"/>
                  <a:gd name="T3" fmla="*/ 0 h 380"/>
                  <a:gd name="T4" fmla="*/ 3 w 21"/>
                  <a:gd name="T5" fmla="*/ 0 h 380"/>
                  <a:gd name="T6" fmla="*/ 5 w 21"/>
                  <a:gd name="T7" fmla="*/ 0 h 380"/>
                  <a:gd name="T8" fmla="*/ 8 w 21"/>
                  <a:gd name="T9" fmla="*/ 0 h 380"/>
                  <a:gd name="T10" fmla="*/ 10 w 21"/>
                  <a:gd name="T11" fmla="*/ 1 h 380"/>
                  <a:gd name="T12" fmla="*/ 14 w 21"/>
                  <a:gd name="T13" fmla="*/ 1 h 380"/>
                  <a:gd name="T14" fmla="*/ 16 w 21"/>
                  <a:gd name="T15" fmla="*/ 1 h 380"/>
                  <a:gd name="T16" fmla="*/ 19 w 21"/>
                  <a:gd name="T17" fmla="*/ 1 h 380"/>
                  <a:gd name="T18" fmla="*/ 21 w 21"/>
                  <a:gd name="T19" fmla="*/ 2 h 380"/>
                  <a:gd name="T20" fmla="*/ 21 w 21"/>
                  <a:gd name="T21" fmla="*/ 378 h 380"/>
                  <a:gd name="T22" fmla="*/ 19 w 21"/>
                  <a:gd name="T23" fmla="*/ 379 h 380"/>
                  <a:gd name="T24" fmla="*/ 16 w 21"/>
                  <a:gd name="T25" fmla="*/ 379 h 380"/>
                  <a:gd name="T26" fmla="*/ 14 w 21"/>
                  <a:gd name="T27" fmla="*/ 379 h 380"/>
                  <a:gd name="T28" fmla="*/ 10 w 21"/>
                  <a:gd name="T29" fmla="*/ 379 h 380"/>
                  <a:gd name="T30" fmla="*/ 8 w 21"/>
                  <a:gd name="T31" fmla="*/ 380 h 380"/>
                  <a:gd name="T32" fmla="*/ 5 w 21"/>
                  <a:gd name="T33" fmla="*/ 380 h 380"/>
                  <a:gd name="T34" fmla="*/ 3 w 21"/>
                  <a:gd name="T35" fmla="*/ 380 h 380"/>
                  <a:gd name="T36" fmla="*/ 0 w 21"/>
                  <a:gd name="T37" fmla="*/ 38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380">
                    <a:moveTo>
                      <a:pt x="0" y="380"/>
                    </a:moveTo>
                    <a:lnTo>
                      <a:pt x="0" y="0"/>
                    </a:lnTo>
                    <a:lnTo>
                      <a:pt x="3" y="0"/>
                    </a:lnTo>
                    <a:lnTo>
                      <a:pt x="5" y="0"/>
                    </a:lnTo>
                    <a:lnTo>
                      <a:pt x="8" y="0"/>
                    </a:lnTo>
                    <a:lnTo>
                      <a:pt x="10" y="1"/>
                    </a:lnTo>
                    <a:lnTo>
                      <a:pt x="14" y="1"/>
                    </a:lnTo>
                    <a:lnTo>
                      <a:pt x="16" y="1"/>
                    </a:lnTo>
                    <a:lnTo>
                      <a:pt x="19" y="1"/>
                    </a:lnTo>
                    <a:lnTo>
                      <a:pt x="21" y="2"/>
                    </a:lnTo>
                    <a:lnTo>
                      <a:pt x="21" y="378"/>
                    </a:lnTo>
                    <a:lnTo>
                      <a:pt x="19" y="379"/>
                    </a:lnTo>
                    <a:lnTo>
                      <a:pt x="16" y="379"/>
                    </a:lnTo>
                    <a:lnTo>
                      <a:pt x="14" y="379"/>
                    </a:lnTo>
                    <a:lnTo>
                      <a:pt x="10" y="379"/>
                    </a:lnTo>
                    <a:lnTo>
                      <a:pt x="8" y="380"/>
                    </a:lnTo>
                    <a:lnTo>
                      <a:pt x="5" y="380"/>
                    </a:lnTo>
                    <a:lnTo>
                      <a:pt x="3" y="380"/>
                    </a:lnTo>
                    <a:lnTo>
                      <a:pt x="0" y="380"/>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10" name="Freeform 1098"/>
              <p:cNvSpPr>
                <a:spLocks noChangeAspect="1"/>
              </p:cNvSpPr>
              <p:nvPr/>
            </p:nvSpPr>
            <p:spPr bwMode="auto">
              <a:xfrm>
                <a:off x="3257" y="1581"/>
                <a:ext cx="15" cy="126"/>
              </a:xfrm>
              <a:custGeom>
                <a:avLst/>
                <a:gdLst>
                  <a:gd name="T0" fmla="*/ 0 w 22"/>
                  <a:gd name="T1" fmla="*/ 378 h 378"/>
                  <a:gd name="T2" fmla="*/ 0 w 22"/>
                  <a:gd name="T3" fmla="*/ 0 h 378"/>
                  <a:gd name="T4" fmla="*/ 4 w 22"/>
                  <a:gd name="T5" fmla="*/ 0 h 378"/>
                  <a:gd name="T6" fmla="*/ 6 w 22"/>
                  <a:gd name="T7" fmla="*/ 0 h 378"/>
                  <a:gd name="T8" fmla="*/ 9 w 22"/>
                  <a:gd name="T9" fmla="*/ 0 h 378"/>
                  <a:gd name="T10" fmla="*/ 11 w 22"/>
                  <a:gd name="T11" fmla="*/ 1 h 378"/>
                  <a:gd name="T12" fmla="*/ 14 w 22"/>
                  <a:gd name="T13" fmla="*/ 1 h 378"/>
                  <a:gd name="T14" fmla="*/ 16 w 22"/>
                  <a:gd name="T15" fmla="*/ 1 h 378"/>
                  <a:gd name="T16" fmla="*/ 19 w 22"/>
                  <a:gd name="T17" fmla="*/ 2 h 378"/>
                  <a:gd name="T18" fmla="*/ 22 w 22"/>
                  <a:gd name="T19" fmla="*/ 2 h 378"/>
                  <a:gd name="T20" fmla="*/ 22 w 22"/>
                  <a:gd name="T21" fmla="*/ 376 h 378"/>
                  <a:gd name="T22" fmla="*/ 19 w 22"/>
                  <a:gd name="T23" fmla="*/ 377 h 378"/>
                  <a:gd name="T24" fmla="*/ 16 w 22"/>
                  <a:gd name="T25" fmla="*/ 377 h 378"/>
                  <a:gd name="T26" fmla="*/ 14 w 22"/>
                  <a:gd name="T27" fmla="*/ 377 h 378"/>
                  <a:gd name="T28" fmla="*/ 11 w 22"/>
                  <a:gd name="T29" fmla="*/ 377 h 378"/>
                  <a:gd name="T30" fmla="*/ 9 w 22"/>
                  <a:gd name="T31" fmla="*/ 378 h 378"/>
                  <a:gd name="T32" fmla="*/ 6 w 22"/>
                  <a:gd name="T33" fmla="*/ 378 h 378"/>
                  <a:gd name="T34" fmla="*/ 4 w 22"/>
                  <a:gd name="T35" fmla="*/ 378 h 378"/>
                  <a:gd name="T36" fmla="*/ 0 w 22"/>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378">
                    <a:moveTo>
                      <a:pt x="0" y="378"/>
                    </a:moveTo>
                    <a:lnTo>
                      <a:pt x="0" y="0"/>
                    </a:lnTo>
                    <a:lnTo>
                      <a:pt x="4" y="0"/>
                    </a:lnTo>
                    <a:lnTo>
                      <a:pt x="6" y="0"/>
                    </a:lnTo>
                    <a:lnTo>
                      <a:pt x="9" y="0"/>
                    </a:lnTo>
                    <a:lnTo>
                      <a:pt x="11" y="1"/>
                    </a:lnTo>
                    <a:lnTo>
                      <a:pt x="14" y="1"/>
                    </a:lnTo>
                    <a:lnTo>
                      <a:pt x="16" y="1"/>
                    </a:lnTo>
                    <a:lnTo>
                      <a:pt x="19" y="2"/>
                    </a:lnTo>
                    <a:lnTo>
                      <a:pt x="22" y="2"/>
                    </a:lnTo>
                    <a:lnTo>
                      <a:pt x="22" y="376"/>
                    </a:lnTo>
                    <a:lnTo>
                      <a:pt x="19" y="377"/>
                    </a:lnTo>
                    <a:lnTo>
                      <a:pt x="16" y="377"/>
                    </a:lnTo>
                    <a:lnTo>
                      <a:pt x="14" y="377"/>
                    </a:lnTo>
                    <a:lnTo>
                      <a:pt x="11" y="377"/>
                    </a:lnTo>
                    <a:lnTo>
                      <a:pt x="9" y="378"/>
                    </a:lnTo>
                    <a:lnTo>
                      <a:pt x="6" y="378"/>
                    </a:lnTo>
                    <a:lnTo>
                      <a:pt x="4" y="378"/>
                    </a:lnTo>
                    <a:lnTo>
                      <a:pt x="0" y="378"/>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11" name="Freeform 1099"/>
              <p:cNvSpPr>
                <a:spLocks noChangeAspect="1"/>
              </p:cNvSpPr>
              <p:nvPr/>
            </p:nvSpPr>
            <p:spPr bwMode="auto">
              <a:xfrm>
                <a:off x="3260" y="1581"/>
                <a:ext cx="15" cy="125"/>
              </a:xfrm>
              <a:custGeom>
                <a:avLst/>
                <a:gdLst>
                  <a:gd name="T0" fmla="*/ 0 w 21"/>
                  <a:gd name="T1" fmla="*/ 376 h 376"/>
                  <a:gd name="T2" fmla="*/ 0 w 21"/>
                  <a:gd name="T3" fmla="*/ 0 h 376"/>
                  <a:gd name="T4" fmla="*/ 3 w 21"/>
                  <a:gd name="T5" fmla="*/ 0 h 376"/>
                  <a:gd name="T6" fmla="*/ 5 w 21"/>
                  <a:gd name="T7" fmla="*/ 0 h 376"/>
                  <a:gd name="T8" fmla="*/ 8 w 21"/>
                  <a:gd name="T9" fmla="*/ 1 h 376"/>
                  <a:gd name="T10" fmla="*/ 11 w 21"/>
                  <a:gd name="T11" fmla="*/ 1 h 376"/>
                  <a:gd name="T12" fmla="*/ 14 w 21"/>
                  <a:gd name="T13" fmla="*/ 1 h 376"/>
                  <a:gd name="T14" fmla="*/ 16 w 21"/>
                  <a:gd name="T15" fmla="*/ 2 h 376"/>
                  <a:gd name="T16" fmla="*/ 19 w 21"/>
                  <a:gd name="T17" fmla="*/ 2 h 376"/>
                  <a:gd name="T18" fmla="*/ 21 w 21"/>
                  <a:gd name="T19" fmla="*/ 3 h 376"/>
                  <a:gd name="T20" fmla="*/ 21 w 21"/>
                  <a:gd name="T21" fmla="*/ 374 h 376"/>
                  <a:gd name="T22" fmla="*/ 19 w 21"/>
                  <a:gd name="T23" fmla="*/ 374 h 376"/>
                  <a:gd name="T24" fmla="*/ 16 w 21"/>
                  <a:gd name="T25" fmla="*/ 374 h 376"/>
                  <a:gd name="T26" fmla="*/ 14 w 21"/>
                  <a:gd name="T27" fmla="*/ 375 h 376"/>
                  <a:gd name="T28" fmla="*/ 11 w 21"/>
                  <a:gd name="T29" fmla="*/ 375 h 376"/>
                  <a:gd name="T30" fmla="*/ 8 w 21"/>
                  <a:gd name="T31" fmla="*/ 376 h 376"/>
                  <a:gd name="T32" fmla="*/ 5 w 21"/>
                  <a:gd name="T33" fmla="*/ 376 h 376"/>
                  <a:gd name="T34" fmla="*/ 3 w 21"/>
                  <a:gd name="T35" fmla="*/ 376 h 376"/>
                  <a:gd name="T36" fmla="*/ 0 w 21"/>
                  <a:gd name="T37" fmla="*/ 3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376">
                    <a:moveTo>
                      <a:pt x="0" y="376"/>
                    </a:moveTo>
                    <a:lnTo>
                      <a:pt x="0" y="0"/>
                    </a:lnTo>
                    <a:lnTo>
                      <a:pt x="3" y="0"/>
                    </a:lnTo>
                    <a:lnTo>
                      <a:pt x="5" y="0"/>
                    </a:lnTo>
                    <a:lnTo>
                      <a:pt x="8" y="1"/>
                    </a:lnTo>
                    <a:lnTo>
                      <a:pt x="11" y="1"/>
                    </a:lnTo>
                    <a:lnTo>
                      <a:pt x="14" y="1"/>
                    </a:lnTo>
                    <a:lnTo>
                      <a:pt x="16" y="2"/>
                    </a:lnTo>
                    <a:lnTo>
                      <a:pt x="19" y="2"/>
                    </a:lnTo>
                    <a:lnTo>
                      <a:pt x="21" y="3"/>
                    </a:lnTo>
                    <a:lnTo>
                      <a:pt x="21" y="374"/>
                    </a:lnTo>
                    <a:lnTo>
                      <a:pt x="19" y="374"/>
                    </a:lnTo>
                    <a:lnTo>
                      <a:pt x="16" y="374"/>
                    </a:lnTo>
                    <a:lnTo>
                      <a:pt x="14" y="375"/>
                    </a:lnTo>
                    <a:lnTo>
                      <a:pt x="11" y="375"/>
                    </a:lnTo>
                    <a:lnTo>
                      <a:pt x="8" y="376"/>
                    </a:lnTo>
                    <a:lnTo>
                      <a:pt x="5" y="376"/>
                    </a:lnTo>
                    <a:lnTo>
                      <a:pt x="3" y="376"/>
                    </a:lnTo>
                    <a:lnTo>
                      <a:pt x="0" y="376"/>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12" name="Freeform 1100"/>
              <p:cNvSpPr>
                <a:spLocks noChangeAspect="1"/>
              </p:cNvSpPr>
              <p:nvPr/>
            </p:nvSpPr>
            <p:spPr bwMode="auto">
              <a:xfrm>
                <a:off x="3264" y="1581"/>
                <a:ext cx="7" cy="125"/>
              </a:xfrm>
              <a:custGeom>
                <a:avLst/>
                <a:gdLst>
                  <a:gd name="T0" fmla="*/ 0 w 21"/>
                  <a:gd name="T1" fmla="*/ 374 h 374"/>
                  <a:gd name="T2" fmla="*/ 0 w 21"/>
                  <a:gd name="T3" fmla="*/ 0 h 374"/>
                  <a:gd name="T4" fmla="*/ 3 w 21"/>
                  <a:gd name="T5" fmla="*/ 0 h 374"/>
                  <a:gd name="T6" fmla="*/ 5 w 21"/>
                  <a:gd name="T7" fmla="*/ 1 h 374"/>
                  <a:gd name="T8" fmla="*/ 8 w 21"/>
                  <a:gd name="T9" fmla="*/ 1 h 374"/>
                  <a:gd name="T10" fmla="*/ 10 w 21"/>
                  <a:gd name="T11" fmla="*/ 2 h 374"/>
                  <a:gd name="T12" fmla="*/ 12 w 21"/>
                  <a:gd name="T13" fmla="*/ 2 h 374"/>
                  <a:gd name="T14" fmla="*/ 16 w 21"/>
                  <a:gd name="T15" fmla="*/ 2 h 374"/>
                  <a:gd name="T16" fmla="*/ 18 w 21"/>
                  <a:gd name="T17" fmla="*/ 3 h 374"/>
                  <a:gd name="T18" fmla="*/ 21 w 21"/>
                  <a:gd name="T19" fmla="*/ 3 h 374"/>
                  <a:gd name="T20" fmla="*/ 21 w 21"/>
                  <a:gd name="T21" fmla="*/ 371 h 374"/>
                  <a:gd name="T22" fmla="*/ 18 w 21"/>
                  <a:gd name="T23" fmla="*/ 371 h 374"/>
                  <a:gd name="T24" fmla="*/ 16 w 21"/>
                  <a:gd name="T25" fmla="*/ 372 h 374"/>
                  <a:gd name="T26" fmla="*/ 12 w 21"/>
                  <a:gd name="T27" fmla="*/ 372 h 374"/>
                  <a:gd name="T28" fmla="*/ 10 w 21"/>
                  <a:gd name="T29" fmla="*/ 373 h 374"/>
                  <a:gd name="T30" fmla="*/ 8 w 21"/>
                  <a:gd name="T31" fmla="*/ 373 h 374"/>
                  <a:gd name="T32" fmla="*/ 5 w 21"/>
                  <a:gd name="T33" fmla="*/ 373 h 374"/>
                  <a:gd name="T34" fmla="*/ 3 w 21"/>
                  <a:gd name="T35" fmla="*/ 374 h 374"/>
                  <a:gd name="T36" fmla="*/ 0 w 21"/>
                  <a:gd name="T37" fmla="*/ 374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374">
                    <a:moveTo>
                      <a:pt x="0" y="374"/>
                    </a:moveTo>
                    <a:lnTo>
                      <a:pt x="0" y="0"/>
                    </a:lnTo>
                    <a:lnTo>
                      <a:pt x="3" y="0"/>
                    </a:lnTo>
                    <a:lnTo>
                      <a:pt x="5" y="1"/>
                    </a:lnTo>
                    <a:lnTo>
                      <a:pt x="8" y="1"/>
                    </a:lnTo>
                    <a:lnTo>
                      <a:pt x="10" y="2"/>
                    </a:lnTo>
                    <a:lnTo>
                      <a:pt x="12" y="2"/>
                    </a:lnTo>
                    <a:lnTo>
                      <a:pt x="16" y="2"/>
                    </a:lnTo>
                    <a:lnTo>
                      <a:pt x="18" y="3"/>
                    </a:lnTo>
                    <a:lnTo>
                      <a:pt x="21" y="3"/>
                    </a:lnTo>
                    <a:lnTo>
                      <a:pt x="21" y="371"/>
                    </a:lnTo>
                    <a:lnTo>
                      <a:pt x="18" y="371"/>
                    </a:lnTo>
                    <a:lnTo>
                      <a:pt x="16" y="372"/>
                    </a:lnTo>
                    <a:lnTo>
                      <a:pt x="12" y="372"/>
                    </a:lnTo>
                    <a:lnTo>
                      <a:pt x="10" y="373"/>
                    </a:lnTo>
                    <a:lnTo>
                      <a:pt x="8" y="373"/>
                    </a:lnTo>
                    <a:lnTo>
                      <a:pt x="5" y="373"/>
                    </a:lnTo>
                    <a:lnTo>
                      <a:pt x="3" y="374"/>
                    </a:lnTo>
                    <a:lnTo>
                      <a:pt x="0" y="374"/>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13" name="Freeform 1101"/>
              <p:cNvSpPr>
                <a:spLocks noChangeAspect="1"/>
              </p:cNvSpPr>
              <p:nvPr/>
            </p:nvSpPr>
            <p:spPr bwMode="auto">
              <a:xfrm>
                <a:off x="3267" y="1582"/>
                <a:ext cx="8" cy="124"/>
              </a:xfrm>
              <a:custGeom>
                <a:avLst/>
                <a:gdLst>
                  <a:gd name="T0" fmla="*/ 0 w 22"/>
                  <a:gd name="T1" fmla="*/ 371 h 371"/>
                  <a:gd name="T2" fmla="*/ 0 w 22"/>
                  <a:gd name="T3" fmla="*/ 0 h 371"/>
                  <a:gd name="T4" fmla="*/ 2 w 22"/>
                  <a:gd name="T5" fmla="*/ 0 h 371"/>
                  <a:gd name="T6" fmla="*/ 6 w 22"/>
                  <a:gd name="T7" fmla="*/ 0 h 371"/>
                  <a:gd name="T8" fmla="*/ 8 w 22"/>
                  <a:gd name="T9" fmla="*/ 1 h 371"/>
                  <a:gd name="T10" fmla="*/ 11 w 22"/>
                  <a:gd name="T11" fmla="*/ 2 h 371"/>
                  <a:gd name="T12" fmla="*/ 13 w 22"/>
                  <a:gd name="T13" fmla="*/ 2 h 371"/>
                  <a:gd name="T14" fmla="*/ 16 w 22"/>
                  <a:gd name="T15" fmla="*/ 3 h 371"/>
                  <a:gd name="T16" fmla="*/ 18 w 22"/>
                  <a:gd name="T17" fmla="*/ 3 h 371"/>
                  <a:gd name="T18" fmla="*/ 22 w 22"/>
                  <a:gd name="T19" fmla="*/ 4 h 371"/>
                  <a:gd name="T20" fmla="*/ 22 w 22"/>
                  <a:gd name="T21" fmla="*/ 366 h 371"/>
                  <a:gd name="T22" fmla="*/ 18 w 22"/>
                  <a:gd name="T23" fmla="*/ 367 h 371"/>
                  <a:gd name="T24" fmla="*/ 16 w 22"/>
                  <a:gd name="T25" fmla="*/ 367 h 371"/>
                  <a:gd name="T26" fmla="*/ 13 w 22"/>
                  <a:gd name="T27" fmla="*/ 368 h 371"/>
                  <a:gd name="T28" fmla="*/ 11 w 22"/>
                  <a:gd name="T29" fmla="*/ 369 h 371"/>
                  <a:gd name="T30" fmla="*/ 8 w 22"/>
                  <a:gd name="T31" fmla="*/ 369 h 371"/>
                  <a:gd name="T32" fmla="*/ 6 w 22"/>
                  <a:gd name="T33" fmla="*/ 370 h 371"/>
                  <a:gd name="T34" fmla="*/ 2 w 22"/>
                  <a:gd name="T35" fmla="*/ 370 h 371"/>
                  <a:gd name="T36" fmla="*/ 0 w 22"/>
                  <a:gd name="T37"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371">
                    <a:moveTo>
                      <a:pt x="0" y="371"/>
                    </a:moveTo>
                    <a:lnTo>
                      <a:pt x="0" y="0"/>
                    </a:lnTo>
                    <a:lnTo>
                      <a:pt x="2" y="0"/>
                    </a:lnTo>
                    <a:lnTo>
                      <a:pt x="6" y="0"/>
                    </a:lnTo>
                    <a:lnTo>
                      <a:pt x="8" y="1"/>
                    </a:lnTo>
                    <a:lnTo>
                      <a:pt x="11" y="2"/>
                    </a:lnTo>
                    <a:lnTo>
                      <a:pt x="13" y="2"/>
                    </a:lnTo>
                    <a:lnTo>
                      <a:pt x="16" y="3"/>
                    </a:lnTo>
                    <a:lnTo>
                      <a:pt x="18" y="3"/>
                    </a:lnTo>
                    <a:lnTo>
                      <a:pt x="22" y="4"/>
                    </a:lnTo>
                    <a:lnTo>
                      <a:pt x="22" y="366"/>
                    </a:lnTo>
                    <a:lnTo>
                      <a:pt x="18" y="367"/>
                    </a:lnTo>
                    <a:lnTo>
                      <a:pt x="16" y="367"/>
                    </a:lnTo>
                    <a:lnTo>
                      <a:pt x="13" y="368"/>
                    </a:lnTo>
                    <a:lnTo>
                      <a:pt x="11" y="369"/>
                    </a:lnTo>
                    <a:lnTo>
                      <a:pt x="8" y="369"/>
                    </a:lnTo>
                    <a:lnTo>
                      <a:pt x="6" y="370"/>
                    </a:lnTo>
                    <a:lnTo>
                      <a:pt x="2" y="370"/>
                    </a:lnTo>
                    <a:lnTo>
                      <a:pt x="0" y="37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14" name="Freeform 1102"/>
              <p:cNvSpPr>
                <a:spLocks noChangeAspect="1"/>
              </p:cNvSpPr>
              <p:nvPr/>
            </p:nvSpPr>
            <p:spPr bwMode="auto">
              <a:xfrm>
                <a:off x="3271" y="1582"/>
                <a:ext cx="7" cy="123"/>
              </a:xfrm>
              <a:custGeom>
                <a:avLst/>
                <a:gdLst>
                  <a:gd name="T0" fmla="*/ 0 w 21"/>
                  <a:gd name="T1" fmla="*/ 368 h 368"/>
                  <a:gd name="T2" fmla="*/ 0 w 21"/>
                  <a:gd name="T3" fmla="*/ 0 h 368"/>
                  <a:gd name="T4" fmla="*/ 2 w 21"/>
                  <a:gd name="T5" fmla="*/ 1 h 368"/>
                  <a:gd name="T6" fmla="*/ 5 w 21"/>
                  <a:gd name="T7" fmla="*/ 2 h 368"/>
                  <a:gd name="T8" fmla="*/ 7 w 21"/>
                  <a:gd name="T9" fmla="*/ 2 h 368"/>
                  <a:gd name="T10" fmla="*/ 11 w 21"/>
                  <a:gd name="T11" fmla="*/ 3 h 368"/>
                  <a:gd name="T12" fmla="*/ 13 w 21"/>
                  <a:gd name="T13" fmla="*/ 3 h 368"/>
                  <a:gd name="T14" fmla="*/ 16 w 21"/>
                  <a:gd name="T15" fmla="*/ 4 h 368"/>
                  <a:gd name="T16" fmla="*/ 18 w 21"/>
                  <a:gd name="T17" fmla="*/ 5 h 368"/>
                  <a:gd name="T18" fmla="*/ 21 w 21"/>
                  <a:gd name="T19" fmla="*/ 5 h 368"/>
                  <a:gd name="T20" fmla="*/ 21 w 21"/>
                  <a:gd name="T21" fmla="*/ 363 h 368"/>
                  <a:gd name="T22" fmla="*/ 18 w 21"/>
                  <a:gd name="T23" fmla="*/ 363 h 368"/>
                  <a:gd name="T24" fmla="*/ 16 w 21"/>
                  <a:gd name="T25" fmla="*/ 364 h 368"/>
                  <a:gd name="T26" fmla="*/ 13 w 21"/>
                  <a:gd name="T27" fmla="*/ 365 h 368"/>
                  <a:gd name="T28" fmla="*/ 11 w 21"/>
                  <a:gd name="T29" fmla="*/ 365 h 368"/>
                  <a:gd name="T30" fmla="*/ 7 w 21"/>
                  <a:gd name="T31" fmla="*/ 366 h 368"/>
                  <a:gd name="T32" fmla="*/ 5 w 21"/>
                  <a:gd name="T33" fmla="*/ 366 h 368"/>
                  <a:gd name="T34" fmla="*/ 2 w 21"/>
                  <a:gd name="T35" fmla="*/ 367 h 368"/>
                  <a:gd name="T36" fmla="*/ 0 w 21"/>
                  <a:gd name="T37" fmla="*/ 368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368">
                    <a:moveTo>
                      <a:pt x="0" y="368"/>
                    </a:moveTo>
                    <a:lnTo>
                      <a:pt x="0" y="0"/>
                    </a:lnTo>
                    <a:lnTo>
                      <a:pt x="2" y="1"/>
                    </a:lnTo>
                    <a:lnTo>
                      <a:pt x="5" y="2"/>
                    </a:lnTo>
                    <a:lnTo>
                      <a:pt x="7" y="2"/>
                    </a:lnTo>
                    <a:lnTo>
                      <a:pt x="11" y="3"/>
                    </a:lnTo>
                    <a:lnTo>
                      <a:pt x="13" y="3"/>
                    </a:lnTo>
                    <a:lnTo>
                      <a:pt x="16" y="4"/>
                    </a:lnTo>
                    <a:lnTo>
                      <a:pt x="18" y="5"/>
                    </a:lnTo>
                    <a:lnTo>
                      <a:pt x="21" y="5"/>
                    </a:lnTo>
                    <a:lnTo>
                      <a:pt x="21" y="363"/>
                    </a:lnTo>
                    <a:lnTo>
                      <a:pt x="18" y="363"/>
                    </a:lnTo>
                    <a:lnTo>
                      <a:pt x="16" y="364"/>
                    </a:lnTo>
                    <a:lnTo>
                      <a:pt x="13" y="365"/>
                    </a:lnTo>
                    <a:lnTo>
                      <a:pt x="11" y="365"/>
                    </a:lnTo>
                    <a:lnTo>
                      <a:pt x="7" y="366"/>
                    </a:lnTo>
                    <a:lnTo>
                      <a:pt x="5" y="366"/>
                    </a:lnTo>
                    <a:lnTo>
                      <a:pt x="2" y="367"/>
                    </a:lnTo>
                    <a:lnTo>
                      <a:pt x="0" y="368"/>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15" name="Freeform 1103"/>
              <p:cNvSpPr>
                <a:spLocks noChangeAspect="1"/>
              </p:cNvSpPr>
              <p:nvPr/>
            </p:nvSpPr>
            <p:spPr bwMode="auto">
              <a:xfrm>
                <a:off x="3275" y="1583"/>
                <a:ext cx="6" cy="121"/>
              </a:xfrm>
              <a:custGeom>
                <a:avLst/>
                <a:gdLst>
                  <a:gd name="T0" fmla="*/ 0 w 20"/>
                  <a:gd name="T1" fmla="*/ 362 h 362"/>
                  <a:gd name="T2" fmla="*/ 0 w 20"/>
                  <a:gd name="T3" fmla="*/ 0 h 362"/>
                  <a:gd name="T4" fmla="*/ 2 w 20"/>
                  <a:gd name="T5" fmla="*/ 0 h 362"/>
                  <a:gd name="T6" fmla="*/ 5 w 20"/>
                  <a:gd name="T7" fmla="*/ 1 h 362"/>
                  <a:gd name="T8" fmla="*/ 7 w 20"/>
                  <a:gd name="T9" fmla="*/ 2 h 362"/>
                  <a:gd name="T10" fmla="*/ 10 w 20"/>
                  <a:gd name="T11" fmla="*/ 2 h 362"/>
                  <a:gd name="T12" fmla="*/ 12 w 20"/>
                  <a:gd name="T13" fmla="*/ 3 h 362"/>
                  <a:gd name="T14" fmla="*/ 16 w 20"/>
                  <a:gd name="T15" fmla="*/ 4 h 362"/>
                  <a:gd name="T16" fmla="*/ 18 w 20"/>
                  <a:gd name="T17" fmla="*/ 5 h 362"/>
                  <a:gd name="T18" fmla="*/ 20 w 20"/>
                  <a:gd name="T19" fmla="*/ 5 h 362"/>
                  <a:gd name="T20" fmla="*/ 20 w 20"/>
                  <a:gd name="T21" fmla="*/ 356 h 362"/>
                  <a:gd name="T22" fmla="*/ 18 w 20"/>
                  <a:gd name="T23" fmla="*/ 357 h 362"/>
                  <a:gd name="T24" fmla="*/ 16 w 20"/>
                  <a:gd name="T25" fmla="*/ 357 h 362"/>
                  <a:gd name="T26" fmla="*/ 12 w 20"/>
                  <a:gd name="T27" fmla="*/ 358 h 362"/>
                  <a:gd name="T28" fmla="*/ 10 w 20"/>
                  <a:gd name="T29" fmla="*/ 360 h 362"/>
                  <a:gd name="T30" fmla="*/ 7 w 20"/>
                  <a:gd name="T31" fmla="*/ 360 h 362"/>
                  <a:gd name="T32" fmla="*/ 5 w 20"/>
                  <a:gd name="T33" fmla="*/ 361 h 362"/>
                  <a:gd name="T34" fmla="*/ 2 w 20"/>
                  <a:gd name="T35" fmla="*/ 362 h 362"/>
                  <a:gd name="T36" fmla="*/ 0 w 20"/>
                  <a:gd name="T37" fmla="*/ 36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362">
                    <a:moveTo>
                      <a:pt x="0" y="362"/>
                    </a:moveTo>
                    <a:lnTo>
                      <a:pt x="0" y="0"/>
                    </a:lnTo>
                    <a:lnTo>
                      <a:pt x="2" y="0"/>
                    </a:lnTo>
                    <a:lnTo>
                      <a:pt x="5" y="1"/>
                    </a:lnTo>
                    <a:lnTo>
                      <a:pt x="7" y="2"/>
                    </a:lnTo>
                    <a:lnTo>
                      <a:pt x="10" y="2"/>
                    </a:lnTo>
                    <a:lnTo>
                      <a:pt x="12" y="3"/>
                    </a:lnTo>
                    <a:lnTo>
                      <a:pt x="16" y="4"/>
                    </a:lnTo>
                    <a:lnTo>
                      <a:pt x="18" y="5"/>
                    </a:lnTo>
                    <a:lnTo>
                      <a:pt x="20" y="5"/>
                    </a:lnTo>
                    <a:lnTo>
                      <a:pt x="20" y="356"/>
                    </a:lnTo>
                    <a:lnTo>
                      <a:pt x="18" y="357"/>
                    </a:lnTo>
                    <a:lnTo>
                      <a:pt x="16" y="357"/>
                    </a:lnTo>
                    <a:lnTo>
                      <a:pt x="12" y="358"/>
                    </a:lnTo>
                    <a:lnTo>
                      <a:pt x="10" y="360"/>
                    </a:lnTo>
                    <a:lnTo>
                      <a:pt x="7" y="360"/>
                    </a:lnTo>
                    <a:lnTo>
                      <a:pt x="5" y="361"/>
                    </a:lnTo>
                    <a:lnTo>
                      <a:pt x="2" y="362"/>
                    </a:lnTo>
                    <a:lnTo>
                      <a:pt x="0" y="362"/>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16" name="Freeform 1104"/>
              <p:cNvSpPr>
                <a:spLocks noChangeAspect="1"/>
              </p:cNvSpPr>
              <p:nvPr/>
            </p:nvSpPr>
            <p:spPr bwMode="auto">
              <a:xfrm>
                <a:off x="3278" y="1584"/>
                <a:ext cx="7" cy="119"/>
              </a:xfrm>
              <a:custGeom>
                <a:avLst/>
                <a:gdLst>
                  <a:gd name="T0" fmla="*/ 0 w 20"/>
                  <a:gd name="T1" fmla="*/ 358 h 358"/>
                  <a:gd name="T2" fmla="*/ 0 w 20"/>
                  <a:gd name="T3" fmla="*/ 0 h 358"/>
                  <a:gd name="T4" fmla="*/ 2 w 20"/>
                  <a:gd name="T5" fmla="*/ 1 h 358"/>
                  <a:gd name="T6" fmla="*/ 6 w 20"/>
                  <a:gd name="T7" fmla="*/ 2 h 358"/>
                  <a:gd name="T8" fmla="*/ 8 w 20"/>
                  <a:gd name="T9" fmla="*/ 3 h 358"/>
                  <a:gd name="T10" fmla="*/ 11 w 20"/>
                  <a:gd name="T11" fmla="*/ 3 h 358"/>
                  <a:gd name="T12" fmla="*/ 13 w 20"/>
                  <a:gd name="T13" fmla="*/ 5 h 358"/>
                  <a:gd name="T14" fmla="*/ 15 w 20"/>
                  <a:gd name="T15" fmla="*/ 6 h 358"/>
                  <a:gd name="T16" fmla="*/ 18 w 20"/>
                  <a:gd name="T17" fmla="*/ 7 h 358"/>
                  <a:gd name="T18" fmla="*/ 20 w 20"/>
                  <a:gd name="T19" fmla="*/ 8 h 358"/>
                  <a:gd name="T20" fmla="*/ 20 w 20"/>
                  <a:gd name="T21" fmla="*/ 350 h 358"/>
                  <a:gd name="T22" fmla="*/ 18 w 20"/>
                  <a:gd name="T23" fmla="*/ 351 h 358"/>
                  <a:gd name="T24" fmla="*/ 15 w 20"/>
                  <a:gd name="T25" fmla="*/ 352 h 358"/>
                  <a:gd name="T26" fmla="*/ 13 w 20"/>
                  <a:gd name="T27" fmla="*/ 353 h 358"/>
                  <a:gd name="T28" fmla="*/ 11 w 20"/>
                  <a:gd name="T29" fmla="*/ 354 h 358"/>
                  <a:gd name="T30" fmla="*/ 8 w 20"/>
                  <a:gd name="T31" fmla="*/ 354 h 358"/>
                  <a:gd name="T32" fmla="*/ 6 w 20"/>
                  <a:gd name="T33" fmla="*/ 355 h 358"/>
                  <a:gd name="T34" fmla="*/ 2 w 20"/>
                  <a:gd name="T35" fmla="*/ 356 h 358"/>
                  <a:gd name="T36" fmla="*/ 0 w 20"/>
                  <a:gd name="T37" fmla="*/ 35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358">
                    <a:moveTo>
                      <a:pt x="0" y="358"/>
                    </a:moveTo>
                    <a:lnTo>
                      <a:pt x="0" y="0"/>
                    </a:lnTo>
                    <a:lnTo>
                      <a:pt x="2" y="1"/>
                    </a:lnTo>
                    <a:lnTo>
                      <a:pt x="6" y="2"/>
                    </a:lnTo>
                    <a:lnTo>
                      <a:pt x="8" y="3"/>
                    </a:lnTo>
                    <a:lnTo>
                      <a:pt x="11" y="3"/>
                    </a:lnTo>
                    <a:lnTo>
                      <a:pt x="13" y="5"/>
                    </a:lnTo>
                    <a:lnTo>
                      <a:pt x="15" y="6"/>
                    </a:lnTo>
                    <a:lnTo>
                      <a:pt x="18" y="7"/>
                    </a:lnTo>
                    <a:lnTo>
                      <a:pt x="20" y="8"/>
                    </a:lnTo>
                    <a:lnTo>
                      <a:pt x="20" y="350"/>
                    </a:lnTo>
                    <a:lnTo>
                      <a:pt x="18" y="351"/>
                    </a:lnTo>
                    <a:lnTo>
                      <a:pt x="15" y="352"/>
                    </a:lnTo>
                    <a:lnTo>
                      <a:pt x="13" y="353"/>
                    </a:lnTo>
                    <a:lnTo>
                      <a:pt x="11" y="354"/>
                    </a:lnTo>
                    <a:lnTo>
                      <a:pt x="8" y="354"/>
                    </a:lnTo>
                    <a:lnTo>
                      <a:pt x="6" y="355"/>
                    </a:lnTo>
                    <a:lnTo>
                      <a:pt x="2" y="356"/>
                    </a:lnTo>
                    <a:lnTo>
                      <a:pt x="0" y="358"/>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17" name="Freeform 1105"/>
              <p:cNvSpPr>
                <a:spLocks noChangeAspect="1"/>
              </p:cNvSpPr>
              <p:nvPr/>
            </p:nvSpPr>
            <p:spPr bwMode="auto">
              <a:xfrm>
                <a:off x="3281" y="1585"/>
                <a:ext cx="7" cy="114"/>
              </a:xfrm>
              <a:custGeom>
                <a:avLst/>
                <a:gdLst>
                  <a:gd name="T0" fmla="*/ 0 w 21"/>
                  <a:gd name="T1" fmla="*/ 351 h 351"/>
                  <a:gd name="T2" fmla="*/ 0 w 21"/>
                  <a:gd name="T3" fmla="*/ 0 h 351"/>
                  <a:gd name="T4" fmla="*/ 3 w 21"/>
                  <a:gd name="T5" fmla="*/ 2 h 351"/>
                  <a:gd name="T6" fmla="*/ 6 w 21"/>
                  <a:gd name="T7" fmla="*/ 3 h 351"/>
                  <a:gd name="T8" fmla="*/ 8 w 21"/>
                  <a:gd name="T9" fmla="*/ 4 h 351"/>
                  <a:gd name="T10" fmla="*/ 10 w 21"/>
                  <a:gd name="T11" fmla="*/ 5 h 351"/>
                  <a:gd name="T12" fmla="*/ 14 w 21"/>
                  <a:gd name="T13" fmla="*/ 6 h 351"/>
                  <a:gd name="T14" fmla="*/ 16 w 21"/>
                  <a:gd name="T15" fmla="*/ 7 h 351"/>
                  <a:gd name="T16" fmla="*/ 19 w 21"/>
                  <a:gd name="T17" fmla="*/ 8 h 351"/>
                  <a:gd name="T18" fmla="*/ 21 w 21"/>
                  <a:gd name="T19" fmla="*/ 8 h 351"/>
                  <a:gd name="T20" fmla="*/ 21 w 21"/>
                  <a:gd name="T21" fmla="*/ 344 h 351"/>
                  <a:gd name="T22" fmla="*/ 19 w 21"/>
                  <a:gd name="T23" fmla="*/ 345 h 351"/>
                  <a:gd name="T24" fmla="*/ 16 w 21"/>
                  <a:gd name="T25" fmla="*/ 346 h 351"/>
                  <a:gd name="T26" fmla="*/ 14 w 21"/>
                  <a:gd name="T27" fmla="*/ 346 h 351"/>
                  <a:gd name="T28" fmla="*/ 10 w 21"/>
                  <a:gd name="T29" fmla="*/ 347 h 351"/>
                  <a:gd name="T30" fmla="*/ 8 w 21"/>
                  <a:gd name="T31" fmla="*/ 348 h 351"/>
                  <a:gd name="T32" fmla="*/ 6 w 21"/>
                  <a:gd name="T33" fmla="*/ 349 h 351"/>
                  <a:gd name="T34" fmla="*/ 3 w 21"/>
                  <a:gd name="T35" fmla="*/ 350 h 351"/>
                  <a:gd name="T36" fmla="*/ 0 w 21"/>
                  <a:gd name="T37"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351">
                    <a:moveTo>
                      <a:pt x="0" y="351"/>
                    </a:moveTo>
                    <a:lnTo>
                      <a:pt x="0" y="0"/>
                    </a:lnTo>
                    <a:lnTo>
                      <a:pt x="3" y="2"/>
                    </a:lnTo>
                    <a:lnTo>
                      <a:pt x="6" y="3"/>
                    </a:lnTo>
                    <a:lnTo>
                      <a:pt x="8" y="4"/>
                    </a:lnTo>
                    <a:lnTo>
                      <a:pt x="10" y="5"/>
                    </a:lnTo>
                    <a:lnTo>
                      <a:pt x="14" y="6"/>
                    </a:lnTo>
                    <a:lnTo>
                      <a:pt x="16" y="7"/>
                    </a:lnTo>
                    <a:lnTo>
                      <a:pt x="19" y="8"/>
                    </a:lnTo>
                    <a:lnTo>
                      <a:pt x="21" y="8"/>
                    </a:lnTo>
                    <a:lnTo>
                      <a:pt x="21" y="344"/>
                    </a:lnTo>
                    <a:lnTo>
                      <a:pt x="19" y="345"/>
                    </a:lnTo>
                    <a:lnTo>
                      <a:pt x="16" y="346"/>
                    </a:lnTo>
                    <a:lnTo>
                      <a:pt x="14" y="346"/>
                    </a:lnTo>
                    <a:lnTo>
                      <a:pt x="10" y="347"/>
                    </a:lnTo>
                    <a:lnTo>
                      <a:pt x="8" y="348"/>
                    </a:lnTo>
                    <a:lnTo>
                      <a:pt x="6" y="349"/>
                    </a:lnTo>
                    <a:lnTo>
                      <a:pt x="3" y="350"/>
                    </a:lnTo>
                    <a:lnTo>
                      <a:pt x="0" y="35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18" name="Freeform 1106"/>
              <p:cNvSpPr>
                <a:spLocks noChangeAspect="1"/>
              </p:cNvSpPr>
              <p:nvPr/>
            </p:nvSpPr>
            <p:spPr bwMode="auto">
              <a:xfrm>
                <a:off x="3285" y="1587"/>
                <a:ext cx="15" cy="112"/>
              </a:xfrm>
              <a:custGeom>
                <a:avLst/>
                <a:gdLst>
                  <a:gd name="T0" fmla="*/ 0 w 22"/>
                  <a:gd name="T1" fmla="*/ 342 h 342"/>
                  <a:gd name="T2" fmla="*/ 0 w 22"/>
                  <a:gd name="T3" fmla="*/ 0 h 342"/>
                  <a:gd name="T4" fmla="*/ 4 w 22"/>
                  <a:gd name="T5" fmla="*/ 1 h 342"/>
                  <a:gd name="T6" fmla="*/ 6 w 22"/>
                  <a:gd name="T7" fmla="*/ 2 h 342"/>
                  <a:gd name="T8" fmla="*/ 9 w 22"/>
                  <a:gd name="T9" fmla="*/ 3 h 342"/>
                  <a:gd name="T10" fmla="*/ 11 w 22"/>
                  <a:gd name="T11" fmla="*/ 4 h 342"/>
                  <a:gd name="T12" fmla="*/ 14 w 22"/>
                  <a:gd name="T13" fmla="*/ 5 h 342"/>
                  <a:gd name="T14" fmla="*/ 16 w 22"/>
                  <a:gd name="T15" fmla="*/ 6 h 342"/>
                  <a:gd name="T16" fmla="*/ 20 w 22"/>
                  <a:gd name="T17" fmla="*/ 7 h 342"/>
                  <a:gd name="T18" fmla="*/ 22 w 22"/>
                  <a:gd name="T19" fmla="*/ 8 h 342"/>
                  <a:gd name="T20" fmla="*/ 22 w 22"/>
                  <a:gd name="T21" fmla="*/ 334 h 342"/>
                  <a:gd name="T22" fmla="*/ 20 w 22"/>
                  <a:gd name="T23" fmla="*/ 336 h 342"/>
                  <a:gd name="T24" fmla="*/ 16 w 22"/>
                  <a:gd name="T25" fmla="*/ 337 h 342"/>
                  <a:gd name="T26" fmla="*/ 14 w 22"/>
                  <a:gd name="T27" fmla="*/ 338 h 342"/>
                  <a:gd name="T28" fmla="*/ 11 w 22"/>
                  <a:gd name="T29" fmla="*/ 339 h 342"/>
                  <a:gd name="T30" fmla="*/ 9 w 22"/>
                  <a:gd name="T31" fmla="*/ 340 h 342"/>
                  <a:gd name="T32" fmla="*/ 6 w 22"/>
                  <a:gd name="T33" fmla="*/ 341 h 342"/>
                  <a:gd name="T34" fmla="*/ 4 w 22"/>
                  <a:gd name="T35" fmla="*/ 341 h 342"/>
                  <a:gd name="T36" fmla="*/ 0 w 22"/>
                  <a:gd name="T37" fmla="*/ 34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342">
                    <a:moveTo>
                      <a:pt x="0" y="342"/>
                    </a:moveTo>
                    <a:lnTo>
                      <a:pt x="0" y="0"/>
                    </a:lnTo>
                    <a:lnTo>
                      <a:pt x="4" y="1"/>
                    </a:lnTo>
                    <a:lnTo>
                      <a:pt x="6" y="2"/>
                    </a:lnTo>
                    <a:lnTo>
                      <a:pt x="9" y="3"/>
                    </a:lnTo>
                    <a:lnTo>
                      <a:pt x="11" y="4"/>
                    </a:lnTo>
                    <a:lnTo>
                      <a:pt x="14" y="5"/>
                    </a:lnTo>
                    <a:lnTo>
                      <a:pt x="16" y="6"/>
                    </a:lnTo>
                    <a:lnTo>
                      <a:pt x="20" y="7"/>
                    </a:lnTo>
                    <a:lnTo>
                      <a:pt x="22" y="8"/>
                    </a:lnTo>
                    <a:lnTo>
                      <a:pt x="22" y="334"/>
                    </a:lnTo>
                    <a:lnTo>
                      <a:pt x="20" y="336"/>
                    </a:lnTo>
                    <a:lnTo>
                      <a:pt x="16" y="337"/>
                    </a:lnTo>
                    <a:lnTo>
                      <a:pt x="14" y="338"/>
                    </a:lnTo>
                    <a:lnTo>
                      <a:pt x="11" y="339"/>
                    </a:lnTo>
                    <a:lnTo>
                      <a:pt x="9" y="340"/>
                    </a:lnTo>
                    <a:lnTo>
                      <a:pt x="6" y="341"/>
                    </a:lnTo>
                    <a:lnTo>
                      <a:pt x="4" y="341"/>
                    </a:lnTo>
                    <a:lnTo>
                      <a:pt x="0" y="342"/>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19" name="Freeform 1107"/>
              <p:cNvSpPr>
                <a:spLocks noChangeAspect="1"/>
              </p:cNvSpPr>
              <p:nvPr/>
            </p:nvSpPr>
            <p:spPr bwMode="auto">
              <a:xfrm>
                <a:off x="3288" y="1588"/>
                <a:ext cx="15" cy="111"/>
              </a:xfrm>
              <a:custGeom>
                <a:avLst/>
                <a:gdLst>
                  <a:gd name="T0" fmla="*/ 0 w 21"/>
                  <a:gd name="T1" fmla="*/ 336 h 336"/>
                  <a:gd name="T2" fmla="*/ 0 w 21"/>
                  <a:gd name="T3" fmla="*/ 0 h 336"/>
                  <a:gd name="T4" fmla="*/ 2 w 21"/>
                  <a:gd name="T5" fmla="*/ 1 h 336"/>
                  <a:gd name="T6" fmla="*/ 4 w 21"/>
                  <a:gd name="T7" fmla="*/ 2 h 336"/>
                  <a:gd name="T8" fmla="*/ 6 w 21"/>
                  <a:gd name="T9" fmla="*/ 3 h 336"/>
                  <a:gd name="T10" fmla="*/ 9 w 21"/>
                  <a:gd name="T11" fmla="*/ 4 h 336"/>
                  <a:gd name="T12" fmla="*/ 11 w 21"/>
                  <a:gd name="T13" fmla="*/ 5 h 336"/>
                  <a:gd name="T14" fmla="*/ 13 w 21"/>
                  <a:gd name="T15" fmla="*/ 5 h 336"/>
                  <a:gd name="T16" fmla="*/ 15 w 21"/>
                  <a:gd name="T17" fmla="*/ 6 h 336"/>
                  <a:gd name="T18" fmla="*/ 17 w 21"/>
                  <a:gd name="T19" fmla="*/ 7 h 336"/>
                  <a:gd name="T20" fmla="*/ 21 w 21"/>
                  <a:gd name="T21" fmla="*/ 7 h 336"/>
                  <a:gd name="T22" fmla="*/ 21 w 21"/>
                  <a:gd name="T23" fmla="*/ 326 h 336"/>
                  <a:gd name="T24" fmla="*/ 19 w 21"/>
                  <a:gd name="T25" fmla="*/ 327 h 336"/>
                  <a:gd name="T26" fmla="*/ 16 w 21"/>
                  <a:gd name="T27" fmla="*/ 328 h 336"/>
                  <a:gd name="T28" fmla="*/ 14 w 21"/>
                  <a:gd name="T29" fmla="*/ 330 h 336"/>
                  <a:gd name="T30" fmla="*/ 11 w 21"/>
                  <a:gd name="T31" fmla="*/ 331 h 336"/>
                  <a:gd name="T32" fmla="*/ 9 w 21"/>
                  <a:gd name="T33" fmla="*/ 332 h 336"/>
                  <a:gd name="T34" fmla="*/ 5 w 21"/>
                  <a:gd name="T35" fmla="*/ 334 h 336"/>
                  <a:gd name="T36" fmla="*/ 3 w 21"/>
                  <a:gd name="T37" fmla="*/ 335 h 336"/>
                  <a:gd name="T38" fmla="*/ 0 w 21"/>
                  <a:gd name="T39" fmla="*/ 33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336">
                    <a:moveTo>
                      <a:pt x="0" y="336"/>
                    </a:moveTo>
                    <a:lnTo>
                      <a:pt x="0" y="0"/>
                    </a:lnTo>
                    <a:lnTo>
                      <a:pt x="2" y="1"/>
                    </a:lnTo>
                    <a:lnTo>
                      <a:pt x="4" y="2"/>
                    </a:lnTo>
                    <a:lnTo>
                      <a:pt x="6" y="3"/>
                    </a:lnTo>
                    <a:lnTo>
                      <a:pt x="9" y="4"/>
                    </a:lnTo>
                    <a:lnTo>
                      <a:pt x="11" y="5"/>
                    </a:lnTo>
                    <a:lnTo>
                      <a:pt x="13" y="5"/>
                    </a:lnTo>
                    <a:lnTo>
                      <a:pt x="15" y="6"/>
                    </a:lnTo>
                    <a:lnTo>
                      <a:pt x="17" y="7"/>
                    </a:lnTo>
                    <a:lnTo>
                      <a:pt x="21" y="7"/>
                    </a:lnTo>
                    <a:lnTo>
                      <a:pt x="21" y="326"/>
                    </a:lnTo>
                    <a:lnTo>
                      <a:pt x="19" y="327"/>
                    </a:lnTo>
                    <a:lnTo>
                      <a:pt x="16" y="328"/>
                    </a:lnTo>
                    <a:lnTo>
                      <a:pt x="14" y="330"/>
                    </a:lnTo>
                    <a:lnTo>
                      <a:pt x="11" y="331"/>
                    </a:lnTo>
                    <a:lnTo>
                      <a:pt x="9" y="332"/>
                    </a:lnTo>
                    <a:lnTo>
                      <a:pt x="5" y="334"/>
                    </a:lnTo>
                    <a:lnTo>
                      <a:pt x="3" y="335"/>
                    </a:lnTo>
                    <a:lnTo>
                      <a:pt x="0" y="336"/>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20" name="Freeform 1108"/>
              <p:cNvSpPr>
                <a:spLocks noChangeAspect="1"/>
              </p:cNvSpPr>
              <p:nvPr/>
            </p:nvSpPr>
            <p:spPr bwMode="auto">
              <a:xfrm>
                <a:off x="3292" y="1590"/>
                <a:ext cx="7" cy="110"/>
              </a:xfrm>
              <a:custGeom>
                <a:avLst/>
                <a:gdLst>
                  <a:gd name="T0" fmla="*/ 0 w 21"/>
                  <a:gd name="T1" fmla="*/ 326 h 326"/>
                  <a:gd name="T2" fmla="*/ 0 w 21"/>
                  <a:gd name="T3" fmla="*/ 0 h 326"/>
                  <a:gd name="T4" fmla="*/ 1 w 21"/>
                  <a:gd name="T5" fmla="*/ 0 h 326"/>
                  <a:gd name="T6" fmla="*/ 2 w 21"/>
                  <a:gd name="T7" fmla="*/ 0 h 326"/>
                  <a:gd name="T8" fmla="*/ 2 w 21"/>
                  <a:gd name="T9" fmla="*/ 1 h 326"/>
                  <a:gd name="T10" fmla="*/ 3 w 21"/>
                  <a:gd name="T11" fmla="*/ 1 h 326"/>
                  <a:gd name="T12" fmla="*/ 4 w 21"/>
                  <a:gd name="T13" fmla="*/ 1 h 326"/>
                  <a:gd name="T14" fmla="*/ 4 w 21"/>
                  <a:gd name="T15" fmla="*/ 2 h 326"/>
                  <a:gd name="T16" fmla="*/ 5 w 21"/>
                  <a:gd name="T17" fmla="*/ 2 h 326"/>
                  <a:gd name="T18" fmla="*/ 6 w 21"/>
                  <a:gd name="T19" fmla="*/ 2 h 326"/>
                  <a:gd name="T20" fmla="*/ 21 w 21"/>
                  <a:gd name="T21" fmla="*/ 2 h 326"/>
                  <a:gd name="T22" fmla="*/ 21 w 21"/>
                  <a:gd name="T23" fmla="*/ 316 h 326"/>
                  <a:gd name="T24" fmla="*/ 18 w 21"/>
                  <a:gd name="T25" fmla="*/ 317 h 326"/>
                  <a:gd name="T26" fmla="*/ 16 w 21"/>
                  <a:gd name="T27" fmla="*/ 318 h 326"/>
                  <a:gd name="T28" fmla="*/ 14 w 21"/>
                  <a:gd name="T29" fmla="*/ 320 h 326"/>
                  <a:gd name="T30" fmla="*/ 10 w 21"/>
                  <a:gd name="T31" fmla="*/ 321 h 326"/>
                  <a:gd name="T32" fmla="*/ 8 w 21"/>
                  <a:gd name="T33" fmla="*/ 322 h 326"/>
                  <a:gd name="T34" fmla="*/ 5 w 21"/>
                  <a:gd name="T35" fmla="*/ 323 h 326"/>
                  <a:gd name="T36" fmla="*/ 3 w 21"/>
                  <a:gd name="T37" fmla="*/ 325 h 326"/>
                  <a:gd name="T38" fmla="*/ 0 w 21"/>
                  <a:gd name="T39" fmla="*/ 32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326">
                    <a:moveTo>
                      <a:pt x="0" y="326"/>
                    </a:moveTo>
                    <a:lnTo>
                      <a:pt x="0" y="0"/>
                    </a:lnTo>
                    <a:lnTo>
                      <a:pt x="1" y="0"/>
                    </a:lnTo>
                    <a:lnTo>
                      <a:pt x="2" y="0"/>
                    </a:lnTo>
                    <a:lnTo>
                      <a:pt x="2" y="1"/>
                    </a:lnTo>
                    <a:lnTo>
                      <a:pt x="3" y="1"/>
                    </a:lnTo>
                    <a:lnTo>
                      <a:pt x="4" y="1"/>
                    </a:lnTo>
                    <a:lnTo>
                      <a:pt x="4" y="2"/>
                    </a:lnTo>
                    <a:lnTo>
                      <a:pt x="5" y="2"/>
                    </a:lnTo>
                    <a:lnTo>
                      <a:pt x="6" y="2"/>
                    </a:lnTo>
                    <a:lnTo>
                      <a:pt x="21" y="2"/>
                    </a:lnTo>
                    <a:lnTo>
                      <a:pt x="21" y="316"/>
                    </a:lnTo>
                    <a:lnTo>
                      <a:pt x="18" y="317"/>
                    </a:lnTo>
                    <a:lnTo>
                      <a:pt x="16" y="318"/>
                    </a:lnTo>
                    <a:lnTo>
                      <a:pt x="14" y="320"/>
                    </a:lnTo>
                    <a:lnTo>
                      <a:pt x="10" y="321"/>
                    </a:lnTo>
                    <a:lnTo>
                      <a:pt x="8" y="322"/>
                    </a:lnTo>
                    <a:lnTo>
                      <a:pt x="5" y="323"/>
                    </a:lnTo>
                    <a:lnTo>
                      <a:pt x="3" y="325"/>
                    </a:lnTo>
                    <a:lnTo>
                      <a:pt x="0" y="326"/>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21" name="Freeform 1109"/>
              <p:cNvSpPr>
                <a:spLocks noChangeAspect="1"/>
              </p:cNvSpPr>
              <p:nvPr/>
            </p:nvSpPr>
            <p:spPr bwMode="auto">
              <a:xfrm>
                <a:off x="3295" y="1590"/>
                <a:ext cx="8" cy="110"/>
              </a:xfrm>
              <a:custGeom>
                <a:avLst/>
                <a:gdLst>
                  <a:gd name="T0" fmla="*/ 0 w 22"/>
                  <a:gd name="T1" fmla="*/ 319 h 319"/>
                  <a:gd name="T2" fmla="*/ 0 w 22"/>
                  <a:gd name="T3" fmla="*/ 0 h 319"/>
                  <a:gd name="T4" fmla="*/ 22 w 22"/>
                  <a:gd name="T5" fmla="*/ 0 h 319"/>
                  <a:gd name="T6" fmla="*/ 22 w 22"/>
                  <a:gd name="T7" fmla="*/ 308 h 319"/>
                  <a:gd name="T8" fmla="*/ 18 w 22"/>
                  <a:gd name="T9" fmla="*/ 309 h 319"/>
                  <a:gd name="T10" fmla="*/ 16 w 22"/>
                  <a:gd name="T11" fmla="*/ 311 h 319"/>
                  <a:gd name="T12" fmla="*/ 14 w 22"/>
                  <a:gd name="T13" fmla="*/ 312 h 319"/>
                  <a:gd name="T14" fmla="*/ 11 w 22"/>
                  <a:gd name="T15" fmla="*/ 314 h 319"/>
                  <a:gd name="T16" fmla="*/ 9 w 22"/>
                  <a:gd name="T17" fmla="*/ 315 h 319"/>
                  <a:gd name="T18" fmla="*/ 6 w 22"/>
                  <a:gd name="T19" fmla="*/ 316 h 319"/>
                  <a:gd name="T20" fmla="*/ 4 w 22"/>
                  <a:gd name="T21" fmla="*/ 318 h 319"/>
                  <a:gd name="T22" fmla="*/ 0 w 22"/>
                  <a:gd name="T23" fmla="*/ 319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319">
                    <a:moveTo>
                      <a:pt x="0" y="319"/>
                    </a:moveTo>
                    <a:lnTo>
                      <a:pt x="0" y="0"/>
                    </a:lnTo>
                    <a:lnTo>
                      <a:pt x="22" y="0"/>
                    </a:lnTo>
                    <a:lnTo>
                      <a:pt x="22" y="308"/>
                    </a:lnTo>
                    <a:lnTo>
                      <a:pt x="18" y="309"/>
                    </a:lnTo>
                    <a:lnTo>
                      <a:pt x="16" y="311"/>
                    </a:lnTo>
                    <a:lnTo>
                      <a:pt x="14" y="312"/>
                    </a:lnTo>
                    <a:lnTo>
                      <a:pt x="11" y="314"/>
                    </a:lnTo>
                    <a:lnTo>
                      <a:pt x="9" y="315"/>
                    </a:lnTo>
                    <a:lnTo>
                      <a:pt x="6" y="316"/>
                    </a:lnTo>
                    <a:lnTo>
                      <a:pt x="4" y="318"/>
                    </a:lnTo>
                    <a:lnTo>
                      <a:pt x="0" y="319"/>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22" name="Freeform 1110"/>
              <p:cNvSpPr>
                <a:spLocks noChangeAspect="1"/>
              </p:cNvSpPr>
              <p:nvPr/>
            </p:nvSpPr>
            <p:spPr bwMode="auto">
              <a:xfrm>
                <a:off x="3299" y="1590"/>
                <a:ext cx="7" cy="110"/>
              </a:xfrm>
              <a:custGeom>
                <a:avLst/>
                <a:gdLst>
                  <a:gd name="T0" fmla="*/ 0 w 21"/>
                  <a:gd name="T1" fmla="*/ 314 h 314"/>
                  <a:gd name="T2" fmla="*/ 0 w 21"/>
                  <a:gd name="T3" fmla="*/ 0 h 314"/>
                  <a:gd name="T4" fmla="*/ 21 w 21"/>
                  <a:gd name="T5" fmla="*/ 0 h 314"/>
                  <a:gd name="T6" fmla="*/ 21 w 21"/>
                  <a:gd name="T7" fmla="*/ 301 h 314"/>
                  <a:gd name="T8" fmla="*/ 18 w 21"/>
                  <a:gd name="T9" fmla="*/ 302 h 314"/>
                  <a:gd name="T10" fmla="*/ 16 w 21"/>
                  <a:gd name="T11" fmla="*/ 304 h 314"/>
                  <a:gd name="T12" fmla="*/ 13 w 21"/>
                  <a:gd name="T13" fmla="*/ 305 h 314"/>
                  <a:gd name="T14" fmla="*/ 11 w 21"/>
                  <a:gd name="T15" fmla="*/ 308 h 314"/>
                  <a:gd name="T16" fmla="*/ 7 w 21"/>
                  <a:gd name="T17" fmla="*/ 309 h 314"/>
                  <a:gd name="T18" fmla="*/ 5 w 21"/>
                  <a:gd name="T19" fmla="*/ 311 h 314"/>
                  <a:gd name="T20" fmla="*/ 2 w 21"/>
                  <a:gd name="T21" fmla="*/ 312 h 314"/>
                  <a:gd name="T22" fmla="*/ 0 w 21"/>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314">
                    <a:moveTo>
                      <a:pt x="0" y="314"/>
                    </a:moveTo>
                    <a:lnTo>
                      <a:pt x="0" y="0"/>
                    </a:lnTo>
                    <a:lnTo>
                      <a:pt x="21" y="0"/>
                    </a:lnTo>
                    <a:lnTo>
                      <a:pt x="21" y="301"/>
                    </a:lnTo>
                    <a:lnTo>
                      <a:pt x="18" y="302"/>
                    </a:lnTo>
                    <a:lnTo>
                      <a:pt x="16" y="304"/>
                    </a:lnTo>
                    <a:lnTo>
                      <a:pt x="13" y="305"/>
                    </a:lnTo>
                    <a:lnTo>
                      <a:pt x="11" y="308"/>
                    </a:lnTo>
                    <a:lnTo>
                      <a:pt x="7" y="309"/>
                    </a:lnTo>
                    <a:lnTo>
                      <a:pt x="5" y="311"/>
                    </a:lnTo>
                    <a:lnTo>
                      <a:pt x="2" y="312"/>
                    </a:lnTo>
                    <a:lnTo>
                      <a:pt x="0" y="314"/>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23" name="Freeform 1111"/>
              <p:cNvSpPr>
                <a:spLocks noChangeAspect="1"/>
              </p:cNvSpPr>
              <p:nvPr/>
            </p:nvSpPr>
            <p:spPr bwMode="auto">
              <a:xfrm>
                <a:off x="3303" y="1590"/>
                <a:ext cx="7" cy="110"/>
              </a:xfrm>
              <a:custGeom>
                <a:avLst/>
                <a:gdLst>
                  <a:gd name="T0" fmla="*/ 0 w 21"/>
                  <a:gd name="T1" fmla="*/ 308 h 308"/>
                  <a:gd name="T2" fmla="*/ 0 w 21"/>
                  <a:gd name="T3" fmla="*/ 0 h 308"/>
                  <a:gd name="T4" fmla="*/ 21 w 21"/>
                  <a:gd name="T5" fmla="*/ 0 h 308"/>
                  <a:gd name="T6" fmla="*/ 21 w 21"/>
                  <a:gd name="T7" fmla="*/ 294 h 308"/>
                  <a:gd name="T8" fmla="*/ 18 w 21"/>
                  <a:gd name="T9" fmla="*/ 295 h 308"/>
                  <a:gd name="T10" fmla="*/ 16 w 21"/>
                  <a:gd name="T11" fmla="*/ 297 h 308"/>
                  <a:gd name="T12" fmla="*/ 12 w 21"/>
                  <a:gd name="T13" fmla="*/ 299 h 308"/>
                  <a:gd name="T14" fmla="*/ 10 w 21"/>
                  <a:gd name="T15" fmla="*/ 300 h 308"/>
                  <a:gd name="T16" fmla="*/ 7 w 21"/>
                  <a:gd name="T17" fmla="*/ 302 h 308"/>
                  <a:gd name="T18" fmla="*/ 5 w 21"/>
                  <a:gd name="T19" fmla="*/ 304 h 308"/>
                  <a:gd name="T20" fmla="*/ 2 w 21"/>
                  <a:gd name="T21" fmla="*/ 305 h 308"/>
                  <a:gd name="T22" fmla="*/ 0 w 21"/>
                  <a:gd name="T23"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308">
                    <a:moveTo>
                      <a:pt x="0" y="308"/>
                    </a:moveTo>
                    <a:lnTo>
                      <a:pt x="0" y="0"/>
                    </a:lnTo>
                    <a:lnTo>
                      <a:pt x="21" y="0"/>
                    </a:lnTo>
                    <a:lnTo>
                      <a:pt x="21" y="294"/>
                    </a:lnTo>
                    <a:lnTo>
                      <a:pt x="18" y="295"/>
                    </a:lnTo>
                    <a:lnTo>
                      <a:pt x="16" y="297"/>
                    </a:lnTo>
                    <a:lnTo>
                      <a:pt x="12" y="299"/>
                    </a:lnTo>
                    <a:lnTo>
                      <a:pt x="10" y="300"/>
                    </a:lnTo>
                    <a:lnTo>
                      <a:pt x="7" y="302"/>
                    </a:lnTo>
                    <a:lnTo>
                      <a:pt x="5" y="304"/>
                    </a:lnTo>
                    <a:lnTo>
                      <a:pt x="2" y="305"/>
                    </a:lnTo>
                    <a:lnTo>
                      <a:pt x="0" y="308"/>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24" name="Freeform 1112"/>
              <p:cNvSpPr>
                <a:spLocks noChangeAspect="1"/>
              </p:cNvSpPr>
              <p:nvPr/>
            </p:nvSpPr>
            <p:spPr bwMode="auto">
              <a:xfrm>
                <a:off x="3306" y="1590"/>
                <a:ext cx="7" cy="100"/>
              </a:xfrm>
              <a:custGeom>
                <a:avLst/>
                <a:gdLst>
                  <a:gd name="T0" fmla="*/ 0 w 20"/>
                  <a:gd name="T1" fmla="*/ 301 h 301"/>
                  <a:gd name="T2" fmla="*/ 0 w 20"/>
                  <a:gd name="T3" fmla="*/ 0 h 301"/>
                  <a:gd name="T4" fmla="*/ 20 w 20"/>
                  <a:gd name="T5" fmla="*/ 0 h 301"/>
                  <a:gd name="T6" fmla="*/ 20 w 20"/>
                  <a:gd name="T7" fmla="*/ 285 h 301"/>
                  <a:gd name="T8" fmla="*/ 18 w 20"/>
                  <a:gd name="T9" fmla="*/ 287 h 301"/>
                  <a:gd name="T10" fmla="*/ 16 w 20"/>
                  <a:gd name="T11" fmla="*/ 290 h 301"/>
                  <a:gd name="T12" fmla="*/ 13 w 20"/>
                  <a:gd name="T13" fmla="*/ 291 h 301"/>
                  <a:gd name="T14" fmla="*/ 11 w 20"/>
                  <a:gd name="T15" fmla="*/ 293 h 301"/>
                  <a:gd name="T16" fmla="*/ 8 w 20"/>
                  <a:gd name="T17" fmla="*/ 295 h 301"/>
                  <a:gd name="T18" fmla="*/ 6 w 20"/>
                  <a:gd name="T19" fmla="*/ 297 h 301"/>
                  <a:gd name="T20" fmla="*/ 2 w 20"/>
                  <a:gd name="T21" fmla="*/ 299 h 301"/>
                  <a:gd name="T22" fmla="*/ 0 w 20"/>
                  <a:gd name="T23" fmla="*/ 30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301">
                    <a:moveTo>
                      <a:pt x="0" y="301"/>
                    </a:moveTo>
                    <a:lnTo>
                      <a:pt x="0" y="0"/>
                    </a:lnTo>
                    <a:lnTo>
                      <a:pt x="20" y="0"/>
                    </a:lnTo>
                    <a:lnTo>
                      <a:pt x="20" y="285"/>
                    </a:lnTo>
                    <a:lnTo>
                      <a:pt x="18" y="287"/>
                    </a:lnTo>
                    <a:lnTo>
                      <a:pt x="16" y="290"/>
                    </a:lnTo>
                    <a:lnTo>
                      <a:pt x="13" y="291"/>
                    </a:lnTo>
                    <a:lnTo>
                      <a:pt x="11" y="293"/>
                    </a:lnTo>
                    <a:lnTo>
                      <a:pt x="8" y="295"/>
                    </a:lnTo>
                    <a:lnTo>
                      <a:pt x="6" y="297"/>
                    </a:lnTo>
                    <a:lnTo>
                      <a:pt x="2" y="299"/>
                    </a:lnTo>
                    <a:lnTo>
                      <a:pt x="0" y="30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25" name="Freeform 1113"/>
              <p:cNvSpPr>
                <a:spLocks noChangeAspect="1"/>
              </p:cNvSpPr>
              <p:nvPr/>
            </p:nvSpPr>
            <p:spPr bwMode="auto">
              <a:xfrm>
                <a:off x="3310" y="1590"/>
                <a:ext cx="6" cy="98"/>
              </a:xfrm>
              <a:custGeom>
                <a:avLst/>
                <a:gdLst>
                  <a:gd name="T0" fmla="*/ 0 w 20"/>
                  <a:gd name="T1" fmla="*/ 294 h 294"/>
                  <a:gd name="T2" fmla="*/ 0 w 20"/>
                  <a:gd name="T3" fmla="*/ 0 h 294"/>
                  <a:gd name="T4" fmla="*/ 20 w 20"/>
                  <a:gd name="T5" fmla="*/ 0 h 294"/>
                  <a:gd name="T6" fmla="*/ 20 w 20"/>
                  <a:gd name="T7" fmla="*/ 276 h 294"/>
                  <a:gd name="T8" fmla="*/ 18 w 20"/>
                  <a:gd name="T9" fmla="*/ 278 h 294"/>
                  <a:gd name="T10" fmla="*/ 16 w 20"/>
                  <a:gd name="T11" fmla="*/ 280 h 294"/>
                  <a:gd name="T12" fmla="*/ 13 w 20"/>
                  <a:gd name="T13" fmla="*/ 282 h 294"/>
                  <a:gd name="T14" fmla="*/ 11 w 20"/>
                  <a:gd name="T15" fmla="*/ 284 h 294"/>
                  <a:gd name="T16" fmla="*/ 7 w 20"/>
                  <a:gd name="T17" fmla="*/ 286 h 294"/>
                  <a:gd name="T18" fmla="*/ 5 w 20"/>
                  <a:gd name="T19" fmla="*/ 290 h 294"/>
                  <a:gd name="T20" fmla="*/ 2 w 20"/>
                  <a:gd name="T21" fmla="*/ 292 h 294"/>
                  <a:gd name="T22" fmla="*/ 0 w 20"/>
                  <a:gd name="T23" fmla="*/ 29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294">
                    <a:moveTo>
                      <a:pt x="0" y="294"/>
                    </a:moveTo>
                    <a:lnTo>
                      <a:pt x="0" y="0"/>
                    </a:lnTo>
                    <a:lnTo>
                      <a:pt x="20" y="0"/>
                    </a:lnTo>
                    <a:lnTo>
                      <a:pt x="20" y="276"/>
                    </a:lnTo>
                    <a:lnTo>
                      <a:pt x="18" y="278"/>
                    </a:lnTo>
                    <a:lnTo>
                      <a:pt x="16" y="280"/>
                    </a:lnTo>
                    <a:lnTo>
                      <a:pt x="13" y="282"/>
                    </a:lnTo>
                    <a:lnTo>
                      <a:pt x="11" y="284"/>
                    </a:lnTo>
                    <a:lnTo>
                      <a:pt x="7" y="286"/>
                    </a:lnTo>
                    <a:lnTo>
                      <a:pt x="5" y="290"/>
                    </a:lnTo>
                    <a:lnTo>
                      <a:pt x="2" y="292"/>
                    </a:lnTo>
                    <a:lnTo>
                      <a:pt x="0" y="294"/>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26" name="Freeform 1114"/>
              <p:cNvSpPr>
                <a:spLocks noChangeAspect="1"/>
              </p:cNvSpPr>
              <p:nvPr/>
            </p:nvSpPr>
            <p:spPr bwMode="auto">
              <a:xfrm>
                <a:off x="3313" y="1590"/>
                <a:ext cx="15" cy="95"/>
              </a:xfrm>
              <a:custGeom>
                <a:avLst/>
                <a:gdLst>
                  <a:gd name="T0" fmla="*/ 0 w 22"/>
                  <a:gd name="T1" fmla="*/ 285 h 285"/>
                  <a:gd name="T2" fmla="*/ 0 w 22"/>
                  <a:gd name="T3" fmla="*/ 0 h 285"/>
                  <a:gd name="T4" fmla="*/ 22 w 22"/>
                  <a:gd name="T5" fmla="*/ 0 h 285"/>
                  <a:gd name="T6" fmla="*/ 22 w 22"/>
                  <a:gd name="T7" fmla="*/ 264 h 285"/>
                  <a:gd name="T8" fmla="*/ 20 w 22"/>
                  <a:gd name="T9" fmla="*/ 267 h 285"/>
                  <a:gd name="T10" fmla="*/ 18 w 22"/>
                  <a:gd name="T11" fmla="*/ 269 h 285"/>
                  <a:gd name="T12" fmla="*/ 14 w 22"/>
                  <a:gd name="T13" fmla="*/ 273 h 285"/>
                  <a:gd name="T14" fmla="*/ 12 w 22"/>
                  <a:gd name="T15" fmla="*/ 275 h 285"/>
                  <a:gd name="T16" fmla="*/ 9 w 22"/>
                  <a:gd name="T17" fmla="*/ 278 h 285"/>
                  <a:gd name="T18" fmla="*/ 7 w 22"/>
                  <a:gd name="T19" fmla="*/ 280 h 285"/>
                  <a:gd name="T20" fmla="*/ 4 w 22"/>
                  <a:gd name="T21" fmla="*/ 282 h 285"/>
                  <a:gd name="T22" fmla="*/ 0 w 22"/>
                  <a:gd name="T23"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85">
                    <a:moveTo>
                      <a:pt x="0" y="285"/>
                    </a:moveTo>
                    <a:lnTo>
                      <a:pt x="0" y="0"/>
                    </a:lnTo>
                    <a:lnTo>
                      <a:pt x="22" y="0"/>
                    </a:lnTo>
                    <a:lnTo>
                      <a:pt x="22" y="264"/>
                    </a:lnTo>
                    <a:lnTo>
                      <a:pt x="20" y="267"/>
                    </a:lnTo>
                    <a:lnTo>
                      <a:pt x="18" y="269"/>
                    </a:lnTo>
                    <a:lnTo>
                      <a:pt x="14" y="273"/>
                    </a:lnTo>
                    <a:lnTo>
                      <a:pt x="12" y="275"/>
                    </a:lnTo>
                    <a:lnTo>
                      <a:pt x="9" y="278"/>
                    </a:lnTo>
                    <a:lnTo>
                      <a:pt x="7" y="280"/>
                    </a:lnTo>
                    <a:lnTo>
                      <a:pt x="4" y="282"/>
                    </a:lnTo>
                    <a:lnTo>
                      <a:pt x="0" y="28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27" name="Freeform 1115"/>
              <p:cNvSpPr>
                <a:spLocks noChangeAspect="1"/>
              </p:cNvSpPr>
              <p:nvPr/>
            </p:nvSpPr>
            <p:spPr bwMode="auto">
              <a:xfrm>
                <a:off x="3316" y="1590"/>
                <a:ext cx="15" cy="94"/>
              </a:xfrm>
              <a:custGeom>
                <a:avLst/>
                <a:gdLst>
                  <a:gd name="T0" fmla="*/ 0 w 21"/>
                  <a:gd name="T1" fmla="*/ 276 h 276"/>
                  <a:gd name="T2" fmla="*/ 0 w 21"/>
                  <a:gd name="T3" fmla="*/ 0 h 276"/>
                  <a:gd name="T4" fmla="*/ 21 w 21"/>
                  <a:gd name="T5" fmla="*/ 0 h 276"/>
                  <a:gd name="T6" fmla="*/ 21 w 21"/>
                  <a:gd name="T7" fmla="*/ 251 h 276"/>
                  <a:gd name="T8" fmla="*/ 19 w 21"/>
                  <a:gd name="T9" fmla="*/ 254 h 276"/>
                  <a:gd name="T10" fmla="*/ 17 w 21"/>
                  <a:gd name="T11" fmla="*/ 258 h 276"/>
                  <a:gd name="T12" fmla="*/ 14 w 21"/>
                  <a:gd name="T13" fmla="*/ 261 h 276"/>
                  <a:gd name="T14" fmla="*/ 12 w 21"/>
                  <a:gd name="T15" fmla="*/ 264 h 276"/>
                  <a:gd name="T16" fmla="*/ 9 w 21"/>
                  <a:gd name="T17" fmla="*/ 267 h 276"/>
                  <a:gd name="T18" fmla="*/ 7 w 21"/>
                  <a:gd name="T19" fmla="*/ 269 h 276"/>
                  <a:gd name="T20" fmla="*/ 3 w 21"/>
                  <a:gd name="T21" fmla="*/ 273 h 276"/>
                  <a:gd name="T22" fmla="*/ 0 w 21"/>
                  <a:gd name="T23" fmla="*/ 27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276">
                    <a:moveTo>
                      <a:pt x="0" y="276"/>
                    </a:moveTo>
                    <a:lnTo>
                      <a:pt x="0" y="0"/>
                    </a:lnTo>
                    <a:lnTo>
                      <a:pt x="21" y="0"/>
                    </a:lnTo>
                    <a:lnTo>
                      <a:pt x="21" y="251"/>
                    </a:lnTo>
                    <a:lnTo>
                      <a:pt x="19" y="254"/>
                    </a:lnTo>
                    <a:lnTo>
                      <a:pt x="17" y="258"/>
                    </a:lnTo>
                    <a:lnTo>
                      <a:pt x="14" y="261"/>
                    </a:lnTo>
                    <a:lnTo>
                      <a:pt x="12" y="264"/>
                    </a:lnTo>
                    <a:lnTo>
                      <a:pt x="9" y="267"/>
                    </a:lnTo>
                    <a:lnTo>
                      <a:pt x="7" y="269"/>
                    </a:lnTo>
                    <a:lnTo>
                      <a:pt x="3" y="273"/>
                    </a:lnTo>
                    <a:lnTo>
                      <a:pt x="0" y="276"/>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28" name="Freeform 1116"/>
              <p:cNvSpPr>
                <a:spLocks noChangeAspect="1"/>
              </p:cNvSpPr>
              <p:nvPr/>
            </p:nvSpPr>
            <p:spPr bwMode="auto">
              <a:xfrm>
                <a:off x="3320" y="1590"/>
                <a:ext cx="7" cy="94"/>
              </a:xfrm>
              <a:custGeom>
                <a:avLst/>
                <a:gdLst>
                  <a:gd name="T0" fmla="*/ 0 w 21"/>
                  <a:gd name="T1" fmla="*/ 264 h 264"/>
                  <a:gd name="T2" fmla="*/ 0 w 21"/>
                  <a:gd name="T3" fmla="*/ 0 h 264"/>
                  <a:gd name="T4" fmla="*/ 21 w 21"/>
                  <a:gd name="T5" fmla="*/ 0 h 264"/>
                  <a:gd name="T6" fmla="*/ 21 w 21"/>
                  <a:gd name="T7" fmla="*/ 235 h 264"/>
                  <a:gd name="T8" fmla="*/ 19 w 21"/>
                  <a:gd name="T9" fmla="*/ 240 h 264"/>
                  <a:gd name="T10" fmla="*/ 17 w 21"/>
                  <a:gd name="T11" fmla="*/ 243 h 264"/>
                  <a:gd name="T12" fmla="*/ 14 w 21"/>
                  <a:gd name="T13" fmla="*/ 247 h 264"/>
                  <a:gd name="T14" fmla="*/ 11 w 21"/>
                  <a:gd name="T15" fmla="*/ 250 h 264"/>
                  <a:gd name="T16" fmla="*/ 8 w 21"/>
                  <a:gd name="T17" fmla="*/ 254 h 264"/>
                  <a:gd name="T18" fmla="*/ 6 w 21"/>
                  <a:gd name="T19" fmla="*/ 258 h 264"/>
                  <a:gd name="T20" fmla="*/ 3 w 21"/>
                  <a:gd name="T21" fmla="*/ 261 h 264"/>
                  <a:gd name="T22" fmla="*/ 0 w 21"/>
                  <a:gd name="T23" fmla="*/ 26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264">
                    <a:moveTo>
                      <a:pt x="0" y="264"/>
                    </a:moveTo>
                    <a:lnTo>
                      <a:pt x="0" y="0"/>
                    </a:lnTo>
                    <a:lnTo>
                      <a:pt x="21" y="0"/>
                    </a:lnTo>
                    <a:lnTo>
                      <a:pt x="21" y="235"/>
                    </a:lnTo>
                    <a:lnTo>
                      <a:pt x="19" y="240"/>
                    </a:lnTo>
                    <a:lnTo>
                      <a:pt x="17" y="243"/>
                    </a:lnTo>
                    <a:lnTo>
                      <a:pt x="14" y="247"/>
                    </a:lnTo>
                    <a:lnTo>
                      <a:pt x="11" y="250"/>
                    </a:lnTo>
                    <a:lnTo>
                      <a:pt x="8" y="254"/>
                    </a:lnTo>
                    <a:lnTo>
                      <a:pt x="6" y="258"/>
                    </a:lnTo>
                    <a:lnTo>
                      <a:pt x="3" y="261"/>
                    </a:lnTo>
                    <a:lnTo>
                      <a:pt x="0" y="264"/>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29" name="Freeform 1117"/>
              <p:cNvSpPr>
                <a:spLocks noChangeAspect="1"/>
              </p:cNvSpPr>
              <p:nvPr/>
            </p:nvSpPr>
            <p:spPr bwMode="auto">
              <a:xfrm>
                <a:off x="3323" y="1590"/>
                <a:ext cx="8" cy="84"/>
              </a:xfrm>
              <a:custGeom>
                <a:avLst/>
                <a:gdLst>
                  <a:gd name="T0" fmla="*/ 0 w 22"/>
                  <a:gd name="T1" fmla="*/ 251 h 251"/>
                  <a:gd name="T2" fmla="*/ 0 w 22"/>
                  <a:gd name="T3" fmla="*/ 0 h 251"/>
                  <a:gd name="T4" fmla="*/ 22 w 22"/>
                  <a:gd name="T5" fmla="*/ 0 h 251"/>
                  <a:gd name="T6" fmla="*/ 22 w 22"/>
                  <a:gd name="T7" fmla="*/ 214 h 251"/>
                  <a:gd name="T8" fmla="*/ 20 w 22"/>
                  <a:gd name="T9" fmla="*/ 219 h 251"/>
                  <a:gd name="T10" fmla="*/ 17 w 22"/>
                  <a:gd name="T11" fmla="*/ 224 h 251"/>
                  <a:gd name="T12" fmla="*/ 15 w 22"/>
                  <a:gd name="T13" fmla="*/ 229 h 251"/>
                  <a:gd name="T14" fmla="*/ 12 w 22"/>
                  <a:gd name="T15" fmla="*/ 233 h 251"/>
                  <a:gd name="T16" fmla="*/ 10 w 22"/>
                  <a:gd name="T17" fmla="*/ 239 h 251"/>
                  <a:gd name="T18" fmla="*/ 7 w 22"/>
                  <a:gd name="T19" fmla="*/ 243 h 251"/>
                  <a:gd name="T20" fmla="*/ 4 w 22"/>
                  <a:gd name="T21" fmla="*/ 247 h 251"/>
                  <a:gd name="T22" fmla="*/ 0 w 22"/>
                  <a:gd name="T23"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51">
                    <a:moveTo>
                      <a:pt x="0" y="251"/>
                    </a:moveTo>
                    <a:lnTo>
                      <a:pt x="0" y="0"/>
                    </a:lnTo>
                    <a:lnTo>
                      <a:pt x="22" y="0"/>
                    </a:lnTo>
                    <a:lnTo>
                      <a:pt x="22" y="214"/>
                    </a:lnTo>
                    <a:lnTo>
                      <a:pt x="20" y="219"/>
                    </a:lnTo>
                    <a:lnTo>
                      <a:pt x="17" y="224"/>
                    </a:lnTo>
                    <a:lnTo>
                      <a:pt x="15" y="229"/>
                    </a:lnTo>
                    <a:lnTo>
                      <a:pt x="12" y="233"/>
                    </a:lnTo>
                    <a:lnTo>
                      <a:pt x="10" y="239"/>
                    </a:lnTo>
                    <a:lnTo>
                      <a:pt x="7" y="243"/>
                    </a:lnTo>
                    <a:lnTo>
                      <a:pt x="4" y="247"/>
                    </a:lnTo>
                    <a:lnTo>
                      <a:pt x="0" y="25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30" name="Freeform 1118"/>
              <p:cNvSpPr>
                <a:spLocks noChangeAspect="1"/>
              </p:cNvSpPr>
              <p:nvPr/>
            </p:nvSpPr>
            <p:spPr bwMode="auto">
              <a:xfrm>
                <a:off x="3327" y="1590"/>
                <a:ext cx="7" cy="78"/>
              </a:xfrm>
              <a:custGeom>
                <a:avLst/>
                <a:gdLst>
                  <a:gd name="T0" fmla="*/ 0 w 21"/>
                  <a:gd name="T1" fmla="*/ 235 h 235"/>
                  <a:gd name="T2" fmla="*/ 0 w 21"/>
                  <a:gd name="T3" fmla="*/ 0 h 235"/>
                  <a:gd name="T4" fmla="*/ 21 w 21"/>
                  <a:gd name="T5" fmla="*/ 0 h 235"/>
                  <a:gd name="T6" fmla="*/ 21 w 21"/>
                  <a:gd name="T7" fmla="*/ 161 h 235"/>
                  <a:gd name="T8" fmla="*/ 20 w 21"/>
                  <a:gd name="T9" fmla="*/ 170 h 235"/>
                  <a:gd name="T10" fmla="*/ 19 w 21"/>
                  <a:gd name="T11" fmla="*/ 181 h 235"/>
                  <a:gd name="T12" fmla="*/ 18 w 21"/>
                  <a:gd name="T13" fmla="*/ 191 h 235"/>
                  <a:gd name="T14" fmla="*/ 16 w 21"/>
                  <a:gd name="T15" fmla="*/ 199 h 235"/>
                  <a:gd name="T16" fmla="*/ 13 w 21"/>
                  <a:gd name="T17" fmla="*/ 209 h 235"/>
                  <a:gd name="T18" fmla="*/ 9 w 21"/>
                  <a:gd name="T19" fmla="*/ 218 h 235"/>
                  <a:gd name="T20" fmla="*/ 4 w 21"/>
                  <a:gd name="T21" fmla="*/ 227 h 235"/>
                  <a:gd name="T22" fmla="*/ 0 w 21"/>
                  <a:gd name="T23"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235">
                    <a:moveTo>
                      <a:pt x="0" y="235"/>
                    </a:moveTo>
                    <a:lnTo>
                      <a:pt x="0" y="0"/>
                    </a:lnTo>
                    <a:lnTo>
                      <a:pt x="21" y="0"/>
                    </a:lnTo>
                    <a:lnTo>
                      <a:pt x="21" y="161"/>
                    </a:lnTo>
                    <a:lnTo>
                      <a:pt x="20" y="170"/>
                    </a:lnTo>
                    <a:lnTo>
                      <a:pt x="19" y="181"/>
                    </a:lnTo>
                    <a:lnTo>
                      <a:pt x="18" y="191"/>
                    </a:lnTo>
                    <a:lnTo>
                      <a:pt x="16" y="199"/>
                    </a:lnTo>
                    <a:lnTo>
                      <a:pt x="13" y="209"/>
                    </a:lnTo>
                    <a:lnTo>
                      <a:pt x="9" y="218"/>
                    </a:lnTo>
                    <a:lnTo>
                      <a:pt x="4" y="227"/>
                    </a:lnTo>
                    <a:lnTo>
                      <a:pt x="0" y="23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31" name="Freeform 1119"/>
              <p:cNvSpPr>
                <a:spLocks noChangeAspect="1"/>
              </p:cNvSpPr>
              <p:nvPr/>
            </p:nvSpPr>
            <p:spPr bwMode="auto">
              <a:xfrm>
                <a:off x="3331" y="1590"/>
                <a:ext cx="3" cy="78"/>
              </a:xfrm>
              <a:custGeom>
                <a:avLst/>
                <a:gdLst>
                  <a:gd name="T0" fmla="*/ 0 w 10"/>
                  <a:gd name="T1" fmla="*/ 214 h 214"/>
                  <a:gd name="T2" fmla="*/ 0 w 10"/>
                  <a:gd name="T3" fmla="*/ 0 h 214"/>
                  <a:gd name="T4" fmla="*/ 10 w 10"/>
                  <a:gd name="T5" fmla="*/ 0 h 214"/>
                  <a:gd name="T6" fmla="*/ 10 w 10"/>
                  <a:gd name="T7" fmla="*/ 161 h 214"/>
                  <a:gd name="T8" fmla="*/ 10 w 10"/>
                  <a:gd name="T9" fmla="*/ 161 h 214"/>
                  <a:gd name="T10" fmla="*/ 10 w 10"/>
                  <a:gd name="T11" fmla="*/ 161 h 214"/>
                  <a:gd name="T12" fmla="*/ 10 w 10"/>
                  <a:gd name="T13" fmla="*/ 168 h 214"/>
                  <a:gd name="T14" fmla="*/ 9 w 10"/>
                  <a:gd name="T15" fmla="*/ 175 h 214"/>
                  <a:gd name="T16" fmla="*/ 8 w 10"/>
                  <a:gd name="T17" fmla="*/ 181 h 214"/>
                  <a:gd name="T18" fmla="*/ 7 w 10"/>
                  <a:gd name="T19" fmla="*/ 189 h 214"/>
                  <a:gd name="T20" fmla="*/ 6 w 10"/>
                  <a:gd name="T21" fmla="*/ 195 h 214"/>
                  <a:gd name="T22" fmla="*/ 4 w 10"/>
                  <a:gd name="T23" fmla="*/ 201 h 214"/>
                  <a:gd name="T24" fmla="*/ 2 w 10"/>
                  <a:gd name="T25" fmla="*/ 208 h 214"/>
                  <a:gd name="T26" fmla="*/ 0 w 10"/>
                  <a:gd name="T27"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214">
                    <a:moveTo>
                      <a:pt x="0" y="214"/>
                    </a:moveTo>
                    <a:lnTo>
                      <a:pt x="0" y="0"/>
                    </a:lnTo>
                    <a:lnTo>
                      <a:pt x="10" y="0"/>
                    </a:lnTo>
                    <a:lnTo>
                      <a:pt x="10" y="161"/>
                    </a:lnTo>
                    <a:lnTo>
                      <a:pt x="10" y="161"/>
                    </a:lnTo>
                    <a:lnTo>
                      <a:pt x="10" y="161"/>
                    </a:lnTo>
                    <a:lnTo>
                      <a:pt x="10" y="168"/>
                    </a:lnTo>
                    <a:lnTo>
                      <a:pt x="9" y="175"/>
                    </a:lnTo>
                    <a:lnTo>
                      <a:pt x="8" y="181"/>
                    </a:lnTo>
                    <a:lnTo>
                      <a:pt x="7" y="189"/>
                    </a:lnTo>
                    <a:lnTo>
                      <a:pt x="6" y="195"/>
                    </a:lnTo>
                    <a:lnTo>
                      <a:pt x="4" y="201"/>
                    </a:lnTo>
                    <a:lnTo>
                      <a:pt x="2" y="208"/>
                    </a:lnTo>
                    <a:lnTo>
                      <a:pt x="0" y="214"/>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32" name="Freeform 1120"/>
              <p:cNvSpPr>
                <a:spLocks noChangeAspect="1"/>
              </p:cNvSpPr>
              <p:nvPr/>
            </p:nvSpPr>
            <p:spPr bwMode="auto">
              <a:xfrm>
                <a:off x="3159" y="1580"/>
                <a:ext cx="175" cy="127"/>
              </a:xfrm>
              <a:custGeom>
                <a:avLst/>
                <a:gdLst>
                  <a:gd name="T0" fmla="*/ 282 w 525"/>
                  <a:gd name="T1" fmla="*/ 1 h 382"/>
                  <a:gd name="T2" fmla="*/ 320 w 525"/>
                  <a:gd name="T3" fmla="*/ 5 h 382"/>
                  <a:gd name="T4" fmla="*/ 355 w 525"/>
                  <a:gd name="T5" fmla="*/ 12 h 382"/>
                  <a:gd name="T6" fmla="*/ 389 w 525"/>
                  <a:gd name="T7" fmla="*/ 24 h 382"/>
                  <a:gd name="T8" fmla="*/ 525 w 525"/>
                  <a:gd name="T9" fmla="*/ 30 h 382"/>
                  <a:gd name="T10" fmla="*/ 525 w 525"/>
                  <a:gd name="T11" fmla="*/ 191 h 382"/>
                  <a:gd name="T12" fmla="*/ 525 w 525"/>
                  <a:gd name="T13" fmla="*/ 191 h 382"/>
                  <a:gd name="T14" fmla="*/ 525 w 525"/>
                  <a:gd name="T15" fmla="*/ 191 h 382"/>
                  <a:gd name="T16" fmla="*/ 525 w 525"/>
                  <a:gd name="T17" fmla="*/ 191 h 382"/>
                  <a:gd name="T18" fmla="*/ 524 w 525"/>
                  <a:gd name="T19" fmla="*/ 200 h 382"/>
                  <a:gd name="T20" fmla="*/ 522 w 525"/>
                  <a:gd name="T21" fmla="*/ 220 h 382"/>
                  <a:gd name="T22" fmla="*/ 517 w 525"/>
                  <a:gd name="T23" fmla="*/ 239 h 382"/>
                  <a:gd name="T24" fmla="*/ 509 w 525"/>
                  <a:gd name="T25" fmla="*/ 257 h 382"/>
                  <a:gd name="T26" fmla="*/ 499 w 525"/>
                  <a:gd name="T27" fmla="*/ 274 h 382"/>
                  <a:gd name="T28" fmla="*/ 487 w 525"/>
                  <a:gd name="T29" fmla="*/ 290 h 382"/>
                  <a:gd name="T30" fmla="*/ 465 w 525"/>
                  <a:gd name="T31" fmla="*/ 312 h 382"/>
                  <a:gd name="T32" fmla="*/ 430 w 525"/>
                  <a:gd name="T33" fmla="*/ 339 h 382"/>
                  <a:gd name="T34" fmla="*/ 387 w 525"/>
                  <a:gd name="T35" fmla="*/ 359 h 382"/>
                  <a:gd name="T36" fmla="*/ 340 w 525"/>
                  <a:gd name="T37" fmla="*/ 374 h 382"/>
                  <a:gd name="T38" fmla="*/ 289 w 525"/>
                  <a:gd name="T39" fmla="*/ 381 h 382"/>
                  <a:gd name="T40" fmla="*/ 235 w 525"/>
                  <a:gd name="T41" fmla="*/ 381 h 382"/>
                  <a:gd name="T42" fmla="*/ 184 w 525"/>
                  <a:gd name="T43" fmla="*/ 374 h 382"/>
                  <a:gd name="T44" fmla="*/ 137 w 525"/>
                  <a:gd name="T45" fmla="*/ 359 h 382"/>
                  <a:gd name="T46" fmla="*/ 95 w 525"/>
                  <a:gd name="T47" fmla="*/ 339 h 382"/>
                  <a:gd name="T48" fmla="*/ 59 w 525"/>
                  <a:gd name="T49" fmla="*/ 312 h 382"/>
                  <a:gd name="T50" fmla="*/ 38 w 525"/>
                  <a:gd name="T51" fmla="*/ 290 h 382"/>
                  <a:gd name="T52" fmla="*/ 25 w 525"/>
                  <a:gd name="T53" fmla="*/ 274 h 382"/>
                  <a:gd name="T54" fmla="*/ 16 w 525"/>
                  <a:gd name="T55" fmla="*/ 257 h 382"/>
                  <a:gd name="T56" fmla="*/ 7 w 525"/>
                  <a:gd name="T57" fmla="*/ 239 h 382"/>
                  <a:gd name="T58" fmla="*/ 3 w 525"/>
                  <a:gd name="T59" fmla="*/ 220 h 382"/>
                  <a:gd name="T60" fmla="*/ 0 w 525"/>
                  <a:gd name="T61" fmla="*/ 200 h 382"/>
                  <a:gd name="T62" fmla="*/ 0 w 525"/>
                  <a:gd name="T63" fmla="*/ 191 h 382"/>
                  <a:gd name="T64" fmla="*/ 0 w 525"/>
                  <a:gd name="T65" fmla="*/ 191 h 382"/>
                  <a:gd name="T66" fmla="*/ 0 w 525"/>
                  <a:gd name="T67" fmla="*/ 191 h 382"/>
                  <a:gd name="T68" fmla="*/ 0 w 525"/>
                  <a:gd name="T69" fmla="*/ 191 h 382"/>
                  <a:gd name="T70" fmla="*/ 0 w 525"/>
                  <a:gd name="T71" fmla="*/ 30 h 382"/>
                  <a:gd name="T72" fmla="*/ 135 w 525"/>
                  <a:gd name="T73" fmla="*/ 24 h 382"/>
                  <a:gd name="T74" fmla="*/ 169 w 525"/>
                  <a:gd name="T75" fmla="*/ 12 h 382"/>
                  <a:gd name="T76" fmla="*/ 205 w 525"/>
                  <a:gd name="T77" fmla="*/ 5 h 382"/>
                  <a:gd name="T78" fmla="*/ 242 w 525"/>
                  <a:gd name="T79" fmla="*/ 1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5" h="382">
                    <a:moveTo>
                      <a:pt x="262" y="0"/>
                    </a:moveTo>
                    <a:lnTo>
                      <a:pt x="282" y="1"/>
                    </a:lnTo>
                    <a:lnTo>
                      <a:pt x="301" y="2"/>
                    </a:lnTo>
                    <a:lnTo>
                      <a:pt x="320" y="5"/>
                    </a:lnTo>
                    <a:lnTo>
                      <a:pt x="338" y="8"/>
                    </a:lnTo>
                    <a:lnTo>
                      <a:pt x="355" y="12"/>
                    </a:lnTo>
                    <a:lnTo>
                      <a:pt x="373" y="18"/>
                    </a:lnTo>
                    <a:lnTo>
                      <a:pt x="389" y="24"/>
                    </a:lnTo>
                    <a:lnTo>
                      <a:pt x="405" y="30"/>
                    </a:lnTo>
                    <a:lnTo>
                      <a:pt x="525" y="30"/>
                    </a:lnTo>
                    <a:lnTo>
                      <a:pt x="525" y="191"/>
                    </a:lnTo>
                    <a:lnTo>
                      <a:pt x="525" y="191"/>
                    </a:lnTo>
                    <a:lnTo>
                      <a:pt x="525" y="191"/>
                    </a:lnTo>
                    <a:lnTo>
                      <a:pt x="525" y="191"/>
                    </a:lnTo>
                    <a:lnTo>
                      <a:pt x="525" y="191"/>
                    </a:lnTo>
                    <a:lnTo>
                      <a:pt x="525" y="191"/>
                    </a:lnTo>
                    <a:lnTo>
                      <a:pt x="525" y="191"/>
                    </a:lnTo>
                    <a:lnTo>
                      <a:pt x="525" y="191"/>
                    </a:lnTo>
                    <a:lnTo>
                      <a:pt x="525" y="191"/>
                    </a:lnTo>
                    <a:lnTo>
                      <a:pt x="524" y="200"/>
                    </a:lnTo>
                    <a:lnTo>
                      <a:pt x="523" y="210"/>
                    </a:lnTo>
                    <a:lnTo>
                      <a:pt x="522" y="220"/>
                    </a:lnTo>
                    <a:lnTo>
                      <a:pt x="520" y="229"/>
                    </a:lnTo>
                    <a:lnTo>
                      <a:pt x="517" y="239"/>
                    </a:lnTo>
                    <a:lnTo>
                      <a:pt x="514" y="247"/>
                    </a:lnTo>
                    <a:lnTo>
                      <a:pt x="509" y="257"/>
                    </a:lnTo>
                    <a:lnTo>
                      <a:pt x="504" y="265"/>
                    </a:lnTo>
                    <a:lnTo>
                      <a:pt x="499" y="274"/>
                    </a:lnTo>
                    <a:lnTo>
                      <a:pt x="493" y="282"/>
                    </a:lnTo>
                    <a:lnTo>
                      <a:pt x="487" y="290"/>
                    </a:lnTo>
                    <a:lnTo>
                      <a:pt x="480" y="297"/>
                    </a:lnTo>
                    <a:lnTo>
                      <a:pt x="465" y="312"/>
                    </a:lnTo>
                    <a:lnTo>
                      <a:pt x="448" y="326"/>
                    </a:lnTo>
                    <a:lnTo>
                      <a:pt x="430" y="339"/>
                    </a:lnTo>
                    <a:lnTo>
                      <a:pt x="409" y="349"/>
                    </a:lnTo>
                    <a:lnTo>
                      <a:pt x="387" y="359"/>
                    </a:lnTo>
                    <a:lnTo>
                      <a:pt x="365" y="367"/>
                    </a:lnTo>
                    <a:lnTo>
                      <a:pt x="340" y="374"/>
                    </a:lnTo>
                    <a:lnTo>
                      <a:pt x="315" y="378"/>
                    </a:lnTo>
                    <a:lnTo>
                      <a:pt x="289" y="381"/>
                    </a:lnTo>
                    <a:lnTo>
                      <a:pt x="262" y="382"/>
                    </a:lnTo>
                    <a:lnTo>
                      <a:pt x="235" y="381"/>
                    </a:lnTo>
                    <a:lnTo>
                      <a:pt x="209" y="378"/>
                    </a:lnTo>
                    <a:lnTo>
                      <a:pt x="184" y="374"/>
                    </a:lnTo>
                    <a:lnTo>
                      <a:pt x="160" y="367"/>
                    </a:lnTo>
                    <a:lnTo>
                      <a:pt x="137" y="359"/>
                    </a:lnTo>
                    <a:lnTo>
                      <a:pt x="116" y="349"/>
                    </a:lnTo>
                    <a:lnTo>
                      <a:pt x="95" y="339"/>
                    </a:lnTo>
                    <a:lnTo>
                      <a:pt x="76" y="326"/>
                    </a:lnTo>
                    <a:lnTo>
                      <a:pt x="59" y="312"/>
                    </a:lnTo>
                    <a:lnTo>
                      <a:pt x="44" y="297"/>
                    </a:lnTo>
                    <a:lnTo>
                      <a:pt x="38" y="290"/>
                    </a:lnTo>
                    <a:lnTo>
                      <a:pt x="32" y="282"/>
                    </a:lnTo>
                    <a:lnTo>
                      <a:pt x="25" y="274"/>
                    </a:lnTo>
                    <a:lnTo>
                      <a:pt x="20" y="265"/>
                    </a:lnTo>
                    <a:lnTo>
                      <a:pt x="16" y="257"/>
                    </a:lnTo>
                    <a:lnTo>
                      <a:pt x="11" y="247"/>
                    </a:lnTo>
                    <a:lnTo>
                      <a:pt x="7" y="239"/>
                    </a:lnTo>
                    <a:lnTo>
                      <a:pt x="5" y="229"/>
                    </a:lnTo>
                    <a:lnTo>
                      <a:pt x="3" y="220"/>
                    </a:lnTo>
                    <a:lnTo>
                      <a:pt x="1" y="210"/>
                    </a:lnTo>
                    <a:lnTo>
                      <a:pt x="0" y="200"/>
                    </a:lnTo>
                    <a:lnTo>
                      <a:pt x="0" y="191"/>
                    </a:lnTo>
                    <a:lnTo>
                      <a:pt x="0" y="191"/>
                    </a:lnTo>
                    <a:lnTo>
                      <a:pt x="0" y="191"/>
                    </a:lnTo>
                    <a:lnTo>
                      <a:pt x="0" y="191"/>
                    </a:lnTo>
                    <a:lnTo>
                      <a:pt x="0" y="191"/>
                    </a:lnTo>
                    <a:lnTo>
                      <a:pt x="0" y="191"/>
                    </a:lnTo>
                    <a:lnTo>
                      <a:pt x="0" y="191"/>
                    </a:lnTo>
                    <a:lnTo>
                      <a:pt x="0" y="191"/>
                    </a:lnTo>
                    <a:lnTo>
                      <a:pt x="0" y="191"/>
                    </a:lnTo>
                    <a:lnTo>
                      <a:pt x="0" y="30"/>
                    </a:lnTo>
                    <a:lnTo>
                      <a:pt x="119" y="30"/>
                    </a:lnTo>
                    <a:lnTo>
                      <a:pt x="135" y="24"/>
                    </a:lnTo>
                    <a:lnTo>
                      <a:pt x="152" y="18"/>
                    </a:lnTo>
                    <a:lnTo>
                      <a:pt x="169" y="12"/>
                    </a:lnTo>
                    <a:lnTo>
                      <a:pt x="187" y="8"/>
                    </a:lnTo>
                    <a:lnTo>
                      <a:pt x="205" y="5"/>
                    </a:lnTo>
                    <a:lnTo>
                      <a:pt x="223" y="2"/>
                    </a:lnTo>
                    <a:lnTo>
                      <a:pt x="242" y="1"/>
                    </a:lnTo>
                    <a:lnTo>
                      <a:pt x="262" y="0"/>
                    </a:lnTo>
                  </a:path>
                </a:pathLst>
              </a:custGeom>
              <a:gradFill rotWithShape="0">
                <a:gsLst>
                  <a:gs pos="0">
                    <a:schemeClr val="hlink"/>
                  </a:gs>
                  <a:gs pos="50000">
                    <a:schemeClr val="hlink">
                      <a:gamma/>
                      <a:tint val="31373"/>
                      <a:invGamma/>
                    </a:schemeClr>
                  </a:gs>
                  <a:gs pos="100000">
                    <a:schemeClr val="hlink"/>
                  </a:gs>
                </a:gsLst>
                <a:lin ang="0" scaled="1"/>
              </a:gradFill>
              <a:ln w="1588">
                <a:solidFill>
                  <a:srgbClr val="1F1A17"/>
                </a:solidFill>
                <a:prstDash val="solid"/>
                <a:round/>
                <a:headEnd/>
                <a:tailEnd/>
              </a:ln>
            </p:spPr>
            <p:txBody>
              <a:bodyPr/>
              <a:lstStyle/>
              <a:p>
                <a:pPr>
                  <a:defRPr/>
                </a:pPr>
                <a:endParaRPr lang="en-US"/>
              </a:p>
            </p:txBody>
          </p:sp>
          <p:sp>
            <p:nvSpPr>
              <p:cNvPr id="65633" name="Freeform 1121"/>
              <p:cNvSpPr>
                <a:spLocks noChangeAspect="1"/>
              </p:cNvSpPr>
              <p:nvPr/>
            </p:nvSpPr>
            <p:spPr bwMode="auto">
              <a:xfrm>
                <a:off x="3159" y="1574"/>
                <a:ext cx="3" cy="16"/>
              </a:xfrm>
              <a:custGeom>
                <a:avLst/>
                <a:gdLst>
                  <a:gd name="T0" fmla="*/ 10 w 10"/>
                  <a:gd name="T1" fmla="*/ 0 h 47"/>
                  <a:gd name="T2" fmla="*/ 10 w 10"/>
                  <a:gd name="T3" fmla="*/ 47 h 47"/>
                  <a:gd name="T4" fmla="*/ 0 w 10"/>
                  <a:gd name="T5" fmla="*/ 47 h 47"/>
                  <a:gd name="T6" fmla="*/ 10 w 10"/>
                  <a:gd name="T7" fmla="*/ 0 h 47"/>
                </a:gdLst>
                <a:ahLst/>
                <a:cxnLst>
                  <a:cxn ang="0">
                    <a:pos x="T0" y="T1"/>
                  </a:cxn>
                  <a:cxn ang="0">
                    <a:pos x="T2" y="T3"/>
                  </a:cxn>
                  <a:cxn ang="0">
                    <a:pos x="T4" y="T5"/>
                  </a:cxn>
                  <a:cxn ang="0">
                    <a:pos x="T6" y="T7"/>
                  </a:cxn>
                </a:cxnLst>
                <a:rect l="0" t="0" r="r" b="b"/>
                <a:pathLst>
                  <a:path w="10" h="47">
                    <a:moveTo>
                      <a:pt x="10" y="0"/>
                    </a:moveTo>
                    <a:lnTo>
                      <a:pt x="10" y="47"/>
                    </a:lnTo>
                    <a:lnTo>
                      <a:pt x="0" y="47"/>
                    </a:lnTo>
                    <a:lnTo>
                      <a:pt x="10" y="0"/>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34" name="Freeform 1122"/>
              <p:cNvSpPr>
                <a:spLocks noChangeAspect="1"/>
              </p:cNvSpPr>
              <p:nvPr/>
            </p:nvSpPr>
            <p:spPr bwMode="auto">
              <a:xfrm>
                <a:off x="3159" y="1559"/>
                <a:ext cx="7" cy="31"/>
              </a:xfrm>
              <a:custGeom>
                <a:avLst/>
                <a:gdLst>
                  <a:gd name="T0" fmla="*/ 20 w 20"/>
                  <a:gd name="T1" fmla="*/ 0 h 94"/>
                  <a:gd name="T2" fmla="*/ 20 w 20"/>
                  <a:gd name="T3" fmla="*/ 94 h 94"/>
                  <a:gd name="T4" fmla="*/ 0 w 20"/>
                  <a:gd name="T5" fmla="*/ 94 h 94"/>
                  <a:gd name="T6" fmla="*/ 20 w 20"/>
                  <a:gd name="T7" fmla="*/ 0 h 94"/>
                </a:gdLst>
                <a:ahLst/>
                <a:cxnLst>
                  <a:cxn ang="0">
                    <a:pos x="T0" y="T1"/>
                  </a:cxn>
                  <a:cxn ang="0">
                    <a:pos x="T2" y="T3"/>
                  </a:cxn>
                  <a:cxn ang="0">
                    <a:pos x="T4" y="T5"/>
                  </a:cxn>
                  <a:cxn ang="0">
                    <a:pos x="T6" y="T7"/>
                  </a:cxn>
                </a:cxnLst>
                <a:rect l="0" t="0" r="r" b="b"/>
                <a:pathLst>
                  <a:path w="20" h="94">
                    <a:moveTo>
                      <a:pt x="20" y="0"/>
                    </a:moveTo>
                    <a:lnTo>
                      <a:pt x="20" y="94"/>
                    </a:lnTo>
                    <a:lnTo>
                      <a:pt x="0" y="94"/>
                    </a:lnTo>
                    <a:lnTo>
                      <a:pt x="20" y="0"/>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35" name="Freeform 1123"/>
              <p:cNvSpPr>
                <a:spLocks noChangeAspect="1"/>
              </p:cNvSpPr>
              <p:nvPr/>
            </p:nvSpPr>
            <p:spPr bwMode="auto">
              <a:xfrm>
                <a:off x="3162" y="1543"/>
                <a:ext cx="7" cy="47"/>
              </a:xfrm>
              <a:custGeom>
                <a:avLst/>
                <a:gdLst>
                  <a:gd name="T0" fmla="*/ 0 w 20"/>
                  <a:gd name="T1" fmla="*/ 142 h 142"/>
                  <a:gd name="T2" fmla="*/ 0 w 20"/>
                  <a:gd name="T3" fmla="*/ 95 h 142"/>
                  <a:gd name="T4" fmla="*/ 20 w 20"/>
                  <a:gd name="T5" fmla="*/ 0 h 142"/>
                  <a:gd name="T6" fmla="*/ 20 w 20"/>
                  <a:gd name="T7" fmla="*/ 142 h 142"/>
                  <a:gd name="T8" fmla="*/ 0 w 20"/>
                  <a:gd name="T9" fmla="*/ 142 h 142"/>
                </a:gdLst>
                <a:ahLst/>
                <a:cxnLst>
                  <a:cxn ang="0">
                    <a:pos x="T0" y="T1"/>
                  </a:cxn>
                  <a:cxn ang="0">
                    <a:pos x="T2" y="T3"/>
                  </a:cxn>
                  <a:cxn ang="0">
                    <a:pos x="T4" y="T5"/>
                  </a:cxn>
                  <a:cxn ang="0">
                    <a:pos x="T6" y="T7"/>
                  </a:cxn>
                  <a:cxn ang="0">
                    <a:pos x="T8" y="T9"/>
                  </a:cxn>
                </a:cxnLst>
                <a:rect l="0" t="0" r="r" b="b"/>
                <a:pathLst>
                  <a:path w="20" h="142">
                    <a:moveTo>
                      <a:pt x="0" y="142"/>
                    </a:moveTo>
                    <a:lnTo>
                      <a:pt x="0" y="95"/>
                    </a:lnTo>
                    <a:lnTo>
                      <a:pt x="20" y="0"/>
                    </a:lnTo>
                    <a:lnTo>
                      <a:pt x="20" y="142"/>
                    </a:lnTo>
                    <a:lnTo>
                      <a:pt x="0" y="142"/>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36" name="Freeform 1124"/>
              <p:cNvSpPr>
                <a:spLocks noChangeAspect="1"/>
              </p:cNvSpPr>
              <p:nvPr/>
            </p:nvSpPr>
            <p:spPr bwMode="auto">
              <a:xfrm>
                <a:off x="3166" y="1531"/>
                <a:ext cx="7" cy="59"/>
              </a:xfrm>
              <a:custGeom>
                <a:avLst/>
                <a:gdLst>
                  <a:gd name="T0" fmla="*/ 0 w 21"/>
                  <a:gd name="T1" fmla="*/ 178 h 178"/>
                  <a:gd name="T2" fmla="*/ 0 w 21"/>
                  <a:gd name="T3" fmla="*/ 84 h 178"/>
                  <a:gd name="T4" fmla="*/ 19 w 21"/>
                  <a:gd name="T5" fmla="*/ 0 h 178"/>
                  <a:gd name="T6" fmla="*/ 21 w 21"/>
                  <a:gd name="T7" fmla="*/ 0 h 178"/>
                  <a:gd name="T8" fmla="*/ 21 w 21"/>
                  <a:gd name="T9" fmla="*/ 178 h 178"/>
                  <a:gd name="T10" fmla="*/ 0 w 21"/>
                  <a:gd name="T11" fmla="*/ 178 h 178"/>
                </a:gdLst>
                <a:ahLst/>
                <a:cxnLst>
                  <a:cxn ang="0">
                    <a:pos x="T0" y="T1"/>
                  </a:cxn>
                  <a:cxn ang="0">
                    <a:pos x="T2" y="T3"/>
                  </a:cxn>
                  <a:cxn ang="0">
                    <a:pos x="T4" y="T5"/>
                  </a:cxn>
                  <a:cxn ang="0">
                    <a:pos x="T6" y="T7"/>
                  </a:cxn>
                  <a:cxn ang="0">
                    <a:pos x="T8" y="T9"/>
                  </a:cxn>
                  <a:cxn ang="0">
                    <a:pos x="T10" y="T11"/>
                  </a:cxn>
                </a:cxnLst>
                <a:rect l="0" t="0" r="r" b="b"/>
                <a:pathLst>
                  <a:path w="21" h="178">
                    <a:moveTo>
                      <a:pt x="0" y="178"/>
                    </a:moveTo>
                    <a:lnTo>
                      <a:pt x="0" y="84"/>
                    </a:lnTo>
                    <a:lnTo>
                      <a:pt x="19" y="0"/>
                    </a:lnTo>
                    <a:lnTo>
                      <a:pt x="21" y="0"/>
                    </a:lnTo>
                    <a:lnTo>
                      <a:pt x="21" y="178"/>
                    </a:lnTo>
                    <a:lnTo>
                      <a:pt x="0" y="178"/>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37" name="Freeform 1125"/>
              <p:cNvSpPr>
                <a:spLocks noChangeAspect="1"/>
              </p:cNvSpPr>
              <p:nvPr/>
            </p:nvSpPr>
            <p:spPr bwMode="auto">
              <a:xfrm>
                <a:off x="3169" y="1531"/>
                <a:ext cx="15" cy="59"/>
              </a:xfrm>
              <a:custGeom>
                <a:avLst/>
                <a:gdLst>
                  <a:gd name="T0" fmla="*/ 0 w 22"/>
                  <a:gd name="T1" fmla="*/ 178 h 178"/>
                  <a:gd name="T2" fmla="*/ 0 w 22"/>
                  <a:gd name="T3" fmla="*/ 36 h 178"/>
                  <a:gd name="T4" fmla="*/ 9 w 22"/>
                  <a:gd name="T5" fmla="*/ 0 h 178"/>
                  <a:gd name="T6" fmla="*/ 22 w 22"/>
                  <a:gd name="T7" fmla="*/ 0 h 178"/>
                  <a:gd name="T8" fmla="*/ 22 w 22"/>
                  <a:gd name="T9" fmla="*/ 178 h 178"/>
                  <a:gd name="T10" fmla="*/ 0 w 22"/>
                  <a:gd name="T11" fmla="*/ 178 h 178"/>
                </a:gdLst>
                <a:ahLst/>
                <a:cxnLst>
                  <a:cxn ang="0">
                    <a:pos x="T0" y="T1"/>
                  </a:cxn>
                  <a:cxn ang="0">
                    <a:pos x="T2" y="T3"/>
                  </a:cxn>
                  <a:cxn ang="0">
                    <a:pos x="T4" y="T5"/>
                  </a:cxn>
                  <a:cxn ang="0">
                    <a:pos x="T6" y="T7"/>
                  </a:cxn>
                  <a:cxn ang="0">
                    <a:pos x="T8" y="T9"/>
                  </a:cxn>
                  <a:cxn ang="0">
                    <a:pos x="T10" y="T11"/>
                  </a:cxn>
                </a:cxnLst>
                <a:rect l="0" t="0" r="r" b="b"/>
                <a:pathLst>
                  <a:path w="22" h="178">
                    <a:moveTo>
                      <a:pt x="0" y="178"/>
                    </a:moveTo>
                    <a:lnTo>
                      <a:pt x="0" y="36"/>
                    </a:lnTo>
                    <a:lnTo>
                      <a:pt x="9" y="0"/>
                    </a:lnTo>
                    <a:lnTo>
                      <a:pt x="22" y="0"/>
                    </a:lnTo>
                    <a:lnTo>
                      <a:pt x="22" y="178"/>
                    </a:lnTo>
                    <a:lnTo>
                      <a:pt x="0" y="178"/>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38" name="Rectangle 1126"/>
              <p:cNvSpPr>
                <a:spLocks noChangeAspect="1" noChangeArrowheads="1"/>
              </p:cNvSpPr>
              <p:nvPr/>
            </p:nvSpPr>
            <p:spPr bwMode="auto">
              <a:xfrm>
                <a:off x="3173" y="1531"/>
                <a:ext cx="15"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39" name="Rectangle 1127"/>
              <p:cNvSpPr>
                <a:spLocks noChangeAspect="1" noChangeArrowheads="1"/>
              </p:cNvSpPr>
              <p:nvPr/>
            </p:nvSpPr>
            <p:spPr bwMode="auto">
              <a:xfrm>
                <a:off x="3176"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40" name="Rectangle 1128"/>
              <p:cNvSpPr>
                <a:spLocks noChangeAspect="1" noChangeArrowheads="1"/>
              </p:cNvSpPr>
              <p:nvPr/>
            </p:nvSpPr>
            <p:spPr bwMode="auto">
              <a:xfrm>
                <a:off x="3180"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41" name="Rectangle 1129"/>
              <p:cNvSpPr>
                <a:spLocks noChangeAspect="1" noChangeArrowheads="1"/>
              </p:cNvSpPr>
              <p:nvPr/>
            </p:nvSpPr>
            <p:spPr bwMode="auto">
              <a:xfrm>
                <a:off x="3183"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42" name="Rectangle 1130"/>
              <p:cNvSpPr>
                <a:spLocks noChangeAspect="1" noChangeArrowheads="1"/>
              </p:cNvSpPr>
              <p:nvPr/>
            </p:nvSpPr>
            <p:spPr bwMode="auto">
              <a:xfrm>
                <a:off x="3187"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43" name="Rectangle 1131"/>
              <p:cNvSpPr>
                <a:spLocks noChangeAspect="1" noChangeArrowheads="1"/>
              </p:cNvSpPr>
              <p:nvPr/>
            </p:nvSpPr>
            <p:spPr bwMode="auto">
              <a:xfrm>
                <a:off x="3190"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44" name="Rectangle 1132"/>
              <p:cNvSpPr>
                <a:spLocks noChangeAspect="1" noChangeArrowheads="1"/>
              </p:cNvSpPr>
              <p:nvPr/>
            </p:nvSpPr>
            <p:spPr bwMode="auto">
              <a:xfrm>
                <a:off x="3194"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45" name="Rectangle 1133"/>
              <p:cNvSpPr>
                <a:spLocks noChangeAspect="1" noChangeArrowheads="1"/>
              </p:cNvSpPr>
              <p:nvPr/>
            </p:nvSpPr>
            <p:spPr bwMode="auto">
              <a:xfrm>
                <a:off x="3197" y="1531"/>
                <a:ext cx="15"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46" name="Rectangle 1134"/>
              <p:cNvSpPr>
                <a:spLocks noChangeAspect="1" noChangeArrowheads="1"/>
              </p:cNvSpPr>
              <p:nvPr/>
            </p:nvSpPr>
            <p:spPr bwMode="auto">
              <a:xfrm>
                <a:off x="3201" y="1531"/>
                <a:ext cx="15"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47" name="Rectangle 1135"/>
              <p:cNvSpPr>
                <a:spLocks noChangeAspect="1" noChangeArrowheads="1"/>
              </p:cNvSpPr>
              <p:nvPr/>
            </p:nvSpPr>
            <p:spPr bwMode="auto">
              <a:xfrm>
                <a:off x="3204"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48" name="Rectangle 1136"/>
              <p:cNvSpPr>
                <a:spLocks noChangeAspect="1" noChangeArrowheads="1"/>
              </p:cNvSpPr>
              <p:nvPr/>
            </p:nvSpPr>
            <p:spPr bwMode="auto">
              <a:xfrm>
                <a:off x="3208"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49" name="Rectangle 1137"/>
              <p:cNvSpPr>
                <a:spLocks noChangeAspect="1" noChangeArrowheads="1"/>
              </p:cNvSpPr>
              <p:nvPr/>
            </p:nvSpPr>
            <p:spPr bwMode="auto">
              <a:xfrm>
                <a:off x="3211"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50" name="Rectangle 1138"/>
              <p:cNvSpPr>
                <a:spLocks noChangeAspect="1" noChangeArrowheads="1"/>
              </p:cNvSpPr>
              <p:nvPr/>
            </p:nvSpPr>
            <p:spPr bwMode="auto">
              <a:xfrm>
                <a:off x="3215"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51" name="Rectangle 1139"/>
              <p:cNvSpPr>
                <a:spLocks noChangeAspect="1" noChangeArrowheads="1"/>
              </p:cNvSpPr>
              <p:nvPr/>
            </p:nvSpPr>
            <p:spPr bwMode="auto">
              <a:xfrm>
                <a:off x="3218"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52" name="Rectangle 1140"/>
              <p:cNvSpPr>
                <a:spLocks noChangeAspect="1" noChangeArrowheads="1"/>
              </p:cNvSpPr>
              <p:nvPr/>
            </p:nvSpPr>
            <p:spPr bwMode="auto">
              <a:xfrm>
                <a:off x="3222"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53" name="Rectangle 1141"/>
              <p:cNvSpPr>
                <a:spLocks noChangeAspect="1" noChangeArrowheads="1"/>
              </p:cNvSpPr>
              <p:nvPr/>
            </p:nvSpPr>
            <p:spPr bwMode="auto">
              <a:xfrm>
                <a:off x="3225" y="1531"/>
                <a:ext cx="15"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54" name="Rectangle 1142"/>
              <p:cNvSpPr>
                <a:spLocks noChangeAspect="1" noChangeArrowheads="1"/>
              </p:cNvSpPr>
              <p:nvPr/>
            </p:nvSpPr>
            <p:spPr bwMode="auto">
              <a:xfrm>
                <a:off x="3229" y="1531"/>
                <a:ext cx="15"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55" name="Rectangle 1143"/>
              <p:cNvSpPr>
                <a:spLocks noChangeAspect="1" noChangeArrowheads="1"/>
              </p:cNvSpPr>
              <p:nvPr/>
            </p:nvSpPr>
            <p:spPr bwMode="auto">
              <a:xfrm>
                <a:off x="3232"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56" name="Rectangle 1144"/>
              <p:cNvSpPr>
                <a:spLocks noChangeAspect="1" noChangeArrowheads="1"/>
              </p:cNvSpPr>
              <p:nvPr/>
            </p:nvSpPr>
            <p:spPr bwMode="auto">
              <a:xfrm>
                <a:off x="3236"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57" name="Rectangle 1145"/>
              <p:cNvSpPr>
                <a:spLocks noChangeAspect="1" noChangeArrowheads="1"/>
              </p:cNvSpPr>
              <p:nvPr/>
            </p:nvSpPr>
            <p:spPr bwMode="auto">
              <a:xfrm>
                <a:off x="3239"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58" name="Rectangle 1146"/>
              <p:cNvSpPr>
                <a:spLocks noChangeAspect="1" noChangeArrowheads="1"/>
              </p:cNvSpPr>
              <p:nvPr/>
            </p:nvSpPr>
            <p:spPr bwMode="auto">
              <a:xfrm>
                <a:off x="3243"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59" name="Rectangle 1147"/>
              <p:cNvSpPr>
                <a:spLocks noChangeAspect="1" noChangeArrowheads="1"/>
              </p:cNvSpPr>
              <p:nvPr/>
            </p:nvSpPr>
            <p:spPr bwMode="auto">
              <a:xfrm>
                <a:off x="3246"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60" name="Rectangle 1148"/>
              <p:cNvSpPr>
                <a:spLocks noChangeAspect="1" noChangeArrowheads="1"/>
              </p:cNvSpPr>
              <p:nvPr/>
            </p:nvSpPr>
            <p:spPr bwMode="auto">
              <a:xfrm>
                <a:off x="3250"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61" name="Rectangle 1149"/>
              <p:cNvSpPr>
                <a:spLocks noChangeAspect="1" noChangeArrowheads="1"/>
              </p:cNvSpPr>
              <p:nvPr/>
            </p:nvSpPr>
            <p:spPr bwMode="auto">
              <a:xfrm>
                <a:off x="3253"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62" name="Rectangle 1150"/>
              <p:cNvSpPr>
                <a:spLocks noChangeAspect="1" noChangeArrowheads="1"/>
              </p:cNvSpPr>
              <p:nvPr/>
            </p:nvSpPr>
            <p:spPr bwMode="auto">
              <a:xfrm>
                <a:off x="3257" y="1531"/>
                <a:ext cx="15"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63" name="Rectangle 1151"/>
              <p:cNvSpPr>
                <a:spLocks noChangeAspect="1" noChangeArrowheads="1"/>
              </p:cNvSpPr>
              <p:nvPr/>
            </p:nvSpPr>
            <p:spPr bwMode="auto">
              <a:xfrm>
                <a:off x="3260" y="1531"/>
                <a:ext cx="15"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64" name="Rectangle 1152"/>
              <p:cNvSpPr>
                <a:spLocks noChangeAspect="1" noChangeArrowheads="1"/>
              </p:cNvSpPr>
              <p:nvPr/>
            </p:nvSpPr>
            <p:spPr bwMode="auto">
              <a:xfrm>
                <a:off x="3264"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65" name="Rectangle 1153"/>
              <p:cNvSpPr>
                <a:spLocks noChangeAspect="1" noChangeArrowheads="1"/>
              </p:cNvSpPr>
              <p:nvPr/>
            </p:nvSpPr>
            <p:spPr bwMode="auto">
              <a:xfrm>
                <a:off x="3267" y="1531"/>
                <a:ext cx="8"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66" name="Rectangle 1154"/>
              <p:cNvSpPr>
                <a:spLocks noChangeAspect="1" noChangeArrowheads="1"/>
              </p:cNvSpPr>
              <p:nvPr/>
            </p:nvSpPr>
            <p:spPr bwMode="auto">
              <a:xfrm>
                <a:off x="3271"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67" name="Rectangle 1155"/>
              <p:cNvSpPr>
                <a:spLocks noChangeAspect="1" noChangeArrowheads="1"/>
              </p:cNvSpPr>
              <p:nvPr/>
            </p:nvSpPr>
            <p:spPr bwMode="auto">
              <a:xfrm>
                <a:off x="3278"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68" name="Rectangle 1156"/>
              <p:cNvSpPr>
                <a:spLocks noChangeAspect="1" noChangeArrowheads="1"/>
              </p:cNvSpPr>
              <p:nvPr/>
            </p:nvSpPr>
            <p:spPr bwMode="auto">
              <a:xfrm>
                <a:off x="3281"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69" name="Rectangle 1157"/>
              <p:cNvSpPr>
                <a:spLocks noChangeAspect="1" noChangeArrowheads="1"/>
              </p:cNvSpPr>
              <p:nvPr/>
            </p:nvSpPr>
            <p:spPr bwMode="auto">
              <a:xfrm>
                <a:off x="3285" y="1531"/>
                <a:ext cx="15"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70" name="Rectangle 1158"/>
              <p:cNvSpPr>
                <a:spLocks noChangeAspect="1" noChangeArrowheads="1"/>
              </p:cNvSpPr>
              <p:nvPr/>
            </p:nvSpPr>
            <p:spPr bwMode="auto">
              <a:xfrm>
                <a:off x="3288" y="1531"/>
                <a:ext cx="15"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71" name="Rectangle 1159"/>
              <p:cNvSpPr>
                <a:spLocks noChangeAspect="1" noChangeArrowheads="1"/>
              </p:cNvSpPr>
              <p:nvPr/>
            </p:nvSpPr>
            <p:spPr bwMode="auto">
              <a:xfrm>
                <a:off x="3292"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72" name="Rectangle 1160"/>
              <p:cNvSpPr>
                <a:spLocks noChangeAspect="1" noChangeArrowheads="1"/>
              </p:cNvSpPr>
              <p:nvPr/>
            </p:nvSpPr>
            <p:spPr bwMode="auto">
              <a:xfrm>
                <a:off x="3295" y="1531"/>
                <a:ext cx="8"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73" name="Rectangle 1161"/>
              <p:cNvSpPr>
                <a:spLocks noChangeAspect="1" noChangeArrowheads="1"/>
              </p:cNvSpPr>
              <p:nvPr/>
            </p:nvSpPr>
            <p:spPr bwMode="auto">
              <a:xfrm>
                <a:off x="3299"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74" name="Rectangle 1162"/>
              <p:cNvSpPr>
                <a:spLocks noChangeAspect="1" noChangeArrowheads="1"/>
              </p:cNvSpPr>
              <p:nvPr/>
            </p:nvSpPr>
            <p:spPr bwMode="auto">
              <a:xfrm>
                <a:off x="3303"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75" name="Rectangle 1163"/>
              <p:cNvSpPr>
                <a:spLocks noChangeAspect="1" noChangeArrowheads="1"/>
              </p:cNvSpPr>
              <p:nvPr/>
            </p:nvSpPr>
            <p:spPr bwMode="auto">
              <a:xfrm>
                <a:off x="3306" y="1531"/>
                <a:ext cx="7"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76" name="Rectangle 1164"/>
              <p:cNvSpPr>
                <a:spLocks noChangeAspect="1" noChangeArrowheads="1"/>
              </p:cNvSpPr>
              <p:nvPr/>
            </p:nvSpPr>
            <p:spPr bwMode="auto">
              <a:xfrm>
                <a:off x="3310" y="1531"/>
                <a:ext cx="6" cy="59"/>
              </a:xfrm>
              <a:prstGeom prst="rect">
                <a:avLst/>
              </a:pr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77" name="Freeform 1165"/>
              <p:cNvSpPr>
                <a:spLocks noChangeAspect="1"/>
              </p:cNvSpPr>
              <p:nvPr/>
            </p:nvSpPr>
            <p:spPr bwMode="auto">
              <a:xfrm>
                <a:off x="3313" y="1531"/>
                <a:ext cx="15" cy="59"/>
              </a:xfrm>
              <a:custGeom>
                <a:avLst/>
                <a:gdLst>
                  <a:gd name="T0" fmla="*/ 0 w 22"/>
                  <a:gd name="T1" fmla="*/ 178 h 178"/>
                  <a:gd name="T2" fmla="*/ 0 w 22"/>
                  <a:gd name="T3" fmla="*/ 0 h 178"/>
                  <a:gd name="T4" fmla="*/ 11 w 22"/>
                  <a:gd name="T5" fmla="*/ 0 h 178"/>
                  <a:gd name="T6" fmla="*/ 22 w 22"/>
                  <a:gd name="T7" fmla="*/ 36 h 178"/>
                  <a:gd name="T8" fmla="*/ 22 w 22"/>
                  <a:gd name="T9" fmla="*/ 178 h 178"/>
                  <a:gd name="T10" fmla="*/ 0 w 22"/>
                  <a:gd name="T11" fmla="*/ 178 h 178"/>
                </a:gdLst>
                <a:ahLst/>
                <a:cxnLst>
                  <a:cxn ang="0">
                    <a:pos x="T0" y="T1"/>
                  </a:cxn>
                  <a:cxn ang="0">
                    <a:pos x="T2" y="T3"/>
                  </a:cxn>
                  <a:cxn ang="0">
                    <a:pos x="T4" y="T5"/>
                  </a:cxn>
                  <a:cxn ang="0">
                    <a:pos x="T6" y="T7"/>
                  </a:cxn>
                  <a:cxn ang="0">
                    <a:pos x="T8" y="T9"/>
                  </a:cxn>
                  <a:cxn ang="0">
                    <a:pos x="T10" y="T11"/>
                  </a:cxn>
                </a:cxnLst>
                <a:rect l="0" t="0" r="r" b="b"/>
                <a:pathLst>
                  <a:path w="22" h="178">
                    <a:moveTo>
                      <a:pt x="0" y="178"/>
                    </a:moveTo>
                    <a:lnTo>
                      <a:pt x="0" y="0"/>
                    </a:lnTo>
                    <a:lnTo>
                      <a:pt x="11" y="0"/>
                    </a:lnTo>
                    <a:lnTo>
                      <a:pt x="22" y="36"/>
                    </a:lnTo>
                    <a:lnTo>
                      <a:pt x="22" y="178"/>
                    </a:lnTo>
                    <a:lnTo>
                      <a:pt x="0" y="178"/>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78" name="Freeform 1166"/>
              <p:cNvSpPr>
                <a:spLocks noChangeAspect="1"/>
              </p:cNvSpPr>
              <p:nvPr/>
            </p:nvSpPr>
            <p:spPr bwMode="auto">
              <a:xfrm>
                <a:off x="3316" y="1531"/>
                <a:ext cx="15" cy="59"/>
              </a:xfrm>
              <a:custGeom>
                <a:avLst/>
                <a:gdLst>
                  <a:gd name="T0" fmla="*/ 0 w 21"/>
                  <a:gd name="T1" fmla="*/ 178 h 178"/>
                  <a:gd name="T2" fmla="*/ 0 w 21"/>
                  <a:gd name="T3" fmla="*/ 0 h 178"/>
                  <a:gd name="T4" fmla="*/ 21 w 21"/>
                  <a:gd name="T5" fmla="*/ 71 h 178"/>
                  <a:gd name="T6" fmla="*/ 21 w 21"/>
                  <a:gd name="T7" fmla="*/ 178 h 178"/>
                  <a:gd name="T8" fmla="*/ 0 w 21"/>
                  <a:gd name="T9" fmla="*/ 178 h 178"/>
                </a:gdLst>
                <a:ahLst/>
                <a:cxnLst>
                  <a:cxn ang="0">
                    <a:pos x="T0" y="T1"/>
                  </a:cxn>
                  <a:cxn ang="0">
                    <a:pos x="T2" y="T3"/>
                  </a:cxn>
                  <a:cxn ang="0">
                    <a:pos x="T4" y="T5"/>
                  </a:cxn>
                  <a:cxn ang="0">
                    <a:pos x="T6" y="T7"/>
                  </a:cxn>
                  <a:cxn ang="0">
                    <a:pos x="T8" y="T9"/>
                  </a:cxn>
                </a:cxnLst>
                <a:rect l="0" t="0" r="r" b="b"/>
                <a:pathLst>
                  <a:path w="21" h="178">
                    <a:moveTo>
                      <a:pt x="0" y="178"/>
                    </a:moveTo>
                    <a:lnTo>
                      <a:pt x="0" y="0"/>
                    </a:lnTo>
                    <a:lnTo>
                      <a:pt x="21" y="71"/>
                    </a:lnTo>
                    <a:lnTo>
                      <a:pt x="21" y="178"/>
                    </a:lnTo>
                    <a:lnTo>
                      <a:pt x="0" y="178"/>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79" name="Freeform 1167"/>
              <p:cNvSpPr>
                <a:spLocks noChangeAspect="1"/>
              </p:cNvSpPr>
              <p:nvPr/>
            </p:nvSpPr>
            <p:spPr bwMode="auto">
              <a:xfrm>
                <a:off x="3320" y="1543"/>
                <a:ext cx="7" cy="47"/>
              </a:xfrm>
              <a:custGeom>
                <a:avLst/>
                <a:gdLst>
                  <a:gd name="T0" fmla="*/ 0 w 21"/>
                  <a:gd name="T1" fmla="*/ 142 h 142"/>
                  <a:gd name="T2" fmla="*/ 0 w 21"/>
                  <a:gd name="T3" fmla="*/ 0 h 142"/>
                  <a:gd name="T4" fmla="*/ 21 w 21"/>
                  <a:gd name="T5" fmla="*/ 71 h 142"/>
                  <a:gd name="T6" fmla="*/ 21 w 21"/>
                  <a:gd name="T7" fmla="*/ 142 h 142"/>
                  <a:gd name="T8" fmla="*/ 0 w 21"/>
                  <a:gd name="T9" fmla="*/ 142 h 142"/>
                </a:gdLst>
                <a:ahLst/>
                <a:cxnLst>
                  <a:cxn ang="0">
                    <a:pos x="T0" y="T1"/>
                  </a:cxn>
                  <a:cxn ang="0">
                    <a:pos x="T2" y="T3"/>
                  </a:cxn>
                  <a:cxn ang="0">
                    <a:pos x="T4" y="T5"/>
                  </a:cxn>
                  <a:cxn ang="0">
                    <a:pos x="T6" y="T7"/>
                  </a:cxn>
                  <a:cxn ang="0">
                    <a:pos x="T8" y="T9"/>
                  </a:cxn>
                </a:cxnLst>
                <a:rect l="0" t="0" r="r" b="b"/>
                <a:pathLst>
                  <a:path w="21" h="142">
                    <a:moveTo>
                      <a:pt x="0" y="142"/>
                    </a:moveTo>
                    <a:lnTo>
                      <a:pt x="0" y="0"/>
                    </a:lnTo>
                    <a:lnTo>
                      <a:pt x="21" y="71"/>
                    </a:lnTo>
                    <a:lnTo>
                      <a:pt x="21" y="142"/>
                    </a:lnTo>
                    <a:lnTo>
                      <a:pt x="0" y="142"/>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80" name="Freeform 1168"/>
              <p:cNvSpPr>
                <a:spLocks noChangeAspect="1"/>
              </p:cNvSpPr>
              <p:nvPr/>
            </p:nvSpPr>
            <p:spPr bwMode="auto">
              <a:xfrm>
                <a:off x="3323" y="1554"/>
                <a:ext cx="8" cy="35"/>
              </a:xfrm>
              <a:custGeom>
                <a:avLst/>
                <a:gdLst>
                  <a:gd name="T0" fmla="*/ 0 w 22"/>
                  <a:gd name="T1" fmla="*/ 107 h 107"/>
                  <a:gd name="T2" fmla="*/ 0 w 22"/>
                  <a:gd name="T3" fmla="*/ 0 h 107"/>
                  <a:gd name="T4" fmla="*/ 22 w 22"/>
                  <a:gd name="T5" fmla="*/ 72 h 107"/>
                  <a:gd name="T6" fmla="*/ 22 w 22"/>
                  <a:gd name="T7" fmla="*/ 107 h 107"/>
                  <a:gd name="T8" fmla="*/ 0 w 22"/>
                  <a:gd name="T9" fmla="*/ 107 h 107"/>
                </a:gdLst>
                <a:ahLst/>
                <a:cxnLst>
                  <a:cxn ang="0">
                    <a:pos x="T0" y="T1"/>
                  </a:cxn>
                  <a:cxn ang="0">
                    <a:pos x="T2" y="T3"/>
                  </a:cxn>
                  <a:cxn ang="0">
                    <a:pos x="T4" y="T5"/>
                  </a:cxn>
                  <a:cxn ang="0">
                    <a:pos x="T6" y="T7"/>
                  </a:cxn>
                  <a:cxn ang="0">
                    <a:pos x="T8" y="T9"/>
                  </a:cxn>
                </a:cxnLst>
                <a:rect l="0" t="0" r="r" b="b"/>
                <a:pathLst>
                  <a:path w="22" h="107">
                    <a:moveTo>
                      <a:pt x="0" y="107"/>
                    </a:moveTo>
                    <a:lnTo>
                      <a:pt x="0" y="0"/>
                    </a:lnTo>
                    <a:lnTo>
                      <a:pt x="22" y="72"/>
                    </a:lnTo>
                    <a:lnTo>
                      <a:pt x="22" y="107"/>
                    </a:lnTo>
                    <a:lnTo>
                      <a:pt x="0" y="107"/>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81" name="Freeform 1169"/>
              <p:cNvSpPr>
                <a:spLocks noChangeAspect="1"/>
              </p:cNvSpPr>
              <p:nvPr/>
            </p:nvSpPr>
            <p:spPr bwMode="auto">
              <a:xfrm>
                <a:off x="3327" y="1566"/>
                <a:ext cx="7" cy="23"/>
              </a:xfrm>
              <a:custGeom>
                <a:avLst/>
                <a:gdLst>
                  <a:gd name="T0" fmla="*/ 0 w 21"/>
                  <a:gd name="T1" fmla="*/ 71 h 71"/>
                  <a:gd name="T2" fmla="*/ 0 w 21"/>
                  <a:gd name="T3" fmla="*/ 0 h 71"/>
                  <a:gd name="T4" fmla="*/ 21 w 21"/>
                  <a:gd name="T5" fmla="*/ 71 h 71"/>
                  <a:gd name="T6" fmla="*/ 0 w 21"/>
                  <a:gd name="T7" fmla="*/ 71 h 71"/>
                </a:gdLst>
                <a:ahLst/>
                <a:cxnLst>
                  <a:cxn ang="0">
                    <a:pos x="T0" y="T1"/>
                  </a:cxn>
                  <a:cxn ang="0">
                    <a:pos x="T2" y="T3"/>
                  </a:cxn>
                  <a:cxn ang="0">
                    <a:pos x="T4" y="T5"/>
                  </a:cxn>
                  <a:cxn ang="0">
                    <a:pos x="T6" y="T7"/>
                  </a:cxn>
                </a:cxnLst>
                <a:rect l="0" t="0" r="r" b="b"/>
                <a:pathLst>
                  <a:path w="21" h="71">
                    <a:moveTo>
                      <a:pt x="0" y="71"/>
                    </a:moveTo>
                    <a:lnTo>
                      <a:pt x="0" y="0"/>
                    </a:lnTo>
                    <a:lnTo>
                      <a:pt x="21" y="71"/>
                    </a:lnTo>
                    <a:lnTo>
                      <a:pt x="0" y="71"/>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82" name="Freeform 1170"/>
              <p:cNvSpPr>
                <a:spLocks noChangeAspect="1"/>
              </p:cNvSpPr>
              <p:nvPr/>
            </p:nvSpPr>
            <p:spPr bwMode="auto">
              <a:xfrm>
                <a:off x="3331" y="1578"/>
                <a:ext cx="3" cy="12"/>
              </a:xfrm>
              <a:custGeom>
                <a:avLst/>
                <a:gdLst>
                  <a:gd name="T0" fmla="*/ 0 w 10"/>
                  <a:gd name="T1" fmla="*/ 35 h 35"/>
                  <a:gd name="T2" fmla="*/ 0 w 10"/>
                  <a:gd name="T3" fmla="*/ 0 h 35"/>
                  <a:gd name="T4" fmla="*/ 10 w 10"/>
                  <a:gd name="T5" fmla="*/ 35 h 35"/>
                  <a:gd name="T6" fmla="*/ 0 w 10"/>
                  <a:gd name="T7" fmla="*/ 35 h 35"/>
                </a:gdLst>
                <a:ahLst/>
                <a:cxnLst>
                  <a:cxn ang="0">
                    <a:pos x="T0" y="T1"/>
                  </a:cxn>
                  <a:cxn ang="0">
                    <a:pos x="T2" y="T3"/>
                  </a:cxn>
                  <a:cxn ang="0">
                    <a:pos x="T4" y="T5"/>
                  </a:cxn>
                  <a:cxn ang="0">
                    <a:pos x="T6" y="T7"/>
                  </a:cxn>
                </a:cxnLst>
                <a:rect l="0" t="0" r="r" b="b"/>
                <a:pathLst>
                  <a:path w="10" h="35">
                    <a:moveTo>
                      <a:pt x="0" y="35"/>
                    </a:moveTo>
                    <a:lnTo>
                      <a:pt x="0" y="0"/>
                    </a:lnTo>
                    <a:lnTo>
                      <a:pt x="10" y="35"/>
                    </a:lnTo>
                    <a:lnTo>
                      <a:pt x="0" y="35"/>
                    </a:lnTo>
                    <a:close/>
                  </a:path>
                </a:pathLst>
              </a:custGeom>
              <a:gradFill rotWithShape="0">
                <a:gsLst>
                  <a:gs pos="0">
                    <a:schemeClr val="hlink"/>
                  </a:gs>
                  <a:gs pos="50000">
                    <a:schemeClr val="hlink">
                      <a:gamma/>
                      <a:tint val="31373"/>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683" name="Freeform 1171"/>
              <p:cNvSpPr>
                <a:spLocks noChangeAspect="1"/>
              </p:cNvSpPr>
              <p:nvPr/>
            </p:nvSpPr>
            <p:spPr bwMode="auto">
              <a:xfrm>
                <a:off x="3159" y="1531"/>
                <a:ext cx="175" cy="59"/>
              </a:xfrm>
              <a:custGeom>
                <a:avLst/>
                <a:gdLst>
                  <a:gd name="T0" fmla="*/ 0 w 525"/>
                  <a:gd name="T1" fmla="*/ 178 h 178"/>
                  <a:gd name="T2" fmla="*/ 39 w 525"/>
                  <a:gd name="T3" fmla="*/ 0 h 178"/>
                  <a:gd name="T4" fmla="*/ 472 w 525"/>
                  <a:gd name="T5" fmla="*/ 0 h 178"/>
                  <a:gd name="T6" fmla="*/ 525 w 525"/>
                  <a:gd name="T7" fmla="*/ 178 h 178"/>
                  <a:gd name="T8" fmla="*/ 0 w 525"/>
                  <a:gd name="T9" fmla="*/ 178 h 178"/>
                </a:gdLst>
                <a:ahLst/>
                <a:cxnLst>
                  <a:cxn ang="0">
                    <a:pos x="T0" y="T1"/>
                  </a:cxn>
                  <a:cxn ang="0">
                    <a:pos x="T2" y="T3"/>
                  </a:cxn>
                  <a:cxn ang="0">
                    <a:pos x="T4" y="T5"/>
                  </a:cxn>
                  <a:cxn ang="0">
                    <a:pos x="T6" y="T7"/>
                  </a:cxn>
                  <a:cxn ang="0">
                    <a:pos x="T8" y="T9"/>
                  </a:cxn>
                </a:cxnLst>
                <a:rect l="0" t="0" r="r" b="b"/>
                <a:pathLst>
                  <a:path w="525" h="178">
                    <a:moveTo>
                      <a:pt x="0" y="178"/>
                    </a:moveTo>
                    <a:lnTo>
                      <a:pt x="39" y="0"/>
                    </a:lnTo>
                    <a:lnTo>
                      <a:pt x="472" y="0"/>
                    </a:lnTo>
                    <a:lnTo>
                      <a:pt x="525" y="178"/>
                    </a:lnTo>
                    <a:lnTo>
                      <a:pt x="0" y="178"/>
                    </a:lnTo>
                  </a:path>
                </a:pathLst>
              </a:custGeom>
              <a:gradFill rotWithShape="0">
                <a:gsLst>
                  <a:gs pos="0">
                    <a:schemeClr val="hlink"/>
                  </a:gs>
                  <a:gs pos="50000">
                    <a:schemeClr val="hlink">
                      <a:gamma/>
                      <a:tint val="31373"/>
                      <a:invGamma/>
                    </a:schemeClr>
                  </a:gs>
                  <a:gs pos="100000">
                    <a:schemeClr val="hlink"/>
                  </a:gs>
                </a:gsLst>
                <a:lin ang="0" scaled="1"/>
              </a:gradFill>
              <a:ln w="1588">
                <a:solidFill>
                  <a:srgbClr val="1F1A17"/>
                </a:solidFill>
                <a:prstDash val="solid"/>
                <a:round/>
                <a:headEnd/>
                <a:tailEnd/>
              </a:ln>
            </p:spPr>
            <p:txBody>
              <a:bodyPr/>
              <a:lstStyle/>
              <a:p>
                <a:pPr>
                  <a:defRPr/>
                </a:pPr>
                <a:endParaRPr lang="en-US"/>
              </a:p>
            </p:txBody>
          </p:sp>
        </p:grpSp>
        <p:grpSp>
          <p:nvGrpSpPr>
            <p:cNvPr id="386163" name="Group 1172"/>
            <p:cNvGrpSpPr>
              <a:grpSpLocks noChangeAspect="1"/>
            </p:cNvGrpSpPr>
            <p:nvPr/>
          </p:nvGrpSpPr>
          <p:grpSpPr bwMode="auto">
            <a:xfrm>
              <a:off x="3824" y="2230"/>
              <a:ext cx="322" cy="620"/>
              <a:chOff x="4057" y="2065"/>
              <a:chExt cx="375" cy="732"/>
            </a:xfrm>
          </p:grpSpPr>
          <p:grpSp>
            <p:nvGrpSpPr>
              <p:cNvPr id="389946" name="Group 1173"/>
              <p:cNvGrpSpPr>
                <a:grpSpLocks noChangeAspect="1"/>
              </p:cNvGrpSpPr>
              <p:nvPr/>
            </p:nvGrpSpPr>
            <p:grpSpPr bwMode="auto">
              <a:xfrm>
                <a:off x="4113" y="2668"/>
                <a:ext cx="268" cy="129"/>
                <a:chOff x="4113" y="2668"/>
                <a:chExt cx="268" cy="86"/>
              </a:xfrm>
            </p:grpSpPr>
            <p:sp>
              <p:nvSpPr>
                <p:cNvPr id="65686" name="Rectangle 1174"/>
                <p:cNvSpPr>
                  <a:spLocks noChangeAspect="1" noChangeArrowheads="1"/>
                </p:cNvSpPr>
                <p:nvPr/>
              </p:nvSpPr>
              <p:spPr bwMode="auto">
                <a:xfrm>
                  <a:off x="4113" y="2668"/>
                  <a:ext cx="6"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87" name="Rectangle 1175"/>
                <p:cNvSpPr>
                  <a:spLocks noChangeAspect="1" noChangeArrowheads="1"/>
                </p:cNvSpPr>
                <p:nvPr/>
              </p:nvSpPr>
              <p:spPr bwMode="auto">
                <a:xfrm>
                  <a:off x="4113"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88" name="Rectangle 1176"/>
                <p:cNvSpPr>
                  <a:spLocks noChangeAspect="1" noChangeArrowheads="1"/>
                </p:cNvSpPr>
                <p:nvPr/>
              </p:nvSpPr>
              <p:spPr bwMode="auto">
                <a:xfrm>
                  <a:off x="4119"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89" name="Rectangle 1177"/>
                <p:cNvSpPr>
                  <a:spLocks noChangeAspect="1" noChangeArrowheads="1"/>
                </p:cNvSpPr>
                <p:nvPr/>
              </p:nvSpPr>
              <p:spPr bwMode="auto">
                <a:xfrm>
                  <a:off x="4123"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90" name="Rectangle 1178"/>
                <p:cNvSpPr>
                  <a:spLocks noChangeAspect="1" noChangeArrowheads="1"/>
                </p:cNvSpPr>
                <p:nvPr/>
              </p:nvSpPr>
              <p:spPr bwMode="auto">
                <a:xfrm>
                  <a:off x="4129" y="2668"/>
                  <a:ext cx="8"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91" name="Rectangle 1179"/>
                <p:cNvSpPr>
                  <a:spLocks noChangeAspect="1" noChangeArrowheads="1"/>
                </p:cNvSpPr>
                <p:nvPr/>
              </p:nvSpPr>
              <p:spPr bwMode="auto">
                <a:xfrm>
                  <a:off x="4135" y="2668"/>
                  <a:ext cx="9"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92" name="Rectangle 1180"/>
                <p:cNvSpPr>
                  <a:spLocks noChangeAspect="1" noChangeArrowheads="1"/>
                </p:cNvSpPr>
                <p:nvPr/>
              </p:nvSpPr>
              <p:spPr bwMode="auto">
                <a:xfrm>
                  <a:off x="4140"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93" name="Rectangle 1181"/>
                <p:cNvSpPr>
                  <a:spLocks noChangeAspect="1" noChangeArrowheads="1"/>
                </p:cNvSpPr>
                <p:nvPr/>
              </p:nvSpPr>
              <p:spPr bwMode="auto">
                <a:xfrm>
                  <a:off x="4144"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94" name="Rectangle 1182"/>
                <p:cNvSpPr>
                  <a:spLocks noChangeAspect="1" noChangeArrowheads="1"/>
                </p:cNvSpPr>
                <p:nvPr/>
              </p:nvSpPr>
              <p:spPr bwMode="auto">
                <a:xfrm>
                  <a:off x="4151" y="2668"/>
                  <a:ext cx="7"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95" name="Rectangle 1183"/>
                <p:cNvSpPr>
                  <a:spLocks noChangeAspect="1" noChangeArrowheads="1"/>
                </p:cNvSpPr>
                <p:nvPr/>
              </p:nvSpPr>
              <p:spPr bwMode="auto">
                <a:xfrm>
                  <a:off x="4156" y="2668"/>
                  <a:ext cx="9"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96" name="Rectangle 1184"/>
                <p:cNvSpPr>
                  <a:spLocks noChangeAspect="1" noChangeArrowheads="1"/>
                </p:cNvSpPr>
                <p:nvPr/>
              </p:nvSpPr>
              <p:spPr bwMode="auto">
                <a:xfrm>
                  <a:off x="4162"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97" name="Rectangle 1185"/>
                <p:cNvSpPr>
                  <a:spLocks noChangeAspect="1" noChangeArrowheads="1"/>
                </p:cNvSpPr>
                <p:nvPr/>
              </p:nvSpPr>
              <p:spPr bwMode="auto">
                <a:xfrm>
                  <a:off x="4165" y="2668"/>
                  <a:ext cx="13"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98" name="Rectangle 1186"/>
                <p:cNvSpPr>
                  <a:spLocks noChangeAspect="1" noChangeArrowheads="1"/>
                </p:cNvSpPr>
                <p:nvPr/>
              </p:nvSpPr>
              <p:spPr bwMode="auto">
                <a:xfrm>
                  <a:off x="4172" y="2668"/>
                  <a:ext cx="8"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699" name="Rectangle 1187"/>
                <p:cNvSpPr>
                  <a:spLocks noChangeAspect="1" noChangeArrowheads="1"/>
                </p:cNvSpPr>
                <p:nvPr/>
              </p:nvSpPr>
              <p:spPr bwMode="auto">
                <a:xfrm>
                  <a:off x="4178" y="2668"/>
                  <a:ext cx="9"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00" name="Rectangle 1188"/>
                <p:cNvSpPr>
                  <a:spLocks noChangeAspect="1" noChangeArrowheads="1"/>
                </p:cNvSpPr>
                <p:nvPr/>
              </p:nvSpPr>
              <p:spPr bwMode="auto">
                <a:xfrm>
                  <a:off x="4183"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01" name="Rectangle 1189"/>
                <p:cNvSpPr>
                  <a:spLocks noChangeAspect="1" noChangeArrowheads="1"/>
                </p:cNvSpPr>
                <p:nvPr/>
              </p:nvSpPr>
              <p:spPr bwMode="auto">
                <a:xfrm>
                  <a:off x="4187"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02" name="Rectangle 1190"/>
                <p:cNvSpPr>
                  <a:spLocks noChangeAspect="1" noChangeArrowheads="1"/>
                </p:cNvSpPr>
                <p:nvPr/>
              </p:nvSpPr>
              <p:spPr bwMode="auto">
                <a:xfrm>
                  <a:off x="4194" y="2668"/>
                  <a:ext cx="7"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03" name="Rectangle 1191"/>
                <p:cNvSpPr>
                  <a:spLocks noChangeAspect="1" noChangeArrowheads="1"/>
                </p:cNvSpPr>
                <p:nvPr/>
              </p:nvSpPr>
              <p:spPr bwMode="auto">
                <a:xfrm>
                  <a:off x="4199" y="2668"/>
                  <a:ext cx="9"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04" name="Rectangle 1192"/>
                <p:cNvSpPr>
                  <a:spLocks noChangeAspect="1" noChangeArrowheads="1"/>
                </p:cNvSpPr>
                <p:nvPr/>
              </p:nvSpPr>
              <p:spPr bwMode="auto">
                <a:xfrm>
                  <a:off x="4204"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05" name="Rectangle 1193"/>
                <p:cNvSpPr>
                  <a:spLocks noChangeAspect="1" noChangeArrowheads="1"/>
                </p:cNvSpPr>
                <p:nvPr/>
              </p:nvSpPr>
              <p:spPr bwMode="auto">
                <a:xfrm>
                  <a:off x="4210" y="2668"/>
                  <a:ext cx="13"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06" name="Rectangle 1194"/>
                <p:cNvSpPr>
                  <a:spLocks noChangeAspect="1" noChangeArrowheads="1"/>
                </p:cNvSpPr>
                <p:nvPr/>
              </p:nvSpPr>
              <p:spPr bwMode="auto">
                <a:xfrm>
                  <a:off x="4215" y="2668"/>
                  <a:ext cx="7"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07" name="Rectangle 1195"/>
                <p:cNvSpPr>
                  <a:spLocks noChangeAspect="1" noChangeArrowheads="1"/>
                </p:cNvSpPr>
                <p:nvPr/>
              </p:nvSpPr>
              <p:spPr bwMode="auto">
                <a:xfrm>
                  <a:off x="4221" y="2668"/>
                  <a:ext cx="8"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08" name="Rectangle 1196"/>
                <p:cNvSpPr>
                  <a:spLocks noChangeAspect="1" noChangeArrowheads="1"/>
                </p:cNvSpPr>
                <p:nvPr/>
              </p:nvSpPr>
              <p:spPr bwMode="auto">
                <a:xfrm>
                  <a:off x="4226"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09" name="Rectangle 1197"/>
                <p:cNvSpPr>
                  <a:spLocks noChangeAspect="1" noChangeArrowheads="1"/>
                </p:cNvSpPr>
                <p:nvPr/>
              </p:nvSpPr>
              <p:spPr bwMode="auto">
                <a:xfrm>
                  <a:off x="4231" y="2668"/>
                  <a:ext cx="13"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10" name="Rectangle 1198"/>
                <p:cNvSpPr>
                  <a:spLocks noChangeAspect="1" noChangeArrowheads="1"/>
                </p:cNvSpPr>
                <p:nvPr/>
              </p:nvSpPr>
              <p:spPr bwMode="auto">
                <a:xfrm>
                  <a:off x="4236" y="2668"/>
                  <a:ext cx="7"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11" name="Rectangle 1199"/>
                <p:cNvSpPr>
                  <a:spLocks noChangeAspect="1" noChangeArrowheads="1"/>
                </p:cNvSpPr>
                <p:nvPr/>
              </p:nvSpPr>
              <p:spPr bwMode="auto">
                <a:xfrm>
                  <a:off x="4242" y="2668"/>
                  <a:ext cx="8"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12" name="Rectangle 1200"/>
                <p:cNvSpPr>
                  <a:spLocks noChangeAspect="1" noChangeArrowheads="1"/>
                </p:cNvSpPr>
                <p:nvPr/>
              </p:nvSpPr>
              <p:spPr bwMode="auto">
                <a:xfrm>
                  <a:off x="4247"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13" name="Rectangle 1201"/>
                <p:cNvSpPr>
                  <a:spLocks noChangeAspect="1" noChangeArrowheads="1"/>
                </p:cNvSpPr>
                <p:nvPr/>
              </p:nvSpPr>
              <p:spPr bwMode="auto">
                <a:xfrm>
                  <a:off x="4253"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14" name="Rectangle 1202"/>
                <p:cNvSpPr>
                  <a:spLocks noChangeAspect="1" noChangeArrowheads="1"/>
                </p:cNvSpPr>
                <p:nvPr/>
              </p:nvSpPr>
              <p:spPr bwMode="auto">
                <a:xfrm>
                  <a:off x="4257"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15" name="Rectangle 1203"/>
                <p:cNvSpPr>
                  <a:spLocks noChangeAspect="1" noChangeArrowheads="1"/>
                </p:cNvSpPr>
                <p:nvPr/>
              </p:nvSpPr>
              <p:spPr bwMode="auto">
                <a:xfrm>
                  <a:off x="4264" y="2668"/>
                  <a:ext cx="7"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16" name="Rectangle 1204"/>
                <p:cNvSpPr>
                  <a:spLocks noChangeAspect="1" noChangeArrowheads="1"/>
                </p:cNvSpPr>
                <p:nvPr/>
              </p:nvSpPr>
              <p:spPr bwMode="auto">
                <a:xfrm>
                  <a:off x="4269" y="2668"/>
                  <a:ext cx="9"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17" name="Rectangle 1205"/>
                <p:cNvSpPr>
                  <a:spLocks noChangeAspect="1" noChangeArrowheads="1"/>
                </p:cNvSpPr>
                <p:nvPr/>
              </p:nvSpPr>
              <p:spPr bwMode="auto">
                <a:xfrm>
                  <a:off x="4274"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18" name="Rectangle 1206"/>
                <p:cNvSpPr>
                  <a:spLocks noChangeAspect="1" noChangeArrowheads="1"/>
                </p:cNvSpPr>
                <p:nvPr/>
              </p:nvSpPr>
              <p:spPr bwMode="auto">
                <a:xfrm>
                  <a:off x="4278" y="2668"/>
                  <a:ext cx="7"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19" name="Rectangle 1207"/>
                <p:cNvSpPr>
                  <a:spLocks noChangeAspect="1" noChangeArrowheads="1"/>
                </p:cNvSpPr>
                <p:nvPr/>
              </p:nvSpPr>
              <p:spPr bwMode="auto">
                <a:xfrm>
                  <a:off x="4285" y="2668"/>
                  <a:ext cx="7"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20" name="Rectangle 1208"/>
                <p:cNvSpPr>
                  <a:spLocks noChangeAspect="1" noChangeArrowheads="1"/>
                </p:cNvSpPr>
                <p:nvPr/>
              </p:nvSpPr>
              <p:spPr bwMode="auto">
                <a:xfrm>
                  <a:off x="4290" y="2668"/>
                  <a:ext cx="9"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21" name="Rectangle 1209"/>
                <p:cNvSpPr>
                  <a:spLocks noChangeAspect="1" noChangeArrowheads="1"/>
                </p:cNvSpPr>
                <p:nvPr/>
              </p:nvSpPr>
              <p:spPr bwMode="auto">
                <a:xfrm>
                  <a:off x="4295"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22" name="Rectangle 1210"/>
                <p:cNvSpPr>
                  <a:spLocks noChangeAspect="1" noChangeArrowheads="1"/>
                </p:cNvSpPr>
                <p:nvPr/>
              </p:nvSpPr>
              <p:spPr bwMode="auto">
                <a:xfrm>
                  <a:off x="4299" y="2668"/>
                  <a:ext cx="13"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23" name="Rectangle 1211"/>
                <p:cNvSpPr>
                  <a:spLocks noChangeAspect="1" noChangeArrowheads="1"/>
                </p:cNvSpPr>
                <p:nvPr/>
              </p:nvSpPr>
              <p:spPr bwMode="auto">
                <a:xfrm>
                  <a:off x="4306" y="2668"/>
                  <a:ext cx="8"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24" name="Rectangle 1212"/>
                <p:cNvSpPr>
                  <a:spLocks noChangeAspect="1" noChangeArrowheads="1"/>
                </p:cNvSpPr>
                <p:nvPr/>
              </p:nvSpPr>
              <p:spPr bwMode="auto">
                <a:xfrm>
                  <a:off x="4312" y="2668"/>
                  <a:ext cx="9"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25" name="Rectangle 1213"/>
                <p:cNvSpPr>
                  <a:spLocks noChangeAspect="1" noChangeArrowheads="1"/>
                </p:cNvSpPr>
                <p:nvPr/>
              </p:nvSpPr>
              <p:spPr bwMode="auto">
                <a:xfrm>
                  <a:off x="4317"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26" name="Rectangle 1214"/>
                <p:cNvSpPr>
                  <a:spLocks noChangeAspect="1" noChangeArrowheads="1"/>
                </p:cNvSpPr>
                <p:nvPr/>
              </p:nvSpPr>
              <p:spPr bwMode="auto">
                <a:xfrm>
                  <a:off x="4321"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27" name="Rectangle 1215"/>
                <p:cNvSpPr>
                  <a:spLocks noChangeAspect="1" noChangeArrowheads="1"/>
                </p:cNvSpPr>
                <p:nvPr/>
              </p:nvSpPr>
              <p:spPr bwMode="auto">
                <a:xfrm>
                  <a:off x="4328" y="2668"/>
                  <a:ext cx="7"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28" name="Rectangle 1216"/>
                <p:cNvSpPr>
                  <a:spLocks noChangeAspect="1" noChangeArrowheads="1"/>
                </p:cNvSpPr>
                <p:nvPr/>
              </p:nvSpPr>
              <p:spPr bwMode="auto">
                <a:xfrm>
                  <a:off x="4333" y="2668"/>
                  <a:ext cx="9"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29" name="Rectangle 1217"/>
                <p:cNvSpPr>
                  <a:spLocks noChangeAspect="1" noChangeArrowheads="1"/>
                </p:cNvSpPr>
                <p:nvPr/>
              </p:nvSpPr>
              <p:spPr bwMode="auto">
                <a:xfrm>
                  <a:off x="4338"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30" name="Rectangle 1218"/>
                <p:cNvSpPr>
                  <a:spLocks noChangeAspect="1" noChangeArrowheads="1"/>
                </p:cNvSpPr>
                <p:nvPr/>
              </p:nvSpPr>
              <p:spPr bwMode="auto">
                <a:xfrm>
                  <a:off x="4342" y="2668"/>
                  <a:ext cx="7"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31" name="Rectangle 1219"/>
                <p:cNvSpPr>
                  <a:spLocks noChangeAspect="1" noChangeArrowheads="1"/>
                </p:cNvSpPr>
                <p:nvPr/>
              </p:nvSpPr>
              <p:spPr bwMode="auto">
                <a:xfrm>
                  <a:off x="4349" y="2668"/>
                  <a:ext cx="7"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32" name="Rectangle 1220"/>
                <p:cNvSpPr>
                  <a:spLocks noChangeAspect="1" noChangeArrowheads="1"/>
                </p:cNvSpPr>
                <p:nvPr/>
              </p:nvSpPr>
              <p:spPr bwMode="auto">
                <a:xfrm>
                  <a:off x="4354" y="2668"/>
                  <a:ext cx="9"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33" name="Rectangle 1221"/>
                <p:cNvSpPr>
                  <a:spLocks noChangeAspect="1" noChangeArrowheads="1"/>
                </p:cNvSpPr>
                <p:nvPr/>
              </p:nvSpPr>
              <p:spPr bwMode="auto">
                <a:xfrm>
                  <a:off x="4360"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34" name="Rectangle 1222"/>
                <p:cNvSpPr>
                  <a:spLocks noChangeAspect="1" noChangeArrowheads="1"/>
                </p:cNvSpPr>
                <p:nvPr/>
              </p:nvSpPr>
              <p:spPr bwMode="auto">
                <a:xfrm>
                  <a:off x="4363" y="2668"/>
                  <a:ext cx="13"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35" name="Rectangle 1223"/>
                <p:cNvSpPr>
                  <a:spLocks noChangeAspect="1" noChangeArrowheads="1"/>
                </p:cNvSpPr>
                <p:nvPr/>
              </p:nvSpPr>
              <p:spPr bwMode="auto">
                <a:xfrm>
                  <a:off x="4370" y="2668"/>
                  <a:ext cx="7"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36" name="Rectangle 1224"/>
                <p:cNvSpPr>
                  <a:spLocks noChangeAspect="1" noChangeArrowheads="1"/>
                </p:cNvSpPr>
                <p:nvPr/>
              </p:nvSpPr>
              <p:spPr bwMode="auto">
                <a:xfrm>
                  <a:off x="4376" y="2668"/>
                  <a:ext cx="5"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37" name="Rectangle 1225"/>
                <p:cNvSpPr>
                  <a:spLocks noChangeAspect="1" noChangeArrowheads="1"/>
                </p:cNvSpPr>
                <p:nvPr/>
              </p:nvSpPr>
              <p:spPr bwMode="auto">
                <a:xfrm>
                  <a:off x="4113" y="2668"/>
                  <a:ext cx="268" cy="86"/>
                </a:xfrm>
                <a:prstGeom prst="rect">
                  <a:avLst/>
                </a:prstGeom>
                <a:gradFill rotWithShape="0">
                  <a:gsLst>
                    <a:gs pos="0">
                      <a:schemeClr val="hlink"/>
                    </a:gs>
                    <a:gs pos="50000">
                      <a:schemeClr val="hlink">
                        <a:gamma/>
                        <a:tint val="40000"/>
                        <a:invGamma/>
                      </a:schemeClr>
                    </a:gs>
                    <a:gs pos="100000">
                      <a:schemeClr val="hlink"/>
                    </a:gs>
                  </a:gsLst>
                  <a:lin ang="0" scaled="1"/>
                </a:gradFill>
                <a:ln w="1588">
                  <a:solidFill>
                    <a:srgbClr val="1F1A17"/>
                  </a:solidFill>
                  <a:miter lim="800000"/>
                  <a:headEnd/>
                  <a:tailEnd/>
                </a:ln>
              </p:spPr>
              <p:txBody>
                <a:bodyPr/>
                <a:lstStyle/>
                <a:p>
                  <a:pPr>
                    <a:defRPr/>
                  </a:pPr>
                  <a:endParaRPr lang="en-US"/>
                </a:p>
              </p:txBody>
            </p:sp>
          </p:grpSp>
          <p:grpSp>
            <p:nvGrpSpPr>
              <p:cNvPr id="389947" name="Group 1226"/>
              <p:cNvGrpSpPr>
                <a:grpSpLocks noChangeAspect="1"/>
              </p:cNvGrpSpPr>
              <p:nvPr/>
            </p:nvGrpSpPr>
            <p:grpSpPr bwMode="auto">
              <a:xfrm>
                <a:off x="4057" y="2065"/>
                <a:ext cx="375" cy="493"/>
                <a:chOff x="4057" y="2065"/>
                <a:chExt cx="375" cy="529"/>
              </a:xfrm>
            </p:grpSpPr>
            <p:sp>
              <p:nvSpPr>
                <p:cNvPr id="65739" name="Rectangle 1227"/>
                <p:cNvSpPr>
                  <a:spLocks noChangeAspect="1" noChangeArrowheads="1"/>
                </p:cNvSpPr>
                <p:nvPr/>
              </p:nvSpPr>
              <p:spPr bwMode="auto">
                <a:xfrm>
                  <a:off x="4057" y="2065"/>
                  <a:ext cx="8"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40" name="Rectangle 1228"/>
                <p:cNvSpPr>
                  <a:spLocks noChangeAspect="1" noChangeArrowheads="1"/>
                </p:cNvSpPr>
                <p:nvPr/>
              </p:nvSpPr>
              <p:spPr bwMode="auto">
                <a:xfrm>
                  <a:off x="4057"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41" name="Rectangle 1229"/>
                <p:cNvSpPr>
                  <a:spLocks noChangeAspect="1" noChangeArrowheads="1"/>
                </p:cNvSpPr>
                <p:nvPr/>
              </p:nvSpPr>
              <p:spPr bwMode="auto">
                <a:xfrm>
                  <a:off x="4065"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42" name="Rectangle 1230"/>
                <p:cNvSpPr>
                  <a:spLocks noChangeAspect="1" noChangeArrowheads="1"/>
                </p:cNvSpPr>
                <p:nvPr/>
              </p:nvSpPr>
              <p:spPr bwMode="auto">
                <a:xfrm>
                  <a:off x="4072"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43" name="Rectangle 1231"/>
                <p:cNvSpPr>
                  <a:spLocks noChangeAspect="1" noChangeArrowheads="1"/>
                </p:cNvSpPr>
                <p:nvPr/>
              </p:nvSpPr>
              <p:spPr bwMode="auto">
                <a:xfrm>
                  <a:off x="4080"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44" name="Rectangle 1232"/>
                <p:cNvSpPr>
                  <a:spLocks noChangeAspect="1" noChangeArrowheads="1"/>
                </p:cNvSpPr>
                <p:nvPr/>
              </p:nvSpPr>
              <p:spPr bwMode="auto">
                <a:xfrm>
                  <a:off x="4087"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45" name="Rectangle 1233"/>
                <p:cNvSpPr>
                  <a:spLocks noChangeAspect="1" noChangeArrowheads="1"/>
                </p:cNvSpPr>
                <p:nvPr/>
              </p:nvSpPr>
              <p:spPr bwMode="auto">
                <a:xfrm>
                  <a:off x="4095"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46" name="Rectangle 1234"/>
                <p:cNvSpPr>
                  <a:spLocks noChangeAspect="1" noChangeArrowheads="1"/>
                </p:cNvSpPr>
                <p:nvPr/>
              </p:nvSpPr>
              <p:spPr bwMode="auto">
                <a:xfrm>
                  <a:off x="4102"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47" name="Rectangle 1235"/>
                <p:cNvSpPr>
                  <a:spLocks noChangeAspect="1" noChangeArrowheads="1"/>
                </p:cNvSpPr>
                <p:nvPr/>
              </p:nvSpPr>
              <p:spPr bwMode="auto">
                <a:xfrm>
                  <a:off x="4111" y="2065"/>
                  <a:ext cx="14"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48" name="Rectangle 1236"/>
                <p:cNvSpPr>
                  <a:spLocks noChangeAspect="1" noChangeArrowheads="1"/>
                </p:cNvSpPr>
                <p:nvPr/>
              </p:nvSpPr>
              <p:spPr bwMode="auto">
                <a:xfrm>
                  <a:off x="4118" y="2065"/>
                  <a:ext cx="14"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49" name="Rectangle 1237"/>
                <p:cNvSpPr>
                  <a:spLocks noChangeAspect="1" noChangeArrowheads="1"/>
                </p:cNvSpPr>
                <p:nvPr/>
              </p:nvSpPr>
              <p:spPr bwMode="auto">
                <a:xfrm>
                  <a:off x="4125"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50" name="Rectangle 1238"/>
                <p:cNvSpPr>
                  <a:spLocks noChangeAspect="1" noChangeArrowheads="1"/>
                </p:cNvSpPr>
                <p:nvPr/>
              </p:nvSpPr>
              <p:spPr bwMode="auto">
                <a:xfrm>
                  <a:off x="4132"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51" name="Rectangle 1239"/>
                <p:cNvSpPr>
                  <a:spLocks noChangeAspect="1" noChangeArrowheads="1"/>
                </p:cNvSpPr>
                <p:nvPr/>
              </p:nvSpPr>
              <p:spPr bwMode="auto">
                <a:xfrm>
                  <a:off x="4140"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52" name="Rectangle 1240"/>
                <p:cNvSpPr>
                  <a:spLocks noChangeAspect="1" noChangeArrowheads="1"/>
                </p:cNvSpPr>
                <p:nvPr/>
              </p:nvSpPr>
              <p:spPr bwMode="auto">
                <a:xfrm>
                  <a:off x="4147"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53" name="Rectangle 1241"/>
                <p:cNvSpPr>
                  <a:spLocks noChangeAspect="1" noChangeArrowheads="1"/>
                </p:cNvSpPr>
                <p:nvPr/>
              </p:nvSpPr>
              <p:spPr bwMode="auto">
                <a:xfrm>
                  <a:off x="4155"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54" name="Rectangle 1242"/>
                <p:cNvSpPr>
                  <a:spLocks noChangeAspect="1" noChangeArrowheads="1"/>
                </p:cNvSpPr>
                <p:nvPr/>
              </p:nvSpPr>
              <p:spPr bwMode="auto">
                <a:xfrm>
                  <a:off x="4162"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55" name="Rectangle 1243"/>
                <p:cNvSpPr>
                  <a:spLocks noChangeAspect="1" noChangeArrowheads="1"/>
                </p:cNvSpPr>
                <p:nvPr/>
              </p:nvSpPr>
              <p:spPr bwMode="auto">
                <a:xfrm>
                  <a:off x="4170"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56" name="Rectangle 1244"/>
                <p:cNvSpPr>
                  <a:spLocks noChangeAspect="1" noChangeArrowheads="1"/>
                </p:cNvSpPr>
                <p:nvPr/>
              </p:nvSpPr>
              <p:spPr bwMode="auto">
                <a:xfrm>
                  <a:off x="4177"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57" name="Rectangle 1245"/>
                <p:cNvSpPr>
                  <a:spLocks noChangeAspect="1" noChangeArrowheads="1"/>
                </p:cNvSpPr>
                <p:nvPr/>
              </p:nvSpPr>
              <p:spPr bwMode="auto">
                <a:xfrm>
                  <a:off x="4185"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58" name="Rectangle 1246"/>
                <p:cNvSpPr>
                  <a:spLocks noChangeAspect="1" noChangeArrowheads="1"/>
                </p:cNvSpPr>
                <p:nvPr/>
              </p:nvSpPr>
              <p:spPr bwMode="auto">
                <a:xfrm>
                  <a:off x="4192"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59" name="Rectangle 1247"/>
                <p:cNvSpPr>
                  <a:spLocks noChangeAspect="1" noChangeArrowheads="1"/>
                </p:cNvSpPr>
                <p:nvPr/>
              </p:nvSpPr>
              <p:spPr bwMode="auto">
                <a:xfrm>
                  <a:off x="4200"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60" name="Rectangle 1248"/>
                <p:cNvSpPr>
                  <a:spLocks noChangeAspect="1" noChangeArrowheads="1"/>
                </p:cNvSpPr>
                <p:nvPr/>
              </p:nvSpPr>
              <p:spPr bwMode="auto">
                <a:xfrm>
                  <a:off x="4207"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61" name="Rectangle 1249"/>
                <p:cNvSpPr>
                  <a:spLocks noChangeAspect="1" noChangeArrowheads="1"/>
                </p:cNvSpPr>
                <p:nvPr/>
              </p:nvSpPr>
              <p:spPr bwMode="auto">
                <a:xfrm>
                  <a:off x="4215" y="2065"/>
                  <a:ext cx="14"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62" name="Rectangle 1250"/>
                <p:cNvSpPr>
                  <a:spLocks noChangeAspect="1" noChangeArrowheads="1"/>
                </p:cNvSpPr>
                <p:nvPr/>
              </p:nvSpPr>
              <p:spPr bwMode="auto">
                <a:xfrm>
                  <a:off x="4222"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63" name="Rectangle 1251"/>
                <p:cNvSpPr>
                  <a:spLocks noChangeAspect="1" noChangeArrowheads="1"/>
                </p:cNvSpPr>
                <p:nvPr/>
              </p:nvSpPr>
              <p:spPr bwMode="auto">
                <a:xfrm>
                  <a:off x="4229"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64" name="Rectangle 1252"/>
                <p:cNvSpPr>
                  <a:spLocks noChangeAspect="1" noChangeArrowheads="1"/>
                </p:cNvSpPr>
                <p:nvPr/>
              </p:nvSpPr>
              <p:spPr bwMode="auto">
                <a:xfrm>
                  <a:off x="4238" y="2065"/>
                  <a:ext cx="14"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65" name="Rectangle 1253"/>
                <p:cNvSpPr>
                  <a:spLocks noChangeAspect="1" noChangeArrowheads="1"/>
                </p:cNvSpPr>
                <p:nvPr/>
              </p:nvSpPr>
              <p:spPr bwMode="auto">
                <a:xfrm>
                  <a:off x="4245"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66" name="Rectangle 1254"/>
                <p:cNvSpPr>
                  <a:spLocks noChangeAspect="1" noChangeArrowheads="1"/>
                </p:cNvSpPr>
                <p:nvPr/>
              </p:nvSpPr>
              <p:spPr bwMode="auto">
                <a:xfrm>
                  <a:off x="4251" y="2065"/>
                  <a:ext cx="14"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67" name="Rectangle 1255"/>
                <p:cNvSpPr>
                  <a:spLocks noChangeAspect="1" noChangeArrowheads="1"/>
                </p:cNvSpPr>
                <p:nvPr/>
              </p:nvSpPr>
              <p:spPr bwMode="auto">
                <a:xfrm>
                  <a:off x="4260"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68" name="Rectangle 1256"/>
                <p:cNvSpPr>
                  <a:spLocks noChangeAspect="1" noChangeArrowheads="1"/>
                </p:cNvSpPr>
                <p:nvPr/>
              </p:nvSpPr>
              <p:spPr bwMode="auto">
                <a:xfrm>
                  <a:off x="4267"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69" name="Rectangle 1257"/>
                <p:cNvSpPr>
                  <a:spLocks noChangeAspect="1" noChangeArrowheads="1"/>
                </p:cNvSpPr>
                <p:nvPr/>
              </p:nvSpPr>
              <p:spPr bwMode="auto">
                <a:xfrm>
                  <a:off x="4275" y="2065"/>
                  <a:ext cx="14"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70" name="Rectangle 1258"/>
                <p:cNvSpPr>
                  <a:spLocks noChangeAspect="1" noChangeArrowheads="1"/>
                </p:cNvSpPr>
                <p:nvPr/>
              </p:nvSpPr>
              <p:spPr bwMode="auto">
                <a:xfrm>
                  <a:off x="4282"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71" name="Rectangle 1259"/>
                <p:cNvSpPr>
                  <a:spLocks noChangeAspect="1" noChangeArrowheads="1"/>
                </p:cNvSpPr>
                <p:nvPr/>
              </p:nvSpPr>
              <p:spPr bwMode="auto">
                <a:xfrm>
                  <a:off x="4289"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72" name="Rectangle 1260"/>
                <p:cNvSpPr>
                  <a:spLocks noChangeAspect="1" noChangeArrowheads="1"/>
                </p:cNvSpPr>
                <p:nvPr/>
              </p:nvSpPr>
              <p:spPr bwMode="auto">
                <a:xfrm>
                  <a:off x="4297"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73" name="Rectangle 1261"/>
                <p:cNvSpPr>
                  <a:spLocks noChangeAspect="1" noChangeArrowheads="1"/>
                </p:cNvSpPr>
                <p:nvPr/>
              </p:nvSpPr>
              <p:spPr bwMode="auto">
                <a:xfrm>
                  <a:off x="4304"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74" name="Rectangle 1262"/>
                <p:cNvSpPr>
                  <a:spLocks noChangeAspect="1" noChangeArrowheads="1"/>
                </p:cNvSpPr>
                <p:nvPr/>
              </p:nvSpPr>
              <p:spPr bwMode="auto">
                <a:xfrm>
                  <a:off x="4312"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75" name="Rectangle 1263"/>
                <p:cNvSpPr>
                  <a:spLocks noChangeAspect="1" noChangeArrowheads="1"/>
                </p:cNvSpPr>
                <p:nvPr/>
              </p:nvSpPr>
              <p:spPr bwMode="auto">
                <a:xfrm>
                  <a:off x="4319"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76" name="Rectangle 1264"/>
                <p:cNvSpPr>
                  <a:spLocks noChangeAspect="1" noChangeArrowheads="1"/>
                </p:cNvSpPr>
                <p:nvPr/>
              </p:nvSpPr>
              <p:spPr bwMode="auto">
                <a:xfrm>
                  <a:off x="4327"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77" name="Rectangle 1265"/>
                <p:cNvSpPr>
                  <a:spLocks noChangeAspect="1" noChangeArrowheads="1"/>
                </p:cNvSpPr>
                <p:nvPr/>
              </p:nvSpPr>
              <p:spPr bwMode="auto">
                <a:xfrm>
                  <a:off x="4334"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78" name="Rectangle 1266"/>
                <p:cNvSpPr>
                  <a:spLocks noChangeAspect="1" noChangeArrowheads="1"/>
                </p:cNvSpPr>
                <p:nvPr/>
              </p:nvSpPr>
              <p:spPr bwMode="auto">
                <a:xfrm>
                  <a:off x="4342"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79" name="Rectangle 1267"/>
                <p:cNvSpPr>
                  <a:spLocks noChangeAspect="1" noChangeArrowheads="1"/>
                </p:cNvSpPr>
                <p:nvPr/>
              </p:nvSpPr>
              <p:spPr bwMode="auto">
                <a:xfrm>
                  <a:off x="4349"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80" name="Rectangle 1268"/>
                <p:cNvSpPr>
                  <a:spLocks noChangeAspect="1" noChangeArrowheads="1"/>
                </p:cNvSpPr>
                <p:nvPr/>
              </p:nvSpPr>
              <p:spPr bwMode="auto">
                <a:xfrm>
                  <a:off x="4357" y="2065"/>
                  <a:ext cx="14"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81" name="Rectangle 1269"/>
                <p:cNvSpPr>
                  <a:spLocks noChangeAspect="1" noChangeArrowheads="1"/>
                </p:cNvSpPr>
                <p:nvPr/>
              </p:nvSpPr>
              <p:spPr bwMode="auto">
                <a:xfrm>
                  <a:off x="4364" y="2065"/>
                  <a:ext cx="14"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82" name="Rectangle 1270"/>
                <p:cNvSpPr>
                  <a:spLocks noChangeAspect="1" noChangeArrowheads="1"/>
                </p:cNvSpPr>
                <p:nvPr/>
              </p:nvSpPr>
              <p:spPr bwMode="auto">
                <a:xfrm>
                  <a:off x="4371"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83" name="Rectangle 1271"/>
                <p:cNvSpPr>
                  <a:spLocks noChangeAspect="1" noChangeArrowheads="1"/>
                </p:cNvSpPr>
                <p:nvPr/>
              </p:nvSpPr>
              <p:spPr bwMode="auto">
                <a:xfrm>
                  <a:off x="4378"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84" name="Rectangle 1272"/>
                <p:cNvSpPr>
                  <a:spLocks noChangeAspect="1" noChangeArrowheads="1"/>
                </p:cNvSpPr>
                <p:nvPr/>
              </p:nvSpPr>
              <p:spPr bwMode="auto">
                <a:xfrm>
                  <a:off x="4387"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85" name="Rectangle 1273"/>
                <p:cNvSpPr>
                  <a:spLocks noChangeAspect="1" noChangeArrowheads="1"/>
                </p:cNvSpPr>
                <p:nvPr/>
              </p:nvSpPr>
              <p:spPr bwMode="auto">
                <a:xfrm>
                  <a:off x="4394"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86" name="Rectangle 1274"/>
                <p:cNvSpPr>
                  <a:spLocks noChangeAspect="1" noChangeArrowheads="1"/>
                </p:cNvSpPr>
                <p:nvPr/>
              </p:nvSpPr>
              <p:spPr bwMode="auto">
                <a:xfrm>
                  <a:off x="4402" y="2065"/>
                  <a:ext cx="14"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87" name="Rectangle 1275"/>
                <p:cNvSpPr>
                  <a:spLocks noChangeAspect="1" noChangeArrowheads="1"/>
                </p:cNvSpPr>
                <p:nvPr/>
              </p:nvSpPr>
              <p:spPr bwMode="auto">
                <a:xfrm>
                  <a:off x="4409"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88" name="Rectangle 1276"/>
                <p:cNvSpPr>
                  <a:spLocks noChangeAspect="1" noChangeArrowheads="1"/>
                </p:cNvSpPr>
                <p:nvPr/>
              </p:nvSpPr>
              <p:spPr bwMode="auto">
                <a:xfrm>
                  <a:off x="4416" y="2065"/>
                  <a:ext cx="16"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89" name="Rectangle 1277"/>
                <p:cNvSpPr>
                  <a:spLocks noChangeAspect="1" noChangeArrowheads="1"/>
                </p:cNvSpPr>
                <p:nvPr/>
              </p:nvSpPr>
              <p:spPr bwMode="auto">
                <a:xfrm>
                  <a:off x="4424" y="2065"/>
                  <a:ext cx="8"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90" name="Rectangle 1278"/>
                <p:cNvSpPr>
                  <a:spLocks noChangeAspect="1" noChangeArrowheads="1"/>
                </p:cNvSpPr>
                <p:nvPr/>
              </p:nvSpPr>
              <p:spPr bwMode="auto">
                <a:xfrm>
                  <a:off x="4057" y="2065"/>
                  <a:ext cx="375" cy="532"/>
                </a:xfrm>
                <a:prstGeom prst="rect">
                  <a:avLst/>
                </a:prstGeom>
                <a:gradFill rotWithShape="0">
                  <a:gsLst>
                    <a:gs pos="0">
                      <a:schemeClr val="hlink"/>
                    </a:gs>
                    <a:gs pos="50000">
                      <a:schemeClr val="hlink">
                        <a:gamma/>
                        <a:tint val="40000"/>
                        <a:invGamma/>
                      </a:schemeClr>
                    </a:gs>
                    <a:gs pos="100000">
                      <a:schemeClr val="hlink"/>
                    </a:gs>
                  </a:gsLst>
                  <a:lin ang="0" scaled="1"/>
                </a:gradFill>
                <a:ln w="1588">
                  <a:solidFill>
                    <a:srgbClr val="1F1A17"/>
                  </a:solidFill>
                  <a:miter lim="800000"/>
                  <a:headEnd/>
                  <a:tailEnd/>
                </a:ln>
              </p:spPr>
              <p:txBody>
                <a:bodyPr/>
                <a:lstStyle/>
                <a:p>
                  <a:pPr>
                    <a:defRPr/>
                  </a:pPr>
                  <a:endParaRPr lang="en-US"/>
                </a:p>
              </p:txBody>
            </p:sp>
          </p:grpSp>
          <p:grpSp>
            <p:nvGrpSpPr>
              <p:cNvPr id="389948" name="Group 1279"/>
              <p:cNvGrpSpPr>
                <a:grpSpLocks noChangeAspect="1"/>
              </p:cNvGrpSpPr>
              <p:nvPr/>
            </p:nvGrpSpPr>
            <p:grpSpPr bwMode="auto">
              <a:xfrm>
                <a:off x="4057" y="2558"/>
                <a:ext cx="375" cy="110"/>
                <a:chOff x="4057" y="2594"/>
                <a:chExt cx="375" cy="74"/>
              </a:xfrm>
            </p:grpSpPr>
            <p:sp>
              <p:nvSpPr>
                <p:cNvPr id="65792" name="Freeform 1280"/>
                <p:cNvSpPr>
                  <a:spLocks noChangeAspect="1"/>
                </p:cNvSpPr>
                <p:nvPr/>
              </p:nvSpPr>
              <p:spPr bwMode="auto">
                <a:xfrm>
                  <a:off x="4080" y="2594"/>
                  <a:ext cx="15" cy="50"/>
                </a:xfrm>
                <a:custGeom>
                  <a:avLst/>
                  <a:gdLst>
                    <a:gd name="T0" fmla="*/ 0 w 46"/>
                    <a:gd name="T1" fmla="*/ 92 h 152"/>
                    <a:gd name="T2" fmla="*/ 0 w 46"/>
                    <a:gd name="T3" fmla="*/ 0 h 152"/>
                    <a:gd name="T4" fmla="*/ 46 w 46"/>
                    <a:gd name="T5" fmla="*/ 0 h 152"/>
                    <a:gd name="T6" fmla="*/ 46 w 46"/>
                    <a:gd name="T7" fmla="*/ 152 h 152"/>
                    <a:gd name="T8" fmla="*/ 0 w 46"/>
                    <a:gd name="T9" fmla="*/ 92 h 152"/>
                  </a:gdLst>
                  <a:ahLst/>
                  <a:cxnLst>
                    <a:cxn ang="0">
                      <a:pos x="T0" y="T1"/>
                    </a:cxn>
                    <a:cxn ang="0">
                      <a:pos x="T2" y="T3"/>
                    </a:cxn>
                    <a:cxn ang="0">
                      <a:pos x="T4" y="T5"/>
                    </a:cxn>
                    <a:cxn ang="0">
                      <a:pos x="T6" y="T7"/>
                    </a:cxn>
                    <a:cxn ang="0">
                      <a:pos x="T8" y="T9"/>
                    </a:cxn>
                  </a:cxnLst>
                  <a:rect l="0" t="0" r="r" b="b"/>
                  <a:pathLst>
                    <a:path w="46" h="152">
                      <a:moveTo>
                        <a:pt x="0" y="92"/>
                      </a:moveTo>
                      <a:lnTo>
                        <a:pt x="0" y="0"/>
                      </a:lnTo>
                      <a:lnTo>
                        <a:pt x="46" y="0"/>
                      </a:lnTo>
                      <a:lnTo>
                        <a:pt x="46" y="152"/>
                      </a:lnTo>
                      <a:lnTo>
                        <a:pt x="0" y="92"/>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793" name="Freeform 1281"/>
                <p:cNvSpPr>
                  <a:spLocks noChangeAspect="1"/>
                </p:cNvSpPr>
                <p:nvPr/>
              </p:nvSpPr>
              <p:spPr bwMode="auto">
                <a:xfrm>
                  <a:off x="4087" y="2594"/>
                  <a:ext cx="15" cy="61"/>
                </a:xfrm>
                <a:custGeom>
                  <a:avLst/>
                  <a:gdLst>
                    <a:gd name="T0" fmla="*/ 0 w 45"/>
                    <a:gd name="T1" fmla="*/ 122 h 183"/>
                    <a:gd name="T2" fmla="*/ 0 w 45"/>
                    <a:gd name="T3" fmla="*/ 0 h 183"/>
                    <a:gd name="T4" fmla="*/ 45 w 45"/>
                    <a:gd name="T5" fmla="*/ 0 h 183"/>
                    <a:gd name="T6" fmla="*/ 45 w 45"/>
                    <a:gd name="T7" fmla="*/ 183 h 183"/>
                    <a:gd name="T8" fmla="*/ 0 w 45"/>
                    <a:gd name="T9" fmla="*/ 122 h 183"/>
                  </a:gdLst>
                  <a:ahLst/>
                  <a:cxnLst>
                    <a:cxn ang="0">
                      <a:pos x="T0" y="T1"/>
                    </a:cxn>
                    <a:cxn ang="0">
                      <a:pos x="T2" y="T3"/>
                    </a:cxn>
                    <a:cxn ang="0">
                      <a:pos x="T4" y="T5"/>
                    </a:cxn>
                    <a:cxn ang="0">
                      <a:pos x="T6" y="T7"/>
                    </a:cxn>
                    <a:cxn ang="0">
                      <a:pos x="T8" y="T9"/>
                    </a:cxn>
                  </a:cxnLst>
                  <a:rect l="0" t="0" r="r" b="b"/>
                  <a:pathLst>
                    <a:path w="45" h="183">
                      <a:moveTo>
                        <a:pt x="0" y="122"/>
                      </a:moveTo>
                      <a:lnTo>
                        <a:pt x="0" y="0"/>
                      </a:lnTo>
                      <a:lnTo>
                        <a:pt x="45" y="0"/>
                      </a:lnTo>
                      <a:lnTo>
                        <a:pt x="45" y="183"/>
                      </a:lnTo>
                      <a:lnTo>
                        <a:pt x="0" y="122"/>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794" name="Freeform 1282"/>
                <p:cNvSpPr>
                  <a:spLocks noChangeAspect="1"/>
                </p:cNvSpPr>
                <p:nvPr/>
              </p:nvSpPr>
              <p:spPr bwMode="auto">
                <a:xfrm>
                  <a:off x="4095" y="2594"/>
                  <a:ext cx="15" cy="71"/>
                </a:xfrm>
                <a:custGeom>
                  <a:avLst/>
                  <a:gdLst>
                    <a:gd name="T0" fmla="*/ 0 w 45"/>
                    <a:gd name="T1" fmla="*/ 152 h 213"/>
                    <a:gd name="T2" fmla="*/ 0 w 45"/>
                    <a:gd name="T3" fmla="*/ 0 h 213"/>
                    <a:gd name="T4" fmla="*/ 45 w 45"/>
                    <a:gd name="T5" fmla="*/ 0 h 213"/>
                    <a:gd name="T6" fmla="*/ 45 w 45"/>
                    <a:gd name="T7" fmla="*/ 213 h 213"/>
                    <a:gd name="T8" fmla="*/ 0 w 45"/>
                    <a:gd name="T9" fmla="*/ 152 h 213"/>
                  </a:gdLst>
                  <a:ahLst/>
                  <a:cxnLst>
                    <a:cxn ang="0">
                      <a:pos x="T0" y="T1"/>
                    </a:cxn>
                    <a:cxn ang="0">
                      <a:pos x="T2" y="T3"/>
                    </a:cxn>
                    <a:cxn ang="0">
                      <a:pos x="T4" y="T5"/>
                    </a:cxn>
                    <a:cxn ang="0">
                      <a:pos x="T6" y="T7"/>
                    </a:cxn>
                    <a:cxn ang="0">
                      <a:pos x="T8" y="T9"/>
                    </a:cxn>
                  </a:cxnLst>
                  <a:rect l="0" t="0" r="r" b="b"/>
                  <a:pathLst>
                    <a:path w="45" h="213">
                      <a:moveTo>
                        <a:pt x="0" y="152"/>
                      </a:moveTo>
                      <a:lnTo>
                        <a:pt x="0" y="0"/>
                      </a:lnTo>
                      <a:lnTo>
                        <a:pt x="45" y="0"/>
                      </a:lnTo>
                      <a:lnTo>
                        <a:pt x="45" y="213"/>
                      </a:lnTo>
                      <a:lnTo>
                        <a:pt x="0" y="152"/>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795" name="Freeform 1283"/>
                <p:cNvSpPr>
                  <a:spLocks noChangeAspect="1"/>
                </p:cNvSpPr>
                <p:nvPr/>
              </p:nvSpPr>
              <p:spPr bwMode="auto">
                <a:xfrm>
                  <a:off x="4102" y="2594"/>
                  <a:ext cx="15" cy="74"/>
                </a:xfrm>
                <a:custGeom>
                  <a:avLst/>
                  <a:gdLst>
                    <a:gd name="T0" fmla="*/ 0 w 45"/>
                    <a:gd name="T1" fmla="*/ 183 h 223"/>
                    <a:gd name="T2" fmla="*/ 0 w 45"/>
                    <a:gd name="T3" fmla="*/ 0 h 223"/>
                    <a:gd name="T4" fmla="*/ 45 w 45"/>
                    <a:gd name="T5" fmla="*/ 0 h 223"/>
                    <a:gd name="T6" fmla="*/ 45 w 45"/>
                    <a:gd name="T7" fmla="*/ 223 h 223"/>
                    <a:gd name="T8" fmla="*/ 30 w 45"/>
                    <a:gd name="T9" fmla="*/ 223 h 223"/>
                    <a:gd name="T10" fmla="*/ 0 w 45"/>
                    <a:gd name="T11" fmla="*/ 183 h 223"/>
                  </a:gdLst>
                  <a:ahLst/>
                  <a:cxnLst>
                    <a:cxn ang="0">
                      <a:pos x="T0" y="T1"/>
                    </a:cxn>
                    <a:cxn ang="0">
                      <a:pos x="T2" y="T3"/>
                    </a:cxn>
                    <a:cxn ang="0">
                      <a:pos x="T4" y="T5"/>
                    </a:cxn>
                    <a:cxn ang="0">
                      <a:pos x="T6" y="T7"/>
                    </a:cxn>
                    <a:cxn ang="0">
                      <a:pos x="T8" y="T9"/>
                    </a:cxn>
                    <a:cxn ang="0">
                      <a:pos x="T10" y="T11"/>
                    </a:cxn>
                  </a:cxnLst>
                  <a:rect l="0" t="0" r="r" b="b"/>
                  <a:pathLst>
                    <a:path w="45" h="223">
                      <a:moveTo>
                        <a:pt x="0" y="183"/>
                      </a:moveTo>
                      <a:lnTo>
                        <a:pt x="0" y="0"/>
                      </a:lnTo>
                      <a:lnTo>
                        <a:pt x="45" y="0"/>
                      </a:lnTo>
                      <a:lnTo>
                        <a:pt x="45" y="223"/>
                      </a:lnTo>
                      <a:lnTo>
                        <a:pt x="30" y="223"/>
                      </a:lnTo>
                      <a:lnTo>
                        <a:pt x="0" y="183"/>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796" name="Freeform 1284"/>
                <p:cNvSpPr>
                  <a:spLocks noChangeAspect="1"/>
                </p:cNvSpPr>
                <p:nvPr/>
              </p:nvSpPr>
              <p:spPr bwMode="auto">
                <a:xfrm>
                  <a:off x="4111" y="2594"/>
                  <a:ext cx="14" cy="74"/>
                </a:xfrm>
                <a:custGeom>
                  <a:avLst/>
                  <a:gdLst>
                    <a:gd name="T0" fmla="*/ 0 w 45"/>
                    <a:gd name="T1" fmla="*/ 213 h 223"/>
                    <a:gd name="T2" fmla="*/ 0 w 45"/>
                    <a:gd name="T3" fmla="*/ 0 h 223"/>
                    <a:gd name="T4" fmla="*/ 45 w 45"/>
                    <a:gd name="T5" fmla="*/ 0 h 223"/>
                    <a:gd name="T6" fmla="*/ 45 w 45"/>
                    <a:gd name="T7" fmla="*/ 223 h 223"/>
                    <a:gd name="T8" fmla="*/ 7 w 45"/>
                    <a:gd name="T9" fmla="*/ 223 h 223"/>
                    <a:gd name="T10" fmla="*/ 0 w 45"/>
                    <a:gd name="T11" fmla="*/ 213 h 223"/>
                  </a:gdLst>
                  <a:ahLst/>
                  <a:cxnLst>
                    <a:cxn ang="0">
                      <a:pos x="T0" y="T1"/>
                    </a:cxn>
                    <a:cxn ang="0">
                      <a:pos x="T2" y="T3"/>
                    </a:cxn>
                    <a:cxn ang="0">
                      <a:pos x="T4" y="T5"/>
                    </a:cxn>
                    <a:cxn ang="0">
                      <a:pos x="T6" y="T7"/>
                    </a:cxn>
                    <a:cxn ang="0">
                      <a:pos x="T8" y="T9"/>
                    </a:cxn>
                    <a:cxn ang="0">
                      <a:pos x="T10" y="T11"/>
                    </a:cxn>
                  </a:cxnLst>
                  <a:rect l="0" t="0" r="r" b="b"/>
                  <a:pathLst>
                    <a:path w="45" h="223">
                      <a:moveTo>
                        <a:pt x="0" y="213"/>
                      </a:moveTo>
                      <a:lnTo>
                        <a:pt x="0" y="0"/>
                      </a:lnTo>
                      <a:lnTo>
                        <a:pt x="45" y="0"/>
                      </a:lnTo>
                      <a:lnTo>
                        <a:pt x="45" y="223"/>
                      </a:lnTo>
                      <a:lnTo>
                        <a:pt x="7" y="223"/>
                      </a:lnTo>
                      <a:lnTo>
                        <a:pt x="0" y="213"/>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797" name="Rectangle 1285"/>
                <p:cNvSpPr>
                  <a:spLocks noChangeAspect="1" noChangeArrowheads="1"/>
                </p:cNvSpPr>
                <p:nvPr/>
              </p:nvSpPr>
              <p:spPr bwMode="auto">
                <a:xfrm>
                  <a:off x="4118" y="2594"/>
                  <a:ext cx="14"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98" name="Rectangle 1286"/>
                <p:cNvSpPr>
                  <a:spLocks noChangeAspect="1" noChangeArrowheads="1"/>
                </p:cNvSpPr>
                <p:nvPr/>
              </p:nvSpPr>
              <p:spPr bwMode="auto">
                <a:xfrm>
                  <a:off x="4125"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799" name="Rectangle 1287"/>
                <p:cNvSpPr>
                  <a:spLocks noChangeAspect="1" noChangeArrowheads="1"/>
                </p:cNvSpPr>
                <p:nvPr/>
              </p:nvSpPr>
              <p:spPr bwMode="auto">
                <a:xfrm>
                  <a:off x="4132"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00" name="Rectangle 1288"/>
                <p:cNvSpPr>
                  <a:spLocks noChangeAspect="1" noChangeArrowheads="1"/>
                </p:cNvSpPr>
                <p:nvPr/>
              </p:nvSpPr>
              <p:spPr bwMode="auto">
                <a:xfrm>
                  <a:off x="4140"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01" name="Rectangle 1289"/>
                <p:cNvSpPr>
                  <a:spLocks noChangeAspect="1" noChangeArrowheads="1"/>
                </p:cNvSpPr>
                <p:nvPr/>
              </p:nvSpPr>
              <p:spPr bwMode="auto">
                <a:xfrm>
                  <a:off x="4147"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02" name="Rectangle 1290"/>
                <p:cNvSpPr>
                  <a:spLocks noChangeAspect="1" noChangeArrowheads="1"/>
                </p:cNvSpPr>
                <p:nvPr/>
              </p:nvSpPr>
              <p:spPr bwMode="auto">
                <a:xfrm>
                  <a:off x="4155"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03" name="Rectangle 1291"/>
                <p:cNvSpPr>
                  <a:spLocks noChangeAspect="1" noChangeArrowheads="1"/>
                </p:cNvSpPr>
                <p:nvPr/>
              </p:nvSpPr>
              <p:spPr bwMode="auto">
                <a:xfrm>
                  <a:off x="4162"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04" name="Rectangle 1292"/>
                <p:cNvSpPr>
                  <a:spLocks noChangeAspect="1" noChangeArrowheads="1"/>
                </p:cNvSpPr>
                <p:nvPr/>
              </p:nvSpPr>
              <p:spPr bwMode="auto">
                <a:xfrm>
                  <a:off x="4170"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05" name="Rectangle 1293"/>
                <p:cNvSpPr>
                  <a:spLocks noChangeAspect="1" noChangeArrowheads="1"/>
                </p:cNvSpPr>
                <p:nvPr/>
              </p:nvSpPr>
              <p:spPr bwMode="auto">
                <a:xfrm>
                  <a:off x="4177"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06" name="Rectangle 1294"/>
                <p:cNvSpPr>
                  <a:spLocks noChangeAspect="1" noChangeArrowheads="1"/>
                </p:cNvSpPr>
                <p:nvPr/>
              </p:nvSpPr>
              <p:spPr bwMode="auto">
                <a:xfrm>
                  <a:off x="4185"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07" name="Rectangle 1295"/>
                <p:cNvSpPr>
                  <a:spLocks noChangeAspect="1" noChangeArrowheads="1"/>
                </p:cNvSpPr>
                <p:nvPr/>
              </p:nvSpPr>
              <p:spPr bwMode="auto">
                <a:xfrm>
                  <a:off x="4192"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08" name="Rectangle 1296"/>
                <p:cNvSpPr>
                  <a:spLocks noChangeAspect="1" noChangeArrowheads="1"/>
                </p:cNvSpPr>
                <p:nvPr/>
              </p:nvSpPr>
              <p:spPr bwMode="auto">
                <a:xfrm>
                  <a:off x="4200"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09" name="Rectangle 1297"/>
                <p:cNvSpPr>
                  <a:spLocks noChangeAspect="1" noChangeArrowheads="1"/>
                </p:cNvSpPr>
                <p:nvPr/>
              </p:nvSpPr>
              <p:spPr bwMode="auto">
                <a:xfrm>
                  <a:off x="4207"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10" name="Rectangle 1298"/>
                <p:cNvSpPr>
                  <a:spLocks noChangeAspect="1" noChangeArrowheads="1"/>
                </p:cNvSpPr>
                <p:nvPr/>
              </p:nvSpPr>
              <p:spPr bwMode="auto">
                <a:xfrm>
                  <a:off x="4215" y="2594"/>
                  <a:ext cx="14"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11" name="Rectangle 1299"/>
                <p:cNvSpPr>
                  <a:spLocks noChangeAspect="1" noChangeArrowheads="1"/>
                </p:cNvSpPr>
                <p:nvPr/>
              </p:nvSpPr>
              <p:spPr bwMode="auto">
                <a:xfrm>
                  <a:off x="4222"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12" name="Rectangle 1300"/>
                <p:cNvSpPr>
                  <a:spLocks noChangeAspect="1" noChangeArrowheads="1"/>
                </p:cNvSpPr>
                <p:nvPr/>
              </p:nvSpPr>
              <p:spPr bwMode="auto">
                <a:xfrm>
                  <a:off x="4229"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13" name="Rectangle 1301"/>
                <p:cNvSpPr>
                  <a:spLocks noChangeAspect="1" noChangeArrowheads="1"/>
                </p:cNvSpPr>
                <p:nvPr/>
              </p:nvSpPr>
              <p:spPr bwMode="auto">
                <a:xfrm>
                  <a:off x="4238" y="2594"/>
                  <a:ext cx="14"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14" name="Rectangle 1302"/>
                <p:cNvSpPr>
                  <a:spLocks noChangeAspect="1" noChangeArrowheads="1"/>
                </p:cNvSpPr>
                <p:nvPr/>
              </p:nvSpPr>
              <p:spPr bwMode="auto">
                <a:xfrm>
                  <a:off x="4245"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15" name="Rectangle 1303"/>
                <p:cNvSpPr>
                  <a:spLocks noChangeAspect="1" noChangeArrowheads="1"/>
                </p:cNvSpPr>
                <p:nvPr/>
              </p:nvSpPr>
              <p:spPr bwMode="auto">
                <a:xfrm>
                  <a:off x="4251" y="2594"/>
                  <a:ext cx="14"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16" name="Rectangle 1304"/>
                <p:cNvSpPr>
                  <a:spLocks noChangeAspect="1" noChangeArrowheads="1"/>
                </p:cNvSpPr>
                <p:nvPr/>
              </p:nvSpPr>
              <p:spPr bwMode="auto">
                <a:xfrm>
                  <a:off x="4260"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17" name="Rectangle 1305"/>
                <p:cNvSpPr>
                  <a:spLocks noChangeAspect="1" noChangeArrowheads="1"/>
                </p:cNvSpPr>
                <p:nvPr/>
              </p:nvSpPr>
              <p:spPr bwMode="auto">
                <a:xfrm>
                  <a:off x="4267"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18" name="Rectangle 1306"/>
                <p:cNvSpPr>
                  <a:spLocks noChangeAspect="1" noChangeArrowheads="1"/>
                </p:cNvSpPr>
                <p:nvPr/>
              </p:nvSpPr>
              <p:spPr bwMode="auto">
                <a:xfrm>
                  <a:off x="4275" y="2594"/>
                  <a:ext cx="14"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19" name="Rectangle 1307"/>
                <p:cNvSpPr>
                  <a:spLocks noChangeAspect="1" noChangeArrowheads="1"/>
                </p:cNvSpPr>
                <p:nvPr/>
              </p:nvSpPr>
              <p:spPr bwMode="auto">
                <a:xfrm>
                  <a:off x="4282"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20" name="Rectangle 1308"/>
                <p:cNvSpPr>
                  <a:spLocks noChangeAspect="1" noChangeArrowheads="1"/>
                </p:cNvSpPr>
                <p:nvPr/>
              </p:nvSpPr>
              <p:spPr bwMode="auto">
                <a:xfrm>
                  <a:off x="4289"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21" name="Rectangle 1309"/>
                <p:cNvSpPr>
                  <a:spLocks noChangeAspect="1" noChangeArrowheads="1"/>
                </p:cNvSpPr>
                <p:nvPr/>
              </p:nvSpPr>
              <p:spPr bwMode="auto">
                <a:xfrm>
                  <a:off x="4297"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22" name="Rectangle 1310"/>
                <p:cNvSpPr>
                  <a:spLocks noChangeAspect="1" noChangeArrowheads="1"/>
                </p:cNvSpPr>
                <p:nvPr/>
              </p:nvSpPr>
              <p:spPr bwMode="auto">
                <a:xfrm>
                  <a:off x="4304"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23" name="Rectangle 1311"/>
                <p:cNvSpPr>
                  <a:spLocks noChangeAspect="1" noChangeArrowheads="1"/>
                </p:cNvSpPr>
                <p:nvPr/>
              </p:nvSpPr>
              <p:spPr bwMode="auto">
                <a:xfrm>
                  <a:off x="4312"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24" name="Rectangle 1312"/>
                <p:cNvSpPr>
                  <a:spLocks noChangeAspect="1" noChangeArrowheads="1"/>
                </p:cNvSpPr>
                <p:nvPr/>
              </p:nvSpPr>
              <p:spPr bwMode="auto">
                <a:xfrm>
                  <a:off x="4319"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25" name="Rectangle 1313"/>
                <p:cNvSpPr>
                  <a:spLocks noChangeAspect="1" noChangeArrowheads="1"/>
                </p:cNvSpPr>
                <p:nvPr/>
              </p:nvSpPr>
              <p:spPr bwMode="auto">
                <a:xfrm>
                  <a:off x="4327"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26" name="Rectangle 1314"/>
                <p:cNvSpPr>
                  <a:spLocks noChangeAspect="1" noChangeArrowheads="1"/>
                </p:cNvSpPr>
                <p:nvPr/>
              </p:nvSpPr>
              <p:spPr bwMode="auto">
                <a:xfrm>
                  <a:off x="4334"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27" name="Rectangle 1315"/>
                <p:cNvSpPr>
                  <a:spLocks noChangeAspect="1" noChangeArrowheads="1"/>
                </p:cNvSpPr>
                <p:nvPr/>
              </p:nvSpPr>
              <p:spPr bwMode="auto">
                <a:xfrm>
                  <a:off x="4342"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28" name="Rectangle 1316"/>
                <p:cNvSpPr>
                  <a:spLocks noChangeAspect="1" noChangeArrowheads="1"/>
                </p:cNvSpPr>
                <p:nvPr/>
              </p:nvSpPr>
              <p:spPr bwMode="auto">
                <a:xfrm>
                  <a:off x="4349"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29" name="Rectangle 1317"/>
                <p:cNvSpPr>
                  <a:spLocks noChangeAspect="1" noChangeArrowheads="1"/>
                </p:cNvSpPr>
                <p:nvPr/>
              </p:nvSpPr>
              <p:spPr bwMode="auto">
                <a:xfrm>
                  <a:off x="4357" y="2594"/>
                  <a:ext cx="14"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30" name="Rectangle 1318"/>
                <p:cNvSpPr>
                  <a:spLocks noChangeAspect="1" noChangeArrowheads="1"/>
                </p:cNvSpPr>
                <p:nvPr/>
              </p:nvSpPr>
              <p:spPr bwMode="auto">
                <a:xfrm>
                  <a:off x="4364" y="2594"/>
                  <a:ext cx="14"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5831" name="Freeform 1319"/>
                <p:cNvSpPr>
                  <a:spLocks noChangeAspect="1"/>
                </p:cNvSpPr>
                <p:nvPr/>
              </p:nvSpPr>
              <p:spPr bwMode="auto">
                <a:xfrm>
                  <a:off x="4371" y="2594"/>
                  <a:ext cx="15" cy="74"/>
                </a:xfrm>
                <a:custGeom>
                  <a:avLst/>
                  <a:gdLst>
                    <a:gd name="T0" fmla="*/ 0 w 45"/>
                    <a:gd name="T1" fmla="*/ 223 h 223"/>
                    <a:gd name="T2" fmla="*/ 0 w 45"/>
                    <a:gd name="T3" fmla="*/ 0 h 223"/>
                    <a:gd name="T4" fmla="*/ 45 w 45"/>
                    <a:gd name="T5" fmla="*/ 0 h 223"/>
                    <a:gd name="T6" fmla="*/ 45 w 45"/>
                    <a:gd name="T7" fmla="*/ 201 h 223"/>
                    <a:gd name="T8" fmla="*/ 30 w 45"/>
                    <a:gd name="T9" fmla="*/ 223 h 223"/>
                    <a:gd name="T10" fmla="*/ 0 w 45"/>
                    <a:gd name="T11" fmla="*/ 223 h 223"/>
                  </a:gdLst>
                  <a:ahLst/>
                  <a:cxnLst>
                    <a:cxn ang="0">
                      <a:pos x="T0" y="T1"/>
                    </a:cxn>
                    <a:cxn ang="0">
                      <a:pos x="T2" y="T3"/>
                    </a:cxn>
                    <a:cxn ang="0">
                      <a:pos x="T4" y="T5"/>
                    </a:cxn>
                    <a:cxn ang="0">
                      <a:pos x="T6" y="T7"/>
                    </a:cxn>
                    <a:cxn ang="0">
                      <a:pos x="T8" y="T9"/>
                    </a:cxn>
                    <a:cxn ang="0">
                      <a:pos x="T10" y="T11"/>
                    </a:cxn>
                  </a:cxnLst>
                  <a:rect l="0" t="0" r="r" b="b"/>
                  <a:pathLst>
                    <a:path w="45" h="223">
                      <a:moveTo>
                        <a:pt x="0" y="223"/>
                      </a:moveTo>
                      <a:lnTo>
                        <a:pt x="0" y="0"/>
                      </a:lnTo>
                      <a:lnTo>
                        <a:pt x="45" y="0"/>
                      </a:lnTo>
                      <a:lnTo>
                        <a:pt x="45" y="201"/>
                      </a:lnTo>
                      <a:lnTo>
                        <a:pt x="30" y="223"/>
                      </a:lnTo>
                      <a:lnTo>
                        <a:pt x="0" y="223"/>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832" name="Freeform 1320"/>
                <p:cNvSpPr>
                  <a:spLocks noChangeAspect="1"/>
                </p:cNvSpPr>
                <p:nvPr/>
              </p:nvSpPr>
              <p:spPr bwMode="auto">
                <a:xfrm>
                  <a:off x="4378" y="2594"/>
                  <a:ext cx="15" cy="74"/>
                </a:xfrm>
                <a:custGeom>
                  <a:avLst/>
                  <a:gdLst>
                    <a:gd name="T0" fmla="*/ 0 w 44"/>
                    <a:gd name="T1" fmla="*/ 223 h 223"/>
                    <a:gd name="T2" fmla="*/ 0 w 44"/>
                    <a:gd name="T3" fmla="*/ 0 h 223"/>
                    <a:gd name="T4" fmla="*/ 44 w 44"/>
                    <a:gd name="T5" fmla="*/ 0 h 223"/>
                    <a:gd name="T6" fmla="*/ 44 w 44"/>
                    <a:gd name="T7" fmla="*/ 167 h 223"/>
                    <a:gd name="T8" fmla="*/ 7 w 44"/>
                    <a:gd name="T9" fmla="*/ 223 h 223"/>
                    <a:gd name="T10" fmla="*/ 0 w 44"/>
                    <a:gd name="T11" fmla="*/ 223 h 223"/>
                  </a:gdLst>
                  <a:ahLst/>
                  <a:cxnLst>
                    <a:cxn ang="0">
                      <a:pos x="T0" y="T1"/>
                    </a:cxn>
                    <a:cxn ang="0">
                      <a:pos x="T2" y="T3"/>
                    </a:cxn>
                    <a:cxn ang="0">
                      <a:pos x="T4" y="T5"/>
                    </a:cxn>
                    <a:cxn ang="0">
                      <a:pos x="T6" y="T7"/>
                    </a:cxn>
                    <a:cxn ang="0">
                      <a:pos x="T8" y="T9"/>
                    </a:cxn>
                    <a:cxn ang="0">
                      <a:pos x="T10" y="T11"/>
                    </a:cxn>
                  </a:cxnLst>
                  <a:rect l="0" t="0" r="r" b="b"/>
                  <a:pathLst>
                    <a:path w="44" h="223">
                      <a:moveTo>
                        <a:pt x="0" y="223"/>
                      </a:moveTo>
                      <a:lnTo>
                        <a:pt x="0" y="0"/>
                      </a:lnTo>
                      <a:lnTo>
                        <a:pt x="44" y="0"/>
                      </a:lnTo>
                      <a:lnTo>
                        <a:pt x="44" y="167"/>
                      </a:lnTo>
                      <a:lnTo>
                        <a:pt x="7" y="223"/>
                      </a:lnTo>
                      <a:lnTo>
                        <a:pt x="0" y="223"/>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833" name="Freeform 1321"/>
                <p:cNvSpPr>
                  <a:spLocks noChangeAspect="1"/>
                </p:cNvSpPr>
                <p:nvPr/>
              </p:nvSpPr>
              <p:spPr bwMode="auto">
                <a:xfrm>
                  <a:off x="4387" y="2594"/>
                  <a:ext cx="15" cy="67"/>
                </a:xfrm>
                <a:custGeom>
                  <a:avLst/>
                  <a:gdLst>
                    <a:gd name="T0" fmla="*/ 0 w 45"/>
                    <a:gd name="T1" fmla="*/ 201 h 201"/>
                    <a:gd name="T2" fmla="*/ 0 w 45"/>
                    <a:gd name="T3" fmla="*/ 0 h 201"/>
                    <a:gd name="T4" fmla="*/ 45 w 45"/>
                    <a:gd name="T5" fmla="*/ 0 h 201"/>
                    <a:gd name="T6" fmla="*/ 45 w 45"/>
                    <a:gd name="T7" fmla="*/ 134 h 201"/>
                    <a:gd name="T8" fmla="*/ 0 w 45"/>
                    <a:gd name="T9" fmla="*/ 201 h 201"/>
                  </a:gdLst>
                  <a:ahLst/>
                  <a:cxnLst>
                    <a:cxn ang="0">
                      <a:pos x="T0" y="T1"/>
                    </a:cxn>
                    <a:cxn ang="0">
                      <a:pos x="T2" y="T3"/>
                    </a:cxn>
                    <a:cxn ang="0">
                      <a:pos x="T4" y="T5"/>
                    </a:cxn>
                    <a:cxn ang="0">
                      <a:pos x="T6" y="T7"/>
                    </a:cxn>
                    <a:cxn ang="0">
                      <a:pos x="T8" y="T9"/>
                    </a:cxn>
                  </a:cxnLst>
                  <a:rect l="0" t="0" r="r" b="b"/>
                  <a:pathLst>
                    <a:path w="45" h="201">
                      <a:moveTo>
                        <a:pt x="0" y="201"/>
                      </a:moveTo>
                      <a:lnTo>
                        <a:pt x="0" y="0"/>
                      </a:lnTo>
                      <a:lnTo>
                        <a:pt x="45" y="0"/>
                      </a:lnTo>
                      <a:lnTo>
                        <a:pt x="45" y="134"/>
                      </a:lnTo>
                      <a:lnTo>
                        <a:pt x="0" y="201"/>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834" name="Freeform 1322"/>
                <p:cNvSpPr>
                  <a:spLocks noChangeAspect="1"/>
                </p:cNvSpPr>
                <p:nvPr/>
              </p:nvSpPr>
              <p:spPr bwMode="auto">
                <a:xfrm>
                  <a:off x="4394" y="2594"/>
                  <a:ext cx="15" cy="55"/>
                </a:xfrm>
                <a:custGeom>
                  <a:avLst/>
                  <a:gdLst>
                    <a:gd name="T0" fmla="*/ 0 w 45"/>
                    <a:gd name="T1" fmla="*/ 167 h 167"/>
                    <a:gd name="T2" fmla="*/ 0 w 45"/>
                    <a:gd name="T3" fmla="*/ 0 h 167"/>
                    <a:gd name="T4" fmla="*/ 45 w 45"/>
                    <a:gd name="T5" fmla="*/ 0 h 167"/>
                    <a:gd name="T6" fmla="*/ 45 w 45"/>
                    <a:gd name="T7" fmla="*/ 101 h 167"/>
                    <a:gd name="T8" fmla="*/ 0 w 45"/>
                    <a:gd name="T9" fmla="*/ 167 h 167"/>
                  </a:gdLst>
                  <a:ahLst/>
                  <a:cxnLst>
                    <a:cxn ang="0">
                      <a:pos x="T0" y="T1"/>
                    </a:cxn>
                    <a:cxn ang="0">
                      <a:pos x="T2" y="T3"/>
                    </a:cxn>
                    <a:cxn ang="0">
                      <a:pos x="T4" y="T5"/>
                    </a:cxn>
                    <a:cxn ang="0">
                      <a:pos x="T6" y="T7"/>
                    </a:cxn>
                    <a:cxn ang="0">
                      <a:pos x="T8" y="T9"/>
                    </a:cxn>
                  </a:cxnLst>
                  <a:rect l="0" t="0" r="r" b="b"/>
                  <a:pathLst>
                    <a:path w="45" h="167">
                      <a:moveTo>
                        <a:pt x="0" y="167"/>
                      </a:moveTo>
                      <a:lnTo>
                        <a:pt x="0" y="0"/>
                      </a:lnTo>
                      <a:lnTo>
                        <a:pt x="45" y="0"/>
                      </a:lnTo>
                      <a:lnTo>
                        <a:pt x="45" y="101"/>
                      </a:lnTo>
                      <a:lnTo>
                        <a:pt x="0" y="167"/>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835" name="Freeform 1323"/>
                <p:cNvSpPr>
                  <a:spLocks noChangeAspect="1"/>
                </p:cNvSpPr>
                <p:nvPr/>
              </p:nvSpPr>
              <p:spPr bwMode="auto">
                <a:xfrm>
                  <a:off x="4402" y="2594"/>
                  <a:ext cx="14" cy="44"/>
                </a:xfrm>
                <a:custGeom>
                  <a:avLst/>
                  <a:gdLst>
                    <a:gd name="T0" fmla="*/ 0 w 44"/>
                    <a:gd name="T1" fmla="*/ 134 h 134"/>
                    <a:gd name="T2" fmla="*/ 0 w 44"/>
                    <a:gd name="T3" fmla="*/ 0 h 134"/>
                    <a:gd name="T4" fmla="*/ 44 w 44"/>
                    <a:gd name="T5" fmla="*/ 0 h 134"/>
                    <a:gd name="T6" fmla="*/ 44 w 44"/>
                    <a:gd name="T7" fmla="*/ 67 h 134"/>
                    <a:gd name="T8" fmla="*/ 0 w 44"/>
                    <a:gd name="T9" fmla="*/ 134 h 134"/>
                  </a:gdLst>
                  <a:ahLst/>
                  <a:cxnLst>
                    <a:cxn ang="0">
                      <a:pos x="T0" y="T1"/>
                    </a:cxn>
                    <a:cxn ang="0">
                      <a:pos x="T2" y="T3"/>
                    </a:cxn>
                    <a:cxn ang="0">
                      <a:pos x="T4" y="T5"/>
                    </a:cxn>
                    <a:cxn ang="0">
                      <a:pos x="T6" y="T7"/>
                    </a:cxn>
                    <a:cxn ang="0">
                      <a:pos x="T8" y="T9"/>
                    </a:cxn>
                  </a:cxnLst>
                  <a:rect l="0" t="0" r="r" b="b"/>
                  <a:pathLst>
                    <a:path w="44" h="134">
                      <a:moveTo>
                        <a:pt x="0" y="134"/>
                      </a:moveTo>
                      <a:lnTo>
                        <a:pt x="0" y="0"/>
                      </a:lnTo>
                      <a:lnTo>
                        <a:pt x="44" y="0"/>
                      </a:lnTo>
                      <a:lnTo>
                        <a:pt x="44" y="67"/>
                      </a:lnTo>
                      <a:lnTo>
                        <a:pt x="0" y="134"/>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836" name="Freeform 1324"/>
                <p:cNvSpPr>
                  <a:spLocks noChangeAspect="1"/>
                </p:cNvSpPr>
                <p:nvPr/>
              </p:nvSpPr>
              <p:spPr bwMode="auto">
                <a:xfrm>
                  <a:off x="4057" y="2594"/>
                  <a:ext cx="8" cy="10"/>
                </a:xfrm>
                <a:custGeom>
                  <a:avLst/>
                  <a:gdLst>
                    <a:gd name="T0" fmla="*/ 0 w 23"/>
                    <a:gd name="T1" fmla="*/ 0 h 31"/>
                    <a:gd name="T2" fmla="*/ 23 w 23"/>
                    <a:gd name="T3" fmla="*/ 0 h 31"/>
                    <a:gd name="T4" fmla="*/ 23 w 23"/>
                    <a:gd name="T5" fmla="*/ 31 h 31"/>
                    <a:gd name="T6" fmla="*/ 0 w 23"/>
                    <a:gd name="T7" fmla="*/ 0 h 31"/>
                  </a:gdLst>
                  <a:ahLst/>
                  <a:cxnLst>
                    <a:cxn ang="0">
                      <a:pos x="T0" y="T1"/>
                    </a:cxn>
                    <a:cxn ang="0">
                      <a:pos x="T2" y="T3"/>
                    </a:cxn>
                    <a:cxn ang="0">
                      <a:pos x="T4" y="T5"/>
                    </a:cxn>
                    <a:cxn ang="0">
                      <a:pos x="T6" y="T7"/>
                    </a:cxn>
                  </a:cxnLst>
                  <a:rect l="0" t="0" r="r" b="b"/>
                  <a:pathLst>
                    <a:path w="23" h="31">
                      <a:moveTo>
                        <a:pt x="0" y="0"/>
                      </a:moveTo>
                      <a:lnTo>
                        <a:pt x="23" y="0"/>
                      </a:lnTo>
                      <a:lnTo>
                        <a:pt x="23" y="31"/>
                      </a:lnTo>
                      <a:lnTo>
                        <a:pt x="0" y="0"/>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837" name="Freeform 1325"/>
                <p:cNvSpPr>
                  <a:spLocks noChangeAspect="1"/>
                </p:cNvSpPr>
                <p:nvPr/>
              </p:nvSpPr>
              <p:spPr bwMode="auto">
                <a:xfrm>
                  <a:off x="4057" y="2594"/>
                  <a:ext cx="15" cy="20"/>
                </a:xfrm>
                <a:custGeom>
                  <a:avLst/>
                  <a:gdLst>
                    <a:gd name="T0" fmla="*/ 0 w 45"/>
                    <a:gd name="T1" fmla="*/ 0 h 61"/>
                    <a:gd name="T2" fmla="*/ 45 w 45"/>
                    <a:gd name="T3" fmla="*/ 0 h 61"/>
                    <a:gd name="T4" fmla="*/ 45 w 45"/>
                    <a:gd name="T5" fmla="*/ 61 h 61"/>
                    <a:gd name="T6" fmla="*/ 0 w 45"/>
                    <a:gd name="T7" fmla="*/ 0 h 61"/>
                  </a:gdLst>
                  <a:ahLst/>
                  <a:cxnLst>
                    <a:cxn ang="0">
                      <a:pos x="T0" y="T1"/>
                    </a:cxn>
                    <a:cxn ang="0">
                      <a:pos x="T2" y="T3"/>
                    </a:cxn>
                    <a:cxn ang="0">
                      <a:pos x="T4" y="T5"/>
                    </a:cxn>
                    <a:cxn ang="0">
                      <a:pos x="T6" y="T7"/>
                    </a:cxn>
                  </a:cxnLst>
                  <a:rect l="0" t="0" r="r" b="b"/>
                  <a:pathLst>
                    <a:path w="45" h="61">
                      <a:moveTo>
                        <a:pt x="0" y="0"/>
                      </a:moveTo>
                      <a:lnTo>
                        <a:pt x="45" y="0"/>
                      </a:lnTo>
                      <a:lnTo>
                        <a:pt x="45" y="61"/>
                      </a:lnTo>
                      <a:lnTo>
                        <a:pt x="0" y="0"/>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838" name="Freeform 1326"/>
                <p:cNvSpPr>
                  <a:spLocks noChangeAspect="1"/>
                </p:cNvSpPr>
                <p:nvPr/>
              </p:nvSpPr>
              <p:spPr bwMode="auto">
                <a:xfrm>
                  <a:off x="4065" y="2594"/>
                  <a:ext cx="15" cy="30"/>
                </a:xfrm>
                <a:custGeom>
                  <a:avLst/>
                  <a:gdLst>
                    <a:gd name="T0" fmla="*/ 0 w 44"/>
                    <a:gd name="T1" fmla="*/ 31 h 92"/>
                    <a:gd name="T2" fmla="*/ 0 w 44"/>
                    <a:gd name="T3" fmla="*/ 0 h 92"/>
                    <a:gd name="T4" fmla="*/ 44 w 44"/>
                    <a:gd name="T5" fmla="*/ 0 h 92"/>
                    <a:gd name="T6" fmla="*/ 44 w 44"/>
                    <a:gd name="T7" fmla="*/ 92 h 92"/>
                    <a:gd name="T8" fmla="*/ 0 w 44"/>
                    <a:gd name="T9" fmla="*/ 31 h 92"/>
                  </a:gdLst>
                  <a:ahLst/>
                  <a:cxnLst>
                    <a:cxn ang="0">
                      <a:pos x="T0" y="T1"/>
                    </a:cxn>
                    <a:cxn ang="0">
                      <a:pos x="T2" y="T3"/>
                    </a:cxn>
                    <a:cxn ang="0">
                      <a:pos x="T4" y="T5"/>
                    </a:cxn>
                    <a:cxn ang="0">
                      <a:pos x="T6" y="T7"/>
                    </a:cxn>
                    <a:cxn ang="0">
                      <a:pos x="T8" y="T9"/>
                    </a:cxn>
                  </a:cxnLst>
                  <a:rect l="0" t="0" r="r" b="b"/>
                  <a:pathLst>
                    <a:path w="44" h="92">
                      <a:moveTo>
                        <a:pt x="0" y="31"/>
                      </a:moveTo>
                      <a:lnTo>
                        <a:pt x="0" y="0"/>
                      </a:lnTo>
                      <a:lnTo>
                        <a:pt x="44" y="0"/>
                      </a:lnTo>
                      <a:lnTo>
                        <a:pt x="44" y="92"/>
                      </a:lnTo>
                      <a:lnTo>
                        <a:pt x="0" y="31"/>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839" name="Freeform 1327"/>
                <p:cNvSpPr>
                  <a:spLocks noChangeAspect="1"/>
                </p:cNvSpPr>
                <p:nvPr/>
              </p:nvSpPr>
              <p:spPr bwMode="auto">
                <a:xfrm>
                  <a:off x="4072" y="2594"/>
                  <a:ext cx="15" cy="40"/>
                </a:xfrm>
                <a:custGeom>
                  <a:avLst/>
                  <a:gdLst>
                    <a:gd name="T0" fmla="*/ 0 w 45"/>
                    <a:gd name="T1" fmla="*/ 61 h 122"/>
                    <a:gd name="T2" fmla="*/ 0 w 45"/>
                    <a:gd name="T3" fmla="*/ 0 h 122"/>
                    <a:gd name="T4" fmla="*/ 45 w 45"/>
                    <a:gd name="T5" fmla="*/ 0 h 122"/>
                    <a:gd name="T6" fmla="*/ 45 w 45"/>
                    <a:gd name="T7" fmla="*/ 122 h 122"/>
                    <a:gd name="T8" fmla="*/ 0 w 45"/>
                    <a:gd name="T9" fmla="*/ 61 h 122"/>
                  </a:gdLst>
                  <a:ahLst/>
                  <a:cxnLst>
                    <a:cxn ang="0">
                      <a:pos x="T0" y="T1"/>
                    </a:cxn>
                    <a:cxn ang="0">
                      <a:pos x="T2" y="T3"/>
                    </a:cxn>
                    <a:cxn ang="0">
                      <a:pos x="T4" y="T5"/>
                    </a:cxn>
                    <a:cxn ang="0">
                      <a:pos x="T6" y="T7"/>
                    </a:cxn>
                    <a:cxn ang="0">
                      <a:pos x="T8" y="T9"/>
                    </a:cxn>
                  </a:cxnLst>
                  <a:rect l="0" t="0" r="r" b="b"/>
                  <a:pathLst>
                    <a:path w="45" h="122">
                      <a:moveTo>
                        <a:pt x="0" y="61"/>
                      </a:moveTo>
                      <a:lnTo>
                        <a:pt x="0" y="0"/>
                      </a:lnTo>
                      <a:lnTo>
                        <a:pt x="45" y="0"/>
                      </a:lnTo>
                      <a:lnTo>
                        <a:pt x="45" y="122"/>
                      </a:lnTo>
                      <a:lnTo>
                        <a:pt x="0" y="61"/>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840" name="Freeform 1328"/>
                <p:cNvSpPr>
                  <a:spLocks noChangeAspect="1"/>
                </p:cNvSpPr>
                <p:nvPr/>
              </p:nvSpPr>
              <p:spPr bwMode="auto">
                <a:xfrm>
                  <a:off x="4409" y="2594"/>
                  <a:ext cx="15" cy="33"/>
                </a:xfrm>
                <a:custGeom>
                  <a:avLst/>
                  <a:gdLst>
                    <a:gd name="T0" fmla="*/ 0 w 46"/>
                    <a:gd name="T1" fmla="*/ 101 h 101"/>
                    <a:gd name="T2" fmla="*/ 0 w 46"/>
                    <a:gd name="T3" fmla="*/ 0 h 101"/>
                    <a:gd name="T4" fmla="*/ 46 w 46"/>
                    <a:gd name="T5" fmla="*/ 0 h 101"/>
                    <a:gd name="T6" fmla="*/ 46 w 46"/>
                    <a:gd name="T7" fmla="*/ 34 h 101"/>
                    <a:gd name="T8" fmla="*/ 0 w 46"/>
                    <a:gd name="T9" fmla="*/ 101 h 101"/>
                  </a:gdLst>
                  <a:ahLst/>
                  <a:cxnLst>
                    <a:cxn ang="0">
                      <a:pos x="T0" y="T1"/>
                    </a:cxn>
                    <a:cxn ang="0">
                      <a:pos x="T2" y="T3"/>
                    </a:cxn>
                    <a:cxn ang="0">
                      <a:pos x="T4" y="T5"/>
                    </a:cxn>
                    <a:cxn ang="0">
                      <a:pos x="T6" y="T7"/>
                    </a:cxn>
                    <a:cxn ang="0">
                      <a:pos x="T8" y="T9"/>
                    </a:cxn>
                  </a:cxnLst>
                  <a:rect l="0" t="0" r="r" b="b"/>
                  <a:pathLst>
                    <a:path w="46" h="101">
                      <a:moveTo>
                        <a:pt x="0" y="101"/>
                      </a:moveTo>
                      <a:lnTo>
                        <a:pt x="0" y="0"/>
                      </a:lnTo>
                      <a:lnTo>
                        <a:pt x="46" y="0"/>
                      </a:lnTo>
                      <a:lnTo>
                        <a:pt x="46" y="34"/>
                      </a:lnTo>
                      <a:lnTo>
                        <a:pt x="0" y="101"/>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841" name="Freeform 1329"/>
                <p:cNvSpPr>
                  <a:spLocks noChangeAspect="1"/>
                </p:cNvSpPr>
                <p:nvPr/>
              </p:nvSpPr>
              <p:spPr bwMode="auto">
                <a:xfrm>
                  <a:off x="4416" y="2594"/>
                  <a:ext cx="16" cy="22"/>
                </a:xfrm>
                <a:custGeom>
                  <a:avLst/>
                  <a:gdLst>
                    <a:gd name="T0" fmla="*/ 0 w 46"/>
                    <a:gd name="T1" fmla="*/ 67 h 67"/>
                    <a:gd name="T2" fmla="*/ 0 w 46"/>
                    <a:gd name="T3" fmla="*/ 0 h 67"/>
                    <a:gd name="T4" fmla="*/ 46 w 46"/>
                    <a:gd name="T5" fmla="*/ 0 h 67"/>
                    <a:gd name="T6" fmla="*/ 0 w 46"/>
                    <a:gd name="T7" fmla="*/ 67 h 67"/>
                  </a:gdLst>
                  <a:ahLst/>
                  <a:cxnLst>
                    <a:cxn ang="0">
                      <a:pos x="T0" y="T1"/>
                    </a:cxn>
                    <a:cxn ang="0">
                      <a:pos x="T2" y="T3"/>
                    </a:cxn>
                    <a:cxn ang="0">
                      <a:pos x="T4" y="T5"/>
                    </a:cxn>
                    <a:cxn ang="0">
                      <a:pos x="T6" y="T7"/>
                    </a:cxn>
                  </a:cxnLst>
                  <a:rect l="0" t="0" r="r" b="b"/>
                  <a:pathLst>
                    <a:path w="46" h="67">
                      <a:moveTo>
                        <a:pt x="0" y="67"/>
                      </a:moveTo>
                      <a:lnTo>
                        <a:pt x="0" y="0"/>
                      </a:lnTo>
                      <a:lnTo>
                        <a:pt x="46" y="0"/>
                      </a:lnTo>
                      <a:lnTo>
                        <a:pt x="0" y="67"/>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842" name="Freeform 1330"/>
                <p:cNvSpPr>
                  <a:spLocks noChangeAspect="1"/>
                </p:cNvSpPr>
                <p:nvPr/>
              </p:nvSpPr>
              <p:spPr bwMode="auto">
                <a:xfrm>
                  <a:off x="4424" y="2594"/>
                  <a:ext cx="8" cy="11"/>
                </a:xfrm>
                <a:custGeom>
                  <a:avLst/>
                  <a:gdLst>
                    <a:gd name="T0" fmla="*/ 0 w 22"/>
                    <a:gd name="T1" fmla="*/ 34 h 34"/>
                    <a:gd name="T2" fmla="*/ 0 w 22"/>
                    <a:gd name="T3" fmla="*/ 0 h 34"/>
                    <a:gd name="T4" fmla="*/ 22 w 22"/>
                    <a:gd name="T5" fmla="*/ 0 h 34"/>
                    <a:gd name="T6" fmla="*/ 0 w 22"/>
                    <a:gd name="T7" fmla="*/ 34 h 34"/>
                  </a:gdLst>
                  <a:ahLst/>
                  <a:cxnLst>
                    <a:cxn ang="0">
                      <a:pos x="T0" y="T1"/>
                    </a:cxn>
                    <a:cxn ang="0">
                      <a:pos x="T2" y="T3"/>
                    </a:cxn>
                    <a:cxn ang="0">
                      <a:pos x="T4" y="T5"/>
                    </a:cxn>
                    <a:cxn ang="0">
                      <a:pos x="T6" y="T7"/>
                    </a:cxn>
                  </a:cxnLst>
                  <a:rect l="0" t="0" r="r" b="b"/>
                  <a:pathLst>
                    <a:path w="22" h="34">
                      <a:moveTo>
                        <a:pt x="0" y="34"/>
                      </a:moveTo>
                      <a:lnTo>
                        <a:pt x="0" y="0"/>
                      </a:lnTo>
                      <a:lnTo>
                        <a:pt x="22" y="0"/>
                      </a:lnTo>
                      <a:lnTo>
                        <a:pt x="0" y="34"/>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5843" name="Freeform 1331"/>
                <p:cNvSpPr>
                  <a:spLocks noChangeAspect="1"/>
                </p:cNvSpPr>
                <p:nvPr/>
              </p:nvSpPr>
              <p:spPr bwMode="auto">
                <a:xfrm>
                  <a:off x="4057" y="2594"/>
                  <a:ext cx="375" cy="74"/>
                </a:xfrm>
                <a:custGeom>
                  <a:avLst/>
                  <a:gdLst>
                    <a:gd name="T0" fmla="*/ 0 w 1123"/>
                    <a:gd name="T1" fmla="*/ 0 h 223"/>
                    <a:gd name="T2" fmla="*/ 165 w 1123"/>
                    <a:gd name="T3" fmla="*/ 223 h 223"/>
                    <a:gd name="T4" fmla="*/ 973 w 1123"/>
                    <a:gd name="T5" fmla="*/ 223 h 223"/>
                    <a:gd name="T6" fmla="*/ 1123 w 1123"/>
                    <a:gd name="T7" fmla="*/ 0 h 223"/>
                    <a:gd name="T8" fmla="*/ 0 w 1123"/>
                    <a:gd name="T9" fmla="*/ 0 h 223"/>
                  </a:gdLst>
                  <a:ahLst/>
                  <a:cxnLst>
                    <a:cxn ang="0">
                      <a:pos x="T0" y="T1"/>
                    </a:cxn>
                    <a:cxn ang="0">
                      <a:pos x="T2" y="T3"/>
                    </a:cxn>
                    <a:cxn ang="0">
                      <a:pos x="T4" y="T5"/>
                    </a:cxn>
                    <a:cxn ang="0">
                      <a:pos x="T6" y="T7"/>
                    </a:cxn>
                    <a:cxn ang="0">
                      <a:pos x="T8" y="T9"/>
                    </a:cxn>
                  </a:cxnLst>
                  <a:rect l="0" t="0" r="r" b="b"/>
                  <a:pathLst>
                    <a:path w="1123" h="223">
                      <a:moveTo>
                        <a:pt x="0" y="0"/>
                      </a:moveTo>
                      <a:lnTo>
                        <a:pt x="165" y="223"/>
                      </a:lnTo>
                      <a:lnTo>
                        <a:pt x="973" y="223"/>
                      </a:lnTo>
                      <a:lnTo>
                        <a:pt x="1123" y="0"/>
                      </a:lnTo>
                      <a:lnTo>
                        <a:pt x="0" y="0"/>
                      </a:lnTo>
                    </a:path>
                  </a:pathLst>
                </a:custGeom>
                <a:gradFill rotWithShape="0">
                  <a:gsLst>
                    <a:gs pos="0">
                      <a:schemeClr val="hlink"/>
                    </a:gs>
                    <a:gs pos="50000">
                      <a:schemeClr val="hlink">
                        <a:gamma/>
                        <a:tint val="40000"/>
                        <a:invGamma/>
                      </a:schemeClr>
                    </a:gs>
                    <a:gs pos="100000">
                      <a:schemeClr val="hlink"/>
                    </a:gs>
                  </a:gsLst>
                  <a:lin ang="0" scaled="1"/>
                </a:gradFill>
                <a:ln w="1588">
                  <a:solidFill>
                    <a:srgbClr val="1F1A17"/>
                  </a:solidFill>
                  <a:prstDash val="solid"/>
                  <a:round/>
                  <a:headEnd/>
                  <a:tailEnd/>
                </a:ln>
              </p:spPr>
              <p:txBody>
                <a:bodyPr/>
                <a:lstStyle/>
                <a:p>
                  <a:pPr>
                    <a:defRPr/>
                  </a:pPr>
                  <a:endParaRPr lang="en-US"/>
                </a:p>
              </p:txBody>
            </p:sp>
          </p:grpSp>
        </p:grpSp>
        <p:grpSp>
          <p:nvGrpSpPr>
            <p:cNvPr id="386164" name="Group 1332"/>
            <p:cNvGrpSpPr>
              <a:grpSpLocks noChangeAspect="1"/>
            </p:cNvGrpSpPr>
            <p:nvPr/>
          </p:nvGrpSpPr>
          <p:grpSpPr bwMode="auto">
            <a:xfrm>
              <a:off x="4588" y="1276"/>
              <a:ext cx="259" cy="176"/>
              <a:chOff x="4212" y="970"/>
              <a:chExt cx="377" cy="258"/>
            </a:xfrm>
          </p:grpSpPr>
          <p:sp>
            <p:nvSpPr>
              <p:cNvPr id="389791" name="Freeform 1333"/>
              <p:cNvSpPr>
                <a:spLocks noChangeAspect="1"/>
              </p:cNvSpPr>
              <p:nvPr/>
            </p:nvSpPr>
            <p:spPr bwMode="auto">
              <a:xfrm>
                <a:off x="4241" y="1083"/>
                <a:ext cx="5" cy="53"/>
              </a:xfrm>
              <a:custGeom>
                <a:avLst/>
                <a:gdLst>
                  <a:gd name="T0" fmla="*/ 0 w 16"/>
                  <a:gd name="T1" fmla="*/ 0 h 158"/>
                  <a:gd name="T2" fmla="*/ 0 w 16"/>
                  <a:gd name="T3" fmla="*/ 0 h 158"/>
                  <a:gd name="T4" fmla="*/ 0 w 16"/>
                  <a:gd name="T5" fmla="*/ 0 h 158"/>
                  <a:gd name="T6" fmla="*/ 0 w 16"/>
                  <a:gd name="T7" fmla="*/ 0 h 158"/>
                  <a:gd name="T8" fmla="*/ 0 w 16"/>
                  <a:gd name="T9" fmla="*/ 0 h 158"/>
                  <a:gd name="T10" fmla="*/ 0 w 16"/>
                  <a:gd name="T11" fmla="*/ 0 h 158"/>
                  <a:gd name="T12" fmla="*/ 0 w 16"/>
                  <a:gd name="T13" fmla="*/ 0 h 158"/>
                  <a:gd name="T14" fmla="*/ 0 w 16"/>
                  <a:gd name="T15" fmla="*/ 0 h 158"/>
                  <a:gd name="T16" fmla="*/ 0 w 16"/>
                  <a:gd name="T17" fmla="*/ 0 h 158"/>
                  <a:gd name="T18" fmla="*/ 0 w 16"/>
                  <a:gd name="T19" fmla="*/ 0 h 158"/>
                  <a:gd name="T20" fmla="*/ 0 w 16"/>
                  <a:gd name="T21" fmla="*/ 0 h 158"/>
                  <a:gd name="T22" fmla="*/ 0 w 16"/>
                  <a:gd name="T23" fmla="*/ 0 h 158"/>
                  <a:gd name="T24" fmla="*/ 0 w 16"/>
                  <a:gd name="T25" fmla="*/ 0 h 158"/>
                  <a:gd name="T26" fmla="*/ 0 w 16"/>
                  <a:gd name="T27" fmla="*/ 0 h 158"/>
                  <a:gd name="T28" fmla="*/ 0 w 16"/>
                  <a:gd name="T29" fmla="*/ 0 h 158"/>
                  <a:gd name="T30" fmla="*/ 0 w 16"/>
                  <a:gd name="T31" fmla="*/ 0 h 158"/>
                  <a:gd name="T32" fmla="*/ 0 w 16"/>
                  <a:gd name="T33" fmla="*/ 0 h 158"/>
                  <a:gd name="T34" fmla="*/ 0 w 16"/>
                  <a:gd name="T35" fmla="*/ 0 h 158"/>
                  <a:gd name="T36" fmla="*/ 0 w 16"/>
                  <a:gd name="T37" fmla="*/ 0 h 158"/>
                  <a:gd name="T38" fmla="*/ 0 w 16"/>
                  <a:gd name="T39" fmla="*/ 0 h 1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6" h="158">
                    <a:moveTo>
                      <a:pt x="0" y="123"/>
                    </a:moveTo>
                    <a:lnTo>
                      <a:pt x="0" y="120"/>
                    </a:lnTo>
                    <a:lnTo>
                      <a:pt x="0" y="105"/>
                    </a:lnTo>
                    <a:lnTo>
                      <a:pt x="1" y="89"/>
                    </a:lnTo>
                    <a:lnTo>
                      <a:pt x="2" y="74"/>
                    </a:lnTo>
                    <a:lnTo>
                      <a:pt x="4" y="58"/>
                    </a:lnTo>
                    <a:lnTo>
                      <a:pt x="6" y="44"/>
                    </a:lnTo>
                    <a:lnTo>
                      <a:pt x="8" y="29"/>
                    </a:lnTo>
                    <a:lnTo>
                      <a:pt x="12" y="14"/>
                    </a:lnTo>
                    <a:lnTo>
                      <a:pt x="16" y="0"/>
                    </a:lnTo>
                    <a:lnTo>
                      <a:pt x="16" y="158"/>
                    </a:lnTo>
                    <a:lnTo>
                      <a:pt x="1" y="158"/>
                    </a:lnTo>
                    <a:lnTo>
                      <a:pt x="1" y="154"/>
                    </a:lnTo>
                    <a:lnTo>
                      <a:pt x="1" y="150"/>
                    </a:lnTo>
                    <a:lnTo>
                      <a:pt x="0" y="146"/>
                    </a:lnTo>
                    <a:lnTo>
                      <a:pt x="0" y="141"/>
                    </a:lnTo>
                    <a:lnTo>
                      <a:pt x="0" y="137"/>
                    </a:lnTo>
                    <a:lnTo>
                      <a:pt x="0" y="133"/>
                    </a:lnTo>
                    <a:lnTo>
                      <a:pt x="0" y="128"/>
                    </a:lnTo>
                    <a:lnTo>
                      <a:pt x="0" y="12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92" name="Freeform 1334"/>
              <p:cNvSpPr>
                <a:spLocks noChangeAspect="1"/>
              </p:cNvSpPr>
              <p:nvPr/>
            </p:nvSpPr>
            <p:spPr bwMode="auto">
              <a:xfrm>
                <a:off x="4241" y="1067"/>
                <a:ext cx="10" cy="69"/>
              </a:xfrm>
              <a:custGeom>
                <a:avLst/>
                <a:gdLst>
                  <a:gd name="T0" fmla="*/ 0 w 31"/>
                  <a:gd name="T1" fmla="*/ 0 h 207"/>
                  <a:gd name="T2" fmla="*/ 0 w 31"/>
                  <a:gd name="T3" fmla="*/ 0 h 207"/>
                  <a:gd name="T4" fmla="*/ 0 w 31"/>
                  <a:gd name="T5" fmla="*/ 0 h 207"/>
                  <a:gd name="T6" fmla="*/ 0 w 31"/>
                  <a:gd name="T7" fmla="*/ 0 h 207"/>
                  <a:gd name="T8" fmla="*/ 0 w 31"/>
                  <a:gd name="T9" fmla="*/ 0 h 207"/>
                  <a:gd name="T10" fmla="*/ 0 w 31"/>
                  <a:gd name="T11" fmla="*/ 0 h 207"/>
                  <a:gd name="T12" fmla="*/ 0 w 31"/>
                  <a:gd name="T13" fmla="*/ 0 h 207"/>
                  <a:gd name="T14" fmla="*/ 0 w 31"/>
                  <a:gd name="T15" fmla="*/ 0 h 207"/>
                  <a:gd name="T16" fmla="*/ 0 w 31"/>
                  <a:gd name="T17" fmla="*/ 0 h 207"/>
                  <a:gd name="T18" fmla="*/ 0 w 31"/>
                  <a:gd name="T19" fmla="*/ 0 h 207"/>
                  <a:gd name="T20" fmla="*/ 0 w 31"/>
                  <a:gd name="T21" fmla="*/ 0 h 207"/>
                  <a:gd name="T22" fmla="*/ 0 w 31"/>
                  <a:gd name="T23" fmla="*/ 0 h 207"/>
                  <a:gd name="T24" fmla="*/ 0 w 31"/>
                  <a:gd name="T25" fmla="*/ 0 h 207"/>
                  <a:gd name="T26" fmla="*/ 0 w 31"/>
                  <a:gd name="T27" fmla="*/ 0 h 207"/>
                  <a:gd name="T28" fmla="*/ 0 w 31"/>
                  <a:gd name="T29" fmla="*/ 0 h 207"/>
                  <a:gd name="T30" fmla="*/ 0 w 31"/>
                  <a:gd name="T31" fmla="*/ 0 h 207"/>
                  <a:gd name="T32" fmla="*/ 0 w 31"/>
                  <a:gd name="T33" fmla="*/ 0 h 207"/>
                  <a:gd name="T34" fmla="*/ 0 w 31"/>
                  <a:gd name="T35" fmla="*/ 0 h 207"/>
                  <a:gd name="T36" fmla="*/ 0 w 31"/>
                  <a:gd name="T37" fmla="*/ 0 h 207"/>
                  <a:gd name="T38" fmla="*/ 0 w 31"/>
                  <a:gd name="T39" fmla="*/ 0 h 2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 h="207">
                    <a:moveTo>
                      <a:pt x="0" y="172"/>
                    </a:moveTo>
                    <a:lnTo>
                      <a:pt x="0" y="169"/>
                    </a:lnTo>
                    <a:lnTo>
                      <a:pt x="0" y="147"/>
                    </a:lnTo>
                    <a:lnTo>
                      <a:pt x="2" y="126"/>
                    </a:lnTo>
                    <a:lnTo>
                      <a:pt x="4" y="103"/>
                    </a:lnTo>
                    <a:lnTo>
                      <a:pt x="8" y="82"/>
                    </a:lnTo>
                    <a:lnTo>
                      <a:pt x="12" y="61"/>
                    </a:lnTo>
                    <a:lnTo>
                      <a:pt x="18" y="40"/>
                    </a:lnTo>
                    <a:lnTo>
                      <a:pt x="24" y="20"/>
                    </a:lnTo>
                    <a:lnTo>
                      <a:pt x="31" y="0"/>
                    </a:lnTo>
                    <a:lnTo>
                      <a:pt x="31" y="207"/>
                    </a:lnTo>
                    <a:lnTo>
                      <a:pt x="1" y="207"/>
                    </a:lnTo>
                    <a:lnTo>
                      <a:pt x="1" y="203"/>
                    </a:lnTo>
                    <a:lnTo>
                      <a:pt x="1" y="199"/>
                    </a:lnTo>
                    <a:lnTo>
                      <a:pt x="0" y="195"/>
                    </a:lnTo>
                    <a:lnTo>
                      <a:pt x="0" y="190"/>
                    </a:lnTo>
                    <a:lnTo>
                      <a:pt x="0" y="186"/>
                    </a:lnTo>
                    <a:lnTo>
                      <a:pt x="0" y="182"/>
                    </a:lnTo>
                    <a:lnTo>
                      <a:pt x="0" y="177"/>
                    </a:lnTo>
                    <a:lnTo>
                      <a:pt x="0" y="17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93" name="Freeform 1335"/>
              <p:cNvSpPr>
                <a:spLocks noChangeAspect="1"/>
              </p:cNvSpPr>
              <p:nvPr/>
            </p:nvSpPr>
            <p:spPr bwMode="auto">
              <a:xfrm>
                <a:off x="4246" y="1055"/>
                <a:ext cx="11" cy="81"/>
              </a:xfrm>
              <a:custGeom>
                <a:avLst/>
                <a:gdLst>
                  <a:gd name="T0" fmla="*/ 0 w 31"/>
                  <a:gd name="T1" fmla="*/ 0 h 243"/>
                  <a:gd name="T2" fmla="*/ 0 w 31"/>
                  <a:gd name="T3" fmla="*/ 0 h 243"/>
                  <a:gd name="T4" fmla="*/ 0 w 31"/>
                  <a:gd name="T5" fmla="*/ 0 h 243"/>
                  <a:gd name="T6" fmla="*/ 0 w 31"/>
                  <a:gd name="T7" fmla="*/ 0 h 243"/>
                  <a:gd name="T8" fmla="*/ 0 w 31"/>
                  <a:gd name="T9" fmla="*/ 0 h 243"/>
                  <a:gd name="T10" fmla="*/ 0 w 31"/>
                  <a:gd name="T11" fmla="*/ 0 h 243"/>
                  <a:gd name="T12" fmla="*/ 0 w 31"/>
                  <a:gd name="T13" fmla="*/ 0 h 243"/>
                  <a:gd name="T14" fmla="*/ 0 w 31"/>
                  <a:gd name="T15" fmla="*/ 0 h 243"/>
                  <a:gd name="T16" fmla="*/ 0 w 31"/>
                  <a:gd name="T17" fmla="*/ 0 h 243"/>
                  <a:gd name="T18" fmla="*/ 0 w 31"/>
                  <a:gd name="T19" fmla="*/ 0 h 243"/>
                  <a:gd name="T20" fmla="*/ 0 w 31"/>
                  <a:gd name="T21" fmla="*/ 0 h 243"/>
                  <a:gd name="T22" fmla="*/ 0 w 31"/>
                  <a:gd name="T23" fmla="*/ 0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243">
                    <a:moveTo>
                      <a:pt x="0" y="243"/>
                    </a:moveTo>
                    <a:lnTo>
                      <a:pt x="0" y="85"/>
                    </a:lnTo>
                    <a:lnTo>
                      <a:pt x="3" y="73"/>
                    </a:lnTo>
                    <a:lnTo>
                      <a:pt x="6" y="63"/>
                    </a:lnTo>
                    <a:lnTo>
                      <a:pt x="10" y="52"/>
                    </a:lnTo>
                    <a:lnTo>
                      <a:pt x="13" y="41"/>
                    </a:lnTo>
                    <a:lnTo>
                      <a:pt x="18" y="31"/>
                    </a:lnTo>
                    <a:lnTo>
                      <a:pt x="22" y="21"/>
                    </a:lnTo>
                    <a:lnTo>
                      <a:pt x="27" y="11"/>
                    </a:lnTo>
                    <a:lnTo>
                      <a:pt x="31" y="0"/>
                    </a:lnTo>
                    <a:lnTo>
                      <a:pt x="31" y="243"/>
                    </a:lnTo>
                    <a:lnTo>
                      <a:pt x="0" y="24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94" name="Freeform 1336"/>
              <p:cNvSpPr>
                <a:spLocks noChangeAspect="1"/>
              </p:cNvSpPr>
              <p:nvPr/>
            </p:nvSpPr>
            <p:spPr bwMode="auto">
              <a:xfrm>
                <a:off x="4251" y="1045"/>
                <a:ext cx="11" cy="91"/>
              </a:xfrm>
              <a:custGeom>
                <a:avLst/>
                <a:gdLst>
                  <a:gd name="T0" fmla="*/ 0 w 33"/>
                  <a:gd name="T1" fmla="*/ 0 h 272"/>
                  <a:gd name="T2" fmla="*/ 0 w 33"/>
                  <a:gd name="T3" fmla="*/ 0 h 272"/>
                  <a:gd name="T4" fmla="*/ 0 w 33"/>
                  <a:gd name="T5" fmla="*/ 0 h 272"/>
                  <a:gd name="T6" fmla="*/ 0 w 33"/>
                  <a:gd name="T7" fmla="*/ 0 h 272"/>
                  <a:gd name="T8" fmla="*/ 0 w 33"/>
                  <a:gd name="T9" fmla="*/ 0 h 272"/>
                  <a:gd name="T10" fmla="*/ 0 w 33"/>
                  <a:gd name="T11" fmla="*/ 0 h 272"/>
                  <a:gd name="T12" fmla="*/ 0 w 33"/>
                  <a:gd name="T13" fmla="*/ 0 h 272"/>
                  <a:gd name="T14" fmla="*/ 0 w 33"/>
                  <a:gd name="T15" fmla="*/ 0 h 272"/>
                  <a:gd name="T16" fmla="*/ 0 w 33"/>
                  <a:gd name="T17" fmla="*/ 0 h 272"/>
                  <a:gd name="T18" fmla="*/ 0 w 33"/>
                  <a:gd name="T19" fmla="*/ 0 h 272"/>
                  <a:gd name="T20" fmla="*/ 0 w 33"/>
                  <a:gd name="T21" fmla="*/ 0 h 272"/>
                  <a:gd name="T22" fmla="*/ 0 w 33"/>
                  <a:gd name="T23" fmla="*/ 0 h 2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272">
                    <a:moveTo>
                      <a:pt x="0" y="272"/>
                    </a:moveTo>
                    <a:lnTo>
                      <a:pt x="0" y="65"/>
                    </a:lnTo>
                    <a:lnTo>
                      <a:pt x="4" y="57"/>
                    </a:lnTo>
                    <a:lnTo>
                      <a:pt x="8" y="48"/>
                    </a:lnTo>
                    <a:lnTo>
                      <a:pt x="11" y="41"/>
                    </a:lnTo>
                    <a:lnTo>
                      <a:pt x="15" y="32"/>
                    </a:lnTo>
                    <a:lnTo>
                      <a:pt x="20" y="24"/>
                    </a:lnTo>
                    <a:lnTo>
                      <a:pt x="24" y="16"/>
                    </a:lnTo>
                    <a:lnTo>
                      <a:pt x="28" y="8"/>
                    </a:lnTo>
                    <a:lnTo>
                      <a:pt x="33" y="0"/>
                    </a:lnTo>
                    <a:lnTo>
                      <a:pt x="33" y="272"/>
                    </a:lnTo>
                    <a:lnTo>
                      <a:pt x="0" y="27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95" name="Freeform 1337"/>
              <p:cNvSpPr>
                <a:spLocks noChangeAspect="1"/>
              </p:cNvSpPr>
              <p:nvPr/>
            </p:nvSpPr>
            <p:spPr bwMode="auto">
              <a:xfrm>
                <a:off x="4257" y="1037"/>
                <a:ext cx="11" cy="99"/>
              </a:xfrm>
              <a:custGeom>
                <a:avLst/>
                <a:gdLst>
                  <a:gd name="T0" fmla="*/ 0 w 33"/>
                  <a:gd name="T1" fmla="*/ 0 h 297"/>
                  <a:gd name="T2" fmla="*/ 0 w 33"/>
                  <a:gd name="T3" fmla="*/ 0 h 297"/>
                  <a:gd name="T4" fmla="*/ 0 w 33"/>
                  <a:gd name="T5" fmla="*/ 0 h 297"/>
                  <a:gd name="T6" fmla="*/ 0 w 33"/>
                  <a:gd name="T7" fmla="*/ 0 h 297"/>
                  <a:gd name="T8" fmla="*/ 0 w 33"/>
                  <a:gd name="T9" fmla="*/ 0 h 297"/>
                  <a:gd name="T10" fmla="*/ 0 w 33"/>
                  <a:gd name="T11" fmla="*/ 0 h 297"/>
                  <a:gd name="T12" fmla="*/ 0 w 33"/>
                  <a:gd name="T13" fmla="*/ 0 h 297"/>
                  <a:gd name="T14" fmla="*/ 0 w 33"/>
                  <a:gd name="T15" fmla="*/ 0 h 297"/>
                  <a:gd name="T16" fmla="*/ 0 w 33"/>
                  <a:gd name="T17" fmla="*/ 0 h 297"/>
                  <a:gd name="T18" fmla="*/ 0 w 33"/>
                  <a:gd name="T19" fmla="*/ 0 h 297"/>
                  <a:gd name="T20" fmla="*/ 0 w 33"/>
                  <a:gd name="T21" fmla="*/ 0 h 297"/>
                  <a:gd name="T22" fmla="*/ 0 w 33"/>
                  <a:gd name="T23" fmla="*/ 0 h 2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297">
                    <a:moveTo>
                      <a:pt x="0" y="297"/>
                    </a:moveTo>
                    <a:lnTo>
                      <a:pt x="0" y="54"/>
                    </a:lnTo>
                    <a:lnTo>
                      <a:pt x="5" y="48"/>
                    </a:lnTo>
                    <a:lnTo>
                      <a:pt x="8" y="40"/>
                    </a:lnTo>
                    <a:lnTo>
                      <a:pt x="12" y="34"/>
                    </a:lnTo>
                    <a:lnTo>
                      <a:pt x="16" y="26"/>
                    </a:lnTo>
                    <a:lnTo>
                      <a:pt x="21" y="20"/>
                    </a:lnTo>
                    <a:lnTo>
                      <a:pt x="25" y="12"/>
                    </a:lnTo>
                    <a:lnTo>
                      <a:pt x="29" y="6"/>
                    </a:lnTo>
                    <a:lnTo>
                      <a:pt x="33" y="0"/>
                    </a:lnTo>
                    <a:lnTo>
                      <a:pt x="33" y="297"/>
                    </a:lnTo>
                    <a:lnTo>
                      <a:pt x="0" y="2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96" name="Freeform 1338"/>
              <p:cNvSpPr>
                <a:spLocks noChangeAspect="1"/>
              </p:cNvSpPr>
              <p:nvPr/>
            </p:nvSpPr>
            <p:spPr bwMode="auto">
              <a:xfrm>
                <a:off x="4262" y="1029"/>
                <a:ext cx="11" cy="107"/>
              </a:xfrm>
              <a:custGeom>
                <a:avLst/>
                <a:gdLst>
                  <a:gd name="T0" fmla="*/ 0 w 32"/>
                  <a:gd name="T1" fmla="*/ 0 h 320"/>
                  <a:gd name="T2" fmla="*/ 0 w 32"/>
                  <a:gd name="T3" fmla="*/ 0 h 320"/>
                  <a:gd name="T4" fmla="*/ 0 w 32"/>
                  <a:gd name="T5" fmla="*/ 0 h 320"/>
                  <a:gd name="T6" fmla="*/ 0 w 32"/>
                  <a:gd name="T7" fmla="*/ 0 h 320"/>
                  <a:gd name="T8" fmla="*/ 0 w 32"/>
                  <a:gd name="T9" fmla="*/ 0 h 320"/>
                  <a:gd name="T10" fmla="*/ 0 w 32"/>
                  <a:gd name="T11" fmla="*/ 0 h 320"/>
                  <a:gd name="T12" fmla="*/ 0 w 32"/>
                  <a:gd name="T13" fmla="*/ 0 h 320"/>
                  <a:gd name="T14" fmla="*/ 0 w 32"/>
                  <a:gd name="T15" fmla="*/ 0 h 320"/>
                  <a:gd name="T16" fmla="*/ 0 w 32"/>
                  <a:gd name="T17" fmla="*/ 0 h 320"/>
                  <a:gd name="T18" fmla="*/ 0 w 32"/>
                  <a:gd name="T19" fmla="*/ 0 h 320"/>
                  <a:gd name="T20" fmla="*/ 0 w 32"/>
                  <a:gd name="T21" fmla="*/ 0 h 320"/>
                  <a:gd name="T22" fmla="*/ 0 w 32"/>
                  <a:gd name="T23" fmla="*/ 0 h 3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20">
                    <a:moveTo>
                      <a:pt x="0" y="320"/>
                    </a:moveTo>
                    <a:lnTo>
                      <a:pt x="0" y="48"/>
                    </a:lnTo>
                    <a:lnTo>
                      <a:pt x="4" y="42"/>
                    </a:lnTo>
                    <a:lnTo>
                      <a:pt x="8" y="35"/>
                    </a:lnTo>
                    <a:lnTo>
                      <a:pt x="11" y="30"/>
                    </a:lnTo>
                    <a:lnTo>
                      <a:pt x="15" y="24"/>
                    </a:lnTo>
                    <a:lnTo>
                      <a:pt x="20" y="17"/>
                    </a:lnTo>
                    <a:lnTo>
                      <a:pt x="24" y="12"/>
                    </a:lnTo>
                    <a:lnTo>
                      <a:pt x="28" y="7"/>
                    </a:lnTo>
                    <a:lnTo>
                      <a:pt x="32" y="0"/>
                    </a:lnTo>
                    <a:lnTo>
                      <a:pt x="32" y="320"/>
                    </a:lnTo>
                    <a:lnTo>
                      <a:pt x="0" y="3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97" name="Freeform 1339"/>
              <p:cNvSpPr>
                <a:spLocks noChangeAspect="1"/>
              </p:cNvSpPr>
              <p:nvPr/>
            </p:nvSpPr>
            <p:spPr bwMode="auto">
              <a:xfrm>
                <a:off x="4268" y="1023"/>
                <a:ext cx="10" cy="113"/>
              </a:xfrm>
              <a:custGeom>
                <a:avLst/>
                <a:gdLst>
                  <a:gd name="T0" fmla="*/ 0 w 32"/>
                  <a:gd name="T1" fmla="*/ 0 h 339"/>
                  <a:gd name="T2" fmla="*/ 0 w 32"/>
                  <a:gd name="T3" fmla="*/ 0 h 339"/>
                  <a:gd name="T4" fmla="*/ 0 w 32"/>
                  <a:gd name="T5" fmla="*/ 0 h 339"/>
                  <a:gd name="T6" fmla="*/ 0 w 32"/>
                  <a:gd name="T7" fmla="*/ 0 h 339"/>
                  <a:gd name="T8" fmla="*/ 0 w 32"/>
                  <a:gd name="T9" fmla="*/ 0 h 339"/>
                  <a:gd name="T10" fmla="*/ 0 w 32"/>
                  <a:gd name="T11" fmla="*/ 0 h 339"/>
                  <a:gd name="T12" fmla="*/ 0 w 32"/>
                  <a:gd name="T13" fmla="*/ 0 h 339"/>
                  <a:gd name="T14" fmla="*/ 0 w 32"/>
                  <a:gd name="T15" fmla="*/ 0 h 339"/>
                  <a:gd name="T16" fmla="*/ 0 w 32"/>
                  <a:gd name="T17" fmla="*/ 0 h 339"/>
                  <a:gd name="T18" fmla="*/ 0 w 32"/>
                  <a:gd name="T19" fmla="*/ 0 h 339"/>
                  <a:gd name="T20" fmla="*/ 0 w 32"/>
                  <a:gd name="T21" fmla="*/ 0 h 339"/>
                  <a:gd name="T22" fmla="*/ 0 w 32"/>
                  <a:gd name="T23" fmla="*/ 0 h 3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39">
                    <a:moveTo>
                      <a:pt x="0" y="339"/>
                    </a:moveTo>
                    <a:lnTo>
                      <a:pt x="0" y="42"/>
                    </a:lnTo>
                    <a:lnTo>
                      <a:pt x="4" y="36"/>
                    </a:lnTo>
                    <a:lnTo>
                      <a:pt x="8" y="31"/>
                    </a:lnTo>
                    <a:lnTo>
                      <a:pt x="12" y="26"/>
                    </a:lnTo>
                    <a:lnTo>
                      <a:pt x="15" y="20"/>
                    </a:lnTo>
                    <a:lnTo>
                      <a:pt x="20" y="15"/>
                    </a:lnTo>
                    <a:lnTo>
                      <a:pt x="24" y="10"/>
                    </a:lnTo>
                    <a:lnTo>
                      <a:pt x="28" y="5"/>
                    </a:lnTo>
                    <a:lnTo>
                      <a:pt x="32" y="0"/>
                    </a:lnTo>
                    <a:lnTo>
                      <a:pt x="32" y="339"/>
                    </a:lnTo>
                    <a:lnTo>
                      <a:pt x="0" y="33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98" name="Freeform 1340"/>
              <p:cNvSpPr>
                <a:spLocks noChangeAspect="1"/>
              </p:cNvSpPr>
              <p:nvPr/>
            </p:nvSpPr>
            <p:spPr bwMode="auto">
              <a:xfrm>
                <a:off x="4273" y="1017"/>
                <a:ext cx="11" cy="119"/>
              </a:xfrm>
              <a:custGeom>
                <a:avLst/>
                <a:gdLst>
                  <a:gd name="T0" fmla="*/ 0 w 32"/>
                  <a:gd name="T1" fmla="*/ 0 h 357"/>
                  <a:gd name="T2" fmla="*/ 0 w 32"/>
                  <a:gd name="T3" fmla="*/ 0 h 357"/>
                  <a:gd name="T4" fmla="*/ 0 w 32"/>
                  <a:gd name="T5" fmla="*/ 0 h 357"/>
                  <a:gd name="T6" fmla="*/ 0 w 32"/>
                  <a:gd name="T7" fmla="*/ 0 h 357"/>
                  <a:gd name="T8" fmla="*/ 0 w 32"/>
                  <a:gd name="T9" fmla="*/ 0 h 357"/>
                  <a:gd name="T10" fmla="*/ 0 w 32"/>
                  <a:gd name="T11" fmla="*/ 0 h 357"/>
                  <a:gd name="T12" fmla="*/ 0 w 32"/>
                  <a:gd name="T13" fmla="*/ 0 h 357"/>
                  <a:gd name="T14" fmla="*/ 0 w 32"/>
                  <a:gd name="T15" fmla="*/ 0 h 357"/>
                  <a:gd name="T16" fmla="*/ 0 w 32"/>
                  <a:gd name="T17" fmla="*/ 0 h 357"/>
                  <a:gd name="T18" fmla="*/ 0 w 32"/>
                  <a:gd name="T19" fmla="*/ 0 h 357"/>
                  <a:gd name="T20" fmla="*/ 0 w 32"/>
                  <a:gd name="T21" fmla="*/ 0 h 357"/>
                  <a:gd name="T22" fmla="*/ 0 w 32"/>
                  <a:gd name="T23" fmla="*/ 0 h 3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57">
                    <a:moveTo>
                      <a:pt x="0" y="357"/>
                    </a:moveTo>
                    <a:lnTo>
                      <a:pt x="0" y="37"/>
                    </a:lnTo>
                    <a:lnTo>
                      <a:pt x="5" y="33"/>
                    </a:lnTo>
                    <a:lnTo>
                      <a:pt x="8" y="28"/>
                    </a:lnTo>
                    <a:lnTo>
                      <a:pt x="12" y="24"/>
                    </a:lnTo>
                    <a:lnTo>
                      <a:pt x="16" y="18"/>
                    </a:lnTo>
                    <a:lnTo>
                      <a:pt x="20" y="14"/>
                    </a:lnTo>
                    <a:lnTo>
                      <a:pt x="24" y="10"/>
                    </a:lnTo>
                    <a:lnTo>
                      <a:pt x="28" y="4"/>
                    </a:lnTo>
                    <a:lnTo>
                      <a:pt x="32" y="0"/>
                    </a:lnTo>
                    <a:lnTo>
                      <a:pt x="32" y="357"/>
                    </a:lnTo>
                    <a:lnTo>
                      <a:pt x="0" y="35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99" name="Freeform 1341"/>
              <p:cNvSpPr>
                <a:spLocks noChangeAspect="1"/>
              </p:cNvSpPr>
              <p:nvPr/>
            </p:nvSpPr>
            <p:spPr bwMode="auto">
              <a:xfrm>
                <a:off x="4278" y="1011"/>
                <a:ext cx="11" cy="125"/>
              </a:xfrm>
              <a:custGeom>
                <a:avLst/>
                <a:gdLst>
                  <a:gd name="T0" fmla="*/ 0 w 32"/>
                  <a:gd name="T1" fmla="*/ 0 h 373"/>
                  <a:gd name="T2" fmla="*/ 0 w 32"/>
                  <a:gd name="T3" fmla="*/ 0 h 373"/>
                  <a:gd name="T4" fmla="*/ 0 w 32"/>
                  <a:gd name="T5" fmla="*/ 0 h 373"/>
                  <a:gd name="T6" fmla="*/ 0 w 32"/>
                  <a:gd name="T7" fmla="*/ 0 h 373"/>
                  <a:gd name="T8" fmla="*/ 0 w 32"/>
                  <a:gd name="T9" fmla="*/ 0 h 373"/>
                  <a:gd name="T10" fmla="*/ 0 w 32"/>
                  <a:gd name="T11" fmla="*/ 0 h 373"/>
                  <a:gd name="T12" fmla="*/ 0 w 32"/>
                  <a:gd name="T13" fmla="*/ 0 h 373"/>
                  <a:gd name="T14" fmla="*/ 0 w 32"/>
                  <a:gd name="T15" fmla="*/ 0 h 373"/>
                  <a:gd name="T16" fmla="*/ 0 w 32"/>
                  <a:gd name="T17" fmla="*/ 0 h 373"/>
                  <a:gd name="T18" fmla="*/ 0 w 32"/>
                  <a:gd name="T19" fmla="*/ 0 h 373"/>
                  <a:gd name="T20" fmla="*/ 0 w 32"/>
                  <a:gd name="T21" fmla="*/ 0 h 373"/>
                  <a:gd name="T22" fmla="*/ 0 w 32"/>
                  <a:gd name="T23" fmla="*/ 0 h 3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73">
                    <a:moveTo>
                      <a:pt x="0" y="373"/>
                    </a:moveTo>
                    <a:lnTo>
                      <a:pt x="0" y="34"/>
                    </a:lnTo>
                    <a:lnTo>
                      <a:pt x="5" y="30"/>
                    </a:lnTo>
                    <a:lnTo>
                      <a:pt x="8" y="26"/>
                    </a:lnTo>
                    <a:lnTo>
                      <a:pt x="12" y="22"/>
                    </a:lnTo>
                    <a:lnTo>
                      <a:pt x="16" y="17"/>
                    </a:lnTo>
                    <a:lnTo>
                      <a:pt x="21" y="13"/>
                    </a:lnTo>
                    <a:lnTo>
                      <a:pt x="25" y="9"/>
                    </a:lnTo>
                    <a:lnTo>
                      <a:pt x="29" y="4"/>
                    </a:lnTo>
                    <a:lnTo>
                      <a:pt x="32" y="0"/>
                    </a:lnTo>
                    <a:lnTo>
                      <a:pt x="32" y="373"/>
                    </a:lnTo>
                    <a:lnTo>
                      <a:pt x="0" y="37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00" name="Freeform 1342"/>
              <p:cNvSpPr>
                <a:spLocks noChangeAspect="1"/>
              </p:cNvSpPr>
              <p:nvPr/>
            </p:nvSpPr>
            <p:spPr bwMode="auto">
              <a:xfrm>
                <a:off x="4284" y="1007"/>
                <a:ext cx="11" cy="129"/>
              </a:xfrm>
              <a:custGeom>
                <a:avLst/>
                <a:gdLst>
                  <a:gd name="T0" fmla="*/ 0 w 33"/>
                  <a:gd name="T1" fmla="*/ 0 h 387"/>
                  <a:gd name="T2" fmla="*/ 0 w 33"/>
                  <a:gd name="T3" fmla="*/ 0 h 387"/>
                  <a:gd name="T4" fmla="*/ 0 w 33"/>
                  <a:gd name="T5" fmla="*/ 0 h 387"/>
                  <a:gd name="T6" fmla="*/ 0 w 33"/>
                  <a:gd name="T7" fmla="*/ 0 h 387"/>
                  <a:gd name="T8" fmla="*/ 0 w 33"/>
                  <a:gd name="T9" fmla="*/ 0 h 387"/>
                  <a:gd name="T10" fmla="*/ 0 w 33"/>
                  <a:gd name="T11" fmla="*/ 0 h 387"/>
                  <a:gd name="T12" fmla="*/ 0 w 33"/>
                  <a:gd name="T13" fmla="*/ 0 h 387"/>
                  <a:gd name="T14" fmla="*/ 0 w 33"/>
                  <a:gd name="T15" fmla="*/ 0 h 387"/>
                  <a:gd name="T16" fmla="*/ 0 w 33"/>
                  <a:gd name="T17" fmla="*/ 0 h 387"/>
                  <a:gd name="T18" fmla="*/ 0 w 33"/>
                  <a:gd name="T19" fmla="*/ 0 h 387"/>
                  <a:gd name="T20" fmla="*/ 0 w 33"/>
                  <a:gd name="T21" fmla="*/ 0 h 387"/>
                  <a:gd name="T22" fmla="*/ 0 w 33"/>
                  <a:gd name="T23" fmla="*/ 0 h 38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87">
                    <a:moveTo>
                      <a:pt x="0" y="387"/>
                    </a:moveTo>
                    <a:lnTo>
                      <a:pt x="0" y="30"/>
                    </a:lnTo>
                    <a:lnTo>
                      <a:pt x="5" y="26"/>
                    </a:lnTo>
                    <a:lnTo>
                      <a:pt x="9" y="23"/>
                    </a:lnTo>
                    <a:lnTo>
                      <a:pt x="12" y="18"/>
                    </a:lnTo>
                    <a:lnTo>
                      <a:pt x="16" y="15"/>
                    </a:lnTo>
                    <a:lnTo>
                      <a:pt x="21" y="11"/>
                    </a:lnTo>
                    <a:lnTo>
                      <a:pt x="25" y="7"/>
                    </a:lnTo>
                    <a:lnTo>
                      <a:pt x="29" y="4"/>
                    </a:lnTo>
                    <a:lnTo>
                      <a:pt x="33" y="0"/>
                    </a:lnTo>
                    <a:lnTo>
                      <a:pt x="33" y="387"/>
                    </a:lnTo>
                    <a:lnTo>
                      <a:pt x="0" y="38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01" name="Freeform 1343"/>
              <p:cNvSpPr>
                <a:spLocks noChangeAspect="1"/>
              </p:cNvSpPr>
              <p:nvPr/>
            </p:nvSpPr>
            <p:spPr bwMode="auto">
              <a:xfrm>
                <a:off x="4289" y="1002"/>
                <a:ext cx="11" cy="134"/>
              </a:xfrm>
              <a:custGeom>
                <a:avLst/>
                <a:gdLst>
                  <a:gd name="T0" fmla="*/ 0 w 33"/>
                  <a:gd name="T1" fmla="*/ 0 h 400"/>
                  <a:gd name="T2" fmla="*/ 0 w 33"/>
                  <a:gd name="T3" fmla="*/ 0 h 400"/>
                  <a:gd name="T4" fmla="*/ 0 w 33"/>
                  <a:gd name="T5" fmla="*/ 0 h 400"/>
                  <a:gd name="T6" fmla="*/ 0 w 33"/>
                  <a:gd name="T7" fmla="*/ 0 h 400"/>
                  <a:gd name="T8" fmla="*/ 0 w 33"/>
                  <a:gd name="T9" fmla="*/ 0 h 400"/>
                  <a:gd name="T10" fmla="*/ 0 w 33"/>
                  <a:gd name="T11" fmla="*/ 0 h 400"/>
                  <a:gd name="T12" fmla="*/ 0 w 33"/>
                  <a:gd name="T13" fmla="*/ 0 h 400"/>
                  <a:gd name="T14" fmla="*/ 0 w 33"/>
                  <a:gd name="T15" fmla="*/ 0 h 400"/>
                  <a:gd name="T16" fmla="*/ 0 w 33"/>
                  <a:gd name="T17" fmla="*/ 0 h 400"/>
                  <a:gd name="T18" fmla="*/ 0 w 33"/>
                  <a:gd name="T19" fmla="*/ 0 h 400"/>
                  <a:gd name="T20" fmla="*/ 0 w 33"/>
                  <a:gd name="T21" fmla="*/ 0 h 400"/>
                  <a:gd name="T22" fmla="*/ 0 w 33"/>
                  <a:gd name="T23" fmla="*/ 0 h 4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00">
                    <a:moveTo>
                      <a:pt x="0" y="400"/>
                    </a:moveTo>
                    <a:lnTo>
                      <a:pt x="0" y="27"/>
                    </a:lnTo>
                    <a:lnTo>
                      <a:pt x="5" y="24"/>
                    </a:lnTo>
                    <a:lnTo>
                      <a:pt x="9" y="20"/>
                    </a:lnTo>
                    <a:lnTo>
                      <a:pt x="13" y="17"/>
                    </a:lnTo>
                    <a:lnTo>
                      <a:pt x="16" y="13"/>
                    </a:lnTo>
                    <a:lnTo>
                      <a:pt x="21" y="10"/>
                    </a:lnTo>
                    <a:lnTo>
                      <a:pt x="25" y="6"/>
                    </a:lnTo>
                    <a:lnTo>
                      <a:pt x="29" y="3"/>
                    </a:lnTo>
                    <a:lnTo>
                      <a:pt x="33" y="0"/>
                    </a:lnTo>
                    <a:lnTo>
                      <a:pt x="33" y="400"/>
                    </a:lnTo>
                    <a:lnTo>
                      <a:pt x="0" y="4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02" name="Freeform 1344"/>
              <p:cNvSpPr>
                <a:spLocks noChangeAspect="1"/>
              </p:cNvSpPr>
              <p:nvPr/>
            </p:nvSpPr>
            <p:spPr bwMode="auto">
              <a:xfrm>
                <a:off x="4295" y="998"/>
                <a:ext cx="10" cy="138"/>
              </a:xfrm>
              <a:custGeom>
                <a:avLst/>
                <a:gdLst>
                  <a:gd name="T0" fmla="*/ 0 w 32"/>
                  <a:gd name="T1" fmla="*/ 0 h 412"/>
                  <a:gd name="T2" fmla="*/ 0 w 32"/>
                  <a:gd name="T3" fmla="*/ 0 h 412"/>
                  <a:gd name="T4" fmla="*/ 0 w 32"/>
                  <a:gd name="T5" fmla="*/ 0 h 412"/>
                  <a:gd name="T6" fmla="*/ 0 w 32"/>
                  <a:gd name="T7" fmla="*/ 0 h 412"/>
                  <a:gd name="T8" fmla="*/ 0 w 32"/>
                  <a:gd name="T9" fmla="*/ 0 h 412"/>
                  <a:gd name="T10" fmla="*/ 0 w 32"/>
                  <a:gd name="T11" fmla="*/ 0 h 412"/>
                  <a:gd name="T12" fmla="*/ 0 w 32"/>
                  <a:gd name="T13" fmla="*/ 0 h 412"/>
                  <a:gd name="T14" fmla="*/ 0 w 32"/>
                  <a:gd name="T15" fmla="*/ 0 h 412"/>
                  <a:gd name="T16" fmla="*/ 0 w 32"/>
                  <a:gd name="T17" fmla="*/ 0 h 412"/>
                  <a:gd name="T18" fmla="*/ 0 w 32"/>
                  <a:gd name="T19" fmla="*/ 0 h 412"/>
                  <a:gd name="T20" fmla="*/ 0 w 32"/>
                  <a:gd name="T21" fmla="*/ 0 h 412"/>
                  <a:gd name="T22" fmla="*/ 0 w 32"/>
                  <a:gd name="T23" fmla="*/ 0 h 4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12">
                    <a:moveTo>
                      <a:pt x="0" y="412"/>
                    </a:moveTo>
                    <a:lnTo>
                      <a:pt x="0" y="25"/>
                    </a:lnTo>
                    <a:lnTo>
                      <a:pt x="4" y="21"/>
                    </a:lnTo>
                    <a:lnTo>
                      <a:pt x="8" y="18"/>
                    </a:lnTo>
                    <a:lnTo>
                      <a:pt x="12" y="15"/>
                    </a:lnTo>
                    <a:lnTo>
                      <a:pt x="16" y="12"/>
                    </a:lnTo>
                    <a:lnTo>
                      <a:pt x="19" y="8"/>
                    </a:lnTo>
                    <a:lnTo>
                      <a:pt x="24" y="6"/>
                    </a:lnTo>
                    <a:lnTo>
                      <a:pt x="28" y="3"/>
                    </a:lnTo>
                    <a:lnTo>
                      <a:pt x="32" y="0"/>
                    </a:lnTo>
                    <a:lnTo>
                      <a:pt x="32" y="412"/>
                    </a:lnTo>
                    <a:lnTo>
                      <a:pt x="0" y="41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03" name="Freeform 1345"/>
              <p:cNvSpPr>
                <a:spLocks noChangeAspect="1"/>
              </p:cNvSpPr>
              <p:nvPr/>
            </p:nvSpPr>
            <p:spPr bwMode="auto">
              <a:xfrm>
                <a:off x="4300" y="994"/>
                <a:ext cx="11" cy="142"/>
              </a:xfrm>
              <a:custGeom>
                <a:avLst/>
                <a:gdLst>
                  <a:gd name="T0" fmla="*/ 0 w 32"/>
                  <a:gd name="T1" fmla="*/ 0 h 424"/>
                  <a:gd name="T2" fmla="*/ 0 w 32"/>
                  <a:gd name="T3" fmla="*/ 0 h 424"/>
                  <a:gd name="T4" fmla="*/ 0 w 32"/>
                  <a:gd name="T5" fmla="*/ 0 h 424"/>
                  <a:gd name="T6" fmla="*/ 0 w 32"/>
                  <a:gd name="T7" fmla="*/ 0 h 424"/>
                  <a:gd name="T8" fmla="*/ 0 w 32"/>
                  <a:gd name="T9" fmla="*/ 0 h 424"/>
                  <a:gd name="T10" fmla="*/ 0 w 32"/>
                  <a:gd name="T11" fmla="*/ 0 h 424"/>
                  <a:gd name="T12" fmla="*/ 0 w 32"/>
                  <a:gd name="T13" fmla="*/ 0 h 424"/>
                  <a:gd name="T14" fmla="*/ 0 w 32"/>
                  <a:gd name="T15" fmla="*/ 0 h 424"/>
                  <a:gd name="T16" fmla="*/ 0 w 32"/>
                  <a:gd name="T17" fmla="*/ 0 h 424"/>
                  <a:gd name="T18" fmla="*/ 0 w 32"/>
                  <a:gd name="T19" fmla="*/ 0 h 424"/>
                  <a:gd name="T20" fmla="*/ 0 w 32"/>
                  <a:gd name="T21" fmla="*/ 0 h 424"/>
                  <a:gd name="T22" fmla="*/ 0 w 32"/>
                  <a:gd name="T23" fmla="*/ 0 h 4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24">
                    <a:moveTo>
                      <a:pt x="0" y="424"/>
                    </a:moveTo>
                    <a:lnTo>
                      <a:pt x="0" y="24"/>
                    </a:lnTo>
                    <a:lnTo>
                      <a:pt x="5" y="20"/>
                    </a:lnTo>
                    <a:lnTo>
                      <a:pt x="8" y="18"/>
                    </a:lnTo>
                    <a:lnTo>
                      <a:pt x="12" y="15"/>
                    </a:lnTo>
                    <a:lnTo>
                      <a:pt x="16" y="12"/>
                    </a:lnTo>
                    <a:lnTo>
                      <a:pt x="21" y="9"/>
                    </a:lnTo>
                    <a:lnTo>
                      <a:pt x="24" y="7"/>
                    </a:lnTo>
                    <a:lnTo>
                      <a:pt x="28" y="3"/>
                    </a:lnTo>
                    <a:lnTo>
                      <a:pt x="32" y="0"/>
                    </a:lnTo>
                    <a:lnTo>
                      <a:pt x="32" y="424"/>
                    </a:lnTo>
                    <a:lnTo>
                      <a:pt x="0" y="42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04" name="Freeform 1346"/>
              <p:cNvSpPr>
                <a:spLocks noChangeAspect="1"/>
              </p:cNvSpPr>
              <p:nvPr/>
            </p:nvSpPr>
            <p:spPr bwMode="auto">
              <a:xfrm>
                <a:off x="4305" y="991"/>
                <a:ext cx="11" cy="145"/>
              </a:xfrm>
              <a:custGeom>
                <a:avLst/>
                <a:gdLst>
                  <a:gd name="T0" fmla="*/ 0 w 32"/>
                  <a:gd name="T1" fmla="*/ 0 h 433"/>
                  <a:gd name="T2" fmla="*/ 0 w 32"/>
                  <a:gd name="T3" fmla="*/ 0 h 433"/>
                  <a:gd name="T4" fmla="*/ 0 w 32"/>
                  <a:gd name="T5" fmla="*/ 0 h 433"/>
                  <a:gd name="T6" fmla="*/ 0 w 32"/>
                  <a:gd name="T7" fmla="*/ 0 h 433"/>
                  <a:gd name="T8" fmla="*/ 0 w 32"/>
                  <a:gd name="T9" fmla="*/ 0 h 433"/>
                  <a:gd name="T10" fmla="*/ 0 w 32"/>
                  <a:gd name="T11" fmla="*/ 0 h 433"/>
                  <a:gd name="T12" fmla="*/ 0 w 32"/>
                  <a:gd name="T13" fmla="*/ 0 h 433"/>
                  <a:gd name="T14" fmla="*/ 0 w 32"/>
                  <a:gd name="T15" fmla="*/ 0 h 433"/>
                  <a:gd name="T16" fmla="*/ 0 w 32"/>
                  <a:gd name="T17" fmla="*/ 0 h 433"/>
                  <a:gd name="T18" fmla="*/ 0 w 32"/>
                  <a:gd name="T19" fmla="*/ 0 h 433"/>
                  <a:gd name="T20" fmla="*/ 0 w 32"/>
                  <a:gd name="T21" fmla="*/ 0 h 433"/>
                  <a:gd name="T22" fmla="*/ 0 w 32"/>
                  <a:gd name="T23" fmla="*/ 0 h 4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33">
                    <a:moveTo>
                      <a:pt x="0" y="433"/>
                    </a:moveTo>
                    <a:lnTo>
                      <a:pt x="0" y="21"/>
                    </a:lnTo>
                    <a:lnTo>
                      <a:pt x="5" y="18"/>
                    </a:lnTo>
                    <a:lnTo>
                      <a:pt x="8" y="16"/>
                    </a:lnTo>
                    <a:lnTo>
                      <a:pt x="12" y="12"/>
                    </a:lnTo>
                    <a:lnTo>
                      <a:pt x="16" y="10"/>
                    </a:lnTo>
                    <a:lnTo>
                      <a:pt x="20" y="7"/>
                    </a:lnTo>
                    <a:lnTo>
                      <a:pt x="25" y="5"/>
                    </a:lnTo>
                    <a:lnTo>
                      <a:pt x="29" y="2"/>
                    </a:lnTo>
                    <a:lnTo>
                      <a:pt x="32" y="0"/>
                    </a:lnTo>
                    <a:lnTo>
                      <a:pt x="32" y="433"/>
                    </a:lnTo>
                    <a:lnTo>
                      <a:pt x="0" y="43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05" name="Freeform 1347"/>
              <p:cNvSpPr>
                <a:spLocks noChangeAspect="1"/>
              </p:cNvSpPr>
              <p:nvPr/>
            </p:nvSpPr>
            <p:spPr bwMode="auto">
              <a:xfrm>
                <a:off x="4311" y="988"/>
                <a:ext cx="11" cy="148"/>
              </a:xfrm>
              <a:custGeom>
                <a:avLst/>
                <a:gdLst>
                  <a:gd name="T0" fmla="*/ 0 w 33"/>
                  <a:gd name="T1" fmla="*/ 0 h 443"/>
                  <a:gd name="T2" fmla="*/ 0 w 33"/>
                  <a:gd name="T3" fmla="*/ 0 h 443"/>
                  <a:gd name="T4" fmla="*/ 0 w 33"/>
                  <a:gd name="T5" fmla="*/ 0 h 443"/>
                  <a:gd name="T6" fmla="*/ 0 w 33"/>
                  <a:gd name="T7" fmla="*/ 0 h 443"/>
                  <a:gd name="T8" fmla="*/ 0 w 33"/>
                  <a:gd name="T9" fmla="*/ 0 h 443"/>
                  <a:gd name="T10" fmla="*/ 0 w 33"/>
                  <a:gd name="T11" fmla="*/ 0 h 443"/>
                  <a:gd name="T12" fmla="*/ 0 w 33"/>
                  <a:gd name="T13" fmla="*/ 0 h 443"/>
                  <a:gd name="T14" fmla="*/ 0 w 33"/>
                  <a:gd name="T15" fmla="*/ 0 h 443"/>
                  <a:gd name="T16" fmla="*/ 0 w 33"/>
                  <a:gd name="T17" fmla="*/ 0 h 443"/>
                  <a:gd name="T18" fmla="*/ 0 w 33"/>
                  <a:gd name="T19" fmla="*/ 0 h 443"/>
                  <a:gd name="T20" fmla="*/ 0 w 33"/>
                  <a:gd name="T21" fmla="*/ 0 h 443"/>
                  <a:gd name="T22" fmla="*/ 0 w 33"/>
                  <a:gd name="T23" fmla="*/ 0 h 4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43">
                    <a:moveTo>
                      <a:pt x="0" y="443"/>
                    </a:moveTo>
                    <a:lnTo>
                      <a:pt x="0" y="19"/>
                    </a:lnTo>
                    <a:lnTo>
                      <a:pt x="4" y="17"/>
                    </a:lnTo>
                    <a:lnTo>
                      <a:pt x="9" y="15"/>
                    </a:lnTo>
                    <a:lnTo>
                      <a:pt x="12" y="12"/>
                    </a:lnTo>
                    <a:lnTo>
                      <a:pt x="16" y="10"/>
                    </a:lnTo>
                    <a:lnTo>
                      <a:pt x="20" y="8"/>
                    </a:lnTo>
                    <a:lnTo>
                      <a:pt x="25" y="5"/>
                    </a:lnTo>
                    <a:lnTo>
                      <a:pt x="29" y="3"/>
                    </a:lnTo>
                    <a:lnTo>
                      <a:pt x="33" y="0"/>
                    </a:lnTo>
                    <a:lnTo>
                      <a:pt x="33" y="443"/>
                    </a:lnTo>
                    <a:lnTo>
                      <a:pt x="0" y="44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06" name="Freeform 1348"/>
              <p:cNvSpPr>
                <a:spLocks noChangeAspect="1"/>
              </p:cNvSpPr>
              <p:nvPr/>
            </p:nvSpPr>
            <p:spPr bwMode="auto">
              <a:xfrm>
                <a:off x="4316" y="986"/>
                <a:ext cx="11" cy="150"/>
              </a:xfrm>
              <a:custGeom>
                <a:avLst/>
                <a:gdLst>
                  <a:gd name="T0" fmla="*/ 0 w 33"/>
                  <a:gd name="T1" fmla="*/ 0 h 450"/>
                  <a:gd name="T2" fmla="*/ 0 w 33"/>
                  <a:gd name="T3" fmla="*/ 0 h 450"/>
                  <a:gd name="T4" fmla="*/ 0 w 33"/>
                  <a:gd name="T5" fmla="*/ 0 h 450"/>
                  <a:gd name="T6" fmla="*/ 0 w 33"/>
                  <a:gd name="T7" fmla="*/ 0 h 450"/>
                  <a:gd name="T8" fmla="*/ 0 w 33"/>
                  <a:gd name="T9" fmla="*/ 0 h 450"/>
                  <a:gd name="T10" fmla="*/ 0 w 33"/>
                  <a:gd name="T11" fmla="*/ 0 h 450"/>
                  <a:gd name="T12" fmla="*/ 0 w 33"/>
                  <a:gd name="T13" fmla="*/ 0 h 450"/>
                  <a:gd name="T14" fmla="*/ 0 w 33"/>
                  <a:gd name="T15" fmla="*/ 0 h 450"/>
                  <a:gd name="T16" fmla="*/ 0 w 33"/>
                  <a:gd name="T17" fmla="*/ 0 h 450"/>
                  <a:gd name="T18" fmla="*/ 0 w 33"/>
                  <a:gd name="T19" fmla="*/ 0 h 450"/>
                  <a:gd name="T20" fmla="*/ 0 w 33"/>
                  <a:gd name="T21" fmla="*/ 0 h 450"/>
                  <a:gd name="T22" fmla="*/ 0 w 33"/>
                  <a:gd name="T23" fmla="*/ 0 h 4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50">
                    <a:moveTo>
                      <a:pt x="0" y="450"/>
                    </a:moveTo>
                    <a:lnTo>
                      <a:pt x="0" y="17"/>
                    </a:lnTo>
                    <a:lnTo>
                      <a:pt x="4" y="15"/>
                    </a:lnTo>
                    <a:lnTo>
                      <a:pt x="9" y="12"/>
                    </a:lnTo>
                    <a:lnTo>
                      <a:pt x="13" y="10"/>
                    </a:lnTo>
                    <a:lnTo>
                      <a:pt x="16" y="8"/>
                    </a:lnTo>
                    <a:lnTo>
                      <a:pt x="20" y="6"/>
                    </a:lnTo>
                    <a:lnTo>
                      <a:pt x="25" y="3"/>
                    </a:lnTo>
                    <a:lnTo>
                      <a:pt x="29" y="2"/>
                    </a:lnTo>
                    <a:lnTo>
                      <a:pt x="33" y="0"/>
                    </a:lnTo>
                    <a:lnTo>
                      <a:pt x="33" y="450"/>
                    </a:lnTo>
                    <a:lnTo>
                      <a:pt x="0" y="45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07" name="Freeform 1349"/>
              <p:cNvSpPr>
                <a:spLocks noChangeAspect="1"/>
              </p:cNvSpPr>
              <p:nvPr/>
            </p:nvSpPr>
            <p:spPr bwMode="auto">
              <a:xfrm>
                <a:off x="4322" y="983"/>
                <a:ext cx="10" cy="153"/>
              </a:xfrm>
              <a:custGeom>
                <a:avLst/>
                <a:gdLst>
                  <a:gd name="T0" fmla="*/ 0 w 32"/>
                  <a:gd name="T1" fmla="*/ 0 h 458"/>
                  <a:gd name="T2" fmla="*/ 0 w 32"/>
                  <a:gd name="T3" fmla="*/ 0 h 458"/>
                  <a:gd name="T4" fmla="*/ 0 w 32"/>
                  <a:gd name="T5" fmla="*/ 0 h 458"/>
                  <a:gd name="T6" fmla="*/ 0 w 32"/>
                  <a:gd name="T7" fmla="*/ 0 h 458"/>
                  <a:gd name="T8" fmla="*/ 0 w 32"/>
                  <a:gd name="T9" fmla="*/ 0 h 458"/>
                  <a:gd name="T10" fmla="*/ 0 w 32"/>
                  <a:gd name="T11" fmla="*/ 0 h 458"/>
                  <a:gd name="T12" fmla="*/ 0 w 32"/>
                  <a:gd name="T13" fmla="*/ 0 h 458"/>
                  <a:gd name="T14" fmla="*/ 0 w 32"/>
                  <a:gd name="T15" fmla="*/ 0 h 458"/>
                  <a:gd name="T16" fmla="*/ 0 w 32"/>
                  <a:gd name="T17" fmla="*/ 0 h 458"/>
                  <a:gd name="T18" fmla="*/ 0 w 32"/>
                  <a:gd name="T19" fmla="*/ 0 h 458"/>
                  <a:gd name="T20" fmla="*/ 0 w 32"/>
                  <a:gd name="T21" fmla="*/ 0 h 458"/>
                  <a:gd name="T22" fmla="*/ 0 w 32"/>
                  <a:gd name="T23" fmla="*/ 0 h 4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58">
                    <a:moveTo>
                      <a:pt x="0" y="458"/>
                    </a:moveTo>
                    <a:lnTo>
                      <a:pt x="0" y="15"/>
                    </a:lnTo>
                    <a:lnTo>
                      <a:pt x="3" y="13"/>
                    </a:lnTo>
                    <a:lnTo>
                      <a:pt x="8" y="11"/>
                    </a:lnTo>
                    <a:lnTo>
                      <a:pt x="12" y="10"/>
                    </a:lnTo>
                    <a:lnTo>
                      <a:pt x="16" y="8"/>
                    </a:lnTo>
                    <a:lnTo>
                      <a:pt x="19" y="6"/>
                    </a:lnTo>
                    <a:lnTo>
                      <a:pt x="24" y="3"/>
                    </a:lnTo>
                    <a:lnTo>
                      <a:pt x="28" y="1"/>
                    </a:lnTo>
                    <a:lnTo>
                      <a:pt x="32" y="0"/>
                    </a:lnTo>
                    <a:lnTo>
                      <a:pt x="32" y="458"/>
                    </a:lnTo>
                    <a:lnTo>
                      <a:pt x="0" y="45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08" name="Freeform 1350"/>
              <p:cNvSpPr>
                <a:spLocks noChangeAspect="1"/>
              </p:cNvSpPr>
              <p:nvPr/>
            </p:nvSpPr>
            <p:spPr bwMode="auto">
              <a:xfrm>
                <a:off x="4327" y="981"/>
                <a:ext cx="11" cy="155"/>
              </a:xfrm>
              <a:custGeom>
                <a:avLst/>
                <a:gdLst>
                  <a:gd name="T0" fmla="*/ 0 w 32"/>
                  <a:gd name="T1" fmla="*/ 0 h 465"/>
                  <a:gd name="T2" fmla="*/ 0 w 32"/>
                  <a:gd name="T3" fmla="*/ 0 h 465"/>
                  <a:gd name="T4" fmla="*/ 0 w 32"/>
                  <a:gd name="T5" fmla="*/ 0 h 465"/>
                  <a:gd name="T6" fmla="*/ 0 w 32"/>
                  <a:gd name="T7" fmla="*/ 0 h 465"/>
                  <a:gd name="T8" fmla="*/ 0 w 32"/>
                  <a:gd name="T9" fmla="*/ 0 h 465"/>
                  <a:gd name="T10" fmla="*/ 0 w 32"/>
                  <a:gd name="T11" fmla="*/ 0 h 465"/>
                  <a:gd name="T12" fmla="*/ 0 w 32"/>
                  <a:gd name="T13" fmla="*/ 0 h 465"/>
                  <a:gd name="T14" fmla="*/ 0 w 32"/>
                  <a:gd name="T15" fmla="*/ 0 h 465"/>
                  <a:gd name="T16" fmla="*/ 0 w 32"/>
                  <a:gd name="T17" fmla="*/ 0 h 465"/>
                  <a:gd name="T18" fmla="*/ 0 w 32"/>
                  <a:gd name="T19" fmla="*/ 0 h 465"/>
                  <a:gd name="T20" fmla="*/ 0 w 32"/>
                  <a:gd name="T21" fmla="*/ 0 h 465"/>
                  <a:gd name="T22" fmla="*/ 0 w 32"/>
                  <a:gd name="T23" fmla="*/ 0 h 4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65">
                    <a:moveTo>
                      <a:pt x="0" y="465"/>
                    </a:moveTo>
                    <a:lnTo>
                      <a:pt x="0" y="15"/>
                    </a:lnTo>
                    <a:lnTo>
                      <a:pt x="3" y="13"/>
                    </a:lnTo>
                    <a:lnTo>
                      <a:pt x="8" y="10"/>
                    </a:lnTo>
                    <a:lnTo>
                      <a:pt x="12" y="8"/>
                    </a:lnTo>
                    <a:lnTo>
                      <a:pt x="16" y="7"/>
                    </a:lnTo>
                    <a:lnTo>
                      <a:pt x="20" y="5"/>
                    </a:lnTo>
                    <a:lnTo>
                      <a:pt x="24" y="3"/>
                    </a:lnTo>
                    <a:lnTo>
                      <a:pt x="28" y="2"/>
                    </a:lnTo>
                    <a:lnTo>
                      <a:pt x="32" y="0"/>
                    </a:lnTo>
                    <a:lnTo>
                      <a:pt x="32" y="465"/>
                    </a:lnTo>
                    <a:lnTo>
                      <a:pt x="0" y="4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09" name="Freeform 1351"/>
              <p:cNvSpPr>
                <a:spLocks noChangeAspect="1"/>
              </p:cNvSpPr>
              <p:nvPr/>
            </p:nvSpPr>
            <p:spPr bwMode="auto">
              <a:xfrm>
                <a:off x="4332" y="978"/>
                <a:ext cx="11" cy="158"/>
              </a:xfrm>
              <a:custGeom>
                <a:avLst/>
                <a:gdLst>
                  <a:gd name="T0" fmla="*/ 0 w 32"/>
                  <a:gd name="T1" fmla="*/ 0 h 472"/>
                  <a:gd name="T2" fmla="*/ 0 w 32"/>
                  <a:gd name="T3" fmla="*/ 0 h 472"/>
                  <a:gd name="T4" fmla="*/ 0 w 32"/>
                  <a:gd name="T5" fmla="*/ 0 h 472"/>
                  <a:gd name="T6" fmla="*/ 0 w 32"/>
                  <a:gd name="T7" fmla="*/ 0 h 472"/>
                  <a:gd name="T8" fmla="*/ 0 w 32"/>
                  <a:gd name="T9" fmla="*/ 0 h 472"/>
                  <a:gd name="T10" fmla="*/ 0 w 32"/>
                  <a:gd name="T11" fmla="*/ 0 h 472"/>
                  <a:gd name="T12" fmla="*/ 0 w 32"/>
                  <a:gd name="T13" fmla="*/ 0 h 472"/>
                  <a:gd name="T14" fmla="*/ 0 w 32"/>
                  <a:gd name="T15" fmla="*/ 0 h 472"/>
                  <a:gd name="T16" fmla="*/ 0 w 32"/>
                  <a:gd name="T17" fmla="*/ 0 h 472"/>
                  <a:gd name="T18" fmla="*/ 0 w 32"/>
                  <a:gd name="T19" fmla="*/ 0 h 472"/>
                  <a:gd name="T20" fmla="*/ 0 w 32"/>
                  <a:gd name="T21" fmla="*/ 0 h 472"/>
                  <a:gd name="T22" fmla="*/ 0 w 32"/>
                  <a:gd name="T23" fmla="*/ 0 h 4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72">
                    <a:moveTo>
                      <a:pt x="0" y="472"/>
                    </a:moveTo>
                    <a:lnTo>
                      <a:pt x="0" y="14"/>
                    </a:lnTo>
                    <a:lnTo>
                      <a:pt x="4" y="12"/>
                    </a:lnTo>
                    <a:lnTo>
                      <a:pt x="8" y="10"/>
                    </a:lnTo>
                    <a:lnTo>
                      <a:pt x="12" y="9"/>
                    </a:lnTo>
                    <a:lnTo>
                      <a:pt x="16" y="7"/>
                    </a:lnTo>
                    <a:lnTo>
                      <a:pt x="20" y="6"/>
                    </a:lnTo>
                    <a:lnTo>
                      <a:pt x="25" y="4"/>
                    </a:lnTo>
                    <a:lnTo>
                      <a:pt x="28" y="2"/>
                    </a:lnTo>
                    <a:lnTo>
                      <a:pt x="32" y="0"/>
                    </a:lnTo>
                    <a:lnTo>
                      <a:pt x="32" y="472"/>
                    </a:lnTo>
                    <a:lnTo>
                      <a:pt x="0" y="47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10" name="Freeform 1352"/>
              <p:cNvSpPr>
                <a:spLocks noChangeAspect="1"/>
              </p:cNvSpPr>
              <p:nvPr/>
            </p:nvSpPr>
            <p:spPr bwMode="auto">
              <a:xfrm>
                <a:off x="4338" y="977"/>
                <a:ext cx="11" cy="159"/>
              </a:xfrm>
              <a:custGeom>
                <a:avLst/>
                <a:gdLst>
                  <a:gd name="T0" fmla="*/ 0 w 33"/>
                  <a:gd name="T1" fmla="*/ 0 h 477"/>
                  <a:gd name="T2" fmla="*/ 0 w 33"/>
                  <a:gd name="T3" fmla="*/ 0 h 477"/>
                  <a:gd name="T4" fmla="*/ 0 w 33"/>
                  <a:gd name="T5" fmla="*/ 0 h 477"/>
                  <a:gd name="T6" fmla="*/ 0 w 33"/>
                  <a:gd name="T7" fmla="*/ 0 h 477"/>
                  <a:gd name="T8" fmla="*/ 0 w 33"/>
                  <a:gd name="T9" fmla="*/ 0 h 477"/>
                  <a:gd name="T10" fmla="*/ 0 w 33"/>
                  <a:gd name="T11" fmla="*/ 0 h 477"/>
                  <a:gd name="T12" fmla="*/ 0 w 33"/>
                  <a:gd name="T13" fmla="*/ 0 h 477"/>
                  <a:gd name="T14" fmla="*/ 0 w 33"/>
                  <a:gd name="T15" fmla="*/ 0 h 477"/>
                  <a:gd name="T16" fmla="*/ 0 w 33"/>
                  <a:gd name="T17" fmla="*/ 0 h 477"/>
                  <a:gd name="T18" fmla="*/ 0 w 33"/>
                  <a:gd name="T19" fmla="*/ 0 h 477"/>
                  <a:gd name="T20" fmla="*/ 0 w 33"/>
                  <a:gd name="T21" fmla="*/ 0 h 477"/>
                  <a:gd name="T22" fmla="*/ 0 w 33"/>
                  <a:gd name="T23" fmla="*/ 0 h 4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77">
                    <a:moveTo>
                      <a:pt x="0" y="477"/>
                    </a:moveTo>
                    <a:lnTo>
                      <a:pt x="0" y="12"/>
                    </a:lnTo>
                    <a:lnTo>
                      <a:pt x="4" y="11"/>
                    </a:lnTo>
                    <a:lnTo>
                      <a:pt x="9" y="9"/>
                    </a:lnTo>
                    <a:lnTo>
                      <a:pt x="12" y="7"/>
                    </a:lnTo>
                    <a:lnTo>
                      <a:pt x="16" y="5"/>
                    </a:lnTo>
                    <a:lnTo>
                      <a:pt x="20" y="4"/>
                    </a:lnTo>
                    <a:lnTo>
                      <a:pt x="25" y="3"/>
                    </a:lnTo>
                    <a:lnTo>
                      <a:pt x="29" y="2"/>
                    </a:lnTo>
                    <a:lnTo>
                      <a:pt x="33" y="0"/>
                    </a:lnTo>
                    <a:lnTo>
                      <a:pt x="33" y="477"/>
                    </a:lnTo>
                    <a:lnTo>
                      <a:pt x="0" y="47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11" name="Freeform 1353"/>
              <p:cNvSpPr>
                <a:spLocks noChangeAspect="1"/>
              </p:cNvSpPr>
              <p:nvPr/>
            </p:nvSpPr>
            <p:spPr bwMode="auto">
              <a:xfrm>
                <a:off x="4343" y="975"/>
                <a:ext cx="11" cy="161"/>
              </a:xfrm>
              <a:custGeom>
                <a:avLst/>
                <a:gdLst>
                  <a:gd name="T0" fmla="*/ 0 w 33"/>
                  <a:gd name="T1" fmla="*/ 0 h 481"/>
                  <a:gd name="T2" fmla="*/ 0 w 33"/>
                  <a:gd name="T3" fmla="*/ 0 h 481"/>
                  <a:gd name="T4" fmla="*/ 0 w 33"/>
                  <a:gd name="T5" fmla="*/ 0 h 481"/>
                  <a:gd name="T6" fmla="*/ 0 w 33"/>
                  <a:gd name="T7" fmla="*/ 0 h 481"/>
                  <a:gd name="T8" fmla="*/ 0 w 33"/>
                  <a:gd name="T9" fmla="*/ 0 h 481"/>
                  <a:gd name="T10" fmla="*/ 0 w 33"/>
                  <a:gd name="T11" fmla="*/ 0 h 481"/>
                  <a:gd name="T12" fmla="*/ 0 w 33"/>
                  <a:gd name="T13" fmla="*/ 0 h 481"/>
                  <a:gd name="T14" fmla="*/ 0 w 33"/>
                  <a:gd name="T15" fmla="*/ 0 h 481"/>
                  <a:gd name="T16" fmla="*/ 0 w 33"/>
                  <a:gd name="T17" fmla="*/ 0 h 481"/>
                  <a:gd name="T18" fmla="*/ 0 w 33"/>
                  <a:gd name="T19" fmla="*/ 0 h 481"/>
                  <a:gd name="T20" fmla="*/ 0 w 33"/>
                  <a:gd name="T21" fmla="*/ 0 h 481"/>
                  <a:gd name="T22" fmla="*/ 0 w 33"/>
                  <a:gd name="T23" fmla="*/ 0 h 4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81">
                    <a:moveTo>
                      <a:pt x="0" y="481"/>
                    </a:moveTo>
                    <a:lnTo>
                      <a:pt x="0" y="9"/>
                    </a:lnTo>
                    <a:lnTo>
                      <a:pt x="4" y="8"/>
                    </a:lnTo>
                    <a:lnTo>
                      <a:pt x="9" y="7"/>
                    </a:lnTo>
                    <a:lnTo>
                      <a:pt x="13" y="6"/>
                    </a:lnTo>
                    <a:lnTo>
                      <a:pt x="16" y="4"/>
                    </a:lnTo>
                    <a:lnTo>
                      <a:pt x="20" y="3"/>
                    </a:lnTo>
                    <a:lnTo>
                      <a:pt x="25" y="2"/>
                    </a:lnTo>
                    <a:lnTo>
                      <a:pt x="29" y="1"/>
                    </a:lnTo>
                    <a:lnTo>
                      <a:pt x="33" y="0"/>
                    </a:lnTo>
                    <a:lnTo>
                      <a:pt x="33" y="481"/>
                    </a:lnTo>
                    <a:lnTo>
                      <a:pt x="0" y="4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12" name="Freeform 1354"/>
              <p:cNvSpPr>
                <a:spLocks noChangeAspect="1"/>
              </p:cNvSpPr>
              <p:nvPr/>
            </p:nvSpPr>
            <p:spPr bwMode="auto">
              <a:xfrm>
                <a:off x="4349" y="974"/>
                <a:ext cx="10" cy="162"/>
              </a:xfrm>
              <a:custGeom>
                <a:avLst/>
                <a:gdLst>
                  <a:gd name="T0" fmla="*/ 0 w 32"/>
                  <a:gd name="T1" fmla="*/ 0 h 485"/>
                  <a:gd name="T2" fmla="*/ 0 w 32"/>
                  <a:gd name="T3" fmla="*/ 0 h 485"/>
                  <a:gd name="T4" fmla="*/ 0 w 32"/>
                  <a:gd name="T5" fmla="*/ 0 h 485"/>
                  <a:gd name="T6" fmla="*/ 0 w 32"/>
                  <a:gd name="T7" fmla="*/ 0 h 485"/>
                  <a:gd name="T8" fmla="*/ 0 w 32"/>
                  <a:gd name="T9" fmla="*/ 0 h 485"/>
                  <a:gd name="T10" fmla="*/ 0 w 32"/>
                  <a:gd name="T11" fmla="*/ 0 h 485"/>
                  <a:gd name="T12" fmla="*/ 0 w 32"/>
                  <a:gd name="T13" fmla="*/ 0 h 485"/>
                  <a:gd name="T14" fmla="*/ 0 w 32"/>
                  <a:gd name="T15" fmla="*/ 0 h 485"/>
                  <a:gd name="T16" fmla="*/ 0 w 32"/>
                  <a:gd name="T17" fmla="*/ 0 h 485"/>
                  <a:gd name="T18" fmla="*/ 0 w 32"/>
                  <a:gd name="T19" fmla="*/ 0 h 485"/>
                  <a:gd name="T20" fmla="*/ 0 w 32"/>
                  <a:gd name="T21" fmla="*/ 0 h 485"/>
                  <a:gd name="T22" fmla="*/ 0 w 32"/>
                  <a:gd name="T23" fmla="*/ 0 h 4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85">
                    <a:moveTo>
                      <a:pt x="0" y="485"/>
                    </a:moveTo>
                    <a:lnTo>
                      <a:pt x="0" y="8"/>
                    </a:lnTo>
                    <a:lnTo>
                      <a:pt x="3" y="7"/>
                    </a:lnTo>
                    <a:lnTo>
                      <a:pt x="8" y="6"/>
                    </a:lnTo>
                    <a:lnTo>
                      <a:pt x="12" y="5"/>
                    </a:lnTo>
                    <a:lnTo>
                      <a:pt x="16" y="4"/>
                    </a:lnTo>
                    <a:lnTo>
                      <a:pt x="19" y="3"/>
                    </a:lnTo>
                    <a:lnTo>
                      <a:pt x="24" y="2"/>
                    </a:lnTo>
                    <a:lnTo>
                      <a:pt x="28" y="1"/>
                    </a:lnTo>
                    <a:lnTo>
                      <a:pt x="32" y="0"/>
                    </a:lnTo>
                    <a:lnTo>
                      <a:pt x="32" y="485"/>
                    </a:lnTo>
                    <a:lnTo>
                      <a:pt x="0" y="48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13" name="Freeform 1355"/>
              <p:cNvSpPr>
                <a:spLocks noChangeAspect="1"/>
              </p:cNvSpPr>
              <p:nvPr/>
            </p:nvSpPr>
            <p:spPr bwMode="auto">
              <a:xfrm>
                <a:off x="4354" y="973"/>
                <a:ext cx="11" cy="163"/>
              </a:xfrm>
              <a:custGeom>
                <a:avLst/>
                <a:gdLst>
                  <a:gd name="T0" fmla="*/ 0 w 32"/>
                  <a:gd name="T1" fmla="*/ 0 h 489"/>
                  <a:gd name="T2" fmla="*/ 0 w 32"/>
                  <a:gd name="T3" fmla="*/ 0 h 489"/>
                  <a:gd name="T4" fmla="*/ 0 w 32"/>
                  <a:gd name="T5" fmla="*/ 0 h 489"/>
                  <a:gd name="T6" fmla="*/ 0 w 32"/>
                  <a:gd name="T7" fmla="*/ 0 h 489"/>
                  <a:gd name="T8" fmla="*/ 0 w 32"/>
                  <a:gd name="T9" fmla="*/ 0 h 489"/>
                  <a:gd name="T10" fmla="*/ 0 w 32"/>
                  <a:gd name="T11" fmla="*/ 0 h 489"/>
                  <a:gd name="T12" fmla="*/ 0 w 32"/>
                  <a:gd name="T13" fmla="*/ 0 h 489"/>
                  <a:gd name="T14" fmla="*/ 0 w 32"/>
                  <a:gd name="T15" fmla="*/ 0 h 489"/>
                  <a:gd name="T16" fmla="*/ 0 w 32"/>
                  <a:gd name="T17" fmla="*/ 0 h 489"/>
                  <a:gd name="T18" fmla="*/ 0 w 32"/>
                  <a:gd name="T19" fmla="*/ 0 h 489"/>
                  <a:gd name="T20" fmla="*/ 0 w 32"/>
                  <a:gd name="T21" fmla="*/ 0 h 489"/>
                  <a:gd name="T22" fmla="*/ 0 w 32"/>
                  <a:gd name="T23" fmla="*/ 0 h 4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89">
                    <a:moveTo>
                      <a:pt x="0" y="489"/>
                    </a:moveTo>
                    <a:lnTo>
                      <a:pt x="0" y="8"/>
                    </a:lnTo>
                    <a:lnTo>
                      <a:pt x="3" y="7"/>
                    </a:lnTo>
                    <a:lnTo>
                      <a:pt x="8" y="6"/>
                    </a:lnTo>
                    <a:lnTo>
                      <a:pt x="12" y="5"/>
                    </a:lnTo>
                    <a:lnTo>
                      <a:pt x="16" y="4"/>
                    </a:lnTo>
                    <a:lnTo>
                      <a:pt x="20" y="2"/>
                    </a:lnTo>
                    <a:lnTo>
                      <a:pt x="23" y="1"/>
                    </a:lnTo>
                    <a:lnTo>
                      <a:pt x="28" y="1"/>
                    </a:lnTo>
                    <a:lnTo>
                      <a:pt x="32" y="0"/>
                    </a:lnTo>
                    <a:lnTo>
                      <a:pt x="32" y="489"/>
                    </a:lnTo>
                    <a:lnTo>
                      <a:pt x="0" y="4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14" name="Freeform 1356"/>
              <p:cNvSpPr>
                <a:spLocks noChangeAspect="1"/>
              </p:cNvSpPr>
              <p:nvPr/>
            </p:nvSpPr>
            <p:spPr bwMode="auto">
              <a:xfrm>
                <a:off x="4359" y="972"/>
                <a:ext cx="11" cy="164"/>
              </a:xfrm>
              <a:custGeom>
                <a:avLst/>
                <a:gdLst>
                  <a:gd name="T0" fmla="*/ 0 w 32"/>
                  <a:gd name="T1" fmla="*/ 0 h 492"/>
                  <a:gd name="T2" fmla="*/ 0 w 32"/>
                  <a:gd name="T3" fmla="*/ 0 h 492"/>
                  <a:gd name="T4" fmla="*/ 0 w 32"/>
                  <a:gd name="T5" fmla="*/ 0 h 492"/>
                  <a:gd name="T6" fmla="*/ 0 w 32"/>
                  <a:gd name="T7" fmla="*/ 0 h 492"/>
                  <a:gd name="T8" fmla="*/ 0 w 32"/>
                  <a:gd name="T9" fmla="*/ 0 h 492"/>
                  <a:gd name="T10" fmla="*/ 0 w 32"/>
                  <a:gd name="T11" fmla="*/ 0 h 492"/>
                  <a:gd name="T12" fmla="*/ 0 w 32"/>
                  <a:gd name="T13" fmla="*/ 0 h 492"/>
                  <a:gd name="T14" fmla="*/ 0 w 32"/>
                  <a:gd name="T15" fmla="*/ 0 h 492"/>
                  <a:gd name="T16" fmla="*/ 0 w 32"/>
                  <a:gd name="T17" fmla="*/ 0 h 492"/>
                  <a:gd name="T18" fmla="*/ 0 w 32"/>
                  <a:gd name="T19" fmla="*/ 0 h 492"/>
                  <a:gd name="T20" fmla="*/ 0 w 32"/>
                  <a:gd name="T21" fmla="*/ 0 h 492"/>
                  <a:gd name="T22" fmla="*/ 0 w 32"/>
                  <a:gd name="T23" fmla="*/ 0 h 4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2">
                    <a:moveTo>
                      <a:pt x="0" y="492"/>
                    </a:moveTo>
                    <a:lnTo>
                      <a:pt x="0" y="7"/>
                    </a:lnTo>
                    <a:lnTo>
                      <a:pt x="4" y="5"/>
                    </a:lnTo>
                    <a:lnTo>
                      <a:pt x="7" y="4"/>
                    </a:lnTo>
                    <a:lnTo>
                      <a:pt x="12" y="4"/>
                    </a:lnTo>
                    <a:lnTo>
                      <a:pt x="16" y="3"/>
                    </a:lnTo>
                    <a:lnTo>
                      <a:pt x="20" y="2"/>
                    </a:lnTo>
                    <a:lnTo>
                      <a:pt x="24" y="1"/>
                    </a:lnTo>
                    <a:lnTo>
                      <a:pt x="28" y="1"/>
                    </a:lnTo>
                    <a:lnTo>
                      <a:pt x="32" y="0"/>
                    </a:lnTo>
                    <a:lnTo>
                      <a:pt x="32" y="492"/>
                    </a:lnTo>
                    <a:lnTo>
                      <a:pt x="0" y="49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15" name="Freeform 1357"/>
              <p:cNvSpPr>
                <a:spLocks noChangeAspect="1"/>
              </p:cNvSpPr>
              <p:nvPr/>
            </p:nvSpPr>
            <p:spPr bwMode="auto">
              <a:xfrm>
                <a:off x="4365" y="971"/>
                <a:ext cx="10" cy="165"/>
              </a:xfrm>
              <a:custGeom>
                <a:avLst/>
                <a:gdLst>
                  <a:gd name="T0" fmla="*/ 0 w 32"/>
                  <a:gd name="T1" fmla="*/ 0 h 494"/>
                  <a:gd name="T2" fmla="*/ 0 w 32"/>
                  <a:gd name="T3" fmla="*/ 0 h 494"/>
                  <a:gd name="T4" fmla="*/ 0 w 32"/>
                  <a:gd name="T5" fmla="*/ 0 h 494"/>
                  <a:gd name="T6" fmla="*/ 0 w 32"/>
                  <a:gd name="T7" fmla="*/ 0 h 494"/>
                  <a:gd name="T8" fmla="*/ 0 w 32"/>
                  <a:gd name="T9" fmla="*/ 0 h 494"/>
                  <a:gd name="T10" fmla="*/ 0 w 32"/>
                  <a:gd name="T11" fmla="*/ 0 h 494"/>
                  <a:gd name="T12" fmla="*/ 0 w 32"/>
                  <a:gd name="T13" fmla="*/ 0 h 494"/>
                  <a:gd name="T14" fmla="*/ 0 w 32"/>
                  <a:gd name="T15" fmla="*/ 0 h 494"/>
                  <a:gd name="T16" fmla="*/ 0 w 32"/>
                  <a:gd name="T17" fmla="*/ 0 h 494"/>
                  <a:gd name="T18" fmla="*/ 0 w 32"/>
                  <a:gd name="T19" fmla="*/ 0 h 494"/>
                  <a:gd name="T20" fmla="*/ 0 w 32"/>
                  <a:gd name="T21" fmla="*/ 0 h 494"/>
                  <a:gd name="T22" fmla="*/ 0 w 32"/>
                  <a:gd name="T23" fmla="*/ 0 h 49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4">
                    <a:moveTo>
                      <a:pt x="0" y="494"/>
                    </a:moveTo>
                    <a:lnTo>
                      <a:pt x="0" y="5"/>
                    </a:lnTo>
                    <a:lnTo>
                      <a:pt x="4" y="4"/>
                    </a:lnTo>
                    <a:lnTo>
                      <a:pt x="8" y="3"/>
                    </a:lnTo>
                    <a:lnTo>
                      <a:pt x="12" y="3"/>
                    </a:lnTo>
                    <a:lnTo>
                      <a:pt x="16" y="2"/>
                    </a:lnTo>
                    <a:lnTo>
                      <a:pt x="20" y="1"/>
                    </a:lnTo>
                    <a:lnTo>
                      <a:pt x="24" y="1"/>
                    </a:lnTo>
                    <a:lnTo>
                      <a:pt x="29" y="0"/>
                    </a:lnTo>
                    <a:lnTo>
                      <a:pt x="32" y="0"/>
                    </a:lnTo>
                    <a:lnTo>
                      <a:pt x="32" y="494"/>
                    </a:lnTo>
                    <a:lnTo>
                      <a:pt x="0" y="49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16" name="Freeform 1358"/>
              <p:cNvSpPr>
                <a:spLocks noChangeAspect="1"/>
              </p:cNvSpPr>
              <p:nvPr/>
            </p:nvSpPr>
            <p:spPr bwMode="auto">
              <a:xfrm>
                <a:off x="4370" y="970"/>
                <a:ext cx="11" cy="166"/>
              </a:xfrm>
              <a:custGeom>
                <a:avLst/>
                <a:gdLst>
                  <a:gd name="T0" fmla="*/ 0 w 33"/>
                  <a:gd name="T1" fmla="*/ 0 h 496"/>
                  <a:gd name="T2" fmla="*/ 0 w 33"/>
                  <a:gd name="T3" fmla="*/ 0 h 496"/>
                  <a:gd name="T4" fmla="*/ 0 w 33"/>
                  <a:gd name="T5" fmla="*/ 0 h 496"/>
                  <a:gd name="T6" fmla="*/ 0 w 33"/>
                  <a:gd name="T7" fmla="*/ 0 h 496"/>
                  <a:gd name="T8" fmla="*/ 0 w 33"/>
                  <a:gd name="T9" fmla="*/ 0 h 496"/>
                  <a:gd name="T10" fmla="*/ 0 w 33"/>
                  <a:gd name="T11" fmla="*/ 0 h 496"/>
                  <a:gd name="T12" fmla="*/ 0 w 33"/>
                  <a:gd name="T13" fmla="*/ 0 h 496"/>
                  <a:gd name="T14" fmla="*/ 0 w 33"/>
                  <a:gd name="T15" fmla="*/ 0 h 496"/>
                  <a:gd name="T16" fmla="*/ 0 w 33"/>
                  <a:gd name="T17" fmla="*/ 0 h 496"/>
                  <a:gd name="T18" fmla="*/ 0 w 33"/>
                  <a:gd name="T19" fmla="*/ 0 h 496"/>
                  <a:gd name="T20" fmla="*/ 0 w 33"/>
                  <a:gd name="T21" fmla="*/ 0 h 496"/>
                  <a:gd name="T22" fmla="*/ 0 w 33"/>
                  <a:gd name="T23" fmla="*/ 0 h 49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96">
                    <a:moveTo>
                      <a:pt x="0" y="496"/>
                    </a:moveTo>
                    <a:lnTo>
                      <a:pt x="0" y="4"/>
                    </a:lnTo>
                    <a:lnTo>
                      <a:pt x="4" y="3"/>
                    </a:lnTo>
                    <a:lnTo>
                      <a:pt x="8" y="3"/>
                    </a:lnTo>
                    <a:lnTo>
                      <a:pt x="13" y="2"/>
                    </a:lnTo>
                    <a:lnTo>
                      <a:pt x="16" y="2"/>
                    </a:lnTo>
                    <a:lnTo>
                      <a:pt x="20" y="1"/>
                    </a:lnTo>
                    <a:lnTo>
                      <a:pt x="24" y="1"/>
                    </a:lnTo>
                    <a:lnTo>
                      <a:pt x="29" y="1"/>
                    </a:lnTo>
                    <a:lnTo>
                      <a:pt x="33" y="0"/>
                    </a:lnTo>
                    <a:lnTo>
                      <a:pt x="33" y="496"/>
                    </a:lnTo>
                    <a:lnTo>
                      <a:pt x="0" y="49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17" name="Freeform 1359"/>
              <p:cNvSpPr>
                <a:spLocks noChangeAspect="1"/>
              </p:cNvSpPr>
              <p:nvPr/>
            </p:nvSpPr>
            <p:spPr bwMode="auto">
              <a:xfrm>
                <a:off x="4375" y="970"/>
                <a:ext cx="11" cy="166"/>
              </a:xfrm>
              <a:custGeom>
                <a:avLst/>
                <a:gdLst>
                  <a:gd name="T0" fmla="*/ 0 w 33"/>
                  <a:gd name="T1" fmla="*/ 0 h 497"/>
                  <a:gd name="T2" fmla="*/ 0 w 33"/>
                  <a:gd name="T3" fmla="*/ 0 h 497"/>
                  <a:gd name="T4" fmla="*/ 0 w 33"/>
                  <a:gd name="T5" fmla="*/ 0 h 497"/>
                  <a:gd name="T6" fmla="*/ 0 w 33"/>
                  <a:gd name="T7" fmla="*/ 0 h 497"/>
                  <a:gd name="T8" fmla="*/ 0 w 33"/>
                  <a:gd name="T9" fmla="*/ 0 h 497"/>
                  <a:gd name="T10" fmla="*/ 0 w 33"/>
                  <a:gd name="T11" fmla="*/ 0 h 497"/>
                  <a:gd name="T12" fmla="*/ 0 w 33"/>
                  <a:gd name="T13" fmla="*/ 0 h 497"/>
                  <a:gd name="T14" fmla="*/ 0 w 33"/>
                  <a:gd name="T15" fmla="*/ 0 h 497"/>
                  <a:gd name="T16" fmla="*/ 0 w 33"/>
                  <a:gd name="T17" fmla="*/ 0 h 497"/>
                  <a:gd name="T18" fmla="*/ 0 w 33"/>
                  <a:gd name="T19" fmla="*/ 0 h 497"/>
                  <a:gd name="T20" fmla="*/ 0 w 33"/>
                  <a:gd name="T21" fmla="*/ 0 h 497"/>
                  <a:gd name="T22" fmla="*/ 0 w 33"/>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97">
                    <a:moveTo>
                      <a:pt x="0" y="497"/>
                    </a:moveTo>
                    <a:lnTo>
                      <a:pt x="0" y="3"/>
                    </a:lnTo>
                    <a:lnTo>
                      <a:pt x="4" y="2"/>
                    </a:lnTo>
                    <a:lnTo>
                      <a:pt x="8" y="2"/>
                    </a:lnTo>
                    <a:lnTo>
                      <a:pt x="13" y="2"/>
                    </a:lnTo>
                    <a:lnTo>
                      <a:pt x="17" y="1"/>
                    </a:lnTo>
                    <a:lnTo>
                      <a:pt x="20" y="1"/>
                    </a:lnTo>
                    <a:lnTo>
                      <a:pt x="24" y="1"/>
                    </a:lnTo>
                    <a:lnTo>
                      <a:pt x="29" y="0"/>
                    </a:lnTo>
                    <a:lnTo>
                      <a:pt x="33" y="0"/>
                    </a:lnTo>
                    <a:lnTo>
                      <a:pt x="33"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18" name="Freeform 1360"/>
              <p:cNvSpPr>
                <a:spLocks noChangeAspect="1"/>
              </p:cNvSpPr>
              <p:nvPr/>
            </p:nvSpPr>
            <p:spPr bwMode="auto">
              <a:xfrm>
                <a:off x="4381" y="970"/>
                <a:ext cx="11" cy="166"/>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7">
                    <a:moveTo>
                      <a:pt x="0" y="497"/>
                    </a:moveTo>
                    <a:lnTo>
                      <a:pt x="0" y="1"/>
                    </a:lnTo>
                    <a:lnTo>
                      <a:pt x="3" y="1"/>
                    </a:lnTo>
                    <a:lnTo>
                      <a:pt x="7" y="1"/>
                    </a:lnTo>
                    <a:lnTo>
                      <a:pt x="12" y="0"/>
                    </a:lnTo>
                    <a:lnTo>
                      <a:pt x="16" y="0"/>
                    </a:lnTo>
                    <a:lnTo>
                      <a:pt x="20" y="0"/>
                    </a:lnTo>
                    <a:lnTo>
                      <a:pt x="23" y="0"/>
                    </a:lnTo>
                    <a:lnTo>
                      <a:pt x="28" y="0"/>
                    </a:lnTo>
                    <a:lnTo>
                      <a:pt x="32" y="0"/>
                    </a:lnTo>
                    <a:lnTo>
                      <a:pt x="32"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19" name="Freeform 1361"/>
              <p:cNvSpPr>
                <a:spLocks noChangeAspect="1"/>
              </p:cNvSpPr>
              <p:nvPr/>
            </p:nvSpPr>
            <p:spPr bwMode="auto">
              <a:xfrm>
                <a:off x="4386" y="970"/>
                <a:ext cx="11" cy="166"/>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w 32"/>
                  <a:gd name="T25" fmla="*/ 0 h 497"/>
                  <a:gd name="T26" fmla="*/ 0 w 32"/>
                  <a:gd name="T27" fmla="*/ 0 h 497"/>
                  <a:gd name="T28" fmla="*/ 0 w 32"/>
                  <a:gd name="T29" fmla="*/ 0 h 497"/>
                  <a:gd name="T30" fmla="*/ 0 w 32"/>
                  <a:gd name="T31" fmla="*/ 0 h 497"/>
                  <a:gd name="T32" fmla="*/ 0 w 32"/>
                  <a:gd name="T33" fmla="*/ 0 h 497"/>
                  <a:gd name="T34" fmla="*/ 0 w 32"/>
                  <a:gd name="T35" fmla="*/ 0 h 497"/>
                  <a:gd name="T36" fmla="*/ 0 w 32"/>
                  <a:gd name="T37" fmla="*/ 0 h 497"/>
                  <a:gd name="T38" fmla="*/ 0 w 32"/>
                  <a:gd name="T39" fmla="*/ 0 h 497"/>
                  <a:gd name="T40" fmla="*/ 0 w 32"/>
                  <a:gd name="T41" fmla="*/ 0 h 49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 h="497">
                    <a:moveTo>
                      <a:pt x="0" y="497"/>
                    </a:moveTo>
                    <a:lnTo>
                      <a:pt x="0" y="0"/>
                    </a:lnTo>
                    <a:lnTo>
                      <a:pt x="3" y="0"/>
                    </a:lnTo>
                    <a:lnTo>
                      <a:pt x="5" y="0"/>
                    </a:lnTo>
                    <a:lnTo>
                      <a:pt x="8" y="0"/>
                    </a:lnTo>
                    <a:lnTo>
                      <a:pt x="12" y="0"/>
                    </a:lnTo>
                    <a:lnTo>
                      <a:pt x="15" y="0"/>
                    </a:lnTo>
                    <a:lnTo>
                      <a:pt x="18" y="0"/>
                    </a:lnTo>
                    <a:lnTo>
                      <a:pt x="21" y="0"/>
                    </a:lnTo>
                    <a:lnTo>
                      <a:pt x="23" y="0"/>
                    </a:lnTo>
                    <a:lnTo>
                      <a:pt x="24" y="0"/>
                    </a:lnTo>
                    <a:lnTo>
                      <a:pt x="25" y="0"/>
                    </a:lnTo>
                    <a:lnTo>
                      <a:pt x="27" y="0"/>
                    </a:lnTo>
                    <a:lnTo>
                      <a:pt x="28" y="0"/>
                    </a:lnTo>
                    <a:lnTo>
                      <a:pt x="29" y="0"/>
                    </a:lnTo>
                    <a:lnTo>
                      <a:pt x="30" y="0"/>
                    </a:lnTo>
                    <a:lnTo>
                      <a:pt x="31" y="0"/>
                    </a:lnTo>
                    <a:lnTo>
                      <a:pt x="32" y="0"/>
                    </a:lnTo>
                    <a:lnTo>
                      <a:pt x="32"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20" name="Freeform 1362"/>
              <p:cNvSpPr>
                <a:spLocks noChangeAspect="1"/>
              </p:cNvSpPr>
              <p:nvPr/>
            </p:nvSpPr>
            <p:spPr bwMode="auto">
              <a:xfrm>
                <a:off x="4392" y="970"/>
                <a:ext cx="10" cy="166"/>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w 32"/>
                  <a:gd name="T25" fmla="*/ 0 h 497"/>
                  <a:gd name="T26" fmla="*/ 0 w 32"/>
                  <a:gd name="T27" fmla="*/ 0 h 497"/>
                  <a:gd name="T28" fmla="*/ 0 w 32"/>
                  <a:gd name="T29" fmla="*/ 0 h 497"/>
                  <a:gd name="T30" fmla="*/ 0 w 32"/>
                  <a:gd name="T31" fmla="*/ 0 h 497"/>
                  <a:gd name="T32" fmla="*/ 0 w 32"/>
                  <a:gd name="T33" fmla="*/ 0 h 497"/>
                  <a:gd name="T34" fmla="*/ 0 w 32"/>
                  <a:gd name="T35" fmla="*/ 0 h 497"/>
                  <a:gd name="T36" fmla="*/ 0 w 32"/>
                  <a:gd name="T37" fmla="*/ 0 h 497"/>
                  <a:gd name="T38" fmla="*/ 0 w 32"/>
                  <a:gd name="T39" fmla="*/ 0 h 497"/>
                  <a:gd name="T40" fmla="*/ 0 w 32"/>
                  <a:gd name="T41" fmla="*/ 0 h 49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 h="497">
                    <a:moveTo>
                      <a:pt x="0" y="497"/>
                    </a:moveTo>
                    <a:lnTo>
                      <a:pt x="0" y="0"/>
                    </a:lnTo>
                    <a:lnTo>
                      <a:pt x="1" y="0"/>
                    </a:lnTo>
                    <a:lnTo>
                      <a:pt x="2" y="0"/>
                    </a:lnTo>
                    <a:lnTo>
                      <a:pt x="3" y="0"/>
                    </a:lnTo>
                    <a:lnTo>
                      <a:pt x="4" y="0"/>
                    </a:lnTo>
                    <a:lnTo>
                      <a:pt x="5" y="0"/>
                    </a:lnTo>
                    <a:lnTo>
                      <a:pt x="6" y="0"/>
                    </a:lnTo>
                    <a:lnTo>
                      <a:pt x="7" y="0"/>
                    </a:lnTo>
                    <a:lnTo>
                      <a:pt x="11" y="0"/>
                    </a:lnTo>
                    <a:lnTo>
                      <a:pt x="14" y="0"/>
                    </a:lnTo>
                    <a:lnTo>
                      <a:pt x="17" y="0"/>
                    </a:lnTo>
                    <a:lnTo>
                      <a:pt x="20" y="0"/>
                    </a:lnTo>
                    <a:lnTo>
                      <a:pt x="23" y="0"/>
                    </a:lnTo>
                    <a:lnTo>
                      <a:pt x="26" y="0"/>
                    </a:lnTo>
                    <a:lnTo>
                      <a:pt x="30" y="0"/>
                    </a:lnTo>
                    <a:lnTo>
                      <a:pt x="32" y="0"/>
                    </a:lnTo>
                    <a:lnTo>
                      <a:pt x="32" y="481"/>
                    </a:lnTo>
                    <a:lnTo>
                      <a:pt x="16"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21" name="Freeform 1363"/>
              <p:cNvSpPr>
                <a:spLocks noChangeAspect="1"/>
              </p:cNvSpPr>
              <p:nvPr/>
            </p:nvSpPr>
            <p:spPr bwMode="auto">
              <a:xfrm>
                <a:off x="4397" y="970"/>
                <a:ext cx="11" cy="166"/>
              </a:xfrm>
              <a:custGeom>
                <a:avLst/>
                <a:gdLst>
                  <a:gd name="T0" fmla="*/ 0 w 33"/>
                  <a:gd name="T1" fmla="*/ 0 h 497"/>
                  <a:gd name="T2" fmla="*/ 0 w 33"/>
                  <a:gd name="T3" fmla="*/ 0 h 497"/>
                  <a:gd name="T4" fmla="*/ 0 w 33"/>
                  <a:gd name="T5" fmla="*/ 0 h 497"/>
                  <a:gd name="T6" fmla="*/ 0 w 33"/>
                  <a:gd name="T7" fmla="*/ 0 h 497"/>
                  <a:gd name="T8" fmla="*/ 0 w 33"/>
                  <a:gd name="T9" fmla="*/ 0 h 497"/>
                  <a:gd name="T10" fmla="*/ 0 w 33"/>
                  <a:gd name="T11" fmla="*/ 0 h 497"/>
                  <a:gd name="T12" fmla="*/ 0 w 33"/>
                  <a:gd name="T13" fmla="*/ 0 h 497"/>
                  <a:gd name="T14" fmla="*/ 0 w 33"/>
                  <a:gd name="T15" fmla="*/ 0 h 497"/>
                  <a:gd name="T16" fmla="*/ 0 w 33"/>
                  <a:gd name="T17" fmla="*/ 0 h 497"/>
                  <a:gd name="T18" fmla="*/ 0 w 33"/>
                  <a:gd name="T19" fmla="*/ 0 h 497"/>
                  <a:gd name="T20" fmla="*/ 0 w 33"/>
                  <a:gd name="T21" fmla="*/ 0 h 497"/>
                  <a:gd name="T22" fmla="*/ 0 w 33"/>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97">
                    <a:moveTo>
                      <a:pt x="0" y="497"/>
                    </a:moveTo>
                    <a:lnTo>
                      <a:pt x="0" y="0"/>
                    </a:lnTo>
                    <a:lnTo>
                      <a:pt x="4" y="0"/>
                    </a:lnTo>
                    <a:lnTo>
                      <a:pt x="8" y="0"/>
                    </a:lnTo>
                    <a:lnTo>
                      <a:pt x="13" y="0"/>
                    </a:lnTo>
                    <a:lnTo>
                      <a:pt x="16" y="0"/>
                    </a:lnTo>
                    <a:lnTo>
                      <a:pt x="20" y="0"/>
                    </a:lnTo>
                    <a:lnTo>
                      <a:pt x="24" y="1"/>
                    </a:lnTo>
                    <a:lnTo>
                      <a:pt x="29" y="1"/>
                    </a:lnTo>
                    <a:lnTo>
                      <a:pt x="33" y="1"/>
                    </a:lnTo>
                    <a:lnTo>
                      <a:pt x="33" y="464"/>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22" name="Freeform 1364"/>
              <p:cNvSpPr>
                <a:spLocks noChangeAspect="1"/>
              </p:cNvSpPr>
              <p:nvPr/>
            </p:nvSpPr>
            <p:spPr bwMode="auto">
              <a:xfrm>
                <a:off x="4402" y="970"/>
                <a:ext cx="11" cy="160"/>
              </a:xfrm>
              <a:custGeom>
                <a:avLst/>
                <a:gdLst>
                  <a:gd name="T0" fmla="*/ 0 w 33"/>
                  <a:gd name="T1" fmla="*/ 0 h 481"/>
                  <a:gd name="T2" fmla="*/ 0 w 33"/>
                  <a:gd name="T3" fmla="*/ 0 h 481"/>
                  <a:gd name="T4" fmla="*/ 0 w 33"/>
                  <a:gd name="T5" fmla="*/ 0 h 481"/>
                  <a:gd name="T6" fmla="*/ 0 w 33"/>
                  <a:gd name="T7" fmla="*/ 0 h 481"/>
                  <a:gd name="T8" fmla="*/ 0 w 33"/>
                  <a:gd name="T9" fmla="*/ 0 h 481"/>
                  <a:gd name="T10" fmla="*/ 0 w 33"/>
                  <a:gd name="T11" fmla="*/ 0 h 481"/>
                  <a:gd name="T12" fmla="*/ 0 w 33"/>
                  <a:gd name="T13" fmla="*/ 0 h 481"/>
                  <a:gd name="T14" fmla="*/ 0 w 33"/>
                  <a:gd name="T15" fmla="*/ 0 h 481"/>
                  <a:gd name="T16" fmla="*/ 0 w 33"/>
                  <a:gd name="T17" fmla="*/ 0 h 481"/>
                  <a:gd name="T18" fmla="*/ 0 w 33"/>
                  <a:gd name="T19" fmla="*/ 0 h 481"/>
                  <a:gd name="T20" fmla="*/ 0 w 33"/>
                  <a:gd name="T21" fmla="*/ 0 h 481"/>
                  <a:gd name="T22" fmla="*/ 0 w 33"/>
                  <a:gd name="T23" fmla="*/ 0 h 4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81">
                    <a:moveTo>
                      <a:pt x="0" y="481"/>
                    </a:moveTo>
                    <a:lnTo>
                      <a:pt x="0" y="0"/>
                    </a:lnTo>
                    <a:lnTo>
                      <a:pt x="4" y="0"/>
                    </a:lnTo>
                    <a:lnTo>
                      <a:pt x="8" y="1"/>
                    </a:lnTo>
                    <a:lnTo>
                      <a:pt x="13" y="1"/>
                    </a:lnTo>
                    <a:lnTo>
                      <a:pt x="17" y="1"/>
                    </a:lnTo>
                    <a:lnTo>
                      <a:pt x="20" y="2"/>
                    </a:lnTo>
                    <a:lnTo>
                      <a:pt x="24" y="2"/>
                    </a:lnTo>
                    <a:lnTo>
                      <a:pt x="29" y="2"/>
                    </a:lnTo>
                    <a:lnTo>
                      <a:pt x="33" y="3"/>
                    </a:lnTo>
                    <a:lnTo>
                      <a:pt x="33" y="449"/>
                    </a:lnTo>
                    <a:lnTo>
                      <a:pt x="0" y="4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23" name="Freeform 1365"/>
              <p:cNvSpPr>
                <a:spLocks noChangeAspect="1"/>
              </p:cNvSpPr>
              <p:nvPr/>
            </p:nvSpPr>
            <p:spPr bwMode="auto">
              <a:xfrm>
                <a:off x="4408" y="970"/>
                <a:ext cx="11" cy="155"/>
              </a:xfrm>
              <a:custGeom>
                <a:avLst/>
                <a:gdLst>
                  <a:gd name="T0" fmla="*/ 0 w 32"/>
                  <a:gd name="T1" fmla="*/ 0 h 463"/>
                  <a:gd name="T2" fmla="*/ 0 w 32"/>
                  <a:gd name="T3" fmla="*/ 0 h 463"/>
                  <a:gd name="T4" fmla="*/ 0 w 32"/>
                  <a:gd name="T5" fmla="*/ 0 h 463"/>
                  <a:gd name="T6" fmla="*/ 0 w 32"/>
                  <a:gd name="T7" fmla="*/ 0 h 463"/>
                  <a:gd name="T8" fmla="*/ 0 w 32"/>
                  <a:gd name="T9" fmla="*/ 0 h 463"/>
                  <a:gd name="T10" fmla="*/ 0 w 32"/>
                  <a:gd name="T11" fmla="*/ 0 h 463"/>
                  <a:gd name="T12" fmla="*/ 0 w 32"/>
                  <a:gd name="T13" fmla="*/ 0 h 463"/>
                  <a:gd name="T14" fmla="*/ 0 w 32"/>
                  <a:gd name="T15" fmla="*/ 0 h 463"/>
                  <a:gd name="T16" fmla="*/ 0 w 32"/>
                  <a:gd name="T17" fmla="*/ 0 h 463"/>
                  <a:gd name="T18" fmla="*/ 0 w 32"/>
                  <a:gd name="T19" fmla="*/ 0 h 463"/>
                  <a:gd name="T20" fmla="*/ 0 w 32"/>
                  <a:gd name="T21" fmla="*/ 0 h 463"/>
                  <a:gd name="T22" fmla="*/ 0 w 32"/>
                  <a:gd name="T23" fmla="*/ 0 h 46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63">
                    <a:moveTo>
                      <a:pt x="0" y="463"/>
                    </a:moveTo>
                    <a:lnTo>
                      <a:pt x="0" y="0"/>
                    </a:lnTo>
                    <a:lnTo>
                      <a:pt x="3" y="1"/>
                    </a:lnTo>
                    <a:lnTo>
                      <a:pt x="7" y="1"/>
                    </a:lnTo>
                    <a:lnTo>
                      <a:pt x="12" y="1"/>
                    </a:lnTo>
                    <a:lnTo>
                      <a:pt x="16" y="2"/>
                    </a:lnTo>
                    <a:lnTo>
                      <a:pt x="20" y="2"/>
                    </a:lnTo>
                    <a:lnTo>
                      <a:pt x="23" y="3"/>
                    </a:lnTo>
                    <a:lnTo>
                      <a:pt x="27" y="3"/>
                    </a:lnTo>
                    <a:lnTo>
                      <a:pt x="32" y="4"/>
                    </a:lnTo>
                    <a:lnTo>
                      <a:pt x="32" y="432"/>
                    </a:lnTo>
                    <a:lnTo>
                      <a:pt x="0" y="46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24" name="Freeform 1366"/>
              <p:cNvSpPr>
                <a:spLocks noChangeAspect="1"/>
              </p:cNvSpPr>
              <p:nvPr/>
            </p:nvSpPr>
            <p:spPr bwMode="auto">
              <a:xfrm>
                <a:off x="4413" y="971"/>
                <a:ext cx="11" cy="149"/>
              </a:xfrm>
              <a:custGeom>
                <a:avLst/>
                <a:gdLst>
                  <a:gd name="T0" fmla="*/ 0 w 32"/>
                  <a:gd name="T1" fmla="*/ 0 h 446"/>
                  <a:gd name="T2" fmla="*/ 0 w 32"/>
                  <a:gd name="T3" fmla="*/ 0 h 446"/>
                  <a:gd name="T4" fmla="*/ 0 w 32"/>
                  <a:gd name="T5" fmla="*/ 0 h 446"/>
                  <a:gd name="T6" fmla="*/ 0 w 32"/>
                  <a:gd name="T7" fmla="*/ 0 h 446"/>
                  <a:gd name="T8" fmla="*/ 0 w 32"/>
                  <a:gd name="T9" fmla="*/ 0 h 446"/>
                  <a:gd name="T10" fmla="*/ 0 w 32"/>
                  <a:gd name="T11" fmla="*/ 0 h 446"/>
                  <a:gd name="T12" fmla="*/ 0 w 32"/>
                  <a:gd name="T13" fmla="*/ 0 h 446"/>
                  <a:gd name="T14" fmla="*/ 0 w 32"/>
                  <a:gd name="T15" fmla="*/ 0 h 446"/>
                  <a:gd name="T16" fmla="*/ 0 w 32"/>
                  <a:gd name="T17" fmla="*/ 0 h 446"/>
                  <a:gd name="T18" fmla="*/ 0 w 32"/>
                  <a:gd name="T19" fmla="*/ 0 h 446"/>
                  <a:gd name="T20" fmla="*/ 0 w 32"/>
                  <a:gd name="T21" fmla="*/ 0 h 446"/>
                  <a:gd name="T22" fmla="*/ 0 w 32"/>
                  <a:gd name="T23" fmla="*/ 0 h 4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46">
                    <a:moveTo>
                      <a:pt x="0" y="446"/>
                    </a:moveTo>
                    <a:lnTo>
                      <a:pt x="0" y="0"/>
                    </a:lnTo>
                    <a:lnTo>
                      <a:pt x="4" y="0"/>
                    </a:lnTo>
                    <a:lnTo>
                      <a:pt x="7" y="1"/>
                    </a:lnTo>
                    <a:lnTo>
                      <a:pt x="11" y="1"/>
                    </a:lnTo>
                    <a:lnTo>
                      <a:pt x="16" y="2"/>
                    </a:lnTo>
                    <a:lnTo>
                      <a:pt x="20" y="3"/>
                    </a:lnTo>
                    <a:lnTo>
                      <a:pt x="24" y="3"/>
                    </a:lnTo>
                    <a:lnTo>
                      <a:pt x="27" y="4"/>
                    </a:lnTo>
                    <a:lnTo>
                      <a:pt x="32" y="5"/>
                    </a:lnTo>
                    <a:lnTo>
                      <a:pt x="32" y="414"/>
                    </a:lnTo>
                    <a:lnTo>
                      <a:pt x="0" y="44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25" name="Freeform 1367"/>
              <p:cNvSpPr>
                <a:spLocks noChangeAspect="1"/>
              </p:cNvSpPr>
              <p:nvPr/>
            </p:nvSpPr>
            <p:spPr bwMode="auto">
              <a:xfrm>
                <a:off x="4419" y="972"/>
                <a:ext cx="10" cy="142"/>
              </a:xfrm>
              <a:custGeom>
                <a:avLst/>
                <a:gdLst>
                  <a:gd name="T0" fmla="*/ 0 w 32"/>
                  <a:gd name="T1" fmla="*/ 0 h 428"/>
                  <a:gd name="T2" fmla="*/ 0 w 32"/>
                  <a:gd name="T3" fmla="*/ 0 h 428"/>
                  <a:gd name="T4" fmla="*/ 0 w 32"/>
                  <a:gd name="T5" fmla="*/ 0 h 428"/>
                  <a:gd name="T6" fmla="*/ 0 w 32"/>
                  <a:gd name="T7" fmla="*/ 0 h 428"/>
                  <a:gd name="T8" fmla="*/ 0 w 32"/>
                  <a:gd name="T9" fmla="*/ 0 h 428"/>
                  <a:gd name="T10" fmla="*/ 0 w 32"/>
                  <a:gd name="T11" fmla="*/ 0 h 428"/>
                  <a:gd name="T12" fmla="*/ 0 w 32"/>
                  <a:gd name="T13" fmla="*/ 0 h 428"/>
                  <a:gd name="T14" fmla="*/ 0 w 32"/>
                  <a:gd name="T15" fmla="*/ 0 h 428"/>
                  <a:gd name="T16" fmla="*/ 0 w 32"/>
                  <a:gd name="T17" fmla="*/ 0 h 428"/>
                  <a:gd name="T18" fmla="*/ 0 w 32"/>
                  <a:gd name="T19" fmla="*/ 0 h 428"/>
                  <a:gd name="T20" fmla="*/ 0 w 32"/>
                  <a:gd name="T21" fmla="*/ 0 h 428"/>
                  <a:gd name="T22" fmla="*/ 0 w 32"/>
                  <a:gd name="T23" fmla="*/ 0 h 4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28">
                    <a:moveTo>
                      <a:pt x="0" y="428"/>
                    </a:moveTo>
                    <a:lnTo>
                      <a:pt x="0" y="0"/>
                    </a:lnTo>
                    <a:lnTo>
                      <a:pt x="4" y="1"/>
                    </a:lnTo>
                    <a:lnTo>
                      <a:pt x="8" y="1"/>
                    </a:lnTo>
                    <a:lnTo>
                      <a:pt x="11" y="2"/>
                    </a:lnTo>
                    <a:lnTo>
                      <a:pt x="16" y="3"/>
                    </a:lnTo>
                    <a:lnTo>
                      <a:pt x="20" y="4"/>
                    </a:lnTo>
                    <a:lnTo>
                      <a:pt x="24" y="4"/>
                    </a:lnTo>
                    <a:lnTo>
                      <a:pt x="28" y="5"/>
                    </a:lnTo>
                    <a:lnTo>
                      <a:pt x="32" y="7"/>
                    </a:lnTo>
                    <a:lnTo>
                      <a:pt x="32" y="396"/>
                    </a:lnTo>
                    <a:lnTo>
                      <a:pt x="0" y="42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26" name="Freeform 1368"/>
              <p:cNvSpPr>
                <a:spLocks noChangeAspect="1"/>
              </p:cNvSpPr>
              <p:nvPr/>
            </p:nvSpPr>
            <p:spPr bwMode="auto">
              <a:xfrm>
                <a:off x="4424" y="973"/>
                <a:ext cx="11" cy="136"/>
              </a:xfrm>
              <a:custGeom>
                <a:avLst/>
                <a:gdLst>
                  <a:gd name="T0" fmla="*/ 0 w 32"/>
                  <a:gd name="T1" fmla="*/ 0 h 409"/>
                  <a:gd name="T2" fmla="*/ 0 w 32"/>
                  <a:gd name="T3" fmla="*/ 0 h 409"/>
                  <a:gd name="T4" fmla="*/ 0 w 32"/>
                  <a:gd name="T5" fmla="*/ 0 h 409"/>
                  <a:gd name="T6" fmla="*/ 0 w 32"/>
                  <a:gd name="T7" fmla="*/ 0 h 409"/>
                  <a:gd name="T8" fmla="*/ 0 w 32"/>
                  <a:gd name="T9" fmla="*/ 0 h 409"/>
                  <a:gd name="T10" fmla="*/ 0 w 32"/>
                  <a:gd name="T11" fmla="*/ 0 h 409"/>
                  <a:gd name="T12" fmla="*/ 0 w 32"/>
                  <a:gd name="T13" fmla="*/ 0 h 409"/>
                  <a:gd name="T14" fmla="*/ 0 w 32"/>
                  <a:gd name="T15" fmla="*/ 0 h 409"/>
                  <a:gd name="T16" fmla="*/ 0 w 32"/>
                  <a:gd name="T17" fmla="*/ 0 h 409"/>
                  <a:gd name="T18" fmla="*/ 0 w 32"/>
                  <a:gd name="T19" fmla="*/ 0 h 409"/>
                  <a:gd name="T20" fmla="*/ 0 w 32"/>
                  <a:gd name="T21" fmla="*/ 0 h 409"/>
                  <a:gd name="T22" fmla="*/ 0 w 32"/>
                  <a:gd name="T23" fmla="*/ 0 h 40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09">
                    <a:moveTo>
                      <a:pt x="0" y="409"/>
                    </a:moveTo>
                    <a:lnTo>
                      <a:pt x="0" y="0"/>
                    </a:lnTo>
                    <a:lnTo>
                      <a:pt x="4" y="1"/>
                    </a:lnTo>
                    <a:lnTo>
                      <a:pt x="8" y="1"/>
                    </a:lnTo>
                    <a:lnTo>
                      <a:pt x="12" y="2"/>
                    </a:lnTo>
                    <a:lnTo>
                      <a:pt x="16" y="4"/>
                    </a:lnTo>
                    <a:lnTo>
                      <a:pt x="20" y="5"/>
                    </a:lnTo>
                    <a:lnTo>
                      <a:pt x="24" y="6"/>
                    </a:lnTo>
                    <a:lnTo>
                      <a:pt x="28" y="7"/>
                    </a:lnTo>
                    <a:lnTo>
                      <a:pt x="32" y="8"/>
                    </a:lnTo>
                    <a:lnTo>
                      <a:pt x="32" y="377"/>
                    </a:lnTo>
                    <a:lnTo>
                      <a:pt x="0" y="40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27" name="Freeform 1369"/>
              <p:cNvSpPr>
                <a:spLocks noChangeAspect="1"/>
              </p:cNvSpPr>
              <p:nvPr/>
            </p:nvSpPr>
            <p:spPr bwMode="auto">
              <a:xfrm>
                <a:off x="4429" y="974"/>
                <a:ext cx="11" cy="130"/>
              </a:xfrm>
              <a:custGeom>
                <a:avLst/>
                <a:gdLst>
                  <a:gd name="T0" fmla="*/ 0 w 33"/>
                  <a:gd name="T1" fmla="*/ 0 h 389"/>
                  <a:gd name="T2" fmla="*/ 0 w 33"/>
                  <a:gd name="T3" fmla="*/ 0 h 389"/>
                  <a:gd name="T4" fmla="*/ 0 w 33"/>
                  <a:gd name="T5" fmla="*/ 0 h 389"/>
                  <a:gd name="T6" fmla="*/ 0 w 33"/>
                  <a:gd name="T7" fmla="*/ 0 h 389"/>
                  <a:gd name="T8" fmla="*/ 0 w 33"/>
                  <a:gd name="T9" fmla="*/ 0 h 389"/>
                  <a:gd name="T10" fmla="*/ 0 w 33"/>
                  <a:gd name="T11" fmla="*/ 0 h 389"/>
                  <a:gd name="T12" fmla="*/ 0 w 33"/>
                  <a:gd name="T13" fmla="*/ 0 h 389"/>
                  <a:gd name="T14" fmla="*/ 0 w 33"/>
                  <a:gd name="T15" fmla="*/ 0 h 389"/>
                  <a:gd name="T16" fmla="*/ 0 w 33"/>
                  <a:gd name="T17" fmla="*/ 0 h 389"/>
                  <a:gd name="T18" fmla="*/ 0 w 33"/>
                  <a:gd name="T19" fmla="*/ 0 h 389"/>
                  <a:gd name="T20" fmla="*/ 0 w 33"/>
                  <a:gd name="T21" fmla="*/ 0 h 389"/>
                  <a:gd name="T22" fmla="*/ 0 w 33"/>
                  <a:gd name="T23" fmla="*/ 0 h 3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89">
                    <a:moveTo>
                      <a:pt x="0" y="389"/>
                    </a:moveTo>
                    <a:lnTo>
                      <a:pt x="0" y="0"/>
                    </a:lnTo>
                    <a:lnTo>
                      <a:pt x="4" y="1"/>
                    </a:lnTo>
                    <a:lnTo>
                      <a:pt x="8" y="2"/>
                    </a:lnTo>
                    <a:lnTo>
                      <a:pt x="12" y="3"/>
                    </a:lnTo>
                    <a:lnTo>
                      <a:pt x="17" y="4"/>
                    </a:lnTo>
                    <a:lnTo>
                      <a:pt x="20" y="5"/>
                    </a:lnTo>
                    <a:lnTo>
                      <a:pt x="24" y="6"/>
                    </a:lnTo>
                    <a:lnTo>
                      <a:pt x="28" y="7"/>
                    </a:lnTo>
                    <a:lnTo>
                      <a:pt x="33" y="8"/>
                    </a:lnTo>
                    <a:lnTo>
                      <a:pt x="33" y="356"/>
                    </a:lnTo>
                    <a:lnTo>
                      <a:pt x="0" y="3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28" name="Freeform 1370"/>
              <p:cNvSpPr>
                <a:spLocks noChangeAspect="1"/>
              </p:cNvSpPr>
              <p:nvPr/>
            </p:nvSpPr>
            <p:spPr bwMode="auto">
              <a:xfrm>
                <a:off x="4435" y="975"/>
                <a:ext cx="11" cy="123"/>
              </a:xfrm>
              <a:custGeom>
                <a:avLst/>
                <a:gdLst>
                  <a:gd name="T0" fmla="*/ 0 w 33"/>
                  <a:gd name="T1" fmla="*/ 0 h 369"/>
                  <a:gd name="T2" fmla="*/ 0 w 33"/>
                  <a:gd name="T3" fmla="*/ 0 h 369"/>
                  <a:gd name="T4" fmla="*/ 0 w 33"/>
                  <a:gd name="T5" fmla="*/ 0 h 369"/>
                  <a:gd name="T6" fmla="*/ 0 w 33"/>
                  <a:gd name="T7" fmla="*/ 0 h 369"/>
                  <a:gd name="T8" fmla="*/ 0 w 33"/>
                  <a:gd name="T9" fmla="*/ 0 h 369"/>
                  <a:gd name="T10" fmla="*/ 0 w 33"/>
                  <a:gd name="T11" fmla="*/ 0 h 369"/>
                  <a:gd name="T12" fmla="*/ 0 w 33"/>
                  <a:gd name="T13" fmla="*/ 0 h 369"/>
                  <a:gd name="T14" fmla="*/ 0 w 33"/>
                  <a:gd name="T15" fmla="*/ 0 h 369"/>
                  <a:gd name="T16" fmla="*/ 0 w 33"/>
                  <a:gd name="T17" fmla="*/ 0 h 369"/>
                  <a:gd name="T18" fmla="*/ 0 w 33"/>
                  <a:gd name="T19" fmla="*/ 0 h 369"/>
                  <a:gd name="T20" fmla="*/ 0 w 33"/>
                  <a:gd name="T21" fmla="*/ 0 h 369"/>
                  <a:gd name="T22" fmla="*/ 0 w 33"/>
                  <a:gd name="T23" fmla="*/ 0 h 3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69">
                    <a:moveTo>
                      <a:pt x="0" y="369"/>
                    </a:moveTo>
                    <a:lnTo>
                      <a:pt x="0" y="0"/>
                    </a:lnTo>
                    <a:lnTo>
                      <a:pt x="4" y="1"/>
                    </a:lnTo>
                    <a:lnTo>
                      <a:pt x="8" y="2"/>
                    </a:lnTo>
                    <a:lnTo>
                      <a:pt x="12" y="3"/>
                    </a:lnTo>
                    <a:lnTo>
                      <a:pt x="17" y="4"/>
                    </a:lnTo>
                    <a:lnTo>
                      <a:pt x="21" y="6"/>
                    </a:lnTo>
                    <a:lnTo>
                      <a:pt x="24" y="7"/>
                    </a:lnTo>
                    <a:lnTo>
                      <a:pt x="28" y="8"/>
                    </a:lnTo>
                    <a:lnTo>
                      <a:pt x="33" y="9"/>
                    </a:lnTo>
                    <a:lnTo>
                      <a:pt x="33" y="336"/>
                    </a:lnTo>
                    <a:lnTo>
                      <a:pt x="0" y="36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29" name="Freeform 1371"/>
              <p:cNvSpPr>
                <a:spLocks noChangeAspect="1"/>
              </p:cNvSpPr>
              <p:nvPr/>
            </p:nvSpPr>
            <p:spPr bwMode="auto">
              <a:xfrm>
                <a:off x="4440" y="977"/>
                <a:ext cx="11" cy="116"/>
              </a:xfrm>
              <a:custGeom>
                <a:avLst/>
                <a:gdLst>
                  <a:gd name="T0" fmla="*/ 0 w 32"/>
                  <a:gd name="T1" fmla="*/ 0 h 348"/>
                  <a:gd name="T2" fmla="*/ 0 w 32"/>
                  <a:gd name="T3" fmla="*/ 0 h 348"/>
                  <a:gd name="T4" fmla="*/ 0 w 32"/>
                  <a:gd name="T5" fmla="*/ 0 h 348"/>
                  <a:gd name="T6" fmla="*/ 0 w 32"/>
                  <a:gd name="T7" fmla="*/ 0 h 348"/>
                  <a:gd name="T8" fmla="*/ 0 w 32"/>
                  <a:gd name="T9" fmla="*/ 0 h 348"/>
                  <a:gd name="T10" fmla="*/ 0 w 32"/>
                  <a:gd name="T11" fmla="*/ 0 h 348"/>
                  <a:gd name="T12" fmla="*/ 0 w 32"/>
                  <a:gd name="T13" fmla="*/ 0 h 348"/>
                  <a:gd name="T14" fmla="*/ 0 w 32"/>
                  <a:gd name="T15" fmla="*/ 0 h 348"/>
                  <a:gd name="T16" fmla="*/ 0 w 32"/>
                  <a:gd name="T17" fmla="*/ 0 h 348"/>
                  <a:gd name="T18" fmla="*/ 0 w 32"/>
                  <a:gd name="T19" fmla="*/ 0 h 348"/>
                  <a:gd name="T20" fmla="*/ 0 w 32"/>
                  <a:gd name="T21" fmla="*/ 0 h 348"/>
                  <a:gd name="T22" fmla="*/ 0 w 32"/>
                  <a:gd name="T23" fmla="*/ 0 h 3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48">
                    <a:moveTo>
                      <a:pt x="0" y="348"/>
                    </a:moveTo>
                    <a:lnTo>
                      <a:pt x="0" y="0"/>
                    </a:lnTo>
                    <a:lnTo>
                      <a:pt x="3" y="2"/>
                    </a:lnTo>
                    <a:lnTo>
                      <a:pt x="7" y="3"/>
                    </a:lnTo>
                    <a:lnTo>
                      <a:pt x="11" y="4"/>
                    </a:lnTo>
                    <a:lnTo>
                      <a:pt x="16" y="6"/>
                    </a:lnTo>
                    <a:lnTo>
                      <a:pt x="20" y="7"/>
                    </a:lnTo>
                    <a:lnTo>
                      <a:pt x="24" y="9"/>
                    </a:lnTo>
                    <a:lnTo>
                      <a:pt x="27" y="11"/>
                    </a:lnTo>
                    <a:lnTo>
                      <a:pt x="32" y="12"/>
                    </a:lnTo>
                    <a:lnTo>
                      <a:pt x="32" y="316"/>
                    </a:lnTo>
                    <a:lnTo>
                      <a:pt x="0" y="3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30" name="Freeform 1372"/>
              <p:cNvSpPr>
                <a:spLocks noChangeAspect="1"/>
              </p:cNvSpPr>
              <p:nvPr/>
            </p:nvSpPr>
            <p:spPr bwMode="auto">
              <a:xfrm>
                <a:off x="4446" y="978"/>
                <a:ext cx="10" cy="109"/>
              </a:xfrm>
              <a:custGeom>
                <a:avLst/>
                <a:gdLst>
                  <a:gd name="T0" fmla="*/ 0 w 32"/>
                  <a:gd name="T1" fmla="*/ 0 h 327"/>
                  <a:gd name="T2" fmla="*/ 0 w 32"/>
                  <a:gd name="T3" fmla="*/ 0 h 327"/>
                  <a:gd name="T4" fmla="*/ 0 w 32"/>
                  <a:gd name="T5" fmla="*/ 0 h 327"/>
                  <a:gd name="T6" fmla="*/ 0 w 32"/>
                  <a:gd name="T7" fmla="*/ 0 h 327"/>
                  <a:gd name="T8" fmla="*/ 0 w 32"/>
                  <a:gd name="T9" fmla="*/ 0 h 327"/>
                  <a:gd name="T10" fmla="*/ 0 w 32"/>
                  <a:gd name="T11" fmla="*/ 0 h 327"/>
                  <a:gd name="T12" fmla="*/ 0 w 32"/>
                  <a:gd name="T13" fmla="*/ 0 h 327"/>
                  <a:gd name="T14" fmla="*/ 0 w 32"/>
                  <a:gd name="T15" fmla="*/ 0 h 327"/>
                  <a:gd name="T16" fmla="*/ 0 w 32"/>
                  <a:gd name="T17" fmla="*/ 0 h 327"/>
                  <a:gd name="T18" fmla="*/ 0 w 32"/>
                  <a:gd name="T19" fmla="*/ 0 h 327"/>
                  <a:gd name="T20" fmla="*/ 0 w 32"/>
                  <a:gd name="T21" fmla="*/ 0 h 327"/>
                  <a:gd name="T22" fmla="*/ 0 w 32"/>
                  <a:gd name="T23" fmla="*/ 0 h 3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27">
                    <a:moveTo>
                      <a:pt x="0" y="327"/>
                    </a:moveTo>
                    <a:lnTo>
                      <a:pt x="0" y="0"/>
                    </a:lnTo>
                    <a:lnTo>
                      <a:pt x="4" y="2"/>
                    </a:lnTo>
                    <a:lnTo>
                      <a:pt x="8" y="4"/>
                    </a:lnTo>
                    <a:lnTo>
                      <a:pt x="11" y="6"/>
                    </a:lnTo>
                    <a:lnTo>
                      <a:pt x="16" y="7"/>
                    </a:lnTo>
                    <a:lnTo>
                      <a:pt x="20" y="9"/>
                    </a:lnTo>
                    <a:lnTo>
                      <a:pt x="24" y="10"/>
                    </a:lnTo>
                    <a:lnTo>
                      <a:pt x="27" y="12"/>
                    </a:lnTo>
                    <a:lnTo>
                      <a:pt x="32" y="14"/>
                    </a:lnTo>
                    <a:lnTo>
                      <a:pt x="32" y="295"/>
                    </a:lnTo>
                    <a:lnTo>
                      <a:pt x="0" y="32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31" name="Freeform 1373"/>
              <p:cNvSpPr>
                <a:spLocks noChangeAspect="1"/>
              </p:cNvSpPr>
              <p:nvPr/>
            </p:nvSpPr>
            <p:spPr bwMode="auto">
              <a:xfrm>
                <a:off x="4451" y="981"/>
                <a:ext cx="11" cy="101"/>
              </a:xfrm>
              <a:custGeom>
                <a:avLst/>
                <a:gdLst>
                  <a:gd name="T0" fmla="*/ 0 w 32"/>
                  <a:gd name="T1" fmla="*/ 0 h 304"/>
                  <a:gd name="T2" fmla="*/ 0 w 32"/>
                  <a:gd name="T3" fmla="*/ 0 h 304"/>
                  <a:gd name="T4" fmla="*/ 0 w 32"/>
                  <a:gd name="T5" fmla="*/ 0 h 304"/>
                  <a:gd name="T6" fmla="*/ 0 w 32"/>
                  <a:gd name="T7" fmla="*/ 0 h 304"/>
                  <a:gd name="T8" fmla="*/ 0 w 32"/>
                  <a:gd name="T9" fmla="*/ 0 h 304"/>
                  <a:gd name="T10" fmla="*/ 0 w 32"/>
                  <a:gd name="T11" fmla="*/ 0 h 304"/>
                  <a:gd name="T12" fmla="*/ 0 w 32"/>
                  <a:gd name="T13" fmla="*/ 0 h 304"/>
                  <a:gd name="T14" fmla="*/ 0 w 32"/>
                  <a:gd name="T15" fmla="*/ 0 h 304"/>
                  <a:gd name="T16" fmla="*/ 0 w 32"/>
                  <a:gd name="T17" fmla="*/ 0 h 304"/>
                  <a:gd name="T18" fmla="*/ 0 w 32"/>
                  <a:gd name="T19" fmla="*/ 0 h 304"/>
                  <a:gd name="T20" fmla="*/ 0 w 32"/>
                  <a:gd name="T21" fmla="*/ 0 h 304"/>
                  <a:gd name="T22" fmla="*/ 0 w 32"/>
                  <a:gd name="T23" fmla="*/ 0 h 30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04">
                    <a:moveTo>
                      <a:pt x="0" y="304"/>
                    </a:moveTo>
                    <a:lnTo>
                      <a:pt x="0" y="0"/>
                    </a:lnTo>
                    <a:lnTo>
                      <a:pt x="4" y="2"/>
                    </a:lnTo>
                    <a:lnTo>
                      <a:pt x="8" y="3"/>
                    </a:lnTo>
                    <a:lnTo>
                      <a:pt x="12" y="5"/>
                    </a:lnTo>
                    <a:lnTo>
                      <a:pt x="16" y="7"/>
                    </a:lnTo>
                    <a:lnTo>
                      <a:pt x="20" y="8"/>
                    </a:lnTo>
                    <a:lnTo>
                      <a:pt x="24" y="10"/>
                    </a:lnTo>
                    <a:lnTo>
                      <a:pt x="28" y="13"/>
                    </a:lnTo>
                    <a:lnTo>
                      <a:pt x="32" y="15"/>
                    </a:lnTo>
                    <a:lnTo>
                      <a:pt x="32" y="272"/>
                    </a:lnTo>
                    <a:lnTo>
                      <a:pt x="0" y="30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32" name="Freeform 1374"/>
              <p:cNvSpPr>
                <a:spLocks noChangeAspect="1"/>
              </p:cNvSpPr>
              <p:nvPr/>
            </p:nvSpPr>
            <p:spPr bwMode="auto">
              <a:xfrm>
                <a:off x="4456" y="983"/>
                <a:ext cx="11" cy="94"/>
              </a:xfrm>
              <a:custGeom>
                <a:avLst/>
                <a:gdLst>
                  <a:gd name="T0" fmla="*/ 0 w 33"/>
                  <a:gd name="T1" fmla="*/ 0 h 281"/>
                  <a:gd name="T2" fmla="*/ 0 w 33"/>
                  <a:gd name="T3" fmla="*/ 0 h 281"/>
                  <a:gd name="T4" fmla="*/ 0 w 33"/>
                  <a:gd name="T5" fmla="*/ 0 h 281"/>
                  <a:gd name="T6" fmla="*/ 0 w 33"/>
                  <a:gd name="T7" fmla="*/ 0 h 281"/>
                  <a:gd name="T8" fmla="*/ 0 w 33"/>
                  <a:gd name="T9" fmla="*/ 0 h 281"/>
                  <a:gd name="T10" fmla="*/ 0 w 33"/>
                  <a:gd name="T11" fmla="*/ 0 h 281"/>
                  <a:gd name="T12" fmla="*/ 0 w 33"/>
                  <a:gd name="T13" fmla="*/ 0 h 281"/>
                  <a:gd name="T14" fmla="*/ 0 w 33"/>
                  <a:gd name="T15" fmla="*/ 0 h 281"/>
                  <a:gd name="T16" fmla="*/ 0 w 33"/>
                  <a:gd name="T17" fmla="*/ 0 h 281"/>
                  <a:gd name="T18" fmla="*/ 0 w 33"/>
                  <a:gd name="T19" fmla="*/ 0 h 281"/>
                  <a:gd name="T20" fmla="*/ 0 w 33"/>
                  <a:gd name="T21" fmla="*/ 0 h 281"/>
                  <a:gd name="T22" fmla="*/ 0 w 33"/>
                  <a:gd name="T23" fmla="*/ 0 h 2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281">
                    <a:moveTo>
                      <a:pt x="0" y="281"/>
                    </a:moveTo>
                    <a:lnTo>
                      <a:pt x="0" y="0"/>
                    </a:lnTo>
                    <a:lnTo>
                      <a:pt x="4" y="1"/>
                    </a:lnTo>
                    <a:lnTo>
                      <a:pt x="8" y="3"/>
                    </a:lnTo>
                    <a:lnTo>
                      <a:pt x="12" y="6"/>
                    </a:lnTo>
                    <a:lnTo>
                      <a:pt x="17" y="8"/>
                    </a:lnTo>
                    <a:lnTo>
                      <a:pt x="20" y="10"/>
                    </a:lnTo>
                    <a:lnTo>
                      <a:pt x="24" y="12"/>
                    </a:lnTo>
                    <a:lnTo>
                      <a:pt x="28" y="14"/>
                    </a:lnTo>
                    <a:lnTo>
                      <a:pt x="33" y="16"/>
                    </a:lnTo>
                    <a:lnTo>
                      <a:pt x="33" y="248"/>
                    </a:lnTo>
                    <a:lnTo>
                      <a:pt x="0" y="2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33" name="Freeform 1375"/>
              <p:cNvSpPr>
                <a:spLocks noChangeAspect="1"/>
              </p:cNvSpPr>
              <p:nvPr/>
            </p:nvSpPr>
            <p:spPr bwMode="auto">
              <a:xfrm>
                <a:off x="4462" y="986"/>
                <a:ext cx="11" cy="85"/>
              </a:xfrm>
              <a:custGeom>
                <a:avLst/>
                <a:gdLst>
                  <a:gd name="T0" fmla="*/ 0 w 33"/>
                  <a:gd name="T1" fmla="*/ 0 h 257"/>
                  <a:gd name="T2" fmla="*/ 0 w 33"/>
                  <a:gd name="T3" fmla="*/ 0 h 257"/>
                  <a:gd name="T4" fmla="*/ 0 w 33"/>
                  <a:gd name="T5" fmla="*/ 0 h 257"/>
                  <a:gd name="T6" fmla="*/ 0 w 33"/>
                  <a:gd name="T7" fmla="*/ 0 h 257"/>
                  <a:gd name="T8" fmla="*/ 0 w 33"/>
                  <a:gd name="T9" fmla="*/ 0 h 257"/>
                  <a:gd name="T10" fmla="*/ 0 w 33"/>
                  <a:gd name="T11" fmla="*/ 0 h 257"/>
                  <a:gd name="T12" fmla="*/ 0 w 33"/>
                  <a:gd name="T13" fmla="*/ 0 h 257"/>
                  <a:gd name="T14" fmla="*/ 0 w 33"/>
                  <a:gd name="T15" fmla="*/ 0 h 257"/>
                  <a:gd name="T16" fmla="*/ 0 w 33"/>
                  <a:gd name="T17" fmla="*/ 0 h 257"/>
                  <a:gd name="T18" fmla="*/ 0 w 33"/>
                  <a:gd name="T19" fmla="*/ 0 h 257"/>
                  <a:gd name="T20" fmla="*/ 0 w 33"/>
                  <a:gd name="T21" fmla="*/ 0 h 257"/>
                  <a:gd name="T22" fmla="*/ 0 w 33"/>
                  <a:gd name="T23" fmla="*/ 0 h 2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257">
                    <a:moveTo>
                      <a:pt x="0" y="257"/>
                    </a:moveTo>
                    <a:lnTo>
                      <a:pt x="0" y="0"/>
                    </a:lnTo>
                    <a:lnTo>
                      <a:pt x="4" y="2"/>
                    </a:lnTo>
                    <a:lnTo>
                      <a:pt x="8" y="4"/>
                    </a:lnTo>
                    <a:lnTo>
                      <a:pt x="12" y="6"/>
                    </a:lnTo>
                    <a:lnTo>
                      <a:pt x="17" y="8"/>
                    </a:lnTo>
                    <a:lnTo>
                      <a:pt x="21" y="10"/>
                    </a:lnTo>
                    <a:lnTo>
                      <a:pt x="24" y="12"/>
                    </a:lnTo>
                    <a:lnTo>
                      <a:pt x="28" y="15"/>
                    </a:lnTo>
                    <a:lnTo>
                      <a:pt x="33" y="17"/>
                    </a:lnTo>
                    <a:lnTo>
                      <a:pt x="33" y="224"/>
                    </a:lnTo>
                    <a:lnTo>
                      <a:pt x="0" y="25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34" name="Freeform 1376"/>
              <p:cNvSpPr>
                <a:spLocks noChangeAspect="1"/>
              </p:cNvSpPr>
              <p:nvPr/>
            </p:nvSpPr>
            <p:spPr bwMode="auto">
              <a:xfrm>
                <a:off x="4467" y="988"/>
                <a:ext cx="11" cy="78"/>
              </a:xfrm>
              <a:custGeom>
                <a:avLst/>
                <a:gdLst>
                  <a:gd name="T0" fmla="*/ 0 w 31"/>
                  <a:gd name="T1" fmla="*/ 0 h 232"/>
                  <a:gd name="T2" fmla="*/ 0 w 31"/>
                  <a:gd name="T3" fmla="*/ 0 h 232"/>
                  <a:gd name="T4" fmla="*/ 0 w 31"/>
                  <a:gd name="T5" fmla="*/ 0 h 232"/>
                  <a:gd name="T6" fmla="*/ 0 w 31"/>
                  <a:gd name="T7" fmla="*/ 0 h 232"/>
                  <a:gd name="T8" fmla="*/ 0 w 31"/>
                  <a:gd name="T9" fmla="*/ 0 h 232"/>
                  <a:gd name="T10" fmla="*/ 0 w 31"/>
                  <a:gd name="T11" fmla="*/ 0 h 232"/>
                  <a:gd name="T12" fmla="*/ 0 w 31"/>
                  <a:gd name="T13" fmla="*/ 0 h 232"/>
                  <a:gd name="T14" fmla="*/ 0 w 31"/>
                  <a:gd name="T15" fmla="*/ 0 h 232"/>
                  <a:gd name="T16" fmla="*/ 0 w 31"/>
                  <a:gd name="T17" fmla="*/ 0 h 232"/>
                  <a:gd name="T18" fmla="*/ 0 w 31"/>
                  <a:gd name="T19" fmla="*/ 0 h 232"/>
                  <a:gd name="T20" fmla="*/ 0 w 31"/>
                  <a:gd name="T21" fmla="*/ 0 h 232"/>
                  <a:gd name="T22" fmla="*/ 0 w 31"/>
                  <a:gd name="T23" fmla="*/ 0 h 2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232">
                    <a:moveTo>
                      <a:pt x="0" y="232"/>
                    </a:moveTo>
                    <a:lnTo>
                      <a:pt x="0" y="0"/>
                    </a:lnTo>
                    <a:lnTo>
                      <a:pt x="3" y="2"/>
                    </a:lnTo>
                    <a:lnTo>
                      <a:pt x="7" y="4"/>
                    </a:lnTo>
                    <a:lnTo>
                      <a:pt x="11" y="7"/>
                    </a:lnTo>
                    <a:lnTo>
                      <a:pt x="16" y="9"/>
                    </a:lnTo>
                    <a:lnTo>
                      <a:pt x="20" y="12"/>
                    </a:lnTo>
                    <a:lnTo>
                      <a:pt x="23" y="14"/>
                    </a:lnTo>
                    <a:lnTo>
                      <a:pt x="27" y="16"/>
                    </a:lnTo>
                    <a:lnTo>
                      <a:pt x="31" y="19"/>
                    </a:lnTo>
                    <a:lnTo>
                      <a:pt x="31" y="200"/>
                    </a:lnTo>
                    <a:lnTo>
                      <a:pt x="0" y="23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35" name="Freeform 1377"/>
              <p:cNvSpPr>
                <a:spLocks noChangeAspect="1"/>
              </p:cNvSpPr>
              <p:nvPr/>
            </p:nvSpPr>
            <p:spPr bwMode="auto">
              <a:xfrm>
                <a:off x="4473" y="991"/>
                <a:ext cx="10" cy="69"/>
              </a:xfrm>
              <a:custGeom>
                <a:avLst/>
                <a:gdLst>
                  <a:gd name="T0" fmla="*/ 0 w 31"/>
                  <a:gd name="T1" fmla="*/ 0 h 207"/>
                  <a:gd name="T2" fmla="*/ 0 w 31"/>
                  <a:gd name="T3" fmla="*/ 0 h 207"/>
                  <a:gd name="T4" fmla="*/ 0 w 31"/>
                  <a:gd name="T5" fmla="*/ 0 h 207"/>
                  <a:gd name="T6" fmla="*/ 0 w 31"/>
                  <a:gd name="T7" fmla="*/ 0 h 207"/>
                  <a:gd name="T8" fmla="*/ 0 w 31"/>
                  <a:gd name="T9" fmla="*/ 0 h 207"/>
                  <a:gd name="T10" fmla="*/ 0 w 31"/>
                  <a:gd name="T11" fmla="*/ 0 h 207"/>
                  <a:gd name="T12" fmla="*/ 0 w 31"/>
                  <a:gd name="T13" fmla="*/ 0 h 207"/>
                  <a:gd name="T14" fmla="*/ 0 w 31"/>
                  <a:gd name="T15" fmla="*/ 0 h 207"/>
                  <a:gd name="T16" fmla="*/ 0 w 31"/>
                  <a:gd name="T17" fmla="*/ 0 h 207"/>
                  <a:gd name="T18" fmla="*/ 0 w 31"/>
                  <a:gd name="T19" fmla="*/ 0 h 207"/>
                  <a:gd name="T20" fmla="*/ 0 w 31"/>
                  <a:gd name="T21" fmla="*/ 0 h 207"/>
                  <a:gd name="T22" fmla="*/ 0 w 31"/>
                  <a:gd name="T23" fmla="*/ 0 h 2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207">
                    <a:moveTo>
                      <a:pt x="0" y="207"/>
                    </a:moveTo>
                    <a:lnTo>
                      <a:pt x="0" y="0"/>
                    </a:lnTo>
                    <a:lnTo>
                      <a:pt x="4" y="3"/>
                    </a:lnTo>
                    <a:lnTo>
                      <a:pt x="8" y="5"/>
                    </a:lnTo>
                    <a:lnTo>
                      <a:pt x="11" y="7"/>
                    </a:lnTo>
                    <a:lnTo>
                      <a:pt x="15" y="10"/>
                    </a:lnTo>
                    <a:lnTo>
                      <a:pt x="20" y="12"/>
                    </a:lnTo>
                    <a:lnTo>
                      <a:pt x="24" y="16"/>
                    </a:lnTo>
                    <a:lnTo>
                      <a:pt x="27" y="18"/>
                    </a:lnTo>
                    <a:lnTo>
                      <a:pt x="31" y="21"/>
                    </a:lnTo>
                    <a:lnTo>
                      <a:pt x="31" y="175"/>
                    </a:lnTo>
                    <a:lnTo>
                      <a:pt x="0" y="2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36" name="Freeform 1378"/>
              <p:cNvSpPr>
                <a:spLocks noChangeAspect="1"/>
              </p:cNvSpPr>
              <p:nvPr/>
            </p:nvSpPr>
            <p:spPr bwMode="auto">
              <a:xfrm>
                <a:off x="4478" y="995"/>
                <a:ext cx="10" cy="60"/>
              </a:xfrm>
              <a:custGeom>
                <a:avLst/>
                <a:gdLst>
                  <a:gd name="T0" fmla="*/ 0 w 32"/>
                  <a:gd name="T1" fmla="*/ 0 h 181"/>
                  <a:gd name="T2" fmla="*/ 0 w 32"/>
                  <a:gd name="T3" fmla="*/ 0 h 181"/>
                  <a:gd name="T4" fmla="*/ 0 w 32"/>
                  <a:gd name="T5" fmla="*/ 0 h 181"/>
                  <a:gd name="T6" fmla="*/ 0 w 32"/>
                  <a:gd name="T7" fmla="*/ 0 h 181"/>
                  <a:gd name="T8" fmla="*/ 0 w 32"/>
                  <a:gd name="T9" fmla="*/ 0 h 181"/>
                  <a:gd name="T10" fmla="*/ 0 w 32"/>
                  <a:gd name="T11" fmla="*/ 0 h 181"/>
                  <a:gd name="T12" fmla="*/ 0 w 32"/>
                  <a:gd name="T13" fmla="*/ 0 h 181"/>
                  <a:gd name="T14" fmla="*/ 0 w 32"/>
                  <a:gd name="T15" fmla="*/ 0 h 181"/>
                  <a:gd name="T16" fmla="*/ 0 w 32"/>
                  <a:gd name="T17" fmla="*/ 0 h 181"/>
                  <a:gd name="T18" fmla="*/ 0 w 32"/>
                  <a:gd name="T19" fmla="*/ 0 h 181"/>
                  <a:gd name="T20" fmla="*/ 0 w 32"/>
                  <a:gd name="T21" fmla="*/ 0 h 181"/>
                  <a:gd name="T22" fmla="*/ 0 w 32"/>
                  <a:gd name="T23" fmla="*/ 0 h 1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181">
                    <a:moveTo>
                      <a:pt x="0" y="181"/>
                    </a:moveTo>
                    <a:lnTo>
                      <a:pt x="0" y="0"/>
                    </a:lnTo>
                    <a:lnTo>
                      <a:pt x="5" y="2"/>
                    </a:lnTo>
                    <a:lnTo>
                      <a:pt x="9" y="6"/>
                    </a:lnTo>
                    <a:lnTo>
                      <a:pt x="13" y="8"/>
                    </a:lnTo>
                    <a:lnTo>
                      <a:pt x="16" y="11"/>
                    </a:lnTo>
                    <a:lnTo>
                      <a:pt x="21" y="14"/>
                    </a:lnTo>
                    <a:lnTo>
                      <a:pt x="25" y="17"/>
                    </a:lnTo>
                    <a:lnTo>
                      <a:pt x="29" y="19"/>
                    </a:lnTo>
                    <a:lnTo>
                      <a:pt x="32" y="23"/>
                    </a:lnTo>
                    <a:lnTo>
                      <a:pt x="32" y="149"/>
                    </a:lnTo>
                    <a:lnTo>
                      <a:pt x="0" y="1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37" name="Freeform 1379"/>
              <p:cNvSpPr>
                <a:spLocks noChangeAspect="1"/>
              </p:cNvSpPr>
              <p:nvPr/>
            </p:nvSpPr>
            <p:spPr bwMode="auto">
              <a:xfrm>
                <a:off x="4483" y="998"/>
                <a:ext cx="11" cy="52"/>
              </a:xfrm>
              <a:custGeom>
                <a:avLst/>
                <a:gdLst>
                  <a:gd name="T0" fmla="*/ 0 w 33"/>
                  <a:gd name="T1" fmla="*/ 0 h 154"/>
                  <a:gd name="T2" fmla="*/ 0 w 33"/>
                  <a:gd name="T3" fmla="*/ 0 h 154"/>
                  <a:gd name="T4" fmla="*/ 0 w 33"/>
                  <a:gd name="T5" fmla="*/ 0 h 154"/>
                  <a:gd name="T6" fmla="*/ 0 w 33"/>
                  <a:gd name="T7" fmla="*/ 0 h 154"/>
                  <a:gd name="T8" fmla="*/ 0 w 33"/>
                  <a:gd name="T9" fmla="*/ 0 h 154"/>
                  <a:gd name="T10" fmla="*/ 0 w 33"/>
                  <a:gd name="T11" fmla="*/ 0 h 154"/>
                  <a:gd name="T12" fmla="*/ 0 w 33"/>
                  <a:gd name="T13" fmla="*/ 0 h 154"/>
                  <a:gd name="T14" fmla="*/ 0 w 33"/>
                  <a:gd name="T15" fmla="*/ 0 h 154"/>
                  <a:gd name="T16" fmla="*/ 0 w 33"/>
                  <a:gd name="T17" fmla="*/ 0 h 154"/>
                  <a:gd name="T18" fmla="*/ 0 w 33"/>
                  <a:gd name="T19" fmla="*/ 0 h 154"/>
                  <a:gd name="T20" fmla="*/ 0 w 33"/>
                  <a:gd name="T21" fmla="*/ 0 h 154"/>
                  <a:gd name="T22" fmla="*/ 0 w 33"/>
                  <a:gd name="T23" fmla="*/ 0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154">
                    <a:moveTo>
                      <a:pt x="0" y="154"/>
                    </a:moveTo>
                    <a:lnTo>
                      <a:pt x="0" y="0"/>
                    </a:lnTo>
                    <a:lnTo>
                      <a:pt x="5" y="3"/>
                    </a:lnTo>
                    <a:lnTo>
                      <a:pt x="9" y="6"/>
                    </a:lnTo>
                    <a:lnTo>
                      <a:pt x="13" y="9"/>
                    </a:lnTo>
                    <a:lnTo>
                      <a:pt x="17" y="13"/>
                    </a:lnTo>
                    <a:lnTo>
                      <a:pt x="21" y="16"/>
                    </a:lnTo>
                    <a:lnTo>
                      <a:pt x="25" y="19"/>
                    </a:lnTo>
                    <a:lnTo>
                      <a:pt x="29" y="22"/>
                    </a:lnTo>
                    <a:lnTo>
                      <a:pt x="33" y="25"/>
                    </a:lnTo>
                    <a:lnTo>
                      <a:pt x="33" y="122"/>
                    </a:lnTo>
                    <a:lnTo>
                      <a:pt x="0" y="15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38" name="Freeform 1380"/>
              <p:cNvSpPr>
                <a:spLocks noChangeAspect="1"/>
              </p:cNvSpPr>
              <p:nvPr/>
            </p:nvSpPr>
            <p:spPr bwMode="auto">
              <a:xfrm>
                <a:off x="4488" y="1002"/>
                <a:ext cx="11" cy="42"/>
              </a:xfrm>
              <a:custGeom>
                <a:avLst/>
                <a:gdLst>
                  <a:gd name="T0" fmla="*/ 0 w 33"/>
                  <a:gd name="T1" fmla="*/ 0 h 126"/>
                  <a:gd name="T2" fmla="*/ 0 w 33"/>
                  <a:gd name="T3" fmla="*/ 0 h 126"/>
                  <a:gd name="T4" fmla="*/ 0 w 33"/>
                  <a:gd name="T5" fmla="*/ 0 h 126"/>
                  <a:gd name="T6" fmla="*/ 0 w 33"/>
                  <a:gd name="T7" fmla="*/ 0 h 126"/>
                  <a:gd name="T8" fmla="*/ 0 w 33"/>
                  <a:gd name="T9" fmla="*/ 0 h 126"/>
                  <a:gd name="T10" fmla="*/ 0 w 33"/>
                  <a:gd name="T11" fmla="*/ 0 h 126"/>
                  <a:gd name="T12" fmla="*/ 0 w 33"/>
                  <a:gd name="T13" fmla="*/ 0 h 126"/>
                  <a:gd name="T14" fmla="*/ 0 w 33"/>
                  <a:gd name="T15" fmla="*/ 0 h 126"/>
                  <a:gd name="T16" fmla="*/ 0 w 33"/>
                  <a:gd name="T17" fmla="*/ 0 h 126"/>
                  <a:gd name="T18" fmla="*/ 0 w 33"/>
                  <a:gd name="T19" fmla="*/ 0 h 126"/>
                  <a:gd name="T20" fmla="*/ 0 w 33"/>
                  <a:gd name="T21" fmla="*/ 0 h 126"/>
                  <a:gd name="T22" fmla="*/ 0 w 33"/>
                  <a:gd name="T23" fmla="*/ 0 h 1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126">
                    <a:moveTo>
                      <a:pt x="0" y="126"/>
                    </a:moveTo>
                    <a:lnTo>
                      <a:pt x="0" y="0"/>
                    </a:lnTo>
                    <a:lnTo>
                      <a:pt x="5" y="3"/>
                    </a:lnTo>
                    <a:lnTo>
                      <a:pt x="9" y="7"/>
                    </a:lnTo>
                    <a:lnTo>
                      <a:pt x="13" y="10"/>
                    </a:lnTo>
                    <a:lnTo>
                      <a:pt x="17" y="13"/>
                    </a:lnTo>
                    <a:lnTo>
                      <a:pt x="22" y="17"/>
                    </a:lnTo>
                    <a:lnTo>
                      <a:pt x="25" y="21"/>
                    </a:lnTo>
                    <a:lnTo>
                      <a:pt x="29" y="24"/>
                    </a:lnTo>
                    <a:lnTo>
                      <a:pt x="33" y="27"/>
                    </a:lnTo>
                    <a:lnTo>
                      <a:pt x="33" y="93"/>
                    </a:lnTo>
                    <a:lnTo>
                      <a:pt x="0" y="1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39" name="Freeform 1381"/>
              <p:cNvSpPr>
                <a:spLocks noChangeAspect="1"/>
              </p:cNvSpPr>
              <p:nvPr/>
            </p:nvSpPr>
            <p:spPr bwMode="auto">
              <a:xfrm>
                <a:off x="4494" y="1007"/>
                <a:ext cx="11" cy="32"/>
              </a:xfrm>
              <a:custGeom>
                <a:avLst/>
                <a:gdLst>
                  <a:gd name="T0" fmla="*/ 0 w 32"/>
                  <a:gd name="T1" fmla="*/ 0 h 97"/>
                  <a:gd name="T2" fmla="*/ 0 w 32"/>
                  <a:gd name="T3" fmla="*/ 0 h 97"/>
                  <a:gd name="T4" fmla="*/ 0 w 32"/>
                  <a:gd name="T5" fmla="*/ 0 h 97"/>
                  <a:gd name="T6" fmla="*/ 0 w 32"/>
                  <a:gd name="T7" fmla="*/ 0 h 97"/>
                  <a:gd name="T8" fmla="*/ 0 w 32"/>
                  <a:gd name="T9" fmla="*/ 0 h 97"/>
                  <a:gd name="T10" fmla="*/ 0 w 32"/>
                  <a:gd name="T11" fmla="*/ 0 h 97"/>
                  <a:gd name="T12" fmla="*/ 0 w 32"/>
                  <a:gd name="T13" fmla="*/ 0 h 97"/>
                  <a:gd name="T14" fmla="*/ 0 w 32"/>
                  <a:gd name="T15" fmla="*/ 0 h 97"/>
                  <a:gd name="T16" fmla="*/ 0 w 32"/>
                  <a:gd name="T17" fmla="*/ 0 h 97"/>
                  <a:gd name="T18" fmla="*/ 0 w 32"/>
                  <a:gd name="T19" fmla="*/ 0 h 97"/>
                  <a:gd name="T20" fmla="*/ 0 w 32"/>
                  <a:gd name="T21" fmla="*/ 0 h 97"/>
                  <a:gd name="T22" fmla="*/ 0 w 32"/>
                  <a:gd name="T23" fmla="*/ 0 h 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97">
                    <a:moveTo>
                      <a:pt x="0" y="97"/>
                    </a:moveTo>
                    <a:lnTo>
                      <a:pt x="0" y="0"/>
                    </a:lnTo>
                    <a:lnTo>
                      <a:pt x="4" y="4"/>
                    </a:lnTo>
                    <a:lnTo>
                      <a:pt x="8" y="8"/>
                    </a:lnTo>
                    <a:lnTo>
                      <a:pt x="12" y="11"/>
                    </a:lnTo>
                    <a:lnTo>
                      <a:pt x="16" y="15"/>
                    </a:lnTo>
                    <a:lnTo>
                      <a:pt x="21" y="18"/>
                    </a:lnTo>
                    <a:lnTo>
                      <a:pt x="25" y="23"/>
                    </a:lnTo>
                    <a:lnTo>
                      <a:pt x="28" y="27"/>
                    </a:lnTo>
                    <a:lnTo>
                      <a:pt x="32" y="30"/>
                    </a:lnTo>
                    <a:lnTo>
                      <a:pt x="32" y="64"/>
                    </a:lnTo>
                    <a:lnTo>
                      <a:pt x="0" y="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40" name="Freeform 1382"/>
              <p:cNvSpPr>
                <a:spLocks noChangeAspect="1"/>
              </p:cNvSpPr>
              <p:nvPr/>
            </p:nvSpPr>
            <p:spPr bwMode="auto">
              <a:xfrm>
                <a:off x="4499" y="1011"/>
                <a:ext cx="11" cy="22"/>
              </a:xfrm>
              <a:custGeom>
                <a:avLst/>
                <a:gdLst>
                  <a:gd name="T0" fmla="*/ 0 w 32"/>
                  <a:gd name="T1" fmla="*/ 0 h 66"/>
                  <a:gd name="T2" fmla="*/ 0 w 32"/>
                  <a:gd name="T3" fmla="*/ 0 h 66"/>
                  <a:gd name="T4" fmla="*/ 0 w 32"/>
                  <a:gd name="T5" fmla="*/ 0 h 66"/>
                  <a:gd name="T6" fmla="*/ 0 w 32"/>
                  <a:gd name="T7" fmla="*/ 0 h 66"/>
                  <a:gd name="T8" fmla="*/ 0 w 32"/>
                  <a:gd name="T9" fmla="*/ 0 h 66"/>
                  <a:gd name="T10" fmla="*/ 0 w 32"/>
                  <a:gd name="T11" fmla="*/ 0 h 66"/>
                  <a:gd name="T12" fmla="*/ 0 w 32"/>
                  <a:gd name="T13" fmla="*/ 0 h 66"/>
                  <a:gd name="T14" fmla="*/ 0 w 32"/>
                  <a:gd name="T15" fmla="*/ 0 h 66"/>
                  <a:gd name="T16" fmla="*/ 0 w 32"/>
                  <a:gd name="T17" fmla="*/ 0 h 66"/>
                  <a:gd name="T18" fmla="*/ 0 w 32"/>
                  <a:gd name="T19" fmla="*/ 0 h 66"/>
                  <a:gd name="T20" fmla="*/ 0 w 32"/>
                  <a:gd name="T21" fmla="*/ 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2" h="66">
                    <a:moveTo>
                      <a:pt x="0" y="66"/>
                    </a:moveTo>
                    <a:lnTo>
                      <a:pt x="0" y="0"/>
                    </a:lnTo>
                    <a:lnTo>
                      <a:pt x="5" y="4"/>
                    </a:lnTo>
                    <a:lnTo>
                      <a:pt x="9" y="9"/>
                    </a:lnTo>
                    <a:lnTo>
                      <a:pt x="12" y="13"/>
                    </a:lnTo>
                    <a:lnTo>
                      <a:pt x="16" y="17"/>
                    </a:lnTo>
                    <a:lnTo>
                      <a:pt x="21" y="22"/>
                    </a:lnTo>
                    <a:lnTo>
                      <a:pt x="25" y="26"/>
                    </a:lnTo>
                    <a:lnTo>
                      <a:pt x="28" y="30"/>
                    </a:lnTo>
                    <a:lnTo>
                      <a:pt x="32" y="34"/>
                    </a:lnTo>
                    <a:lnTo>
                      <a:pt x="0" y="6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41" name="Freeform 1383"/>
              <p:cNvSpPr>
                <a:spLocks noChangeAspect="1"/>
              </p:cNvSpPr>
              <p:nvPr/>
            </p:nvSpPr>
            <p:spPr bwMode="auto">
              <a:xfrm>
                <a:off x="4505" y="1017"/>
                <a:ext cx="5" cy="11"/>
              </a:xfrm>
              <a:custGeom>
                <a:avLst/>
                <a:gdLst>
                  <a:gd name="T0" fmla="*/ 0 w 16"/>
                  <a:gd name="T1" fmla="*/ 0 h 34"/>
                  <a:gd name="T2" fmla="*/ 0 w 16"/>
                  <a:gd name="T3" fmla="*/ 0 h 34"/>
                  <a:gd name="T4" fmla="*/ 0 w 16"/>
                  <a:gd name="T5" fmla="*/ 0 h 34"/>
                  <a:gd name="T6" fmla="*/ 0 w 16"/>
                  <a:gd name="T7" fmla="*/ 0 h 34"/>
                  <a:gd name="T8" fmla="*/ 0 w 16"/>
                  <a:gd name="T9" fmla="*/ 0 h 34"/>
                  <a:gd name="T10" fmla="*/ 0 w 16"/>
                  <a:gd name="T11" fmla="*/ 0 h 34"/>
                  <a:gd name="T12" fmla="*/ 0 w 16"/>
                  <a:gd name="T13" fmla="*/ 0 h 34"/>
                  <a:gd name="T14" fmla="*/ 0 w 16"/>
                  <a:gd name="T15" fmla="*/ 0 h 34"/>
                  <a:gd name="T16" fmla="*/ 0 w 16"/>
                  <a:gd name="T17" fmla="*/ 0 h 34"/>
                  <a:gd name="T18" fmla="*/ 0 w 16"/>
                  <a:gd name="T19" fmla="*/ 0 h 34"/>
                  <a:gd name="T20" fmla="*/ 0 w 16"/>
                  <a:gd name="T21" fmla="*/ 0 h 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 h="34">
                    <a:moveTo>
                      <a:pt x="0" y="34"/>
                    </a:moveTo>
                    <a:lnTo>
                      <a:pt x="0" y="0"/>
                    </a:lnTo>
                    <a:lnTo>
                      <a:pt x="2" y="2"/>
                    </a:lnTo>
                    <a:lnTo>
                      <a:pt x="5" y="4"/>
                    </a:lnTo>
                    <a:lnTo>
                      <a:pt x="7" y="8"/>
                    </a:lnTo>
                    <a:lnTo>
                      <a:pt x="9" y="10"/>
                    </a:lnTo>
                    <a:lnTo>
                      <a:pt x="10" y="12"/>
                    </a:lnTo>
                    <a:lnTo>
                      <a:pt x="12" y="14"/>
                    </a:lnTo>
                    <a:lnTo>
                      <a:pt x="14" y="16"/>
                    </a:lnTo>
                    <a:lnTo>
                      <a:pt x="16" y="18"/>
                    </a:lnTo>
                    <a:lnTo>
                      <a:pt x="0" y="3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42" name="Freeform 1384"/>
              <p:cNvSpPr>
                <a:spLocks noChangeAspect="1"/>
              </p:cNvSpPr>
              <p:nvPr/>
            </p:nvSpPr>
            <p:spPr bwMode="auto">
              <a:xfrm>
                <a:off x="4241" y="970"/>
                <a:ext cx="269" cy="166"/>
              </a:xfrm>
              <a:custGeom>
                <a:avLst/>
                <a:gdLst>
                  <a:gd name="T0" fmla="*/ 0 w 807"/>
                  <a:gd name="T1" fmla="*/ 0 h 497"/>
                  <a:gd name="T2" fmla="*/ 0 w 807"/>
                  <a:gd name="T3" fmla="*/ 0 h 497"/>
                  <a:gd name="T4" fmla="*/ 0 w 807"/>
                  <a:gd name="T5" fmla="*/ 0 h 497"/>
                  <a:gd name="T6" fmla="*/ 0 w 807"/>
                  <a:gd name="T7" fmla="*/ 0 h 497"/>
                  <a:gd name="T8" fmla="*/ 0 w 807"/>
                  <a:gd name="T9" fmla="*/ 0 h 497"/>
                  <a:gd name="T10" fmla="*/ 0 w 807"/>
                  <a:gd name="T11" fmla="*/ 0 h 497"/>
                  <a:gd name="T12" fmla="*/ 0 w 807"/>
                  <a:gd name="T13" fmla="*/ 0 h 497"/>
                  <a:gd name="T14" fmla="*/ 0 w 807"/>
                  <a:gd name="T15" fmla="*/ 0 h 497"/>
                  <a:gd name="T16" fmla="*/ 0 w 807"/>
                  <a:gd name="T17" fmla="*/ 0 h 497"/>
                  <a:gd name="T18" fmla="*/ 0 w 807"/>
                  <a:gd name="T19" fmla="*/ 0 h 497"/>
                  <a:gd name="T20" fmla="*/ 0 w 807"/>
                  <a:gd name="T21" fmla="*/ 0 h 497"/>
                  <a:gd name="T22" fmla="*/ 0 w 807"/>
                  <a:gd name="T23" fmla="*/ 0 h 497"/>
                  <a:gd name="T24" fmla="*/ 0 w 807"/>
                  <a:gd name="T25" fmla="*/ 0 h 497"/>
                  <a:gd name="T26" fmla="*/ 0 w 807"/>
                  <a:gd name="T27" fmla="*/ 0 h 497"/>
                  <a:gd name="T28" fmla="*/ 0 w 807"/>
                  <a:gd name="T29" fmla="*/ 0 h 497"/>
                  <a:gd name="T30" fmla="*/ 0 w 807"/>
                  <a:gd name="T31" fmla="*/ 0 h 497"/>
                  <a:gd name="T32" fmla="*/ 0 w 807"/>
                  <a:gd name="T33" fmla="*/ 0 h 497"/>
                  <a:gd name="T34" fmla="*/ 0 w 807"/>
                  <a:gd name="T35" fmla="*/ 0 h 497"/>
                  <a:gd name="T36" fmla="*/ 0 w 807"/>
                  <a:gd name="T37" fmla="*/ 0 h 497"/>
                  <a:gd name="T38" fmla="*/ 0 w 807"/>
                  <a:gd name="T39" fmla="*/ 0 h 497"/>
                  <a:gd name="T40" fmla="*/ 0 w 807"/>
                  <a:gd name="T41" fmla="*/ 0 h 497"/>
                  <a:gd name="T42" fmla="*/ 0 w 807"/>
                  <a:gd name="T43" fmla="*/ 0 h 497"/>
                  <a:gd name="T44" fmla="*/ 0 w 807"/>
                  <a:gd name="T45" fmla="*/ 0 h 497"/>
                  <a:gd name="T46" fmla="*/ 0 w 807"/>
                  <a:gd name="T47" fmla="*/ 0 h 497"/>
                  <a:gd name="T48" fmla="*/ 0 w 807"/>
                  <a:gd name="T49" fmla="*/ 0 h 497"/>
                  <a:gd name="T50" fmla="*/ 0 w 807"/>
                  <a:gd name="T51" fmla="*/ 0 h 497"/>
                  <a:gd name="T52" fmla="*/ 0 w 807"/>
                  <a:gd name="T53" fmla="*/ 0 h 497"/>
                  <a:gd name="T54" fmla="*/ 0 w 807"/>
                  <a:gd name="T55" fmla="*/ 0 h 497"/>
                  <a:gd name="T56" fmla="*/ 0 w 807"/>
                  <a:gd name="T57" fmla="*/ 0 h 497"/>
                  <a:gd name="T58" fmla="*/ 0 w 807"/>
                  <a:gd name="T59" fmla="*/ 0 h 497"/>
                  <a:gd name="T60" fmla="*/ 0 w 807"/>
                  <a:gd name="T61" fmla="*/ 0 h 497"/>
                  <a:gd name="T62" fmla="*/ 0 w 807"/>
                  <a:gd name="T63" fmla="*/ 0 h 497"/>
                  <a:gd name="T64" fmla="*/ 0 w 807"/>
                  <a:gd name="T65" fmla="*/ 0 h 497"/>
                  <a:gd name="T66" fmla="*/ 0 w 807"/>
                  <a:gd name="T67" fmla="*/ 0 h 497"/>
                  <a:gd name="T68" fmla="*/ 0 w 807"/>
                  <a:gd name="T69" fmla="*/ 0 h 497"/>
                  <a:gd name="T70" fmla="*/ 0 w 807"/>
                  <a:gd name="T71" fmla="*/ 0 h 497"/>
                  <a:gd name="T72" fmla="*/ 0 w 807"/>
                  <a:gd name="T73" fmla="*/ 0 h 497"/>
                  <a:gd name="T74" fmla="*/ 0 w 807"/>
                  <a:gd name="T75" fmla="*/ 0 h 497"/>
                  <a:gd name="T76" fmla="*/ 0 w 807"/>
                  <a:gd name="T77" fmla="*/ 0 h 497"/>
                  <a:gd name="T78" fmla="*/ 0 w 807"/>
                  <a:gd name="T79" fmla="*/ 0 h 497"/>
                  <a:gd name="T80" fmla="*/ 0 w 807"/>
                  <a:gd name="T81" fmla="*/ 0 h 497"/>
                  <a:gd name="T82" fmla="*/ 0 w 807"/>
                  <a:gd name="T83" fmla="*/ 0 h 497"/>
                  <a:gd name="T84" fmla="*/ 0 w 807"/>
                  <a:gd name="T85" fmla="*/ 0 h 497"/>
                  <a:gd name="T86" fmla="*/ 0 w 807"/>
                  <a:gd name="T87" fmla="*/ 0 h 497"/>
                  <a:gd name="T88" fmla="*/ 0 w 807"/>
                  <a:gd name="T89" fmla="*/ 0 h 497"/>
                  <a:gd name="T90" fmla="*/ 0 w 807"/>
                  <a:gd name="T91" fmla="*/ 0 h 497"/>
                  <a:gd name="T92" fmla="*/ 0 w 807"/>
                  <a:gd name="T93" fmla="*/ 0 h 497"/>
                  <a:gd name="T94" fmla="*/ 0 w 807"/>
                  <a:gd name="T95" fmla="*/ 0 h 497"/>
                  <a:gd name="T96" fmla="*/ 0 w 807"/>
                  <a:gd name="T97" fmla="*/ 0 h 497"/>
                  <a:gd name="T98" fmla="*/ 0 w 807"/>
                  <a:gd name="T99" fmla="*/ 0 h 497"/>
                  <a:gd name="T100" fmla="*/ 0 w 807"/>
                  <a:gd name="T101" fmla="*/ 0 h 497"/>
                  <a:gd name="T102" fmla="*/ 0 w 807"/>
                  <a:gd name="T103" fmla="*/ 0 h 497"/>
                  <a:gd name="T104" fmla="*/ 0 w 807"/>
                  <a:gd name="T105" fmla="*/ 0 h 497"/>
                  <a:gd name="T106" fmla="*/ 0 w 807"/>
                  <a:gd name="T107" fmla="*/ 0 h 497"/>
                  <a:gd name="T108" fmla="*/ 0 w 807"/>
                  <a:gd name="T109" fmla="*/ 0 h 497"/>
                  <a:gd name="T110" fmla="*/ 0 w 807"/>
                  <a:gd name="T111" fmla="*/ 0 h 497"/>
                  <a:gd name="T112" fmla="*/ 0 w 807"/>
                  <a:gd name="T113" fmla="*/ 0 h 497"/>
                  <a:gd name="T114" fmla="*/ 0 w 807"/>
                  <a:gd name="T115" fmla="*/ 0 h 497"/>
                  <a:gd name="T116" fmla="*/ 0 w 807"/>
                  <a:gd name="T117" fmla="*/ 0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07" h="497">
                    <a:moveTo>
                      <a:pt x="459" y="0"/>
                    </a:moveTo>
                    <a:lnTo>
                      <a:pt x="486" y="0"/>
                    </a:lnTo>
                    <a:lnTo>
                      <a:pt x="511" y="2"/>
                    </a:lnTo>
                    <a:lnTo>
                      <a:pt x="536" y="6"/>
                    </a:lnTo>
                    <a:lnTo>
                      <a:pt x="560" y="10"/>
                    </a:lnTo>
                    <a:lnTo>
                      <a:pt x="585" y="17"/>
                    </a:lnTo>
                    <a:lnTo>
                      <a:pt x="608" y="24"/>
                    </a:lnTo>
                    <a:lnTo>
                      <a:pt x="632" y="33"/>
                    </a:lnTo>
                    <a:lnTo>
                      <a:pt x="654" y="42"/>
                    </a:lnTo>
                    <a:lnTo>
                      <a:pt x="675" y="53"/>
                    </a:lnTo>
                    <a:lnTo>
                      <a:pt x="697" y="66"/>
                    </a:lnTo>
                    <a:lnTo>
                      <a:pt x="717" y="79"/>
                    </a:lnTo>
                    <a:lnTo>
                      <a:pt x="737" y="92"/>
                    </a:lnTo>
                    <a:lnTo>
                      <a:pt x="756" y="107"/>
                    </a:lnTo>
                    <a:lnTo>
                      <a:pt x="774" y="123"/>
                    </a:lnTo>
                    <a:lnTo>
                      <a:pt x="791" y="140"/>
                    </a:lnTo>
                    <a:lnTo>
                      <a:pt x="807" y="158"/>
                    </a:lnTo>
                    <a:lnTo>
                      <a:pt x="468" y="497"/>
                    </a:lnTo>
                    <a:lnTo>
                      <a:pt x="1" y="497"/>
                    </a:lnTo>
                    <a:lnTo>
                      <a:pt x="1" y="493"/>
                    </a:lnTo>
                    <a:lnTo>
                      <a:pt x="1" y="488"/>
                    </a:lnTo>
                    <a:lnTo>
                      <a:pt x="0" y="484"/>
                    </a:lnTo>
                    <a:lnTo>
                      <a:pt x="0" y="478"/>
                    </a:lnTo>
                    <a:lnTo>
                      <a:pt x="0" y="474"/>
                    </a:lnTo>
                    <a:lnTo>
                      <a:pt x="0" y="469"/>
                    </a:lnTo>
                    <a:lnTo>
                      <a:pt x="0" y="464"/>
                    </a:lnTo>
                    <a:lnTo>
                      <a:pt x="0" y="459"/>
                    </a:lnTo>
                    <a:lnTo>
                      <a:pt x="0" y="436"/>
                    </a:lnTo>
                    <a:lnTo>
                      <a:pt x="2" y="412"/>
                    </a:lnTo>
                    <a:lnTo>
                      <a:pt x="5" y="390"/>
                    </a:lnTo>
                    <a:lnTo>
                      <a:pt x="9" y="367"/>
                    </a:lnTo>
                    <a:lnTo>
                      <a:pt x="13" y="344"/>
                    </a:lnTo>
                    <a:lnTo>
                      <a:pt x="20" y="323"/>
                    </a:lnTo>
                    <a:lnTo>
                      <a:pt x="27" y="302"/>
                    </a:lnTo>
                    <a:lnTo>
                      <a:pt x="36" y="281"/>
                    </a:lnTo>
                    <a:lnTo>
                      <a:pt x="45" y="260"/>
                    </a:lnTo>
                    <a:lnTo>
                      <a:pt x="55" y="240"/>
                    </a:lnTo>
                    <a:lnTo>
                      <a:pt x="67" y="221"/>
                    </a:lnTo>
                    <a:lnTo>
                      <a:pt x="78" y="203"/>
                    </a:lnTo>
                    <a:lnTo>
                      <a:pt x="91" y="185"/>
                    </a:lnTo>
                    <a:lnTo>
                      <a:pt x="105" y="167"/>
                    </a:lnTo>
                    <a:lnTo>
                      <a:pt x="119" y="151"/>
                    </a:lnTo>
                    <a:lnTo>
                      <a:pt x="135" y="135"/>
                    </a:lnTo>
                    <a:lnTo>
                      <a:pt x="151" y="119"/>
                    </a:lnTo>
                    <a:lnTo>
                      <a:pt x="168" y="105"/>
                    </a:lnTo>
                    <a:lnTo>
                      <a:pt x="185" y="91"/>
                    </a:lnTo>
                    <a:lnTo>
                      <a:pt x="203" y="79"/>
                    </a:lnTo>
                    <a:lnTo>
                      <a:pt x="221" y="66"/>
                    </a:lnTo>
                    <a:lnTo>
                      <a:pt x="241" y="55"/>
                    </a:lnTo>
                    <a:lnTo>
                      <a:pt x="260" y="45"/>
                    </a:lnTo>
                    <a:lnTo>
                      <a:pt x="281" y="36"/>
                    </a:lnTo>
                    <a:lnTo>
                      <a:pt x="302" y="27"/>
                    </a:lnTo>
                    <a:lnTo>
                      <a:pt x="323" y="20"/>
                    </a:lnTo>
                    <a:lnTo>
                      <a:pt x="345" y="14"/>
                    </a:lnTo>
                    <a:lnTo>
                      <a:pt x="367" y="8"/>
                    </a:lnTo>
                    <a:lnTo>
                      <a:pt x="390" y="5"/>
                    </a:lnTo>
                    <a:lnTo>
                      <a:pt x="412" y="2"/>
                    </a:lnTo>
                    <a:lnTo>
                      <a:pt x="436" y="0"/>
                    </a:lnTo>
                    <a:lnTo>
                      <a:pt x="459" y="0"/>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sp>
            <p:nvSpPr>
              <p:cNvPr id="389843" name="Freeform 1385"/>
              <p:cNvSpPr>
                <a:spLocks noChangeAspect="1"/>
              </p:cNvSpPr>
              <p:nvPr/>
            </p:nvSpPr>
            <p:spPr bwMode="auto">
              <a:xfrm>
                <a:off x="4287" y="1081"/>
                <a:ext cx="4" cy="59"/>
              </a:xfrm>
              <a:custGeom>
                <a:avLst/>
                <a:gdLst>
                  <a:gd name="T0" fmla="*/ 0 w 13"/>
                  <a:gd name="T1" fmla="*/ 0 h 176"/>
                  <a:gd name="T2" fmla="*/ 0 w 13"/>
                  <a:gd name="T3" fmla="*/ 0 h 176"/>
                  <a:gd name="T4" fmla="*/ 0 w 13"/>
                  <a:gd name="T5" fmla="*/ 0 h 176"/>
                  <a:gd name="T6" fmla="*/ 0 w 13"/>
                  <a:gd name="T7" fmla="*/ 0 h 176"/>
                  <a:gd name="T8" fmla="*/ 0 w 13"/>
                  <a:gd name="T9" fmla="*/ 0 h 176"/>
                  <a:gd name="T10" fmla="*/ 0 w 13"/>
                  <a:gd name="T11" fmla="*/ 0 h 176"/>
                  <a:gd name="T12" fmla="*/ 0 w 13"/>
                  <a:gd name="T13" fmla="*/ 0 h 176"/>
                  <a:gd name="T14" fmla="*/ 0 w 13"/>
                  <a:gd name="T15" fmla="*/ 0 h 176"/>
                  <a:gd name="T16" fmla="*/ 0 w 13"/>
                  <a:gd name="T17" fmla="*/ 0 h 176"/>
                  <a:gd name="T18" fmla="*/ 0 w 13"/>
                  <a:gd name="T19" fmla="*/ 0 h 176"/>
                  <a:gd name="T20" fmla="*/ 0 w 13"/>
                  <a:gd name="T21" fmla="*/ 0 h 176"/>
                  <a:gd name="T22" fmla="*/ 0 w 13"/>
                  <a:gd name="T23" fmla="*/ 0 h 176"/>
                  <a:gd name="T24" fmla="*/ 0 w 13"/>
                  <a:gd name="T25" fmla="*/ 0 h 176"/>
                  <a:gd name="T26" fmla="*/ 0 w 13"/>
                  <a:gd name="T27" fmla="*/ 0 h 176"/>
                  <a:gd name="T28" fmla="*/ 0 w 13"/>
                  <a:gd name="T29" fmla="*/ 0 h 176"/>
                  <a:gd name="T30" fmla="*/ 0 w 13"/>
                  <a:gd name="T31" fmla="*/ 0 h 176"/>
                  <a:gd name="T32" fmla="*/ 0 w 13"/>
                  <a:gd name="T33" fmla="*/ 0 h 176"/>
                  <a:gd name="T34" fmla="*/ 0 w 13"/>
                  <a:gd name="T35" fmla="*/ 0 h 17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3" h="176">
                    <a:moveTo>
                      <a:pt x="13" y="0"/>
                    </a:moveTo>
                    <a:lnTo>
                      <a:pt x="13" y="176"/>
                    </a:lnTo>
                    <a:lnTo>
                      <a:pt x="9" y="165"/>
                    </a:lnTo>
                    <a:lnTo>
                      <a:pt x="7" y="155"/>
                    </a:lnTo>
                    <a:lnTo>
                      <a:pt x="5" y="144"/>
                    </a:lnTo>
                    <a:lnTo>
                      <a:pt x="3" y="134"/>
                    </a:lnTo>
                    <a:lnTo>
                      <a:pt x="1" y="122"/>
                    </a:lnTo>
                    <a:lnTo>
                      <a:pt x="0" y="111"/>
                    </a:lnTo>
                    <a:lnTo>
                      <a:pt x="0" y="100"/>
                    </a:lnTo>
                    <a:lnTo>
                      <a:pt x="0" y="88"/>
                    </a:lnTo>
                    <a:lnTo>
                      <a:pt x="0" y="77"/>
                    </a:lnTo>
                    <a:lnTo>
                      <a:pt x="0" y="66"/>
                    </a:lnTo>
                    <a:lnTo>
                      <a:pt x="1" y="54"/>
                    </a:lnTo>
                    <a:lnTo>
                      <a:pt x="3" y="43"/>
                    </a:lnTo>
                    <a:lnTo>
                      <a:pt x="5" y="33"/>
                    </a:lnTo>
                    <a:lnTo>
                      <a:pt x="7" y="21"/>
                    </a:lnTo>
                    <a:lnTo>
                      <a:pt x="9" y="10"/>
                    </a:lnTo>
                    <a:lnTo>
                      <a:pt x="13"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44" name="Freeform 1386"/>
              <p:cNvSpPr>
                <a:spLocks noChangeAspect="1"/>
              </p:cNvSpPr>
              <p:nvPr/>
            </p:nvSpPr>
            <p:spPr bwMode="auto">
              <a:xfrm>
                <a:off x="4287" y="1070"/>
                <a:ext cx="9" cy="81"/>
              </a:xfrm>
              <a:custGeom>
                <a:avLst/>
                <a:gdLst>
                  <a:gd name="T0" fmla="*/ 0 w 27"/>
                  <a:gd name="T1" fmla="*/ 0 h 245"/>
                  <a:gd name="T2" fmla="*/ 0 w 27"/>
                  <a:gd name="T3" fmla="*/ 0 h 245"/>
                  <a:gd name="T4" fmla="*/ 0 w 27"/>
                  <a:gd name="T5" fmla="*/ 0 h 245"/>
                  <a:gd name="T6" fmla="*/ 0 w 27"/>
                  <a:gd name="T7" fmla="*/ 0 h 245"/>
                  <a:gd name="T8" fmla="*/ 0 w 27"/>
                  <a:gd name="T9" fmla="*/ 0 h 245"/>
                  <a:gd name="T10" fmla="*/ 0 w 27"/>
                  <a:gd name="T11" fmla="*/ 0 h 245"/>
                  <a:gd name="T12" fmla="*/ 0 w 27"/>
                  <a:gd name="T13" fmla="*/ 0 h 245"/>
                  <a:gd name="T14" fmla="*/ 0 w 27"/>
                  <a:gd name="T15" fmla="*/ 0 h 245"/>
                  <a:gd name="T16" fmla="*/ 0 w 27"/>
                  <a:gd name="T17" fmla="*/ 0 h 245"/>
                  <a:gd name="T18" fmla="*/ 0 w 27"/>
                  <a:gd name="T19" fmla="*/ 0 h 245"/>
                  <a:gd name="T20" fmla="*/ 0 w 27"/>
                  <a:gd name="T21" fmla="*/ 0 h 245"/>
                  <a:gd name="T22" fmla="*/ 0 w 27"/>
                  <a:gd name="T23" fmla="*/ 0 h 245"/>
                  <a:gd name="T24" fmla="*/ 0 w 27"/>
                  <a:gd name="T25" fmla="*/ 0 h 245"/>
                  <a:gd name="T26" fmla="*/ 0 w 27"/>
                  <a:gd name="T27" fmla="*/ 0 h 245"/>
                  <a:gd name="T28" fmla="*/ 0 w 27"/>
                  <a:gd name="T29" fmla="*/ 0 h 245"/>
                  <a:gd name="T30" fmla="*/ 0 w 27"/>
                  <a:gd name="T31" fmla="*/ 0 h 245"/>
                  <a:gd name="T32" fmla="*/ 0 w 27"/>
                  <a:gd name="T33" fmla="*/ 0 h 245"/>
                  <a:gd name="T34" fmla="*/ 0 w 27"/>
                  <a:gd name="T35" fmla="*/ 0 h 24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7" h="245">
                    <a:moveTo>
                      <a:pt x="27" y="0"/>
                    </a:moveTo>
                    <a:lnTo>
                      <a:pt x="27" y="245"/>
                    </a:lnTo>
                    <a:lnTo>
                      <a:pt x="20" y="230"/>
                    </a:lnTo>
                    <a:lnTo>
                      <a:pt x="15" y="216"/>
                    </a:lnTo>
                    <a:lnTo>
                      <a:pt x="11" y="202"/>
                    </a:lnTo>
                    <a:lnTo>
                      <a:pt x="6" y="186"/>
                    </a:lnTo>
                    <a:lnTo>
                      <a:pt x="3" y="170"/>
                    </a:lnTo>
                    <a:lnTo>
                      <a:pt x="1" y="155"/>
                    </a:lnTo>
                    <a:lnTo>
                      <a:pt x="0" y="139"/>
                    </a:lnTo>
                    <a:lnTo>
                      <a:pt x="0" y="122"/>
                    </a:lnTo>
                    <a:lnTo>
                      <a:pt x="0" y="106"/>
                    </a:lnTo>
                    <a:lnTo>
                      <a:pt x="1" y="90"/>
                    </a:lnTo>
                    <a:lnTo>
                      <a:pt x="3" y="74"/>
                    </a:lnTo>
                    <a:lnTo>
                      <a:pt x="6" y="58"/>
                    </a:lnTo>
                    <a:lnTo>
                      <a:pt x="11" y="43"/>
                    </a:lnTo>
                    <a:lnTo>
                      <a:pt x="15" y="28"/>
                    </a:lnTo>
                    <a:lnTo>
                      <a:pt x="20" y="13"/>
                    </a:lnTo>
                    <a:lnTo>
                      <a:pt x="27"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45" name="Freeform 1387"/>
              <p:cNvSpPr>
                <a:spLocks noChangeAspect="1"/>
              </p:cNvSpPr>
              <p:nvPr/>
            </p:nvSpPr>
            <p:spPr bwMode="auto">
              <a:xfrm>
                <a:off x="4291" y="1061"/>
                <a:ext cx="9" cy="99"/>
              </a:xfrm>
              <a:custGeom>
                <a:avLst/>
                <a:gdLst>
                  <a:gd name="T0" fmla="*/ 0 w 26"/>
                  <a:gd name="T1" fmla="*/ 0 h 298"/>
                  <a:gd name="T2" fmla="*/ 0 w 26"/>
                  <a:gd name="T3" fmla="*/ 0 h 298"/>
                  <a:gd name="T4" fmla="*/ 0 w 26"/>
                  <a:gd name="T5" fmla="*/ 0 h 298"/>
                  <a:gd name="T6" fmla="*/ 0 w 26"/>
                  <a:gd name="T7" fmla="*/ 0 h 298"/>
                  <a:gd name="T8" fmla="*/ 0 w 26"/>
                  <a:gd name="T9" fmla="*/ 0 h 298"/>
                  <a:gd name="T10" fmla="*/ 0 w 26"/>
                  <a:gd name="T11" fmla="*/ 0 h 298"/>
                  <a:gd name="T12" fmla="*/ 0 w 26"/>
                  <a:gd name="T13" fmla="*/ 0 h 298"/>
                  <a:gd name="T14" fmla="*/ 0 w 26"/>
                  <a:gd name="T15" fmla="*/ 0 h 298"/>
                  <a:gd name="T16" fmla="*/ 0 w 26"/>
                  <a:gd name="T17" fmla="*/ 0 h 298"/>
                  <a:gd name="T18" fmla="*/ 0 w 26"/>
                  <a:gd name="T19" fmla="*/ 0 h 298"/>
                  <a:gd name="T20" fmla="*/ 0 w 26"/>
                  <a:gd name="T21" fmla="*/ 0 h 298"/>
                  <a:gd name="T22" fmla="*/ 0 w 26"/>
                  <a:gd name="T23" fmla="*/ 0 h 298"/>
                  <a:gd name="T24" fmla="*/ 0 w 26"/>
                  <a:gd name="T25" fmla="*/ 0 h 298"/>
                  <a:gd name="T26" fmla="*/ 0 w 26"/>
                  <a:gd name="T27" fmla="*/ 0 h 298"/>
                  <a:gd name="T28" fmla="*/ 0 w 26"/>
                  <a:gd name="T29" fmla="*/ 0 h 298"/>
                  <a:gd name="T30" fmla="*/ 0 w 26"/>
                  <a:gd name="T31" fmla="*/ 0 h 298"/>
                  <a:gd name="T32" fmla="*/ 0 w 26"/>
                  <a:gd name="T33" fmla="*/ 0 h 298"/>
                  <a:gd name="T34" fmla="*/ 0 w 26"/>
                  <a:gd name="T35" fmla="*/ 0 h 298"/>
                  <a:gd name="T36" fmla="*/ 0 w 26"/>
                  <a:gd name="T37" fmla="*/ 0 h 29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298">
                    <a:moveTo>
                      <a:pt x="0" y="237"/>
                    </a:moveTo>
                    <a:lnTo>
                      <a:pt x="0" y="61"/>
                    </a:lnTo>
                    <a:lnTo>
                      <a:pt x="3" y="53"/>
                    </a:lnTo>
                    <a:lnTo>
                      <a:pt x="5" y="46"/>
                    </a:lnTo>
                    <a:lnTo>
                      <a:pt x="8" y="37"/>
                    </a:lnTo>
                    <a:lnTo>
                      <a:pt x="11" y="30"/>
                    </a:lnTo>
                    <a:lnTo>
                      <a:pt x="15" y="22"/>
                    </a:lnTo>
                    <a:lnTo>
                      <a:pt x="19" y="15"/>
                    </a:lnTo>
                    <a:lnTo>
                      <a:pt x="22" y="7"/>
                    </a:lnTo>
                    <a:lnTo>
                      <a:pt x="26" y="0"/>
                    </a:lnTo>
                    <a:lnTo>
                      <a:pt x="26" y="298"/>
                    </a:lnTo>
                    <a:lnTo>
                      <a:pt x="22" y="291"/>
                    </a:lnTo>
                    <a:lnTo>
                      <a:pt x="19" y="284"/>
                    </a:lnTo>
                    <a:lnTo>
                      <a:pt x="15" y="276"/>
                    </a:lnTo>
                    <a:lnTo>
                      <a:pt x="11" y="268"/>
                    </a:lnTo>
                    <a:lnTo>
                      <a:pt x="8" y="260"/>
                    </a:lnTo>
                    <a:lnTo>
                      <a:pt x="5" y="253"/>
                    </a:lnTo>
                    <a:lnTo>
                      <a:pt x="3" y="245"/>
                    </a:lnTo>
                    <a:lnTo>
                      <a:pt x="0" y="23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46" name="Freeform 1388"/>
              <p:cNvSpPr>
                <a:spLocks noChangeAspect="1"/>
              </p:cNvSpPr>
              <p:nvPr/>
            </p:nvSpPr>
            <p:spPr bwMode="auto">
              <a:xfrm>
                <a:off x="4296" y="1054"/>
                <a:ext cx="9" cy="113"/>
              </a:xfrm>
              <a:custGeom>
                <a:avLst/>
                <a:gdLst>
                  <a:gd name="T0" fmla="*/ 0 w 26"/>
                  <a:gd name="T1" fmla="*/ 0 h 340"/>
                  <a:gd name="T2" fmla="*/ 0 w 26"/>
                  <a:gd name="T3" fmla="*/ 0 h 340"/>
                  <a:gd name="T4" fmla="*/ 0 w 26"/>
                  <a:gd name="T5" fmla="*/ 0 h 340"/>
                  <a:gd name="T6" fmla="*/ 0 w 26"/>
                  <a:gd name="T7" fmla="*/ 0 h 340"/>
                  <a:gd name="T8" fmla="*/ 0 w 26"/>
                  <a:gd name="T9" fmla="*/ 0 h 340"/>
                  <a:gd name="T10" fmla="*/ 0 w 26"/>
                  <a:gd name="T11" fmla="*/ 0 h 340"/>
                  <a:gd name="T12" fmla="*/ 0 w 26"/>
                  <a:gd name="T13" fmla="*/ 0 h 340"/>
                  <a:gd name="T14" fmla="*/ 0 w 26"/>
                  <a:gd name="T15" fmla="*/ 0 h 340"/>
                  <a:gd name="T16" fmla="*/ 0 w 26"/>
                  <a:gd name="T17" fmla="*/ 0 h 340"/>
                  <a:gd name="T18" fmla="*/ 0 w 26"/>
                  <a:gd name="T19" fmla="*/ 0 h 340"/>
                  <a:gd name="T20" fmla="*/ 0 w 26"/>
                  <a:gd name="T21" fmla="*/ 0 h 340"/>
                  <a:gd name="T22" fmla="*/ 0 w 26"/>
                  <a:gd name="T23" fmla="*/ 0 h 340"/>
                  <a:gd name="T24" fmla="*/ 0 w 26"/>
                  <a:gd name="T25" fmla="*/ 0 h 340"/>
                  <a:gd name="T26" fmla="*/ 0 w 26"/>
                  <a:gd name="T27" fmla="*/ 0 h 340"/>
                  <a:gd name="T28" fmla="*/ 0 w 26"/>
                  <a:gd name="T29" fmla="*/ 0 h 340"/>
                  <a:gd name="T30" fmla="*/ 0 w 26"/>
                  <a:gd name="T31" fmla="*/ 0 h 340"/>
                  <a:gd name="T32" fmla="*/ 0 w 26"/>
                  <a:gd name="T33" fmla="*/ 0 h 340"/>
                  <a:gd name="T34" fmla="*/ 0 w 26"/>
                  <a:gd name="T35" fmla="*/ 0 h 340"/>
                  <a:gd name="T36" fmla="*/ 0 w 26"/>
                  <a:gd name="T37" fmla="*/ 0 h 3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340">
                    <a:moveTo>
                      <a:pt x="0" y="293"/>
                    </a:moveTo>
                    <a:lnTo>
                      <a:pt x="0" y="48"/>
                    </a:lnTo>
                    <a:lnTo>
                      <a:pt x="2" y="41"/>
                    </a:lnTo>
                    <a:lnTo>
                      <a:pt x="5" y="35"/>
                    </a:lnTo>
                    <a:lnTo>
                      <a:pt x="8" y="28"/>
                    </a:lnTo>
                    <a:lnTo>
                      <a:pt x="11" y="23"/>
                    </a:lnTo>
                    <a:lnTo>
                      <a:pt x="14" y="17"/>
                    </a:lnTo>
                    <a:lnTo>
                      <a:pt x="19" y="11"/>
                    </a:lnTo>
                    <a:lnTo>
                      <a:pt x="22" y="5"/>
                    </a:lnTo>
                    <a:lnTo>
                      <a:pt x="26" y="0"/>
                    </a:lnTo>
                    <a:lnTo>
                      <a:pt x="26" y="340"/>
                    </a:lnTo>
                    <a:lnTo>
                      <a:pt x="22" y="335"/>
                    </a:lnTo>
                    <a:lnTo>
                      <a:pt x="19" y="329"/>
                    </a:lnTo>
                    <a:lnTo>
                      <a:pt x="14" y="323"/>
                    </a:lnTo>
                    <a:lnTo>
                      <a:pt x="11" y="318"/>
                    </a:lnTo>
                    <a:lnTo>
                      <a:pt x="8" y="311"/>
                    </a:lnTo>
                    <a:lnTo>
                      <a:pt x="5" y="305"/>
                    </a:lnTo>
                    <a:lnTo>
                      <a:pt x="2" y="300"/>
                    </a:lnTo>
                    <a:lnTo>
                      <a:pt x="0" y="29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47" name="Freeform 1389"/>
              <p:cNvSpPr>
                <a:spLocks noChangeAspect="1"/>
              </p:cNvSpPr>
              <p:nvPr/>
            </p:nvSpPr>
            <p:spPr bwMode="auto">
              <a:xfrm>
                <a:off x="4300" y="1048"/>
                <a:ext cx="9" cy="125"/>
              </a:xfrm>
              <a:custGeom>
                <a:avLst/>
                <a:gdLst>
                  <a:gd name="T0" fmla="*/ 0 w 27"/>
                  <a:gd name="T1" fmla="*/ 0 h 376"/>
                  <a:gd name="T2" fmla="*/ 0 w 27"/>
                  <a:gd name="T3" fmla="*/ 0 h 376"/>
                  <a:gd name="T4" fmla="*/ 0 w 27"/>
                  <a:gd name="T5" fmla="*/ 0 h 376"/>
                  <a:gd name="T6" fmla="*/ 0 w 27"/>
                  <a:gd name="T7" fmla="*/ 0 h 376"/>
                  <a:gd name="T8" fmla="*/ 0 w 27"/>
                  <a:gd name="T9" fmla="*/ 0 h 376"/>
                  <a:gd name="T10" fmla="*/ 0 w 27"/>
                  <a:gd name="T11" fmla="*/ 0 h 376"/>
                  <a:gd name="T12" fmla="*/ 0 w 27"/>
                  <a:gd name="T13" fmla="*/ 0 h 376"/>
                  <a:gd name="T14" fmla="*/ 0 w 27"/>
                  <a:gd name="T15" fmla="*/ 0 h 376"/>
                  <a:gd name="T16" fmla="*/ 0 w 27"/>
                  <a:gd name="T17" fmla="*/ 0 h 376"/>
                  <a:gd name="T18" fmla="*/ 0 w 27"/>
                  <a:gd name="T19" fmla="*/ 0 h 376"/>
                  <a:gd name="T20" fmla="*/ 0 w 27"/>
                  <a:gd name="T21" fmla="*/ 0 h 376"/>
                  <a:gd name="T22" fmla="*/ 0 w 27"/>
                  <a:gd name="T23" fmla="*/ 0 h 376"/>
                  <a:gd name="T24" fmla="*/ 0 w 27"/>
                  <a:gd name="T25" fmla="*/ 0 h 376"/>
                  <a:gd name="T26" fmla="*/ 0 w 27"/>
                  <a:gd name="T27" fmla="*/ 0 h 376"/>
                  <a:gd name="T28" fmla="*/ 0 w 27"/>
                  <a:gd name="T29" fmla="*/ 0 h 376"/>
                  <a:gd name="T30" fmla="*/ 0 w 27"/>
                  <a:gd name="T31" fmla="*/ 0 h 376"/>
                  <a:gd name="T32" fmla="*/ 0 w 27"/>
                  <a:gd name="T33" fmla="*/ 0 h 376"/>
                  <a:gd name="T34" fmla="*/ 0 w 27"/>
                  <a:gd name="T35" fmla="*/ 0 h 376"/>
                  <a:gd name="T36" fmla="*/ 0 w 27"/>
                  <a:gd name="T37" fmla="*/ 0 h 3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376">
                    <a:moveTo>
                      <a:pt x="0" y="337"/>
                    </a:moveTo>
                    <a:lnTo>
                      <a:pt x="0" y="39"/>
                    </a:lnTo>
                    <a:lnTo>
                      <a:pt x="3" y="34"/>
                    </a:lnTo>
                    <a:lnTo>
                      <a:pt x="7" y="28"/>
                    </a:lnTo>
                    <a:lnTo>
                      <a:pt x="10" y="24"/>
                    </a:lnTo>
                    <a:lnTo>
                      <a:pt x="13" y="19"/>
                    </a:lnTo>
                    <a:lnTo>
                      <a:pt x="16" y="15"/>
                    </a:lnTo>
                    <a:lnTo>
                      <a:pt x="19" y="9"/>
                    </a:lnTo>
                    <a:lnTo>
                      <a:pt x="24" y="5"/>
                    </a:lnTo>
                    <a:lnTo>
                      <a:pt x="27" y="0"/>
                    </a:lnTo>
                    <a:lnTo>
                      <a:pt x="27" y="376"/>
                    </a:lnTo>
                    <a:lnTo>
                      <a:pt x="24" y="372"/>
                    </a:lnTo>
                    <a:lnTo>
                      <a:pt x="19" y="366"/>
                    </a:lnTo>
                    <a:lnTo>
                      <a:pt x="16" y="362"/>
                    </a:lnTo>
                    <a:lnTo>
                      <a:pt x="13" y="357"/>
                    </a:lnTo>
                    <a:lnTo>
                      <a:pt x="10" y="353"/>
                    </a:lnTo>
                    <a:lnTo>
                      <a:pt x="7" y="347"/>
                    </a:lnTo>
                    <a:lnTo>
                      <a:pt x="3" y="342"/>
                    </a:lnTo>
                    <a:lnTo>
                      <a:pt x="0" y="33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48" name="Freeform 1390"/>
              <p:cNvSpPr>
                <a:spLocks noChangeAspect="1"/>
              </p:cNvSpPr>
              <p:nvPr/>
            </p:nvSpPr>
            <p:spPr bwMode="auto">
              <a:xfrm>
                <a:off x="4305" y="1042"/>
                <a:ext cx="8" cy="136"/>
              </a:xfrm>
              <a:custGeom>
                <a:avLst/>
                <a:gdLst>
                  <a:gd name="T0" fmla="*/ 0 w 26"/>
                  <a:gd name="T1" fmla="*/ 0 h 408"/>
                  <a:gd name="T2" fmla="*/ 0 w 26"/>
                  <a:gd name="T3" fmla="*/ 0 h 408"/>
                  <a:gd name="T4" fmla="*/ 0 w 26"/>
                  <a:gd name="T5" fmla="*/ 0 h 408"/>
                  <a:gd name="T6" fmla="*/ 0 w 26"/>
                  <a:gd name="T7" fmla="*/ 0 h 408"/>
                  <a:gd name="T8" fmla="*/ 0 w 26"/>
                  <a:gd name="T9" fmla="*/ 0 h 408"/>
                  <a:gd name="T10" fmla="*/ 0 w 26"/>
                  <a:gd name="T11" fmla="*/ 0 h 408"/>
                  <a:gd name="T12" fmla="*/ 0 w 26"/>
                  <a:gd name="T13" fmla="*/ 0 h 408"/>
                  <a:gd name="T14" fmla="*/ 0 w 26"/>
                  <a:gd name="T15" fmla="*/ 0 h 408"/>
                  <a:gd name="T16" fmla="*/ 0 w 26"/>
                  <a:gd name="T17" fmla="*/ 0 h 408"/>
                  <a:gd name="T18" fmla="*/ 0 w 26"/>
                  <a:gd name="T19" fmla="*/ 0 h 408"/>
                  <a:gd name="T20" fmla="*/ 0 w 26"/>
                  <a:gd name="T21" fmla="*/ 0 h 408"/>
                  <a:gd name="T22" fmla="*/ 0 w 26"/>
                  <a:gd name="T23" fmla="*/ 0 h 408"/>
                  <a:gd name="T24" fmla="*/ 0 w 26"/>
                  <a:gd name="T25" fmla="*/ 0 h 408"/>
                  <a:gd name="T26" fmla="*/ 0 w 26"/>
                  <a:gd name="T27" fmla="*/ 0 h 408"/>
                  <a:gd name="T28" fmla="*/ 0 w 26"/>
                  <a:gd name="T29" fmla="*/ 0 h 408"/>
                  <a:gd name="T30" fmla="*/ 0 w 26"/>
                  <a:gd name="T31" fmla="*/ 0 h 408"/>
                  <a:gd name="T32" fmla="*/ 0 w 26"/>
                  <a:gd name="T33" fmla="*/ 0 h 408"/>
                  <a:gd name="T34" fmla="*/ 0 w 26"/>
                  <a:gd name="T35" fmla="*/ 0 h 408"/>
                  <a:gd name="T36" fmla="*/ 0 w 26"/>
                  <a:gd name="T37" fmla="*/ 0 h 40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08">
                    <a:moveTo>
                      <a:pt x="0" y="374"/>
                    </a:moveTo>
                    <a:lnTo>
                      <a:pt x="0" y="34"/>
                    </a:lnTo>
                    <a:lnTo>
                      <a:pt x="2" y="30"/>
                    </a:lnTo>
                    <a:lnTo>
                      <a:pt x="5" y="25"/>
                    </a:lnTo>
                    <a:lnTo>
                      <a:pt x="9" y="21"/>
                    </a:lnTo>
                    <a:lnTo>
                      <a:pt x="12" y="17"/>
                    </a:lnTo>
                    <a:lnTo>
                      <a:pt x="16" y="12"/>
                    </a:lnTo>
                    <a:lnTo>
                      <a:pt x="19" y="8"/>
                    </a:lnTo>
                    <a:lnTo>
                      <a:pt x="22" y="4"/>
                    </a:lnTo>
                    <a:lnTo>
                      <a:pt x="26" y="0"/>
                    </a:lnTo>
                    <a:lnTo>
                      <a:pt x="26" y="408"/>
                    </a:lnTo>
                    <a:lnTo>
                      <a:pt x="22" y="404"/>
                    </a:lnTo>
                    <a:lnTo>
                      <a:pt x="19" y="399"/>
                    </a:lnTo>
                    <a:lnTo>
                      <a:pt x="16" y="396"/>
                    </a:lnTo>
                    <a:lnTo>
                      <a:pt x="12" y="392"/>
                    </a:lnTo>
                    <a:lnTo>
                      <a:pt x="9" y="388"/>
                    </a:lnTo>
                    <a:lnTo>
                      <a:pt x="5" y="384"/>
                    </a:lnTo>
                    <a:lnTo>
                      <a:pt x="2" y="378"/>
                    </a:lnTo>
                    <a:lnTo>
                      <a:pt x="0" y="37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49" name="Freeform 1391"/>
              <p:cNvSpPr>
                <a:spLocks noChangeAspect="1"/>
              </p:cNvSpPr>
              <p:nvPr/>
            </p:nvSpPr>
            <p:spPr bwMode="auto">
              <a:xfrm>
                <a:off x="4309" y="1038"/>
                <a:ext cx="9" cy="145"/>
              </a:xfrm>
              <a:custGeom>
                <a:avLst/>
                <a:gdLst>
                  <a:gd name="T0" fmla="*/ 0 w 26"/>
                  <a:gd name="T1" fmla="*/ 0 h 436"/>
                  <a:gd name="T2" fmla="*/ 0 w 26"/>
                  <a:gd name="T3" fmla="*/ 0 h 436"/>
                  <a:gd name="T4" fmla="*/ 0 w 26"/>
                  <a:gd name="T5" fmla="*/ 0 h 436"/>
                  <a:gd name="T6" fmla="*/ 0 w 26"/>
                  <a:gd name="T7" fmla="*/ 0 h 436"/>
                  <a:gd name="T8" fmla="*/ 0 w 26"/>
                  <a:gd name="T9" fmla="*/ 0 h 436"/>
                  <a:gd name="T10" fmla="*/ 0 w 26"/>
                  <a:gd name="T11" fmla="*/ 0 h 436"/>
                  <a:gd name="T12" fmla="*/ 0 w 26"/>
                  <a:gd name="T13" fmla="*/ 0 h 436"/>
                  <a:gd name="T14" fmla="*/ 0 w 26"/>
                  <a:gd name="T15" fmla="*/ 0 h 436"/>
                  <a:gd name="T16" fmla="*/ 0 w 26"/>
                  <a:gd name="T17" fmla="*/ 0 h 436"/>
                  <a:gd name="T18" fmla="*/ 0 w 26"/>
                  <a:gd name="T19" fmla="*/ 0 h 436"/>
                  <a:gd name="T20" fmla="*/ 0 w 26"/>
                  <a:gd name="T21" fmla="*/ 0 h 436"/>
                  <a:gd name="T22" fmla="*/ 0 w 26"/>
                  <a:gd name="T23" fmla="*/ 0 h 436"/>
                  <a:gd name="T24" fmla="*/ 0 w 26"/>
                  <a:gd name="T25" fmla="*/ 0 h 436"/>
                  <a:gd name="T26" fmla="*/ 0 w 26"/>
                  <a:gd name="T27" fmla="*/ 0 h 436"/>
                  <a:gd name="T28" fmla="*/ 0 w 26"/>
                  <a:gd name="T29" fmla="*/ 0 h 436"/>
                  <a:gd name="T30" fmla="*/ 0 w 26"/>
                  <a:gd name="T31" fmla="*/ 0 h 436"/>
                  <a:gd name="T32" fmla="*/ 0 w 26"/>
                  <a:gd name="T33" fmla="*/ 0 h 436"/>
                  <a:gd name="T34" fmla="*/ 0 w 26"/>
                  <a:gd name="T35" fmla="*/ 0 h 436"/>
                  <a:gd name="T36" fmla="*/ 0 w 26"/>
                  <a:gd name="T37" fmla="*/ 0 h 4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36">
                    <a:moveTo>
                      <a:pt x="0" y="406"/>
                    </a:moveTo>
                    <a:lnTo>
                      <a:pt x="0" y="30"/>
                    </a:lnTo>
                    <a:lnTo>
                      <a:pt x="3" y="26"/>
                    </a:lnTo>
                    <a:lnTo>
                      <a:pt x="6" y="22"/>
                    </a:lnTo>
                    <a:lnTo>
                      <a:pt x="9" y="18"/>
                    </a:lnTo>
                    <a:lnTo>
                      <a:pt x="13" y="15"/>
                    </a:lnTo>
                    <a:lnTo>
                      <a:pt x="16" y="11"/>
                    </a:lnTo>
                    <a:lnTo>
                      <a:pt x="19" y="7"/>
                    </a:lnTo>
                    <a:lnTo>
                      <a:pt x="23" y="4"/>
                    </a:lnTo>
                    <a:lnTo>
                      <a:pt x="26" y="0"/>
                    </a:lnTo>
                    <a:lnTo>
                      <a:pt x="26" y="436"/>
                    </a:lnTo>
                    <a:lnTo>
                      <a:pt x="23" y="433"/>
                    </a:lnTo>
                    <a:lnTo>
                      <a:pt x="19" y="428"/>
                    </a:lnTo>
                    <a:lnTo>
                      <a:pt x="16" y="425"/>
                    </a:lnTo>
                    <a:lnTo>
                      <a:pt x="13" y="422"/>
                    </a:lnTo>
                    <a:lnTo>
                      <a:pt x="9" y="418"/>
                    </a:lnTo>
                    <a:lnTo>
                      <a:pt x="6" y="415"/>
                    </a:lnTo>
                    <a:lnTo>
                      <a:pt x="3" y="410"/>
                    </a:lnTo>
                    <a:lnTo>
                      <a:pt x="0" y="40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50" name="Freeform 1392"/>
              <p:cNvSpPr>
                <a:spLocks noChangeAspect="1"/>
              </p:cNvSpPr>
              <p:nvPr/>
            </p:nvSpPr>
            <p:spPr bwMode="auto">
              <a:xfrm>
                <a:off x="4313" y="1034"/>
                <a:ext cx="9" cy="153"/>
              </a:xfrm>
              <a:custGeom>
                <a:avLst/>
                <a:gdLst>
                  <a:gd name="T0" fmla="*/ 0 w 26"/>
                  <a:gd name="T1" fmla="*/ 0 h 461"/>
                  <a:gd name="T2" fmla="*/ 0 w 26"/>
                  <a:gd name="T3" fmla="*/ 0 h 461"/>
                  <a:gd name="T4" fmla="*/ 0 w 26"/>
                  <a:gd name="T5" fmla="*/ 0 h 461"/>
                  <a:gd name="T6" fmla="*/ 0 w 26"/>
                  <a:gd name="T7" fmla="*/ 0 h 461"/>
                  <a:gd name="T8" fmla="*/ 0 w 26"/>
                  <a:gd name="T9" fmla="*/ 0 h 461"/>
                  <a:gd name="T10" fmla="*/ 0 w 26"/>
                  <a:gd name="T11" fmla="*/ 0 h 461"/>
                  <a:gd name="T12" fmla="*/ 0 w 26"/>
                  <a:gd name="T13" fmla="*/ 0 h 461"/>
                  <a:gd name="T14" fmla="*/ 0 w 26"/>
                  <a:gd name="T15" fmla="*/ 0 h 461"/>
                  <a:gd name="T16" fmla="*/ 0 w 26"/>
                  <a:gd name="T17" fmla="*/ 0 h 461"/>
                  <a:gd name="T18" fmla="*/ 0 w 26"/>
                  <a:gd name="T19" fmla="*/ 0 h 461"/>
                  <a:gd name="T20" fmla="*/ 0 w 26"/>
                  <a:gd name="T21" fmla="*/ 0 h 461"/>
                  <a:gd name="T22" fmla="*/ 0 w 26"/>
                  <a:gd name="T23" fmla="*/ 0 h 461"/>
                  <a:gd name="T24" fmla="*/ 0 w 26"/>
                  <a:gd name="T25" fmla="*/ 0 h 461"/>
                  <a:gd name="T26" fmla="*/ 0 w 26"/>
                  <a:gd name="T27" fmla="*/ 0 h 461"/>
                  <a:gd name="T28" fmla="*/ 0 w 26"/>
                  <a:gd name="T29" fmla="*/ 0 h 461"/>
                  <a:gd name="T30" fmla="*/ 0 w 26"/>
                  <a:gd name="T31" fmla="*/ 0 h 461"/>
                  <a:gd name="T32" fmla="*/ 0 w 26"/>
                  <a:gd name="T33" fmla="*/ 0 h 461"/>
                  <a:gd name="T34" fmla="*/ 0 w 26"/>
                  <a:gd name="T35" fmla="*/ 0 h 461"/>
                  <a:gd name="T36" fmla="*/ 0 w 26"/>
                  <a:gd name="T37" fmla="*/ 0 h 4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61">
                    <a:moveTo>
                      <a:pt x="0" y="434"/>
                    </a:moveTo>
                    <a:lnTo>
                      <a:pt x="0" y="26"/>
                    </a:lnTo>
                    <a:lnTo>
                      <a:pt x="3" y="23"/>
                    </a:lnTo>
                    <a:lnTo>
                      <a:pt x="6" y="19"/>
                    </a:lnTo>
                    <a:lnTo>
                      <a:pt x="9" y="16"/>
                    </a:lnTo>
                    <a:lnTo>
                      <a:pt x="13" y="13"/>
                    </a:lnTo>
                    <a:lnTo>
                      <a:pt x="17" y="10"/>
                    </a:lnTo>
                    <a:lnTo>
                      <a:pt x="20" y="7"/>
                    </a:lnTo>
                    <a:lnTo>
                      <a:pt x="23" y="3"/>
                    </a:lnTo>
                    <a:lnTo>
                      <a:pt x="26" y="0"/>
                    </a:lnTo>
                    <a:lnTo>
                      <a:pt x="26" y="461"/>
                    </a:lnTo>
                    <a:lnTo>
                      <a:pt x="23" y="457"/>
                    </a:lnTo>
                    <a:lnTo>
                      <a:pt x="20" y="454"/>
                    </a:lnTo>
                    <a:lnTo>
                      <a:pt x="17" y="451"/>
                    </a:lnTo>
                    <a:lnTo>
                      <a:pt x="13" y="448"/>
                    </a:lnTo>
                    <a:lnTo>
                      <a:pt x="9" y="445"/>
                    </a:lnTo>
                    <a:lnTo>
                      <a:pt x="6" y="440"/>
                    </a:lnTo>
                    <a:lnTo>
                      <a:pt x="3" y="437"/>
                    </a:lnTo>
                    <a:lnTo>
                      <a:pt x="0" y="43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51" name="Freeform 1393"/>
              <p:cNvSpPr>
                <a:spLocks noChangeAspect="1"/>
              </p:cNvSpPr>
              <p:nvPr/>
            </p:nvSpPr>
            <p:spPr bwMode="auto">
              <a:xfrm>
                <a:off x="4318" y="1030"/>
                <a:ext cx="9" cy="161"/>
              </a:xfrm>
              <a:custGeom>
                <a:avLst/>
                <a:gdLst>
                  <a:gd name="T0" fmla="*/ 0 w 27"/>
                  <a:gd name="T1" fmla="*/ 0 h 482"/>
                  <a:gd name="T2" fmla="*/ 0 w 27"/>
                  <a:gd name="T3" fmla="*/ 0 h 482"/>
                  <a:gd name="T4" fmla="*/ 0 w 27"/>
                  <a:gd name="T5" fmla="*/ 0 h 482"/>
                  <a:gd name="T6" fmla="*/ 0 w 27"/>
                  <a:gd name="T7" fmla="*/ 0 h 482"/>
                  <a:gd name="T8" fmla="*/ 0 w 27"/>
                  <a:gd name="T9" fmla="*/ 0 h 482"/>
                  <a:gd name="T10" fmla="*/ 0 w 27"/>
                  <a:gd name="T11" fmla="*/ 0 h 482"/>
                  <a:gd name="T12" fmla="*/ 0 w 27"/>
                  <a:gd name="T13" fmla="*/ 0 h 482"/>
                  <a:gd name="T14" fmla="*/ 0 w 27"/>
                  <a:gd name="T15" fmla="*/ 0 h 482"/>
                  <a:gd name="T16" fmla="*/ 0 w 27"/>
                  <a:gd name="T17" fmla="*/ 0 h 482"/>
                  <a:gd name="T18" fmla="*/ 0 w 27"/>
                  <a:gd name="T19" fmla="*/ 0 h 482"/>
                  <a:gd name="T20" fmla="*/ 0 w 27"/>
                  <a:gd name="T21" fmla="*/ 0 h 482"/>
                  <a:gd name="T22" fmla="*/ 0 w 27"/>
                  <a:gd name="T23" fmla="*/ 0 h 482"/>
                  <a:gd name="T24" fmla="*/ 0 w 27"/>
                  <a:gd name="T25" fmla="*/ 0 h 482"/>
                  <a:gd name="T26" fmla="*/ 0 w 27"/>
                  <a:gd name="T27" fmla="*/ 0 h 482"/>
                  <a:gd name="T28" fmla="*/ 0 w 27"/>
                  <a:gd name="T29" fmla="*/ 0 h 482"/>
                  <a:gd name="T30" fmla="*/ 0 w 27"/>
                  <a:gd name="T31" fmla="*/ 0 h 482"/>
                  <a:gd name="T32" fmla="*/ 0 w 27"/>
                  <a:gd name="T33" fmla="*/ 0 h 482"/>
                  <a:gd name="T34" fmla="*/ 0 w 27"/>
                  <a:gd name="T35" fmla="*/ 0 h 482"/>
                  <a:gd name="T36" fmla="*/ 0 w 27"/>
                  <a:gd name="T37" fmla="*/ 0 h 48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82">
                    <a:moveTo>
                      <a:pt x="0" y="459"/>
                    </a:moveTo>
                    <a:lnTo>
                      <a:pt x="0" y="23"/>
                    </a:lnTo>
                    <a:lnTo>
                      <a:pt x="4" y="21"/>
                    </a:lnTo>
                    <a:lnTo>
                      <a:pt x="7" y="18"/>
                    </a:lnTo>
                    <a:lnTo>
                      <a:pt x="10" y="14"/>
                    </a:lnTo>
                    <a:lnTo>
                      <a:pt x="13" y="11"/>
                    </a:lnTo>
                    <a:lnTo>
                      <a:pt x="16" y="8"/>
                    </a:lnTo>
                    <a:lnTo>
                      <a:pt x="20" y="6"/>
                    </a:lnTo>
                    <a:lnTo>
                      <a:pt x="24" y="3"/>
                    </a:lnTo>
                    <a:lnTo>
                      <a:pt x="27" y="0"/>
                    </a:lnTo>
                    <a:lnTo>
                      <a:pt x="27" y="482"/>
                    </a:lnTo>
                    <a:lnTo>
                      <a:pt x="24" y="479"/>
                    </a:lnTo>
                    <a:lnTo>
                      <a:pt x="20" y="477"/>
                    </a:lnTo>
                    <a:lnTo>
                      <a:pt x="16" y="474"/>
                    </a:lnTo>
                    <a:lnTo>
                      <a:pt x="13" y="470"/>
                    </a:lnTo>
                    <a:lnTo>
                      <a:pt x="10" y="468"/>
                    </a:lnTo>
                    <a:lnTo>
                      <a:pt x="7" y="465"/>
                    </a:lnTo>
                    <a:lnTo>
                      <a:pt x="4" y="462"/>
                    </a:lnTo>
                    <a:lnTo>
                      <a:pt x="0" y="45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52" name="Freeform 1394"/>
              <p:cNvSpPr>
                <a:spLocks noChangeAspect="1"/>
              </p:cNvSpPr>
              <p:nvPr/>
            </p:nvSpPr>
            <p:spPr bwMode="auto">
              <a:xfrm>
                <a:off x="4322" y="1027"/>
                <a:ext cx="9" cy="167"/>
              </a:xfrm>
              <a:custGeom>
                <a:avLst/>
                <a:gdLst>
                  <a:gd name="T0" fmla="*/ 0 w 27"/>
                  <a:gd name="T1" fmla="*/ 0 h 503"/>
                  <a:gd name="T2" fmla="*/ 0 w 27"/>
                  <a:gd name="T3" fmla="*/ 0 h 503"/>
                  <a:gd name="T4" fmla="*/ 0 w 27"/>
                  <a:gd name="T5" fmla="*/ 0 h 503"/>
                  <a:gd name="T6" fmla="*/ 0 w 27"/>
                  <a:gd name="T7" fmla="*/ 0 h 503"/>
                  <a:gd name="T8" fmla="*/ 0 w 27"/>
                  <a:gd name="T9" fmla="*/ 0 h 503"/>
                  <a:gd name="T10" fmla="*/ 0 w 27"/>
                  <a:gd name="T11" fmla="*/ 0 h 503"/>
                  <a:gd name="T12" fmla="*/ 0 w 27"/>
                  <a:gd name="T13" fmla="*/ 0 h 503"/>
                  <a:gd name="T14" fmla="*/ 0 w 27"/>
                  <a:gd name="T15" fmla="*/ 0 h 503"/>
                  <a:gd name="T16" fmla="*/ 0 w 27"/>
                  <a:gd name="T17" fmla="*/ 0 h 503"/>
                  <a:gd name="T18" fmla="*/ 0 w 27"/>
                  <a:gd name="T19" fmla="*/ 0 h 503"/>
                  <a:gd name="T20" fmla="*/ 0 w 27"/>
                  <a:gd name="T21" fmla="*/ 0 h 503"/>
                  <a:gd name="T22" fmla="*/ 0 w 27"/>
                  <a:gd name="T23" fmla="*/ 0 h 503"/>
                  <a:gd name="T24" fmla="*/ 0 w 27"/>
                  <a:gd name="T25" fmla="*/ 0 h 503"/>
                  <a:gd name="T26" fmla="*/ 0 w 27"/>
                  <a:gd name="T27" fmla="*/ 0 h 503"/>
                  <a:gd name="T28" fmla="*/ 0 w 27"/>
                  <a:gd name="T29" fmla="*/ 0 h 503"/>
                  <a:gd name="T30" fmla="*/ 0 w 27"/>
                  <a:gd name="T31" fmla="*/ 0 h 503"/>
                  <a:gd name="T32" fmla="*/ 0 w 27"/>
                  <a:gd name="T33" fmla="*/ 0 h 503"/>
                  <a:gd name="T34" fmla="*/ 0 w 27"/>
                  <a:gd name="T35" fmla="*/ 0 h 503"/>
                  <a:gd name="T36" fmla="*/ 0 w 27"/>
                  <a:gd name="T37" fmla="*/ 0 h 5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03">
                    <a:moveTo>
                      <a:pt x="0" y="482"/>
                    </a:moveTo>
                    <a:lnTo>
                      <a:pt x="0" y="21"/>
                    </a:lnTo>
                    <a:lnTo>
                      <a:pt x="3" y="18"/>
                    </a:lnTo>
                    <a:lnTo>
                      <a:pt x="7" y="16"/>
                    </a:lnTo>
                    <a:lnTo>
                      <a:pt x="11" y="13"/>
                    </a:lnTo>
                    <a:lnTo>
                      <a:pt x="14" y="11"/>
                    </a:lnTo>
                    <a:lnTo>
                      <a:pt x="17" y="7"/>
                    </a:lnTo>
                    <a:lnTo>
                      <a:pt x="20" y="5"/>
                    </a:lnTo>
                    <a:lnTo>
                      <a:pt x="24" y="2"/>
                    </a:lnTo>
                    <a:lnTo>
                      <a:pt x="27" y="0"/>
                    </a:lnTo>
                    <a:lnTo>
                      <a:pt x="27" y="503"/>
                    </a:lnTo>
                    <a:lnTo>
                      <a:pt x="24" y="500"/>
                    </a:lnTo>
                    <a:lnTo>
                      <a:pt x="20" y="498"/>
                    </a:lnTo>
                    <a:lnTo>
                      <a:pt x="17" y="494"/>
                    </a:lnTo>
                    <a:lnTo>
                      <a:pt x="14" y="492"/>
                    </a:lnTo>
                    <a:lnTo>
                      <a:pt x="11" y="489"/>
                    </a:lnTo>
                    <a:lnTo>
                      <a:pt x="7" y="487"/>
                    </a:lnTo>
                    <a:lnTo>
                      <a:pt x="3" y="484"/>
                    </a:lnTo>
                    <a:lnTo>
                      <a:pt x="0" y="48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53" name="Freeform 1395"/>
              <p:cNvSpPr>
                <a:spLocks noChangeAspect="1"/>
              </p:cNvSpPr>
              <p:nvPr/>
            </p:nvSpPr>
            <p:spPr bwMode="auto">
              <a:xfrm>
                <a:off x="4327" y="1024"/>
                <a:ext cx="9" cy="173"/>
              </a:xfrm>
              <a:custGeom>
                <a:avLst/>
                <a:gdLst>
                  <a:gd name="T0" fmla="*/ 0 w 27"/>
                  <a:gd name="T1" fmla="*/ 0 h 520"/>
                  <a:gd name="T2" fmla="*/ 0 w 27"/>
                  <a:gd name="T3" fmla="*/ 0 h 520"/>
                  <a:gd name="T4" fmla="*/ 0 w 27"/>
                  <a:gd name="T5" fmla="*/ 0 h 520"/>
                  <a:gd name="T6" fmla="*/ 0 w 27"/>
                  <a:gd name="T7" fmla="*/ 0 h 520"/>
                  <a:gd name="T8" fmla="*/ 0 w 27"/>
                  <a:gd name="T9" fmla="*/ 0 h 520"/>
                  <a:gd name="T10" fmla="*/ 0 w 27"/>
                  <a:gd name="T11" fmla="*/ 0 h 520"/>
                  <a:gd name="T12" fmla="*/ 0 w 27"/>
                  <a:gd name="T13" fmla="*/ 0 h 520"/>
                  <a:gd name="T14" fmla="*/ 0 w 27"/>
                  <a:gd name="T15" fmla="*/ 0 h 520"/>
                  <a:gd name="T16" fmla="*/ 0 w 27"/>
                  <a:gd name="T17" fmla="*/ 0 h 520"/>
                  <a:gd name="T18" fmla="*/ 0 w 27"/>
                  <a:gd name="T19" fmla="*/ 0 h 520"/>
                  <a:gd name="T20" fmla="*/ 0 w 27"/>
                  <a:gd name="T21" fmla="*/ 0 h 520"/>
                  <a:gd name="T22" fmla="*/ 0 w 27"/>
                  <a:gd name="T23" fmla="*/ 0 h 520"/>
                  <a:gd name="T24" fmla="*/ 0 w 27"/>
                  <a:gd name="T25" fmla="*/ 0 h 520"/>
                  <a:gd name="T26" fmla="*/ 0 w 27"/>
                  <a:gd name="T27" fmla="*/ 0 h 520"/>
                  <a:gd name="T28" fmla="*/ 0 w 27"/>
                  <a:gd name="T29" fmla="*/ 0 h 520"/>
                  <a:gd name="T30" fmla="*/ 0 w 27"/>
                  <a:gd name="T31" fmla="*/ 0 h 520"/>
                  <a:gd name="T32" fmla="*/ 0 w 27"/>
                  <a:gd name="T33" fmla="*/ 0 h 520"/>
                  <a:gd name="T34" fmla="*/ 0 w 27"/>
                  <a:gd name="T35" fmla="*/ 0 h 520"/>
                  <a:gd name="T36" fmla="*/ 0 w 27"/>
                  <a:gd name="T37" fmla="*/ 0 h 5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20">
                    <a:moveTo>
                      <a:pt x="0" y="501"/>
                    </a:moveTo>
                    <a:lnTo>
                      <a:pt x="0" y="19"/>
                    </a:lnTo>
                    <a:lnTo>
                      <a:pt x="3" y="16"/>
                    </a:lnTo>
                    <a:lnTo>
                      <a:pt x="6" y="14"/>
                    </a:lnTo>
                    <a:lnTo>
                      <a:pt x="10" y="11"/>
                    </a:lnTo>
                    <a:lnTo>
                      <a:pt x="13" y="9"/>
                    </a:lnTo>
                    <a:lnTo>
                      <a:pt x="16" y="7"/>
                    </a:lnTo>
                    <a:lnTo>
                      <a:pt x="19" y="5"/>
                    </a:lnTo>
                    <a:lnTo>
                      <a:pt x="24" y="3"/>
                    </a:lnTo>
                    <a:lnTo>
                      <a:pt x="27" y="0"/>
                    </a:lnTo>
                    <a:lnTo>
                      <a:pt x="27" y="520"/>
                    </a:lnTo>
                    <a:lnTo>
                      <a:pt x="24" y="518"/>
                    </a:lnTo>
                    <a:lnTo>
                      <a:pt x="19" y="516"/>
                    </a:lnTo>
                    <a:lnTo>
                      <a:pt x="16" y="514"/>
                    </a:lnTo>
                    <a:lnTo>
                      <a:pt x="13" y="511"/>
                    </a:lnTo>
                    <a:lnTo>
                      <a:pt x="10" y="509"/>
                    </a:lnTo>
                    <a:lnTo>
                      <a:pt x="6" y="507"/>
                    </a:lnTo>
                    <a:lnTo>
                      <a:pt x="3" y="503"/>
                    </a:lnTo>
                    <a:lnTo>
                      <a:pt x="0" y="50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54" name="Freeform 1396"/>
              <p:cNvSpPr>
                <a:spLocks noChangeAspect="1"/>
              </p:cNvSpPr>
              <p:nvPr/>
            </p:nvSpPr>
            <p:spPr bwMode="auto">
              <a:xfrm>
                <a:off x="4331" y="1021"/>
                <a:ext cx="9" cy="179"/>
              </a:xfrm>
              <a:custGeom>
                <a:avLst/>
                <a:gdLst>
                  <a:gd name="T0" fmla="*/ 0 w 26"/>
                  <a:gd name="T1" fmla="*/ 0 h 537"/>
                  <a:gd name="T2" fmla="*/ 0 w 26"/>
                  <a:gd name="T3" fmla="*/ 0 h 537"/>
                  <a:gd name="T4" fmla="*/ 0 w 26"/>
                  <a:gd name="T5" fmla="*/ 0 h 537"/>
                  <a:gd name="T6" fmla="*/ 0 w 26"/>
                  <a:gd name="T7" fmla="*/ 0 h 537"/>
                  <a:gd name="T8" fmla="*/ 0 w 26"/>
                  <a:gd name="T9" fmla="*/ 0 h 537"/>
                  <a:gd name="T10" fmla="*/ 0 w 26"/>
                  <a:gd name="T11" fmla="*/ 0 h 537"/>
                  <a:gd name="T12" fmla="*/ 0 w 26"/>
                  <a:gd name="T13" fmla="*/ 0 h 537"/>
                  <a:gd name="T14" fmla="*/ 0 w 26"/>
                  <a:gd name="T15" fmla="*/ 0 h 537"/>
                  <a:gd name="T16" fmla="*/ 0 w 26"/>
                  <a:gd name="T17" fmla="*/ 0 h 537"/>
                  <a:gd name="T18" fmla="*/ 0 w 26"/>
                  <a:gd name="T19" fmla="*/ 0 h 537"/>
                  <a:gd name="T20" fmla="*/ 0 w 26"/>
                  <a:gd name="T21" fmla="*/ 0 h 537"/>
                  <a:gd name="T22" fmla="*/ 0 w 26"/>
                  <a:gd name="T23" fmla="*/ 0 h 537"/>
                  <a:gd name="T24" fmla="*/ 0 w 26"/>
                  <a:gd name="T25" fmla="*/ 0 h 537"/>
                  <a:gd name="T26" fmla="*/ 0 w 26"/>
                  <a:gd name="T27" fmla="*/ 0 h 537"/>
                  <a:gd name="T28" fmla="*/ 0 w 26"/>
                  <a:gd name="T29" fmla="*/ 0 h 537"/>
                  <a:gd name="T30" fmla="*/ 0 w 26"/>
                  <a:gd name="T31" fmla="*/ 0 h 537"/>
                  <a:gd name="T32" fmla="*/ 0 w 26"/>
                  <a:gd name="T33" fmla="*/ 0 h 537"/>
                  <a:gd name="T34" fmla="*/ 0 w 26"/>
                  <a:gd name="T35" fmla="*/ 0 h 537"/>
                  <a:gd name="T36" fmla="*/ 0 w 26"/>
                  <a:gd name="T37" fmla="*/ 0 h 5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37">
                    <a:moveTo>
                      <a:pt x="0" y="520"/>
                    </a:moveTo>
                    <a:lnTo>
                      <a:pt x="0" y="17"/>
                    </a:lnTo>
                    <a:lnTo>
                      <a:pt x="3" y="15"/>
                    </a:lnTo>
                    <a:lnTo>
                      <a:pt x="6" y="13"/>
                    </a:lnTo>
                    <a:lnTo>
                      <a:pt x="11" y="11"/>
                    </a:lnTo>
                    <a:lnTo>
                      <a:pt x="14" y="8"/>
                    </a:lnTo>
                    <a:lnTo>
                      <a:pt x="17" y="6"/>
                    </a:lnTo>
                    <a:lnTo>
                      <a:pt x="20" y="4"/>
                    </a:lnTo>
                    <a:lnTo>
                      <a:pt x="23" y="2"/>
                    </a:lnTo>
                    <a:lnTo>
                      <a:pt x="26" y="0"/>
                    </a:lnTo>
                    <a:lnTo>
                      <a:pt x="26" y="537"/>
                    </a:lnTo>
                    <a:lnTo>
                      <a:pt x="23" y="535"/>
                    </a:lnTo>
                    <a:lnTo>
                      <a:pt x="20" y="533"/>
                    </a:lnTo>
                    <a:lnTo>
                      <a:pt x="17" y="530"/>
                    </a:lnTo>
                    <a:lnTo>
                      <a:pt x="14" y="528"/>
                    </a:lnTo>
                    <a:lnTo>
                      <a:pt x="11" y="526"/>
                    </a:lnTo>
                    <a:lnTo>
                      <a:pt x="6" y="524"/>
                    </a:lnTo>
                    <a:lnTo>
                      <a:pt x="3" y="522"/>
                    </a:lnTo>
                    <a:lnTo>
                      <a:pt x="0" y="5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55" name="Freeform 1397"/>
              <p:cNvSpPr>
                <a:spLocks noChangeAspect="1"/>
              </p:cNvSpPr>
              <p:nvPr/>
            </p:nvSpPr>
            <p:spPr bwMode="auto">
              <a:xfrm>
                <a:off x="4336" y="1019"/>
                <a:ext cx="8" cy="183"/>
              </a:xfrm>
              <a:custGeom>
                <a:avLst/>
                <a:gdLst>
                  <a:gd name="T0" fmla="*/ 0 w 26"/>
                  <a:gd name="T1" fmla="*/ 0 h 550"/>
                  <a:gd name="T2" fmla="*/ 0 w 26"/>
                  <a:gd name="T3" fmla="*/ 0 h 550"/>
                  <a:gd name="T4" fmla="*/ 0 w 26"/>
                  <a:gd name="T5" fmla="*/ 0 h 550"/>
                  <a:gd name="T6" fmla="*/ 0 w 26"/>
                  <a:gd name="T7" fmla="*/ 0 h 550"/>
                  <a:gd name="T8" fmla="*/ 0 w 26"/>
                  <a:gd name="T9" fmla="*/ 0 h 550"/>
                  <a:gd name="T10" fmla="*/ 0 w 26"/>
                  <a:gd name="T11" fmla="*/ 0 h 550"/>
                  <a:gd name="T12" fmla="*/ 0 w 26"/>
                  <a:gd name="T13" fmla="*/ 0 h 550"/>
                  <a:gd name="T14" fmla="*/ 0 w 26"/>
                  <a:gd name="T15" fmla="*/ 0 h 550"/>
                  <a:gd name="T16" fmla="*/ 0 w 26"/>
                  <a:gd name="T17" fmla="*/ 0 h 550"/>
                  <a:gd name="T18" fmla="*/ 0 w 26"/>
                  <a:gd name="T19" fmla="*/ 0 h 550"/>
                  <a:gd name="T20" fmla="*/ 0 w 26"/>
                  <a:gd name="T21" fmla="*/ 0 h 550"/>
                  <a:gd name="T22" fmla="*/ 0 w 26"/>
                  <a:gd name="T23" fmla="*/ 0 h 550"/>
                  <a:gd name="T24" fmla="*/ 0 w 26"/>
                  <a:gd name="T25" fmla="*/ 0 h 550"/>
                  <a:gd name="T26" fmla="*/ 0 w 26"/>
                  <a:gd name="T27" fmla="*/ 0 h 550"/>
                  <a:gd name="T28" fmla="*/ 0 w 26"/>
                  <a:gd name="T29" fmla="*/ 0 h 550"/>
                  <a:gd name="T30" fmla="*/ 0 w 26"/>
                  <a:gd name="T31" fmla="*/ 0 h 550"/>
                  <a:gd name="T32" fmla="*/ 0 w 26"/>
                  <a:gd name="T33" fmla="*/ 0 h 550"/>
                  <a:gd name="T34" fmla="*/ 0 w 26"/>
                  <a:gd name="T35" fmla="*/ 0 h 550"/>
                  <a:gd name="T36" fmla="*/ 0 w 26"/>
                  <a:gd name="T37" fmla="*/ 0 h 5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50">
                    <a:moveTo>
                      <a:pt x="0" y="535"/>
                    </a:moveTo>
                    <a:lnTo>
                      <a:pt x="0" y="15"/>
                    </a:lnTo>
                    <a:lnTo>
                      <a:pt x="3" y="13"/>
                    </a:lnTo>
                    <a:lnTo>
                      <a:pt x="6" y="11"/>
                    </a:lnTo>
                    <a:lnTo>
                      <a:pt x="9" y="9"/>
                    </a:lnTo>
                    <a:lnTo>
                      <a:pt x="12" y="7"/>
                    </a:lnTo>
                    <a:lnTo>
                      <a:pt x="16" y="5"/>
                    </a:lnTo>
                    <a:lnTo>
                      <a:pt x="19" y="3"/>
                    </a:lnTo>
                    <a:lnTo>
                      <a:pt x="23" y="2"/>
                    </a:lnTo>
                    <a:lnTo>
                      <a:pt x="26" y="0"/>
                    </a:lnTo>
                    <a:lnTo>
                      <a:pt x="26" y="550"/>
                    </a:lnTo>
                    <a:lnTo>
                      <a:pt x="23" y="549"/>
                    </a:lnTo>
                    <a:lnTo>
                      <a:pt x="19" y="547"/>
                    </a:lnTo>
                    <a:lnTo>
                      <a:pt x="16" y="545"/>
                    </a:lnTo>
                    <a:lnTo>
                      <a:pt x="12" y="543"/>
                    </a:lnTo>
                    <a:lnTo>
                      <a:pt x="9" y="542"/>
                    </a:lnTo>
                    <a:lnTo>
                      <a:pt x="6" y="540"/>
                    </a:lnTo>
                    <a:lnTo>
                      <a:pt x="3" y="537"/>
                    </a:lnTo>
                    <a:lnTo>
                      <a:pt x="0" y="53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56" name="Freeform 1398"/>
              <p:cNvSpPr>
                <a:spLocks noChangeAspect="1"/>
              </p:cNvSpPr>
              <p:nvPr/>
            </p:nvSpPr>
            <p:spPr bwMode="auto">
              <a:xfrm>
                <a:off x="4340" y="1016"/>
                <a:ext cx="9" cy="189"/>
              </a:xfrm>
              <a:custGeom>
                <a:avLst/>
                <a:gdLst>
                  <a:gd name="T0" fmla="*/ 0 w 27"/>
                  <a:gd name="T1" fmla="*/ 0 h 565"/>
                  <a:gd name="T2" fmla="*/ 0 w 27"/>
                  <a:gd name="T3" fmla="*/ 0 h 565"/>
                  <a:gd name="T4" fmla="*/ 0 w 27"/>
                  <a:gd name="T5" fmla="*/ 0 h 565"/>
                  <a:gd name="T6" fmla="*/ 0 w 27"/>
                  <a:gd name="T7" fmla="*/ 0 h 565"/>
                  <a:gd name="T8" fmla="*/ 0 w 27"/>
                  <a:gd name="T9" fmla="*/ 0 h 565"/>
                  <a:gd name="T10" fmla="*/ 0 w 27"/>
                  <a:gd name="T11" fmla="*/ 0 h 565"/>
                  <a:gd name="T12" fmla="*/ 0 w 27"/>
                  <a:gd name="T13" fmla="*/ 0 h 565"/>
                  <a:gd name="T14" fmla="*/ 0 w 27"/>
                  <a:gd name="T15" fmla="*/ 0 h 565"/>
                  <a:gd name="T16" fmla="*/ 0 w 27"/>
                  <a:gd name="T17" fmla="*/ 0 h 565"/>
                  <a:gd name="T18" fmla="*/ 0 w 27"/>
                  <a:gd name="T19" fmla="*/ 0 h 565"/>
                  <a:gd name="T20" fmla="*/ 0 w 27"/>
                  <a:gd name="T21" fmla="*/ 0 h 565"/>
                  <a:gd name="T22" fmla="*/ 0 w 27"/>
                  <a:gd name="T23" fmla="*/ 0 h 565"/>
                  <a:gd name="T24" fmla="*/ 0 w 27"/>
                  <a:gd name="T25" fmla="*/ 0 h 565"/>
                  <a:gd name="T26" fmla="*/ 0 w 27"/>
                  <a:gd name="T27" fmla="*/ 0 h 565"/>
                  <a:gd name="T28" fmla="*/ 0 w 27"/>
                  <a:gd name="T29" fmla="*/ 0 h 565"/>
                  <a:gd name="T30" fmla="*/ 0 w 27"/>
                  <a:gd name="T31" fmla="*/ 0 h 565"/>
                  <a:gd name="T32" fmla="*/ 0 w 27"/>
                  <a:gd name="T33" fmla="*/ 0 h 565"/>
                  <a:gd name="T34" fmla="*/ 0 w 27"/>
                  <a:gd name="T35" fmla="*/ 0 h 565"/>
                  <a:gd name="T36" fmla="*/ 0 w 27"/>
                  <a:gd name="T37" fmla="*/ 0 h 5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65">
                    <a:moveTo>
                      <a:pt x="0" y="551"/>
                    </a:moveTo>
                    <a:lnTo>
                      <a:pt x="0" y="14"/>
                    </a:lnTo>
                    <a:lnTo>
                      <a:pt x="4" y="12"/>
                    </a:lnTo>
                    <a:lnTo>
                      <a:pt x="7" y="10"/>
                    </a:lnTo>
                    <a:lnTo>
                      <a:pt x="10" y="9"/>
                    </a:lnTo>
                    <a:lnTo>
                      <a:pt x="14" y="7"/>
                    </a:lnTo>
                    <a:lnTo>
                      <a:pt x="18" y="5"/>
                    </a:lnTo>
                    <a:lnTo>
                      <a:pt x="21" y="3"/>
                    </a:lnTo>
                    <a:lnTo>
                      <a:pt x="24" y="1"/>
                    </a:lnTo>
                    <a:lnTo>
                      <a:pt x="27" y="0"/>
                    </a:lnTo>
                    <a:lnTo>
                      <a:pt x="27" y="565"/>
                    </a:lnTo>
                    <a:lnTo>
                      <a:pt x="24" y="563"/>
                    </a:lnTo>
                    <a:lnTo>
                      <a:pt x="21" y="561"/>
                    </a:lnTo>
                    <a:lnTo>
                      <a:pt x="18" y="559"/>
                    </a:lnTo>
                    <a:lnTo>
                      <a:pt x="14" y="557"/>
                    </a:lnTo>
                    <a:lnTo>
                      <a:pt x="10" y="556"/>
                    </a:lnTo>
                    <a:lnTo>
                      <a:pt x="7" y="554"/>
                    </a:lnTo>
                    <a:lnTo>
                      <a:pt x="4" y="552"/>
                    </a:lnTo>
                    <a:lnTo>
                      <a:pt x="0" y="55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57" name="Freeform 1399"/>
              <p:cNvSpPr>
                <a:spLocks noChangeAspect="1"/>
              </p:cNvSpPr>
              <p:nvPr/>
            </p:nvSpPr>
            <p:spPr bwMode="auto">
              <a:xfrm>
                <a:off x="4344" y="1014"/>
                <a:ext cx="9" cy="192"/>
              </a:xfrm>
              <a:custGeom>
                <a:avLst/>
                <a:gdLst>
                  <a:gd name="T0" fmla="*/ 0 w 27"/>
                  <a:gd name="T1" fmla="*/ 0 h 576"/>
                  <a:gd name="T2" fmla="*/ 0 w 27"/>
                  <a:gd name="T3" fmla="*/ 0 h 576"/>
                  <a:gd name="T4" fmla="*/ 0 w 27"/>
                  <a:gd name="T5" fmla="*/ 0 h 576"/>
                  <a:gd name="T6" fmla="*/ 0 w 27"/>
                  <a:gd name="T7" fmla="*/ 0 h 576"/>
                  <a:gd name="T8" fmla="*/ 0 w 27"/>
                  <a:gd name="T9" fmla="*/ 0 h 576"/>
                  <a:gd name="T10" fmla="*/ 0 w 27"/>
                  <a:gd name="T11" fmla="*/ 0 h 576"/>
                  <a:gd name="T12" fmla="*/ 0 w 27"/>
                  <a:gd name="T13" fmla="*/ 0 h 576"/>
                  <a:gd name="T14" fmla="*/ 0 w 27"/>
                  <a:gd name="T15" fmla="*/ 0 h 576"/>
                  <a:gd name="T16" fmla="*/ 0 w 27"/>
                  <a:gd name="T17" fmla="*/ 0 h 576"/>
                  <a:gd name="T18" fmla="*/ 0 w 27"/>
                  <a:gd name="T19" fmla="*/ 0 h 576"/>
                  <a:gd name="T20" fmla="*/ 0 w 27"/>
                  <a:gd name="T21" fmla="*/ 0 h 576"/>
                  <a:gd name="T22" fmla="*/ 0 w 27"/>
                  <a:gd name="T23" fmla="*/ 0 h 576"/>
                  <a:gd name="T24" fmla="*/ 0 w 27"/>
                  <a:gd name="T25" fmla="*/ 0 h 576"/>
                  <a:gd name="T26" fmla="*/ 0 w 27"/>
                  <a:gd name="T27" fmla="*/ 0 h 576"/>
                  <a:gd name="T28" fmla="*/ 0 w 27"/>
                  <a:gd name="T29" fmla="*/ 0 h 576"/>
                  <a:gd name="T30" fmla="*/ 0 w 27"/>
                  <a:gd name="T31" fmla="*/ 0 h 576"/>
                  <a:gd name="T32" fmla="*/ 0 w 27"/>
                  <a:gd name="T33" fmla="*/ 0 h 576"/>
                  <a:gd name="T34" fmla="*/ 0 w 27"/>
                  <a:gd name="T35" fmla="*/ 0 h 576"/>
                  <a:gd name="T36" fmla="*/ 0 w 27"/>
                  <a:gd name="T37" fmla="*/ 0 h 5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76">
                    <a:moveTo>
                      <a:pt x="0" y="563"/>
                    </a:moveTo>
                    <a:lnTo>
                      <a:pt x="0" y="13"/>
                    </a:lnTo>
                    <a:lnTo>
                      <a:pt x="4" y="10"/>
                    </a:lnTo>
                    <a:lnTo>
                      <a:pt x="7" y="9"/>
                    </a:lnTo>
                    <a:lnTo>
                      <a:pt x="10" y="7"/>
                    </a:lnTo>
                    <a:lnTo>
                      <a:pt x="13" y="6"/>
                    </a:lnTo>
                    <a:lnTo>
                      <a:pt x="16" y="4"/>
                    </a:lnTo>
                    <a:lnTo>
                      <a:pt x="19" y="3"/>
                    </a:lnTo>
                    <a:lnTo>
                      <a:pt x="24" y="2"/>
                    </a:lnTo>
                    <a:lnTo>
                      <a:pt x="27" y="0"/>
                    </a:lnTo>
                    <a:lnTo>
                      <a:pt x="27" y="576"/>
                    </a:lnTo>
                    <a:lnTo>
                      <a:pt x="24" y="575"/>
                    </a:lnTo>
                    <a:lnTo>
                      <a:pt x="19" y="573"/>
                    </a:lnTo>
                    <a:lnTo>
                      <a:pt x="16" y="572"/>
                    </a:lnTo>
                    <a:lnTo>
                      <a:pt x="13" y="571"/>
                    </a:lnTo>
                    <a:lnTo>
                      <a:pt x="10" y="569"/>
                    </a:lnTo>
                    <a:lnTo>
                      <a:pt x="7" y="567"/>
                    </a:lnTo>
                    <a:lnTo>
                      <a:pt x="4" y="565"/>
                    </a:lnTo>
                    <a:lnTo>
                      <a:pt x="0" y="56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58" name="Freeform 1400"/>
              <p:cNvSpPr>
                <a:spLocks noChangeAspect="1"/>
              </p:cNvSpPr>
              <p:nvPr/>
            </p:nvSpPr>
            <p:spPr bwMode="auto">
              <a:xfrm>
                <a:off x="4349" y="1012"/>
                <a:ext cx="9" cy="196"/>
              </a:xfrm>
              <a:custGeom>
                <a:avLst/>
                <a:gdLst>
                  <a:gd name="T0" fmla="*/ 0 w 27"/>
                  <a:gd name="T1" fmla="*/ 0 h 587"/>
                  <a:gd name="T2" fmla="*/ 0 w 27"/>
                  <a:gd name="T3" fmla="*/ 0 h 587"/>
                  <a:gd name="T4" fmla="*/ 0 w 27"/>
                  <a:gd name="T5" fmla="*/ 0 h 587"/>
                  <a:gd name="T6" fmla="*/ 0 w 27"/>
                  <a:gd name="T7" fmla="*/ 0 h 587"/>
                  <a:gd name="T8" fmla="*/ 0 w 27"/>
                  <a:gd name="T9" fmla="*/ 0 h 587"/>
                  <a:gd name="T10" fmla="*/ 0 w 27"/>
                  <a:gd name="T11" fmla="*/ 0 h 587"/>
                  <a:gd name="T12" fmla="*/ 0 w 27"/>
                  <a:gd name="T13" fmla="*/ 0 h 587"/>
                  <a:gd name="T14" fmla="*/ 0 w 27"/>
                  <a:gd name="T15" fmla="*/ 0 h 587"/>
                  <a:gd name="T16" fmla="*/ 0 w 27"/>
                  <a:gd name="T17" fmla="*/ 0 h 587"/>
                  <a:gd name="T18" fmla="*/ 0 w 27"/>
                  <a:gd name="T19" fmla="*/ 0 h 587"/>
                  <a:gd name="T20" fmla="*/ 0 w 27"/>
                  <a:gd name="T21" fmla="*/ 0 h 587"/>
                  <a:gd name="T22" fmla="*/ 0 w 27"/>
                  <a:gd name="T23" fmla="*/ 0 h 587"/>
                  <a:gd name="T24" fmla="*/ 0 w 27"/>
                  <a:gd name="T25" fmla="*/ 0 h 587"/>
                  <a:gd name="T26" fmla="*/ 0 w 27"/>
                  <a:gd name="T27" fmla="*/ 0 h 587"/>
                  <a:gd name="T28" fmla="*/ 0 w 27"/>
                  <a:gd name="T29" fmla="*/ 0 h 587"/>
                  <a:gd name="T30" fmla="*/ 0 w 27"/>
                  <a:gd name="T31" fmla="*/ 0 h 587"/>
                  <a:gd name="T32" fmla="*/ 0 w 27"/>
                  <a:gd name="T33" fmla="*/ 0 h 587"/>
                  <a:gd name="T34" fmla="*/ 0 w 27"/>
                  <a:gd name="T35" fmla="*/ 0 h 587"/>
                  <a:gd name="T36" fmla="*/ 0 w 27"/>
                  <a:gd name="T37" fmla="*/ 0 h 58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87">
                    <a:moveTo>
                      <a:pt x="0" y="577"/>
                    </a:moveTo>
                    <a:lnTo>
                      <a:pt x="0" y="12"/>
                    </a:lnTo>
                    <a:lnTo>
                      <a:pt x="3" y="10"/>
                    </a:lnTo>
                    <a:lnTo>
                      <a:pt x="6" y="9"/>
                    </a:lnTo>
                    <a:lnTo>
                      <a:pt x="10" y="8"/>
                    </a:lnTo>
                    <a:lnTo>
                      <a:pt x="14" y="6"/>
                    </a:lnTo>
                    <a:lnTo>
                      <a:pt x="17" y="5"/>
                    </a:lnTo>
                    <a:lnTo>
                      <a:pt x="20" y="4"/>
                    </a:lnTo>
                    <a:lnTo>
                      <a:pt x="24" y="3"/>
                    </a:lnTo>
                    <a:lnTo>
                      <a:pt x="27" y="0"/>
                    </a:lnTo>
                    <a:lnTo>
                      <a:pt x="27" y="587"/>
                    </a:lnTo>
                    <a:lnTo>
                      <a:pt x="24" y="586"/>
                    </a:lnTo>
                    <a:lnTo>
                      <a:pt x="20" y="585"/>
                    </a:lnTo>
                    <a:lnTo>
                      <a:pt x="17" y="583"/>
                    </a:lnTo>
                    <a:lnTo>
                      <a:pt x="14" y="582"/>
                    </a:lnTo>
                    <a:lnTo>
                      <a:pt x="10" y="581"/>
                    </a:lnTo>
                    <a:lnTo>
                      <a:pt x="6" y="579"/>
                    </a:lnTo>
                    <a:lnTo>
                      <a:pt x="3" y="578"/>
                    </a:lnTo>
                    <a:lnTo>
                      <a:pt x="0" y="57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59" name="Freeform 1401"/>
              <p:cNvSpPr>
                <a:spLocks noChangeAspect="1"/>
              </p:cNvSpPr>
              <p:nvPr/>
            </p:nvSpPr>
            <p:spPr bwMode="auto">
              <a:xfrm>
                <a:off x="4353" y="1011"/>
                <a:ext cx="9" cy="199"/>
              </a:xfrm>
              <a:custGeom>
                <a:avLst/>
                <a:gdLst>
                  <a:gd name="T0" fmla="*/ 0 w 27"/>
                  <a:gd name="T1" fmla="*/ 0 h 596"/>
                  <a:gd name="T2" fmla="*/ 0 w 27"/>
                  <a:gd name="T3" fmla="*/ 0 h 596"/>
                  <a:gd name="T4" fmla="*/ 0 w 27"/>
                  <a:gd name="T5" fmla="*/ 0 h 596"/>
                  <a:gd name="T6" fmla="*/ 0 w 27"/>
                  <a:gd name="T7" fmla="*/ 0 h 596"/>
                  <a:gd name="T8" fmla="*/ 0 w 27"/>
                  <a:gd name="T9" fmla="*/ 0 h 596"/>
                  <a:gd name="T10" fmla="*/ 0 w 27"/>
                  <a:gd name="T11" fmla="*/ 0 h 596"/>
                  <a:gd name="T12" fmla="*/ 0 w 27"/>
                  <a:gd name="T13" fmla="*/ 0 h 596"/>
                  <a:gd name="T14" fmla="*/ 0 w 27"/>
                  <a:gd name="T15" fmla="*/ 0 h 596"/>
                  <a:gd name="T16" fmla="*/ 0 w 27"/>
                  <a:gd name="T17" fmla="*/ 0 h 596"/>
                  <a:gd name="T18" fmla="*/ 0 w 27"/>
                  <a:gd name="T19" fmla="*/ 0 h 596"/>
                  <a:gd name="T20" fmla="*/ 0 w 27"/>
                  <a:gd name="T21" fmla="*/ 0 h 596"/>
                  <a:gd name="T22" fmla="*/ 0 w 27"/>
                  <a:gd name="T23" fmla="*/ 0 h 596"/>
                  <a:gd name="T24" fmla="*/ 0 w 27"/>
                  <a:gd name="T25" fmla="*/ 0 h 596"/>
                  <a:gd name="T26" fmla="*/ 0 w 27"/>
                  <a:gd name="T27" fmla="*/ 0 h 596"/>
                  <a:gd name="T28" fmla="*/ 0 w 27"/>
                  <a:gd name="T29" fmla="*/ 0 h 596"/>
                  <a:gd name="T30" fmla="*/ 0 w 27"/>
                  <a:gd name="T31" fmla="*/ 0 h 596"/>
                  <a:gd name="T32" fmla="*/ 0 w 27"/>
                  <a:gd name="T33" fmla="*/ 0 h 596"/>
                  <a:gd name="T34" fmla="*/ 0 w 27"/>
                  <a:gd name="T35" fmla="*/ 0 h 596"/>
                  <a:gd name="T36" fmla="*/ 0 w 27"/>
                  <a:gd name="T37" fmla="*/ 0 h 59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96">
                    <a:moveTo>
                      <a:pt x="0" y="586"/>
                    </a:moveTo>
                    <a:lnTo>
                      <a:pt x="0" y="10"/>
                    </a:lnTo>
                    <a:lnTo>
                      <a:pt x="3" y="9"/>
                    </a:lnTo>
                    <a:lnTo>
                      <a:pt x="6" y="8"/>
                    </a:lnTo>
                    <a:lnTo>
                      <a:pt x="10" y="7"/>
                    </a:lnTo>
                    <a:lnTo>
                      <a:pt x="13" y="5"/>
                    </a:lnTo>
                    <a:lnTo>
                      <a:pt x="16" y="3"/>
                    </a:lnTo>
                    <a:lnTo>
                      <a:pt x="19" y="2"/>
                    </a:lnTo>
                    <a:lnTo>
                      <a:pt x="22" y="1"/>
                    </a:lnTo>
                    <a:lnTo>
                      <a:pt x="27" y="0"/>
                    </a:lnTo>
                    <a:lnTo>
                      <a:pt x="27" y="596"/>
                    </a:lnTo>
                    <a:lnTo>
                      <a:pt x="22" y="594"/>
                    </a:lnTo>
                    <a:lnTo>
                      <a:pt x="19" y="593"/>
                    </a:lnTo>
                    <a:lnTo>
                      <a:pt x="16" y="592"/>
                    </a:lnTo>
                    <a:lnTo>
                      <a:pt x="13" y="591"/>
                    </a:lnTo>
                    <a:lnTo>
                      <a:pt x="10" y="590"/>
                    </a:lnTo>
                    <a:lnTo>
                      <a:pt x="6" y="589"/>
                    </a:lnTo>
                    <a:lnTo>
                      <a:pt x="3" y="587"/>
                    </a:lnTo>
                    <a:lnTo>
                      <a:pt x="0" y="58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60" name="Freeform 1402"/>
              <p:cNvSpPr>
                <a:spLocks noChangeAspect="1"/>
              </p:cNvSpPr>
              <p:nvPr/>
            </p:nvSpPr>
            <p:spPr bwMode="auto">
              <a:xfrm>
                <a:off x="4358" y="1010"/>
                <a:ext cx="8" cy="201"/>
              </a:xfrm>
              <a:custGeom>
                <a:avLst/>
                <a:gdLst>
                  <a:gd name="T0" fmla="*/ 0 w 26"/>
                  <a:gd name="T1" fmla="*/ 0 h 604"/>
                  <a:gd name="T2" fmla="*/ 0 w 26"/>
                  <a:gd name="T3" fmla="*/ 0 h 604"/>
                  <a:gd name="T4" fmla="*/ 0 w 26"/>
                  <a:gd name="T5" fmla="*/ 0 h 604"/>
                  <a:gd name="T6" fmla="*/ 0 w 26"/>
                  <a:gd name="T7" fmla="*/ 0 h 604"/>
                  <a:gd name="T8" fmla="*/ 0 w 26"/>
                  <a:gd name="T9" fmla="*/ 0 h 604"/>
                  <a:gd name="T10" fmla="*/ 0 w 26"/>
                  <a:gd name="T11" fmla="*/ 0 h 604"/>
                  <a:gd name="T12" fmla="*/ 0 w 26"/>
                  <a:gd name="T13" fmla="*/ 0 h 604"/>
                  <a:gd name="T14" fmla="*/ 0 w 26"/>
                  <a:gd name="T15" fmla="*/ 0 h 604"/>
                  <a:gd name="T16" fmla="*/ 0 w 26"/>
                  <a:gd name="T17" fmla="*/ 0 h 604"/>
                  <a:gd name="T18" fmla="*/ 0 w 26"/>
                  <a:gd name="T19" fmla="*/ 0 h 604"/>
                  <a:gd name="T20" fmla="*/ 0 w 26"/>
                  <a:gd name="T21" fmla="*/ 0 h 604"/>
                  <a:gd name="T22" fmla="*/ 0 w 26"/>
                  <a:gd name="T23" fmla="*/ 0 h 604"/>
                  <a:gd name="T24" fmla="*/ 0 w 26"/>
                  <a:gd name="T25" fmla="*/ 0 h 604"/>
                  <a:gd name="T26" fmla="*/ 0 w 26"/>
                  <a:gd name="T27" fmla="*/ 0 h 604"/>
                  <a:gd name="T28" fmla="*/ 0 w 26"/>
                  <a:gd name="T29" fmla="*/ 0 h 604"/>
                  <a:gd name="T30" fmla="*/ 0 w 26"/>
                  <a:gd name="T31" fmla="*/ 0 h 604"/>
                  <a:gd name="T32" fmla="*/ 0 w 26"/>
                  <a:gd name="T33" fmla="*/ 0 h 604"/>
                  <a:gd name="T34" fmla="*/ 0 w 26"/>
                  <a:gd name="T35" fmla="*/ 0 h 604"/>
                  <a:gd name="T36" fmla="*/ 0 w 26"/>
                  <a:gd name="T37" fmla="*/ 0 h 60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04">
                    <a:moveTo>
                      <a:pt x="0" y="595"/>
                    </a:moveTo>
                    <a:lnTo>
                      <a:pt x="0" y="8"/>
                    </a:lnTo>
                    <a:lnTo>
                      <a:pt x="3" y="7"/>
                    </a:lnTo>
                    <a:lnTo>
                      <a:pt x="6" y="6"/>
                    </a:lnTo>
                    <a:lnTo>
                      <a:pt x="9" y="5"/>
                    </a:lnTo>
                    <a:lnTo>
                      <a:pt x="14" y="4"/>
                    </a:lnTo>
                    <a:lnTo>
                      <a:pt x="17" y="3"/>
                    </a:lnTo>
                    <a:lnTo>
                      <a:pt x="20" y="2"/>
                    </a:lnTo>
                    <a:lnTo>
                      <a:pt x="23" y="1"/>
                    </a:lnTo>
                    <a:lnTo>
                      <a:pt x="26" y="0"/>
                    </a:lnTo>
                    <a:lnTo>
                      <a:pt x="26" y="604"/>
                    </a:lnTo>
                    <a:lnTo>
                      <a:pt x="23" y="603"/>
                    </a:lnTo>
                    <a:lnTo>
                      <a:pt x="20" y="602"/>
                    </a:lnTo>
                    <a:lnTo>
                      <a:pt x="17" y="601"/>
                    </a:lnTo>
                    <a:lnTo>
                      <a:pt x="14" y="600"/>
                    </a:lnTo>
                    <a:lnTo>
                      <a:pt x="9" y="598"/>
                    </a:lnTo>
                    <a:lnTo>
                      <a:pt x="6" y="597"/>
                    </a:lnTo>
                    <a:lnTo>
                      <a:pt x="3" y="596"/>
                    </a:lnTo>
                    <a:lnTo>
                      <a:pt x="0" y="59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61" name="Freeform 1403"/>
              <p:cNvSpPr>
                <a:spLocks noChangeAspect="1"/>
              </p:cNvSpPr>
              <p:nvPr/>
            </p:nvSpPr>
            <p:spPr bwMode="auto">
              <a:xfrm>
                <a:off x="4362" y="1009"/>
                <a:ext cx="9" cy="203"/>
              </a:xfrm>
              <a:custGeom>
                <a:avLst/>
                <a:gdLst>
                  <a:gd name="T0" fmla="*/ 0 w 26"/>
                  <a:gd name="T1" fmla="*/ 0 h 610"/>
                  <a:gd name="T2" fmla="*/ 0 w 26"/>
                  <a:gd name="T3" fmla="*/ 0 h 610"/>
                  <a:gd name="T4" fmla="*/ 0 w 26"/>
                  <a:gd name="T5" fmla="*/ 0 h 610"/>
                  <a:gd name="T6" fmla="*/ 0 w 26"/>
                  <a:gd name="T7" fmla="*/ 0 h 610"/>
                  <a:gd name="T8" fmla="*/ 0 w 26"/>
                  <a:gd name="T9" fmla="*/ 0 h 610"/>
                  <a:gd name="T10" fmla="*/ 0 w 26"/>
                  <a:gd name="T11" fmla="*/ 0 h 610"/>
                  <a:gd name="T12" fmla="*/ 0 w 26"/>
                  <a:gd name="T13" fmla="*/ 0 h 610"/>
                  <a:gd name="T14" fmla="*/ 0 w 26"/>
                  <a:gd name="T15" fmla="*/ 0 h 610"/>
                  <a:gd name="T16" fmla="*/ 0 w 26"/>
                  <a:gd name="T17" fmla="*/ 0 h 610"/>
                  <a:gd name="T18" fmla="*/ 0 w 26"/>
                  <a:gd name="T19" fmla="*/ 0 h 610"/>
                  <a:gd name="T20" fmla="*/ 0 w 26"/>
                  <a:gd name="T21" fmla="*/ 0 h 610"/>
                  <a:gd name="T22" fmla="*/ 0 w 26"/>
                  <a:gd name="T23" fmla="*/ 0 h 610"/>
                  <a:gd name="T24" fmla="*/ 0 w 26"/>
                  <a:gd name="T25" fmla="*/ 0 h 610"/>
                  <a:gd name="T26" fmla="*/ 0 w 26"/>
                  <a:gd name="T27" fmla="*/ 0 h 610"/>
                  <a:gd name="T28" fmla="*/ 0 w 26"/>
                  <a:gd name="T29" fmla="*/ 0 h 610"/>
                  <a:gd name="T30" fmla="*/ 0 w 26"/>
                  <a:gd name="T31" fmla="*/ 0 h 610"/>
                  <a:gd name="T32" fmla="*/ 0 w 26"/>
                  <a:gd name="T33" fmla="*/ 0 h 610"/>
                  <a:gd name="T34" fmla="*/ 0 w 26"/>
                  <a:gd name="T35" fmla="*/ 0 h 610"/>
                  <a:gd name="T36" fmla="*/ 0 w 26"/>
                  <a:gd name="T37" fmla="*/ 0 h 6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10">
                    <a:moveTo>
                      <a:pt x="0" y="603"/>
                    </a:moveTo>
                    <a:lnTo>
                      <a:pt x="0" y="7"/>
                    </a:lnTo>
                    <a:lnTo>
                      <a:pt x="3" y="6"/>
                    </a:lnTo>
                    <a:lnTo>
                      <a:pt x="6" y="5"/>
                    </a:lnTo>
                    <a:lnTo>
                      <a:pt x="9" y="4"/>
                    </a:lnTo>
                    <a:lnTo>
                      <a:pt x="12" y="3"/>
                    </a:lnTo>
                    <a:lnTo>
                      <a:pt x="15" y="3"/>
                    </a:lnTo>
                    <a:lnTo>
                      <a:pt x="19" y="2"/>
                    </a:lnTo>
                    <a:lnTo>
                      <a:pt x="22" y="1"/>
                    </a:lnTo>
                    <a:lnTo>
                      <a:pt x="26" y="0"/>
                    </a:lnTo>
                    <a:lnTo>
                      <a:pt x="26" y="610"/>
                    </a:lnTo>
                    <a:lnTo>
                      <a:pt x="22" y="609"/>
                    </a:lnTo>
                    <a:lnTo>
                      <a:pt x="19" y="609"/>
                    </a:lnTo>
                    <a:lnTo>
                      <a:pt x="15" y="608"/>
                    </a:lnTo>
                    <a:lnTo>
                      <a:pt x="12" y="607"/>
                    </a:lnTo>
                    <a:lnTo>
                      <a:pt x="9" y="606"/>
                    </a:lnTo>
                    <a:lnTo>
                      <a:pt x="6" y="605"/>
                    </a:lnTo>
                    <a:lnTo>
                      <a:pt x="3" y="604"/>
                    </a:lnTo>
                    <a:lnTo>
                      <a:pt x="0" y="60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62" name="Freeform 1404"/>
              <p:cNvSpPr>
                <a:spLocks noChangeAspect="1"/>
              </p:cNvSpPr>
              <p:nvPr/>
            </p:nvSpPr>
            <p:spPr bwMode="auto">
              <a:xfrm>
                <a:off x="4366" y="1008"/>
                <a:ext cx="9" cy="205"/>
              </a:xfrm>
              <a:custGeom>
                <a:avLst/>
                <a:gdLst>
                  <a:gd name="T0" fmla="*/ 0 w 27"/>
                  <a:gd name="T1" fmla="*/ 0 h 615"/>
                  <a:gd name="T2" fmla="*/ 0 w 27"/>
                  <a:gd name="T3" fmla="*/ 0 h 615"/>
                  <a:gd name="T4" fmla="*/ 0 w 27"/>
                  <a:gd name="T5" fmla="*/ 0 h 615"/>
                  <a:gd name="T6" fmla="*/ 0 w 27"/>
                  <a:gd name="T7" fmla="*/ 0 h 615"/>
                  <a:gd name="T8" fmla="*/ 0 w 27"/>
                  <a:gd name="T9" fmla="*/ 0 h 615"/>
                  <a:gd name="T10" fmla="*/ 0 w 27"/>
                  <a:gd name="T11" fmla="*/ 0 h 615"/>
                  <a:gd name="T12" fmla="*/ 0 w 27"/>
                  <a:gd name="T13" fmla="*/ 0 h 615"/>
                  <a:gd name="T14" fmla="*/ 0 w 27"/>
                  <a:gd name="T15" fmla="*/ 0 h 615"/>
                  <a:gd name="T16" fmla="*/ 0 w 27"/>
                  <a:gd name="T17" fmla="*/ 0 h 615"/>
                  <a:gd name="T18" fmla="*/ 0 w 27"/>
                  <a:gd name="T19" fmla="*/ 0 h 615"/>
                  <a:gd name="T20" fmla="*/ 0 w 27"/>
                  <a:gd name="T21" fmla="*/ 0 h 615"/>
                  <a:gd name="T22" fmla="*/ 0 w 27"/>
                  <a:gd name="T23" fmla="*/ 0 h 615"/>
                  <a:gd name="T24" fmla="*/ 0 w 27"/>
                  <a:gd name="T25" fmla="*/ 0 h 615"/>
                  <a:gd name="T26" fmla="*/ 0 w 27"/>
                  <a:gd name="T27" fmla="*/ 0 h 615"/>
                  <a:gd name="T28" fmla="*/ 0 w 27"/>
                  <a:gd name="T29" fmla="*/ 0 h 615"/>
                  <a:gd name="T30" fmla="*/ 0 w 27"/>
                  <a:gd name="T31" fmla="*/ 0 h 615"/>
                  <a:gd name="T32" fmla="*/ 0 w 27"/>
                  <a:gd name="T33" fmla="*/ 0 h 615"/>
                  <a:gd name="T34" fmla="*/ 0 w 27"/>
                  <a:gd name="T35" fmla="*/ 0 h 615"/>
                  <a:gd name="T36" fmla="*/ 0 w 27"/>
                  <a:gd name="T37" fmla="*/ 0 h 6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15">
                    <a:moveTo>
                      <a:pt x="0" y="609"/>
                    </a:moveTo>
                    <a:lnTo>
                      <a:pt x="0" y="5"/>
                    </a:lnTo>
                    <a:lnTo>
                      <a:pt x="3" y="5"/>
                    </a:lnTo>
                    <a:lnTo>
                      <a:pt x="7" y="4"/>
                    </a:lnTo>
                    <a:lnTo>
                      <a:pt x="10" y="3"/>
                    </a:lnTo>
                    <a:lnTo>
                      <a:pt x="14" y="2"/>
                    </a:lnTo>
                    <a:lnTo>
                      <a:pt x="17" y="2"/>
                    </a:lnTo>
                    <a:lnTo>
                      <a:pt x="21" y="1"/>
                    </a:lnTo>
                    <a:lnTo>
                      <a:pt x="24" y="0"/>
                    </a:lnTo>
                    <a:lnTo>
                      <a:pt x="27" y="0"/>
                    </a:lnTo>
                    <a:lnTo>
                      <a:pt x="27" y="615"/>
                    </a:lnTo>
                    <a:lnTo>
                      <a:pt x="24" y="614"/>
                    </a:lnTo>
                    <a:lnTo>
                      <a:pt x="21" y="614"/>
                    </a:lnTo>
                    <a:lnTo>
                      <a:pt x="17" y="613"/>
                    </a:lnTo>
                    <a:lnTo>
                      <a:pt x="14" y="612"/>
                    </a:lnTo>
                    <a:lnTo>
                      <a:pt x="10" y="611"/>
                    </a:lnTo>
                    <a:lnTo>
                      <a:pt x="7" y="611"/>
                    </a:lnTo>
                    <a:lnTo>
                      <a:pt x="3" y="610"/>
                    </a:lnTo>
                    <a:lnTo>
                      <a:pt x="0" y="60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63" name="Freeform 1405"/>
              <p:cNvSpPr>
                <a:spLocks noChangeAspect="1"/>
              </p:cNvSpPr>
              <p:nvPr/>
            </p:nvSpPr>
            <p:spPr bwMode="auto">
              <a:xfrm>
                <a:off x="4371" y="1007"/>
                <a:ext cx="9" cy="207"/>
              </a:xfrm>
              <a:custGeom>
                <a:avLst/>
                <a:gdLst>
                  <a:gd name="T0" fmla="*/ 0 w 27"/>
                  <a:gd name="T1" fmla="*/ 0 h 621"/>
                  <a:gd name="T2" fmla="*/ 0 w 27"/>
                  <a:gd name="T3" fmla="*/ 0 h 621"/>
                  <a:gd name="T4" fmla="*/ 0 w 27"/>
                  <a:gd name="T5" fmla="*/ 0 h 621"/>
                  <a:gd name="T6" fmla="*/ 0 w 27"/>
                  <a:gd name="T7" fmla="*/ 0 h 621"/>
                  <a:gd name="T8" fmla="*/ 0 w 27"/>
                  <a:gd name="T9" fmla="*/ 0 h 621"/>
                  <a:gd name="T10" fmla="*/ 0 w 27"/>
                  <a:gd name="T11" fmla="*/ 0 h 621"/>
                  <a:gd name="T12" fmla="*/ 0 w 27"/>
                  <a:gd name="T13" fmla="*/ 0 h 621"/>
                  <a:gd name="T14" fmla="*/ 0 w 27"/>
                  <a:gd name="T15" fmla="*/ 0 h 621"/>
                  <a:gd name="T16" fmla="*/ 0 w 27"/>
                  <a:gd name="T17" fmla="*/ 0 h 621"/>
                  <a:gd name="T18" fmla="*/ 0 w 27"/>
                  <a:gd name="T19" fmla="*/ 0 h 621"/>
                  <a:gd name="T20" fmla="*/ 0 w 27"/>
                  <a:gd name="T21" fmla="*/ 0 h 621"/>
                  <a:gd name="T22" fmla="*/ 0 w 27"/>
                  <a:gd name="T23" fmla="*/ 0 h 621"/>
                  <a:gd name="T24" fmla="*/ 0 w 27"/>
                  <a:gd name="T25" fmla="*/ 0 h 621"/>
                  <a:gd name="T26" fmla="*/ 0 w 27"/>
                  <a:gd name="T27" fmla="*/ 0 h 621"/>
                  <a:gd name="T28" fmla="*/ 0 w 27"/>
                  <a:gd name="T29" fmla="*/ 0 h 621"/>
                  <a:gd name="T30" fmla="*/ 0 w 27"/>
                  <a:gd name="T31" fmla="*/ 0 h 621"/>
                  <a:gd name="T32" fmla="*/ 0 w 27"/>
                  <a:gd name="T33" fmla="*/ 0 h 621"/>
                  <a:gd name="T34" fmla="*/ 0 w 27"/>
                  <a:gd name="T35" fmla="*/ 0 h 621"/>
                  <a:gd name="T36" fmla="*/ 0 w 27"/>
                  <a:gd name="T37" fmla="*/ 0 h 62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1">
                    <a:moveTo>
                      <a:pt x="0" y="616"/>
                    </a:moveTo>
                    <a:lnTo>
                      <a:pt x="0" y="6"/>
                    </a:lnTo>
                    <a:lnTo>
                      <a:pt x="3" y="6"/>
                    </a:lnTo>
                    <a:lnTo>
                      <a:pt x="7" y="5"/>
                    </a:lnTo>
                    <a:lnTo>
                      <a:pt x="10" y="4"/>
                    </a:lnTo>
                    <a:lnTo>
                      <a:pt x="13" y="4"/>
                    </a:lnTo>
                    <a:lnTo>
                      <a:pt x="16" y="3"/>
                    </a:lnTo>
                    <a:lnTo>
                      <a:pt x="19" y="1"/>
                    </a:lnTo>
                    <a:lnTo>
                      <a:pt x="22" y="1"/>
                    </a:lnTo>
                    <a:lnTo>
                      <a:pt x="27" y="0"/>
                    </a:lnTo>
                    <a:lnTo>
                      <a:pt x="27" y="621"/>
                    </a:lnTo>
                    <a:lnTo>
                      <a:pt x="22" y="621"/>
                    </a:lnTo>
                    <a:lnTo>
                      <a:pt x="19" y="620"/>
                    </a:lnTo>
                    <a:lnTo>
                      <a:pt x="16" y="619"/>
                    </a:lnTo>
                    <a:lnTo>
                      <a:pt x="13" y="619"/>
                    </a:lnTo>
                    <a:lnTo>
                      <a:pt x="10" y="618"/>
                    </a:lnTo>
                    <a:lnTo>
                      <a:pt x="7" y="618"/>
                    </a:lnTo>
                    <a:lnTo>
                      <a:pt x="3" y="617"/>
                    </a:lnTo>
                    <a:lnTo>
                      <a:pt x="0" y="61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64" name="Freeform 1406"/>
              <p:cNvSpPr>
                <a:spLocks noChangeAspect="1"/>
              </p:cNvSpPr>
              <p:nvPr/>
            </p:nvSpPr>
            <p:spPr bwMode="auto">
              <a:xfrm>
                <a:off x="4375" y="1006"/>
                <a:ext cx="9" cy="208"/>
              </a:xfrm>
              <a:custGeom>
                <a:avLst/>
                <a:gdLst>
                  <a:gd name="T0" fmla="*/ 0 w 27"/>
                  <a:gd name="T1" fmla="*/ 0 h 624"/>
                  <a:gd name="T2" fmla="*/ 0 w 27"/>
                  <a:gd name="T3" fmla="*/ 0 h 624"/>
                  <a:gd name="T4" fmla="*/ 0 w 27"/>
                  <a:gd name="T5" fmla="*/ 0 h 624"/>
                  <a:gd name="T6" fmla="*/ 0 w 27"/>
                  <a:gd name="T7" fmla="*/ 0 h 624"/>
                  <a:gd name="T8" fmla="*/ 0 w 27"/>
                  <a:gd name="T9" fmla="*/ 0 h 624"/>
                  <a:gd name="T10" fmla="*/ 0 w 27"/>
                  <a:gd name="T11" fmla="*/ 0 h 624"/>
                  <a:gd name="T12" fmla="*/ 0 w 27"/>
                  <a:gd name="T13" fmla="*/ 0 h 624"/>
                  <a:gd name="T14" fmla="*/ 0 w 27"/>
                  <a:gd name="T15" fmla="*/ 0 h 624"/>
                  <a:gd name="T16" fmla="*/ 0 w 27"/>
                  <a:gd name="T17" fmla="*/ 0 h 624"/>
                  <a:gd name="T18" fmla="*/ 0 w 27"/>
                  <a:gd name="T19" fmla="*/ 0 h 624"/>
                  <a:gd name="T20" fmla="*/ 0 w 27"/>
                  <a:gd name="T21" fmla="*/ 0 h 624"/>
                  <a:gd name="T22" fmla="*/ 0 w 27"/>
                  <a:gd name="T23" fmla="*/ 0 h 624"/>
                  <a:gd name="T24" fmla="*/ 0 w 27"/>
                  <a:gd name="T25" fmla="*/ 0 h 624"/>
                  <a:gd name="T26" fmla="*/ 0 w 27"/>
                  <a:gd name="T27" fmla="*/ 0 h 624"/>
                  <a:gd name="T28" fmla="*/ 0 w 27"/>
                  <a:gd name="T29" fmla="*/ 0 h 624"/>
                  <a:gd name="T30" fmla="*/ 0 w 27"/>
                  <a:gd name="T31" fmla="*/ 0 h 624"/>
                  <a:gd name="T32" fmla="*/ 0 w 27"/>
                  <a:gd name="T33" fmla="*/ 0 h 624"/>
                  <a:gd name="T34" fmla="*/ 0 w 27"/>
                  <a:gd name="T35" fmla="*/ 0 h 624"/>
                  <a:gd name="T36" fmla="*/ 0 w 27"/>
                  <a:gd name="T37" fmla="*/ 0 h 6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4">
                    <a:moveTo>
                      <a:pt x="0" y="620"/>
                    </a:moveTo>
                    <a:lnTo>
                      <a:pt x="0" y="5"/>
                    </a:lnTo>
                    <a:lnTo>
                      <a:pt x="3" y="4"/>
                    </a:lnTo>
                    <a:lnTo>
                      <a:pt x="6" y="2"/>
                    </a:lnTo>
                    <a:lnTo>
                      <a:pt x="9" y="2"/>
                    </a:lnTo>
                    <a:lnTo>
                      <a:pt x="13" y="1"/>
                    </a:lnTo>
                    <a:lnTo>
                      <a:pt x="17" y="1"/>
                    </a:lnTo>
                    <a:lnTo>
                      <a:pt x="20" y="1"/>
                    </a:lnTo>
                    <a:lnTo>
                      <a:pt x="23" y="0"/>
                    </a:lnTo>
                    <a:lnTo>
                      <a:pt x="27" y="0"/>
                    </a:lnTo>
                    <a:lnTo>
                      <a:pt x="27" y="624"/>
                    </a:lnTo>
                    <a:lnTo>
                      <a:pt x="23" y="623"/>
                    </a:lnTo>
                    <a:lnTo>
                      <a:pt x="20" y="623"/>
                    </a:lnTo>
                    <a:lnTo>
                      <a:pt x="17" y="623"/>
                    </a:lnTo>
                    <a:lnTo>
                      <a:pt x="13" y="622"/>
                    </a:lnTo>
                    <a:lnTo>
                      <a:pt x="9" y="622"/>
                    </a:lnTo>
                    <a:lnTo>
                      <a:pt x="6" y="621"/>
                    </a:lnTo>
                    <a:lnTo>
                      <a:pt x="3" y="621"/>
                    </a:lnTo>
                    <a:lnTo>
                      <a:pt x="0" y="6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65" name="Freeform 1407"/>
              <p:cNvSpPr>
                <a:spLocks noChangeAspect="1"/>
              </p:cNvSpPr>
              <p:nvPr/>
            </p:nvSpPr>
            <p:spPr bwMode="auto">
              <a:xfrm>
                <a:off x="4380" y="1006"/>
                <a:ext cx="9" cy="209"/>
              </a:xfrm>
              <a:custGeom>
                <a:avLst/>
                <a:gdLst>
                  <a:gd name="T0" fmla="*/ 0 w 26"/>
                  <a:gd name="T1" fmla="*/ 0 h 626"/>
                  <a:gd name="T2" fmla="*/ 0 w 26"/>
                  <a:gd name="T3" fmla="*/ 0 h 626"/>
                  <a:gd name="T4" fmla="*/ 0 w 26"/>
                  <a:gd name="T5" fmla="*/ 0 h 626"/>
                  <a:gd name="T6" fmla="*/ 0 w 26"/>
                  <a:gd name="T7" fmla="*/ 0 h 626"/>
                  <a:gd name="T8" fmla="*/ 0 w 26"/>
                  <a:gd name="T9" fmla="*/ 0 h 626"/>
                  <a:gd name="T10" fmla="*/ 0 w 26"/>
                  <a:gd name="T11" fmla="*/ 0 h 626"/>
                  <a:gd name="T12" fmla="*/ 0 w 26"/>
                  <a:gd name="T13" fmla="*/ 0 h 626"/>
                  <a:gd name="T14" fmla="*/ 0 w 26"/>
                  <a:gd name="T15" fmla="*/ 0 h 626"/>
                  <a:gd name="T16" fmla="*/ 0 w 26"/>
                  <a:gd name="T17" fmla="*/ 0 h 626"/>
                  <a:gd name="T18" fmla="*/ 0 w 26"/>
                  <a:gd name="T19" fmla="*/ 0 h 626"/>
                  <a:gd name="T20" fmla="*/ 0 w 26"/>
                  <a:gd name="T21" fmla="*/ 0 h 626"/>
                  <a:gd name="T22" fmla="*/ 0 w 26"/>
                  <a:gd name="T23" fmla="*/ 0 h 626"/>
                  <a:gd name="T24" fmla="*/ 0 w 26"/>
                  <a:gd name="T25" fmla="*/ 0 h 626"/>
                  <a:gd name="T26" fmla="*/ 0 w 26"/>
                  <a:gd name="T27" fmla="*/ 0 h 626"/>
                  <a:gd name="T28" fmla="*/ 0 w 26"/>
                  <a:gd name="T29" fmla="*/ 0 h 626"/>
                  <a:gd name="T30" fmla="*/ 0 w 26"/>
                  <a:gd name="T31" fmla="*/ 0 h 626"/>
                  <a:gd name="T32" fmla="*/ 0 w 26"/>
                  <a:gd name="T33" fmla="*/ 0 h 626"/>
                  <a:gd name="T34" fmla="*/ 0 w 26"/>
                  <a:gd name="T35" fmla="*/ 0 h 626"/>
                  <a:gd name="T36" fmla="*/ 0 w 26"/>
                  <a:gd name="T37" fmla="*/ 0 h 6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6">
                    <a:moveTo>
                      <a:pt x="0" y="623"/>
                    </a:moveTo>
                    <a:lnTo>
                      <a:pt x="0" y="2"/>
                    </a:lnTo>
                    <a:lnTo>
                      <a:pt x="3" y="2"/>
                    </a:lnTo>
                    <a:lnTo>
                      <a:pt x="6" y="2"/>
                    </a:lnTo>
                    <a:lnTo>
                      <a:pt x="9" y="1"/>
                    </a:lnTo>
                    <a:lnTo>
                      <a:pt x="13" y="1"/>
                    </a:lnTo>
                    <a:lnTo>
                      <a:pt x="16" y="0"/>
                    </a:lnTo>
                    <a:lnTo>
                      <a:pt x="19" y="0"/>
                    </a:lnTo>
                    <a:lnTo>
                      <a:pt x="22" y="0"/>
                    </a:lnTo>
                    <a:lnTo>
                      <a:pt x="26" y="0"/>
                    </a:lnTo>
                    <a:lnTo>
                      <a:pt x="26" y="626"/>
                    </a:lnTo>
                    <a:lnTo>
                      <a:pt x="22" y="626"/>
                    </a:lnTo>
                    <a:lnTo>
                      <a:pt x="19" y="625"/>
                    </a:lnTo>
                    <a:lnTo>
                      <a:pt x="16" y="625"/>
                    </a:lnTo>
                    <a:lnTo>
                      <a:pt x="13" y="625"/>
                    </a:lnTo>
                    <a:lnTo>
                      <a:pt x="9" y="624"/>
                    </a:lnTo>
                    <a:lnTo>
                      <a:pt x="6" y="624"/>
                    </a:lnTo>
                    <a:lnTo>
                      <a:pt x="3" y="624"/>
                    </a:lnTo>
                    <a:lnTo>
                      <a:pt x="0" y="62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66" name="Freeform 1408"/>
              <p:cNvSpPr>
                <a:spLocks noChangeAspect="1"/>
              </p:cNvSpPr>
              <p:nvPr/>
            </p:nvSpPr>
            <p:spPr bwMode="auto">
              <a:xfrm>
                <a:off x="4384" y="1006"/>
                <a:ext cx="9" cy="209"/>
              </a:xfrm>
              <a:custGeom>
                <a:avLst/>
                <a:gdLst>
                  <a:gd name="T0" fmla="*/ 0 w 26"/>
                  <a:gd name="T1" fmla="*/ 0 h 629"/>
                  <a:gd name="T2" fmla="*/ 0 w 26"/>
                  <a:gd name="T3" fmla="*/ 0 h 629"/>
                  <a:gd name="T4" fmla="*/ 0 w 26"/>
                  <a:gd name="T5" fmla="*/ 0 h 629"/>
                  <a:gd name="T6" fmla="*/ 0 w 26"/>
                  <a:gd name="T7" fmla="*/ 0 h 629"/>
                  <a:gd name="T8" fmla="*/ 0 w 26"/>
                  <a:gd name="T9" fmla="*/ 0 h 629"/>
                  <a:gd name="T10" fmla="*/ 0 w 26"/>
                  <a:gd name="T11" fmla="*/ 0 h 629"/>
                  <a:gd name="T12" fmla="*/ 0 w 26"/>
                  <a:gd name="T13" fmla="*/ 0 h 629"/>
                  <a:gd name="T14" fmla="*/ 0 w 26"/>
                  <a:gd name="T15" fmla="*/ 0 h 629"/>
                  <a:gd name="T16" fmla="*/ 0 w 26"/>
                  <a:gd name="T17" fmla="*/ 0 h 629"/>
                  <a:gd name="T18" fmla="*/ 0 w 26"/>
                  <a:gd name="T19" fmla="*/ 0 h 629"/>
                  <a:gd name="T20" fmla="*/ 0 w 26"/>
                  <a:gd name="T21" fmla="*/ 0 h 629"/>
                  <a:gd name="T22" fmla="*/ 0 w 26"/>
                  <a:gd name="T23" fmla="*/ 0 h 629"/>
                  <a:gd name="T24" fmla="*/ 0 w 26"/>
                  <a:gd name="T25" fmla="*/ 0 h 629"/>
                  <a:gd name="T26" fmla="*/ 0 w 26"/>
                  <a:gd name="T27" fmla="*/ 0 h 629"/>
                  <a:gd name="T28" fmla="*/ 0 w 26"/>
                  <a:gd name="T29" fmla="*/ 0 h 629"/>
                  <a:gd name="T30" fmla="*/ 0 w 26"/>
                  <a:gd name="T31" fmla="*/ 0 h 629"/>
                  <a:gd name="T32" fmla="*/ 0 w 26"/>
                  <a:gd name="T33" fmla="*/ 0 h 629"/>
                  <a:gd name="T34" fmla="*/ 0 w 26"/>
                  <a:gd name="T35" fmla="*/ 0 h 629"/>
                  <a:gd name="T36" fmla="*/ 0 w 26"/>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9">
                    <a:moveTo>
                      <a:pt x="0" y="626"/>
                    </a:moveTo>
                    <a:lnTo>
                      <a:pt x="0" y="2"/>
                    </a:lnTo>
                    <a:lnTo>
                      <a:pt x="3" y="1"/>
                    </a:lnTo>
                    <a:lnTo>
                      <a:pt x="6" y="1"/>
                    </a:lnTo>
                    <a:lnTo>
                      <a:pt x="9" y="1"/>
                    </a:lnTo>
                    <a:lnTo>
                      <a:pt x="12" y="1"/>
                    </a:lnTo>
                    <a:lnTo>
                      <a:pt x="17" y="0"/>
                    </a:lnTo>
                    <a:lnTo>
                      <a:pt x="20" y="0"/>
                    </a:lnTo>
                    <a:lnTo>
                      <a:pt x="23" y="0"/>
                    </a:lnTo>
                    <a:lnTo>
                      <a:pt x="26" y="0"/>
                    </a:lnTo>
                    <a:lnTo>
                      <a:pt x="26" y="629"/>
                    </a:lnTo>
                    <a:lnTo>
                      <a:pt x="23" y="629"/>
                    </a:lnTo>
                    <a:lnTo>
                      <a:pt x="20" y="627"/>
                    </a:lnTo>
                    <a:lnTo>
                      <a:pt x="17" y="627"/>
                    </a:lnTo>
                    <a:lnTo>
                      <a:pt x="12" y="627"/>
                    </a:lnTo>
                    <a:lnTo>
                      <a:pt x="9" y="627"/>
                    </a:lnTo>
                    <a:lnTo>
                      <a:pt x="6" y="626"/>
                    </a:lnTo>
                    <a:lnTo>
                      <a:pt x="3" y="626"/>
                    </a:lnTo>
                    <a:lnTo>
                      <a:pt x="0" y="6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67" name="Freeform 1409"/>
              <p:cNvSpPr>
                <a:spLocks noChangeAspect="1"/>
              </p:cNvSpPr>
              <p:nvPr/>
            </p:nvSpPr>
            <p:spPr bwMode="auto">
              <a:xfrm>
                <a:off x="4389" y="1006"/>
                <a:ext cx="8" cy="209"/>
              </a:xfrm>
              <a:custGeom>
                <a:avLst/>
                <a:gdLst>
                  <a:gd name="T0" fmla="*/ 0 w 26"/>
                  <a:gd name="T1" fmla="*/ 0 h 629"/>
                  <a:gd name="T2" fmla="*/ 0 w 26"/>
                  <a:gd name="T3" fmla="*/ 0 h 629"/>
                  <a:gd name="T4" fmla="*/ 0 w 26"/>
                  <a:gd name="T5" fmla="*/ 0 h 629"/>
                  <a:gd name="T6" fmla="*/ 0 w 26"/>
                  <a:gd name="T7" fmla="*/ 0 h 629"/>
                  <a:gd name="T8" fmla="*/ 0 w 26"/>
                  <a:gd name="T9" fmla="*/ 0 h 629"/>
                  <a:gd name="T10" fmla="*/ 0 w 26"/>
                  <a:gd name="T11" fmla="*/ 0 h 629"/>
                  <a:gd name="T12" fmla="*/ 0 w 26"/>
                  <a:gd name="T13" fmla="*/ 0 h 629"/>
                  <a:gd name="T14" fmla="*/ 0 w 26"/>
                  <a:gd name="T15" fmla="*/ 0 h 629"/>
                  <a:gd name="T16" fmla="*/ 0 w 26"/>
                  <a:gd name="T17" fmla="*/ 0 h 629"/>
                  <a:gd name="T18" fmla="*/ 0 w 26"/>
                  <a:gd name="T19" fmla="*/ 0 h 629"/>
                  <a:gd name="T20" fmla="*/ 0 w 26"/>
                  <a:gd name="T21" fmla="*/ 0 h 629"/>
                  <a:gd name="T22" fmla="*/ 0 w 26"/>
                  <a:gd name="T23" fmla="*/ 0 h 629"/>
                  <a:gd name="T24" fmla="*/ 0 w 26"/>
                  <a:gd name="T25" fmla="*/ 0 h 629"/>
                  <a:gd name="T26" fmla="*/ 0 w 26"/>
                  <a:gd name="T27" fmla="*/ 0 h 629"/>
                  <a:gd name="T28" fmla="*/ 0 w 26"/>
                  <a:gd name="T29" fmla="*/ 0 h 629"/>
                  <a:gd name="T30" fmla="*/ 0 w 26"/>
                  <a:gd name="T31" fmla="*/ 0 h 629"/>
                  <a:gd name="T32" fmla="*/ 0 w 26"/>
                  <a:gd name="T33" fmla="*/ 0 h 629"/>
                  <a:gd name="T34" fmla="*/ 0 w 26"/>
                  <a:gd name="T35" fmla="*/ 0 h 629"/>
                  <a:gd name="T36" fmla="*/ 0 w 26"/>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9">
                    <a:moveTo>
                      <a:pt x="0" y="627"/>
                    </a:moveTo>
                    <a:lnTo>
                      <a:pt x="0" y="1"/>
                    </a:lnTo>
                    <a:lnTo>
                      <a:pt x="4" y="0"/>
                    </a:lnTo>
                    <a:lnTo>
                      <a:pt x="7" y="0"/>
                    </a:lnTo>
                    <a:lnTo>
                      <a:pt x="10" y="0"/>
                    </a:lnTo>
                    <a:lnTo>
                      <a:pt x="13" y="0"/>
                    </a:lnTo>
                    <a:lnTo>
                      <a:pt x="16" y="0"/>
                    </a:lnTo>
                    <a:lnTo>
                      <a:pt x="20" y="0"/>
                    </a:lnTo>
                    <a:lnTo>
                      <a:pt x="23" y="0"/>
                    </a:lnTo>
                    <a:lnTo>
                      <a:pt x="26" y="0"/>
                    </a:lnTo>
                    <a:lnTo>
                      <a:pt x="26" y="629"/>
                    </a:lnTo>
                    <a:lnTo>
                      <a:pt x="23" y="629"/>
                    </a:lnTo>
                    <a:lnTo>
                      <a:pt x="20" y="629"/>
                    </a:lnTo>
                    <a:lnTo>
                      <a:pt x="16" y="629"/>
                    </a:lnTo>
                    <a:lnTo>
                      <a:pt x="13" y="629"/>
                    </a:lnTo>
                    <a:lnTo>
                      <a:pt x="10" y="629"/>
                    </a:lnTo>
                    <a:lnTo>
                      <a:pt x="7" y="627"/>
                    </a:lnTo>
                    <a:lnTo>
                      <a:pt x="4" y="627"/>
                    </a:lnTo>
                    <a:lnTo>
                      <a:pt x="0" y="62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68" name="Freeform 1410"/>
              <p:cNvSpPr>
                <a:spLocks noChangeAspect="1"/>
              </p:cNvSpPr>
              <p:nvPr/>
            </p:nvSpPr>
            <p:spPr bwMode="auto">
              <a:xfrm>
                <a:off x="4393" y="1006"/>
                <a:ext cx="9" cy="209"/>
              </a:xfrm>
              <a:custGeom>
                <a:avLst/>
                <a:gdLst>
                  <a:gd name="T0" fmla="*/ 0 w 27"/>
                  <a:gd name="T1" fmla="*/ 0 h 629"/>
                  <a:gd name="T2" fmla="*/ 0 w 27"/>
                  <a:gd name="T3" fmla="*/ 0 h 629"/>
                  <a:gd name="T4" fmla="*/ 0 w 27"/>
                  <a:gd name="T5" fmla="*/ 0 h 629"/>
                  <a:gd name="T6" fmla="*/ 0 w 27"/>
                  <a:gd name="T7" fmla="*/ 0 h 629"/>
                  <a:gd name="T8" fmla="*/ 0 w 27"/>
                  <a:gd name="T9" fmla="*/ 0 h 629"/>
                  <a:gd name="T10" fmla="*/ 0 w 27"/>
                  <a:gd name="T11" fmla="*/ 0 h 629"/>
                  <a:gd name="T12" fmla="*/ 0 w 27"/>
                  <a:gd name="T13" fmla="*/ 0 h 629"/>
                  <a:gd name="T14" fmla="*/ 0 w 27"/>
                  <a:gd name="T15" fmla="*/ 0 h 629"/>
                  <a:gd name="T16" fmla="*/ 0 w 27"/>
                  <a:gd name="T17" fmla="*/ 0 h 629"/>
                  <a:gd name="T18" fmla="*/ 0 w 27"/>
                  <a:gd name="T19" fmla="*/ 0 h 629"/>
                  <a:gd name="T20" fmla="*/ 0 w 27"/>
                  <a:gd name="T21" fmla="*/ 0 h 629"/>
                  <a:gd name="T22" fmla="*/ 0 w 27"/>
                  <a:gd name="T23" fmla="*/ 0 h 629"/>
                  <a:gd name="T24" fmla="*/ 0 w 27"/>
                  <a:gd name="T25" fmla="*/ 0 h 629"/>
                  <a:gd name="T26" fmla="*/ 0 w 27"/>
                  <a:gd name="T27" fmla="*/ 0 h 629"/>
                  <a:gd name="T28" fmla="*/ 0 w 27"/>
                  <a:gd name="T29" fmla="*/ 0 h 629"/>
                  <a:gd name="T30" fmla="*/ 0 w 27"/>
                  <a:gd name="T31" fmla="*/ 0 h 629"/>
                  <a:gd name="T32" fmla="*/ 0 w 27"/>
                  <a:gd name="T33" fmla="*/ 0 h 629"/>
                  <a:gd name="T34" fmla="*/ 0 w 27"/>
                  <a:gd name="T35" fmla="*/ 0 h 629"/>
                  <a:gd name="T36" fmla="*/ 0 w 27"/>
                  <a:gd name="T37" fmla="*/ 0 h 629"/>
                  <a:gd name="T38" fmla="*/ 0 w 27"/>
                  <a:gd name="T39" fmla="*/ 0 h 629"/>
                  <a:gd name="T40" fmla="*/ 0 w 27"/>
                  <a:gd name="T41" fmla="*/ 0 h 629"/>
                  <a:gd name="T42" fmla="*/ 0 w 27"/>
                  <a:gd name="T43" fmla="*/ 0 h 629"/>
                  <a:gd name="T44" fmla="*/ 0 w 27"/>
                  <a:gd name="T45" fmla="*/ 0 h 629"/>
                  <a:gd name="T46" fmla="*/ 0 w 27"/>
                  <a:gd name="T47" fmla="*/ 0 h 629"/>
                  <a:gd name="T48" fmla="*/ 0 w 27"/>
                  <a:gd name="T49" fmla="*/ 0 h 629"/>
                  <a:gd name="T50" fmla="*/ 0 w 27"/>
                  <a:gd name="T51" fmla="*/ 0 h 629"/>
                  <a:gd name="T52" fmla="*/ 0 w 27"/>
                  <a:gd name="T53" fmla="*/ 0 h 629"/>
                  <a:gd name="T54" fmla="*/ 0 w 27"/>
                  <a:gd name="T55" fmla="*/ 0 h 629"/>
                  <a:gd name="T56" fmla="*/ 0 w 27"/>
                  <a:gd name="T57" fmla="*/ 0 h 629"/>
                  <a:gd name="T58" fmla="*/ 0 w 27"/>
                  <a:gd name="T59" fmla="*/ 0 h 629"/>
                  <a:gd name="T60" fmla="*/ 0 w 27"/>
                  <a:gd name="T61" fmla="*/ 0 h 629"/>
                  <a:gd name="T62" fmla="*/ 0 w 27"/>
                  <a:gd name="T63" fmla="*/ 0 h 629"/>
                  <a:gd name="T64" fmla="*/ 0 w 27"/>
                  <a:gd name="T65" fmla="*/ 0 h 629"/>
                  <a:gd name="T66" fmla="*/ 0 w 27"/>
                  <a:gd name="T67" fmla="*/ 0 h 629"/>
                  <a:gd name="T68" fmla="*/ 0 w 27"/>
                  <a:gd name="T69" fmla="*/ 0 h 6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7" h="629">
                    <a:moveTo>
                      <a:pt x="0" y="629"/>
                    </a:moveTo>
                    <a:lnTo>
                      <a:pt x="0" y="0"/>
                    </a:lnTo>
                    <a:lnTo>
                      <a:pt x="2" y="0"/>
                    </a:lnTo>
                    <a:lnTo>
                      <a:pt x="3" y="0"/>
                    </a:lnTo>
                    <a:lnTo>
                      <a:pt x="5" y="0"/>
                    </a:lnTo>
                    <a:lnTo>
                      <a:pt x="7" y="0"/>
                    </a:lnTo>
                    <a:lnTo>
                      <a:pt x="9" y="0"/>
                    </a:lnTo>
                    <a:lnTo>
                      <a:pt x="10" y="0"/>
                    </a:lnTo>
                    <a:lnTo>
                      <a:pt x="12" y="0"/>
                    </a:lnTo>
                    <a:lnTo>
                      <a:pt x="13" y="0"/>
                    </a:lnTo>
                    <a:lnTo>
                      <a:pt x="15" y="0"/>
                    </a:lnTo>
                    <a:lnTo>
                      <a:pt x="17" y="0"/>
                    </a:lnTo>
                    <a:lnTo>
                      <a:pt x="18" y="0"/>
                    </a:lnTo>
                    <a:lnTo>
                      <a:pt x="20" y="0"/>
                    </a:lnTo>
                    <a:lnTo>
                      <a:pt x="21" y="0"/>
                    </a:lnTo>
                    <a:lnTo>
                      <a:pt x="24" y="0"/>
                    </a:lnTo>
                    <a:lnTo>
                      <a:pt x="25" y="0"/>
                    </a:lnTo>
                    <a:lnTo>
                      <a:pt x="27" y="0"/>
                    </a:lnTo>
                    <a:lnTo>
                      <a:pt x="27" y="629"/>
                    </a:lnTo>
                    <a:lnTo>
                      <a:pt x="25" y="629"/>
                    </a:lnTo>
                    <a:lnTo>
                      <a:pt x="24" y="629"/>
                    </a:lnTo>
                    <a:lnTo>
                      <a:pt x="21" y="629"/>
                    </a:lnTo>
                    <a:lnTo>
                      <a:pt x="20" y="629"/>
                    </a:lnTo>
                    <a:lnTo>
                      <a:pt x="18" y="629"/>
                    </a:lnTo>
                    <a:lnTo>
                      <a:pt x="17" y="629"/>
                    </a:lnTo>
                    <a:lnTo>
                      <a:pt x="15" y="629"/>
                    </a:lnTo>
                    <a:lnTo>
                      <a:pt x="13" y="629"/>
                    </a:lnTo>
                    <a:lnTo>
                      <a:pt x="12" y="629"/>
                    </a:lnTo>
                    <a:lnTo>
                      <a:pt x="10" y="629"/>
                    </a:lnTo>
                    <a:lnTo>
                      <a:pt x="9" y="629"/>
                    </a:lnTo>
                    <a:lnTo>
                      <a:pt x="7" y="629"/>
                    </a:lnTo>
                    <a:lnTo>
                      <a:pt x="5" y="629"/>
                    </a:lnTo>
                    <a:lnTo>
                      <a:pt x="3" y="629"/>
                    </a:lnTo>
                    <a:lnTo>
                      <a:pt x="2"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69" name="Freeform 1411"/>
              <p:cNvSpPr>
                <a:spLocks noChangeAspect="1"/>
              </p:cNvSpPr>
              <p:nvPr/>
            </p:nvSpPr>
            <p:spPr bwMode="auto">
              <a:xfrm>
                <a:off x="4397" y="1006"/>
                <a:ext cx="9" cy="209"/>
              </a:xfrm>
              <a:custGeom>
                <a:avLst/>
                <a:gdLst>
                  <a:gd name="T0" fmla="*/ 0 w 26"/>
                  <a:gd name="T1" fmla="*/ 0 h 629"/>
                  <a:gd name="T2" fmla="*/ 0 w 26"/>
                  <a:gd name="T3" fmla="*/ 0 h 629"/>
                  <a:gd name="T4" fmla="*/ 0 w 26"/>
                  <a:gd name="T5" fmla="*/ 0 h 629"/>
                  <a:gd name="T6" fmla="*/ 0 w 26"/>
                  <a:gd name="T7" fmla="*/ 0 h 629"/>
                  <a:gd name="T8" fmla="*/ 0 w 26"/>
                  <a:gd name="T9" fmla="*/ 0 h 629"/>
                  <a:gd name="T10" fmla="*/ 0 w 26"/>
                  <a:gd name="T11" fmla="*/ 0 h 629"/>
                  <a:gd name="T12" fmla="*/ 0 w 26"/>
                  <a:gd name="T13" fmla="*/ 0 h 629"/>
                  <a:gd name="T14" fmla="*/ 0 w 26"/>
                  <a:gd name="T15" fmla="*/ 0 h 629"/>
                  <a:gd name="T16" fmla="*/ 0 w 26"/>
                  <a:gd name="T17" fmla="*/ 0 h 629"/>
                  <a:gd name="T18" fmla="*/ 0 w 26"/>
                  <a:gd name="T19" fmla="*/ 0 h 629"/>
                  <a:gd name="T20" fmla="*/ 0 w 26"/>
                  <a:gd name="T21" fmla="*/ 0 h 629"/>
                  <a:gd name="T22" fmla="*/ 0 w 26"/>
                  <a:gd name="T23" fmla="*/ 0 h 629"/>
                  <a:gd name="T24" fmla="*/ 0 w 26"/>
                  <a:gd name="T25" fmla="*/ 0 h 629"/>
                  <a:gd name="T26" fmla="*/ 0 w 26"/>
                  <a:gd name="T27" fmla="*/ 0 h 629"/>
                  <a:gd name="T28" fmla="*/ 0 w 26"/>
                  <a:gd name="T29" fmla="*/ 0 h 629"/>
                  <a:gd name="T30" fmla="*/ 0 w 26"/>
                  <a:gd name="T31" fmla="*/ 0 h 629"/>
                  <a:gd name="T32" fmla="*/ 0 w 26"/>
                  <a:gd name="T33" fmla="*/ 0 h 629"/>
                  <a:gd name="T34" fmla="*/ 0 w 26"/>
                  <a:gd name="T35" fmla="*/ 0 h 629"/>
                  <a:gd name="T36" fmla="*/ 0 w 26"/>
                  <a:gd name="T37" fmla="*/ 0 h 629"/>
                  <a:gd name="T38" fmla="*/ 0 w 26"/>
                  <a:gd name="T39" fmla="*/ 0 h 629"/>
                  <a:gd name="T40" fmla="*/ 0 w 26"/>
                  <a:gd name="T41" fmla="*/ 0 h 6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6" h="629">
                    <a:moveTo>
                      <a:pt x="0" y="629"/>
                    </a:moveTo>
                    <a:lnTo>
                      <a:pt x="0" y="0"/>
                    </a:lnTo>
                    <a:lnTo>
                      <a:pt x="4" y="0"/>
                    </a:lnTo>
                    <a:lnTo>
                      <a:pt x="7" y="0"/>
                    </a:lnTo>
                    <a:lnTo>
                      <a:pt x="11" y="0"/>
                    </a:lnTo>
                    <a:lnTo>
                      <a:pt x="14" y="0"/>
                    </a:lnTo>
                    <a:lnTo>
                      <a:pt x="17" y="0"/>
                    </a:lnTo>
                    <a:lnTo>
                      <a:pt x="20" y="0"/>
                    </a:lnTo>
                    <a:lnTo>
                      <a:pt x="23" y="0"/>
                    </a:lnTo>
                    <a:lnTo>
                      <a:pt x="26" y="1"/>
                    </a:lnTo>
                    <a:lnTo>
                      <a:pt x="26" y="627"/>
                    </a:lnTo>
                    <a:lnTo>
                      <a:pt x="23" y="627"/>
                    </a:lnTo>
                    <a:lnTo>
                      <a:pt x="20" y="627"/>
                    </a:lnTo>
                    <a:lnTo>
                      <a:pt x="17" y="629"/>
                    </a:lnTo>
                    <a:lnTo>
                      <a:pt x="14" y="629"/>
                    </a:lnTo>
                    <a:lnTo>
                      <a:pt x="11" y="629"/>
                    </a:lnTo>
                    <a:lnTo>
                      <a:pt x="7" y="629"/>
                    </a:lnTo>
                    <a:lnTo>
                      <a:pt x="4"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70" name="Freeform 1412"/>
              <p:cNvSpPr>
                <a:spLocks noChangeAspect="1"/>
              </p:cNvSpPr>
              <p:nvPr/>
            </p:nvSpPr>
            <p:spPr bwMode="auto">
              <a:xfrm>
                <a:off x="4402" y="1006"/>
                <a:ext cx="9" cy="209"/>
              </a:xfrm>
              <a:custGeom>
                <a:avLst/>
                <a:gdLst>
                  <a:gd name="T0" fmla="*/ 0 w 26"/>
                  <a:gd name="T1" fmla="*/ 0 h 629"/>
                  <a:gd name="T2" fmla="*/ 0 w 26"/>
                  <a:gd name="T3" fmla="*/ 0 h 629"/>
                  <a:gd name="T4" fmla="*/ 0 w 26"/>
                  <a:gd name="T5" fmla="*/ 0 h 629"/>
                  <a:gd name="T6" fmla="*/ 0 w 26"/>
                  <a:gd name="T7" fmla="*/ 0 h 629"/>
                  <a:gd name="T8" fmla="*/ 0 w 26"/>
                  <a:gd name="T9" fmla="*/ 0 h 629"/>
                  <a:gd name="T10" fmla="*/ 0 w 26"/>
                  <a:gd name="T11" fmla="*/ 0 h 629"/>
                  <a:gd name="T12" fmla="*/ 0 w 26"/>
                  <a:gd name="T13" fmla="*/ 0 h 629"/>
                  <a:gd name="T14" fmla="*/ 0 w 26"/>
                  <a:gd name="T15" fmla="*/ 0 h 629"/>
                  <a:gd name="T16" fmla="*/ 0 w 26"/>
                  <a:gd name="T17" fmla="*/ 0 h 629"/>
                  <a:gd name="T18" fmla="*/ 0 w 26"/>
                  <a:gd name="T19" fmla="*/ 0 h 629"/>
                  <a:gd name="T20" fmla="*/ 0 w 26"/>
                  <a:gd name="T21" fmla="*/ 0 h 629"/>
                  <a:gd name="T22" fmla="*/ 0 w 26"/>
                  <a:gd name="T23" fmla="*/ 0 h 629"/>
                  <a:gd name="T24" fmla="*/ 0 w 26"/>
                  <a:gd name="T25" fmla="*/ 0 h 629"/>
                  <a:gd name="T26" fmla="*/ 0 w 26"/>
                  <a:gd name="T27" fmla="*/ 0 h 629"/>
                  <a:gd name="T28" fmla="*/ 0 w 26"/>
                  <a:gd name="T29" fmla="*/ 0 h 629"/>
                  <a:gd name="T30" fmla="*/ 0 w 26"/>
                  <a:gd name="T31" fmla="*/ 0 h 629"/>
                  <a:gd name="T32" fmla="*/ 0 w 26"/>
                  <a:gd name="T33" fmla="*/ 0 h 629"/>
                  <a:gd name="T34" fmla="*/ 0 w 26"/>
                  <a:gd name="T35" fmla="*/ 0 h 629"/>
                  <a:gd name="T36" fmla="*/ 0 w 26"/>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9">
                    <a:moveTo>
                      <a:pt x="0" y="629"/>
                    </a:moveTo>
                    <a:lnTo>
                      <a:pt x="0" y="0"/>
                    </a:lnTo>
                    <a:lnTo>
                      <a:pt x="3" y="0"/>
                    </a:lnTo>
                    <a:lnTo>
                      <a:pt x="6" y="0"/>
                    </a:lnTo>
                    <a:lnTo>
                      <a:pt x="9" y="0"/>
                    </a:lnTo>
                    <a:lnTo>
                      <a:pt x="12" y="1"/>
                    </a:lnTo>
                    <a:lnTo>
                      <a:pt x="17" y="1"/>
                    </a:lnTo>
                    <a:lnTo>
                      <a:pt x="20" y="1"/>
                    </a:lnTo>
                    <a:lnTo>
                      <a:pt x="23" y="1"/>
                    </a:lnTo>
                    <a:lnTo>
                      <a:pt x="26" y="2"/>
                    </a:lnTo>
                    <a:lnTo>
                      <a:pt x="26" y="626"/>
                    </a:lnTo>
                    <a:lnTo>
                      <a:pt x="23" y="626"/>
                    </a:lnTo>
                    <a:lnTo>
                      <a:pt x="20" y="626"/>
                    </a:lnTo>
                    <a:lnTo>
                      <a:pt x="17" y="627"/>
                    </a:lnTo>
                    <a:lnTo>
                      <a:pt x="12" y="627"/>
                    </a:lnTo>
                    <a:lnTo>
                      <a:pt x="9" y="627"/>
                    </a:lnTo>
                    <a:lnTo>
                      <a:pt x="6" y="627"/>
                    </a:lnTo>
                    <a:lnTo>
                      <a:pt x="3"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71" name="Freeform 1413"/>
              <p:cNvSpPr>
                <a:spLocks noChangeAspect="1"/>
              </p:cNvSpPr>
              <p:nvPr/>
            </p:nvSpPr>
            <p:spPr bwMode="auto">
              <a:xfrm>
                <a:off x="4406" y="1006"/>
                <a:ext cx="9" cy="209"/>
              </a:xfrm>
              <a:custGeom>
                <a:avLst/>
                <a:gdLst>
                  <a:gd name="T0" fmla="*/ 0 w 27"/>
                  <a:gd name="T1" fmla="*/ 0 h 626"/>
                  <a:gd name="T2" fmla="*/ 0 w 27"/>
                  <a:gd name="T3" fmla="*/ 0 h 626"/>
                  <a:gd name="T4" fmla="*/ 0 w 27"/>
                  <a:gd name="T5" fmla="*/ 0 h 626"/>
                  <a:gd name="T6" fmla="*/ 0 w 27"/>
                  <a:gd name="T7" fmla="*/ 0 h 626"/>
                  <a:gd name="T8" fmla="*/ 0 w 27"/>
                  <a:gd name="T9" fmla="*/ 0 h 626"/>
                  <a:gd name="T10" fmla="*/ 0 w 27"/>
                  <a:gd name="T11" fmla="*/ 0 h 626"/>
                  <a:gd name="T12" fmla="*/ 0 w 27"/>
                  <a:gd name="T13" fmla="*/ 0 h 626"/>
                  <a:gd name="T14" fmla="*/ 0 w 27"/>
                  <a:gd name="T15" fmla="*/ 0 h 626"/>
                  <a:gd name="T16" fmla="*/ 0 w 27"/>
                  <a:gd name="T17" fmla="*/ 0 h 626"/>
                  <a:gd name="T18" fmla="*/ 0 w 27"/>
                  <a:gd name="T19" fmla="*/ 0 h 626"/>
                  <a:gd name="T20" fmla="*/ 0 w 27"/>
                  <a:gd name="T21" fmla="*/ 0 h 626"/>
                  <a:gd name="T22" fmla="*/ 0 w 27"/>
                  <a:gd name="T23" fmla="*/ 0 h 626"/>
                  <a:gd name="T24" fmla="*/ 0 w 27"/>
                  <a:gd name="T25" fmla="*/ 0 h 626"/>
                  <a:gd name="T26" fmla="*/ 0 w 27"/>
                  <a:gd name="T27" fmla="*/ 0 h 626"/>
                  <a:gd name="T28" fmla="*/ 0 w 27"/>
                  <a:gd name="T29" fmla="*/ 0 h 626"/>
                  <a:gd name="T30" fmla="*/ 0 w 27"/>
                  <a:gd name="T31" fmla="*/ 0 h 626"/>
                  <a:gd name="T32" fmla="*/ 0 w 27"/>
                  <a:gd name="T33" fmla="*/ 0 h 626"/>
                  <a:gd name="T34" fmla="*/ 0 w 27"/>
                  <a:gd name="T35" fmla="*/ 0 h 626"/>
                  <a:gd name="T36" fmla="*/ 0 w 27"/>
                  <a:gd name="T37" fmla="*/ 0 h 6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6">
                    <a:moveTo>
                      <a:pt x="0" y="626"/>
                    </a:moveTo>
                    <a:lnTo>
                      <a:pt x="0" y="0"/>
                    </a:lnTo>
                    <a:lnTo>
                      <a:pt x="5" y="0"/>
                    </a:lnTo>
                    <a:lnTo>
                      <a:pt x="8" y="0"/>
                    </a:lnTo>
                    <a:lnTo>
                      <a:pt x="11" y="0"/>
                    </a:lnTo>
                    <a:lnTo>
                      <a:pt x="14" y="1"/>
                    </a:lnTo>
                    <a:lnTo>
                      <a:pt x="18" y="1"/>
                    </a:lnTo>
                    <a:lnTo>
                      <a:pt x="21" y="2"/>
                    </a:lnTo>
                    <a:lnTo>
                      <a:pt x="24" y="2"/>
                    </a:lnTo>
                    <a:lnTo>
                      <a:pt x="27" y="2"/>
                    </a:lnTo>
                    <a:lnTo>
                      <a:pt x="27" y="623"/>
                    </a:lnTo>
                    <a:lnTo>
                      <a:pt x="24" y="624"/>
                    </a:lnTo>
                    <a:lnTo>
                      <a:pt x="21" y="624"/>
                    </a:lnTo>
                    <a:lnTo>
                      <a:pt x="18" y="624"/>
                    </a:lnTo>
                    <a:lnTo>
                      <a:pt x="14" y="625"/>
                    </a:lnTo>
                    <a:lnTo>
                      <a:pt x="11" y="625"/>
                    </a:lnTo>
                    <a:lnTo>
                      <a:pt x="8" y="625"/>
                    </a:lnTo>
                    <a:lnTo>
                      <a:pt x="5" y="626"/>
                    </a:lnTo>
                    <a:lnTo>
                      <a:pt x="0" y="6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72" name="Freeform 1414"/>
              <p:cNvSpPr>
                <a:spLocks noChangeAspect="1"/>
              </p:cNvSpPr>
              <p:nvPr/>
            </p:nvSpPr>
            <p:spPr bwMode="auto">
              <a:xfrm>
                <a:off x="4411" y="1006"/>
                <a:ext cx="9" cy="208"/>
              </a:xfrm>
              <a:custGeom>
                <a:avLst/>
                <a:gdLst>
                  <a:gd name="T0" fmla="*/ 0 w 27"/>
                  <a:gd name="T1" fmla="*/ 0 h 624"/>
                  <a:gd name="T2" fmla="*/ 0 w 27"/>
                  <a:gd name="T3" fmla="*/ 0 h 624"/>
                  <a:gd name="T4" fmla="*/ 0 w 27"/>
                  <a:gd name="T5" fmla="*/ 0 h 624"/>
                  <a:gd name="T6" fmla="*/ 0 w 27"/>
                  <a:gd name="T7" fmla="*/ 0 h 624"/>
                  <a:gd name="T8" fmla="*/ 0 w 27"/>
                  <a:gd name="T9" fmla="*/ 0 h 624"/>
                  <a:gd name="T10" fmla="*/ 0 w 27"/>
                  <a:gd name="T11" fmla="*/ 0 h 624"/>
                  <a:gd name="T12" fmla="*/ 0 w 27"/>
                  <a:gd name="T13" fmla="*/ 0 h 624"/>
                  <a:gd name="T14" fmla="*/ 0 w 27"/>
                  <a:gd name="T15" fmla="*/ 0 h 624"/>
                  <a:gd name="T16" fmla="*/ 0 w 27"/>
                  <a:gd name="T17" fmla="*/ 0 h 624"/>
                  <a:gd name="T18" fmla="*/ 0 w 27"/>
                  <a:gd name="T19" fmla="*/ 0 h 624"/>
                  <a:gd name="T20" fmla="*/ 0 w 27"/>
                  <a:gd name="T21" fmla="*/ 0 h 624"/>
                  <a:gd name="T22" fmla="*/ 0 w 27"/>
                  <a:gd name="T23" fmla="*/ 0 h 624"/>
                  <a:gd name="T24" fmla="*/ 0 w 27"/>
                  <a:gd name="T25" fmla="*/ 0 h 624"/>
                  <a:gd name="T26" fmla="*/ 0 w 27"/>
                  <a:gd name="T27" fmla="*/ 0 h 624"/>
                  <a:gd name="T28" fmla="*/ 0 w 27"/>
                  <a:gd name="T29" fmla="*/ 0 h 624"/>
                  <a:gd name="T30" fmla="*/ 0 w 27"/>
                  <a:gd name="T31" fmla="*/ 0 h 624"/>
                  <a:gd name="T32" fmla="*/ 0 w 27"/>
                  <a:gd name="T33" fmla="*/ 0 h 624"/>
                  <a:gd name="T34" fmla="*/ 0 w 27"/>
                  <a:gd name="T35" fmla="*/ 0 h 624"/>
                  <a:gd name="T36" fmla="*/ 0 w 27"/>
                  <a:gd name="T37" fmla="*/ 0 h 6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4">
                    <a:moveTo>
                      <a:pt x="0" y="624"/>
                    </a:moveTo>
                    <a:lnTo>
                      <a:pt x="0" y="0"/>
                    </a:lnTo>
                    <a:lnTo>
                      <a:pt x="4" y="0"/>
                    </a:lnTo>
                    <a:lnTo>
                      <a:pt x="7" y="1"/>
                    </a:lnTo>
                    <a:lnTo>
                      <a:pt x="10" y="1"/>
                    </a:lnTo>
                    <a:lnTo>
                      <a:pt x="13" y="1"/>
                    </a:lnTo>
                    <a:lnTo>
                      <a:pt x="17" y="2"/>
                    </a:lnTo>
                    <a:lnTo>
                      <a:pt x="21" y="2"/>
                    </a:lnTo>
                    <a:lnTo>
                      <a:pt x="24" y="4"/>
                    </a:lnTo>
                    <a:lnTo>
                      <a:pt x="27" y="5"/>
                    </a:lnTo>
                    <a:lnTo>
                      <a:pt x="27" y="620"/>
                    </a:lnTo>
                    <a:lnTo>
                      <a:pt x="24" y="621"/>
                    </a:lnTo>
                    <a:lnTo>
                      <a:pt x="21" y="621"/>
                    </a:lnTo>
                    <a:lnTo>
                      <a:pt x="17" y="622"/>
                    </a:lnTo>
                    <a:lnTo>
                      <a:pt x="13" y="622"/>
                    </a:lnTo>
                    <a:lnTo>
                      <a:pt x="10" y="623"/>
                    </a:lnTo>
                    <a:lnTo>
                      <a:pt x="7" y="623"/>
                    </a:lnTo>
                    <a:lnTo>
                      <a:pt x="4" y="623"/>
                    </a:lnTo>
                    <a:lnTo>
                      <a:pt x="0" y="62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73" name="Freeform 1415"/>
              <p:cNvSpPr>
                <a:spLocks noChangeAspect="1"/>
              </p:cNvSpPr>
              <p:nvPr/>
            </p:nvSpPr>
            <p:spPr bwMode="auto">
              <a:xfrm>
                <a:off x="4415" y="1007"/>
                <a:ext cx="9" cy="207"/>
              </a:xfrm>
              <a:custGeom>
                <a:avLst/>
                <a:gdLst>
                  <a:gd name="T0" fmla="*/ 0 w 27"/>
                  <a:gd name="T1" fmla="*/ 0 h 621"/>
                  <a:gd name="T2" fmla="*/ 0 w 27"/>
                  <a:gd name="T3" fmla="*/ 0 h 621"/>
                  <a:gd name="T4" fmla="*/ 0 w 27"/>
                  <a:gd name="T5" fmla="*/ 0 h 621"/>
                  <a:gd name="T6" fmla="*/ 0 w 27"/>
                  <a:gd name="T7" fmla="*/ 0 h 621"/>
                  <a:gd name="T8" fmla="*/ 0 w 27"/>
                  <a:gd name="T9" fmla="*/ 0 h 621"/>
                  <a:gd name="T10" fmla="*/ 0 w 27"/>
                  <a:gd name="T11" fmla="*/ 0 h 621"/>
                  <a:gd name="T12" fmla="*/ 0 w 27"/>
                  <a:gd name="T13" fmla="*/ 0 h 621"/>
                  <a:gd name="T14" fmla="*/ 0 w 27"/>
                  <a:gd name="T15" fmla="*/ 0 h 621"/>
                  <a:gd name="T16" fmla="*/ 0 w 27"/>
                  <a:gd name="T17" fmla="*/ 0 h 621"/>
                  <a:gd name="T18" fmla="*/ 0 w 27"/>
                  <a:gd name="T19" fmla="*/ 0 h 621"/>
                  <a:gd name="T20" fmla="*/ 0 w 27"/>
                  <a:gd name="T21" fmla="*/ 0 h 621"/>
                  <a:gd name="T22" fmla="*/ 0 w 27"/>
                  <a:gd name="T23" fmla="*/ 0 h 621"/>
                  <a:gd name="T24" fmla="*/ 0 w 27"/>
                  <a:gd name="T25" fmla="*/ 0 h 621"/>
                  <a:gd name="T26" fmla="*/ 0 w 27"/>
                  <a:gd name="T27" fmla="*/ 0 h 621"/>
                  <a:gd name="T28" fmla="*/ 0 w 27"/>
                  <a:gd name="T29" fmla="*/ 0 h 621"/>
                  <a:gd name="T30" fmla="*/ 0 w 27"/>
                  <a:gd name="T31" fmla="*/ 0 h 621"/>
                  <a:gd name="T32" fmla="*/ 0 w 27"/>
                  <a:gd name="T33" fmla="*/ 0 h 621"/>
                  <a:gd name="T34" fmla="*/ 0 w 27"/>
                  <a:gd name="T35" fmla="*/ 0 h 621"/>
                  <a:gd name="T36" fmla="*/ 0 w 27"/>
                  <a:gd name="T37" fmla="*/ 0 h 62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1">
                    <a:moveTo>
                      <a:pt x="0" y="621"/>
                    </a:moveTo>
                    <a:lnTo>
                      <a:pt x="0" y="0"/>
                    </a:lnTo>
                    <a:lnTo>
                      <a:pt x="4" y="1"/>
                    </a:lnTo>
                    <a:lnTo>
                      <a:pt x="8" y="1"/>
                    </a:lnTo>
                    <a:lnTo>
                      <a:pt x="11" y="3"/>
                    </a:lnTo>
                    <a:lnTo>
                      <a:pt x="14" y="4"/>
                    </a:lnTo>
                    <a:lnTo>
                      <a:pt x="17" y="4"/>
                    </a:lnTo>
                    <a:lnTo>
                      <a:pt x="20" y="5"/>
                    </a:lnTo>
                    <a:lnTo>
                      <a:pt x="24" y="6"/>
                    </a:lnTo>
                    <a:lnTo>
                      <a:pt x="27" y="6"/>
                    </a:lnTo>
                    <a:lnTo>
                      <a:pt x="27" y="616"/>
                    </a:lnTo>
                    <a:lnTo>
                      <a:pt x="24" y="617"/>
                    </a:lnTo>
                    <a:lnTo>
                      <a:pt x="20" y="618"/>
                    </a:lnTo>
                    <a:lnTo>
                      <a:pt x="17" y="618"/>
                    </a:lnTo>
                    <a:lnTo>
                      <a:pt x="14" y="619"/>
                    </a:lnTo>
                    <a:lnTo>
                      <a:pt x="11" y="620"/>
                    </a:lnTo>
                    <a:lnTo>
                      <a:pt x="8" y="620"/>
                    </a:lnTo>
                    <a:lnTo>
                      <a:pt x="4" y="621"/>
                    </a:lnTo>
                    <a:lnTo>
                      <a:pt x="0" y="62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74" name="Freeform 1416"/>
              <p:cNvSpPr>
                <a:spLocks noChangeAspect="1"/>
              </p:cNvSpPr>
              <p:nvPr/>
            </p:nvSpPr>
            <p:spPr bwMode="auto">
              <a:xfrm>
                <a:off x="4420" y="1008"/>
                <a:ext cx="9" cy="205"/>
              </a:xfrm>
              <a:custGeom>
                <a:avLst/>
                <a:gdLst>
                  <a:gd name="T0" fmla="*/ 0 w 27"/>
                  <a:gd name="T1" fmla="*/ 0 h 615"/>
                  <a:gd name="T2" fmla="*/ 0 w 27"/>
                  <a:gd name="T3" fmla="*/ 0 h 615"/>
                  <a:gd name="T4" fmla="*/ 0 w 27"/>
                  <a:gd name="T5" fmla="*/ 0 h 615"/>
                  <a:gd name="T6" fmla="*/ 0 w 27"/>
                  <a:gd name="T7" fmla="*/ 0 h 615"/>
                  <a:gd name="T8" fmla="*/ 0 w 27"/>
                  <a:gd name="T9" fmla="*/ 0 h 615"/>
                  <a:gd name="T10" fmla="*/ 0 w 27"/>
                  <a:gd name="T11" fmla="*/ 0 h 615"/>
                  <a:gd name="T12" fmla="*/ 0 w 27"/>
                  <a:gd name="T13" fmla="*/ 0 h 615"/>
                  <a:gd name="T14" fmla="*/ 0 w 27"/>
                  <a:gd name="T15" fmla="*/ 0 h 615"/>
                  <a:gd name="T16" fmla="*/ 0 w 27"/>
                  <a:gd name="T17" fmla="*/ 0 h 615"/>
                  <a:gd name="T18" fmla="*/ 0 w 27"/>
                  <a:gd name="T19" fmla="*/ 0 h 615"/>
                  <a:gd name="T20" fmla="*/ 0 w 27"/>
                  <a:gd name="T21" fmla="*/ 0 h 615"/>
                  <a:gd name="T22" fmla="*/ 0 w 27"/>
                  <a:gd name="T23" fmla="*/ 0 h 615"/>
                  <a:gd name="T24" fmla="*/ 0 w 27"/>
                  <a:gd name="T25" fmla="*/ 0 h 615"/>
                  <a:gd name="T26" fmla="*/ 0 w 27"/>
                  <a:gd name="T27" fmla="*/ 0 h 615"/>
                  <a:gd name="T28" fmla="*/ 0 w 27"/>
                  <a:gd name="T29" fmla="*/ 0 h 615"/>
                  <a:gd name="T30" fmla="*/ 0 w 27"/>
                  <a:gd name="T31" fmla="*/ 0 h 615"/>
                  <a:gd name="T32" fmla="*/ 0 w 27"/>
                  <a:gd name="T33" fmla="*/ 0 h 615"/>
                  <a:gd name="T34" fmla="*/ 0 w 27"/>
                  <a:gd name="T35" fmla="*/ 0 h 615"/>
                  <a:gd name="T36" fmla="*/ 0 w 27"/>
                  <a:gd name="T37" fmla="*/ 0 h 6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15">
                    <a:moveTo>
                      <a:pt x="0" y="615"/>
                    </a:moveTo>
                    <a:lnTo>
                      <a:pt x="0" y="0"/>
                    </a:lnTo>
                    <a:lnTo>
                      <a:pt x="3" y="0"/>
                    </a:lnTo>
                    <a:lnTo>
                      <a:pt x="6" y="1"/>
                    </a:lnTo>
                    <a:lnTo>
                      <a:pt x="10" y="2"/>
                    </a:lnTo>
                    <a:lnTo>
                      <a:pt x="13" y="2"/>
                    </a:lnTo>
                    <a:lnTo>
                      <a:pt x="17" y="3"/>
                    </a:lnTo>
                    <a:lnTo>
                      <a:pt x="20" y="4"/>
                    </a:lnTo>
                    <a:lnTo>
                      <a:pt x="23" y="5"/>
                    </a:lnTo>
                    <a:lnTo>
                      <a:pt x="27" y="5"/>
                    </a:lnTo>
                    <a:lnTo>
                      <a:pt x="27" y="609"/>
                    </a:lnTo>
                    <a:lnTo>
                      <a:pt x="23" y="610"/>
                    </a:lnTo>
                    <a:lnTo>
                      <a:pt x="20" y="611"/>
                    </a:lnTo>
                    <a:lnTo>
                      <a:pt x="17" y="611"/>
                    </a:lnTo>
                    <a:lnTo>
                      <a:pt x="13" y="612"/>
                    </a:lnTo>
                    <a:lnTo>
                      <a:pt x="10" y="613"/>
                    </a:lnTo>
                    <a:lnTo>
                      <a:pt x="6" y="614"/>
                    </a:lnTo>
                    <a:lnTo>
                      <a:pt x="3" y="614"/>
                    </a:lnTo>
                    <a:lnTo>
                      <a:pt x="0" y="6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75" name="Freeform 1417"/>
              <p:cNvSpPr>
                <a:spLocks noChangeAspect="1"/>
              </p:cNvSpPr>
              <p:nvPr/>
            </p:nvSpPr>
            <p:spPr bwMode="auto">
              <a:xfrm>
                <a:off x="4424" y="1009"/>
                <a:ext cx="9" cy="203"/>
              </a:xfrm>
              <a:custGeom>
                <a:avLst/>
                <a:gdLst>
                  <a:gd name="T0" fmla="*/ 0 w 26"/>
                  <a:gd name="T1" fmla="*/ 0 h 610"/>
                  <a:gd name="T2" fmla="*/ 0 w 26"/>
                  <a:gd name="T3" fmla="*/ 0 h 610"/>
                  <a:gd name="T4" fmla="*/ 0 w 26"/>
                  <a:gd name="T5" fmla="*/ 0 h 610"/>
                  <a:gd name="T6" fmla="*/ 0 w 26"/>
                  <a:gd name="T7" fmla="*/ 0 h 610"/>
                  <a:gd name="T8" fmla="*/ 0 w 26"/>
                  <a:gd name="T9" fmla="*/ 0 h 610"/>
                  <a:gd name="T10" fmla="*/ 0 w 26"/>
                  <a:gd name="T11" fmla="*/ 0 h 610"/>
                  <a:gd name="T12" fmla="*/ 0 w 26"/>
                  <a:gd name="T13" fmla="*/ 0 h 610"/>
                  <a:gd name="T14" fmla="*/ 0 w 26"/>
                  <a:gd name="T15" fmla="*/ 0 h 610"/>
                  <a:gd name="T16" fmla="*/ 0 w 26"/>
                  <a:gd name="T17" fmla="*/ 0 h 610"/>
                  <a:gd name="T18" fmla="*/ 0 w 26"/>
                  <a:gd name="T19" fmla="*/ 0 h 610"/>
                  <a:gd name="T20" fmla="*/ 0 w 26"/>
                  <a:gd name="T21" fmla="*/ 0 h 610"/>
                  <a:gd name="T22" fmla="*/ 0 w 26"/>
                  <a:gd name="T23" fmla="*/ 0 h 610"/>
                  <a:gd name="T24" fmla="*/ 0 w 26"/>
                  <a:gd name="T25" fmla="*/ 0 h 610"/>
                  <a:gd name="T26" fmla="*/ 0 w 26"/>
                  <a:gd name="T27" fmla="*/ 0 h 610"/>
                  <a:gd name="T28" fmla="*/ 0 w 26"/>
                  <a:gd name="T29" fmla="*/ 0 h 610"/>
                  <a:gd name="T30" fmla="*/ 0 w 26"/>
                  <a:gd name="T31" fmla="*/ 0 h 610"/>
                  <a:gd name="T32" fmla="*/ 0 w 26"/>
                  <a:gd name="T33" fmla="*/ 0 h 610"/>
                  <a:gd name="T34" fmla="*/ 0 w 26"/>
                  <a:gd name="T35" fmla="*/ 0 h 610"/>
                  <a:gd name="T36" fmla="*/ 0 w 26"/>
                  <a:gd name="T37" fmla="*/ 0 h 6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10">
                    <a:moveTo>
                      <a:pt x="0" y="610"/>
                    </a:moveTo>
                    <a:lnTo>
                      <a:pt x="0" y="0"/>
                    </a:lnTo>
                    <a:lnTo>
                      <a:pt x="3" y="1"/>
                    </a:lnTo>
                    <a:lnTo>
                      <a:pt x="7" y="2"/>
                    </a:lnTo>
                    <a:lnTo>
                      <a:pt x="10" y="3"/>
                    </a:lnTo>
                    <a:lnTo>
                      <a:pt x="14" y="3"/>
                    </a:lnTo>
                    <a:lnTo>
                      <a:pt x="17" y="4"/>
                    </a:lnTo>
                    <a:lnTo>
                      <a:pt x="20" y="5"/>
                    </a:lnTo>
                    <a:lnTo>
                      <a:pt x="23" y="6"/>
                    </a:lnTo>
                    <a:lnTo>
                      <a:pt x="26" y="7"/>
                    </a:lnTo>
                    <a:lnTo>
                      <a:pt x="26" y="603"/>
                    </a:lnTo>
                    <a:lnTo>
                      <a:pt x="23" y="604"/>
                    </a:lnTo>
                    <a:lnTo>
                      <a:pt x="20" y="605"/>
                    </a:lnTo>
                    <a:lnTo>
                      <a:pt x="17" y="606"/>
                    </a:lnTo>
                    <a:lnTo>
                      <a:pt x="14" y="607"/>
                    </a:lnTo>
                    <a:lnTo>
                      <a:pt x="10" y="608"/>
                    </a:lnTo>
                    <a:lnTo>
                      <a:pt x="7" y="609"/>
                    </a:lnTo>
                    <a:lnTo>
                      <a:pt x="3" y="609"/>
                    </a:lnTo>
                    <a:lnTo>
                      <a:pt x="0" y="61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76" name="Freeform 1418"/>
              <p:cNvSpPr>
                <a:spLocks noChangeAspect="1"/>
              </p:cNvSpPr>
              <p:nvPr/>
            </p:nvSpPr>
            <p:spPr bwMode="auto">
              <a:xfrm>
                <a:off x="4429" y="1010"/>
                <a:ext cx="8" cy="201"/>
              </a:xfrm>
              <a:custGeom>
                <a:avLst/>
                <a:gdLst>
                  <a:gd name="T0" fmla="*/ 0 w 26"/>
                  <a:gd name="T1" fmla="*/ 0 h 604"/>
                  <a:gd name="T2" fmla="*/ 0 w 26"/>
                  <a:gd name="T3" fmla="*/ 0 h 604"/>
                  <a:gd name="T4" fmla="*/ 0 w 26"/>
                  <a:gd name="T5" fmla="*/ 0 h 604"/>
                  <a:gd name="T6" fmla="*/ 0 w 26"/>
                  <a:gd name="T7" fmla="*/ 0 h 604"/>
                  <a:gd name="T8" fmla="*/ 0 w 26"/>
                  <a:gd name="T9" fmla="*/ 0 h 604"/>
                  <a:gd name="T10" fmla="*/ 0 w 26"/>
                  <a:gd name="T11" fmla="*/ 0 h 604"/>
                  <a:gd name="T12" fmla="*/ 0 w 26"/>
                  <a:gd name="T13" fmla="*/ 0 h 604"/>
                  <a:gd name="T14" fmla="*/ 0 w 26"/>
                  <a:gd name="T15" fmla="*/ 0 h 604"/>
                  <a:gd name="T16" fmla="*/ 0 w 26"/>
                  <a:gd name="T17" fmla="*/ 0 h 604"/>
                  <a:gd name="T18" fmla="*/ 0 w 26"/>
                  <a:gd name="T19" fmla="*/ 0 h 604"/>
                  <a:gd name="T20" fmla="*/ 0 w 26"/>
                  <a:gd name="T21" fmla="*/ 0 h 604"/>
                  <a:gd name="T22" fmla="*/ 0 w 26"/>
                  <a:gd name="T23" fmla="*/ 0 h 604"/>
                  <a:gd name="T24" fmla="*/ 0 w 26"/>
                  <a:gd name="T25" fmla="*/ 0 h 604"/>
                  <a:gd name="T26" fmla="*/ 0 w 26"/>
                  <a:gd name="T27" fmla="*/ 0 h 604"/>
                  <a:gd name="T28" fmla="*/ 0 w 26"/>
                  <a:gd name="T29" fmla="*/ 0 h 604"/>
                  <a:gd name="T30" fmla="*/ 0 w 26"/>
                  <a:gd name="T31" fmla="*/ 0 h 604"/>
                  <a:gd name="T32" fmla="*/ 0 w 26"/>
                  <a:gd name="T33" fmla="*/ 0 h 604"/>
                  <a:gd name="T34" fmla="*/ 0 w 26"/>
                  <a:gd name="T35" fmla="*/ 0 h 604"/>
                  <a:gd name="T36" fmla="*/ 0 w 26"/>
                  <a:gd name="T37" fmla="*/ 0 h 60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04">
                    <a:moveTo>
                      <a:pt x="0" y="604"/>
                    </a:moveTo>
                    <a:lnTo>
                      <a:pt x="0" y="0"/>
                    </a:lnTo>
                    <a:lnTo>
                      <a:pt x="3" y="1"/>
                    </a:lnTo>
                    <a:lnTo>
                      <a:pt x="6" y="2"/>
                    </a:lnTo>
                    <a:lnTo>
                      <a:pt x="9" y="3"/>
                    </a:lnTo>
                    <a:lnTo>
                      <a:pt x="12" y="4"/>
                    </a:lnTo>
                    <a:lnTo>
                      <a:pt x="16" y="5"/>
                    </a:lnTo>
                    <a:lnTo>
                      <a:pt x="20" y="6"/>
                    </a:lnTo>
                    <a:lnTo>
                      <a:pt x="23" y="7"/>
                    </a:lnTo>
                    <a:lnTo>
                      <a:pt x="26" y="8"/>
                    </a:lnTo>
                    <a:lnTo>
                      <a:pt x="26" y="595"/>
                    </a:lnTo>
                    <a:lnTo>
                      <a:pt x="23" y="596"/>
                    </a:lnTo>
                    <a:lnTo>
                      <a:pt x="20" y="597"/>
                    </a:lnTo>
                    <a:lnTo>
                      <a:pt x="16" y="598"/>
                    </a:lnTo>
                    <a:lnTo>
                      <a:pt x="12" y="600"/>
                    </a:lnTo>
                    <a:lnTo>
                      <a:pt x="9" y="601"/>
                    </a:lnTo>
                    <a:lnTo>
                      <a:pt x="6" y="602"/>
                    </a:lnTo>
                    <a:lnTo>
                      <a:pt x="3" y="603"/>
                    </a:lnTo>
                    <a:lnTo>
                      <a:pt x="0" y="60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77" name="Freeform 1419"/>
              <p:cNvSpPr>
                <a:spLocks noChangeAspect="1"/>
              </p:cNvSpPr>
              <p:nvPr/>
            </p:nvSpPr>
            <p:spPr bwMode="auto">
              <a:xfrm>
                <a:off x="4433" y="1011"/>
                <a:ext cx="9" cy="199"/>
              </a:xfrm>
              <a:custGeom>
                <a:avLst/>
                <a:gdLst>
                  <a:gd name="T0" fmla="*/ 0 w 27"/>
                  <a:gd name="T1" fmla="*/ 0 h 596"/>
                  <a:gd name="T2" fmla="*/ 0 w 27"/>
                  <a:gd name="T3" fmla="*/ 0 h 596"/>
                  <a:gd name="T4" fmla="*/ 0 w 27"/>
                  <a:gd name="T5" fmla="*/ 0 h 596"/>
                  <a:gd name="T6" fmla="*/ 0 w 27"/>
                  <a:gd name="T7" fmla="*/ 0 h 596"/>
                  <a:gd name="T8" fmla="*/ 0 w 27"/>
                  <a:gd name="T9" fmla="*/ 0 h 596"/>
                  <a:gd name="T10" fmla="*/ 0 w 27"/>
                  <a:gd name="T11" fmla="*/ 0 h 596"/>
                  <a:gd name="T12" fmla="*/ 0 w 27"/>
                  <a:gd name="T13" fmla="*/ 0 h 596"/>
                  <a:gd name="T14" fmla="*/ 0 w 27"/>
                  <a:gd name="T15" fmla="*/ 0 h 596"/>
                  <a:gd name="T16" fmla="*/ 0 w 27"/>
                  <a:gd name="T17" fmla="*/ 0 h 596"/>
                  <a:gd name="T18" fmla="*/ 0 w 27"/>
                  <a:gd name="T19" fmla="*/ 0 h 596"/>
                  <a:gd name="T20" fmla="*/ 0 w 27"/>
                  <a:gd name="T21" fmla="*/ 0 h 596"/>
                  <a:gd name="T22" fmla="*/ 0 w 27"/>
                  <a:gd name="T23" fmla="*/ 0 h 596"/>
                  <a:gd name="T24" fmla="*/ 0 w 27"/>
                  <a:gd name="T25" fmla="*/ 0 h 596"/>
                  <a:gd name="T26" fmla="*/ 0 w 27"/>
                  <a:gd name="T27" fmla="*/ 0 h 596"/>
                  <a:gd name="T28" fmla="*/ 0 w 27"/>
                  <a:gd name="T29" fmla="*/ 0 h 596"/>
                  <a:gd name="T30" fmla="*/ 0 w 27"/>
                  <a:gd name="T31" fmla="*/ 0 h 596"/>
                  <a:gd name="T32" fmla="*/ 0 w 27"/>
                  <a:gd name="T33" fmla="*/ 0 h 596"/>
                  <a:gd name="T34" fmla="*/ 0 w 27"/>
                  <a:gd name="T35" fmla="*/ 0 h 596"/>
                  <a:gd name="T36" fmla="*/ 0 w 27"/>
                  <a:gd name="T37" fmla="*/ 0 h 59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96">
                    <a:moveTo>
                      <a:pt x="0" y="596"/>
                    </a:moveTo>
                    <a:lnTo>
                      <a:pt x="0" y="0"/>
                    </a:lnTo>
                    <a:lnTo>
                      <a:pt x="4" y="1"/>
                    </a:lnTo>
                    <a:lnTo>
                      <a:pt x="8" y="2"/>
                    </a:lnTo>
                    <a:lnTo>
                      <a:pt x="11" y="3"/>
                    </a:lnTo>
                    <a:lnTo>
                      <a:pt x="14" y="5"/>
                    </a:lnTo>
                    <a:lnTo>
                      <a:pt x="17" y="7"/>
                    </a:lnTo>
                    <a:lnTo>
                      <a:pt x="21" y="8"/>
                    </a:lnTo>
                    <a:lnTo>
                      <a:pt x="24" y="9"/>
                    </a:lnTo>
                    <a:lnTo>
                      <a:pt x="27" y="10"/>
                    </a:lnTo>
                    <a:lnTo>
                      <a:pt x="27" y="586"/>
                    </a:lnTo>
                    <a:lnTo>
                      <a:pt x="24" y="587"/>
                    </a:lnTo>
                    <a:lnTo>
                      <a:pt x="21" y="589"/>
                    </a:lnTo>
                    <a:lnTo>
                      <a:pt x="17" y="590"/>
                    </a:lnTo>
                    <a:lnTo>
                      <a:pt x="14" y="591"/>
                    </a:lnTo>
                    <a:lnTo>
                      <a:pt x="11" y="592"/>
                    </a:lnTo>
                    <a:lnTo>
                      <a:pt x="8" y="593"/>
                    </a:lnTo>
                    <a:lnTo>
                      <a:pt x="4" y="594"/>
                    </a:lnTo>
                    <a:lnTo>
                      <a:pt x="0" y="59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78" name="Freeform 1420"/>
              <p:cNvSpPr>
                <a:spLocks noChangeAspect="1"/>
              </p:cNvSpPr>
              <p:nvPr/>
            </p:nvSpPr>
            <p:spPr bwMode="auto">
              <a:xfrm>
                <a:off x="4437" y="1012"/>
                <a:ext cx="9" cy="196"/>
              </a:xfrm>
              <a:custGeom>
                <a:avLst/>
                <a:gdLst>
                  <a:gd name="T0" fmla="*/ 0 w 27"/>
                  <a:gd name="T1" fmla="*/ 0 h 587"/>
                  <a:gd name="T2" fmla="*/ 0 w 27"/>
                  <a:gd name="T3" fmla="*/ 0 h 587"/>
                  <a:gd name="T4" fmla="*/ 0 w 27"/>
                  <a:gd name="T5" fmla="*/ 0 h 587"/>
                  <a:gd name="T6" fmla="*/ 0 w 27"/>
                  <a:gd name="T7" fmla="*/ 0 h 587"/>
                  <a:gd name="T8" fmla="*/ 0 w 27"/>
                  <a:gd name="T9" fmla="*/ 0 h 587"/>
                  <a:gd name="T10" fmla="*/ 0 w 27"/>
                  <a:gd name="T11" fmla="*/ 0 h 587"/>
                  <a:gd name="T12" fmla="*/ 0 w 27"/>
                  <a:gd name="T13" fmla="*/ 0 h 587"/>
                  <a:gd name="T14" fmla="*/ 0 w 27"/>
                  <a:gd name="T15" fmla="*/ 0 h 587"/>
                  <a:gd name="T16" fmla="*/ 0 w 27"/>
                  <a:gd name="T17" fmla="*/ 0 h 587"/>
                  <a:gd name="T18" fmla="*/ 0 w 27"/>
                  <a:gd name="T19" fmla="*/ 0 h 587"/>
                  <a:gd name="T20" fmla="*/ 0 w 27"/>
                  <a:gd name="T21" fmla="*/ 0 h 587"/>
                  <a:gd name="T22" fmla="*/ 0 w 27"/>
                  <a:gd name="T23" fmla="*/ 0 h 587"/>
                  <a:gd name="T24" fmla="*/ 0 w 27"/>
                  <a:gd name="T25" fmla="*/ 0 h 587"/>
                  <a:gd name="T26" fmla="*/ 0 w 27"/>
                  <a:gd name="T27" fmla="*/ 0 h 587"/>
                  <a:gd name="T28" fmla="*/ 0 w 27"/>
                  <a:gd name="T29" fmla="*/ 0 h 587"/>
                  <a:gd name="T30" fmla="*/ 0 w 27"/>
                  <a:gd name="T31" fmla="*/ 0 h 587"/>
                  <a:gd name="T32" fmla="*/ 0 w 27"/>
                  <a:gd name="T33" fmla="*/ 0 h 587"/>
                  <a:gd name="T34" fmla="*/ 0 w 27"/>
                  <a:gd name="T35" fmla="*/ 0 h 587"/>
                  <a:gd name="T36" fmla="*/ 0 w 27"/>
                  <a:gd name="T37" fmla="*/ 0 h 58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87">
                    <a:moveTo>
                      <a:pt x="0" y="587"/>
                    </a:moveTo>
                    <a:lnTo>
                      <a:pt x="0" y="0"/>
                    </a:lnTo>
                    <a:lnTo>
                      <a:pt x="3" y="3"/>
                    </a:lnTo>
                    <a:lnTo>
                      <a:pt x="7" y="4"/>
                    </a:lnTo>
                    <a:lnTo>
                      <a:pt x="10" y="5"/>
                    </a:lnTo>
                    <a:lnTo>
                      <a:pt x="13" y="6"/>
                    </a:lnTo>
                    <a:lnTo>
                      <a:pt x="16" y="8"/>
                    </a:lnTo>
                    <a:lnTo>
                      <a:pt x="20" y="9"/>
                    </a:lnTo>
                    <a:lnTo>
                      <a:pt x="24" y="10"/>
                    </a:lnTo>
                    <a:lnTo>
                      <a:pt x="27" y="12"/>
                    </a:lnTo>
                    <a:lnTo>
                      <a:pt x="27" y="577"/>
                    </a:lnTo>
                    <a:lnTo>
                      <a:pt x="24" y="578"/>
                    </a:lnTo>
                    <a:lnTo>
                      <a:pt x="20" y="579"/>
                    </a:lnTo>
                    <a:lnTo>
                      <a:pt x="16" y="581"/>
                    </a:lnTo>
                    <a:lnTo>
                      <a:pt x="13" y="582"/>
                    </a:lnTo>
                    <a:lnTo>
                      <a:pt x="10" y="583"/>
                    </a:lnTo>
                    <a:lnTo>
                      <a:pt x="7" y="585"/>
                    </a:lnTo>
                    <a:lnTo>
                      <a:pt x="3" y="586"/>
                    </a:lnTo>
                    <a:lnTo>
                      <a:pt x="0" y="58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79" name="Freeform 1421"/>
              <p:cNvSpPr>
                <a:spLocks noChangeAspect="1"/>
              </p:cNvSpPr>
              <p:nvPr/>
            </p:nvSpPr>
            <p:spPr bwMode="auto">
              <a:xfrm>
                <a:off x="4442" y="1014"/>
                <a:ext cx="9" cy="192"/>
              </a:xfrm>
              <a:custGeom>
                <a:avLst/>
                <a:gdLst>
                  <a:gd name="T0" fmla="*/ 0 w 27"/>
                  <a:gd name="T1" fmla="*/ 0 h 576"/>
                  <a:gd name="T2" fmla="*/ 0 w 27"/>
                  <a:gd name="T3" fmla="*/ 0 h 576"/>
                  <a:gd name="T4" fmla="*/ 0 w 27"/>
                  <a:gd name="T5" fmla="*/ 0 h 576"/>
                  <a:gd name="T6" fmla="*/ 0 w 27"/>
                  <a:gd name="T7" fmla="*/ 0 h 576"/>
                  <a:gd name="T8" fmla="*/ 0 w 27"/>
                  <a:gd name="T9" fmla="*/ 0 h 576"/>
                  <a:gd name="T10" fmla="*/ 0 w 27"/>
                  <a:gd name="T11" fmla="*/ 0 h 576"/>
                  <a:gd name="T12" fmla="*/ 0 w 27"/>
                  <a:gd name="T13" fmla="*/ 0 h 576"/>
                  <a:gd name="T14" fmla="*/ 0 w 27"/>
                  <a:gd name="T15" fmla="*/ 0 h 576"/>
                  <a:gd name="T16" fmla="*/ 0 w 27"/>
                  <a:gd name="T17" fmla="*/ 0 h 576"/>
                  <a:gd name="T18" fmla="*/ 0 w 27"/>
                  <a:gd name="T19" fmla="*/ 0 h 576"/>
                  <a:gd name="T20" fmla="*/ 0 w 27"/>
                  <a:gd name="T21" fmla="*/ 0 h 576"/>
                  <a:gd name="T22" fmla="*/ 0 w 27"/>
                  <a:gd name="T23" fmla="*/ 0 h 576"/>
                  <a:gd name="T24" fmla="*/ 0 w 27"/>
                  <a:gd name="T25" fmla="*/ 0 h 576"/>
                  <a:gd name="T26" fmla="*/ 0 w 27"/>
                  <a:gd name="T27" fmla="*/ 0 h 576"/>
                  <a:gd name="T28" fmla="*/ 0 w 27"/>
                  <a:gd name="T29" fmla="*/ 0 h 576"/>
                  <a:gd name="T30" fmla="*/ 0 w 27"/>
                  <a:gd name="T31" fmla="*/ 0 h 576"/>
                  <a:gd name="T32" fmla="*/ 0 w 27"/>
                  <a:gd name="T33" fmla="*/ 0 h 576"/>
                  <a:gd name="T34" fmla="*/ 0 w 27"/>
                  <a:gd name="T35" fmla="*/ 0 h 576"/>
                  <a:gd name="T36" fmla="*/ 0 w 27"/>
                  <a:gd name="T37" fmla="*/ 0 h 5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76">
                    <a:moveTo>
                      <a:pt x="0" y="576"/>
                    </a:moveTo>
                    <a:lnTo>
                      <a:pt x="0" y="0"/>
                    </a:lnTo>
                    <a:lnTo>
                      <a:pt x="3" y="2"/>
                    </a:lnTo>
                    <a:lnTo>
                      <a:pt x="7" y="3"/>
                    </a:lnTo>
                    <a:lnTo>
                      <a:pt x="11" y="4"/>
                    </a:lnTo>
                    <a:lnTo>
                      <a:pt x="14" y="6"/>
                    </a:lnTo>
                    <a:lnTo>
                      <a:pt x="17" y="7"/>
                    </a:lnTo>
                    <a:lnTo>
                      <a:pt x="20" y="9"/>
                    </a:lnTo>
                    <a:lnTo>
                      <a:pt x="23" y="10"/>
                    </a:lnTo>
                    <a:lnTo>
                      <a:pt x="27" y="13"/>
                    </a:lnTo>
                    <a:lnTo>
                      <a:pt x="27" y="563"/>
                    </a:lnTo>
                    <a:lnTo>
                      <a:pt x="23" y="565"/>
                    </a:lnTo>
                    <a:lnTo>
                      <a:pt x="20" y="567"/>
                    </a:lnTo>
                    <a:lnTo>
                      <a:pt x="17" y="569"/>
                    </a:lnTo>
                    <a:lnTo>
                      <a:pt x="14" y="571"/>
                    </a:lnTo>
                    <a:lnTo>
                      <a:pt x="11" y="572"/>
                    </a:lnTo>
                    <a:lnTo>
                      <a:pt x="7" y="573"/>
                    </a:lnTo>
                    <a:lnTo>
                      <a:pt x="3" y="575"/>
                    </a:lnTo>
                    <a:lnTo>
                      <a:pt x="0" y="57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80" name="Freeform 1422"/>
              <p:cNvSpPr>
                <a:spLocks noChangeAspect="1"/>
              </p:cNvSpPr>
              <p:nvPr/>
            </p:nvSpPr>
            <p:spPr bwMode="auto">
              <a:xfrm>
                <a:off x="4446" y="1016"/>
                <a:ext cx="9" cy="189"/>
              </a:xfrm>
              <a:custGeom>
                <a:avLst/>
                <a:gdLst>
                  <a:gd name="T0" fmla="*/ 0 w 26"/>
                  <a:gd name="T1" fmla="*/ 0 h 565"/>
                  <a:gd name="T2" fmla="*/ 0 w 26"/>
                  <a:gd name="T3" fmla="*/ 0 h 565"/>
                  <a:gd name="T4" fmla="*/ 0 w 26"/>
                  <a:gd name="T5" fmla="*/ 0 h 565"/>
                  <a:gd name="T6" fmla="*/ 0 w 26"/>
                  <a:gd name="T7" fmla="*/ 0 h 565"/>
                  <a:gd name="T8" fmla="*/ 0 w 26"/>
                  <a:gd name="T9" fmla="*/ 0 h 565"/>
                  <a:gd name="T10" fmla="*/ 0 w 26"/>
                  <a:gd name="T11" fmla="*/ 0 h 565"/>
                  <a:gd name="T12" fmla="*/ 0 w 26"/>
                  <a:gd name="T13" fmla="*/ 0 h 565"/>
                  <a:gd name="T14" fmla="*/ 0 w 26"/>
                  <a:gd name="T15" fmla="*/ 0 h 565"/>
                  <a:gd name="T16" fmla="*/ 0 w 26"/>
                  <a:gd name="T17" fmla="*/ 0 h 565"/>
                  <a:gd name="T18" fmla="*/ 0 w 26"/>
                  <a:gd name="T19" fmla="*/ 0 h 565"/>
                  <a:gd name="T20" fmla="*/ 0 w 26"/>
                  <a:gd name="T21" fmla="*/ 0 h 565"/>
                  <a:gd name="T22" fmla="*/ 0 w 26"/>
                  <a:gd name="T23" fmla="*/ 0 h 565"/>
                  <a:gd name="T24" fmla="*/ 0 w 26"/>
                  <a:gd name="T25" fmla="*/ 0 h 565"/>
                  <a:gd name="T26" fmla="*/ 0 w 26"/>
                  <a:gd name="T27" fmla="*/ 0 h 565"/>
                  <a:gd name="T28" fmla="*/ 0 w 26"/>
                  <a:gd name="T29" fmla="*/ 0 h 565"/>
                  <a:gd name="T30" fmla="*/ 0 w 26"/>
                  <a:gd name="T31" fmla="*/ 0 h 565"/>
                  <a:gd name="T32" fmla="*/ 0 w 26"/>
                  <a:gd name="T33" fmla="*/ 0 h 565"/>
                  <a:gd name="T34" fmla="*/ 0 w 26"/>
                  <a:gd name="T35" fmla="*/ 0 h 565"/>
                  <a:gd name="T36" fmla="*/ 0 w 26"/>
                  <a:gd name="T37" fmla="*/ 0 h 5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65">
                    <a:moveTo>
                      <a:pt x="0" y="565"/>
                    </a:moveTo>
                    <a:lnTo>
                      <a:pt x="0" y="0"/>
                    </a:lnTo>
                    <a:lnTo>
                      <a:pt x="3" y="1"/>
                    </a:lnTo>
                    <a:lnTo>
                      <a:pt x="6" y="3"/>
                    </a:lnTo>
                    <a:lnTo>
                      <a:pt x="9" y="5"/>
                    </a:lnTo>
                    <a:lnTo>
                      <a:pt x="13" y="7"/>
                    </a:lnTo>
                    <a:lnTo>
                      <a:pt x="16" y="9"/>
                    </a:lnTo>
                    <a:lnTo>
                      <a:pt x="20" y="10"/>
                    </a:lnTo>
                    <a:lnTo>
                      <a:pt x="23" y="12"/>
                    </a:lnTo>
                    <a:lnTo>
                      <a:pt x="26" y="14"/>
                    </a:lnTo>
                    <a:lnTo>
                      <a:pt x="26" y="551"/>
                    </a:lnTo>
                    <a:lnTo>
                      <a:pt x="23" y="552"/>
                    </a:lnTo>
                    <a:lnTo>
                      <a:pt x="20" y="554"/>
                    </a:lnTo>
                    <a:lnTo>
                      <a:pt x="16" y="556"/>
                    </a:lnTo>
                    <a:lnTo>
                      <a:pt x="13" y="557"/>
                    </a:lnTo>
                    <a:lnTo>
                      <a:pt x="9" y="559"/>
                    </a:lnTo>
                    <a:lnTo>
                      <a:pt x="6" y="561"/>
                    </a:lnTo>
                    <a:lnTo>
                      <a:pt x="3" y="563"/>
                    </a:lnTo>
                    <a:lnTo>
                      <a:pt x="0" y="5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81" name="Freeform 1423"/>
              <p:cNvSpPr>
                <a:spLocks noChangeAspect="1"/>
              </p:cNvSpPr>
              <p:nvPr/>
            </p:nvSpPr>
            <p:spPr bwMode="auto">
              <a:xfrm>
                <a:off x="4451" y="1019"/>
                <a:ext cx="8" cy="183"/>
              </a:xfrm>
              <a:custGeom>
                <a:avLst/>
                <a:gdLst>
                  <a:gd name="T0" fmla="*/ 0 w 26"/>
                  <a:gd name="T1" fmla="*/ 0 h 550"/>
                  <a:gd name="T2" fmla="*/ 0 w 26"/>
                  <a:gd name="T3" fmla="*/ 0 h 550"/>
                  <a:gd name="T4" fmla="*/ 0 w 26"/>
                  <a:gd name="T5" fmla="*/ 0 h 550"/>
                  <a:gd name="T6" fmla="*/ 0 w 26"/>
                  <a:gd name="T7" fmla="*/ 0 h 550"/>
                  <a:gd name="T8" fmla="*/ 0 w 26"/>
                  <a:gd name="T9" fmla="*/ 0 h 550"/>
                  <a:gd name="T10" fmla="*/ 0 w 26"/>
                  <a:gd name="T11" fmla="*/ 0 h 550"/>
                  <a:gd name="T12" fmla="*/ 0 w 26"/>
                  <a:gd name="T13" fmla="*/ 0 h 550"/>
                  <a:gd name="T14" fmla="*/ 0 w 26"/>
                  <a:gd name="T15" fmla="*/ 0 h 550"/>
                  <a:gd name="T16" fmla="*/ 0 w 26"/>
                  <a:gd name="T17" fmla="*/ 0 h 550"/>
                  <a:gd name="T18" fmla="*/ 0 w 26"/>
                  <a:gd name="T19" fmla="*/ 0 h 550"/>
                  <a:gd name="T20" fmla="*/ 0 w 26"/>
                  <a:gd name="T21" fmla="*/ 0 h 550"/>
                  <a:gd name="T22" fmla="*/ 0 w 26"/>
                  <a:gd name="T23" fmla="*/ 0 h 550"/>
                  <a:gd name="T24" fmla="*/ 0 w 26"/>
                  <a:gd name="T25" fmla="*/ 0 h 550"/>
                  <a:gd name="T26" fmla="*/ 0 w 26"/>
                  <a:gd name="T27" fmla="*/ 0 h 550"/>
                  <a:gd name="T28" fmla="*/ 0 w 26"/>
                  <a:gd name="T29" fmla="*/ 0 h 550"/>
                  <a:gd name="T30" fmla="*/ 0 w 26"/>
                  <a:gd name="T31" fmla="*/ 0 h 550"/>
                  <a:gd name="T32" fmla="*/ 0 w 26"/>
                  <a:gd name="T33" fmla="*/ 0 h 550"/>
                  <a:gd name="T34" fmla="*/ 0 w 26"/>
                  <a:gd name="T35" fmla="*/ 0 h 550"/>
                  <a:gd name="T36" fmla="*/ 0 w 26"/>
                  <a:gd name="T37" fmla="*/ 0 h 5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50">
                    <a:moveTo>
                      <a:pt x="0" y="550"/>
                    </a:moveTo>
                    <a:lnTo>
                      <a:pt x="0" y="0"/>
                    </a:lnTo>
                    <a:lnTo>
                      <a:pt x="3" y="2"/>
                    </a:lnTo>
                    <a:lnTo>
                      <a:pt x="7" y="3"/>
                    </a:lnTo>
                    <a:lnTo>
                      <a:pt x="10" y="5"/>
                    </a:lnTo>
                    <a:lnTo>
                      <a:pt x="13" y="7"/>
                    </a:lnTo>
                    <a:lnTo>
                      <a:pt x="17" y="9"/>
                    </a:lnTo>
                    <a:lnTo>
                      <a:pt x="20" y="11"/>
                    </a:lnTo>
                    <a:lnTo>
                      <a:pt x="23" y="13"/>
                    </a:lnTo>
                    <a:lnTo>
                      <a:pt x="26" y="15"/>
                    </a:lnTo>
                    <a:lnTo>
                      <a:pt x="26" y="535"/>
                    </a:lnTo>
                    <a:lnTo>
                      <a:pt x="23" y="537"/>
                    </a:lnTo>
                    <a:lnTo>
                      <a:pt x="20" y="540"/>
                    </a:lnTo>
                    <a:lnTo>
                      <a:pt x="17" y="542"/>
                    </a:lnTo>
                    <a:lnTo>
                      <a:pt x="13" y="543"/>
                    </a:lnTo>
                    <a:lnTo>
                      <a:pt x="10" y="545"/>
                    </a:lnTo>
                    <a:lnTo>
                      <a:pt x="7" y="547"/>
                    </a:lnTo>
                    <a:lnTo>
                      <a:pt x="3" y="549"/>
                    </a:lnTo>
                    <a:lnTo>
                      <a:pt x="0" y="55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82" name="Freeform 1424"/>
              <p:cNvSpPr>
                <a:spLocks noChangeAspect="1"/>
              </p:cNvSpPr>
              <p:nvPr/>
            </p:nvSpPr>
            <p:spPr bwMode="auto">
              <a:xfrm>
                <a:off x="4455" y="1021"/>
                <a:ext cx="9" cy="179"/>
              </a:xfrm>
              <a:custGeom>
                <a:avLst/>
                <a:gdLst>
                  <a:gd name="T0" fmla="*/ 0 w 27"/>
                  <a:gd name="T1" fmla="*/ 0 h 537"/>
                  <a:gd name="T2" fmla="*/ 0 w 27"/>
                  <a:gd name="T3" fmla="*/ 0 h 537"/>
                  <a:gd name="T4" fmla="*/ 0 w 27"/>
                  <a:gd name="T5" fmla="*/ 0 h 537"/>
                  <a:gd name="T6" fmla="*/ 0 w 27"/>
                  <a:gd name="T7" fmla="*/ 0 h 537"/>
                  <a:gd name="T8" fmla="*/ 0 w 27"/>
                  <a:gd name="T9" fmla="*/ 0 h 537"/>
                  <a:gd name="T10" fmla="*/ 0 w 27"/>
                  <a:gd name="T11" fmla="*/ 0 h 537"/>
                  <a:gd name="T12" fmla="*/ 0 w 27"/>
                  <a:gd name="T13" fmla="*/ 0 h 537"/>
                  <a:gd name="T14" fmla="*/ 0 w 27"/>
                  <a:gd name="T15" fmla="*/ 0 h 537"/>
                  <a:gd name="T16" fmla="*/ 0 w 27"/>
                  <a:gd name="T17" fmla="*/ 0 h 537"/>
                  <a:gd name="T18" fmla="*/ 0 w 27"/>
                  <a:gd name="T19" fmla="*/ 0 h 537"/>
                  <a:gd name="T20" fmla="*/ 0 w 27"/>
                  <a:gd name="T21" fmla="*/ 0 h 537"/>
                  <a:gd name="T22" fmla="*/ 0 w 27"/>
                  <a:gd name="T23" fmla="*/ 0 h 537"/>
                  <a:gd name="T24" fmla="*/ 0 w 27"/>
                  <a:gd name="T25" fmla="*/ 0 h 537"/>
                  <a:gd name="T26" fmla="*/ 0 w 27"/>
                  <a:gd name="T27" fmla="*/ 0 h 537"/>
                  <a:gd name="T28" fmla="*/ 0 w 27"/>
                  <a:gd name="T29" fmla="*/ 0 h 537"/>
                  <a:gd name="T30" fmla="*/ 0 w 27"/>
                  <a:gd name="T31" fmla="*/ 0 h 537"/>
                  <a:gd name="T32" fmla="*/ 0 w 27"/>
                  <a:gd name="T33" fmla="*/ 0 h 537"/>
                  <a:gd name="T34" fmla="*/ 0 w 27"/>
                  <a:gd name="T35" fmla="*/ 0 h 537"/>
                  <a:gd name="T36" fmla="*/ 0 w 27"/>
                  <a:gd name="T37" fmla="*/ 0 h 5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37">
                    <a:moveTo>
                      <a:pt x="0" y="537"/>
                    </a:moveTo>
                    <a:lnTo>
                      <a:pt x="0" y="0"/>
                    </a:lnTo>
                    <a:lnTo>
                      <a:pt x="4" y="2"/>
                    </a:lnTo>
                    <a:lnTo>
                      <a:pt x="7" y="4"/>
                    </a:lnTo>
                    <a:lnTo>
                      <a:pt x="10" y="6"/>
                    </a:lnTo>
                    <a:lnTo>
                      <a:pt x="13" y="8"/>
                    </a:lnTo>
                    <a:lnTo>
                      <a:pt x="16" y="11"/>
                    </a:lnTo>
                    <a:lnTo>
                      <a:pt x="21" y="13"/>
                    </a:lnTo>
                    <a:lnTo>
                      <a:pt x="24" y="15"/>
                    </a:lnTo>
                    <a:lnTo>
                      <a:pt x="27" y="17"/>
                    </a:lnTo>
                    <a:lnTo>
                      <a:pt x="27" y="520"/>
                    </a:lnTo>
                    <a:lnTo>
                      <a:pt x="24" y="522"/>
                    </a:lnTo>
                    <a:lnTo>
                      <a:pt x="21" y="524"/>
                    </a:lnTo>
                    <a:lnTo>
                      <a:pt x="16" y="526"/>
                    </a:lnTo>
                    <a:lnTo>
                      <a:pt x="13" y="528"/>
                    </a:lnTo>
                    <a:lnTo>
                      <a:pt x="10" y="530"/>
                    </a:lnTo>
                    <a:lnTo>
                      <a:pt x="7" y="533"/>
                    </a:lnTo>
                    <a:lnTo>
                      <a:pt x="4" y="535"/>
                    </a:lnTo>
                    <a:lnTo>
                      <a:pt x="0" y="53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83" name="Freeform 1425"/>
              <p:cNvSpPr>
                <a:spLocks noChangeAspect="1"/>
              </p:cNvSpPr>
              <p:nvPr/>
            </p:nvSpPr>
            <p:spPr bwMode="auto">
              <a:xfrm>
                <a:off x="4459" y="1024"/>
                <a:ext cx="9" cy="173"/>
              </a:xfrm>
              <a:custGeom>
                <a:avLst/>
                <a:gdLst>
                  <a:gd name="T0" fmla="*/ 0 w 27"/>
                  <a:gd name="T1" fmla="*/ 0 h 520"/>
                  <a:gd name="T2" fmla="*/ 0 w 27"/>
                  <a:gd name="T3" fmla="*/ 0 h 520"/>
                  <a:gd name="T4" fmla="*/ 0 w 27"/>
                  <a:gd name="T5" fmla="*/ 0 h 520"/>
                  <a:gd name="T6" fmla="*/ 0 w 27"/>
                  <a:gd name="T7" fmla="*/ 0 h 520"/>
                  <a:gd name="T8" fmla="*/ 0 w 27"/>
                  <a:gd name="T9" fmla="*/ 0 h 520"/>
                  <a:gd name="T10" fmla="*/ 0 w 27"/>
                  <a:gd name="T11" fmla="*/ 0 h 520"/>
                  <a:gd name="T12" fmla="*/ 0 w 27"/>
                  <a:gd name="T13" fmla="*/ 0 h 520"/>
                  <a:gd name="T14" fmla="*/ 0 w 27"/>
                  <a:gd name="T15" fmla="*/ 0 h 520"/>
                  <a:gd name="T16" fmla="*/ 0 w 27"/>
                  <a:gd name="T17" fmla="*/ 0 h 520"/>
                  <a:gd name="T18" fmla="*/ 0 w 27"/>
                  <a:gd name="T19" fmla="*/ 0 h 520"/>
                  <a:gd name="T20" fmla="*/ 0 w 27"/>
                  <a:gd name="T21" fmla="*/ 0 h 520"/>
                  <a:gd name="T22" fmla="*/ 0 w 27"/>
                  <a:gd name="T23" fmla="*/ 0 h 520"/>
                  <a:gd name="T24" fmla="*/ 0 w 27"/>
                  <a:gd name="T25" fmla="*/ 0 h 520"/>
                  <a:gd name="T26" fmla="*/ 0 w 27"/>
                  <a:gd name="T27" fmla="*/ 0 h 520"/>
                  <a:gd name="T28" fmla="*/ 0 w 27"/>
                  <a:gd name="T29" fmla="*/ 0 h 520"/>
                  <a:gd name="T30" fmla="*/ 0 w 27"/>
                  <a:gd name="T31" fmla="*/ 0 h 520"/>
                  <a:gd name="T32" fmla="*/ 0 w 27"/>
                  <a:gd name="T33" fmla="*/ 0 h 520"/>
                  <a:gd name="T34" fmla="*/ 0 w 27"/>
                  <a:gd name="T35" fmla="*/ 0 h 520"/>
                  <a:gd name="T36" fmla="*/ 0 w 27"/>
                  <a:gd name="T37" fmla="*/ 0 h 5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20">
                    <a:moveTo>
                      <a:pt x="0" y="520"/>
                    </a:moveTo>
                    <a:lnTo>
                      <a:pt x="0" y="0"/>
                    </a:lnTo>
                    <a:lnTo>
                      <a:pt x="3" y="3"/>
                    </a:lnTo>
                    <a:lnTo>
                      <a:pt x="8" y="5"/>
                    </a:lnTo>
                    <a:lnTo>
                      <a:pt x="11" y="7"/>
                    </a:lnTo>
                    <a:lnTo>
                      <a:pt x="14" y="9"/>
                    </a:lnTo>
                    <a:lnTo>
                      <a:pt x="17" y="11"/>
                    </a:lnTo>
                    <a:lnTo>
                      <a:pt x="20" y="14"/>
                    </a:lnTo>
                    <a:lnTo>
                      <a:pt x="24" y="16"/>
                    </a:lnTo>
                    <a:lnTo>
                      <a:pt x="27" y="19"/>
                    </a:lnTo>
                    <a:lnTo>
                      <a:pt x="27" y="501"/>
                    </a:lnTo>
                    <a:lnTo>
                      <a:pt x="24" y="503"/>
                    </a:lnTo>
                    <a:lnTo>
                      <a:pt x="20" y="507"/>
                    </a:lnTo>
                    <a:lnTo>
                      <a:pt x="17" y="509"/>
                    </a:lnTo>
                    <a:lnTo>
                      <a:pt x="14" y="511"/>
                    </a:lnTo>
                    <a:lnTo>
                      <a:pt x="11" y="514"/>
                    </a:lnTo>
                    <a:lnTo>
                      <a:pt x="8" y="516"/>
                    </a:lnTo>
                    <a:lnTo>
                      <a:pt x="3" y="518"/>
                    </a:lnTo>
                    <a:lnTo>
                      <a:pt x="0" y="5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84" name="Freeform 1426"/>
              <p:cNvSpPr>
                <a:spLocks noChangeAspect="1"/>
              </p:cNvSpPr>
              <p:nvPr/>
            </p:nvSpPr>
            <p:spPr bwMode="auto">
              <a:xfrm>
                <a:off x="4464" y="1027"/>
                <a:ext cx="9" cy="167"/>
              </a:xfrm>
              <a:custGeom>
                <a:avLst/>
                <a:gdLst>
                  <a:gd name="T0" fmla="*/ 0 w 27"/>
                  <a:gd name="T1" fmla="*/ 0 h 503"/>
                  <a:gd name="T2" fmla="*/ 0 w 27"/>
                  <a:gd name="T3" fmla="*/ 0 h 503"/>
                  <a:gd name="T4" fmla="*/ 0 w 27"/>
                  <a:gd name="T5" fmla="*/ 0 h 503"/>
                  <a:gd name="T6" fmla="*/ 0 w 27"/>
                  <a:gd name="T7" fmla="*/ 0 h 503"/>
                  <a:gd name="T8" fmla="*/ 0 w 27"/>
                  <a:gd name="T9" fmla="*/ 0 h 503"/>
                  <a:gd name="T10" fmla="*/ 0 w 27"/>
                  <a:gd name="T11" fmla="*/ 0 h 503"/>
                  <a:gd name="T12" fmla="*/ 0 w 27"/>
                  <a:gd name="T13" fmla="*/ 0 h 503"/>
                  <a:gd name="T14" fmla="*/ 0 w 27"/>
                  <a:gd name="T15" fmla="*/ 0 h 503"/>
                  <a:gd name="T16" fmla="*/ 0 w 27"/>
                  <a:gd name="T17" fmla="*/ 0 h 503"/>
                  <a:gd name="T18" fmla="*/ 0 w 27"/>
                  <a:gd name="T19" fmla="*/ 0 h 503"/>
                  <a:gd name="T20" fmla="*/ 0 w 27"/>
                  <a:gd name="T21" fmla="*/ 0 h 503"/>
                  <a:gd name="T22" fmla="*/ 0 w 27"/>
                  <a:gd name="T23" fmla="*/ 0 h 503"/>
                  <a:gd name="T24" fmla="*/ 0 w 27"/>
                  <a:gd name="T25" fmla="*/ 0 h 503"/>
                  <a:gd name="T26" fmla="*/ 0 w 27"/>
                  <a:gd name="T27" fmla="*/ 0 h 503"/>
                  <a:gd name="T28" fmla="*/ 0 w 27"/>
                  <a:gd name="T29" fmla="*/ 0 h 503"/>
                  <a:gd name="T30" fmla="*/ 0 w 27"/>
                  <a:gd name="T31" fmla="*/ 0 h 503"/>
                  <a:gd name="T32" fmla="*/ 0 w 27"/>
                  <a:gd name="T33" fmla="*/ 0 h 503"/>
                  <a:gd name="T34" fmla="*/ 0 w 27"/>
                  <a:gd name="T35" fmla="*/ 0 h 503"/>
                  <a:gd name="T36" fmla="*/ 0 w 27"/>
                  <a:gd name="T37" fmla="*/ 0 h 5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03">
                    <a:moveTo>
                      <a:pt x="0" y="503"/>
                    </a:moveTo>
                    <a:lnTo>
                      <a:pt x="0" y="0"/>
                    </a:lnTo>
                    <a:lnTo>
                      <a:pt x="3" y="2"/>
                    </a:lnTo>
                    <a:lnTo>
                      <a:pt x="6" y="5"/>
                    </a:lnTo>
                    <a:lnTo>
                      <a:pt x="10" y="7"/>
                    </a:lnTo>
                    <a:lnTo>
                      <a:pt x="13" y="11"/>
                    </a:lnTo>
                    <a:lnTo>
                      <a:pt x="16" y="13"/>
                    </a:lnTo>
                    <a:lnTo>
                      <a:pt x="19" y="16"/>
                    </a:lnTo>
                    <a:lnTo>
                      <a:pt x="23" y="18"/>
                    </a:lnTo>
                    <a:lnTo>
                      <a:pt x="27" y="21"/>
                    </a:lnTo>
                    <a:lnTo>
                      <a:pt x="27" y="482"/>
                    </a:lnTo>
                    <a:lnTo>
                      <a:pt x="23" y="484"/>
                    </a:lnTo>
                    <a:lnTo>
                      <a:pt x="19" y="487"/>
                    </a:lnTo>
                    <a:lnTo>
                      <a:pt x="16" y="489"/>
                    </a:lnTo>
                    <a:lnTo>
                      <a:pt x="13" y="492"/>
                    </a:lnTo>
                    <a:lnTo>
                      <a:pt x="10" y="494"/>
                    </a:lnTo>
                    <a:lnTo>
                      <a:pt x="6" y="498"/>
                    </a:lnTo>
                    <a:lnTo>
                      <a:pt x="3" y="500"/>
                    </a:lnTo>
                    <a:lnTo>
                      <a:pt x="0" y="50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85" name="Freeform 1427"/>
              <p:cNvSpPr>
                <a:spLocks noChangeAspect="1"/>
              </p:cNvSpPr>
              <p:nvPr/>
            </p:nvSpPr>
            <p:spPr bwMode="auto">
              <a:xfrm>
                <a:off x="4468" y="1030"/>
                <a:ext cx="9" cy="161"/>
              </a:xfrm>
              <a:custGeom>
                <a:avLst/>
                <a:gdLst>
                  <a:gd name="T0" fmla="*/ 0 w 26"/>
                  <a:gd name="T1" fmla="*/ 0 h 482"/>
                  <a:gd name="T2" fmla="*/ 0 w 26"/>
                  <a:gd name="T3" fmla="*/ 0 h 482"/>
                  <a:gd name="T4" fmla="*/ 0 w 26"/>
                  <a:gd name="T5" fmla="*/ 0 h 482"/>
                  <a:gd name="T6" fmla="*/ 0 w 26"/>
                  <a:gd name="T7" fmla="*/ 0 h 482"/>
                  <a:gd name="T8" fmla="*/ 0 w 26"/>
                  <a:gd name="T9" fmla="*/ 0 h 482"/>
                  <a:gd name="T10" fmla="*/ 0 w 26"/>
                  <a:gd name="T11" fmla="*/ 0 h 482"/>
                  <a:gd name="T12" fmla="*/ 0 w 26"/>
                  <a:gd name="T13" fmla="*/ 0 h 482"/>
                  <a:gd name="T14" fmla="*/ 0 w 26"/>
                  <a:gd name="T15" fmla="*/ 0 h 482"/>
                  <a:gd name="T16" fmla="*/ 0 w 26"/>
                  <a:gd name="T17" fmla="*/ 0 h 482"/>
                  <a:gd name="T18" fmla="*/ 0 w 26"/>
                  <a:gd name="T19" fmla="*/ 0 h 482"/>
                  <a:gd name="T20" fmla="*/ 0 w 26"/>
                  <a:gd name="T21" fmla="*/ 0 h 482"/>
                  <a:gd name="T22" fmla="*/ 0 w 26"/>
                  <a:gd name="T23" fmla="*/ 0 h 482"/>
                  <a:gd name="T24" fmla="*/ 0 w 26"/>
                  <a:gd name="T25" fmla="*/ 0 h 482"/>
                  <a:gd name="T26" fmla="*/ 0 w 26"/>
                  <a:gd name="T27" fmla="*/ 0 h 482"/>
                  <a:gd name="T28" fmla="*/ 0 w 26"/>
                  <a:gd name="T29" fmla="*/ 0 h 482"/>
                  <a:gd name="T30" fmla="*/ 0 w 26"/>
                  <a:gd name="T31" fmla="*/ 0 h 482"/>
                  <a:gd name="T32" fmla="*/ 0 w 26"/>
                  <a:gd name="T33" fmla="*/ 0 h 482"/>
                  <a:gd name="T34" fmla="*/ 0 w 26"/>
                  <a:gd name="T35" fmla="*/ 0 h 482"/>
                  <a:gd name="T36" fmla="*/ 0 w 26"/>
                  <a:gd name="T37" fmla="*/ 0 h 48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82">
                    <a:moveTo>
                      <a:pt x="0" y="482"/>
                    </a:moveTo>
                    <a:lnTo>
                      <a:pt x="0" y="0"/>
                    </a:lnTo>
                    <a:lnTo>
                      <a:pt x="3" y="3"/>
                    </a:lnTo>
                    <a:lnTo>
                      <a:pt x="7" y="6"/>
                    </a:lnTo>
                    <a:lnTo>
                      <a:pt x="10" y="8"/>
                    </a:lnTo>
                    <a:lnTo>
                      <a:pt x="14" y="11"/>
                    </a:lnTo>
                    <a:lnTo>
                      <a:pt x="17" y="14"/>
                    </a:lnTo>
                    <a:lnTo>
                      <a:pt x="20" y="18"/>
                    </a:lnTo>
                    <a:lnTo>
                      <a:pt x="23" y="21"/>
                    </a:lnTo>
                    <a:lnTo>
                      <a:pt x="26" y="23"/>
                    </a:lnTo>
                    <a:lnTo>
                      <a:pt x="26" y="459"/>
                    </a:lnTo>
                    <a:lnTo>
                      <a:pt x="23" y="462"/>
                    </a:lnTo>
                    <a:lnTo>
                      <a:pt x="20" y="465"/>
                    </a:lnTo>
                    <a:lnTo>
                      <a:pt x="17" y="468"/>
                    </a:lnTo>
                    <a:lnTo>
                      <a:pt x="14" y="470"/>
                    </a:lnTo>
                    <a:lnTo>
                      <a:pt x="10" y="474"/>
                    </a:lnTo>
                    <a:lnTo>
                      <a:pt x="7" y="477"/>
                    </a:lnTo>
                    <a:lnTo>
                      <a:pt x="3" y="479"/>
                    </a:lnTo>
                    <a:lnTo>
                      <a:pt x="0" y="48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86" name="Freeform 1428"/>
              <p:cNvSpPr>
                <a:spLocks noChangeAspect="1"/>
              </p:cNvSpPr>
              <p:nvPr/>
            </p:nvSpPr>
            <p:spPr bwMode="auto">
              <a:xfrm>
                <a:off x="4473" y="1034"/>
                <a:ext cx="8" cy="153"/>
              </a:xfrm>
              <a:custGeom>
                <a:avLst/>
                <a:gdLst>
                  <a:gd name="T0" fmla="*/ 0 w 25"/>
                  <a:gd name="T1" fmla="*/ 0 h 461"/>
                  <a:gd name="T2" fmla="*/ 0 w 25"/>
                  <a:gd name="T3" fmla="*/ 0 h 461"/>
                  <a:gd name="T4" fmla="*/ 0 w 25"/>
                  <a:gd name="T5" fmla="*/ 0 h 461"/>
                  <a:gd name="T6" fmla="*/ 0 w 25"/>
                  <a:gd name="T7" fmla="*/ 0 h 461"/>
                  <a:gd name="T8" fmla="*/ 0 w 25"/>
                  <a:gd name="T9" fmla="*/ 0 h 461"/>
                  <a:gd name="T10" fmla="*/ 0 w 25"/>
                  <a:gd name="T11" fmla="*/ 0 h 461"/>
                  <a:gd name="T12" fmla="*/ 0 w 25"/>
                  <a:gd name="T13" fmla="*/ 0 h 461"/>
                  <a:gd name="T14" fmla="*/ 0 w 25"/>
                  <a:gd name="T15" fmla="*/ 0 h 461"/>
                  <a:gd name="T16" fmla="*/ 0 w 25"/>
                  <a:gd name="T17" fmla="*/ 0 h 461"/>
                  <a:gd name="T18" fmla="*/ 0 w 25"/>
                  <a:gd name="T19" fmla="*/ 0 h 461"/>
                  <a:gd name="T20" fmla="*/ 0 w 25"/>
                  <a:gd name="T21" fmla="*/ 0 h 461"/>
                  <a:gd name="T22" fmla="*/ 0 w 25"/>
                  <a:gd name="T23" fmla="*/ 0 h 461"/>
                  <a:gd name="T24" fmla="*/ 0 w 25"/>
                  <a:gd name="T25" fmla="*/ 0 h 461"/>
                  <a:gd name="T26" fmla="*/ 0 w 25"/>
                  <a:gd name="T27" fmla="*/ 0 h 461"/>
                  <a:gd name="T28" fmla="*/ 0 w 25"/>
                  <a:gd name="T29" fmla="*/ 0 h 461"/>
                  <a:gd name="T30" fmla="*/ 0 w 25"/>
                  <a:gd name="T31" fmla="*/ 0 h 461"/>
                  <a:gd name="T32" fmla="*/ 0 w 25"/>
                  <a:gd name="T33" fmla="*/ 0 h 461"/>
                  <a:gd name="T34" fmla="*/ 0 w 25"/>
                  <a:gd name="T35" fmla="*/ 0 h 461"/>
                  <a:gd name="T36" fmla="*/ 0 w 25"/>
                  <a:gd name="T37" fmla="*/ 0 h 4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5" h="461">
                    <a:moveTo>
                      <a:pt x="0" y="461"/>
                    </a:moveTo>
                    <a:lnTo>
                      <a:pt x="0" y="0"/>
                    </a:lnTo>
                    <a:lnTo>
                      <a:pt x="3" y="3"/>
                    </a:lnTo>
                    <a:lnTo>
                      <a:pt x="6" y="7"/>
                    </a:lnTo>
                    <a:lnTo>
                      <a:pt x="9" y="10"/>
                    </a:lnTo>
                    <a:lnTo>
                      <a:pt x="12" y="13"/>
                    </a:lnTo>
                    <a:lnTo>
                      <a:pt x="16" y="16"/>
                    </a:lnTo>
                    <a:lnTo>
                      <a:pt x="20" y="19"/>
                    </a:lnTo>
                    <a:lnTo>
                      <a:pt x="23" y="23"/>
                    </a:lnTo>
                    <a:lnTo>
                      <a:pt x="25" y="26"/>
                    </a:lnTo>
                    <a:lnTo>
                      <a:pt x="25" y="434"/>
                    </a:lnTo>
                    <a:lnTo>
                      <a:pt x="23" y="437"/>
                    </a:lnTo>
                    <a:lnTo>
                      <a:pt x="20" y="440"/>
                    </a:lnTo>
                    <a:lnTo>
                      <a:pt x="16" y="445"/>
                    </a:lnTo>
                    <a:lnTo>
                      <a:pt x="12" y="448"/>
                    </a:lnTo>
                    <a:lnTo>
                      <a:pt x="9" y="451"/>
                    </a:lnTo>
                    <a:lnTo>
                      <a:pt x="6" y="454"/>
                    </a:lnTo>
                    <a:lnTo>
                      <a:pt x="3" y="457"/>
                    </a:lnTo>
                    <a:lnTo>
                      <a:pt x="0" y="46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87" name="Freeform 1429"/>
              <p:cNvSpPr>
                <a:spLocks noChangeAspect="1"/>
              </p:cNvSpPr>
              <p:nvPr/>
            </p:nvSpPr>
            <p:spPr bwMode="auto">
              <a:xfrm>
                <a:off x="4477" y="1038"/>
                <a:ext cx="9" cy="145"/>
              </a:xfrm>
              <a:custGeom>
                <a:avLst/>
                <a:gdLst>
                  <a:gd name="T0" fmla="*/ 0 w 27"/>
                  <a:gd name="T1" fmla="*/ 0 h 436"/>
                  <a:gd name="T2" fmla="*/ 0 w 27"/>
                  <a:gd name="T3" fmla="*/ 0 h 436"/>
                  <a:gd name="T4" fmla="*/ 0 w 27"/>
                  <a:gd name="T5" fmla="*/ 0 h 436"/>
                  <a:gd name="T6" fmla="*/ 0 w 27"/>
                  <a:gd name="T7" fmla="*/ 0 h 436"/>
                  <a:gd name="T8" fmla="*/ 0 w 27"/>
                  <a:gd name="T9" fmla="*/ 0 h 436"/>
                  <a:gd name="T10" fmla="*/ 0 w 27"/>
                  <a:gd name="T11" fmla="*/ 0 h 436"/>
                  <a:gd name="T12" fmla="*/ 0 w 27"/>
                  <a:gd name="T13" fmla="*/ 0 h 436"/>
                  <a:gd name="T14" fmla="*/ 0 w 27"/>
                  <a:gd name="T15" fmla="*/ 0 h 436"/>
                  <a:gd name="T16" fmla="*/ 0 w 27"/>
                  <a:gd name="T17" fmla="*/ 0 h 436"/>
                  <a:gd name="T18" fmla="*/ 0 w 27"/>
                  <a:gd name="T19" fmla="*/ 0 h 436"/>
                  <a:gd name="T20" fmla="*/ 0 w 27"/>
                  <a:gd name="T21" fmla="*/ 0 h 436"/>
                  <a:gd name="T22" fmla="*/ 0 w 27"/>
                  <a:gd name="T23" fmla="*/ 0 h 436"/>
                  <a:gd name="T24" fmla="*/ 0 w 27"/>
                  <a:gd name="T25" fmla="*/ 0 h 436"/>
                  <a:gd name="T26" fmla="*/ 0 w 27"/>
                  <a:gd name="T27" fmla="*/ 0 h 436"/>
                  <a:gd name="T28" fmla="*/ 0 w 27"/>
                  <a:gd name="T29" fmla="*/ 0 h 436"/>
                  <a:gd name="T30" fmla="*/ 0 w 27"/>
                  <a:gd name="T31" fmla="*/ 0 h 436"/>
                  <a:gd name="T32" fmla="*/ 0 w 27"/>
                  <a:gd name="T33" fmla="*/ 0 h 436"/>
                  <a:gd name="T34" fmla="*/ 0 w 27"/>
                  <a:gd name="T35" fmla="*/ 0 h 436"/>
                  <a:gd name="T36" fmla="*/ 0 w 27"/>
                  <a:gd name="T37" fmla="*/ 0 h 4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36">
                    <a:moveTo>
                      <a:pt x="0" y="436"/>
                    </a:moveTo>
                    <a:lnTo>
                      <a:pt x="0" y="0"/>
                    </a:lnTo>
                    <a:lnTo>
                      <a:pt x="4" y="4"/>
                    </a:lnTo>
                    <a:lnTo>
                      <a:pt x="8" y="7"/>
                    </a:lnTo>
                    <a:lnTo>
                      <a:pt x="11" y="12"/>
                    </a:lnTo>
                    <a:lnTo>
                      <a:pt x="14" y="15"/>
                    </a:lnTo>
                    <a:lnTo>
                      <a:pt x="17" y="18"/>
                    </a:lnTo>
                    <a:lnTo>
                      <a:pt x="21" y="22"/>
                    </a:lnTo>
                    <a:lnTo>
                      <a:pt x="24" y="26"/>
                    </a:lnTo>
                    <a:lnTo>
                      <a:pt x="27" y="30"/>
                    </a:lnTo>
                    <a:lnTo>
                      <a:pt x="27" y="406"/>
                    </a:lnTo>
                    <a:lnTo>
                      <a:pt x="24" y="410"/>
                    </a:lnTo>
                    <a:lnTo>
                      <a:pt x="21" y="415"/>
                    </a:lnTo>
                    <a:lnTo>
                      <a:pt x="17" y="418"/>
                    </a:lnTo>
                    <a:lnTo>
                      <a:pt x="14" y="422"/>
                    </a:lnTo>
                    <a:lnTo>
                      <a:pt x="11" y="425"/>
                    </a:lnTo>
                    <a:lnTo>
                      <a:pt x="8" y="428"/>
                    </a:lnTo>
                    <a:lnTo>
                      <a:pt x="4" y="433"/>
                    </a:lnTo>
                    <a:lnTo>
                      <a:pt x="0" y="43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88" name="Freeform 1430"/>
              <p:cNvSpPr>
                <a:spLocks noChangeAspect="1"/>
              </p:cNvSpPr>
              <p:nvPr/>
            </p:nvSpPr>
            <p:spPr bwMode="auto">
              <a:xfrm>
                <a:off x="4481" y="1042"/>
                <a:ext cx="9" cy="136"/>
              </a:xfrm>
              <a:custGeom>
                <a:avLst/>
                <a:gdLst>
                  <a:gd name="T0" fmla="*/ 0 w 27"/>
                  <a:gd name="T1" fmla="*/ 0 h 408"/>
                  <a:gd name="T2" fmla="*/ 0 w 27"/>
                  <a:gd name="T3" fmla="*/ 0 h 408"/>
                  <a:gd name="T4" fmla="*/ 0 w 27"/>
                  <a:gd name="T5" fmla="*/ 0 h 408"/>
                  <a:gd name="T6" fmla="*/ 0 w 27"/>
                  <a:gd name="T7" fmla="*/ 0 h 408"/>
                  <a:gd name="T8" fmla="*/ 0 w 27"/>
                  <a:gd name="T9" fmla="*/ 0 h 408"/>
                  <a:gd name="T10" fmla="*/ 0 w 27"/>
                  <a:gd name="T11" fmla="*/ 0 h 408"/>
                  <a:gd name="T12" fmla="*/ 0 w 27"/>
                  <a:gd name="T13" fmla="*/ 0 h 408"/>
                  <a:gd name="T14" fmla="*/ 0 w 27"/>
                  <a:gd name="T15" fmla="*/ 0 h 408"/>
                  <a:gd name="T16" fmla="*/ 0 w 27"/>
                  <a:gd name="T17" fmla="*/ 0 h 408"/>
                  <a:gd name="T18" fmla="*/ 0 w 27"/>
                  <a:gd name="T19" fmla="*/ 0 h 408"/>
                  <a:gd name="T20" fmla="*/ 0 w 27"/>
                  <a:gd name="T21" fmla="*/ 0 h 408"/>
                  <a:gd name="T22" fmla="*/ 0 w 27"/>
                  <a:gd name="T23" fmla="*/ 0 h 408"/>
                  <a:gd name="T24" fmla="*/ 0 w 27"/>
                  <a:gd name="T25" fmla="*/ 0 h 408"/>
                  <a:gd name="T26" fmla="*/ 0 w 27"/>
                  <a:gd name="T27" fmla="*/ 0 h 408"/>
                  <a:gd name="T28" fmla="*/ 0 w 27"/>
                  <a:gd name="T29" fmla="*/ 0 h 408"/>
                  <a:gd name="T30" fmla="*/ 0 w 27"/>
                  <a:gd name="T31" fmla="*/ 0 h 408"/>
                  <a:gd name="T32" fmla="*/ 0 w 27"/>
                  <a:gd name="T33" fmla="*/ 0 h 408"/>
                  <a:gd name="T34" fmla="*/ 0 w 27"/>
                  <a:gd name="T35" fmla="*/ 0 h 408"/>
                  <a:gd name="T36" fmla="*/ 0 w 27"/>
                  <a:gd name="T37" fmla="*/ 0 h 40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08">
                    <a:moveTo>
                      <a:pt x="0" y="408"/>
                    </a:moveTo>
                    <a:lnTo>
                      <a:pt x="0" y="0"/>
                    </a:lnTo>
                    <a:lnTo>
                      <a:pt x="4" y="4"/>
                    </a:lnTo>
                    <a:lnTo>
                      <a:pt x="8" y="8"/>
                    </a:lnTo>
                    <a:lnTo>
                      <a:pt x="11" y="12"/>
                    </a:lnTo>
                    <a:lnTo>
                      <a:pt x="15" y="17"/>
                    </a:lnTo>
                    <a:lnTo>
                      <a:pt x="18" y="21"/>
                    </a:lnTo>
                    <a:lnTo>
                      <a:pt x="21" y="25"/>
                    </a:lnTo>
                    <a:lnTo>
                      <a:pt x="25" y="30"/>
                    </a:lnTo>
                    <a:lnTo>
                      <a:pt x="27" y="34"/>
                    </a:lnTo>
                    <a:lnTo>
                      <a:pt x="27" y="374"/>
                    </a:lnTo>
                    <a:lnTo>
                      <a:pt x="25" y="378"/>
                    </a:lnTo>
                    <a:lnTo>
                      <a:pt x="21" y="384"/>
                    </a:lnTo>
                    <a:lnTo>
                      <a:pt x="18" y="388"/>
                    </a:lnTo>
                    <a:lnTo>
                      <a:pt x="15" y="392"/>
                    </a:lnTo>
                    <a:lnTo>
                      <a:pt x="11" y="396"/>
                    </a:lnTo>
                    <a:lnTo>
                      <a:pt x="8" y="399"/>
                    </a:lnTo>
                    <a:lnTo>
                      <a:pt x="4" y="404"/>
                    </a:lnTo>
                    <a:lnTo>
                      <a:pt x="0" y="40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89" name="Freeform 1431"/>
              <p:cNvSpPr>
                <a:spLocks noChangeAspect="1"/>
              </p:cNvSpPr>
              <p:nvPr/>
            </p:nvSpPr>
            <p:spPr bwMode="auto">
              <a:xfrm>
                <a:off x="4486" y="1048"/>
                <a:ext cx="9" cy="125"/>
              </a:xfrm>
              <a:custGeom>
                <a:avLst/>
                <a:gdLst>
                  <a:gd name="T0" fmla="*/ 0 w 27"/>
                  <a:gd name="T1" fmla="*/ 0 h 376"/>
                  <a:gd name="T2" fmla="*/ 0 w 27"/>
                  <a:gd name="T3" fmla="*/ 0 h 376"/>
                  <a:gd name="T4" fmla="*/ 0 w 27"/>
                  <a:gd name="T5" fmla="*/ 0 h 376"/>
                  <a:gd name="T6" fmla="*/ 0 w 27"/>
                  <a:gd name="T7" fmla="*/ 0 h 376"/>
                  <a:gd name="T8" fmla="*/ 0 w 27"/>
                  <a:gd name="T9" fmla="*/ 0 h 376"/>
                  <a:gd name="T10" fmla="*/ 0 w 27"/>
                  <a:gd name="T11" fmla="*/ 0 h 376"/>
                  <a:gd name="T12" fmla="*/ 0 w 27"/>
                  <a:gd name="T13" fmla="*/ 0 h 376"/>
                  <a:gd name="T14" fmla="*/ 0 w 27"/>
                  <a:gd name="T15" fmla="*/ 0 h 376"/>
                  <a:gd name="T16" fmla="*/ 0 w 27"/>
                  <a:gd name="T17" fmla="*/ 0 h 376"/>
                  <a:gd name="T18" fmla="*/ 0 w 27"/>
                  <a:gd name="T19" fmla="*/ 0 h 376"/>
                  <a:gd name="T20" fmla="*/ 0 w 27"/>
                  <a:gd name="T21" fmla="*/ 0 h 376"/>
                  <a:gd name="T22" fmla="*/ 0 w 27"/>
                  <a:gd name="T23" fmla="*/ 0 h 376"/>
                  <a:gd name="T24" fmla="*/ 0 w 27"/>
                  <a:gd name="T25" fmla="*/ 0 h 376"/>
                  <a:gd name="T26" fmla="*/ 0 w 27"/>
                  <a:gd name="T27" fmla="*/ 0 h 376"/>
                  <a:gd name="T28" fmla="*/ 0 w 27"/>
                  <a:gd name="T29" fmla="*/ 0 h 376"/>
                  <a:gd name="T30" fmla="*/ 0 w 27"/>
                  <a:gd name="T31" fmla="*/ 0 h 376"/>
                  <a:gd name="T32" fmla="*/ 0 w 27"/>
                  <a:gd name="T33" fmla="*/ 0 h 376"/>
                  <a:gd name="T34" fmla="*/ 0 w 27"/>
                  <a:gd name="T35" fmla="*/ 0 h 376"/>
                  <a:gd name="T36" fmla="*/ 0 w 27"/>
                  <a:gd name="T37" fmla="*/ 0 h 3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376">
                    <a:moveTo>
                      <a:pt x="0" y="376"/>
                    </a:moveTo>
                    <a:lnTo>
                      <a:pt x="0" y="0"/>
                    </a:lnTo>
                    <a:lnTo>
                      <a:pt x="3" y="5"/>
                    </a:lnTo>
                    <a:lnTo>
                      <a:pt x="7" y="9"/>
                    </a:lnTo>
                    <a:lnTo>
                      <a:pt x="11" y="15"/>
                    </a:lnTo>
                    <a:lnTo>
                      <a:pt x="14" y="19"/>
                    </a:lnTo>
                    <a:lnTo>
                      <a:pt x="17" y="24"/>
                    </a:lnTo>
                    <a:lnTo>
                      <a:pt x="20" y="29"/>
                    </a:lnTo>
                    <a:lnTo>
                      <a:pt x="23" y="34"/>
                    </a:lnTo>
                    <a:lnTo>
                      <a:pt x="27" y="39"/>
                    </a:lnTo>
                    <a:lnTo>
                      <a:pt x="27" y="337"/>
                    </a:lnTo>
                    <a:lnTo>
                      <a:pt x="23" y="342"/>
                    </a:lnTo>
                    <a:lnTo>
                      <a:pt x="20" y="347"/>
                    </a:lnTo>
                    <a:lnTo>
                      <a:pt x="17" y="353"/>
                    </a:lnTo>
                    <a:lnTo>
                      <a:pt x="14" y="357"/>
                    </a:lnTo>
                    <a:lnTo>
                      <a:pt x="11" y="362"/>
                    </a:lnTo>
                    <a:lnTo>
                      <a:pt x="7" y="366"/>
                    </a:lnTo>
                    <a:lnTo>
                      <a:pt x="3" y="372"/>
                    </a:lnTo>
                    <a:lnTo>
                      <a:pt x="0" y="37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90" name="Freeform 1432"/>
              <p:cNvSpPr>
                <a:spLocks noChangeAspect="1"/>
              </p:cNvSpPr>
              <p:nvPr/>
            </p:nvSpPr>
            <p:spPr bwMode="auto">
              <a:xfrm>
                <a:off x="4490" y="1054"/>
                <a:ext cx="9" cy="113"/>
              </a:xfrm>
              <a:custGeom>
                <a:avLst/>
                <a:gdLst>
                  <a:gd name="T0" fmla="*/ 0 w 26"/>
                  <a:gd name="T1" fmla="*/ 0 h 340"/>
                  <a:gd name="T2" fmla="*/ 0 w 26"/>
                  <a:gd name="T3" fmla="*/ 0 h 340"/>
                  <a:gd name="T4" fmla="*/ 0 w 26"/>
                  <a:gd name="T5" fmla="*/ 0 h 340"/>
                  <a:gd name="T6" fmla="*/ 0 w 26"/>
                  <a:gd name="T7" fmla="*/ 0 h 340"/>
                  <a:gd name="T8" fmla="*/ 0 w 26"/>
                  <a:gd name="T9" fmla="*/ 0 h 340"/>
                  <a:gd name="T10" fmla="*/ 0 w 26"/>
                  <a:gd name="T11" fmla="*/ 0 h 340"/>
                  <a:gd name="T12" fmla="*/ 0 w 26"/>
                  <a:gd name="T13" fmla="*/ 0 h 340"/>
                  <a:gd name="T14" fmla="*/ 0 w 26"/>
                  <a:gd name="T15" fmla="*/ 0 h 340"/>
                  <a:gd name="T16" fmla="*/ 0 w 26"/>
                  <a:gd name="T17" fmla="*/ 0 h 340"/>
                  <a:gd name="T18" fmla="*/ 0 w 26"/>
                  <a:gd name="T19" fmla="*/ 0 h 340"/>
                  <a:gd name="T20" fmla="*/ 0 w 26"/>
                  <a:gd name="T21" fmla="*/ 0 h 340"/>
                  <a:gd name="T22" fmla="*/ 0 w 26"/>
                  <a:gd name="T23" fmla="*/ 0 h 340"/>
                  <a:gd name="T24" fmla="*/ 0 w 26"/>
                  <a:gd name="T25" fmla="*/ 0 h 340"/>
                  <a:gd name="T26" fmla="*/ 0 w 26"/>
                  <a:gd name="T27" fmla="*/ 0 h 340"/>
                  <a:gd name="T28" fmla="*/ 0 w 26"/>
                  <a:gd name="T29" fmla="*/ 0 h 340"/>
                  <a:gd name="T30" fmla="*/ 0 w 26"/>
                  <a:gd name="T31" fmla="*/ 0 h 340"/>
                  <a:gd name="T32" fmla="*/ 0 w 26"/>
                  <a:gd name="T33" fmla="*/ 0 h 340"/>
                  <a:gd name="T34" fmla="*/ 0 w 26"/>
                  <a:gd name="T35" fmla="*/ 0 h 340"/>
                  <a:gd name="T36" fmla="*/ 0 w 26"/>
                  <a:gd name="T37" fmla="*/ 0 h 3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340">
                    <a:moveTo>
                      <a:pt x="0" y="340"/>
                    </a:moveTo>
                    <a:lnTo>
                      <a:pt x="0" y="0"/>
                    </a:lnTo>
                    <a:lnTo>
                      <a:pt x="4" y="5"/>
                    </a:lnTo>
                    <a:lnTo>
                      <a:pt x="7" y="11"/>
                    </a:lnTo>
                    <a:lnTo>
                      <a:pt x="11" y="17"/>
                    </a:lnTo>
                    <a:lnTo>
                      <a:pt x="15" y="23"/>
                    </a:lnTo>
                    <a:lnTo>
                      <a:pt x="18" y="28"/>
                    </a:lnTo>
                    <a:lnTo>
                      <a:pt x="21" y="35"/>
                    </a:lnTo>
                    <a:lnTo>
                      <a:pt x="24" y="41"/>
                    </a:lnTo>
                    <a:lnTo>
                      <a:pt x="26" y="48"/>
                    </a:lnTo>
                    <a:lnTo>
                      <a:pt x="26" y="293"/>
                    </a:lnTo>
                    <a:lnTo>
                      <a:pt x="24" y="300"/>
                    </a:lnTo>
                    <a:lnTo>
                      <a:pt x="21" y="305"/>
                    </a:lnTo>
                    <a:lnTo>
                      <a:pt x="18" y="311"/>
                    </a:lnTo>
                    <a:lnTo>
                      <a:pt x="15" y="318"/>
                    </a:lnTo>
                    <a:lnTo>
                      <a:pt x="11" y="323"/>
                    </a:lnTo>
                    <a:lnTo>
                      <a:pt x="7" y="329"/>
                    </a:lnTo>
                    <a:lnTo>
                      <a:pt x="4" y="335"/>
                    </a:lnTo>
                    <a:lnTo>
                      <a:pt x="0" y="34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91" name="Freeform 1433"/>
              <p:cNvSpPr>
                <a:spLocks noChangeAspect="1"/>
              </p:cNvSpPr>
              <p:nvPr/>
            </p:nvSpPr>
            <p:spPr bwMode="auto">
              <a:xfrm>
                <a:off x="4495" y="1061"/>
                <a:ext cx="9" cy="99"/>
              </a:xfrm>
              <a:custGeom>
                <a:avLst/>
                <a:gdLst>
                  <a:gd name="T0" fmla="*/ 0 w 26"/>
                  <a:gd name="T1" fmla="*/ 0 h 298"/>
                  <a:gd name="T2" fmla="*/ 0 w 26"/>
                  <a:gd name="T3" fmla="*/ 0 h 298"/>
                  <a:gd name="T4" fmla="*/ 0 w 26"/>
                  <a:gd name="T5" fmla="*/ 0 h 298"/>
                  <a:gd name="T6" fmla="*/ 0 w 26"/>
                  <a:gd name="T7" fmla="*/ 0 h 298"/>
                  <a:gd name="T8" fmla="*/ 0 w 26"/>
                  <a:gd name="T9" fmla="*/ 0 h 298"/>
                  <a:gd name="T10" fmla="*/ 0 w 26"/>
                  <a:gd name="T11" fmla="*/ 0 h 298"/>
                  <a:gd name="T12" fmla="*/ 0 w 26"/>
                  <a:gd name="T13" fmla="*/ 0 h 298"/>
                  <a:gd name="T14" fmla="*/ 0 w 26"/>
                  <a:gd name="T15" fmla="*/ 0 h 298"/>
                  <a:gd name="T16" fmla="*/ 0 w 26"/>
                  <a:gd name="T17" fmla="*/ 0 h 298"/>
                  <a:gd name="T18" fmla="*/ 0 w 26"/>
                  <a:gd name="T19" fmla="*/ 0 h 298"/>
                  <a:gd name="T20" fmla="*/ 0 w 26"/>
                  <a:gd name="T21" fmla="*/ 0 h 298"/>
                  <a:gd name="T22" fmla="*/ 0 w 26"/>
                  <a:gd name="T23" fmla="*/ 0 h 298"/>
                  <a:gd name="T24" fmla="*/ 0 w 26"/>
                  <a:gd name="T25" fmla="*/ 0 h 298"/>
                  <a:gd name="T26" fmla="*/ 0 w 26"/>
                  <a:gd name="T27" fmla="*/ 0 h 298"/>
                  <a:gd name="T28" fmla="*/ 0 w 26"/>
                  <a:gd name="T29" fmla="*/ 0 h 298"/>
                  <a:gd name="T30" fmla="*/ 0 w 26"/>
                  <a:gd name="T31" fmla="*/ 0 h 298"/>
                  <a:gd name="T32" fmla="*/ 0 w 26"/>
                  <a:gd name="T33" fmla="*/ 0 h 298"/>
                  <a:gd name="T34" fmla="*/ 0 w 26"/>
                  <a:gd name="T35" fmla="*/ 0 h 298"/>
                  <a:gd name="T36" fmla="*/ 0 w 26"/>
                  <a:gd name="T37" fmla="*/ 0 h 29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298">
                    <a:moveTo>
                      <a:pt x="0" y="298"/>
                    </a:moveTo>
                    <a:lnTo>
                      <a:pt x="0" y="0"/>
                    </a:lnTo>
                    <a:lnTo>
                      <a:pt x="4" y="7"/>
                    </a:lnTo>
                    <a:lnTo>
                      <a:pt x="7" y="15"/>
                    </a:lnTo>
                    <a:lnTo>
                      <a:pt x="11" y="22"/>
                    </a:lnTo>
                    <a:lnTo>
                      <a:pt x="14" y="30"/>
                    </a:lnTo>
                    <a:lnTo>
                      <a:pt x="18" y="37"/>
                    </a:lnTo>
                    <a:lnTo>
                      <a:pt x="21" y="46"/>
                    </a:lnTo>
                    <a:lnTo>
                      <a:pt x="23" y="53"/>
                    </a:lnTo>
                    <a:lnTo>
                      <a:pt x="26" y="62"/>
                    </a:lnTo>
                    <a:lnTo>
                      <a:pt x="26" y="237"/>
                    </a:lnTo>
                    <a:lnTo>
                      <a:pt x="23" y="245"/>
                    </a:lnTo>
                    <a:lnTo>
                      <a:pt x="21" y="253"/>
                    </a:lnTo>
                    <a:lnTo>
                      <a:pt x="18" y="260"/>
                    </a:lnTo>
                    <a:lnTo>
                      <a:pt x="14" y="268"/>
                    </a:lnTo>
                    <a:lnTo>
                      <a:pt x="11" y="276"/>
                    </a:lnTo>
                    <a:lnTo>
                      <a:pt x="7" y="284"/>
                    </a:lnTo>
                    <a:lnTo>
                      <a:pt x="4" y="291"/>
                    </a:lnTo>
                    <a:lnTo>
                      <a:pt x="0" y="29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92" name="Freeform 1434"/>
              <p:cNvSpPr>
                <a:spLocks noChangeAspect="1"/>
              </p:cNvSpPr>
              <p:nvPr/>
            </p:nvSpPr>
            <p:spPr bwMode="auto">
              <a:xfrm>
                <a:off x="4499" y="1070"/>
                <a:ext cx="9" cy="81"/>
              </a:xfrm>
              <a:custGeom>
                <a:avLst/>
                <a:gdLst>
                  <a:gd name="T0" fmla="*/ 0 w 27"/>
                  <a:gd name="T1" fmla="*/ 0 h 245"/>
                  <a:gd name="T2" fmla="*/ 0 w 27"/>
                  <a:gd name="T3" fmla="*/ 0 h 245"/>
                  <a:gd name="T4" fmla="*/ 0 w 27"/>
                  <a:gd name="T5" fmla="*/ 0 h 245"/>
                  <a:gd name="T6" fmla="*/ 0 w 27"/>
                  <a:gd name="T7" fmla="*/ 0 h 245"/>
                  <a:gd name="T8" fmla="*/ 0 w 27"/>
                  <a:gd name="T9" fmla="*/ 0 h 245"/>
                  <a:gd name="T10" fmla="*/ 0 w 27"/>
                  <a:gd name="T11" fmla="*/ 0 h 245"/>
                  <a:gd name="T12" fmla="*/ 0 w 27"/>
                  <a:gd name="T13" fmla="*/ 0 h 245"/>
                  <a:gd name="T14" fmla="*/ 0 w 27"/>
                  <a:gd name="T15" fmla="*/ 0 h 245"/>
                  <a:gd name="T16" fmla="*/ 0 w 27"/>
                  <a:gd name="T17" fmla="*/ 0 h 245"/>
                  <a:gd name="T18" fmla="*/ 0 w 27"/>
                  <a:gd name="T19" fmla="*/ 0 h 245"/>
                  <a:gd name="T20" fmla="*/ 0 w 27"/>
                  <a:gd name="T21" fmla="*/ 0 h 245"/>
                  <a:gd name="T22" fmla="*/ 0 w 27"/>
                  <a:gd name="T23" fmla="*/ 0 h 245"/>
                  <a:gd name="T24" fmla="*/ 0 w 27"/>
                  <a:gd name="T25" fmla="*/ 0 h 245"/>
                  <a:gd name="T26" fmla="*/ 0 w 27"/>
                  <a:gd name="T27" fmla="*/ 0 h 245"/>
                  <a:gd name="T28" fmla="*/ 0 w 27"/>
                  <a:gd name="T29" fmla="*/ 0 h 245"/>
                  <a:gd name="T30" fmla="*/ 0 w 27"/>
                  <a:gd name="T31" fmla="*/ 0 h 245"/>
                  <a:gd name="T32" fmla="*/ 0 w 27"/>
                  <a:gd name="T33" fmla="*/ 0 h 245"/>
                  <a:gd name="T34" fmla="*/ 0 w 27"/>
                  <a:gd name="T35" fmla="*/ 0 h 24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7" h="245">
                    <a:moveTo>
                      <a:pt x="0" y="245"/>
                    </a:moveTo>
                    <a:lnTo>
                      <a:pt x="0" y="0"/>
                    </a:lnTo>
                    <a:lnTo>
                      <a:pt x="7" y="13"/>
                    </a:lnTo>
                    <a:lnTo>
                      <a:pt x="12" y="28"/>
                    </a:lnTo>
                    <a:lnTo>
                      <a:pt x="16" y="43"/>
                    </a:lnTo>
                    <a:lnTo>
                      <a:pt x="21" y="58"/>
                    </a:lnTo>
                    <a:lnTo>
                      <a:pt x="24" y="74"/>
                    </a:lnTo>
                    <a:lnTo>
                      <a:pt x="26" y="90"/>
                    </a:lnTo>
                    <a:lnTo>
                      <a:pt x="27" y="106"/>
                    </a:lnTo>
                    <a:lnTo>
                      <a:pt x="27" y="122"/>
                    </a:lnTo>
                    <a:lnTo>
                      <a:pt x="27" y="139"/>
                    </a:lnTo>
                    <a:lnTo>
                      <a:pt x="26" y="155"/>
                    </a:lnTo>
                    <a:lnTo>
                      <a:pt x="24" y="170"/>
                    </a:lnTo>
                    <a:lnTo>
                      <a:pt x="21" y="186"/>
                    </a:lnTo>
                    <a:lnTo>
                      <a:pt x="16" y="202"/>
                    </a:lnTo>
                    <a:lnTo>
                      <a:pt x="12" y="216"/>
                    </a:lnTo>
                    <a:lnTo>
                      <a:pt x="7" y="230"/>
                    </a:lnTo>
                    <a:lnTo>
                      <a:pt x="0" y="24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93" name="Freeform 1435"/>
              <p:cNvSpPr>
                <a:spLocks noChangeAspect="1"/>
              </p:cNvSpPr>
              <p:nvPr/>
            </p:nvSpPr>
            <p:spPr bwMode="auto">
              <a:xfrm>
                <a:off x="4504" y="1081"/>
                <a:ext cx="4" cy="59"/>
              </a:xfrm>
              <a:custGeom>
                <a:avLst/>
                <a:gdLst>
                  <a:gd name="T0" fmla="*/ 0 w 13"/>
                  <a:gd name="T1" fmla="*/ 0 h 175"/>
                  <a:gd name="T2" fmla="*/ 0 w 13"/>
                  <a:gd name="T3" fmla="*/ 0 h 175"/>
                  <a:gd name="T4" fmla="*/ 0 w 13"/>
                  <a:gd name="T5" fmla="*/ 0 h 175"/>
                  <a:gd name="T6" fmla="*/ 0 w 13"/>
                  <a:gd name="T7" fmla="*/ 0 h 175"/>
                  <a:gd name="T8" fmla="*/ 0 w 13"/>
                  <a:gd name="T9" fmla="*/ 0 h 175"/>
                  <a:gd name="T10" fmla="*/ 0 w 13"/>
                  <a:gd name="T11" fmla="*/ 0 h 175"/>
                  <a:gd name="T12" fmla="*/ 0 w 13"/>
                  <a:gd name="T13" fmla="*/ 0 h 175"/>
                  <a:gd name="T14" fmla="*/ 0 w 13"/>
                  <a:gd name="T15" fmla="*/ 0 h 175"/>
                  <a:gd name="T16" fmla="*/ 0 w 13"/>
                  <a:gd name="T17" fmla="*/ 0 h 175"/>
                  <a:gd name="T18" fmla="*/ 0 w 13"/>
                  <a:gd name="T19" fmla="*/ 0 h 175"/>
                  <a:gd name="T20" fmla="*/ 0 w 13"/>
                  <a:gd name="T21" fmla="*/ 0 h 175"/>
                  <a:gd name="T22" fmla="*/ 0 w 13"/>
                  <a:gd name="T23" fmla="*/ 0 h 175"/>
                  <a:gd name="T24" fmla="*/ 0 w 13"/>
                  <a:gd name="T25" fmla="*/ 0 h 175"/>
                  <a:gd name="T26" fmla="*/ 0 w 13"/>
                  <a:gd name="T27" fmla="*/ 0 h 175"/>
                  <a:gd name="T28" fmla="*/ 0 w 13"/>
                  <a:gd name="T29" fmla="*/ 0 h 175"/>
                  <a:gd name="T30" fmla="*/ 0 w 13"/>
                  <a:gd name="T31" fmla="*/ 0 h 175"/>
                  <a:gd name="T32" fmla="*/ 0 w 13"/>
                  <a:gd name="T33" fmla="*/ 0 h 175"/>
                  <a:gd name="T34" fmla="*/ 0 w 13"/>
                  <a:gd name="T35" fmla="*/ 0 h 1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3" h="175">
                    <a:moveTo>
                      <a:pt x="0" y="175"/>
                    </a:moveTo>
                    <a:lnTo>
                      <a:pt x="0" y="0"/>
                    </a:lnTo>
                    <a:lnTo>
                      <a:pt x="3" y="9"/>
                    </a:lnTo>
                    <a:lnTo>
                      <a:pt x="5" y="21"/>
                    </a:lnTo>
                    <a:lnTo>
                      <a:pt x="8" y="32"/>
                    </a:lnTo>
                    <a:lnTo>
                      <a:pt x="10" y="42"/>
                    </a:lnTo>
                    <a:lnTo>
                      <a:pt x="12" y="53"/>
                    </a:lnTo>
                    <a:lnTo>
                      <a:pt x="13" y="65"/>
                    </a:lnTo>
                    <a:lnTo>
                      <a:pt x="13" y="76"/>
                    </a:lnTo>
                    <a:lnTo>
                      <a:pt x="13" y="87"/>
                    </a:lnTo>
                    <a:lnTo>
                      <a:pt x="13" y="99"/>
                    </a:lnTo>
                    <a:lnTo>
                      <a:pt x="13" y="110"/>
                    </a:lnTo>
                    <a:lnTo>
                      <a:pt x="12" y="121"/>
                    </a:lnTo>
                    <a:lnTo>
                      <a:pt x="10" y="132"/>
                    </a:lnTo>
                    <a:lnTo>
                      <a:pt x="8" y="143"/>
                    </a:lnTo>
                    <a:lnTo>
                      <a:pt x="5" y="154"/>
                    </a:lnTo>
                    <a:lnTo>
                      <a:pt x="3" y="164"/>
                    </a:lnTo>
                    <a:lnTo>
                      <a:pt x="0" y="17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94" name="Freeform 1436"/>
              <p:cNvSpPr>
                <a:spLocks noChangeAspect="1"/>
              </p:cNvSpPr>
              <p:nvPr/>
            </p:nvSpPr>
            <p:spPr bwMode="auto">
              <a:xfrm>
                <a:off x="4287" y="1006"/>
                <a:ext cx="221" cy="209"/>
              </a:xfrm>
              <a:custGeom>
                <a:avLst/>
                <a:gdLst>
                  <a:gd name="T0" fmla="*/ 0 w 663"/>
                  <a:gd name="T1" fmla="*/ 0 h 629"/>
                  <a:gd name="T2" fmla="*/ 0 w 663"/>
                  <a:gd name="T3" fmla="*/ 0 h 629"/>
                  <a:gd name="T4" fmla="*/ 0 w 663"/>
                  <a:gd name="T5" fmla="*/ 0 h 629"/>
                  <a:gd name="T6" fmla="*/ 0 w 663"/>
                  <a:gd name="T7" fmla="*/ 0 h 629"/>
                  <a:gd name="T8" fmla="*/ 0 w 663"/>
                  <a:gd name="T9" fmla="*/ 0 h 629"/>
                  <a:gd name="T10" fmla="*/ 0 w 663"/>
                  <a:gd name="T11" fmla="*/ 0 h 629"/>
                  <a:gd name="T12" fmla="*/ 0 w 663"/>
                  <a:gd name="T13" fmla="*/ 0 h 629"/>
                  <a:gd name="T14" fmla="*/ 0 w 663"/>
                  <a:gd name="T15" fmla="*/ 0 h 629"/>
                  <a:gd name="T16" fmla="*/ 0 w 663"/>
                  <a:gd name="T17" fmla="*/ 0 h 629"/>
                  <a:gd name="T18" fmla="*/ 0 w 663"/>
                  <a:gd name="T19" fmla="*/ 0 h 629"/>
                  <a:gd name="T20" fmla="*/ 0 w 663"/>
                  <a:gd name="T21" fmla="*/ 0 h 629"/>
                  <a:gd name="T22" fmla="*/ 0 w 663"/>
                  <a:gd name="T23" fmla="*/ 0 h 629"/>
                  <a:gd name="T24" fmla="*/ 0 w 663"/>
                  <a:gd name="T25" fmla="*/ 0 h 629"/>
                  <a:gd name="T26" fmla="*/ 0 w 663"/>
                  <a:gd name="T27" fmla="*/ 0 h 629"/>
                  <a:gd name="T28" fmla="*/ 0 w 663"/>
                  <a:gd name="T29" fmla="*/ 0 h 629"/>
                  <a:gd name="T30" fmla="*/ 0 w 663"/>
                  <a:gd name="T31" fmla="*/ 0 h 629"/>
                  <a:gd name="T32" fmla="*/ 0 w 663"/>
                  <a:gd name="T33" fmla="*/ 0 h 629"/>
                  <a:gd name="T34" fmla="*/ 0 w 663"/>
                  <a:gd name="T35" fmla="*/ 0 h 629"/>
                  <a:gd name="T36" fmla="*/ 0 w 663"/>
                  <a:gd name="T37" fmla="*/ 0 h 629"/>
                  <a:gd name="T38" fmla="*/ 0 w 663"/>
                  <a:gd name="T39" fmla="*/ 0 h 629"/>
                  <a:gd name="T40" fmla="*/ 0 w 663"/>
                  <a:gd name="T41" fmla="*/ 0 h 629"/>
                  <a:gd name="T42" fmla="*/ 0 w 663"/>
                  <a:gd name="T43" fmla="*/ 0 h 629"/>
                  <a:gd name="T44" fmla="*/ 0 w 663"/>
                  <a:gd name="T45" fmla="*/ 0 h 629"/>
                  <a:gd name="T46" fmla="*/ 0 w 663"/>
                  <a:gd name="T47" fmla="*/ 0 h 629"/>
                  <a:gd name="T48" fmla="*/ 0 w 663"/>
                  <a:gd name="T49" fmla="*/ 0 h 629"/>
                  <a:gd name="T50" fmla="*/ 0 w 663"/>
                  <a:gd name="T51" fmla="*/ 0 h 629"/>
                  <a:gd name="T52" fmla="*/ 0 w 663"/>
                  <a:gd name="T53" fmla="*/ 0 h 629"/>
                  <a:gd name="T54" fmla="*/ 0 w 663"/>
                  <a:gd name="T55" fmla="*/ 0 h 629"/>
                  <a:gd name="T56" fmla="*/ 0 w 663"/>
                  <a:gd name="T57" fmla="*/ 0 h 629"/>
                  <a:gd name="T58" fmla="*/ 0 w 663"/>
                  <a:gd name="T59" fmla="*/ 0 h 629"/>
                  <a:gd name="T60" fmla="*/ 0 w 663"/>
                  <a:gd name="T61" fmla="*/ 0 h 629"/>
                  <a:gd name="T62" fmla="*/ 0 w 663"/>
                  <a:gd name="T63" fmla="*/ 0 h 629"/>
                  <a:gd name="T64" fmla="*/ 0 w 663"/>
                  <a:gd name="T65" fmla="*/ 0 h 629"/>
                  <a:gd name="T66" fmla="*/ 0 w 663"/>
                  <a:gd name="T67" fmla="*/ 0 h 629"/>
                  <a:gd name="T68" fmla="*/ 0 w 663"/>
                  <a:gd name="T69" fmla="*/ 0 h 629"/>
                  <a:gd name="T70" fmla="*/ 0 w 663"/>
                  <a:gd name="T71" fmla="*/ 0 h 629"/>
                  <a:gd name="T72" fmla="*/ 0 w 663"/>
                  <a:gd name="T73" fmla="*/ 0 h 629"/>
                  <a:gd name="T74" fmla="*/ 0 w 663"/>
                  <a:gd name="T75" fmla="*/ 0 h 629"/>
                  <a:gd name="T76" fmla="*/ 0 w 663"/>
                  <a:gd name="T77" fmla="*/ 0 h 629"/>
                  <a:gd name="T78" fmla="*/ 0 w 663"/>
                  <a:gd name="T79" fmla="*/ 0 h 629"/>
                  <a:gd name="T80" fmla="*/ 0 w 663"/>
                  <a:gd name="T81" fmla="*/ 0 h 629"/>
                  <a:gd name="T82" fmla="*/ 0 w 663"/>
                  <a:gd name="T83" fmla="*/ 0 h 629"/>
                  <a:gd name="T84" fmla="*/ 0 w 663"/>
                  <a:gd name="T85" fmla="*/ 0 h 6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63" h="629">
                    <a:moveTo>
                      <a:pt x="331" y="629"/>
                    </a:moveTo>
                    <a:lnTo>
                      <a:pt x="348" y="629"/>
                    </a:lnTo>
                    <a:lnTo>
                      <a:pt x="365" y="626"/>
                    </a:lnTo>
                    <a:lnTo>
                      <a:pt x="382" y="624"/>
                    </a:lnTo>
                    <a:lnTo>
                      <a:pt x="398" y="622"/>
                    </a:lnTo>
                    <a:lnTo>
                      <a:pt x="414" y="619"/>
                    </a:lnTo>
                    <a:lnTo>
                      <a:pt x="430" y="615"/>
                    </a:lnTo>
                    <a:lnTo>
                      <a:pt x="446" y="609"/>
                    </a:lnTo>
                    <a:lnTo>
                      <a:pt x="461" y="604"/>
                    </a:lnTo>
                    <a:lnTo>
                      <a:pt x="475" y="598"/>
                    </a:lnTo>
                    <a:lnTo>
                      <a:pt x="489" y="590"/>
                    </a:lnTo>
                    <a:lnTo>
                      <a:pt x="503" y="583"/>
                    </a:lnTo>
                    <a:lnTo>
                      <a:pt x="517" y="574"/>
                    </a:lnTo>
                    <a:lnTo>
                      <a:pt x="530" y="566"/>
                    </a:lnTo>
                    <a:lnTo>
                      <a:pt x="543" y="556"/>
                    </a:lnTo>
                    <a:lnTo>
                      <a:pt x="554" y="547"/>
                    </a:lnTo>
                    <a:lnTo>
                      <a:pt x="566" y="536"/>
                    </a:lnTo>
                    <a:lnTo>
                      <a:pt x="577" y="525"/>
                    </a:lnTo>
                    <a:lnTo>
                      <a:pt x="587" y="514"/>
                    </a:lnTo>
                    <a:lnTo>
                      <a:pt x="597" y="502"/>
                    </a:lnTo>
                    <a:lnTo>
                      <a:pt x="607" y="489"/>
                    </a:lnTo>
                    <a:lnTo>
                      <a:pt x="615" y="477"/>
                    </a:lnTo>
                    <a:lnTo>
                      <a:pt x="624" y="464"/>
                    </a:lnTo>
                    <a:lnTo>
                      <a:pt x="630" y="450"/>
                    </a:lnTo>
                    <a:lnTo>
                      <a:pt x="637" y="436"/>
                    </a:lnTo>
                    <a:lnTo>
                      <a:pt x="643" y="422"/>
                    </a:lnTo>
                    <a:lnTo>
                      <a:pt x="648" y="407"/>
                    </a:lnTo>
                    <a:lnTo>
                      <a:pt x="652" y="393"/>
                    </a:lnTo>
                    <a:lnTo>
                      <a:pt x="657" y="378"/>
                    </a:lnTo>
                    <a:lnTo>
                      <a:pt x="660" y="362"/>
                    </a:lnTo>
                    <a:lnTo>
                      <a:pt x="662" y="346"/>
                    </a:lnTo>
                    <a:lnTo>
                      <a:pt x="663" y="330"/>
                    </a:lnTo>
                    <a:lnTo>
                      <a:pt x="663" y="314"/>
                    </a:lnTo>
                    <a:lnTo>
                      <a:pt x="663" y="298"/>
                    </a:lnTo>
                    <a:lnTo>
                      <a:pt x="662" y="282"/>
                    </a:lnTo>
                    <a:lnTo>
                      <a:pt x="660" y="266"/>
                    </a:lnTo>
                    <a:lnTo>
                      <a:pt x="657" y="251"/>
                    </a:lnTo>
                    <a:lnTo>
                      <a:pt x="652" y="235"/>
                    </a:lnTo>
                    <a:lnTo>
                      <a:pt x="648" y="220"/>
                    </a:lnTo>
                    <a:lnTo>
                      <a:pt x="643" y="206"/>
                    </a:lnTo>
                    <a:lnTo>
                      <a:pt x="637" y="192"/>
                    </a:lnTo>
                    <a:lnTo>
                      <a:pt x="630" y="178"/>
                    </a:lnTo>
                    <a:lnTo>
                      <a:pt x="624" y="165"/>
                    </a:lnTo>
                    <a:lnTo>
                      <a:pt x="615" y="151"/>
                    </a:lnTo>
                    <a:lnTo>
                      <a:pt x="607" y="138"/>
                    </a:lnTo>
                    <a:lnTo>
                      <a:pt x="597" y="127"/>
                    </a:lnTo>
                    <a:lnTo>
                      <a:pt x="587" y="114"/>
                    </a:lnTo>
                    <a:lnTo>
                      <a:pt x="577" y="103"/>
                    </a:lnTo>
                    <a:lnTo>
                      <a:pt x="566" y="92"/>
                    </a:lnTo>
                    <a:lnTo>
                      <a:pt x="554" y="82"/>
                    </a:lnTo>
                    <a:lnTo>
                      <a:pt x="543" y="71"/>
                    </a:lnTo>
                    <a:lnTo>
                      <a:pt x="530" y="62"/>
                    </a:lnTo>
                    <a:lnTo>
                      <a:pt x="517" y="53"/>
                    </a:lnTo>
                    <a:lnTo>
                      <a:pt x="503" y="45"/>
                    </a:lnTo>
                    <a:lnTo>
                      <a:pt x="489" y="37"/>
                    </a:lnTo>
                    <a:lnTo>
                      <a:pt x="475" y="31"/>
                    </a:lnTo>
                    <a:lnTo>
                      <a:pt x="461" y="25"/>
                    </a:lnTo>
                    <a:lnTo>
                      <a:pt x="446" y="19"/>
                    </a:lnTo>
                    <a:lnTo>
                      <a:pt x="430" y="14"/>
                    </a:lnTo>
                    <a:lnTo>
                      <a:pt x="414" y="10"/>
                    </a:lnTo>
                    <a:lnTo>
                      <a:pt x="398" y="7"/>
                    </a:lnTo>
                    <a:lnTo>
                      <a:pt x="382" y="3"/>
                    </a:lnTo>
                    <a:lnTo>
                      <a:pt x="365" y="1"/>
                    </a:lnTo>
                    <a:lnTo>
                      <a:pt x="348" y="0"/>
                    </a:lnTo>
                    <a:lnTo>
                      <a:pt x="331" y="0"/>
                    </a:lnTo>
                    <a:lnTo>
                      <a:pt x="314" y="0"/>
                    </a:lnTo>
                    <a:lnTo>
                      <a:pt x="298" y="1"/>
                    </a:lnTo>
                    <a:lnTo>
                      <a:pt x="281" y="3"/>
                    </a:lnTo>
                    <a:lnTo>
                      <a:pt x="265" y="7"/>
                    </a:lnTo>
                    <a:lnTo>
                      <a:pt x="249" y="10"/>
                    </a:lnTo>
                    <a:lnTo>
                      <a:pt x="233" y="14"/>
                    </a:lnTo>
                    <a:lnTo>
                      <a:pt x="217" y="19"/>
                    </a:lnTo>
                    <a:lnTo>
                      <a:pt x="202" y="25"/>
                    </a:lnTo>
                    <a:lnTo>
                      <a:pt x="187" y="31"/>
                    </a:lnTo>
                    <a:lnTo>
                      <a:pt x="173" y="37"/>
                    </a:lnTo>
                    <a:lnTo>
                      <a:pt x="160" y="45"/>
                    </a:lnTo>
                    <a:lnTo>
                      <a:pt x="146" y="53"/>
                    </a:lnTo>
                    <a:lnTo>
                      <a:pt x="133" y="62"/>
                    </a:lnTo>
                    <a:lnTo>
                      <a:pt x="120" y="71"/>
                    </a:lnTo>
                    <a:lnTo>
                      <a:pt x="108" y="82"/>
                    </a:lnTo>
                    <a:lnTo>
                      <a:pt x="97" y="92"/>
                    </a:lnTo>
                    <a:lnTo>
                      <a:pt x="86" y="103"/>
                    </a:lnTo>
                    <a:lnTo>
                      <a:pt x="75" y="114"/>
                    </a:lnTo>
                    <a:lnTo>
                      <a:pt x="66" y="127"/>
                    </a:lnTo>
                    <a:lnTo>
                      <a:pt x="56" y="138"/>
                    </a:lnTo>
                    <a:lnTo>
                      <a:pt x="48" y="151"/>
                    </a:lnTo>
                    <a:lnTo>
                      <a:pt x="39" y="165"/>
                    </a:lnTo>
                    <a:lnTo>
                      <a:pt x="32" y="178"/>
                    </a:lnTo>
                    <a:lnTo>
                      <a:pt x="25" y="192"/>
                    </a:lnTo>
                    <a:lnTo>
                      <a:pt x="20" y="206"/>
                    </a:lnTo>
                    <a:lnTo>
                      <a:pt x="15" y="220"/>
                    </a:lnTo>
                    <a:lnTo>
                      <a:pt x="9" y="235"/>
                    </a:lnTo>
                    <a:lnTo>
                      <a:pt x="6" y="251"/>
                    </a:lnTo>
                    <a:lnTo>
                      <a:pt x="3" y="266"/>
                    </a:lnTo>
                    <a:lnTo>
                      <a:pt x="1" y="282"/>
                    </a:lnTo>
                    <a:lnTo>
                      <a:pt x="0" y="298"/>
                    </a:lnTo>
                    <a:lnTo>
                      <a:pt x="0" y="314"/>
                    </a:lnTo>
                    <a:lnTo>
                      <a:pt x="0" y="330"/>
                    </a:lnTo>
                    <a:lnTo>
                      <a:pt x="1" y="346"/>
                    </a:lnTo>
                    <a:lnTo>
                      <a:pt x="3" y="362"/>
                    </a:lnTo>
                    <a:lnTo>
                      <a:pt x="6" y="378"/>
                    </a:lnTo>
                    <a:lnTo>
                      <a:pt x="9" y="393"/>
                    </a:lnTo>
                    <a:lnTo>
                      <a:pt x="15" y="407"/>
                    </a:lnTo>
                    <a:lnTo>
                      <a:pt x="20" y="422"/>
                    </a:lnTo>
                    <a:lnTo>
                      <a:pt x="25" y="436"/>
                    </a:lnTo>
                    <a:lnTo>
                      <a:pt x="32" y="450"/>
                    </a:lnTo>
                    <a:lnTo>
                      <a:pt x="39" y="464"/>
                    </a:lnTo>
                    <a:lnTo>
                      <a:pt x="48" y="477"/>
                    </a:lnTo>
                    <a:lnTo>
                      <a:pt x="56" y="489"/>
                    </a:lnTo>
                    <a:lnTo>
                      <a:pt x="66" y="502"/>
                    </a:lnTo>
                    <a:lnTo>
                      <a:pt x="75" y="514"/>
                    </a:lnTo>
                    <a:lnTo>
                      <a:pt x="86" y="525"/>
                    </a:lnTo>
                    <a:lnTo>
                      <a:pt x="97" y="536"/>
                    </a:lnTo>
                    <a:lnTo>
                      <a:pt x="108" y="547"/>
                    </a:lnTo>
                    <a:lnTo>
                      <a:pt x="120" y="556"/>
                    </a:lnTo>
                    <a:lnTo>
                      <a:pt x="133" y="566"/>
                    </a:lnTo>
                    <a:lnTo>
                      <a:pt x="146" y="574"/>
                    </a:lnTo>
                    <a:lnTo>
                      <a:pt x="160" y="583"/>
                    </a:lnTo>
                    <a:lnTo>
                      <a:pt x="173" y="590"/>
                    </a:lnTo>
                    <a:lnTo>
                      <a:pt x="187" y="598"/>
                    </a:lnTo>
                    <a:lnTo>
                      <a:pt x="202" y="604"/>
                    </a:lnTo>
                    <a:lnTo>
                      <a:pt x="217" y="609"/>
                    </a:lnTo>
                    <a:lnTo>
                      <a:pt x="233" y="615"/>
                    </a:lnTo>
                    <a:lnTo>
                      <a:pt x="249" y="619"/>
                    </a:lnTo>
                    <a:lnTo>
                      <a:pt x="265" y="622"/>
                    </a:lnTo>
                    <a:lnTo>
                      <a:pt x="281" y="624"/>
                    </a:lnTo>
                    <a:lnTo>
                      <a:pt x="298" y="626"/>
                    </a:lnTo>
                    <a:lnTo>
                      <a:pt x="314" y="629"/>
                    </a:lnTo>
                    <a:lnTo>
                      <a:pt x="331" y="629"/>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sp>
            <p:nvSpPr>
              <p:cNvPr id="389895" name="Freeform 1437"/>
              <p:cNvSpPr>
                <a:spLocks noChangeAspect="1"/>
              </p:cNvSpPr>
              <p:nvPr/>
            </p:nvSpPr>
            <p:spPr bwMode="auto">
              <a:xfrm>
                <a:off x="4212" y="1123"/>
                <a:ext cx="14" cy="14"/>
              </a:xfrm>
              <a:custGeom>
                <a:avLst/>
                <a:gdLst>
                  <a:gd name="T0" fmla="*/ 0 w 42"/>
                  <a:gd name="T1" fmla="*/ 0 h 42"/>
                  <a:gd name="T2" fmla="*/ 0 w 42"/>
                  <a:gd name="T3" fmla="*/ 0 h 42"/>
                  <a:gd name="T4" fmla="*/ 0 w 42"/>
                  <a:gd name="T5" fmla="*/ 0 h 42"/>
                  <a:gd name="T6" fmla="*/ 0 w 42"/>
                  <a:gd name="T7" fmla="*/ 0 h 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2" h="42">
                    <a:moveTo>
                      <a:pt x="42" y="0"/>
                    </a:moveTo>
                    <a:lnTo>
                      <a:pt x="0" y="42"/>
                    </a:lnTo>
                    <a:lnTo>
                      <a:pt x="0" y="0"/>
                    </a:lnTo>
                    <a:lnTo>
                      <a:pt x="42"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96" name="Freeform 1438"/>
              <p:cNvSpPr>
                <a:spLocks noChangeAspect="1"/>
              </p:cNvSpPr>
              <p:nvPr/>
            </p:nvSpPr>
            <p:spPr bwMode="auto">
              <a:xfrm>
                <a:off x="4212" y="1123"/>
                <a:ext cx="24" cy="23"/>
              </a:xfrm>
              <a:custGeom>
                <a:avLst/>
                <a:gdLst>
                  <a:gd name="T0" fmla="*/ 0 w 72"/>
                  <a:gd name="T1" fmla="*/ 0 h 70"/>
                  <a:gd name="T2" fmla="*/ 0 w 72"/>
                  <a:gd name="T3" fmla="*/ 0 h 70"/>
                  <a:gd name="T4" fmla="*/ 0 w 72"/>
                  <a:gd name="T5" fmla="*/ 0 h 70"/>
                  <a:gd name="T6" fmla="*/ 0 w 72"/>
                  <a:gd name="T7" fmla="*/ 0 h 70"/>
                  <a:gd name="T8" fmla="*/ 0 w 72"/>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 h="70">
                    <a:moveTo>
                      <a:pt x="0" y="12"/>
                    </a:moveTo>
                    <a:lnTo>
                      <a:pt x="12" y="0"/>
                    </a:lnTo>
                    <a:lnTo>
                      <a:pt x="72" y="0"/>
                    </a:lnTo>
                    <a:lnTo>
                      <a:pt x="0" y="70"/>
                    </a:lnTo>
                    <a:lnTo>
                      <a:pt x="0" y="1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97" name="Freeform 1439"/>
              <p:cNvSpPr>
                <a:spLocks noChangeAspect="1"/>
              </p:cNvSpPr>
              <p:nvPr/>
            </p:nvSpPr>
            <p:spPr bwMode="auto">
              <a:xfrm>
                <a:off x="4212" y="1123"/>
                <a:ext cx="34" cy="33"/>
              </a:xfrm>
              <a:custGeom>
                <a:avLst/>
                <a:gdLst>
                  <a:gd name="T0" fmla="*/ 0 w 100"/>
                  <a:gd name="T1" fmla="*/ 0 h 100"/>
                  <a:gd name="T2" fmla="*/ 0 w 100"/>
                  <a:gd name="T3" fmla="*/ 0 h 100"/>
                  <a:gd name="T4" fmla="*/ 0 w 100"/>
                  <a:gd name="T5" fmla="*/ 0 h 100"/>
                  <a:gd name="T6" fmla="*/ 0 w 100"/>
                  <a:gd name="T7" fmla="*/ 0 h 100"/>
                  <a:gd name="T8" fmla="*/ 0 w 100"/>
                  <a:gd name="T9" fmla="*/ 0 h 100"/>
                  <a:gd name="T10" fmla="*/ 0 w 100"/>
                  <a:gd name="T11" fmla="*/ 0 h 1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100">
                    <a:moveTo>
                      <a:pt x="0" y="42"/>
                    </a:moveTo>
                    <a:lnTo>
                      <a:pt x="42" y="0"/>
                    </a:lnTo>
                    <a:lnTo>
                      <a:pt x="95" y="0"/>
                    </a:lnTo>
                    <a:lnTo>
                      <a:pt x="100" y="0"/>
                    </a:lnTo>
                    <a:lnTo>
                      <a:pt x="0" y="100"/>
                    </a:lnTo>
                    <a:lnTo>
                      <a:pt x="0" y="4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98" name="Freeform 1440"/>
              <p:cNvSpPr>
                <a:spLocks noChangeAspect="1"/>
              </p:cNvSpPr>
              <p:nvPr/>
            </p:nvSpPr>
            <p:spPr bwMode="auto">
              <a:xfrm>
                <a:off x="4212" y="1123"/>
                <a:ext cx="44" cy="43"/>
              </a:xfrm>
              <a:custGeom>
                <a:avLst/>
                <a:gdLst>
                  <a:gd name="T0" fmla="*/ 0 w 130"/>
                  <a:gd name="T1" fmla="*/ 0 h 130"/>
                  <a:gd name="T2" fmla="*/ 0 w 130"/>
                  <a:gd name="T3" fmla="*/ 0 h 130"/>
                  <a:gd name="T4" fmla="*/ 0 w 130"/>
                  <a:gd name="T5" fmla="*/ 0 h 130"/>
                  <a:gd name="T6" fmla="*/ 0 w 130"/>
                  <a:gd name="T7" fmla="*/ 0 h 130"/>
                  <a:gd name="T8" fmla="*/ 0 w 130"/>
                  <a:gd name="T9" fmla="*/ 0 h 130"/>
                  <a:gd name="T10" fmla="*/ 0 w 130"/>
                  <a:gd name="T11" fmla="*/ 0 h 1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0" h="130">
                    <a:moveTo>
                      <a:pt x="0" y="70"/>
                    </a:moveTo>
                    <a:lnTo>
                      <a:pt x="72" y="0"/>
                    </a:lnTo>
                    <a:lnTo>
                      <a:pt x="95" y="0"/>
                    </a:lnTo>
                    <a:lnTo>
                      <a:pt x="130" y="0"/>
                    </a:lnTo>
                    <a:lnTo>
                      <a:pt x="0" y="130"/>
                    </a:lnTo>
                    <a:lnTo>
                      <a:pt x="0" y="7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99" name="Freeform 1441"/>
              <p:cNvSpPr>
                <a:spLocks noChangeAspect="1"/>
              </p:cNvSpPr>
              <p:nvPr/>
            </p:nvSpPr>
            <p:spPr bwMode="auto">
              <a:xfrm>
                <a:off x="4212" y="1123"/>
                <a:ext cx="54" cy="53"/>
              </a:xfrm>
              <a:custGeom>
                <a:avLst/>
                <a:gdLst>
                  <a:gd name="T0" fmla="*/ 0 w 160"/>
                  <a:gd name="T1" fmla="*/ 0 h 160"/>
                  <a:gd name="T2" fmla="*/ 0 w 160"/>
                  <a:gd name="T3" fmla="*/ 0 h 160"/>
                  <a:gd name="T4" fmla="*/ 0 w 160"/>
                  <a:gd name="T5" fmla="*/ 0 h 160"/>
                  <a:gd name="T6" fmla="*/ 0 w 160"/>
                  <a:gd name="T7" fmla="*/ 0 h 160"/>
                  <a:gd name="T8" fmla="*/ 0 w 160"/>
                  <a:gd name="T9" fmla="*/ 0 h 1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0" h="160">
                    <a:moveTo>
                      <a:pt x="0" y="100"/>
                    </a:moveTo>
                    <a:lnTo>
                      <a:pt x="100" y="0"/>
                    </a:lnTo>
                    <a:lnTo>
                      <a:pt x="160" y="0"/>
                    </a:lnTo>
                    <a:lnTo>
                      <a:pt x="0" y="160"/>
                    </a:lnTo>
                    <a:lnTo>
                      <a:pt x="0" y="1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00" name="Freeform 1442"/>
              <p:cNvSpPr>
                <a:spLocks noChangeAspect="1"/>
              </p:cNvSpPr>
              <p:nvPr/>
            </p:nvSpPr>
            <p:spPr bwMode="auto">
              <a:xfrm>
                <a:off x="4212" y="1123"/>
                <a:ext cx="64" cy="63"/>
              </a:xfrm>
              <a:custGeom>
                <a:avLst/>
                <a:gdLst>
                  <a:gd name="T0" fmla="*/ 0 w 190"/>
                  <a:gd name="T1" fmla="*/ 0 h 189"/>
                  <a:gd name="T2" fmla="*/ 0 w 190"/>
                  <a:gd name="T3" fmla="*/ 0 h 189"/>
                  <a:gd name="T4" fmla="*/ 0 w 190"/>
                  <a:gd name="T5" fmla="*/ 0 h 189"/>
                  <a:gd name="T6" fmla="*/ 0 w 190"/>
                  <a:gd name="T7" fmla="*/ 0 h 189"/>
                  <a:gd name="T8" fmla="*/ 0 w 190"/>
                  <a:gd name="T9" fmla="*/ 0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0" h="189">
                    <a:moveTo>
                      <a:pt x="0" y="130"/>
                    </a:moveTo>
                    <a:lnTo>
                      <a:pt x="130" y="0"/>
                    </a:lnTo>
                    <a:lnTo>
                      <a:pt x="190" y="0"/>
                    </a:lnTo>
                    <a:lnTo>
                      <a:pt x="0" y="189"/>
                    </a:lnTo>
                    <a:lnTo>
                      <a:pt x="0" y="13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01" name="Freeform 1443"/>
              <p:cNvSpPr>
                <a:spLocks noChangeAspect="1"/>
              </p:cNvSpPr>
              <p:nvPr/>
            </p:nvSpPr>
            <p:spPr bwMode="auto">
              <a:xfrm>
                <a:off x="4212" y="1123"/>
                <a:ext cx="74" cy="73"/>
              </a:xfrm>
              <a:custGeom>
                <a:avLst/>
                <a:gdLst>
                  <a:gd name="T0" fmla="*/ 0 w 220"/>
                  <a:gd name="T1" fmla="*/ 0 h 218"/>
                  <a:gd name="T2" fmla="*/ 0 w 220"/>
                  <a:gd name="T3" fmla="*/ 0 h 218"/>
                  <a:gd name="T4" fmla="*/ 0 w 220"/>
                  <a:gd name="T5" fmla="*/ 0 h 218"/>
                  <a:gd name="T6" fmla="*/ 0 w 220"/>
                  <a:gd name="T7" fmla="*/ 0 h 218"/>
                  <a:gd name="T8" fmla="*/ 0 w 220"/>
                  <a:gd name="T9" fmla="*/ 0 h 2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0" h="218">
                    <a:moveTo>
                      <a:pt x="0" y="160"/>
                    </a:moveTo>
                    <a:lnTo>
                      <a:pt x="160" y="0"/>
                    </a:lnTo>
                    <a:lnTo>
                      <a:pt x="220" y="0"/>
                    </a:lnTo>
                    <a:lnTo>
                      <a:pt x="0" y="218"/>
                    </a:lnTo>
                    <a:lnTo>
                      <a:pt x="0" y="16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02" name="Freeform 1444"/>
              <p:cNvSpPr>
                <a:spLocks noChangeAspect="1"/>
              </p:cNvSpPr>
              <p:nvPr/>
            </p:nvSpPr>
            <p:spPr bwMode="auto">
              <a:xfrm>
                <a:off x="4212" y="1123"/>
                <a:ext cx="83" cy="83"/>
              </a:xfrm>
              <a:custGeom>
                <a:avLst/>
                <a:gdLst>
                  <a:gd name="T0" fmla="*/ 0 w 248"/>
                  <a:gd name="T1" fmla="*/ 0 h 248"/>
                  <a:gd name="T2" fmla="*/ 0 w 248"/>
                  <a:gd name="T3" fmla="*/ 0 h 248"/>
                  <a:gd name="T4" fmla="*/ 0 w 248"/>
                  <a:gd name="T5" fmla="*/ 0 h 248"/>
                  <a:gd name="T6" fmla="*/ 0 w 248"/>
                  <a:gd name="T7" fmla="*/ 0 h 248"/>
                  <a:gd name="T8" fmla="*/ 0 w 248"/>
                  <a:gd name="T9" fmla="*/ 0 h 2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8" h="248">
                    <a:moveTo>
                      <a:pt x="0" y="189"/>
                    </a:moveTo>
                    <a:lnTo>
                      <a:pt x="190" y="0"/>
                    </a:lnTo>
                    <a:lnTo>
                      <a:pt x="248" y="0"/>
                    </a:lnTo>
                    <a:lnTo>
                      <a:pt x="0" y="248"/>
                    </a:lnTo>
                    <a:lnTo>
                      <a:pt x="0" y="1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03" name="Freeform 1445"/>
              <p:cNvSpPr>
                <a:spLocks noChangeAspect="1"/>
              </p:cNvSpPr>
              <p:nvPr/>
            </p:nvSpPr>
            <p:spPr bwMode="auto">
              <a:xfrm>
                <a:off x="4212" y="1123"/>
                <a:ext cx="93" cy="93"/>
              </a:xfrm>
              <a:custGeom>
                <a:avLst/>
                <a:gdLst>
                  <a:gd name="T0" fmla="*/ 0 w 278"/>
                  <a:gd name="T1" fmla="*/ 0 h 278"/>
                  <a:gd name="T2" fmla="*/ 0 w 278"/>
                  <a:gd name="T3" fmla="*/ 0 h 278"/>
                  <a:gd name="T4" fmla="*/ 0 w 278"/>
                  <a:gd name="T5" fmla="*/ 0 h 278"/>
                  <a:gd name="T6" fmla="*/ 0 w 278"/>
                  <a:gd name="T7" fmla="*/ 0 h 278"/>
                  <a:gd name="T8" fmla="*/ 0 w 278"/>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8" h="278">
                    <a:moveTo>
                      <a:pt x="0" y="218"/>
                    </a:moveTo>
                    <a:lnTo>
                      <a:pt x="220" y="0"/>
                    </a:lnTo>
                    <a:lnTo>
                      <a:pt x="278" y="0"/>
                    </a:lnTo>
                    <a:lnTo>
                      <a:pt x="0" y="278"/>
                    </a:lnTo>
                    <a:lnTo>
                      <a:pt x="0" y="21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04" name="Freeform 1446"/>
              <p:cNvSpPr>
                <a:spLocks noChangeAspect="1"/>
              </p:cNvSpPr>
              <p:nvPr/>
            </p:nvSpPr>
            <p:spPr bwMode="auto">
              <a:xfrm>
                <a:off x="4212" y="1123"/>
                <a:ext cx="103" cy="102"/>
              </a:xfrm>
              <a:custGeom>
                <a:avLst/>
                <a:gdLst>
                  <a:gd name="T0" fmla="*/ 0 w 308"/>
                  <a:gd name="T1" fmla="*/ 0 h 307"/>
                  <a:gd name="T2" fmla="*/ 0 w 308"/>
                  <a:gd name="T3" fmla="*/ 0 h 307"/>
                  <a:gd name="T4" fmla="*/ 0 w 308"/>
                  <a:gd name="T5" fmla="*/ 0 h 307"/>
                  <a:gd name="T6" fmla="*/ 0 w 308"/>
                  <a:gd name="T7" fmla="*/ 0 h 307"/>
                  <a:gd name="T8" fmla="*/ 0 w 308"/>
                  <a:gd name="T9" fmla="*/ 0 h 3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307">
                    <a:moveTo>
                      <a:pt x="0" y="248"/>
                    </a:moveTo>
                    <a:lnTo>
                      <a:pt x="248" y="0"/>
                    </a:lnTo>
                    <a:lnTo>
                      <a:pt x="308" y="0"/>
                    </a:lnTo>
                    <a:lnTo>
                      <a:pt x="0" y="307"/>
                    </a:lnTo>
                    <a:lnTo>
                      <a:pt x="0" y="2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05" name="Freeform 1447"/>
              <p:cNvSpPr>
                <a:spLocks noChangeAspect="1"/>
              </p:cNvSpPr>
              <p:nvPr/>
            </p:nvSpPr>
            <p:spPr bwMode="auto">
              <a:xfrm>
                <a:off x="4212" y="1123"/>
                <a:ext cx="113" cy="105"/>
              </a:xfrm>
              <a:custGeom>
                <a:avLst/>
                <a:gdLst>
                  <a:gd name="T0" fmla="*/ 0 w 338"/>
                  <a:gd name="T1" fmla="*/ 0 h 315"/>
                  <a:gd name="T2" fmla="*/ 0 w 338"/>
                  <a:gd name="T3" fmla="*/ 0 h 315"/>
                  <a:gd name="T4" fmla="*/ 0 w 338"/>
                  <a:gd name="T5" fmla="*/ 0 h 315"/>
                  <a:gd name="T6" fmla="*/ 0 w 338"/>
                  <a:gd name="T7" fmla="*/ 0 h 315"/>
                  <a:gd name="T8" fmla="*/ 0 w 338"/>
                  <a:gd name="T9" fmla="*/ 0 h 315"/>
                  <a:gd name="T10" fmla="*/ 0 w 338"/>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8" h="315">
                    <a:moveTo>
                      <a:pt x="0" y="278"/>
                    </a:moveTo>
                    <a:lnTo>
                      <a:pt x="278" y="0"/>
                    </a:lnTo>
                    <a:lnTo>
                      <a:pt x="338" y="0"/>
                    </a:lnTo>
                    <a:lnTo>
                      <a:pt x="23" y="315"/>
                    </a:lnTo>
                    <a:lnTo>
                      <a:pt x="0" y="315"/>
                    </a:lnTo>
                    <a:lnTo>
                      <a:pt x="0" y="27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06" name="Freeform 1448"/>
              <p:cNvSpPr>
                <a:spLocks noChangeAspect="1"/>
              </p:cNvSpPr>
              <p:nvPr/>
            </p:nvSpPr>
            <p:spPr bwMode="auto">
              <a:xfrm>
                <a:off x="4212" y="1123"/>
                <a:ext cx="123" cy="105"/>
              </a:xfrm>
              <a:custGeom>
                <a:avLst/>
                <a:gdLst>
                  <a:gd name="T0" fmla="*/ 0 w 368"/>
                  <a:gd name="T1" fmla="*/ 0 h 315"/>
                  <a:gd name="T2" fmla="*/ 0 w 368"/>
                  <a:gd name="T3" fmla="*/ 0 h 315"/>
                  <a:gd name="T4" fmla="*/ 0 w 368"/>
                  <a:gd name="T5" fmla="*/ 0 h 315"/>
                  <a:gd name="T6" fmla="*/ 0 w 368"/>
                  <a:gd name="T7" fmla="*/ 0 h 315"/>
                  <a:gd name="T8" fmla="*/ 0 w 368"/>
                  <a:gd name="T9" fmla="*/ 0 h 315"/>
                  <a:gd name="T10" fmla="*/ 0 w 368"/>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68" h="315">
                    <a:moveTo>
                      <a:pt x="0" y="307"/>
                    </a:moveTo>
                    <a:lnTo>
                      <a:pt x="308" y="0"/>
                    </a:lnTo>
                    <a:lnTo>
                      <a:pt x="368" y="0"/>
                    </a:lnTo>
                    <a:lnTo>
                      <a:pt x="53" y="315"/>
                    </a:lnTo>
                    <a:lnTo>
                      <a:pt x="0" y="315"/>
                    </a:lnTo>
                    <a:lnTo>
                      <a:pt x="0" y="3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07" name="Freeform 1449"/>
              <p:cNvSpPr>
                <a:spLocks noChangeAspect="1"/>
              </p:cNvSpPr>
              <p:nvPr/>
            </p:nvSpPr>
            <p:spPr bwMode="auto">
              <a:xfrm>
                <a:off x="4220" y="1123"/>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5" y="0"/>
                    </a:lnTo>
                    <a:lnTo>
                      <a:pt x="373"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08" name="Freeform 1450"/>
              <p:cNvSpPr>
                <a:spLocks noChangeAspect="1"/>
              </p:cNvSpPr>
              <p:nvPr/>
            </p:nvSpPr>
            <p:spPr bwMode="auto">
              <a:xfrm>
                <a:off x="4230" y="1123"/>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5" y="0"/>
                    </a:lnTo>
                    <a:lnTo>
                      <a:pt x="373"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09" name="Freeform 1451"/>
              <p:cNvSpPr>
                <a:spLocks noChangeAspect="1"/>
              </p:cNvSpPr>
              <p:nvPr/>
            </p:nvSpPr>
            <p:spPr bwMode="auto">
              <a:xfrm>
                <a:off x="4240" y="1123"/>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4"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10" name="Freeform 1452"/>
              <p:cNvSpPr>
                <a:spLocks noChangeAspect="1"/>
              </p:cNvSpPr>
              <p:nvPr/>
            </p:nvSpPr>
            <p:spPr bwMode="auto">
              <a:xfrm>
                <a:off x="4250" y="1123"/>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4"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11" name="Freeform 1453"/>
              <p:cNvSpPr>
                <a:spLocks noChangeAspect="1"/>
              </p:cNvSpPr>
              <p:nvPr/>
            </p:nvSpPr>
            <p:spPr bwMode="auto">
              <a:xfrm>
                <a:off x="4259" y="1123"/>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12" name="Freeform 1454"/>
              <p:cNvSpPr>
                <a:spLocks noChangeAspect="1"/>
              </p:cNvSpPr>
              <p:nvPr/>
            </p:nvSpPr>
            <p:spPr bwMode="auto">
              <a:xfrm>
                <a:off x="4269"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w 374"/>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74" h="315">
                    <a:moveTo>
                      <a:pt x="0" y="315"/>
                    </a:moveTo>
                    <a:lnTo>
                      <a:pt x="315" y="0"/>
                    </a:lnTo>
                    <a:lnTo>
                      <a:pt x="374" y="0"/>
                    </a:lnTo>
                    <a:lnTo>
                      <a:pt x="59" y="315"/>
                    </a:lnTo>
                    <a:lnTo>
                      <a:pt x="47"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13" name="Freeform 1455"/>
              <p:cNvSpPr>
                <a:spLocks noChangeAspect="1"/>
              </p:cNvSpPr>
              <p:nvPr/>
            </p:nvSpPr>
            <p:spPr bwMode="auto">
              <a:xfrm>
                <a:off x="4279"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w 374"/>
                  <a:gd name="T11" fmla="*/ 0 h 315"/>
                  <a:gd name="T12" fmla="*/ 0 w 374"/>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74" h="315">
                    <a:moveTo>
                      <a:pt x="0" y="315"/>
                    </a:moveTo>
                    <a:lnTo>
                      <a:pt x="316" y="0"/>
                    </a:lnTo>
                    <a:lnTo>
                      <a:pt x="361" y="0"/>
                    </a:lnTo>
                    <a:lnTo>
                      <a:pt x="374" y="0"/>
                    </a:lnTo>
                    <a:lnTo>
                      <a:pt x="60" y="315"/>
                    </a:lnTo>
                    <a:lnTo>
                      <a:pt x="1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14" name="Freeform 1456"/>
              <p:cNvSpPr>
                <a:spLocks noChangeAspect="1"/>
              </p:cNvSpPr>
              <p:nvPr/>
            </p:nvSpPr>
            <p:spPr bwMode="auto">
              <a:xfrm>
                <a:off x="4289"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w 374"/>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74" h="315">
                    <a:moveTo>
                      <a:pt x="0" y="315"/>
                    </a:moveTo>
                    <a:lnTo>
                      <a:pt x="315" y="0"/>
                    </a:lnTo>
                    <a:lnTo>
                      <a:pt x="331"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15" name="Freeform 1457"/>
              <p:cNvSpPr>
                <a:spLocks noChangeAspect="1"/>
              </p:cNvSpPr>
              <p:nvPr/>
            </p:nvSpPr>
            <p:spPr bwMode="auto">
              <a:xfrm>
                <a:off x="4299"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4"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16" name="Freeform 1458"/>
              <p:cNvSpPr>
                <a:spLocks noChangeAspect="1"/>
              </p:cNvSpPr>
              <p:nvPr/>
            </p:nvSpPr>
            <p:spPr bwMode="auto">
              <a:xfrm>
                <a:off x="4309" y="1123"/>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17" name="Freeform 1459"/>
              <p:cNvSpPr>
                <a:spLocks noChangeAspect="1"/>
              </p:cNvSpPr>
              <p:nvPr/>
            </p:nvSpPr>
            <p:spPr bwMode="auto">
              <a:xfrm>
                <a:off x="4319" y="1123"/>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18" name="Freeform 1460"/>
              <p:cNvSpPr>
                <a:spLocks noChangeAspect="1"/>
              </p:cNvSpPr>
              <p:nvPr/>
            </p:nvSpPr>
            <p:spPr bwMode="auto">
              <a:xfrm>
                <a:off x="4328"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19" name="Freeform 1461"/>
              <p:cNvSpPr>
                <a:spLocks noChangeAspect="1"/>
              </p:cNvSpPr>
              <p:nvPr/>
            </p:nvSpPr>
            <p:spPr bwMode="auto">
              <a:xfrm>
                <a:off x="4338"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20" name="Freeform 1462"/>
              <p:cNvSpPr>
                <a:spLocks noChangeAspect="1"/>
              </p:cNvSpPr>
              <p:nvPr/>
            </p:nvSpPr>
            <p:spPr bwMode="auto">
              <a:xfrm>
                <a:off x="4348"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4"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21" name="Freeform 1463"/>
              <p:cNvSpPr>
                <a:spLocks noChangeAspect="1"/>
              </p:cNvSpPr>
              <p:nvPr/>
            </p:nvSpPr>
            <p:spPr bwMode="auto">
              <a:xfrm>
                <a:off x="4358"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22" name="Freeform 1464"/>
              <p:cNvSpPr>
                <a:spLocks noChangeAspect="1"/>
              </p:cNvSpPr>
              <p:nvPr/>
            </p:nvSpPr>
            <p:spPr bwMode="auto">
              <a:xfrm>
                <a:off x="4368"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23" name="Freeform 1465"/>
              <p:cNvSpPr>
                <a:spLocks noChangeAspect="1"/>
              </p:cNvSpPr>
              <p:nvPr/>
            </p:nvSpPr>
            <p:spPr bwMode="auto">
              <a:xfrm>
                <a:off x="4378" y="1123"/>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24" name="Freeform 1466"/>
              <p:cNvSpPr>
                <a:spLocks noChangeAspect="1"/>
              </p:cNvSpPr>
              <p:nvPr/>
            </p:nvSpPr>
            <p:spPr bwMode="auto">
              <a:xfrm>
                <a:off x="4388" y="1123"/>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25" name="Freeform 1467"/>
              <p:cNvSpPr>
                <a:spLocks noChangeAspect="1"/>
              </p:cNvSpPr>
              <p:nvPr/>
            </p:nvSpPr>
            <p:spPr bwMode="auto">
              <a:xfrm>
                <a:off x="4398" y="1123"/>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4" y="0"/>
                    </a:lnTo>
                    <a:lnTo>
                      <a:pt x="374"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26" name="Freeform 1468"/>
              <p:cNvSpPr>
                <a:spLocks noChangeAspect="1"/>
              </p:cNvSpPr>
              <p:nvPr/>
            </p:nvSpPr>
            <p:spPr bwMode="auto">
              <a:xfrm>
                <a:off x="4408" y="1123"/>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27" name="Freeform 1469"/>
              <p:cNvSpPr>
                <a:spLocks noChangeAspect="1"/>
              </p:cNvSpPr>
              <p:nvPr/>
            </p:nvSpPr>
            <p:spPr bwMode="auto">
              <a:xfrm>
                <a:off x="4417" y="1123"/>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6"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28" name="Freeform 1470"/>
              <p:cNvSpPr>
                <a:spLocks noChangeAspect="1"/>
              </p:cNvSpPr>
              <p:nvPr/>
            </p:nvSpPr>
            <p:spPr bwMode="auto">
              <a:xfrm>
                <a:off x="4427"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29" name="Freeform 1471"/>
              <p:cNvSpPr>
                <a:spLocks noChangeAspect="1"/>
              </p:cNvSpPr>
              <p:nvPr/>
            </p:nvSpPr>
            <p:spPr bwMode="auto">
              <a:xfrm>
                <a:off x="4437"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30" name="Freeform 1472"/>
              <p:cNvSpPr>
                <a:spLocks noChangeAspect="1"/>
              </p:cNvSpPr>
              <p:nvPr/>
            </p:nvSpPr>
            <p:spPr bwMode="auto">
              <a:xfrm>
                <a:off x="4447" y="1123"/>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31" name="Freeform 1473"/>
              <p:cNvSpPr>
                <a:spLocks noChangeAspect="1"/>
              </p:cNvSpPr>
              <p:nvPr/>
            </p:nvSpPr>
            <p:spPr bwMode="auto">
              <a:xfrm>
                <a:off x="4457" y="1123"/>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32" name="Freeform 1474"/>
              <p:cNvSpPr>
                <a:spLocks noChangeAspect="1"/>
              </p:cNvSpPr>
              <p:nvPr/>
            </p:nvSpPr>
            <p:spPr bwMode="auto">
              <a:xfrm>
                <a:off x="4466" y="1123"/>
                <a:ext cx="123" cy="105"/>
              </a:xfrm>
              <a:custGeom>
                <a:avLst/>
                <a:gdLst>
                  <a:gd name="T0" fmla="*/ 0 w 368"/>
                  <a:gd name="T1" fmla="*/ 0 h 315"/>
                  <a:gd name="T2" fmla="*/ 0 w 368"/>
                  <a:gd name="T3" fmla="*/ 0 h 315"/>
                  <a:gd name="T4" fmla="*/ 0 w 368"/>
                  <a:gd name="T5" fmla="*/ 0 h 315"/>
                  <a:gd name="T6" fmla="*/ 0 w 368"/>
                  <a:gd name="T7" fmla="*/ 0 h 315"/>
                  <a:gd name="T8" fmla="*/ 0 w 368"/>
                  <a:gd name="T9" fmla="*/ 0 h 315"/>
                  <a:gd name="T10" fmla="*/ 0 w 368"/>
                  <a:gd name="T11" fmla="*/ 0 h 315"/>
                  <a:gd name="T12" fmla="*/ 0 w 368"/>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8" h="315">
                    <a:moveTo>
                      <a:pt x="0" y="315"/>
                    </a:moveTo>
                    <a:lnTo>
                      <a:pt x="315" y="0"/>
                    </a:lnTo>
                    <a:lnTo>
                      <a:pt x="368" y="0"/>
                    </a:lnTo>
                    <a:lnTo>
                      <a:pt x="368" y="8"/>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33" name="Freeform 1475"/>
              <p:cNvSpPr>
                <a:spLocks noChangeAspect="1"/>
              </p:cNvSpPr>
              <p:nvPr/>
            </p:nvSpPr>
            <p:spPr bwMode="auto">
              <a:xfrm>
                <a:off x="4476" y="1123"/>
                <a:ext cx="113" cy="105"/>
              </a:xfrm>
              <a:custGeom>
                <a:avLst/>
                <a:gdLst>
                  <a:gd name="T0" fmla="*/ 0 w 338"/>
                  <a:gd name="T1" fmla="*/ 0 h 315"/>
                  <a:gd name="T2" fmla="*/ 0 w 338"/>
                  <a:gd name="T3" fmla="*/ 0 h 315"/>
                  <a:gd name="T4" fmla="*/ 0 w 338"/>
                  <a:gd name="T5" fmla="*/ 0 h 315"/>
                  <a:gd name="T6" fmla="*/ 0 w 338"/>
                  <a:gd name="T7" fmla="*/ 0 h 315"/>
                  <a:gd name="T8" fmla="*/ 0 w 338"/>
                  <a:gd name="T9" fmla="*/ 0 h 315"/>
                  <a:gd name="T10" fmla="*/ 0 w 338"/>
                  <a:gd name="T11" fmla="*/ 0 h 315"/>
                  <a:gd name="T12" fmla="*/ 0 w 338"/>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8" h="315">
                    <a:moveTo>
                      <a:pt x="0" y="315"/>
                    </a:moveTo>
                    <a:lnTo>
                      <a:pt x="315" y="0"/>
                    </a:lnTo>
                    <a:lnTo>
                      <a:pt x="338" y="0"/>
                    </a:lnTo>
                    <a:lnTo>
                      <a:pt x="338" y="37"/>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34" name="Freeform 1476"/>
              <p:cNvSpPr>
                <a:spLocks noChangeAspect="1"/>
              </p:cNvSpPr>
              <p:nvPr/>
            </p:nvSpPr>
            <p:spPr bwMode="auto">
              <a:xfrm>
                <a:off x="4486" y="1126"/>
                <a:ext cx="103" cy="102"/>
              </a:xfrm>
              <a:custGeom>
                <a:avLst/>
                <a:gdLst>
                  <a:gd name="T0" fmla="*/ 0 w 308"/>
                  <a:gd name="T1" fmla="*/ 0 h 307"/>
                  <a:gd name="T2" fmla="*/ 0 w 308"/>
                  <a:gd name="T3" fmla="*/ 0 h 307"/>
                  <a:gd name="T4" fmla="*/ 0 w 308"/>
                  <a:gd name="T5" fmla="*/ 0 h 307"/>
                  <a:gd name="T6" fmla="*/ 0 w 308"/>
                  <a:gd name="T7" fmla="*/ 0 h 307"/>
                  <a:gd name="T8" fmla="*/ 0 w 308"/>
                  <a:gd name="T9" fmla="*/ 0 h 3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307">
                    <a:moveTo>
                      <a:pt x="0" y="307"/>
                    </a:moveTo>
                    <a:lnTo>
                      <a:pt x="308" y="0"/>
                    </a:lnTo>
                    <a:lnTo>
                      <a:pt x="308" y="59"/>
                    </a:lnTo>
                    <a:lnTo>
                      <a:pt x="60" y="307"/>
                    </a:lnTo>
                    <a:lnTo>
                      <a:pt x="0" y="3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35" name="Freeform 1477"/>
              <p:cNvSpPr>
                <a:spLocks noChangeAspect="1"/>
              </p:cNvSpPr>
              <p:nvPr/>
            </p:nvSpPr>
            <p:spPr bwMode="auto">
              <a:xfrm>
                <a:off x="4496" y="1135"/>
                <a:ext cx="93" cy="93"/>
              </a:xfrm>
              <a:custGeom>
                <a:avLst/>
                <a:gdLst>
                  <a:gd name="T0" fmla="*/ 0 w 278"/>
                  <a:gd name="T1" fmla="*/ 0 h 278"/>
                  <a:gd name="T2" fmla="*/ 0 w 278"/>
                  <a:gd name="T3" fmla="*/ 0 h 278"/>
                  <a:gd name="T4" fmla="*/ 0 w 278"/>
                  <a:gd name="T5" fmla="*/ 0 h 278"/>
                  <a:gd name="T6" fmla="*/ 0 w 278"/>
                  <a:gd name="T7" fmla="*/ 0 h 278"/>
                  <a:gd name="T8" fmla="*/ 0 w 278"/>
                  <a:gd name="T9" fmla="*/ 0 h 278"/>
                  <a:gd name="T10" fmla="*/ 0 w 278"/>
                  <a:gd name="T11" fmla="*/ 0 h 27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8" h="278">
                    <a:moveTo>
                      <a:pt x="0" y="278"/>
                    </a:moveTo>
                    <a:lnTo>
                      <a:pt x="278" y="0"/>
                    </a:lnTo>
                    <a:lnTo>
                      <a:pt x="278" y="60"/>
                    </a:lnTo>
                    <a:lnTo>
                      <a:pt x="58" y="278"/>
                    </a:lnTo>
                    <a:lnTo>
                      <a:pt x="37" y="278"/>
                    </a:lnTo>
                    <a:lnTo>
                      <a:pt x="0" y="27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36" name="Freeform 1478"/>
              <p:cNvSpPr>
                <a:spLocks noChangeAspect="1"/>
              </p:cNvSpPr>
              <p:nvPr/>
            </p:nvSpPr>
            <p:spPr bwMode="auto">
              <a:xfrm>
                <a:off x="4506" y="1145"/>
                <a:ext cx="83" cy="83"/>
              </a:xfrm>
              <a:custGeom>
                <a:avLst/>
                <a:gdLst>
                  <a:gd name="T0" fmla="*/ 0 w 248"/>
                  <a:gd name="T1" fmla="*/ 0 h 248"/>
                  <a:gd name="T2" fmla="*/ 0 w 248"/>
                  <a:gd name="T3" fmla="*/ 0 h 248"/>
                  <a:gd name="T4" fmla="*/ 0 w 248"/>
                  <a:gd name="T5" fmla="*/ 0 h 248"/>
                  <a:gd name="T6" fmla="*/ 0 w 248"/>
                  <a:gd name="T7" fmla="*/ 0 h 248"/>
                  <a:gd name="T8" fmla="*/ 0 w 248"/>
                  <a:gd name="T9" fmla="*/ 0 h 248"/>
                  <a:gd name="T10" fmla="*/ 0 w 248"/>
                  <a:gd name="T11" fmla="*/ 0 h 2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8" h="248">
                    <a:moveTo>
                      <a:pt x="0" y="248"/>
                    </a:moveTo>
                    <a:lnTo>
                      <a:pt x="248" y="0"/>
                    </a:lnTo>
                    <a:lnTo>
                      <a:pt x="248" y="60"/>
                    </a:lnTo>
                    <a:lnTo>
                      <a:pt x="58" y="248"/>
                    </a:lnTo>
                    <a:lnTo>
                      <a:pt x="7" y="248"/>
                    </a:lnTo>
                    <a:lnTo>
                      <a:pt x="0" y="2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37" name="Freeform 1479"/>
              <p:cNvSpPr>
                <a:spLocks noChangeAspect="1"/>
              </p:cNvSpPr>
              <p:nvPr/>
            </p:nvSpPr>
            <p:spPr bwMode="auto">
              <a:xfrm>
                <a:off x="4516" y="1155"/>
                <a:ext cx="73" cy="73"/>
              </a:xfrm>
              <a:custGeom>
                <a:avLst/>
                <a:gdLst>
                  <a:gd name="T0" fmla="*/ 0 w 220"/>
                  <a:gd name="T1" fmla="*/ 0 h 218"/>
                  <a:gd name="T2" fmla="*/ 0 w 220"/>
                  <a:gd name="T3" fmla="*/ 0 h 218"/>
                  <a:gd name="T4" fmla="*/ 0 w 220"/>
                  <a:gd name="T5" fmla="*/ 0 h 218"/>
                  <a:gd name="T6" fmla="*/ 0 w 220"/>
                  <a:gd name="T7" fmla="*/ 0 h 218"/>
                  <a:gd name="T8" fmla="*/ 0 w 220"/>
                  <a:gd name="T9" fmla="*/ 0 h 2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0" h="218">
                    <a:moveTo>
                      <a:pt x="0" y="218"/>
                    </a:moveTo>
                    <a:lnTo>
                      <a:pt x="220" y="0"/>
                    </a:lnTo>
                    <a:lnTo>
                      <a:pt x="220" y="58"/>
                    </a:lnTo>
                    <a:lnTo>
                      <a:pt x="60" y="218"/>
                    </a:lnTo>
                    <a:lnTo>
                      <a:pt x="0" y="21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38" name="Freeform 1480"/>
              <p:cNvSpPr>
                <a:spLocks noChangeAspect="1"/>
              </p:cNvSpPr>
              <p:nvPr/>
            </p:nvSpPr>
            <p:spPr bwMode="auto">
              <a:xfrm>
                <a:off x="4526" y="1165"/>
                <a:ext cx="63" cy="63"/>
              </a:xfrm>
              <a:custGeom>
                <a:avLst/>
                <a:gdLst>
                  <a:gd name="T0" fmla="*/ 0 w 190"/>
                  <a:gd name="T1" fmla="*/ 0 h 188"/>
                  <a:gd name="T2" fmla="*/ 0 w 190"/>
                  <a:gd name="T3" fmla="*/ 0 h 188"/>
                  <a:gd name="T4" fmla="*/ 0 w 190"/>
                  <a:gd name="T5" fmla="*/ 0 h 188"/>
                  <a:gd name="T6" fmla="*/ 0 w 190"/>
                  <a:gd name="T7" fmla="*/ 0 h 188"/>
                  <a:gd name="T8" fmla="*/ 0 w 190"/>
                  <a:gd name="T9" fmla="*/ 0 h 1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0" h="188">
                    <a:moveTo>
                      <a:pt x="0" y="188"/>
                    </a:moveTo>
                    <a:lnTo>
                      <a:pt x="190" y="0"/>
                    </a:lnTo>
                    <a:lnTo>
                      <a:pt x="190" y="58"/>
                    </a:lnTo>
                    <a:lnTo>
                      <a:pt x="60" y="188"/>
                    </a:lnTo>
                    <a:lnTo>
                      <a:pt x="0" y="18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39" name="Freeform 1481"/>
              <p:cNvSpPr>
                <a:spLocks noChangeAspect="1"/>
              </p:cNvSpPr>
              <p:nvPr/>
            </p:nvSpPr>
            <p:spPr bwMode="auto">
              <a:xfrm>
                <a:off x="4536" y="1175"/>
                <a:ext cx="53" cy="53"/>
              </a:xfrm>
              <a:custGeom>
                <a:avLst/>
                <a:gdLst>
                  <a:gd name="T0" fmla="*/ 0 w 160"/>
                  <a:gd name="T1" fmla="*/ 0 h 160"/>
                  <a:gd name="T2" fmla="*/ 0 w 160"/>
                  <a:gd name="T3" fmla="*/ 0 h 160"/>
                  <a:gd name="T4" fmla="*/ 0 w 160"/>
                  <a:gd name="T5" fmla="*/ 0 h 160"/>
                  <a:gd name="T6" fmla="*/ 0 w 160"/>
                  <a:gd name="T7" fmla="*/ 0 h 160"/>
                  <a:gd name="T8" fmla="*/ 0 w 160"/>
                  <a:gd name="T9" fmla="*/ 0 h 1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0" h="160">
                    <a:moveTo>
                      <a:pt x="0" y="160"/>
                    </a:moveTo>
                    <a:lnTo>
                      <a:pt x="160" y="0"/>
                    </a:lnTo>
                    <a:lnTo>
                      <a:pt x="160" y="60"/>
                    </a:lnTo>
                    <a:lnTo>
                      <a:pt x="60" y="160"/>
                    </a:lnTo>
                    <a:lnTo>
                      <a:pt x="0" y="16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40" name="Freeform 1482"/>
              <p:cNvSpPr>
                <a:spLocks noChangeAspect="1"/>
              </p:cNvSpPr>
              <p:nvPr/>
            </p:nvSpPr>
            <p:spPr bwMode="auto">
              <a:xfrm>
                <a:off x="4546" y="1185"/>
                <a:ext cx="43" cy="43"/>
              </a:xfrm>
              <a:custGeom>
                <a:avLst/>
                <a:gdLst>
                  <a:gd name="T0" fmla="*/ 0 w 130"/>
                  <a:gd name="T1" fmla="*/ 0 h 130"/>
                  <a:gd name="T2" fmla="*/ 0 w 130"/>
                  <a:gd name="T3" fmla="*/ 0 h 130"/>
                  <a:gd name="T4" fmla="*/ 0 w 130"/>
                  <a:gd name="T5" fmla="*/ 0 h 130"/>
                  <a:gd name="T6" fmla="*/ 0 w 130"/>
                  <a:gd name="T7" fmla="*/ 0 h 130"/>
                  <a:gd name="T8" fmla="*/ 0 w 130"/>
                  <a:gd name="T9" fmla="*/ 0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0" h="130">
                    <a:moveTo>
                      <a:pt x="0" y="130"/>
                    </a:moveTo>
                    <a:lnTo>
                      <a:pt x="130" y="0"/>
                    </a:lnTo>
                    <a:lnTo>
                      <a:pt x="130" y="60"/>
                    </a:lnTo>
                    <a:lnTo>
                      <a:pt x="58" y="130"/>
                    </a:lnTo>
                    <a:lnTo>
                      <a:pt x="0" y="13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41" name="Freeform 1483"/>
              <p:cNvSpPr>
                <a:spLocks noChangeAspect="1"/>
              </p:cNvSpPr>
              <p:nvPr/>
            </p:nvSpPr>
            <p:spPr bwMode="auto">
              <a:xfrm>
                <a:off x="4556" y="1195"/>
                <a:ext cx="33" cy="33"/>
              </a:xfrm>
              <a:custGeom>
                <a:avLst/>
                <a:gdLst>
                  <a:gd name="T0" fmla="*/ 0 w 100"/>
                  <a:gd name="T1" fmla="*/ 0 h 100"/>
                  <a:gd name="T2" fmla="*/ 0 w 100"/>
                  <a:gd name="T3" fmla="*/ 0 h 100"/>
                  <a:gd name="T4" fmla="*/ 0 w 100"/>
                  <a:gd name="T5" fmla="*/ 0 h 100"/>
                  <a:gd name="T6" fmla="*/ 0 w 100"/>
                  <a:gd name="T7" fmla="*/ 0 h 100"/>
                  <a:gd name="T8" fmla="*/ 0 w 100"/>
                  <a:gd name="T9" fmla="*/ 0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 h="100">
                    <a:moveTo>
                      <a:pt x="0" y="100"/>
                    </a:moveTo>
                    <a:lnTo>
                      <a:pt x="100" y="0"/>
                    </a:lnTo>
                    <a:lnTo>
                      <a:pt x="100" y="59"/>
                    </a:lnTo>
                    <a:lnTo>
                      <a:pt x="58" y="100"/>
                    </a:lnTo>
                    <a:lnTo>
                      <a:pt x="0" y="1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42" name="Freeform 1484"/>
              <p:cNvSpPr>
                <a:spLocks noChangeAspect="1"/>
              </p:cNvSpPr>
              <p:nvPr/>
            </p:nvSpPr>
            <p:spPr bwMode="auto">
              <a:xfrm>
                <a:off x="4565" y="1205"/>
                <a:ext cx="24" cy="23"/>
              </a:xfrm>
              <a:custGeom>
                <a:avLst/>
                <a:gdLst>
                  <a:gd name="T0" fmla="*/ 0 w 72"/>
                  <a:gd name="T1" fmla="*/ 0 h 70"/>
                  <a:gd name="T2" fmla="*/ 0 w 72"/>
                  <a:gd name="T3" fmla="*/ 0 h 70"/>
                  <a:gd name="T4" fmla="*/ 0 w 72"/>
                  <a:gd name="T5" fmla="*/ 0 h 70"/>
                  <a:gd name="T6" fmla="*/ 0 w 72"/>
                  <a:gd name="T7" fmla="*/ 0 h 70"/>
                  <a:gd name="T8" fmla="*/ 0 w 72"/>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 h="70">
                    <a:moveTo>
                      <a:pt x="0" y="70"/>
                    </a:moveTo>
                    <a:lnTo>
                      <a:pt x="72" y="0"/>
                    </a:lnTo>
                    <a:lnTo>
                      <a:pt x="72" y="58"/>
                    </a:lnTo>
                    <a:lnTo>
                      <a:pt x="60" y="70"/>
                    </a:lnTo>
                    <a:lnTo>
                      <a:pt x="0" y="7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43" name="Freeform 1485"/>
              <p:cNvSpPr>
                <a:spLocks noChangeAspect="1"/>
              </p:cNvSpPr>
              <p:nvPr/>
            </p:nvSpPr>
            <p:spPr bwMode="auto">
              <a:xfrm>
                <a:off x="4575" y="1214"/>
                <a:ext cx="14" cy="14"/>
              </a:xfrm>
              <a:custGeom>
                <a:avLst/>
                <a:gdLst>
                  <a:gd name="T0" fmla="*/ 0 w 42"/>
                  <a:gd name="T1" fmla="*/ 0 h 41"/>
                  <a:gd name="T2" fmla="*/ 0 w 42"/>
                  <a:gd name="T3" fmla="*/ 0 h 41"/>
                  <a:gd name="T4" fmla="*/ 0 w 42"/>
                  <a:gd name="T5" fmla="*/ 0 h 41"/>
                  <a:gd name="T6" fmla="*/ 0 w 42"/>
                  <a:gd name="T7" fmla="*/ 0 h 4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2" h="41">
                    <a:moveTo>
                      <a:pt x="0" y="41"/>
                    </a:moveTo>
                    <a:lnTo>
                      <a:pt x="42" y="0"/>
                    </a:lnTo>
                    <a:lnTo>
                      <a:pt x="42" y="41"/>
                    </a:lnTo>
                    <a:lnTo>
                      <a:pt x="0" y="4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44" name="Freeform 1486"/>
              <p:cNvSpPr>
                <a:spLocks noChangeAspect="1"/>
              </p:cNvSpPr>
              <p:nvPr/>
            </p:nvSpPr>
            <p:spPr bwMode="auto">
              <a:xfrm>
                <a:off x="4585" y="1224"/>
                <a:ext cx="4" cy="4"/>
              </a:xfrm>
              <a:custGeom>
                <a:avLst/>
                <a:gdLst>
                  <a:gd name="T0" fmla="*/ 0 w 12"/>
                  <a:gd name="T1" fmla="*/ 0 h 12"/>
                  <a:gd name="T2" fmla="*/ 0 w 12"/>
                  <a:gd name="T3" fmla="*/ 0 h 12"/>
                  <a:gd name="T4" fmla="*/ 0 w 12"/>
                  <a:gd name="T5" fmla="*/ 0 h 12"/>
                  <a:gd name="T6" fmla="*/ 0 w 12"/>
                  <a:gd name="T7" fmla="*/ 0 h 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2">
                    <a:moveTo>
                      <a:pt x="0" y="12"/>
                    </a:moveTo>
                    <a:lnTo>
                      <a:pt x="12" y="0"/>
                    </a:lnTo>
                    <a:lnTo>
                      <a:pt x="12" y="12"/>
                    </a:lnTo>
                    <a:lnTo>
                      <a:pt x="0" y="1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45" name="Freeform 1487"/>
              <p:cNvSpPr>
                <a:spLocks noChangeAspect="1"/>
              </p:cNvSpPr>
              <p:nvPr/>
            </p:nvSpPr>
            <p:spPr bwMode="auto">
              <a:xfrm>
                <a:off x="4212" y="1123"/>
                <a:ext cx="377" cy="105"/>
              </a:xfrm>
              <a:custGeom>
                <a:avLst/>
                <a:gdLst>
                  <a:gd name="T0" fmla="*/ 0 w 1130"/>
                  <a:gd name="T1" fmla="*/ 0 h 315"/>
                  <a:gd name="T2" fmla="*/ 0 w 1130"/>
                  <a:gd name="T3" fmla="*/ 0 h 315"/>
                  <a:gd name="T4" fmla="*/ 0 w 1130"/>
                  <a:gd name="T5" fmla="*/ 0 h 315"/>
                  <a:gd name="T6" fmla="*/ 0 w 1130"/>
                  <a:gd name="T7" fmla="*/ 0 h 315"/>
                  <a:gd name="T8" fmla="*/ 0 w 1130"/>
                  <a:gd name="T9" fmla="*/ 0 h 315"/>
                  <a:gd name="T10" fmla="*/ 0 w 1130"/>
                  <a:gd name="T11" fmla="*/ 0 h 315"/>
                  <a:gd name="T12" fmla="*/ 0 w 1130"/>
                  <a:gd name="T13" fmla="*/ 0 h 315"/>
                  <a:gd name="T14" fmla="*/ 0 w 1130"/>
                  <a:gd name="T15" fmla="*/ 0 h 315"/>
                  <a:gd name="T16" fmla="*/ 0 w 1130"/>
                  <a:gd name="T17" fmla="*/ 0 h 3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0" h="315">
                    <a:moveTo>
                      <a:pt x="0" y="0"/>
                    </a:moveTo>
                    <a:lnTo>
                      <a:pt x="95" y="0"/>
                    </a:lnTo>
                    <a:lnTo>
                      <a:pt x="561" y="0"/>
                    </a:lnTo>
                    <a:lnTo>
                      <a:pt x="1130" y="0"/>
                    </a:lnTo>
                    <a:lnTo>
                      <a:pt x="1130" y="315"/>
                    </a:lnTo>
                    <a:lnTo>
                      <a:pt x="889" y="315"/>
                    </a:lnTo>
                    <a:lnTo>
                      <a:pt x="218" y="315"/>
                    </a:lnTo>
                    <a:lnTo>
                      <a:pt x="0" y="315"/>
                    </a:lnTo>
                    <a:lnTo>
                      <a:pt x="0" y="0"/>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grpSp>
        <p:grpSp>
          <p:nvGrpSpPr>
            <p:cNvPr id="386165" name="Group 1488"/>
            <p:cNvGrpSpPr>
              <a:grpSpLocks noChangeAspect="1"/>
            </p:cNvGrpSpPr>
            <p:nvPr/>
          </p:nvGrpSpPr>
          <p:grpSpPr bwMode="auto">
            <a:xfrm>
              <a:off x="4130" y="1067"/>
              <a:ext cx="124" cy="771"/>
              <a:chOff x="4795" y="746"/>
              <a:chExt cx="159" cy="960"/>
            </a:xfrm>
          </p:grpSpPr>
          <p:sp>
            <p:nvSpPr>
              <p:cNvPr id="66001" name="Freeform 1489"/>
              <p:cNvSpPr>
                <a:spLocks noChangeAspect="1"/>
              </p:cNvSpPr>
              <p:nvPr/>
            </p:nvSpPr>
            <p:spPr bwMode="auto">
              <a:xfrm>
                <a:off x="4795" y="805"/>
                <a:ext cx="3" cy="848"/>
              </a:xfrm>
              <a:custGeom>
                <a:avLst/>
                <a:gdLst>
                  <a:gd name="T0" fmla="*/ 9 w 9"/>
                  <a:gd name="T1" fmla="*/ 0 h 2538"/>
                  <a:gd name="T2" fmla="*/ 9 w 9"/>
                  <a:gd name="T3" fmla="*/ 2538 h 2538"/>
                  <a:gd name="T4" fmla="*/ 7 w 9"/>
                  <a:gd name="T5" fmla="*/ 2530 h 2538"/>
                  <a:gd name="T6" fmla="*/ 5 w 9"/>
                  <a:gd name="T7" fmla="*/ 2522 h 2538"/>
                  <a:gd name="T8" fmla="*/ 3 w 9"/>
                  <a:gd name="T9" fmla="*/ 2514 h 2538"/>
                  <a:gd name="T10" fmla="*/ 2 w 9"/>
                  <a:gd name="T11" fmla="*/ 2506 h 2538"/>
                  <a:gd name="T12" fmla="*/ 1 w 9"/>
                  <a:gd name="T13" fmla="*/ 2498 h 2538"/>
                  <a:gd name="T14" fmla="*/ 0 w 9"/>
                  <a:gd name="T15" fmla="*/ 2489 h 2538"/>
                  <a:gd name="T16" fmla="*/ 0 w 9"/>
                  <a:gd name="T17" fmla="*/ 2481 h 2538"/>
                  <a:gd name="T18" fmla="*/ 0 w 9"/>
                  <a:gd name="T19" fmla="*/ 2473 h 2538"/>
                  <a:gd name="T20" fmla="*/ 0 w 9"/>
                  <a:gd name="T21" fmla="*/ 2470 h 2538"/>
                  <a:gd name="T22" fmla="*/ 0 w 9"/>
                  <a:gd name="T23" fmla="*/ 2468 h 2538"/>
                  <a:gd name="T24" fmla="*/ 0 w 9"/>
                  <a:gd name="T25" fmla="*/ 2465 h 2538"/>
                  <a:gd name="T26" fmla="*/ 0 w 9"/>
                  <a:gd name="T27" fmla="*/ 2463 h 2538"/>
                  <a:gd name="T28" fmla="*/ 0 w 9"/>
                  <a:gd name="T29" fmla="*/ 2461 h 2538"/>
                  <a:gd name="T30" fmla="*/ 0 w 9"/>
                  <a:gd name="T31" fmla="*/ 2457 h 2538"/>
                  <a:gd name="T32" fmla="*/ 0 w 9"/>
                  <a:gd name="T33" fmla="*/ 2455 h 2538"/>
                  <a:gd name="T34" fmla="*/ 1 w 9"/>
                  <a:gd name="T35" fmla="*/ 2452 h 2538"/>
                  <a:gd name="T36" fmla="*/ 1 w 9"/>
                  <a:gd name="T37" fmla="*/ 71 h 2538"/>
                  <a:gd name="T38" fmla="*/ 1 w 9"/>
                  <a:gd name="T39" fmla="*/ 71 h 2538"/>
                  <a:gd name="T40" fmla="*/ 1 w 9"/>
                  <a:gd name="T41" fmla="*/ 70 h 2538"/>
                  <a:gd name="T42" fmla="*/ 1 w 9"/>
                  <a:gd name="T43" fmla="*/ 70 h 2538"/>
                  <a:gd name="T44" fmla="*/ 1 w 9"/>
                  <a:gd name="T45" fmla="*/ 68 h 2538"/>
                  <a:gd name="T46" fmla="*/ 1 w 9"/>
                  <a:gd name="T47" fmla="*/ 67 h 2538"/>
                  <a:gd name="T48" fmla="*/ 1 w 9"/>
                  <a:gd name="T49" fmla="*/ 66 h 2538"/>
                  <a:gd name="T50" fmla="*/ 1 w 9"/>
                  <a:gd name="T51" fmla="*/ 65 h 2538"/>
                  <a:gd name="T52" fmla="*/ 1 w 9"/>
                  <a:gd name="T53" fmla="*/ 64 h 2538"/>
                  <a:gd name="T54" fmla="*/ 1 w 9"/>
                  <a:gd name="T55" fmla="*/ 64 h 2538"/>
                  <a:gd name="T56" fmla="*/ 1 w 9"/>
                  <a:gd name="T57" fmla="*/ 56 h 2538"/>
                  <a:gd name="T58" fmla="*/ 1 w 9"/>
                  <a:gd name="T59" fmla="*/ 47 h 2538"/>
                  <a:gd name="T60" fmla="*/ 2 w 9"/>
                  <a:gd name="T61" fmla="*/ 40 h 2538"/>
                  <a:gd name="T62" fmla="*/ 3 w 9"/>
                  <a:gd name="T63" fmla="*/ 31 h 2538"/>
                  <a:gd name="T64" fmla="*/ 4 w 9"/>
                  <a:gd name="T65" fmla="*/ 23 h 2538"/>
                  <a:gd name="T66" fmla="*/ 5 w 9"/>
                  <a:gd name="T67" fmla="*/ 15 h 2538"/>
                  <a:gd name="T68" fmla="*/ 7 w 9"/>
                  <a:gd name="T69" fmla="*/ 8 h 2538"/>
                  <a:gd name="T70" fmla="*/ 9 w 9"/>
                  <a:gd name="T71" fmla="*/ 0 h 2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2538">
                    <a:moveTo>
                      <a:pt x="9" y="0"/>
                    </a:moveTo>
                    <a:lnTo>
                      <a:pt x="9" y="2538"/>
                    </a:lnTo>
                    <a:lnTo>
                      <a:pt x="7" y="2530"/>
                    </a:lnTo>
                    <a:lnTo>
                      <a:pt x="5" y="2522"/>
                    </a:lnTo>
                    <a:lnTo>
                      <a:pt x="3" y="2514"/>
                    </a:lnTo>
                    <a:lnTo>
                      <a:pt x="2" y="2506"/>
                    </a:lnTo>
                    <a:lnTo>
                      <a:pt x="1" y="2498"/>
                    </a:lnTo>
                    <a:lnTo>
                      <a:pt x="0" y="2489"/>
                    </a:lnTo>
                    <a:lnTo>
                      <a:pt x="0" y="2481"/>
                    </a:lnTo>
                    <a:lnTo>
                      <a:pt x="0" y="2473"/>
                    </a:lnTo>
                    <a:lnTo>
                      <a:pt x="0" y="2470"/>
                    </a:lnTo>
                    <a:lnTo>
                      <a:pt x="0" y="2468"/>
                    </a:lnTo>
                    <a:lnTo>
                      <a:pt x="0" y="2465"/>
                    </a:lnTo>
                    <a:lnTo>
                      <a:pt x="0" y="2463"/>
                    </a:lnTo>
                    <a:lnTo>
                      <a:pt x="0" y="2461"/>
                    </a:lnTo>
                    <a:lnTo>
                      <a:pt x="0" y="2457"/>
                    </a:lnTo>
                    <a:lnTo>
                      <a:pt x="0" y="2455"/>
                    </a:lnTo>
                    <a:lnTo>
                      <a:pt x="1" y="2452"/>
                    </a:lnTo>
                    <a:lnTo>
                      <a:pt x="1" y="71"/>
                    </a:lnTo>
                    <a:lnTo>
                      <a:pt x="1" y="71"/>
                    </a:lnTo>
                    <a:lnTo>
                      <a:pt x="1" y="70"/>
                    </a:lnTo>
                    <a:lnTo>
                      <a:pt x="1" y="70"/>
                    </a:lnTo>
                    <a:lnTo>
                      <a:pt x="1" y="68"/>
                    </a:lnTo>
                    <a:lnTo>
                      <a:pt x="1" y="67"/>
                    </a:lnTo>
                    <a:lnTo>
                      <a:pt x="1" y="66"/>
                    </a:lnTo>
                    <a:lnTo>
                      <a:pt x="1" y="65"/>
                    </a:lnTo>
                    <a:lnTo>
                      <a:pt x="1" y="64"/>
                    </a:lnTo>
                    <a:lnTo>
                      <a:pt x="1" y="64"/>
                    </a:lnTo>
                    <a:lnTo>
                      <a:pt x="1" y="56"/>
                    </a:lnTo>
                    <a:lnTo>
                      <a:pt x="1" y="47"/>
                    </a:lnTo>
                    <a:lnTo>
                      <a:pt x="2" y="40"/>
                    </a:lnTo>
                    <a:lnTo>
                      <a:pt x="3" y="31"/>
                    </a:lnTo>
                    <a:lnTo>
                      <a:pt x="4" y="23"/>
                    </a:lnTo>
                    <a:lnTo>
                      <a:pt x="5" y="15"/>
                    </a:lnTo>
                    <a:lnTo>
                      <a:pt x="7" y="8"/>
                    </a:lnTo>
                    <a:lnTo>
                      <a:pt x="9" y="0"/>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02" name="Freeform 1490"/>
              <p:cNvSpPr>
                <a:spLocks noChangeAspect="1"/>
              </p:cNvSpPr>
              <p:nvPr/>
            </p:nvSpPr>
            <p:spPr bwMode="auto">
              <a:xfrm>
                <a:off x="4795" y="795"/>
                <a:ext cx="6" cy="864"/>
              </a:xfrm>
              <a:custGeom>
                <a:avLst/>
                <a:gdLst>
                  <a:gd name="T0" fmla="*/ 19 w 19"/>
                  <a:gd name="T1" fmla="*/ 0 h 2592"/>
                  <a:gd name="T2" fmla="*/ 19 w 19"/>
                  <a:gd name="T3" fmla="*/ 2592 h 2592"/>
                  <a:gd name="T4" fmla="*/ 15 w 19"/>
                  <a:gd name="T5" fmla="*/ 2581 h 2592"/>
                  <a:gd name="T6" fmla="*/ 10 w 19"/>
                  <a:gd name="T7" fmla="*/ 2570 h 2592"/>
                  <a:gd name="T8" fmla="*/ 7 w 19"/>
                  <a:gd name="T9" fmla="*/ 2559 h 2592"/>
                  <a:gd name="T10" fmla="*/ 4 w 19"/>
                  <a:gd name="T11" fmla="*/ 2548 h 2592"/>
                  <a:gd name="T12" fmla="*/ 2 w 19"/>
                  <a:gd name="T13" fmla="*/ 2536 h 2592"/>
                  <a:gd name="T14" fmla="*/ 1 w 19"/>
                  <a:gd name="T15" fmla="*/ 2525 h 2592"/>
                  <a:gd name="T16" fmla="*/ 0 w 19"/>
                  <a:gd name="T17" fmla="*/ 2513 h 2592"/>
                  <a:gd name="T18" fmla="*/ 0 w 19"/>
                  <a:gd name="T19" fmla="*/ 2501 h 2592"/>
                  <a:gd name="T20" fmla="*/ 0 w 19"/>
                  <a:gd name="T21" fmla="*/ 2498 h 2592"/>
                  <a:gd name="T22" fmla="*/ 0 w 19"/>
                  <a:gd name="T23" fmla="*/ 2496 h 2592"/>
                  <a:gd name="T24" fmla="*/ 0 w 19"/>
                  <a:gd name="T25" fmla="*/ 2493 h 2592"/>
                  <a:gd name="T26" fmla="*/ 0 w 19"/>
                  <a:gd name="T27" fmla="*/ 2491 h 2592"/>
                  <a:gd name="T28" fmla="*/ 0 w 19"/>
                  <a:gd name="T29" fmla="*/ 2489 h 2592"/>
                  <a:gd name="T30" fmla="*/ 0 w 19"/>
                  <a:gd name="T31" fmla="*/ 2485 h 2592"/>
                  <a:gd name="T32" fmla="*/ 0 w 19"/>
                  <a:gd name="T33" fmla="*/ 2483 h 2592"/>
                  <a:gd name="T34" fmla="*/ 1 w 19"/>
                  <a:gd name="T35" fmla="*/ 2480 h 2592"/>
                  <a:gd name="T36" fmla="*/ 1 w 19"/>
                  <a:gd name="T37" fmla="*/ 99 h 2592"/>
                  <a:gd name="T38" fmla="*/ 1 w 19"/>
                  <a:gd name="T39" fmla="*/ 99 h 2592"/>
                  <a:gd name="T40" fmla="*/ 1 w 19"/>
                  <a:gd name="T41" fmla="*/ 98 h 2592"/>
                  <a:gd name="T42" fmla="*/ 1 w 19"/>
                  <a:gd name="T43" fmla="*/ 98 h 2592"/>
                  <a:gd name="T44" fmla="*/ 1 w 19"/>
                  <a:gd name="T45" fmla="*/ 96 h 2592"/>
                  <a:gd name="T46" fmla="*/ 1 w 19"/>
                  <a:gd name="T47" fmla="*/ 95 h 2592"/>
                  <a:gd name="T48" fmla="*/ 1 w 19"/>
                  <a:gd name="T49" fmla="*/ 94 h 2592"/>
                  <a:gd name="T50" fmla="*/ 1 w 19"/>
                  <a:gd name="T51" fmla="*/ 93 h 2592"/>
                  <a:gd name="T52" fmla="*/ 1 w 19"/>
                  <a:gd name="T53" fmla="*/ 92 h 2592"/>
                  <a:gd name="T54" fmla="*/ 1 w 19"/>
                  <a:gd name="T55" fmla="*/ 92 h 2592"/>
                  <a:gd name="T56" fmla="*/ 1 w 19"/>
                  <a:gd name="T57" fmla="*/ 79 h 2592"/>
                  <a:gd name="T58" fmla="*/ 2 w 19"/>
                  <a:gd name="T59" fmla="*/ 68 h 2592"/>
                  <a:gd name="T60" fmla="*/ 3 w 19"/>
                  <a:gd name="T61" fmla="*/ 56 h 2592"/>
                  <a:gd name="T62" fmla="*/ 5 w 19"/>
                  <a:gd name="T63" fmla="*/ 44 h 2592"/>
                  <a:gd name="T64" fmla="*/ 8 w 19"/>
                  <a:gd name="T65" fmla="*/ 33 h 2592"/>
                  <a:gd name="T66" fmla="*/ 10 w 19"/>
                  <a:gd name="T67" fmla="*/ 22 h 2592"/>
                  <a:gd name="T68" fmla="*/ 15 w 19"/>
                  <a:gd name="T69" fmla="*/ 10 h 2592"/>
                  <a:gd name="T70" fmla="*/ 19 w 19"/>
                  <a:gd name="T71" fmla="*/ 0 h 2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 h="2592">
                    <a:moveTo>
                      <a:pt x="19" y="0"/>
                    </a:moveTo>
                    <a:lnTo>
                      <a:pt x="19" y="2592"/>
                    </a:lnTo>
                    <a:lnTo>
                      <a:pt x="15" y="2581"/>
                    </a:lnTo>
                    <a:lnTo>
                      <a:pt x="10" y="2570"/>
                    </a:lnTo>
                    <a:lnTo>
                      <a:pt x="7" y="2559"/>
                    </a:lnTo>
                    <a:lnTo>
                      <a:pt x="4" y="2548"/>
                    </a:lnTo>
                    <a:lnTo>
                      <a:pt x="2" y="2536"/>
                    </a:lnTo>
                    <a:lnTo>
                      <a:pt x="1" y="2525"/>
                    </a:lnTo>
                    <a:lnTo>
                      <a:pt x="0" y="2513"/>
                    </a:lnTo>
                    <a:lnTo>
                      <a:pt x="0" y="2501"/>
                    </a:lnTo>
                    <a:lnTo>
                      <a:pt x="0" y="2498"/>
                    </a:lnTo>
                    <a:lnTo>
                      <a:pt x="0" y="2496"/>
                    </a:lnTo>
                    <a:lnTo>
                      <a:pt x="0" y="2493"/>
                    </a:lnTo>
                    <a:lnTo>
                      <a:pt x="0" y="2491"/>
                    </a:lnTo>
                    <a:lnTo>
                      <a:pt x="0" y="2489"/>
                    </a:lnTo>
                    <a:lnTo>
                      <a:pt x="0" y="2485"/>
                    </a:lnTo>
                    <a:lnTo>
                      <a:pt x="0" y="2483"/>
                    </a:lnTo>
                    <a:lnTo>
                      <a:pt x="1" y="2480"/>
                    </a:lnTo>
                    <a:lnTo>
                      <a:pt x="1" y="99"/>
                    </a:lnTo>
                    <a:lnTo>
                      <a:pt x="1" y="99"/>
                    </a:lnTo>
                    <a:lnTo>
                      <a:pt x="1" y="98"/>
                    </a:lnTo>
                    <a:lnTo>
                      <a:pt x="1" y="98"/>
                    </a:lnTo>
                    <a:lnTo>
                      <a:pt x="1" y="96"/>
                    </a:lnTo>
                    <a:lnTo>
                      <a:pt x="1" y="95"/>
                    </a:lnTo>
                    <a:lnTo>
                      <a:pt x="1" y="94"/>
                    </a:lnTo>
                    <a:lnTo>
                      <a:pt x="1" y="93"/>
                    </a:lnTo>
                    <a:lnTo>
                      <a:pt x="1" y="92"/>
                    </a:lnTo>
                    <a:lnTo>
                      <a:pt x="1" y="92"/>
                    </a:lnTo>
                    <a:lnTo>
                      <a:pt x="1" y="79"/>
                    </a:lnTo>
                    <a:lnTo>
                      <a:pt x="2" y="68"/>
                    </a:lnTo>
                    <a:lnTo>
                      <a:pt x="3" y="56"/>
                    </a:lnTo>
                    <a:lnTo>
                      <a:pt x="5" y="44"/>
                    </a:lnTo>
                    <a:lnTo>
                      <a:pt x="8" y="33"/>
                    </a:lnTo>
                    <a:lnTo>
                      <a:pt x="10" y="22"/>
                    </a:lnTo>
                    <a:lnTo>
                      <a:pt x="15" y="10"/>
                    </a:lnTo>
                    <a:lnTo>
                      <a:pt x="19" y="0"/>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03" name="Freeform 1491"/>
              <p:cNvSpPr>
                <a:spLocks noChangeAspect="1"/>
              </p:cNvSpPr>
              <p:nvPr/>
            </p:nvSpPr>
            <p:spPr bwMode="auto">
              <a:xfrm>
                <a:off x="4798" y="790"/>
                <a:ext cx="6" cy="878"/>
              </a:xfrm>
              <a:custGeom>
                <a:avLst/>
                <a:gdLst>
                  <a:gd name="T0" fmla="*/ 0 w 20"/>
                  <a:gd name="T1" fmla="*/ 2586 h 2631"/>
                  <a:gd name="T2" fmla="*/ 0 w 20"/>
                  <a:gd name="T3" fmla="*/ 48 h 2631"/>
                  <a:gd name="T4" fmla="*/ 1 w 20"/>
                  <a:gd name="T5" fmla="*/ 42 h 2631"/>
                  <a:gd name="T6" fmla="*/ 4 w 20"/>
                  <a:gd name="T7" fmla="*/ 36 h 2631"/>
                  <a:gd name="T8" fmla="*/ 6 w 20"/>
                  <a:gd name="T9" fmla="*/ 29 h 2631"/>
                  <a:gd name="T10" fmla="*/ 9 w 20"/>
                  <a:gd name="T11" fmla="*/ 23 h 2631"/>
                  <a:gd name="T12" fmla="*/ 11 w 20"/>
                  <a:gd name="T13" fmla="*/ 18 h 2631"/>
                  <a:gd name="T14" fmla="*/ 13 w 20"/>
                  <a:gd name="T15" fmla="*/ 11 h 2631"/>
                  <a:gd name="T16" fmla="*/ 16 w 20"/>
                  <a:gd name="T17" fmla="*/ 6 h 2631"/>
                  <a:gd name="T18" fmla="*/ 20 w 20"/>
                  <a:gd name="T19" fmla="*/ 0 h 2631"/>
                  <a:gd name="T20" fmla="*/ 20 w 20"/>
                  <a:gd name="T21" fmla="*/ 2631 h 2631"/>
                  <a:gd name="T22" fmla="*/ 16 w 20"/>
                  <a:gd name="T23" fmla="*/ 2626 h 2631"/>
                  <a:gd name="T24" fmla="*/ 13 w 20"/>
                  <a:gd name="T25" fmla="*/ 2620 h 2631"/>
                  <a:gd name="T26" fmla="*/ 11 w 20"/>
                  <a:gd name="T27" fmla="*/ 2615 h 2631"/>
                  <a:gd name="T28" fmla="*/ 9 w 20"/>
                  <a:gd name="T29" fmla="*/ 2608 h 2631"/>
                  <a:gd name="T30" fmla="*/ 6 w 20"/>
                  <a:gd name="T31" fmla="*/ 2603 h 2631"/>
                  <a:gd name="T32" fmla="*/ 4 w 20"/>
                  <a:gd name="T33" fmla="*/ 2598 h 2631"/>
                  <a:gd name="T34" fmla="*/ 3 w 20"/>
                  <a:gd name="T35" fmla="*/ 2591 h 2631"/>
                  <a:gd name="T36" fmla="*/ 0 w 20"/>
                  <a:gd name="T37" fmla="*/ 2586 h 2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2631">
                    <a:moveTo>
                      <a:pt x="0" y="2586"/>
                    </a:moveTo>
                    <a:lnTo>
                      <a:pt x="0" y="48"/>
                    </a:lnTo>
                    <a:lnTo>
                      <a:pt x="1" y="42"/>
                    </a:lnTo>
                    <a:lnTo>
                      <a:pt x="4" y="36"/>
                    </a:lnTo>
                    <a:lnTo>
                      <a:pt x="6" y="29"/>
                    </a:lnTo>
                    <a:lnTo>
                      <a:pt x="9" y="23"/>
                    </a:lnTo>
                    <a:lnTo>
                      <a:pt x="11" y="18"/>
                    </a:lnTo>
                    <a:lnTo>
                      <a:pt x="13" y="11"/>
                    </a:lnTo>
                    <a:lnTo>
                      <a:pt x="16" y="6"/>
                    </a:lnTo>
                    <a:lnTo>
                      <a:pt x="20" y="0"/>
                    </a:lnTo>
                    <a:lnTo>
                      <a:pt x="20" y="2631"/>
                    </a:lnTo>
                    <a:lnTo>
                      <a:pt x="16" y="2626"/>
                    </a:lnTo>
                    <a:lnTo>
                      <a:pt x="13" y="2620"/>
                    </a:lnTo>
                    <a:lnTo>
                      <a:pt x="11" y="2615"/>
                    </a:lnTo>
                    <a:lnTo>
                      <a:pt x="9" y="2608"/>
                    </a:lnTo>
                    <a:lnTo>
                      <a:pt x="6" y="2603"/>
                    </a:lnTo>
                    <a:lnTo>
                      <a:pt x="4" y="2598"/>
                    </a:lnTo>
                    <a:lnTo>
                      <a:pt x="3" y="2591"/>
                    </a:lnTo>
                    <a:lnTo>
                      <a:pt x="0" y="2586"/>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04" name="Freeform 1492"/>
              <p:cNvSpPr>
                <a:spLocks noChangeAspect="1"/>
              </p:cNvSpPr>
              <p:nvPr/>
            </p:nvSpPr>
            <p:spPr bwMode="auto">
              <a:xfrm>
                <a:off x="4801" y="783"/>
                <a:ext cx="5" cy="888"/>
              </a:xfrm>
              <a:custGeom>
                <a:avLst/>
                <a:gdLst>
                  <a:gd name="T0" fmla="*/ 0 w 19"/>
                  <a:gd name="T1" fmla="*/ 2628 h 2663"/>
                  <a:gd name="T2" fmla="*/ 0 w 19"/>
                  <a:gd name="T3" fmla="*/ 36 h 2663"/>
                  <a:gd name="T4" fmla="*/ 2 w 19"/>
                  <a:gd name="T5" fmla="*/ 31 h 2663"/>
                  <a:gd name="T6" fmla="*/ 4 w 19"/>
                  <a:gd name="T7" fmla="*/ 26 h 2663"/>
                  <a:gd name="T8" fmla="*/ 6 w 19"/>
                  <a:gd name="T9" fmla="*/ 22 h 2663"/>
                  <a:gd name="T10" fmla="*/ 9 w 19"/>
                  <a:gd name="T11" fmla="*/ 18 h 2663"/>
                  <a:gd name="T12" fmla="*/ 11 w 19"/>
                  <a:gd name="T13" fmla="*/ 12 h 2663"/>
                  <a:gd name="T14" fmla="*/ 14 w 19"/>
                  <a:gd name="T15" fmla="*/ 8 h 2663"/>
                  <a:gd name="T16" fmla="*/ 16 w 19"/>
                  <a:gd name="T17" fmla="*/ 4 h 2663"/>
                  <a:gd name="T18" fmla="*/ 19 w 19"/>
                  <a:gd name="T19" fmla="*/ 0 h 2663"/>
                  <a:gd name="T20" fmla="*/ 19 w 19"/>
                  <a:gd name="T21" fmla="*/ 2663 h 2663"/>
                  <a:gd name="T22" fmla="*/ 16 w 19"/>
                  <a:gd name="T23" fmla="*/ 2659 h 2663"/>
                  <a:gd name="T24" fmla="*/ 14 w 19"/>
                  <a:gd name="T25" fmla="*/ 2654 h 2663"/>
                  <a:gd name="T26" fmla="*/ 11 w 19"/>
                  <a:gd name="T27" fmla="*/ 2650 h 2663"/>
                  <a:gd name="T28" fmla="*/ 9 w 19"/>
                  <a:gd name="T29" fmla="*/ 2646 h 2663"/>
                  <a:gd name="T30" fmla="*/ 6 w 19"/>
                  <a:gd name="T31" fmla="*/ 2642 h 2663"/>
                  <a:gd name="T32" fmla="*/ 4 w 19"/>
                  <a:gd name="T33" fmla="*/ 2636 h 2663"/>
                  <a:gd name="T34" fmla="*/ 2 w 19"/>
                  <a:gd name="T35" fmla="*/ 2632 h 2663"/>
                  <a:gd name="T36" fmla="*/ 0 w 19"/>
                  <a:gd name="T37" fmla="*/ 2628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663">
                    <a:moveTo>
                      <a:pt x="0" y="2628"/>
                    </a:moveTo>
                    <a:lnTo>
                      <a:pt x="0" y="36"/>
                    </a:lnTo>
                    <a:lnTo>
                      <a:pt x="2" y="31"/>
                    </a:lnTo>
                    <a:lnTo>
                      <a:pt x="4" y="26"/>
                    </a:lnTo>
                    <a:lnTo>
                      <a:pt x="6" y="22"/>
                    </a:lnTo>
                    <a:lnTo>
                      <a:pt x="9" y="18"/>
                    </a:lnTo>
                    <a:lnTo>
                      <a:pt x="11" y="12"/>
                    </a:lnTo>
                    <a:lnTo>
                      <a:pt x="14" y="8"/>
                    </a:lnTo>
                    <a:lnTo>
                      <a:pt x="16" y="4"/>
                    </a:lnTo>
                    <a:lnTo>
                      <a:pt x="19" y="0"/>
                    </a:lnTo>
                    <a:lnTo>
                      <a:pt x="19" y="2663"/>
                    </a:lnTo>
                    <a:lnTo>
                      <a:pt x="16" y="2659"/>
                    </a:lnTo>
                    <a:lnTo>
                      <a:pt x="14" y="2654"/>
                    </a:lnTo>
                    <a:lnTo>
                      <a:pt x="11" y="2650"/>
                    </a:lnTo>
                    <a:lnTo>
                      <a:pt x="9" y="2646"/>
                    </a:lnTo>
                    <a:lnTo>
                      <a:pt x="6" y="2642"/>
                    </a:lnTo>
                    <a:lnTo>
                      <a:pt x="4" y="2636"/>
                    </a:lnTo>
                    <a:lnTo>
                      <a:pt x="2" y="2632"/>
                    </a:lnTo>
                    <a:lnTo>
                      <a:pt x="0" y="2628"/>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05" name="Freeform 1493"/>
              <p:cNvSpPr>
                <a:spLocks noChangeAspect="1"/>
              </p:cNvSpPr>
              <p:nvPr/>
            </p:nvSpPr>
            <p:spPr bwMode="auto">
              <a:xfrm>
                <a:off x="4804" y="780"/>
                <a:ext cx="6" cy="895"/>
              </a:xfrm>
              <a:custGeom>
                <a:avLst/>
                <a:gdLst>
                  <a:gd name="T0" fmla="*/ 0 w 19"/>
                  <a:gd name="T1" fmla="*/ 2661 h 2690"/>
                  <a:gd name="T2" fmla="*/ 0 w 19"/>
                  <a:gd name="T3" fmla="*/ 30 h 2690"/>
                  <a:gd name="T4" fmla="*/ 2 w 19"/>
                  <a:gd name="T5" fmla="*/ 26 h 2690"/>
                  <a:gd name="T6" fmla="*/ 4 w 19"/>
                  <a:gd name="T7" fmla="*/ 22 h 2690"/>
                  <a:gd name="T8" fmla="*/ 6 w 19"/>
                  <a:gd name="T9" fmla="*/ 18 h 2690"/>
                  <a:gd name="T10" fmla="*/ 8 w 19"/>
                  <a:gd name="T11" fmla="*/ 15 h 2690"/>
                  <a:gd name="T12" fmla="*/ 10 w 19"/>
                  <a:gd name="T13" fmla="*/ 10 h 2690"/>
                  <a:gd name="T14" fmla="*/ 13 w 19"/>
                  <a:gd name="T15" fmla="*/ 7 h 2690"/>
                  <a:gd name="T16" fmla="*/ 16 w 19"/>
                  <a:gd name="T17" fmla="*/ 3 h 2690"/>
                  <a:gd name="T18" fmla="*/ 19 w 19"/>
                  <a:gd name="T19" fmla="*/ 0 h 2690"/>
                  <a:gd name="T20" fmla="*/ 19 w 19"/>
                  <a:gd name="T21" fmla="*/ 2690 h 2690"/>
                  <a:gd name="T22" fmla="*/ 16 w 19"/>
                  <a:gd name="T23" fmla="*/ 2686 h 2690"/>
                  <a:gd name="T24" fmla="*/ 13 w 19"/>
                  <a:gd name="T25" fmla="*/ 2683 h 2690"/>
                  <a:gd name="T26" fmla="*/ 10 w 19"/>
                  <a:gd name="T27" fmla="*/ 2679 h 2690"/>
                  <a:gd name="T28" fmla="*/ 8 w 19"/>
                  <a:gd name="T29" fmla="*/ 2676 h 2690"/>
                  <a:gd name="T30" fmla="*/ 6 w 19"/>
                  <a:gd name="T31" fmla="*/ 2673 h 2690"/>
                  <a:gd name="T32" fmla="*/ 4 w 19"/>
                  <a:gd name="T33" fmla="*/ 2668 h 2690"/>
                  <a:gd name="T34" fmla="*/ 2 w 19"/>
                  <a:gd name="T35" fmla="*/ 2665 h 2690"/>
                  <a:gd name="T36" fmla="*/ 0 w 19"/>
                  <a:gd name="T37" fmla="*/ 2661 h 2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690">
                    <a:moveTo>
                      <a:pt x="0" y="2661"/>
                    </a:moveTo>
                    <a:lnTo>
                      <a:pt x="0" y="30"/>
                    </a:lnTo>
                    <a:lnTo>
                      <a:pt x="2" y="26"/>
                    </a:lnTo>
                    <a:lnTo>
                      <a:pt x="4" y="22"/>
                    </a:lnTo>
                    <a:lnTo>
                      <a:pt x="6" y="18"/>
                    </a:lnTo>
                    <a:lnTo>
                      <a:pt x="8" y="15"/>
                    </a:lnTo>
                    <a:lnTo>
                      <a:pt x="10" y="10"/>
                    </a:lnTo>
                    <a:lnTo>
                      <a:pt x="13" y="7"/>
                    </a:lnTo>
                    <a:lnTo>
                      <a:pt x="16" y="3"/>
                    </a:lnTo>
                    <a:lnTo>
                      <a:pt x="19" y="0"/>
                    </a:lnTo>
                    <a:lnTo>
                      <a:pt x="19" y="2690"/>
                    </a:lnTo>
                    <a:lnTo>
                      <a:pt x="16" y="2686"/>
                    </a:lnTo>
                    <a:lnTo>
                      <a:pt x="13" y="2683"/>
                    </a:lnTo>
                    <a:lnTo>
                      <a:pt x="10" y="2679"/>
                    </a:lnTo>
                    <a:lnTo>
                      <a:pt x="8" y="2676"/>
                    </a:lnTo>
                    <a:lnTo>
                      <a:pt x="6" y="2673"/>
                    </a:lnTo>
                    <a:lnTo>
                      <a:pt x="4" y="2668"/>
                    </a:lnTo>
                    <a:lnTo>
                      <a:pt x="2" y="2665"/>
                    </a:lnTo>
                    <a:lnTo>
                      <a:pt x="0" y="2661"/>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06" name="Freeform 1494"/>
              <p:cNvSpPr>
                <a:spLocks noChangeAspect="1"/>
              </p:cNvSpPr>
              <p:nvPr/>
            </p:nvSpPr>
            <p:spPr bwMode="auto">
              <a:xfrm>
                <a:off x="4807" y="773"/>
                <a:ext cx="9" cy="905"/>
              </a:xfrm>
              <a:custGeom>
                <a:avLst/>
                <a:gdLst>
                  <a:gd name="T0" fmla="*/ 0 w 19"/>
                  <a:gd name="T1" fmla="*/ 2690 h 2714"/>
                  <a:gd name="T2" fmla="*/ 0 w 19"/>
                  <a:gd name="T3" fmla="*/ 27 h 2714"/>
                  <a:gd name="T4" fmla="*/ 2 w 19"/>
                  <a:gd name="T5" fmla="*/ 23 h 2714"/>
                  <a:gd name="T6" fmla="*/ 4 w 19"/>
                  <a:gd name="T7" fmla="*/ 19 h 2714"/>
                  <a:gd name="T8" fmla="*/ 7 w 19"/>
                  <a:gd name="T9" fmla="*/ 16 h 2714"/>
                  <a:gd name="T10" fmla="*/ 9 w 19"/>
                  <a:gd name="T11" fmla="*/ 13 h 2714"/>
                  <a:gd name="T12" fmla="*/ 12 w 19"/>
                  <a:gd name="T13" fmla="*/ 10 h 2714"/>
                  <a:gd name="T14" fmla="*/ 14 w 19"/>
                  <a:gd name="T15" fmla="*/ 6 h 2714"/>
                  <a:gd name="T16" fmla="*/ 16 w 19"/>
                  <a:gd name="T17" fmla="*/ 3 h 2714"/>
                  <a:gd name="T18" fmla="*/ 19 w 19"/>
                  <a:gd name="T19" fmla="*/ 0 h 2714"/>
                  <a:gd name="T20" fmla="*/ 19 w 19"/>
                  <a:gd name="T21" fmla="*/ 2714 h 2714"/>
                  <a:gd name="T22" fmla="*/ 16 w 19"/>
                  <a:gd name="T23" fmla="*/ 2711 h 2714"/>
                  <a:gd name="T24" fmla="*/ 14 w 19"/>
                  <a:gd name="T25" fmla="*/ 2709 h 2714"/>
                  <a:gd name="T26" fmla="*/ 12 w 19"/>
                  <a:gd name="T27" fmla="*/ 2706 h 2714"/>
                  <a:gd name="T28" fmla="*/ 9 w 19"/>
                  <a:gd name="T29" fmla="*/ 2703 h 2714"/>
                  <a:gd name="T30" fmla="*/ 7 w 19"/>
                  <a:gd name="T31" fmla="*/ 2699 h 2714"/>
                  <a:gd name="T32" fmla="*/ 4 w 19"/>
                  <a:gd name="T33" fmla="*/ 2696 h 2714"/>
                  <a:gd name="T34" fmla="*/ 2 w 19"/>
                  <a:gd name="T35" fmla="*/ 2693 h 2714"/>
                  <a:gd name="T36" fmla="*/ 0 w 19"/>
                  <a:gd name="T37" fmla="*/ 2690 h 2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714">
                    <a:moveTo>
                      <a:pt x="0" y="2690"/>
                    </a:moveTo>
                    <a:lnTo>
                      <a:pt x="0" y="27"/>
                    </a:lnTo>
                    <a:lnTo>
                      <a:pt x="2" y="23"/>
                    </a:lnTo>
                    <a:lnTo>
                      <a:pt x="4" y="19"/>
                    </a:lnTo>
                    <a:lnTo>
                      <a:pt x="7" y="16"/>
                    </a:lnTo>
                    <a:lnTo>
                      <a:pt x="9" y="13"/>
                    </a:lnTo>
                    <a:lnTo>
                      <a:pt x="12" y="10"/>
                    </a:lnTo>
                    <a:lnTo>
                      <a:pt x="14" y="6"/>
                    </a:lnTo>
                    <a:lnTo>
                      <a:pt x="16" y="3"/>
                    </a:lnTo>
                    <a:lnTo>
                      <a:pt x="19" y="0"/>
                    </a:lnTo>
                    <a:lnTo>
                      <a:pt x="19" y="2714"/>
                    </a:lnTo>
                    <a:lnTo>
                      <a:pt x="16" y="2711"/>
                    </a:lnTo>
                    <a:lnTo>
                      <a:pt x="14" y="2709"/>
                    </a:lnTo>
                    <a:lnTo>
                      <a:pt x="12" y="2706"/>
                    </a:lnTo>
                    <a:lnTo>
                      <a:pt x="9" y="2703"/>
                    </a:lnTo>
                    <a:lnTo>
                      <a:pt x="7" y="2699"/>
                    </a:lnTo>
                    <a:lnTo>
                      <a:pt x="4" y="2696"/>
                    </a:lnTo>
                    <a:lnTo>
                      <a:pt x="2" y="2693"/>
                    </a:lnTo>
                    <a:lnTo>
                      <a:pt x="0" y="2690"/>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07" name="Freeform 1495"/>
              <p:cNvSpPr>
                <a:spLocks noChangeAspect="1"/>
              </p:cNvSpPr>
              <p:nvPr/>
            </p:nvSpPr>
            <p:spPr bwMode="auto">
              <a:xfrm>
                <a:off x="4810" y="771"/>
                <a:ext cx="5" cy="913"/>
              </a:xfrm>
              <a:custGeom>
                <a:avLst/>
                <a:gdLst>
                  <a:gd name="T0" fmla="*/ 0 w 19"/>
                  <a:gd name="T1" fmla="*/ 2714 h 2736"/>
                  <a:gd name="T2" fmla="*/ 0 w 19"/>
                  <a:gd name="T3" fmla="*/ 24 h 2736"/>
                  <a:gd name="T4" fmla="*/ 2 w 19"/>
                  <a:gd name="T5" fmla="*/ 21 h 2736"/>
                  <a:gd name="T6" fmla="*/ 4 w 19"/>
                  <a:gd name="T7" fmla="*/ 17 h 2736"/>
                  <a:gd name="T8" fmla="*/ 6 w 19"/>
                  <a:gd name="T9" fmla="*/ 14 h 2736"/>
                  <a:gd name="T10" fmla="*/ 8 w 19"/>
                  <a:gd name="T11" fmla="*/ 12 h 2736"/>
                  <a:gd name="T12" fmla="*/ 11 w 19"/>
                  <a:gd name="T13" fmla="*/ 9 h 2736"/>
                  <a:gd name="T14" fmla="*/ 14 w 19"/>
                  <a:gd name="T15" fmla="*/ 6 h 2736"/>
                  <a:gd name="T16" fmla="*/ 16 w 19"/>
                  <a:gd name="T17" fmla="*/ 4 h 2736"/>
                  <a:gd name="T18" fmla="*/ 19 w 19"/>
                  <a:gd name="T19" fmla="*/ 0 h 2736"/>
                  <a:gd name="T20" fmla="*/ 19 w 19"/>
                  <a:gd name="T21" fmla="*/ 2736 h 2736"/>
                  <a:gd name="T22" fmla="*/ 16 w 19"/>
                  <a:gd name="T23" fmla="*/ 2733 h 2736"/>
                  <a:gd name="T24" fmla="*/ 14 w 19"/>
                  <a:gd name="T25" fmla="*/ 2731 h 2736"/>
                  <a:gd name="T26" fmla="*/ 11 w 19"/>
                  <a:gd name="T27" fmla="*/ 2727 h 2736"/>
                  <a:gd name="T28" fmla="*/ 8 w 19"/>
                  <a:gd name="T29" fmla="*/ 2725 h 2736"/>
                  <a:gd name="T30" fmla="*/ 6 w 19"/>
                  <a:gd name="T31" fmla="*/ 2722 h 2736"/>
                  <a:gd name="T32" fmla="*/ 4 w 19"/>
                  <a:gd name="T33" fmla="*/ 2720 h 2736"/>
                  <a:gd name="T34" fmla="*/ 2 w 19"/>
                  <a:gd name="T35" fmla="*/ 2717 h 2736"/>
                  <a:gd name="T36" fmla="*/ 0 w 19"/>
                  <a:gd name="T37" fmla="*/ 2714 h 2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736">
                    <a:moveTo>
                      <a:pt x="0" y="2714"/>
                    </a:moveTo>
                    <a:lnTo>
                      <a:pt x="0" y="24"/>
                    </a:lnTo>
                    <a:lnTo>
                      <a:pt x="2" y="21"/>
                    </a:lnTo>
                    <a:lnTo>
                      <a:pt x="4" y="17"/>
                    </a:lnTo>
                    <a:lnTo>
                      <a:pt x="6" y="14"/>
                    </a:lnTo>
                    <a:lnTo>
                      <a:pt x="8" y="12"/>
                    </a:lnTo>
                    <a:lnTo>
                      <a:pt x="11" y="9"/>
                    </a:lnTo>
                    <a:lnTo>
                      <a:pt x="14" y="6"/>
                    </a:lnTo>
                    <a:lnTo>
                      <a:pt x="16" y="4"/>
                    </a:lnTo>
                    <a:lnTo>
                      <a:pt x="19" y="0"/>
                    </a:lnTo>
                    <a:lnTo>
                      <a:pt x="19" y="2736"/>
                    </a:lnTo>
                    <a:lnTo>
                      <a:pt x="16" y="2733"/>
                    </a:lnTo>
                    <a:lnTo>
                      <a:pt x="14" y="2731"/>
                    </a:lnTo>
                    <a:lnTo>
                      <a:pt x="11" y="2727"/>
                    </a:lnTo>
                    <a:lnTo>
                      <a:pt x="8" y="2725"/>
                    </a:lnTo>
                    <a:lnTo>
                      <a:pt x="6" y="2722"/>
                    </a:lnTo>
                    <a:lnTo>
                      <a:pt x="4" y="2720"/>
                    </a:lnTo>
                    <a:lnTo>
                      <a:pt x="2" y="2717"/>
                    </a:lnTo>
                    <a:lnTo>
                      <a:pt x="0" y="2714"/>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08" name="Freeform 1496"/>
              <p:cNvSpPr>
                <a:spLocks noChangeAspect="1"/>
              </p:cNvSpPr>
              <p:nvPr/>
            </p:nvSpPr>
            <p:spPr bwMode="auto">
              <a:xfrm>
                <a:off x="4814" y="768"/>
                <a:ext cx="5" cy="915"/>
              </a:xfrm>
              <a:custGeom>
                <a:avLst/>
                <a:gdLst>
                  <a:gd name="T0" fmla="*/ 0 w 19"/>
                  <a:gd name="T1" fmla="*/ 2734 h 2753"/>
                  <a:gd name="T2" fmla="*/ 0 w 19"/>
                  <a:gd name="T3" fmla="*/ 20 h 2753"/>
                  <a:gd name="T4" fmla="*/ 2 w 19"/>
                  <a:gd name="T5" fmla="*/ 18 h 2753"/>
                  <a:gd name="T6" fmla="*/ 5 w 19"/>
                  <a:gd name="T7" fmla="*/ 15 h 2753"/>
                  <a:gd name="T8" fmla="*/ 7 w 19"/>
                  <a:gd name="T9" fmla="*/ 13 h 2753"/>
                  <a:gd name="T10" fmla="*/ 9 w 19"/>
                  <a:gd name="T11" fmla="*/ 9 h 2753"/>
                  <a:gd name="T12" fmla="*/ 12 w 19"/>
                  <a:gd name="T13" fmla="*/ 7 h 2753"/>
                  <a:gd name="T14" fmla="*/ 14 w 19"/>
                  <a:gd name="T15" fmla="*/ 5 h 2753"/>
                  <a:gd name="T16" fmla="*/ 16 w 19"/>
                  <a:gd name="T17" fmla="*/ 3 h 2753"/>
                  <a:gd name="T18" fmla="*/ 19 w 19"/>
                  <a:gd name="T19" fmla="*/ 0 h 2753"/>
                  <a:gd name="T20" fmla="*/ 19 w 19"/>
                  <a:gd name="T21" fmla="*/ 2753 h 2753"/>
                  <a:gd name="T22" fmla="*/ 16 w 19"/>
                  <a:gd name="T23" fmla="*/ 2751 h 2753"/>
                  <a:gd name="T24" fmla="*/ 14 w 19"/>
                  <a:gd name="T25" fmla="*/ 2749 h 2753"/>
                  <a:gd name="T26" fmla="*/ 12 w 19"/>
                  <a:gd name="T27" fmla="*/ 2747 h 2753"/>
                  <a:gd name="T28" fmla="*/ 9 w 19"/>
                  <a:gd name="T29" fmla="*/ 2745 h 2753"/>
                  <a:gd name="T30" fmla="*/ 7 w 19"/>
                  <a:gd name="T31" fmla="*/ 2742 h 2753"/>
                  <a:gd name="T32" fmla="*/ 5 w 19"/>
                  <a:gd name="T33" fmla="*/ 2740 h 2753"/>
                  <a:gd name="T34" fmla="*/ 2 w 19"/>
                  <a:gd name="T35" fmla="*/ 2737 h 2753"/>
                  <a:gd name="T36" fmla="*/ 0 w 19"/>
                  <a:gd name="T37" fmla="*/ 2734 h 2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753">
                    <a:moveTo>
                      <a:pt x="0" y="2734"/>
                    </a:moveTo>
                    <a:lnTo>
                      <a:pt x="0" y="20"/>
                    </a:lnTo>
                    <a:lnTo>
                      <a:pt x="2" y="18"/>
                    </a:lnTo>
                    <a:lnTo>
                      <a:pt x="5" y="15"/>
                    </a:lnTo>
                    <a:lnTo>
                      <a:pt x="7" y="13"/>
                    </a:lnTo>
                    <a:lnTo>
                      <a:pt x="9" y="9"/>
                    </a:lnTo>
                    <a:lnTo>
                      <a:pt x="12" y="7"/>
                    </a:lnTo>
                    <a:lnTo>
                      <a:pt x="14" y="5"/>
                    </a:lnTo>
                    <a:lnTo>
                      <a:pt x="16" y="3"/>
                    </a:lnTo>
                    <a:lnTo>
                      <a:pt x="19" y="0"/>
                    </a:lnTo>
                    <a:lnTo>
                      <a:pt x="19" y="2753"/>
                    </a:lnTo>
                    <a:lnTo>
                      <a:pt x="16" y="2751"/>
                    </a:lnTo>
                    <a:lnTo>
                      <a:pt x="14" y="2749"/>
                    </a:lnTo>
                    <a:lnTo>
                      <a:pt x="12" y="2747"/>
                    </a:lnTo>
                    <a:lnTo>
                      <a:pt x="9" y="2745"/>
                    </a:lnTo>
                    <a:lnTo>
                      <a:pt x="7" y="2742"/>
                    </a:lnTo>
                    <a:lnTo>
                      <a:pt x="5" y="2740"/>
                    </a:lnTo>
                    <a:lnTo>
                      <a:pt x="2" y="2737"/>
                    </a:lnTo>
                    <a:lnTo>
                      <a:pt x="0" y="2734"/>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09" name="Freeform 1497"/>
              <p:cNvSpPr>
                <a:spLocks noChangeAspect="1"/>
              </p:cNvSpPr>
              <p:nvPr/>
            </p:nvSpPr>
            <p:spPr bwMode="auto">
              <a:xfrm>
                <a:off x="4817" y="765"/>
                <a:ext cx="6" cy="924"/>
              </a:xfrm>
              <a:custGeom>
                <a:avLst/>
                <a:gdLst>
                  <a:gd name="T0" fmla="*/ 0 w 19"/>
                  <a:gd name="T1" fmla="*/ 2754 h 2771"/>
                  <a:gd name="T2" fmla="*/ 0 w 19"/>
                  <a:gd name="T3" fmla="*/ 18 h 2771"/>
                  <a:gd name="T4" fmla="*/ 2 w 19"/>
                  <a:gd name="T5" fmla="*/ 16 h 2771"/>
                  <a:gd name="T6" fmla="*/ 4 w 19"/>
                  <a:gd name="T7" fmla="*/ 14 h 2771"/>
                  <a:gd name="T8" fmla="*/ 6 w 19"/>
                  <a:gd name="T9" fmla="*/ 12 h 2771"/>
                  <a:gd name="T10" fmla="*/ 8 w 19"/>
                  <a:gd name="T11" fmla="*/ 9 h 2771"/>
                  <a:gd name="T12" fmla="*/ 12 w 19"/>
                  <a:gd name="T13" fmla="*/ 7 h 2771"/>
                  <a:gd name="T14" fmla="*/ 14 w 19"/>
                  <a:gd name="T15" fmla="*/ 5 h 2771"/>
                  <a:gd name="T16" fmla="*/ 16 w 19"/>
                  <a:gd name="T17" fmla="*/ 2 h 2771"/>
                  <a:gd name="T18" fmla="*/ 19 w 19"/>
                  <a:gd name="T19" fmla="*/ 0 h 2771"/>
                  <a:gd name="T20" fmla="*/ 19 w 19"/>
                  <a:gd name="T21" fmla="*/ 2771 h 2771"/>
                  <a:gd name="T22" fmla="*/ 16 w 19"/>
                  <a:gd name="T23" fmla="*/ 2769 h 2771"/>
                  <a:gd name="T24" fmla="*/ 14 w 19"/>
                  <a:gd name="T25" fmla="*/ 2767 h 2771"/>
                  <a:gd name="T26" fmla="*/ 12 w 19"/>
                  <a:gd name="T27" fmla="*/ 2764 h 2771"/>
                  <a:gd name="T28" fmla="*/ 8 w 19"/>
                  <a:gd name="T29" fmla="*/ 2762 h 2771"/>
                  <a:gd name="T30" fmla="*/ 6 w 19"/>
                  <a:gd name="T31" fmla="*/ 2760 h 2771"/>
                  <a:gd name="T32" fmla="*/ 4 w 19"/>
                  <a:gd name="T33" fmla="*/ 2758 h 2771"/>
                  <a:gd name="T34" fmla="*/ 2 w 19"/>
                  <a:gd name="T35" fmla="*/ 2756 h 2771"/>
                  <a:gd name="T36" fmla="*/ 0 w 19"/>
                  <a:gd name="T37" fmla="*/ 2754 h 2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771">
                    <a:moveTo>
                      <a:pt x="0" y="2754"/>
                    </a:moveTo>
                    <a:lnTo>
                      <a:pt x="0" y="18"/>
                    </a:lnTo>
                    <a:lnTo>
                      <a:pt x="2" y="16"/>
                    </a:lnTo>
                    <a:lnTo>
                      <a:pt x="4" y="14"/>
                    </a:lnTo>
                    <a:lnTo>
                      <a:pt x="6" y="12"/>
                    </a:lnTo>
                    <a:lnTo>
                      <a:pt x="8" y="9"/>
                    </a:lnTo>
                    <a:lnTo>
                      <a:pt x="12" y="7"/>
                    </a:lnTo>
                    <a:lnTo>
                      <a:pt x="14" y="5"/>
                    </a:lnTo>
                    <a:lnTo>
                      <a:pt x="16" y="2"/>
                    </a:lnTo>
                    <a:lnTo>
                      <a:pt x="19" y="0"/>
                    </a:lnTo>
                    <a:lnTo>
                      <a:pt x="19" y="2771"/>
                    </a:lnTo>
                    <a:lnTo>
                      <a:pt x="16" y="2769"/>
                    </a:lnTo>
                    <a:lnTo>
                      <a:pt x="14" y="2767"/>
                    </a:lnTo>
                    <a:lnTo>
                      <a:pt x="12" y="2764"/>
                    </a:lnTo>
                    <a:lnTo>
                      <a:pt x="8" y="2762"/>
                    </a:lnTo>
                    <a:lnTo>
                      <a:pt x="6" y="2760"/>
                    </a:lnTo>
                    <a:lnTo>
                      <a:pt x="4" y="2758"/>
                    </a:lnTo>
                    <a:lnTo>
                      <a:pt x="2" y="2756"/>
                    </a:lnTo>
                    <a:lnTo>
                      <a:pt x="0" y="2754"/>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10" name="Freeform 1498"/>
              <p:cNvSpPr>
                <a:spLocks noChangeAspect="1"/>
              </p:cNvSpPr>
              <p:nvPr/>
            </p:nvSpPr>
            <p:spPr bwMode="auto">
              <a:xfrm>
                <a:off x="4819" y="762"/>
                <a:ext cx="8" cy="929"/>
              </a:xfrm>
              <a:custGeom>
                <a:avLst/>
                <a:gdLst>
                  <a:gd name="T0" fmla="*/ 0 w 20"/>
                  <a:gd name="T1" fmla="*/ 2769 h 2785"/>
                  <a:gd name="T2" fmla="*/ 0 w 20"/>
                  <a:gd name="T3" fmla="*/ 16 h 2785"/>
                  <a:gd name="T4" fmla="*/ 3 w 20"/>
                  <a:gd name="T5" fmla="*/ 14 h 2785"/>
                  <a:gd name="T6" fmla="*/ 5 w 20"/>
                  <a:gd name="T7" fmla="*/ 12 h 2785"/>
                  <a:gd name="T8" fmla="*/ 7 w 20"/>
                  <a:gd name="T9" fmla="*/ 9 h 2785"/>
                  <a:gd name="T10" fmla="*/ 9 w 20"/>
                  <a:gd name="T11" fmla="*/ 7 h 2785"/>
                  <a:gd name="T12" fmla="*/ 12 w 20"/>
                  <a:gd name="T13" fmla="*/ 5 h 2785"/>
                  <a:gd name="T14" fmla="*/ 14 w 20"/>
                  <a:gd name="T15" fmla="*/ 4 h 2785"/>
                  <a:gd name="T16" fmla="*/ 16 w 20"/>
                  <a:gd name="T17" fmla="*/ 2 h 2785"/>
                  <a:gd name="T18" fmla="*/ 20 w 20"/>
                  <a:gd name="T19" fmla="*/ 0 h 2785"/>
                  <a:gd name="T20" fmla="*/ 20 w 20"/>
                  <a:gd name="T21" fmla="*/ 2785 h 2785"/>
                  <a:gd name="T22" fmla="*/ 16 w 20"/>
                  <a:gd name="T23" fmla="*/ 2783 h 2785"/>
                  <a:gd name="T24" fmla="*/ 14 w 20"/>
                  <a:gd name="T25" fmla="*/ 2781 h 2785"/>
                  <a:gd name="T26" fmla="*/ 12 w 20"/>
                  <a:gd name="T27" fmla="*/ 2780 h 2785"/>
                  <a:gd name="T28" fmla="*/ 9 w 20"/>
                  <a:gd name="T29" fmla="*/ 2778 h 2785"/>
                  <a:gd name="T30" fmla="*/ 7 w 20"/>
                  <a:gd name="T31" fmla="*/ 2776 h 2785"/>
                  <a:gd name="T32" fmla="*/ 5 w 20"/>
                  <a:gd name="T33" fmla="*/ 2774 h 2785"/>
                  <a:gd name="T34" fmla="*/ 3 w 20"/>
                  <a:gd name="T35" fmla="*/ 2771 h 2785"/>
                  <a:gd name="T36" fmla="*/ 0 w 20"/>
                  <a:gd name="T37" fmla="*/ 2769 h 2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2785">
                    <a:moveTo>
                      <a:pt x="0" y="2769"/>
                    </a:moveTo>
                    <a:lnTo>
                      <a:pt x="0" y="16"/>
                    </a:lnTo>
                    <a:lnTo>
                      <a:pt x="3" y="14"/>
                    </a:lnTo>
                    <a:lnTo>
                      <a:pt x="5" y="12"/>
                    </a:lnTo>
                    <a:lnTo>
                      <a:pt x="7" y="9"/>
                    </a:lnTo>
                    <a:lnTo>
                      <a:pt x="9" y="7"/>
                    </a:lnTo>
                    <a:lnTo>
                      <a:pt x="12" y="5"/>
                    </a:lnTo>
                    <a:lnTo>
                      <a:pt x="14" y="4"/>
                    </a:lnTo>
                    <a:lnTo>
                      <a:pt x="16" y="2"/>
                    </a:lnTo>
                    <a:lnTo>
                      <a:pt x="20" y="0"/>
                    </a:lnTo>
                    <a:lnTo>
                      <a:pt x="20" y="2785"/>
                    </a:lnTo>
                    <a:lnTo>
                      <a:pt x="16" y="2783"/>
                    </a:lnTo>
                    <a:lnTo>
                      <a:pt x="14" y="2781"/>
                    </a:lnTo>
                    <a:lnTo>
                      <a:pt x="12" y="2780"/>
                    </a:lnTo>
                    <a:lnTo>
                      <a:pt x="9" y="2778"/>
                    </a:lnTo>
                    <a:lnTo>
                      <a:pt x="7" y="2776"/>
                    </a:lnTo>
                    <a:lnTo>
                      <a:pt x="5" y="2774"/>
                    </a:lnTo>
                    <a:lnTo>
                      <a:pt x="3" y="2771"/>
                    </a:lnTo>
                    <a:lnTo>
                      <a:pt x="0" y="2769"/>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11" name="Freeform 1499"/>
              <p:cNvSpPr>
                <a:spLocks noChangeAspect="1"/>
              </p:cNvSpPr>
              <p:nvPr/>
            </p:nvSpPr>
            <p:spPr bwMode="auto">
              <a:xfrm>
                <a:off x="4823" y="760"/>
                <a:ext cx="6" cy="934"/>
              </a:xfrm>
              <a:custGeom>
                <a:avLst/>
                <a:gdLst>
                  <a:gd name="T0" fmla="*/ 0 w 19"/>
                  <a:gd name="T1" fmla="*/ 2786 h 2800"/>
                  <a:gd name="T2" fmla="*/ 0 w 19"/>
                  <a:gd name="T3" fmla="*/ 15 h 2800"/>
                  <a:gd name="T4" fmla="*/ 2 w 19"/>
                  <a:gd name="T5" fmla="*/ 13 h 2800"/>
                  <a:gd name="T6" fmla="*/ 4 w 19"/>
                  <a:gd name="T7" fmla="*/ 12 h 2800"/>
                  <a:gd name="T8" fmla="*/ 6 w 19"/>
                  <a:gd name="T9" fmla="*/ 10 h 2800"/>
                  <a:gd name="T10" fmla="*/ 9 w 19"/>
                  <a:gd name="T11" fmla="*/ 8 h 2800"/>
                  <a:gd name="T12" fmla="*/ 12 w 19"/>
                  <a:gd name="T13" fmla="*/ 6 h 2800"/>
                  <a:gd name="T14" fmla="*/ 14 w 19"/>
                  <a:gd name="T15" fmla="*/ 5 h 2800"/>
                  <a:gd name="T16" fmla="*/ 16 w 19"/>
                  <a:gd name="T17" fmla="*/ 3 h 2800"/>
                  <a:gd name="T18" fmla="*/ 19 w 19"/>
                  <a:gd name="T19" fmla="*/ 0 h 2800"/>
                  <a:gd name="T20" fmla="*/ 19 w 19"/>
                  <a:gd name="T21" fmla="*/ 2800 h 2800"/>
                  <a:gd name="T22" fmla="*/ 16 w 19"/>
                  <a:gd name="T23" fmla="*/ 2799 h 2800"/>
                  <a:gd name="T24" fmla="*/ 14 w 19"/>
                  <a:gd name="T25" fmla="*/ 2796 h 2800"/>
                  <a:gd name="T26" fmla="*/ 12 w 19"/>
                  <a:gd name="T27" fmla="*/ 2794 h 2800"/>
                  <a:gd name="T28" fmla="*/ 9 w 19"/>
                  <a:gd name="T29" fmla="*/ 2793 h 2800"/>
                  <a:gd name="T30" fmla="*/ 6 w 19"/>
                  <a:gd name="T31" fmla="*/ 2791 h 2800"/>
                  <a:gd name="T32" fmla="*/ 4 w 19"/>
                  <a:gd name="T33" fmla="*/ 2789 h 2800"/>
                  <a:gd name="T34" fmla="*/ 2 w 19"/>
                  <a:gd name="T35" fmla="*/ 2788 h 2800"/>
                  <a:gd name="T36" fmla="*/ 0 w 19"/>
                  <a:gd name="T37" fmla="*/ 2786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00">
                    <a:moveTo>
                      <a:pt x="0" y="2786"/>
                    </a:moveTo>
                    <a:lnTo>
                      <a:pt x="0" y="15"/>
                    </a:lnTo>
                    <a:lnTo>
                      <a:pt x="2" y="13"/>
                    </a:lnTo>
                    <a:lnTo>
                      <a:pt x="4" y="12"/>
                    </a:lnTo>
                    <a:lnTo>
                      <a:pt x="6" y="10"/>
                    </a:lnTo>
                    <a:lnTo>
                      <a:pt x="9" y="8"/>
                    </a:lnTo>
                    <a:lnTo>
                      <a:pt x="12" y="6"/>
                    </a:lnTo>
                    <a:lnTo>
                      <a:pt x="14" y="5"/>
                    </a:lnTo>
                    <a:lnTo>
                      <a:pt x="16" y="3"/>
                    </a:lnTo>
                    <a:lnTo>
                      <a:pt x="19" y="0"/>
                    </a:lnTo>
                    <a:lnTo>
                      <a:pt x="19" y="2800"/>
                    </a:lnTo>
                    <a:lnTo>
                      <a:pt x="16" y="2799"/>
                    </a:lnTo>
                    <a:lnTo>
                      <a:pt x="14" y="2796"/>
                    </a:lnTo>
                    <a:lnTo>
                      <a:pt x="12" y="2794"/>
                    </a:lnTo>
                    <a:lnTo>
                      <a:pt x="9" y="2793"/>
                    </a:lnTo>
                    <a:lnTo>
                      <a:pt x="6" y="2791"/>
                    </a:lnTo>
                    <a:lnTo>
                      <a:pt x="4" y="2789"/>
                    </a:lnTo>
                    <a:lnTo>
                      <a:pt x="2" y="2788"/>
                    </a:lnTo>
                    <a:lnTo>
                      <a:pt x="0" y="2786"/>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12" name="Freeform 1500"/>
              <p:cNvSpPr>
                <a:spLocks noChangeAspect="1"/>
              </p:cNvSpPr>
              <p:nvPr/>
            </p:nvSpPr>
            <p:spPr bwMode="auto">
              <a:xfrm>
                <a:off x="4827" y="758"/>
                <a:ext cx="6" cy="935"/>
              </a:xfrm>
              <a:custGeom>
                <a:avLst/>
                <a:gdLst>
                  <a:gd name="T0" fmla="*/ 0 w 18"/>
                  <a:gd name="T1" fmla="*/ 2798 h 2811"/>
                  <a:gd name="T2" fmla="*/ 0 w 18"/>
                  <a:gd name="T3" fmla="*/ 13 h 2811"/>
                  <a:gd name="T4" fmla="*/ 2 w 18"/>
                  <a:gd name="T5" fmla="*/ 11 h 2811"/>
                  <a:gd name="T6" fmla="*/ 4 w 18"/>
                  <a:gd name="T7" fmla="*/ 10 h 2811"/>
                  <a:gd name="T8" fmla="*/ 6 w 18"/>
                  <a:gd name="T9" fmla="*/ 8 h 2811"/>
                  <a:gd name="T10" fmla="*/ 8 w 18"/>
                  <a:gd name="T11" fmla="*/ 6 h 2811"/>
                  <a:gd name="T12" fmla="*/ 11 w 18"/>
                  <a:gd name="T13" fmla="*/ 4 h 2811"/>
                  <a:gd name="T14" fmla="*/ 13 w 18"/>
                  <a:gd name="T15" fmla="*/ 3 h 2811"/>
                  <a:gd name="T16" fmla="*/ 16 w 18"/>
                  <a:gd name="T17" fmla="*/ 1 h 2811"/>
                  <a:gd name="T18" fmla="*/ 18 w 18"/>
                  <a:gd name="T19" fmla="*/ 0 h 2811"/>
                  <a:gd name="T20" fmla="*/ 18 w 18"/>
                  <a:gd name="T21" fmla="*/ 2811 h 2811"/>
                  <a:gd name="T22" fmla="*/ 16 w 18"/>
                  <a:gd name="T23" fmla="*/ 2809 h 2811"/>
                  <a:gd name="T24" fmla="*/ 13 w 18"/>
                  <a:gd name="T25" fmla="*/ 2808 h 2811"/>
                  <a:gd name="T26" fmla="*/ 11 w 18"/>
                  <a:gd name="T27" fmla="*/ 2807 h 2811"/>
                  <a:gd name="T28" fmla="*/ 8 w 18"/>
                  <a:gd name="T29" fmla="*/ 2805 h 2811"/>
                  <a:gd name="T30" fmla="*/ 6 w 18"/>
                  <a:gd name="T31" fmla="*/ 2804 h 2811"/>
                  <a:gd name="T32" fmla="*/ 4 w 18"/>
                  <a:gd name="T33" fmla="*/ 2801 h 2811"/>
                  <a:gd name="T34" fmla="*/ 2 w 18"/>
                  <a:gd name="T35" fmla="*/ 2800 h 2811"/>
                  <a:gd name="T36" fmla="*/ 0 w 18"/>
                  <a:gd name="T37" fmla="*/ 2798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2811">
                    <a:moveTo>
                      <a:pt x="0" y="2798"/>
                    </a:moveTo>
                    <a:lnTo>
                      <a:pt x="0" y="13"/>
                    </a:lnTo>
                    <a:lnTo>
                      <a:pt x="2" y="11"/>
                    </a:lnTo>
                    <a:lnTo>
                      <a:pt x="4" y="10"/>
                    </a:lnTo>
                    <a:lnTo>
                      <a:pt x="6" y="8"/>
                    </a:lnTo>
                    <a:lnTo>
                      <a:pt x="8" y="6"/>
                    </a:lnTo>
                    <a:lnTo>
                      <a:pt x="11" y="4"/>
                    </a:lnTo>
                    <a:lnTo>
                      <a:pt x="13" y="3"/>
                    </a:lnTo>
                    <a:lnTo>
                      <a:pt x="16" y="1"/>
                    </a:lnTo>
                    <a:lnTo>
                      <a:pt x="18" y="0"/>
                    </a:lnTo>
                    <a:lnTo>
                      <a:pt x="18" y="2811"/>
                    </a:lnTo>
                    <a:lnTo>
                      <a:pt x="16" y="2809"/>
                    </a:lnTo>
                    <a:lnTo>
                      <a:pt x="13" y="2808"/>
                    </a:lnTo>
                    <a:lnTo>
                      <a:pt x="11" y="2807"/>
                    </a:lnTo>
                    <a:lnTo>
                      <a:pt x="8" y="2805"/>
                    </a:lnTo>
                    <a:lnTo>
                      <a:pt x="6" y="2804"/>
                    </a:lnTo>
                    <a:lnTo>
                      <a:pt x="4" y="2801"/>
                    </a:lnTo>
                    <a:lnTo>
                      <a:pt x="2" y="2800"/>
                    </a:lnTo>
                    <a:lnTo>
                      <a:pt x="0" y="2798"/>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13" name="Freeform 1501"/>
              <p:cNvSpPr>
                <a:spLocks noChangeAspect="1"/>
              </p:cNvSpPr>
              <p:nvPr/>
            </p:nvSpPr>
            <p:spPr bwMode="auto">
              <a:xfrm>
                <a:off x="4830" y="756"/>
                <a:ext cx="6" cy="941"/>
              </a:xfrm>
              <a:custGeom>
                <a:avLst/>
                <a:gdLst>
                  <a:gd name="T0" fmla="*/ 0 w 18"/>
                  <a:gd name="T1" fmla="*/ 2811 h 2822"/>
                  <a:gd name="T2" fmla="*/ 0 w 18"/>
                  <a:gd name="T3" fmla="*/ 11 h 2822"/>
                  <a:gd name="T4" fmla="*/ 2 w 18"/>
                  <a:gd name="T5" fmla="*/ 10 h 2822"/>
                  <a:gd name="T6" fmla="*/ 4 w 18"/>
                  <a:gd name="T7" fmla="*/ 9 h 2822"/>
                  <a:gd name="T8" fmla="*/ 7 w 18"/>
                  <a:gd name="T9" fmla="*/ 7 h 2822"/>
                  <a:gd name="T10" fmla="*/ 9 w 18"/>
                  <a:gd name="T11" fmla="*/ 6 h 2822"/>
                  <a:gd name="T12" fmla="*/ 12 w 18"/>
                  <a:gd name="T13" fmla="*/ 4 h 2822"/>
                  <a:gd name="T14" fmla="*/ 14 w 18"/>
                  <a:gd name="T15" fmla="*/ 3 h 2822"/>
                  <a:gd name="T16" fmla="*/ 16 w 18"/>
                  <a:gd name="T17" fmla="*/ 2 h 2822"/>
                  <a:gd name="T18" fmla="*/ 18 w 18"/>
                  <a:gd name="T19" fmla="*/ 0 h 2822"/>
                  <a:gd name="T20" fmla="*/ 18 w 18"/>
                  <a:gd name="T21" fmla="*/ 2822 h 2822"/>
                  <a:gd name="T22" fmla="*/ 16 w 18"/>
                  <a:gd name="T23" fmla="*/ 2821 h 2822"/>
                  <a:gd name="T24" fmla="*/ 14 w 18"/>
                  <a:gd name="T25" fmla="*/ 2819 h 2822"/>
                  <a:gd name="T26" fmla="*/ 12 w 18"/>
                  <a:gd name="T27" fmla="*/ 2818 h 2822"/>
                  <a:gd name="T28" fmla="*/ 9 w 18"/>
                  <a:gd name="T29" fmla="*/ 2817 h 2822"/>
                  <a:gd name="T30" fmla="*/ 7 w 18"/>
                  <a:gd name="T31" fmla="*/ 2815 h 2822"/>
                  <a:gd name="T32" fmla="*/ 4 w 18"/>
                  <a:gd name="T33" fmla="*/ 2814 h 2822"/>
                  <a:gd name="T34" fmla="*/ 2 w 18"/>
                  <a:gd name="T35" fmla="*/ 2813 h 2822"/>
                  <a:gd name="T36" fmla="*/ 0 w 18"/>
                  <a:gd name="T37" fmla="*/ 2811 h 2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2822">
                    <a:moveTo>
                      <a:pt x="0" y="2811"/>
                    </a:moveTo>
                    <a:lnTo>
                      <a:pt x="0" y="11"/>
                    </a:lnTo>
                    <a:lnTo>
                      <a:pt x="2" y="10"/>
                    </a:lnTo>
                    <a:lnTo>
                      <a:pt x="4" y="9"/>
                    </a:lnTo>
                    <a:lnTo>
                      <a:pt x="7" y="7"/>
                    </a:lnTo>
                    <a:lnTo>
                      <a:pt x="9" y="6"/>
                    </a:lnTo>
                    <a:lnTo>
                      <a:pt x="12" y="4"/>
                    </a:lnTo>
                    <a:lnTo>
                      <a:pt x="14" y="3"/>
                    </a:lnTo>
                    <a:lnTo>
                      <a:pt x="16" y="2"/>
                    </a:lnTo>
                    <a:lnTo>
                      <a:pt x="18" y="0"/>
                    </a:lnTo>
                    <a:lnTo>
                      <a:pt x="18" y="2822"/>
                    </a:lnTo>
                    <a:lnTo>
                      <a:pt x="16" y="2821"/>
                    </a:lnTo>
                    <a:lnTo>
                      <a:pt x="14" y="2819"/>
                    </a:lnTo>
                    <a:lnTo>
                      <a:pt x="12" y="2818"/>
                    </a:lnTo>
                    <a:lnTo>
                      <a:pt x="9" y="2817"/>
                    </a:lnTo>
                    <a:lnTo>
                      <a:pt x="7" y="2815"/>
                    </a:lnTo>
                    <a:lnTo>
                      <a:pt x="4" y="2814"/>
                    </a:lnTo>
                    <a:lnTo>
                      <a:pt x="2" y="2813"/>
                    </a:lnTo>
                    <a:lnTo>
                      <a:pt x="0" y="2811"/>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14" name="Freeform 1502"/>
              <p:cNvSpPr>
                <a:spLocks noChangeAspect="1"/>
              </p:cNvSpPr>
              <p:nvPr/>
            </p:nvSpPr>
            <p:spPr bwMode="auto">
              <a:xfrm>
                <a:off x="4833" y="753"/>
                <a:ext cx="5" cy="945"/>
              </a:xfrm>
              <a:custGeom>
                <a:avLst/>
                <a:gdLst>
                  <a:gd name="T0" fmla="*/ 0 w 19"/>
                  <a:gd name="T1" fmla="*/ 2822 h 2832"/>
                  <a:gd name="T2" fmla="*/ 0 w 19"/>
                  <a:gd name="T3" fmla="*/ 11 h 2832"/>
                  <a:gd name="T4" fmla="*/ 3 w 19"/>
                  <a:gd name="T5" fmla="*/ 9 h 2832"/>
                  <a:gd name="T6" fmla="*/ 5 w 19"/>
                  <a:gd name="T7" fmla="*/ 8 h 2832"/>
                  <a:gd name="T8" fmla="*/ 7 w 19"/>
                  <a:gd name="T9" fmla="*/ 7 h 2832"/>
                  <a:gd name="T10" fmla="*/ 9 w 19"/>
                  <a:gd name="T11" fmla="*/ 5 h 2832"/>
                  <a:gd name="T12" fmla="*/ 12 w 19"/>
                  <a:gd name="T13" fmla="*/ 4 h 2832"/>
                  <a:gd name="T14" fmla="*/ 15 w 19"/>
                  <a:gd name="T15" fmla="*/ 3 h 2832"/>
                  <a:gd name="T16" fmla="*/ 17 w 19"/>
                  <a:gd name="T17" fmla="*/ 2 h 2832"/>
                  <a:gd name="T18" fmla="*/ 19 w 19"/>
                  <a:gd name="T19" fmla="*/ 0 h 2832"/>
                  <a:gd name="T20" fmla="*/ 19 w 19"/>
                  <a:gd name="T21" fmla="*/ 2832 h 2832"/>
                  <a:gd name="T22" fmla="*/ 17 w 19"/>
                  <a:gd name="T23" fmla="*/ 2831 h 2832"/>
                  <a:gd name="T24" fmla="*/ 15 w 19"/>
                  <a:gd name="T25" fmla="*/ 2830 h 2832"/>
                  <a:gd name="T26" fmla="*/ 12 w 19"/>
                  <a:gd name="T27" fmla="*/ 2828 h 2832"/>
                  <a:gd name="T28" fmla="*/ 9 w 19"/>
                  <a:gd name="T29" fmla="*/ 2827 h 2832"/>
                  <a:gd name="T30" fmla="*/ 7 w 19"/>
                  <a:gd name="T31" fmla="*/ 2826 h 2832"/>
                  <a:gd name="T32" fmla="*/ 5 w 19"/>
                  <a:gd name="T33" fmla="*/ 2824 h 2832"/>
                  <a:gd name="T34" fmla="*/ 3 w 19"/>
                  <a:gd name="T35" fmla="*/ 2823 h 2832"/>
                  <a:gd name="T36" fmla="*/ 0 w 19"/>
                  <a:gd name="T37" fmla="*/ 2822 h 2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32">
                    <a:moveTo>
                      <a:pt x="0" y="2822"/>
                    </a:moveTo>
                    <a:lnTo>
                      <a:pt x="0" y="11"/>
                    </a:lnTo>
                    <a:lnTo>
                      <a:pt x="3" y="9"/>
                    </a:lnTo>
                    <a:lnTo>
                      <a:pt x="5" y="8"/>
                    </a:lnTo>
                    <a:lnTo>
                      <a:pt x="7" y="7"/>
                    </a:lnTo>
                    <a:lnTo>
                      <a:pt x="9" y="5"/>
                    </a:lnTo>
                    <a:lnTo>
                      <a:pt x="12" y="4"/>
                    </a:lnTo>
                    <a:lnTo>
                      <a:pt x="15" y="3"/>
                    </a:lnTo>
                    <a:lnTo>
                      <a:pt x="17" y="2"/>
                    </a:lnTo>
                    <a:lnTo>
                      <a:pt x="19" y="0"/>
                    </a:lnTo>
                    <a:lnTo>
                      <a:pt x="19" y="2832"/>
                    </a:lnTo>
                    <a:lnTo>
                      <a:pt x="17" y="2831"/>
                    </a:lnTo>
                    <a:lnTo>
                      <a:pt x="15" y="2830"/>
                    </a:lnTo>
                    <a:lnTo>
                      <a:pt x="12" y="2828"/>
                    </a:lnTo>
                    <a:lnTo>
                      <a:pt x="9" y="2827"/>
                    </a:lnTo>
                    <a:lnTo>
                      <a:pt x="7" y="2826"/>
                    </a:lnTo>
                    <a:lnTo>
                      <a:pt x="5" y="2824"/>
                    </a:lnTo>
                    <a:lnTo>
                      <a:pt x="3" y="2823"/>
                    </a:lnTo>
                    <a:lnTo>
                      <a:pt x="0" y="2822"/>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15" name="Freeform 1503"/>
              <p:cNvSpPr>
                <a:spLocks noChangeAspect="1"/>
              </p:cNvSpPr>
              <p:nvPr/>
            </p:nvSpPr>
            <p:spPr bwMode="auto">
              <a:xfrm>
                <a:off x="4836" y="753"/>
                <a:ext cx="6" cy="945"/>
              </a:xfrm>
              <a:custGeom>
                <a:avLst/>
                <a:gdLst>
                  <a:gd name="T0" fmla="*/ 0 w 19"/>
                  <a:gd name="T1" fmla="*/ 2832 h 2841"/>
                  <a:gd name="T2" fmla="*/ 0 w 19"/>
                  <a:gd name="T3" fmla="*/ 10 h 2841"/>
                  <a:gd name="T4" fmla="*/ 3 w 19"/>
                  <a:gd name="T5" fmla="*/ 9 h 2841"/>
                  <a:gd name="T6" fmla="*/ 6 w 19"/>
                  <a:gd name="T7" fmla="*/ 8 h 2841"/>
                  <a:gd name="T8" fmla="*/ 8 w 19"/>
                  <a:gd name="T9" fmla="*/ 7 h 2841"/>
                  <a:gd name="T10" fmla="*/ 10 w 19"/>
                  <a:gd name="T11" fmla="*/ 5 h 2841"/>
                  <a:gd name="T12" fmla="*/ 13 w 19"/>
                  <a:gd name="T13" fmla="*/ 4 h 2841"/>
                  <a:gd name="T14" fmla="*/ 15 w 19"/>
                  <a:gd name="T15" fmla="*/ 2 h 2841"/>
                  <a:gd name="T16" fmla="*/ 17 w 19"/>
                  <a:gd name="T17" fmla="*/ 1 h 2841"/>
                  <a:gd name="T18" fmla="*/ 19 w 19"/>
                  <a:gd name="T19" fmla="*/ 0 h 2841"/>
                  <a:gd name="T20" fmla="*/ 19 w 19"/>
                  <a:gd name="T21" fmla="*/ 2841 h 2841"/>
                  <a:gd name="T22" fmla="*/ 17 w 19"/>
                  <a:gd name="T23" fmla="*/ 2840 h 2841"/>
                  <a:gd name="T24" fmla="*/ 15 w 19"/>
                  <a:gd name="T25" fmla="*/ 2839 h 2841"/>
                  <a:gd name="T26" fmla="*/ 13 w 19"/>
                  <a:gd name="T27" fmla="*/ 2838 h 2841"/>
                  <a:gd name="T28" fmla="*/ 10 w 19"/>
                  <a:gd name="T29" fmla="*/ 2837 h 2841"/>
                  <a:gd name="T30" fmla="*/ 8 w 19"/>
                  <a:gd name="T31" fmla="*/ 2836 h 2841"/>
                  <a:gd name="T32" fmla="*/ 6 w 19"/>
                  <a:gd name="T33" fmla="*/ 2835 h 2841"/>
                  <a:gd name="T34" fmla="*/ 3 w 19"/>
                  <a:gd name="T35" fmla="*/ 2833 h 2841"/>
                  <a:gd name="T36" fmla="*/ 0 w 19"/>
                  <a:gd name="T37" fmla="*/ 2832 h 2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41">
                    <a:moveTo>
                      <a:pt x="0" y="2832"/>
                    </a:moveTo>
                    <a:lnTo>
                      <a:pt x="0" y="10"/>
                    </a:lnTo>
                    <a:lnTo>
                      <a:pt x="3" y="9"/>
                    </a:lnTo>
                    <a:lnTo>
                      <a:pt x="6" y="8"/>
                    </a:lnTo>
                    <a:lnTo>
                      <a:pt x="8" y="7"/>
                    </a:lnTo>
                    <a:lnTo>
                      <a:pt x="10" y="5"/>
                    </a:lnTo>
                    <a:lnTo>
                      <a:pt x="13" y="4"/>
                    </a:lnTo>
                    <a:lnTo>
                      <a:pt x="15" y="2"/>
                    </a:lnTo>
                    <a:lnTo>
                      <a:pt x="17" y="1"/>
                    </a:lnTo>
                    <a:lnTo>
                      <a:pt x="19" y="0"/>
                    </a:lnTo>
                    <a:lnTo>
                      <a:pt x="19" y="2841"/>
                    </a:lnTo>
                    <a:lnTo>
                      <a:pt x="17" y="2840"/>
                    </a:lnTo>
                    <a:lnTo>
                      <a:pt x="15" y="2839"/>
                    </a:lnTo>
                    <a:lnTo>
                      <a:pt x="13" y="2838"/>
                    </a:lnTo>
                    <a:lnTo>
                      <a:pt x="10" y="2837"/>
                    </a:lnTo>
                    <a:lnTo>
                      <a:pt x="8" y="2836"/>
                    </a:lnTo>
                    <a:lnTo>
                      <a:pt x="6" y="2835"/>
                    </a:lnTo>
                    <a:lnTo>
                      <a:pt x="3" y="2833"/>
                    </a:lnTo>
                    <a:lnTo>
                      <a:pt x="0" y="2832"/>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16" name="Freeform 1504"/>
              <p:cNvSpPr>
                <a:spLocks noChangeAspect="1"/>
              </p:cNvSpPr>
              <p:nvPr/>
            </p:nvSpPr>
            <p:spPr bwMode="auto">
              <a:xfrm>
                <a:off x="4839" y="752"/>
                <a:ext cx="6" cy="949"/>
              </a:xfrm>
              <a:custGeom>
                <a:avLst/>
                <a:gdLst>
                  <a:gd name="T0" fmla="*/ 0 w 19"/>
                  <a:gd name="T1" fmla="*/ 2840 h 2848"/>
                  <a:gd name="T2" fmla="*/ 0 w 19"/>
                  <a:gd name="T3" fmla="*/ 8 h 2848"/>
                  <a:gd name="T4" fmla="*/ 3 w 19"/>
                  <a:gd name="T5" fmla="*/ 6 h 2848"/>
                  <a:gd name="T6" fmla="*/ 5 w 19"/>
                  <a:gd name="T7" fmla="*/ 5 h 2848"/>
                  <a:gd name="T8" fmla="*/ 7 w 19"/>
                  <a:gd name="T9" fmla="*/ 4 h 2848"/>
                  <a:gd name="T10" fmla="*/ 9 w 19"/>
                  <a:gd name="T11" fmla="*/ 3 h 2848"/>
                  <a:gd name="T12" fmla="*/ 13 w 19"/>
                  <a:gd name="T13" fmla="*/ 2 h 2848"/>
                  <a:gd name="T14" fmla="*/ 15 w 19"/>
                  <a:gd name="T15" fmla="*/ 1 h 2848"/>
                  <a:gd name="T16" fmla="*/ 17 w 19"/>
                  <a:gd name="T17" fmla="*/ 0 h 2848"/>
                  <a:gd name="T18" fmla="*/ 19 w 19"/>
                  <a:gd name="T19" fmla="*/ 0 h 2848"/>
                  <a:gd name="T20" fmla="*/ 19 w 19"/>
                  <a:gd name="T21" fmla="*/ 2848 h 2848"/>
                  <a:gd name="T22" fmla="*/ 17 w 19"/>
                  <a:gd name="T23" fmla="*/ 2847 h 2848"/>
                  <a:gd name="T24" fmla="*/ 15 w 19"/>
                  <a:gd name="T25" fmla="*/ 2846 h 2848"/>
                  <a:gd name="T26" fmla="*/ 13 w 19"/>
                  <a:gd name="T27" fmla="*/ 2845 h 2848"/>
                  <a:gd name="T28" fmla="*/ 9 w 19"/>
                  <a:gd name="T29" fmla="*/ 2844 h 2848"/>
                  <a:gd name="T30" fmla="*/ 7 w 19"/>
                  <a:gd name="T31" fmla="*/ 2843 h 2848"/>
                  <a:gd name="T32" fmla="*/ 5 w 19"/>
                  <a:gd name="T33" fmla="*/ 2842 h 2848"/>
                  <a:gd name="T34" fmla="*/ 3 w 19"/>
                  <a:gd name="T35" fmla="*/ 2841 h 2848"/>
                  <a:gd name="T36" fmla="*/ 0 w 19"/>
                  <a:gd name="T37" fmla="*/ 2840 h 2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48">
                    <a:moveTo>
                      <a:pt x="0" y="2840"/>
                    </a:moveTo>
                    <a:lnTo>
                      <a:pt x="0" y="8"/>
                    </a:lnTo>
                    <a:lnTo>
                      <a:pt x="3" y="6"/>
                    </a:lnTo>
                    <a:lnTo>
                      <a:pt x="5" y="5"/>
                    </a:lnTo>
                    <a:lnTo>
                      <a:pt x="7" y="4"/>
                    </a:lnTo>
                    <a:lnTo>
                      <a:pt x="9" y="3"/>
                    </a:lnTo>
                    <a:lnTo>
                      <a:pt x="13" y="2"/>
                    </a:lnTo>
                    <a:lnTo>
                      <a:pt x="15" y="1"/>
                    </a:lnTo>
                    <a:lnTo>
                      <a:pt x="17" y="0"/>
                    </a:lnTo>
                    <a:lnTo>
                      <a:pt x="19" y="0"/>
                    </a:lnTo>
                    <a:lnTo>
                      <a:pt x="19" y="2848"/>
                    </a:lnTo>
                    <a:lnTo>
                      <a:pt x="17" y="2847"/>
                    </a:lnTo>
                    <a:lnTo>
                      <a:pt x="15" y="2846"/>
                    </a:lnTo>
                    <a:lnTo>
                      <a:pt x="13" y="2845"/>
                    </a:lnTo>
                    <a:lnTo>
                      <a:pt x="9" y="2844"/>
                    </a:lnTo>
                    <a:lnTo>
                      <a:pt x="7" y="2843"/>
                    </a:lnTo>
                    <a:lnTo>
                      <a:pt x="5" y="2842"/>
                    </a:lnTo>
                    <a:lnTo>
                      <a:pt x="3" y="2841"/>
                    </a:lnTo>
                    <a:lnTo>
                      <a:pt x="0" y="2840"/>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17" name="Freeform 1505"/>
              <p:cNvSpPr>
                <a:spLocks noChangeAspect="1"/>
              </p:cNvSpPr>
              <p:nvPr/>
            </p:nvSpPr>
            <p:spPr bwMode="auto">
              <a:xfrm>
                <a:off x="4842" y="750"/>
                <a:ext cx="5" cy="954"/>
              </a:xfrm>
              <a:custGeom>
                <a:avLst/>
                <a:gdLst>
                  <a:gd name="T0" fmla="*/ 0 w 20"/>
                  <a:gd name="T1" fmla="*/ 2848 h 2855"/>
                  <a:gd name="T2" fmla="*/ 0 w 20"/>
                  <a:gd name="T3" fmla="*/ 7 h 2855"/>
                  <a:gd name="T4" fmla="*/ 4 w 20"/>
                  <a:gd name="T5" fmla="*/ 6 h 2855"/>
                  <a:gd name="T6" fmla="*/ 6 w 20"/>
                  <a:gd name="T7" fmla="*/ 5 h 2855"/>
                  <a:gd name="T8" fmla="*/ 8 w 20"/>
                  <a:gd name="T9" fmla="*/ 4 h 2855"/>
                  <a:gd name="T10" fmla="*/ 10 w 20"/>
                  <a:gd name="T11" fmla="*/ 4 h 2855"/>
                  <a:gd name="T12" fmla="*/ 13 w 20"/>
                  <a:gd name="T13" fmla="*/ 3 h 2855"/>
                  <a:gd name="T14" fmla="*/ 15 w 20"/>
                  <a:gd name="T15" fmla="*/ 2 h 2855"/>
                  <a:gd name="T16" fmla="*/ 17 w 20"/>
                  <a:gd name="T17" fmla="*/ 1 h 2855"/>
                  <a:gd name="T18" fmla="*/ 20 w 20"/>
                  <a:gd name="T19" fmla="*/ 0 h 2855"/>
                  <a:gd name="T20" fmla="*/ 20 w 20"/>
                  <a:gd name="T21" fmla="*/ 2855 h 2855"/>
                  <a:gd name="T22" fmla="*/ 17 w 20"/>
                  <a:gd name="T23" fmla="*/ 2854 h 2855"/>
                  <a:gd name="T24" fmla="*/ 15 w 20"/>
                  <a:gd name="T25" fmla="*/ 2854 h 2855"/>
                  <a:gd name="T26" fmla="*/ 13 w 20"/>
                  <a:gd name="T27" fmla="*/ 2853 h 2855"/>
                  <a:gd name="T28" fmla="*/ 10 w 20"/>
                  <a:gd name="T29" fmla="*/ 2852 h 2855"/>
                  <a:gd name="T30" fmla="*/ 8 w 20"/>
                  <a:gd name="T31" fmla="*/ 2851 h 2855"/>
                  <a:gd name="T32" fmla="*/ 6 w 20"/>
                  <a:gd name="T33" fmla="*/ 2850 h 2855"/>
                  <a:gd name="T34" fmla="*/ 4 w 20"/>
                  <a:gd name="T35" fmla="*/ 2849 h 2855"/>
                  <a:gd name="T36" fmla="*/ 0 w 20"/>
                  <a:gd name="T37" fmla="*/ 2848 h 2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2855">
                    <a:moveTo>
                      <a:pt x="0" y="2848"/>
                    </a:moveTo>
                    <a:lnTo>
                      <a:pt x="0" y="7"/>
                    </a:lnTo>
                    <a:lnTo>
                      <a:pt x="4" y="6"/>
                    </a:lnTo>
                    <a:lnTo>
                      <a:pt x="6" y="5"/>
                    </a:lnTo>
                    <a:lnTo>
                      <a:pt x="8" y="4"/>
                    </a:lnTo>
                    <a:lnTo>
                      <a:pt x="10" y="4"/>
                    </a:lnTo>
                    <a:lnTo>
                      <a:pt x="13" y="3"/>
                    </a:lnTo>
                    <a:lnTo>
                      <a:pt x="15" y="2"/>
                    </a:lnTo>
                    <a:lnTo>
                      <a:pt x="17" y="1"/>
                    </a:lnTo>
                    <a:lnTo>
                      <a:pt x="20" y="0"/>
                    </a:lnTo>
                    <a:lnTo>
                      <a:pt x="20" y="2855"/>
                    </a:lnTo>
                    <a:lnTo>
                      <a:pt x="17" y="2854"/>
                    </a:lnTo>
                    <a:lnTo>
                      <a:pt x="15" y="2854"/>
                    </a:lnTo>
                    <a:lnTo>
                      <a:pt x="13" y="2853"/>
                    </a:lnTo>
                    <a:lnTo>
                      <a:pt x="10" y="2852"/>
                    </a:lnTo>
                    <a:lnTo>
                      <a:pt x="8" y="2851"/>
                    </a:lnTo>
                    <a:lnTo>
                      <a:pt x="6" y="2850"/>
                    </a:lnTo>
                    <a:lnTo>
                      <a:pt x="4" y="2849"/>
                    </a:lnTo>
                    <a:lnTo>
                      <a:pt x="0" y="2848"/>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18" name="Freeform 1506"/>
              <p:cNvSpPr>
                <a:spLocks noChangeAspect="1"/>
              </p:cNvSpPr>
              <p:nvPr/>
            </p:nvSpPr>
            <p:spPr bwMode="auto">
              <a:xfrm>
                <a:off x="4845" y="748"/>
                <a:ext cx="6" cy="955"/>
              </a:xfrm>
              <a:custGeom>
                <a:avLst/>
                <a:gdLst>
                  <a:gd name="T0" fmla="*/ 0 w 19"/>
                  <a:gd name="T1" fmla="*/ 2855 h 2862"/>
                  <a:gd name="T2" fmla="*/ 0 w 19"/>
                  <a:gd name="T3" fmla="*/ 7 h 2862"/>
                  <a:gd name="T4" fmla="*/ 3 w 19"/>
                  <a:gd name="T5" fmla="*/ 6 h 2862"/>
                  <a:gd name="T6" fmla="*/ 5 w 19"/>
                  <a:gd name="T7" fmla="*/ 5 h 2862"/>
                  <a:gd name="T8" fmla="*/ 7 w 19"/>
                  <a:gd name="T9" fmla="*/ 4 h 2862"/>
                  <a:gd name="T10" fmla="*/ 10 w 19"/>
                  <a:gd name="T11" fmla="*/ 3 h 2862"/>
                  <a:gd name="T12" fmla="*/ 13 w 19"/>
                  <a:gd name="T13" fmla="*/ 3 h 2862"/>
                  <a:gd name="T14" fmla="*/ 15 w 19"/>
                  <a:gd name="T15" fmla="*/ 2 h 2862"/>
                  <a:gd name="T16" fmla="*/ 17 w 19"/>
                  <a:gd name="T17" fmla="*/ 1 h 2862"/>
                  <a:gd name="T18" fmla="*/ 19 w 19"/>
                  <a:gd name="T19" fmla="*/ 0 h 2862"/>
                  <a:gd name="T20" fmla="*/ 19 w 19"/>
                  <a:gd name="T21" fmla="*/ 2862 h 2862"/>
                  <a:gd name="T22" fmla="*/ 17 w 19"/>
                  <a:gd name="T23" fmla="*/ 2860 h 2862"/>
                  <a:gd name="T24" fmla="*/ 15 w 19"/>
                  <a:gd name="T25" fmla="*/ 2860 h 2862"/>
                  <a:gd name="T26" fmla="*/ 13 w 19"/>
                  <a:gd name="T27" fmla="*/ 2859 h 2862"/>
                  <a:gd name="T28" fmla="*/ 10 w 19"/>
                  <a:gd name="T29" fmla="*/ 2858 h 2862"/>
                  <a:gd name="T30" fmla="*/ 7 w 19"/>
                  <a:gd name="T31" fmla="*/ 2857 h 2862"/>
                  <a:gd name="T32" fmla="*/ 5 w 19"/>
                  <a:gd name="T33" fmla="*/ 2857 h 2862"/>
                  <a:gd name="T34" fmla="*/ 3 w 19"/>
                  <a:gd name="T35" fmla="*/ 2856 h 2862"/>
                  <a:gd name="T36" fmla="*/ 0 w 19"/>
                  <a:gd name="T37" fmla="*/ 2855 h 2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62">
                    <a:moveTo>
                      <a:pt x="0" y="2855"/>
                    </a:moveTo>
                    <a:lnTo>
                      <a:pt x="0" y="7"/>
                    </a:lnTo>
                    <a:lnTo>
                      <a:pt x="3" y="6"/>
                    </a:lnTo>
                    <a:lnTo>
                      <a:pt x="5" y="5"/>
                    </a:lnTo>
                    <a:lnTo>
                      <a:pt x="7" y="4"/>
                    </a:lnTo>
                    <a:lnTo>
                      <a:pt x="10" y="3"/>
                    </a:lnTo>
                    <a:lnTo>
                      <a:pt x="13" y="3"/>
                    </a:lnTo>
                    <a:lnTo>
                      <a:pt x="15" y="2"/>
                    </a:lnTo>
                    <a:lnTo>
                      <a:pt x="17" y="1"/>
                    </a:lnTo>
                    <a:lnTo>
                      <a:pt x="19" y="0"/>
                    </a:lnTo>
                    <a:lnTo>
                      <a:pt x="19" y="2862"/>
                    </a:lnTo>
                    <a:lnTo>
                      <a:pt x="17" y="2860"/>
                    </a:lnTo>
                    <a:lnTo>
                      <a:pt x="15" y="2860"/>
                    </a:lnTo>
                    <a:lnTo>
                      <a:pt x="13" y="2859"/>
                    </a:lnTo>
                    <a:lnTo>
                      <a:pt x="10" y="2858"/>
                    </a:lnTo>
                    <a:lnTo>
                      <a:pt x="7" y="2857"/>
                    </a:lnTo>
                    <a:lnTo>
                      <a:pt x="5" y="2857"/>
                    </a:lnTo>
                    <a:lnTo>
                      <a:pt x="3" y="2856"/>
                    </a:lnTo>
                    <a:lnTo>
                      <a:pt x="0" y="2855"/>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19" name="Freeform 1507"/>
              <p:cNvSpPr>
                <a:spLocks noChangeAspect="1"/>
              </p:cNvSpPr>
              <p:nvPr/>
            </p:nvSpPr>
            <p:spPr bwMode="auto">
              <a:xfrm>
                <a:off x="4849" y="748"/>
                <a:ext cx="6" cy="955"/>
              </a:xfrm>
              <a:custGeom>
                <a:avLst/>
                <a:gdLst>
                  <a:gd name="T0" fmla="*/ 0 w 19"/>
                  <a:gd name="T1" fmla="*/ 2861 h 2867"/>
                  <a:gd name="T2" fmla="*/ 0 w 19"/>
                  <a:gd name="T3" fmla="*/ 6 h 2867"/>
                  <a:gd name="T4" fmla="*/ 3 w 19"/>
                  <a:gd name="T5" fmla="*/ 5 h 2867"/>
                  <a:gd name="T6" fmla="*/ 5 w 19"/>
                  <a:gd name="T7" fmla="*/ 5 h 2867"/>
                  <a:gd name="T8" fmla="*/ 7 w 19"/>
                  <a:gd name="T9" fmla="*/ 4 h 2867"/>
                  <a:gd name="T10" fmla="*/ 9 w 19"/>
                  <a:gd name="T11" fmla="*/ 3 h 2867"/>
                  <a:gd name="T12" fmla="*/ 11 w 19"/>
                  <a:gd name="T13" fmla="*/ 3 h 2867"/>
                  <a:gd name="T14" fmla="*/ 15 w 19"/>
                  <a:gd name="T15" fmla="*/ 1 h 2867"/>
                  <a:gd name="T16" fmla="*/ 17 w 19"/>
                  <a:gd name="T17" fmla="*/ 0 h 2867"/>
                  <a:gd name="T18" fmla="*/ 19 w 19"/>
                  <a:gd name="T19" fmla="*/ 0 h 2867"/>
                  <a:gd name="T20" fmla="*/ 19 w 19"/>
                  <a:gd name="T21" fmla="*/ 2867 h 2867"/>
                  <a:gd name="T22" fmla="*/ 17 w 19"/>
                  <a:gd name="T23" fmla="*/ 2867 h 2867"/>
                  <a:gd name="T24" fmla="*/ 15 w 19"/>
                  <a:gd name="T25" fmla="*/ 2866 h 2867"/>
                  <a:gd name="T26" fmla="*/ 11 w 19"/>
                  <a:gd name="T27" fmla="*/ 2866 h 2867"/>
                  <a:gd name="T28" fmla="*/ 9 w 19"/>
                  <a:gd name="T29" fmla="*/ 2865 h 2867"/>
                  <a:gd name="T30" fmla="*/ 7 w 19"/>
                  <a:gd name="T31" fmla="*/ 2863 h 2867"/>
                  <a:gd name="T32" fmla="*/ 5 w 19"/>
                  <a:gd name="T33" fmla="*/ 2863 h 2867"/>
                  <a:gd name="T34" fmla="*/ 3 w 19"/>
                  <a:gd name="T35" fmla="*/ 2862 h 2867"/>
                  <a:gd name="T36" fmla="*/ 0 w 19"/>
                  <a:gd name="T37" fmla="*/ 2861 h 2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67">
                    <a:moveTo>
                      <a:pt x="0" y="2861"/>
                    </a:moveTo>
                    <a:lnTo>
                      <a:pt x="0" y="6"/>
                    </a:lnTo>
                    <a:lnTo>
                      <a:pt x="3" y="5"/>
                    </a:lnTo>
                    <a:lnTo>
                      <a:pt x="5" y="5"/>
                    </a:lnTo>
                    <a:lnTo>
                      <a:pt x="7" y="4"/>
                    </a:lnTo>
                    <a:lnTo>
                      <a:pt x="9" y="3"/>
                    </a:lnTo>
                    <a:lnTo>
                      <a:pt x="11" y="3"/>
                    </a:lnTo>
                    <a:lnTo>
                      <a:pt x="15" y="1"/>
                    </a:lnTo>
                    <a:lnTo>
                      <a:pt x="17" y="0"/>
                    </a:lnTo>
                    <a:lnTo>
                      <a:pt x="19" y="0"/>
                    </a:lnTo>
                    <a:lnTo>
                      <a:pt x="19" y="2867"/>
                    </a:lnTo>
                    <a:lnTo>
                      <a:pt x="17" y="2867"/>
                    </a:lnTo>
                    <a:lnTo>
                      <a:pt x="15" y="2866"/>
                    </a:lnTo>
                    <a:lnTo>
                      <a:pt x="11" y="2866"/>
                    </a:lnTo>
                    <a:lnTo>
                      <a:pt x="9" y="2865"/>
                    </a:lnTo>
                    <a:lnTo>
                      <a:pt x="7" y="2863"/>
                    </a:lnTo>
                    <a:lnTo>
                      <a:pt x="5" y="2863"/>
                    </a:lnTo>
                    <a:lnTo>
                      <a:pt x="3" y="2862"/>
                    </a:lnTo>
                    <a:lnTo>
                      <a:pt x="0" y="2861"/>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20" name="Freeform 1508"/>
              <p:cNvSpPr>
                <a:spLocks noChangeAspect="1"/>
              </p:cNvSpPr>
              <p:nvPr/>
            </p:nvSpPr>
            <p:spPr bwMode="auto">
              <a:xfrm>
                <a:off x="4851" y="748"/>
                <a:ext cx="5" cy="955"/>
              </a:xfrm>
              <a:custGeom>
                <a:avLst/>
                <a:gdLst>
                  <a:gd name="T0" fmla="*/ 0 w 19"/>
                  <a:gd name="T1" fmla="*/ 2867 h 2871"/>
                  <a:gd name="T2" fmla="*/ 0 w 19"/>
                  <a:gd name="T3" fmla="*/ 5 h 2871"/>
                  <a:gd name="T4" fmla="*/ 3 w 19"/>
                  <a:gd name="T5" fmla="*/ 5 h 2871"/>
                  <a:gd name="T6" fmla="*/ 6 w 19"/>
                  <a:gd name="T7" fmla="*/ 3 h 2871"/>
                  <a:gd name="T8" fmla="*/ 8 w 19"/>
                  <a:gd name="T9" fmla="*/ 2 h 2871"/>
                  <a:gd name="T10" fmla="*/ 10 w 19"/>
                  <a:gd name="T11" fmla="*/ 2 h 2871"/>
                  <a:gd name="T12" fmla="*/ 12 w 19"/>
                  <a:gd name="T13" fmla="*/ 1 h 2871"/>
                  <a:gd name="T14" fmla="*/ 15 w 19"/>
                  <a:gd name="T15" fmla="*/ 1 h 2871"/>
                  <a:gd name="T16" fmla="*/ 17 w 19"/>
                  <a:gd name="T17" fmla="*/ 0 h 2871"/>
                  <a:gd name="T18" fmla="*/ 19 w 19"/>
                  <a:gd name="T19" fmla="*/ 0 h 2871"/>
                  <a:gd name="T20" fmla="*/ 19 w 19"/>
                  <a:gd name="T21" fmla="*/ 2871 h 2871"/>
                  <a:gd name="T22" fmla="*/ 17 w 19"/>
                  <a:gd name="T23" fmla="*/ 2871 h 2871"/>
                  <a:gd name="T24" fmla="*/ 15 w 19"/>
                  <a:gd name="T25" fmla="*/ 2870 h 2871"/>
                  <a:gd name="T26" fmla="*/ 12 w 19"/>
                  <a:gd name="T27" fmla="*/ 2870 h 2871"/>
                  <a:gd name="T28" fmla="*/ 10 w 19"/>
                  <a:gd name="T29" fmla="*/ 2869 h 2871"/>
                  <a:gd name="T30" fmla="*/ 8 w 19"/>
                  <a:gd name="T31" fmla="*/ 2869 h 2871"/>
                  <a:gd name="T32" fmla="*/ 6 w 19"/>
                  <a:gd name="T33" fmla="*/ 2868 h 2871"/>
                  <a:gd name="T34" fmla="*/ 3 w 19"/>
                  <a:gd name="T35" fmla="*/ 2868 h 2871"/>
                  <a:gd name="T36" fmla="*/ 0 w 19"/>
                  <a:gd name="T37" fmla="*/ 2867 h 2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71">
                    <a:moveTo>
                      <a:pt x="0" y="2867"/>
                    </a:moveTo>
                    <a:lnTo>
                      <a:pt x="0" y="5"/>
                    </a:lnTo>
                    <a:lnTo>
                      <a:pt x="3" y="5"/>
                    </a:lnTo>
                    <a:lnTo>
                      <a:pt x="6" y="3"/>
                    </a:lnTo>
                    <a:lnTo>
                      <a:pt x="8" y="2"/>
                    </a:lnTo>
                    <a:lnTo>
                      <a:pt x="10" y="2"/>
                    </a:lnTo>
                    <a:lnTo>
                      <a:pt x="12" y="1"/>
                    </a:lnTo>
                    <a:lnTo>
                      <a:pt x="15" y="1"/>
                    </a:lnTo>
                    <a:lnTo>
                      <a:pt x="17" y="0"/>
                    </a:lnTo>
                    <a:lnTo>
                      <a:pt x="19" y="0"/>
                    </a:lnTo>
                    <a:lnTo>
                      <a:pt x="19" y="2871"/>
                    </a:lnTo>
                    <a:lnTo>
                      <a:pt x="17" y="2871"/>
                    </a:lnTo>
                    <a:lnTo>
                      <a:pt x="15" y="2870"/>
                    </a:lnTo>
                    <a:lnTo>
                      <a:pt x="12" y="2870"/>
                    </a:lnTo>
                    <a:lnTo>
                      <a:pt x="10" y="2869"/>
                    </a:lnTo>
                    <a:lnTo>
                      <a:pt x="8" y="2869"/>
                    </a:lnTo>
                    <a:lnTo>
                      <a:pt x="6" y="2868"/>
                    </a:lnTo>
                    <a:lnTo>
                      <a:pt x="3" y="2868"/>
                    </a:lnTo>
                    <a:lnTo>
                      <a:pt x="0" y="2867"/>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21" name="Freeform 1509"/>
              <p:cNvSpPr>
                <a:spLocks noChangeAspect="1"/>
              </p:cNvSpPr>
              <p:nvPr/>
            </p:nvSpPr>
            <p:spPr bwMode="auto">
              <a:xfrm>
                <a:off x="4855" y="747"/>
                <a:ext cx="5" cy="958"/>
              </a:xfrm>
              <a:custGeom>
                <a:avLst/>
                <a:gdLst>
                  <a:gd name="T0" fmla="*/ 0 w 19"/>
                  <a:gd name="T1" fmla="*/ 2871 h 2875"/>
                  <a:gd name="T2" fmla="*/ 0 w 19"/>
                  <a:gd name="T3" fmla="*/ 4 h 2875"/>
                  <a:gd name="T4" fmla="*/ 3 w 19"/>
                  <a:gd name="T5" fmla="*/ 3 h 2875"/>
                  <a:gd name="T6" fmla="*/ 5 w 19"/>
                  <a:gd name="T7" fmla="*/ 3 h 2875"/>
                  <a:gd name="T8" fmla="*/ 7 w 19"/>
                  <a:gd name="T9" fmla="*/ 2 h 2875"/>
                  <a:gd name="T10" fmla="*/ 9 w 19"/>
                  <a:gd name="T11" fmla="*/ 2 h 2875"/>
                  <a:gd name="T12" fmla="*/ 11 w 19"/>
                  <a:gd name="T13" fmla="*/ 1 h 2875"/>
                  <a:gd name="T14" fmla="*/ 15 w 19"/>
                  <a:gd name="T15" fmla="*/ 1 h 2875"/>
                  <a:gd name="T16" fmla="*/ 17 w 19"/>
                  <a:gd name="T17" fmla="*/ 1 h 2875"/>
                  <a:gd name="T18" fmla="*/ 19 w 19"/>
                  <a:gd name="T19" fmla="*/ 0 h 2875"/>
                  <a:gd name="T20" fmla="*/ 19 w 19"/>
                  <a:gd name="T21" fmla="*/ 2875 h 2875"/>
                  <a:gd name="T22" fmla="*/ 17 w 19"/>
                  <a:gd name="T23" fmla="*/ 2874 h 2875"/>
                  <a:gd name="T24" fmla="*/ 15 w 19"/>
                  <a:gd name="T25" fmla="*/ 2874 h 2875"/>
                  <a:gd name="T26" fmla="*/ 11 w 19"/>
                  <a:gd name="T27" fmla="*/ 2874 h 2875"/>
                  <a:gd name="T28" fmla="*/ 9 w 19"/>
                  <a:gd name="T29" fmla="*/ 2873 h 2875"/>
                  <a:gd name="T30" fmla="*/ 7 w 19"/>
                  <a:gd name="T31" fmla="*/ 2873 h 2875"/>
                  <a:gd name="T32" fmla="*/ 5 w 19"/>
                  <a:gd name="T33" fmla="*/ 2872 h 2875"/>
                  <a:gd name="T34" fmla="*/ 3 w 19"/>
                  <a:gd name="T35" fmla="*/ 2872 h 2875"/>
                  <a:gd name="T36" fmla="*/ 0 w 19"/>
                  <a:gd name="T37" fmla="*/ 2871 h 2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75">
                    <a:moveTo>
                      <a:pt x="0" y="2871"/>
                    </a:moveTo>
                    <a:lnTo>
                      <a:pt x="0" y="4"/>
                    </a:lnTo>
                    <a:lnTo>
                      <a:pt x="3" y="3"/>
                    </a:lnTo>
                    <a:lnTo>
                      <a:pt x="5" y="3"/>
                    </a:lnTo>
                    <a:lnTo>
                      <a:pt x="7" y="2"/>
                    </a:lnTo>
                    <a:lnTo>
                      <a:pt x="9" y="2"/>
                    </a:lnTo>
                    <a:lnTo>
                      <a:pt x="11" y="1"/>
                    </a:lnTo>
                    <a:lnTo>
                      <a:pt x="15" y="1"/>
                    </a:lnTo>
                    <a:lnTo>
                      <a:pt x="17" y="1"/>
                    </a:lnTo>
                    <a:lnTo>
                      <a:pt x="19" y="0"/>
                    </a:lnTo>
                    <a:lnTo>
                      <a:pt x="19" y="2875"/>
                    </a:lnTo>
                    <a:lnTo>
                      <a:pt x="17" y="2874"/>
                    </a:lnTo>
                    <a:lnTo>
                      <a:pt x="15" y="2874"/>
                    </a:lnTo>
                    <a:lnTo>
                      <a:pt x="11" y="2874"/>
                    </a:lnTo>
                    <a:lnTo>
                      <a:pt x="9" y="2873"/>
                    </a:lnTo>
                    <a:lnTo>
                      <a:pt x="7" y="2873"/>
                    </a:lnTo>
                    <a:lnTo>
                      <a:pt x="5" y="2872"/>
                    </a:lnTo>
                    <a:lnTo>
                      <a:pt x="3" y="2872"/>
                    </a:lnTo>
                    <a:lnTo>
                      <a:pt x="0" y="2871"/>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22" name="Freeform 1510"/>
              <p:cNvSpPr>
                <a:spLocks noChangeAspect="1"/>
              </p:cNvSpPr>
              <p:nvPr/>
            </p:nvSpPr>
            <p:spPr bwMode="auto">
              <a:xfrm>
                <a:off x="4858" y="747"/>
                <a:ext cx="8" cy="959"/>
              </a:xfrm>
              <a:custGeom>
                <a:avLst/>
                <a:gdLst>
                  <a:gd name="T0" fmla="*/ 0 w 20"/>
                  <a:gd name="T1" fmla="*/ 2874 h 2877"/>
                  <a:gd name="T2" fmla="*/ 0 w 20"/>
                  <a:gd name="T3" fmla="*/ 3 h 2877"/>
                  <a:gd name="T4" fmla="*/ 2 w 20"/>
                  <a:gd name="T5" fmla="*/ 2 h 2877"/>
                  <a:gd name="T6" fmla="*/ 6 w 20"/>
                  <a:gd name="T7" fmla="*/ 2 h 2877"/>
                  <a:gd name="T8" fmla="*/ 8 w 20"/>
                  <a:gd name="T9" fmla="*/ 2 h 2877"/>
                  <a:gd name="T10" fmla="*/ 10 w 20"/>
                  <a:gd name="T11" fmla="*/ 1 h 2877"/>
                  <a:gd name="T12" fmla="*/ 12 w 20"/>
                  <a:gd name="T13" fmla="*/ 1 h 2877"/>
                  <a:gd name="T14" fmla="*/ 15 w 20"/>
                  <a:gd name="T15" fmla="*/ 0 h 2877"/>
                  <a:gd name="T16" fmla="*/ 17 w 20"/>
                  <a:gd name="T17" fmla="*/ 0 h 2877"/>
                  <a:gd name="T18" fmla="*/ 20 w 20"/>
                  <a:gd name="T19" fmla="*/ 0 h 2877"/>
                  <a:gd name="T20" fmla="*/ 20 w 20"/>
                  <a:gd name="T21" fmla="*/ 2877 h 2877"/>
                  <a:gd name="T22" fmla="*/ 17 w 20"/>
                  <a:gd name="T23" fmla="*/ 2877 h 2877"/>
                  <a:gd name="T24" fmla="*/ 15 w 20"/>
                  <a:gd name="T25" fmla="*/ 2876 h 2877"/>
                  <a:gd name="T26" fmla="*/ 12 w 20"/>
                  <a:gd name="T27" fmla="*/ 2876 h 2877"/>
                  <a:gd name="T28" fmla="*/ 10 w 20"/>
                  <a:gd name="T29" fmla="*/ 2876 h 2877"/>
                  <a:gd name="T30" fmla="*/ 8 w 20"/>
                  <a:gd name="T31" fmla="*/ 2875 h 2877"/>
                  <a:gd name="T32" fmla="*/ 6 w 20"/>
                  <a:gd name="T33" fmla="*/ 2875 h 2877"/>
                  <a:gd name="T34" fmla="*/ 2 w 20"/>
                  <a:gd name="T35" fmla="*/ 2875 h 2877"/>
                  <a:gd name="T36" fmla="*/ 0 w 20"/>
                  <a:gd name="T37" fmla="*/ 2874 h 2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2877">
                    <a:moveTo>
                      <a:pt x="0" y="2874"/>
                    </a:moveTo>
                    <a:lnTo>
                      <a:pt x="0" y="3"/>
                    </a:lnTo>
                    <a:lnTo>
                      <a:pt x="2" y="2"/>
                    </a:lnTo>
                    <a:lnTo>
                      <a:pt x="6" y="2"/>
                    </a:lnTo>
                    <a:lnTo>
                      <a:pt x="8" y="2"/>
                    </a:lnTo>
                    <a:lnTo>
                      <a:pt x="10" y="1"/>
                    </a:lnTo>
                    <a:lnTo>
                      <a:pt x="12" y="1"/>
                    </a:lnTo>
                    <a:lnTo>
                      <a:pt x="15" y="0"/>
                    </a:lnTo>
                    <a:lnTo>
                      <a:pt x="17" y="0"/>
                    </a:lnTo>
                    <a:lnTo>
                      <a:pt x="20" y="0"/>
                    </a:lnTo>
                    <a:lnTo>
                      <a:pt x="20" y="2877"/>
                    </a:lnTo>
                    <a:lnTo>
                      <a:pt x="17" y="2877"/>
                    </a:lnTo>
                    <a:lnTo>
                      <a:pt x="15" y="2876"/>
                    </a:lnTo>
                    <a:lnTo>
                      <a:pt x="12" y="2876"/>
                    </a:lnTo>
                    <a:lnTo>
                      <a:pt x="10" y="2876"/>
                    </a:lnTo>
                    <a:lnTo>
                      <a:pt x="8" y="2875"/>
                    </a:lnTo>
                    <a:lnTo>
                      <a:pt x="6" y="2875"/>
                    </a:lnTo>
                    <a:lnTo>
                      <a:pt x="2" y="2875"/>
                    </a:lnTo>
                    <a:lnTo>
                      <a:pt x="0" y="2874"/>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23" name="Freeform 1511"/>
              <p:cNvSpPr>
                <a:spLocks noChangeAspect="1"/>
              </p:cNvSpPr>
              <p:nvPr/>
            </p:nvSpPr>
            <p:spPr bwMode="auto">
              <a:xfrm>
                <a:off x="4860" y="746"/>
                <a:ext cx="8" cy="960"/>
              </a:xfrm>
              <a:custGeom>
                <a:avLst/>
                <a:gdLst>
                  <a:gd name="T0" fmla="*/ 0 w 19"/>
                  <a:gd name="T1" fmla="*/ 2877 h 2879"/>
                  <a:gd name="T2" fmla="*/ 0 w 19"/>
                  <a:gd name="T3" fmla="*/ 2 h 2879"/>
                  <a:gd name="T4" fmla="*/ 2 w 19"/>
                  <a:gd name="T5" fmla="*/ 2 h 2879"/>
                  <a:gd name="T6" fmla="*/ 5 w 19"/>
                  <a:gd name="T7" fmla="*/ 1 h 2879"/>
                  <a:gd name="T8" fmla="*/ 7 w 19"/>
                  <a:gd name="T9" fmla="*/ 1 h 2879"/>
                  <a:gd name="T10" fmla="*/ 10 w 19"/>
                  <a:gd name="T11" fmla="*/ 1 h 2879"/>
                  <a:gd name="T12" fmla="*/ 12 w 19"/>
                  <a:gd name="T13" fmla="*/ 1 h 2879"/>
                  <a:gd name="T14" fmla="*/ 15 w 19"/>
                  <a:gd name="T15" fmla="*/ 0 h 2879"/>
                  <a:gd name="T16" fmla="*/ 17 w 19"/>
                  <a:gd name="T17" fmla="*/ 0 h 2879"/>
                  <a:gd name="T18" fmla="*/ 19 w 19"/>
                  <a:gd name="T19" fmla="*/ 0 h 2879"/>
                  <a:gd name="T20" fmla="*/ 19 w 19"/>
                  <a:gd name="T21" fmla="*/ 2879 h 2879"/>
                  <a:gd name="T22" fmla="*/ 17 w 19"/>
                  <a:gd name="T23" fmla="*/ 2879 h 2879"/>
                  <a:gd name="T24" fmla="*/ 15 w 19"/>
                  <a:gd name="T25" fmla="*/ 2878 h 2879"/>
                  <a:gd name="T26" fmla="*/ 12 w 19"/>
                  <a:gd name="T27" fmla="*/ 2878 h 2879"/>
                  <a:gd name="T28" fmla="*/ 10 w 19"/>
                  <a:gd name="T29" fmla="*/ 2878 h 2879"/>
                  <a:gd name="T30" fmla="*/ 7 w 19"/>
                  <a:gd name="T31" fmla="*/ 2878 h 2879"/>
                  <a:gd name="T32" fmla="*/ 5 w 19"/>
                  <a:gd name="T33" fmla="*/ 2877 h 2879"/>
                  <a:gd name="T34" fmla="*/ 2 w 19"/>
                  <a:gd name="T35" fmla="*/ 2877 h 2879"/>
                  <a:gd name="T36" fmla="*/ 0 w 19"/>
                  <a:gd name="T37" fmla="*/ 2877 h 2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79">
                    <a:moveTo>
                      <a:pt x="0" y="2877"/>
                    </a:moveTo>
                    <a:lnTo>
                      <a:pt x="0" y="2"/>
                    </a:lnTo>
                    <a:lnTo>
                      <a:pt x="2" y="2"/>
                    </a:lnTo>
                    <a:lnTo>
                      <a:pt x="5" y="1"/>
                    </a:lnTo>
                    <a:lnTo>
                      <a:pt x="7" y="1"/>
                    </a:lnTo>
                    <a:lnTo>
                      <a:pt x="10" y="1"/>
                    </a:lnTo>
                    <a:lnTo>
                      <a:pt x="12" y="1"/>
                    </a:lnTo>
                    <a:lnTo>
                      <a:pt x="15" y="0"/>
                    </a:lnTo>
                    <a:lnTo>
                      <a:pt x="17" y="0"/>
                    </a:lnTo>
                    <a:lnTo>
                      <a:pt x="19" y="0"/>
                    </a:lnTo>
                    <a:lnTo>
                      <a:pt x="19" y="2879"/>
                    </a:lnTo>
                    <a:lnTo>
                      <a:pt x="17" y="2879"/>
                    </a:lnTo>
                    <a:lnTo>
                      <a:pt x="15" y="2878"/>
                    </a:lnTo>
                    <a:lnTo>
                      <a:pt x="12" y="2878"/>
                    </a:lnTo>
                    <a:lnTo>
                      <a:pt x="10" y="2878"/>
                    </a:lnTo>
                    <a:lnTo>
                      <a:pt x="7" y="2878"/>
                    </a:lnTo>
                    <a:lnTo>
                      <a:pt x="5" y="2877"/>
                    </a:lnTo>
                    <a:lnTo>
                      <a:pt x="2" y="2877"/>
                    </a:lnTo>
                    <a:lnTo>
                      <a:pt x="0" y="2877"/>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24" name="Freeform 1512"/>
              <p:cNvSpPr>
                <a:spLocks noChangeAspect="1"/>
              </p:cNvSpPr>
              <p:nvPr/>
            </p:nvSpPr>
            <p:spPr bwMode="auto">
              <a:xfrm>
                <a:off x="4866" y="746"/>
                <a:ext cx="5" cy="960"/>
              </a:xfrm>
              <a:custGeom>
                <a:avLst/>
                <a:gdLst>
                  <a:gd name="T0" fmla="*/ 0 w 19"/>
                  <a:gd name="T1" fmla="*/ 2879 h 2880"/>
                  <a:gd name="T2" fmla="*/ 0 w 19"/>
                  <a:gd name="T3" fmla="*/ 2 h 2880"/>
                  <a:gd name="T4" fmla="*/ 2 w 19"/>
                  <a:gd name="T5" fmla="*/ 2 h 2880"/>
                  <a:gd name="T6" fmla="*/ 5 w 19"/>
                  <a:gd name="T7" fmla="*/ 1 h 2880"/>
                  <a:gd name="T8" fmla="*/ 7 w 19"/>
                  <a:gd name="T9" fmla="*/ 1 h 2880"/>
                  <a:gd name="T10" fmla="*/ 9 w 19"/>
                  <a:gd name="T11" fmla="*/ 1 h 2880"/>
                  <a:gd name="T12" fmla="*/ 11 w 19"/>
                  <a:gd name="T13" fmla="*/ 1 h 2880"/>
                  <a:gd name="T14" fmla="*/ 14 w 19"/>
                  <a:gd name="T15" fmla="*/ 1 h 2880"/>
                  <a:gd name="T16" fmla="*/ 17 w 19"/>
                  <a:gd name="T17" fmla="*/ 0 h 2880"/>
                  <a:gd name="T18" fmla="*/ 19 w 19"/>
                  <a:gd name="T19" fmla="*/ 0 h 2880"/>
                  <a:gd name="T20" fmla="*/ 19 w 19"/>
                  <a:gd name="T21" fmla="*/ 2880 h 2880"/>
                  <a:gd name="T22" fmla="*/ 17 w 19"/>
                  <a:gd name="T23" fmla="*/ 2880 h 2880"/>
                  <a:gd name="T24" fmla="*/ 14 w 19"/>
                  <a:gd name="T25" fmla="*/ 2880 h 2880"/>
                  <a:gd name="T26" fmla="*/ 11 w 19"/>
                  <a:gd name="T27" fmla="*/ 2880 h 2880"/>
                  <a:gd name="T28" fmla="*/ 9 w 19"/>
                  <a:gd name="T29" fmla="*/ 2880 h 2880"/>
                  <a:gd name="T30" fmla="*/ 7 w 19"/>
                  <a:gd name="T31" fmla="*/ 2880 h 2880"/>
                  <a:gd name="T32" fmla="*/ 5 w 19"/>
                  <a:gd name="T33" fmla="*/ 2879 h 2880"/>
                  <a:gd name="T34" fmla="*/ 2 w 19"/>
                  <a:gd name="T35" fmla="*/ 2879 h 2880"/>
                  <a:gd name="T36" fmla="*/ 0 w 19"/>
                  <a:gd name="T37" fmla="*/ 2879 h 2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80">
                    <a:moveTo>
                      <a:pt x="0" y="2879"/>
                    </a:moveTo>
                    <a:lnTo>
                      <a:pt x="0" y="2"/>
                    </a:lnTo>
                    <a:lnTo>
                      <a:pt x="2" y="2"/>
                    </a:lnTo>
                    <a:lnTo>
                      <a:pt x="5" y="1"/>
                    </a:lnTo>
                    <a:lnTo>
                      <a:pt x="7" y="1"/>
                    </a:lnTo>
                    <a:lnTo>
                      <a:pt x="9" y="1"/>
                    </a:lnTo>
                    <a:lnTo>
                      <a:pt x="11" y="1"/>
                    </a:lnTo>
                    <a:lnTo>
                      <a:pt x="14" y="1"/>
                    </a:lnTo>
                    <a:lnTo>
                      <a:pt x="17" y="0"/>
                    </a:lnTo>
                    <a:lnTo>
                      <a:pt x="19" y="0"/>
                    </a:lnTo>
                    <a:lnTo>
                      <a:pt x="19" y="2880"/>
                    </a:lnTo>
                    <a:lnTo>
                      <a:pt x="17" y="2880"/>
                    </a:lnTo>
                    <a:lnTo>
                      <a:pt x="14" y="2880"/>
                    </a:lnTo>
                    <a:lnTo>
                      <a:pt x="11" y="2880"/>
                    </a:lnTo>
                    <a:lnTo>
                      <a:pt x="9" y="2880"/>
                    </a:lnTo>
                    <a:lnTo>
                      <a:pt x="7" y="2880"/>
                    </a:lnTo>
                    <a:lnTo>
                      <a:pt x="5" y="2879"/>
                    </a:lnTo>
                    <a:lnTo>
                      <a:pt x="2" y="2879"/>
                    </a:lnTo>
                    <a:lnTo>
                      <a:pt x="0" y="2879"/>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25" name="Freeform 1513"/>
              <p:cNvSpPr>
                <a:spLocks noChangeAspect="1"/>
              </p:cNvSpPr>
              <p:nvPr/>
            </p:nvSpPr>
            <p:spPr bwMode="auto">
              <a:xfrm>
                <a:off x="4868" y="746"/>
                <a:ext cx="6" cy="960"/>
              </a:xfrm>
              <a:custGeom>
                <a:avLst/>
                <a:gdLst>
                  <a:gd name="T0" fmla="*/ 0 w 19"/>
                  <a:gd name="T1" fmla="*/ 2880 h 2881"/>
                  <a:gd name="T2" fmla="*/ 0 w 19"/>
                  <a:gd name="T3" fmla="*/ 1 h 2881"/>
                  <a:gd name="T4" fmla="*/ 2 w 19"/>
                  <a:gd name="T5" fmla="*/ 1 h 2881"/>
                  <a:gd name="T6" fmla="*/ 5 w 19"/>
                  <a:gd name="T7" fmla="*/ 1 h 2881"/>
                  <a:gd name="T8" fmla="*/ 8 w 19"/>
                  <a:gd name="T9" fmla="*/ 0 h 2881"/>
                  <a:gd name="T10" fmla="*/ 10 w 19"/>
                  <a:gd name="T11" fmla="*/ 0 h 2881"/>
                  <a:gd name="T12" fmla="*/ 12 w 19"/>
                  <a:gd name="T13" fmla="*/ 0 h 2881"/>
                  <a:gd name="T14" fmla="*/ 15 w 19"/>
                  <a:gd name="T15" fmla="*/ 0 h 2881"/>
                  <a:gd name="T16" fmla="*/ 17 w 19"/>
                  <a:gd name="T17" fmla="*/ 0 h 2881"/>
                  <a:gd name="T18" fmla="*/ 19 w 19"/>
                  <a:gd name="T19" fmla="*/ 0 h 2881"/>
                  <a:gd name="T20" fmla="*/ 19 w 19"/>
                  <a:gd name="T21" fmla="*/ 2881 h 2881"/>
                  <a:gd name="T22" fmla="*/ 19 w 19"/>
                  <a:gd name="T23" fmla="*/ 2881 h 2881"/>
                  <a:gd name="T24" fmla="*/ 19 w 19"/>
                  <a:gd name="T25" fmla="*/ 2881 h 2881"/>
                  <a:gd name="T26" fmla="*/ 19 w 19"/>
                  <a:gd name="T27" fmla="*/ 2881 h 2881"/>
                  <a:gd name="T28" fmla="*/ 19 w 19"/>
                  <a:gd name="T29" fmla="*/ 2881 h 2881"/>
                  <a:gd name="T30" fmla="*/ 19 w 19"/>
                  <a:gd name="T31" fmla="*/ 2881 h 2881"/>
                  <a:gd name="T32" fmla="*/ 19 w 19"/>
                  <a:gd name="T33" fmla="*/ 2881 h 2881"/>
                  <a:gd name="T34" fmla="*/ 18 w 19"/>
                  <a:gd name="T35" fmla="*/ 2881 h 2881"/>
                  <a:gd name="T36" fmla="*/ 18 w 19"/>
                  <a:gd name="T37" fmla="*/ 2881 h 2881"/>
                  <a:gd name="T38" fmla="*/ 16 w 19"/>
                  <a:gd name="T39" fmla="*/ 2881 h 2881"/>
                  <a:gd name="T40" fmla="*/ 14 w 19"/>
                  <a:gd name="T41" fmla="*/ 2880 h 2881"/>
                  <a:gd name="T42" fmla="*/ 12 w 19"/>
                  <a:gd name="T43" fmla="*/ 2880 h 2881"/>
                  <a:gd name="T44" fmla="*/ 10 w 19"/>
                  <a:gd name="T45" fmla="*/ 2880 h 2881"/>
                  <a:gd name="T46" fmla="*/ 8 w 19"/>
                  <a:gd name="T47" fmla="*/ 2880 h 2881"/>
                  <a:gd name="T48" fmla="*/ 4 w 19"/>
                  <a:gd name="T49" fmla="*/ 2880 h 2881"/>
                  <a:gd name="T50" fmla="*/ 2 w 19"/>
                  <a:gd name="T51" fmla="*/ 2880 h 2881"/>
                  <a:gd name="T52" fmla="*/ 0 w 19"/>
                  <a:gd name="T53" fmla="*/ 2880 h 2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2881">
                    <a:moveTo>
                      <a:pt x="0" y="2880"/>
                    </a:moveTo>
                    <a:lnTo>
                      <a:pt x="0" y="1"/>
                    </a:lnTo>
                    <a:lnTo>
                      <a:pt x="2" y="1"/>
                    </a:lnTo>
                    <a:lnTo>
                      <a:pt x="5" y="1"/>
                    </a:lnTo>
                    <a:lnTo>
                      <a:pt x="8" y="0"/>
                    </a:lnTo>
                    <a:lnTo>
                      <a:pt x="10" y="0"/>
                    </a:lnTo>
                    <a:lnTo>
                      <a:pt x="12" y="0"/>
                    </a:lnTo>
                    <a:lnTo>
                      <a:pt x="15" y="0"/>
                    </a:lnTo>
                    <a:lnTo>
                      <a:pt x="17" y="0"/>
                    </a:lnTo>
                    <a:lnTo>
                      <a:pt x="19" y="0"/>
                    </a:lnTo>
                    <a:lnTo>
                      <a:pt x="19" y="2881"/>
                    </a:lnTo>
                    <a:lnTo>
                      <a:pt x="19" y="2881"/>
                    </a:lnTo>
                    <a:lnTo>
                      <a:pt x="19" y="2881"/>
                    </a:lnTo>
                    <a:lnTo>
                      <a:pt x="19" y="2881"/>
                    </a:lnTo>
                    <a:lnTo>
                      <a:pt x="19" y="2881"/>
                    </a:lnTo>
                    <a:lnTo>
                      <a:pt x="19" y="2881"/>
                    </a:lnTo>
                    <a:lnTo>
                      <a:pt x="19" y="2881"/>
                    </a:lnTo>
                    <a:lnTo>
                      <a:pt x="18" y="2881"/>
                    </a:lnTo>
                    <a:lnTo>
                      <a:pt x="18" y="2881"/>
                    </a:lnTo>
                    <a:lnTo>
                      <a:pt x="16" y="2881"/>
                    </a:lnTo>
                    <a:lnTo>
                      <a:pt x="14" y="2880"/>
                    </a:lnTo>
                    <a:lnTo>
                      <a:pt x="12" y="2880"/>
                    </a:lnTo>
                    <a:lnTo>
                      <a:pt x="10" y="2880"/>
                    </a:lnTo>
                    <a:lnTo>
                      <a:pt x="8" y="2880"/>
                    </a:lnTo>
                    <a:lnTo>
                      <a:pt x="4" y="2880"/>
                    </a:lnTo>
                    <a:lnTo>
                      <a:pt x="2" y="2880"/>
                    </a:lnTo>
                    <a:lnTo>
                      <a:pt x="0" y="2880"/>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26" name="Freeform 1514"/>
              <p:cNvSpPr>
                <a:spLocks noChangeAspect="1"/>
              </p:cNvSpPr>
              <p:nvPr/>
            </p:nvSpPr>
            <p:spPr bwMode="auto">
              <a:xfrm>
                <a:off x="4871" y="746"/>
                <a:ext cx="6" cy="960"/>
              </a:xfrm>
              <a:custGeom>
                <a:avLst/>
                <a:gdLst>
                  <a:gd name="T0" fmla="*/ 0 w 19"/>
                  <a:gd name="T1" fmla="*/ 2880 h 2881"/>
                  <a:gd name="T2" fmla="*/ 0 w 19"/>
                  <a:gd name="T3" fmla="*/ 0 h 2881"/>
                  <a:gd name="T4" fmla="*/ 1 w 19"/>
                  <a:gd name="T5" fmla="*/ 0 h 2881"/>
                  <a:gd name="T6" fmla="*/ 3 w 19"/>
                  <a:gd name="T7" fmla="*/ 0 h 2881"/>
                  <a:gd name="T8" fmla="*/ 4 w 19"/>
                  <a:gd name="T9" fmla="*/ 0 h 2881"/>
                  <a:gd name="T10" fmla="*/ 5 w 19"/>
                  <a:gd name="T11" fmla="*/ 0 h 2881"/>
                  <a:gd name="T12" fmla="*/ 6 w 19"/>
                  <a:gd name="T13" fmla="*/ 0 h 2881"/>
                  <a:gd name="T14" fmla="*/ 7 w 19"/>
                  <a:gd name="T15" fmla="*/ 0 h 2881"/>
                  <a:gd name="T16" fmla="*/ 8 w 19"/>
                  <a:gd name="T17" fmla="*/ 0 h 2881"/>
                  <a:gd name="T18" fmla="*/ 10 w 19"/>
                  <a:gd name="T19" fmla="*/ 0 h 2881"/>
                  <a:gd name="T20" fmla="*/ 11 w 19"/>
                  <a:gd name="T21" fmla="*/ 0 h 2881"/>
                  <a:gd name="T22" fmla="*/ 12 w 19"/>
                  <a:gd name="T23" fmla="*/ 0 h 2881"/>
                  <a:gd name="T24" fmla="*/ 13 w 19"/>
                  <a:gd name="T25" fmla="*/ 0 h 2881"/>
                  <a:gd name="T26" fmla="*/ 15 w 19"/>
                  <a:gd name="T27" fmla="*/ 0 h 2881"/>
                  <a:gd name="T28" fmla="*/ 16 w 19"/>
                  <a:gd name="T29" fmla="*/ 0 h 2881"/>
                  <a:gd name="T30" fmla="*/ 17 w 19"/>
                  <a:gd name="T31" fmla="*/ 0 h 2881"/>
                  <a:gd name="T32" fmla="*/ 18 w 19"/>
                  <a:gd name="T33" fmla="*/ 0 h 2881"/>
                  <a:gd name="T34" fmla="*/ 19 w 19"/>
                  <a:gd name="T35" fmla="*/ 0 h 2881"/>
                  <a:gd name="T36" fmla="*/ 19 w 19"/>
                  <a:gd name="T37" fmla="*/ 2880 h 2881"/>
                  <a:gd name="T38" fmla="*/ 18 w 19"/>
                  <a:gd name="T39" fmla="*/ 2880 h 2881"/>
                  <a:gd name="T40" fmla="*/ 17 w 19"/>
                  <a:gd name="T41" fmla="*/ 2880 h 2881"/>
                  <a:gd name="T42" fmla="*/ 15 w 19"/>
                  <a:gd name="T43" fmla="*/ 2880 h 2881"/>
                  <a:gd name="T44" fmla="*/ 13 w 19"/>
                  <a:gd name="T45" fmla="*/ 2880 h 2881"/>
                  <a:gd name="T46" fmla="*/ 12 w 19"/>
                  <a:gd name="T47" fmla="*/ 2880 h 2881"/>
                  <a:gd name="T48" fmla="*/ 11 w 19"/>
                  <a:gd name="T49" fmla="*/ 2881 h 2881"/>
                  <a:gd name="T50" fmla="*/ 10 w 19"/>
                  <a:gd name="T51" fmla="*/ 2881 h 2881"/>
                  <a:gd name="T52" fmla="*/ 8 w 19"/>
                  <a:gd name="T53" fmla="*/ 2881 h 2881"/>
                  <a:gd name="T54" fmla="*/ 7 w 19"/>
                  <a:gd name="T55" fmla="*/ 2881 h 2881"/>
                  <a:gd name="T56" fmla="*/ 6 w 19"/>
                  <a:gd name="T57" fmla="*/ 2881 h 2881"/>
                  <a:gd name="T58" fmla="*/ 5 w 19"/>
                  <a:gd name="T59" fmla="*/ 2880 h 2881"/>
                  <a:gd name="T60" fmla="*/ 4 w 19"/>
                  <a:gd name="T61" fmla="*/ 2880 h 2881"/>
                  <a:gd name="T62" fmla="*/ 3 w 19"/>
                  <a:gd name="T63" fmla="*/ 2880 h 2881"/>
                  <a:gd name="T64" fmla="*/ 2 w 19"/>
                  <a:gd name="T65" fmla="*/ 2880 h 2881"/>
                  <a:gd name="T66" fmla="*/ 1 w 19"/>
                  <a:gd name="T67" fmla="*/ 2880 h 2881"/>
                  <a:gd name="T68" fmla="*/ 0 w 19"/>
                  <a:gd name="T69" fmla="*/ 2880 h 2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 h="2881">
                    <a:moveTo>
                      <a:pt x="0" y="2880"/>
                    </a:moveTo>
                    <a:lnTo>
                      <a:pt x="0" y="0"/>
                    </a:lnTo>
                    <a:lnTo>
                      <a:pt x="1" y="0"/>
                    </a:lnTo>
                    <a:lnTo>
                      <a:pt x="3" y="0"/>
                    </a:lnTo>
                    <a:lnTo>
                      <a:pt x="4" y="0"/>
                    </a:lnTo>
                    <a:lnTo>
                      <a:pt x="5" y="0"/>
                    </a:lnTo>
                    <a:lnTo>
                      <a:pt x="6" y="0"/>
                    </a:lnTo>
                    <a:lnTo>
                      <a:pt x="7" y="0"/>
                    </a:lnTo>
                    <a:lnTo>
                      <a:pt x="8" y="0"/>
                    </a:lnTo>
                    <a:lnTo>
                      <a:pt x="10" y="0"/>
                    </a:lnTo>
                    <a:lnTo>
                      <a:pt x="11" y="0"/>
                    </a:lnTo>
                    <a:lnTo>
                      <a:pt x="12" y="0"/>
                    </a:lnTo>
                    <a:lnTo>
                      <a:pt x="13" y="0"/>
                    </a:lnTo>
                    <a:lnTo>
                      <a:pt x="15" y="0"/>
                    </a:lnTo>
                    <a:lnTo>
                      <a:pt x="16" y="0"/>
                    </a:lnTo>
                    <a:lnTo>
                      <a:pt x="17" y="0"/>
                    </a:lnTo>
                    <a:lnTo>
                      <a:pt x="18" y="0"/>
                    </a:lnTo>
                    <a:lnTo>
                      <a:pt x="19" y="0"/>
                    </a:lnTo>
                    <a:lnTo>
                      <a:pt x="19" y="2880"/>
                    </a:lnTo>
                    <a:lnTo>
                      <a:pt x="18" y="2880"/>
                    </a:lnTo>
                    <a:lnTo>
                      <a:pt x="17" y="2880"/>
                    </a:lnTo>
                    <a:lnTo>
                      <a:pt x="15" y="2880"/>
                    </a:lnTo>
                    <a:lnTo>
                      <a:pt x="13" y="2880"/>
                    </a:lnTo>
                    <a:lnTo>
                      <a:pt x="12" y="2880"/>
                    </a:lnTo>
                    <a:lnTo>
                      <a:pt x="11" y="2881"/>
                    </a:lnTo>
                    <a:lnTo>
                      <a:pt x="10" y="2881"/>
                    </a:lnTo>
                    <a:lnTo>
                      <a:pt x="8" y="2881"/>
                    </a:lnTo>
                    <a:lnTo>
                      <a:pt x="7" y="2881"/>
                    </a:lnTo>
                    <a:lnTo>
                      <a:pt x="6" y="2881"/>
                    </a:lnTo>
                    <a:lnTo>
                      <a:pt x="5" y="2880"/>
                    </a:lnTo>
                    <a:lnTo>
                      <a:pt x="4" y="2880"/>
                    </a:lnTo>
                    <a:lnTo>
                      <a:pt x="3" y="2880"/>
                    </a:lnTo>
                    <a:lnTo>
                      <a:pt x="2" y="2880"/>
                    </a:lnTo>
                    <a:lnTo>
                      <a:pt x="1" y="2880"/>
                    </a:lnTo>
                    <a:lnTo>
                      <a:pt x="0" y="2880"/>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27" name="Freeform 1515"/>
              <p:cNvSpPr>
                <a:spLocks noChangeAspect="1"/>
              </p:cNvSpPr>
              <p:nvPr/>
            </p:nvSpPr>
            <p:spPr bwMode="auto">
              <a:xfrm>
                <a:off x="4877" y="746"/>
                <a:ext cx="6" cy="960"/>
              </a:xfrm>
              <a:custGeom>
                <a:avLst/>
                <a:gdLst>
                  <a:gd name="T0" fmla="*/ 0 w 19"/>
                  <a:gd name="T1" fmla="*/ 2880 h 2880"/>
                  <a:gd name="T2" fmla="*/ 0 w 19"/>
                  <a:gd name="T3" fmla="*/ 0 h 2880"/>
                  <a:gd name="T4" fmla="*/ 2 w 19"/>
                  <a:gd name="T5" fmla="*/ 0 h 2880"/>
                  <a:gd name="T6" fmla="*/ 5 w 19"/>
                  <a:gd name="T7" fmla="*/ 1 h 2880"/>
                  <a:gd name="T8" fmla="*/ 7 w 19"/>
                  <a:gd name="T9" fmla="*/ 1 h 2880"/>
                  <a:gd name="T10" fmla="*/ 9 w 19"/>
                  <a:gd name="T11" fmla="*/ 1 h 2880"/>
                  <a:gd name="T12" fmla="*/ 12 w 19"/>
                  <a:gd name="T13" fmla="*/ 1 h 2880"/>
                  <a:gd name="T14" fmla="*/ 15 w 19"/>
                  <a:gd name="T15" fmla="*/ 1 h 2880"/>
                  <a:gd name="T16" fmla="*/ 17 w 19"/>
                  <a:gd name="T17" fmla="*/ 2 h 2880"/>
                  <a:gd name="T18" fmla="*/ 19 w 19"/>
                  <a:gd name="T19" fmla="*/ 2 h 2880"/>
                  <a:gd name="T20" fmla="*/ 19 w 19"/>
                  <a:gd name="T21" fmla="*/ 2879 h 2880"/>
                  <a:gd name="T22" fmla="*/ 17 w 19"/>
                  <a:gd name="T23" fmla="*/ 2879 h 2880"/>
                  <a:gd name="T24" fmla="*/ 15 w 19"/>
                  <a:gd name="T25" fmla="*/ 2879 h 2880"/>
                  <a:gd name="T26" fmla="*/ 12 w 19"/>
                  <a:gd name="T27" fmla="*/ 2880 h 2880"/>
                  <a:gd name="T28" fmla="*/ 9 w 19"/>
                  <a:gd name="T29" fmla="*/ 2880 h 2880"/>
                  <a:gd name="T30" fmla="*/ 7 w 19"/>
                  <a:gd name="T31" fmla="*/ 2880 h 2880"/>
                  <a:gd name="T32" fmla="*/ 5 w 19"/>
                  <a:gd name="T33" fmla="*/ 2880 h 2880"/>
                  <a:gd name="T34" fmla="*/ 2 w 19"/>
                  <a:gd name="T35" fmla="*/ 2880 h 2880"/>
                  <a:gd name="T36" fmla="*/ 0 w 19"/>
                  <a:gd name="T37" fmla="*/ 2880 h 2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80">
                    <a:moveTo>
                      <a:pt x="0" y="2880"/>
                    </a:moveTo>
                    <a:lnTo>
                      <a:pt x="0" y="0"/>
                    </a:lnTo>
                    <a:lnTo>
                      <a:pt x="2" y="0"/>
                    </a:lnTo>
                    <a:lnTo>
                      <a:pt x="5" y="1"/>
                    </a:lnTo>
                    <a:lnTo>
                      <a:pt x="7" y="1"/>
                    </a:lnTo>
                    <a:lnTo>
                      <a:pt x="9" y="1"/>
                    </a:lnTo>
                    <a:lnTo>
                      <a:pt x="12" y="1"/>
                    </a:lnTo>
                    <a:lnTo>
                      <a:pt x="15" y="1"/>
                    </a:lnTo>
                    <a:lnTo>
                      <a:pt x="17" y="2"/>
                    </a:lnTo>
                    <a:lnTo>
                      <a:pt x="19" y="2"/>
                    </a:lnTo>
                    <a:lnTo>
                      <a:pt x="19" y="2879"/>
                    </a:lnTo>
                    <a:lnTo>
                      <a:pt x="17" y="2879"/>
                    </a:lnTo>
                    <a:lnTo>
                      <a:pt x="15" y="2879"/>
                    </a:lnTo>
                    <a:lnTo>
                      <a:pt x="12" y="2880"/>
                    </a:lnTo>
                    <a:lnTo>
                      <a:pt x="9" y="2880"/>
                    </a:lnTo>
                    <a:lnTo>
                      <a:pt x="7" y="2880"/>
                    </a:lnTo>
                    <a:lnTo>
                      <a:pt x="5" y="2880"/>
                    </a:lnTo>
                    <a:lnTo>
                      <a:pt x="2" y="2880"/>
                    </a:lnTo>
                    <a:lnTo>
                      <a:pt x="0" y="2880"/>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28" name="Freeform 1516"/>
              <p:cNvSpPr>
                <a:spLocks noChangeAspect="1"/>
              </p:cNvSpPr>
              <p:nvPr/>
            </p:nvSpPr>
            <p:spPr bwMode="auto">
              <a:xfrm>
                <a:off x="4880" y="746"/>
                <a:ext cx="9" cy="960"/>
              </a:xfrm>
              <a:custGeom>
                <a:avLst/>
                <a:gdLst>
                  <a:gd name="T0" fmla="*/ 0 w 20"/>
                  <a:gd name="T1" fmla="*/ 2879 h 2879"/>
                  <a:gd name="T2" fmla="*/ 0 w 20"/>
                  <a:gd name="T3" fmla="*/ 0 h 2879"/>
                  <a:gd name="T4" fmla="*/ 3 w 20"/>
                  <a:gd name="T5" fmla="*/ 0 h 2879"/>
                  <a:gd name="T6" fmla="*/ 6 w 20"/>
                  <a:gd name="T7" fmla="*/ 0 h 2879"/>
                  <a:gd name="T8" fmla="*/ 8 w 20"/>
                  <a:gd name="T9" fmla="*/ 1 h 2879"/>
                  <a:gd name="T10" fmla="*/ 10 w 20"/>
                  <a:gd name="T11" fmla="*/ 1 h 2879"/>
                  <a:gd name="T12" fmla="*/ 12 w 20"/>
                  <a:gd name="T13" fmla="*/ 1 h 2879"/>
                  <a:gd name="T14" fmla="*/ 15 w 20"/>
                  <a:gd name="T15" fmla="*/ 1 h 2879"/>
                  <a:gd name="T16" fmla="*/ 17 w 20"/>
                  <a:gd name="T17" fmla="*/ 2 h 2879"/>
                  <a:gd name="T18" fmla="*/ 20 w 20"/>
                  <a:gd name="T19" fmla="*/ 2 h 2879"/>
                  <a:gd name="T20" fmla="*/ 20 w 20"/>
                  <a:gd name="T21" fmla="*/ 2877 h 2879"/>
                  <a:gd name="T22" fmla="*/ 17 w 20"/>
                  <a:gd name="T23" fmla="*/ 2877 h 2879"/>
                  <a:gd name="T24" fmla="*/ 15 w 20"/>
                  <a:gd name="T25" fmla="*/ 2877 h 2879"/>
                  <a:gd name="T26" fmla="*/ 12 w 20"/>
                  <a:gd name="T27" fmla="*/ 2878 h 2879"/>
                  <a:gd name="T28" fmla="*/ 10 w 20"/>
                  <a:gd name="T29" fmla="*/ 2878 h 2879"/>
                  <a:gd name="T30" fmla="*/ 8 w 20"/>
                  <a:gd name="T31" fmla="*/ 2878 h 2879"/>
                  <a:gd name="T32" fmla="*/ 6 w 20"/>
                  <a:gd name="T33" fmla="*/ 2878 h 2879"/>
                  <a:gd name="T34" fmla="*/ 3 w 20"/>
                  <a:gd name="T35" fmla="*/ 2879 h 2879"/>
                  <a:gd name="T36" fmla="*/ 0 w 20"/>
                  <a:gd name="T37" fmla="*/ 2879 h 2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2879">
                    <a:moveTo>
                      <a:pt x="0" y="2879"/>
                    </a:moveTo>
                    <a:lnTo>
                      <a:pt x="0" y="0"/>
                    </a:lnTo>
                    <a:lnTo>
                      <a:pt x="3" y="0"/>
                    </a:lnTo>
                    <a:lnTo>
                      <a:pt x="6" y="0"/>
                    </a:lnTo>
                    <a:lnTo>
                      <a:pt x="8" y="1"/>
                    </a:lnTo>
                    <a:lnTo>
                      <a:pt x="10" y="1"/>
                    </a:lnTo>
                    <a:lnTo>
                      <a:pt x="12" y="1"/>
                    </a:lnTo>
                    <a:lnTo>
                      <a:pt x="15" y="1"/>
                    </a:lnTo>
                    <a:lnTo>
                      <a:pt x="17" y="2"/>
                    </a:lnTo>
                    <a:lnTo>
                      <a:pt x="20" y="2"/>
                    </a:lnTo>
                    <a:lnTo>
                      <a:pt x="20" y="2877"/>
                    </a:lnTo>
                    <a:lnTo>
                      <a:pt x="17" y="2877"/>
                    </a:lnTo>
                    <a:lnTo>
                      <a:pt x="15" y="2877"/>
                    </a:lnTo>
                    <a:lnTo>
                      <a:pt x="12" y="2878"/>
                    </a:lnTo>
                    <a:lnTo>
                      <a:pt x="10" y="2878"/>
                    </a:lnTo>
                    <a:lnTo>
                      <a:pt x="8" y="2878"/>
                    </a:lnTo>
                    <a:lnTo>
                      <a:pt x="6" y="2878"/>
                    </a:lnTo>
                    <a:lnTo>
                      <a:pt x="3" y="2879"/>
                    </a:lnTo>
                    <a:lnTo>
                      <a:pt x="0" y="2879"/>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29" name="Freeform 1517"/>
              <p:cNvSpPr>
                <a:spLocks noChangeAspect="1"/>
              </p:cNvSpPr>
              <p:nvPr/>
            </p:nvSpPr>
            <p:spPr bwMode="auto">
              <a:xfrm>
                <a:off x="4883" y="747"/>
                <a:ext cx="5" cy="959"/>
              </a:xfrm>
              <a:custGeom>
                <a:avLst/>
                <a:gdLst>
                  <a:gd name="T0" fmla="*/ 0 w 19"/>
                  <a:gd name="T1" fmla="*/ 2877 h 2877"/>
                  <a:gd name="T2" fmla="*/ 0 w 19"/>
                  <a:gd name="T3" fmla="*/ 0 h 2877"/>
                  <a:gd name="T4" fmla="*/ 2 w 19"/>
                  <a:gd name="T5" fmla="*/ 0 h 2877"/>
                  <a:gd name="T6" fmla="*/ 5 w 19"/>
                  <a:gd name="T7" fmla="*/ 0 h 2877"/>
                  <a:gd name="T8" fmla="*/ 7 w 19"/>
                  <a:gd name="T9" fmla="*/ 1 h 2877"/>
                  <a:gd name="T10" fmla="*/ 10 w 19"/>
                  <a:gd name="T11" fmla="*/ 1 h 2877"/>
                  <a:gd name="T12" fmla="*/ 12 w 19"/>
                  <a:gd name="T13" fmla="*/ 1 h 2877"/>
                  <a:gd name="T14" fmla="*/ 15 w 19"/>
                  <a:gd name="T15" fmla="*/ 2 h 2877"/>
                  <a:gd name="T16" fmla="*/ 17 w 19"/>
                  <a:gd name="T17" fmla="*/ 2 h 2877"/>
                  <a:gd name="T18" fmla="*/ 19 w 19"/>
                  <a:gd name="T19" fmla="*/ 3 h 2877"/>
                  <a:gd name="T20" fmla="*/ 19 w 19"/>
                  <a:gd name="T21" fmla="*/ 2874 h 2877"/>
                  <a:gd name="T22" fmla="*/ 17 w 19"/>
                  <a:gd name="T23" fmla="*/ 2874 h 2877"/>
                  <a:gd name="T24" fmla="*/ 15 w 19"/>
                  <a:gd name="T25" fmla="*/ 2875 h 2877"/>
                  <a:gd name="T26" fmla="*/ 12 w 19"/>
                  <a:gd name="T27" fmla="*/ 2875 h 2877"/>
                  <a:gd name="T28" fmla="*/ 10 w 19"/>
                  <a:gd name="T29" fmla="*/ 2876 h 2877"/>
                  <a:gd name="T30" fmla="*/ 7 w 19"/>
                  <a:gd name="T31" fmla="*/ 2876 h 2877"/>
                  <a:gd name="T32" fmla="*/ 5 w 19"/>
                  <a:gd name="T33" fmla="*/ 2876 h 2877"/>
                  <a:gd name="T34" fmla="*/ 2 w 19"/>
                  <a:gd name="T35" fmla="*/ 2877 h 2877"/>
                  <a:gd name="T36" fmla="*/ 0 w 19"/>
                  <a:gd name="T37" fmla="*/ 2877 h 2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77">
                    <a:moveTo>
                      <a:pt x="0" y="2877"/>
                    </a:moveTo>
                    <a:lnTo>
                      <a:pt x="0" y="0"/>
                    </a:lnTo>
                    <a:lnTo>
                      <a:pt x="2" y="0"/>
                    </a:lnTo>
                    <a:lnTo>
                      <a:pt x="5" y="0"/>
                    </a:lnTo>
                    <a:lnTo>
                      <a:pt x="7" y="1"/>
                    </a:lnTo>
                    <a:lnTo>
                      <a:pt x="10" y="1"/>
                    </a:lnTo>
                    <a:lnTo>
                      <a:pt x="12" y="1"/>
                    </a:lnTo>
                    <a:lnTo>
                      <a:pt x="15" y="2"/>
                    </a:lnTo>
                    <a:lnTo>
                      <a:pt x="17" y="2"/>
                    </a:lnTo>
                    <a:lnTo>
                      <a:pt x="19" y="3"/>
                    </a:lnTo>
                    <a:lnTo>
                      <a:pt x="19" y="2874"/>
                    </a:lnTo>
                    <a:lnTo>
                      <a:pt x="17" y="2874"/>
                    </a:lnTo>
                    <a:lnTo>
                      <a:pt x="15" y="2875"/>
                    </a:lnTo>
                    <a:lnTo>
                      <a:pt x="12" y="2875"/>
                    </a:lnTo>
                    <a:lnTo>
                      <a:pt x="10" y="2876"/>
                    </a:lnTo>
                    <a:lnTo>
                      <a:pt x="7" y="2876"/>
                    </a:lnTo>
                    <a:lnTo>
                      <a:pt x="5" y="2876"/>
                    </a:lnTo>
                    <a:lnTo>
                      <a:pt x="2" y="2877"/>
                    </a:lnTo>
                    <a:lnTo>
                      <a:pt x="0" y="2877"/>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30" name="Freeform 1518"/>
              <p:cNvSpPr>
                <a:spLocks noChangeAspect="1"/>
              </p:cNvSpPr>
              <p:nvPr/>
            </p:nvSpPr>
            <p:spPr bwMode="auto">
              <a:xfrm>
                <a:off x="4890" y="748"/>
                <a:ext cx="6" cy="955"/>
              </a:xfrm>
              <a:custGeom>
                <a:avLst/>
                <a:gdLst>
                  <a:gd name="T0" fmla="*/ 0 w 19"/>
                  <a:gd name="T1" fmla="*/ 2871 h 2871"/>
                  <a:gd name="T2" fmla="*/ 0 w 19"/>
                  <a:gd name="T3" fmla="*/ 0 h 2871"/>
                  <a:gd name="T4" fmla="*/ 2 w 19"/>
                  <a:gd name="T5" fmla="*/ 0 h 2871"/>
                  <a:gd name="T6" fmla="*/ 5 w 19"/>
                  <a:gd name="T7" fmla="*/ 1 h 2871"/>
                  <a:gd name="T8" fmla="*/ 8 w 19"/>
                  <a:gd name="T9" fmla="*/ 1 h 2871"/>
                  <a:gd name="T10" fmla="*/ 10 w 19"/>
                  <a:gd name="T11" fmla="*/ 2 h 2871"/>
                  <a:gd name="T12" fmla="*/ 12 w 19"/>
                  <a:gd name="T13" fmla="*/ 2 h 2871"/>
                  <a:gd name="T14" fmla="*/ 15 w 19"/>
                  <a:gd name="T15" fmla="*/ 3 h 2871"/>
                  <a:gd name="T16" fmla="*/ 17 w 19"/>
                  <a:gd name="T17" fmla="*/ 3 h 2871"/>
                  <a:gd name="T18" fmla="*/ 19 w 19"/>
                  <a:gd name="T19" fmla="*/ 5 h 2871"/>
                  <a:gd name="T20" fmla="*/ 19 w 19"/>
                  <a:gd name="T21" fmla="*/ 2867 h 2871"/>
                  <a:gd name="T22" fmla="*/ 17 w 19"/>
                  <a:gd name="T23" fmla="*/ 2867 h 2871"/>
                  <a:gd name="T24" fmla="*/ 15 w 19"/>
                  <a:gd name="T25" fmla="*/ 2868 h 2871"/>
                  <a:gd name="T26" fmla="*/ 12 w 19"/>
                  <a:gd name="T27" fmla="*/ 2868 h 2871"/>
                  <a:gd name="T28" fmla="*/ 10 w 19"/>
                  <a:gd name="T29" fmla="*/ 2869 h 2871"/>
                  <a:gd name="T30" fmla="*/ 8 w 19"/>
                  <a:gd name="T31" fmla="*/ 2869 h 2871"/>
                  <a:gd name="T32" fmla="*/ 5 w 19"/>
                  <a:gd name="T33" fmla="*/ 2870 h 2871"/>
                  <a:gd name="T34" fmla="*/ 2 w 19"/>
                  <a:gd name="T35" fmla="*/ 2870 h 2871"/>
                  <a:gd name="T36" fmla="*/ 0 w 19"/>
                  <a:gd name="T37" fmla="*/ 2871 h 2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71">
                    <a:moveTo>
                      <a:pt x="0" y="2871"/>
                    </a:moveTo>
                    <a:lnTo>
                      <a:pt x="0" y="0"/>
                    </a:lnTo>
                    <a:lnTo>
                      <a:pt x="2" y="0"/>
                    </a:lnTo>
                    <a:lnTo>
                      <a:pt x="5" y="1"/>
                    </a:lnTo>
                    <a:lnTo>
                      <a:pt x="8" y="1"/>
                    </a:lnTo>
                    <a:lnTo>
                      <a:pt x="10" y="2"/>
                    </a:lnTo>
                    <a:lnTo>
                      <a:pt x="12" y="2"/>
                    </a:lnTo>
                    <a:lnTo>
                      <a:pt x="15" y="3"/>
                    </a:lnTo>
                    <a:lnTo>
                      <a:pt x="17" y="3"/>
                    </a:lnTo>
                    <a:lnTo>
                      <a:pt x="19" y="5"/>
                    </a:lnTo>
                    <a:lnTo>
                      <a:pt x="19" y="2867"/>
                    </a:lnTo>
                    <a:lnTo>
                      <a:pt x="17" y="2867"/>
                    </a:lnTo>
                    <a:lnTo>
                      <a:pt x="15" y="2868"/>
                    </a:lnTo>
                    <a:lnTo>
                      <a:pt x="12" y="2868"/>
                    </a:lnTo>
                    <a:lnTo>
                      <a:pt x="10" y="2869"/>
                    </a:lnTo>
                    <a:lnTo>
                      <a:pt x="8" y="2869"/>
                    </a:lnTo>
                    <a:lnTo>
                      <a:pt x="5" y="2870"/>
                    </a:lnTo>
                    <a:lnTo>
                      <a:pt x="2" y="2870"/>
                    </a:lnTo>
                    <a:lnTo>
                      <a:pt x="0" y="2871"/>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31" name="Freeform 1519"/>
              <p:cNvSpPr>
                <a:spLocks noChangeAspect="1"/>
              </p:cNvSpPr>
              <p:nvPr/>
            </p:nvSpPr>
            <p:spPr bwMode="auto">
              <a:xfrm>
                <a:off x="4892" y="748"/>
                <a:ext cx="8" cy="955"/>
              </a:xfrm>
              <a:custGeom>
                <a:avLst/>
                <a:gdLst>
                  <a:gd name="T0" fmla="*/ 0 w 19"/>
                  <a:gd name="T1" fmla="*/ 2867 h 2867"/>
                  <a:gd name="T2" fmla="*/ 0 w 19"/>
                  <a:gd name="T3" fmla="*/ 0 h 2867"/>
                  <a:gd name="T4" fmla="*/ 2 w 19"/>
                  <a:gd name="T5" fmla="*/ 0 h 2867"/>
                  <a:gd name="T6" fmla="*/ 5 w 19"/>
                  <a:gd name="T7" fmla="*/ 1 h 2867"/>
                  <a:gd name="T8" fmla="*/ 7 w 19"/>
                  <a:gd name="T9" fmla="*/ 1 h 2867"/>
                  <a:gd name="T10" fmla="*/ 9 w 19"/>
                  <a:gd name="T11" fmla="*/ 3 h 2867"/>
                  <a:gd name="T12" fmla="*/ 11 w 19"/>
                  <a:gd name="T13" fmla="*/ 4 h 2867"/>
                  <a:gd name="T14" fmla="*/ 14 w 19"/>
                  <a:gd name="T15" fmla="*/ 4 h 2867"/>
                  <a:gd name="T16" fmla="*/ 17 w 19"/>
                  <a:gd name="T17" fmla="*/ 5 h 2867"/>
                  <a:gd name="T18" fmla="*/ 19 w 19"/>
                  <a:gd name="T19" fmla="*/ 6 h 2867"/>
                  <a:gd name="T20" fmla="*/ 19 w 19"/>
                  <a:gd name="T21" fmla="*/ 2861 h 2867"/>
                  <a:gd name="T22" fmla="*/ 17 w 19"/>
                  <a:gd name="T23" fmla="*/ 2861 h 2867"/>
                  <a:gd name="T24" fmla="*/ 14 w 19"/>
                  <a:gd name="T25" fmla="*/ 2862 h 2867"/>
                  <a:gd name="T26" fmla="*/ 11 w 19"/>
                  <a:gd name="T27" fmla="*/ 2863 h 2867"/>
                  <a:gd name="T28" fmla="*/ 9 w 19"/>
                  <a:gd name="T29" fmla="*/ 2863 h 2867"/>
                  <a:gd name="T30" fmla="*/ 7 w 19"/>
                  <a:gd name="T31" fmla="*/ 2865 h 2867"/>
                  <a:gd name="T32" fmla="*/ 5 w 19"/>
                  <a:gd name="T33" fmla="*/ 2866 h 2867"/>
                  <a:gd name="T34" fmla="*/ 2 w 19"/>
                  <a:gd name="T35" fmla="*/ 2866 h 2867"/>
                  <a:gd name="T36" fmla="*/ 0 w 19"/>
                  <a:gd name="T37" fmla="*/ 2867 h 2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67">
                    <a:moveTo>
                      <a:pt x="0" y="2867"/>
                    </a:moveTo>
                    <a:lnTo>
                      <a:pt x="0" y="0"/>
                    </a:lnTo>
                    <a:lnTo>
                      <a:pt x="2" y="0"/>
                    </a:lnTo>
                    <a:lnTo>
                      <a:pt x="5" y="1"/>
                    </a:lnTo>
                    <a:lnTo>
                      <a:pt x="7" y="1"/>
                    </a:lnTo>
                    <a:lnTo>
                      <a:pt x="9" y="3"/>
                    </a:lnTo>
                    <a:lnTo>
                      <a:pt x="11" y="4"/>
                    </a:lnTo>
                    <a:lnTo>
                      <a:pt x="14" y="4"/>
                    </a:lnTo>
                    <a:lnTo>
                      <a:pt x="17" y="5"/>
                    </a:lnTo>
                    <a:lnTo>
                      <a:pt x="19" y="6"/>
                    </a:lnTo>
                    <a:lnTo>
                      <a:pt x="19" y="2861"/>
                    </a:lnTo>
                    <a:lnTo>
                      <a:pt x="17" y="2861"/>
                    </a:lnTo>
                    <a:lnTo>
                      <a:pt x="14" y="2862"/>
                    </a:lnTo>
                    <a:lnTo>
                      <a:pt x="11" y="2863"/>
                    </a:lnTo>
                    <a:lnTo>
                      <a:pt x="9" y="2863"/>
                    </a:lnTo>
                    <a:lnTo>
                      <a:pt x="7" y="2865"/>
                    </a:lnTo>
                    <a:lnTo>
                      <a:pt x="5" y="2866"/>
                    </a:lnTo>
                    <a:lnTo>
                      <a:pt x="2" y="2866"/>
                    </a:lnTo>
                    <a:lnTo>
                      <a:pt x="0" y="2867"/>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32" name="Freeform 1520"/>
              <p:cNvSpPr>
                <a:spLocks noChangeAspect="1"/>
              </p:cNvSpPr>
              <p:nvPr/>
            </p:nvSpPr>
            <p:spPr bwMode="auto">
              <a:xfrm>
                <a:off x="4896" y="748"/>
                <a:ext cx="5" cy="955"/>
              </a:xfrm>
              <a:custGeom>
                <a:avLst/>
                <a:gdLst>
                  <a:gd name="T0" fmla="*/ 0 w 19"/>
                  <a:gd name="T1" fmla="*/ 2862 h 2862"/>
                  <a:gd name="T2" fmla="*/ 0 w 19"/>
                  <a:gd name="T3" fmla="*/ 0 h 2862"/>
                  <a:gd name="T4" fmla="*/ 2 w 19"/>
                  <a:gd name="T5" fmla="*/ 1 h 2862"/>
                  <a:gd name="T6" fmla="*/ 5 w 19"/>
                  <a:gd name="T7" fmla="*/ 1 h 2862"/>
                  <a:gd name="T8" fmla="*/ 8 w 19"/>
                  <a:gd name="T9" fmla="*/ 2 h 2862"/>
                  <a:gd name="T10" fmla="*/ 10 w 19"/>
                  <a:gd name="T11" fmla="*/ 3 h 2862"/>
                  <a:gd name="T12" fmla="*/ 12 w 19"/>
                  <a:gd name="T13" fmla="*/ 4 h 2862"/>
                  <a:gd name="T14" fmla="*/ 14 w 19"/>
                  <a:gd name="T15" fmla="*/ 5 h 2862"/>
                  <a:gd name="T16" fmla="*/ 17 w 19"/>
                  <a:gd name="T17" fmla="*/ 5 h 2862"/>
                  <a:gd name="T18" fmla="*/ 19 w 19"/>
                  <a:gd name="T19" fmla="*/ 6 h 2862"/>
                  <a:gd name="T20" fmla="*/ 19 w 19"/>
                  <a:gd name="T21" fmla="*/ 2854 h 2862"/>
                  <a:gd name="T22" fmla="*/ 17 w 19"/>
                  <a:gd name="T23" fmla="*/ 2855 h 2862"/>
                  <a:gd name="T24" fmla="*/ 14 w 19"/>
                  <a:gd name="T25" fmla="*/ 2856 h 2862"/>
                  <a:gd name="T26" fmla="*/ 12 w 19"/>
                  <a:gd name="T27" fmla="*/ 2857 h 2862"/>
                  <a:gd name="T28" fmla="*/ 10 w 19"/>
                  <a:gd name="T29" fmla="*/ 2858 h 2862"/>
                  <a:gd name="T30" fmla="*/ 8 w 19"/>
                  <a:gd name="T31" fmla="*/ 2858 h 2862"/>
                  <a:gd name="T32" fmla="*/ 5 w 19"/>
                  <a:gd name="T33" fmla="*/ 2859 h 2862"/>
                  <a:gd name="T34" fmla="*/ 2 w 19"/>
                  <a:gd name="T35" fmla="*/ 2860 h 2862"/>
                  <a:gd name="T36" fmla="*/ 0 w 19"/>
                  <a:gd name="T37" fmla="*/ 2862 h 2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62">
                    <a:moveTo>
                      <a:pt x="0" y="2862"/>
                    </a:moveTo>
                    <a:lnTo>
                      <a:pt x="0" y="0"/>
                    </a:lnTo>
                    <a:lnTo>
                      <a:pt x="2" y="1"/>
                    </a:lnTo>
                    <a:lnTo>
                      <a:pt x="5" y="1"/>
                    </a:lnTo>
                    <a:lnTo>
                      <a:pt x="8" y="2"/>
                    </a:lnTo>
                    <a:lnTo>
                      <a:pt x="10" y="3"/>
                    </a:lnTo>
                    <a:lnTo>
                      <a:pt x="12" y="4"/>
                    </a:lnTo>
                    <a:lnTo>
                      <a:pt x="14" y="5"/>
                    </a:lnTo>
                    <a:lnTo>
                      <a:pt x="17" y="5"/>
                    </a:lnTo>
                    <a:lnTo>
                      <a:pt x="19" y="6"/>
                    </a:lnTo>
                    <a:lnTo>
                      <a:pt x="19" y="2854"/>
                    </a:lnTo>
                    <a:lnTo>
                      <a:pt x="17" y="2855"/>
                    </a:lnTo>
                    <a:lnTo>
                      <a:pt x="14" y="2856"/>
                    </a:lnTo>
                    <a:lnTo>
                      <a:pt x="12" y="2857"/>
                    </a:lnTo>
                    <a:lnTo>
                      <a:pt x="10" y="2858"/>
                    </a:lnTo>
                    <a:lnTo>
                      <a:pt x="8" y="2858"/>
                    </a:lnTo>
                    <a:lnTo>
                      <a:pt x="5" y="2859"/>
                    </a:lnTo>
                    <a:lnTo>
                      <a:pt x="2" y="2860"/>
                    </a:lnTo>
                    <a:lnTo>
                      <a:pt x="0" y="2862"/>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33" name="Freeform 1521"/>
              <p:cNvSpPr>
                <a:spLocks noChangeAspect="1"/>
              </p:cNvSpPr>
              <p:nvPr/>
            </p:nvSpPr>
            <p:spPr bwMode="auto">
              <a:xfrm>
                <a:off x="4900" y="750"/>
                <a:ext cx="6" cy="954"/>
              </a:xfrm>
              <a:custGeom>
                <a:avLst/>
                <a:gdLst>
                  <a:gd name="T0" fmla="*/ 0 w 19"/>
                  <a:gd name="T1" fmla="*/ 2855 h 2855"/>
                  <a:gd name="T2" fmla="*/ 0 w 19"/>
                  <a:gd name="T3" fmla="*/ 0 h 2855"/>
                  <a:gd name="T4" fmla="*/ 2 w 19"/>
                  <a:gd name="T5" fmla="*/ 1 h 2855"/>
                  <a:gd name="T6" fmla="*/ 4 w 19"/>
                  <a:gd name="T7" fmla="*/ 2 h 2855"/>
                  <a:gd name="T8" fmla="*/ 7 w 19"/>
                  <a:gd name="T9" fmla="*/ 2 h 2855"/>
                  <a:gd name="T10" fmla="*/ 9 w 19"/>
                  <a:gd name="T11" fmla="*/ 3 h 2855"/>
                  <a:gd name="T12" fmla="*/ 12 w 19"/>
                  <a:gd name="T13" fmla="*/ 4 h 2855"/>
                  <a:gd name="T14" fmla="*/ 14 w 19"/>
                  <a:gd name="T15" fmla="*/ 5 h 2855"/>
                  <a:gd name="T16" fmla="*/ 17 w 19"/>
                  <a:gd name="T17" fmla="*/ 6 h 2855"/>
                  <a:gd name="T18" fmla="*/ 19 w 19"/>
                  <a:gd name="T19" fmla="*/ 7 h 2855"/>
                  <a:gd name="T20" fmla="*/ 19 w 19"/>
                  <a:gd name="T21" fmla="*/ 2848 h 2855"/>
                  <a:gd name="T22" fmla="*/ 17 w 19"/>
                  <a:gd name="T23" fmla="*/ 2849 h 2855"/>
                  <a:gd name="T24" fmla="*/ 14 w 19"/>
                  <a:gd name="T25" fmla="*/ 2850 h 2855"/>
                  <a:gd name="T26" fmla="*/ 12 w 19"/>
                  <a:gd name="T27" fmla="*/ 2851 h 2855"/>
                  <a:gd name="T28" fmla="*/ 9 w 19"/>
                  <a:gd name="T29" fmla="*/ 2851 h 2855"/>
                  <a:gd name="T30" fmla="*/ 7 w 19"/>
                  <a:gd name="T31" fmla="*/ 2852 h 2855"/>
                  <a:gd name="T32" fmla="*/ 4 w 19"/>
                  <a:gd name="T33" fmla="*/ 2853 h 2855"/>
                  <a:gd name="T34" fmla="*/ 2 w 19"/>
                  <a:gd name="T35" fmla="*/ 2854 h 2855"/>
                  <a:gd name="T36" fmla="*/ 0 w 19"/>
                  <a:gd name="T37" fmla="*/ 2855 h 2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55">
                    <a:moveTo>
                      <a:pt x="0" y="2855"/>
                    </a:moveTo>
                    <a:lnTo>
                      <a:pt x="0" y="0"/>
                    </a:lnTo>
                    <a:lnTo>
                      <a:pt x="2" y="1"/>
                    </a:lnTo>
                    <a:lnTo>
                      <a:pt x="4" y="2"/>
                    </a:lnTo>
                    <a:lnTo>
                      <a:pt x="7" y="2"/>
                    </a:lnTo>
                    <a:lnTo>
                      <a:pt x="9" y="3"/>
                    </a:lnTo>
                    <a:lnTo>
                      <a:pt x="12" y="4"/>
                    </a:lnTo>
                    <a:lnTo>
                      <a:pt x="14" y="5"/>
                    </a:lnTo>
                    <a:lnTo>
                      <a:pt x="17" y="6"/>
                    </a:lnTo>
                    <a:lnTo>
                      <a:pt x="19" y="7"/>
                    </a:lnTo>
                    <a:lnTo>
                      <a:pt x="19" y="2848"/>
                    </a:lnTo>
                    <a:lnTo>
                      <a:pt x="17" y="2849"/>
                    </a:lnTo>
                    <a:lnTo>
                      <a:pt x="14" y="2850"/>
                    </a:lnTo>
                    <a:lnTo>
                      <a:pt x="12" y="2851"/>
                    </a:lnTo>
                    <a:lnTo>
                      <a:pt x="9" y="2851"/>
                    </a:lnTo>
                    <a:lnTo>
                      <a:pt x="7" y="2852"/>
                    </a:lnTo>
                    <a:lnTo>
                      <a:pt x="4" y="2853"/>
                    </a:lnTo>
                    <a:lnTo>
                      <a:pt x="2" y="2854"/>
                    </a:lnTo>
                    <a:lnTo>
                      <a:pt x="0" y="2855"/>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34" name="Freeform 1522"/>
              <p:cNvSpPr>
                <a:spLocks noChangeAspect="1"/>
              </p:cNvSpPr>
              <p:nvPr/>
            </p:nvSpPr>
            <p:spPr bwMode="auto">
              <a:xfrm>
                <a:off x="4903" y="751"/>
                <a:ext cx="6" cy="950"/>
              </a:xfrm>
              <a:custGeom>
                <a:avLst/>
                <a:gdLst>
                  <a:gd name="T0" fmla="*/ 0 w 20"/>
                  <a:gd name="T1" fmla="*/ 2848 h 2848"/>
                  <a:gd name="T2" fmla="*/ 0 w 20"/>
                  <a:gd name="T3" fmla="*/ 0 h 2848"/>
                  <a:gd name="T4" fmla="*/ 3 w 20"/>
                  <a:gd name="T5" fmla="*/ 1 h 2848"/>
                  <a:gd name="T6" fmla="*/ 5 w 20"/>
                  <a:gd name="T7" fmla="*/ 2 h 2848"/>
                  <a:gd name="T8" fmla="*/ 8 w 20"/>
                  <a:gd name="T9" fmla="*/ 3 h 2848"/>
                  <a:gd name="T10" fmla="*/ 10 w 20"/>
                  <a:gd name="T11" fmla="*/ 4 h 2848"/>
                  <a:gd name="T12" fmla="*/ 12 w 20"/>
                  <a:gd name="T13" fmla="*/ 5 h 2848"/>
                  <a:gd name="T14" fmla="*/ 14 w 20"/>
                  <a:gd name="T15" fmla="*/ 6 h 2848"/>
                  <a:gd name="T16" fmla="*/ 17 w 20"/>
                  <a:gd name="T17" fmla="*/ 7 h 2848"/>
                  <a:gd name="T18" fmla="*/ 20 w 20"/>
                  <a:gd name="T19" fmla="*/ 8 h 2848"/>
                  <a:gd name="T20" fmla="*/ 20 w 20"/>
                  <a:gd name="T21" fmla="*/ 2841 h 2848"/>
                  <a:gd name="T22" fmla="*/ 17 w 20"/>
                  <a:gd name="T23" fmla="*/ 2842 h 2848"/>
                  <a:gd name="T24" fmla="*/ 14 w 20"/>
                  <a:gd name="T25" fmla="*/ 2843 h 2848"/>
                  <a:gd name="T26" fmla="*/ 12 w 20"/>
                  <a:gd name="T27" fmla="*/ 2844 h 2848"/>
                  <a:gd name="T28" fmla="*/ 10 w 20"/>
                  <a:gd name="T29" fmla="*/ 2845 h 2848"/>
                  <a:gd name="T30" fmla="*/ 8 w 20"/>
                  <a:gd name="T31" fmla="*/ 2846 h 2848"/>
                  <a:gd name="T32" fmla="*/ 5 w 20"/>
                  <a:gd name="T33" fmla="*/ 2847 h 2848"/>
                  <a:gd name="T34" fmla="*/ 3 w 20"/>
                  <a:gd name="T35" fmla="*/ 2848 h 2848"/>
                  <a:gd name="T36" fmla="*/ 0 w 20"/>
                  <a:gd name="T37" fmla="*/ 2848 h 2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2848">
                    <a:moveTo>
                      <a:pt x="0" y="2848"/>
                    </a:moveTo>
                    <a:lnTo>
                      <a:pt x="0" y="0"/>
                    </a:lnTo>
                    <a:lnTo>
                      <a:pt x="3" y="1"/>
                    </a:lnTo>
                    <a:lnTo>
                      <a:pt x="5" y="2"/>
                    </a:lnTo>
                    <a:lnTo>
                      <a:pt x="8" y="3"/>
                    </a:lnTo>
                    <a:lnTo>
                      <a:pt x="10" y="4"/>
                    </a:lnTo>
                    <a:lnTo>
                      <a:pt x="12" y="5"/>
                    </a:lnTo>
                    <a:lnTo>
                      <a:pt x="14" y="6"/>
                    </a:lnTo>
                    <a:lnTo>
                      <a:pt x="17" y="7"/>
                    </a:lnTo>
                    <a:lnTo>
                      <a:pt x="20" y="8"/>
                    </a:lnTo>
                    <a:lnTo>
                      <a:pt x="20" y="2841"/>
                    </a:lnTo>
                    <a:lnTo>
                      <a:pt x="17" y="2842"/>
                    </a:lnTo>
                    <a:lnTo>
                      <a:pt x="14" y="2843"/>
                    </a:lnTo>
                    <a:lnTo>
                      <a:pt x="12" y="2844"/>
                    </a:lnTo>
                    <a:lnTo>
                      <a:pt x="10" y="2845"/>
                    </a:lnTo>
                    <a:lnTo>
                      <a:pt x="8" y="2846"/>
                    </a:lnTo>
                    <a:lnTo>
                      <a:pt x="5" y="2847"/>
                    </a:lnTo>
                    <a:lnTo>
                      <a:pt x="3" y="2848"/>
                    </a:lnTo>
                    <a:lnTo>
                      <a:pt x="0" y="2848"/>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35" name="Freeform 1523"/>
              <p:cNvSpPr>
                <a:spLocks noChangeAspect="1"/>
              </p:cNvSpPr>
              <p:nvPr/>
            </p:nvSpPr>
            <p:spPr bwMode="auto">
              <a:xfrm>
                <a:off x="4907" y="753"/>
                <a:ext cx="5" cy="945"/>
              </a:xfrm>
              <a:custGeom>
                <a:avLst/>
                <a:gdLst>
                  <a:gd name="T0" fmla="*/ 0 w 19"/>
                  <a:gd name="T1" fmla="*/ 2841 h 2841"/>
                  <a:gd name="T2" fmla="*/ 0 w 19"/>
                  <a:gd name="T3" fmla="*/ 0 h 2841"/>
                  <a:gd name="T4" fmla="*/ 2 w 19"/>
                  <a:gd name="T5" fmla="*/ 1 h 2841"/>
                  <a:gd name="T6" fmla="*/ 4 w 19"/>
                  <a:gd name="T7" fmla="*/ 2 h 2841"/>
                  <a:gd name="T8" fmla="*/ 7 w 19"/>
                  <a:gd name="T9" fmla="*/ 3 h 2841"/>
                  <a:gd name="T10" fmla="*/ 10 w 19"/>
                  <a:gd name="T11" fmla="*/ 4 h 2841"/>
                  <a:gd name="T12" fmla="*/ 12 w 19"/>
                  <a:gd name="T13" fmla="*/ 5 h 2841"/>
                  <a:gd name="T14" fmla="*/ 14 w 19"/>
                  <a:gd name="T15" fmla="*/ 7 h 2841"/>
                  <a:gd name="T16" fmla="*/ 17 w 19"/>
                  <a:gd name="T17" fmla="*/ 9 h 2841"/>
                  <a:gd name="T18" fmla="*/ 19 w 19"/>
                  <a:gd name="T19" fmla="*/ 10 h 2841"/>
                  <a:gd name="T20" fmla="*/ 19 w 19"/>
                  <a:gd name="T21" fmla="*/ 2831 h 2841"/>
                  <a:gd name="T22" fmla="*/ 17 w 19"/>
                  <a:gd name="T23" fmla="*/ 2832 h 2841"/>
                  <a:gd name="T24" fmla="*/ 14 w 19"/>
                  <a:gd name="T25" fmla="*/ 2833 h 2841"/>
                  <a:gd name="T26" fmla="*/ 12 w 19"/>
                  <a:gd name="T27" fmla="*/ 2836 h 2841"/>
                  <a:gd name="T28" fmla="*/ 10 w 19"/>
                  <a:gd name="T29" fmla="*/ 2837 h 2841"/>
                  <a:gd name="T30" fmla="*/ 7 w 19"/>
                  <a:gd name="T31" fmla="*/ 2838 h 2841"/>
                  <a:gd name="T32" fmla="*/ 4 w 19"/>
                  <a:gd name="T33" fmla="*/ 2839 h 2841"/>
                  <a:gd name="T34" fmla="*/ 2 w 19"/>
                  <a:gd name="T35" fmla="*/ 2840 h 2841"/>
                  <a:gd name="T36" fmla="*/ 0 w 19"/>
                  <a:gd name="T37" fmla="*/ 2841 h 2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41">
                    <a:moveTo>
                      <a:pt x="0" y="2841"/>
                    </a:moveTo>
                    <a:lnTo>
                      <a:pt x="0" y="0"/>
                    </a:lnTo>
                    <a:lnTo>
                      <a:pt x="2" y="1"/>
                    </a:lnTo>
                    <a:lnTo>
                      <a:pt x="4" y="2"/>
                    </a:lnTo>
                    <a:lnTo>
                      <a:pt x="7" y="3"/>
                    </a:lnTo>
                    <a:lnTo>
                      <a:pt x="10" y="4"/>
                    </a:lnTo>
                    <a:lnTo>
                      <a:pt x="12" y="5"/>
                    </a:lnTo>
                    <a:lnTo>
                      <a:pt x="14" y="7"/>
                    </a:lnTo>
                    <a:lnTo>
                      <a:pt x="17" y="9"/>
                    </a:lnTo>
                    <a:lnTo>
                      <a:pt x="19" y="10"/>
                    </a:lnTo>
                    <a:lnTo>
                      <a:pt x="19" y="2831"/>
                    </a:lnTo>
                    <a:lnTo>
                      <a:pt x="17" y="2832"/>
                    </a:lnTo>
                    <a:lnTo>
                      <a:pt x="14" y="2833"/>
                    </a:lnTo>
                    <a:lnTo>
                      <a:pt x="12" y="2836"/>
                    </a:lnTo>
                    <a:lnTo>
                      <a:pt x="10" y="2837"/>
                    </a:lnTo>
                    <a:lnTo>
                      <a:pt x="7" y="2838"/>
                    </a:lnTo>
                    <a:lnTo>
                      <a:pt x="4" y="2839"/>
                    </a:lnTo>
                    <a:lnTo>
                      <a:pt x="2" y="2840"/>
                    </a:lnTo>
                    <a:lnTo>
                      <a:pt x="0" y="2841"/>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36" name="Freeform 1524"/>
              <p:cNvSpPr>
                <a:spLocks noChangeAspect="1"/>
              </p:cNvSpPr>
              <p:nvPr/>
            </p:nvSpPr>
            <p:spPr bwMode="auto">
              <a:xfrm>
                <a:off x="4909" y="753"/>
                <a:ext cx="6" cy="945"/>
              </a:xfrm>
              <a:custGeom>
                <a:avLst/>
                <a:gdLst>
                  <a:gd name="T0" fmla="*/ 0 w 19"/>
                  <a:gd name="T1" fmla="*/ 2833 h 2833"/>
                  <a:gd name="T2" fmla="*/ 0 w 19"/>
                  <a:gd name="T3" fmla="*/ 0 h 2833"/>
                  <a:gd name="T4" fmla="*/ 2 w 19"/>
                  <a:gd name="T5" fmla="*/ 1 h 2833"/>
                  <a:gd name="T6" fmla="*/ 4 w 19"/>
                  <a:gd name="T7" fmla="*/ 3 h 2833"/>
                  <a:gd name="T8" fmla="*/ 7 w 19"/>
                  <a:gd name="T9" fmla="*/ 5 h 2833"/>
                  <a:gd name="T10" fmla="*/ 9 w 19"/>
                  <a:gd name="T11" fmla="*/ 6 h 2833"/>
                  <a:gd name="T12" fmla="*/ 11 w 19"/>
                  <a:gd name="T13" fmla="*/ 7 h 2833"/>
                  <a:gd name="T14" fmla="*/ 13 w 19"/>
                  <a:gd name="T15" fmla="*/ 8 h 2833"/>
                  <a:gd name="T16" fmla="*/ 17 w 19"/>
                  <a:gd name="T17" fmla="*/ 10 h 2833"/>
                  <a:gd name="T18" fmla="*/ 19 w 19"/>
                  <a:gd name="T19" fmla="*/ 11 h 2833"/>
                  <a:gd name="T20" fmla="*/ 19 w 19"/>
                  <a:gd name="T21" fmla="*/ 2822 h 2833"/>
                  <a:gd name="T22" fmla="*/ 17 w 19"/>
                  <a:gd name="T23" fmla="*/ 2823 h 2833"/>
                  <a:gd name="T24" fmla="*/ 13 w 19"/>
                  <a:gd name="T25" fmla="*/ 2825 h 2833"/>
                  <a:gd name="T26" fmla="*/ 11 w 19"/>
                  <a:gd name="T27" fmla="*/ 2826 h 2833"/>
                  <a:gd name="T28" fmla="*/ 9 w 19"/>
                  <a:gd name="T29" fmla="*/ 2827 h 2833"/>
                  <a:gd name="T30" fmla="*/ 7 w 19"/>
                  <a:gd name="T31" fmla="*/ 2828 h 2833"/>
                  <a:gd name="T32" fmla="*/ 4 w 19"/>
                  <a:gd name="T33" fmla="*/ 2829 h 2833"/>
                  <a:gd name="T34" fmla="*/ 2 w 19"/>
                  <a:gd name="T35" fmla="*/ 2832 h 2833"/>
                  <a:gd name="T36" fmla="*/ 0 w 19"/>
                  <a:gd name="T37" fmla="*/ 2833 h 2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33">
                    <a:moveTo>
                      <a:pt x="0" y="2833"/>
                    </a:moveTo>
                    <a:lnTo>
                      <a:pt x="0" y="0"/>
                    </a:lnTo>
                    <a:lnTo>
                      <a:pt x="2" y="1"/>
                    </a:lnTo>
                    <a:lnTo>
                      <a:pt x="4" y="3"/>
                    </a:lnTo>
                    <a:lnTo>
                      <a:pt x="7" y="5"/>
                    </a:lnTo>
                    <a:lnTo>
                      <a:pt x="9" y="6"/>
                    </a:lnTo>
                    <a:lnTo>
                      <a:pt x="11" y="7"/>
                    </a:lnTo>
                    <a:lnTo>
                      <a:pt x="13" y="8"/>
                    </a:lnTo>
                    <a:lnTo>
                      <a:pt x="17" y="10"/>
                    </a:lnTo>
                    <a:lnTo>
                      <a:pt x="19" y="11"/>
                    </a:lnTo>
                    <a:lnTo>
                      <a:pt x="19" y="2822"/>
                    </a:lnTo>
                    <a:lnTo>
                      <a:pt x="17" y="2823"/>
                    </a:lnTo>
                    <a:lnTo>
                      <a:pt x="13" y="2825"/>
                    </a:lnTo>
                    <a:lnTo>
                      <a:pt x="11" y="2826"/>
                    </a:lnTo>
                    <a:lnTo>
                      <a:pt x="9" y="2827"/>
                    </a:lnTo>
                    <a:lnTo>
                      <a:pt x="7" y="2828"/>
                    </a:lnTo>
                    <a:lnTo>
                      <a:pt x="4" y="2829"/>
                    </a:lnTo>
                    <a:lnTo>
                      <a:pt x="2" y="2832"/>
                    </a:lnTo>
                    <a:lnTo>
                      <a:pt x="0" y="2833"/>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37" name="Freeform 1525"/>
              <p:cNvSpPr>
                <a:spLocks noChangeAspect="1"/>
              </p:cNvSpPr>
              <p:nvPr/>
            </p:nvSpPr>
            <p:spPr bwMode="auto">
              <a:xfrm>
                <a:off x="4912" y="756"/>
                <a:ext cx="8" cy="940"/>
              </a:xfrm>
              <a:custGeom>
                <a:avLst/>
                <a:gdLst>
                  <a:gd name="T0" fmla="*/ 0 w 19"/>
                  <a:gd name="T1" fmla="*/ 2821 h 2821"/>
                  <a:gd name="T2" fmla="*/ 0 w 19"/>
                  <a:gd name="T3" fmla="*/ 0 h 2821"/>
                  <a:gd name="T4" fmla="*/ 2 w 19"/>
                  <a:gd name="T5" fmla="*/ 1 h 2821"/>
                  <a:gd name="T6" fmla="*/ 4 w 19"/>
                  <a:gd name="T7" fmla="*/ 2 h 2821"/>
                  <a:gd name="T8" fmla="*/ 8 w 19"/>
                  <a:gd name="T9" fmla="*/ 4 h 2821"/>
                  <a:gd name="T10" fmla="*/ 10 w 19"/>
                  <a:gd name="T11" fmla="*/ 5 h 2821"/>
                  <a:gd name="T12" fmla="*/ 12 w 19"/>
                  <a:gd name="T13" fmla="*/ 7 h 2821"/>
                  <a:gd name="T14" fmla="*/ 14 w 19"/>
                  <a:gd name="T15" fmla="*/ 8 h 2821"/>
                  <a:gd name="T16" fmla="*/ 17 w 19"/>
                  <a:gd name="T17" fmla="*/ 9 h 2821"/>
                  <a:gd name="T18" fmla="*/ 19 w 19"/>
                  <a:gd name="T19" fmla="*/ 11 h 2821"/>
                  <a:gd name="T20" fmla="*/ 19 w 19"/>
                  <a:gd name="T21" fmla="*/ 2810 h 2821"/>
                  <a:gd name="T22" fmla="*/ 17 w 19"/>
                  <a:gd name="T23" fmla="*/ 2812 h 2821"/>
                  <a:gd name="T24" fmla="*/ 14 w 19"/>
                  <a:gd name="T25" fmla="*/ 2813 h 2821"/>
                  <a:gd name="T26" fmla="*/ 12 w 19"/>
                  <a:gd name="T27" fmla="*/ 2814 h 2821"/>
                  <a:gd name="T28" fmla="*/ 10 w 19"/>
                  <a:gd name="T29" fmla="*/ 2816 h 2821"/>
                  <a:gd name="T30" fmla="*/ 8 w 19"/>
                  <a:gd name="T31" fmla="*/ 2817 h 2821"/>
                  <a:gd name="T32" fmla="*/ 4 w 19"/>
                  <a:gd name="T33" fmla="*/ 2818 h 2821"/>
                  <a:gd name="T34" fmla="*/ 2 w 19"/>
                  <a:gd name="T35" fmla="*/ 2820 h 2821"/>
                  <a:gd name="T36" fmla="*/ 0 w 19"/>
                  <a:gd name="T37" fmla="*/ 2821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21">
                    <a:moveTo>
                      <a:pt x="0" y="2821"/>
                    </a:moveTo>
                    <a:lnTo>
                      <a:pt x="0" y="0"/>
                    </a:lnTo>
                    <a:lnTo>
                      <a:pt x="2" y="1"/>
                    </a:lnTo>
                    <a:lnTo>
                      <a:pt x="4" y="2"/>
                    </a:lnTo>
                    <a:lnTo>
                      <a:pt x="8" y="4"/>
                    </a:lnTo>
                    <a:lnTo>
                      <a:pt x="10" y="5"/>
                    </a:lnTo>
                    <a:lnTo>
                      <a:pt x="12" y="7"/>
                    </a:lnTo>
                    <a:lnTo>
                      <a:pt x="14" y="8"/>
                    </a:lnTo>
                    <a:lnTo>
                      <a:pt x="17" y="9"/>
                    </a:lnTo>
                    <a:lnTo>
                      <a:pt x="19" y="11"/>
                    </a:lnTo>
                    <a:lnTo>
                      <a:pt x="19" y="2810"/>
                    </a:lnTo>
                    <a:lnTo>
                      <a:pt x="17" y="2812"/>
                    </a:lnTo>
                    <a:lnTo>
                      <a:pt x="14" y="2813"/>
                    </a:lnTo>
                    <a:lnTo>
                      <a:pt x="12" y="2814"/>
                    </a:lnTo>
                    <a:lnTo>
                      <a:pt x="10" y="2816"/>
                    </a:lnTo>
                    <a:lnTo>
                      <a:pt x="8" y="2817"/>
                    </a:lnTo>
                    <a:lnTo>
                      <a:pt x="4" y="2818"/>
                    </a:lnTo>
                    <a:lnTo>
                      <a:pt x="2" y="2820"/>
                    </a:lnTo>
                    <a:lnTo>
                      <a:pt x="0" y="2821"/>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38" name="Freeform 1526"/>
              <p:cNvSpPr>
                <a:spLocks noChangeAspect="1"/>
              </p:cNvSpPr>
              <p:nvPr/>
            </p:nvSpPr>
            <p:spPr bwMode="auto">
              <a:xfrm>
                <a:off x="4916" y="758"/>
                <a:ext cx="6" cy="935"/>
              </a:xfrm>
              <a:custGeom>
                <a:avLst/>
                <a:gdLst>
                  <a:gd name="T0" fmla="*/ 0 w 19"/>
                  <a:gd name="T1" fmla="*/ 2811 h 2811"/>
                  <a:gd name="T2" fmla="*/ 0 w 19"/>
                  <a:gd name="T3" fmla="*/ 0 h 2811"/>
                  <a:gd name="T4" fmla="*/ 2 w 19"/>
                  <a:gd name="T5" fmla="*/ 2 h 2811"/>
                  <a:gd name="T6" fmla="*/ 4 w 19"/>
                  <a:gd name="T7" fmla="*/ 3 h 2811"/>
                  <a:gd name="T8" fmla="*/ 7 w 19"/>
                  <a:gd name="T9" fmla="*/ 4 h 2811"/>
                  <a:gd name="T10" fmla="*/ 9 w 19"/>
                  <a:gd name="T11" fmla="*/ 6 h 2811"/>
                  <a:gd name="T12" fmla="*/ 11 w 19"/>
                  <a:gd name="T13" fmla="*/ 9 h 2811"/>
                  <a:gd name="T14" fmla="*/ 14 w 19"/>
                  <a:gd name="T15" fmla="*/ 10 h 2811"/>
                  <a:gd name="T16" fmla="*/ 17 w 19"/>
                  <a:gd name="T17" fmla="*/ 12 h 2811"/>
                  <a:gd name="T18" fmla="*/ 19 w 19"/>
                  <a:gd name="T19" fmla="*/ 13 h 2811"/>
                  <a:gd name="T20" fmla="*/ 19 w 19"/>
                  <a:gd name="T21" fmla="*/ 2798 h 2811"/>
                  <a:gd name="T22" fmla="*/ 17 w 19"/>
                  <a:gd name="T23" fmla="*/ 2799 h 2811"/>
                  <a:gd name="T24" fmla="*/ 14 w 19"/>
                  <a:gd name="T25" fmla="*/ 2801 h 2811"/>
                  <a:gd name="T26" fmla="*/ 11 w 19"/>
                  <a:gd name="T27" fmla="*/ 2804 h 2811"/>
                  <a:gd name="T28" fmla="*/ 9 w 19"/>
                  <a:gd name="T29" fmla="*/ 2805 h 2811"/>
                  <a:gd name="T30" fmla="*/ 7 w 19"/>
                  <a:gd name="T31" fmla="*/ 2807 h 2811"/>
                  <a:gd name="T32" fmla="*/ 4 w 19"/>
                  <a:gd name="T33" fmla="*/ 2808 h 2811"/>
                  <a:gd name="T34" fmla="*/ 2 w 19"/>
                  <a:gd name="T35" fmla="*/ 2809 h 2811"/>
                  <a:gd name="T36" fmla="*/ 0 w 19"/>
                  <a:gd name="T37" fmla="*/ 2811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11">
                    <a:moveTo>
                      <a:pt x="0" y="2811"/>
                    </a:moveTo>
                    <a:lnTo>
                      <a:pt x="0" y="0"/>
                    </a:lnTo>
                    <a:lnTo>
                      <a:pt x="2" y="2"/>
                    </a:lnTo>
                    <a:lnTo>
                      <a:pt x="4" y="3"/>
                    </a:lnTo>
                    <a:lnTo>
                      <a:pt x="7" y="4"/>
                    </a:lnTo>
                    <a:lnTo>
                      <a:pt x="9" y="6"/>
                    </a:lnTo>
                    <a:lnTo>
                      <a:pt x="11" y="9"/>
                    </a:lnTo>
                    <a:lnTo>
                      <a:pt x="14" y="10"/>
                    </a:lnTo>
                    <a:lnTo>
                      <a:pt x="17" y="12"/>
                    </a:lnTo>
                    <a:lnTo>
                      <a:pt x="19" y="13"/>
                    </a:lnTo>
                    <a:lnTo>
                      <a:pt x="19" y="2798"/>
                    </a:lnTo>
                    <a:lnTo>
                      <a:pt x="17" y="2799"/>
                    </a:lnTo>
                    <a:lnTo>
                      <a:pt x="14" y="2801"/>
                    </a:lnTo>
                    <a:lnTo>
                      <a:pt x="11" y="2804"/>
                    </a:lnTo>
                    <a:lnTo>
                      <a:pt x="9" y="2805"/>
                    </a:lnTo>
                    <a:lnTo>
                      <a:pt x="7" y="2807"/>
                    </a:lnTo>
                    <a:lnTo>
                      <a:pt x="4" y="2808"/>
                    </a:lnTo>
                    <a:lnTo>
                      <a:pt x="2" y="2809"/>
                    </a:lnTo>
                    <a:lnTo>
                      <a:pt x="0" y="2811"/>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39" name="Freeform 1527"/>
              <p:cNvSpPr>
                <a:spLocks noChangeAspect="1"/>
              </p:cNvSpPr>
              <p:nvPr/>
            </p:nvSpPr>
            <p:spPr bwMode="auto">
              <a:xfrm>
                <a:off x="4919" y="760"/>
                <a:ext cx="5" cy="934"/>
              </a:xfrm>
              <a:custGeom>
                <a:avLst/>
                <a:gdLst>
                  <a:gd name="T0" fmla="*/ 0 w 19"/>
                  <a:gd name="T1" fmla="*/ 2799 h 2799"/>
                  <a:gd name="T2" fmla="*/ 0 w 19"/>
                  <a:gd name="T3" fmla="*/ 0 h 2799"/>
                  <a:gd name="T4" fmla="*/ 2 w 19"/>
                  <a:gd name="T5" fmla="*/ 1 h 2799"/>
                  <a:gd name="T6" fmla="*/ 5 w 19"/>
                  <a:gd name="T7" fmla="*/ 4 h 2799"/>
                  <a:gd name="T8" fmla="*/ 8 w 19"/>
                  <a:gd name="T9" fmla="*/ 6 h 2799"/>
                  <a:gd name="T10" fmla="*/ 10 w 19"/>
                  <a:gd name="T11" fmla="*/ 7 h 2799"/>
                  <a:gd name="T12" fmla="*/ 12 w 19"/>
                  <a:gd name="T13" fmla="*/ 9 h 2799"/>
                  <a:gd name="T14" fmla="*/ 14 w 19"/>
                  <a:gd name="T15" fmla="*/ 11 h 2799"/>
                  <a:gd name="T16" fmla="*/ 17 w 19"/>
                  <a:gd name="T17" fmla="*/ 13 h 2799"/>
                  <a:gd name="T18" fmla="*/ 19 w 19"/>
                  <a:gd name="T19" fmla="*/ 14 h 2799"/>
                  <a:gd name="T20" fmla="*/ 19 w 19"/>
                  <a:gd name="T21" fmla="*/ 2785 h 2799"/>
                  <a:gd name="T22" fmla="*/ 17 w 19"/>
                  <a:gd name="T23" fmla="*/ 2787 h 2799"/>
                  <a:gd name="T24" fmla="*/ 14 w 19"/>
                  <a:gd name="T25" fmla="*/ 2788 h 2799"/>
                  <a:gd name="T26" fmla="*/ 12 w 19"/>
                  <a:gd name="T27" fmla="*/ 2790 h 2799"/>
                  <a:gd name="T28" fmla="*/ 10 w 19"/>
                  <a:gd name="T29" fmla="*/ 2792 h 2799"/>
                  <a:gd name="T30" fmla="*/ 8 w 19"/>
                  <a:gd name="T31" fmla="*/ 2793 h 2799"/>
                  <a:gd name="T32" fmla="*/ 5 w 19"/>
                  <a:gd name="T33" fmla="*/ 2795 h 2799"/>
                  <a:gd name="T34" fmla="*/ 2 w 19"/>
                  <a:gd name="T35" fmla="*/ 2798 h 2799"/>
                  <a:gd name="T36" fmla="*/ 0 w 19"/>
                  <a:gd name="T37" fmla="*/ 2799 h 2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799">
                    <a:moveTo>
                      <a:pt x="0" y="2799"/>
                    </a:moveTo>
                    <a:lnTo>
                      <a:pt x="0" y="0"/>
                    </a:lnTo>
                    <a:lnTo>
                      <a:pt x="2" y="1"/>
                    </a:lnTo>
                    <a:lnTo>
                      <a:pt x="5" y="4"/>
                    </a:lnTo>
                    <a:lnTo>
                      <a:pt x="8" y="6"/>
                    </a:lnTo>
                    <a:lnTo>
                      <a:pt x="10" y="7"/>
                    </a:lnTo>
                    <a:lnTo>
                      <a:pt x="12" y="9"/>
                    </a:lnTo>
                    <a:lnTo>
                      <a:pt x="14" y="11"/>
                    </a:lnTo>
                    <a:lnTo>
                      <a:pt x="17" y="13"/>
                    </a:lnTo>
                    <a:lnTo>
                      <a:pt x="19" y="14"/>
                    </a:lnTo>
                    <a:lnTo>
                      <a:pt x="19" y="2785"/>
                    </a:lnTo>
                    <a:lnTo>
                      <a:pt x="17" y="2787"/>
                    </a:lnTo>
                    <a:lnTo>
                      <a:pt x="14" y="2788"/>
                    </a:lnTo>
                    <a:lnTo>
                      <a:pt x="12" y="2790"/>
                    </a:lnTo>
                    <a:lnTo>
                      <a:pt x="10" y="2792"/>
                    </a:lnTo>
                    <a:lnTo>
                      <a:pt x="8" y="2793"/>
                    </a:lnTo>
                    <a:lnTo>
                      <a:pt x="5" y="2795"/>
                    </a:lnTo>
                    <a:lnTo>
                      <a:pt x="2" y="2798"/>
                    </a:lnTo>
                    <a:lnTo>
                      <a:pt x="0" y="2799"/>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40" name="Freeform 1528"/>
              <p:cNvSpPr>
                <a:spLocks noChangeAspect="1"/>
              </p:cNvSpPr>
              <p:nvPr/>
            </p:nvSpPr>
            <p:spPr bwMode="auto">
              <a:xfrm>
                <a:off x="4922" y="762"/>
                <a:ext cx="6" cy="928"/>
              </a:xfrm>
              <a:custGeom>
                <a:avLst/>
                <a:gdLst>
                  <a:gd name="T0" fmla="*/ 0 w 19"/>
                  <a:gd name="T1" fmla="*/ 2785 h 2785"/>
                  <a:gd name="T2" fmla="*/ 0 w 19"/>
                  <a:gd name="T3" fmla="*/ 0 h 2785"/>
                  <a:gd name="T4" fmla="*/ 2 w 19"/>
                  <a:gd name="T5" fmla="*/ 2 h 2785"/>
                  <a:gd name="T6" fmla="*/ 4 w 19"/>
                  <a:gd name="T7" fmla="*/ 4 h 2785"/>
                  <a:gd name="T8" fmla="*/ 7 w 19"/>
                  <a:gd name="T9" fmla="*/ 6 h 2785"/>
                  <a:gd name="T10" fmla="*/ 9 w 19"/>
                  <a:gd name="T11" fmla="*/ 8 h 2785"/>
                  <a:gd name="T12" fmla="*/ 12 w 19"/>
                  <a:gd name="T13" fmla="*/ 10 h 2785"/>
                  <a:gd name="T14" fmla="*/ 14 w 19"/>
                  <a:gd name="T15" fmla="*/ 11 h 2785"/>
                  <a:gd name="T16" fmla="*/ 17 w 19"/>
                  <a:gd name="T17" fmla="*/ 14 h 2785"/>
                  <a:gd name="T18" fmla="*/ 19 w 19"/>
                  <a:gd name="T19" fmla="*/ 16 h 2785"/>
                  <a:gd name="T20" fmla="*/ 19 w 19"/>
                  <a:gd name="T21" fmla="*/ 2769 h 2785"/>
                  <a:gd name="T22" fmla="*/ 17 w 19"/>
                  <a:gd name="T23" fmla="*/ 2771 h 2785"/>
                  <a:gd name="T24" fmla="*/ 14 w 19"/>
                  <a:gd name="T25" fmla="*/ 2774 h 2785"/>
                  <a:gd name="T26" fmla="*/ 12 w 19"/>
                  <a:gd name="T27" fmla="*/ 2776 h 2785"/>
                  <a:gd name="T28" fmla="*/ 9 w 19"/>
                  <a:gd name="T29" fmla="*/ 2778 h 2785"/>
                  <a:gd name="T30" fmla="*/ 7 w 19"/>
                  <a:gd name="T31" fmla="*/ 2779 h 2785"/>
                  <a:gd name="T32" fmla="*/ 4 w 19"/>
                  <a:gd name="T33" fmla="*/ 2781 h 2785"/>
                  <a:gd name="T34" fmla="*/ 2 w 19"/>
                  <a:gd name="T35" fmla="*/ 2783 h 2785"/>
                  <a:gd name="T36" fmla="*/ 0 w 19"/>
                  <a:gd name="T37" fmla="*/ 2785 h 2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785">
                    <a:moveTo>
                      <a:pt x="0" y="2785"/>
                    </a:moveTo>
                    <a:lnTo>
                      <a:pt x="0" y="0"/>
                    </a:lnTo>
                    <a:lnTo>
                      <a:pt x="2" y="2"/>
                    </a:lnTo>
                    <a:lnTo>
                      <a:pt x="4" y="4"/>
                    </a:lnTo>
                    <a:lnTo>
                      <a:pt x="7" y="6"/>
                    </a:lnTo>
                    <a:lnTo>
                      <a:pt x="9" y="8"/>
                    </a:lnTo>
                    <a:lnTo>
                      <a:pt x="12" y="10"/>
                    </a:lnTo>
                    <a:lnTo>
                      <a:pt x="14" y="11"/>
                    </a:lnTo>
                    <a:lnTo>
                      <a:pt x="17" y="14"/>
                    </a:lnTo>
                    <a:lnTo>
                      <a:pt x="19" y="16"/>
                    </a:lnTo>
                    <a:lnTo>
                      <a:pt x="19" y="2769"/>
                    </a:lnTo>
                    <a:lnTo>
                      <a:pt x="17" y="2771"/>
                    </a:lnTo>
                    <a:lnTo>
                      <a:pt x="14" y="2774"/>
                    </a:lnTo>
                    <a:lnTo>
                      <a:pt x="12" y="2776"/>
                    </a:lnTo>
                    <a:lnTo>
                      <a:pt x="9" y="2778"/>
                    </a:lnTo>
                    <a:lnTo>
                      <a:pt x="7" y="2779"/>
                    </a:lnTo>
                    <a:lnTo>
                      <a:pt x="4" y="2781"/>
                    </a:lnTo>
                    <a:lnTo>
                      <a:pt x="2" y="2783"/>
                    </a:lnTo>
                    <a:lnTo>
                      <a:pt x="0" y="2785"/>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41" name="Freeform 1529"/>
              <p:cNvSpPr>
                <a:spLocks noChangeAspect="1"/>
              </p:cNvSpPr>
              <p:nvPr/>
            </p:nvSpPr>
            <p:spPr bwMode="auto">
              <a:xfrm>
                <a:off x="4925" y="763"/>
                <a:ext cx="9" cy="925"/>
              </a:xfrm>
              <a:custGeom>
                <a:avLst/>
                <a:gdLst>
                  <a:gd name="T0" fmla="*/ 0 w 20"/>
                  <a:gd name="T1" fmla="*/ 2771 h 2771"/>
                  <a:gd name="T2" fmla="*/ 0 w 20"/>
                  <a:gd name="T3" fmla="*/ 0 h 2771"/>
                  <a:gd name="T4" fmla="*/ 3 w 20"/>
                  <a:gd name="T5" fmla="*/ 2 h 2771"/>
                  <a:gd name="T6" fmla="*/ 5 w 20"/>
                  <a:gd name="T7" fmla="*/ 6 h 2771"/>
                  <a:gd name="T8" fmla="*/ 8 w 20"/>
                  <a:gd name="T9" fmla="*/ 8 h 2771"/>
                  <a:gd name="T10" fmla="*/ 10 w 20"/>
                  <a:gd name="T11" fmla="*/ 10 h 2771"/>
                  <a:gd name="T12" fmla="*/ 12 w 20"/>
                  <a:gd name="T13" fmla="*/ 12 h 2771"/>
                  <a:gd name="T14" fmla="*/ 14 w 20"/>
                  <a:gd name="T15" fmla="*/ 14 h 2771"/>
                  <a:gd name="T16" fmla="*/ 16 w 20"/>
                  <a:gd name="T17" fmla="*/ 16 h 2771"/>
                  <a:gd name="T18" fmla="*/ 20 w 20"/>
                  <a:gd name="T19" fmla="*/ 18 h 2771"/>
                  <a:gd name="T20" fmla="*/ 20 w 20"/>
                  <a:gd name="T21" fmla="*/ 2753 h 2771"/>
                  <a:gd name="T22" fmla="*/ 16 w 20"/>
                  <a:gd name="T23" fmla="*/ 2755 h 2771"/>
                  <a:gd name="T24" fmla="*/ 14 w 20"/>
                  <a:gd name="T25" fmla="*/ 2758 h 2771"/>
                  <a:gd name="T26" fmla="*/ 12 w 20"/>
                  <a:gd name="T27" fmla="*/ 2760 h 2771"/>
                  <a:gd name="T28" fmla="*/ 10 w 20"/>
                  <a:gd name="T29" fmla="*/ 2762 h 2771"/>
                  <a:gd name="T30" fmla="*/ 8 w 20"/>
                  <a:gd name="T31" fmla="*/ 2764 h 2771"/>
                  <a:gd name="T32" fmla="*/ 5 w 20"/>
                  <a:gd name="T33" fmla="*/ 2767 h 2771"/>
                  <a:gd name="T34" fmla="*/ 3 w 20"/>
                  <a:gd name="T35" fmla="*/ 2769 h 2771"/>
                  <a:gd name="T36" fmla="*/ 0 w 20"/>
                  <a:gd name="T37" fmla="*/ 2771 h 2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2771">
                    <a:moveTo>
                      <a:pt x="0" y="2771"/>
                    </a:moveTo>
                    <a:lnTo>
                      <a:pt x="0" y="0"/>
                    </a:lnTo>
                    <a:lnTo>
                      <a:pt x="3" y="2"/>
                    </a:lnTo>
                    <a:lnTo>
                      <a:pt x="5" y="6"/>
                    </a:lnTo>
                    <a:lnTo>
                      <a:pt x="8" y="8"/>
                    </a:lnTo>
                    <a:lnTo>
                      <a:pt x="10" y="10"/>
                    </a:lnTo>
                    <a:lnTo>
                      <a:pt x="12" y="12"/>
                    </a:lnTo>
                    <a:lnTo>
                      <a:pt x="14" y="14"/>
                    </a:lnTo>
                    <a:lnTo>
                      <a:pt x="16" y="16"/>
                    </a:lnTo>
                    <a:lnTo>
                      <a:pt x="20" y="18"/>
                    </a:lnTo>
                    <a:lnTo>
                      <a:pt x="20" y="2753"/>
                    </a:lnTo>
                    <a:lnTo>
                      <a:pt x="16" y="2755"/>
                    </a:lnTo>
                    <a:lnTo>
                      <a:pt x="14" y="2758"/>
                    </a:lnTo>
                    <a:lnTo>
                      <a:pt x="12" y="2760"/>
                    </a:lnTo>
                    <a:lnTo>
                      <a:pt x="10" y="2762"/>
                    </a:lnTo>
                    <a:lnTo>
                      <a:pt x="8" y="2764"/>
                    </a:lnTo>
                    <a:lnTo>
                      <a:pt x="5" y="2767"/>
                    </a:lnTo>
                    <a:lnTo>
                      <a:pt x="3" y="2769"/>
                    </a:lnTo>
                    <a:lnTo>
                      <a:pt x="0" y="2771"/>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42" name="Freeform 1530"/>
              <p:cNvSpPr>
                <a:spLocks noChangeAspect="1"/>
              </p:cNvSpPr>
              <p:nvPr/>
            </p:nvSpPr>
            <p:spPr bwMode="auto">
              <a:xfrm>
                <a:off x="4928" y="767"/>
                <a:ext cx="5" cy="918"/>
              </a:xfrm>
              <a:custGeom>
                <a:avLst/>
                <a:gdLst>
                  <a:gd name="T0" fmla="*/ 0 w 19"/>
                  <a:gd name="T1" fmla="*/ 2753 h 2753"/>
                  <a:gd name="T2" fmla="*/ 0 w 19"/>
                  <a:gd name="T3" fmla="*/ 0 h 2753"/>
                  <a:gd name="T4" fmla="*/ 2 w 19"/>
                  <a:gd name="T5" fmla="*/ 3 h 2753"/>
                  <a:gd name="T6" fmla="*/ 4 w 19"/>
                  <a:gd name="T7" fmla="*/ 5 h 2753"/>
                  <a:gd name="T8" fmla="*/ 8 w 19"/>
                  <a:gd name="T9" fmla="*/ 7 h 2753"/>
                  <a:gd name="T10" fmla="*/ 10 w 19"/>
                  <a:gd name="T11" fmla="*/ 10 h 2753"/>
                  <a:gd name="T12" fmla="*/ 12 w 19"/>
                  <a:gd name="T13" fmla="*/ 12 h 2753"/>
                  <a:gd name="T14" fmla="*/ 14 w 19"/>
                  <a:gd name="T15" fmla="*/ 15 h 2753"/>
                  <a:gd name="T16" fmla="*/ 16 w 19"/>
                  <a:gd name="T17" fmla="*/ 18 h 2753"/>
                  <a:gd name="T18" fmla="*/ 19 w 19"/>
                  <a:gd name="T19" fmla="*/ 20 h 2753"/>
                  <a:gd name="T20" fmla="*/ 19 w 19"/>
                  <a:gd name="T21" fmla="*/ 2733 h 2753"/>
                  <a:gd name="T22" fmla="*/ 16 w 19"/>
                  <a:gd name="T23" fmla="*/ 2736 h 2753"/>
                  <a:gd name="T24" fmla="*/ 14 w 19"/>
                  <a:gd name="T25" fmla="*/ 2738 h 2753"/>
                  <a:gd name="T26" fmla="*/ 12 w 19"/>
                  <a:gd name="T27" fmla="*/ 2742 h 2753"/>
                  <a:gd name="T28" fmla="*/ 10 w 19"/>
                  <a:gd name="T29" fmla="*/ 2744 h 2753"/>
                  <a:gd name="T30" fmla="*/ 8 w 19"/>
                  <a:gd name="T31" fmla="*/ 2746 h 2753"/>
                  <a:gd name="T32" fmla="*/ 4 w 19"/>
                  <a:gd name="T33" fmla="*/ 2749 h 2753"/>
                  <a:gd name="T34" fmla="*/ 2 w 19"/>
                  <a:gd name="T35" fmla="*/ 2751 h 2753"/>
                  <a:gd name="T36" fmla="*/ 0 w 19"/>
                  <a:gd name="T37" fmla="*/ 2753 h 2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753">
                    <a:moveTo>
                      <a:pt x="0" y="2753"/>
                    </a:moveTo>
                    <a:lnTo>
                      <a:pt x="0" y="0"/>
                    </a:lnTo>
                    <a:lnTo>
                      <a:pt x="2" y="3"/>
                    </a:lnTo>
                    <a:lnTo>
                      <a:pt x="4" y="5"/>
                    </a:lnTo>
                    <a:lnTo>
                      <a:pt x="8" y="7"/>
                    </a:lnTo>
                    <a:lnTo>
                      <a:pt x="10" y="10"/>
                    </a:lnTo>
                    <a:lnTo>
                      <a:pt x="12" y="12"/>
                    </a:lnTo>
                    <a:lnTo>
                      <a:pt x="14" y="15"/>
                    </a:lnTo>
                    <a:lnTo>
                      <a:pt x="16" y="18"/>
                    </a:lnTo>
                    <a:lnTo>
                      <a:pt x="19" y="20"/>
                    </a:lnTo>
                    <a:lnTo>
                      <a:pt x="19" y="2733"/>
                    </a:lnTo>
                    <a:lnTo>
                      <a:pt x="16" y="2736"/>
                    </a:lnTo>
                    <a:lnTo>
                      <a:pt x="14" y="2738"/>
                    </a:lnTo>
                    <a:lnTo>
                      <a:pt x="12" y="2742"/>
                    </a:lnTo>
                    <a:lnTo>
                      <a:pt x="10" y="2744"/>
                    </a:lnTo>
                    <a:lnTo>
                      <a:pt x="8" y="2746"/>
                    </a:lnTo>
                    <a:lnTo>
                      <a:pt x="4" y="2749"/>
                    </a:lnTo>
                    <a:lnTo>
                      <a:pt x="2" y="2751"/>
                    </a:lnTo>
                    <a:lnTo>
                      <a:pt x="0" y="2753"/>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43" name="Freeform 1531"/>
              <p:cNvSpPr>
                <a:spLocks noChangeAspect="1"/>
              </p:cNvSpPr>
              <p:nvPr/>
            </p:nvSpPr>
            <p:spPr bwMode="auto">
              <a:xfrm>
                <a:off x="4932" y="770"/>
                <a:ext cx="6" cy="914"/>
              </a:xfrm>
              <a:custGeom>
                <a:avLst/>
                <a:gdLst>
                  <a:gd name="T0" fmla="*/ 0 w 19"/>
                  <a:gd name="T1" fmla="*/ 2735 h 2735"/>
                  <a:gd name="T2" fmla="*/ 0 w 19"/>
                  <a:gd name="T3" fmla="*/ 0 h 2735"/>
                  <a:gd name="T4" fmla="*/ 2 w 19"/>
                  <a:gd name="T5" fmla="*/ 3 h 2735"/>
                  <a:gd name="T6" fmla="*/ 4 w 19"/>
                  <a:gd name="T7" fmla="*/ 6 h 2735"/>
                  <a:gd name="T8" fmla="*/ 7 w 19"/>
                  <a:gd name="T9" fmla="*/ 9 h 2735"/>
                  <a:gd name="T10" fmla="*/ 9 w 19"/>
                  <a:gd name="T11" fmla="*/ 12 h 2735"/>
                  <a:gd name="T12" fmla="*/ 11 w 19"/>
                  <a:gd name="T13" fmla="*/ 14 h 2735"/>
                  <a:gd name="T14" fmla="*/ 13 w 19"/>
                  <a:gd name="T15" fmla="*/ 17 h 2735"/>
                  <a:gd name="T16" fmla="*/ 16 w 19"/>
                  <a:gd name="T17" fmla="*/ 20 h 2735"/>
                  <a:gd name="T18" fmla="*/ 19 w 19"/>
                  <a:gd name="T19" fmla="*/ 24 h 2735"/>
                  <a:gd name="T20" fmla="*/ 19 w 19"/>
                  <a:gd name="T21" fmla="*/ 2712 h 2735"/>
                  <a:gd name="T22" fmla="*/ 16 w 19"/>
                  <a:gd name="T23" fmla="*/ 2716 h 2735"/>
                  <a:gd name="T24" fmla="*/ 13 w 19"/>
                  <a:gd name="T25" fmla="*/ 2719 h 2735"/>
                  <a:gd name="T26" fmla="*/ 11 w 19"/>
                  <a:gd name="T27" fmla="*/ 2721 h 2735"/>
                  <a:gd name="T28" fmla="*/ 9 w 19"/>
                  <a:gd name="T29" fmla="*/ 2724 h 2735"/>
                  <a:gd name="T30" fmla="*/ 7 w 19"/>
                  <a:gd name="T31" fmla="*/ 2727 h 2735"/>
                  <a:gd name="T32" fmla="*/ 4 w 19"/>
                  <a:gd name="T33" fmla="*/ 2729 h 2735"/>
                  <a:gd name="T34" fmla="*/ 2 w 19"/>
                  <a:gd name="T35" fmla="*/ 2733 h 2735"/>
                  <a:gd name="T36" fmla="*/ 0 w 19"/>
                  <a:gd name="T37" fmla="*/ 2735 h 2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735">
                    <a:moveTo>
                      <a:pt x="0" y="2735"/>
                    </a:moveTo>
                    <a:lnTo>
                      <a:pt x="0" y="0"/>
                    </a:lnTo>
                    <a:lnTo>
                      <a:pt x="2" y="3"/>
                    </a:lnTo>
                    <a:lnTo>
                      <a:pt x="4" y="6"/>
                    </a:lnTo>
                    <a:lnTo>
                      <a:pt x="7" y="9"/>
                    </a:lnTo>
                    <a:lnTo>
                      <a:pt x="9" y="12"/>
                    </a:lnTo>
                    <a:lnTo>
                      <a:pt x="11" y="14"/>
                    </a:lnTo>
                    <a:lnTo>
                      <a:pt x="13" y="17"/>
                    </a:lnTo>
                    <a:lnTo>
                      <a:pt x="16" y="20"/>
                    </a:lnTo>
                    <a:lnTo>
                      <a:pt x="19" y="24"/>
                    </a:lnTo>
                    <a:lnTo>
                      <a:pt x="19" y="2712"/>
                    </a:lnTo>
                    <a:lnTo>
                      <a:pt x="16" y="2716"/>
                    </a:lnTo>
                    <a:lnTo>
                      <a:pt x="13" y="2719"/>
                    </a:lnTo>
                    <a:lnTo>
                      <a:pt x="11" y="2721"/>
                    </a:lnTo>
                    <a:lnTo>
                      <a:pt x="9" y="2724"/>
                    </a:lnTo>
                    <a:lnTo>
                      <a:pt x="7" y="2727"/>
                    </a:lnTo>
                    <a:lnTo>
                      <a:pt x="4" y="2729"/>
                    </a:lnTo>
                    <a:lnTo>
                      <a:pt x="2" y="2733"/>
                    </a:lnTo>
                    <a:lnTo>
                      <a:pt x="0" y="2735"/>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44" name="Freeform 1532"/>
              <p:cNvSpPr>
                <a:spLocks noChangeAspect="1"/>
              </p:cNvSpPr>
              <p:nvPr/>
            </p:nvSpPr>
            <p:spPr bwMode="auto">
              <a:xfrm>
                <a:off x="4935" y="773"/>
                <a:ext cx="6" cy="905"/>
              </a:xfrm>
              <a:custGeom>
                <a:avLst/>
                <a:gdLst>
                  <a:gd name="T0" fmla="*/ 0 w 19"/>
                  <a:gd name="T1" fmla="*/ 2713 h 2713"/>
                  <a:gd name="T2" fmla="*/ 0 w 19"/>
                  <a:gd name="T3" fmla="*/ 0 h 2713"/>
                  <a:gd name="T4" fmla="*/ 2 w 19"/>
                  <a:gd name="T5" fmla="*/ 3 h 2713"/>
                  <a:gd name="T6" fmla="*/ 4 w 19"/>
                  <a:gd name="T7" fmla="*/ 6 h 2713"/>
                  <a:gd name="T8" fmla="*/ 8 w 19"/>
                  <a:gd name="T9" fmla="*/ 9 h 2713"/>
                  <a:gd name="T10" fmla="*/ 10 w 19"/>
                  <a:gd name="T11" fmla="*/ 13 h 2713"/>
                  <a:gd name="T12" fmla="*/ 12 w 19"/>
                  <a:gd name="T13" fmla="*/ 16 h 2713"/>
                  <a:gd name="T14" fmla="*/ 14 w 19"/>
                  <a:gd name="T15" fmla="*/ 19 h 2713"/>
                  <a:gd name="T16" fmla="*/ 16 w 19"/>
                  <a:gd name="T17" fmla="*/ 22 h 2713"/>
                  <a:gd name="T18" fmla="*/ 19 w 19"/>
                  <a:gd name="T19" fmla="*/ 25 h 2713"/>
                  <a:gd name="T20" fmla="*/ 19 w 19"/>
                  <a:gd name="T21" fmla="*/ 2688 h 2713"/>
                  <a:gd name="T22" fmla="*/ 16 w 19"/>
                  <a:gd name="T23" fmla="*/ 2692 h 2713"/>
                  <a:gd name="T24" fmla="*/ 14 w 19"/>
                  <a:gd name="T25" fmla="*/ 2695 h 2713"/>
                  <a:gd name="T26" fmla="*/ 12 w 19"/>
                  <a:gd name="T27" fmla="*/ 2698 h 2713"/>
                  <a:gd name="T28" fmla="*/ 10 w 19"/>
                  <a:gd name="T29" fmla="*/ 2701 h 2713"/>
                  <a:gd name="T30" fmla="*/ 8 w 19"/>
                  <a:gd name="T31" fmla="*/ 2705 h 2713"/>
                  <a:gd name="T32" fmla="*/ 4 w 19"/>
                  <a:gd name="T33" fmla="*/ 2708 h 2713"/>
                  <a:gd name="T34" fmla="*/ 2 w 19"/>
                  <a:gd name="T35" fmla="*/ 2711 h 2713"/>
                  <a:gd name="T36" fmla="*/ 0 w 19"/>
                  <a:gd name="T37" fmla="*/ 2713 h 2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713">
                    <a:moveTo>
                      <a:pt x="0" y="2713"/>
                    </a:moveTo>
                    <a:lnTo>
                      <a:pt x="0" y="0"/>
                    </a:lnTo>
                    <a:lnTo>
                      <a:pt x="2" y="3"/>
                    </a:lnTo>
                    <a:lnTo>
                      <a:pt x="4" y="6"/>
                    </a:lnTo>
                    <a:lnTo>
                      <a:pt x="8" y="9"/>
                    </a:lnTo>
                    <a:lnTo>
                      <a:pt x="10" y="13"/>
                    </a:lnTo>
                    <a:lnTo>
                      <a:pt x="12" y="16"/>
                    </a:lnTo>
                    <a:lnTo>
                      <a:pt x="14" y="19"/>
                    </a:lnTo>
                    <a:lnTo>
                      <a:pt x="16" y="22"/>
                    </a:lnTo>
                    <a:lnTo>
                      <a:pt x="19" y="25"/>
                    </a:lnTo>
                    <a:lnTo>
                      <a:pt x="19" y="2688"/>
                    </a:lnTo>
                    <a:lnTo>
                      <a:pt x="16" y="2692"/>
                    </a:lnTo>
                    <a:lnTo>
                      <a:pt x="14" y="2695"/>
                    </a:lnTo>
                    <a:lnTo>
                      <a:pt x="12" y="2698"/>
                    </a:lnTo>
                    <a:lnTo>
                      <a:pt x="10" y="2701"/>
                    </a:lnTo>
                    <a:lnTo>
                      <a:pt x="8" y="2705"/>
                    </a:lnTo>
                    <a:lnTo>
                      <a:pt x="4" y="2708"/>
                    </a:lnTo>
                    <a:lnTo>
                      <a:pt x="2" y="2711"/>
                    </a:lnTo>
                    <a:lnTo>
                      <a:pt x="0" y="2713"/>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45" name="Freeform 1533"/>
              <p:cNvSpPr>
                <a:spLocks noChangeAspect="1"/>
              </p:cNvSpPr>
              <p:nvPr/>
            </p:nvSpPr>
            <p:spPr bwMode="auto">
              <a:xfrm>
                <a:off x="4939" y="778"/>
                <a:ext cx="5" cy="894"/>
              </a:xfrm>
              <a:custGeom>
                <a:avLst/>
                <a:gdLst>
                  <a:gd name="T0" fmla="*/ 0 w 19"/>
                  <a:gd name="T1" fmla="*/ 2688 h 2688"/>
                  <a:gd name="T2" fmla="*/ 0 w 19"/>
                  <a:gd name="T3" fmla="*/ 0 h 2688"/>
                  <a:gd name="T4" fmla="*/ 2 w 19"/>
                  <a:gd name="T5" fmla="*/ 3 h 2688"/>
                  <a:gd name="T6" fmla="*/ 4 w 19"/>
                  <a:gd name="T7" fmla="*/ 6 h 2688"/>
                  <a:gd name="T8" fmla="*/ 7 w 19"/>
                  <a:gd name="T9" fmla="*/ 10 h 2688"/>
                  <a:gd name="T10" fmla="*/ 9 w 19"/>
                  <a:gd name="T11" fmla="*/ 14 h 2688"/>
                  <a:gd name="T12" fmla="*/ 12 w 19"/>
                  <a:gd name="T13" fmla="*/ 18 h 2688"/>
                  <a:gd name="T14" fmla="*/ 14 w 19"/>
                  <a:gd name="T15" fmla="*/ 21 h 2688"/>
                  <a:gd name="T16" fmla="*/ 17 w 19"/>
                  <a:gd name="T17" fmla="*/ 25 h 2688"/>
                  <a:gd name="T18" fmla="*/ 19 w 19"/>
                  <a:gd name="T19" fmla="*/ 29 h 2688"/>
                  <a:gd name="T20" fmla="*/ 19 w 19"/>
                  <a:gd name="T21" fmla="*/ 2659 h 2688"/>
                  <a:gd name="T22" fmla="*/ 17 w 19"/>
                  <a:gd name="T23" fmla="*/ 2663 h 2688"/>
                  <a:gd name="T24" fmla="*/ 14 w 19"/>
                  <a:gd name="T25" fmla="*/ 2667 h 2688"/>
                  <a:gd name="T26" fmla="*/ 12 w 19"/>
                  <a:gd name="T27" fmla="*/ 2670 h 2688"/>
                  <a:gd name="T28" fmla="*/ 9 w 19"/>
                  <a:gd name="T29" fmla="*/ 2675 h 2688"/>
                  <a:gd name="T30" fmla="*/ 7 w 19"/>
                  <a:gd name="T31" fmla="*/ 2678 h 2688"/>
                  <a:gd name="T32" fmla="*/ 4 w 19"/>
                  <a:gd name="T33" fmla="*/ 2682 h 2688"/>
                  <a:gd name="T34" fmla="*/ 2 w 19"/>
                  <a:gd name="T35" fmla="*/ 2685 h 2688"/>
                  <a:gd name="T36" fmla="*/ 0 w 19"/>
                  <a:gd name="T37" fmla="*/ 2688 h 2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688">
                    <a:moveTo>
                      <a:pt x="0" y="2688"/>
                    </a:moveTo>
                    <a:lnTo>
                      <a:pt x="0" y="0"/>
                    </a:lnTo>
                    <a:lnTo>
                      <a:pt x="2" y="3"/>
                    </a:lnTo>
                    <a:lnTo>
                      <a:pt x="4" y="6"/>
                    </a:lnTo>
                    <a:lnTo>
                      <a:pt x="7" y="10"/>
                    </a:lnTo>
                    <a:lnTo>
                      <a:pt x="9" y="14"/>
                    </a:lnTo>
                    <a:lnTo>
                      <a:pt x="12" y="18"/>
                    </a:lnTo>
                    <a:lnTo>
                      <a:pt x="14" y="21"/>
                    </a:lnTo>
                    <a:lnTo>
                      <a:pt x="17" y="25"/>
                    </a:lnTo>
                    <a:lnTo>
                      <a:pt x="19" y="29"/>
                    </a:lnTo>
                    <a:lnTo>
                      <a:pt x="19" y="2659"/>
                    </a:lnTo>
                    <a:lnTo>
                      <a:pt x="17" y="2663"/>
                    </a:lnTo>
                    <a:lnTo>
                      <a:pt x="14" y="2667"/>
                    </a:lnTo>
                    <a:lnTo>
                      <a:pt x="12" y="2670"/>
                    </a:lnTo>
                    <a:lnTo>
                      <a:pt x="9" y="2675"/>
                    </a:lnTo>
                    <a:lnTo>
                      <a:pt x="7" y="2678"/>
                    </a:lnTo>
                    <a:lnTo>
                      <a:pt x="4" y="2682"/>
                    </a:lnTo>
                    <a:lnTo>
                      <a:pt x="2" y="2685"/>
                    </a:lnTo>
                    <a:lnTo>
                      <a:pt x="0" y="2688"/>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46" name="Freeform 1534"/>
              <p:cNvSpPr>
                <a:spLocks noChangeAspect="1"/>
              </p:cNvSpPr>
              <p:nvPr/>
            </p:nvSpPr>
            <p:spPr bwMode="auto">
              <a:xfrm>
                <a:off x="4941" y="782"/>
                <a:ext cx="6" cy="888"/>
              </a:xfrm>
              <a:custGeom>
                <a:avLst/>
                <a:gdLst>
                  <a:gd name="T0" fmla="*/ 0 w 20"/>
                  <a:gd name="T1" fmla="*/ 2663 h 2663"/>
                  <a:gd name="T2" fmla="*/ 0 w 20"/>
                  <a:gd name="T3" fmla="*/ 0 h 2663"/>
                  <a:gd name="T4" fmla="*/ 3 w 20"/>
                  <a:gd name="T5" fmla="*/ 5 h 2663"/>
                  <a:gd name="T6" fmla="*/ 6 w 20"/>
                  <a:gd name="T7" fmla="*/ 10 h 2663"/>
                  <a:gd name="T8" fmla="*/ 8 w 20"/>
                  <a:gd name="T9" fmla="*/ 14 h 2663"/>
                  <a:gd name="T10" fmla="*/ 10 w 20"/>
                  <a:gd name="T11" fmla="*/ 19 h 2663"/>
                  <a:gd name="T12" fmla="*/ 12 w 20"/>
                  <a:gd name="T13" fmla="*/ 23 h 2663"/>
                  <a:gd name="T14" fmla="*/ 15 w 20"/>
                  <a:gd name="T15" fmla="*/ 28 h 2663"/>
                  <a:gd name="T16" fmla="*/ 17 w 20"/>
                  <a:gd name="T17" fmla="*/ 32 h 2663"/>
                  <a:gd name="T18" fmla="*/ 20 w 20"/>
                  <a:gd name="T19" fmla="*/ 37 h 2663"/>
                  <a:gd name="T20" fmla="*/ 20 w 20"/>
                  <a:gd name="T21" fmla="*/ 2626 h 2663"/>
                  <a:gd name="T22" fmla="*/ 17 w 20"/>
                  <a:gd name="T23" fmla="*/ 2632 h 2663"/>
                  <a:gd name="T24" fmla="*/ 15 w 20"/>
                  <a:gd name="T25" fmla="*/ 2636 h 2663"/>
                  <a:gd name="T26" fmla="*/ 12 w 20"/>
                  <a:gd name="T27" fmla="*/ 2641 h 2663"/>
                  <a:gd name="T28" fmla="*/ 10 w 20"/>
                  <a:gd name="T29" fmla="*/ 2646 h 2663"/>
                  <a:gd name="T30" fmla="*/ 8 w 20"/>
                  <a:gd name="T31" fmla="*/ 2650 h 2663"/>
                  <a:gd name="T32" fmla="*/ 6 w 20"/>
                  <a:gd name="T33" fmla="*/ 2654 h 2663"/>
                  <a:gd name="T34" fmla="*/ 3 w 20"/>
                  <a:gd name="T35" fmla="*/ 2658 h 2663"/>
                  <a:gd name="T36" fmla="*/ 0 w 20"/>
                  <a:gd name="T37" fmla="*/ 2663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2663">
                    <a:moveTo>
                      <a:pt x="0" y="2663"/>
                    </a:moveTo>
                    <a:lnTo>
                      <a:pt x="0" y="0"/>
                    </a:lnTo>
                    <a:lnTo>
                      <a:pt x="3" y="5"/>
                    </a:lnTo>
                    <a:lnTo>
                      <a:pt x="6" y="10"/>
                    </a:lnTo>
                    <a:lnTo>
                      <a:pt x="8" y="14"/>
                    </a:lnTo>
                    <a:lnTo>
                      <a:pt x="10" y="19"/>
                    </a:lnTo>
                    <a:lnTo>
                      <a:pt x="12" y="23"/>
                    </a:lnTo>
                    <a:lnTo>
                      <a:pt x="15" y="28"/>
                    </a:lnTo>
                    <a:lnTo>
                      <a:pt x="17" y="32"/>
                    </a:lnTo>
                    <a:lnTo>
                      <a:pt x="20" y="37"/>
                    </a:lnTo>
                    <a:lnTo>
                      <a:pt x="20" y="2626"/>
                    </a:lnTo>
                    <a:lnTo>
                      <a:pt x="17" y="2632"/>
                    </a:lnTo>
                    <a:lnTo>
                      <a:pt x="15" y="2636"/>
                    </a:lnTo>
                    <a:lnTo>
                      <a:pt x="12" y="2641"/>
                    </a:lnTo>
                    <a:lnTo>
                      <a:pt x="10" y="2646"/>
                    </a:lnTo>
                    <a:lnTo>
                      <a:pt x="8" y="2650"/>
                    </a:lnTo>
                    <a:lnTo>
                      <a:pt x="6" y="2654"/>
                    </a:lnTo>
                    <a:lnTo>
                      <a:pt x="3" y="2658"/>
                    </a:lnTo>
                    <a:lnTo>
                      <a:pt x="0" y="2663"/>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47" name="Freeform 1535"/>
              <p:cNvSpPr>
                <a:spLocks noChangeAspect="1"/>
              </p:cNvSpPr>
              <p:nvPr/>
            </p:nvSpPr>
            <p:spPr bwMode="auto">
              <a:xfrm>
                <a:off x="4944" y="788"/>
                <a:ext cx="6" cy="877"/>
              </a:xfrm>
              <a:custGeom>
                <a:avLst/>
                <a:gdLst>
                  <a:gd name="T0" fmla="*/ 0 w 18"/>
                  <a:gd name="T1" fmla="*/ 2630 h 2630"/>
                  <a:gd name="T2" fmla="*/ 0 w 18"/>
                  <a:gd name="T3" fmla="*/ 0 h 2630"/>
                  <a:gd name="T4" fmla="*/ 2 w 18"/>
                  <a:gd name="T5" fmla="*/ 6 h 2630"/>
                  <a:gd name="T6" fmla="*/ 5 w 18"/>
                  <a:gd name="T7" fmla="*/ 11 h 2630"/>
                  <a:gd name="T8" fmla="*/ 7 w 18"/>
                  <a:gd name="T9" fmla="*/ 17 h 2630"/>
                  <a:gd name="T10" fmla="*/ 11 w 18"/>
                  <a:gd name="T11" fmla="*/ 23 h 2630"/>
                  <a:gd name="T12" fmla="*/ 13 w 18"/>
                  <a:gd name="T13" fmla="*/ 29 h 2630"/>
                  <a:gd name="T14" fmla="*/ 15 w 18"/>
                  <a:gd name="T15" fmla="*/ 34 h 2630"/>
                  <a:gd name="T16" fmla="*/ 17 w 18"/>
                  <a:gd name="T17" fmla="*/ 41 h 2630"/>
                  <a:gd name="T18" fmla="*/ 18 w 18"/>
                  <a:gd name="T19" fmla="*/ 46 h 2630"/>
                  <a:gd name="T20" fmla="*/ 18 w 18"/>
                  <a:gd name="T21" fmla="*/ 2582 h 2630"/>
                  <a:gd name="T22" fmla="*/ 17 w 18"/>
                  <a:gd name="T23" fmla="*/ 2588 h 2630"/>
                  <a:gd name="T24" fmla="*/ 15 w 18"/>
                  <a:gd name="T25" fmla="*/ 2595 h 2630"/>
                  <a:gd name="T26" fmla="*/ 13 w 18"/>
                  <a:gd name="T27" fmla="*/ 2601 h 2630"/>
                  <a:gd name="T28" fmla="*/ 11 w 18"/>
                  <a:gd name="T29" fmla="*/ 2606 h 2630"/>
                  <a:gd name="T30" fmla="*/ 7 w 18"/>
                  <a:gd name="T31" fmla="*/ 2613 h 2630"/>
                  <a:gd name="T32" fmla="*/ 5 w 18"/>
                  <a:gd name="T33" fmla="*/ 2619 h 2630"/>
                  <a:gd name="T34" fmla="*/ 2 w 18"/>
                  <a:gd name="T35" fmla="*/ 2624 h 2630"/>
                  <a:gd name="T36" fmla="*/ 0 w 18"/>
                  <a:gd name="T37" fmla="*/ 2630 h 2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2630">
                    <a:moveTo>
                      <a:pt x="0" y="2630"/>
                    </a:moveTo>
                    <a:lnTo>
                      <a:pt x="0" y="0"/>
                    </a:lnTo>
                    <a:lnTo>
                      <a:pt x="2" y="6"/>
                    </a:lnTo>
                    <a:lnTo>
                      <a:pt x="5" y="11"/>
                    </a:lnTo>
                    <a:lnTo>
                      <a:pt x="7" y="17"/>
                    </a:lnTo>
                    <a:lnTo>
                      <a:pt x="11" y="23"/>
                    </a:lnTo>
                    <a:lnTo>
                      <a:pt x="13" y="29"/>
                    </a:lnTo>
                    <a:lnTo>
                      <a:pt x="15" y="34"/>
                    </a:lnTo>
                    <a:lnTo>
                      <a:pt x="17" y="41"/>
                    </a:lnTo>
                    <a:lnTo>
                      <a:pt x="18" y="46"/>
                    </a:lnTo>
                    <a:lnTo>
                      <a:pt x="18" y="2582"/>
                    </a:lnTo>
                    <a:lnTo>
                      <a:pt x="17" y="2588"/>
                    </a:lnTo>
                    <a:lnTo>
                      <a:pt x="15" y="2595"/>
                    </a:lnTo>
                    <a:lnTo>
                      <a:pt x="13" y="2601"/>
                    </a:lnTo>
                    <a:lnTo>
                      <a:pt x="11" y="2606"/>
                    </a:lnTo>
                    <a:lnTo>
                      <a:pt x="7" y="2613"/>
                    </a:lnTo>
                    <a:lnTo>
                      <a:pt x="5" y="2619"/>
                    </a:lnTo>
                    <a:lnTo>
                      <a:pt x="2" y="2624"/>
                    </a:lnTo>
                    <a:lnTo>
                      <a:pt x="0" y="2630"/>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48" name="Freeform 1536"/>
              <p:cNvSpPr>
                <a:spLocks noChangeAspect="1"/>
              </p:cNvSpPr>
              <p:nvPr/>
            </p:nvSpPr>
            <p:spPr bwMode="auto">
              <a:xfrm>
                <a:off x="4948" y="795"/>
                <a:ext cx="6" cy="863"/>
              </a:xfrm>
              <a:custGeom>
                <a:avLst/>
                <a:gdLst>
                  <a:gd name="T0" fmla="*/ 0 w 18"/>
                  <a:gd name="T1" fmla="*/ 2589 h 2589"/>
                  <a:gd name="T2" fmla="*/ 0 w 18"/>
                  <a:gd name="T3" fmla="*/ 0 h 2589"/>
                  <a:gd name="T4" fmla="*/ 4 w 18"/>
                  <a:gd name="T5" fmla="*/ 11 h 2589"/>
                  <a:gd name="T6" fmla="*/ 7 w 18"/>
                  <a:gd name="T7" fmla="*/ 22 h 2589"/>
                  <a:gd name="T8" fmla="*/ 10 w 18"/>
                  <a:gd name="T9" fmla="*/ 34 h 2589"/>
                  <a:gd name="T10" fmla="*/ 13 w 18"/>
                  <a:gd name="T11" fmla="*/ 45 h 2589"/>
                  <a:gd name="T12" fmla="*/ 16 w 18"/>
                  <a:gd name="T13" fmla="*/ 57 h 2589"/>
                  <a:gd name="T14" fmla="*/ 17 w 18"/>
                  <a:gd name="T15" fmla="*/ 69 h 2589"/>
                  <a:gd name="T16" fmla="*/ 18 w 18"/>
                  <a:gd name="T17" fmla="*/ 81 h 2589"/>
                  <a:gd name="T18" fmla="*/ 18 w 18"/>
                  <a:gd name="T19" fmla="*/ 94 h 2589"/>
                  <a:gd name="T20" fmla="*/ 18 w 18"/>
                  <a:gd name="T21" fmla="*/ 94 h 2589"/>
                  <a:gd name="T22" fmla="*/ 18 w 18"/>
                  <a:gd name="T23" fmla="*/ 95 h 2589"/>
                  <a:gd name="T24" fmla="*/ 18 w 18"/>
                  <a:gd name="T25" fmla="*/ 96 h 2589"/>
                  <a:gd name="T26" fmla="*/ 18 w 18"/>
                  <a:gd name="T27" fmla="*/ 97 h 2589"/>
                  <a:gd name="T28" fmla="*/ 18 w 18"/>
                  <a:gd name="T29" fmla="*/ 98 h 2589"/>
                  <a:gd name="T30" fmla="*/ 18 w 18"/>
                  <a:gd name="T31" fmla="*/ 100 h 2589"/>
                  <a:gd name="T32" fmla="*/ 18 w 18"/>
                  <a:gd name="T33" fmla="*/ 100 h 2589"/>
                  <a:gd name="T34" fmla="*/ 18 w 18"/>
                  <a:gd name="T35" fmla="*/ 101 h 2589"/>
                  <a:gd name="T36" fmla="*/ 18 w 18"/>
                  <a:gd name="T37" fmla="*/ 101 h 2589"/>
                  <a:gd name="T38" fmla="*/ 18 w 18"/>
                  <a:gd name="T39" fmla="*/ 2497 h 2589"/>
                  <a:gd name="T40" fmla="*/ 17 w 18"/>
                  <a:gd name="T41" fmla="*/ 2497 h 2589"/>
                  <a:gd name="T42" fmla="*/ 17 w 18"/>
                  <a:gd name="T43" fmla="*/ 2498 h 2589"/>
                  <a:gd name="T44" fmla="*/ 17 w 18"/>
                  <a:gd name="T45" fmla="*/ 2499 h 2589"/>
                  <a:gd name="T46" fmla="*/ 17 w 18"/>
                  <a:gd name="T47" fmla="*/ 2499 h 2589"/>
                  <a:gd name="T48" fmla="*/ 17 w 18"/>
                  <a:gd name="T49" fmla="*/ 2500 h 2589"/>
                  <a:gd name="T50" fmla="*/ 17 w 18"/>
                  <a:gd name="T51" fmla="*/ 2501 h 2589"/>
                  <a:gd name="T52" fmla="*/ 17 w 18"/>
                  <a:gd name="T53" fmla="*/ 2501 h 2589"/>
                  <a:gd name="T54" fmla="*/ 17 w 18"/>
                  <a:gd name="T55" fmla="*/ 2502 h 2589"/>
                  <a:gd name="T56" fmla="*/ 17 w 18"/>
                  <a:gd name="T57" fmla="*/ 2503 h 2589"/>
                  <a:gd name="T58" fmla="*/ 17 w 18"/>
                  <a:gd name="T59" fmla="*/ 2514 h 2589"/>
                  <a:gd name="T60" fmla="*/ 16 w 18"/>
                  <a:gd name="T61" fmla="*/ 2526 h 2589"/>
                  <a:gd name="T62" fmla="*/ 14 w 18"/>
                  <a:gd name="T63" fmla="*/ 2537 h 2589"/>
                  <a:gd name="T64" fmla="*/ 12 w 18"/>
                  <a:gd name="T65" fmla="*/ 2548 h 2589"/>
                  <a:gd name="T66" fmla="*/ 9 w 18"/>
                  <a:gd name="T67" fmla="*/ 2559 h 2589"/>
                  <a:gd name="T68" fmla="*/ 7 w 18"/>
                  <a:gd name="T69" fmla="*/ 2569 h 2589"/>
                  <a:gd name="T70" fmla="*/ 3 w 18"/>
                  <a:gd name="T71" fmla="*/ 2580 h 2589"/>
                  <a:gd name="T72" fmla="*/ 0 w 18"/>
                  <a:gd name="T73" fmla="*/ 2589 h 2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 h="2589">
                    <a:moveTo>
                      <a:pt x="0" y="2589"/>
                    </a:moveTo>
                    <a:lnTo>
                      <a:pt x="0" y="0"/>
                    </a:lnTo>
                    <a:lnTo>
                      <a:pt x="4" y="11"/>
                    </a:lnTo>
                    <a:lnTo>
                      <a:pt x="7" y="22"/>
                    </a:lnTo>
                    <a:lnTo>
                      <a:pt x="10" y="34"/>
                    </a:lnTo>
                    <a:lnTo>
                      <a:pt x="13" y="45"/>
                    </a:lnTo>
                    <a:lnTo>
                      <a:pt x="16" y="57"/>
                    </a:lnTo>
                    <a:lnTo>
                      <a:pt x="17" y="69"/>
                    </a:lnTo>
                    <a:lnTo>
                      <a:pt x="18" y="81"/>
                    </a:lnTo>
                    <a:lnTo>
                      <a:pt x="18" y="94"/>
                    </a:lnTo>
                    <a:lnTo>
                      <a:pt x="18" y="94"/>
                    </a:lnTo>
                    <a:lnTo>
                      <a:pt x="18" y="95"/>
                    </a:lnTo>
                    <a:lnTo>
                      <a:pt x="18" y="96"/>
                    </a:lnTo>
                    <a:lnTo>
                      <a:pt x="18" y="97"/>
                    </a:lnTo>
                    <a:lnTo>
                      <a:pt x="18" y="98"/>
                    </a:lnTo>
                    <a:lnTo>
                      <a:pt x="18" y="100"/>
                    </a:lnTo>
                    <a:lnTo>
                      <a:pt x="18" y="100"/>
                    </a:lnTo>
                    <a:lnTo>
                      <a:pt x="18" y="101"/>
                    </a:lnTo>
                    <a:lnTo>
                      <a:pt x="18" y="101"/>
                    </a:lnTo>
                    <a:lnTo>
                      <a:pt x="18" y="2497"/>
                    </a:lnTo>
                    <a:lnTo>
                      <a:pt x="17" y="2497"/>
                    </a:lnTo>
                    <a:lnTo>
                      <a:pt x="17" y="2498"/>
                    </a:lnTo>
                    <a:lnTo>
                      <a:pt x="17" y="2499"/>
                    </a:lnTo>
                    <a:lnTo>
                      <a:pt x="17" y="2499"/>
                    </a:lnTo>
                    <a:lnTo>
                      <a:pt x="17" y="2500"/>
                    </a:lnTo>
                    <a:lnTo>
                      <a:pt x="17" y="2501"/>
                    </a:lnTo>
                    <a:lnTo>
                      <a:pt x="17" y="2501"/>
                    </a:lnTo>
                    <a:lnTo>
                      <a:pt x="17" y="2502"/>
                    </a:lnTo>
                    <a:lnTo>
                      <a:pt x="17" y="2503"/>
                    </a:lnTo>
                    <a:lnTo>
                      <a:pt x="17" y="2514"/>
                    </a:lnTo>
                    <a:lnTo>
                      <a:pt x="16" y="2526"/>
                    </a:lnTo>
                    <a:lnTo>
                      <a:pt x="14" y="2537"/>
                    </a:lnTo>
                    <a:lnTo>
                      <a:pt x="12" y="2548"/>
                    </a:lnTo>
                    <a:lnTo>
                      <a:pt x="9" y="2559"/>
                    </a:lnTo>
                    <a:lnTo>
                      <a:pt x="7" y="2569"/>
                    </a:lnTo>
                    <a:lnTo>
                      <a:pt x="3" y="2580"/>
                    </a:lnTo>
                    <a:lnTo>
                      <a:pt x="0" y="2589"/>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49" name="Freeform 1537"/>
              <p:cNvSpPr>
                <a:spLocks noChangeAspect="1"/>
              </p:cNvSpPr>
              <p:nvPr/>
            </p:nvSpPr>
            <p:spPr bwMode="auto">
              <a:xfrm>
                <a:off x="4950" y="803"/>
                <a:ext cx="4" cy="844"/>
              </a:xfrm>
              <a:custGeom>
                <a:avLst/>
                <a:gdLst>
                  <a:gd name="T0" fmla="*/ 0 w 10"/>
                  <a:gd name="T1" fmla="*/ 2536 h 2536"/>
                  <a:gd name="T2" fmla="*/ 0 w 10"/>
                  <a:gd name="T3" fmla="*/ 0 h 2536"/>
                  <a:gd name="T4" fmla="*/ 3 w 10"/>
                  <a:gd name="T5" fmla="*/ 9 h 2536"/>
                  <a:gd name="T6" fmla="*/ 4 w 10"/>
                  <a:gd name="T7" fmla="*/ 17 h 2536"/>
                  <a:gd name="T8" fmla="*/ 6 w 10"/>
                  <a:gd name="T9" fmla="*/ 26 h 2536"/>
                  <a:gd name="T10" fmla="*/ 8 w 10"/>
                  <a:gd name="T11" fmla="*/ 33 h 2536"/>
                  <a:gd name="T12" fmla="*/ 9 w 10"/>
                  <a:gd name="T13" fmla="*/ 42 h 2536"/>
                  <a:gd name="T14" fmla="*/ 10 w 10"/>
                  <a:gd name="T15" fmla="*/ 50 h 2536"/>
                  <a:gd name="T16" fmla="*/ 10 w 10"/>
                  <a:gd name="T17" fmla="*/ 59 h 2536"/>
                  <a:gd name="T18" fmla="*/ 10 w 10"/>
                  <a:gd name="T19" fmla="*/ 68 h 2536"/>
                  <a:gd name="T20" fmla="*/ 10 w 10"/>
                  <a:gd name="T21" fmla="*/ 68 h 2536"/>
                  <a:gd name="T22" fmla="*/ 10 w 10"/>
                  <a:gd name="T23" fmla="*/ 69 h 2536"/>
                  <a:gd name="T24" fmla="*/ 10 w 10"/>
                  <a:gd name="T25" fmla="*/ 70 h 2536"/>
                  <a:gd name="T26" fmla="*/ 10 w 10"/>
                  <a:gd name="T27" fmla="*/ 71 h 2536"/>
                  <a:gd name="T28" fmla="*/ 10 w 10"/>
                  <a:gd name="T29" fmla="*/ 72 h 2536"/>
                  <a:gd name="T30" fmla="*/ 10 w 10"/>
                  <a:gd name="T31" fmla="*/ 74 h 2536"/>
                  <a:gd name="T32" fmla="*/ 10 w 10"/>
                  <a:gd name="T33" fmla="*/ 74 h 2536"/>
                  <a:gd name="T34" fmla="*/ 10 w 10"/>
                  <a:gd name="T35" fmla="*/ 75 h 2536"/>
                  <a:gd name="T36" fmla="*/ 10 w 10"/>
                  <a:gd name="T37" fmla="*/ 75 h 2536"/>
                  <a:gd name="T38" fmla="*/ 10 w 10"/>
                  <a:gd name="T39" fmla="*/ 2471 h 2536"/>
                  <a:gd name="T40" fmla="*/ 9 w 10"/>
                  <a:gd name="T41" fmla="*/ 2471 h 2536"/>
                  <a:gd name="T42" fmla="*/ 9 w 10"/>
                  <a:gd name="T43" fmla="*/ 2472 h 2536"/>
                  <a:gd name="T44" fmla="*/ 9 w 10"/>
                  <a:gd name="T45" fmla="*/ 2473 h 2536"/>
                  <a:gd name="T46" fmla="*/ 9 w 10"/>
                  <a:gd name="T47" fmla="*/ 2473 h 2536"/>
                  <a:gd name="T48" fmla="*/ 9 w 10"/>
                  <a:gd name="T49" fmla="*/ 2474 h 2536"/>
                  <a:gd name="T50" fmla="*/ 9 w 10"/>
                  <a:gd name="T51" fmla="*/ 2475 h 2536"/>
                  <a:gd name="T52" fmla="*/ 9 w 10"/>
                  <a:gd name="T53" fmla="*/ 2475 h 2536"/>
                  <a:gd name="T54" fmla="*/ 9 w 10"/>
                  <a:gd name="T55" fmla="*/ 2476 h 2536"/>
                  <a:gd name="T56" fmla="*/ 9 w 10"/>
                  <a:gd name="T57" fmla="*/ 2477 h 2536"/>
                  <a:gd name="T58" fmla="*/ 9 w 10"/>
                  <a:gd name="T59" fmla="*/ 2485 h 2536"/>
                  <a:gd name="T60" fmla="*/ 8 w 10"/>
                  <a:gd name="T61" fmla="*/ 2492 h 2536"/>
                  <a:gd name="T62" fmla="*/ 8 w 10"/>
                  <a:gd name="T63" fmla="*/ 2500 h 2536"/>
                  <a:gd name="T64" fmla="*/ 6 w 10"/>
                  <a:gd name="T65" fmla="*/ 2507 h 2536"/>
                  <a:gd name="T66" fmla="*/ 5 w 10"/>
                  <a:gd name="T67" fmla="*/ 2515 h 2536"/>
                  <a:gd name="T68" fmla="*/ 4 w 10"/>
                  <a:gd name="T69" fmla="*/ 2522 h 2536"/>
                  <a:gd name="T70" fmla="*/ 2 w 10"/>
                  <a:gd name="T71" fmla="*/ 2529 h 2536"/>
                  <a:gd name="T72" fmla="*/ 0 w 10"/>
                  <a:gd name="T73" fmla="*/ 2536 h 2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2536">
                    <a:moveTo>
                      <a:pt x="0" y="2536"/>
                    </a:moveTo>
                    <a:lnTo>
                      <a:pt x="0" y="0"/>
                    </a:lnTo>
                    <a:lnTo>
                      <a:pt x="3" y="9"/>
                    </a:lnTo>
                    <a:lnTo>
                      <a:pt x="4" y="17"/>
                    </a:lnTo>
                    <a:lnTo>
                      <a:pt x="6" y="26"/>
                    </a:lnTo>
                    <a:lnTo>
                      <a:pt x="8" y="33"/>
                    </a:lnTo>
                    <a:lnTo>
                      <a:pt x="9" y="42"/>
                    </a:lnTo>
                    <a:lnTo>
                      <a:pt x="10" y="50"/>
                    </a:lnTo>
                    <a:lnTo>
                      <a:pt x="10" y="59"/>
                    </a:lnTo>
                    <a:lnTo>
                      <a:pt x="10" y="68"/>
                    </a:lnTo>
                    <a:lnTo>
                      <a:pt x="10" y="68"/>
                    </a:lnTo>
                    <a:lnTo>
                      <a:pt x="10" y="69"/>
                    </a:lnTo>
                    <a:lnTo>
                      <a:pt x="10" y="70"/>
                    </a:lnTo>
                    <a:lnTo>
                      <a:pt x="10" y="71"/>
                    </a:lnTo>
                    <a:lnTo>
                      <a:pt x="10" y="72"/>
                    </a:lnTo>
                    <a:lnTo>
                      <a:pt x="10" y="74"/>
                    </a:lnTo>
                    <a:lnTo>
                      <a:pt x="10" y="74"/>
                    </a:lnTo>
                    <a:lnTo>
                      <a:pt x="10" y="75"/>
                    </a:lnTo>
                    <a:lnTo>
                      <a:pt x="10" y="75"/>
                    </a:lnTo>
                    <a:lnTo>
                      <a:pt x="10" y="2471"/>
                    </a:lnTo>
                    <a:lnTo>
                      <a:pt x="9" y="2471"/>
                    </a:lnTo>
                    <a:lnTo>
                      <a:pt x="9" y="2472"/>
                    </a:lnTo>
                    <a:lnTo>
                      <a:pt x="9" y="2473"/>
                    </a:lnTo>
                    <a:lnTo>
                      <a:pt x="9" y="2473"/>
                    </a:lnTo>
                    <a:lnTo>
                      <a:pt x="9" y="2474"/>
                    </a:lnTo>
                    <a:lnTo>
                      <a:pt x="9" y="2475"/>
                    </a:lnTo>
                    <a:lnTo>
                      <a:pt x="9" y="2475"/>
                    </a:lnTo>
                    <a:lnTo>
                      <a:pt x="9" y="2476"/>
                    </a:lnTo>
                    <a:lnTo>
                      <a:pt x="9" y="2477"/>
                    </a:lnTo>
                    <a:lnTo>
                      <a:pt x="9" y="2485"/>
                    </a:lnTo>
                    <a:lnTo>
                      <a:pt x="8" y="2492"/>
                    </a:lnTo>
                    <a:lnTo>
                      <a:pt x="8" y="2500"/>
                    </a:lnTo>
                    <a:lnTo>
                      <a:pt x="6" y="2507"/>
                    </a:lnTo>
                    <a:lnTo>
                      <a:pt x="5" y="2515"/>
                    </a:lnTo>
                    <a:lnTo>
                      <a:pt x="4" y="2522"/>
                    </a:lnTo>
                    <a:lnTo>
                      <a:pt x="2" y="2529"/>
                    </a:lnTo>
                    <a:lnTo>
                      <a:pt x="0" y="2536"/>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050" name="Freeform 1538"/>
              <p:cNvSpPr>
                <a:spLocks noChangeAspect="1"/>
              </p:cNvSpPr>
              <p:nvPr/>
            </p:nvSpPr>
            <p:spPr bwMode="auto">
              <a:xfrm>
                <a:off x="4795" y="746"/>
                <a:ext cx="159" cy="960"/>
              </a:xfrm>
              <a:custGeom>
                <a:avLst/>
                <a:gdLst>
                  <a:gd name="T0" fmla="*/ 1 w 477"/>
                  <a:gd name="T1" fmla="*/ 246 h 2881"/>
                  <a:gd name="T2" fmla="*/ 1 w 477"/>
                  <a:gd name="T3" fmla="*/ 243 h 2881"/>
                  <a:gd name="T4" fmla="*/ 1 w 477"/>
                  <a:gd name="T5" fmla="*/ 240 h 2881"/>
                  <a:gd name="T6" fmla="*/ 2 w 477"/>
                  <a:gd name="T7" fmla="*/ 216 h 2881"/>
                  <a:gd name="T8" fmla="*/ 8 w 477"/>
                  <a:gd name="T9" fmla="*/ 180 h 2881"/>
                  <a:gd name="T10" fmla="*/ 19 w 477"/>
                  <a:gd name="T11" fmla="*/ 147 h 2881"/>
                  <a:gd name="T12" fmla="*/ 35 w 477"/>
                  <a:gd name="T13" fmla="*/ 116 h 2881"/>
                  <a:gd name="T14" fmla="*/ 55 w 477"/>
                  <a:gd name="T15" fmla="*/ 87 h 2881"/>
                  <a:gd name="T16" fmla="*/ 79 w 477"/>
                  <a:gd name="T17" fmla="*/ 63 h 2881"/>
                  <a:gd name="T18" fmla="*/ 106 w 477"/>
                  <a:gd name="T19" fmla="*/ 41 h 2881"/>
                  <a:gd name="T20" fmla="*/ 136 w 477"/>
                  <a:gd name="T21" fmla="*/ 23 h 2881"/>
                  <a:gd name="T22" fmla="*/ 168 w 477"/>
                  <a:gd name="T23" fmla="*/ 11 h 2881"/>
                  <a:gd name="T24" fmla="*/ 203 w 477"/>
                  <a:gd name="T25" fmla="*/ 3 h 2881"/>
                  <a:gd name="T26" fmla="*/ 239 w 477"/>
                  <a:gd name="T27" fmla="*/ 0 h 2881"/>
                  <a:gd name="T28" fmla="*/ 275 w 477"/>
                  <a:gd name="T29" fmla="*/ 3 h 2881"/>
                  <a:gd name="T30" fmla="*/ 310 w 477"/>
                  <a:gd name="T31" fmla="*/ 11 h 2881"/>
                  <a:gd name="T32" fmla="*/ 341 w 477"/>
                  <a:gd name="T33" fmla="*/ 23 h 2881"/>
                  <a:gd name="T34" fmla="*/ 372 w 477"/>
                  <a:gd name="T35" fmla="*/ 41 h 2881"/>
                  <a:gd name="T36" fmla="*/ 399 w 477"/>
                  <a:gd name="T37" fmla="*/ 63 h 2881"/>
                  <a:gd name="T38" fmla="*/ 422 w 477"/>
                  <a:gd name="T39" fmla="*/ 87 h 2881"/>
                  <a:gd name="T40" fmla="*/ 443 w 477"/>
                  <a:gd name="T41" fmla="*/ 116 h 2881"/>
                  <a:gd name="T42" fmla="*/ 459 w 477"/>
                  <a:gd name="T43" fmla="*/ 147 h 2881"/>
                  <a:gd name="T44" fmla="*/ 469 w 477"/>
                  <a:gd name="T45" fmla="*/ 180 h 2881"/>
                  <a:gd name="T46" fmla="*/ 476 w 477"/>
                  <a:gd name="T47" fmla="*/ 216 h 2881"/>
                  <a:gd name="T48" fmla="*/ 477 w 477"/>
                  <a:gd name="T49" fmla="*/ 240 h 2881"/>
                  <a:gd name="T50" fmla="*/ 477 w 477"/>
                  <a:gd name="T51" fmla="*/ 243 h 2881"/>
                  <a:gd name="T52" fmla="*/ 477 w 477"/>
                  <a:gd name="T53" fmla="*/ 246 h 2881"/>
                  <a:gd name="T54" fmla="*/ 477 w 477"/>
                  <a:gd name="T55" fmla="*/ 2643 h 2881"/>
                  <a:gd name="T56" fmla="*/ 476 w 477"/>
                  <a:gd name="T57" fmla="*/ 2645 h 2881"/>
                  <a:gd name="T58" fmla="*/ 476 w 477"/>
                  <a:gd name="T59" fmla="*/ 2647 h 2881"/>
                  <a:gd name="T60" fmla="*/ 476 w 477"/>
                  <a:gd name="T61" fmla="*/ 2649 h 2881"/>
                  <a:gd name="T62" fmla="*/ 472 w 477"/>
                  <a:gd name="T63" fmla="*/ 2684 h 2881"/>
                  <a:gd name="T64" fmla="*/ 465 w 477"/>
                  <a:gd name="T65" fmla="*/ 2717 h 2881"/>
                  <a:gd name="T66" fmla="*/ 452 w 477"/>
                  <a:gd name="T67" fmla="*/ 2749 h 2881"/>
                  <a:gd name="T68" fmla="*/ 435 w 477"/>
                  <a:gd name="T69" fmla="*/ 2778 h 2881"/>
                  <a:gd name="T70" fmla="*/ 414 w 477"/>
                  <a:gd name="T71" fmla="*/ 2805 h 2881"/>
                  <a:gd name="T72" fmla="*/ 388 w 477"/>
                  <a:gd name="T73" fmla="*/ 2828 h 2881"/>
                  <a:gd name="T74" fmla="*/ 361 w 477"/>
                  <a:gd name="T75" fmla="*/ 2847 h 2881"/>
                  <a:gd name="T76" fmla="*/ 330 w 477"/>
                  <a:gd name="T77" fmla="*/ 2862 h 2881"/>
                  <a:gd name="T78" fmla="*/ 297 w 477"/>
                  <a:gd name="T79" fmla="*/ 2874 h 2881"/>
                  <a:gd name="T80" fmla="*/ 262 w 477"/>
                  <a:gd name="T81" fmla="*/ 2879 h 2881"/>
                  <a:gd name="T82" fmla="*/ 225 w 477"/>
                  <a:gd name="T83" fmla="*/ 2880 h 2881"/>
                  <a:gd name="T84" fmla="*/ 189 w 477"/>
                  <a:gd name="T85" fmla="*/ 2876 h 2881"/>
                  <a:gd name="T86" fmla="*/ 156 w 477"/>
                  <a:gd name="T87" fmla="*/ 2866 h 2881"/>
                  <a:gd name="T88" fmla="*/ 124 w 477"/>
                  <a:gd name="T89" fmla="*/ 2852 h 2881"/>
                  <a:gd name="T90" fmla="*/ 96 w 477"/>
                  <a:gd name="T91" fmla="*/ 2834 h 2881"/>
                  <a:gd name="T92" fmla="*/ 69 w 477"/>
                  <a:gd name="T93" fmla="*/ 2813 h 2881"/>
                  <a:gd name="T94" fmla="*/ 47 w 477"/>
                  <a:gd name="T95" fmla="*/ 2788 h 2881"/>
                  <a:gd name="T96" fmla="*/ 29 w 477"/>
                  <a:gd name="T97" fmla="*/ 2759 h 2881"/>
                  <a:gd name="T98" fmla="*/ 14 w 477"/>
                  <a:gd name="T99" fmla="*/ 2728 h 2881"/>
                  <a:gd name="T100" fmla="*/ 4 w 477"/>
                  <a:gd name="T101" fmla="*/ 2695 h 2881"/>
                  <a:gd name="T102" fmla="*/ 0 w 477"/>
                  <a:gd name="T103" fmla="*/ 2661 h 2881"/>
                  <a:gd name="T104" fmla="*/ 0 w 477"/>
                  <a:gd name="T105" fmla="*/ 2644 h 2881"/>
                  <a:gd name="T106" fmla="*/ 0 w 477"/>
                  <a:gd name="T107" fmla="*/ 2637 h 2881"/>
                  <a:gd name="T108" fmla="*/ 1 w 477"/>
                  <a:gd name="T109" fmla="*/ 2628 h 2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77" h="2881">
                    <a:moveTo>
                      <a:pt x="1" y="247"/>
                    </a:moveTo>
                    <a:lnTo>
                      <a:pt x="1" y="247"/>
                    </a:lnTo>
                    <a:lnTo>
                      <a:pt x="1" y="246"/>
                    </a:lnTo>
                    <a:lnTo>
                      <a:pt x="1" y="246"/>
                    </a:lnTo>
                    <a:lnTo>
                      <a:pt x="1" y="244"/>
                    </a:lnTo>
                    <a:lnTo>
                      <a:pt x="1" y="243"/>
                    </a:lnTo>
                    <a:lnTo>
                      <a:pt x="1" y="242"/>
                    </a:lnTo>
                    <a:lnTo>
                      <a:pt x="1" y="241"/>
                    </a:lnTo>
                    <a:lnTo>
                      <a:pt x="1" y="240"/>
                    </a:lnTo>
                    <a:lnTo>
                      <a:pt x="1" y="240"/>
                    </a:lnTo>
                    <a:lnTo>
                      <a:pt x="1" y="227"/>
                    </a:lnTo>
                    <a:lnTo>
                      <a:pt x="2" y="216"/>
                    </a:lnTo>
                    <a:lnTo>
                      <a:pt x="3" y="203"/>
                    </a:lnTo>
                    <a:lnTo>
                      <a:pt x="5" y="191"/>
                    </a:lnTo>
                    <a:lnTo>
                      <a:pt x="8" y="180"/>
                    </a:lnTo>
                    <a:lnTo>
                      <a:pt x="12" y="169"/>
                    </a:lnTo>
                    <a:lnTo>
                      <a:pt x="15" y="157"/>
                    </a:lnTo>
                    <a:lnTo>
                      <a:pt x="19" y="147"/>
                    </a:lnTo>
                    <a:lnTo>
                      <a:pt x="24" y="136"/>
                    </a:lnTo>
                    <a:lnTo>
                      <a:pt x="30" y="125"/>
                    </a:lnTo>
                    <a:lnTo>
                      <a:pt x="35" y="116"/>
                    </a:lnTo>
                    <a:lnTo>
                      <a:pt x="41" y="106"/>
                    </a:lnTo>
                    <a:lnTo>
                      <a:pt x="48" y="97"/>
                    </a:lnTo>
                    <a:lnTo>
                      <a:pt x="55" y="87"/>
                    </a:lnTo>
                    <a:lnTo>
                      <a:pt x="63" y="79"/>
                    </a:lnTo>
                    <a:lnTo>
                      <a:pt x="70" y="70"/>
                    </a:lnTo>
                    <a:lnTo>
                      <a:pt x="79" y="63"/>
                    </a:lnTo>
                    <a:lnTo>
                      <a:pt x="87" y="55"/>
                    </a:lnTo>
                    <a:lnTo>
                      <a:pt x="97" y="48"/>
                    </a:lnTo>
                    <a:lnTo>
                      <a:pt x="106" y="41"/>
                    </a:lnTo>
                    <a:lnTo>
                      <a:pt x="116" y="35"/>
                    </a:lnTo>
                    <a:lnTo>
                      <a:pt x="125" y="29"/>
                    </a:lnTo>
                    <a:lnTo>
                      <a:pt x="136" y="23"/>
                    </a:lnTo>
                    <a:lnTo>
                      <a:pt x="147" y="19"/>
                    </a:lnTo>
                    <a:lnTo>
                      <a:pt x="157" y="15"/>
                    </a:lnTo>
                    <a:lnTo>
                      <a:pt x="168" y="11"/>
                    </a:lnTo>
                    <a:lnTo>
                      <a:pt x="180" y="7"/>
                    </a:lnTo>
                    <a:lnTo>
                      <a:pt x="191" y="5"/>
                    </a:lnTo>
                    <a:lnTo>
                      <a:pt x="203" y="3"/>
                    </a:lnTo>
                    <a:lnTo>
                      <a:pt x="215" y="1"/>
                    </a:lnTo>
                    <a:lnTo>
                      <a:pt x="227" y="0"/>
                    </a:lnTo>
                    <a:lnTo>
                      <a:pt x="239" y="0"/>
                    </a:lnTo>
                    <a:lnTo>
                      <a:pt x="251" y="0"/>
                    </a:lnTo>
                    <a:lnTo>
                      <a:pt x="263" y="1"/>
                    </a:lnTo>
                    <a:lnTo>
                      <a:pt x="275" y="3"/>
                    </a:lnTo>
                    <a:lnTo>
                      <a:pt x="287" y="5"/>
                    </a:lnTo>
                    <a:lnTo>
                      <a:pt x="298" y="7"/>
                    </a:lnTo>
                    <a:lnTo>
                      <a:pt x="310" y="11"/>
                    </a:lnTo>
                    <a:lnTo>
                      <a:pt x="320" y="15"/>
                    </a:lnTo>
                    <a:lnTo>
                      <a:pt x="332" y="19"/>
                    </a:lnTo>
                    <a:lnTo>
                      <a:pt x="341" y="23"/>
                    </a:lnTo>
                    <a:lnTo>
                      <a:pt x="352" y="29"/>
                    </a:lnTo>
                    <a:lnTo>
                      <a:pt x="363" y="35"/>
                    </a:lnTo>
                    <a:lnTo>
                      <a:pt x="372" y="41"/>
                    </a:lnTo>
                    <a:lnTo>
                      <a:pt x="381" y="48"/>
                    </a:lnTo>
                    <a:lnTo>
                      <a:pt x="390" y="55"/>
                    </a:lnTo>
                    <a:lnTo>
                      <a:pt x="399" y="63"/>
                    </a:lnTo>
                    <a:lnTo>
                      <a:pt x="407" y="70"/>
                    </a:lnTo>
                    <a:lnTo>
                      <a:pt x="415" y="79"/>
                    </a:lnTo>
                    <a:lnTo>
                      <a:pt x="422" y="87"/>
                    </a:lnTo>
                    <a:lnTo>
                      <a:pt x="430" y="97"/>
                    </a:lnTo>
                    <a:lnTo>
                      <a:pt x="436" y="106"/>
                    </a:lnTo>
                    <a:lnTo>
                      <a:pt x="443" y="116"/>
                    </a:lnTo>
                    <a:lnTo>
                      <a:pt x="448" y="125"/>
                    </a:lnTo>
                    <a:lnTo>
                      <a:pt x="453" y="136"/>
                    </a:lnTo>
                    <a:lnTo>
                      <a:pt x="459" y="147"/>
                    </a:lnTo>
                    <a:lnTo>
                      <a:pt x="463" y="157"/>
                    </a:lnTo>
                    <a:lnTo>
                      <a:pt x="466" y="169"/>
                    </a:lnTo>
                    <a:lnTo>
                      <a:pt x="469" y="180"/>
                    </a:lnTo>
                    <a:lnTo>
                      <a:pt x="472" y="191"/>
                    </a:lnTo>
                    <a:lnTo>
                      <a:pt x="475" y="203"/>
                    </a:lnTo>
                    <a:lnTo>
                      <a:pt x="476" y="216"/>
                    </a:lnTo>
                    <a:lnTo>
                      <a:pt x="477" y="227"/>
                    </a:lnTo>
                    <a:lnTo>
                      <a:pt x="477" y="240"/>
                    </a:lnTo>
                    <a:lnTo>
                      <a:pt x="477" y="240"/>
                    </a:lnTo>
                    <a:lnTo>
                      <a:pt x="477" y="241"/>
                    </a:lnTo>
                    <a:lnTo>
                      <a:pt x="477" y="242"/>
                    </a:lnTo>
                    <a:lnTo>
                      <a:pt x="477" y="243"/>
                    </a:lnTo>
                    <a:lnTo>
                      <a:pt x="477" y="244"/>
                    </a:lnTo>
                    <a:lnTo>
                      <a:pt x="477" y="246"/>
                    </a:lnTo>
                    <a:lnTo>
                      <a:pt x="477" y="246"/>
                    </a:lnTo>
                    <a:lnTo>
                      <a:pt x="477" y="247"/>
                    </a:lnTo>
                    <a:lnTo>
                      <a:pt x="477" y="247"/>
                    </a:lnTo>
                    <a:lnTo>
                      <a:pt x="477" y="2643"/>
                    </a:lnTo>
                    <a:lnTo>
                      <a:pt x="476" y="2643"/>
                    </a:lnTo>
                    <a:lnTo>
                      <a:pt x="476" y="2644"/>
                    </a:lnTo>
                    <a:lnTo>
                      <a:pt x="476" y="2645"/>
                    </a:lnTo>
                    <a:lnTo>
                      <a:pt x="476" y="2645"/>
                    </a:lnTo>
                    <a:lnTo>
                      <a:pt x="476" y="2646"/>
                    </a:lnTo>
                    <a:lnTo>
                      <a:pt x="476" y="2647"/>
                    </a:lnTo>
                    <a:lnTo>
                      <a:pt x="476" y="2647"/>
                    </a:lnTo>
                    <a:lnTo>
                      <a:pt x="476" y="2648"/>
                    </a:lnTo>
                    <a:lnTo>
                      <a:pt x="476" y="2649"/>
                    </a:lnTo>
                    <a:lnTo>
                      <a:pt x="476" y="2661"/>
                    </a:lnTo>
                    <a:lnTo>
                      <a:pt x="475" y="2673"/>
                    </a:lnTo>
                    <a:lnTo>
                      <a:pt x="472" y="2684"/>
                    </a:lnTo>
                    <a:lnTo>
                      <a:pt x="470" y="2695"/>
                    </a:lnTo>
                    <a:lnTo>
                      <a:pt x="468" y="2707"/>
                    </a:lnTo>
                    <a:lnTo>
                      <a:pt x="465" y="2717"/>
                    </a:lnTo>
                    <a:lnTo>
                      <a:pt x="461" y="2728"/>
                    </a:lnTo>
                    <a:lnTo>
                      <a:pt x="456" y="2739"/>
                    </a:lnTo>
                    <a:lnTo>
                      <a:pt x="452" y="2749"/>
                    </a:lnTo>
                    <a:lnTo>
                      <a:pt x="447" y="2759"/>
                    </a:lnTo>
                    <a:lnTo>
                      <a:pt x="440" y="2768"/>
                    </a:lnTo>
                    <a:lnTo>
                      <a:pt x="435" y="2778"/>
                    </a:lnTo>
                    <a:lnTo>
                      <a:pt x="428" y="2788"/>
                    </a:lnTo>
                    <a:lnTo>
                      <a:pt x="421" y="2796"/>
                    </a:lnTo>
                    <a:lnTo>
                      <a:pt x="414" y="2805"/>
                    </a:lnTo>
                    <a:lnTo>
                      <a:pt x="405" y="2813"/>
                    </a:lnTo>
                    <a:lnTo>
                      <a:pt x="398" y="2820"/>
                    </a:lnTo>
                    <a:lnTo>
                      <a:pt x="388" y="2828"/>
                    </a:lnTo>
                    <a:lnTo>
                      <a:pt x="380" y="2834"/>
                    </a:lnTo>
                    <a:lnTo>
                      <a:pt x="370" y="2841"/>
                    </a:lnTo>
                    <a:lnTo>
                      <a:pt x="361" y="2847"/>
                    </a:lnTo>
                    <a:lnTo>
                      <a:pt x="351" y="2852"/>
                    </a:lnTo>
                    <a:lnTo>
                      <a:pt x="340" y="2858"/>
                    </a:lnTo>
                    <a:lnTo>
                      <a:pt x="330" y="2862"/>
                    </a:lnTo>
                    <a:lnTo>
                      <a:pt x="319" y="2866"/>
                    </a:lnTo>
                    <a:lnTo>
                      <a:pt x="308" y="2870"/>
                    </a:lnTo>
                    <a:lnTo>
                      <a:pt x="297" y="2874"/>
                    </a:lnTo>
                    <a:lnTo>
                      <a:pt x="285" y="2876"/>
                    </a:lnTo>
                    <a:lnTo>
                      <a:pt x="273" y="2878"/>
                    </a:lnTo>
                    <a:lnTo>
                      <a:pt x="262" y="2879"/>
                    </a:lnTo>
                    <a:lnTo>
                      <a:pt x="250" y="2880"/>
                    </a:lnTo>
                    <a:lnTo>
                      <a:pt x="237" y="2881"/>
                    </a:lnTo>
                    <a:lnTo>
                      <a:pt x="225" y="2880"/>
                    </a:lnTo>
                    <a:lnTo>
                      <a:pt x="214" y="2879"/>
                    </a:lnTo>
                    <a:lnTo>
                      <a:pt x="201" y="2878"/>
                    </a:lnTo>
                    <a:lnTo>
                      <a:pt x="189" y="2876"/>
                    </a:lnTo>
                    <a:lnTo>
                      <a:pt x="179" y="2874"/>
                    </a:lnTo>
                    <a:lnTo>
                      <a:pt x="167" y="2870"/>
                    </a:lnTo>
                    <a:lnTo>
                      <a:pt x="156" y="2866"/>
                    </a:lnTo>
                    <a:lnTo>
                      <a:pt x="146" y="2862"/>
                    </a:lnTo>
                    <a:lnTo>
                      <a:pt x="135" y="2858"/>
                    </a:lnTo>
                    <a:lnTo>
                      <a:pt x="124" y="2852"/>
                    </a:lnTo>
                    <a:lnTo>
                      <a:pt x="115" y="2847"/>
                    </a:lnTo>
                    <a:lnTo>
                      <a:pt x="105" y="2841"/>
                    </a:lnTo>
                    <a:lnTo>
                      <a:pt x="96" y="2834"/>
                    </a:lnTo>
                    <a:lnTo>
                      <a:pt x="86" y="2828"/>
                    </a:lnTo>
                    <a:lnTo>
                      <a:pt x="78" y="2820"/>
                    </a:lnTo>
                    <a:lnTo>
                      <a:pt x="69" y="2813"/>
                    </a:lnTo>
                    <a:lnTo>
                      <a:pt x="62" y="2805"/>
                    </a:lnTo>
                    <a:lnTo>
                      <a:pt x="54" y="2796"/>
                    </a:lnTo>
                    <a:lnTo>
                      <a:pt x="47" y="2788"/>
                    </a:lnTo>
                    <a:lnTo>
                      <a:pt x="40" y="2778"/>
                    </a:lnTo>
                    <a:lnTo>
                      <a:pt x="34" y="2768"/>
                    </a:lnTo>
                    <a:lnTo>
                      <a:pt x="29" y="2759"/>
                    </a:lnTo>
                    <a:lnTo>
                      <a:pt x="23" y="2749"/>
                    </a:lnTo>
                    <a:lnTo>
                      <a:pt x="18" y="2739"/>
                    </a:lnTo>
                    <a:lnTo>
                      <a:pt x="14" y="2728"/>
                    </a:lnTo>
                    <a:lnTo>
                      <a:pt x="10" y="2717"/>
                    </a:lnTo>
                    <a:lnTo>
                      <a:pt x="7" y="2707"/>
                    </a:lnTo>
                    <a:lnTo>
                      <a:pt x="4" y="2695"/>
                    </a:lnTo>
                    <a:lnTo>
                      <a:pt x="2" y="2684"/>
                    </a:lnTo>
                    <a:lnTo>
                      <a:pt x="1" y="2673"/>
                    </a:lnTo>
                    <a:lnTo>
                      <a:pt x="0" y="2661"/>
                    </a:lnTo>
                    <a:lnTo>
                      <a:pt x="0" y="2649"/>
                    </a:lnTo>
                    <a:lnTo>
                      <a:pt x="0" y="2646"/>
                    </a:lnTo>
                    <a:lnTo>
                      <a:pt x="0" y="2644"/>
                    </a:lnTo>
                    <a:lnTo>
                      <a:pt x="0" y="2641"/>
                    </a:lnTo>
                    <a:lnTo>
                      <a:pt x="0" y="2639"/>
                    </a:lnTo>
                    <a:lnTo>
                      <a:pt x="0" y="2637"/>
                    </a:lnTo>
                    <a:lnTo>
                      <a:pt x="0" y="2633"/>
                    </a:lnTo>
                    <a:lnTo>
                      <a:pt x="0" y="2631"/>
                    </a:lnTo>
                    <a:lnTo>
                      <a:pt x="1" y="2628"/>
                    </a:lnTo>
                    <a:lnTo>
                      <a:pt x="1" y="247"/>
                    </a:lnTo>
                  </a:path>
                </a:pathLst>
              </a:custGeom>
              <a:gradFill rotWithShape="0">
                <a:gsLst>
                  <a:gs pos="0">
                    <a:schemeClr val="hlink"/>
                  </a:gs>
                  <a:gs pos="50000">
                    <a:schemeClr val="hlink">
                      <a:gamma/>
                      <a:tint val="33725"/>
                      <a:invGamma/>
                    </a:schemeClr>
                  </a:gs>
                  <a:gs pos="100000">
                    <a:schemeClr val="hlink"/>
                  </a:gs>
                </a:gsLst>
                <a:lin ang="0" scaled="1"/>
              </a:gradFill>
              <a:ln w="1588">
                <a:solidFill>
                  <a:srgbClr val="1F1A17"/>
                </a:solidFill>
                <a:prstDash val="solid"/>
                <a:round/>
                <a:headEnd/>
                <a:tailEnd/>
              </a:ln>
            </p:spPr>
            <p:txBody>
              <a:bodyPr/>
              <a:lstStyle/>
              <a:p>
                <a:pPr>
                  <a:defRPr/>
                </a:pPr>
                <a:endParaRPr lang="en-US"/>
              </a:p>
            </p:txBody>
          </p:sp>
        </p:grpSp>
        <p:grpSp>
          <p:nvGrpSpPr>
            <p:cNvPr id="386166" name="Group 1539"/>
            <p:cNvGrpSpPr>
              <a:grpSpLocks noChangeAspect="1"/>
            </p:cNvGrpSpPr>
            <p:nvPr/>
          </p:nvGrpSpPr>
          <p:grpSpPr bwMode="auto">
            <a:xfrm>
              <a:off x="3745" y="1285"/>
              <a:ext cx="275" cy="186"/>
              <a:chOff x="5208" y="1004"/>
              <a:chExt cx="376" cy="258"/>
            </a:xfrm>
          </p:grpSpPr>
          <p:sp>
            <p:nvSpPr>
              <p:cNvPr id="389586" name="Freeform 1540"/>
              <p:cNvSpPr>
                <a:spLocks noChangeAspect="1"/>
              </p:cNvSpPr>
              <p:nvPr/>
            </p:nvSpPr>
            <p:spPr bwMode="auto">
              <a:xfrm>
                <a:off x="5237" y="1117"/>
                <a:ext cx="5" cy="52"/>
              </a:xfrm>
              <a:custGeom>
                <a:avLst/>
                <a:gdLst>
                  <a:gd name="T0" fmla="*/ 0 w 16"/>
                  <a:gd name="T1" fmla="*/ 0 h 158"/>
                  <a:gd name="T2" fmla="*/ 0 w 16"/>
                  <a:gd name="T3" fmla="*/ 0 h 158"/>
                  <a:gd name="T4" fmla="*/ 0 w 16"/>
                  <a:gd name="T5" fmla="*/ 0 h 158"/>
                  <a:gd name="T6" fmla="*/ 0 w 16"/>
                  <a:gd name="T7" fmla="*/ 0 h 158"/>
                  <a:gd name="T8" fmla="*/ 0 w 16"/>
                  <a:gd name="T9" fmla="*/ 0 h 158"/>
                  <a:gd name="T10" fmla="*/ 0 w 16"/>
                  <a:gd name="T11" fmla="*/ 0 h 158"/>
                  <a:gd name="T12" fmla="*/ 0 w 16"/>
                  <a:gd name="T13" fmla="*/ 0 h 158"/>
                  <a:gd name="T14" fmla="*/ 0 w 16"/>
                  <a:gd name="T15" fmla="*/ 0 h 158"/>
                  <a:gd name="T16" fmla="*/ 0 w 16"/>
                  <a:gd name="T17" fmla="*/ 0 h 158"/>
                  <a:gd name="T18" fmla="*/ 0 w 16"/>
                  <a:gd name="T19" fmla="*/ 0 h 158"/>
                  <a:gd name="T20" fmla="*/ 0 w 16"/>
                  <a:gd name="T21" fmla="*/ 0 h 158"/>
                  <a:gd name="T22" fmla="*/ 0 w 16"/>
                  <a:gd name="T23" fmla="*/ 0 h 158"/>
                  <a:gd name="T24" fmla="*/ 0 w 16"/>
                  <a:gd name="T25" fmla="*/ 0 h 158"/>
                  <a:gd name="T26" fmla="*/ 0 w 16"/>
                  <a:gd name="T27" fmla="*/ 0 h 158"/>
                  <a:gd name="T28" fmla="*/ 0 w 16"/>
                  <a:gd name="T29" fmla="*/ 0 h 158"/>
                  <a:gd name="T30" fmla="*/ 0 w 16"/>
                  <a:gd name="T31" fmla="*/ 0 h 158"/>
                  <a:gd name="T32" fmla="*/ 0 w 16"/>
                  <a:gd name="T33" fmla="*/ 0 h 158"/>
                  <a:gd name="T34" fmla="*/ 0 w 16"/>
                  <a:gd name="T35" fmla="*/ 0 h 158"/>
                  <a:gd name="T36" fmla="*/ 0 w 16"/>
                  <a:gd name="T37" fmla="*/ 0 h 158"/>
                  <a:gd name="T38" fmla="*/ 0 w 16"/>
                  <a:gd name="T39" fmla="*/ 0 h 1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6" h="158">
                    <a:moveTo>
                      <a:pt x="0" y="123"/>
                    </a:moveTo>
                    <a:lnTo>
                      <a:pt x="0" y="120"/>
                    </a:lnTo>
                    <a:lnTo>
                      <a:pt x="0" y="105"/>
                    </a:lnTo>
                    <a:lnTo>
                      <a:pt x="1" y="89"/>
                    </a:lnTo>
                    <a:lnTo>
                      <a:pt x="2" y="74"/>
                    </a:lnTo>
                    <a:lnTo>
                      <a:pt x="3" y="60"/>
                    </a:lnTo>
                    <a:lnTo>
                      <a:pt x="6" y="44"/>
                    </a:lnTo>
                    <a:lnTo>
                      <a:pt x="8" y="29"/>
                    </a:lnTo>
                    <a:lnTo>
                      <a:pt x="12" y="15"/>
                    </a:lnTo>
                    <a:lnTo>
                      <a:pt x="16" y="0"/>
                    </a:lnTo>
                    <a:lnTo>
                      <a:pt x="16" y="158"/>
                    </a:lnTo>
                    <a:lnTo>
                      <a:pt x="1" y="158"/>
                    </a:lnTo>
                    <a:lnTo>
                      <a:pt x="1" y="154"/>
                    </a:lnTo>
                    <a:lnTo>
                      <a:pt x="0" y="150"/>
                    </a:lnTo>
                    <a:lnTo>
                      <a:pt x="0" y="146"/>
                    </a:lnTo>
                    <a:lnTo>
                      <a:pt x="0" y="141"/>
                    </a:lnTo>
                    <a:lnTo>
                      <a:pt x="0" y="137"/>
                    </a:lnTo>
                    <a:lnTo>
                      <a:pt x="0" y="133"/>
                    </a:lnTo>
                    <a:lnTo>
                      <a:pt x="0" y="128"/>
                    </a:lnTo>
                    <a:lnTo>
                      <a:pt x="0" y="12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87" name="Freeform 1541"/>
              <p:cNvSpPr>
                <a:spLocks noChangeAspect="1"/>
              </p:cNvSpPr>
              <p:nvPr/>
            </p:nvSpPr>
            <p:spPr bwMode="auto">
              <a:xfrm>
                <a:off x="5237" y="1100"/>
                <a:ext cx="10" cy="69"/>
              </a:xfrm>
              <a:custGeom>
                <a:avLst/>
                <a:gdLst>
                  <a:gd name="T0" fmla="*/ 0 w 32"/>
                  <a:gd name="T1" fmla="*/ 0 h 207"/>
                  <a:gd name="T2" fmla="*/ 0 w 32"/>
                  <a:gd name="T3" fmla="*/ 0 h 207"/>
                  <a:gd name="T4" fmla="*/ 0 w 32"/>
                  <a:gd name="T5" fmla="*/ 0 h 207"/>
                  <a:gd name="T6" fmla="*/ 0 w 32"/>
                  <a:gd name="T7" fmla="*/ 0 h 207"/>
                  <a:gd name="T8" fmla="*/ 0 w 32"/>
                  <a:gd name="T9" fmla="*/ 0 h 207"/>
                  <a:gd name="T10" fmla="*/ 0 w 32"/>
                  <a:gd name="T11" fmla="*/ 0 h 207"/>
                  <a:gd name="T12" fmla="*/ 0 w 32"/>
                  <a:gd name="T13" fmla="*/ 0 h 207"/>
                  <a:gd name="T14" fmla="*/ 0 w 32"/>
                  <a:gd name="T15" fmla="*/ 0 h 207"/>
                  <a:gd name="T16" fmla="*/ 0 w 32"/>
                  <a:gd name="T17" fmla="*/ 0 h 207"/>
                  <a:gd name="T18" fmla="*/ 0 w 32"/>
                  <a:gd name="T19" fmla="*/ 0 h 207"/>
                  <a:gd name="T20" fmla="*/ 0 w 32"/>
                  <a:gd name="T21" fmla="*/ 0 h 207"/>
                  <a:gd name="T22" fmla="*/ 0 w 32"/>
                  <a:gd name="T23" fmla="*/ 0 h 207"/>
                  <a:gd name="T24" fmla="*/ 0 w 32"/>
                  <a:gd name="T25" fmla="*/ 0 h 207"/>
                  <a:gd name="T26" fmla="*/ 0 w 32"/>
                  <a:gd name="T27" fmla="*/ 0 h 207"/>
                  <a:gd name="T28" fmla="*/ 0 w 32"/>
                  <a:gd name="T29" fmla="*/ 0 h 207"/>
                  <a:gd name="T30" fmla="*/ 0 w 32"/>
                  <a:gd name="T31" fmla="*/ 0 h 207"/>
                  <a:gd name="T32" fmla="*/ 0 w 32"/>
                  <a:gd name="T33" fmla="*/ 0 h 207"/>
                  <a:gd name="T34" fmla="*/ 0 w 32"/>
                  <a:gd name="T35" fmla="*/ 0 h 207"/>
                  <a:gd name="T36" fmla="*/ 0 w 32"/>
                  <a:gd name="T37" fmla="*/ 0 h 207"/>
                  <a:gd name="T38" fmla="*/ 0 w 32"/>
                  <a:gd name="T39" fmla="*/ 0 h 2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 h="207">
                    <a:moveTo>
                      <a:pt x="0" y="172"/>
                    </a:moveTo>
                    <a:lnTo>
                      <a:pt x="0" y="169"/>
                    </a:lnTo>
                    <a:lnTo>
                      <a:pt x="0" y="148"/>
                    </a:lnTo>
                    <a:lnTo>
                      <a:pt x="2" y="126"/>
                    </a:lnTo>
                    <a:lnTo>
                      <a:pt x="4" y="103"/>
                    </a:lnTo>
                    <a:lnTo>
                      <a:pt x="7" y="82"/>
                    </a:lnTo>
                    <a:lnTo>
                      <a:pt x="13" y="62"/>
                    </a:lnTo>
                    <a:lnTo>
                      <a:pt x="18" y="40"/>
                    </a:lnTo>
                    <a:lnTo>
                      <a:pt x="24" y="20"/>
                    </a:lnTo>
                    <a:lnTo>
                      <a:pt x="32" y="0"/>
                    </a:lnTo>
                    <a:lnTo>
                      <a:pt x="32" y="207"/>
                    </a:lnTo>
                    <a:lnTo>
                      <a:pt x="1" y="207"/>
                    </a:lnTo>
                    <a:lnTo>
                      <a:pt x="1" y="203"/>
                    </a:lnTo>
                    <a:lnTo>
                      <a:pt x="0" y="199"/>
                    </a:lnTo>
                    <a:lnTo>
                      <a:pt x="0" y="195"/>
                    </a:lnTo>
                    <a:lnTo>
                      <a:pt x="0" y="190"/>
                    </a:lnTo>
                    <a:lnTo>
                      <a:pt x="0" y="186"/>
                    </a:lnTo>
                    <a:lnTo>
                      <a:pt x="0" y="182"/>
                    </a:lnTo>
                    <a:lnTo>
                      <a:pt x="0" y="177"/>
                    </a:lnTo>
                    <a:lnTo>
                      <a:pt x="0" y="17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88" name="Freeform 1542"/>
              <p:cNvSpPr>
                <a:spLocks noChangeAspect="1"/>
              </p:cNvSpPr>
              <p:nvPr/>
            </p:nvSpPr>
            <p:spPr bwMode="auto">
              <a:xfrm>
                <a:off x="5242" y="1089"/>
                <a:ext cx="11" cy="80"/>
              </a:xfrm>
              <a:custGeom>
                <a:avLst/>
                <a:gdLst>
                  <a:gd name="T0" fmla="*/ 0 w 32"/>
                  <a:gd name="T1" fmla="*/ 0 h 242"/>
                  <a:gd name="T2" fmla="*/ 0 w 32"/>
                  <a:gd name="T3" fmla="*/ 0 h 242"/>
                  <a:gd name="T4" fmla="*/ 0 w 32"/>
                  <a:gd name="T5" fmla="*/ 0 h 242"/>
                  <a:gd name="T6" fmla="*/ 0 w 32"/>
                  <a:gd name="T7" fmla="*/ 0 h 242"/>
                  <a:gd name="T8" fmla="*/ 0 w 32"/>
                  <a:gd name="T9" fmla="*/ 0 h 242"/>
                  <a:gd name="T10" fmla="*/ 0 w 32"/>
                  <a:gd name="T11" fmla="*/ 0 h 242"/>
                  <a:gd name="T12" fmla="*/ 0 w 32"/>
                  <a:gd name="T13" fmla="*/ 0 h 242"/>
                  <a:gd name="T14" fmla="*/ 0 w 32"/>
                  <a:gd name="T15" fmla="*/ 0 h 242"/>
                  <a:gd name="T16" fmla="*/ 0 w 32"/>
                  <a:gd name="T17" fmla="*/ 0 h 242"/>
                  <a:gd name="T18" fmla="*/ 0 w 32"/>
                  <a:gd name="T19" fmla="*/ 0 h 242"/>
                  <a:gd name="T20" fmla="*/ 0 w 32"/>
                  <a:gd name="T21" fmla="*/ 0 h 242"/>
                  <a:gd name="T22" fmla="*/ 0 w 32"/>
                  <a:gd name="T23" fmla="*/ 0 h 2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42">
                    <a:moveTo>
                      <a:pt x="0" y="242"/>
                    </a:moveTo>
                    <a:lnTo>
                      <a:pt x="0" y="84"/>
                    </a:lnTo>
                    <a:lnTo>
                      <a:pt x="3" y="73"/>
                    </a:lnTo>
                    <a:lnTo>
                      <a:pt x="6" y="62"/>
                    </a:lnTo>
                    <a:lnTo>
                      <a:pt x="9" y="51"/>
                    </a:lnTo>
                    <a:lnTo>
                      <a:pt x="14" y="40"/>
                    </a:lnTo>
                    <a:lnTo>
                      <a:pt x="18" y="30"/>
                    </a:lnTo>
                    <a:lnTo>
                      <a:pt x="22" y="20"/>
                    </a:lnTo>
                    <a:lnTo>
                      <a:pt x="26" y="10"/>
                    </a:lnTo>
                    <a:lnTo>
                      <a:pt x="32" y="0"/>
                    </a:lnTo>
                    <a:lnTo>
                      <a:pt x="32" y="242"/>
                    </a:lnTo>
                    <a:lnTo>
                      <a:pt x="0" y="24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89" name="Freeform 1543"/>
              <p:cNvSpPr>
                <a:spLocks noChangeAspect="1"/>
              </p:cNvSpPr>
              <p:nvPr/>
            </p:nvSpPr>
            <p:spPr bwMode="auto">
              <a:xfrm>
                <a:off x="5247" y="1079"/>
                <a:ext cx="11" cy="90"/>
              </a:xfrm>
              <a:custGeom>
                <a:avLst/>
                <a:gdLst>
                  <a:gd name="T0" fmla="*/ 0 w 32"/>
                  <a:gd name="T1" fmla="*/ 0 h 272"/>
                  <a:gd name="T2" fmla="*/ 0 w 32"/>
                  <a:gd name="T3" fmla="*/ 0 h 272"/>
                  <a:gd name="T4" fmla="*/ 0 w 32"/>
                  <a:gd name="T5" fmla="*/ 0 h 272"/>
                  <a:gd name="T6" fmla="*/ 0 w 32"/>
                  <a:gd name="T7" fmla="*/ 0 h 272"/>
                  <a:gd name="T8" fmla="*/ 0 w 32"/>
                  <a:gd name="T9" fmla="*/ 0 h 272"/>
                  <a:gd name="T10" fmla="*/ 0 w 32"/>
                  <a:gd name="T11" fmla="*/ 0 h 272"/>
                  <a:gd name="T12" fmla="*/ 0 w 32"/>
                  <a:gd name="T13" fmla="*/ 0 h 272"/>
                  <a:gd name="T14" fmla="*/ 0 w 32"/>
                  <a:gd name="T15" fmla="*/ 0 h 272"/>
                  <a:gd name="T16" fmla="*/ 0 w 32"/>
                  <a:gd name="T17" fmla="*/ 0 h 272"/>
                  <a:gd name="T18" fmla="*/ 0 w 32"/>
                  <a:gd name="T19" fmla="*/ 0 h 272"/>
                  <a:gd name="T20" fmla="*/ 0 w 32"/>
                  <a:gd name="T21" fmla="*/ 0 h 272"/>
                  <a:gd name="T22" fmla="*/ 0 w 32"/>
                  <a:gd name="T23" fmla="*/ 0 h 2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72">
                    <a:moveTo>
                      <a:pt x="0" y="272"/>
                    </a:moveTo>
                    <a:lnTo>
                      <a:pt x="0" y="65"/>
                    </a:lnTo>
                    <a:lnTo>
                      <a:pt x="3" y="57"/>
                    </a:lnTo>
                    <a:lnTo>
                      <a:pt x="7" y="48"/>
                    </a:lnTo>
                    <a:lnTo>
                      <a:pt x="10" y="41"/>
                    </a:lnTo>
                    <a:lnTo>
                      <a:pt x="15" y="32"/>
                    </a:lnTo>
                    <a:lnTo>
                      <a:pt x="19" y="24"/>
                    </a:lnTo>
                    <a:lnTo>
                      <a:pt x="23" y="16"/>
                    </a:lnTo>
                    <a:lnTo>
                      <a:pt x="28" y="8"/>
                    </a:lnTo>
                    <a:lnTo>
                      <a:pt x="32" y="0"/>
                    </a:lnTo>
                    <a:lnTo>
                      <a:pt x="32" y="272"/>
                    </a:lnTo>
                    <a:lnTo>
                      <a:pt x="0" y="27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90" name="Freeform 1544"/>
              <p:cNvSpPr>
                <a:spLocks noChangeAspect="1"/>
              </p:cNvSpPr>
              <p:nvPr/>
            </p:nvSpPr>
            <p:spPr bwMode="auto">
              <a:xfrm>
                <a:off x="5253" y="1070"/>
                <a:ext cx="10" cy="99"/>
              </a:xfrm>
              <a:custGeom>
                <a:avLst/>
                <a:gdLst>
                  <a:gd name="T0" fmla="*/ 0 w 32"/>
                  <a:gd name="T1" fmla="*/ 0 h 297"/>
                  <a:gd name="T2" fmla="*/ 0 w 32"/>
                  <a:gd name="T3" fmla="*/ 0 h 297"/>
                  <a:gd name="T4" fmla="*/ 0 w 32"/>
                  <a:gd name="T5" fmla="*/ 0 h 297"/>
                  <a:gd name="T6" fmla="*/ 0 w 32"/>
                  <a:gd name="T7" fmla="*/ 0 h 297"/>
                  <a:gd name="T8" fmla="*/ 0 w 32"/>
                  <a:gd name="T9" fmla="*/ 0 h 297"/>
                  <a:gd name="T10" fmla="*/ 0 w 32"/>
                  <a:gd name="T11" fmla="*/ 0 h 297"/>
                  <a:gd name="T12" fmla="*/ 0 w 32"/>
                  <a:gd name="T13" fmla="*/ 0 h 297"/>
                  <a:gd name="T14" fmla="*/ 0 w 32"/>
                  <a:gd name="T15" fmla="*/ 0 h 297"/>
                  <a:gd name="T16" fmla="*/ 0 w 32"/>
                  <a:gd name="T17" fmla="*/ 0 h 297"/>
                  <a:gd name="T18" fmla="*/ 0 w 32"/>
                  <a:gd name="T19" fmla="*/ 0 h 297"/>
                  <a:gd name="T20" fmla="*/ 0 w 32"/>
                  <a:gd name="T21" fmla="*/ 0 h 297"/>
                  <a:gd name="T22" fmla="*/ 0 w 32"/>
                  <a:gd name="T23" fmla="*/ 0 h 2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97">
                    <a:moveTo>
                      <a:pt x="0" y="297"/>
                    </a:moveTo>
                    <a:lnTo>
                      <a:pt x="0" y="55"/>
                    </a:lnTo>
                    <a:lnTo>
                      <a:pt x="4" y="48"/>
                    </a:lnTo>
                    <a:lnTo>
                      <a:pt x="7" y="40"/>
                    </a:lnTo>
                    <a:lnTo>
                      <a:pt x="12" y="34"/>
                    </a:lnTo>
                    <a:lnTo>
                      <a:pt x="15" y="26"/>
                    </a:lnTo>
                    <a:lnTo>
                      <a:pt x="19" y="20"/>
                    </a:lnTo>
                    <a:lnTo>
                      <a:pt x="23" y="14"/>
                    </a:lnTo>
                    <a:lnTo>
                      <a:pt x="27" y="6"/>
                    </a:lnTo>
                    <a:lnTo>
                      <a:pt x="32" y="0"/>
                    </a:lnTo>
                    <a:lnTo>
                      <a:pt x="32" y="297"/>
                    </a:lnTo>
                    <a:lnTo>
                      <a:pt x="0" y="2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91" name="Freeform 1545"/>
              <p:cNvSpPr>
                <a:spLocks noChangeAspect="1"/>
              </p:cNvSpPr>
              <p:nvPr/>
            </p:nvSpPr>
            <p:spPr bwMode="auto">
              <a:xfrm>
                <a:off x="5258" y="1063"/>
                <a:ext cx="11" cy="106"/>
              </a:xfrm>
              <a:custGeom>
                <a:avLst/>
                <a:gdLst>
                  <a:gd name="T0" fmla="*/ 0 w 33"/>
                  <a:gd name="T1" fmla="*/ 0 h 320"/>
                  <a:gd name="T2" fmla="*/ 0 w 33"/>
                  <a:gd name="T3" fmla="*/ 0 h 320"/>
                  <a:gd name="T4" fmla="*/ 0 w 33"/>
                  <a:gd name="T5" fmla="*/ 0 h 320"/>
                  <a:gd name="T6" fmla="*/ 0 w 33"/>
                  <a:gd name="T7" fmla="*/ 0 h 320"/>
                  <a:gd name="T8" fmla="*/ 0 w 33"/>
                  <a:gd name="T9" fmla="*/ 0 h 320"/>
                  <a:gd name="T10" fmla="*/ 0 w 33"/>
                  <a:gd name="T11" fmla="*/ 0 h 320"/>
                  <a:gd name="T12" fmla="*/ 0 w 33"/>
                  <a:gd name="T13" fmla="*/ 0 h 320"/>
                  <a:gd name="T14" fmla="*/ 0 w 33"/>
                  <a:gd name="T15" fmla="*/ 0 h 320"/>
                  <a:gd name="T16" fmla="*/ 0 w 33"/>
                  <a:gd name="T17" fmla="*/ 0 h 320"/>
                  <a:gd name="T18" fmla="*/ 0 w 33"/>
                  <a:gd name="T19" fmla="*/ 0 h 320"/>
                  <a:gd name="T20" fmla="*/ 0 w 33"/>
                  <a:gd name="T21" fmla="*/ 0 h 320"/>
                  <a:gd name="T22" fmla="*/ 0 w 33"/>
                  <a:gd name="T23" fmla="*/ 0 h 3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20">
                    <a:moveTo>
                      <a:pt x="0" y="320"/>
                    </a:moveTo>
                    <a:lnTo>
                      <a:pt x="0" y="48"/>
                    </a:lnTo>
                    <a:lnTo>
                      <a:pt x="4" y="42"/>
                    </a:lnTo>
                    <a:lnTo>
                      <a:pt x="7" y="35"/>
                    </a:lnTo>
                    <a:lnTo>
                      <a:pt x="11" y="30"/>
                    </a:lnTo>
                    <a:lnTo>
                      <a:pt x="16" y="24"/>
                    </a:lnTo>
                    <a:lnTo>
                      <a:pt x="20" y="18"/>
                    </a:lnTo>
                    <a:lnTo>
                      <a:pt x="24" y="12"/>
                    </a:lnTo>
                    <a:lnTo>
                      <a:pt x="28" y="7"/>
                    </a:lnTo>
                    <a:lnTo>
                      <a:pt x="33" y="0"/>
                    </a:lnTo>
                    <a:lnTo>
                      <a:pt x="33" y="320"/>
                    </a:lnTo>
                    <a:lnTo>
                      <a:pt x="0" y="3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92" name="Freeform 1546"/>
              <p:cNvSpPr>
                <a:spLocks noChangeAspect="1"/>
              </p:cNvSpPr>
              <p:nvPr/>
            </p:nvSpPr>
            <p:spPr bwMode="auto">
              <a:xfrm>
                <a:off x="5263" y="1056"/>
                <a:ext cx="11" cy="113"/>
              </a:xfrm>
              <a:custGeom>
                <a:avLst/>
                <a:gdLst>
                  <a:gd name="T0" fmla="*/ 0 w 33"/>
                  <a:gd name="T1" fmla="*/ 0 h 339"/>
                  <a:gd name="T2" fmla="*/ 0 w 33"/>
                  <a:gd name="T3" fmla="*/ 0 h 339"/>
                  <a:gd name="T4" fmla="*/ 0 w 33"/>
                  <a:gd name="T5" fmla="*/ 0 h 339"/>
                  <a:gd name="T6" fmla="*/ 0 w 33"/>
                  <a:gd name="T7" fmla="*/ 0 h 339"/>
                  <a:gd name="T8" fmla="*/ 0 w 33"/>
                  <a:gd name="T9" fmla="*/ 0 h 339"/>
                  <a:gd name="T10" fmla="*/ 0 w 33"/>
                  <a:gd name="T11" fmla="*/ 0 h 339"/>
                  <a:gd name="T12" fmla="*/ 0 w 33"/>
                  <a:gd name="T13" fmla="*/ 0 h 339"/>
                  <a:gd name="T14" fmla="*/ 0 w 33"/>
                  <a:gd name="T15" fmla="*/ 0 h 339"/>
                  <a:gd name="T16" fmla="*/ 0 w 33"/>
                  <a:gd name="T17" fmla="*/ 0 h 339"/>
                  <a:gd name="T18" fmla="*/ 0 w 33"/>
                  <a:gd name="T19" fmla="*/ 0 h 339"/>
                  <a:gd name="T20" fmla="*/ 0 w 33"/>
                  <a:gd name="T21" fmla="*/ 0 h 339"/>
                  <a:gd name="T22" fmla="*/ 0 w 33"/>
                  <a:gd name="T23" fmla="*/ 0 h 3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39">
                    <a:moveTo>
                      <a:pt x="0" y="339"/>
                    </a:moveTo>
                    <a:lnTo>
                      <a:pt x="0" y="42"/>
                    </a:lnTo>
                    <a:lnTo>
                      <a:pt x="4" y="36"/>
                    </a:lnTo>
                    <a:lnTo>
                      <a:pt x="8" y="31"/>
                    </a:lnTo>
                    <a:lnTo>
                      <a:pt x="11" y="26"/>
                    </a:lnTo>
                    <a:lnTo>
                      <a:pt x="16" y="20"/>
                    </a:lnTo>
                    <a:lnTo>
                      <a:pt x="20" y="15"/>
                    </a:lnTo>
                    <a:lnTo>
                      <a:pt x="24" y="10"/>
                    </a:lnTo>
                    <a:lnTo>
                      <a:pt x="28" y="6"/>
                    </a:lnTo>
                    <a:lnTo>
                      <a:pt x="33" y="0"/>
                    </a:lnTo>
                    <a:lnTo>
                      <a:pt x="33" y="339"/>
                    </a:lnTo>
                    <a:lnTo>
                      <a:pt x="0" y="33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93" name="Freeform 1547"/>
              <p:cNvSpPr>
                <a:spLocks noChangeAspect="1"/>
              </p:cNvSpPr>
              <p:nvPr/>
            </p:nvSpPr>
            <p:spPr bwMode="auto">
              <a:xfrm>
                <a:off x="5269" y="1050"/>
                <a:ext cx="11" cy="119"/>
              </a:xfrm>
              <a:custGeom>
                <a:avLst/>
                <a:gdLst>
                  <a:gd name="T0" fmla="*/ 0 w 32"/>
                  <a:gd name="T1" fmla="*/ 0 h 357"/>
                  <a:gd name="T2" fmla="*/ 0 w 32"/>
                  <a:gd name="T3" fmla="*/ 0 h 357"/>
                  <a:gd name="T4" fmla="*/ 0 w 32"/>
                  <a:gd name="T5" fmla="*/ 0 h 357"/>
                  <a:gd name="T6" fmla="*/ 0 w 32"/>
                  <a:gd name="T7" fmla="*/ 0 h 357"/>
                  <a:gd name="T8" fmla="*/ 0 w 32"/>
                  <a:gd name="T9" fmla="*/ 0 h 357"/>
                  <a:gd name="T10" fmla="*/ 0 w 32"/>
                  <a:gd name="T11" fmla="*/ 0 h 357"/>
                  <a:gd name="T12" fmla="*/ 0 w 32"/>
                  <a:gd name="T13" fmla="*/ 0 h 357"/>
                  <a:gd name="T14" fmla="*/ 0 w 32"/>
                  <a:gd name="T15" fmla="*/ 0 h 357"/>
                  <a:gd name="T16" fmla="*/ 0 w 32"/>
                  <a:gd name="T17" fmla="*/ 0 h 357"/>
                  <a:gd name="T18" fmla="*/ 0 w 32"/>
                  <a:gd name="T19" fmla="*/ 0 h 357"/>
                  <a:gd name="T20" fmla="*/ 0 w 32"/>
                  <a:gd name="T21" fmla="*/ 0 h 357"/>
                  <a:gd name="T22" fmla="*/ 0 w 32"/>
                  <a:gd name="T23" fmla="*/ 0 h 3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57">
                    <a:moveTo>
                      <a:pt x="0" y="357"/>
                    </a:moveTo>
                    <a:lnTo>
                      <a:pt x="0" y="37"/>
                    </a:lnTo>
                    <a:lnTo>
                      <a:pt x="3" y="33"/>
                    </a:lnTo>
                    <a:lnTo>
                      <a:pt x="7" y="28"/>
                    </a:lnTo>
                    <a:lnTo>
                      <a:pt x="11" y="24"/>
                    </a:lnTo>
                    <a:lnTo>
                      <a:pt x="15" y="18"/>
                    </a:lnTo>
                    <a:lnTo>
                      <a:pt x="19" y="14"/>
                    </a:lnTo>
                    <a:lnTo>
                      <a:pt x="23" y="10"/>
                    </a:lnTo>
                    <a:lnTo>
                      <a:pt x="27" y="6"/>
                    </a:lnTo>
                    <a:lnTo>
                      <a:pt x="32" y="0"/>
                    </a:lnTo>
                    <a:lnTo>
                      <a:pt x="32" y="357"/>
                    </a:lnTo>
                    <a:lnTo>
                      <a:pt x="0" y="35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94" name="Freeform 1548"/>
              <p:cNvSpPr>
                <a:spLocks noChangeAspect="1"/>
              </p:cNvSpPr>
              <p:nvPr/>
            </p:nvSpPr>
            <p:spPr bwMode="auto">
              <a:xfrm>
                <a:off x="5274" y="1045"/>
                <a:ext cx="11" cy="124"/>
              </a:xfrm>
              <a:custGeom>
                <a:avLst/>
                <a:gdLst>
                  <a:gd name="T0" fmla="*/ 0 w 32"/>
                  <a:gd name="T1" fmla="*/ 0 h 373"/>
                  <a:gd name="T2" fmla="*/ 0 w 32"/>
                  <a:gd name="T3" fmla="*/ 0 h 373"/>
                  <a:gd name="T4" fmla="*/ 0 w 32"/>
                  <a:gd name="T5" fmla="*/ 0 h 373"/>
                  <a:gd name="T6" fmla="*/ 0 w 32"/>
                  <a:gd name="T7" fmla="*/ 0 h 373"/>
                  <a:gd name="T8" fmla="*/ 0 w 32"/>
                  <a:gd name="T9" fmla="*/ 0 h 373"/>
                  <a:gd name="T10" fmla="*/ 0 w 32"/>
                  <a:gd name="T11" fmla="*/ 0 h 373"/>
                  <a:gd name="T12" fmla="*/ 0 w 32"/>
                  <a:gd name="T13" fmla="*/ 0 h 373"/>
                  <a:gd name="T14" fmla="*/ 0 w 32"/>
                  <a:gd name="T15" fmla="*/ 0 h 373"/>
                  <a:gd name="T16" fmla="*/ 0 w 32"/>
                  <a:gd name="T17" fmla="*/ 0 h 373"/>
                  <a:gd name="T18" fmla="*/ 0 w 32"/>
                  <a:gd name="T19" fmla="*/ 0 h 373"/>
                  <a:gd name="T20" fmla="*/ 0 w 32"/>
                  <a:gd name="T21" fmla="*/ 0 h 373"/>
                  <a:gd name="T22" fmla="*/ 0 w 32"/>
                  <a:gd name="T23" fmla="*/ 0 h 3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73">
                    <a:moveTo>
                      <a:pt x="0" y="373"/>
                    </a:moveTo>
                    <a:lnTo>
                      <a:pt x="0" y="34"/>
                    </a:lnTo>
                    <a:lnTo>
                      <a:pt x="3" y="30"/>
                    </a:lnTo>
                    <a:lnTo>
                      <a:pt x="7" y="26"/>
                    </a:lnTo>
                    <a:lnTo>
                      <a:pt x="11" y="22"/>
                    </a:lnTo>
                    <a:lnTo>
                      <a:pt x="16" y="17"/>
                    </a:lnTo>
                    <a:lnTo>
                      <a:pt x="19" y="13"/>
                    </a:lnTo>
                    <a:lnTo>
                      <a:pt x="23" y="9"/>
                    </a:lnTo>
                    <a:lnTo>
                      <a:pt x="27" y="4"/>
                    </a:lnTo>
                    <a:lnTo>
                      <a:pt x="32" y="0"/>
                    </a:lnTo>
                    <a:lnTo>
                      <a:pt x="32" y="373"/>
                    </a:lnTo>
                    <a:lnTo>
                      <a:pt x="0" y="37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95" name="Freeform 1549"/>
              <p:cNvSpPr>
                <a:spLocks noChangeAspect="1"/>
              </p:cNvSpPr>
              <p:nvPr/>
            </p:nvSpPr>
            <p:spPr bwMode="auto">
              <a:xfrm>
                <a:off x="5280" y="1040"/>
                <a:ext cx="10" cy="129"/>
              </a:xfrm>
              <a:custGeom>
                <a:avLst/>
                <a:gdLst>
                  <a:gd name="T0" fmla="*/ 0 w 32"/>
                  <a:gd name="T1" fmla="*/ 0 h 387"/>
                  <a:gd name="T2" fmla="*/ 0 w 32"/>
                  <a:gd name="T3" fmla="*/ 0 h 387"/>
                  <a:gd name="T4" fmla="*/ 0 w 32"/>
                  <a:gd name="T5" fmla="*/ 0 h 387"/>
                  <a:gd name="T6" fmla="*/ 0 w 32"/>
                  <a:gd name="T7" fmla="*/ 0 h 387"/>
                  <a:gd name="T8" fmla="*/ 0 w 32"/>
                  <a:gd name="T9" fmla="*/ 0 h 387"/>
                  <a:gd name="T10" fmla="*/ 0 w 32"/>
                  <a:gd name="T11" fmla="*/ 0 h 387"/>
                  <a:gd name="T12" fmla="*/ 0 w 32"/>
                  <a:gd name="T13" fmla="*/ 0 h 387"/>
                  <a:gd name="T14" fmla="*/ 0 w 32"/>
                  <a:gd name="T15" fmla="*/ 0 h 387"/>
                  <a:gd name="T16" fmla="*/ 0 w 32"/>
                  <a:gd name="T17" fmla="*/ 0 h 387"/>
                  <a:gd name="T18" fmla="*/ 0 w 32"/>
                  <a:gd name="T19" fmla="*/ 0 h 387"/>
                  <a:gd name="T20" fmla="*/ 0 w 32"/>
                  <a:gd name="T21" fmla="*/ 0 h 387"/>
                  <a:gd name="T22" fmla="*/ 0 w 32"/>
                  <a:gd name="T23" fmla="*/ 0 h 38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87">
                    <a:moveTo>
                      <a:pt x="0" y="387"/>
                    </a:moveTo>
                    <a:lnTo>
                      <a:pt x="0" y="30"/>
                    </a:lnTo>
                    <a:lnTo>
                      <a:pt x="4" y="27"/>
                    </a:lnTo>
                    <a:lnTo>
                      <a:pt x="7" y="23"/>
                    </a:lnTo>
                    <a:lnTo>
                      <a:pt x="11" y="18"/>
                    </a:lnTo>
                    <a:lnTo>
                      <a:pt x="16" y="15"/>
                    </a:lnTo>
                    <a:lnTo>
                      <a:pt x="20" y="11"/>
                    </a:lnTo>
                    <a:lnTo>
                      <a:pt x="24" y="8"/>
                    </a:lnTo>
                    <a:lnTo>
                      <a:pt x="27" y="4"/>
                    </a:lnTo>
                    <a:lnTo>
                      <a:pt x="32" y="0"/>
                    </a:lnTo>
                    <a:lnTo>
                      <a:pt x="32" y="387"/>
                    </a:lnTo>
                    <a:lnTo>
                      <a:pt x="0" y="38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96" name="Freeform 1550"/>
              <p:cNvSpPr>
                <a:spLocks noChangeAspect="1"/>
              </p:cNvSpPr>
              <p:nvPr/>
            </p:nvSpPr>
            <p:spPr bwMode="auto">
              <a:xfrm>
                <a:off x="5285" y="1036"/>
                <a:ext cx="11" cy="133"/>
              </a:xfrm>
              <a:custGeom>
                <a:avLst/>
                <a:gdLst>
                  <a:gd name="T0" fmla="*/ 0 w 33"/>
                  <a:gd name="T1" fmla="*/ 0 h 400"/>
                  <a:gd name="T2" fmla="*/ 0 w 33"/>
                  <a:gd name="T3" fmla="*/ 0 h 400"/>
                  <a:gd name="T4" fmla="*/ 0 w 33"/>
                  <a:gd name="T5" fmla="*/ 0 h 400"/>
                  <a:gd name="T6" fmla="*/ 0 w 33"/>
                  <a:gd name="T7" fmla="*/ 0 h 400"/>
                  <a:gd name="T8" fmla="*/ 0 w 33"/>
                  <a:gd name="T9" fmla="*/ 0 h 400"/>
                  <a:gd name="T10" fmla="*/ 0 w 33"/>
                  <a:gd name="T11" fmla="*/ 0 h 400"/>
                  <a:gd name="T12" fmla="*/ 0 w 33"/>
                  <a:gd name="T13" fmla="*/ 0 h 400"/>
                  <a:gd name="T14" fmla="*/ 0 w 33"/>
                  <a:gd name="T15" fmla="*/ 0 h 400"/>
                  <a:gd name="T16" fmla="*/ 0 w 33"/>
                  <a:gd name="T17" fmla="*/ 0 h 400"/>
                  <a:gd name="T18" fmla="*/ 0 w 33"/>
                  <a:gd name="T19" fmla="*/ 0 h 400"/>
                  <a:gd name="T20" fmla="*/ 0 w 33"/>
                  <a:gd name="T21" fmla="*/ 0 h 400"/>
                  <a:gd name="T22" fmla="*/ 0 w 33"/>
                  <a:gd name="T23" fmla="*/ 0 h 4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00">
                    <a:moveTo>
                      <a:pt x="0" y="400"/>
                    </a:moveTo>
                    <a:lnTo>
                      <a:pt x="0" y="27"/>
                    </a:lnTo>
                    <a:lnTo>
                      <a:pt x="4" y="24"/>
                    </a:lnTo>
                    <a:lnTo>
                      <a:pt x="8" y="21"/>
                    </a:lnTo>
                    <a:lnTo>
                      <a:pt x="11" y="17"/>
                    </a:lnTo>
                    <a:lnTo>
                      <a:pt x="16" y="13"/>
                    </a:lnTo>
                    <a:lnTo>
                      <a:pt x="20" y="10"/>
                    </a:lnTo>
                    <a:lnTo>
                      <a:pt x="24" y="7"/>
                    </a:lnTo>
                    <a:lnTo>
                      <a:pt x="28" y="3"/>
                    </a:lnTo>
                    <a:lnTo>
                      <a:pt x="33" y="0"/>
                    </a:lnTo>
                    <a:lnTo>
                      <a:pt x="33" y="400"/>
                    </a:lnTo>
                    <a:lnTo>
                      <a:pt x="0" y="4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97" name="Freeform 1551"/>
              <p:cNvSpPr>
                <a:spLocks noChangeAspect="1"/>
              </p:cNvSpPr>
              <p:nvPr/>
            </p:nvSpPr>
            <p:spPr bwMode="auto">
              <a:xfrm>
                <a:off x="5290" y="1032"/>
                <a:ext cx="11" cy="137"/>
              </a:xfrm>
              <a:custGeom>
                <a:avLst/>
                <a:gdLst>
                  <a:gd name="T0" fmla="*/ 0 w 33"/>
                  <a:gd name="T1" fmla="*/ 0 h 412"/>
                  <a:gd name="T2" fmla="*/ 0 w 33"/>
                  <a:gd name="T3" fmla="*/ 0 h 412"/>
                  <a:gd name="T4" fmla="*/ 0 w 33"/>
                  <a:gd name="T5" fmla="*/ 0 h 412"/>
                  <a:gd name="T6" fmla="*/ 0 w 33"/>
                  <a:gd name="T7" fmla="*/ 0 h 412"/>
                  <a:gd name="T8" fmla="*/ 0 w 33"/>
                  <a:gd name="T9" fmla="*/ 0 h 412"/>
                  <a:gd name="T10" fmla="*/ 0 w 33"/>
                  <a:gd name="T11" fmla="*/ 0 h 412"/>
                  <a:gd name="T12" fmla="*/ 0 w 33"/>
                  <a:gd name="T13" fmla="*/ 0 h 412"/>
                  <a:gd name="T14" fmla="*/ 0 w 33"/>
                  <a:gd name="T15" fmla="*/ 0 h 412"/>
                  <a:gd name="T16" fmla="*/ 0 w 33"/>
                  <a:gd name="T17" fmla="*/ 0 h 412"/>
                  <a:gd name="T18" fmla="*/ 0 w 33"/>
                  <a:gd name="T19" fmla="*/ 0 h 412"/>
                  <a:gd name="T20" fmla="*/ 0 w 33"/>
                  <a:gd name="T21" fmla="*/ 0 h 412"/>
                  <a:gd name="T22" fmla="*/ 0 w 33"/>
                  <a:gd name="T23" fmla="*/ 0 h 4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12">
                    <a:moveTo>
                      <a:pt x="0" y="412"/>
                    </a:moveTo>
                    <a:lnTo>
                      <a:pt x="0" y="25"/>
                    </a:lnTo>
                    <a:lnTo>
                      <a:pt x="4" y="22"/>
                    </a:lnTo>
                    <a:lnTo>
                      <a:pt x="8" y="19"/>
                    </a:lnTo>
                    <a:lnTo>
                      <a:pt x="12" y="16"/>
                    </a:lnTo>
                    <a:lnTo>
                      <a:pt x="16" y="13"/>
                    </a:lnTo>
                    <a:lnTo>
                      <a:pt x="20" y="9"/>
                    </a:lnTo>
                    <a:lnTo>
                      <a:pt x="24" y="6"/>
                    </a:lnTo>
                    <a:lnTo>
                      <a:pt x="28" y="3"/>
                    </a:lnTo>
                    <a:lnTo>
                      <a:pt x="33" y="0"/>
                    </a:lnTo>
                    <a:lnTo>
                      <a:pt x="33" y="412"/>
                    </a:lnTo>
                    <a:lnTo>
                      <a:pt x="0" y="41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98" name="Freeform 1552"/>
              <p:cNvSpPr>
                <a:spLocks noChangeAspect="1"/>
              </p:cNvSpPr>
              <p:nvPr/>
            </p:nvSpPr>
            <p:spPr bwMode="auto">
              <a:xfrm>
                <a:off x="5296" y="1028"/>
                <a:ext cx="11" cy="141"/>
              </a:xfrm>
              <a:custGeom>
                <a:avLst/>
                <a:gdLst>
                  <a:gd name="T0" fmla="*/ 0 w 32"/>
                  <a:gd name="T1" fmla="*/ 0 h 423"/>
                  <a:gd name="T2" fmla="*/ 0 w 32"/>
                  <a:gd name="T3" fmla="*/ 0 h 423"/>
                  <a:gd name="T4" fmla="*/ 0 w 32"/>
                  <a:gd name="T5" fmla="*/ 0 h 423"/>
                  <a:gd name="T6" fmla="*/ 0 w 32"/>
                  <a:gd name="T7" fmla="*/ 0 h 423"/>
                  <a:gd name="T8" fmla="*/ 0 w 32"/>
                  <a:gd name="T9" fmla="*/ 0 h 423"/>
                  <a:gd name="T10" fmla="*/ 0 w 32"/>
                  <a:gd name="T11" fmla="*/ 0 h 423"/>
                  <a:gd name="T12" fmla="*/ 0 w 32"/>
                  <a:gd name="T13" fmla="*/ 0 h 423"/>
                  <a:gd name="T14" fmla="*/ 0 w 32"/>
                  <a:gd name="T15" fmla="*/ 0 h 423"/>
                  <a:gd name="T16" fmla="*/ 0 w 32"/>
                  <a:gd name="T17" fmla="*/ 0 h 423"/>
                  <a:gd name="T18" fmla="*/ 0 w 32"/>
                  <a:gd name="T19" fmla="*/ 0 h 423"/>
                  <a:gd name="T20" fmla="*/ 0 w 32"/>
                  <a:gd name="T21" fmla="*/ 0 h 423"/>
                  <a:gd name="T22" fmla="*/ 0 w 32"/>
                  <a:gd name="T23" fmla="*/ 0 h 42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23">
                    <a:moveTo>
                      <a:pt x="0" y="423"/>
                    </a:moveTo>
                    <a:lnTo>
                      <a:pt x="0" y="23"/>
                    </a:lnTo>
                    <a:lnTo>
                      <a:pt x="3" y="19"/>
                    </a:lnTo>
                    <a:lnTo>
                      <a:pt x="7" y="17"/>
                    </a:lnTo>
                    <a:lnTo>
                      <a:pt x="11" y="14"/>
                    </a:lnTo>
                    <a:lnTo>
                      <a:pt x="16" y="11"/>
                    </a:lnTo>
                    <a:lnTo>
                      <a:pt x="19" y="8"/>
                    </a:lnTo>
                    <a:lnTo>
                      <a:pt x="23" y="6"/>
                    </a:lnTo>
                    <a:lnTo>
                      <a:pt x="27" y="2"/>
                    </a:lnTo>
                    <a:lnTo>
                      <a:pt x="32" y="0"/>
                    </a:lnTo>
                    <a:lnTo>
                      <a:pt x="32" y="423"/>
                    </a:lnTo>
                    <a:lnTo>
                      <a:pt x="0" y="42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99" name="Freeform 1553"/>
              <p:cNvSpPr>
                <a:spLocks noChangeAspect="1"/>
              </p:cNvSpPr>
              <p:nvPr/>
            </p:nvSpPr>
            <p:spPr bwMode="auto">
              <a:xfrm>
                <a:off x="5301" y="1025"/>
                <a:ext cx="11" cy="144"/>
              </a:xfrm>
              <a:custGeom>
                <a:avLst/>
                <a:gdLst>
                  <a:gd name="T0" fmla="*/ 0 w 32"/>
                  <a:gd name="T1" fmla="*/ 0 h 433"/>
                  <a:gd name="T2" fmla="*/ 0 w 32"/>
                  <a:gd name="T3" fmla="*/ 0 h 433"/>
                  <a:gd name="T4" fmla="*/ 0 w 32"/>
                  <a:gd name="T5" fmla="*/ 0 h 433"/>
                  <a:gd name="T6" fmla="*/ 0 w 32"/>
                  <a:gd name="T7" fmla="*/ 0 h 433"/>
                  <a:gd name="T8" fmla="*/ 0 w 32"/>
                  <a:gd name="T9" fmla="*/ 0 h 433"/>
                  <a:gd name="T10" fmla="*/ 0 w 32"/>
                  <a:gd name="T11" fmla="*/ 0 h 433"/>
                  <a:gd name="T12" fmla="*/ 0 w 32"/>
                  <a:gd name="T13" fmla="*/ 0 h 433"/>
                  <a:gd name="T14" fmla="*/ 0 w 32"/>
                  <a:gd name="T15" fmla="*/ 0 h 433"/>
                  <a:gd name="T16" fmla="*/ 0 w 32"/>
                  <a:gd name="T17" fmla="*/ 0 h 433"/>
                  <a:gd name="T18" fmla="*/ 0 w 32"/>
                  <a:gd name="T19" fmla="*/ 0 h 433"/>
                  <a:gd name="T20" fmla="*/ 0 w 32"/>
                  <a:gd name="T21" fmla="*/ 0 h 433"/>
                  <a:gd name="T22" fmla="*/ 0 w 32"/>
                  <a:gd name="T23" fmla="*/ 0 h 4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33">
                    <a:moveTo>
                      <a:pt x="0" y="433"/>
                    </a:moveTo>
                    <a:lnTo>
                      <a:pt x="0" y="21"/>
                    </a:lnTo>
                    <a:lnTo>
                      <a:pt x="3" y="18"/>
                    </a:lnTo>
                    <a:lnTo>
                      <a:pt x="7" y="16"/>
                    </a:lnTo>
                    <a:lnTo>
                      <a:pt x="11" y="12"/>
                    </a:lnTo>
                    <a:lnTo>
                      <a:pt x="16" y="10"/>
                    </a:lnTo>
                    <a:lnTo>
                      <a:pt x="20" y="7"/>
                    </a:lnTo>
                    <a:lnTo>
                      <a:pt x="23" y="5"/>
                    </a:lnTo>
                    <a:lnTo>
                      <a:pt x="27" y="3"/>
                    </a:lnTo>
                    <a:lnTo>
                      <a:pt x="32" y="0"/>
                    </a:lnTo>
                    <a:lnTo>
                      <a:pt x="32" y="433"/>
                    </a:lnTo>
                    <a:lnTo>
                      <a:pt x="0" y="43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00" name="Freeform 1554"/>
              <p:cNvSpPr>
                <a:spLocks noChangeAspect="1"/>
              </p:cNvSpPr>
              <p:nvPr/>
            </p:nvSpPr>
            <p:spPr bwMode="auto">
              <a:xfrm>
                <a:off x="5307" y="1022"/>
                <a:ext cx="10" cy="147"/>
              </a:xfrm>
              <a:custGeom>
                <a:avLst/>
                <a:gdLst>
                  <a:gd name="T0" fmla="*/ 0 w 31"/>
                  <a:gd name="T1" fmla="*/ 0 h 442"/>
                  <a:gd name="T2" fmla="*/ 0 w 31"/>
                  <a:gd name="T3" fmla="*/ 0 h 442"/>
                  <a:gd name="T4" fmla="*/ 0 w 31"/>
                  <a:gd name="T5" fmla="*/ 0 h 442"/>
                  <a:gd name="T6" fmla="*/ 0 w 31"/>
                  <a:gd name="T7" fmla="*/ 0 h 442"/>
                  <a:gd name="T8" fmla="*/ 0 w 31"/>
                  <a:gd name="T9" fmla="*/ 0 h 442"/>
                  <a:gd name="T10" fmla="*/ 0 w 31"/>
                  <a:gd name="T11" fmla="*/ 0 h 442"/>
                  <a:gd name="T12" fmla="*/ 0 w 31"/>
                  <a:gd name="T13" fmla="*/ 0 h 442"/>
                  <a:gd name="T14" fmla="*/ 0 w 31"/>
                  <a:gd name="T15" fmla="*/ 0 h 442"/>
                  <a:gd name="T16" fmla="*/ 0 w 31"/>
                  <a:gd name="T17" fmla="*/ 0 h 442"/>
                  <a:gd name="T18" fmla="*/ 0 w 31"/>
                  <a:gd name="T19" fmla="*/ 0 h 442"/>
                  <a:gd name="T20" fmla="*/ 0 w 31"/>
                  <a:gd name="T21" fmla="*/ 0 h 442"/>
                  <a:gd name="T22" fmla="*/ 0 w 31"/>
                  <a:gd name="T23" fmla="*/ 0 h 4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442">
                    <a:moveTo>
                      <a:pt x="0" y="442"/>
                    </a:moveTo>
                    <a:lnTo>
                      <a:pt x="0" y="19"/>
                    </a:lnTo>
                    <a:lnTo>
                      <a:pt x="4" y="16"/>
                    </a:lnTo>
                    <a:lnTo>
                      <a:pt x="7" y="14"/>
                    </a:lnTo>
                    <a:lnTo>
                      <a:pt x="11" y="12"/>
                    </a:lnTo>
                    <a:lnTo>
                      <a:pt x="16" y="9"/>
                    </a:lnTo>
                    <a:lnTo>
                      <a:pt x="20" y="7"/>
                    </a:lnTo>
                    <a:lnTo>
                      <a:pt x="24" y="4"/>
                    </a:lnTo>
                    <a:lnTo>
                      <a:pt x="27" y="2"/>
                    </a:lnTo>
                    <a:lnTo>
                      <a:pt x="31" y="0"/>
                    </a:lnTo>
                    <a:lnTo>
                      <a:pt x="31" y="442"/>
                    </a:lnTo>
                    <a:lnTo>
                      <a:pt x="0" y="44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01" name="Freeform 1555"/>
              <p:cNvSpPr>
                <a:spLocks noChangeAspect="1"/>
              </p:cNvSpPr>
              <p:nvPr/>
            </p:nvSpPr>
            <p:spPr bwMode="auto">
              <a:xfrm>
                <a:off x="5312" y="1019"/>
                <a:ext cx="11" cy="150"/>
              </a:xfrm>
              <a:custGeom>
                <a:avLst/>
                <a:gdLst>
                  <a:gd name="T0" fmla="*/ 0 w 33"/>
                  <a:gd name="T1" fmla="*/ 0 h 450"/>
                  <a:gd name="T2" fmla="*/ 0 w 33"/>
                  <a:gd name="T3" fmla="*/ 0 h 450"/>
                  <a:gd name="T4" fmla="*/ 0 w 33"/>
                  <a:gd name="T5" fmla="*/ 0 h 450"/>
                  <a:gd name="T6" fmla="*/ 0 w 33"/>
                  <a:gd name="T7" fmla="*/ 0 h 450"/>
                  <a:gd name="T8" fmla="*/ 0 w 33"/>
                  <a:gd name="T9" fmla="*/ 0 h 450"/>
                  <a:gd name="T10" fmla="*/ 0 w 33"/>
                  <a:gd name="T11" fmla="*/ 0 h 450"/>
                  <a:gd name="T12" fmla="*/ 0 w 33"/>
                  <a:gd name="T13" fmla="*/ 0 h 450"/>
                  <a:gd name="T14" fmla="*/ 0 w 33"/>
                  <a:gd name="T15" fmla="*/ 0 h 450"/>
                  <a:gd name="T16" fmla="*/ 0 w 33"/>
                  <a:gd name="T17" fmla="*/ 0 h 450"/>
                  <a:gd name="T18" fmla="*/ 0 w 33"/>
                  <a:gd name="T19" fmla="*/ 0 h 450"/>
                  <a:gd name="T20" fmla="*/ 0 w 33"/>
                  <a:gd name="T21" fmla="*/ 0 h 450"/>
                  <a:gd name="T22" fmla="*/ 0 w 33"/>
                  <a:gd name="T23" fmla="*/ 0 h 4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50">
                    <a:moveTo>
                      <a:pt x="0" y="450"/>
                    </a:moveTo>
                    <a:lnTo>
                      <a:pt x="0" y="17"/>
                    </a:lnTo>
                    <a:lnTo>
                      <a:pt x="4" y="15"/>
                    </a:lnTo>
                    <a:lnTo>
                      <a:pt x="8" y="12"/>
                    </a:lnTo>
                    <a:lnTo>
                      <a:pt x="11" y="10"/>
                    </a:lnTo>
                    <a:lnTo>
                      <a:pt x="15" y="8"/>
                    </a:lnTo>
                    <a:lnTo>
                      <a:pt x="20" y="6"/>
                    </a:lnTo>
                    <a:lnTo>
                      <a:pt x="24" y="4"/>
                    </a:lnTo>
                    <a:lnTo>
                      <a:pt x="28" y="2"/>
                    </a:lnTo>
                    <a:lnTo>
                      <a:pt x="33" y="0"/>
                    </a:lnTo>
                    <a:lnTo>
                      <a:pt x="33" y="450"/>
                    </a:lnTo>
                    <a:lnTo>
                      <a:pt x="0" y="45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02" name="Freeform 1556"/>
              <p:cNvSpPr>
                <a:spLocks noChangeAspect="1"/>
              </p:cNvSpPr>
              <p:nvPr/>
            </p:nvSpPr>
            <p:spPr bwMode="auto">
              <a:xfrm>
                <a:off x="5317" y="1017"/>
                <a:ext cx="11" cy="152"/>
              </a:xfrm>
              <a:custGeom>
                <a:avLst/>
                <a:gdLst>
                  <a:gd name="T0" fmla="*/ 0 w 33"/>
                  <a:gd name="T1" fmla="*/ 0 h 458"/>
                  <a:gd name="T2" fmla="*/ 0 w 33"/>
                  <a:gd name="T3" fmla="*/ 0 h 458"/>
                  <a:gd name="T4" fmla="*/ 0 w 33"/>
                  <a:gd name="T5" fmla="*/ 0 h 458"/>
                  <a:gd name="T6" fmla="*/ 0 w 33"/>
                  <a:gd name="T7" fmla="*/ 0 h 458"/>
                  <a:gd name="T8" fmla="*/ 0 w 33"/>
                  <a:gd name="T9" fmla="*/ 0 h 458"/>
                  <a:gd name="T10" fmla="*/ 0 w 33"/>
                  <a:gd name="T11" fmla="*/ 0 h 458"/>
                  <a:gd name="T12" fmla="*/ 0 w 33"/>
                  <a:gd name="T13" fmla="*/ 0 h 458"/>
                  <a:gd name="T14" fmla="*/ 0 w 33"/>
                  <a:gd name="T15" fmla="*/ 0 h 458"/>
                  <a:gd name="T16" fmla="*/ 0 w 33"/>
                  <a:gd name="T17" fmla="*/ 0 h 458"/>
                  <a:gd name="T18" fmla="*/ 0 w 33"/>
                  <a:gd name="T19" fmla="*/ 0 h 458"/>
                  <a:gd name="T20" fmla="*/ 0 w 33"/>
                  <a:gd name="T21" fmla="*/ 0 h 458"/>
                  <a:gd name="T22" fmla="*/ 0 w 33"/>
                  <a:gd name="T23" fmla="*/ 0 h 4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58">
                    <a:moveTo>
                      <a:pt x="0" y="458"/>
                    </a:moveTo>
                    <a:lnTo>
                      <a:pt x="0" y="16"/>
                    </a:lnTo>
                    <a:lnTo>
                      <a:pt x="5" y="14"/>
                    </a:lnTo>
                    <a:lnTo>
                      <a:pt x="9" y="12"/>
                    </a:lnTo>
                    <a:lnTo>
                      <a:pt x="13" y="10"/>
                    </a:lnTo>
                    <a:lnTo>
                      <a:pt x="16" y="8"/>
                    </a:lnTo>
                    <a:lnTo>
                      <a:pt x="21" y="6"/>
                    </a:lnTo>
                    <a:lnTo>
                      <a:pt x="25" y="3"/>
                    </a:lnTo>
                    <a:lnTo>
                      <a:pt x="29" y="1"/>
                    </a:lnTo>
                    <a:lnTo>
                      <a:pt x="33" y="0"/>
                    </a:lnTo>
                    <a:lnTo>
                      <a:pt x="33" y="458"/>
                    </a:lnTo>
                    <a:lnTo>
                      <a:pt x="0" y="45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03" name="Freeform 1557"/>
              <p:cNvSpPr>
                <a:spLocks noChangeAspect="1"/>
              </p:cNvSpPr>
              <p:nvPr/>
            </p:nvSpPr>
            <p:spPr bwMode="auto">
              <a:xfrm>
                <a:off x="5323" y="1014"/>
                <a:ext cx="10" cy="155"/>
              </a:xfrm>
              <a:custGeom>
                <a:avLst/>
                <a:gdLst>
                  <a:gd name="T0" fmla="*/ 0 w 31"/>
                  <a:gd name="T1" fmla="*/ 0 h 465"/>
                  <a:gd name="T2" fmla="*/ 0 w 31"/>
                  <a:gd name="T3" fmla="*/ 0 h 465"/>
                  <a:gd name="T4" fmla="*/ 0 w 31"/>
                  <a:gd name="T5" fmla="*/ 0 h 465"/>
                  <a:gd name="T6" fmla="*/ 0 w 31"/>
                  <a:gd name="T7" fmla="*/ 0 h 465"/>
                  <a:gd name="T8" fmla="*/ 0 w 31"/>
                  <a:gd name="T9" fmla="*/ 0 h 465"/>
                  <a:gd name="T10" fmla="*/ 0 w 31"/>
                  <a:gd name="T11" fmla="*/ 0 h 465"/>
                  <a:gd name="T12" fmla="*/ 0 w 31"/>
                  <a:gd name="T13" fmla="*/ 0 h 465"/>
                  <a:gd name="T14" fmla="*/ 0 w 31"/>
                  <a:gd name="T15" fmla="*/ 0 h 465"/>
                  <a:gd name="T16" fmla="*/ 0 w 31"/>
                  <a:gd name="T17" fmla="*/ 0 h 465"/>
                  <a:gd name="T18" fmla="*/ 0 w 31"/>
                  <a:gd name="T19" fmla="*/ 0 h 465"/>
                  <a:gd name="T20" fmla="*/ 0 w 31"/>
                  <a:gd name="T21" fmla="*/ 0 h 465"/>
                  <a:gd name="T22" fmla="*/ 0 w 31"/>
                  <a:gd name="T23" fmla="*/ 0 h 4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465">
                    <a:moveTo>
                      <a:pt x="0" y="465"/>
                    </a:moveTo>
                    <a:lnTo>
                      <a:pt x="0" y="15"/>
                    </a:lnTo>
                    <a:lnTo>
                      <a:pt x="3" y="13"/>
                    </a:lnTo>
                    <a:lnTo>
                      <a:pt x="7" y="10"/>
                    </a:lnTo>
                    <a:lnTo>
                      <a:pt x="11" y="8"/>
                    </a:lnTo>
                    <a:lnTo>
                      <a:pt x="15" y="7"/>
                    </a:lnTo>
                    <a:lnTo>
                      <a:pt x="19" y="5"/>
                    </a:lnTo>
                    <a:lnTo>
                      <a:pt x="23" y="3"/>
                    </a:lnTo>
                    <a:lnTo>
                      <a:pt x="27" y="2"/>
                    </a:lnTo>
                    <a:lnTo>
                      <a:pt x="31" y="0"/>
                    </a:lnTo>
                    <a:lnTo>
                      <a:pt x="31" y="465"/>
                    </a:lnTo>
                    <a:lnTo>
                      <a:pt x="0" y="4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04" name="Freeform 1558"/>
              <p:cNvSpPr>
                <a:spLocks noChangeAspect="1"/>
              </p:cNvSpPr>
              <p:nvPr/>
            </p:nvSpPr>
            <p:spPr bwMode="auto">
              <a:xfrm>
                <a:off x="5328" y="1012"/>
                <a:ext cx="11" cy="157"/>
              </a:xfrm>
              <a:custGeom>
                <a:avLst/>
                <a:gdLst>
                  <a:gd name="T0" fmla="*/ 0 w 32"/>
                  <a:gd name="T1" fmla="*/ 0 h 471"/>
                  <a:gd name="T2" fmla="*/ 0 w 32"/>
                  <a:gd name="T3" fmla="*/ 0 h 471"/>
                  <a:gd name="T4" fmla="*/ 0 w 32"/>
                  <a:gd name="T5" fmla="*/ 0 h 471"/>
                  <a:gd name="T6" fmla="*/ 0 w 32"/>
                  <a:gd name="T7" fmla="*/ 0 h 471"/>
                  <a:gd name="T8" fmla="*/ 0 w 32"/>
                  <a:gd name="T9" fmla="*/ 0 h 471"/>
                  <a:gd name="T10" fmla="*/ 0 w 32"/>
                  <a:gd name="T11" fmla="*/ 0 h 471"/>
                  <a:gd name="T12" fmla="*/ 0 w 32"/>
                  <a:gd name="T13" fmla="*/ 0 h 471"/>
                  <a:gd name="T14" fmla="*/ 0 w 32"/>
                  <a:gd name="T15" fmla="*/ 0 h 471"/>
                  <a:gd name="T16" fmla="*/ 0 w 32"/>
                  <a:gd name="T17" fmla="*/ 0 h 471"/>
                  <a:gd name="T18" fmla="*/ 0 w 32"/>
                  <a:gd name="T19" fmla="*/ 0 h 471"/>
                  <a:gd name="T20" fmla="*/ 0 w 32"/>
                  <a:gd name="T21" fmla="*/ 0 h 471"/>
                  <a:gd name="T22" fmla="*/ 0 w 32"/>
                  <a:gd name="T23" fmla="*/ 0 h 47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71">
                    <a:moveTo>
                      <a:pt x="0" y="471"/>
                    </a:moveTo>
                    <a:lnTo>
                      <a:pt x="0" y="13"/>
                    </a:lnTo>
                    <a:lnTo>
                      <a:pt x="4" y="11"/>
                    </a:lnTo>
                    <a:lnTo>
                      <a:pt x="8" y="9"/>
                    </a:lnTo>
                    <a:lnTo>
                      <a:pt x="12" y="8"/>
                    </a:lnTo>
                    <a:lnTo>
                      <a:pt x="16" y="6"/>
                    </a:lnTo>
                    <a:lnTo>
                      <a:pt x="21" y="5"/>
                    </a:lnTo>
                    <a:lnTo>
                      <a:pt x="24" y="3"/>
                    </a:lnTo>
                    <a:lnTo>
                      <a:pt x="28" y="1"/>
                    </a:lnTo>
                    <a:lnTo>
                      <a:pt x="32" y="0"/>
                    </a:lnTo>
                    <a:lnTo>
                      <a:pt x="32" y="471"/>
                    </a:lnTo>
                    <a:lnTo>
                      <a:pt x="0" y="47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05" name="Freeform 1559"/>
              <p:cNvSpPr>
                <a:spLocks noChangeAspect="1"/>
              </p:cNvSpPr>
              <p:nvPr/>
            </p:nvSpPr>
            <p:spPr bwMode="auto">
              <a:xfrm>
                <a:off x="5333" y="1010"/>
                <a:ext cx="11" cy="159"/>
              </a:xfrm>
              <a:custGeom>
                <a:avLst/>
                <a:gdLst>
                  <a:gd name="T0" fmla="*/ 0 w 32"/>
                  <a:gd name="T1" fmla="*/ 0 h 477"/>
                  <a:gd name="T2" fmla="*/ 0 w 32"/>
                  <a:gd name="T3" fmla="*/ 0 h 477"/>
                  <a:gd name="T4" fmla="*/ 0 w 32"/>
                  <a:gd name="T5" fmla="*/ 0 h 477"/>
                  <a:gd name="T6" fmla="*/ 0 w 32"/>
                  <a:gd name="T7" fmla="*/ 0 h 477"/>
                  <a:gd name="T8" fmla="*/ 0 w 32"/>
                  <a:gd name="T9" fmla="*/ 0 h 477"/>
                  <a:gd name="T10" fmla="*/ 0 w 32"/>
                  <a:gd name="T11" fmla="*/ 0 h 477"/>
                  <a:gd name="T12" fmla="*/ 0 w 32"/>
                  <a:gd name="T13" fmla="*/ 0 h 477"/>
                  <a:gd name="T14" fmla="*/ 0 w 32"/>
                  <a:gd name="T15" fmla="*/ 0 h 477"/>
                  <a:gd name="T16" fmla="*/ 0 w 32"/>
                  <a:gd name="T17" fmla="*/ 0 h 477"/>
                  <a:gd name="T18" fmla="*/ 0 w 32"/>
                  <a:gd name="T19" fmla="*/ 0 h 477"/>
                  <a:gd name="T20" fmla="*/ 0 w 32"/>
                  <a:gd name="T21" fmla="*/ 0 h 477"/>
                  <a:gd name="T22" fmla="*/ 0 w 32"/>
                  <a:gd name="T23" fmla="*/ 0 h 4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77">
                    <a:moveTo>
                      <a:pt x="0" y="477"/>
                    </a:moveTo>
                    <a:lnTo>
                      <a:pt x="0" y="12"/>
                    </a:lnTo>
                    <a:lnTo>
                      <a:pt x="5" y="11"/>
                    </a:lnTo>
                    <a:lnTo>
                      <a:pt x="8" y="9"/>
                    </a:lnTo>
                    <a:lnTo>
                      <a:pt x="12" y="7"/>
                    </a:lnTo>
                    <a:lnTo>
                      <a:pt x="16" y="6"/>
                    </a:lnTo>
                    <a:lnTo>
                      <a:pt x="21" y="4"/>
                    </a:lnTo>
                    <a:lnTo>
                      <a:pt x="25" y="3"/>
                    </a:lnTo>
                    <a:lnTo>
                      <a:pt x="28" y="2"/>
                    </a:lnTo>
                    <a:lnTo>
                      <a:pt x="32" y="0"/>
                    </a:lnTo>
                    <a:lnTo>
                      <a:pt x="32" y="477"/>
                    </a:lnTo>
                    <a:lnTo>
                      <a:pt x="0" y="47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06" name="Freeform 1560"/>
              <p:cNvSpPr>
                <a:spLocks noChangeAspect="1"/>
              </p:cNvSpPr>
              <p:nvPr/>
            </p:nvSpPr>
            <p:spPr bwMode="auto">
              <a:xfrm>
                <a:off x="5339" y="1009"/>
                <a:ext cx="10" cy="160"/>
              </a:xfrm>
              <a:custGeom>
                <a:avLst/>
                <a:gdLst>
                  <a:gd name="T0" fmla="*/ 0 w 32"/>
                  <a:gd name="T1" fmla="*/ 0 h 481"/>
                  <a:gd name="T2" fmla="*/ 0 w 32"/>
                  <a:gd name="T3" fmla="*/ 0 h 481"/>
                  <a:gd name="T4" fmla="*/ 0 w 32"/>
                  <a:gd name="T5" fmla="*/ 0 h 481"/>
                  <a:gd name="T6" fmla="*/ 0 w 32"/>
                  <a:gd name="T7" fmla="*/ 0 h 481"/>
                  <a:gd name="T8" fmla="*/ 0 w 32"/>
                  <a:gd name="T9" fmla="*/ 0 h 481"/>
                  <a:gd name="T10" fmla="*/ 0 w 32"/>
                  <a:gd name="T11" fmla="*/ 0 h 481"/>
                  <a:gd name="T12" fmla="*/ 0 w 32"/>
                  <a:gd name="T13" fmla="*/ 0 h 481"/>
                  <a:gd name="T14" fmla="*/ 0 w 32"/>
                  <a:gd name="T15" fmla="*/ 0 h 481"/>
                  <a:gd name="T16" fmla="*/ 0 w 32"/>
                  <a:gd name="T17" fmla="*/ 0 h 481"/>
                  <a:gd name="T18" fmla="*/ 0 w 32"/>
                  <a:gd name="T19" fmla="*/ 0 h 481"/>
                  <a:gd name="T20" fmla="*/ 0 w 32"/>
                  <a:gd name="T21" fmla="*/ 0 h 481"/>
                  <a:gd name="T22" fmla="*/ 0 w 32"/>
                  <a:gd name="T23" fmla="*/ 0 h 4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81">
                    <a:moveTo>
                      <a:pt x="0" y="481"/>
                    </a:moveTo>
                    <a:lnTo>
                      <a:pt x="0" y="10"/>
                    </a:lnTo>
                    <a:lnTo>
                      <a:pt x="5" y="8"/>
                    </a:lnTo>
                    <a:lnTo>
                      <a:pt x="9" y="7"/>
                    </a:lnTo>
                    <a:lnTo>
                      <a:pt x="12" y="6"/>
                    </a:lnTo>
                    <a:lnTo>
                      <a:pt x="16" y="5"/>
                    </a:lnTo>
                    <a:lnTo>
                      <a:pt x="21" y="3"/>
                    </a:lnTo>
                    <a:lnTo>
                      <a:pt x="25" y="2"/>
                    </a:lnTo>
                    <a:lnTo>
                      <a:pt x="29" y="1"/>
                    </a:lnTo>
                    <a:lnTo>
                      <a:pt x="32" y="0"/>
                    </a:lnTo>
                    <a:lnTo>
                      <a:pt x="32" y="481"/>
                    </a:lnTo>
                    <a:lnTo>
                      <a:pt x="0" y="4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07" name="Freeform 1561"/>
              <p:cNvSpPr>
                <a:spLocks noChangeAspect="1"/>
              </p:cNvSpPr>
              <p:nvPr/>
            </p:nvSpPr>
            <p:spPr bwMode="auto">
              <a:xfrm>
                <a:off x="5344" y="1008"/>
                <a:ext cx="11" cy="161"/>
              </a:xfrm>
              <a:custGeom>
                <a:avLst/>
                <a:gdLst>
                  <a:gd name="T0" fmla="*/ 0 w 33"/>
                  <a:gd name="T1" fmla="*/ 0 h 485"/>
                  <a:gd name="T2" fmla="*/ 0 w 33"/>
                  <a:gd name="T3" fmla="*/ 0 h 485"/>
                  <a:gd name="T4" fmla="*/ 0 w 33"/>
                  <a:gd name="T5" fmla="*/ 0 h 485"/>
                  <a:gd name="T6" fmla="*/ 0 w 33"/>
                  <a:gd name="T7" fmla="*/ 0 h 485"/>
                  <a:gd name="T8" fmla="*/ 0 w 33"/>
                  <a:gd name="T9" fmla="*/ 0 h 485"/>
                  <a:gd name="T10" fmla="*/ 0 w 33"/>
                  <a:gd name="T11" fmla="*/ 0 h 485"/>
                  <a:gd name="T12" fmla="*/ 0 w 33"/>
                  <a:gd name="T13" fmla="*/ 0 h 485"/>
                  <a:gd name="T14" fmla="*/ 0 w 33"/>
                  <a:gd name="T15" fmla="*/ 0 h 485"/>
                  <a:gd name="T16" fmla="*/ 0 w 33"/>
                  <a:gd name="T17" fmla="*/ 0 h 485"/>
                  <a:gd name="T18" fmla="*/ 0 w 33"/>
                  <a:gd name="T19" fmla="*/ 0 h 485"/>
                  <a:gd name="T20" fmla="*/ 0 w 33"/>
                  <a:gd name="T21" fmla="*/ 0 h 485"/>
                  <a:gd name="T22" fmla="*/ 0 w 33"/>
                  <a:gd name="T23" fmla="*/ 0 h 4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85">
                    <a:moveTo>
                      <a:pt x="0" y="485"/>
                    </a:moveTo>
                    <a:lnTo>
                      <a:pt x="0" y="8"/>
                    </a:lnTo>
                    <a:lnTo>
                      <a:pt x="5" y="7"/>
                    </a:lnTo>
                    <a:lnTo>
                      <a:pt x="9" y="6"/>
                    </a:lnTo>
                    <a:lnTo>
                      <a:pt x="13" y="5"/>
                    </a:lnTo>
                    <a:lnTo>
                      <a:pt x="16" y="4"/>
                    </a:lnTo>
                    <a:lnTo>
                      <a:pt x="21" y="3"/>
                    </a:lnTo>
                    <a:lnTo>
                      <a:pt x="25" y="2"/>
                    </a:lnTo>
                    <a:lnTo>
                      <a:pt x="29" y="1"/>
                    </a:lnTo>
                    <a:lnTo>
                      <a:pt x="33" y="0"/>
                    </a:lnTo>
                    <a:lnTo>
                      <a:pt x="33" y="485"/>
                    </a:lnTo>
                    <a:lnTo>
                      <a:pt x="0" y="48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08" name="Freeform 1562"/>
              <p:cNvSpPr>
                <a:spLocks noChangeAspect="1"/>
              </p:cNvSpPr>
              <p:nvPr/>
            </p:nvSpPr>
            <p:spPr bwMode="auto">
              <a:xfrm>
                <a:off x="5349" y="1006"/>
                <a:ext cx="11" cy="163"/>
              </a:xfrm>
              <a:custGeom>
                <a:avLst/>
                <a:gdLst>
                  <a:gd name="T0" fmla="*/ 0 w 33"/>
                  <a:gd name="T1" fmla="*/ 0 h 489"/>
                  <a:gd name="T2" fmla="*/ 0 w 33"/>
                  <a:gd name="T3" fmla="*/ 0 h 489"/>
                  <a:gd name="T4" fmla="*/ 0 w 33"/>
                  <a:gd name="T5" fmla="*/ 0 h 489"/>
                  <a:gd name="T6" fmla="*/ 0 w 33"/>
                  <a:gd name="T7" fmla="*/ 0 h 489"/>
                  <a:gd name="T8" fmla="*/ 0 w 33"/>
                  <a:gd name="T9" fmla="*/ 0 h 489"/>
                  <a:gd name="T10" fmla="*/ 0 w 33"/>
                  <a:gd name="T11" fmla="*/ 0 h 489"/>
                  <a:gd name="T12" fmla="*/ 0 w 33"/>
                  <a:gd name="T13" fmla="*/ 0 h 489"/>
                  <a:gd name="T14" fmla="*/ 0 w 33"/>
                  <a:gd name="T15" fmla="*/ 0 h 489"/>
                  <a:gd name="T16" fmla="*/ 0 w 33"/>
                  <a:gd name="T17" fmla="*/ 0 h 489"/>
                  <a:gd name="T18" fmla="*/ 0 w 33"/>
                  <a:gd name="T19" fmla="*/ 0 h 489"/>
                  <a:gd name="T20" fmla="*/ 0 w 33"/>
                  <a:gd name="T21" fmla="*/ 0 h 489"/>
                  <a:gd name="T22" fmla="*/ 0 w 33"/>
                  <a:gd name="T23" fmla="*/ 0 h 4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89">
                    <a:moveTo>
                      <a:pt x="0" y="489"/>
                    </a:moveTo>
                    <a:lnTo>
                      <a:pt x="0" y="8"/>
                    </a:lnTo>
                    <a:lnTo>
                      <a:pt x="5" y="7"/>
                    </a:lnTo>
                    <a:lnTo>
                      <a:pt x="9" y="6"/>
                    </a:lnTo>
                    <a:lnTo>
                      <a:pt x="13" y="5"/>
                    </a:lnTo>
                    <a:lnTo>
                      <a:pt x="17" y="4"/>
                    </a:lnTo>
                    <a:lnTo>
                      <a:pt x="21" y="2"/>
                    </a:lnTo>
                    <a:lnTo>
                      <a:pt x="25" y="1"/>
                    </a:lnTo>
                    <a:lnTo>
                      <a:pt x="29" y="1"/>
                    </a:lnTo>
                    <a:lnTo>
                      <a:pt x="33" y="0"/>
                    </a:lnTo>
                    <a:lnTo>
                      <a:pt x="33" y="489"/>
                    </a:lnTo>
                    <a:lnTo>
                      <a:pt x="0" y="4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09" name="Freeform 1563"/>
              <p:cNvSpPr>
                <a:spLocks noChangeAspect="1"/>
              </p:cNvSpPr>
              <p:nvPr/>
            </p:nvSpPr>
            <p:spPr bwMode="auto">
              <a:xfrm>
                <a:off x="5355" y="1005"/>
                <a:ext cx="11" cy="164"/>
              </a:xfrm>
              <a:custGeom>
                <a:avLst/>
                <a:gdLst>
                  <a:gd name="T0" fmla="*/ 0 w 32"/>
                  <a:gd name="T1" fmla="*/ 0 h 492"/>
                  <a:gd name="T2" fmla="*/ 0 w 32"/>
                  <a:gd name="T3" fmla="*/ 0 h 492"/>
                  <a:gd name="T4" fmla="*/ 0 w 32"/>
                  <a:gd name="T5" fmla="*/ 0 h 492"/>
                  <a:gd name="T6" fmla="*/ 0 w 32"/>
                  <a:gd name="T7" fmla="*/ 0 h 492"/>
                  <a:gd name="T8" fmla="*/ 0 w 32"/>
                  <a:gd name="T9" fmla="*/ 0 h 492"/>
                  <a:gd name="T10" fmla="*/ 0 w 32"/>
                  <a:gd name="T11" fmla="*/ 0 h 492"/>
                  <a:gd name="T12" fmla="*/ 0 w 32"/>
                  <a:gd name="T13" fmla="*/ 0 h 492"/>
                  <a:gd name="T14" fmla="*/ 0 w 32"/>
                  <a:gd name="T15" fmla="*/ 0 h 492"/>
                  <a:gd name="T16" fmla="*/ 0 w 32"/>
                  <a:gd name="T17" fmla="*/ 0 h 492"/>
                  <a:gd name="T18" fmla="*/ 0 w 32"/>
                  <a:gd name="T19" fmla="*/ 0 h 492"/>
                  <a:gd name="T20" fmla="*/ 0 w 32"/>
                  <a:gd name="T21" fmla="*/ 0 h 492"/>
                  <a:gd name="T22" fmla="*/ 0 w 32"/>
                  <a:gd name="T23" fmla="*/ 0 h 4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2">
                    <a:moveTo>
                      <a:pt x="0" y="492"/>
                    </a:moveTo>
                    <a:lnTo>
                      <a:pt x="0" y="7"/>
                    </a:lnTo>
                    <a:lnTo>
                      <a:pt x="4" y="5"/>
                    </a:lnTo>
                    <a:lnTo>
                      <a:pt x="8" y="4"/>
                    </a:lnTo>
                    <a:lnTo>
                      <a:pt x="12" y="4"/>
                    </a:lnTo>
                    <a:lnTo>
                      <a:pt x="16" y="3"/>
                    </a:lnTo>
                    <a:lnTo>
                      <a:pt x="20" y="2"/>
                    </a:lnTo>
                    <a:lnTo>
                      <a:pt x="24" y="1"/>
                    </a:lnTo>
                    <a:lnTo>
                      <a:pt x="28" y="1"/>
                    </a:lnTo>
                    <a:lnTo>
                      <a:pt x="32" y="0"/>
                    </a:lnTo>
                    <a:lnTo>
                      <a:pt x="32" y="492"/>
                    </a:lnTo>
                    <a:lnTo>
                      <a:pt x="0" y="49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10" name="Freeform 1564"/>
              <p:cNvSpPr>
                <a:spLocks noChangeAspect="1"/>
              </p:cNvSpPr>
              <p:nvPr/>
            </p:nvSpPr>
            <p:spPr bwMode="auto">
              <a:xfrm>
                <a:off x="5360" y="1005"/>
                <a:ext cx="11" cy="164"/>
              </a:xfrm>
              <a:custGeom>
                <a:avLst/>
                <a:gdLst>
                  <a:gd name="T0" fmla="*/ 0 w 32"/>
                  <a:gd name="T1" fmla="*/ 0 h 494"/>
                  <a:gd name="T2" fmla="*/ 0 w 32"/>
                  <a:gd name="T3" fmla="*/ 0 h 494"/>
                  <a:gd name="T4" fmla="*/ 0 w 32"/>
                  <a:gd name="T5" fmla="*/ 0 h 494"/>
                  <a:gd name="T6" fmla="*/ 0 w 32"/>
                  <a:gd name="T7" fmla="*/ 0 h 494"/>
                  <a:gd name="T8" fmla="*/ 0 w 32"/>
                  <a:gd name="T9" fmla="*/ 0 h 494"/>
                  <a:gd name="T10" fmla="*/ 0 w 32"/>
                  <a:gd name="T11" fmla="*/ 0 h 494"/>
                  <a:gd name="T12" fmla="*/ 0 w 32"/>
                  <a:gd name="T13" fmla="*/ 0 h 494"/>
                  <a:gd name="T14" fmla="*/ 0 w 32"/>
                  <a:gd name="T15" fmla="*/ 0 h 494"/>
                  <a:gd name="T16" fmla="*/ 0 w 32"/>
                  <a:gd name="T17" fmla="*/ 0 h 494"/>
                  <a:gd name="T18" fmla="*/ 0 w 32"/>
                  <a:gd name="T19" fmla="*/ 0 h 494"/>
                  <a:gd name="T20" fmla="*/ 0 w 32"/>
                  <a:gd name="T21" fmla="*/ 0 h 494"/>
                  <a:gd name="T22" fmla="*/ 0 w 32"/>
                  <a:gd name="T23" fmla="*/ 0 h 49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4">
                    <a:moveTo>
                      <a:pt x="0" y="494"/>
                    </a:moveTo>
                    <a:lnTo>
                      <a:pt x="0" y="5"/>
                    </a:lnTo>
                    <a:lnTo>
                      <a:pt x="5" y="4"/>
                    </a:lnTo>
                    <a:lnTo>
                      <a:pt x="8" y="3"/>
                    </a:lnTo>
                    <a:lnTo>
                      <a:pt x="12" y="3"/>
                    </a:lnTo>
                    <a:lnTo>
                      <a:pt x="16" y="2"/>
                    </a:lnTo>
                    <a:lnTo>
                      <a:pt x="21" y="2"/>
                    </a:lnTo>
                    <a:lnTo>
                      <a:pt x="25" y="1"/>
                    </a:lnTo>
                    <a:lnTo>
                      <a:pt x="28" y="1"/>
                    </a:lnTo>
                    <a:lnTo>
                      <a:pt x="32" y="0"/>
                    </a:lnTo>
                    <a:lnTo>
                      <a:pt x="32" y="494"/>
                    </a:lnTo>
                    <a:lnTo>
                      <a:pt x="0" y="49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11" name="Freeform 1565"/>
              <p:cNvSpPr>
                <a:spLocks noChangeAspect="1"/>
              </p:cNvSpPr>
              <p:nvPr/>
            </p:nvSpPr>
            <p:spPr bwMode="auto">
              <a:xfrm>
                <a:off x="5366" y="1004"/>
                <a:ext cx="10" cy="165"/>
              </a:xfrm>
              <a:custGeom>
                <a:avLst/>
                <a:gdLst>
                  <a:gd name="T0" fmla="*/ 0 w 32"/>
                  <a:gd name="T1" fmla="*/ 0 h 496"/>
                  <a:gd name="T2" fmla="*/ 0 w 32"/>
                  <a:gd name="T3" fmla="*/ 0 h 496"/>
                  <a:gd name="T4" fmla="*/ 0 w 32"/>
                  <a:gd name="T5" fmla="*/ 0 h 496"/>
                  <a:gd name="T6" fmla="*/ 0 w 32"/>
                  <a:gd name="T7" fmla="*/ 0 h 496"/>
                  <a:gd name="T8" fmla="*/ 0 w 32"/>
                  <a:gd name="T9" fmla="*/ 0 h 496"/>
                  <a:gd name="T10" fmla="*/ 0 w 32"/>
                  <a:gd name="T11" fmla="*/ 0 h 496"/>
                  <a:gd name="T12" fmla="*/ 0 w 32"/>
                  <a:gd name="T13" fmla="*/ 0 h 496"/>
                  <a:gd name="T14" fmla="*/ 0 w 32"/>
                  <a:gd name="T15" fmla="*/ 0 h 496"/>
                  <a:gd name="T16" fmla="*/ 0 w 32"/>
                  <a:gd name="T17" fmla="*/ 0 h 496"/>
                  <a:gd name="T18" fmla="*/ 0 w 32"/>
                  <a:gd name="T19" fmla="*/ 0 h 496"/>
                  <a:gd name="T20" fmla="*/ 0 w 32"/>
                  <a:gd name="T21" fmla="*/ 0 h 496"/>
                  <a:gd name="T22" fmla="*/ 0 w 32"/>
                  <a:gd name="T23" fmla="*/ 0 h 49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6">
                    <a:moveTo>
                      <a:pt x="0" y="496"/>
                    </a:moveTo>
                    <a:lnTo>
                      <a:pt x="0" y="4"/>
                    </a:lnTo>
                    <a:lnTo>
                      <a:pt x="5" y="4"/>
                    </a:lnTo>
                    <a:lnTo>
                      <a:pt x="9" y="3"/>
                    </a:lnTo>
                    <a:lnTo>
                      <a:pt x="12" y="3"/>
                    </a:lnTo>
                    <a:lnTo>
                      <a:pt x="16" y="2"/>
                    </a:lnTo>
                    <a:lnTo>
                      <a:pt x="21" y="2"/>
                    </a:lnTo>
                    <a:lnTo>
                      <a:pt x="25" y="1"/>
                    </a:lnTo>
                    <a:lnTo>
                      <a:pt x="29" y="1"/>
                    </a:lnTo>
                    <a:lnTo>
                      <a:pt x="32" y="0"/>
                    </a:lnTo>
                    <a:lnTo>
                      <a:pt x="32" y="496"/>
                    </a:lnTo>
                    <a:lnTo>
                      <a:pt x="0" y="49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12" name="Freeform 1566"/>
              <p:cNvSpPr>
                <a:spLocks noChangeAspect="1"/>
              </p:cNvSpPr>
              <p:nvPr/>
            </p:nvSpPr>
            <p:spPr bwMode="auto">
              <a:xfrm>
                <a:off x="5371" y="1004"/>
                <a:ext cx="11" cy="165"/>
              </a:xfrm>
              <a:custGeom>
                <a:avLst/>
                <a:gdLst>
                  <a:gd name="T0" fmla="*/ 0 w 33"/>
                  <a:gd name="T1" fmla="*/ 0 h 497"/>
                  <a:gd name="T2" fmla="*/ 0 w 33"/>
                  <a:gd name="T3" fmla="*/ 0 h 497"/>
                  <a:gd name="T4" fmla="*/ 0 w 33"/>
                  <a:gd name="T5" fmla="*/ 0 h 497"/>
                  <a:gd name="T6" fmla="*/ 0 w 33"/>
                  <a:gd name="T7" fmla="*/ 0 h 497"/>
                  <a:gd name="T8" fmla="*/ 0 w 33"/>
                  <a:gd name="T9" fmla="*/ 0 h 497"/>
                  <a:gd name="T10" fmla="*/ 0 w 33"/>
                  <a:gd name="T11" fmla="*/ 0 h 497"/>
                  <a:gd name="T12" fmla="*/ 0 w 33"/>
                  <a:gd name="T13" fmla="*/ 0 h 497"/>
                  <a:gd name="T14" fmla="*/ 0 w 33"/>
                  <a:gd name="T15" fmla="*/ 0 h 497"/>
                  <a:gd name="T16" fmla="*/ 0 w 33"/>
                  <a:gd name="T17" fmla="*/ 0 h 497"/>
                  <a:gd name="T18" fmla="*/ 0 w 33"/>
                  <a:gd name="T19" fmla="*/ 0 h 497"/>
                  <a:gd name="T20" fmla="*/ 0 w 33"/>
                  <a:gd name="T21" fmla="*/ 0 h 497"/>
                  <a:gd name="T22" fmla="*/ 0 w 33"/>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97">
                    <a:moveTo>
                      <a:pt x="0" y="497"/>
                    </a:moveTo>
                    <a:lnTo>
                      <a:pt x="0" y="3"/>
                    </a:lnTo>
                    <a:lnTo>
                      <a:pt x="5" y="3"/>
                    </a:lnTo>
                    <a:lnTo>
                      <a:pt x="9" y="2"/>
                    </a:lnTo>
                    <a:lnTo>
                      <a:pt x="12" y="2"/>
                    </a:lnTo>
                    <a:lnTo>
                      <a:pt x="16" y="1"/>
                    </a:lnTo>
                    <a:lnTo>
                      <a:pt x="20" y="1"/>
                    </a:lnTo>
                    <a:lnTo>
                      <a:pt x="25" y="1"/>
                    </a:lnTo>
                    <a:lnTo>
                      <a:pt x="29" y="1"/>
                    </a:lnTo>
                    <a:lnTo>
                      <a:pt x="33" y="0"/>
                    </a:lnTo>
                    <a:lnTo>
                      <a:pt x="33"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13" name="Freeform 1567"/>
              <p:cNvSpPr>
                <a:spLocks noChangeAspect="1"/>
              </p:cNvSpPr>
              <p:nvPr/>
            </p:nvSpPr>
            <p:spPr bwMode="auto">
              <a:xfrm>
                <a:off x="5376" y="1004"/>
                <a:ext cx="11" cy="165"/>
              </a:xfrm>
              <a:custGeom>
                <a:avLst/>
                <a:gdLst>
                  <a:gd name="T0" fmla="*/ 0 w 33"/>
                  <a:gd name="T1" fmla="*/ 0 h 497"/>
                  <a:gd name="T2" fmla="*/ 0 w 33"/>
                  <a:gd name="T3" fmla="*/ 0 h 497"/>
                  <a:gd name="T4" fmla="*/ 0 w 33"/>
                  <a:gd name="T5" fmla="*/ 0 h 497"/>
                  <a:gd name="T6" fmla="*/ 0 w 33"/>
                  <a:gd name="T7" fmla="*/ 0 h 497"/>
                  <a:gd name="T8" fmla="*/ 0 w 33"/>
                  <a:gd name="T9" fmla="*/ 0 h 497"/>
                  <a:gd name="T10" fmla="*/ 0 w 33"/>
                  <a:gd name="T11" fmla="*/ 0 h 497"/>
                  <a:gd name="T12" fmla="*/ 0 w 33"/>
                  <a:gd name="T13" fmla="*/ 0 h 497"/>
                  <a:gd name="T14" fmla="*/ 0 w 33"/>
                  <a:gd name="T15" fmla="*/ 0 h 497"/>
                  <a:gd name="T16" fmla="*/ 0 w 33"/>
                  <a:gd name="T17" fmla="*/ 0 h 497"/>
                  <a:gd name="T18" fmla="*/ 0 w 33"/>
                  <a:gd name="T19" fmla="*/ 0 h 497"/>
                  <a:gd name="T20" fmla="*/ 0 w 33"/>
                  <a:gd name="T21" fmla="*/ 0 h 497"/>
                  <a:gd name="T22" fmla="*/ 0 w 33"/>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97">
                    <a:moveTo>
                      <a:pt x="0" y="497"/>
                    </a:moveTo>
                    <a:lnTo>
                      <a:pt x="0" y="1"/>
                    </a:lnTo>
                    <a:lnTo>
                      <a:pt x="4" y="1"/>
                    </a:lnTo>
                    <a:lnTo>
                      <a:pt x="9" y="1"/>
                    </a:lnTo>
                    <a:lnTo>
                      <a:pt x="13" y="1"/>
                    </a:lnTo>
                    <a:lnTo>
                      <a:pt x="16" y="0"/>
                    </a:lnTo>
                    <a:lnTo>
                      <a:pt x="20" y="0"/>
                    </a:lnTo>
                    <a:lnTo>
                      <a:pt x="25" y="0"/>
                    </a:lnTo>
                    <a:lnTo>
                      <a:pt x="29" y="0"/>
                    </a:lnTo>
                    <a:lnTo>
                      <a:pt x="33" y="0"/>
                    </a:lnTo>
                    <a:lnTo>
                      <a:pt x="33"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14" name="Freeform 1568"/>
              <p:cNvSpPr>
                <a:spLocks noChangeAspect="1"/>
              </p:cNvSpPr>
              <p:nvPr/>
            </p:nvSpPr>
            <p:spPr bwMode="auto">
              <a:xfrm>
                <a:off x="5382" y="1004"/>
                <a:ext cx="11" cy="165"/>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w 32"/>
                  <a:gd name="T25" fmla="*/ 0 h 497"/>
                  <a:gd name="T26" fmla="*/ 0 w 32"/>
                  <a:gd name="T27" fmla="*/ 0 h 497"/>
                  <a:gd name="T28" fmla="*/ 0 w 32"/>
                  <a:gd name="T29" fmla="*/ 0 h 497"/>
                  <a:gd name="T30" fmla="*/ 0 w 32"/>
                  <a:gd name="T31" fmla="*/ 0 h 497"/>
                  <a:gd name="T32" fmla="*/ 0 w 32"/>
                  <a:gd name="T33" fmla="*/ 0 h 497"/>
                  <a:gd name="T34" fmla="*/ 0 w 32"/>
                  <a:gd name="T35" fmla="*/ 0 h 497"/>
                  <a:gd name="T36" fmla="*/ 0 w 32"/>
                  <a:gd name="T37" fmla="*/ 0 h 497"/>
                  <a:gd name="T38" fmla="*/ 0 w 32"/>
                  <a:gd name="T39" fmla="*/ 0 h 497"/>
                  <a:gd name="T40" fmla="*/ 0 w 32"/>
                  <a:gd name="T41" fmla="*/ 0 h 49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 h="497">
                    <a:moveTo>
                      <a:pt x="0" y="497"/>
                    </a:moveTo>
                    <a:lnTo>
                      <a:pt x="0" y="0"/>
                    </a:lnTo>
                    <a:lnTo>
                      <a:pt x="2" y="0"/>
                    </a:lnTo>
                    <a:lnTo>
                      <a:pt x="6" y="0"/>
                    </a:lnTo>
                    <a:lnTo>
                      <a:pt x="9" y="0"/>
                    </a:lnTo>
                    <a:lnTo>
                      <a:pt x="12" y="0"/>
                    </a:lnTo>
                    <a:lnTo>
                      <a:pt x="15" y="0"/>
                    </a:lnTo>
                    <a:lnTo>
                      <a:pt x="18" y="0"/>
                    </a:lnTo>
                    <a:lnTo>
                      <a:pt x="20" y="0"/>
                    </a:lnTo>
                    <a:lnTo>
                      <a:pt x="24" y="0"/>
                    </a:lnTo>
                    <a:lnTo>
                      <a:pt x="25" y="0"/>
                    </a:lnTo>
                    <a:lnTo>
                      <a:pt x="26" y="0"/>
                    </a:lnTo>
                    <a:lnTo>
                      <a:pt x="27" y="0"/>
                    </a:lnTo>
                    <a:lnTo>
                      <a:pt x="28" y="0"/>
                    </a:lnTo>
                    <a:lnTo>
                      <a:pt x="29" y="0"/>
                    </a:lnTo>
                    <a:lnTo>
                      <a:pt x="30" y="0"/>
                    </a:lnTo>
                    <a:lnTo>
                      <a:pt x="31" y="0"/>
                    </a:lnTo>
                    <a:lnTo>
                      <a:pt x="32" y="0"/>
                    </a:lnTo>
                    <a:lnTo>
                      <a:pt x="32" y="497"/>
                    </a:lnTo>
                    <a:lnTo>
                      <a:pt x="31"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15" name="Freeform 1569"/>
              <p:cNvSpPr>
                <a:spLocks noChangeAspect="1"/>
              </p:cNvSpPr>
              <p:nvPr/>
            </p:nvSpPr>
            <p:spPr bwMode="auto">
              <a:xfrm>
                <a:off x="5387" y="1004"/>
                <a:ext cx="11" cy="165"/>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w 32"/>
                  <a:gd name="T25" fmla="*/ 0 h 497"/>
                  <a:gd name="T26" fmla="*/ 0 w 32"/>
                  <a:gd name="T27" fmla="*/ 0 h 497"/>
                  <a:gd name="T28" fmla="*/ 0 w 32"/>
                  <a:gd name="T29" fmla="*/ 0 h 497"/>
                  <a:gd name="T30" fmla="*/ 0 w 32"/>
                  <a:gd name="T31" fmla="*/ 0 h 497"/>
                  <a:gd name="T32" fmla="*/ 0 w 32"/>
                  <a:gd name="T33" fmla="*/ 0 h 497"/>
                  <a:gd name="T34" fmla="*/ 0 w 32"/>
                  <a:gd name="T35" fmla="*/ 0 h 497"/>
                  <a:gd name="T36" fmla="*/ 0 w 32"/>
                  <a:gd name="T37" fmla="*/ 0 h 497"/>
                  <a:gd name="T38" fmla="*/ 0 w 32"/>
                  <a:gd name="T39" fmla="*/ 0 h 497"/>
                  <a:gd name="T40" fmla="*/ 0 w 32"/>
                  <a:gd name="T41" fmla="*/ 0 h 49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 h="497">
                    <a:moveTo>
                      <a:pt x="0" y="497"/>
                    </a:moveTo>
                    <a:lnTo>
                      <a:pt x="0" y="0"/>
                    </a:lnTo>
                    <a:lnTo>
                      <a:pt x="1" y="0"/>
                    </a:lnTo>
                    <a:lnTo>
                      <a:pt x="2" y="0"/>
                    </a:lnTo>
                    <a:lnTo>
                      <a:pt x="3" y="0"/>
                    </a:lnTo>
                    <a:lnTo>
                      <a:pt x="4" y="0"/>
                    </a:lnTo>
                    <a:lnTo>
                      <a:pt x="6" y="0"/>
                    </a:lnTo>
                    <a:lnTo>
                      <a:pt x="7" y="0"/>
                    </a:lnTo>
                    <a:lnTo>
                      <a:pt x="8" y="0"/>
                    </a:lnTo>
                    <a:lnTo>
                      <a:pt x="11" y="0"/>
                    </a:lnTo>
                    <a:lnTo>
                      <a:pt x="14" y="0"/>
                    </a:lnTo>
                    <a:lnTo>
                      <a:pt x="17" y="0"/>
                    </a:lnTo>
                    <a:lnTo>
                      <a:pt x="20" y="0"/>
                    </a:lnTo>
                    <a:lnTo>
                      <a:pt x="24" y="0"/>
                    </a:lnTo>
                    <a:lnTo>
                      <a:pt x="26" y="0"/>
                    </a:lnTo>
                    <a:lnTo>
                      <a:pt x="29" y="0"/>
                    </a:lnTo>
                    <a:lnTo>
                      <a:pt x="32" y="0"/>
                    </a:lnTo>
                    <a:lnTo>
                      <a:pt x="32" y="481"/>
                    </a:lnTo>
                    <a:lnTo>
                      <a:pt x="15"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16" name="Freeform 1570"/>
              <p:cNvSpPr>
                <a:spLocks noChangeAspect="1"/>
              </p:cNvSpPr>
              <p:nvPr/>
            </p:nvSpPr>
            <p:spPr bwMode="auto">
              <a:xfrm>
                <a:off x="5393" y="1004"/>
                <a:ext cx="10" cy="165"/>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7">
                    <a:moveTo>
                      <a:pt x="0" y="497"/>
                    </a:moveTo>
                    <a:lnTo>
                      <a:pt x="0" y="0"/>
                    </a:lnTo>
                    <a:lnTo>
                      <a:pt x="4" y="0"/>
                    </a:lnTo>
                    <a:lnTo>
                      <a:pt x="9" y="0"/>
                    </a:lnTo>
                    <a:lnTo>
                      <a:pt x="12" y="0"/>
                    </a:lnTo>
                    <a:lnTo>
                      <a:pt x="16" y="0"/>
                    </a:lnTo>
                    <a:lnTo>
                      <a:pt x="20" y="1"/>
                    </a:lnTo>
                    <a:lnTo>
                      <a:pt x="25" y="1"/>
                    </a:lnTo>
                    <a:lnTo>
                      <a:pt x="28" y="1"/>
                    </a:lnTo>
                    <a:lnTo>
                      <a:pt x="32" y="1"/>
                    </a:lnTo>
                    <a:lnTo>
                      <a:pt x="32" y="466"/>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17" name="Freeform 1571"/>
              <p:cNvSpPr>
                <a:spLocks noChangeAspect="1"/>
              </p:cNvSpPr>
              <p:nvPr/>
            </p:nvSpPr>
            <p:spPr bwMode="auto">
              <a:xfrm>
                <a:off x="5398" y="1004"/>
                <a:ext cx="11" cy="160"/>
              </a:xfrm>
              <a:custGeom>
                <a:avLst/>
                <a:gdLst>
                  <a:gd name="T0" fmla="*/ 0 w 32"/>
                  <a:gd name="T1" fmla="*/ 0 h 481"/>
                  <a:gd name="T2" fmla="*/ 0 w 32"/>
                  <a:gd name="T3" fmla="*/ 0 h 481"/>
                  <a:gd name="T4" fmla="*/ 0 w 32"/>
                  <a:gd name="T5" fmla="*/ 0 h 481"/>
                  <a:gd name="T6" fmla="*/ 0 w 32"/>
                  <a:gd name="T7" fmla="*/ 0 h 481"/>
                  <a:gd name="T8" fmla="*/ 0 w 32"/>
                  <a:gd name="T9" fmla="*/ 0 h 481"/>
                  <a:gd name="T10" fmla="*/ 0 w 32"/>
                  <a:gd name="T11" fmla="*/ 0 h 481"/>
                  <a:gd name="T12" fmla="*/ 0 w 32"/>
                  <a:gd name="T13" fmla="*/ 0 h 481"/>
                  <a:gd name="T14" fmla="*/ 0 w 32"/>
                  <a:gd name="T15" fmla="*/ 0 h 481"/>
                  <a:gd name="T16" fmla="*/ 0 w 32"/>
                  <a:gd name="T17" fmla="*/ 0 h 481"/>
                  <a:gd name="T18" fmla="*/ 0 w 32"/>
                  <a:gd name="T19" fmla="*/ 0 h 481"/>
                  <a:gd name="T20" fmla="*/ 0 w 32"/>
                  <a:gd name="T21" fmla="*/ 0 h 481"/>
                  <a:gd name="T22" fmla="*/ 0 w 32"/>
                  <a:gd name="T23" fmla="*/ 0 h 4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81">
                    <a:moveTo>
                      <a:pt x="0" y="481"/>
                    </a:moveTo>
                    <a:lnTo>
                      <a:pt x="0" y="0"/>
                    </a:lnTo>
                    <a:lnTo>
                      <a:pt x="4" y="1"/>
                    </a:lnTo>
                    <a:lnTo>
                      <a:pt x="9" y="1"/>
                    </a:lnTo>
                    <a:lnTo>
                      <a:pt x="13" y="1"/>
                    </a:lnTo>
                    <a:lnTo>
                      <a:pt x="16" y="1"/>
                    </a:lnTo>
                    <a:lnTo>
                      <a:pt x="20" y="2"/>
                    </a:lnTo>
                    <a:lnTo>
                      <a:pt x="25" y="2"/>
                    </a:lnTo>
                    <a:lnTo>
                      <a:pt x="29" y="3"/>
                    </a:lnTo>
                    <a:lnTo>
                      <a:pt x="32" y="3"/>
                    </a:lnTo>
                    <a:lnTo>
                      <a:pt x="32" y="448"/>
                    </a:lnTo>
                    <a:lnTo>
                      <a:pt x="0" y="4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18" name="Freeform 1572"/>
              <p:cNvSpPr>
                <a:spLocks noChangeAspect="1"/>
              </p:cNvSpPr>
              <p:nvPr/>
            </p:nvSpPr>
            <p:spPr bwMode="auto">
              <a:xfrm>
                <a:off x="5403" y="1004"/>
                <a:ext cx="11" cy="155"/>
              </a:xfrm>
              <a:custGeom>
                <a:avLst/>
                <a:gdLst>
                  <a:gd name="T0" fmla="*/ 0 w 33"/>
                  <a:gd name="T1" fmla="*/ 0 h 465"/>
                  <a:gd name="T2" fmla="*/ 0 w 33"/>
                  <a:gd name="T3" fmla="*/ 0 h 465"/>
                  <a:gd name="T4" fmla="*/ 0 w 33"/>
                  <a:gd name="T5" fmla="*/ 0 h 465"/>
                  <a:gd name="T6" fmla="*/ 0 w 33"/>
                  <a:gd name="T7" fmla="*/ 0 h 465"/>
                  <a:gd name="T8" fmla="*/ 0 w 33"/>
                  <a:gd name="T9" fmla="*/ 0 h 465"/>
                  <a:gd name="T10" fmla="*/ 0 w 33"/>
                  <a:gd name="T11" fmla="*/ 0 h 465"/>
                  <a:gd name="T12" fmla="*/ 0 w 33"/>
                  <a:gd name="T13" fmla="*/ 0 h 465"/>
                  <a:gd name="T14" fmla="*/ 0 w 33"/>
                  <a:gd name="T15" fmla="*/ 0 h 465"/>
                  <a:gd name="T16" fmla="*/ 0 w 33"/>
                  <a:gd name="T17" fmla="*/ 0 h 465"/>
                  <a:gd name="T18" fmla="*/ 0 w 33"/>
                  <a:gd name="T19" fmla="*/ 0 h 465"/>
                  <a:gd name="T20" fmla="*/ 0 w 33"/>
                  <a:gd name="T21" fmla="*/ 0 h 465"/>
                  <a:gd name="T22" fmla="*/ 0 w 33"/>
                  <a:gd name="T23" fmla="*/ 0 h 4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65">
                    <a:moveTo>
                      <a:pt x="0" y="465"/>
                    </a:moveTo>
                    <a:lnTo>
                      <a:pt x="0" y="0"/>
                    </a:lnTo>
                    <a:lnTo>
                      <a:pt x="4" y="1"/>
                    </a:lnTo>
                    <a:lnTo>
                      <a:pt x="9" y="1"/>
                    </a:lnTo>
                    <a:lnTo>
                      <a:pt x="13" y="2"/>
                    </a:lnTo>
                    <a:lnTo>
                      <a:pt x="17" y="2"/>
                    </a:lnTo>
                    <a:lnTo>
                      <a:pt x="20" y="3"/>
                    </a:lnTo>
                    <a:lnTo>
                      <a:pt x="25" y="3"/>
                    </a:lnTo>
                    <a:lnTo>
                      <a:pt x="29" y="4"/>
                    </a:lnTo>
                    <a:lnTo>
                      <a:pt x="33" y="4"/>
                    </a:lnTo>
                    <a:lnTo>
                      <a:pt x="33" y="432"/>
                    </a:lnTo>
                    <a:lnTo>
                      <a:pt x="0" y="4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19" name="Freeform 1573"/>
              <p:cNvSpPr>
                <a:spLocks noChangeAspect="1"/>
              </p:cNvSpPr>
              <p:nvPr/>
            </p:nvSpPr>
            <p:spPr bwMode="auto">
              <a:xfrm>
                <a:off x="5409" y="1005"/>
                <a:ext cx="11" cy="148"/>
              </a:xfrm>
              <a:custGeom>
                <a:avLst/>
                <a:gdLst>
                  <a:gd name="T0" fmla="*/ 0 w 33"/>
                  <a:gd name="T1" fmla="*/ 0 h 445"/>
                  <a:gd name="T2" fmla="*/ 0 w 33"/>
                  <a:gd name="T3" fmla="*/ 0 h 445"/>
                  <a:gd name="T4" fmla="*/ 0 w 33"/>
                  <a:gd name="T5" fmla="*/ 0 h 445"/>
                  <a:gd name="T6" fmla="*/ 0 w 33"/>
                  <a:gd name="T7" fmla="*/ 0 h 445"/>
                  <a:gd name="T8" fmla="*/ 0 w 33"/>
                  <a:gd name="T9" fmla="*/ 0 h 445"/>
                  <a:gd name="T10" fmla="*/ 0 w 33"/>
                  <a:gd name="T11" fmla="*/ 0 h 445"/>
                  <a:gd name="T12" fmla="*/ 0 w 33"/>
                  <a:gd name="T13" fmla="*/ 0 h 445"/>
                  <a:gd name="T14" fmla="*/ 0 w 33"/>
                  <a:gd name="T15" fmla="*/ 0 h 445"/>
                  <a:gd name="T16" fmla="*/ 0 w 33"/>
                  <a:gd name="T17" fmla="*/ 0 h 445"/>
                  <a:gd name="T18" fmla="*/ 0 w 33"/>
                  <a:gd name="T19" fmla="*/ 0 h 445"/>
                  <a:gd name="T20" fmla="*/ 0 w 33"/>
                  <a:gd name="T21" fmla="*/ 0 h 445"/>
                  <a:gd name="T22" fmla="*/ 0 w 33"/>
                  <a:gd name="T23" fmla="*/ 0 h 4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45">
                    <a:moveTo>
                      <a:pt x="0" y="445"/>
                    </a:moveTo>
                    <a:lnTo>
                      <a:pt x="0" y="0"/>
                    </a:lnTo>
                    <a:lnTo>
                      <a:pt x="4" y="1"/>
                    </a:lnTo>
                    <a:lnTo>
                      <a:pt x="9" y="1"/>
                    </a:lnTo>
                    <a:lnTo>
                      <a:pt x="13" y="2"/>
                    </a:lnTo>
                    <a:lnTo>
                      <a:pt x="17" y="2"/>
                    </a:lnTo>
                    <a:lnTo>
                      <a:pt x="21" y="3"/>
                    </a:lnTo>
                    <a:lnTo>
                      <a:pt x="25" y="4"/>
                    </a:lnTo>
                    <a:lnTo>
                      <a:pt x="29" y="4"/>
                    </a:lnTo>
                    <a:lnTo>
                      <a:pt x="33" y="5"/>
                    </a:lnTo>
                    <a:lnTo>
                      <a:pt x="33" y="414"/>
                    </a:lnTo>
                    <a:lnTo>
                      <a:pt x="0" y="44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20" name="Freeform 1574"/>
              <p:cNvSpPr>
                <a:spLocks noChangeAspect="1"/>
              </p:cNvSpPr>
              <p:nvPr/>
            </p:nvSpPr>
            <p:spPr bwMode="auto">
              <a:xfrm>
                <a:off x="5414" y="1005"/>
                <a:ext cx="11" cy="143"/>
              </a:xfrm>
              <a:custGeom>
                <a:avLst/>
                <a:gdLst>
                  <a:gd name="T0" fmla="*/ 0 w 32"/>
                  <a:gd name="T1" fmla="*/ 0 h 428"/>
                  <a:gd name="T2" fmla="*/ 0 w 32"/>
                  <a:gd name="T3" fmla="*/ 0 h 428"/>
                  <a:gd name="T4" fmla="*/ 0 w 32"/>
                  <a:gd name="T5" fmla="*/ 0 h 428"/>
                  <a:gd name="T6" fmla="*/ 0 w 32"/>
                  <a:gd name="T7" fmla="*/ 0 h 428"/>
                  <a:gd name="T8" fmla="*/ 0 w 32"/>
                  <a:gd name="T9" fmla="*/ 0 h 428"/>
                  <a:gd name="T10" fmla="*/ 0 w 32"/>
                  <a:gd name="T11" fmla="*/ 0 h 428"/>
                  <a:gd name="T12" fmla="*/ 0 w 32"/>
                  <a:gd name="T13" fmla="*/ 0 h 428"/>
                  <a:gd name="T14" fmla="*/ 0 w 32"/>
                  <a:gd name="T15" fmla="*/ 0 h 428"/>
                  <a:gd name="T16" fmla="*/ 0 w 32"/>
                  <a:gd name="T17" fmla="*/ 0 h 428"/>
                  <a:gd name="T18" fmla="*/ 0 w 32"/>
                  <a:gd name="T19" fmla="*/ 0 h 428"/>
                  <a:gd name="T20" fmla="*/ 0 w 32"/>
                  <a:gd name="T21" fmla="*/ 0 h 428"/>
                  <a:gd name="T22" fmla="*/ 0 w 32"/>
                  <a:gd name="T23" fmla="*/ 0 h 4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28">
                    <a:moveTo>
                      <a:pt x="0" y="428"/>
                    </a:moveTo>
                    <a:lnTo>
                      <a:pt x="0" y="0"/>
                    </a:lnTo>
                    <a:lnTo>
                      <a:pt x="3" y="1"/>
                    </a:lnTo>
                    <a:lnTo>
                      <a:pt x="8" y="2"/>
                    </a:lnTo>
                    <a:lnTo>
                      <a:pt x="12" y="2"/>
                    </a:lnTo>
                    <a:lnTo>
                      <a:pt x="16" y="3"/>
                    </a:lnTo>
                    <a:lnTo>
                      <a:pt x="20" y="4"/>
                    </a:lnTo>
                    <a:lnTo>
                      <a:pt x="24" y="5"/>
                    </a:lnTo>
                    <a:lnTo>
                      <a:pt x="28" y="5"/>
                    </a:lnTo>
                    <a:lnTo>
                      <a:pt x="32" y="7"/>
                    </a:lnTo>
                    <a:lnTo>
                      <a:pt x="32" y="396"/>
                    </a:lnTo>
                    <a:lnTo>
                      <a:pt x="0" y="42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21" name="Freeform 1575"/>
              <p:cNvSpPr>
                <a:spLocks noChangeAspect="1"/>
              </p:cNvSpPr>
              <p:nvPr/>
            </p:nvSpPr>
            <p:spPr bwMode="auto">
              <a:xfrm>
                <a:off x="5420" y="1006"/>
                <a:ext cx="10" cy="137"/>
              </a:xfrm>
              <a:custGeom>
                <a:avLst/>
                <a:gdLst>
                  <a:gd name="T0" fmla="*/ 0 w 32"/>
                  <a:gd name="T1" fmla="*/ 0 h 409"/>
                  <a:gd name="T2" fmla="*/ 0 w 32"/>
                  <a:gd name="T3" fmla="*/ 0 h 409"/>
                  <a:gd name="T4" fmla="*/ 0 w 32"/>
                  <a:gd name="T5" fmla="*/ 0 h 409"/>
                  <a:gd name="T6" fmla="*/ 0 w 32"/>
                  <a:gd name="T7" fmla="*/ 0 h 409"/>
                  <a:gd name="T8" fmla="*/ 0 w 32"/>
                  <a:gd name="T9" fmla="*/ 0 h 409"/>
                  <a:gd name="T10" fmla="*/ 0 w 32"/>
                  <a:gd name="T11" fmla="*/ 0 h 409"/>
                  <a:gd name="T12" fmla="*/ 0 w 32"/>
                  <a:gd name="T13" fmla="*/ 0 h 409"/>
                  <a:gd name="T14" fmla="*/ 0 w 32"/>
                  <a:gd name="T15" fmla="*/ 0 h 409"/>
                  <a:gd name="T16" fmla="*/ 0 w 32"/>
                  <a:gd name="T17" fmla="*/ 0 h 409"/>
                  <a:gd name="T18" fmla="*/ 0 w 32"/>
                  <a:gd name="T19" fmla="*/ 0 h 409"/>
                  <a:gd name="T20" fmla="*/ 0 w 32"/>
                  <a:gd name="T21" fmla="*/ 0 h 409"/>
                  <a:gd name="T22" fmla="*/ 0 w 32"/>
                  <a:gd name="T23" fmla="*/ 0 h 40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09">
                    <a:moveTo>
                      <a:pt x="0" y="409"/>
                    </a:moveTo>
                    <a:lnTo>
                      <a:pt x="0" y="0"/>
                    </a:lnTo>
                    <a:lnTo>
                      <a:pt x="4" y="1"/>
                    </a:lnTo>
                    <a:lnTo>
                      <a:pt x="8" y="2"/>
                    </a:lnTo>
                    <a:lnTo>
                      <a:pt x="12" y="2"/>
                    </a:lnTo>
                    <a:lnTo>
                      <a:pt x="16" y="4"/>
                    </a:lnTo>
                    <a:lnTo>
                      <a:pt x="20" y="5"/>
                    </a:lnTo>
                    <a:lnTo>
                      <a:pt x="25" y="6"/>
                    </a:lnTo>
                    <a:lnTo>
                      <a:pt x="28" y="7"/>
                    </a:lnTo>
                    <a:lnTo>
                      <a:pt x="32" y="8"/>
                    </a:lnTo>
                    <a:lnTo>
                      <a:pt x="32" y="377"/>
                    </a:lnTo>
                    <a:lnTo>
                      <a:pt x="0" y="40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22" name="Freeform 1576"/>
              <p:cNvSpPr>
                <a:spLocks noChangeAspect="1"/>
              </p:cNvSpPr>
              <p:nvPr/>
            </p:nvSpPr>
            <p:spPr bwMode="auto">
              <a:xfrm>
                <a:off x="5425" y="1008"/>
                <a:ext cx="11" cy="129"/>
              </a:xfrm>
              <a:custGeom>
                <a:avLst/>
                <a:gdLst>
                  <a:gd name="T0" fmla="*/ 0 w 32"/>
                  <a:gd name="T1" fmla="*/ 0 h 389"/>
                  <a:gd name="T2" fmla="*/ 0 w 32"/>
                  <a:gd name="T3" fmla="*/ 0 h 389"/>
                  <a:gd name="T4" fmla="*/ 0 w 32"/>
                  <a:gd name="T5" fmla="*/ 0 h 389"/>
                  <a:gd name="T6" fmla="*/ 0 w 32"/>
                  <a:gd name="T7" fmla="*/ 0 h 389"/>
                  <a:gd name="T8" fmla="*/ 0 w 32"/>
                  <a:gd name="T9" fmla="*/ 0 h 389"/>
                  <a:gd name="T10" fmla="*/ 0 w 32"/>
                  <a:gd name="T11" fmla="*/ 0 h 389"/>
                  <a:gd name="T12" fmla="*/ 0 w 32"/>
                  <a:gd name="T13" fmla="*/ 0 h 389"/>
                  <a:gd name="T14" fmla="*/ 0 w 32"/>
                  <a:gd name="T15" fmla="*/ 0 h 389"/>
                  <a:gd name="T16" fmla="*/ 0 w 32"/>
                  <a:gd name="T17" fmla="*/ 0 h 389"/>
                  <a:gd name="T18" fmla="*/ 0 w 32"/>
                  <a:gd name="T19" fmla="*/ 0 h 389"/>
                  <a:gd name="T20" fmla="*/ 0 w 32"/>
                  <a:gd name="T21" fmla="*/ 0 h 389"/>
                  <a:gd name="T22" fmla="*/ 0 w 32"/>
                  <a:gd name="T23" fmla="*/ 0 h 3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89">
                    <a:moveTo>
                      <a:pt x="0" y="389"/>
                    </a:moveTo>
                    <a:lnTo>
                      <a:pt x="0" y="0"/>
                    </a:lnTo>
                    <a:lnTo>
                      <a:pt x="4" y="1"/>
                    </a:lnTo>
                    <a:lnTo>
                      <a:pt x="9" y="2"/>
                    </a:lnTo>
                    <a:lnTo>
                      <a:pt x="12" y="3"/>
                    </a:lnTo>
                    <a:lnTo>
                      <a:pt x="16" y="4"/>
                    </a:lnTo>
                    <a:lnTo>
                      <a:pt x="20" y="5"/>
                    </a:lnTo>
                    <a:lnTo>
                      <a:pt x="24" y="6"/>
                    </a:lnTo>
                    <a:lnTo>
                      <a:pt x="29" y="7"/>
                    </a:lnTo>
                    <a:lnTo>
                      <a:pt x="32" y="9"/>
                    </a:lnTo>
                    <a:lnTo>
                      <a:pt x="32" y="357"/>
                    </a:lnTo>
                    <a:lnTo>
                      <a:pt x="0" y="3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23" name="Freeform 1577"/>
              <p:cNvSpPr>
                <a:spLocks noChangeAspect="1"/>
              </p:cNvSpPr>
              <p:nvPr/>
            </p:nvSpPr>
            <p:spPr bwMode="auto">
              <a:xfrm>
                <a:off x="5430" y="1009"/>
                <a:ext cx="11" cy="123"/>
              </a:xfrm>
              <a:custGeom>
                <a:avLst/>
                <a:gdLst>
                  <a:gd name="T0" fmla="*/ 0 w 33"/>
                  <a:gd name="T1" fmla="*/ 0 h 369"/>
                  <a:gd name="T2" fmla="*/ 0 w 33"/>
                  <a:gd name="T3" fmla="*/ 0 h 369"/>
                  <a:gd name="T4" fmla="*/ 0 w 33"/>
                  <a:gd name="T5" fmla="*/ 0 h 369"/>
                  <a:gd name="T6" fmla="*/ 0 w 33"/>
                  <a:gd name="T7" fmla="*/ 0 h 369"/>
                  <a:gd name="T8" fmla="*/ 0 w 33"/>
                  <a:gd name="T9" fmla="*/ 0 h 369"/>
                  <a:gd name="T10" fmla="*/ 0 w 33"/>
                  <a:gd name="T11" fmla="*/ 0 h 369"/>
                  <a:gd name="T12" fmla="*/ 0 w 33"/>
                  <a:gd name="T13" fmla="*/ 0 h 369"/>
                  <a:gd name="T14" fmla="*/ 0 w 33"/>
                  <a:gd name="T15" fmla="*/ 0 h 369"/>
                  <a:gd name="T16" fmla="*/ 0 w 33"/>
                  <a:gd name="T17" fmla="*/ 0 h 369"/>
                  <a:gd name="T18" fmla="*/ 0 w 33"/>
                  <a:gd name="T19" fmla="*/ 0 h 369"/>
                  <a:gd name="T20" fmla="*/ 0 w 33"/>
                  <a:gd name="T21" fmla="*/ 0 h 369"/>
                  <a:gd name="T22" fmla="*/ 0 w 33"/>
                  <a:gd name="T23" fmla="*/ 0 h 3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69">
                    <a:moveTo>
                      <a:pt x="0" y="369"/>
                    </a:moveTo>
                    <a:lnTo>
                      <a:pt x="0" y="0"/>
                    </a:lnTo>
                    <a:lnTo>
                      <a:pt x="4" y="1"/>
                    </a:lnTo>
                    <a:lnTo>
                      <a:pt x="8" y="2"/>
                    </a:lnTo>
                    <a:lnTo>
                      <a:pt x="13" y="3"/>
                    </a:lnTo>
                    <a:lnTo>
                      <a:pt x="16" y="5"/>
                    </a:lnTo>
                    <a:lnTo>
                      <a:pt x="20" y="6"/>
                    </a:lnTo>
                    <a:lnTo>
                      <a:pt x="24" y="7"/>
                    </a:lnTo>
                    <a:lnTo>
                      <a:pt x="29" y="8"/>
                    </a:lnTo>
                    <a:lnTo>
                      <a:pt x="33" y="10"/>
                    </a:lnTo>
                    <a:lnTo>
                      <a:pt x="33" y="336"/>
                    </a:lnTo>
                    <a:lnTo>
                      <a:pt x="0" y="36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24" name="Freeform 1578"/>
              <p:cNvSpPr>
                <a:spLocks noChangeAspect="1"/>
              </p:cNvSpPr>
              <p:nvPr/>
            </p:nvSpPr>
            <p:spPr bwMode="auto">
              <a:xfrm>
                <a:off x="5436" y="1011"/>
                <a:ext cx="11" cy="116"/>
              </a:xfrm>
              <a:custGeom>
                <a:avLst/>
                <a:gdLst>
                  <a:gd name="T0" fmla="*/ 0 w 33"/>
                  <a:gd name="T1" fmla="*/ 0 h 348"/>
                  <a:gd name="T2" fmla="*/ 0 w 33"/>
                  <a:gd name="T3" fmla="*/ 0 h 348"/>
                  <a:gd name="T4" fmla="*/ 0 w 33"/>
                  <a:gd name="T5" fmla="*/ 0 h 348"/>
                  <a:gd name="T6" fmla="*/ 0 w 33"/>
                  <a:gd name="T7" fmla="*/ 0 h 348"/>
                  <a:gd name="T8" fmla="*/ 0 w 33"/>
                  <a:gd name="T9" fmla="*/ 0 h 348"/>
                  <a:gd name="T10" fmla="*/ 0 w 33"/>
                  <a:gd name="T11" fmla="*/ 0 h 348"/>
                  <a:gd name="T12" fmla="*/ 0 w 33"/>
                  <a:gd name="T13" fmla="*/ 0 h 348"/>
                  <a:gd name="T14" fmla="*/ 0 w 33"/>
                  <a:gd name="T15" fmla="*/ 0 h 348"/>
                  <a:gd name="T16" fmla="*/ 0 w 33"/>
                  <a:gd name="T17" fmla="*/ 0 h 348"/>
                  <a:gd name="T18" fmla="*/ 0 w 33"/>
                  <a:gd name="T19" fmla="*/ 0 h 348"/>
                  <a:gd name="T20" fmla="*/ 0 w 33"/>
                  <a:gd name="T21" fmla="*/ 0 h 348"/>
                  <a:gd name="T22" fmla="*/ 0 w 33"/>
                  <a:gd name="T23" fmla="*/ 0 h 3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48">
                    <a:moveTo>
                      <a:pt x="0" y="348"/>
                    </a:moveTo>
                    <a:lnTo>
                      <a:pt x="0" y="0"/>
                    </a:lnTo>
                    <a:lnTo>
                      <a:pt x="4" y="1"/>
                    </a:lnTo>
                    <a:lnTo>
                      <a:pt x="8" y="2"/>
                    </a:lnTo>
                    <a:lnTo>
                      <a:pt x="13" y="3"/>
                    </a:lnTo>
                    <a:lnTo>
                      <a:pt x="17" y="5"/>
                    </a:lnTo>
                    <a:lnTo>
                      <a:pt x="20" y="6"/>
                    </a:lnTo>
                    <a:lnTo>
                      <a:pt x="24" y="8"/>
                    </a:lnTo>
                    <a:lnTo>
                      <a:pt x="29" y="10"/>
                    </a:lnTo>
                    <a:lnTo>
                      <a:pt x="33" y="11"/>
                    </a:lnTo>
                    <a:lnTo>
                      <a:pt x="33" y="315"/>
                    </a:lnTo>
                    <a:lnTo>
                      <a:pt x="0" y="3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25" name="Freeform 1579"/>
              <p:cNvSpPr>
                <a:spLocks noChangeAspect="1"/>
              </p:cNvSpPr>
              <p:nvPr/>
            </p:nvSpPr>
            <p:spPr bwMode="auto">
              <a:xfrm>
                <a:off x="5441" y="1012"/>
                <a:ext cx="11" cy="109"/>
              </a:xfrm>
              <a:custGeom>
                <a:avLst/>
                <a:gdLst>
                  <a:gd name="T0" fmla="*/ 0 w 32"/>
                  <a:gd name="T1" fmla="*/ 0 h 326"/>
                  <a:gd name="T2" fmla="*/ 0 w 32"/>
                  <a:gd name="T3" fmla="*/ 0 h 326"/>
                  <a:gd name="T4" fmla="*/ 0 w 32"/>
                  <a:gd name="T5" fmla="*/ 0 h 326"/>
                  <a:gd name="T6" fmla="*/ 0 w 32"/>
                  <a:gd name="T7" fmla="*/ 0 h 326"/>
                  <a:gd name="T8" fmla="*/ 0 w 32"/>
                  <a:gd name="T9" fmla="*/ 0 h 326"/>
                  <a:gd name="T10" fmla="*/ 0 w 32"/>
                  <a:gd name="T11" fmla="*/ 0 h 326"/>
                  <a:gd name="T12" fmla="*/ 0 w 32"/>
                  <a:gd name="T13" fmla="*/ 0 h 326"/>
                  <a:gd name="T14" fmla="*/ 0 w 32"/>
                  <a:gd name="T15" fmla="*/ 0 h 326"/>
                  <a:gd name="T16" fmla="*/ 0 w 32"/>
                  <a:gd name="T17" fmla="*/ 0 h 326"/>
                  <a:gd name="T18" fmla="*/ 0 w 32"/>
                  <a:gd name="T19" fmla="*/ 0 h 326"/>
                  <a:gd name="T20" fmla="*/ 0 w 32"/>
                  <a:gd name="T21" fmla="*/ 0 h 326"/>
                  <a:gd name="T22" fmla="*/ 0 w 32"/>
                  <a:gd name="T23" fmla="*/ 0 h 3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26">
                    <a:moveTo>
                      <a:pt x="0" y="326"/>
                    </a:moveTo>
                    <a:lnTo>
                      <a:pt x="0" y="0"/>
                    </a:lnTo>
                    <a:lnTo>
                      <a:pt x="3" y="1"/>
                    </a:lnTo>
                    <a:lnTo>
                      <a:pt x="7" y="3"/>
                    </a:lnTo>
                    <a:lnTo>
                      <a:pt x="12" y="5"/>
                    </a:lnTo>
                    <a:lnTo>
                      <a:pt x="16" y="6"/>
                    </a:lnTo>
                    <a:lnTo>
                      <a:pt x="20" y="8"/>
                    </a:lnTo>
                    <a:lnTo>
                      <a:pt x="23" y="10"/>
                    </a:lnTo>
                    <a:lnTo>
                      <a:pt x="28" y="11"/>
                    </a:lnTo>
                    <a:lnTo>
                      <a:pt x="32" y="13"/>
                    </a:lnTo>
                    <a:lnTo>
                      <a:pt x="32" y="294"/>
                    </a:lnTo>
                    <a:lnTo>
                      <a:pt x="0" y="3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26" name="Freeform 1580"/>
              <p:cNvSpPr>
                <a:spLocks noChangeAspect="1"/>
              </p:cNvSpPr>
              <p:nvPr/>
            </p:nvSpPr>
            <p:spPr bwMode="auto">
              <a:xfrm>
                <a:off x="5447" y="1014"/>
                <a:ext cx="10" cy="102"/>
              </a:xfrm>
              <a:custGeom>
                <a:avLst/>
                <a:gdLst>
                  <a:gd name="T0" fmla="*/ 0 w 32"/>
                  <a:gd name="T1" fmla="*/ 0 h 304"/>
                  <a:gd name="T2" fmla="*/ 0 w 32"/>
                  <a:gd name="T3" fmla="*/ 0 h 304"/>
                  <a:gd name="T4" fmla="*/ 0 w 32"/>
                  <a:gd name="T5" fmla="*/ 0 h 304"/>
                  <a:gd name="T6" fmla="*/ 0 w 32"/>
                  <a:gd name="T7" fmla="*/ 0 h 304"/>
                  <a:gd name="T8" fmla="*/ 0 w 32"/>
                  <a:gd name="T9" fmla="*/ 0 h 304"/>
                  <a:gd name="T10" fmla="*/ 0 w 32"/>
                  <a:gd name="T11" fmla="*/ 0 h 304"/>
                  <a:gd name="T12" fmla="*/ 0 w 32"/>
                  <a:gd name="T13" fmla="*/ 0 h 304"/>
                  <a:gd name="T14" fmla="*/ 0 w 32"/>
                  <a:gd name="T15" fmla="*/ 0 h 304"/>
                  <a:gd name="T16" fmla="*/ 0 w 32"/>
                  <a:gd name="T17" fmla="*/ 0 h 304"/>
                  <a:gd name="T18" fmla="*/ 0 w 32"/>
                  <a:gd name="T19" fmla="*/ 0 h 304"/>
                  <a:gd name="T20" fmla="*/ 0 w 32"/>
                  <a:gd name="T21" fmla="*/ 0 h 304"/>
                  <a:gd name="T22" fmla="*/ 0 w 32"/>
                  <a:gd name="T23" fmla="*/ 0 h 30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04">
                    <a:moveTo>
                      <a:pt x="0" y="304"/>
                    </a:moveTo>
                    <a:lnTo>
                      <a:pt x="0" y="0"/>
                    </a:lnTo>
                    <a:lnTo>
                      <a:pt x="4" y="2"/>
                    </a:lnTo>
                    <a:lnTo>
                      <a:pt x="7" y="4"/>
                    </a:lnTo>
                    <a:lnTo>
                      <a:pt x="12" y="5"/>
                    </a:lnTo>
                    <a:lnTo>
                      <a:pt x="16" y="7"/>
                    </a:lnTo>
                    <a:lnTo>
                      <a:pt x="20" y="9"/>
                    </a:lnTo>
                    <a:lnTo>
                      <a:pt x="24" y="10"/>
                    </a:lnTo>
                    <a:lnTo>
                      <a:pt x="28" y="13"/>
                    </a:lnTo>
                    <a:lnTo>
                      <a:pt x="32" y="15"/>
                    </a:lnTo>
                    <a:lnTo>
                      <a:pt x="32" y="272"/>
                    </a:lnTo>
                    <a:lnTo>
                      <a:pt x="0" y="30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27" name="Freeform 1581"/>
              <p:cNvSpPr>
                <a:spLocks noChangeAspect="1"/>
              </p:cNvSpPr>
              <p:nvPr/>
            </p:nvSpPr>
            <p:spPr bwMode="auto">
              <a:xfrm>
                <a:off x="5452" y="1017"/>
                <a:ext cx="11" cy="93"/>
              </a:xfrm>
              <a:custGeom>
                <a:avLst/>
                <a:gdLst>
                  <a:gd name="T0" fmla="*/ 0 w 32"/>
                  <a:gd name="T1" fmla="*/ 0 h 281"/>
                  <a:gd name="T2" fmla="*/ 0 w 32"/>
                  <a:gd name="T3" fmla="*/ 0 h 281"/>
                  <a:gd name="T4" fmla="*/ 0 w 32"/>
                  <a:gd name="T5" fmla="*/ 0 h 281"/>
                  <a:gd name="T6" fmla="*/ 0 w 32"/>
                  <a:gd name="T7" fmla="*/ 0 h 281"/>
                  <a:gd name="T8" fmla="*/ 0 w 32"/>
                  <a:gd name="T9" fmla="*/ 0 h 281"/>
                  <a:gd name="T10" fmla="*/ 0 w 32"/>
                  <a:gd name="T11" fmla="*/ 0 h 281"/>
                  <a:gd name="T12" fmla="*/ 0 w 32"/>
                  <a:gd name="T13" fmla="*/ 0 h 281"/>
                  <a:gd name="T14" fmla="*/ 0 w 32"/>
                  <a:gd name="T15" fmla="*/ 0 h 281"/>
                  <a:gd name="T16" fmla="*/ 0 w 32"/>
                  <a:gd name="T17" fmla="*/ 0 h 281"/>
                  <a:gd name="T18" fmla="*/ 0 w 32"/>
                  <a:gd name="T19" fmla="*/ 0 h 281"/>
                  <a:gd name="T20" fmla="*/ 0 w 32"/>
                  <a:gd name="T21" fmla="*/ 0 h 281"/>
                  <a:gd name="T22" fmla="*/ 0 w 32"/>
                  <a:gd name="T23" fmla="*/ 0 h 2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81">
                    <a:moveTo>
                      <a:pt x="0" y="281"/>
                    </a:moveTo>
                    <a:lnTo>
                      <a:pt x="0" y="0"/>
                    </a:lnTo>
                    <a:lnTo>
                      <a:pt x="4" y="1"/>
                    </a:lnTo>
                    <a:lnTo>
                      <a:pt x="8" y="3"/>
                    </a:lnTo>
                    <a:lnTo>
                      <a:pt x="12" y="6"/>
                    </a:lnTo>
                    <a:lnTo>
                      <a:pt x="16" y="8"/>
                    </a:lnTo>
                    <a:lnTo>
                      <a:pt x="20" y="10"/>
                    </a:lnTo>
                    <a:lnTo>
                      <a:pt x="24" y="12"/>
                    </a:lnTo>
                    <a:lnTo>
                      <a:pt x="29" y="14"/>
                    </a:lnTo>
                    <a:lnTo>
                      <a:pt x="32" y="16"/>
                    </a:lnTo>
                    <a:lnTo>
                      <a:pt x="32" y="249"/>
                    </a:lnTo>
                    <a:lnTo>
                      <a:pt x="0" y="2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28" name="Freeform 1582"/>
              <p:cNvSpPr>
                <a:spLocks noChangeAspect="1"/>
              </p:cNvSpPr>
              <p:nvPr/>
            </p:nvSpPr>
            <p:spPr bwMode="auto">
              <a:xfrm>
                <a:off x="5457" y="1019"/>
                <a:ext cx="11" cy="86"/>
              </a:xfrm>
              <a:custGeom>
                <a:avLst/>
                <a:gdLst>
                  <a:gd name="T0" fmla="*/ 0 w 32"/>
                  <a:gd name="T1" fmla="*/ 0 h 257"/>
                  <a:gd name="T2" fmla="*/ 0 w 32"/>
                  <a:gd name="T3" fmla="*/ 0 h 257"/>
                  <a:gd name="T4" fmla="*/ 0 w 32"/>
                  <a:gd name="T5" fmla="*/ 0 h 257"/>
                  <a:gd name="T6" fmla="*/ 0 w 32"/>
                  <a:gd name="T7" fmla="*/ 0 h 257"/>
                  <a:gd name="T8" fmla="*/ 0 w 32"/>
                  <a:gd name="T9" fmla="*/ 0 h 257"/>
                  <a:gd name="T10" fmla="*/ 0 w 32"/>
                  <a:gd name="T11" fmla="*/ 0 h 257"/>
                  <a:gd name="T12" fmla="*/ 0 w 32"/>
                  <a:gd name="T13" fmla="*/ 0 h 257"/>
                  <a:gd name="T14" fmla="*/ 0 w 32"/>
                  <a:gd name="T15" fmla="*/ 0 h 257"/>
                  <a:gd name="T16" fmla="*/ 0 w 32"/>
                  <a:gd name="T17" fmla="*/ 0 h 257"/>
                  <a:gd name="T18" fmla="*/ 0 w 32"/>
                  <a:gd name="T19" fmla="*/ 0 h 257"/>
                  <a:gd name="T20" fmla="*/ 0 w 32"/>
                  <a:gd name="T21" fmla="*/ 0 h 257"/>
                  <a:gd name="T22" fmla="*/ 0 w 32"/>
                  <a:gd name="T23" fmla="*/ 0 h 2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57">
                    <a:moveTo>
                      <a:pt x="0" y="257"/>
                    </a:moveTo>
                    <a:lnTo>
                      <a:pt x="0" y="0"/>
                    </a:lnTo>
                    <a:lnTo>
                      <a:pt x="4" y="2"/>
                    </a:lnTo>
                    <a:lnTo>
                      <a:pt x="8" y="4"/>
                    </a:lnTo>
                    <a:lnTo>
                      <a:pt x="13" y="6"/>
                    </a:lnTo>
                    <a:lnTo>
                      <a:pt x="16" y="8"/>
                    </a:lnTo>
                    <a:lnTo>
                      <a:pt x="20" y="10"/>
                    </a:lnTo>
                    <a:lnTo>
                      <a:pt x="24" y="12"/>
                    </a:lnTo>
                    <a:lnTo>
                      <a:pt x="29" y="15"/>
                    </a:lnTo>
                    <a:lnTo>
                      <a:pt x="32" y="17"/>
                    </a:lnTo>
                    <a:lnTo>
                      <a:pt x="32" y="224"/>
                    </a:lnTo>
                    <a:lnTo>
                      <a:pt x="0" y="25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29" name="Freeform 1583"/>
              <p:cNvSpPr>
                <a:spLocks noChangeAspect="1"/>
              </p:cNvSpPr>
              <p:nvPr/>
            </p:nvSpPr>
            <p:spPr bwMode="auto">
              <a:xfrm>
                <a:off x="5463" y="1022"/>
                <a:ext cx="11" cy="78"/>
              </a:xfrm>
              <a:custGeom>
                <a:avLst/>
                <a:gdLst>
                  <a:gd name="T0" fmla="*/ 0 w 33"/>
                  <a:gd name="T1" fmla="*/ 0 h 233"/>
                  <a:gd name="T2" fmla="*/ 0 w 33"/>
                  <a:gd name="T3" fmla="*/ 0 h 233"/>
                  <a:gd name="T4" fmla="*/ 0 w 33"/>
                  <a:gd name="T5" fmla="*/ 0 h 233"/>
                  <a:gd name="T6" fmla="*/ 0 w 33"/>
                  <a:gd name="T7" fmla="*/ 0 h 233"/>
                  <a:gd name="T8" fmla="*/ 0 w 33"/>
                  <a:gd name="T9" fmla="*/ 0 h 233"/>
                  <a:gd name="T10" fmla="*/ 0 w 33"/>
                  <a:gd name="T11" fmla="*/ 0 h 233"/>
                  <a:gd name="T12" fmla="*/ 0 w 33"/>
                  <a:gd name="T13" fmla="*/ 0 h 233"/>
                  <a:gd name="T14" fmla="*/ 0 w 33"/>
                  <a:gd name="T15" fmla="*/ 0 h 233"/>
                  <a:gd name="T16" fmla="*/ 0 w 33"/>
                  <a:gd name="T17" fmla="*/ 0 h 233"/>
                  <a:gd name="T18" fmla="*/ 0 w 33"/>
                  <a:gd name="T19" fmla="*/ 0 h 233"/>
                  <a:gd name="T20" fmla="*/ 0 w 33"/>
                  <a:gd name="T21" fmla="*/ 0 h 233"/>
                  <a:gd name="T22" fmla="*/ 0 w 33"/>
                  <a:gd name="T23" fmla="*/ 0 h 2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233">
                    <a:moveTo>
                      <a:pt x="0" y="233"/>
                    </a:moveTo>
                    <a:lnTo>
                      <a:pt x="0" y="0"/>
                    </a:lnTo>
                    <a:lnTo>
                      <a:pt x="4" y="2"/>
                    </a:lnTo>
                    <a:lnTo>
                      <a:pt x="8" y="4"/>
                    </a:lnTo>
                    <a:lnTo>
                      <a:pt x="13" y="7"/>
                    </a:lnTo>
                    <a:lnTo>
                      <a:pt x="17" y="9"/>
                    </a:lnTo>
                    <a:lnTo>
                      <a:pt x="20" y="12"/>
                    </a:lnTo>
                    <a:lnTo>
                      <a:pt x="24" y="14"/>
                    </a:lnTo>
                    <a:lnTo>
                      <a:pt x="29" y="16"/>
                    </a:lnTo>
                    <a:lnTo>
                      <a:pt x="33" y="19"/>
                    </a:lnTo>
                    <a:lnTo>
                      <a:pt x="33" y="200"/>
                    </a:lnTo>
                    <a:lnTo>
                      <a:pt x="0" y="23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30" name="Freeform 1584"/>
              <p:cNvSpPr>
                <a:spLocks noChangeAspect="1"/>
              </p:cNvSpPr>
              <p:nvPr/>
            </p:nvSpPr>
            <p:spPr bwMode="auto">
              <a:xfrm>
                <a:off x="5468" y="1025"/>
                <a:ext cx="11" cy="69"/>
              </a:xfrm>
              <a:custGeom>
                <a:avLst/>
                <a:gdLst>
                  <a:gd name="T0" fmla="*/ 0 w 33"/>
                  <a:gd name="T1" fmla="*/ 0 h 207"/>
                  <a:gd name="T2" fmla="*/ 0 w 33"/>
                  <a:gd name="T3" fmla="*/ 0 h 207"/>
                  <a:gd name="T4" fmla="*/ 0 w 33"/>
                  <a:gd name="T5" fmla="*/ 0 h 207"/>
                  <a:gd name="T6" fmla="*/ 0 w 33"/>
                  <a:gd name="T7" fmla="*/ 0 h 207"/>
                  <a:gd name="T8" fmla="*/ 0 w 33"/>
                  <a:gd name="T9" fmla="*/ 0 h 207"/>
                  <a:gd name="T10" fmla="*/ 0 w 33"/>
                  <a:gd name="T11" fmla="*/ 0 h 207"/>
                  <a:gd name="T12" fmla="*/ 0 w 33"/>
                  <a:gd name="T13" fmla="*/ 0 h 207"/>
                  <a:gd name="T14" fmla="*/ 0 w 33"/>
                  <a:gd name="T15" fmla="*/ 0 h 207"/>
                  <a:gd name="T16" fmla="*/ 0 w 33"/>
                  <a:gd name="T17" fmla="*/ 0 h 207"/>
                  <a:gd name="T18" fmla="*/ 0 w 33"/>
                  <a:gd name="T19" fmla="*/ 0 h 207"/>
                  <a:gd name="T20" fmla="*/ 0 w 33"/>
                  <a:gd name="T21" fmla="*/ 0 h 207"/>
                  <a:gd name="T22" fmla="*/ 0 w 33"/>
                  <a:gd name="T23" fmla="*/ 0 h 2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207">
                    <a:moveTo>
                      <a:pt x="0" y="207"/>
                    </a:moveTo>
                    <a:lnTo>
                      <a:pt x="0" y="0"/>
                    </a:lnTo>
                    <a:lnTo>
                      <a:pt x="4" y="3"/>
                    </a:lnTo>
                    <a:lnTo>
                      <a:pt x="8" y="5"/>
                    </a:lnTo>
                    <a:lnTo>
                      <a:pt x="13" y="7"/>
                    </a:lnTo>
                    <a:lnTo>
                      <a:pt x="17" y="10"/>
                    </a:lnTo>
                    <a:lnTo>
                      <a:pt x="21" y="12"/>
                    </a:lnTo>
                    <a:lnTo>
                      <a:pt x="24" y="16"/>
                    </a:lnTo>
                    <a:lnTo>
                      <a:pt x="29" y="19"/>
                    </a:lnTo>
                    <a:lnTo>
                      <a:pt x="33" y="21"/>
                    </a:lnTo>
                    <a:lnTo>
                      <a:pt x="33" y="175"/>
                    </a:lnTo>
                    <a:lnTo>
                      <a:pt x="0" y="2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31" name="Freeform 1585"/>
              <p:cNvSpPr>
                <a:spLocks noChangeAspect="1"/>
              </p:cNvSpPr>
              <p:nvPr/>
            </p:nvSpPr>
            <p:spPr bwMode="auto">
              <a:xfrm>
                <a:off x="5474" y="1028"/>
                <a:ext cx="10" cy="61"/>
              </a:xfrm>
              <a:custGeom>
                <a:avLst/>
                <a:gdLst>
                  <a:gd name="T0" fmla="*/ 0 w 32"/>
                  <a:gd name="T1" fmla="*/ 0 h 181"/>
                  <a:gd name="T2" fmla="*/ 0 w 32"/>
                  <a:gd name="T3" fmla="*/ 0 h 181"/>
                  <a:gd name="T4" fmla="*/ 0 w 32"/>
                  <a:gd name="T5" fmla="*/ 0 h 181"/>
                  <a:gd name="T6" fmla="*/ 0 w 32"/>
                  <a:gd name="T7" fmla="*/ 0 h 181"/>
                  <a:gd name="T8" fmla="*/ 0 w 32"/>
                  <a:gd name="T9" fmla="*/ 0 h 181"/>
                  <a:gd name="T10" fmla="*/ 0 w 32"/>
                  <a:gd name="T11" fmla="*/ 0 h 181"/>
                  <a:gd name="T12" fmla="*/ 0 w 32"/>
                  <a:gd name="T13" fmla="*/ 0 h 181"/>
                  <a:gd name="T14" fmla="*/ 0 w 32"/>
                  <a:gd name="T15" fmla="*/ 0 h 181"/>
                  <a:gd name="T16" fmla="*/ 0 w 32"/>
                  <a:gd name="T17" fmla="*/ 0 h 181"/>
                  <a:gd name="T18" fmla="*/ 0 w 32"/>
                  <a:gd name="T19" fmla="*/ 0 h 181"/>
                  <a:gd name="T20" fmla="*/ 0 w 32"/>
                  <a:gd name="T21" fmla="*/ 0 h 181"/>
                  <a:gd name="T22" fmla="*/ 0 w 32"/>
                  <a:gd name="T23" fmla="*/ 0 h 1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181">
                    <a:moveTo>
                      <a:pt x="0" y="181"/>
                    </a:moveTo>
                    <a:lnTo>
                      <a:pt x="0" y="0"/>
                    </a:lnTo>
                    <a:lnTo>
                      <a:pt x="4" y="2"/>
                    </a:lnTo>
                    <a:lnTo>
                      <a:pt x="7" y="6"/>
                    </a:lnTo>
                    <a:lnTo>
                      <a:pt x="12" y="9"/>
                    </a:lnTo>
                    <a:lnTo>
                      <a:pt x="16" y="11"/>
                    </a:lnTo>
                    <a:lnTo>
                      <a:pt x="20" y="14"/>
                    </a:lnTo>
                    <a:lnTo>
                      <a:pt x="24" y="17"/>
                    </a:lnTo>
                    <a:lnTo>
                      <a:pt x="27" y="20"/>
                    </a:lnTo>
                    <a:lnTo>
                      <a:pt x="32" y="23"/>
                    </a:lnTo>
                    <a:lnTo>
                      <a:pt x="32" y="149"/>
                    </a:lnTo>
                    <a:lnTo>
                      <a:pt x="0" y="1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32" name="Freeform 1586"/>
              <p:cNvSpPr>
                <a:spLocks noChangeAspect="1"/>
              </p:cNvSpPr>
              <p:nvPr/>
            </p:nvSpPr>
            <p:spPr bwMode="auto">
              <a:xfrm>
                <a:off x="5479" y="1032"/>
                <a:ext cx="11" cy="51"/>
              </a:xfrm>
              <a:custGeom>
                <a:avLst/>
                <a:gdLst>
                  <a:gd name="T0" fmla="*/ 0 w 32"/>
                  <a:gd name="T1" fmla="*/ 0 h 154"/>
                  <a:gd name="T2" fmla="*/ 0 w 32"/>
                  <a:gd name="T3" fmla="*/ 0 h 154"/>
                  <a:gd name="T4" fmla="*/ 0 w 32"/>
                  <a:gd name="T5" fmla="*/ 0 h 154"/>
                  <a:gd name="T6" fmla="*/ 0 w 32"/>
                  <a:gd name="T7" fmla="*/ 0 h 154"/>
                  <a:gd name="T8" fmla="*/ 0 w 32"/>
                  <a:gd name="T9" fmla="*/ 0 h 154"/>
                  <a:gd name="T10" fmla="*/ 0 w 32"/>
                  <a:gd name="T11" fmla="*/ 0 h 154"/>
                  <a:gd name="T12" fmla="*/ 0 w 32"/>
                  <a:gd name="T13" fmla="*/ 0 h 154"/>
                  <a:gd name="T14" fmla="*/ 0 w 32"/>
                  <a:gd name="T15" fmla="*/ 0 h 154"/>
                  <a:gd name="T16" fmla="*/ 0 w 32"/>
                  <a:gd name="T17" fmla="*/ 0 h 154"/>
                  <a:gd name="T18" fmla="*/ 0 w 32"/>
                  <a:gd name="T19" fmla="*/ 0 h 154"/>
                  <a:gd name="T20" fmla="*/ 0 w 32"/>
                  <a:gd name="T21" fmla="*/ 0 h 154"/>
                  <a:gd name="T22" fmla="*/ 0 w 32"/>
                  <a:gd name="T23" fmla="*/ 0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154">
                    <a:moveTo>
                      <a:pt x="0" y="154"/>
                    </a:moveTo>
                    <a:lnTo>
                      <a:pt x="0" y="0"/>
                    </a:lnTo>
                    <a:lnTo>
                      <a:pt x="4" y="3"/>
                    </a:lnTo>
                    <a:lnTo>
                      <a:pt x="8" y="6"/>
                    </a:lnTo>
                    <a:lnTo>
                      <a:pt x="11" y="9"/>
                    </a:lnTo>
                    <a:lnTo>
                      <a:pt x="16" y="13"/>
                    </a:lnTo>
                    <a:lnTo>
                      <a:pt x="20" y="16"/>
                    </a:lnTo>
                    <a:lnTo>
                      <a:pt x="24" y="19"/>
                    </a:lnTo>
                    <a:lnTo>
                      <a:pt x="29" y="22"/>
                    </a:lnTo>
                    <a:lnTo>
                      <a:pt x="32" y="25"/>
                    </a:lnTo>
                    <a:lnTo>
                      <a:pt x="32" y="122"/>
                    </a:lnTo>
                    <a:lnTo>
                      <a:pt x="0" y="15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33" name="Freeform 1587"/>
              <p:cNvSpPr>
                <a:spLocks noChangeAspect="1"/>
              </p:cNvSpPr>
              <p:nvPr/>
            </p:nvSpPr>
            <p:spPr bwMode="auto">
              <a:xfrm>
                <a:off x="5484" y="1036"/>
                <a:ext cx="11" cy="42"/>
              </a:xfrm>
              <a:custGeom>
                <a:avLst/>
                <a:gdLst>
                  <a:gd name="T0" fmla="*/ 0 w 32"/>
                  <a:gd name="T1" fmla="*/ 0 h 126"/>
                  <a:gd name="T2" fmla="*/ 0 w 32"/>
                  <a:gd name="T3" fmla="*/ 0 h 126"/>
                  <a:gd name="T4" fmla="*/ 0 w 32"/>
                  <a:gd name="T5" fmla="*/ 0 h 126"/>
                  <a:gd name="T6" fmla="*/ 0 w 32"/>
                  <a:gd name="T7" fmla="*/ 0 h 126"/>
                  <a:gd name="T8" fmla="*/ 0 w 32"/>
                  <a:gd name="T9" fmla="*/ 0 h 126"/>
                  <a:gd name="T10" fmla="*/ 0 w 32"/>
                  <a:gd name="T11" fmla="*/ 0 h 126"/>
                  <a:gd name="T12" fmla="*/ 0 w 32"/>
                  <a:gd name="T13" fmla="*/ 0 h 126"/>
                  <a:gd name="T14" fmla="*/ 0 w 32"/>
                  <a:gd name="T15" fmla="*/ 0 h 126"/>
                  <a:gd name="T16" fmla="*/ 0 w 32"/>
                  <a:gd name="T17" fmla="*/ 0 h 126"/>
                  <a:gd name="T18" fmla="*/ 0 w 32"/>
                  <a:gd name="T19" fmla="*/ 0 h 126"/>
                  <a:gd name="T20" fmla="*/ 0 w 32"/>
                  <a:gd name="T21" fmla="*/ 0 h 126"/>
                  <a:gd name="T22" fmla="*/ 0 w 32"/>
                  <a:gd name="T23" fmla="*/ 0 h 1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126">
                    <a:moveTo>
                      <a:pt x="0" y="126"/>
                    </a:moveTo>
                    <a:lnTo>
                      <a:pt x="0" y="0"/>
                    </a:lnTo>
                    <a:lnTo>
                      <a:pt x="4" y="4"/>
                    </a:lnTo>
                    <a:lnTo>
                      <a:pt x="8" y="7"/>
                    </a:lnTo>
                    <a:lnTo>
                      <a:pt x="13" y="10"/>
                    </a:lnTo>
                    <a:lnTo>
                      <a:pt x="17" y="13"/>
                    </a:lnTo>
                    <a:lnTo>
                      <a:pt x="20" y="17"/>
                    </a:lnTo>
                    <a:lnTo>
                      <a:pt x="24" y="21"/>
                    </a:lnTo>
                    <a:lnTo>
                      <a:pt x="28" y="24"/>
                    </a:lnTo>
                    <a:lnTo>
                      <a:pt x="32" y="28"/>
                    </a:lnTo>
                    <a:lnTo>
                      <a:pt x="32" y="93"/>
                    </a:lnTo>
                    <a:lnTo>
                      <a:pt x="0" y="1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34" name="Freeform 1588"/>
              <p:cNvSpPr>
                <a:spLocks noChangeAspect="1"/>
              </p:cNvSpPr>
              <p:nvPr/>
            </p:nvSpPr>
            <p:spPr bwMode="auto">
              <a:xfrm>
                <a:off x="5490" y="1040"/>
                <a:ext cx="11" cy="33"/>
              </a:xfrm>
              <a:custGeom>
                <a:avLst/>
                <a:gdLst>
                  <a:gd name="T0" fmla="*/ 0 w 33"/>
                  <a:gd name="T1" fmla="*/ 0 h 97"/>
                  <a:gd name="T2" fmla="*/ 0 w 33"/>
                  <a:gd name="T3" fmla="*/ 0 h 97"/>
                  <a:gd name="T4" fmla="*/ 0 w 33"/>
                  <a:gd name="T5" fmla="*/ 0 h 97"/>
                  <a:gd name="T6" fmla="*/ 0 w 33"/>
                  <a:gd name="T7" fmla="*/ 0 h 97"/>
                  <a:gd name="T8" fmla="*/ 0 w 33"/>
                  <a:gd name="T9" fmla="*/ 0 h 97"/>
                  <a:gd name="T10" fmla="*/ 0 w 33"/>
                  <a:gd name="T11" fmla="*/ 0 h 97"/>
                  <a:gd name="T12" fmla="*/ 0 w 33"/>
                  <a:gd name="T13" fmla="*/ 0 h 97"/>
                  <a:gd name="T14" fmla="*/ 0 w 33"/>
                  <a:gd name="T15" fmla="*/ 0 h 97"/>
                  <a:gd name="T16" fmla="*/ 0 w 33"/>
                  <a:gd name="T17" fmla="*/ 0 h 97"/>
                  <a:gd name="T18" fmla="*/ 0 w 33"/>
                  <a:gd name="T19" fmla="*/ 0 h 97"/>
                  <a:gd name="T20" fmla="*/ 0 w 33"/>
                  <a:gd name="T21" fmla="*/ 0 h 97"/>
                  <a:gd name="T22" fmla="*/ 0 w 33"/>
                  <a:gd name="T23" fmla="*/ 0 h 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97">
                    <a:moveTo>
                      <a:pt x="0" y="97"/>
                    </a:moveTo>
                    <a:lnTo>
                      <a:pt x="0" y="0"/>
                    </a:lnTo>
                    <a:lnTo>
                      <a:pt x="4" y="4"/>
                    </a:lnTo>
                    <a:lnTo>
                      <a:pt x="8" y="8"/>
                    </a:lnTo>
                    <a:lnTo>
                      <a:pt x="12" y="11"/>
                    </a:lnTo>
                    <a:lnTo>
                      <a:pt x="17" y="15"/>
                    </a:lnTo>
                    <a:lnTo>
                      <a:pt x="21" y="18"/>
                    </a:lnTo>
                    <a:lnTo>
                      <a:pt x="24" y="23"/>
                    </a:lnTo>
                    <a:lnTo>
                      <a:pt x="28" y="27"/>
                    </a:lnTo>
                    <a:lnTo>
                      <a:pt x="33" y="31"/>
                    </a:lnTo>
                    <a:lnTo>
                      <a:pt x="33" y="64"/>
                    </a:lnTo>
                    <a:lnTo>
                      <a:pt x="0" y="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35" name="Freeform 1589"/>
              <p:cNvSpPr>
                <a:spLocks noChangeAspect="1"/>
              </p:cNvSpPr>
              <p:nvPr/>
            </p:nvSpPr>
            <p:spPr bwMode="auto">
              <a:xfrm>
                <a:off x="5495" y="1045"/>
                <a:ext cx="11" cy="22"/>
              </a:xfrm>
              <a:custGeom>
                <a:avLst/>
                <a:gdLst>
                  <a:gd name="T0" fmla="*/ 0 w 33"/>
                  <a:gd name="T1" fmla="*/ 0 h 65"/>
                  <a:gd name="T2" fmla="*/ 0 w 33"/>
                  <a:gd name="T3" fmla="*/ 0 h 65"/>
                  <a:gd name="T4" fmla="*/ 0 w 33"/>
                  <a:gd name="T5" fmla="*/ 0 h 65"/>
                  <a:gd name="T6" fmla="*/ 0 w 33"/>
                  <a:gd name="T7" fmla="*/ 0 h 65"/>
                  <a:gd name="T8" fmla="*/ 0 w 33"/>
                  <a:gd name="T9" fmla="*/ 0 h 65"/>
                  <a:gd name="T10" fmla="*/ 0 w 33"/>
                  <a:gd name="T11" fmla="*/ 0 h 65"/>
                  <a:gd name="T12" fmla="*/ 0 w 33"/>
                  <a:gd name="T13" fmla="*/ 0 h 65"/>
                  <a:gd name="T14" fmla="*/ 0 w 33"/>
                  <a:gd name="T15" fmla="*/ 0 h 65"/>
                  <a:gd name="T16" fmla="*/ 0 w 33"/>
                  <a:gd name="T17" fmla="*/ 0 h 65"/>
                  <a:gd name="T18" fmla="*/ 0 w 33"/>
                  <a:gd name="T19" fmla="*/ 0 h 65"/>
                  <a:gd name="T20" fmla="*/ 0 w 33"/>
                  <a:gd name="T21" fmla="*/ 0 h 65"/>
                  <a:gd name="T22" fmla="*/ 0 w 33"/>
                  <a:gd name="T23" fmla="*/ 0 h 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65">
                    <a:moveTo>
                      <a:pt x="0" y="65"/>
                    </a:moveTo>
                    <a:lnTo>
                      <a:pt x="0" y="0"/>
                    </a:lnTo>
                    <a:lnTo>
                      <a:pt x="4" y="3"/>
                    </a:lnTo>
                    <a:lnTo>
                      <a:pt x="8" y="8"/>
                    </a:lnTo>
                    <a:lnTo>
                      <a:pt x="12" y="12"/>
                    </a:lnTo>
                    <a:lnTo>
                      <a:pt x="17" y="16"/>
                    </a:lnTo>
                    <a:lnTo>
                      <a:pt x="21" y="21"/>
                    </a:lnTo>
                    <a:lnTo>
                      <a:pt x="24" y="25"/>
                    </a:lnTo>
                    <a:lnTo>
                      <a:pt x="28" y="29"/>
                    </a:lnTo>
                    <a:lnTo>
                      <a:pt x="33" y="33"/>
                    </a:lnTo>
                    <a:lnTo>
                      <a:pt x="0" y="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36" name="Freeform 1590"/>
              <p:cNvSpPr>
                <a:spLocks noChangeAspect="1"/>
              </p:cNvSpPr>
              <p:nvPr/>
            </p:nvSpPr>
            <p:spPr bwMode="auto">
              <a:xfrm>
                <a:off x="5501" y="1051"/>
                <a:ext cx="5" cy="11"/>
              </a:xfrm>
              <a:custGeom>
                <a:avLst/>
                <a:gdLst>
                  <a:gd name="T0" fmla="*/ 0 w 16"/>
                  <a:gd name="T1" fmla="*/ 0 h 33"/>
                  <a:gd name="T2" fmla="*/ 0 w 16"/>
                  <a:gd name="T3" fmla="*/ 0 h 33"/>
                  <a:gd name="T4" fmla="*/ 0 w 16"/>
                  <a:gd name="T5" fmla="*/ 0 h 33"/>
                  <a:gd name="T6" fmla="*/ 0 w 16"/>
                  <a:gd name="T7" fmla="*/ 0 h 33"/>
                  <a:gd name="T8" fmla="*/ 0 w 16"/>
                  <a:gd name="T9" fmla="*/ 0 h 33"/>
                  <a:gd name="T10" fmla="*/ 0 w 16"/>
                  <a:gd name="T11" fmla="*/ 0 h 33"/>
                  <a:gd name="T12" fmla="*/ 0 w 16"/>
                  <a:gd name="T13" fmla="*/ 0 h 33"/>
                  <a:gd name="T14" fmla="*/ 0 w 16"/>
                  <a:gd name="T15" fmla="*/ 0 h 33"/>
                  <a:gd name="T16" fmla="*/ 0 w 16"/>
                  <a:gd name="T17" fmla="*/ 0 h 33"/>
                  <a:gd name="T18" fmla="*/ 0 w 16"/>
                  <a:gd name="T19" fmla="*/ 0 h 33"/>
                  <a:gd name="T20" fmla="*/ 0 w 16"/>
                  <a:gd name="T21" fmla="*/ 0 h 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 h="33">
                    <a:moveTo>
                      <a:pt x="0" y="33"/>
                    </a:moveTo>
                    <a:lnTo>
                      <a:pt x="0" y="0"/>
                    </a:lnTo>
                    <a:lnTo>
                      <a:pt x="2" y="2"/>
                    </a:lnTo>
                    <a:lnTo>
                      <a:pt x="3" y="5"/>
                    </a:lnTo>
                    <a:lnTo>
                      <a:pt x="5" y="7"/>
                    </a:lnTo>
                    <a:lnTo>
                      <a:pt x="7" y="9"/>
                    </a:lnTo>
                    <a:lnTo>
                      <a:pt x="9" y="11"/>
                    </a:lnTo>
                    <a:lnTo>
                      <a:pt x="11" y="13"/>
                    </a:lnTo>
                    <a:lnTo>
                      <a:pt x="14" y="15"/>
                    </a:lnTo>
                    <a:lnTo>
                      <a:pt x="16" y="17"/>
                    </a:lnTo>
                    <a:lnTo>
                      <a:pt x="0" y="3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37" name="Freeform 1591"/>
              <p:cNvSpPr>
                <a:spLocks noChangeAspect="1"/>
              </p:cNvSpPr>
              <p:nvPr/>
            </p:nvSpPr>
            <p:spPr bwMode="auto">
              <a:xfrm>
                <a:off x="5237" y="1004"/>
                <a:ext cx="269" cy="165"/>
              </a:xfrm>
              <a:custGeom>
                <a:avLst/>
                <a:gdLst>
                  <a:gd name="T0" fmla="*/ 0 w 808"/>
                  <a:gd name="T1" fmla="*/ 0 h 497"/>
                  <a:gd name="T2" fmla="*/ 0 w 808"/>
                  <a:gd name="T3" fmla="*/ 0 h 497"/>
                  <a:gd name="T4" fmla="*/ 0 w 808"/>
                  <a:gd name="T5" fmla="*/ 0 h 497"/>
                  <a:gd name="T6" fmla="*/ 0 w 808"/>
                  <a:gd name="T7" fmla="*/ 0 h 497"/>
                  <a:gd name="T8" fmla="*/ 0 w 808"/>
                  <a:gd name="T9" fmla="*/ 0 h 497"/>
                  <a:gd name="T10" fmla="*/ 0 w 808"/>
                  <a:gd name="T11" fmla="*/ 0 h 497"/>
                  <a:gd name="T12" fmla="*/ 0 w 808"/>
                  <a:gd name="T13" fmla="*/ 0 h 497"/>
                  <a:gd name="T14" fmla="*/ 0 w 808"/>
                  <a:gd name="T15" fmla="*/ 0 h 497"/>
                  <a:gd name="T16" fmla="*/ 0 w 808"/>
                  <a:gd name="T17" fmla="*/ 0 h 497"/>
                  <a:gd name="T18" fmla="*/ 0 w 808"/>
                  <a:gd name="T19" fmla="*/ 0 h 497"/>
                  <a:gd name="T20" fmla="*/ 0 w 808"/>
                  <a:gd name="T21" fmla="*/ 0 h 497"/>
                  <a:gd name="T22" fmla="*/ 0 w 808"/>
                  <a:gd name="T23" fmla="*/ 0 h 497"/>
                  <a:gd name="T24" fmla="*/ 0 w 808"/>
                  <a:gd name="T25" fmla="*/ 0 h 497"/>
                  <a:gd name="T26" fmla="*/ 0 w 808"/>
                  <a:gd name="T27" fmla="*/ 0 h 497"/>
                  <a:gd name="T28" fmla="*/ 0 w 808"/>
                  <a:gd name="T29" fmla="*/ 0 h 497"/>
                  <a:gd name="T30" fmla="*/ 0 w 808"/>
                  <a:gd name="T31" fmla="*/ 0 h 497"/>
                  <a:gd name="T32" fmla="*/ 0 w 808"/>
                  <a:gd name="T33" fmla="*/ 0 h 497"/>
                  <a:gd name="T34" fmla="*/ 0 w 808"/>
                  <a:gd name="T35" fmla="*/ 0 h 497"/>
                  <a:gd name="T36" fmla="*/ 0 w 808"/>
                  <a:gd name="T37" fmla="*/ 0 h 497"/>
                  <a:gd name="T38" fmla="*/ 0 w 808"/>
                  <a:gd name="T39" fmla="*/ 0 h 497"/>
                  <a:gd name="T40" fmla="*/ 0 w 808"/>
                  <a:gd name="T41" fmla="*/ 0 h 497"/>
                  <a:gd name="T42" fmla="*/ 0 w 808"/>
                  <a:gd name="T43" fmla="*/ 0 h 497"/>
                  <a:gd name="T44" fmla="*/ 0 w 808"/>
                  <a:gd name="T45" fmla="*/ 0 h 497"/>
                  <a:gd name="T46" fmla="*/ 0 w 808"/>
                  <a:gd name="T47" fmla="*/ 0 h 497"/>
                  <a:gd name="T48" fmla="*/ 0 w 808"/>
                  <a:gd name="T49" fmla="*/ 0 h 497"/>
                  <a:gd name="T50" fmla="*/ 0 w 808"/>
                  <a:gd name="T51" fmla="*/ 0 h 497"/>
                  <a:gd name="T52" fmla="*/ 0 w 808"/>
                  <a:gd name="T53" fmla="*/ 0 h 497"/>
                  <a:gd name="T54" fmla="*/ 0 w 808"/>
                  <a:gd name="T55" fmla="*/ 0 h 497"/>
                  <a:gd name="T56" fmla="*/ 0 w 808"/>
                  <a:gd name="T57" fmla="*/ 0 h 497"/>
                  <a:gd name="T58" fmla="*/ 0 w 808"/>
                  <a:gd name="T59" fmla="*/ 0 h 497"/>
                  <a:gd name="T60" fmla="*/ 0 w 808"/>
                  <a:gd name="T61" fmla="*/ 0 h 497"/>
                  <a:gd name="T62" fmla="*/ 0 w 808"/>
                  <a:gd name="T63" fmla="*/ 0 h 497"/>
                  <a:gd name="T64" fmla="*/ 0 w 808"/>
                  <a:gd name="T65" fmla="*/ 0 h 497"/>
                  <a:gd name="T66" fmla="*/ 0 w 808"/>
                  <a:gd name="T67" fmla="*/ 0 h 497"/>
                  <a:gd name="T68" fmla="*/ 0 w 808"/>
                  <a:gd name="T69" fmla="*/ 0 h 497"/>
                  <a:gd name="T70" fmla="*/ 0 w 808"/>
                  <a:gd name="T71" fmla="*/ 0 h 497"/>
                  <a:gd name="T72" fmla="*/ 0 w 808"/>
                  <a:gd name="T73" fmla="*/ 0 h 497"/>
                  <a:gd name="T74" fmla="*/ 0 w 808"/>
                  <a:gd name="T75" fmla="*/ 0 h 497"/>
                  <a:gd name="T76" fmla="*/ 0 w 808"/>
                  <a:gd name="T77" fmla="*/ 0 h 497"/>
                  <a:gd name="T78" fmla="*/ 0 w 808"/>
                  <a:gd name="T79" fmla="*/ 0 h 497"/>
                  <a:gd name="T80" fmla="*/ 0 w 808"/>
                  <a:gd name="T81" fmla="*/ 0 h 497"/>
                  <a:gd name="T82" fmla="*/ 0 w 808"/>
                  <a:gd name="T83" fmla="*/ 0 h 497"/>
                  <a:gd name="T84" fmla="*/ 0 w 808"/>
                  <a:gd name="T85" fmla="*/ 0 h 497"/>
                  <a:gd name="T86" fmla="*/ 0 w 808"/>
                  <a:gd name="T87" fmla="*/ 0 h 497"/>
                  <a:gd name="T88" fmla="*/ 0 w 808"/>
                  <a:gd name="T89" fmla="*/ 0 h 497"/>
                  <a:gd name="T90" fmla="*/ 0 w 808"/>
                  <a:gd name="T91" fmla="*/ 0 h 497"/>
                  <a:gd name="T92" fmla="*/ 0 w 808"/>
                  <a:gd name="T93" fmla="*/ 0 h 497"/>
                  <a:gd name="T94" fmla="*/ 0 w 808"/>
                  <a:gd name="T95" fmla="*/ 0 h 497"/>
                  <a:gd name="T96" fmla="*/ 0 w 808"/>
                  <a:gd name="T97" fmla="*/ 0 h 497"/>
                  <a:gd name="T98" fmla="*/ 0 w 808"/>
                  <a:gd name="T99" fmla="*/ 0 h 497"/>
                  <a:gd name="T100" fmla="*/ 0 w 808"/>
                  <a:gd name="T101" fmla="*/ 0 h 497"/>
                  <a:gd name="T102" fmla="*/ 0 w 808"/>
                  <a:gd name="T103" fmla="*/ 0 h 497"/>
                  <a:gd name="T104" fmla="*/ 0 w 808"/>
                  <a:gd name="T105" fmla="*/ 0 h 497"/>
                  <a:gd name="T106" fmla="*/ 0 w 808"/>
                  <a:gd name="T107" fmla="*/ 0 h 497"/>
                  <a:gd name="T108" fmla="*/ 0 w 808"/>
                  <a:gd name="T109" fmla="*/ 0 h 497"/>
                  <a:gd name="T110" fmla="*/ 0 w 808"/>
                  <a:gd name="T111" fmla="*/ 0 h 497"/>
                  <a:gd name="T112" fmla="*/ 0 w 808"/>
                  <a:gd name="T113" fmla="*/ 0 h 497"/>
                  <a:gd name="T114" fmla="*/ 0 w 808"/>
                  <a:gd name="T115" fmla="*/ 0 h 497"/>
                  <a:gd name="T116" fmla="*/ 0 w 808"/>
                  <a:gd name="T117" fmla="*/ 0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08" h="497">
                    <a:moveTo>
                      <a:pt x="460" y="0"/>
                    </a:moveTo>
                    <a:lnTo>
                      <a:pt x="485" y="0"/>
                    </a:lnTo>
                    <a:lnTo>
                      <a:pt x="511" y="2"/>
                    </a:lnTo>
                    <a:lnTo>
                      <a:pt x="536" y="6"/>
                    </a:lnTo>
                    <a:lnTo>
                      <a:pt x="561" y="10"/>
                    </a:lnTo>
                    <a:lnTo>
                      <a:pt x="585" y="17"/>
                    </a:lnTo>
                    <a:lnTo>
                      <a:pt x="609" y="24"/>
                    </a:lnTo>
                    <a:lnTo>
                      <a:pt x="631" y="33"/>
                    </a:lnTo>
                    <a:lnTo>
                      <a:pt x="654" y="42"/>
                    </a:lnTo>
                    <a:lnTo>
                      <a:pt x="676" y="53"/>
                    </a:lnTo>
                    <a:lnTo>
                      <a:pt x="697" y="66"/>
                    </a:lnTo>
                    <a:lnTo>
                      <a:pt x="717" y="79"/>
                    </a:lnTo>
                    <a:lnTo>
                      <a:pt x="737" y="92"/>
                    </a:lnTo>
                    <a:lnTo>
                      <a:pt x="756" y="107"/>
                    </a:lnTo>
                    <a:lnTo>
                      <a:pt x="774" y="123"/>
                    </a:lnTo>
                    <a:lnTo>
                      <a:pt x="791" y="140"/>
                    </a:lnTo>
                    <a:lnTo>
                      <a:pt x="808" y="158"/>
                    </a:lnTo>
                    <a:lnTo>
                      <a:pt x="467" y="497"/>
                    </a:lnTo>
                    <a:lnTo>
                      <a:pt x="1" y="497"/>
                    </a:lnTo>
                    <a:lnTo>
                      <a:pt x="1" y="493"/>
                    </a:lnTo>
                    <a:lnTo>
                      <a:pt x="0" y="489"/>
                    </a:lnTo>
                    <a:lnTo>
                      <a:pt x="0" y="484"/>
                    </a:lnTo>
                    <a:lnTo>
                      <a:pt x="0" y="479"/>
                    </a:lnTo>
                    <a:lnTo>
                      <a:pt x="0" y="474"/>
                    </a:lnTo>
                    <a:lnTo>
                      <a:pt x="0" y="470"/>
                    </a:lnTo>
                    <a:lnTo>
                      <a:pt x="0" y="464"/>
                    </a:lnTo>
                    <a:lnTo>
                      <a:pt x="0" y="459"/>
                    </a:lnTo>
                    <a:lnTo>
                      <a:pt x="0" y="436"/>
                    </a:lnTo>
                    <a:lnTo>
                      <a:pt x="2" y="412"/>
                    </a:lnTo>
                    <a:lnTo>
                      <a:pt x="5" y="390"/>
                    </a:lnTo>
                    <a:lnTo>
                      <a:pt x="8" y="367"/>
                    </a:lnTo>
                    <a:lnTo>
                      <a:pt x="14" y="345"/>
                    </a:lnTo>
                    <a:lnTo>
                      <a:pt x="20" y="323"/>
                    </a:lnTo>
                    <a:lnTo>
                      <a:pt x="28" y="302"/>
                    </a:lnTo>
                    <a:lnTo>
                      <a:pt x="36" y="281"/>
                    </a:lnTo>
                    <a:lnTo>
                      <a:pt x="45" y="260"/>
                    </a:lnTo>
                    <a:lnTo>
                      <a:pt x="55" y="240"/>
                    </a:lnTo>
                    <a:lnTo>
                      <a:pt x="66" y="221"/>
                    </a:lnTo>
                    <a:lnTo>
                      <a:pt x="79" y="203"/>
                    </a:lnTo>
                    <a:lnTo>
                      <a:pt x="91" y="185"/>
                    </a:lnTo>
                    <a:lnTo>
                      <a:pt x="105" y="167"/>
                    </a:lnTo>
                    <a:lnTo>
                      <a:pt x="119" y="151"/>
                    </a:lnTo>
                    <a:lnTo>
                      <a:pt x="135" y="135"/>
                    </a:lnTo>
                    <a:lnTo>
                      <a:pt x="151" y="119"/>
                    </a:lnTo>
                    <a:lnTo>
                      <a:pt x="167" y="105"/>
                    </a:lnTo>
                    <a:lnTo>
                      <a:pt x="185" y="91"/>
                    </a:lnTo>
                    <a:lnTo>
                      <a:pt x="203" y="79"/>
                    </a:lnTo>
                    <a:lnTo>
                      <a:pt x="221" y="67"/>
                    </a:lnTo>
                    <a:lnTo>
                      <a:pt x="240" y="55"/>
                    </a:lnTo>
                    <a:lnTo>
                      <a:pt x="261" y="46"/>
                    </a:lnTo>
                    <a:lnTo>
                      <a:pt x="281" y="36"/>
                    </a:lnTo>
                    <a:lnTo>
                      <a:pt x="302" y="27"/>
                    </a:lnTo>
                    <a:lnTo>
                      <a:pt x="323" y="20"/>
                    </a:lnTo>
                    <a:lnTo>
                      <a:pt x="345" y="14"/>
                    </a:lnTo>
                    <a:lnTo>
                      <a:pt x="367" y="9"/>
                    </a:lnTo>
                    <a:lnTo>
                      <a:pt x="389" y="5"/>
                    </a:lnTo>
                    <a:lnTo>
                      <a:pt x="413" y="2"/>
                    </a:lnTo>
                    <a:lnTo>
                      <a:pt x="436" y="0"/>
                    </a:lnTo>
                    <a:lnTo>
                      <a:pt x="460" y="0"/>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sp>
            <p:nvSpPr>
              <p:cNvPr id="389638" name="Freeform 1592"/>
              <p:cNvSpPr>
                <a:spLocks noChangeAspect="1"/>
              </p:cNvSpPr>
              <p:nvPr/>
            </p:nvSpPr>
            <p:spPr bwMode="auto">
              <a:xfrm>
                <a:off x="5282" y="1115"/>
                <a:ext cx="5" cy="58"/>
              </a:xfrm>
              <a:custGeom>
                <a:avLst/>
                <a:gdLst>
                  <a:gd name="T0" fmla="*/ 0 w 14"/>
                  <a:gd name="T1" fmla="*/ 0 h 175"/>
                  <a:gd name="T2" fmla="*/ 0 w 14"/>
                  <a:gd name="T3" fmla="*/ 0 h 175"/>
                  <a:gd name="T4" fmla="*/ 0 w 14"/>
                  <a:gd name="T5" fmla="*/ 0 h 175"/>
                  <a:gd name="T6" fmla="*/ 0 w 14"/>
                  <a:gd name="T7" fmla="*/ 0 h 175"/>
                  <a:gd name="T8" fmla="*/ 0 w 14"/>
                  <a:gd name="T9" fmla="*/ 0 h 175"/>
                  <a:gd name="T10" fmla="*/ 0 w 14"/>
                  <a:gd name="T11" fmla="*/ 0 h 175"/>
                  <a:gd name="T12" fmla="*/ 0 w 14"/>
                  <a:gd name="T13" fmla="*/ 0 h 175"/>
                  <a:gd name="T14" fmla="*/ 0 w 14"/>
                  <a:gd name="T15" fmla="*/ 0 h 175"/>
                  <a:gd name="T16" fmla="*/ 0 w 14"/>
                  <a:gd name="T17" fmla="*/ 0 h 175"/>
                  <a:gd name="T18" fmla="*/ 0 w 14"/>
                  <a:gd name="T19" fmla="*/ 0 h 175"/>
                  <a:gd name="T20" fmla="*/ 0 w 14"/>
                  <a:gd name="T21" fmla="*/ 0 h 175"/>
                  <a:gd name="T22" fmla="*/ 0 w 14"/>
                  <a:gd name="T23" fmla="*/ 0 h 175"/>
                  <a:gd name="T24" fmla="*/ 0 w 14"/>
                  <a:gd name="T25" fmla="*/ 0 h 175"/>
                  <a:gd name="T26" fmla="*/ 0 w 14"/>
                  <a:gd name="T27" fmla="*/ 0 h 175"/>
                  <a:gd name="T28" fmla="*/ 0 w 14"/>
                  <a:gd name="T29" fmla="*/ 0 h 175"/>
                  <a:gd name="T30" fmla="*/ 0 w 14"/>
                  <a:gd name="T31" fmla="*/ 0 h 175"/>
                  <a:gd name="T32" fmla="*/ 0 w 14"/>
                  <a:gd name="T33" fmla="*/ 0 h 175"/>
                  <a:gd name="T34" fmla="*/ 0 w 14"/>
                  <a:gd name="T35" fmla="*/ 0 h 1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4" h="175">
                    <a:moveTo>
                      <a:pt x="14" y="0"/>
                    </a:moveTo>
                    <a:lnTo>
                      <a:pt x="14" y="175"/>
                    </a:lnTo>
                    <a:lnTo>
                      <a:pt x="11" y="164"/>
                    </a:lnTo>
                    <a:lnTo>
                      <a:pt x="8" y="154"/>
                    </a:lnTo>
                    <a:lnTo>
                      <a:pt x="6" y="143"/>
                    </a:lnTo>
                    <a:lnTo>
                      <a:pt x="4" y="133"/>
                    </a:lnTo>
                    <a:lnTo>
                      <a:pt x="2" y="121"/>
                    </a:lnTo>
                    <a:lnTo>
                      <a:pt x="1" y="110"/>
                    </a:lnTo>
                    <a:lnTo>
                      <a:pt x="1" y="99"/>
                    </a:lnTo>
                    <a:lnTo>
                      <a:pt x="0" y="87"/>
                    </a:lnTo>
                    <a:lnTo>
                      <a:pt x="1" y="76"/>
                    </a:lnTo>
                    <a:lnTo>
                      <a:pt x="1" y="65"/>
                    </a:lnTo>
                    <a:lnTo>
                      <a:pt x="2" y="54"/>
                    </a:lnTo>
                    <a:lnTo>
                      <a:pt x="4" y="42"/>
                    </a:lnTo>
                    <a:lnTo>
                      <a:pt x="6" y="32"/>
                    </a:lnTo>
                    <a:lnTo>
                      <a:pt x="8" y="21"/>
                    </a:lnTo>
                    <a:lnTo>
                      <a:pt x="11" y="10"/>
                    </a:lnTo>
                    <a:lnTo>
                      <a:pt x="14"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39" name="Freeform 1593"/>
              <p:cNvSpPr>
                <a:spLocks noChangeAspect="1"/>
              </p:cNvSpPr>
              <p:nvPr/>
            </p:nvSpPr>
            <p:spPr bwMode="auto">
              <a:xfrm>
                <a:off x="5282" y="1103"/>
                <a:ext cx="9" cy="82"/>
              </a:xfrm>
              <a:custGeom>
                <a:avLst/>
                <a:gdLst>
                  <a:gd name="T0" fmla="*/ 0 w 27"/>
                  <a:gd name="T1" fmla="*/ 0 h 245"/>
                  <a:gd name="T2" fmla="*/ 0 w 27"/>
                  <a:gd name="T3" fmla="*/ 0 h 245"/>
                  <a:gd name="T4" fmla="*/ 0 w 27"/>
                  <a:gd name="T5" fmla="*/ 0 h 245"/>
                  <a:gd name="T6" fmla="*/ 0 w 27"/>
                  <a:gd name="T7" fmla="*/ 0 h 245"/>
                  <a:gd name="T8" fmla="*/ 0 w 27"/>
                  <a:gd name="T9" fmla="*/ 0 h 245"/>
                  <a:gd name="T10" fmla="*/ 0 w 27"/>
                  <a:gd name="T11" fmla="*/ 0 h 245"/>
                  <a:gd name="T12" fmla="*/ 0 w 27"/>
                  <a:gd name="T13" fmla="*/ 0 h 245"/>
                  <a:gd name="T14" fmla="*/ 0 w 27"/>
                  <a:gd name="T15" fmla="*/ 0 h 245"/>
                  <a:gd name="T16" fmla="*/ 0 w 27"/>
                  <a:gd name="T17" fmla="*/ 0 h 245"/>
                  <a:gd name="T18" fmla="*/ 0 w 27"/>
                  <a:gd name="T19" fmla="*/ 0 h 245"/>
                  <a:gd name="T20" fmla="*/ 0 w 27"/>
                  <a:gd name="T21" fmla="*/ 0 h 245"/>
                  <a:gd name="T22" fmla="*/ 0 w 27"/>
                  <a:gd name="T23" fmla="*/ 0 h 245"/>
                  <a:gd name="T24" fmla="*/ 0 w 27"/>
                  <a:gd name="T25" fmla="*/ 0 h 245"/>
                  <a:gd name="T26" fmla="*/ 0 w 27"/>
                  <a:gd name="T27" fmla="*/ 0 h 245"/>
                  <a:gd name="T28" fmla="*/ 0 w 27"/>
                  <a:gd name="T29" fmla="*/ 0 h 245"/>
                  <a:gd name="T30" fmla="*/ 0 w 27"/>
                  <a:gd name="T31" fmla="*/ 0 h 245"/>
                  <a:gd name="T32" fmla="*/ 0 w 27"/>
                  <a:gd name="T33" fmla="*/ 0 h 245"/>
                  <a:gd name="T34" fmla="*/ 0 w 27"/>
                  <a:gd name="T35" fmla="*/ 0 h 24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7" h="245">
                    <a:moveTo>
                      <a:pt x="27" y="0"/>
                    </a:moveTo>
                    <a:lnTo>
                      <a:pt x="27" y="245"/>
                    </a:lnTo>
                    <a:lnTo>
                      <a:pt x="21" y="231"/>
                    </a:lnTo>
                    <a:lnTo>
                      <a:pt x="16" y="216"/>
                    </a:lnTo>
                    <a:lnTo>
                      <a:pt x="11" y="202"/>
                    </a:lnTo>
                    <a:lnTo>
                      <a:pt x="8" y="186"/>
                    </a:lnTo>
                    <a:lnTo>
                      <a:pt x="4" y="171"/>
                    </a:lnTo>
                    <a:lnTo>
                      <a:pt x="2" y="155"/>
                    </a:lnTo>
                    <a:lnTo>
                      <a:pt x="1" y="139"/>
                    </a:lnTo>
                    <a:lnTo>
                      <a:pt x="0" y="122"/>
                    </a:lnTo>
                    <a:lnTo>
                      <a:pt x="1" y="106"/>
                    </a:lnTo>
                    <a:lnTo>
                      <a:pt x="2" y="90"/>
                    </a:lnTo>
                    <a:lnTo>
                      <a:pt x="4" y="74"/>
                    </a:lnTo>
                    <a:lnTo>
                      <a:pt x="8" y="58"/>
                    </a:lnTo>
                    <a:lnTo>
                      <a:pt x="11" y="43"/>
                    </a:lnTo>
                    <a:lnTo>
                      <a:pt x="16" y="28"/>
                    </a:lnTo>
                    <a:lnTo>
                      <a:pt x="21" y="13"/>
                    </a:lnTo>
                    <a:lnTo>
                      <a:pt x="27"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40" name="Freeform 1594"/>
              <p:cNvSpPr>
                <a:spLocks noChangeAspect="1"/>
              </p:cNvSpPr>
              <p:nvPr/>
            </p:nvSpPr>
            <p:spPr bwMode="auto">
              <a:xfrm>
                <a:off x="5287" y="1094"/>
                <a:ext cx="9" cy="100"/>
              </a:xfrm>
              <a:custGeom>
                <a:avLst/>
                <a:gdLst>
                  <a:gd name="T0" fmla="*/ 0 w 27"/>
                  <a:gd name="T1" fmla="*/ 0 h 299"/>
                  <a:gd name="T2" fmla="*/ 0 w 27"/>
                  <a:gd name="T3" fmla="*/ 0 h 299"/>
                  <a:gd name="T4" fmla="*/ 0 w 27"/>
                  <a:gd name="T5" fmla="*/ 0 h 299"/>
                  <a:gd name="T6" fmla="*/ 0 w 27"/>
                  <a:gd name="T7" fmla="*/ 0 h 299"/>
                  <a:gd name="T8" fmla="*/ 0 w 27"/>
                  <a:gd name="T9" fmla="*/ 0 h 299"/>
                  <a:gd name="T10" fmla="*/ 0 w 27"/>
                  <a:gd name="T11" fmla="*/ 0 h 299"/>
                  <a:gd name="T12" fmla="*/ 0 w 27"/>
                  <a:gd name="T13" fmla="*/ 0 h 299"/>
                  <a:gd name="T14" fmla="*/ 0 w 27"/>
                  <a:gd name="T15" fmla="*/ 0 h 299"/>
                  <a:gd name="T16" fmla="*/ 0 w 27"/>
                  <a:gd name="T17" fmla="*/ 0 h 299"/>
                  <a:gd name="T18" fmla="*/ 0 w 27"/>
                  <a:gd name="T19" fmla="*/ 0 h 299"/>
                  <a:gd name="T20" fmla="*/ 0 w 27"/>
                  <a:gd name="T21" fmla="*/ 0 h 299"/>
                  <a:gd name="T22" fmla="*/ 0 w 27"/>
                  <a:gd name="T23" fmla="*/ 0 h 299"/>
                  <a:gd name="T24" fmla="*/ 0 w 27"/>
                  <a:gd name="T25" fmla="*/ 0 h 299"/>
                  <a:gd name="T26" fmla="*/ 0 w 27"/>
                  <a:gd name="T27" fmla="*/ 0 h 299"/>
                  <a:gd name="T28" fmla="*/ 0 w 27"/>
                  <a:gd name="T29" fmla="*/ 0 h 299"/>
                  <a:gd name="T30" fmla="*/ 0 w 27"/>
                  <a:gd name="T31" fmla="*/ 0 h 299"/>
                  <a:gd name="T32" fmla="*/ 0 w 27"/>
                  <a:gd name="T33" fmla="*/ 0 h 299"/>
                  <a:gd name="T34" fmla="*/ 0 w 27"/>
                  <a:gd name="T35" fmla="*/ 0 h 299"/>
                  <a:gd name="T36" fmla="*/ 0 w 27"/>
                  <a:gd name="T37" fmla="*/ 0 h 29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299">
                    <a:moveTo>
                      <a:pt x="0" y="237"/>
                    </a:moveTo>
                    <a:lnTo>
                      <a:pt x="0" y="62"/>
                    </a:lnTo>
                    <a:lnTo>
                      <a:pt x="2" y="53"/>
                    </a:lnTo>
                    <a:lnTo>
                      <a:pt x="5" y="46"/>
                    </a:lnTo>
                    <a:lnTo>
                      <a:pt x="9" y="37"/>
                    </a:lnTo>
                    <a:lnTo>
                      <a:pt x="12" y="30"/>
                    </a:lnTo>
                    <a:lnTo>
                      <a:pt x="15" y="22"/>
                    </a:lnTo>
                    <a:lnTo>
                      <a:pt x="18" y="15"/>
                    </a:lnTo>
                    <a:lnTo>
                      <a:pt x="22" y="7"/>
                    </a:lnTo>
                    <a:lnTo>
                      <a:pt x="27" y="0"/>
                    </a:lnTo>
                    <a:lnTo>
                      <a:pt x="27" y="299"/>
                    </a:lnTo>
                    <a:lnTo>
                      <a:pt x="22" y="291"/>
                    </a:lnTo>
                    <a:lnTo>
                      <a:pt x="18" y="284"/>
                    </a:lnTo>
                    <a:lnTo>
                      <a:pt x="15" y="276"/>
                    </a:lnTo>
                    <a:lnTo>
                      <a:pt x="12" y="269"/>
                    </a:lnTo>
                    <a:lnTo>
                      <a:pt x="9" y="260"/>
                    </a:lnTo>
                    <a:lnTo>
                      <a:pt x="5" y="253"/>
                    </a:lnTo>
                    <a:lnTo>
                      <a:pt x="2" y="246"/>
                    </a:lnTo>
                    <a:lnTo>
                      <a:pt x="0" y="23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41" name="Freeform 1595"/>
              <p:cNvSpPr>
                <a:spLocks noChangeAspect="1"/>
              </p:cNvSpPr>
              <p:nvPr/>
            </p:nvSpPr>
            <p:spPr bwMode="auto">
              <a:xfrm>
                <a:off x="5291" y="1087"/>
                <a:ext cx="9" cy="114"/>
              </a:xfrm>
              <a:custGeom>
                <a:avLst/>
                <a:gdLst>
                  <a:gd name="T0" fmla="*/ 0 w 26"/>
                  <a:gd name="T1" fmla="*/ 0 h 341"/>
                  <a:gd name="T2" fmla="*/ 0 w 26"/>
                  <a:gd name="T3" fmla="*/ 0 h 341"/>
                  <a:gd name="T4" fmla="*/ 0 w 26"/>
                  <a:gd name="T5" fmla="*/ 0 h 341"/>
                  <a:gd name="T6" fmla="*/ 0 w 26"/>
                  <a:gd name="T7" fmla="*/ 0 h 341"/>
                  <a:gd name="T8" fmla="*/ 0 w 26"/>
                  <a:gd name="T9" fmla="*/ 0 h 341"/>
                  <a:gd name="T10" fmla="*/ 0 w 26"/>
                  <a:gd name="T11" fmla="*/ 0 h 341"/>
                  <a:gd name="T12" fmla="*/ 0 w 26"/>
                  <a:gd name="T13" fmla="*/ 0 h 341"/>
                  <a:gd name="T14" fmla="*/ 0 w 26"/>
                  <a:gd name="T15" fmla="*/ 0 h 341"/>
                  <a:gd name="T16" fmla="*/ 0 w 26"/>
                  <a:gd name="T17" fmla="*/ 0 h 341"/>
                  <a:gd name="T18" fmla="*/ 0 w 26"/>
                  <a:gd name="T19" fmla="*/ 0 h 341"/>
                  <a:gd name="T20" fmla="*/ 0 w 26"/>
                  <a:gd name="T21" fmla="*/ 0 h 341"/>
                  <a:gd name="T22" fmla="*/ 0 w 26"/>
                  <a:gd name="T23" fmla="*/ 0 h 341"/>
                  <a:gd name="T24" fmla="*/ 0 w 26"/>
                  <a:gd name="T25" fmla="*/ 0 h 341"/>
                  <a:gd name="T26" fmla="*/ 0 w 26"/>
                  <a:gd name="T27" fmla="*/ 0 h 341"/>
                  <a:gd name="T28" fmla="*/ 0 w 26"/>
                  <a:gd name="T29" fmla="*/ 0 h 341"/>
                  <a:gd name="T30" fmla="*/ 0 w 26"/>
                  <a:gd name="T31" fmla="*/ 0 h 341"/>
                  <a:gd name="T32" fmla="*/ 0 w 26"/>
                  <a:gd name="T33" fmla="*/ 0 h 341"/>
                  <a:gd name="T34" fmla="*/ 0 w 26"/>
                  <a:gd name="T35" fmla="*/ 0 h 341"/>
                  <a:gd name="T36" fmla="*/ 0 w 26"/>
                  <a:gd name="T37" fmla="*/ 0 h 3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341">
                    <a:moveTo>
                      <a:pt x="0" y="293"/>
                    </a:moveTo>
                    <a:lnTo>
                      <a:pt x="0" y="48"/>
                    </a:lnTo>
                    <a:lnTo>
                      <a:pt x="3" y="41"/>
                    </a:lnTo>
                    <a:lnTo>
                      <a:pt x="6" y="35"/>
                    </a:lnTo>
                    <a:lnTo>
                      <a:pt x="9" y="30"/>
                    </a:lnTo>
                    <a:lnTo>
                      <a:pt x="13" y="23"/>
                    </a:lnTo>
                    <a:lnTo>
                      <a:pt x="16" y="17"/>
                    </a:lnTo>
                    <a:lnTo>
                      <a:pt x="19" y="11"/>
                    </a:lnTo>
                    <a:lnTo>
                      <a:pt x="23" y="6"/>
                    </a:lnTo>
                    <a:lnTo>
                      <a:pt x="26" y="0"/>
                    </a:lnTo>
                    <a:lnTo>
                      <a:pt x="26" y="341"/>
                    </a:lnTo>
                    <a:lnTo>
                      <a:pt x="23" y="335"/>
                    </a:lnTo>
                    <a:lnTo>
                      <a:pt x="19" y="329"/>
                    </a:lnTo>
                    <a:lnTo>
                      <a:pt x="16" y="323"/>
                    </a:lnTo>
                    <a:lnTo>
                      <a:pt x="13" y="318"/>
                    </a:lnTo>
                    <a:lnTo>
                      <a:pt x="9" y="311"/>
                    </a:lnTo>
                    <a:lnTo>
                      <a:pt x="6" y="306"/>
                    </a:lnTo>
                    <a:lnTo>
                      <a:pt x="3" y="300"/>
                    </a:lnTo>
                    <a:lnTo>
                      <a:pt x="0" y="29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42" name="Freeform 1596"/>
              <p:cNvSpPr>
                <a:spLocks noChangeAspect="1"/>
              </p:cNvSpPr>
              <p:nvPr/>
            </p:nvSpPr>
            <p:spPr bwMode="auto">
              <a:xfrm>
                <a:off x="5296" y="1081"/>
                <a:ext cx="9" cy="126"/>
              </a:xfrm>
              <a:custGeom>
                <a:avLst/>
                <a:gdLst>
                  <a:gd name="T0" fmla="*/ 0 w 26"/>
                  <a:gd name="T1" fmla="*/ 0 h 376"/>
                  <a:gd name="T2" fmla="*/ 0 w 26"/>
                  <a:gd name="T3" fmla="*/ 0 h 376"/>
                  <a:gd name="T4" fmla="*/ 0 w 26"/>
                  <a:gd name="T5" fmla="*/ 0 h 376"/>
                  <a:gd name="T6" fmla="*/ 0 w 26"/>
                  <a:gd name="T7" fmla="*/ 0 h 376"/>
                  <a:gd name="T8" fmla="*/ 0 w 26"/>
                  <a:gd name="T9" fmla="*/ 0 h 376"/>
                  <a:gd name="T10" fmla="*/ 0 w 26"/>
                  <a:gd name="T11" fmla="*/ 0 h 376"/>
                  <a:gd name="T12" fmla="*/ 0 w 26"/>
                  <a:gd name="T13" fmla="*/ 0 h 376"/>
                  <a:gd name="T14" fmla="*/ 0 w 26"/>
                  <a:gd name="T15" fmla="*/ 0 h 376"/>
                  <a:gd name="T16" fmla="*/ 0 w 26"/>
                  <a:gd name="T17" fmla="*/ 0 h 376"/>
                  <a:gd name="T18" fmla="*/ 0 w 26"/>
                  <a:gd name="T19" fmla="*/ 0 h 376"/>
                  <a:gd name="T20" fmla="*/ 0 w 26"/>
                  <a:gd name="T21" fmla="*/ 0 h 376"/>
                  <a:gd name="T22" fmla="*/ 0 w 26"/>
                  <a:gd name="T23" fmla="*/ 0 h 376"/>
                  <a:gd name="T24" fmla="*/ 0 w 26"/>
                  <a:gd name="T25" fmla="*/ 0 h 376"/>
                  <a:gd name="T26" fmla="*/ 0 w 26"/>
                  <a:gd name="T27" fmla="*/ 0 h 376"/>
                  <a:gd name="T28" fmla="*/ 0 w 26"/>
                  <a:gd name="T29" fmla="*/ 0 h 376"/>
                  <a:gd name="T30" fmla="*/ 0 w 26"/>
                  <a:gd name="T31" fmla="*/ 0 h 376"/>
                  <a:gd name="T32" fmla="*/ 0 w 26"/>
                  <a:gd name="T33" fmla="*/ 0 h 376"/>
                  <a:gd name="T34" fmla="*/ 0 w 26"/>
                  <a:gd name="T35" fmla="*/ 0 h 376"/>
                  <a:gd name="T36" fmla="*/ 0 w 26"/>
                  <a:gd name="T37" fmla="*/ 0 h 3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376">
                    <a:moveTo>
                      <a:pt x="0" y="338"/>
                    </a:moveTo>
                    <a:lnTo>
                      <a:pt x="0" y="39"/>
                    </a:lnTo>
                    <a:lnTo>
                      <a:pt x="3" y="34"/>
                    </a:lnTo>
                    <a:lnTo>
                      <a:pt x="5" y="29"/>
                    </a:lnTo>
                    <a:lnTo>
                      <a:pt x="8" y="24"/>
                    </a:lnTo>
                    <a:lnTo>
                      <a:pt x="12" y="19"/>
                    </a:lnTo>
                    <a:lnTo>
                      <a:pt x="16" y="15"/>
                    </a:lnTo>
                    <a:lnTo>
                      <a:pt x="19" y="9"/>
                    </a:lnTo>
                    <a:lnTo>
                      <a:pt x="22" y="5"/>
                    </a:lnTo>
                    <a:lnTo>
                      <a:pt x="26" y="0"/>
                    </a:lnTo>
                    <a:lnTo>
                      <a:pt x="26" y="376"/>
                    </a:lnTo>
                    <a:lnTo>
                      <a:pt x="22" y="372"/>
                    </a:lnTo>
                    <a:lnTo>
                      <a:pt x="19" y="368"/>
                    </a:lnTo>
                    <a:lnTo>
                      <a:pt x="16" y="362"/>
                    </a:lnTo>
                    <a:lnTo>
                      <a:pt x="12" y="357"/>
                    </a:lnTo>
                    <a:lnTo>
                      <a:pt x="8" y="353"/>
                    </a:lnTo>
                    <a:lnTo>
                      <a:pt x="5" y="347"/>
                    </a:lnTo>
                    <a:lnTo>
                      <a:pt x="3" y="342"/>
                    </a:lnTo>
                    <a:lnTo>
                      <a:pt x="0" y="33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43" name="Freeform 1597"/>
              <p:cNvSpPr>
                <a:spLocks noChangeAspect="1"/>
              </p:cNvSpPr>
              <p:nvPr/>
            </p:nvSpPr>
            <p:spPr bwMode="auto">
              <a:xfrm>
                <a:off x="5300" y="1076"/>
                <a:ext cx="9" cy="136"/>
              </a:xfrm>
              <a:custGeom>
                <a:avLst/>
                <a:gdLst>
                  <a:gd name="T0" fmla="*/ 0 w 27"/>
                  <a:gd name="T1" fmla="*/ 0 h 407"/>
                  <a:gd name="T2" fmla="*/ 0 w 27"/>
                  <a:gd name="T3" fmla="*/ 0 h 407"/>
                  <a:gd name="T4" fmla="*/ 0 w 27"/>
                  <a:gd name="T5" fmla="*/ 0 h 407"/>
                  <a:gd name="T6" fmla="*/ 0 w 27"/>
                  <a:gd name="T7" fmla="*/ 0 h 407"/>
                  <a:gd name="T8" fmla="*/ 0 w 27"/>
                  <a:gd name="T9" fmla="*/ 0 h 407"/>
                  <a:gd name="T10" fmla="*/ 0 w 27"/>
                  <a:gd name="T11" fmla="*/ 0 h 407"/>
                  <a:gd name="T12" fmla="*/ 0 w 27"/>
                  <a:gd name="T13" fmla="*/ 0 h 407"/>
                  <a:gd name="T14" fmla="*/ 0 w 27"/>
                  <a:gd name="T15" fmla="*/ 0 h 407"/>
                  <a:gd name="T16" fmla="*/ 0 w 27"/>
                  <a:gd name="T17" fmla="*/ 0 h 407"/>
                  <a:gd name="T18" fmla="*/ 0 w 27"/>
                  <a:gd name="T19" fmla="*/ 0 h 407"/>
                  <a:gd name="T20" fmla="*/ 0 w 27"/>
                  <a:gd name="T21" fmla="*/ 0 h 407"/>
                  <a:gd name="T22" fmla="*/ 0 w 27"/>
                  <a:gd name="T23" fmla="*/ 0 h 407"/>
                  <a:gd name="T24" fmla="*/ 0 w 27"/>
                  <a:gd name="T25" fmla="*/ 0 h 407"/>
                  <a:gd name="T26" fmla="*/ 0 w 27"/>
                  <a:gd name="T27" fmla="*/ 0 h 407"/>
                  <a:gd name="T28" fmla="*/ 0 w 27"/>
                  <a:gd name="T29" fmla="*/ 0 h 407"/>
                  <a:gd name="T30" fmla="*/ 0 w 27"/>
                  <a:gd name="T31" fmla="*/ 0 h 407"/>
                  <a:gd name="T32" fmla="*/ 0 w 27"/>
                  <a:gd name="T33" fmla="*/ 0 h 407"/>
                  <a:gd name="T34" fmla="*/ 0 w 27"/>
                  <a:gd name="T35" fmla="*/ 0 h 407"/>
                  <a:gd name="T36" fmla="*/ 0 w 27"/>
                  <a:gd name="T37" fmla="*/ 0 h 40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07">
                    <a:moveTo>
                      <a:pt x="0" y="374"/>
                    </a:moveTo>
                    <a:lnTo>
                      <a:pt x="0" y="33"/>
                    </a:lnTo>
                    <a:lnTo>
                      <a:pt x="4" y="29"/>
                    </a:lnTo>
                    <a:lnTo>
                      <a:pt x="7" y="24"/>
                    </a:lnTo>
                    <a:lnTo>
                      <a:pt x="10" y="20"/>
                    </a:lnTo>
                    <a:lnTo>
                      <a:pt x="13" y="16"/>
                    </a:lnTo>
                    <a:lnTo>
                      <a:pt x="16" y="11"/>
                    </a:lnTo>
                    <a:lnTo>
                      <a:pt x="21" y="7"/>
                    </a:lnTo>
                    <a:lnTo>
                      <a:pt x="24" y="3"/>
                    </a:lnTo>
                    <a:lnTo>
                      <a:pt x="27" y="0"/>
                    </a:lnTo>
                    <a:lnTo>
                      <a:pt x="27" y="407"/>
                    </a:lnTo>
                    <a:lnTo>
                      <a:pt x="24" y="403"/>
                    </a:lnTo>
                    <a:lnTo>
                      <a:pt x="21" y="400"/>
                    </a:lnTo>
                    <a:lnTo>
                      <a:pt x="16" y="395"/>
                    </a:lnTo>
                    <a:lnTo>
                      <a:pt x="13" y="391"/>
                    </a:lnTo>
                    <a:lnTo>
                      <a:pt x="10" y="387"/>
                    </a:lnTo>
                    <a:lnTo>
                      <a:pt x="7" y="383"/>
                    </a:lnTo>
                    <a:lnTo>
                      <a:pt x="4" y="378"/>
                    </a:lnTo>
                    <a:lnTo>
                      <a:pt x="0" y="37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44" name="Freeform 1598"/>
              <p:cNvSpPr>
                <a:spLocks noChangeAspect="1"/>
              </p:cNvSpPr>
              <p:nvPr/>
            </p:nvSpPr>
            <p:spPr bwMode="auto">
              <a:xfrm>
                <a:off x="5305" y="1072"/>
                <a:ext cx="9" cy="145"/>
              </a:xfrm>
              <a:custGeom>
                <a:avLst/>
                <a:gdLst>
                  <a:gd name="T0" fmla="*/ 0 w 27"/>
                  <a:gd name="T1" fmla="*/ 0 h 435"/>
                  <a:gd name="T2" fmla="*/ 0 w 27"/>
                  <a:gd name="T3" fmla="*/ 0 h 435"/>
                  <a:gd name="T4" fmla="*/ 0 w 27"/>
                  <a:gd name="T5" fmla="*/ 0 h 435"/>
                  <a:gd name="T6" fmla="*/ 0 w 27"/>
                  <a:gd name="T7" fmla="*/ 0 h 435"/>
                  <a:gd name="T8" fmla="*/ 0 w 27"/>
                  <a:gd name="T9" fmla="*/ 0 h 435"/>
                  <a:gd name="T10" fmla="*/ 0 w 27"/>
                  <a:gd name="T11" fmla="*/ 0 h 435"/>
                  <a:gd name="T12" fmla="*/ 0 w 27"/>
                  <a:gd name="T13" fmla="*/ 0 h 435"/>
                  <a:gd name="T14" fmla="*/ 0 w 27"/>
                  <a:gd name="T15" fmla="*/ 0 h 435"/>
                  <a:gd name="T16" fmla="*/ 0 w 27"/>
                  <a:gd name="T17" fmla="*/ 0 h 435"/>
                  <a:gd name="T18" fmla="*/ 0 w 27"/>
                  <a:gd name="T19" fmla="*/ 0 h 435"/>
                  <a:gd name="T20" fmla="*/ 0 w 27"/>
                  <a:gd name="T21" fmla="*/ 0 h 435"/>
                  <a:gd name="T22" fmla="*/ 0 w 27"/>
                  <a:gd name="T23" fmla="*/ 0 h 435"/>
                  <a:gd name="T24" fmla="*/ 0 w 27"/>
                  <a:gd name="T25" fmla="*/ 0 h 435"/>
                  <a:gd name="T26" fmla="*/ 0 w 27"/>
                  <a:gd name="T27" fmla="*/ 0 h 435"/>
                  <a:gd name="T28" fmla="*/ 0 w 27"/>
                  <a:gd name="T29" fmla="*/ 0 h 435"/>
                  <a:gd name="T30" fmla="*/ 0 w 27"/>
                  <a:gd name="T31" fmla="*/ 0 h 435"/>
                  <a:gd name="T32" fmla="*/ 0 w 27"/>
                  <a:gd name="T33" fmla="*/ 0 h 435"/>
                  <a:gd name="T34" fmla="*/ 0 w 27"/>
                  <a:gd name="T35" fmla="*/ 0 h 435"/>
                  <a:gd name="T36" fmla="*/ 0 w 27"/>
                  <a:gd name="T37" fmla="*/ 0 h 4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35">
                    <a:moveTo>
                      <a:pt x="0" y="405"/>
                    </a:moveTo>
                    <a:lnTo>
                      <a:pt x="0" y="29"/>
                    </a:lnTo>
                    <a:lnTo>
                      <a:pt x="3" y="25"/>
                    </a:lnTo>
                    <a:lnTo>
                      <a:pt x="7" y="21"/>
                    </a:lnTo>
                    <a:lnTo>
                      <a:pt x="10" y="18"/>
                    </a:lnTo>
                    <a:lnTo>
                      <a:pt x="13" y="14"/>
                    </a:lnTo>
                    <a:lnTo>
                      <a:pt x="16" y="11"/>
                    </a:lnTo>
                    <a:lnTo>
                      <a:pt x="19" y="6"/>
                    </a:lnTo>
                    <a:lnTo>
                      <a:pt x="23" y="3"/>
                    </a:lnTo>
                    <a:lnTo>
                      <a:pt x="27" y="0"/>
                    </a:lnTo>
                    <a:lnTo>
                      <a:pt x="27" y="435"/>
                    </a:lnTo>
                    <a:lnTo>
                      <a:pt x="23" y="432"/>
                    </a:lnTo>
                    <a:lnTo>
                      <a:pt x="19" y="428"/>
                    </a:lnTo>
                    <a:lnTo>
                      <a:pt x="16" y="424"/>
                    </a:lnTo>
                    <a:lnTo>
                      <a:pt x="13" y="421"/>
                    </a:lnTo>
                    <a:lnTo>
                      <a:pt x="10" y="417"/>
                    </a:lnTo>
                    <a:lnTo>
                      <a:pt x="7" y="414"/>
                    </a:lnTo>
                    <a:lnTo>
                      <a:pt x="3" y="409"/>
                    </a:lnTo>
                    <a:lnTo>
                      <a:pt x="0" y="40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45" name="Freeform 1599"/>
              <p:cNvSpPr>
                <a:spLocks noChangeAspect="1"/>
              </p:cNvSpPr>
              <p:nvPr/>
            </p:nvSpPr>
            <p:spPr bwMode="auto">
              <a:xfrm>
                <a:off x="5309" y="1067"/>
                <a:ext cx="9" cy="154"/>
              </a:xfrm>
              <a:custGeom>
                <a:avLst/>
                <a:gdLst>
                  <a:gd name="T0" fmla="*/ 0 w 27"/>
                  <a:gd name="T1" fmla="*/ 0 h 461"/>
                  <a:gd name="T2" fmla="*/ 0 w 27"/>
                  <a:gd name="T3" fmla="*/ 0 h 461"/>
                  <a:gd name="T4" fmla="*/ 0 w 27"/>
                  <a:gd name="T5" fmla="*/ 0 h 461"/>
                  <a:gd name="T6" fmla="*/ 0 w 27"/>
                  <a:gd name="T7" fmla="*/ 0 h 461"/>
                  <a:gd name="T8" fmla="*/ 0 w 27"/>
                  <a:gd name="T9" fmla="*/ 0 h 461"/>
                  <a:gd name="T10" fmla="*/ 0 w 27"/>
                  <a:gd name="T11" fmla="*/ 0 h 461"/>
                  <a:gd name="T12" fmla="*/ 0 w 27"/>
                  <a:gd name="T13" fmla="*/ 0 h 461"/>
                  <a:gd name="T14" fmla="*/ 0 w 27"/>
                  <a:gd name="T15" fmla="*/ 0 h 461"/>
                  <a:gd name="T16" fmla="*/ 0 w 27"/>
                  <a:gd name="T17" fmla="*/ 0 h 461"/>
                  <a:gd name="T18" fmla="*/ 0 w 27"/>
                  <a:gd name="T19" fmla="*/ 0 h 461"/>
                  <a:gd name="T20" fmla="*/ 0 w 27"/>
                  <a:gd name="T21" fmla="*/ 0 h 461"/>
                  <a:gd name="T22" fmla="*/ 0 w 27"/>
                  <a:gd name="T23" fmla="*/ 0 h 461"/>
                  <a:gd name="T24" fmla="*/ 0 w 27"/>
                  <a:gd name="T25" fmla="*/ 0 h 461"/>
                  <a:gd name="T26" fmla="*/ 0 w 27"/>
                  <a:gd name="T27" fmla="*/ 0 h 461"/>
                  <a:gd name="T28" fmla="*/ 0 w 27"/>
                  <a:gd name="T29" fmla="*/ 0 h 461"/>
                  <a:gd name="T30" fmla="*/ 0 w 27"/>
                  <a:gd name="T31" fmla="*/ 0 h 461"/>
                  <a:gd name="T32" fmla="*/ 0 w 27"/>
                  <a:gd name="T33" fmla="*/ 0 h 461"/>
                  <a:gd name="T34" fmla="*/ 0 w 27"/>
                  <a:gd name="T35" fmla="*/ 0 h 461"/>
                  <a:gd name="T36" fmla="*/ 0 w 27"/>
                  <a:gd name="T37" fmla="*/ 0 h 4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61">
                    <a:moveTo>
                      <a:pt x="0" y="434"/>
                    </a:moveTo>
                    <a:lnTo>
                      <a:pt x="0" y="27"/>
                    </a:lnTo>
                    <a:lnTo>
                      <a:pt x="3" y="23"/>
                    </a:lnTo>
                    <a:lnTo>
                      <a:pt x="6" y="19"/>
                    </a:lnTo>
                    <a:lnTo>
                      <a:pt x="10" y="16"/>
                    </a:lnTo>
                    <a:lnTo>
                      <a:pt x="13" y="13"/>
                    </a:lnTo>
                    <a:lnTo>
                      <a:pt x="16" y="10"/>
                    </a:lnTo>
                    <a:lnTo>
                      <a:pt x="20" y="7"/>
                    </a:lnTo>
                    <a:lnTo>
                      <a:pt x="23" y="3"/>
                    </a:lnTo>
                    <a:lnTo>
                      <a:pt x="27" y="0"/>
                    </a:lnTo>
                    <a:lnTo>
                      <a:pt x="27" y="461"/>
                    </a:lnTo>
                    <a:lnTo>
                      <a:pt x="23" y="457"/>
                    </a:lnTo>
                    <a:lnTo>
                      <a:pt x="20" y="454"/>
                    </a:lnTo>
                    <a:lnTo>
                      <a:pt x="16" y="451"/>
                    </a:lnTo>
                    <a:lnTo>
                      <a:pt x="13" y="448"/>
                    </a:lnTo>
                    <a:lnTo>
                      <a:pt x="10" y="445"/>
                    </a:lnTo>
                    <a:lnTo>
                      <a:pt x="6" y="441"/>
                    </a:lnTo>
                    <a:lnTo>
                      <a:pt x="3" y="437"/>
                    </a:lnTo>
                    <a:lnTo>
                      <a:pt x="0" y="43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46" name="Freeform 1600"/>
              <p:cNvSpPr>
                <a:spLocks noChangeAspect="1"/>
              </p:cNvSpPr>
              <p:nvPr/>
            </p:nvSpPr>
            <p:spPr bwMode="auto">
              <a:xfrm>
                <a:off x="5314" y="1064"/>
                <a:ext cx="8" cy="160"/>
              </a:xfrm>
              <a:custGeom>
                <a:avLst/>
                <a:gdLst>
                  <a:gd name="T0" fmla="*/ 0 w 26"/>
                  <a:gd name="T1" fmla="*/ 0 h 481"/>
                  <a:gd name="T2" fmla="*/ 0 w 26"/>
                  <a:gd name="T3" fmla="*/ 0 h 481"/>
                  <a:gd name="T4" fmla="*/ 0 w 26"/>
                  <a:gd name="T5" fmla="*/ 0 h 481"/>
                  <a:gd name="T6" fmla="*/ 0 w 26"/>
                  <a:gd name="T7" fmla="*/ 0 h 481"/>
                  <a:gd name="T8" fmla="*/ 0 w 26"/>
                  <a:gd name="T9" fmla="*/ 0 h 481"/>
                  <a:gd name="T10" fmla="*/ 0 w 26"/>
                  <a:gd name="T11" fmla="*/ 0 h 481"/>
                  <a:gd name="T12" fmla="*/ 0 w 26"/>
                  <a:gd name="T13" fmla="*/ 0 h 481"/>
                  <a:gd name="T14" fmla="*/ 0 w 26"/>
                  <a:gd name="T15" fmla="*/ 0 h 481"/>
                  <a:gd name="T16" fmla="*/ 0 w 26"/>
                  <a:gd name="T17" fmla="*/ 0 h 481"/>
                  <a:gd name="T18" fmla="*/ 0 w 26"/>
                  <a:gd name="T19" fmla="*/ 0 h 481"/>
                  <a:gd name="T20" fmla="*/ 0 w 26"/>
                  <a:gd name="T21" fmla="*/ 0 h 481"/>
                  <a:gd name="T22" fmla="*/ 0 w 26"/>
                  <a:gd name="T23" fmla="*/ 0 h 481"/>
                  <a:gd name="T24" fmla="*/ 0 w 26"/>
                  <a:gd name="T25" fmla="*/ 0 h 481"/>
                  <a:gd name="T26" fmla="*/ 0 w 26"/>
                  <a:gd name="T27" fmla="*/ 0 h 481"/>
                  <a:gd name="T28" fmla="*/ 0 w 26"/>
                  <a:gd name="T29" fmla="*/ 0 h 481"/>
                  <a:gd name="T30" fmla="*/ 0 w 26"/>
                  <a:gd name="T31" fmla="*/ 0 h 481"/>
                  <a:gd name="T32" fmla="*/ 0 w 26"/>
                  <a:gd name="T33" fmla="*/ 0 h 481"/>
                  <a:gd name="T34" fmla="*/ 0 w 26"/>
                  <a:gd name="T35" fmla="*/ 0 h 481"/>
                  <a:gd name="T36" fmla="*/ 0 w 26"/>
                  <a:gd name="T37" fmla="*/ 0 h 48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81">
                    <a:moveTo>
                      <a:pt x="0" y="458"/>
                    </a:moveTo>
                    <a:lnTo>
                      <a:pt x="0" y="23"/>
                    </a:lnTo>
                    <a:lnTo>
                      <a:pt x="3" y="20"/>
                    </a:lnTo>
                    <a:lnTo>
                      <a:pt x="6" y="17"/>
                    </a:lnTo>
                    <a:lnTo>
                      <a:pt x="9" y="13"/>
                    </a:lnTo>
                    <a:lnTo>
                      <a:pt x="13" y="10"/>
                    </a:lnTo>
                    <a:lnTo>
                      <a:pt x="16" y="7"/>
                    </a:lnTo>
                    <a:lnTo>
                      <a:pt x="19" y="5"/>
                    </a:lnTo>
                    <a:lnTo>
                      <a:pt x="22" y="2"/>
                    </a:lnTo>
                    <a:lnTo>
                      <a:pt x="26" y="0"/>
                    </a:lnTo>
                    <a:lnTo>
                      <a:pt x="26" y="481"/>
                    </a:lnTo>
                    <a:lnTo>
                      <a:pt x="22" y="479"/>
                    </a:lnTo>
                    <a:lnTo>
                      <a:pt x="19" y="476"/>
                    </a:lnTo>
                    <a:lnTo>
                      <a:pt x="16" y="473"/>
                    </a:lnTo>
                    <a:lnTo>
                      <a:pt x="13" y="471"/>
                    </a:lnTo>
                    <a:lnTo>
                      <a:pt x="9" y="467"/>
                    </a:lnTo>
                    <a:lnTo>
                      <a:pt x="6" y="464"/>
                    </a:lnTo>
                    <a:lnTo>
                      <a:pt x="3" y="461"/>
                    </a:lnTo>
                    <a:lnTo>
                      <a:pt x="0" y="45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47" name="Freeform 1601"/>
              <p:cNvSpPr>
                <a:spLocks noChangeAspect="1"/>
              </p:cNvSpPr>
              <p:nvPr/>
            </p:nvSpPr>
            <p:spPr bwMode="auto">
              <a:xfrm>
                <a:off x="5318" y="1060"/>
                <a:ext cx="9" cy="168"/>
              </a:xfrm>
              <a:custGeom>
                <a:avLst/>
                <a:gdLst>
                  <a:gd name="T0" fmla="*/ 0 w 26"/>
                  <a:gd name="T1" fmla="*/ 0 h 503"/>
                  <a:gd name="T2" fmla="*/ 0 w 26"/>
                  <a:gd name="T3" fmla="*/ 0 h 503"/>
                  <a:gd name="T4" fmla="*/ 0 w 26"/>
                  <a:gd name="T5" fmla="*/ 0 h 503"/>
                  <a:gd name="T6" fmla="*/ 0 w 26"/>
                  <a:gd name="T7" fmla="*/ 0 h 503"/>
                  <a:gd name="T8" fmla="*/ 0 w 26"/>
                  <a:gd name="T9" fmla="*/ 0 h 503"/>
                  <a:gd name="T10" fmla="*/ 0 w 26"/>
                  <a:gd name="T11" fmla="*/ 0 h 503"/>
                  <a:gd name="T12" fmla="*/ 0 w 26"/>
                  <a:gd name="T13" fmla="*/ 0 h 503"/>
                  <a:gd name="T14" fmla="*/ 0 w 26"/>
                  <a:gd name="T15" fmla="*/ 0 h 503"/>
                  <a:gd name="T16" fmla="*/ 0 w 26"/>
                  <a:gd name="T17" fmla="*/ 0 h 503"/>
                  <a:gd name="T18" fmla="*/ 0 w 26"/>
                  <a:gd name="T19" fmla="*/ 0 h 503"/>
                  <a:gd name="T20" fmla="*/ 0 w 26"/>
                  <a:gd name="T21" fmla="*/ 0 h 503"/>
                  <a:gd name="T22" fmla="*/ 0 w 26"/>
                  <a:gd name="T23" fmla="*/ 0 h 503"/>
                  <a:gd name="T24" fmla="*/ 0 w 26"/>
                  <a:gd name="T25" fmla="*/ 0 h 503"/>
                  <a:gd name="T26" fmla="*/ 0 w 26"/>
                  <a:gd name="T27" fmla="*/ 0 h 503"/>
                  <a:gd name="T28" fmla="*/ 0 w 26"/>
                  <a:gd name="T29" fmla="*/ 0 h 503"/>
                  <a:gd name="T30" fmla="*/ 0 w 26"/>
                  <a:gd name="T31" fmla="*/ 0 h 503"/>
                  <a:gd name="T32" fmla="*/ 0 w 26"/>
                  <a:gd name="T33" fmla="*/ 0 h 503"/>
                  <a:gd name="T34" fmla="*/ 0 w 26"/>
                  <a:gd name="T35" fmla="*/ 0 h 503"/>
                  <a:gd name="T36" fmla="*/ 0 w 26"/>
                  <a:gd name="T37" fmla="*/ 0 h 5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03">
                    <a:moveTo>
                      <a:pt x="0" y="482"/>
                    </a:moveTo>
                    <a:lnTo>
                      <a:pt x="0" y="21"/>
                    </a:lnTo>
                    <a:lnTo>
                      <a:pt x="3" y="18"/>
                    </a:lnTo>
                    <a:lnTo>
                      <a:pt x="6" y="16"/>
                    </a:lnTo>
                    <a:lnTo>
                      <a:pt x="9" y="13"/>
                    </a:lnTo>
                    <a:lnTo>
                      <a:pt x="12" y="11"/>
                    </a:lnTo>
                    <a:lnTo>
                      <a:pt x="16" y="7"/>
                    </a:lnTo>
                    <a:lnTo>
                      <a:pt x="20" y="5"/>
                    </a:lnTo>
                    <a:lnTo>
                      <a:pt x="23" y="2"/>
                    </a:lnTo>
                    <a:lnTo>
                      <a:pt x="26" y="0"/>
                    </a:lnTo>
                    <a:lnTo>
                      <a:pt x="26" y="503"/>
                    </a:lnTo>
                    <a:lnTo>
                      <a:pt x="23" y="500"/>
                    </a:lnTo>
                    <a:lnTo>
                      <a:pt x="20" y="498"/>
                    </a:lnTo>
                    <a:lnTo>
                      <a:pt x="16" y="495"/>
                    </a:lnTo>
                    <a:lnTo>
                      <a:pt x="12" y="492"/>
                    </a:lnTo>
                    <a:lnTo>
                      <a:pt x="9" y="490"/>
                    </a:lnTo>
                    <a:lnTo>
                      <a:pt x="6" y="487"/>
                    </a:lnTo>
                    <a:lnTo>
                      <a:pt x="3" y="484"/>
                    </a:lnTo>
                    <a:lnTo>
                      <a:pt x="0" y="48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48" name="Freeform 1602"/>
              <p:cNvSpPr>
                <a:spLocks noChangeAspect="1"/>
              </p:cNvSpPr>
              <p:nvPr/>
            </p:nvSpPr>
            <p:spPr bwMode="auto">
              <a:xfrm>
                <a:off x="5322" y="1057"/>
                <a:ext cx="9" cy="174"/>
              </a:xfrm>
              <a:custGeom>
                <a:avLst/>
                <a:gdLst>
                  <a:gd name="T0" fmla="*/ 0 w 27"/>
                  <a:gd name="T1" fmla="*/ 0 h 520"/>
                  <a:gd name="T2" fmla="*/ 0 w 27"/>
                  <a:gd name="T3" fmla="*/ 0 h 520"/>
                  <a:gd name="T4" fmla="*/ 0 w 27"/>
                  <a:gd name="T5" fmla="*/ 0 h 520"/>
                  <a:gd name="T6" fmla="*/ 0 w 27"/>
                  <a:gd name="T7" fmla="*/ 0 h 520"/>
                  <a:gd name="T8" fmla="*/ 0 w 27"/>
                  <a:gd name="T9" fmla="*/ 0 h 520"/>
                  <a:gd name="T10" fmla="*/ 0 w 27"/>
                  <a:gd name="T11" fmla="*/ 0 h 520"/>
                  <a:gd name="T12" fmla="*/ 0 w 27"/>
                  <a:gd name="T13" fmla="*/ 0 h 520"/>
                  <a:gd name="T14" fmla="*/ 0 w 27"/>
                  <a:gd name="T15" fmla="*/ 0 h 520"/>
                  <a:gd name="T16" fmla="*/ 0 w 27"/>
                  <a:gd name="T17" fmla="*/ 0 h 520"/>
                  <a:gd name="T18" fmla="*/ 0 w 27"/>
                  <a:gd name="T19" fmla="*/ 0 h 520"/>
                  <a:gd name="T20" fmla="*/ 0 w 27"/>
                  <a:gd name="T21" fmla="*/ 0 h 520"/>
                  <a:gd name="T22" fmla="*/ 0 w 27"/>
                  <a:gd name="T23" fmla="*/ 0 h 520"/>
                  <a:gd name="T24" fmla="*/ 0 w 27"/>
                  <a:gd name="T25" fmla="*/ 0 h 520"/>
                  <a:gd name="T26" fmla="*/ 0 w 27"/>
                  <a:gd name="T27" fmla="*/ 0 h 520"/>
                  <a:gd name="T28" fmla="*/ 0 w 27"/>
                  <a:gd name="T29" fmla="*/ 0 h 520"/>
                  <a:gd name="T30" fmla="*/ 0 w 27"/>
                  <a:gd name="T31" fmla="*/ 0 h 520"/>
                  <a:gd name="T32" fmla="*/ 0 w 27"/>
                  <a:gd name="T33" fmla="*/ 0 h 520"/>
                  <a:gd name="T34" fmla="*/ 0 w 27"/>
                  <a:gd name="T35" fmla="*/ 0 h 520"/>
                  <a:gd name="T36" fmla="*/ 0 w 27"/>
                  <a:gd name="T37" fmla="*/ 0 h 5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20">
                    <a:moveTo>
                      <a:pt x="0" y="501"/>
                    </a:moveTo>
                    <a:lnTo>
                      <a:pt x="0" y="20"/>
                    </a:lnTo>
                    <a:lnTo>
                      <a:pt x="4" y="16"/>
                    </a:lnTo>
                    <a:lnTo>
                      <a:pt x="7" y="14"/>
                    </a:lnTo>
                    <a:lnTo>
                      <a:pt x="10" y="12"/>
                    </a:lnTo>
                    <a:lnTo>
                      <a:pt x="13" y="9"/>
                    </a:lnTo>
                    <a:lnTo>
                      <a:pt x="16" y="7"/>
                    </a:lnTo>
                    <a:lnTo>
                      <a:pt x="20" y="5"/>
                    </a:lnTo>
                    <a:lnTo>
                      <a:pt x="23" y="3"/>
                    </a:lnTo>
                    <a:lnTo>
                      <a:pt x="27" y="0"/>
                    </a:lnTo>
                    <a:lnTo>
                      <a:pt x="27" y="520"/>
                    </a:lnTo>
                    <a:lnTo>
                      <a:pt x="23" y="518"/>
                    </a:lnTo>
                    <a:lnTo>
                      <a:pt x="20" y="516"/>
                    </a:lnTo>
                    <a:lnTo>
                      <a:pt x="16" y="514"/>
                    </a:lnTo>
                    <a:lnTo>
                      <a:pt x="13" y="511"/>
                    </a:lnTo>
                    <a:lnTo>
                      <a:pt x="10" y="509"/>
                    </a:lnTo>
                    <a:lnTo>
                      <a:pt x="7" y="507"/>
                    </a:lnTo>
                    <a:lnTo>
                      <a:pt x="4" y="504"/>
                    </a:lnTo>
                    <a:lnTo>
                      <a:pt x="0" y="50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49" name="Freeform 1603"/>
              <p:cNvSpPr>
                <a:spLocks noChangeAspect="1"/>
              </p:cNvSpPr>
              <p:nvPr/>
            </p:nvSpPr>
            <p:spPr bwMode="auto">
              <a:xfrm>
                <a:off x="5327" y="1055"/>
                <a:ext cx="9" cy="179"/>
              </a:xfrm>
              <a:custGeom>
                <a:avLst/>
                <a:gdLst>
                  <a:gd name="T0" fmla="*/ 0 w 27"/>
                  <a:gd name="T1" fmla="*/ 0 h 537"/>
                  <a:gd name="T2" fmla="*/ 0 w 27"/>
                  <a:gd name="T3" fmla="*/ 0 h 537"/>
                  <a:gd name="T4" fmla="*/ 0 w 27"/>
                  <a:gd name="T5" fmla="*/ 0 h 537"/>
                  <a:gd name="T6" fmla="*/ 0 w 27"/>
                  <a:gd name="T7" fmla="*/ 0 h 537"/>
                  <a:gd name="T8" fmla="*/ 0 w 27"/>
                  <a:gd name="T9" fmla="*/ 0 h 537"/>
                  <a:gd name="T10" fmla="*/ 0 w 27"/>
                  <a:gd name="T11" fmla="*/ 0 h 537"/>
                  <a:gd name="T12" fmla="*/ 0 w 27"/>
                  <a:gd name="T13" fmla="*/ 0 h 537"/>
                  <a:gd name="T14" fmla="*/ 0 w 27"/>
                  <a:gd name="T15" fmla="*/ 0 h 537"/>
                  <a:gd name="T16" fmla="*/ 0 w 27"/>
                  <a:gd name="T17" fmla="*/ 0 h 537"/>
                  <a:gd name="T18" fmla="*/ 0 w 27"/>
                  <a:gd name="T19" fmla="*/ 0 h 537"/>
                  <a:gd name="T20" fmla="*/ 0 w 27"/>
                  <a:gd name="T21" fmla="*/ 0 h 537"/>
                  <a:gd name="T22" fmla="*/ 0 w 27"/>
                  <a:gd name="T23" fmla="*/ 0 h 537"/>
                  <a:gd name="T24" fmla="*/ 0 w 27"/>
                  <a:gd name="T25" fmla="*/ 0 h 537"/>
                  <a:gd name="T26" fmla="*/ 0 w 27"/>
                  <a:gd name="T27" fmla="*/ 0 h 537"/>
                  <a:gd name="T28" fmla="*/ 0 w 27"/>
                  <a:gd name="T29" fmla="*/ 0 h 537"/>
                  <a:gd name="T30" fmla="*/ 0 w 27"/>
                  <a:gd name="T31" fmla="*/ 0 h 537"/>
                  <a:gd name="T32" fmla="*/ 0 w 27"/>
                  <a:gd name="T33" fmla="*/ 0 h 537"/>
                  <a:gd name="T34" fmla="*/ 0 w 27"/>
                  <a:gd name="T35" fmla="*/ 0 h 537"/>
                  <a:gd name="T36" fmla="*/ 0 w 27"/>
                  <a:gd name="T37" fmla="*/ 0 h 5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37">
                    <a:moveTo>
                      <a:pt x="0" y="520"/>
                    </a:moveTo>
                    <a:lnTo>
                      <a:pt x="0" y="17"/>
                    </a:lnTo>
                    <a:lnTo>
                      <a:pt x="3" y="15"/>
                    </a:lnTo>
                    <a:lnTo>
                      <a:pt x="7" y="13"/>
                    </a:lnTo>
                    <a:lnTo>
                      <a:pt x="10" y="11"/>
                    </a:lnTo>
                    <a:lnTo>
                      <a:pt x="13" y="8"/>
                    </a:lnTo>
                    <a:lnTo>
                      <a:pt x="16" y="6"/>
                    </a:lnTo>
                    <a:lnTo>
                      <a:pt x="20" y="4"/>
                    </a:lnTo>
                    <a:lnTo>
                      <a:pt x="24" y="2"/>
                    </a:lnTo>
                    <a:lnTo>
                      <a:pt x="27" y="0"/>
                    </a:lnTo>
                    <a:lnTo>
                      <a:pt x="27" y="537"/>
                    </a:lnTo>
                    <a:lnTo>
                      <a:pt x="24" y="535"/>
                    </a:lnTo>
                    <a:lnTo>
                      <a:pt x="20" y="533"/>
                    </a:lnTo>
                    <a:lnTo>
                      <a:pt x="16" y="530"/>
                    </a:lnTo>
                    <a:lnTo>
                      <a:pt x="13" y="528"/>
                    </a:lnTo>
                    <a:lnTo>
                      <a:pt x="10" y="526"/>
                    </a:lnTo>
                    <a:lnTo>
                      <a:pt x="7" y="524"/>
                    </a:lnTo>
                    <a:lnTo>
                      <a:pt x="3" y="522"/>
                    </a:lnTo>
                    <a:lnTo>
                      <a:pt x="0" y="5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50" name="Freeform 1604"/>
              <p:cNvSpPr>
                <a:spLocks noChangeAspect="1"/>
              </p:cNvSpPr>
              <p:nvPr/>
            </p:nvSpPr>
            <p:spPr bwMode="auto">
              <a:xfrm>
                <a:off x="5331" y="1052"/>
                <a:ext cx="9" cy="184"/>
              </a:xfrm>
              <a:custGeom>
                <a:avLst/>
                <a:gdLst>
                  <a:gd name="T0" fmla="*/ 0 w 27"/>
                  <a:gd name="T1" fmla="*/ 0 h 551"/>
                  <a:gd name="T2" fmla="*/ 0 w 27"/>
                  <a:gd name="T3" fmla="*/ 0 h 551"/>
                  <a:gd name="T4" fmla="*/ 0 w 27"/>
                  <a:gd name="T5" fmla="*/ 0 h 551"/>
                  <a:gd name="T6" fmla="*/ 0 w 27"/>
                  <a:gd name="T7" fmla="*/ 0 h 551"/>
                  <a:gd name="T8" fmla="*/ 0 w 27"/>
                  <a:gd name="T9" fmla="*/ 0 h 551"/>
                  <a:gd name="T10" fmla="*/ 0 w 27"/>
                  <a:gd name="T11" fmla="*/ 0 h 551"/>
                  <a:gd name="T12" fmla="*/ 0 w 27"/>
                  <a:gd name="T13" fmla="*/ 0 h 551"/>
                  <a:gd name="T14" fmla="*/ 0 w 27"/>
                  <a:gd name="T15" fmla="*/ 0 h 551"/>
                  <a:gd name="T16" fmla="*/ 0 w 27"/>
                  <a:gd name="T17" fmla="*/ 0 h 551"/>
                  <a:gd name="T18" fmla="*/ 0 w 27"/>
                  <a:gd name="T19" fmla="*/ 0 h 551"/>
                  <a:gd name="T20" fmla="*/ 0 w 27"/>
                  <a:gd name="T21" fmla="*/ 0 h 551"/>
                  <a:gd name="T22" fmla="*/ 0 w 27"/>
                  <a:gd name="T23" fmla="*/ 0 h 551"/>
                  <a:gd name="T24" fmla="*/ 0 w 27"/>
                  <a:gd name="T25" fmla="*/ 0 h 551"/>
                  <a:gd name="T26" fmla="*/ 0 w 27"/>
                  <a:gd name="T27" fmla="*/ 0 h 551"/>
                  <a:gd name="T28" fmla="*/ 0 w 27"/>
                  <a:gd name="T29" fmla="*/ 0 h 551"/>
                  <a:gd name="T30" fmla="*/ 0 w 27"/>
                  <a:gd name="T31" fmla="*/ 0 h 551"/>
                  <a:gd name="T32" fmla="*/ 0 w 27"/>
                  <a:gd name="T33" fmla="*/ 0 h 551"/>
                  <a:gd name="T34" fmla="*/ 0 w 27"/>
                  <a:gd name="T35" fmla="*/ 0 h 551"/>
                  <a:gd name="T36" fmla="*/ 0 w 27"/>
                  <a:gd name="T37" fmla="*/ 0 h 5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51">
                    <a:moveTo>
                      <a:pt x="0" y="535"/>
                    </a:moveTo>
                    <a:lnTo>
                      <a:pt x="0" y="15"/>
                    </a:lnTo>
                    <a:lnTo>
                      <a:pt x="3" y="13"/>
                    </a:lnTo>
                    <a:lnTo>
                      <a:pt x="6" y="11"/>
                    </a:lnTo>
                    <a:lnTo>
                      <a:pt x="10" y="9"/>
                    </a:lnTo>
                    <a:lnTo>
                      <a:pt x="13" y="7"/>
                    </a:lnTo>
                    <a:lnTo>
                      <a:pt x="16" y="5"/>
                    </a:lnTo>
                    <a:lnTo>
                      <a:pt x="19" y="4"/>
                    </a:lnTo>
                    <a:lnTo>
                      <a:pt x="22" y="2"/>
                    </a:lnTo>
                    <a:lnTo>
                      <a:pt x="27" y="0"/>
                    </a:lnTo>
                    <a:lnTo>
                      <a:pt x="27" y="551"/>
                    </a:lnTo>
                    <a:lnTo>
                      <a:pt x="22" y="549"/>
                    </a:lnTo>
                    <a:lnTo>
                      <a:pt x="19" y="547"/>
                    </a:lnTo>
                    <a:lnTo>
                      <a:pt x="16" y="545"/>
                    </a:lnTo>
                    <a:lnTo>
                      <a:pt x="13" y="544"/>
                    </a:lnTo>
                    <a:lnTo>
                      <a:pt x="10" y="542"/>
                    </a:lnTo>
                    <a:lnTo>
                      <a:pt x="6" y="540"/>
                    </a:lnTo>
                    <a:lnTo>
                      <a:pt x="3" y="537"/>
                    </a:lnTo>
                    <a:lnTo>
                      <a:pt x="0" y="53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51" name="Freeform 1605"/>
              <p:cNvSpPr>
                <a:spLocks noChangeAspect="1"/>
              </p:cNvSpPr>
              <p:nvPr/>
            </p:nvSpPr>
            <p:spPr bwMode="auto">
              <a:xfrm>
                <a:off x="5336" y="1050"/>
                <a:ext cx="8" cy="188"/>
              </a:xfrm>
              <a:custGeom>
                <a:avLst/>
                <a:gdLst>
                  <a:gd name="T0" fmla="*/ 0 w 26"/>
                  <a:gd name="T1" fmla="*/ 0 h 565"/>
                  <a:gd name="T2" fmla="*/ 0 w 26"/>
                  <a:gd name="T3" fmla="*/ 0 h 565"/>
                  <a:gd name="T4" fmla="*/ 0 w 26"/>
                  <a:gd name="T5" fmla="*/ 0 h 565"/>
                  <a:gd name="T6" fmla="*/ 0 w 26"/>
                  <a:gd name="T7" fmla="*/ 0 h 565"/>
                  <a:gd name="T8" fmla="*/ 0 w 26"/>
                  <a:gd name="T9" fmla="*/ 0 h 565"/>
                  <a:gd name="T10" fmla="*/ 0 w 26"/>
                  <a:gd name="T11" fmla="*/ 0 h 565"/>
                  <a:gd name="T12" fmla="*/ 0 w 26"/>
                  <a:gd name="T13" fmla="*/ 0 h 565"/>
                  <a:gd name="T14" fmla="*/ 0 w 26"/>
                  <a:gd name="T15" fmla="*/ 0 h 565"/>
                  <a:gd name="T16" fmla="*/ 0 w 26"/>
                  <a:gd name="T17" fmla="*/ 0 h 565"/>
                  <a:gd name="T18" fmla="*/ 0 w 26"/>
                  <a:gd name="T19" fmla="*/ 0 h 565"/>
                  <a:gd name="T20" fmla="*/ 0 w 26"/>
                  <a:gd name="T21" fmla="*/ 0 h 565"/>
                  <a:gd name="T22" fmla="*/ 0 w 26"/>
                  <a:gd name="T23" fmla="*/ 0 h 565"/>
                  <a:gd name="T24" fmla="*/ 0 w 26"/>
                  <a:gd name="T25" fmla="*/ 0 h 565"/>
                  <a:gd name="T26" fmla="*/ 0 w 26"/>
                  <a:gd name="T27" fmla="*/ 0 h 565"/>
                  <a:gd name="T28" fmla="*/ 0 w 26"/>
                  <a:gd name="T29" fmla="*/ 0 h 565"/>
                  <a:gd name="T30" fmla="*/ 0 w 26"/>
                  <a:gd name="T31" fmla="*/ 0 h 565"/>
                  <a:gd name="T32" fmla="*/ 0 w 26"/>
                  <a:gd name="T33" fmla="*/ 0 h 565"/>
                  <a:gd name="T34" fmla="*/ 0 w 26"/>
                  <a:gd name="T35" fmla="*/ 0 h 565"/>
                  <a:gd name="T36" fmla="*/ 0 w 26"/>
                  <a:gd name="T37" fmla="*/ 0 h 5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65">
                    <a:moveTo>
                      <a:pt x="0" y="551"/>
                    </a:moveTo>
                    <a:lnTo>
                      <a:pt x="0" y="14"/>
                    </a:lnTo>
                    <a:lnTo>
                      <a:pt x="3" y="12"/>
                    </a:lnTo>
                    <a:lnTo>
                      <a:pt x="6" y="11"/>
                    </a:lnTo>
                    <a:lnTo>
                      <a:pt x="9" y="9"/>
                    </a:lnTo>
                    <a:lnTo>
                      <a:pt x="13" y="7"/>
                    </a:lnTo>
                    <a:lnTo>
                      <a:pt x="16" y="5"/>
                    </a:lnTo>
                    <a:lnTo>
                      <a:pt x="20" y="3"/>
                    </a:lnTo>
                    <a:lnTo>
                      <a:pt x="23" y="2"/>
                    </a:lnTo>
                    <a:lnTo>
                      <a:pt x="26" y="0"/>
                    </a:lnTo>
                    <a:lnTo>
                      <a:pt x="26" y="565"/>
                    </a:lnTo>
                    <a:lnTo>
                      <a:pt x="23" y="563"/>
                    </a:lnTo>
                    <a:lnTo>
                      <a:pt x="20" y="561"/>
                    </a:lnTo>
                    <a:lnTo>
                      <a:pt x="16" y="559"/>
                    </a:lnTo>
                    <a:lnTo>
                      <a:pt x="13" y="558"/>
                    </a:lnTo>
                    <a:lnTo>
                      <a:pt x="9" y="556"/>
                    </a:lnTo>
                    <a:lnTo>
                      <a:pt x="6" y="554"/>
                    </a:lnTo>
                    <a:lnTo>
                      <a:pt x="3" y="553"/>
                    </a:lnTo>
                    <a:lnTo>
                      <a:pt x="0" y="55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52" name="Freeform 1606"/>
              <p:cNvSpPr>
                <a:spLocks noChangeAspect="1"/>
              </p:cNvSpPr>
              <p:nvPr/>
            </p:nvSpPr>
            <p:spPr bwMode="auto">
              <a:xfrm>
                <a:off x="5340" y="1048"/>
                <a:ext cx="9" cy="192"/>
              </a:xfrm>
              <a:custGeom>
                <a:avLst/>
                <a:gdLst>
                  <a:gd name="T0" fmla="*/ 0 w 25"/>
                  <a:gd name="T1" fmla="*/ 0 h 576"/>
                  <a:gd name="T2" fmla="*/ 0 w 25"/>
                  <a:gd name="T3" fmla="*/ 0 h 576"/>
                  <a:gd name="T4" fmla="*/ 0 w 25"/>
                  <a:gd name="T5" fmla="*/ 0 h 576"/>
                  <a:gd name="T6" fmla="*/ 0 w 25"/>
                  <a:gd name="T7" fmla="*/ 0 h 576"/>
                  <a:gd name="T8" fmla="*/ 0 w 25"/>
                  <a:gd name="T9" fmla="*/ 0 h 576"/>
                  <a:gd name="T10" fmla="*/ 0 w 25"/>
                  <a:gd name="T11" fmla="*/ 0 h 576"/>
                  <a:gd name="T12" fmla="*/ 0 w 25"/>
                  <a:gd name="T13" fmla="*/ 0 h 576"/>
                  <a:gd name="T14" fmla="*/ 0 w 25"/>
                  <a:gd name="T15" fmla="*/ 0 h 576"/>
                  <a:gd name="T16" fmla="*/ 0 w 25"/>
                  <a:gd name="T17" fmla="*/ 0 h 576"/>
                  <a:gd name="T18" fmla="*/ 0 w 25"/>
                  <a:gd name="T19" fmla="*/ 0 h 576"/>
                  <a:gd name="T20" fmla="*/ 0 w 25"/>
                  <a:gd name="T21" fmla="*/ 0 h 576"/>
                  <a:gd name="T22" fmla="*/ 0 w 25"/>
                  <a:gd name="T23" fmla="*/ 0 h 576"/>
                  <a:gd name="T24" fmla="*/ 0 w 25"/>
                  <a:gd name="T25" fmla="*/ 0 h 576"/>
                  <a:gd name="T26" fmla="*/ 0 w 25"/>
                  <a:gd name="T27" fmla="*/ 0 h 576"/>
                  <a:gd name="T28" fmla="*/ 0 w 25"/>
                  <a:gd name="T29" fmla="*/ 0 h 576"/>
                  <a:gd name="T30" fmla="*/ 0 w 25"/>
                  <a:gd name="T31" fmla="*/ 0 h 576"/>
                  <a:gd name="T32" fmla="*/ 0 w 25"/>
                  <a:gd name="T33" fmla="*/ 0 h 576"/>
                  <a:gd name="T34" fmla="*/ 0 w 25"/>
                  <a:gd name="T35" fmla="*/ 0 h 576"/>
                  <a:gd name="T36" fmla="*/ 0 w 25"/>
                  <a:gd name="T37" fmla="*/ 0 h 5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5" h="576">
                    <a:moveTo>
                      <a:pt x="0" y="564"/>
                    </a:moveTo>
                    <a:lnTo>
                      <a:pt x="0" y="13"/>
                    </a:lnTo>
                    <a:lnTo>
                      <a:pt x="3" y="11"/>
                    </a:lnTo>
                    <a:lnTo>
                      <a:pt x="6" y="9"/>
                    </a:lnTo>
                    <a:lnTo>
                      <a:pt x="9" y="8"/>
                    </a:lnTo>
                    <a:lnTo>
                      <a:pt x="12" y="6"/>
                    </a:lnTo>
                    <a:lnTo>
                      <a:pt x="16" y="5"/>
                    </a:lnTo>
                    <a:lnTo>
                      <a:pt x="19" y="3"/>
                    </a:lnTo>
                    <a:lnTo>
                      <a:pt x="22" y="2"/>
                    </a:lnTo>
                    <a:lnTo>
                      <a:pt x="25" y="0"/>
                    </a:lnTo>
                    <a:lnTo>
                      <a:pt x="25" y="576"/>
                    </a:lnTo>
                    <a:lnTo>
                      <a:pt x="22" y="575"/>
                    </a:lnTo>
                    <a:lnTo>
                      <a:pt x="19" y="574"/>
                    </a:lnTo>
                    <a:lnTo>
                      <a:pt x="16" y="572"/>
                    </a:lnTo>
                    <a:lnTo>
                      <a:pt x="12" y="571"/>
                    </a:lnTo>
                    <a:lnTo>
                      <a:pt x="9" y="569"/>
                    </a:lnTo>
                    <a:lnTo>
                      <a:pt x="6" y="567"/>
                    </a:lnTo>
                    <a:lnTo>
                      <a:pt x="3" y="565"/>
                    </a:lnTo>
                    <a:lnTo>
                      <a:pt x="0" y="56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53" name="Freeform 1607"/>
              <p:cNvSpPr>
                <a:spLocks noChangeAspect="1"/>
              </p:cNvSpPr>
              <p:nvPr/>
            </p:nvSpPr>
            <p:spPr bwMode="auto">
              <a:xfrm>
                <a:off x="5344" y="1046"/>
                <a:ext cx="9" cy="196"/>
              </a:xfrm>
              <a:custGeom>
                <a:avLst/>
                <a:gdLst>
                  <a:gd name="T0" fmla="*/ 0 w 27"/>
                  <a:gd name="T1" fmla="*/ 0 h 586"/>
                  <a:gd name="T2" fmla="*/ 0 w 27"/>
                  <a:gd name="T3" fmla="*/ 0 h 586"/>
                  <a:gd name="T4" fmla="*/ 0 w 27"/>
                  <a:gd name="T5" fmla="*/ 0 h 586"/>
                  <a:gd name="T6" fmla="*/ 0 w 27"/>
                  <a:gd name="T7" fmla="*/ 0 h 586"/>
                  <a:gd name="T8" fmla="*/ 0 w 27"/>
                  <a:gd name="T9" fmla="*/ 0 h 586"/>
                  <a:gd name="T10" fmla="*/ 0 w 27"/>
                  <a:gd name="T11" fmla="*/ 0 h 586"/>
                  <a:gd name="T12" fmla="*/ 0 w 27"/>
                  <a:gd name="T13" fmla="*/ 0 h 586"/>
                  <a:gd name="T14" fmla="*/ 0 w 27"/>
                  <a:gd name="T15" fmla="*/ 0 h 586"/>
                  <a:gd name="T16" fmla="*/ 0 w 27"/>
                  <a:gd name="T17" fmla="*/ 0 h 586"/>
                  <a:gd name="T18" fmla="*/ 0 w 27"/>
                  <a:gd name="T19" fmla="*/ 0 h 586"/>
                  <a:gd name="T20" fmla="*/ 0 w 27"/>
                  <a:gd name="T21" fmla="*/ 0 h 586"/>
                  <a:gd name="T22" fmla="*/ 0 w 27"/>
                  <a:gd name="T23" fmla="*/ 0 h 586"/>
                  <a:gd name="T24" fmla="*/ 0 w 27"/>
                  <a:gd name="T25" fmla="*/ 0 h 586"/>
                  <a:gd name="T26" fmla="*/ 0 w 27"/>
                  <a:gd name="T27" fmla="*/ 0 h 586"/>
                  <a:gd name="T28" fmla="*/ 0 w 27"/>
                  <a:gd name="T29" fmla="*/ 0 h 586"/>
                  <a:gd name="T30" fmla="*/ 0 w 27"/>
                  <a:gd name="T31" fmla="*/ 0 h 586"/>
                  <a:gd name="T32" fmla="*/ 0 w 27"/>
                  <a:gd name="T33" fmla="*/ 0 h 586"/>
                  <a:gd name="T34" fmla="*/ 0 w 27"/>
                  <a:gd name="T35" fmla="*/ 0 h 586"/>
                  <a:gd name="T36" fmla="*/ 0 w 27"/>
                  <a:gd name="T37" fmla="*/ 0 h 58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86">
                    <a:moveTo>
                      <a:pt x="0" y="576"/>
                    </a:moveTo>
                    <a:lnTo>
                      <a:pt x="0" y="11"/>
                    </a:lnTo>
                    <a:lnTo>
                      <a:pt x="4" y="10"/>
                    </a:lnTo>
                    <a:lnTo>
                      <a:pt x="7" y="8"/>
                    </a:lnTo>
                    <a:lnTo>
                      <a:pt x="10" y="7"/>
                    </a:lnTo>
                    <a:lnTo>
                      <a:pt x="13" y="6"/>
                    </a:lnTo>
                    <a:lnTo>
                      <a:pt x="16" y="4"/>
                    </a:lnTo>
                    <a:lnTo>
                      <a:pt x="21" y="3"/>
                    </a:lnTo>
                    <a:lnTo>
                      <a:pt x="24" y="2"/>
                    </a:lnTo>
                    <a:lnTo>
                      <a:pt x="27" y="0"/>
                    </a:lnTo>
                    <a:lnTo>
                      <a:pt x="27" y="586"/>
                    </a:lnTo>
                    <a:lnTo>
                      <a:pt x="24" y="585"/>
                    </a:lnTo>
                    <a:lnTo>
                      <a:pt x="21" y="584"/>
                    </a:lnTo>
                    <a:lnTo>
                      <a:pt x="16" y="583"/>
                    </a:lnTo>
                    <a:lnTo>
                      <a:pt x="13" y="581"/>
                    </a:lnTo>
                    <a:lnTo>
                      <a:pt x="10" y="580"/>
                    </a:lnTo>
                    <a:lnTo>
                      <a:pt x="7" y="579"/>
                    </a:lnTo>
                    <a:lnTo>
                      <a:pt x="4" y="577"/>
                    </a:lnTo>
                    <a:lnTo>
                      <a:pt x="0" y="57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54" name="Freeform 1608"/>
              <p:cNvSpPr>
                <a:spLocks noChangeAspect="1"/>
              </p:cNvSpPr>
              <p:nvPr/>
            </p:nvSpPr>
            <p:spPr bwMode="auto">
              <a:xfrm>
                <a:off x="5349" y="1045"/>
                <a:ext cx="9" cy="198"/>
              </a:xfrm>
              <a:custGeom>
                <a:avLst/>
                <a:gdLst>
                  <a:gd name="T0" fmla="*/ 0 w 27"/>
                  <a:gd name="T1" fmla="*/ 0 h 596"/>
                  <a:gd name="T2" fmla="*/ 0 w 27"/>
                  <a:gd name="T3" fmla="*/ 0 h 596"/>
                  <a:gd name="T4" fmla="*/ 0 w 27"/>
                  <a:gd name="T5" fmla="*/ 0 h 596"/>
                  <a:gd name="T6" fmla="*/ 0 w 27"/>
                  <a:gd name="T7" fmla="*/ 0 h 596"/>
                  <a:gd name="T8" fmla="*/ 0 w 27"/>
                  <a:gd name="T9" fmla="*/ 0 h 596"/>
                  <a:gd name="T10" fmla="*/ 0 w 27"/>
                  <a:gd name="T11" fmla="*/ 0 h 596"/>
                  <a:gd name="T12" fmla="*/ 0 w 27"/>
                  <a:gd name="T13" fmla="*/ 0 h 596"/>
                  <a:gd name="T14" fmla="*/ 0 w 27"/>
                  <a:gd name="T15" fmla="*/ 0 h 596"/>
                  <a:gd name="T16" fmla="*/ 0 w 27"/>
                  <a:gd name="T17" fmla="*/ 0 h 596"/>
                  <a:gd name="T18" fmla="*/ 0 w 27"/>
                  <a:gd name="T19" fmla="*/ 0 h 596"/>
                  <a:gd name="T20" fmla="*/ 0 w 27"/>
                  <a:gd name="T21" fmla="*/ 0 h 596"/>
                  <a:gd name="T22" fmla="*/ 0 w 27"/>
                  <a:gd name="T23" fmla="*/ 0 h 596"/>
                  <a:gd name="T24" fmla="*/ 0 w 27"/>
                  <a:gd name="T25" fmla="*/ 0 h 596"/>
                  <a:gd name="T26" fmla="*/ 0 w 27"/>
                  <a:gd name="T27" fmla="*/ 0 h 596"/>
                  <a:gd name="T28" fmla="*/ 0 w 27"/>
                  <a:gd name="T29" fmla="*/ 0 h 596"/>
                  <a:gd name="T30" fmla="*/ 0 w 27"/>
                  <a:gd name="T31" fmla="*/ 0 h 596"/>
                  <a:gd name="T32" fmla="*/ 0 w 27"/>
                  <a:gd name="T33" fmla="*/ 0 h 596"/>
                  <a:gd name="T34" fmla="*/ 0 w 27"/>
                  <a:gd name="T35" fmla="*/ 0 h 596"/>
                  <a:gd name="T36" fmla="*/ 0 w 27"/>
                  <a:gd name="T37" fmla="*/ 0 h 59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96">
                    <a:moveTo>
                      <a:pt x="0" y="586"/>
                    </a:moveTo>
                    <a:lnTo>
                      <a:pt x="0" y="10"/>
                    </a:lnTo>
                    <a:lnTo>
                      <a:pt x="4" y="9"/>
                    </a:lnTo>
                    <a:lnTo>
                      <a:pt x="8" y="8"/>
                    </a:lnTo>
                    <a:lnTo>
                      <a:pt x="11" y="7"/>
                    </a:lnTo>
                    <a:lnTo>
                      <a:pt x="14" y="5"/>
                    </a:lnTo>
                    <a:lnTo>
                      <a:pt x="17" y="4"/>
                    </a:lnTo>
                    <a:lnTo>
                      <a:pt x="20" y="2"/>
                    </a:lnTo>
                    <a:lnTo>
                      <a:pt x="24" y="1"/>
                    </a:lnTo>
                    <a:lnTo>
                      <a:pt x="27" y="0"/>
                    </a:lnTo>
                    <a:lnTo>
                      <a:pt x="27" y="596"/>
                    </a:lnTo>
                    <a:lnTo>
                      <a:pt x="24" y="594"/>
                    </a:lnTo>
                    <a:lnTo>
                      <a:pt x="20" y="593"/>
                    </a:lnTo>
                    <a:lnTo>
                      <a:pt x="17" y="592"/>
                    </a:lnTo>
                    <a:lnTo>
                      <a:pt x="14" y="591"/>
                    </a:lnTo>
                    <a:lnTo>
                      <a:pt x="11" y="590"/>
                    </a:lnTo>
                    <a:lnTo>
                      <a:pt x="8" y="589"/>
                    </a:lnTo>
                    <a:lnTo>
                      <a:pt x="4" y="588"/>
                    </a:lnTo>
                    <a:lnTo>
                      <a:pt x="0" y="58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55" name="Freeform 1609"/>
              <p:cNvSpPr>
                <a:spLocks noChangeAspect="1"/>
              </p:cNvSpPr>
              <p:nvPr/>
            </p:nvSpPr>
            <p:spPr bwMode="auto">
              <a:xfrm>
                <a:off x="5353" y="1044"/>
                <a:ext cx="9" cy="201"/>
              </a:xfrm>
              <a:custGeom>
                <a:avLst/>
                <a:gdLst>
                  <a:gd name="T0" fmla="*/ 0 w 27"/>
                  <a:gd name="T1" fmla="*/ 0 h 603"/>
                  <a:gd name="T2" fmla="*/ 0 w 27"/>
                  <a:gd name="T3" fmla="*/ 0 h 603"/>
                  <a:gd name="T4" fmla="*/ 0 w 27"/>
                  <a:gd name="T5" fmla="*/ 0 h 603"/>
                  <a:gd name="T6" fmla="*/ 0 w 27"/>
                  <a:gd name="T7" fmla="*/ 0 h 603"/>
                  <a:gd name="T8" fmla="*/ 0 w 27"/>
                  <a:gd name="T9" fmla="*/ 0 h 603"/>
                  <a:gd name="T10" fmla="*/ 0 w 27"/>
                  <a:gd name="T11" fmla="*/ 0 h 603"/>
                  <a:gd name="T12" fmla="*/ 0 w 27"/>
                  <a:gd name="T13" fmla="*/ 0 h 603"/>
                  <a:gd name="T14" fmla="*/ 0 w 27"/>
                  <a:gd name="T15" fmla="*/ 0 h 603"/>
                  <a:gd name="T16" fmla="*/ 0 w 27"/>
                  <a:gd name="T17" fmla="*/ 0 h 603"/>
                  <a:gd name="T18" fmla="*/ 0 w 27"/>
                  <a:gd name="T19" fmla="*/ 0 h 603"/>
                  <a:gd name="T20" fmla="*/ 0 w 27"/>
                  <a:gd name="T21" fmla="*/ 0 h 603"/>
                  <a:gd name="T22" fmla="*/ 0 w 27"/>
                  <a:gd name="T23" fmla="*/ 0 h 603"/>
                  <a:gd name="T24" fmla="*/ 0 w 27"/>
                  <a:gd name="T25" fmla="*/ 0 h 603"/>
                  <a:gd name="T26" fmla="*/ 0 w 27"/>
                  <a:gd name="T27" fmla="*/ 0 h 603"/>
                  <a:gd name="T28" fmla="*/ 0 w 27"/>
                  <a:gd name="T29" fmla="*/ 0 h 603"/>
                  <a:gd name="T30" fmla="*/ 0 w 27"/>
                  <a:gd name="T31" fmla="*/ 0 h 603"/>
                  <a:gd name="T32" fmla="*/ 0 w 27"/>
                  <a:gd name="T33" fmla="*/ 0 h 603"/>
                  <a:gd name="T34" fmla="*/ 0 w 27"/>
                  <a:gd name="T35" fmla="*/ 0 h 603"/>
                  <a:gd name="T36" fmla="*/ 0 w 27"/>
                  <a:gd name="T37" fmla="*/ 0 h 6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03">
                    <a:moveTo>
                      <a:pt x="0" y="594"/>
                    </a:moveTo>
                    <a:lnTo>
                      <a:pt x="0" y="8"/>
                    </a:lnTo>
                    <a:lnTo>
                      <a:pt x="3" y="7"/>
                    </a:lnTo>
                    <a:lnTo>
                      <a:pt x="6" y="5"/>
                    </a:lnTo>
                    <a:lnTo>
                      <a:pt x="10" y="4"/>
                    </a:lnTo>
                    <a:lnTo>
                      <a:pt x="13" y="3"/>
                    </a:lnTo>
                    <a:lnTo>
                      <a:pt x="16" y="2"/>
                    </a:lnTo>
                    <a:lnTo>
                      <a:pt x="20" y="1"/>
                    </a:lnTo>
                    <a:lnTo>
                      <a:pt x="23" y="0"/>
                    </a:lnTo>
                    <a:lnTo>
                      <a:pt x="27" y="0"/>
                    </a:lnTo>
                    <a:lnTo>
                      <a:pt x="27" y="603"/>
                    </a:lnTo>
                    <a:lnTo>
                      <a:pt x="23" y="602"/>
                    </a:lnTo>
                    <a:lnTo>
                      <a:pt x="20" y="601"/>
                    </a:lnTo>
                    <a:lnTo>
                      <a:pt x="16" y="600"/>
                    </a:lnTo>
                    <a:lnTo>
                      <a:pt x="13" y="599"/>
                    </a:lnTo>
                    <a:lnTo>
                      <a:pt x="10" y="597"/>
                    </a:lnTo>
                    <a:lnTo>
                      <a:pt x="6" y="596"/>
                    </a:lnTo>
                    <a:lnTo>
                      <a:pt x="3" y="595"/>
                    </a:lnTo>
                    <a:lnTo>
                      <a:pt x="0" y="59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56" name="Freeform 1610"/>
              <p:cNvSpPr>
                <a:spLocks noChangeAspect="1"/>
              </p:cNvSpPr>
              <p:nvPr/>
            </p:nvSpPr>
            <p:spPr bwMode="auto">
              <a:xfrm>
                <a:off x="5358" y="1042"/>
                <a:ext cx="8" cy="204"/>
              </a:xfrm>
              <a:custGeom>
                <a:avLst/>
                <a:gdLst>
                  <a:gd name="T0" fmla="*/ 0 w 26"/>
                  <a:gd name="T1" fmla="*/ 0 h 610"/>
                  <a:gd name="T2" fmla="*/ 0 w 26"/>
                  <a:gd name="T3" fmla="*/ 0 h 610"/>
                  <a:gd name="T4" fmla="*/ 0 w 26"/>
                  <a:gd name="T5" fmla="*/ 0 h 610"/>
                  <a:gd name="T6" fmla="*/ 0 w 26"/>
                  <a:gd name="T7" fmla="*/ 0 h 610"/>
                  <a:gd name="T8" fmla="*/ 0 w 26"/>
                  <a:gd name="T9" fmla="*/ 0 h 610"/>
                  <a:gd name="T10" fmla="*/ 0 w 26"/>
                  <a:gd name="T11" fmla="*/ 0 h 610"/>
                  <a:gd name="T12" fmla="*/ 0 w 26"/>
                  <a:gd name="T13" fmla="*/ 0 h 610"/>
                  <a:gd name="T14" fmla="*/ 0 w 26"/>
                  <a:gd name="T15" fmla="*/ 0 h 610"/>
                  <a:gd name="T16" fmla="*/ 0 w 26"/>
                  <a:gd name="T17" fmla="*/ 0 h 610"/>
                  <a:gd name="T18" fmla="*/ 0 w 26"/>
                  <a:gd name="T19" fmla="*/ 0 h 610"/>
                  <a:gd name="T20" fmla="*/ 0 w 26"/>
                  <a:gd name="T21" fmla="*/ 0 h 610"/>
                  <a:gd name="T22" fmla="*/ 0 w 26"/>
                  <a:gd name="T23" fmla="*/ 0 h 610"/>
                  <a:gd name="T24" fmla="*/ 0 w 26"/>
                  <a:gd name="T25" fmla="*/ 0 h 610"/>
                  <a:gd name="T26" fmla="*/ 0 w 26"/>
                  <a:gd name="T27" fmla="*/ 0 h 610"/>
                  <a:gd name="T28" fmla="*/ 0 w 26"/>
                  <a:gd name="T29" fmla="*/ 0 h 610"/>
                  <a:gd name="T30" fmla="*/ 0 w 26"/>
                  <a:gd name="T31" fmla="*/ 0 h 610"/>
                  <a:gd name="T32" fmla="*/ 0 w 26"/>
                  <a:gd name="T33" fmla="*/ 0 h 610"/>
                  <a:gd name="T34" fmla="*/ 0 w 26"/>
                  <a:gd name="T35" fmla="*/ 0 h 610"/>
                  <a:gd name="T36" fmla="*/ 0 w 26"/>
                  <a:gd name="T37" fmla="*/ 0 h 6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10">
                    <a:moveTo>
                      <a:pt x="0" y="603"/>
                    </a:moveTo>
                    <a:lnTo>
                      <a:pt x="0" y="7"/>
                    </a:lnTo>
                    <a:lnTo>
                      <a:pt x="3" y="6"/>
                    </a:lnTo>
                    <a:lnTo>
                      <a:pt x="7" y="5"/>
                    </a:lnTo>
                    <a:lnTo>
                      <a:pt x="10" y="4"/>
                    </a:lnTo>
                    <a:lnTo>
                      <a:pt x="14" y="4"/>
                    </a:lnTo>
                    <a:lnTo>
                      <a:pt x="17" y="3"/>
                    </a:lnTo>
                    <a:lnTo>
                      <a:pt x="20" y="2"/>
                    </a:lnTo>
                    <a:lnTo>
                      <a:pt x="23" y="1"/>
                    </a:lnTo>
                    <a:lnTo>
                      <a:pt x="26" y="0"/>
                    </a:lnTo>
                    <a:lnTo>
                      <a:pt x="26" y="610"/>
                    </a:lnTo>
                    <a:lnTo>
                      <a:pt x="23" y="610"/>
                    </a:lnTo>
                    <a:lnTo>
                      <a:pt x="20" y="609"/>
                    </a:lnTo>
                    <a:lnTo>
                      <a:pt x="17" y="608"/>
                    </a:lnTo>
                    <a:lnTo>
                      <a:pt x="14" y="607"/>
                    </a:lnTo>
                    <a:lnTo>
                      <a:pt x="10" y="606"/>
                    </a:lnTo>
                    <a:lnTo>
                      <a:pt x="7" y="605"/>
                    </a:lnTo>
                    <a:lnTo>
                      <a:pt x="3" y="604"/>
                    </a:lnTo>
                    <a:lnTo>
                      <a:pt x="0" y="60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57" name="Freeform 1611"/>
              <p:cNvSpPr>
                <a:spLocks noChangeAspect="1"/>
              </p:cNvSpPr>
              <p:nvPr/>
            </p:nvSpPr>
            <p:spPr bwMode="auto">
              <a:xfrm>
                <a:off x="5362" y="1042"/>
                <a:ext cx="9" cy="205"/>
              </a:xfrm>
              <a:custGeom>
                <a:avLst/>
                <a:gdLst>
                  <a:gd name="T0" fmla="*/ 0 w 26"/>
                  <a:gd name="T1" fmla="*/ 0 h 615"/>
                  <a:gd name="T2" fmla="*/ 0 w 26"/>
                  <a:gd name="T3" fmla="*/ 0 h 615"/>
                  <a:gd name="T4" fmla="*/ 0 w 26"/>
                  <a:gd name="T5" fmla="*/ 0 h 615"/>
                  <a:gd name="T6" fmla="*/ 0 w 26"/>
                  <a:gd name="T7" fmla="*/ 0 h 615"/>
                  <a:gd name="T8" fmla="*/ 0 w 26"/>
                  <a:gd name="T9" fmla="*/ 0 h 615"/>
                  <a:gd name="T10" fmla="*/ 0 w 26"/>
                  <a:gd name="T11" fmla="*/ 0 h 615"/>
                  <a:gd name="T12" fmla="*/ 0 w 26"/>
                  <a:gd name="T13" fmla="*/ 0 h 615"/>
                  <a:gd name="T14" fmla="*/ 0 w 26"/>
                  <a:gd name="T15" fmla="*/ 0 h 615"/>
                  <a:gd name="T16" fmla="*/ 0 w 26"/>
                  <a:gd name="T17" fmla="*/ 0 h 615"/>
                  <a:gd name="T18" fmla="*/ 0 w 26"/>
                  <a:gd name="T19" fmla="*/ 0 h 615"/>
                  <a:gd name="T20" fmla="*/ 0 w 26"/>
                  <a:gd name="T21" fmla="*/ 0 h 615"/>
                  <a:gd name="T22" fmla="*/ 0 w 26"/>
                  <a:gd name="T23" fmla="*/ 0 h 615"/>
                  <a:gd name="T24" fmla="*/ 0 w 26"/>
                  <a:gd name="T25" fmla="*/ 0 h 615"/>
                  <a:gd name="T26" fmla="*/ 0 w 26"/>
                  <a:gd name="T27" fmla="*/ 0 h 615"/>
                  <a:gd name="T28" fmla="*/ 0 w 26"/>
                  <a:gd name="T29" fmla="*/ 0 h 615"/>
                  <a:gd name="T30" fmla="*/ 0 w 26"/>
                  <a:gd name="T31" fmla="*/ 0 h 615"/>
                  <a:gd name="T32" fmla="*/ 0 w 26"/>
                  <a:gd name="T33" fmla="*/ 0 h 615"/>
                  <a:gd name="T34" fmla="*/ 0 w 26"/>
                  <a:gd name="T35" fmla="*/ 0 h 615"/>
                  <a:gd name="T36" fmla="*/ 0 w 26"/>
                  <a:gd name="T37" fmla="*/ 0 h 6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15">
                    <a:moveTo>
                      <a:pt x="0" y="609"/>
                    </a:moveTo>
                    <a:lnTo>
                      <a:pt x="0" y="6"/>
                    </a:lnTo>
                    <a:lnTo>
                      <a:pt x="3" y="5"/>
                    </a:lnTo>
                    <a:lnTo>
                      <a:pt x="6" y="4"/>
                    </a:lnTo>
                    <a:lnTo>
                      <a:pt x="9" y="3"/>
                    </a:lnTo>
                    <a:lnTo>
                      <a:pt x="12" y="2"/>
                    </a:lnTo>
                    <a:lnTo>
                      <a:pt x="16" y="2"/>
                    </a:lnTo>
                    <a:lnTo>
                      <a:pt x="20" y="1"/>
                    </a:lnTo>
                    <a:lnTo>
                      <a:pt x="23" y="0"/>
                    </a:lnTo>
                    <a:lnTo>
                      <a:pt x="26" y="0"/>
                    </a:lnTo>
                    <a:lnTo>
                      <a:pt x="26" y="615"/>
                    </a:lnTo>
                    <a:lnTo>
                      <a:pt x="23" y="614"/>
                    </a:lnTo>
                    <a:lnTo>
                      <a:pt x="20" y="614"/>
                    </a:lnTo>
                    <a:lnTo>
                      <a:pt x="16" y="613"/>
                    </a:lnTo>
                    <a:lnTo>
                      <a:pt x="12" y="612"/>
                    </a:lnTo>
                    <a:lnTo>
                      <a:pt x="9" y="612"/>
                    </a:lnTo>
                    <a:lnTo>
                      <a:pt x="6" y="611"/>
                    </a:lnTo>
                    <a:lnTo>
                      <a:pt x="3" y="610"/>
                    </a:lnTo>
                    <a:lnTo>
                      <a:pt x="0" y="60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58" name="Freeform 1612"/>
              <p:cNvSpPr>
                <a:spLocks noChangeAspect="1"/>
              </p:cNvSpPr>
              <p:nvPr/>
            </p:nvSpPr>
            <p:spPr bwMode="auto">
              <a:xfrm>
                <a:off x="5366" y="1041"/>
                <a:ext cx="9" cy="206"/>
              </a:xfrm>
              <a:custGeom>
                <a:avLst/>
                <a:gdLst>
                  <a:gd name="T0" fmla="*/ 0 w 27"/>
                  <a:gd name="T1" fmla="*/ 0 h 620"/>
                  <a:gd name="T2" fmla="*/ 0 w 27"/>
                  <a:gd name="T3" fmla="*/ 0 h 620"/>
                  <a:gd name="T4" fmla="*/ 0 w 27"/>
                  <a:gd name="T5" fmla="*/ 0 h 620"/>
                  <a:gd name="T6" fmla="*/ 0 w 27"/>
                  <a:gd name="T7" fmla="*/ 0 h 620"/>
                  <a:gd name="T8" fmla="*/ 0 w 27"/>
                  <a:gd name="T9" fmla="*/ 0 h 620"/>
                  <a:gd name="T10" fmla="*/ 0 w 27"/>
                  <a:gd name="T11" fmla="*/ 0 h 620"/>
                  <a:gd name="T12" fmla="*/ 0 w 27"/>
                  <a:gd name="T13" fmla="*/ 0 h 620"/>
                  <a:gd name="T14" fmla="*/ 0 w 27"/>
                  <a:gd name="T15" fmla="*/ 0 h 620"/>
                  <a:gd name="T16" fmla="*/ 0 w 27"/>
                  <a:gd name="T17" fmla="*/ 0 h 620"/>
                  <a:gd name="T18" fmla="*/ 0 w 27"/>
                  <a:gd name="T19" fmla="*/ 0 h 620"/>
                  <a:gd name="T20" fmla="*/ 0 w 27"/>
                  <a:gd name="T21" fmla="*/ 0 h 620"/>
                  <a:gd name="T22" fmla="*/ 0 w 27"/>
                  <a:gd name="T23" fmla="*/ 0 h 620"/>
                  <a:gd name="T24" fmla="*/ 0 w 27"/>
                  <a:gd name="T25" fmla="*/ 0 h 620"/>
                  <a:gd name="T26" fmla="*/ 0 w 27"/>
                  <a:gd name="T27" fmla="*/ 0 h 620"/>
                  <a:gd name="T28" fmla="*/ 0 w 27"/>
                  <a:gd name="T29" fmla="*/ 0 h 620"/>
                  <a:gd name="T30" fmla="*/ 0 w 27"/>
                  <a:gd name="T31" fmla="*/ 0 h 620"/>
                  <a:gd name="T32" fmla="*/ 0 w 27"/>
                  <a:gd name="T33" fmla="*/ 0 h 620"/>
                  <a:gd name="T34" fmla="*/ 0 w 27"/>
                  <a:gd name="T35" fmla="*/ 0 h 620"/>
                  <a:gd name="T36" fmla="*/ 0 w 27"/>
                  <a:gd name="T37" fmla="*/ 0 h 6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0">
                    <a:moveTo>
                      <a:pt x="0" y="615"/>
                    </a:moveTo>
                    <a:lnTo>
                      <a:pt x="0" y="5"/>
                    </a:lnTo>
                    <a:lnTo>
                      <a:pt x="4" y="5"/>
                    </a:lnTo>
                    <a:lnTo>
                      <a:pt x="8" y="4"/>
                    </a:lnTo>
                    <a:lnTo>
                      <a:pt x="11" y="3"/>
                    </a:lnTo>
                    <a:lnTo>
                      <a:pt x="14" y="3"/>
                    </a:lnTo>
                    <a:lnTo>
                      <a:pt x="17" y="2"/>
                    </a:lnTo>
                    <a:lnTo>
                      <a:pt x="21" y="2"/>
                    </a:lnTo>
                    <a:lnTo>
                      <a:pt x="24" y="0"/>
                    </a:lnTo>
                    <a:lnTo>
                      <a:pt x="27" y="0"/>
                    </a:lnTo>
                    <a:lnTo>
                      <a:pt x="27" y="620"/>
                    </a:lnTo>
                    <a:lnTo>
                      <a:pt x="24" y="620"/>
                    </a:lnTo>
                    <a:lnTo>
                      <a:pt x="21" y="619"/>
                    </a:lnTo>
                    <a:lnTo>
                      <a:pt x="17" y="619"/>
                    </a:lnTo>
                    <a:lnTo>
                      <a:pt x="14" y="618"/>
                    </a:lnTo>
                    <a:lnTo>
                      <a:pt x="11" y="617"/>
                    </a:lnTo>
                    <a:lnTo>
                      <a:pt x="8" y="617"/>
                    </a:lnTo>
                    <a:lnTo>
                      <a:pt x="4" y="616"/>
                    </a:lnTo>
                    <a:lnTo>
                      <a:pt x="0" y="6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59" name="Freeform 1613"/>
              <p:cNvSpPr>
                <a:spLocks noChangeAspect="1"/>
              </p:cNvSpPr>
              <p:nvPr/>
            </p:nvSpPr>
            <p:spPr bwMode="auto">
              <a:xfrm>
                <a:off x="5371" y="1040"/>
                <a:ext cx="9" cy="208"/>
              </a:xfrm>
              <a:custGeom>
                <a:avLst/>
                <a:gdLst>
                  <a:gd name="T0" fmla="*/ 0 w 27"/>
                  <a:gd name="T1" fmla="*/ 0 h 624"/>
                  <a:gd name="T2" fmla="*/ 0 w 27"/>
                  <a:gd name="T3" fmla="*/ 0 h 624"/>
                  <a:gd name="T4" fmla="*/ 0 w 27"/>
                  <a:gd name="T5" fmla="*/ 0 h 624"/>
                  <a:gd name="T6" fmla="*/ 0 w 27"/>
                  <a:gd name="T7" fmla="*/ 0 h 624"/>
                  <a:gd name="T8" fmla="*/ 0 w 27"/>
                  <a:gd name="T9" fmla="*/ 0 h 624"/>
                  <a:gd name="T10" fmla="*/ 0 w 27"/>
                  <a:gd name="T11" fmla="*/ 0 h 624"/>
                  <a:gd name="T12" fmla="*/ 0 w 27"/>
                  <a:gd name="T13" fmla="*/ 0 h 624"/>
                  <a:gd name="T14" fmla="*/ 0 w 27"/>
                  <a:gd name="T15" fmla="*/ 0 h 624"/>
                  <a:gd name="T16" fmla="*/ 0 w 27"/>
                  <a:gd name="T17" fmla="*/ 0 h 624"/>
                  <a:gd name="T18" fmla="*/ 0 w 27"/>
                  <a:gd name="T19" fmla="*/ 0 h 624"/>
                  <a:gd name="T20" fmla="*/ 0 w 27"/>
                  <a:gd name="T21" fmla="*/ 0 h 624"/>
                  <a:gd name="T22" fmla="*/ 0 w 27"/>
                  <a:gd name="T23" fmla="*/ 0 h 624"/>
                  <a:gd name="T24" fmla="*/ 0 w 27"/>
                  <a:gd name="T25" fmla="*/ 0 h 624"/>
                  <a:gd name="T26" fmla="*/ 0 w 27"/>
                  <a:gd name="T27" fmla="*/ 0 h 624"/>
                  <a:gd name="T28" fmla="*/ 0 w 27"/>
                  <a:gd name="T29" fmla="*/ 0 h 624"/>
                  <a:gd name="T30" fmla="*/ 0 w 27"/>
                  <a:gd name="T31" fmla="*/ 0 h 624"/>
                  <a:gd name="T32" fmla="*/ 0 w 27"/>
                  <a:gd name="T33" fmla="*/ 0 h 624"/>
                  <a:gd name="T34" fmla="*/ 0 w 27"/>
                  <a:gd name="T35" fmla="*/ 0 h 624"/>
                  <a:gd name="T36" fmla="*/ 0 w 27"/>
                  <a:gd name="T37" fmla="*/ 0 h 6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4">
                    <a:moveTo>
                      <a:pt x="0" y="620"/>
                    </a:moveTo>
                    <a:lnTo>
                      <a:pt x="0" y="5"/>
                    </a:lnTo>
                    <a:lnTo>
                      <a:pt x="3" y="4"/>
                    </a:lnTo>
                    <a:lnTo>
                      <a:pt x="7" y="4"/>
                    </a:lnTo>
                    <a:lnTo>
                      <a:pt x="10" y="2"/>
                    </a:lnTo>
                    <a:lnTo>
                      <a:pt x="13" y="2"/>
                    </a:lnTo>
                    <a:lnTo>
                      <a:pt x="16" y="1"/>
                    </a:lnTo>
                    <a:lnTo>
                      <a:pt x="19" y="1"/>
                    </a:lnTo>
                    <a:lnTo>
                      <a:pt x="24" y="0"/>
                    </a:lnTo>
                    <a:lnTo>
                      <a:pt x="27" y="0"/>
                    </a:lnTo>
                    <a:lnTo>
                      <a:pt x="27" y="624"/>
                    </a:lnTo>
                    <a:lnTo>
                      <a:pt x="24" y="624"/>
                    </a:lnTo>
                    <a:lnTo>
                      <a:pt x="19" y="623"/>
                    </a:lnTo>
                    <a:lnTo>
                      <a:pt x="16" y="623"/>
                    </a:lnTo>
                    <a:lnTo>
                      <a:pt x="13" y="622"/>
                    </a:lnTo>
                    <a:lnTo>
                      <a:pt x="10" y="622"/>
                    </a:lnTo>
                    <a:lnTo>
                      <a:pt x="7" y="621"/>
                    </a:lnTo>
                    <a:lnTo>
                      <a:pt x="3" y="621"/>
                    </a:lnTo>
                    <a:lnTo>
                      <a:pt x="0" y="6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60" name="Freeform 1614"/>
              <p:cNvSpPr>
                <a:spLocks noChangeAspect="1"/>
              </p:cNvSpPr>
              <p:nvPr/>
            </p:nvSpPr>
            <p:spPr bwMode="auto">
              <a:xfrm>
                <a:off x="5375" y="1040"/>
                <a:ext cx="9" cy="208"/>
              </a:xfrm>
              <a:custGeom>
                <a:avLst/>
                <a:gdLst>
                  <a:gd name="T0" fmla="*/ 0 w 27"/>
                  <a:gd name="T1" fmla="*/ 0 h 626"/>
                  <a:gd name="T2" fmla="*/ 0 w 27"/>
                  <a:gd name="T3" fmla="*/ 0 h 626"/>
                  <a:gd name="T4" fmla="*/ 0 w 27"/>
                  <a:gd name="T5" fmla="*/ 0 h 626"/>
                  <a:gd name="T6" fmla="*/ 0 w 27"/>
                  <a:gd name="T7" fmla="*/ 0 h 626"/>
                  <a:gd name="T8" fmla="*/ 0 w 27"/>
                  <a:gd name="T9" fmla="*/ 0 h 626"/>
                  <a:gd name="T10" fmla="*/ 0 w 27"/>
                  <a:gd name="T11" fmla="*/ 0 h 626"/>
                  <a:gd name="T12" fmla="*/ 0 w 27"/>
                  <a:gd name="T13" fmla="*/ 0 h 626"/>
                  <a:gd name="T14" fmla="*/ 0 w 27"/>
                  <a:gd name="T15" fmla="*/ 0 h 626"/>
                  <a:gd name="T16" fmla="*/ 0 w 27"/>
                  <a:gd name="T17" fmla="*/ 0 h 626"/>
                  <a:gd name="T18" fmla="*/ 0 w 27"/>
                  <a:gd name="T19" fmla="*/ 0 h 626"/>
                  <a:gd name="T20" fmla="*/ 0 w 27"/>
                  <a:gd name="T21" fmla="*/ 0 h 626"/>
                  <a:gd name="T22" fmla="*/ 0 w 27"/>
                  <a:gd name="T23" fmla="*/ 0 h 626"/>
                  <a:gd name="T24" fmla="*/ 0 w 27"/>
                  <a:gd name="T25" fmla="*/ 0 h 626"/>
                  <a:gd name="T26" fmla="*/ 0 w 27"/>
                  <a:gd name="T27" fmla="*/ 0 h 626"/>
                  <a:gd name="T28" fmla="*/ 0 w 27"/>
                  <a:gd name="T29" fmla="*/ 0 h 626"/>
                  <a:gd name="T30" fmla="*/ 0 w 27"/>
                  <a:gd name="T31" fmla="*/ 0 h 626"/>
                  <a:gd name="T32" fmla="*/ 0 w 27"/>
                  <a:gd name="T33" fmla="*/ 0 h 626"/>
                  <a:gd name="T34" fmla="*/ 0 w 27"/>
                  <a:gd name="T35" fmla="*/ 0 h 626"/>
                  <a:gd name="T36" fmla="*/ 0 w 27"/>
                  <a:gd name="T37" fmla="*/ 0 h 6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6">
                    <a:moveTo>
                      <a:pt x="0" y="623"/>
                    </a:moveTo>
                    <a:lnTo>
                      <a:pt x="0" y="3"/>
                    </a:lnTo>
                    <a:lnTo>
                      <a:pt x="3" y="2"/>
                    </a:lnTo>
                    <a:lnTo>
                      <a:pt x="6" y="2"/>
                    </a:lnTo>
                    <a:lnTo>
                      <a:pt x="11" y="1"/>
                    </a:lnTo>
                    <a:lnTo>
                      <a:pt x="14" y="1"/>
                    </a:lnTo>
                    <a:lnTo>
                      <a:pt x="17" y="1"/>
                    </a:lnTo>
                    <a:lnTo>
                      <a:pt x="20" y="0"/>
                    </a:lnTo>
                    <a:lnTo>
                      <a:pt x="23" y="0"/>
                    </a:lnTo>
                    <a:lnTo>
                      <a:pt x="27" y="0"/>
                    </a:lnTo>
                    <a:lnTo>
                      <a:pt x="27" y="626"/>
                    </a:lnTo>
                    <a:lnTo>
                      <a:pt x="23" y="626"/>
                    </a:lnTo>
                    <a:lnTo>
                      <a:pt x="20" y="626"/>
                    </a:lnTo>
                    <a:lnTo>
                      <a:pt x="17" y="625"/>
                    </a:lnTo>
                    <a:lnTo>
                      <a:pt x="14" y="625"/>
                    </a:lnTo>
                    <a:lnTo>
                      <a:pt x="11" y="625"/>
                    </a:lnTo>
                    <a:lnTo>
                      <a:pt x="6" y="624"/>
                    </a:lnTo>
                    <a:lnTo>
                      <a:pt x="3" y="624"/>
                    </a:lnTo>
                    <a:lnTo>
                      <a:pt x="0" y="62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61" name="Freeform 1615"/>
              <p:cNvSpPr>
                <a:spLocks noChangeAspect="1"/>
              </p:cNvSpPr>
              <p:nvPr/>
            </p:nvSpPr>
            <p:spPr bwMode="auto">
              <a:xfrm>
                <a:off x="5380" y="1039"/>
                <a:ext cx="9" cy="210"/>
              </a:xfrm>
              <a:custGeom>
                <a:avLst/>
                <a:gdLst>
                  <a:gd name="T0" fmla="*/ 0 w 26"/>
                  <a:gd name="T1" fmla="*/ 0 h 629"/>
                  <a:gd name="T2" fmla="*/ 0 w 26"/>
                  <a:gd name="T3" fmla="*/ 0 h 629"/>
                  <a:gd name="T4" fmla="*/ 0 w 26"/>
                  <a:gd name="T5" fmla="*/ 0 h 629"/>
                  <a:gd name="T6" fmla="*/ 0 w 26"/>
                  <a:gd name="T7" fmla="*/ 0 h 629"/>
                  <a:gd name="T8" fmla="*/ 0 w 26"/>
                  <a:gd name="T9" fmla="*/ 0 h 629"/>
                  <a:gd name="T10" fmla="*/ 0 w 26"/>
                  <a:gd name="T11" fmla="*/ 0 h 629"/>
                  <a:gd name="T12" fmla="*/ 0 w 26"/>
                  <a:gd name="T13" fmla="*/ 0 h 629"/>
                  <a:gd name="T14" fmla="*/ 0 w 26"/>
                  <a:gd name="T15" fmla="*/ 0 h 629"/>
                  <a:gd name="T16" fmla="*/ 0 w 26"/>
                  <a:gd name="T17" fmla="*/ 0 h 629"/>
                  <a:gd name="T18" fmla="*/ 0 w 26"/>
                  <a:gd name="T19" fmla="*/ 0 h 629"/>
                  <a:gd name="T20" fmla="*/ 0 w 26"/>
                  <a:gd name="T21" fmla="*/ 0 h 629"/>
                  <a:gd name="T22" fmla="*/ 0 w 26"/>
                  <a:gd name="T23" fmla="*/ 0 h 629"/>
                  <a:gd name="T24" fmla="*/ 0 w 26"/>
                  <a:gd name="T25" fmla="*/ 0 h 629"/>
                  <a:gd name="T26" fmla="*/ 0 w 26"/>
                  <a:gd name="T27" fmla="*/ 0 h 629"/>
                  <a:gd name="T28" fmla="*/ 0 w 26"/>
                  <a:gd name="T29" fmla="*/ 0 h 629"/>
                  <a:gd name="T30" fmla="*/ 0 w 26"/>
                  <a:gd name="T31" fmla="*/ 0 h 629"/>
                  <a:gd name="T32" fmla="*/ 0 w 26"/>
                  <a:gd name="T33" fmla="*/ 0 h 629"/>
                  <a:gd name="T34" fmla="*/ 0 w 26"/>
                  <a:gd name="T35" fmla="*/ 0 h 629"/>
                  <a:gd name="T36" fmla="*/ 0 w 26"/>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9">
                    <a:moveTo>
                      <a:pt x="0" y="626"/>
                    </a:moveTo>
                    <a:lnTo>
                      <a:pt x="0" y="2"/>
                    </a:lnTo>
                    <a:lnTo>
                      <a:pt x="3" y="2"/>
                    </a:lnTo>
                    <a:lnTo>
                      <a:pt x="6" y="1"/>
                    </a:lnTo>
                    <a:lnTo>
                      <a:pt x="9" y="1"/>
                    </a:lnTo>
                    <a:lnTo>
                      <a:pt x="13" y="1"/>
                    </a:lnTo>
                    <a:lnTo>
                      <a:pt x="16" y="0"/>
                    </a:lnTo>
                    <a:lnTo>
                      <a:pt x="19" y="0"/>
                    </a:lnTo>
                    <a:lnTo>
                      <a:pt x="23" y="0"/>
                    </a:lnTo>
                    <a:lnTo>
                      <a:pt x="26" y="0"/>
                    </a:lnTo>
                    <a:lnTo>
                      <a:pt x="26" y="629"/>
                    </a:lnTo>
                    <a:lnTo>
                      <a:pt x="23" y="629"/>
                    </a:lnTo>
                    <a:lnTo>
                      <a:pt x="19" y="629"/>
                    </a:lnTo>
                    <a:lnTo>
                      <a:pt x="16" y="627"/>
                    </a:lnTo>
                    <a:lnTo>
                      <a:pt x="13" y="627"/>
                    </a:lnTo>
                    <a:lnTo>
                      <a:pt x="9" y="627"/>
                    </a:lnTo>
                    <a:lnTo>
                      <a:pt x="6" y="627"/>
                    </a:lnTo>
                    <a:lnTo>
                      <a:pt x="3" y="626"/>
                    </a:lnTo>
                    <a:lnTo>
                      <a:pt x="0" y="6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62" name="Freeform 1616"/>
              <p:cNvSpPr>
                <a:spLocks noChangeAspect="1"/>
              </p:cNvSpPr>
              <p:nvPr/>
            </p:nvSpPr>
            <p:spPr bwMode="auto">
              <a:xfrm>
                <a:off x="5384" y="1039"/>
                <a:ext cx="9" cy="210"/>
              </a:xfrm>
              <a:custGeom>
                <a:avLst/>
                <a:gdLst>
                  <a:gd name="T0" fmla="*/ 0 w 26"/>
                  <a:gd name="T1" fmla="*/ 0 h 629"/>
                  <a:gd name="T2" fmla="*/ 0 w 26"/>
                  <a:gd name="T3" fmla="*/ 0 h 629"/>
                  <a:gd name="T4" fmla="*/ 0 w 26"/>
                  <a:gd name="T5" fmla="*/ 0 h 629"/>
                  <a:gd name="T6" fmla="*/ 0 w 26"/>
                  <a:gd name="T7" fmla="*/ 0 h 629"/>
                  <a:gd name="T8" fmla="*/ 0 w 26"/>
                  <a:gd name="T9" fmla="*/ 0 h 629"/>
                  <a:gd name="T10" fmla="*/ 0 w 26"/>
                  <a:gd name="T11" fmla="*/ 0 h 629"/>
                  <a:gd name="T12" fmla="*/ 0 w 26"/>
                  <a:gd name="T13" fmla="*/ 0 h 629"/>
                  <a:gd name="T14" fmla="*/ 0 w 26"/>
                  <a:gd name="T15" fmla="*/ 0 h 629"/>
                  <a:gd name="T16" fmla="*/ 0 w 26"/>
                  <a:gd name="T17" fmla="*/ 0 h 629"/>
                  <a:gd name="T18" fmla="*/ 0 w 26"/>
                  <a:gd name="T19" fmla="*/ 0 h 629"/>
                  <a:gd name="T20" fmla="*/ 0 w 26"/>
                  <a:gd name="T21" fmla="*/ 0 h 629"/>
                  <a:gd name="T22" fmla="*/ 0 w 26"/>
                  <a:gd name="T23" fmla="*/ 0 h 629"/>
                  <a:gd name="T24" fmla="*/ 0 w 26"/>
                  <a:gd name="T25" fmla="*/ 0 h 629"/>
                  <a:gd name="T26" fmla="*/ 0 w 26"/>
                  <a:gd name="T27" fmla="*/ 0 h 629"/>
                  <a:gd name="T28" fmla="*/ 0 w 26"/>
                  <a:gd name="T29" fmla="*/ 0 h 629"/>
                  <a:gd name="T30" fmla="*/ 0 w 26"/>
                  <a:gd name="T31" fmla="*/ 0 h 629"/>
                  <a:gd name="T32" fmla="*/ 0 w 26"/>
                  <a:gd name="T33" fmla="*/ 0 h 629"/>
                  <a:gd name="T34" fmla="*/ 0 w 26"/>
                  <a:gd name="T35" fmla="*/ 0 h 629"/>
                  <a:gd name="T36" fmla="*/ 0 w 26"/>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9">
                    <a:moveTo>
                      <a:pt x="0" y="627"/>
                    </a:moveTo>
                    <a:lnTo>
                      <a:pt x="0" y="1"/>
                    </a:lnTo>
                    <a:lnTo>
                      <a:pt x="3" y="0"/>
                    </a:lnTo>
                    <a:lnTo>
                      <a:pt x="6" y="0"/>
                    </a:lnTo>
                    <a:lnTo>
                      <a:pt x="10" y="0"/>
                    </a:lnTo>
                    <a:lnTo>
                      <a:pt x="13" y="0"/>
                    </a:lnTo>
                    <a:lnTo>
                      <a:pt x="17" y="0"/>
                    </a:lnTo>
                    <a:lnTo>
                      <a:pt x="20" y="0"/>
                    </a:lnTo>
                    <a:lnTo>
                      <a:pt x="23" y="0"/>
                    </a:lnTo>
                    <a:lnTo>
                      <a:pt x="26" y="0"/>
                    </a:lnTo>
                    <a:lnTo>
                      <a:pt x="26" y="629"/>
                    </a:lnTo>
                    <a:lnTo>
                      <a:pt x="23" y="629"/>
                    </a:lnTo>
                    <a:lnTo>
                      <a:pt x="20" y="629"/>
                    </a:lnTo>
                    <a:lnTo>
                      <a:pt x="17" y="629"/>
                    </a:lnTo>
                    <a:lnTo>
                      <a:pt x="13" y="629"/>
                    </a:lnTo>
                    <a:lnTo>
                      <a:pt x="10" y="629"/>
                    </a:lnTo>
                    <a:lnTo>
                      <a:pt x="6" y="629"/>
                    </a:lnTo>
                    <a:lnTo>
                      <a:pt x="3" y="627"/>
                    </a:lnTo>
                    <a:lnTo>
                      <a:pt x="0" y="62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63" name="Freeform 1617"/>
              <p:cNvSpPr>
                <a:spLocks noChangeAspect="1"/>
              </p:cNvSpPr>
              <p:nvPr/>
            </p:nvSpPr>
            <p:spPr bwMode="auto">
              <a:xfrm>
                <a:off x="5389" y="1039"/>
                <a:ext cx="9" cy="210"/>
              </a:xfrm>
              <a:custGeom>
                <a:avLst/>
                <a:gdLst>
                  <a:gd name="T0" fmla="*/ 0 w 27"/>
                  <a:gd name="T1" fmla="*/ 0 h 629"/>
                  <a:gd name="T2" fmla="*/ 0 w 27"/>
                  <a:gd name="T3" fmla="*/ 0 h 629"/>
                  <a:gd name="T4" fmla="*/ 0 w 27"/>
                  <a:gd name="T5" fmla="*/ 0 h 629"/>
                  <a:gd name="T6" fmla="*/ 0 w 27"/>
                  <a:gd name="T7" fmla="*/ 0 h 629"/>
                  <a:gd name="T8" fmla="*/ 0 w 27"/>
                  <a:gd name="T9" fmla="*/ 0 h 629"/>
                  <a:gd name="T10" fmla="*/ 0 w 27"/>
                  <a:gd name="T11" fmla="*/ 0 h 629"/>
                  <a:gd name="T12" fmla="*/ 0 w 27"/>
                  <a:gd name="T13" fmla="*/ 0 h 629"/>
                  <a:gd name="T14" fmla="*/ 0 w 27"/>
                  <a:gd name="T15" fmla="*/ 0 h 629"/>
                  <a:gd name="T16" fmla="*/ 0 w 27"/>
                  <a:gd name="T17" fmla="*/ 0 h 629"/>
                  <a:gd name="T18" fmla="*/ 0 w 27"/>
                  <a:gd name="T19" fmla="*/ 0 h 629"/>
                  <a:gd name="T20" fmla="*/ 0 w 27"/>
                  <a:gd name="T21" fmla="*/ 0 h 629"/>
                  <a:gd name="T22" fmla="*/ 0 w 27"/>
                  <a:gd name="T23" fmla="*/ 0 h 629"/>
                  <a:gd name="T24" fmla="*/ 0 w 27"/>
                  <a:gd name="T25" fmla="*/ 0 h 629"/>
                  <a:gd name="T26" fmla="*/ 0 w 27"/>
                  <a:gd name="T27" fmla="*/ 0 h 629"/>
                  <a:gd name="T28" fmla="*/ 0 w 27"/>
                  <a:gd name="T29" fmla="*/ 0 h 629"/>
                  <a:gd name="T30" fmla="*/ 0 w 27"/>
                  <a:gd name="T31" fmla="*/ 0 h 629"/>
                  <a:gd name="T32" fmla="*/ 0 w 27"/>
                  <a:gd name="T33" fmla="*/ 0 h 629"/>
                  <a:gd name="T34" fmla="*/ 0 w 27"/>
                  <a:gd name="T35" fmla="*/ 0 h 629"/>
                  <a:gd name="T36" fmla="*/ 0 w 27"/>
                  <a:gd name="T37" fmla="*/ 0 h 629"/>
                  <a:gd name="T38" fmla="*/ 0 w 27"/>
                  <a:gd name="T39" fmla="*/ 0 h 629"/>
                  <a:gd name="T40" fmla="*/ 0 w 27"/>
                  <a:gd name="T41" fmla="*/ 0 h 629"/>
                  <a:gd name="T42" fmla="*/ 0 w 27"/>
                  <a:gd name="T43" fmla="*/ 0 h 629"/>
                  <a:gd name="T44" fmla="*/ 0 w 27"/>
                  <a:gd name="T45" fmla="*/ 0 h 629"/>
                  <a:gd name="T46" fmla="*/ 0 w 27"/>
                  <a:gd name="T47" fmla="*/ 0 h 629"/>
                  <a:gd name="T48" fmla="*/ 0 w 27"/>
                  <a:gd name="T49" fmla="*/ 0 h 629"/>
                  <a:gd name="T50" fmla="*/ 0 w 27"/>
                  <a:gd name="T51" fmla="*/ 0 h 629"/>
                  <a:gd name="T52" fmla="*/ 0 w 27"/>
                  <a:gd name="T53" fmla="*/ 0 h 629"/>
                  <a:gd name="T54" fmla="*/ 0 w 27"/>
                  <a:gd name="T55" fmla="*/ 0 h 629"/>
                  <a:gd name="T56" fmla="*/ 0 w 27"/>
                  <a:gd name="T57" fmla="*/ 0 h 629"/>
                  <a:gd name="T58" fmla="*/ 0 w 27"/>
                  <a:gd name="T59" fmla="*/ 0 h 629"/>
                  <a:gd name="T60" fmla="*/ 0 w 27"/>
                  <a:gd name="T61" fmla="*/ 0 h 629"/>
                  <a:gd name="T62" fmla="*/ 0 w 27"/>
                  <a:gd name="T63" fmla="*/ 0 h 629"/>
                  <a:gd name="T64" fmla="*/ 0 w 27"/>
                  <a:gd name="T65" fmla="*/ 0 h 629"/>
                  <a:gd name="T66" fmla="*/ 0 w 27"/>
                  <a:gd name="T67" fmla="*/ 0 h 629"/>
                  <a:gd name="T68" fmla="*/ 0 w 27"/>
                  <a:gd name="T69" fmla="*/ 0 h 6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7" h="629">
                    <a:moveTo>
                      <a:pt x="0" y="629"/>
                    </a:moveTo>
                    <a:lnTo>
                      <a:pt x="0" y="0"/>
                    </a:lnTo>
                    <a:lnTo>
                      <a:pt x="2" y="0"/>
                    </a:lnTo>
                    <a:lnTo>
                      <a:pt x="4" y="0"/>
                    </a:lnTo>
                    <a:lnTo>
                      <a:pt x="5" y="0"/>
                    </a:lnTo>
                    <a:lnTo>
                      <a:pt x="7" y="0"/>
                    </a:lnTo>
                    <a:lnTo>
                      <a:pt x="9" y="0"/>
                    </a:lnTo>
                    <a:lnTo>
                      <a:pt x="10" y="0"/>
                    </a:lnTo>
                    <a:lnTo>
                      <a:pt x="12" y="0"/>
                    </a:lnTo>
                    <a:lnTo>
                      <a:pt x="13" y="0"/>
                    </a:lnTo>
                    <a:lnTo>
                      <a:pt x="15" y="0"/>
                    </a:lnTo>
                    <a:lnTo>
                      <a:pt x="16" y="0"/>
                    </a:lnTo>
                    <a:lnTo>
                      <a:pt x="19" y="0"/>
                    </a:lnTo>
                    <a:lnTo>
                      <a:pt x="20" y="0"/>
                    </a:lnTo>
                    <a:lnTo>
                      <a:pt x="22" y="0"/>
                    </a:lnTo>
                    <a:lnTo>
                      <a:pt x="24" y="0"/>
                    </a:lnTo>
                    <a:lnTo>
                      <a:pt x="25" y="0"/>
                    </a:lnTo>
                    <a:lnTo>
                      <a:pt x="27" y="0"/>
                    </a:lnTo>
                    <a:lnTo>
                      <a:pt x="27" y="629"/>
                    </a:lnTo>
                    <a:lnTo>
                      <a:pt x="25" y="629"/>
                    </a:lnTo>
                    <a:lnTo>
                      <a:pt x="24" y="629"/>
                    </a:lnTo>
                    <a:lnTo>
                      <a:pt x="22" y="629"/>
                    </a:lnTo>
                    <a:lnTo>
                      <a:pt x="20" y="629"/>
                    </a:lnTo>
                    <a:lnTo>
                      <a:pt x="19" y="629"/>
                    </a:lnTo>
                    <a:lnTo>
                      <a:pt x="16" y="629"/>
                    </a:lnTo>
                    <a:lnTo>
                      <a:pt x="15" y="629"/>
                    </a:lnTo>
                    <a:lnTo>
                      <a:pt x="13" y="629"/>
                    </a:lnTo>
                    <a:lnTo>
                      <a:pt x="12" y="629"/>
                    </a:lnTo>
                    <a:lnTo>
                      <a:pt x="10" y="629"/>
                    </a:lnTo>
                    <a:lnTo>
                      <a:pt x="9" y="629"/>
                    </a:lnTo>
                    <a:lnTo>
                      <a:pt x="7" y="629"/>
                    </a:lnTo>
                    <a:lnTo>
                      <a:pt x="5" y="629"/>
                    </a:lnTo>
                    <a:lnTo>
                      <a:pt x="4" y="629"/>
                    </a:lnTo>
                    <a:lnTo>
                      <a:pt x="2"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64" name="Freeform 1618"/>
              <p:cNvSpPr>
                <a:spLocks noChangeAspect="1"/>
              </p:cNvSpPr>
              <p:nvPr/>
            </p:nvSpPr>
            <p:spPr bwMode="auto">
              <a:xfrm>
                <a:off x="5393" y="1039"/>
                <a:ext cx="9" cy="210"/>
              </a:xfrm>
              <a:custGeom>
                <a:avLst/>
                <a:gdLst>
                  <a:gd name="T0" fmla="*/ 0 w 27"/>
                  <a:gd name="T1" fmla="*/ 0 h 629"/>
                  <a:gd name="T2" fmla="*/ 0 w 27"/>
                  <a:gd name="T3" fmla="*/ 0 h 629"/>
                  <a:gd name="T4" fmla="*/ 0 w 27"/>
                  <a:gd name="T5" fmla="*/ 0 h 629"/>
                  <a:gd name="T6" fmla="*/ 0 w 27"/>
                  <a:gd name="T7" fmla="*/ 0 h 629"/>
                  <a:gd name="T8" fmla="*/ 0 w 27"/>
                  <a:gd name="T9" fmla="*/ 0 h 629"/>
                  <a:gd name="T10" fmla="*/ 0 w 27"/>
                  <a:gd name="T11" fmla="*/ 0 h 629"/>
                  <a:gd name="T12" fmla="*/ 0 w 27"/>
                  <a:gd name="T13" fmla="*/ 0 h 629"/>
                  <a:gd name="T14" fmla="*/ 0 w 27"/>
                  <a:gd name="T15" fmla="*/ 0 h 629"/>
                  <a:gd name="T16" fmla="*/ 0 w 27"/>
                  <a:gd name="T17" fmla="*/ 0 h 629"/>
                  <a:gd name="T18" fmla="*/ 0 w 27"/>
                  <a:gd name="T19" fmla="*/ 0 h 629"/>
                  <a:gd name="T20" fmla="*/ 0 w 27"/>
                  <a:gd name="T21" fmla="*/ 0 h 629"/>
                  <a:gd name="T22" fmla="*/ 0 w 27"/>
                  <a:gd name="T23" fmla="*/ 0 h 629"/>
                  <a:gd name="T24" fmla="*/ 0 w 27"/>
                  <a:gd name="T25" fmla="*/ 0 h 629"/>
                  <a:gd name="T26" fmla="*/ 0 w 27"/>
                  <a:gd name="T27" fmla="*/ 0 h 629"/>
                  <a:gd name="T28" fmla="*/ 0 w 27"/>
                  <a:gd name="T29" fmla="*/ 0 h 629"/>
                  <a:gd name="T30" fmla="*/ 0 w 27"/>
                  <a:gd name="T31" fmla="*/ 0 h 629"/>
                  <a:gd name="T32" fmla="*/ 0 w 27"/>
                  <a:gd name="T33" fmla="*/ 0 h 629"/>
                  <a:gd name="T34" fmla="*/ 0 w 27"/>
                  <a:gd name="T35" fmla="*/ 0 h 629"/>
                  <a:gd name="T36" fmla="*/ 0 w 27"/>
                  <a:gd name="T37" fmla="*/ 0 h 629"/>
                  <a:gd name="T38" fmla="*/ 0 w 27"/>
                  <a:gd name="T39" fmla="*/ 0 h 629"/>
                  <a:gd name="T40" fmla="*/ 0 w 27"/>
                  <a:gd name="T41" fmla="*/ 0 h 6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7" h="629">
                    <a:moveTo>
                      <a:pt x="0" y="629"/>
                    </a:moveTo>
                    <a:lnTo>
                      <a:pt x="0" y="0"/>
                    </a:lnTo>
                    <a:lnTo>
                      <a:pt x="3" y="0"/>
                    </a:lnTo>
                    <a:lnTo>
                      <a:pt x="7" y="0"/>
                    </a:lnTo>
                    <a:lnTo>
                      <a:pt x="11" y="0"/>
                    </a:lnTo>
                    <a:lnTo>
                      <a:pt x="14" y="0"/>
                    </a:lnTo>
                    <a:lnTo>
                      <a:pt x="17" y="0"/>
                    </a:lnTo>
                    <a:lnTo>
                      <a:pt x="20" y="0"/>
                    </a:lnTo>
                    <a:lnTo>
                      <a:pt x="24" y="0"/>
                    </a:lnTo>
                    <a:lnTo>
                      <a:pt x="27" y="1"/>
                    </a:lnTo>
                    <a:lnTo>
                      <a:pt x="27" y="627"/>
                    </a:lnTo>
                    <a:lnTo>
                      <a:pt x="24" y="627"/>
                    </a:lnTo>
                    <a:lnTo>
                      <a:pt x="20" y="629"/>
                    </a:lnTo>
                    <a:lnTo>
                      <a:pt x="17" y="629"/>
                    </a:lnTo>
                    <a:lnTo>
                      <a:pt x="14" y="629"/>
                    </a:lnTo>
                    <a:lnTo>
                      <a:pt x="11" y="629"/>
                    </a:lnTo>
                    <a:lnTo>
                      <a:pt x="7" y="629"/>
                    </a:lnTo>
                    <a:lnTo>
                      <a:pt x="3"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65" name="Freeform 1619"/>
              <p:cNvSpPr>
                <a:spLocks noChangeAspect="1"/>
              </p:cNvSpPr>
              <p:nvPr/>
            </p:nvSpPr>
            <p:spPr bwMode="auto">
              <a:xfrm>
                <a:off x="5398" y="1039"/>
                <a:ext cx="9" cy="210"/>
              </a:xfrm>
              <a:custGeom>
                <a:avLst/>
                <a:gdLst>
                  <a:gd name="T0" fmla="*/ 0 w 27"/>
                  <a:gd name="T1" fmla="*/ 0 h 629"/>
                  <a:gd name="T2" fmla="*/ 0 w 27"/>
                  <a:gd name="T3" fmla="*/ 0 h 629"/>
                  <a:gd name="T4" fmla="*/ 0 w 27"/>
                  <a:gd name="T5" fmla="*/ 0 h 629"/>
                  <a:gd name="T6" fmla="*/ 0 w 27"/>
                  <a:gd name="T7" fmla="*/ 0 h 629"/>
                  <a:gd name="T8" fmla="*/ 0 w 27"/>
                  <a:gd name="T9" fmla="*/ 0 h 629"/>
                  <a:gd name="T10" fmla="*/ 0 w 27"/>
                  <a:gd name="T11" fmla="*/ 0 h 629"/>
                  <a:gd name="T12" fmla="*/ 0 w 27"/>
                  <a:gd name="T13" fmla="*/ 0 h 629"/>
                  <a:gd name="T14" fmla="*/ 0 w 27"/>
                  <a:gd name="T15" fmla="*/ 0 h 629"/>
                  <a:gd name="T16" fmla="*/ 0 w 27"/>
                  <a:gd name="T17" fmla="*/ 0 h 629"/>
                  <a:gd name="T18" fmla="*/ 0 w 27"/>
                  <a:gd name="T19" fmla="*/ 0 h 629"/>
                  <a:gd name="T20" fmla="*/ 0 w 27"/>
                  <a:gd name="T21" fmla="*/ 0 h 629"/>
                  <a:gd name="T22" fmla="*/ 0 w 27"/>
                  <a:gd name="T23" fmla="*/ 0 h 629"/>
                  <a:gd name="T24" fmla="*/ 0 w 27"/>
                  <a:gd name="T25" fmla="*/ 0 h 629"/>
                  <a:gd name="T26" fmla="*/ 0 w 27"/>
                  <a:gd name="T27" fmla="*/ 0 h 629"/>
                  <a:gd name="T28" fmla="*/ 0 w 27"/>
                  <a:gd name="T29" fmla="*/ 0 h 629"/>
                  <a:gd name="T30" fmla="*/ 0 w 27"/>
                  <a:gd name="T31" fmla="*/ 0 h 629"/>
                  <a:gd name="T32" fmla="*/ 0 w 27"/>
                  <a:gd name="T33" fmla="*/ 0 h 629"/>
                  <a:gd name="T34" fmla="*/ 0 w 27"/>
                  <a:gd name="T35" fmla="*/ 0 h 629"/>
                  <a:gd name="T36" fmla="*/ 0 w 27"/>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9">
                    <a:moveTo>
                      <a:pt x="0" y="629"/>
                    </a:moveTo>
                    <a:lnTo>
                      <a:pt x="0" y="0"/>
                    </a:lnTo>
                    <a:lnTo>
                      <a:pt x="3" y="0"/>
                    </a:lnTo>
                    <a:lnTo>
                      <a:pt x="6" y="0"/>
                    </a:lnTo>
                    <a:lnTo>
                      <a:pt x="10" y="0"/>
                    </a:lnTo>
                    <a:lnTo>
                      <a:pt x="13" y="1"/>
                    </a:lnTo>
                    <a:lnTo>
                      <a:pt x="16" y="1"/>
                    </a:lnTo>
                    <a:lnTo>
                      <a:pt x="19" y="1"/>
                    </a:lnTo>
                    <a:lnTo>
                      <a:pt x="23" y="2"/>
                    </a:lnTo>
                    <a:lnTo>
                      <a:pt x="27" y="2"/>
                    </a:lnTo>
                    <a:lnTo>
                      <a:pt x="27" y="626"/>
                    </a:lnTo>
                    <a:lnTo>
                      <a:pt x="23" y="626"/>
                    </a:lnTo>
                    <a:lnTo>
                      <a:pt x="19" y="627"/>
                    </a:lnTo>
                    <a:lnTo>
                      <a:pt x="16" y="627"/>
                    </a:lnTo>
                    <a:lnTo>
                      <a:pt x="13" y="627"/>
                    </a:lnTo>
                    <a:lnTo>
                      <a:pt x="10" y="627"/>
                    </a:lnTo>
                    <a:lnTo>
                      <a:pt x="6" y="629"/>
                    </a:lnTo>
                    <a:lnTo>
                      <a:pt x="3"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66" name="Freeform 1620"/>
              <p:cNvSpPr>
                <a:spLocks noChangeAspect="1"/>
              </p:cNvSpPr>
              <p:nvPr/>
            </p:nvSpPr>
            <p:spPr bwMode="auto">
              <a:xfrm>
                <a:off x="5402" y="1040"/>
                <a:ext cx="9" cy="208"/>
              </a:xfrm>
              <a:custGeom>
                <a:avLst/>
                <a:gdLst>
                  <a:gd name="T0" fmla="*/ 0 w 26"/>
                  <a:gd name="T1" fmla="*/ 0 h 626"/>
                  <a:gd name="T2" fmla="*/ 0 w 26"/>
                  <a:gd name="T3" fmla="*/ 0 h 626"/>
                  <a:gd name="T4" fmla="*/ 0 w 26"/>
                  <a:gd name="T5" fmla="*/ 0 h 626"/>
                  <a:gd name="T6" fmla="*/ 0 w 26"/>
                  <a:gd name="T7" fmla="*/ 0 h 626"/>
                  <a:gd name="T8" fmla="*/ 0 w 26"/>
                  <a:gd name="T9" fmla="*/ 0 h 626"/>
                  <a:gd name="T10" fmla="*/ 0 w 26"/>
                  <a:gd name="T11" fmla="*/ 0 h 626"/>
                  <a:gd name="T12" fmla="*/ 0 w 26"/>
                  <a:gd name="T13" fmla="*/ 0 h 626"/>
                  <a:gd name="T14" fmla="*/ 0 w 26"/>
                  <a:gd name="T15" fmla="*/ 0 h 626"/>
                  <a:gd name="T16" fmla="*/ 0 w 26"/>
                  <a:gd name="T17" fmla="*/ 0 h 626"/>
                  <a:gd name="T18" fmla="*/ 0 w 26"/>
                  <a:gd name="T19" fmla="*/ 0 h 626"/>
                  <a:gd name="T20" fmla="*/ 0 w 26"/>
                  <a:gd name="T21" fmla="*/ 0 h 626"/>
                  <a:gd name="T22" fmla="*/ 0 w 26"/>
                  <a:gd name="T23" fmla="*/ 0 h 626"/>
                  <a:gd name="T24" fmla="*/ 0 w 26"/>
                  <a:gd name="T25" fmla="*/ 0 h 626"/>
                  <a:gd name="T26" fmla="*/ 0 w 26"/>
                  <a:gd name="T27" fmla="*/ 0 h 626"/>
                  <a:gd name="T28" fmla="*/ 0 w 26"/>
                  <a:gd name="T29" fmla="*/ 0 h 626"/>
                  <a:gd name="T30" fmla="*/ 0 w 26"/>
                  <a:gd name="T31" fmla="*/ 0 h 626"/>
                  <a:gd name="T32" fmla="*/ 0 w 26"/>
                  <a:gd name="T33" fmla="*/ 0 h 626"/>
                  <a:gd name="T34" fmla="*/ 0 w 26"/>
                  <a:gd name="T35" fmla="*/ 0 h 626"/>
                  <a:gd name="T36" fmla="*/ 0 w 26"/>
                  <a:gd name="T37" fmla="*/ 0 h 6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6">
                    <a:moveTo>
                      <a:pt x="0" y="626"/>
                    </a:moveTo>
                    <a:lnTo>
                      <a:pt x="0" y="0"/>
                    </a:lnTo>
                    <a:lnTo>
                      <a:pt x="3" y="0"/>
                    </a:lnTo>
                    <a:lnTo>
                      <a:pt x="6" y="0"/>
                    </a:lnTo>
                    <a:lnTo>
                      <a:pt x="10" y="1"/>
                    </a:lnTo>
                    <a:lnTo>
                      <a:pt x="14" y="1"/>
                    </a:lnTo>
                    <a:lnTo>
                      <a:pt x="17" y="1"/>
                    </a:lnTo>
                    <a:lnTo>
                      <a:pt x="20" y="2"/>
                    </a:lnTo>
                    <a:lnTo>
                      <a:pt x="23" y="2"/>
                    </a:lnTo>
                    <a:lnTo>
                      <a:pt x="26" y="3"/>
                    </a:lnTo>
                    <a:lnTo>
                      <a:pt x="26" y="623"/>
                    </a:lnTo>
                    <a:lnTo>
                      <a:pt x="23" y="624"/>
                    </a:lnTo>
                    <a:lnTo>
                      <a:pt x="20" y="624"/>
                    </a:lnTo>
                    <a:lnTo>
                      <a:pt x="17" y="625"/>
                    </a:lnTo>
                    <a:lnTo>
                      <a:pt x="14" y="625"/>
                    </a:lnTo>
                    <a:lnTo>
                      <a:pt x="10" y="625"/>
                    </a:lnTo>
                    <a:lnTo>
                      <a:pt x="6" y="626"/>
                    </a:lnTo>
                    <a:lnTo>
                      <a:pt x="3" y="626"/>
                    </a:lnTo>
                    <a:lnTo>
                      <a:pt x="0" y="6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67" name="Freeform 1621"/>
              <p:cNvSpPr>
                <a:spLocks noChangeAspect="1"/>
              </p:cNvSpPr>
              <p:nvPr/>
            </p:nvSpPr>
            <p:spPr bwMode="auto">
              <a:xfrm>
                <a:off x="5407" y="1040"/>
                <a:ext cx="8" cy="208"/>
              </a:xfrm>
              <a:custGeom>
                <a:avLst/>
                <a:gdLst>
                  <a:gd name="T0" fmla="*/ 0 w 26"/>
                  <a:gd name="T1" fmla="*/ 0 h 624"/>
                  <a:gd name="T2" fmla="*/ 0 w 26"/>
                  <a:gd name="T3" fmla="*/ 0 h 624"/>
                  <a:gd name="T4" fmla="*/ 0 w 26"/>
                  <a:gd name="T5" fmla="*/ 0 h 624"/>
                  <a:gd name="T6" fmla="*/ 0 w 26"/>
                  <a:gd name="T7" fmla="*/ 0 h 624"/>
                  <a:gd name="T8" fmla="*/ 0 w 26"/>
                  <a:gd name="T9" fmla="*/ 0 h 624"/>
                  <a:gd name="T10" fmla="*/ 0 w 26"/>
                  <a:gd name="T11" fmla="*/ 0 h 624"/>
                  <a:gd name="T12" fmla="*/ 0 w 26"/>
                  <a:gd name="T13" fmla="*/ 0 h 624"/>
                  <a:gd name="T14" fmla="*/ 0 w 26"/>
                  <a:gd name="T15" fmla="*/ 0 h 624"/>
                  <a:gd name="T16" fmla="*/ 0 w 26"/>
                  <a:gd name="T17" fmla="*/ 0 h 624"/>
                  <a:gd name="T18" fmla="*/ 0 w 26"/>
                  <a:gd name="T19" fmla="*/ 0 h 624"/>
                  <a:gd name="T20" fmla="*/ 0 w 26"/>
                  <a:gd name="T21" fmla="*/ 0 h 624"/>
                  <a:gd name="T22" fmla="*/ 0 w 26"/>
                  <a:gd name="T23" fmla="*/ 0 h 624"/>
                  <a:gd name="T24" fmla="*/ 0 w 26"/>
                  <a:gd name="T25" fmla="*/ 0 h 624"/>
                  <a:gd name="T26" fmla="*/ 0 w 26"/>
                  <a:gd name="T27" fmla="*/ 0 h 624"/>
                  <a:gd name="T28" fmla="*/ 0 w 26"/>
                  <a:gd name="T29" fmla="*/ 0 h 624"/>
                  <a:gd name="T30" fmla="*/ 0 w 26"/>
                  <a:gd name="T31" fmla="*/ 0 h 624"/>
                  <a:gd name="T32" fmla="*/ 0 w 26"/>
                  <a:gd name="T33" fmla="*/ 0 h 624"/>
                  <a:gd name="T34" fmla="*/ 0 w 26"/>
                  <a:gd name="T35" fmla="*/ 0 h 624"/>
                  <a:gd name="T36" fmla="*/ 0 w 26"/>
                  <a:gd name="T37" fmla="*/ 0 h 6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4">
                    <a:moveTo>
                      <a:pt x="0" y="624"/>
                    </a:moveTo>
                    <a:lnTo>
                      <a:pt x="0" y="0"/>
                    </a:lnTo>
                    <a:lnTo>
                      <a:pt x="3" y="0"/>
                    </a:lnTo>
                    <a:lnTo>
                      <a:pt x="6" y="1"/>
                    </a:lnTo>
                    <a:lnTo>
                      <a:pt x="9" y="1"/>
                    </a:lnTo>
                    <a:lnTo>
                      <a:pt x="12" y="2"/>
                    </a:lnTo>
                    <a:lnTo>
                      <a:pt x="16" y="2"/>
                    </a:lnTo>
                    <a:lnTo>
                      <a:pt x="19" y="4"/>
                    </a:lnTo>
                    <a:lnTo>
                      <a:pt x="22" y="4"/>
                    </a:lnTo>
                    <a:lnTo>
                      <a:pt x="26" y="5"/>
                    </a:lnTo>
                    <a:lnTo>
                      <a:pt x="26" y="620"/>
                    </a:lnTo>
                    <a:lnTo>
                      <a:pt x="22" y="621"/>
                    </a:lnTo>
                    <a:lnTo>
                      <a:pt x="19" y="621"/>
                    </a:lnTo>
                    <a:lnTo>
                      <a:pt x="16" y="622"/>
                    </a:lnTo>
                    <a:lnTo>
                      <a:pt x="12" y="622"/>
                    </a:lnTo>
                    <a:lnTo>
                      <a:pt x="9" y="623"/>
                    </a:lnTo>
                    <a:lnTo>
                      <a:pt x="6" y="623"/>
                    </a:lnTo>
                    <a:lnTo>
                      <a:pt x="3" y="624"/>
                    </a:lnTo>
                    <a:lnTo>
                      <a:pt x="0" y="62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68" name="Freeform 1622"/>
              <p:cNvSpPr>
                <a:spLocks noChangeAspect="1"/>
              </p:cNvSpPr>
              <p:nvPr/>
            </p:nvSpPr>
            <p:spPr bwMode="auto">
              <a:xfrm>
                <a:off x="5411" y="1041"/>
                <a:ext cx="9" cy="206"/>
              </a:xfrm>
              <a:custGeom>
                <a:avLst/>
                <a:gdLst>
                  <a:gd name="T0" fmla="*/ 0 w 27"/>
                  <a:gd name="T1" fmla="*/ 0 h 620"/>
                  <a:gd name="T2" fmla="*/ 0 w 27"/>
                  <a:gd name="T3" fmla="*/ 0 h 620"/>
                  <a:gd name="T4" fmla="*/ 0 w 27"/>
                  <a:gd name="T5" fmla="*/ 0 h 620"/>
                  <a:gd name="T6" fmla="*/ 0 w 27"/>
                  <a:gd name="T7" fmla="*/ 0 h 620"/>
                  <a:gd name="T8" fmla="*/ 0 w 27"/>
                  <a:gd name="T9" fmla="*/ 0 h 620"/>
                  <a:gd name="T10" fmla="*/ 0 w 27"/>
                  <a:gd name="T11" fmla="*/ 0 h 620"/>
                  <a:gd name="T12" fmla="*/ 0 w 27"/>
                  <a:gd name="T13" fmla="*/ 0 h 620"/>
                  <a:gd name="T14" fmla="*/ 0 w 27"/>
                  <a:gd name="T15" fmla="*/ 0 h 620"/>
                  <a:gd name="T16" fmla="*/ 0 w 27"/>
                  <a:gd name="T17" fmla="*/ 0 h 620"/>
                  <a:gd name="T18" fmla="*/ 0 w 27"/>
                  <a:gd name="T19" fmla="*/ 0 h 620"/>
                  <a:gd name="T20" fmla="*/ 0 w 27"/>
                  <a:gd name="T21" fmla="*/ 0 h 620"/>
                  <a:gd name="T22" fmla="*/ 0 w 27"/>
                  <a:gd name="T23" fmla="*/ 0 h 620"/>
                  <a:gd name="T24" fmla="*/ 0 w 27"/>
                  <a:gd name="T25" fmla="*/ 0 h 620"/>
                  <a:gd name="T26" fmla="*/ 0 w 27"/>
                  <a:gd name="T27" fmla="*/ 0 h 620"/>
                  <a:gd name="T28" fmla="*/ 0 w 27"/>
                  <a:gd name="T29" fmla="*/ 0 h 620"/>
                  <a:gd name="T30" fmla="*/ 0 w 27"/>
                  <a:gd name="T31" fmla="*/ 0 h 620"/>
                  <a:gd name="T32" fmla="*/ 0 w 27"/>
                  <a:gd name="T33" fmla="*/ 0 h 620"/>
                  <a:gd name="T34" fmla="*/ 0 w 27"/>
                  <a:gd name="T35" fmla="*/ 0 h 620"/>
                  <a:gd name="T36" fmla="*/ 0 w 27"/>
                  <a:gd name="T37" fmla="*/ 0 h 6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0">
                    <a:moveTo>
                      <a:pt x="0" y="620"/>
                    </a:moveTo>
                    <a:lnTo>
                      <a:pt x="0" y="0"/>
                    </a:lnTo>
                    <a:lnTo>
                      <a:pt x="4" y="0"/>
                    </a:lnTo>
                    <a:lnTo>
                      <a:pt x="7" y="2"/>
                    </a:lnTo>
                    <a:lnTo>
                      <a:pt x="11" y="2"/>
                    </a:lnTo>
                    <a:lnTo>
                      <a:pt x="14" y="3"/>
                    </a:lnTo>
                    <a:lnTo>
                      <a:pt x="17" y="3"/>
                    </a:lnTo>
                    <a:lnTo>
                      <a:pt x="21" y="4"/>
                    </a:lnTo>
                    <a:lnTo>
                      <a:pt x="24" y="5"/>
                    </a:lnTo>
                    <a:lnTo>
                      <a:pt x="27" y="5"/>
                    </a:lnTo>
                    <a:lnTo>
                      <a:pt x="27" y="615"/>
                    </a:lnTo>
                    <a:lnTo>
                      <a:pt x="24" y="616"/>
                    </a:lnTo>
                    <a:lnTo>
                      <a:pt x="21" y="617"/>
                    </a:lnTo>
                    <a:lnTo>
                      <a:pt x="17" y="617"/>
                    </a:lnTo>
                    <a:lnTo>
                      <a:pt x="14" y="618"/>
                    </a:lnTo>
                    <a:lnTo>
                      <a:pt x="11" y="619"/>
                    </a:lnTo>
                    <a:lnTo>
                      <a:pt x="7" y="619"/>
                    </a:lnTo>
                    <a:lnTo>
                      <a:pt x="4" y="620"/>
                    </a:lnTo>
                    <a:lnTo>
                      <a:pt x="0" y="6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69" name="Freeform 1623"/>
              <p:cNvSpPr>
                <a:spLocks noChangeAspect="1"/>
              </p:cNvSpPr>
              <p:nvPr/>
            </p:nvSpPr>
            <p:spPr bwMode="auto">
              <a:xfrm>
                <a:off x="5415" y="1042"/>
                <a:ext cx="9" cy="205"/>
              </a:xfrm>
              <a:custGeom>
                <a:avLst/>
                <a:gdLst>
                  <a:gd name="T0" fmla="*/ 0 w 27"/>
                  <a:gd name="T1" fmla="*/ 0 h 615"/>
                  <a:gd name="T2" fmla="*/ 0 w 27"/>
                  <a:gd name="T3" fmla="*/ 0 h 615"/>
                  <a:gd name="T4" fmla="*/ 0 w 27"/>
                  <a:gd name="T5" fmla="*/ 0 h 615"/>
                  <a:gd name="T6" fmla="*/ 0 w 27"/>
                  <a:gd name="T7" fmla="*/ 0 h 615"/>
                  <a:gd name="T8" fmla="*/ 0 w 27"/>
                  <a:gd name="T9" fmla="*/ 0 h 615"/>
                  <a:gd name="T10" fmla="*/ 0 w 27"/>
                  <a:gd name="T11" fmla="*/ 0 h 615"/>
                  <a:gd name="T12" fmla="*/ 0 w 27"/>
                  <a:gd name="T13" fmla="*/ 0 h 615"/>
                  <a:gd name="T14" fmla="*/ 0 w 27"/>
                  <a:gd name="T15" fmla="*/ 0 h 615"/>
                  <a:gd name="T16" fmla="*/ 0 w 27"/>
                  <a:gd name="T17" fmla="*/ 0 h 615"/>
                  <a:gd name="T18" fmla="*/ 0 w 27"/>
                  <a:gd name="T19" fmla="*/ 0 h 615"/>
                  <a:gd name="T20" fmla="*/ 0 w 27"/>
                  <a:gd name="T21" fmla="*/ 0 h 615"/>
                  <a:gd name="T22" fmla="*/ 0 w 27"/>
                  <a:gd name="T23" fmla="*/ 0 h 615"/>
                  <a:gd name="T24" fmla="*/ 0 w 27"/>
                  <a:gd name="T25" fmla="*/ 0 h 615"/>
                  <a:gd name="T26" fmla="*/ 0 w 27"/>
                  <a:gd name="T27" fmla="*/ 0 h 615"/>
                  <a:gd name="T28" fmla="*/ 0 w 27"/>
                  <a:gd name="T29" fmla="*/ 0 h 615"/>
                  <a:gd name="T30" fmla="*/ 0 w 27"/>
                  <a:gd name="T31" fmla="*/ 0 h 615"/>
                  <a:gd name="T32" fmla="*/ 0 w 27"/>
                  <a:gd name="T33" fmla="*/ 0 h 615"/>
                  <a:gd name="T34" fmla="*/ 0 w 27"/>
                  <a:gd name="T35" fmla="*/ 0 h 615"/>
                  <a:gd name="T36" fmla="*/ 0 w 27"/>
                  <a:gd name="T37" fmla="*/ 0 h 6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15">
                    <a:moveTo>
                      <a:pt x="0" y="615"/>
                    </a:moveTo>
                    <a:lnTo>
                      <a:pt x="0" y="0"/>
                    </a:lnTo>
                    <a:lnTo>
                      <a:pt x="3" y="0"/>
                    </a:lnTo>
                    <a:lnTo>
                      <a:pt x="7" y="1"/>
                    </a:lnTo>
                    <a:lnTo>
                      <a:pt x="10" y="2"/>
                    </a:lnTo>
                    <a:lnTo>
                      <a:pt x="13" y="2"/>
                    </a:lnTo>
                    <a:lnTo>
                      <a:pt x="16" y="3"/>
                    </a:lnTo>
                    <a:lnTo>
                      <a:pt x="19" y="4"/>
                    </a:lnTo>
                    <a:lnTo>
                      <a:pt x="23" y="5"/>
                    </a:lnTo>
                    <a:lnTo>
                      <a:pt x="27" y="6"/>
                    </a:lnTo>
                    <a:lnTo>
                      <a:pt x="27" y="609"/>
                    </a:lnTo>
                    <a:lnTo>
                      <a:pt x="23" y="610"/>
                    </a:lnTo>
                    <a:lnTo>
                      <a:pt x="19" y="611"/>
                    </a:lnTo>
                    <a:lnTo>
                      <a:pt x="16" y="612"/>
                    </a:lnTo>
                    <a:lnTo>
                      <a:pt x="13" y="612"/>
                    </a:lnTo>
                    <a:lnTo>
                      <a:pt x="10" y="613"/>
                    </a:lnTo>
                    <a:lnTo>
                      <a:pt x="7" y="614"/>
                    </a:lnTo>
                    <a:lnTo>
                      <a:pt x="3" y="614"/>
                    </a:lnTo>
                    <a:lnTo>
                      <a:pt x="0" y="6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70" name="Freeform 1624"/>
              <p:cNvSpPr>
                <a:spLocks noChangeAspect="1"/>
              </p:cNvSpPr>
              <p:nvPr/>
            </p:nvSpPr>
            <p:spPr bwMode="auto">
              <a:xfrm>
                <a:off x="5420" y="1042"/>
                <a:ext cx="9" cy="204"/>
              </a:xfrm>
              <a:custGeom>
                <a:avLst/>
                <a:gdLst>
                  <a:gd name="T0" fmla="*/ 0 w 27"/>
                  <a:gd name="T1" fmla="*/ 0 h 610"/>
                  <a:gd name="T2" fmla="*/ 0 w 27"/>
                  <a:gd name="T3" fmla="*/ 0 h 610"/>
                  <a:gd name="T4" fmla="*/ 0 w 27"/>
                  <a:gd name="T5" fmla="*/ 0 h 610"/>
                  <a:gd name="T6" fmla="*/ 0 w 27"/>
                  <a:gd name="T7" fmla="*/ 0 h 610"/>
                  <a:gd name="T8" fmla="*/ 0 w 27"/>
                  <a:gd name="T9" fmla="*/ 0 h 610"/>
                  <a:gd name="T10" fmla="*/ 0 w 27"/>
                  <a:gd name="T11" fmla="*/ 0 h 610"/>
                  <a:gd name="T12" fmla="*/ 0 w 27"/>
                  <a:gd name="T13" fmla="*/ 0 h 610"/>
                  <a:gd name="T14" fmla="*/ 0 w 27"/>
                  <a:gd name="T15" fmla="*/ 0 h 610"/>
                  <a:gd name="T16" fmla="*/ 0 w 27"/>
                  <a:gd name="T17" fmla="*/ 0 h 610"/>
                  <a:gd name="T18" fmla="*/ 0 w 27"/>
                  <a:gd name="T19" fmla="*/ 0 h 610"/>
                  <a:gd name="T20" fmla="*/ 0 w 27"/>
                  <a:gd name="T21" fmla="*/ 0 h 610"/>
                  <a:gd name="T22" fmla="*/ 0 w 27"/>
                  <a:gd name="T23" fmla="*/ 0 h 610"/>
                  <a:gd name="T24" fmla="*/ 0 w 27"/>
                  <a:gd name="T25" fmla="*/ 0 h 610"/>
                  <a:gd name="T26" fmla="*/ 0 w 27"/>
                  <a:gd name="T27" fmla="*/ 0 h 610"/>
                  <a:gd name="T28" fmla="*/ 0 w 27"/>
                  <a:gd name="T29" fmla="*/ 0 h 610"/>
                  <a:gd name="T30" fmla="*/ 0 w 27"/>
                  <a:gd name="T31" fmla="*/ 0 h 610"/>
                  <a:gd name="T32" fmla="*/ 0 w 27"/>
                  <a:gd name="T33" fmla="*/ 0 h 610"/>
                  <a:gd name="T34" fmla="*/ 0 w 27"/>
                  <a:gd name="T35" fmla="*/ 0 h 610"/>
                  <a:gd name="T36" fmla="*/ 0 w 27"/>
                  <a:gd name="T37" fmla="*/ 0 h 6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10">
                    <a:moveTo>
                      <a:pt x="0" y="610"/>
                    </a:moveTo>
                    <a:lnTo>
                      <a:pt x="0" y="0"/>
                    </a:lnTo>
                    <a:lnTo>
                      <a:pt x="3" y="1"/>
                    </a:lnTo>
                    <a:lnTo>
                      <a:pt x="6" y="2"/>
                    </a:lnTo>
                    <a:lnTo>
                      <a:pt x="10" y="3"/>
                    </a:lnTo>
                    <a:lnTo>
                      <a:pt x="14" y="4"/>
                    </a:lnTo>
                    <a:lnTo>
                      <a:pt x="17" y="4"/>
                    </a:lnTo>
                    <a:lnTo>
                      <a:pt x="20" y="5"/>
                    </a:lnTo>
                    <a:lnTo>
                      <a:pt x="23" y="6"/>
                    </a:lnTo>
                    <a:lnTo>
                      <a:pt x="27" y="7"/>
                    </a:lnTo>
                    <a:lnTo>
                      <a:pt x="27" y="603"/>
                    </a:lnTo>
                    <a:lnTo>
                      <a:pt x="23" y="604"/>
                    </a:lnTo>
                    <a:lnTo>
                      <a:pt x="20" y="605"/>
                    </a:lnTo>
                    <a:lnTo>
                      <a:pt x="17" y="606"/>
                    </a:lnTo>
                    <a:lnTo>
                      <a:pt x="14" y="607"/>
                    </a:lnTo>
                    <a:lnTo>
                      <a:pt x="10" y="608"/>
                    </a:lnTo>
                    <a:lnTo>
                      <a:pt x="6" y="609"/>
                    </a:lnTo>
                    <a:lnTo>
                      <a:pt x="3" y="610"/>
                    </a:lnTo>
                    <a:lnTo>
                      <a:pt x="0" y="61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71" name="Freeform 1625"/>
              <p:cNvSpPr>
                <a:spLocks noChangeAspect="1"/>
              </p:cNvSpPr>
              <p:nvPr/>
            </p:nvSpPr>
            <p:spPr bwMode="auto">
              <a:xfrm>
                <a:off x="5424" y="1044"/>
                <a:ext cx="9" cy="201"/>
              </a:xfrm>
              <a:custGeom>
                <a:avLst/>
                <a:gdLst>
                  <a:gd name="T0" fmla="*/ 0 w 25"/>
                  <a:gd name="T1" fmla="*/ 0 h 603"/>
                  <a:gd name="T2" fmla="*/ 0 w 25"/>
                  <a:gd name="T3" fmla="*/ 0 h 603"/>
                  <a:gd name="T4" fmla="*/ 0 w 25"/>
                  <a:gd name="T5" fmla="*/ 0 h 603"/>
                  <a:gd name="T6" fmla="*/ 0 w 25"/>
                  <a:gd name="T7" fmla="*/ 0 h 603"/>
                  <a:gd name="T8" fmla="*/ 0 w 25"/>
                  <a:gd name="T9" fmla="*/ 0 h 603"/>
                  <a:gd name="T10" fmla="*/ 0 w 25"/>
                  <a:gd name="T11" fmla="*/ 0 h 603"/>
                  <a:gd name="T12" fmla="*/ 0 w 25"/>
                  <a:gd name="T13" fmla="*/ 0 h 603"/>
                  <a:gd name="T14" fmla="*/ 0 w 25"/>
                  <a:gd name="T15" fmla="*/ 0 h 603"/>
                  <a:gd name="T16" fmla="*/ 0 w 25"/>
                  <a:gd name="T17" fmla="*/ 0 h 603"/>
                  <a:gd name="T18" fmla="*/ 0 w 25"/>
                  <a:gd name="T19" fmla="*/ 0 h 603"/>
                  <a:gd name="T20" fmla="*/ 0 w 25"/>
                  <a:gd name="T21" fmla="*/ 0 h 603"/>
                  <a:gd name="T22" fmla="*/ 0 w 25"/>
                  <a:gd name="T23" fmla="*/ 0 h 603"/>
                  <a:gd name="T24" fmla="*/ 0 w 25"/>
                  <a:gd name="T25" fmla="*/ 0 h 603"/>
                  <a:gd name="T26" fmla="*/ 0 w 25"/>
                  <a:gd name="T27" fmla="*/ 0 h 603"/>
                  <a:gd name="T28" fmla="*/ 0 w 25"/>
                  <a:gd name="T29" fmla="*/ 0 h 603"/>
                  <a:gd name="T30" fmla="*/ 0 w 25"/>
                  <a:gd name="T31" fmla="*/ 0 h 603"/>
                  <a:gd name="T32" fmla="*/ 0 w 25"/>
                  <a:gd name="T33" fmla="*/ 0 h 603"/>
                  <a:gd name="T34" fmla="*/ 0 w 25"/>
                  <a:gd name="T35" fmla="*/ 0 h 603"/>
                  <a:gd name="T36" fmla="*/ 0 w 25"/>
                  <a:gd name="T37" fmla="*/ 0 h 6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5" h="603">
                    <a:moveTo>
                      <a:pt x="0" y="603"/>
                    </a:moveTo>
                    <a:lnTo>
                      <a:pt x="0" y="0"/>
                    </a:lnTo>
                    <a:lnTo>
                      <a:pt x="3" y="0"/>
                    </a:lnTo>
                    <a:lnTo>
                      <a:pt x="6" y="1"/>
                    </a:lnTo>
                    <a:lnTo>
                      <a:pt x="9" y="2"/>
                    </a:lnTo>
                    <a:lnTo>
                      <a:pt x="13" y="3"/>
                    </a:lnTo>
                    <a:lnTo>
                      <a:pt x="16" y="4"/>
                    </a:lnTo>
                    <a:lnTo>
                      <a:pt x="19" y="5"/>
                    </a:lnTo>
                    <a:lnTo>
                      <a:pt x="22" y="7"/>
                    </a:lnTo>
                    <a:lnTo>
                      <a:pt x="25" y="8"/>
                    </a:lnTo>
                    <a:lnTo>
                      <a:pt x="25" y="594"/>
                    </a:lnTo>
                    <a:lnTo>
                      <a:pt x="22" y="595"/>
                    </a:lnTo>
                    <a:lnTo>
                      <a:pt x="19" y="596"/>
                    </a:lnTo>
                    <a:lnTo>
                      <a:pt x="16" y="597"/>
                    </a:lnTo>
                    <a:lnTo>
                      <a:pt x="13" y="599"/>
                    </a:lnTo>
                    <a:lnTo>
                      <a:pt x="9" y="600"/>
                    </a:lnTo>
                    <a:lnTo>
                      <a:pt x="6" y="601"/>
                    </a:lnTo>
                    <a:lnTo>
                      <a:pt x="3" y="602"/>
                    </a:lnTo>
                    <a:lnTo>
                      <a:pt x="0" y="60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72" name="Freeform 1626"/>
              <p:cNvSpPr>
                <a:spLocks noChangeAspect="1"/>
              </p:cNvSpPr>
              <p:nvPr/>
            </p:nvSpPr>
            <p:spPr bwMode="auto">
              <a:xfrm>
                <a:off x="5429" y="1045"/>
                <a:ext cx="8" cy="198"/>
              </a:xfrm>
              <a:custGeom>
                <a:avLst/>
                <a:gdLst>
                  <a:gd name="T0" fmla="*/ 0 w 26"/>
                  <a:gd name="T1" fmla="*/ 0 h 596"/>
                  <a:gd name="T2" fmla="*/ 0 w 26"/>
                  <a:gd name="T3" fmla="*/ 0 h 596"/>
                  <a:gd name="T4" fmla="*/ 0 w 26"/>
                  <a:gd name="T5" fmla="*/ 0 h 596"/>
                  <a:gd name="T6" fmla="*/ 0 w 26"/>
                  <a:gd name="T7" fmla="*/ 0 h 596"/>
                  <a:gd name="T8" fmla="*/ 0 w 26"/>
                  <a:gd name="T9" fmla="*/ 0 h 596"/>
                  <a:gd name="T10" fmla="*/ 0 w 26"/>
                  <a:gd name="T11" fmla="*/ 0 h 596"/>
                  <a:gd name="T12" fmla="*/ 0 w 26"/>
                  <a:gd name="T13" fmla="*/ 0 h 596"/>
                  <a:gd name="T14" fmla="*/ 0 w 26"/>
                  <a:gd name="T15" fmla="*/ 0 h 596"/>
                  <a:gd name="T16" fmla="*/ 0 w 26"/>
                  <a:gd name="T17" fmla="*/ 0 h 596"/>
                  <a:gd name="T18" fmla="*/ 0 w 26"/>
                  <a:gd name="T19" fmla="*/ 0 h 596"/>
                  <a:gd name="T20" fmla="*/ 0 w 26"/>
                  <a:gd name="T21" fmla="*/ 0 h 596"/>
                  <a:gd name="T22" fmla="*/ 0 w 26"/>
                  <a:gd name="T23" fmla="*/ 0 h 596"/>
                  <a:gd name="T24" fmla="*/ 0 w 26"/>
                  <a:gd name="T25" fmla="*/ 0 h 596"/>
                  <a:gd name="T26" fmla="*/ 0 w 26"/>
                  <a:gd name="T27" fmla="*/ 0 h 596"/>
                  <a:gd name="T28" fmla="*/ 0 w 26"/>
                  <a:gd name="T29" fmla="*/ 0 h 596"/>
                  <a:gd name="T30" fmla="*/ 0 w 26"/>
                  <a:gd name="T31" fmla="*/ 0 h 596"/>
                  <a:gd name="T32" fmla="*/ 0 w 26"/>
                  <a:gd name="T33" fmla="*/ 0 h 596"/>
                  <a:gd name="T34" fmla="*/ 0 w 26"/>
                  <a:gd name="T35" fmla="*/ 0 h 596"/>
                  <a:gd name="T36" fmla="*/ 0 w 26"/>
                  <a:gd name="T37" fmla="*/ 0 h 59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96">
                    <a:moveTo>
                      <a:pt x="0" y="596"/>
                    </a:moveTo>
                    <a:lnTo>
                      <a:pt x="0" y="0"/>
                    </a:lnTo>
                    <a:lnTo>
                      <a:pt x="3" y="1"/>
                    </a:lnTo>
                    <a:lnTo>
                      <a:pt x="6" y="2"/>
                    </a:lnTo>
                    <a:lnTo>
                      <a:pt x="9" y="4"/>
                    </a:lnTo>
                    <a:lnTo>
                      <a:pt x="13" y="5"/>
                    </a:lnTo>
                    <a:lnTo>
                      <a:pt x="17" y="7"/>
                    </a:lnTo>
                    <a:lnTo>
                      <a:pt x="20" y="8"/>
                    </a:lnTo>
                    <a:lnTo>
                      <a:pt x="23" y="9"/>
                    </a:lnTo>
                    <a:lnTo>
                      <a:pt x="26" y="11"/>
                    </a:lnTo>
                    <a:lnTo>
                      <a:pt x="26" y="586"/>
                    </a:lnTo>
                    <a:lnTo>
                      <a:pt x="23" y="588"/>
                    </a:lnTo>
                    <a:lnTo>
                      <a:pt x="20" y="589"/>
                    </a:lnTo>
                    <a:lnTo>
                      <a:pt x="17" y="590"/>
                    </a:lnTo>
                    <a:lnTo>
                      <a:pt x="13" y="591"/>
                    </a:lnTo>
                    <a:lnTo>
                      <a:pt x="9" y="592"/>
                    </a:lnTo>
                    <a:lnTo>
                      <a:pt x="6" y="593"/>
                    </a:lnTo>
                    <a:lnTo>
                      <a:pt x="3" y="594"/>
                    </a:lnTo>
                    <a:lnTo>
                      <a:pt x="0" y="59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73" name="Freeform 1627"/>
              <p:cNvSpPr>
                <a:spLocks noChangeAspect="1"/>
              </p:cNvSpPr>
              <p:nvPr/>
            </p:nvSpPr>
            <p:spPr bwMode="auto">
              <a:xfrm>
                <a:off x="5433" y="1046"/>
                <a:ext cx="9" cy="196"/>
              </a:xfrm>
              <a:custGeom>
                <a:avLst/>
                <a:gdLst>
                  <a:gd name="T0" fmla="*/ 0 w 27"/>
                  <a:gd name="T1" fmla="*/ 0 h 586"/>
                  <a:gd name="T2" fmla="*/ 0 w 27"/>
                  <a:gd name="T3" fmla="*/ 0 h 586"/>
                  <a:gd name="T4" fmla="*/ 0 w 27"/>
                  <a:gd name="T5" fmla="*/ 0 h 586"/>
                  <a:gd name="T6" fmla="*/ 0 w 27"/>
                  <a:gd name="T7" fmla="*/ 0 h 586"/>
                  <a:gd name="T8" fmla="*/ 0 w 27"/>
                  <a:gd name="T9" fmla="*/ 0 h 586"/>
                  <a:gd name="T10" fmla="*/ 0 w 27"/>
                  <a:gd name="T11" fmla="*/ 0 h 586"/>
                  <a:gd name="T12" fmla="*/ 0 w 27"/>
                  <a:gd name="T13" fmla="*/ 0 h 586"/>
                  <a:gd name="T14" fmla="*/ 0 w 27"/>
                  <a:gd name="T15" fmla="*/ 0 h 586"/>
                  <a:gd name="T16" fmla="*/ 0 w 27"/>
                  <a:gd name="T17" fmla="*/ 0 h 586"/>
                  <a:gd name="T18" fmla="*/ 0 w 27"/>
                  <a:gd name="T19" fmla="*/ 0 h 586"/>
                  <a:gd name="T20" fmla="*/ 0 w 27"/>
                  <a:gd name="T21" fmla="*/ 0 h 586"/>
                  <a:gd name="T22" fmla="*/ 0 w 27"/>
                  <a:gd name="T23" fmla="*/ 0 h 586"/>
                  <a:gd name="T24" fmla="*/ 0 w 27"/>
                  <a:gd name="T25" fmla="*/ 0 h 586"/>
                  <a:gd name="T26" fmla="*/ 0 w 27"/>
                  <a:gd name="T27" fmla="*/ 0 h 586"/>
                  <a:gd name="T28" fmla="*/ 0 w 27"/>
                  <a:gd name="T29" fmla="*/ 0 h 586"/>
                  <a:gd name="T30" fmla="*/ 0 w 27"/>
                  <a:gd name="T31" fmla="*/ 0 h 586"/>
                  <a:gd name="T32" fmla="*/ 0 w 27"/>
                  <a:gd name="T33" fmla="*/ 0 h 586"/>
                  <a:gd name="T34" fmla="*/ 0 w 27"/>
                  <a:gd name="T35" fmla="*/ 0 h 586"/>
                  <a:gd name="T36" fmla="*/ 0 w 27"/>
                  <a:gd name="T37" fmla="*/ 0 h 58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86">
                    <a:moveTo>
                      <a:pt x="0" y="586"/>
                    </a:moveTo>
                    <a:lnTo>
                      <a:pt x="0" y="0"/>
                    </a:lnTo>
                    <a:lnTo>
                      <a:pt x="5" y="2"/>
                    </a:lnTo>
                    <a:lnTo>
                      <a:pt x="8" y="3"/>
                    </a:lnTo>
                    <a:lnTo>
                      <a:pt x="11" y="4"/>
                    </a:lnTo>
                    <a:lnTo>
                      <a:pt x="14" y="6"/>
                    </a:lnTo>
                    <a:lnTo>
                      <a:pt x="17" y="7"/>
                    </a:lnTo>
                    <a:lnTo>
                      <a:pt x="21" y="8"/>
                    </a:lnTo>
                    <a:lnTo>
                      <a:pt x="24" y="10"/>
                    </a:lnTo>
                    <a:lnTo>
                      <a:pt x="27" y="11"/>
                    </a:lnTo>
                    <a:lnTo>
                      <a:pt x="27" y="576"/>
                    </a:lnTo>
                    <a:lnTo>
                      <a:pt x="24" y="577"/>
                    </a:lnTo>
                    <a:lnTo>
                      <a:pt x="21" y="579"/>
                    </a:lnTo>
                    <a:lnTo>
                      <a:pt x="17" y="580"/>
                    </a:lnTo>
                    <a:lnTo>
                      <a:pt x="14" y="581"/>
                    </a:lnTo>
                    <a:lnTo>
                      <a:pt x="11" y="583"/>
                    </a:lnTo>
                    <a:lnTo>
                      <a:pt x="8" y="584"/>
                    </a:lnTo>
                    <a:lnTo>
                      <a:pt x="5" y="585"/>
                    </a:lnTo>
                    <a:lnTo>
                      <a:pt x="0" y="58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74" name="Freeform 1628"/>
              <p:cNvSpPr>
                <a:spLocks noChangeAspect="1"/>
              </p:cNvSpPr>
              <p:nvPr/>
            </p:nvSpPr>
            <p:spPr bwMode="auto">
              <a:xfrm>
                <a:off x="5437" y="1048"/>
                <a:ext cx="9" cy="192"/>
              </a:xfrm>
              <a:custGeom>
                <a:avLst/>
                <a:gdLst>
                  <a:gd name="T0" fmla="*/ 0 w 27"/>
                  <a:gd name="T1" fmla="*/ 0 h 575"/>
                  <a:gd name="T2" fmla="*/ 0 w 27"/>
                  <a:gd name="T3" fmla="*/ 0 h 575"/>
                  <a:gd name="T4" fmla="*/ 0 w 27"/>
                  <a:gd name="T5" fmla="*/ 0 h 575"/>
                  <a:gd name="T6" fmla="*/ 0 w 27"/>
                  <a:gd name="T7" fmla="*/ 0 h 575"/>
                  <a:gd name="T8" fmla="*/ 0 w 27"/>
                  <a:gd name="T9" fmla="*/ 0 h 575"/>
                  <a:gd name="T10" fmla="*/ 0 w 27"/>
                  <a:gd name="T11" fmla="*/ 0 h 575"/>
                  <a:gd name="T12" fmla="*/ 0 w 27"/>
                  <a:gd name="T13" fmla="*/ 0 h 575"/>
                  <a:gd name="T14" fmla="*/ 0 w 27"/>
                  <a:gd name="T15" fmla="*/ 0 h 575"/>
                  <a:gd name="T16" fmla="*/ 0 w 27"/>
                  <a:gd name="T17" fmla="*/ 0 h 575"/>
                  <a:gd name="T18" fmla="*/ 0 w 27"/>
                  <a:gd name="T19" fmla="*/ 0 h 575"/>
                  <a:gd name="T20" fmla="*/ 0 w 27"/>
                  <a:gd name="T21" fmla="*/ 0 h 575"/>
                  <a:gd name="T22" fmla="*/ 0 w 27"/>
                  <a:gd name="T23" fmla="*/ 0 h 575"/>
                  <a:gd name="T24" fmla="*/ 0 w 27"/>
                  <a:gd name="T25" fmla="*/ 0 h 575"/>
                  <a:gd name="T26" fmla="*/ 0 w 27"/>
                  <a:gd name="T27" fmla="*/ 0 h 575"/>
                  <a:gd name="T28" fmla="*/ 0 w 27"/>
                  <a:gd name="T29" fmla="*/ 0 h 575"/>
                  <a:gd name="T30" fmla="*/ 0 w 27"/>
                  <a:gd name="T31" fmla="*/ 0 h 575"/>
                  <a:gd name="T32" fmla="*/ 0 w 27"/>
                  <a:gd name="T33" fmla="*/ 0 h 575"/>
                  <a:gd name="T34" fmla="*/ 0 w 27"/>
                  <a:gd name="T35" fmla="*/ 0 h 575"/>
                  <a:gd name="T36" fmla="*/ 0 w 27"/>
                  <a:gd name="T37" fmla="*/ 0 h 5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75">
                    <a:moveTo>
                      <a:pt x="0" y="575"/>
                    </a:moveTo>
                    <a:lnTo>
                      <a:pt x="0" y="0"/>
                    </a:lnTo>
                    <a:lnTo>
                      <a:pt x="3" y="1"/>
                    </a:lnTo>
                    <a:lnTo>
                      <a:pt x="7" y="2"/>
                    </a:lnTo>
                    <a:lnTo>
                      <a:pt x="10" y="4"/>
                    </a:lnTo>
                    <a:lnTo>
                      <a:pt x="14" y="5"/>
                    </a:lnTo>
                    <a:lnTo>
                      <a:pt x="17" y="7"/>
                    </a:lnTo>
                    <a:lnTo>
                      <a:pt x="20" y="8"/>
                    </a:lnTo>
                    <a:lnTo>
                      <a:pt x="24" y="10"/>
                    </a:lnTo>
                    <a:lnTo>
                      <a:pt x="27" y="12"/>
                    </a:lnTo>
                    <a:lnTo>
                      <a:pt x="27" y="563"/>
                    </a:lnTo>
                    <a:lnTo>
                      <a:pt x="24" y="564"/>
                    </a:lnTo>
                    <a:lnTo>
                      <a:pt x="20" y="566"/>
                    </a:lnTo>
                    <a:lnTo>
                      <a:pt x="17" y="568"/>
                    </a:lnTo>
                    <a:lnTo>
                      <a:pt x="14" y="570"/>
                    </a:lnTo>
                    <a:lnTo>
                      <a:pt x="10" y="571"/>
                    </a:lnTo>
                    <a:lnTo>
                      <a:pt x="7" y="573"/>
                    </a:lnTo>
                    <a:lnTo>
                      <a:pt x="3" y="574"/>
                    </a:lnTo>
                    <a:lnTo>
                      <a:pt x="0" y="57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75" name="Freeform 1629"/>
              <p:cNvSpPr>
                <a:spLocks noChangeAspect="1"/>
              </p:cNvSpPr>
              <p:nvPr/>
            </p:nvSpPr>
            <p:spPr bwMode="auto">
              <a:xfrm>
                <a:off x="5442" y="1050"/>
                <a:ext cx="9" cy="188"/>
              </a:xfrm>
              <a:custGeom>
                <a:avLst/>
                <a:gdLst>
                  <a:gd name="T0" fmla="*/ 0 w 27"/>
                  <a:gd name="T1" fmla="*/ 0 h 565"/>
                  <a:gd name="T2" fmla="*/ 0 w 27"/>
                  <a:gd name="T3" fmla="*/ 0 h 565"/>
                  <a:gd name="T4" fmla="*/ 0 w 27"/>
                  <a:gd name="T5" fmla="*/ 0 h 565"/>
                  <a:gd name="T6" fmla="*/ 0 w 27"/>
                  <a:gd name="T7" fmla="*/ 0 h 565"/>
                  <a:gd name="T8" fmla="*/ 0 w 27"/>
                  <a:gd name="T9" fmla="*/ 0 h 565"/>
                  <a:gd name="T10" fmla="*/ 0 w 27"/>
                  <a:gd name="T11" fmla="*/ 0 h 565"/>
                  <a:gd name="T12" fmla="*/ 0 w 27"/>
                  <a:gd name="T13" fmla="*/ 0 h 565"/>
                  <a:gd name="T14" fmla="*/ 0 w 27"/>
                  <a:gd name="T15" fmla="*/ 0 h 565"/>
                  <a:gd name="T16" fmla="*/ 0 w 27"/>
                  <a:gd name="T17" fmla="*/ 0 h 565"/>
                  <a:gd name="T18" fmla="*/ 0 w 27"/>
                  <a:gd name="T19" fmla="*/ 0 h 565"/>
                  <a:gd name="T20" fmla="*/ 0 w 27"/>
                  <a:gd name="T21" fmla="*/ 0 h 565"/>
                  <a:gd name="T22" fmla="*/ 0 w 27"/>
                  <a:gd name="T23" fmla="*/ 0 h 565"/>
                  <a:gd name="T24" fmla="*/ 0 w 27"/>
                  <a:gd name="T25" fmla="*/ 0 h 565"/>
                  <a:gd name="T26" fmla="*/ 0 w 27"/>
                  <a:gd name="T27" fmla="*/ 0 h 565"/>
                  <a:gd name="T28" fmla="*/ 0 w 27"/>
                  <a:gd name="T29" fmla="*/ 0 h 565"/>
                  <a:gd name="T30" fmla="*/ 0 w 27"/>
                  <a:gd name="T31" fmla="*/ 0 h 565"/>
                  <a:gd name="T32" fmla="*/ 0 w 27"/>
                  <a:gd name="T33" fmla="*/ 0 h 565"/>
                  <a:gd name="T34" fmla="*/ 0 w 27"/>
                  <a:gd name="T35" fmla="*/ 0 h 565"/>
                  <a:gd name="T36" fmla="*/ 0 w 27"/>
                  <a:gd name="T37" fmla="*/ 0 h 5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65">
                    <a:moveTo>
                      <a:pt x="0" y="565"/>
                    </a:moveTo>
                    <a:lnTo>
                      <a:pt x="0" y="0"/>
                    </a:lnTo>
                    <a:lnTo>
                      <a:pt x="4" y="2"/>
                    </a:lnTo>
                    <a:lnTo>
                      <a:pt x="7" y="3"/>
                    </a:lnTo>
                    <a:lnTo>
                      <a:pt x="11" y="5"/>
                    </a:lnTo>
                    <a:lnTo>
                      <a:pt x="14" y="7"/>
                    </a:lnTo>
                    <a:lnTo>
                      <a:pt x="17" y="9"/>
                    </a:lnTo>
                    <a:lnTo>
                      <a:pt x="20" y="11"/>
                    </a:lnTo>
                    <a:lnTo>
                      <a:pt x="23" y="12"/>
                    </a:lnTo>
                    <a:lnTo>
                      <a:pt x="27" y="14"/>
                    </a:lnTo>
                    <a:lnTo>
                      <a:pt x="27" y="551"/>
                    </a:lnTo>
                    <a:lnTo>
                      <a:pt x="23" y="553"/>
                    </a:lnTo>
                    <a:lnTo>
                      <a:pt x="20" y="554"/>
                    </a:lnTo>
                    <a:lnTo>
                      <a:pt x="17" y="556"/>
                    </a:lnTo>
                    <a:lnTo>
                      <a:pt x="14" y="558"/>
                    </a:lnTo>
                    <a:lnTo>
                      <a:pt x="11" y="559"/>
                    </a:lnTo>
                    <a:lnTo>
                      <a:pt x="7" y="561"/>
                    </a:lnTo>
                    <a:lnTo>
                      <a:pt x="4" y="563"/>
                    </a:lnTo>
                    <a:lnTo>
                      <a:pt x="0" y="5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76" name="Freeform 1630"/>
              <p:cNvSpPr>
                <a:spLocks noChangeAspect="1"/>
              </p:cNvSpPr>
              <p:nvPr/>
            </p:nvSpPr>
            <p:spPr bwMode="auto">
              <a:xfrm>
                <a:off x="5446" y="1052"/>
                <a:ext cx="9" cy="184"/>
              </a:xfrm>
              <a:custGeom>
                <a:avLst/>
                <a:gdLst>
                  <a:gd name="T0" fmla="*/ 0 w 26"/>
                  <a:gd name="T1" fmla="*/ 0 h 551"/>
                  <a:gd name="T2" fmla="*/ 0 w 26"/>
                  <a:gd name="T3" fmla="*/ 0 h 551"/>
                  <a:gd name="T4" fmla="*/ 0 w 26"/>
                  <a:gd name="T5" fmla="*/ 0 h 551"/>
                  <a:gd name="T6" fmla="*/ 0 w 26"/>
                  <a:gd name="T7" fmla="*/ 0 h 551"/>
                  <a:gd name="T8" fmla="*/ 0 w 26"/>
                  <a:gd name="T9" fmla="*/ 0 h 551"/>
                  <a:gd name="T10" fmla="*/ 0 w 26"/>
                  <a:gd name="T11" fmla="*/ 0 h 551"/>
                  <a:gd name="T12" fmla="*/ 0 w 26"/>
                  <a:gd name="T13" fmla="*/ 0 h 551"/>
                  <a:gd name="T14" fmla="*/ 0 w 26"/>
                  <a:gd name="T15" fmla="*/ 0 h 551"/>
                  <a:gd name="T16" fmla="*/ 0 w 26"/>
                  <a:gd name="T17" fmla="*/ 0 h 551"/>
                  <a:gd name="T18" fmla="*/ 0 w 26"/>
                  <a:gd name="T19" fmla="*/ 0 h 551"/>
                  <a:gd name="T20" fmla="*/ 0 w 26"/>
                  <a:gd name="T21" fmla="*/ 0 h 551"/>
                  <a:gd name="T22" fmla="*/ 0 w 26"/>
                  <a:gd name="T23" fmla="*/ 0 h 551"/>
                  <a:gd name="T24" fmla="*/ 0 w 26"/>
                  <a:gd name="T25" fmla="*/ 0 h 551"/>
                  <a:gd name="T26" fmla="*/ 0 w 26"/>
                  <a:gd name="T27" fmla="*/ 0 h 551"/>
                  <a:gd name="T28" fmla="*/ 0 w 26"/>
                  <a:gd name="T29" fmla="*/ 0 h 551"/>
                  <a:gd name="T30" fmla="*/ 0 w 26"/>
                  <a:gd name="T31" fmla="*/ 0 h 551"/>
                  <a:gd name="T32" fmla="*/ 0 w 26"/>
                  <a:gd name="T33" fmla="*/ 0 h 551"/>
                  <a:gd name="T34" fmla="*/ 0 w 26"/>
                  <a:gd name="T35" fmla="*/ 0 h 551"/>
                  <a:gd name="T36" fmla="*/ 0 w 26"/>
                  <a:gd name="T37" fmla="*/ 0 h 5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51">
                    <a:moveTo>
                      <a:pt x="0" y="551"/>
                    </a:moveTo>
                    <a:lnTo>
                      <a:pt x="0" y="0"/>
                    </a:lnTo>
                    <a:lnTo>
                      <a:pt x="3" y="2"/>
                    </a:lnTo>
                    <a:lnTo>
                      <a:pt x="6" y="4"/>
                    </a:lnTo>
                    <a:lnTo>
                      <a:pt x="9" y="5"/>
                    </a:lnTo>
                    <a:lnTo>
                      <a:pt x="14" y="7"/>
                    </a:lnTo>
                    <a:lnTo>
                      <a:pt x="17" y="9"/>
                    </a:lnTo>
                    <a:lnTo>
                      <a:pt x="20" y="11"/>
                    </a:lnTo>
                    <a:lnTo>
                      <a:pt x="23" y="13"/>
                    </a:lnTo>
                    <a:lnTo>
                      <a:pt x="26" y="15"/>
                    </a:lnTo>
                    <a:lnTo>
                      <a:pt x="26" y="535"/>
                    </a:lnTo>
                    <a:lnTo>
                      <a:pt x="23" y="537"/>
                    </a:lnTo>
                    <a:lnTo>
                      <a:pt x="20" y="540"/>
                    </a:lnTo>
                    <a:lnTo>
                      <a:pt x="17" y="542"/>
                    </a:lnTo>
                    <a:lnTo>
                      <a:pt x="14" y="544"/>
                    </a:lnTo>
                    <a:lnTo>
                      <a:pt x="9" y="545"/>
                    </a:lnTo>
                    <a:lnTo>
                      <a:pt x="6" y="547"/>
                    </a:lnTo>
                    <a:lnTo>
                      <a:pt x="3" y="549"/>
                    </a:lnTo>
                    <a:lnTo>
                      <a:pt x="0" y="55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77" name="Freeform 1631"/>
              <p:cNvSpPr>
                <a:spLocks noChangeAspect="1"/>
              </p:cNvSpPr>
              <p:nvPr/>
            </p:nvSpPr>
            <p:spPr bwMode="auto">
              <a:xfrm>
                <a:off x="5451" y="1055"/>
                <a:ext cx="8" cy="179"/>
              </a:xfrm>
              <a:custGeom>
                <a:avLst/>
                <a:gdLst>
                  <a:gd name="T0" fmla="*/ 0 w 26"/>
                  <a:gd name="T1" fmla="*/ 0 h 537"/>
                  <a:gd name="T2" fmla="*/ 0 w 26"/>
                  <a:gd name="T3" fmla="*/ 0 h 537"/>
                  <a:gd name="T4" fmla="*/ 0 w 26"/>
                  <a:gd name="T5" fmla="*/ 0 h 537"/>
                  <a:gd name="T6" fmla="*/ 0 w 26"/>
                  <a:gd name="T7" fmla="*/ 0 h 537"/>
                  <a:gd name="T8" fmla="*/ 0 w 26"/>
                  <a:gd name="T9" fmla="*/ 0 h 537"/>
                  <a:gd name="T10" fmla="*/ 0 w 26"/>
                  <a:gd name="T11" fmla="*/ 0 h 537"/>
                  <a:gd name="T12" fmla="*/ 0 w 26"/>
                  <a:gd name="T13" fmla="*/ 0 h 537"/>
                  <a:gd name="T14" fmla="*/ 0 w 26"/>
                  <a:gd name="T15" fmla="*/ 0 h 537"/>
                  <a:gd name="T16" fmla="*/ 0 w 26"/>
                  <a:gd name="T17" fmla="*/ 0 h 537"/>
                  <a:gd name="T18" fmla="*/ 0 w 26"/>
                  <a:gd name="T19" fmla="*/ 0 h 537"/>
                  <a:gd name="T20" fmla="*/ 0 w 26"/>
                  <a:gd name="T21" fmla="*/ 0 h 537"/>
                  <a:gd name="T22" fmla="*/ 0 w 26"/>
                  <a:gd name="T23" fmla="*/ 0 h 537"/>
                  <a:gd name="T24" fmla="*/ 0 w 26"/>
                  <a:gd name="T25" fmla="*/ 0 h 537"/>
                  <a:gd name="T26" fmla="*/ 0 w 26"/>
                  <a:gd name="T27" fmla="*/ 0 h 537"/>
                  <a:gd name="T28" fmla="*/ 0 w 26"/>
                  <a:gd name="T29" fmla="*/ 0 h 537"/>
                  <a:gd name="T30" fmla="*/ 0 w 26"/>
                  <a:gd name="T31" fmla="*/ 0 h 537"/>
                  <a:gd name="T32" fmla="*/ 0 w 26"/>
                  <a:gd name="T33" fmla="*/ 0 h 537"/>
                  <a:gd name="T34" fmla="*/ 0 w 26"/>
                  <a:gd name="T35" fmla="*/ 0 h 537"/>
                  <a:gd name="T36" fmla="*/ 0 w 26"/>
                  <a:gd name="T37" fmla="*/ 0 h 5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37">
                    <a:moveTo>
                      <a:pt x="0" y="537"/>
                    </a:moveTo>
                    <a:lnTo>
                      <a:pt x="0" y="0"/>
                    </a:lnTo>
                    <a:lnTo>
                      <a:pt x="4" y="2"/>
                    </a:lnTo>
                    <a:lnTo>
                      <a:pt x="7" y="4"/>
                    </a:lnTo>
                    <a:lnTo>
                      <a:pt x="10" y="6"/>
                    </a:lnTo>
                    <a:lnTo>
                      <a:pt x="13" y="8"/>
                    </a:lnTo>
                    <a:lnTo>
                      <a:pt x="17" y="11"/>
                    </a:lnTo>
                    <a:lnTo>
                      <a:pt x="20" y="13"/>
                    </a:lnTo>
                    <a:lnTo>
                      <a:pt x="23" y="15"/>
                    </a:lnTo>
                    <a:lnTo>
                      <a:pt x="26" y="17"/>
                    </a:lnTo>
                    <a:lnTo>
                      <a:pt x="26" y="520"/>
                    </a:lnTo>
                    <a:lnTo>
                      <a:pt x="23" y="522"/>
                    </a:lnTo>
                    <a:lnTo>
                      <a:pt x="20" y="524"/>
                    </a:lnTo>
                    <a:lnTo>
                      <a:pt x="17" y="526"/>
                    </a:lnTo>
                    <a:lnTo>
                      <a:pt x="13" y="528"/>
                    </a:lnTo>
                    <a:lnTo>
                      <a:pt x="10" y="530"/>
                    </a:lnTo>
                    <a:lnTo>
                      <a:pt x="7" y="533"/>
                    </a:lnTo>
                    <a:lnTo>
                      <a:pt x="4" y="535"/>
                    </a:lnTo>
                    <a:lnTo>
                      <a:pt x="0" y="53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78" name="Freeform 1632"/>
              <p:cNvSpPr>
                <a:spLocks noChangeAspect="1"/>
              </p:cNvSpPr>
              <p:nvPr/>
            </p:nvSpPr>
            <p:spPr bwMode="auto">
              <a:xfrm>
                <a:off x="5455" y="1057"/>
                <a:ext cx="9" cy="174"/>
              </a:xfrm>
              <a:custGeom>
                <a:avLst/>
                <a:gdLst>
                  <a:gd name="T0" fmla="*/ 0 w 27"/>
                  <a:gd name="T1" fmla="*/ 0 h 520"/>
                  <a:gd name="T2" fmla="*/ 0 w 27"/>
                  <a:gd name="T3" fmla="*/ 0 h 520"/>
                  <a:gd name="T4" fmla="*/ 0 w 27"/>
                  <a:gd name="T5" fmla="*/ 0 h 520"/>
                  <a:gd name="T6" fmla="*/ 0 w 27"/>
                  <a:gd name="T7" fmla="*/ 0 h 520"/>
                  <a:gd name="T8" fmla="*/ 0 w 27"/>
                  <a:gd name="T9" fmla="*/ 0 h 520"/>
                  <a:gd name="T10" fmla="*/ 0 w 27"/>
                  <a:gd name="T11" fmla="*/ 0 h 520"/>
                  <a:gd name="T12" fmla="*/ 0 w 27"/>
                  <a:gd name="T13" fmla="*/ 0 h 520"/>
                  <a:gd name="T14" fmla="*/ 0 w 27"/>
                  <a:gd name="T15" fmla="*/ 0 h 520"/>
                  <a:gd name="T16" fmla="*/ 0 w 27"/>
                  <a:gd name="T17" fmla="*/ 0 h 520"/>
                  <a:gd name="T18" fmla="*/ 0 w 27"/>
                  <a:gd name="T19" fmla="*/ 0 h 520"/>
                  <a:gd name="T20" fmla="*/ 0 w 27"/>
                  <a:gd name="T21" fmla="*/ 0 h 520"/>
                  <a:gd name="T22" fmla="*/ 0 w 27"/>
                  <a:gd name="T23" fmla="*/ 0 h 520"/>
                  <a:gd name="T24" fmla="*/ 0 w 27"/>
                  <a:gd name="T25" fmla="*/ 0 h 520"/>
                  <a:gd name="T26" fmla="*/ 0 w 27"/>
                  <a:gd name="T27" fmla="*/ 0 h 520"/>
                  <a:gd name="T28" fmla="*/ 0 w 27"/>
                  <a:gd name="T29" fmla="*/ 0 h 520"/>
                  <a:gd name="T30" fmla="*/ 0 w 27"/>
                  <a:gd name="T31" fmla="*/ 0 h 520"/>
                  <a:gd name="T32" fmla="*/ 0 w 27"/>
                  <a:gd name="T33" fmla="*/ 0 h 520"/>
                  <a:gd name="T34" fmla="*/ 0 w 27"/>
                  <a:gd name="T35" fmla="*/ 0 h 520"/>
                  <a:gd name="T36" fmla="*/ 0 w 27"/>
                  <a:gd name="T37" fmla="*/ 0 h 5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20">
                    <a:moveTo>
                      <a:pt x="0" y="520"/>
                    </a:moveTo>
                    <a:lnTo>
                      <a:pt x="0" y="0"/>
                    </a:lnTo>
                    <a:lnTo>
                      <a:pt x="4" y="3"/>
                    </a:lnTo>
                    <a:lnTo>
                      <a:pt x="7" y="5"/>
                    </a:lnTo>
                    <a:lnTo>
                      <a:pt x="10" y="7"/>
                    </a:lnTo>
                    <a:lnTo>
                      <a:pt x="14" y="9"/>
                    </a:lnTo>
                    <a:lnTo>
                      <a:pt x="18" y="12"/>
                    </a:lnTo>
                    <a:lnTo>
                      <a:pt x="21" y="14"/>
                    </a:lnTo>
                    <a:lnTo>
                      <a:pt x="24" y="16"/>
                    </a:lnTo>
                    <a:lnTo>
                      <a:pt x="27" y="20"/>
                    </a:lnTo>
                    <a:lnTo>
                      <a:pt x="27" y="501"/>
                    </a:lnTo>
                    <a:lnTo>
                      <a:pt x="24" y="504"/>
                    </a:lnTo>
                    <a:lnTo>
                      <a:pt x="21" y="507"/>
                    </a:lnTo>
                    <a:lnTo>
                      <a:pt x="18" y="509"/>
                    </a:lnTo>
                    <a:lnTo>
                      <a:pt x="14" y="511"/>
                    </a:lnTo>
                    <a:lnTo>
                      <a:pt x="10" y="514"/>
                    </a:lnTo>
                    <a:lnTo>
                      <a:pt x="7" y="516"/>
                    </a:lnTo>
                    <a:lnTo>
                      <a:pt x="4" y="518"/>
                    </a:lnTo>
                    <a:lnTo>
                      <a:pt x="0" y="5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79" name="Freeform 1633"/>
              <p:cNvSpPr>
                <a:spLocks noChangeAspect="1"/>
              </p:cNvSpPr>
              <p:nvPr/>
            </p:nvSpPr>
            <p:spPr bwMode="auto">
              <a:xfrm>
                <a:off x="5459" y="1060"/>
                <a:ext cx="9" cy="168"/>
              </a:xfrm>
              <a:custGeom>
                <a:avLst/>
                <a:gdLst>
                  <a:gd name="T0" fmla="*/ 0 w 27"/>
                  <a:gd name="T1" fmla="*/ 0 h 503"/>
                  <a:gd name="T2" fmla="*/ 0 w 27"/>
                  <a:gd name="T3" fmla="*/ 0 h 503"/>
                  <a:gd name="T4" fmla="*/ 0 w 27"/>
                  <a:gd name="T5" fmla="*/ 0 h 503"/>
                  <a:gd name="T6" fmla="*/ 0 w 27"/>
                  <a:gd name="T7" fmla="*/ 0 h 503"/>
                  <a:gd name="T8" fmla="*/ 0 w 27"/>
                  <a:gd name="T9" fmla="*/ 0 h 503"/>
                  <a:gd name="T10" fmla="*/ 0 w 27"/>
                  <a:gd name="T11" fmla="*/ 0 h 503"/>
                  <a:gd name="T12" fmla="*/ 0 w 27"/>
                  <a:gd name="T13" fmla="*/ 0 h 503"/>
                  <a:gd name="T14" fmla="*/ 0 w 27"/>
                  <a:gd name="T15" fmla="*/ 0 h 503"/>
                  <a:gd name="T16" fmla="*/ 0 w 27"/>
                  <a:gd name="T17" fmla="*/ 0 h 503"/>
                  <a:gd name="T18" fmla="*/ 0 w 27"/>
                  <a:gd name="T19" fmla="*/ 0 h 503"/>
                  <a:gd name="T20" fmla="*/ 0 w 27"/>
                  <a:gd name="T21" fmla="*/ 0 h 503"/>
                  <a:gd name="T22" fmla="*/ 0 w 27"/>
                  <a:gd name="T23" fmla="*/ 0 h 503"/>
                  <a:gd name="T24" fmla="*/ 0 w 27"/>
                  <a:gd name="T25" fmla="*/ 0 h 503"/>
                  <a:gd name="T26" fmla="*/ 0 w 27"/>
                  <a:gd name="T27" fmla="*/ 0 h 503"/>
                  <a:gd name="T28" fmla="*/ 0 w 27"/>
                  <a:gd name="T29" fmla="*/ 0 h 503"/>
                  <a:gd name="T30" fmla="*/ 0 w 27"/>
                  <a:gd name="T31" fmla="*/ 0 h 503"/>
                  <a:gd name="T32" fmla="*/ 0 w 27"/>
                  <a:gd name="T33" fmla="*/ 0 h 503"/>
                  <a:gd name="T34" fmla="*/ 0 w 27"/>
                  <a:gd name="T35" fmla="*/ 0 h 503"/>
                  <a:gd name="T36" fmla="*/ 0 w 27"/>
                  <a:gd name="T37" fmla="*/ 0 h 5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03">
                    <a:moveTo>
                      <a:pt x="0" y="503"/>
                    </a:moveTo>
                    <a:lnTo>
                      <a:pt x="0" y="0"/>
                    </a:lnTo>
                    <a:lnTo>
                      <a:pt x="5" y="2"/>
                    </a:lnTo>
                    <a:lnTo>
                      <a:pt x="8" y="5"/>
                    </a:lnTo>
                    <a:lnTo>
                      <a:pt x="11" y="7"/>
                    </a:lnTo>
                    <a:lnTo>
                      <a:pt x="14" y="11"/>
                    </a:lnTo>
                    <a:lnTo>
                      <a:pt x="17" y="13"/>
                    </a:lnTo>
                    <a:lnTo>
                      <a:pt x="20" y="16"/>
                    </a:lnTo>
                    <a:lnTo>
                      <a:pt x="24" y="18"/>
                    </a:lnTo>
                    <a:lnTo>
                      <a:pt x="27" y="21"/>
                    </a:lnTo>
                    <a:lnTo>
                      <a:pt x="27" y="482"/>
                    </a:lnTo>
                    <a:lnTo>
                      <a:pt x="24" y="484"/>
                    </a:lnTo>
                    <a:lnTo>
                      <a:pt x="20" y="487"/>
                    </a:lnTo>
                    <a:lnTo>
                      <a:pt x="17" y="490"/>
                    </a:lnTo>
                    <a:lnTo>
                      <a:pt x="14" y="492"/>
                    </a:lnTo>
                    <a:lnTo>
                      <a:pt x="11" y="495"/>
                    </a:lnTo>
                    <a:lnTo>
                      <a:pt x="8" y="498"/>
                    </a:lnTo>
                    <a:lnTo>
                      <a:pt x="5" y="500"/>
                    </a:lnTo>
                    <a:lnTo>
                      <a:pt x="0" y="50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80" name="Freeform 1634"/>
              <p:cNvSpPr>
                <a:spLocks noChangeAspect="1"/>
              </p:cNvSpPr>
              <p:nvPr/>
            </p:nvSpPr>
            <p:spPr bwMode="auto">
              <a:xfrm>
                <a:off x="5464" y="1064"/>
                <a:ext cx="9" cy="160"/>
              </a:xfrm>
              <a:custGeom>
                <a:avLst/>
                <a:gdLst>
                  <a:gd name="T0" fmla="*/ 0 w 27"/>
                  <a:gd name="T1" fmla="*/ 0 h 481"/>
                  <a:gd name="T2" fmla="*/ 0 w 27"/>
                  <a:gd name="T3" fmla="*/ 0 h 481"/>
                  <a:gd name="T4" fmla="*/ 0 w 27"/>
                  <a:gd name="T5" fmla="*/ 0 h 481"/>
                  <a:gd name="T6" fmla="*/ 0 w 27"/>
                  <a:gd name="T7" fmla="*/ 0 h 481"/>
                  <a:gd name="T8" fmla="*/ 0 w 27"/>
                  <a:gd name="T9" fmla="*/ 0 h 481"/>
                  <a:gd name="T10" fmla="*/ 0 w 27"/>
                  <a:gd name="T11" fmla="*/ 0 h 481"/>
                  <a:gd name="T12" fmla="*/ 0 w 27"/>
                  <a:gd name="T13" fmla="*/ 0 h 481"/>
                  <a:gd name="T14" fmla="*/ 0 w 27"/>
                  <a:gd name="T15" fmla="*/ 0 h 481"/>
                  <a:gd name="T16" fmla="*/ 0 w 27"/>
                  <a:gd name="T17" fmla="*/ 0 h 481"/>
                  <a:gd name="T18" fmla="*/ 0 w 27"/>
                  <a:gd name="T19" fmla="*/ 0 h 481"/>
                  <a:gd name="T20" fmla="*/ 0 w 27"/>
                  <a:gd name="T21" fmla="*/ 0 h 481"/>
                  <a:gd name="T22" fmla="*/ 0 w 27"/>
                  <a:gd name="T23" fmla="*/ 0 h 481"/>
                  <a:gd name="T24" fmla="*/ 0 w 27"/>
                  <a:gd name="T25" fmla="*/ 0 h 481"/>
                  <a:gd name="T26" fmla="*/ 0 w 27"/>
                  <a:gd name="T27" fmla="*/ 0 h 481"/>
                  <a:gd name="T28" fmla="*/ 0 w 27"/>
                  <a:gd name="T29" fmla="*/ 0 h 481"/>
                  <a:gd name="T30" fmla="*/ 0 w 27"/>
                  <a:gd name="T31" fmla="*/ 0 h 481"/>
                  <a:gd name="T32" fmla="*/ 0 w 27"/>
                  <a:gd name="T33" fmla="*/ 0 h 481"/>
                  <a:gd name="T34" fmla="*/ 0 w 27"/>
                  <a:gd name="T35" fmla="*/ 0 h 481"/>
                  <a:gd name="T36" fmla="*/ 0 w 27"/>
                  <a:gd name="T37" fmla="*/ 0 h 48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81">
                    <a:moveTo>
                      <a:pt x="0" y="481"/>
                    </a:moveTo>
                    <a:lnTo>
                      <a:pt x="0" y="0"/>
                    </a:lnTo>
                    <a:lnTo>
                      <a:pt x="3" y="2"/>
                    </a:lnTo>
                    <a:lnTo>
                      <a:pt x="6" y="5"/>
                    </a:lnTo>
                    <a:lnTo>
                      <a:pt x="10" y="8"/>
                    </a:lnTo>
                    <a:lnTo>
                      <a:pt x="14" y="10"/>
                    </a:lnTo>
                    <a:lnTo>
                      <a:pt x="17" y="13"/>
                    </a:lnTo>
                    <a:lnTo>
                      <a:pt x="20" y="17"/>
                    </a:lnTo>
                    <a:lnTo>
                      <a:pt x="24" y="20"/>
                    </a:lnTo>
                    <a:lnTo>
                      <a:pt x="27" y="23"/>
                    </a:lnTo>
                    <a:lnTo>
                      <a:pt x="27" y="458"/>
                    </a:lnTo>
                    <a:lnTo>
                      <a:pt x="24" y="461"/>
                    </a:lnTo>
                    <a:lnTo>
                      <a:pt x="20" y="464"/>
                    </a:lnTo>
                    <a:lnTo>
                      <a:pt x="17" y="467"/>
                    </a:lnTo>
                    <a:lnTo>
                      <a:pt x="14" y="471"/>
                    </a:lnTo>
                    <a:lnTo>
                      <a:pt x="10" y="473"/>
                    </a:lnTo>
                    <a:lnTo>
                      <a:pt x="6" y="476"/>
                    </a:lnTo>
                    <a:lnTo>
                      <a:pt x="3" y="479"/>
                    </a:lnTo>
                    <a:lnTo>
                      <a:pt x="0" y="4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81" name="Freeform 1635"/>
              <p:cNvSpPr>
                <a:spLocks noChangeAspect="1"/>
              </p:cNvSpPr>
              <p:nvPr/>
            </p:nvSpPr>
            <p:spPr bwMode="auto">
              <a:xfrm>
                <a:off x="5468" y="1067"/>
                <a:ext cx="9" cy="154"/>
              </a:xfrm>
              <a:custGeom>
                <a:avLst/>
                <a:gdLst>
                  <a:gd name="T0" fmla="*/ 0 w 26"/>
                  <a:gd name="T1" fmla="*/ 0 h 461"/>
                  <a:gd name="T2" fmla="*/ 0 w 26"/>
                  <a:gd name="T3" fmla="*/ 0 h 461"/>
                  <a:gd name="T4" fmla="*/ 0 w 26"/>
                  <a:gd name="T5" fmla="*/ 0 h 461"/>
                  <a:gd name="T6" fmla="*/ 0 w 26"/>
                  <a:gd name="T7" fmla="*/ 0 h 461"/>
                  <a:gd name="T8" fmla="*/ 0 w 26"/>
                  <a:gd name="T9" fmla="*/ 0 h 461"/>
                  <a:gd name="T10" fmla="*/ 0 w 26"/>
                  <a:gd name="T11" fmla="*/ 0 h 461"/>
                  <a:gd name="T12" fmla="*/ 0 w 26"/>
                  <a:gd name="T13" fmla="*/ 0 h 461"/>
                  <a:gd name="T14" fmla="*/ 0 w 26"/>
                  <a:gd name="T15" fmla="*/ 0 h 461"/>
                  <a:gd name="T16" fmla="*/ 0 w 26"/>
                  <a:gd name="T17" fmla="*/ 0 h 461"/>
                  <a:gd name="T18" fmla="*/ 0 w 26"/>
                  <a:gd name="T19" fmla="*/ 0 h 461"/>
                  <a:gd name="T20" fmla="*/ 0 w 26"/>
                  <a:gd name="T21" fmla="*/ 0 h 461"/>
                  <a:gd name="T22" fmla="*/ 0 w 26"/>
                  <a:gd name="T23" fmla="*/ 0 h 461"/>
                  <a:gd name="T24" fmla="*/ 0 w 26"/>
                  <a:gd name="T25" fmla="*/ 0 h 461"/>
                  <a:gd name="T26" fmla="*/ 0 w 26"/>
                  <a:gd name="T27" fmla="*/ 0 h 461"/>
                  <a:gd name="T28" fmla="*/ 0 w 26"/>
                  <a:gd name="T29" fmla="*/ 0 h 461"/>
                  <a:gd name="T30" fmla="*/ 0 w 26"/>
                  <a:gd name="T31" fmla="*/ 0 h 461"/>
                  <a:gd name="T32" fmla="*/ 0 w 26"/>
                  <a:gd name="T33" fmla="*/ 0 h 461"/>
                  <a:gd name="T34" fmla="*/ 0 w 26"/>
                  <a:gd name="T35" fmla="*/ 0 h 461"/>
                  <a:gd name="T36" fmla="*/ 0 w 26"/>
                  <a:gd name="T37" fmla="*/ 0 h 4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61">
                    <a:moveTo>
                      <a:pt x="0" y="461"/>
                    </a:moveTo>
                    <a:lnTo>
                      <a:pt x="0" y="0"/>
                    </a:lnTo>
                    <a:lnTo>
                      <a:pt x="4" y="3"/>
                    </a:lnTo>
                    <a:lnTo>
                      <a:pt x="7" y="7"/>
                    </a:lnTo>
                    <a:lnTo>
                      <a:pt x="11" y="10"/>
                    </a:lnTo>
                    <a:lnTo>
                      <a:pt x="14" y="13"/>
                    </a:lnTo>
                    <a:lnTo>
                      <a:pt x="17" y="16"/>
                    </a:lnTo>
                    <a:lnTo>
                      <a:pt x="20" y="19"/>
                    </a:lnTo>
                    <a:lnTo>
                      <a:pt x="23" y="23"/>
                    </a:lnTo>
                    <a:lnTo>
                      <a:pt x="26" y="27"/>
                    </a:lnTo>
                    <a:lnTo>
                      <a:pt x="26" y="434"/>
                    </a:lnTo>
                    <a:lnTo>
                      <a:pt x="23" y="437"/>
                    </a:lnTo>
                    <a:lnTo>
                      <a:pt x="20" y="441"/>
                    </a:lnTo>
                    <a:lnTo>
                      <a:pt x="17" y="445"/>
                    </a:lnTo>
                    <a:lnTo>
                      <a:pt x="14" y="448"/>
                    </a:lnTo>
                    <a:lnTo>
                      <a:pt x="11" y="451"/>
                    </a:lnTo>
                    <a:lnTo>
                      <a:pt x="7" y="454"/>
                    </a:lnTo>
                    <a:lnTo>
                      <a:pt x="4" y="457"/>
                    </a:lnTo>
                    <a:lnTo>
                      <a:pt x="0" y="46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82" name="Freeform 1636"/>
              <p:cNvSpPr>
                <a:spLocks noChangeAspect="1"/>
              </p:cNvSpPr>
              <p:nvPr/>
            </p:nvSpPr>
            <p:spPr bwMode="auto">
              <a:xfrm>
                <a:off x="5473" y="1072"/>
                <a:ext cx="9" cy="145"/>
              </a:xfrm>
              <a:custGeom>
                <a:avLst/>
                <a:gdLst>
                  <a:gd name="T0" fmla="*/ 0 w 26"/>
                  <a:gd name="T1" fmla="*/ 0 h 435"/>
                  <a:gd name="T2" fmla="*/ 0 w 26"/>
                  <a:gd name="T3" fmla="*/ 0 h 435"/>
                  <a:gd name="T4" fmla="*/ 0 w 26"/>
                  <a:gd name="T5" fmla="*/ 0 h 435"/>
                  <a:gd name="T6" fmla="*/ 0 w 26"/>
                  <a:gd name="T7" fmla="*/ 0 h 435"/>
                  <a:gd name="T8" fmla="*/ 0 w 26"/>
                  <a:gd name="T9" fmla="*/ 0 h 435"/>
                  <a:gd name="T10" fmla="*/ 0 w 26"/>
                  <a:gd name="T11" fmla="*/ 0 h 435"/>
                  <a:gd name="T12" fmla="*/ 0 w 26"/>
                  <a:gd name="T13" fmla="*/ 0 h 435"/>
                  <a:gd name="T14" fmla="*/ 0 w 26"/>
                  <a:gd name="T15" fmla="*/ 0 h 435"/>
                  <a:gd name="T16" fmla="*/ 0 w 26"/>
                  <a:gd name="T17" fmla="*/ 0 h 435"/>
                  <a:gd name="T18" fmla="*/ 0 w 26"/>
                  <a:gd name="T19" fmla="*/ 0 h 435"/>
                  <a:gd name="T20" fmla="*/ 0 w 26"/>
                  <a:gd name="T21" fmla="*/ 0 h 435"/>
                  <a:gd name="T22" fmla="*/ 0 w 26"/>
                  <a:gd name="T23" fmla="*/ 0 h 435"/>
                  <a:gd name="T24" fmla="*/ 0 w 26"/>
                  <a:gd name="T25" fmla="*/ 0 h 435"/>
                  <a:gd name="T26" fmla="*/ 0 w 26"/>
                  <a:gd name="T27" fmla="*/ 0 h 435"/>
                  <a:gd name="T28" fmla="*/ 0 w 26"/>
                  <a:gd name="T29" fmla="*/ 0 h 435"/>
                  <a:gd name="T30" fmla="*/ 0 w 26"/>
                  <a:gd name="T31" fmla="*/ 0 h 435"/>
                  <a:gd name="T32" fmla="*/ 0 w 26"/>
                  <a:gd name="T33" fmla="*/ 0 h 435"/>
                  <a:gd name="T34" fmla="*/ 0 w 26"/>
                  <a:gd name="T35" fmla="*/ 0 h 435"/>
                  <a:gd name="T36" fmla="*/ 0 w 26"/>
                  <a:gd name="T37" fmla="*/ 0 h 4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35">
                    <a:moveTo>
                      <a:pt x="0" y="435"/>
                    </a:moveTo>
                    <a:lnTo>
                      <a:pt x="0" y="0"/>
                    </a:lnTo>
                    <a:lnTo>
                      <a:pt x="3" y="3"/>
                    </a:lnTo>
                    <a:lnTo>
                      <a:pt x="6" y="6"/>
                    </a:lnTo>
                    <a:lnTo>
                      <a:pt x="10" y="11"/>
                    </a:lnTo>
                    <a:lnTo>
                      <a:pt x="14" y="14"/>
                    </a:lnTo>
                    <a:lnTo>
                      <a:pt x="17" y="18"/>
                    </a:lnTo>
                    <a:lnTo>
                      <a:pt x="20" y="21"/>
                    </a:lnTo>
                    <a:lnTo>
                      <a:pt x="23" y="25"/>
                    </a:lnTo>
                    <a:lnTo>
                      <a:pt x="26" y="29"/>
                    </a:lnTo>
                    <a:lnTo>
                      <a:pt x="26" y="405"/>
                    </a:lnTo>
                    <a:lnTo>
                      <a:pt x="23" y="409"/>
                    </a:lnTo>
                    <a:lnTo>
                      <a:pt x="20" y="414"/>
                    </a:lnTo>
                    <a:lnTo>
                      <a:pt x="17" y="417"/>
                    </a:lnTo>
                    <a:lnTo>
                      <a:pt x="14" y="421"/>
                    </a:lnTo>
                    <a:lnTo>
                      <a:pt x="10" y="424"/>
                    </a:lnTo>
                    <a:lnTo>
                      <a:pt x="6" y="428"/>
                    </a:lnTo>
                    <a:lnTo>
                      <a:pt x="3" y="432"/>
                    </a:lnTo>
                    <a:lnTo>
                      <a:pt x="0" y="43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83" name="Freeform 1637"/>
              <p:cNvSpPr>
                <a:spLocks noChangeAspect="1"/>
              </p:cNvSpPr>
              <p:nvPr/>
            </p:nvSpPr>
            <p:spPr bwMode="auto">
              <a:xfrm>
                <a:off x="5477" y="1076"/>
                <a:ext cx="9" cy="136"/>
              </a:xfrm>
              <a:custGeom>
                <a:avLst/>
                <a:gdLst>
                  <a:gd name="T0" fmla="*/ 0 w 27"/>
                  <a:gd name="T1" fmla="*/ 0 h 407"/>
                  <a:gd name="T2" fmla="*/ 0 w 27"/>
                  <a:gd name="T3" fmla="*/ 0 h 407"/>
                  <a:gd name="T4" fmla="*/ 0 w 27"/>
                  <a:gd name="T5" fmla="*/ 0 h 407"/>
                  <a:gd name="T6" fmla="*/ 0 w 27"/>
                  <a:gd name="T7" fmla="*/ 0 h 407"/>
                  <a:gd name="T8" fmla="*/ 0 w 27"/>
                  <a:gd name="T9" fmla="*/ 0 h 407"/>
                  <a:gd name="T10" fmla="*/ 0 w 27"/>
                  <a:gd name="T11" fmla="*/ 0 h 407"/>
                  <a:gd name="T12" fmla="*/ 0 w 27"/>
                  <a:gd name="T13" fmla="*/ 0 h 407"/>
                  <a:gd name="T14" fmla="*/ 0 w 27"/>
                  <a:gd name="T15" fmla="*/ 0 h 407"/>
                  <a:gd name="T16" fmla="*/ 0 w 27"/>
                  <a:gd name="T17" fmla="*/ 0 h 407"/>
                  <a:gd name="T18" fmla="*/ 0 w 27"/>
                  <a:gd name="T19" fmla="*/ 0 h 407"/>
                  <a:gd name="T20" fmla="*/ 0 w 27"/>
                  <a:gd name="T21" fmla="*/ 0 h 407"/>
                  <a:gd name="T22" fmla="*/ 0 w 27"/>
                  <a:gd name="T23" fmla="*/ 0 h 407"/>
                  <a:gd name="T24" fmla="*/ 0 w 27"/>
                  <a:gd name="T25" fmla="*/ 0 h 407"/>
                  <a:gd name="T26" fmla="*/ 0 w 27"/>
                  <a:gd name="T27" fmla="*/ 0 h 407"/>
                  <a:gd name="T28" fmla="*/ 0 w 27"/>
                  <a:gd name="T29" fmla="*/ 0 h 407"/>
                  <a:gd name="T30" fmla="*/ 0 w 27"/>
                  <a:gd name="T31" fmla="*/ 0 h 407"/>
                  <a:gd name="T32" fmla="*/ 0 w 27"/>
                  <a:gd name="T33" fmla="*/ 0 h 407"/>
                  <a:gd name="T34" fmla="*/ 0 w 27"/>
                  <a:gd name="T35" fmla="*/ 0 h 407"/>
                  <a:gd name="T36" fmla="*/ 0 w 27"/>
                  <a:gd name="T37" fmla="*/ 0 h 40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07">
                    <a:moveTo>
                      <a:pt x="0" y="407"/>
                    </a:moveTo>
                    <a:lnTo>
                      <a:pt x="0" y="0"/>
                    </a:lnTo>
                    <a:lnTo>
                      <a:pt x="5" y="3"/>
                    </a:lnTo>
                    <a:lnTo>
                      <a:pt x="8" y="7"/>
                    </a:lnTo>
                    <a:lnTo>
                      <a:pt x="11" y="11"/>
                    </a:lnTo>
                    <a:lnTo>
                      <a:pt x="14" y="16"/>
                    </a:lnTo>
                    <a:lnTo>
                      <a:pt x="17" y="20"/>
                    </a:lnTo>
                    <a:lnTo>
                      <a:pt x="21" y="24"/>
                    </a:lnTo>
                    <a:lnTo>
                      <a:pt x="24" y="29"/>
                    </a:lnTo>
                    <a:lnTo>
                      <a:pt x="27" y="33"/>
                    </a:lnTo>
                    <a:lnTo>
                      <a:pt x="27" y="373"/>
                    </a:lnTo>
                    <a:lnTo>
                      <a:pt x="24" y="378"/>
                    </a:lnTo>
                    <a:lnTo>
                      <a:pt x="21" y="383"/>
                    </a:lnTo>
                    <a:lnTo>
                      <a:pt x="17" y="387"/>
                    </a:lnTo>
                    <a:lnTo>
                      <a:pt x="14" y="391"/>
                    </a:lnTo>
                    <a:lnTo>
                      <a:pt x="11" y="395"/>
                    </a:lnTo>
                    <a:lnTo>
                      <a:pt x="8" y="400"/>
                    </a:lnTo>
                    <a:lnTo>
                      <a:pt x="5" y="403"/>
                    </a:lnTo>
                    <a:lnTo>
                      <a:pt x="0" y="4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84" name="Freeform 1638"/>
              <p:cNvSpPr>
                <a:spLocks noChangeAspect="1"/>
              </p:cNvSpPr>
              <p:nvPr/>
            </p:nvSpPr>
            <p:spPr bwMode="auto">
              <a:xfrm>
                <a:off x="5482" y="1081"/>
                <a:ext cx="9" cy="126"/>
              </a:xfrm>
              <a:custGeom>
                <a:avLst/>
                <a:gdLst>
                  <a:gd name="T0" fmla="*/ 0 w 27"/>
                  <a:gd name="T1" fmla="*/ 0 h 376"/>
                  <a:gd name="T2" fmla="*/ 0 w 27"/>
                  <a:gd name="T3" fmla="*/ 0 h 376"/>
                  <a:gd name="T4" fmla="*/ 0 w 27"/>
                  <a:gd name="T5" fmla="*/ 0 h 376"/>
                  <a:gd name="T6" fmla="*/ 0 w 27"/>
                  <a:gd name="T7" fmla="*/ 0 h 376"/>
                  <a:gd name="T8" fmla="*/ 0 w 27"/>
                  <a:gd name="T9" fmla="*/ 0 h 376"/>
                  <a:gd name="T10" fmla="*/ 0 w 27"/>
                  <a:gd name="T11" fmla="*/ 0 h 376"/>
                  <a:gd name="T12" fmla="*/ 0 w 27"/>
                  <a:gd name="T13" fmla="*/ 0 h 376"/>
                  <a:gd name="T14" fmla="*/ 0 w 27"/>
                  <a:gd name="T15" fmla="*/ 0 h 376"/>
                  <a:gd name="T16" fmla="*/ 0 w 27"/>
                  <a:gd name="T17" fmla="*/ 0 h 376"/>
                  <a:gd name="T18" fmla="*/ 0 w 27"/>
                  <a:gd name="T19" fmla="*/ 0 h 376"/>
                  <a:gd name="T20" fmla="*/ 0 w 27"/>
                  <a:gd name="T21" fmla="*/ 0 h 376"/>
                  <a:gd name="T22" fmla="*/ 0 w 27"/>
                  <a:gd name="T23" fmla="*/ 0 h 376"/>
                  <a:gd name="T24" fmla="*/ 0 w 27"/>
                  <a:gd name="T25" fmla="*/ 0 h 376"/>
                  <a:gd name="T26" fmla="*/ 0 w 27"/>
                  <a:gd name="T27" fmla="*/ 0 h 376"/>
                  <a:gd name="T28" fmla="*/ 0 w 27"/>
                  <a:gd name="T29" fmla="*/ 0 h 376"/>
                  <a:gd name="T30" fmla="*/ 0 w 27"/>
                  <a:gd name="T31" fmla="*/ 0 h 376"/>
                  <a:gd name="T32" fmla="*/ 0 w 27"/>
                  <a:gd name="T33" fmla="*/ 0 h 376"/>
                  <a:gd name="T34" fmla="*/ 0 w 27"/>
                  <a:gd name="T35" fmla="*/ 0 h 376"/>
                  <a:gd name="T36" fmla="*/ 0 w 27"/>
                  <a:gd name="T37" fmla="*/ 0 h 3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376">
                    <a:moveTo>
                      <a:pt x="0" y="376"/>
                    </a:moveTo>
                    <a:lnTo>
                      <a:pt x="0" y="0"/>
                    </a:lnTo>
                    <a:lnTo>
                      <a:pt x="3" y="5"/>
                    </a:lnTo>
                    <a:lnTo>
                      <a:pt x="7" y="9"/>
                    </a:lnTo>
                    <a:lnTo>
                      <a:pt x="11" y="15"/>
                    </a:lnTo>
                    <a:lnTo>
                      <a:pt x="14" y="19"/>
                    </a:lnTo>
                    <a:lnTo>
                      <a:pt x="17" y="24"/>
                    </a:lnTo>
                    <a:lnTo>
                      <a:pt x="21" y="29"/>
                    </a:lnTo>
                    <a:lnTo>
                      <a:pt x="24" y="34"/>
                    </a:lnTo>
                    <a:lnTo>
                      <a:pt x="27" y="39"/>
                    </a:lnTo>
                    <a:lnTo>
                      <a:pt x="27" y="338"/>
                    </a:lnTo>
                    <a:lnTo>
                      <a:pt x="24" y="342"/>
                    </a:lnTo>
                    <a:lnTo>
                      <a:pt x="21" y="347"/>
                    </a:lnTo>
                    <a:lnTo>
                      <a:pt x="17" y="353"/>
                    </a:lnTo>
                    <a:lnTo>
                      <a:pt x="14" y="357"/>
                    </a:lnTo>
                    <a:lnTo>
                      <a:pt x="11" y="362"/>
                    </a:lnTo>
                    <a:lnTo>
                      <a:pt x="7" y="368"/>
                    </a:lnTo>
                    <a:lnTo>
                      <a:pt x="3" y="372"/>
                    </a:lnTo>
                    <a:lnTo>
                      <a:pt x="0" y="37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85" name="Freeform 1639"/>
              <p:cNvSpPr>
                <a:spLocks noChangeAspect="1"/>
              </p:cNvSpPr>
              <p:nvPr/>
            </p:nvSpPr>
            <p:spPr bwMode="auto">
              <a:xfrm>
                <a:off x="5486" y="1087"/>
                <a:ext cx="9" cy="114"/>
              </a:xfrm>
              <a:custGeom>
                <a:avLst/>
                <a:gdLst>
                  <a:gd name="T0" fmla="*/ 0 w 27"/>
                  <a:gd name="T1" fmla="*/ 0 h 340"/>
                  <a:gd name="T2" fmla="*/ 0 w 27"/>
                  <a:gd name="T3" fmla="*/ 0 h 340"/>
                  <a:gd name="T4" fmla="*/ 0 w 27"/>
                  <a:gd name="T5" fmla="*/ 0 h 340"/>
                  <a:gd name="T6" fmla="*/ 0 w 27"/>
                  <a:gd name="T7" fmla="*/ 0 h 340"/>
                  <a:gd name="T8" fmla="*/ 0 w 27"/>
                  <a:gd name="T9" fmla="*/ 0 h 340"/>
                  <a:gd name="T10" fmla="*/ 0 w 27"/>
                  <a:gd name="T11" fmla="*/ 0 h 340"/>
                  <a:gd name="T12" fmla="*/ 0 w 27"/>
                  <a:gd name="T13" fmla="*/ 0 h 340"/>
                  <a:gd name="T14" fmla="*/ 0 w 27"/>
                  <a:gd name="T15" fmla="*/ 0 h 340"/>
                  <a:gd name="T16" fmla="*/ 0 w 27"/>
                  <a:gd name="T17" fmla="*/ 0 h 340"/>
                  <a:gd name="T18" fmla="*/ 0 w 27"/>
                  <a:gd name="T19" fmla="*/ 0 h 340"/>
                  <a:gd name="T20" fmla="*/ 0 w 27"/>
                  <a:gd name="T21" fmla="*/ 0 h 340"/>
                  <a:gd name="T22" fmla="*/ 0 w 27"/>
                  <a:gd name="T23" fmla="*/ 0 h 340"/>
                  <a:gd name="T24" fmla="*/ 0 w 27"/>
                  <a:gd name="T25" fmla="*/ 0 h 340"/>
                  <a:gd name="T26" fmla="*/ 0 w 27"/>
                  <a:gd name="T27" fmla="*/ 0 h 340"/>
                  <a:gd name="T28" fmla="*/ 0 w 27"/>
                  <a:gd name="T29" fmla="*/ 0 h 340"/>
                  <a:gd name="T30" fmla="*/ 0 w 27"/>
                  <a:gd name="T31" fmla="*/ 0 h 340"/>
                  <a:gd name="T32" fmla="*/ 0 w 27"/>
                  <a:gd name="T33" fmla="*/ 0 h 340"/>
                  <a:gd name="T34" fmla="*/ 0 w 27"/>
                  <a:gd name="T35" fmla="*/ 0 h 340"/>
                  <a:gd name="T36" fmla="*/ 0 w 27"/>
                  <a:gd name="T37" fmla="*/ 0 h 3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340">
                    <a:moveTo>
                      <a:pt x="0" y="340"/>
                    </a:moveTo>
                    <a:lnTo>
                      <a:pt x="0" y="0"/>
                    </a:lnTo>
                    <a:lnTo>
                      <a:pt x="4" y="6"/>
                    </a:lnTo>
                    <a:lnTo>
                      <a:pt x="8" y="11"/>
                    </a:lnTo>
                    <a:lnTo>
                      <a:pt x="11" y="17"/>
                    </a:lnTo>
                    <a:lnTo>
                      <a:pt x="15" y="23"/>
                    </a:lnTo>
                    <a:lnTo>
                      <a:pt x="18" y="30"/>
                    </a:lnTo>
                    <a:lnTo>
                      <a:pt x="21" y="35"/>
                    </a:lnTo>
                    <a:lnTo>
                      <a:pt x="23" y="41"/>
                    </a:lnTo>
                    <a:lnTo>
                      <a:pt x="27" y="48"/>
                    </a:lnTo>
                    <a:lnTo>
                      <a:pt x="27" y="293"/>
                    </a:lnTo>
                    <a:lnTo>
                      <a:pt x="23" y="300"/>
                    </a:lnTo>
                    <a:lnTo>
                      <a:pt x="21" y="306"/>
                    </a:lnTo>
                    <a:lnTo>
                      <a:pt x="18" y="311"/>
                    </a:lnTo>
                    <a:lnTo>
                      <a:pt x="15" y="318"/>
                    </a:lnTo>
                    <a:lnTo>
                      <a:pt x="11" y="323"/>
                    </a:lnTo>
                    <a:lnTo>
                      <a:pt x="8" y="329"/>
                    </a:lnTo>
                    <a:lnTo>
                      <a:pt x="4" y="335"/>
                    </a:lnTo>
                    <a:lnTo>
                      <a:pt x="0" y="34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86" name="Freeform 1640"/>
              <p:cNvSpPr>
                <a:spLocks noChangeAspect="1"/>
              </p:cNvSpPr>
              <p:nvPr/>
            </p:nvSpPr>
            <p:spPr bwMode="auto">
              <a:xfrm>
                <a:off x="5491" y="1094"/>
                <a:ext cx="9" cy="100"/>
              </a:xfrm>
              <a:custGeom>
                <a:avLst/>
                <a:gdLst>
                  <a:gd name="T0" fmla="*/ 0 w 27"/>
                  <a:gd name="T1" fmla="*/ 0 h 299"/>
                  <a:gd name="T2" fmla="*/ 0 w 27"/>
                  <a:gd name="T3" fmla="*/ 0 h 299"/>
                  <a:gd name="T4" fmla="*/ 0 w 27"/>
                  <a:gd name="T5" fmla="*/ 0 h 299"/>
                  <a:gd name="T6" fmla="*/ 0 w 27"/>
                  <a:gd name="T7" fmla="*/ 0 h 299"/>
                  <a:gd name="T8" fmla="*/ 0 w 27"/>
                  <a:gd name="T9" fmla="*/ 0 h 299"/>
                  <a:gd name="T10" fmla="*/ 0 w 27"/>
                  <a:gd name="T11" fmla="*/ 0 h 299"/>
                  <a:gd name="T12" fmla="*/ 0 w 27"/>
                  <a:gd name="T13" fmla="*/ 0 h 299"/>
                  <a:gd name="T14" fmla="*/ 0 w 27"/>
                  <a:gd name="T15" fmla="*/ 0 h 299"/>
                  <a:gd name="T16" fmla="*/ 0 w 27"/>
                  <a:gd name="T17" fmla="*/ 0 h 299"/>
                  <a:gd name="T18" fmla="*/ 0 w 27"/>
                  <a:gd name="T19" fmla="*/ 0 h 299"/>
                  <a:gd name="T20" fmla="*/ 0 w 27"/>
                  <a:gd name="T21" fmla="*/ 0 h 299"/>
                  <a:gd name="T22" fmla="*/ 0 w 27"/>
                  <a:gd name="T23" fmla="*/ 0 h 299"/>
                  <a:gd name="T24" fmla="*/ 0 w 27"/>
                  <a:gd name="T25" fmla="*/ 0 h 299"/>
                  <a:gd name="T26" fmla="*/ 0 w 27"/>
                  <a:gd name="T27" fmla="*/ 0 h 299"/>
                  <a:gd name="T28" fmla="*/ 0 w 27"/>
                  <a:gd name="T29" fmla="*/ 0 h 299"/>
                  <a:gd name="T30" fmla="*/ 0 w 27"/>
                  <a:gd name="T31" fmla="*/ 0 h 299"/>
                  <a:gd name="T32" fmla="*/ 0 w 27"/>
                  <a:gd name="T33" fmla="*/ 0 h 299"/>
                  <a:gd name="T34" fmla="*/ 0 w 27"/>
                  <a:gd name="T35" fmla="*/ 0 h 299"/>
                  <a:gd name="T36" fmla="*/ 0 w 27"/>
                  <a:gd name="T37" fmla="*/ 0 h 29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299">
                    <a:moveTo>
                      <a:pt x="0" y="299"/>
                    </a:moveTo>
                    <a:lnTo>
                      <a:pt x="0" y="0"/>
                    </a:lnTo>
                    <a:lnTo>
                      <a:pt x="3" y="7"/>
                    </a:lnTo>
                    <a:lnTo>
                      <a:pt x="7" y="15"/>
                    </a:lnTo>
                    <a:lnTo>
                      <a:pt x="11" y="22"/>
                    </a:lnTo>
                    <a:lnTo>
                      <a:pt x="15" y="30"/>
                    </a:lnTo>
                    <a:lnTo>
                      <a:pt x="18" y="37"/>
                    </a:lnTo>
                    <a:lnTo>
                      <a:pt x="21" y="46"/>
                    </a:lnTo>
                    <a:lnTo>
                      <a:pt x="23" y="53"/>
                    </a:lnTo>
                    <a:lnTo>
                      <a:pt x="27" y="62"/>
                    </a:lnTo>
                    <a:lnTo>
                      <a:pt x="27" y="237"/>
                    </a:lnTo>
                    <a:lnTo>
                      <a:pt x="23" y="246"/>
                    </a:lnTo>
                    <a:lnTo>
                      <a:pt x="21" y="253"/>
                    </a:lnTo>
                    <a:lnTo>
                      <a:pt x="18" y="260"/>
                    </a:lnTo>
                    <a:lnTo>
                      <a:pt x="15" y="269"/>
                    </a:lnTo>
                    <a:lnTo>
                      <a:pt x="11" y="276"/>
                    </a:lnTo>
                    <a:lnTo>
                      <a:pt x="7" y="284"/>
                    </a:lnTo>
                    <a:lnTo>
                      <a:pt x="3" y="291"/>
                    </a:lnTo>
                    <a:lnTo>
                      <a:pt x="0" y="29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87" name="Freeform 1641"/>
              <p:cNvSpPr>
                <a:spLocks noChangeAspect="1"/>
              </p:cNvSpPr>
              <p:nvPr/>
            </p:nvSpPr>
            <p:spPr bwMode="auto">
              <a:xfrm>
                <a:off x="5495" y="1103"/>
                <a:ext cx="9" cy="82"/>
              </a:xfrm>
              <a:custGeom>
                <a:avLst/>
                <a:gdLst>
                  <a:gd name="T0" fmla="*/ 0 w 26"/>
                  <a:gd name="T1" fmla="*/ 0 h 245"/>
                  <a:gd name="T2" fmla="*/ 0 w 26"/>
                  <a:gd name="T3" fmla="*/ 0 h 245"/>
                  <a:gd name="T4" fmla="*/ 0 w 26"/>
                  <a:gd name="T5" fmla="*/ 0 h 245"/>
                  <a:gd name="T6" fmla="*/ 0 w 26"/>
                  <a:gd name="T7" fmla="*/ 0 h 245"/>
                  <a:gd name="T8" fmla="*/ 0 w 26"/>
                  <a:gd name="T9" fmla="*/ 0 h 245"/>
                  <a:gd name="T10" fmla="*/ 0 w 26"/>
                  <a:gd name="T11" fmla="*/ 0 h 245"/>
                  <a:gd name="T12" fmla="*/ 0 w 26"/>
                  <a:gd name="T13" fmla="*/ 0 h 245"/>
                  <a:gd name="T14" fmla="*/ 0 w 26"/>
                  <a:gd name="T15" fmla="*/ 0 h 245"/>
                  <a:gd name="T16" fmla="*/ 0 w 26"/>
                  <a:gd name="T17" fmla="*/ 0 h 245"/>
                  <a:gd name="T18" fmla="*/ 0 w 26"/>
                  <a:gd name="T19" fmla="*/ 0 h 245"/>
                  <a:gd name="T20" fmla="*/ 0 w 26"/>
                  <a:gd name="T21" fmla="*/ 0 h 245"/>
                  <a:gd name="T22" fmla="*/ 0 w 26"/>
                  <a:gd name="T23" fmla="*/ 0 h 245"/>
                  <a:gd name="T24" fmla="*/ 0 w 26"/>
                  <a:gd name="T25" fmla="*/ 0 h 245"/>
                  <a:gd name="T26" fmla="*/ 0 w 26"/>
                  <a:gd name="T27" fmla="*/ 0 h 245"/>
                  <a:gd name="T28" fmla="*/ 0 w 26"/>
                  <a:gd name="T29" fmla="*/ 0 h 245"/>
                  <a:gd name="T30" fmla="*/ 0 w 26"/>
                  <a:gd name="T31" fmla="*/ 0 h 245"/>
                  <a:gd name="T32" fmla="*/ 0 w 26"/>
                  <a:gd name="T33" fmla="*/ 0 h 245"/>
                  <a:gd name="T34" fmla="*/ 0 w 26"/>
                  <a:gd name="T35" fmla="*/ 0 h 245"/>
                  <a:gd name="T36" fmla="*/ 0 w 26"/>
                  <a:gd name="T37" fmla="*/ 0 h 24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245">
                    <a:moveTo>
                      <a:pt x="0" y="245"/>
                    </a:moveTo>
                    <a:lnTo>
                      <a:pt x="0" y="0"/>
                    </a:lnTo>
                    <a:lnTo>
                      <a:pt x="6" y="13"/>
                    </a:lnTo>
                    <a:lnTo>
                      <a:pt x="11" y="28"/>
                    </a:lnTo>
                    <a:lnTo>
                      <a:pt x="16" y="43"/>
                    </a:lnTo>
                    <a:lnTo>
                      <a:pt x="20" y="58"/>
                    </a:lnTo>
                    <a:lnTo>
                      <a:pt x="22" y="74"/>
                    </a:lnTo>
                    <a:lnTo>
                      <a:pt x="24" y="90"/>
                    </a:lnTo>
                    <a:lnTo>
                      <a:pt x="26" y="106"/>
                    </a:lnTo>
                    <a:lnTo>
                      <a:pt x="26" y="122"/>
                    </a:lnTo>
                    <a:lnTo>
                      <a:pt x="26" y="123"/>
                    </a:lnTo>
                    <a:lnTo>
                      <a:pt x="26" y="139"/>
                    </a:lnTo>
                    <a:lnTo>
                      <a:pt x="24" y="155"/>
                    </a:lnTo>
                    <a:lnTo>
                      <a:pt x="22" y="171"/>
                    </a:lnTo>
                    <a:lnTo>
                      <a:pt x="20" y="186"/>
                    </a:lnTo>
                    <a:lnTo>
                      <a:pt x="16" y="202"/>
                    </a:lnTo>
                    <a:lnTo>
                      <a:pt x="11" y="216"/>
                    </a:lnTo>
                    <a:lnTo>
                      <a:pt x="6" y="231"/>
                    </a:lnTo>
                    <a:lnTo>
                      <a:pt x="0" y="24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88" name="Freeform 1642"/>
              <p:cNvSpPr>
                <a:spLocks noChangeAspect="1"/>
              </p:cNvSpPr>
              <p:nvPr/>
            </p:nvSpPr>
            <p:spPr bwMode="auto">
              <a:xfrm>
                <a:off x="5500" y="1115"/>
                <a:ext cx="4" cy="58"/>
              </a:xfrm>
              <a:custGeom>
                <a:avLst/>
                <a:gdLst>
                  <a:gd name="T0" fmla="*/ 0 w 12"/>
                  <a:gd name="T1" fmla="*/ 0 h 175"/>
                  <a:gd name="T2" fmla="*/ 0 w 12"/>
                  <a:gd name="T3" fmla="*/ 0 h 175"/>
                  <a:gd name="T4" fmla="*/ 0 w 12"/>
                  <a:gd name="T5" fmla="*/ 0 h 175"/>
                  <a:gd name="T6" fmla="*/ 0 w 12"/>
                  <a:gd name="T7" fmla="*/ 0 h 175"/>
                  <a:gd name="T8" fmla="*/ 0 w 12"/>
                  <a:gd name="T9" fmla="*/ 0 h 175"/>
                  <a:gd name="T10" fmla="*/ 0 w 12"/>
                  <a:gd name="T11" fmla="*/ 0 h 175"/>
                  <a:gd name="T12" fmla="*/ 0 w 12"/>
                  <a:gd name="T13" fmla="*/ 0 h 175"/>
                  <a:gd name="T14" fmla="*/ 0 w 12"/>
                  <a:gd name="T15" fmla="*/ 0 h 175"/>
                  <a:gd name="T16" fmla="*/ 0 w 12"/>
                  <a:gd name="T17" fmla="*/ 0 h 175"/>
                  <a:gd name="T18" fmla="*/ 0 w 12"/>
                  <a:gd name="T19" fmla="*/ 0 h 175"/>
                  <a:gd name="T20" fmla="*/ 0 w 12"/>
                  <a:gd name="T21" fmla="*/ 0 h 175"/>
                  <a:gd name="T22" fmla="*/ 0 w 12"/>
                  <a:gd name="T23" fmla="*/ 0 h 175"/>
                  <a:gd name="T24" fmla="*/ 0 w 12"/>
                  <a:gd name="T25" fmla="*/ 0 h 175"/>
                  <a:gd name="T26" fmla="*/ 0 w 12"/>
                  <a:gd name="T27" fmla="*/ 0 h 175"/>
                  <a:gd name="T28" fmla="*/ 0 w 12"/>
                  <a:gd name="T29" fmla="*/ 0 h 175"/>
                  <a:gd name="T30" fmla="*/ 0 w 12"/>
                  <a:gd name="T31" fmla="*/ 0 h 175"/>
                  <a:gd name="T32" fmla="*/ 0 w 12"/>
                  <a:gd name="T33" fmla="*/ 0 h 175"/>
                  <a:gd name="T34" fmla="*/ 0 w 12"/>
                  <a:gd name="T35" fmla="*/ 0 h 1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2" h="175">
                    <a:moveTo>
                      <a:pt x="0" y="175"/>
                    </a:moveTo>
                    <a:lnTo>
                      <a:pt x="0" y="0"/>
                    </a:lnTo>
                    <a:lnTo>
                      <a:pt x="2" y="10"/>
                    </a:lnTo>
                    <a:lnTo>
                      <a:pt x="5" y="21"/>
                    </a:lnTo>
                    <a:lnTo>
                      <a:pt x="7" y="32"/>
                    </a:lnTo>
                    <a:lnTo>
                      <a:pt x="9" y="42"/>
                    </a:lnTo>
                    <a:lnTo>
                      <a:pt x="10" y="54"/>
                    </a:lnTo>
                    <a:lnTo>
                      <a:pt x="11" y="65"/>
                    </a:lnTo>
                    <a:lnTo>
                      <a:pt x="12" y="76"/>
                    </a:lnTo>
                    <a:lnTo>
                      <a:pt x="12" y="87"/>
                    </a:lnTo>
                    <a:lnTo>
                      <a:pt x="12" y="99"/>
                    </a:lnTo>
                    <a:lnTo>
                      <a:pt x="11" y="110"/>
                    </a:lnTo>
                    <a:lnTo>
                      <a:pt x="10" y="121"/>
                    </a:lnTo>
                    <a:lnTo>
                      <a:pt x="9" y="133"/>
                    </a:lnTo>
                    <a:lnTo>
                      <a:pt x="7" y="143"/>
                    </a:lnTo>
                    <a:lnTo>
                      <a:pt x="5" y="154"/>
                    </a:lnTo>
                    <a:lnTo>
                      <a:pt x="2" y="164"/>
                    </a:lnTo>
                    <a:lnTo>
                      <a:pt x="0" y="17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89" name="Freeform 1643"/>
              <p:cNvSpPr>
                <a:spLocks noChangeAspect="1"/>
              </p:cNvSpPr>
              <p:nvPr/>
            </p:nvSpPr>
            <p:spPr bwMode="auto">
              <a:xfrm>
                <a:off x="5504" y="1144"/>
                <a:ext cx="1" cy="1"/>
              </a:xfrm>
              <a:custGeom>
                <a:avLst/>
                <a:gdLst>
                  <a:gd name="T0" fmla="*/ 0 w 1"/>
                  <a:gd name="T1" fmla="*/ 1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1 h 1"/>
                  <a:gd name="T26" fmla="*/ 0 w 1"/>
                  <a:gd name="T27" fmla="*/ 1 h 1"/>
                  <a:gd name="T28" fmla="*/ 0 w 1"/>
                  <a:gd name="T29" fmla="*/ 1 h 1"/>
                  <a:gd name="T30" fmla="*/ 0 w 1"/>
                  <a:gd name="T31" fmla="*/ 1 h 1"/>
                  <a:gd name="T32" fmla="*/ 0 w 1"/>
                  <a:gd name="T33" fmla="*/ 1 h 1"/>
                  <a:gd name="T34" fmla="*/ 0 w 1"/>
                  <a:gd name="T35" fmla="*/ 1 h 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 h="1">
                    <a:moveTo>
                      <a:pt x="0" y="1"/>
                    </a:moveTo>
                    <a:lnTo>
                      <a:pt x="0" y="0"/>
                    </a:lnTo>
                    <a:lnTo>
                      <a:pt x="0" y="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90" name="Freeform 1644"/>
              <p:cNvSpPr>
                <a:spLocks noChangeAspect="1"/>
              </p:cNvSpPr>
              <p:nvPr/>
            </p:nvSpPr>
            <p:spPr bwMode="auto">
              <a:xfrm>
                <a:off x="5282" y="1039"/>
                <a:ext cx="222" cy="210"/>
              </a:xfrm>
              <a:custGeom>
                <a:avLst/>
                <a:gdLst>
                  <a:gd name="T0" fmla="*/ 0 w 664"/>
                  <a:gd name="T1" fmla="*/ 0 h 629"/>
                  <a:gd name="T2" fmla="*/ 0 w 664"/>
                  <a:gd name="T3" fmla="*/ 0 h 629"/>
                  <a:gd name="T4" fmla="*/ 0 w 664"/>
                  <a:gd name="T5" fmla="*/ 0 h 629"/>
                  <a:gd name="T6" fmla="*/ 0 w 664"/>
                  <a:gd name="T7" fmla="*/ 0 h 629"/>
                  <a:gd name="T8" fmla="*/ 0 w 664"/>
                  <a:gd name="T9" fmla="*/ 0 h 629"/>
                  <a:gd name="T10" fmla="*/ 0 w 664"/>
                  <a:gd name="T11" fmla="*/ 0 h 629"/>
                  <a:gd name="T12" fmla="*/ 0 w 664"/>
                  <a:gd name="T13" fmla="*/ 0 h 629"/>
                  <a:gd name="T14" fmla="*/ 0 w 664"/>
                  <a:gd name="T15" fmla="*/ 0 h 629"/>
                  <a:gd name="T16" fmla="*/ 0 w 664"/>
                  <a:gd name="T17" fmla="*/ 0 h 629"/>
                  <a:gd name="T18" fmla="*/ 0 w 664"/>
                  <a:gd name="T19" fmla="*/ 0 h 629"/>
                  <a:gd name="T20" fmla="*/ 0 w 664"/>
                  <a:gd name="T21" fmla="*/ 0 h 629"/>
                  <a:gd name="T22" fmla="*/ 0 w 664"/>
                  <a:gd name="T23" fmla="*/ 0 h 629"/>
                  <a:gd name="T24" fmla="*/ 0 w 664"/>
                  <a:gd name="T25" fmla="*/ 0 h 629"/>
                  <a:gd name="T26" fmla="*/ 0 w 664"/>
                  <a:gd name="T27" fmla="*/ 0 h 629"/>
                  <a:gd name="T28" fmla="*/ 0 w 664"/>
                  <a:gd name="T29" fmla="*/ 0 h 629"/>
                  <a:gd name="T30" fmla="*/ 0 w 664"/>
                  <a:gd name="T31" fmla="*/ 0 h 629"/>
                  <a:gd name="T32" fmla="*/ 0 w 664"/>
                  <a:gd name="T33" fmla="*/ 0 h 629"/>
                  <a:gd name="T34" fmla="*/ 0 w 664"/>
                  <a:gd name="T35" fmla="*/ 0 h 629"/>
                  <a:gd name="T36" fmla="*/ 0 w 664"/>
                  <a:gd name="T37" fmla="*/ 0 h 629"/>
                  <a:gd name="T38" fmla="*/ 0 w 664"/>
                  <a:gd name="T39" fmla="*/ 0 h 629"/>
                  <a:gd name="T40" fmla="*/ 0 w 664"/>
                  <a:gd name="T41" fmla="*/ 0 h 629"/>
                  <a:gd name="T42" fmla="*/ 0 w 664"/>
                  <a:gd name="T43" fmla="*/ 0 h 629"/>
                  <a:gd name="T44" fmla="*/ 0 w 664"/>
                  <a:gd name="T45" fmla="*/ 0 h 629"/>
                  <a:gd name="T46" fmla="*/ 0 w 664"/>
                  <a:gd name="T47" fmla="*/ 0 h 629"/>
                  <a:gd name="T48" fmla="*/ 0 w 664"/>
                  <a:gd name="T49" fmla="*/ 0 h 629"/>
                  <a:gd name="T50" fmla="*/ 0 w 664"/>
                  <a:gd name="T51" fmla="*/ 0 h 629"/>
                  <a:gd name="T52" fmla="*/ 0 w 664"/>
                  <a:gd name="T53" fmla="*/ 0 h 629"/>
                  <a:gd name="T54" fmla="*/ 0 w 664"/>
                  <a:gd name="T55" fmla="*/ 0 h 629"/>
                  <a:gd name="T56" fmla="*/ 0 w 664"/>
                  <a:gd name="T57" fmla="*/ 0 h 629"/>
                  <a:gd name="T58" fmla="*/ 0 w 664"/>
                  <a:gd name="T59" fmla="*/ 0 h 629"/>
                  <a:gd name="T60" fmla="*/ 0 w 664"/>
                  <a:gd name="T61" fmla="*/ 0 h 629"/>
                  <a:gd name="T62" fmla="*/ 0 w 664"/>
                  <a:gd name="T63" fmla="*/ 0 h 629"/>
                  <a:gd name="T64" fmla="*/ 0 w 664"/>
                  <a:gd name="T65" fmla="*/ 0 h 629"/>
                  <a:gd name="T66" fmla="*/ 0 w 664"/>
                  <a:gd name="T67" fmla="*/ 0 h 629"/>
                  <a:gd name="T68" fmla="*/ 0 w 664"/>
                  <a:gd name="T69" fmla="*/ 0 h 629"/>
                  <a:gd name="T70" fmla="*/ 0 w 664"/>
                  <a:gd name="T71" fmla="*/ 0 h 629"/>
                  <a:gd name="T72" fmla="*/ 0 w 664"/>
                  <a:gd name="T73" fmla="*/ 0 h 629"/>
                  <a:gd name="T74" fmla="*/ 0 w 664"/>
                  <a:gd name="T75" fmla="*/ 0 h 629"/>
                  <a:gd name="T76" fmla="*/ 0 w 664"/>
                  <a:gd name="T77" fmla="*/ 0 h 629"/>
                  <a:gd name="T78" fmla="*/ 0 w 664"/>
                  <a:gd name="T79" fmla="*/ 0 h 629"/>
                  <a:gd name="T80" fmla="*/ 0 w 664"/>
                  <a:gd name="T81" fmla="*/ 0 h 629"/>
                  <a:gd name="T82" fmla="*/ 0 w 664"/>
                  <a:gd name="T83" fmla="*/ 0 h 629"/>
                  <a:gd name="T84" fmla="*/ 0 w 664"/>
                  <a:gd name="T85" fmla="*/ 0 h 6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64" h="629">
                    <a:moveTo>
                      <a:pt x="332" y="629"/>
                    </a:moveTo>
                    <a:lnTo>
                      <a:pt x="349" y="629"/>
                    </a:lnTo>
                    <a:lnTo>
                      <a:pt x="366" y="627"/>
                    </a:lnTo>
                    <a:lnTo>
                      <a:pt x="383" y="625"/>
                    </a:lnTo>
                    <a:lnTo>
                      <a:pt x="399" y="622"/>
                    </a:lnTo>
                    <a:lnTo>
                      <a:pt x="415" y="619"/>
                    </a:lnTo>
                    <a:lnTo>
                      <a:pt x="431" y="615"/>
                    </a:lnTo>
                    <a:lnTo>
                      <a:pt x="446" y="609"/>
                    </a:lnTo>
                    <a:lnTo>
                      <a:pt x="461" y="604"/>
                    </a:lnTo>
                    <a:lnTo>
                      <a:pt x="476" y="598"/>
                    </a:lnTo>
                    <a:lnTo>
                      <a:pt x="491" y="590"/>
                    </a:lnTo>
                    <a:lnTo>
                      <a:pt x="505" y="583"/>
                    </a:lnTo>
                    <a:lnTo>
                      <a:pt x="517" y="574"/>
                    </a:lnTo>
                    <a:lnTo>
                      <a:pt x="531" y="566"/>
                    </a:lnTo>
                    <a:lnTo>
                      <a:pt x="543" y="556"/>
                    </a:lnTo>
                    <a:lnTo>
                      <a:pt x="556" y="547"/>
                    </a:lnTo>
                    <a:lnTo>
                      <a:pt x="567" y="536"/>
                    </a:lnTo>
                    <a:lnTo>
                      <a:pt x="578" y="525"/>
                    </a:lnTo>
                    <a:lnTo>
                      <a:pt x="589" y="514"/>
                    </a:lnTo>
                    <a:lnTo>
                      <a:pt x="598" y="502"/>
                    </a:lnTo>
                    <a:lnTo>
                      <a:pt x="608" y="489"/>
                    </a:lnTo>
                    <a:lnTo>
                      <a:pt x="616" y="478"/>
                    </a:lnTo>
                    <a:lnTo>
                      <a:pt x="624" y="464"/>
                    </a:lnTo>
                    <a:lnTo>
                      <a:pt x="631" y="450"/>
                    </a:lnTo>
                    <a:lnTo>
                      <a:pt x="638" y="436"/>
                    </a:lnTo>
                    <a:lnTo>
                      <a:pt x="644" y="422"/>
                    </a:lnTo>
                    <a:lnTo>
                      <a:pt x="649" y="407"/>
                    </a:lnTo>
                    <a:lnTo>
                      <a:pt x="654" y="393"/>
                    </a:lnTo>
                    <a:lnTo>
                      <a:pt x="658" y="378"/>
                    </a:lnTo>
                    <a:lnTo>
                      <a:pt x="660" y="362"/>
                    </a:lnTo>
                    <a:lnTo>
                      <a:pt x="662" y="347"/>
                    </a:lnTo>
                    <a:lnTo>
                      <a:pt x="664" y="331"/>
                    </a:lnTo>
                    <a:lnTo>
                      <a:pt x="664" y="314"/>
                    </a:lnTo>
                    <a:lnTo>
                      <a:pt x="664" y="298"/>
                    </a:lnTo>
                    <a:lnTo>
                      <a:pt x="662" y="282"/>
                    </a:lnTo>
                    <a:lnTo>
                      <a:pt x="660" y="266"/>
                    </a:lnTo>
                    <a:lnTo>
                      <a:pt x="658" y="251"/>
                    </a:lnTo>
                    <a:lnTo>
                      <a:pt x="654" y="236"/>
                    </a:lnTo>
                    <a:lnTo>
                      <a:pt x="649" y="221"/>
                    </a:lnTo>
                    <a:lnTo>
                      <a:pt x="644" y="206"/>
                    </a:lnTo>
                    <a:lnTo>
                      <a:pt x="638" y="192"/>
                    </a:lnTo>
                    <a:lnTo>
                      <a:pt x="631" y="178"/>
                    </a:lnTo>
                    <a:lnTo>
                      <a:pt x="624" y="165"/>
                    </a:lnTo>
                    <a:lnTo>
                      <a:pt x="616" y="151"/>
                    </a:lnTo>
                    <a:lnTo>
                      <a:pt x="608" y="138"/>
                    </a:lnTo>
                    <a:lnTo>
                      <a:pt x="598" y="127"/>
                    </a:lnTo>
                    <a:lnTo>
                      <a:pt x="589" y="115"/>
                    </a:lnTo>
                    <a:lnTo>
                      <a:pt x="578" y="103"/>
                    </a:lnTo>
                    <a:lnTo>
                      <a:pt x="567" y="92"/>
                    </a:lnTo>
                    <a:lnTo>
                      <a:pt x="556" y="82"/>
                    </a:lnTo>
                    <a:lnTo>
                      <a:pt x="543" y="71"/>
                    </a:lnTo>
                    <a:lnTo>
                      <a:pt x="531" y="63"/>
                    </a:lnTo>
                    <a:lnTo>
                      <a:pt x="517" y="53"/>
                    </a:lnTo>
                    <a:lnTo>
                      <a:pt x="505" y="46"/>
                    </a:lnTo>
                    <a:lnTo>
                      <a:pt x="491" y="39"/>
                    </a:lnTo>
                    <a:lnTo>
                      <a:pt x="476" y="31"/>
                    </a:lnTo>
                    <a:lnTo>
                      <a:pt x="461" y="25"/>
                    </a:lnTo>
                    <a:lnTo>
                      <a:pt x="446" y="19"/>
                    </a:lnTo>
                    <a:lnTo>
                      <a:pt x="431" y="14"/>
                    </a:lnTo>
                    <a:lnTo>
                      <a:pt x="415" y="10"/>
                    </a:lnTo>
                    <a:lnTo>
                      <a:pt x="399" y="7"/>
                    </a:lnTo>
                    <a:lnTo>
                      <a:pt x="383" y="3"/>
                    </a:lnTo>
                    <a:lnTo>
                      <a:pt x="366" y="1"/>
                    </a:lnTo>
                    <a:lnTo>
                      <a:pt x="349" y="0"/>
                    </a:lnTo>
                    <a:lnTo>
                      <a:pt x="332" y="0"/>
                    </a:lnTo>
                    <a:lnTo>
                      <a:pt x="315" y="0"/>
                    </a:lnTo>
                    <a:lnTo>
                      <a:pt x="298" y="1"/>
                    </a:lnTo>
                    <a:lnTo>
                      <a:pt x="282" y="3"/>
                    </a:lnTo>
                    <a:lnTo>
                      <a:pt x="265" y="7"/>
                    </a:lnTo>
                    <a:lnTo>
                      <a:pt x="249" y="10"/>
                    </a:lnTo>
                    <a:lnTo>
                      <a:pt x="234" y="14"/>
                    </a:lnTo>
                    <a:lnTo>
                      <a:pt x="218" y="19"/>
                    </a:lnTo>
                    <a:lnTo>
                      <a:pt x="203" y="25"/>
                    </a:lnTo>
                    <a:lnTo>
                      <a:pt x="189" y="31"/>
                    </a:lnTo>
                    <a:lnTo>
                      <a:pt x="175" y="39"/>
                    </a:lnTo>
                    <a:lnTo>
                      <a:pt x="161" y="46"/>
                    </a:lnTo>
                    <a:lnTo>
                      <a:pt x="147" y="53"/>
                    </a:lnTo>
                    <a:lnTo>
                      <a:pt x="134" y="63"/>
                    </a:lnTo>
                    <a:lnTo>
                      <a:pt x="122" y="71"/>
                    </a:lnTo>
                    <a:lnTo>
                      <a:pt x="110" y="82"/>
                    </a:lnTo>
                    <a:lnTo>
                      <a:pt x="98" y="92"/>
                    </a:lnTo>
                    <a:lnTo>
                      <a:pt x="87" y="103"/>
                    </a:lnTo>
                    <a:lnTo>
                      <a:pt x="77" y="115"/>
                    </a:lnTo>
                    <a:lnTo>
                      <a:pt x="66" y="127"/>
                    </a:lnTo>
                    <a:lnTo>
                      <a:pt x="58" y="138"/>
                    </a:lnTo>
                    <a:lnTo>
                      <a:pt x="49" y="151"/>
                    </a:lnTo>
                    <a:lnTo>
                      <a:pt x="41" y="165"/>
                    </a:lnTo>
                    <a:lnTo>
                      <a:pt x="33" y="178"/>
                    </a:lnTo>
                    <a:lnTo>
                      <a:pt x="27" y="192"/>
                    </a:lnTo>
                    <a:lnTo>
                      <a:pt x="20" y="206"/>
                    </a:lnTo>
                    <a:lnTo>
                      <a:pt x="15" y="221"/>
                    </a:lnTo>
                    <a:lnTo>
                      <a:pt x="11" y="236"/>
                    </a:lnTo>
                    <a:lnTo>
                      <a:pt x="8" y="251"/>
                    </a:lnTo>
                    <a:lnTo>
                      <a:pt x="4" y="266"/>
                    </a:lnTo>
                    <a:lnTo>
                      <a:pt x="2" y="282"/>
                    </a:lnTo>
                    <a:lnTo>
                      <a:pt x="1" y="298"/>
                    </a:lnTo>
                    <a:lnTo>
                      <a:pt x="0" y="314"/>
                    </a:lnTo>
                    <a:lnTo>
                      <a:pt x="1" y="331"/>
                    </a:lnTo>
                    <a:lnTo>
                      <a:pt x="2" y="347"/>
                    </a:lnTo>
                    <a:lnTo>
                      <a:pt x="4" y="362"/>
                    </a:lnTo>
                    <a:lnTo>
                      <a:pt x="8" y="378"/>
                    </a:lnTo>
                    <a:lnTo>
                      <a:pt x="11" y="393"/>
                    </a:lnTo>
                    <a:lnTo>
                      <a:pt x="15" y="407"/>
                    </a:lnTo>
                    <a:lnTo>
                      <a:pt x="20" y="422"/>
                    </a:lnTo>
                    <a:lnTo>
                      <a:pt x="27" y="436"/>
                    </a:lnTo>
                    <a:lnTo>
                      <a:pt x="33" y="450"/>
                    </a:lnTo>
                    <a:lnTo>
                      <a:pt x="41" y="464"/>
                    </a:lnTo>
                    <a:lnTo>
                      <a:pt x="49" y="478"/>
                    </a:lnTo>
                    <a:lnTo>
                      <a:pt x="58" y="489"/>
                    </a:lnTo>
                    <a:lnTo>
                      <a:pt x="66" y="502"/>
                    </a:lnTo>
                    <a:lnTo>
                      <a:pt x="77" y="514"/>
                    </a:lnTo>
                    <a:lnTo>
                      <a:pt x="87" y="525"/>
                    </a:lnTo>
                    <a:lnTo>
                      <a:pt x="98" y="536"/>
                    </a:lnTo>
                    <a:lnTo>
                      <a:pt x="110" y="547"/>
                    </a:lnTo>
                    <a:lnTo>
                      <a:pt x="122" y="556"/>
                    </a:lnTo>
                    <a:lnTo>
                      <a:pt x="134" y="566"/>
                    </a:lnTo>
                    <a:lnTo>
                      <a:pt x="147" y="574"/>
                    </a:lnTo>
                    <a:lnTo>
                      <a:pt x="161" y="583"/>
                    </a:lnTo>
                    <a:lnTo>
                      <a:pt x="175" y="590"/>
                    </a:lnTo>
                    <a:lnTo>
                      <a:pt x="189" y="598"/>
                    </a:lnTo>
                    <a:lnTo>
                      <a:pt x="203" y="604"/>
                    </a:lnTo>
                    <a:lnTo>
                      <a:pt x="218" y="609"/>
                    </a:lnTo>
                    <a:lnTo>
                      <a:pt x="234" y="615"/>
                    </a:lnTo>
                    <a:lnTo>
                      <a:pt x="249" y="619"/>
                    </a:lnTo>
                    <a:lnTo>
                      <a:pt x="265" y="622"/>
                    </a:lnTo>
                    <a:lnTo>
                      <a:pt x="282" y="625"/>
                    </a:lnTo>
                    <a:lnTo>
                      <a:pt x="298" y="627"/>
                    </a:lnTo>
                    <a:lnTo>
                      <a:pt x="315" y="629"/>
                    </a:lnTo>
                    <a:lnTo>
                      <a:pt x="332" y="629"/>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sp>
            <p:nvSpPr>
              <p:cNvPr id="389691" name="Freeform 1645"/>
              <p:cNvSpPr>
                <a:spLocks noChangeAspect="1"/>
              </p:cNvSpPr>
              <p:nvPr/>
            </p:nvSpPr>
            <p:spPr bwMode="auto">
              <a:xfrm>
                <a:off x="5208" y="1157"/>
                <a:ext cx="14" cy="14"/>
              </a:xfrm>
              <a:custGeom>
                <a:avLst/>
                <a:gdLst>
                  <a:gd name="T0" fmla="*/ 0 w 41"/>
                  <a:gd name="T1" fmla="*/ 0 h 42"/>
                  <a:gd name="T2" fmla="*/ 0 w 41"/>
                  <a:gd name="T3" fmla="*/ 0 h 42"/>
                  <a:gd name="T4" fmla="*/ 0 w 41"/>
                  <a:gd name="T5" fmla="*/ 0 h 42"/>
                  <a:gd name="T6" fmla="*/ 0 w 41"/>
                  <a:gd name="T7" fmla="*/ 0 h 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1" h="42">
                    <a:moveTo>
                      <a:pt x="41" y="0"/>
                    </a:moveTo>
                    <a:lnTo>
                      <a:pt x="0" y="42"/>
                    </a:lnTo>
                    <a:lnTo>
                      <a:pt x="0" y="0"/>
                    </a:lnTo>
                    <a:lnTo>
                      <a:pt x="41"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92" name="Freeform 1646"/>
              <p:cNvSpPr>
                <a:spLocks noChangeAspect="1"/>
              </p:cNvSpPr>
              <p:nvPr/>
            </p:nvSpPr>
            <p:spPr bwMode="auto">
              <a:xfrm>
                <a:off x="5208" y="1157"/>
                <a:ext cx="24" cy="23"/>
              </a:xfrm>
              <a:custGeom>
                <a:avLst/>
                <a:gdLst>
                  <a:gd name="T0" fmla="*/ 0 w 70"/>
                  <a:gd name="T1" fmla="*/ 0 h 71"/>
                  <a:gd name="T2" fmla="*/ 0 w 70"/>
                  <a:gd name="T3" fmla="*/ 0 h 71"/>
                  <a:gd name="T4" fmla="*/ 0 w 70"/>
                  <a:gd name="T5" fmla="*/ 0 h 71"/>
                  <a:gd name="T6" fmla="*/ 0 w 70"/>
                  <a:gd name="T7" fmla="*/ 0 h 71"/>
                  <a:gd name="T8" fmla="*/ 0 w 70"/>
                  <a:gd name="T9" fmla="*/ 0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71">
                    <a:moveTo>
                      <a:pt x="0" y="12"/>
                    </a:moveTo>
                    <a:lnTo>
                      <a:pt x="11" y="0"/>
                    </a:lnTo>
                    <a:lnTo>
                      <a:pt x="70" y="0"/>
                    </a:lnTo>
                    <a:lnTo>
                      <a:pt x="0" y="71"/>
                    </a:lnTo>
                    <a:lnTo>
                      <a:pt x="0" y="1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93" name="Freeform 1647"/>
              <p:cNvSpPr>
                <a:spLocks noChangeAspect="1"/>
              </p:cNvSpPr>
              <p:nvPr/>
            </p:nvSpPr>
            <p:spPr bwMode="auto">
              <a:xfrm>
                <a:off x="5208" y="1157"/>
                <a:ext cx="34" cy="33"/>
              </a:xfrm>
              <a:custGeom>
                <a:avLst/>
                <a:gdLst>
                  <a:gd name="T0" fmla="*/ 0 w 100"/>
                  <a:gd name="T1" fmla="*/ 0 h 100"/>
                  <a:gd name="T2" fmla="*/ 0 w 100"/>
                  <a:gd name="T3" fmla="*/ 0 h 100"/>
                  <a:gd name="T4" fmla="*/ 0 w 100"/>
                  <a:gd name="T5" fmla="*/ 0 h 100"/>
                  <a:gd name="T6" fmla="*/ 0 w 100"/>
                  <a:gd name="T7" fmla="*/ 0 h 100"/>
                  <a:gd name="T8" fmla="*/ 0 w 100"/>
                  <a:gd name="T9" fmla="*/ 0 h 100"/>
                  <a:gd name="T10" fmla="*/ 0 w 100"/>
                  <a:gd name="T11" fmla="*/ 0 h 1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100">
                    <a:moveTo>
                      <a:pt x="0" y="42"/>
                    </a:moveTo>
                    <a:lnTo>
                      <a:pt x="41" y="0"/>
                    </a:lnTo>
                    <a:lnTo>
                      <a:pt x="93" y="0"/>
                    </a:lnTo>
                    <a:lnTo>
                      <a:pt x="100" y="0"/>
                    </a:lnTo>
                    <a:lnTo>
                      <a:pt x="0" y="100"/>
                    </a:lnTo>
                    <a:lnTo>
                      <a:pt x="0" y="4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94" name="Freeform 1648"/>
              <p:cNvSpPr>
                <a:spLocks noChangeAspect="1"/>
              </p:cNvSpPr>
              <p:nvPr/>
            </p:nvSpPr>
            <p:spPr bwMode="auto">
              <a:xfrm>
                <a:off x="5208" y="1157"/>
                <a:ext cx="44" cy="43"/>
              </a:xfrm>
              <a:custGeom>
                <a:avLst/>
                <a:gdLst>
                  <a:gd name="T0" fmla="*/ 0 w 130"/>
                  <a:gd name="T1" fmla="*/ 0 h 130"/>
                  <a:gd name="T2" fmla="*/ 0 w 130"/>
                  <a:gd name="T3" fmla="*/ 0 h 130"/>
                  <a:gd name="T4" fmla="*/ 0 w 130"/>
                  <a:gd name="T5" fmla="*/ 0 h 130"/>
                  <a:gd name="T6" fmla="*/ 0 w 130"/>
                  <a:gd name="T7" fmla="*/ 0 h 130"/>
                  <a:gd name="T8" fmla="*/ 0 w 130"/>
                  <a:gd name="T9" fmla="*/ 0 h 130"/>
                  <a:gd name="T10" fmla="*/ 0 w 130"/>
                  <a:gd name="T11" fmla="*/ 0 h 1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0" h="130">
                    <a:moveTo>
                      <a:pt x="0" y="71"/>
                    </a:moveTo>
                    <a:lnTo>
                      <a:pt x="70" y="0"/>
                    </a:lnTo>
                    <a:lnTo>
                      <a:pt x="93" y="0"/>
                    </a:lnTo>
                    <a:lnTo>
                      <a:pt x="130" y="0"/>
                    </a:lnTo>
                    <a:lnTo>
                      <a:pt x="0" y="130"/>
                    </a:lnTo>
                    <a:lnTo>
                      <a:pt x="0" y="7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95" name="Freeform 1649"/>
              <p:cNvSpPr>
                <a:spLocks noChangeAspect="1"/>
              </p:cNvSpPr>
              <p:nvPr/>
            </p:nvSpPr>
            <p:spPr bwMode="auto">
              <a:xfrm>
                <a:off x="5208" y="1157"/>
                <a:ext cx="53" cy="53"/>
              </a:xfrm>
              <a:custGeom>
                <a:avLst/>
                <a:gdLst>
                  <a:gd name="T0" fmla="*/ 0 w 159"/>
                  <a:gd name="T1" fmla="*/ 0 h 160"/>
                  <a:gd name="T2" fmla="*/ 0 w 159"/>
                  <a:gd name="T3" fmla="*/ 0 h 160"/>
                  <a:gd name="T4" fmla="*/ 0 w 159"/>
                  <a:gd name="T5" fmla="*/ 0 h 160"/>
                  <a:gd name="T6" fmla="*/ 0 w 159"/>
                  <a:gd name="T7" fmla="*/ 0 h 160"/>
                  <a:gd name="T8" fmla="*/ 0 w 159"/>
                  <a:gd name="T9" fmla="*/ 0 h 1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 h="160">
                    <a:moveTo>
                      <a:pt x="0" y="100"/>
                    </a:moveTo>
                    <a:lnTo>
                      <a:pt x="100" y="0"/>
                    </a:lnTo>
                    <a:lnTo>
                      <a:pt x="159" y="0"/>
                    </a:lnTo>
                    <a:lnTo>
                      <a:pt x="0" y="160"/>
                    </a:lnTo>
                    <a:lnTo>
                      <a:pt x="0" y="1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96" name="Freeform 1650"/>
              <p:cNvSpPr>
                <a:spLocks noChangeAspect="1"/>
              </p:cNvSpPr>
              <p:nvPr/>
            </p:nvSpPr>
            <p:spPr bwMode="auto">
              <a:xfrm>
                <a:off x="5208" y="1157"/>
                <a:ext cx="63" cy="63"/>
              </a:xfrm>
              <a:custGeom>
                <a:avLst/>
                <a:gdLst>
                  <a:gd name="T0" fmla="*/ 0 w 189"/>
                  <a:gd name="T1" fmla="*/ 0 h 189"/>
                  <a:gd name="T2" fmla="*/ 0 w 189"/>
                  <a:gd name="T3" fmla="*/ 0 h 189"/>
                  <a:gd name="T4" fmla="*/ 0 w 189"/>
                  <a:gd name="T5" fmla="*/ 0 h 189"/>
                  <a:gd name="T6" fmla="*/ 0 w 189"/>
                  <a:gd name="T7" fmla="*/ 0 h 189"/>
                  <a:gd name="T8" fmla="*/ 0 w 189"/>
                  <a:gd name="T9" fmla="*/ 0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 h="189">
                    <a:moveTo>
                      <a:pt x="0" y="130"/>
                    </a:moveTo>
                    <a:lnTo>
                      <a:pt x="130" y="0"/>
                    </a:lnTo>
                    <a:lnTo>
                      <a:pt x="189" y="0"/>
                    </a:lnTo>
                    <a:lnTo>
                      <a:pt x="0" y="189"/>
                    </a:lnTo>
                    <a:lnTo>
                      <a:pt x="0" y="13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97" name="Freeform 1651"/>
              <p:cNvSpPr>
                <a:spLocks noChangeAspect="1"/>
              </p:cNvSpPr>
              <p:nvPr/>
            </p:nvSpPr>
            <p:spPr bwMode="auto">
              <a:xfrm>
                <a:off x="5208" y="1157"/>
                <a:ext cx="73" cy="73"/>
              </a:xfrm>
              <a:custGeom>
                <a:avLst/>
                <a:gdLst>
                  <a:gd name="T0" fmla="*/ 0 w 218"/>
                  <a:gd name="T1" fmla="*/ 0 h 219"/>
                  <a:gd name="T2" fmla="*/ 0 w 218"/>
                  <a:gd name="T3" fmla="*/ 0 h 219"/>
                  <a:gd name="T4" fmla="*/ 0 w 218"/>
                  <a:gd name="T5" fmla="*/ 0 h 219"/>
                  <a:gd name="T6" fmla="*/ 0 w 218"/>
                  <a:gd name="T7" fmla="*/ 0 h 219"/>
                  <a:gd name="T8" fmla="*/ 0 w 218"/>
                  <a:gd name="T9" fmla="*/ 0 h 2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 h="219">
                    <a:moveTo>
                      <a:pt x="0" y="160"/>
                    </a:moveTo>
                    <a:lnTo>
                      <a:pt x="159" y="0"/>
                    </a:lnTo>
                    <a:lnTo>
                      <a:pt x="218" y="0"/>
                    </a:lnTo>
                    <a:lnTo>
                      <a:pt x="0" y="219"/>
                    </a:lnTo>
                    <a:lnTo>
                      <a:pt x="0" y="16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98" name="Freeform 1652"/>
              <p:cNvSpPr>
                <a:spLocks noChangeAspect="1"/>
              </p:cNvSpPr>
              <p:nvPr/>
            </p:nvSpPr>
            <p:spPr bwMode="auto">
              <a:xfrm>
                <a:off x="5208" y="1157"/>
                <a:ext cx="83" cy="82"/>
              </a:xfrm>
              <a:custGeom>
                <a:avLst/>
                <a:gdLst>
                  <a:gd name="T0" fmla="*/ 0 w 248"/>
                  <a:gd name="T1" fmla="*/ 0 h 248"/>
                  <a:gd name="T2" fmla="*/ 0 w 248"/>
                  <a:gd name="T3" fmla="*/ 0 h 248"/>
                  <a:gd name="T4" fmla="*/ 0 w 248"/>
                  <a:gd name="T5" fmla="*/ 0 h 248"/>
                  <a:gd name="T6" fmla="*/ 0 w 248"/>
                  <a:gd name="T7" fmla="*/ 0 h 248"/>
                  <a:gd name="T8" fmla="*/ 0 w 248"/>
                  <a:gd name="T9" fmla="*/ 0 h 2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8" h="248">
                    <a:moveTo>
                      <a:pt x="0" y="189"/>
                    </a:moveTo>
                    <a:lnTo>
                      <a:pt x="189" y="0"/>
                    </a:lnTo>
                    <a:lnTo>
                      <a:pt x="248" y="0"/>
                    </a:lnTo>
                    <a:lnTo>
                      <a:pt x="0" y="248"/>
                    </a:lnTo>
                    <a:lnTo>
                      <a:pt x="0" y="1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99" name="Freeform 1653"/>
              <p:cNvSpPr>
                <a:spLocks noChangeAspect="1"/>
              </p:cNvSpPr>
              <p:nvPr/>
            </p:nvSpPr>
            <p:spPr bwMode="auto">
              <a:xfrm>
                <a:off x="5208" y="1157"/>
                <a:ext cx="93" cy="92"/>
              </a:xfrm>
              <a:custGeom>
                <a:avLst/>
                <a:gdLst>
                  <a:gd name="T0" fmla="*/ 0 w 278"/>
                  <a:gd name="T1" fmla="*/ 0 h 278"/>
                  <a:gd name="T2" fmla="*/ 0 w 278"/>
                  <a:gd name="T3" fmla="*/ 0 h 278"/>
                  <a:gd name="T4" fmla="*/ 0 w 278"/>
                  <a:gd name="T5" fmla="*/ 0 h 278"/>
                  <a:gd name="T6" fmla="*/ 0 w 278"/>
                  <a:gd name="T7" fmla="*/ 0 h 278"/>
                  <a:gd name="T8" fmla="*/ 0 w 278"/>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8" h="278">
                    <a:moveTo>
                      <a:pt x="0" y="219"/>
                    </a:moveTo>
                    <a:lnTo>
                      <a:pt x="218" y="0"/>
                    </a:lnTo>
                    <a:lnTo>
                      <a:pt x="278" y="0"/>
                    </a:lnTo>
                    <a:lnTo>
                      <a:pt x="0" y="278"/>
                    </a:lnTo>
                    <a:lnTo>
                      <a:pt x="0" y="21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00" name="Freeform 1654"/>
              <p:cNvSpPr>
                <a:spLocks noChangeAspect="1"/>
              </p:cNvSpPr>
              <p:nvPr/>
            </p:nvSpPr>
            <p:spPr bwMode="auto">
              <a:xfrm>
                <a:off x="5208" y="1157"/>
                <a:ext cx="103" cy="102"/>
              </a:xfrm>
              <a:custGeom>
                <a:avLst/>
                <a:gdLst>
                  <a:gd name="T0" fmla="*/ 0 w 307"/>
                  <a:gd name="T1" fmla="*/ 0 h 307"/>
                  <a:gd name="T2" fmla="*/ 0 w 307"/>
                  <a:gd name="T3" fmla="*/ 0 h 307"/>
                  <a:gd name="T4" fmla="*/ 0 w 307"/>
                  <a:gd name="T5" fmla="*/ 0 h 307"/>
                  <a:gd name="T6" fmla="*/ 0 w 307"/>
                  <a:gd name="T7" fmla="*/ 0 h 307"/>
                  <a:gd name="T8" fmla="*/ 0 w 307"/>
                  <a:gd name="T9" fmla="*/ 0 h 3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7" h="307">
                    <a:moveTo>
                      <a:pt x="0" y="248"/>
                    </a:moveTo>
                    <a:lnTo>
                      <a:pt x="248" y="0"/>
                    </a:lnTo>
                    <a:lnTo>
                      <a:pt x="307" y="0"/>
                    </a:lnTo>
                    <a:lnTo>
                      <a:pt x="0" y="307"/>
                    </a:lnTo>
                    <a:lnTo>
                      <a:pt x="0" y="2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01" name="Freeform 1655"/>
              <p:cNvSpPr>
                <a:spLocks noChangeAspect="1"/>
              </p:cNvSpPr>
              <p:nvPr/>
            </p:nvSpPr>
            <p:spPr bwMode="auto">
              <a:xfrm>
                <a:off x="5208" y="1157"/>
                <a:ext cx="113" cy="105"/>
              </a:xfrm>
              <a:custGeom>
                <a:avLst/>
                <a:gdLst>
                  <a:gd name="T0" fmla="*/ 0 w 337"/>
                  <a:gd name="T1" fmla="*/ 0 h 315"/>
                  <a:gd name="T2" fmla="*/ 0 w 337"/>
                  <a:gd name="T3" fmla="*/ 0 h 315"/>
                  <a:gd name="T4" fmla="*/ 0 w 337"/>
                  <a:gd name="T5" fmla="*/ 0 h 315"/>
                  <a:gd name="T6" fmla="*/ 0 w 337"/>
                  <a:gd name="T7" fmla="*/ 0 h 315"/>
                  <a:gd name="T8" fmla="*/ 0 w 337"/>
                  <a:gd name="T9" fmla="*/ 0 h 315"/>
                  <a:gd name="T10" fmla="*/ 0 w 337"/>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7" h="315">
                    <a:moveTo>
                      <a:pt x="0" y="278"/>
                    </a:moveTo>
                    <a:lnTo>
                      <a:pt x="278" y="0"/>
                    </a:lnTo>
                    <a:lnTo>
                      <a:pt x="337" y="0"/>
                    </a:lnTo>
                    <a:lnTo>
                      <a:pt x="22" y="315"/>
                    </a:lnTo>
                    <a:lnTo>
                      <a:pt x="0" y="315"/>
                    </a:lnTo>
                    <a:lnTo>
                      <a:pt x="0" y="27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02" name="Freeform 1656"/>
              <p:cNvSpPr>
                <a:spLocks noChangeAspect="1"/>
              </p:cNvSpPr>
              <p:nvPr/>
            </p:nvSpPr>
            <p:spPr bwMode="auto">
              <a:xfrm>
                <a:off x="5208" y="1157"/>
                <a:ext cx="122" cy="105"/>
              </a:xfrm>
              <a:custGeom>
                <a:avLst/>
                <a:gdLst>
                  <a:gd name="T0" fmla="*/ 0 w 366"/>
                  <a:gd name="T1" fmla="*/ 0 h 315"/>
                  <a:gd name="T2" fmla="*/ 0 w 366"/>
                  <a:gd name="T3" fmla="*/ 0 h 315"/>
                  <a:gd name="T4" fmla="*/ 0 w 366"/>
                  <a:gd name="T5" fmla="*/ 0 h 315"/>
                  <a:gd name="T6" fmla="*/ 0 w 366"/>
                  <a:gd name="T7" fmla="*/ 0 h 315"/>
                  <a:gd name="T8" fmla="*/ 0 w 366"/>
                  <a:gd name="T9" fmla="*/ 0 h 315"/>
                  <a:gd name="T10" fmla="*/ 0 w 366"/>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66" h="315">
                    <a:moveTo>
                      <a:pt x="0" y="307"/>
                    </a:moveTo>
                    <a:lnTo>
                      <a:pt x="307" y="0"/>
                    </a:lnTo>
                    <a:lnTo>
                      <a:pt x="366" y="0"/>
                    </a:lnTo>
                    <a:lnTo>
                      <a:pt x="52" y="315"/>
                    </a:lnTo>
                    <a:lnTo>
                      <a:pt x="0" y="315"/>
                    </a:lnTo>
                    <a:lnTo>
                      <a:pt x="0" y="3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03" name="Freeform 1657"/>
              <p:cNvSpPr>
                <a:spLocks noChangeAspect="1"/>
              </p:cNvSpPr>
              <p:nvPr/>
            </p:nvSpPr>
            <p:spPr bwMode="auto">
              <a:xfrm>
                <a:off x="5216" y="1157"/>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04" name="Freeform 1658"/>
              <p:cNvSpPr>
                <a:spLocks noChangeAspect="1"/>
              </p:cNvSpPr>
              <p:nvPr/>
            </p:nvSpPr>
            <p:spPr bwMode="auto">
              <a:xfrm>
                <a:off x="5226"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05" name="Freeform 1659"/>
              <p:cNvSpPr>
                <a:spLocks noChangeAspect="1"/>
              </p:cNvSpPr>
              <p:nvPr/>
            </p:nvSpPr>
            <p:spPr bwMode="auto">
              <a:xfrm>
                <a:off x="5236"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06" name="Freeform 1660"/>
              <p:cNvSpPr>
                <a:spLocks noChangeAspect="1"/>
              </p:cNvSpPr>
              <p:nvPr/>
            </p:nvSpPr>
            <p:spPr bwMode="auto">
              <a:xfrm>
                <a:off x="5245"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07" name="Freeform 1661"/>
              <p:cNvSpPr>
                <a:spLocks noChangeAspect="1"/>
              </p:cNvSpPr>
              <p:nvPr/>
            </p:nvSpPr>
            <p:spPr bwMode="auto">
              <a:xfrm>
                <a:off x="5255"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08" name="Freeform 1662"/>
              <p:cNvSpPr>
                <a:spLocks noChangeAspect="1"/>
              </p:cNvSpPr>
              <p:nvPr/>
            </p:nvSpPr>
            <p:spPr bwMode="auto">
              <a:xfrm>
                <a:off x="5265"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w 374"/>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74" h="315">
                    <a:moveTo>
                      <a:pt x="0" y="315"/>
                    </a:moveTo>
                    <a:lnTo>
                      <a:pt x="315" y="0"/>
                    </a:lnTo>
                    <a:lnTo>
                      <a:pt x="374" y="0"/>
                    </a:lnTo>
                    <a:lnTo>
                      <a:pt x="60" y="315"/>
                    </a:lnTo>
                    <a:lnTo>
                      <a:pt x="47"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09" name="Freeform 1663"/>
              <p:cNvSpPr>
                <a:spLocks noChangeAspect="1"/>
              </p:cNvSpPr>
              <p:nvPr/>
            </p:nvSpPr>
            <p:spPr bwMode="auto">
              <a:xfrm>
                <a:off x="5275"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w 373"/>
                  <a:gd name="T11" fmla="*/ 0 h 315"/>
                  <a:gd name="T12" fmla="*/ 0 w 373"/>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73" h="315">
                    <a:moveTo>
                      <a:pt x="0" y="315"/>
                    </a:moveTo>
                    <a:lnTo>
                      <a:pt x="314" y="0"/>
                    </a:lnTo>
                    <a:lnTo>
                      <a:pt x="361" y="0"/>
                    </a:lnTo>
                    <a:lnTo>
                      <a:pt x="373" y="0"/>
                    </a:lnTo>
                    <a:lnTo>
                      <a:pt x="58" y="315"/>
                    </a:lnTo>
                    <a:lnTo>
                      <a:pt x="17"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10" name="Freeform 1664"/>
              <p:cNvSpPr>
                <a:spLocks noChangeAspect="1"/>
              </p:cNvSpPr>
              <p:nvPr/>
            </p:nvSpPr>
            <p:spPr bwMode="auto">
              <a:xfrm>
                <a:off x="5285"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w 373"/>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73" h="315">
                    <a:moveTo>
                      <a:pt x="0" y="315"/>
                    </a:moveTo>
                    <a:lnTo>
                      <a:pt x="314" y="0"/>
                    </a:lnTo>
                    <a:lnTo>
                      <a:pt x="331"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11" name="Freeform 1665"/>
              <p:cNvSpPr>
                <a:spLocks noChangeAspect="1"/>
              </p:cNvSpPr>
              <p:nvPr/>
            </p:nvSpPr>
            <p:spPr bwMode="auto">
              <a:xfrm>
                <a:off x="5294"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12" name="Freeform 1666"/>
              <p:cNvSpPr>
                <a:spLocks noChangeAspect="1"/>
              </p:cNvSpPr>
              <p:nvPr/>
            </p:nvSpPr>
            <p:spPr bwMode="auto">
              <a:xfrm>
                <a:off x="5304"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13" name="Freeform 1667"/>
              <p:cNvSpPr>
                <a:spLocks noChangeAspect="1"/>
              </p:cNvSpPr>
              <p:nvPr/>
            </p:nvSpPr>
            <p:spPr bwMode="auto">
              <a:xfrm>
                <a:off x="5314"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14" name="Freeform 1668"/>
              <p:cNvSpPr>
                <a:spLocks noChangeAspect="1"/>
              </p:cNvSpPr>
              <p:nvPr/>
            </p:nvSpPr>
            <p:spPr bwMode="auto">
              <a:xfrm>
                <a:off x="5324" y="1157"/>
                <a:ext cx="125"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15" name="Freeform 1669"/>
              <p:cNvSpPr>
                <a:spLocks noChangeAspect="1"/>
              </p:cNvSpPr>
              <p:nvPr/>
            </p:nvSpPr>
            <p:spPr bwMode="auto">
              <a:xfrm>
                <a:off x="5334" y="1157"/>
                <a:ext cx="125"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16" name="Freeform 1670"/>
              <p:cNvSpPr>
                <a:spLocks noChangeAspect="1"/>
              </p:cNvSpPr>
              <p:nvPr/>
            </p:nvSpPr>
            <p:spPr bwMode="auto">
              <a:xfrm>
                <a:off x="5344"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17" name="Freeform 1671"/>
              <p:cNvSpPr>
                <a:spLocks noChangeAspect="1"/>
              </p:cNvSpPr>
              <p:nvPr/>
            </p:nvSpPr>
            <p:spPr bwMode="auto">
              <a:xfrm>
                <a:off x="5354" y="1157"/>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18" name="Freeform 1672"/>
              <p:cNvSpPr>
                <a:spLocks noChangeAspect="1"/>
              </p:cNvSpPr>
              <p:nvPr/>
            </p:nvSpPr>
            <p:spPr bwMode="auto">
              <a:xfrm>
                <a:off x="5364"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5" y="0"/>
                    </a:lnTo>
                    <a:lnTo>
                      <a:pt x="373"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19" name="Freeform 1673"/>
              <p:cNvSpPr>
                <a:spLocks noChangeAspect="1"/>
              </p:cNvSpPr>
              <p:nvPr/>
            </p:nvSpPr>
            <p:spPr bwMode="auto">
              <a:xfrm>
                <a:off x="5374"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20" name="Freeform 1674"/>
              <p:cNvSpPr>
                <a:spLocks noChangeAspect="1"/>
              </p:cNvSpPr>
              <p:nvPr/>
            </p:nvSpPr>
            <p:spPr bwMode="auto">
              <a:xfrm>
                <a:off x="5384"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3"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21" name="Freeform 1675"/>
              <p:cNvSpPr>
                <a:spLocks noChangeAspect="1"/>
              </p:cNvSpPr>
              <p:nvPr/>
            </p:nvSpPr>
            <p:spPr bwMode="auto">
              <a:xfrm>
                <a:off x="5393"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22" name="Freeform 1676"/>
              <p:cNvSpPr>
                <a:spLocks noChangeAspect="1"/>
              </p:cNvSpPr>
              <p:nvPr/>
            </p:nvSpPr>
            <p:spPr bwMode="auto">
              <a:xfrm>
                <a:off x="5403"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23" name="Freeform 1677"/>
              <p:cNvSpPr>
                <a:spLocks noChangeAspect="1"/>
              </p:cNvSpPr>
              <p:nvPr/>
            </p:nvSpPr>
            <p:spPr bwMode="auto">
              <a:xfrm>
                <a:off x="5413"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5" y="0"/>
                    </a:lnTo>
                    <a:lnTo>
                      <a:pt x="373"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24" name="Freeform 1678"/>
              <p:cNvSpPr>
                <a:spLocks noChangeAspect="1"/>
              </p:cNvSpPr>
              <p:nvPr/>
            </p:nvSpPr>
            <p:spPr bwMode="auto">
              <a:xfrm>
                <a:off x="5423"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5"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25" name="Freeform 1679"/>
              <p:cNvSpPr>
                <a:spLocks noChangeAspect="1"/>
              </p:cNvSpPr>
              <p:nvPr/>
            </p:nvSpPr>
            <p:spPr bwMode="auto">
              <a:xfrm>
                <a:off x="5433" y="1157"/>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4"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26" name="Freeform 1680"/>
              <p:cNvSpPr>
                <a:spLocks noChangeAspect="1"/>
              </p:cNvSpPr>
              <p:nvPr/>
            </p:nvSpPr>
            <p:spPr bwMode="auto">
              <a:xfrm>
                <a:off x="5442"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27" name="Freeform 1681"/>
              <p:cNvSpPr>
                <a:spLocks noChangeAspect="1"/>
              </p:cNvSpPr>
              <p:nvPr/>
            </p:nvSpPr>
            <p:spPr bwMode="auto">
              <a:xfrm>
                <a:off x="5452"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28" name="Freeform 1682"/>
              <p:cNvSpPr>
                <a:spLocks noChangeAspect="1"/>
              </p:cNvSpPr>
              <p:nvPr/>
            </p:nvSpPr>
            <p:spPr bwMode="auto">
              <a:xfrm>
                <a:off x="5462" y="1157"/>
                <a:ext cx="122" cy="105"/>
              </a:xfrm>
              <a:custGeom>
                <a:avLst/>
                <a:gdLst>
                  <a:gd name="T0" fmla="*/ 0 w 366"/>
                  <a:gd name="T1" fmla="*/ 0 h 315"/>
                  <a:gd name="T2" fmla="*/ 0 w 366"/>
                  <a:gd name="T3" fmla="*/ 0 h 315"/>
                  <a:gd name="T4" fmla="*/ 0 w 366"/>
                  <a:gd name="T5" fmla="*/ 0 h 315"/>
                  <a:gd name="T6" fmla="*/ 0 w 366"/>
                  <a:gd name="T7" fmla="*/ 0 h 315"/>
                  <a:gd name="T8" fmla="*/ 0 w 366"/>
                  <a:gd name="T9" fmla="*/ 0 h 315"/>
                  <a:gd name="T10" fmla="*/ 0 w 366"/>
                  <a:gd name="T11" fmla="*/ 0 h 315"/>
                  <a:gd name="T12" fmla="*/ 0 w 366"/>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6" h="315">
                    <a:moveTo>
                      <a:pt x="0" y="315"/>
                    </a:moveTo>
                    <a:lnTo>
                      <a:pt x="315" y="0"/>
                    </a:lnTo>
                    <a:lnTo>
                      <a:pt x="366" y="0"/>
                    </a:lnTo>
                    <a:lnTo>
                      <a:pt x="366" y="9"/>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29" name="Freeform 1683"/>
              <p:cNvSpPr>
                <a:spLocks noChangeAspect="1"/>
              </p:cNvSpPr>
              <p:nvPr/>
            </p:nvSpPr>
            <p:spPr bwMode="auto">
              <a:xfrm>
                <a:off x="5472" y="1157"/>
                <a:ext cx="112" cy="105"/>
              </a:xfrm>
              <a:custGeom>
                <a:avLst/>
                <a:gdLst>
                  <a:gd name="T0" fmla="*/ 0 w 336"/>
                  <a:gd name="T1" fmla="*/ 0 h 315"/>
                  <a:gd name="T2" fmla="*/ 0 w 336"/>
                  <a:gd name="T3" fmla="*/ 0 h 315"/>
                  <a:gd name="T4" fmla="*/ 0 w 336"/>
                  <a:gd name="T5" fmla="*/ 0 h 315"/>
                  <a:gd name="T6" fmla="*/ 0 w 336"/>
                  <a:gd name="T7" fmla="*/ 0 h 315"/>
                  <a:gd name="T8" fmla="*/ 0 w 336"/>
                  <a:gd name="T9" fmla="*/ 0 h 315"/>
                  <a:gd name="T10" fmla="*/ 0 w 336"/>
                  <a:gd name="T11" fmla="*/ 0 h 315"/>
                  <a:gd name="T12" fmla="*/ 0 w 336"/>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15">
                    <a:moveTo>
                      <a:pt x="0" y="315"/>
                    </a:moveTo>
                    <a:lnTo>
                      <a:pt x="315" y="0"/>
                    </a:lnTo>
                    <a:lnTo>
                      <a:pt x="336" y="0"/>
                    </a:lnTo>
                    <a:lnTo>
                      <a:pt x="336" y="37"/>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30" name="Freeform 1684"/>
              <p:cNvSpPr>
                <a:spLocks noChangeAspect="1"/>
              </p:cNvSpPr>
              <p:nvPr/>
            </p:nvSpPr>
            <p:spPr bwMode="auto">
              <a:xfrm>
                <a:off x="5482" y="1160"/>
                <a:ext cx="102" cy="102"/>
              </a:xfrm>
              <a:custGeom>
                <a:avLst/>
                <a:gdLst>
                  <a:gd name="T0" fmla="*/ 0 w 307"/>
                  <a:gd name="T1" fmla="*/ 0 h 306"/>
                  <a:gd name="T2" fmla="*/ 0 w 307"/>
                  <a:gd name="T3" fmla="*/ 0 h 306"/>
                  <a:gd name="T4" fmla="*/ 0 w 307"/>
                  <a:gd name="T5" fmla="*/ 0 h 306"/>
                  <a:gd name="T6" fmla="*/ 0 w 307"/>
                  <a:gd name="T7" fmla="*/ 0 h 306"/>
                  <a:gd name="T8" fmla="*/ 0 w 307"/>
                  <a:gd name="T9" fmla="*/ 0 h 3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7" h="306">
                    <a:moveTo>
                      <a:pt x="0" y="306"/>
                    </a:moveTo>
                    <a:lnTo>
                      <a:pt x="307" y="0"/>
                    </a:lnTo>
                    <a:lnTo>
                      <a:pt x="307" y="58"/>
                    </a:lnTo>
                    <a:lnTo>
                      <a:pt x="59" y="306"/>
                    </a:lnTo>
                    <a:lnTo>
                      <a:pt x="0" y="30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31" name="Freeform 1685"/>
              <p:cNvSpPr>
                <a:spLocks noChangeAspect="1"/>
              </p:cNvSpPr>
              <p:nvPr/>
            </p:nvSpPr>
            <p:spPr bwMode="auto">
              <a:xfrm>
                <a:off x="5492" y="1169"/>
                <a:ext cx="92" cy="93"/>
              </a:xfrm>
              <a:custGeom>
                <a:avLst/>
                <a:gdLst>
                  <a:gd name="T0" fmla="*/ 0 w 277"/>
                  <a:gd name="T1" fmla="*/ 0 h 278"/>
                  <a:gd name="T2" fmla="*/ 0 w 277"/>
                  <a:gd name="T3" fmla="*/ 0 h 278"/>
                  <a:gd name="T4" fmla="*/ 0 w 277"/>
                  <a:gd name="T5" fmla="*/ 0 h 278"/>
                  <a:gd name="T6" fmla="*/ 0 w 277"/>
                  <a:gd name="T7" fmla="*/ 0 h 278"/>
                  <a:gd name="T8" fmla="*/ 0 w 277"/>
                  <a:gd name="T9" fmla="*/ 0 h 278"/>
                  <a:gd name="T10" fmla="*/ 0 w 277"/>
                  <a:gd name="T11" fmla="*/ 0 h 27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7" h="278">
                    <a:moveTo>
                      <a:pt x="0" y="278"/>
                    </a:moveTo>
                    <a:lnTo>
                      <a:pt x="277" y="0"/>
                    </a:lnTo>
                    <a:lnTo>
                      <a:pt x="277" y="60"/>
                    </a:lnTo>
                    <a:lnTo>
                      <a:pt x="59" y="278"/>
                    </a:lnTo>
                    <a:lnTo>
                      <a:pt x="37" y="278"/>
                    </a:lnTo>
                    <a:lnTo>
                      <a:pt x="0" y="27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32" name="Freeform 1686"/>
              <p:cNvSpPr>
                <a:spLocks noChangeAspect="1"/>
              </p:cNvSpPr>
              <p:nvPr/>
            </p:nvSpPr>
            <p:spPr bwMode="auto">
              <a:xfrm>
                <a:off x="5502" y="1179"/>
                <a:ext cx="82" cy="83"/>
              </a:xfrm>
              <a:custGeom>
                <a:avLst/>
                <a:gdLst>
                  <a:gd name="T0" fmla="*/ 0 w 248"/>
                  <a:gd name="T1" fmla="*/ 0 h 248"/>
                  <a:gd name="T2" fmla="*/ 0 w 248"/>
                  <a:gd name="T3" fmla="*/ 0 h 248"/>
                  <a:gd name="T4" fmla="*/ 0 w 248"/>
                  <a:gd name="T5" fmla="*/ 0 h 248"/>
                  <a:gd name="T6" fmla="*/ 0 w 248"/>
                  <a:gd name="T7" fmla="*/ 0 h 248"/>
                  <a:gd name="T8" fmla="*/ 0 w 248"/>
                  <a:gd name="T9" fmla="*/ 0 h 248"/>
                  <a:gd name="T10" fmla="*/ 0 w 248"/>
                  <a:gd name="T11" fmla="*/ 0 h 2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8" h="248">
                    <a:moveTo>
                      <a:pt x="0" y="248"/>
                    </a:moveTo>
                    <a:lnTo>
                      <a:pt x="248" y="0"/>
                    </a:lnTo>
                    <a:lnTo>
                      <a:pt x="248" y="60"/>
                    </a:lnTo>
                    <a:lnTo>
                      <a:pt x="59" y="248"/>
                    </a:lnTo>
                    <a:lnTo>
                      <a:pt x="8" y="248"/>
                    </a:lnTo>
                    <a:lnTo>
                      <a:pt x="0" y="2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33" name="Freeform 1687"/>
              <p:cNvSpPr>
                <a:spLocks noChangeAspect="1"/>
              </p:cNvSpPr>
              <p:nvPr/>
            </p:nvSpPr>
            <p:spPr bwMode="auto">
              <a:xfrm>
                <a:off x="5512" y="1189"/>
                <a:ext cx="72" cy="73"/>
              </a:xfrm>
              <a:custGeom>
                <a:avLst/>
                <a:gdLst>
                  <a:gd name="T0" fmla="*/ 0 w 218"/>
                  <a:gd name="T1" fmla="*/ 0 h 218"/>
                  <a:gd name="T2" fmla="*/ 0 w 218"/>
                  <a:gd name="T3" fmla="*/ 0 h 218"/>
                  <a:gd name="T4" fmla="*/ 0 w 218"/>
                  <a:gd name="T5" fmla="*/ 0 h 218"/>
                  <a:gd name="T6" fmla="*/ 0 w 218"/>
                  <a:gd name="T7" fmla="*/ 0 h 218"/>
                  <a:gd name="T8" fmla="*/ 0 w 218"/>
                  <a:gd name="T9" fmla="*/ 0 h 2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 h="218">
                    <a:moveTo>
                      <a:pt x="0" y="218"/>
                    </a:moveTo>
                    <a:lnTo>
                      <a:pt x="218" y="0"/>
                    </a:lnTo>
                    <a:lnTo>
                      <a:pt x="218" y="59"/>
                    </a:lnTo>
                    <a:lnTo>
                      <a:pt x="59" y="218"/>
                    </a:lnTo>
                    <a:lnTo>
                      <a:pt x="0" y="21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34" name="Freeform 1688"/>
              <p:cNvSpPr>
                <a:spLocks noChangeAspect="1"/>
              </p:cNvSpPr>
              <p:nvPr/>
            </p:nvSpPr>
            <p:spPr bwMode="auto">
              <a:xfrm>
                <a:off x="5521" y="1199"/>
                <a:ext cx="63" cy="63"/>
              </a:xfrm>
              <a:custGeom>
                <a:avLst/>
                <a:gdLst>
                  <a:gd name="T0" fmla="*/ 0 w 189"/>
                  <a:gd name="T1" fmla="*/ 0 h 188"/>
                  <a:gd name="T2" fmla="*/ 0 w 189"/>
                  <a:gd name="T3" fmla="*/ 0 h 188"/>
                  <a:gd name="T4" fmla="*/ 0 w 189"/>
                  <a:gd name="T5" fmla="*/ 0 h 188"/>
                  <a:gd name="T6" fmla="*/ 0 w 189"/>
                  <a:gd name="T7" fmla="*/ 0 h 188"/>
                  <a:gd name="T8" fmla="*/ 0 w 189"/>
                  <a:gd name="T9" fmla="*/ 0 h 1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 h="188">
                    <a:moveTo>
                      <a:pt x="0" y="188"/>
                    </a:moveTo>
                    <a:lnTo>
                      <a:pt x="189" y="0"/>
                    </a:lnTo>
                    <a:lnTo>
                      <a:pt x="189" y="58"/>
                    </a:lnTo>
                    <a:lnTo>
                      <a:pt x="60" y="188"/>
                    </a:lnTo>
                    <a:lnTo>
                      <a:pt x="0" y="18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35" name="Freeform 1689"/>
              <p:cNvSpPr>
                <a:spLocks noChangeAspect="1"/>
              </p:cNvSpPr>
              <p:nvPr/>
            </p:nvSpPr>
            <p:spPr bwMode="auto">
              <a:xfrm>
                <a:off x="5531" y="1209"/>
                <a:ext cx="53" cy="53"/>
              </a:xfrm>
              <a:custGeom>
                <a:avLst/>
                <a:gdLst>
                  <a:gd name="T0" fmla="*/ 0 w 159"/>
                  <a:gd name="T1" fmla="*/ 0 h 159"/>
                  <a:gd name="T2" fmla="*/ 0 w 159"/>
                  <a:gd name="T3" fmla="*/ 0 h 159"/>
                  <a:gd name="T4" fmla="*/ 0 w 159"/>
                  <a:gd name="T5" fmla="*/ 0 h 159"/>
                  <a:gd name="T6" fmla="*/ 0 w 159"/>
                  <a:gd name="T7" fmla="*/ 0 h 159"/>
                  <a:gd name="T8" fmla="*/ 0 w 159"/>
                  <a:gd name="T9" fmla="*/ 0 h 1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 h="159">
                    <a:moveTo>
                      <a:pt x="0" y="159"/>
                    </a:moveTo>
                    <a:lnTo>
                      <a:pt x="159" y="0"/>
                    </a:lnTo>
                    <a:lnTo>
                      <a:pt x="159" y="59"/>
                    </a:lnTo>
                    <a:lnTo>
                      <a:pt x="59" y="159"/>
                    </a:lnTo>
                    <a:lnTo>
                      <a:pt x="0" y="15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36" name="Freeform 1690"/>
              <p:cNvSpPr>
                <a:spLocks noChangeAspect="1"/>
              </p:cNvSpPr>
              <p:nvPr/>
            </p:nvSpPr>
            <p:spPr bwMode="auto">
              <a:xfrm>
                <a:off x="5541" y="1218"/>
                <a:ext cx="43" cy="44"/>
              </a:xfrm>
              <a:custGeom>
                <a:avLst/>
                <a:gdLst>
                  <a:gd name="T0" fmla="*/ 0 w 129"/>
                  <a:gd name="T1" fmla="*/ 0 h 130"/>
                  <a:gd name="T2" fmla="*/ 0 w 129"/>
                  <a:gd name="T3" fmla="*/ 0 h 130"/>
                  <a:gd name="T4" fmla="*/ 0 w 129"/>
                  <a:gd name="T5" fmla="*/ 0 h 130"/>
                  <a:gd name="T6" fmla="*/ 0 w 129"/>
                  <a:gd name="T7" fmla="*/ 0 h 130"/>
                  <a:gd name="T8" fmla="*/ 0 w 129"/>
                  <a:gd name="T9" fmla="*/ 0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9" h="130">
                    <a:moveTo>
                      <a:pt x="0" y="130"/>
                    </a:moveTo>
                    <a:lnTo>
                      <a:pt x="129" y="0"/>
                    </a:lnTo>
                    <a:lnTo>
                      <a:pt x="129" y="60"/>
                    </a:lnTo>
                    <a:lnTo>
                      <a:pt x="59" y="130"/>
                    </a:lnTo>
                    <a:lnTo>
                      <a:pt x="0" y="13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37" name="Freeform 1691"/>
              <p:cNvSpPr>
                <a:spLocks noChangeAspect="1"/>
              </p:cNvSpPr>
              <p:nvPr/>
            </p:nvSpPr>
            <p:spPr bwMode="auto">
              <a:xfrm>
                <a:off x="5551" y="1228"/>
                <a:ext cx="33" cy="34"/>
              </a:xfrm>
              <a:custGeom>
                <a:avLst/>
                <a:gdLst>
                  <a:gd name="T0" fmla="*/ 0 w 100"/>
                  <a:gd name="T1" fmla="*/ 0 h 100"/>
                  <a:gd name="T2" fmla="*/ 0 w 100"/>
                  <a:gd name="T3" fmla="*/ 0 h 100"/>
                  <a:gd name="T4" fmla="*/ 0 w 100"/>
                  <a:gd name="T5" fmla="*/ 0 h 100"/>
                  <a:gd name="T6" fmla="*/ 0 w 100"/>
                  <a:gd name="T7" fmla="*/ 0 h 100"/>
                  <a:gd name="T8" fmla="*/ 0 w 100"/>
                  <a:gd name="T9" fmla="*/ 0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 h="100">
                    <a:moveTo>
                      <a:pt x="0" y="100"/>
                    </a:moveTo>
                    <a:lnTo>
                      <a:pt x="100" y="0"/>
                    </a:lnTo>
                    <a:lnTo>
                      <a:pt x="100" y="59"/>
                    </a:lnTo>
                    <a:lnTo>
                      <a:pt x="59" y="100"/>
                    </a:lnTo>
                    <a:lnTo>
                      <a:pt x="0" y="1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38" name="Freeform 1692"/>
              <p:cNvSpPr>
                <a:spLocks noChangeAspect="1"/>
              </p:cNvSpPr>
              <p:nvPr/>
            </p:nvSpPr>
            <p:spPr bwMode="auto">
              <a:xfrm>
                <a:off x="5561" y="1238"/>
                <a:ext cx="23" cy="24"/>
              </a:xfrm>
              <a:custGeom>
                <a:avLst/>
                <a:gdLst>
                  <a:gd name="T0" fmla="*/ 0 w 70"/>
                  <a:gd name="T1" fmla="*/ 0 h 70"/>
                  <a:gd name="T2" fmla="*/ 0 w 70"/>
                  <a:gd name="T3" fmla="*/ 0 h 70"/>
                  <a:gd name="T4" fmla="*/ 0 w 70"/>
                  <a:gd name="T5" fmla="*/ 0 h 70"/>
                  <a:gd name="T6" fmla="*/ 0 w 70"/>
                  <a:gd name="T7" fmla="*/ 0 h 70"/>
                  <a:gd name="T8" fmla="*/ 0 w 70"/>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70">
                    <a:moveTo>
                      <a:pt x="0" y="70"/>
                    </a:moveTo>
                    <a:lnTo>
                      <a:pt x="70" y="0"/>
                    </a:lnTo>
                    <a:lnTo>
                      <a:pt x="70" y="59"/>
                    </a:lnTo>
                    <a:lnTo>
                      <a:pt x="59" y="70"/>
                    </a:lnTo>
                    <a:lnTo>
                      <a:pt x="0" y="7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39" name="Freeform 1693"/>
              <p:cNvSpPr>
                <a:spLocks noChangeAspect="1"/>
              </p:cNvSpPr>
              <p:nvPr/>
            </p:nvSpPr>
            <p:spPr bwMode="auto">
              <a:xfrm>
                <a:off x="5571" y="1248"/>
                <a:ext cx="13" cy="14"/>
              </a:xfrm>
              <a:custGeom>
                <a:avLst/>
                <a:gdLst>
                  <a:gd name="T0" fmla="*/ 0 w 41"/>
                  <a:gd name="T1" fmla="*/ 0 h 41"/>
                  <a:gd name="T2" fmla="*/ 0 w 41"/>
                  <a:gd name="T3" fmla="*/ 0 h 41"/>
                  <a:gd name="T4" fmla="*/ 0 w 41"/>
                  <a:gd name="T5" fmla="*/ 0 h 41"/>
                  <a:gd name="T6" fmla="*/ 0 w 41"/>
                  <a:gd name="T7" fmla="*/ 0 h 4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1" h="41">
                    <a:moveTo>
                      <a:pt x="0" y="41"/>
                    </a:moveTo>
                    <a:lnTo>
                      <a:pt x="41" y="0"/>
                    </a:lnTo>
                    <a:lnTo>
                      <a:pt x="41" y="41"/>
                    </a:lnTo>
                    <a:lnTo>
                      <a:pt x="0" y="4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40" name="Freeform 1694"/>
              <p:cNvSpPr>
                <a:spLocks noChangeAspect="1"/>
              </p:cNvSpPr>
              <p:nvPr/>
            </p:nvSpPr>
            <p:spPr bwMode="auto">
              <a:xfrm>
                <a:off x="5208" y="1157"/>
                <a:ext cx="376" cy="105"/>
              </a:xfrm>
              <a:custGeom>
                <a:avLst/>
                <a:gdLst>
                  <a:gd name="T0" fmla="*/ 0 w 1128"/>
                  <a:gd name="T1" fmla="*/ 0 h 315"/>
                  <a:gd name="T2" fmla="*/ 0 w 1128"/>
                  <a:gd name="T3" fmla="*/ 0 h 315"/>
                  <a:gd name="T4" fmla="*/ 0 w 1128"/>
                  <a:gd name="T5" fmla="*/ 0 h 315"/>
                  <a:gd name="T6" fmla="*/ 0 w 1128"/>
                  <a:gd name="T7" fmla="*/ 0 h 315"/>
                  <a:gd name="T8" fmla="*/ 0 w 1128"/>
                  <a:gd name="T9" fmla="*/ 0 h 315"/>
                  <a:gd name="T10" fmla="*/ 0 w 1128"/>
                  <a:gd name="T11" fmla="*/ 0 h 315"/>
                  <a:gd name="T12" fmla="*/ 0 w 1128"/>
                  <a:gd name="T13" fmla="*/ 0 h 315"/>
                  <a:gd name="T14" fmla="*/ 0 w 1128"/>
                  <a:gd name="T15" fmla="*/ 0 h 315"/>
                  <a:gd name="T16" fmla="*/ 0 w 1128"/>
                  <a:gd name="T17" fmla="*/ 0 h 3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28" h="315">
                    <a:moveTo>
                      <a:pt x="0" y="0"/>
                    </a:moveTo>
                    <a:lnTo>
                      <a:pt x="93" y="0"/>
                    </a:lnTo>
                    <a:lnTo>
                      <a:pt x="561" y="0"/>
                    </a:lnTo>
                    <a:lnTo>
                      <a:pt x="1128" y="0"/>
                    </a:lnTo>
                    <a:lnTo>
                      <a:pt x="1128" y="315"/>
                    </a:lnTo>
                    <a:lnTo>
                      <a:pt x="888" y="315"/>
                    </a:lnTo>
                    <a:lnTo>
                      <a:pt x="217" y="315"/>
                    </a:lnTo>
                    <a:lnTo>
                      <a:pt x="0" y="315"/>
                    </a:lnTo>
                    <a:lnTo>
                      <a:pt x="0" y="0"/>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grpSp>
        <p:grpSp>
          <p:nvGrpSpPr>
            <p:cNvPr id="386167" name="Group 1695"/>
            <p:cNvGrpSpPr>
              <a:grpSpLocks noChangeAspect="1"/>
            </p:cNvGrpSpPr>
            <p:nvPr/>
          </p:nvGrpSpPr>
          <p:grpSpPr bwMode="auto">
            <a:xfrm>
              <a:off x="1444" y="2113"/>
              <a:ext cx="99" cy="754"/>
              <a:chOff x="1522" y="1952"/>
              <a:chExt cx="116" cy="907"/>
            </a:xfrm>
          </p:grpSpPr>
          <p:sp>
            <p:nvSpPr>
              <p:cNvPr id="66208" name="Rectangle 1696"/>
              <p:cNvSpPr>
                <a:spLocks noChangeAspect="1" noChangeArrowheads="1"/>
              </p:cNvSpPr>
              <p:nvPr/>
            </p:nvSpPr>
            <p:spPr bwMode="auto">
              <a:xfrm>
                <a:off x="1536" y="1952"/>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09" name="Rectangle 1697"/>
              <p:cNvSpPr>
                <a:spLocks noChangeAspect="1" noChangeArrowheads="1"/>
              </p:cNvSpPr>
              <p:nvPr/>
            </p:nvSpPr>
            <p:spPr bwMode="auto">
              <a:xfrm>
                <a:off x="1538" y="1952"/>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10" name="Rectangle 1698"/>
              <p:cNvSpPr>
                <a:spLocks noChangeAspect="1" noChangeArrowheads="1"/>
              </p:cNvSpPr>
              <p:nvPr/>
            </p:nvSpPr>
            <p:spPr bwMode="auto">
              <a:xfrm>
                <a:off x="1543" y="1952"/>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11" name="Rectangle 1699"/>
              <p:cNvSpPr>
                <a:spLocks noChangeAspect="1" noChangeArrowheads="1"/>
              </p:cNvSpPr>
              <p:nvPr/>
            </p:nvSpPr>
            <p:spPr bwMode="auto">
              <a:xfrm>
                <a:off x="1545" y="1952"/>
                <a:ext cx="0"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12" name="Rectangle 1700"/>
              <p:cNvSpPr>
                <a:spLocks noChangeAspect="1" noChangeArrowheads="1"/>
              </p:cNvSpPr>
              <p:nvPr/>
            </p:nvSpPr>
            <p:spPr bwMode="auto">
              <a:xfrm>
                <a:off x="1550" y="1952"/>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13" name="Rectangle 1701"/>
              <p:cNvSpPr>
                <a:spLocks noChangeAspect="1" noChangeArrowheads="1"/>
              </p:cNvSpPr>
              <p:nvPr/>
            </p:nvSpPr>
            <p:spPr bwMode="auto">
              <a:xfrm>
                <a:off x="1552" y="1952"/>
                <a:ext cx="0"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14" name="Rectangle 1702"/>
              <p:cNvSpPr>
                <a:spLocks noChangeAspect="1" noChangeArrowheads="1"/>
              </p:cNvSpPr>
              <p:nvPr/>
            </p:nvSpPr>
            <p:spPr bwMode="auto">
              <a:xfrm>
                <a:off x="1559" y="1952"/>
                <a:ext cx="0"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15" name="Rectangle 1703"/>
              <p:cNvSpPr>
                <a:spLocks noChangeAspect="1" noChangeArrowheads="1"/>
              </p:cNvSpPr>
              <p:nvPr/>
            </p:nvSpPr>
            <p:spPr bwMode="auto">
              <a:xfrm>
                <a:off x="1559" y="1952"/>
                <a:ext cx="5"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16" name="Rectangle 1704"/>
              <p:cNvSpPr>
                <a:spLocks noChangeAspect="1" noChangeArrowheads="1"/>
              </p:cNvSpPr>
              <p:nvPr/>
            </p:nvSpPr>
            <p:spPr bwMode="auto">
              <a:xfrm>
                <a:off x="1567" y="1952"/>
                <a:ext cx="2"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17" name="Rectangle 1705"/>
              <p:cNvSpPr>
                <a:spLocks noChangeAspect="1" noChangeArrowheads="1"/>
              </p:cNvSpPr>
              <p:nvPr/>
            </p:nvSpPr>
            <p:spPr bwMode="auto">
              <a:xfrm>
                <a:off x="1567" y="1952"/>
                <a:ext cx="7"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18" name="Rectangle 1706"/>
              <p:cNvSpPr>
                <a:spLocks noChangeAspect="1" noChangeArrowheads="1"/>
              </p:cNvSpPr>
              <p:nvPr/>
            </p:nvSpPr>
            <p:spPr bwMode="auto">
              <a:xfrm>
                <a:off x="1572" y="1952"/>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19" name="Rectangle 1707"/>
              <p:cNvSpPr>
                <a:spLocks noChangeAspect="1" noChangeArrowheads="1"/>
              </p:cNvSpPr>
              <p:nvPr/>
            </p:nvSpPr>
            <p:spPr bwMode="auto">
              <a:xfrm>
                <a:off x="1574" y="1952"/>
                <a:ext cx="7"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20" name="Rectangle 1708"/>
              <p:cNvSpPr>
                <a:spLocks noChangeAspect="1" noChangeArrowheads="1"/>
              </p:cNvSpPr>
              <p:nvPr/>
            </p:nvSpPr>
            <p:spPr bwMode="auto">
              <a:xfrm>
                <a:off x="1579" y="1952"/>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21" name="Rectangle 1709"/>
              <p:cNvSpPr>
                <a:spLocks noChangeAspect="1" noChangeArrowheads="1"/>
              </p:cNvSpPr>
              <p:nvPr/>
            </p:nvSpPr>
            <p:spPr bwMode="auto">
              <a:xfrm>
                <a:off x="1581" y="1952"/>
                <a:ext cx="6"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22" name="Rectangle 1710"/>
              <p:cNvSpPr>
                <a:spLocks noChangeAspect="1" noChangeArrowheads="1"/>
              </p:cNvSpPr>
              <p:nvPr/>
            </p:nvSpPr>
            <p:spPr bwMode="auto">
              <a:xfrm>
                <a:off x="1586" y="1952"/>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23" name="Rectangle 1711"/>
              <p:cNvSpPr>
                <a:spLocks noChangeAspect="1" noChangeArrowheads="1"/>
              </p:cNvSpPr>
              <p:nvPr/>
            </p:nvSpPr>
            <p:spPr bwMode="auto">
              <a:xfrm>
                <a:off x="1588" y="1952"/>
                <a:ext cx="6"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24" name="Rectangle 1712"/>
              <p:cNvSpPr>
                <a:spLocks noChangeAspect="1" noChangeArrowheads="1"/>
              </p:cNvSpPr>
              <p:nvPr/>
            </p:nvSpPr>
            <p:spPr bwMode="auto">
              <a:xfrm>
                <a:off x="1593" y="1952"/>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25" name="Rectangle 1713"/>
              <p:cNvSpPr>
                <a:spLocks noChangeAspect="1" noChangeArrowheads="1"/>
              </p:cNvSpPr>
              <p:nvPr/>
            </p:nvSpPr>
            <p:spPr bwMode="auto">
              <a:xfrm>
                <a:off x="1595" y="1952"/>
                <a:ext cx="6"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26" name="Rectangle 1714"/>
              <p:cNvSpPr>
                <a:spLocks noChangeAspect="1" noChangeArrowheads="1"/>
              </p:cNvSpPr>
              <p:nvPr/>
            </p:nvSpPr>
            <p:spPr bwMode="auto">
              <a:xfrm>
                <a:off x="1602" y="1952"/>
                <a:ext cx="6"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27" name="Rectangle 1715"/>
              <p:cNvSpPr>
                <a:spLocks noChangeAspect="1" noChangeArrowheads="1"/>
              </p:cNvSpPr>
              <p:nvPr/>
            </p:nvSpPr>
            <p:spPr bwMode="auto">
              <a:xfrm>
                <a:off x="1603" y="1952"/>
                <a:ext cx="5"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28" name="Rectangle 1716"/>
              <p:cNvSpPr>
                <a:spLocks noChangeAspect="1" noChangeArrowheads="1"/>
              </p:cNvSpPr>
              <p:nvPr/>
            </p:nvSpPr>
            <p:spPr bwMode="auto">
              <a:xfrm>
                <a:off x="1609" y="1952"/>
                <a:ext cx="6"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29" name="Rectangle 1717"/>
              <p:cNvSpPr>
                <a:spLocks noChangeAspect="1" noChangeArrowheads="1"/>
              </p:cNvSpPr>
              <p:nvPr/>
            </p:nvSpPr>
            <p:spPr bwMode="auto">
              <a:xfrm>
                <a:off x="1610" y="1952"/>
                <a:ext cx="5"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30" name="Rectangle 1718"/>
              <p:cNvSpPr>
                <a:spLocks noChangeAspect="1" noChangeArrowheads="1"/>
              </p:cNvSpPr>
              <p:nvPr/>
            </p:nvSpPr>
            <p:spPr bwMode="auto">
              <a:xfrm>
                <a:off x="1615" y="1952"/>
                <a:ext cx="6"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31" name="Rectangle 1719"/>
              <p:cNvSpPr>
                <a:spLocks noChangeAspect="1" noChangeArrowheads="1"/>
              </p:cNvSpPr>
              <p:nvPr/>
            </p:nvSpPr>
            <p:spPr bwMode="auto">
              <a:xfrm>
                <a:off x="1617" y="1952"/>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32" name="Rectangle 1720"/>
              <p:cNvSpPr>
                <a:spLocks noChangeAspect="1" noChangeArrowheads="1"/>
              </p:cNvSpPr>
              <p:nvPr/>
            </p:nvSpPr>
            <p:spPr bwMode="auto">
              <a:xfrm>
                <a:off x="1536" y="1952"/>
                <a:ext cx="86" cy="761"/>
              </a:xfrm>
              <a:prstGeom prst="rect">
                <a:avLst/>
              </a:prstGeom>
              <a:gradFill rotWithShape="0">
                <a:gsLst>
                  <a:gs pos="0">
                    <a:schemeClr val="hlink"/>
                  </a:gs>
                  <a:gs pos="50000">
                    <a:schemeClr val="hlink">
                      <a:gamma/>
                      <a:tint val="40000"/>
                      <a:invGamma/>
                    </a:schemeClr>
                  </a:gs>
                  <a:gs pos="100000">
                    <a:schemeClr val="hlink"/>
                  </a:gs>
                </a:gsLst>
                <a:lin ang="0" scaled="1"/>
              </a:gradFill>
              <a:ln w="1588">
                <a:solidFill>
                  <a:srgbClr val="1F1A17"/>
                </a:solidFill>
                <a:miter lim="800000"/>
                <a:headEnd/>
                <a:tailEnd/>
              </a:ln>
            </p:spPr>
            <p:txBody>
              <a:bodyPr/>
              <a:lstStyle/>
              <a:p>
                <a:pPr>
                  <a:defRPr/>
                </a:pPr>
                <a:endParaRPr lang="en-US"/>
              </a:p>
            </p:txBody>
          </p:sp>
          <p:sp>
            <p:nvSpPr>
              <p:cNvPr id="66233" name="Rectangle 1721"/>
              <p:cNvSpPr>
                <a:spLocks noChangeAspect="1" noChangeArrowheads="1"/>
              </p:cNvSpPr>
              <p:nvPr/>
            </p:nvSpPr>
            <p:spPr bwMode="auto">
              <a:xfrm>
                <a:off x="1522" y="2789"/>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34" name="Rectangle 1722"/>
              <p:cNvSpPr>
                <a:spLocks noChangeAspect="1" noChangeArrowheads="1"/>
              </p:cNvSpPr>
              <p:nvPr/>
            </p:nvSpPr>
            <p:spPr bwMode="auto">
              <a:xfrm>
                <a:off x="1526" y="2789"/>
                <a:ext cx="7"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35" name="Rectangle 1723"/>
              <p:cNvSpPr>
                <a:spLocks noChangeAspect="1" noChangeArrowheads="1"/>
              </p:cNvSpPr>
              <p:nvPr/>
            </p:nvSpPr>
            <p:spPr bwMode="auto">
              <a:xfrm>
                <a:off x="1529" y="2789"/>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36" name="Rectangle 1724"/>
              <p:cNvSpPr>
                <a:spLocks noChangeAspect="1" noChangeArrowheads="1"/>
              </p:cNvSpPr>
              <p:nvPr/>
            </p:nvSpPr>
            <p:spPr bwMode="auto">
              <a:xfrm>
                <a:off x="1533" y="2789"/>
                <a:ext cx="7"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37" name="Rectangle 1725"/>
              <p:cNvSpPr>
                <a:spLocks noChangeAspect="1" noChangeArrowheads="1"/>
              </p:cNvSpPr>
              <p:nvPr/>
            </p:nvSpPr>
            <p:spPr bwMode="auto">
              <a:xfrm>
                <a:off x="1536" y="2789"/>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38" name="Rectangle 1726"/>
              <p:cNvSpPr>
                <a:spLocks noChangeAspect="1" noChangeArrowheads="1"/>
              </p:cNvSpPr>
              <p:nvPr/>
            </p:nvSpPr>
            <p:spPr bwMode="auto">
              <a:xfrm>
                <a:off x="1538" y="2789"/>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39" name="Rectangle 1727"/>
              <p:cNvSpPr>
                <a:spLocks noChangeAspect="1" noChangeArrowheads="1"/>
              </p:cNvSpPr>
              <p:nvPr/>
            </p:nvSpPr>
            <p:spPr bwMode="auto">
              <a:xfrm>
                <a:off x="1543" y="2789"/>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40" name="Rectangle 1728"/>
              <p:cNvSpPr>
                <a:spLocks noChangeAspect="1" noChangeArrowheads="1"/>
              </p:cNvSpPr>
              <p:nvPr/>
            </p:nvSpPr>
            <p:spPr bwMode="auto">
              <a:xfrm>
                <a:off x="1545" y="2789"/>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41" name="Rectangle 1729"/>
              <p:cNvSpPr>
                <a:spLocks noChangeAspect="1" noChangeArrowheads="1"/>
              </p:cNvSpPr>
              <p:nvPr/>
            </p:nvSpPr>
            <p:spPr bwMode="auto">
              <a:xfrm>
                <a:off x="1550" y="2789"/>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42" name="Rectangle 1730"/>
              <p:cNvSpPr>
                <a:spLocks noChangeAspect="1" noChangeArrowheads="1"/>
              </p:cNvSpPr>
              <p:nvPr/>
            </p:nvSpPr>
            <p:spPr bwMode="auto">
              <a:xfrm>
                <a:off x="1552" y="2789"/>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43" name="Rectangle 1731"/>
              <p:cNvSpPr>
                <a:spLocks noChangeAspect="1" noChangeArrowheads="1"/>
              </p:cNvSpPr>
              <p:nvPr/>
            </p:nvSpPr>
            <p:spPr bwMode="auto">
              <a:xfrm>
                <a:off x="1557" y="2789"/>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44" name="Rectangle 1732"/>
              <p:cNvSpPr>
                <a:spLocks noChangeAspect="1" noChangeArrowheads="1"/>
              </p:cNvSpPr>
              <p:nvPr/>
            </p:nvSpPr>
            <p:spPr bwMode="auto">
              <a:xfrm>
                <a:off x="1559" y="2789"/>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45" name="Rectangle 1733"/>
              <p:cNvSpPr>
                <a:spLocks noChangeAspect="1" noChangeArrowheads="1"/>
              </p:cNvSpPr>
              <p:nvPr/>
            </p:nvSpPr>
            <p:spPr bwMode="auto">
              <a:xfrm>
                <a:off x="1564" y="2789"/>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46" name="Rectangle 1734"/>
              <p:cNvSpPr>
                <a:spLocks noChangeAspect="1" noChangeArrowheads="1"/>
              </p:cNvSpPr>
              <p:nvPr/>
            </p:nvSpPr>
            <p:spPr bwMode="auto">
              <a:xfrm>
                <a:off x="1567" y="2789"/>
                <a:ext cx="7"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47" name="Rectangle 1735"/>
              <p:cNvSpPr>
                <a:spLocks noChangeAspect="1" noChangeArrowheads="1"/>
              </p:cNvSpPr>
              <p:nvPr/>
            </p:nvSpPr>
            <p:spPr bwMode="auto">
              <a:xfrm>
                <a:off x="1571" y="2789"/>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48" name="Rectangle 1736"/>
              <p:cNvSpPr>
                <a:spLocks noChangeAspect="1" noChangeArrowheads="1"/>
              </p:cNvSpPr>
              <p:nvPr/>
            </p:nvSpPr>
            <p:spPr bwMode="auto">
              <a:xfrm>
                <a:off x="1574" y="2789"/>
                <a:ext cx="7"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49" name="Rectangle 1737"/>
              <p:cNvSpPr>
                <a:spLocks noChangeAspect="1" noChangeArrowheads="1"/>
              </p:cNvSpPr>
              <p:nvPr/>
            </p:nvSpPr>
            <p:spPr bwMode="auto">
              <a:xfrm>
                <a:off x="1581" y="2789"/>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50" name="Rectangle 1738"/>
              <p:cNvSpPr>
                <a:spLocks noChangeAspect="1" noChangeArrowheads="1"/>
              </p:cNvSpPr>
              <p:nvPr/>
            </p:nvSpPr>
            <p:spPr bwMode="auto">
              <a:xfrm>
                <a:off x="1582" y="2789"/>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51" name="Rectangle 1739"/>
              <p:cNvSpPr>
                <a:spLocks noChangeAspect="1" noChangeArrowheads="1"/>
              </p:cNvSpPr>
              <p:nvPr/>
            </p:nvSpPr>
            <p:spPr bwMode="auto">
              <a:xfrm>
                <a:off x="1586" y="2789"/>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52" name="Rectangle 1740"/>
              <p:cNvSpPr>
                <a:spLocks noChangeAspect="1" noChangeArrowheads="1"/>
              </p:cNvSpPr>
              <p:nvPr/>
            </p:nvSpPr>
            <p:spPr bwMode="auto">
              <a:xfrm>
                <a:off x="1589" y="2789"/>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53" name="Rectangle 1741"/>
              <p:cNvSpPr>
                <a:spLocks noChangeAspect="1" noChangeArrowheads="1"/>
              </p:cNvSpPr>
              <p:nvPr/>
            </p:nvSpPr>
            <p:spPr bwMode="auto">
              <a:xfrm>
                <a:off x="1593" y="2789"/>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54" name="Rectangle 1742"/>
              <p:cNvSpPr>
                <a:spLocks noChangeAspect="1" noChangeArrowheads="1"/>
              </p:cNvSpPr>
              <p:nvPr/>
            </p:nvSpPr>
            <p:spPr bwMode="auto">
              <a:xfrm>
                <a:off x="1596" y="2789"/>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55" name="Rectangle 1743"/>
              <p:cNvSpPr>
                <a:spLocks noChangeAspect="1" noChangeArrowheads="1"/>
              </p:cNvSpPr>
              <p:nvPr/>
            </p:nvSpPr>
            <p:spPr bwMode="auto">
              <a:xfrm>
                <a:off x="1601" y="2789"/>
                <a:ext cx="7"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56" name="Rectangle 1744"/>
              <p:cNvSpPr>
                <a:spLocks noChangeAspect="1" noChangeArrowheads="1"/>
              </p:cNvSpPr>
              <p:nvPr/>
            </p:nvSpPr>
            <p:spPr bwMode="auto">
              <a:xfrm>
                <a:off x="1603" y="2789"/>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57" name="Rectangle 1745"/>
              <p:cNvSpPr>
                <a:spLocks noChangeAspect="1" noChangeArrowheads="1"/>
              </p:cNvSpPr>
              <p:nvPr/>
            </p:nvSpPr>
            <p:spPr bwMode="auto">
              <a:xfrm>
                <a:off x="1608" y="2789"/>
                <a:ext cx="7"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58" name="Rectangle 1746"/>
              <p:cNvSpPr>
                <a:spLocks noChangeAspect="1" noChangeArrowheads="1"/>
              </p:cNvSpPr>
              <p:nvPr/>
            </p:nvSpPr>
            <p:spPr bwMode="auto">
              <a:xfrm>
                <a:off x="1610" y="2789"/>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59" name="Rectangle 1747"/>
              <p:cNvSpPr>
                <a:spLocks noChangeAspect="1" noChangeArrowheads="1"/>
              </p:cNvSpPr>
              <p:nvPr/>
            </p:nvSpPr>
            <p:spPr bwMode="auto">
              <a:xfrm>
                <a:off x="1615" y="2789"/>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60" name="Rectangle 1748"/>
              <p:cNvSpPr>
                <a:spLocks noChangeAspect="1" noChangeArrowheads="1"/>
              </p:cNvSpPr>
              <p:nvPr/>
            </p:nvSpPr>
            <p:spPr bwMode="auto">
              <a:xfrm>
                <a:off x="1617" y="2789"/>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61" name="Rectangle 1749"/>
              <p:cNvSpPr>
                <a:spLocks noChangeAspect="1" noChangeArrowheads="1"/>
              </p:cNvSpPr>
              <p:nvPr/>
            </p:nvSpPr>
            <p:spPr bwMode="auto">
              <a:xfrm>
                <a:off x="1622" y="2789"/>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62" name="Rectangle 1750"/>
              <p:cNvSpPr>
                <a:spLocks noChangeAspect="1" noChangeArrowheads="1"/>
              </p:cNvSpPr>
              <p:nvPr/>
            </p:nvSpPr>
            <p:spPr bwMode="auto">
              <a:xfrm>
                <a:off x="1624" y="2789"/>
                <a:ext cx="4"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63" name="Rectangle 1751"/>
              <p:cNvSpPr>
                <a:spLocks noChangeAspect="1" noChangeArrowheads="1"/>
              </p:cNvSpPr>
              <p:nvPr/>
            </p:nvSpPr>
            <p:spPr bwMode="auto">
              <a:xfrm>
                <a:off x="1627" y="2789"/>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64" name="Rectangle 1752"/>
              <p:cNvSpPr>
                <a:spLocks noChangeAspect="1" noChangeArrowheads="1"/>
              </p:cNvSpPr>
              <p:nvPr/>
            </p:nvSpPr>
            <p:spPr bwMode="auto">
              <a:xfrm>
                <a:off x="1631" y="2789"/>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65" name="Rectangle 1753"/>
              <p:cNvSpPr>
                <a:spLocks noChangeAspect="1" noChangeArrowheads="1"/>
              </p:cNvSpPr>
              <p:nvPr/>
            </p:nvSpPr>
            <p:spPr bwMode="auto">
              <a:xfrm>
                <a:off x="1522" y="2789"/>
                <a:ext cx="116" cy="70"/>
              </a:xfrm>
              <a:prstGeom prst="rect">
                <a:avLst/>
              </a:prstGeom>
              <a:gradFill rotWithShape="0">
                <a:gsLst>
                  <a:gs pos="0">
                    <a:schemeClr val="hlink"/>
                  </a:gs>
                  <a:gs pos="50000">
                    <a:schemeClr val="hlink">
                      <a:gamma/>
                      <a:tint val="40000"/>
                      <a:invGamma/>
                    </a:schemeClr>
                  </a:gs>
                  <a:gs pos="100000">
                    <a:schemeClr val="hlink"/>
                  </a:gs>
                </a:gsLst>
                <a:lin ang="0" scaled="1"/>
              </a:gradFill>
              <a:ln w="1588">
                <a:solidFill>
                  <a:srgbClr val="1F1A17"/>
                </a:solidFill>
                <a:miter lim="800000"/>
                <a:headEnd/>
                <a:tailEnd/>
              </a:ln>
            </p:spPr>
            <p:txBody>
              <a:bodyPr/>
              <a:lstStyle/>
              <a:p>
                <a:pPr>
                  <a:defRPr/>
                </a:pPr>
                <a:endParaRPr lang="en-US"/>
              </a:p>
            </p:txBody>
          </p:sp>
          <p:sp>
            <p:nvSpPr>
              <p:cNvPr id="66266" name="Freeform 1754"/>
              <p:cNvSpPr>
                <a:spLocks noChangeAspect="1"/>
              </p:cNvSpPr>
              <p:nvPr/>
            </p:nvSpPr>
            <p:spPr bwMode="auto">
              <a:xfrm>
                <a:off x="1528" y="2738"/>
                <a:ext cx="5" cy="53"/>
              </a:xfrm>
              <a:custGeom>
                <a:avLst/>
                <a:gdLst>
                  <a:gd name="T0" fmla="*/ 0 w 13"/>
                  <a:gd name="T1" fmla="*/ 154 h 154"/>
                  <a:gd name="T2" fmla="*/ 0 w 13"/>
                  <a:gd name="T3" fmla="*/ 103 h 154"/>
                  <a:gd name="T4" fmla="*/ 13 w 13"/>
                  <a:gd name="T5" fmla="*/ 0 h 154"/>
                  <a:gd name="T6" fmla="*/ 13 w 13"/>
                  <a:gd name="T7" fmla="*/ 154 h 154"/>
                  <a:gd name="T8" fmla="*/ 0 w 13"/>
                  <a:gd name="T9" fmla="*/ 154 h 154"/>
                </a:gdLst>
                <a:ahLst/>
                <a:cxnLst>
                  <a:cxn ang="0">
                    <a:pos x="T0" y="T1"/>
                  </a:cxn>
                  <a:cxn ang="0">
                    <a:pos x="T2" y="T3"/>
                  </a:cxn>
                  <a:cxn ang="0">
                    <a:pos x="T4" y="T5"/>
                  </a:cxn>
                  <a:cxn ang="0">
                    <a:pos x="T6" y="T7"/>
                  </a:cxn>
                  <a:cxn ang="0">
                    <a:pos x="T8" y="T9"/>
                  </a:cxn>
                </a:cxnLst>
                <a:rect l="0" t="0" r="r" b="b"/>
                <a:pathLst>
                  <a:path w="13" h="154">
                    <a:moveTo>
                      <a:pt x="0" y="154"/>
                    </a:moveTo>
                    <a:lnTo>
                      <a:pt x="0" y="103"/>
                    </a:lnTo>
                    <a:lnTo>
                      <a:pt x="13" y="0"/>
                    </a:lnTo>
                    <a:lnTo>
                      <a:pt x="13" y="154"/>
                    </a:lnTo>
                    <a:lnTo>
                      <a:pt x="0" y="154"/>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267" name="Freeform 1755"/>
              <p:cNvSpPr>
                <a:spLocks noChangeAspect="1"/>
              </p:cNvSpPr>
              <p:nvPr/>
            </p:nvSpPr>
            <p:spPr bwMode="auto">
              <a:xfrm>
                <a:off x="1531" y="2721"/>
                <a:ext cx="4" cy="70"/>
              </a:xfrm>
              <a:custGeom>
                <a:avLst/>
                <a:gdLst>
                  <a:gd name="T0" fmla="*/ 0 w 12"/>
                  <a:gd name="T1" fmla="*/ 205 h 205"/>
                  <a:gd name="T2" fmla="*/ 0 w 12"/>
                  <a:gd name="T3" fmla="*/ 102 h 205"/>
                  <a:gd name="T4" fmla="*/ 12 w 12"/>
                  <a:gd name="T5" fmla="*/ 0 h 205"/>
                  <a:gd name="T6" fmla="*/ 12 w 12"/>
                  <a:gd name="T7" fmla="*/ 205 h 205"/>
                  <a:gd name="T8" fmla="*/ 0 w 12"/>
                  <a:gd name="T9" fmla="*/ 205 h 205"/>
                </a:gdLst>
                <a:ahLst/>
                <a:cxnLst>
                  <a:cxn ang="0">
                    <a:pos x="T0" y="T1"/>
                  </a:cxn>
                  <a:cxn ang="0">
                    <a:pos x="T2" y="T3"/>
                  </a:cxn>
                  <a:cxn ang="0">
                    <a:pos x="T4" y="T5"/>
                  </a:cxn>
                  <a:cxn ang="0">
                    <a:pos x="T6" y="T7"/>
                  </a:cxn>
                  <a:cxn ang="0">
                    <a:pos x="T8" y="T9"/>
                  </a:cxn>
                </a:cxnLst>
                <a:rect l="0" t="0" r="r" b="b"/>
                <a:pathLst>
                  <a:path w="12" h="205">
                    <a:moveTo>
                      <a:pt x="0" y="205"/>
                    </a:moveTo>
                    <a:lnTo>
                      <a:pt x="0" y="102"/>
                    </a:lnTo>
                    <a:lnTo>
                      <a:pt x="12" y="0"/>
                    </a:lnTo>
                    <a:lnTo>
                      <a:pt x="12" y="205"/>
                    </a:lnTo>
                    <a:lnTo>
                      <a:pt x="0" y="205"/>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268" name="Freeform 1756"/>
              <p:cNvSpPr>
                <a:spLocks noChangeAspect="1"/>
              </p:cNvSpPr>
              <p:nvPr/>
            </p:nvSpPr>
            <p:spPr bwMode="auto">
              <a:xfrm>
                <a:off x="1533" y="2713"/>
                <a:ext cx="7" cy="76"/>
              </a:xfrm>
              <a:custGeom>
                <a:avLst/>
                <a:gdLst>
                  <a:gd name="T0" fmla="*/ 0 w 13"/>
                  <a:gd name="T1" fmla="*/ 227 h 227"/>
                  <a:gd name="T2" fmla="*/ 0 w 13"/>
                  <a:gd name="T3" fmla="*/ 73 h 227"/>
                  <a:gd name="T4" fmla="*/ 10 w 13"/>
                  <a:gd name="T5" fmla="*/ 0 h 227"/>
                  <a:gd name="T6" fmla="*/ 13 w 13"/>
                  <a:gd name="T7" fmla="*/ 0 h 227"/>
                  <a:gd name="T8" fmla="*/ 13 w 13"/>
                  <a:gd name="T9" fmla="*/ 227 h 227"/>
                  <a:gd name="T10" fmla="*/ 0 w 13"/>
                  <a:gd name="T11" fmla="*/ 227 h 227"/>
                </a:gdLst>
                <a:ahLst/>
                <a:cxnLst>
                  <a:cxn ang="0">
                    <a:pos x="T0" y="T1"/>
                  </a:cxn>
                  <a:cxn ang="0">
                    <a:pos x="T2" y="T3"/>
                  </a:cxn>
                  <a:cxn ang="0">
                    <a:pos x="T4" y="T5"/>
                  </a:cxn>
                  <a:cxn ang="0">
                    <a:pos x="T6" y="T7"/>
                  </a:cxn>
                  <a:cxn ang="0">
                    <a:pos x="T8" y="T9"/>
                  </a:cxn>
                  <a:cxn ang="0">
                    <a:pos x="T10" y="T11"/>
                  </a:cxn>
                </a:cxnLst>
                <a:rect l="0" t="0" r="r" b="b"/>
                <a:pathLst>
                  <a:path w="13" h="227">
                    <a:moveTo>
                      <a:pt x="0" y="227"/>
                    </a:moveTo>
                    <a:lnTo>
                      <a:pt x="0" y="73"/>
                    </a:lnTo>
                    <a:lnTo>
                      <a:pt x="10" y="0"/>
                    </a:lnTo>
                    <a:lnTo>
                      <a:pt x="13" y="0"/>
                    </a:lnTo>
                    <a:lnTo>
                      <a:pt x="13" y="227"/>
                    </a:lnTo>
                    <a:lnTo>
                      <a:pt x="0" y="227"/>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269" name="Freeform 1757"/>
              <p:cNvSpPr>
                <a:spLocks noChangeAspect="1"/>
              </p:cNvSpPr>
              <p:nvPr/>
            </p:nvSpPr>
            <p:spPr bwMode="auto">
              <a:xfrm>
                <a:off x="1535" y="2713"/>
                <a:ext cx="5" cy="76"/>
              </a:xfrm>
              <a:custGeom>
                <a:avLst/>
                <a:gdLst>
                  <a:gd name="T0" fmla="*/ 0 w 13"/>
                  <a:gd name="T1" fmla="*/ 227 h 227"/>
                  <a:gd name="T2" fmla="*/ 0 w 13"/>
                  <a:gd name="T3" fmla="*/ 22 h 227"/>
                  <a:gd name="T4" fmla="*/ 4 w 13"/>
                  <a:gd name="T5" fmla="*/ 0 h 227"/>
                  <a:gd name="T6" fmla="*/ 13 w 13"/>
                  <a:gd name="T7" fmla="*/ 0 h 227"/>
                  <a:gd name="T8" fmla="*/ 13 w 13"/>
                  <a:gd name="T9" fmla="*/ 227 h 227"/>
                  <a:gd name="T10" fmla="*/ 0 w 13"/>
                  <a:gd name="T11" fmla="*/ 227 h 227"/>
                </a:gdLst>
                <a:ahLst/>
                <a:cxnLst>
                  <a:cxn ang="0">
                    <a:pos x="T0" y="T1"/>
                  </a:cxn>
                  <a:cxn ang="0">
                    <a:pos x="T2" y="T3"/>
                  </a:cxn>
                  <a:cxn ang="0">
                    <a:pos x="T4" y="T5"/>
                  </a:cxn>
                  <a:cxn ang="0">
                    <a:pos x="T6" y="T7"/>
                  </a:cxn>
                  <a:cxn ang="0">
                    <a:pos x="T8" y="T9"/>
                  </a:cxn>
                  <a:cxn ang="0">
                    <a:pos x="T10" y="T11"/>
                  </a:cxn>
                </a:cxnLst>
                <a:rect l="0" t="0" r="r" b="b"/>
                <a:pathLst>
                  <a:path w="13" h="227">
                    <a:moveTo>
                      <a:pt x="0" y="227"/>
                    </a:moveTo>
                    <a:lnTo>
                      <a:pt x="0" y="22"/>
                    </a:lnTo>
                    <a:lnTo>
                      <a:pt x="4" y="0"/>
                    </a:lnTo>
                    <a:lnTo>
                      <a:pt x="13" y="0"/>
                    </a:lnTo>
                    <a:lnTo>
                      <a:pt x="13" y="227"/>
                    </a:lnTo>
                    <a:lnTo>
                      <a:pt x="0" y="227"/>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270" name="Rectangle 1758"/>
              <p:cNvSpPr>
                <a:spLocks noChangeAspect="1" noChangeArrowheads="1"/>
              </p:cNvSpPr>
              <p:nvPr/>
            </p:nvSpPr>
            <p:spPr bwMode="auto">
              <a:xfrm>
                <a:off x="1537" y="2713"/>
                <a:ext cx="4"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71" name="Rectangle 1759"/>
              <p:cNvSpPr>
                <a:spLocks noChangeAspect="1" noChangeArrowheads="1"/>
              </p:cNvSpPr>
              <p:nvPr/>
            </p:nvSpPr>
            <p:spPr bwMode="auto">
              <a:xfrm>
                <a:off x="1540" y="2713"/>
                <a:ext cx="6"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72" name="Rectangle 1760"/>
              <p:cNvSpPr>
                <a:spLocks noChangeAspect="1" noChangeArrowheads="1"/>
              </p:cNvSpPr>
              <p:nvPr/>
            </p:nvSpPr>
            <p:spPr bwMode="auto">
              <a:xfrm>
                <a:off x="1543" y="2713"/>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73" name="Rectangle 1761"/>
              <p:cNvSpPr>
                <a:spLocks noChangeAspect="1" noChangeArrowheads="1"/>
              </p:cNvSpPr>
              <p:nvPr/>
            </p:nvSpPr>
            <p:spPr bwMode="auto">
              <a:xfrm>
                <a:off x="1545" y="2713"/>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74" name="Rectangle 1762"/>
              <p:cNvSpPr>
                <a:spLocks noChangeAspect="1" noChangeArrowheads="1"/>
              </p:cNvSpPr>
              <p:nvPr/>
            </p:nvSpPr>
            <p:spPr bwMode="auto">
              <a:xfrm>
                <a:off x="1550" y="2713"/>
                <a:ext cx="4"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75" name="Rectangle 1763"/>
              <p:cNvSpPr>
                <a:spLocks noChangeAspect="1" noChangeArrowheads="1"/>
              </p:cNvSpPr>
              <p:nvPr/>
            </p:nvSpPr>
            <p:spPr bwMode="auto">
              <a:xfrm>
                <a:off x="1552" y="2713"/>
                <a:ext cx="4"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76" name="Rectangle 1764"/>
              <p:cNvSpPr>
                <a:spLocks noChangeAspect="1" noChangeArrowheads="1"/>
              </p:cNvSpPr>
              <p:nvPr/>
            </p:nvSpPr>
            <p:spPr bwMode="auto">
              <a:xfrm>
                <a:off x="1556" y="2713"/>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77" name="Rectangle 1765"/>
              <p:cNvSpPr>
                <a:spLocks noChangeAspect="1" noChangeArrowheads="1"/>
              </p:cNvSpPr>
              <p:nvPr/>
            </p:nvSpPr>
            <p:spPr bwMode="auto">
              <a:xfrm>
                <a:off x="1559" y="2713"/>
                <a:ext cx="4"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78" name="Rectangle 1766"/>
              <p:cNvSpPr>
                <a:spLocks noChangeAspect="1" noChangeArrowheads="1"/>
              </p:cNvSpPr>
              <p:nvPr/>
            </p:nvSpPr>
            <p:spPr bwMode="auto">
              <a:xfrm>
                <a:off x="1565" y="2713"/>
                <a:ext cx="4"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79" name="Rectangle 1767"/>
              <p:cNvSpPr>
                <a:spLocks noChangeAspect="1" noChangeArrowheads="1"/>
              </p:cNvSpPr>
              <p:nvPr/>
            </p:nvSpPr>
            <p:spPr bwMode="auto">
              <a:xfrm>
                <a:off x="1567" y="2713"/>
                <a:ext cx="7"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80" name="Rectangle 1768"/>
              <p:cNvSpPr>
                <a:spLocks noChangeAspect="1" noChangeArrowheads="1"/>
              </p:cNvSpPr>
              <p:nvPr/>
            </p:nvSpPr>
            <p:spPr bwMode="auto">
              <a:xfrm>
                <a:off x="1571" y="2713"/>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81" name="Rectangle 1769"/>
              <p:cNvSpPr>
                <a:spLocks noChangeAspect="1" noChangeArrowheads="1"/>
              </p:cNvSpPr>
              <p:nvPr/>
            </p:nvSpPr>
            <p:spPr bwMode="auto">
              <a:xfrm>
                <a:off x="1574" y="2713"/>
                <a:ext cx="7"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82" name="Rectangle 1770"/>
              <p:cNvSpPr>
                <a:spLocks noChangeAspect="1" noChangeArrowheads="1"/>
              </p:cNvSpPr>
              <p:nvPr/>
            </p:nvSpPr>
            <p:spPr bwMode="auto">
              <a:xfrm>
                <a:off x="1581" y="2713"/>
                <a:ext cx="6"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83" name="Rectangle 1771"/>
              <p:cNvSpPr>
                <a:spLocks noChangeAspect="1" noChangeArrowheads="1"/>
              </p:cNvSpPr>
              <p:nvPr/>
            </p:nvSpPr>
            <p:spPr bwMode="auto">
              <a:xfrm>
                <a:off x="1582" y="2713"/>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84" name="Rectangle 1772"/>
              <p:cNvSpPr>
                <a:spLocks noChangeAspect="1" noChangeArrowheads="1"/>
              </p:cNvSpPr>
              <p:nvPr/>
            </p:nvSpPr>
            <p:spPr bwMode="auto">
              <a:xfrm>
                <a:off x="1586" y="2713"/>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85" name="Rectangle 1773"/>
              <p:cNvSpPr>
                <a:spLocks noChangeAspect="1" noChangeArrowheads="1"/>
              </p:cNvSpPr>
              <p:nvPr/>
            </p:nvSpPr>
            <p:spPr bwMode="auto">
              <a:xfrm>
                <a:off x="1588" y="2713"/>
                <a:ext cx="6"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86" name="Rectangle 1774"/>
              <p:cNvSpPr>
                <a:spLocks noChangeAspect="1" noChangeArrowheads="1"/>
              </p:cNvSpPr>
              <p:nvPr/>
            </p:nvSpPr>
            <p:spPr bwMode="auto">
              <a:xfrm>
                <a:off x="1593" y="2713"/>
                <a:ext cx="4"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87" name="Rectangle 1775"/>
              <p:cNvSpPr>
                <a:spLocks noChangeAspect="1" noChangeArrowheads="1"/>
              </p:cNvSpPr>
              <p:nvPr/>
            </p:nvSpPr>
            <p:spPr bwMode="auto">
              <a:xfrm>
                <a:off x="1595" y="2713"/>
                <a:ext cx="6"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88" name="Rectangle 1776"/>
              <p:cNvSpPr>
                <a:spLocks noChangeAspect="1" noChangeArrowheads="1"/>
              </p:cNvSpPr>
              <p:nvPr/>
            </p:nvSpPr>
            <p:spPr bwMode="auto">
              <a:xfrm>
                <a:off x="1599" y="2713"/>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89" name="Rectangle 1777"/>
              <p:cNvSpPr>
                <a:spLocks noChangeAspect="1" noChangeArrowheads="1"/>
              </p:cNvSpPr>
              <p:nvPr/>
            </p:nvSpPr>
            <p:spPr bwMode="auto">
              <a:xfrm>
                <a:off x="1602" y="2713"/>
                <a:ext cx="6"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90" name="Rectangle 1778"/>
              <p:cNvSpPr>
                <a:spLocks noChangeAspect="1" noChangeArrowheads="1"/>
              </p:cNvSpPr>
              <p:nvPr/>
            </p:nvSpPr>
            <p:spPr bwMode="auto">
              <a:xfrm>
                <a:off x="1608" y="2713"/>
                <a:ext cx="7"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91" name="Rectangle 1779"/>
              <p:cNvSpPr>
                <a:spLocks noChangeAspect="1" noChangeArrowheads="1"/>
              </p:cNvSpPr>
              <p:nvPr/>
            </p:nvSpPr>
            <p:spPr bwMode="auto">
              <a:xfrm>
                <a:off x="1610" y="2713"/>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92" name="Rectangle 1780"/>
              <p:cNvSpPr>
                <a:spLocks noChangeAspect="1" noChangeArrowheads="1"/>
              </p:cNvSpPr>
              <p:nvPr/>
            </p:nvSpPr>
            <p:spPr bwMode="auto">
              <a:xfrm>
                <a:off x="1615" y="2713"/>
                <a:ext cx="6"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93" name="Rectangle 1781"/>
              <p:cNvSpPr>
                <a:spLocks noChangeAspect="1" noChangeArrowheads="1"/>
              </p:cNvSpPr>
              <p:nvPr/>
            </p:nvSpPr>
            <p:spPr bwMode="auto">
              <a:xfrm>
                <a:off x="1616" y="2713"/>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294" name="Freeform 1782"/>
              <p:cNvSpPr>
                <a:spLocks noChangeAspect="1"/>
              </p:cNvSpPr>
              <p:nvPr/>
            </p:nvSpPr>
            <p:spPr bwMode="auto">
              <a:xfrm>
                <a:off x="1619" y="2713"/>
                <a:ext cx="4" cy="76"/>
              </a:xfrm>
              <a:custGeom>
                <a:avLst/>
                <a:gdLst>
                  <a:gd name="T0" fmla="*/ 0 w 12"/>
                  <a:gd name="T1" fmla="*/ 227 h 227"/>
                  <a:gd name="T2" fmla="*/ 0 w 12"/>
                  <a:gd name="T3" fmla="*/ 0 h 227"/>
                  <a:gd name="T4" fmla="*/ 11 w 12"/>
                  <a:gd name="T5" fmla="*/ 0 h 227"/>
                  <a:gd name="T6" fmla="*/ 12 w 12"/>
                  <a:gd name="T7" fmla="*/ 10 h 227"/>
                  <a:gd name="T8" fmla="*/ 12 w 12"/>
                  <a:gd name="T9" fmla="*/ 227 h 227"/>
                  <a:gd name="T10" fmla="*/ 0 w 12"/>
                  <a:gd name="T11" fmla="*/ 227 h 227"/>
                </a:gdLst>
                <a:ahLst/>
                <a:cxnLst>
                  <a:cxn ang="0">
                    <a:pos x="T0" y="T1"/>
                  </a:cxn>
                  <a:cxn ang="0">
                    <a:pos x="T2" y="T3"/>
                  </a:cxn>
                  <a:cxn ang="0">
                    <a:pos x="T4" y="T5"/>
                  </a:cxn>
                  <a:cxn ang="0">
                    <a:pos x="T6" y="T7"/>
                  </a:cxn>
                  <a:cxn ang="0">
                    <a:pos x="T8" y="T9"/>
                  </a:cxn>
                  <a:cxn ang="0">
                    <a:pos x="T10" y="T11"/>
                  </a:cxn>
                </a:cxnLst>
                <a:rect l="0" t="0" r="r" b="b"/>
                <a:pathLst>
                  <a:path w="12" h="227">
                    <a:moveTo>
                      <a:pt x="0" y="227"/>
                    </a:moveTo>
                    <a:lnTo>
                      <a:pt x="0" y="0"/>
                    </a:lnTo>
                    <a:lnTo>
                      <a:pt x="11" y="0"/>
                    </a:lnTo>
                    <a:lnTo>
                      <a:pt x="12" y="10"/>
                    </a:lnTo>
                    <a:lnTo>
                      <a:pt x="12" y="227"/>
                    </a:lnTo>
                    <a:lnTo>
                      <a:pt x="0" y="227"/>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295" name="Freeform 1783"/>
              <p:cNvSpPr>
                <a:spLocks noChangeAspect="1"/>
              </p:cNvSpPr>
              <p:nvPr/>
            </p:nvSpPr>
            <p:spPr bwMode="auto">
              <a:xfrm>
                <a:off x="1620" y="2713"/>
                <a:ext cx="5" cy="76"/>
              </a:xfrm>
              <a:custGeom>
                <a:avLst/>
                <a:gdLst>
                  <a:gd name="T0" fmla="*/ 0 w 13"/>
                  <a:gd name="T1" fmla="*/ 227 h 227"/>
                  <a:gd name="T2" fmla="*/ 0 w 13"/>
                  <a:gd name="T3" fmla="*/ 0 h 227"/>
                  <a:gd name="T4" fmla="*/ 5 w 13"/>
                  <a:gd name="T5" fmla="*/ 0 h 227"/>
                  <a:gd name="T6" fmla="*/ 13 w 13"/>
                  <a:gd name="T7" fmla="*/ 54 h 227"/>
                  <a:gd name="T8" fmla="*/ 13 w 13"/>
                  <a:gd name="T9" fmla="*/ 227 h 227"/>
                  <a:gd name="T10" fmla="*/ 0 w 13"/>
                  <a:gd name="T11" fmla="*/ 227 h 227"/>
                </a:gdLst>
                <a:ahLst/>
                <a:cxnLst>
                  <a:cxn ang="0">
                    <a:pos x="T0" y="T1"/>
                  </a:cxn>
                  <a:cxn ang="0">
                    <a:pos x="T2" y="T3"/>
                  </a:cxn>
                  <a:cxn ang="0">
                    <a:pos x="T4" y="T5"/>
                  </a:cxn>
                  <a:cxn ang="0">
                    <a:pos x="T6" y="T7"/>
                  </a:cxn>
                  <a:cxn ang="0">
                    <a:pos x="T8" y="T9"/>
                  </a:cxn>
                  <a:cxn ang="0">
                    <a:pos x="T10" y="T11"/>
                  </a:cxn>
                </a:cxnLst>
                <a:rect l="0" t="0" r="r" b="b"/>
                <a:pathLst>
                  <a:path w="13" h="227">
                    <a:moveTo>
                      <a:pt x="0" y="227"/>
                    </a:moveTo>
                    <a:lnTo>
                      <a:pt x="0" y="0"/>
                    </a:lnTo>
                    <a:lnTo>
                      <a:pt x="5" y="0"/>
                    </a:lnTo>
                    <a:lnTo>
                      <a:pt x="13" y="54"/>
                    </a:lnTo>
                    <a:lnTo>
                      <a:pt x="13" y="227"/>
                    </a:lnTo>
                    <a:lnTo>
                      <a:pt x="0" y="227"/>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296" name="Freeform 1784"/>
              <p:cNvSpPr>
                <a:spLocks noChangeAspect="1"/>
              </p:cNvSpPr>
              <p:nvPr/>
            </p:nvSpPr>
            <p:spPr bwMode="auto">
              <a:xfrm>
                <a:off x="1623" y="2717"/>
                <a:ext cx="5" cy="72"/>
              </a:xfrm>
              <a:custGeom>
                <a:avLst/>
                <a:gdLst>
                  <a:gd name="T0" fmla="*/ 0 w 13"/>
                  <a:gd name="T1" fmla="*/ 217 h 217"/>
                  <a:gd name="T2" fmla="*/ 0 w 13"/>
                  <a:gd name="T3" fmla="*/ 0 h 217"/>
                  <a:gd name="T4" fmla="*/ 13 w 13"/>
                  <a:gd name="T5" fmla="*/ 87 h 217"/>
                  <a:gd name="T6" fmla="*/ 13 w 13"/>
                  <a:gd name="T7" fmla="*/ 217 h 217"/>
                  <a:gd name="T8" fmla="*/ 0 w 13"/>
                  <a:gd name="T9" fmla="*/ 217 h 217"/>
                </a:gdLst>
                <a:ahLst/>
                <a:cxnLst>
                  <a:cxn ang="0">
                    <a:pos x="T0" y="T1"/>
                  </a:cxn>
                  <a:cxn ang="0">
                    <a:pos x="T2" y="T3"/>
                  </a:cxn>
                  <a:cxn ang="0">
                    <a:pos x="T4" y="T5"/>
                  </a:cxn>
                  <a:cxn ang="0">
                    <a:pos x="T6" y="T7"/>
                  </a:cxn>
                  <a:cxn ang="0">
                    <a:pos x="T8" y="T9"/>
                  </a:cxn>
                </a:cxnLst>
                <a:rect l="0" t="0" r="r" b="b"/>
                <a:pathLst>
                  <a:path w="13" h="217">
                    <a:moveTo>
                      <a:pt x="0" y="217"/>
                    </a:moveTo>
                    <a:lnTo>
                      <a:pt x="0" y="0"/>
                    </a:lnTo>
                    <a:lnTo>
                      <a:pt x="13" y="87"/>
                    </a:lnTo>
                    <a:lnTo>
                      <a:pt x="13" y="217"/>
                    </a:lnTo>
                    <a:lnTo>
                      <a:pt x="0" y="217"/>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297" name="Freeform 1785"/>
              <p:cNvSpPr>
                <a:spLocks noChangeAspect="1"/>
              </p:cNvSpPr>
              <p:nvPr/>
            </p:nvSpPr>
            <p:spPr bwMode="auto">
              <a:xfrm>
                <a:off x="1625" y="2731"/>
                <a:ext cx="4" cy="58"/>
              </a:xfrm>
              <a:custGeom>
                <a:avLst/>
                <a:gdLst>
                  <a:gd name="T0" fmla="*/ 0 w 13"/>
                  <a:gd name="T1" fmla="*/ 173 h 173"/>
                  <a:gd name="T2" fmla="*/ 0 w 13"/>
                  <a:gd name="T3" fmla="*/ 0 h 173"/>
                  <a:gd name="T4" fmla="*/ 13 w 13"/>
                  <a:gd name="T5" fmla="*/ 86 h 173"/>
                  <a:gd name="T6" fmla="*/ 13 w 13"/>
                  <a:gd name="T7" fmla="*/ 173 h 173"/>
                  <a:gd name="T8" fmla="*/ 0 w 13"/>
                  <a:gd name="T9" fmla="*/ 173 h 173"/>
                </a:gdLst>
                <a:ahLst/>
                <a:cxnLst>
                  <a:cxn ang="0">
                    <a:pos x="T0" y="T1"/>
                  </a:cxn>
                  <a:cxn ang="0">
                    <a:pos x="T2" y="T3"/>
                  </a:cxn>
                  <a:cxn ang="0">
                    <a:pos x="T4" y="T5"/>
                  </a:cxn>
                  <a:cxn ang="0">
                    <a:pos x="T6" y="T7"/>
                  </a:cxn>
                  <a:cxn ang="0">
                    <a:pos x="T8" y="T9"/>
                  </a:cxn>
                </a:cxnLst>
                <a:rect l="0" t="0" r="r" b="b"/>
                <a:pathLst>
                  <a:path w="13" h="173">
                    <a:moveTo>
                      <a:pt x="0" y="173"/>
                    </a:moveTo>
                    <a:lnTo>
                      <a:pt x="0" y="0"/>
                    </a:lnTo>
                    <a:lnTo>
                      <a:pt x="13" y="86"/>
                    </a:lnTo>
                    <a:lnTo>
                      <a:pt x="13" y="173"/>
                    </a:lnTo>
                    <a:lnTo>
                      <a:pt x="0" y="173"/>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298" name="Freeform 1786"/>
              <p:cNvSpPr>
                <a:spLocks noChangeAspect="1"/>
              </p:cNvSpPr>
              <p:nvPr/>
            </p:nvSpPr>
            <p:spPr bwMode="auto">
              <a:xfrm>
                <a:off x="1627" y="2746"/>
                <a:ext cx="4" cy="43"/>
              </a:xfrm>
              <a:custGeom>
                <a:avLst/>
                <a:gdLst>
                  <a:gd name="T0" fmla="*/ 0 w 13"/>
                  <a:gd name="T1" fmla="*/ 130 h 130"/>
                  <a:gd name="T2" fmla="*/ 0 w 13"/>
                  <a:gd name="T3" fmla="*/ 0 h 130"/>
                  <a:gd name="T4" fmla="*/ 13 w 13"/>
                  <a:gd name="T5" fmla="*/ 86 h 130"/>
                  <a:gd name="T6" fmla="*/ 13 w 13"/>
                  <a:gd name="T7" fmla="*/ 130 h 130"/>
                  <a:gd name="T8" fmla="*/ 0 w 13"/>
                  <a:gd name="T9" fmla="*/ 130 h 130"/>
                </a:gdLst>
                <a:ahLst/>
                <a:cxnLst>
                  <a:cxn ang="0">
                    <a:pos x="T0" y="T1"/>
                  </a:cxn>
                  <a:cxn ang="0">
                    <a:pos x="T2" y="T3"/>
                  </a:cxn>
                  <a:cxn ang="0">
                    <a:pos x="T4" y="T5"/>
                  </a:cxn>
                  <a:cxn ang="0">
                    <a:pos x="T6" y="T7"/>
                  </a:cxn>
                  <a:cxn ang="0">
                    <a:pos x="T8" y="T9"/>
                  </a:cxn>
                </a:cxnLst>
                <a:rect l="0" t="0" r="r" b="b"/>
                <a:pathLst>
                  <a:path w="13" h="130">
                    <a:moveTo>
                      <a:pt x="0" y="130"/>
                    </a:moveTo>
                    <a:lnTo>
                      <a:pt x="0" y="0"/>
                    </a:lnTo>
                    <a:lnTo>
                      <a:pt x="13" y="86"/>
                    </a:lnTo>
                    <a:lnTo>
                      <a:pt x="13" y="130"/>
                    </a:lnTo>
                    <a:lnTo>
                      <a:pt x="0" y="130"/>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299" name="Freeform 1787"/>
              <p:cNvSpPr>
                <a:spLocks noChangeAspect="1"/>
              </p:cNvSpPr>
              <p:nvPr/>
            </p:nvSpPr>
            <p:spPr bwMode="auto">
              <a:xfrm>
                <a:off x="1629" y="2760"/>
                <a:ext cx="6" cy="29"/>
              </a:xfrm>
              <a:custGeom>
                <a:avLst/>
                <a:gdLst>
                  <a:gd name="T0" fmla="*/ 0 w 12"/>
                  <a:gd name="T1" fmla="*/ 87 h 87"/>
                  <a:gd name="T2" fmla="*/ 0 w 12"/>
                  <a:gd name="T3" fmla="*/ 0 h 87"/>
                  <a:gd name="T4" fmla="*/ 12 w 12"/>
                  <a:gd name="T5" fmla="*/ 87 h 87"/>
                  <a:gd name="T6" fmla="*/ 0 w 12"/>
                  <a:gd name="T7" fmla="*/ 87 h 87"/>
                </a:gdLst>
                <a:ahLst/>
                <a:cxnLst>
                  <a:cxn ang="0">
                    <a:pos x="T0" y="T1"/>
                  </a:cxn>
                  <a:cxn ang="0">
                    <a:pos x="T2" y="T3"/>
                  </a:cxn>
                  <a:cxn ang="0">
                    <a:pos x="T4" y="T5"/>
                  </a:cxn>
                  <a:cxn ang="0">
                    <a:pos x="T6" y="T7"/>
                  </a:cxn>
                </a:cxnLst>
                <a:rect l="0" t="0" r="r" b="b"/>
                <a:pathLst>
                  <a:path w="12" h="87">
                    <a:moveTo>
                      <a:pt x="0" y="87"/>
                    </a:moveTo>
                    <a:lnTo>
                      <a:pt x="0" y="0"/>
                    </a:lnTo>
                    <a:lnTo>
                      <a:pt x="12" y="87"/>
                    </a:lnTo>
                    <a:lnTo>
                      <a:pt x="0" y="87"/>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300" name="Freeform 1788"/>
              <p:cNvSpPr>
                <a:spLocks noChangeAspect="1"/>
              </p:cNvSpPr>
              <p:nvPr/>
            </p:nvSpPr>
            <p:spPr bwMode="auto">
              <a:xfrm>
                <a:off x="1631" y="2774"/>
                <a:ext cx="2" cy="17"/>
              </a:xfrm>
              <a:custGeom>
                <a:avLst/>
                <a:gdLst>
                  <a:gd name="T0" fmla="*/ 0 w 6"/>
                  <a:gd name="T1" fmla="*/ 44 h 44"/>
                  <a:gd name="T2" fmla="*/ 0 w 6"/>
                  <a:gd name="T3" fmla="*/ 0 h 44"/>
                  <a:gd name="T4" fmla="*/ 6 w 6"/>
                  <a:gd name="T5" fmla="*/ 44 h 44"/>
                  <a:gd name="T6" fmla="*/ 0 w 6"/>
                  <a:gd name="T7" fmla="*/ 44 h 44"/>
                </a:gdLst>
                <a:ahLst/>
                <a:cxnLst>
                  <a:cxn ang="0">
                    <a:pos x="T0" y="T1"/>
                  </a:cxn>
                  <a:cxn ang="0">
                    <a:pos x="T2" y="T3"/>
                  </a:cxn>
                  <a:cxn ang="0">
                    <a:pos x="T4" y="T5"/>
                  </a:cxn>
                  <a:cxn ang="0">
                    <a:pos x="T6" y="T7"/>
                  </a:cxn>
                </a:cxnLst>
                <a:rect l="0" t="0" r="r" b="b"/>
                <a:pathLst>
                  <a:path w="6" h="44">
                    <a:moveTo>
                      <a:pt x="0" y="44"/>
                    </a:moveTo>
                    <a:lnTo>
                      <a:pt x="0" y="0"/>
                    </a:lnTo>
                    <a:lnTo>
                      <a:pt x="6" y="44"/>
                    </a:lnTo>
                    <a:lnTo>
                      <a:pt x="0" y="44"/>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301" name="Freeform 1789"/>
              <p:cNvSpPr>
                <a:spLocks noChangeAspect="1"/>
              </p:cNvSpPr>
              <p:nvPr/>
            </p:nvSpPr>
            <p:spPr bwMode="auto">
              <a:xfrm>
                <a:off x="1526" y="2713"/>
                <a:ext cx="109" cy="76"/>
              </a:xfrm>
              <a:custGeom>
                <a:avLst/>
                <a:gdLst>
                  <a:gd name="T0" fmla="*/ 29 w 321"/>
                  <a:gd name="T1" fmla="*/ 0 h 227"/>
                  <a:gd name="T2" fmla="*/ 0 w 321"/>
                  <a:gd name="T3" fmla="*/ 227 h 227"/>
                  <a:gd name="T4" fmla="*/ 321 w 321"/>
                  <a:gd name="T5" fmla="*/ 227 h 227"/>
                  <a:gd name="T6" fmla="*/ 288 w 321"/>
                  <a:gd name="T7" fmla="*/ 0 h 227"/>
                  <a:gd name="T8" fmla="*/ 29 w 321"/>
                  <a:gd name="T9" fmla="*/ 0 h 227"/>
                </a:gdLst>
                <a:ahLst/>
                <a:cxnLst>
                  <a:cxn ang="0">
                    <a:pos x="T0" y="T1"/>
                  </a:cxn>
                  <a:cxn ang="0">
                    <a:pos x="T2" y="T3"/>
                  </a:cxn>
                  <a:cxn ang="0">
                    <a:pos x="T4" y="T5"/>
                  </a:cxn>
                  <a:cxn ang="0">
                    <a:pos x="T6" y="T7"/>
                  </a:cxn>
                  <a:cxn ang="0">
                    <a:pos x="T8" y="T9"/>
                  </a:cxn>
                </a:cxnLst>
                <a:rect l="0" t="0" r="r" b="b"/>
                <a:pathLst>
                  <a:path w="321" h="227">
                    <a:moveTo>
                      <a:pt x="29" y="0"/>
                    </a:moveTo>
                    <a:lnTo>
                      <a:pt x="0" y="227"/>
                    </a:lnTo>
                    <a:lnTo>
                      <a:pt x="321" y="227"/>
                    </a:lnTo>
                    <a:lnTo>
                      <a:pt x="288" y="0"/>
                    </a:lnTo>
                    <a:lnTo>
                      <a:pt x="29" y="0"/>
                    </a:lnTo>
                  </a:path>
                </a:pathLst>
              </a:custGeom>
              <a:gradFill rotWithShape="0">
                <a:gsLst>
                  <a:gs pos="0">
                    <a:schemeClr val="hlink"/>
                  </a:gs>
                  <a:gs pos="50000">
                    <a:schemeClr val="hlink">
                      <a:gamma/>
                      <a:tint val="40000"/>
                      <a:invGamma/>
                    </a:schemeClr>
                  </a:gs>
                  <a:gs pos="100000">
                    <a:schemeClr val="hlink"/>
                  </a:gs>
                </a:gsLst>
                <a:lin ang="0" scaled="1"/>
              </a:gradFill>
              <a:ln w="1588">
                <a:solidFill>
                  <a:srgbClr val="1F1A17"/>
                </a:solidFill>
                <a:prstDash val="solid"/>
                <a:round/>
                <a:headEnd/>
                <a:tailEnd/>
              </a:ln>
            </p:spPr>
            <p:txBody>
              <a:bodyPr/>
              <a:lstStyle/>
              <a:p>
                <a:pPr>
                  <a:defRPr/>
                </a:pPr>
                <a:endParaRPr lang="en-US"/>
              </a:p>
            </p:txBody>
          </p:sp>
        </p:grpSp>
        <p:grpSp>
          <p:nvGrpSpPr>
            <p:cNvPr id="386168" name="Group 1790"/>
            <p:cNvGrpSpPr>
              <a:grpSpLocks noChangeAspect="1"/>
            </p:cNvGrpSpPr>
            <p:nvPr/>
          </p:nvGrpSpPr>
          <p:grpSpPr bwMode="auto">
            <a:xfrm>
              <a:off x="1805" y="2113"/>
              <a:ext cx="98" cy="750"/>
              <a:chOff x="1892" y="1950"/>
              <a:chExt cx="115" cy="907"/>
            </a:xfrm>
          </p:grpSpPr>
          <p:sp>
            <p:nvSpPr>
              <p:cNvPr id="66303" name="Rectangle 1791"/>
              <p:cNvSpPr>
                <a:spLocks noChangeAspect="1" noChangeArrowheads="1"/>
              </p:cNvSpPr>
              <p:nvPr/>
            </p:nvSpPr>
            <p:spPr bwMode="auto">
              <a:xfrm>
                <a:off x="1907" y="1950"/>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04" name="Rectangle 1792"/>
              <p:cNvSpPr>
                <a:spLocks noChangeAspect="1" noChangeArrowheads="1"/>
              </p:cNvSpPr>
              <p:nvPr/>
            </p:nvSpPr>
            <p:spPr bwMode="auto">
              <a:xfrm>
                <a:off x="1908" y="1950"/>
                <a:ext cx="5"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05" name="Rectangle 1793"/>
              <p:cNvSpPr>
                <a:spLocks noChangeAspect="1" noChangeArrowheads="1"/>
              </p:cNvSpPr>
              <p:nvPr/>
            </p:nvSpPr>
            <p:spPr bwMode="auto">
              <a:xfrm>
                <a:off x="1914" y="1950"/>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06" name="Rectangle 1794"/>
              <p:cNvSpPr>
                <a:spLocks noChangeAspect="1" noChangeArrowheads="1"/>
              </p:cNvSpPr>
              <p:nvPr/>
            </p:nvSpPr>
            <p:spPr bwMode="auto">
              <a:xfrm>
                <a:off x="1915" y="1950"/>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07" name="Rectangle 1795"/>
              <p:cNvSpPr>
                <a:spLocks noChangeAspect="1" noChangeArrowheads="1"/>
              </p:cNvSpPr>
              <p:nvPr/>
            </p:nvSpPr>
            <p:spPr bwMode="auto">
              <a:xfrm>
                <a:off x="1921" y="1950"/>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08" name="Rectangle 1796"/>
              <p:cNvSpPr>
                <a:spLocks noChangeAspect="1" noChangeArrowheads="1"/>
              </p:cNvSpPr>
              <p:nvPr/>
            </p:nvSpPr>
            <p:spPr bwMode="auto">
              <a:xfrm>
                <a:off x="1923" y="1950"/>
                <a:ext cx="7"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09" name="Rectangle 1797"/>
              <p:cNvSpPr>
                <a:spLocks noChangeAspect="1" noChangeArrowheads="1"/>
              </p:cNvSpPr>
              <p:nvPr/>
            </p:nvSpPr>
            <p:spPr bwMode="auto">
              <a:xfrm>
                <a:off x="1928" y="1950"/>
                <a:ext cx="1"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10" name="Rectangle 1798"/>
              <p:cNvSpPr>
                <a:spLocks noChangeAspect="1" noChangeArrowheads="1"/>
              </p:cNvSpPr>
              <p:nvPr/>
            </p:nvSpPr>
            <p:spPr bwMode="auto">
              <a:xfrm>
                <a:off x="1930" y="1950"/>
                <a:ext cx="6"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11" name="Rectangle 1799"/>
              <p:cNvSpPr>
                <a:spLocks noChangeAspect="1" noChangeArrowheads="1"/>
              </p:cNvSpPr>
              <p:nvPr/>
            </p:nvSpPr>
            <p:spPr bwMode="auto">
              <a:xfrm>
                <a:off x="1935" y="1950"/>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12" name="Rectangle 1800"/>
              <p:cNvSpPr>
                <a:spLocks noChangeAspect="1" noChangeArrowheads="1"/>
              </p:cNvSpPr>
              <p:nvPr/>
            </p:nvSpPr>
            <p:spPr bwMode="auto">
              <a:xfrm>
                <a:off x="1937" y="1950"/>
                <a:ext cx="6"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13" name="Rectangle 1801"/>
              <p:cNvSpPr>
                <a:spLocks noChangeAspect="1" noChangeArrowheads="1"/>
              </p:cNvSpPr>
              <p:nvPr/>
            </p:nvSpPr>
            <p:spPr bwMode="auto">
              <a:xfrm>
                <a:off x="1942" y="1950"/>
                <a:ext cx="0"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14" name="Rectangle 1802"/>
              <p:cNvSpPr>
                <a:spLocks noChangeAspect="1" noChangeArrowheads="1"/>
              </p:cNvSpPr>
              <p:nvPr/>
            </p:nvSpPr>
            <p:spPr bwMode="auto">
              <a:xfrm>
                <a:off x="1942" y="1950"/>
                <a:ext cx="5"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15" name="Rectangle 1803"/>
              <p:cNvSpPr>
                <a:spLocks noChangeAspect="1" noChangeArrowheads="1"/>
              </p:cNvSpPr>
              <p:nvPr/>
            </p:nvSpPr>
            <p:spPr bwMode="auto">
              <a:xfrm>
                <a:off x="1949" y="1950"/>
                <a:ext cx="0"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16" name="Rectangle 1804"/>
              <p:cNvSpPr>
                <a:spLocks noChangeAspect="1" noChangeArrowheads="1"/>
              </p:cNvSpPr>
              <p:nvPr/>
            </p:nvSpPr>
            <p:spPr bwMode="auto">
              <a:xfrm>
                <a:off x="1951" y="1950"/>
                <a:ext cx="6"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17" name="Rectangle 1805"/>
              <p:cNvSpPr>
                <a:spLocks noChangeAspect="1" noChangeArrowheads="1"/>
              </p:cNvSpPr>
              <p:nvPr/>
            </p:nvSpPr>
            <p:spPr bwMode="auto">
              <a:xfrm>
                <a:off x="1952" y="1950"/>
                <a:ext cx="5"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18" name="Rectangle 1806"/>
              <p:cNvSpPr>
                <a:spLocks noChangeAspect="1" noChangeArrowheads="1"/>
              </p:cNvSpPr>
              <p:nvPr/>
            </p:nvSpPr>
            <p:spPr bwMode="auto">
              <a:xfrm>
                <a:off x="1957" y="1950"/>
                <a:ext cx="7"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19" name="Rectangle 1807"/>
              <p:cNvSpPr>
                <a:spLocks noChangeAspect="1" noChangeArrowheads="1"/>
              </p:cNvSpPr>
              <p:nvPr/>
            </p:nvSpPr>
            <p:spPr bwMode="auto">
              <a:xfrm>
                <a:off x="1959" y="1950"/>
                <a:ext cx="5"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20" name="Rectangle 1808"/>
              <p:cNvSpPr>
                <a:spLocks noChangeAspect="1" noChangeArrowheads="1"/>
              </p:cNvSpPr>
              <p:nvPr/>
            </p:nvSpPr>
            <p:spPr bwMode="auto">
              <a:xfrm>
                <a:off x="1964" y="1950"/>
                <a:ext cx="6"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21" name="Rectangle 1809"/>
              <p:cNvSpPr>
                <a:spLocks noChangeAspect="1" noChangeArrowheads="1"/>
              </p:cNvSpPr>
              <p:nvPr/>
            </p:nvSpPr>
            <p:spPr bwMode="auto">
              <a:xfrm>
                <a:off x="1966" y="1950"/>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22" name="Rectangle 1810"/>
              <p:cNvSpPr>
                <a:spLocks noChangeAspect="1" noChangeArrowheads="1"/>
              </p:cNvSpPr>
              <p:nvPr/>
            </p:nvSpPr>
            <p:spPr bwMode="auto">
              <a:xfrm>
                <a:off x="1971" y="1950"/>
                <a:ext cx="6"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23" name="Rectangle 1811"/>
              <p:cNvSpPr>
                <a:spLocks noChangeAspect="1" noChangeArrowheads="1"/>
              </p:cNvSpPr>
              <p:nvPr/>
            </p:nvSpPr>
            <p:spPr bwMode="auto">
              <a:xfrm>
                <a:off x="1973" y="1950"/>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24" name="Rectangle 1812"/>
              <p:cNvSpPr>
                <a:spLocks noChangeAspect="1" noChangeArrowheads="1"/>
              </p:cNvSpPr>
              <p:nvPr/>
            </p:nvSpPr>
            <p:spPr bwMode="auto">
              <a:xfrm>
                <a:off x="1978" y="1950"/>
                <a:ext cx="6"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25" name="Rectangle 1813"/>
              <p:cNvSpPr>
                <a:spLocks noChangeAspect="1" noChangeArrowheads="1"/>
              </p:cNvSpPr>
              <p:nvPr/>
            </p:nvSpPr>
            <p:spPr bwMode="auto">
              <a:xfrm>
                <a:off x="1980" y="1950"/>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26" name="Rectangle 1814"/>
              <p:cNvSpPr>
                <a:spLocks noChangeAspect="1" noChangeArrowheads="1"/>
              </p:cNvSpPr>
              <p:nvPr/>
            </p:nvSpPr>
            <p:spPr bwMode="auto">
              <a:xfrm>
                <a:off x="1985" y="1950"/>
                <a:ext cx="6"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27" name="Rectangle 1815"/>
              <p:cNvSpPr>
                <a:spLocks noChangeAspect="1" noChangeArrowheads="1"/>
              </p:cNvSpPr>
              <p:nvPr/>
            </p:nvSpPr>
            <p:spPr bwMode="auto">
              <a:xfrm>
                <a:off x="1987" y="1950"/>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28" name="Rectangle 1816"/>
              <p:cNvSpPr>
                <a:spLocks noChangeAspect="1" noChangeArrowheads="1"/>
              </p:cNvSpPr>
              <p:nvPr/>
            </p:nvSpPr>
            <p:spPr bwMode="auto">
              <a:xfrm>
                <a:off x="1906" y="1950"/>
                <a:ext cx="86" cy="761"/>
              </a:xfrm>
              <a:prstGeom prst="rect">
                <a:avLst/>
              </a:prstGeom>
              <a:gradFill rotWithShape="0">
                <a:gsLst>
                  <a:gs pos="0">
                    <a:schemeClr val="hlink"/>
                  </a:gs>
                  <a:gs pos="50000">
                    <a:schemeClr val="hlink">
                      <a:gamma/>
                      <a:tint val="40000"/>
                      <a:invGamma/>
                    </a:schemeClr>
                  </a:gs>
                  <a:gs pos="100000">
                    <a:schemeClr val="hlink"/>
                  </a:gs>
                </a:gsLst>
                <a:lin ang="0" scaled="1"/>
              </a:gradFill>
              <a:ln w="1588">
                <a:solidFill>
                  <a:srgbClr val="1F1A17"/>
                </a:solidFill>
                <a:miter lim="800000"/>
                <a:headEnd/>
                <a:tailEnd/>
              </a:ln>
            </p:spPr>
            <p:txBody>
              <a:bodyPr/>
              <a:lstStyle/>
              <a:p>
                <a:pPr>
                  <a:defRPr/>
                </a:pPr>
                <a:endParaRPr lang="en-US"/>
              </a:p>
            </p:txBody>
          </p:sp>
          <p:sp>
            <p:nvSpPr>
              <p:cNvPr id="66329" name="Rectangle 1817"/>
              <p:cNvSpPr>
                <a:spLocks noChangeAspect="1" noChangeArrowheads="1"/>
              </p:cNvSpPr>
              <p:nvPr/>
            </p:nvSpPr>
            <p:spPr bwMode="auto">
              <a:xfrm>
                <a:off x="1892" y="2787"/>
                <a:ext cx="4"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30" name="Rectangle 1818"/>
              <p:cNvSpPr>
                <a:spLocks noChangeAspect="1" noChangeArrowheads="1"/>
              </p:cNvSpPr>
              <p:nvPr/>
            </p:nvSpPr>
            <p:spPr bwMode="auto">
              <a:xfrm>
                <a:off x="1894"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31" name="Rectangle 1819"/>
              <p:cNvSpPr>
                <a:spLocks noChangeAspect="1" noChangeArrowheads="1"/>
              </p:cNvSpPr>
              <p:nvPr/>
            </p:nvSpPr>
            <p:spPr bwMode="auto">
              <a:xfrm>
                <a:off x="1899" y="2787"/>
                <a:ext cx="4"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32" name="Rectangle 1820"/>
              <p:cNvSpPr>
                <a:spLocks noChangeAspect="1" noChangeArrowheads="1"/>
              </p:cNvSpPr>
              <p:nvPr/>
            </p:nvSpPr>
            <p:spPr bwMode="auto">
              <a:xfrm>
                <a:off x="1901"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33" name="Rectangle 1821"/>
              <p:cNvSpPr>
                <a:spLocks noChangeAspect="1" noChangeArrowheads="1"/>
              </p:cNvSpPr>
              <p:nvPr/>
            </p:nvSpPr>
            <p:spPr bwMode="auto">
              <a:xfrm>
                <a:off x="1906" y="2787"/>
                <a:ext cx="4"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34" name="Rectangle 1822"/>
              <p:cNvSpPr>
                <a:spLocks noChangeAspect="1" noChangeArrowheads="1"/>
              </p:cNvSpPr>
              <p:nvPr/>
            </p:nvSpPr>
            <p:spPr bwMode="auto">
              <a:xfrm>
                <a:off x="1908"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35" name="Rectangle 1823"/>
              <p:cNvSpPr>
                <a:spLocks noChangeAspect="1" noChangeArrowheads="1"/>
              </p:cNvSpPr>
              <p:nvPr/>
            </p:nvSpPr>
            <p:spPr bwMode="auto">
              <a:xfrm>
                <a:off x="1913" y="2787"/>
                <a:ext cx="4"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36" name="Rectangle 1824"/>
              <p:cNvSpPr>
                <a:spLocks noChangeAspect="1" noChangeArrowheads="1"/>
              </p:cNvSpPr>
              <p:nvPr/>
            </p:nvSpPr>
            <p:spPr bwMode="auto">
              <a:xfrm>
                <a:off x="1915" y="2787"/>
                <a:ext cx="4"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37" name="Rectangle 1825"/>
              <p:cNvSpPr>
                <a:spLocks noChangeAspect="1" noChangeArrowheads="1"/>
              </p:cNvSpPr>
              <p:nvPr/>
            </p:nvSpPr>
            <p:spPr bwMode="auto">
              <a:xfrm>
                <a:off x="1919"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38" name="Rectangle 1826"/>
              <p:cNvSpPr>
                <a:spLocks noChangeAspect="1" noChangeArrowheads="1"/>
              </p:cNvSpPr>
              <p:nvPr/>
            </p:nvSpPr>
            <p:spPr bwMode="auto">
              <a:xfrm>
                <a:off x="1923" y="2787"/>
                <a:ext cx="7"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39" name="Rectangle 1827"/>
              <p:cNvSpPr>
                <a:spLocks noChangeAspect="1" noChangeArrowheads="1"/>
              </p:cNvSpPr>
              <p:nvPr/>
            </p:nvSpPr>
            <p:spPr bwMode="auto">
              <a:xfrm>
                <a:off x="1926"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40" name="Rectangle 1828"/>
              <p:cNvSpPr>
                <a:spLocks noChangeAspect="1" noChangeArrowheads="1"/>
              </p:cNvSpPr>
              <p:nvPr/>
            </p:nvSpPr>
            <p:spPr bwMode="auto">
              <a:xfrm>
                <a:off x="1930" y="2787"/>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41" name="Rectangle 1829"/>
              <p:cNvSpPr>
                <a:spLocks noChangeAspect="1" noChangeArrowheads="1"/>
              </p:cNvSpPr>
              <p:nvPr/>
            </p:nvSpPr>
            <p:spPr bwMode="auto">
              <a:xfrm>
                <a:off x="1933"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42" name="Rectangle 1830"/>
              <p:cNvSpPr>
                <a:spLocks noChangeAspect="1" noChangeArrowheads="1"/>
              </p:cNvSpPr>
              <p:nvPr/>
            </p:nvSpPr>
            <p:spPr bwMode="auto">
              <a:xfrm>
                <a:off x="1935"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43" name="Rectangle 1831"/>
              <p:cNvSpPr>
                <a:spLocks noChangeAspect="1" noChangeArrowheads="1"/>
              </p:cNvSpPr>
              <p:nvPr/>
            </p:nvSpPr>
            <p:spPr bwMode="auto">
              <a:xfrm>
                <a:off x="1940"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44" name="Rectangle 1832"/>
              <p:cNvSpPr>
                <a:spLocks noChangeAspect="1" noChangeArrowheads="1"/>
              </p:cNvSpPr>
              <p:nvPr/>
            </p:nvSpPr>
            <p:spPr bwMode="auto">
              <a:xfrm>
                <a:off x="1942"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45" name="Rectangle 1833"/>
              <p:cNvSpPr>
                <a:spLocks noChangeAspect="1" noChangeArrowheads="1"/>
              </p:cNvSpPr>
              <p:nvPr/>
            </p:nvSpPr>
            <p:spPr bwMode="auto">
              <a:xfrm>
                <a:off x="1947"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46" name="Rectangle 1834"/>
              <p:cNvSpPr>
                <a:spLocks noChangeAspect="1" noChangeArrowheads="1"/>
              </p:cNvSpPr>
              <p:nvPr/>
            </p:nvSpPr>
            <p:spPr bwMode="auto">
              <a:xfrm>
                <a:off x="1949"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47" name="Rectangle 1835"/>
              <p:cNvSpPr>
                <a:spLocks noChangeAspect="1" noChangeArrowheads="1"/>
              </p:cNvSpPr>
              <p:nvPr/>
            </p:nvSpPr>
            <p:spPr bwMode="auto">
              <a:xfrm>
                <a:off x="1952"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48" name="Rectangle 1836"/>
              <p:cNvSpPr>
                <a:spLocks noChangeAspect="1" noChangeArrowheads="1"/>
              </p:cNvSpPr>
              <p:nvPr/>
            </p:nvSpPr>
            <p:spPr bwMode="auto">
              <a:xfrm>
                <a:off x="1957" y="2787"/>
                <a:ext cx="7"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49" name="Rectangle 1837"/>
              <p:cNvSpPr>
                <a:spLocks noChangeAspect="1" noChangeArrowheads="1"/>
              </p:cNvSpPr>
              <p:nvPr/>
            </p:nvSpPr>
            <p:spPr bwMode="auto">
              <a:xfrm>
                <a:off x="1959"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50" name="Rectangle 1838"/>
              <p:cNvSpPr>
                <a:spLocks noChangeAspect="1" noChangeArrowheads="1"/>
              </p:cNvSpPr>
              <p:nvPr/>
            </p:nvSpPr>
            <p:spPr bwMode="auto">
              <a:xfrm>
                <a:off x="1964" y="2787"/>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51" name="Rectangle 1839"/>
              <p:cNvSpPr>
                <a:spLocks noChangeAspect="1" noChangeArrowheads="1"/>
              </p:cNvSpPr>
              <p:nvPr/>
            </p:nvSpPr>
            <p:spPr bwMode="auto">
              <a:xfrm>
                <a:off x="1966" y="2787"/>
                <a:ext cx="4"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52" name="Rectangle 1840"/>
              <p:cNvSpPr>
                <a:spLocks noChangeAspect="1" noChangeArrowheads="1"/>
              </p:cNvSpPr>
              <p:nvPr/>
            </p:nvSpPr>
            <p:spPr bwMode="auto">
              <a:xfrm>
                <a:off x="1969" y="2787"/>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53" name="Rectangle 1841"/>
              <p:cNvSpPr>
                <a:spLocks noChangeAspect="1" noChangeArrowheads="1"/>
              </p:cNvSpPr>
              <p:nvPr/>
            </p:nvSpPr>
            <p:spPr bwMode="auto">
              <a:xfrm>
                <a:off x="1973" y="2787"/>
                <a:ext cx="4"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54" name="Rectangle 1842"/>
              <p:cNvSpPr>
                <a:spLocks noChangeAspect="1" noChangeArrowheads="1"/>
              </p:cNvSpPr>
              <p:nvPr/>
            </p:nvSpPr>
            <p:spPr bwMode="auto">
              <a:xfrm>
                <a:off x="1976" y="2787"/>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55" name="Rectangle 1843"/>
              <p:cNvSpPr>
                <a:spLocks noChangeAspect="1" noChangeArrowheads="1"/>
              </p:cNvSpPr>
              <p:nvPr/>
            </p:nvSpPr>
            <p:spPr bwMode="auto">
              <a:xfrm>
                <a:off x="1980" y="2787"/>
                <a:ext cx="4"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56" name="Rectangle 1844"/>
              <p:cNvSpPr>
                <a:spLocks noChangeAspect="1" noChangeArrowheads="1"/>
              </p:cNvSpPr>
              <p:nvPr/>
            </p:nvSpPr>
            <p:spPr bwMode="auto">
              <a:xfrm>
                <a:off x="1984" y="2787"/>
                <a:ext cx="7"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57" name="Rectangle 1845"/>
              <p:cNvSpPr>
                <a:spLocks noChangeAspect="1" noChangeArrowheads="1"/>
              </p:cNvSpPr>
              <p:nvPr/>
            </p:nvSpPr>
            <p:spPr bwMode="auto">
              <a:xfrm>
                <a:off x="1986"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58" name="Rectangle 1846"/>
              <p:cNvSpPr>
                <a:spLocks noChangeAspect="1" noChangeArrowheads="1"/>
              </p:cNvSpPr>
              <p:nvPr/>
            </p:nvSpPr>
            <p:spPr bwMode="auto">
              <a:xfrm>
                <a:off x="1991" y="2787"/>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59" name="Rectangle 1847"/>
              <p:cNvSpPr>
                <a:spLocks noChangeAspect="1" noChangeArrowheads="1"/>
              </p:cNvSpPr>
              <p:nvPr/>
            </p:nvSpPr>
            <p:spPr bwMode="auto">
              <a:xfrm>
                <a:off x="1994" y="2787"/>
                <a:ext cx="4"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60" name="Rectangle 1848"/>
              <p:cNvSpPr>
                <a:spLocks noChangeAspect="1" noChangeArrowheads="1"/>
              </p:cNvSpPr>
              <p:nvPr/>
            </p:nvSpPr>
            <p:spPr bwMode="auto">
              <a:xfrm>
                <a:off x="1998" y="2787"/>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61" name="Rectangle 1849"/>
              <p:cNvSpPr>
                <a:spLocks noChangeAspect="1" noChangeArrowheads="1"/>
              </p:cNvSpPr>
              <p:nvPr/>
            </p:nvSpPr>
            <p:spPr bwMode="auto">
              <a:xfrm>
                <a:off x="2000"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62" name="Rectangle 1850"/>
              <p:cNvSpPr>
                <a:spLocks noChangeAspect="1" noChangeArrowheads="1"/>
              </p:cNvSpPr>
              <p:nvPr/>
            </p:nvSpPr>
            <p:spPr bwMode="auto">
              <a:xfrm>
                <a:off x="1892" y="2787"/>
                <a:ext cx="115" cy="70"/>
              </a:xfrm>
              <a:prstGeom prst="rect">
                <a:avLst/>
              </a:prstGeom>
              <a:gradFill rotWithShape="0">
                <a:gsLst>
                  <a:gs pos="0">
                    <a:schemeClr val="hlink"/>
                  </a:gs>
                  <a:gs pos="50000">
                    <a:schemeClr val="hlink">
                      <a:gamma/>
                      <a:tint val="40000"/>
                      <a:invGamma/>
                    </a:schemeClr>
                  </a:gs>
                  <a:gs pos="100000">
                    <a:schemeClr val="hlink"/>
                  </a:gs>
                </a:gsLst>
                <a:lin ang="0" scaled="1"/>
              </a:gradFill>
              <a:ln w="1588">
                <a:solidFill>
                  <a:srgbClr val="1F1A17"/>
                </a:solidFill>
                <a:miter lim="800000"/>
                <a:headEnd/>
                <a:tailEnd/>
              </a:ln>
            </p:spPr>
            <p:txBody>
              <a:bodyPr/>
              <a:lstStyle/>
              <a:p>
                <a:pPr>
                  <a:defRPr/>
                </a:pPr>
                <a:endParaRPr lang="en-US"/>
              </a:p>
            </p:txBody>
          </p:sp>
          <p:sp>
            <p:nvSpPr>
              <p:cNvPr id="66363" name="Freeform 1851"/>
              <p:cNvSpPr>
                <a:spLocks noChangeAspect="1"/>
              </p:cNvSpPr>
              <p:nvPr/>
            </p:nvSpPr>
            <p:spPr bwMode="auto">
              <a:xfrm>
                <a:off x="1898" y="2736"/>
                <a:ext cx="5" cy="51"/>
              </a:xfrm>
              <a:custGeom>
                <a:avLst/>
                <a:gdLst>
                  <a:gd name="T0" fmla="*/ 0 w 13"/>
                  <a:gd name="T1" fmla="*/ 154 h 154"/>
                  <a:gd name="T2" fmla="*/ 0 w 13"/>
                  <a:gd name="T3" fmla="*/ 102 h 154"/>
                  <a:gd name="T4" fmla="*/ 13 w 13"/>
                  <a:gd name="T5" fmla="*/ 0 h 154"/>
                  <a:gd name="T6" fmla="*/ 13 w 13"/>
                  <a:gd name="T7" fmla="*/ 154 h 154"/>
                  <a:gd name="T8" fmla="*/ 0 w 13"/>
                  <a:gd name="T9" fmla="*/ 154 h 154"/>
                </a:gdLst>
                <a:ahLst/>
                <a:cxnLst>
                  <a:cxn ang="0">
                    <a:pos x="T0" y="T1"/>
                  </a:cxn>
                  <a:cxn ang="0">
                    <a:pos x="T2" y="T3"/>
                  </a:cxn>
                  <a:cxn ang="0">
                    <a:pos x="T4" y="T5"/>
                  </a:cxn>
                  <a:cxn ang="0">
                    <a:pos x="T6" y="T7"/>
                  </a:cxn>
                  <a:cxn ang="0">
                    <a:pos x="T8" y="T9"/>
                  </a:cxn>
                </a:cxnLst>
                <a:rect l="0" t="0" r="r" b="b"/>
                <a:pathLst>
                  <a:path w="13" h="154">
                    <a:moveTo>
                      <a:pt x="0" y="154"/>
                    </a:moveTo>
                    <a:lnTo>
                      <a:pt x="0" y="102"/>
                    </a:lnTo>
                    <a:lnTo>
                      <a:pt x="13" y="0"/>
                    </a:lnTo>
                    <a:lnTo>
                      <a:pt x="13" y="154"/>
                    </a:lnTo>
                    <a:lnTo>
                      <a:pt x="0" y="154"/>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364" name="Freeform 1852"/>
              <p:cNvSpPr>
                <a:spLocks noChangeAspect="1"/>
              </p:cNvSpPr>
              <p:nvPr/>
            </p:nvSpPr>
            <p:spPr bwMode="auto">
              <a:xfrm>
                <a:off x="1900" y="2719"/>
                <a:ext cx="4" cy="68"/>
              </a:xfrm>
              <a:custGeom>
                <a:avLst/>
                <a:gdLst>
                  <a:gd name="T0" fmla="*/ 0 w 12"/>
                  <a:gd name="T1" fmla="*/ 205 h 205"/>
                  <a:gd name="T2" fmla="*/ 0 w 12"/>
                  <a:gd name="T3" fmla="*/ 102 h 205"/>
                  <a:gd name="T4" fmla="*/ 12 w 12"/>
                  <a:gd name="T5" fmla="*/ 0 h 205"/>
                  <a:gd name="T6" fmla="*/ 12 w 12"/>
                  <a:gd name="T7" fmla="*/ 205 h 205"/>
                  <a:gd name="T8" fmla="*/ 0 w 12"/>
                  <a:gd name="T9" fmla="*/ 205 h 205"/>
                </a:gdLst>
                <a:ahLst/>
                <a:cxnLst>
                  <a:cxn ang="0">
                    <a:pos x="T0" y="T1"/>
                  </a:cxn>
                  <a:cxn ang="0">
                    <a:pos x="T2" y="T3"/>
                  </a:cxn>
                  <a:cxn ang="0">
                    <a:pos x="T4" y="T5"/>
                  </a:cxn>
                  <a:cxn ang="0">
                    <a:pos x="T6" y="T7"/>
                  </a:cxn>
                  <a:cxn ang="0">
                    <a:pos x="T8" y="T9"/>
                  </a:cxn>
                </a:cxnLst>
                <a:rect l="0" t="0" r="r" b="b"/>
                <a:pathLst>
                  <a:path w="12" h="205">
                    <a:moveTo>
                      <a:pt x="0" y="205"/>
                    </a:moveTo>
                    <a:lnTo>
                      <a:pt x="0" y="102"/>
                    </a:lnTo>
                    <a:lnTo>
                      <a:pt x="12" y="0"/>
                    </a:lnTo>
                    <a:lnTo>
                      <a:pt x="12" y="205"/>
                    </a:lnTo>
                    <a:lnTo>
                      <a:pt x="0" y="205"/>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365" name="Freeform 1853"/>
              <p:cNvSpPr>
                <a:spLocks noChangeAspect="1"/>
              </p:cNvSpPr>
              <p:nvPr/>
            </p:nvSpPr>
            <p:spPr bwMode="auto">
              <a:xfrm>
                <a:off x="1903" y="2711"/>
                <a:ext cx="6" cy="76"/>
              </a:xfrm>
              <a:custGeom>
                <a:avLst/>
                <a:gdLst>
                  <a:gd name="T0" fmla="*/ 0 w 13"/>
                  <a:gd name="T1" fmla="*/ 228 h 228"/>
                  <a:gd name="T2" fmla="*/ 0 w 13"/>
                  <a:gd name="T3" fmla="*/ 74 h 228"/>
                  <a:gd name="T4" fmla="*/ 9 w 13"/>
                  <a:gd name="T5" fmla="*/ 0 h 228"/>
                  <a:gd name="T6" fmla="*/ 13 w 13"/>
                  <a:gd name="T7" fmla="*/ 0 h 228"/>
                  <a:gd name="T8" fmla="*/ 13 w 13"/>
                  <a:gd name="T9" fmla="*/ 228 h 228"/>
                  <a:gd name="T10" fmla="*/ 0 w 13"/>
                  <a:gd name="T11" fmla="*/ 228 h 228"/>
                </a:gdLst>
                <a:ahLst/>
                <a:cxnLst>
                  <a:cxn ang="0">
                    <a:pos x="T0" y="T1"/>
                  </a:cxn>
                  <a:cxn ang="0">
                    <a:pos x="T2" y="T3"/>
                  </a:cxn>
                  <a:cxn ang="0">
                    <a:pos x="T4" y="T5"/>
                  </a:cxn>
                  <a:cxn ang="0">
                    <a:pos x="T6" y="T7"/>
                  </a:cxn>
                  <a:cxn ang="0">
                    <a:pos x="T8" y="T9"/>
                  </a:cxn>
                  <a:cxn ang="0">
                    <a:pos x="T10" y="T11"/>
                  </a:cxn>
                </a:cxnLst>
                <a:rect l="0" t="0" r="r" b="b"/>
                <a:pathLst>
                  <a:path w="13" h="228">
                    <a:moveTo>
                      <a:pt x="0" y="228"/>
                    </a:moveTo>
                    <a:lnTo>
                      <a:pt x="0" y="74"/>
                    </a:lnTo>
                    <a:lnTo>
                      <a:pt x="9" y="0"/>
                    </a:lnTo>
                    <a:lnTo>
                      <a:pt x="13" y="0"/>
                    </a:lnTo>
                    <a:lnTo>
                      <a:pt x="13" y="228"/>
                    </a:lnTo>
                    <a:lnTo>
                      <a:pt x="0" y="228"/>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366" name="Freeform 1854"/>
              <p:cNvSpPr>
                <a:spLocks noChangeAspect="1"/>
              </p:cNvSpPr>
              <p:nvPr/>
            </p:nvSpPr>
            <p:spPr bwMode="auto">
              <a:xfrm>
                <a:off x="1904" y="2711"/>
                <a:ext cx="5" cy="76"/>
              </a:xfrm>
              <a:custGeom>
                <a:avLst/>
                <a:gdLst>
                  <a:gd name="T0" fmla="*/ 0 w 13"/>
                  <a:gd name="T1" fmla="*/ 228 h 228"/>
                  <a:gd name="T2" fmla="*/ 0 w 13"/>
                  <a:gd name="T3" fmla="*/ 23 h 228"/>
                  <a:gd name="T4" fmla="*/ 3 w 13"/>
                  <a:gd name="T5" fmla="*/ 0 h 228"/>
                  <a:gd name="T6" fmla="*/ 13 w 13"/>
                  <a:gd name="T7" fmla="*/ 0 h 228"/>
                  <a:gd name="T8" fmla="*/ 13 w 13"/>
                  <a:gd name="T9" fmla="*/ 228 h 228"/>
                  <a:gd name="T10" fmla="*/ 0 w 13"/>
                  <a:gd name="T11" fmla="*/ 228 h 228"/>
                </a:gdLst>
                <a:ahLst/>
                <a:cxnLst>
                  <a:cxn ang="0">
                    <a:pos x="T0" y="T1"/>
                  </a:cxn>
                  <a:cxn ang="0">
                    <a:pos x="T2" y="T3"/>
                  </a:cxn>
                  <a:cxn ang="0">
                    <a:pos x="T4" y="T5"/>
                  </a:cxn>
                  <a:cxn ang="0">
                    <a:pos x="T6" y="T7"/>
                  </a:cxn>
                  <a:cxn ang="0">
                    <a:pos x="T8" y="T9"/>
                  </a:cxn>
                  <a:cxn ang="0">
                    <a:pos x="T10" y="T11"/>
                  </a:cxn>
                </a:cxnLst>
                <a:rect l="0" t="0" r="r" b="b"/>
                <a:pathLst>
                  <a:path w="13" h="228">
                    <a:moveTo>
                      <a:pt x="0" y="228"/>
                    </a:moveTo>
                    <a:lnTo>
                      <a:pt x="0" y="23"/>
                    </a:lnTo>
                    <a:lnTo>
                      <a:pt x="3" y="0"/>
                    </a:lnTo>
                    <a:lnTo>
                      <a:pt x="13" y="0"/>
                    </a:lnTo>
                    <a:lnTo>
                      <a:pt x="13" y="228"/>
                    </a:lnTo>
                    <a:lnTo>
                      <a:pt x="0" y="228"/>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367" name="Rectangle 1855"/>
              <p:cNvSpPr>
                <a:spLocks noChangeAspect="1" noChangeArrowheads="1"/>
              </p:cNvSpPr>
              <p:nvPr/>
            </p:nvSpPr>
            <p:spPr bwMode="auto">
              <a:xfrm>
                <a:off x="1907" y="2711"/>
                <a:ext cx="4"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68" name="Rectangle 1856"/>
              <p:cNvSpPr>
                <a:spLocks noChangeAspect="1" noChangeArrowheads="1"/>
              </p:cNvSpPr>
              <p:nvPr/>
            </p:nvSpPr>
            <p:spPr bwMode="auto">
              <a:xfrm>
                <a:off x="1908" y="2711"/>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69" name="Rectangle 1857"/>
              <p:cNvSpPr>
                <a:spLocks noChangeAspect="1" noChangeArrowheads="1"/>
              </p:cNvSpPr>
              <p:nvPr/>
            </p:nvSpPr>
            <p:spPr bwMode="auto">
              <a:xfrm>
                <a:off x="1913" y="2711"/>
                <a:ext cx="4"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70" name="Rectangle 1858"/>
              <p:cNvSpPr>
                <a:spLocks noChangeAspect="1" noChangeArrowheads="1"/>
              </p:cNvSpPr>
              <p:nvPr/>
            </p:nvSpPr>
            <p:spPr bwMode="auto">
              <a:xfrm>
                <a:off x="1915" y="2711"/>
                <a:ext cx="4"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71" name="Rectangle 1859"/>
              <p:cNvSpPr>
                <a:spLocks noChangeAspect="1" noChangeArrowheads="1"/>
              </p:cNvSpPr>
              <p:nvPr/>
            </p:nvSpPr>
            <p:spPr bwMode="auto">
              <a:xfrm>
                <a:off x="1919" y="2711"/>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72" name="Rectangle 1860"/>
              <p:cNvSpPr>
                <a:spLocks noChangeAspect="1" noChangeArrowheads="1"/>
              </p:cNvSpPr>
              <p:nvPr/>
            </p:nvSpPr>
            <p:spPr bwMode="auto">
              <a:xfrm>
                <a:off x="1921" y="2711"/>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73" name="Rectangle 1861"/>
              <p:cNvSpPr>
                <a:spLocks noChangeAspect="1" noChangeArrowheads="1"/>
              </p:cNvSpPr>
              <p:nvPr/>
            </p:nvSpPr>
            <p:spPr bwMode="auto">
              <a:xfrm>
                <a:off x="1928" y="2711"/>
                <a:ext cx="4"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74" name="Rectangle 1862"/>
              <p:cNvSpPr>
                <a:spLocks noChangeAspect="1" noChangeArrowheads="1"/>
              </p:cNvSpPr>
              <p:nvPr/>
            </p:nvSpPr>
            <p:spPr bwMode="auto">
              <a:xfrm>
                <a:off x="1930" y="2711"/>
                <a:ext cx="6"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75" name="Rectangle 1863"/>
              <p:cNvSpPr>
                <a:spLocks noChangeAspect="1" noChangeArrowheads="1"/>
              </p:cNvSpPr>
              <p:nvPr/>
            </p:nvSpPr>
            <p:spPr bwMode="auto">
              <a:xfrm>
                <a:off x="1934" y="2711"/>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76" name="Rectangle 1864"/>
              <p:cNvSpPr>
                <a:spLocks noChangeAspect="1" noChangeArrowheads="1"/>
              </p:cNvSpPr>
              <p:nvPr/>
            </p:nvSpPr>
            <p:spPr bwMode="auto">
              <a:xfrm>
                <a:off x="1935" y="2711"/>
                <a:ext cx="6"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77" name="Rectangle 1865"/>
              <p:cNvSpPr>
                <a:spLocks noChangeAspect="1" noChangeArrowheads="1"/>
              </p:cNvSpPr>
              <p:nvPr/>
            </p:nvSpPr>
            <p:spPr bwMode="auto">
              <a:xfrm>
                <a:off x="1941" y="2711"/>
                <a:ext cx="4"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78" name="Rectangle 1866"/>
              <p:cNvSpPr>
                <a:spLocks noChangeAspect="1" noChangeArrowheads="1"/>
              </p:cNvSpPr>
              <p:nvPr/>
            </p:nvSpPr>
            <p:spPr bwMode="auto">
              <a:xfrm>
                <a:off x="1942" y="2711"/>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79" name="Rectangle 1867"/>
              <p:cNvSpPr>
                <a:spLocks noChangeAspect="1" noChangeArrowheads="1"/>
              </p:cNvSpPr>
              <p:nvPr/>
            </p:nvSpPr>
            <p:spPr bwMode="auto">
              <a:xfrm>
                <a:off x="1947" y="2711"/>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80" name="Rectangle 1868"/>
              <p:cNvSpPr>
                <a:spLocks noChangeAspect="1" noChangeArrowheads="1"/>
              </p:cNvSpPr>
              <p:nvPr/>
            </p:nvSpPr>
            <p:spPr bwMode="auto">
              <a:xfrm>
                <a:off x="1949" y="2711"/>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81" name="Rectangle 1869"/>
              <p:cNvSpPr>
                <a:spLocks noChangeAspect="1" noChangeArrowheads="1"/>
              </p:cNvSpPr>
              <p:nvPr/>
            </p:nvSpPr>
            <p:spPr bwMode="auto">
              <a:xfrm>
                <a:off x="1952" y="2711"/>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82" name="Rectangle 1870"/>
              <p:cNvSpPr>
                <a:spLocks noChangeAspect="1" noChangeArrowheads="1"/>
              </p:cNvSpPr>
              <p:nvPr/>
            </p:nvSpPr>
            <p:spPr bwMode="auto">
              <a:xfrm>
                <a:off x="1957" y="2711"/>
                <a:ext cx="7"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83" name="Rectangle 1871"/>
              <p:cNvSpPr>
                <a:spLocks noChangeAspect="1" noChangeArrowheads="1"/>
              </p:cNvSpPr>
              <p:nvPr/>
            </p:nvSpPr>
            <p:spPr bwMode="auto">
              <a:xfrm>
                <a:off x="1958" y="2711"/>
                <a:ext cx="6"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84" name="Rectangle 1872"/>
              <p:cNvSpPr>
                <a:spLocks noChangeAspect="1" noChangeArrowheads="1"/>
              </p:cNvSpPr>
              <p:nvPr/>
            </p:nvSpPr>
            <p:spPr bwMode="auto">
              <a:xfrm>
                <a:off x="1962" y="2711"/>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85" name="Rectangle 1873"/>
              <p:cNvSpPr>
                <a:spLocks noChangeAspect="1" noChangeArrowheads="1"/>
              </p:cNvSpPr>
              <p:nvPr/>
            </p:nvSpPr>
            <p:spPr bwMode="auto">
              <a:xfrm>
                <a:off x="1964" y="2711"/>
                <a:ext cx="6"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86" name="Rectangle 1874"/>
              <p:cNvSpPr>
                <a:spLocks noChangeAspect="1" noChangeArrowheads="1"/>
              </p:cNvSpPr>
              <p:nvPr/>
            </p:nvSpPr>
            <p:spPr bwMode="auto">
              <a:xfrm>
                <a:off x="1971" y="2711"/>
                <a:ext cx="6"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87" name="Rectangle 1875"/>
              <p:cNvSpPr>
                <a:spLocks noChangeAspect="1" noChangeArrowheads="1"/>
              </p:cNvSpPr>
              <p:nvPr/>
            </p:nvSpPr>
            <p:spPr bwMode="auto">
              <a:xfrm>
                <a:off x="1973" y="2711"/>
                <a:ext cx="4"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88" name="Rectangle 1876"/>
              <p:cNvSpPr>
                <a:spLocks noChangeAspect="1" noChangeArrowheads="1"/>
              </p:cNvSpPr>
              <p:nvPr/>
            </p:nvSpPr>
            <p:spPr bwMode="auto">
              <a:xfrm>
                <a:off x="1976" y="2711"/>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89" name="Rectangle 1877"/>
              <p:cNvSpPr>
                <a:spLocks noChangeAspect="1" noChangeArrowheads="1"/>
              </p:cNvSpPr>
              <p:nvPr/>
            </p:nvSpPr>
            <p:spPr bwMode="auto">
              <a:xfrm>
                <a:off x="1979" y="2711"/>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90" name="Rectangle 1878"/>
              <p:cNvSpPr>
                <a:spLocks noChangeAspect="1" noChangeArrowheads="1"/>
              </p:cNvSpPr>
              <p:nvPr/>
            </p:nvSpPr>
            <p:spPr bwMode="auto">
              <a:xfrm>
                <a:off x="1984" y="2711"/>
                <a:ext cx="7"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91" name="Rectangle 1879"/>
              <p:cNvSpPr>
                <a:spLocks noChangeAspect="1" noChangeArrowheads="1"/>
              </p:cNvSpPr>
              <p:nvPr/>
            </p:nvSpPr>
            <p:spPr bwMode="auto">
              <a:xfrm>
                <a:off x="1986" y="2711"/>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392" name="Freeform 1880"/>
              <p:cNvSpPr>
                <a:spLocks noChangeAspect="1"/>
              </p:cNvSpPr>
              <p:nvPr/>
            </p:nvSpPr>
            <p:spPr bwMode="auto">
              <a:xfrm>
                <a:off x="1988" y="2711"/>
                <a:ext cx="4" cy="76"/>
              </a:xfrm>
              <a:custGeom>
                <a:avLst/>
                <a:gdLst>
                  <a:gd name="T0" fmla="*/ 0 w 12"/>
                  <a:gd name="T1" fmla="*/ 228 h 228"/>
                  <a:gd name="T2" fmla="*/ 0 w 12"/>
                  <a:gd name="T3" fmla="*/ 0 h 228"/>
                  <a:gd name="T4" fmla="*/ 11 w 12"/>
                  <a:gd name="T5" fmla="*/ 0 h 228"/>
                  <a:gd name="T6" fmla="*/ 12 w 12"/>
                  <a:gd name="T7" fmla="*/ 11 h 228"/>
                  <a:gd name="T8" fmla="*/ 12 w 12"/>
                  <a:gd name="T9" fmla="*/ 228 h 228"/>
                  <a:gd name="T10" fmla="*/ 0 w 12"/>
                  <a:gd name="T11" fmla="*/ 228 h 228"/>
                </a:gdLst>
                <a:ahLst/>
                <a:cxnLst>
                  <a:cxn ang="0">
                    <a:pos x="T0" y="T1"/>
                  </a:cxn>
                  <a:cxn ang="0">
                    <a:pos x="T2" y="T3"/>
                  </a:cxn>
                  <a:cxn ang="0">
                    <a:pos x="T4" y="T5"/>
                  </a:cxn>
                  <a:cxn ang="0">
                    <a:pos x="T6" y="T7"/>
                  </a:cxn>
                  <a:cxn ang="0">
                    <a:pos x="T8" y="T9"/>
                  </a:cxn>
                  <a:cxn ang="0">
                    <a:pos x="T10" y="T11"/>
                  </a:cxn>
                </a:cxnLst>
                <a:rect l="0" t="0" r="r" b="b"/>
                <a:pathLst>
                  <a:path w="12" h="228">
                    <a:moveTo>
                      <a:pt x="0" y="228"/>
                    </a:moveTo>
                    <a:lnTo>
                      <a:pt x="0" y="0"/>
                    </a:lnTo>
                    <a:lnTo>
                      <a:pt x="11" y="0"/>
                    </a:lnTo>
                    <a:lnTo>
                      <a:pt x="12" y="11"/>
                    </a:lnTo>
                    <a:lnTo>
                      <a:pt x="12" y="228"/>
                    </a:lnTo>
                    <a:lnTo>
                      <a:pt x="0" y="228"/>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393" name="Freeform 1881"/>
              <p:cNvSpPr>
                <a:spLocks noChangeAspect="1"/>
              </p:cNvSpPr>
              <p:nvPr/>
            </p:nvSpPr>
            <p:spPr bwMode="auto">
              <a:xfrm>
                <a:off x="1991" y="2711"/>
                <a:ext cx="6" cy="76"/>
              </a:xfrm>
              <a:custGeom>
                <a:avLst/>
                <a:gdLst>
                  <a:gd name="T0" fmla="*/ 0 w 13"/>
                  <a:gd name="T1" fmla="*/ 228 h 228"/>
                  <a:gd name="T2" fmla="*/ 0 w 13"/>
                  <a:gd name="T3" fmla="*/ 0 h 228"/>
                  <a:gd name="T4" fmla="*/ 5 w 13"/>
                  <a:gd name="T5" fmla="*/ 0 h 228"/>
                  <a:gd name="T6" fmla="*/ 13 w 13"/>
                  <a:gd name="T7" fmla="*/ 54 h 228"/>
                  <a:gd name="T8" fmla="*/ 13 w 13"/>
                  <a:gd name="T9" fmla="*/ 228 h 228"/>
                  <a:gd name="T10" fmla="*/ 0 w 13"/>
                  <a:gd name="T11" fmla="*/ 228 h 228"/>
                </a:gdLst>
                <a:ahLst/>
                <a:cxnLst>
                  <a:cxn ang="0">
                    <a:pos x="T0" y="T1"/>
                  </a:cxn>
                  <a:cxn ang="0">
                    <a:pos x="T2" y="T3"/>
                  </a:cxn>
                  <a:cxn ang="0">
                    <a:pos x="T4" y="T5"/>
                  </a:cxn>
                  <a:cxn ang="0">
                    <a:pos x="T6" y="T7"/>
                  </a:cxn>
                  <a:cxn ang="0">
                    <a:pos x="T8" y="T9"/>
                  </a:cxn>
                  <a:cxn ang="0">
                    <a:pos x="T10" y="T11"/>
                  </a:cxn>
                </a:cxnLst>
                <a:rect l="0" t="0" r="r" b="b"/>
                <a:pathLst>
                  <a:path w="13" h="228">
                    <a:moveTo>
                      <a:pt x="0" y="228"/>
                    </a:moveTo>
                    <a:lnTo>
                      <a:pt x="0" y="0"/>
                    </a:lnTo>
                    <a:lnTo>
                      <a:pt x="5" y="0"/>
                    </a:lnTo>
                    <a:lnTo>
                      <a:pt x="13" y="54"/>
                    </a:lnTo>
                    <a:lnTo>
                      <a:pt x="13" y="228"/>
                    </a:lnTo>
                    <a:lnTo>
                      <a:pt x="0" y="228"/>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394" name="Freeform 1882"/>
              <p:cNvSpPr>
                <a:spLocks noChangeAspect="1"/>
              </p:cNvSpPr>
              <p:nvPr/>
            </p:nvSpPr>
            <p:spPr bwMode="auto">
              <a:xfrm>
                <a:off x="1992" y="2716"/>
                <a:ext cx="5" cy="71"/>
              </a:xfrm>
              <a:custGeom>
                <a:avLst/>
                <a:gdLst>
                  <a:gd name="T0" fmla="*/ 0 w 14"/>
                  <a:gd name="T1" fmla="*/ 217 h 217"/>
                  <a:gd name="T2" fmla="*/ 0 w 14"/>
                  <a:gd name="T3" fmla="*/ 0 h 217"/>
                  <a:gd name="T4" fmla="*/ 14 w 14"/>
                  <a:gd name="T5" fmla="*/ 86 h 217"/>
                  <a:gd name="T6" fmla="*/ 14 w 14"/>
                  <a:gd name="T7" fmla="*/ 217 h 217"/>
                  <a:gd name="T8" fmla="*/ 0 w 14"/>
                  <a:gd name="T9" fmla="*/ 217 h 217"/>
                </a:gdLst>
                <a:ahLst/>
                <a:cxnLst>
                  <a:cxn ang="0">
                    <a:pos x="T0" y="T1"/>
                  </a:cxn>
                  <a:cxn ang="0">
                    <a:pos x="T2" y="T3"/>
                  </a:cxn>
                  <a:cxn ang="0">
                    <a:pos x="T4" y="T5"/>
                  </a:cxn>
                  <a:cxn ang="0">
                    <a:pos x="T6" y="T7"/>
                  </a:cxn>
                  <a:cxn ang="0">
                    <a:pos x="T8" y="T9"/>
                  </a:cxn>
                </a:cxnLst>
                <a:rect l="0" t="0" r="r" b="b"/>
                <a:pathLst>
                  <a:path w="14" h="217">
                    <a:moveTo>
                      <a:pt x="0" y="217"/>
                    </a:moveTo>
                    <a:lnTo>
                      <a:pt x="0" y="0"/>
                    </a:lnTo>
                    <a:lnTo>
                      <a:pt x="14" y="86"/>
                    </a:lnTo>
                    <a:lnTo>
                      <a:pt x="14" y="217"/>
                    </a:lnTo>
                    <a:lnTo>
                      <a:pt x="0" y="217"/>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395" name="Freeform 1883"/>
              <p:cNvSpPr>
                <a:spLocks noChangeAspect="1"/>
              </p:cNvSpPr>
              <p:nvPr/>
            </p:nvSpPr>
            <p:spPr bwMode="auto">
              <a:xfrm>
                <a:off x="1994" y="2729"/>
                <a:ext cx="5" cy="58"/>
              </a:xfrm>
              <a:custGeom>
                <a:avLst/>
                <a:gdLst>
                  <a:gd name="T0" fmla="*/ 0 w 13"/>
                  <a:gd name="T1" fmla="*/ 174 h 174"/>
                  <a:gd name="T2" fmla="*/ 0 w 13"/>
                  <a:gd name="T3" fmla="*/ 0 h 174"/>
                  <a:gd name="T4" fmla="*/ 13 w 13"/>
                  <a:gd name="T5" fmla="*/ 87 h 174"/>
                  <a:gd name="T6" fmla="*/ 13 w 13"/>
                  <a:gd name="T7" fmla="*/ 174 h 174"/>
                  <a:gd name="T8" fmla="*/ 0 w 13"/>
                  <a:gd name="T9" fmla="*/ 174 h 174"/>
                </a:gdLst>
                <a:ahLst/>
                <a:cxnLst>
                  <a:cxn ang="0">
                    <a:pos x="T0" y="T1"/>
                  </a:cxn>
                  <a:cxn ang="0">
                    <a:pos x="T2" y="T3"/>
                  </a:cxn>
                  <a:cxn ang="0">
                    <a:pos x="T4" y="T5"/>
                  </a:cxn>
                  <a:cxn ang="0">
                    <a:pos x="T6" y="T7"/>
                  </a:cxn>
                  <a:cxn ang="0">
                    <a:pos x="T8" y="T9"/>
                  </a:cxn>
                </a:cxnLst>
                <a:rect l="0" t="0" r="r" b="b"/>
                <a:pathLst>
                  <a:path w="13" h="174">
                    <a:moveTo>
                      <a:pt x="0" y="174"/>
                    </a:moveTo>
                    <a:lnTo>
                      <a:pt x="0" y="0"/>
                    </a:lnTo>
                    <a:lnTo>
                      <a:pt x="13" y="87"/>
                    </a:lnTo>
                    <a:lnTo>
                      <a:pt x="13" y="174"/>
                    </a:lnTo>
                    <a:lnTo>
                      <a:pt x="0" y="174"/>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396" name="Freeform 1884"/>
              <p:cNvSpPr>
                <a:spLocks noChangeAspect="1"/>
              </p:cNvSpPr>
              <p:nvPr/>
            </p:nvSpPr>
            <p:spPr bwMode="auto">
              <a:xfrm>
                <a:off x="1996" y="2745"/>
                <a:ext cx="5" cy="42"/>
              </a:xfrm>
              <a:custGeom>
                <a:avLst/>
                <a:gdLst>
                  <a:gd name="T0" fmla="*/ 0 w 13"/>
                  <a:gd name="T1" fmla="*/ 131 h 131"/>
                  <a:gd name="T2" fmla="*/ 0 w 13"/>
                  <a:gd name="T3" fmla="*/ 0 h 131"/>
                  <a:gd name="T4" fmla="*/ 13 w 13"/>
                  <a:gd name="T5" fmla="*/ 87 h 131"/>
                  <a:gd name="T6" fmla="*/ 13 w 13"/>
                  <a:gd name="T7" fmla="*/ 131 h 131"/>
                  <a:gd name="T8" fmla="*/ 0 w 13"/>
                  <a:gd name="T9" fmla="*/ 131 h 131"/>
                </a:gdLst>
                <a:ahLst/>
                <a:cxnLst>
                  <a:cxn ang="0">
                    <a:pos x="T0" y="T1"/>
                  </a:cxn>
                  <a:cxn ang="0">
                    <a:pos x="T2" y="T3"/>
                  </a:cxn>
                  <a:cxn ang="0">
                    <a:pos x="T4" y="T5"/>
                  </a:cxn>
                  <a:cxn ang="0">
                    <a:pos x="T6" y="T7"/>
                  </a:cxn>
                  <a:cxn ang="0">
                    <a:pos x="T8" y="T9"/>
                  </a:cxn>
                </a:cxnLst>
                <a:rect l="0" t="0" r="r" b="b"/>
                <a:pathLst>
                  <a:path w="13" h="131">
                    <a:moveTo>
                      <a:pt x="0" y="131"/>
                    </a:moveTo>
                    <a:lnTo>
                      <a:pt x="0" y="0"/>
                    </a:lnTo>
                    <a:lnTo>
                      <a:pt x="13" y="87"/>
                    </a:lnTo>
                    <a:lnTo>
                      <a:pt x="13" y="131"/>
                    </a:lnTo>
                    <a:lnTo>
                      <a:pt x="0" y="131"/>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397" name="Freeform 1885"/>
              <p:cNvSpPr>
                <a:spLocks noChangeAspect="1"/>
              </p:cNvSpPr>
              <p:nvPr/>
            </p:nvSpPr>
            <p:spPr bwMode="auto">
              <a:xfrm>
                <a:off x="1999" y="2758"/>
                <a:ext cx="5" cy="29"/>
              </a:xfrm>
              <a:custGeom>
                <a:avLst/>
                <a:gdLst>
                  <a:gd name="T0" fmla="*/ 0 w 13"/>
                  <a:gd name="T1" fmla="*/ 87 h 87"/>
                  <a:gd name="T2" fmla="*/ 0 w 13"/>
                  <a:gd name="T3" fmla="*/ 0 h 87"/>
                  <a:gd name="T4" fmla="*/ 13 w 13"/>
                  <a:gd name="T5" fmla="*/ 87 h 87"/>
                  <a:gd name="T6" fmla="*/ 0 w 13"/>
                  <a:gd name="T7" fmla="*/ 87 h 87"/>
                </a:gdLst>
                <a:ahLst/>
                <a:cxnLst>
                  <a:cxn ang="0">
                    <a:pos x="T0" y="T1"/>
                  </a:cxn>
                  <a:cxn ang="0">
                    <a:pos x="T2" y="T3"/>
                  </a:cxn>
                  <a:cxn ang="0">
                    <a:pos x="T4" y="T5"/>
                  </a:cxn>
                  <a:cxn ang="0">
                    <a:pos x="T6" y="T7"/>
                  </a:cxn>
                </a:cxnLst>
                <a:rect l="0" t="0" r="r" b="b"/>
                <a:pathLst>
                  <a:path w="13" h="87">
                    <a:moveTo>
                      <a:pt x="0" y="87"/>
                    </a:moveTo>
                    <a:lnTo>
                      <a:pt x="0" y="0"/>
                    </a:lnTo>
                    <a:lnTo>
                      <a:pt x="13" y="87"/>
                    </a:lnTo>
                    <a:lnTo>
                      <a:pt x="0" y="87"/>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398" name="Freeform 1886"/>
              <p:cNvSpPr>
                <a:spLocks noChangeAspect="1"/>
              </p:cNvSpPr>
              <p:nvPr/>
            </p:nvSpPr>
            <p:spPr bwMode="auto">
              <a:xfrm>
                <a:off x="2001" y="2774"/>
                <a:ext cx="2" cy="13"/>
              </a:xfrm>
              <a:custGeom>
                <a:avLst/>
                <a:gdLst>
                  <a:gd name="T0" fmla="*/ 0 w 6"/>
                  <a:gd name="T1" fmla="*/ 44 h 44"/>
                  <a:gd name="T2" fmla="*/ 0 w 6"/>
                  <a:gd name="T3" fmla="*/ 0 h 44"/>
                  <a:gd name="T4" fmla="*/ 6 w 6"/>
                  <a:gd name="T5" fmla="*/ 44 h 44"/>
                  <a:gd name="T6" fmla="*/ 0 w 6"/>
                  <a:gd name="T7" fmla="*/ 44 h 44"/>
                </a:gdLst>
                <a:ahLst/>
                <a:cxnLst>
                  <a:cxn ang="0">
                    <a:pos x="T0" y="T1"/>
                  </a:cxn>
                  <a:cxn ang="0">
                    <a:pos x="T2" y="T3"/>
                  </a:cxn>
                  <a:cxn ang="0">
                    <a:pos x="T4" y="T5"/>
                  </a:cxn>
                  <a:cxn ang="0">
                    <a:pos x="T6" y="T7"/>
                  </a:cxn>
                </a:cxnLst>
                <a:rect l="0" t="0" r="r" b="b"/>
                <a:pathLst>
                  <a:path w="6" h="44">
                    <a:moveTo>
                      <a:pt x="0" y="44"/>
                    </a:moveTo>
                    <a:lnTo>
                      <a:pt x="0" y="0"/>
                    </a:lnTo>
                    <a:lnTo>
                      <a:pt x="6" y="44"/>
                    </a:lnTo>
                    <a:lnTo>
                      <a:pt x="0" y="44"/>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399" name="Freeform 1887"/>
              <p:cNvSpPr>
                <a:spLocks noChangeAspect="1"/>
              </p:cNvSpPr>
              <p:nvPr/>
            </p:nvSpPr>
            <p:spPr bwMode="auto">
              <a:xfrm>
                <a:off x="1896" y="2711"/>
                <a:ext cx="108" cy="76"/>
              </a:xfrm>
              <a:custGeom>
                <a:avLst/>
                <a:gdLst>
                  <a:gd name="T0" fmla="*/ 29 w 322"/>
                  <a:gd name="T1" fmla="*/ 0 h 228"/>
                  <a:gd name="T2" fmla="*/ 0 w 322"/>
                  <a:gd name="T3" fmla="*/ 228 h 228"/>
                  <a:gd name="T4" fmla="*/ 322 w 322"/>
                  <a:gd name="T5" fmla="*/ 228 h 228"/>
                  <a:gd name="T6" fmla="*/ 288 w 322"/>
                  <a:gd name="T7" fmla="*/ 0 h 228"/>
                  <a:gd name="T8" fmla="*/ 29 w 322"/>
                  <a:gd name="T9" fmla="*/ 0 h 228"/>
                </a:gdLst>
                <a:ahLst/>
                <a:cxnLst>
                  <a:cxn ang="0">
                    <a:pos x="T0" y="T1"/>
                  </a:cxn>
                  <a:cxn ang="0">
                    <a:pos x="T2" y="T3"/>
                  </a:cxn>
                  <a:cxn ang="0">
                    <a:pos x="T4" y="T5"/>
                  </a:cxn>
                  <a:cxn ang="0">
                    <a:pos x="T6" y="T7"/>
                  </a:cxn>
                  <a:cxn ang="0">
                    <a:pos x="T8" y="T9"/>
                  </a:cxn>
                </a:cxnLst>
                <a:rect l="0" t="0" r="r" b="b"/>
                <a:pathLst>
                  <a:path w="322" h="228">
                    <a:moveTo>
                      <a:pt x="29" y="0"/>
                    </a:moveTo>
                    <a:lnTo>
                      <a:pt x="0" y="228"/>
                    </a:lnTo>
                    <a:lnTo>
                      <a:pt x="322" y="228"/>
                    </a:lnTo>
                    <a:lnTo>
                      <a:pt x="288" y="0"/>
                    </a:lnTo>
                    <a:lnTo>
                      <a:pt x="29" y="0"/>
                    </a:lnTo>
                  </a:path>
                </a:pathLst>
              </a:custGeom>
              <a:gradFill rotWithShape="0">
                <a:gsLst>
                  <a:gs pos="0">
                    <a:schemeClr val="hlink"/>
                  </a:gs>
                  <a:gs pos="50000">
                    <a:schemeClr val="hlink">
                      <a:gamma/>
                      <a:tint val="40000"/>
                      <a:invGamma/>
                    </a:schemeClr>
                  </a:gs>
                  <a:gs pos="100000">
                    <a:schemeClr val="hlink"/>
                  </a:gs>
                </a:gsLst>
                <a:lin ang="0" scaled="1"/>
              </a:gradFill>
              <a:ln w="1588">
                <a:solidFill>
                  <a:srgbClr val="1F1A17"/>
                </a:solidFill>
                <a:prstDash val="solid"/>
                <a:round/>
                <a:headEnd/>
                <a:tailEnd/>
              </a:ln>
            </p:spPr>
            <p:txBody>
              <a:bodyPr/>
              <a:lstStyle/>
              <a:p>
                <a:pPr>
                  <a:defRPr/>
                </a:pPr>
                <a:endParaRPr lang="en-US"/>
              </a:p>
            </p:txBody>
          </p:sp>
        </p:grpSp>
        <p:grpSp>
          <p:nvGrpSpPr>
            <p:cNvPr id="386169" name="Group 1888"/>
            <p:cNvGrpSpPr>
              <a:grpSpLocks noChangeAspect="1"/>
            </p:cNvGrpSpPr>
            <p:nvPr/>
          </p:nvGrpSpPr>
          <p:grpSpPr bwMode="auto">
            <a:xfrm>
              <a:off x="2122" y="2105"/>
              <a:ext cx="98" cy="754"/>
              <a:chOff x="2233" y="1956"/>
              <a:chExt cx="115" cy="907"/>
            </a:xfrm>
          </p:grpSpPr>
          <p:sp>
            <p:nvSpPr>
              <p:cNvPr id="66401" name="Rectangle 1889"/>
              <p:cNvSpPr>
                <a:spLocks noChangeAspect="1" noChangeArrowheads="1"/>
              </p:cNvSpPr>
              <p:nvPr/>
            </p:nvSpPr>
            <p:spPr bwMode="auto">
              <a:xfrm>
                <a:off x="2248" y="1956"/>
                <a:ext cx="1"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02" name="Rectangle 1890"/>
              <p:cNvSpPr>
                <a:spLocks noChangeAspect="1" noChangeArrowheads="1"/>
              </p:cNvSpPr>
              <p:nvPr/>
            </p:nvSpPr>
            <p:spPr bwMode="auto">
              <a:xfrm>
                <a:off x="2249" y="1956"/>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03" name="Rectangle 1891"/>
              <p:cNvSpPr>
                <a:spLocks noChangeAspect="1" noChangeArrowheads="1"/>
              </p:cNvSpPr>
              <p:nvPr/>
            </p:nvSpPr>
            <p:spPr bwMode="auto">
              <a:xfrm>
                <a:off x="2255" y="1956"/>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04" name="Rectangle 1892"/>
              <p:cNvSpPr>
                <a:spLocks noChangeAspect="1" noChangeArrowheads="1"/>
              </p:cNvSpPr>
              <p:nvPr/>
            </p:nvSpPr>
            <p:spPr bwMode="auto">
              <a:xfrm>
                <a:off x="2256" y="1956"/>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05" name="Rectangle 1893"/>
              <p:cNvSpPr>
                <a:spLocks noChangeAspect="1" noChangeArrowheads="1"/>
              </p:cNvSpPr>
              <p:nvPr/>
            </p:nvSpPr>
            <p:spPr bwMode="auto">
              <a:xfrm>
                <a:off x="2262" y="1956"/>
                <a:ext cx="1"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06" name="Rectangle 1894"/>
              <p:cNvSpPr>
                <a:spLocks noChangeAspect="1" noChangeArrowheads="1"/>
              </p:cNvSpPr>
              <p:nvPr/>
            </p:nvSpPr>
            <p:spPr bwMode="auto">
              <a:xfrm>
                <a:off x="2264" y="1956"/>
                <a:ext cx="7"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07" name="Rectangle 1895"/>
              <p:cNvSpPr>
                <a:spLocks noChangeAspect="1" noChangeArrowheads="1"/>
              </p:cNvSpPr>
              <p:nvPr/>
            </p:nvSpPr>
            <p:spPr bwMode="auto">
              <a:xfrm>
                <a:off x="2269" y="1956"/>
                <a:ext cx="1"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08" name="Rectangle 1896"/>
              <p:cNvSpPr>
                <a:spLocks noChangeAspect="1" noChangeArrowheads="1"/>
              </p:cNvSpPr>
              <p:nvPr/>
            </p:nvSpPr>
            <p:spPr bwMode="auto">
              <a:xfrm>
                <a:off x="2271" y="1956"/>
                <a:ext cx="6"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09" name="Rectangle 1897"/>
              <p:cNvSpPr>
                <a:spLocks noChangeAspect="1" noChangeArrowheads="1"/>
              </p:cNvSpPr>
              <p:nvPr/>
            </p:nvSpPr>
            <p:spPr bwMode="auto">
              <a:xfrm>
                <a:off x="2272" y="1956"/>
                <a:ext cx="5"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10" name="Rectangle 1898"/>
              <p:cNvSpPr>
                <a:spLocks noChangeAspect="1" noChangeArrowheads="1"/>
              </p:cNvSpPr>
              <p:nvPr/>
            </p:nvSpPr>
            <p:spPr bwMode="auto">
              <a:xfrm>
                <a:off x="2276" y="1956"/>
                <a:ext cx="5"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11" name="Rectangle 1899"/>
              <p:cNvSpPr>
                <a:spLocks noChangeAspect="1" noChangeArrowheads="1"/>
              </p:cNvSpPr>
              <p:nvPr/>
            </p:nvSpPr>
            <p:spPr bwMode="auto">
              <a:xfrm>
                <a:off x="2279" y="1956"/>
                <a:ext cx="5"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12" name="Rectangle 1900"/>
              <p:cNvSpPr>
                <a:spLocks noChangeAspect="1" noChangeArrowheads="1"/>
              </p:cNvSpPr>
              <p:nvPr/>
            </p:nvSpPr>
            <p:spPr bwMode="auto">
              <a:xfrm>
                <a:off x="2283" y="1956"/>
                <a:ext cx="5"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13" name="Rectangle 1901"/>
              <p:cNvSpPr>
                <a:spLocks noChangeAspect="1" noChangeArrowheads="1"/>
              </p:cNvSpPr>
              <p:nvPr/>
            </p:nvSpPr>
            <p:spPr bwMode="auto">
              <a:xfrm>
                <a:off x="2286" y="1956"/>
                <a:ext cx="5"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14" name="Rectangle 1902"/>
              <p:cNvSpPr>
                <a:spLocks noChangeAspect="1" noChangeArrowheads="1"/>
              </p:cNvSpPr>
              <p:nvPr/>
            </p:nvSpPr>
            <p:spPr bwMode="auto">
              <a:xfrm>
                <a:off x="2291" y="1956"/>
                <a:ext cx="7"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15" name="Rectangle 1903"/>
              <p:cNvSpPr>
                <a:spLocks noChangeAspect="1" noChangeArrowheads="1"/>
              </p:cNvSpPr>
              <p:nvPr/>
            </p:nvSpPr>
            <p:spPr bwMode="auto">
              <a:xfrm>
                <a:off x="2293" y="1956"/>
                <a:ext cx="5"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16" name="Rectangle 1904"/>
              <p:cNvSpPr>
                <a:spLocks noChangeAspect="1" noChangeArrowheads="1"/>
              </p:cNvSpPr>
              <p:nvPr/>
            </p:nvSpPr>
            <p:spPr bwMode="auto">
              <a:xfrm>
                <a:off x="2298" y="1956"/>
                <a:ext cx="7"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17" name="Rectangle 1905"/>
              <p:cNvSpPr>
                <a:spLocks noChangeAspect="1" noChangeArrowheads="1"/>
              </p:cNvSpPr>
              <p:nvPr/>
            </p:nvSpPr>
            <p:spPr bwMode="auto">
              <a:xfrm>
                <a:off x="2300" y="1956"/>
                <a:ext cx="5"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18" name="Rectangle 1906"/>
              <p:cNvSpPr>
                <a:spLocks noChangeAspect="1" noChangeArrowheads="1"/>
              </p:cNvSpPr>
              <p:nvPr/>
            </p:nvSpPr>
            <p:spPr bwMode="auto">
              <a:xfrm>
                <a:off x="2305" y="1956"/>
                <a:ext cx="6"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19" name="Rectangle 1907"/>
              <p:cNvSpPr>
                <a:spLocks noChangeAspect="1" noChangeArrowheads="1"/>
              </p:cNvSpPr>
              <p:nvPr/>
            </p:nvSpPr>
            <p:spPr bwMode="auto">
              <a:xfrm>
                <a:off x="2307" y="1956"/>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20" name="Rectangle 1908"/>
              <p:cNvSpPr>
                <a:spLocks noChangeAspect="1" noChangeArrowheads="1"/>
              </p:cNvSpPr>
              <p:nvPr/>
            </p:nvSpPr>
            <p:spPr bwMode="auto">
              <a:xfrm>
                <a:off x="2312" y="1956"/>
                <a:ext cx="6"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21" name="Rectangle 1909"/>
              <p:cNvSpPr>
                <a:spLocks noChangeAspect="1" noChangeArrowheads="1"/>
              </p:cNvSpPr>
              <p:nvPr/>
            </p:nvSpPr>
            <p:spPr bwMode="auto">
              <a:xfrm>
                <a:off x="2313" y="1956"/>
                <a:ext cx="5"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22" name="Rectangle 1910"/>
              <p:cNvSpPr>
                <a:spLocks noChangeAspect="1" noChangeArrowheads="1"/>
              </p:cNvSpPr>
              <p:nvPr/>
            </p:nvSpPr>
            <p:spPr bwMode="auto">
              <a:xfrm>
                <a:off x="2319" y="1956"/>
                <a:ext cx="6"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23" name="Rectangle 1911"/>
              <p:cNvSpPr>
                <a:spLocks noChangeAspect="1" noChangeArrowheads="1"/>
              </p:cNvSpPr>
              <p:nvPr/>
            </p:nvSpPr>
            <p:spPr bwMode="auto">
              <a:xfrm>
                <a:off x="2321" y="1956"/>
                <a:ext cx="4"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24" name="Rectangle 1912"/>
              <p:cNvSpPr>
                <a:spLocks noChangeAspect="1" noChangeArrowheads="1"/>
              </p:cNvSpPr>
              <p:nvPr/>
            </p:nvSpPr>
            <p:spPr bwMode="auto">
              <a:xfrm>
                <a:off x="2326" y="1956"/>
                <a:ext cx="6"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25" name="Rectangle 1913"/>
              <p:cNvSpPr>
                <a:spLocks noChangeAspect="1" noChangeArrowheads="1"/>
              </p:cNvSpPr>
              <p:nvPr/>
            </p:nvSpPr>
            <p:spPr bwMode="auto">
              <a:xfrm>
                <a:off x="2327" y="1956"/>
                <a:ext cx="5"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26" name="Rectangle 1914"/>
              <p:cNvSpPr>
                <a:spLocks noChangeAspect="1" noChangeArrowheads="1"/>
              </p:cNvSpPr>
              <p:nvPr/>
            </p:nvSpPr>
            <p:spPr bwMode="auto">
              <a:xfrm>
                <a:off x="2246" y="1956"/>
                <a:ext cx="87" cy="761"/>
              </a:xfrm>
              <a:prstGeom prst="rect">
                <a:avLst/>
              </a:prstGeom>
              <a:gradFill rotWithShape="0">
                <a:gsLst>
                  <a:gs pos="0">
                    <a:schemeClr val="hlink"/>
                  </a:gs>
                  <a:gs pos="50000">
                    <a:schemeClr val="hlink">
                      <a:gamma/>
                      <a:tint val="40000"/>
                      <a:invGamma/>
                    </a:schemeClr>
                  </a:gs>
                  <a:gs pos="100000">
                    <a:schemeClr val="hlink"/>
                  </a:gs>
                </a:gsLst>
                <a:lin ang="0" scaled="1"/>
              </a:gradFill>
              <a:ln w="1588">
                <a:solidFill>
                  <a:srgbClr val="1F1A17"/>
                </a:solidFill>
                <a:miter lim="800000"/>
                <a:headEnd/>
                <a:tailEnd/>
              </a:ln>
            </p:spPr>
            <p:txBody>
              <a:bodyPr/>
              <a:lstStyle/>
              <a:p>
                <a:pPr>
                  <a:defRPr/>
                </a:pPr>
                <a:endParaRPr lang="en-US"/>
              </a:p>
            </p:txBody>
          </p:sp>
          <p:sp>
            <p:nvSpPr>
              <p:cNvPr id="66427" name="Rectangle 1915"/>
              <p:cNvSpPr>
                <a:spLocks noChangeAspect="1" noChangeArrowheads="1"/>
              </p:cNvSpPr>
              <p:nvPr/>
            </p:nvSpPr>
            <p:spPr bwMode="auto">
              <a:xfrm>
                <a:off x="2233" y="2793"/>
                <a:ext cx="4"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28" name="Rectangle 1916"/>
              <p:cNvSpPr>
                <a:spLocks noChangeAspect="1" noChangeArrowheads="1"/>
              </p:cNvSpPr>
              <p:nvPr/>
            </p:nvSpPr>
            <p:spPr bwMode="auto">
              <a:xfrm>
                <a:off x="2235" y="2793"/>
                <a:ext cx="4"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29" name="Rectangle 1917"/>
              <p:cNvSpPr>
                <a:spLocks noChangeAspect="1" noChangeArrowheads="1"/>
              </p:cNvSpPr>
              <p:nvPr/>
            </p:nvSpPr>
            <p:spPr bwMode="auto">
              <a:xfrm>
                <a:off x="2239" y="2793"/>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30" name="Rectangle 1918"/>
              <p:cNvSpPr>
                <a:spLocks noChangeAspect="1" noChangeArrowheads="1"/>
              </p:cNvSpPr>
              <p:nvPr/>
            </p:nvSpPr>
            <p:spPr bwMode="auto">
              <a:xfrm>
                <a:off x="2242" y="2793"/>
                <a:ext cx="4"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31" name="Rectangle 1919"/>
              <p:cNvSpPr>
                <a:spLocks noChangeAspect="1" noChangeArrowheads="1"/>
              </p:cNvSpPr>
              <p:nvPr/>
            </p:nvSpPr>
            <p:spPr bwMode="auto">
              <a:xfrm>
                <a:off x="2246" y="2793"/>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32" name="Rectangle 1920"/>
              <p:cNvSpPr>
                <a:spLocks noChangeAspect="1" noChangeArrowheads="1"/>
              </p:cNvSpPr>
              <p:nvPr/>
            </p:nvSpPr>
            <p:spPr bwMode="auto">
              <a:xfrm>
                <a:off x="2249" y="2793"/>
                <a:ext cx="4"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33" name="Rectangle 1921"/>
              <p:cNvSpPr>
                <a:spLocks noChangeAspect="1" noChangeArrowheads="1"/>
              </p:cNvSpPr>
              <p:nvPr/>
            </p:nvSpPr>
            <p:spPr bwMode="auto">
              <a:xfrm>
                <a:off x="2253" y="2793"/>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34" name="Rectangle 1922"/>
              <p:cNvSpPr>
                <a:spLocks noChangeAspect="1" noChangeArrowheads="1"/>
              </p:cNvSpPr>
              <p:nvPr/>
            </p:nvSpPr>
            <p:spPr bwMode="auto">
              <a:xfrm>
                <a:off x="2256" y="2793"/>
                <a:ext cx="4"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35" name="Rectangle 1923"/>
              <p:cNvSpPr>
                <a:spLocks noChangeAspect="1" noChangeArrowheads="1"/>
              </p:cNvSpPr>
              <p:nvPr/>
            </p:nvSpPr>
            <p:spPr bwMode="auto">
              <a:xfrm>
                <a:off x="2260" y="2793"/>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36" name="Rectangle 1924"/>
              <p:cNvSpPr>
                <a:spLocks noChangeAspect="1" noChangeArrowheads="1"/>
              </p:cNvSpPr>
              <p:nvPr/>
            </p:nvSpPr>
            <p:spPr bwMode="auto">
              <a:xfrm>
                <a:off x="2262" y="2793"/>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37" name="Rectangle 1925"/>
              <p:cNvSpPr>
                <a:spLocks noChangeAspect="1" noChangeArrowheads="1"/>
              </p:cNvSpPr>
              <p:nvPr/>
            </p:nvSpPr>
            <p:spPr bwMode="auto">
              <a:xfrm>
                <a:off x="2267" y="2793"/>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38" name="Rectangle 1926"/>
              <p:cNvSpPr>
                <a:spLocks noChangeAspect="1" noChangeArrowheads="1"/>
              </p:cNvSpPr>
              <p:nvPr/>
            </p:nvSpPr>
            <p:spPr bwMode="auto">
              <a:xfrm>
                <a:off x="2271" y="2793"/>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39" name="Rectangle 1927"/>
              <p:cNvSpPr>
                <a:spLocks noChangeAspect="1" noChangeArrowheads="1"/>
              </p:cNvSpPr>
              <p:nvPr/>
            </p:nvSpPr>
            <p:spPr bwMode="auto">
              <a:xfrm>
                <a:off x="2272" y="2793"/>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40" name="Rectangle 1928"/>
              <p:cNvSpPr>
                <a:spLocks noChangeAspect="1" noChangeArrowheads="1"/>
              </p:cNvSpPr>
              <p:nvPr/>
            </p:nvSpPr>
            <p:spPr bwMode="auto">
              <a:xfrm>
                <a:off x="2276" y="2793"/>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41" name="Rectangle 1929"/>
              <p:cNvSpPr>
                <a:spLocks noChangeAspect="1" noChangeArrowheads="1"/>
              </p:cNvSpPr>
              <p:nvPr/>
            </p:nvSpPr>
            <p:spPr bwMode="auto">
              <a:xfrm>
                <a:off x="2279" y="2793"/>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42" name="Rectangle 1930"/>
              <p:cNvSpPr>
                <a:spLocks noChangeAspect="1" noChangeArrowheads="1"/>
              </p:cNvSpPr>
              <p:nvPr/>
            </p:nvSpPr>
            <p:spPr bwMode="auto">
              <a:xfrm>
                <a:off x="2283" y="2793"/>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43" name="Rectangle 1931"/>
              <p:cNvSpPr>
                <a:spLocks noChangeAspect="1" noChangeArrowheads="1"/>
              </p:cNvSpPr>
              <p:nvPr/>
            </p:nvSpPr>
            <p:spPr bwMode="auto">
              <a:xfrm>
                <a:off x="2285" y="2793"/>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44" name="Rectangle 1932"/>
              <p:cNvSpPr>
                <a:spLocks noChangeAspect="1" noChangeArrowheads="1"/>
              </p:cNvSpPr>
              <p:nvPr/>
            </p:nvSpPr>
            <p:spPr bwMode="auto">
              <a:xfrm>
                <a:off x="2291" y="2793"/>
                <a:ext cx="7"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45" name="Rectangle 1933"/>
              <p:cNvSpPr>
                <a:spLocks noChangeAspect="1" noChangeArrowheads="1"/>
              </p:cNvSpPr>
              <p:nvPr/>
            </p:nvSpPr>
            <p:spPr bwMode="auto">
              <a:xfrm>
                <a:off x="2293" y="2793"/>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46" name="Rectangle 1934"/>
              <p:cNvSpPr>
                <a:spLocks noChangeAspect="1" noChangeArrowheads="1"/>
              </p:cNvSpPr>
              <p:nvPr/>
            </p:nvSpPr>
            <p:spPr bwMode="auto">
              <a:xfrm>
                <a:off x="2298" y="2793"/>
                <a:ext cx="7"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47" name="Rectangle 1935"/>
              <p:cNvSpPr>
                <a:spLocks noChangeAspect="1" noChangeArrowheads="1"/>
              </p:cNvSpPr>
              <p:nvPr/>
            </p:nvSpPr>
            <p:spPr bwMode="auto">
              <a:xfrm>
                <a:off x="2299" y="2793"/>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48" name="Rectangle 1936"/>
              <p:cNvSpPr>
                <a:spLocks noChangeAspect="1" noChangeArrowheads="1"/>
              </p:cNvSpPr>
              <p:nvPr/>
            </p:nvSpPr>
            <p:spPr bwMode="auto">
              <a:xfrm>
                <a:off x="2305" y="2793"/>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49" name="Rectangle 1937"/>
              <p:cNvSpPr>
                <a:spLocks noChangeAspect="1" noChangeArrowheads="1"/>
              </p:cNvSpPr>
              <p:nvPr/>
            </p:nvSpPr>
            <p:spPr bwMode="auto">
              <a:xfrm>
                <a:off x="2306" y="2793"/>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50" name="Rectangle 1938"/>
              <p:cNvSpPr>
                <a:spLocks noChangeAspect="1" noChangeArrowheads="1"/>
              </p:cNvSpPr>
              <p:nvPr/>
            </p:nvSpPr>
            <p:spPr bwMode="auto">
              <a:xfrm>
                <a:off x="2310" y="2793"/>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51" name="Rectangle 1939"/>
              <p:cNvSpPr>
                <a:spLocks noChangeAspect="1" noChangeArrowheads="1"/>
              </p:cNvSpPr>
              <p:nvPr/>
            </p:nvSpPr>
            <p:spPr bwMode="auto">
              <a:xfrm>
                <a:off x="2313" y="2793"/>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52" name="Rectangle 1940"/>
              <p:cNvSpPr>
                <a:spLocks noChangeAspect="1" noChangeArrowheads="1"/>
              </p:cNvSpPr>
              <p:nvPr/>
            </p:nvSpPr>
            <p:spPr bwMode="auto">
              <a:xfrm>
                <a:off x="2317" y="2793"/>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53" name="Rectangle 1941"/>
              <p:cNvSpPr>
                <a:spLocks noChangeAspect="1" noChangeArrowheads="1"/>
              </p:cNvSpPr>
              <p:nvPr/>
            </p:nvSpPr>
            <p:spPr bwMode="auto">
              <a:xfrm>
                <a:off x="2320" y="2793"/>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54" name="Rectangle 1942"/>
              <p:cNvSpPr>
                <a:spLocks noChangeAspect="1" noChangeArrowheads="1"/>
              </p:cNvSpPr>
              <p:nvPr/>
            </p:nvSpPr>
            <p:spPr bwMode="auto">
              <a:xfrm>
                <a:off x="2325" y="2793"/>
                <a:ext cx="7"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55" name="Rectangle 1943"/>
              <p:cNvSpPr>
                <a:spLocks noChangeAspect="1" noChangeArrowheads="1"/>
              </p:cNvSpPr>
              <p:nvPr/>
            </p:nvSpPr>
            <p:spPr bwMode="auto">
              <a:xfrm>
                <a:off x="2327" y="2793"/>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56" name="Rectangle 1944"/>
              <p:cNvSpPr>
                <a:spLocks noChangeAspect="1" noChangeArrowheads="1"/>
              </p:cNvSpPr>
              <p:nvPr/>
            </p:nvSpPr>
            <p:spPr bwMode="auto">
              <a:xfrm>
                <a:off x="2332" y="2793"/>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57" name="Rectangle 1945"/>
              <p:cNvSpPr>
                <a:spLocks noChangeAspect="1" noChangeArrowheads="1"/>
              </p:cNvSpPr>
              <p:nvPr/>
            </p:nvSpPr>
            <p:spPr bwMode="auto">
              <a:xfrm>
                <a:off x="2334" y="2793"/>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58" name="Rectangle 1946"/>
              <p:cNvSpPr>
                <a:spLocks noChangeAspect="1" noChangeArrowheads="1"/>
              </p:cNvSpPr>
              <p:nvPr/>
            </p:nvSpPr>
            <p:spPr bwMode="auto">
              <a:xfrm>
                <a:off x="2341" y="2793"/>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59" name="Rectangle 1947"/>
              <p:cNvSpPr>
                <a:spLocks noChangeAspect="1" noChangeArrowheads="1"/>
              </p:cNvSpPr>
              <p:nvPr/>
            </p:nvSpPr>
            <p:spPr bwMode="auto">
              <a:xfrm>
                <a:off x="2343" y="2793"/>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60" name="Rectangle 1948"/>
              <p:cNvSpPr>
                <a:spLocks noChangeAspect="1" noChangeArrowheads="1"/>
              </p:cNvSpPr>
              <p:nvPr/>
            </p:nvSpPr>
            <p:spPr bwMode="auto">
              <a:xfrm>
                <a:off x="2233" y="2793"/>
                <a:ext cx="115" cy="70"/>
              </a:xfrm>
              <a:prstGeom prst="rect">
                <a:avLst/>
              </a:prstGeom>
              <a:gradFill rotWithShape="0">
                <a:gsLst>
                  <a:gs pos="0">
                    <a:schemeClr val="hlink"/>
                  </a:gs>
                  <a:gs pos="50000">
                    <a:schemeClr val="hlink">
                      <a:gamma/>
                      <a:tint val="40000"/>
                      <a:invGamma/>
                    </a:schemeClr>
                  </a:gs>
                  <a:gs pos="100000">
                    <a:schemeClr val="hlink"/>
                  </a:gs>
                </a:gsLst>
                <a:lin ang="0" scaled="1"/>
              </a:gradFill>
              <a:ln w="1588">
                <a:solidFill>
                  <a:srgbClr val="1F1A17"/>
                </a:solidFill>
                <a:miter lim="800000"/>
                <a:headEnd/>
                <a:tailEnd/>
              </a:ln>
            </p:spPr>
            <p:txBody>
              <a:bodyPr/>
              <a:lstStyle/>
              <a:p>
                <a:pPr>
                  <a:defRPr/>
                </a:pPr>
                <a:endParaRPr lang="en-US"/>
              </a:p>
            </p:txBody>
          </p:sp>
          <p:sp>
            <p:nvSpPr>
              <p:cNvPr id="66461" name="Freeform 1949"/>
              <p:cNvSpPr>
                <a:spLocks noChangeAspect="1"/>
              </p:cNvSpPr>
              <p:nvPr/>
            </p:nvSpPr>
            <p:spPr bwMode="auto">
              <a:xfrm>
                <a:off x="2239" y="2742"/>
                <a:ext cx="5" cy="53"/>
              </a:xfrm>
              <a:custGeom>
                <a:avLst/>
                <a:gdLst>
                  <a:gd name="T0" fmla="*/ 0 w 13"/>
                  <a:gd name="T1" fmla="*/ 154 h 154"/>
                  <a:gd name="T2" fmla="*/ 0 w 13"/>
                  <a:gd name="T3" fmla="*/ 103 h 154"/>
                  <a:gd name="T4" fmla="*/ 13 w 13"/>
                  <a:gd name="T5" fmla="*/ 0 h 154"/>
                  <a:gd name="T6" fmla="*/ 13 w 13"/>
                  <a:gd name="T7" fmla="*/ 154 h 154"/>
                  <a:gd name="T8" fmla="*/ 0 w 13"/>
                  <a:gd name="T9" fmla="*/ 154 h 154"/>
                </a:gdLst>
                <a:ahLst/>
                <a:cxnLst>
                  <a:cxn ang="0">
                    <a:pos x="T0" y="T1"/>
                  </a:cxn>
                  <a:cxn ang="0">
                    <a:pos x="T2" y="T3"/>
                  </a:cxn>
                  <a:cxn ang="0">
                    <a:pos x="T4" y="T5"/>
                  </a:cxn>
                  <a:cxn ang="0">
                    <a:pos x="T6" y="T7"/>
                  </a:cxn>
                  <a:cxn ang="0">
                    <a:pos x="T8" y="T9"/>
                  </a:cxn>
                </a:cxnLst>
                <a:rect l="0" t="0" r="r" b="b"/>
                <a:pathLst>
                  <a:path w="13" h="154">
                    <a:moveTo>
                      <a:pt x="0" y="154"/>
                    </a:moveTo>
                    <a:lnTo>
                      <a:pt x="0" y="103"/>
                    </a:lnTo>
                    <a:lnTo>
                      <a:pt x="13" y="0"/>
                    </a:lnTo>
                    <a:lnTo>
                      <a:pt x="13" y="154"/>
                    </a:lnTo>
                    <a:lnTo>
                      <a:pt x="0" y="154"/>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462" name="Freeform 1950"/>
              <p:cNvSpPr>
                <a:spLocks noChangeAspect="1"/>
              </p:cNvSpPr>
              <p:nvPr/>
            </p:nvSpPr>
            <p:spPr bwMode="auto">
              <a:xfrm>
                <a:off x="2241" y="2725"/>
                <a:ext cx="4" cy="70"/>
              </a:xfrm>
              <a:custGeom>
                <a:avLst/>
                <a:gdLst>
                  <a:gd name="T0" fmla="*/ 0 w 13"/>
                  <a:gd name="T1" fmla="*/ 205 h 205"/>
                  <a:gd name="T2" fmla="*/ 0 w 13"/>
                  <a:gd name="T3" fmla="*/ 102 h 205"/>
                  <a:gd name="T4" fmla="*/ 13 w 13"/>
                  <a:gd name="T5" fmla="*/ 0 h 205"/>
                  <a:gd name="T6" fmla="*/ 13 w 13"/>
                  <a:gd name="T7" fmla="*/ 205 h 205"/>
                  <a:gd name="T8" fmla="*/ 0 w 13"/>
                  <a:gd name="T9" fmla="*/ 205 h 205"/>
                </a:gdLst>
                <a:ahLst/>
                <a:cxnLst>
                  <a:cxn ang="0">
                    <a:pos x="T0" y="T1"/>
                  </a:cxn>
                  <a:cxn ang="0">
                    <a:pos x="T2" y="T3"/>
                  </a:cxn>
                  <a:cxn ang="0">
                    <a:pos x="T4" y="T5"/>
                  </a:cxn>
                  <a:cxn ang="0">
                    <a:pos x="T6" y="T7"/>
                  </a:cxn>
                  <a:cxn ang="0">
                    <a:pos x="T8" y="T9"/>
                  </a:cxn>
                </a:cxnLst>
                <a:rect l="0" t="0" r="r" b="b"/>
                <a:pathLst>
                  <a:path w="13" h="205">
                    <a:moveTo>
                      <a:pt x="0" y="205"/>
                    </a:moveTo>
                    <a:lnTo>
                      <a:pt x="0" y="102"/>
                    </a:lnTo>
                    <a:lnTo>
                      <a:pt x="13" y="0"/>
                    </a:lnTo>
                    <a:lnTo>
                      <a:pt x="13" y="205"/>
                    </a:lnTo>
                    <a:lnTo>
                      <a:pt x="0" y="205"/>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463" name="Freeform 1951"/>
              <p:cNvSpPr>
                <a:spLocks noChangeAspect="1"/>
              </p:cNvSpPr>
              <p:nvPr/>
            </p:nvSpPr>
            <p:spPr bwMode="auto">
              <a:xfrm>
                <a:off x="2244" y="2717"/>
                <a:ext cx="6" cy="76"/>
              </a:xfrm>
              <a:custGeom>
                <a:avLst/>
                <a:gdLst>
                  <a:gd name="T0" fmla="*/ 0 w 12"/>
                  <a:gd name="T1" fmla="*/ 228 h 228"/>
                  <a:gd name="T2" fmla="*/ 0 w 12"/>
                  <a:gd name="T3" fmla="*/ 74 h 228"/>
                  <a:gd name="T4" fmla="*/ 9 w 12"/>
                  <a:gd name="T5" fmla="*/ 0 h 228"/>
                  <a:gd name="T6" fmla="*/ 12 w 12"/>
                  <a:gd name="T7" fmla="*/ 0 h 228"/>
                  <a:gd name="T8" fmla="*/ 12 w 12"/>
                  <a:gd name="T9" fmla="*/ 228 h 228"/>
                  <a:gd name="T10" fmla="*/ 0 w 12"/>
                  <a:gd name="T11" fmla="*/ 228 h 228"/>
                </a:gdLst>
                <a:ahLst/>
                <a:cxnLst>
                  <a:cxn ang="0">
                    <a:pos x="T0" y="T1"/>
                  </a:cxn>
                  <a:cxn ang="0">
                    <a:pos x="T2" y="T3"/>
                  </a:cxn>
                  <a:cxn ang="0">
                    <a:pos x="T4" y="T5"/>
                  </a:cxn>
                  <a:cxn ang="0">
                    <a:pos x="T6" y="T7"/>
                  </a:cxn>
                  <a:cxn ang="0">
                    <a:pos x="T8" y="T9"/>
                  </a:cxn>
                  <a:cxn ang="0">
                    <a:pos x="T10" y="T11"/>
                  </a:cxn>
                </a:cxnLst>
                <a:rect l="0" t="0" r="r" b="b"/>
                <a:pathLst>
                  <a:path w="12" h="228">
                    <a:moveTo>
                      <a:pt x="0" y="228"/>
                    </a:moveTo>
                    <a:lnTo>
                      <a:pt x="0" y="74"/>
                    </a:lnTo>
                    <a:lnTo>
                      <a:pt x="9" y="0"/>
                    </a:lnTo>
                    <a:lnTo>
                      <a:pt x="12" y="0"/>
                    </a:lnTo>
                    <a:lnTo>
                      <a:pt x="12" y="228"/>
                    </a:lnTo>
                    <a:lnTo>
                      <a:pt x="0" y="228"/>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464" name="Freeform 1952"/>
              <p:cNvSpPr>
                <a:spLocks noChangeAspect="1"/>
              </p:cNvSpPr>
              <p:nvPr/>
            </p:nvSpPr>
            <p:spPr bwMode="auto">
              <a:xfrm>
                <a:off x="2245" y="2717"/>
                <a:ext cx="5" cy="76"/>
              </a:xfrm>
              <a:custGeom>
                <a:avLst/>
                <a:gdLst>
                  <a:gd name="T0" fmla="*/ 0 w 13"/>
                  <a:gd name="T1" fmla="*/ 228 h 228"/>
                  <a:gd name="T2" fmla="*/ 0 w 13"/>
                  <a:gd name="T3" fmla="*/ 23 h 228"/>
                  <a:gd name="T4" fmla="*/ 3 w 13"/>
                  <a:gd name="T5" fmla="*/ 0 h 228"/>
                  <a:gd name="T6" fmla="*/ 13 w 13"/>
                  <a:gd name="T7" fmla="*/ 0 h 228"/>
                  <a:gd name="T8" fmla="*/ 13 w 13"/>
                  <a:gd name="T9" fmla="*/ 228 h 228"/>
                  <a:gd name="T10" fmla="*/ 0 w 13"/>
                  <a:gd name="T11" fmla="*/ 228 h 228"/>
                </a:gdLst>
                <a:ahLst/>
                <a:cxnLst>
                  <a:cxn ang="0">
                    <a:pos x="T0" y="T1"/>
                  </a:cxn>
                  <a:cxn ang="0">
                    <a:pos x="T2" y="T3"/>
                  </a:cxn>
                  <a:cxn ang="0">
                    <a:pos x="T4" y="T5"/>
                  </a:cxn>
                  <a:cxn ang="0">
                    <a:pos x="T6" y="T7"/>
                  </a:cxn>
                  <a:cxn ang="0">
                    <a:pos x="T8" y="T9"/>
                  </a:cxn>
                  <a:cxn ang="0">
                    <a:pos x="T10" y="T11"/>
                  </a:cxn>
                </a:cxnLst>
                <a:rect l="0" t="0" r="r" b="b"/>
                <a:pathLst>
                  <a:path w="13" h="228">
                    <a:moveTo>
                      <a:pt x="0" y="228"/>
                    </a:moveTo>
                    <a:lnTo>
                      <a:pt x="0" y="23"/>
                    </a:lnTo>
                    <a:lnTo>
                      <a:pt x="3" y="0"/>
                    </a:lnTo>
                    <a:lnTo>
                      <a:pt x="13" y="0"/>
                    </a:lnTo>
                    <a:lnTo>
                      <a:pt x="13" y="228"/>
                    </a:lnTo>
                    <a:lnTo>
                      <a:pt x="0" y="228"/>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465" name="Rectangle 1953"/>
              <p:cNvSpPr>
                <a:spLocks noChangeAspect="1" noChangeArrowheads="1"/>
              </p:cNvSpPr>
              <p:nvPr/>
            </p:nvSpPr>
            <p:spPr bwMode="auto">
              <a:xfrm>
                <a:off x="2247" y="2717"/>
                <a:ext cx="4"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66" name="Rectangle 1954"/>
              <p:cNvSpPr>
                <a:spLocks noChangeAspect="1" noChangeArrowheads="1"/>
              </p:cNvSpPr>
              <p:nvPr/>
            </p:nvSpPr>
            <p:spPr bwMode="auto">
              <a:xfrm>
                <a:off x="2249" y="2717"/>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67" name="Rectangle 1955"/>
              <p:cNvSpPr>
                <a:spLocks noChangeAspect="1" noChangeArrowheads="1"/>
              </p:cNvSpPr>
              <p:nvPr/>
            </p:nvSpPr>
            <p:spPr bwMode="auto">
              <a:xfrm>
                <a:off x="2254" y="2717"/>
                <a:ext cx="4"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68" name="Rectangle 1956"/>
              <p:cNvSpPr>
                <a:spLocks noChangeAspect="1" noChangeArrowheads="1"/>
              </p:cNvSpPr>
              <p:nvPr/>
            </p:nvSpPr>
            <p:spPr bwMode="auto">
              <a:xfrm>
                <a:off x="2256" y="2717"/>
                <a:ext cx="4"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69" name="Rectangle 1957"/>
              <p:cNvSpPr>
                <a:spLocks noChangeAspect="1" noChangeArrowheads="1"/>
              </p:cNvSpPr>
              <p:nvPr/>
            </p:nvSpPr>
            <p:spPr bwMode="auto">
              <a:xfrm>
                <a:off x="2262" y="2717"/>
                <a:ext cx="4"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70" name="Rectangle 1958"/>
              <p:cNvSpPr>
                <a:spLocks noChangeAspect="1" noChangeArrowheads="1"/>
              </p:cNvSpPr>
              <p:nvPr/>
            </p:nvSpPr>
            <p:spPr bwMode="auto">
              <a:xfrm>
                <a:off x="2264" y="2717"/>
                <a:ext cx="7"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71" name="Rectangle 1959"/>
              <p:cNvSpPr>
                <a:spLocks noChangeAspect="1" noChangeArrowheads="1"/>
              </p:cNvSpPr>
              <p:nvPr/>
            </p:nvSpPr>
            <p:spPr bwMode="auto">
              <a:xfrm>
                <a:off x="2269" y="2717"/>
                <a:ext cx="4"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72" name="Rectangle 1960"/>
              <p:cNvSpPr>
                <a:spLocks noChangeAspect="1" noChangeArrowheads="1"/>
              </p:cNvSpPr>
              <p:nvPr/>
            </p:nvSpPr>
            <p:spPr bwMode="auto">
              <a:xfrm>
                <a:off x="2271" y="2717"/>
                <a:ext cx="6"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73" name="Rectangle 1961"/>
              <p:cNvSpPr>
                <a:spLocks noChangeAspect="1" noChangeArrowheads="1"/>
              </p:cNvSpPr>
              <p:nvPr/>
            </p:nvSpPr>
            <p:spPr bwMode="auto">
              <a:xfrm>
                <a:off x="2276" y="2717"/>
                <a:ext cx="6"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74" name="Rectangle 1962"/>
              <p:cNvSpPr>
                <a:spLocks noChangeAspect="1" noChangeArrowheads="1"/>
              </p:cNvSpPr>
              <p:nvPr/>
            </p:nvSpPr>
            <p:spPr bwMode="auto">
              <a:xfrm>
                <a:off x="2279" y="2717"/>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75" name="Rectangle 1963"/>
              <p:cNvSpPr>
                <a:spLocks noChangeAspect="1" noChangeArrowheads="1"/>
              </p:cNvSpPr>
              <p:nvPr/>
            </p:nvSpPr>
            <p:spPr bwMode="auto">
              <a:xfrm>
                <a:off x="2283" y="2717"/>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76" name="Rectangle 1964"/>
              <p:cNvSpPr>
                <a:spLocks noChangeAspect="1" noChangeArrowheads="1"/>
              </p:cNvSpPr>
              <p:nvPr/>
            </p:nvSpPr>
            <p:spPr bwMode="auto">
              <a:xfrm>
                <a:off x="2286" y="2717"/>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77" name="Rectangle 1965"/>
              <p:cNvSpPr>
                <a:spLocks noChangeAspect="1" noChangeArrowheads="1"/>
              </p:cNvSpPr>
              <p:nvPr/>
            </p:nvSpPr>
            <p:spPr bwMode="auto">
              <a:xfrm>
                <a:off x="2291" y="2717"/>
                <a:ext cx="7"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78" name="Rectangle 1966"/>
              <p:cNvSpPr>
                <a:spLocks noChangeAspect="1" noChangeArrowheads="1"/>
              </p:cNvSpPr>
              <p:nvPr/>
            </p:nvSpPr>
            <p:spPr bwMode="auto">
              <a:xfrm>
                <a:off x="2292" y="2717"/>
                <a:ext cx="6"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79" name="Rectangle 1967"/>
              <p:cNvSpPr>
                <a:spLocks noChangeAspect="1" noChangeArrowheads="1"/>
              </p:cNvSpPr>
              <p:nvPr/>
            </p:nvSpPr>
            <p:spPr bwMode="auto">
              <a:xfrm>
                <a:off x="2296" y="2717"/>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80" name="Rectangle 1968"/>
              <p:cNvSpPr>
                <a:spLocks noChangeAspect="1" noChangeArrowheads="1"/>
              </p:cNvSpPr>
              <p:nvPr/>
            </p:nvSpPr>
            <p:spPr bwMode="auto">
              <a:xfrm>
                <a:off x="2299" y="2717"/>
                <a:ext cx="6"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81" name="Rectangle 1969"/>
              <p:cNvSpPr>
                <a:spLocks noChangeAspect="1" noChangeArrowheads="1"/>
              </p:cNvSpPr>
              <p:nvPr/>
            </p:nvSpPr>
            <p:spPr bwMode="auto">
              <a:xfrm>
                <a:off x="2305" y="2717"/>
                <a:ext cx="6"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82" name="Rectangle 1970"/>
              <p:cNvSpPr>
                <a:spLocks noChangeAspect="1" noChangeArrowheads="1"/>
              </p:cNvSpPr>
              <p:nvPr/>
            </p:nvSpPr>
            <p:spPr bwMode="auto">
              <a:xfrm>
                <a:off x="2307" y="2717"/>
                <a:ext cx="4"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83" name="Rectangle 1971"/>
              <p:cNvSpPr>
                <a:spLocks noChangeAspect="1" noChangeArrowheads="1"/>
              </p:cNvSpPr>
              <p:nvPr/>
            </p:nvSpPr>
            <p:spPr bwMode="auto">
              <a:xfrm>
                <a:off x="2310" y="2717"/>
                <a:ext cx="6"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84" name="Rectangle 1972"/>
              <p:cNvSpPr>
                <a:spLocks noChangeAspect="1" noChangeArrowheads="1"/>
              </p:cNvSpPr>
              <p:nvPr/>
            </p:nvSpPr>
            <p:spPr bwMode="auto">
              <a:xfrm>
                <a:off x="2313" y="2717"/>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85" name="Rectangle 1973"/>
              <p:cNvSpPr>
                <a:spLocks noChangeAspect="1" noChangeArrowheads="1"/>
              </p:cNvSpPr>
              <p:nvPr/>
            </p:nvSpPr>
            <p:spPr bwMode="auto">
              <a:xfrm>
                <a:off x="2317" y="2717"/>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86" name="Rectangle 1974"/>
              <p:cNvSpPr>
                <a:spLocks noChangeAspect="1" noChangeArrowheads="1"/>
              </p:cNvSpPr>
              <p:nvPr/>
            </p:nvSpPr>
            <p:spPr bwMode="auto">
              <a:xfrm>
                <a:off x="2320" y="2717"/>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87" name="Rectangle 1975"/>
              <p:cNvSpPr>
                <a:spLocks noChangeAspect="1" noChangeArrowheads="1"/>
              </p:cNvSpPr>
              <p:nvPr/>
            </p:nvSpPr>
            <p:spPr bwMode="auto">
              <a:xfrm>
                <a:off x="2325" y="2717"/>
                <a:ext cx="7"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88" name="Rectangle 1976"/>
              <p:cNvSpPr>
                <a:spLocks noChangeAspect="1" noChangeArrowheads="1"/>
              </p:cNvSpPr>
              <p:nvPr/>
            </p:nvSpPr>
            <p:spPr bwMode="auto">
              <a:xfrm>
                <a:off x="2327" y="2717"/>
                <a:ext cx="5" cy="7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89" name="Freeform 1977"/>
              <p:cNvSpPr>
                <a:spLocks noChangeAspect="1"/>
              </p:cNvSpPr>
              <p:nvPr/>
            </p:nvSpPr>
            <p:spPr bwMode="auto">
              <a:xfrm>
                <a:off x="2329" y="2717"/>
                <a:ext cx="4" cy="76"/>
              </a:xfrm>
              <a:custGeom>
                <a:avLst/>
                <a:gdLst>
                  <a:gd name="T0" fmla="*/ 0 w 13"/>
                  <a:gd name="T1" fmla="*/ 228 h 228"/>
                  <a:gd name="T2" fmla="*/ 0 w 13"/>
                  <a:gd name="T3" fmla="*/ 0 h 228"/>
                  <a:gd name="T4" fmla="*/ 11 w 13"/>
                  <a:gd name="T5" fmla="*/ 0 h 228"/>
                  <a:gd name="T6" fmla="*/ 13 w 13"/>
                  <a:gd name="T7" fmla="*/ 11 h 228"/>
                  <a:gd name="T8" fmla="*/ 13 w 13"/>
                  <a:gd name="T9" fmla="*/ 228 h 228"/>
                  <a:gd name="T10" fmla="*/ 0 w 13"/>
                  <a:gd name="T11" fmla="*/ 228 h 228"/>
                </a:gdLst>
                <a:ahLst/>
                <a:cxnLst>
                  <a:cxn ang="0">
                    <a:pos x="T0" y="T1"/>
                  </a:cxn>
                  <a:cxn ang="0">
                    <a:pos x="T2" y="T3"/>
                  </a:cxn>
                  <a:cxn ang="0">
                    <a:pos x="T4" y="T5"/>
                  </a:cxn>
                  <a:cxn ang="0">
                    <a:pos x="T6" y="T7"/>
                  </a:cxn>
                  <a:cxn ang="0">
                    <a:pos x="T8" y="T9"/>
                  </a:cxn>
                  <a:cxn ang="0">
                    <a:pos x="T10" y="T11"/>
                  </a:cxn>
                </a:cxnLst>
                <a:rect l="0" t="0" r="r" b="b"/>
                <a:pathLst>
                  <a:path w="13" h="228">
                    <a:moveTo>
                      <a:pt x="0" y="228"/>
                    </a:moveTo>
                    <a:lnTo>
                      <a:pt x="0" y="0"/>
                    </a:lnTo>
                    <a:lnTo>
                      <a:pt x="11" y="0"/>
                    </a:lnTo>
                    <a:lnTo>
                      <a:pt x="13" y="11"/>
                    </a:lnTo>
                    <a:lnTo>
                      <a:pt x="13" y="228"/>
                    </a:lnTo>
                    <a:lnTo>
                      <a:pt x="0" y="228"/>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490" name="Freeform 1978"/>
              <p:cNvSpPr>
                <a:spLocks noChangeAspect="1"/>
              </p:cNvSpPr>
              <p:nvPr/>
            </p:nvSpPr>
            <p:spPr bwMode="auto">
              <a:xfrm>
                <a:off x="2332" y="2717"/>
                <a:ext cx="6" cy="76"/>
              </a:xfrm>
              <a:custGeom>
                <a:avLst/>
                <a:gdLst>
                  <a:gd name="T0" fmla="*/ 0 w 12"/>
                  <a:gd name="T1" fmla="*/ 228 h 228"/>
                  <a:gd name="T2" fmla="*/ 0 w 12"/>
                  <a:gd name="T3" fmla="*/ 0 h 228"/>
                  <a:gd name="T4" fmla="*/ 4 w 12"/>
                  <a:gd name="T5" fmla="*/ 0 h 228"/>
                  <a:gd name="T6" fmla="*/ 12 w 12"/>
                  <a:gd name="T7" fmla="*/ 54 h 228"/>
                  <a:gd name="T8" fmla="*/ 12 w 12"/>
                  <a:gd name="T9" fmla="*/ 228 h 228"/>
                  <a:gd name="T10" fmla="*/ 0 w 12"/>
                  <a:gd name="T11" fmla="*/ 228 h 228"/>
                </a:gdLst>
                <a:ahLst/>
                <a:cxnLst>
                  <a:cxn ang="0">
                    <a:pos x="T0" y="T1"/>
                  </a:cxn>
                  <a:cxn ang="0">
                    <a:pos x="T2" y="T3"/>
                  </a:cxn>
                  <a:cxn ang="0">
                    <a:pos x="T4" y="T5"/>
                  </a:cxn>
                  <a:cxn ang="0">
                    <a:pos x="T6" y="T7"/>
                  </a:cxn>
                  <a:cxn ang="0">
                    <a:pos x="T8" y="T9"/>
                  </a:cxn>
                  <a:cxn ang="0">
                    <a:pos x="T10" y="T11"/>
                  </a:cxn>
                </a:cxnLst>
                <a:rect l="0" t="0" r="r" b="b"/>
                <a:pathLst>
                  <a:path w="12" h="228">
                    <a:moveTo>
                      <a:pt x="0" y="228"/>
                    </a:moveTo>
                    <a:lnTo>
                      <a:pt x="0" y="0"/>
                    </a:lnTo>
                    <a:lnTo>
                      <a:pt x="4" y="0"/>
                    </a:lnTo>
                    <a:lnTo>
                      <a:pt x="12" y="54"/>
                    </a:lnTo>
                    <a:lnTo>
                      <a:pt x="12" y="228"/>
                    </a:lnTo>
                    <a:lnTo>
                      <a:pt x="0" y="228"/>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491" name="Freeform 1979"/>
              <p:cNvSpPr>
                <a:spLocks noChangeAspect="1"/>
              </p:cNvSpPr>
              <p:nvPr/>
            </p:nvSpPr>
            <p:spPr bwMode="auto">
              <a:xfrm>
                <a:off x="2333" y="2721"/>
                <a:ext cx="5" cy="72"/>
              </a:xfrm>
              <a:custGeom>
                <a:avLst/>
                <a:gdLst>
                  <a:gd name="T0" fmla="*/ 0 w 13"/>
                  <a:gd name="T1" fmla="*/ 217 h 217"/>
                  <a:gd name="T2" fmla="*/ 0 w 13"/>
                  <a:gd name="T3" fmla="*/ 0 h 217"/>
                  <a:gd name="T4" fmla="*/ 13 w 13"/>
                  <a:gd name="T5" fmla="*/ 86 h 217"/>
                  <a:gd name="T6" fmla="*/ 13 w 13"/>
                  <a:gd name="T7" fmla="*/ 217 h 217"/>
                  <a:gd name="T8" fmla="*/ 0 w 13"/>
                  <a:gd name="T9" fmla="*/ 217 h 217"/>
                </a:gdLst>
                <a:ahLst/>
                <a:cxnLst>
                  <a:cxn ang="0">
                    <a:pos x="T0" y="T1"/>
                  </a:cxn>
                  <a:cxn ang="0">
                    <a:pos x="T2" y="T3"/>
                  </a:cxn>
                  <a:cxn ang="0">
                    <a:pos x="T4" y="T5"/>
                  </a:cxn>
                  <a:cxn ang="0">
                    <a:pos x="T6" y="T7"/>
                  </a:cxn>
                  <a:cxn ang="0">
                    <a:pos x="T8" y="T9"/>
                  </a:cxn>
                </a:cxnLst>
                <a:rect l="0" t="0" r="r" b="b"/>
                <a:pathLst>
                  <a:path w="13" h="217">
                    <a:moveTo>
                      <a:pt x="0" y="217"/>
                    </a:moveTo>
                    <a:lnTo>
                      <a:pt x="0" y="0"/>
                    </a:lnTo>
                    <a:lnTo>
                      <a:pt x="13" y="86"/>
                    </a:lnTo>
                    <a:lnTo>
                      <a:pt x="13" y="217"/>
                    </a:lnTo>
                    <a:lnTo>
                      <a:pt x="0" y="217"/>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492" name="Freeform 1980"/>
              <p:cNvSpPr>
                <a:spLocks noChangeAspect="1"/>
              </p:cNvSpPr>
              <p:nvPr/>
            </p:nvSpPr>
            <p:spPr bwMode="auto">
              <a:xfrm>
                <a:off x="2335" y="2735"/>
                <a:ext cx="4" cy="58"/>
              </a:xfrm>
              <a:custGeom>
                <a:avLst/>
                <a:gdLst>
                  <a:gd name="T0" fmla="*/ 0 w 13"/>
                  <a:gd name="T1" fmla="*/ 174 h 174"/>
                  <a:gd name="T2" fmla="*/ 0 w 13"/>
                  <a:gd name="T3" fmla="*/ 0 h 174"/>
                  <a:gd name="T4" fmla="*/ 13 w 13"/>
                  <a:gd name="T5" fmla="*/ 87 h 174"/>
                  <a:gd name="T6" fmla="*/ 13 w 13"/>
                  <a:gd name="T7" fmla="*/ 174 h 174"/>
                  <a:gd name="T8" fmla="*/ 0 w 13"/>
                  <a:gd name="T9" fmla="*/ 174 h 174"/>
                </a:gdLst>
                <a:ahLst/>
                <a:cxnLst>
                  <a:cxn ang="0">
                    <a:pos x="T0" y="T1"/>
                  </a:cxn>
                  <a:cxn ang="0">
                    <a:pos x="T2" y="T3"/>
                  </a:cxn>
                  <a:cxn ang="0">
                    <a:pos x="T4" y="T5"/>
                  </a:cxn>
                  <a:cxn ang="0">
                    <a:pos x="T6" y="T7"/>
                  </a:cxn>
                  <a:cxn ang="0">
                    <a:pos x="T8" y="T9"/>
                  </a:cxn>
                </a:cxnLst>
                <a:rect l="0" t="0" r="r" b="b"/>
                <a:pathLst>
                  <a:path w="13" h="174">
                    <a:moveTo>
                      <a:pt x="0" y="174"/>
                    </a:moveTo>
                    <a:lnTo>
                      <a:pt x="0" y="0"/>
                    </a:lnTo>
                    <a:lnTo>
                      <a:pt x="13" y="87"/>
                    </a:lnTo>
                    <a:lnTo>
                      <a:pt x="13" y="174"/>
                    </a:lnTo>
                    <a:lnTo>
                      <a:pt x="0" y="174"/>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493" name="Freeform 1981"/>
              <p:cNvSpPr>
                <a:spLocks noChangeAspect="1"/>
              </p:cNvSpPr>
              <p:nvPr/>
            </p:nvSpPr>
            <p:spPr bwMode="auto">
              <a:xfrm>
                <a:off x="2337" y="2750"/>
                <a:ext cx="5" cy="43"/>
              </a:xfrm>
              <a:custGeom>
                <a:avLst/>
                <a:gdLst>
                  <a:gd name="T0" fmla="*/ 0 w 13"/>
                  <a:gd name="T1" fmla="*/ 131 h 131"/>
                  <a:gd name="T2" fmla="*/ 0 w 13"/>
                  <a:gd name="T3" fmla="*/ 0 h 131"/>
                  <a:gd name="T4" fmla="*/ 13 w 13"/>
                  <a:gd name="T5" fmla="*/ 87 h 131"/>
                  <a:gd name="T6" fmla="*/ 13 w 13"/>
                  <a:gd name="T7" fmla="*/ 131 h 131"/>
                  <a:gd name="T8" fmla="*/ 0 w 13"/>
                  <a:gd name="T9" fmla="*/ 131 h 131"/>
                </a:gdLst>
                <a:ahLst/>
                <a:cxnLst>
                  <a:cxn ang="0">
                    <a:pos x="T0" y="T1"/>
                  </a:cxn>
                  <a:cxn ang="0">
                    <a:pos x="T2" y="T3"/>
                  </a:cxn>
                  <a:cxn ang="0">
                    <a:pos x="T4" y="T5"/>
                  </a:cxn>
                  <a:cxn ang="0">
                    <a:pos x="T6" y="T7"/>
                  </a:cxn>
                  <a:cxn ang="0">
                    <a:pos x="T8" y="T9"/>
                  </a:cxn>
                </a:cxnLst>
                <a:rect l="0" t="0" r="r" b="b"/>
                <a:pathLst>
                  <a:path w="13" h="131">
                    <a:moveTo>
                      <a:pt x="0" y="131"/>
                    </a:moveTo>
                    <a:lnTo>
                      <a:pt x="0" y="0"/>
                    </a:lnTo>
                    <a:lnTo>
                      <a:pt x="13" y="87"/>
                    </a:lnTo>
                    <a:lnTo>
                      <a:pt x="13" y="131"/>
                    </a:lnTo>
                    <a:lnTo>
                      <a:pt x="0" y="131"/>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494" name="Freeform 1982"/>
              <p:cNvSpPr>
                <a:spLocks noChangeAspect="1"/>
              </p:cNvSpPr>
              <p:nvPr/>
            </p:nvSpPr>
            <p:spPr bwMode="auto">
              <a:xfrm>
                <a:off x="2339" y="2764"/>
                <a:ext cx="6" cy="29"/>
              </a:xfrm>
              <a:custGeom>
                <a:avLst/>
                <a:gdLst>
                  <a:gd name="T0" fmla="*/ 0 w 13"/>
                  <a:gd name="T1" fmla="*/ 87 h 87"/>
                  <a:gd name="T2" fmla="*/ 0 w 13"/>
                  <a:gd name="T3" fmla="*/ 0 h 87"/>
                  <a:gd name="T4" fmla="*/ 13 w 13"/>
                  <a:gd name="T5" fmla="*/ 87 h 87"/>
                  <a:gd name="T6" fmla="*/ 0 w 13"/>
                  <a:gd name="T7" fmla="*/ 87 h 87"/>
                </a:gdLst>
                <a:ahLst/>
                <a:cxnLst>
                  <a:cxn ang="0">
                    <a:pos x="T0" y="T1"/>
                  </a:cxn>
                  <a:cxn ang="0">
                    <a:pos x="T2" y="T3"/>
                  </a:cxn>
                  <a:cxn ang="0">
                    <a:pos x="T4" y="T5"/>
                  </a:cxn>
                  <a:cxn ang="0">
                    <a:pos x="T6" y="T7"/>
                  </a:cxn>
                </a:cxnLst>
                <a:rect l="0" t="0" r="r" b="b"/>
                <a:pathLst>
                  <a:path w="13" h="87">
                    <a:moveTo>
                      <a:pt x="0" y="87"/>
                    </a:moveTo>
                    <a:lnTo>
                      <a:pt x="0" y="0"/>
                    </a:lnTo>
                    <a:lnTo>
                      <a:pt x="13" y="87"/>
                    </a:lnTo>
                    <a:lnTo>
                      <a:pt x="0" y="87"/>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495" name="Freeform 1983"/>
              <p:cNvSpPr>
                <a:spLocks noChangeAspect="1"/>
              </p:cNvSpPr>
              <p:nvPr/>
            </p:nvSpPr>
            <p:spPr bwMode="auto">
              <a:xfrm>
                <a:off x="2342" y="2779"/>
                <a:ext cx="2" cy="14"/>
              </a:xfrm>
              <a:custGeom>
                <a:avLst/>
                <a:gdLst>
                  <a:gd name="T0" fmla="*/ 0 w 6"/>
                  <a:gd name="T1" fmla="*/ 44 h 44"/>
                  <a:gd name="T2" fmla="*/ 0 w 6"/>
                  <a:gd name="T3" fmla="*/ 0 h 44"/>
                  <a:gd name="T4" fmla="*/ 6 w 6"/>
                  <a:gd name="T5" fmla="*/ 44 h 44"/>
                  <a:gd name="T6" fmla="*/ 0 w 6"/>
                  <a:gd name="T7" fmla="*/ 44 h 44"/>
                </a:gdLst>
                <a:ahLst/>
                <a:cxnLst>
                  <a:cxn ang="0">
                    <a:pos x="T0" y="T1"/>
                  </a:cxn>
                  <a:cxn ang="0">
                    <a:pos x="T2" y="T3"/>
                  </a:cxn>
                  <a:cxn ang="0">
                    <a:pos x="T4" y="T5"/>
                  </a:cxn>
                  <a:cxn ang="0">
                    <a:pos x="T6" y="T7"/>
                  </a:cxn>
                </a:cxnLst>
                <a:rect l="0" t="0" r="r" b="b"/>
                <a:pathLst>
                  <a:path w="6" h="44">
                    <a:moveTo>
                      <a:pt x="0" y="44"/>
                    </a:moveTo>
                    <a:lnTo>
                      <a:pt x="0" y="0"/>
                    </a:lnTo>
                    <a:lnTo>
                      <a:pt x="6" y="44"/>
                    </a:lnTo>
                    <a:lnTo>
                      <a:pt x="0" y="44"/>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6496" name="Freeform 1984"/>
              <p:cNvSpPr>
                <a:spLocks noChangeAspect="1"/>
              </p:cNvSpPr>
              <p:nvPr/>
            </p:nvSpPr>
            <p:spPr bwMode="auto">
              <a:xfrm>
                <a:off x="2237" y="2717"/>
                <a:ext cx="108" cy="76"/>
              </a:xfrm>
              <a:custGeom>
                <a:avLst/>
                <a:gdLst>
                  <a:gd name="T0" fmla="*/ 28 w 321"/>
                  <a:gd name="T1" fmla="*/ 0 h 228"/>
                  <a:gd name="T2" fmla="*/ 0 w 321"/>
                  <a:gd name="T3" fmla="*/ 228 h 228"/>
                  <a:gd name="T4" fmla="*/ 321 w 321"/>
                  <a:gd name="T5" fmla="*/ 228 h 228"/>
                  <a:gd name="T6" fmla="*/ 287 w 321"/>
                  <a:gd name="T7" fmla="*/ 0 h 228"/>
                  <a:gd name="T8" fmla="*/ 28 w 321"/>
                  <a:gd name="T9" fmla="*/ 0 h 228"/>
                </a:gdLst>
                <a:ahLst/>
                <a:cxnLst>
                  <a:cxn ang="0">
                    <a:pos x="T0" y="T1"/>
                  </a:cxn>
                  <a:cxn ang="0">
                    <a:pos x="T2" y="T3"/>
                  </a:cxn>
                  <a:cxn ang="0">
                    <a:pos x="T4" y="T5"/>
                  </a:cxn>
                  <a:cxn ang="0">
                    <a:pos x="T6" y="T7"/>
                  </a:cxn>
                  <a:cxn ang="0">
                    <a:pos x="T8" y="T9"/>
                  </a:cxn>
                </a:cxnLst>
                <a:rect l="0" t="0" r="r" b="b"/>
                <a:pathLst>
                  <a:path w="321" h="228">
                    <a:moveTo>
                      <a:pt x="28" y="0"/>
                    </a:moveTo>
                    <a:lnTo>
                      <a:pt x="0" y="228"/>
                    </a:lnTo>
                    <a:lnTo>
                      <a:pt x="321" y="228"/>
                    </a:lnTo>
                    <a:lnTo>
                      <a:pt x="287" y="0"/>
                    </a:lnTo>
                    <a:lnTo>
                      <a:pt x="28" y="0"/>
                    </a:lnTo>
                  </a:path>
                </a:pathLst>
              </a:custGeom>
              <a:gradFill rotWithShape="0">
                <a:gsLst>
                  <a:gs pos="0">
                    <a:schemeClr val="hlink"/>
                  </a:gs>
                  <a:gs pos="50000">
                    <a:schemeClr val="hlink">
                      <a:gamma/>
                      <a:tint val="40000"/>
                      <a:invGamma/>
                    </a:schemeClr>
                  </a:gs>
                  <a:gs pos="100000">
                    <a:schemeClr val="hlink"/>
                  </a:gs>
                </a:gsLst>
                <a:lin ang="0" scaled="1"/>
              </a:gradFill>
              <a:ln w="1588">
                <a:solidFill>
                  <a:srgbClr val="1F1A17"/>
                </a:solidFill>
                <a:prstDash val="solid"/>
                <a:round/>
                <a:headEnd/>
                <a:tailEnd/>
              </a:ln>
            </p:spPr>
            <p:txBody>
              <a:bodyPr/>
              <a:lstStyle/>
              <a:p>
                <a:pPr>
                  <a:defRPr/>
                </a:pPr>
                <a:endParaRPr lang="en-US"/>
              </a:p>
            </p:txBody>
          </p:sp>
        </p:grpSp>
        <p:grpSp>
          <p:nvGrpSpPr>
            <p:cNvPr id="386170" name="Group 1985"/>
            <p:cNvGrpSpPr>
              <a:grpSpLocks noChangeAspect="1"/>
            </p:cNvGrpSpPr>
            <p:nvPr/>
          </p:nvGrpSpPr>
          <p:grpSpPr bwMode="auto">
            <a:xfrm>
              <a:off x="3495" y="3511"/>
              <a:ext cx="371" cy="234"/>
              <a:chOff x="4008" y="3618"/>
              <a:chExt cx="347" cy="206"/>
            </a:xfrm>
          </p:grpSpPr>
          <p:sp>
            <p:nvSpPr>
              <p:cNvPr id="66498" name="Rectangle 1986"/>
              <p:cNvSpPr>
                <a:spLocks noChangeAspect="1" noChangeArrowheads="1"/>
              </p:cNvSpPr>
              <p:nvPr/>
            </p:nvSpPr>
            <p:spPr bwMode="auto">
              <a:xfrm>
                <a:off x="4055"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499" name="Rectangle 1987"/>
              <p:cNvSpPr>
                <a:spLocks noChangeAspect="1" noChangeArrowheads="1"/>
              </p:cNvSpPr>
              <p:nvPr/>
            </p:nvSpPr>
            <p:spPr bwMode="auto">
              <a:xfrm>
                <a:off x="4055"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00" name="Rectangle 1988"/>
              <p:cNvSpPr>
                <a:spLocks noChangeAspect="1" noChangeArrowheads="1"/>
              </p:cNvSpPr>
              <p:nvPr/>
            </p:nvSpPr>
            <p:spPr bwMode="auto">
              <a:xfrm>
                <a:off x="4061"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01" name="Rectangle 1989"/>
              <p:cNvSpPr>
                <a:spLocks noChangeAspect="1" noChangeArrowheads="1"/>
              </p:cNvSpPr>
              <p:nvPr/>
            </p:nvSpPr>
            <p:spPr bwMode="auto">
              <a:xfrm>
                <a:off x="4066"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02" name="Rectangle 1990"/>
              <p:cNvSpPr>
                <a:spLocks noChangeAspect="1" noChangeArrowheads="1"/>
              </p:cNvSpPr>
              <p:nvPr/>
            </p:nvSpPr>
            <p:spPr bwMode="auto">
              <a:xfrm>
                <a:off x="4072"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03" name="Rectangle 1991"/>
              <p:cNvSpPr>
                <a:spLocks noChangeAspect="1" noChangeArrowheads="1"/>
              </p:cNvSpPr>
              <p:nvPr/>
            </p:nvSpPr>
            <p:spPr bwMode="auto">
              <a:xfrm>
                <a:off x="4078"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04" name="Rectangle 1992"/>
              <p:cNvSpPr>
                <a:spLocks noChangeAspect="1" noChangeArrowheads="1"/>
              </p:cNvSpPr>
              <p:nvPr/>
            </p:nvSpPr>
            <p:spPr bwMode="auto">
              <a:xfrm>
                <a:off x="4084"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05" name="Rectangle 1993"/>
              <p:cNvSpPr>
                <a:spLocks noChangeAspect="1" noChangeArrowheads="1"/>
              </p:cNvSpPr>
              <p:nvPr/>
            </p:nvSpPr>
            <p:spPr bwMode="auto">
              <a:xfrm>
                <a:off x="4090"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06" name="Rectangle 1994"/>
              <p:cNvSpPr>
                <a:spLocks noChangeAspect="1" noChangeArrowheads="1"/>
              </p:cNvSpPr>
              <p:nvPr/>
            </p:nvSpPr>
            <p:spPr bwMode="auto">
              <a:xfrm>
                <a:off x="4095"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07" name="Rectangle 1995"/>
              <p:cNvSpPr>
                <a:spLocks noChangeAspect="1" noChangeArrowheads="1"/>
              </p:cNvSpPr>
              <p:nvPr/>
            </p:nvSpPr>
            <p:spPr bwMode="auto">
              <a:xfrm>
                <a:off x="4101"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08" name="Rectangle 1996"/>
              <p:cNvSpPr>
                <a:spLocks noChangeAspect="1" noChangeArrowheads="1"/>
              </p:cNvSpPr>
              <p:nvPr/>
            </p:nvSpPr>
            <p:spPr bwMode="auto">
              <a:xfrm>
                <a:off x="4107"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09" name="Rectangle 1997"/>
              <p:cNvSpPr>
                <a:spLocks noChangeAspect="1" noChangeArrowheads="1"/>
              </p:cNvSpPr>
              <p:nvPr/>
            </p:nvSpPr>
            <p:spPr bwMode="auto">
              <a:xfrm>
                <a:off x="4113"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10" name="Rectangle 1998"/>
              <p:cNvSpPr>
                <a:spLocks noChangeAspect="1" noChangeArrowheads="1"/>
              </p:cNvSpPr>
              <p:nvPr/>
            </p:nvSpPr>
            <p:spPr bwMode="auto">
              <a:xfrm>
                <a:off x="4119"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11" name="Rectangle 1999"/>
              <p:cNvSpPr>
                <a:spLocks noChangeAspect="1" noChangeArrowheads="1"/>
              </p:cNvSpPr>
              <p:nvPr/>
            </p:nvSpPr>
            <p:spPr bwMode="auto">
              <a:xfrm>
                <a:off x="4124"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12" name="Rectangle 2000"/>
              <p:cNvSpPr>
                <a:spLocks noChangeAspect="1" noChangeArrowheads="1"/>
              </p:cNvSpPr>
              <p:nvPr/>
            </p:nvSpPr>
            <p:spPr bwMode="auto">
              <a:xfrm>
                <a:off x="4131"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13" name="Rectangle 2001"/>
              <p:cNvSpPr>
                <a:spLocks noChangeAspect="1" noChangeArrowheads="1"/>
              </p:cNvSpPr>
              <p:nvPr/>
            </p:nvSpPr>
            <p:spPr bwMode="auto">
              <a:xfrm>
                <a:off x="4136"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14" name="Rectangle 2002"/>
              <p:cNvSpPr>
                <a:spLocks noChangeAspect="1" noChangeArrowheads="1"/>
              </p:cNvSpPr>
              <p:nvPr/>
            </p:nvSpPr>
            <p:spPr bwMode="auto">
              <a:xfrm>
                <a:off x="4142"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15" name="Rectangle 2003"/>
              <p:cNvSpPr>
                <a:spLocks noChangeAspect="1" noChangeArrowheads="1"/>
              </p:cNvSpPr>
              <p:nvPr/>
            </p:nvSpPr>
            <p:spPr bwMode="auto">
              <a:xfrm>
                <a:off x="4148"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16" name="Rectangle 2004"/>
              <p:cNvSpPr>
                <a:spLocks noChangeAspect="1" noChangeArrowheads="1"/>
              </p:cNvSpPr>
              <p:nvPr/>
            </p:nvSpPr>
            <p:spPr bwMode="auto">
              <a:xfrm>
                <a:off x="4154"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17" name="Rectangle 2005"/>
              <p:cNvSpPr>
                <a:spLocks noChangeAspect="1" noChangeArrowheads="1"/>
              </p:cNvSpPr>
              <p:nvPr/>
            </p:nvSpPr>
            <p:spPr bwMode="auto">
              <a:xfrm>
                <a:off x="4160"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18" name="Rectangle 2006"/>
              <p:cNvSpPr>
                <a:spLocks noChangeAspect="1" noChangeArrowheads="1"/>
              </p:cNvSpPr>
              <p:nvPr/>
            </p:nvSpPr>
            <p:spPr bwMode="auto">
              <a:xfrm>
                <a:off x="4165"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19" name="Rectangle 2007"/>
              <p:cNvSpPr>
                <a:spLocks noChangeAspect="1" noChangeArrowheads="1"/>
              </p:cNvSpPr>
              <p:nvPr/>
            </p:nvSpPr>
            <p:spPr bwMode="auto">
              <a:xfrm>
                <a:off x="4171"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20" name="Rectangle 2008"/>
              <p:cNvSpPr>
                <a:spLocks noChangeAspect="1" noChangeArrowheads="1"/>
              </p:cNvSpPr>
              <p:nvPr/>
            </p:nvSpPr>
            <p:spPr bwMode="auto">
              <a:xfrm>
                <a:off x="4177"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21" name="Rectangle 2009"/>
              <p:cNvSpPr>
                <a:spLocks noChangeAspect="1" noChangeArrowheads="1"/>
              </p:cNvSpPr>
              <p:nvPr/>
            </p:nvSpPr>
            <p:spPr bwMode="auto">
              <a:xfrm>
                <a:off x="4183"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22" name="Rectangle 2010"/>
              <p:cNvSpPr>
                <a:spLocks noChangeAspect="1" noChangeArrowheads="1"/>
              </p:cNvSpPr>
              <p:nvPr/>
            </p:nvSpPr>
            <p:spPr bwMode="auto">
              <a:xfrm>
                <a:off x="4189"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23" name="Rectangle 2011"/>
              <p:cNvSpPr>
                <a:spLocks noChangeAspect="1" noChangeArrowheads="1"/>
              </p:cNvSpPr>
              <p:nvPr/>
            </p:nvSpPr>
            <p:spPr bwMode="auto">
              <a:xfrm>
                <a:off x="4194"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24" name="Rectangle 2012"/>
              <p:cNvSpPr>
                <a:spLocks noChangeAspect="1" noChangeArrowheads="1"/>
              </p:cNvSpPr>
              <p:nvPr/>
            </p:nvSpPr>
            <p:spPr bwMode="auto">
              <a:xfrm>
                <a:off x="4200"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25" name="Rectangle 2013"/>
              <p:cNvSpPr>
                <a:spLocks noChangeAspect="1" noChangeArrowheads="1"/>
              </p:cNvSpPr>
              <p:nvPr/>
            </p:nvSpPr>
            <p:spPr bwMode="auto">
              <a:xfrm>
                <a:off x="4206"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26" name="Rectangle 2014"/>
              <p:cNvSpPr>
                <a:spLocks noChangeAspect="1" noChangeArrowheads="1"/>
              </p:cNvSpPr>
              <p:nvPr/>
            </p:nvSpPr>
            <p:spPr bwMode="auto">
              <a:xfrm>
                <a:off x="4212"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27" name="Rectangle 2015"/>
              <p:cNvSpPr>
                <a:spLocks noChangeAspect="1" noChangeArrowheads="1"/>
              </p:cNvSpPr>
              <p:nvPr/>
            </p:nvSpPr>
            <p:spPr bwMode="auto">
              <a:xfrm>
                <a:off x="4218"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28" name="Rectangle 2016"/>
              <p:cNvSpPr>
                <a:spLocks noChangeAspect="1" noChangeArrowheads="1"/>
              </p:cNvSpPr>
              <p:nvPr/>
            </p:nvSpPr>
            <p:spPr bwMode="auto">
              <a:xfrm>
                <a:off x="4223"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29" name="Rectangle 2017"/>
              <p:cNvSpPr>
                <a:spLocks noChangeAspect="1" noChangeArrowheads="1"/>
              </p:cNvSpPr>
              <p:nvPr/>
            </p:nvSpPr>
            <p:spPr bwMode="auto">
              <a:xfrm>
                <a:off x="4229"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30" name="Rectangle 2018"/>
              <p:cNvSpPr>
                <a:spLocks noChangeAspect="1" noChangeArrowheads="1"/>
              </p:cNvSpPr>
              <p:nvPr/>
            </p:nvSpPr>
            <p:spPr bwMode="auto">
              <a:xfrm>
                <a:off x="4235"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31" name="Rectangle 2019"/>
              <p:cNvSpPr>
                <a:spLocks noChangeAspect="1" noChangeArrowheads="1"/>
              </p:cNvSpPr>
              <p:nvPr/>
            </p:nvSpPr>
            <p:spPr bwMode="auto">
              <a:xfrm>
                <a:off x="4241"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32" name="Rectangle 2020"/>
              <p:cNvSpPr>
                <a:spLocks noChangeAspect="1" noChangeArrowheads="1"/>
              </p:cNvSpPr>
              <p:nvPr/>
            </p:nvSpPr>
            <p:spPr bwMode="auto">
              <a:xfrm>
                <a:off x="4247"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33" name="Rectangle 2021"/>
              <p:cNvSpPr>
                <a:spLocks noChangeAspect="1" noChangeArrowheads="1"/>
              </p:cNvSpPr>
              <p:nvPr/>
            </p:nvSpPr>
            <p:spPr bwMode="auto">
              <a:xfrm>
                <a:off x="4253"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34" name="Rectangle 2022"/>
              <p:cNvSpPr>
                <a:spLocks noChangeAspect="1" noChangeArrowheads="1"/>
              </p:cNvSpPr>
              <p:nvPr/>
            </p:nvSpPr>
            <p:spPr bwMode="auto">
              <a:xfrm>
                <a:off x="4259"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35" name="Rectangle 2023"/>
              <p:cNvSpPr>
                <a:spLocks noChangeAspect="1" noChangeArrowheads="1"/>
              </p:cNvSpPr>
              <p:nvPr/>
            </p:nvSpPr>
            <p:spPr bwMode="auto">
              <a:xfrm>
                <a:off x="4264"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36" name="Rectangle 2024"/>
              <p:cNvSpPr>
                <a:spLocks noChangeAspect="1" noChangeArrowheads="1"/>
              </p:cNvSpPr>
              <p:nvPr/>
            </p:nvSpPr>
            <p:spPr bwMode="auto">
              <a:xfrm>
                <a:off x="4270"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37" name="Rectangle 2025"/>
              <p:cNvSpPr>
                <a:spLocks noChangeAspect="1" noChangeArrowheads="1"/>
              </p:cNvSpPr>
              <p:nvPr/>
            </p:nvSpPr>
            <p:spPr bwMode="auto">
              <a:xfrm>
                <a:off x="4276"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38" name="Rectangle 2026"/>
              <p:cNvSpPr>
                <a:spLocks noChangeAspect="1" noChangeArrowheads="1"/>
              </p:cNvSpPr>
              <p:nvPr/>
            </p:nvSpPr>
            <p:spPr bwMode="auto">
              <a:xfrm>
                <a:off x="4282"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39" name="Rectangle 2027"/>
              <p:cNvSpPr>
                <a:spLocks noChangeAspect="1" noChangeArrowheads="1"/>
              </p:cNvSpPr>
              <p:nvPr/>
            </p:nvSpPr>
            <p:spPr bwMode="auto">
              <a:xfrm>
                <a:off x="4288"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40" name="Rectangle 2028"/>
              <p:cNvSpPr>
                <a:spLocks noChangeAspect="1" noChangeArrowheads="1"/>
              </p:cNvSpPr>
              <p:nvPr/>
            </p:nvSpPr>
            <p:spPr bwMode="auto">
              <a:xfrm>
                <a:off x="4294"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41" name="Rectangle 2029"/>
              <p:cNvSpPr>
                <a:spLocks noChangeAspect="1" noChangeArrowheads="1"/>
              </p:cNvSpPr>
              <p:nvPr/>
            </p:nvSpPr>
            <p:spPr bwMode="auto">
              <a:xfrm>
                <a:off x="4299"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42" name="Rectangle 2030"/>
              <p:cNvSpPr>
                <a:spLocks noChangeAspect="1" noChangeArrowheads="1"/>
              </p:cNvSpPr>
              <p:nvPr/>
            </p:nvSpPr>
            <p:spPr bwMode="auto">
              <a:xfrm>
                <a:off x="4305"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43" name="Rectangle 2031"/>
              <p:cNvSpPr>
                <a:spLocks noChangeAspect="1" noChangeArrowheads="1"/>
              </p:cNvSpPr>
              <p:nvPr/>
            </p:nvSpPr>
            <p:spPr bwMode="auto">
              <a:xfrm>
                <a:off x="4311"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44" name="Rectangle 2032"/>
              <p:cNvSpPr>
                <a:spLocks noChangeAspect="1" noChangeArrowheads="1"/>
              </p:cNvSpPr>
              <p:nvPr/>
            </p:nvSpPr>
            <p:spPr bwMode="auto">
              <a:xfrm>
                <a:off x="4317"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45" name="Rectangle 2033"/>
              <p:cNvSpPr>
                <a:spLocks noChangeAspect="1" noChangeArrowheads="1"/>
              </p:cNvSpPr>
              <p:nvPr/>
            </p:nvSpPr>
            <p:spPr bwMode="auto">
              <a:xfrm>
                <a:off x="4323"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46" name="Rectangle 2034"/>
              <p:cNvSpPr>
                <a:spLocks noChangeAspect="1" noChangeArrowheads="1"/>
              </p:cNvSpPr>
              <p:nvPr/>
            </p:nvSpPr>
            <p:spPr bwMode="auto">
              <a:xfrm>
                <a:off x="4328"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47" name="Rectangle 2035"/>
              <p:cNvSpPr>
                <a:spLocks noChangeAspect="1" noChangeArrowheads="1"/>
              </p:cNvSpPr>
              <p:nvPr/>
            </p:nvSpPr>
            <p:spPr bwMode="auto">
              <a:xfrm>
                <a:off x="4335"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48" name="Rectangle 2036"/>
              <p:cNvSpPr>
                <a:spLocks noChangeAspect="1" noChangeArrowheads="1"/>
              </p:cNvSpPr>
              <p:nvPr/>
            </p:nvSpPr>
            <p:spPr bwMode="auto">
              <a:xfrm>
                <a:off x="4340" y="3618"/>
                <a:ext cx="6"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49" name="Rectangle 2037"/>
              <p:cNvSpPr>
                <a:spLocks noChangeAspect="1" noChangeArrowheads="1"/>
              </p:cNvSpPr>
              <p:nvPr/>
            </p:nvSpPr>
            <p:spPr bwMode="auto">
              <a:xfrm>
                <a:off x="4055" y="3618"/>
                <a:ext cx="291" cy="181"/>
              </a:xfrm>
              <a:prstGeom prst="rect">
                <a:avLst/>
              </a:prstGeom>
              <a:gradFill rotWithShape="0">
                <a:gsLst>
                  <a:gs pos="0">
                    <a:schemeClr val="hlink"/>
                  </a:gs>
                  <a:gs pos="50000">
                    <a:schemeClr val="hlink">
                      <a:gamma/>
                      <a:tint val="40000"/>
                      <a:invGamma/>
                    </a:schemeClr>
                  </a:gs>
                  <a:gs pos="100000">
                    <a:schemeClr val="hlink"/>
                  </a:gs>
                </a:gsLst>
                <a:lin ang="0" scaled="1"/>
              </a:gradFill>
              <a:ln w="1588">
                <a:solidFill>
                  <a:srgbClr val="1F1A17"/>
                </a:solidFill>
                <a:miter lim="800000"/>
                <a:headEnd/>
                <a:tailEnd/>
              </a:ln>
            </p:spPr>
            <p:txBody>
              <a:bodyPr/>
              <a:lstStyle/>
              <a:p>
                <a:pPr>
                  <a:defRPr/>
                </a:pPr>
                <a:endParaRPr lang="en-US"/>
              </a:p>
            </p:txBody>
          </p:sp>
          <p:sp>
            <p:nvSpPr>
              <p:cNvPr id="66550" name="Rectangle 2038"/>
              <p:cNvSpPr>
                <a:spLocks noChangeAspect="1" noChangeArrowheads="1"/>
              </p:cNvSpPr>
              <p:nvPr/>
            </p:nvSpPr>
            <p:spPr bwMode="auto">
              <a:xfrm>
                <a:off x="4008" y="3799"/>
                <a:ext cx="2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51" name="Rectangle 2039"/>
              <p:cNvSpPr>
                <a:spLocks noChangeAspect="1" noChangeArrowheads="1"/>
              </p:cNvSpPr>
              <p:nvPr/>
            </p:nvSpPr>
            <p:spPr bwMode="auto">
              <a:xfrm>
                <a:off x="4008"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52" name="Rectangle 2040"/>
              <p:cNvSpPr>
                <a:spLocks noChangeAspect="1" noChangeArrowheads="1"/>
              </p:cNvSpPr>
              <p:nvPr/>
            </p:nvSpPr>
            <p:spPr bwMode="auto">
              <a:xfrm>
                <a:off x="4029"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53" name="Rectangle 2041"/>
              <p:cNvSpPr>
                <a:spLocks noChangeAspect="1" noChangeArrowheads="1"/>
              </p:cNvSpPr>
              <p:nvPr/>
            </p:nvSpPr>
            <p:spPr bwMode="auto">
              <a:xfrm>
                <a:off x="4049"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54" name="Rectangle 2042"/>
              <p:cNvSpPr>
                <a:spLocks noChangeAspect="1" noChangeArrowheads="1"/>
              </p:cNvSpPr>
              <p:nvPr/>
            </p:nvSpPr>
            <p:spPr bwMode="auto">
              <a:xfrm>
                <a:off x="4070" y="3799"/>
                <a:ext cx="40"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55" name="Rectangle 2043"/>
              <p:cNvSpPr>
                <a:spLocks noChangeAspect="1" noChangeArrowheads="1"/>
              </p:cNvSpPr>
              <p:nvPr/>
            </p:nvSpPr>
            <p:spPr bwMode="auto">
              <a:xfrm>
                <a:off x="4090"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56" name="Rectangle 2044"/>
              <p:cNvSpPr>
                <a:spLocks noChangeAspect="1" noChangeArrowheads="1"/>
              </p:cNvSpPr>
              <p:nvPr/>
            </p:nvSpPr>
            <p:spPr bwMode="auto">
              <a:xfrm>
                <a:off x="4110"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57" name="Rectangle 2045"/>
              <p:cNvSpPr>
                <a:spLocks noChangeAspect="1" noChangeArrowheads="1"/>
              </p:cNvSpPr>
              <p:nvPr/>
            </p:nvSpPr>
            <p:spPr bwMode="auto">
              <a:xfrm>
                <a:off x="4131" y="3799"/>
                <a:ext cx="36"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58" name="Rectangle 2046"/>
              <p:cNvSpPr>
                <a:spLocks noChangeAspect="1" noChangeArrowheads="1"/>
              </p:cNvSpPr>
              <p:nvPr/>
            </p:nvSpPr>
            <p:spPr bwMode="auto">
              <a:xfrm>
                <a:off x="4151"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59" name="Rectangle 2047"/>
              <p:cNvSpPr>
                <a:spLocks noChangeAspect="1" noChangeArrowheads="1"/>
              </p:cNvSpPr>
              <p:nvPr/>
            </p:nvSpPr>
            <p:spPr bwMode="auto">
              <a:xfrm>
                <a:off x="4172" y="3799"/>
                <a:ext cx="40"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60" name="Rectangle 2048"/>
              <p:cNvSpPr>
                <a:spLocks noChangeAspect="1" noChangeArrowheads="1"/>
              </p:cNvSpPr>
              <p:nvPr/>
            </p:nvSpPr>
            <p:spPr bwMode="auto">
              <a:xfrm>
                <a:off x="4192"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61" name="Rectangle 2049"/>
              <p:cNvSpPr>
                <a:spLocks noChangeAspect="1" noChangeArrowheads="1"/>
              </p:cNvSpPr>
              <p:nvPr/>
            </p:nvSpPr>
            <p:spPr bwMode="auto">
              <a:xfrm>
                <a:off x="4212"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62" name="Rectangle 2050"/>
              <p:cNvSpPr>
                <a:spLocks noChangeAspect="1" noChangeArrowheads="1"/>
              </p:cNvSpPr>
              <p:nvPr/>
            </p:nvSpPr>
            <p:spPr bwMode="auto">
              <a:xfrm>
                <a:off x="4233" y="3799"/>
                <a:ext cx="36"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63" name="Rectangle 2051"/>
              <p:cNvSpPr>
                <a:spLocks noChangeAspect="1" noChangeArrowheads="1"/>
              </p:cNvSpPr>
              <p:nvPr/>
            </p:nvSpPr>
            <p:spPr bwMode="auto">
              <a:xfrm>
                <a:off x="4253"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64" name="Rectangle 2052"/>
              <p:cNvSpPr>
                <a:spLocks noChangeAspect="1" noChangeArrowheads="1"/>
              </p:cNvSpPr>
              <p:nvPr/>
            </p:nvSpPr>
            <p:spPr bwMode="auto">
              <a:xfrm>
                <a:off x="4274"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65" name="Rectangle 2053"/>
              <p:cNvSpPr>
                <a:spLocks noChangeAspect="1" noChangeArrowheads="1"/>
              </p:cNvSpPr>
              <p:nvPr/>
            </p:nvSpPr>
            <p:spPr bwMode="auto">
              <a:xfrm>
                <a:off x="4294"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66" name="Rectangle 2054"/>
              <p:cNvSpPr>
                <a:spLocks noChangeAspect="1" noChangeArrowheads="1"/>
              </p:cNvSpPr>
              <p:nvPr/>
            </p:nvSpPr>
            <p:spPr bwMode="auto">
              <a:xfrm>
                <a:off x="4315" y="3799"/>
                <a:ext cx="40"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grpSp>
        <p:sp>
          <p:nvSpPr>
            <p:cNvPr id="386171" name="Rectangle 2055"/>
            <p:cNvSpPr>
              <a:spLocks noChangeAspect="1" noChangeArrowheads="1"/>
            </p:cNvSpPr>
            <p:nvPr/>
          </p:nvSpPr>
          <p:spPr bwMode="auto">
            <a:xfrm>
              <a:off x="3845" y="3717"/>
              <a:ext cx="43" cy="28"/>
            </a:xfrm>
            <a:prstGeom prst="rect">
              <a:avLst/>
            </a:prstGeom>
            <a:solidFill>
              <a:srgbClr val="B0B0A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172" name="Rectangle 2056"/>
            <p:cNvSpPr>
              <a:spLocks noChangeAspect="1" noChangeArrowheads="1"/>
            </p:cNvSpPr>
            <p:nvPr/>
          </p:nvSpPr>
          <p:spPr bwMode="auto">
            <a:xfrm>
              <a:off x="3866" y="3717"/>
              <a:ext cx="45" cy="28"/>
            </a:xfrm>
            <a:prstGeom prst="rect">
              <a:avLst/>
            </a:prstGeom>
            <a:solidFill>
              <a:srgbClr val="B0B0A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nvGrpSpPr>
            <p:cNvPr id="386173" name="Group 2057"/>
            <p:cNvGrpSpPr>
              <a:grpSpLocks noChangeAspect="1"/>
            </p:cNvGrpSpPr>
            <p:nvPr/>
          </p:nvGrpSpPr>
          <p:grpSpPr bwMode="auto">
            <a:xfrm>
              <a:off x="3888" y="3511"/>
              <a:ext cx="328" cy="234"/>
              <a:chOff x="4376" y="3618"/>
              <a:chExt cx="307" cy="206"/>
            </a:xfrm>
          </p:grpSpPr>
          <p:sp>
            <p:nvSpPr>
              <p:cNvPr id="66570" name="Rectangle 2058"/>
              <p:cNvSpPr>
                <a:spLocks noChangeAspect="1" noChangeArrowheads="1"/>
              </p:cNvSpPr>
              <p:nvPr/>
            </p:nvSpPr>
            <p:spPr bwMode="auto">
              <a:xfrm>
                <a:off x="4376" y="3618"/>
                <a:ext cx="5"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71" name="Rectangle 2059"/>
              <p:cNvSpPr>
                <a:spLocks noChangeAspect="1" noChangeArrowheads="1"/>
              </p:cNvSpPr>
              <p:nvPr/>
            </p:nvSpPr>
            <p:spPr bwMode="auto">
              <a:xfrm>
                <a:off x="4376"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72" name="Rectangle 2060"/>
              <p:cNvSpPr>
                <a:spLocks noChangeAspect="1" noChangeArrowheads="1"/>
              </p:cNvSpPr>
              <p:nvPr/>
            </p:nvSpPr>
            <p:spPr bwMode="auto">
              <a:xfrm>
                <a:off x="4381"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73" name="Rectangle 2061"/>
              <p:cNvSpPr>
                <a:spLocks noChangeAspect="1" noChangeArrowheads="1"/>
              </p:cNvSpPr>
              <p:nvPr/>
            </p:nvSpPr>
            <p:spPr bwMode="auto">
              <a:xfrm>
                <a:off x="4387"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74" name="Rectangle 2062"/>
              <p:cNvSpPr>
                <a:spLocks noChangeAspect="1" noChangeArrowheads="1"/>
              </p:cNvSpPr>
              <p:nvPr/>
            </p:nvSpPr>
            <p:spPr bwMode="auto">
              <a:xfrm>
                <a:off x="4393"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75" name="Rectangle 2063"/>
              <p:cNvSpPr>
                <a:spLocks noChangeAspect="1" noChangeArrowheads="1"/>
              </p:cNvSpPr>
              <p:nvPr/>
            </p:nvSpPr>
            <p:spPr bwMode="auto">
              <a:xfrm>
                <a:off x="4399"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76" name="Rectangle 2064"/>
              <p:cNvSpPr>
                <a:spLocks noChangeAspect="1" noChangeArrowheads="1"/>
              </p:cNvSpPr>
              <p:nvPr/>
            </p:nvSpPr>
            <p:spPr bwMode="auto">
              <a:xfrm>
                <a:off x="4405"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77" name="Rectangle 2065"/>
              <p:cNvSpPr>
                <a:spLocks noChangeAspect="1" noChangeArrowheads="1"/>
              </p:cNvSpPr>
              <p:nvPr/>
            </p:nvSpPr>
            <p:spPr bwMode="auto">
              <a:xfrm>
                <a:off x="4410"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78" name="Rectangle 2066"/>
              <p:cNvSpPr>
                <a:spLocks noChangeAspect="1" noChangeArrowheads="1"/>
              </p:cNvSpPr>
              <p:nvPr/>
            </p:nvSpPr>
            <p:spPr bwMode="auto">
              <a:xfrm>
                <a:off x="4416"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79" name="Rectangle 2067"/>
              <p:cNvSpPr>
                <a:spLocks noChangeAspect="1" noChangeArrowheads="1"/>
              </p:cNvSpPr>
              <p:nvPr/>
            </p:nvSpPr>
            <p:spPr bwMode="auto">
              <a:xfrm>
                <a:off x="4422"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80" name="Rectangle 2068"/>
              <p:cNvSpPr>
                <a:spLocks noChangeAspect="1" noChangeArrowheads="1"/>
              </p:cNvSpPr>
              <p:nvPr/>
            </p:nvSpPr>
            <p:spPr bwMode="auto">
              <a:xfrm>
                <a:off x="4428"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81" name="Rectangle 2069"/>
              <p:cNvSpPr>
                <a:spLocks noChangeAspect="1" noChangeArrowheads="1"/>
              </p:cNvSpPr>
              <p:nvPr/>
            </p:nvSpPr>
            <p:spPr bwMode="auto">
              <a:xfrm>
                <a:off x="4434"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82" name="Rectangle 2070"/>
              <p:cNvSpPr>
                <a:spLocks noChangeAspect="1" noChangeArrowheads="1"/>
              </p:cNvSpPr>
              <p:nvPr/>
            </p:nvSpPr>
            <p:spPr bwMode="auto">
              <a:xfrm>
                <a:off x="4440"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83" name="Rectangle 2071"/>
              <p:cNvSpPr>
                <a:spLocks noChangeAspect="1" noChangeArrowheads="1"/>
              </p:cNvSpPr>
              <p:nvPr/>
            </p:nvSpPr>
            <p:spPr bwMode="auto">
              <a:xfrm>
                <a:off x="4446"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84" name="Rectangle 2072"/>
              <p:cNvSpPr>
                <a:spLocks noChangeAspect="1" noChangeArrowheads="1"/>
              </p:cNvSpPr>
              <p:nvPr/>
            </p:nvSpPr>
            <p:spPr bwMode="auto">
              <a:xfrm>
                <a:off x="4451"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85" name="Rectangle 2073"/>
              <p:cNvSpPr>
                <a:spLocks noChangeAspect="1" noChangeArrowheads="1"/>
              </p:cNvSpPr>
              <p:nvPr/>
            </p:nvSpPr>
            <p:spPr bwMode="auto">
              <a:xfrm>
                <a:off x="4457"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86" name="Rectangle 2074"/>
              <p:cNvSpPr>
                <a:spLocks noChangeAspect="1" noChangeArrowheads="1"/>
              </p:cNvSpPr>
              <p:nvPr/>
            </p:nvSpPr>
            <p:spPr bwMode="auto">
              <a:xfrm>
                <a:off x="4463"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87" name="Rectangle 2075"/>
              <p:cNvSpPr>
                <a:spLocks noChangeAspect="1" noChangeArrowheads="1"/>
              </p:cNvSpPr>
              <p:nvPr/>
            </p:nvSpPr>
            <p:spPr bwMode="auto">
              <a:xfrm>
                <a:off x="4469"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88" name="Rectangle 2076"/>
              <p:cNvSpPr>
                <a:spLocks noChangeAspect="1" noChangeArrowheads="1"/>
              </p:cNvSpPr>
              <p:nvPr/>
            </p:nvSpPr>
            <p:spPr bwMode="auto">
              <a:xfrm>
                <a:off x="4475"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89" name="Rectangle 2077"/>
              <p:cNvSpPr>
                <a:spLocks noChangeAspect="1" noChangeArrowheads="1"/>
              </p:cNvSpPr>
              <p:nvPr/>
            </p:nvSpPr>
            <p:spPr bwMode="auto">
              <a:xfrm>
                <a:off x="4480"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90" name="Rectangle 2078"/>
              <p:cNvSpPr>
                <a:spLocks noChangeAspect="1" noChangeArrowheads="1"/>
              </p:cNvSpPr>
              <p:nvPr/>
            </p:nvSpPr>
            <p:spPr bwMode="auto">
              <a:xfrm>
                <a:off x="4486"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91" name="Rectangle 2079"/>
              <p:cNvSpPr>
                <a:spLocks noChangeAspect="1" noChangeArrowheads="1"/>
              </p:cNvSpPr>
              <p:nvPr/>
            </p:nvSpPr>
            <p:spPr bwMode="auto">
              <a:xfrm>
                <a:off x="4492"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92" name="Rectangle 2080"/>
              <p:cNvSpPr>
                <a:spLocks noChangeAspect="1" noChangeArrowheads="1"/>
              </p:cNvSpPr>
              <p:nvPr/>
            </p:nvSpPr>
            <p:spPr bwMode="auto">
              <a:xfrm>
                <a:off x="4498"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93" name="Rectangle 2081"/>
              <p:cNvSpPr>
                <a:spLocks noChangeAspect="1" noChangeArrowheads="1"/>
              </p:cNvSpPr>
              <p:nvPr/>
            </p:nvSpPr>
            <p:spPr bwMode="auto">
              <a:xfrm>
                <a:off x="4504"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94" name="Rectangle 2082"/>
              <p:cNvSpPr>
                <a:spLocks noChangeAspect="1" noChangeArrowheads="1"/>
              </p:cNvSpPr>
              <p:nvPr/>
            </p:nvSpPr>
            <p:spPr bwMode="auto">
              <a:xfrm>
                <a:off x="4509"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95" name="Rectangle 2083"/>
              <p:cNvSpPr>
                <a:spLocks noChangeAspect="1" noChangeArrowheads="1"/>
              </p:cNvSpPr>
              <p:nvPr/>
            </p:nvSpPr>
            <p:spPr bwMode="auto">
              <a:xfrm>
                <a:off x="4515"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96" name="Rectangle 2084"/>
              <p:cNvSpPr>
                <a:spLocks noChangeAspect="1" noChangeArrowheads="1"/>
              </p:cNvSpPr>
              <p:nvPr/>
            </p:nvSpPr>
            <p:spPr bwMode="auto">
              <a:xfrm>
                <a:off x="4521"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97" name="Rectangle 2085"/>
              <p:cNvSpPr>
                <a:spLocks noChangeAspect="1" noChangeArrowheads="1"/>
              </p:cNvSpPr>
              <p:nvPr/>
            </p:nvSpPr>
            <p:spPr bwMode="auto">
              <a:xfrm>
                <a:off x="4527"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98" name="Rectangle 2086"/>
              <p:cNvSpPr>
                <a:spLocks noChangeAspect="1" noChangeArrowheads="1"/>
              </p:cNvSpPr>
              <p:nvPr/>
            </p:nvSpPr>
            <p:spPr bwMode="auto">
              <a:xfrm>
                <a:off x="4533"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599" name="Rectangle 2087"/>
              <p:cNvSpPr>
                <a:spLocks noChangeAspect="1" noChangeArrowheads="1"/>
              </p:cNvSpPr>
              <p:nvPr/>
            </p:nvSpPr>
            <p:spPr bwMode="auto">
              <a:xfrm>
                <a:off x="4539"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00" name="Rectangle 2088"/>
              <p:cNvSpPr>
                <a:spLocks noChangeAspect="1" noChangeArrowheads="1"/>
              </p:cNvSpPr>
              <p:nvPr/>
            </p:nvSpPr>
            <p:spPr bwMode="auto">
              <a:xfrm>
                <a:off x="4545"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01" name="Rectangle 2089"/>
              <p:cNvSpPr>
                <a:spLocks noChangeAspect="1" noChangeArrowheads="1"/>
              </p:cNvSpPr>
              <p:nvPr/>
            </p:nvSpPr>
            <p:spPr bwMode="auto">
              <a:xfrm>
                <a:off x="4550"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02" name="Rectangle 2090"/>
              <p:cNvSpPr>
                <a:spLocks noChangeAspect="1" noChangeArrowheads="1"/>
              </p:cNvSpPr>
              <p:nvPr/>
            </p:nvSpPr>
            <p:spPr bwMode="auto">
              <a:xfrm>
                <a:off x="4556"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03" name="Rectangle 2091"/>
              <p:cNvSpPr>
                <a:spLocks noChangeAspect="1" noChangeArrowheads="1"/>
              </p:cNvSpPr>
              <p:nvPr/>
            </p:nvSpPr>
            <p:spPr bwMode="auto">
              <a:xfrm>
                <a:off x="4562"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04" name="Rectangle 2092"/>
              <p:cNvSpPr>
                <a:spLocks noChangeAspect="1" noChangeArrowheads="1"/>
              </p:cNvSpPr>
              <p:nvPr/>
            </p:nvSpPr>
            <p:spPr bwMode="auto">
              <a:xfrm>
                <a:off x="4568"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05" name="Rectangle 2093"/>
              <p:cNvSpPr>
                <a:spLocks noChangeAspect="1" noChangeArrowheads="1"/>
              </p:cNvSpPr>
              <p:nvPr/>
            </p:nvSpPr>
            <p:spPr bwMode="auto">
              <a:xfrm>
                <a:off x="4574"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06" name="Rectangle 2094"/>
              <p:cNvSpPr>
                <a:spLocks noChangeAspect="1" noChangeArrowheads="1"/>
              </p:cNvSpPr>
              <p:nvPr/>
            </p:nvSpPr>
            <p:spPr bwMode="auto">
              <a:xfrm>
                <a:off x="4580"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07" name="Rectangle 2095"/>
              <p:cNvSpPr>
                <a:spLocks noChangeAspect="1" noChangeArrowheads="1"/>
              </p:cNvSpPr>
              <p:nvPr/>
            </p:nvSpPr>
            <p:spPr bwMode="auto">
              <a:xfrm>
                <a:off x="4585"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08" name="Rectangle 2096"/>
              <p:cNvSpPr>
                <a:spLocks noChangeAspect="1" noChangeArrowheads="1"/>
              </p:cNvSpPr>
              <p:nvPr/>
            </p:nvSpPr>
            <p:spPr bwMode="auto">
              <a:xfrm>
                <a:off x="4591"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09" name="Rectangle 2097"/>
              <p:cNvSpPr>
                <a:spLocks noChangeAspect="1" noChangeArrowheads="1"/>
              </p:cNvSpPr>
              <p:nvPr/>
            </p:nvSpPr>
            <p:spPr bwMode="auto">
              <a:xfrm>
                <a:off x="4597"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10" name="Rectangle 2098"/>
              <p:cNvSpPr>
                <a:spLocks noChangeAspect="1" noChangeArrowheads="1"/>
              </p:cNvSpPr>
              <p:nvPr/>
            </p:nvSpPr>
            <p:spPr bwMode="auto">
              <a:xfrm>
                <a:off x="4603"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11" name="Rectangle 2099"/>
              <p:cNvSpPr>
                <a:spLocks noChangeAspect="1" noChangeArrowheads="1"/>
              </p:cNvSpPr>
              <p:nvPr/>
            </p:nvSpPr>
            <p:spPr bwMode="auto">
              <a:xfrm>
                <a:off x="4609"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12" name="Rectangle 2100"/>
              <p:cNvSpPr>
                <a:spLocks noChangeAspect="1" noChangeArrowheads="1"/>
              </p:cNvSpPr>
              <p:nvPr/>
            </p:nvSpPr>
            <p:spPr bwMode="auto">
              <a:xfrm>
                <a:off x="4614"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13" name="Rectangle 2101"/>
              <p:cNvSpPr>
                <a:spLocks noChangeAspect="1" noChangeArrowheads="1"/>
              </p:cNvSpPr>
              <p:nvPr/>
            </p:nvSpPr>
            <p:spPr bwMode="auto">
              <a:xfrm>
                <a:off x="4620"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14" name="Rectangle 2102"/>
              <p:cNvSpPr>
                <a:spLocks noChangeAspect="1" noChangeArrowheads="1"/>
              </p:cNvSpPr>
              <p:nvPr/>
            </p:nvSpPr>
            <p:spPr bwMode="auto">
              <a:xfrm>
                <a:off x="4626"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15" name="Rectangle 2103"/>
              <p:cNvSpPr>
                <a:spLocks noChangeAspect="1" noChangeArrowheads="1"/>
              </p:cNvSpPr>
              <p:nvPr/>
            </p:nvSpPr>
            <p:spPr bwMode="auto">
              <a:xfrm>
                <a:off x="4632"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16" name="Rectangle 2104"/>
              <p:cNvSpPr>
                <a:spLocks noChangeAspect="1" noChangeArrowheads="1"/>
              </p:cNvSpPr>
              <p:nvPr/>
            </p:nvSpPr>
            <p:spPr bwMode="auto">
              <a:xfrm>
                <a:off x="4638"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17" name="Rectangle 2105"/>
              <p:cNvSpPr>
                <a:spLocks noChangeAspect="1" noChangeArrowheads="1"/>
              </p:cNvSpPr>
              <p:nvPr/>
            </p:nvSpPr>
            <p:spPr bwMode="auto">
              <a:xfrm>
                <a:off x="4643"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18" name="Rectangle 2106"/>
              <p:cNvSpPr>
                <a:spLocks noChangeAspect="1" noChangeArrowheads="1"/>
              </p:cNvSpPr>
              <p:nvPr/>
            </p:nvSpPr>
            <p:spPr bwMode="auto">
              <a:xfrm>
                <a:off x="4650"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19" name="Rectangle 2107"/>
              <p:cNvSpPr>
                <a:spLocks noChangeAspect="1" noChangeArrowheads="1"/>
              </p:cNvSpPr>
              <p:nvPr/>
            </p:nvSpPr>
            <p:spPr bwMode="auto">
              <a:xfrm>
                <a:off x="4655"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20" name="Rectangle 2108"/>
              <p:cNvSpPr>
                <a:spLocks noChangeAspect="1" noChangeArrowheads="1"/>
              </p:cNvSpPr>
              <p:nvPr/>
            </p:nvSpPr>
            <p:spPr bwMode="auto">
              <a:xfrm>
                <a:off x="4661"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21" name="Rectangle 2109"/>
              <p:cNvSpPr>
                <a:spLocks noChangeAspect="1" noChangeArrowheads="1"/>
              </p:cNvSpPr>
              <p:nvPr/>
            </p:nvSpPr>
            <p:spPr bwMode="auto">
              <a:xfrm>
                <a:off x="4376" y="3618"/>
                <a:ext cx="291" cy="181"/>
              </a:xfrm>
              <a:prstGeom prst="rect">
                <a:avLst/>
              </a:prstGeom>
              <a:gradFill rotWithShape="0">
                <a:gsLst>
                  <a:gs pos="0">
                    <a:schemeClr val="hlink"/>
                  </a:gs>
                  <a:gs pos="50000">
                    <a:schemeClr val="hlink">
                      <a:gamma/>
                      <a:tint val="40000"/>
                      <a:invGamma/>
                    </a:schemeClr>
                  </a:gs>
                  <a:gs pos="100000">
                    <a:schemeClr val="hlink"/>
                  </a:gs>
                </a:gsLst>
                <a:lin ang="0" scaled="1"/>
              </a:gradFill>
              <a:ln w="1588">
                <a:solidFill>
                  <a:srgbClr val="1F1A17"/>
                </a:solidFill>
                <a:miter lim="800000"/>
                <a:headEnd/>
                <a:tailEnd/>
              </a:ln>
            </p:spPr>
            <p:txBody>
              <a:bodyPr/>
              <a:lstStyle/>
              <a:p>
                <a:pPr>
                  <a:defRPr/>
                </a:pPr>
                <a:endParaRPr lang="en-US"/>
              </a:p>
            </p:txBody>
          </p:sp>
          <p:sp>
            <p:nvSpPr>
              <p:cNvPr id="66622" name="Rectangle 2110"/>
              <p:cNvSpPr>
                <a:spLocks noChangeAspect="1" noChangeArrowheads="1"/>
              </p:cNvSpPr>
              <p:nvPr/>
            </p:nvSpPr>
            <p:spPr bwMode="auto">
              <a:xfrm>
                <a:off x="4376"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23" name="Rectangle 2111"/>
              <p:cNvSpPr>
                <a:spLocks noChangeAspect="1" noChangeArrowheads="1"/>
              </p:cNvSpPr>
              <p:nvPr/>
            </p:nvSpPr>
            <p:spPr bwMode="auto">
              <a:xfrm>
                <a:off x="4397" y="3799"/>
                <a:ext cx="40"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24" name="Rectangle 2112"/>
              <p:cNvSpPr>
                <a:spLocks noChangeAspect="1" noChangeArrowheads="1"/>
              </p:cNvSpPr>
              <p:nvPr/>
            </p:nvSpPr>
            <p:spPr bwMode="auto">
              <a:xfrm>
                <a:off x="4417"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25" name="Rectangle 2113"/>
              <p:cNvSpPr>
                <a:spLocks noChangeAspect="1" noChangeArrowheads="1"/>
              </p:cNvSpPr>
              <p:nvPr/>
            </p:nvSpPr>
            <p:spPr bwMode="auto">
              <a:xfrm>
                <a:off x="4437"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26" name="Rectangle 2114"/>
              <p:cNvSpPr>
                <a:spLocks noChangeAspect="1" noChangeArrowheads="1"/>
              </p:cNvSpPr>
              <p:nvPr/>
            </p:nvSpPr>
            <p:spPr bwMode="auto">
              <a:xfrm>
                <a:off x="4458" y="3799"/>
                <a:ext cx="37"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27" name="Rectangle 2115"/>
              <p:cNvSpPr>
                <a:spLocks noChangeAspect="1" noChangeArrowheads="1"/>
              </p:cNvSpPr>
              <p:nvPr/>
            </p:nvSpPr>
            <p:spPr bwMode="auto">
              <a:xfrm>
                <a:off x="4478"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28" name="Rectangle 2116"/>
              <p:cNvSpPr>
                <a:spLocks noChangeAspect="1" noChangeArrowheads="1"/>
              </p:cNvSpPr>
              <p:nvPr/>
            </p:nvSpPr>
            <p:spPr bwMode="auto">
              <a:xfrm>
                <a:off x="4499"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29" name="Rectangle 2117"/>
              <p:cNvSpPr>
                <a:spLocks noChangeAspect="1" noChangeArrowheads="1"/>
              </p:cNvSpPr>
              <p:nvPr/>
            </p:nvSpPr>
            <p:spPr bwMode="auto">
              <a:xfrm>
                <a:off x="4519"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30" name="Rectangle 2118"/>
              <p:cNvSpPr>
                <a:spLocks noChangeAspect="1" noChangeArrowheads="1"/>
              </p:cNvSpPr>
              <p:nvPr/>
            </p:nvSpPr>
            <p:spPr bwMode="auto">
              <a:xfrm>
                <a:off x="4540" y="3799"/>
                <a:ext cx="40"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31" name="Rectangle 2119"/>
              <p:cNvSpPr>
                <a:spLocks noChangeAspect="1" noChangeArrowheads="1"/>
              </p:cNvSpPr>
              <p:nvPr/>
            </p:nvSpPr>
            <p:spPr bwMode="auto">
              <a:xfrm>
                <a:off x="4560" y="3799"/>
                <a:ext cx="37"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32" name="Rectangle 2120"/>
              <p:cNvSpPr>
                <a:spLocks noChangeAspect="1" noChangeArrowheads="1"/>
              </p:cNvSpPr>
              <p:nvPr/>
            </p:nvSpPr>
            <p:spPr bwMode="auto">
              <a:xfrm>
                <a:off x="4580"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33" name="Rectangle 2121"/>
              <p:cNvSpPr>
                <a:spLocks noChangeAspect="1" noChangeArrowheads="1"/>
              </p:cNvSpPr>
              <p:nvPr/>
            </p:nvSpPr>
            <p:spPr bwMode="auto">
              <a:xfrm>
                <a:off x="4601"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34" name="Rectangle 2122"/>
              <p:cNvSpPr>
                <a:spLocks noChangeAspect="1" noChangeArrowheads="1"/>
              </p:cNvSpPr>
              <p:nvPr/>
            </p:nvSpPr>
            <p:spPr bwMode="auto">
              <a:xfrm>
                <a:off x="4621"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35" name="Rectangle 2123"/>
              <p:cNvSpPr>
                <a:spLocks noChangeAspect="1" noChangeArrowheads="1"/>
              </p:cNvSpPr>
              <p:nvPr/>
            </p:nvSpPr>
            <p:spPr bwMode="auto">
              <a:xfrm>
                <a:off x="4642"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grpSp>
        <p:sp>
          <p:nvSpPr>
            <p:cNvPr id="386174" name="Rectangle 2124"/>
            <p:cNvSpPr>
              <a:spLocks noChangeAspect="1" noChangeArrowheads="1"/>
            </p:cNvSpPr>
            <p:nvPr/>
          </p:nvSpPr>
          <p:spPr bwMode="auto">
            <a:xfrm>
              <a:off x="4194" y="3717"/>
              <a:ext cx="43" cy="28"/>
            </a:xfrm>
            <a:prstGeom prst="rect">
              <a:avLst/>
            </a:prstGeom>
            <a:solidFill>
              <a:srgbClr val="D1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nvGrpSpPr>
            <p:cNvPr id="386175" name="Group 2125"/>
            <p:cNvGrpSpPr>
              <a:grpSpLocks noChangeAspect="1"/>
            </p:cNvGrpSpPr>
            <p:nvPr/>
          </p:nvGrpSpPr>
          <p:grpSpPr bwMode="auto">
            <a:xfrm>
              <a:off x="4216" y="3511"/>
              <a:ext cx="371" cy="234"/>
              <a:chOff x="4683" y="3618"/>
              <a:chExt cx="347" cy="206"/>
            </a:xfrm>
          </p:grpSpPr>
          <p:sp>
            <p:nvSpPr>
              <p:cNvPr id="66638" name="Rectangle 2126"/>
              <p:cNvSpPr>
                <a:spLocks noChangeAspect="1" noChangeArrowheads="1"/>
              </p:cNvSpPr>
              <p:nvPr/>
            </p:nvSpPr>
            <p:spPr bwMode="auto">
              <a:xfrm>
                <a:off x="4696" y="3618"/>
                <a:ext cx="6"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39" name="Rectangle 2127"/>
              <p:cNvSpPr>
                <a:spLocks noChangeAspect="1" noChangeArrowheads="1"/>
              </p:cNvSpPr>
              <p:nvPr/>
            </p:nvSpPr>
            <p:spPr bwMode="auto">
              <a:xfrm>
                <a:off x="4696"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40" name="Rectangle 2128"/>
              <p:cNvSpPr>
                <a:spLocks noChangeAspect="1" noChangeArrowheads="1"/>
              </p:cNvSpPr>
              <p:nvPr/>
            </p:nvSpPr>
            <p:spPr bwMode="auto">
              <a:xfrm>
                <a:off x="4702"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41" name="Rectangle 2129"/>
              <p:cNvSpPr>
                <a:spLocks noChangeAspect="1" noChangeArrowheads="1"/>
              </p:cNvSpPr>
              <p:nvPr/>
            </p:nvSpPr>
            <p:spPr bwMode="auto">
              <a:xfrm>
                <a:off x="4708"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42" name="Rectangle 2130"/>
              <p:cNvSpPr>
                <a:spLocks noChangeAspect="1" noChangeArrowheads="1"/>
              </p:cNvSpPr>
              <p:nvPr/>
            </p:nvSpPr>
            <p:spPr bwMode="auto">
              <a:xfrm>
                <a:off x="4714"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43" name="Rectangle 2131"/>
              <p:cNvSpPr>
                <a:spLocks noChangeAspect="1" noChangeArrowheads="1"/>
              </p:cNvSpPr>
              <p:nvPr/>
            </p:nvSpPr>
            <p:spPr bwMode="auto">
              <a:xfrm>
                <a:off x="4720"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44" name="Rectangle 2132"/>
              <p:cNvSpPr>
                <a:spLocks noChangeAspect="1" noChangeArrowheads="1"/>
              </p:cNvSpPr>
              <p:nvPr/>
            </p:nvSpPr>
            <p:spPr bwMode="auto">
              <a:xfrm>
                <a:off x="4725"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45" name="Rectangle 2133"/>
              <p:cNvSpPr>
                <a:spLocks noChangeAspect="1" noChangeArrowheads="1"/>
              </p:cNvSpPr>
              <p:nvPr/>
            </p:nvSpPr>
            <p:spPr bwMode="auto">
              <a:xfrm>
                <a:off x="4731"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46" name="Rectangle 2134"/>
              <p:cNvSpPr>
                <a:spLocks noChangeAspect="1" noChangeArrowheads="1"/>
              </p:cNvSpPr>
              <p:nvPr/>
            </p:nvSpPr>
            <p:spPr bwMode="auto">
              <a:xfrm>
                <a:off x="4737"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47" name="Rectangle 2135"/>
              <p:cNvSpPr>
                <a:spLocks noChangeAspect="1" noChangeArrowheads="1"/>
              </p:cNvSpPr>
              <p:nvPr/>
            </p:nvSpPr>
            <p:spPr bwMode="auto">
              <a:xfrm>
                <a:off x="4743"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48" name="Rectangle 2136"/>
              <p:cNvSpPr>
                <a:spLocks noChangeAspect="1" noChangeArrowheads="1"/>
              </p:cNvSpPr>
              <p:nvPr/>
            </p:nvSpPr>
            <p:spPr bwMode="auto">
              <a:xfrm>
                <a:off x="4749"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49" name="Rectangle 2137"/>
              <p:cNvSpPr>
                <a:spLocks noChangeAspect="1" noChangeArrowheads="1"/>
              </p:cNvSpPr>
              <p:nvPr/>
            </p:nvSpPr>
            <p:spPr bwMode="auto">
              <a:xfrm>
                <a:off x="4755"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50" name="Rectangle 2138"/>
              <p:cNvSpPr>
                <a:spLocks noChangeAspect="1" noChangeArrowheads="1"/>
              </p:cNvSpPr>
              <p:nvPr/>
            </p:nvSpPr>
            <p:spPr bwMode="auto">
              <a:xfrm>
                <a:off x="4761"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51" name="Rectangle 2139"/>
              <p:cNvSpPr>
                <a:spLocks noChangeAspect="1" noChangeArrowheads="1"/>
              </p:cNvSpPr>
              <p:nvPr/>
            </p:nvSpPr>
            <p:spPr bwMode="auto">
              <a:xfrm>
                <a:off x="4766"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52" name="Rectangle 2140"/>
              <p:cNvSpPr>
                <a:spLocks noChangeAspect="1" noChangeArrowheads="1"/>
              </p:cNvSpPr>
              <p:nvPr/>
            </p:nvSpPr>
            <p:spPr bwMode="auto">
              <a:xfrm>
                <a:off x="4772"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53" name="Rectangle 2141"/>
              <p:cNvSpPr>
                <a:spLocks noChangeAspect="1" noChangeArrowheads="1"/>
              </p:cNvSpPr>
              <p:nvPr/>
            </p:nvSpPr>
            <p:spPr bwMode="auto">
              <a:xfrm>
                <a:off x="4778"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54" name="Rectangle 2142"/>
              <p:cNvSpPr>
                <a:spLocks noChangeAspect="1" noChangeArrowheads="1"/>
              </p:cNvSpPr>
              <p:nvPr/>
            </p:nvSpPr>
            <p:spPr bwMode="auto">
              <a:xfrm>
                <a:off x="4784"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55" name="Rectangle 2143"/>
              <p:cNvSpPr>
                <a:spLocks noChangeAspect="1" noChangeArrowheads="1"/>
              </p:cNvSpPr>
              <p:nvPr/>
            </p:nvSpPr>
            <p:spPr bwMode="auto">
              <a:xfrm>
                <a:off x="4790"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56" name="Rectangle 2144"/>
              <p:cNvSpPr>
                <a:spLocks noChangeAspect="1" noChangeArrowheads="1"/>
              </p:cNvSpPr>
              <p:nvPr/>
            </p:nvSpPr>
            <p:spPr bwMode="auto">
              <a:xfrm>
                <a:off x="4795"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57" name="Rectangle 2145"/>
              <p:cNvSpPr>
                <a:spLocks noChangeAspect="1" noChangeArrowheads="1"/>
              </p:cNvSpPr>
              <p:nvPr/>
            </p:nvSpPr>
            <p:spPr bwMode="auto">
              <a:xfrm>
                <a:off x="4801"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58" name="Rectangle 2146"/>
              <p:cNvSpPr>
                <a:spLocks noChangeAspect="1" noChangeArrowheads="1"/>
              </p:cNvSpPr>
              <p:nvPr/>
            </p:nvSpPr>
            <p:spPr bwMode="auto">
              <a:xfrm>
                <a:off x="4807"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59" name="Rectangle 2147"/>
              <p:cNvSpPr>
                <a:spLocks noChangeAspect="1" noChangeArrowheads="1"/>
              </p:cNvSpPr>
              <p:nvPr/>
            </p:nvSpPr>
            <p:spPr bwMode="auto">
              <a:xfrm>
                <a:off x="4813"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60" name="Rectangle 2148"/>
              <p:cNvSpPr>
                <a:spLocks noChangeAspect="1" noChangeArrowheads="1"/>
              </p:cNvSpPr>
              <p:nvPr/>
            </p:nvSpPr>
            <p:spPr bwMode="auto">
              <a:xfrm>
                <a:off x="4819"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61" name="Rectangle 2149"/>
              <p:cNvSpPr>
                <a:spLocks noChangeAspect="1" noChangeArrowheads="1"/>
              </p:cNvSpPr>
              <p:nvPr/>
            </p:nvSpPr>
            <p:spPr bwMode="auto">
              <a:xfrm>
                <a:off x="4825"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62" name="Rectangle 2150"/>
              <p:cNvSpPr>
                <a:spLocks noChangeAspect="1" noChangeArrowheads="1"/>
              </p:cNvSpPr>
              <p:nvPr/>
            </p:nvSpPr>
            <p:spPr bwMode="auto">
              <a:xfrm>
                <a:off x="4830"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63" name="Rectangle 2151"/>
              <p:cNvSpPr>
                <a:spLocks noChangeAspect="1" noChangeArrowheads="1"/>
              </p:cNvSpPr>
              <p:nvPr/>
            </p:nvSpPr>
            <p:spPr bwMode="auto">
              <a:xfrm>
                <a:off x="4836"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64" name="Rectangle 2152"/>
              <p:cNvSpPr>
                <a:spLocks noChangeAspect="1" noChangeArrowheads="1"/>
              </p:cNvSpPr>
              <p:nvPr/>
            </p:nvSpPr>
            <p:spPr bwMode="auto">
              <a:xfrm>
                <a:off x="4842"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65" name="Rectangle 2153"/>
              <p:cNvSpPr>
                <a:spLocks noChangeAspect="1" noChangeArrowheads="1"/>
              </p:cNvSpPr>
              <p:nvPr/>
            </p:nvSpPr>
            <p:spPr bwMode="auto">
              <a:xfrm>
                <a:off x="4848"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66" name="Rectangle 2154"/>
              <p:cNvSpPr>
                <a:spLocks noChangeAspect="1" noChangeArrowheads="1"/>
              </p:cNvSpPr>
              <p:nvPr/>
            </p:nvSpPr>
            <p:spPr bwMode="auto">
              <a:xfrm>
                <a:off x="4854"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67" name="Rectangle 2155"/>
              <p:cNvSpPr>
                <a:spLocks noChangeAspect="1" noChangeArrowheads="1"/>
              </p:cNvSpPr>
              <p:nvPr/>
            </p:nvSpPr>
            <p:spPr bwMode="auto">
              <a:xfrm>
                <a:off x="4860"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68" name="Rectangle 2156"/>
              <p:cNvSpPr>
                <a:spLocks noChangeAspect="1" noChangeArrowheads="1"/>
              </p:cNvSpPr>
              <p:nvPr/>
            </p:nvSpPr>
            <p:spPr bwMode="auto">
              <a:xfrm>
                <a:off x="4866"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69" name="Rectangle 2157"/>
              <p:cNvSpPr>
                <a:spLocks noChangeAspect="1" noChangeArrowheads="1"/>
              </p:cNvSpPr>
              <p:nvPr/>
            </p:nvSpPr>
            <p:spPr bwMode="auto">
              <a:xfrm>
                <a:off x="4871"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70" name="Rectangle 2158"/>
              <p:cNvSpPr>
                <a:spLocks noChangeAspect="1" noChangeArrowheads="1"/>
              </p:cNvSpPr>
              <p:nvPr/>
            </p:nvSpPr>
            <p:spPr bwMode="auto">
              <a:xfrm>
                <a:off x="4877"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71" name="Rectangle 2159"/>
              <p:cNvSpPr>
                <a:spLocks noChangeAspect="1" noChangeArrowheads="1"/>
              </p:cNvSpPr>
              <p:nvPr/>
            </p:nvSpPr>
            <p:spPr bwMode="auto">
              <a:xfrm>
                <a:off x="4883"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72" name="Rectangle 2160"/>
              <p:cNvSpPr>
                <a:spLocks noChangeAspect="1" noChangeArrowheads="1"/>
              </p:cNvSpPr>
              <p:nvPr/>
            </p:nvSpPr>
            <p:spPr bwMode="auto">
              <a:xfrm>
                <a:off x="4889"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73" name="Rectangle 2161"/>
              <p:cNvSpPr>
                <a:spLocks noChangeAspect="1" noChangeArrowheads="1"/>
              </p:cNvSpPr>
              <p:nvPr/>
            </p:nvSpPr>
            <p:spPr bwMode="auto">
              <a:xfrm>
                <a:off x="4895"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74" name="Rectangle 2162"/>
              <p:cNvSpPr>
                <a:spLocks noChangeAspect="1" noChangeArrowheads="1"/>
              </p:cNvSpPr>
              <p:nvPr/>
            </p:nvSpPr>
            <p:spPr bwMode="auto">
              <a:xfrm>
                <a:off x="4900"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75" name="Rectangle 2163"/>
              <p:cNvSpPr>
                <a:spLocks noChangeAspect="1" noChangeArrowheads="1"/>
              </p:cNvSpPr>
              <p:nvPr/>
            </p:nvSpPr>
            <p:spPr bwMode="auto">
              <a:xfrm>
                <a:off x="4906"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76" name="Rectangle 2164"/>
              <p:cNvSpPr>
                <a:spLocks noChangeAspect="1" noChangeArrowheads="1"/>
              </p:cNvSpPr>
              <p:nvPr/>
            </p:nvSpPr>
            <p:spPr bwMode="auto">
              <a:xfrm>
                <a:off x="4912"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77" name="Rectangle 2165"/>
              <p:cNvSpPr>
                <a:spLocks noChangeAspect="1" noChangeArrowheads="1"/>
              </p:cNvSpPr>
              <p:nvPr/>
            </p:nvSpPr>
            <p:spPr bwMode="auto">
              <a:xfrm>
                <a:off x="4918"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78" name="Rectangle 2166"/>
              <p:cNvSpPr>
                <a:spLocks noChangeAspect="1" noChangeArrowheads="1"/>
              </p:cNvSpPr>
              <p:nvPr/>
            </p:nvSpPr>
            <p:spPr bwMode="auto">
              <a:xfrm>
                <a:off x="4924"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79" name="Rectangle 2167"/>
              <p:cNvSpPr>
                <a:spLocks noChangeAspect="1" noChangeArrowheads="1"/>
              </p:cNvSpPr>
              <p:nvPr/>
            </p:nvSpPr>
            <p:spPr bwMode="auto">
              <a:xfrm>
                <a:off x="4929"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80" name="Rectangle 2168"/>
              <p:cNvSpPr>
                <a:spLocks noChangeAspect="1" noChangeArrowheads="1"/>
              </p:cNvSpPr>
              <p:nvPr/>
            </p:nvSpPr>
            <p:spPr bwMode="auto">
              <a:xfrm>
                <a:off x="4935"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81" name="Rectangle 2169"/>
              <p:cNvSpPr>
                <a:spLocks noChangeAspect="1" noChangeArrowheads="1"/>
              </p:cNvSpPr>
              <p:nvPr/>
            </p:nvSpPr>
            <p:spPr bwMode="auto">
              <a:xfrm>
                <a:off x="4941"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82" name="Rectangle 2170"/>
              <p:cNvSpPr>
                <a:spLocks noChangeAspect="1" noChangeArrowheads="1"/>
              </p:cNvSpPr>
              <p:nvPr/>
            </p:nvSpPr>
            <p:spPr bwMode="auto">
              <a:xfrm>
                <a:off x="4947"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83" name="Rectangle 2171"/>
              <p:cNvSpPr>
                <a:spLocks noChangeAspect="1" noChangeArrowheads="1"/>
              </p:cNvSpPr>
              <p:nvPr/>
            </p:nvSpPr>
            <p:spPr bwMode="auto">
              <a:xfrm>
                <a:off x="4953"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84" name="Rectangle 2172"/>
              <p:cNvSpPr>
                <a:spLocks noChangeAspect="1" noChangeArrowheads="1"/>
              </p:cNvSpPr>
              <p:nvPr/>
            </p:nvSpPr>
            <p:spPr bwMode="auto">
              <a:xfrm>
                <a:off x="4959" y="3618"/>
                <a:ext cx="1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85" name="Rectangle 2173"/>
              <p:cNvSpPr>
                <a:spLocks noChangeAspect="1" noChangeArrowheads="1"/>
              </p:cNvSpPr>
              <p:nvPr/>
            </p:nvSpPr>
            <p:spPr bwMode="auto">
              <a:xfrm>
                <a:off x="4965" y="3618"/>
                <a:ext cx="7"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86" name="Rectangle 2174"/>
              <p:cNvSpPr>
                <a:spLocks noChangeAspect="1" noChangeArrowheads="1"/>
              </p:cNvSpPr>
              <p:nvPr/>
            </p:nvSpPr>
            <p:spPr bwMode="auto">
              <a:xfrm>
                <a:off x="4970"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87" name="Rectangle 2175"/>
              <p:cNvSpPr>
                <a:spLocks noChangeAspect="1" noChangeArrowheads="1"/>
              </p:cNvSpPr>
              <p:nvPr/>
            </p:nvSpPr>
            <p:spPr bwMode="auto">
              <a:xfrm>
                <a:off x="4976" y="3618"/>
                <a:ext cx="12"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88" name="Rectangle 2176"/>
              <p:cNvSpPr>
                <a:spLocks noChangeAspect="1" noChangeArrowheads="1"/>
              </p:cNvSpPr>
              <p:nvPr/>
            </p:nvSpPr>
            <p:spPr bwMode="auto">
              <a:xfrm>
                <a:off x="4988" y="3618"/>
                <a:ext cx="1" cy="18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89" name="Rectangle 2177"/>
              <p:cNvSpPr>
                <a:spLocks noChangeAspect="1" noChangeArrowheads="1"/>
              </p:cNvSpPr>
              <p:nvPr/>
            </p:nvSpPr>
            <p:spPr bwMode="auto">
              <a:xfrm>
                <a:off x="4696" y="3618"/>
                <a:ext cx="292" cy="181"/>
              </a:xfrm>
              <a:prstGeom prst="rect">
                <a:avLst/>
              </a:prstGeom>
              <a:gradFill rotWithShape="0">
                <a:gsLst>
                  <a:gs pos="0">
                    <a:schemeClr val="hlink"/>
                  </a:gs>
                  <a:gs pos="50000">
                    <a:schemeClr val="hlink">
                      <a:gamma/>
                      <a:tint val="40000"/>
                      <a:invGamma/>
                    </a:schemeClr>
                  </a:gs>
                  <a:gs pos="100000">
                    <a:schemeClr val="hlink"/>
                  </a:gs>
                </a:gsLst>
                <a:lin ang="0" scaled="1"/>
              </a:gradFill>
              <a:ln w="1588">
                <a:solidFill>
                  <a:srgbClr val="1F1A17"/>
                </a:solidFill>
                <a:miter lim="800000"/>
                <a:headEnd/>
                <a:tailEnd/>
              </a:ln>
            </p:spPr>
            <p:txBody>
              <a:bodyPr/>
              <a:lstStyle/>
              <a:p>
                <a:pPr>
                  <a:defRPr/>
                </a:pPr>
                <a:endParaRPr lang="en-US"/>
              </a:p>
            </p:txBody>
          </p:sp>
          <p:sp>
            <p:nvSpPr>
              <p:cNvPr id="66690" name="Rectangle 2178"/>
              <p:cNvSpPr>
                <a:spLocks noChangeAspect="1" noChangeArrowheads="1"/>
              </p:cNvSpPr>
              <p:nvPr/>
            </p:nvSpPr>
            <p:spPr bwMode="auto">
              <a:xfrm>
                <a:off x="4683" y="3799"/>
                <a:ext cx="40"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91" name="Rectangle 2179"/>
              <p:cNvSpPr>
                <a:spLocks noChangeAspect="1" noChangeArrowheads="1"/>
              </p:cNvSpPr>
              <p:nvPr/>
            </p:nvSpPr>
            <p:spPr bwMode="auto">
              <a:xfrm>
                <a:off x="4703"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92" name="Rectangle 2180"/>
              <p:cNvSpPr>
                <a:spLocks noChangeAspect="1" noChangeArrowheads="1"/>
              </p:cNvSpPr>
              <p:nvPr/>
            </p:nvSpPr>
            <p:spPr bwMode="auto">
              <a:xfrm>
                <a:off x="4723"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93" name="Rectangle 2181"/>
              <p:cNvSpPr>
                <a:spLocks noChangeAspect="1" noChangeArrowheads="1"/>
              </p:cNvSpPr>
              <p:nvPr/>
            </p:nvSpPr>
            <p:spPr bwMode="auto">
              <a:xfrm>
                <a:off x="4744"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94" name="Rectangle 2182"/>
              <p:cNvSpPr>
                <a:spLocks noChangeAspect="1" noChangeArrowheads="1"/>
              </p:cNvSpPr>
              <p:nvPr/>
            </p:nvSpPr>
            <p:spPr bwMode="auto">
              <a:xfrm>
                <a:off x="4764" y="3799"/>
                <a:ext cx="36"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95" name="Rectangle 2183"/>
              <p:cNvSpPr>
                <a:spLocks noChangeAspect="1" noChangeArrowheads="1"/>
              </p:cNvSpPr>
              <p:nvPr/>
            </p:nvSpPr>
            <p:spPr bwMode="auto">
              <a:xfrm>
                <a:off x="4785" y="3799"/>
                <a:ext cx="40"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96" name="Rectangle 2184"/>
              <p:cNvSpPr>
                <a:spLocks noChangeAspect="1" noChangeArrowheads="1"/>
              </p:cNvSpPr>
              <p:nvPr/>
            </p:nvSpPr>
            <p:spPr bwMode="auto">
              <a:xfrm>
                <a:off x="4805"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97" name="Rectangle 2185"/>
              <p:cNvSpPr>
                <a:spLocks noChangeAspect="1" noChangeArrowheads="1"/>
              </p:cNvSpPr>
              <p:nvPr/>
            </p:nvSpPr>
            <p:spPr bwMode="auto">
              <a:xfrm>
                <a:off x="4825" y="3799"/>
                <a:ext cx="42"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98" name="Rectangle 2186"/>
              <p:cNvSpPr>
                <a:spLocks noChangeAspect="1" noChangeArrowheads="1"/>
              </p:cNvSpPr>
              <p:nvPr/>
            </p:nvSpPr>
            <p:spPr bwMode="auto">
              <a:xfrm>
                <a:off x="4846"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699" name="Rectangle 2187"/>
              <p:cNvSpPr>
                <a:spLocks noChangeAspect="1" noChangeArrowheads="1"/>
              </p:cNvSpPr>
              <p:nvPr/>
            </p:nvSpPr>
            <p:spPr bwMode="auto">
              <a:xfrm>
                <a:off x="4867" y="3799"/>
                <a:ext cx="36"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700" name="Rectangle 2188"/>
              <p:cNvSpPr>
                <a:spLocks noChangeAspect="1" noChangeArrowheads="1"/>
              </p:cNvSpPr>
              <p:nvPr/>
            </p:nvSpPr>
            <p:spPr bwMode="auto">
              <a:xfrm>
                <a:off x="4887"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701" name="Rectangle 2189"/>
              <p:cNvSpPr>
                <a:spLocks noChangeAspect="1" noChangeArrowheads="1"/>
              </p:cNvSpPr>
              <p:nvPr/>
            </p:nvSpPr>
            <p:spPr bwMode="auto">
              <a:xfrm>
                <a:off x="4907"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702" name="Rectangle 2190"/>
              <p:cNvSpPr>
                <a:spLocks noChangeAspect="1" noChangeArrowheads="1"/>
              </p:cNvSpPr>
              <p:nvPr/>
            </p:nvSpPr>
            <p:spPr bwMode="auto">
              <a:xfrm>
                <a:off x="4928"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703" name="Rectangle 2191"/>
              <p:cNvSpPr>
                <a:spLocks noChangeAspect="1" noChangeArrowheads="1"/>
              </p:cNvSpPr>
              <p:nvPr/>
            </p:nvSpPr>
            <p:spPr bwMode="auto">
              <a:xfrm>
                <a:off x="4948"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704" name="Rectangle 2192"/>
              <p:cNvSpPr>
                <a:spLocks noChangeAspect="1" noChangeArrowheads="1"/>
              </p:cNvSpPr>
              <p:nvPr/>
            </p:nvSpPr>
            <p:spPr bwMode="auto">
              <a:xfrm>
                <a:off x="4969"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705" name="Rectangle 2193"/>
              <p:cNvSpPr>
                <a:spLocks noChangeAspect="1" noChangeArrowheads="1"/>
              </p:cNvSpPr>
              <p:nvPr/>
            </p:nvSpPr>
            <p:spPr bwMode="auto">
              <a:xfrm>
                <a:off x="4989" y="3799"/>
                <a:ext cx="41"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6706" name="Rectangle 2194"/>
              <p:cNvSpPr>
                <a:spLocks noChangeAspect="1" noChangeArrowheads="1"/>
              </p:cNvSpPr>
              <p:nvPr/>
            </p:nvSpPr>
            <p:spPr bwMode="auto">
              <a:xfrm>
                <a:off x="5010" y="3799"/>
                <a:ext cx="20" cy="25"/>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grpSp>
        <p:sp>
          <p:nvSpPr>
            <p:cNvPr id="386176" name="Rectangle 2195"/>
            <p:cNvSpPr>
              <a:spLocks noChangeAspect="1" noChangeArrowheads="1"/>
            </p:cNvSpPr>
            <p:nvPr/>
          </p:nvSpPr>
          <p:spPr bwMode="auto">
            <a:xfrm>
              <a:off x="3495" y="3717"/>
              <a:ext cx="1092" cy="28"/>
            </a:xfrm>
            <a:prstGeom prst="rect">
              <a:avLst/>
            </a:prstGeom>
            <a:noFill/>
            <a:ln w="1588">
              <a:solidFill>
                <a:srgbClr val="1F1A17"/>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nvGrpSpPr>
            <p:cNvPr id="386177" name="Group 2196"/>
            <p:cNvGrpSpPr>
              <a:grpSpLocks noChangeAspect="1"/>
            </p:cNvGrpSpPr>
            <p:nvPr/>
          </p:nvGrpSpPr>
          <p:grpSpPr bwMode="auto">
            <a:xfrm>
              <a:off x="4311" y="2216"/>
              <a:ext cx="602" cy="348"/>
              <a:chOff x="4851" y="2080"/>
              <a:chExt cx="700" cy="412"/>
            </a:xfrm>
          </p:grpSpPr>
          <p:sp>
            <p:nvSpPr>
              <p:cNvPr id="388860" name="Freeform 2197"/>
              <p:cNvSpPr>
                <a:spLocks noChangeAspect="1"/>
              </p:cNvSpPr>
              <p:nvPr/>
            </p:nvSpPr>
            <p:spPr bwMode="auto">
              <a:xfrm>
                <a:off x="4903" y="2266"/>
                <a:ext cx="14" cy="14"/>
              </a:xfrm>
              <a:custGeom>
                <a:avLst/>
                <a:gdLst>
                  <a:gd name="T0" fmla="*/ 0 w 43"/>
                  <a:gd name="T1" fmla="*/ 0 h 41"/>
                  <a:gd name="T2" fmla="*/ 0 w 43"/>
                  <a:gd name="T3" fmla="*/ 0 h 41"/>
                  <a:gd name="T4" fmla="*/ 0 w 43"/>
                  <a:gd name="T5" fmla="*/ 0 h 41"/>
                  <a:gd name="T6" fmla="*/ 0 w 43"/>
                  <a:gd name="T7" fmla="*/ 0 h 41"/>
                  <a:gd name="T8" fmla="*/ 0 w 43"/>
                  <a:gd name="T9" fmla="*/ 0 h 41"/>
                  <a:gd name="T10" fmla="*/ 0 w 43"/>
                  <a:gd name="T11" fmla="*/ 0 h 41"/>
                  <a:gd name="T12" fmla="*/ 0 w 43"/>
                  <a:gd name="T13" fmla="*/ 0 h 41"/>
                  <a:gd name="T14" fmla="*/ 0 w 43"/>
                  <a:gd name="T15" fmla="*/ 0 h 41"/>
                  <a:gd name="T16" fmla="*/ 0 w 43"/>
                  <a:gd name="T17" fmla="*/ 0 h 41"/>
                  <a:gd name="T18" fmla="*/ 0 w 43"/>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 h="41">
                    <a:moveTo>
                      <a:pt x="0" y="41"/>
                    </a:moveTo>
                    <a:lnTo>
                      <a:pt x="43" y="0"/>
                    </a:lnTo>
                    <a:lnTo>
                      <a:pt x="39" y="6"/>
                    </a:lnTo>
                    <a:lnTo>
                      <a:pt x="35" y="13"/>
                    </a:lnTo>
                    <a:lnTo>
                      <a:pt x="29" y="18"/>
                    </a:lnTo>
                    <a:lnTo>
                      <a:pt x="24" y="23"/>
                    </a:lnTo>
                    <a:lnTo>
                      <a:pt x="19" y="29"/>
                    </a:lnTo>
                    <a:lnTo>
                      <a:pt x="13" y="34"/>
                    </a:lnTo>
                    <a:lnTo>
                      <a:pt x="7" y="38"/>
                    </a:lnTo>
                    <a:lnTo>
                      <a:pt x="0" y="4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61" name="Freeform 2198"/>
              <p:cNvSpPr>
                <a:spLocks noChangeAspect="1"/>
              </p:cNvSpPr>
              <p:nvPr/>
            </p:nvSpPr>
            <p:spPr bwMode="auto">
              <a:xfrm>
                <a:off x="4897" y="2260"/>
                <a:ext cx="22" cy="22"/>
              </a:xfrm>
              <a:custGeom>
                <a:avLst/>
                <a:gdLst>
                  <a:gd name="T0" fmla="*/ 0 w 66"/>
                  <a:gd name="T1" fmla="*/ 0 h 66"/>
                  <a:gd name="T2" fmla="*/ 0 w 66"/>
                  <a:gd name="T3" fmla="*/ 0 h 66"/>
                  <a:gd name="T4" fmla="*/ 0 w 66"/>
                  <a:gd name="T5" fmla="*/ 0 h 66"/>
                  <a:gd name="T6" fmla="*/ 0 w 66"/>
                  <a:gd name="T7" fmla="*/ 0 h 66"/>
                  <a:gd name="T8" fmla="*/ 0 w 66"/>
                  <a:gd name="T9" fmla="*/ 0 h 66"/>
                  <a:gd name="T10" fmla="*/ 0 w 66"/>
                  <a:gd name="T11" fmla="*/ 0 h 66"/>
                  <a:gd name="T12" fmla="*/ 0 w 66"/>
                  <a:gd name="T13" fmla="*/ 0 h 66"/>
                  <a:gd name="T14" fmla="*/ 0 w 66"/>
                  <a:gd name="T15" fmla="*/ 0 h 66"/>
                  <a:gd name="T16" fmla="*/ 0 w 66"/>
                  <a:gd name="T17" fmla="*/ 0 h 66"/>
                  <a:gd name="T18" fmla="*/ 0 w 66"/>
                  <a:gd name="T19" fmla="*/ 0 h 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 h="66">
                    <a:moveTo>
                      <a:pt x="0" y="66"/>
                    </a:moveTo>
                    <a:lnTo>
                      <a:pt x="66" y="0"/>
                    </a:lnTo>
                    <a:lnTo>
                      <a:pt x="61" y="11"/>
                    </a:lnTo>
                    <a:lnTo>
                      <a:pt x="56" y="22"/>
                    </a:lnTo>
                    <a:lnTo>
                      <a:pt x="48" y="32"/>
                    </a:lnTo>
                    <a:lnTo>
                      <a:pt x="40" y="40"/>
                    </a:lnTo>
                    <a:lnTo>
                      <a:pt x="31" y="49"/>
                    </a:lnTo>
                    <a:lnTo>
                      <a:pt x="22" y="55"/>
                    </a:lnTo>
                    <a:lnTo>
                      <a:pt x="11" y="61"/>
                    </a:lnTo>
                    <a:lnTo>
                      <a:pt x="0" y="6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62" name="Freeform 2199"/>
              <p:cNvSpPr>
                <a:spLocks noChangeAspect="1"/>
              </p:cNvSpPr>
              <p:nvPr/>
            </p:nvSpPr>
            <p:spPr bwMode="auto">
              <a:xfrm>
                <a:off x="4894" y="2256"/>
                <a:ext cx="27" cy="27"/>
              </a:xfrm>
              <a:custGeom>
                <a:avLst/>
                <a:gdLst>
                  <a:gd name="T0" fmla="*/ 0 w 82"/>
                  <a:gd name="T1" fmla="*/ 0 h 82"/>
                  <a:gd name="T2" fmla="*/ 0 w 82"/>
                  <a:gd name="T3" fmla="*/ 0 h 82"/>
                  <a:gd name="T4" fmla="*/ 0 w 82"/>
                  <a:gd name="T5" fmla="*/ 0 h 82"/>
                  <a:gd name="T6" fmla="*/ 0 w 82"/>
                  <a:gd name="T7" fmla="*/ 0 h 82"/>
                  <a:gd name="T8" fmla="*/ 0 w 82"/>
                  <a:gd name="T9" fmla="*/ 0 h 82"/>
                  <a:gd name="T10" fmla="*/ 0 w 82"/>
                  <a:gd name="T11" fmla="*/ 0 h 82"/>
                  <a:gd name="T12" fmla="*/ 0 w 82"/>
                  <a:gd name="T13" fmla="*/ 0 h 82"/>
                  <a:gd name="T14" fmla="*/ 0 w 82"/>
                  <a:gd name="T15" fmla="*/ 0 h 82"/>
                  <a:gd name="T16" fmla="*/ 0 w 82"/>
                  <a:gd name="T17" fmla="*/ 0 h 82"/>
                  <a:gd name="T18" fmla="*/ 0 w 82"/>
                  <a:gd name="T19" fmla="*/ 0 h 82"/>
                  <a:gd name="T20" fmla="*/ 0 w 82"/>
                  <a:gd name="T21" fmla="*/ 0 h 82"/>
                  <a:gd name="T22" fmla="*/ 0 w 82"/>
                  <a:gd name="T23" fmla="*/ 0 h 82"/>
                  <a:gd name="T24" fmla="*/ 0 w 82"/>
                  <a:gd name="T25" fmla="*/ 0 h 82"/>
                  <a:gd name="T26" fmla="*/ 0 w 82"/>
                  <a:gd name="T27" fmla="*/ 0 h 82"/>
                  <a:gd name="T28" fmla="*/ 0 w 82"/>
                  <a:gd name="T29" fmla="*/ 0 h 82"/>
                  <a:gd name="T30" fmla="*/ 0 w 82"/>
                  <a:gd name="T31" fmla="*/ 0 h 82"/>
                  <a:gd name="T32" fmla="*/ 0 w 82"/>
                  <a:gd name="T33" fmla="*/ 0 h 82"/>
                  <a:gd name="T34" fmla="*/ 0 w 82"/>
                  <a:gd name="T35" fmla="*/ 0 h 82"/>
                  <a:gd name="T36" fmla="*/ 0 w 82"/>
                  <a:gd name="T37" fmla="*/ 0 h 8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2" h="82">
                    <a:moveTo>
                      <a:pt x="70" y="30"/>
                    </a:moveTo>
                    <a:lnTo>
                      <a:pt x="27" y="71"/>
                    </a:lnTo>
                    <a:lnTo>
                      <a:pt x="24" y="73"/>
                    </a:lnTo>
                    <a:lnTo>
                      <a:pt x="21" y="74"/>
                    </a:lnTo>
                    <a:lnTo>
                      <a:pt x="18" y="77"/>
                    </a:lnTo>
                    <a:lnTo>
                      <a:pt x="14" y="78"/>
                    </a:lnTo>
                    <a:lnTo>
                      <a:pt x="10" y="79"/>
                    </a:lnTo>
                    <a:lnTo>
                      <a:pt x="7" y="80"/>
                    </a:lnTo>
                    <a:lnTo>
                      <a:pt x="3" y="81"/>
                    </a:lnTo>
                    <a:lnTo>
                      <a:pt x="0" y="82"/>
                    </a:lnTo>
                    <a:lnTo>
                      <a:pt x="82" y="0"/>
                    </a:lnTo>
                    <a:lnTo>
                      <a:pt x="81" y="4"/>
                    </a:lnTo>
                    <a:lnTo>
                      <a:pt x="79" y="9"/>
                    </a:lnTo>
                    <a:lnTo>
                      <a:pt x="77" y="12"/>
                    </a:lnTo>
                    <a:lnTo>
                      <a:pt x="76" y="15"/>
                    </a:lnTo>
                    <a:lnTo>
                      <a:pt x="75" y="19"/>
                    </a:lnTo>
                    <a:lnTo>
                      <a:pt x="73" y="22"/>
                    </a:lnTo>
                    <a:lnTo>
                      <a:pt x="71" y="26"/>
                    </a:lnTo>
                    <a:lnTo>
                      <a:pt x="70" y="3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63" name="Freeform 2200"/>
              <p:cNvSpPr>
                <a:spLocks noChangeAspect="1"/>
              </p:cNvSpPr>
              <p:nvPr/>
            </p:nvSpPr>
            <p:spPr bwMode="auto">
              <a:xfrm>
                <a:off x="4890" y="2252"/>
                <a:ext cx="32" cy="32"/>
              </a:xfrm>
              <a:custGeom>
                <a:avLst/>
                <a:gdLst>
                  <a:gd name="T0" fmla="*/ 0 w 95"/>
                  <a:gd name="T1" fmla="*/ 0 h 95"/>
                  <a:gd name="T2" fmla="*/ 0 w 95"/>
                  <a:gd name="T3" fmla="*/ 0 h 95"/>
                  <a:gd name="T4" fmla="*/ 0 w 95"/>
                  <a:gd name="T5" fmla="*/ 0 h 95"/>
                  <a:gd name="T6" fmla="*/ 0 w 95"/>
                  <a:gd name="T7" fmla="*/ 0 h 95"/>
                  <a:gd name="T8" fmla="*/ 0 w 95"/>
                  <a:gd name="T9" fmla="*/ 0 h 95"/>
                  <a:gd name="T10" fmla="*/ 0 w 95"/>
                  <a:gd name="T11" fmla="*/ 0 h 95"/>
                  <a:gd name="T12" fmla="*/ 0 w 95"/>
                  <a:gd name="T13" fmla="*/ 0 h 95"/>
                  <a:gd name="T14" fmla="*/ 0 w 95"/>
                  <a:gd name="T15" fmla="*/ 0 h 95"/>
                  <a:gd name="T16" fmla="*/ 0 w 95"/>
                  <a:gd name="T17" fmla="*/ 0 h 95"/>
                  <a:gd name="T18" fmla="*/ 0 w 95"/>
                  <a:gd name="T19" fmla="*/ 0 h 95"/>
                  <a:gd name="T20" fmla="*/ 0 w 95"/>
                  <a:gd name="T21" fmla="*/ 0 h 95"/>
                  <a:gd name="T22" fmla="*/ 0 w 95"/>
                  <a:gd name="T23" fmla="*/ 0 h 95"/>
                  <a:gd name="T24" fmla="*/ 0 w 95"/>
                  <a:gd name="T25" fmla="*/ 0 h 95"/>
                  <a:gd name="T26" fmla="*/ 0 w 95"/>
                  <a:gd name="T27" fmla="*/ 0 h 95"/>
                  <a:gd name="T28" fmla="*/ 0 w 95"/>
                  <a:gd name="T29" fmla="*/ 0 h 95"/>
                  <a:gd name="T30" fmla="*/ 0 w 95"/>
                  <a:gd name="T31" fmla="*/ 0 h 95"/>
                  <a:gd name="T32" fmla="*/ 0 w 95"/>
                  <a:gd name="T33" fmla="*/ 0 h 95"/>
                  <a:gd name="T34" fmla="*/ 0 w 95"/>
                  <a:gd name="T35" fmla="*/ 0 h 95"/>
                  <a:gd name="T36" fmla="*/ 0 w 95"/>
                  <a:gd name="T37" fmla="*/ 0 h 9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5" h="95">
                    <a:moveTo>
                      <a:pt x="88" y="24"/>
                    </a:moveTo>
                    <a:lnTo>
                      <a:pt x="22" y="90"/>
                    </a:lnTo>
                    <a:lnTo>
                      <a:pt x="20" y="91"/>
                    </a:lnTo>
                    <a:lnTo>
                      <a:pt x="17" y="92"/>
                    </a:lnTo>
                    <a:lnTo>
                      <a:pt x="14" y="92"/>
                    </a:lnTo>
                    <a:lnTo>
                      <a:pt x="12" y="93"/>
                    </a:lnTo>
                    <a:lnTo>
                      <a:pt x="9" y="94"/>
                    </a:lnTo>
                    <a:lnTo>
                      <a:pt x="5" y="94"/>
                    </a:lnTo>
                    <a:lnTo>
                      <a:pt x="3" y="94"/>
                    </a:lnTo>
                    <a:lnTo>
                      <a:pt x="0" y="95"/>
                    </a:lnTo>
                    <a:lnTo>
                      <a:pt x="95" y="0"/>
                    </a:lnTo>
                    <a:lnTo>
                      <a:pt x="94" y="4"/>
                    </a:lnTo>
                    <a:lnTo>
                      <a:pt x="94" y="7"/>
                    </a:lnTo>
                    <a:lnTo>
                      <a:pt x="93" y="10"/>
                    </a:lnTo>
                    <a:lnTo>
                      <a:pt x="92" y="12"/>
                    </a:lnTo>
                    <a:lnTo>
                      <a:pt x="91" y="15"/>
                    </a:lnTo>
                    <a:lnTo>
                      <a:pt x="91" y="18"/>
                    </a:lnTo>
                    <a:lnTo>
                      <a:pt x="90" y="22"/>
                    </a:lnTo>
                    <a:lnTo>
                      <a:pt x="88" y="24"/>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64" name="Freeform 2201"/>
              <p:cNvSpPr>
                <a:spLocks noChangeAspect="1"/>
              </p:cNvSpPr>
              <p:nvPr/>
            </p:nvSpPr>
            <p:spPr bwMode="auto">
              <a:xfrm>
                <a:off x="4887" y="2249"/>
                <a:ext cx="35" cy="35"/>
              </a:xfrm>
              <a:custGeom>
                <a:avLst/>
                <a:gdLst>
                  <a:gd name="T0" fmla="*/ 0 w 104"/>
                  <a:gd name="T1" fmla="*/ 0 h 104"/>
                  <a:gd name="T2" fmla="*/ 0 w 104"/>
                  <a:gd name="T3" fmla="*/ 0 h 104"/>
                  <a:gd name="T4" fmla="*/ 0 w 104"/>
                  <a:gd name="T5" fmla="*/ 0 h 104"/>
                  <a:gd name="T6" fmla="*/ 0 w 104"/>
                  <a:gd name="T7" fmla="*/ 0 h 104"/>
                  <a:gd name="T8" fmla="*/ 0 w 104"/>
                  <a:gd name="T9" fmla="*/ 0 h 104"/>
                  <a:gd name="T10" fmla="*/ 0 w 104"/>
                  <a:gd name="T11" fmla="*/ 0 h 104"/>
                  <a:gd name="T12" fmla="*/ 0 w 104"/>
                  <a:gd name="T13" fmla="*/ 0 h 104"/>
                  <a:gd name="T14" fmla="*/ 0 w 104"/>
                  <a:gd name="T15" fmla="*/ 0 h 104"/>
                  <a:gd name="T16" fmla="*/ 0 w 104"/>
                  <a:gd name="T17" fmla="*/ 0 h 104"/>
                  <a:gd name="T18" fmla="*/ 0 w 104"/>
                  <a:gd name="T19" fmla="*/ 0 h 104"/>
                  <a:gd name="T20" fmla="*/ 0 w 104"/>
                  <a:gd name="T21" fmla="*/ 0 h 104"/>
                  <a:gd name="T22" fmla="*/ 0 w 104"/>
                  <a:gd name="T23" fmla="*/ 0 h 104"/>
                  <a:gd name="T24" fmla="*/ 0 w 104"/>
                  <a:gd name="T25" fmla="*/ 0 h 104"/>
                  <a:gd name="T26" fmla="*/ 0 w 104"/>
                  <a:gd name="T27" fmla="*/ 0 h 104"/>
                  <a:gd name="T28" fmla="*/ 0 w 104"/>
                  <a:gd name="T29" fmla="*/ 0 h 104"/>
                  <a:gd name="T30" fmla="*/ 0 w 104"/>
                  <a:gd name="T31" fmla="*/ 0 h 104"/>
                  <a:gd name="T32" fmla="*/ 0 w 104"/>
                  <a:gd name="T33" fmla="*/ 0 h 104"/>
                  <a:gd name="T34" fmla="*/ 0 w 104"/>
                  <a:gd name="T35" fmla="*/ 0 h 104"/>
                  <a:gd name="T36" fmla="*/ 0 w 104"/>
                  <a:gd name="T37" fmla="*/ 0 h 10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4" h="104">
                    <a:moveTo>
                      <a:pt x="102" y="20"/>
                    </a:moveTo>
                    <a:lnTo>
                      <a:pt x="20" y="102"/>
                    </a:lnTo>
                    <a:lnTo>
                      <a:pt x="17" y="103"/>
                    </a:lnTo>
                    <a:lnTo>
                      <a:pt x="14" y="103"/>
                    </a:lnTo>
                    <a:lnTo>
                      <a:pt x="12" y="103"/>
                    </a:lnTo>
                    <a:lnTo>
                      <a:pt x="10" y="104"/>
                    </a:lnTo>
                    <a:lnTo>
                      <a:pt x="7" y="104"/>
                    </a:lnTo>
                    <a:lnTo>
                      <a:pt x="5" y="104"/>
                    </a:lnTo>
                    <a:lnTo>
                      <a:pt x="3" y="104"/>
                    </a:lnTo>
                    <a:lnTo>
                      <a:pt x="0" y="104"/>
                    </a:lnTo>
                    <a:lnTo>
                      <a:pt x="104" y="0"/>
                    </a:lnTo>
                    <a:lnTo>
                      <a:pt x="104" y="2"/>
                    </a:lnTo>
                    <a:lnTo>
                      <a:pt x="104" y="5"/>
                    </a:lnTo>
                    <a:lnTo>
                      <a:pt x="104" y="7"/>
                    </a:lnTo>
                    <a:lnTo>
                      <a:pt x="103" y="10"/>
                    </a:lnTo>
                    <a:lnTo>
                      <a:pt x="103" y="13"/>
                    </a:lnTo>
                    <a:lnTo>
                      <a:pt x="103" y="16"/>
                    </a:lnTo>
                    <a:lnTo>
                      <a:pt x="102" y="18"/>
                    </a:lnTo>
                    <a:lnTo>
                      <a:pt x="102" y="2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65" name="Freeform 2202"/>
              <p:cNvSpPr>
                <a:spLocks noChangeAspect="1"/>
              </p:cNvSpPr>
              <p:nvPr/>
            </p:nvSpPr>
            <p:spPr bwMode="auto">
              <a:xfrm>
                <a:off x="4884" y="2246"/>
                <a:ext cx="38" cy="38"/>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w 114"/>
                  <a:gd name="T13" fmla="*/ 0 h 114"/>
                  <a:gd name="T14" fmla="*/ 0 w 114"/>
                  <a:gd name="T15" fmla="*/ 0 h 114"/>
                  <a:gd name="T16" fmla="*/ 0 w 114"/>
                  <a:gd name="T17" fmla="*/ 0 h 114"/>
                  <a:gd name="T18" fmla="*/ 0 w 114"/>
                  <a:gd name="T19" fmla="*/ 0 h 114"/>
                  <a:gd name="T20" fmla="*/ 0 w 114"/>
                  <a:gd name="T21" fmla="*/ 0 h 114"/>
                  <a:gd name="T22" fmla="*/ 0 w 114"/>
                  <a:gd name="T23" fmla="*/ 0 h 114"/>
                  <a:gd name="T24" fmla="*/ 0 w 114"/>
                  <a:gd name="T25" fmla="*/ 0 h 114"/>
                  <a:gd name="T26" fmla="*/ 0 w 114"/>
                  <a:gd name="T27" fmla="*/ 0 h 114"/>
                  <a:gd name="T28" fmla="*/ 0 w 114"/>
                  <a:gd name="T29" fmla="*/ 0 h 114"/>
                  <a:gd name="T30" fmla="*/ 0 w 114"/>
                  <a:gd name="T31" fmla="*/ 0 h 114"/>
                  <a:gd name="T32" fmla="*/ 0 w 114"/>
                  <a:gd name="T33" fmla="*/ 0 h 114"/>
                  <a:gd name="T34" fmla="*/ 0 w 114"/>
                  <a:gd name="T35" fmla="*/ 0 h 114"/>
                  <a:gd name="T36" fmla="*/ 0 w 114"/>
                  <a:gd name="T37" fmla="*/ 0 h 114"/>
                  <a:gd name="T38" fmla="*/ 0 w 114"/>
                  <a:gd name="T39" fmla="*/ 0 h 114"/>
                  <a:gd name="T40" fmla="*/ 0 w 114"/>
                  <a:gd name="T41" fmla="*/ 0 h 114"/>
                  <a:gd name="T42" fmla="*/ 0 w 114"/>
                  <a:gd name="T43" fmla="*/ 0 h 114"/>
                  <a:gd name="T44" fmla="*/ 0 w 114"/>
                  <a:gd name="T45" fmla="*/ 0 h 114"/>
                  <a:gd name="T46" fmla="*/ 0 w 114"/>
                  <a:gd name="T47" fmla="*/ 0 h 114"/>
                  <a:gd name="T48" fmla="*/ 0 w 114"/>
                  <a:gd name="T49" fmla="*/ 0 h 114"/>
                  <a:gd name="T50" fmla="*/ 0 w 114"/>
                  <a:gd name="T51" fmla="*/ 0 h 114"/>
                  <a:gd name="T52" fmla="*/ 0 w 114"/>
                  <a:gd name="T53" fmla="*/ 0 h 114"/>
                  <a:gd name="T54" fmla="*/ 0 w 114"/>
                  <a:gd name="T55" fmla="*/ 0 h 114"/>
                  <a:gd name="T56" fmla="*/ 0 w 114"/>
                  <a:gd name="T57" fmla="*/ 0 h 114"/>
                  <a:gd name="T58" fmla="*/ 0 w 114"/>
                  <a:gd name="T59" fmla="*/ 0 h 114"/>
                  <a:gd name="T60" fmla="*/ 0 w 114"/>
                  <a:gd name="T61" fmla="*/ 0 h 114"/>
                  <a:gd name="T62" fmla="*/ 0 w 114"/>
                  <a:gd name="T63" fmla="*/ 0 h 114"/>
                  <a:gd name="T64" fmla="*/ 0 w 114"/>
                  <a:gd name="T65" fmla="*/ 0 h 114"/>
                  <a:gd name="T66" fmla="*/ 0 w 114"/>
                  <a:gd name="T67" fmla="*/ 0 h 114"/>
                  <a:gd name="T68" fmla="*/ 0 w 114"/>
                  <a:gd name="T69" fmla="*/ 0 h 11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4" h="114">
                    <a:moveTo>
                      <a:pt x="113" y="19"/>
                    </a:moveTo>
                    <a:lnTo>
                      <a:pt x="18" y="114"/>
                    </a:lnTo>
                    <a:lnTo>
                      <a:pt x="17" y="114"/>
                    </a:lnTo>
                    <a:lnTo>
                      <a:pt x="15" y="114"/>
                    </a:lnTo>
                    <a:lnTo>
                      <a:pt x="14" y="114"/>
                    </a:lnTo>
                    <a:lnTo>
                      <a:pt x="13" y="114"/>
                    </a:lnTo>
                    <a:lnTo>
                      <a:pt x="12" y="114"/>
                    </a:lnTo>
                    <a:lnTo>
                      <a:pt x="10" y="114"/>
                    </a:lnTo>
                    <a:lnTo>
                      <a:pt x="9" y="114"/>
                    </a:lnTo>
                    <a:lnTo>
                      <a:pt x="7" y="114"/>
                    </a:lnTo>
                    <a:lnTo>
                      <a:pt x="6" y="114"/>
                    </a:lnTo>
                    <a:lnTo>
                      <a:pt x="5" y="114"/>
                    </a:lnTo>
                    <a:lnTo>
                      <a:pt x="4" y="114"/>
                    </a:lnTo>
                    <a:lnTo>
                      <a:pt x="3" y="114"/>
                    </a:lnTo>
                    <a:lnTo>
                      <a:pt x="2" y="114"/>
                    </a:lnTo>
                    <a:lnTo>
                      <a:pt x="1" y="114"/>
                    </a:lnTo>
                    <a:lnTo>
                      <a:pt x="0" y="114"/>
                    </a:lnTo>
                    <a:lnTo>
                      <a:pt x="114" y="0"/>
                    </a:lnTo>
                    <a:lnTo>
                      <a:pt x="114" y="1"/>
                    </a:lnTo>
                    <a:lnTo>
                      <a:pt x="114" y="2"/>
                    </a:lnTo>
                    <a:lnTo>
                      <a:pt x="114" y="5"/>
                    </a:lnTo>
                    <a:lnTo>
                      <a:pt x="114" y="7"/>
                    </a:lnTo>
                    <a:lnTo>
                      <a:pt x="114" y="9"/>
                    </a:lnTo>
                    <a:lnTo>
                      <a:pt x="113" y="11"/>
                    </a:lnTo>
                    <a:lnTo>
                      <a:pt x="113" y="13"/>
                    </a:lnTo>
                    <a:lnTo>
                      <a:pt x="113" y="15"/>
                    </a:lnTo>
                    <a:lnTo>
                      <a:pt x="113" y="17"/>
                    </a:lnTo>
                    <a:lnTo>
                      <a:pt x="113" y="1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66" name="Freeform 2203"/>
              <p:cNvSpPr>
                <a:spLocks noChangeAspect="1"/>
              </p:cNvSpPr>
              <p:nvPr/>
            </p:nvSpPr>
            <p:spPr bwMode="auto">
              <a:xfrm>
                <a:off x="4882" y="2244"/>
                <a:ext cx="40" cy="40"/>
              </a:xfrm>
              <a:custGeom>
                <a:avLst/>
                <a:gdLst>
                  <a:gd name="T0" fmla="*/ 0 w 121"/>
                  <a:gd name="T1" fmla="*/ 0 h 121"/>
                  <a:gd name="T2" fmla="*/ 0 w 121"/>
                  <a:gd name="T3" fmla="*/ 0 h 121"/>
                  <a:gd name="T4" fmla="*/ 0 w 121"/>
                  <a:gd name="T5" fmla="*/ 0 h 121"/>
                  <a:gd name="T6" fmla="*/ 0 w 121"/>
                  <a:gd name="T7" fmla="*/ 0 h 121"/>
                  <a:gd name="T8" fmla="*/ 0 w 121"/>
                  <a:gd name="T9" fmla="*/ 0 h 121"/>
                  <a:gd name="T10" fmla="*/ 0 w 121"/>
                  <a:gd name="T11" fmla="*/ 0 h 121"/>
                  <a:gd name="T12" fmla="*/ 0 w 121"/>
                  <a:gd name="T13" fmla="*/ 0 h 121"/>
                  <a:gd name="T14" fmla="*/ 0 w 121"/>
                  <a:gd name="T15" fmla="*/ 0 h 121"/>
                  <a:gd name="T16" fmla="*/ 0 w 121"/>
                  <a:gd name="T17" fmla="*/ 0 h 121"/>
                  <a:gd name="T18" fmla="*/ 0 w 121"/>
                  <a:gd name="T19" fmla="*/ 0 h 121"/>
                  <a:gd name="T20" fmla="*/ 0 w 121"/>
                  <a:gd name="T21" fmla="*/ 0 h 121"/>
                  <a:gd name="T22" fmla="*/ 0 w 121"/>
                  <a:gd name="T23" fmla="*/ 0 h 121"/>
                  <a:gd name="T24" fmla="*/ 0 w 121"/>
                  <a:gd name="T25" fmla="*/ 0 h 121"/>
                  <a:gd name="T26" fmla="*/ 0 w 121"/>
                  <a:gd name="T27" fmla="*/ 0 h 121"/>
                  <a:gd name="T28" fmla="*/ 0 w 121"/>
                  <a:gd name="T29" fmla="*/ 0 h 121"/>
                  <a:gd name="T30" fmla="*/ 0 w 121"/>
                  <a:gd name="T31" fmla="*/ 0 h 121"/>
                  <a:gd name="T32" fmla="*/ 0 w 121"/>
                  <a:gd name="T33" fmla="*/ 0 h 121"/>
                  <a:gd name="T34" fmla="*/ 0 w 121"/>
                  <a:gd name="T35" fmla="*/ 0 h 121"/>
                  <a:gd name="T36" fmla="*/ 0 w 121"/>
                  <a:gd name="T37" fmla="*/ 0 h 121"/>
                  <a:gd name="T38" fmla="*/ 0 w 121"/>
                  <a:gd name="T39" fmla="*/ 0 h 121"/>
                  <a:gd name="T40" fmla="*/ 0 w 121"/>
                  <a:gd name="T41" fmla="*/ 0 h 121"/>
                  <a:gd name="T42" fmla="*/ 0 w 121"/>
                  <a:gd name="T43" fmla="*/ 0 h 121"/>
                  <a:gd name="T44" fmla="*/ 0 w 121"/>
                  <a:gd name="T45" fmla="*/ 0 h 121"/>
                  <a:gd name="T46" fmla="*/ 0 w 121"/>
                  <a:gd name="T47" fmla="*/ 0 h 121"/>
                  <a:gd name="T48" fmla="*/ 0 w 121"/>
                  <a:gd name="T49" fmla="*/ 0 h 121"/>
                  <a:gd name="T50" fmla="*/ 0 w 121"/>
                  <a:gd name="T51" fmla="*/ 0 h 121"/>
                  <a:gd name="T52" fmla="*/ 0 w 121"/>
                  <a:gd name="T53" fmla="*/ 0 h 121"/>
                  <a:gd name="T54" fmla="*/ 0 w 121"/>
                  <a:gd name="T55" fmla="*/ 0 h 121"/>
                  <a:gd name="T56" fmla="*/ 0 w 121"/>
                  <a:gd name="T57" fmla="*/ 0 h 121"/>
                  <a:gd name="T58" fmla="*/ 0 w 121"/>
                  <a:gd name="T59" fmla="*/ 0 h 121"/>
                  <a:gd name="T60" fmla="*/ 0 w 121"/>
                  <a:gd name="T61" fmla="*/ 0 h 121"/>
                  <a:gd name="T62" fmla="*/ 0 w 121"/>
                  <a:gd name="T63" fmla="*/ 0 h 121"/>
                  <a:gd name="T64" fmla="*/ 0 w 121"/>
                  <a:gd name="T65" fmla="*/ 0 h 121"/>
                  <a:gd name="T66" fmla="*/ 0 w 121"/>
                  <a:gd name="T67" fmla="*/ 0 h 121"/>
                  <a:gd name="T68" fmla="*/ 0 w 121"/>
                  <a:gd name="T69" fmla="*/ 0 h 1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1" h="121">
                    <a:moveTo>
                      <a:pt x="120" y="17"/>
                    </a:moveTo>
                    <a:lnTo>
                      <a:pt x="16" y="121"/>
                    </a:lnTo>
                    <a:lnTo>
                      <a:pt x="14" y="121"/>
                    </a:lnTo>
                    <a:lnTo>
                      <a:pt x="12" y="121"/>
                    </a:lnTo>
                    <a:lnTo>
                      <a:pt x="10" y="121"/>
                    </a:lnTo>
                    <a:lnTo>
                      <a:pt x="8" y="121"/>
                    </a:lnTo>
                    <a:lnTo>
                      <a:pt x="7" y="121"/>
                    </a:lnTo>
                    <a:lnTo>
                      <a:pt x="5" y="121"/>
                    </a:lnTo>
                    <a:lnTo>
                      <a:pt x="3" y="121"/>
                    </a:lnTo>
                    <a:lnTo>
                      <a:pt x="1" y="120"/>
                    </a:lnTo>
                    <a:lnTo>
                      <a:pt x="0" y="120"/>
                    </a:lnTo>
                    <a:lnTo>
                      <a:pt x="120" y="0"/>
                    </a:lnTo>
                    <a:lnTo>
                      <a:pt x="120" y="1"/>
                    </a:lnTo>
                    <a:lnTo>
                      <a:pt x="121" y="2"/>
                    </a:lnTo>
                    <a:lnTo>
                      <a:pt x="121" y="3"/>
                    </a:lnTo>
                    <a:lnTo>
                      <a:pt x="121" y="4"/>
                    </a:lnTo>
                    <a:lnTo>
                      <a:pt x="121" y="5"/>
                    </a:lnTo>
                    <a:lnTo>
                      <a:pt x="121" y="7"/>
                    </a:lnTo>
                    <a:lnTo>
                      <a:pt x="121" y="8"/>
                    </a:lnTo>
                    <a:lnTo>
                      <a:pt x="121" y="9"/>
                    </a:lnTo>
                    <a:lnTo>
                      <a:pt x="121" y="10"/>
                    </a:lnTo>
                    <a:lnTo>
                      <a:pt x="121" y="12"/>
                    </a:lnTo>
                    <a:lnTo>
                      <a:pt x="121" y="13"/>
                    </a:lnTo>
                    <a:lnTo>
                      <a:pt x="121" y="14"/>
                    </a:lnTo>
                    <a:lnTo>
                      <a:pt x="121" y="15"/>
                    </a:lnTo>
                    <a:lnTo>
                      <a:pt x="121" y="16"/>
                    </a:lnTo>
                    <a:lnTo>
                      <a:pt x="120" y="1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67" name="Freeform 2204"/>
              <p:cNvSpPr>
                <a:spLocks noChangeAspect="1"/>
              </p:cNvSpPr>
              <p:nvPr/>
            </p:nvSpPr>
            <p:spPr bwMode="auto">
              <a:xfrm>
                <a:off x="4879" y="2241"/>
                <a:ext cx="43" cy="43"/>
              </a:xfrm>
              <a:custGeom>
                <a:avLst/>
                <a:gdLst>
                  <a:gd name="T0" fmla="*/ 0 w 129"/>
                  <a:gd name="T1" fmla="*/ 0 h 130"/>
                  <a:gd name="T2" fmla="*/ 0 w 129"/>
                  <a:gd name="T3" fmla="*/ 0 h 130"/>
                  <a:gd name="T4" fmla="*/ 0 w 129"/>
                  <a:gd name="T5" fmla="*/ 0 h 130"/>
                  <a:gd name="T6" fmla="*/ 0 w 129"/>
                  <a:gd name="T7" fmla="*/ 0 h 130"/>
                  <a:gd name="T8" fmla="*/ 0 w 129"/>
                  <a:gd name="T9" fmla="*/ 0 h 130"/>
                  <a:gd name="T10" fmla="*/ 0 w 129"/>
                  <a:gd name="T11" fmla="*/ 0 h 130"/>
                  <a:gd name="T12" fmla="*/ 0 w 129"/>
                  <a:gd name="T13" fmla="*/ 0 h 130"/>
                  <a:gd name="T14" fmla="*/ 0 w 129"/>
                  <a:gd name="T15" fmla="*/ 0 h 130"/>
                  <a:gd name="T16" fmla="*/ 0 w 129"/>
                  <a:gd name="T17" fmla="*/ 0 h 130"/>
                  <a:gd name="T18" fmla="*/ 0 w 129"/>
                  <a:gd name="T19" fmla="*/ 0 h 130"/>
                  <a:gd name="T20" fmla="*/ 0 w 129"/>
                  <a:gd name="T21" fmla="*/ 0 h 130"/>
                  <a:gd name="T22" fmla="*/ 0 w 129"/>
                  <a:gd name="T23" fmla="*/ 0 h 130"/>
                  <a:gd name="T24" fmla="*/ 0 w 129"/>
                  <a:gd name="T25" fmla="*/ 0 h 130"/>
                  <a:gd name="T26" fmla="*/ 0 w 129"/>
                  <a:gd name="T27" fmla="*/ 0 h 130"/>
                  <a:gd name="T28" fmla="*/ 0 w 129"/>
                  <a:gd name="T29" fmla="*/ 0 h 130"/>
                  <a:gd name="T30" fmla="*/ 0 w 129"/>
                  <a:gd name="T31" fmla="*/ 0 h 130"/>
                  <a:gd name="T32" fmla="*/ 0 w 129"/>
                  <a:gd name="T33" fmla="*/ 0 h 130"/>
                  <a:gd name="T34" fmla="*/ 0 w 129"/>
                  <a:gd name="T35" fmla="*/ 0 h 130"/>
                  <a:gd name="T36" fmla="*/ 0 w 129"/>
                  <a:gd name="T37" fmla="*/ 0 h 1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9" h="130">
                    <a:moveTo>
                      <a:pt x="129" y="16"/>
                    </a:moveTo>
                    <a:lnTo>
                      <a:pt x="15" y="130"/>
                    </a:lnTo>
                    <a:lnTo>
                      <a:pt x="13" y="130"/>
                    </a:lnTo>
                    <a:lnTo>
                      <a:pt x="12" y="130"/>
                    </a:lnTo>
                    <a:lnTo>
                      <a:pt x="10" y="130"/>
                    </a:lnTo>
                    <a:lnTo>
                      <a:pt x="8" y="129"/>
                    </a:lnTo>
                    <a:lnTo>
                      <a:pt x="5" y="129"/>
                    </a:lnTo>
                    <a:lnTo>
                      <a:pt x="3" y="129"/>
                    </a:lnTo>
                    <a:lnTo>
                      <a:pt x="2" y="128"/>
                    </a:lnTo>
                    <a:lnTo>
                      <a:pt x="0" y="128"/>
                    </a:lnTo>
                    <a:lnTo>
                      <a:pt x="127" y="0"/>
                    </a:lnTo>
                    <a:lnTo>
                      <a:pt x="128" y="2"/>
                    </a:lnTo>
                    <a:lnTo>
                      <a:pt x="128" y="5"/>
                    </a:lnTo>
                    <a:lnTo>
                      <a:pt x="128" y="7"/>
                    </a:lnTo>
                    <a:lnTo>
                      <a:pt x="128" y="9"/>
                    </a:lnTo>
                    <a:lnTo>
                      <a:pt x="128" y="11"/>
                    </a:lnTo>
                    <a:lnTo>
                      <a:pt x="129" y="13"/>
                    </a:lnTo>
                    <a:lnTo>
                      <a:pt x="129" y="15"/>
                    </a:lnTo>
                    <a:lnTo>
                      <a:pt x="129" y="1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68" name="Freeform 2205"/>
              <p:cNvSpPr>
                <a:spLocks noChangeAspect="1"/>
              </p:cNvSpPr>
              <p:nvPr/>
            </p:nvSpPr>
            <p:spPr bwMode="auto">
              <a:xfrm>
                <a:off x="4877" y="2238"/>
                <a:ext cx="45" cy="46"/>
              </a:xfrm>
              <a:custGeom>
                <a:avLst/>
                <a:gdLst>
                  <a:gd name="T0" fmla="*/ 0 w 135"/>
                  <a:gd name="T1" fmla="*/ 0 h 136"/>
                  <a:gd name="T2" fmla="*/ 0 w 135"/>
                  <a:gd name="T3" fmla="*/ 0 h 136"/>
                  <a:gd name="T4" fmla="*/ 0 w 135"/>
                  <a:gd name="T5" fmla="*/ 0 h 136"/>
                  <a:gd name="T6" fmla="*/ 0 w 135"/>
                  <a:gd name="T7" fmla="*/ 0 h 136"/>
                  <a:gd name="T8" fmla="*/ 0 w 135"/>
                  <a:gd name="T9" fmla="*/ 0 h 136"/>
                  <a:gd name="T10" fmla="*/ 0 w 135"/>
                  <a:gd name="T11" fmla="*/ 0 h 136"/>
                  <a:gd name="T12" fmla="*/ 0 w 135"/>
                  <a:gd name="T13" fmla="*/ 0 h 136"/>
                  <a:gd name="T14" fmla="*/ 0 w 135"/>
                  <a:gd name="T15" fmla="*/ 0 h 136"/>
                  <a:gd name="T16" fmla="*/ 0 w 135"/>
                  <a:gd name="T17" fmla="*/ 0 h 136"/>
                  <a:gd name="T18" fmla="*/ 0 w 135"/>
                  <a:gd name="T19" fmla="*/ 0 h 136"/>
                  <a:gd name="T20" fmla="*/ 0 w 135"/>
                  <a:gd name="T21" fmla="*/ 0 h 136"/>
                  <a:gd name="T22" fmla="*/ 0 w 135"/>
                  <a:gd name="T23" fmla="*/ 0 h 136"/>
                  <a:gd name="T24" fmla="*/ 0 w 135"/>
                  <a:gd name="T25" fmla="*/ 0 h 136"/>
                  <a:gd name="T26" fmla="*/ 0 w 135"/>
                  <a:gd name="T27" fmla="*/ 0 h 136"/>
                  <a:gd name="T28" fmla="*/ 0 w 135"/>
                  <a:gd name="T29" fmla="*/ 0 h 136"/>
                  <a:gd name="T30" fmla="*/ 0 w 135"/>
                  <a:gd name="T31" fmla="*/ 0 h 136"/>
                  <a:gd name="T32" fmla="*/ 0 w 135"/>
                  <a:gd name="T33" fmla="*/ 0 h 136"/>
                  <a:gd name="T34" fmla="*/ 0 w 135"/>
                  <a:gd name="T35" fmla="*/ 0 h 136"/>
                  <a:gd name="T36" fmla="*/ 0 w 135"/>
                  <a:gd name="T37" fmla="*/ 0 h 1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35" h="136">
                    <a:moveTo>
                      <a:pt x="135" y="16"/>
                    </a:moveTo>
                    <a:lnTo>
                      <a:pt x="15" y="136"/>
                    </a:lnTo>
                    <a:lnTo>
                      <a:pt x="12" y="136"/>
                    </a:lnTo>
                    <a:lnTo>
                      <a:pt x="10" y="136"/>
                    </a:lnTo>
                    <a:lnTo>
                      <a:pt x="9" y="135"/>
                    </a:lnTo>
                    <a:lnTo>
                      <a:pt x="7" y="135"/>
                    </a:lnTo>
                    <a:lnTo>
                      <a:pt x="5" y="135"/>
                    </a:lnTo>
                    <a:lnTo>
                      <a:pt x="4" y="134"/>
                    </a:lnTo>
                    <a:lnTo>
                      <a:pt x="2" y="134"/>
                    </a:lnTo>
                    <a:lnTo>
                      <a:pt x="0" y="133"/>
                    </a:lnTo>
                    <a:lnTo>
                      <a:pt x="133" y="0"/>
                    </a:lnTo>
                    <a:lnTo>
                      <a:pt x="134" y="2"/>
                    </a:lnTo>
                    <a:lnTo>
                      <a:pt x="134" y="4"/>
                    </a:lnTo>
                    <a:lnTo>
                      <a:pt x="134" y="6"/>
                    </a:lnTo>
                    <a:lnTo>
                      <a:pt x="135" y="7"/>
                    </a:lnTo>
                    <a:lnTo>
                      <a:pt x="135" y="9"/>
                    </a:lnTo>
                    <a:lnTo>
                      <a:pt x="135" y="12"/>
                    </a:lnTo>
                    <a:lnTo>
                      <a:pt x="135" y="14"/>
                    </a:lnTo>
                    <a:lnTo>
                      <a:pt x="135" y="1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69" name="Freeform 2206"/>
              <p:cNvSpPr>
                <a:spLocks noChangeAspect="1"/>
              </p:cNvSpPr>
              <p:nvPr/>
            </p:nvSpPr>
            <p:spPr bwMode="auto">
              <a:xfrm>
                <a:off x="4874" y="2236"/>
                <a:ext cx="47" cy="47"/>
              </a:xfrm>
              <a:custGeom>
                <a:avLst/>
                <a:gdLst>
                  <a:gd name="T0" fmla="*/ 0 w 141"/>
                  <a:gd name="T1" fmla="*/ 0 h 141"/>
                  <a:gd name="T2" fmla="*/ 0 w 141"/>
                  <a:gd name="T3" fmla="*/ 0 h 141"/>
                  <a:gd name="T4" fmla="*/ 0 w 141"/>
                  <a:gd name="T5" fmla="*/ 0 h 141"/>
                  <a:gd name="T6" fmla="*/ 0 w 141"/>
                  <a:gd name="T7" fmla="*/ 0 h 141"/>
                  <a:gd name="T8" fmla="*/ 0 w 141"/>
                  <a:gd name="T9" fmla="*/ 0 h 141"/>
                  <a:gd name="T10" fmla="*/ 0 w 141"/>
                  <a:gd name="T11" fmla="*/ 0 h 141"/>
                  <a:gd name="T12" fmla="*/ 0 w 141"/>
                  <a:gd name="T13" fmla="*/ 0 h 141"/>
                  <a:gd name="T14" fmla="*/ 0 w 141"/>
                  <a:gd name="T15" fmla="*/ 0 h 141"/>
                  <a:gd name="T16" fmla="*/ 0 w 141"/>
                  <a:gd name="T17" fmla="*/ 0 h 141"/>
                  <a:gd name="T18" fmla="*/ 0 w 141"/>
                  <a:gd name="T19" fmla="*/ 0 h 141"/>
                  <a:gd name="T20" fmla="*/ 0 w 141"/>
                  <a:gd name="T21" fmla="*/ 0 h 141"/>
                  <a:gd name="T22" fmla="*/ 0 w 141"/>
                  <a:gd name="T23" fmla="*/ 0 h 141"/>
                  <a:gd name="T24" fmla="*/ 0 w 141"/>
                  <a:gd name="T25" fmla="*/ 0 h 141"/>
                  <a:gd name="T26" fmla="*/ 0 w 141"/>
                  <a:gd name="T27" fmla="*/ 0 h 141"/>
                  <a:gd name="T28" fmla="*/ 0 w 141"/>
                  <a:gd name="T29" fmla="*/ 0 h 141"/>
                  <a:gd name="T30" fmla="*/ 0 w 141"/>
                  <a:gd name="T31" fmla="*/ 0 h 141"/>
                  <a:gd name="T32" fmla="*/ 0 w 141"/>
                  <a:gd name="T33" fmla="*/ 0 h 141"/>
                  <a:gd name="T34" fmla="*/ 0 w 141"/>
                  <a:gd name="T35" fmla="*/ 0 h 141"/>
                  <a:gd name="T36" fmla="*/ 0 w 141"/>
                  <a:gd name="T37" fmla="*/ 0 h 1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1" h="141">
                    <a:moveTo>
                      <a:pt x="141" y="13"/>
                    </a:moveTo>
                    <a:lnTo>
                      <a:pt x="14" y="141"/>
                    </a:lnTo>
                    <a:lnTo>
                      <a:pt x="12" y="141"/>
                    </a:lnTo>
                    <a:lnTo>
                      <a:pt x="11" y="140"/>
                    </a:lnTo>
                    <a:lnTo>
                      <a:pt x="9" y="140"/>
                    </a:lnTo>
                    <a:lnTo>
                      <a:pt x="7" y="139"/>
                    </a:lnTo>
                    <a:lnTo>
                      <a:pt x="6" y="139"/>
                    </a:lnTo>
                    <a:lnTo>
                      <a:pt x="3" y="138"/>
                    </a:lnTo>
                    <a:lnTo>
                      <a:pt x="2" y="138"/>
                    </a:lnTo>
                    <a:lnTo>
                      <a:pt x="0" y="137"/>
                    </a:lnTo>
                    <a:lnTo>
                      <a:pt x="139" y="0"/>
                    </a:lnTo>
                    <a:lnTo>
                      <a:pt x="139" y="1"/>
                    </a:lnTo>
                    <a:lnTo>
                      <a:pt x="139" y="3"/>
                    </a:lnTo>
                    <a:lnTo>
                      <a:pt x="140" y="5"/>
                    </a:lnTo>
                    <a:lnTo>
                      <a:pt x="140" y="6"/>
                    </a:lnTo>
                    <a:lnTo>
                      <a:pt x="141" y="8"/>
                    </a:lnTo>
                    <a:lnTo>
                      <a:pt x="141" y="10"/>
                    </a:lnTo>
                    <a:lnTo>
                      <a:pt x="141" y="12"/>
                    </a:lnTo>
                    <a:lnTo>
                      <a:pt x="141" y="1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70" name="Freeform 2207"/>
              <p:cNvSpPr>
                <a:spLocks noChangeAspect="1"/>
              </p:cNvSpPr>
              <p:nvPr/>
            </p:nvSpPr>
            <p:spPr bwMode="auto">
              <a:xfrm>
                <a:off x="4872" y="2234"/>
                <a:ext cx="49" cy="49"/>
              </a:xfrm>
              <a:custGeom>
                <a:avLst/>
                <a:gdLst>
                  <a:gd name="T0" fmla="*/ 0 w 146"/>
                  <a:gd name="T1" fmla="*/ 0 h 146"/>
                  <a:gd name="T2" fmla="*/ 0 w 146"/>
                  <a:gd name="T3" fmla="*/ 0 h 146"/>
                  <a:gd name="T4" fmla="*/ 0 w 146"/>
                  <a:gd name="T5" fmla="*/ 0 h 146"/>
                  <a:gd name="T6" fmla="*/ 0 w 146"/>
                  <a:gd name="T7" fmla="*/ 0 h 146"/>
                  <a:gd name="T8" fmla="*/ 0 w 146"/>
                  <a:gd name="T9" fmla="*/ 0 h 146"/>
                  <a:gd name="T10" fmla="*/ 0 w 146"/>
                  <a:gd name="T11" fmla="*/ 0 h 146"/>
                  <a:gd name="T12" fmla="*/ 0 w 146"/>
                  <a:gd name="T13" fmla="*/ 0 h 146"/>
                  <a:gd name="T14" fmla="*/ 0 w 146"/>
                  <a:gd name="T15" fmla="*/ 0 h 146"/>
                  <a:gd name="T16" fmla="*/ 0 w 146"/>
                  <a:gd name="T17" fmla="*/ 0 h 146"/>
                  <a:gd name="T18" fmla="*/ 0 w 146"/>
                  <a:gd name="T19" fmla="*/ 0 h 146"/>
                  <a:gd name="T20" fmla="*/ 0 w 146"/>
                  <a:gd name="T21" fmla="*/ 0 h 146"/>
                  <a:gd name="T22" fmla="*/ 0 w 146"/>
                  <a:gd name="T23" fmla="*/ 0 h 146"/>
                  <a:gd name="T24" fmla="*/ 0 w 146"/>
                  <a:gd name="T25" fmla="*/ 0 h 146"/>
                  <a:gd name="T26" fmla="*/ 0 w 146"/>
                  <a:gd name="T27" fmla="*/ 0 h 146"/>
                  <a:gd name="T28" fmla="*/ 0 w 146"/>
                  <a:gd name="T29" fmla="*/ 0 h 146"/>
                  <a:gd name="T30" fmla="*/ 0 w 146"/>
                  <a:gd name="T31" fmla="*/ 0 h 146"/>
                  <a:gd name="T32" fmla="*/ 0 w 146"/>
                  <a:gd name="T33" fmla="*/ 0 h 146"/>
                  <a:gd name="T34" fmla="*/ 0 w 146"/>
                  <a:gd name="T35" fmla="*/ 0 h 146"/>
                  <a:gd name="T36" fmla="*/ 0 w 146"/>
                  <a:gd name="T37" fmla="*/ 0 h 1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6" h="146">
                    <a:moveTo>
                      <a:pt x="146" y="13"/>
                    </a:moveTo>
                    <a:lnTo>
                      <a:pt x="13" y="146"/>
                    </a:lnTo>
                    <a:lnTo>
                      <a:pt x="12" y="146"/>
                    </a:lnTo>
                    <a:lnTo>
                      <a:pt x="9" y="145"/>
                    </a:lnTo>
                    <a:lnTo>
                      <a:pt x="8" y="145"/>
                    </a:lnTo>
                    <a:lnTo>
                      <a:pt x="6" y="144"/>
                    </a:lnTo>
                    <a:lnTo>
                      <a:pt x="5" y="144"/>
                    </a:lnTo>
                    <a:lnTo>
                      <a:pt x="3" y="143"/>
                    </a:lnTo>
                    <a:lnTo>
                      <a:pt x="2" y="142"/>
                    </a:lnTo>
                    <a:lnTo>
                      <a:pt x="0" y="142"/>
                    </a:lnTo>
                    <a:lnTo>
                      <a:pt x="143" y="0"/>
                    </a:lnTo>
                    <a:lnTo>
                      <a:pt x="143" y="1"/>
                    </a:lnTo>
                    <a:lnTo>
                      <a:pt x="144" y="3"/>
                    </a:lnTo>
                    <a:lnTo>
                      <a:pt x="144" y="4"/>
                    </a:lnTo>
                    <a:lnTo>
                      <a:pt x="145" y="7"/>
                    </a:lnTo>
                    <a:lnTo>
                      <a:pt x="145" y="8"/>
                    </a:lnTo>
                    <a:lnTo>
                      <a:pt x="145" y="10"/>
                    </a:lnTo>
                    <a:lnTo>
                      <a:pt x="146" y="12"/>
                    </a:lnTo>
                    <a:lnTo>
                      <a:pt x="146" y="1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71" name="Freeform 2208"/>
              <p:cNvSpPr>
                <a:spLocks noChangeAspect="1"/>
              </p:cNvSpPr>
              <p:nvPr/>
            </p:nvSpPr>
            <p:spPr bwMode="auto">
              <a:xfrm>
                <a:off x="4871" y="2232"/>
                <a:ext cx="50" cy="50"/>
              </a:xfrm>
              <a:custGeom>
                <a:avLst/>
                <a:gdLst>
                  <a:gd name="T0" fmla="*/ 0 w 150"/>
                  <a:gd name="T1" fmla="*/ 0 h 150"/>
                  <a:gd name="T2" fmla="*/ 0 w 150"/>
                  <a:gd name="T3" fmla="*/ 0 h 150"/>
                  <a:gd name="T4" fmla="*/ 0 w 150"/>
                  <a:gd name="T5" fmla="*/ 0 h 150"/>
                  <a:gd name="T6" fmla="*/ 0 w 150"/>
                  <a:gd name="T7" fmla="*/ 0 h 150"/>
                  <a:gd name="T8" fmla="*/ 0 w 150"/>
                  <a:gd name="T9" fmla="*/ 0 h 150"/>
                  <a:gd name="T10" fmla="*/ 0 w 150"/>
                  <a:gd name="T11" fmla="*/ 0 h 150"/>
                  <a:gd name="T12" fmla="*/ 0 w 150"/>
                  <a:gd name="T13" fmla="*/ 0 h 150"/>
                  <a:gd name="T14" fmla="*/ 0 w 150"/>
                  <a:gd name="T15" fmla="*/ 0 h 150"/>
                  <a:gd name="T16" fmla="*/ 0 w 150"/>
                  <a:gd name="T17" fmla="*/ 0 h 150"/>
                  <a:gd name="T18" fmla="*/ 0 w 150"/>
                  <a:gd name="T19" fmla="*/ 0 h 150"/>
                  <a:gd name="T20" fmla="*/ 0 w 150"/>
                  <a:gd name="T21" fmla="*/ 0 h 150"/>
                  <a:gd name="T22" fmla="*/ 0 w 150"/>
                  <a:gd name="T23" fmla="*/ 0 h 150"/>
                  <a:gd name="T24" fmla="*/ 0 w 150"/>
                  <a:gd name="T25" fmla="*/ 0 h 150"/>
                  <a:gd name="T26" fmla="*/ 0 w 150"/>
                  <a:gd name="T27" fmla="*/ 0 h 150"/>
                  <a:gd name="T28" fmla="*/ 0 w 150"/>
                  <a:gd name="T29" fmla="*/ 0 h 150"/>
                  <a:gd name="T30" fmla="*/ 0 w 150"/>
                  <a:gd name="T31" fmla="*/ 0 h 150"/>
                  <a:gd name="T32" fmla="*/ 0 w 150"/>
                  <a:gd name="T33" fmla="*/ 0 h 150"/>
                  <a:gd name="T34" fmla="*/ 0 w 150"/>
                  <a:gd name="T35" fmla="*/ 0 h 150"/>
                  <a:gd name="T36" fmla="*/ 0 w 150"/>
                  <a:gd name="T37" fmla="*/ 0 h 1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0" h="150">
                    <a:moveTo>
                      <a:pt x="150" y="13"/>
                    </a:moveTo>
                    <a:lnTo>
                      <a:pt x="11" y="150"/>
                    </a:lnTo>
                    <a:lnTo>
                      <a:pt x="10" y="150"/>
                    </a:lnTo>
                    <a:lnTo>
                      <a:pt x="8" y="149"/>
                    </a:lnTo>
                    <a:lnTo>
                      <a:pt x="7" y="148"/>
                    </a:lnTo>
                    <a:lnTo>
                      <a:pt x="5" y="148"/>
                    </a:lnTo>
                    <a:lnTo>
                      <a:pt x="4" y="146"/>
                    </a:lnTo>
                    <a:lnTo>
                      <a:pt x="3" y="145"/>
                    </a:lnTo>
                    <a:lnTo>
                      <a:pt x="1" y="145"/>
                    </a:lnTo>
                    <a:lnTo>
                      <a:pt x="0" y="144"/>
                    </a:lnTo>
                    <a:lnTo>
                      <a:pt x="144" y="0"/>
                    </a:lnTo>
                    <a:lnTo>
                      <a:pt x="145" y="1"/>
                    </a:lnTo>
                    <a:lnTo>
                      <a:pt x="146" y="3"/>
                    </a:lnTo>
                    <a:lnTo>
                      <a:pt x="146" y="4"/>
                    </a:lnTo>
                    <a:lnTo>
                      <a:pt x="148" y="6"/>
                    </a:lnTo>
                    <a:lnTo>
                      <a:pt x="148" y="7"/>
                    </a:lnTo>
                    <a:lnTo>
                      <a:pt x="149" y="9"/>
                    </a:lnTo>
                    <a:lnTo>
                      <a:pt x="149" y="10"/>
                    </a:lnTo>
                    <a:lnTo>
                      <a:pt x="150" y="1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72" name="Freeform 2209"/>
              <p:cNvSpPr>
                <a:spLocks noChangeAspect="1"/>
              </p:cNvSpPr>
              <p:nvPr/>
            </p:nvSpPr>
            <p:spPr bwMode="auto">
              <a:xfrm>
                <a:off x="4869" y="2230"/>
                <a:ext cx="51" cy="51"/>
              </a:xfrm>
              <a:custGeom>
                <a:avLst/>
                <a:gdLst>
                  <a:gd name="T0" fmla="*/ 0 w 154"/>
                  <a:gd name="T1" fmla="*/ 0 h 155"/>
                  <a:gd name="T2" fmla="*/ 0 w 154"/>
                  <a:gd name="T3" fmla="*/ 0 h 155"/>
                  <a:gd name="T4" fmla="*/ 0 w 154"/>
                  <a:gd name="T5" fmla="*/ 0 h 155"/>
                  <a:gd name="T6" fmla="*/ 0 w 154"/>
                  <a:gd name="T7" fmla="*/ 0 h 155"/>
                  <a:gd name="T8" fmla="*/ 0 w 154"/>
                  <a:gd name="T9" fmla="*/ 0 h 155"/>
                  <a:gd name="T10" fmla="*/ 0 w 154"/>
                  <a:gd name="T11" fmla="*/ 0 h 155"/>
                  <a:gd name="T12" fmla="*/ 0 w 154"/>
                  <a:gd name="T13" fmla="*/ 0 h 155"/>
                  <a:gd name="T14" fmla="*/ 0 w 154"/>
                  <a:gd name="T15" fmla="*/ 0 h 155"/>
                  <a:gd name="T16" fmla="*/ 0 w 154"/>
                  <a:gd name="T17" fmla="*/ 0 h 155"/>
                  <a:gd name="T18" fmla="*/ 0 w 154"/>
                  <a:gd name="T19" fmla="*/ 0 h 155"/>
                  <a:gd name="T20" fmla="*/ 0 w 154"/>
                  <a:gd name="T21" fmla="*/ 0 h 155"/>
                  <a:gd name="T22" fmla="*/ 0 w 154"/>
                  <a:gd name="T23" fmla="*/ 0 h 155"/>
                  <a:gd name="T24" fmla="*/ 0 w 154"/>
                  <a:gd name="T25" fmla="*/ 0 h 155"/>
                  <a:gd name="T26" fmla="*/ 0 w 154"/>
                  <a:gd name="T27" fmla="*/ 0 h 155"/>
                  <a:gd name="T28" fmla="*/ 0 w 154"/>
                  <a:gd name="T29" fmla="*/ 0 h 155"/>
                  <a:gd name="T30" fmla="*/ 0 w 154"/>
                  <a:gd name="T31" fmla="*/ 0 h 155"/>
                  <a:gd name="T32" fmla="*/ 0 w 154"/>
                  <a:gd name="T33" fmla="*/ 0 h 155"/>
                  <a:gd name="T34" fmla="*/ 0 w 154"/>
                  <a:gd name="T35" fmla="*/ 0 h 155"/>
                  <a:gd name="T36" fmla="*/ 0 w 154"/>
                  <a:gd name="T37" fmla="*/ 0 h 15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4" h="155">
                    <a:moveTo>
                      <a:pt x="154" y="13"/>
                    </a:moveTo>
                    <a:lnTo>
                      <a:pt x="11" y="155"/>
                    </a:lnTo>
                    <a:lnTo>
                      <a:pt x="10" y="153"/>
                    </a:lnTo>
                    <a:lnTo>
                      <a:pt x="9" y="152"/>
                    </a:lnTo>
                    <a:lnTo>
                      <a:pt x="7" y="152"/>
                    </a:lnTo>
                    <a:lnTo>
                      <a:pt x="6" y="151"/>
                    </a:lnTo>
                    <a:lnTo>
                      <a:pt x="5" y="150"/>
                    </a:lnTo>
                    <a:lnTo>
                      <a:pt x="2" y="150"/>
                    </a:lnTo>
                    <a:lnTo>
                      <a:pt x="1" y="149"/>
                    </a:lnTo>
                    <a:lnTo>
                      <a:pt x="0" y="148"/>
                    </a:lnTo>
                    <a:lnTo>
                      <a:pt x="148" y="0"/>
                    </a:lnTo>
                    <a:lnTo>
                      <a:pt x="148" y="1"/>
                    </a:lnTo>
                    <a:lnTo>
                      <a:pt x="149" y="4"/>
                    </a:lnTo>
                    <a:lnTo>
                      <a:pt x="150" y="5"/>
                    </a:lnTo>
                    <a:lnTo>
                      <a:pt x="150" y="7"/>
                    </a:lnTo>
                    <a:lnTo>
                      <a:pt x="151" y="8"/>
                    </a:lnTo>
                    <a:lnTo>
                      <a:pt x="152" y="10"/>
                    </a:lnTo>
                    <a:lnTo>
                      <a:pt x="152" y="11"/>
                    </a:lnTo>
                    <a:lnTo>
                      <a:pt x="154" y="1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73" name="Freeform 2210"/>
              <p:cNvSpPr>
                <a:spLocks noChangeAspect="1"/>
              </p:cNvSpPr>
              <p:nvPr/>
            </p:nvSpPr>
            <p:spPr bwMode="auto">
              <a:xfrm>
                <a:off x="4867" y="2228"/>
                <a:ext cx="52" cy="52"/>
              </a:xfrm>
              <a:custGeom>
                <a:avLst/>
                <a:gdLst>
                  <a:gd name="T0" fmla="*/ 0 w 155"/>
                  <a:gd name="T1" fmla="*/ 0 h 156"/>
                  <a:gd name="T2" fmla="*/ 0 w 155"/>
                  <a:gd name="T3" fmla="*/ 0 h 156"/>
                  <a:gd name="T4" fmla="*/ 0 w 155"/>
                  <a:gd name="T5" fmla="*/ 0 h 156"/>
                  <a:gd name="T6" fmla="*/ 0 w 155"/>
                  <a:gd name="T7" fmla="*/ 0 h 156"/>
                  <a:gd name="T8" fmla="*/ 0 w 155"/>
                  <a:gd name="T9" fmla="*/ 0 h 156"/>
                  <a:gd name="T10" fmla="*/ 0 w 155"/>
                  <a:gd name="T11" fmla="*/ 0 h 156"/>
                  <a:gd name="T12" fmla="*/ 0 w 155"/>
                  <a:gd name="T13" fmla="*/ 0 h 156"/>
                  <a:gd name="T14" fmla="*/ 0 w 155"/>
                  <a:gd name="T15" fmla="*/ 0 h 156"/>
                  <a:gd name="T16" fmla="*/ 0 w 155"/>
                  <a:gd name="T17" fmla="*/ 0 h 156"/>
                  <a:gd name="T18" fmla="*/ 0 w 155"/>
                  <a:gd name="T19" fmla="*/ 0 h 156"/>
                  <a:gd name="T20" fmla="*/ 0 w 155"/>
                  <a:gd name="T21" fmla="*/ 0 h 156"/>
                  <a:gd name="T22" fmla="*/ 0 w 155"/>
                  <a:gd name="T23" fmla="*/ 0 h 156"/>
                  <a:gd name="T24" fmla="*/ 0 w 155"/>
                  <a:gd name="T25" fmla="*/ 0 h 156"/>
                  <a:gd name="T26" fmla="*/ 0 w 155"/>
                  <a:gd name="T27" fmla="*/ 0 h 156"/>
                  <a:gd name="T28" fmla="*/ 0 w 155"/>
                  <a:gd name="T29" fmla="*/ 0 h 156"/>
                  <a:gd name="T30" fmla="*/ 0 w 155"/>
                  <a:gd name="T31" fmla="*/ 0 h 156"/>
                  <a:gd name="T32" fmla="*/ 0 w 155"/>
                  <a:gd name="T33" fmla="*/ 0 h 156"/>
                  <a:gd name="T34" fmla="*/ 0 w 155"/>
                  <a:gd name="T35" fmla="*/ 0 h 156"/>
                  <a:gd name="T36" fmla="*/ 0 w 155"/>
                  <a:gd name="T37" fmla="*/ 0 h 1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5" h="156">
                    <a:moveTo>
                      <a:pt x="155" y="12"/>
                    </a:moveTo>
                    <a:lnTo>
                      <a:pt x="11" y="156"/>
                    </a:lnTo>
                    <a:lnTo>
                      <a:pt x="10" y="155"/>
                    </a:lnTo>
                    <a:lnTo>
                      <a:pt x="7" y="155"/>
                    </a:lnTo>
                    <a:lnTo>
                      <a:pt x="6" y="154"/>
                    </a:lnTo>
                    <a:lnTo>
                      <a:pt x="5" y="153"/>
                    </a:lnTo>
                    <a:lnTo>
                      <a:pt x="3" y="152"/>
                    </a:lnTo>
                    <a:lnTo>
                      <a:pt x="2" y="151"/>
                    </a:lnTo>
                    <a:lnTo>
                      <a:pt x="1" y="151"/>
                    </a:lnTo>
                    <a:lnTo>
                      <a:pt x="0" y="150"/>
                    </a:lnTo>
                    <a:lnTo>
                      <a:pt x="150" y="0"/>
                    </a:lnTo>
                    <a:lnTo>
                      <a:pt x="151" y="1"/>
                    </a:lnTo>
                    <a:lnTo>
                      <a:pt x="151" y="2"/>
                    </a:lnTo>
                    <a:lnTo>
                      <a:pt x="152" y="4"/>
                    </a:lnTo>
                    <a:lnTo>
                      <a:pt x="153" y="5"/>
                    </a:lnTo>
                    <a:lnTo>
                      <a:pt x="153" y="6"/>
                    </a:lnTo>
                    <a:lnTo>
                      <a:pt x="154" y="9"/>
                    </a:lnTo>
                    <a:lnTo>
                      <a:pt x="155" y="10"/>
                    </a:lnTo>
                    <a:lnTo>
                      <a:pt x="155" y="12"/>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74" name="Freeform 2211"/>
              <p:cNvSpPr>
                <a:spLocks noChangeAspect="1"/>
              </p:cNvSpPr>
              <p:nvPr/>
            </p:nvSpPr>
            <p:spPr bwMode="auto">
              <a:xfrm>
                <a:off x="4865" y="2226"/>
                <a:ext cx="53" cy="53"/>
              </a:xfrm>
              <a:custGeom>
                <a:avLst/>
                <a:gdLst>
                  <a:gd name="T0" fmla="*/ 0 w 158"/>
                  <a:gd name="T1" fmla="*/ 0 h 159"/>
                  <a:gd name="T2" fmla="*/ 0 w 158"/>
                  <a:gd name="T3" fmla="*/ 0 h 159"/>
                  <a:gd name="T4" fmla="*/ 0 w 158"/>
                  <a:gd name="T5" fmla="*/ 0 h 159"/>
                  <a:gd name="T6" fmla="*/ 0 w 158"/>
                  <a:gd name="T7" fmla="*/ 0 h 159"/>
                  <a:gd name="T8" fmla="*/ 0 w 158"/>
                  <a:gd name="T9" fmla="*/ 0 h 159"/>
                  <a:gd name="T10" fmla="*/ 0 w 158"/>
                  <a:gd name="T11" fmla="*/ 0 h 159"/>
                  <a:gd name="T12" fmla="*/ 0 w 158"/>
                  <a:gd name="T13" fmla="*/ 0 h 159"/>
                  <a:gd name="T14" fmla="*/ 0 w 158"/>
                  <a:gd name="T15" fmla="*/ 0 h 159"/>
                  <a:gd name="T16" fmla="*/ 0 w 158"/>
                  <a:gd name="T17" fmla="*/ 0 h 159"/>
                  <a:gd name="T18" fmla="*/ 0 w 158"/>
                  <a:gd name="T19" fmla="*/ 0 h 159"/>
                  <a:gd name="T20" fmla="*/ 0 w 158"/>
                  <a:gd name="T21" fmla="*/ 0 h 159"/>
                  <a:gd name="T22" fmla="*/ 0 w 158"/>
                  <a:gd name="T23" fmla="*/ 0 h 159"/>
                  <a:gd name="T24" fmla="*/ 0 w 158"/>
                  <a:gd name="T25" fmla="*/ 0 h 159"/>
                  <a:gd name="T26" fmla="*/ 0 w 158"/>
                  <a:gd name="T27" fmla="*/ 0 h 159"/>
                  <a:gd name="T28" fmla="*/ 0 w 158"/>
                  <a:gd name="T29" fmla="*/ 0 h 159"/>
                  <a:gd name="T30" fmla="*/ 0 w 158"/>
                  <a:gd name="T31" fmla="*/ 0 h 159"/>
                  <a:gd name="T32" fmla="*/ 0 w 158"/>
                  <a:gd name="T33" fmla="*/ 0 h 159"/>
                  <a:gd name="T34" fmla="*/ 0 w 158"/>
                  <a:gd name="T35" fmla="*/ 0 h 159"/>
                  <a:gd name="T36" fmla="*/ 0 w 158"/>
                  <a:gd name="T37" fmla="*/ 0 h 1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8" h="159">
                    <a:moveTo>
                      <a:pt x="158" y="11"/>
                    </a:moveTo>
                    <a:lnTo>
                      <a:pt x="10" y="159"/>
                    </a:lnTo>
                    <a:lnTo>
                      <a:pt x="8" y="158"/>
                    </a:lnTo>
                    <a:lnTo>
                      <a:pt x="7" y="157"/>
                    </a:lnTo>
                    <a:lnTo>
                      <a:pt x="6" y="157"/>
                    </a:lnTo>
                    <a:lnTo>
                      <a:pt x="5" y="156"/>
                    </a:lnTo>
                    <a:lnTo>
                      <a:pt x="4" y="155"/>
                    </a:lnTo>
                    <a:lnTo>
                      <a:pt x="2" y="154"/>
                    </a:lnTo>
                    <a:lnTo>
                      <a:pt x="1" y="153"/>
                    </a:lnTo>
                    <a:lnTo>
                      <a:pt x="0" y="152"/>
                    </a:lnTo>
                    <a:lnTo>
                      <a:pt x="152" y="0"/>
                    </a:lnTo>
                    <a:lnTo>
                      <a:pt x="153" y="2"/>
                    </a:lnTo>
                    <a:lnTo>
                      <a:pt x="153" y="3"/>
                    </a:lnTo>
                    <a:lnTo>
                      <a:pt x="154" y="4"/>
                    </a:lnTo>
                    <a:lnTo>
                      <a:pt x="155" y="6"/>
                    </a:lnTo>
                    <a:lnTo>
                      <a:pt x="156" y="7"/>
                    </a:lnTo>
                    <a:lnTo>
                      <a:pt x="156" y="8"/>
                    </a:lnTo>
                    <a:lnTo>
                      <a:pt x="157" y="10"/>
                    </a:lnTo>
                    <a:lnTo>
                      <a:pt x="158" y="1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75" name="Freeform 2212"/>
              <p:cNvSpPr>
                <a:spLocks noChangeAspect="1"/>
              </p:cNvSpPr>
              <p:nvPr/>
            </p:nvSpPr>
            <p:spPr bwMode="auto">
              <a:xfrm>
                <a:off x="4864" y="2224"/>
                <a:ext cx="53" cy="54"/>
              </a:xfrm>
              <a:custGeom>
                <a:avLst/>
                <a:gdLst>
                  <a:gd name="T0" fmla="*/ 0 w 160"/>
                  <a:gd name="T1" fmla="*/ 0 h 162"/>
                  <a:gd name="T2" fmla="*/ 0 w 160"/>
                  <a:gd name="T3" fmla="*/ 0 h 162"/>
                  <a:gd name="T4" fmla="*/ 0 w 160"/>
                  <a:gd name="T5" fmla="*/ 0 h 162"/>
                  <a:gd name="T6" fmla="*/ 0 w 160"/>
                  <a:gd name="T7" fmla="*/ 0 h 162"/>
                  <a:gd name="T8" fmla="*/ 0 w 160"/>
                  <a:gd name="T9" fmla="*/ 0 h 162"/>
                  <a:gd name="T10" fmla="*/ 0 w 160"/>
                  <a:gd name="T11" fmla="*/ 0 h 162"/>
                  <a:gd name="T12" fmla="*/ 0 w 160"/>
                  <a:gd name="T13" fmla="*/ 0 h 162"/>
                  <a:gd name="T14" fmla="*/ 0 w 160"/>
                  <a:gd name="T15" fmla="*/ 0 h 162"/>
                  <a:gd name="T16" fmla="*/ 0 w 160"/>
                  <a:gd name="T17" fmla="*/ 0 h 162"/>
                  <a:gd name="T18" fmla="*/ 0 w 160"/>
                  <a:gd name="T19" fmla="*/ 0 h 162"/>
                  <a:gd name="T20" fmla="*/ 0 w 160"/>
                  <a:gd name="T21" fmla="*/ 0 h 162"/>
                  <a:gd name="T22" fmla="*/ 0 w 160"/>
                  <a:gd name="T23" fmla="*/ 0 h 162"/>
                  <a:gd name="T24" fmla="*/ 0 w 160"/>
                  <a:gd name="T25" fmla="*/ 0 h 162"/>
                  <a:gd name="T26" fmla="*/ 0 w 160"/>
                  <a:gd name="T27" fmla="*/ 0 h 162"/>
                  <a:gd name="T28" fmla="*/ 0 w 160"/>
                  <a:gd name="T29" fmla="*/ 0 h 162"/>
                  <a:gd name="T30" fmla="*/ 0 w 160"/>
                  <a:gd name="T31" fmla="*/ 0 h 162"/>
                  <a:gd name="T32" fmla="*/ 0 w 160"/>
                  <a:gd name="T33" fmla="*/ 0 h 162"/>
                  <a:gd name="T34" fmla="*/ 0 w 160"/>
                  <a:gd name="T35" fmla="*/ 0 h 162"/>
                  <a:gd name="T36" fmla="*/ 0 w 160"/>
                  <a:gd name="T37" fmla="*/ 0 h 1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0" h="162">
                    <a:moveTo>
                      <a:pt x="160" y="12"/>
                    </a:moveTo>
                    <a:lnTo>
                      <a:pt x="10" y="162"/>
                    </a:lnTo>
                    <a:lnTo>
                      <a:pt x="9" y="161"/>
                    </a:lnTo>
                    <a:lnTo>
                      <a:pt x="7" y="160"/>
                    </a:lnTo>
                    <a:lnTo>
                      <a:pt x="6" y="159"/>
                    </a:lnTo>
                    <a:lnTo>
                      <a:pt x="5" y="158"/>
                    </a:lnTo>
                    <a:lnTo>
                      <a:pt x="4" y="157"/>
                    </a:lnTo>
                    <a:lnTo>
                      <a:pt x="3" y="156"/>
                    </a:lnTo>
                    <a:lnTo>
                      <a:pt x="1" y="155"/>
                    </a:lnTo>
                    <a:lnTo>
                      <a:pt x="0" y="153"/>
                    </a:lnTo>
                    <a:lnTo>
                      <a:pt x="154" y="0"/>
                    </a:lnTo>
                    <a:lnTo>
                      <a:pt x="154" y="2"/>
                    </a:lnTo>
                    <a:lnTo>
                      <a:pt x="155" y="4"/>
                    </a:lnTo>
                    <a:lnTo>
                      <a:pt x="156" y="5"/>
                    </a:lnTo>
                    <a:lnTo>
                      <a:pt x="157" y="6"/>
                    </a:lnTo>
                    <a:lnTo>
                      <a:pt x="158" y="8"/>
                    </a:lnTo>
                    <a:lnTo>
                      <a:pt x="158" y="9"/>
                    </a:lnTo>
                    <a:lnTo>
                      <a:pt x="159" y="10"/>
                    </a:lnTo>
                    <a:lnTo>
                      <a:pt x="160" y="12"/>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76" name="Freeform 2213"/>
              <p:cNvSpPr>
                <a:spLocks noChangeAspect="1"/>
              </p:cNvSpPr>
              <p:nvPr/>
            </p:nvSpPr>
            <p:spPr bwMode="auto">
              <a:xfrm>
                <a:off x="4862" y="2223"/>
                <a:ext cx="54" cy="54"/>
              </a:xfrm>
              <a:custGeom>
                <a:avLst/>
                <a:gdLst>
                  <a:gd name="T0" fmla="*/ 0 w 162"/>
                  <a:gd name="T1" fmla="*/ 0 h 162"/>
                  <a:gd name="T2" fmla="*/ 0 w 162"/>
                  <a:gd name="T3" fmla="*/ 0 h 162"/>
                  <a:gd name="T4" fmla="*/ 0 w 162"/>
                  <a:gd name="T5" fmla="*/ 0 h 162"/>
                  <a:gd name="T6" fmla="*/ 0 w 162"/>
                  <a:gd name="T7" fmla="*/ 0 h 162"/>
                  <a:gd name="T8" fmla="*/ 0 w 162"/>
                  <a:gd name="T9" fmla="*/ 0 h 162"/>
                  <a:gd name="T10" fmla="*/ 0 w 162"/>
                  <a:gd name="T11" fmla="*/ 0 h 162"/>
                  <a:gd name="T12" fmla="*/ 0 w 162"/>
                  <a:gd name="T13" fmla="*/ 0 h 162"/>
                  <a:gd name="T14" fmla="*/ 0 w 162"/>
                  <a:gd name="T15" fmla="*/ 0 h 162"/>
                  <a:gd name="T16" fmla="*/ 0 w 162"/>
                  <a:gd name="T17" fmla="*/ 0 h 162"/>
                  <a:gd name="T18" fmla="*/ 0 w 162"/>
                  <a:gd name="T19" fmla="*/ 0 h 162"/>
                  <a:gd name="T20" fmla="*/ 0 w 162"/>
                  <a:gd name="T21" fmla="*/ 0 h 162"/>
                  <a:gd name="T22" fmla="*/ 0 w 162"/>
                  <a:gd name="T23" fmla="*/ 0 h 162"/>
                  <a:gd name="T24" fmla="*/ 0 w 162"/>
                  <a:gd name="T25" fmla="*/ 0 h 162"/>
                  <a:gd name="T26" fmla="*/ 0 w 162"/>
                  <a:gd name="T27" fmla="*/ 0 h 162"/>
                  <a:gd name="T28" fmla="*/ 0 w 162"/>
                  <a:gd name="T29" fmla="*/ 0 h 162"/>
                  <a:gd name="T30" fmla="*/ 0 w 162"/>
                  <a:gd name="T31" fmla="*/ 0 h 162"/>
                  <a:gd name="T32" fmla="*/ 0 w 162"/>
                  <a:gd name="T33" fmla="*/ 0 h 162"/>
                  <a:gd name="T34" fmla="*/ 0 w 162"/>
                  <a:gd name="T35" fmla="*/ 0 h 162"/>
                  <a:gd name="T36" fmla="*/ 0 w 162"/>
                  <a:gd name="T37" fmla="*/ 0 h 1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162">
                    <a:moveTo>
                      <a:pt x="162" y="10"/>
                    </a:moveTo>
                    <a:lnTo>
                      <a:pt x="10" y="162"/>
                    </a:lnTo>
                    <a:lnTo>
                      <a:pt x="9" y="161"/>
                    </a:lnTo>
                    <a:lnTo>
                      <a:pt x="8" y="160"/>
                    </a:lnTo>
                    <a:lnTo>
                      <a:pt x="6" y="159"/>
                    </a:lnTo>
                    <a:lnTo>
                      <a:pt x="5" y="159"/>
                    </a:lnTo>
                    <a:lnTo>
                      <a:pt x="3" y="157"/>
                    </a:lnTo>
                    <a:lnTo>
                      <a:pt x="2" y="156"/>
                    </a:lnTo>
                    <a:lnTo>
                      <a:pt x="1" y="155"/>
                    </a:lnTo>
                    <a:lnTo>
                      <a:pt x="0" y="154"/>
                    </a:lnTo>
                    <a:lnTo>
                      <a:pt x="154" y="0"/>
                    </a:lnTo>
                    <a:lnTo>
                      <a:pt x="155" y="1"/>
                    </a:lnTo>
                    <a:lnTo>
                      <a:pt x="157" y="2"/>
                    </a:lnTo>
                    <a:lnTo>
                      <a:pt x="158" y="3"/>
                    </a:lnTo>
                    <a:lnTo>
                      <a:pt x="159" y="4"/>
                    </a:lnTo>
                    <a:lnTo>
                      <a:pt x="159" y="6"/>
                    </a:lnTo>
                    <a:lnTo>
                      <a:pt x="160" y="8"/>
                    </a:lnTo>
                    <a:lnTo>
                      <a:pt x="161" y="9"/>
                    </a:lnTo>
                    <a:lnTo>
                      <a:pt x="162" y="1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77" name="Freeform 2214"/>
              <p:cNvSpPr>
                <a:spLocks noChangeAspect="1"/>
              </p:cNvSpPr>
              <p:nvPr/>
            </p:nvSpPr>
            <p:spPr bwMode="auto">
              <a:xfrm>
                <a:off x="4861" y="2221"/>
                <a:ext cx="54" cy="54"/>
              </a:xfrm>
              <a:custGeom>
                <a:avLst/>
                <a:gdLst>
                  <a:gd name="T0" fmla="*/ 0 w 163"/>
                  <a:gd name="T1" fmla="*/ 0 h 162"/>
                  <a:gd name="T2" fmla="*/ 0 w 163"/>
                  <a:gd name="T3" fmla="*/ 0 h 162"/>
                  <a:gd name="T4" fmla="*/ 0 w 163"/>
                  <a:gd name="T5" fmla="*/ 0 h 162"/>
                  <a:gd name="T6" fmla="*/ 0 w 163"/>
                  <a:gd name="T7" fmla="*/ 0 h 162"/>
                  <a:gd name="T8" fmla="*/ 0 w 163"/>
                  <a:gd name="T9" fmla="*/ 0 h 162"/>
                  <a:gd name="T10" fmla="*/ 0 w 163"/>
                  <a:gd name="T11" fmla="*/ 0 h 162"/>
                  <a:gd name="T12" fmla="*/ 0 w 163"/>
                  <a:gd name="T13" fmla="*/ 0 h 162"/>
                  <a:gd name="T14" fmla="*/ 0 w 163"/>
                  <a:gd name="T15" fmla="*/ 0 h 162"/>
                  <a:gd name="T16" fmla="*/ 0 w 163"/>
                  <a:gd name="T17" fmla="*/ 0 h 162"/>
                  <a:gd name="T18" fmla="*/ 0 w 163"/>
                  <a:gd name="T19" fmla="*/ 0 h 162"/>
                  <a:gd name="T20" fmla="*/ 0 w 163"/>
                  <a:gd name="T21" fmla="*/ 0 h 162"/>
                  <a:gd name="T22" fmla="*/ 0 w 163"/>
                  <a:gd name="T23" fmla="*/ 0 h 162"/>
                  <a:gd name="T24" fmla="*/ 0 w 163"/>
                  <a:gd name="T25" fmla="*/ 0 h 162"/>
                  <a:gd name="T26" fmla="*/ 0 w 163"/>
                  <a:gd name="T27" fmla="*/ 0 h 162"/>
                  <a:gd name="T28" fmla="*/ 0 w 163"/>
                  <a:gd name="T29" fmla="*/ 0 h 162"/>
                  <a:gd name="T30" fmla="*/ 0 w 163"/>
                  <a:gd name="T31" fmla="*/ 0 h 162"/>
                  <a:gd name="T32" fmla="*/ 0 w 163"/>
                  <a:gd name="T33" fmla="*/ 0 h 162"/>
                  <a:gd name="T34" fmla="*/ 0 w 163"/>
                  <a:gd name="T35" fmla="*/ 0 h 162"/>
                  <a:gd name="T36" fmla="*/ 0 w 163"/>
                  <a:gd name="T37" fmla="*/ 0 h 1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3" h="162">
                    <a:moveTo>
                      <a:pt x="163" y="9"/>
                    </a:moveTo>
                    <a:lnTo>
                      <a:pt x="9" y="162"/>
                    </a:lnTo>
                    <a:lnTo>
                      <a:pt x="7" y="162"/>
                    </a:lnTo>
                    <a:lnTo>
                      <a:pt x="6" y="161"/>
                    </a:lnTo>
                    <a:lnTo>
                      <a:pt x="5" y="160"/>
                    </a:lnTo>
                    <a:lnTo>
                      <a:pt x="4" y="159"/>
                    </a:lnTo>
                    <a:lnTo>
                      <a:pt x="3" y="158"/>
                    </a:lnTo>
                    <a:lnTo>
                      <a:pt x="2" y="156"/>
                    </a:lnTo>
                    <a:lnTo>
                      <a:pt x="1" y="155"/>
                    </a:lnTo>
                    <a:lnTo>
                      <a:pt x="0" y="154"/>
                    </a:lnTo>
                    <a:lnTo>
                      <a:pt x="154" y="0"/>
                    </a:lnTo>
                    <a:lnTo>
                      <a:pt x="155" y="1"/>
                    </a:lnTo>
                    <a:lnTo>
                      <a:pt x="156" y="3"/>
                    </a:lnTo>
                    <a:lnTo>
                      <a:pt x="157" y="4"/>
                    </a:lnTo>
                    <a:lnTo>
                      <a:pt x="158" y="5"/>
                    </a:lnTo>
                    <a:lnTo>
                      <a:pt x="159" y="6"/>
                    </a:lnTo>
                    <a:lnTo>
                      <a:pt x="161" y="7"/>
                    </a:lnTo>
                    <a:lnTo>
                      <a:pt x="162" y="8"/>
                    </a:lnTo>
                    <a:lnTo>
                      <a:pt x="163" y="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78" name="Freeform 2215"/>
              <p:cNvSpPr>
                <a:spLocks noChangeAspect="1"/>
              </p:cNvSpPr>
              <p:nvPr/>
            </p:nvSpPr>
            <p:spPr bwMode="auto">
              <a:xfrm>
                <a:off x="4860" y="2220"/>
                <a:ext cx="53" cy="54"/>
              </a:xfrm>
              <a:custGeom>
                <a:avLst/>
                <a:gdLst>
                  <a:gd name="T0" fmla="*/ 0 w 161"/>
                  <a:gd name="T1" fmla="*/ 0 h 163"/>
                  <a:gd name="T2" fmla="*/ 0 w 161"/>
                  <a:gd name="T3" fmla="*/ 0 h 163"/>
                  <a:gd name="T4" fmla="*/ 0 w 161"/>
                  <a:gd name="T5" fmla="*/ 0 h 163"/>
                  <a:gd name="T6" fmla="*/ 0 w 161"/>
                  <a:gd name="T7" fmla="*/ 0 h 163"/>
                  <a:gd name="T8" fmla="*/ 0 w 161"/>
                  <a:gd name="T9" fmla="*/ 0 h 163"/>
                  <a:gd name="T10" fmla="*/ 0 w 161"/>
                  <a:gd name="T11" fmla="*/ 0 h 163"/>
                  <a:gd name="T12" fmla="*/ 0 w 161"/>
                  <a:gd name="T13" fmla="*/ 0 h 163"/>
                  <a:gd name="T14" fmla="*/ 0 w 161"/>
                  <a:gd name="T15" fmla="*/ 0 h 163"/>
                  <a:gd name="T16" fmla="*/ 0 w 161"/>
                  <a:gd name="T17" fmla="*/ 0 h 163"/>
                  <a:gd name="T18" fmla="*/ 0 w 161"/>
                  <a:gd name="T19" fmla="*/ 0 h 163"/>
                  <a:gd name="T20" fmla="*/ 0 w 161"/>
                  <a:gd name="T21" fmla="*/ 0 h 163"/>
                  <a:gd name="T22" fmla="*/ 0 w 161"/>
                  <a:gd name="T23" fmla="*/ 0 h 163"/>
                  <a:gd name="T24" fmla="*/ 0 w 161"/>
                  <a:gd name="T25" fmla="*/ 0 h 163"/>
                  <a:gd name="T26" fmla="*/ 0 w 161"/>
                  <a:gd name="T27" fmla="*/ 0 h 163"/>
                  <a:gd name="T28" fmla="*/ 0 w 161"/>
                  <a:gd name="T29" fmla="*/ 0 h 163"/>
                  <a:gd name="T30" fmla="*/ 0 w 161"/>
                  <a:gd name="T31" fmla="*/ 0 h 163"/>
                  <a:gd name="T32" fmla="*/ 0 w 161"/>
                  <a:gd name="T33" fmla="*/ 0 h 163"/>
                  <a:gd name="T34" fmla="*/ 0 w 161"/>
                  <a:gd name="T35" fmla="*/ 0 h 163"/>
                  <a:gd name="T36" fmla="*/ 0 w 161"/>
                  <a:gd name="T37" fmla="*/ 0 h 16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1" h="163">
                    <a:moveTo>
                      <a:pt x="161" y="9"/>
                    </a:moveTo>
                    <a:lnTo>
                      <a:pt x="7" y="163"/>
                    </a:lnTo>
                    <a:lnTo>
                      <a:pt x="6" y="161"/>
                    </a:lnTo>
                    <a:lnTo>
                      <a:pt x="5" y="160"/>
                    </a:lnTo>
                    <a:lnTo>
                      <a:pt x="4" y="159"/>
                    </a:lnTo>
                    <a:lnTo>
                      <a:pt x="3" y="158"/>
                    </a:lnTo>
                    <a:lnTo>
                      <a:pt x="2" y="157"/>
                    </a:lnTo>
                    <a:lnTo>
                      <a:pt x="1" y="156"/>
                    </a:lnTo>
                    <a:lnTo>
                      <a:pt x="0" y="155"/>
                    </a:lnTo>
                    <a:lnTo>
                      <a:pt x="0" y="154"/>
                    </a:lnTo>
                    <a:lnTo>
                      <a:pt x="153" y="0"/>
                    </a:lnTo>
                    <a:lnTo>
                      <a:pt x="154" y="1"/>
                    </a:lnTo>
                    <a:lnTo>
                      <a:pt x="155" y="2"/>
                    </a:lnTo>
                    <a:lnTo>
                      <a:pt x="156" y="3"/>
                    </a:lnTo>
                    <a:lnTo>
                      <a:pt x="157" y="4"/>
                    </a:lnTo>
                    <a:lnTo>
                      <a:pt x="158" y="5"/>
                    </a:lnTo>
                    <a:lnTo>
                      <a:pt x="159" y="7"/>
                    </a:lnTo>
                    <a:lnTo>
                      <a:pt x="160" y="8"/>
                    </a:lnTo>
                    <a:lnTo>
                      <a:pt x="161" y="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79" name="Freeform 2216"/>
              <p:cNvSpPr>
                <a:spLocks noChangeAspect="1"/>
              </p:cNvSpPr>
              <p:nvPr/>
            </p:nvSpPr>
            <p:spPr bwMode="auto">
              <a:xfrm>
                <a:off x="4858" y="2218"/>
                <a:ext cx="54" cy="54"/>
              </a:xfrm>
              <a:custGeom>
                <a:avLst/>
                <a:gdLst>
                  <a:gd name="T0" fmla="*/ 0 w 162"/>
                  <a:gd name="T1" fmla="*/ 0 h 163"/>
                  <a:gd name="T2" fmla="*/ 0 w 162"/>
                  <a:gd name="T3" fmla="*/ 0 h 163"/>
                  <a:gd name="T4" fmla="*/ 0 w 162"/>
                  <a:gd name="T5" fmla="*/ 0 h 163"/>
                  <a:gd name="T6" fmla="*/ 0 w 162"/>
                  <a:gd name="T7" fmla="*/ 0 h 163"/>
                  <a:gd name="T8" fmla="*/ 0 w 162"/>
                  <a:gd name="T9" fmla="*/ 0 h 163"/>
                  <a:gd name="T10" fmla="*/ 0 w 162"/>
                  <a:gd name="T11" fmla="*/ 0 h 163"/>
                  <a:gd name="T12" fmla="*/ 0 w 162"/>
                  <a:gd name="T13" fmla="*/ 0 h 163"/>
                  <a:gd name="T14" fmla="*/ 0 w 162"/>
                  <a:gd name="T15" fmla="*/ 0 h 163"/>
                  <a:gd name="T16" fmla="*/ 0 w 162"/>
                  <a:gd name="T17" fmla="*/ 0 h 163"/>
                  <a:gd name="T18" fmla="*/ 0 w 162"/>
                  <a:gd name="T19" fmla="*/ 0 h 163"/>
                  <a:gd name="T20" fmla="*/ 0 w 162"/>
                  <a:gd name="T21" fmla="*/ 0 h 163"/>
                  <a:gd name="T22" fmla="*/ 0 w 162"/>
                  <a:gd name="T23" fmla="*/ 0 h 163"/>
                  <a:gd name="T24" fmla="*/ 0 w 162"/>
                  <a:gd name="T25" fmla="*/ 0 h 163"/>
                  <a:gd name="T26" fmla="*/ 0 w 162"/>
                  <a:gd name="T27" fmla="*/ 0 h 163"/>
                  <a:gd name="T28" fmla="*/ 0 w 162"/>
                  <a:gd name="T29" fmla="*/ 0 h 163"/>
                  <a:gd name="T30" fmla="*/ 0 w 162"/>
                  <a:gd name="T31" fmla="*/ 0 h 163"/>
                  <a:gd name="T32" fmla="*/ 0 w 162"/>
                  <a:gd name="T33" fmla="*/ 0 h 163"/>
                  <a:gd name="T34" fmla="*/ 0 w 162"/>
                  <a:gd name="T35" fmla="*/ 0 h 163"/>
                  <a:gd name="T36" fmla="*/ 0 w 162"/>
                  <a:gd name="T37" fmla="*/ 0 h 16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163">
                    <a:moveTo>
                      <a:pt x="162" y="9"/>
                    </a:moveTo>
                    <a:lnTo>
                      <a:pt x="8" y="163"/>
                    </a:lnTo>
                    <a:lnTo>
                      <a:pt x="7" y="162"/>
                    </a:lnTo>
                    <a:lnTo>
                      <a:pt x="6" y="161"/>
                    </a:lnTo>
                    <a:lnTo>
                      <a:pt x="5" y="160"/>
                    </a:lnTo>
                    <a:lnTo>
                      <a:pt x="5" y="159"/>
                    </a:lnTo>
                    <a:lnTo>
                      <a:pt x="4" y="158"/>
                    </a:lnTo>
                    <a:lnTo>
                      <a:pt x="2" y="157"/>
                    </a:lnTo>
                    <a:lnTo>
                      <a:pt x="1" y="154"/>
                    </a:lnTo>
                    <a:lnTo>
                      <a:pt x="0" y="153"/>
                    </a:lnTo>
                    <a:lnTo>
                      <a:pt x="154" y="0"/>
                    </a:lnTo>
                    <a:lnTo>
                      <a:pt x="155" y="1"/>
                    </a:lnTo>
                    <a:lnTo>
                      <a:pt x="156" y="2"/>
                    </a:lnTo>
                    <a:lnTo>
                      <a:pt x="157" y="3"/>
                    </a:lnTo>
                    <a:lnTo>
                      <a:pt x="158" y="5"/>
                    </a:lnTo>
                    <a:lnTo>
                      <a:pt x="159" y="6"/>
                    </a:lnTo>
                    <a:lnTo>
                      <a:pt x="160" y="7"/>
                    </a:lnTo>
                    <a:lnTo>
                      <a:pt x="161" y="8"/>
                    </a:lnTo>
                    <a:lnTo>
                      <a:pt x="162" y="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80" name="Freeform 2217"/>
              <p:cNvSpPr>
                <a:spLocks noChangeAspect="1"/>
              </p:cNvSpPr>
              <p:nvPr/>
            </p:nvSpPr>
            <p:spPr bwMode="auto">
              <a:xfrm>
                <a:off x="4857" y="2217"/>
                <a:ext cx="54" cy="54"/>
              </a:xfrm>
              <a:custGeom>
                <a:avLst/>
                <a:gdLst>
                  <a:gd name="T0" fmla="*/ 0 w 161"/>
                  <a:gd name="T1" fmla="*/ 0 h 163"/>
                  <a:gd name="T2" fmla="*/ 0 w 161"/>
                  <a:gd name="T3" fmla="*/ 0 h 163"/>
                  <a:gd name="T4" fmla="*/ 0 w 161"/>
                  <a:gd name="T5" fmla="*/ 0 h 163"/>
                  <a:gd name="T6" fmla="*/ 0 w 161"/>
                  <a:gd name="T7" fmla="*/ 0 h 163"/>
                  <a:gd name="T8" fmla="*/ 0 w 161"/>
                  <a:gd name="T9" fmla="*/ 0 h 163"/>
                  <a:gd name="T10" fmla="*/ 0 w 161"/>
                  <a:gd name="T11" fmla="*/ 0 h 163"/>
                  <a:gd name="T12" fmla="*/ 0 w 161"/>
                  <a:gd name="T13" fmla="*/ 0 h 163"/>
                  <a:gd name="T14" fmla="*/ 0 w 161"/>
                  <a:gd name="T15" fmla="*/ 0 h 163"/>
                  <a:gd name="T16" fmla="*/ 0 w 161"/>
                  <a:gd name="T17" fmla="*/ 0 h 163"/>
                  <a:gd name="T18" fmla="*/ 0 w 161"/>
                  <a:gd name="T19" fmla="*/ 0 h 163"/>
                  <a:gd name="T20" fmla="*/ 0 w 161"/>
                  <a:gd name="T21" fmla="*/ 0 h 163"/>
                  <a:gd name="T22" fmla="*/ 0 w 161"/>
                  <a:gd name="T23" fmla="*/ 0 h 163"/>
                  <a:gd name="T24" fmla="*/ 0 w 161"/>
                  <a:gd name="T25" fmla="*/ 0 h 163"/>
                  <a:gd name="T26" fmla="*/ 0 w 161"/>
                  <a:gd name="T27" fmla="*/ 0 h 163"/>
                  <a:gd name="T28" fmla="*/ 0 w 161"/>
                  <a:gd name="T29" fmla="*/ 0 h 163"/>
                  <a:gd name="T30" fmla="*/ 0 w 161"/>
                  <a:gd name="T31" fmla="*/ 0 h 163"/>
                  <a:gd name="T32" fmla="*/ 0 w 161"/>
                  <a:gd name="T33" fmla="*/ 0 h 163"/>
                  <a:gd name="T34" fmla="*/ 0 w 161"/>
                  <a:gd name="T35" fmla="*/ 0 h 163"/>
                  <a:gd name="T36" fmla="*/ 0 w 161"/>
                  <a:gd name="T37" fmla="*/ 0 h 16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1" h="163">
                    <a:moveTo>
                      <a:pt x="161" y="9"/>
                    </a:moveTo>
                    <a:lnTo>
                      <a:pt x="8" y="163"/>
                    </a:lnTo>
                    <a:lnTo>
                      <a:pt x="7" y="162"/>
                    </a:lnTo>
                    <a:lnTo>
                      <a:pt x="5" y="161"/>
                    </a:lnTo>
                    <a:lnTo>
                      <a:pt x="4" y="158"/>
                    </a:lnTo>
                    <a:lnTo>
                      <a:pt x="3" y="157"/>
                    </a:lnTo>
                    <a:lnTo>
                      <a:pt x="2" y="156"/>
                    </a:lnTo>
                    <a:lnTo>
                      <a:pt x="1" y="155"/>
                    </a:lnTo>
                    <a:lnTo>
                      <a:pt x="0" y="154"/>
                    </a:lnTo>
                    <a:lnTo>
                      <a:pt x="0" y="152"/>
                    </a:lnTo>
                    <a:lnTo>
                      <a:pt x="152" y="0"/>
                    </a:lnTo>
                    <a:lnTo>
                      <a:pt x="153" y="1"/>
                    </a:lnTo>
                    <a:lnTo>
                      <a:pt x="154" y="2"/>
                    </a:lnTo>
                    <a:lnTo>
                      <a:pt x="156" y="3"/>
                    </a:lnTo>
                    <a:lnTo>
                      <a:pt x="157" y="4"/>
                    </a:lnTo>
                    <a:lnTo>
                      <a:pt x="158" y="5"/>
                    </a:lnTo>
                    <a:lnTo>
                      <a:pt x="159" y="6"/>
                    </a:lnTo>
                    <a:lnTo>
                      <a:pt x="160" y="7"/>
                    </a:lnTo>
                    <a:lnTo>
                      <a:pt x="161" y="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81" name="Freeform 2218"/>
              <p:cNvSpPr>
                <a:spLocks noChangeAspect="1"/>
              </p:cNvSpPr>
              <p:nvPr/>
            </p:nvSpPr>
            <p:spPr bwMode="auto">
              <a:xfrm>
                <a:off x="4856" y="2216"/>
                <a:ext cx="53" cy="53"/>
              </a:xfrm>
              <a:custGeom>
                <a:avLst/>
                <a:gdLst>
                  <a:gd name="T0" fmla="*/ 0 w 160"/>
                  <a:gd name="T1" fmla="*/ 0 h 160"/>
                  <a:gd name="T2" fmla="*/ 0 w 160"/>
                  <a:gd name="T3" fmla="*/ 0 h 160"/>
                  <a:gd name="T4" fmla="*/ 0 w 160"/>
                  <a:gd name="T5" fmla="*/ 0 h 160"/>
                  <a:gd name="T6" fmla="*/ 0 w 160"/>
                  <a:gd name="T7" fmla="*/ 0 h 160"/>
                  <a:gd name="T8" fmla="*/ 0 w 160"/>
                  <a:gd name="T9" fmla="*/ 0 h 160"/>
                  <a:gd name="T10" fmla="*/ 0 w 160"/>
                  <a:gd name="T11" fmla="*/ 0 h 160"/>
                  <a:gd name="T12" fmla="*/ 0 w 160"/>
                  <a:gd name="T13" fmla="*/ 0 h 160"/>
                  <a:gd name="T14" fmla="*/ 0 w 160"/>
                  <a:gd name="T15" fmla="*/ 0 h 160"/>
                  <a:gd name="T16" fmla="*/ 0 w 160"/>
                  <a:gd name="T17" fmla="*/ 0 h 160"/>
                  <a:gd name="T18" fmla="*/ 0 w 160"/>
                  <a:gd name="T19" fmla="*/ 0 h 160"/>
                  <a:gd name="T20" fmla="*/ 0 w 160"/>
                  <a:gd name="T21" fmla="*/ 0 h 160"/>
                  <a:gd name="T22" fmla="*/ 0 w 160"/>
                  <a:gd name="T23" fmla="*/ 0 h 160"/>
                  <a:gd name="T24" fmla="*/ 0 w 160"/>
                  <a:gd name="T25" fmla="*/ 0 h 160"/>
                  <a:gd name="T26" fmla="*/ 0 w 160"/>
                  <a:gd name="T27" fmla="*/ 0 h 160"/>
                  <a:gd name="T28" fmla="*/ 0 w 160"/>
                  <a:gd name="T29" fmla="*/ 0 h 160"/>
                  <a:gd name="T30" fmla="*/ 0 w 160"/>
                  <a:gd name="T31" fmla="*/ 0 h 160"/>
                  <a:gd name="T32" fmla="*/ 0 w 160"/>
                  <a:gd name="T33" fmla="*/ 0 h 160"/>
                  <a:gd name="T34" fmla="*/ 0 w 160"/>
                  <a:gd name="T35" fmla="*/ 0 h 160"/>
                  <a:gd name="T36" fmla="*/ 0 w 160"/>
                  <a:gd name="T37" fmla="*/ 0 h 16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0" h="160">
                    <a:moveTo>
                      <a:pt x="160" y="7"/>
                    </a:moveTo>
                    <a:lnTo>
                      <a:pt x="6" y="160"/>
                    </a:lnTo>
                    <a:lnTo>
                      <a:pt x="5" y="159"/>
                    </a:lnTo>
                    <a:lnTo>
                      <a:pt x="4" y="158"/>
                    </a:lnTo>
                    <a:lnTo>
                      <a:pt x="3" y="157"/>
                    </a:lnTo>
                    <a:lnTo>
                      <a:pt x="3" y="155"/>
                    </a:lnTo>
                    <a:lnTo>
                      <a:pt x="2" y="154"/>
                    </a:lnTo>
                    <a:lnTo>
                      <a:pt x="1" y="153"/>
                    </a:lnTo>
                    <a:lnTo>
                      <a:pt x="0" y="151"/>
                    </a:lnTo>
                    <a:lnTo>
                      <a:pt x="0" y="150"/>
                    </a:lnTo>
                    <a:lnTo>
                      <a:pt x="150" y="0"/>
                    </a:lnTo>
                    <a:lnTo>
                      <a:pt x="151" y="1"/>
                    </a:lnTo>
                    <a:lnTo>
                      <a:pt x="152" y="2"/>
                    </a:lnTo>
                    <a:lnTo>
                      <a:pt x="153" y="2"/>
                    </a:lnTo>
                    <a:lnTo>
                      <a:pt x="155" y="3"/>
                    </a:lnTo>
                    <a:lnTo>
                      <a:pt x="156" y="4"/>
                    </a:lnTo>
                    <a:lnTo>
                      <a:pt x="157" y="5"/>
                    </a:lnTo>
                    <a:lnTo>
                      <a:pt x="159" y="6"/>
                    </a:lnTo>
                    <a:lnTo>
                      <a:pt x="160" y="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82" name="Freeform 2219"/>
              <p:cNvSpPr>
                <a:spLocks noChangeAspect="1"/>
              </p:cNvSpPr>
              <p:nvPr/>
            </p:nvSpPr>
            <p:spPr bwMode="auto">
              <a:xfrm>
                <a:off x="4855" y="2215"/>
                <a:ext cx="53" cy="52"/>
              </a:xfrm>
              <a:custGeom>
                <a:avLst/>
                <a:gdLst>
                  <a:gd name="T0" fmla="*/ 0 w 158"/>
                  <a:gd name="T1" fmla="*/ 0 h 158"/>
                  <a:gd name="T2" fmla="*/ 0 w 158"/>
                  <a:gd name="T3" fmla="*/ 0 h 158"/>
                  <a:gd name="T4" fmla="*/ 0 w 158"/>
                  <a:gd name="T5" fmla="*/ 0 h 158"/>
                  <a:gd name="T6" fmla="*/ 0 w 158"/>
                  <a:gd name="T7" fmla="*/ 0 h 158"/>
                  <a:gd name="T8" fmla="*/ 0 w 158"/>
                  <a:gd name="T9" fmla="*/ 0 h 158"/>
                  <a:gd name="T10" fmla="*/ 0 w 158"/>
                  <a:gd name="T11" fmla="*/ 0 h 158"/>
                  <a:gd name="T12" fmla="*/ 0 w 158"/>
                  <a:gd name="T13" fmla="*/ 0 h 158"/>
                  <a:gd name="T14" fmla="*/ 0 w 158"/>
                  <a:gd name="T15" fmla="*/ 0 h 158"/>
                  <a:gd name="T16" fmla="*/ 0 w 158"/>
                  <a:gd name="T17" fmla="*/ 0 h 158"/>
                  <a:gd name="T18" fmla="*/ 0 w 158"/>
                  <a:gd name="T19" fmla="*/ 0 h 158"/>
                  <a:gd name="T20" fmla="*/ 0 w 158"/>
                  <a:gd name="T21" fmla="*/ 0 h 158"/>
                  <a:gd name="T22" fmla="*/ 0 w 158"/>
                  <a:gd name="T23" fmla="*/ 0 h 158"/>
                  <a:gd name="T24" fmla="*/ 0 w 158"/>
                  <a:gd name="T25" fmla="*/ 0 h 158"/>
                  <a:gd name="T26" fmla="*/ 0 w 158"/>
                  <a:gd name="T27" fmla="*/ 0 h 158"/>
                  <a:gd name="T28" fmla="*/ 0 w 158"/>
                  <a:gd name="T29" fmla="*/ 0 h 158"/>
                  <a:gd name="T30" fmla="*/ 0 w 158"/>
                  <a:gd name="T31" fmla="*/ 0 h 158"/>
                  <a:gd name="T32" fmla="*/ 0 w 158"/>
                  <a:gd name="T33" fmla="*/ 0 h 158"/>
                  <a:gd name="T34" fmla="*/ 0 w 158"/>
                  <a:gd name="T35" fmla="*/ 0 h 158"/>
                  <a:gd name="T36" fmla="*/ 0 w 158"/>
                  <a:gd name="T37" fmla="*/ 0 h 15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8" h="158">
                    <a:moveTo>
                      <a:pt x="158" y="6"/>
                    </a:moveTo>
                    <a:lnTo>
                      <a:pt x="6" y="158"/>
                    </a:lnTo>
                    <a:lnTo>
                      <a:pt x="5" y="157"/>
                    </a:lnTo>
                    <a:lnTo>
                      <a:pt x="4" y="156"/>
                    </a:lnTo>
                    <a:lnTo>
                      <a:pt x="3" y="154"/>
                    </a:lnTo>
                    <a:lnTo>
                      <a:pt x="3" y="153"/>
                    </a:lnTo>
                    <a:lnTo>
                      <a:pt x="2" y="152"/>
                    </a:lnTo>
                    <a:lnTo>
                      <a:pt x="1" y="150"/>
                    </a:lnTo>
                    <a:lnTo>
                      <a:pt x="0" y="148"/>
                    </a:lnTo>
                    <a:lnTo>
                      <a:pt x="0" y="147"/>
                    </a:lnTo>
                    <a:lnTo>
                      <a:pt x="148" y="0"/>
                    </a:lnTo>
                    <a:lnTo>
                      <a:pt x="149" y="0"/>
                    </a:lnTo>
                    <a:lnTo>
                      <a:pt x="150" y="1"/>
                    </a:lnTo>
                    <a:lnTo>
                      <a:pt x="152" y="2"/>
                    </a:lnTo>
                    <a:lnTo>
                      <a:pt x="153" y="3"/>
                    </a:lnTo>
                    <a:lnTo>
                      <a:pt x="154" y="4"/>
                    </a:lnTo>
                    <a:lnTo>
                      <a:pt x="155" y="5"/>
                    </a:lnTo>
                    <a:lnTo>
                      <a:pt x="156" y="5"/>
                    </a:lnTo>
                    <a:lnTo>
                      <a:pt x="158" y="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83" name="Freeform 2220"/>
              <p:cNvSpPr>
                <a:spLocks noChangeAspect="1"/>
              </p:cNvSpPr>
              <p:nvPr/>
            </p:nvSpPr>
            <p:spPr bwMode="auto">
              <a:xfrm>
                <a:off x="4854" y="2213"/>
                <a:ext cx="52" cy="53"/>
              </a:xfrm>
              <a:custGeom>
                <a:avLst/>
                <a:gdLst>
                  <a:gd name="T0" fmla="*/ 0 w 156"/>
                  <a:gd name="T1" fmla="*/ 0 h 157"/>
                  <a:gd name="T2" fmla="*/ 0 w 156"/>
                  <a:gd name="T3" fmla="*/ 0 h 157"/>
                  <a:gd name="T4" fmla="*/ 0 w 156"/>
                  <a:gd name="T5" fmla="*/ 0 h 157"/>
                  <a:gd name="T6" fmla="*/ 0 w 156"/>
                  <a:gd name="T7" fmla="*/ 0 h 157"/>
                  <a:gd name="T8" fmla="*/ 0 w 156"/>
                  <a:gd name="T9" fmla="*/ 0 h 157"/>
                  <a:gd name="T10" fmla="*/ 0 w 156"/>
                  <a:gd name="T11" fmla="*/ 0 h 157"/>
                  <a:gd name="T12" fmla="*/ 0 w 156"/>
                  <a:gd name="T13" fmla="*/ 0 h 157"/>
                  <a:gd name="T14" fmla="*/ 0 w 156"/>
                  <a:gd name="T15" fmla="*/ 0 h 157"/>
                  <a:gd name="T16" fmla="*/ 0 w 156"/>
                  <a:gd name="T17" fmla="*/ 0 h 157"/>
                  <a:gd name="T18" fmla="*/ 0 w 156"/>
                  <a:gd name="T19" fmla="*/ 0 h 157"/>
                  <a:gd name="T20" fmla="*/ 0 w 156"/>
                  <a:gd name="T21" fmla="*/ 0 h 157"/>
                  <a:gd name="T22" fmla="*/ 0 w 156"/>
                  <a:gd name="T23" fmla="*/ 0 h 157"/>
                  <a:gd name="T24" fmla="*/ 0 w 156"/>
                  <a:gd name="T25" fmla="*/ 0 h 157"/>
                  <a:gd name="T26" fmla="*/ 0 w 156"/>
                  <a:gd name="T27" fmla="*/ 0 h 157"/>
                  <a:gd name="T28" fmla="*/ 0 w 156"/>
                  <a:gd name="T29" fmla="*/ 0 h 157"/>
                  <a:gd name="T30" fmla="*/ 0 w 156"/>
                  <a:gd name="T31" fmla="*/ 0 h 157"/>
                  <a:gd name="T32" fmla="*/ 0 w 156"/>
                  <a:gd name="T33" fmla="*/ 0 h 157"/>
                  <a:gd name="T34" fmla="*/ 0 w 156"/>
                  <a:gd name="T35" fmla="*/ 0 h 157"/>
                  <a:gd name="T36" fmla="*/ 0 w 156"/>
                  <a:gd name="T37" fmla="*/ 0 h 1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6" h="157">
                    <a:moveTo>
                      <a:pt x="156" y="7"/>
                    </a:moveTo>
                    <a:lnTo>
                      <a:pt x="6" y="157"/>
                    </a:lnTo>
                    <a:lnTo>
                      <a:pt x="5" y="156"/>
                    </a:lnTo>
                    <a:lnTo>
                      <a:pt x="4" y="154"/>
                    </a:lnTo>
                    <a:lnTo>
                      <a:pt x="3" y="152"/>
                    </a:lnTo>
                    <a:lnTo>
                      <a:pt x="3" y="151"/>
                    </a:lnTo>
                    <a:lnTo>
                      <a:pt x="2" y="149"/>
                    </a:lnTo>
                    <a:lnTo>
                      <a:pt x="1" y="148"/>
                    </a:lnTo>
                    <a:lnTo>
                      <a:pt x="1" y="146"/>
                    </a:lnTo>
                    <a:lnTo>
                      <a:pt x="0" y="145"/>
                    </a:lnTo>
                    <a:lnTo>
                      <a:pt x="145" y="0"/>
                    </a:lnTo>
                    <a:lnTo>
                      <a:pt x="146" y="0"/>
                    </a:lnTo>
                    <a:lnTo>
                      <a:pt x="148" y="2"/>
                    </a:lnTo>
                    <a:lnTo>
                      <a:pt x="150" y="3"/>
                    </a:lnTo>
                    <a:lnTo>
                      <a:pt x="151" y="4"/>
                    </a:lnTo>
                    <a:lnTo>
                      <a:pt x="152" y="4"/>
                    </a:lnTo>
                    <a:lnTo>
                      <a:pt x="153" y="5"/>
                    </a:lnTo>
                    <a:lnTo>
                      <a:pt x="155" y="6"/>
                    </a:lnTo>
                    <a:lnTo>
                      <a:pt x="156" y="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84" name="Freeform 2221"/>
              <p:cNvSpPr>
                <a:spLocks noChangeAspect="1"/>
              </p:cNvSpPr>
              <p:nvPr/>
            </p:nvSpPr>
            <p:spPr bwMode="auto">
              <a:xfrm>
                <a:off x="4853" y="2212"/>
                <a:ext cx="51" cy="52"/>
              </a:xfrm>
              <a:custGeom>
                <a:avLst/>
                <a:gdLst>
                  <a:gd name="T0" fmla="*/ 0 w 154"/>
                  <a:gd name="T1" fmla="*/ 0 h 154"/>
                  <a:gd name="T2" fmla="*/ 0 w 154"/>
                  <a:gd name="T3" fmla="*/ 0 h 154"/>
                  <a:gd name="T4" fmla="*/ 0 w 154"/>
                  <a:gd name="T5" fmla="*/ 0 h 154"/>
                  <a:gd name="T6" fmla="*/ 0 w 154"/>
                  <a:gd name="T7" fmla="*/ 0 h 154"/>
                  <a:gd name="T8" fmla="*/ 0 w 154"/>
                  <a:gd name="T9" fmla="*/ 0 h 154"/>
                  <a:gd name="T10" fmla="*/ 0 w 154"/>
                  <a:gd name="T11" fmla="*/ 0 h 154"/>
                  <a:gd name="T12" fmla="*/ 0 w 154"/>
                  <a:gd name="T13" fmla="*/ 0 h 154"/>
                  <a:gd name="T14" fmla="*/ 0 w 154"/>
                  <a:gd name="T15" fmla="*/ 0 h 154"/>
                  <a:gd name="T16" fmla="*/ 0 w 154"/>
                  <a:gd name="T17" fmla="*/ 0 h 154"/>
                  <a:gd name="T18" fmla="*/ 0 w 154"/>
                  <a:gd name="T19" fmla="*/ 0 h 154"/>
                  <a:gd name="T20" fmla="*/ 0 w 154"/>
                  <a:gd name="T21" fmla="*/ 0 h 154"/>
                  <a:gd name="T22" fmla="*/ 0 w 154"/>
                  <a:gd name="T23" fmla="*/ 0 h 154"/>
                  <a:gd name="T24" fmla="*/ 0 w 154"/>
                  <a:gd name="T25" fmla="*/ 0 h 154"/>
                  <a:gd name="T26" fmla="*/ 0 w 154"/>
                  <a:gd name="T27" fmla="*/ 0 h 154"/>
                  <a:gd name="T28" fmla="*/ 0 w 154"/>
                  <a:gd name="T29" fmla="*/ 0 h 154"/>
                  <a:gd name="T30" fmla="*/ 0 w 154"/>
                  <a:gd name="T31" fmla="*/ 0 h 154"/>
                  <a:gd name="T32" fmla="*/ 0 w 154"/>
                  <a:gd name="T33" fmla="*/ 0 h 154"/>
                  <a:gd name="T34" fmla="*/ 0 w 154"/>
                  <a:gd name="T35" fmla="*/ 0 h 154"/>
                  <a:gd name="T36" fmla="*/ 0 w 154"/>
                  <a:gd name="T37" fmla="*/ 0 h 15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4" h="154">
                    <a:moveTo>
                      <a:pt x="154" y="7"/>
                    </a:moveTo>
                    <a:lnTo>
                      <a:pt x="6" y="154"/>
                    </a:lnTo>
                    <a:lnTo>
                      <a:pt x="5" y="152"/>
                    </a:lnTo>
                    <a:lnTo>
                      <a:pt x="4" y="151"/>
                    </a:lnTo>
                    <a:lnTo>
                      <a:pt x="4" y="149"/>
                    </a:lnTo>
                    <a:lnTo>
                      <a:pt x="3" y="148"/>
                    </a:lnTo>
                    <a:lnTo>
                      <a:pt x="3" y="147"/>
                    </a:lnTo>
                    <a:lnTo>
                      <a:pt x="2" y="145"/>
                    </a:lnTo>
                    <a:lnTo>
                      <a:pt x="0" y="144"/>
                    </a:lnTo>
                    <a:lnTo>
                      <a:pt x="0" y="142"/>
                    </a:lnTo>
                    <a:lnTo>
                      <a:pt x="142" y="0"/>
                    </a:lnTo>
                    <a:lnTo>
                      <a:pt x="144" y="1"/>
                    </a:lnTo>
                    <a:lnTo>
                      <a:pt x="145" y="1"/>
                    </a:lnTo>
                    <a:lnTo>
                      <a:pt x="146" y="2"/>
                    </a:lnTo>
                    <a:lnTo>
                      <a:pt x="148" y="3"/>
                    </a:lnTo>
                    <a:lnTo>
                      <a:pt x="149" y="3"/>
                    </a:lnTo>
                    <a:lnTo>
                      <a:pt x="151" y="5"/>
                    </a:lnTo>
                    <a:lnTo>
                      <a:pt x="153" y="6"/>
                    </a:lnTo>
                    <a:lnTo>
                      <a:pt x="154" y="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85" name="Freeform 2222"/>
              <p:cNvSpPr>
                <a:spLocks noChangeAspect="1"/>
              </p:cNvSpPr>
              <p:nvPr/>
            </p:nvSpPr>
            <p:spPr bwMode="auto">
              <a:xfrm>
                <a:off x="4852" y="2211"/>
                <a:ext cx="50" cy="51"/>
              </a:xfrm>
              <a:custGeom>
                <a:avLst/>
                <a:gdLst>
                  <a:gd name="T0" fmla="*/ 0 w 150"/>
                  <a:gd name="T1" fmla="*/ 0 h 151"/>
                  <a:gd name="T2" fmla="*/ 0 w 150"/>
                  <a:gd name="T3" fmla="*/ 0 h 151"/>
                  <a:gd name="T4" fmla="*/ 0 w 150"/>
                  <a:gd name="T5" fmla="*/ 0 h 151"/>
                  <a:gd name="T6" fmla="*/ 0 w 150"/>
                  <a:gd name="T7" fmla="*/ 0 h 151"/>
                  <a:gd name="T8" fmla="*/ 0 w 150"/>
                  <a:gd name="T9" fmla="*/ 0 h 151"/>
                  <a:gd name="T10" fmla="*/ 0 w 150"/>
                  <a:gd name="T11" fmla="*/ 0 h 151"/>
                  <a:gd name="T12" fmla="*/ 0 w 150"/>
                  <a:gd name="T13" fmla="*/ 0 h 151"/>
                  <a:gd name="T14" fmla="*/ 0 w 150"/>
                  <a:gd name="T15" fmla="*/ 0 h 151"/>
                  <a:gd name="T16" fmla="*/ 0 w 150"/>
                  <a:gd name="T17" fmla="*/ 0 h 151"/>
                  <a:gd name="T18" fmla="*/ 0 w 150"/>
                  <a:gd name="T19" fmla="*/ 0 h 151"/>
                  <a:gd name="T20" fmla="*/ 0 w 150"/>
                  <a:gd name="T21" fmla="*/ 0 h 151"/>
                  <a:gd name="T22" fmla="*/ 0 w 150"/>
                  <a:gd name="T23" fmla="*/ 0 h 151"/>
                  <a:gd name="T24" fmla="*/ 0 w 150"/>
                  <a:gd name="T25" fmla="*/ 0 h 151"/>
                  <a:gd name="T26" fmla="*/ 0 w 150"/>
                  <a:gd name="T27" fmla="*/ 0 h 151"/>
                  <a:gd name="T28" fmla="*/ 0 w 150"/>
                  <a:gd name="T29" fmla="*/ 0 h 151"/>
                  <a:gd name="T30" fmla="*/ 0 w 150"/>
                  <a:gd name="T31" fmla="*/ 0 h 151"/>
                  <a:gd name="T32" fmla="*/ 0 w 150"/>
                  <a:gd name="T33" fmla="*/ 0 h 151"/>
                  <a:gd name="T34" fmla="*/ 0 w 150"/>
                  <a:gd name="T35" fmla="*/ 0 h 151"/>
                  <a:gd name="T36" fmla="*/ 0 w 150"/>
                  <a:gd name="T37" fmla="*/ 0 h 1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0" h="151">
                    <a:moveTo>
                      <a:pt x="150" y="6"/>
                    </a:moveTo>
                    <a:lnTo>
                      <a:pt x="5" y="151"/>
                    </a:lnTo>
                    <a:lnTo>
                      <a:pt x="5" y="150"/>
                    </a:lnTo>
                    <a:lnTo>
                      <a:pt x="4" y="148"/>
                    </a:lnTo>
                    <a:lnTo>
                      <a:pt x="2" y="147"/>
                    </a:lnTo>
                    <a:lnTo>
                      <a:pt x="2" y="145"/>
                    </a:lnTo>
                    <a:lnTo>
                      <a:pt x="1" y="144"/>
                    </a:lnTo>
                    <a:lnTo>
                      <a:pt x="1" y="141"/>
                    </a:lnTo>
                    <a:lnTo>
                      <a:pt x="0" y="139"/>
                    </a:lnTo>
                    <a:lnTo>
                      <a:pt x="0" y="138"/>
                    </a:lnTo>
                    <a:lnTo>
                      <a:pt x="138" y="0"/>
                    </a:lnTo>
                    <a:lnTo>
                      <a:pt x="140" y="1"/>
                    </a:lnTo>
                    <a:lnTo>
                      <a:pt x="141" y="2"/>
                    </a:lnTo>
                    <a:lnTo>
                      <a:pt x="143" y="2"/>
                    </a:lnTo>
                    <a:lnTo>
                      <a:pt x="144" y="3"/>
                    </a:lnTo>
                    <a:lnTo>
                      <a:pt x="146" y="4"/>
                    </a:lnTo>
                    <a:lnTo>
                      <a:pt x="147" y="4"/>
                    </a:lnTo>
                    <a:lnTo>
                      <a:pt x="148" y="5"/>
                    </a:lnTo>
                    <a:lnTo>
                      <a:pt x="150" y="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86" name="Freeform 2223"/>
              <p:cNvSpPr>
                <a:spLocks noChangeAspect="1"/>
              </p:cNvSpPr>
              <p:nvPr/>
            </p:nvSpPr>
            <p:spPr bwMode="auto">
              <a:xfrm>
                <a:off x="4852" y="2211"/>
                <a:ext cx="48" cy="49"/>
              </a:xfrm>
              <a:custGeom>
                <a:avLst/>
                <a:gdLst>
                  <a:gd name="T0" fmla="*/ 0 w 146"/>
                  <a:gd name="T1" fmla="*/ 0 h 147"/>
                  <a:gd name="T2" fmla="*/ 0 w 146"/>
                  <a:gd name="T3" fmla="*/ 0 h 147"/>
                  <a:gd name="T4" fmla="*/ 0 w 146"/>
                  <a:gd name="T5" fmla="*/ 0 h 147"/>
                  <a:gd name="T6" fmla="*/ 0 w 146"/>
                  <a:gd name="T7" fmla="*/ 0 h 147"/>
                  <a:gd name="T8" fmla="*/ 0 w 146"/>
                  <a:gd name="T9" fmla="*/ 0 h 147"/>
                  <a:gd name="T10" fmla="*/ 0 w 146"/>
                  <a:gd name="T11" fmla="*/ 0 h 147"/>
                  <a:gd name="T12" fmla="*/ 0 w 146"/>
                  <a:gd name="T13" fmla="*/ 0 h 147"/>
                  <a:gd name="T14" fmla="*/ 0 w 146"/>
                  <a:gd name="T15" fmla="*/ 0 h 147"/>
                  <a:gd name="T16" fmla="*/ 0 w 146"/>
                  <a:gd name="T17" fmla="*/ 0 h 147"/>
                  <a:gd name="T18" fmla="*/ 0 w 146"/>
                  <a:gd name="T19" fmla="*/ 0 h 147"/>
                  <a:gd name="T20" fmla="*/ 0 w 146"/>
                  <a:gd name="T21" fmla="*/ 0 h 147"/>
                  <a:gd name="T22" fmla="*/ 0 w 146"/>
                  <a:gd name="T23" fmla="*/ 0 h 147"/>
                  <a:gd name="T24" fmla="*/ 0 w 146"/>
                  <a:gd name="T25" fmla="*/ 0 h 147"/>
                  <a:gd name="T26" fmla="*/ 0 w 146"/>
                  <a:gd name="T27" fmla="*/ 0 h 147"/>
                  <a:gd name="T28" fmla="*/ 0 w 146"/>
                  <a:gd name="T29" fmla="*/ 0 h 147"/>
                  <a:gd name="T30" fmla="*/ 0 w 146"/>
                  <a:gd name="T31" fmla="*/ 0 h 147"/>
                  <a:gd name="T32" fmla="*/ 0 w 146"/>
                  <a:gd name="T33" fmla="*/ 0 h 147"/>
                  <a:gd name="T34" fmla="*/ 0 w 146"/>
                  <a:gd name="T35" fmla="*/ 0 h 147"/>
                  <a:gd name="T36" fmla="*/ 0 w 146"/>
                  <a:gd name="T37" fmla="*/ 0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6" h="147">
                    <a:moveTo>
                      <a:pt x="146" y="5"/>
                    </a:moveTo>
                    <a:lnTo>
                      <a:pt x="4" y="147"/>
                    </a:lnTo>
                    <a:lnTo>
                      <a:pt x="3" y="146"/>
                    </a:lnTo>
                    <a:lnTo>
                      <a:pt x="3" y="143"/>
                    </a:lnTo>
                    <a:lnTo>
                      <a:pt x="2" y="141"/>
                    </a:lnTo>
                    <a:lnTo>
                      <a:pt x="2" y="140"/>
                    </a:lnTo>
                    <a:lnTo>
                      <a:pt x="2" y="138"/>
                    </a:lnTo>
                    <a:lnTo>
                      <a:pt x="1" y="137"/>
                    </a:lnTo>
                    <a:lnTo>
                      <a:pt x="1" y="135"/>
                    </a:lnTo>
                    <a:lnTo>
                      <a:pt x="0" y="133"/>
                    </a:lnTo>
                    <a:lnTo>
                      <a:pt x="133" y="0"/>
                    </a:lnTo>
                    <a:lnTo>
                      <a:pt x="135" y="1"/>
                    </a:lnTo>
                    <a:lnTo>
                      <a:pt x="136" y="1"/>
                    </a:lnTo>
                    <a:lnTo>
                      <a:pt x="139" y="2"/>
                    </a:lnTo>
                    <a:lnTo>
                      <a:pt x="140" y="2"/>
                    </a:lnTo>
                    <a:lnTo>
                      <a:pt x="142" y="3"/>
                    </a:lnTo>
                    <a:lnTo>
                      <a:pt x="143" y="4"/>
                    </a:lnTo>
                    <a:lnTo>
                      <a:pt x="145" y="4"/>
                    </a:lnTo>
                    <a:lnTo>
                      <a:pt x="146" y="5"/>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87" name="Freeform 2224"/>
              <p:cNvSpPr>
                <a:spLocks noChangeAspect="1"/>
              </p:cNvSpPr>
              <p:nvPr/>
            </p:nvSpPr>
            <p:spPr bwMode="auto">
              <a:xfrm>
                <a:off x="4851" y="2210"/>
                <a:ext cx="47" cy="47"/>
              </a:xfrm>
              <a:custGeom>
                <a:avLst/>
                <a:gdLst>
                  <a:gd name="T0" fmla="*/ 0 w 141"/>
                  <a:gd name="T1" fmla="*/ 0 h 141"/>
                  <a:gd name="T2" fmla="*/ 0 w 141"/>
                  <a:gd name="T3" fmla="*/ 0 h 141"/>
                  <a:gd name="T4" fmla="*/ 0 w 141"/>
                  <a:gd name="T5" fmla="*/ 0 h 141"/>
                  <a:gd name="T6" fmla="*/ 0 w 141"/>
                  <a:gd name="T7" fmla="*/ 0 h 141"/>
                  <a:gd name="T8" fmla="*/ 0 w 141"/>
                  <a:gd name="T9" fmla="*/ 0 h 141"/>
                  <a:gd name="T10" fmla="*/ 0 w 141"/>
                  <a:gd name="T11" fmla="*/ 0 h 141"/>
                  <a:gd name="T12" fmla="*/ 0 w 141"/>
                  <a:gd name="T13" fmla="*/ 0 h 141"/>
                  <a:gd name="T14" fmla="*/ 0 w 141"/>
                  <a:gd name="T15" fmla="*/ 0 h 141"/>
                  <a:gd name="T16" fmla="*/ 0 w 141"/>
                  <a:gd name="T17" fmla="*/ 0 h 141"/>
                  <a:gd name="T18" fmla="*/ 0 w 141"/>
                  <a:gd name="T19" fmla="*/ 0 h 141"/>
                  <a:gd name="T20" fmla="*/ 0 w 141"/>
                  <a:gd name="T21" fmla="*/ 0 h 141"/>
                  <a:gd name="T22" fmla="*/ 0 w 141"/>
                  <a:gd name="T23" fmla="*/ 0 h 141"/>
                  <a:gd name="T24" fmla="*/ 0 w 141"/>
                  <a:gd name="T25" fmla="*/ 0 h 141"/>
                  <a:gd name="T26" fmla="*/ 0 w 141"/>
                  <a:gd name="T27" fmla="*/ 0 h 141"/>
                  <a:gd name="T28" fmla="*/ 0 w 141"/>
                  <a:gd name="T29" fmla="*/ 0 h 141"/>
                  <a:gd name="T30" fmla="*/ 0 w 141"/>
                  <a:gd name="T31" fmla="*/ 0 h 141"/>
                  <a:gd name="T32" fmla="*/ 0 w 141"/>
                  <a:gd name="T33" fmla="*/ 0 h 141"/>
                  <a:gd name="T34" fmla="*/ 0 w 141"/>
                  <a:gd name="T35" fmla="*/ 0 h 141"/>
                  <a:gd name="T36" fmla="*/ 0 w 141"/>
                  <a:gd name="T37" fmla="*/ 0 h 1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1" h="141">
                    <a:moveTo>
                      <a:pt x="141" y="3"/>
                    </a:moveTo>
                    <a:lnTo>
                      <a:pt x="3" y="141"/>
                    </a:lnTo>
                    <a:lnTo>
                      <a:pt x="3" y="139"/>
                    </a:lnTo>
                    <a:lnTo>
                      <a:pt x="2" y="138"/>
                    </a:lnTo>
                    <a:lnTo>
                      <a:pt x="2" y="136"/>
                    </a:lnTo>
                    <a:lnTo>
                      <a:pt x="1" y="134"/>
                    </a:lnTo>
                    <a:lnTo>
                      <a:pt x="1" y="133"/>
                    </a:lnTo>
                    <a:lnTo>
                      <a:pt x="1" y="131"/>
                    </a:lnTo>
                    <a:lnTo>
                      <a:pt x="0" y="129"/>
                    </a:lnTo>
                    <a:lnTo>
                      <a:pt x="0" y="126"/>
                    </a:lnTo>
                    <a:lnTo>
                      <a:pt x="128" y="0"/>
                    </a:lnTo>
                    <a:lnTo>
                      <a:pt x="129" y="0"/>
                    </a:lnTo>
                    <a:lnTo>
                      <a:pt x="131" y="0"/>
                    </a:lnTo>
                    <a:lnTo>
                      <a:pt x="133" y="1"/>
                    </a:lnTo>
                    <a:lnTo>
                      <a:pt x="134" y="1"/>
                    </a:lnTo>
                    <a:lnTo>
                      <a:pt x="136" y="2"/>
                    </a:lnTo>
                    <a:lnTo>
                      <a:pt x="137" y="2"/>
                    </a:lnTo>
                    <a:lnTo>
                      <a:pt x="140" y="3"/>
                    </a:lnTo>
                    <a:lnTo>
                      <a:pt x="141" y="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88" name="Freeform 2225"/>
              <p:cNvSpPr>
                <a:spLocks noChangeAspect="1"/>
              </p:cNvSpPr>
              <p:nvPr/>
            </p:nvSpPr>
            <p:spPr bwMode="auto">
              <a:xfrm>
                <a:off x="4851" y="2210"/>
                <a:ext cx="45" cy="45"/>
              </a:xfrm>
              <a:custGeom>
                <a:avLst/>
                <a:gdLst>
                  <a:gd name="T0" fmla="*/ 0 w 135"/>
                  <a:gd name="T1" fmla="*/ 0 h 136"/>
                  <a:gd name="T2" fmla="*/ 0 w 135"/>
                  <a:gd name="T3" fmla="*/ 0 h 136"/>
                  <a:gd name="T4" fmla="*/ 0 w 135"/>
                  <a:gd name="T5" fmla="*/ 0 h 136"/>
                  <a:gd name="T6" fmla="*/ 0 w 135"/>
                  <a:gd name="T7" fmla="*/ 0 h 136"/>
                  <a:gd name="T8" fmla="*/ 0 w 135"/>
                  <a:gd name="T9" fmla="*/ 0 h 136"/>
                  <a:gd name="T10" fmla="*/ 0 w 135"/>
                  <a:gd name="T11" fmla="*/ 0 h 136"/>
                  <a:gd name="T12" fmla="*/ 0 w 135"/>
                  <a:gd name="T13" fmla="*/ 0 h 136"/>
                  <a:gd name="T14" fmla="*/ 0 w 135"/>
                  <a:gd name="T15" fmla="*/ 0 h 136"/>
                  <a:gd name="T16" fmla="*/ 0 w 135"/>
                  <a:gd name="T17" fmla="*/ 0 h 136"/>
                  <a:gd name="T18" fmla="*/ 0 w 135"/>
                  <a:gd name="T19" fmla="*/ 0 h 136"/>
                  <a:gd name="T20" fmla="*/ 0 w 135"/>
                  <a:gd name="T21" fmla="*/ 0 h 136"/>
                  <a:gd name="T22" fmla="*/ 0 w 135"/>
                  <a:gd name="T23" fmla="*/ 0 h 136"/>
                  <a:gd name="T24" fmla="*/ 0 w 135"/>
                  <a:gd name="T25" fmla="*/ 0 h 136"/>
                  <a:gd name="T26" fmla="*/ 0 w 135"/>
                  <a:gd name="T27" fmla="*/ 0 h 136"/>
                  <a:gd name="T28" fmla="*/ 0 w 135"/>
                  <a:gd name="T29" fmla="*/ 0 h 136"/>
                  <a:gd name="T30" fmla="*/ 0 w 135"/>
                  <a:gd name="T31" fmla="*/ 0 h 136"/>
                  <a:gd name="T32" fmla="*/ 0 w 135"/>
                  <a:gd name="T33" fmla="*/ 0 h 136"/>
                  <a:gd name="T34" fmla="*/ 0 w 135"/>
                  <a:gd name="T35" fmla="*/ 0 h 136"/>
                  <a:gd name="T36" fmla="*/ 0 w 135"/>
                  <a:gd name="T37" fmla="*/ 0 h 1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35" h="136">
                    <a:moveTo>
                      <a:pt x="135" y="3"/>
                    </a:moveTo>
                    <a:lnTo>
                      <a:pt x="2" y="136"/>
                    </a:lnTo>
                    <a:lnTo>
                      <a:pt x="2" y="135"/>
                    </a:lnTo>
                    <a:lnTo>
                      <a:pt x="2" y="133"/>
                    </a:lnTo>
                    <a:lnTo>
                      <a:pt x="1" y="131"/>
                    </a:lnTo>
                    <a:lnTo>
                      <a:pt x="1" y="128"/>
                    </a:lnTo>
                    <a:lnTo>
                      <a:pt x="1" y="126"/>
                    </a:lnTo>
                    <a:lnTo>
                      <a:pt x="1" y="125"/>
                    </a:lnTo>
                    <a:lnTo>
                      <a:pt x="0" y="123"/>
                    </a:lnTo>
                    <a:lnTo>
                      <a:pt x="0" y="121"/>
                    </a:lnTo>
                    <a:lnTo>
                      <a:pt x="121" y="0"/>
                    </a:lnTo>
                    <a:lnTo>
                      <a:pt x="124" y="1"/>
                    </a:lnTo>
                    <a:lnTo>
                      <a:pt x="125" y="1"/>
                    </a:lnTo>
                    <a:lnTo>
                      <a:pt x="127" y="1"/>
                    </a:lnTo>
                    <a:lnTo>
                      <a:pt x="129" y="2"/>
                    </a:lnTo>
                    <a:lnTo>
                      <a:pt x="130" y="2"/>
                    </a:lnTo>
                    <a:lnTo>
                      <a:pt x="132" y="2"/>
                    </a:lnTo>
                    <a:lnTo>
                      <a:pt x="134" y="3"/>
                    </a:lnTo>
                    <a:lnTo>
                      <a:pt x="135" y="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89" name="Freeform 2226"/>
              <p:cNvSpPr>
                <a:spLocks noChangeAspect="1"/>
              </p:cNvSpPr>
              <p:nvPr/>
            </p:nvSpPr>
            <p:spPr bwMode="auto">
              <a:xfrm>
                <a:off x="4851" y="2210"/>
                <a:ext cx="43" cy="42"/>
              </a:xfrm>
              <a:custGeom>
                <a:avLst/>
                <a:gdLst>
                  <a:gd name="T0" fmla="*/ 0 w 129"/>
                  <a:gd name="T1" fmla="*/ 0 h 128"/>
                  <a:gd name="T2" fmla="*/ 0 w 129"/>
                  <a:gd name="T3" fmla="*/ 0 h 128"/>
                  <a:gd name="T4" fmla="*/ 0 w 129"/>
                  <a:gd name="T5" fmla="*/ 0 h 128"/>
                  <a:gd name="T6" fmla="*/ 0 w 129"/>
                  <a:gd name="T7" fmla="*/ 0 h 128"/>
                  <a:gd name="T8" fmla="*/ 0 w 129"/>
                  <a:gd name="T9" fmla="*/ 0 h 128"/>
                  <a:gd name="T10" fmla="*/ 0 w 129"/>
                  <a:gd name="T11" fmla="*/ 0 h 128"/>
                  <a:gd name="T12" fmla="*/ 0 w 129"/>
                  <a:gd name="T13" fmla="*/ 0 h 128"/>
                  <a:gd name="T14" fmla="*/ 0 w 129"/>
                  <a:gd name="T15" fmla="*/ 0 h 128"/>
                  <a:gd name="T16" fmla="*/ 0 w 129"/>
                  <a:gd name="T17" fmla="*/ 0 h 128"/>
                  <a:gd name="T18" fmla="*/ 0 w 129"/>
                  <a:gd name="T19" fmla="*/ 0 h 128"/>
                  <a:gd name="T20" fmla="*/ 0 w 129"/>
                  <a:gd name="T21" fmla="*/ 0 h 128"/>
                  <a:gd name="T22" fmla="*/ 0 w 129"/>
                  <a:gd name="T23" fmla="*/ 0 h 128"/>
                  <a:gd name="T24" fmla="*/ 0 w 129"/>
                  <a:gd name="T25" fmla="*/ 0 h 128"/>
                  <a:gd name="T26" fmla="*/ 0 w 129"/>
                  <a:gd name="T27" fmla="*/ 0 h 128"/>
                  <a:gd name="T28" fmla="*/ 0 w 129"/>
                  <a:gd name="T29" fmla="*/ 0 h 128"/>
                  <a:gd name="T30" fmla="*/ 0 w 129"/>
                  <a:gd name="T31" fmla="*/ 0 h 128"/>
                  <a:gd name="T32" fmla="*/ 0 w 129"/>
                  <a:gd name="T33" fmla="*/ 0 h 128"/>
                  <a:gd name="T34" fmla="*/ 0 w 129"/>
                  <a:gd name="T35" fmla="*/ 0 h 128"/>
                  <a:gd name="T36" fmla="*/ 0 w 129"/>
                  <a:gd name="T37" fmla="*/ 0 h 1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9" h="128">
                    <a:moveTo>
                      <a:pt x="129" y="2"/>
                    </a:moveTo>
                    <a:lnTo>
                      <a:pt x="1" y="128"/>
                    </a:lnTo>
                    <a:lnTo>
                      <a:pt x="1" y="126"/>
                    </a:lnTo>
                    <a:lnTo>
                      <a:pt x="1" y="125"/>
                    </a:lnTo>
                    <a:lnTo>
                      <a:pt x="0" y="123"/>
                    </a:lnTo>
                    <a:lnTo>
                      <a:pt x="0" y="121"/>
                    </a:lnTo>
                    <a:lnTo>
                      <a:pt x="0" y="119"/>
                    </a:lnTo>
                    <a:lnTo>
                      <a:pt x="0" y="117"/>
                    </a:lnTo>
                    <a:lnTo>
                      <a:pt x="0" y="115"/>
                    </a:lnTo>
                    <a:lnTo>
                      <a:pt x="0" y="112"/>
                    </a:lnTo>
                    <a:lnTo>
                      <a:pt x="113" y="0"/>
                    </a:lnTo>
                    <a:lnTo>
                      <a:pt x="115" y="0"/>
                    </a:lnTo>
                    <a:lnTo>
                      <a:pt x="117" y="0"/>
                    </a:lnTo>
                    <a:lnTo>
                      <a:pt x="119" y="0"/>
                    </a:lnTo>
                    <a:lnTo>
                      <a:pt x="121" y="0"/>
                    </a:lnTo>
                    <a:lnTo>
                      <a:pt x="122" y="1"/>
                    </a:lnTo>
                    <a:lnTo>
                      <a:pt x="125" y="1"/>
                    </a:lnTo>
                    <a:lnTo>
                      <a:pt x="127" y="1"/>
                    </a:lnTo>
                    <a:lnTo>
                      <a:pt x="129" y="2"/>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90" name="Freeform 2227"/>
              <p:cNvSpPr>
                <a:spLocks noChangeAspect="1"/>
              </p:cNvSpPr>
              <p:nvPr/>
            </p:nvSpPr>
            <p:spPr bwMode="auto">
              <a:xfrm>
                <a:off x="4851" y="2209"/>
                <a:ext cx="40" cy="41"/>
              </a:xfrm>
              <a:custGeom>
                <a:avLst/>
                <a:gdLst>
                  <a:gd name="T0" fmla="*/ 0 w 121"/>
                  <a:gd name="T1" fmla="*/ 0 h 122"/>
                  <a:gd name="T2" fmla="*/ 0 w 121"/>
                  <a:gd name="T3" fmla="*/ 0 h 122"/>
                  <a:gd name="T4" fmla="*/ 0 w 121"/>
                  <a:gd name="T5" fmla="*/ 0 h 122"/>
                  <a:gd name="T6" fmla="*/ 0 w 121"/>
                  <a:gd name="T7" fmla="*/ 0 h 122"/>
                  <a:gd name="T8" fmla="*/ 0 w 121"/>
                  <a:gd name="T9" fmla="*/ 0 h 122"/>
                  <a:gd name="T10" fmla="*/ 0 w 121"/>
                  <a:gd name="T11" fmla="*/ 0 h 122"/>
                  <a:gd name="T12" fmla="*/ 0 w 121"/>
                  <a:gd name="T13" fmla="*/ 0 h 122"/>
                  <a:gd name="T14" fmla="*/ 0 w 121"/>
                  <a:gd name="T15" fmla="*/ 0 h 122"/>
                  <a:gd name="T16" fmla="*/ 0 w 121"/>
                  <a:gd name="T17" fmla="*/ 0 h 122"/>
                  <a:gd name="T18" fmla="*/ 0 w 121"/>
                  <a:gd name="T19" fmla="*/ 0 h 122"/>
                  <a:gd name="T20" fmla="*/ 0 w 121"/>
                  <a:gd name="T21" fmla="*/ 0 h 122"/>
                  <a:gd name="T22" fmla="*/ 0 w 121"/>
                  <a:gd name="T23" fmla="*/ 0 h 122"/>
                  <a:gd name="T24" fmla="*/ 0 w 121"/>
                  <a:gd name="T25" fmla="*/ 0 h 122"/>
                  <a:gd name="T26" fmla="*/ 0 w 121"/>
                  <a:gd name="T27" fmla="*/ 0 h 122"/>
                  <a:gd name="T28" fmla="*/ 0 w 121"/>
                  <a:gd name="T29" fmla="*/ 0 h 122"/>
                  <a:gd name="T30" fmla="*/ 0 w 121"/>
                  <a:gd name="T31" fmla="*/ 0 h 122"/>
                  <a:gd name="T32" fmla="*/ 0 w 121"/>
                  <a:gd name="T33" fmla="*/ 0 h 122"/>
                  <a:gd name="T34" fmla="*/ 0 w 121"/>
                  <a:gd name="T35" fmla="*/ 0 h 122"/>
                  <a:gd name="T36" fmla="*/ 0 w 121"/>
                  <a:gd name="T37" fmla="*/ 0 h 122"/>
                  <a:gd name="T38" fmla="*/ 0 w 121"/>
                  <a:gd name="T39" fmla="*/ 0 h 122"/>
                  <a:gd name="T40" fmla="*/ 0 w 121"/>
                  <a:gd name="T41" fmla="*/ 0 h 122"/>
                  <a:gd name="T42" fmla="*/ 0 w 121"/>
                  <a:gd name="T43" fmla="*/ 0 h 122"/>
                  <a:gd name="T44" fmla="*/ 0 w 121"/>
                  <a:gd name="T45" fmla="*/ 0 h 122"/>
                  <a:gd name="T46" fmla="*/ 0 w 121"/>
                  <a:gd name="T47" fmla="*/ 0 h 122"/>
                  <a:gd name="T48" fmla="*/ 0 w 121"/>
                  <a:gd name="T49" fmla="*/ 0 h 122"/>
                  <a:gd name="T50" fmla="*/ 0 w 121"/>
                  <a:gd name="T51" fmla="*/ 0 h 122"/>
                  <a:gd name="T52" fmla="*/ 0 w 121"/>
                  <a:gd name="T53" fmla="*/ 0 h 122"/>
                  <a:gd name="T54" fmla="*/ 0 w 121"/>
                  <a:gd name="T55" fmla="*/ 0 h 122"/>
                  <a:gd name="T56" fmla="*/ 0 w 121"/>
                  <a:gd name="T57" fmla="*/ 0 h 122"/>
                  <a:gd name="T58" fmla="*/ 0 w 121"/>
                  <a:gd name="T59" fmla="*/ 0 h 122"/>
                  <a:gd name="T60" fmla="*/ 0 w 121"/>
                  <a:gd name="T61" fmla="*/ 0 h 122"/>
                  <a:gd name="T62" fmla="*/ 0 w 121"/>
                  <a:gd name="T63" fmla="*/ 0 h 122"/>
                  <a:gd name="T64" fmla="*/ 0 w 121"/>
                  <a:gd name="T65" fmla="*/ 0 h 122"/>
                  <a:gd name="T66" fmla="*/ 0 w 121"/>
                  <a:gd name="T67" fmla="*/ 0 h 122"/>
                  <a:gd name="T68" fmla="*/ 0 w 121"/>
                  <a:gd name="T69" fmla="*/ 0 h 12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1" h="122">
                    <a:moveTo>
                      <a:pt x="121" y="1"/>
                    </a:moveTo>
                    <a:lnTo>
                      <a:pt x="0" y="122"/>
                    </a:lnTo>
                    <a:lnTo>
                      <a:pt x="0" y="121"/>
                    </a:lnTo>
                    <a:lnTo>
                      <a:pt x="0" y="120"/>
                    </a:lnTo>
                    <a:lnTo>
                      <a:pt x="0" y="119"/>
                    </a:lnTo>
                    <a:lnTo>
                      <a:pt x="0" y="117"/>
                    </a:lnTo>
                    <a:lnTo>
                      <a:pt x="0" y="116"/>
                    </a:lnTo>
                    <a:lnTo>
                      <a:pt x="0" y="115"/>
                    </a:lnTo>
                    <a:lnTo>
                      <a:pt x="0" y="113"/>
                    </a:lnTo>
                    <a:lnTo>
                      <a:pt x="0" y="112"/>
                    </a:lnTo>
                    <a:lnTo>
                      <a:pt x="0" y="111"/>
                    </a:lnTo>
                    <a:lnTo>
                      <a:pt x="0" y="110"/>
                    </a:lnTo>
                    <a:lnTo>
                      <a:pt x="0" y="109"/>
                    </a:lnTo>
                    <a:lnTo>
                      <a:pt x="0" y="108"/>
                    </a:lnTo>
                    <a:lnTo>
                      <a:pt x="0" y="107"/>
                    </a:lnTo>
                    <a:lnTo>
                      <a:pt x="0" y="106"/>
                    </a:lnTo>
                    <a:lnTo>
                      <a:pt x="0" y="105"/>
                    </a:lnTo>
                    <a:lnTo>
                      <a:pt x="104" y="0"/>
                    </a:lnTo>
                    <a:lnTo>
                      <a:pt x="105" y="0"/>
                    </a:lnTo>
                    <a:lnTo>
                      <a:pt x="106" y="0"/>
                    </a:lnTo>
                    <a:lnTo>
                      <a:pt x="109" y="0"/>
                    </a:lnTo>
                    <a:lnTo>
                      <a:pt x="110" y="0"/>
                    </a:lnTo>
                    <a:lnTo>
                      <a:pt x="112" y="0"/>
                    </a:lnTo>
                    <a:lnTo>
                      <a:pt x="114" y="1"/>
                    </a:lnTo>
                    <a:lnTo>
                      <a:pt x="116" y="1"/>
                    </a:lnTo>
                    <a:lnTo>
                      <a:pt x="117" y="1"/>
                    </a:lnTo>
                    <a:lnTo>
                      <a:pt x="119" y="1"/>
                    </a:lnTo>
                    <a:lnTo>
                      <a:pt x="121" y="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91" name="Freeform 2228"/>
              <p:cNvSpPr>
                <a:spLocks noChangeAspect="1"/>
              </p:cNvSpPr>
              <p:nvPr/>
            </p:nvSpPr>
            <p:spPr bwMode="auto">
              <a:xfrm>
                <a:off x="4851" y="2209"/>
                <a:ext cx="38" cy="38"/>
              </a:xfrm>
              <a:custGeom>
                <a:avLst/>
                <a:gdLst>
                  <a:gd name="T0" fmla="*/ 0 w 113"/>
                  <a:gd name="T1" fmla="*/ 0 h 113"/>
                  <a:gd name="T2" fmla="*/ 0 w 113"/>
                  <a:gd name="T3" fmla="*/ 0 h 113"/>
                  <a:gd name="T4" fmla="*/ 0 w 113"/>
                  <a:gd name="T5" fmla="*/ 0 h 113"/>
                  <a:gd name="T6" fmla="*/ 0 w 113"/>
                  <a:gd name="T7" fmla="*/ 0 h 113"/>
                  <a:gd name="T8" fmla="*/ 0 w 113"/>
                  <a:gd name="T9" fmla="*/ 0 h 113"/>
                  <a:gd name="T10" fmla="*/ 0 w 113"/>
                  <a:gd name="T11" fmla="*/ 0 h 113"/>
                  <a:gd name="T12" fmla="*/ 0 w 113"/>
                  <a:gd name="T13" fmla="*/ 0 h 113"/>
                  <a:gd name="T14" fmla="*/ 0 w 113"/>
                  <a:gd name="T15" fmla="*/ 0 h 113"/>
                  <a:gd name="T16" fmla="*/ 0 w 113"/>
                  <a:gd name="T17" fmla="*/ 0 h 113"/>
                  <a:gd name="T18" fmla="*/ 0 w 113"/>
                  <a:gd name="T19" fmla="*/ 0 h 113"/>
                  <a:gd name="T20" fmla="*/ 0 w 113"/>
                  <a:gd name="T21" fmla="*/ 0 h 113"/>
                  <a:gd name="T22" fmla="*/ 0 w 113"/>
                  <a:gd name="T23" fmla="*/ 0 h 113"/>
                  <a:gd name="T24" fmla="*/ 0 w 113"/>
                  <a:gd name="T25" fmla="*/ 0 h 113"/>
                  <a:gd name="T26" fmla="*/ 0 w 113"/>
                  <a:gd name="T27" fmla="*/ 0 h 113"/>
                  <a:gd name="T28" fmla="*/ 0 w 113"/>
                  <a:gd name="T29" fmla="*/ 0 h 113"/>
                  <a:gd name="T30" fmla="*/ 0 w 113"/>
                  <a:gd name="T31" fmla="*/ 0 h 113"/>
                  <a:gd name="T32" fmla="*/ 0 w 113"/>
                  <a:gd name="T33" fmla="*/ 0 h 113"/>
                  <a:gd name="T34" fmla="*/ 0 w 113"/>
                  <a:gd name="T35" fmla="*/ 0 h 113"/>
                  <a:gd name="T36" fmla="*/ 0 w 113"/>
                  <a:gd name="T37" fmla="*/ 0 h 113"/>
                  <a:gd name="T38" fmla="*/ 0 w 113"/>
                  <a:gd name="T39" fmla="*/ 0 h 113"/>
                  <a:gd name="T40" fmla="*/ 0 w 113"/>
                  <a:gd name="T41" fmla="*/ 0 h 113"/>
                  <a:gd name="T42" fmla="*/ 0 w 113"/>
                  <a:gd name="T43" fmla="*/ 0 h 113"/>
                  <a:gd name="T44" fmla="*/ 0 w 113"/>
                  <a:gd name="T45" fmla="*/ 0 h 113"/>
                  <a:gd name="T46" fmla="*/ 0 w 113"/>
                  <a:gd name="T47" fmla="*/ 0 h 113"/>
                  <a:gd name="T48" fmla="*/ 0 w 113"/>
                  <a:gd name="T49" fmla="*/ 0 h 113"/>
                  <a:gd name="T50" fmla="*/ 0 w 113"/>
                  <a:gd name="T51" fmla="*/ 0 h 113"/>
                  <a:gd name="T52" fmla="*/ 0 w 113"/>
                  <a:gd name="T53" fmla="*/ 0 h 113"/>
                  <a:gd name="T54" fmla="*/ 0 w 113"/>
                  <a:gd name="T55" fmla="*/ 0 h 113"/>
                  <a:gd name="T56" fmla="*/ 0 w 113"/>
                  <a:gd name="T57" fmla="*/ 0 h 113"/>
                  <a:gd name="T58" fmla="*/ 0 w 113"/>
                  <a:gd name="T59" fmla="*/ 0 h 113"/>
                  <a:gd name="T60" fmla="*/ 0 w 113"/>
                  <a:gd name="T61" fmla="*/ 0 h 113"/>
                  <a:gd name="T62" fmla="*/ 0 w 113"/>
                  <a:gd name="T63" fmla="*/ 0 h 113"/>
                  <a:gd name="T64" fmla="*/ 0 w 113"/>
                  <a:gd name="T65" fmla="*/ 0 h 113"/>
                  <a:gd name="T66" fmla="*/ 0 w 113"/>
                  <a:gd name="T67" fmla="*/ 0 h 113"/>
                  <a:gd name="T68" fmla="*/ 0 w 113"/>
                  <a:gd name="T69" fmla="*/ 0 h 1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3" h="113">
                    <a:moveTo>
                      <a:pt x="113" y="1"/>
                    </a:moveTo>
                    <a:lnTo>
                      <a:pt x="0" y="113"/>
                    </a:lnTo>
                    <a:lnTo>
                      <a:pt x="0" y="112"/>
                    </a:lnTo>
                    <a:lnTo>
                      <a:pt x="0" y="110"/>
                    </a:lnTo>
                    <a:lnTo>
                      <a:pt x="0" y="108"/>
                    </a:lnTo>
                    <a:lnTo>
                      <a:pt x="0" y="106"/>
                    </a:lnTo>
                    <a:lnTo>
                      <a:pt x="0" y="104"/>
                    </a:lnTo>
                    <a:lnTo>
                      <a:pt x="0" y="102"/>
                    </a:lnTo>
                    <a:lnTo>
                      <a:pt x="1" y="100"/>
                    </a:lnTo>
                    <a:lnTo>
                      <a:pt x="1" y="98"/>
                    </a:lnTo>
                    <a:lnTo>
                      <a:pt x="1" y="95"/>
                    </a:lnTo>
                    <a:lnTo>
                      <a:pt x="96" y="1"/>
                    </a:lnTo>
                    <a:lnTo>
                      <a:pt x="97" y="1"/>
                    </a:lnTo>
                    <a:lnTo>
                      <a:pt x="98" y="1"/>
                    </a:lnTo>
                    <a:lnTo>
                      <a:pt x="99" y="1"/>
                    </a:lnTo>
                    <a:lnTo>
                      <a:pt x="101" y="0"/>
                    </a:lnTo>
                    <a:lnTo>
                      <a:pt x="102" y="0"/>
                    </a:lnTo>
                    <a:lnTo>
                      <a:pt x="103" y="0"/>
                    </a:lnTo>
                    <a:lnTo>
                      <a:pt x="105" y="0"/>
                    </a:lnTo>
                    <a:lnTo>
                      <a:pt x="106" y="0"/>
                    </a:lnTo>
                    <a:lnTo>
                      <a:pt x="108" y="0"/>
                    </a:lnTo>
                    <a:lnTo>
                      <a:pt x="109" y="0"/>
                    </a:lnTo>
                    <a:lnTo>
                      <a:pt x="110" y="0"/>
                    </a:lnTo>
                    <a:lnTo>
                      <a:pt x="111" y="0"/>
                    </a:lnTo>
                    <a:lnTo>
                      <a:pt x="112" y="0"/>
                    </a:lnTo>
                    <a:lnTo>
                      <a:pt x="113" y="0"/>
                    </a:lnTo>
                    <a:lnTo>
                      <a:pt x="113" y="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92" name="Freeform 2229"/>
              <p:cNvSpPr>
                <a:spLocks noChangeAspect="1"/>
              </p:cNvSpPr>
              <p:nvPr/>
            </p:nvSpPr>
            <p:spPr bwMode="auto">
              <a:xfrm>
                <a:off x="4851" y="2209"/>
                <a:ext cx="35" cy="35"/>
              </a:xfrm>
              <a:custGeom>
                <a:avLst/>
                <a:gdLst>
                  <a:gd name="T0" fmla="*/ 0 w 104"/>
                  <a:gd name="T1" fmla="*/ 0 h 105"/>
                  <a:gd name="T2" fmla="*/ 0 w 104"/>
                  <a:gd name="T3" fmla="*/ 0 h 105"/>
                  <a:gd name="T4" fmla="*/ 0 w 104"/>
                  <a:gd name="T5" fmla="*/ 0 h 105"/>
                  <a:gd name="T6" fmla="*/ 0 w 104"/>
                  <a:gd name="T7" fmla="*/ 0 h 105"/>
                  <a:gd name="T8" fmla="*/ 0 w 104"/>
                  <a:gd name="T9" fmla="*/ 0 h 105"/>
                  <a:gd name="T10" fmla="*/ 0 w 104"/>
                  <a:gd name="T11" fmla="*/ 0 h 105"/>
                  <a:gd name="T12" fmla="*/ 0 w 104"/>
                  <a:gd name="T13" fmla="*/ 0 h 105"/>
                  <a:gd name="T14" fmla="*/ 0 w 104"/>
                  <a:gd name="T15" fmla="*/ 0 h 105"/>
                  <a:gd name="T16" fmla="*/ 0 w 104"/>
                  <a:gd name="T17" fmla="*/ 0 h 105"/>
                  <a:gd name="T18" fmla="*/ 0 w 104"/>
                  <a:gd name="T19" fmla="*/ 0 h 105"/>
                  <a:gd name="T20" fmla="*/ 0 w 104"/>
                  <a:gd name="T21" fmla="*/ 0 h 105"/>
                  <a:gd name="T22" fmla="*/ 0 w 104"/>
                  <a:gd name="T23" fmla="*/ 0 h 105"/>
                  <a:gd name="T24" fmla="*/ 0 w 104"/>
                  <a:gd name="T25" fmla="*/ 0 h 105"/>
                  <a:gd name="T26" fmla="*/ 0 w 104"/>
                  <a:gd name="T27" fmla="*/ 0 h 105"/>
                  <a:gd name="T28" fmla="*/ 0 w 104"/>
                  <a:gd name="T29" fmla="*/ 0 h 105"/>
                  <a:gd name="T30" fmla="*/ 0 w 104"/>
                  <a:gd name="T31" fmla="*/ 0 h 105"/>
                  <a:gd name="T32" fmla="*/ 0 w 104"/>
                  <a:gd name="T33" fmla="*/ 0 h 105"/>
                  <a:gd name="T34" fmla="*/ 0 w 104"/>
                  <a:gd name="T35" fmla="*/ 0 h 105"/>
                  <a:gd name="T36" fmla="*/ 0 w 104"/>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4" h="105">
                    <a:moveTo>
                      <a:pt x="104" y="0"/>
                    </a:moveTo>
                    <a:lnTo>
                      <a:pt x="0" y="105"/>
                    </a:lnTo>
                    <a:lnTo>
                      <a:pt x="0" y="102"/>
                    </a:lnTo>
                    <a:lnTo>
                      <a:pt x="0" y="100"/>
                    </a:lnTo>
                    <a:lnTo>
                      <a:pt x="1" y="96"/>
                    </a:lnTo>
                    <a:lnTo>
                      <a:pt x="1" y="94"/>
                    </a:lnTo>
                    <a:lnTo>
                      <a:pt x="2" y="91"/>
                    </a:lnTo>
                    <a:lnTo>
                      <a:pt x="2" y="89"/>
                    </a:lnTo>
                    <a:lnTo>
                      <a:pt x="2" y="87"/>
                    </a:lnTo>
                    <a:lnTo>
                      <a:pt x="3" y="84"/>
                    </a:lnTo>
                    <a:lnTo>
                      <a:pt x="85" y="2"/>
                    </a:lnTo>
                    <a:lnTo>
                      <a:pt x="87" y="2"/>
                    </a:lnTo>
                    <a:lnTo>
                      <a:pt x="89" y="2"/>
                    </a:lnTo>
                    <a:lnTo>
                      <a:pt x="93" y="1"/>
                    </a:lnTo>
                    <a:lnTo>
                      <a:pt x="95" y="1"/>
                    </a:lnTo>
                    <a:lnTo>
                      <a:pt x="97" y="1"/>
                    </a:lnTo>
                    <a:lnTo>
                      <a:pt x="100" y="1"/>
                    </a:lnTo>
                    <a:lnTo>
                      <a:pt x="102" y="0"/>
                    </a:lnTo>
                    <a:lnTo>
                      <a:pt x="104"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93" name="Freeform 2230"/>
              <p:cNvSpPr>
                <a:spLocks noChangeAspect="1"/>
              </p:cNvSpPr>
              <p:nvPr/>
            </p:nvSpPr>
            <p:spPr bwMode="auto">
              <a:xfrm>
                <a:off x="4851" y="2210"/>
                <a:ext cx="32" cy="31"/>
              </a:xfrm>
              <a:custGeom>
                <a:avLst/>
                <a:gdLst>
                  <a:gd name="T0" fmla="*/ 0 w 95"/>
                  <a:gd name="T1" fmla="*/ 0 h 94"/>
                  <a:gd name="T2" fmla="*/ 0 w 95"/>
                  <a:gd name="T3" fmla="*/ 0 h 94"/>
                  <a:gd name="T4" fmla="*/ 0 w 95"/>
                  <a:gd name="T5" fmla="*/ 0 h 94"/>
                  <a:gd name="T6" fmla="*/ 0 w 95"/>
                  <a:gd name="T7" fmla="*/ 0 h 94"/>
                  <a:gd name="T8" fmla="*/ 0 w 95"/>
                  <a:gd name="T9" fmla="*/ 0 h 94"/>
                  <a:gd name="T10" fmla="*/ 0 w 95"/>
                  <a:gd name="T11" fmla="*/ 0 h 94"/>
                  <a:gd name="T12" fmla="*/ 0 w 95"/>
                  <a:gd name="T13" fmla="*/ 0 h 94"/>
                  <a:gd name="T14" fmla="*/ 0 w 95"/>
                  <a:gd name="T15" fmla="*/ 0 h 94"/>
                  <a:gd name="T16" fmla="*/ 0 w 95"/>
                  <a:gd name="T17" fmla="*/ 0 h 94"/>
                  <a:gd name="T18" fmla="*/ 0 w 95"/>
                  <a:gd name="T19" fmla="*/ 0 h 94"/>
                  <a:gd name="T20" fmla="*/ 0 w 95"/>
                  <a:gd name="T21" fmla="*/ 0 h 94"/>
                  <a:gd name="T22" fmla="*/ 0 w 95"/>
                  <a:gd name="T23" fmla="*/ 0 h 94"/>
                  <a:gd name="T24" fmla="*/ 0 w 95"/>
                  <a:gd name="T25" fmla="*/ 0 h 94"/>
                  <a:gd name="T26" fmla="*/ 0 w 95"/>
                  <a:gd name="T27" fmla="*/ 0 h 94"/>
                  <a:gd name="T28" fmla="*/ 0 w 95"/>
                  <a:gd name="T29" fmla="*/ 0 h 94"/>
                  <a:gd name="T30" fmla="*/ 0 w 95"/>
                  <a:gd name="T31" fmla="*/ 0 h 94"/>
                  <a:gd name="T32" fmla="*/ 0 w 95"/>
                  <a:gd name="T33" fmla="*/ 0 h 94"/>
                  <a:gd name="T34" fmla="*/ 0 w 95"/>
                  <a:gd name="T35" fmla="*/ 0 h 94"/>
                  <a:gd name="T36" fmla="*/ 0 w 95"/>
                  <a:gd name="T37" fmla="*/ 0 h 9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5" h="94">
                    <a:moveTo>
                      <a:pt x="95" y="0"/>
                    </a:moveTo>
                    <a:lnTo>
                      <a:pt x="0" y="94"/>
                    </a:lnTo>
                    <a:lnTo>
                      <a:pt x="0" y="91"/>
                    </a:lnTo>
                    <a:lnTo>
                      <a:pt x="1" y="88"/>
                    </a:lnTo>
                    <a:lnTo>
                      <a:pt x="2" y="85"/>
                    </a:lnTo>
                    <a:lnTo>
                      <a:pt x="2" y="82"/>
                    </a:lnTo>
                    <a:lnTo>
                      <a:pt x="3" y="78"/>
                    </a:lnTo>
                    <a:lnTo>
                      <a:pt x="4" y="76"/>
                    </a:lnTo>
                    <a:lnTo>
                      <a:pt x="5" y="73"/>
                    </a:lnTo>
                    <a:lnTo>
                      <a:pt x="7" y="70"/>
                    </a:lnTo>
                    <a:lnTo>
                      <a:pt x="72" y="5"/>
                    </a:lnTo>
                    <a:lnTo>
                      <a:pt x="75" y="4"/>
                    </a:lnTo>
                    <a:lnTo>
                      <a:pt x="78" y="3"/>
                    </a:lnTo>
                    <a:lnTo>
                      <a:pt x="80" y="2"/>
                    </a:lnTo>
                    <a:lnTo>
                      <a:pt x="83" y="2"/>
                    </a:lnTo>
                    <a:lnTo>
                      <a:pt x="86" y="1"/>
                    </a:lnTo>
                    <a:lnTo>
                      <a:pt x="88" y="1"/>
                    </a:lnTo>
                    <a:lnTo>
                      <a:pt x="92" y="0"/>
                    </a:lnTo>
                    <a:lnTo>
                      <a:pt x="95"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94" name="Freeform 2231"/>
              <p:cNvSpPr>
                <a:spLocks noChangeAspect="1"/>
              </p:cNvSpPr>
              <p:nvPr/>
            </p:nvSpPr>
            <p:spPr bwMode="auto">
              <a:xfrm>
                <a:off x="4852" y="2210"/>
                <a:ext cx="27" cy="27"/>
              </a:xfrm>
              <a:custGeom>
                <a:avLst/>
                <a:gdLst>
                  <a:gd name="T0" fmla="*/ 0 w 82"/>
                  <a:gd name="T1" fmla="*/ 0 h 82"/>
                  <a:gd name="T2" fmla="*/ 0 w 82"/>
                  <a:gd name="T3" fmla="*/ 0 h 82"/>
                  <a:gd name="T4" fmla="*/ 0 w 82"/>
                  <a:gd name="T5" fmla="*/ 0 h 82"/>
                  <a:gd name="T6" fmla="*/ 0 w 82"/>
                  <a:gd name="T7" fmla="*/ 0 h 82"/>
                  <a:gd name="T8" fmla="*/ 0 w 82"/>
                  <a:gd name="T9" fmla="*/ 0 h 82"/>
                  <a:gd name="T10" fmla="*/ 0 w 82"/>
                  <a:gd name="T11" fmla="*/ 0 h 82"/>
                  <a:gd name="T12" fmla="*/ 0 w 82"/>
                  <a:gd name="T13" fmla="*/ 0 h 82"/>
                  <a:gd name="T14" fmla="*/ 0 w 82"/>
                  <a:gd name="T15" fmla="*/ 0 h 82"/>
                  <a:gd name="T16" fmla="*/ 0 w 82"/>
                  <a:gd name="T17" fmla="*/ 0 h 82"/>
                  <a:gd name="T18" fmla="*/ 0 w 82"/>
                  <a:gd name="T19" fmla="*/ 0 h 82"/>
                  <a:gd name="T20" fmla="*/ 0 w 82"/>
                  <a:gd name="T21" fmla="*/ 0 h 82"/>
                  <a:gd name="T22" fmla="*/ 0 w 82"/>
                  <a:gd name="T23" fmla="*/ 0 h 82"/>
                  <a:gd name="T24" fmla="*/ 0 w 82"/>
                  <a:gd name="T25" fmla="*/ 0 h 82"/>
                  <a:gd name="T26" fmla="*/ 0 w 82"/>
                  <a:gd name="T27" fmla="*/ 0 h 82"/>
                  <a:gd name="T28" fmla="*/ 0 w 82"/>
                  <a:gd name="T29" fmla="*/ 0 h 82"/>
                  <a:gd name="T30" fmla="*/ 0 w 82"/>
                  <a:gd name="T31" fmla="*/ 0 h 82"/>
                  <a:gd name="T32" fmla="*/ 0 w 82"/>
                  <a:gd name="T33" fmla="*/ 0 h 82"/>
                  <a:gd name="T34" fmla="*/ 0 w 82"/>
                  <a:gd name="T35" fmla="*/ 0 h 82"/>
                  <a:gd name="T36" fmla="*/ 0 w 82"/>
                  <a:gd name="T37" fmla="*/ 0 h 8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2" h="82">
                    <a:moveTo>
                      <a:pt x="82" y="0"/>
                    </a:moveTo>
                    <a:lnTo>
                      <a:pt x="0" y="82"/>
                    </a:lnTo>
                    <a:lnTo>
                      <a:pt x="1" y="79"/>
                    </a:lnTo>
                    <a:lnTo>
                      <a:pt x="2" y="74"/>
                    </a:lnTo>
                    <a:lnTo>
                      <a:pt x="3" y="71"/>
                    </a:lnTo>
                    <a:lnTo>
                      <a:pt x="6" y="67"/>
                    </a:lnTo>
                    <a:lnTo>
                      <a:pt x="7" y="64"/>
                    </a:lnTo>
                    <a:lnTo>
                      <a:pt x="8" y="60"/>
                    </a:lnTo>
                    <a:lnTo>
                      <a:pt x="10" y="56"/>
                    </a:lnTo>
                    <a:lnTo>
                      <a:pt x="12" y="53"/>
                    </a:lnTo>
                    <a:lnTo>
                      <a:pt x="55" y="10"/>
                    </a:lnTo>
                    <a:lnTo>
                      <a:pt x="58" y="9"/>
                    </a:lnTo>
                    <a:lnTo>
                      <a:pt x="61" y="7"/>
                    </a:lnTo>
                    <a:lnTo>
                      <a:pt x="64" y="6"/>
                    </a:lnTo>
                    <a:lnTo>
                      <a:pt x="67" y="4"/>
                    </a:lnTo>
                    <a:lnTo>
                      <a:pt x="72" y="3"/>
                    </a:lnTo>
                    <a:lnTo>
                      <a:pt x="75" y="2"/>
                    </a:lnTo>
                    <a:lnTo>
                      <a:pt x="78" y="1"/>
                    </a:lnTo>
                    <a:lnTo>
                      <a:pt x="82"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95" name="Freeform 2232"/>
              <p:cNvSpPr>
                <a:spLocks noChangeAspect="1"/>
              </p:cNvSpPr>
              <p:nvPr/>
            </p:nvSpPr>
            <p:spPr bwMode="auto">
              <a:xfrm>
                <a:off x="4854" y="2211"/>
                <a:ext cx="21"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w 65"/>
                  <a:gd name="T15" fmla="*/ 0 h 65"/>
                  <a:gd name="T16" fmla="*/ 0 w 65"/>
                  <a:gd name="T17" fmla="*/ 0 h 65"/>
                  <a:gd name="T18" fmla="*/ 0 w 65"/>
                  <a:gd name="T19" fmla="*/ 0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5" h="65">
                    <a:moveTo>
                      <a:pt x="65" y="0"/>
                    </a:moveTo>
                    <a:lnTo>
                      <a:pt x="0" y="65"/>
                    </a:lnTo>
                    <a:lnTo>
                      <a:pt x="4" y="54"/>
                    </a:lnTo>
                    <a:lnTo>
                      <a:pt x="10" y="44"/>
                    </a:lnTo>
                    <a:lnTo>
                      <a:pt x="18" y="34"/>
                    </a:lnTo>
                    <a:lnTo>
                      <a:pt x="25" y="25"/>
                    </a:lnTo>
                    <a:lnTo>
                      <a:pt x="34" y="17"/>
                    </a:lnTo>
                    <a:lnTo>
                      <a:pt x="43" y="10"/>
                    </a:lnTo>
                    <a:lnTo>
                      <a:pt x="54" y="4"/>
                    </a:lnTo>
                    <a:lnTo>
                      <a:pt x="65"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96" name="Freeform 2233"/>
              <p:cNvSpPr>
                <a:spLocks noChangeAspect="1"/>
              </p:cNvSpPr>
              <p:nvPr/>
            </p:nvSpPr>
            <p:spPr bwMode="auto">
              <a:xfrm>
                <a:off x="4856" y="2213"/>
                <a:ext cx="14" cy="15"/>
              </a:xfrm>
              <a:custGeom>
                <a:avLst/>
                <a:gdLst>
                  <a:gd name="T0" fmla="*/ 0 w 43"/>
                  <a:gd name="T1" fmla="*/ 0 h 43"/>
                  <a:gd name="T2" fmla="*/ 0 w 43"/>
                  <a:gd name="T3" fmla="*/ 0 h 43"/>
                  <a:gd name="T4" fmla="*/ 0 w 43"/>
                  <a:gd name="T5" fmla="*/ 0 h 43"/>
                  <a:gd name="T6" fmla="*/ 0 w 43"/>
                  <a:gd name="T7" fmla="*/ 0 h 43"/>
                  <a:gd name="T8" fmla="*/ 0 w 43"/>
                  <a:gd name="T9" fmla="*/ 0 h 43"/>
                  <a:gd name="T10" fmla="*/ 0 w 43"/>
                  <a:gd name="T11" fmla="*/ 0 h 43"/>
                  <a:gd name="T12" fmla="*/ 0 w 43"/>
                  <a:gd name="T13" fmla="*/ 0 h 43"/>
                  <a:gd name="T14" fmla="*/ 0 w 43"/>
                  <a:gd name="T15" fmla="*/ 0 h 43"/>
                  <a:gd name="T16" fmla="*/ 0 w 43"/>
                  <a:gd name="T17" fmla="*/ 0 h 43"/>
                  <a:gd name="T18" fmla="*/ 0 w 43"/>
                  <a:gd name="T19" fmla="*/ 0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 h="43">
                    <a:moveTo>
                      <a:pt x="43" y="0"/>
                    </a:moveTo>
                    <a:lnTo>
                      <a:pt x="0" y="43"/>
                    </a:lnTo>
                    <a:lnTo>
                      <a:pt x="4" y="37"/>
                    </a:lnTo>
                    <a:lnTo>
                      <a:pt x="8" y="30"/>
                    </a:lnTo>
                    <a:lnTo>
                      <a:pt x="13" y="24"/>
                    </a:lnTo>
                    <a:lnTo>
                      <a:pt x="18" y="19"/>
                    </a:lnTo>
                    <a:lnTo>
                      <a:pt x="23" y="13"/>
                    </a:lnTo>
                    <a:lnTo>
                      <a:pt x="30" y="9"/>
                    </a:lnTo>
                    <a:lnTo>
                      <a:pt x="36" y="5"/>
                    </a:lnTo>
                    <a:lnTo>
                      <a:pt x="43"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97" name="Freeform 2234"/>
              <p:cNvSpPr>
                <a:spLocks noChangeAspect="1"/>
              </p:cNvSpPr>
              <p:nvPr/>
            </p:nvSpPr>
            <p:spPr bwMode="auto">
              <a:xfrm>
                <a:off x="4851" y="2209"/>
                <a:ext cx="71" cy="75"/>
              </a:xfrm>
              <a:custGeom>
                <a:avLst/>
                <a:gdLst>
                  <a:gd name="T0" fmla="*/ 0 w 213"/>
                  <a:gd name="T1" fmla="*/ 0 h 224"/>
                  <a:gd name="T2" fmla="*/ 0 w 213"/>
                  <a:gd name="T3" fmla="*/ 0 h 224"/>
                  <a:gd name="T4" fmla="*/ 0 w 213"/>
                  <a:gd name="T5" fmla="*/ 0 h 224"/>
                  <a:gd name="T6" fmla="*/ 0 w 213"/>
                  <a:gd name="T7" fmla="*/ 0 h 224"/>
                  <a:gd name="T8" fmla="*/ 0 w 213"/>
                  <a:gd name="T9" fmla="*/ 0 h 224"/>
                  <a:gd name="T10" fmla="*/ 0 w 213"/>
                  <a:gd name="T11" fmla="*/ 0 h 224"/>
                  <a:gd name="T12" fmla="*/ 0 w 213"/>
                  <a:gd name="T13" fmla="*/ 0 h 224"/>
                  <a:gd name="T14" fmla="*/ 0 w 213"/>
                  <a:gd name="T15" fmla="*/ 0 h 224"/>
                  <a:gd name="T16" fmla="*/ 0 w 213"/>
                  <a:gd name="T17" fmla="*/ 0 h 224"/>
                  <a:gd name="T18" fmla="*/ 0 w 213"/>
                  <a:gd name="T19" fmla="*/ 0 h 224"/>
                  <a:gd name="T20" fmla="*/ 0 w 213"/>
                  <a:gd name="T21" fmla="*/ 0 h 224"/>
                  <a:gd name="T22" fmla="*/ 0 w 213"/>
                  <a:gd name="T23" fmla="*/ 0 h 224"/>
                  <a:gd name="T24" fmla="*/ 0 w 213"/>
                  <a:gd name="T25" fmla="*/ 0 h 224"/>
                  <a:gd name="T26" fmla="*/ 0 w 213"/>
                  <a:gd name="T27" fmla="*/ 0 h 224"/>
                  <a:gd name="T28" fmla="*/ 0 w 213"/>
                  <a:gd name="T29" fmla="*/ 0 h 224"/>
                  <a:gd name="T30" fmla="*/ 0 w 213"/>
                  <a:gd name="T31" fmla="*/ 0 h 224"/>
                  <a:gd name="T32" fmla="*/ 0 w 213"/>
                  <a:gd name="T33" fmla="*/ 0 h 224"/>
                  <a:gd name="T34" fmla="*/ 0 w 213"/>
                  <a:gd name="T35" fmla="*/ 0 h 224"/>
                  <a:gd name="T36" fmla="*/ 0 w 213"/>
                  <a:gd name="T37" fmla="*/ 0 h 224"/>
                  <a:gd name="T38" fmla="*/ 0 w 213"/>
                  <a:gd name="T39" fmla="*/ 0 h 224"/>
                  <a:gd name="T40" fmla="*/ 0 w 213"/>
                  <a:gd name="T41" fmla="*/ 0 h 224"/>
                  <a:gd name="T42" fmla="*/ 0 w 213"/>
                  <a:gd name="T43" fmla="*/ 0 h 224"/>
                  <a:gd name="T44" fmla="*/ 0 w 213"/>
                  <a:gd name="T45" fmla="*/ 0 h 224"/>
                  <a:gd name="T46" fmla="*/ 0 w 213"/>
                  <a:gd name="T47" fmla="*/ 0 h 224"/>
                  <a:gd name="T48" fmla="*/ 0 w 213"/>
                  <a:gd name="T49" fmla="*/ 0 h 224"/>
                  <a:gd name="T50" fmla="*/ 0 w 213"/>
                  <a:gd name="T51" fmla="*/ 0 h 224"/>
                  <a:gd name="T52" fmla="*/ 0 w 213"/>
                  <a:gd name="T53" fmla="*/ 0 h 224"/>
                  <a:gd name="T54" fmla="*/ 0 w 213"/>
                  <a:gd name="T55" fmla="*/ 0 h 224"/>
                  <a:gd name="T56" fmla="*/ 0 w 213"/>
                  <a:gd name="T57" fmla="*/ 0 h 224"/>
                  <a:gd name="T58" fmla="*/ 0 w 213"/>
                  <a:gd name="T59" fmla="*/ 0 h 224"/>
                  <a:gd name="T60" fmla="*/ 0 w 213"/>
                  <a:gd name="T61" fmla="*/ 0 h 224"/>
                  <a:gd name="T62" fmla="*/ 0 w 213"/>
                  <a:gd name="T63" fmla="*/ 0 h 2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3" h="224">
                    <a:moveTo>
                      <a:pt x="106" y="0"/>
                    </a:moveTo>
                    <a:lnTo>
                      <a:pt x="117" y="1"/>
                    </a:lnTo>
                    <a:lnTo>
                      <a:pt x="128" y="2"/>
                    </a:lnTo>
                    <a:lnTo>
                      <a:pt x="137" y="5"/>
                    </a:lnTo>
                    <a:lnTo>
                      <a:pt x="148" y="9"/>
                    </a:lnTo>
                    <a:lnTo>
                      <a:pt x="157" y="14"/>
                    </a:lnTo>
                    <a:lnTo>
                      <a:pt x="166" y="19"/>
                    </a:lnTo>
                    <a:lnTo>
                      <a:pt x="174" y="25"/>
                    </a:lnTo>
                    <a:lnTo>
                      <a:pt x="181" y="33"/>
                    </a:lnTo>
                    <a:lnTo>
                      <a:pt x="188" y="41"/>
                    </a:lnTo>
                    <a:lnTo>
                      <a:pt x="195" y="50"/>
                    </a:lnTo>
                    <a:lnTo>
                      <a:pt x="200" y="59"/>
                    </a:lnTo>
                    <a:lnTo>
                      <a:pt x="204" y="69"/>
                    </a:lnTo>
                    <a:lnTo>
                      <a:pt x="208" y="79"/>
                    </a:lnTo>
                    <a:lnTo>
                      <a:pt x="211" y="90"/>
                    </a:lnTo>
                    <a:lnTo>
                      <a:pt x="212" y="101"/>
                    </a:lnTo>
                    <a:lnTo>
                      <a:pt x="213" y="112"/>
                    </a:lnTo>
                    <a:lnTo>
                      <a:pt x="212" y="124"/>
                    </a:lnTo>
                    <a:lnTo>
                      <a:pt x="211" y="135"/>
                    </a:lnTo>
                    <a:lnTo>
                      <a:pt x="208" y="145"/>
                    </a:lnTo>
                    <a:lnTo>
                      <a:pt x="204" y="156"/>
                    </a:lnTo>
                    <a:lnTo>
                      <a:pt x="200" y="166"/>
                    </a:lnTo>
                    <a:lnTo>
                      <a:pt x="195" y="175"/>
                    </a:lnTo>
                    <a:lnTo>
                      <a:pt x="188" y="184"/>
                    </a:lnTo>
                    <a:lnTo>
                      <a:pt x="181" y="191"/>
                    </a:lnTo>
                    <a:lnTo>
                      <a:pt x="174" y="199"/>
                    </a:lnTo>
                    <a:lnTo>
                      <a:pt x="166" y="205"/>
                    </a:lnTo>
                    <a:lnTo>
                      <a:pt x="157" y="211"/>
                    </a:lnTo>
                    <a:lnTo>
                      <a:pt x="148" y="216"/>
                    </a:lnTo>
                    <a:lnTo>
                      <a:pt x="137" y="220"/>
                    </a:lnTo>
                    <a:lnTo>
                      <a:pt x="128" y="222"/>
                    </a:lnTo>
                    <a:lnTo>
                      <a:pt x="117" y="224"/>
                    </a:lnTo>
                    <a:lnTo>
                      <a:pt x="106" y="224"/>
                    </a:lnTo>
                    <a:lnTo>
                      <a:pt x="96" y="224"/>
                    </a:lnTo>
                    <a:lnTo>
                      <a:pt x="85" y="222"/>
                    </a:lnTo>
                    <a:lnTo>
                      <a:pt x="75" y="220"/>
                    </a:lnTo>
                    <a:lnTo>
                      <a:pt x="65" y="216"/>
                    </a:lnTo>
                    <a:lnTo>
                      <a:pt x="55" y="211"/>
                    </a:lnTo>
                    <a:lnTo>
                      <a:pt x="47" y="205"/>
                    </a:lnTo>
                    <a:lnTo>
                      <a:pt x="38" y="199"/>
                    </a:lnTo>
                    <a:lnTo>
                      <a:pt x="31" y="191"/>
                    </a:lnTo>
                    <a:lnTo>
                      <a:pt x="25" y="184"/>
                    </a:lnTo>
                    <a:lnTo>
                      <a:pt x="18" y="175"/>
                    </a:lnTo>
                    <a:lnTo>
                      <a:pt x="13" y="166"/>
                    </a:lnTo>
                    <a:lnTo>
                      <a:pt x="9" y="156"/>
                    </a:lnTo>
                    <a:lnTo>
                      <a:pt x="4" y="145"/>
                    </a:lnTo>
                    <a:lnTo>
                      <a:pt x="2" y="135"/>
                    </a:lnTo>
                    <a:lnTo>
                      <a:pt x="0" y="124"/>
                    </a:lnTo>
                    <a:lnTo>
                      <a:pt x="0" y="112"/>
                    </a:lnTo>
                    <a:lnTo>
                      <a:pt x="0" y="101"/>
                    </a:lnTo>
                    <a:lnTo>
                      <a:pt x="2" y="90"/>
                    </a:lnTo>
                    <a:lnTo>
                      <a:pt x="4" y="79"/>
                    </a:lnTo>
                    <a:lnTo>
                      <a:pt x="9" y="69"/>
                    </a:lnTo>
                    <a:lnTo>
                      <a:pt x="13" y="59"/>
                    </a:lnTo>
                    <a:lnTo>
                      <a:pt x="18" y="50"/>
                    </a:lnTo>
                    <a:lnTo>
                      <a:pt x="25" y="41"/>
                    </a:lnTo>
                    <a:lnTo>
                      <a:pt x="31" y="33"/>
                    </a:lnTo>
                    <a:lnTo>
                      <a:pt x="38" y="25"/>
                    </a:lnTo>
                    <a:lnTo>
                      <a:pt x="47" y="19"/>
                    </a:lnTo>
                    <a:lnTo>
                      <a:pt x="55" y="14"/>
                    </a:lnTo>
                    <a:lnTo>
                      <a:pt x="65" y="9"/>
                    </a:lnTo>
                    <a:lnTo>
                      <a:pt x="75" y="5"/>
                    </a:lnTo>
                    <a:lnTo>
                      <a:pt x="85" y="2"/>
                    </a:lnTo>
                    <a:lnTo>
                      <a:pt x="96" y="1"/>
                    </a:lnTo>
                    <a:lnTo>
                      <a:pt x="106" y="0"/>
                    </a:lnTo>
                  </a:path>
                </a:pathLst>
              </a:custGeom>
              <a:gradFill rotWithShape="0">
                <a:gsLst>
                  <a:gs pos="0">
                    <a:srgbClr val="FFE0B2"/>
                  </a:gs>
                  <a:gs pos="100000">
                    <a:srgbClr val="FF9900"/>
                  </a:gs>
                </a:gsLst>
                <a:path path="rect">
                  <a:fillToRect l="50000" t="50000" r="50000" b="50000"/>
                </a:path>
              </a:gradFill>
              <a:ln w="1588">
                <a:solidFill>
                  <a:srgbClr val="1F1A17"/>
                </a:solidFill>
                <a:prstDash val="solid"/>
                <a:round/>
                <a:headEnd/>
                <a:tailEnd/>
              </a:ln>
            </p:spPr>
            <p:txBody>
              <a:bodyPr/>
              <a:lstStyle/>
              <a:p>
                <a:endParaRPr lang="en-US"/>
              </a:p>
            </p:txBody>
          </p:sp>
          <p:sp>
            <p:nvSpPr>
              <p:cNvPr id="388898" name="Freeform 2235"/>
              <p:cNvSpPr>
                <a:spLocks noChangeAspect="1"/>
              </p:cNvSpPr>
              <p:nvPr/>
            </p:nvSpPr>
            <p:spPr bwMode="auto">
              <a:xfrm>
                <a:off x="5411" y="2136"/>
                <a:ext cx="14" cy="14"/>
              </a:xfrm>
              <a:custGeom>
                <a:avLst/>
                <a:gdLst>
                  <a:gd name="T0" fmla="*/ 0 w 41"/>
                  <a:gd name="T1" fmla="*/ 0 h 42"/>
                  <a:gd name="T2" fmla="*/ 0 w 41"/>
                  <a:gd name="T3" fmla="*/ 0 h 42"/>
                  <a:gd name="T4" fmla="*/ 0 w 41"/>
                  <a:gd name="T5" fmla="*/ 0 h 42"/>
                  <a:gd name="T6" fmla="*/ 0 w 41"/>
                  <a:gd name="T7" fmla="*/ 0 h 42"/>
                  <a:gd name="T8" fmla="*/ 0 w 41"/>
                  <a:gd name="T9" fmla="*/ 0 h 42"/>
                  <a:gd name="T10" fmla="*/ 0 w 41"/>
                  <a:gd name="T11" fmla="*/ 0 h 42"/>
                  <a:gd name="T12" fmla="*/ 0 w 41"/>
                  <a:gd name="T13" fmla="*/ 0 h 42"/>
                  <a:gd name="T14" fmla="*/ 0 w 41"/>
                  <a:gd name="T15" fmla="*/ 0 h 42"/>
                  <a:gd name="T16" fmla="*/ 0 w 41"/>
                  <a:gd name="T17" fmla="*/ 0 h 42"/>
                  <a:gd name="T18" fmla="*/ 0 w 41"/>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 h="42">
                    <a:moveTo>
                      <a:pt x="0" y="42"/>
                    </a:moveTo>
                    <a:lnTo>
                      <a:pt x="41" y="0"/>
                    </a:lnTo>
                    <a:lnTo>
                      <a:pt x="37" y="6"/>
                    </a:lnTo>
                    <a:lnTo>
                      <a:pt x="33" y="12"/>
                    </a:lnTo>
                    <a:lnTo>
                      <a:pt x="28" y="19"/>
                    </a:lnTo>
                    <a:lnTo>
                      <a:pt x="23" y="24"/>
                    </a:lnTo>
                    <a:lnTo>
                      <a:pt x="18" y="29"/>
                    </a:lnTo>
                    <a:lnTo>
                      <a:pt x="11" y="34"/>
                    </a:lnTo>
                    <a:lnTo>
                      <a:pt x="6" y="38"/>
                    </a:lnTo>
                    <a:lnTo>
                      <a:pt x="0" y="42"/>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99" name="Freeform 2236"/>
              <p:cNvSpPr>
                <a:spLocks noChangeAspect="1"/>
              </p:cNvSpPr>
              <p:nvPr/>
            </p:nvSpPr>
            <p:spPr bwMode="auto">
              <a:xfrm>
                <a:off x="5406" y="2131"/>
                <a:ext cx="21" cy="22"/>
              </a:xfrm>
              <a:custGeom>
                <a:avLst/>
                <a:gdLst>
                  <a:gd name="T0" fmla="*/ 0 w 64"/>
                  <a:gd name="T1" fmla="*/ 0 h 66"/>
                  <a:gd name="T2" fmla="*/ 0 w 64"/>
                  <a:gd name="T3" fmla="*/ 0 h 66"/>
                  <a:gd name="T4" fmla="*/ 0 w 64"/>
                  <a:gd name="T5" fmla="*/ 0 h 66"/>
                  <a:gd name="T6" fmla="*/ 0 w 64"/>
                  <a:gd name="T7" fmla="*/ 0 h 66"/>
                  <a:gd name="T8" fmla="*/ 0 w 64"/>
                  <a:gd name="T9" fmla="*/ 0 h 66"/>
                  <a:gd name="T10" fmla="*/ 0 w 64"/>
                  <a:gd name="T11" fmla="*/ 0 h 66"/>
                  <a:gd name="T12" fmla="*/ 0 w 64"/>
                  <a:gd name="T13" fmla="*/ 0 h 66"/>
                  <a:gd name="T14" fmla="*/ 0 w 64"/>
                  <a:gd name="T15" fmla="*/ 0 h 66"/>
                  <a:gd name="T16" fmla="*/ 0 w 64"/>
                  <a:gd name="T17" fmla="*/ 0 h 66"/>
                  <a:gd name="T18" fmla="*/ 0 w 64"/>
                  <a:gd name="T19" fmla="*/ 0 h 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4" h="66">
                    <a:moveTo>
                      <a:pt x="0" y="66"/>
                    </a:moveTo>
                    <a:lnTo>
                      <a:pt x="64" y="0"/>
                    </a:lnTo>
                    <a:lnTo>
                      <a:pt x="60" y="10"/>
                    </a:lnTo>
                    <a:lnTo>
                      <a:pt x="54" y="21"/>
                    </a:lnTo>
                    <a:lnTo>
                      <a:pt x="46" y="31"/>
                    </a:lnTo>
                    <a:lnTo>
                      <a:pt x="39" y="40"/>
                    </a:lnTo>
                    <a:lnTo>
                      <a:pt x="30" y="48"/>
                    </a:lnTo>
                    <a:lnTo>
                      <a:pt x="21" y="55"/>
                    </a:lnTo>
                    <a:lnTo>
                      <a:pt x="10" y="60"/>
                    </a:lnTo>
                    <a:lnTo>
                      <a:pt x="0" y="6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00" name="Freeform 2237"/>
              <p:cNvSpPr>
                <a:spLocks noChangeAspect="1"/>
              </p:cNvSpPr>
              <p:nvPr/>
            </p:nvSpPr>
            <p:spPr bwMode="auto">
              <a:xfrm>
                <a:off x="5402" y="2126"/>
                <a:ext cx="27" cy="28"/>
              </a:xfrm>
              <a:custGeom>
                <a:avLst/>
                <a:gdLst>
                  <a:gd name="T0" fmla="*/ 0 w 82"/>
                  <a:gd name="T1" fmla="*/ 0 h 82"/>
                  <a:gd name="T2" fmla="*/ 0 w 82"/>
                  <a:gd name="T3" fmla="*/ 0 h 82"/>
                  <a:gd name="T4" fmla="*/ 0 w 82"/>
                  <a:gd name="T5" fmla="*/ 0 h 82"/>
                  <a:gd name="T6" fmla="*/ 0 w 82"/>
                  <a:gd name="T7" fmla="*/ 0 h 82"/>
                  <a:gd name="T8" fmla="*/ 0 w 82"/>
                  <a:gd name="T9" fmla="*/ 0 h 82"/>
                  <a:gd name="T10" fmla="*/ 0 w 82"/>
                  <a:gd name="T11" fmla="*/ 0 h 82"/>
                  <a:gd name="T12" fmla="*/ 0 w 82"/>
                  <a:gd name="T13" fmla="*/ 0 h 82"/>
                  <a:gd name="T14" fmla="*/ 0 w 82"/>
                  <a:gd name="T15" fmla="*/ 0 h 82"/>
                  <a:gd name="T16" fmla="*/ 0 w 82"/>
                  <a:gd name="T17" fmla="*/ 0 h 82"/>
                  <a:gd name="T18" fmla="*/ 0 w 82"/>
                  <a:gd name="T19" fmla="*/ 0 h 82"/>
                  <a:gd name="T20" fmla="*/ 0 w 82"/>
                  <a:gd name="T21" fmla="*/ 0 h 82"/>
                  <a:gd name="T22" fmla="*/ 0 w 82"/>
                  <a:gd name="T23" fmla="*/ 0 h 82"/>
                  <a:gd name="T24" fmla="*/ 0 w 82"/>
                  <a:gd name="T25" fmla="*/ 0 h 82"/>
                  <a:gd name="T26" fmla="*/ 0 w 82"/>
                  <a:gd name="T27" fmla="*/ 0 h 82"/>
                  <a:gd name="T28" fmla="*/ 0 w 82"/>
                  <a:gd name="T29" fmla="*/ 0 h 82"/>
                  <a:gd name="T30" fmla="*/ 0 w 82"/>
                  <a:gd name="T31" fmla="*/ 0 h 82"/>
                  <a:gd name="T32" fmla="*/ 0 w 82"/>
                  <a:gd name="T33" fmla="*/ 0 h 82"/>
                  <a:gd name="T34" fmla="*/ 0 w 82"/>
                  <a:gd name="T35" fmla="*/ 0 h 82"/>
                  <a:gd name="T36" fmla="*/ 0 w 82"/>
                  <a:gd name="T37" fmla="*/ 0 h 8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2" h="82">
                    <a:moveTo>
                      <a:pt x="70" y="29"/>
                    </a:moveTo>
                    <a:lnTo>
                      <a:pt x="29" y="71"/>
                    </a:lnTo>
                    <a:lnTo>
                      <a:pt x="24" y="72"/>
                    </a:lnTo>
                    <a:lnTo>
                      <a:pt x="21" y="74"/>
                    </a:lnTo>
                    <a:lnTo>
                      <a:pt x="18" y="75"/>
                    </a:lnTo>
                    <a:lnTo>
                      <a:pt x="15" y="78"/>
                    </a:lnTo>
                    <a:lnTo>
                      <a:pt x="10" y="79"/>
                    </a:lnTo>
                    <a:lnTo>
                      <a:pt x="7" y="80"/>
                    </a:lnTo>
                    <a:lnTo>
                      <a:pt x="4" y="81"/>
                    </a:lnTo>
                    <a:lnTo>
                      <a:pt x="0" y="82"/>
                    </a:lnTo>
                    <a:lnTo>
                      <a:pt x="82" y="0"/>
                    </a:lnTo>
                    <a:lnTo>
                      <a:pt x="81" y="4"/>
                    </a:lnTo>
                    <a:lnTo>
                      <a:pt x="80" y="7"/>
                    </a:lnTo>
                    <a:lnTo>
                      <a:pt x="79" y="12"/>
                    </a:lnTo>
                    <a:lnTo>
                      <a:pt x="76" y="15"/>
                    </a:lnTo>
                    <a:lnTo>
                      <a:pt x="75" y="18"/>
                    </a:lnTo>
                    <a:lnTo>
                      <a:pt x="73" y="22"/>
                    </a:lnTo>
                    <a:lnTo>
                      <a:pt x="72" y="25"/>
                    </a:lnTo>
                    <a:lnTo>
                      <a:pt x="70" y="2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01" name="Freeform 2238"/>
              <p:cNvSpPr>
                <a:spLocks noChangeAspect="1"/>
              </p:cNvSpPr>
              <p:nvPr/>
            </p:nvSpPr>
            <p:spPr bwMode="auto">
              <a:xfrm>
                <a:off x="5398" y="2123"/>
                <a:ext cx="32" cy="31"/>
              </a:xfrm>
              <a:custGeom>
                <a:avLst/>
                <a:gdLst>
                  <a:gd name="T0" fmla="*/ 0 w 95"/>
                  <a:gd name="T1" fmla="*/ 0 h 94"/>
                  <a:gd name="T2" fmla="*/ 0 w 95"/>
                  <a:gd name="T3" fmla="*/ 0 h 94"/>
                  <a:gd name="T4" fmla="*/ 0 w 95"/>
                  <a:gd name="T5" fmla="*/ 0 h 94"/>
                  <a:gd name="T6" fmla="*/ 0 w 95"/>
                  <a:gd name="T7" fmla="*/ 0 h 94"/>
                  <a:gd name="T8" fmla="*/ 0 w 95"/>
                  <a:gd name="T9" fmla="*/ 0 h 94"/>
                  <a:gd name="T10" fmla="*/ 0 w 95"/>
                  <a:gd name="T11" fmla="*/ 0 h 94"/>
                  <a:gd name="T12" fmla="*/ 0 w 95"/>
                  <a:gd name="T13" fmla="*/ 0 h 94"/>
                  <a:gd name="T14" fmla="*/ 0 w 95"/>
                  <a:gd name="T15" fmla="*/ 0 h 94"/>
                  <a:gd name="T16" fmla="*/ 0 w 95"/>
                  <a:gd name="T17" fmla="*/ 0 h 94"/>
                  <a:gd name="T18" fmla="*/ 0 w 95"/>
                  <a:gd name="T19" fmla="*/ 0 h 94"/>
                  <a:gd name="T20" fmla="*/ 0 w 95"/>
                  <a:gd name="T21" fmla="*/ 0 h 94"/>
                  <a:gd name="T22" fmla="*/ 0 w 95"/>
                  <a:gd name="T23" fmla="*/ 0 h 94"/>
                  <a:gd name="T24" fmla="*/ 0 w 95"/>
                  <a:gd name="T25" fmla="*/ 0 h 94"/>
                  <a:gd name="T26" fmla="*/ 0 w 95"/>
                  <a:gd name="T27" fmla="*/ 0 h 94"/>
                  <a:gd name="T28" fmla="*/ 0 w 95"/>
                  <a:gd name="T29" fmla="*/ 0 h 94"/>
                  <a:gd name="T30" fmla="*/ 0 w 95"/>
                  <a:gd name="T31" fmla="*/ 0 h 94"/>
                  <a:gd name="T32" fmla="*/ 0 w 95"/>
                  <a:gd name="T33" fmla="*/ 0 h 94"/>
                  <a:gd name="T34" fmla="*/ 0 w 95"/>
                  <a:gd name="T35" fmla="*/ 0 h 94"/>
                  <a:gd name="T36" fmla="*/ 0 w 95"/>
                  <a:gd name="T37" fmla="*/ 0 h 9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5" h="94">
                    <a:moveTo>
                      <a:pt x="88" y="24"/>
                    </a:moveTo>
                    <a:lnTo>
                      <a:pt x="24" y="90"/>
                    </a:lnTo>
                    <a:lnTo>
                      <a:pt x="20" y="90"/>
                    </a:lnTo>
                    <a:lnTo>
                      <a:pt x="17" y="91"/>
                    </a:lnTo>
                    <a:lnTo>
                      <a:pt x="15" y="92"/>
                    </a:lnTo>
                    <a:lnTo>
                      <a:pt x="12" y="93"/>
                    </a:lnTo>
                    <a:lnTo>
                      <a:pt x="9" y="93"/>
                    </a:lnTo>
                    <a:lnTo>
                      <a:pt x="7" y="94"/>
                    </a:lnTo>
                    <a:lnTo>
                      <a:pt x="3" y="94"/>
                    </a:lnTo>
                    <a:lnTo>
                      <a:pt x="0" y="94"/>
                    </a:lnTo>
                    <a:lnTo>
                      <a:pt x="95" y="0"/>
                    </a:lnTo>
                    <a:lnTo>
                      <a:pt x="95" y="3"/>
                    </a:lnTo>
                    <a:lnTo>
                      <a:pt x="94" y="6"/>
                    </a:lnTo>
                    <a:lnTo>
                      <a:pt x="93" y="9"/>
                    </a:lnTo>
                    <a:lnTo>
                      <a:pt x="93" y="12"/>
                    </a:lnTo>
                    <a:lnTo>
                      <a:pt x="92" y="15"/>
                    </a:lnTo>
                    <a:lnTo>
                      <a:pt x="91" y="17"/>
                    </a:lnTo>
                    <a:lnTo>
                      <a:pt x="90" y="20"/>
                    </a:lnTo>
                    <a:lnTo>
                      <a:pt x="88" y="24"/>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02" name="Freeform 2239"/>
              <p:cNvSpPr>
                <a:spLocks noChangeAspect="1"/>
              </p:cNvSpPr>
              <p:nvPr/>
            </p:nvSpPr>
            <p:spPr bwMode="auto">
              <a:xfrm>
                <a:off x="5395" y="2119"/>
                <a:ext cx="35" cy="35"/>
              </a:xfrm>
              <a:custGeom>
                <a:avLst/>
                <a:gdLst>
                  <a:gd name="T0" fmla="*/ 0 w 104"/>
                  <a:gd name="T1" fmla="*/ 0 h 105"/>
                  <a:gd name="T2" fmla="*/ 0 w 104"/>
                  <a:gd name="T3" fmla="*/ 0 h 105"/>
                  <a:gd name="T4" fmla="*/ 0 w 104"/>
                  <a:gd name="T5" fmla="*/ 0 h 105"/>
                  <a:gd name="T6" fmla="*/ 0 w 104"/>
                  <a:gd name="T7" fmla="*/ 0 h 105"/>
                  <a:gd name="T8" fmla="*/ 0 w 104"/>
                  <a:gd name="T9" fmla="*/ 0 h 105"/>
                  <a:gd name="T10" fmla="*/ 0 w 104"/>
                  <a:gd name="T11" fmla="*/ 0 h 105"/>
                  <a:gd name="T12" fmla="*/ 0 w 104"/>
                  <a:gd name="T13" fmla="*/ 0 h 105"/>
                  <a:gd name="T14" fmla="*/ 0 w 104"/>
                  <a:gd name="T15" fmla="*/ 0 h 105"/>
                  <a:gd name="T16" fmla="*/ 0 w 104"/>
                  <a:gd name="T17" fmla="*/ 0 h 105"/>
                  <a:gd name="T18" fmla="*/ 0 w 104"/>
                  <a:gd name="T19" fmla="*/ 0 h 105"/>
                  <a:gd name="T20" fmla="*/ 0 w 104"/>
                  <a:gd name="T21" fmla="*/ 0 h 105"/>
                  <a:gd name="T22" fmla="*/ 0 w 104"/>
                  <a:gd name="T23" fmla="*/ 0 h 105"/>
                  <a:gd name="T24" fmla="*/ 0 w 104"/>
                  <a:gd name="T25" fmla="*/ 0 h 105"/>
                  <a:gd name="T26" fmla="*/ 0 w 104"/>
                  <a:gd name="T27" fmla="*/ 0 h 105"/>
                  <a:gd name="T28" fmla="*/ 0 w 104"/>
                  <a:gd name="T29" fmla="*/ 0 h 105"/>
                  <a:gd name="T30" fmla="*/ 0 w 104"/>
                  <a:gd name="T31" fmla="*/ 0 h 105"/>
                  <a:gd name="T32" fmla="*/ 0 w 104"/>
                  <a:gd name="T33" fmla="*/ 0 h 105"/>
                  <a:gd name="T34" fmla="*/ 0 w 104"/>
                  <a:gd name="T35" fmla="*/ 0 h 105"/>
                  <a:gd name="T36" fmla="*/ 0 w 104"/>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4" h="105">
                    <a:moveTo>
                      <a:pt x="101" y="21"/>
                    </a:moveTo>
                    <a:lnTo>
                      <a:pt x="19" y="103"/>
                    </a:lnTo>
                    <a:lnTo>
                      <a:pt x="17" y="103"/>
                    </a:lnTo>
                    <a:lnTo>
                      <a:pt x="15" y="104"/>
                    </a:lnTo>
                    <a:lnTo>
                      <a:pt x="11" y="104"/>
                    </a:lnTo>
                    <a:lnTo>
                      <a:pt x="9" y="104"/>
                    </a:lnTo>
                    <a:lnTo>
                      <a:pt x="7" y="104"/>
                    </a:lnTo>
                    <a:lnTo>
                      <a:pt x="4" y="105"/>
                    </a:lnTo>
                    <a:lnTo>
                      <a:pt x="2" y="105"/>
                    </a:lnTo>
                    <a:lnTo>
                      <a:pt x="0" y="105"/>
                    </a:lnTo>
                    <a:lnTo>
                      <a:pt x="104" y="0"/>
                    </a:lnTo>
                    <a:lnTo>
                      <a:pt x="104" y="3"/>
                    </a:lnTo>
                    <a:lnTo>
                      <a:pt x="104" y="5"/>
                    </a:lnTo>
                    <a:lnTo>
                      <a:pt x="103" y="8"/>
                    </a:lnTo>
                    <a:lnTo>
                      <a:pt x="103" y="10"/>
                    </a:lnTo>
                    <a:lnTo>
                      <a:pt x="102" y="13"/>
                    </a:lnTo>
                    <a:lnTo>
                      <a:pt x="102" y="16"/>
                    </a:lnTo>
                    <a:lnTo>
                      <a:pt x="102" y="19"/>
                    </a:lnTo>
                    <a:lnTo>
                      <a:pt x="101" y="2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03" name="Freeform 2240"/>
              <p:cNvSpPr>
                <a:spLocks noChangeAspect="1"/>
              </p:cNvSpPr>
              <p:nvPr/>
            </p:nvSpPr>
            <p:spPr bwMode="auto">
              <a:xfrm>
                <a:off x="5392" y="2116"/>
                <a:ext cx="38" cy="38"/>
              </a:xfrm>
              <a:custGeom>
                <a:avLst/>
                <a:gdLst>
                  <a:gd name="T0" fmla="*/ 0 w 113"/>
                  <a:gd name="T1" fmla="*/ 0 h 114"/>
                  <a:gd name="T2" fmla="*/ 0 w 113"/>
                  <a:gd name="T3" fmla="*/ 0 h 114"/>
                  <a:gd name="T4" fmla="*/ 0 w 113"/>
                  <a:gd name="T5" fmla="*/ 0 h 114"/>
                  <a:gd name="T6" fmla="*/ 0 w 113"/>
                  <a:gd name="T7" fmla="*/ 0 h 114"/>
                  <a:gd name="T8" fmla="*/ 0 w 113"/>
                  <a:gd name="T9" fmla="*/ 0 h 114"/>
                  <a:gd name="T10" fmla="*/ 0 w 113"/>
                  <a:gd name="T11" fmla="*/ 0 h 114"/>
                  <a:gd name="T12" fmla="*/ 0 w 113"/>
                  <a:gd name="T13" fmla="*/ 0 h 114"/>
                  <a:gd name="T14" fmla="*/ 0 w 113"/>
                  <a:gd name="T15" fmla="*/ 0 h 114"/>
                  <a:gd name="T16" fmla="*/ 0 w 113"/>
                  <a:gd name="T17" fmla="*/ 0 h 114"/>
                  <a:gd name="T18" fmla="*/ 0 w 113"/>
                  <a:gd name="T19" fmla="*/ 0 h 114"/>
                  <a:gd name="T20" fmla="*/ 0 w 113"/>
                  <a:gd name="T21" fmla="*/ 0 h 114"/>
                  <a:gd name="T22" fmla="*/ 0 w 113"/>
                  <a:gd name="T23" fmla="*/ 0 h 114"/>
                  <a:gd name="T24" fmla="*/ 0 w 113"/>
                  <a:gd name="T25" fmla="*/ 0 h 114"/>
                  <a:gd name="T26" fmla="*/ 0 w 113"/>
                  <a:gd name="T27" fmla="*/ 0 h 114"/>
                  <a:gd name="T28" fmla="*/ 0 w 113"/>
                  <a:gd name="T29" fmla="*/ 0 h 114"/>
                  <a:gd name="T30" fmla="*/ 0 w 113"/>
                  <a:gd name="T31" fmla="*/ 0 h 114"/>
                  <a:gd name="T32" fmla="*/ 0 w 113"/>
                  <a:gd name="T33" fmla="*/ 0 h 114"/>
                  <a:gd name="T34" fmla="*/ 0 w 113"/>
                  <a:gd name="T35" fmla="*/ 0 h 114"/>
                  <a:gd name="T36" fmla="*/ 0 w 113"/>
                  <a:gd name="T37" fmla="*/ 0 h 114"/>
                  <a:gd name="T38" fmla="*/ 0 w 113"/>
                  <a:gd name="T39" fmla="*/ 0 h 114"/>
                  <a:gd name="T40" fmla="*/ 0 w 113"/>
                  <a:gd name="T41" fmla="*/ 0 h 114"/>
                  <a:gd name="T42" fmla="*/ 0 w 113"/>
                  <a:gd name="T43" fmla="*/ 0 h 114"/>
                  <a:gd name="T44" fmla="*/ 0 w 113"/>
                  <a:gd name="T45" fmla="*/ 0 h 114"/>
                  <a:gd name="T46" fmla="*/ 0 w 113"/>
                  <a:gd name="T47" fmla="*/ 0 h 114"/>
                  <a:gd name="T48" fmla="*/ 0 w 113"/>
                  <a:gd name="T49" fmla="*/ 0 h 114"/>
                  <a:gd name="T50" fmla="*/ 0 w 113"/>
                  <a:gd name="T51" fmla="*/ 0 h 114"/>
                  <a:gd name="T52" fmla="*/ 0 w 113"/>
                  <a:gd name="T53" fmla="*/ 0 h 114"/>
                  <a:gd name="T54" fmla="*/ 0 w 113"/>
                  <a:gd name="T55" fmla="*/ 0 h 114"/>
                  <a:gd name="T56" fmla="*/ 0 w 113"/>
                  <a:gd name="T57" fmla="*/ 0 h 114"/>
                  <a:gd name="T58" fmla="*/ 0 w 113"/>
                  <a:gd name="T59" fmla="*/ 0 h 114"/>
                  <a:gd name="T60" fmla="*/ 0 w 113"/>
                  <a:gd name="T61" fmla="*/ 0 h 114"/>
                  <a:gd name="T62" fmla="*/ 0 w 113"/>
                  <a:gd name="T63" fmla="*/ 0 h 114"/>
                  <a:gd name="T64" fmla="*/ 0 w 113"/>
                  <a:gd name="T65" fmla="*/ 0 h 114"/>
                  <a:gd name="T66" fmla="*/ 0 w 113"/>
                  <a:gd name="T67" fmla="*/ 0 h 114"/>
                  <a:gd name="T68" fmla="*/ 0 w 113"/>
                  <a:gd name="T69" fmla="*/ 0 h 11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3" h="114">
                    <a:moveTo>
                      <a:pt x="112" y="19"/>
                    </a:moveTo>
                    <a:lnTo>
                      <a:pt x="17" y="113"/>
                    </a:lnTo>
                    <a:lnTo>
                      <a:pt x="16" y="113"/>
                    </a:lnTo>
                    <a:lnTo>
                      <a:pt x="15" y="114"/>
                    </a:lnTo>
                    <a:lnTo>
                      <a:pt x="14" y="114"/>
                    </a:lnTo>
                    <a:lnTo>
                      <a:pt x="12" y="114"/>
                    </a:lnTo>
                    <a:lnTo>
                      <a:pt x="11" y="114"/>
                    </a:lnTo>
                    <a:lnTo>
                      <a:pt x="10" y="114"/>
                    </a:lnTo>
                    <a:lnTo>
                      <a:pt x="9" y="114"/>
                    </a:lnTo>
                    <a:lnTo>
                      <a:pt x="6" y="114"/>
                    </a:lnTo>
                    <a:lnTo>
                      <a:pt x="5" y="114"/>
                    </a:lnTo>
                    <a:lnTo>
                      <a:pt x="4" y="114"/>
                    </a:lnTo>
                    <a:lnTo>
                      <a:pt x="3" y="114"/>
                    </a:lnTo>
                    <a:lnTo>
                      <a:pt x="2" y="114"/>
                    </a:lnTo>
                    <a:lnTo>
                      <a:pt x="1" y="114"/>
                    </a:lnTo>
                    <a:lnTo>
                      <a:pt x="0" y="114"/>
                    </a:lnTo>
                    <a:lnTo>
                      <a:pt x="113" y="0"/>
                    </a:lnTo>
                    <a:lnTo>
                      <a:pt x="113" y="1"/>
                    </a:lnTo>
                    <a:lnTo>
                      <a:pt x="113" y="3"/>
                    </a:lnTo>
                    <a:lnTo>
                      <a:pt x="113" y="7"/>
                    </a:lnTo>
                    <a:lnTo>
                      <a:pt x="113" y="9"/>
                    </a:lnTo>
                    <a:lnTo>
                      <a:pt x="113" y="11"/>
                    </a:lnTo>
                    <a:lnTo>
                      <a:pt x="113" y="13"/>
                    </a:lnTo>
                    <a:lnTo>
                      <a:pt x="112" y="15"/>
                    </a:lnTo>
                    <a:lnTo>
                      <a:pt x="112" y="17"/>
                    </a:lnTo>
                    <a:lnTo>
                      <a:pt x="112" y="1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04" name="Freeform 2241"/>
              <p:cNvSpPr>
                <a:spLocks noChangeAspect="1"/>
              </p:cNvSpPr>
              <p:nvPr/>
            </p:nvSpPr>
            <p:spPr bwMode="auto">
              <a:xfrm>
                <a:off x="5390" y="2114"/>
                <a:ext cx="40" cy="40"/>
              </a:xfrm>
              <a:custGeom>
                <a:avLst/>
                <a:gdLst>
                  <a:gd name="T0" fmla="*/ 0 w 121"/>
                  <a:gd name="T1" fmla="*/ 0 h 122"/>
                  <a:gd name="T2" fmla="*/ 0 w 121"/>
                  <a:gd name="T3" fmla="*/ 0 h 122"/>
                  <a:gd name="T4" fmla="*/ 0 w 121"/>
                  <a:gd name="T5" fmla="*/ 0 h 122"/>
                  <a:gd name="T6" fmla="*/ 0 w 121"/>
                  <a:gd name="T7" fmla="*/ 0 h 122"/>
                  <a:gd name="T8" fmla="*/ 0 w 121"/>
                  <a:gd name="T9" fmla="*/ 0 h 122"/>
                  <a:gd name="T10" fmla="*/ 0 w 121"/>
                  <a:gd name="T11" fmla="*/ 0 h 122"/>
                  <a:gd name="T12" fmla="*/ 0 w 121"/>
                  <a:gd name="T13" fmla="*/ 0 h 122"/>
                  <a:gd name="T14" fmla="*/ 0 w 121"/>
                  <a:gd name="T15" fmla="*/ 0 h 122"/>
                  <a:gd name="T16" fmla="*/ 0 w 121"/>
                  <a:gd name="T17" fmla="*/ 0 h 122"/>
                  <a:gd name="T18" fmla="*/ 0 w 121"/>
                  <a:gd name="T19" fmla="*/ 0 h 122"/>
                  <a:gd name="T20" fmla="*/ 0 w 121"/>
                  <a:gd name="T21" fmla="*/ 0 h 122"/>
                  <a:gd name="T22" fmla="*/ 0 w 121"/>
                  <a:gd name="T23" fmla="*/ 0 h 122"/>
                  <a:gd name="T24" fmla="*/ 0 w 121"/>
                  <a:gd name="T25" fmla="*/ 0 h 122"/>
                  <a:gd name="T26" fmla="*/ 0 w 121"/>
                  <a:gd name="T27" fmla="*/ 0 h 122"/>
                  <a:gd name="T28" fmla="*/ 0 w 121"/>
                  <a:gd name="T29" fmla="*/ 0 h 122"/>
                  <a:gd name="T30" fmla="*/ 0 w 121"/>
                  <a:gd name="T31" fmla="*/ 0 h 122"/>
                  <a:gd name="T32" fmla="*/ 0 w 121"/>
                  <a:gd name="T33" fmla="*/ 0 h 122"/>
                  <a:gd name="T34" fmla="*/ 0 w 121"/>
                  <a:gd name="T35" fmla="*/ 0 h 122"/>
                  <a:gd name="T36" fmla="*/ 0 w 121"/>
                  <a:gd name="T37" fmla="*/ 0 h 122"/>
                  <a:gd name="T38" fmla="*/ 0 w 121"/>
                  <a:gd name="T39" fmla="*/ 0 h 122"/>
                  <a:gd name="T40" fmla="*/ 0 w 121"/>
                  <a:gd name="T41" fmla="*/ 0 h 122"/>
                  <a:gd name="T42" fmla="*/ 0 w 121"/>
                  <a:gd name="T43" fmla="*/ 0 h 122"/>
                  <a:gd name="T44" fmla="*/ 0 w 121"/>
                  <a:gd name="T45" fmla="*/ 0 h 122"/>
                  <a:gd name="T46" fmla="*/ 0 w 121"/>
                  <a:gd name="T47" fmla="*/ 0 h 122"/>
                  <a:gd name="T48" fmla="*/ 0 w 121"/>
                  <a:gd name="T49" fmla="*/ 0 h 122"/>
                  <a:gd name="T50" fmla="*/ 0 w 121"/>
                  <a:gd name="T51" fmla="*/ 0 h 122"/>
                  <a:gd name="T52" fmla="*/ 0 w 121"/>
                  <a:gd name="T53" fmla="*/ 0 h 122"/>
                  <a:gd name="T54" fmla="*/ 0 w 121"/>
                  <a:gd name="T55" fmla="*/ 0 h 122"/>
                  <a:gd name="T56" fmla="*/ 0 w 121"/>
                  <a:gd name="T57" fmla="*/ 0 h 122"/>
                  <a:gd name="T58" fmla="*/ 0 w 121"/>
                  <a:gd name="T59" fmla="*/ 0 h 122"/>
                  <a:gd name="T60" fmla="*/ 0 w 121"/>
                  <a:gd name="T61" fmla="*/ 0 h 122"/>
                  <a:gd name="T62" fmla="*/ 0 w 121"/>
                  <a:gd name="T63" fmla="*/ 0 h 122"/>
                  <a:gd name="T64" fmla="*/ 0 w 121"/>
                  <a:gd name="T65" fmla="*/ 0 h 122"/>
                  <a:gd name="T66" fmla="*/ 0 w 121"/>
                  <a:gd name="T67" fmla="*/ 0 h 122"/>
                  <a:gd name="T68" fmla="*/ 0 w 121"/>
                  <a:gd name="T69" fmla="*/ 0 h 12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1" h="122">
                    <a:moveTo>
                      <a:pt x="121" y="17"/>
                    </a:moveTo>
                    <a:lnTo>
                      <a:pt x="17" y="122"/>
                    </a:lnTo>
                    <a:lnTo>
                      <a:pt x="16" y="122"/>
                    </a:lnTo>
                    <a:lnTo>
                      <a:pt x="14" y="122"/>
                    </a:lnTo>
                    <a:lnTo>
                      <a:pt x="12" y="122"/>
                    </a:lnTo>
                    <a:lnTo>
                      <a:pt x="11" y="122"/>
                    </a:lnTo>
                    <a:lnTo>
                      <a:pt x="9" y="122"/>
                    </a:lnTo>
                    <a:lnTo>
                      <a:pt x="7" y="122"/>
                    </a:lnTo>
                    <a:lnTo>
                      <a:pt x="5" y="121"/>
                    </a:lnTo>
                    <a:lnTo>
                      <a:pt x="4" y="121"/>
                    </a:lnTo>
                    <a:lnTo>
                      <a:pt x="2" y="121"/>
                    </a:lnTo>
                    <a:lnTo>
                      <a:pt x="0" y="121"/>
                    </a:lnTo>
                    <a:lnTo>
                      <a:pt x="121" y="0"/>
                    </a:lnTo>
                    <a:lnTo>
                      <a:pt x="121" y="1"/>
                    </a:lnTo>
                    <a:lnTo>
                      <a:pt x="121" y="2"/>
                    </a:lnTo>
                    <a:lnTo>
                      <a:pt x="121" y="4"/>
                    </a:lnTo>
                    <a:lnTo>
                      <a:pt x="121" y="5"/>
                    </a:lnTo>
                    <a:lnTo>
                      <a:pt x="121" y="6"/>
                    </a:lnTo>
                    <a:lnTo>
                      <a:pt x="121" y="7"/>
                    </a:lnTo>
                    <a:lnTo>
                      <a:pt x="121" y="8"/>
                    </a:lnTo>
                    <a:lnTo>
                      <a:pt x="121" y="9"/>
                    </a:lnTo>
                    <a:lnTo>
                      <a:pt x="121" y="10"/>
                    </a:lnTo>
                    <a:lnTo>
                      <a:pt x="121" y="11"/>
                    </a:lnTo>
                    <a:lnTo>
                      <a:pt x="121" y="12"/>
                    </a:lnTo>
                    <a:lnTo>
                      <a:pt x="121" y="13"/>
                    </a:lnTo>
                    <a:lnTo>
                      <a:pt x="121" y="15"/>
                    </a:lnTo>
                    <a:lnTo>
                      <a:pt x="121" y="16"/>
                    </a:lnTo>
                    <a:lnTo>
                      <a:pt x="121" y="1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05" name="Freeform 2242"/>
              <p:cNvSpPr>
                <a:spLocks noChangeAspect="1"/>
              </p:cNvSpPr>
              <p:nvPr/>
            </p:nvSpPr>
            <p:spPr bwMode="auto">
              <a:xfrm>
                <a:off x="5387" y="2111"/>
                <a:ext cx="43" cy="43"/>
              </a:xfrm>
              <a:custGeom>
                <a:avLst/>
                <a:gdLst>
                  <a:gd name="T0" fmla="*/ 0 w 129"/>
                  <a:gd name="T1" fmla="*/ 0 h 130"/>
                  <a:gd name="T2" fmla="*/ 0 w 129"/>
                  <a:gd name="T3" fmla="*/ 0 h 130"/>
                  <a:gd name="T4" fmla="*/ 0 w 129"/>
                  <a:gd name="T5" fmla="*/ 0 h 130"/>
                  <a:gd name="T6" fmla="*/ 0 w 129"/>
                  <a:gd name="T7" fmla="*/ 0 h 130"/>
                  <a:gd name="T8" fmla="*/ 0 w 129"/>
                  <a:gd name="T9" fmla="*/ 0 h 130"/>
                  <a:gd name="T10" fmla="*/ 0 w 129"/>
                  <a:gd name="T11" fmla="*/ 0 h 130"/>
                  <a:gd name="T12" fmla="*/ 0 w 129"/>
                  <a:gd name="T13" fmla="*/ 0 h 130"/>
                  <a:gd name="T14" fmla="*/ 0 w 129"/>
                  <a:gd name="T15" fmla="*/ 0 h 130"/>
                  <a:gd name="T16" fmla="*/ 0 w 129"/>
                  <a:gd name="T17" fmla="*/ 0 h 130"/>
                  <a:gd name="T18" fmla="*/ 0 w 129"/>
                  <a:gd name="T19" fmla="*/ 0 h 130"/>
                  <a:gd name="T20" fmla="*/ 0 w 129"/>
                  <a:gd name="T21" fmla="*/ 0 h 130"/>
                  <a:gd name="T22" fmla="*/ 0 w 129"/>
                  <a:gd name="T23" fmla="*/ 0 h 130"/>
                  <a:gd name="T24" fmla="*/ 0 w 129"/>
                  <a:gd name="T25" fmla="*/ 0 h 130"/>
                  <a:gd name="T26" fmla="*/ 0 w 129"/>
                  <a:gd name="T27" fmla="*/ 0 h 130"/>
                  <a:gd name="T28" fmla="*/ 0 w 129"/>
                  <a:gd name="T29" fmla="*/ 0 h 130"/>
                  <a:gd name="T30" fmla="*/ 0 w 129"/>
                  <a:gd name="T31" fmla="*/ 0 h 130"/>
                  <a:gd name="T32" fmla="*/ 0 w 129"/>
                  <a:gd name="T33" fmla="*/ 0 h 130"/>
                  <a:gd name="T34" fmla="*/ 0 w 129"/>
                  <a:gd name="T35" fmla="*/ 0 h 130"/>
                  <a:gd name="T36" fmla="*/ 0 w 129"/>
                  <a:gd name="T37" fmla="*/ 0 h 1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9" h="130">
                    <a:moveTo>
                      <a:pt x="129" y="16"/>
                    </a:moveTo>
                    <a:lnTo>
                      <a:pt x="16" y="130"/>
                    </a:lnTo>
                    <a:lnTo>
                      <a:pt x="14" y="129"/>
                    </a:lnTo>
                    <a:lnTo>
                      <a:pt x="12" y="129"/>
                    </a:lnTo>
                    <a:lnTo>
                      <a:pt x="10" y="129"/>
                    </a:lnTo>
                    <a:lnTo>
                      <a:pt x="8" y="129"/>
                    </a:lnTo>
                    <a:lnTo>
                      <a:pt x="7" y="129"/>
                    </a:lnTo>
                    <a:lnTo>
                      <a:pt x="4" y="128"/>
                    </a:lnTo>
                    <a:lnTo>
                      <a:pt x="2" y="128"/>
                    </a:lnTo>
                    <a:lnTo>
                      <a:pt x="0" y="128"/>
                    </a:lnTo>
                    <a:lnTo>
                      <a:pt x="128" y="0"/>
                    </a:lnTo>
                    <a:lnTo>
                      <a:pt x="128" y="2"/>
                    </a:lnTo>
                    <a:lnTo>
                      <a:pt x="128" y="4"/>
                    </a:lnTo>
                    <a:lnTo>
                      <a:pt x="129" y="6"/>
                    </a:lnTo>
                    <a:lnTo>
                      <a:pt x="129" y="8"/>
                    </a:lnTo>
                    <a:lnTo>
                      <a:pt x="129" y="10"/>
                    </a:lnTo>
                    <a:lnTo>
                      <a:pt x="129" y="12"/>
                    </a:lnTo>
                    <a:lnTo>
                      <a:pt x="129" y="14"/>
                    </a:lnTo>
                    <a:lnTo>
                      <a:pt x="129" y="1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06" name="Freeform 2243"/>
              <p:cNvSpPr>
                <a:spLocks noChangeAspect="1"/>
              </p:cNvSpPr>
              <p:nvPr/>
            </p:nvSpPr>
            <p:spPr bwMode="auto">
              <a:xfrm>
                <a:off x="5385" y="2109"/>
                <a:ext cx="45" cy="45"/>
              </a:xfrm>
              <a:custGeom>
                <a:avLst/>
                <a:gdLst>
                  <a:gd name="T0" fmla="*/ 0 w 135"/>
                  <a:gd name="T1" fmla="*/ 0 h 136"/>
                  <a:gd name="T2" fmla="*/ 0 w 135"/>
                  <a:gd name="T3" fmla="*/ 0 h 136"/>
                  <a:gd name="T4" fmla="*/ 0 w 135"/>
                  <a:gd name="T5" fmla="*/ 0 h 136"/>
                  <a:gd name="T6" fmla="*/ 0 w 135"/>
                  <a:gd name="T7" fmla="*/ 0 h 136"/>
                  <a:gd name="T8" fmla="*/ 0 w 135"/>
                  <a:gd name="T9" fmla="*/ 0 h 136"/>
                  <a:gd name="T10" fmla="*/ 0 w 135"/>
                  <a:gd name="T11" fmla="*/ 0 h 136"/>
                  <a:gd name="T12" fmla="*/ 0 w 135"/>
                  <a:gd name="T13" fmla="*/ 0 h 136"/>
                  <a:gd name="T14" fmla="*/ 0 w 135"/>
                  <a:gd name="T15" fmla="*/ 0 h 136"/>
                  <a:gd name="T16" fmla="*/ 0 w 135"/>
                  <a:gd name="T17" fmla="*/ 0 h 136"/>
                  <a:gd name="T18" fmla="*/ 0 w 135"/>
                  <a:gd name="T19" fmla="*/ 0 h 136"/>
                  <a:gd name="T20" fmla="*/ 0 w 135"/>
                  <a:gd name="T21" fmla="*/ 0 h 136"/>
                  <a:gd name="T22" fmla="*/ 0 w 135"/>
                  <a:gd name="T23" fmla="*/ 0 h 136"/>
                  <a:gd name="T24" fmla="*/ 0 w 135"/>
                  <a:gd name="T25" fmla="*/ 0 h 136"/>
                  <a:gd name="T26" fmla="*/ 0 w 135"/>
                  <a:gd name="T27" fmla="*/ 0 h 136"/>
                  <a:gd name="T28" fmla="*/ 0 w 135"/>
                  <a:gd name="T29" fmla="*/ 0 h 136"/>
                  <a:gd name="T30" fmla="*/ 0 w 135"/>
                  <a:gd name="T31" fmla="*/ 0 h 136"/>
                  <a:gd name="T32" fmla="*/ 0 w 135"/>
                  <a:gd name="T33" fmla="*/ 0 h 136"/>
                  <a:gd name="T34" fmla="*/ 0 w 135"/>
                  <a:gd name="T35" fmla="*/ 0 h 136"/>
                  <a:gd name="T36" fmla="*/ 0 w 135"/>
                  <a:gd name="T37" fmla="*/ 0 h 1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35" h="136">
                    <a:moveTo>
                      <a:pt x="135" y="15"/>
                    </a:moveTo>
                    <a:lnTo>
                      <a:pt x="14" y="136"/>
                    </a:lnTo>
                    <a:lnTo>
                      <a:pt x="11" y="136"/>
                    </a:lnTo>
                    <a:lnTo>
                      <a:pt x="10" y="135"/>
                    </a:lnTo>
                    <a:lnTo>
                      <a:pt x="8" y="135"/>
                    </a:lnTo>
                    <a:lnTo>
                      <a:pt x="6" y="135"/>
                    </a:lnTo>
                    <a:lnTo>
                      <a:pt x="5" y="134"/>
                    </a:lnTo>
                    <a:lnTo>
                      <a:pt x="3" y="134"/>
                    </a:lnTo>
                    <a:lnTo>
                      <a:pt x="1" y="133"/>
                    </a:lnTo>
                    <a:lnTo>
                      <a:pt x="0" y="133"/>
                    </a:lnTo>
                    <a:lnTo>
                      <a:pt x="133" y="0"/>
                    </a:lnTo>
                    <a:lnTo>
                      <a:pt x="133" y="2"/>
                    </a:lnTo>
                    <a:lnTo>
                      <a:pt x="133" y="3"/>
                    </a:lnTo>
                    <a:lnTo>
                      <a:pt x="134" y="5"/>
                    </a:lnTo>
                    <a:lnTo>
                      <a:pt x="134" y="7"/>
                    </a:lnTo>
                    <a:lnTo>
                      <a:pt x="134" y="9"/>
                    </a:lnTo>
                    <a:lnTo>
                      <a:pt x="134" y="11"/>
                    </a:lnTo>
                    <a:lnTo>
                      <a:pt x="135" y="13"/>
                    </a:lnTo>
                    <a:lnTo>
                      <a:pt x="135" y="15"/>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07" name="Freeform 2244"/>
              <p:cNvSpPr>
                <a:spLocks noChangeAspect="1"/>
              </p:cNvSpPr>
              <p:nvPr/>
            </p:nvSpPr>
            <p:spPr bwMode="auto">
              <a:xfrm>
                <a:off x="5383" y="2106"/>
                <a:ext cx="47" cy="48"/>
              </a:xfrm>
              <a:custGeom>
                <a:avLst/>
                <a:gdLst>
                  <a:gd name="T0" fmla="*/ 0 w 141"/>
                  <a:gd name="T1" fmla="*/ 0 h 143"/>
                  <a:gd name="T2" fmla="*/ 0 w 141"/>
                  <a:gd name="T3" fmla="*/ 0 h 143"/>
                  <a:gd name="T4" fmla="*/ 0 w 141"/>
                  <a:gd name="T5" fmla="*/ 0 h 143"/>
                  <a:gd name="T6" fmla="*/ 0 w 141"/>
                  <a:gd name="T7" fmla="*/ 0 h 143"/>
                  <a:gd name="T8" fmla="*/ 0 w 141"/>
                  <a:gd name="T9" fmla="*/ 0 h 143"/>
                  <a:gd name="T10" fmla="*/ 0 w 141"/>
                  <a:gd name="T11" fmla="*/ 0 h 143"/>
                  <a:gd name="T12" fmla="*/ 0 w 141"/>
                  <a:gd name="T13" fmla="*/ 0 h 143"/>
                  <a:gd name="T14" fmla="*/ 0 w 141"/>
                  <a:gd name="T15" fmla="*/ 0 h 143"/>
                  <a:gd name="T16" fmla="*/ 0 w 141"/>
                  <a:gd name="T17" fmla="*/ 0 h 143"/>
                  <a:gd name="T18" fmla="*/ 0 w 141"/>
                  <a:gd name="T19" fmla="*/ 0 h 143"/>
                  <a:gd name="T20" fmla="*/ 0 w 141"/>
                  <a:gd name="T21" fmla="*/ 0 h 143"/>
                  <a:gd name="T22" fmla="*/ 0 w 141"/>
                  <a:gd name="T23" fmla="*/ 0 h 143"/>
                  <a:gd name="T24" fmla="*/ 0 w 141"/>
                  <a:gd name="T25" fmla="*/ 0 h 143"/>
                  <a:gd name="T26" fmla="*/ 0 w 141"/>
                  <a:gd name="T27" fmla="*/ 0 h 143"/>
                  <a:gd name="T28" fmla="*/ 0 w 141"/>
                  <a:gd name="T29" fmla="*/ 0 h 143"/>
                  <a:gd name="T30" fmla="*/ 0 w 141"/>
                  <a:gd name="T31" fmla="*/ 0 h 143"/>
                  <a:gd name="T32" fmla="*/ 0 w 141"/>
                  <a:gd name="T33" fmla="*/ 0 h 143"/>
                  <a:gd name="T34" fmla="*/ 0 w 141"/>
                  <a:gd name="T35" fmla="*/ 0 h 143"/>
                  <a:gd name="T36" fmla="*/ 0 w 141"/>
                  <a:gd name="T37" fmla="*/ 0 h 14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1" h="143">
                    <a:moveTo>
                      <a:pt x="141" y="15"/>
                    </a:moveTo>
                    <a:lnTo>
                      <a:pt x="13" y="143"/>
                    </a:lnTo>
                    <a:lnTo>
                      <a:pt x="12" y="142"/>
                    </a:lnTo>
                    <a:lnTo>
                      <a:pt x="10" y="142"/>
                    </a:lnTo>
                    <a:lnTo>
                      <a:pt x="8" y="141"/>
                    </a:lnTo>
                    <a:lnTo>
                      <a:pt x="7" y="141"/>
                    </a:lnTo>
                    <a:lnTo>
                      <a:pt x="5" y="140"/>
                    </a:lnTo>
                    <a:lnTo>
                      <a:pt x="4" y="140"/>
                    </a:lnTo>
                    <a:lnTo>
                      <a:pt x="1" y="139"/>
                    </a:lnTo>
                    <a:lnTo>
                      <a:pt x="0" y="139"/>
                    </a:lnTo>
                    <a:lnTo>
                      <a:pt x="138" y="0"/>
                    </a:lnTo>
                    <a:lnTo>
                      <a:pt x="138" y="2"/>
                    </a:lnTo>
                    <a:lnTo>
                      <a:pt x="139" y="5"/>
                    </a:lnTo>
                    <a:lnTo>
                      <a:pt x="139" y="6"/>
                    </a:lnTo>
                    <a:lnTo>
                      <a:pt x="140" y="8"/>
                    </a:lnTo>
                    <a:lnTo>
                      <a:pt x="140" y="10"/>
                    </a:lnTo>
                    <a:lnTo>
                      <a:pt x="140" y="11"/>
                    </a:lnTo>
                    <a:lnTo>
                      <a:pt x="141" y="13"/>
                    </a:lnTo>
                    <a:lnTo>
                      <a:pt x="141" y="15"/>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08" name="Freeform 2245"/>
              <p:cNvSpPr>
                <a:spLocks noChangeAspect="1"/>
              </p:cNvSpPr>
              <p:nvPr/>
            </p:nvSpPr>
            <p:spPr bwMode="auto">
              <a:xfrm>
                <a:off x="5381" y="2104"/>
                <a:ext cx="48" cy="49"/>
              </a:xfrm>
              <a:custGeom>
                <a:avLst/>
                <a:gdLst>
                  <a:gd name="T0" fmla="*/ 0 w 146"/>
                  <a:gd name="T1" fmla="*/ 0 h 147"/>
                  <a:gd name="T2" fmla="*/ 0 w 146"/>
                  <a:gd name="T3" fmla="*/ 0 h 147"/>
                  <a:gd name="T4" fmla="*/ 0 w 146"/>
                  <a:gd name="T5" fmla="*/ 0 h 147"/>
                  <a:gd name="T6" fmla="*/ 0 w 146"/>
                  <a:gd name="T7" fmla="*/ 0 h 147"/>
                  <a:gd name="T8" fmla="*/ 0 w 146"/>
                  <a:gd name="T9" fmla="*/ 0 h 147"/>
                  <a:gd name="T10" fmla="*/ 0 w 146"/>
                  <a:gd name="T11" fmla="*/ 0 h 147"/>
                  <a:gd name="T12" fmla="*/ 0 w 146"/>
                  <a:gd name="T13" fmla="*/ 0 h 147"/>
                  <a:gd name="T14" fmla="*/ 0 w 146"/>
                  <a:gd name="T15" fmla="*/ 0 h 147"/>
                  <a:gd name="T16" fmla="*/ 0 w 146"/>
                  <a:gd name="T17" fmla="*/ 0 h 147"/>
                  <a:gd name="T18" fmla="*/ 0 w 146"/>
                  <a:gd name="T19" fmla="*/ 0 h 147"/>
                  <a:gd name="T20" fmla="*/ 0 w 146"/>
                  <a:gd name="T21" fmla="*/ 0 h 147"/>
                  <a:gd name="T22" fmla="*/ 0 w 146"/>
                  <a:gd name="T23" fmla="*/ 0 h 147"/>
                  <a:gd name="T24" fmla="*/ 0 w 146"/>
                  <a:gd name="T25" fmla="*/ 0 h 147"/>
                  <a:gd name="T26" fmla="*/ 0 w 146"/>
                  <a:gd name="T27" fmla="*/ 0 h 147"/>
                  <a:gd name="T28" fmla="*/ 0 w 146"/>
                  <a:gd name="T29" fmla="*/ 0 h 147"/>
                  <a:gd name="T30" fmla="*/ 0 w 146"/>
                  <a:gd name="T31" fmla="*/ 0 h 147"/>
                  <a:gd name="T32" fmla="*/ 0 w 146"/>
                  <a:gd name="T33" fmla="*/ 0 h 147"/>
                  <a:gd name="T34" fmla="*/ 0 w 146"/>
                  <a:gd name="T35" fmla="*/ 0 h 147"/>
                  <a:gd name="T36" fmla="*/ 0 w 146"/>
                  <a:gd name="T37" fmla="*/ 0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6" h="147">
                    <a:moveTo>
                      <a:pt x="146" y="14"/>
                    </a:moveTo>
                    <a:lnTo>
                      <a:pt x="13" y="147"/>
                    </a:lnTo>
                    <a:lnTo>
                      <a:pt x="11" y="146"/>
                    </a:lnTo>
                    <a:lnTo>
                      <a:pt x="10" y="146"/>
                    </a:lnTo>
                    <a:lnTo>
                      <a:pt x="7" y="145"/>
                    </a:lnTo>
                    <a:lnTo>
                      <a:pt x="6" y="145"/>
                    </a:lnTo>
                    <a:lnTo>
                      <a:pt x="4" y="143"/>
                    </a:lnTo>
                    <a:lnTo>
                      <a:pt x="3" y="143"/>
                    </a:lnTo>
                    <a:lnTo>
                      <a:pt x="1" y="142"/>
                    </a:lnTo>
                    <a:lnTo>
                      <a:pt x="0" y="141"/>
                    </a:lnTo>
                    <a:lnTo>
                      <a:pt x="142" y="0"/>
                    </a:lnTo>
                    <a:lnTo>
                      <a:pt x="143" y="2"/>
                    </a:lnTo>
                    <a:lnTo>
                      <a:pt x="143" y="3"/>
                    </a:lnTo>
                    <a:lnTo>
                      <a:pt x="144" y="5"/>
                    </a:lnTo>
                    <a:lnTo>
                      <a:pt x="144" y="6"/>
                    </a:lnTo>
                    <a:lnTo>
                      <a:pt x="144" y="8"/>
                    </a:lnTo>
                    <a:lnTo>
                      <a:pt x="145" y="11"/>
                    </a:lnTo>
                    <a:lnTo>
                      <a:pt x="145" y="12"/>
                    </a:lnTo>
                    <a:lnTo>
                      <a:pt x="146" y="14"/>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09" name="Freeform 2246"/>
              <p:cNvSpPr>
                <a:spLocks noChangeAspect="1"/>
              </p:cNvSpPr>
              <p:nvPr/>
            </p:nvSpPr>
            <p:spPr bwMode="auto">
              <a:xfrm>
                <a:off x="5379" y="2102"/>
                <a:ext cx="50" cy="50"/>
              </a:xfrm>
              <a:custGeom>
                <a:avLst/>
                <a:gdLst>
                  <a:gd name="T0" fmla="*/ 0 w 150"/>
                  <a:gd name="T1" fmla="*/ 0 h 151"/>
                  <a:gd name="T2" fmla="*/ 0 w 150"/>
                  <a:gd name="T3" fmla="*/ 0 h 151"/>
                  <a:gd name="T4" fmla="*/ 0 w 150"/>
                  <a:gd name="T5" fmla="*/ 0 h 151"/>
                  <a:gd name="T6" fmla="*/ 0 w 150"/>
                  <a:gd name="T7" fmla="*/ 0 h 151"/>
                  <a:gd name="T8" fmla="*/ 0 w 150"/>
                  <a:gd name="T9" fmla="*/ 0 h 151"/>
                  <a:gd name="T10" fmla="*/ 0 w 150"/>
                  <a:gd name="T11" fmla="*/ 0 h 151"/>
                  <a:gd name="T12" fmla="*/ 0 w 150"/>
                  <a:gd name="T13" fmla="*/ 0 h 151"/>
                  <a:gd name="T14" fmla="*/ 0 w 150"/>
                  <a:gd name="T15" fmla="*/ 0 h 151"/>
                  <a:gd name="T16" fmla="*/ 0 w 150"/>
                  <a:gd name="T17" fmla="*/ 0 h 151"/>
                  <a:gd name="T18" fmla="*/ 0 w 150"/>
                  <a:gd name="T19" fmla="*/ 0 h 151"/>
                  <a:gd name="T20" fmla="*/ 0 w 150"/>
                  <a:gd name="T21" fmla="*/ 0 h 151"/>
                  <a:gd name="T22" fmla="*/ 0 w 150"/>
                  <a:gd name="T23" fmla="*/ 0 h 151"/>
                  <a:gd name="T24" fmla="*/ 0 w 150"/>
                  <a:gd name="T25" fmla="*/ 0 h 151"/>
                  <a:gd name="T26" fmla="*/ 0 w 150"/>
                  <a:gd name="T27" fmla="*/ 0 h 151"/>
                  <a:gd name="T28" fmla="*/ 0 w 150"/>
                  <a:gd name="T29" fmla="*/ 0 h 151"/>
                  <a:gd name="T30" fmla="*/ 0 w 150"/>
                  <a:gd name="T31" fmla="*/ 0 h 151"/>
                  <a:gd name="T32" fmla="*/ 0 w 150"/>
                  <a:gd name="T33" fmla="*/ 0 h 151"/>
                  <a:gd name="T34" fmla="*/ 0 w 150"/>
                  <a:gd name="T35" fmla="*/ 0 h 151"/>
                  <a:gd name="T36" fmla="*/ 0 w 150"/>
                  <a:gd name="T37" fmla="*/ 0 h 1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0" h="151">
                    <a:moveTo>
                      <a:pt x="150" y="12"/>
                    </a:moveTo>
                    <a:lnTo>
                      <a:pt x="12" y="151"/>
                    </a:lnTo>
                    <a:lnTo>
                      <a:pt x="10" y="149"/>
                    </a:lnTo>
                    <a:lnTo>
                      <a:pt x="9" y="149"/>
                    </a:lnTo>
                    <a:lnTo>
                      <a:pt x="7" y="148"/>
                    </a:lnTo>
                    <a:lnTo>
                      <a:pt x="6" y="147"/>
                    </a:lnTo>
                    <a:lnTo>
                      <a:pt x="5" y="147"/>
                    </a:lnTo>
                    <a:lnTo>
                      <a:pt x="3" y="146"/>
                    </a:lnTo>
                    <a:lnTo>
                      <a:pt x="2" y="145"/>
                    </a:lnTo>
                    <a:lnTo>
                      <a:pt x="0" y="145"/>
                    </a:lnTo>
                    <a:lnTo>
                      <a:pt x="145" y="0"/>
                    </a:lnTo>
                    <a:lnTo>
                      <a:pt x="145" y="2"/>
                    </a:lnTo>
                    <a:lnTo>
                      <a:pt x="146" y="3"/>
                    </a:lnTo>
                    <a:lnTo>
                      <a:pt x="148" y="5"/>
                    </a:lnTo>
                    <a:lnTo>
                      <a:pt x="148" y="6"/>
                    </a:lnTo>
                    <a:lnTo>
                      <a:pt x="149" y="8"/>
                    </a:lnTo>
                    <a:lnTo>
                      <a:pt x="149" y="9"/>
                    </a:lnTo>
                    <a:lnTo>
                      <a:pt x="150" y="11"/>
                    </a:lnTo>
                    <a:lnTo>
                      <a:pt x="150" y="12"/>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10" name="Freeform 2247"/>
              <p:cNvSpPr>
                <a:spLocks noChangeAspect="1"/>
              </p:cNvSpPr>
              <p:nvPr/>
            </p:nvSpPr>
            <p:spPr bwMode="auto">
              <a:xfrm>
                <a:off x="5377" y="2100"/>
                <a:ext cx="51" cy="51"/>
              </a:xfrm>
              <a:custGeom>
                <a:avLst/>
                <a:gdLst>
                  <a:gd name="T0" fmla="*/ 0 w 154"/>
                  <a:gd name="T1" fmla="*/ 0 h 154"/>
                  <a:gd name="T2" fmla="*/ 0 w 154"/>
                  <a:gd name="T3" fmla="*/ 0 h 154"/>
                  <a:gd name="T4" fmla="*/ 0 w 154"/>
                  <a:gd name="T5" fmla="*/ 0 h 154"/>
                  <a:gd name="T6" fmla="*/ 0 w 154"/>
                  <a:gd name="T7" fmla="*/ 0 h 154"/>
                  <a:gd name="T8" fmla="*/ 0 w 154"/>
                  <a:gd name="T9" fmla="*/ 0 h 154"/>
                  <a:gd name="T10" fmla="*/ 0 w 154"/>
                  <a:gd name="T11" fmla="*/ 0 h 154"/>
                  <a:gd name="T12" fmla="*/ 0 w 154"/>
                  <a:gd name="T13" fmla="*/ 0 h 154"/>
                  <a:gd name="T14" fmla="*/ 0 w 154"/>
                  <a:gd name="T15" fmla="*/ 0 h 154"/>
                  <a:gd name="T16" fmla="*/ 0 w 154"/>
                  <a:gd name="T17" fmla="*/ 0 h 154"/>
                  <a:gd name="T18" fmla="*/ 0 w 154"/>
                  <a:gd name="T19" fmla="*/ 0 h 154"/>
                  <a:gd name="T20" fmla="*/ 0 w 154"/>
                  <a:gd name="T21" fmla="*/ 0 h 154"/>
                  <a:gd name="T22" fmla="*/ 0 w 154"/>
                  <a:gd name="T23" fmla="*/ 0 h 154"/>
                  <a:gd name="T24" fmla="*/ 0 w 154"/>
                  <a:gd name="T25" fmla="*/ 0 h 154"/>
                  <a:gd name="T26" fmla="*/ 0 w 154"/>
                  <a:gd name="T27" fmla="*/ 0 h 154"/>
                  <a:gd name="T28" fmla="*/ 0 w 154"/>
                  <a:gd name="T29" fmla="*/ 0 h 154"/>
                  <a:gd name="T30" fmla="*/ 0 w 154"/>
                  <a:gd name="T31" fmla="*/ 0 h 154"/>
                  <a:gd name="T32" fmla="*/ 0 w 154"/>
                  <a:gd name="T33" fmla="*/ 0 h 154"/>
                  <a:gd name="T34" fmla="*/ 0 w 154"/>
                  <a:gd name="T35" fmla="*/ 0 h 154"/>
                  <a:gd name="T36" fmla="*/ 0 w 154"/>
                  <a:gd name="T37" fmla="*/ 0 h 15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4" h="154">
                    <a:moveTo>
                      <a:pt x="154" y="13"/>
                    </a:moveTo>
                    <a:lnTo>
                      <a:pt x="12" y="154"/>
                    </a:lnTo>
                    <a:lnTo>
                      <a:pt x="10" y="154"/>
                    </a:lnTo>
                    <a:lnTo>
                      <a:pt x="9" y="153"/>
                    </a:lnTo>
                    <a:lnTo>
                      <a:pt x="8" y="152"/>
                    </a:lnTo>
                    <a:lnTo>
                      <a:pt x="6" y="152"/>
                    </a:lnTo>
                    <a:lnTo>
                      <a:pt x="5" y="151"/>
                    </a:lnTo>
                    <a:lnTo>
                      <a:pt x="3" y="150"/>
                    </a:lnTo>
                    <a:lnTo>
                      <a:pt x="1" y="149"/>
                    </a:lnTo>
                    <a:lnTo>
                      <a:pt x="0" y="149"/>
                    </a:lnTo>
                    <a:lnTo>
                      <a:pt x="148" y="0"/>
                    </a:lnTo>
                    <a:lnTo>
                      <a:pt x="149" y="2"/>
                    </a:lnTo>
                    <a:lnTo>
                      <a:pt x="150" y="3"/>
                    </a:lnTo>
                    <a:lnTo>
                      <a:pt x="150" y="6"/>
                    </a:lnTo>
                    <a:lnTo>
                      <a:pt x="151" y="7"/>
                    </a:lnTo>
                    <a:lnTo>
                      <a:pt x="151" y="9"/>
                    </a:lnTo>
                    <a:lnTo>
                      <a:pt x="152" y="10"/>
                    </a:lnTo>
                    <a:lnTo>
                      <a:pt x="154" y="12"/>
                    </a:lnTo>
                    <a:lnTo>
                      <a:pt x="154" y="1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11" name="Freeform 2248"/>
              <p:cNvSpPr>
                <a:spLocks noChangeAspect="1"/>
              </p:cNvSpPr>
              <p:nvPr/>
            </p:nvSpPr>
            <p:spPr bwMode="auto">
              <a:xfrm>
                <a:off x="5375" y="2098"/>
                <a:ext cx="52" cy="52"/>
              </a:xfrm>
              <a:custGeom>
                <a:avLst/>
                <a:gdLst>
                  <a:gd name="T0" fmla="*/ 0 w 156"/>
                  <a:gd name="T1" fmla="*/ 0 h 157"/>
                  <a:gd name="T2" fmla="*/ 0 w 156"/>
                  <a:gd name="T3" fmla="*/ 0 h 157"/>
                  <a:gd name="T4" fmla="*/ 0 w 156"/>
                  <a:gd name="T5" fmla="*/ 0 h 157"/>
                  <a:gd name="T6" fmla="*/ 0 w 156"/>
                  <a:gd name="T7" fmla="*/ 0 h 157"/>
                  <a:gd name="T8" fmla="*/ 0 w 156"/>
                  <a:gd name="T9" fmla="*/ 0 h 157"/>
                  <a:gd name="T10" fmla="*/ 0 w 156"/>
                  <a:gd name="T11" fmla="*/ 0 h 157"/>
                  <a:gd name="T12" fmla="*/ 0 w 156"/>
                  <a:gd name="T13" fmla="*/ 0 h 157"/>
                  <a:gd name="T14" fmla="*/ 0 w 156"/>
                  <a:gd name="T15" fmla="*/ 0 h 157"/>
                  <a:gd name="T16" fmla="*/ 0 w 156"/>
                  <a:gd name="T17" fmla="*/ 0 h 157"/>
                  <a:gd name="T18" fmla="*/ 0 w 156"/>
                  <a:gd name="T19" fmla="*/ 0 h 157"/>
                  <a:gd name="T20" fmla="*/ 0 w 156"/>
                  <a:gd name="T21" fmla="*/ 0 h 157"/>
                  <a:gd name="T22" fmla="*/ 0 w 156"/>
                  <a:gd name="T23" fmla="*/ 0 h 157"/>
                  <a:gd name="T24" fmla="*/ 0 w 156"/>
                  <a:gd name="T25" fmla="*/ 0 h 157"/>
                  <a:gd name="T26" fmla="*/ 0 w 156"/>
                  <a:gd name="T27" fmla="*/ 0 h 157"/>
                  <a:gd name="T28" fmla="*/ 0 w 156"/>
                  <a:gd name="T29" fmla="*/ 0 h 157"/>
                  <a:gd name="T30" fmla="*/ 0 w 156"/>
                  <a:gd name="T31" fmla="*/ 0 h 157"/>
                  <a:gd name="T32" fmla="*/ 0 w 156"/>
                  <a:gd name="T33" fmla="*/ 0 h 157"/>
                  <a:gd name="T34" fmla="*/ 0 w 156"/>
                  <a:gd name="T35" fmla="*/ 0 h 157"/>
                  <a:gd name="T36" fmla="*/ 0 w 156"/>
                  <a:gd name="T37" fmla="*/ 0 h 1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6" h="157">
                    <a:moveTo>
                      <a:pt x="156" y="12"/>
                    </a:moveTo>
                    <a:lnTo>
                      <a:pt x="11" y="157"/>
                    </a:lnTo>
                    <a:lnTo>
                      <a:pt x="10" y="156"/>
                    </a:lnTo>
                    <a:lnTo>
                      <a:pt x="8" y="155"/>
                    </a:lnTo>
                    <a:lnTo>
                      <a:pt x="6" y="154"/>
                    </a:lnTo>
                    <a:lnTo>
                      <a:pt x="5" y="154"/>
                    </a:lnTo>
                    <a:lnTo>
                      <a:pt x="4" y="153"/>
                    </a:lnTo>
                    <a:lnTo>
                      <a:pt x="3" y="152"/>
                    </a:lnTo>
                    <a:lnTo>
                      <a:pt x="1" y="151"/>
                    </a:lnTo>
                    <a:lnTo>
                      <a:pt x="0" y="150"/>
                    </a:lnTo>
                    <a:lnTo>
                      <a:pt x="150" y="0"/>
                    </a:lnTo>
                    <a:lnTo>
                      <a:pt x="151" y="1"/>
                    </a:lnTo>
                    <a:lnTo>
                      <a:pt x="152" y="3"/>
                    </a:lnTo>
                    <a:lnTo>
                      <a:pt x="153" y="4"/>
                    </a:lnTo>
                    <a:lnTo>
                      <a:pt x="153" y="6"/>
                    </a:lnTo>
                    <a:lnTo>
                      <a:pt x="154" y="7"/>
                    </a:lnTo>
                    <a:lnTo>
                      <a:pt x="155" y="8"/>
                    </a:lnTo>
                    <a:lnTo>
                      <a:pt x="155" y="11"/>
                    </a:lnTo>
                    <a:lnTo>
                      <a:pt x="156" y="12"/>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12" name="Freeform 2249"/>
              <p:cNvSpPr>
                <a:spLocks noChangeAspect="1"/>
              </p:cNvSpPr>
              <p:nvPr/>
            </p:nvSpPr>
            <p:spPr bwMode="auto">
              <a:xfrm>
                <a:off x="5373" y="2096"/>
                <a:ext cx="53" cy="53"/>
              </a:xfrm>
              <a:custGeom>
                <a:avLst/>
                <a:gdLst>
                  <a:gd name="T0" fmla="*/ 0 w 158"/>
                  <a:gd name="T1" fmla="*/ 0 h 159"/>
                  <a:gd name="T2" fmla="*/ 0 w 158"/>
                  <a:gd name="T3" fmla="*/ 0 h 159"/>
                  <a:gd name="T4" fmla="*/ 0 w 158"/>
                  <a:gd name="T5" fmla="*/ 0 h 159"/>
                  <a:gd name="T6" fmla="*/ 0 w 158"/>
                  <a:gd name="T7" fmla="*/ 0 h 159"/>
                  <a:gd name="T8" fmla="*/ 0 w 158"/>
                  <a:gd name="T9" fmla="*/ 0 h 159"/>
                  <a:gd name="T10" fmla="*/ 0 w 158"/>
                  <a:gd name="T11" fmla="*/ 0 h 159"/>
                  <a:gd name="T12" fmla="*/ 0 w 158"/>
                  <a:gd name="T13" fmla="*/ 0 h 159"/>
                  <a:gd name="T14" fmla="*/ 0 w 158"/>
                  <a:gd name="T15" fmla="*/ 0 h 159"/>
                  <a:gd name="T16" fmla="*/ 0 w 158"/>
                  <a:gd name="T17" fmla="*/ 0 h 159"/>
                  <a:gd name="T18" fmla="*/ 0 w 158"/>
                  <a:gd name="T19" fmla="*/ 0 h 159"/>
                  <a:gd name="T20" fmla="*/ 0 w 158"/>
                  <a:gd name="T21" fmla="*/ 0 h 159"/>
                  <a:gd name="T22" fmla="*/ 0 w 158"/>
                  <a:gd name="T23" fmla="*/ 0 h 159"/>
                  <a:gd name="T24" fmla="*/ 0 w 158"/>
                  <a:gd name="T25" fmla="*/ 0 h 159"/>
                  <a:gd name="T26" fmla="*/ 0 w 158"/>
                  <a:gd name="T27" fmla="*/ 0 h 159"/>
                  <a:gd name="T28" fmla="*/ 0 w 158"/>
                  <a:gd name="T29" fmla="*/ 0 h 159"/>
                  <a:gd name="T30" fmla="*/ 0 w 158"/>
                  <a:gd name="T31" fmla="*/ 0 h 159"/>
                  <a:gd name="T32" fmla="*/ 0 w 158"/>
                  <a:gd name="T33" fmla="*/ 0 h 159"/>
                  <a:gd name="T34" fmla="*/ 0 w 158"/>
                  <a:gd name="T35" fmla="*/ 0 h 159"/>
                  <a:gd name="T36" fmla="*/ 0 w 158"/>
                  <a:gd name="T37" fmla="*/ 0 h 1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8" h="159">
                    <a:moveTo>
                      <a:pt x="158" y="10"/>
                    </a:moveTo>
                    <a:lnTo>
                      <a:pt x="10" y="159"/>
                    </a:lnTo>
                    <a:lnTo>
                      <a:pt x="9" y="158"/>
                    </a:lnTo>
                    <a:lnTo>
                      <a:pt x="8" y="157"/>
                    </a:lnTo>
                    <a:lnTo>
                      <a:pt x="6" y="156"/>
                    </a:lnTo>
                    <a:lnTo>
                      <a:pt x="5" y="155"/>
                    </a:lnTo>
                    <a:lnTo>
                      <a:pt x="4" y="154"/>
                    </a:lnTo>
                    <a:lnTo>
                      <a:pt x="3" y="154"/>
                    </a:lnTo>
                    <a:lnTo>
                      <a:pt x="2" y="153"/>
                    </a:lnTo>
                    <a:lnTo>
                      <a:pt x="0" y="152"/>
                    </a:lnTo>
                    <a:lnTo>
                      <a:pt x="152" y="0"/>
                    </a:lnTo>
                    <a:lnTo>
                      <a:pt x="153" y="1"/>
                    </a:lnTo>
                    <a:lnTo>
                      <a:pt x="154" y="2"/>
                    </a:lnTo>
                    <a:lnTo>
                      <a:pt x="155" y="4"/>
                    </a:lnTo>
                    <a:lnTo>
                      <a:pt x="155" y="5"/>
                    </a:lnTo>
                    <a:lnTo>
                      <a:pt x="156" y="6"/>
                    </a:lnTo>
                    <a:lnTo>
                      <a:pt x="157" y="8"/>
                    </a:lnTo>
                    <a:lnTo>
                      <a:pt x="158" y="9"/>
                    </a:lnTo>
                    <a:lnTo>
                      <a:pt x="158" y="1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13" name="Freeform 2250"/>
              <p:cNvSpPr>
                <a:spLocks noChangeAspect="1"/>
              </p:cNvSpPr>
              <p:nvPr/>
            </p:nvSpPr>
            <p:spPr bwMode="auto">
              <a:xfrm>
                <a:off x="5372" y="2094"/>
                <a:ext cx="53" cy="54"/>
              </a:xfrm>
              <a:custGeom>
                <a:avLst/>
                <a:gdLst>
                  <a:gd name="T0" fmla="*/ 0 w 160"/>
                  <a:gd name="T1" fmla="*/ 0 h 161"/>
                  <a:gd name="T2" fmla="*/ 0 w 160"/>
                  <a:gd name="T3" fmla="*/ 0 h 161"/>
                  <a:gd name="T4" fmla="*/ 0 w 160"/>
                  <a:gd name="T5" fmla="*/ 0 h 161"/>
                  <a:gd name="T6" fmla="*/ 0 w 160"/>
                  <a:gd name="T7" fmla="*/ 0 h 161"/>
                  <a:gd name="T8" fmla="*/ 0 w 160"/>
                  <a:gd name="T9" fmla="*/ 0 h 161"/>
                  <a:gd name="T10" fmla="*/ 0 w 160"/>
                  <a:gd name="T11" fmla="*/ 0 h 161"/>
                  <a:gd name="T12" fmla="*/ 0 w 160"/>
                  <a:gd name="T13" fmla="*/ 0 h 161"/>
                  <a:gd name="T14" fmla="*/ 0 w 160"/>
                  <a:gd name="T15" fmla="*/ 0 h 161"/>
                  <a:gd name="T16" fmla="*/ 0 w 160"/>
                  <a:gd name="T17" fmla="*/ 0 h 161"/>
                  <a:gd name="T18" fmla="*/ 0 w 160"/>
                  <a:gd name="T19" fmla="*/ 0 h 161"/>
                  <a:gd name="T20" fmla="*/ 0 w 160"/>
                  <a:gd name="T21" fmla="*/ 0 h 161"/>
                  <a:gd name="T22" fmla="*/ 0 w 160"/>
                  <a:gd name="T23" fmla="*/ 0 h 161"/>
                  <a:gd name="T24" fmla="*/ 0 w 160"/>
                  <a:gd name="T25" fmla="*/ 0 h 161"/>
                  <a:gd name="T26" fmla="*/ 0 w 160"/>
                  <a:gd name="T27" fmla="*/ 0 h 161"/>
                  <a:gd name="T28" fmla="*/ 0 w 160"/>
                  <a:gd name="T29" fmla="*/ 0 h 161"/>
                  <a:gd name="T30" fmla="*/ 0 w 160"/>
                  <a:gd name="T31" fmla="*/ 0 h 161"/>
                  <a:gd name="T32" fmla="*/ 0 w 160"/>
                  <a:gd name="T33" fmla="*/ 0 h 161"/>
                  <a:gd name="T34" fmla="*/ 0 w 160"/>
                  <a:gd name="T35" fmla="*/ 0 h 161"/>
                  <a:gd name="T36" fmla="*/ 0 w 160"/>
                  <a:gd name="T37" fmla="*/ 0 h 1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0" h="161">
                    <a:moveTo>
                      <a:pt x="160" y="11"/>
                    </a:moveTo>
                    <a:lnTo>
                      <a:pt x="10" y="161"/>
                    </a:lnTo>
                    <a:lnTo>
                      <a:pt x="9" y="160"/>
                    </a:lnTo>
                    <a:lnTo>
                      <a:pt x="8" y="160"/>
                    </a:lnTo>
                    <a:lnTo>
                      <a:pt x="7" y="159"/>
                    </a:lnTo>
                    <a:lnTo>
                      <a:pt x="5" y="158"/>
                    </a:lnTo>
                    <a:lnTo>
                      <a:pt x="4" y="157"/>
                    </a:lnTo>
                    <a:lnTo>
                      <a:pt x="3" y="155"/>
                    </a:lnTo>
                    <a:lnTo>
                      <a:pt x="1" y="154"/>
                    </a:lnTo>
                    <a:lnTo>
                      <a:pt x="0" y="153"/>
                    </a:lnTo>
                    <a:lnTo>
                      <a:pt x="154" y="0"/>
                    </a:lnTo>
                    <a:lnTo>
                      <a:pt x="155" y="1"/>
                    </a:lnTo>
                    <a:lnTo>
                      <a:pt x="156" y="2"/>
                    </a:lnTo>
                    <a:lnTo>
                      <a:pt x="157" y="4"/>
                    </a:lnTo>
                    <a:lnTo>
                      <a:pt x="157" y="6"/>
                    </a:lnTo>
                    <a:lnTo>
                      <a:pt x="158" y="7"/>
                    </a:lnTo>
                    <a:lnTo>
                      <a:pt x="159" y="8"/>
                    </a:lnTo>
                    <a:lnTo>
                      <a:pt x="160" y="10"/>
                    </a:lnTo>
                    <a:lnTo>
                      <a:pt x="160" y="1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14" name="Freeform 2251"/>
              <p:cNvSpPr>
                <a:spLocks noChangeAspect="1"/>
              </p:cNvSpPr>
              <p:nvPr/>
            </p:nvSpPr>
            <p:spPr bwMode="auto">
              <a:xfrm>
                <a:off x="5370" y="2093"/>
                <a:ext cx="54" cy="54"/>
              </a:xfrm>
              <a:custGeom>
                <a:avLst/>
                <a:gdLst>
                  <a:gd name="T0" fmla="*/ 0 w 161"/>
                  <a:gd name="T1" fmla="*/ 0 h 163"/>
                  <a:gd name="T2" fmla="*/ 0 w 161"/>
                  <a:gd name="T3" fmla="*/ 0 h 163"/>
                  <a:gd name="T4" fmla="*/ 0 w 161"/>
                  <a:gd name="T5" fmla="*/ 0 h 163"/>
                  <a:gd name="T6" fmla="*/ 0 w 161"/>
                  <a:gd name="T7" fmla="*/ 0 h 163"/>
                  <a:gd name="T8" fmla="*/ 0 w 161"/>
                  <a:gd name="T9" fmla="*/ 0 h 163"/>
                  <a:gd name="T10" fmla="*/ 0 w 161"/>
                  <a:gd name="T11" fmla="*/ 0 h 163"/>
                  <a:gd name="T12" fmla="*/ 0 w 161"/>
                  <a:gd name="T13" fmla="*/ 0 h 163"/>
                  <a:gd name="T14" fmla="*/ 0 w 161"/>
                  <a:gd name="T15" fmla="*/ 0 h 163"/>
                  <a:gd name="T16" fmla="*/ 0 w 161"/>
                  <a:gd name="T17" fmla="*/ 0 h 163"/>
                  <a:gd name="T18" fmla="*/ 0 w 161"/>
                  <a:gd name="T19" fmla="*/ 0 h 163"/>
                  <a:gd name="T20" fmla="*/ 0 w 161"/>
                  <a:gd name="T21" fmla="*/ 0 h 163"/>
                  <a:gd name="T22" fmla="*/ 0 w 161"/>
                  <a:gd name="T23" fmla="*/ 0 h 163"/>
                  <a:gd name="T24" fmla="*/ 0 w 161"/>
                  <a:gd name="T25" fmla="*/ 0 h 163"/>
                  <a:gd name="T26" fmla="*/ 0 w 161"/>
                  <a:gd name="T27" fmla="*/ 0 h 163"/>
                  <a:gd name="T28" fmla="*/ 0 w 161"/>
                  <a:gd name="T29" fmla="*/ 0 h 163"/>
                  <a:gd name="T30" fmla="*/ 0 w 161"/>
                  <a:gd name="T31" fmla="*/ 0 h 163"/>
                  <a:gd name="T32" fmla="*/ 0 w 161"/>
                  <a:gd name="T33" fmla="*/ 0 h 163"/>
                  <a:gd name="T34" fmla="*/ 0 w 161"/>
                  <a:gd name="T35" fmla="*/ 0 h 163"/>
                  <a:gd name="T36" fmla="*/ 0 w 161"/>
                  <a:gd name="T37" fmla="*/ 0 h 16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1" h="163">
                    <a:moveTo>
                      <a:pt x="161" y="11"/>
                    </a:moveTo>
                    <a:lnTo>
                      <a:pt x="9" y="163"/>
                    </a:lnTo>
                    <a:lnTo>
                      <a:pt x="8" y="162"/>
                    </a:lnTo>
                    <a:lnTo>
                      <a:pt x="7" y="160"/>
                    </a:lnTo>
                    <a:lnTo>
                      <a:pt x="5" y="159"/>
                    </a:lnTo>
                    <a:lnTo>
                      <a:pt x="4" y="158"/>
                    </a:lnTo>
                    <a:lnTo>
                      <a:pt x="3" y="157"/>
                    </a:lnTo>
                    <a:lnTo>
                      <a:pt x="2" y="156"/>
                    </a:lnTo>
                    <a:lnTo>
                      <a:pt x="1" y="155"/>
                    </a:lnTo>
                    <a:lnTo>
                      <a:pt x="0" y="154"/>
                    </a:lnTo>
                    <a:lnTo>
                      <a:pt x="154" y="0"/>
                    </a:lnTo>
                    <a:lnTo>
                      <a:pt x="154" y="1"/>
                    </a:lnTo>
                    <a:lnTo>
                      <a:pt x="156" y="3"/>
                    </a:lnTo>
                    <a:lnTo>
                      <a:pt x="157" y="4"/>
                    </a:lnTo>
                    <a:lnTo>
                      <a:pt x="158" y="5"/>
                    </a:lnTo>
                    <a:lnTo>
                      <a:pt x="159" y="6"/>
                    </a:lnTo>
                    <a:lnTo>
                      <a:pt x="160" y="7"/>
                    </a:lnTo>
                    <a:lnTo>
                      <a:pt x="161" y="9"/>
                    </a:lnTo>
                    <a:lnTo>
                      <a:pt x="161" y="1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15" name="Freeform 2252"/>
              <p:cNvSpPr>
                <a:spLocks noChangeAspect="1"/>
              </p:cNvSpPr>
              <p:nvPr/>
            </p:nvSpPr>
            <p:spPr bwMode="auto">
              <a:xfrm>
                <a:off x="5369" y="2091"/>
                <a:ext cx="54" cy="54"/>
              </a:xfrm>
              <a:custGeom>
                <a:avLst/>
                <a:gdLst>
                  <a:gd name="T0" fmla="*/ 0 w 162"/>
                  <a:gd name="T1" fmla="*/ 0 h 162"/>
                  <a:gd name="T2" fmla="*/ 0 w 162"/>
                  <a:gd name="T3" fmla="*/ 0 h 162"/>
                  <a:gd name="T4" fmla="*/ 0 w 162"/>
                  <a:gd name="T5" fmla="*/ 0 h 162"/>
                  <a:gd name="T6" fmla="*/ 0 w 162"/>
                  <a:gd name="T7" fmla="*/ 0 h 162"/>
                  <a:gd name="T8" fmla="*/ 0 w 162"/>
                  <a:gd name="T9" fmla="*/ 0 h 162"/>
                  <a:gd name="T10" fmla="*/ 0 w 162"/>
                  <a:gd name="T11" fmla="*/ 0 h 162"/>
                  <a:gd name="T12" fmla="*/ 0 w 162"/>
                  <a:gd name="T13" fmla="*/ 0 h 162"/>
                  <a:gd name="T14" fmla="*/ 0 w 162"/>
                  <a:gd name="T15" fmla="*/ 0 h 162"/>
                  <a:gd name="T16" fmla="*/ 0 w 162"/>
                  <a:gd name="T17" fmla="*/ 0 h 162"/>
                  <a:gd name="T18" fmla="*/ 0 w 162"/>
                  <a:gd name="T19" fmla="*/ 0 h 162"/>
                  <a:gd name="T20" fmla="*/ 0 w 162"/>
                  <a:gd name="T21" fmla="*/ 0 h 162"/>
                  <a:gd name="T22" fmla="*/ 0 w 162"/>
                  <a:gd name="T23" fmla="*/ 0 h 162"/>
                  <a:gd name="T24" fmla="*/ 0 w 162"/>
                  <a:gd name="T25" fmla="*/ 0 h 162"/>
                  <a:gd name="T26" fmla="*/ 0 w 162"/>
                  <a:gd name="T27" fmla="*/ 0 h 162"/>
                  <a:gd name="T28" fmla="*/ 0 w 162"/>
                  <a:gd name="T29" fmla="*/ 0 h 162"/>
                  <a:gd name="T30" fmla="*/ 0 w 162"/>
                  <a:gd name="T31" fmla="*/ 0 h 162"/>
                  <a:gd name="T32" fmla="*/ 0 w 162"/>
                  <a:gd name="T33" fmla="*/ 0 h 162"/>
                  <a:gd name="T34" fmla="*/ 0 w 162"/>
                  <a:gd name="T35" fmla="*/ 0 h 162"/>
                  <a:gd name="T36" fmla="*/ 0 w 162"/>
                  <a:gd name="T37" fmla="*/ 0 h 1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162">
                    <a:moveTo>
                      <a:pt x="162" y="9"/>
                    </a:moveTo>
                    <a:lnTo>
                      <a:pt x="8" y="162"/>
                    </a:lnTo>
                    <a:lnTo>
                      <a:pt x="7" y="161"/>
                    </a:lnTo>
                    <a:lnTo>
                      <a:pt x="6" y="160"/>
                    </a:lnTo>
                    <a:lnTo>
                      <a:pt x="5" y="159"/>
                    </a:lnTo>
                    <a:lnTo>
                      <a:pt x="4" y="158"/>
                    </a:lnTo>
                    <a:lnTo>
                      <a:pt x="3" y="157"/>
                    </a:lnTo>
                    <a:lnTo>
                      <a:pt x="2" y="156"/>
                    </a:lnTo>
                    <a:lnTo>
                      <a:pt x="1" y="155"/>
                    </a:lnTo>
                    <a:lnTo>
                      <a:pt x="0" y="154"/>
                    </a:lnTo>
                    <a:lnTo>
                      <a:pt x="154" y="0"/>
                    </a:lnTo>
                    <a:lnTo>
                      <a:pt x="155" y="1"/>
                    </a:lnTo>
                    <a:lnTo>
                      <a:pt x="156" y="2"/>
                    </a:lnTo>
                    <a:lnTo>
                      <a:pt x="157" y="3"/>
                    </a:lnTo>
                    <a:lnTo>
                      <a:pt x="158" y="4"/>
                    </a:lnTo>
                    <a:lnTo>
                      <a:pt x="158" y="5"/>
                    </a:lnTo>
                    <a:lnTo>
                      <a:pt x="160" y="7"/>
                    </a:lnTo>
                    <a:lnTo>
                      <a:pt x="161" y="8"/>
                    </a:lnTo>
                    <a:lnTo>
                      <a:pt x="162" y="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16" name="Freeform 2253"/>
              <p:cNvSpPr>
                <a:spLocks noChangeAspect="1"/>
              </p:cNvSpPr>
              <p:nvPr/>
            </p:nvSpPr>
            <p:spPr bwMode="auto">
              <a:xfrm>
                <a:off x="5368" y="2090"/>
                <a:ext cx="54" cy="54"/>
              </a:xfrm>
              <a:custGeom>
                <a:avLst/>
                <a:gdLst>
                  <a:gd name="T0" fmla="*/ 0 w 162"/>
                  <a:gd name="T1" fmla="*/ 0 h 163"/>
                  <a:gd name="T2" fmla="*/ 0 w 162"/>
                  <a:gd name="T3" fmla="*/ 0 h 163"/>
                  <a:gd name="T4" fmla="*/ 0 w 162"/>
                  <a:gd name="T5" fmla="*/ 0 h 163"/>
                  <a:gd name="T6" fmla="*/ 0 w 162"/>
                  <a:gd name="T7" fmla="*/ 0 h 163"/>
                  <a:gd name="T8" fmla="*/ 0 w 162"/>
                  <a:gd name="T9" fmla="*/ 0 h 163"/>
                  <a:gd name="T10" fmla="*/ 0 w 162"/>
                  <a:gd name="T11" fmla="*/ 0 h 163"/>
                  <a:gd name="T12" fmla="*/ 0 w 162"/>
                  <a:gd name="T13" fmla="*/ 0 h 163"/>
                  <a:gd name="T14" fmla="*/ 0 w 162"/>
                  <a:gd name="T15" fmla="*/ 0 h 163"/>
                  <a:gd name="T16" fmla="*/ 0 w 162"/>
                  <a:gd name="T17" fmla="*/ 0 h 163"/>
                  <a:gd name="T18" fmla="*/ 0 w 162"/>
                  <a:gd name="T19" fmla="*/ 0 h 163"/>
                  <a:gd name="T20" fmla="*/ 0 w 162"/>
                  <a:gd name="T21" fmla="*/ 0 h 163"/>
                  <a:gd name="T22" fmla="*/ 0 w 162"/>
                  <a:gd name="T23" fmla="*/ 0 h 163"/>
                  <a:gd name="T24" fmla="*/ 0 w 162"/>
                  <a:gd name="T25" fmla="*/ 0 h 163"/>
                  <a:gd name="T26" fmla="*/ 0 w 162"/>
                  <a:gd name="T27" fmla="*/ 0 h 163"/>
                  <a:gd name="T28" fmla="*/ 0 w 162"/>
                  <a:gd name="T29" fmla="*/ 0 h 163"/>
                  <a:gd name="T30" fmla="*/ 0 w 162"/>
                  <a:gd name="T31" fmla="*/ 0 h 163"/>
                  <a:gd name="T32" fmla="*/ 0 w 162"/>
                  <a:gd name="T33" fmla="*/ 0 h 163"/>
                  <a:gd name="T34" fmla="*/ 0 w 162"/>
                  <a:gd name="T35" fmla="*/ 0 h 163"/>
                  <a:gd name="T36" fmla="*/ 0 w 162"/>
                  <a:gd name="T37" fmla="*/ 0 h 16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163">
                    <a:moveTo>
                      <a:pt x="162" y="9"/>
                    </a:moveTo>
                    <a:lnTo>
                      <a:pt x="8" y="163"/>
                    </a:lnTo>
                    <a:lnTo>
                      <a:pt x="7" y="162"/>
                    </a:lnTo>
                    <a:lnTo>
                      <a:pt x="6" y="161"/>
                    </a:lnTo>
                    <a:lnTo>
                      <a:pt x="5" y="160"/>
                    </a:lnTo>
                    <a:lnTo>
                      <a:pt x="4" y="159"/>
                    </a:lnTo>
                    <a:lnTo>
                      <a:pt x="3" y="158"/>
                    </a:lnTo>
                    <a:lnTo>
                      <a:pt x="2" y="157"/>
                    </a:lnTo>
                    <a:lnTo>
                      <a:pt x="1" y="156"/>
                    </a:lnTo>
                    <a:lnTo>
                      <a:pt x="0" y="154"/>
                    </a:lnTo>
                    <a:lnTo>
                      <a:pt x="154" y="0"/>
                    </a:lnTo>
                    <a:lnTo>
                      <a:pt x="155" y="1"/>
                    </a:lnTo>
                    <a:lnTo>
                      <a:pt x="156" y="3"/>
                    </a:lnTo>
                    <a:lnTo>
                      <a:pt x="157" y="4"/>
                    </a:lnTo>
                    <a:lnTo>
                      <a:pt x="158" y="5"/>
                    </a:lnTo>
                    <a:lnTo>
                      <a:pt x="159" y="6"/>
                    </a:lnTo>
                    <a:lnTo>
                      <a:pt x="160" y="7"/>
                    </a:lnTo>
                    <a:lnTo>
                      <a:pt x="161" y="8"/>
                    </a:lnTo>
                    <a:lnTo>
                      <a:pt x="162" y="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17" name="Freeform 2254"/>
              <p:cNvSpPr>
                <a:spLocks noChangeAspect="1"/>
              </p:cNvSpPr>
              <p:nvPr/>
            </p:nvSpPr>
            <p:spPr bwMode="auto">
              <a:xfrm>
                <a:off x="5366" y="2088"/>
                <a:ext cx="54" cy="55"/>
              </a:xfrm>
              <a:custGeom>
                <a:avLst/>
                <a:gdLst>
                  <a:gd name="T0" fmla="*/ 0 w 163"/>
                  <a:gd name="T1" fmla="*/ 0 h 163"/>
                  <a:gd name="T2" fmla="*/ 0 w 163"/>
                  <a:gd name="T3" fmla="*/ 0 h 163"/>
                  <a:gd name="T4" fmla="*/ 0 w 163"/>
                  <a:gd name="T5" fmla="*/ 0 h 163"/>
                  <a:gd name="T6" fmla="*/ 0 w 163"/>
                  <a:gd name="T7" fmla="*/ 0 h 163"/>
                  <a:gd name="T8" fmla="*/ 0 w 163"/>
                  <a:gd name="T9" fmla="*/ 0 h 163"/>
                  <a:gd name="T10" fmla="*/ 0 w 163"/>
                  <a:gd name="T11" fmla="*/ 0 h 163"/>
                  <a:gd name="T12" fmla="*/ 0 w 163"/>
                  <a:gd name="T13" fmla="*/ 0 h 163"/>
                  <a:gd name="T14" fmla="*/ 0 w 163"/>
                  <a:gd name="T15" fmla="*/ 0 h 163"/>
                  <a:gd name="T16" fmla="*/ 0 w 163"/>
                  <a:gd name="T17" fmla="*/ 0 h 163"/>
                  <a:gd name="T18" fmla="*/ 0 w 163"/>
                  <a:gd name="T19" fmla="*/ 0 h 163"/>
                  <a:gd name="T20" fmla="*/ 0 w 163"/>
                  <a:gd name="T21" fmla="*/ 0 h 163"/>
                  <a:gd name="T22" fmla="*/ 0 w 163"/>
                  <a:gd name="T23" fmla="*/ 0 h 163"/>
                  <a:gd name="T24" fmla="*/ 0 w 163"/>
                  <a:gd name="T25" fmla="*/ 0 h 163"/>
                  <a:gd name="T26" fmla="*/ 0 w 163"/>
                  <a:gd name="T27" fmla="*/ 0 h 163"/>
                  <a:gd name="T28" fmla="*/ 0 w 163"/>
                  <a:gd name="T29" fmla="*/ 0 h 163"/>
                  <a:gd name="T30" fmla="*/ 0 w 163"/>
                  <a:gd name="T31" fmla="*/ 0 h 163"/>
                  <a:gd name="T32" fmla="*/ 0 w 163"/>
                  <a:gd name="T33" fmla="*/ 0 h 163"/>
                  <a:gd name="T34" fmla="*/ 0 w 163"/>
                  <a:gd name="T35" fmla="*/ 0 h 163"/>
                  <a:gd name="T36" fmla="*/ 0 w 163"/>
                  <a:gd name="T37" fmla="*/ 0 h 16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3" h="163">
                    <a:moveTo>
                      <a:pt x="163" y="9"/>
                    </a:moveTo>
                    <a:lnTo>
                      <a:pt x="9" y="163"/>
                    </a:lnTo>
                    <a:lnTo>
                      <a:pt x="8" y="162"/>
                    </a:lnTo>
                    <a:lnTo>
                      <a:pt x="7" y="161"/>
                    </a:lnTo>
                    <a:lnTo>
                      <a:pt x="6" y="160"/>
                    </a:lnTo>
                    <a:lnTo>
                      <a:pt x="5" y="158"/>
                    </a:lnTo>
                    <a:lnTo>
                      <a:pt x="4" y="156"/>
                    </a:lnTo>
                    <a:lnTo>
                      <a:pt x="2" y="155"/>
                    </a:lnTo>
                    <a:lnTo>
                      <a:pt x="1" y="154"/>
                    </a:lnTo>
                    <a:lnTo>
                      <a:pt x="0" y="153"/>
                    </a:lnTo>
                    <a:lnTo>
                      <a:pt x="154" y="0"/>
                    </a:lnTo>
                    <a:lnTo>
                      <a:pt x="156" y="1"/>
                    </a:lnTo>
                    <a:lnTo>
                      <a:pt x="157" y="2"/>
                    </a:lnTo>
                    <a:lnTo>
                      <a:pt x="158" y="3"/>
                    </a:lnTo>
                    <a:lnTo>
                      <a:pt x="159" y="4"/>
                    </a:lnTo>
                    <a:lnTo>
                      <a:pt x="160" y="5"/>
                    </a:lnTo>
                    <a:lnTo>
                      <a:pt x="161" y="7"/>
                    </a:lnTo>
                    <a:lnTo>
                      <a:pt x="162" y="8"/>
                    </a:lnTo>
                    <a:lnTo>
                      <a:pt x="163" y="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18" name="Freeform 2255"/>
              <p:cNvSpPr>
                <a:spLocks noChangeAspect="1"/>
              </p:cNvSpPr>
              <p:nvPr/>
            </p:nvSpPr>
            <p:spPr bwMode="auto">
              <a:xfrm>
                <a:off x="5365" y="2087"/>
                <a:ext cx="54" cy="54"/>
              </a:xfrm>
              <a:custGeom>
                <a:avLst/>
                <a:gdLst>
                  <a:gd name="T0" fmla="*/ 0 w 162"/>
                  <a:gd name="T1" fmla="*/ 0 h 162"/>
                  <a:gd name="T2" fmla="*/ 0 w 162"/>
                  <a:gd name="T3" fmla="*/ 0 h 162"/>
                  <a:gd name="T4" fmla="*/ 0 w 162"/>
                  <a:gd name="T5" fmla="*/ 0 h 162"/>
                  <a:gd name="T6" fmla="*/ 0 w 162"/>
                  <a:gd name="T7" fmla="*/ 0 h 162"/>
                  <a:gd name="T8" fmla="*/ 0 w 162"/>
                  <a:gd name="T9" fmla="*/ 0 h 162"/>
                  <a:gd name="T10" fmla="*/ 0 w 162"/>
                  <a:gd name="T11" fmla="*/ 0 h 162"/>
                  <a:gd name="T12" fmla="*/ 0 w 162"/>
                  <a:gd name="T13" fmla="*/ 0 h 162"/>
                  <a:gd name="T14" fmla="*/ 0 w 162"/>
                  <a:gd name="T15" fmla="*/ 0 h 162"/>
                  <a:gd name="T16" fmla="*/ 0 w 162"/>
                  <a:gd name="T17" fmla="*/ 0 h 162"/>
                  <a:gd name="T18" fmla="*/ 0 w 162"/>
                  <a:gd name="T19" fmla="*/ 0 h 162"/>
                  <a:gd name="T20" fmla="*/ 0 w 162"/>
                  <a:gd name="T21" fmla="*/ 0 h 162"/>
                  <a:gd name="T22" fmla="*/ 0 w 162"/>
                  <a:gd name="T23" fmla="*/ 0 h 162"/>
                  <a:gd name="T24" fmla="*/ 0 w 162"/>
                  <a:gd name="T25" fmla="*/ 0 h 162"/>
                  <a:gd name="T26" fmla="*/ 0 w 162"/>
                  <a:gd name="T27" fmla="*/ 0 h 162"/>
                  <a:gd name="T28" fmla="*/ 0 w 162"/>
                  <a:gd name="T29" fmla="*/ 0 h 162"/>
                  <a:gd name="T30" fmla="*/ 0 w 162"/>
                  <a:gd name="T31" fmla="*/ 0 h 162"/>
                  <a:gd name="T32" fmla="*/ 0 w 162"/>
                  <a:gd name="T33" fmla="*/ 0 h 162"/>
                  <a:gd name="T34" fmla="*/ 0 w 162"/>
                  <a:gd name="T35" fmla="*/ 0 h 162"/>
                  <a:gd name="T36" fmla="*/ 0 w 162"/>
                  <a:gd name="T37" fmla="*/ 0 h 1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162">
                    <a:moveTo>
                      <a:pt x="162" y="8"/>
                    </a:moveTo>
                    <a:lnTo>
                      <a:pt x="8" y="162"/>
                    </a:lnTo>
                    <a:lnTo>
                      <a:pt x="7" y="160"/>
                    </a:lnTo>
                    <a:lnTo>
                      <a:pt x="5" y="159"/>
                    </a:lnTo>
                    <a:lnTo>
                      <a:pt x="4" y="158"/>
                    </a:lnTo>
                    <a:lnTo>
                      <a:pt x="3" y="157"/>
                    </a:lnTo>
                    <a:lnTo>
                      <a:pt x="3" y="156"/>
                    </a:lnTo>
                    <a:lnTo>
                      <a:pt x="2" y="154"/>
                    </a:lnTo>
                    <a:lnTo>
                      <a:pt x="1" y="153"/>
                    </a:lnTo>
                    <a:lnTo>
                      <a:pt x="0" y="152"/>
                    </a:lnTo>
                    <a:lnTo>
                      <a:pt x="152" y="0"/>
                    </a:lnTo>
                    <a:lnTo>
                      <a:pt x="153" y="1"/>
                    </a:lnTo>
                    <a:lnTo>
                      <a:pt x="154" y="2"/>
                    </a:lnTo>
                    <a:lnTo>
                      <a:pt x="156" y="3"/>
                    </a:lnTo>
                    <a:lnTo>
                      <a:pt x="157" y="4"/>
                    </a:lnTo>
                    <a:lnTo>
                      <a:pt x="159" y="5"/>
                    </a:lnTo>
                    <a:lnTo>
                      <a:pt x="160" y="6"/>
                    </a:lnTo>
                    <a:lnTo>
                      <a:pt x="161" y="7"/>
                    </a:lnTo>
                    <a:lnTo>
                      <a:pt x="162" y="8"/>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19" name="Freeform 2256"/>
              <p:cNvSpPr>
                <a:spLocks noChangeAspect="1"/>
              </p:cNvSpPr>
              <p:nvPr/>
            </p:nvSpPr>
            <p:spPr bwMode="auto">
              <a:xfrm>
                <a:off x="5364" y="2086"/>
                <a:ext cx="53" cy="53"/>
              </a:xfrm>
              <a:custGeom>
                <a:avLst/>
                <a:gdLst>
                  <a:gd name="T0" fmla="*/ 0 w 160"/>
                  <a:gd name="T1" fmla="*/ 0 h 161"/>
                  <a:gd name="T2" fmla="*/ 0 w 160"/>
                  <a:gd name="T3" fmla="*/ 0 h 161"/>
                  <a:gd name="T4" fmla="*/ 0 w 160"/>
                  <a:gd name="T5" fmla="*/ 0 h 161"/>
                  <a:gd name="T6" fmla="*/ 0 w 160"/>
                  <a:gd name="T7" fmla="*/ 0 h 161"/>
                  <a:gd name="T8" fmla="*/ 0 w 160"/>
                  <a:gd name="T9" fmla="*/ 0 h 161"/>
                  <a:gd name="T10" fmla="*/ 0 w 160"/>
                  <a:gd name="T11" fmla="*/ 0 h 161"/>
                  <a:gd name="T12" fmla="*/ 0 w 160"/>
                  <a:gd name="T13" fmla="*/ 0 h 161"/>
                  <a:gd name="T14" fmla="*/ 0 w 160"/>
                  <a:gd name="T15" fmla="*/ 0 h 161"/>
                  <a:gd name="T16" fmla="*/ 0 w 160"/>
                  <a:gd name="T17" fmla="*/ 0 h 161"/>
                  <a:gd name="T18" fmla="*/ 0 w 160"/>
                  <a:gd name="T19" fmla="*/ 0 h 161"/>
                  <a:gd name="T20" fmla="*/ 0 w 160"/>
                  <a:gd name="T21" fmla="*/ 0 h 161"/>
                  <a:gd name="T22" fmla="*/ 0 w 160"/>
                  <a:gd name="T23" fmla="*/ 0 h 161"/>
                  <a:gd name="T24" fmla="*/ 0 w 160"/>
                  <a:gd name="T25" fmla="*/ 0 h 161"/>
                  <a:gd name="T26" fmla="*/ 0 w 160"/>
                  <a:gd name="T27" fmla="*/ 0 h 161"/>
                  <a:gd name="T28" fmla="*/ 0 w 160"/>
                  <a:gd name="T29" fmla="*/ 0 h 161"/>
                  <a:gd name="T30" fmla="*/ 0 w 160"/>
                  <a:gd name="T31" fmla="*/ 0 h 161"/>
                  <a:gd name="T32" fmla="*/ 0 w 160"/>
                  <a:gd name="T33" fmla="*/ 0 h 161"/>
                  <a:gd name="T34" fmla="*/ 0 w 160"/>
                  <a:gd name="T35" fmla="*/ 0 h 161"/>
                  <a:gd name="T36" fmla="*/ 0 w 160"/>
                  <a:gd name="T37" fmla="*/ 0 h 1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0" h="161">
                    <a:moveTo>
                      <a:pt x="160" y="8"/>
                    </a:moveTo>
                    <a:lnTo>
                      <a:pt x="6" y="161"/>
                    </a:lnTo>
                    <a:lnTo>
                      <a:pt x="6" y="160"/>
                    </a:lnTo>
                    <a:lnTo>
                      <a:pt x="5" y="158"/>
                    </a:lnTo>
                    <a:lnTo>
                      <a:pt x="4" y="157"/>
                    </a:lnTo>
                    <a:lnTo>
                      <a:pt x="3" y="156"/>
                    </a:lnTo>
                    <a:lnTo>
                      <a:pt x="2" y="155"/>
                    </a:lnTo>
                    <a:lnTo>
                      <a:pt x="2" y="153"/>
                    </a:lnTo>
                    <a:lnTo>
                      <a:pt x="1" y="152"/>
                    </a:lnTo>
                    <a:lnTo>
                      <a:pt x="0" y="151"/>
                    </a:lnTo>
                    <a:lnTo>
                      <a:pt x="150" y="0"/>
                    </a:lnTo>
                    <a:lnTo>
                      <a:pt x="152" y="1"/>
                    </a:lnTo>
                    <a:lnTo>
                      <a:pt x="153" y="2"/>
                    </a:lnTo>
                    <a:lnTo>
                      <a:pt x="154" y="3"/>
                    </a:lnTo>
                    <a:lnTo>
                      <a:pt x="155" y="4"/>
                    </a:lnTo>
                    <a:lnTo>
                      <a:pt x="156" y="5"/>
                    </a:lnTo>
                    <a:lnTo>
                      <a:pt x="157" y="6"/>
                    </a:lnTo>
                    <a:lnTo>
                      <a:pt x="159" y="7"/>
                    </a:lnTo>
                    <a:lnTo>
                      <a:pt x="160" y="8"/>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20" name="Freeform 2257"/>
              <p:cNvSpPr>
                <a:spLocks noChangeAspect="1"/>
              </p:cNvSpPr>
              <p:nvPr/>
            </p:nvSpPr>
            <p:spPr bwMode="auto">
              <a:xfrm>
                <a:off x="5363" y="2084"/>
                <a:ext cx="53" cy="54"/>
              </a:xfrm>
              <a:custGeom>
                <a:avLst/>
                <a:gdLst>
                  <a:gd name="T0" fmla="*/ 0 w 158"/>
                  <a:gd name="T1" fmla="*/ 0 h 160"/>
                  <a:gd name="T2" fmla="*/ 0 w 158"/>
                  <a:gd name="T3" fmla="*/ 0 h 160"/>
                  <a:gd name="T4" fmla="*/ 0 w 158"/>
                  <a:gd name="T5" fmla="*/ 0 h 160"/>
                  <a:gd name="T6" fmla="*/ 0 w 158"/>
                  <a:gd name="T7" fmla="*/ 0 h 160"/>
                  <a:gd name="T8" fmla="*/ 0 w 158"/>
                  <a:gd name="T9" fmla="*/ 0 h 160"/>
                  <a:gd name="T10" fmla="*/ 0 w 158"/>
                  <a:gd name="T11" fmla="*/ 0 h 160"/>
                  <a:gd name="T12" fmla="*/ 0 w 158"/>
                  <a:gd name="T13" fmla="*/ 0 h 160"/>
                  <a:gd name="T14" fmla="*/ 0 w 158"/>
                  <a:gd name="T15" fmla="*/ 0 h 160"/>
                  <a:gd name="T16" fmla="*/ 0 w 158"/>
                  <a:gd name="T17" fmla="*/ 0 h 160"/>
                  <a:gd name="T18" fmla="*/ 0 w 158"/>
                  <a:gd name="T19" fmla="*/ 0 h 160"/>
                  <a:gd name="T20" fmla="*/ 0 w 158"/>
                  <a:gd name="T21" fmla="*/ 0 h 160"/>
                  <a:gd name="T22" fmla="*/ 0 w 158"/>
                  <a:gd name="T23" fmla="*/ 0 h 160"/>
                  <a:gd name="T24" fmla="*/ 0 w 158"/>
                  <a:gd name="T25" fmla="*/ 0 h 160"/>
                  <a:gd name="T26" fmla="*/ 0 w 158"/>
                  <a:gd name="T27" fmla="*/ 0 h 160"/>
                  <a:gd name="T28" fmla="*/ 0 w 158"/>
                  <a:gd name="T29" fmla="*/ 0 h 160"/>
                  <a:gd name="T30" fmla="*/ 0 w 158"/>
                  <a:gd name="T31" fmla="*/ 0 h 160"/>
                  <a:gd name="T32" fmla="*/ 0 w 158"/>
                  <a:gd name="T33" fmla="*/ 0 h 160"/>
                  <a:gd name="T34" fmla="*/ 0 w 158"/>
                  <a:gd name="T35" fmla="*/ 0 h 160"/>
                  <a:gd name="T36" fmla="*/ 0 w 158"/>
                  <a:gd name="T37" fmla="*/ 0 h 16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8" h="160">
                    <a:moveTo>
                      <a:pt x="158" y="8"/>
                    </a:moveTo>
                    <a:lnTo>
                      <a:pt x="6" y="160"/>
                    </a:lnTo>
                    <a:lnTo>
                      <a:pt x="5" y="159"/>
                    </a:lnTo>
                    <a:lnTo>
                      <a:pt x="5" y="157"/>
                    </a:lnTo>
                    <a:lnTo>
                      <a:pt x="4" y="156"/>
                    </a:lnTo>
                    <a:lnTo>
                      <a:pt x="3" y="155"/>
                    </a:lnTo>
                    <a:lnTo>
                      <a:pt x="2" y="153"/>
                    </a:lnTo>
                    <a:lnTo>
                      <a:pt x="2" y="151"/>
                    </a:lnTo>
                    <a:lnTo>
                      <a:pt x="1" y="150"/>
                    </a:lnTo>
                    <a:lnTo>
                      <a:pt x="0" y="148"/>
                    </a:lnTo>
                    <a:lnTo>
                      <a:pt x="148" y="0"/>
                    </a:lnTo>
                    <a:lnTo>
                      <a:pt x="150" y="2"/>
                    </a:lnTo>
                    <a:lnTo>
                      <a:pt x="151" y="3"/>
                    </a:lnTo>
                    <a:lnTo>
                      <a:pt x="152" y="4"/>
                    </a:lnTo>
                    <a:lnTo>
                      <a:pt x="153" y="4"/>
                    </a:lnTo>
                    <a:lnTo>
                      <a:pt x="154" y="5"/>
                    </a:lnTo>
                    <a:lnTo>
                      <a:pt x="156" y="6"/>
                    </a:lnTo>
                    <a:lnTo>
                      <a:pt x="157" y="7"/>
                    </a:lnTo>
                    <a:lnTo>
                      <a:pt x="158" y="8"/>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21" name="Freeform 2258"/>
              <p:cNvSpPr>
                <a:spLocks noChangeAspect="1"/>
              </p:cNvSpPr>
              <p:nvPr/>
            </p:nvSpPr>
            <p:spPr bwMode="auto">
              <a:xfrm>
                <a:off x="5362" y="2083"/>
                <a:ext cx="52" cy="53"/>
              </a:xfrm>
              <a:custGeom>
                <a:avLst/>
                <a:gdLst>
                  <a:gd name="T0" fmla="*/ 0 w 155"/>
                  <a:gd name="T1" fmla="*/ 0 h 158"/>
                  <a:gd name="T2" fmla="*/ 0 w 155"/>
                  <a:gd name="T3" fmla="*/ 0 h 158"/>
                  <a:gd name="T4" fmla="*/ 0 w 155"/>
                  <a:gd name="T5" fmla="*/ 0 h 158"/>
                  <a:gd name="T6" fmla="*/ 0 w 155"/>
                  <a:gd name="T7" fmla="*/ 0 h 158"/>
                  <a:gd name="T8" fmla="*/ 0 w 155"/>
                  <a:gd name="T9" fmla="*/ 0 h 158"/>
                  <a:gd name="T10" fmla="*/ 0 w 155"/>
                  <a:gd name="T11" fmla="*/ 0 h 158"/>
                  <a:gd name="T12" fmla="*/ 0 w 155"/>
                  <a:gd name="T13" fmla="*/ 0 h 158"/>
                  <a:gd name="T14" fmla="*/ 0 w 155"/>
                  <a:gd name="T15" fmla="*/ 0 h 158"/>
                  <a:gd name="T16" fmla="*/ 0 w 155"/>
                  <a:gd name="T17" fmla="*/ 0 h 158"/>
                  <a:gd name="T18" fmla="*/ 0 w 155"/>
                  <a:gd name="T19" fmla="*/ 0 h 158"/>
                  <a:gd name="T20" fmla="*/ 0 w 155"/>
                  <a:gd name="T21" fmla="*/ 0 h 158"/>
                  <a:gd name="T22" fmla="*/ 0 w 155"/>
                  <a:gd name="T23" fmla="*/ 0 h 158"/>
                  <a:gd name="T24" fmla="*/ 0 w 155"/>
                  <a:gd name="T25" fmla="*/ 0 h 158"/>
                  <a:gd name="T26" fmla="*/ 0 w 155"/>
                  <a:gd name="T27" fmla="*/ 0 h 158"/>
                  <a:gd name="T28" fmla="*/ 0 w 155"/>
                  <a:gd name="T29" fmla="*/ 0 h 158"/>
                  <a:gd name="T30" fmla="*/ 0 w 155"/>
                  <a:gd name="T31" fmla="*/ 0 h 158"/>
                  <a:gd name="T32" fmla="*/ 0 w 155"/>
                  <a:gd name="T33" fmla="*/ 0 h 158"/>
                  <a:gd name="T34" fmla="*/ 0 w 155"/>
                  <a:gd name="T35" fmla="*/ 0 h 158"/>
                  <a:gd name="T36" fmla="*/ 0 w 155"/>
                  <a:gd name="T37" fmla="*/ 0 h 15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5" h="158">
                    <a:moveTo>
                      <a:pt x="155" y="7"/>
                    </a:moveTo>
                    <a:lnTo>
                      <a:pt x="5" y="158"/>
                    </a:lnTo>
                    <a:lnTo>
                      <a:pt x="4" y="156"/>
                    </a:lnTo>
                    <a:lnTo>
                      <a:pt x="4" y="154"/>
                    </a:lnTo>
                    <a:lnTo>
                      <a:pt x="3" y="153"/>
                    </a:lnTo>
                    <a:lnTo>
                      <a:pt x="2" y="151"/>
                    </a:lnTo>
                    <a:lnTo>
                      <a:pt x="2" y="150"/>
                    </a:lnTo>
                    <a:lnTo>
                      <a:pt x="1" y="148"/>
                    </a:lnTo>
                    <a:lnTo>
                      <a:pt x="0" y="147"/>
                    </a:lnTo>
                    <a:lnTo>
                      <a:pt x="0" y="146"/>
                    </a:lnTo>
                    <a:lnTo>
                      <a:pt x="144" y="0"/>
                    </a:lnTo>
                    <a:lnTo>
                      <a:pt x="145" y="1"/>
                    </a:lnTo>
                    <a:lnTo>
                      <a:pt x="148" y="2"/>
                    </a:lnTo>
                    <a:lnTo>
                      <a:pt x="149" y="2"/>
                    </a:lnTo>
                    <a:lnTo>
                      <a:pt x="150" y="3"/>
                    </a:lnTo>
                    <a:lnTo>
                      <a:pt x="152" y="5"/>
                    </a:lnTo>
                    <a:lnTo>
                      <a:pt x="153" y="6"/>
                    </a:lnTo>
                    <a:lnTo>
                      <a:pt x="154" y="7"/>
                    </a:lnTo>
                    <a:lnTo>
                      <a:pt x="155" y="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22" name="Freeform 2259"/>
              <p:cNvSpPr>
                <a:spLocks noChangeAspect="1"/>
              </p:cNvSpPr>
              <p:nvPr/>
            </p:nvSpPr>
            <p:spPr bwMode="auto">
              <a:xfrm>
                <a:off x="5361" y="2082"/>
                <a:ext cx="51" cy="52"/>
              </a:xfrm>
              <a:custGeom>
                <a:avLst/>
                <a:gdLst>
                  <a:gd name="T0" fmla="*/ 0 w 154"/>
                  <a:gd name="T1" fmla="*/ 0 h 154"/>
                  <a:gd name="T2" fmla="*/ 0 w 154"/>
                  <a:gd name="T3" fmla="*/ 0 h 154"/>
                  <a:gd name="T4" fmla="*/ 0 w 154"/>
                  <a:gd name="T5" fmla="*/ 0 h 154"/>
                  <a:gd name="T6" fmla="*/ 0 w 154"/>
                  <a:gd name="T7" fmla="*/ 0 h 154"/>
                  <a:gd name="T8" fmla="*/ 0 w 154"/>
                  <a:gd name="T9" fmla="*/ 0 h 154"/>
                  <a:gd name="T10" fmla="*/ 0 w 154"/>
                  <a:gd name="T11" fmla="*/ 0 h 154"/>
                  <a:gd name="T12" fmla="*/ 0 w 154"/>
                  <a:gd name="T13" fmla="*/ 0 h 154"/>
                  <a:gd name="T14" fmla="*/ 0 w 154"/>
                  <a:gd name="T15" fmla="*/ 0 h 154"/>
                  <a:gd name="T16" fmla="*/ 0 w 154"/>
                  <a:gd name="T17" fmla="*/ 0 h 154"/>
                  <a:gd name="T18" fmla="*/ 0 w 154"/>
                  <a:gd name="T19" fmla="*/ 0 h 154"/>
                  <a:gd name="T20" fmla="*/ 0 w 154"/>
                  <a:gd name="T21" fmla="*/ 0 h 154"/>
                  <a:gd name="T22" fmla="*/ 0 w 154"/>
                  <a:gd name="T23" fmla="*/ 0 h 154"/>
                  <a:gd name="T24" fmla="*/ 0 w 154"/>
                  <a:gd name="T25" fmla="*/ 0 h 154"/>
                  <a:gd name="T26" fmla="*/ 0 w 154"/>
                  <a:gd name="T27" fmla="*/ 0 h 154"/>
                  <a:gd name="T28" fmla="*/ 0 w 154"/>
                  <a:gd name="T29" fmla="*/ 0 h 154"/>
                  <a:gd name="T30" fmla="*/ 0 w 154"/>
                  <a:gd name="T31" fmla="*/ 0 h 154"/>
                  <a:gd name="T32" fmla="*/ 0 w 154"/>
                  <a:gd name="T33" fmla="*/ 0 h 154"/>
                  <a:gd name="T34" fmla="*/ 0 w 154"/>
                  <a:gd name="T35" fmla="*/ 0 h 154"/>
                  <a:gd name="T36" fmla="*/ 0 w 154"/>
                  <a:gd name="T37" fmla="*/ 0 h 15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4" h="154">
                    <a:moveTo>
                      <a:pt x="154" y="6"/>
                    </a:moveTo>
                    <a:lnTo>
                      <a:pt x="6" y="154"/>
                    </a:lnTo>
                    <a:lnTo>
                      <a:pt x="6" y="153"/>
                    </a:lnTo>
                    <a:lnTo>
                      <a:pt x="5" y="151"/>
                    </a:lnTo>
                    <a:lnTo>
                      <a:pt x="4" y="150"/>
                    </a:lnTo>
                    <a:lnTo>
                      <a:pt x="4" y="149"/>
                    </a:lnTo>
                    <a:lnTo>
                      <a:pt x="3" y="147"/>
                    </a:lnTo>
                    <a:lnTo>
                      <a:pt x="3" y="146"/>
                    </a:lnTo>
                    <a:lnTo>
                      <a:pt x="2" y="144"/>
                    </a:lnTo>
                    <a:lnTo>
                      <a:pt x="0" y="143"/>
                    </a:lnTo>
                    <a:lnTo>
                      <a:pt x="143" y="0"/>
                    </a:lnTo>
                    <a:lnTo>
                      <a:pt x="144" y="1"/>
                    </a:lnTo>
                    <a:lnTo>
                      <a:pt x="145" y="2"/>
                    </a:lnTo>
                    <a:lnTo>
                      <a:pt x="147" y="2"/>
                    </a:lnTo>
                    <a:lnTo>
                      <a:pt x="148" y="3"/>
                    </a:lnTo>
                    <a:lnTo>
                      <a:pt x="149" y="4"/>
                    </a:lnTo>
                    <a:lnTo>
                      <a:pt x="152" y="5"/>
                    </a:lnTo>
                    <a:lnTo>
                      <a:pt x="153" y="5"/>
                    </a:lnTo>
                    <a:lnTo>
                      <a:pt x="154" y="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23" name="Freeform 2260"/>
              <p:cNvSpPr>
                <a:spLocks noChangeAspect="1"/>
              </p:cNvSpPr>
              <p:nvPr/>
            </p:nvSpPr>
            <p:spPr bwMode="auto">
              <a:xfrm>
                <a:off x="5360" y="2082"/>
                <a:ext cx="50" cy="50"/>
              </a:xfrm>
              <a:custGeom>
                <a:avLst/>
                <a:gdLst>
                  <a:gd name="T0" fmla="*/ 0 w 150"/>
                  <a:gd name="T1" fmla="*/ 0 h 151"/>
                  <a:gd name="T2" fmla="*/ 0 w 150"/>
                  <a:gd name="T3" fmla="*/ 0 h 151"/>
                  <a:gd name="T4" fmla="*/ 0 w 150"/>
                  <a:gd name="T5" fmla="*/ 0 h 151"/>
                  <a:gd name="T6" fmla="*/ 0 w 150"/>
                  <a:gd name="T7" fmla="*/ 0 h 151"/>
                  <a:gd name="T8" fmla="*/ 0 w 150"/>
                  <a:gd name="T9" fmla="*/ 0 h 151"/>
                  <a:gd name="T10" fmla="*/ 0 w 150"/>
                  <a:gd name="T11" fmla="*/ 0 h 151"/>
                  <a:gd name="T12" fmla="*/ 0 w 150"/>
                  <a:gd name="T13" fmla="*/ 0 h 151"/>
                  <a:gd name="T14" fmla="*/ 0 w 150"/>
                  <a:gd name="T15" fmla="*/ 0 h 151"/>
                  <a:gd name="T16" fmla="*/ 0 w 150"/>
                  <a:gd name="T17" fmla="*/ 0 h 151"/>
                  <a:gd name="T18" fmla="*/ 0 w 150"/>
                  <a:gd name="T19" fmla="*/ 0 h 151"/>
                  <a:gd name="T20" fmla="*/ 0 w 150"/>
                  <a:gd name="T21" fmla="*/ 0 h 151"/>
                  <a:gd name="T22" fmla="*/ 0 w 150"/>
                  <a:gd name="T23" fmla="*/ 0 h 151"/>
                  <a:gd name="T24" fmla="*/ 0 w 150"/>
                  <a:gd name="T25" fmla="*/ 0 h 151"/>
                  <a:gd name="T26" fmla="*/ 0 w 150"/>
                  <a:gd name="T27" fmla="*/ 0 h 151"/>
                  <a:gd name="T28" fmla="*/ 0 w 150"/>
                  <a:gd name="T29" fmla="*/ 0 h 151"/>
                  <a:gd name="T30" fmla="*/ 0 w 150"/>
                  <a:gd name="T31" fmla="*/ 0 h 151"/>
                  <a:gd name="T32" fmla="*/ 0 w 150"/>
                  <a:gd name="T33" fmla="*/ 0 h 151"/>
                  <a:gd name="T34" fmla="*/ 0 w 150"/>
                  <a:gd name="T35" fmla="*/ 0 h 151"/>
                  <a:gd name="T36" fmla="*/ 0 w 150"/>
                  <a:gd name="T37" fmla="*/ 0 h 1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0" h="151">
                    <a:moveTo>
                      <a:pt x="150" y="5"/>
                    </a:moveTo>
                    <a:lnTo>
                      <a:pt x="6" y="151"/>
                    </a:lnTo>
                    <a:lnTo>
                      <a:pt x="5" y="149"/>
                    </a:lnTo>
                    <a:lnTo>
                      <a:pt x="5" y="148"/>
                    </a:lnTo>
                    <a:lnTo>
                      <a:pt x="4" y="146"/>
                    </a:lnTo>
                    <a:lnTo>
                      <a:pt x="2" y="145"/>
                    </a:lnTo>
                    <a:lnTo>
                      <a:pt x="2" y="142"/>
                    </a:lnTo>
                    <a:lnTo>
                      <a:pt x="1" y="141"/>
                    </a:lnTo>
                    <a:lnTo>
                      <a:pt x="1" y="139"/>
                    </a:lnTo>
                    <a:lnTo>
                      <a:pt x="0" y="137"/>
                    </a:lnTo>
                    <a:lnTo>
                      <a:pt x="139" y="0"/>
                    </a:lnTo>
                    <a:lnTo>
                      <a:pt x="140" y="1"/>
                    </a:lnTo>
                    <a:lnTo>
                      <a:pt x="142" y="1"/>
                    </a:lnTo>
                    <a:lnTo>
                      <a:pt x="143" y="2"/>
                    </a:lnTo>
                    <a:lnTo>
                      <a:pt x="145" y="2"/>
                    </a:lnTo>
                    <a:lnTo>
                      <a:pt x="146" y="3"/>
                    </a:lnTo>
                    <a:lnTo>
                      <a:pt x="147" y="4"/>
                    </a:lnTo>
                    <a:lnTo>
                      <a:pt x="149" y="4"/>
                    </a:lnTo>
                    <a:lnTo>
                      <a:pt x="150" y="5"/>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24" name="Freeform 2261"/>
              <p:cNvSpPr>
                <a:spLocks noChangeAspect="1"/>
              </p:cNvSpPr>
              <p:nvPr/>
            </p:nvSpPr>
            <p:spPr bwMode="auto">
              <a:xfrm>
                <a:off x="5360" y="2081"/>
                <a:ext cx="49" cy="49"/>
              </a:xfrm>
              <a:custGeom>
                <a:avLst/>
                <a:gdLst>
                  <a:gd name="T0" fmla="*/ 0 w 146"/>
                  <a:gd name="T1" fmla="*/ 0 h 147"/>
                  <a:gd name="T2" fmla="*/ 0 w 146"/>
                  <a:gd name="T3" fmla="*/ 0 h 147"/>
                  <a:gd name="T4" fmla="*/ 0 w 146"/>
                  <a:gd name="T5" fmla="*/ 0 h 147"/>
                  <a:gd name="T6" fmla="*/ 0 w 146"/>
                  <a:gd name="T7" fmla="*/ 0 h 147"/>
                  <a:gd name="T8" fmla="*/ 0 w 146"/>
                  <a:gd name="T9" fmla="*/ 0 h 147"/>
                  <a:gd name="T10" fmla="*/ 0 w 146"/>
                  <a:gd name="T11" fmla="*/ 0 h 147"/>
                  <a:gd name="T12" fmla="*/ 0 w 146"/>
                  <a:gd name="T13" fmla="*/ 0 h 147"/>
                  <a:gd name="T14" fmla="*/ 0 w 146"/>
                  <a:gd name="T15" fmla="*/ 0 h 147"/>
                  <a:gd name="T16" fmla="*/ 0 w 146"/>
                  <a:gd name="T17" fmla="*/ 0 h 147"/>
                  <a:gd name="T18" fmla="*/ 0 w 146"/>
                  <a:gd name="T19" fmla="*/ 0 h 147"/>
                  <a:gd name="T20" fmla="*/ 0 w 146"/>
                  <a:gd name="T21" fmla="*/ 0 h 147"/>
                  <a:gd name="T22" fmla="*/ 0 w 146"/>
                  <a:gd name="T23" fmla="*/ 0 h 147"/>
                  <a:gd name="T24" fmla="*/ 0 w 146"/>
                  <a:gd name="T25" fmla="*/ 0 h 147"/>
                  <a:gd name="T26" fmla="*/ 0 w 146"/>
                  <a:gd name="T27" fmla="*/ 0 h 147"/>
                  <a:gd name="T28" fmla="*/ 0 w 146"/>
                  <a:gd name="T29" fmla="*/ 0 h 147"/>
                  <a:gd name="T30" fmla="*/ 0 w 146"/>
                  <a:gd name="T31" fmla="*/ 0 h 147"/>
                  <a:gd name="T32" fmla="*/ 0 w 146"/>
                  <a:gd name="T33" fmla="*/ 0 h 147"/>
                  <a:gd name="T34" fmla="*/ 0 w 146"/>
                  <a:gd name="T35" fmla="*/ 0 h 147"/>
                  <a:gd name="T36" fmla="*/ 0 w 146"/>
                  <a:gd name="T37" fmla="*/ 0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6" h="147">
                    <a:moveTo>
                      <a:pt x="146" y="4"/>
                    </a:moveTo>
                    <a:lnTo>
                      <a:pt x="3" y="147"/>
                    </a:lnTo>
                    <a:lnTo>
                      <a:pt x="3" y="144"/>
                    </a:lnTo>
                    <a:lnTo>
                      <a:pt x="2" y="143"/>
                    </a:lnTo>
                    <a:lnTo>
                      <a:pt x="2" y="141"/>
                    </a:lnTo>
                    <a:lnTo>
                      <a:pt x="1" y="139"/>
                    </a:lnTo>
                    <a:lnTo>
                      <a:pt x="1" y="138"/>
                    </a:lnTo>
                    <a:lnTo>
                      <a:pt x="1" y="136"/>
                    </a:lnTo>
                    <a:lnTo>
                      <a:pt x="0" y="134"/>
                    </a:lnTo>
                    <a:lnTo>
                      <a:pt x="0" y="133"/>
                    </a:lnTo>
                    <a:lnTo>
                      <a:pt x="133" y="0"/>
                    </a:lnTo>
                    <a:lnTo>
                      <a:pt x="134" y="0"/>
                    </a:lnTo>
                    <a:lnTo>
                      <a:pt x="136" y="1"/>
                    </a:lnTo>
                    <a:lnTo>
                      <a:pt x="138" y="1"/>
                    </a:lnTo>
                    <a:lnTo>
                      <a:pt x="140" y="2"/>
                    </a:lnTo>
                    <a:lnTo>
                      <a:pt x="141" y="3"/>
                    </a:lnTo>
                    <a:lnTo>
                      <a:pt x="143" y="3"/>
                    </a:lnTo>
                    <a:lnTo>
                      <a:pt x="144" y="4"/>
                    </a:lnTo>
                    <a:lnTo>
                      <a:pt x="146" y="4"/>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25" name="Freeform 2262"/>
              <p:cNvSpPr>
                <a:spLocks noChangeAspect="1"/>
              </p:cNvSpPr>
              <p:nvPr/>
            </p:nvSpPr>
            <p:spPr bwMode="auto">
              <a:xfrm>
                <a:off x="5360" y="2080"/>
                <a:ext cx="47" cy="47"/>
              </a:xfrm>
              <a:custGeom>
                <a:avLst/>
                <a:gdLst>
                  <a:gd name="T0" fmla="*/ 0 w 141"/>
                  <a:gd name="T1" fmla="*/ 0 h 141"/>
                  <a:gd name="T2" fmla="*/ 0 w 141"/>
                  <a:gd name="T3" fmla="*/ 0 h 141"/>
                  <a:gd name="T4" fmla="*/ 0 w 141"/>
                  <a:gd name="T5" fmla="*/ 0 h 141"/>
                  <a:gd name="T6" fmla="*/ 0 w 141"/>
                  <a:gd name="T7" fmla="*/ 0 h 141"/>
                  <a:gd name="T8" fmla="*/ 0 w 141"/>
                  <a:gd name="T9" fmla="*/ 0 h 141"/>
                  <a:gd name="T10" fmla="*/ 0 w 141"/>
                  <a:gd name="T11" fmla="*/ 0 h 141"/>
                  <a:gd name="T12" fmla="*/ 0 w 141"/>
                  <a:gd name="T13" fmla="*/ 0 h 141"/>
                  <a:gd name="T14" fmla="*/ 0 w 141"/>
                  <a:gd name="T15" fmla="*/ 0 h 141"/>
                  <a:gd name="T16" fmla="*/ 0 w 141"/>
                  <a:gd name="T17" fmla="*/ 0 h 141"/>
                  <a:gd name="T18" fmla="*/ 0 w 141"/>
                  <a:gd name="T19" fmla="*/ 0 h 141"/>
                  <a:gd name="T20" fmla="*/ 0 w 141"/>
                  <a:gd name="T21" fmla="*/ 0 h 141"/>
                  <a:gd name="T22" fmla="*/ 0 w 141"/>
                  <a:gd name="T23" fmla="*/ 0 h 141"/>
                  <a:gd name="T24" fmla="*/ 0 w 141"/>
                  <a:gd name="T25" fmla="*/ 0 h 141"/>
                  <a:gd name="T26" fmla="*/ 0 w 141"/>
                  <a:gd name="T27" fmla="*/ 0 h 141"/>
                  <a:gd name="T28" fmla="*/ 0 w 141"/>
                  <a:gd name="T29" fmla="*/ 0 h 141"/>
                  <a:gd name="T30" fmla="*/ 0 w 141"/>
                  <a:gd name="T31" fmla="*/ 0 h 141"/>
                  <a:gd name="T32" fmla="*/ 0 w 141"/>
                  <a:gd name="T33" fmla="*/ 0 h 141"/>
                  <a:gd name="T34" fmla="*/ 0 w 141"/>
                  <a:gd name="T35" fmla="*/ 0 h 141"/>
                  <a:gd name="T36" fmla="*/ 0 w 141"/>
                  <a:gd name="T37" fmla="*/ 0 h 1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1" h="141">
                    <a:moveTo>
                      <a:pt x="141" y="4"/>
                    </a:moveTo>
                    <a:lnTo>
                      <a:pt x="2" y="141"/>
                    </a:lnTo>
                    <a:lnTo>
                      <a:pt x="2" y="140"/>
                    </a:lnTo>
                    <a:lnTo>
                      <a:pt x="2" y="138"/>
                    </a:lnTo>
                    <a:lnTo>
                      <a:pt x="1" y="136"/>
                    </a:lnTo>
                    <a:lnTo>
                      <a:pt x="1" y="135"/>
                    </a:lnTo>
                    <a:lnTo>
                      <a:pt x="0" y="133"/>
                    </a:lnTo>
                    <a:lnTo>
                      <a:pt x="0" y="130"/>
                    </a:lnTo>
                    <a:lnTo>
                      <a:pt x="0" y="129"/>
                    </a:lnTo>
                    <a:lnTo>
                      <a:pt x="0" y="127"/>
                    </a:lnTo>
                    <a:lnTo>
                      <a:pt x="127" y="0"/>
                    </a:lnTo>
                    <a:lnTo>
                      <a:pt x="129" y="1"/>
                    </a:lnTo>
                    <a:lnTo>
                      <a:pt x="130" y="1"/>
                    </a:lnTo>
                    <a:lnTo>
                      <a:pt x="132" y="1"/>
                    </a:lnTo>
                    <a:lnTo>
                      <a:pt x="134" y="2"/>
                    </a:lnTo>
                    <a:lnTo>
                      <a:pt x="135" y="2"/>
                    </a:lnTo>
                    <a:lnTo>
                      <a:pt x="137" y="3"/>
                    </a:lnTo>
                    <a:lnTo>
                      <a:pt x="139" y="3"/>
                    </a:lnTo>
                    <a:lnTo>
                      <a:pt x="141" y="4"/>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26" name="Freeform 2263"/>
              <p:cNvSpPr>
                <a:spLocks noChangeAspect="1"/>
              </p:cNvSpPr>
              <p:nvPr/>
            </p:nvSpPr>
            <p:spPr bwMode="auto">
              <a:xfrm>
                <a:off x="5359" y="2080"/>
                <a:ext cx="45" cy="45"/>
              </a:xfrm>
              <a:custGeom>
                <a:avLst/>
                <a:gdLst>
                  <a:gd name="T0" fmla="*/ 0 w 135"/>
                  <a:gd name="T1" fmla="*/ 0 h 136"/>
                  <a:gd name="T2" fmla="*/ 0 w 135"/>
                  <a:gd name="T3" fmla="*/ 0 h 136"/>
                  <a:gd name="T4" fmla="*/ 0 w 135"/>
                  <a:gd name="T5" fmla="*/ 0 h 136"/>
                  <a:gd name="T6" fmla="*/ 0 w 135"/>
                  <a:gd name="T7" fmla="*/ 0 h 136"/>
                  <a:gd name="T8" fmla="*/ 0 w 135"/>
                  <a:gd name="T9" fmla="*/ 0 h 136"/>
                  <a:gd name="T10" fmla="*/ 0 w 135"/>
                  <a:gd name="T11" fmla="*/ 0 h 136"/>
                  <a:gd name="T12" fmla="*/ 0 w 135"/>
                  <a:gd name="T13" fmla="*/ 0 h 136"/>
                  <a:gd name="T14" fmla="*/ 0 w 135"/>
                  <a:gd name="T15" fmla="*/ 0 h 136"/>
                  <a:gd name="T16" fmla="*/ 0 w 135"/>
                  <a:gd name="T17" fmla="*/ 0 h 136"/>
                  <a:gd name="T18" fmla="*/ 0 w 135"/>
                  <a:gd name="T19" fmla="*/ 0 h 136"/>
                  <a:gd name="T20" fmla="*/ 0 w 135"/>
                  <a:gd name="T21" fmla="*/ 0 h 136"/>
                  <a:gd name="T22" fmla="*/ 0 w 135"/>
                  <a:gd name="T23" fmla="*/ 0 h 136"/>
                  <a:gd name="T24" fmla="*/ 0 w 135"/>
                  <a:gd name="T25" fmla="*/ 0 h 136"/>
                  <a:gd name="T26" fmla="*/ 0 w 135"/>
                  <a:gd name="T27" fmla="*/ 0 h 136"/>
                  <a:gd name="T28" fmla="*/ 0 w 135"/>
                  <a:gd name="T29" fmla="*/ 0 h 136"/>
                  <a:gd name="T30" fmla="*/ 0 w 135"/>
                  <a:gd name="T31" fmla="*/ 0 h 136"/>
                  <a:gd name="T32" fmla="*/ 0 w 135"/>
                  <a:gd name="T33" fmla="*/ 0 h 136"/>
                  <a:gd name="T34" fmla="*/ 0 w 135"/>
                  <a:gd name="T35" fmla="*/ 0 h 136"/>
                  <a:gd name="T36" fmla="*/ 0 w 135"/>
                  <a:gd name="T37" fmla="*/ 0 h 1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35" h="136">
                    <a:moveTo>
                      <a:pt x="135" y="3"/>
                    </a:moveTo>
                    <a:lnTo>
                      <a:pt x="2" y="136"/>
                    </a:lnTo>
                    <a:lnTo>
                      <a:pt x="1" y="134"/>
                    </a:lnTo>
                    <a:lnTo>
                      <a:pt x="1" y="131"/>
                    </a:lnTo>
                    <a:lnTo>
                      <a:pt x="1" y="130"/>
                    </a:lnTo>
                    <a:lnTo>
                      <a:pt x="1" y="128"/>
                    </a:lnTo>
                    <a:lnTo>
                      <a:pt x="0" y="126"/>
                    </a:lnTo>
                    <a:lnTo>
                      <a:pt x="0" y="124"/>
                    </a:lnTo>
                    <a:lnTo>
                      <a:pt x="0" y="122"/>
                    </a:lnTo>
                    <a:lnTo>
                      <a:pt x="0" y="121"/>
                    </a:lnTo>
                    <a:lnTo>
                      <a:pt x="120" y="0"/>
                    </a:lnTo>
                    <a:lnTo>
                      <a:pt x="123" y="0"/>
                    </a:lnTo>
                    <a:lnTo>
                      <a:pt x="125" y="1"/>
                    </a:lnTo>
                    <a:lnTo>
                      <a:pt x="126" y="1"/>
                    </a:lnTo>
                    <a:lnTo>
                      <a:pt x="128" y="1"/>
                    </a:lnTo>
                    <a:lnTo>
                      <a:pt x="130" y="2"/>
                    </a:lnTo>
                    <a:lnTo>
                      <a:pt x="131" y="2"/>
                    </a:lnTo>
                    <a:lnTo>
                      <a:pt x="133" y="2"/>
                    </a:lnTo>
                    <a:lnTo>
                      <a:pt x="135" y="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27" name="Freeform 2264"/>
              <p:cNvSpPr>
                <a:spLocks noChangeAspect="1"/>
              </p:cNvSpPr>
              <p:nvPr/>
            </p:nvSpPr>
            <p:spPr bwMode="auto">
              <a:xfrm>
                <a:off x="5359" y="2080"/>
                <a:ext cx="43" cy="43"/>
              </a:xfrm>
              <a:custGeom>
                <a:avLst/>
                <a:gdLst>
                  <a:gd name="T0" fmla="*/ 0 w 129"/>
                  <a:gd name="T1" fmla="*/ 0 h 129"/>
                  <a:gd name="T2" fmla="*/ 0 w 129"/>
                  <a:gd name="T3" fmla="*/ 0 h 129"/>
                  <a:gd name="T4" fmla="*/ 0 w 129"/>
                  <a:gd name="T5" fmla="*/ 0 h 129"/>
                  <a:gd name="T6" fmla="*/ 0 w 129"/>
                  <a:gd name="T7" fmla="*/ 0 h 129"/>
                  <a:gd name="T8" fmla="*/ 0 w 129"/>
                  <a:gd name="T9" fmla="*/ 0 h 129"/>
                  <a:gd name="T10" fmla="*/ 0 w 129"/>
                  <a:gd name="T11" fmla="*/ 0 h 129"/>
                  <a:gd name="T12" fmla="*/ 0 w 129"/>
                  <a:gd name="T13" fmla="*/ 0 h 129"/>
                  <a:gd name="T14" fmla="*/ 0 w 129"/>
                  <a:gd name="T15" fmla="*/ 0 h 129"/>
                  <a:gd name="T16" fmla="*/ 0 w 129"/>
                  <a:gd name="T17" fmla="*/ 0 h 129"/>
                  <a:gd name="T18" fmla="*/ 0 w 129"/>
                  <a:gd name="T19" fmla="*/ 0 h 129"/>
                  <a:gd name="T20" fmla="*/ 0 w 129"/>
                  <a:gd name="T21" fmla="*/ 0 h 129"/>
                  <a:gd name="T22" fmla="*/ 0 w 129"/>
                  <a:gd name="T23" fmla="*/ 0 h 129"/>
                  <a:gd name="T24" fmla="*/ 0 w 129"/>
                  <a:gd name="T25" fmla="*/ 0 h 129"/>
                  <a:gd name="T26" fmla="*/ 0 w 129"/>
                  <a:gd name="T27" fmla="*/ 0 h 129"/>
                  <a:gd name="T28" fmla="*/ 0 w 129"/>
                  <a:gd name="T29" fmla="*/ 0 h 129"/>
                  <a:gd name="T30" fmla="*/ 0 w 129"/>
                  <a:gd name="T31" fmla="*/ 0 h 129"/>
                  <a:gd name="T32" fmla="*/ 0 w 129"/>
                  <a:gd name="T33" fmla="*/ 0 h 129"/>
                  <a:gd name="T34" fmla="*/ 0 w 129"/>
                  <a:gd name="T35" fmla="*/ 0 h 129"/>
                  <a:gd name="T36" fmla="*/ 0 w 129"/>
                  <a:gd name="T37" fmla="*/ 0 h 1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9" h="129">
                    <a:moveTo>
                      <a:pt x="129" y="2"/>
                    </a:moveTo>
                    <a:lnTo>
                      <a:pt x="2" y="129"/>
                    </a:lnTo>
                    <a:lnTo>
                      <a:pt x="1" y="127"/>
                    </a:lnTo>
                    <a:lnTo>
                      <a:pt x="1" y="125"/>
                    </a:lnTo>
                    <a:lnTo>
                      <a:pt x="1" y="123"/>
                    </a:lnTo>
                    <a:lnTo>
                      <a:pt x="1" y="121"/>
                    </a:lnTo>
                    <a:lnTo>
                      <a:pt x="1" y="119"/>
                    </a:lnTo>
                    <a:lnTo>
                      <a:pt x="0" y="118"/>
                    </a:lnTo>
                    <a:lnTo>
                      <a:pt x="0" y="115"/>
                    </a:lnTo>
                    <a:lnTo>
                      <a:pt x="0" y="113"/>
                    </a:lnTo>
                    <a:lnTo>
                      <a:pt x="114" y="0"/>
                    </a:lnTo>
                    <a:lnTo>
                      <a:pt x="116" y="0"/>
                    </a:lnTo>
                    <a:lnTo>
                      <a:pt x="118" y="0"/>
                    </a:lnTo>
                    <a:lnTo>
                      <a:pt x="119" y="1"/>
                    </a:lnTo>
                    <a:lnTo>
                      <a:pt x="121" y="1"/>
                    </a:lnTo>
                    <a:lnTo>
                      <a:pt x="124" y="1"/>
                    </a:lnTo>
                    <a:lnTo>
                      <a:pt x="126" y="2"/>
                    </a:lnTo>
                    <a:lnTo>
                      <a:pt x="127" y="2"/>
                    </a:lnTo>
                    <a:lnTo>
                      <a:pt x="129" y="2"/>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28" name="Freeform 2265"/>
              <p:cNvSpPr>
                <a:spLocks noChangeAspect="1"/>
              </p:cNvSpPr>
              <p:nvPr/>
            </p:nvSpPr>
            <p:spPr bwMode="auto">
              <a:xfrm>
                <a:off x="5359" y="2080"/>
                <a:ext cx="40" cy="40"/>
              </a:xfrm>
              <a:custGeom>
                <a:avLst/>
                <a:gdLst>
                  <a:gd name="T0" fmla="*/ 0 w 121"/>
                  <a:gd name="T1" fmla="*/ 0 h 122"/>
                  <a:gd name="T2" fmla="*/ 0 w 121"/>
                  <a:gd name="T3" fmla="*/ 0 h 122"/>
                  <a:gd name="T4" fmla="*/ 0 w 121"/>
                  <a:gd name="T5" fmla="*/ 0 h 122"/>
                  <a:gd name="T6" fmla="*/ 0 w 121"/>
                  <a:gd name="T7" fmla="*/ 0 h 122"/>
                  <a:gd name="T8" fmla="*/ 0 w 121"/>
                  <a:gd name="T9" fmla="*/ 0 h 122"/>
                  <a:gd name="T10" fmla="*/ 0 w 121"/>
                  <a:gd name="T11" fmla="*/ 0 h 122"/>
                  <a:gd name="T12" fmla="*/ 0 w 121"/>
                  <a:gd name="T13" fmla="*/ 0 h 122"/>
                  <a:gd name="T14" fmla="*/ 0 w 121"/>
                  <a:gd name="T15" fmla="*/ 0 h 122"/>
                  <a:gd name="T16" fmla="*/ 0 w 121"/>
                  <a:gd name="T17" fmla="*/ 0 h 122"/>
                  <a:gd name="T18" fmla="*/ 0 w 121"/>
                  <a:gd name="T19" fmla="*/ 0 h 122"/>
                  <a:gd name="T20" fmla="*/ 0 w 121"/>
                  <a:gd name="T21" fmla="*/ 0 h 122"/>
                  <a:gd name="T22" fmla="*/ 0 w 121"/>
                  <a:gd name="T23" fmla="*/ 0 h 122"/>
                  <a:gd name="T24" fmla="*/ 0 w 121"/>
                  <a:gd name="T25" fmla="*/ 0 h 122"/>
                  <a:gd name="T26" fmla="*/ 0 w 121"/>
                  <a:gd name="T27" fmla="*/ 0 h 122"/>
                  <a:gd name="T28" fmla="*/ 0 w 121"/>
                  <a:gd name="T29" fmla="*/ 0 h 122"/>
                  <a:gd name="T30" fmla="*/ 0 w 121"/>
                  <a:gd name="T31" fmla="*/ 0 h 122"/>
                  <a:gd name="T32" fmla="*/ 0 w 121"/>
                  <a:gd name="T33" fmla="*/ 0 h 122"/>
                  <a:gd name="T34" fmla="*/ 0 w 121"/>
                  <a:gd name="T35" fmla="*/ 0 h 122"/>
                  <a:gd name="T36" fmla="*/ 0 w 121"/>
                  <a:gd name="T37" fmla="*/ 0 h 122"/>
                  <a:gd name="T38" fmla="*/ 0 w 121"/>
                  <a:gd name="T39" fmla="*/ 0 h 122"/>
                  <a:gd name="T40" fmla="*/ 0 w 121"/>
                  <a:gd name="T41" fmla="*/ 0 h 122"/>
                  <a:gd name="T42" fmla="*/ 0 w 121"/>
                  <a:gd name="T43" fmla="*/ 0 h 122"/>
                  <a:gd name="T44" fmla="*/ 0 w 121"/>
                  <a:gd name="T45" fmla="*/ 0 h 122"/>
                  <a:gd name="T46" fmla="*/ 0 w 121"/>
                  <a:gd name="T47" fmla="*/ 0 h 122"/>
                  <a:gd name="T48" fmla="*/ 0 w 121"/>
                  <a:gd name="T49" fmla="*/ 0 h 122"/>
                  <a:gd name="T50" fmla="*/ 0 w 121"/>
                  <a:gd name="T51" fmla="*/ 0 h 122"/>
                  <a:gd name="T52" fmla="*/ 0 w 121"/>
                  <a:gd name="T53" fmla="*/ 0 h 122"/>
                  <a:gd name="T54" fmla="*/ 0 w 121"/>
                  <a:gd name="T55" fmla="*/ 0 h 122"/>
                  <a:gd name="T56" fmla="*/ 0 w 121"/>
                  <a:gd name="T57" fmla="*/ 0 h 122"/>
                  <a:gd name="T58" fmla="*/ 0 w 121"/>
                  <a:gd name="T59" fmla="*/ 0 h 122"/>
                  <a:gd name="T60" fmla="*/ 0 w 121"/>
                  <a:gd name="T61" fmla="*/ 0 h 122"/>
                  <a:gd name="T62" fmla="*/ 0 w 121"/>
                  <a:gd name="T63" fmla="*/ 0 h 122"/>
                  <a:gd name="T64" fmla="*/ 0 w 121"/>
                  <a:gd name="T65" fmla="*/ 0 h 122"/>
                  <a:gd name="T66" fmla="*/ 0 w 121"/>
                  <a:gd name="T67" fmla="*/ 0 h 122"/>
                  <a:gd name="T68" fmla="*/ 0 w 121"/>
                  <a:gd name="T69" fmla="*/ 0 h 12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1" h="122">
                    <a:moveTo>
                      <a:pt x="121" y="1"/>
                    </a:moveTo>
                    <a:lnTo>
                      <a:pt x="1" y="122"/>
                    </a:lnTo>
                    <a:lnTo>
                      <a:pt x="1" y="120"/>
                    </a:lnTo>
                    <a:lnTo>
                      <a:pt x="1" y="119"/>
                    </a:lnTo>
                    <a:lnTo>
                      <a:pt x="0" y="118"/>
                    </a:lnTo>
                    <a:lnTo>
                      <a:pt x="0" y="117"/>
                    </a:lnTo>
                    <a:lnTo>
                      <a:pt x="0" y="115"/>
                    </a:lnTo>
                    <a:lnTo>
                      <a:pt x="0" y="114"/>
                    </a:lnTo>
                    <a:lnTo>
                      <a:pt x="0" y="113"/>
                    </a:lnTo>
                    <a:lnTo>
                      <a:pt x="0" y="111"/>
                    </a:lnTo>
                    <a:lnTo>
                      <a:pt x="0" y="110"/>
                    </a:lnTo>
                    <a:lnTo>
                      <a:pt x="0" y="109"/>
                    </a:lnTo>
                    <a:lnTo>
                      <a:pt x="0" y="108"/>
                    </a:lnTo>
                    <a:lnTo>
                      <a:pt x="0" y="107"/>
                    </a:lnTo>
                    <a:lnTo>
                      <a:pt x="0" y="106"/>
                    </a:lnTo>
                    <a:lnTo>
                      <a:pt x="0" y="105"/>
                    </a:lnTo>
                    <a:lnTo>
                      <a:pt x="1" y="104"/>
                    </a:lnTo>
                    <a:lnTo>
                      <a:pt x="105" y="0"/>
                    </a:lnTo>
                    <a:lnTo>
                      <a:pt x="106" y="0"/>
                    </a:lnTo>
                    <a:lnTo>
                      <a:pt x="109" y="0"/>
                    </a:lnTo>
                    <a:lnTo>
                      <a:pt x="111" y="0"/>
                    </a:lnTo>
                    <a:lnTo>
                      <a:pt x="113" y="0"/>
                    </a:lnTo>
                    <a:lnTo>
                      <a:pt x="114" y="0"/>
                    </a:lnTo>
                    <a:lnTo>
                      <a:pt x="116" y="0"/>
                    </a:lnTo>
                    <a:lnTo>
                      <a:pt x="118" y="0"/>
                    </a:lnTo>
                    <a:lnTo>
                      <a:pt x="120" y="1"/>
                    </a:lnTo>
                    <a:lnTo>
                      <a:pt x="121" y="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29" name="Freeform 2266"/>
              <p:cNvSpPr>
                <a:spLocks noChangeAspect="1"/>
              </p:cNvSpPr>
              <p:nvPr/>
            </p:nvSpPr>
            <p:spPr bwMode="auto">
              <a:xfrm>
                <a:off x="5359" y="2080"/>
                <a:ext cx="38" cy="37"/>
              </a:xfrm>
              <a:custGeom>
                <a:avLst/>
                <a:gdLst>
                  <a:gd name="T0" fmla="*/ 0 w 114"/>
                  <a:gd name="T1" fmla="*/ 0 h 113"/>
                  <a:gd name="T2" fmla="*/ 0 w 114"/>
                  <a:gd name="T3" fmla="*/ 0 h 113"/>
                  <a:gd name="T4" fmla="*/ 0 w 114"/>
                  <a:gd name="T5" fmla="*/ 0 h 113"/>
                  <a:gd name="T6" fmla="*/ 0 w 114"/>
                  <a:gd name="T7" fmla="*/ 0 h 113"/>
                  <a:gd name="T8" fmla="*/ 0 w 114"/>
                  <a:gd name="T9" fmla="*/ 0 h 113"/>
                  <a:gd name="T10" fmla="*/ 0 w 114"/>
                  <a:gd name="T11" fmla="*/ 0 h 113"/>
                  <a:gd name="T12" fmla="*/ 0 w 114"/>
                  <a:gd name="T13" fmla="*/ 0 h 113"/>
                  <a:gd name="T14" fmla="*/ 0 w 114"/>
                  <a:gd name="T15" fmla="*/ 0 h 113"/>
                  <a:gd name="T16" fmla="*/ 0 w 114"/>
                  <a:gd name="T17" fmla="*/ 0 h 113"/>
                  <a:gd name="T18" fmla="*/ 0 w 114"/>
                  <a:gd name="T19" fmla="*/ 0 h 113"/>
                  <a:gd name="T20" fmla="*/ 0 w 114"/>
                  <a:gd name="T21" fmla="*/ 0 h 113"/>
                  <a:gd name="T22" fmla="*/ 0 w 114"/>
                  <a:gd name="T23" fmla="*/ 0 h 113"/>
                  <a:gd name="T24" fmla="*/ 0 w 114"/>
                  <a:gd name="T25" fmla="*/ 0 h 113"/>
                  <a:gd name="T26" fmla="*/ 0 w 114"/>
                  <a:gd name="T27" fmla="*/ 0 h 113"/>
                  <a:gd name="T28" fmla="*/ 0 w 114"/>
                  <a:gd name="T29" fmla="*/ 0 h 113"/>
                  <a:gd name="T30" fmla="*/ 0 w 114"/>
                  <a:gd name="T31" fmla="*/ 0 h 113"/>
                  <a:gd name="T32" fmla="*/ 0 w 114"/>
                  <a:gd name="T33" fmla="*/ 0 h 113"/>
                  <a:gd name="T34" fmla="*/ 0 w 114"/>
                  <a:gd name="T35" fmla="*/ 0 h 113"/>
                  <a:gd name="T36" fmla="*/ 0 w 114"/>
                  <a:gd name="T37" fmla="*/ 0 h 113"/>
                  <a:gd name="T38" fmla="*/ 0 w 114"/>
                  <a:gd name="T39" fmla="*/ 0 h 113"/>
                  <a:gd name="T40" fmla="*/ 0 w 114"/>
                  <a:gd name="T41" fmla="*/ 0 h 113"/>
                  <a:gd name="T42" fmla="*/ 0 w 114"/>
                  <a:gd name="T43" fmla="*/ 0 h 113"/>
                  <a:gd name="T44" fmla="*/ 0 w 114"/>
                  <a:gd name="T45" fmla="*/ 0 h 113"/>
                  <a:gd name="T46" fmla="*/ 0 w 114"/>
                  <a:gd name="T47" fmla="*/ 0 h 113"/>
                  <a:gd name="T48" fmla="*/ 0 w 114"/>
                  <a:gd name="T49" fmla="*/ 0 h 113"/>
                  <a:gd name="T50" fmla="*/ 0 w 114"/>
                  <a:gd name="T51" fmla="*/ 0 h 113"/>
                  <a:gd name="T52" fmla="*/ 0 w 114"/>
                  <a:gd name="T53" fmla="*/ 0 h 113"/>
                  <a:gd name="T54" fmla="*/ 0 w 114"/>
                  <a:gd name="T55" fmla="*/ 0 h 113"/>
                  <a:gd name="T56" fmla="*/ 0 w 114"/>
                  <a:gd name="T57" fmla="*/ 0 h 113"/>
                  <a:gd name="T58" fmla="*/ 0 w 114"/>
                  <a:gd name="T59" fmla="*/ 0 h 113"/>
                  <a:gd name="T60" fmla="*/ 0 w 114"/>
                  <a:gd name="T61" fmla="*/ 0 h 113"/>
                  <a:gd name="T62" fmla="*/ 0 w 114"/>
                  <a:gd name="T63" fmla="*/ 0 h 113"/>
                  <a:gd name="T64" fmla="*/ 0 w 114"/>
                  <a:gd name="T65" fmla="*/ 0 h 113"/>
                  <a:gd name="T66" fmla="*/ 0 w 114"/>
                  <a:gd name="T67" fmla="*/ 0 h 113"/>
                  <a:gd name="T68" fmla="*/ 0 w 114"/>
                  <a:gd name="T69" fmla="*/ 0 h 1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4" h="113">
                    <a:moveTo>
                      <a:pt x="114" y="0"/>
                    </a:moveTo>
                    <a:lnTo>
                      <a:pt x="0" y="113"/>
                    </a:lnTo>
                    <a:lnTo>
                      <a:pt x="0" y="112"/>
                    </a:lnTo>
                    <a:lnTo>
                      <a:pt x="0" y="111"/>
                    </a:lnTo>
                    <a:lnTo>
                      <a:pt x="0" y="109"/>
                    </a:lnTo>
                    <a:lnTo>
                      <a:pt x="0" y="107"/>
                    </a:lnTo>
                    <a:lnTo>
                      <a:pt x="0" y="105"/>
                    </a:lnTo>
                    <a:lnTo>
                      <a:pt x="1" y="103"/>
                    </a:lnTo>
                    <a:lnTo>
                      <a:pt x="1" y="101"/>
                    </a:lnTo>
                    <a:lnTo>
                      <a:pt x="1" y="98"/>
                    </a:lnTo>
                    <a:lnTo>
                      <a:pt x="1" y="96"/>
                    </a:lnTo>
                    <a:lnTo>
                      <a:pt x="1" y="94"/>
                    </a:lnTo>
                    <a:lnTo>
                      <a:pt x="96" y="0"/>
                    </a:lnTo>
                    <a:lnTo>
                      <a:pt x="97" y="0"/>
                    </a:lnTo>
                    <a:lnTo>
                      <a:pt x="99" y="0"/>
                    </a:lnTo>
                    <a:lnTo>
                      <a:pt x="100" y="0"/>
                    </a:lnTo>
                    <a:lnTo>
                      <a:pt x="101" y="0"/>
                    </a:lnTo>
                    <a:lnTo>
                      <a:pt x="102" y="0"/>
                    </a:lnTo>
                    <a:lnTo>
                      <a:pt x="104" y="0"/>
                    </a:lnTo>
                    <a:lnTo>
                      <a:pt x="105" y="0"/>
                    </a:lnTo>
                    <a:lnTo>
                      <a:pt x="106" y="0"/>
                    </a:lnTo>
                    <a:lnTo>
                      <a:pt x="108" y="0"/>
                    </a:lnTo>
                    <a:lnTo>
                      <a:pt x="109" y="0"/>
                    </a:lnTo>
                    <a:lnTo>
                      <a:pt x="110" y="0"/>
                    </a:lnTo>
                    <a:lnTo>
                      <a:pt x="111" y="0"/>
                    </a:lnTo>
                    <a:lnTo>
                      <a:pt x="112" y="0"/>
                    </a:lnTo>
                    <a:lnTo>
                      <a:pt x="113" y="0"/>
                    </a:lnTo>
                    <a:lnTo>
                      <a:pt x="114"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30" name="Freeform 2267"/>
              <p:cNvSpPr>
                <a:spLocks noChangeAspect="1"/>
              </p:cNvSpPr>
              <p:nvPr/>
            </p:nvSpPr>
            <p:spPr bwMode="auto">
              <a:xfrm>
                <a:off x="5359" y="2080"/>
                <a:ext cx="35" cy="34"/>
              </a:xfrm>
              <a:custGeom>
                <a:avLst/>
                <a:gdLst>
                  <a:gd name="T0" fmla="*/ 0 w 104"/>
                  <a:gd name="T1" fmla="*/ 0 h 104"/>
                  <a:gd name="T2" fmla="*/ 0 w 104"/>
                  <a:gd name="T3" fmla="*/ 0 h 104"/>
                  <a:gd name="T4" fmla="*/ 0 w 104"/>
                  <a:gd name="T5" fmla="*/ 0 h 104"/>
                  <a:gd name="T6" fmla="*/ 0 w 104"/>
                  <a:gd name="T7" fmla="*/ 0 h 104"/>
                  <a:gd name="T8" fmla="*/ 0 w 104"/>
                  <a:gd name="T9" fmla="*/ 0 h 104"/>
                  <a:gd name="T10" fmla="*/ 0 w 104"/>
                  <a:gd name="T11" fmla="*/ 0 h 104"/>
                  <a:gd name="T12" fmla="*/ 0 w 104"/>
                  <a:gd name="T13" fmla="*/ 0 h 104"/>
                  <a:gd name="T14" fmla="*/ 0 w 104"/>
                  <a:gd name="T15" fmla="*/ 0 h 104"/>
                  <a:gd name="T16" fmla="*/ 0 w 104"/>
                  <a:gd name="T17" fmla="*/ 0 h 104"/>
                  <a:gd name="T18" fmla="*/ 0 w 104"/>
                  <a:gd name="T19" fmla="*/ 0 h 104"/>
                  <a:gd name="T20" fmla="*/ 0 w 104"/>
                  <a:gd name="T21" fmla="*/ 0 h 104"/>
                  <a:gd name="T22" fmla="*/ 0 w 104"/>
                  <a:gd name="T23" fmla="*/ 0 h 104"/>
                  <a:gd name="T24" fmla="*/ 0 w 104"/>
                  <a:gd name="T25" fmla="*/ 0 h 104"/>
                  <a:gd name="T26" fmla="*/ 0 w 104"/>
                  <a:gd name="T27" fmla="*/ 0 h 104"/>
                  <a:gd name="T28" fmla="*/ 0 w 104"/>
                  <a:gd name="T29" fmla="*/ 0 h 104"/>
                  <a:gd name="T30" fmla="*/ 0 w 104"/>
                  <a:gd name="T31" fmla="*/ 0 h 104"/>
                  <a:gd name="T32" fmla="*/ 0 w 104"/>
                  <a:gd name="T33" fmla="*/ 0 h 104"/>
                  <a:gd name="T34" fmla="*/ 0 w 104"/>
                  <a:gd name="T35" fmla="*/ 0 h 104"/>
                  <a:gd name="T36" fmla="*/ 0 w 104"/>
                  <a:gd name="T37" fmla="*/ 0 h 10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4" h="104">
                    <a:moveTo>
                      <a:pt x="104" y="0"/>
                    </a:moveTo>
                    <a:lnTo>
                      <a:pt x="0" y="104"/>
                    </a:lnTo>
                    <a:lnTo>
                      <a:pt x="0" y="102"/>
                    </a:lnTo>
                    <a:lnTo>
                      <a:pt x="0" y="98"/>
                    </a:lnTo>
                    <a:lnTo>
                      <a:pt x="0" y="96"/>
                    </a:lnTo>
                    <a:lnTo>
                      <a:pt x="1" y="93"/>
                    </a:lnTo>
                    <a:lnTo>
                      <a:pt x="1" y="91"/>
                    </a:lnTo>
                    <a:lnTo>
                      <a:pt x="1" y="89"/>
                    </a:lnTo>
                    <a:lnTo>
                      <a:pt x="2" y="86"/>
                    </a:lnTo>
                    <a:lnTo>
                      <a:pt x="2" y="84"/>
                    </a:lnTo>
                    <a:lnTo>
                      <a:pt x="84" y="2"/>
                    </a:lnTo>
                    <a:lnTo>
                      <a:pt x="87" y="2"/>
                    </a:lnTo>
                    <a:lnTo>
                      <a:pt x="90" y="1"/>
                    </a:lnTo>
                    <a:lnTo>
                      <a:pt x="92" y="1"/>
                    </a:lnTo>
                    <a:lnTo>
                      <a:pt x="95" y="0"/>
                    </a:lnTo>
                    <a:lnTo>
                      <a:pt x="97" y="0"/>
                    </a:lnTo>
                    <a:lnTo>
                      <a:pt x="99" y="0"/>
                    </a:lnTo>
                    <a:lnTo>
                      <a:pt x="102" y="0"/>
                    </a:lnTo>
                    <a:lnTo>
                      <a:pt x="104"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31" name="Freeform 2268"/>
              <p:cNvSpPr>
                <a:spLocks noChangeAspect="1"/>
              </p:cNvSpPr>
              <p:nvPr/>
            </p:nvSpPr>
            <p:spPr bwMode="auto">
              <a:xfrm>
                <a:off x="5359" y="2080"/>
                <a:ext cx="32" cy="31"/>
              </a:xfrm>
              <a:custGeom>
                <a:avLst/>
                <a:gdLst>
                  <a:gd name="T0" fmla="*/ 0 w 95"/>
                  <a:gd name="T1" fmla="*/ 0 h 94"/>
                  <a:gd name="T2" fmla="*/ 0 w 95"/>
                  <a:gd name="T3" fmla="*/ 0 h 94"/>
                  <a:gd name="T4" fmla="*/ 0 w 95"/>
                  <a:gd name="T5" fmla="*/ 0 h 94"/>
                  <a:gd name="T6" fmla="*/ 0 w 95"/>
                  <a:gd name="T7" fmla="*/ 0 h 94"/>
                  <a:gd name="T8" fmla="*/ 0 w 95"/>
                  <a:gd name="T9" fmla="*/ 0 h 94"/>
                  <a:gd name="T10" fmla="*/ 0 w 95"/>
                  <a:gd name="T11" fmla="*/ 0 h 94"/>
                  <a:gd name="T12" fmla="*/ 0 w 95"/>
                  <a:gd name="T13" fmla="*/ 0 h 94"/>
                  <a:gd name="T14" fmla="*/ 0 w 95"/>
                  <a:gd name="T15" fmla="*/ 0 h 94"/>
                  <a:gd name="T16" fmla="*/ 0 w 95"/>
                  <a:gd name="T17" fmla="*/ 0 h 94"/>
                  <a:gd name="T18" fmla="*/ 0 w 95"/>
                  <a:gd name="T19" fmla="*/ 0 h 94"/>
                  <a:gd name="T20" fmla="*/ 0 w 95"/>
                  <a:gd name="T21" fmla="*/ 0 h 94"/>
                  <a:gd name="T22" fmla="*/ 0 w 95"/>
                  <a:gd name="T23" fmla="*/ 0 h 94"/>
                  <a:gd name="T24" fmla="*/ 0 w 95"/>
                  <a:gd name="T25" fmla="*/ 0 h 94"/>
                  <a:gd name="T26" fmla="*/ 0 w 95"/>
                  <a:gd name="T27" fmla="*/ 0 h 94"/>
                  <a:gd name="T28" fmla="*/ 0 w 95"/>
                  <a:gd name="T29" fmla="*/ 0 h 94"/>
                  <a:gd name="T30" fmla="*/ 0 w 95"/>
                  <a:gd name="T31" fmla="*/ 0 h 94"/>
                  <a:gd name="T32" fmla="*/ 0 w 95"/>
                  <a:gd name="T33" fmla="*/ 0 h 94"/>
                  <a:gd name="T34" fmla="*/ 0 w 95"/>
                  <a:gd name="T35" fmla="*/ 0 h 94"/>
                  <a:gd name="T36" fmla="*/ 0 w 95"/>
                  <a:gd name="T37" fmla="*/ 0 h 9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5" h="94">
                    <a:moveTo>
                      <a:pt x="95" y="0"/>
                    </a:moveTo>
                    <a:lnTo>
                      <a:pt x="0" y="94"/>
                    </a:lnTo>
                    <a:lnTo>
                      <a:pt x="1" y="91"/>
                    </a:lnTo>
                    <a:lnTo>
                      <a:pt x="1" y="88"/>
                    </a:lnTo>
                    <a:lnTo>
                      <a:pt x="2" y="86"/>
                    </a:lnTo>
                    <a:lnTo>
                      <a:pt x="3" y="83"/>
                    </a:lnTo>
                    <a:lnTo>
                      <a:pt x="4" y="79"/>
                    </a:lnTo>
                    <a:lnTo>
                      <a:pt x="4" y="76"/>
                    </a:lnTo>
                    <a:lnTo>
                      <a:pt x="5" y="74"/>
                    </a:lnTo>
                    <a:lnTo>
                      <a:pt x="7" y="71"/>
                    </a:lnTo>
                    <a:lnTo>
                      <a:pt x="73" y="5"/>
                    </a:lnTo>
                    <a:lnTo>
                      <a:pt x="76" y="4"/>
                    </a:lnTo>
                    <a:lnTo>
                      <a:pt x="78" y="4"/>
                    </a:lnTo>
                    <a:lnTo>
                      <a:pt x="81" y="3"/>
                    </a:lnTo>
                    <a:lnTo>
                      <a:pt x="83" y="2"/>
                    </a:lnTo>
                    <a:lnTo>
                      <a:pt x="86" y="2"/>
                    </a:lnTo>
                    <a:lnTo>
                      <a:pt x="90" y="1"/>
                    </a:lnTo>
                    <a:lnTo>
                      <a:pt x="92" y="1"/>
                    </a:lnTo>
                    <a:lnTo>
                      <a:pt x="95"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32" name="Freeform 2269"/>
              <p:cNvSpPr>
                <a:spLocks noChangeAspect="1"/>
              </p:cNvSpPr>
              <p:nvPr/>
            </p:nvSpPr>
            <p:spPr bwMode="auto">
              <a:xfrm>
                <a:off x="5360" y="2080"/>
                <a:ext cx="27" cy="28"/>
              </a:xfrm>
              <a:custGeom>
                <a:avLst/>
                <a:gdLst>
                  <a:gd name="T0" fmla="*/ 0 w 82"/>
                  <a:gd name="T1" fmla="*/ 0 h 82"/>
                  <a:gd name="T2" fmla="*/ 0 w 82"/>
                  <a:gd name="T3" fmla="*/ 0 h 82"/>
                  <a:gd name="T4" fmla="*/ 0 w 82"/>
                  <a:gd name="T5" fmla="*/ 0 h 82"/>
                  <a:gd name="T6" fmla="*/ 0 w 82"/>
                  <a:gd name="T7" fmla="*/ 0 h 82"/>
                  <a:gd name="T8" fmla="*/ 0 w 82"/>
                  <a:gd name="T9" fmla="*/ 0 h 82"/>
                  <a:gd name="T10" fmla="*/ 0 w 82"/>
                  <a:gd name="T11" fmla="*/ 0 h 82"/>
                  <a:gd name="T12" fmla="*/ 0 w 82"/>
                  <a:gd name="T13" fmla="*/ 0 h 82"/>
                  <a:gd name="T14" fmla="*/ 0 w 82"/>
                  <a:gd name="T15" fmla="*/ 0 h 82"/>
                  <a:gd name="T16" fmla="*/ 0 w 82"/>
                  <a:gd name="T17" fmla="*/ 0 h 82"/>
                  <a:gd name="T18" fmla="*/ 0 w 82"/>
                  <a:gd name="T19" fmla="*/ 0 h 82"/>
                  <a:gd name="T20" fmla="*/ 0 w 82"/>
                  <a:gd name="T21" fmla="*/ 0 h 82"/>
                  <a:gd name="T22" fmla="*/ 0 w 82"/>
                  <a:gd name="T23" fmla="*/ 0 h 82"/>
                  <a:gd name="T24" fmla="*/ 0 w 82"/>
                  <a:gd name="T25" fmla="*/ 0 h 82"/>
                  <a:gd name="T26" fmla="*/ 0 w 82"/>
                  <a:gd name="T27" fmla="*/ 0 h 82"/>
                  <a:gd name="T28" fmla="*/ 0 w 82"/>
                  <a:gd name="T29" fmla="*/ 0 h 82"/>
                  <a:gd name="T30" fmla="*/ 0 w 82"/>
                  <a:gd name="T31" fmla="*/ 0 h 82"/>
                  <a:gd name="T32" fmla="*/ 0 w 82"/>
                  <a:gd name="T33" fmla="*/ 0 h 82"/>
                  <a:gd name="T34" fmla="*/ 0 w 82"/>
                  <a:gd name="T35" fmla="*/ 0 h 82"/>
                  <a:gd name="T36" fmla="*/ 0 w 82"/>
                  <a:gd name="T37" fmla="*/ 0 h 8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2" h="82">
                    <a:moveTo>
                      <a:pt x="82" y="0"/>
                    </a:moveTo>
                    <a:lnTo>
                      <a:pt x="0" y="82"/>
                    </a:lnTo>
                    <a:lnTo>
                      <a:pt x="1" y="77"/>
                    </a:lnTo>
                    <a:lnTo>
                      <a:pt x="3" y="74"/>
                    </a:lnTo>
                    <a:lnTo>
                      <a:pt x="5" y="70"/>
                    </a:lnTo>
                    <a:lnTo>
                      <a:pt x="6" y="67"/>
                    </a:lnTo>
                    <a:lnTo>
                      <a:pt x="7" y="62"/>
                    </a:lnTo>
                    <a:lnTo>
                      <a:pt x="9" y="59"/>
                    </a:lnTo>
                    <a:lnTo>
                      <a:pt x="11" y="56"/>
                    </a:lnTo>
                    <a:lnTo>
                      <a:pt x="12" y="53"/>
                    </a:lnTo>
                    <a:lnTo>
                      <a:pt x="55" y="10"/>
                    </a:lnTo>
                    <a:lnTo>
                      <a:pt x="58" y="8"/>
                    </a:lnTo>
                    <a:lnTo>
                      <a:pt x="61" y="7"/>
                    </a:lnTo>
                    <a:lnTo>
                      <a:pt x="65" y="5"/>
                    </a:lnTo>
                    <a:lnTo>
                      <a:pt x="68" y="4"/>
                    </a:lnTo>
                    <a:lnTo>
                      <a:pt x="72" y="3"/>
                    </a:lnTo>
                    <a:lnTo>
                      <a:pt x="76" y="2"/>
                    </a:lnTo>
                    <a:lnTo>
                      <a:pt x="79" y="1"/>
                    </a:lnTo>
                    <a:lnTo>
                      <a:pt x="82"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33" name="Freeform 2270"/>
              <p:cNvSpPr>
                <a:spLocks noChangeAspect="1"/>
              </p:cNvSpPr>
              <p:nvPr/>
            </p:nvSpPr>
            <p:spPr bwMode="auto">
              <a:xfrm>
                <a:off x="5362" y="2081"/>
                <a:ext cx="22" cy="22"/>
              </a:xfrm>
              <a:custGeom>
                <a:avLst/>
                <a:gdLst>
                  <a:gd name="T0" fmla="*/ 0 w 66"/>
                  <a:gd name="T1" fmla="*/ 0 h 66"/>
                  <a:gd name="T2" fmla="*/ 0 w 66"/>
                  <a:gd name="T3" fmla="*/ 0 h 66"/>
                  <a:gd name="T4" fmla="*/ 0 w 66"/>
                  <a:gd name="T5" fmla="*/ 0 h 66"/>
                  <a:gd name="T6" fmla="*/ 0 w 66"/>
                  <a:gd name="T7" fmla="*/ 0 h 66"/>
                  <a:gd name="T8" fmla="*/ 0 w 66"/>
                  <a:gd name="T9" fmla="*/ 0 h 66"/>
                  <a:gd name="T10" fmla="*/ 0 w 66"/>
                  <a:gd name="T11" fmla="*/ 0 h 66"/>
                  <a:gd name="T12" fmla="*/ 0 w 66"/>
                  <a:gd name="T13" fmla="*/ 0 h 66"/>
                  <a:gd name="T14" fmla="*/ 0 w 66"/>
                  <a:gd name="T15" fmla="*/ 0 h 66"/>
                  <a:gd name="T16" fmla="*/ 0 w 66"/>
                  <a:gd name="T17" fmla="*/ 0 h 66"/>
                  <a:gd name="T18" fmla="*/ 0 w 66"/>
                  <a:gd name="T19" fmla="*/ 0 h 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 h="66">
                    <a:moveTo>
                      <a:pt x="66" y="0"/>
                    </a:moveTo>
                    <a:lnTo>
                      <a:pt x="0" y="66"/>
                    </a:lnTo>
                    <a:lnTo>
                      <a:pt x="5" y="54"/>
                    </a:lnTo>
                    <a:lnTo>
                      <a:pt x="10" y="43"/>
                    </a:lnTo>
                    <a:lnTo>
                      <a:pt x="18" y="34"/>
                    </a:lnTo>
                    <a:lnTo>
                      <a:pt x="26" y="25"/>
                    </a:lnTo>
                    <a:lnTo>
                      <a:pt x="35" y="17"/>
                    </a:lnTo>
                    <a:lnTo>
                      <a:pt x="44" y="11"/>
                    </a:lnTo>
                    <a:lnTo>
                      <a:pt x="55" y="4"/>
                    </a:lnTo>
                    <a:lnTo>
                      <a:pt x="66"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88934" name="Group 2271"/>
              <p:cNvGrpSpPr>
                <a:grpSpLocks noChangeAspect="1"/>
              </p:cNvGrpSpPr>
              <p:nvPr/>
            </p:nvGrpSpPr>
            <p:grpSpPr bwMode="auto">
              <a:xfrm>
                <a:off x="4855" y="2080"/>
                <a:ext cx="696" cy="412"/>
                <a:chOff x="4855" y="2080"/>
                <a:chExt cx="696" cy="412"/>
              </a:xfrm>
            </p:grpSpPr>
            <p:sp>
              <p:nvSpPr>
                <p:cNvPr id="388935" name="Freeform 2272"/>
                <p:cNvSpPr>
                  <a:spLocks noChangeAspect="1"/>
                </p:cNvSpPr>
                <p:nvPr/>
              </p:nvSpPr>
              <p:spPr bwMode="auto">
                <a:xfrm>
                  <a:off x="5364" y="2084"/>
                  <a:ext cx="14" cy="14"/>
                </a:xfrm>
                <a:custGeom>
                  <a:avLst/>
                  <a:gdLst>
                    <a:gd name="T0" fmla="*/ 0 w 43"/>
                    <a:gd name="T1" fmla="*/ 0 h 43"/>
                    <a:gd name="T2" fmla="*/ 0 w 43"/>
                    <a:gd name="T3" fmla="*/ 0 h 43"/>
                    <a:gd name="T4" fmla="*/ 0 w 43"/>
                    <a:gd name="T5" fmla="*/ 0 h 43"/>
                    <a:gd name="T6" fmla="*/ 0 w 43"/>
                    <a:gd name="T7" fmla="*/ 0 h 43"/>
                    <a:gd name="T8" fmla="*/ 0 w 43"/>
                    <a:gd name="T9" fmla="*/ 0 h 43"/>
                    <a:gd name="T10" fmla="*/ 0 w 43"/>
                    <a:gd name="T11" fmla="*/ 0 h 43"/>
                    <a:gd name="T12" fmla="*/ 0 w 43"/>
                    <a:gd name="T13" fmla="*/ 0 h 43"/>
                    <a:gd name="T14" fmla="*/ 0 w 43"/>
                    <a:gd name="T15" fmla="*/ 0 h 43"/>
                    <a:gd name="T16" fmla="*/ 0 w 43"/>
                    <a:gd name="T17" fmla="*/ 0 h 43"/>
                    <a:gd name="T18" fmla="*/ 0 w 43"/>
                    <a:gd name="T19" fmla="*/ 0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 h="43">
                      <a:moveTo>
                        <a:pt x="43" y="0"/>
                      </a:moveTo>
                      <a:lnTo>
                        <a:pt x="0" y="43"/>
                      </a:lnTo>
                      <a:lnTo>
                        <a:pt x="4" y="35"/>
                      </a:lnTo>
                      <a:lnTo>
                        <a:pt x="8" y="30"/>
                      </a:lnTo>
                      <a:lnTo>
                        <a:pt x="14" y="24"/>
                      </a:lnTo>
                      <a:lnTo>
                        <a:pt x="19" y="18"/>
                      </a:lnTo>
                      <a:lnTo>
                        <a:pt x="24" y="13"/>
                      </a:lnTo>
                      <a:lnTo>
                        <a:pt x="30" y="9"/>
                      </a:lnTo>
                      <a:lnTo>
                        <a:pt x="36" y="4"/>
                      </a:lnTo>
                      <a:lnTo>
                        <a:pt x="43"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36" name="Freeform 2273"/>
                <p:cNvSpPr>
                  <a:spLocks noChangeAspect="1"/>
                </p:cNvSpPr>
                <p:nvPr/>
              </p:nvSpPr>
              <p:spPr bwMode="auto">
                <a:xfrm>
                  <a:off x="5359" y="2080"/>
                  <a:ext cx="71" cy="74"/>
                </a:xfrm>
                <a:custGeom>
                  <a:avLst/>
                  <a:gdLst>
                    <a:gd name="T0" fmla="*/ 0 w 213"/>
                    <a:gd name="T1" fmla="*/ 0 h 224"/>
                    <a:gd name="T2" fmla="*/ 0 w 213"/>
                    <a:gd name="T3" fmla="*/ 0 h 224"/>
                    <a:gd name="T4" fmla="*/ 0 w 213"/>
                    <a:gd name="T5" fmla="*/ 0 h 224"/>
                    <a:gd name="T6" fmla="*/ 0 w 213"/>
                    <a:gd name="T7" fmla="*/ 0 h 224"/>
                    <a:gd name="T8" fmla="*/ 0 w 213"/>
                    <a:gd name="T9" fmla="*/ 0 h 224"/>
                    <a:gd name="T10" fmla="*/ 0 w 213"/>
                    <a:gd name="T11" fmla="*/ 0 h 224"/>
                    <a:gd name="T12" fmla="*/ 0 w 213"/>
                    <a:gd name="T13" fmla="*/ 0 h 224"/>
                    <a:gd name="T14" fmla="*/ 0 w 213"/>
                    <a:gd name="T15" fmla="*/ 0 h 224"/>
                    <a:gd name="T16" fmla="*/ 0 w 213"/>
                    <a:gd name="T17" fmla="*/ 0 h 224"/>
                    <a:gd name="T18" fmla="*/ 0 w 213"/>
                    <a:gd name="T19" fmla="*/ 0 h 224"/>
                    <a:gd name="T20" fmla="*/ 0 w 213"/>
                    <a:gd name="T21" fmla="*/ 0 h 224"/>
                    <a:gd name="T22" fmla="*/ 0 w 213"/>
                    <a:gd name="T23" fmla="*/ 0 h 224"/>
                    <a:gd name="T24" fmla="*/ 0 w 213"/>
                    <a:gd name="T25" fmla="*/ 0 h 224"/>
                    <a:gd name="T26" fmla="*/ 0 w 213"/>
                    <a:gd name="T27" fmla="*/ 0 h 224"/>
                    <a:gd name="T28" fmla="*/ 0 w 213"/>
                    <a:gd name="T29" fmla="*/ 0 h 224"/>
                    <a:gd name="T30" fmla="*/ 0 w 213"/>
                    <a:gd name="T31" fmla="*/ 0 h 224"/>
                    <a:gd name="T32" fmla="*/ 0 w 213"/>
                    <a:gd name="T33" fmla="*/ 0 h 224"/>
                    <a:gd name="T34" fmla="*/ 0 w 213"/>
                    <a:gd name="T35" fmla="*/ 0 h 224"/>
                    <a:gd name="T36" fmla="*/ 0 w 213"/>
                    <a:gd name="T37" fmla="*/ 0 h 224"/>
                    <a:gd name="T38" fmla="*/ 0 w 213"/>
                    <a:gd name="T39" fmla="*/ 0 h 224"/>
                    <a:gd name="T40" fmla="*/ 0 w 213"/>
                    <a:gd name="T41" fmla="*/ 0 h 224"/>
                    <a:gd name="T42" fmla="*/ 0 w 213"/>
                    <a:gd name="T43" fmla="*/ 0 h 224"/>
                    <a:gd name="T44" fmla="*/ 0 w 213"/>
                    <a:gd name="T45" fmla="*/ 0 h 224"/>
                    <a:gd name="T46" fmla="*/ 0 w 213"/>
                    <a:gd name="T47" fmla="*/ 0 h 224"/>
                    <a:gd name="T48" fmla="*/ 0 w 213"/>
                    <a:gd name="T49" fmla="*/ 0 h 224"/>
                    <a:gd name="T50" fmla="*/ 0 w 213"/>
                    <a:gd name="T51" fmla="*/ 0 h 224"/>
                    <a:gd name="T52" fmla="*/ 0 w 213"/>
                    <a:gd name="T53" fmla="*/ 0 h 224"/>
                    <a:gd name="T54" fmla="*/ 0 w 213"/>
                    <a:gd name="T55" fmla="*/ 0 h 224"/>
                    <a:gd name="T56" fmla="*/ 0 w 213"/>
                    <a:gd name="T57" fmla="*/ 0 h 224"/>
                    <a:gd name="T58" fmla="*/ 0 w 213"/>
                    <a:gd name="T59" fmla="*/ 0 h 224"/>
                    <a:gd name="T60" fmla="*/ 0 w 213"/>
                    <a:gd name="T61" fmla="*/ 0 h 224"/>
                    <a:gd name="T62" fmla="*/ 0 w 213"/>
                    <a:gd name="T63" fmla="*/ 0 h 2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3" h="224">
                      <a:moveTo>
                        <a:pt x="106" y="0"/>
                      </a:moveTo>
                      <a:lnTo>
                        <a:pt x="117" y="0"/>
                      </a:lnTo>
                      <a:lnTo>
                        <a:pt x="128" y="2"/>
                      </a:lnTo>
                      <a:lnTo>
                        <a:pt x="138" y="5"/>
                      </a:lnTo>
                      <a:lnTo>
                        <a:pt x="148" y="8"/>
                      </a:lnTo>
                      <a:lnTo>
                        <a:pt x="158" y="13"/>
                      </a:lnTo>
                      <a:lnTo>
                        <a:pt x="166" y="19"/>
                      </a:lnTo>
                      <a:lnTo>
                        <a:pt x="175" y="25"/>
                      </a:lnTo>
                      <a:lnTo>
                        <a:pt x="182" y="33"/>
                      </a:lnTo>
                      <a:lnTo>
                        <a:pt x="188" y="40"/>
                      </a:lnTo>
                      <a:lnTo>
                        <a:pt x="195" y="48"/>
                      </a:lnTo>
                      <a:lnTo>
                        <a:pt x="200" y="58"/>
                      </a:lnTo>
                      <a:lnTo>
                        <a:pt x="204" y="68"/>
                      </a:lnTo>
                      <a:lnTo>
                        <a:pt x="209" y="78"/>
                      </a:lnTo>
                      <a:lnTo>
                        <a:pt x="211" y="89"/>
                      </a:lnTo>
                      <a:lnTo>
                        <a:pt x="213" y="101"/>
                      </a:lnTo>
                      <a:lnTo>
                        <a:pt x="213" y="111"/>
                      </a:lnTo>
                      <a:lnTo>
                        <a:pt x="213" y="123"/>
                      </a:lnTo>
                      <a:lnTo>
                        <a:pt x="211" y="135"/>
                      </a:lnTo>
                      <a:lnTo>
                        <a:pt x="209" y="145"/>
                      </a:lnTo>
                      <a:lnTo>
                        <a:pt x="204" y="155"/>
                      </a:lnTo>
                      <a:lnTo>
                        <a:pt x="200" y="165"/>
                      </a:lnTo>
                      <a:lnTo>
                        <a:pt x="195" y="174"/>
                      </a:lnTo>
                      <a:lnTo>
                        <a:pt x="188" y="182"/>
                      </a:lnTo>
                      <a:lnTo>
                        <a:pt x="182" y="191"/>
                      </a:lnTo>
                      <a:lnTo>
                        <a:pt x="175" y="198"/>
                      </a:lnTo>
                      <a:lnTo>
                        <a:pt x="166" y="205"/>
                      </a:lnTo>
                      <a:lnTo>
                        <a:pt x="158" y="210"/>
                      </a:lnTo>
                      <a:lnTo>
                        <a:pt x="148" y="215"/>
                      </a:lnTo>
                      <a:lnTo>
                        <a:pt x="138" y="219"/>
                      </a:lnTo>
                      <a:lnTo>
                        <a:pt x="128" y="222"/>
                      </a:lnTo>
                      <a:lnTo>
                        <a:pt x="117" y="223"/>
                      </a:lnTo>
                      <a:lnTo>
                        <a:pt x="106" y="224"/>
                      </a:lnTo>
                      <a:lnTo>
                        <a:pt x="96" y="223"/>
                      </a:lnTo>
                      <a:lnTo>
                        <a:pt x="85" y="222"/>
                      </a:lnTo>
                      <a:lnTo>
                        <a:pt x="76" y="219"/>
                      </a:lnTo>
                      <a:lnTo>
                        <a:pt x="65" y="215"/>
                      </a:lnTo>
                      <a:lnTo>
                        <a:pt x="56" y="210"/>
                      </a:lnTo>
                      <a:lnTo>
                        <a:pt x="47" y="205"/>
                      </a:lnTo>
                      <a:lnTo>
                        <a:pt x="39" y="198"/>
                      </a:lnTo>
                      <a:lnTo>
                        <a:pt x="32" y="191"/>
                      </a:lnTo>
                      <a:lnTo>
                        <a:pt x="25" y="182"/>
                      </a:lnTo>
                      <a:lnTo>
                        <a:pt x="18" y="174"/>
                      </a:lnTo>
                      <a:lnTo>
                        <a:pt x="13" y="165"/>
                      </a:lnTo>
                      <a:lnTo>
                        <a:pt x="9" y="155"/>
                      </a:lnTo>
                      <a:lnTo>
                        <a:pt x="5" y="145"/>
                      </a:lnTo>
                      <a:lnTo>
                        <a:pt x="2" y="135"/>
                      </a:lnTo>
                      <a:lnTo>
                        <a:pt x="1" y="123"/>
                      </a:lnTo>
                      <a:lnTo>
                        <a:pt x="0" y="111"/>
                      </a:lnTo>
                      <a:lnTo>
                        <a:pt x="1" y="101"/>
                      </a:lnTo>
                      <a:lnTo>
                        <a:pt x="2" y="89"/>
                      </a:lnTo>
                      <a:lnTo>
                        <a:pt x="5" y="78"/>
                      </a:lnTo>
                      <a:lnTo>
                        <a:pt x="9" y="68"/>
                      </a:lnTo>
                      <a:lnTo>
                        <a:pt x="13" y="58"/>
                      </a:lnTo>
                      <a:lnTo>
                        <a:pt x="18" y="48"/>
                      </a:lnTo>
                      <a:lnTo>
                        <a:pt x="25" y="40"/>
                      </a:lnTo>
                      <a:lnTo>
                        <a:pt x="32" y="33"/>
                      </a:lnTo>
                      <a:lnTo>
                        <a:pt x="39" y="25"/>
                      </a:lnTo>
                      <a:lnTo>
                        <a:pt x="47" y="19"/>
                      </a:lnTo>
                      <a:lnTo>
                        <a:pt x="56" y="13"/>
                      </a:lnTo>
                      <a:lnTo>
                        <a:pt x="65" y="8"/>
                      </a:lnTo>
                      <a:lnTo>
                        <a:pt x="76" y="5"/>
                      </a:lnTo>
                      <a:lnTo>
                        <a:pt x="85" y="2"/>
                      </a:lnTo>
                      <a:lnTo>
                        <a:pt x="96" y="0"/>
                      </a:lnTo>
                      <a:lnTo>
                        <a:pt x="106" y="0"/>
                      </a:lnTo>
                    </a:path>
                  </a:pathLst>
                </a:custGeom>
                <a:gradFill rotWithShape="0">
                  <a:gsLst>
                    <a:gs pos="0">
                      <a:srgbClr val="FFE0B2"/>
                    </a:gs>
                    <a:gs pos="100000">
                      <a:srgbClr val="FF9900"/>
                    </a:gs>
                  </a:gsLst>
                  <a:path path="rect">
                    <a:fillToRect l="50000" t="50000" r="50000" b="50000"/>
                  </a:path>
                </a:gradFill>
                <a:ln w="1588">
                  <a:solidFill>
                    <a:srgbClr val="1F1A17"/>
                  </a:solidFill>
                  <a:prstDash val="solid"/>
                  <a:round/>
                  <a:headEnd/>
                  <a:tailEnd/>
                </a:ln>
              </p:spPr>
              <p:txBody>
                <a:bodyPr/>
                <a:lstStyle/>
                <a:p>
                  <a:endParaRPr lang="en-US"/>
                </a:p>
              </p:txBody>
            </p:sp>
            <p:sp>
              <p:nvSpPr>
                <p:cNvPr id="388937" name="Freeform 2274"/>
                <p:cNvSpPr>
                  <a:spLocks noChangeAspect="1"/>
                </p:cNvSpPr>
                <p:nvPr/>
              </p:nvSpPr>
              <p:spPr bwMode="auto">
                <a:xfrm>
                  <a:off x="5529" y="2266"/>
                  <a:ext cx="14" cy="14"/>
                </a:xfrm>
                <a:custGeom>
                  <a:avLst/>
                  <a:gdLst>
                    <a:gd name="T0" fmla="*/ 0 w 41"/>
                    <a:gd name="T1" fmla="*/ 0 h 41"/>
                    <a:gd name="T2" fmla="*/ 0 w 41"/>
                    <a:gd name="T3" fmla="*/ 0 h 41"/>
                    <a:gd name="T4" fmla="*/ 0 w 41"/>
                    <a:gd name="T5" fmla="*/ 0 h 41"/>
                    <a:gd name="T6" fmla="*/ 0 w 41"/>
                    <a:gd name="T7" fmla="*/ 0 h 41"/>
                    <a:gd name="T8" fmla="*/ 0 w 41"/>
                    <a:gd name="T9" fmla="*/ 0 h 41"/>
                    <a:gd name="T10" fmla="*/ 0 w 41"/>
                    <a:gd name="T11" fmla="*/ 0 h 41"/>
                    <a:gd name="T12" fmla="*/ 0 w 41"/>
                    <a:gd name="T13" fmla="*/ 0 h 41"/>
                    <a:gd name="T14" fmla="*/ 0 w 41"/>
                    <a:gd name="T15" fmla="*/ 0 h 41"/>
                    <a:gd name="T16" fmla="*/ 0 w 41"/>
                    <a:gd name="T17" fmla="*/ 0 h 41"/>
                    <a:gd name="T18" fmla="*/ 0 w 41"/>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 h="41">
                      <a:moveTo>
                        <a:pt x="0" y="41"/>
                      </a:moveTo>
                      <a:lnTo>
                        <a:pt x="41" y="0"/>
                      </a:lnTo>
                      <a:lnTo>
                        <a:pt x="38" y="6"/>
                      </a:lnTo>
                      <a:lnTo>
                        <a:pt x="33" y="13"/>
                      </a:lnTo>
                      <a:lnTo>
                        <a:pt x="29" y="18"/>
                      </a:lnTo>
                      <a:lnTo>
                        <a:pt x="23" y="23"/>
                      </a:lnTo>
                      <a:lnTo>
                        <a:pt x="18" y="29"/>
                      </a:lnTo>
                      <a:lnTo>
                        <a:pt x="12" y="34"/>
                      </a:lnTo>
                      <a:lnTo>
                        <a:pt x="6" y="38"/>
                      </a:lnTo>
                      <a:lnTo>
                        <a:pt x="0" y="4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38" name="Freeform 2275"/>
                <p:cNvSpPr>
                  <a:spLocks noChangeAspect="1"/>
                </p:cNvSpPr>
                <p:nvPr/>
              </p:nvSpPr>
              <p:spPr bwMode="auto">
                <a:xfrm>
                  <a:off x="5524" y="2260"/>
                  <a:ext cx="22" cy="22"/>
                </a:xfrm>
                <a:custGeom>
                  <a:avLst/>
                  <a:gdLst>
                    <a:gd name="T0" fmla="*/ 0 w 65"/>
                    <a:gd name="T1" fmla="*/ 0 h 66"/>
                    <a:gd name="T2" fmla="*/ 0 w 65"/>
                    <a:gd name="T3" fmla="*/ 0 h 66"/>
                    <a:gd name="T4" fmla="*/ 0 w 65"/>
                    <a:gd name="T5" fmla="*/ 0 h 66"/>
                    <a:gd name="T6" fmla="*/ 0 w 65"/>
                    <a:gd name="T7" fmla="*/ 0 h 66"/>
                    <a:gd name="T8" fmla="*/ 0 w 65"/>
                    <a:gd name="T9" fmla="*/ 0 h 66"/>
                    <a:gd name="T10" fmla="*/ 0 w 65"/>
                    <a:gd name="T11" fmla="*/ 0 h 66"/>
                    <a:gd name="T12" fmla="*/ 0 w 65"/>
                    <a:gd name="T13" fmla="*/ 0 h 66"/>
                    <a:gd name="T14" fmla="*/ 0 w 65"/>
                    <a:gd name="T15" fmla="*/ 0 h 66"/>
                    <a:gd name="T16" fmla="*/ 0 w 65"/>
                    <a:gd name="T17" fmla="*/ 0 h 66"/>
                    <a:gd name="T18" fmla="*/ 0 w 65"/>
                    <a:gd name="T19" fmla="*/ 0 h 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5" h="66">
                      <a:moveTo>
                        <a:pt x="0" y="66"/>
                      </a:moveTo>
                      <a:lnTo>
                        <a:pt x="65" y="0"/>
                      </a:lnTo>
                      <a:lnTo>
                        <a:pt x="61" y="11"/>
                      </a:lnTo>
                      <a:lnTo>
                        <a:pt x="54" y="22"/>
                      </a:lnTo>
                      <a:lnTo>
                        <a:pt x="48" y="32"/>
                      </a:lnTo>
                      <a:lnTo>
                        <a:pt x="39" y="40"/>
                      </a:lnTo>
                      <a:lnTo>
                        <a:pt x="31" y="49"/>
                      </a:lnTo>
                      <a:lnTo>
                        <a:pt x="21" y="55"/>
                      </a:lnTo>
                      <a:lnTo>
                        <a:pt x="11" y="61"/>
                      </a:lnTo>
                      <a:lnTo>
                        <a:pt x="0" y="6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39" name="Freeform 2276"/>
                <p:cNvSpPr>
                  <a:spLocks noChangeAspect="1"/>
                </p:cNvSpPr>
                <p:nvPr/>
              </p:nvSpPr>
              <p:spPr bwMode="auto">
                <a:xfrm>
                  <a:off x="5520" y="2256"/>
                  <a:ext cx="27" cy="27"/>
                </a:xfrm>
                <a:custGeom>
                  <a:avLst/>
                  <a:gdLst>
                    <a:gd name="T0" fmla="*/ 0 w 82"/>
                    <a:gd name="T1" fmla="*/ 0 h 82"/>
                    <a:gd name="T2" fmla="*/ 0 w 82"/>
                    <a:gd name="T3" fmla="*/ 0 h 82"/>
                    <a:gd name="T4" fmla="*/ 0 w 82"/>
                    <a:gd name="T5" fmla="*/ 0 h 82"/>
                    <a:gd name="T6" fmla="*/ 0 w 82"/>
                    <a:gd name="T7" fmla="*/ 0 h 82"/>
                    <a:gd name="T8" fmla="*/ 0 w 82"/>
                    <a:gd name="T9" fmla="*/ 0 h 82"/>
                    <a:gd name="T10" fmla="*/ 0 w 82"/>
                    <a:gd name="T11" fmla="*/ 0 h 82"/>
                    <a:gd name="T12" fmla="*/ 0 w 82"/>
                    <a:gd name="T13" fmla="*/ 0 h 82"/>
                    <a:gd name="T14" fmla="*/ 0 w 82"/>
                    <a:gd name="T15" fmla="*/ 0 h 82"/>
                    <a:gd name="T16" fmla="*/ 0 w 82"/>
                    <a:gd name="T17" fmla="*/ 0 h 82"/>
                    <a:gd name="T18" fmla="*/ 0 w 82"/>
                    <a:gd name="T19" fmla="*/ 0 h 82"/>
                    <a:gd name="T20" fmla="*/ 0 w 82"/>
                    <a:gd name="T21" fmla="*/ 0 h 82"/>
                    <a:gd name="T22" fmla="*/ 0 w 82"/>
                    <a:gd name="T23" fmla="*/ 0 h 82"/>
                    <a:gd name="T24" fmla="*/ 0 w 82"/>
                    <a:gd name="T25" fmla="*/ 0 h 82"/>
                    <a:gd name="T26" fmla="*/ 0 w 82"/>
                    <a:gd name="T27" fmla="*/ 0 h 82"/>
                    <a:gd name="T28" fmla="*/ 0 w 82"/>
                    <a:gd name="T29" fmla="*/ 0 h 82"/>
                    <a:gd name="T30" fmla="*/ 0 w 82"/>
                    <a:gd name="T31" fmla="*/ 0 h 82"/>
                    <a:gd name="T32" fmla="*/ 0 w 82"/>
                    <a:gd name="T33" fmla="*/ 0 h 82"/>
                    <a:gd name="T34" fmla="*/ 0 w 82"/>
                    <a:gd name="T35" fmla="*/ 0 h 82"/>
                    <a:gd name="T36" fmla="*/ 0 w 82"/>
                    <a:gd name="T37" fmla="*/ 0 h 8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2" h="82">
                      <a:moveTo>
                        <a:pt x="70" y="30"/>
                      </a:moveTo>
                      <a:lnTo>
                        <a:pt x="29" y="71"/>
                      </a:lnTo>
                      <a:lnTo>
                        <a:pt x="25" y="73"/>
                      </a:lnTo>
                      <a:lnTo>
                        <a:pt x="21" y="74"/>
                      </a:lnTo>
                      <a:lnTo>
                        <a:pt x="18" y="77"/>
                      </a:lnTo>
                      <a:lnTo>
                        <a:pt x="15" y="78"/>
                      </a:lnTo>
                      <a:lnTo>
                        <a:pt x="12" y="79"/>
                      </a:lnTo>
                      <a:lnTo>
                        <a:pt x="8" y="80"/>
                      </a:lnTo>
                      <a:lnTo>
                        <a:pt x="4" y="81"/>
                      </a:lnTo>
                      <a:lnTo>
                        <a:pt x="0" y="82"/>
                      </a:lnTo>
                      <a:lnTo>
                        <a:pt x="82" y="0"/>
                      </a:lnTo>
                      <a:lnTo>
                        <a:pt x="81" y="4"/>
                      </a:lnTo>
                      <a:lnTo>
                        <a:pt x="80" y="9"/>
                      </a:lnTo>
                      <a:lnTo>
                        <a:pt x="79" y="12"/>
                      </a:lnTo>
                      <a:lnTo>
                        <a:pt x="78" y="15"/>
                      </a:lnTo>
                      <a:lnTo>
                        <a:pt x="76" y="19"/>
                      </a:lnTo>
                      <a:lnTo>
                        <a:pt x="75" y="22"/>
                      </a:lnTo>
                      <a:lnTo>
                        <a:pt x="73" y="26"/>
                      </a:lnTo>
                      <a:lnTo>
                        <a:pt x="70" y="3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40" name="Freeform 2277"/>
                <p:cNvSpPr>
                  <a:spLocks noChangeAspect="1"/>
                </p:cNvSpPr>
                <p:nvPr/>
              </p:nvSpPr>
              <p:spPr bwMode="auto">
                <a:xfrm>
                  <a:off x="5516" y="2252"/>
                  <a:ext cx="32" cy="32"/>
                </a:xfrm>
                <a:custGeom>
                  <a:avLst/>
                  <a:gdLst>
                    <a:gd name="T0" fmla="*/ 0 w 94"/>
                    <a:gd name="T1" fmla="*/ 0 h 95"/>
                    <a:gd name="T2" fmla="*/ 0 w 94"/>
                    <a:gd name="T3" fmla="*/ 0 h 95"/>
                    <a:gd name="T4" fmla="*/ 0 w 94"/>
                    <a:gd name="T5" fmla="*/ 0 h 95"/>
                    <a:gd name="T6" fmla="*/ 0 w 94"/>
                    <a:gd name="T7" fmla="*/ 0 h 95"/>
                    <a:gd name="T8" fmla="*/ 0 w 94"/>
                    <a:gd name="T9" fmla="*/ 0 h 95"/>
                    <a:gd name="T10" fmla="*/ 0 w 94"/>
                    <a:gd name="T11" fmla="*/ 0 h 95"/>
                    <a:gd name="T12" fmla="*/ 0 w 94"/>
                    <a:gd name="T13" fmla="*/ 0 h 95"/>
                    <a:gd name="T14" fmla="*/ 0 w 94"/>
                    <a:gd name="T15" fmla="*/ 0 h 95"/>
                    <a:gd name="T16" fmla="*/ 0 w 94"/>
                    <a:gd name="T17" fmla="*/ 0 h 95"/>
                    <a:gd name="T18" fmla="*/ 0 w 94"/>
                    <a:gd name="T19" fmla="*/ 0 h 95"/>
                    <a:gd name="T20" fmla="*/ 0 w 94"/>
                    <a:gd name="T21" fmla="*/ 0 h 95"/>
                    <a:gd name="T22" fmla="*/ 0 w 94"/>
                    <a:gd name="T23" fmla="*/ 0 h 95"/>
                    <a:gd name="T24" fmla="*/ 0 w 94"/>
                    <a:gd name="T25" fmla="*/ 0 h 95"/>
                    <a:gd name="T26" fmla="*/ 0 w 94"/>
                    <a:gd name="T27" fmla="*/ 0 h 95"/>
                    <a:gd name="T28" fmla="*/ 0 w 94"/>
                    <a:gd name="T29" fmla="*/ 0 h 95"/>
                    <a:gd name="T30" fmla="*/ 0 w 94"/>
                    <a:gd name="T31" fmla="*/ 0 h 95"/>
                    <a:gd name="T32" fmla="*/ 0 w 94"/>
                    <a:gd name="T33" fmla="*/ 0 h 95"/>
                    <a:gd name="T34" fmla="*/ 0 w 94"/>
                    <a:gd name="T35" fmla="*/ 0 h 95"/>
                    <a:gd name="T36" fmla="*/ 0 w 94"/>
                    <a:gd name="T37" fmla="*/ 0 h 9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4" h="95">
                      <a:moveTo>
                        <a:pt x="88" y="24"/>
                      </a:moveTo>
                      <a:lnTo>
                        <a:pt x="23" y="90"/>
                      </a:lnTo>
                      <a:lnTo>
                        <a:pt x="20" y="91"/>
                      </a:lnTo>
                      <a:lnTo>
                        <a:pt x="18" y="92"/>
                      </a:lnTo>
                      <a:lnTo>
                        <a:pt x="14" y="92"/>
                      </a:lnTo>
                      <a:lnTo>
                        <a:pt x="11" y="93"/>
                      </a:lnTo>
                      <a:lnTo>
                        <a:pt x="9" y="94"/>
                      </a:lnTo>
                      <a:lnTo>
                        <a:pt x="6" y="94"/>
                      </a:lnTo>
                      <a:lnTo>
                        <a:pt x="3" y="94"/>
                      </a:lnTo>
                      <a:lnTo>
                        <a:pt x="0" y="95"/>
                      </a:lnTo>
                      <a:lnTo>
                        <a:pt x="94" y="0"/>
                      </a:lnTo>
                      <a:lnTo>
                        <a:pt x="94" y="4"/>
                      </a:lnTo>
                      <a:lnTo>
                        <a:pt x="93" y="7"/>
                      </a:lnTo>
                      <a:lnTo>
                        <a:pt x="92" y="10"/>
                      </a:lnTo>
                      <a:lnTo>
                        <a:pt x="92" y="12"/>
                      </a:lnTo>
                      <a:lnTo>
                        <a:pt x="91" y="15"/>
                      </a:lnTo>
                      <a:lnTo>
                        <a:pt x="90" y="18"/>
                      </a:lnTo>
                      <a:lnTo>
                        <a:pt x="89" y="22"/>
                      </a:lnTo>
                      <a:lnTo>
                        <a:pt x="88" y="24"/>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41" name="Freeform 2278"/>
                <p:cNvSpPr>
                  <a:spLocks noChangeAspect="1"/>
                </p:cNvSpPr>
                <p:nvPr/>
              </p:nvSpPr>
              <p:spPr bwMode="auto">
                <a:xfrm>
                  <a:off x="5513" y="2249"/>
                  <a:ext cx="35" cy="35"/>
                </a:xfrm>
                <a:custGeom>
                  <a:avLst/>
                  <a:gdLst>
                    <a:gd name="T0" fmla="*/ 0 w 104"/>
                    <a:gd name="T1" fmla="*/ 0 h 104"/>
                    <a:gd name="T2" fmla="*/ 0 w 104"/>
                    <a:gd name="T3" fmla="*/ 0 h 104"/>
                    <a:gd name="T4" fmla="*/ 0 w 104"/>
                    <a:gd name="T5" fmla="*/ 0 h 104"/>
                    <a:gd name="T6" fmla="*/ 0 w 104"/>
                    <a:gd name="T7" fmla="*/ 0 h 104"/>
                    <a:gd name="T8" fmla="*/ 0 w 104"/>
                    <a:gd name="T9" fmla="*/ 0 h 104"/>
                    <a:gd name="T10" fmla="*/ 0 w 104"/>
                    <a:gd name="T11" fmla="*/ 0 h 104"/>
                    <a:gd name="T12" fmla="*/ 0 w 104"/>
                    <a:gd name="T13" fmla="*/ 0 h 104"/>
                    <a:gd name="T14" fmla="*/ 0 w 104"/>
                    <a:gd name="T15" fmla="*/ 0 h 104"/>
                    <a:gd name="T16" fmla="*/ 0 w 104"/>
                    <a:gd name="T17" fmla="*/ 0 h 104"/>
                    <a:gd name="T18" fmla="*/ 0 w 104"/>
                    <a:gd name="T19" fmla="*/ 0 h 104"/>
                    <a:gd name="T20" fmla="*/ 0 w 104"/>
                    <a:gd name="T21" fmla="*/ 0 h 104"/>
                    <a:gd name="T22" fmla="*/ 0 w 104"/>
                    <a:gd name="T23" fmla="*/ 0 h 104"/>
                    <a:gd name="T24" fmla="*/ 0 w 104"/>
                    <a:gd name="T25" fmla="*/ 0 h 104"/>
                    <a:gd name="T26" fmla="*/ 0 w 104"/>
                    <a:gd name="T27" fmla="*/ 0 h 104"/>
                    <a:gd name="T28" fmla="*/ 0 w 104"/>
                    <a:gd name="T29" fmla="*/ 0 h 104"/>
                    <a:gd name="T30" fmla="*/ 0 w 104"/>
                    <a:gd name="T31" fmla="*/ 0 h 104"/>
                    <a:gd name="T32" fmla="*/ 0 w 104"/>
                    <a:gd name="T33" fmla="*/ 0 h 104"/>
                    <a:gd name="T34" fmla="*/ 0 w 104"/>
                    <a:gd name="T35" fmla="*/ 0 h 104"/>
                    <a:gd name="T36" fmla="*/ 0 w 104"/>
                    <a:gd name="T37" fmla="*/ 0 h 10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4" h="104">
                      <a:moveTo>
                        <a:pt x="101" y="20"/>
                      </a:moveTo>
                      <a:lnTo>
                        <a:pt x="19" y="102"/>
                      </a:lnTo>
                      <a:lnTo>
                        <a:pt x="17" y="103"/>
                      </a:lnTo>
                      <a:lnTo>
                        <a:pt x="15" y="103"/>
                      </a:lnTo>
                      <a:lnTo>
                        <a:pt x="12" y="103"/>
                      </a:lnTo>
                      <a:lnTo>
                        <a:pt x="10" y="104"/>
                      </a:lnTo>
                      <a:lnTo>
                        <a:pt x="7" y="104"/>
                      </a:lnTo>
                      <a:lnTo>
                        <a:pt x="4" y="104"/>
                      </a:lnTo>
                      <a:lnTo>
                        <a:pt x="2" y="104"/>
                      </a:lnTo>
                      <a:lnTo>
                        <a:pt x="0" y="104"/>
                      </a:lnTo>
                      <a:lnTo>
                        <a:pt x="104" y="0"/>
                      </a:lnTo>
                      <a:lnTo>
                        <a:pt x="104" y="2"/>
                      </a:lnTo>
                      <a:lnTo>
                        <a:pt x="104" y="5"/>
                      </a:lnTo>
                      <a:lnTo>
                        <a:pt x="103" y="7"/>
                      </a:lnTo>
                      <a:lnTo>
                        <a:pt x="103" y="10"/>
                      </a:lnTo>
                      <a:lnTo>
                        <a:pt x="103" y="13"/>
                      </a:lnTo>
                      <a:lnTo>
                        <a:pt x="102" y="16"/>
                      </a:lnTo>
                      <a:lnTo>
                        <a:pt x="102" y="18"/>
                      </a:lnTo>
                      <a:lnTo>
                        <a:pt x="101" y="2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42" name="Freeform 2279"/>
                <p:cNvSpPr>
                  <a:spLocks noChangeAspect="1"/>
                </p:cNvSpPr>
                <p:nvPr/>
              </p:nvSpPr>
              <p:spPr bwMode="auto">
                <a:xfrm>
                  <a:off x="5511" y="2246"/>
                  <a:ext cx="37" cy="38"/>
                </a:xfrm>
                <a:custGeom>
                  <a:avLst/>
                  <a:gdLst>
                    <a:gd name="T0" fmla="*/ 0 w 112"/>
                    <a:gd name="T1" fmla="*/ 0 h 114"/>
                    <a:gd name="T2" fmla="*/ 0 w 112"/>
                    <a:gd name="T3" fmla="*/ 0 h 114"/>
                    <a:gd name="T4" fmla="*/ 0 w 112"/>
                    <a:gd name="T5" fmla="*/ 0 h 114"/>
                    <a:gd name="T6" fmla="*/ 0 w 112"/>
                    <a:gd name="T7" fmla="*/ 0 h 114"/>
                    <a:gd name="T8" fmla="*/ 0 w 112"/>
                    <a:gd name="T9" fmla="*/ 0 h 114"/>
                    <a:gd name="T10" fmla="*/ 0 w 112"/>
                    <a:gd name="T11" fmla="*/ 0 h 114"/>
                    <a:gd name="T12" fmla="*/ 0 w 112"/>
                    <a:gd name="T13" fmla="*/ 0 h 114"/>
                    <a:gd name="T14" fmla="*/ 0 w 112"/>
                    <a:gd name="T15" fmla="*/ 0 h 114"/>
                    <a:gd name="T16" fmla="*/ 0 w 112"/>
                    <a:gd name="T17" fmla="*/ 0 h 114"/>
                    <a:gd name="T18" fmla="*/ 0 w 112"/>
                    <a:gd name="T19" fmla="*/ 0 h 114"/>
                    <a:gd name="T20" fmla="*/ 0 w 112"/>
                    <a:gd name="T21" fmla="*/ 0 h 114"/>
                    <a:gd name="T22" fmla="*/ 0 w 112"/>
                    <a:gd name="T23" fmla="*/ 0 h 114"/>
                    <a:gd name="T24" fmla="*/ 0 w 112"/>
                    <a:gd name="T25" fmla="*/ 0 h 114"/>
                    <a:gd name="T26" fmla="*/ 0 w 112"/>
                    <a:gd name="T27" fmla="*/ 0 h 114"/>
                    <a:gd name="T28" fmla="*/ 0 w 112"/>
                    <a:gd name="T29" fmla="*/ 0 h 114"/>
                    <a:gd name="T30" fmla="*/ 0 w 112"/>
                    <a:gd name="T31" fmla="*/ 0 h 114"/>
                    <a:gd name="T32" fmla="*/ 0 w 112"/>
                    <a:gd name="T33" fmla="*/ 0 h 114"/>
                    <a:gd name="T34" fmla="*/ 0 w 112"/>
                    <a:gd name="T35" fmla="*/ 0 h 114"/>
                    <a:gd name="T36" fmla="*/ 0 w 112"/>
                    <a:gd name="T37" fmla="*/ 0 h 114"/>
                    <a:gd name="T38" fmla="*/ 0 w 112"/>
                    <a:gd name="T39" fmla="*/ 0 h 114"/>
                    <a:gd name="T40" fmla="*/ 0 w 112"/>
                    <a:gd name="T41" fmla="*/ 0 h 114"/>
                    <a:gd name="T42" fmla="*/ 0 w 112"/>
                    <a:gd name="T43" fmla="*/ 0 h 114"/>
                    <a:gd name="T44" fmla="*/ 0 w 112"/>
                    <a:gd name="T45" fmla="*/ 0 h 114"/>
                    <a:gd name="T46" fmla="*/ 0 w 112"/>
                    <a:gd name="T47" fmla="*/ 0 h 114"/>
                    <a:gd name="T48" fmla="*/ 0 w 112"/>
                    <a:gd name="T49" fmla="*/ 0 h 114"/>
                    <a:gd name="T50" fmla="*/ 0 w 112"/>
                    <a:gd name="T51" fmla="*/ 0 h 114"/>
                    <a:gd name="T52" fmla="*/ 0 w 112"/>
                    <a:gd name="T53" fmla="*/ 0 h 114"/>
                    <a:gd name="T54" fmla="*/ 0 w 112"/>
                    <a:gd name="T55" fmla="*/ 0 h 114"/>
                    <a:gd name="T56" fmla="*/ 0 w 112"/>
                    <a:gd name="T57" fmla="*/ 0 h 114"/>
                    <a:gd name="T58" fmla="*/ 0 w 112"/>
                    <a:gd name="T59" fmla="*/ 0 h 114"/>
                    <a:gd name="T60" fmla="*/ 0 w 112"/>
                    <a:gd name="T61" fmla="*/ 0 h 114"/>
                    <a:gd name="T62" fmla="*/ 0 w 112"/>
                    <a:gd name="T63" fmla="*/ 0 h 114"/>
                    <a:gd name="T64" fmla="*/ 0 w 112"/>
                    <a:gd name="T65" fmla="*/ 0 h 114"/>
                    <a:gd name="T66" fmla="*/ 0 w 112"/>
                    <a:gd name="T67" fmla="*/ 0 h 114"/>
                    <a:gd name="T68" fmla="*/ 0 w 112"/>
                    <a:gd name="T69" fmla="*/ 0 h 11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2" h="114">
                      <a:moveTo>
                        <a:pt x="111" y="19"/>
                      </a:moveTo>
                      <a:lnTo>
                        <a:pt x="17" y="114"/>
                      </a:lnTo>
                      <a:lnTo>
                        <a:pt x="15" y="114"/>
                      </a:lnTo>
                      <a:lnTo>
                        <a:pt x="14" y="114"/>
                      </a:lnTo>
                      <a:lnTo>
                        <a:pt x="13" y="114"/>
                      </a:lnTo>
                      <a:lnTo>
                        <a:pt x="11" y="114"/>
                      </a:lnTo>
                      <a:lnTo>
                        <a:pt x="10" y="114"/>
                      </a:lnTo>
                      <a:lnTo>
                        <a:pt x="9" y="114"/>
                      </a:lnTo>
                      <a:lnTo>
                        <a:pt x="8" y="114"/>
                      </a:lnTo>
                      <a:lnTo>
                        <a:pt x="6" y="114"/>
                      </a:lnTo>
                      <a:lnTo>
                        <a:pt x="5" y="114"/>
                      </a:lnTo>
                      <a:lnTo>
                        <a:pt x="4" y="114"/>
                      </a:lnTo>
                      <a:lnTo>
                        <a:pt x="3" y="114"/>
                      </a:lnTo>
                      <a:lnTo>
                        <a:pt x="2" y="114"/>
                      </a:lnTo>
                      <a:lnTo>
                        <a:pt x="1" y="114"/>
                      </a:lnTo>
                      <a:lnTo>
                        <a:pt x="0" y="114"/>
                      </a:lnTo>
                      <a:lnTo>
                        <a:pt x="112" y="0"/>
                      </a:lnTo>
                      <a:lnTo>
                        <a:pt x="112" y="1"/>
                      </a:lnTo>
                      <a:lnTo>
                        <a:pt x="112" y="2"/>
                      </a:lnTo>
                      <a:lnTo>
                        <a:pt x="112" y="5"/>
                      </a:lnTo>
                      <a:lnTo>
                        <a:pt x="112" y="7"/>
                      </a:lnTo>
                      <a:lnTo>
                        <a:pt x="112" y="9"/>
                      </a:lnTo>
                      <a:lnTo>
                        <a:pt x="112" y="11"/>
                      </a:lnTo>
                      <a:lnTo>
                        <a:pt x="112" y="13"/>
                      </a:lnTo>
                      <a:lnTo>
                        <a:pt x="112" y="15"/>
                      </a:lnTo>
                      <a:lnTo>
                        <a:pt x="111" y="17"/>
                      </a:lnTo>
                      <a:lnTo>
                        <a:pt x="111" y="1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43" name="Freeform 2280"/>
                <p:cNvSpPr>
                  <a:spLocks noChangeAspect="1"/>
                </p:cNvSpPr>
                <p:nvPr/>
              </p:nvSpPr>
              <p:spPr bwMode="auto">
                <a:xfrm>
                  <a:off x="5508" y="2244"/>
                  <a:ext cx="40" cy="40"/>
                </a:xfrm>
                <a:custGeom>
                  <a:avLst/>
                  <a:gdLst>
                    <a:gd name="T0" fmla="*/ 0 w 121"/>
                    <a:gd name="T1" fmla="*/ 0 h 121"/>
                    <a:gd name="T2" fmla="*/ 0 w 121"/>
                    <a:gd name="T3" fmla="*/ 0 h 121"/>
                    <a:gd name="T4" fmla="*/ 0 w 121"/>
                    <a:gd name="T5" fmla="*/ 0 h 121"/>
                    <a:gd name="T6" fmla="*/ 0 w 121"/>
                    <a:gd name="T7" fmla="*/ 0 h 121"/>
                    <a:gd name="T8" fmla="*/ 0 w 121"/>
                    <a:gd name="T9" fmla="*/ 0 h 121"/>
                    <a:gd name="T10" fmla="*/ 0 w 121"/>
                    <a:gd name="T11" fmla="*/ 0 h 121"/>
                    <a:gd name="T12" fmla="*/ 0 w 121"/>
                    <a:gd name="T13" fmla="*/ 0 h 121"/>
                    <a:gd name="T14" fmla="*/ 0 w 121"/>
                    <a:gd name="T15" fmla="*/ 0 h 121"/>
                    <a:gd name="T16" fmla="*/ 0 w 121"/>
                    <a:gd name="T17" fmla="*/ 0 h 121"/>
                    <a:gd name="T18" fmla="*/ 0 w 121"/>
                    <a:gd name="T19" fmla="*/ 0 h 121"/>
                    <a:gd name="T20" fmla="*/ 0 w 121"/>
                    <a:gd name="T21" fmla="*/ 0 h 121"/>
                    <a:gd name="T22" fmla="*/ 0 w 121"/>
                    <a:gd name="T23" fmla="*/ 0 h 121"/>
                    <a:gd name="T24" fmla="*/ 0 w 121"/>
                    <a:gd name="T25" fmla="*/ 0 h 121"/>
                    <a:gd name="T26" fmla="*/ 0 w 121"/>
                    <a:gd name="T27" fmla="*/ 0 h 121"/>
                    <a:gd name="T28" fmla="*/ 0 w 121"/>
                    <a:gd name="T29" fmla="*/ 0 h 121"/>
                    <a:gd name="T30" fmla="*/ 0 w 121"/>
                    <a:gd name="T31" fmla="*/ 0 h 121"/>
                    <a:gd name="T32" fmla="*/ 0 w 121"/>
                    <a:gd name="T33" fmla="*/ 0 h 121"/>
                    <a:gd name="T34" fmla="*/ 0 w 121"/>
                    <a:gd name="T35" fmla="*/ 0 h 121"/>
                    <a:gd name="T36" fmla="*/ 0 w 121"/>
                    <a:gd name="T37" fmla="*/ 0 h 121"/>
                    <a:gd name="T38" fmla="*/ 0 w 121"/>
                    <a:gd name="T39" fmla="*/ 0 h 121"/>
                    <a:gd name="T40" fmla="*/ 0 w 121"/>
                    <a:gd name="T41" fmla="*/ 0 h 121"/>
                    <a:gd name="T42" fmla="*/ 0 w 121"/>
                    <a:gd name="T43" fmla="*/ 0 h 121"/>
                    <a:gd name="T44" fmla="*/ 0 w 121"/>
                    <a:gd name="T45" fmla="*/ 0 h 121"/>
                    <a:gd name="T46" fmla="*/ 0 w 121"/>
                    <a:gd name="T47" fmla="*/ 0 h 121"/>
                    <a:gd name="T48" fmla="*/ 0 w 121"/>
                    <a:gd name="T49" fmla="*/ 0 h 121"/>
                    <a:gd name="T50" fmla="*/ 0 w 121"/>
                    <a:gd name="T51" fmla="*/ 0 h 121"/>
                    <a:gd name="T52" fmla="*/ 0 w 121"/>
                    <a:gd name="T53" fmla="*/ 0 h 121"/>
                    <a:gd name="T54" fmla="*/ 0 w 121"/>
                    <a:gd name="T55" fmla="*/ 0 h 121"/>
                    <a:gd name="T56" fmla="*/ 0 w 121"/>
                    <a:gd name="T57" fmla="*/ 0 h 121"/>
                    <a:gd name="T58" fmla="*/ 0 w 121"/>
                    <a:gd name="T59" fmla="*/ 0 h 121"/>
                    <a:gd name="T60" fmla="*/ 0 w 121"/>
                    <a:gd name="T61" fmla="*/ 0 h 121"/>
                    <a:gd name="T62" fmla="*/ 0 w 121"/>
                    <a:gd name="T63" fmla="*/ 0 h 121"/>
                    <a:gd name="T64" fmla="*/ 0 w 121"/>
                    <a:gd name="T65" fmla="*/ 0 h 121"/>
                    <a:gd name="T66" fmla="*/ 0 w 121"/>
                    <a:gd name="T67" fmla="*/ 0 h 121"/>
                    <a:gd name="T68" fmla="*/ 0 w 121"/>
                    <a:gd name="T69" fmla="*/ 0 h 1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1" h="121">
                      <a:moveTo>
                        <a:pt x="121" y="17"/>
                      </a:moveTo>
                      <a:lnTo>
                        <a:pt x="17" y="121"/>
                      </a:lnTo>
                      <a:lnTo>
                        <a:pt x="16" y="121"/>
                      </a:lnTo>
                      <a:lnTo>
                        <a:pt x="15" y="121"/>
                      </a:lnTo>
                      <a:lnTo>
                        <a:pt x="14" y="121"/>
                      </a:lnTo>
                      <a:lnTo>
                        <a:pt x="12" y="121"/>
                      </a:lnTo>
                      <a:lnTo>
                        <a:pt x="10" y="121"/>
                      </a:lnTo>
                      <a:lnTo>
                        <a:pt x="7" y="121"/>
                      </a:lnTo>
                      <a:lnTo>
                        <a:pt x="6" y="121"/>
                      </a:lnTo>
                      <a:lnTo>
                        <a:pt x="4" y="121"/>
                      </a:lnTo>
                      <a:lnTo>
                        <a:pt x="2" y="120"/>
                      </a:lnTo>
                      <a:lnTo>
                        <a:pt x="0" y="120"/>
                      </a:lnTo>
                      <a:lnTo>
                        <a:pt x="121" y="0"/>
                      </a:lnTo>
                      <a:lnTo>
                        <a:pt x="121" y="1"/>
                      </a:lnTo>
                      <a:lnTo>
                        <a:pt x="121" y="2"/>
                      </a:lnTo>
                      <a:lnTo>
                        <a:pt x="121" y="3"/>
                      </a:lnTo>
                      <a:lnTo>
                        <a:pt x="121" y="4"/>
                      </a:lnTo>
                      <a:lnTo>
                        <a:pt x="121" y="5"/>
                      </a:lnTo>
                      <a:lnTo>
                        <a:pt x="121" y="7"/>
                      </a:lnTo>
                      <a:lnTo>
                        <a:pt x="121" y="8"/>
                      </a:lnTo>
                      <a:lnTo>
                        <a:pt x="121" y="9"/>
                      </a:lnTo>
                      <a:lnTo>
                        <a:pt x="121" y="10"/>
                      </a:lnTo>
                      <a:lnTo>
                        <a:pt x="121" y="12"/>
                      </a:lnTo>
                      <a:lnTo>
                        <a:pt x="121" y="13"/>
                      </a:lnTo>
                      <a:lnTo>
                        <a:pt x="121" y="14"/>
                      </a:lnTo>
                      <a:lnTo>
                        <a:pt x="121" y="15"/>
                      </a:lnTo>
                      <a:lnTo>
                        <a:pt x="121" y="16"/>
                      </a:lnTo>
                      <a:lnTo>
                        <a:pt x="121" y="1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44" name="Freeform 2281"/>
                <p:cNvSpPr>
                  <a:spLocks noChangeAspect="1"/>
                </p:cNvSpPr>
                <p:nvPr/>
              </p:nvSpPr>
              <p:spPr bwMode="auto">
                <a:xfrm>
                  <a:off x="5505" y="2241"/>
                  <a:ext cx="43" cy="43"/>
                </a:xfrm>
                <a:custGeom>
                  <a:avLst/>
                  <a:gdLst>
                    <a:gd name="T0" fmla="*/ 0 w 128"/>
                    <a:gd name="T1" fmla="*/ 0 h 130"/>
                    <a:gd name="T2" fmla="*/ 0 w 128"/>
                    <a:gd name="T3" fmla="*/ 0 h 130"/>
                    <a:gd name="T4" fmla="*/ 0 w 128"/>
                    <a:gd name="T5" fmla="*/ 0 h 130"/>
                    <a:gd name="T6" fmla="*/ 0 w 128"/>
                    <a:gd name="T7" fmla="*/ 0 h 130"/>
                    <a:gd name="T8" fmla="*/ 0 w 128"/>
                    <a:gd name="T9" fmla="*/ 0 h 130"/>
                    <a:gd name="T10" fmla="*/ 0 w 128"/>
                    <a:gd name="T11" fmla="*/ 0 h 130"/>
                    <a:gd name="T12" fmla="*/ 0 w 128"/>
                    <a:gd name="T13" fmla="*/ 0 h 130"/>
                    <a:gd name="T14" fmla="*/ 0 w 128"/>
                    <a:gd name="T15" fmla="*/ 0 h 130"/>
                    <a:gd name="T16" fmla="*/ 0 w 128"/>
                    <a:gd name="T17" fmla="*/ 0 h 130"/>
                    <a:gd name="T18" fmla="*/ 0 w 128"/>
                    <a:gd name="T19" fmla="*/ 0 h 130"/>
                    <a:gd name="T20" fmla="*/ 0 w 128"/>
                    <a:gd name="T21" fmla="*/ 0 h 130"/>
                    <a:gd name="T22" fmla="*/ 0 w 128"/>
                    <a:gd name="T23" fmla="*/ 0 h 130"/>
                    <a:gd name="T24" fmla="*/ 0 w 128"/>
                    <a:gd name="T25" fmla="*/ 0 h 130"/>
                    <a:gd name="T26" fmla="*/ 0 w 128"/>
                    <a:gd name="T27" fmla="*/ 0 h 130"/>
                    <a:gd name="T28" fmla="*/ 0 w 128"/>
                    <a:gd name="T29" fmla="*/ 0 h 130"/>
                    <a:gd name="T30" fmla="*/ 0 w 128"/>
                    <a:gd name="T31" fmla="*/ 0 h 130"/>
                    <a:gd name="T32" fmla="*/ 0 w 128"/>
                    <a:gd name="T33" fmla="*/ 0 h 130"/>
                    <a:gd name="T34" fmla="*/ 0 w 128"/>
                    <a:gd name="T35" fmla="*/ 0 h 130"/>
                    <a:gd name="T36" fmla="*/ 0 w 128"/>
                    <a:gd name="T37" fmla="*/ 0 h 1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8" h="130">
                      <a:moveTo>
                        <a:pt x="128" y="16"/>
                      </a:moveTo>
                      <a:lnTo>
                        <a:pt x="16" y="130"/>
                      </a:lnTo>
                      <a:lnTo>
                        <a:pt x="13" y="130"/>
                      </a:lnTo>
                      <a:lnTo>
                        <a:pt x="11" y="130"/>
                      </a:lnTo>
                      <a:lnTo>
                        <a:pt x="9" y="130"/>
                      </a:lnTo>
                      <a:lnTo>
                        <a:pt x="7" y="129"/>
                      </a:lnTo>
                      <a:lnTo>
                        <a:pt x="6" y="129"/>
                      </a:lnTo>
                      <a:lnTo>
                        <a:pt x="4" y="129"/>
                      </a:lnTo>
                      <a:lnTo>
                        <a:pt x="2" y="128"/>
                      </a:lnTo>
                      <a:lnTo>
                        <a:pt x="0" y="128"/>
                      </a:lnTo>
                      <a:lnTo>
                        <a:pt x="127" y="0"/>
                      </a:lnTo>
                      <a:lnTo>
                        <a:pt x="127" y="2"/>
                      </a:lnTo>
                      <a:lnTo>
                        <a:pt x="128" y="5"/>
                      </a:lnTo>
                      <a:lnTo>
                        <a:pt x="128" y="7"/>
                      </a:lnTo>
                      <a:lnTo>
                        <a:pt x="128" y="9"/>
                      </a:lnTo>
                      <a:lnTo>
                        <a:pt x="128" y="11"/>
                      </a:lnTo>
                      <a:lnTo>
                        <a:pt x="128" y="13"/>
                      </a:lnTo>
                      <a:lnTo>
                        <a:pt x="128" y="15"/>
                      </a:lnTo>
                      <a:lnTo>
                        <a:pt x="128" y="1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45" name="Freeform 2282"/>
                <p:cNvSpPr>
                  <a:spLocks noChangeAspect="1"/>
                </p:cNvSpPr>
                <p:nvPr/>
              </p:nvSpPr>
              <p:spPr bwMode="auto">
                <a:xfrm>
                  <a:off x="5503" y="2238"/>
                  <a:ext cx="45" cy="46"/>
                </a:xfrm>
                <a:custGeom>
                  <a:avLst/>
                  <a:gdLst>
                    <a:gd name="T0" fmla="*/ 0 w 135"/>
                    <a:gd name="T1" fmla="*/ 0 h 136"/>
                    <a:gd name="T2" fmla="*/ 0 w 135"/>
                    <a:gd name="T3" fmla="*/ 0 h 136"/>
                    <a:gd name="T4" fmla="*/ 0 w 135"/>
                    <a:gd name="T5" fmla="*/ 0 h 136"/>
                    <a:gd name="T6" fmla="*/ 0 w 135"/>
                    <a:gd name="T7" fmla="*/ 0 h 136"/>
                    <a:gd name="T8" fmla="*/ 0 w 135"/>
                    <a:gd name="T9" fmla="*/ 0 h 136"/>
                    <a:gd name="T10" fmla="*/ 0 w 135"/>
                    <a:gd name="T11" fmla="*/ 0 h 136"/>
                    <a:gd name="T12" fmla="*/ 0 w 135"/>
                    <a:gd name="T13" fmla="*/ 0 h 136"/>
                    <a:gd name="T14" fmla="*/ 0 w 135"/>
                    <a:gd name="T15" fmla="*/ 0 h 136"/>
                    <a:gd name="T16" fmla="*/ 0 w 135"/>
                    <a:gd name="T17" fmla="*/ 0 h 136"/>
                    <a:gd name="T18" fmla="*/ 0 w 135"/>
                    <a:gd name="T19" fmla="*/ 0 h 136"/>
                    <a:gd name="T20" fmla="*/ 0 w 135"/>
                    <a:gd name="T21" fmla="*/ 0 h 136"/>
                    <a:gd name="T22" fmla="*/ 0 w 135"/>
                    <a:gd name="T23" fmla="*/ 0 h 136"/>
                    <a:gd name="T24" fmla="*/ 0 w 135"/>
                    <a:gd name="T25" fmla="*/ 0 h 136"/>
                    <a:gd name="T26" fmla="*/ 0 w 135"/>
                    <a:gd name="T27" fmla="*/ 0 h 136"/>
                    <a:gd name="T28" fmla="*/ 0 w 135"/>
                    <a:gd name="T29" fmla="*/ 0 h 136"/>
                    <a:gd name="T30" fmla="*/ 0 w 135"/>
                    <a:gd name="T31" fmla="*/ 0 h 136"/>
                    <a:gd name="T32" fmla="*/ 0 w 135"/>
                    <a:gd name="T33" fmla="*/ 0 h 136"/>
                    <a:gd name="T34" fmla="*/ 0 w 135"/>
                    <a:gd name="T35" fmla="*/ 0 h 136"/>
                    <a:gd name="T36" fmla="*/ 0 w 135"/>
                    <a:gd name="T37" fmla="*/ 0 h 1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35" h="136">
                      <a:moveTo>
                        <a:pt x="135" y="16"/>
                      </a:moveTo>
                      <a:lnTo>
                        <a:pt x="14" y="136"/>
                      </a:lnTo>
                      <a:lnTo>
                        <a:pt x="13" y="136"/>
                      </a:lnTo>
                      <a:lnTo>
                        <a:pt x="11" y="136"/>
                      </a:lnTo>
                      <a:lnTo>
                        <a:pt x="9" y="135"/>
                      </a:lnTo>
                      <a:lnTo>
                        <a:pt x="8" y="135"/>
                      </a:lnTo>
                      <a:lnTo>
                        <a:pt x="5" y="135"/>
                      </a:lnTo>
                      <a:lnTo>
                        <a:pt x="3" y="134"/>
                      </a:lnTo>
                      <a:lnTo>
                        <a:pt x="2" y="134"/>
                      </a:lnTo>
                      <a:lnTo>
                        <a:pt x="0" y="133"/>
                      </a:lnTo>
                      <a:lnTo>
                        <a:pt x="133" y="0"/>
                      </a:lnTo>
                      <a:lnTo>
                        <a:pt x="133" y="2"/>
                      </a:lnTo>
                      <a:lnTo>
                        <a:pt x="134" y="4"/>
                      </a:lnTo>
                      <a:lnTo>
                        <a:pt x="134" y="6"/>
                      </a:lnTo>
                      <a:lnTo>
                        <a:pt x="134" y="7"/>
                      </a:lnTo>
                      <a:lnTo>
                        <a:pt x="134" y="9"/>
                      </a:lnTo>
                      <a:lnTo>
                        <a:pt x="135" y="12"/>
                      </a:lnTo>
                      <a:lnTo>
                        <a:pt x="135" y="14"/>
                      </a:lnTo>
                      <a:lnTo>
                        <a:pt x="135" y="1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46" name="Freeform 2283"/>
                <p:cNvSpPr>
                  <a:spLocks noChangeAspect="1"/>
                </p:cNvSpPr>
                <p:nvPr/>
              </p:nvSpPr>
              <p:spPr bwMode="auto">
                <a:xfrm>
                  <a:off x="5501" y="2236"/>
                  <a:ext cx="47" cy="47"/>
                </a:xfrm>
                <a:custGeom>
                  <a:avLst/>
                  <a:gdLst>
                    <a:gd name="T0" fmla="*/ 0 w 140"/>
                    <a:gd name="T1" fmla="*/ 0 h 141"/>
                    <a:gd name="T2" fmla="*/ 0 w 140"/>
                    <a:gd name="T3" fmla="*/ 0 h 141"/>
                    <a:gd name="T4" fmla="*/ 0 w 140"/>
                    <a:gd name="T5" fmla="*/ 0 h 141"/>
                    <a:gd name="T6" fmla="*/ 0 w 140"/>
                    <a:gd name="T7" fmla="*/ 0 h 141"/>
                    <a:gd name="T8" fmla="*/ 0 w 140"/>
                    <a:gd name="T9" fmla="*/ 0 h 141"/>
                    <a:gd name="T10" fmla="*/ 0 w 140"/>
                    <a:gd name="T11" fmla="*/ 0 h 141"/>
                    <a:gd name="T12" fmla="*/ 0 w 140"/>
                    <a:gd name="T13" fmla="*/ 0 h 141"/>
                    <a:gd name="T14" fmla="*/ 0 w 140"/>
                    <a:gd name="T15" fmla="*/ 0 h 141"/>
                    <a:gd name="T16" fmla="*/ 0 w 140"/>
                    <a:gd name="T17" fmla="*/ 0 h 141"/>
                    <a:gd name="T18" fmla="*/ 0 w 140"/>
                    <a:gd name="T19" fmla="*/ 0 h 141"/>
                    <a:gd name="T20" fmla="*/ 0 w 140"/>
                    <a:gd name="T21" fmla="*/ 0 h 141"/>
                    <a:gd name="T22" fmla="*/ 0 w 140"/>
                    <a:gd name="T23" fmla="*/ 0 h 141"/>
                    <a:gd name="T24" fmla="*/ 0 w 140"/>
                    <a:gd name="T25" fmla="*/ 0 h 141"/>
                    <a:gd name="T26" fmla="*/ 0 w 140"/>
                    <a:gd name="T27" fmla="*/ 0 h 141"/>
                    <a:gd name="T28" fmla="*/ 0 w 140"/>
                    <a:gd name="T29" fmla="*/ 0 h 141"/>
                    <a:gd name="T30" fmla="*/ 0 w 140"/>
                    <a:gd name="T31" fmla="*/ 0 h 141"/>
                    <a:gd name="T32" fmla="*/ 0 w 140"/>
                    <a:gd name="T33" fmla="*/ 0 h 141"/>
                    <a:gd name="T34" fmla="*/ 0 w 140"/>
                    <a:gd name="T35" fmla="*/ 0 h 141"/>
                    <a:gd name="T36" fmla="*/ 0 w 140"/>
                    <a:gd name="T37" fmla="*/ 0 h 1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0" h="141">
                      <a:moveTo>
                        <a:pt x="140" y="13"/>
                      </a:moveTo>
                      <a:lnTo>
                        <a:pt x="13" y="141"/>
                      </a:lnTo>
                      <a:lnTo>
                        <a:pt x="11" y="141"/>
                      </a:lnTo>
                      <a:lnTo>
                        <a:pt x="9" y="140"/>
                      </a:lnTo>
                      <a:lnTo>
                        <a:pt x="8" y="140"/>
                      </a:lnTo>
                      <a:lnTo>
                        <a:pt x="6" y="139"/>
                      </a:lnTo>
                      <a:lnTo>
                        <a:pt x="4" y="139"/>
                      </a:lnTo>
                      <a:lnTo>
                        <a:pt x="3" y="138"/>
                      </a:lnTo>
                      <a:lnTo>
                        <a:pt x="1" y="138"/>
                      </a:lnTo>
                      <a:lnTo>
                        <a:pt x="0" y="137"/>
                      </a:lnTo>
                      <a:lnTo>
                        <a:pt x="137" y="0"/>
                      </a:lnTo>
                      <a:lnTo>
                        <a:pt x="138" y="1"/>
                      </a:lnTo>
                      <a:lnTo>
                        <a:pt x="138" y="3"/>
                      </a:lnTo>
                      <a:lnTo>
                        <a:pt x="138" y="5"/>
                      </a:lnTo>
                      <a:lnTo>
                        <a:pt x="139" y="6"/>
                      </a:lnTo>
                      <a:lnTo>
                        <a:pt x="139" y="8"/>
                      </a:lnTo>
                      <a:lnTo>
                        <a:pt x="139" y="10"/>
                      </a:lnTo>
                      <a:lnTo>
                        <a:pt x="140" y="12"/>
                      </a:lnTo>
                      <a:lnTo>
                        <a:pt x="140" y="1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47" name="Freeform 2284"/>
                <p:cNvSpPr>
                  <a:spLocks noChangeAspect="1"/>
                </p:cNvSpPr>
                <p:nvPr/>
              </p:nvSpPr>
              <p:spPr bwMode="auto">
                <a:xfrm>
                  <a:off x="5499" y="2234"/>
                  <a:ext cx="48" cy="49"/>
                </a:xfrm>
                <a:custGeom>
                  <a:avLst/>
                  <a:gdLst>
                    <a:gd name="T0" fmla="*/ 0 w 146"/>
                    <a:gd name="T1" fmla="*/ 0 h 146"/>
                    <a:gd name="T2" fmla="*/ 0 w 146"/>
                    <a:gd name="T3" fmla="*/ 0 h 146"/>
                    <a:gd name="T4" fmla="*/ 0 w 146"/>
                    <a:gd name="T5" fmla="*/ 0 h 146"/>
                    <a:gd name="T6" fmla="*/ 0 w 146"/>
                    <a:gd name="T7" fmla="*/ 0 h 146"/>
                    <a:gd name="T8" fmla="*/ 0 w 146"/>
                    <a:gd name="T9" fmla="*/ 0 h 146"/>
                    <a:gd name="T10" fmla="*/ 0 w 146"/>
                    <a:gd name="T11" fmla="*/ 0 h 146"/>
                    <a:gd name="T12" fmla="*/ 0 w 146"/>
                    <a:gd name="T13" fmla="*/ 0 h 146"/>
                    <a:gd name="T14" fmla="*/ 0 w 146"/>
                    <a:gd name="T15" fmla="*/ 0 h 146"/>
                    <a:gd name="T16" fmla="*/ 0 w 146"/>
                    <a:gd name="T17" fmla="*/ 0 h 146"/>
                    <a:gd name="T18" fmla="*/ 0 w 146"/>
                    <a:gd name="T19" fmla="*/ 0 h 146"/>
                    <a:gd name="T20" fmla="*/ 0 w 146"/>
                    <a:gd name="T21" fmla="*/ 0 h 146"/>
                    <a:gd name="T22" fmla="*/ 0 w 146"/>
                    <a:gd name="T23" fmla="*/ 0 h 146"/>
                    <a:gd name="T24" fmla="*/ 0 w 146"/>
                    <a:gd name="T25" fmla="*/ 0 h 146"/>
                    <a:gd name="T26" fmla="*/ 0 w 146"/>
                    <a:gd name="T27" fmla="*/ 0 h 146"/>
                    <a:gd name="T28" fmla="*/ 0 w 146"/>
                    <a:gd name="T29" fmla="*/ 0 h 146"/>
                    <a:gd name="T30" fmla="*/ 0 w 146"/>
                    <a:gd name="T31" fmla="*/ 0 h 146"/>
                    <a:gd name="T32" fmla="*/ 0 w 146"/>
                    <a:gd name="T33" fmla="*/ 0 h 146"/>
                    <a:gd name="T34" fmla="*/ 0 w 146"/>
                    <a:gd name="T35" fmla="*/ 0 h 146"/>
                    <a:gd name="T36" fmla="*/ 0 w 146"/>
                    <a:gd name="T37" fmla="*/ 0 h 1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6" h="146">
                      <a:moveTo>
                        <a:pt x="146" y="13"/>
                      </a:moveTo>
                      <a:lnTo>
                        <a:pt x="13" y="146"/>
                      </a:lnTo>
                      <a:lnTo>
                        <a:pt x="11" y="146"/>
                      </a:lnTo>
                      <a:lnTo>
                        <a:pt x="10" y="145"/>
                      </a:lnTo>
                      <a:lnTo>
                        <a:pt x="8" y="145"/>
                      </a:lnTo>
                      <a:lnTo>
                        <a:pt x="7" y="144"/>
                      </a:lnTo>
                      <a:lnTo>
                        <a:pt x="5" y="144"/>
                      </a:lnTo>
                      <a:lnTo>
                        <a:pt x="4" y="143"/>
                      </a:lnTo>
                      <a:lnTo>
                        <a:pt x="1" y="142"/>
                      </a:lnTo>
                      <a:lnTo>
                        <a:pt x="0" y="142"/>
                      </a:lnTo>
                      <a:lnTo>
                        <a:pt x="142" y="0"/>
                      </a:lnTo>
                      <a:lnTo>
                        <a:pt x="143" y="1"/>
                      </a:lnTo>
                      <a:lnTo>
                        <a:pt x="143" y="3"/>
                      </a:lnTo>
                      <a:lnTo>
                        <a:pt x="144" y="4"/>
                      </a:lnTo>
                      <a:lnTo>
                        <a:pt x="144" y="7"/>
                      </a:lnTo>
                      <a:lnTo>
                        <a:pt x="145" y="8"/>
                      </a:lnTo>
                      <a:lnTo>
                        <a:pt x="145" y="10"/>
                      </a:lnTo>
                      <a:lnTo>
                        <a:pt x="145" y="12"/>
                      </a:lnTo>
                      <a:lnTo>
                        <a:pt x="146" y="1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48" name="Freeform 2285"/>
                <p:cNvSpPr>
                  <a:spLocks noChangeAspect="1"/>
                </p:cNvSpPr>
                <p:nvPr/>
              </p:nvSpPr>
              <p:spPr bwMode="auto">
                <a:xfrm>
                  <a:off x="5497" y="2232"/>
                  <a:ext cx="50" cy="50"/>
                </a:xfrm>
                <a:custGeom>
                  <a:avLst/>
                  <a:gdLst>
                    <a:gd name="T0" fmla="*/ 0 w 150"/>
                    <a:gd name="T1" fmla="*/ 0 h 150"/>
                    <a:gd name="T2" fmla="*/ 0 w 150"/>
                    <a:gd name="T3" fmla="*/ 0 h 150"/>
                    <a:gd name="T4" fmla="*/ 0 w 150"/>
                    <a:gd name="T5" fmla="*/ 0 h 150"/>
                    <a:gd name="T6" fmla="*/ 0 w 150"/>
                    <a:gd name="T7" fmla="*/ 0 h 150"/>
                    <a:gd name="T8" fmla="*/ 0 w 150"/>
                    <a:gd name="T9" fmla="*/ 0 h 150"/>
                    <a:gd name="T10" fmla="*/ 0 w 150"/>
                    <a:gd name="T11" fmla="*/ 0 h 150"/>
                    <a:gd name="T12" fmla="*/ 0 w 150"/>
                    <a:gd name="T13" fmla="*/ 0 h 150"/>
                    <a:gd name="T14" fmla="*/ 0 w 150"/>
                    <a:gd name="T15" fmla="*/ 0 h 150"/>
                    <a:gd name="T16" fmla="*/ 0 w 150"/>
                    <a:gd name="T17" fmla="*/ 0 h 150"/>
                    <a:gd name="T18" fmla="*/ 0 w 150"/>
                    <a:gd name="T19" fmla="*/ 0 h 150"/>
                    <a:gd name="T20" fmla="*/ 0 w 150"/>
                    <a:gd name="T21" fmla="*/ 0 h 150"/>
                    <a:gd name="T22" fmla="*/ 0 w 150"/>
                    <a:gd name="T23" fmla="*/ 0 h 150"/>
                    <a:gd name="T24" fmla="*/ 0 w 150"/>
                    <a:gd name="T25" fmla="*/ 0 h 150"/>
                    <a:gd name="T26" fmla="*/ 0 w 150"/>
                    <a:gd name="T27" fmla="*/ 0 h 150"/>
                    <a:gd name="T28" fmla="*/ 0 w 150"/>
                    <a:gd name="T29" fmla="*/ 0 h 150"/>
                    <a:gd name="T30" fmla="*/ 0 w 150"/>
                    <a:gd name="T31" fmla="*/ 0 h 150"/>
                    <a:gd name="T32" fmla="*/ 0 w 150"/>
                    <a:gd name="T33" fmla="*/ 0 h 150"/>
                    <a:gd name="T34" fmla="*/ 0 w 150"/>
                    <a:gd name="T35" fmla="*/ 0 h 150"/>
                    <a:gd name="T36" fmla="*/ 0 w 150"/>
                    <a:gd name="T37" fmla="*/ 0 h 1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0" h="150">
                      <a:moveTo>
                        <a:pt x="150" y="13"/>
                      </a:moveTo>
                      <a:lnTo>
                        <a:pt x="13" y="150"/>
                      </a:lnTo>
                      <a:lnTo>
                        <a:pt x="11" y="150"/>
                      </a:lnTo>
                      <a:lnTo>
                        <a:pt x="10" y="149"/>
                      </a:lnTo>
                      <a:lnTo>
                        <a:pt x="7" y="148"/>
                      </a:lnTo>
                      <a:lnTo>
                        <a:pt x="6" y="148"/>
                      </a:lnTo>
                      <a:lnTo>
                        <a:pt x="5" y="146"/>
                      </a:lnTo>
                      <a:lnTo>
                        <a:pt x="3" y="145"/>
                      </a:lnTo>
                      <a:lnTo>
                        <a:pt x="2" y="145"/>
                      </a:lnTo>
                      <a:lnTo>
                        <a:pt x="0" y="144"/>
                      </a:lnTo>
                      <a:lnTo>
                        <a:pt x="146" y="0"/>
                      </a:lnTo>
                      <a:lnTo>
                        <a:pt x="147" y="1"/>
                      </a:lnTo>
                      <a:lnTo>
                        <a:pt x="147" y="3"/>
                      </a:lnTo>
                      <a:lnTo>
                        <a:pt x="148" y="4"/>
                      </a:lnTo>
                      <a:lnTo>
                        <a:pt x="148" y="6"/>
                      </a:lnTo>
                      <a:lnTo>
                        <a:pt x="149" y="7"/>
                      </a:lnTo>
                      <a:lnTo>
                        <a:pt x="149" y="9"/>
                      </a:lnTo>
                      <a:lnTo>
                        <a:pt x="150" y="10"/>
                      </a:lnTo>
                      <a:lnTo>
                        <a:pt x="150" y="1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49" name="Freeform 2286"/>
                <p:cNvSpPr>
                  <a:spLocks noChangeAspect="1"/>
                </p:cNvSpPr>
                <p:nvPr/>
              </p:nvSpPr>
              <p:spPr bwMode="auto">
                <a:xfrm>
                  <a:off x="5495" y="2230"/>
                  <a:ext cx="51" cy="51"/>
                </a:xfrm>
                <a:custGeom>
                  <a:avLst/>
                  <a:gdLst>
                    <a:gd name="T0" fmla="*/ 0 w 153"/>
                    <a:gd name="T1" fmla="*/ 0 h 155"/>
                    <a:gd name="T2" fmla="*/ 0 w 153"/>
                    <a:gd name="T3" fmla="*/ 0 h 155"/>
                    <a:gd name="T4" fmla="*/ 0 w 153"/>
                    <a:gd name="T5" fmla="*/ 0 h 155"/>
                    <a:gd name="T6" fmla="*/ 0 w 153"/>
                    <a:gd name="T7" fmla="*/ 0 h 155"/>
                    <a:gd name="T8" fmla="*/ 0 w 153"/>
                    <a:gd name="T9" fmla="*/ 0 h 155"/>
                    <a:gd name="T10" fmla="*/ 0 w 153"/>
                    <a:gd name="T11" fmla="*/ 0 h 155"/>
                    <a:gd name="T12" fmla="*/ 0 w 153"/>
                    <a:gd name="T13" fmla="*/ 0 h 155"/>
                    <a:gd name="T14" fmla="*/ 0 w 153"/>
                    <a:gd name="T15" fmla="*/ 0 h 155"/>
                    <a:gd name="T16" fmla="*/ 0 w 153"/>
                    <a:gd name="T17" fmla="*/ 0 h 155"/>
                    <a:gd name="T18" fmla="*/ 0 w 153"/>
                    <a:gd name="T19" fmla="*/ 0 h 155"/>
                    <a:gd name="T20" fmla="*/ 0 w 153"/>
                    <a:gd name="T21" fmla="*/ 0 h 155"/>
                    <a:gd name="T22" fmla="*/ 0 w 153"/>
                    <a:gd name="T23" fmla="*/ 0 h 155"/>
                    <a:gd name="T24" fmla="*/ 0 w 153"/>
                    <a:gd name="T25" fmla="*/ 0 h 155"/>
                    <a:gd name="T26" fmla="*/ 0 w 153"/>
                    <a:gd name="T27" fmla="*/ 0 h 155"/>
                    <a:gd name="T28" fmla="*/ 0 w 153"/>
                    <a:gd name="T29" fmla="*/ 0 h 155"/>
                    <a:gd name="T30" fmla="*/ 0 w 153"/>
                    <a:gd name="T31" fmla="*/ 0 h 155"/>
                    <a:gd name="T32" fmla="*/ 0 w 153"/>
                    <a:gd name="T33" fmla="*/ 0 h 155"/>
                    <a:gd name="T34" fmla="*/ 0 w 153"/>
                    <a:gd name="T35" fmla="*/ 0 h 155"/>
                    <a:gd name="T36" fmla="*/ 0 w 153"/>
                    <a:gd name="T37" fmla="*/ 0 h 15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3" h="155">
                      <a:moveTo>
                        <a:pt x="153" y="13"/>
                      </a:moveTo>
                      <a:lnTo>
                        <a:pt x="11" y="155"/>
                      </a:lnTo>
                      <a:lnTo>
                        <a:pt x="10" y="153"/>
                      </a:lnTo>
                      <a:lnTo>
                        <a:pt x="8" y="152"/>
                      </a:lnTo>
                      <a:lnTo>
                        <a:pt x="7" y="152"/>
                      </a:lnTo>
                      <a:lnTo>
                        <a:pt x="6" y="151"/>
                      </a:lnTo>
                      <a:lnTo>
                        <a:pt x="4" y="150"/>
                      </a:lnTo>
                      <a:lnTo>
                        <a:pt x="3" y="150"/>
                      </a:lnTo>
                      <a:lnTo>
                        <a:pt x="2" y="149"/>
                      </a:lnTo>
                      <a:lnTo>
                        <a:pt x="0" y="148"/>
                      </a:lnTo>
                      <a:lnTo>
                        <a:pt x="148" y="0"/>
                      </a:lnTo>
                      <a:lnTo>
                        <a:pt x="149" y="1"/>
                      </a:lnTo>
                      <a:lnTo>
                        <a:pt x="150" y="4"/>
                      </a:lnTo>
                      <a:lnTo>
                        <a:pt x="150" y="5"/>
                      </a:lnTo>
                      <a:lnTo>
                        <a:pt x="151" y="7"/>
                      </a:lnTo>
                      <a:lnTo>
                        <a:pt x="152" y="8"/>
                      </a:lnTo>
                      <a:lnTo>
                        <a:pt x="152" y="10"/>
                      </a:lnTo>
                      <a:lnTo>
                        <a:pt x="153" y="11"/>
                      </a:lnTo>
                      <a:lnTo>
                        <a:pt x="153" y="1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50" name="Freeform 2287"/>
                <p:cNvSpPr>
                  <a:spLocks noChangeAspect="1"/>
                </p:cNvSpPr>
                <p:nvPr/>
              </p:nvSpPr>
              <p:spPr bwMode="auto">
                <a:xfrm>
                  <a:off x="5493" y="2228"/>
                  <a:ext cx="52" cy="52"/>
                </a:xfrm>
                <a:custGeom>
                  <a:avLst/>
                  <a:gdLst>
                    <a:gd name="T0" fmla="*/ 0 w 157"/>
                    <a:gd name="T1" fmla="*/ 0 h 157"/>
                    <a:gd name="T2" fmla="*/ 0 w 157"/>
                    <a:gd name="T3" fmla="*/ 0 h 157"/>
                    <a:gd name="T4" fmla="*/ 0 w 157"/>
                    <a:gd name="T5" fmla="*/ 0 h 157"/>
                    <a:gd name="T6" fmla="*/ 0 w 157"/>
                    <a:gd name="T7" fmla="*/ 0 h 157"/>
                    <a:gd name="T8" fmla="*/ 0 w 157"/>
                    <a:gd name="T9" fmla="*/ 0 h 157"/>
                    <a:gd name="T10" fmla="*/ 0 w 157"/>
                    <a:gd name="T11" fmla="*/ 0 h 157"/>
                    <a:gd name="T12" fmla="*/ 0 w 157"/>
                    <a:gd name="T13" fmla="*/ 0 h 157"/>
                    <a:gd name="T14" fmla="*/ 0 w 157"/>
                    <a:gd name="T15" fmla="*/ 0 h 157"/>
                    <a:gd name="T16" fmla="*/ 0 w 157"/>
                    <a:gd name="T17" fmla="*/ 0 h 157"/>
                    <a:gd name="T18" fmla="*/ 0 w 157"/>
                    <a:gd name="T19" fmla="*/ 0 h 157"/>
                    <a:gd name="T20" fmla="*/ 0 w 157"/>
                    <a:gd name="T21" fmla="*/ 0 h 157"/>
                    <a:gd name="T22" fmla="*/ 0 w 157"/>
                    <a:gd name="T23" fmla="*/ 0 h 157"/>
                    <a:gd name="T24" fmla="*/ 0 w 157"/>
                    <a:gd name="T25" fmla="*/ 0 h 157"/>
                    <a:gd name="T26" fmla="*/ 0 w 157"/>
                    <a:gd name="T27" fmla="*/ 0 h 157"/>
                    <a:gd name="T28" fmla="*/ 0 w 157"/>
                    <a:gd name="T29" fmla="*/ 0 h 157"/>
                    <a:gd name="T30" fmla="*/ 0 w 157"/>
                    <a:gd name="T31" fmla="*/ 0 h 157"/>
                    <a:gd name="T32" fmla="*/ 0 w 157"/>
                    <a:gd name="T33" fmla="*/ 0 h 157"/>
                    <a:gd name="T34" fmla="*/ 0 w 157"/>
                    <a:gd name="T35" fmla="*/ 0 h 157"/>
                    <a:gd name="T36" fmla="*/ 0 w 157"/>
                    <a:gd name="T37" fmla="*/ 0 h 1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7" h="157">
                      <a:moveTo>
                        <a:pt x="157" y="13"/>
                      </a:moveTo>
                      <a:lnTo>
                        <a:pt x="11" y="157"/>
                      </a:lnTo>
                      <a:lnTo>
                        <a:pt x="10" y="156"/>
                      </a:lnTo>
                      <a:lnTo>
                        <a:pt x="9" y="156"/>
                      </a:lnTo>
                      <a:lnTo>
                        <a:pt x="8" y="155"/>
                      </a:lnTo>
                      <a:lnTo>
                        <a:pt x="6" y="154"/>
                      </a:lnTo>
                      <a:lnTo>
                        <a:pt x="5" y="153"/>
                      </a:lnTo>
                      <a:lnTo>
                        <a:pt x="4" y="152"/>
                      </a:lnTo>
                      <a:lnTo>
                        <a:pt x="2" y="152"/>
                      </a:lnTo>
                      <a:lnTo>
                        <a:pt x="0" y="151"/>
                      </a:lnTo>
                      <a:lnTo>
                        <a:pt x="151" y="0"/>
                      </a:lnTo>
                      <a:lnTo>
                        <a:pt x="151" y="2"/>
                      </a:lnTo>
                      <a:lnTo>
                        <a:pt x="153" y="3"/>
                      </a:lnTo>
                      <a:lnTo>
                        <a:pt x="154" y="5"/>
                      </a:lnTo>
                      <a:lnTo>
                        <a:pt x="154" y="6"/>
                      </a:lnTo>
                      <a:lnTo>
                        <a:pt x="155" y="7"/>
                      </a:lnTo>
                      <a:lnTo>
                        <a:pt x="156" y="10"/>
                      </a:lnTo>
                      <a:lnTo>
                        <a:pt x="156" y="11"/>
                      </a:lnTo>
                      <a:lnTo>
                        <a:pt x="157" y="1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51" name="Freeform 2288"/>
                <p:cNvSpPr>
                  <a:spLocks noChangeAspect="1"/>
                </p:cNvSpPr>
                <p:nvPr/>
              </p:nvSpPr>
              <p:spPr bwMode="auto">
                <a:xfrm>
                  <a:off x="5492" y="2226"/>
                  <a:ext cx="52" cy="53"/>
                </a:xfrm>
                <a:custGeom>
                  <a:avLst/>
                  <a:gdLst>
                    <a:gd name="T0" fmla="*/ 0 w 158"/>
                    <a:gd name="T1" fmla="*/ 0 h 159"/>
                    <a:gd name="T2" fmla="*/ 0 w 158"/>
                    <a:gd name="T3" fmla="*/ 0 h 159"/>
                    <a:gd name="T4" fmla="*/ 0 w 158"/>
                    <a:gd name="T5" fmla="*/ 0 h 159"/>
                    <a:gd name="T6" fmla="*/ 0 w 158"/>
                    <a:gd name="T7" fmla="*/ 0 h 159"/>
                    <a:gd name="T8" fmla="*/ 0 w 158"/>
                    <a:gd name="T9" fmla="*/ 0 h 159"/>
                    <a:gd name="T10" fmla="*/ 0 w 158"/>
                    <a:gd name="T11" fmla="*/ 0 h 159"/>
                    <a:gd name="T12" fmla="*/ 0 w 158"/>
                    <a:gd name="T13" fmla="*/ 0 h 159"/>
                    <a:gd name="T14" fmla="*/ 0 w 158"/>
                    <a:gd name="T15" fmla="*/ 0 h 159"/>
                    <a:gd name="T16" fmla="*/ 0 w 158"/>
                    <a:gd name="T17" fmla="*/ 0 h 159"/>
                    <a:gd name="T18" fmla="*/ 0 w 158"/>
                    <a:gd name="T19" fmla="*/ 0 h 159"/>
                    <a:gd name="T20" fmla="*/ 0 w 158"/>
                    <a:gd name="T21" fmla="*/ 0 h 159"/>
                    <a:gd name="T22" fmla="*/ 0 w 158"/>
                    <a:gd name="T23" fmla="*/ 0 h 159"/>
                    <a:gd name="T24" fmla="*/ 0 w 158"/>
                    <a:gd name="T25" fmla="*/ 0 h 159"/>
                    <a:gd name="T26" fmla="*/ 0 w 158"/>
                    <a:gd name="T27" fmla="*/ 0 h 159"/>
                    <a:gd name="T28" fmla="*/ 0 w 158"/>
                    <a:gd name="T29" fmla="*/ 0 h 159"/>
                    <a:gd name="T30" fmla="*/ 0 w 158"/>
                    <a:gd name="T31" fmla="*/ 0 h 159"/>
                    <a:gd name="T32" fmla="*/ 0 w 158"/>
                    <a:gd name="T33" fmla="*/ 0 h 159"/>
                    <a:gd name="T34" fmla="*/ 0 w 158"/>
                    <a:gd name="T35" fmla="*/ 0 h 159"/>
                    <a:gd name="T36" fmla="*/ 0 w 158"/>
                    <a:gd name="T37" fmla="*/ 0 h 1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8" h="159">
                      <a:moveTo>
                        <a:pt x="158" y="11"/>
                      </a:moveTo>
                      <a:lnTo>
                        <a:pt x="10" y="159"/>
                      </a:lnTo>
                      <a:lnTo>
                        <a:pt x="9" y="158"/>
                      </a:lnTo>
                      <a:lnTo>
                        <a:pt x="8" y="157"/>
                      </a:lnTo>
                      <a:lnTo>
                        <a:pt x="6" y="157"/>
                      </a:lnTo>
                      <a:lnTo>
                        <a:pt x="4" y="156"/>
                      </a:lnTo>
                      <a:lnTo>
                        <a:pt x="3" y="155"/>
                      </a:lnTo>
                      <a:lnTo>
                        <a:pt x="2" y="154"/>
                      </a:lnTo>
                      <a:lnTo>
                        <a:pt x="1" y="153"/>
                      </a:lnTo>
                      <a:lnTo>
                        <a:pt x="0" y="152"/>
                      </a:lnTo>
                      <a:lnTo>
                        <a:pt x="151" y="0"/>
                      </a:lnTo>
                      <a:lnTo>
                        <a:pt x="152" y="2"/>
                      </a:lnTo>
                      <a:lnTo>
                        <a:pt x="153" y="3"/>
                      </a:lnTo>
                      <a:lnTo>
                        <a:pt x="154" y="4"/>
                      </a:lnTo>
                      <a:lnTo>
                        <a:pt x="155" y="6"/>
                      </a:lnTo>
                      <a:lnTo>
                        <a:pt x="155" y="7"/>
                      </a:lnTo>
                      <a:lnTo>
                        <a:pt x="157" y="8"/>
                      </a:lnTo>
                      <a:lnTo>
                        <a:pt x="158" y="10"/>
                      </a:lnTo>
                      <a:lnTo>
                        <a:pt x="158" y="1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52" name="Freeform 2289"/>
                <p:cNvSpPr>
                  <a:spLocks noChangeAspect="1"/>
                </p:cNvSpPr>
                <p:nvPr/>
              </p:nvSpPr>
              <p:spPr bwMode="auto">
                <a:xfrm>
                  <a:off x="5490" y="2224"/>
                  <a:ext cx="53" cy="54"/>
                </a:xfrm>
                <a:custGeom>
                  <a:avLst/>
                  <a:gdLst>
                    <a:gd name="T0" fmla="*/ 0 w 160"/>
                    <a:gd name="T1" fmla="*/ 0 h 162"/>
                    <a:gd name="T2" fmla="*/ 0 w 160"/>
                    <a:gd name="T3" fmla="*/ 0 h 162"/>
                    <a:gd name="T4" fmla="*/ 0 w 160"/>
                    <a:gd name="T5" fmla="*/ 0 h 162"/>
                    <a:gd name="T6" fmla="*/ 0 w 160"/>
                    <a:gd name="T7" fmla="*/ 0 h 162"/>
                    <a:gd name="T8" fmla="*/ 0 w 160"/>
                    <a:gd name="T9" fmla="*/ 0 h 162"/>
                    <a:gd name="T10" fmla="*/ 0 w 160"/>
                    <a:gd name="T11" fmla="*/ 0 h 162"/>
                    <a:gd name="T12" fmla="*/ 0 w 160"/>
                    <a:gd name="T13" fmla="*/ 0 h 162"/>
                    <a:gd name="T14" fmla="*/ 0 w 160"/>
                    <a:gd name="T15" fmla="*/ 0 h 162"/>
                    <a:gd name="T16" fmla="*/ 0 w 160"/>
                    <a:gd name="T17" fmla="*/ 0 h 162"/>
                    <a:gd name="T18" fmla="*/ 0 w 160"/>
                    <a:gd name="T19" fmla="*/ 0 h 162"/>
                    <a:gd name="T20" fmla="*/ 0 w 160"/>
                    <a:gd name="T21" fmla="*/ 0 h 162"/>
                    <a:gd name="T22" fmla="*/ 0 w 160"/>
                    <a:gd name="T23" fmla="*/ 0 h 162"/>
                    <a:gd name="T24" fmla="*/ 0 w 160"/>
                    <a:gd name="T25" fmla="*/ 0 h 162"/>
                    <a:gd name="T26" fmla="*/ 0 w 160"/>
                    <a:gd name="T27" fmla="*/ 0 h 162"/>
                    <a:gd name="T28" fmla="*/ 0 w 160"/>
                    <a:gd name="T29" fmla="*/ 0 h 162"/>
                    <a:gd name="T30" fmla="*/ 0 w 160"/>
                    <a:gd name="T31" fmla="*/ 0 h 162"/>
                    <a:gd name="T32" fmla="*/ 0 w 160"/>
                    <a:gd name="T33" fmla="*/ 0 h 162"/>
                    <a:gd name="T34" fmla="*/ 0 w 160"/>
                    <a:gd name="T35" fmla="*/ 0 h 162"/>
                    <a:gd name="T36" fmla="*/ 0 w 160"/>
                    <a:gd name="T37" fmla="*/ 0 h 1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0" h="162">
                      <a:moveTo>
                        <a:pt x="160" y="11"/>
                      </a:moveTo>
                      <a:lnTo>
                        <a:pt x="9" y="162"/>
                      </a:lnTo>
                      <a:lnTo>
                        <a:pt x="8" y="161"/>
                      </a:lnTo>
                      <a:lnTo>
                        <a:pt x="7" y="160"/>
                      </a:lnTo>
                      <a:lnTo>
                        <a:pt x="6" y="159"/>
                      </a:lnTo>
                      <a:lnTo>
                        <a:pt x="5" y="158"/>
                      </a:lnTo>
                      <a:lnTo>
                        <a:pt x="3" y="157"/>
                      </a:lnTo>
                      <a:lnTo>
                        <a:pt x="2" y="156"/>
                      </a:lnTo>
                      <a:lnTo>
                        <a:pt x="1" y="155"/>
                      </a:lnTo>
                      <a:lnTo>
                        <a:pt x="0" y="153"/>
                      </a:lnTo>
                      <a:lnTo>
                        <a:pt x="153" y="0"/>
                      </a:lnTo>
                      <a:lnTo>
                        <a:pt x="154" y="2"/>
                      </a:lnTo>
                      <a:lnTo>
                        <a:pt x="155" y="4"/>
                      </a:lnTo>
                      <a:lnTo>
                        <a:pt x="156" y="5"/>
                      </a:lnTo>
                      <a:lnTo>
                        <a:pt x="156" y="6"/>
                      </a:lnTo>
                      <a:lnTo>
                        <a:pt x="157" y="8"/>
                      </a:lnTo>
                      <a:lnTo>
                        <a:pt x="158" y="9"/>
                      </a:lnTo>
                      <a:lnTo>
                        <a:pt x="159" y="10"/>
                      </a:lnTo>
                      <a:lnTo>
                        <a:pt x="160" y="1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53" name="Freeform 2290"/>
                <p:cNvSpPr>
                  <a:spLocks noChangeAspect="1"/>
                </p:cNvSpPr>
                <p:nvPr/>
              </p:nvSpPr>
              <p:spPr bwMode="auto">
                <a:xfrm>
                  <a:off x="5489" y="2223"/>
                  <a:ext cx="53" cy="54"/>
                </a:xfrm>
                <a:custGeom>
                  <a:avLst/>
                  <a:gdLst>
                    <a:gd name="T0" fmla="*/ 0 w 160"/>
                    <a:gd name="T1" fmla="*/ 0 h 162"/>
                    <a:gd name="T2" fmla="*/ 0 w 160"/>
                    <a:gd name="T3" fmla="*/ 0 h 162"/>
                    <a:gd name="T4" fmla="*/ 0 w 160"/>
                    <a:gd name="T5" fmla="*/ 0 h 162"/>
                    <a:gd name="T6" fmla="*/ 0 w 160"/>
                    <a:gd name="T7" fmla="*/ 0 h 162"/>
                    <a:gd name="T8" fmla="*/ 0 w 160"/>
                    <a:gd name="T9" fmla="*/ 0 h 162"/>
                    <a:gd name="T10" fmla="*/ 0 w 160"/>
                    <a:gd name="T11" fmla="*/ 0 h 162"/>
                    <a:gd name="T12" fmla="*/ 0 w 160"/>
                    <a:gd name="T13" fmla="*/ 0 h 162"/>
                    <a:gd name="T14" fmla="*/ 0 w 160"/>
                    <a:gd name="T15" fmla="*/ 0 h 162"/>
                    <a:gd name="T16" fmla="*/ 0 w 160"/>
                    <a:gd name="T17" fmla="*/ 0 h 162"/>
                    <a:gd name="T18" fmla="*/ 0 w 160"/>
                    <a:gd name="T19" fmla="*/ 0 h 162"/>
                    <a:gd name="T20" fmla="*/ 0 w 160"/>
                    <a:gd name="T21" fmla="*/ 0 h 162"/>
                    <a:gd name="T22" fmla="*/ 0 w 160"/>
                    <a:gd name="T23" fmla="*/ 0 h 162"/>
                    <a:gd name="T24" fmla="*/ 0 w 160"/>
                    <a:gd name="T25" fmla="*/ 0 h 162"/>
                    <a:gd name="T26" fmla="*/ 0 w 160"/>
                    <a:gd name="T27" fmla="*/ 0 h 162"/>
                    <a:gd name="T28" fmla="*/ 0 w 160"/>
                    <a:gd name="T29" fmla="*/ 0 h 162"/>
                    <a:gd name="T30" fmla="*/ 0 w 160"/>
                    <a:gd name="T31" fmla="*/ 0 h 162"/>
                    <a:gd name="T32" fmla="*/ 0 w 160"/>
                    <a:gd name="T33" fmla="*/ 0 h 162"/>
                    <a:gd name="T34" fmla="*/ 0 w 160"/>
                    <a:gd name="T35" fmla="*/ 0 h 162"/>
                    <a:gd name="T36" fmla="*/ 0 w 160"/>
                    <a:gd name="T37" fmla="*/ 0 h 1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0" h="162">
                      <a:moveTo>
                        <a:pt x="160" y="10"/>
                      </a:moveTo>
                      <a:lnTo>
                        <a:pt x="9" y="162"/>
                      </a:lnTo>
                      <a:lnTo>
                        <a:pt x="7" y="161"/>
                      </a:lnTo>
                      <a:lnTo>
                        <a:pt x="6" y="160"/>
                      </a:lnTo>
                      <a:lnTo>
                        <a:pt x="5" y="159"/>
                      </a:lnTo>
                      <a:lnTo>
                        <a:pt x="4" y="159"/>
                      </a:lnTo>
                      <a:lnTo>
                        <a:pt x="3" y="157"/>
                      </a:lnTo>
                      <a:lnTo>
                        <a:pt x="2" y="156"/>
                      </a:lnTo>
                      <a:lnTo>
                        <a:pt x="1" y="155"/>
                      </a:lnTo>
                      <a:lnTo>
                        <a:pt x="0" y="154"/>
                      </a:lnTo>
                      <a:lnTo>
                        <a:pt x="154" y="0"/>
                      </a:lnTo>
                      <a:lnTo>
                        <a:pt x="155" y="1"/>
                      </a:lnTo>
                      <a:lnTo>
                        <a:pt x="155" y="2"/>
                      </a:lnTo>
                      <a:lnTo>
                        <a:pt x="156" y="3"/>
                      </a:lnTo>
                      <a:lnTo>
                        <a:pt x="157" y="4"/>
                      </a:lnTo>
                      <a:lnTo>
                        <a:pt x="158" y="6"/>
                      </a:lnTo>
                      <a:lnTo>
                        <a:pt x="159" y="8"/>
                      </a:lnTo>
                      <a:lnTo>
                        <a:pt x="160" y="9"/>
                      </a:lnTo>
                      <a:lnTo>
                        <a:pt x="160" y="1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54" name="Freeform 2291"/>
                <p:cNvSpPr>
                  <a:spLocks noChangeAspect="1"/>
                </p:cNvSpPr>
                <p:nvPr/>
              </p:nvSpPr>
              <p:spPr bwMode="auto">
                <a:xfrm>
                  <a:off x="5487" y="2221"/>
                  <a:ext cx="54" cy="54"/>
                </a:xfrm>
                <a:custGeom>
                  <a:avLst/>
                  <a:gdLst>
                    <a:gd name="T0" fmla="*/ 0 w 162"/>
                    <a:gd name="T1" fmla="*/ 0 h 162"/>
                    <a:gd name="T2" fmla="*/ 0 w 162"/>
                    <a:gd name="T3" fmla="*/ 0 h 162"/>
                    <a:gd name="T4" fmla="*/ 0 w 162"/>
                    <a:gd name="T5" fmla="*/ 0 h 162"/>
                    <a:gd name="T6" fmla="*/ 0 w 162"/>
                    <a:gd name="T7" fmla="*/ 0 h 162"/>
                    <a:gd name="T8" fmla="*/ 0 w 162"/>
                    <a:gd name="T9" fmla="*/ 0 h 162"/>
                    <a:gd name="T10" fmla="*/ 0 w 162"/>
                    <a:gd name="T11" fmla="*/ 0 h 162"/>
                    <a:gd name="T12" fmla="*/ 0 w 162"/>
                    <a:gd name="T13" fmla="*/ 0 h 162"/>
                    <a:gd name="T14" fmla="*/ 0 w 162"/>
                    <a:gd name="T15" fmla="*/ 0 h 162"/>
                    <a:gd name="T16" fmla="*/ 0 w 162"/>
                    <a:gd name="T17" fmla="*/ 0 h 162"/>
                    <a:gd name="T18" fmla="*/ 0 w 162"/>
                    <a:gd name="T19" fmla="*/ 0 h 162"/>
                    <a:gd name="T20" fmla="*/ 0 w 162"/>
                    <a:gd name="T21" fmla="*/ 0 h 162"/>
                    <a:gd name="T22" fmla="*/ 0 w 162"/>
                    <a:gd name="T23" fmla="*/ 0 h 162"/>
                    <a:gd name="T24" fmla="*/ 0 w 162"/>
                    <a:gd name="T25" fmla="*/ 0 h 162"/>
                    <a:gd name="T26" fmla="*/ 0 w 162"/>
                    <a:gd name="T27" fmla="*/ 0 h 162"/>
                    <a:gd name="T28" fmla="*/ 0 w 162"/>
                    <a:gd name="T29" fmla="*/ 0 h 162"/>
                    <a:gd name="T30" fmla="*/ 0 w 162"/>
                    <a:gd name="T31" fmla="*/ 0 h 162"/>
                    <a:gd name="T32" fmla="*/ 0 w 162"/>
                    <a:gd name="T33" fmla="*/ 0 h 162"/>
                    <a:gd name="T34" fmla="*/ 0 w 162"/>
                    <a:gd name="T35" fmla="*/ 0 h 162"/>
                    <a:gd name="T36" fmla="*/ 0 w 162"/>
                    <a:gd name="T37" fmla="*/ 0 h 1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162">
                      <a:moveTo>
                        <a:pt x="162" y="9"/>
                      </a:moveTo>
                      <a:lnTo>
                        <a:pt x="9" y="162"/>
                      </a:lnTo>
                      <a:lnTo>
                        <a:pt x="8" y="162"/>
                      </a:lnTo>
                      <a:lnTo>
                        <a:pt x="7" y="161"/>
                      </a:lnTo>
                      <a:lnTo>
                        <a:pt x="6" y="160"/>
                      </a:lnTo>
                      <a:lnTo>
                        <a:pt x="5" y="159"/>
                      </a:lnTo>
                      <a:lnTo>
                        <a:pt x="3" y="157"/>
                      </a:lnTo>
                      <a:lnTo>
                        <a:pt x="2" y="156"/>
                      </a:lnTo>
                      <a:lnTo>
                        <a:pt x="1" y="155"/>
                      </a:lnTo>
                      <a:lnTo>
                        <a:pt x="0" y="154"/>
                      </a:lnTo>
                      <a:lnTo>
                        <a:pt x="155" y="0"/>
                      </a:lnTo>
                      <a:lnTo>
                        <a:pt x="156" y="1"/>
                      </a:lnTo>
                      <a:lnTo>
                        <a:pt x="157" y="3"/>
                      </a:lnTo>
                      <a:lnTo>
                        <a:pt x="158" y="4"/>
                      </a:lnTo>
                      <a:lnTo>
                        <a:pt x="159" y="5"/>
                      </a:lnTo>
                      <a:lnTo>
                        <a:pt x="160" y="6"/>
                      </a:lnTo>
                      <a:lnTo>
                        <a:pt x="160" y="7"/>
                      </a:lnTo>
                      <a:lnTo>
                        <a:pt x="161" y="8"/>
                      </a:lnTo>
                      <a:lnTo>
                        <a:pt x="162" y="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55" name="Freeform 2292"/>
                <p:cNvSpPr>
                  <a:spLocks noChangeAspect="1"/>
                </p:cNvSpPr>
                <p:nvPr/>
              </p:nvSpPr>
              <p:spPr bwMode="auto">
                <a:xfrm>
                  <a:off x="5486" y="2220"/>
                  <a:ext cx="54" cy="54"/>
                </a:xfrm>
                <a:custGeom>
                  <a:avLst/>
                  <a:gdLst>
                    <a:gd name="T0" fmla="*/ 0 w 163"/>
                    <a:gd name="T1" fmla="*/ 0 h 163"/>
                    <a:gd name="T2" fmla="*/ 0 w 163"/>
                    <a:gd name="T3" fmla="*/ 0 h 163"/>
                    <a:gd name="T4" fmla="*/ 0 w 163"/>
                    <a:gd name="T5" fmla="*/ 0 h 163"/>
                    <a:gd name="T6" fmla="*/ 0 w 163"/>
                    <a:gd name="T7" fmla="*/ 0 h 163"/>
                    <a:gd name="T8" fmla="*/ 0 w 163"/>
                    <a:gd name="T9" fmla="*/ 0 h 163"/>
                    <a:gd name="T10" fmla="*/ 0 w 163"/>
                    <a:gd name="T11" fmla="*/ 0 h 163"/>
                    <a:gd name="T12" fmla="*/ 0 w 163"/>
                    <a:gd name="T13" fmla="*/ 0 h 163"/>
                    <a:gd name="T14" fmla="*/ 0 w 163"/>
                    <a:gd name="T15" fmla="*/ 0 h 163"/>
                    <a:gd name="T16" fmla="*/ 0 w 163"/>
                    <a:gd name="T17" fmla="*/ 0 h 163"/>
                    <a:gd name="T18" fmla="*/ 0 w 163"/>
                    <a:gd name="T19" fmla="*/ 0 h 163"/>
                    <a:gd name="T20" fmla="*/ 0 w 163"/>
                    <a:gd name="T21" fmla="*/ 0 h 163"/>
                    <a:gd name="T22" fmla="*/ 0 w 163"/>
                    <a:gd name="T23" fmla="*/ 0 h 163"/>
                    <a:gd name="T24" fmla="*/ 0 w 163"/>
                    <a:gd name="T25" fmla="*/ 0 h 163"/>
                    <a:gd name="T26" fmla="*/ 0 w 163"/>
                    <a:gd name="T27" fmla="*/ 0 h 163"/>
                    <a:gd name="T28" fmla="*/ 0 w 163"/>
                    <a:gd name="T29" fmla="*/ 0 h 163"/>
                    <a:gd name="T30" fmla="*/ 0 w 163"/>
                    <a:gd name="T31" fmla="*/ 0 h 163"/>
                    <a:gd name="T32" fmla="*/ 0 w 163"/>
                    <a:gd name="T33" fmla="*/ 0 h 163"/>
                    <a:gd name="T34" fmla="*/ 0 w 163"/>
                    <a:gd name="T35" fmla="*/ 0 h 163"/>
                    <a:gd name="T36" fmla="*/ 0 w 163"/>
                    <a:gd name="T37" fmla="*/ 0 h 16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3" h="163">
                      <a:moveTo>
                        <a:pt x="163" y="9"/>
                      </a:moveTo>
                      <a:lnTo>
                        <a:pt x="9" y="163"/>
                      </a:lnTo>
                      <a:lnTo>
                        <a:pt x="7" y="161"/>
                      </a:lnTo>
                      <a:lnTo>
                        <a:pt x="6" y="160"/>
                      </a:lnTo>
                      <a:lnTo>
                        <a:pt x="5" y="159"/>
                      </a:lnTo>
                      <a:lnTo>
                        <a:pt x="4" y="158"/>
                      </a:lnTo>
                      <a:lnTo>
                        <a:pt x="3" y="157"/>
                      </a:lnTo>
                      <a:lnTo>
                        <a:pt x="2" y="156"/>
                      </a:lnTo>
                      <a:lnTo>
                        <a:pt x="1" y="155"/>
                      </a:lnTo>
                      <a:lnTo>
                        <a:pt x="0" y="154"/>
                      </a:lnTo>
                      <a:lnTo>
                        <a:pt x="154" y="0"/>
                      </a:lnTo>
                      <a:lnTo>
                        <a:pt x="155" y="1"/>
                      </a:lnTo>
                      <a:lnTo>
                        <a:pt x="156" y="2"/>
                      </a:lnTo>
                      <a:lnTo>
                        <a:pt x="158" y="3"/>
                      </a:lnTo>
                      <a:lnTo>
                        <a:pt x="159" y="4"/>
                      </a:lnTo>
                      <a:lnTo>
                        <a:pt x="160" y="5"/>
                      </a:lnTo>
                      <a:lnTo>
                        <a:pt x="161" y="7"/>
                      </a:lnTo>
                      <a:lnTo>
                        <a:pt x="162" y="8"/>
                      </a:lnTo>
                      <a:lnTo>
                        <a:pt x="163" y="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56" name="Freeform 2293"/>
                <p:cNvSpPr>
                  <a:spLocks noChangeAspect="1"/>
                </p:cNvSpPr>
                <p:nvPr/>
              </p:nvSpPr>
              <p:spPr bwMode="auto">
                <a:xfrm>
                  <a:off x="5485" y="2218"/>
                  <a:ext cx="54" cy="54"/>
                </a:xfrm>
                <a:custGeom>
                  <a:avLst/>
                  <a:gdLst>
                    <a:gd name="T0" fmla="*/ 0 w 162"/>
                    <a:gd name="T1" fmla="*/ 0 h 163"/>
                    <a:gd name="T2" fmla="*/ 0 w 162"/>
                    <a:gd name="T3" fmla="*/ 0 h 163"/>
                    <a:gd name="T4" fmla="*/ 0 w 162"/>
                    <a:gd name="T5" fmla="*/ 0 h 163"/>
                    <a:gd name="T6" fmla="*/ 0 w 162"/>
                    <a:gd name="T7" fmla="*/ 0 h 163"/>
                    <a:gd name="T8" fmla="*/ 0 w 162"/>
                    <a:gd name="T9" fmla="*/ 0 h 163"/>
                    <a:gd name="T10" fmla="*/ 0 w 162"/>
                    <a:gd name="T11" fmla="*/ 0 h 163"/>
                    <a:gd name="T12" fmla="*/ 0 w 162"/>
                    <a:gd name="T13" fmla="*/ 0 h 163"/>
                    <a:gd name="T14" fmla="*/ 0 w 162"/>
                    <a:gd name="T15" fmla="*/ 0 h 163"/>
                    <a:gd name="T16" fmla="*/ 0 w 162"/>
                    <a:gd name="T17" fmla="*/ 0 h 163"/>
                    <a:gd name="T18" fmla="*/ 0 w 162"/>
                    <a:gd name="T19" fmla="*/ 0 h 163"/>
                    <a:gd name="T20" fmla="*/ 0 w 162"/>
                    <a:gd name="T21" fmla="*/ 0 h 163"/>
                    <a:gd name="T22" fmla="*/ 0 w 162"/>
                    <a:gd name="T23" fmla="*/ 0 h 163"/>
                    <a:gd name="T24" fmla="*/ 0 w 162"/>
                    <a:gd name="T25" fmla="*/ 0 h 163"/>
                    <a:gd name="T26" fmla="*/ 0 w 162"/>
                    <a:gd name="T27" fmla="*/ 0 h 163"/>
                    <a:gd name="T28" fmla="*/ 0 w 162"/>
                    <a:gd name="T29" fmla="*/ 0 h 163"/>
                    <a:gd name="T30" fmla="*/ 0 w 162"/>
                    <a:gd name="T31" fmla="*/ 0 h 163"/>
                    <a:gd name="T32" fmla="*/ 0 w 162"/>
                    <a:gd name="T33" fmla="*/ 0 h 163"/>
                    <a:gd name="T34" fmla="*/ 0 w 162"/>
                    <a:gd name="T35" fmla="*/ 0 h 163"/>
                    <a:gd name="T36" fmla="*/ 0 w 162"/>
                    <a:gd name="T37" fmla="*/ 0 h 16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163">
                      <a:moveTo>
                        <a:pt x="162" y="9"/>
                      </a:moveTo>
                      <a:lnTo>
                        <a:pt x="7" y="163"/>
                      </a:lnTo>
                      <a:lnTo>
                        <a:pt x="6" y="162"/>
                      </a:lnTo>
                      <a:lnTo>
                        <a:pt x="5" y="161"/>
                      </a:lnTo>
                      <a:lnTo>
                        <a:pt x="4" y="160"/>
                      </a:lnTo>
                      <a:lnTo>
                        <a:pt x="3" y="159"/>
                      </a:lnTo>
                      <a:lnTo>
                        <a:pt x="2" y="158"/>
                      </a:lnTo>
                      <a:lnTo>
                        <a:pt x="1" y="157"/>
                      </a:lnTo>
                      <a:lnTo>
                        <a:pt x="0" y="154"/>
                      </a:lnTo>
                      <a:lnTo>
                        <a:pt x="0" y="153"/>
                      </a:lnTo>
                      <a:lnTo>
                        <a:pt x="153" y="0"/>
                      </a:lnTo>
                      <a:lnTo>
                        <a:pt x="154" y="1"/>
                      </a:lnTo>
                      <a:lnTo>
                        <a:pt x="155" y="2"/>
                      </a:lnTo>
                      <a:lnTo>
                        <a:pt x="156" y="3"/>
                      </a:lnTo>
                      <a:lnTo>
                        <a:pt x="157" y="5"/>
                      </a:lnTo>
                      <a:lnTo>
                        <a:pt x="158" y="6"/>
                      </a:lnTo>
                      <a:lnTo>
                        <a:pt x="159" y="7"/>
                      </a:lnTo>
                      <a:lnTo>
                        <a:pt x="161" y="8"/>
                      </a:lnTo>
                      <a:lnTo>
                        <a:pt x="162" y="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57" name="Freeform 2294"/>
                <p:cNvSpPr>
                  <a:spLocks noChangeAspect="1"/>
                </p:cNvSpPr>
                <p:nvPr/>
              </p:nvSpPr>
              <p:spPr bwMode="auto">
                <a:xfrm>
                  <a:off x="5483" y="2217"/>
                  <a:ext cx="54" cy="54"/>
                </a:xfrm>
                <a:custGeom>
                  <a:avLst/>
                  <a:gdLst>
                    <a:gd name="T0" fmla="*/ 0 w 161"/>
                    <a:gd name="T1" fmla="*/ 0 h 163"/>
                    <a:gd name="T2" fmla="*/ 0 w 161"/>
                    <a:gd name="T3" fmla="*/ 0 h 163"/>
                    <a:gd name="T4" fmla="*/ 0 w 161"/>
                    <a:gd name="T5" fmla="*/ 0 h 163"/>
                    <a:gd name="T6" fmla="*/ 0 w 161"/>
                    <a:gd name="T7" fmla="*/ 0 h 163"/>
                    <a:gd name="T8" fmla="*/ 0 w 161"/>
                    <a:gd name="T9" fmla="*/ 0 h 163"/>
                    <a:gd name="T10" fmla="*/ 0 w 161"/>
                    <a:gd name="T11" fmla="*/ 0 h 163"/>
                    <a:gd name="T12" fmla="*/ 0 w 161"/>
                    <a:gd name="T13" fmla="*/ 0 h 163"/>
                    <a:gd name="T14" fmla="*/ 0 w 161"/>
                    <a:gd name="T15" fmla="*/ 0 h 163"/>
                    <a:gd name="T16" fmla="*/ 0 w 161"/>
                    <a:gd name="T17" fmla="*/ 0 h 163"/>
                    <a:gd name="T18" fmla="*/ 0 w 161"/>
                    <a:gd name="T19" fmla="*/ 0 h 163"/>
                    <a:gd name="T20" fmla="*/ 0 w 161"/>
                    <a:gd name="T21" fmla="*/ 0 h 163"/>
                    <a:gd name="T22" fmla="*/ 0 w 161"/>
                    <a:gd name="T23" fmla="*/ 0 h 163"/>
                    <a:gd name="T24" fmla="*/ 0 w 161"/>
                    <a:gd name="T25" fmla="*/ 0 h 163"/>
                    <a:gd name="T26" fmla="*/ 0 w 161"/>
                    <a:gd name="T27" fmla="*/ 0 h 163"/>
                    <a:gd name="T28" fmla="*/ 0 w 161"/>
                    <a:gd name="T29" fmla="*/ 0 h 163"/>
                    <a:gd name="T30" fmla="*/ 0 w 161"/>
                    <a:gd name="T31" fmla="*/ 0 h 163"/>
                    <a:gd name="T32" fmla="*/ 0 w 161"/>
                    <a:gd name="T33" fmla="*/ 0 h 163"/>
                    <a:gd name="T34" fmla="*/ 0 w 161"/>
                    <a:gd name="T35" fmla="*/ 0 h 163"/>
                    <a:gd name="T36" fmla="*/ 0 w 161"/>
                    <a:gd name="T37" fmla="*/ 0 h 16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1" h="163">
                      <a:moveTo>
                        <a:pt x="161" y="9"/>
                      </a:moveTo>
                      <a:lnTo>
                        <a:pt x="7" y="163"/>
                      </a:lnTo>
                      <a:lnTo>
                        <a:pt x="6" y="162"/>
                      </a:lnTo>
                      <a:lnTo>
                        <a:pt x="5" y="161"/>
                      </a:lnTo>
                      <a:lnTo>
                        <a:pt x="4" y="158"/>
                      </a:lnTo>
                      <a:lnTo>
                        <a:pt x="4" y="157"/>
                      </a:lnTo>
                      <a:lnTo>
                        <a:pt x="3" y="156"/>
                      </a:lnTo>
                      <a:lnTo>
                        <a:pt x="2" y="155"/>
                      </a:lnTo>
                      <a:lnTo>
                        <a:pt x="1" y="154"/>
                      </a:lnTo>
                      <a:lnTo>
                        <a:pt x="0" y="152"/>
                      </a:lnTo>
                      <a:lnTo>
                        <a:pt x="152" y="0"/>
                      </a:lnTo>
                      <a:lnTo>
                        <a:pt x="153" y="1"/>
                      </a:lnTo>
                      <a:lnTo>
                        <a:pt x="154" y="2"/>
                      </a:lnTo>
                      <a:lnTo>
                        <a:pt x="156" y="3"/>
                      </a:lnTo>
                      <a:lnTo>
                        <a:pt x="157" y="4"/>
                      </a:lnTo>
                      <a:lnTo>
                        <a:pt x="158" y="5"/>
                      </a:lnTo>
                      <a:lnTo>
                        <a:pt x="159" y="6"/>
                      </a:lnTo>
                      <a:lnTo>
                        <a:pt x="160" y="7"/>
                      </a:lnTo>
                      <a:lnTo>
                        <a:pt x="161" y="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58" name="Freeform 2295"/>
                <p:cNvSpPr>
                  <a:spLocks noChangeAspect="1"/>
                </p:cNvSpPr>
                <p:nvPr/>
              </p:nvSpPr>
              <p:spPr bwMode="auto">
                <a:xfrm>
                  <a:off x="5482" y="2216"/>
                  <a:ext cx="54" cy="53"/>
                </a:xfrm>
                <a:custGeom>
                  <a:avLst/>
                  <a:gdLst>
                    <a:gd name="T0" fmla="*/ 0 w 161"/>
                    <a:gd name="T1" fmla="*/ 0 h 160"/>
                    <a:gd name="T2" fmla="*/ 0 w 161"/>
                    <a:gd name="T3" fmla="*/ 0 h 160"/>
                    <a:gd name="T4" fmla="*/ 0 w 161"/>
                    <a:gd name="T5" fmla="*/ 0 h 160"/>
                    <a:gd name="T6" fmla="*/ 0 w 161"/>
                    <a:gd name="T7" fmla="*/ 0 h 160"/>
                    <a:gd name="T8" fmla="*/ 0 w 161"/>
                    <a:gd name="T9" fmla="*/ 0 h 160"/>
                    <a:gd name="T10" fmla="*/ 0 w 161"/>
                    <a:gd name="T11" fmla="*/ 0 h 160"/>
                    <a:gd name="T12" fmla="*/ 0 w 161"/>
                    <a:gd name="T13" fmla="*/ 0 h 160"/>
                    <a:gd name="T14" fmla="*/ 0 w 161"/>
                    <a:gd name="T15" fmla="*/ 0 h 160"/>
                    <a:gd name="T16" fmla="*/ 0 w 161"/>
                    <a:gd name="T17" fmla="*/ 0 h 160"/>
                    <a:gd name="T18" fmla="*/ 0 w 161"/>
                    <a:gd name="T19" fmla="*/ 0 h 160"/>
                    <a:gd name="T20" fmla="*/ 0 w 161"/>
                    <a:gd name="T21" fmla="*/ 0 h 160"/>
                    <a:gd name="T22" fmla="*/ 0 w 161"/>
                    <a:gd name="T23" fmla="*/ 0 h 160"/>
                    <a:gd name="T24" fmla="*/ 0 w 161"/>
                    <a:gd name="T25" fmla="*/ 0 h 160"/>
                    <a:gd name="T26" fmla="*/ 0 w 161"/>
                    <a:gd name="T27" fmla="*/ 0 h 160"/>
                    <a:gd name="T28" fmla="*/ 0 w 161"/>
                    <a:gd name="T29" fmla="*/ 0 h 160"/>
                    <a:gd name="T30" fmla="*/ 0 w 161"/>
                    <a:gd name="T31" fmla="*/ 0 h 160"/>
                    <a:gd name="T32" fmla="*/ 0 w 161"/>
                    <a:gd name="T33" fmla="*/ 0 h 160"/>
                    <a:gd name="T34" fmla="*/ 0 w 161"/>
                    <a:gd name="T35" fmla="*/ 0 h 160"/>
                    <a:gd name="T36" fmla="*/ 0 w 161"/>
                    <a:gd name="T37" fmla="*/ 0 h 16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1" h="160">
                      <a:moveTo>
                        <a:pt x="161" y="7"/>
                      </a:moveTo>
                      <a:lnTo>
                        <a:pt x="8" y="160"/>
                      </a:lnTo>
                      <a:lnTo>
                        <a:pt x="7" y="159"/>
                      </a:lnTo>
                      <a:lnTo>
                        <a:pt x="6" y="158"/>
                      </a:lnTo>
                      <a:lnTo>
                        <a:pt x="5" y="157"/>
                      </a:lnTo>
                      <a:lnTo>
                        <a:pt x="4" y="155"/>
                      </a:lnTo>
                      <a:lnTo>
                        <a:pt x="2" y="154"/>
                      </a:lnTo>
                      <a:lnTo>
                        <a:pt x="2" y="153"/>
                      </a:lnTo>
                      <a:lnTo>
                        <a:pt x="1" y="151"/>
                      </a:lnTo>
                      <a:lnTo>
                        <a:pt x="0" y="150"/>
                      </a:lnTo>
                      <a:lnTo>
                        <a:pt x="150" y="0"/>
                      </a:lnTo>
                      <a:lnTo>
                        <a:pt x="153" y="1"/>
                      </a:lnTo>
                      <a:lnTo>
                        <a:pt x="154" y="2"/>
                      </a:lnTo>
                      <a:lnTo>
                        <a:pt x="155" y="2"/>
                      </a:lnTo>
                      <a:lnTo>
                        <a:pt x="156" y="3"/>
                      </a:lnTo>
                      <a:lnTo>
                        <a:pt x="157" y="4"/>
                      </a:lnTo>
                      <a:lnTo>
                        <a:pt x="158" y="5"/>
                      </a:lnTo>
                      <a:lnTo>
                        <a:pt x="160" y="6"/>
                      </a:lnTo>
                      <a:lnTo>
                        <a:pt x="161" y="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59" name="Freeform 2296"/>
                <p:cNvSpPr>
                  <a:spLocks noChangeAspect="1"/>
                </p:cNvSpPr>
                <p:nvPr/>
              </p:nvSpPr>
              <p:spPr bwMode="auto">
                <a:xfrm>
                  <a:off x="5481" y="2215"/>
                  <a:ext cx="53" cy="52"/>
                </a:xfrm>
                <a:custGeom>
                  <a:avLst/>
                  <a:gdLst>
                    <a:gd name="T0" fmla="*/ 0 w 159"/>
                    <a:gd name="T1" fmla="*/ 0 h 158"/>
                    <a:gd name="T2" fmla="*/ 0 w 159"/>
                    <a:gd name="T3" fmla="*/ 0 h 158"/>
                    <a:gd name="T4" fmla="*/ 0 w 159"/>
                    <a:gd name="T5" fmla="*/ 0 h 158"/>
                    <a:gd name="T6" fmla="*/ 0 w 159"/>
                    <a:gd name="T7" fmla="*/ 0 h 158"/>
                    <a:gd name="T8" fmla="*/ 0 w 159"/>
                    <a:gd name="T9" fmla="*/ 0 h 158"/>
                    <a:gd name="T10" fmla="*/ 0 w 159"/>
                    <a:gd name="T11" fmla="*/ 0 h 158"/>
                    <a:gd name="T12" fmla="*/ 0 w 159"/>
                    <a:gd name="T13" fmla="*/ 0 h 158"/>
                    <a:gd name="T14" fmla="*/ 0 w 159"/>
                    <a:gd name="T15" fmla="*/ 0 h 158"/>
                    <a:gd name="T16" fmla="*/ 0 w 159"/>
                    <a:gd name="T17" fmla="*/ 0 h 158"/>
                    <a:gd name="T18" fmla="*/ 0 w 159"/>
                    <a:gd name="T19" fmla="*/ 0 h 158"/>
                    <a:gd name="T20" fmla="*/ 0 w 159"/>
                    <a:gd name="T21" fmla="*/ 0 h 158"/>
                    <a:gd name="T22" fmla="*/ 0 w 159"/>
                    <a:gd name="T23" fmla="*/ 0 h 158"/>
                    <a:gd name="T24" fmla="*/ 0 w 159"/>
                    <a:gd name="T25" fmla="*/ 0 h 158"/>
                    <a:gd name="T26" fmla="*/ 0 w 159"/>
                    <a:gd name="T27" fmla="*/ 0 h 158"/>
                    <a:gd name="T28" fmla="*/ 0 w 159"/>
                    <a:gd name="T29" fmla="*/ 0 h 158"/>
                    <a:gd name="T30" fmla="*/ 0 w 159"/>
                    <a:gd name="T31" fmla="*/ 0 h 158"/>
                    <a:gd name="T32" fmla="*/ 0 w 159"/>
                    <a:gd name="T33" fmla="*/ 0 h 158"/>
                    <a:gd name="T34" fmla="*/ 0 w 159"/>
                    <a:gd name="T35" fmla="*/ 0 h 158"/>
                    <a:gd name="T36" fmla="*/ 0 w 159"/>
                    <a:gd name="T37" fmla="*/ 0 h 15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9" h="158">
                      <a:moveTo>
                        <a:pt x="159" y="6"/>
                      </a:moveTo>
                      <a:lnTo>
                        <a:pt x="7" y="158"/>
                      </a:lnTo>
                      <a:lnTo>
                        <a:pt x="5" y="157"/>
                      </a:lnTo>
                      <a:lnTo>
                        <a:pt x="5" y="156"/>
                      </a:lnTo>
                      <a:lnTo>
                        <a:pt x="4" y="154"/>
                      </a:lnTo>
                      <a:lnTo>
                        <a:pt x="3" y="153"/>
                      </a:lnTo>
                      <a:lnTo>
                        <a:pt x="2" y="152"/>
                      </a:lnTo>
                      <a:lnTo>
                        <a:pt x="2" y="150"/>
                      </a:lnTo>
                      <a:lnTo>
                        <a:pt x="1" y="148"/>
                      </a:lnTo>
                      <a:lnTo>
                        <a:pt x="0" y="147"/>
                      </a:lnTo>
                      <a:lnTo>
                        <a:pt x="148" y="0"/>
                      </a:lnTo>
                      <a:lnTo>
                        <a:pt x="150" y="0"/>
                      </a:lnTo>
                      <a:lnTo>
                        <a:pt x="151" y="1"/>
                      </a:lnTo>
                      <a:lnTo>
                        <a:pt x="152" y="2"/>
                      </a:lnTo>
                      <a:lnTo>
                        <a:pt x="153" y="3"/>
                      </a:lnTo>
                      <a:lnTo>
                        <a:pt x="156" y="4"/>
                      </a:lnTo>
                      <a:lnTo>
                        <a:pt x="157" y="5"/>
                      </a:lnTo>
                      <a:lnTo>
                        <a:pt x="158" y="5"/>
                      </a:lnTo>
                      <a:lnTo>
                        <a:pt x="159" y="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60" name="Freeform 2297"/>
                <p:cNvSpPr>
                  <a:spLocks noChangeAspect="1"/>
                </p:cNvSpPr>
                <p:nvPr/>
              </p:nvSpPr>
              <p:spPr bwMode="auto">
                <a:xfrm>
                  <a:off x="5480" y="2213"/>
                  <a:ext cx="52" cy="53"/>
                </a:xfrm>
                <a:custGeom>
                  <a:avLst/>
                  <a:gdLst>
                    <a:gd name="T0" fmla="*/ 0 w 155"/>
                    <a:gd name="T1" fmla="*/ 0 h 157"/>
                    <a:gd name="T2" fmla="*/ 0 w 155"/>
                    <a:gd name="T3" fmla="*/ 0 h 157"/>
                    <a:gd name="T4" fmla="*/ 0 w 155"/>
                    <a:gd name="T5" fmla="*/ 0 h 157"/>
                    <a:gd name="T6" fmla="*/ 0 w 155"/>
                    <a:gd name="T7" fmla="*/ 0 h 157"/>
                    <a:gd name="T8" fmla="*/ 0 w 155"/>
                    <a:gd name="T9" fmla="*/ 0 h 157"/>
                    <a:gd name="T10" fmla="*/ 0 w 155"/>
                    <a:gd name="T11" fmla="*/ 0 h 157"/>
                    <a:gd name="T12" fmla="*/ 0 w 155"/>
                    <a:gd name="T13" fmla="*/ 0 h 157"/>
                    <a:gd name="T14" fmla="*/ 0 w 155"/>
                    <a:gd name="T15" fmla="*/ 0 h 157"/>
                    <a:gd name="T16" fmla="*/ 0 w 155"/>
                    <a:gd name="T17" fmla="*/ 0 h 157"/>
                    <a:gd name="T18" fmla="*/ 0 w 155"/>
                    <a:gd name="T19" fmla="*/ 0 h 157"/>
                    <a:gd name="T20" fmla="*/ 0 w 155"/>
                    <a:gd name="T21" fmla="*/ 0 h 157"/>
                    <a:gd name="T22" fmla="*/ 0 w 155"/>
                    <a:gd name="T23" fmla="*/ 0 h 157"/>
                    <a:gd name="T24" fmla="*/ 0 w 155"/>
                    <a:gd name="T25" fmla="*/ 0 h 157"/>
                    <a:gd name="T26" fmla="*/ 0 w 155"/>
                    <a:gd name="T27" fmla="*/ 0 h 157"/>
                    <a:gd name="T28" fmla="*/ 0 w 155"/>
                    <a:gd name="T29" fmla="*/ 0 h 157"/>
                    <a:gd name="T30" fmla="*/ 0 w 155"/>
                    <a:gd name="T31" fmla="*/ 0 h 157"/>
                    <a:gd name="T32" fmla="*/ 0 w 155"/>
                    <a:gd name="T33" fmla="*/ 0 h 157"/>
                    <a:gd name="T34" fmla="*/ 0 w 155"/>
                    <a:gd name="T35" fmla="*/ 0 h 157"/>
                    <a:gd name="T36" fmla="*/ 0 w 155"/>
                    <a:gd name="T37" fmla="*/ 0 h 1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5" h="157">
                      <a:moveTo>
                        <a:pt x="155" y="7"/>
                      </a:moveTo>
                      <a:lnTo>
                        <a:pt x="5" y="157"/>
                      </a:lnTo>
                      <a:lnTo>
                        <a:pt x="4" y="156"/>
                      </a:lnTo>
                      <a:lnTo>
                        <a:pt x="4" y="154"/>
                      </a:lnTo>
                      <a:lnTo>
                        <a:pt x="3" y="152"/>
                      </a:lnTo>
                      <a:lnTo>
                        <a:pt x="2" y="151"/>
                      </a:lnTo>
                      <a:lnTo>
                        <a:pt x="2" y="149"/>
                      </a:lnTo>
                      <a:lnTo>
                        <a:pt x="1" y="148"/>
                      </a:lnTo>
                      <a:lnTo>
                        <a:pt x="0" y="146"/>
                      </a:lnTo>
                      <a:lnTo>
                        <a:pt x="0" y="145"/>
                      </a:lnTo>
                      <a:lnTo>
                        <a:pt x="145" y="0"/>
                      </a:lnTo>
                      <a:lnTo>
                        <a:pt x="147" y="0"/>
                      </a:lnTo>
                      <a:lnTo>
                        <a:pt x="148" y="2"/>
                      </a:lnTo>
                      <a:lnTo>
                        <a:pt x="149" y="3"/>
                      </a:lnTo>
                      <a:lnTo>
                        <a:pt x="150" y="4"/>
                      </a:lnTo>
                      <a:lnTo>
                        <a:pt x="152" y="4"/>
                      </a:lnTo>
                      <a:lnTo>
                        <a:pt x="153" y="5"/>
                      </a:lnTo>
                      <a:lnTo>
                        <a:pt x="154" y="6"/>
                      </a:lnTo>
                      <a:lnTo>
                        <a:pt x="155" y="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61" name="Freeform 2298"/>
                <p:cNvSpPr>
                  <a:spLocks noChangeAspect="1"/>
                </p:cNvSpPr>
                <p:nvPr/>
              </p:nvSpPr>
              <p:spPr bwMode="auto">
                <a:xfrm>
                  <a:off x="5480" y="2212"/>
                  <a:ext cx="50" cy="52"/>
                </a:xfrm>
                <a:custGeom>
                  <a:avLst/>
                  <a:gdLst>
                    <a:gd name="T0" fmla="*/ 0 w 152"/>
                    <a:gd name="T1" fmla="*/ 0 h 154"/>
                    <a:gd name="T2" fmla="*/ 0 w 152"/>
                    <a:gd name="T3" fmla="*/ 0 h 154"/>
                    <a:gd name="T4" fmla="*/ 0 w 152"/>
                    <a:gd name="T5" fmla="*/ 0 h 154"/>
                    <a:gd name="T6" fmla="*/ 0 w 152"/>
                    <a:gd name="T7" fmla="*/ 0 h 154"/>
                    <a:gd name="T8" fmla="*/ 0 w 152"/>
                    <a:gd name="T9" fmla="*/ 0 h 154"/>
                    <a:gd name="T10" fmla="*/ 0 w 152"/>
                    <a:gd name="T11" fmla="*/ 0 h 154"/>
                    <a:gd name="T12" fmla="*/ 0 w 152"/>
                    <a:gd name="T13" fmla="*/ 0 h 154"/>
                    <a:gd name="T14" fmla="*/ 0 w 152"/>
                    <a:gd name="T15" fmla="*/ 0 h 154"/>
                    <a:gd name="T16" fmla="*/ 0 w 152"/>
                    <a:gd name="T17" fmla="*/ 0 h 154"/>
                    <a:gd name="T18" fmla="*/ 0 w 152"/>
                    <a:gd name="T19" fmla="*/ 0 h 154"/>
                    <a:gd name="T20" fmla="*/ 0 w 152"/>
                    <a:gd name="T21" fmla="*/ 0 h 154"/>
                    <a:gd name="T22" fmla="*/ 0 w 152"/>
                    <a:gd name="T23" fmla="*/ 0 h 154"/>
                    <a:gd name="T24" fmla="*/ 0 w 152"/>
                    <a:gd name="T25" fmla="*/ 0 h 154"/>
                    <a:gd name="T26" fmla="*/ 0 w 152"/>
                    <a:gd name="T27" fmla="*/ 0 h 154"/>
                    <a:gd name="T28" fmla="*/ 0 w 152"/>
                    <a:gd name="T29" fmla="*/ 0 h 154"/>
                    <a:gd name="T30" fmla="*/ 0 w 152"/>
                    <a:gd name="T31" fmla="*/ 0 h 154"/>
                    <a:gd name="T32" fmla="*/ 0 w 152"/>
                    <a:gd name="T33" fmla="*/ 0 h 154"/>
                    <a:gd name="T34" fmla="*/ 0 w 152"/>
                    <a:gd name="T35" fmla="*/ 0 h 154"/>
                    <a:gd name="T36" fmla="*/ 0 w 152"/>
                    <a:gd name="T37" fmla="*/ 0 h 15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2" h="154">
                      <a:moveTo>
                        <a:pt x="152" y="7"/>
                      </a:moveTo>
                      <a:lnTo>
                        <a:pt x="4" y="154"/>
                      </a:lnTo>
                      <a:lnTo>
                        <a:pt x="4" y="152"/>
                      </a:lnTo>
                      <a:lnTo>
                        <a:pt x="3" y="151"/>
                      </a:lnTo>
                      <a:lnTo>
                        <a:pt x="2" y="149"/>
                      </a:lnTo>
                      <a:lnTo>
                        <a:pt x="2" y="148"/>
                      </a:lnTo>
                      <a:lnTo>
                        <a:pt x="1" y="147"/>
                      </a:lnTo>
                      <a:lnTo>
                        <a:pt x="1" y="145"/>
                      </a:lnTo>
                      <a:lnTo>
                        <a:pt x="0" y="144"/>
                      </a:lnTo>
                      <a:lnTo>
                        <a:pt x="0" y="142"/>
                      </a:lnTo>
                      <a:lnTo>
                        <a:pt x="141" y="0"/>
                      </a:lnTo>
                      <a:lnTo>
                        <a:pt x="143" y="1"/>
                      </a:lnTo>
                      <a:lnTo>
                        <a:pt x="145" y="1"/>
                      </a:lnTo>
                      <a:lnTo>
                        <a:pt x="146" y="2"/>
                      </a:lnTo>
                      <a:lnTo>
                        <a:pt x="147" y="3"/>
                      </a:lnTo>
                      <a:lnTo>
                        <a:pt x="149" y="3"/>
                      </a:lnTo>
                      <a:lnTo>
                        <a:pt x="150" y="5"/>
                      </a:lnTo>
                      <a:lnTo>
                        <a:pt x="151" y="6"/>
                      </a:lnTo>
                      <a:lnTo>
                        <a:pt x="152" y="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62" name="Freeform 2299"/>
                <p:cNvSpPr>
                  <a:spLocks noChangeAspect="1"/>
                </p:cNvSpPr>
                <p:nvPr/>
              </p:nvSpPr>
              <p:spPr bwMode="auto">
                <a:xfrm>
                  <a:off x="5479" y="2211"/>
                  <a:ext cx="50" cy="51"/>
                </a:xfrm>
                <a:custGeom>
                  <a:avLst/>
                  <a:gdLst>
                    <a:gd name="T0" fmla="*/ 0 w 149"/>
                    <a:gd name="T1" fmla="*/ 0 h 151"/>
                    <a:gd name="T2" fmla="*/ 0 w 149"/>
                    <a:gd name="T3" fmla="*/ 0 h 151"/>
                    <a:gd name="T4" fmla="*/ 0 w 149"/>
                    <a:gd name="T5" fmla="*/ 0 h 151"/>
                    <a:gd name="T6" fmla="*/ 0 w 149"/>
                    <a:gd name="T7" fmla="*/ 0 h 151"/>
                    <a:gd name="T8" fmla="*/ 0 w 149"/>
                    <a:gd name="T9" fmla="*/ 0 h 151"/>
                    <a:gd name="T10" fmla="*/ 0 w 149"/>
                    <a:gd name="T11" fmla="*/ 0 h 151"/>
                    <a:gd name="T12" fmla="*/ 0 w 149"/>
                    <a:gd name="T13" fmla="*/ 0 h 151"/>
                    <a:gd name="T14" fmla="*/ 0 w 149"/>
                    <a:gd name="T15" fmla="*/ 0 h 151"/>
                    <a:gd name="T16" fmla="*/ 0 w 149"/>
                    <a:gd name="T17" fmla="*/ 0 h 151"/>
                    <a:gd name="T18" fmla="*/ 0 w 149"/>
                    <a:gd name="T19" fmla="*/ 0 h 151"/>
                    <a:gd name="T20" fmla="*/ 0 w 149"/>
                    <a:gd name="T21" fmla="*/ 0 h 151"/>
                    <a:gd name="T22" fmla="*/ 0 w 149"/>
                    <a:gd name="T23" fmla="*/ 0 h 151"/>
                    <a:gd name="T24" fmla="*/ 0 w 149"/>
                    <a:gd name="T25" fmla="*/ 0 h 151"/>
                    <a:gd name="T26" fmla="*/ 0 w 149"/>
                    <a:gd name="T27" fmla="*/ 0 h 151"/>
                    <a:gd name="T28" fmla="*/ 0 w 149"/>
                    <a:gd name="T29" fmla="*/ 0 h 151"/>
                    <a:gd name="T30" fmla="*/ 0 w 149"/>
                    <a:gd name="T31" fmla="*/ 0 h 151"/>
                    <a:gd name="T32" fmla="*/ 0 w 149"/>
                    <a:gd name="T33" fmla="*/ 0 h 151"/>
                    <a:gd name="T34" fmla="*/ 0 w 149"/>
                    <a:gd name="T35" fmla="*/ 0 h 151"/>
                    <a:gd name="T36" fmla="*/ 0 w 149"/>
                    <a:gd name="T37" fmla="*/ 0 h 1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9" h="151">
                      <a:moveTo>
                        <a:pt x="149" y="6"/>
                      </a:moveTo>
                      <a:lnTo>
                        <a:pt x="4" y="151"/>
                      </a:lnTo>
                      <a:lnTo>
                        <a:pt x="3" y="150"/>
                      </a:lnTo>
                      <a:lnTo>
                        <a:pt x="3" y="148"/>
                      </a:lnTo>
                      <a:lnTo>
                        <a:pt x="2" y="147"/>
                      </a:lnTo>
                      <a:lnTo>
                        <a:pt x="2" y="145"/>
                      </a:lnTo>
                      <a:lnTo>
                        <a:pt x="1" y="144"/>
                      </a:lnTo>
                      <a:lnTo>
                        <a:pt x="1" y="141"/>
                      </a:lnTo>
                      <a:lnTo>
                        <a:pt x="0" y="139"/>
                      </a:lnTo>
                      <a:lnTo>
                        <a:pt x="0" y="138"/>
                      </a:lnTo>
                      <a:lnTo>
                        <a:pt x="137" y="0"/>
                      </a:lnTo>
                      <a:lnTo>
                        <a:pt x="138" y="1"/>
                      </a:lnTo>
                      <a:lnTo>
                        <a:pt x="140" y="2"/>
                      </a:lnTo>
                      <a:lnTo>
                        <a:pt x="141" y="2"/>
                      </a:lnTo>
                      <a:lnTo>
                        <a:pt x="143" y="3"/>
                      </a:lnTo>
                      <a:lnTo>
                        <a:pt x="145" y="4"/>
                      </a:lnTo>
                      <a:lnTo>
                        <a:pt x="147" y="4"/>
                      </a:lnTo>
                      <a:lnTo>
                        <a:pt x="148" y="5"/>
                      </a:lnTo>
                      <a:lnTo>
                        <a:pt x="149" y="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63" name="Freeform 2300"/>
                <p:cNvSpPr>
                  <a:spLocks noChangeAspect="1"/>
                </p:cNvSpPr>
                <p:nvPr/>
              </p:nvSpPr>
              <p:spPr bwMode="auto">
                <a:xfrm>
                  <a:off x="5478" y="2211"/>
                  <a:ext cx="49" cy="49"/>
                </a:xfrm>
                <a:custGeom>
                  <a:avLst/>
                  <a:gdLst>
                    <a:gd name="T0" fmla="*/ 0 w 145"/>
                    <a:gd name="T1" fmla="*/ 0 h 147"/>
                    <a:gd name="T2" fmla="*/ 0 w 145"/>
                    <a:gd name="T3" fmla="*/ 0 h 147"/>
                    <a:gd name="T4" fmla="*/ 0 w 145"/>
                    <a:gd name="T5" fmla="*/ 0 h 147"/>
                    <a:gd name="T6" fmla="*/ 0 w 145"/>
                    <a:gd name="T7" fmla="*/ 0 h 147"/>
                    <a:gd name="T8" fmla="*/ 0 w 145"/>
                    <a:gd name="T9" fmla="*/ 0 h 147"/>
                    <a:gd name="T10" fmla="*/ 0 w 145"/>
                    <a:gd name="T11" fmla="*/ 0 h 147"/>
                    <a:gd name="T12" fmla="*/ 0 w 145"/>
                    <a:gd name="T13" fmla="*/ 0 h 147"/>
                    <a:gd name="T14" fmla="*/ 0 w 145"/>
                    <a:gd name="T15" fmla="*/ 0 h 147"/>
                    <a:gd name="T16" fmla="*/ 0 w 145"/>
                    <a:gd name="T17" fmla="*/ 0 h 147"/>
                    <a:gd name="T18" fmla="*/ 0 w 145"/>
                    <a:gd name="T19" fmla="*/ 0 h 147"/>
                    <a:gd name="T20" fmla="*/ 0 w 145"/>
                    <a:gd name="T21" fmla="*/ 0 h 147"/>
                    <a:gd name="T22" fmla="*/ 0 w 145"/>
                    <a:gd name="T23" fmla="*/ 0 h 147"/>
                    <a:gd name="T24" fmla="*/ 0 w 145"/>
                    <a:gd name="T25" fmla="*/ 0 h 147"/>
                    <a:gd name="T26" fmla="*/ 0 w 145"/>
                    <a:gd name="T27" fmla="*/ 0 h 147"/>
                    <a:gd name="T28" fmla="*/ 0 w 145"/>
                    <a:gd name="T29" fmla="*/ 0 h 147"/>
                    <a:gd name="T30" fmla="*/ 0 w 145"/>
                    <a:gd name="T31" fmla="*/ 0 h 147"/>
                    <a:gd name="T32" fmla="*/ 0 w 145"/>
                    <a:gd name="T33" fmla="*/ 0 h 147"/>
                    <a:gd name="T34" fmla="*/ 0 w 145"/>
                    <a:gd name="T35" fmla="*/ 0 h 147"/>
                    <a:gd name="T36" fmla="*/ 0 w 145"/>
                    <a:gd name="T37" fmla="*/ 0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5" h="147">
                      <a:moveTo>
                        <a:pt x="145" y="5"/>
                      </a:moveTo>
                      <a:lnTo>
                        <a:pt x="4" y="147"/>
                      </a:lnTo>
                      <a:lnTo>
                        <a:pt x="3" y="146"/>
                      </a:lnTo>
                      <a:lnTo>
                        <a:pt x="2" y="143"/>
                      </a:lnTo>
                      <a:lnTo>
                        <a:pt x="2" y="141"/>
                      </a:lnTo>
                      <a:lnTo>
                        <a:pt x="2" y="140"/>
                      </a:lnTo>
                      <a:lnTo>
                        <a:pt x="1" y="138"/>
                      </a:lnTo>
                      <a:lnTo>
                        <a:pt x="1" y="137"/>
                      </a:lnTo>
                      <a:lnTo>
                        <a:pt x="0" y="135"/>
                      </a:lnTo>
                      <a:lnTo>
                        <a:pt x="0" y="133"/>
                      </a:lnTo>
                      <a:lnTo>
                        <a:pt x="133" y="0"/>
                      </a:lnTo>
                      <a:lnTo>
                        <a:pt x="134" y="1"/>
                      </a:lnTo>
                      <a:lnTo>
                        <a:pt x="136" y="1"/>
                      </a:lnTo>
                      <a:lnTo>
                        <a:pt x="137" y="2"/>
                      </a:lnTo>
                      <a:lnTo>
                        <a:pt x="139" y="2"/>
                      </a:lnTo>
                      <a:lnTo>
                        <a:pt x="140" y="3"/>
                      </a:lnTo>
                      <a:lnTo>
                        <a:pt x="142" y="4"/>
                      </a:lnTo>
                      <a:lnTo>
                        <a:pt x="143" y="4"/>
                      </a:lnTo>
                      <a:lnTo>
                        <a:pt x="145" y="5"/>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64" name="Freeform 2301"/>
                <p:cNvSpPr>
                  <a:spLocks noChangeAspect="1"/>
                </p:cNvSpPr>
                <p:nvPr/>
              </p:nvSpPr>
              <p:spPr bwMode="auto">
                <a:xfrm>
                  <a:off x="5478" y="2210"/>
                  <a:ext cx="47" cy="47"/>
                </a:xfrm>
                <a:custGeom>
                  <a:avLst/>
                  <a:gdLst>
                    <a:gd name="T0" fmla="*/ 0 w 140"/>
                    <a:gd name="T1" fmla="*/ 0 h 141"/>
                    <a:gd name="T2" fmla="*/ 0 w 140"/>
                    <a:gd name="T3" fmla="*/ 0 h 141"/>
                    <a:gd name="T4" fmla="*/ 0 w 140"/>
                    <a:gd name="T5" fmla="*/ 0 h 141"/>
                    <a:gd name="T6" fmla="*/ 0 w 140"/>
                    <a:gd name="T7" fmla="*/ 0 h 141"/>
                    <a:gd name="T8" fmla="*/ 0 w 140"/>
                    <a:gd name="T9" fmla="*/ 0 h 141"/>
                    <a:gd name="T10" fmla="*/ 0 w 140"/>
                    <a:gd name="T11" fmla="*/ 0 h 141"/>
                    <a:gd name="T12" fmla="*/ 0 w 140"/>
                    <a:gd name="T13" fmla="*/ 0 h 141"/>
                    <a:gd name="T14" fmla="*/ 0 w 140"/>
                    <a:gd name="T15" fmla="*/ 0 h 141"/>
                    <a:gd name="T16" fmla="*/ 0 w 140"/>
                    <a:gd name="T17" fmla="*/ 0 h 141"/>
                    <a:gd name="T18" fmla="*/ 0 w 140"/>
                    <a:gd name="T19" fmla="*/ 0 h 141"/>
                    <a:gd name="T20" fmla="*/ 0 w 140"/>
                    <a:gd name="T21" fmla="*/ 0 h 141"/>
                    <a:gd name="T22" fmla="*/ 0 w 140"/>
                    <a:gd name="T23" fmla="*/ 0 h 141"/>
                    <a:gd name="T24" fmla="*/ 0 w 140"/>
                    <a:gd name="T25" fmla="*/ 0 h 141"/>
                    <a:gd name="T26" fmla="*/ 0 w 140"/>
                    <a:gd name="T27" fmla="*/ 0 h 141"/>
                    <a:gd name="T28" fmla="*/ 0 w 140"/>
                    <a:gd name="T29" fmla="*/ 0 h 141"/>
                    <a:gd name="T30" fmla="*/ 0 w 140"/>
                    <a:gd name="T31" fmla="*/ 0 h 141"/>
                    <a:gd name="T32" fmla="*/ 0 w 140"/>
                    <a:gd name="T33" fmla="*/ 0 h 141"/>
                    <a:gd name="T34" fmla="*/ 0 w 140"/>
                    <a:gd name="T35" fmla="*/ 0 h 141"/>
                    <a:gd name="T36" fmla="*/ 0 w 140"/>
                    <a:gd name="T37" fmla="*/ 0 h 1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0" h="141">
                      <a:moveTo>
                        <a:pt x="140" y="3"/>
                      </a:moveTo>
                      <a:lnTo>
                        <a:pt x="3" y="141"/>
                      </a:lnTo>
                      <a:lnTo>
                        <a:pt x="2" y="139"/>
                      </a:lnTo>
                      <a:lnTo>
                        <a:pt x="2" y="138"/>
                      </a:lnTo>
                      <a:lnTo>
                        <a:pt x="1" y="136"/>
                      </a:lnTo>
                      <a:lnTo>
                        <a:pt x="1" y="134"/>
                      </a:lnTo>
                      <a:lnTo>
                        <a:pt x="1" y="133"/>
                      </a:lnTo>
                      <a:lnTo>
                        <a:pt x="0" y="131"/>
                      </a:lnTo>
                      <a:lnTo>
                        <a:pt x="0" y="129"/>
                      </a:lnTo>
                      <a:lnTo>
                        <a:pt x="0" y="126"/>
                      </a:lnTo>
                      <a:lnTo>
                        <a:pt x="126" y="0"/>
                      </a:lnTo>
                      <a:lnTo>
                        <a:pt x="128" y="0"/>
                      </a:lnTo>
                      <a:lnTo>
                        <a:pt x="130" y="0"/>
                      </a:lnTo>
                      <a:lnTo>
                        <a:pt x="132" y="1"/>
                      </a:lnTo>
                      <a:lnTo>
                        <a:pt x="134" y="1"/>
                      </a:lnTo>
                      <a:lnTo>
                        <a:pt x="135" y="2"/>
                      </a:lnTo>
                      <a:lnTo>
                        <a:pt x="137" y="2"/>
                      </a:lnTo>
                      <a:lnTo>
                        <a:pt x="138" y="3"/>
                      </a:lnTo>
                      <a:lnTo>
                        <a:pt x="140" y="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65" name="Freeform 2302"/>
                <p:cNvSpPr>
                  <a:spLocks noChangeAspect="1"/>
                </p:cNvSpPr>
                <p:nvPr/>
              </p:nvSpPr>
              <p:spPr bwMode="auto">
                <a:xfrm>
                  <a:off x="5478" y="2210"/>
                  <a:ext cx="45" cy="45"/>
                </a:xfrm>
                <a:custGeom>
                  <a:avLst/>
                  <a:gdLst>
                    <a:gd name="T0" fmla="*/ 0 w 135"/>
                    <a:gd name="T1" fmla="*/ 0 h 136"/>
                    <a:gd name="T2" fmla="*/ 0 w 135"/>
                    <a:gd name="T3" fmla="*/ 0 h 136"/>
                    <a:gd name="T4" fmla="*/ 0 w 135"/>
                    <a:gd name="T5" fmla="*/ 0 h 136"/>
                    <a:gd name="T6" fmla="*/ 0 w 135"/>
                    <a:gd name="T7" fmla="*/ 0 h 136"/>
                    <a:gd name="T8" fmla="*/ 0 w 135"/>
                    <a:gd name="T9" fmla="*/ 0 h 136"/>
                    <a:gd name="T10" fmla="*/ 0 w 135"/>
                    <a:gd name="T11" fmla="*/ 0 h 136"/>
                    <a:gd name="T12" fmla="*/ 0 w 135"/>
                    <a:gd name="T13" fmla="*/ 0 h 136"/>
                    <a:gd name="T14" fmla="*/ 0 w 135"/>
                    <a:gd name="T15" fmla="*/ 0 h 136"/>
                    <a:gd name="T16" fmla="*/ 0 w 135"/>
                    <a:gd name="T17" fmla="*/ 0 h 136"/>
                    <a:gd name="T18" fmla="*/ 0 w 135"/>
                    <a:gd name="T19" fmla="*/ 0 h 136"/>
                    <a:gd name="T20" fmla="*/ 0 w 135"/>
                    <a:gd name="T21" fmla="*/ 0 h 136"/>
                    <a:gd name="T22" fmla="*/ 0 w 135"/>
                    <a:gd name="T23" fmla="*/ 0 h 136"/>
                    <a:gd name="T24" fmla="*/ 0 w 135"/>
                    <a:gd name="T25" fmla="*/ 0 h 136"/>
                    <a:gd name="T26" fmla="*/ 0 w 135"/>
                    <a:gd name="T27" fmla="*/ 0 h 136"/>
                    <a:gd name="T28" fmla="*/ 0 w 135"/>
                    <a:gd name="T29" fmla="*/ 0 h 136"/>
                    <a:gd name="T30" fmla="*/ 0 w 135"/>
                    <a:gd name="T31" fmla="*/ 0 h 136"/>
                    <a:gd name="T32" fmla="*/ 0 w 135"/>
                    <a:gd name="T33" fmla="*/ 0 h 136"/>
                    <a:gd name="T34" fmla="*/ 0 w 135"/>
                    <a:gd name="T35" fmla="*/ 0 h 136"/>
                    <a:gd name="T36" fmla="*/ 0 w 135"/>
                    <a:gd name="T37" fmla="*/ 0 h 1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35" h="136">
                      <a:moveTo>
                        <a:pt x="135" y="3"/>
                      </a:moveTo>
                      <a:lnTo>
                        <a:pt x="2" y="136"/>
                      </a:lnTo>
                      <a:lnTo>
                        <a:pt x="2" y="135"/>
                      </a:lnTo>
                      <a:lnTo>
                        <a:pt x="1" y="133"/>
                      </a:lnTo>
                      <a:lnTo>
                        <a:pt x="1" y="131"/>
                      </a:lnTo>
                      <a:lnTo>
                        <a:pt x="1" y="128"/>
                      </a:lnTo>
                      <a:lnTo>
                        <a:pt x="0" y="126"/>
                      </a:lnTo>
                      <a:lnTo>
                        <a:pt x="0" y="125"/>
                      </a:lnTo>
                      <a:lnTo>
                        <a:pt x="0" y="123"/>
                      </a:lnTo>
                      <a:lnTo>
                        <a:pt x="0" y="121"/>
                      </a:lnTo>
                      <a:lnTo>
                        <a:pt x="120" y="0"/>
                      </a:lnTo>
                      <a:lnTo>
                        <a:pt x="122" y="1"/>
                      </a:lnTo>
                      <a:lnTo>
                        <a:pt x="124" y="1"/>
                      </a:lnTo>
                      <a:lnTo>
                        <a:pt x="126" y="1"/>
                      </a:lnTo>
                      <a:lnTo>
                        <a:pt x="127" y="2"/>
                      </a:lnTo>
                      <a:lnTo>
                        <a:pt x="129" y="2"/>
                      </a:lnTo>
                      <a:lnTo>
                        <a:pt x="131" y="2"/>
                      </a:lnTo>
                      <a:lnTo>
                        <a:pt x="133" y="3"/>
                      </a:lnTo>
                      <a:lnTo>
                        <a:pt x="135" y="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66" name="Freeform 2303"/>
                <p:cNvSpPr>
                  <a:spLocks noChangeAspect="1"/>
                </p:cNvSpPr>
                <p:nvPr/>
              </p:nvSpPr>
              <p:spPr bwMode="auto">
                <a:xfrm>
                  <a:off x="5477" y="2210"/>
                  <a:ext cx="43" cy="42"/>
                </a:xfrm>
                <a:custGeom>
                  <a:avLst/>
                  <a:gdLst>
                    <a:gd name="T0" fmla="*/ 0 w 129"/>
                    <a:gd name="T1" fmla="*/ 0 h 128"/>
                    <a:gd name="T2" fmla="*/ 0 w 129"/>
                    <a:gd name="T3" fmla="*/ 0 h 128"/>
                    <a:gd name="T4" fmla="*/ 0 w 129"/>
                    <a:gd name="T5" fmla="*/ 0 h 128"/>
                    <a:gd name="T6" fmla="*/ 0 w 129"/>
                    <a:gd name="T7" fmla="*/ 0 h 128"/>
                    <a:gd name="T8" fmla="*/ 0 w 129"/>
                    <a:gd name="T9" fmla="*/ 0 h 128"/>
                    <a:gd name="T10" fmla="*/ 0 w 129"/>
                    <a:gd name="T11" fmla="*/ 0 h 128"/>
                    <a:gd name="T12" fmla="*/ 0 w 129"/>
                    <a:gd name="T13" fmla="*/ 0 h 128"/>
                    <a:gd name="T14" fmla="*/ 0 w 129"/>
                    <a:gd name="T15" fmla="*/ 0 h 128"/>
                    <a:gd name="T16" fmla="*/ 0 w 129"/>
                    <a:gd name="T17" fmla="*/ 0 h 128"/>
                    <a:gd name="T18" fmla="*/ 0 w 129"/>
                    <a:gd name="T19" fmla="*/ 0 h 128"/>
                    <a:gd name="T20" fmla="*/ 0 w 129"/>
                    <a:gd name="T21" fmla="*/ 0 h 128"/>
                    <a:gd name="T22" fmla="*/ 0 w 129"/>
                    <a:gd name="T23" fmla="*/ 0 h 128"/>
                    <a:gd name="T24" fmla="*/ 0 w 129"/>
                    <a:gd name="T25" fmla="*/ 0 h 128"/>
                    <a:gd name="T26" fmla="*/ 0 w 129"/>
                    <a:gd name="T27" fmla="*/ 0 h 128"/>
                    <a:gd name="T28" fmla="*/ 0 w 129"/>
                    <a:gd name="T29" fmla="*/ 0 h 128"/>
                    <a:gd name="T30" fmla="*/ 0 w 129"/>
                    <a:gd name="T31" fmla="*/ 0 h 128"/>
                    <a:gd name="T32" fmla="*/ 0 w 129"/>
                    <a:gd name="T33" fmla="*/ 0 h 128"/>
                    <a:gd name="T34" fmla="*/ 0 w 129"/>
                    <a:gd name="T35" fmla="*/ 0 h 128"/>
                    <a:gd name="T36" fmla="*/ 0 w 129"/>
                    <a:gd name="T37" fmla="*/ 0 h 1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9" h="128">
                      <a:moveTo>
                        <a:pt x="129" y="2"/>
                      </a:moveTo>
                      <a:lnTo>
                        <a:pt x="3" y="128"/>
                      </a:lnTo>
                      <a:lnTo>
                        <a:pt x="2" y="126"/>
                      </a:lnTo>
                      <a:lnTo>
                        <a:pt x="2" y="125"/>
                      </a:lnTo>
                      <a:lnTo>
                        <a:pt x="2" y="123"/>
                      </a:lnTo>
                      <a:lnTo>
                        <a:pt x="2" y="121"/>
                      </a:lnTo>
                      <a:lnTo>
                        <a:pt x="2" y="119"/>
                      </a:lnTo>
                      <a:lnTo>
                        <a:pt x="2" y="117"/>
                      </a:lnTo>
                      <a:lnTo>
                        <a:pt x="0" y="115"/>
                      </a:lnTo>
                      <a:lnTo>
                        <a:pt x="0" y="112"/>
                      </a:lnTo>
                      <a:lnTo>
                        <a:pt x="114" y="0"/>
                      </a:lnTo>
                      <a:lnTo>
                        <a:pt x="116" y="0"/>
                      </a:lnTo>
                      <a:lnTo>
                        <a:pt x="119" y="0"/>
                      </a:lnTo>
                      <a:lnTo>
                        <a:pt x="120" y="0"/>
                      </a:lnTo>
                      <a:lnTo>
                        <a:pt x="122" y="0"/>
                      </a:lnTo>
                      <a:lnTo>
                        <a:pt x="124" y="1"/>
                      </a:lnTo>
                      <a:lnTo>
                        <a:pt x="126" y="1"/>
                      </a:lnTo>
                      <a:lnTo>
                        <a:pt x="128" y="1"/>
                      </a:lnTo>
                      <a:lnTo>
                        <a:pt x="129" y="2"/>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67" name="Freeform 2304"/>
                <p:cNvSpPr>
                  <a:spLocks noChangeAspect="1"/>
                </p:cNvSpPr>
                <p:nvPr/>
              </p:nvSpPr>
              <p:spPr bwMode="auto">
                <a:xfrm>
                  <a:off x="5477" y="2209"/>
                  <a:ext cx="41" cy="41"/>
                </a:xfrm>
                <a:custGeom>
                  <a:avLst/>
                  <a:gdLst>
                    <a:gd name="T0" fmla="*/ 0 w 122"/>
                    <a:gd name="T1" fmla="*/ 0 h 122"/>
                    <a:gd name="T2" fmla="*/ 0 w 122"/>
                    <a:gd name="T3" fmla="*/ 0 h 122"/>
                    <a:gd name="T4" fmla="*/ 0 w 122"/>
                    <a:gd name="T5" fmla="*/ 0 h 122"/>
                    <a:gd name="T6" fmla="*/ 0 w 122"/>
                    <a:gd name="T7" fmla="*/ 0 h 122"/>
                    <a:gd name="T8" fmla="*/ 0 w 122"/>
                    <a:gd name="T9" fmla="*/ 0 h 122"/>
                    <a:gd name="T10" fmla="*/ 0 w 122"/>
                    <a:gd name="T11" fmla="*/ 0 h 122"/>
                    <a:gd name="T12" fmla="*/ 0 w 122"/>
                    <a:gd name="T13" fmla="*/ 0 h 122"/>
                    <a:gd name="T14" fmla="*/ 0 w 122"/>
                    <a:gd name="T15" fmla="*/ 0 h 122"/>
                    <a:gd name="T16" fmla="*/ 0 w 122"/>
                    <a:gd name="T17" fmla="*/ 0 h 122"/>
                    <a:gd name="T18" fmla="*/ 0 w 122"/>
                    <a:gd name="T19" fmla="*/ 0 h 122"/>
                    <a:gd name="T20" fmla="*/ 0 w 122"/>
                    <a:gd name="T21" fmla="*/ 0 h 122"/>
                    <a:gd name="T22" fmla="*/ 0 w 122"/>
                    <a:gd name="T23" fmla="*/ 0 h 122"/>
                    <a:gd name="T24" fmla="*/ 0 w 122"/>
                    <a:gd name="T25" fmla="*/ 0 h 122"/>
                    <a:gd name="T26" fmla="*/ 0 w 122"/>
                    <a:gd name="T27" fmla="*/ 0 h 122"/>
                    <a:gd name="T28" fmla="*/ 0 w 122"/>
                    <a:gd name="T29" fmla="*/ 0 h 122"/>
                    <a:gd name="T30" fmla="*/ 0 w 122"/>
                    <a:gd name="T31" fmla="*/ 0 h 122"/>
                    <a:gd name="T32" fmla="*/ 0 w 122"/>
                    <a:gd name="T33" fmla="*/ 0 h 122"/>
                    <a:gd name="T34" fmla="*/ 0 w 122"/>
                    <a:gd name="T35" fmla="*/ 0 h 122"/>
                    <a:gd name="T36" fmla="*/ 0 w 122"/>
                    <a:gd name="T37" fmla="*/ 0 h 122"/>
                    <a:gd name="T38" fmla="*/ 0 w 122"/>
                    <a:gd name="T39" fmla="*/ 0 h 122"/>
                    <a:gd name="T40" fmla="*/ 0 w 122"/>
                    <a:gd name="T41" fmla="*/ 0 h 122"/>
                    <a:gd name="T42" fmla="*/ 0 w 122"/>
                    <a:gd name="T43" fmla="*/ 0 h 122"/>
                    <a:gd name="T44" fmla="*/ 0 w 122"/>
                    <a:gd name="T45" fmla="*/ 0 h 122"/>
                    <a:gd name="T46" fmla="*/ 0 w 122"/>
                    <a:gd name="T47" fmla="*/ 0 h 122"/>
                    <a:gd name="T48" fmla="*/ 0 w 122"/>
                    <a:gd name="T49" fmla="*/ 0 h 122"/>
                    <a:gd name="T50" fmla="*/ 0 w 122"/>
                    <a:gd name="T51" fmla="*/ 0 h 122"/>
                    <a:gd name="T52" fmla="*/ 0 w 122"/>
                    <a:gd name="T53" fmla="*/ 0 h 122"/>
                    <a:gd name="T54" fmla="*/ 0 w 122"/>
                    <a:gd name="T55" fmla="*/ 0 h 122"/>
                    <a:gd name="T56" fmla="*/ 0 w 122"/>
                    <a:gd name="T57" fmla="*/ 0 h 122"/>
                    <a:gd name="T58" fmla="*/ 0 w 122"/>
                    <a:gd name="T59" fmla="*/ 0 h 122"/>
                    <a:gd name="T60" fmla="*/ 0 w 122"/>
                    <a:gd name="T61" fmla="*/ 0 h 122"/>
                    <a:gd name="T62" fmla="*/ 0 w 122"/>
                    <a:gd name="T63" fmla="*/ 0 h 122"/>
                    <a:gd name="T64" fmla="*/ 0 w 122"/>
                    <a:gd name="T65" fmla="*/ 0 h 122"/>
                    <a:gd name="T66" fmla="*/ 0 w 122"/>
                    <a:gd name="T67" fmla="*/ 0 h 122"/>
                    <a:gd name="T68" fmla="*/ 0 w 122"/>
                    <a:gd name="T69" fmla="*/ 0 h 12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2" h="122">
                      <a:moveTo>
                        <a:pt x="122" y="1"/>
                      </a:moveTo>
                      <a:lnTo>
                        <a:pt x="2" y="122"/>
                      </a:lnTo>
                      <a:lnTo>
                        <a:pt x="2" y="121"/>
                      </a:lnTo>
                      <a:lnTo>
                        <a:pt x="2" y="120"/>
                      </a:lnTo>
                      <a:lnTo>
                        <a:pt x="2" y="119"/>
                      </a:lnTo>
                      <a:lnTo>
                        <a:pt x="2" y="117"/>
                      </a:lnTo>
                      <a:lnTo>
                        <a:pt x="0" y="116"/>
                      </a:lnTo>
                      <a:lnTo>
                        <a:pt x="0" y="115"/>
                      </a:lnTo>
                      <a:lnTo>
                        <a:pt x="0" y="113"/>
                      </a:lnTo>
                      <a:lnTo>
                        <a:pt x="0" y="112"/>
                      </a:lnTo>
                      <a:lnTo>
                        <a:pt x="0" y="111"/>
                      </a:lnTo>
                      <a:lnTo>
                        <a:pt x="0" y="110"/>
                      </a:lnTo>
                      <a:lnTo>
                        <a:pt x="0" y="109"/>
                      </a:lnTo>
                      <a:lnTo>
                        <a:pt x="0" y="108"/>
                      </a:lnTo>
                      <a:lnTo>
                        <a:pt x="2" y="107"/>
                      </a:lnTo>
                      <a:lnTo>
                        <a:pt x="2" y="106"/>
                      </a:lnTo>
                      <a:lnTo>
                        <a:pt x="2" y="105"/>
                      </a:lnTo>
                      <a:lnTo>
                        <a:pt x="106" y="0"/>
                      </a:lnTo>
                      <a:lnTo>
                        <a:pt x="107" y="0"/>
                      </a:lnTo>
                      <a:lnTo>
                        <a:pt x="109" y="0"/>
                      </a:lnTo>
                      <a:lnTo>
                        <a:pt x="111" y="0"/>
                      </a:lnTo>
                      <a:lnTo>
                        <a:pt x="113" y="0"/>
                      </a:lnTo>
                      <a:lnTo>
                        <a:pt x="114" y="1"/>
                      </a:lnTo>
                      <a:lnTo>
                        <a:pt x="116" y="1"/>
                      </a:lnTo>
                      <a:lnTo>
                        <a:pt x="119" y="1"/>
                      </a:lnTo>
                      <a:lnTo>
                        <a:pt x="121" y="1"/>
                      </a:lnTo>
                      <a:lnTo>
                        <a:pt x="122" y="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68" name="Freeform 2305"/>
                <p:cNvSpPr>
                  <a:spLocks noChangeAspect="1"/>
                </p:cNvSpPr>
                <p:nvPr/>
              </p:nvSpPr>
              <p:spPr bwMode="auto">
                <a:xfrm>
                  <a:off x="5477" y="2209"/>
                  <a:ext cx="38" cy="38"/>
                </a:xfrm>
                <a:custGeom>
                  <a:avLst/>
                  <a:gdLst>
                    <a:gd name="T0" fmla="*/ 0 w 114"/>
                    <a:gd name="T1" fmla="*/ 0 h 113"/>
                    <a:gd name="T2" fmla="*/ 0 w 114"/>
                    <a:gd name="T3" fmla="*/ 0 h 113"/>
                    <a:gd name="T4" fmla="*/ 0 w 114"/>
                    <a:gd name="T5" fmla="*/ 0 h 113"/>
                    <a:gd name="T6" fmla="*/ 0 w 114"/>
                    <a:gd name="T7" fmla="*/ 0 h 113"/>
                    <a:gd name="T8" fmla="*/ 0 w 114"/>
                    <a:gd name="T9" fmla="*/ 0 h 113"/>
                    <a:gd name="T10" fmla="*/ 0 w 114"/>
                    <a:gd name="T11" fmla="*/ 0 h 113"/>
                    <a:gd name="T12" fmla="*/ 0 w 114"/>
                    <a:gd name="T13" fmla="*/ 0 h 113"/>
                    <a:gd name="T14" fmla="*/ 0 w 114"/>
                    <a:gd name="T15" fmla="*/ 0 h 113"/>
                    <a:gd name="T16" fmla="*/ 0 w 114"/>
                    <a:gd name="T17" fmla="*/ 0 h 113"/>
                    <a:gd name="T18" fmla="*/ 0 w 114"/>
                    <a:gd name="T19" fmla="*/ 0 h 113"/>
                    <a:gd name="T20" fmla="*/ 0 w 114"/>
                    <a:gd name="T21" fmla="*/ 0 h 113"/>
                    <a:gd name="T22" fmla="*/ 0 w 114"/>
                    <a:gd name="T23" fmla="*/ 0 h 113"/>
                    <a:gd name="T24" fmla="*/ 0 w 114"/>
                    <a:gd name="T25" fmla="*/ 0 h 113"/>
                    <a:gd name="T26" fmla="*/ 0 w 114"/>
                    <a:gd name="T27" fmla="*/ 0 h 113"/>
                    <a:gd name="T28" fmla="*/ 0 w 114"/>
                    <a:gd name="T29" fmla="*/ 0 h 113"/>
                    <a:gd name="T30" fmla="*/ 0 w 114"/>
                    <a:gd name="T31" fmla="*/ 0 h 113"/>
                    <a:gd name="T32" fmla="*/ 0 w 114"/>
                    <a:gd name="T33" fmla="*/ 0 h 113"/>
                    <a:gd name="T34" fmla="*/ 0 w 114"/>
                    <a:gd name="T35" fmla="*/ 0 h 113"/>
                    <a:gd name="T36" fmla="*/ 0 w 114"/>
                    <a:gd name="T37" fmla="*/ 0 h 113"/>
                    <a:gd name="T38" fmla="*/ 0 w 114"/>
                    <a:gd name="T39" fmla="*/ 0 h 113"/>
                    <a:gd name="T40" fmla="*/ 0 w 114"/>
                    <a:gd name="T41" fmla="*/ 0 h 113"/>
                    <a:gd name="T42" fmla="*/ 0 w 114"/>
                    <a:gd name="T43" fmla="*/ 0 h 113"/>
                    <a:gd name="T44" fmla="*/ 0 w 114"/>
                    <a:gd name="T45" fmla="*/ 0 h 113"/>
                    <a:gd name="T46" fmla="*/ 0 w 114"/>
                    <a:gd name="T47" fmla="*/ 0 h 113"/>
                    <a:gd name="T48" fmla="*/ 0 w 114"/>
                    <a:gd name="T49" fmla="*/ 0 h 113"/>
                    <a:gd name="T50" fmla="*/ 0 w 114"/>
                    <a:gd name="T51" fmla="*/ 0 h 113"/>
                    <a:gd name="T52" fmla="*/ 0 w 114"/>
                    <a:gd name="T53" fmla="*/ 0 h 113"/>
                    <a:gd name="T54" fmla="*/ 0 w 114"/>
                    <a:gd name="T55" fmla="*/ 0 h 113"/>
                    <a:gd name="T56" fmla="*/ 0 w 114"/>
                    <a:gd name="T57" fmla="*/ 0 h 113"/>
                    <a:gd name="T58" fmla="*/ 0 w 114"/>
                    <a:gd name="T59" fmla="*/ 0 h 113"/>
                    <a:gd name="T60" fmla="*/ 0 w 114"/>
                    <a:gd name="T61" fmla="*/ 0 h 113"/>
                    <a:gd name="T62" fmla="*/ 0 w 114"/>
                    <a:gd name="T63" fmla="*/ 0 h 113"/>
                    <a:gd name="T64" fmla="*/ 0 w 114"/>
                    <a:gd name="T65" fmla="*/ 0 h 113"/>
                    <a:gd name="T66" fmla="*/ 0 w 114"/>
                    <a:gd name="T67" fmla="*/ 0 h 113"/>
                    <a:gd name="T68" fmla="*/ 0 w 114"/>
                    <a:gd name="T69" fmla="*/ 0 h 1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4" h="113">
                      <a:moveTo>
                        <a:pt x="114" y="1"/>
                      </a:moveTo>
                      <a:lnTo>
                        <a:pt x="0" y="113"/>
                      </a:lnTo>
                      <a:lnTo>
                        <a:pt x="0" y="112"/>
                      </a:lnTo>
                      <a:lnTo>
                        <a:pt x="0" y="110"/>
                      </a:lnTo>
                      <a:lnTo>
                        <a:pt x="2" y="108"/>
                      </a:lnTo>
                      <a:lnTo>
                        <a:pt x="2" y="106"/>
                      </a:lnTo>
                      <a:lnTo>
                        <a:pt x="2" y="104"/>
                      </a:lnTo>
                      <a:lnTo>
                        <a:pt x="2" y="102"/>
                      </a:lnTo>
                      <a:lnTo>
                        <a:pt x="2" y="100"/>
                      </a:lnTo>
                      <a:lnTo>
                        <a:pt x="2" y="98"/>
                      </a:lnTo>
                      <a:lnTo>
                        <a:pt x="3" y="95"/>
                      </a:lnTo>
                      <a:lnTo>
                        <a:pt x="96" y="1"/>
                      </a:lnTo>
                      <a:lnTo>
                        <a:pt x="98" y="1"/>
                      </a:lnTo>
                      <a:lnTo>
                        <a:pt x="99" y="1"/>
                      </a:lnTo>
                      <a:lnTo>
                        <a:pt x="101" y="1"/>
                      </a:lnTo>
                      <a:lnTo>
                        <a:pt x="102" y="0"/>
                      </a:lnTo>
                      <a:lnTo>
                        <a:pt x="104" y="0"/>
                      </a:lnTo>
                      <a:lnTo>
                        <a:pt x="105" y="0"/>
                      </a:lnTo>
                      <a:lnTo>
                        <a:pt x="106" y="0"/>
                      </a:lnTo>
                      <a:lnTo>
                        <a:pt x="107" y="0"/>
                      </a:lnTo>
                      <a:lnTo>
                        <a:pt x="108" y="0"/>
                      </a:lnTo>
                      <a:lnTo>
                        <a:pt x="109" y="0"/>
                      </a:lnTo>
                      <a:lnTo>
                        <a:pt x="110" y="0"/>
                      </a:lnTo>
                      <a:lnTo>
                        <a:pt x="111" y="0"/>
                      </a:lnTo>
                      <a:lnTo>
                        <a:pt x="112" y="0"/>
                      </a:lnTo>
                      <a:lnTo>
                        <a:pt x="113" y="0"/>
                      </a:lnTo>
                      <a:lnTo>
                        <a:pt x="114" y="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69" name="Freeform 2306"/>
                <p:cNvSpPr>
                  <a:spLocks noChangeAspect="1"/>
                </p:cNvSpPr>
                <p:nvPr/>
              </p:nvSpPr>
              <p:spPr bwMode="auto">
                <a:xfrm>
                  <a:off x="5478" y="2209"/>
                  <a:ext cx="34" cy="35"/>
                </a:xfrm>
                <a:custGeom>
                  <a:avLst/>
                  <a:gdLst>
                    <a:gd name="T0" fmla="*/ 0 w 104"/>
                    <a:gd name="T1" fmla="*/ 0 h 105"/>
                    <a:gd name="T2" fmla="*/ 0 w 104"/>
                    <a:gd name="T3" fmla="*/ 0 h 105"/>
                    <a:gd name="T4" fmla="*/ 0 w 104"/>
                    <a:gd name="T5" fmla="*/ 0 h 105"/>
                    <a:gd name="T6" fmla="*/ 0 w 104"/>
                    <a:gd name="T7" fmla="*/ 0 h 105"/>
                    <a:gd name="T8" fmla="*/ 0 w 104"/>
                    <a:gd name="T9" fmla="*/ 0 h 105"/>
                    <a:gd name="T10" fmla="*/ 0 w 104"/>
                    <a:gd name="T11" fmla="*/ 0 h 105"/>
                    <a:gd name="T12" fmla="*/ 0 w 104"/>
                    <a:gd name="T13" fmla="*/ 0 h 105"/>
                    <a:gd name="T14" fmla="*/ 0 w 104"/>
                    <a:gd name="T15" fmla="*/ 0 h 105"/>
                    <a:gd name="T16" fmla="*/ 0 w 104"/>
                    <a:gd name="T17" fmla="*/ 0 h 105"/>
                    <a:gd name="T18" fmla="*/ 0 w 104"/>
                    <a:gd name="T19" fmla="*/ 0 h 105"/>
                    <a:gd name="T20" fmla="*/ 0 w 104"/>
                    <a:gd name="T21" fmla="*/ 0 h 105"/>
                    <a:gd name="T22" fmla="*/ 0 w 104"/>
                    <a:gd name="T23" fmla="*/ 0 h 105"/>
                    <a:gd name="T24" fmla="*/ 0 w 104"/>
                    <a:gd name="T25" fmla="*/ 0 h 105"/>
                    <a:gd name="T26" fmla="*/ 0 w 104"/>
                    <a:gd name="T27" fmla="*/ 0 h 105"/>
                    <a:gd name="T28" fmla="*/ 0 w 104"/>
                    <a:gd name="T29" fmla="*/ 0 h 105"/>
                    <a:gd name="T30" fmla="*/ 0 w 104"/>
                    <a:gd name="T31" fmla="*/ 0 h 105"/>
                    <a:gd name="T32" fmla="*/ 0 w 104"/>
                    <a:gd name="T33" fmla="*/ 0 h 105"/>
                    <a:gd name="T34" fmla="*/ 0 w 104"/>
                    <a:gd name="T35" fmla="*/ 0 h 105"/>
                    <a:gd name="T36" fmla="*/ 0 w 104"/>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4" h="105">
                      <a:moveTo>
                        <a:pt x="104" y="0"/>
                      </a:moveTo>
                      <a:lnTo>
                        <a:pt x="0" y="105"/>
                      </a:lnTo>
                      <a:lnTo>
                        <a:pt x="0" y="102"/>
                      </a:lnTo>
                      <a:lnTo>
                        <a:pt x="0" y="100"/>
                      </a:lnTo>
                      <a:lnTo>
                        <a:pt x="0" y="96"/>
                      </a:lnTo>
                      <a:lnTo>
                        <a:pt x="1" y="94"/>
                      </a:lnTo>
                      <a:lnTo>
                        <a:pt x="1" y="91"/>
                      </a:lnTo>
                      <a:lnTo>
                        <a:pt x="2" y="89"/>
                      </a:lnTo>
                      <a:lnTo>
                        <a:pt x="2" y="87"/>
                      </a:lnTo>
                      <a:lnTo>
                        <a:pt x="3" y="84"/>
                      </a:lnTo>
                      <a:lnTo>
                        <a:pt x="85" y="2"/>
                      </a:lnTo>
                      <a:lnTo>
                        <a:pt x="87" y="2"/>
                      </a:lnTo>
                      <a:lnTo>
                        <a:pt x="89" y="2"/>
                      </a:lnTo>
                      <a:lnTo>
                        <a:pt x="91" y="1"/>
                      </a:lnTo>
                      <a:lnTo>
                        <a:pt x="94" y="1"/>
                      </a:lnTo>
                      <a:lnTo>
                        <a:pt x="96" y="1"/>
                      </a:lnTo>
                      <a:lnTo>
                        <a:pt x="99" y="1"/>
                      </a:lnTo>
                      <a:lnTo>
                        <a:pt x="102" y="0"/>
                      </a:lnTo>
                      <a:lnTo>
                        <a:pt x="104"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70" name="Freeform 2307"/>
                <p:cNvSpPr>
                  <a:spLocks noChangeAspect="1"/>
                </p:cNvSpPr>
                <p:nvPr/>
              </p:nvSpPr>
              <p:spPr bwMode="auto">
                <a:xfrm>
                  <a:off x="5478" y="2210"/>
                  <a:ext cx="31" cy="31"/>
                </a:xfrm>
                <a:custGeom>
                  <a:avLst/>
                  <a:gdLst>
                    <a:gd name="T0" fmla="*/ 0 w 93"/>
                    <a:gd name="T1" fmla="*/ 0 h 94"/>
                    <a:gd name="T2" fmla="*/ 0 w 93"/>
                    <a:gd name="T3" fmla="*/ 0 h 94"/>
                    <a:gd name="T4" fmla="*/ 0 w 93"/>
                    <a:gd name="T5" fmla="*/ 0 h 94"/>
                    <a:gd name="T6" fmla="*/ 0 w 93"/>
                    <a:gd name="T7" fmla="*/ 0 h 94"/>
                    <a:gd name="T8" fmla="*/ 0 w 93"/>
                    <a:gd name="T9" fmla="*/ 0 h 94"/>
                    <a:gd name="T10" fmla="*/ 0 w 93"/>
                    <a:gd name="T11" fmla="*/ 0 h 94"/>
                    <a:gd name="T12" fmla="*/ 0 w 93"/>
                    <a:gd name="T13" fmla="*/ 0 h 94"/>
                    <a:gd name="T14" fmla="*/ 0 w 93"/>
                    <a:gd name="T15" fmla="*/ 0 h 94"/>
                    <a:gd name="T16" fmla="*/ 0 w 93"/>
                    <a:gd name="T17" fmla="*/ 0 h 94"/>
                    <a:gd name="T18" fmla="*/ 0 w 93"/>
                    <a:gd name="T19" fmla="*/ 0 h 94"/>
                    <a:gd name="T20" fmla="*/ 0 w 93"/>
                    <a:gd name="T21" fmla="*/ 0 h 94"/>
                    <a:gd name="T22" fmla="*/ 0 w 93"/>
                    <a:gd name="T23" fmla="*/ 0 h 94"/>
                    <a:gd name="T24" fmla="*/ 0 w 93"/>
                    <a:gd name="T25" fmla="*/ 0 h 94"/>
                    <a:gd name="T26" fmla="*/ 0 w 93"/>
                    <a:gd name="T27" fmla="*/ 0 h 94"/>
                    <a:gd name="T28" fmla="*/ 0 w 93"/>
                    <a:gd name="T29" fmla="*/ 0 h 94"/>
                    <a:gd name="T30" fmla="*/ 0 w 93"/>
                    <a:gd name="T31" fmla="*/ 0 h 94"/>
                    <a:gd name="T32" fmla="*/ 0 w 93"/>
                    <a:gd name="T33" fmla="*/ 0 h 94"/>
                    <a:gd name="T34" fmla="*/ 0 w 93"/>
                    <a:gd name="T35" fmla="*/ 0 h 94"/>
                    <a:gd name="T36" fmla="*/ 0 w 93"/>
                    <a:gd name="T37" fmla="*/ 0 h 9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3" h="94">
                      <a:moveTo>
                        <a:pt x="93" y="0"/>
                      </a:moveTo>
                      <a:lnTo>
                        <a:pt x="0" y="94"/>
                      </a:lnTo>
                      <a:lnTo>
                        <a:pt x="0" y="91"/>
                      </a:lnTo>
                      <a:lnTo>
                        <a:pt x="1" y="88"/>
                      </a:lnTo>
                      <a:lnTo>
                        <a:pt x="1" y="85"/>
                      </a:lnTo>
                      <a:lnTo>
                        <a:pt x="2" y="82"/>
                      </a:lnTo>
                      <a:lnTo>
                        <a:pt x="3" y="78"/>
                      </a:lnTo>
                      <a:lnTo>
                        <a:pt x="3" y="76"/>
                      </a:lnTo>
                      <a:lnTo>
                        <a:pt x="4" y="73"/>
                      </a:lnTo>
                      <a:lnTo>
                        <a:pt x="5" y="70"/>
                      </a:lnTo>
                      <a:lnTo>
                        <a:pt x="71" y="5"/>
                      </a:lnTo>
                      <a:lnTo>
                        <a:pt x="74" y="4"/>
                      </a:lnTo>
                      <a:lnTo>
                        <a:pt x="76" y="3"/>
                      </a:lnTo>
                      <a:lnTo>
                        <a:pt x="79" y="2"/>
                      </a:lnTo>
                      <a:lnTo>
                        <a:pt x="82" y="2"/>
                      </a:lnTo>
                      <a:lnTo>
                        <a:pt x="85" y="1"/>
                      </a:lnTo>
                      <a:lnTo>
                        <a:pt x="88" y="1"/>
                      </a:lnTo>
                      <a:lnTo>
                        <a:pt x="91" y="0"/>
                      </a:lnTo>
                      <a:lnTo>
                        <a:pt x="93"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71" name="Freeform 2308"/>
                <p:cNvSpPr>
                  <a:spLocks noChangeAspect="1"/>
                </p:cNvSpPr>
                <p:nvPr/>
              </p:nvSpPr>
              <p:spPr bwMode="auto">
                <a:xfrm>
                  <a:off x="5479" y="2210"/>
                  <a:ext cx="27" cy="27"/>
                </a:xfrm>
                <a:custGeom>
                  <a:avLst/>
                  <a:gdLst>
                    <a:gd name="T0" fmla="*/ 0 w 82"/>
                    <a:gd name="T1" fmla="*/ 0 h 82"/>
                    <a:gd name="T2" fmla="*/ 0 w 82"/>
                    <a:gd name="T3" fmla="*/ 0 h 82"/>
                    <a:gd name="T4" fmla="*/ 0 w 82"/>
                    <a:gd name="T5" fmla="*/ 0 h 82"/>
                    <a:gd name="T6" fmla="*/ 0 w 82"/>
                    <a:gd name="T7" fmla="*/ 0 h 82"/>
                    <a:gd name="T8" fmla="*/ 0 w 82"/>
                    <a:gd name="T9" fmla="*/ 0 h 82"/>
                    <a:gd name="T10" fmla="*/ 0 w 82"/>
                    <a:gd name="T11" fmla="*/ 0 h 82"/>
                    <a:gd name="T12" fmla="*/ 0 w 82"/>
                    <a:gd name="T13" fmla="*/ 0 h 82"/>
                    <a:gd name="T14" fmla="*/ 0 w 82"/>
                    <a:gd name="T15" fmla="*/ 0 h 82"/>
                    <a:gd name="T16" fmla="*/ 0 w 82"/>
                    <a:gd name="T17" fmla="*/ 0 h 82"/>
                    <a:gd name="T18" fmla="*/ 0 w 82"/>
                    <a:gd name="T19" fmla="*/ 0 h 82"/>
                    <a:gd name="T20" fmla="*/ 0 w 82"/>
                    <a:gd name="T21" fmla="*/ 0 h 82"/>
                    <a:gd name="T22" fmla="*/ 0 w 82"/>
                    <a:gd name="T23" fmla="*/ 0 h 82"/>
                    <a:gd name="T24" fmla="*/ 0 w 82"/>
                    <a:gd name="T25" fmla="*/ 0 h 82"/>
                    <a:gd name="T26" fmla="*/ 0 w 82"/>
                    <a:gd name="T27" fmla="*/ 0 h 82"/>
                    <a:gd name="T28" fmla="*/ 0 w 82"/>
                    <a:gd name="T29" fmla="*/ 0 h 82"/>
                    <a:gd name="T30" fmla="*/ 0 w 82"/>
                    <a:gd name="T31" fmla="*/ 0 h 82"/>
                    <a:gd name="T32" fmla="*/ 0 w 82"/>
                    <a:gd name="T33" fmla="*/ 0 h 82"/>
                    <a:gd name="T34" fmla="*/ 0 w 82"/>
                    <a:gd name="T35" fmla="*/ 0 h 82"/>
                    <a:gd name="T36" fmla="*/ 0 w 82"/>
                    <a:gd name="T37" fmla="*/ 0 h 8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2" h="82">
                      <a:moveTo>
                        <a:pt x="82" y="0"/>
                      </a:moveTo>
                      <a:lnTo>
                        <a:pt x="0" y="82"/>
                      </a:lnTo>
                      <a:lnTo>
                        <a:pt x="1" y="79"/>
                      </a:lnTo>
                      <a:lnTo>
                        <a:pt x="2" y="74"/>
                      </a:lnTo>
                      <a:lnTo>
                        <a:pt x="3" y="71"/>
                      </a:lnTo>
                      <a:lnTo>
                        <a:pt x="4" y="67"/>
                      </a:lnTo>
                      <a:lnTo>
                        <a:pt x="6" y="64"/>
                      </a:lnTo>
                      <a:lnTo>
                        <a:pt x="7" y="60"/>
                      </a:lnTo>
                      <a:lnTo>
                        <a:pt x="9" y="56"/>
                      </a:lnTo>
                      <a:lnTo>
                        <a:pt x="10" y="53"/>
                      </a:lnTo>
                      <a:lnTo>
                        <a:pt x="53" y="10"/>
                      </a:lnTo>
                      <a:lnTo>
                        <a:pt x="56" y="9"/>
                      </a:lnTo>
                      <a:lnTo>
                        <a:pt x="59" y="7"/>
                      </a:lnTo>
                      <a:lnTo>
                        <a:pt x="64" y="6"/>
                      </a:lnTo>
                      <a:lnTo>
                        <a:pt x="67" y="4"/>
                      </a:lnTo>
                      <a:lnTo>
                        <a:pt x="70" y="3"/>
                      </a:lnTo>
                      <a:lnTo>
                        <a:pt x="74" y="2"/>
                      </a:lnTo>
                      <a:lnTo>
                        <a:pt x="77" y="1"/>
                      </a:lnTo>
                      <a:lnTo>
                        <a:pt x="82"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72" name="Freeform 2309"/>
                <p:cNvSpPr>
                  <a:spLocks noChangeAspect="1"/>
                </p:cNvSpPr>
                <p:nvPr/>
              </p:nvSpPr>
              <p:spPr bwMode="auto">
                <a:xfrm>
                  <a:off x="5480" y="2211"/>
                  <a:ext cx="22"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w 66"/>
                    <a:gd name="T15" fmla="*/ 0 h 65"/>
                    <a:gd name="T16" fmla="*/ 0 w 66"/>
                    <a:gd name="T17" fmla="*/ 0 h 65"/>
                    <a:gd name="T18" fmla="*/ 0 w 66"/>
                    <a:gd name="T19" fmla="*/ 0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 h="65">
                      <a:moveTo>
                        <a:pt x="66" y="0"/>
                      </a:moveTo>
                      <a:lnTo>
                        <a:pt x="0" y="65"/>
                      </a:lnTo>
                      <a:lnTo>
                        <a:pt x="5" y="54"/>
                      </a:lnTo>
                      <a:lnTo>
                        <a:pt x="12" y="44"/>
                      </a:lnTo>
                      <a:lnTo>
                        <a:pt x="18" y="34"/>
                      </a:lnTo>
                      <a:lnTo>
                        <a:pt x="27" y="25"/>
                      </a:lnTo>
                      <a:lnTo>
                        <a:pt x="35" y="17"/>
                      </a:lnTo>
                      <a:lnTo>
                        <a:pt x="45" y="10"/>
                      </a:lnTo>
                      <a:lnTo>
                        <a:pt x="55" y="4"/>
                      </a:lnTo>
                      <a:lnTo>
                        <a:pt x="66"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73" name="Freeform 2310"/>
                <p:cNvSpPr>
                  <a:spLocks noChangeAspect="1"/>
                </p:cNvSpPr>
                <p:nvPr/>
              </p:nvSpPr>
              <p:spPr bwMode="auto">
                <a:xfrm>
                  <a:off x="5482" y="2213"/>
                  <a:ext cx="14" cy="15"/>
                </a:xfrm>
                <a:custGeom>
                  <a:avLst/>
                  <a:gdLst>
                    <a:gd name="T0" fmla="*/ 0 w 43"/>
                    <a:gd name="T1" fmla="*/ 0 h 43"/>
                    <a:gd name="T2" fmla="*/ 0 w 43"/>
                    <a:gd name="T3" fmla="*/ 0 h 43"/>
                    <a:gd name="T4" fmla="*/ 0 w 43"/>
                    <a:gd name="T5" fmla="*/ 0 h 43"/>
                    <a:gd name="T6" fmla="*/ 0 w 43"/>
                    <a:gd name="T7" fmla="*/ 0 h 43"/>
                    <a:gd name="T8" fmla="*/ 0 w 43"/>
                    <a:gd name="T9" fmla="*/ 0 h 43"/>
                    <a:gd name="T10" fmla="*/ 0 w 43"/>
                    <a:gd name="T11" fmla="*/ 0 h 43"/>
                    <a:gd name="T12" fmla="*/ 0 w 43"/>
                    <a:gd name="T13" fmla="*/ 0 h 43"/>
                    <a:gd name="T14" fmla="*/ 0 w 43"/>
                    <a:gd name="T15" fmla="*/ 0 h 43"/>
                    <a:gd name="T16" fmla="*/ 0 w 43"/>
                    <a:gd name="T17" fmla="*/ 0 h 43"/>
                    <a:gd name="T18" fmla="*/ 0 w 43"/>
                    <a:gd name="T19" fmla="*/ 0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 h="43">
                      <a:moveTo>
                        <a:pt x="43" y="0"/>
                      </a:moveTo>
                      <a:lnTo>
                        <a:pt x="0" y="43"/>
                      </a:lnTo>
                      <a:lnTo>
                        <a:pt x="5" y="37"/>
                      </a:lnTo>
                      <a:lnTo>
                        <a:pt x="9" y="30"/>
                      </a:lnTo>
                      <a:lnTo>
                        <a:pt x="14" y="24"/>
                      </a:lnTo>
                      <a:lnTo>
                        <a:pt x="20" y="19"/>
                      </a:lnTo>
                      <a:lnTo>
                        <a:pt x="25" y="13"/>
                      </a:lnTo>
                      <a:lnTo>
                        <a:pt x="30" y="9"/>
                      </a:lnTo>
                      <a:lnTo>
                        <a:pt x="37" y="5"/>
                      </a:lnTo>
                      <a:lnTo>
                        <a:pt x="43"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74" name="Freeform 2311"/>
                <p:cNvSpPr>
                  <a:spLocks noChangeAspect="1"/>
                </p:cNvSpPr>
                <p:nvPr/>
              </p:nvSpPr>
              <p:spPr bwMode="auto">
                <a:xfrm>
                  <a:off x="5477" y="2209"/>
                  <a:ext cx="71" cy="75"/>
                </a:xfrm>
                <a:custGeom>
                  <a:avLst/>
                  <a:gdLst>
                    <a:gd name="T0" fmla="*/ 0 w 213"/>
                    <a:gd name="T1" fmla="*/ 0 h 224"/>
                    <a:gd name="T2" fmla="*/ 0 w 213"/>
                    <a:gd name="T3" fmla="*/ 0 h 224"/>
                    <a:gd name="T4" fmla="*/ 0 w 213"/>
                    <a:gd name="T5" fmla="*/ 0 h 224"/>
                    <a:gd name="T6" fmla="*/ 0 w 213"/>
                    <a:gd name="T7" fmla="*/ 0 h 224"/>
                    <a:gd name="T8" fmla="*/ 0 w 213"/>
                    <a:gd name="T9" fmla="*/ 0 h 224"/>
                    <a:gd name="T10" fmla="*/ 0 w 213"/>
                    <a:gd name="T11" fmla="*/ 0 h 224"/>
                    <a:gd name="T12" fmla="*/ 0 w 213"/>
                    <a:gd name="T13" fmla="*/ 0 h 224"/>
                    <a:gd name="T14" fmla="*/ 0 w 213"/>
                    <a:gd name="T15" fmla="*/ 0 h 224"/>
                    <a:gd name="T16" fmla="*/ 0 w 213"/>
                    <a:gd name="T17" fmla="*/ 0 h 224"/>
                    <a:gd name="T18" fmla="*/ 0 w 213"/>
                    <a:gd name="T19" fmla="*/ 0 h 224"/>
                    <a:gd name="T20" fmla="*/ 0 w 213"/>
                    <a:gd name="T21" fmla="*/ 0 h 224"/>
                    <a:gd name="T22" fmla="*/ 0 w 213"/>
                    <a:gd name="T23" fmla="*/ 0 h 224"/>
                    <a:gd name="T24" fmla="*/ 0 w 213"/>
                    <a:gd name="T25" fmla="*/ 0 h 224"/>
                    <a:gd name="T26" fmla="*/ 0 w 213"/>
                    <a:gd name="T27" fmla="*/ 0 h 224"/>
                    <a:gd name="T28" fmla="*/ 0 w 213"/>
                    <a:gd name="T29" fmla="*/ 0 h 224"/>
                    <a:gd name="T30" fmla="*/ 0 w 213"/>
                    <a:gd name="T31" fmla="*/ 0 h 224"/>
                    <a:gd name="T32" fmla="*/ 0 w 213"/>
                    <a:gd name="T33" fmla="*/ 0 h 224"/>
                    <a:gd name="T34" fmla="*/ 0 w 213"/>
                    <a:gd name="T35" fmla="*/ 0 h 224"/>
                    <a:gd name="T36" fmla="*/ 0 w 213"/>
                    <a:gd name="T37" fmla="*/ 0 h 224"/>
                    <a:gd name="T38" fmla="*/ 0 w 213"/>
                    <a:gd name="T39" fmla="*/ 0 h 224"/>
                    <a:gd name="T40" fmla="*/ 0 w 213"/>
                    <a:gd name="T41" fmla="*/ 0 h 224"/>
                    <a:gd name="T42" fmla="*/ 0 w 213"/>
                    <a:gd name="T43" fmla="*/ 0 h 224"/>
                    <a:gd name="T44" fmla="*/ 0 w 213"/>
                    <a:gd name="T45" fmla="*/ 0 h 224"/>
                    <a:gd name="T46" fmla="*/ 0 w 213"/>
                    <a:gd name="T47" fmla="*/ 0 h 224"/>
                    <a:gd name="T48" fmla="*/ 0 w 213"/>
                    <a:gd name="T49" fmla="*/ 0 h 224"/>
                    <a:gd name="T50" fmla="*/ 0 w 213"/>
                    <a:gd name="T51" fmla="*/ 0 h 224"/>
                    <a:gd name="T52" fmla="*/ 0 w 213"/>
                    <a:gd name="T53" fmla="*/ 0 h 224"/>
                    <a:gd name="T54" fmla="*/ 0 w 213"/>
                    <a:gd name="T55" fmla="*/ 0 h 224"/>
                    <a:gd name="T56" fmla="*/ 0 w 213"/>
                    <a:gd name="T57" fmla="*/ 0 h 224"/>
                    <a:gd name="T58" fmla="*/ 0 w 213"/>
                    <a:gd name="T59" fmla="*/ 0 h 224"/>
                    <a:gd name="T60" fmla="*/ 0 w 213"/>
                    <a:gd name="T61" fmla="*/ 0 h 224"/>
                    <a:gd name="T62" fmla="*/ 0 w 213"/>
                    <a:gd name="T63" fmla="*/ 0 h 2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3" h="224">
                      <a:moveTo>
                        <a:pt x="107" y="0"/>
                      </a:moveTo>
                      <a:lnTo>
                        <a:pt x="119" y="1"/>
                      </a:lnTo>
                      <a:lnTo>
                        <a:pt x="128" y="2"/>
                      </a:lnTo>
                      <a:lnTo>
                        <a:pt x="139" y="5"/>
                      </a:lnTo>
                      <a:lnTo>
                        <a:pt x="148" y="9"/>
                      </a:lnTo>
                      <a:lnTo>
                        <a:pt x="158" y="14"/>
                      </a:lnTo>
                      <a:lnTo>
                        <a:pt x="166" y="19"/>
                      </a:lnTo>
                      <a:lnTo>
                        <a:pt x="175" y="25"/>
                      </a:lnTo>
                      <a:lnTo>
                        <a:pt x="182" y="33"/>
                      </a:lnTo>
                      <a:lnTo>
                        <a:pt x="189" y="41"/>
                      </a:lnTo>
                      <a:lnTo>
                        <a:pt x="195" y="50"/>
                      </a:lnTo>
                      <a:lnTo>
                        <a:pt x="201" y="59"/>
                      </a:lnTo>
                      <a:lnTo>
                        <a:pt x="205" y="69"/>
                      </a:lnTo>
                      <a:lnTo>
                        <a:pt x="209" y="79"/>
                      </a:lnTo>
                      <a:lnTo>
                        <a:pt x="211" y="90"/>
                      </a:lnTo>
                      <a:lnTo>
                        <a:pt x="213" y="101"/>
                      </a:lnTo>
                      <a:lnTo>
                        <a:pt x="213" y="112"/>
                      </a:lnTo>
                      <a:lnTo>
                        <a:pt x="213" y="124"/>
                      </a:lnTo>
                      <a:lnTo>
                        <a:pt x="211" y="135"/>
                      </a:lnTo>
                      <a:lnTo>
                        <a:pt x="209" y="145"/>
                      </a:lnTo>
                      <a:lnTo>
                        <a:pt x="205" y="156"/>
                      </a:lnTo>
                      <a:lnTo>
                        <a:pt x="201" y="166"/>
                      </a:lnTo>
                      <a:lnTo>
                        <a:pt x="195" y="175"/>
                      </a:lnTo>
                      <a:lnTo>
                        <a:pt x="189" y="184"/>
                      </a:lnTo>
                      <a:lnTo>
                        <a:pt x="182" y="191"/>
                      </a:lnTo>
                      <a:lnTo>
                        <a:pt x="175" y="199"/>
                      </a:lnTo>
                      <a:lnTo>
                        <a:pt x="166" y="205"/>
                      </a:lnTo>
                      <a:lnTo>
                        <a:pt x="158" y="211"/>
                      </a:lnTo>
                      <a:lnTo>
                        <a:pt x="148" y="216"/>
                      </a:lnTo>
                      <a:lnTo>
                        <a:pt x="139" y="220"/>
                      </a:lnTo>
                      <a:lnTo>
                        <a:pt x="128" y="222"/>
                      </a:lnTo>
                      <a:lnTo>
                        <a:pt x="119" y="224"/>
                      </a:lnTo>
                      <a:lnTo>
                        <a:pt x="107" y="224"/>
                      </a:lnTo>
                      <a:lnTo>
                        <a:pt x="96" y="224"/>
                      </a:lnTo>
                      <a:lnTo>
                        <a:pt x="86" y="222"/>
                      </a:lnTo>
                      <a:lnTo>
                        <a:pt x="76" y="220"/>
                      </a:lnTo>
                      <a:lnTo>
                        <a:pt x="66" y="216"/>
                      </a:lnTo>
                      <a:lnTo>
                        <a:pt x="57" y="211"/>
                      </a:lnTo>
                      <a:lnTo>
                        <a:pt x="48" y="205"/>
                      </a:lnTo>
                      <a:lnTo>
                        <a:pt x="40" y="199"/>
                      </a:lnTo>
                      <a:lnTo>
                        <a:pt x="32" y="191"/>
                      </a:lnTo>
                      <a:lnTo>
                        <a:pt x="25" y="184"/>
                      </a:lnTo>
                      <a:lnTo>
                        <a:pt x="20" y="175"/>
                      </a:lnTo>
                      <a:lnTo>
                        <a:pt x="14" y="166"/>
                      </a:lnTo>
                      <a:lnTo>
                        <a:pt x="9" y="156"/>
                      </a:lnTo>
                      <a:lnTo>
                        <a:pt x="6" y="145"/>
                      </a:lnTo>
                      <a:lnTo>
                        <a:pt x="3" y="135"/>
                      </a:lnTo>
                      <a:lnTo>
                        <a:pt x="2" y="124"/>
                      </a:lnTo>
                      <a:lnTo>
                        <a:pt x="0" y="112"/>
                      </a:lnTo>
                      <a:lnTo>
                        <a:pt x="2" y="101"/>
                      </a:lnTo>
                      <a:lnTo>
                        <a:pt x="3" y="90"/>
                      </a:lnTo>
                      <a:lnTo>
                        <a:pt x="6" y="79"/>
                      </a:lnTo>
                      <a:lnTo>
                        <a:pt x="9" y="69"/>
                      </a:lnTo>
                      <a:lnTo>
                        <a:pt x="14" y="59"/>
                      </a:lnTo>
                      <a:lnTo>
                        <a:pt x="20" y="50"/>
                      </a:lnTo>
                      <a:lnTo>
                        <a:pt x="25" y="41"/>
                      </a:lnTo>
                      <a:lnTo>
                        <a:pt x="32" y="33"/>
                      </a:lnTo>
                      <a:lnTo>
                        <a:pt x="40" y="25"/>
                      </a:lnTo>
                      <a:lnTo>
                        <a:pt x="48" y="19"/>
                      </a:lnTo>
                      <a:lnTo>
                        <a:pt x="57" y="14"/>
                      </a:lnTo>
                      <a:lnTo>
                        <a:pt x="66" y="9"/>
                      </a:lnTo>
                      <a:lnTo>
                        <a:pt x="76" y="5"/>
                      </a:lnTo>
                      <a:lnTo>
                        <a:pt x="86" y="2"/>
                      </a:lnTo>
                      <a:lnTo>
                        <a:pt x="96" y="1"/>
                      </a:lnTo>
                      <a:lnTo>
                        <a:pt x="107" y="0"/>
                      </a:lnTo>
                    </a:path>
                  </a:pathLst>
                </a:custGeom>
                <a:gradFill rotWithShape="0">
                  <a:gsLst>
                    <a:gs pos="0">
                      <a:srgbClr val="FFE0B2"/>
                    </a:gs>
                    <a:gs pos="100000">
                      <a:srgbClr val="FF9900"/>
                    </a:gs>
                  </a:gsLst>
                  <a:path path="rect">
                    <a:fillToRect l="50000" t="50000" r="50000" b="50000"/>
                  </a:path>
                </a:gradFill>
                <a:ln w="1588">
                  <a:solidFill>
                    <a:srgbClr val="1F1A17"/>
                  </a:solidFill>
                  <a:prstDash val="solid"/>
                  <a:round/>
                  <a:headEnd/>
                  <a:tailEnd/>
                </a:ln>
              </p:spPr>
              <p:txBody>
                <a:bodyPr/>
                <a:lstStyle/>
                <a:p>
                  <a:endParaRPr lang="en-US"/>
                </a:p>
              </p:txBody>
            </p:sp>
            <p:sp>
              <p:nvSpPr>
                <p:cNvPr id="388975" name="Line 2312"/>
                <p:cNvSpPr>
                  <a:spLocks noChangeAspect="1" noChangeShapeType="1"/>
                </p:cNvSpPr>
                <p:nvPr/>
              </p:nvSpPr>
              <p:spPr bwMode="auto">
                <a:xfrm flipV="1">
                  <a:off x="4879" y="2080"/>
                  <a:ext cx="508" cy="129"/>
                </a:xfrm>
                <a:prstGeom prst="line">
                  <a:avLst/>
                </a:prstGeom>
                <a:noFill/>
                <a:ln w="6350">
                  <a:solidFill>
                    <a:srgbClr val="FF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8976" name="Line 2313"/>
                <p:cNvSpPr>
                  <a:spLocks noChangeAspect="1" noChangeShapeType="1"/>
                </p:cNvSpPr>
                <p:nvPr/>
              </p:nvSpPr>
              <p:spPr bwMode="auto">
                <a:xfrm>
                  <a:off x="5418" y="2087"/>
                  <a:ext cx="121" cy="134"/>
                </a:xfrm>
                <a:prstGeom prst="line">
                  <a:avLst/>
                </a:prstGeom>
                <a:noFill/>
                <a:ln w="6350">
                  <a:solidFill>
                    <a:srgbClr val="FF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8977" name="Line 2314"/>
                <p:cNvSpPr>
                  <a:spLocks noChangeAspect="1" noChangeShapeType="1"/>
                </p:cNvSpPr>
                <p:nvPr/>
              </p:nvSpPr>
              <p:spPr bwMode="auto">
                <a:xfrm>
                  <a:off x="4886" y="2284"/>
                  <a:ext cx="634" cy="1"/>
                </a:xfrm>
                <a:prstGeom prst="line">
                  <a:avLst/>
                </a:prstGeom>
                <a:noFill/>
                <a:ln w="6350">
                  <a:solidFill>
                    <a:srgbClr val="FF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8978" name="Freeform 2315"/>
                <p:cNvSpPr>
                  <a:spLocks noChangeAspect="1"/>
                </p:cNvSpPr>
                <p:nvPr/>
              </p:nvSpPr>
              <p:spPr bwMode="auto">
                <a:xfrm>
                  <a:off x="4907" y="2372"/>
                  <a:ext cx="14" cy="14"/>
                </a:xfrm>
                <a:custGeom>
                  <a:avLst/>
                  <a:gdLst>
                    <a:gd name="T0" fmla="*/ 0 w 43"/>
                    <a:gd name="T1" fmla="*/ 0 h 41"/>
                    <a:gd name="T2" fmla="*/ 0 w 43"/>
                    <a:gd name="T3" fmla="*/ 0 h 41"/>
                    <a:gd name="T4" fmla="*/ 0 w 43"/>
                    <a:gd name="T5" fmla="*/ 0 h 41"/>
                    <a:gd name="T6" fmla="*/ 0 w 43"/>
                    <a:gd name="T7" fmla="*/ 0 h 41"/>
                    <a:gd name="T8" fmla="*/ 0 w 43"/>
                    <a:gd name="T9" fmla="*/ 0 h 41"/>
                    <a:gd name="T10" fmla="*/ 0 w 43"/>
                    <a:gd name="T11" fmla="*/ 0 h 41"/>
                    <a:gd name="T12" fmla="*/ 0 w 43"/>
                    <a:gd name="T13" fmla="*/ 0 h 41"/>
                    <a:gd name="T14" fmla="*/ 0 w 43"/>
                    <a:gd name="T15" fmla="*/ 0 h 41"/>
                    <a:gd name="T16" fmla="*/ 0 w 43"/>
                    <a:gd name="T17" fmla="*/ 0 h 41"/>
                    <a:gd name="T18" fmla="*/ 0 w 43"/>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 h="41">
                      <a:moveTo>
                        <a:pt x="0" y="41"/>
                      </a:moveTo>
                      <a:lnTo>
                        <a:pt x="43" y="0"/>
                      </a:lnTo>
                      <a:lnTo>
                        <a:pt x="38" y="6"/>
                      </a:lnTo>
                      <a:lnTo>
                        <a:pt x="34" y="12"/>
                      </a:lnTo>
                      <a:lnTo>
                        <a:pt x="29" y="18"/>
                      </a:lnTo>
                      <a:lnTo>
                        <a:pt x="25" y="23"/>
                      </a:lnTo>
                      <a:lnTo>
                        <a:pt x="18" y="28"/>
                      </a:lnTo>
                      <a:lnTo>
                        <a:pt x="13" y="34"/>
                      </a:lnTo>
                      <a:lnTo>
                        <a:pt x="7" y="38"/>
                      </a:lnTo>
                      <a:lnTo>
                        <a:pt x="0" y="4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79" name="Freeform 2316"/>
                <p:cNvSpPr>
                  <a:spLocks noChangeAspect="1"/>
                </p:cNvSpPr>
                <p:nvPr/>
              </p:nvSpPr>
              <p:spPr bwMode="auto">
                <a:xfrm>
                  <a:off x="4901" y="2366"/>
                  <a:ext cx="22" cy="22"/>
                </a:xfrm>
                <a:custGeom>
                  <a:avLst/>
                  <a:gdLst>
                    <a:gd name="T0" fmla="*/ 0 w 66"/>
                    <a:gd name="T1" fmla="*/ 0 h 66"/>
                    <a:gd name="T2" fmla="*/ 0 w 66"/>
                    <a:gd name="T3" fmla="*/ 0 h 66"/>
                    <a:gd name="T4" fmla="*/ 0 w 66"/>
                    <a:gd name="T5" fmla="*/ 0 h 66"/>
                    <a:gd name="T6" fmla="*/ 0 w 66"/>
                    <a:gd name="T7" fmla="*/ 0 h 66"/>
                    <a:gd name="T8" fmla="*/ 0 w 66"/>
                    <a:gd name="T9" fmla="*/ 0 h 66"/>
                    <a:gd name="T10" fmla="*/ 0 w 66"/>
                    <a:gd name="T11" fmla="*/ 0 h 66"/>
                    <a:gd name="T12" fmla="*/ 0 w 66"/>
                    <a:gd name="T13" fmla="*/ 0 h 66"/>
                    <a:gd name="T14" fmla="*/ 0 w 66"/>
                    <a:gd name="T15" fmla="*/ 0 h 66"/>
                    <a:gd name="T16" fmla="*/ 0 w 66"/>
                    <a:gd name="T17" fmla="*/ 0 h 66"/>
                    <a:gd name="T18" fmla="*/ 0 w 66"/>
                    <a:gd name="T19" fmla="*/ 0 h 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 h="66">
                      <a:moveTo>
                        <a:pt x="0" y="66"/>
                      </a:moveTo>
                      <a:lnTo>
                        <a:pt x="66" y="0"/>
                      </a:lnTo>
                      <a:lnTo>
                        <a:pt x="61" y="11"/>
                      </a:lnTo>
                      <a:lnTo>
                        <a:pt x="56" y="22"/>
                      </a:lnTo>
                      <a:lnTo>
                        <a:pt x="48" y="32"/>
                      </a:lnTo>
                      <a:lnTo>
                        <a:pt x="41" y="40"/>
                      </a:lnTo>
                      <a:lnTo>
                        <a:pt x="31" y="49"/>
                      </a:lnTo>
                      <a:lnTo>
                        <a:pt x="21" y="55"/>
                      </a:lnTo>
                      <a:lnTo>
                        <a:pt x="12" y="61"/>
                      </a:lnTo>
                      <a:lnTo>
                        <a:pt x="0" y="6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80" name="Freeform 2317"/>
                <p:cNvSpPr>
                  <a:spLocks noChangeAspect="1"/>
                </p:cNvSpPr>
                <p:nvPr/>
              </p:nvSpPr>
              <p:spPr bwMode="auto">
                <a:xfrm>
                  <a:off x="4897" y="2362"/>
                  <a:ext cx="28" cy="27"/>
                </a:xfrm>
                <a:custGeom>
                  <a:avLst/>
                  <a:gdLst>
                    <a:gd name="T0" fmla="*/ 0 w 82"/>
                    <a:gd name="T1" fmla="*/ 0 h 82"/>
                    <a:gd name="T2" fmla="*/ 0 w 82"/>
                    <a:gd name="T3" fmla="*/ 0 h 82"/>
                    <a:gd name="T4" fmla="*/ 0 w 82"/>
                    <a:gd name="T5" fmla="*/ 0 h 82"/>
                    <a:gd name="T6" fmla="*/ 0 w 82"/>
                    <a:gd name="T7" fmla="*/ 0 h 82"/>
                    <a:gd name="T8" fmla="*/ 0 w 82"/>
                    <a:gd name="T9" fmla="*/ 0 h 82"/>
                    <a:gd name="T10" fmla="*/ 0 w 82"/>
                    <a:gd name="T11" fmla="*/ 0 h 82"/>
                    <a:gd name="T12" fmla="*/ 0 w 82"/>
                    <a:gd name="T13" fmla="*/ 0 h 82"/>
                    <a:gd name="T14" fmla="*/ 0 w 82"/>
                    <a:gd name="T15" fmla="*/ 0 h 82"/>
                    <a:gd name="T16" fmla="*/ 0 w 82"/>
                    <a:gd name="T17" fmla="*/ 0 h 82"/>
                    <a:gd name="T18" fmla="*/ 0 w 82"/>
                    <a:gd name="T19" fmla="*/ 0 h 82"/>
                    <a:gd name="T20" fmla="*/ 0 w 82"/>
                    <a:gd name="T21" fmla="*/ 0 h 82"/>
                    <a:gd name="T22" fmla="*/ 0 w 82"/>
                    <a:gd name="T23" fmla="*/ 0 h 82"/>
                    <a:gd name="T24" fmla="*/ 0 w 82"/>
                    <a:gd name="T25" fmla="*/ 0 h 82"/>
                    <a:gd name="T26" fmla="*/ 0 w 82"/>
                    <a:gd name="T27" fmla="*/ 0 h 82"/>
                    <a:gd name="T28" fmla="*/ 0 w 82"/>
                    <a:gd name="T29" fmla="*/ 0 h 82"/>
                    <a:gd name="T30" fmla="*/ 0 w 82"/>
                    <a:gd name="T31" fmla="*/ 0 h 82"/>
                    <a:gd name="T32" fmla="*/ 0 w 82"/>
                    <a:gd name="T33" fmla="*/ 0 h 82"/>
                    <a:gd name="T34" fmla="*/ 0 w 82"/>
                    <a:gd name="T35" fmla="*/ 0 h 82"/>
                    <a:gd name="T36" fmla="*/ 0 w 82"/>
                    <a:gd name="T37" fmla="*/ 0 h 8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2" h="82">
                      <a:moveTo>
                        <a:pt x="71" y="30"/>
                      </a:moveTo>
                      <a:lnTo>
                        <a:pt x="28" y="71"/>
                      </a:lnTo>
                      <a:lnTo>
                        <a:pt x="25" y="73"/>
                      </a:lnTo>
                      <a:lnTo>
                        <a:pt x="22" y="75"/>
                      </a:lnTo>
                      <a:lnTo>
                        <a:pt x="19" y="76"/>
                      </a:lnTo>
                      <a:lnTo>
                        <a:pt x="14" y="78"/>
                      </a:lnTo>
                      <a:lnTo>
                        <a:pt x="11" y="79"/>
                      </a:lnTo>
                      <a:lnTo>
                        <a:pt x="8" y="81"/>
                      </a:lnTo>
                      <a:lnTo>
                        <a:pt x="4" y="81"/>
                      </a:lnTo>
                      <a:lnTo>
                        <a:pt x="0" y="82"/>
                      </a:lnTo>
                      <a:lnTo>
                        <a:pt x="82" y="0"/>
                      </a:lnTo>
                      <a:lnTo>
                        <a:pt x="81" y="4"/>
                      </a:lnTo>
                      <a:lnTo>
                        <a:pt x="80" y="8"/>
                      </a:lnTo>
                      <a:lnTo>
                        <a:pt x="78" y="12"/>
                      </a:lnTo>
                      <a:lnTo>
                        <a:pt x="77" y="16"/>
                      </a:lnTo>
                      <a:lnTo>
                        <a:pt x="76" y="19"/>
                      </a:lnTo>
                      <a:lnTo>
                        <a:pt x="74" y="22"/>
                      </a:lnTo>
                      <a:lnTo>
                        <a:pt x="73" y="27"/>
                      </a:lnTo>
                      <a:lnTo>
                        <a:pt x="71" y="3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81" name="Freeform 2318"/>
                <p:cNvSpPr>
                  <a:spLocks noChangeAspect="1"/>
                </p:cNvSpPr>
                <p:nvPr/>
              </p:nvSpPr>
              <p:spPr bwMode="auto">
                <a:xfrm>
                  <a:off x="4894" y="2358"/>
                  <a:ext cx="32" cy="32"/>
                </a:xfrm>
                <a:custGeom>
                  <a:avLst/>
                  <a:gdLst>
                    <a:gd name="T0" fmla="*/ 0 w 95"/>
                    <a:gd name="T1" fmla="*/ 0 h 95"/>
                    <a:gd name="T2" fmla="*/ 0 w 95"/>
                    <a:gd name="T3" fmla="*/ 0 h 95"/>
                    <a:gd name="T4" fmla="*/ 0 w 95"/>
                    <a:gd name="T5" fmla="*/ 0 h 95"/>
                    <a:gd name="T6" fmla="*/ 0 w 95"/>
                    <a:gd name="T7" fmla="*/ 0 h 95"/>
                    <a:gd name="T8" fmla="*/ 0 w 95"/>
                    <a:gd name="T9" fmla="*/ 0 h 95"/>
                    <a:gd name="T10" fmla="*/ 0 w 95"/>
                    <a:gd name="T11" fmla="*/ 0 h 95"/>
                    <a:gd name="T12" fmla="*/ 0 w 95"/>
                    <a:gd name="T13" fmla="*/ 0 h 95"/>
                    <a:gd name="T14" fmla="*/ 0 w 95"/>
                    <a:gd name="T15" fmla="*/ 0 h 95"/>
                    <a:gd name="T16" fmla="*/ 0 w 95"/>
                    <a:gd name="T17" fmla="*/ 0 h 95"/>
                    <a:gd name="T18" fmla="*/ 0 w 95"/>
                    <a:gd name="T19" fmla="*/ 0 h 95"/>
                    <a:gd name="T20" fmla="*/ 0 w 95"/>
                    <a:gd name="T21" fmla="*/ 0 h 95"/>
                    <a:gd name="T22" fmla="*/ 0 w 95"/>
                    <a:gd name="T23" fmla="*/ 0 h 95"/>
                    <a:gd name="T24" fmla="*/ 0 w 95"/>
                    <a:gd name="T25" fmla="*/ 0 h 95"/>
                    <a:gd name="T26" fmla="*/ 0 w 95"/>
                    <a:gd name="T27" fmla="*/ 0 h 95"/>
                    <a:gd name="T28" fmla="*/ 0 w 95"/>
                    <a:gd name="T29" fmla="*/ 0 h 95"/>
                    <a:gd name="T30" fmla="*/ 0 w 95"/>
                    <a:gd name="T31" fmla="*/ 0 h 95"/>
                    <a:gd name="T32" fmla="*/ 0 w 95"/>
                    <a:gd name="T33" fmla="*/ 0 h 95"/>
                    <a:gd name="T34" fmla="*/ 0 w 95"/>
                    <a:gd name="T35" fmla="*/ 0 h 95"/>
                    <a:gd name="T36" fmla="*/ 0 w 95"/>
                    <a:gd name="T37" fmla="*/ 0 h 9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5" h="95">
                      <a:moveTo>
                        <a:pt x="88" y="24"/>
                      </a:moveTo>
                      <a:lnTo>
                        <a:pt x="22" y="90"/>
                      </a:lnTo>
                      <a:lnTo>
                        <a:pt x="20" y="91"/>
                      </a:lnTo>
                      <a:lnTo>
                        <a:pt x="17" y="92"/>
                      </a:lnTo>
                      <a:lnTo>
                        <a:pt x="14" y="92"/>
                      </a:lnTo>
                      <a:lnTo>
                        <a:pt x="12" y="93"/>
                      </a:lnTo>
                      <a:lnTo>
                        <a:pt x="8" y="94"/>
                      </a:lnTo>
                      <a:lnTo>
                        <a:pt x="5" y="94"/>
                      </a:lnTo>
                      <a:lnTo>
                        <a:pt x="3" y="95"/>
                      </a:lnTo>
                      <a:lnTo>
                        <a:pt x="0" y="95"/>
                      </a:lnTo>
                      <a:lnTo>
                        <a:pt x="95" y="0"/>
                      </a:lnTo>
                      <a:lnTo>
                        <a:pt x="93" y="3"/>
                      </a:lnTo>
                      <a:lnTo>
                        <a:pt x="93" y="7"/>
                      </a:lnTo>
                      <a:lnTo>
                        <a:pt x="92" y="10"/>
                      </a:lnTo>
                      <a:lnTo>
                        <a:pt x="91" y="12"/>
                      </a:lnTo>
                      <a:lnTo>
                        <a:pt x="91" y="15"/>
                      </a:lnTo>
                      <a:lnTo>
                        <a:pt x="90" y="18"/>
                      </a:lnTo>
                      <a:lnTo>
                        <a:pt x="89" y="22"/>
                      </a:lnTo>
                      <a:lnTo>
                        <a:pt x="88" y="24"/>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82" name="Freeform 2319"/>
                <p:cNvSpPr>
                  <a:spLocks noChangeAspect="1"/>
                </p:cNvSpPr>
                <p:nvPr/>
              </p:nvSpPr>
              <p:spPr bwMode="auto">
                <a:xfrm>
                  <a:off x="4891" y="2355"/>
                  <a:ext cx="35" cy="35"/>
                </a:xfrm>
                <a:custGeom>
                  <a:avLst/>
                  <a:gdLst>
                    <a:gd name="T0" fmla="*/ 0 w 106"/>
                    <a:gd name="T1" fmla="*/ 0 h 104"/>
                    <a:gd name="T2" fmla="*/ 0 w 106"/>
                    <a:gd name="T3" fmla="*/ 0 h 104"/>
                    <a:gd name="T4" fmla="*/ 0 w 106"/>
                    <a:gd name="T5" fmla="*/ 0 h 104"/>
                    <a:gd name="T6" fmla="*/ 0 w 106"/>
                    <a:gd name="T7" fmla="*/ 0 h 104"/>
                    <a:gd name="T8" fmla="*/ 0 w 106"/>
                    <a:gd name="T9" fmla="*/ 0 h 104"/>
                    <a:gd name="T10" fmla="*/ 0 w 106"/>
                    <a:gd name="T11" fmla="*/ 0 h 104"/>
                    <a:gd name="T12" fmla="*/ 0 w 106"/>
                    <a:gd name="T13" fmla="*/ 0 h 104"/>
                    <a:gd name="T14" fmla="*/ 0 w 106"/>
                    <a:gd name="T15" fmla="*/ 0 h 104"/>
                    <a:gd name="T16" fmla="*/ 0 w 106"/>
                    <a:gd name="T17" fmla="*/ 0 h 104"/>
                    <a:gd name="T18" fmla="*/ 0 w 106"/>
                    <a:gd name="T19" fmla="*/ 0 h 104"/>
                    <a:gd name="T20" fmla="*/ 0 w 106"/>
                    <a:gd name="T21" fmla="*/ 0 h 104"/>
                    <a:gd name="T22" fmla="*/ 0 w 106"/>
                    <a:gd name="T23" fmla="*/ 0 h 104"/>
                    <a:gd name="T24" fmla="*/ 0 w 106"/>
                    <a:gd name="T25" fmla="*/ 0 h 104"/>
                    <a:gd name="T26" fmla="*/ 0 w 106"/>
                    <a:gd name="T27" fmla="*/ 0 h 104"/>
                    <a:gd name="T28" fmla="*/ 0 w 106"/>
                    <a:gd name="T29" fmla="*/ 0 h 104"/>
                    <a:gd name="T30" fmla="*/ 0 w 106"/>
                    <a:gd name="T31" fmla="*/ 0 h 104"/>
                    <a:gd name="T32" fmla="*/ 0 w 106"/>
                    <a:gd name="T33" fmla="*/ 0 h 104"/>
                    <a:gd name="T34" fmla="*/ 0 w 106"/>
                    <a:gd name="T35" fmla="*/ 0 h 104"/>
                    <a:gd name="T36" fmla="*/ 0 w 106"/>
                    <a:gd name="T37" fmla="*/ 0 h 10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6" h="104">
                      <a:moveTo>
                        <a:pt x="102" y="20"/>
                      </a:moveTo>
                      <a:lnTo>
                        <a:pt x="20" y="102"/>
                      </a:lnTo>
                      <a:lnTo>
                        <a:pt x="18" y="103"/>
                      </a:lnTo>
                      <a:lnTo>
                        <a:pt x="15" y="103"/>
                      </a:lnTo>
                      <a:lnTo>
                        <a:pt x="13" y="103"/>
                      </a:lnTo>
                      <a:lnTo>
                        <a:pt x="11" y="104"/>
                      </a:lnTo>
                      <a:lnTo>
                        <a:pt x="8" y="104"/>
                      </a:lnTo>
                      <a:lnTo>
                        <a:pt x="6" y="104"/>
                      </a:lnTo>
                      <a:lnTo>
                        <a:pt x="3" y="104"/>
                      </a:lnTo>
                      <a:lnTo>
                        <a:pt x="0" y="104"/>
                      </a:lnTo>
                      <a:lnTo>
                        <a:pt x="106" y="0"/>
                      </a:lnTo>
                      <a:lnTo>
                        <a:pt x="105" y="2"/>
                      </a:lnTo>
                      <a:lnTo>
                        <a:pt x="105" y="5"/>
                      </a:lnTo>
                      <a:lnTo>
                        <a:pt x="105" y="7"/>
                      </a:lnTo>
                      <a:lnTo>
                        <a:pt x="105" y="10"/>
                      </a:lnTo>
                      <a:lnTo>
                        <a:pt x="103" y="12"/>
                      </a:lnTo>
                      <a:lnTo>
                        <a:pt x="103" y="16"/>
                      </a:lnTo>
                      <a:lnTo>
                        <a:pt x="102" y="18"/>
                      </a:lnTo>
                      <a:lnTo>
                        <a:pt x="102" y="2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83" name="Freeform 2320"/>
                <p:cNvSpPr>
                  <a:spLocks noChangeAspect="1"/>
                </p:cNvSpPr>
                <p:nvPr/>
              </p:nvSpPr>
              <p:spPr bwMode="auto">
                <a:xfrm>
                  <a:off x="4888" y="2352"/>
                  <a:ext cx="38" cy="38"/>
                </a:xfrm>
                <a:custGeom>
                  <a:avLst/>
                  <a:gdLst>
                    <a:gd name="T0" fmla="*/ 0 w 114"/>
                    <a:gd name="T1" fmla="*/ 0 h 113"/>
                    <a:gd name="T2" fmla="*/ 0 w 114"/>
                    <a:gd name="T3" fmla="*/ 0 h 113"/>
                    <a:gd name="T4" fmla="*/ 0 w 114"/>
                    <a:gd name="T5" fmla="*/ 0 h 113"/>
                    <a:gd name="T6" fmla="*/ 0 w 114"/>
                    <a:gd name="T7" fmla="*/ 0 h 113"/>
                    <a:gd name="T8" fmla="*/ 0 w 114"/>
                    <a:gd name="T9" fmla="*/ 0 h 113"/>
                    <a:gd name="T10" fmla="*/ 0 w 114"/>
                    <a:gd name="T11" fmla="*/ 0 h 113"/>
                    <a:gd name="T12" fmla="*/ 0 w 114"/>
                    <a:gd name="T13" fmla="*/ 0 h 113"/>
                    <a:gd name="T14" fmla="*/ 0 w 114"/>
                    <a:gd name="T15" fmla="*/ 0 h 113"/>
                    <a:gd name="T16" fmla="*/ 0 w 114"/>
                    <a:gd name="T17" fmla="*/ 0 h 113"/>
                    <a:gd name="T18" fmla="*/ 0 w 114"/>
                    <a:gd name="T19" fmla="*/ 0 h 113"/>
                    <a:gd name="T20" fmla="*/ 0 w 114"/>
                    <a:gd name="T21" fmla="*/ 0 h 113"/>
                    <a:gd name="T22" fmla="*/ 0 w 114"/>
                    <a:gd name="T23" fmla="*/ 0 h 113"/>
                    <a:gd name="T24" fmla="*/ 0 w 114"/>
                    <a:gd name="T25" fmla="*/ 0 h 113"/>
                    <a:gd name="T26" fmla="*/ 0 w 114"/>
                    <a:gd name="T27" fmla="*/ 0 h 113"/>
                    <a:gd name="T28" fmla="*/ 0 w 114"/>
                    <a:gd name="T29" fmla="*/ 0 h 113"/>
                    <a:gd name="T30" fmla="*/ 0 w 114"/>
                    <a:gd name="T31" fmla="*/ 0 h 113"/>
                    <a:gd name="T32" fmla="*/ 0 w 114"/>
                    <a:gd name="T33" fmla="*/ 0 h 113"/>
                    <a:gd name="T34" fmla="*/ 0 w 114"/>
                    <a:gd name="T35" fmla="*/ 0 h 113"/>
                    <a:gd name="T36" fmla="*/ 0 w 114"/>
                    <a:gd name="T37" fmla="*/ 0 h 113"/>
                    <a:gd name="T38" fmla="*/ 0 w 114"/>
                    <a:gd name="T39" fmla="*/ 0 h 113"/>
                    <a:gd name="T40" fmla="*/ 0 w 114"/>
                    <a:gd name="T41" fmla="*/ 0 h 113"/>
                    <a:gd name="T42" fmla="*/ 0 w 114"/>
                    <a:gd name="T43" fmla="*/ 0 h 113"/>
                    <a:gd name="T44" fmla="*/ 0 w 114"/>
                    <a:gd name="T45" fmla="*/ 0 h 113"/>
                    <a:gd name="T46" fmla="*/ 0 w 114"/>
                    <a:gd name="T47" fmla="*/ 0 h 113"/>
                    <a:gd name="T48" fmla="*/ 0 w 114"/>
                    <a:gd name="T49" fmla="*/ 0 h 113"/>
                    <a:gd name="T50" fmla="*/ 0 w 114"/>
                    <a:gd name="T51" fmla="*/ 0 h 113"/>
                    <a:gd name="T52" fmla="*/ 0 w 114"/>
                    <a:gd name="T53" fmla="*/ 0 h 113"/>
                    <a:gd name="T54" fmla="*/ 0 w 114"/>
                    <a:gd name="T55" fmla="*/ 0 h 113"/>
                    <a:gd name="T56" fmla="*/ 0 w 114"/>
                    <a:gd name="T57" fmla="*/ 0 h 113"/>
                    <a:gd name="T58" fmla="*/ 0 w 114"/>
                    <a:gd name="T59" fmla="*/ 0 h 113"/>
                    <a:gd name="T60" fmla="*/ 0 w 114"/>
                    <a:gd name="T61" fmla="*/ 0 h 113"/>
                    <a:gd name="T62" fmla="*/ 0 w 114"/>
                    <a:gd name="T63" fmla="*/ 0 h 113"/>
                    <a:gd name="T64" fmla="*/ 0 w 114"/>
                    <a:gd name="T65" fmla="*/ 0 h 113"/>
                    <a:gd name="T66" fmla="*/ 0 w 114"/>
                    <a:gd name="T67" fmla="*/ 0 h 113"/>
                    <a:gd name="T68" fmla="*/ 0 w 114"/>
                    <a:gd name="T69" fmla="*/ 0 h 1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4" h="113">
                      <a:moveTo>
                        <a:pt x="113" y="18"/>
                      </a:moveTo>
                      <a:lnTo>
                        <a:pt x="18" y="113"/>
                      </a:lnTo>
                      <a:lnTo>
                        <a:pt x="17" y="113"/>
                      </a:lnTo>
                      <a:lnTo>
                        <a:pt x="15" y="113"/>
                      </a:lnTo>
                      <a:lnTo>
                        <a:pt x="14" y="113"/>
                      </a:lnTo>
                      <a:lnTo>
                        <a:pt x="13" y="113"/>
                      </a:lnTo>
                      <a:lnTo>
                        <a:pt x="11" y="113"/>
                      </a:lnTo>
                      <a:lnTo>
                        <a:pt x="9" y="113"/>
                      </a:lnTo>
                      <a:lnTo>
                        <a:pt x="8" y="113"/>
                      </a:lnTo>
                      <a:lnTo>
                        <a:pt x="7" y="113"/>
                      </a:lnTo>
                      <a:lnTo>
                        <a:pt x="6" y="113"/>
                      </a:lnTo>
                      <a:lnTo>
                        <a:pt x="5" y="113"/>
                      </a:lnTo>
                      <a:lnTo>
                        <a:pt x="4" y="113"/>
                      </a:lnTo>
                      <a:lnTo>
                        <a:pt x="3" y="113"/>
                      </a:lnTo>
                      <a:lnTo>
                        <a:pt x="2" y="113"/>
                      </a:lnTo>
                      <a:lnTo>
                        <a:pt x="1" y="113"/>
                      </a:lnTo>
                      <a:lnTo>
                        <a:pt x="0" y="113"/>
                      </a:lnTo>
                      <a:lnTo>
                        <a:pt x="114" y="0"/>
                      </a:lnTo>
                      <a:lnTo>
                        <a:pt x="114" y="1"/>
                      </a:lnTo>
                      <a:lnTo>
                        <a:pt x="114" y="3"/>
                      </a:lnTo>
                      <a:lnTo>
                        <a:pt x="114" y="6"/>
                      </a:lnTo>
                      <a:lnTo>
                        <a:pt x="114" y="8"/>
                      </a:lnTo>
                      <a:lnTo>
                        <a:pt x="114" y="10"/>
                      </a:lnTo>
                      <a:lnTo>
                        <a:pt x="113" y="12"/>
                      </a:lnTo>
                      <a:lnTo>
                        <a:pt x="113" y="14"/>
                      </a:lnTo>
                      <a:lnTo>
                        <a:pt x="113" y="16"/>
                      </a:lnTo>
                      <a:lnTo>
                        <a:pt x="113" y="18"/>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84" name="Freeform 2321"/>
                <p:cNvSpPr>
                  <a:spLocks noChangeAspect="1"/>
                </p:cNvSpPr>
                <p:nvPr/>
              </p:nvSpPr>
              <p:spPr bwMode="auto">
                <a:xfrm>
                  <a:off x="4885" y="2350"/>
                  <a:ext cx="41" cy="40"/>
                </a:xfrm>
                <a:custGeom>
                  <a:avLst/>
                  <a:gdLst>
                    <a:gd name="T0" fmla="*/ 0 w 122"/>
                    <a:gd name="T1" fmla="*/ 0 h 121"/>
                    <a:gd name="T2" fmla="*/ 0 w 122"/>
                    <a:gd name="T3" fmla="*/ 0 h 121"/>
                    <a:gd name="T4" fmla="*/ 0 w 122"/>
                    <a:gd name="T5" fmla="*/ 0 h 121"/>
                    <a:gd name="T6" fmla="*/ 0 w 122"/>
                    <a:gd name="T7" fmla="*/ 0 h 121"/>
                    <a:gd name="T8" fmla="*/ 0 w 122"/>
                    <a:gd name="T9" fmla="*/ 0 h 121"/>
                    <a:gd name="T10" fmla="*/ 0 w 122"/>
                    <a:gd name="T11" fmla="*/ 0 h 121"/>
                    <a:gd name="T12" fmla="*/ 0 w 122"/>
                    <a:gd name="T13" fmla="*/ 0 h 121"/>
                    <a:gd name="T14" fmla="*/ 0 w 122"/>
                    <a:gd name="T15" fmla="*/ 0 h 121"/>
                    <a:gd name="T16" fmla="*/ 0 w 122"/>
                    <a:gd name="T17" fmla="*/ 0 h 121"/>
                    <a:gd name="T18" fmla="*/ 0 w 122"/>
                    <a:gd name="T19" fmla="*/ 0 h 121"/>
                    <a:gd name="T20" fmla="*/ 0 w 122"/>
                    <a:gd name="T21" fmla="*/ 0 h 121"/>
                    <a:gd name="T22" fmla="*/ 0 w 122"/>
                    <a:gd name="T23" fmla="*/ 0 h 121"/>
                    <a:gd name="T24" fmla="*/ 0 w 122"/>
                    <a:gd name="T25" fmla="*/ 0 h 121"/>
                    <a:gd name="T26" fmla="*/ 0 w 122"/>
                    <a:gd name="T27" fmla="*/ 0 h 121"/>
                    <a:gd name="T28" fmla="*/ 0 w 122"/>
                    <a:gd name="T29" fmla="*/ 0 h 121"/>
                    <a:gd name="T30" fmla="*/ 0 w 122"/>
                    <a:gd name="T31" fmla="*/ 0 h 121"/>
                    <a:gd name="T32" fmla="*/ 0 w 122"/>
                    <a:gd name="T33" fmla="*/ 0 h 121"/>
                    <a:gd name="T34" fmla="*/ 0 w 122"/>
                    <a:gd name="T35" fmla="*/ 0 h 121"/>
                    <a:gd name="T36" fmla="*/ 0 w 122"/>
                    <a:gd name="T37" fmla="*/ 0 h 121"/>
                    <a:gd name="T38" fmla="*/ 0 w 122"/>
                    <a:gd name="T39" fmla="*/ 0 h 121"/>
                    <a:gd name="T40" fmla="*/ 0 w 122"/>
                    <a:gd name="T41" fmla="*/ 0 h 121"/>
                    <a:gd name="T42" fmla="*/ 0 w 122"/>
                    <a:gd name="T43" fmla="*/ 0 h 121"/>
                    <a:gd name="T44" fmla="*/ 0 w 122"/>
                    <a:gd name="T45" fmla="*/ 0 h 121"/>
                    <a:gd name="T46" fmla="*/ 0 w 122"/>
                    <a:gd name="T47" fmla="*/ 0 h 121"/>
                    <a:gd name="T48" fmla="*/ 0 w 122"/>
                    <a:gd name="T49" fmla="*/ 0 h 121"/>
                    <a:gd name="T50" fmla="*/ 0 w 122"/>
                    <a:gd name="T51" fmla="*/ 0 h 121"/>
                    <a:gd name="T52" fmla="*/ 0 w 122"/>
                    <a:gd name="T53" fmla="*/ 0 h 121"/>
                    <a:gd name="T54" fmla="*/ 0 w 122"/>
                    <a:gd name="T55" fmla="*/ 0 h 121"/>
                    <a:gd name="T56" fmla="*/ 0 w 122"/>
                    <a:gd name="T57" fmla="*/ 0 h 121"/>
                    <a:gd name="T58" fmla="*/ 0 w 122"/>
                    <a:gd name="T59" fmla="*/ 0 h 121"/>
                    <a:gd name="T60" fmla="*/ 0 w 122"/>
                    <a:gd name="T61" fmla="*/ 0 h 121"/>
                    <a:gd name="T62" fmla="*/ 0 w 122"/>
                    <a:gd name="T63" fmla="*/ 0 h 121"/>
                    <a:gd name="T64" fmla="*/ 0 w 122"/>
                    <a:gd name="T65" fmla="*/ 0 h 121"/>
                    <a:gd name="T66" fmla="*/ 0 w 122"/>
                    <a:gd name="T67" fmla="*/ 0 h 121"/>
                    <a:gd name="T68" fmla="*/ 0 w 122"/>
                    <a:gd name="T69" fmla="*/ 0 h 1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2" h="121">
                      <a:moveTo>
                        <a:pt x="122" y="17"/>
                      </a:moveTo>
                      <a:lnTo>
                        <a:pt x="16" y="121"/>
                      </a:lnTo>
                      <a:lnTo>
                        <a:pt x="15" y="121"/>
                      </a:lnTo>
                      <a:lnTo>
                        <a:pt x="13" y="121"/>
                      </a:lnTo>
                      <a:lnTo>
                        <a:pt x="11" y="121"/>
                      </a:lnTo>
                      <a:lnTo>
                        <a:pt x="10" y="121"/>
                      </a:lnTo>
                      <a:lnTo>
                        <a:pt x="8" y="121"/>
                      </a:lnTo>
                      <a:lnTo>
                        <a:pt x="6" y="121"/>
                      </a:lnTo>
                      <a:lnTo>
                        <a:pt x="3" y="121"/>
                      </a:lnTo>
                      <a:lnTo>
                        <a:pt x="2" y="121"/>
                      </a:lnTo>
                      <a:lnTo>
                        <a:pt x="0" y="120"/>
                      </a:lnTo>
                      <a:lnTo>
                        <a:pt x="121" y="0"/>
                      </a:lnTo>
                      <a:lnTo>
                        <a:pt x="122" y="1"/>
                      </a:lnTo>
                      <a:lnTo>
                        <a:pt x="122" y="2"/>
                      </a:lnTo>
                      <a:lnTo>
                        <a:pt x="122" y="3"/>
                      </a:lnTo>
                      <a:lnTo>
                        <a:pt x="122" y="4"/>
                      </a:lnTo>
                      <a:lnTo>
                        <a:pt x="122" y="5"/>
                      </a:lnTo>
                      <a:lnTo>
                        <a:pt x="122" y="7"/>
                      </a:lnTo>
                      <a:lnTo>
                        <a:pt x="122" y="8"/>
                      </a:lnTo>
                      <a:lnTo>
                        <a:pt x="122" y="9"/>
                      </a:lnTo>
                      <a:lnTo>
                        <a:pt x="122" y="10"/>
                      </a:lnTo>
                      <a:lnTo>
                        <a:pt x="122" y="11"/>
                      </a:lnTo>
                      <a:lnTo>
                        <a:pt x="122" y="12"/>
                      </a:lnTo>
                      <a:lnTo>
                        <a:pt x="122" y="14"/>
                      </a:lnTo>
                      <a:lnTo>
                        <a:pt x="122" y="15"/>
                      </a:lnTo>
                      <a:lnTo>
                        <a:pt x="122" y="16"/>
                      </a:lnTo>
                      <a:lnTo>
                        <a:pt x="122" y="1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85" name="Freeform 2322"/>
                <p:cNvSpPr>
                  <a:spLocks noChangeAspect="1"/>
                </p:cNvSpPr>
                <p:nvPr/>
              </p:nvSpPr>
              <p:spPr bwMode="auto">
                <a:xfrm>
                  <a:off x="4883" y="2347"/>
                  <a:ext cx="43" cy="43"/>
                </a:xfrm>
                <a:custGeom>
                  <a:avLst/>
                  <a:gdLst>
                    <a:gd name="T0" fmla="*/ 0 w 129"/>
                    <a:gd name="T1" fmla="*/ 0 h 130"/>
                    <a:gd name="T2" fmla="*/ 0 w 129"/>
                    <a:gd name="T3" fmla="*/ 0 h 130"/>
                    <a:gd name="T4" fmla="*/ 0 w 129"/>
                    <a:gd name="T5" fmla="*/ 0 h 130"/>
                    <a:gd name="T6" fmla="*/ 0 w 129"/>
                    <a:gd name="T7" fmla="*/ 0 h 130"/>
                    <a:gd name="T8" fmla="*/ 0 w 129"/>
                    <a:gd name="T9" fmla="*/ 0 h 130"/>
                    <a:gd name="T10" fmla="*/ 0 w 129"/>
                    <a:gd name="T11" fmla="*/ 0 h 130"/>
                    <a:gd name="T12" fmla="*/ 0 w 129"/>
                    <a:gd name="T13" fmla="*/ 0 h 130"/>
                    <a:gd name="T14" fmla="*/ 0 w 129"/>
                    <a:gd name="T15" fmla="*/ 0 h 130"/>
                    <a:gd name="T16" fmla="*/ 0 w 129"/>
                    <a:gd name="T17" fmla="*/ 0 h 130"/>
                    <a:gd name="T18" fmla="*/ 0 w 129"/>
                    <a:gd name="T19" fmla="*/ 0 h 130"/>
                    <a:gd name="T20" fmla="*/ 0 w 129"/>
                    <a:gd name="T21" fmla="*/ 0 h 130"/>
                    <a:gd name="T22" fmla="*/ 0 w 129"/>
                    <a:gd name="T23" fmla="*/ 0 h 130"/>
                    <a:gd name="T24" fmla="*/ 0 w 129"/>
                    <a:gd name="T25" fmla="*/ 0 h 130"/>
                    <a:gd name="T26" fmla="*/ 0 w 129"/>
                    <a:gd name="T27" fmla="*/ 0 h 130"/>
                    <a:gd name="T28" fmla="*/ 0 w 129"/>
                    <a:gd name="T29" fmla="*/ 0 h 130"/>
                    <a:gd name="T30" fmla="*/ 0 w 129"/>
                    <a:gd name="T31" fmla="*/ 0 h 130"/>
                    <a:gd name="T32" fmla="*/ 0 w 129"/>
                    <a:gd name="T33" fmla="*/ 0 h 130"/>
                    <a:gd name="T34" fmla="*/ 0 w 129"/>
                    <a:gd name="T35" fmla="*/ 0 h 130"/>
                    <a:gd name="T36" fmla="*/ 0 w 129"/>
                    <a:gd name="T37" fmla="*/ 0 h 1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9" h="130">
                      <a:moveTo>
                        <a:pt x="129" y="17"/>
                      </a:moveTo>
                      <a:lnTo>
                        <a:pt x="15" y="130"/>
                      </a:lnTo>
                      <a:lnTo>
                        <a:pt x="13" y="130"/>
                      </a:lnTo>
                      <a:lnTo>
                        <a:pt x="12" y="130"/>
                      </a:lnTo>
                      <a:lnTo>
                        <a:pt x="9" y="130"/>
                      </a:lnTo>
                      <a:lnTo>
                        <a:pt x="7" y="129"/>
                      </a:lnTo>
                      <a:lnTo>
                        <a:pt x="5" y="129"/>
                      </a:lnTo>
                      <a:lnTo>
                        <a:pt x="3" y="129"/>
                      </a:lnTo>
                      <a:lnTo>
                        <a:pt x="2" y="128"/>
                      </a:lnTo>
                      <a:lnTo>
                        <a:pt x="0" y="128"/>
                      </a:lnTo>
                      <a:lnTo>
                        <a:pt x="128" y="0"/>
                      </a:lnTo>
                      <a:lnTo>
                        <a:pt x="128" y="2"/>
                      </a:lnTo>
                      <a:lnTo>
                        <a:pt x="128" y="4"/>
                      </a:lnTo>
                      <a:lnTo>
                        <a:pt x="128" y="7"/>
                      </a:lnTo>
                      <a:lnTo>
                        <a:pt x="128" y="9"/>
                      </a:lnTo>
                      <a:lnTo>
                        <a:pt x="129" y="11"/>
                      </a:lnTo>
                      <a:lnTo>
                        <a:pt x="129" y="13"/>
                      </a:lnTo>
                      <a:lnTo>
                        <a:pt x="129" y="15"/>
                      </a:lnTo>
                      <a:lnTo>
                        <a:pt x="129" y="1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86" name="Freeform 2323"/>
                <p:cNvSpPr>
                  <a:spLocks noChangeAspect="1"/>
                </p:cNvSpPr>
                <p:nvPr/>
              </p:nvSpPr>
              <p:spPr bwMode="auto">
                <a:xfrm>
                  <a:off x="4880" y="2344"/>
                  <a:ext cx="46" cy="46"/>
                </a:xfrm>
                <a:custGeom>
                  <a:avLst/>
                  <a:gdLst>
                    <a:gd name="T0" fmla="*/ 0 w 136"/>
                    <a:gd name="T1" fmla="*/ 0 h 136"/>
                    <a:gd name="T2" fmla="*/ 0 w 136"/>
                    <a:gd name="T3" fmla="*/ 0 h 136"/>
                    <a:gd name="T4" fmla="*/ 0 w 136"/>
                    <a:gd name="T5" fmla="*/ 0 h 136"/>
                    <a:gd name="T6" fmla="*/ 0 w 136"/>
                    <a:gd name="T7" fmla="*/ 0 h 136"/>
                    <a:gd name="T8" fmla="*/ 0 w 136"/>
                    <a:gd name="T9" fmla="*/ 0 h 136"/>
                    <a:gd name="T10" fmla="*/ 0 w 136"/>
                    <a:gd name="T11" fmla="*/ 0 h 136"/>
                    <a:gd name="T12" fmla="*/ 0 w 136"/>
                    <a:gd name="T13" fmla="*/ 0 h 136"/>
                    <a:gd name="T14" fmla="*/ 0 w 136"/>
                    <a:gd name="T15" fmla="*/ 0 h 136"/>
                    <a:gd name="T16" fmla="*/ 0 w 136"/>
                    <a:gd name="T17" fmla="*/ 0 h 136"/>
                    <a:gd name="T18" fmla="*/ 0 w 136"/>
                    <a:gd name="T19" fmla="*/ 0 h 136"/>
                    <a:gd name="T20" fmla="*/ 0 w 136"/>
                    <a:gd name="T21" fmla="*/ 0 h 136"/>
                    <a:gd name="T22" fmla="*/ 0 w 136"/>
                    <a:gd name="T23" fmla="*/ 0 h 136"/>
                    <a:gd name="T24" fmla="*/ 0 w 136"/>
                    <a:gd name="T25" fmla="*/ 0 h 136"/>
                    <a:gd name="T26" fmla="*/ 0 w 136"/>
                    <a:gd name="T27" fmla="*/ 0 h 136"/>
                    <a:gd name="T28" fmla="*/ 0 w 136"/>
                    <a:gd name="T29" fmla="*/ 0 h 136"/>
                    <a:gd name="T30" fmla="*/ 0 w 136"/>
                    <a:gd name="T31" fmla="*/ 0 h 136"/>
                    <a:gd name="T32" fmla="*/ 0 w 136"/>
                    <a:gd name="T33" fmla="*/ 0 h 136"/>
                    <a:gd name="T34" fmla="*/ 0 w 136"/>
                    <a:gd name="T35" fmla="*/ 0 h 136"/>
                    <a:gd name="T36" fmla="*/ 0 w 136"/>
                    <a:gd name="T37" fmla="*/ 0 h 1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36" h="136">
                      <a:moveTo>
                        <a:pt x="136" y="16"/>
                      </a:moveTo>
                      <a:lnTo>
                        <a:pt x="15" y="136"/>
                      </a:lnTo>
                      <a:lnTo>
                        <a:pt x="13" y="136"/>
                      </a:lnTo>
                      <a:lnTo>
                        <a:pt x="11" y="136"/>
                      </a:lnTo>
                      <a:lnTo>
                        <a:pt x="10" y="135"/>
                      </a:lnTo>
                      <a:lnTo>
                        <a:pt x="8" y="135"/>
                      </a:lnTo>
                      <a:lnTo>
                        <a:pt x="6" y="135"/>
                      </a:lnTo>
                      <a:lnTo>
                        <a:pt x="5" y="134"/>
                      </a:lnTo>
                      <a:lnTo>
                        <a:pt x="3" y="134"/>
                      </a:lnTo>
                      <a:lnTo>
                        <a:pt x="0" y="133"/>
                      </a:lnTo>
                      <a:lnTo>
                        <a:pt x="133" y="0"/>
                      </a:lnTo>
                      <a:lnTo>
                        <a:pt x="134" y="2"/>
                      </a:lnTo>
                      <a:lnTo>
                        <a:pt x="134" y="4"/>
                      </a:lnTo>
                      <a:lnTo>
                        <a:pt x="134" y="6"/>
                      </a:lnTo>
                      <a:lnTo>
                        <a:pt x="136" y="7"/>
                      </a:lnTo>
                      <a:lnTo>
                        <a:pt x="136" y="9"/>
                      </a:lnTo>
                      <a:lnTo>
                        <a:pt x="136" y="11"/>
                      </a:lnTo>
                      <a:lnTo>
                        <a:pt x="136" y="14"/>
                      </a:lnTo>
                      <a:lnTo>
                        <a:pt x="136" y="1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87" name="Freeform 2324"/>
                <p:cNvSpPr>
                  <a:spLocks noChangeAspect="1"/>
                </p:cNvSpPr>
                <p:nvPr/>
              </p:nvSpPr>
              <p:spPr bwMode="auto">
                <a:xfrm>
                  <a:off x="4878" y="2342"/>
                  <a:ext cx="48" cy="47"/>
                </a:xfrm>
                <a:custGeom>
                  <a:avLst/>
                  <a:gdLst>
                    <a:gd name="T0" fmla="*/ 0 w 142"/>
                    <a:gd name="T1" fmla="*/ 0 h 142"/>
                    <a:gd name="T2" fmla="*/ 0 w 142"/>
                    <a:gd name="T3" fmla="*/ 0 h 142"/>
                    <a:gd name="T4" fmla="*/ 0 w 142"/>
                    <a:gd name="T5" fmla="*/ 0 h 142"/>
                    <a:gd name="T6" fmla="*/ 0 w 142"/>
                    <a:gd name="T7" fmla="*/ 0 h 142"/>
                    <a:gd name="T8" fmla="*/ 0 w 142"/>
                    <a:gd name="T9" fmla="*/ 0 h 142"/>
                    <a:gd name="T10" fmla="*/ 0 w 142"/>
                    <a:gd name="T11" fmla="*/ 0 h 142"/>
                    <a:gd name="T12" fmla="*/ 0 w 142"/>
                    <a:gd name="T13" fmla="*/ 0 h 142"/>
                    <a:gd name="T14" fmla="*/ 0 w 142"/>
                    <a:gd name="T15" fmla="*/ 0 h 142"/>
                    <a:gd name="T16" fmla="*/ 0 w 142"/>
                    <a:gd name="T17" fmla="*/ 0 h 142"/>
                    <a:gd name="T18" fmla="*/ 0 w 142"/>
                    <a:gd name="T19" fmla="*/ 0 h 142"/>
                    <a:gd name="T20" fmla="*/ 0 w 142"/>
                    <a:gd name="T21" fmla="*/ 0 h 142"/>
                    <a:gd name="T22" fmla="*/ 0 w 142"/>
                    <a:gd name="T23" fmla="*/ 0 h 142"/>
                    <a:gd name="T24" fmla="*/ 0 w 142"/>
                    <a:gd name="T25" fmla="*/ 0 h 142"/>
                    <a:gd name="T26" fmla="*/ 0 w 142"/>
                    <a:gd name="T27" fmla="*/ 0 h 142"/>
                    <a:gd name="T28" fmla="*/ 0 w 142"/>
                    <a:gd name="T29" fmla="*/ 0 h 142"/>
                    <a:gd name="T30" fmla="*/ 0 w 142"/>
                    <a:gd name="T31" fmla="*/ 0 h 142"/>
                    <a:gd name="T32" fmla="*/ 0 w 142"/>
                    <a:gd name="T33" fmla="*/ 0 h 142"/>
                    <a:gd name="T34" fmla="*/ 0 w 142"/>
                    <a:gd name="T35" fmla="*/ 0 h 142"/>
                    <a:gd name="T36" fmla="*/ 0 w 142"/>
                    <a:gd name="T37" fmla="*/ 0 h 1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2" h="142">
                      <a:moveTo>
                        <a:pt x="142" y="14"/>
                      </a:moveTo>
                      <a:lnTo>
                        <a:pt x="14" y="142"/>
                      </a:lnTo>
                      <a:lnTo>
                        <a:pt x="12" y="142"/>
                      </a:lnTo>
                      <a:lnTo>
                        <a:pt x="11" y="141"/>
                      </a:lnTo>
                      <a:lnTo>
                        <a:pt x="9" y="141"/>
                      </a:lnTo>
                      <a:lnTo>
                        <a:pt x="7" y="140"/>
                      </a:lnTo>
                      <a:lnTo>
                        <a:pt x="5" y="140"/>
                      </a:lnTo>
                      <a:lnTo>
                        <a:pt x="3" y="139"/>
                      </a:lnTo>
                      <a:lnTo>
                        <a:pt x="2" y="139"/>
                      </a:lnTo>
                      <a:lnTo>
                        <a:pt x="0" y="138"/>
                      </a:lnTo>
                      <a:lnTo>
                        <a:pt x="138" y="0"/>
                      </a:lnTo>
                      <a:lnTo>
                        <a:pt x="138" y="1"/>
                      </a:lnTo>
                      <a:lnTo>
                        <a:pt x="139" y="4"/>
                      </a:lnTo>
                      <a:lnTo>
                        <a:pt x="139" y="6"/>
                      </a:lnTo>
                      <a:lnTo>
                        <a:pt x="139" y="8"/>
                      </a:lnTo>
                      <a:lnTo>
                        <a:pt x="140" y="9"/>
                      </a:lnTo>
                      <a:lnTo>
                        <a:pt x="140" y="11"/>
                      </a:lnTo>
                      <a:lnTo>
                        <a:pt x="140" y="13"/>
                      </a:lnTo>
                      <a:lnTo>
                        <a:pt x="142" y="14"/>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88" name="Freeform 2325"/>
                <p:cNvSpPr>
                  <a:spLocks noChangeAspect="1"/>
                </p:cNvSpPr>
                <p:nvPr/>
              </p:nvSpPr>
              <p:spPr bwMode="auto">
                <a:xfrm>
                  <a:off x="4877" y="2340"/>
                  <a:ext cx="48" cy="49"/>
                </a:xfrm>
                <a:custGeom>
                  <a:avLst/>
                  <a:gdLst>
                    <a:gd name="T0" fmla="*/ 0 w 144"/>
                    <a:gd name="T1" fmla="*/ 0 h 146"/>
                    <a:gd name="T2" fmla="*/ 0 w 144"/>
                    <a:gd name="T3" fmla="*/ 0 h 146"/>
                    <a:gd name="T4" fmla="*/ 0 w 144"/>
                    <a:gd name="T5" fmla="*/ 0 h 146"/>
                    <a:gd name="T6" fmla="*/ 0 w 144"/>
                    <a:gd name="T7" fmla="*/ 0 h 146"/>
                    <a:gd name="T8" fmla="*/ 0 w 144"/>
                    <a:gd name="T9" fmla="*/ 0 h 146"/>
                    <a:gd name="T10" fmla="*/ 0 w 144"/>
                    <a:gd name="T11" fmla="*/ 0 h 146"/>
                    <a:gd name="T12" fmla="*/ 0 w 144"/>
                    <a:gd name="T13" fmla="*/ 0 h 146"/>
                    <a:gd name="T14" fmla="*/ 0 w 144"/>
                    <a:gd name="T15" fmla="*/ 0 h 146"/>
                    <a:gd name="T16" fmla="*/ 0 w 144"/>
                    <a:gd name="T17" fmla="*/ 0 h 146"/>
                    <a:gd name="T18" fmla="*/ 0 w 144"/>
                    <a:gd name="T19" fmla="*/ 0 h 146"/>
                    <a:gd name="T20" fmla="*/ 0 w 144"/>
                    <a:gd name="T21" fmla="*/ 0 h 146"/>
                    <a:gd name="T22" fmla="*/ 0 w 144"/>
                    <a:gd name="T23" fmla="*/ 0 h 146"/>
                    <a:gd name="T24" fmla="*/ 0 w 144"/>
                    <a:gd name="T25" fmla="*/ 0 h 146"/>
                    <a:gd name="T26" fmla="*/ 0 w 144"/>
                    <a:gd name="T27" fmla="*/ 0 h 146"/>
                    <a:gd name="T28" fmla="*/ 0 w 144"/>
                    <a:gd name="T29" fmla="*/ 0 h 146"/>
                    <a:gd name="T30" fmla="*/ 0 w 144"/>
                    <a:gd name="T31" fmla="*/ 0 h 146"/>
                    <a:gd name="T32" fmla="*/ 0 w 144"/>
                    <a:gd name="T33" fmla="*/ 0 h 146"/>
                    <a:gd name="T34" fmla="*/ 0 w 144"/>
                    <a:gd name="T35" fmla="*/ 0 h 146"/>
                    <a:gd name="T36" fmla="*/ 0 w 144"/>
                    <a:gd name="T37" fmla="*/ 0 h 1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4" h="146">
                      <a:moveTo>
                        <a:pt x="144" y="13"/>
                      </a:moveTo>
                      <a:lnTo>
                        <a:pt x="11" y="146"/>
                      </a:lnTo>
                      <a:lnTo>
                        <a:pt x="10" y="146"/>
                      </a:lnTo>
                      <a:lnTo>
                        <a:pt x="8" y="145"/>
                      </a:lnTo>
                      <a:lnTo>
                        <a:pt x="7" y="145"/>
                      </a:lnTo>
                      <a:lnTo>
                        <a:pt x="5" y="144"/>
                      </a:lnTo>
                      <a:lnTo>
                        <a:pt x="4" y="144"/>
                      </a:lnTo>
                      <a:lnTo>
                        <a:pt x="2" y="142"/>
                      </a:lnTo>
                      <a:lnTo>
                        <a:pt x="1" y="141"/>
                      </a:lnTo>
                      <a:lnTo>
                        <a:pt x="0" y="141"/>
                      </a:lnTo>
                      <a:lnTo>
                        <a:pt x="141" y="0"/>
                      </a:lnTo>
                      <a:lnTo>
                        <a:pt x="141" y="1"/>
                      </a:lnTo>
                      <a:lnTo>
                        <a:pt x="142" y="3"/>
                      </a:lnTo>
                      <a:lnTo>
                        <a:pt x="142" y="4"/>
                      </a:lnTo>
                      <a:lnTo>
                        <a:pt x="143" y="6"/>
                      </a:lnTo>
                      <a:lnTo>
                        <a:pt x="143" y="9"/>
                      </a:lnTo>
                      <a:lnTo>
                        <a:pt x="144" y="10"/>
                      </a:lnTo>
                      <a:lnTo>
                        <a:pt x="144" y="12"/>
                      </a:lnTo>
                      <a:lnTo>
                        <a:pt x="144" y="1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89" name="Freeform 2326"/>
                <p:cNvSpPr>
                  <a:spLocks noChangeAspect="1"/>
                </p:cNvSpPr>
                <p:nvPr/>
              </p:nvSpPr>
              <p:spPr bwMode="auto">
                <a:xfrm>
                  <a:off x="4874" y="2338"/>
                  <a:ext cx="50" cy="50"/>
                </a:xfrm>
                <a:custGeom>
                  <a:avLst/>
                  <a:gdLst>
                    <a:gd name="T0" fmla="*/ 0 w 150"/>
                    <a:gd name="T1" fmla="*/ 0 h 150"/>
                    <a:gd name="T2" fmla="*/ 0 w 150"/>
                    <a:gd name="T3" fmla="*/ 0 h 150"/>
                    <a:gd name="T4" fmla="*/ 0 w 150"/>
                    <a:gd name="T5" fmla="*/ 0 h 150"/>
                    <a:gd name="T6" fmla="*/ 0 w 150"/>
                    <a:gd name="T7" fmla="*/ 0 h 150"/>
                    <a:gd name="T8" fmla="*/ 0 w 150"/>
                    <a:gd name="T9" fmla="*/ 0 h 150"/>
                    <a:gd name="T10" fmla="*/ 0 w 150"/>
                    <a:gd name="T11" fmla="*/ 0 h 150"/>
                    <a:gd name="T12" fmla="*/ 0 w 150"/>
                    <a:gd name="T13" fmla="*/ 0 h 150"/>
                    <a:gd name="T14" fmla="*/ 0 w 150"/>
                    <a:gd name="T15" fmla="*/ 0 h 150"/>
                    <a:gd name="T16" fmla="*/ 0 w 150"/>
                    <a:gd name="T17" fmla="*/ 0 h 150"/>
                    <a:gd name="T18" fmla="*/ 0 w 150"/>
                    <a:gd name="T19" fmla="*/ 0 h 150"/>
                    <a:gd name="T20" fmla="*/ 0 w 150"/>
                    <a:gd name="T21" fmla="*/ 0 h 150"/>
                    <a:gd name="T22" fmla="*/ 0 w 150"/>
                    <a:gd name="T23" fmla="*/ 0 h 150"/>
                    <a:gd name="T24" fmla="*/ 0 w 150"/>
                    <a:gd name="T25" fmla="*/ 0 h 150"/>
                    <a:gd name="T26" fmla="*/ 0 w 150"/>
                    <a:gd name="T27" fmla="*/ 0 h 150"/>
                    <a:gd name="T28" fmla="*/ 0 w 150"/>
                    <a:gd name="T29" fmla="*/ 0 h 150"/>
                    <a:gd name="T30" fmla="*/ 0 w 150"/>
                    <a:gd name="T31" fmla="*/ 0 h 150"/>
                    <a:gd name="T32" fmla="*/ 0 w 150"/>
                    <a:gd name="T33" fmla="*/ 0 h 150"/>
                    <a:gd name="T34" fmla="*/ 0 w 150"/>
                    <a:gd name="T35" fmla="*/ 0 h 150"/>
                    <a:gd name="T36" fmla="*/ 0 w 150"/>
                    <a:gd name="T37" fmla="*/ 0 h 1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0" h="150">
                      <a:moveTo>
                        <a:pt x="150" y="12"/>
                      </a:moveTo>
                      <a:lnTo>
                        <a:pt x="12" y="150"/>
                      </a:lnTo>
                      <a:lnTo>
                        <a:pt x="11" y="150"/>
                      </a:lnTo>
                      <a:lnTo>
                        <a:pt x="9" y="148"/>
                      </a:lnTo>
                      <a:lnTo>
                        <a:pt x="8" y="147"/>
                      </a:lnTo>
                      <a:lnTo>
                        <a:pt x="7" y="147"/>
                      </a:lnTo>
                      <a:lnTo>
                        <a:pt x="5" y="146"/>
                      </a:lnTo>
                      <a:lnTo>
                        <a:pt x="3" y="146"/>
                      </a:lnTo>
                      <a:lnTo>
                        <a:pt x="1" y="145"/>
                      </a:lnTo>
                      <a:lnTo>
                        <a:pt x="0" y="144"/>
                      </a:lnTo>
                      <a:lnTo>
                        <a:pt x="145" y="0"/>
                      </a:lnTo>
                      <a:lnTo>
                        <a:pt x="146" y="1"/>
                      </a:lnTo>
                      <a:lnTo>
                        <a:pt x="147" y="3"/>
                      </a:lnTo>
                      <a:lnTo>
                        <a:pt x="147" y="4"/>
                      </a:lnTo>
                      <a:lnTo>
                        <a:pt x="148" y="6"/>
                      </a:lnTo>
                      <a:lnTo>
                        <a:pt x="148" y="7"/>
                      </a:lnTo>
                      <a:lnTo>
                        <a:pt x="149" y="9"/>
                      </a:lnTo>
                      <a:lnTo>
                        <a:pt x="149" y="10"/>
                      </a:lnTo>
                      <a:lnTo>
                        <a:pt x="150" y="12"/>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90" name="Freeform 2327"/>
                <p:cNvSpPr>
                  <a:spLocks noChangeAspect="1"/>
                </p:cNvSpPr>
                <p:nvPr/>
              </p:nvSpPr>
              <p:spPr bwMode="auto">
                <a:xfrm>
                  <a:off x="4873" y="2336"/>
                  <a:ext cx="51" cy="51"/>
                </a:xfrm>
                <a:custGeom>
                  <a:avLst/>
                  <a:gdLst>
                    <a:gd name="T0" fmla="*/ 0 w 153"/>
                    <a:gd name="T1" fmla="*/ 0 h 154"/>
                    <a:gd name="T2" fmla="*/ 0 w 153"/>
                    <a:gd name="T3" fmla="*/ 0 h 154"/>
                    <a:gd name="T4" fmla="*/ 0 w 153"/>
                    <a:gd name="T5" fmla="*/ 0 h 154"/>
                    <a:gd name="T6" fmla="*/ 0 w 153"/>
                    <a:gd name="T7" fmla="*/ 0 h 154"/>
                    <a:gd name="T8" fmla="*/ 0 w 153"/>
                    <a:gd name="T9" fmla="*/ 0 h 154"/>
                    <a:gd name="T10" fmla="*/ 0 w 153"/>
                    <a:gd name="T11" fmla="*/ 0 h 154"/>
                    <a:gd name="T12" fmla="*/ 0 w 153"/>
                    <a:gd name="T13" fmla="*/ 0 h 154"/>
                    <a:gd name="T14" fmla="*/ 0 w 153"/>
                    <a:gd name="T15" fmla="*/ 0 h 154"/>
                    <a:gd name="T16" fmla="*/ 0 w 153"/>
                    <a:gd name="T17" fmla="*/ 0 h 154"/>
                    <a:gd name="T18" fmla="*/ 0 w 153"/>
                    <a:gd name="T19" fmla="*/ 0 h 154"/>
                    <a:gd name="T20" fmla="*/ 0 w 153"/>
                    <a:gd name="T21" fmla="*/ 0 h 154"/>
                    <a:gd name="T22" fmla="*/ 0 w 153"/>
                    <a:gd name="T23" fmla="*/ 0 h 154"/>
                    <a:gd name="T24" fmla="*/ 0 w 153"/>
                    <a:gd name="T25" fmla="*/ 0 h 154"/>
                    <a:gd name="T26" fmla="*/ 0 w 153"/>
                    <a:gd name="T27" fmla="*/ 0 h 154"/>
                    <a:gd name="T28" fmla="*/ 0 w 153"/>
                    <a:gd name="T29" fmla="*/ 0 h 154"/>
                    <a:gd name="T30" fmla="*/ 0 w 153"/>
                    <a:gd name="T31" fmla="*/ 0 h 154"/>
                    <a:gd name="T32" fmla="*/ 0 w 153"/>
                    <a:gd name="T33" fmla="*/ 0 h 154"/>
                    <a:gd name="T34" fmla="*/ 0 w 153"/>
                    <a:gd name="T35" fmla="*/ 0 h 154"/>
                    <a:gd name="T36" fmla="*/ 0 w 153"/>
                    <a:gd name="T37" fmla="*/ 0 h 15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3" h="154">
                      <a:moveTo>
                        <a:pt x="153" y="13"/>
                      </a:moveTo>
                      <a:lnTo>
                        <a:pt x="12" y="154"/>
                      </a:lnTo>
                      <a:lnTo>
                        <a:pt x="10" y="153"/>
                      </a:lnTo>
                      <a:lnTo>
                        <a:pt x="8" y="153"/>
                      </a:lnTo>
                      <a:lnTo>
                        <a:pt x="6" y="152"/>
                      </a:lnTo>
                      <a:lnTo>
                        <a:pt x="5" y="151"/>
                      </a:lnTo>
                      <a:lnTo>
                        <a:pt x="4" y="150"/>
                      </a:lnTo>
                      <a:lnTo>
                        <a:pt x="2" y="150"/>
                      </a:lnTo>
                      <a:lnTo>
                        <a:pt x="1" y="149"/>
                      </a:lnTo>
                      <a:lnTo>
                        <a:pt x="0" y="148"/>
                      </a:lnTo>
                      <a:lnTo>
                        <a:pt x="148" y="0"/>
                      </a:lnTo>
                      <a:lnTo>
                        <a:pt x="149" y="1"/>
                      </a:lnTo>
                      <a:lnTo>
                        <a:pt x="149" y="3"/>
                      </a:lnTo>
                      <a:lnTo>
                        <a:pt x="150" y="5"/>
                      </a:lnTo>
                      <a:lnTo>
                        <a:pt x="150" y="7"/>
                      </a:lnTo>
                      <a:lnTo>
                        <a:pt x="151" y="8"/>
                      </a:lnTo>
                      <a:lnTo>
                        <a:pt x="152" y="10"/>
                      </a:lnTo>
                      <a:lnTo>
                        <a:pt x="152" y="11"/>
                      </a:lnTo>
                      <a:lnTo>
                        <a:pt x="153" y="1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91" name="Freeform 2328"/>
                <p:cNvSpPr>
                  <a:spLocks noChangeAspect="1"/>
                </p:cNvSpPr>
                <p:nvPr/>
              </p:nvSpPr>
              <p:spPr bwMode="auto">
                <a:xfrm>
                  <a:off x="4871" y="2334"/>
                  <a:ext cx="52" cy="52"/>
                </a:xfrm>
                <a:custGeom>
                  <a:avLst/>
                  <a:gdLst>
                    <a:gd name="T0" fmla="*/ 0 w 155"/>
                    <a:gd name="T1" fmla="*/ 0 h 156"/>
                    <a:gd name="T2" fmla="*/ 0 w 155"/>
                    <a:gd name="T3" fmla="*/ 0 h 156"/>
                    <a:gd name="T4" fmla="*/ 0 w 155"/>
                    <a:gd name="T5" fmla="*/ 0 h 156"/>
                    <a:gd name="T6" fmla="*/ 0 w 155"/>
                    <a:gd name="T7" fmla="*/ 0 h 156"/>
                    <a:gd name="T8" fmla="*/ 0 w 155"/>
                    <a:gd name="T9" fmla="*/ 0 h 156"/>
                    <a:gd name="T10" fmla="*/ 0 w 155"/>
                    <a:gd name="T11" fmla="*/ 0 h 156"/>
                    <a:gd name="T12" fmla="*/ 0 w 155"/>
                    <a:gd name="T13" fmla="*/ 0 h 156"/>
                    <a:gd name="T14" fmla="*/ 0 w 155"/>
                    <a:gd name="T15" fmla="*/ 0 h 156"/>
                    <a:gd name="T16" fmla="*/ 0 w 155"/>
                    <a:gd name="T17" fmla="*/ 0 h 156"/>
                    <a:gd name="T18" fmla="*/ 0 w 155"/>
                    <a:gd name="T19" fmla="*/ 0 h 156"/>
                    <a:gd name="T20" fmla="*/ 0 w 155"/>
                    <a:gd name="T21" fmla="*/ 0 h 156"/>
                    <a:gd name="T22" fmla="*/ 0 w 155"/>
                    <a:gd name="T23" fmla="*/ 0 h 156"/>
                    <a:gd name="T24" fmla="*/ 0 w 155"/>
                    <a:gd name="T25" fmla="*/ 0 h 156"/>
                    <a:gd name="T26" fmla="*/ 0 w 155"/>
                    <a:gd name="T27" fmla="*/ 0 h 156"/>
                    <a:gd name="T28" fmla="*/ 0 w 155"/>
                    <a:gd name="T29" fmla="*/ 0 h 156"/>
                    <a:gd name="T30" fmla="*/ 0 w 155"/>
                    <a:gd name="T31" fmla="*/ 0 h 156"/>
                    <a:gd name="T32" fmla="*/ 0 w 155"/>
                    <a:gd name="T33" fmla="*/ 0 h 156"/>
                    <a:gd name="T34" fmla="*/ 0 w 155"/>
                    <a:gd name="T35" fmla="*/ 0 h 156"/>
                    <a:gd name="T36" fmla="*/ 0 w 155"/>
                    <a:gd name="T37" fmla="*/ 0 h 1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5" h="156">
                      <a:moveTo>
                        <a:pt x="155" y="12"/>
                      </a:moveTo>
                      <a:lnTo>
                        <a:pt x="10" y="156"/>
                      </a:lnTo>
                      <a:lnTo>
                        <a:pt x="9" y="155"/>
                      </a:lnTo>
                      <a:lnTo>
                        <a:pt x="7" y="155"/>
                      </a:lnTo>
                      <a:lnTo>
                        <a:pt x="6" y="154"/>
                      </a:lnTo>
                      <a:lnTo>
                        <a:pt x="5" y="153"/>
                      </a:lnTo>
                      <a:lnTo>
                        <a:pt x="4" y="152"/>
                      </a:lnTo>
                      <a:lnTo>
                        <a:pt x="2" y="152"/>
                      </a:lnTo>
                      <a:lnTo>
                        <a:pt x="1" y="151"/>
                      </a:lnTo>
                      <a:lnTo>
                        <a:pt x="0" y="150"/>
                      </a:lnTo>
                      <a:lnTo>
                        <a:pt x="150" y="0"/>
                      </a:lnTo>
                      <a:lnTo>
                        <a:pt x="151" y="1"/>
                      </a:lnTo>
                      <a:lnTo>
                        <a:pt x="152" y="2"/>
                      </a:lnTo>
                      <a:lnTo>
                        <a:pt x="152" y="4"/>
                      </a:lnTo>
                      <a:lnTo>
                        <a:pt x="153" y="5"/>
                      </a:lnTo>
                      <a:lnTo>
                        <a:pt x="154" y="6"/>
                      </a:lnTo>
                      <a:lnTo>
                        <a:pt x="154" y="8"/>
                      </a:lnTo>
                      <a:lnTo>
                        <a:pt x="155" y="10"/>
                      </a:lnTo>
                      <a:lnTo>
                        <a:pt x="155" y="12"/>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92" name="Freeform 2329"/>
                <p:cNvSpPr>
                  <a:spLocks noChangeAspect="1"/>
                </p:cNvSpPr>
                <p:nvPr/>
              </p:nvSpPr>
              <p:spPr bwMode="auto">
                <a:xfrm>
                  <a:off x="4869" y="2332"/>
                  <a:ext cx="53" cy="53"/>
                </a:xfrm>
                <a:custGeom>
                  <a:avLst/>
                  <a:gdLst>
                    <a:gd name="T0" fmla="*/ 0 w 159"/>
                    <a:gd name="T1" fmla="*/ 0 h 159"/>
                    <a:gd name="T2" fmla="*/ 0 w 159"/>
                    <a:gd name="T3" fmla="*/ 0 h 159"/>
                    <a:gd name="T4" fmla="*/ 0 w 159"/>
                    <a:gd name="T5" fmla="*/ 0 h 159"/>
                    <a:gd name="T6" fmla="*/ 0 w 159"/>
                    <a:gd name="T7" fmla="*/ 0 h 159"/>
                    <a:gd name="T8" fmla="*/ 0 w 159"/>
                    <a:gd name="T9" fmla="*/ 0 h 159"/>
                    <a:gd name="T10" fmla="*/ 0 w 159"/>
                    <a:gd name="T11" fmla="*/ 0 h 159"/>
                    <a:gd name="T12" fmla="*/ 0 w 159"/>
                    <a:gd name="T13" fmla="*/ 0 h 159"/>
                    <a:gd name="T14" fmla="*/ 0 w 159"/>
                    <a:gd name="T15" fmla="*/ 0 h 159"/>
                    <a:gd name="T16" fmla="*/ 0 w 159"/>
                    <a:gd name="T17" fmla="*/ 0 h 159"/>
                    <a:gd name="T18" fmla="*/ 0 w 159"/>
                    <a:gd name="T19" fmla="*/ 0 h 159"/>
                    <a:gd name="T20" fmla="*/ 0 w 159"/>
                    <a:gd name="T21" fmla="*/ 0 h 159"/>
                    <a:gd name="T22" fmla="*/ 0 w 159"/>
                    <a:gd name="T23" fmla="*/ 0 h 159"/>
                    <a:gd name="T24" fmla="*/ 0 w 159"/>
                    <a:gd name="T25" fmla="*/ 0 h 159"/>
                    <a:gd name="T26" fmla="*/ 0 w 159"/>
                    <a:gd name="T27" fmla="*/ 0 h 159"/>
                    <a:gd name="T28" fmla="*/ 0 w 159"/>
                    <a:gd name="T29" fmla="*/ 0 h 159"/>
                    <a:gd name="T30" fmla="*/ 0 w 159"/>
                    <a:gd name="T31" fmla="*/ 0 h 159"/>
                    <a:gd name="T32" fmla="*/ 0 w 159"/>
                    <a:gd name="T33" fmla="*/ 0 h 159"/>
                    <a:gd name="T34" fmla="*/ 0 w 159"/>
                    <a:gd name="T35" fmla="*/ 0 h 159"/>
                    <a:gd name="T36" fmla="*/ 0 w 159"/>
                    <a:gd name="T37" fmla="*/ 0 h 1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9" h="159">
                      <a:moveTo>
                        <a:pt x="159" y="11"/>
                      </a:moveTo>
                      <a:lnTo>
                        <a:pt x="11" y="159"/>
                      </a:lnTo>
                      <a:lnTo>
                        <a:pt x="10" y="158"/>
                      </a:lnTo>
                      <a:lnTo>
                        <a:pt x="8" y="158"/>
                      </a:lnTo>
                      <a:lnTo>
                        <a:pt x="7" y="157"/>
                      </a:lnTo>
                      <a:lnTo>
                        <a:pt x="6" y="156"/>
                      </a:lnTo>
                      <a:lnTo>
                        <a:pt x="5" y="155"/>
                      </a:lnTo>
                      <a:lnTo>
                        <a:pt x="2" y="154"/>
                      </a:lnTo>
                      <a:lnTo>
                        <a:pt x="1" y="153"/>
                      </a:lnTo>
                      <a:lnTo>
                        <a:pt x="0" y="152"/>
                      </a:lnTo>
                      <a:lnTo>
                        <a:pt x="153" y="0"/>
                      </a:lnTo>
                      <a:lnTo>
                        <a:pt x="154" y="2"/>
                      </a:lnTo>
                      <a:lnTo>
                        <a:pt x="155" y="3"/>
                      </a:lnTo>
                      <a:lnTo>
                        <a:pt x="155" y="4"/>
                      </a:lnTo>
                      <a:lnTo>
                        <a:pt x="156" y="6"/>
                      </a:lnTo>
                      <a:lnTo>
                        <a:pt x="157" y="7"/>
                      </a:lnTo>
                      <a:lnTo>
                        <a:pt x="158" y="8"/>
                      </a:lnTo>
                      <a:lnTo>
                        <a:pt x="158" y="10"/>
                      </a:lnTo>
                      <a:lnTo>
                        <a:pt x="159" y="1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93" name="Freeform 2330"/>
                <p:cNvSpPr>
                  <a:spLocks noChangeAspect="1"/>
                </p:cNvSpPr>
                <p:nvPr/>
              </p:nvSpPr>
              <p:spPr bwMode="auto">
                <a:xfrm>
                  <a:off x="4868" y="2330"/>
                  <a:ext cx="53" cy="54"/>
                </a:xfrm>
                <a:custGeom>
                  <a:avLst/>
                  <a:gdLst>
                    <a:gd name="T0" fmla="*/ 0 w 160"/>
                    <a:gd name="T1" fmla="*/ 0 h 161"/>
                    <a:gd name="T2" fmla="*/ 0 w 160"/>
                    <a:gd name="T3" fmla="*/ 0 h 161"/>
                    <a:gd name="T4" fmla="*/ 0 w 160"/>
                    <a:gd name="T5" fmla="*/ 0 h 161"/>
                    <a:gd name="T6" fmla="*/ 0 w 160"/>
                    <a:gd name="T7" fmla="*/ 0 h 161"/>
                    <a:gd name="T8" fmla="*/ 0 w 160"/>
                    <a:gd name="T9" fmla="*/ 0 h 161"/>
                    <a:gd name="T10" fmla="*/ 0 w 160"/>
                    <a:gd name="T11" fmla="*/ 0 h 161"/>
                    <a:gd name="T12" fmla="*/ 0 w 160"/>
                    <a:gd name="T13" fmla="*/ 0 h 161"/>
                    <a:gd name="T14" fmla="*/ 0 w 160"/>
                    <a:gd name="T15" fmla="*/ 0 h 161"/>
                    <a:gd name="T16" fmla="*/ 0 w 160"/>
                    <a:gd name="T17" fmla="*/ 0 h 161"/>
                    <a:gd name="T18" fmla="*/ 0 w 160"/>
                    <a:gd name="T19" fmla="*/ 0 h 161"/>
                    <a:gd name="T20" fmla="*/ 0 w 160"/>
                    <a:gd name="T21" fmla="*/ 0 h 161"/>
                    <a:gd name="T22" fmla="*/ 0 w 160"/>
                    <a:gd name="T23" fmla="*/ 0 h 161"/>
                    <a:gd name="T24" fmla="*/ 0 w 160"/>
                    <a:gd name="T25" fmla="*/ 0 h 161"/>
                    <a:gd name="T26" fmla="*/ 0 w 160"/>
                    <a:gd name="T27" fmla="*/ 0 h 161"/>
                    <a:gd name="T28" fmla="*/ 0 w 160"/>
                    <a:gd name="T29" fmla="*/ 0 h 161"/>
                    <a:gd name="T30" fmla="*/ 0 w 160"/>
                    <a:gd name="T31" fmla="*/ 0 h 161"/>
                    <a:gd name="T32" fmla="*/ 0 w 160"/>
                    <a:gd name="T33" fmla="*/ 0 h 161"/>
                    <a:gd name="T34" fmla="*/ 0 w 160"/>
                    <a:gd name="T35" fmla="*/ 0 h 161"/>
                    <a:gd name="T36" fmla="*/ 0 w 160"/>
                    <a:gd name="T37" fmla="*/ 0 h 1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0" h="161">
                      <a:moveTo>
                        <a:pt x="160" y="11"/>
                      </a:moveTo>
                      <a:lnTo>
                        <a:pt x="10" y="161"/>
                      </a:lnTo>
                      <a:lnTo>
                        <a:pt x="9" y="160"/>
                      </a:lnTo>
                      <a:lnTo>
                        <a:pt x="6" y="159"/>
                      </a:lnTo>
                      <a:lnTo>
                        <a:pt x="5" y="158"/>
                      </a:lnTo>
                      <a:lnTo>
                        <a:pt x="4" y="157"/>
                      </a:lnTo>
                      <a:lnTo>
                        <a:pt x="3" y="156"/>
                      </a:lnTo>
                      <a:lnTo>
                        <a:pt x="2" y="154"/>
                      </a:lnTo>
                      <a:lnTo>
                        <a:pt x="1" y="154"/>
                      </a:lnTo>
                      <a:lnTo>
                        <a:pt x="0" y="153"/>
                      </a:lnTo>
                      <a:lnTo>
                        <a:pt x="153" y="0"/>
                      </a:lnTo>
                      <a:lnTo>
                        <a:pt x="154" y="1"/>
                      </a:lnTo>
                      <a:lnTo>
                        <a:pt x="154" y="2"/>
                      </a:lnTo>
                      <a:lnTo>
                        <a:pt x="155" y="3"/>
                      </a:lnTo>
                      <a:lnTo>
                        <a:pt x="157" y="5"/>
                      </a:lnTo>
                      <a:lnTo>
                        <a:pt x="158" y="7"/>
                      </a:lnTo>
                      <a:lnTo>
                        <a:pt x="159" y="8"/>
                      </a:lnTo>
                      <a:lnTo>
                        <a:pt x="159" y="9"/>
                      </a:lnTo>
                      <a:lnTo>
                        <a:pt x="160" y="1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94" name="Freeform 2331"/>
                <p:cNvSpPr>
                  <a:spLocks noChangeAspect="1"/>
                </p:cNvSpPr>
                <p:nvPr/>
              </p:nvSpPr>
              <p:spPr bwMode="auto">
                <a:xfrm>
                  <a:off x="4866" y="2329"/>
                  <a:ext cx="54" cy="54"/>
                </a:xfrm>
                <a:custGeom>
                  <a:avLst/>
                  <a:gdLst>
                    <a:gd name="T0" fmla="*/ 0 w 162"/>
                    <a:gd name="T1" fmla="*/ 0 h 162"/>
                    <a:gd name="T2" fmla="*/ 0 w 162"/>
                    <a:gd name="T3" fmla="*/ 0 h 162"/>
                    <a:gd name="T4" fmla="*/ 0 w 162"/>
                    <a:gd name="T5" fmla="*/ 0 h 162"/>
                    <a:gd name="T6" fmla="*/ 0 w 162"/>
                    <a:gd name="T7" fmla="*/ 0 h 162"/>
                    <a:gd name="T8" fmla="*/ 0 w 162"/>
                    <a:gd name="T9" fmla="*/ 0 h 162"/>
                    <a:gd name="T10" fmla="*/ 0 w 162"/>
                    <a:gd name="T11" fmla="*/ 0 h 162"/>
                    <a:gd name="T12" fmla="*/ 0 w 162"/>
                    <a:gd name="T13" fmla="*/ 0 h 162"/>
                    <a:gd name="T14" fmla="*/ 0 w 162"/>
                    <a:gd name="T15" fmla="*/ 0 h 162"/>
                    <a:gd name="T16" fmla="*/ 0 w 162"/>
                    <a:gd name="T17" fmla="*/ 0 h 162"/>
                    <a:gd name="T18" fmla="*/ 0 w 162"/>
                    <a:gd name="T19" fmla="*/ 0 h 162"/>
                    <a:gd name="T20" fmla="*/ 0 w 162"/>
                    <a:gd name="T21" fmla="*/ 0 h 162"/>
                    <a:gd name="T22" fmla="*/ 0 w 162"/>
                    <a:gd name="T23" fmla="*/ 0 h 162"/>
                    <a:gd name="T24" fmla="*/ 0 w 162"/>
                    <a:gd name="T25" fmla="*/ 0 h 162"/>
                    <a:gd name="T26" fmla="*/ 0 w 162"/>
                    <a:gd name="T27" fmla="*/ 0 h 162"/>
                    <a:gd name="T28" fmla="*/ 0 w 162"/>
                    <a:gd name="T29" fmla="*/ 0 h 162"/>
                    <a:gd name="T30" fmla="*/ 0 w 162"/>
                    <a:gd name="T31" fmla="*/ 0 h 162"/>
                    <a:gd name="T32" fmla="*/ 0 w 162"/>
                    <a:gd name="T33" fmla="*/ 0 h 162"/>
                    <a:gd name="T34" fmla="*/ 0 w 162"/>
                    <a:gd name="T35" fmla="*/ 0 h 162"/>
                    <a:gd name="T36" fmla="*/ 0 w 162"/>
                    <a:gd name="T37" fmla="*/ 0 h 1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162">
                      <a:moveTo>
                        <a:pt x="162" y="10"/>
                      </a:moveTo>
                      <a:lnTo>
                        <a:pt x="9" y="162"/>
                      </a:lnTo>
                      <a:lnTo>
                        <a:pt x="8" y="161"/>
                      </a:lnTo>
                      <a:lnTo>
                        <a:pt x="7" y="159"/>
                      </a:lnTo>
                      <a:lnTo>
                        <a:pt x="6" y="159"/>
                      </a:lnTo>
                      <a:lnTo>
                        <a:pt x="5" y="158"/>
                      </a:lnTo>
                      <a:lnTo>
                        <a:pt x="4" y="157"/>
                      </a:lnTo>
                      <a:lnTo>
                        <a:pt x="2" y="156"/>
                      </a:lnTo>
                      <a:lnTo>
                        <a:pt x="1" y="155"/>
                      </a:lnTo>
                      <a:lnTo>
                        <a:pt x="0" y="154"/>
                      </a:lnTo>
                      <a:lnTo>
                        <a:pt x="154" y="0"/>
                      </a:lnTo>
                      <a:lnTo>
                        <a:pt x="155" y="1"/>
                      </a:lnTo>
                      <a:lnTo>
                        <a:pt x="156" y="2"/>
                      </a:lnTo>
                      <a:lnTo>
                        <a:pt x="157" y="3"/>
                      </a:lnTo>
                      <a:lnTo>
                        <a:pt x="158" y="5"/>
                      </a:lnTo>
                      <a:lnTo>
                        <a:pt x="159" y="6"/>
                      </a:lnTo>
                      <a:lnTo>
                        <a:pt x="159" y="7"/>
                      </a:lnTo>
                      <a:lnTo>
                        <a:pt x="160" y="8"/>
                      </a:lnTo>
                      <a:lnTo>
                        <a:pt x="162" y="1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95" name="Freeform 2332"/>
                <p:cNvSpPr>
                  <a:spLocks noChangeAspect="1"/>
                </p:cNvSpPr>
                <p:nvPr/>
              </p:nvSpPr>
              <p:spPr bwMode="auto">
                <a:xfrm>
                  <a:off x="4865" y="2327"/>
                  <a:ext cx="54" cy="54"/>
                </a:xfrm>
                <a:custGeom>
                  <a:avLst/>
                  <a:gdLst>
                    <a:gd name="T0" fmla="*/ 0 w 162"/>
                    <a:gd name="T1" fmla="*/ 0 h 163"/>
                    <a:gd name="T2" fmla="*/ 0 w 162"/>
                    <a:gd name="T3" fmla="*/ 0 h 163"/>
                    <a:gd name="T4" fmla="*/ 0 w 162"/>
                    <a:gd name="T5" fmla="*/ 0 h 163"/>
                    <a:gd name="T6" fmla="*/ 0 w 162"/>
                    <a:gd name="T7" fmla="*/ 0 h 163"/>
                    <a:gd name="T8" fmla="*/ 0 w 162"/>
                    <a:gd name="T9" fmla="*/ 0 h 163"/>
                    <a:gd name="T10" fmla="*/ 0 w 162"/>
                    <a:gd name="T11" fmla="*/ 0 h 163"/>
                    <a:gd name="T12" fmla="*/ 0 w 162"/>
                    <a:gd name="T13" fmla="*/ 0 h 163"/>
                    <a:gd name="T14" fmla="*/ 0 w 162"/>
                    <a:gd name="T15" fmla="*/ 0 h 163"/>
                    <a:gd name="T16" fmla="*/ 0 w 162"/>
                    <a:gd name="T17" fmla="*/ 0 h 163"/>
                    <a:gd name="T18" fmla="*/ 0 w 162"/>
                    <a:gd name="T19" fmla="*/ 0 h 163"/>
                    <a:gd name="T20" fmla="*/ 0 w 162"/>
                    <a:gd name="T21" fmla="*/ 0 h 163"/>
                    <a:gd name="T22" fmla="*/ 0 w 162"/>
                    <a:gd name="T23" fmla="*/ 0 h 163"/>
                    <a:gd name="T24" fmla="*/ 0 w 162"/>
                    <a:gd name="T25" fmla="*/ 0 h 163"/>
                    <a:gd name="T26" fmla="*/ 0 w 162"/>
                    <a:gd name="T27" fmla="*/ 0 h 163"/>
                    <a:gd name="T28" fmla="*/ 0 w 162"/>
                    <a:gd name="T29" fmla="*/ 0 h 163"/>
                    <a:gd name="T30" fmla="*/ 0 w 162"/>
                    <a:gd name="T31" fmla="*/ 0 h 163"/>
                    <a:gd name="T32" fmla="*/ 0 w 162"/>
                    <a:gd name="T33" fmla="*/ 0 h 163"/>
                    <a:gd name="T34" fmla="*/ 0 w 162"/>
                    <a:gd name="T35" fmla="*/ 0 h 163"/>
                    <a:gd name="T36" fmla="*/ 0 w 162"/>
                    <a:gd name="T37" fmla="*/ 0 h 16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163">
                      <a:moveTo>
                        <a:pt x="162" y="10"/>
                      </a:moveTo>
                      <a:lnTo>
                        <a:pt x="9" y="163"/>
                      </a:lnTo>
                      <a:lnTo>
                        <a:pt x="8" y="162"/>
                      </a:lnTo>
                      <a:lnTo>
                        <a:pt x="6" y="161"/>
                      </a:lnTo>
                      <a:lnTo>
                        <a:pt x="5" y="160"/>
                      </a:lnTo>
                      <a:lnTo>
                        <a:pt x="4" y="159"/>
                      </a:lnTo>
                      <a:lnTo>
                        <a:pt x="3" y="158"/>
                      </a:lnTo>
                      <a:lnTo>
                        <a:pt x="2" y="157"/>
                      </a:lnTo>
                      <a:lnTo>
                        <a:pt x="1" y="155"/>
                      </a:lnTo>
                      <a:lnTo>
                        <a:pt x="0" y="154"/>
                      </a:lnTo>
                      <a:lnTo>
                        <a:pt x="154" y="0"/>
                      </a:lnTo>
                      <a:lnTo>
                        <a:pt x="155" y="1"/>
                      </a:lnTo>
                      <a:lnTo>
                        <a:pt x="156" y="3"/>
                      </a:lnTo>
                      <a:lnTo>
                        <a:pt x="157" y="4"/>
                      </a:lnTo>
                      <a:lnTo>
                        <a:pt x="158" y="5"/>
                      </a:lnTo>
                      <a:lnTo>
                        <a:pt x="159" y="6"/>
                      </a:lnTo>
                      <a:lnTo>
                        <a:pt x="160" y="7"/>
                      </a:lnTo>
                      <a:lnTo>
                        <a:pt x="161" y="8"/>
                      </a:lnTo>
                      <a:lnTo>
                        <a:pt x="162" y="1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96" name="Freeform 2333"/>
                <p:cNvSpPr>
                  <a:spLocks noChangeAspect="1"/>
                </p:cNvSpPr>
                <p:nvPr/>
              </p:nvSpPr>
              <p:spPr bwMode="auto">
                <a:xfrm>
                  <a:off x="4863" y="2325"/>
                  <a:ext cx="54" cy="55"/>
                </a:xfrm>
                <a:custGeom>
                  <a:avLst/>
                  <a:gdLst>
                    <a:gd name="T0" fmla="*/ 0 w 162"/>
                    <a:gd name="T1" fmla="*/ 0 h 164"/>
                    <a:gd name="T2" fmla="*/ 0 w 162"/>
                    <a:gd name="T3" fmla="*/ 0 h 164"/>
                    <a:gd name="T4" fmla="*/ 0 w 162"/>
                    <a:gd name="T5" fmla="*/ 0 h 164"/>
                    <a:gd name="T6" fmla="*/ 0 w 162"/>
                    <a:gd name="T7" fmla="*/ 0 h 164"/>
                    <a:gd name="T8" fmla="*/ 0 w 162"/>
                    <a:gd name="T9" fmla="*/ 0 h 164"/>
                    <a:gd name="T10" fmla="*/ 0 w 162"/>
                    <a:gd name="T11" fmla="*/ 0 h 164"/>
                    <a:gd name="T12" fmla="*/ 0 w 162"/>
                    <a:gd name="T13" fmla="*/ 0 h 164"/>
                    <a:gd name="T14" fmla="*/ 0 w 162"/>
                    <a:gd name="T15" fmla="*/ 0 h 164"/>
                    <a:gd name="T16" fmla="*/ 0 w 162"/>
                    <a:gd name="T17" fmla="*/ 0 h 164"/>
                    <a:gd name="T18" fmla="*/ 0 w 162"/>
                    <a:gd name="T19" fmla="*/ 0 h 164"/>
                    <a:gd name="T20" fmla="*/ 0 w 162"/>
                    <a:gd name="T21" fmla="*/ 0 h 164"/>
                    <a:gd name="T22" fmla="*/ 0 w 162"/>
                    <a:gd name="T23" fmla="*/ 0 h 164"/>
                    <a:gd name="T24" fmla="*/ 0 w 162"/>
                    <a:gd name="T25" fmla="*/ 0 h 164"/>
                    <a:gd name="T26" fmla="*/ 0 w 162"/>
                    <a:gd name="T27" fmla="*/ 0 h 164"/>
                    <a:gd name="T28" fmla="*/ 0 w 162"/>
                    <a:gd name="T29" fmla="*/ 0 h 164"/>
                    <a:gd name="T30" fmla="*/ 0 w 162"/>
                    <a:gd name="T31" fmla="*/ 0 h 164"/>
                    <a:gd name="T32" fmla="*/ 0 w 162"/>
                    <a:gd name="T33" fmla="*/ 0 h 164"/>
                    <a:gd name="T34" fmla="*/ 0 w 162"/>
                    <a:gd name="T35" fmla="*/ 0 h 164"/>
                    <a:gd name="T36" fmla="*/ 0 w 162"/>
                    <a:gd name="T37" fmla="*/ 0 h 16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164">
                      <a:moveTo>
                        <a:pt x="162" y="10"/>
                      </a:moveTo>
                      <a:lnTo>
                        <a:pt x="8" y="164"/>
                      </a:lnTo>
                      <a:lnTo>
                        <a:pt x="7" y="163"/>
                      </a:lnTo>
                      <a:lnTo>
                        <a:pt x="6" y="162"/>
                      </a:lnTo>
                      <a:lnTo>
                        <a:pt x="5" y="160"/>
                      </a:lnTo>
                      <a:lnTo>
                        <a:pt x="4" y="159"/>
                      </a:lnTo>
                      <a:lnTo>
                        <a:pt x="2" y="158"/>
                      </a:lnTo>
                      <a:lnTo>
                        <a:pt x="1" y="157"/>
                      </a:lnTo>
                      <a:lnTo>
                        <a:pt x="1" y="156"/>
                      </a:lnTo>
                      <a:lnTo>
                        <a:pt x="0" y="155"/>
                      </a:lnTo>
                      <a:lnTo>
                        <a:pt x="154" y="0"/>
                      </a:lnTo>
                      <a:lnTo>
                        <a:pt x="155" y="1"/>
                      </a:lnTo>
                      <a:lnTo>
                        <a:pt x="156" y="3"/>
                      </a:lnTo>
                      <a:lnTo>
                        <a:pt x="157" y="4"/>
                      </a:lnTo>
                      <a:lnTo>
                        <a:pt x="158" y="5"/>
                      </a:lnTo>
                      <a:lnTo>
                        <a:pt x="159" y="6"/>
                      </a:lnTo>
                      <a:lnTo>
                        <a:pt x="160" y="8"/>
                      </a:lnTo>
                      <a:lnTo>
                        <a:pt x="161" y="9"/>
                      </a:lnTo>
                      <a:lnTo>
                        <a:pt x="162" y="1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97" name="Freeform 2334"/>
                <p:cNvSpPr>
                  <a:spLocks noChangeAspect="1"/>
                </p:cNvSpPr>
                <p:nvPr/>
              </p:nvSpPr>
              <p:spPr bwMode="auto">
                <a:xfrm>
                  <a:off x="4862" y="2324"/>
                  <a:ext cx="54" cy="54"/>
                </a:xfrm>
                <a:custGeom>
                  <a:avLst/>
                  <a:gdLst>
                    <a:gd name="T0" fmla="*/ 0 w 162"/>
                    <a:gd name="T1" fmla="*/ 0 h 163"/>
                    <a:gd name="T2" fmla="*/ 0 w 162"/>
                    <a:gd name="T3" fmla="*/ 0 h 163"/>
                    <a:gd name="T4" fmla="*/ 0 w 162"/>
                    <a:gd name="T5" fmla="*/ 0 h 163"/>
                    <a:gd name="T6" fmla="*/ 0 w 162"/>
                    <a:gd name="T7" fmla="*/ 0 h 163"/>
                    <a:gd name="T8" fmla="*/ 0 w 162"/>
                    <a:gd name="T9" fmla="*/ 0 h 163"/>
                    <a:gd name="T10" fmla="*/ 0 w 162"/>
                    <a:gd name="T11" fmla="*/ 0 h 163"/>
                    <a:gd name="T12" fmla="*/ 0 w 162"/>
                    <a:gd name="T13" fmla="*/ 0 h 163"/>
                    <a:gd name="T14" fmla="*/ 0 w 162"/>
                    <a:gd name="T15" fmla="*/ 0 h 163"/>
                    <a:gd name="T16" fmla="*/ 0 w 162"/>
                    <a:gd name="T17" fmla="*/ 0 h 163"/>
                    <a:gd name="T18" fmla="*/ 0 w 162"/>
                    <a:gd name="T19" fmla="*/ 0 h 163"/>
                    <a:gd name="T20" fmla="*/ 0 w 162"/>
                    <a:gd name="T21" fmla="*/ 0 h 163"/>
                    <a:gd name="T22" fmla="*/ 0 w 162"/>
                    <a:gd name="T23" fmla="*/ 0 h 163"/>
                    <a:gd name="T24" fmla="*/ 0 w 162"/>
                    <a:gd name="T25" fmla="*/ 0 h 163"/>
                    <a:gd name="T26" fmla="*/ 0 w 162"/>
                    <a:gd name="T27" fmla="*/ 0 h 163"/>
                    <a:gd name="T28" fmla="*/ 0 w 162"/>
                    <a:gd name="T29" fmla="*/ 0 h 163"/>
                    <a:gd name="T30" fmla="*/ 0 w 162"/>
                    <a:gd name="T31" fmla="*/ 0 h 163"/>
                    <a:gd name="T32" fmla="*/ 0 w 162"/>
                    <a:gd name="T33" fmla="*/ 0 h 163"/>
                    <a:gd name="T34" fmla="*/ 0 w 162"/>
                    <a:gd name="T35" fmla="*/ 0 h 163"/>
                    <a:gd name="T36" fmla="*/ 0 w 162"/>
                    <a:gd name="T37" fmla="*/ 0 h 16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163">
                      <a:moveTo>
                        <a:pt x="162" y="9"/>
                      </a:moveTo>
                      <a:lnTo>
                        <a:pt x="8" y="163"/>
                      </a:lnTo>
                      <a:lnTo>
                        <a:pt x="6" y="162"/>
                      </a:lnTo>
                      <a:lnTo>
                        <a:pt x="5" y="161"/>
                      </a:lnTo>
                      <a:lnTo>
                        <a:pt x="5" y="160"/>
                      </a:lnTo>
                      <a:lnTo>
                        <a:pt x="4" y="159"/>
                      </a:lnTo>
                      <a:lnTo>
                        <a:pt x="3" y="158"/>
                      </a:lnTo>
                      <a:lnTo>
                        <a:pt x="2" y="156"/>
                      </a:lnTo>
                      <a:lnTo>
                        <a:pt x="1" y="154"/>
                      </a:lnTo>
                      <a:lnTo>
                        <a:pt x="0" y="153"/>
                      </a:lnTo>
                      <a:lnTo>
                        <a:pt x="153" y="0"/>
                      </a:lnTo>
                      <a:lnTo>
                        <a:pt x="154" y="1"/>
                      </a:lnTo>
                      <a:lnTo>
                        <a:pt x="155" y="2"/>
                      </a:lnTo>
                      <a:lnTo>
                        <a:pt x="157" y="3"/>
                      </a:lnTo>
                      <a:lnTo>
                        <a:pt x="158" y="4"/>
                      </a:lnTo>
                      <a:lnTo>
                        <a:pt x="159" y="5"/>
                      </a:lnTo>
                      <a:lnTo>
                        <a:pt x="160" y="7"/>
                      </a:lnTo>
                      <a:lnTo>
                        <a:pt x="161" y="8"/>
                      </a:lnTo>
                      <a:lnTo>
                        <a:pt x="162" y="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98" name="Freeform 2335"/>
                <p:cNvSpPr>
                  <a:spLocks noChangeAspect="1"/>
                </p:cNvSpPr>
                <p:nvPr/>
              </p:nvSpPr>
              <p:spPr bwMode="auto">
                <a:xfrm>
                  <a:off x="4861" y="2323"/>
                  <a:ext cx="54" cy="54"/>
                </a:xfrm>
                <a:custGeom>
                  <a:avLst/>
                  <a:gdLst>
                    <a:gd name="T0" fmla="*/ 0 w 161"/>
                    <a:gd name="T1" fmla="*/ 0 h 163"/>
                    <a:gd name="T2" fmla="*/ 0 w 161"/>
                    <a:gd name="T3" fmla="*/ 0 h 163"/>
                    <a:gd name="T4" fmla="*/ 0 w 161"/>
                    <a:gd name="T5" fmla="*/ 0 h 163"/>
                    <a:gd name="T6" fmla="*/ 0 w 161"/>
                    <a:gd name="T7" fmla="*/ 0 h 163"/>
                    <a:gd name="T8" fmla="*/ 0 w 161"/>
                    <a:gd name="T9" fmla="*/ 0 h 163"/>
                    <a:gd name="T10" fmla="*/ 0 w 161"/>
                    <a:gd name="T11" fmla="*/ 0 h 163"/>
                    <a:gd name="T12" fmla="*/ 0 w 161"/>
                    <a:gd name="T13" fmla="*/ 0 h 163"/>
                    <a:gd name="T14" fmla="*/ 0 w 161"/>
                    <a:gd name="T15" fmla="*/ 0 h 163"/>
                    <a:gd name="T16" fmla="*/ 0 w 161"/>
                    <a:gd name="T17" fmla="*/ 0 h 163"/>
                    <a:gd name="T18" fmla="*/ 0 w 161"/>
                    <a:gd name="T19" fmla="*/ 0 h 163"/>
                    <a:gd name="T20" fmla="*/ 0 w 161"/>
                    <a:gd name="T21" fmla="*/ 0 h 163"/>
                    <a:gd name="T22" fmla="*/ 0 w 161"/>
                    <a:gd name="T23" fmla="*/ 0 h 163"/>
                    <a:gd name="T24" fmla="*/ 0 w 161"/>
                    <a:gd name="T25" fmla="*/ 0 h 163"/>
                    <a:gd name="T26" fmla="*/ 0 w 161"/>
                    <a:gd name="T27" fmla="*/ 0 h 163"/>
                    <a:gd name="T28" fmla="*/ 0 w 161"/>
                    <a:gd name="T29" fmla="*/ 0 h 163"/>
                    <a:gd name="T30" fmla="*/ 0 w 161"/>
                    <a:gd name="T31" fmla="*/ 0 h 163"/>
                    <a:gd name="T32" fmla="*/ 0 w 161"/>
                    <a:gd name="T33" fmla="*/ 0 h 163"/>
                    <a:gd name="T34" fmla="*/ 0 w 161"/>
                    <a:gd name="T35" fmla="*/ 0 h 163"/>
                    <a:gd name="T36" fmla="*/ 0 w 161"/>
                    <a:gd name="T37" fmla="*/ 0 h 16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1" h="163">
                      <a:moveTo>
                        <a:pt x="161" y="8"/>
                      </a:moveTo>
                      <a:lnTo>
                        <a:pt x="7" y="163"/>
                      </a:lnTo>
                      <a:lnTo>
                        <a:pt x="6" y="162"/>
                      </a:lnTo>
                      <a:lnTo>
                        <a:pt x="5" y="160"/>
                      </a:lnTo>
                      <a:lnTo>
                        <a:pt x="4" y="158"/>
                      </a:lnTo>
                      <a:lnTo>
                        <a:pt x="3" y="157"/>
                      </a:lnTo>
                      <a:lnTo>
                        <a:pt x="2" y="156"/>
                      </a:lnTo>
                      <a:lnTo>
                        <a:pt x="1" y="155"/>
                      </a:lnTo>
                      <a:lnTo>
                        <a:pt x="1" y="154"/>
                      </a:lnTo>
                      <a:lnTo>
                        <a:pt x="0" y="152"/>
                      </a:lnTo>
                      <a:lnTo>
                        <a:pt x="152" y="0"/>
                      </a:lnTo>
                      <a:lnTo>
                        <a:pt x="153" y="1"/>
                      </a:lnTo>
                      <a:lnTo>
                        <a:pt x="154" y="2"/>
                      </a:lnTo>
                      <a:lnTo>
                        <a:pt x="155" y="3"/>
                      </a:lnTo>
                      <a:lnTo>
                        <a:pt x="156" y="4"/>
                      </a:lnTo>
                      <a:lnTo>
                        <a:pt x="157" y="5"/>
                      </a:lnTo>
                      <a:lnTo>
                        <a:pt x="158" y="6"/>
                      </a:lnTo>
                      <a:lnTo>
                        <a:pt x="160" y="7"/>
                      </a:lnTo>
                      <a:lnTo>
                        <a:pt x="161" y="8"/>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99" name="Freeform 2336"/>
                <p:cNvSpPr>
                  <a:spLocks noChangeAspect="1"/>
                </p:cNvSpPr>
                <p:nvPr/>
              </p:nvSpPr>
              <p:spPr bwMode="auto">
                <a:xfrm>
                  <a:off x="4860" y="2322"/>
                  <a:ext cx="53" cy="53"/>
                </a:xfrm>
                <a:custGeom>
                  <a:avLst/>
                  <a:gdLst>
                    <a:gd name="T0" fmla="*/ 0 w 159"/>
                    <a:gd name="T1" fmla="*/ 0 h 160"/>
                    <a:gd name="T2" fmla="*/ 0 w 159"/>
                    <a:gd name="T3" fmla="*/ 0 h 160"/>
                    <a:gd name="T4" fmla="*/ 0 w 159"/>
                    <a:gd name="T5" fmla="*/ 0 h 160"/>
                    <a:gd name="T6" fmla="*/ 0 w 159"/>
                    <a:gd name="T7" fmla="*/ 0 h 160"/>
                    <a:gd name="T8" fmla="*/ 0 w 159"/>
                    <a:gd name="T9" fmla="*/ 0 h 160"/>
                    <a:gd name="T10" fmla="*/ 0 w 159"/>
                    <a:gd name="T11" fmla="*/ 0 h 160"/>
                    <a:gd name="T12" fmla="*/ 0 w 159"/>
                    <a:gd name="T13" fmla="*/ 0 h 160"/>
                    <a:gd name="T14" fmla="*/ 0 w 159"/>
                    <a:gd name="T15" fmla="*/ 0 h 160"/>
                    <a:gd name="T16" fmla="*/ 0 w 159"/>
                    <a:gd name="T17" fmla="*/ 0 h 160"/>
                    <a:gd name="T18" fmla="*/ 0 w 159"/>
                    <a:gd name="T19" fmla="*/ 0 h 160"/>
                    <a:gd name="T20" fmla="*/ 0 w 159"/>
                    <a:gd name="T21" fmla="*/ 0 h 160"/>
                    <a:gd name="T22" fmla="*/ 0 w 159"/>
                    <a:gd name="T23" fmla="*/ 0 h 160"/>
                    <a:gd name="T24" fmla="*/ 0 w 159"/>
                    <a:gd name="T25" fmla="*/ 0 h 160"/>
                    <a:gd name="T26" fmla="*/ 0 w 159"/>
                    <a:gd name="T27" fmla="*/ 0 h 160"/>
                    <a:gd name="T28" fmla="*/ 0 w 159"/>
                    <a:gd name="T29" fmla="*/ 0 h 160"/>
                    <a:gd name="T30" fmla="*/ 0 w 159"/>
                    <a:gd name="T31" fmla="*/ 0 h 160"/>
                    <a:gd name="T32" fmla="*/ 0 w 159"/>
                    <a:gd name="T33" fmla="*/ 0 h 160"/>
                    <a:gd name="T34" fmla="*/ 0 w 159"/>
                    <a:gd name="T35" fmla="*/ 0 h 160"/>
                    <a:gd name="T36" fmla="*/ 0 w 159"/>
                    <a:gd name="T37" fmla="*/ 0 h 16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9" h="160">
                      <a:moveTo>
                        <a:pt x="159" y="7"/>
                      </a:moveTo>
                      <a:lnTo>
                        <a:pt x="6" y="160"/>
                      </a:lnTo>
                      <a:lnTo>
                        <a:pt x="5" y="159"/>
                      </a:lnTo>
                      <a:lnTo>
                        <a:pt x="4" y="158"/>
                      </a:lnTo>
                      <a:lnTo>
                        <a:pt x="4" y="157"/>
                      </a:lnTo>
                      <a:lnTo>
                        <a:pt x="3" y="155"/>
                      </a:lnTo>
                      <a:lnTo>
                        <a:pt x="2" y="154"/>
                      </a:lnTo>
                      <a:lnTo>
                        <a:pt x="1" y="153"/>
                      </a:lnTo>
                      <a:lnTo>
                        <a:pt x="0" y="151"/>
                      </a:lnTo>
                      <a:lnTo>
                        <a:pt x="0" y="150"/>
                      </a:lnTo>
                      <a:lnTo>
                        <a:pt x="150" y="0"/>
                      </a:lnTo>
                      <a:lnTo>
                        <a:pt x="151" y="1"/>
                      </a:lnTo>
                      <a:lnTo>
                        <a:pt x="152" y="2"/>
                      </a:lnTo>
                      <a:lnTo>
                        <a:pt x="153" y="3"/>
                      </a:lnTo>
                      <a:lnTo>
                        <a:pt x="155" y="3"/>
                      </a:lnTo>
                      <a:lnTo>
                        <a:pt x="156" y="4"/>
                      </a:lnTo>
                      <a:lnTo>
                        <a:pt x="157" y="5"/>
                      </a:lnTo>
                      <a:lnTo>
                        <a:pt x="158" y="6"/>
                      </a:lnTo>
                      <a:lnTo>
                        <a:pt x="159" y="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00" name="Freeform 2337"/>
                <p:cNvSpPr>
                  <a:spLocks noChangeAspect="1"/>
                </p:cNvSpPr>
                <p:nvPr/>
              </p:nvSpPr>
              <p:spPr bwMode="auto">
                <a:xfrm>
                  <a:off x="4859" y="2321"/>
                  <a:ext cx="53" cy="52"/>
                </a:xfrm>
                <a:custGeom>
                  <a:avLst/>
                  <a:gdLst>
                    <a:gd name="T0" fmla="*/ 0 w 159"/>
                    <a:gd name="T1" fmla="*/ 0 h 158"/>
                    <a:gd name="T2" fmla="*/ 0 w 159"/>
                    <a:gd name="T3" fmla="*/ 0 h 158"/>
                    <a:gd name="T4" fmla="*/ 0 w 159"/>
                    <a:gd name="T5" fmla="*/ 0 h 158"/>
                    <a:gd name="T6" fmla="*/ 0 w 159"/>
                    <a:gd name="T7" fmla="*/ 0 h 158"/>
                    <a:gd name="T8" fmla="*/ 0 w 159"/>
                    <a:gd name="T9" fmla="*/ 0 h 158"/>
                    <a:gd name="T10" fmla="*/ 0 w 159"/>
                    <a:gd name="T11" fmla="*/ 0 h 158"/>
                    <a:gd name="T12" fmla="*/ 0 w 159"/>
                    <a:gd name="T13" fmla="*/ 0 h 158"/>
                    <a:gd name="T14" fmla="*/ 0 w 159"/>
                    <a:gd name="T15" fmla="*/ 0 h 158"/>
                    <a:gd name="T16" fmla="*/ 0 w 159"/>
                    <a:gd name="T17" fmla="*/ 0 h 158"/>
                    <a:gd name="T18" fmla="*/ 0 w 159"/>
                    <a:gd name="T19" fmla="*/ 0 h 158"/>
                    <a:gd name="T20" fmla="*/ 0 w 159"/>
                    <a:gd name="T21" fmla="*/ 0 h 158"/>
                    <a:gd name="T22" fmla="*/ 0 w 159"/>
                    <a:gd name="T23" fmla="*/ 0 h 158"/>
                    <a:gd name="T24" fmla="*/ 0 w 159"/>
                    <a:gd name="T25" fmla="*/ 0 h 158"/>
                    <a:gd name="T26" fmla="*/ 0 w 159"/>
                    <a:gd name="T27" fmla="*/ 0 h 158"/>
                    <a:gd name="T28" fmla="*/ 0 w 159"/>
                    <a:gd name="T29" fmla="*/ 0 h 158"/>
                    <a:gd name="T30" fmla="*/ 0 w 159"/>
                    <a:gd name="T31" fmla="*/ 0 h 158"/>
                    <a:gd name="T32" fmla="*/ 0 w 159"/>
                    <a:gd name="T33" fmla="*/ 0 h 158"/>
                    <a:gd name="T34" fmla="*/ 0 w 159"/>
                    <a:gd name="T35" fmla="*/ 0 h 158"/>
                    <a:gd name="T36" fmla="*/ 0 w 159"/>
                    <a:gd name="T37" fmla="*/ 0 h 15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9" h="158">
                      <a:moveTo>
                        <a:pt x="159" y="6"/>
                      </a:moveTo>
                      <a:lnTo>
                        <a:pt x="7" y="158"/>
                      </a:lnTo>
                      <a:lnTo>
                        <a:pt x="6" y="157"/>
                      </a:lnTo>
                      <a:lnTo>
                        <a:pt x="5" y="156"/>
                      </a:lnTo>
                      <a:lnTo>
                        <a:pt x="4" y="154"/>
                      </a:lnTo>
                      <a:lnTo>
                        <a:pt x="4" y="153"/>
                      </a:lnTo>
                      <a:lnTo>
                        <a:pt x="3" y="152"/>
                      </a:lnTo>
                      <a:lnTo>
                        <a:pt x="2" y="151"/>
                      </a:lnTo>
                      <a:lnTo>
                        <a:pt x="2" y="148"/>
                      </a:lnTo>
                      <a:lnTo>
                        <a:pt x="0" y="147"/>
                      </a:lnTo>
                      <a:lnTo>
                        <a:pt x="148" y="0"/>
                      </a:lnTo>
                      <a:lnTo>
                        <a:pt x="149" y="0"/>
                      </a:lnTo>
                      <a:lnTo>
                        <a:pt x="151" y="1"/>
                      </a:lnTo>
                      <a:lnTo>
                        <a:pt x="153" y="2"/>
                      </a:lnTo>
                      <a:lnTo>
                        <a:pt x="154" y="3"/>
                      </a:lnTo>
                      <a:lnTo>
                        <a:pt x="155" y="4"/>
                      </a:lnTo>
                      <a:lnTo>
                        <a:pt x="156" y="5"/>
                      </a:lnTo>
                      <a:lnTo>
                        <a:pt x="158" y="6"/>
                      </a:lnTo>
                      <a:lnTo>
                        <a:pt x="159" y="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01" name="Freeform 2338"/>
                <p:cNvSpPr>
                  <a:spLocks noChangeAspect="1"/>
                </p:cNvSpPr>
                <p:nvPr/>
              </p:nvSpPr>
              <p:spPr bwMode="auto">
                <a:xfrm>
                  <a:off x="4858" y="2319"/>
                  <a:ext cx="52" cy="53"/>
                </a:xfrm>
                <a:custGeom>
                  <a:avLst/>
                  <a:gdLst>
                    <a:gd name="T0" fmla="*/ 0 w 157"/>
                    <a:gd name="T1" fmla="*/ 0 h 157"/>
                    <a:gd name="T2" fmla="*/ 0 w 157"/>
                    <a:gd name="T3" fmla="*/ 0 h 157"/>
                    <a:gd name="T4" fmla="*/ 0 w 157"/>
                    <a:gd name="T5" fmla="*/ 0 h 157"/>
                    <a:gd name="T6" fmla="*/ 0 w 157"/>
                    <a:gd name="T7" fmla="*/ 0 h 157"/>
                    <a:gd name="T8" fmla="*/ 0 w 157"/>
                    <a:gd name="T9" fmla="*/ 0 h 157"/>
                    <a:gd name="T10" fmla="*/ 0 w 157"/>
                    <a:gd name="T11" fmla="*/ 0 h 157"/>
                    <a:gd name="T12" fmla="*/ 0 w 157"/>
                    <a:gd name="T13" fmla="*/ 0 h 157"/>
                    <a:gd name="T14" fmla="*/ 0 w 157"/>
                    <a:gd name="T15" fmla="*/ 0 h 157"/>
                    <a:gd name="T16" fmla="*/ 0 w 157"/>
                    <a:gd name="T17" fmla="*/ 0 h 157"/>
                    <a:gd name="T18" fmla="*/ 0 w 157"/>
                    <a:gd name="T19" fmla="*/ 0 h 157"/>
                    <a:gd name="T20" fmla="*/ 0 w 157"/>
                    <a:gd name="T21" fmla="*/ 0 h 157"/>
                    <a:gd name="T22" fmla="*/ 0 w 157"/>
                    <a:gd name="T23" fmla="*/ 0 h 157"/>
                    <a:gd name="T24" fmla="*/ 0 w 157"/>
                    <a:gd name="T25" fmla="*/ 0 h 157"/>
                    <a:gd name="T26" fmla="*/ 0 w 157"/>
                    <a:gd name="T27" fmla="*/ 0 h 157"/>
                    <a:gd name="T28" fmla="*/ 0 w 157"/>
                    <a:gd name="T29" fmla="*/ 0 h 157"/>
                    <a:gd name="T30" fmla="*/ 0 w 157"/>
                    <a:gd name="T31" fmla="*/ 0 h 157"/>
                    <a:gd name="T32" fmla="*/ 0 w 157"/>
                    <a:gd name="T33" fmla="*/ 0 h 157"/>
                    <a:gd name="T34" fmla="*/ 0 w 157"/>
                    <a:gd name="T35" fmla="*/ 0 h 157"/>
                    <a:gd name="T36" fmla="*/ 0 w 157"/>
                    <a:gd name="T37" fmla="*/ 0 h 1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7" h="157">
                      <a:moveTo>
                        <a:pt x="157" y="7"/>
                      </a:moveTo>
                      <a:lnTo>
                        <a:pt x="7" y="157"/>
                      </a:lnTo>
                      <a:lnTo>
                        <a:pt x="6" y="156"/>
                      </a:lnTo>
                      <a:lnTo>
                        <a:pt x="5" y="153"/>
                      </a:lnTo>
                      <a:lnTo>
                        <a:pt x="5" y="152"/>
                      </a:lnTo>
                      <a:lnTo>
                        <a:pt x="3" y="151"/>
                      </a:lnTo>
                      <a:lnTo>
                        <a:pt x="2" y="149"/>
                      </a:lnTo>
                      <a:lnTo>
                        <a:pt x="2" y="148"/>
                      </a:lnTo>
                      <a:lnTo>
                        <a:pt x="1" y="147"/>
                      </a:lnTo>
                      <a:lnTo>
                        <a:pt x="0" y="145"/>
                      </a:lnTo>
                      <a:lnTo>
                        <a:pt x="146" y="0"/>
                      </a:lnTo>
                      <a:lnTo>
                        <a:pt x="147" y="0"/>
                      </a:lnTo>
                      <a:lnTo>
                        <a:pt x="148" y="1"/>
                      </a:lnTo>
                      <a:lnTo>
                        <a:pt x="150" y="2"/>
                      </a:lnTo>
                      <a:lnTo>
                        <a:pt x="151" y="4"/>
                      </a:lnTo>
                      <a:lnTo>
                        <a:pt x="152" y="4"/>
                      </a:lnTo>
                      <a:lnTo>
                        <a:pt x="154" y="5"/>
                      </a:lnTo>
                      <a:lnTo>
                        <a:pt x="156" y="6"/>
                      </a:lnTo>
                      <a:lnTo>
                        <a:pt x="157" y="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02" name="Freeform 2339"/>
                <p:cNvSpPr>
                  <a:spLocks noChangeAspect="1"/>
                </p:cNvSpPr>
                <p:nvPr/>
              </p:nvSpPr>
              <p:spPr bwMode="auto">
                <a:xfrm>
                  <a:off x="4857" y="2318"/>
                  <a:ext cx="51" cy="52"/>
                </a:xfrm>
                <a:custGeom>
                  <a:avLst/>
                  <a:gdLst>
                    <a:gd name="T0" fmla="*/ 0 w 153"/>
                    <a:gd name="T1" fmla="*/ 0 h 154"/>
                    <a:gd name="T2" fmla="*/ 0 w 153"/>
                    <a:gd name="T3" fmla="*/ 0 h 154"/>
                    <a:gd name="T4" fmla="*/ 0 w 153"/>
                    <a:gd name="T5" fmla="*/ 0 h 154"/>
                    <a:gd name="T6" fmla="*/ 0 w 153"/>
                    <a:gd name="T7" fmla="*/ 0 h 154"/>
                    <a:gd name="T8" fmla="*/ 0 w 153"/>
                    <a:gd name="T9" fmla="*/ 0 h 154"/>
                    <a:gd name="T10" fmla="*/ 0 w 153"/>
                    <a:gd name="T11" fmla="*/ 0 h 154"/>
                    <a:gd name="T12" fmla="*/ 0 w 153"/>
                    <a:gd name="T13" fmla="*/ 0 h 154"/>
                    <a:gd name="T14" fmla="*/ 0 w 153"/>
                    <a:gd name="T15" fmla="*/ 0 h 154"/>
                    <a:gd name="T16" fmla="*/ 0 w 153"/>
                    <a:gd name="T17" fmla="*/ 0 h 154"/>
                    <a:gd name="T18" fmla="*/ 0 w 153"/>
                    <a:gd name="T19" fmla="*/ 0 h 154"/>
                    <a:gd name="T20" fmla="*/ 0 w 153"/>
                    <a:gd name="T21" fmla="*/ 0 h 154"/>
                    <a:gd name="T22" fmla="*/ 0 w 153"/>
                    <a:gd name="T23" fmla="*/ 0 h 154"/>
                    <a:gd name="T24" fmla="*/ 0 w 153"/>
                    <a:gd name="T25" fmla="*/ 0 h 154"/>
                    <a:gd name="T26" fmla="*/ 0 w 153"/>
                    <a:gd name="T27" fmla="*/ 0 h 154"/>
                    <a:gd name="T28" fmla="*/ 0 w 153"/>
                    <a:gd name="T29" fmla="*/ 0 h 154"/>
                    <a:gd name="T30" fmla="*/ 0 w 153"/>
                    <a:gd name="T31" fmla="*/ 0 h 154"/>
                    <a:gd name="T32" fmla="*/ 0 w 153"/>
                    <a:gd name="T33" fmla="*/ 0 h 154"/>
                    <a:gd name="T34" fmla="*/ 0 w 153"/>
                    <a:gd name="T35" fmla="*/ 0 h 154"/>
                    <a:gd name="T36" fmla="*/ 0 w 153"/>
                    <a:gd name="T37" fmla="*/ 0 h 15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3" h="154">
                      <a:moveTo>
                        <a:pt x="153" y="7"/>
                      </a:moveTo>
                      <a:lnTo>
                        <a:pt x="5" y="154"/>
                      </a:lnTo>
                      <a:lnTo>
                        <a:pt x="4" y="152"/>
                      </a:lnTo>
                      <a:lnTo>
                        <a:pt x="4" y="151"/>
                      </a:lnTo>
                      <a:lnTo>
                        <a:pt x="3" y="150"/>
                      </a:lnTo>
                      <a:lnTo>
                        <a:pt x="2" y="148"/>
                      </a:lnTo>
                      <a:lnTo>
                        <a:pt x="2" y="147"/>
                      </a:lnTo>
                      <a:lnTo>
                        <a:pt x="1" y="145"/>
                      </a:lnTo>
                      <a:lnTo>
                        <a:pt x="1" y="144"/>
                      </a:lnTo>
                      <a:lnTo>
                        <a:pt x="0" y="142"/>
                      </a:lnTo>
                      <a:lnTo>
                        <a:pt x="142" y="0"/>
                      </a:lnTo>
                      <a:lnTo>
                        <a:pt x="144" y="1"/>
                      </a:lnTo>
                      <a:lnTo>
                        <a:pt x="145" y="1"/>
                      </a:lnTo>
                      <a:lnTo>
                        <a:pt x="146" y="2"/>
                      </a:lnTo>
                      <a:lnTo>
                        <a:pt x="148" y="3"/>
                      </a:lnTo>
                      <a:lnTo>
                        <a:pt x="149" y="3"/>
                      </a:lnTo>
                      <a:lnTo>
                        <a:pt x="150" y="4"/>
                      </a:lnTo>
                      <a:lnTo>
                        <a:pt x="152" y="5"/>
                      </a:lnTo>
                      <a:lnTo>
                        <a:pt x="153" y="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03" name="Freeform 2340"/>
                <p:cNvSpPr>
                  <a:spLocks noChangeAspect="1"/>
                </p:cNvSpPr>
                <p:nvPr/>
              </p:nvSpPr>
              <p:spPr bwMode="auto">
                <a:xfrm>
                  <a:off x="4856" y="2318"/>
                  <a:ext cx="50" cy="50"/>
                </a:xfrm>
                <a:custGeom>
                  <a:avLst/>
                  <a:gdLst>
                    <a:gd name="T0" fmla="*/ 0 w 150"/>
                    <a:gd name="T1" fmla="*/ 0 h 150"/>
                    <a:gd name="T2" fmla="*/ 0 w 150"/>
                    <a:gd name="T3" fmla="*/ 0 h 150"/>
                    <a:gd name="T4" fmla="*/ 0 w 150"/>
                    <a:gd name="T5" fmla="*/ 0 h 150"/>
                    <a:gd name="T6" fmla="*/ 0 w 150"/>
                    <a:gd name="T7" fmla="*/ 0 h 150"/>
                    <a:gd name="T8" fmla="*/ 0 w 150"/>
                    <a:gd name="T9" fmla="*/ 0 h 150"/>
                    <a:gd name="T10" fmla="*/ 0 w 150"/>
                    <a:gd name="T11" fmla="*/ 0 h 150"/>
                    <a:gd name="T12" fmla="*/ 0 w 150"/>
                    <a:gd name="T13" fmla="*/ 0 h 150"/>
                    <a:gd name="T14" fmla="*/ 0 w 150"/>
                    <a:gd name="T15" fmla="*/ 0 h 150"/>
                    <a:gd name="T16" fmla="*/ 0 w 150"/>
                    <a:gd name="T17" fmla="*/ 0 h 150"/>
                    <a:gd name="T18" fmla="*/ 0 w 150"/>
                    <a:gd name="T19" fmla="*/ 0 h 150"/>
                    <a:gd name="T20" fmla="*/ 0 w 150"/>
                    <a:gd name="T21" fmla="*/ 0 h 150"/>
                    <a:gd name="T22" fmla="*/ 0 w 150"/>
                    <a:gd name="T23" fmla="*/ 0 h 150"/>
                    <a:gd name="T24" fmla="*/ 0 w 150"/>
                    <a:gd name="T25" fmla="*/ 0 h 150"/>
                    <a:gd name="T26" fmla="*/ 0 w 150"/>
                    <a:gd name="T27" fmla="*/ 0 h 150"/>
                    <a:gd name="T28" fmla="*/ 0 w 150"/>
                    <a:gd name="T29" fmla="*/ 0 h 150"/>
                    <a:gd name="T30" fmla="*/ 0 w 150"/>
                    <a:gd name="T31" fmla="*/ 0 h 150"/>
                    <a:gd name="T32" fmla="*/ 0 w 150"/>
                    <a:gd name="T33" fmla="*/ 0 h 150"/>
                    <a:gd name="T34" fmla="*/ 0 w 150"/>
                    <a:gd name="T35" fmla="*/ 0 h 150"/>
                    <a:gd name="T36" fmla="*/ 0 w 150"/>
                    <a:gd name="T37" fmla="*/ 0 h 1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0" h="150">
                      <a:moveTo>
                        <a:pt x="150" y="5"/>
                      </a:moveTo>
                      <a:lnTo>
                        <a:pt x="4" y="150"/>
                      </a:lnTo>
                      <a:lnTo>
                        <a:pt x="4" y="149"/>
                      </a:lnTo>
                      <a:lnTo>
                        <a:pt x="3" y="147"/>
                      </a:lnTo>
                      <a:lnTo>
                        <a:pt x="3" y="146"/>
                      </a:lnTo>
                      <a:lnTo>
                        <a:pt x="2" y="144"/>
                      </a:lnTo>
                      <a:lnTo>
                        <a:pt x="2" y="142"/>
                      </a:lnTo>
                      <a:lnTo>
                        <a:pt x="1" y="140"/>
                      </a:lnTo>
                      <a:lnTo>
                        <a:pt x="1" y="138"/>
                      </a:lnTo>
                      <a:lnTo>
                        <a:pt x="0" y="137"/>
                      </a:lnTo>
                      <a:lnTo>
                        <a:pt x="137" y="0"/>
                      </a:lnTo>
                      <a:lnTo>
                        <a:pt x="139" y="0"/>
                      </a:lnTo>
                      <a:lnTo>
                        <a:pt x="141" y="1"/>
                      </a:lnTo>
                      <a:lnTo>
                        <a:pt x="143" y="1"/>
                      </a:lnTo>
                      <a:lnTo>
                        <a:pt x="144" y="2"/>
                      </a:lnTo>
                      <a:lnTo>
                        <a:pt x="146" y="3"/>
                      </a:lnTo>
                      <a:lnTo>
                        <a:pt x="147" y="3"/>
                      </a:lnTo>
                      <a:lnTo>
                        <a:pt x="148" y="4"/>
                      </a:lnTo>
                      <a:lnTo>
                        <a:pt x="150" y="5"/>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04" name="Freeform 2341"/>
                <p:cNvSpPr>
                  <a:spLocks noChangeAspect="1"/>
                </p:cNvSpPr>
                <p:nvPr/>
              </p:nvSpPr>
              <p:spPr bwMode="auto">
                <a:xfrm>
                  <a:off x="4856" y="2317"/>
                  <a:ext cx="48" cy="49"/>
                </a:xfrm>
                <a:custGeom>
                  <a:avLst/>
                  <a:gdLst>
                    <a:gd name="T0" fmla="*/ 0 w 146"/>
                    <a:gd name="T1" fmla="*/ 0 h 147"/>
                    <a:gd name="T2" fmla="*/ 0 w 146"/>
                    <a:gd name="T3" fmla="*/ 0 h 147"/>
                    <a:gd name="T4" fmla="*/ 0 w 146"/>
                    <a:gd name="T5" fmla="*/ 0 h 147"/>
                    <a:gd name="T6" fmla="*/ 0 w 146"/>
                    <a:gd name="T7" fmla="*/ 0 h 147"/>
                    <a:gd name="T8" fmla="*/ 0 w 146"/>
                    <a:gd name="T9" fmla="*/ 0 h 147"/>
                    <a:gd name="T10" fmla="*/ 0 w 146"/>
                    <a:gd name="T11" fmla="*/ 0 h 147"/>
                    <a:gd name="T12" fmla="*/ 0 w 146"/>
                    <a:gd name="T13" fmla="*/ 0 h 147"/>
                    <a:gd name="T14" fmla="*/ 0 w 146"/>
                    <a:gd name="T15" fmla="*/ 0 h 147"/>
                    <a:gd name="T16" fmla="*/ 0 w 146"/>
                    <a:gd name="T17" fmla="*/ 0 h 147"/>
                    <a:gd name="T18" fmla="*/ 0 w 146"/>
                    <a:gd name="T19" fmla="*/ 0 h 147"/>
                    <a:gd name="T20" fmla="*/ 0 w 146"/>
                    <a:gd name="T21" fmla="*/ 0 h 147"/>
                    <a:gd name="T22" fmla="*/ 0 w 146"/>
                    <a:gd name="T23" fmla="*/ 0 h 147"/>
                    <a:gd name="T24" fmla="*/ 0 w 146"/>
                    <a:gd name="T25" fmla="*/ 0 h 147"/>
                    <a:gd name="T26" fmla="*/ 0 w 146"/>
                    <a:gd name="T27" fmla="*/ 0 h 147"/>
                    <a:gd name="T28" fmla="*/ 0 w 146"/>
                    <a:gd name="T29" fmla="*/ 0 h 147"/>
                    <a:gd name="T30" fmla="*/ 0 w 146"/>
                    <a:gd name="T31" fmla="*/ 0 h 147"/>
                    <a:gd name="T32" fmla="*/ 0 w 146"/>
                    <a:gd name="T33" fmla="*/ 0 h 147"/>
                    <a:gd name="T34" fmla="*/ 0 w 146"/>
                    <a:gd name="T35" fmla="*/ 0 h 147"/>
                    <a:gd name="T36" fmla="*/ 0 w 146"/>
                    <a:gd name="T37" fmla="*/ 0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6" h="147">
                      <a:moveTo>
                        <a:pt x="146" y="5"/>
                      </a:moveTo>
                      <a:lnTo>
                        <a:pt x="4" y="147"/>
                      </a:lnTo>
                      <a:lnTo>
                        <a:pt x="4" y="145"/>
                      </a:lnTo>
                      <a:lnTo>
                        <a:pt x="3" y="143"/>
                      </a:lnTo>
                      <a:lnTo>
                        <a:pt x="3" y="141"/>
                      </a:lnTo>
                      <a:lnTo>
                        <a:pt x="2" y="140"/>
                      </a:lnTo>
                      <a:lnTo>
                        <a:pt x="2" y="138"/>
                      </a:lnTo>
                      <a:lnTo>
                        <a:pt x="1" y="137"/>
                      </a:lnTo>
                      <a:lnTo>
                        <a:pt x="1" y="135"/>
                      </a:lnTo>
                      <a:lnTo>
                        <a:pt x="0" y="133"/>
                      </a:lnTo>
                      <a:lnTo>
                        <a:pt x="133" y="0"/>
                      </a:lnTo>
                      <a:lnTo>
                        <a:pt x="135" y="1"/>
                      </a:lnTo>
                      <a:lnTo>
                        <a:pt x="136" y="1"/>
                      </a:lnTo>
                      <a:lnTo>
                        <a:pt x="138" y="2"/>
                      </a:lnTo>
                      <a:lnTo>
                        <a:pt x="139" y="3"/>
                      </a:lnTo>
                      <a:lnTo>
                        <a:pt x="141" y="3"/>
                      </a:lnTo>
                      <a:lnTo>
                        <a:pt x="143" y="4"/>
                      </a:lnTo>
                      <a:lnTo>
                        <a:pt x="145" y="4"/>
                      </a:lnTo>
                      <a:lnTo>
                        <a:pt x="146" y="5"/>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05" name="Freeform 2342"/>
                <p:cNvSpPr>
                  <a:spLocks noChangeAspect="1"/>
                </p:cNvSpPr>
                <p:nvPr/>
              </p:nvSpPr>
              <p:spPr bwMode="auto">
                <a:xfrm>
                  <a:off x="4855" y="2316"/>
                  <a:ext cx="47" cy="47"/>
                </a:xfrm>
                <a:custGeom>
                  <a:avLst/>
                  <a:gdLst>
                    <a:gd name="T0" fmla="*/ 0 w 140"/>
                    <a:gd name="T1" fmla="*/ 0 h 141"/>
                    <a:gd name="T2" fmla="*/ 0 w 140"/>
                    <a:gd name="T3" fmla="*/ 0 h 141"/>
                    <a:gd name="T4" fmla="*/ 0 w 140"/>
                    <a:gd name="T5" fmla="*/ 0 h 141"/>
                    <a:gd name="T6" fmla="*/ 0 w 140"/>
                    <a:gd name="T7" fmla="*/ 0 h 141"/>
                    <a:gd name="T8" fmla="*/ 0 w 140"/>
                    <a:gd name="T9" fmla="*/ 0 h 141"/>
                    <a:gd name="T10" fmla="*/ 0 w 140"/>
                    <a:gd name="T11" fmla="*/ 0 h 141"/>
                    <a:gd name="T12" fmla="*/ 0 w 140"/>
                    <a:gd name="T13" fmla="*/ 0 h 141"/>
                    <a:gd name="T14" fmla="*/ 0 w 140"/>
                    <a:gd name="T15" fmla="*/ 0 h 141"/>
                    <a:gd name="T16" fmla="*/ 0 w 140"/>
                    <a:gd name="T17" fmla="*/ 0 h 141"/>
                    <a:gd name="T18" fmla="*/ 0 w 140"/>
                    <a:gd name="T19" fmla="*/ 0 h 141"/>
                    <a:gd name="T20" fmla="*/ 0 w 140"/>
                    <a:gd name="T21" fmla="*/ 0 h 141"/>
                    <a:gd name="T22" fmla="*/ 0 w 140"/>
                    <a:gd name="T23" fmla="*/ 0 h 141"/>
                    <a:gd name="T24" fmla="*/ 0 w 140"/>
                    <a:gd name="T25" fmla="*/ 0 h 141"/>
                    <a:gd name="T26" fmla="*/ 0 w 140"/>
                    <a:gd name="T27" fmla="*/ 0 h 141"/>
                    <a:gd name="T28" fmla="*/ 0 w 140"/>
                    <a:gd name="T29" fmla="*/ 0 h 141"/>
                    <a:gd name="T30" fmla="*/ 0 w 140"/>
                    <a:gd name="T31" fmla="*/ 0 h 141"/>
                    <a:gd name="T32" fmla="*/ 0 w 140"/>
                    <a:gd name="T33" fmla="*/ 0 h 141"/>
                    <a:gd name="T34" fmla="*/ 0 w 140"/>
                    <a:gd name="T35" fmla="*/ 0 h 141"/>
                    <a:gd name="T36" fmla="*/ 0 w 140"/>
                    <a:gd name="T37" fmla="*/ 0 h 1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0" h="141">
                      <a:moveTo>
                        <a:pt x="140" y="4"/>
                      </a:moveTo>
                      <a:lnTo>
                        <a:pt x="3" y="141"/>
                      </a:lnTo>
                      <a:lnTo>
                        <a:pt x="3" y="139"/>
                      </a:lnTo>
                      <a:lnTo>
                        <a:pt x="2" y="138"/>
                      </a:lnTo>
                      <a:lnTo>
                        <a:pt x="2" y="136"/>
                      </a:lnTo>
                      <a:lnTo>
                        <a:pt x="1" y="134"/>
                      </a:lnTo>
                      <a:lnTo>
                        <a:pt x="1" y="133"/>
                      </a:lnTo>
                      <a:lnTo>
                        <a:pt x="1" y="131"/>
                      </a:lnTo>
                      <a:lnTo>
                        <a:pt x="0" y="128"/>
                      </a:lnTo>
                      <a:lnTo>
                        <a:pt x="0" y="126"/>
                      </a:lnTo>
                      <a:lnTo>
                        <a:pt x="128" y="0"/>
                      </a:lnTo>
                      <a:lnTo>
                        <a:pt x="129" y="0"/>
                      </a:lnTo>
                      <a:lnTo>
                        <a:pt x="131" y="1"/>
                      </a:lnTo>
                      <a:lnTo>
                        <a:pt x="133" y="1"/>
                      </a:lnTo>
                      <a:lnTo>
                        <a:pt x="134" y="1"/>
                      </a:lnTo>
                      <a:lnTo>
                        <a:pt x="136" y="2"/>
                      </a:lnTo>
                      <a:lnTo>
                        <a:pt x="137" y="2"/>
                      </a:lnTo>
                      <a:lnTo>
                        <a:pt x="139" y="3"/>
                      </a:lnTo>
                      <a:lnTo>
                        <a:pt x="140" y="4"/>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06" name="Freeform 2343"/>
                <p:cNvSpPr>
                  <a:spLocks noChangeAspect="1"/>
                </p:cNvSpPr>
                <p:nvPr/>
              </p:nvSpPr>
              <p:spPr bwMode="auto">
                <a:xfrm>
                  <a:off x="4855" y="2316"/>
                  <a:ext cx="45" cy="45"/>
                </a:xfrm>
                <a:custGeom>
                  <a:avLst/>
                  <a:gdLst>
                    <a:gd name="T0" fmla="*/ 0 w 135"/>
                    <a:gd name="T1" fmla="*/ 0 h 136"/>
                    <a:gd name="T2" fmla="*/ 0 w 135"/>
                    <a:gd name="T3" fmla="*/ 0 h 136"/>
                    <a:gd name="T4" fmla="*/ 0 w 135"/>
                    <a:gd name="T5" fmla="*/ 0 h 136"/>
                    <a:gd name="T6" fmla="*/ 0 w 135"/>
                    <a:gd name="T7" fmla="*/ 0 h 136"/>
                    <a:gd name="T8" fmla="*/ 0 w 135"/>
                    <a:gd name="T9" fmla="*/ 0 h 136"/>
                    <a:gd name="T10" fmla="*/ 0 w 135"/>
                    <a:gd name="T11" fmla="*/ 0 h 136"/>
                    <a:gd name="T12" fmla="*/ 0 w 135"/>
                    <a:gd name="T13" fmla="*/ 0 h 136"/>
                    <a:gd name="T14" fmla="*/ 0 w 135"/>
                    <a:gd name="T15" fmla="*/ 0 h 136"/>
                    <a:gd name="T16" fmla="*/ 0 w 135"/>
                    <a:gd name="T17" fmla="*/ 0 h 136"/>
                    <a:gd name="T18" fmla="*/ 0 w 135"/>
                    <a:gd name="T19" fmla="*/ 0 h 136"/>
                    <a:gd name="T20" fmla="*/ 0 w 135"/>
                    <a:gd name="T21" fmla="*/ 0 h 136"/>
                    <a:gd name="T22" fmla="*/ 0 w 135"/>
                    <a:gd name="T23" fmla="*/ 0 h 136"/>
                    <a:gd name="T24" fmla="*/ 0 w 135"/>
                    <a:gd name="T25" fmla="*/ 0 h 136"/>
                    <a:gd name="T26" fmla="*/ 0 w 135"/>
                    <a:gd name="T27" fmla="*/ 0 h 136"/>
                    <a:gd name="T28" fmla="*/ 0 w 135"/>
                    <a:gd name="T29" fmla="*/ 0 h 136"/>
                    <a:gd name="T30" fmla="*/ 0 w 135"/>
                    <a:gd name="T31" fmla="*/ 0 h 136"/>
                    <a:gd name="T32" fmla="*/ 0 w 135"/>
                    <a:gd name="T33" fmla="*/ 0 h 136"/>
                    <a:gd name="T34" fmla="*/ 0 w 135"/>
                    <a:gd name="T35" fmla="*/ 0 h 136"/>
                    <a:gd name="T36" fmla="*/ 0 w 135"/>
                    <a:gd name="T37" fmla="*/ 0 h 1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35" h="136">
                      <a:moveTo>
                        <a:pt x="135" y="3"/>
                      </a:moveTo>
                      <a:lnTo>
                        <a:pt x="2" y="136"/>
                      </a:lnTo>
                      <a:lnTo>
                        <a:pt x="2" y="135"/>
                      </a:lnTo>
                      <a:lnTo>
                        <a:pt x="2" y="133"/>
                      </a:lnTo>
                      <a:lnTo>
                        <a:pt x="1" y="130"/>
                      </a:lnTo>
                      <a:lnTo>
                        <a:pt x="1" y="128"/>
                      </a:lnTo>
                      <a:lnTo>
                        <a:pt x="1" y="126"/>
                      </a:lnTo>
                      <a:lnTo>
                        <a:pt x="1" y="125"/>
                      </a:lnTo>
                      <a:lnTo>
                        <a:pt x="0" y="123"/>
                      </a:lnTo>
                      <a:lnTo>
                        <a:pt x="0" y="121"/>
                      </a:lnTo>
                      <a:lnTo>
                        <a:pt x="121" y="0"/>
                      </a:lnTo>
                      <a:lnTo>
                        <a:pt x="123" y="1"/>
                      </a:lnTo>
                      <a:lnTo>
                        <a:pt x="124" y="1"/>
                      </a:lnTo>
                      <a:lnTo>
                        <a:pt x="126" y="1"/>
                      </a:lnTo>
                      <a:lnTo>
                        <a:pt x="129" y="2"/>
                      </a:lnTo>
                      <a:lnTo>
                        <a:pt x="130" y="2"/>
                      </a:lnTo>
                      <a:lnTo>
                        <a:pt x="132" y="3"/>
                      </a:lnTo>
                      <a:lnTo>
                        <a:pt x="134" y="3"/>
                      </a:lnTo>
                      <a:lnTo>
                        <a:pt x="135" y="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07" name="Freeform 2344"/>
                <p:cNvSpPr>
                  <a:spLocks noChangeAspect="1"/>
                </p:cNvSpPr>
                <p:nvPr/>
              </p:nvSpPr>
              <p:spPr bwMode="auto">
                <a:xfrm>
                  <a:off x="4855" y="2316"/>
                  <a:ext cx="43" cy="42"/>
                </a:xfrm>
                <a:custGeom>
                  <a:avLst/>
                  <a:gdLst>
                    <a:gd name="T0" fmla="*/ 0 w 129"/>
                    <a:gd name="T1" fmla="*/ 0 h 128"/>
                    <a:gd name="T2" fmla="*/ 0 w 129"/>
                    <a:gd name="T3" fmla="*/ 0 h 128"/>
                    <a:gd name="T4" fmla="*/ 0 w 129"/>
                    <a:gd name="T5" fmla="*/ 0 h 128"/>
                    <a:gd name="T6" fmla="*/ 0 w 129"/>
                    <a:gd name="T7" fmla="*/ 0 h 128"/>
                    <a:gd name="T8" fmla="*/ 0 w 129"/>
                    <a:gd name="T9" fmla="*/ 0 h 128"/>
                    <a:gd name="T10" fmla="*/ 0 w 129"/>
                    <a:gd name="T11" fmla="*/ 0 h 128"/>
                    <a:gd name="T12" fmla="*/ 0 w 129"/>
                    <a:gd name="T13" fmla="*/ 0 h 128"/>
                    <a:gd name="T14" fmla="*/ 0 w 129"/>
                    <a:gd name="T15" fmla="*/ 0 h 128"/>
                    <a:gd name="T16" fmla="*/ 0 w 129"/>
                    <a:gd name="T17" fmla="*/ 0 h 128"/>
                    <a:gd name="T18" fmla="*/ 0 w 129"/>
                    <a:gd name="T19" fmla="*/ 0 h 128"/>
                    <a:gd name="T20" fmla="*/ 0 w 129"/>
                    <a:gd name="T21" fmla="*/ 0 h 128"/>
                    <a:gd name="T22" fmla="*/ 0 w 129"/>
                    <a:gd name="T23" fmla="*/ 0 h 128"/>
                    <a:gd name="T24" fmla="*/ 0 w 129"/>
                    <a:gd name="T25" fmla="*/ 0 h 128"/>
                    <a:gd name="T26" fmla="*/ 0 w 129"/>
                    <a:gd name="T27" fmla="*/ 0 h 128"/>
                    <a:gd name="T28" fmla="*/ 0 w 129"/>
                    <a:gd name="T29" fmla="*/ 0 h 128"/>
                    <a:gd name="T30" fmla="*/ 0 w 129"/>
                    <a:gd name="T31" fmla="*/ 0 h 128"/>
                    <a:gd name="T32" fmla="*/ 0 w 129"/>
                    <a:gd name="T33" fmla="*/ 0 h 128"/>
                    <a:gd name="T34" fmla="*/ 0 w 129"/>
                    <a:gd name="T35" fmla="*/ 0 h 128"/>
                    <a:gd name="T36" fmla="*/ 0 w 129"/>
                    <a:gd name="T37" fmla="*/ 0 h 1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9" h="128">
                      <a:moveTo>
                        <a:pt x="129" y="2"/>
                      </a:moveTo>
                      <a:lnTo>
                        <a:pt x="1" y="128"/>
                      </a:lnTo>
                      <a:lnTo>
                        <a:pt x="1" y="127"/>
                      </a:lnTo>
                      <a:lnTo>
                        <a:pt x="1" y="125"/>
                      </a:lnTo>
                      <a:lnTo>
                        <a:pt x="0" y="123"/>
                      </a:lnTo>
                      <a:lnTo>
                        <a:pt x="0" y="121"/>
                      </a:lnTo>
                      <a:lnTo>
                        <a:pt x="0" y="119"/>
                      </a:lnTo>
                      <a:lnTo>
                        <a:pt x="0" y="117"/>
                      </a:lnTo>
                      <a:lnTo>
                        <a:pt x="0" y="114"/>
                      </a:lnTo>
                      <a:lnTo>
                        <a:pt x="0" y="112"/>
                      </a:lnTo>
                      <a:lnTo>
                        <a:pt x="114" y="0"/>
                      </a:lnTo>
                      <a:lnTo>
                        <a:pt x="115" y="0"/>
                      </a:lnTo>
                      <a:lnTo>
                        <a:pt x="117" y="0"/>
                      </a:lnTo>
                      <a:lnTo>
                        <a:pt x="119" y="0"/>
                      </a:lnTo>
                      <a:lnTo>
                        <a:pt x="121" y="0"/>
                      </a:lnTo>
                      <a:lnTo>
                        <a:pt x="123" y="1"/>
                      </a:lnTo>
                      <a:lnTo>
                        <a:pt x="124" y="1"/>
                      </a:lnTo>
                      <a:lnTo>
                        <a:pt x="126" y="1"/>
                      </a:lnTo>
                      <a:lnTo>
                        <a:pt x="129" y="2"/>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08" name="Freeform 2345"/>
                <p:cNvSpPr>
                  <a:spLocks noChangeAspect="1"/>
                </p:cNvSpPr>
                <p:nvPr/>
              </p:nvSpPr>
              <p:spPr bwMode="auto">
                <a:xfrm>
                  <a:off x="4855" y="2315"/>
                  <a:ext cx="40" cy="41"/>
                </a:xfrm>
                <a:custGeom>
                  <a:avLst/>
                  <a:gdLst>
                    <a:gd name="T0" fmla="*/ 0 w 121"/>
                    <a:gd name="T1" fmla="*/ 0 h 122"/>
                    <a:gd name="T2" fmla="*/ 0 w 121"/>
                    <a:gd name="T3" fmla="*/ 0 h 122"/>
                    <a:gd name="T4" fmla="*/ 0 w 121"/>
                    <a:gd name="T5" fmla="*/ 0 h 122"/>
                    <a:gd name="T6" fmla="*/ 0 w 121"/>
                    <a:gd name="T7" fmla="*/ 0 h 122"/>
                    <a:gd name="T8" fmla="*/ 0 w 121"/>
                    <a:gd name="T9" fmla="*/ 0 h 122"/>
                    <a:gd name="T10" fmla="*/ 0 w 121"/>
                    <a:gd name="T11" fmla="*/ 0 h 122"/>
                    <a:gd name="T12" fmla="*/ 0 w 121"/>
                    <a:gd name="T13" fmla="*/ 0 h 122"/>
                    <a:gd name="T14" fmla="*/ 0 w 121"/>
                    <a:gd name="T15" fmla="*/ 0 h 122"/>
                    <a:gd name="T16" fmla="*/ 0 w 121"/>
                    <a:gd name="T17" fmla="*/ 0 h 122"/>
                    <a:gd name="T18" fmla="*/ 0 w 121"/>
                    <a:gd name="T19" fmla="*/ 0 h 122"/>
                    <a:gd name="T20" fmla="*/ 0 w 121"/>
                    <a:gd name="T21" fmla="*/ 0 h 122"/>
                    <a:gd name="T22" fmla="*/ 0 w 121"/>
                    <a:gd name="T23" fmla="*/ 0 h 122"/>
                    <a:gd name="T24" fmla="*/ 0 w 121"/>
                    <a:gd name="T25" fmla="*/ 0 h 122"/>
                    <a:gd name="T26" fmla="*/ 0 w 121"/>
                    <a:gd name="T27" fmla="*/ 0 h 122"/>
                    <a:gd name="T28" fmla="*/ 0 w 121"/>
                    <a:gd name="T29" fmla="*/ 0 h 122"/>
                    <a:gd name="T30" fmla="*/ 0 w 121"/>
                    <a:gd name="T31" fmla="*/ 0 h 122"/>
                    <a:gd name="T32" fmla="*/ 0 w 121"/>
                    <a:gd name="T33" fmla="*/ 0 h 122"/>
                    <a:gd name="T34" fmla="*/ 0 w 121"/>
                    <a:gd name="T35" fmla="*/ 0 h 122"/>
                    <a:gd name="T36" fmla="*/ 0 w 121"/>
                    <a:gd name="T37" fmla="*/ 0 h 122"/>
                    <a:gd name="T38" fmla="*/ 0 w 121"/>
                    <a:gd name="T39" fmla="*/ 0 h 122"/>
                    <a:gd name="T40" fmla="*/ 0 w 121"/>
                    <a:gd name="T41" fmla="*/ 0 h 122"/>
                    <a:gd name="T42" fmla="*/ 0 w 121"/>
                    <a:gd name="T43" fmla="*/ 0 h 122"/>
                    <a:gd name="T44" fmla="*/ 0 w 121"/>
                    <a:gd name="T45" fmla="*/ 0 h 122"/>
                    <a:gd name="T46" fmla="*/ 0 w 121"/>
                    <a:gd name="T47" fmla="*/ 0 h 122"/>
                    <a:gd name="T48" fmla="*/ 0 w 121"/>
                    <a:gd name="T49" fmla="*/ 0 h 122"/>
                    <a:gd name="T50" fmla="*/ 0 w 121"/>
                    <a:gd name="T51" fmla="*/ 0 h 122"/>
                    <a:gd name="T52" fmla="*/ 0 w 121"/>
                    <a:gd name="T53" fmla="*/ 0 h 122"/>
                    <a:gd name="T54" fmla="*/ 0 w 121"/>
                    <a:gd name="T55" fmla="*/ 0 h 122"/>
                    <a:gd name="T56" fmla="*/ 0 w 121"/>
                    <a:gd name="T57" fmla="*/ 0 h 122"/>
                    <a:gd name="T58" fmla="*/ 0 w 121"/>
                    <a:gd name="T59" fmla="*/ 0 h 122"/>
                    <a:gd name="T60" fmla="*/ 0 w 121"/>
                    <a:gd name="T61" fmla="*/ 0 h 122"/>
                    <a:gd name="T62" fmla="*/ 0 w 121"/>
                    <a:gd name="T63" fmla="*/ 0 h 122"/>
                    <a:gd name="T64" fmla="*/ 0 w 121"/>
                    <a:gd name="T65" fmla="*/ 0 h 122"/>
                    <a:gd name="T66" fmla="*/ 0 w 121"/>
                    <a:gd name="T67" fmla="*/ 0 h 122"/>
                    <a:gd name="T68" fmla="*/ 0 w 121"/>
                    <a:gd name="T69" fmla="*/ 0 h 12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1" h="122">
                      <a:moveTo>
                        <a:pt x="121" y="1"/>
                      </a:moveTo>
                      <a:lnTo>
                        <a:pt x="0" y="122"/>
                      </a:lnTo>
                      <a:lnTo>
                        <a:pt x="0" y="121"/>
                      </a:lnTo>
                      <a:lnTo>
                        <a:pt x="0" y="120"/>
                      </a:lnTo>
                      <a:lnTo>
                        <a:pt x="0" y="119"/>
                      </a:lnTo>
                      <a:lnTo>
                        <a:pt x="0" y="117"/>
                      </a:lnTo>
                      <a:lnTo>
                        <a:pt x="0" y="115"/>
                      </a:lnTo>
                      <a:lnTo>
                        <a:pt x="0" y="114"/>
                      </a:lnTo>
                      <a:lnTo>
                        <a:pt x="0" y="113"/>
                      </a:lnTo>
                      <a:lnTo>
                        <a:pt x="0" y="112"/>
                      </a:lnTo>
                      <a:lnTo>
                        <a:pt x="0" y="111"/>
                      </a:lnTo>
                      <a:lnTo>
                        <a:pt x="0" y="110"/>
                      </a:lnTo>
                      <a:lnTo>
                        <a:pt x="0" y="109"/>
                      </a:lnTo>
                      <a:lnTo>
                        <a:pt x="0" y="108"/>
                      </a:lnTo>
                      <a:lnTo>
                        <a:pt x="0" y="107"/>
                      </a:lnTo>
                      <a:lnTo>
                        <a:pt x="0" y="106"/>
                      </a:lnTo>
                      <a:lnTo>
                        <a:pt x="0" y="105"/>
                      </a:lnTo>
                      <a:lnTo>
                        <a:pt x="105" y="0"/>
                      </a:lnTo>
                      <a:lnTo>
                        <a:pt x="106" y="0"/>
                      </a:lnTo>
                      <a:lnTo>
                        <a:pt x="108" y="0"/>
                      </a:lnTo>
                      <a:lnTo>
                        <a:pt x="109" y="0"/>
                      </a:lnTo>
                      <a:lnTo>
                        <a:pt x="112" y="1"/>
                      </a:lnTo>
                      <a:lnTo>
                        <a:pt x="114" y="1"/>
                      </a:lnTo>
                      <a:lnTo>
                        <a:pt x="116" y="1"/>
                      </a:lnTo>
                      <a:lnTo>
                        <a:pt x="117" y="1"/>
                      </a:lnTo>
                      <a:lnTo>
                        <a:pt x="119" y="1"/>
                      </a:lnTo>
                      <a:lnTo>
                        <a:pt x="121" y="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09" name="Freeform 2346"/>
                <p:cNvSpPr>
                  <a:spLocks noChangeAspect="1"/>
                </p:cNvSpPr>
                <p:nvPr/>
              </p:nvSpPr>
              <p:spPr bwMode="auto">
                <a:xfrm>
                  <a:off x="4855" y="2315"/>
                  <a:ext cx="38" cy="38"/>
                </a:xfrm>
                <a:custGeom>
                  <a:avLst/>
                  <a:gdLst>
                    <a:gd name="T0" fmla="*/ 0 w 114"/>
                    <a:gd name="T1" fmla="*/ 0 h 113"/>
                    <a:gd name="T2" fmla="*/ 0 w 114"/>
                    <a:gd name="T3" fmla="*/ 0 h 113"/>
                    <a:gd name="T4" fmla="*/ 0 w 114"/>
                    <a:gd name="T5" fmla="*/ 0 h 113"/>
                    <a:gd name="T6" fmla="*/ 0 w 114"/>
                    <a:gd name="T7" fmla="*/ 0 h 113"/>
                    <a:gd name="T8" fmla="*/ 0 w 114"/>
                    <a:gd name="T9" fmla="*/ 0 h 113"/>
                    <a:gd name="T10" fmla="*/ 0 w 114"/>
                    <a:gd name="T11" fmla="*/ 0 h 113"/>
                    <a:gd name="T12" fmla="*/ 0 w 114"/>
                    <a:gd name="T13" fmla="*/ 0 h 113"/>
                    <a:gd name="T14" fmla="*/ 0 w 114"/>
                    <a:gd name="T15" fmla="*/ 0 h 113"/>
                    <a:gd name="T16" fmla="*/ 0 w 114"/>
                    <a:gd name="T17" fmla="*/ 0 h 113"/>
                    <a:gd name="T18" fmla="*/ 0 w 114"/>
                    <a:gd name="T19" fmla="*/ 0 h 113"/>
                    <a:gd name="T20" fmla="*/ 0 w 114"/>
                    <a:gd name="T21" fmla="*/ 0 h 113"/>
                    <a:gd name="T22" fmla="*/ 0 w 114"/>
                    <a:gd name="T23" fmla="*/ 0 h 113"/>
                    <a:gd name="T24" fmla="*/ 0 w 114"/>
                    <a:gd name="T25" fmla="*/ 0 h 113"/>
                    <a:gd name="T26" fmla="*/ 0 w 114"/>
                    <a:gd name="T27" fmla="*/ 0 h 113"/>
                    <a:gd name="T28" fmla="*/ 0 w 114"/>
                    <a:gd name="T29" fmla="*/ 0 h 113"/>
                    <a:gd name="T30" fmla="*/ 0 w 114"/>
                    <a:gd name="T31" fmla="*/ 0 h 113"/>
                    <a:gd name="T32" fmla="*/ 0 w 114"/>
                    <a:gd name="T33" fmla="*/ 0 h 113"/>
                    <a:gd name="T34" fmla="*/ 0 w 114"/>
                    <a:gd name="T35" fmla="*/ 0 h 113"/>
                    <a:gd name="T36" fmla="*/ 0 w 114"/>
                    <a:gd name="T37" fmla="*/ 0 h 113"/>
                    <a:gd name="T38" fmla="*/ 0 w 114"/>
                    <a:gd name="T39" fmla="*/ 0 h 113"/>
                    <a:gd name="T40" fmla="*/ 0 w 114"/>
                    <a:gd name="T41" fmla="*/ 0 h 113"/>
                    <a:gd name="T42" fmla="*/ 0 w 114"/>
                    <a:gd name="T43" fmla="*/ 0 h 113"/>
                    <a:gd name="T44" fmla="*/ 0 w 114"/>
                    <a:gd name="T45" fmla="*/ 0 h 113"/>
                    <a:gd name="T46" fmla="*/ 0 w 114"/>
                    <a:gd name="T47" fmla="*/ 0 h 113"/>
                    <a:gd name="T48" fmla="*/ 0 w 114"/>
                    <a:gd name="T49" fmla="*/ 0 h 113"/>
                    <a:gd name="T50" fmla="*/ 0 w 114"/>
                    <a:gd name="T51" fmla="*/ 0 h 113"/>
                    <a:gd name="T52" fmla="*/ 0 w 114"/>
                    <a:gd name="T53" fmla="*/ 0 h 113"/>
                    <a:gd name="T54" fmla="*/ 0 w 114"/>
                    <a:gd name="T55" fmla="*/ 0 h 113"/>
                    <a:gd name="T56" fmla="*/ 0 w 114"/>
                    <a:gd name="T57" fmla="*/ 0 h 113"/>
                    <a:gd name="T58" fmla="*/ 0 w 114"/>
                    <a:gd name="T59" fmla="*/ 0 h 113"/>
                    <a:gd name="T60" fmla="*/ 0 w 114"/>
                    <a:gd name="T61" fmla="*/ 0 h 113"/>
                    <a:gd name="T62" fmla="*/ 0 w 114"/>
                    <a:gd name="T63" fmla="*/ 0 h 113"/>
                    <a:gd name="T64" fmla="*/ 0 w 114"/>
                    <a:gd name="T65" fmla="*/ 0 h 113"/>
                    <a:gd name="T66" fmla="*/ 0 w 114"/>
                    <a:gd name="T67" fmla="*/ 0 h 113"/>
                    <a:gd name="T68" fmla="*/ 0 w 114"/>
                    <a:gd name="T69" fmla="*/ 0 h 1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4" h="113">
                      <a:moveTo>
                        <a:pt x="114" y="1"/>
                      </a:moveTo>
                      <a:lnTo>
                        <a:pt x="0" y="113"/>
                      </a:lnTo>
                      <a:lnTo>
                        <a:pt x="0" y="112"/>
                      </a:lnTo>
                      <a:lnTo>
                        <a:pt x="0" y="110"/>
                      </a:lnTo>
                      <a:lnTo>
                        <a:pt x="0" y="108"/>
                      </a:lnTo>
                      <a:lnTo>
                        <a:pt x="0" y="106"/>
                      </a:lnTo>
                      <a:lnTo>
                        <a:pt x="0" y="104"/>
                      </a:lnTo>
                      <a:lnTo>
                        <a:pt x="0" y="102"/>
                      </a:lnTo>
                      <a:lnTo>
                        <a:pt x="1" y="100"/>
                      </a:lnTo>
                      <a:lnTo>
                        <a:pt x="1" y="97"/>
                      </a:lnTo>
                      <a:lnTo>
                        <a:pt x="1" y="95"/>
                      </a:lnTo>
                      <a:lnTo>
                        <a:pt x="96" y="1"/>
                      </a:lnTo>
                      <a:lnTo>
                        <a:pt x="97" y="1"/>
                      </a:lnTo>
                      <a:lnTo>
                        <a:pt x="98" y="1"/>
                      </a:lnTo>
                      <a:lnTo>
                        <a:pt x="100" y="1"/>
                      </a:lnTo>
                      <a:lnTo>
                        <a:pt x="101" y="1"/>
                      </a:lnTo>
                      <a:lnTo>
                        <a:pt x="102" y="0"/>
                      </a:lnTo>
                      <a:lnTo>
                        <a:pt x="103" y="0"/>
                      </a:lnTo>
                      <a:lnTo>
                        <a:pt x="105" y="0"/>
                      </a:lnTo>
                      <a:lnTo>
                        <a:pt x="106" y="0"/>
                      </a:lnTo>
                      <a:lnTo>
                        <a:pt x="107" y="0"/>
                      </a:lnTo>
                      <a:lnTo>
                        <a:pt x="108" y="0"/>
                      </a:lnTo>
                      <a:lnTo>
                        <a:pt x="109" y="0"/>
                      </a:lnTo>
                      <a:lnTo>
                        <a:pt x="110" y="0"/>
                      </a:lnTo>
                      <a:lnTo>
                        <a:pt x="112" y="1"/>
                      </a:lnTo>
                      <a:lnTo>
                        <a:pt x="113" y="1"/>
                      </a:lnTo>
                      <a:lnTo>
                        <a:pt x="114" y="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10" name="Freeform 2347"/>
                <p:cNvSpPr>
                  <a:spLocks noChangeAspect="1"/>
                </p:cNvSpPr>
                <p:nvPr/>
              </p:nvSpPr>
              <p:spPr bwMode="auto">
                <a:xfrm>
                  <a:off x="4855" y="2315"/>
                  <a:ext cx="35" cy="35"/>
                </a:xfrm>
                <a:custGeom>
                  <a:avLst/>
                  <a:gdLst>
                    <a:gd name="T0" fmla="*/ 0 w 105"/>
                    <a:gd name="T1" fmla="*/ 0 h 105"/>
                    <a:gd name="T2" fmla="*/ 0 w 105"/>
                    <a:gd name="T3" fmla="*/ 0 h 105"/>
                    <a:gd name="T4" fmla="*/ 0 w 105"/>
                    <a:gd name="T5" fmla="*/ 0 h 105"/>
                    <a:gd name="T6" fmla="*/ 0 w 105"/>
                    <a:gd name="T7" fmla="*/ 0 h 105"/>
                    <a:gd name="T8" fmla="*/ 0 w 105"/>
                    <a:gd name="T9" fmla="*/ 0 h 105"/>
                    <a:gd name="T10" fmla="*/ 0 w 105"/>
                    <a:gd name="T11" fmla="*/ 0 h 105"/>
                    <a:gd name="T12" fmla="*/ 0 w 105"/>
                    <a:gd name="T13" fmla="*/ 0 h 105"/>
                    <a:gd name="T14" fmla="*/ 0 w 105"/>
                    <a:gd name="T15" fmla="*/ 0 h 105"/>
                    <a:gd name="T16" fmla="*/ 0 w 105"/>
                    <a:gd name="T17" fmla="*/ 0 h 105"/>
                    <a:gd name="T18" fmla="*/ 0 w 105"/>
                    <a:gd name="T19" fmla="*/ 0 h 105"/>
                    <a:gd name="T20" fmla="*/ 0 w 105"/>
                    <a:gd name="T21" fmla="*/ 0 h 105"/>
                    <a:gd name="T22" fmla="*/ 0 w 105"/>
                    <a:gd name="T23" fmla="*/ 0 h 105"/>
                    <a:gd name="T24" fmla="*/ 0 w 105"/>
                    <a:gd name="T25" fmla="*/ 0 h 105"/>
                    <a:gd name="T26" fmla="*/ 0 w 105"/>
                    <a:gd name="T27" fmla="*/ 0 h 105"/>
                    <a:gd name="T28" fmla="*/ 0 w 105"/>
                    <a:gd name="T29" fmla="*/ 0 h 105"/>
                    <a:gd name="T30" fmla="*/ 0 w 105"/>
                    <a:gd name="T31" fmla="*/ 0 h 105"/>
                    <a:gd name="T32" fmla="*/ 0 w 105"/>
                    <a:gd name="T33" fmla="*/ 0 h 105"/>
                    <a:gd name="T34" fmla="*/ 0 w 105"/>
                    <a:gd name="T35" fmla="*/ 0 h 105"/>
                    <a:gd name="T36" fmla="*/ 0 w 105"/>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5" h="105">
                      <a:moveTo>
                        <a:pt x="105" y="0"/>
                      </a:moveTo>
                      <a:lnTo>
                        <a:pt x="0" y="105"/>
                      </a:lnTo>
                      <a:lnTo>
                        <a:pt x="0" y="102"/>
                      </a:lnTo>
                      <a:lnTo>
                        <a:pt x="1" y="100"/>
                      </a:lnTo>
                      <a:lnTo>
                        <a:pt x="1" y="96"/>
                      </a:lnTo>
                      <a:lnTo>
                        <a:pt x="1" y="94"/>
                      </a:lnTo>
                      <a:lnTo>
                        <a:pt x="2" y="91"/>
                      </a:lnTo>
                      <a:lnTo>
                        <a:pt x="2" y="89"/>
                      </a:lnTo>
                      <a:lnTo>
                        <a:pt x="3" y="87"/>
                      </a:lnTo>
                      <a:lnTo>
                        <a:pt x="3" y="84"/>
                      </a:lnTo>
                      <a:lnTo>
                        <a:pt x="85" y="2"/>
                      </a:lnTo>
                      <a:lnTo>
                        <a:pt x="87" y="2"/>
                      </a:lnTo>
                      <a:lnTo>
                        <a:pt x="90" y="2"/>
                      </a:lnTo>
                      <a:lnTo>
                        <a:pt x="92" y="1"/>
                      </a:lnTo>
                      <a:lnTo>
                        <a:pt x="94" y="1"/>
                      </a:lnTo>
                      <a:lnTo>
                        <a:pt x="97" y="1"/>
                      </a:lnTo>
                      <a:lnTo>
                        <a:pt x="100" y="1"/>
                      </a:lnTo>
                      <a:lnTo>
                        <a:pt x="102" y="0"/>
                      </a:lnTo>
                      <a:lnTo>
                        <a:pt x="105"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11" name="Freeform 2348"/>
                <p:cNvSpPr>
                  <a:spLocks noChangeAspect="1"/>
                </p:cNvSpPr>
                <p:nvPr/>
              </p:nvSpPr>
              <p:spPr bwMode="auto">
                <a:xfrm>
                  <a:off x="4855" y="2316"/>
                  <a:ext cx="32" cy="31"/>
                </a:xfrm>
                <a:custGeom>
                  <a:avLst/>
                  <a:gdLst>
                    <a:gd name="T0" fmla="*/ 0 w 95"/>
                    <a:gd name="T1" fmla="*/ 0 h 94"/>
                    <a:gd name="T2" fmla="*/ 0 w 95"/>
                    <a:gd name="T3" fmla="*/ 0 h 94"/>
                    <a:gd name="T4" fmla="*/ 0 w 95"/>
                    <a:gd name="T5" fmla="*/ 0 h 94"/>
                    <a:gd name="T6" fmla="*/ 0 w 95"/>
                    <a:gd name="T7" fmla="*/ 0 h 94"/>
                    <a:gd name="T8" fmla="*/ 0 w 95"/>
                    <a:gd name="T9" fmla="*/ 0 h 94"/>
                    <a:gd name="T10" fmla="*/ 0 w 95"/>
                    <a:gd name="T11" fmla="*/ 0 h 94"/>
                    <a:gd name="T12" fmla="*/ 0 w 95"/>
                    <a:gd name="T13" fmla="*/ 0 h 94"/>
                    <a:gd name="T14" fmla="*/ 0 w 95"/>
                    <a:gd name="T15" fmla="*/ 0 h 94"/>
                    <a:gd name="T16" fmla="*/ 0 w 95"/>
                    <a:gd name="T17" fmla="*/ 0 h 94"/>
                    <a:gd name="T18" fmla="*/ 0 w 95"/>
                    <a:gd name="T19" fmla="*/ 0 h 94"/>
                    <a:gd name="T20" fmla="*/ 0 w 95"/>
                    <a:gd name="T21" fmla="*/ 0 h 94"/>
                    <a:gd name="T22" fmla="*/ 0 w 95"/>
                    <a:gd name="T23" fmla="*/ 0 h 94"/>
                    <a:gd name="T24" fmla="*/ 0 w 95"/>
                    <a:gd name="T25" fmla="*/ 0 h 94"/>
                    <a:gd name="T26" fmla="*/ 0 w 95"/>
                    <a:gd name="T27" fmla="*/ 0 h 94"/>
                    <a:gd name="T28" fmla="*/ 0 w 95"/>
                    <a:gd name="T29" fmla="*/ 0 h 94"/>
                    <a:gd name="T30" fmla="*/ 0 w 95"/>
                    <a:gd name="T31" fmla="*/ 0 h 94"/>
                    <a:gd name="T32" fmla="*/ 0 w 95"/>
                    <a:gd name="T33" fmla="*/ 0 h 94"/>
                    <a:gd name="T34" fmla="*/ 0 w 95"/>
                    <a:gd name="T35" fmla="*/ 0 h 94"/>
                    <a:gd name="T36" fmla="*/ 0 w 95"/>
                    <a:gd name="T37" fmla="*/ 0 h 9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5" h="94">
                      <a:moveTo>
                        <a:pt x="95" y="0"/>
                      </a:moveTo>
                      <a:lnTo>
                        <a:pt x="0" y="94"/>
                      </a:lnTo>
                      <a:lnTo>
                        <a:pt x="1" y="91"/>
                      </a:lnTo>
                      <a:lnTo>
                        <a:pt x="1" y="88"/>
                      </a:lnTo>
                      <a:lnTo>
                        <a:pt x="2" y="85"/>
                      </a:lnTo>
                      <a:lnTo>
                        <a:pt x="2" y="82"/>
                      </a:lnTo>
                      <a:lnTo>
                        <a:pt x="3" y="79"/>
                      </a:lnTo>
                      <a:lnTo>
                        <a:pt x="4" y="76"/>
                      </a:lnTo>
                      <a:lnTo>
                        <a:pt x="5" y="73"/>
                      </a:lnTo>
                      <a:lnTo>
                        <a:pt x="6" y="70"/>
                      </a:lnTo>
                      <a:lnTo>
                        <a:pt x="72" y="5"/>
                      </a:lnTo>
                      <a:lnTo>
                        <a:pt x="74" y="4"/>
                      </a:lnTo>
                      <a:lnTo>
                        <a:pt x="78" y="3"/>
                      </a:lnTo>
                      <a:lnTo>
                        <a:pt x="80" y="2"/>
                      </a:lnTo>
                      <a:lnTo>
                        <a:pt x="83" y="2"/>
                      </a:lnTo>
                      <a:lnTo>
                        <a:pt x="86" y="1"/>
                      </a:lnTo>
                      <a:lnTo>
                        <a:pt x="88" y="1"/>
                      </a:lnTo>
                      <a:lnTo>
                        <a:pt x="91" y="0"/>
                      </a:lnTo>
                      <a:lnTo>
                        <a:pt x="95"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12" name="Freeform 2349"/>
                <p:cNvSpPr>
                  <a:spLocks noChangeAspect="1"/>
                </p:cNvSpPr>
                <p:nvPr/>
              </p:nvSpPr>
              <p:spPr bwMode="auto">
                <a:xfrm>
                  <a:off x="4856" y="2316"/>
                  <a:ext cx="27" cy="27"/>
                </a:xfrm>
                <a:custGeom>
                  <a:avLst/>
                  <a:gdLst>
                    <a:gd name="T0" fmla="*/ 0 w 82"/>
                    <a:gd name="T1" fmla="*/ 0 h 82"/>
                    <a:gd name="T2" fmla="*/ 0 w 82"/>
                    <a:gd name="T3" fmla="*/ 0 h 82"/>
                    <a:gd name="T4" fmla="*/ 0 w 82"/>
                    <a:gd name="T5" fmla="*/ 0 h 82"/>
                    <a:gd name="T6" fmla="*/ 0 w 82"/>
                    <a:gd name="T7" fmla="*/ 0 h 82"/>
                    <a:gd name="T8" fmla="*/ 0 w 82"/>
                    <a:gd name="T9" fmla="*/ 0 h 82"/>
                    <a:gd name="T10" fmla="*/ 0 w 82"/>
                    <a:gd name="T11" fmla="*/ 0 h 82"/>
                    <a:gd name="T12" fmla="*/ 0 w 82"/>
                    <a:gd name="T13" fmla="*/ 0 h 82"/>
                    <a:gd name="T14" fmla="*/ 0 w 82"/>
                    <a:gd name="T15" fmla="*/ 0 h 82"/>
                    <a:gd name="T16" fmla="*/ 0 w 82"/>
                    <a:gd name="T17" fmla="*/ 0 h 82"/>
                    <a:gd name="T18" fmla="*/ 0 w 82"/>
                    <a:gd name="T19" fmla="*/ 0 h 82"/>
                    <a:gd name="T20" fmla="*/ 0 w 82"/>
                    <a:gd name="T21" fmla="*/ 0 h 82"/>
                    <a:gd name="T22" fmla="*/ 0 w 82"/>
                    <a:gd name="T23" fmla="*/ 0 h 82"/>
                    <a:gd name="T24" fmla="*/ 0 w 82"/>
                    <a:gd name="T25" fmla="*/ 0 h 82"/>
                    <a:gd name="T26" fmla="*/ 0 w 82"/>
                    <a:gd name="T27" fmla="*/ 0 h 82"/>
                    <a:gd name="T28" fmla="*/ 0 w 82"/>
                    <a:gd name="T29" fmla="*/ 0 h 82"/>
                    <a:gd name="T30" fmla="*/ 0 w 82"/>
                    <a:gd name="T31" fmla="*/ 0 h 82"/>
                    <a:gd name="T32" fmla="*/ 0 w 82"/>
                    <a:gd name="T33" fmla="*/ 0 h 82"/>
                    <a:gd name="T34" fmla="*/ 0 w 82"/>
                    <a:gd name="T35" fmla="*/ 0 h 82"/>
                    <a:gd name="T36" fmla="*/ 0 w 82"/>
                    <a:gd name="T37" fmla="*/ 0 h 8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2" h="82">
                      <a:moveTo>
                        <a:pt x="82" y="0"/>
                      </a:moveTo>
                      <a:lnTo>
                        <a:pt x="0" y="82"/>
                      </a:lnTo>
                      <a:lnTo>
                        <a:pt x="1" y="78"/>
                      </a:lnTo>
                      <a:lnTo>
                        <a:pt x="2" y="74"/>
                      </a:lnTo>
                      <a:lnTo>
                        <a:pt x="3" y="71"/>
                      </a:lnTo>
                      <a:lnTo>
                        <a:pt x="5" y="67"/>
                      </a:lnTo>
                      <a:lnTo>
                        <a:pt x="6" y="64"/>
                      </a:lnTo>
                      <a:lnTo>
                        <a:pt x="8" y="60"/>
                      </a:lnTo>
                      <a:lnTo>
                        <a:pt x="10" y="56"/>
                      </a:lnTo>
                      <a:lnTo>
                        <a:pt x="12" y="53"/>
                      </a:lnTo>
                      <a:lnTo>
                        <a:pt x="54" y="10"/>
                      </a:lnTo>
                      <a:lnTo>
                        <a:pt x="57" y="9"/>
                      </a:lnTo>
                      <a:lnTo>
                        <a:pt x="61" y="7"/>
                      </a:lnTo>
                      <a:lnTo>
                        <a:pt x="64" y="6"/>
                      </a:lnTo>
                      <a:lnTo>
                        <a:pt x="67" y="4"/>
                      </a:lnTo>
                      <a:lnTo>
                        <a:pt x="71" y="3"/>
                      </a:lnTo>
                      <a:lnTo>
                        <a:pt x="74" y="2"/>
                      </a:lnTo>
                      <a:lnTo>
                        <a:pt x="79" y="1"/>
                      </a:lnTo>
                      <a:lnTo>
                        <a:pt x="82"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13" name="Freeform 2350"/>
                <p:cNvSpPr>
                  <a:spLocks noChangeAspect="1"/>
                </p:cNvSpPr>
                <p:nvPr/>
              </p:nvSpPr>
              <p:spPr bwMode="auto">
                <a:xfrm>
                  <a:off x="4857" y="2317"/>
                  <a:ext cx="22"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w 66"/>
                    <a:gd name="T15" fmla="*/ 0 h 65"/>
                    <a:gd name="T16" fmla="*/ 0 w 66"/>
                    <a:gd name="T17" fmla="*/ 0 h 65"/>
                    <a:gd name="T18" fmla="*/ 0 w 66"/>
                    <a:gd name="T19" fmla="*/ 0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 h="65">
                      <a:moveTo>
                        <a:pt x="66" y="0"/>
                      </a:moveTo>
                      <a:lnTo>
                        <a:pt x="0" y="65"/>
                      </a:lnTo>
                      <a:lnTo>
                        <a:pt x="4" y="54"/>
                      </a:lnTo>
                      <a:lnTo>
                        <a:pt x="11" y="44"/>
                      </a:lnTo>
                      <a:lnTo>
                        <a:pt x="18" y="34"/>
                      </a:lnTo>
                      <a:lnTo>
                        <a:pt x="26" y="24"/>
                      </a:lnTo>
                      <a:lnTo>
                        <a:pt x="34" y="17"/>
                      </a:lnTo>
                      <a:lnTo>
                        <a:pt x="45" y="10"/>
                      </a:lnTo>
                      <a:lnTo>
                        <a:pt x="54" y="4"/>
                      </a:lnTo>
                      <a:lnTo>
                        <a:pt x="66"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14" name="Freeform 2351"/>
                <p:cNvSpPr>
                  <a:spLocks noChangeAspect="1"/>
                </p:cNvSpPr>
                <p:nvPr/>
              </p:nvSpPr>
              <p:spPr bwMode="auto">
                <a:xfrm>
                  <a:off x="4860" y="2319"/>
                  <a:ext cx="14" cy="15"/>
                </a:xfrm>
                <a:custGeom>
                  <a:avLst/>
                  <a:gdLst>
                    <a:gd name="T0" fmla="*/ 0 w 42"/>
                    <a:gd name="T1" fmla="*/ 0 h 43"/>
                    <a:gd name="T2" fmla="*/ 0 w 42"/>
                    <a:gd name="T3" fmla="*/ 0 h 43"/>
                    <a:gd name="T4" fmla="*/ 0 w 42"/>
                    <a:gd name="T5" fmla="*/ 0 h 43"/>
                    <a:gd name="T6" fmla="*/ 0 w 42"/>
                    <a:gd name="T7" fmla="*/ 0 h 43"/>
                    <a:gd name="T8" fmla="*/ 0 w 42"/>
                    <a:gd name="T9" fmla="*/ 0 h 43"/>
                    <a:gd name="T10" fmla="*/ 0 w 42"/>
                    <a:gd name="T11" fmla="*/ 0 h 43"/>
                    <a:gd name="T12" fmla="*/ 0 w 42"/>
                    <a:gd name="T13" fmla="*/ 0 h 43"/>
                    <a:gd name="T14" fmla="*/ 0 w 42"/>
                    <a:gd name="T15" fmla="*/ 0 h 43"/>
                    <a:gd name="T16" fmla="*/ 0 w 42"/>
                    <a:gd name="T17" fmla="*/ 0 h 43"/>
                    <a:gd name="T18" fmla="*/ 0 w 42"/>
                    <a:gd name="T19" fmla="*/ 0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2" h="43">
                      <a:moveTo>
                        <a:pt x="42" y="0"/>
                      </a:moveTo>
                      <a:lnTo>
                        <a:pt x="0" y="43"/>
                      </a:lnTo>
                      <a:lnTo>
                        <a:pt x="4" y="36"/>
                      </a:lnTo>
                      <a:lnTo>
                        <a:pt x="8" y="30"/>
                      </a:lnTo>
                      <a:lnTo>
                        <a:pt x="12" y="25"/>
                      </a:lnTo>
                      <a:lnTo>
                        <a:pt x="18" y="18"/>
                      </a:lnTo>
                      <a:lnTo>
                        <a:pt x="23" y="14"/>
                      </a:lnTo>
                      <a:lnTo>
                        <a:pt x="29" y="9"/>
                      </a:lnTo>
                      <a:lnTo>
                        <a:pt x="36" y="5"/>
                      </a:lnTo>
                      <a:lnTo>
                        <a:pt x="42"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15" name="Freeform 2352"/>
                <p:cNvSpPr>
                  <a:spLocks noChangeAspect="1"/>
                </p:cNvSpPr>
                <p:nvPr/>
              </p:nvSpPr>
              <p:spPr bwMode="auto">
                <a:xfrm>
                  <a:off x="4855" y="2315"/>
                  <a:ext cx="71" cy="75"/>
                </a:xfrm>
                <a:custGeom>
                  <a:avLst/>
                  <a:gdLst>
                    <a:gd name="T0" fmla="*/ 0 w 213"/>
                    <a:gd name="T1" fmla="*/ 0 h 224"/>
                    <a:gd name="T2" fmla="*/ 0 w 213"/>
                    <a:gd name="T3" fmla="*/ 0 h 224"/>
                    <a:gd name="T4" fmla="*/ 0 w 213"/>
                    <a:gd name="T5" fmla="*/ 0 h 224"/>
                    <a:gd name="T6" fmla="*/ 0 w 213"/>
                    <a:gd name="T7" fmla="*/ 0 h 224"/>
                    <a:gd name="T8" fmla="*/ 0 w 213"/>
                    <a:gd name="T9" fmla="*/ 0 h 224"/>
                    <a:gd name="T10" fmla="*/ 0 w 213"/>
                    <a:gd name="T11" fmla="*/ 0 h 224"/>
                    <a:gd name="T12" fmla="*/ 0 w 213"/>
                    <a:gd name="T13" fmla="*/ 0 h 224"/>
                    <a:gd name="T14" fmla="*/ 0 w 213"/>
                    <a:gd name="T15" fmla="*/ 0 h 224"/>
                    <a:gd name="T16" fmla="*/ 0 w 213"/>
                    <a:gd name="T17" fmla="*/ 0 h 224"/>
                    <a:gd name="T18" fmla="*/ 0 w 213"/>
                    <a:gd name="T19" fmla="*/ 0 h 224"/>
                    <a:gd name="T20" fmla="*/ 0 w 213"/>
                    <a:gd name="T21" fmla="*/ 0 h 224"/>
                    <a:gd name="T22" fmla="*/ 0 w 213"/>
                    <a:gd name="T23" fmla="*/ 0 h 224"/>
                    <a:gd name="T24" fmla="*/ 0 w 213"/>
                    <a:gd name="T25" fmla="*/ 0 h 224"/>
                    <a:gd name="T26" fmla="*/ 0 w 213"/>
                    <a:gd name="T27" fmla="*/ 0 h 224"/>
                    <a:gd name="T28" fmla="*/ 0 w 213"/>
                    <a:gd name="T29" fmla="*/ 0 h 224"/>
                    <a:gd name="T30" fmla="*/ 0 w 213"/>
                    <a:gd name="T31" fmla="*/ 0 h 224"/>
                    <a:gd name="T32" fmla="*/ 0 w 213"/>
                    <a:gd name="T33" fmla="*/ 0 h 224"/>
                    <a:gd name="T34" fmla="*/ 0 w 213"/>
                    <a:gd name="T35" fmla="*/ 0 h 224"/>
                    <a:gd name="T36" fmla="*/ 0 w 213"/>
                    <a:gd name="T37" fmla="*/ 0 h 224"/>
                    <a:gd name="T38" fmla="*/ 0 w 213"/>
                    <a:gd name="T39" fmla="*/ 0 h 224"/>
                    <a:gd name="T40" fmla="*/ 0 w 213"/>
                    <a:gd name="T41" fmla="*/ 0 h 224"/>
                    <a:gd name="T42" fmla="*/ 0 w 213"/>
                    <a:gd name="T43" fmla="*/ 0 h 224"/>
                    <a:gd name="T44" fmla="*/ 0 w 213"/>
                    <a:gd name="T45" fmla="*/ 0 h 224"/>
                    <a:gd name="T46" fmla="*/ 0 w 213"/>
                    <a:gd name="T47" fmla="*/ 0 h 224"/>
                    <a:gd name="T48" fmla="*/ 0 w 213"/>
                    <a:gd name="T49" fmla="*/ 0 h 224"/>
                    <a:gd name="T50" fmla="*/ 0 w 213"/>
                    <a:gd name="T51" fmla="*/ 0 h 224"/>
                    <a:gd name="T52" fmla="*/ 0 w 213"/>
                    <a:gd name="T53" fmla="*/ 0 h 224"/>
                    <a:gd name="T54" fmla="*/ 0 w 213"/>
                    <a:gd name="T55" fmla="*/ 0 h 224"/>
                    <a:gd name="T56" fmla="*/ 0 w 213"/>
                    <a:gd name="T57" fmla="*/ 0 h 224"/>
                    <a:gd name="T58" fmla="*/ 0 w 213"/>
                    <a:gd name="T59" fmla="*/ 0 h 224"/>
                    <a:gd name="T60" fmla="*/ 0 w 213"/>
                    <a:gd name="T61" fmla="*/ 0 h 224"/>
                    <a:gd name="T62" fmla="*/ 0 w 213"/>
                    <a:gd name="T63" fmla="*/ 0 h 2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3" h="224">
                      <a:moveTo>
                        <a:pt x="106" y="0"/>
                      </a:moveTo>
                      <a:lnTo>
                        <a:pt x="117" y="1"/>
                      </a:lnTo>
                      <a:lnTo>
                        <a:pt x="127" y="3"/>
                      </a:lnTo>
                      <a:lnTo>
                        <a:pt x="138" y="5"/>
                      </a:lnTo>
                      <a:lnTo>
                        <a:pt x="148" y="9"/>
                      </a:lnTo>
                      <a:lnTo>
                        <a:pt x="156" y="13"/>
                      </a:lnTo>
                      <a:lnTo>
                        <a:pt x="166" y="19"/>
                      </a:lnTo>
                      <a:lnTo>
                        <a:pt x="173" y="26"/>
                      </a:lnTo>
                      <a:lnTo>
                        <a:pt x="182" y="33"/>
                      </a:lnTo>
                      <a:lnTo>
                        <a:pt x="188" y="41"/>
                      </a:lnTo>
                      <a:lnTo>
                        <a:pt x="195" y="50"/>
                      </a:lnTo>
                      <a:lnTo>
                        <a:pt x="200" y="59"/>
                      </a:lnTo>
                      <a:lnTo>
                        <a:pt x="204" y="69"/>
                      </a:lnTo>
                      <a:lnTo>
                        <a:pt x="207" y="79"/>
                      </a:lnTo>
                      <a:lnTo>
                        <a:pt x="210" y="90"/>
                      </a:lnTo>
                      <a:lnTo>
                        <a:pt x="212" y="101"/>
                      </a:lnTo>
                      <a:lnTo>
                        <a:pt x="213" y="112"/>
                      </a:lnTo>
                      <a:lnTo>
                        <a:pt x="212" y="124"/>
                      </a:lnTo>
                      <a:lnTo>
                        <a:pt x="210" y="135"/>
                      </a:lnTo>
                      <a:lnTo>
                        <a:pt x="207" y="145"/>
                      </a:lnTo>
                      <a:lnTo>
                        <a:pt x="204" y="156"/>
                      </a:lnTo>
                      <a:lnTo>
                        <a:pt x="200" y="165"/>
                      </a:lnTo>
                      <a:lnTo>
                        <a:pt x="195" y="175"/>
                      </a:lnTo>
                      <a:lnTo>
                        <a:pt x="188" y="184"/>
                      </a:lnTo>
                      <a:lnTo>
                        <a:pt x="182" y="191"/>
                      </a:lnTo>
                      <a:lnTo>
                        <a:pt x="173" y="198"/>
                      </a:lnTo>
                      <a:lnTo>
                        <a:pt x="166" y="205"/>
                      </a:lnTo>
                      <a:lnTo>
                        <a:pt x="156" y="211"/>
                      </a:lnTo>
                      <a:lnTo>
                        <a:pt x="148" y="215"/>
                      </a:lnTo>
                      <a:lnTo>
                        <a:pt x="138" y="220"/>
                      </a:lnTo>
                      <a:lnTo>
                        <a:pt x="127" y="222"/>
                      </a:lnTo>
                      <a:lnTo>
                        <a:pt x="117" y="224"/>
                      </a:lnTo>
                      <a:lnTo>
                        <a:pt x="106" y="224"/>
                      </a:lnTo>
                      <a:lnTo>
                        <a:pt x="96" y="224"/>
                      </a:lnTo>
                      <a:lnTo>
                        <a:pt x="85" y="222"/>
                      </a:lnTo>
                      <a:lnTo>
                        <a:pt x="74" y="220"/>
                      </a:lnTo>
                      <a:lnTo>
                        <a:pt x="65" y="215"/>
                      </a:lnTo>
                      <a:lnTo>
                        <a:pt x="55" y="211"/>
                      </a:lnTo>
                      <a:lnTo>
                        <a:pt x="47" y="205"/>
                      </a:lnTo>
                      <a:lnTo>
                        <a:pt x="38" y="198"/>
                      </a:lnTo>
                      <a:lnTo>
                        <a:pt x="31" y="191"/>
                      </a:lnTo>
                      <a:lnTo>
                        <a:pt x="24" y="184"/>
                      </a:lnTo>
                      <a:lnTo>
                        <a:pt x="18" y="175"/>
                      </a:lnTo>
                      <a:lnTo>
                        <a:pt x="13" y="165"/>
                      </a:lnTo>
                      <a:lnTo>
                        <a:pt x="8" y="156"/>
                      </a:lnTo>
                      <a:lnTo>
                        <a:pt x="4" y="145"/>
                      </a:lnTo>
                      <a:lnTo>
                        <a:pt x="2" y="135"/>
                      </a:lnTo>
                      <a:lnTo>
                        <a:pt x="0" y="124"/>
                      </a:lnTo>
                      <a:lnTo>
                        <a:pt x="0" y="112"/>
                      </a:lnTo>
                      <a:lnTo>
                        <a:pt x="0" y="101"/>
                      </a:lnTo>
                      <a:lnTo>
                        <a:pt x="2" y="90"/>
                      </a:lnTo>
                      <a:lnTo>
                        <a:pt x="4" y="79"/>
                      </a:lnTo>
                      <a:lnTo>
                        <a:pt x="8" y="69"/>
                      </a:lnTo>
                      <a:lnTo>
                        <a:pt x="13" y="59"/>
                      </a:lnTo>
                      <a:lnTo>
                        <a:pt x="18" y="50"/>
                      </a:lnTo>
                      <a:lnTo>
                        <a:pt x="24" y="41"/>
                      </a:lnTo>
                      <a:lnTo>
                        <a:pt x="31" y="33"/>
                      </a:lnTo>
                      <a:lnTo>
                        <a:pt x="38" y="26"/>
                      </a:lnTo>
                      <a:lnTo>
                        <a:pt x="47" y="19"/>
                      </a:lnTo>
                      <a:lnTo>
                        <a:pt x="55" y="13"/>
                      </a:lnTo>
                      <a:lnTo>
                        <a:pt x="65" y="9"/>
                      </a:lnTo>
                      <a:lnTo>
                        <a:pt x="74" y="5"/>
                      </a:lnTo>
                      <a:lnTo>
                        <a:pt x="85" y="3"/>
                      </a:lnTo>
                      <a:lnTo>
                        <a:pt x="96" y="1"/>
                      </a:lnTo>
                      <a:lnTo>
                        <a:pt x="106" y="0"/>
                      </a:lnTo>
                    </a:path>
                  </a:pathLst>
                </a:custGeom>
                <a:gradFill rotWithShape="0">
                  <a:gsLst>
                    <a:gs pos="0">
                      <a:srgbClr val="FFE0B2"/>
                    </a:gs>
                    <a:gs pos="100000">
                      <a:srgbClr val="FF9900"/>
                    </a:gs>
                  </a:gsLst>
                  <a:path path="rect">
                    <a:fillToRect l="50000" t="50000" r="50000" b="50000"/>
                  </a:path>
                </a:gradFill>
                <a:ln w="1588">
                  <a:solidFill>
                    <a:srgbClr val="1F1A17"/>
                  </a:solidFill>
                  <a:prstDash val="solid"/>
                  <a:round/>
                  <a:headEnd/>
                  <a:tailEnd/>
                </a:ln>
              </p:spPr>
              <p:txBody>
                <a:bodyPr/>
                <a:lstStyle/>
                <a:p>
                  <a:endParaRPr lang="en-US"/>
                </a:p>
              </p:txBody>
            </p:sp>
            <p:sp>
              <p:nvSpPr>
                <p:cNvPr id="389016" name="Freeform 2353"/>
                <p:cNvSpPr>
                  <a:spLocks noChangeAspect="1"/>
                </p:cNvSpPr>
                <p:nvPr/>
              </p:nvSpPr>
              <p:spPr bwMode="auto">
                <a:xfrm>
                  <a:off x="5531" y="2349"/>
                  <a:ext cx="15" cy="14"/>
                </a:xfrm>
                <a:custGeom>
                  <a:avLst/>
                  <a:gdLst>
                    <a:gd name="T0" fmla="*/ 0 w 43"/>
                    <a:gd name="T1" fmla="*/ 0 h 42"/>
                    <a:gd name="T2" fmla="*/ 0 w 43"/>
                    <a:gd name="T3" fmla="*/ 0 h 42"/>
                    <a:gd name="T4" fmla="*/ 0 w 43"/>
                    <a:gd name="T5" fmla="*/ 0 h 42"/>
                    <a:gd name="T6" fmla="*/ 0 w 43"/>
                    <a:gd name="T7" fmla="*/ 0 h 42"/>
                    <a:gd name="T8" fmla="*/ 0 w 43"/>
                    <a:gd name="T9" fmla="*/ 0 h 42"/>
                    <a:gd name="T10" fmla="*/ 0 w 43"/>
                    <a:gd name="T11" fmla="*/ 0 h 42"/>
                    <a:gd name="T12" fmla="*/ 0 w 43"/>
                    <a:gd name="T13" fmla="*/ 0 h 42"/>
                    <a:gd name="T14" fmla="*/ 0 w 43"/>
                    <a:gd name="T15" fmla="*/ 0 h 42"/>
                    <a:gd name="T16" fmla="*/ 0 w 43"/>
                    <a:gd name="T17" fmla="*/ 0 h 42"/>
                    <a:gd name="T18" fmla="*/ 0 w 43"/>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 h="42">
                      <a:moveTo>
                        <a:pt x="0" y="42"/>
                      </a:moveTo>
                      <a:lnTo>
                        <a:pt x="43" y="0"/>
                      </a:lnTo>
                      <a:lnTo>
                        <a:pt x="39" y="6"/>
                      </a:lnTo>
                      <a:lnTo>
                        <a:pt x="34" y="12"/>
                      </a:lnTo>
                      <a:lnTo>
                        <a:pt x="30" y="18"/>
                      </a:lnTo>
                      <a:lnTo>
                        <a:pt x="25" y="24"/>
                      </a:lnTo>
                      <a:lnTo>
                        <a:pt x="19" y="28"/>
                      </a:lnTo>
                      <a:lnTo>
                        <a:pt x="13" y="34"/>
                      </a:lnTo>
                      <a:lnTo>
                        <a:pt x="7" y="38"/>
                      </a:lnTo>
                      <a:lnTo>
                        <a:pt x="0" y="42"/>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17" name="Freeform 2354"/>
                <p:cNvSpPr>
                  <a:spLocks noChangeAspect="1"/>
                </p:cNvSpPr>
                <p:nvPr/>
              </p:nvSpPr>
              <p:spPr bwMode="auto">
                <a:xfrm>
                  <a:off x="5526" y="2343"/>
                  <a:ext cx="22"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w 66"/>
                    <a:gd name="T15" fmla="*/ 0 h 65"/>
                    <a:gd name="T16" fmla="*/ 0 w 66"/>
                    <a:gd name="T17" fmla="*/ 0 h 65"/>
                    <a:gd name="T18" fmla="*/ 0 w 66"/>
                    <a:gd name="T19" fmla="*/ 0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 h="65">
                      <a:moveTo>
                        <a:pt x="0" y="65"/>
                      </a:moveTo>
                      <a:lnTo>
                        <a:pt x="66" y="0"/>
                      </a:lnTo>
                      <a:lnTo>
                        <a:pt x="62" y="11"/>
                      </a:lnTo>
                      <a:lnTo>
                        <a:pt x="56" y="22"/>
                      </a:lnTo>
                      <a:lnTo>
                        <a:pt x="48" y="31"/>
                      </a:lnTo>
                      <a:lnTo>
                        <a:pt x="41" y="41"/>
                      </a:lnTo>
                      <a:lnTo>
                        <a:pt x="31" y="48"/>
                      </a:lnTo>
                      <a:lnTo>
                        <a:pt x="22" y="55"/>
                      </a:lnTo>
                      <a:lnTo>
                        <a:pt x="12" y="61"/>
                      </a:lnTo>
                      <a:lnTo>
                        <a:pt x="0" y="65"/>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18" name="Freeform 2355"/>
                <p:cNvSpPr>
                  <a:spLocks noChangeAspect="1"/>
                </p:cNvSpPr>
                <p:nvPr/>
              </p:nvSpPr>
              <p:spPr bwMode="auto">
                <a:xfrm>
                  <a:off x="5522" y="2339"/>
                  <a:ext cx="28" cy="27"/>
                </a:xfrm>
                <a:custGeom>
                  <a:avLst/>
                  <a:gdLst>
                    <a:gd name="T0" fmla="*/ 0 w 82"/>
                    <a:gd name="T1" fmla="*/ 0 h 81"/>
                    <a:gd name="T2" fmla="*/ 0 w 82"/>
                    <a:gd name="T3" fmla="*/ 0 h 81"/>
                    <a:gd name="T4" fmla="*/ 0 w 82"/>
                    <a:gd name="T5" fmla="*/ 0 h 81"/>
                    <a:gd name="T6" fmla="*/ 0 w 82"/>
                    <a:gd name="T7" fmla="*/ 0 h 81"/>
                    <a:gd name="T8" fmla="*/ 0 w 82"/>
                    <a:gd name="T9" fmla="*/ 0 h 81"/>
                    <a:gd name="T10" fmla="*/ 0 w 82"/>
                    <a:gd name="T11" fmla="*/ 0 h 81"/>
                    <a:gd name="T12" fmla="*/ 0 w 82"/>
                    <a:gd name="T13" fmla="*/ 0 h 81"/>
                    <a:gd name="T14" fmla="*/ 0 w 82"/>
                    <a:gd name="T15" fmla="*/ 0 h 81"/>
                    <a:gd name="T16" fmla="*/ 0 w 82"/>
                    <a:gd name="T17" fmla="*/ 0 h 81"/>
                    <a:gd name="T18" fmla="*/ 0 w 82"/>
                    <a:gd name="T19" fmla="*/ 0 h 81"/>
                    <a:gd name="T20" fmla="*/ 0 w 82"/>
                    <a:gd name="T21" fmla="*/ 0 h 81"/>
                    <a:gd name="T22" fmla="*/ 0 w 82"/>
                    <a:gd name="T23" fmla="*/ 0 h 81"/>
                    <a:gd name="T24" fmla="*/ 0 w 82"/>
                    <a:gd name="T25" fmla="*/ 0 h 81"/>
                    <a:gd name="T26" fmla="*/ 0 w 82"/>
                    <a:gd name="T27" fmla="*/ 0 h 81"/>
                    <a:gd name="T28" fmla="*/ 0 w 82"/>
                    <a:gd name="T29" fmla="*/ 0 h 81"/>
                    <a:gd name="T30" fmla="*/ 0 w 82"/>
                    <a:gd name="T31" fmla="*/ 0 h 81"/>
                    <a:gd name="T32" fmla="*/ 0 w 82"/>
                    <a:gd name="T33" fmla="*/ 0 h 81"/>
                    <a:gd name="T34" fmla="*/ 0 w 82"/>
                    <a:gd name="T35" fmla="*/ 0 h 81"/>
                    <a:gd name="T36" fmla="*/ 0 w 82"/>
                    <a:gd name="T37" fmla="*/ 0 h 8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2" h="81">
                      <a:moveTo>
                        <a:pt x="70" y="29"/>
                      </a:moveTo>
                      <a:lnTo>
                        <a:pt x="27" y="71"/>
                      </a:lnTo>
                      <a:lnTo>
                        <a:pt x="24" y="72"/>
                      </a:lnTo>
                      <a:lnTo>
                        <a:pt x="21" y="74"/>
                      </a:lnTo>
                      <a:lnTo>
                        <a:pt x="18" y="75"/>
                      </a:lnTo>
                      <a:lnTo>
                        <a:pt x="15" y="76"/>
                      </a:lnTo>
                      <a:lnTo>
                        <a:pt x="10" y="78"/>
                      </a:lnTo>
                      <a:lnTo>
                        <a:pt x="7" y="80"/>
                      </a:lnTo>
                      <a:lnTo>
                        <a:pt x="3" y="81"/>
                      </a:lnTo>
                      <a:lnTo>
                        <a:pt x="0" y="81"/>
                      </a:lnTo>
                      <a:lnTo>
                        <a:pt x="82" y="0"/>
                      </a:lnTo>
                      <a:lnTo>
                        <a:pt x="81" y="3"/>
                      </a:lnTo>
                      <a:lnTo>
                        <a:pt x="79" y="7"/>
                      </a:lnTo>
                      <a:lnTo>
                        <a:pt x="78" y="10"/>
                      </a:lnTo>
                      <a:lnTo>
                        <a:pt x="76" y="15"/>
                      </a:lnTo>
                      <a:lnTo>
                        <a:pt x="75" y="18"/>
                      </a:lnTo>
                      <a:lnTo>
                        <a:pt x="73" y="21"/>
                      </a:lnTo>
                      <a:lnTo>
                        <a:pt x="72" y="25"/>
                      </a:lnTo>
                      <a:lnTo>
                        <a:pt x="70" y="2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19" name="Freeform 2356"/>
                <p:cNvSpPr>
                  <a:spLocks noChangeAspect="1"/>
                </p:cNvSpPr>
                <p:nvPr/>
              </p:nvSpPr>
              <p:spPr bwMode="auto">
                <a:xfrm>
                  <a:off x="5519" y="2335"/>
                  <a:ext cx="31" cy="32"/>
                </a:xfrm>
                <a:custGeom>
                  <a:avLst/>
                  <a:gdLst>
                    <a:gd name="T0" fmla="*/ 0 w 95"/>
                    <a:gd name="T1" fmla="*/ 0 h 95"/>
                    <a:gd name="T2" fmla="*/ 0 w 95"/>
                    <a:gd name="T3" fmla="*/ 0 h 95"/>
                    <a:gd name="T4" fmla="*/ 0 w 95"/>
                    <a:gd name="T5" fmla="*/ 0 h 95"/>
                    <a:gd name="T6" fmla="*/ 0 w 95"/>
                    <a:gd name="T7" fmla="*/ 0 h 95"/>
                    <a:gd name="T8" fmla="*/ 0 w 95"/>
                    <a:gd name="T9" fmla="*/ 0 h 95"/>
                    <a:gd name="T10" fmla="*/ 0 w 95"/>
                    <a:gd name="T11" fmla="*/ 0 h 95"/>
                    <a:gd name="T12" fmla="*/ 0 w 95"/>
                    <a:gd name="T13" fmla="*/ 0 h 95"/>
                    <a:gd name="T14" fmla="*/ 0 w 95"/>
                    <a:gd name="T15" fmla="*/ 0 h 95"/>
                    <a:gd name="T16" fmla="*/ 0 w 95"/>
                    <a:gd name="T17" fmla="*/ 0 h 95"/>
                    <a:gd name="T18" fmla="*/ 0 w 95"/>
                    <a:gd name="T19" fmla="*/ 0 h 95"/>
                    <a:gd name="T20" fmla="*/ 0 w 95"/>
                    <a:gd name="T21" fmla="*/ 0 h 95"/>
                    <a:gd name="T22" fmla="*/ 0 w 95"/>
                    <a:gd name="T23" fmla="*/ 0 h 95"/>
                    <a:gd name="T24" fmla="*/ 0 w 95"/>
                    <a:gd name="T25" fmla="*/ 0 h 95"/>
                    <a:gd name="T26" fmla="*/ 0 w 95"/>
                    <a:gd name="T27" fmla="*/ 0 h 95"/>
                    <a:gd name="T28" fmla="*/ 0 w 95"/>
                    <a:gd name="T29" fmla="*/ 0 h 95"/>
                    <a:gd name="T30" fmla="*/ 0 w 95"/>
                    <a:gd name="T31" fmla="*/ 0 h 95"/>
                    <a:gd name="T32" fmla="*/ 0 w 95"/>
                    <a:gd name="T33" fmla="*/ 0 h 95"/>
                    <a:gd name="T34" fmla="*/ 0 w 95"/>
                    <a:gd name="T35" fmla="*/ 0 h 95"/>
                    <a:gd name="T36" fmla="*/ 0 w 95"/>
                    <a:gd name="T37" fmla="*/ 0 h 9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5" h="95">
                      <a:moveTo>
                        <a:pt x="88" y="24"/>
                      </a:moveTo>
                      <a:lnTo>
                        <a:pt x="22" y="89"/>
                      </a:lnTo>
                      <a:lnTo>
                        <a:pt x="20" y="90"/>
                      </a:lnTo>
                      <a:lnTo>
                        <a:pt x="17" y="92"/>
                      </a:lnTo>
                      <a:lnTo>
                        <a:pt x="15" y="93"/>
                      </a:lnTo>
                      <a:lnTo>
                        <a:pt x="12" y="93"/>
                      </a:lnTo>
                      <a:lnTo>
                        <a:pt x="8" y="94"/>
                      </a:lnTo>
                      <a:lnTo>
                        <a:pt x="6" y="94"/>
                      </a:lnTo>
                      <a:lnTo>
                        <a:pt x="3" y="95"/>
                      </a:lnTo>
                      <a:lnTo>
                        <a:pt x="0" y="95"/>
                      </a:lnTo>
                      <a:lnTo>
                        <a:pt x="95" y="0"/>
                      </a:lnTo>
                      <a:lnTo>
                        <a:pt x="94" y="3"/>
                      </a:lnTo>
                      <a:lnTo>
                        <a:pt x="94" y="7"/>
                      </a:lnTo>
                      <a:lnTo>
                        <a:pt x="93" y="10"/>
                      </a:lnTo>
                      <a:lnTo>
                        <a:pt x="93" y="13"/>
                      </a:lnTo>
                      <a:lnTo>
                        <a:pt x="92" y="15"/>
                      </a:lnTo>
                      <a:lnTo>
                        <a:pt x="90" y="18"/>
                      </a:lnTo>
                      <a:lnTo>
                        <a:pt x="89" y="21"/>
                      </a:lnTo>
                      <a:lnTo>
                        <a:pt x="88" y="24"/>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20" name="Freeform 2357"/>
                <p:cNvSpPr>
                  <a:spLocks noChangeAspect="1"/>
                </p:cNvSpPr>
                <p:nvPr/>
              </p:nvSpPr>
              <p:spPr bwMode="auto">
                <a:xfrm>
                  <a:off x="5515" y="2332"/>
                  <a:ext cx="36" cy="35"/>
                </a:xfrm>
                <a:custGeom>
                  <a:avLst/>
                  <a:gdLst>
                    <a:gd name="T0" fmla="*/ 0 w 106"/>
                    <a:gd name="T1" fmla="*/ 0 h 105"/>
                    <a:gd name="T2" fmla="*/ 0 w 106"/>
                    <a:gd name="T3" fmla="*/ 0 h 105"/>
                    <a:gd name="T4" fmla="*/ 0 w 106"/>
                    <a:gd name="T5" fmla="*/ 0 h 105"/>
                    <a:gd name="T6" fmla="*/ 0 w 106"/>
                    <a:gd name="T7" fmla="*/ 0 h 105"/>
                    <a:gd name="T8" fmla="*/ 0 w 106"/>
                    <a:gd name="T9" fmla="*/ 0 h 105"/>
                    <a:gd name="T10" fmla="*/ 0 w 106"/>
                    <a:gd name="T11" fmla="*/ 0 h 105"/>
                    <a:gd name="T12" fmla="*/ 0 w 106"/>
                    <a:gd name="T13" fmla="*/ 0 h 105"/>
                    <a:gd name="T14" fmla="*/ 0 w 106"/>
                    <a:gd name="T15" fmla="*/ 0 h 105"/>
                    <a:gd name="T16" fmla="*/ 0 w 106"/>
                    <a:gd name="T17" fmla="*/ 0 h 105"/>
                    <a:gd name="T18" fmla="*/ 0 w 106"/>
                    <a:gd name="T19" fmla="*/ 0 h 105"/>
                    <a:gd name="T20" fmla="*/ 0 w 106"/>
                    <a:gd name="T21" fmla="*/ 0 h 105"/>
                    <a:gd name="T22" fmla="*/ 0 w 106"/>
                    <a:gd name="T23" fmla="*/ 0 h 105"/>
                    <a:gd name="T24" fmla="*/ 0 w 106"/>
                    <a:gd name="T25" fmla="*/ 0 h 105"/>
                    <a:gd name="T26" fmla="*/ 0 w 106"/>
                    <a:gd name="T27" fmla="*/ 0 h 105"/>
                    <a:gd name="T28" fmla="*/ 0 w 106"/>
                    <a:gd name="T29" fmla="*/ 0 h 105"/>
                    <a:gd name="T30" fmla="*/ 0 w 106"/>
                    <a:gd name="T31" fmla="*/ 0 h 105"/>
                    <a:gd name="T32" fmla="*/ 0 w 106"/>
                    <a:gd name="T33" fmla="*/ 0 h 105"/>
                    <a:gd name="T34" fmla="*/ 0 w 106"/>
                    <a:gd name="T35" fmla="*/ 0 h 105"/>
                    <a:gd name="T36" fmla="*/ 0 w 106"/>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6" h="105">
                      <a:moveTo>
                        <a:pt x="103" y="21"/>
                      </a:moveTo>
                      <a:lnTo>
                        <a:pt x="21" y="102"/>
                      </a:lnTo>
                      <a:lnTo>
                        <a:pt x="18" y="103"/>
                      </a:lnTo>
                      <a:lnTo>
                        <a:pt x="15" y="103"/>
                      </a:lnTo>
                      <a:lnTo>
                        <a:pt x="13" y="104"/>
                      </a:lnTo>
                      <a:lnTo>
                        <a:pt x="11" y="104"/>
                      </a:lnTo>
                      <a:lnTo>
                        <a:pt x="9" y="104"/>
                      </a:lnTo>
                      <a:lnTo>
                        <a:pt x="6" y="104"/>
                      </a:lnTo>
                      <a:lnTo>
                        <a:pt x="4" y="104"/>
                      </a:lnTo>
                      <a:lnTo>
                        <a:pt x="0" y="105"/>
                      </a:lnTo>
                      <a:lnTo>
                        <a:pt x="106" y="0"/>
                      </a:lnTo>
                      <a:lnTo>
                        <a:pt x="106" y="3"/>
                      </a:lnTo>
                      <a:lnTo>
                        <a:pt x="105" y="5"/>
                      </a:lnTo>
                      <a:lnTo>
                        <a:pt x="105" y="8"/>
                      </a:lnTo>
                      <a:lnTo>
                        <a:pt x="105" y="10"/>
                      </a:lnTo>
                      <a:lnTo>
                        <a:pt x="104" y="12"/>
                      </a:lnTo>
                      <a:lnTo>
                        <a:pt x="104" y="16"/>
                      </a:lnTo>
                      <a:lnTo>
                        <a:pt x="103" y="18"/>
                      </a:lnTo>
                      <a:lnTo>
                        <a:pt x="103" y="2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21" name="Freeform 2358"/>
                <p:cNvSpPr>
                  <a:spLocks noChangeAspect="1"/>
                </p:cNvSpPr>
                <p:nvPr/>
              </p:nvSpPr>
              <p:spPr bwMode="auto">
                <a:xfrm>
                  <a:off x="5513" y="2329"/>
                  <a:ext cx="38" cy="38"/>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w 114"/>
                    <a:gd name="T13" fmla="*/ 0 h 114"/>
                    <a:gd name="T14" fmla="*/ 0 w 114"/>
                    <a:gd name="T15" fmla="*/ 0 h 114"/>
                    <a:gd name="T16" fmla="*/ 0 w 114"/>
                    <a:gd name="T17" fmla="*/ 0 h 114"/>
                    <a:gd name="T18" fmla="*/ 0 w 114"/>
                    <a:gd name="T19" fmla="*/ 0 h 114"/>
                    <a:gd name="T20" fmla="*/ 0 w 114"/>
                    <a:gd name="T21" fmla="*/ 0 h 114"/>
                    <a:gd name="T22" fmla="*/ 0 w 114"/>
                    <a:gd name="T23" fmla="*/ 0 h 114"/>
                    <a:gd name="T24" fmla="*/ 0 w 114"/>
                    <a:gd name="T25" fmla="*/ 0 h 114"/>
                    <a:gd name="T26" fmla="*/ 0 w 114"/>
                    <a:gd name="T27" fmla="*/ 0 h 114"/>
                    <a:gd name="T28" fmla="*/ 0 w 114"/>
                    <a:gd name="T29" fmla="*/ 0 h 114"/>
                    <a:gd name="T30" fmla="*/ 0 w 114"/>
                    <a:gd name="T31" fmla="*/ 0 h 114"/>
                    <a:gd name="T32" fmla="*/ 0 w 114"/>
                    <a:gd name="T33" fmla="*/ 0 h 114"/>
                    <a:gd name="T34" fmla="*/ 0 w 114"/>
                    <a:gd name="T35" fmla="*/ 0 h 114"/>
                    <a:gd name="T36" fmla="*/ 0 w 114"/>
                    <a:gd name="T37" fmla="*/ 0 h 114"/>
                    <a:gd name="T38" fmla="*/ 0 w 114"/>
                    <a:gd name="T39" fmla="*/ 0 h 114"/>
                    <a:gd name="T40" fmla="*/ 0 w 114"/>
                    <a:gd name="T41" fmla="*/ 0 h 114"/>
                    <a:gd name="T42" fmla="*/ 0 w 114"/>
                    <a:gd name="T43" fmla="*/ 0 h 114"/>
                    <a:gd name="T44" fmla="*/ 0 w 114"/>
                    <a:gd name="T45" fmla="*/ 0 h 114"/>
                    <a:gd name="T46" fmla="*/ 0 w 114"/>
                    <a:gd name="T47" fmla="*/ 0 h 114"/>
                    <a:gd name="T48" fmla="*/ 0 w 114"/>
                    <a:gd name="T49" fmla="*/ 0 h 114"/>
                    <a:gd name="T50" fmla="*/ 0 w 114"/>
                    <a:gd name="T51" fmla="*/ 0 h 114"/>
                    <a:gd name="T52" fmla="*/ 0 w 114"/>
                    <a:gd name="T53" fmla="*/ 0 h 114"/>
                    <a:gd name="T54" fmla="*/ 0 w 114"/>
                    <a:gd name="T55" fmla="*/ 0 h 114"/>
                    <a:gd name="T56" fmla="*/ 0 w 114"/>
                    <a:gd name="T57" fmla="*/ 0 h 114"/>
                    <a:gd name="T58" fmla="*/ 0 w 114"/>
                    <a:gd name="T59" fmla="*/ 0 h 114"/>
                    <a:gd name="T60" fmla="*/ 0 w 114"/>
                    <a:gd name="T61" fmla="*/ 0 h 114"/>
                    <a:gd name="T62" fmla="*/ 0 w 114"/>
                    <a:gd name="T63" fmla="*/ 0 h 114"/>
                    <a:gd name="T64" fmla="*/ 0 w 114"/>
                    <a:gd name="T65" fmla="*/ 0 h 114"/>
                    <a:gd name="T66" fmla="*/ 0 w 114"/>
                    <a:gd name="T67" fmla="*/ 0 h 114"/>
                    <a:gd name="T68" fmla="*/ 0 w 114"/>
                    <a:gd name="T69" fmla="*/ 0 h 11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4" h="114">
                      <a:moveTo>
                        <a:pt x="113" y="18"/>
                      </a:moveTo>
                      <a:lnTo>
                        <a:pt x="18" y="113"/>
                      </a:lnTo>
                      <a:lnTo>
                        <a:pt x="17" y="113"/>
                      </a:lnTo>
                      <a:lnTo>
                        <a:pt x="16" y="113"/>
                      </a:lnTo>
                      <a:lnTo>
                        <a:pt x="14" y="113"/>
                      </a:lnTo>
                      <a:lnTo>
                        <a:pt x="13" y="113"/>
                      </a:lnTo>
                      <a:lnTo>
                        <a:pt x="12" y="113"/>
                      </a:lnTo>
                      <a:lnTo>
                        <a:pt x="11" y="114"/>
                      </a:lnTo>
                      <a:lnTo>
                        <a:pt x="8" y="114"/>
                      </a:lnTo>
                      <a:lnTo>
                        <a:pt x="7" y="114"/>
                      </a:lnTo>
                      <a:lnTo>
                        <a:pt x="6" y="114"/>
                      </a:lnTo>
                      <a:lnTo>
                        <a:pt x="5" y="114"/>
                      </a:lnTo>
                      <a:lnTo>
                        <a:pt x="4" y="113"/>
                      </a:lnTo>
                      <a:lnTo>
                        <a:pt x="3" y="113"/>
                      </a:lnTo>
                      <a:lnTo>
                        <a:pt x="2" y="113"/>
                      </a:lnTo>
                      <a:lnTo>
                        <a:pt x="1" y="113"/>
                      </a:lnTo>
                      <a:lnTo>
                        <a:pt x="0" y="113"/>
                      </a:lnTo>
                      <a:lnTo>
                        <a:pt x="114" y="0"/>
                      </a:lnTo>
                      <a:lnTo>
                        <a:pt x="114" y="1"/>
                      </a:lnTo>
                      <a:lnTo>
                        <a:pt x="114" y="3"/>
                      </a:lnTo>
                      <a:lnTo>
                        <a:pt x="114" y="5"/>
                      </a:lnTo>
                      <a:lnTo>
                        <a:pt x="114" y="7"/>
                      </a:lnTo>
                      <a:lnTo>
                        <a:pt x="114" y="10"/>
                      </a:lnTo>
                      <a:lnTo>
                        <a:pt x="114" y="12"/>
                      </a:lnTo>
                      <a:lnTo>
                        <a:pt x="113" y="14"/>
                      </a:lnTo>
                      <a:lnTo>
                        <a:pt x="113" y="16"/>
                      </a:lnTo>
                      <a:lnTo>
                        <a:pt x="113" y="18"/>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22" name="Freeform 2359"/>
                <p:cNvSpPr>
                  <a:spLocks noChangeAspect="1"/>
                </p:cNvSpPr>
                <p:nvPr/>
              </p:nvSpPr>
              <p:spPr bwMode="auto">
                <a:xfrm>
                  <a:off x="5510" y="2326"/>
                  <a:ext cx="41" cy="41"/>
                </a:xfrm>
                <a:custGeom>
                  <a:avLst/>
                  <a:gdLst>
                    <a:gd name="T0" fmla="*/ 0 w 122"/>
                    <a:gd name="T1" fmla="*/ 0 h 122"/>
                    <a:gd name="T2" fmla="*/ 0 w 122"/>
                    <a:gd name="T3" fmla="*/ 0 h 122"/>
                    <a:gd name="T4" fmla="*/ 0 w 122"/>
                    <a:gd name="T5" fmla="*/ 0 h 122"/>
                    <a:gd name="T6" fmla="*/ 0 w 122"/>
                    <a:gd name="T7" fmla="*/ 0 h 122"/>
                    <a:gd name="T8" fmla="*/ 0 w 122"/>
                    <a:gd name="T9" fmla="*/ 0 h 122"/>
                    <a:gd name="T10" fmla="*/ 0 w 122"/>
                    <a:gd name="T11" fmla="*/ 0 h 122"/>
                    <a:gd name="T12" fmla="*/ 0 w 122"/>
                    <a:gd name="T13" fmla="*/ 0 h 122"/>
                    <a:gd name="T14" fmla="*/ 0 w 122"/>
                    <a:gd name="T15" fmla="*/ 0 h 122"/>
                    <a:gd name="T16" fmla="*/ 0 w 122"/>
                    <a:gd name="T17" fmla="*/ 0 h 122"/>
                    <a:gd name="T18" fmla="*/ 0 w 122"/>
                    <a:gd name="T19" fmla="*/ 0 h 122"/>
                    <a:gd name="T20" fmla="*/ 0 w 122"/>
                    <a:gd name="T21" fmla="*/ 0 h 122"/>
                    <a:gd name="T22" fmla="*/ 0 w 122"/>
                    <a:gd name="T23" fmla="*/ 0 h 122"/>
                    <a:gd name="T24" fmla="*/ 0 w 122"/>
                    <a:gd name="T25" fmla="*/ 0 h 122"/>
                    <a:gd name="T26" fmla="*/ 0 w 122"/>
                    <a:gd name="T27" fmla="*/ 0 h 122"/>
                    <a:gd name="T28" fmla="*/ 0 w 122"/>
                    <a:gd name="T29" fmla="*/ 0 h 122"/>
                    <a:gd name="T30" fmla="*/ 0 w 122"/>
                    <a:gd name="T31" fmla="*/ 0 h 122"/>
                    <a:gd name="T32" fmla="*/ 0 w 122"/>
                    <a:gd name="T33" fmla="*/ 0 h 122"/>
                    <a:gd name="T34" fmla="*/ 0 w 122"/>
                    <a:gd name="T35" fmla="*/ 0 h 122"/>
                    <a:gd name="T36" fmla="*/ 0 w 122"/>
                    <a:gd name="T37" fmla="*/ 0 h 122"/>
                    <a:gd name="T38" fmla="*/ 0 w 122"/>
                    <a:gd name="T39" fmla="*/ 0 h 122"/>
                    <a:gd name="T40" fmla="*/ 0 w 122"/>
                    <a:gd name="T41" fmla="*/ 0 h 122"/>
                    <a:gd name="T42" fmla="*/ 0 w 122"/>
                    <a:gd name="T43" fmla="*/ 0 h 122"/>
                    <a:gd name="T44" fmla="*/ 0 w 122"/>
                    <a:gd name="T45" fmla="*/ 0 h 122"/>
                    <a:gd name="T46" fmla="*/ 0 w 122"/>
                    <a:gd name="T47" fmla="*/ 0 h 122"/>
                    <a:gd name="T48" fmla="*/ 0 w 122"/>
                    <a:gd name="T49" fmla="*/ 0 h 122"/>
                    <a:gd name="T50" fmla="*/ 0 w 122"/>
                    <a:gd name="T51" fmla="*/ 0 h 122"/>
                    <a:gd name="T52" fmla="*/ 0 w 122"/>
                    <a:gd name="T53" fmla="*/ 0 h 122"/>
                    <a:gd name="T54" fmla="*/ 0 w 122"/>
                    <a:gd name="T55" fmla="*/ 0 h 122"/>
                    <a:gd name="T56" fmla="*/ 0 w 122"/>
                    <a:gd name="T57" fmla="*/ 0 h 122"/>
                    <a:gd name="T58" fmla="*/ 0 w 122"/>
                    <a:gd name="T59" fmla="*/ 0 h 122"/>
                    <a:gd name="T60" fmla="*/ 0 w 122"/>
                    <a:gd name="T61" fmla="*/ 0 h 122"/>
                    <a:gd name="T62" fmla="*/ 0 w 122"/>
                    <a:gd name="T63" fmla="*/ 0 h 122"/>
                    <a:gd name="T64" fmla="*/ 0 w 122"/>
                    <a:gd name="T65" fmla="*/ 0 h 122"/>
                    <a:gd name="T66" fmla="*/ 0 w 122"/>
                    <a:gd name="T67" fmla="*/ 0 h 122"/>
                    <a:gd name="T68" fmla="*/ 0 w 122"/>
                    <a:gd name="T69" fmla="*/ 0 h 12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2" h="122">
                      <a:moveTo>
                        <a:pt x="122" y="17"/>
                      </a:moveTo>
                      <a:lnTo>
                        <a:pt x="16" y="122"/>
                      </a:lnTo>
                      <a:lnTo>
                        <a:pt x="15" y="122"/>
                      </a:lnTo>
                      <a:lnTo>
                        <a:pt x="13" y="122"/>
                      </a:lnTo>
                      <a:lnTo>
                        <a:pt x="12" y="121"/>
                      </a:lnTo>
                      <a:lnTo>
                        <a:pt x="10" y="121"/>
                      </a:lnTo>
                      <a:lnTo>
                        <a:pt x="8" y="121"/>
                      </a:lnTo>
                      <a:lnTo>
                        <a:pt x="6" y="121"/>
                      </a:lnTo>
                      <a:lnTo>
                        <a:pt x="5" y="121"/>
                      </a:lnTo>
                      <a:lnTo>
                        <a:pt x="3" y="121"/>
                      </a:lnTo>
                      <a:lnTo>
                        <a:pt x="0" y="120"/>
                      </a:lnTo>
                      <a:lnTo>
                        <a:pt x="122" y="0"/>
                      </a:lnTo>
                      <a:lnTo>
                        <a:pt x="122" y="1"/>
                      </a:lnTo>
                      <a:lnTo>
                        <a:pt x="122" y="2"/>
                      </a:lnTo>
                      <a:lnTo>
                        <a:pt x="122" y="3"/>
                      </a:lnTo>
                      <a:lnTo>
                        <a:pt x="122" y="4"/>
                      </a:lnTo>
                      <a:lnTo>
                        <a:pt x="122" y="6"/>
                      </a:lnTo>
                      <a:lnTo>
                        <a:pt x="122" y="7"/>
                      </a:lnTo>
                      <a:lnTo>
                        <a:pt x="122" y="8"/>
                      </a:lnTo>
                      <a:lnTo>
                        <a:pt x="122" y="9"/>
                      </a:lnTo>
                      <a:lnTo>
                        <a:pt x="122" y="10"/>
                      </a:lnTo>
                      <a:lnTo>
                        <a:pt x="122" y="11"/>
                      </a:lnTo>
                      <a:lnTo>
                        <a:pt x="122" y="12"/>
                      </a:lnTo>
                      <a:lnTo>
                        <a:pt x="122" y="13"/>
                      </a:lnTo>
                      <a:lnTo>
                        <a:pt x="122" y="14"/>
                      </a:lnTo>
                      <a:lnTo>
                        <a:pt x="122" y="15"/>
                      </a:lnTo>
                      <a:lnTo>
                        <a:pt x="122" y="1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23" name="Freeform 2360"/>
                <p:cNvSpPr>
                  <a:spLocks noChangeAspect="1"/>
                </p:cNvSpPr>
                <p:nvPr/>
              </p:nvSpPr>
              <p:spPr bwMode="auto">
                <a:xfrm>
                  <a:off x="5508" y="2324"/>
                  <a:ext cx="43" cy="43"/>
                </a:xfrm>
                <a:custGeom>
                  <a:avLst/>
                  <a:gdLst>
                    <a:gd name="T0" fmla="*/ 0 w 129"/>
                    <a:gd name="T1" fmla="*/ 0 h 129"/>
                    <a:gd name="T2" fmla="*/ 0 w 129"/>
                    <a:gd name="T3" fmla="*/ 0 h 129"/>
                    <a:gd name="T4" fmla="*/ 0 w 129"/>
                    <a:gd name="T5" fmla="*/ 0 h 129"/>
                    <a:gd name="T6" fmla="*/ 0 w 129"/>
                    <a:gd name="T7" fmla="*/ 0 h 129"/>
                    <a:gd name="T8" fmla="*/ 0 w 129"/>
                    <a:gd name="T9" fmla="*/ 0 h 129"/>
                    <a:gd name="T10" fmla="*/ 0 w 129"/>
                    <a:gd name="T11" fmla="*/ 0 h 129"/>
                    <a:gd name="T12" fmla="*/ 0 w 129"/>
                    <a:gd name="T13" fmla="*/ 0 h 129"/>
                    <a:gd name="T14" fmla="*/ 0 w 129"/>
                    <a:gd name="T15" fmla="*/ 0 h 129"/>
                    <a:gd name="T16" fmla="*/ 0 w 129"/>
                    <a:gd name="T17" fmla="*/ 0 h 129"/>
                    <a:gd name="T18" fmla="*/ 0 w 129"/>
                    <a:gd name="T19" fmla="*/ 0 h 129"/>
                    <a:gd name="T20" fmla="*/ 0 w 129"/>
                    <a:gd name="T21" fmla="*/ 0 h 129"/>
                    <a:gd name="T22" fmla="*/ 0 w 129"/>
                    <a:gd name="T23" fmla="*/ 0 h 129"/>
                    <a:gd name="T24" fmla="*/ 0 w 129"/>
                    <a:gd name="T25" fmla="*/ 0 h 129"/>
                    <a:gd name="T26" fmla="*/ 0 w 129"/>
                    <a:gd name="T27" fmla="*/ 0 h 129"/>
                    <a:gd name="T28" fmla="*/ 0 w 129"/>
                    <a:gd name="T29" fmla="*/ 0 h 129"/>
                    <a:gd name="T30" fmla="*/ 0 w 129"/>
                    <a:gd name="T31" fmla="*/ 0 h 129"/>
                    <a:gd name="T32" fmla="*/ 0 w 129"/>
                    <a:gd name="T33" fmla="*/ 0 h 129"/>
                    <a:gd name="T34" fmla="*/ 0 w 129"/>
                    <a:gd name="T35" fmla="*/ 0 h 129"/>
                    <a:gd name="T36" fmla="*/ 0 w 129"/>
                    <a:gd name="T37" fmla="*/ 0 h 1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9" h="129">
                      <a:moveTo>
                        <a:pt x="129" y="16"/>
                      </a:moveTo>
                      <a:lnTo>
                        <a:pt x="15" y="129"/>
                      </a:lnTo>
                      <a:lnTo>
                        <a:pt x="14" y="129"/>
                      </a:lnTo>
                      <a:lnTo>
                        <a:pt x="12" y="129"/>
                      </a:lnTo>
                      <a:lnTo>
                        <a:pt x="10" y="129"/>
                      </a:lnTo>
                      <a:lnTo>
                        <a:pt x="7" y="129"/>
                      </a:lnTo>
                      <a:lnTo>
                        <a:pt x="5" y="128"/>
                      </a:lnTo>
                      <a:lnTo>
                        <a:pt x="4" y="128"/>
                      </a:lnTo>
                      <a:lnTo>
                        <a:pt x="2" y="128"/>
                      </a:lnTo>
                      <a:lnTo>
                        <a:pt x="0" y="127"/>
                      </a:lnTo>
                      <a:lnTo>
                        <a:pt x="128" y="0"/>
                      </a:lnTo>
                      <a:lnTo>
                        <a:pt x="128" y="1"/>
                      </a:lnTo>
                      <a:lnTo>
                        <a:pt x="128" y="3"/>
                      </a:lnTo>
                      <a:lnTo>
                        <a:pt x="129" y="5"/>
                      </a:lnTo>
                      <a:lnTo>
                        <a:pt x="129" y="8"/>
                      </a:lnTo>
                      <a:lnTo>
                        <a:pt x="129" y="10"/>
                      </a:lnTo>
                      <a:lnTo>
                        <a:pt x="129" y="12"/>
                      </a:lnTo>
                      <a:lnTo>
                        <a:pt x="129" y="14"/>
                      </a:lnTo>
                      <a:lnTo>
                        <a:pt x="129" y="1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24" name="Freeform 2361"/>
                <p:cNvSpPr>
                  <a:spLocks noChangeAspect="1"/>
                </p:cNvSpPr>
                <p:nvPr/>
              </p:nvSpPr>
              <p:spPr bwMode="auto">
                <a:xfrm>
                  <a:off x="5506" y="2321"/>
                  <a:ext cx="45" cy="45"/>
                </a:xfrm>
                <a:custGeom>
                  <a:avLst/>
                  <a:gdLst>
                    <a:gd name="T0" fmla="*/ 0 w 135"/>
                    <a:gd name="T1" fmla="*/ 0 h 135"/>
                    <a:gd name="T2" fmla="*/ 0 w 135"/>
                    <a:gd name="T3" fmla="*/ 0 h 135"/>
                    <a:gd name="T4" fmla="*/ 0 w 135"/>
                    <a:gd name="T5" fmla="*/ 0 h 135"/>
                    <a:gd name="T6" fmla="*/ 0 w 135"/>
                    <a:gd name="T7" fmla="*/ 0 h 135"/>
                    <a:gd name="T8" fmla="*/ 0 w 135"/>
                    <a:gd name="T9" fmla="*/ 0 h 135"/>
                    <a:gd name="T10" fmla="*/ 0 w 135"/>
                    <a:gd name="T11" fmla="*/ 0 h 135"/>
                    <a:gd name="T12" fmla="*/ 0 w 135"/>
                    <a:gd name="T13" fmla="*/ 0 h 135"/>
                    <a:gd name="T14" fmla="*/ 0 w 135"/>
                    <a:gd name="T15" fmla="*/ 0 h 135"/>
                    <a:gd name="T16" fmla="*/ 0 w 135"/>
                    <a:gd name="T17" fmla="*/ 0 h 135"/>
                    <a:gd name="T18" fmla="*/ 0 w 135"/>
                    <a:gd name="T19" fmla="*/ 0 h 135"/>
                    <a:gd name="T20" fmla="*/ 0 w 135"/>
                    <a:gd name="T21" fmla="*/ 0 h 135"/>
                    <a:gd name="T22" fmla="*/ 0 w 135"/>
                    <a:gd name="T23" fmla="*/ 0 h 135"/>
                    <a:gd name="T24" fmla="*/ 0 w 135"/>
                    <a:gd name="T25" fmla="*/ 0 h 135"/>
                    <a:gd name="T26" fmla="*/ 0 w 135"/>
                    <a:gd name="T27" fmla="*/ 0 h 135"/>
                    <a:gd name="T28" fmla="*/ 0 w 135"/>
                    <a:gd name="T29" fmla="*/ 0 h 135"/>
                    <a:gd name="T30" fmla="*/ 0 w 135"/>
                    <a:gd name="T31" fmla="*/ 0 h 135"/>
                    <a:gd name="T32" fmla="*/ 0 w 135"/>
                    <a:gd name="T33" fmla="*/ 0 h 135"/>
                    <a:gd name="T34" fmla="*/ 0 w 135"/>
                    <a:gd name="T35" fmla="*/ 0 h 135"/>
                    <a:gd name="T36" fmla="*/ 0 w 135"/>
                    <a:gd name="T37" fmla="*/ 0 h 1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35" h="135">
                      <a:moveTo>
                        <a:pt x="135" y="15"/>
                      </a:moveTo>
                      <a:lnTo>
                        <a:pt x="13" y="135"/>
                      </a:lnTo>
                      <a:lnTo>
                        <a:pt x="11" y="135"/>
                      </a:lnTo>
                      <a:lnTo>
                        <a:pt x="10" y="135"/>
                      </a:lnTo>
                      <a:lnTo>
                        <a:pt x="8" y="135"/>
                      </a:lnTo>
                      <a:lnTo>
                        <a:pt x="6" y="134"/>
                      </a:lnTo>
                      <a:lnTo>
                        <a:pt x="5" y="134"/>
                      </a:lnTo>
                      <a:lnTo>
                        <a:pt x="3" y="133"/>
                      </a:lnTo>
                      <a:lnTo>
                        <a:pt x="1" y="133"/>
                      </a:lnTo>
                      <a:lnTo>
                        <a:pt x="0" y="131"/>
                      </a:lnTo>
                      <a:lnTo>
                        <a:pt x="133" y="0"/>
                      </a:lnTo>
                      <a:lnTo>
                        <a:pt x="133" y="1"/>
                      </a:lnTo>
                      <a:lnTo>
                        <a:pt x="133" y="3"/>
                      </a:lnTo>
                      <a:lnTo>
                        <a:pt x="134" y="5"/>
                      </a:lnTo>
                      <a:lnTo>
                        <a:pt x="134" y="7"/>
                      </a:lnTo>
                      <a:lnTo>
                        <a:pt x="134" y="8"/>
                      </a:lnTo>
                      <a:lnTo>
                        <a:pt x="134" y="10"/>
                      </a:lnTo>
                      <a:lnTo>
                        <a:pt x="135" y="12"/>
                      </a:lnTo>
                      <a:lnTo>
                        <a:pt x="135" y="15"/>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25" name="Freeform 2362"/>
                <p:cNvSpPr>
                  <a:spLocks noChangeAspect="1"/>
                </p:cNvSpPr>
                <p:nvPr/>
              </p:nvSpPr>
              <p:spPr bwMode="auto">
                <a:xfrm>
                  <a:off x="5503" y="2319"/>
                  <a:ext cx="47" cy="47"/>
                </a:xfrm>
                <a:custGeom>
                  <a:avLst/>
                  <a:gdLst>
                    <a:gd name="T0" fmla="*/ 0 w 141"/>
                    <a:gd name="T1" fmla="*/ 0 h 142"/>
                    <a:gd name="T2" fmla="*/ 0 w 141"/>
                    <a:gd name="T3" fmla="*/ 0 h 142"/>
                    <a:gd name="T4" fmla="*/ 0 w 141"/>
                    <a:gd name="T5" fmla="*/ 0 h 142"/>
                    <a:gd name="T6" fmla="*/ 0 w 141"/>
                    <a:gd name="T7" fmla="*/ 0 h 142"/>
                    <a:gd name="T8" fmla="*/ 0 w 141"/>
                    <a:gd name="T9" fmla="*/ 0 h 142"/>
                    <a:gd name="T10" fmla="*/ 0 w 141"/>
                    <a:gd name="T11" fmla="*/ 0 h 142"/>
                    <a:gd name="T12" fmla="*/ 0 w 141"/>
                    <a:gd name="T13" fmla="*/ 0 h 142"/>
                    <a:gd name="T14" fmla="*/ 0 w 141"/>
                    <a:gd name="T15" fmla="*/ 0 h 142"/>
                    <a:gd name="T16" fmla="*/ 0 w 141"/>
                    <a:gd name="T17" fmla="*/ 0 h 142"/>
                    <a:gd name="T18" fmla="*/ 0 w 141"/>
                    <a:gd name="T19" fmla="*/ 0 h 142"/>
                    <a:gd name="T20" fmla="*/ 0 w 141"/>
                    <a:gd name="T21" fmla="*/ 0 h 142"/>
                    <a:gd name="T22" fmla="*/ 0 w 141"/>
                    <a:gd name="T23" fmla="*/ 0 h 142"/>
                    <a:gd name="T24" fmla="*/ 0 w 141"/>
                    <a:gd name="T25" fmla="*/ 0 h 142"/>
                    <a:gd name="T26" fmla="*/ 0 w 141"/>
                    <a:gd name="T27" fmla="*/ 0 h 142"/>
                    <a:gd name="T28" fmla="*/ 0 w 141"/>
                    <a:gd name="T29" fmla="*/ 0 h 142"/>
                    <a:gd name="T30" fmla="*/ 0 w 141"/>
                    <a:gd name="T31" fmla="*/ 0 h 142"/>
                    <a:gd name="T32" fmla="*/ 0 w 141"/>
                    <a:gd name="T33" fmla="*/ 0 h 142"/>
                    <a:gd name="T34" fmla="*/ 0 w 141"/>
                    <a:gd name="T35" fmla="*/ 0 h 142"/>
                    <a:gd name="T36" fmla="*/ 0 w 141"/>
                    <a:gd name="T37" fmla="*/ 0 h 1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1" h="142">
                      <a:moveTo>
                        <a:pt x="141" y="15"/>
                      </a:moveTo>
                      <a:lnTo>
                        <a:pt x="13" y="142"/>
                      </a:lnTo>
                      <a:lnTo>
                        <a:pt x="12" y="142"/>
                      </a:lnTo>
                      <a:lnTo>
                        <a:pt x="10" y="141"/>
                      </a:lnTo>
                      <a:lnTo>
                        <a:pt x="8" y="141"/>
                      </a:lnTo>
                      <a:lnTo>
                        <a:pt x="7" y="139"/>
                      </a:lnTo>
                      <a:lnTo>
                        <a:pt x="4" y="139"/>
                      </a:lnTo>
                      <a:lnTo>
                        <a:pt x="3" y="138"/>
                      </a:lnTo>
                      <a:lnTo>
                        <a:pt x="1" y="138"/>
                      </a:lnTo>
                      <a:lnTo>
                        <a:pt x="0" y="137"/>
                      </a:lnTo>
                      <a:lnTo>
                        <a:pt x="138" y="0"/>
                      </a:lnTo>
                      <a:lnTo>
                        <a:pt x="138" y="2"/>
                      </a:lnTo>
                      <a:lnTo>
                        <a:pt x="139" y="3"/>
                      </a:lnTo>
                      <a:lnTo>
                        <a:pt x="139" y="6"/>
                      </a:lnTo>
                      <a:lnTo>
                        <a:pt x="140" y="8"/>
                      </a:lnTo>
                      <a:lnTo>
                        <a:pt x="140" y="9"/>
                      </a:lnTo>
                      <a:lnTo>
                        <a:pt x="140" y="11"/>
                      </a:lnTo>
                      <a:lnTo>
                        <a:pt x="141" y="13"/>
                      </a:lnTo>
                      <a:lnTo>
                        <a:pt x="141" y="15"/>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26" name="Freeform 2363"/>
                <p:cNvSpPr>
                  <a:spLocks noChangeAspect="1"/>
                </p:cNvSpPr>
                <p:nvPr/>
              </p:nvSpPr>
              <p:spPr bwMode="auto">
                <a:xfrm>
                  <a:off x="5501" y="2317"/>
                  <a:ext cx="49" cy="48"/>
                </a:xfrm>
                <a:custGeom>
                  <a:avLst/>
                  <a:gdLst>
                    <a:gd name="T0" fmla="*/ 0 w 146"/>
                    <a:gd name="T1" fmla="*/ 0 h 145"/>
                    <a:gd name="T2" fmla="*/ 0 w 146"/>
                    <a:gd name="T3" fmla="*/ 0 h 145"/>
                    <a:gd name="T4" fmla="*/ 0 w 146"/>
                    <a:gd name="T5" fmla="*/ 0 h 145"/>
                    <a:gd name="T6" fmla="*/ 0 w 146"/>
                    <a:gd name="T7" fmla="*/ 0 h 145"/>
                    <a:gd name="T8" fmla="*/ 0 w 146"/>
                    <a:gd name="T9" fmla="*/ 0 h 145"/>
                    <a:gd name="T10" fmla="*/ 0 w 146"/>
                    <a:gd name="T11" fmla="*/ 0 h 145"/>
                    <a:gd name="T12" fmla="*/ 0 w 146"/>
                    <a:gd name="T13" fmla="*/ 0 h 145"/>
                    <a:gd name="T14" fmla="*/ 0 w 146"/>
                    <a:gd name="T15" fmla="*/ 0 h 145"/>
                    <a:gd name="T16" fmla="*/ 0 w 146"/>
                    <a:gd name="T17" fmla="*/ 0 h 145"/>
                    <a:gd name="T18" fmla="*/ 0 w 146"/>
                    <a:gd name="T19" fmla="*/ 0 h 145"/>
                    <a:gd name="T20" fmla="*/ 0 w 146"/>
                    <a:gd name="T21" fmla="*/ 0 h 145"/>
                    <a:gd name="T22" fmla="*/ 0 w 146"/>
                    <a:gd name="T23" fmla="*/ 0 h 145"/>
                    <a:gd name="T24" fmla="*/ 0 w 146"/>
                    <a:gd name="T25" fmla="*/ 0 h 145"/>
                    <a:gd name="T26" fmla="*/ 0 w 146"/>
                    <a:gd name="T27" fmla="*/ 0 h 145"/>
                    <a:gd name="T28" fmla="*/ 0 w 146"/>
                    <a:gd name="T29" fmla="*/ 0 h 145"/>
                    <a:gd name="T30" fmla="*/ 0 w 146"/>
                    <a:gd name="T31" fmla="*/ 0 h 145"/>
                    <a:gd name="T32" fmla="*/ 0 w 146"/>
                    <a:gd name="T33" fmla="*/ 0 h 145"/>
                    <a:gd name="T34" fmla="*/ 0 w 146"/>
                    <a:gd name="T35" fmla="*/ 0 h 145"/>
                    <a:gd name="T36" fmla="*/ 0 w 146"/>
                    <a:gd name="T37" fmla="*/ 0 h 14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6" h="145">
                      <a:moveTo>
                        <a:pt x="146" y="14"/>
                      </a:moveTo>
                      <a:lnTo>
                        <a:pt x="13" y="145"/>
                      </a:lnTo>
                      <a:lnTo>
                        <a:pt x="10" y="145"/>
                      </a:lnTo>
                      <a:lnTo>
                        <a:pt x="9" y="144"/>
                      </a:lnTo>
                      <a:lnTo>
                        <a:pt x="7" y="144"/>
                      </a:lnTo>
                      <a:lnTo>
                        <a:pt x="6" y="143"/>
                      </a:lnTo>
                      <a:lnTo>
                        <a:pt x="4" y="143"/>
                      </a:lnTo>
                      <a:lnTo>
                        <a:pt x="3" y="142"/>
                      </a:lnTo>
                      <a:lnTo>
                        <a:pt x="1" y="142"/>
                      </a:lnTo>
                      <a:lnTo>
                        <a:pt x="0" y="141"/>
                      </a:lnTo>
                      <a:lnTo>
                        <a:pt x="141" y="0"/>
                      </a:lnTo>
                      <a:lnTo>
                        <a:pt x="141" y="1"/>
                      </a:lnTo>
                      <a:lnTo>
                        <a:pt x="142" y="3"/>
                      </a:lnTo>
                      <a:lnTo>
                        <a:pt x="142" y="4"/>
                      </a:lnTo>
                      <a:lnTo>
                        <a:pt x="144" y="6"/>
                      </a:lnTo>
                      <a:lnTo>
                        <a:pt x="144" y="8"/>
                      </a:lnTo>
                      <a:lnTo>
                        <a:pt x="145" y="9"/>
                      </a:lnTo>
                      <a:lnTo>
                        <a:pt x="145" y="12"/>
                      </a:lnTo>
                      <a:lnTo>
                        <a:pt x="146" y="14"/>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27" name="Freeform 2364"/>
                <p:cNvSpPr>
                  <a:spLocks noChangeAspect="1"/>
                </p:cNvSpPr>
                <p:nvPr/>
              </p:nvSpPr>
              <p:spPr bwMode="auto">
                <a:xfrm>
                  <a:off x="5499" y="2314"/>
                  <a:ext cx="50" cy="50"/>
                </a:xfrm>
                <a:custGeom>
                  <a:avLst/>
                  <a:gdLst>
                    <a:gd name="T0" fmla="*/ 0 w 151"/>
                    <a:gd name="T1" fmla="*/ 0 h 150"/>
                    <a:gd name="T2" fmla="*/ 0 w 151"/>
                    <a:gd name="T3" fmla="*/ 0 h 150"/>
                    <a:gd name="T4" fmla="*/ 0 w 151"/>
                    <a:gd name="T5" fmla="*/ 0 h 150"/>
                    <a:gd name="T6" fmla="*/ 0 w 151"/>
                    <a:gd name="T7" fmla="*/ 0 h 150"/>
                    <a:gd name="T8" fmla="*/ 0 w 151"/>
                    <a:gd name="T9" fmla="*/ 0 h 150"/>
                    <a:gd name="T10" fmla="*/ 0 w 151"/>
                    <a:gd name="T11" fmla="*/ 0 h 150"/>
                    <a:gd name="T12" fmla="*/ 0 w 151"/>
                    <a:gd name="T13" fmla="*/ 0 h 150"/>
                    <a:gd name="T14" fmla="*/ 0 w 151"/>
                    <a:gd name="T15" fmla="*/ 0 h 150"/>
                    <a:gd name="T16" fmla="*/ 0 w 151"/>
                    <a:gd name="T17" fmla="*/ 0 h 150"/>
                    <a:gd name="T18" fmla="*/ 0 w 151"/>
                    <a:gd name="T19" fmla="*/ 0 h 150"/>
                    <a:gd name="T20" fmla="*/ 0 w 151"/>
                    <a:gd name="T21" fmla="*/ 0 h 150"/>
                    <a:gd name="T22" fmla="*/ 0 w 151"/>
                    <a:gd name="T23" fmla="*/ 0 h 150"/>
                    <a:gd name="T24" fmla="*/ 0 w 151"/>
                    <a:gd name="T25" fmla="*/ 0 h 150"/>
                    <a:gd name="T26" fmla="*/ 0 w 151"/>
                    <a:gd name="T27" fmla="*/ 0 h 150"/>
                    <a:gd name="T28" fmla="*/ 0 w 151"/>
                    <a:gd name="T29" fmla="*/ 0 h 150"/>
                    <a:gd name="T30" fmla="*/ 0 w 151"/>
                    <a:gd name="T31" fmla="*/ 0 h 150"/>
                    <a:gd name="T32" fmla="*/ 0 w 151"/>
                    <a:gd name="T33" fmla="*/ 0 h 150"/>
                    <a:gd name="T34" fmla="*/ 0 w 151"/>
                    <a:gd name="T35" fmla="*/ 0 h 150"/>
                    <a:gd name="T36" fmla="*/ 0 w 151"/>
                    <a:gd name="T37" fmla="*/ 0 h 1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1" h="150">
                      <a:moveTo>
                        <a:pt x="151" y="13"/>
                      </a:moveTo>
                      <a:lnTo>
                        <a:pt x="13" y="150"/>
                      </a:lnTo>
                      <a:lnTo>
                        <a:pt x="11" y="150"/>
                      </a:lnTo>
                      <a:lnTo>
                        <a:pt x="10" y="149"/>
                      </a:lnTo>
                      <a:lnTo>
                        <a:pt x="8" y="149"/>
                      </a:lnTo>
                      <a:lnTo>
                        <a:pt x="7" y="148"/>
                      </a:lnTo>
                      <a:lnTo>
                        <a:pt x="5" y="147"/>
                      </a:lnTo>
                      <a:lnTo>
                        <a:pt x="4" y="147"/>
                      </a:lnTo>
                      <a:lnTo>
                        <a:pt x="3" y="146"/>
                      </a:lnTo>
                      <a:lnTo>
                        <a:pt x="0" y="145"/>
                      </a:lnTo>
                      <a:lnTo>
                        <a:pt x="146" y="0"/>
                      </a:lnTo>
                      <a:lnTo>
                        <a:pt x="146" y="2"/>
                      </a:lnTo>
                      <a:lnTo>
                        <a:pt x="147" y="4"/>
                      </a:lnTo>
                      <a:lnTo>
                        <a:pt x="147" y="5"/>
                      </a:lnTo>
                      <a:lnTo>
                        <a:pt x="148" y="7"/>
                      </a:lnTo>
                      <a:lnTo>
                        <a:pt x="148" y="8"/>
                      </a:lnTo>
                      <a:lnTo>
                        <a:pt x="149" y="10"/>
                      </a:lnTo>
                      <a:lnTo>
                        <a:pt x="149" y="11"/>
                      </a:lnTo>
                      <a:lnTo>
                        <a:pt x="151" y="1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28" name="Freeform 2365"/>
                <p:cNvSpPr>
                  <a:spLocks noChangeAspect="1"/>
                </p:cNvSpPr>
                <p:nvPr/>
              </p:nvSpPr>
              <p:spPr bwMode="auto">
                <a:xfrm>
                  <a:off x="5497" y="2312"/>
                  <a:ext cx="51" cy="52"/>
                </a:xfrm>
                <a:custGeom>
                  <a:avLst/>
                  <a:gdLst>
                    <a:gd name="T0" fmla="*/ 0 w 153"/>
                    <a:gd name="T1" fmla="*/ 0 h 154"/>
                    <a:gd name="T2" fmla="*/ 0 w 153"/>
                    <a:gd name="T3" fmla="*/ 0 h 154"/>
                    <a:gd name="T4" fmla="*/ 0 w 153"/>
                    <a:gd name="T5" fmla="*/ 0 h 154"/>
                    <a:gd name="T6" fmla="*/ 0 w 153"/>
                    <a:gd name="T7" fmla="*/ 0 h 154"/>
                    <a:gd name="T8" fmla="*/ 0 w 153"/>
                    <a:gd name="T9" fmla="*/ 0 h 154"/>
                    <a:gd name="T10" fmla="*/ 0 w 153"/>
                    <a:gd name="T11" fmla="*/ 0 h 154"/>
                    <a:gd name="T12" fmla="*/ 0 w 153"/>
                    <a:gd name="T13" fmla="*/ 0 h 154"/>
                    <a:gd name="T14" fmla="*/ 0 w 153"/>
                    <a:gd name="T15" fmla="*/ 0 h 154"/>
                    <a:gd name="T16" fmla="*/ 0 w 153"/>
                    <a:gd name="T17" fmla="*/ 0 h 154"/>
                    <a:gd name="T18" fmla="*/ 0 w 153"/>
                    <a:gd name="T19" fmla="*/ 0 h 154"/>
                    <a:gd name="T20" fmla="*/ 0 w 153"/>
                    <a:gd name="T21" fmla="*/ 0 h 154"/>
                    <a:gd name="T22" fmla="*/ 0 w 153"/>
                    <a:gd name="T23" fmla="*/ 0 h 154"/>
                    <a:gd name="T24" fmla="*/ 0 w 153"/>
                    <a:gd name="T25" fmla="*/ 0 h 154"/>
                    <a:gd name="T26" fmla="*/ 0 w 153"/>
                    <a:gd name="T27" fmla="*/ 0 h 154"/>
                    <a:gd name="T28" fmla="*/ 0 w 153"/>
                    <a:gd name="T29" fmla="*/ 0 h 154"/>
                    <a:gd name="T30" fmla="*/ 0 w 153"/>
                    <a:gd name="T31" fmla="*/ 0 h 154"/>
                    <a:gd name="T32" fmla="*/ 0 w 153"/>
                    <a:gd name="T33" fmla="*/ 0 h 154"/>
                    <a:gd name="T34" fmla="*/ 0 w 153"/>
                    <a:gd name="T35" fmla="*/ 0 h 154"/>
                    <a:gd name="T36" fmla="*/ 0 w 153"/>
                    <a:gd name="T37" fmla="*/ 0 h 15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3" h="154">
                      <a:moveTo>
                        <a:pt x="153" y="13"/>
                      </a:moveTo>
                      <a:lnTo>
                        <a:pt x="12" y="154"/>
                      </a:lnTo>
                      <a:lnTo>
                        <a:pt x="10" y="153"/>
                      </a:lnTo>
                      <a:lnTo>
                        <a:pt x="9" y="153"/>
                      </a:lnTo>
                      <a:lnTo>
                        <a:pt x="8" y="152"/>
                      </a:lnTo>
                      <a:lnTo>
                        <a:pt x="5" y="151"/>
                      </a:lnTo>
                      <a:lnTo>
                        <a:pt x="4" y="151"/>
                      </a:lnTo>
                      <a:lnTo>
                        <a:pt x="3" y="150"/>
                      </a:lnTo>
                      <a:lnTo>
                        <a:pt x="1" y="149"/>
                      </a:lnTo>
                      <a:lnTo>
                        <a:pt x="0" y="148"/>
                      </a:lnTo>
                      <a:lnTo>
                        <a:pt x="148" y="0"/>
                      </a:lnTo>
                      <a:lnTo>
                        <a:pt x="149" y="2"/>
                      </a:lnTo>
                      <a:lnTo>
                        <a:pt x="149" y="3"/>
                      </a:lnTo>
                      <a:lnTo>
                        <a:pt x="150" y="4"/>
                      </a:lnTo>
                      <a:lnTo>
                        <a:pt x="151" y="6"/>
                      </a:lnTo>
                      <a:lnTo>
                        <a:pt x="151" y="8"/>
                      </a:lnTo>
                      <a:lnTo>
                        <a:pt x="152" y="10"/>
                      </a:lnTo>
                      <a:lnTo>
                        <a:pt x="152" y="11"/>
                      </a:lnTo>
                      <a:lnTo>
                        <a:pt x="153" y="1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29" name="Freeform 2366"/>
                <p:cNvSpPr>
                  <a:spLocks noChangeAspect="1"/>
                </p:cNvSpPr>
                <p:nvPr/>
              </p:nvSpPr>
              <p:spPr bwMode="auto">
                <a:xfrm>
                  <a:off x="5496" y="2311"/>
                  <a:ext cx="52" cy="52"/>
                </a:xfrm>
                <a:custGeom>
                  <a:avLst/>
                  <a:gdLst>
                    <a:gd name="T0" fmla="*/ 0 w 156"/>
                    <a:gd name="T1" fmla="*/ 0 h 156"/>
                    <a:gd name="T2" fmla="*/ 0 w 156"/>
                    <a:gd name="T3" fmla="*/ 0 h 156"/>
                    <a:gd name="T4" fmla="*/ 0 w 156"/>
                    <a:gd name="T5" fmla="*/ 0 h 156"/>
                    <a:gd name="T6" fmla="*/ 0 w 156"/>
                    <a:gd name="T7" fmla="*/ 0 h 156"/>
                    <a:gd name="T8" fmla="*/ 0 w 156"/>
                    <a:gd name="T9" fmla="*/ 0 h 156"/>
                    <a:gd name="T10" fmla="*/ 0 w 156"/>
                    <a:gd name="T11" fmla="*/ 0 h 156"/>
                    <a:gd name="T12" fmla="*/ 0 w 156"/>
                    <a:gd name="T13" fmla="*/ 0 h 156"/>
                    <a:gd name="T14" fmla="*/ 0 w 156"/>
                    <a:gd name="T15" fmla="*/ 0 h 156"/>
                    <a:gd name="T16" fmla="*/ 0 w 156"/>
                    <a:gd name="T17" fmla="*/ 0 h 156"/>
                    <a:gd name="T18" fmla="*/ 0 w 156"/>
                    <a:gd name="T19" fmla="*/ 0 h 156"/>
                    <a:gd name="T20" fmla="*/ 0 w 156"/>
                    <a:gd name="T21" fmla="*/ 0 h 156"/>
                    <a:gd name="T22" fmla="*/ 0 w 156"/>
                    <a:gd name="T23" fmla="*/ 0 h 156"/>
                    <a:gd name="T24" fmla="*/ 0 w 156"/>
                    <a:gd name="T25" fmla="*/ 0 h 156"/>
                    <a:gd name="T26" fmla="*/ 0 w 156"/>
                    <a:gd name="T27" fmla="*/ 0 h 156"/>
                    <a:gd name="T28" fmla="*/ 0 w 156"/>
                    <a:gd name="T29" fmla="*/ 0 h 156"/>
                    <a:gd name="T30" fmla="*/ 0 w 156"/>
                    <a:gd name="T31" fmla="*/ 0 h 156"/>
                    <a:gd name="T32" fmla="*/ 0 w 156"/>
                    <a:gd name="T33" fmla="*/ 0 h 156"/>
                    <a:gd name="T34" fmla="*/ 0 w 156"/>
                    <a:gd name="T35" fmla="*/ 0 h 156"/>
                    <a:gd name="T36" fmla="*/ 0 w 156"/>
                    <a:gd name="T37" fmla="*/ 0 h 1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6" h="156">
                      <a:moveTo>
                        <a:pt x="156" y="11"/>
                      </a:moveTo>
                      <a:lnTo>
                        <a:pt x="10" y="156"/>
                      </a:lnTo>
                      <a:lnTo>
                        <a:pt x="9" y="156"/>
                      </a:lnTo>
                      <a:lnTo>
                        <a:pt x="8" y="155"/>
                      </a:lnTo>
                      <a:lnTo>
                        <a:pt x="6" y="154"/>
                      </a:lnTo>
                      <a:lnTo>
                        <a:pt x="5" y="153"/>
                      </a:lnTo>
                      <a:lnTo>
                        <a:pt x="4" y="152"/>
                      </a:lnTo>
                      <a:lnTo>
                        <a:pt x="3" y="152"/>
                      </a:lnTo>
                      <a:lnTo>
                        <a:pt x="1" y="151"/>
                      </a:lnTo>
                      <a:lnTo>
                        <a:pt x="0" y="150"/>
                      </a:lnTo>
                      <a:lnTo>
                        <a:pt x="150" y="0"/>
                      </a:lnTo>
                      <a:lnTo>
                        <a:pt x="151" y="1"/>
                      </a:lnTo>
                      <a:lnTo>
                        <a:pt x="152" y="2"/>
                      </a:lnTo>
                      <a:lnTo>
                        <a:pt x="152" y="4"/>
                      </a:lnTo>
                      <a:lnTo>
                        <a:pt x="153" y="5"/>
                      </a:lnTo>
                      <a:lnTo>
                        <a:pt x="154" y="7"/>
                      </a:lnTo>
                      <a:lnTo>
                        <a:pt x="154" y="8"/>
                      </a:lnTo>
                      <a:lnTo>
                        <a:pt x="155" y="9"/>
                      </a:lnTo>
                      <a:lnTo>
                        <a:pt x="156" y="1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30" name="Freeform 2367"/>
                <p:cNvSpPr>
                  <a:spLocks noChangeAspect="1"/>
                </p:cNvSpPr>
                <p:nvPr/>
              </p:nvSpPr>
              <p:spPr bwMode="auto">
                <a:xfrm>
                  <a:off x="5494" y="2309"/>
                  <a:ext cx="53" cy="53"/>
                </a:xfrm>
                <a:custGeom>
                  <a:avLst/>
                  <a:gdLst>
                    <a:gd name="T0" fmla="*/ 0 w 159"/>
                    <a:gd name="T1" fmla="*/ 0 h 159"/>
                    <a:gd name="T2" fmla="*/ 0 w 159"/>
                    <a:gd name="T3" fmla="*/ 0 h 159"/>
                    <a:gd name="T4" fmla="*/ 0 w 159"/>
                    <a:gd name="T5" fmla="*/ 0 h 159"/>
                    <a:gd name="T6" fmla="*/ 0 w 159"/>
                    <a:gd name="T7" fmla="*/ 0 h 159"/>
                    <a:gd name="T8" fmla="*/ 0 w 159"/>
                    <a:gd name="T9" fmla="*/ 0 h 159"/>
                    <a:gd name="T10" fmla="*/ 0 w 159"/>
                    <a:gd name="T11" fmla="*/ 0 h 159"/>
                    <a:gd name="T12" fmla="*/ 0 w 159"/>
                    <a:gd name="T13" fmla="*/ 0 h 159"/>
                    <a:gd name="T14" fmla="*/ 0 w 159"/>
                    <a:gd name="T15" fmla="*/ 0 h 159"/>
                    <a:gd name="T16" fmla="*/ 0 w 159"/>
                    <a:gd name="T17" fmla="*/ 0 h 159"/>
                    <a:gd name="T18" fmla="*/ 0 w 159"/>
                    <a:gd name="T19" fmla="*/ 0 h 159"/>
                    <a:gd name="T20" fmla="*/ 0 w 159"/>
                    <a:gd name="T21" fmla="*/ 0 h 159"/>
                    <a:gd name="T22" fmla="*/ 0 w 159"/>
                    <a:gd name="T23" fmla="*/ 0 h 159"/>
                    <a:gd name="T24" fmla="*/ 0 w 159"/>
                    <a:gd name="T25" fmla="*/ 0 h 159"/>
                    <a:gd name="T26" fmla="*/ 0 w 159"/>
                    <a:gd name="T27" fmla="*/ 0 h 159"/>
                    <a:gd name="T28" fmla="*/ 0 w 159"/>
                    <a:gd name="T29" fmla="*/ 0 h 159"/>
                    <a:gd name="T30" fmla="*/ 0 w 159"/>
                    <a:gd name="T31" fmla="*/ 0 h 159"/>
                    <a:gd name="T32" fmla="*/ 0 w 159"/>
                    <a:gd name="T33" fmla="*/ 0 h 159"/>
                    <a:gd name="T34" fmla="*/ 0 w 159"/>
                    <a:gd name="T35" fmla="*/ 0 h 159"/>
                    <a:gd name="T36" fmla="*/ 0 w 159"/>
                    <a:gd name="T37" fmla="*/ 0 h 1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9" h="159">
                      <a:moveTo>
                        <a:pt x="159" y="11"/>
                      </a:moveTo>
                      <a:lnTo>
                        <a:pt x="11" y="159"/>
                      </a:lnTo>
                      <a:lnTo>
                        <a:pt x="10" y="158"/>
                      </a:lnTo>
                      <a:lnTo>
                        <a:pt x="9" y="158"/>
                      </a:lnTo>
                      <a:lnTo>
                        <a:pt x="7" y="157"/>
                      </a:lnTo>
                      <a:lnTo>
                        <a:pt x="6" y="156"/>
                      </a:lnTo>
                      <a:lnTo>
                        <a:pt x="5" y="155"/>
                      </a:lnTo>
                      <a:lnTo>
                        <a:pt x="4" y="154"/>
                      </a:lnTo>
                      <a:lnTo>
                        <a:pt x="2" y="152"/>
                      </a:lnTo>
                      <a:lnTo>
                        <a:pt x="0" y="151"/>
                      </a:lnTo>
                      <a:lnTo>
                        <a:pt x="153" y="0"/>
                      </a:lnTo>
                      <a:lnTo>
                        <a:pt x="154" y="2"/>
                      </a:lnTo>
                      <a:lnTo>
                        <a:pt x="155" y="3"/>
                      </a:lnTo>
                      <a:lnTo>
                        <a:pt x="156" y="4"/>
                      </a:lnTo>
                      <a:lnTo>
                        <a:pt x="156" y="6"/>
                      </a:lnTo>
                      <a:lnTo>
                        <a:pt x="157" y="7"/>
                      </a:lnTo>
                      <a:lnTo>
                        <a:pt x="158" y="8"/>
                      </a:lnTo>
                      <a:lnTo>
                        <a:pt x="158" y="10"/>
                      </a:lnTo>
                      <a:lnTo>
                        <a:pt x="159" y="1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31" name="Freeform 2368"/>
                <p:cNvSpPr>
                  <a:spLocks noChangeAspect="1"/>
                </p:cNvSpPr>
                <p:nvPr/>
              </p:nvSpPr>
              <p:spPr bwMode="auto">
                <a:xfrm>
                  <a:off x="5492" y="2307"/>
                  <a:ext cx="54" cy="54"/>
                </a:xfrm>
                <a:custGeom>
                  <a:avLst/>
                  <a:gdLst>
                    <a:gd name="T0" fmla="*/ 0 w 160"/>
                    <a:gd name="T1" fmla="*/ 0 h 161"/>
                    <a:gd name="T2" fmla="*/ 0 w 160"/>
                    <a:gd name="T3" fmla="*/ 0 h 161"/>
                    <a:gd name="T4" fmla="*/ 0 w 160"/>
                    <a:gd name="T5" fmla="*/ 0 h 161"/>
                    <a:gd name="T6" fmla="*/ 0 w 160"/>
                    <a:gd name="T7" fmla="*/ 0 h 161"/>
                    <a:gd name="T8" fmla="*/ 0 w 160"/>
                    <a:gd name="T9" fmla="*/ 0 h 161"/>
                    <a:gd name="T10" fmla="*/ 0 w 160"/>
                    <a:gd name="T11" fmla="*/ 0 h 161"/>
                    <a:gd name="T12" fmla="*/ 0 w 160"/>
                    <a:gd name="T13" fmla="*/ 0 h 161"/>
                    <a:gd name="T14" fmla="*/ 0 w 160"/>
                    <a:gd name="T15" fmla="*/ 0 h 161"/>
                    <a:gd name="T16" fmla="*/ 0 w 160"/>
                    <a:gd name="T17" fmla="*/ 0 h 161"/>
                    <a:gd name="T18" fmla="*/ 0 w 160"/>
                    <a:gd name="T19" fmla="*/ 0 h 161"/>
                    <a:gd name="T20" fmla="*/ 0 w 160"/>
                    <a:gd name="T21" fmla="*/ 0 h 161"/>
                    <a:gd name="T22" fmla="*/ 0 w 160"/>
                    <a:gd name="T23" fmla="*/ 0 h 161"/>
                    <a:gd name="T24" fmla="*/ 0 w 160"/>
                    <a:gd name="T25" fmla="*/ 0 h 161"/>
                    <a:gd name="T26" fmla="*/ 0 w 160"/>
                    <a:gd name="T27" fmla="*/ 0 h 161"/>
                    <a:gd name="T28" fmla="*/ 0 w 160"/>
                    <a:gd name="T29" fmla="*/ 0 h 161"/>
                    <a:gd name="T30" fmla="*/ 0 w 160"/>
                    <a:gd name="T31" fmla="*/ 0 h 161"/>
                    <a:gd name="T32" fmla="*/ 0 w 160"/>
                    <a:gd name="T33" fmla="*/ 0 h 161"/>
                    <a:gd name="T34" fmla="*/ 0 w 160"/>
                    <a:gd name="T35" fmla="*/ 0 h 161"/>
                    <a:gd name="T36" fmla="*/ 0 w 160"/>
                    <a:gd name="T37" fmla="*/ 0 h 1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0" h="161">
                      <a:moveTo>
                        <a:pt x="160" y="11"/>
                      </a:moveTo>
                      <a:lnTo>
                        <a:pt x="10" y="161"/>
                      </a:lnTo>
                      <a:lnTo>
                        <a:pt x="9" y="160"/>
                      </a:lnTo>
                      <a:lnTo>
                        <a:pt x="8" y="159"/>
                      </a:lnTo>
                      <a:lnTo>
                        <a:pt x="6" y="157"/>
                      </a:lnTo>
                      <a:lnTo>
                        <a:pt x="4" y="156"/>
                      </a:lnTo>
                      <a:lnTo>
                        <a:pt x="3" y="156"/>
                      </a:lnTo>
                      <a:lnTo>
                        <a:pt x="2" y="155"/>
                      </a:lnTo>
                      <a:lnTo>
                        <a:pt x="1" y="154"/>
                      </a:lnTo>
                      <a:lnTo>
                        <a:pt x="0" y="153"/>
                      </a:lnTo>
                      <a:lnTo>
                        <a:pt x="153" y="0"/>
                      </a:lnTo>
                      <a:lnTo>
                        <a:pt x="155" y="1"/>
                      </a:lnTo>
                      <a:lnTo>
                        <a:pt x="156" y="2"/>
                      </a:lnTo>
                      <a:lnTo>
                        <a:pt x="156" y="3"/>
                      </a:lnTo>
                      <a:lnTo>
                        <a:pt x="157" y="5"/>
                      </a:lnTo>
                      <a:lnTo>
                        <a:pt x="158" y="7"/>
                      </a:lnTo>
                      <a:lnTo>
                        <a:pt x="159" y="8"/>
                      </a:lnTo>
                      <a:lnTo>
                        <a:pt x="160" y="9"/>
                      </a:lnTo>
                      <a:lnTo>
                        <a:pt x="160" y="1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32" name="Freeform 2369"/>
                <p:cNvSpPr>
                  <a:spLocks noChangeAspect="1"/>
                </p:cNvSpPr>
                <p:nvPr/>
              </p:nvSpPr>
              <p:spPr bwMode="auto">
                <a:xfrm>
                  <a:off x="5491" y="2305"/>
                  <a:ext cx="54" cy="54"/>
                </a:xfrm>
                <a:custGeom>
                  <a:avLst/>
                  <a:gdLst>
                    <a:gd name="T0" fmla="*/ 0 w 161"/>
                    <a:gd name="T1" fmla="*/ 0 h 161"/>
                    <a:gd name="T2" fmla="*/ 0 w 161"/>
                    <a:gd name="T3" fmla="*/ 0 h 161"/>
                    <a:gd name="T4" fmla="*/ 0 w 161"/>
                    <a:gd name="T5" fmla="*/ 0 h 161"/>
                    <a:gd name="T6" fmla="*/ 0 w 161"/>
                    <a:gd name="T7" fmla="*/ 0 h 161"/>
                    <a:gd name="T8" fmla="*/ 0 w 161"/>
                    <a:gd name="T9" fmla="*/ 0 h 161"/>
                    <a:gd name="T10" fmla="*/ 0 w 161"/>
                    <a:gd name="T11" fmla="*/ 0 h 161"/>
                    <a:gd name="T12" fmla="*/ 0 w 161"/>
                    <a:gd name="T13" fmla="*/ 0 h 161"/>
                    <a:gd name="T14" fmla="*/ 0 w 161"/>
                    <a:gd name="T15" fmla="*/ 0 h 161"/>
                    <a:gd name="T16" fmla="*/ 0 w 161"/>
                    <a:gd name="T17" fmla="*/ 0 h 161"/>
                    <a:gd name="T18" fmla="*/ 0 w 161"/>
                    <a:gd name="T19" fmla="*/ 0 h 161"/>
                    <a:gd name="T20" fmla="*/ 0 w 161"/>
                    <a:gd name="T21" fmla="*/ 0 h 161"/>
                    <a:gd name="T22" fmla="*/ 0 w 161"/>
                    <a:gd name="T23" fmla="*/ 0 h 161"/>
                    <a:gd name="T24" fmla="*/ 0 w 161"/>
                    <a:gd name="T25" fmla="*/ 0 h 161"/>
                    <a:gd name="T26" fmla="*/ 0 w 161"/>
                    <a:gd name="T27" fmla="*/ 0 h 161"/>
                    <a:gd name="T28" fmla="*/ 0 w 161"/>
                    <a:gd name="T29" fmla="*/ 0 h 161"/>
                    <a:gd name="T30" fmla="*/ 0 w 161"/>
                    <a:gd name="T31" fmla="*/ 0 h 161"/>
                    <a:gd name="T32" fmla="*/ 0 w 161"/>
                    <a:gd name="T33" fmla="*/ 0 h 161"/>
                    <a:gd name="T34" fmla="*/ 0 w 161"/>
                    <a:gd name="T35" fmla="*/ 0 h 161"/>
                    <a:gd name="T36" fmla="*/ 0 w 161"/>
                    <a:gd name="T37" fmla="*/ 0 h 1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1" h="161">
                      <a:moveTo>
                        <a:pt x="161" y="10"/>
                      </a:moveTo>
                      <a:lnTo>
                        <a:pt x="8" y="161"/>
                      </a:lnTo>
                      <a:lnTo>
                        <a:pt x="7" y="161"/>
                      </a:lnTo>
                      <a:lnTo>
                        <a:pt x="6" y="160"/>
                      </a:lnTo>
                      <a:lnTo>
                        <a:pt x="5" y="159"/>
                      </a:lnTo>
                      <a:lnTo>
                        <a:pt x="4" y="158"/>
                      </a:lnTo>
                      <a:lnTo>
                        <a:pt x="3" y="157"/>
                      </a:lnTo>
                      <a:lnTo>
                        <a:pt x="2" y="156"/>
                      </a:lnTo>
                      <a:lnTo>
                        <a:pt x="1" y="155"/>
                      </a:lnTo>
                      <a:lnTo>
                        <a:pt x="0" y="154"/>
                      </a:lnTo>
                      <a:lnTo>
                        <a:pt x="153" y="0"/>
                      </a:lnTo>
                      <a:lnTo>
                        <a:pt x="154" y="1"/>
                      </a:lnTo>
                      <a:lnTo>
                        <a:pt x="155" y="2"/>
                      </a:lnTo>
                      <a:lnTo>
                        <a:pt x="156" y="4"/>
                      </a:lnTo>
                      <a:lnTo>
                        <a:pt x="157" y="5"/>
                      </a:lnTo>
                      <a:lnTo>
                        <a:pt x="159" y="6"/>
                      </a:lnTo>
                      <a:lnTo>
                        <a:pt x="160" y="7"/>
                      </a:lnTo>
                      <a:lnTo>
                        <a:pt x="160" y="8"/>
                      </a:lnTo>
                      <a:lnTo>
                        <a:pt x="161" y="1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33" name="Freeform 2370"/>
                <p:cNvSpPr>
                  <a:spLocks noChangeAspect="1"/>
                </p:cNvSpPr>
                <p:nvPr/>
              </p:nvSpPr>
              <p:spPr bwMode="auto">
                <a:xfrm>
                  <a:off x="5490" y="2304"/>
                  <a:ext cx="53" cy="54"/>
                </a:xfrm>
                <a:custGeom>
                  <a:avLst/>
                  <a:gdLst>
                    <a:gd name="T0" fmla="*/ 0 w 161"/>
                    <a:gd name="T1" fmla="*/ 0 h 162"/>
                    <a:gd name="T2" fmla="*/ 0 w 161"/>
                    <a:gd name="T3" fmla="*/ 0 h 162"/>
                    <a:gd name="T4" fmla="*/ 0 w 161"/>
                    <a:gd name="T5" fmla="*/ 0 h 162"/>
                    <a:gd name="T6" fmla="*/ 0 w 161"/>
                    <a:gd name="T7" fmla="*/ 0 h 162"/>
                    <a:gd name="T8" fmla="*/ 0 w 161"/>
                    <a:gd name="T9" fmla="*/ 0 h 162"/>
                    <a:gd name="T10" fmla="*/ 0 w 161"/>
                    <a:gd name="T11" fmla="*/ 0 h 162"/>
                    <a:gd name="T12" fmla="*/ 0 w 161"/>
                    <a:gd name="T13" fmla="*/ 0 h 162"/>
                    <a:gd name="T14" fmla="*/ 0 w 161"/>
                    <a:gd name="T15" fmla="*/ 0 h 162"/>
                    <a:gd name="T16" fmla="*/ 0 w 161"/>
                    <a:gd name="T17" fmla="*/ 0 h 162"/>
                    <a:gd name="T18" fmla="*/ 0 w 161"/>
                    <a:gd name="T19" fmla="*/ 0 h 162"/>
                    <a:gd name="T20" fmla="*/ 0 w 161"/>
                    <a:gd name="T21" fmla="*/ 0 h 162"/>
                    <a:gd name="T22" fmla="*/ 0 w 161"/>
                    <a:gd name="T23" fmla="*/ 0 h 162"/>
                    <a:gd name="T24" fmla="*/ 0 w 161"/>
                    <a:gd name="T25" fmla="*/ 0 h 162"/>
                    <a:gd name="T26" fmla="*/ 0 w 161"/>
                    <a:gd name="T27" fmla="*/ 0 h 162"/>
                    <a:gd name="T28" fmla="*/ 0 w 161"/>
                    <a:gd name="T29" fmla="*/ 0 h 162"/>
                    <a:gd name="T30" fmla="*/ 0 w 161"/>
                    <a:gd name="T31" fmla="*/ 0 h 162"/>
                    <a:gd name="T32" fmla="*/ 0 w 161"/>
                    <a:gd name="T33" fmla="*/ 0 h 162"/>
                    <a:gd name="T34" fmla="*/ 0 w 161"/>
                    <a:gd name="T35" fmla="*/ 0 h 162"/>
                    <a:gd name="T36" fmla="*/ 0 w 161"/>
                    <a:gd name="T37" fmla="*/ 0 h 1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1" h="162">
                      <a:moveTo>
                        <a:pt x="161" y="9"/>
                      </a:moveTo>
                      <a:lnTo>
                        <a:pt x="8" y="162"/>
                      </a:lnTo>
                      <a:lnTo>
                        <a:pt x="7" y="161"/>
                      </a:lnTo>
                      <a:lnTo>
                        <a:pt x="6" y="160"/>
                      </a:lnTo>
                      <a:lnTo>
                        <a:pt x="5" y="159"/>
                      </a:lnTo>
                      <a:lnTo>
                        <a:pt x="4" y="158"/>
                      </a:lnTo>
                      <a:lnTo>
                        <a:pt x="3" y="157"/>
                      </a:lnTo>
                      <a:lnTo>
                        <a:pt x="2" y="156"/>
                      </a:lnTo>
                      <a:lnTo>
                        <a:pt x="1" y="155"/>
                      </a:lnTo>
                      <a:lnTo>
                        <a:pt x="0" y="154"/>
                      </a:lnTo>
                      <a:lnTo>
                        <a:pt x="154" y="0"/>
                      </a:lnTo>
                      <a:lnTo>
                        <a:pt x="155" y="1"/>
                      </a:lnTo>
                      <a:lnTo>
                        <a:pt x="156" y="2"/>
                      </a:lnTo>
                      <a:lnTo>
                        <a:pt x="156" y="3"/>
                      </a:lnTo>
                      <a:lnTo>
                        <a:pt x="157" y="4"/>
                      </a:lnTo>
                      <a:lnTo>
                        <a:pt x="158" y="5"/>
                      </a:lnTo>
                      <a:lnTo>
                        <a:pt x="159" y="6"/>
                      </a:lnTo>
                      <a:lnTo>
                        <a:pt x="160" y="7"/>
                      </a:lnTo>
                      <a:lnTo>
                        <a:pt x="161" y="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34" name="Freeform 2371"/>
                <p:cNvSpPr>
                  <a:spLocks noChangeAspect="1"/>
                </p:cNvSpPr>
                <p:nvPr/>
              </p:nvSpPr>
              <p:spPr bwMode="auto">
                <a:xfrm>
                  <a:off x="5488" y="2302"/>
                  <a:ext cx="54" cy="55"/>
                </a:xfrm>
                <a:custGeom>
                  <a:avLst/>
                  <a:gdLst>
                    <a:gd name="T0" fmla="*/ 0 w 162"/>
                    <a:gd name="T1" fmla="*/ 0 h 164"/>
                    <a:gd name="T2" fmla="*/ 0 w 162"/>
                    <a:gd name="T3" fmla="*/ 0 h 164"/>
                    <a:gd name="T4" fmla="*/ 0 w 162"/>
                    <a:gd name="T5" fmla="*/ 0 h 164"/>
                    <a:gd name="T6" fmla="*/ 0 w 162"/>
                    <a:gd name="T7" fmla="*/ 0 h 164"/>
                    <a:gd name="T8" fmla="*/ 0 w 162"/>
                    <a:gd name="T9" fmla="*/ 0 h 164"/>
                    <a:gd name="T10" fmla="*/ 0 w 162"/>
                    <a:gd name="T11" fmla="*/ 0 h 164"/>
                    <a:gd name="T12" fmla="*/ 0 w 162"/>
                    <a:gd name="T13" fmla="*/ 0 h 164"/>
                    <a:gd name="T14" fmla="*/ 0 w 162"/>
                    <a:gd name="T15" fmla="*/ 0 h 164"/>
                    <a:gd name="T16" fmla="*/ 0 w 162"/>
                    <a:gd name="T17" fmla="*/ 0 h 164"/>
                    <a:gd name="T18" fmla="*/ 0 w 162"/>
                    <a:gd name="T19" fmla="*/ 0 h 164"/>
                    <a:gd name="T20" fmla="*/ 0 w 162"/>
                    <a:gd name="T21" fmla="*/ 0 h 164"/>
                    <a:gd name="T22" fmla="*/ 0 w 162"/>
                    <a:gd name="T23" fmla="*/ 0 h 164"/>
                    <a:gd name="T24" fmla="*/ 0 w 162"/>
                    <a:gd name="T25" fmla="*/ 0 h 164"/>
                    <a:gd name="T26" fmla="*/ 0 w 162"/>
                    <a:gd name="T27" fmla="*/ 0 h 164"/>
                    <a:gd name="T28" fmla="*/ 0 w 162"/>
                    <a:gd name="T29" fmla="*/ 0 h 164"/>
                    <a:gd name="T30" fmla="*/ 0 w 162"/>
                    <a:gd name="T31" fmla="*/ 0 h 164"/>
                    <a:gd name="T32" fmla="*/ 0 w 162"/>
                    <a:gd name="T33" fmla="*/ 0 h 164"/>
                    <a:gd name="T34" fmla="*/ 0 w 162"/>
                    <a:gd name="T35" fmla="*/ 0 h 164"/>
                    <a:gd name="T36" fmla="*/ 0 w 162"/>
                    <a:gd name="T37" fmla="*/ 0 h 16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164">
                      <a:moveTo>
                        <a:pt x="162" y="10"/>
                      </a:moveTo>
                      <a:lnTo>
                        <a:pt x="9" y="164"/>
                      </a:lnTo>
                      <a:lnTo>
                        <a:pt x="8" y="163"/>
                      </a:lnTo>
                      <a:lnTo>
                        <a:pt x="7" y="162"/>
                      </a:lnTo>
                      <a:lnTo>
                        <a:pt x="6" y="161"/>
                      </a:lnTo>
                      <a:lnTo>
                        <a:pt x="5" y="160"/>
                      </a:lnTo>
                      <a:lnTo>
                        <a:pt x="4" y="158"/>
                      </a:lnTo>
                      <a:lnTo>
                        <a:pt x="3" y="157"/>
                      </a:lnTo>
                      <a:lnTo>
                        <a:pt x="2" y="155"/>
                      </a:lnTo>
                      <a:lnTo>
                        <a:pt x="0" y="154"/>
                      </a:lnTo>
                      <a:lnTo>
                        <a:pt x="155" y="0"/>
                      </a:lnTo>
                      <a:lnTo>
                        <a:pt x="156" y="1"/>
                      </a:lnTo>
                      <a:lnTo>
                        <a:pt x="157" y="2"/>
                      </a:lnTo>
                      <a:lnTo>
                        <a:pt x="158" y="3"/>
                      </a:lnTo>
                      <a:lnTo>
                        <a:pt x="159" y="6"/>
                      </a:lnTo>
                      <a:lnTo>
                        <a:pt x="160" y="7"/>
                      </a:lnTo>
                      <a:lnTo>
                        <a:pt x="161" y="8"/>
                      </a:lnTo>
                      <a:lnTo>
                        <a:pt x="161" y="9"/>
                      </a:lnTo>
                      <a:lnTo>
                        <a:pt x="162" y="1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35" name="Freeform 2372"/>
                <p:cNvSpPr>
                  <a:spLocks noChangeAspect="1"/>
                </p:cNvSpPr>
                <p:nvPr/>
              </p:nvSpPr>
              <p:spPr bwMode="auto">
                <a:xfrm>
                  <a:off x="5487" y="2301"/>
                  <a:ext cx="54" cy="54"/>
                </a:xfrm>
                <a:custGeom>
                  <a:avLst/>
                  <a:gdLst>
                    <a:gd name="T0" fmla="*/ 0 w 163"/>
                    <a:gd name="T1" fmla="*/ 0 h 164"/>
                    <a:gd name="T2" fmla="*/ 0 w 163"/>
                    <a:gd name="T3" fmla="*/ 0 h 164"/>
                    <a:gd name="T4" fmla="*/ 0 w 163"/>
                    <a:gd name="T5" fmla="*/ 0 h 164"/>
                    <a:gd name="T6" fmla="*/ 0 w 163"/>
                    <a:gd name="T7" fmla="*/ 0 h 164"/>
                    <a:gd name="T8" fmla="*/ 0 w 163"/>
                    <a:gd name="T9" fmla="*/ 0 h 164"/>
                    <a:gd name="T10" fmla="*/ 0 w 163"/>
                    <a:gd name="T11" fmla="*/ 0 h 164"/>
                    <a:gd name="T12" fmla="*/ 0 w 163"/>
                    <a:gd name="T13" fmla="*/ 0 h 164"/>
                    <a:gd name="T14" fmla="*/ 0 w 163"/>
                    <a:gd name="T15" fmla="*/ 0 h 164"/>
                    <a:gd name="T16" fmla="*/ 0 w 163"/>
                    <a:gd name="T17" fmla="*/ 0 h 164"/>
                    <a:gd name="T18" fmla="*/ 0 w 163"/>
                    <a:gd name="T19" fmla="*/ 0 h 164"/>
                    <a:gd name="T20" fmla="*/ 0 w 163"/>
                    <a:gd name="T21" fmla="*/ 0 h 164"/>
                    <a:gd name="T22" fmla="*/ 0 w 163"/>
                    <a:gd name="T23" fmla="*/ 0 h 164"/>
                    <a:gd name="T24" fmla="*/ 0 w 163"/>
                    <a:gd name="T25" fmla="*/ 0 h 164"/>
                    <a:gd name="T26" fmla="*/ 0 w 163"/>
                    <a:gd name="T27" fmla="*/ 0 h 164"/>
                    <a:gd name="T28" fmla="*/ 0 w 163"/>
                    <a:gd name="T29" fmla="*/ 0 h 164"/>
                    <a:gd name="T30" fmla="*/ 0 w 163"/>
                    <a:gd name="T31" fmla="*/ 0 h 164"/>
                    <a:gd name="T32" fmla="*/ 0 w 163"/>
                    <a:gd name="T33" fmla="*/ 0 h 164"/>
                    <a:gd name="T34" fmla="*/ 0 w 163"/>
                    <a:gd name="T35" fmla="*/ 0 h 164"/>
                    <a:gd name="T36" fmla="*/ 0 w 163"/>
                    <a:gd name="T37" fmla="*/ 0 h 16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3" h="164">
                      <a:moveTo>
                        <a:pt x="163" y="10"/>
                      </a:moveTo>
                      <a:lnTo>
                        <a:pt x="9" y="164"/>
                      </a:lnTo>
                      <a:lnTo>
                        <a:pt x="8" y="162"/>
                      </a:lnTo>
                      <a:lnTo>
                        <a:pt x="7" y="161"/>
                      </a:lnTo>
                      <a:lnTo>
                        <a:pt x="6" y="159"/>
                      </a:lnTo>
                      <a:lnTo>
                        <a:pt x="4" y="158"/>
                      </a:lnTo>
                      <a:lnTo>
                        <a:pt x="3" y="157"/>
                      </a:lnTo>
                      <a:lnTo>
                        <a:pt x="2" y="156"/>
                      </a:lnTo>
                      <a:lnTo>
                        <a:pt x="1" y="155"/>
                      </a:lnTo>
                      <a:lnTo>
                        <a:pt x="0" y="153"/>
                      </a:lnTo>
                      <a:lnTo>
                        <a:pt x="153" y="0"/>
                      </a:lnTo>
                      <a:lnTo>
                        <a:pt x="155" y="1"/>
                      </a:lnTo>
                      <a:lnTo>
                        <a:pt x="157" y="2"/>
                      </a:lnTo>
                      <a:lnTo>
                        <a:pt x="158" y="3"/>
                      </a:lnTo>
                      <a:lnTo>
                        <a:pt x="159" y="4"/>
                      </a:lnTo>
                      <a:lnTo>
                        <a:pt x="160" y="5"/>
                      </a:lnTo>
                      <a:lnTo>
                        <a:pt x="161" y="6"/>
                      </a:lnTo>
                      <a:lnTo>
                        <a:pt x="162" y="7"/>
                      </a:lnTo>
                      <a:lnTo>
                        <a:pt x="163" y="1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36" name="Freeform 2373"/>
                <p:cNvSpPr>
                  <a:spLocks noChangeAspect="1"/>
                </p:cNvSpPr>
                <p:nvPr/>
              </p:nvSpPr>
              <p:spPr bwMode="auto">
                <a:xfrm>
                  <a:off x="5486" y="2300"/>
                  <a:ext cx="54" cy="53"/>
                </a:xfrm>
                <a:custGeom>
                  <a:avLst/>
                  <a:gdLst>
                    <a:gd name="T0" fmla="*/ 0 w 162"/>
                    <a:gd name="T1" fmla="*/ 0 h 161"/>
                    <a:gd name="T2" fmla="*/ 0 w 162"/>
                    <a:gd name="T3" fmla="*/ 0 h 161"/>
                    <a:gd name="T4" fmla="*/ 0 w 162"/>
                    <a:gd name="T5" fmla="*/ 0 h 161"/>
                    <a:gd name="T6" fmla="*/ 0 w 162"/>
                    <a:gd name="T7" fmla="*/ 0 h 161"/>
                    <a:gd name="T8" fmla="*/ 0 w 162"/>
                    <a:gd name="T9" fmla="*/ 0 h 161"/>
                    <a:gd name="T10" fmla="*/ 0 w 162"/>
                    <a:gd name="T11" fmla="*/ 0 h 161"/>
                    <a:gd name="T12" fmla="*/ 0 w 162"/>
                    <a:gd name="T13" fmla="*/ 0 h 161"/>
                    <a:gd name="T14" fmla="*/ 0 w 162"/>
                    <a:gd name="T15" fmla="*/ 0 h 161"/>
                    <a:gd name="T16" fmla="*/ 0 w 162"/>
                    <a:gd name="T17" fmla="*/ 0 h 161"/>
                    <a:gd name="T18" fmla="*/ 0 w 162"/>
                    <a:gd name="T19" fmla="*/ 0 h 161"/>
                    <a:gd name="T20" fmla="*/ 0 w 162"/>
                    <a:gd name="T21" fmla="*/ 0 h 161"/>
                    <a:gd name="T22" fmla="*/ 0 w 162"/>
                    <a:gd name="T23" fmla="*/ 0 h 161"/>
                    <a:gd name="T24" fmla="*/ 0 w 162"/>
                    <a:gd name="T25" fmla="*/ 0 h 161"/>
                    <a:gd name="T26" fmla="*/ 0 w 162"/>
                    <a:gd name="T27" fmla="*/ 0 h 161"/>
                    <a:gd name="T28" fmla="*/ 0 w 162"/>
                    <a:gd name="T29" fmla="*/ 0 h 161"/>
                    <a:gd name="T30" fmla="*/ 0 w 162"/>
                    <a:gd name="T31" fmla="*/ 0 h 161"/>
                    <a:gd name="T32" fmla="*/ 0 w 162"/>
                    <a:gd name="T33" fmla="*/ 0 h 161"/>
                    <a:gd name="T34" fmla="*/ 0 w 162"/>
                    <a:gd name="T35" fmla="*/ 0 h 161"/>
                    <a:gd name="T36" fmla="*/ 0 w 162"/>
                    <a:gd name="T37" fmla="*/ 0 h 1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161">
                      <a:moveTo>
                        <a:pt x="162" y="7"/>
                      </a:moveTo>
                      <a:lnTo>
                        <a:pt x="7" y="161"/>
                      </a:lnTo>
                      <a:lnTo>
                        <a:pt x="6" y="160"/>
                      </a:lnTo>
                      <a:lnTo>
                        <a:pt x="5" y="159"/>
                      </a:lnTo>
                      <a:lnTo>
                        <a:pt x="4" y="158"/>
                      </a:lnTo>
                      <a:lnTo>
                        <a:pt x="3" y="156"/>
                      </a:lnTo>
                      <a:lnTo>
                        <a:pt x="2" y="155"/>
                      </a:lnTo>
                      <a:lnTo>
                        <a:pt x="2" y="154"/>
                      </a:lnTo>
                      <a:lnTo>
                        <a:pt x="1" y="153"/>
                      </a:lnTo>
                      <a:lnTo>
                        <a:pt x="0" y="152"/>
                      </a:lnTo>
                      <a:lnTo>
                        <a:pt x="152" y="0"/>
                      </a:lnTo>
                      <a:lnTo>
                        <a:pt x="153" y="1"/>
                      </a:lnTo>
                      <a:lnTo>
                        <a:pt x="154" y="1"/>
                      </a:lnTo>
                      <a:lnTo>
                        <a:pt x="155" y="2"/>
                      </a:lnTo>
                      <a:lnTo>
                        <a:pt x="156" y="3"/>
                      </a:lnTo>
                      <a:lnTo>
                        <a:pt x="158" y="4"/>
                      </a:lnTo>
                      <a:lnTo>
                        <a:pt x="160" y="5"/>
                      </a:lnTo>
                      <a:lnTo>
                        <a:pt x="161" y="6"/>
                      </a:lnTo>
                      <a:lnTo>
                        <a:pt x="162" y="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37" name="Freeform 2374"/>
                <p:cNvSpPr>
                  <a:spLocks noChangeAspect="1"/>
                </p:cNvSpPr>
                <p:nvPr/>
              </p:nvSpPr>
              <p:spPr bwMode="auto">
                <a:xfrm>
                  <a:off x="5485" y="2298"/>
                  <a:ext cx="53" cy="54"/>
                </a:xfrm>
                <a:custGeom>
                  <a:avLst/>
                  <a:gdLst>
                    <a:gd name="T0" fmla="*/ 0 w 159"/>
                    <a:gd name="T1" fmla="*/ 0 h 160"/>
                    <a:gd name="T2" fmla="*/ 0 w 159"/>
                    <a:gd name="T3" fmla="*/ 0 h 160"/>
                    <a:gd name="T4" fmla="*/ 0 w 159"/>
                    <a:gd name="T5" fmla="*/ 0 h 160"/>
                    <a:gd name="T6" fmla="*/ 0 w 159"/>
                    <a:gd name="T7" fmla="*/ 0 h 160"/>
                    <a:gd name="T8" fmla="*/ 0 w 159"/>
                    <a:gd name="T9" fmla="*/ 0 h 160"/>
                    <a:gd name="T10" fmla="*/ 0 w 159"/>
                    <a:gd name="T11" fmla="*/ 0 h 160"/>
                    <a:gd name="T12" fmla="*/ 0 w 159"/>
                    <a:gd name="T13" fmla="*/ 0 h 160"/>
                    <a:gd name="T14" fmla="*/ 0 w 159"/>
                    <a:gd name="T15" fmla="*/ 0 h 160"/>
                    <a:gd name="T16" fmla="*/ 0 w 159"/>
                    <a:gd name="T17" fmla="*/ 0 h 160"/>
                    <a:gd name="T18" fmla="*/ 0 w 159"/>
                    <a:gd name="T19" fmla="*/ 0 h 160"/>
                    <a:gd name="T20" fmla="*/ 0 w 159"/>
                    <a:gd name="T21" fmla="*/ 0 h 160"/>
                    <a:gd name="T22" fmla="*/ 0 w 159"/>
                    <a:gd name="T23" fmla="*/ 0 h 160"/>
                    <a:gd name="T24" fmla="*/ 0 w 159"/>
                    <a:gd name="T25" fmla="*/ 0 h 160"/>
                    <a:gd name="T26" fmla="*/ 0 w 159"/>
                    <a:gd name="T27" fmla="*/ 0 h 160"/>
                    <a:gd name="T28" fmla="*/ 0 w 159"/>
                    <a:gd name="T29" fmla="*/ 0 h 160"/>
                    <a:gd name="T30" fmla="*/ 0 w 159"/>
                    <a:gd name="T31" fmla="*/ 0 h 160"/>
                    <a:gd name="T32" fmla="*/ 0 w 159"/>
                    <a:gd name="T33" fmla="*/ 0 h 160"/>
                    <a:gd name="T34" fmla="*/ 0 w 159"/>
                    <a:gd name="T35" fmla="*/ 0 h 160"/>
                    <a:gd name="T36" fmla="*/ 0 w 159"/>
                    <a:gd name="T37" fmla="*/ 0 h 16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9" h="160">
                      <a:moveTo>
                        <a:pt x="159" y="7"/>
                      </a:moveTo>
                      <a:lnTo>
                        <a:pt x="6" y="160"/>
                      </a:lnTo>
                      <a:lnTo>
                        <a:pt x="5" y="159"/>
                      </a:lnTo>
                      <a:lnTo>
                        <a:pt x="5" y="158"/>
                      </a:lnTo>
                      <a:lnTo>
                        <a:pt x="4" y="157"/>
                      </a:lnTo>
                      <a:lnTo>
                        <a:pt x="3" y="155"/>
                      </a:lnTo>
                      <a:lnTo>
                        <a:pt x="2" y="154"/>
                      </a:lnTo>
                      <a:lnTo>
                        <a:pt x="1" y="153"/>
                      </a:lnTo>
                      <a:lnTo>
                        <a:pt x="1" y="152"/>
                      </a:lnTo>
                      <a:lnTo>
                        <a:pt x="0" y="149"/>
                      </a:lnTo>
                      <a:lnTo>
                        <a:pt x="150" y="0"/>
                      </a:lnTo>
                      <a:lnTo>
                        <a:pt x="151" y="1"/>
                      </a:lnTo>
                      <a:lnTo>
                        <a:pt x="153" y="2"/>
                      </a:lnTo>
                      <a:lnTo>
                        <a:pt x="154" y="3"/>
                      </a:lnTo>
                      <a:lnTo>
                        <a:pt x="155" y="4"/>
                      </a:lnTo>
                      <a:lnTo>
                        <a:pt x="156" y="5"/>
                      </a:lnTo>
                      <a:lnTo>
                        <a:pt x="157" y="5"/>
                      </a:lnTo>
                      <a:lnTo>
                        <a:pt x="158" y="6"/>
                      </a:lnTo>
                      <a:lnTo>
                        <a:pt x="159" y="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38" name="Freeform 2375"/>
                <p:cNvSpPr>
                  <a:spLocks noChangeAspect="1"/>
                </p:cNvSpPr>
                <p:nvPr/>
              </p:nvSpPr>
              <p:spPr bwMode="auto">
                <a:xfrm>
                  <a:off x="5484" y="2297"/>
                  <a:ext cx="52" cy="53"/>
                </a:xfrm>
                <a:custGeom>
                  <a:avLst/>
                  <a:gdLst>
                    <a:gd name="T0" fmla="*/ 0 w 158"/>
                    <a:gd name="T1" fmla="*/ 0 h 160"/>
                    <a:gd name="T2" fmla="*/ 0 w 158"/>
                    <a:gd name="T3" fmla="*/ 0 h 160"/>
                    <a:gd name="T4" fmla="*/ 0 w 158"/>
                    <a:gd name="T5" fmla="*/ 0 h 160"/>
                    <a:gd name="T6" fmla="*/ 0 w 158"/>
                    <a:gd name="T7" fmla="*/ 0 h 160"/>
                    <a:gd name="T8" fmla="*/ 0 w 158"/>
                    <a:gd name="T9" fmla="*/ 0 h 160"/>
                    <a:gd name="T10" fmla="*/ 0 w 158"/>
                    <a:gd name="T11" fmla="*/ 0 h 160"/>
                    <a:gd name="T12" fmla="*/ 0 w 158"/>
                    <a:gd name="T13" fmla="*/ 0 h 160"/>
                    <a:gd name="T14" fmla="*/ 0 w 158"/>
                    <a:gd name="T15" fmla="*/ 0 h 160"/>
                    <a:gd name="T16" fmla="*/ 0 w 158"/>
                    <a:gd name="T17" fmla="*/ 0 h 160"/>
                    <a:gd name="T18" fmla="*/ 0 w 158"/>
                    <a:gd name="T19" fmla="*/ 0 h 160"/>
                    <a:gd name="T20" fmla="*/ 0 w 158"/>
                    <a:gd name="T21" fmla="*/ 0 h 160"/>
                    <a:gd name="T22" fmla="*/ 0 w 158"/>
                    <a:gd name="T23" fmla="*/ 0 h 160"/>
                    <a:gd name="T24" fmla="*/ 0 w 158"/>
                    <a:gd name="T25" fmla="*/ 0 h 160"/>
                    <a:gd name="T26" fmla="*/ 0 w 158"/>
                    <a:gd name="T27" fmla="*/ 0 h 160"/>
                    <a:gd name="T28" fmla="*/ 0 w 158"/>
                    <a:gd name="T29" fmla="*/ 0 h 160"/>
                    <a:gd name="T30" fmla="*/ 0 w 158"/>
                    <a:gd name="T31" fmla="*/ 0 h 160"/>
                    <a:gd name="T32" fmla="*/ 0 w 158"/>
                    <a:gd name="T33" fmla="*/ 0 h 160"/>
                    <a:gd name="T34" fmla="*/ 0 w 158"/>
                    <a:gd name="T35" fmla="*/ 0 h 160"/>
                    <a:gd name="T36" fmla="*/ 0 w 158"/>
                    <a:gd name="T37" fmla="*/ 0 h 16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8" h="160">
                      <a:moveTo>
                        <a:pt x="158" y="8"/>
                      </a:moveTo>
                      <a:lnTo>
                        <a:pt x="6" y="160"/>
                      </a:lnTo>
                      <a:lnTo>
                        <a:pt x="5" y="158"/>
                      </a:lnTo>
                      <a:lnTo>
                        <a:pt x="4" y="157"/>
                      </a:lnTo>
                      <a:lnTo>
                        <a:pt x="4" y="156"/>
                      </a:lnTo>
                      <a:lnTo>
                        <a:pt x="3" y="153"/>
                      </a:lnTo>
                      <a:lnTo>
                        <a:pt x="2" y="152"/>
                      </a:lnTo>
                      <a:lnTo>
                        <a:pt x="1" y="151"/>
                      </a:lnTo>
                      <a:lnTo>
                        <a:pt x="1" y="149"/>
                      </a:lnTo>
                      <a:lnTo>
                        <a:pt x="0" y="148"/>
                      </a:lnTo>
                      <a:lnTo>
                        <a:pt x="148" y="0"/>
                      </a:lnTo>
                      <a:lnTo>
                        <a:pt x="149" y="1"/>
                      </a:lnTo>
                      <a:lnTo>
                        <a:pt x="151" y="1"/>
                      </a:lnTo>
                      <a:lnTo>
                        <a:pt x="152" y="2"/>
                      </a:lnTo>
                      <a:lnTo>
                        <a:pt x="153" y="4"/>
                      </a:lnTo>
                      <a:lnTo>
                        <a:pt x="154" y="5"/>
                      </a:lnTo>
                      <a:lnTo>
                        <a:pt x="156" y="6"/>
                      </a:lnTo>
                      <a:lnTo>
                        <a:pt x="157" y="7"/>
                      </a:lnTo>
                      <a:lnTo>
                        <a:pt x="158" y="8"/>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39" name="Freeform 2376"/>
                <p:cNvSpPr>
                  <a:spLocks noChangeAspect="1"/>
                </p:cNvSpPr>
                <p:nvPr/>
              </p:nvSpPr>
              <p:spPr bwMode="auto">
                <a:xfrm>
                  <a:off x="5483" y="2296"/>
                  <a:ext cx="52" cy="52"/>
                </a:xfrm>
                <a:custGeom>
                  <a:avLst/>
                  <a:gdLst>
                    <a:gd name="T0" fmla="*/ 0 w 156"/>
                    <a:gd name="T1" fmla="*/ 0 h 156"/>
                    <a:gd name="T2" fmla="*/ 0 w 156"/>
                    <a:gd name="T3" fmla="*/ 0 h 156"/>
                    <a:gd name="T4" fmla="*/ 0 w 156"/>
                    <a:gd name="T5" fmla="*/ 0 h 156"/>
                    <a:gd name="T6" fmla="*/ 0 w 156"/>
                    <a:gd name="T7" fmla="*/ 0 h 156"/>
                    <a:gd name="T8" fmla="*/ 0 w 156"/>
                    <a:gd name="T9" fmla="*/ 0 h 156"/>
                    <a:gd name="T10" fmla="*/ 0 w 156"/>
                    <a:gd name="T11" fmla="*/ 0 h 156"/>
                    <a:gd name="T12" fmla="*/ 0 w 156"/>
                    <a:gd name="T13" fmla="*/ 0 h 156"/>
                    <a:gd name="T14" fmla="*/ 0 w 156"/>
                    <a:gd name="T15" fmla="*/ 0 h 156"/>
                    <a:gd name="T16" fmla="*/ 0 w 156"/>
                    <a:gd name="T17" fmla="*/ 0 h 156"/>
                    <a:gd name="T18" fmla="*/ 0 w 156"/>
                    <a:gd name="T19" fmla="*/ 0 h 156"/>
                    <a:gd name="T20" fmla="*/ 0 w 156"/>
                    <a:gd name="T21" fmla="*/ 0 h 156"/>
                    <a:gd name="T22" fmla="*/ 0 w 156"/>
                    <a:gd name="T23" fmla="*/ 0 h 156"/>
                    <a:gd name="T24" fmla="*/ 0 w 156"/>
                    <a:gd name="T25" fmla="*/ 0 h 156"/>
                    <a:gd name="T26" fmla="*/ 0 w 156"/>
                    <a:gd name="T27" fmla="*/ 0 h 156"/>
                    <a:gd name="T28" fmla="*/ 0 w 156"/>
                    <a:gd name="T29" fmla="*/ 0 h 156"/>
                    <a:gd name="T30" fmla="*/ 0 w 156"/>
                    <a:gd name="T31" fmla="*/ 0 h 156"/>
                    <a:gd name="T32" fmla="*/ 0 w 156"/>
                    <a:gd name="T33" fmla="*/ 0 h 156"/>
                    <a:gd name="T34" fmla="*/ 0 w 156"/>
                    <a:gd name="T35" fmla="*/ 0 h 156"/>
                    <a:gd name="T36" fmla="*/ 0 w 156"/>
                    <a:gd name="T37" fmla="*/ 0 h 1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6" h="156">
                      <a:moveTo>
                        <a:pt x="156" y="7"/>
                      </a:moveTo>
                      <a:lnTo>
                        <a:pt x="6" y="156"/>
                      </a:lnTo>
                      <a:lnTo>
                        <a:pt x="5" y="155"/>
                      </a:lnTo>
                      <a:lnTo>
                        <a:pt x="4" y="154"/>
                      </a:lnTo>
                      <a:lnTo>
                        <a:pt x="4" y="152"/>
                      </a:lnTo>
                      <a:lnTo>
                        <a:pt x="3" y="151"/>
                      </a:lnTo>
                      <a:lnTo>
                        <a:pt x="2" y="150"/>
                      </a:lnTo>
                      <a:lnTo>
                        <a:pt x="2" y="148"/>
                      </a:lnTo>
                      <a:lnTo>
                        <a:pt x="0" y="147"/>
                      </a:lnTo>
                      <a:lnTo>
                        <a:pt x="0" y="145"/>
                      </a:lnTo>
                      <a:lnTo>
                        <a:pt x="145" y="0"/>
                      </a:lnTo>
                      <a:lnTo>
                        <a:pt x="146" y="1"/>
                      </a:lnTo>
                      <a:lnTo>
                        <a:pt x="148" y="1"/>
                      </a:lnTo>
                      <a:lnTo>
                        <a:pt x="149" y="2"/>
                      </a:lnTo>
                      <a:lnTo>
                        <a:pt x="151" y="3"/>
                      </a:lnTo>
                      <a:lnTo>
                        <a:pt x="152" y="4"/>
                      </a:lnTo>
                      <a:lnTo>
                        <a:pt x="154" y="4"/>
                      </a:lnTo>
                      <a:lnTo>
                        <a:pt x="155" y="5"/>
                      </a:lnTo>
                      <a:lnTo>
                        <a:pt x="156" y="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40" name="Freeform 2377"/>
                <p:cNvSpPr>
                  <a:spLocks noChangeAspect="1"/>
                </p:cNvSpPr>
                <p:nvPr/>
              </p:nvSpPr>
              <p:spPr bwMode="auto">
                <a:xfrm>
                  <a:off x="5482" y="2295"/>
                  <a:ext cx="51" cy="51"/>
                </a:xfrm>
                <a:custGeom>
                  <a:avLst/>
                  <a:gdLst>
                    <a:gd name="T0" fmla="*/ 0 w 154"/>
                    <a:gd name="T1" fmla="*/ 0 h 154"/>
                    <a:gd name="T2" fmla="*/ 0 w 154"/>
                    <a:gd name="T3" fmla="*/ 0 h 154"/>
                    <a:gd name="T4" fmla="*/ 0 w 154"/>
                    <a:gd name="T5" fmla="*/ 0 h 154"/>
                    <a:gd name="T6" fmla="*/ 0 w 154"/>
                    <a:gd name="T7" fmla="*/ 0 h 154"/>
                    <a:gd name="T8" fmla="*/ 0 w 154"/>
                    <a:gd name="T9" fmla="*/ 0 h 154"/>
                    <a:gd name="T10" fmla="*/ 0 w 154"/>
                    <a:gd name="T11" fmla="*/ 0 h 154"/>
                    <a:gd name="T12" fmla="*/ 0 w 154"/>
                    <a:gd name="T13" fmla="*/ 0 h 154"/>
                    <a:gd name="T14" fmla="*/ 0 w 154"/>
                    <a:gd name="T15" fmla="*/ 0 h 154"/>
                    <a:gd name="T16" fmla="*/ 0 w 154"/>
                    <a:gd name="T17" fmla="*/ 0 h 154"/>
                    <a:gd name="T18" fmla="*/ 0 w 154"/>
                    <a:gd name="T19" fmla="*/ 0 h 154"/>
                    <a:gd name="T20" fmla="*/ 0 w 154"/>
                    <a:gd name="T21" fmla="*/ 0 h 154"/>
                    <a:gd name="T22" fmla="*/ 0 w 154"/>
                    <a:gd name="T23" fmla="*/ 0 h 154"/>
                    <a:gd name="T24" fmla="*/ 0 w 154"/>
                    <a:gd name="T25" fmla="*/ 0 h 154"/>
                    <a:gd name="T26" fmla="*/ 0 w 154"/>
                    <a:gd name="T27" fmla="*/ 0 h 154"/>
                    <a:gd name="T28" fmla="*/ 0 w 154"/>
                    <a:gd name="T29" fmla="*/ 0 h 154"/>
                    <a:gd name="T30" fmla="*/ 0 w 154"/>
                    <a:gd name="T31" fmla="*/ 0 h 154"/>
                    <a:gd name="T32" fmla="*/ 0 w 154"/>
                    <a:gd name="T33" fmla="*/ 0 h 154"/>
                    <a:gd name="T34" fmla="*/ 0 w 154"/>
                    <a:gd name="T35" fmla="*/ 0 h 154"/>
                    <a:gd name="T36" fmla="*/ 0 w 154"/>
                    <a:gd name="T37" fmla="*/ 0 h 15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4" h="154">
                      <a:moveTo>
                        <a:pt x="154" y="6"/>
                      </a:moveTo>
                      <a:lnTo>
                        <a:pt x="6" y="154"/>
                      </a:lnTo>
                      <a:lnTo>
                        <a:pt x="5" y="153"/>
                      </a:lnTo>
                      <a:lnTo>
                        <a:pt x="5" y="151"/>
                      </a:lnTo>
                      <a:lnTo>
                        <a:pt x="3" y="150"/>
                      </a:lnTo>
                      <a:lnTo>
                        <a:pt x="3" y="148"/>
                      </a:lnTo>
                      <a:lnTo>
                        <a:pt x="2" y="147"/>
                      </a:lnTo>
                      <a:lnTo>
                        <a:pt x="1" y="145"/>
                      </a:lnTo>
                      <a:lnTo>
                        <a:pt x="1" y="144"/>
                      </a:lnTo>
                      <a:lnTo>
                        <a:pt x="0" y="141"/>
                      </a:lnTo>
                      <a:lnTo>
                        <a:pt x="143" y="0"/>
                      </a:lnTo>
                      <a:lnTo>
                        <a:pt x="144" y="1"/>
                      </a:lnTo>
                      <a:lnTo>
                        <a:pt x="145" y="1"/>
                      </a:lnTo>
                      <a:lnTo>
                        <a:pt x="147" y="2"/>
                      </a:lnTo>
                      <a:lnTo>
                        <a:pt x="148" y="3"/>
                      </a:lnTo>
                      <a:lnTo>
                        <a:pt x="149" y="4"/>
                      </a:lnTo>
                      <a:lnTo>
                        <a:pt x="151" y="4"/>
                      </a:lnTo>
                      <a:lnTo>
                        <a:pt x="152" y="5"/>
                      </a:lnTo>
                      <a:lnTo>
                        <a:pt x="154" y="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41" name="Freeform 2378"/>
                <p:cNvSpPr>
                  <a:spLocks noChangeAspect="1"/>
                </p:cNvSpPr>
                <p:nvPr/>
              </p:nvSpPr>
              <p:spPr bwMode="auto">
                <a:xfrm>
                  <a:off x="5481" y="2294"/>
                  <a:ext cx="50" cy="50"/>
                </a:xfrm>
                <a:custGeom>
                  <a:avLst/>
                  <a:gdLst>
                    <a:gd name="T0" fmla="*/ 0 w 150"/>
                    <a:gd name="T1" fmla="*/ 0 h 150"/>
                    <a:gd name="T2" fmla="*/ 0 w 150"/>
                    <a:gd name="T3" fmla="*/ 0 h 150"/>
                    <a:gd name="T4" fmla="*/ 0 w 150"/>
                    <a:gd name="T5" fmla="*/ 0 h 150"/>
                    <a:gd name="T6" fmla="*/ 0 w 150"/>
                    <a:gd name="T7" fmla="*/ 0 h 150"/>
                    <a:gd name="T8" fmla="*/ 0 w 150"/>
                    <a:gd name="T9" fmla="*/ 0 h 150"/>
                    <a:gd name="T10" fmla="*/ 0 w 150"/>
                    <a:gd name="T11" fmla="*/ 0 h 150"/>
                    <a:gd name="T12" fmla="*/ 0 w 150"/>
                    <a:gd name="T13" fmla="*/ 0 h 150"/>
                    <a:gd name="T14" fmla="*/ 0 w 150"/>
                    <a:gd name="T15" fmla="*/ 0 h 150"/>
                    <a:gd name="T16" fmla="*/ 0 w 150"/>
                    <a:gd name="T17" fmla="*/ 0 h 150"/>
                    <a:gd name="T18" fmla="*/ 0 w 150"/>
                    <a:gd name="T19" fmla="*/ 0 h 150"/>
                    <a:gd name="T20" fmla="*/ 0 w 150"/>
                    <a:gd name="T21" fmla="*/ 0 h 150"/>
                    <a:gd name="T22" fmla="*/ 0 w 150"/>
                    <a:gd name="T23" fmla="*/ 0 h 150"/>
                    <a:gd name="T24" fmla="*/ 0 w 150"/>
                    <a:gd name="T25" fmla="*/ 0 h 150"/>
                    <a:gd name="T26" fmla="*/ 0 w 150"/>
                    <a:gd name="T27" fmla="*/ 0 h 150"/>
                    <a:gd name="T28" fmla="*/ 0 w 150"/>
                    <a:gd name="T29" fmla="*/ 0 h 150"/>
                    <a:gd name="T30" fmla="*/ 0 w 150"/>
                    <a:gd name="T31" fmla="*/ 0 h 150"/>
                    <a:gd name="T32" fmla="*/ 0 w 150"/>
                    <a:gd name="T33" fmla="*/ 0 h 150"/>
                    <a:gd name="T34" fmla="*/ 0 w 150"/>
                    <a:gd name="T35" fmla="*/ 0 h 150"/>
                    <a:gd name="T36" fmla="*/ 0 w 150"/>
                    <a:gd name="T37" fmla="*/ 0 h 1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0" h="150">
                      <a:moveTo>
                        <a:pt x="150" y="5"/>
                      </a:moveTo>
                      <a:lnTo>
                        <a:pt x="5" y="150"/>
                      </a:lnTo>
                      <a:lnTo>
                        <a:pt x="4" y="149"/>
                      </a:lnTo>
                      <a:lnTo>
                        <a:pt x="3" y="147"/>
                      </a:lnTo>
                      <a:lnTo>
                        <a:pt x="3" y="146"/>
                      </a:lnTo>
                      <a:lnTo>
                        <a:pt x="2" y="143"/>
                      </a:lnTo>
                      <a:lnTo>
                        <a:pt x="2" y="142"/>
                      </a:lnTo>
                      <a:lnTo>
                        <a:pt x="1" y="140"/>
                      </a:lnTo>
                      <a:lnTo>
                        <a:pt x="1" y="139"/>
                      </a:lnTo>
                      <a:lnTo>
                        <a:pt x="0" y="137"/>
                      </a:lnTo>
                      <a:lnTo>
                        <a:pt x="139" y="0"/>
                      </a:lnTo>
                      <a:lnTo>
                        <a:pt x="140" y="0"/>
                      </a:lnTo>
                      <a:lnTo>
                        <a:pt x="142" y="1"/>
                      </a:lnTo>
                      <a:lnTo>
                        <a:pt x="143" y="1"/>
                      </a:lnTo>
                      <a:lnTo>
                        <a:pt x="144" y="2"/>
                      </a:lnTo>
                      <a:lnTo>
                        <a:pt x="146" y="3"/>
                      </a:lnTo>
                      <a:lnTo>
                        <a:pt x="147" y="3"/>
                      </a:lnTo>
                      <a:lnTo>
                        <a:pt x="149" y="4"/>
                      </a:lnTo>
                      <a:lnTo>
                        <a:pt x="150" y="5"/>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42" name="Freeform 2379"/>
                <p:cNvSpPr>
                  <a:spLocks noChangeAspect="1"/>
                </p:cNvSpPr>
                <p:nvPr/>
              </p:nvSpPr>
              <p:spPr bwMode="auto">
                <a:xfrm>
                  <a:off x="5481" y="2294"/>
                  <a:ext cx="48" cy="48"/>
                </a:xfrm>
                <a:custGeom>
                  <a:avLst/>
                  <a:gdLst>
                    <a:gd name="T0" fmla="*/ 0 w 146"/>
                    <a:gd name="T1" fmla="*/ 0 h 145"/>
                    <a:gd name="T2" fmla="*/ 0 w 146"/>
                    <a:gd name="T3" fmla="*/ 0 h 145"/>
                    <a:gd name="T4" fmla="*/ 0 w 146"/>
                    <a:gd name="T5" fmla="*/ 0 h 145"/>
                    <a:gd name="T6" fmla="*/ 0 w 146"/>
                    <a:gd name="T7" fmla="*/ 0 h 145"/>
                    <a:gd name="T8" fmla="*/ 0 w 146"/>
                    <a:gd name="T9" fmla="*/ 0 h 145"/>
                    <a:gd name="T10" fmla="*/ 0 w 146"/>
                    <a:gd name="T11" fmla="*/ 0 h 145"/>
                    <a:gd name="T12" fmla="*/ 0 w 146"/>
                    <a:gd name="T13" fmla="*/ 0 h 145"/>
                    <a:gd name="T14" fmla="*/ 0 w 146"/>
                    <a:gd name="T15" fmla="*/ 0 h 145"/>
                    <a:gd name="T16" fmla="*/ 0 w 146"/>
                    <a:gd name="T17" fmla="*/ 0 h 145"/>
                    <a:gd name="T18" fmla="*/ 0 w 146"/>
                    <a:gd name="T19" fmla="*/ 0 h 145"/>
                    <a:gd name="T20" fmla="*/ 0 w 146"/>
                    <a:gd name="T21" fmla="*/ 0 h 145"/>
                    <a:gd name="T22" fmla="*/ 0 w 146"/>
                    <a:gd name="T23" fmla="*/ 0 h 145"/>
                    <a:gd name="T24" fmla="*/ 0 w 146"/>
                    <a:gd name="T25" fmla="*/ 0 h 145"/>
                    <a:gd name="T26" fmla="*/ 0 w 146"/>
                    <a:gd name="T27" fmla="*/ 0 h 145"/>
                    <a:gd name="T28" fmla="*/ 0 w 146"/>
                    <a:gd name="T29" fmla="*/ 0 h 145"/>
                    <a:gd name="T30" fmla="*/ 0 w 146"/>
                    <a:gd name="T31" fmla="*/ 0 h 145"/>
                    <a:gd name="T32" fmla="*/ 0 w 146"/>
                    <a:gd name="T33" fmla="*/ 0 h 145"/>
                    <a:gd name="T34" fmla="*/ 0 w 146"/>
                    <a:gd name="T35" fmla="*/ 0 h 145"/>
                    <a:gd name="T36" fmla="*/ 0 w 146"/>
                    <a:gd name="T37" fmla="*/ 0 h 14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6" h="145">
                      <a:moveTo>
                        <a:pt x="146" y="4"/>
                      </a:moveTo>
                      <a:lnTo>
                        <a:pt x="3" y="145"/>
                      </a:lnTo>
                      <a:lnTo>
                        <a:pt x="3" y="144"/>
                      </a:lnTo>
                      <a:lnTo>
                        <a:pt x="2" y="142"/>
                      </a:lnTo>
                      <a:lnTo>
                        <a:pt x="2" y="141"/>
                      </a:lnTo>
                      <a:lnTo>
                        <a:pt x="1" y="139"/>
                      </a:lnTo>
                      <a:lnTo>
                        <a:pt x="1" y="137"/>
                      </a:lnTo>
                      <a:lnTo>
                        <a:pt x="0" y="136"/>
                      </a:lnTo>
                      <a:lnTo>
                        <a:pt x="0" y="134"/>
                      </a:lnTo>
                      <a:lnTo>
                        <a:pt x="0" y="133"/>
                      </a:lnTo>
                      <a:lnTo>
                        <a:pt x="133" y="0"/>
                      </a:lnTo>
                      <a:lnTo>
                        <a:pt x="134" y="0"/>
                      </a:lnTo>
                      <a:lnTo>
                        <a:pt x="136" y="1"/>
                      </a:lnTo>
                      <a:lnTo>
                        <a:pt x="137" y="1"/>
                      </a:lnTo>
                      <a:lnTo>
                        <a:pt x="140" y="2"/>
                      </a:lnTo>
                      <a:lnTo>
                        <a:pt x="141" y="2"/>
                      </a:lnTo>
                      <a:lnTo>
                        <a:pt x="143" y="3"/>
                      </a:lnTo>
                      <a:lnTo>
                        <a:pt x="144" y="3"/>
                      </a:lnTo>
                      <a:lnTo>
                        <a:pt x="146" y="4"/>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43" name="Freeform 2380"/>
                <p:cNvSpPr>
                  <a:spLocks noChangeAspect="1"/>
                </p:cNvSpPr>
                <p:nvPr/>
              </p:nvSpPr>
              <p:spPr bwMode="auto">
                <a:xfrm>
                  <a:off x="5480" y="2293"/>
                  <a:ext cx="47" cy="47"/>
                </a:xfrm>
                <a:custGeom>
                  <a:avLst/>
                  <a:gdLst>
                    <a:gd name="T0" fmla="*/ 0 w 142"/>
                    <a:gd name="T1" fmla="*/ 0 h 141"/>
                    <a:gd name="T2" fmla="*/ 0 w 142"/>
                    <a:gd name="T3" fmla="*/ 0 h 141"/>
                    <a:gd name="T4" fmla="*/ 0 w 142"/>
                    <a:gd name="T5" fmla="*/ 0 h 141"/>
                    <a:gd name="T6" fmla="*/ 0 w 142"/>
                    <a:gd name="T7" fmla="*/ 0 h 141"/>
                    <a:gd name="T8" fmla="*/ 0 w 142"/>
                    <a:gd name="T9" fmla="*/ 0 h 141"/>
                    <a:gd name="T10" fmla="*/ 0 w 142"/>
                    <a:gd name="T11" fmla="*/ 0 h 141"/>
                    <a:gd name="T12" fmla="*/ 0 w 142"/>
                    <a:gd name="T13" fmla="*/ 0 h 141"/>
                    <a:gd name="T14" fmla="*/ 0 w 142"/>
                    <a:gd name="T15" fmla="*/ 0 h 141"/>
                    <a:gd name="T16" fmla="*/ 0 w 142"/>
                    <a:gd name="T17" fmla="*/ 0 h 141"/>
                    <a:gd name="T18" fmla="*/ 0 w 142"/>
                    <a:gd name="T19" fmla="*/ 0 h 141"/>
                    <a:gd name="T20" fmla="*/ 0 w 142"/>
                    <a:gd name="T21" fmla="*/ 0 h 141"/>
                    <a:gd name="T22" fmla="*/ 0 w 142"/>
                    <a:gd name="T23" fmla="*/ 0 h 141"/>
                    <a:gd name="T24" fmla="*/ 0 w 142"/>
                    <a:gd name="T25" fmla="*/ 0 h 141"/>
                    <a:gd name="T26" fmla="*/ 0 w 142"/>
                    <a:gd name="T27" fmla="*/ 0 h 141"/>
                    <a:gd name="T28" fmla="*/ 0 w 142"/>
                    <a:gd name="T29" fmla="*/ 0 h 141"/>
                    <a:gd name="T30" fmla="*/ 0 w 142"/>
                    <a:gd name="T31" fmla="*/ 0 h 141"/>
                    <a:gd name="T32" fmla="*/ 0 w 142"/>
                    <a:gd name="T33" fmla="*/ 0 h 141"/>
                    <a:gd name="T34" fmla="*/ 0 w 142"/>
                    <a:gd name="T35" fmla="*/ 0 h 141"/>
                    <a:gd name="T36" fmla="*/ 0 w 142"/>
                    <a:gd name="T37" fmla="*/ 0 h 1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2" h="141">
                      <a:moveTo>
                        <a:pt x="142" y="4"/>
                      </a:moveTo>
                      <a:lnTo>
                        <a:pt x="3" y="141"/>
                      </a:lnTo>
                      <a:lnTo>
                        <a:pt x="3" y="139"/>
                      </a:lnTo>
                      <a:lnTo>
                        <a:pt x="2" y="138"/>
                      </a:lnTo>
                      <a:lnTo>
                        <a:pt x="2" y="136"/>
                      </a:lnTo>
                      <a:lnTo>
                        <a:pt x="2" y="134"/>
                      </a:lnTo>
                      <a:lnTo>
                        <a:pt x="1" y="133"/>
                      </a:lnTo>
                      <a:lnTo>
                        <a:pt x="1" y="130"/>
                      </a:lnTo>
                      <a:lnTo>
                        <a:pt x="1" y="128"/>
                      </a:lnTo>
                      <a:lnTo>
                        <a:pt x="0" y="127"/>
                      </a:lnTo>
                      <a:lnTo>
                        <a:pt x="128" y="0"/>
                      </a:lnTo>
                      <a:lnTo>
                        <a:pt x="130" y="0"/>
                      </a:lnTo>
                      <a:lnTo>
                        <a:pt x="131" y="1"/>
                      </a:lnTo>
                      <a:lnTo>
                        <a:pt x="133" y="1"/>
                      </a:lnTo>
                      <a:lnTo>
                        <a:pt x="134" y="2"/>
                      </a:lnTo>
                      <a:lnTo>
                        <a:pt x="136" y="2"/>
                      </a:lnTo>
                      <a:lnTo>
                        <a:pt x="138" y="3"/>
                      </a:lnTo>
                      <a:lnTo>
                        <a:pt x="139" y="3"/>
                      </a:lnTo>
                      <a:lnTo>
                        <a:pt x="142" y="4"/>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44" name="Freeform 2381"/>
                <p:cNvSpPr>
                  <a:spLocks noChangeAspect="1"/>
                </p:cNvSpPr>
                <p:nvPr/>
              </p:nvSpPr>
              <p:spPr bwMode="auto">
                <a:xfrm>
                  <a:off x="5480" y="2293"/>
                  <a:ext cx="45" cy="45"/>
                </a:xfrm>
                <a:custGeom>
                  <a:avLst/>
                  <a:gdLst>
                    <a:gd name="T0" fmla="*/ 0 w 135"/>
                    <a:gd name="T1" fmla="*/ 0 h 136"/>
                    <a:gd name="T2" fmla="*/ 0 w 135"/>
                    <a:gd name="T3" fmla="*/ 0 h 136"/>
                    <a:gd name="T4" fmla="*/ 0 w 135"/>
                    <a:gd name="T5" fmla="*/ 0 h 136"/>
                    <a:gd name="T6" fmla="*/ 0 w 135"/>
                    <a:gd name="T7" fmla="*/ 0 h 136"/>
                    <a:gd name="T8" fmla="*/ 0 w 135"/>
                    <a:gd name="T9" fmla="*/ 0 h 136"/>
                    <a:gd name="T10" fmla="*/ 0 w 135"/>
                    <a:gd name="T11" fmla="*/ 0 h 136"/>
                    <a:gd name="T12" fmla="*/ 0 w 135"/>
                    <a:gd name="T13" fmla="*/ 0 h 136"/>
                    <a:gd name="T14" fmla="*/ 0 w 135"/>
                    <a:gd name="T15" fmla="*/ 0 h 136"/>
                    <a:gd name="T16" fmla="*/ 0 w 135"/>
                    <a:gd name="T17" fmla="*/ 0 h 136"/>
                    <a:gd name="T18" fmla="*/ 0 w 135"/>
                    <a:gd name="T19" fmla="*/ 0 h 136"/>
                    <a:gd name="T20" fmla="*/ 0 w 135"/>
                    <a:gd name="T21" fmla="*/ 0 h 136"/>
                    <a:gd name="T22" fmla="*/ 0 w 135"/>
                    <a:gd name="T23" fmla="*/ 0 h 136"/>
                    <a:gd name="T24" fmla="*/ 0 w 135"/>
                    <a:gd name="T25" fmla="*/ 0 h 136"/>
                    <a:gd name="T26" fmla="*/ 0 w 135"/>
                    <a:gd name="T27" fmla="*/ 0 h 136"/>
                    <a:gd name="T28" fmla="*/ 0 w 135"/>
                    <a:gd name="T29" fmla="*/ 0 h 136"/>
                    <a:gd name="T30" fmla="*/ 0 w 135"/>
                    <a:gd name="T31" fmla="*/ 0 h 136"/>
                    <a:gd name="T32" fmla="*/ 0 w 135"/>
                    <a:gd name="T33" fmla="*/ 0 h 136"/>
                    <a:gd name="T34" fmla="*/ 0 w 135"/>
                    <a:gd name="T35" fmla="*/ 0 h 136"/>
                    <a:gd name="T36" fmla="*/ 0 w 135"/>
                    <a:gd name="T37" fmla="*/ 0 h 1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35" h="136">
                      <a:moveTo>
                        <a:pt x="135" y="3"/>
                      </a:moveTo>
                      <a:lnTo>
                        <a:pt x="2" y="136"/>
                      </a:lnTo>
                      <a:lnTo>
                        <a:pt x="1" y="134"/>
                      </a:lnTo>
                      <a:lnTo>
                        <a:pt x="1" y="131"/>
                      </a:lnTo>
                      <a:lnTo>
                        <a:pt x="1" y="129"/>
                      </a:lnTo>
                      <a:lnTo>
                        <a:pt x="0" y="127"/>
                      </a:lnTo>
                      <a:lnTo>
                        <a:pt x="0" y="126"/>
                      </a:lnTo>
                      <a:lnTo>
                        <a:pt x="0" y="124"/>
                      </a:lnTo>
                      <a:lnTo>
                        <a:pt x="0" y="122"/>
                      </a:lnTo>
                      <a:lnTo>
                        <a:pt x="0" y="120"/>
                      </a:lnTo>
                      <a:lnTo>
                        <a:pt x="120" y="0"/>
                      </a:lnTo>
                      <a:lnTo>
                        <a:pt x="122" y="0"/>
                      </a:lnTo>
                      <a:lnTo>
                        <a:pt x="124" y="0"/>
                      </a:lnTo>
                      <a:lnTo>
                        <a:pt x="126" y="1"/>
                      </a:lnTo>
                      <a:lnTo>
                        <a:pt x="128" y="1"/>
                      </a:lnTo>
                      <a:lnTo>
                        <a:pt x="130" y="1"/>
                      </a:lnTo>
                      <a:lnTo>
                        <a:pt x="131" y="2"/>
                      </a:lnTo>
                      <a:lnTo>
                        <a:pt x="133" y="2"/>
                      </a:lnTo>
                      <a:lnTo>
                        <a:pt x="135" y="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45" name="Freeform 2382"/>
                <p:cNvSpPr>
                  <a:spLocks noChangeAspect="1"/>
                </p:cNvSpPr>
                <p:nvPr/>
              </p:nvSpPr>
              <p:spPr bwMode="auto">
                <a:xfrm>
                  <a:off x="5480" y="2292"/>
                  <a:ext cx="43" cy="43"/>
                </a:xfrm>
                <a:custGeom>
                  <a:avLst/>
                  <a:gdLst>
                    <a:gd name="T0" fmla="*/ 0 w 129"/>
                    <a:gd name="T1" fmla="*/ 0 h 130"/>
                    <a:gd name="T2" fmla="*/ 0 w 129"/>
                    <a:gd name="T3" fmla="*/ 0 h 130"/>
                    <a:gd name="T4" fmla="*/ 0 w 129"/>
                    <a:gd name="T5" fmla="*/ 0 h 130"/>
                    <a:gd name="T6" fmla="*/ 0 w 129"/>
                    <a:gd name="T7" fmla="*/ 0 h 130"/>
                    <a:gd name="T8" fmla="*/ 0 w 129"/>
                    <a:gd name="T9" fmla="*/ 0 h 130"/>
                    <a:gd name="T10" fmla="*/ 0 w 129"/>
                    <a:gd name="T11" fmla="*/ 0 h 130"/>
                    <a:gd name="T12" fmla="*/ 0 w 129"/>
                    <a:gd name="T13" fmla="*/ 0 h 130"/>
                    <a:gd name="T14" fmla="*/ 0 w 129"/>
                    <a:gd name="T15" fmla="*/ 0 h 130"/>
                    <a:gd name="T16" fmla="*/ 0 w 129"/>
                    <a:gd name="T17" fmla="*/ 0 h 130"/>
                    <a:gd name="T18" fmla="*/ 0 w 129"/>
                    <a:gd name="T19" fmla="*/ 0 h 130"/>
                    <a:gd name="T20" fmla="*/ 0 w 129"/>
                    <a:gd name="T21" fmla="*/ 0 h 130"/>
                    <a:gd name="T22" fmla="*/ 0 w 129"/>
                    <a:gd name="T23" fmla="*/ 0 h 130"/>
                    <a:gd name="T24" fmla="*/ 0 w 129"/>
                    <a:gd name="T25" fmla="*/ 0 h 130"/>
                    <a:gd name="T26" fmla="*/ 0 w 129"/>
                    <a:gd name="T27" fmla="*/ 0 h 130"/>
                    <a:gd name="T28" fmla="*/ 0 w 129"/>
                    <a:gd name="T29" fmla="*/ 0 h 130"/>
                    <a:gd name="T30" fmla="*/ 0 w 129"/>
                    <a:gd name="T31" fmla="*/ 0 h 130"/>
                    <a:gd name="T32" fmla="*/ 0 w 129"/>
                    <a:gd name="T33" fmla="*/ 0 h 130"/>
                    <a:gd name="T34" fmla="*/ 0 w 129"/>
                    <a:gd name="T35" fmla="*/ 0 h 130"/>
                    <a:gd name="T36" fmla="*/ 0 w 129"/>
                    <a:gd name="T37" fmla="*/ 0 h 1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9" h="130">
                      <a:moveTo>
                        <a:pt x="129" y="3"/>
                      </a:moveTo>
                      <a:lnTo>
                        <a:pt x="1" y="130"/>
                      </a:lnTo>
                      <a:lnTo>
                        <a:pt x="1" y="128"/>
                      </a:lnTo>
                      <a:lnTo>
                        <a:pt x="1" y="126"/>
                      </a:lnTo>
                      <a:lnTo>
                        <a:pt x="1" y="124"/>
                      </a:lnTo>
                      <a:lnTo>
                        <a:pt x="1" y="122"/>
                      </a:lnTo>
                      <a:lnTo>
                        <a:pt x="0" y="120"/>
                      </a:lnTo>
                      <a:lnTo>
                        <a:pt x="0" y="117"/>
                      </a:lnTo>
                      <a:lnTo>
                        <a:pt x="0" y="115"/>
                      </a:lnTo>
                      <a:lnTo>
                        <a:pt x="0" y="113"/>
                      </a:lnTo>
                      <a:lnTo>
                        <a:pt x="114" y="0"/>
                      </a:lnTo>
                      <a:lnTo>
                        <a:pt x="116" y="0"/>
                      </a:lnTo>
                      <a:lnTo>
                        <a:pt x="117" y="0"/>
                      </a:lnTo>
                      <a:lnTo>
                        <a:pt x="119" y="0"/>
                      </a:lnTo>
                      <a:lnTo>
                        <a:pt x="121" y="2"/>
                      </a:lnTo>
                      <a:lnTo>
                        <a:pt x="123" y="2"/>
                      </a:lnTo>
                      <a:lnTo>
                        <a:pt x="125" y="2"/>
                      </a:lnTo>
                      <a:lnTo>
                        <a:pt x="127" y="3"/>
                      </a:lnTo>
                      <a:lnTo>
                        <a:pt x="129" y="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46" name="Freeform 2383"/>
                <p:cNvSpPr>
                  <a:spLocks noChangeAspect="1"/>
                </p:cNvSpPr>
                <p:nvPr/>
              </p:nvSpPr>
              <p:spPr bwMode="auto">
                <a:xfrm>
                  <a:off x="5480" y="2292"/>
                  <a:ext cx="40" cy="41"/>
                </a:xfrm>
                <a:custGeom>
                  <a:avLst/>
                  <a:gdLst>
                    <a:gd name="T0" fmla="*/ 0 w 121"/>
                    <a:gd name="T1" fmla="*/ 0 h 122"/>
                    <a:gd name="T2" fmla="*/ 0 w 121"/>
                    <a:gd name="T3" fmla="*/ 0 h 122"/>
                    <a:gd name="T4" fmla="*/ 0 w 121"/>
                    <a:gd name="T5" fmla="*/ 0 h 122"/>
                    <a:gd name="T6" fmla="*/ 0 w 121"/>
                    <a:gd name="T7" fmla="*/ 0 h 122"/>
                    <a:gd name="T8" fmla="*/ 0 w 121"/>
                    <a:gd name="T9" fmla="*/ 0 h 122"/>
                    <a:gd name="T10" fmla="*/ 0 w 121"/>
                    <a:gd name="T11" fmla="*/ 0 h 122"/>
                    <a:gd name="T12" fmla="*/ 0 w 121"/>
                    <a:gd name="T13" fmla="*/ 0 h 122"/>
                    <a:gd name="T14" fmla="*/ 0 w 121"/>
                    <a:gd name="T15" fmla="*/ 0 h 122"/>
                    <a:gd name="T16" fmla="*/ 0 w 121"/>
                    <a:gd name="T17" fmla="*/ 0 h 122"/>
                    <a:gd name="T18" fmla="*/ 0 w 121"/>
                    <a:gd name="T19" fmla="*/ 0 h 122"/>
                    <a:gd name="T20" fmla="*/ 0 w 121"/>
                    <a:gd name="T21" fmla="*/ 0 h 122"/>
                    <a:gd name="T22" fmla="*/ 0 w 121"/>
                    <a:gd name="T23" fmla="*/ 0 h 122"/>
                    <a:gd name="T24" fmla="*/ 0 w 121"/>
                    <a:gd name="T25" fmla="*/ 0 h 122"/>
                    <a:gd name="T26" fmla="*/ 0 w 121"/>
                    <a:gd name="T27" fmla="*/ 0 h 122"/>
                    <a:gd name="T28" fmla="*/ 0 w 121"/>
                    <a:gd name="T29" fmla="*/ 0 h 122"/>
                    <a:gd name="T30" fmla="*/ 0 w 121"/>
                    <a:gd name="T31" fmla="*/ 0 h 122"/>
                    <a:gd name="T32" fmla="*/ 0 w 121"/>
                    <a:gd name="T33" fmla="*/ 0 h 122"/>
                    <a:gd name="T34" fmla="*/ 0 w 121"/>
                    <a:gd name="T35" fmla="*/ 0 h 122"/>
                    <a:gd name="T36" fmla="*/ 0 w 121"/>
                    <a:gd name="T37" fmla="*/ 0 h 122"/>
                    <a:gd name="T38" fmla="*/ 0 w 121"/>
                    <a:gd name="T39" fmla="*/ 0 h 122"/>
                    <a:gd name="T40" fmla="*/ 0 w 121"/>
                    <a:gd name="T41" fmla="*/ 0 h 122"/>
                    <a:gd name="T42" fmla="*/ 0 w 121"/>
                    <a:gd name="T43" fmla="*/ 0 h 122"/>
                    <a:gd name="T44" fmla="*/ 0 w 121"/>
                    <a:gd name="T45" fmla="*/ 0 h 122"/>
                    <a:gd name="T46" fmla="*/ 0 w 121"/>
                    <a:gd name="T47" fmla="*/ 0 h 122"/>
                    <a:gd name="T48" fmla="*/ 0 w 121"/>
                    <a:gd name="T49" fmla="*/ 0 h 122"/>
                    <a:gd name="T50" fmla="*/ 0 w 121"/>
                    <a:gd name="T51" fmla="*/ 0 h 122"/>
                    <a:gd name="T52" fmla="*/ 0 w 121"/>
                    <a:gd name="T53" fmla="*/ 0 h 122"/>
                    <a:gd name="T54" fmla="*/ 0 w 121"/>
                    <a:gd name="T55" fmla="*/ 0 h 122"/>
                    <a:gd name="T56" fmla="*/ 0 w 121"/>
                    <a:gd name="T57" fmla="*/ 0 h 122"/>
                    <a:gd name="T58" fmla="*/ 0 w 121"/>
                    <a:gd name="T59" fmla="*/ 0 h 122"/>
                    <a:gd name="T60" fmla="*/ 0 w 121"/>
                    <a:gd name="T61" fmla="*/ 0 h 122"/>
                    <a:gd name="T62" fmla="*/ 0 w 121"/>
                    <a:gd name="T63" fmla="*/ 0 h 122"/>
                    <a:gd name="T64" fmla="*/ 0 w 121"/>
                    <a:gd name="T65" fmla="*/ 0 h 122"/>
                    <a:gd name="T66" fmla="*/ 0 w 121"/>
                    <a:gd name="T67" fmla="*/ 0 h 122"/>
                    <a:gd name="T68" fmla="*/ 0 w 121"/>
                    <a:gd name="T69" fmla="*/ 0 h 12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1" h="122">
                      <a:moveTo>
                        <a:pt x="121" y="2"/>
                      </a:moveTo>
                      <a:lnTo>
                        <a:pt x="1" y="122"/>
                      </a:lnTo>
                      <a:lnTo>
                        <a:pt x="0" y="121"/>
                      </a:lnTo>
                      <a:lnTo>
                        <a:pt x="0" y="120"/>
                      </a:lnTo>
                      <a:lnTo>
                        <a:pt x="0" y="118"/>
                      </a:lnTo>
                      <a:lnTo>
                        <a:pt x="0" y="117"/>
                      </a:lnTo>
                      <a:lnTo>
                        <a:pt x="0" y="116"/>
                      </a:lnTo>
                      <a:lnTo>
                        <a:pt x="0" y="114"/>
                      </a:lnTo>
                      <a:lnTo>
                        <a:pt x="0" y="113"/>
                      </a:lnTo>
                      <a:lnTo>
                        <a:pt x="0" y="112"/>
                      </a:lnTo>
                      <a:lnTo>
                        <a:pt x="0" y="111"/>
                      </a:lnTo>
                      <a:lnTo>
                        <a:pt x="0" y="110"/>
                      </a:lnTo>
                      <a:lnTo>
                        <a:pt x="0" y="109"/>
                      </a:lnTo>
                      <a:lnTo>
                        <a:pt x="0" y="108"/>
                      </a:lnTo>
                      <a:lnTo>
                        <a:pt x="0" y="107"/>
                      </a:lnTo>
                      <a:lnTo>
                        <a:pt x="0" y="106"/>
                      </a:lnTo>
                      <a:lnTo>
                        <a:pt x="0" y="105"/>
                      </a:lnTo>
                      <a:lnTo>
                        <a:pt x="105" y="0"/>
                      </a:lnTo>
                      <a:lnTo>
                        <a:pt x="106" y="0"/>
                      </a:lnTo>
                      <a:lnTo>
                        <a:pt x="108" y="0"/>
                      </a:lnTo>
                      <a:lnTo>
                        <a:pt x="111" y="0"/>
                      </a:lnTo>
                      <a:lnTo>
                        <a:pt x="112" y="0"/>
                      </a:lnTo>
                      <a:lnTo>
                        <a:pt x="114" y="0"/>
                      </a:lnTo>
                      <a:lnTo>
                        <a:pt x="116" y="0"/>
                      </a:lnTo>
                      <a:lnTo>
                        <a:pt x="118" y="0"/>
                      </a:lnTo>
                      <a:lnTo>
                        <a:pt x="119" y="0"/>
                      </a:lnTo>
                      <a:lnTo>
                        <a:pt x="121" y="2"/>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47" name="Freeform 2384"/>
                <p:cNvSpPr>
                  <a:spLocks noChangeAspect="1"/>
                </p:cNvSpPr>
                <p:nvPr/>
              </p:nvSpPr>
              <p:spPr bwMode="auto">
                <a:xfrm>
                  <a:off x="5480" y="2292"/>
                  <a:ext cx="38" cy="38"/>
                </a:xfrm>
                <a:custGeom>
                  <a:avLst/>
                  <a:gdLst>
                    <a:gd name="T0" fmla="*/ 0 w 114"/>
                    <a:gd name="T1" fmla="*/ 0 h 113"/>
                    <a:gd name="T2" fmla="*/ 0 w 114"/>
                    <a:gd name="T3" fmla="*/ 0 h 113"/>
                    <a:gd name="T4" fmla="*/ 0 w 114"/>
                    <a:gd name="T5" fmla="*/ 0 h 113"/>
                    <a:gd name="T6" fmla="*/ 0 w 114"/>
                    <a:gd name="T7" fmla="*/ 0 h 113"/>
                    <a:gd name="T8" fmla="*/ 0 w 114"/>
                    <a:gd name="T9" fmla="*/ 0 h 113"/>
                    <a:gd name="T10" fmla="*/ 0 w 114"/>
                    <a:gd name="T11" fmla="*/ 0 h 113"/>
                    <a:gd name="T12" fmla="*/ 0 w 114"/>
                    <a:gd name="T13" fmla="*/ 0 h 113"/>
                    <a:gd name="T14" fmla="*/ 0 w 114"/>
                    <a:gd name="T15" fmla="*/ 0 h 113"/>
                    <a:gd name="T16" fmla="*/ 0 w 114"/>
                    <a:gd name="T17" fmla="*/ 0 h 113"/>
                    <a:gd name="T18" fmla="*/ 0 w 114"/>
                    <a:gd name="T19" fmla="*/ 0 h 113"/>
                    <a:gd name="T20" fmla="*/ 0 w 114"/>
                    <a:gd name="T21" fmla="*/ 0 h 113"/>
                    <a:gd name="T22" fmla="*/ 0 w 114"/>
                    <a:gd name="T23" fmla="*/ 0 h 113"/>
                    <a:gd name="T24" fmla="*/ 0 w 114"/>
                    <a:gd name="T25" fmla="*/ 0 h 113"/>
                    <a:gd name="T26" fmla="*/ 0 w 114"/>
                    <a:gd name="T27" fmla="*/ 0 h 113"/>
                    <a:gd name="T28" fmla="*/ 0 w 114"/>
                    <a:gd name="T29" fmla="*/ 0 h 113"/>
                    <a:gd name="T30" fmla="*/ 0 w 114"/>
                    <a:gd name="T31" fmla="*/ 0 h 113"/>
                    <a:gd name="T32" fmla="*/ 0 w 114"/>
                    <a:gd name="T33" fmla="*/ 0 h 113"/>
                    <a:gd name="T34" fmla="*/ 0 w 114"/>
                    <a:gd name="T35" fmla="*/ 0 h 113"/>
                    <a:gd name="T36" fmla="*/ 0 w 114"/>
                    <a:gd name="T37" fmla="*/ 0 h 113"/>
                    <a:gd name="T38" fmla="*/ 0 w 114"/>
                    <a:gd name="T39" fmla="*/ 0 h 113"/>
                    <a:gd name="T40" fmla="*/ 0 w 114"/>
                    <a:gd name="T41" fmla="*/ 0 h 113"/>
                    <a:gd name="T42" fmla="*/ 0 w 114"/>
                    <a:gd name="T43" fmla="*/ 0 h 113"/>
                    <a:gd name="T44" fmla="*/ 0 w 114"/>
                    <a:gd name="T45" fmla="*/ 0 h 113"/>
                    <a:gd name="T46" fmla="*/ 0 w 114"/>
                    <a:gd name="T47" fmla="*/ 0 h 113"/>
                    <a:gd name="T48" fmla="*/ 0 w 114"/>
                    <a:gd name="T49" fmla="*/ 0 h 113"/>
                    <a:gd name="T50" fmla="*/ 0 w 114"/>
                    <a:gd name="T51" fmla="*/ 0 h 113"/>
                    <a:gd name="T52" fmla="*/ 0 w 114"/>
                    <a:gd name="T53" fmla="*/ 0 h 113"/>
                    <a:gd name="T54" fmla="*/ 0 w 114"/>
                    <a:gd name="T55" fmla="*/ 0 h 113"/>
                    <a:gd name="T56" fmla="*/ 0 w 114"/>
                    <a:gd name="T57" fmla="*/ 0 h 113"/>
                    <a:gd name="T58" fmla="*/ 0 w 114"/>
                    <a:gd name="T59" fmla="*/ 0 h 113"/>
                    <a:gd name="T60" fmla="*/ 0 w 114"/>
                    <a:gd name="T61" fmla="*/ 0 h 113"/>
                    <a:gd name="T62" fmla="*/ 0 w 114"/>
                    <a:gd name="T63" fmla="*/ 0 h 113"/>
                    <a:gd name="T64" fmla="*/ 0 w 114"/>
                    <a:gd name="T65" fmla="*/ 0 h 113"/>
                    <a:gd name="T66" fmla="*/ 0 w 114"/>
                    <a:gd name="T67" fmla="*/ 0 h 113"/>
                    <a:gd name="T68" fmla="*/ 0 w 114"/>
                    <a:gd name="T69" fmla="*/ 0 h 1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4" h="113">
                      <a:moveTo>
                        <a:pt x="114" y="0"/>
                      </a:moveTo>
                      <a:lnTo>
                        <a:pt x="0" y="113"/>
                      </a:lnTo>
                      <a:lnTo>
                        <a:pt x="0" y="112"/>
                      </a:lnTo>
                      <a:lnTo>
                        <a:pt x="0" y="110"/>
                      </a:lnTo>
                      <a:lnTo>
                        <a:pt x="0" y="108"/>
                      </a:lnTo>
                      <a:lnTo>
                        <a:pt x="0" y="106"/>
                      </a:lnTo>
                      <a:lnTo>
                        <a:pt x="0" y="104"/>
                      </a:lnTo>
                      <a:lnTo>
                        <a:pt x="1" y="101"/>
                      </a:lnTo>
                      <a:lnTo>
                        <a:pt x="1" y="99"/>
                      </a:lnTo>
                      <a:lnTo>
                        <a:pt x="1" y="97"/>
                      </a:lnTo>
                      <a:lnTo>
                        <a:pt x="1" y="95"/>
                      </a:lnTo>
                      <a:lnTo>
                        <a:pt x="96" y="0"/>
                      </a:lnTo>
                      <a:lnTo>
                        <a:pt x="97" y="0"/>
                      </a:lnTo>
                      <a:lnTo>
                        <a:pt x="99" y="0"/>
                      </a:lnTo>
                      <a:lnTo>
                        <a:pt x="100" y="0"/>
                      </a:lnTo>
                      <a:lnTo>
                        <a:pt x="101" y="0"/>
                      </a:lnTo>
                      <a:lnTo>
                        <a:pt x="102" y="0"/>
                      </a:lnTo>
                      <a:lnTo>
                        <a:pt x="104" y="0"/>
                      </a:lnTo>
                      <a:lnTo>
                        <a:pt x="105" y="0"/>
                      </a:lnTo>
                      <a:lnTo>
                        <a:pt x="106" y="0"/>
                      </a:lnTo>
                      <a:lnTo>
                        <a:pt x="107" y="0"/>
                      </a:lnTo>
                      <a:lnTo>
                        <a:pt x="108" y="0"/>
                      </a:lnTo>
                      <a:lnTo>
                        <a:pt x="110" y="0"/>
                      </a:lnTo>
                      <a:lnTo>
                        <a:pt x="111" y="0"/>
                      </a:lnTo>
                      <a:lnTo>
                        <a:pt x="112" y="0"/>
                      </a:lnTo>
                      <a:lnTo>
                        <a:pt x="113" y="0"/>
                      </a:lnTo>
                      <a:lnTo>
                        <a:pt x="114"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48" name="Freeform 2385"/>
                <p:cNvSpPr>
                  <a:spLocks noChangeAspect="1"/>
                </p:cNvSpPr>
                <p:nvPr/>
              </p:nvSpPr>
              <p:spPr bwMode="auto">
                <a:xfrm>
                  <a:off x="5480" y="2292"/>
                  <a:ext cx="35" cy="35"/>
                </a:xfrm>
                <a:custGeom>
                  <a:avLst/>
                  <a:gdLst>
                    <a:gd name="T0" fmla="*/ 0 w 105"/>
                    <a:gd name="T1" fmla="*/ 0 h 105"/>
                    <a:gd name="T2" fmla="*/ 0 w 105"/>
                    <a:gd name="T3" fmla="*/ 0 h 105"/>
                    <a:gd name="T4" fmla="*/ 0 w 105"/>
                    <a:gd name="T5" fmla="*/ 0 h 105"/>
                    <a:gd name="T6" fmla="*/ 0 w 105"/>
                    <a:gd name="T7" fmla="*/ 0 h 105"/>
                    <a:gd name="T8" fmla="*/ 0 w 105"/>
                    <a:gd name="T9" fmla="*/ 0 h 105"/>
                    <a:gd name="T10" fmla="*/ 0 w 105"/>
                    <a:gd name="T11" fmla="*/ 0 h 105"/>
                    <a:gd name="T12" fmla="*/ 0 w 105"/>
                    <a:gd name="T13" fmla="*/ 0 h 105"/>
                    <a:gd name="T14" fmla="*/ 0 w 105"/>
                    <a:gd name="T15" fmla="*/ 0 h 105"/>
                    <a:gd name="T16" fmla="*/ 0 w 105"/>
                    <a:gd name="T17" fmla="*/ 0 h 105"/>
                    <a:gd name="T18" fmla="*/ 0 w 105"/>
                    <a:gd name="T19" fmla="*/ 0 h 105"/>
                    <a:gd name="T20" fmla="*/ 0 w 105"/>
                    <a:gd name="T21" fmla="*/ 0 h 105"/>
                    <a:gd name="T22" fmla="*/ 0 w 105"/>
                    <a:gd name="T23" fmla="*/ 0 h 105"/>
                    <a:gd name="T24" fmla="*/ 0 w 105"/>
                    <a:gd name="T25" fmla="*/ 0 h 105"/>
                    <a:gd name="T26" fmla="*/ 0 w 105"/>
                    <a:gd name="T27" fmla="*/ 0 h 105"/>
                    <a:gd name="T28" fmla="*/ 0 w 105"/>
                    <a:gd name="T29" fmla="*/ 0 h 105"/>
                    <a:gd name="T30" fmla="*/ 0 w 105"/>
                    <a:gd name="T31" fmla="*/ 0 h 105"/>
                    <a:gd name="T32" fmla="*/ 0 w 105"/>
                    <a:gd name="T33" fmla="*/ 0 h 105"/>
                    <a:gd name="T34" fmla="*/ 0 w 105"/>
                    <a:gd name="T35" fmla="*/ 0 h 105"/>
                    <a:gd name="T36" fmla="*/ 0 w 105"/>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5" h="105">
                      <a:moveTo>
                        <a:pt x="105" y="0"/>
                      </a:moveTo>
                      <a:lnTo>
                        <a:pt x="0" y="105"/>
                      </a:lnTo>
                      <a:lnTo>
                        <a:pt x="1" y="101"/>
                      </a:lnTo>
                      <a:lnTo>
                        <a:pt x="1" y="99"/>
                      </a:lnTo>
                      <a:lnTo>
                        <a:pt x="1" y="97"/>
                      </a:lnTo>
                      <a:lnTo>
                        <a:pt x="1" y="94"/>
                      </a:lnTo>
                      <a:lnTo>
                        <a:pt x="2" y="92"/>
                      </a:lnTo>
                      <a:lnTo>
                        <a:pt x="2" y="89"/>
                      </a:lnTo>
                      <a:lnTo>
                        <a:pt x="3" y="87"/>
                      </a:lnTo>
                      <a:lnTo>
                        <a:pt x="3" y="84"/>
                      </a:lnTo>
                      <a:lnTo>
                        <a:pt x="85" y="3"/>
                      </a:lnTo>
                      <a:lnTo>
                        <a:pt x="88" y="2"/>
                      </a:lnTo>
                      <a:lnTo>
                        <a:pt x="90" y="2"/>
                      </a:lnTo>
                      <a:lnTo>
                        <a:pt x="93" y="0"/>
                      </a:lnTo>
                      <a:lnTo>
                        <a:pt x="95" y="0"/>
                      </a:lnTo>
                      <a:lnTo>
                        <a:pt x="98" y="0"/>
                      </a:lnTo>
                      <a:lnTo>
                        <a:pt x="100" y="0"/>
                      </a:lnTo>
                      <a:lnTo>
                        <a:pt x="102" y="0"/>
                      </a:lnTo>
                      <a:lnTo>
                        <a:pt x="105"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49" name="Freeform 2386"/>
                <p:cNvSpPr>
                  <a:spLocks noChangeAspect="1"/>
                </p:cNvSpPr>
                <p:nvPr/>
              </p:nvSpPr>
              <p:spPr bwMode="auto">
                <a:xfrm>
                  <a:off x="5480" y="2292"/>
                  <a:ext cx="32" cy="32"/>
                </a:xfrm>
                <a:custGeom>
                  <a:avLst/>
                  <a:gdLst>
                    <a:gd name="T0" fmla="*/ 0 w 95"/>
                    <a:gd name="T1" fmla="*/ 0 h 95"/>
                    <a:gd name="T2" fmla="*/ 0 w 95"/>
                    <a:gd name="T3" fmla="*/ 0 h 95"/>
                    <a:gd name="T4" fmla="*/ 0 w 95"/>
                    <a:gd name="T5" fmla="*/ 0 h 95"/>
                    <a:gd name="T6" fmla="*/ 0 w 95"/>
                    <a:gd name="T7" fmla="*/ 0 h 95"/>
                    <a:gd name="T8" fmla="*/ 0 w 95"/>
                    <a:gd name="T9" fmla="*/ 0 h 95"/>
                    <a:gd name="T10" fmla="*/ 0 w 95"/>
                    <a:gd name="T11" fmla="*/ 0 h 95"/>
                    <a:gd name="T12" fmla="*/ 0 w 95"/>
                    <a:gd name="T13" fmla="*/ 0 h 95"/>
                    <a:gd name="T14" fmla="*/ 0 w 95"/>
                    <a:gd name="T15" fmla="*/ 0 h 95"/>
                    <a:gd name="T16" fmla="*/ 0 w 95"/>
                    <a:gd name="T17" fmla="*/ 0 h 95"/>
                    <a:gd name="T18" fmla="*/ 0 w 95"/>
                    <a:gd name="T19" fmla="*/ 0 h 95"/>
                    <a:gd name="T20" fmla="*/ 0 w 95"/>
                    <a:gd name="T21" fmla="*/ 0 h 95"/>
                    <a:gd name="T22" fmla="*/ 0 w 95"/>
                    <a:gd name="T23" fmla="*/ 0 h 95"/>
                    <a:gd name="T24" fmla="*/ 0 w 95"/>
                    <a:gd name="T25" fmla="*/ 0 h 95"/>
                    <a:gd name="T26" fmla="*/ 0 w 95"/>
                    <a:gd name="T27" fmla="*/ 0 h 95"/>
                    <a:gd name="T28" fmla="*/ 0 w 95"/>
                    <a:gd name="T29" fmla="*/ 0 h 95"/>
                    <a:gd name="T30" fmla="*/ 0 w 95"/>
                    <a:gd name="T31" fmla="*/ 0 h 95"/>
                    <a:gd name="T32" fmla="*/ 0 w 95"/>
                    <a:gd name="T33" fmla="*/ 0 h 95"/>
                    <a:gd name="T34" fmla="*/ 0 w 95"/>
                    <a:gd name="T35" fmla="*/ 0 h 95"/>
                    <a:gd name="T36" fmla="*/ 0 w 95"/>
                    <a:gd name="T37" fmla="*/ 0 h 9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5" h="95">
                      <a:moveTo>
                        <a:pt x="95" y="0"/>
                      </a:moveTo>
                      <a:lnTo>
                        <a:pt x="0" y="95"/>
                      </a:lnTo>
                      <a:lnTo>
                        <a:pt x="1" y="92"/>
                      </a:lnTo>
                      <a:lnTo>
                        <a:pt x="1" y="89"/>
                      </a:lnTo>
                      <a:lnTo>
                        <a:pt x="2" y="86"/>
                      </a:lnTo>
                      <a:lnTo>
                        <a:pt x="3" y="82"/>
                      </a:lnTo>
                      <a:lnTo>
                        <a:pt x="3" y="80"/>
                      </a:lnTo>
                      <a:lnTo>
                        <a:pt x="4" y="77"/>
                      </a:lnTo>
                      <a:lnTo>
                        <a:pt x="5" y="74"/>
                      </a:lnTo>
                      <a:lnTo>
                        <a:pt x="6" y="72"/>
                      </a:lnTo>
                      <a:lnTo>
                        <a:pt x="72" y="6"/>
                      </a:lnTo>
                      <a:lnTo>
                        <a:pt x="74" y="5"/>
                      </a:lnTo>
                      <a:lnTo>
                        <a:pt x="78" y="4"/>
                      </a:lnTo>
                      <a:lnTo>
                        <a:pt x="81" y="4"/>
                      </a:lnTo>
                      <a:lnTo>
                        <a:pt x="83" y="3"/>
                      </a:lnTo>
                      <a:lnTo>
                        <a:pt x="86" y="2"/>
                      </a:lnTo>
                      <a:lnTo>
                        <a:pt x="89" y="2"/>
                      </a:lnTo>
                      <a:lnTo>
                        <a:pt x="92" y="0"/>
                      </a:lnTo>
                      <a:lnTo>
                        <a:pt x="95"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50" name="Freeform 2387"/>
                <p:cNvSpPr>
                  <a:spLocks noChangeAspect="1"/>
                </p:cNvSpPr>
                <p:nvPr/>
              </p:nvSpPr>
              <p:spPr bwMode="auto">
                <a:xfrm>
                  <a:off x="5481" y="2293"/>
                  <a:ext cx="27" cy="27"/>
                </a:xfrm>
                <a:custGeom>
                  <a:avLst/>
                  <a:gdLst>
                    <a:gd name="T0" fmla="*/ 0 w 82"/>
                    <a:gd name="T1" fmla="*/ 0 h 81"/>
                    <a:gd name="T2" fmla="*/ 0 w 82"/>
                    <a:gd name="T3" fmla="*/ 0 h 81"/>
                    <a:gd name="T4" fmla="*/ 0 w 82"/>
                    <a:gd name="T5" fmla="*/ 0 h 81"/>
                    <a:gd name="T6" fmla="*/ 0 w 82"/>
                    <a:gd name="T7" fmla="*/ 0 h 81"/>
                    <a:gd name="T8" fmla="*/ 0 w 82"/>
                    <a:gd name="T9" fmla="*/ 0 h 81"/>
                    <a:gd name="T10" fmla="*/ 0 w 82"/>
                    <a:gd name="T11" fmla="*/ 0 h 81"/>
                    <a:gd name="T12" fmla="*/ 0 w 82"/>
                    <a:gd name="T13" fmla="*/ 0 h 81"/>
                    <a:gd name="T14" fmla="*/ 0 w 82"/>
                    <a:gd name="T15" fmla="*/ 0 h 81"/>
                    <a:gd name="T16" fmla="*/ 0 w 82"/>
                    <a:gd name="T17" fmla="*/ 0 h 81"/>
                    <a:gd name="T18" fmla="*/ 0 w 82"/>
                    <a:gd name="T19" fmla="*/ 0 h 81"/>
                    <a:gd name="T20" fmla="*/ 0 w 82"/>
                    <a:gd name="T21" fmla="*/ 0 h 81"/>
                    <a:gd name="T22" fmla="*/ 0 w 82"/>
                    <a:gd name="T23" fmla="*/ 0 h 81"/>
                    <a:gd name="T24" fmla="*/ 0 w 82"/>
                    <a:gd name="T25" fmla="*/ 0 h 81"/>
                    <a:gd name="T26" fmla="*/ 0 w 82"/>
                    <a:gd name="T27" fmla="*/ 0 h 81"/>
                    <a:gd name="T28" fmla="*/ 0 w 82"/>
                    <a:gd name="T29" fmla="*/ 0 h 81"/>
                    <a:gd name="T30" fmla="*/ 0 w 82"/>
                    <a:gd name="T31" fmla="*/ 0 h 81"/>
                    <a:gd name="T32" fmla="*/ 0 w 82"/>
                    <a:gd name="T33" fmla="*/ 0 h 81"/>
                    <a:gd name="T34" fmla="*/ 0 w 82"/>
                    <a:gd name="T35" fmla="*/ 0 h 81"/>
                    <a:gd name="T36" fmla="*/ 0 w 82"/>
                    <a:gd name="T37" fmla="*/ 0 h 8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2" h="81">
                      <a:moveTo>
                        <a:pt x="82" y="0"/>
                      </a:moveTo>
                      <a:lnTo>
                        <a:pt x="0" y="81"/>
                      </a:lnTo>
                      <a:lnTo>
                        <a:pt x="1" y="77"/>
                      </a:lnTo>
                      <a:lnTo>
                        <a:pt x="2" y="73"/>
                      </a:lnTo>
                      <a:lnTo>
                        <a:pt x="4" y="70"/>
                      </a:lnTo>
                      <a:lnTo>
                        <a:pt x="5" y="66"/>
                      </a:lnTo>
                      <a:lnTo>
                        <a:pt x="6" y="62"/>
                      </a:lnTo>
                      <a:lnTo>
                        <a:pt x="9" y="59"/>
                      </a:lnTo>
                      <a:lnTo>
                        <a:pt x="10" y="56"/>
                      </a:lnTo>
                      <a:lnTo>
                        <a:pt x="12" y="52"/>
                      </a:lnTo>
                      <a:lnTo>
                        <a:pt x="54" y="10"/>
                      </a:lnTo>
                      <a:lnTo>
                        <a:pt x="58" y="8"/>
                      </a:lnTo>
                      <a:lnTo>
                        <a:pt x="61" y="6"/>
                      </a:lnTo>
                      <a:lnTo>
                        <a:pt x="64" y="5"/>
                      </a:lnTo>
                      <a:lnTo>
                        <a:pt x="68" y="4"/>
                      </a:lnTo>
                      <a:lnTo>
                        <a:pt x="71" y="2"/>
                      </a:lnTo>
                      <a:lnTo>
                        <a:pt x="75" y="1"/>
                      </a:lnTo>
                      <a:lnTo>
                        <a:pt x="79" y="0"/>
                      </a:lnTo>
                      <a:lnTo>
                        <a:pt x="82"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51" name="Freeform 2388"/>
                <p:cNvSpPr>
                  <a:spLocks noChangeAspect="1"/>
                </p:cNvSpPr>
                <p:nvPr/>
              </p:nvSpPr>
              <p:spPr bwMode="auto">
                <a:xfrm>
                  <a:off x="5482" y="2294"/>
                  <a:ext cx="22" cy="22"/>
                </a:xfrm>
                <a:custGeom>
                  <a:avLst/>
                  <a:gdLst>
                    <a:gd name="T0" fmla="*/ 0 w 66"/>
                    <a:gd name="T1" fmla="*/ 0 h 66"/>
                    <a:gd name="T2" fmla="*/ 0 w 66"/>
                    <a:gd name="T3" fmla="*/ 0 h 66"/>
                    <a:gd name="T4" fmla="*/ 0 w 66"/>
                    <a:gd name="T5" fmla="*/ 0 h 66"/>
                    <a:gd name="T6" fmla="*/ 0 w 66"/>
                    <a:gd name="T7" fmla="*/ 0 h 66"/>
                    <a:gd name="T8" fmla="*/ 0 w 66"/>
                    <a:gd name="T9" fmla="*/ 0 h 66"/>
                    <a:gd name="T10" fmla="*/ 0 w 66"/>
                    <a:gd name="T11" fmla="*/ 0 h 66"/>
                    <a:gd name="T12" fmla="*/ 0 w 66"/>
                    <a:gd name="T13" fmla="*/ 0 h 66"/>
                    <a:gd name="T14" fmla="*/ 0 w 66"/>
                    <a:gd name="T15" fmla="*/ 0 h 66"/>
                    <a:gd name="T16" fmla="*/ 0 w 66"/>
                    <a:gd name="T17" fmla="*/ 0 h 66"/>
                    <a:gd name="T18" fmla="*/ 0 w 66"/>
                    <a:gd name="T19" fmla="*/ 0 h 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 h="66">
                      <a:moveTo>
                        <a:pt x="66" y="0"/>
                      </a:moveTo>
                      <a:lnTo>
                        <a:pt x="0" y="66"/>
                      </a:lnTo>
                      <a:lnTo>
                        <a:pt x="6" y="54"/>
                      </a:lnTo>
                      <a:lnTo>
                        <a:pt x="11" y="43"/>
                      </a:lnTo>
                      <a:lnTo>
                        <a:pt x="18" y="34"/>
                      </a:lnTo>
                      <a:lnTo>
                        <a:pt x="26" y="25"/>
                      </a:lnTo>
                      <a:lnTo>
                        <a:pt x="35" y="17"/>
                      </a:lnTo>
                      <a:lnTo>
                        <a:pt x="45" y="10"/>
                      </a:lnTo>
                      <a:lnTo>
                        <a:pt x="56" y="4"/>
                      </a:lnTo>
                      <a:lnTo>
                        <a:pt x="66"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52" name="Freeform 2389"/>
                <p:cNvSpPr>
                  <a:spLocks noChangeAspect="1"/>
                </p:cNvSpPr>
                <p:nvPr/>
              </p:nvSpPr>
              <p:spPr bwMode="auto">
                <a:xfrm>
                  <a:off x="5485" y="2296"/>
                  <a:ext cx="14" cy="14"/>
                </a:xfrm>
                <a:custGeom>
                  <a:avLst/>
                  <a:gdLst>
                    <a:gd name="T0" fmla="*/ 0 w 42"/>
                    <a:gd name="T1" fmla="*/ 0 h 42"/>
                    <a:gd name="T2" fmla="*/ 0 w 42"/>
                    <a:gd name="T3" fmla="*/ 0 h 42"/>
                    <a:gd name="T4" fmla="*/ 0 w 42"/>
                    <a:gd name="T5" fmla="*/ 0 h 42"/>
                    <a:gd name="T6" fmla="*/ 0 w 42"/>
                    <a:gd name="T7" fmla="*/ 0 h 42"/>
                    <a:gd name="T8" fmla="*/ 0 w 42"/>
                    <a:gd name="T9" fmla="*/ 0 h 42"/>
                    <a:gd name="T10" fmla="*/ 0 w 42"/>
                    <a:gd name="T11" fmla="*/ 0 h 42"/>
                    <a:gd name="T12" fmla="*/ 0 w 42"/>
                    <a:gd name="T13" fmla="*/ 0 h 42"/>
                    <a:gd name="T14" fmla="*/ 0 w 42"/>
                    <a:gd name="T15" fmla="*/ 0 h 42"/>
                    <a:gd name="T16" fmla="*/ 0 w 42"/>
                    <a:gd name="T17" fmla="*/ 0 h 42"/>
                    <a:gd name="T18" fmla="*/ 0 w 42"/>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2" h="42">
                      <a:moveTo>
                        <a:pt x="42" y="0"/>
                      </a:moveTo>
                      <a:lnTo>
                        <a:pt x="0" y="42"/>
                      </a:lnTo>
                      <a:lnTo>
                        <a:pt x="4" y="35"/>
                      </a:lnTo>
                      <a:lnTo>
                        <a:pt x="8" y="29"/>
                      </a:lnTo>
                      <a:lnTo>
                        <a:pt x="14" y="24"/>
                      </a:lnTo>
                      <a:lnTo>
                        <a:pt x="18" y="18"/>
                      </a:lnTo>
                      <a:lnTo>
                        <a:pt x="24" y="13"/>
                      </a:lnTo>
                      <a:lnTo>
                        <a:pt x="30" y="8"/>
                      </a:lnTo>
                      <a:lnTo>
                        <a:pt x="36" y="3"/>
                      </a:lnTo>
                      <a:lnTo>
                        <a:pt x="42"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53" name="Freeform 2390"/>
                <p:cNvSpPr>
                  <a:spLocks noChangeAspect="1"/>
                </p:cNvSpPr>
                <p:nvPr/>
              </p:nvSpPr>
              <p:spPr bwMode="auto">
                <a:xfrm>
                  <a:off x="5480" y="2292"/>
                  <a:ext cx="71" cy="75"/>
                </a:xfrm>
                <a:custGeom>
                  <a:avLst/>
                  <a:gdLst>
                    <a:gd name="T0" fmla="*/ 0 w 213"/>
                    <a:gd name="T1" fmla="*/ 0 h 225"/>
                    <a:gd name="T2" fmla="*/ 0 w 213"/>
                    <a:gd name="T3" fmla="*/ 0 h 225"/>
                    <a:gd name="T4" fmla="*/ 0 w 213"/>
                    <a:gd name="T5" fmla="*/ 0 h 225"/>
                    <a:gd name="T6" fmla="*/ 0 w 213"/>
                    <a:gd name="T7" fmla="*/ 0 h 225"/>
                    <a:gd name="T8" fmla="*/ 0 w 213"/>
                    <a:gd name="T9" fmla="*/ 0 h 225"/>
                    <a:gd name="T10" fmla="*/ 0 w 213"/>
                    <a:gd name="T11" fmla="*/ 0 h 225"/>
                    <a:gd name="T12" fmla="*/ 0 w 213"/>
                    <a:gd name="T13" fmla="*/ 0 h 225"/>
                    <a:gd name="T14" fmla="*/ 0 w 213"/>
                    <a:gd name="T15" fmla="*/ 0 h 225"/>
                    <a:gd name="T16" fmla="*/ 0 w 213"/>
                    <a:gd name="T17" fmla="*/ 0 h 225"/>
                    <a:gd name="T18" fmla="*/ 0 w 213"/>
                    <a:gd name="T19" fmla="*/ 0 h 225"/>
                    <a:gd name="T20" fmla="*/ 0 w 213"/>
                    <a:gd name="T21" fmla="*/ 0 h 225"/>
                    <a:gd name="T22" fmla="*/ 0 w 213"/>
                    <a:gd name="T23" fmla="*/ 0 h 225"/>
                    <a:gd name="T24" fmla="*/ 0 w 213"/>
                    <a:gd name="T25" fmla="*/ 0 h 225"/>
                    <a:gd name="T26" fmla="*/ 0 w 213"/>
                    <a:gd name="T27" fmla="*/ 0 h 225"/>
                    <a:gd name="T28" fmla="*/ 0 w 213"/>
                    <a:gd name="T29" fmla="*/ 0 h 225"/>
                    <a:gd name="T30" fmla="*/ 0 w 213"/>
                    <a:gd name="T31" fmla="*/ 0 h 225"/>
                    <a:gd name="T32" fmla="*/ 0 w 213"/>
                    <a:gd name="T33" fmla="*/ 0 h 225"/>
                    <a:gd name="T34" fmla="*/ 0 w 213"/>
                    <a:gd name="T35" fmla="*/ 0 h 225"/>
                    <a:gd name="T36" fmla="*/ 0 w 213"/>
                    <a:gd name="T37" fmla="*/ 0 h 225"/>
                    <a:gd name="T38" fmla="*/ 0 w 213"/>
                    <a:gd name="T39" fmla="*/ 0 h 225"/>
                    <a:gd name="T40" fmla="*/ 0 w 213"/>
                    <a:gd name="T41" fmla="*/ 0 h 225"/>
                    <a:gd name="T42" fmla="*/ 0 w 213"/>
                    <a:gd name="T43" fmla="*/ 0 h 225"/>
                    <a:gd name="T44" fmla="*/ 0 w 213"/>
                    <a:gd name="T45" fmla="*/ 0 h 225"/>
                    <a:gd name="T46" fmla="*/ 0 w 213"/>
                    <a:gd name="T47" fmla="*/ 0 h 225"/>
                    <a:gd name="T48" fmla="*/ 0 w 213"/>
                    <a:gd name="T49" fmla="*/ 0 h 225"/>
                    <a:gd name="T50" fmla="*/ 0 w 213"/>
                    <a:gd name="T51" fmla="*/ 0 h 225"/>
                    <a:gd name="T52" fmla="*/ 0 w 213"/>
                    <a:gd name="T53" fmla="*/ 0 h 225"/>
                    <a:gd name="T54" fmla="*/ 0 w 213"/>
                    <a:gd name="T55" fmla="*/ 0 h 225"/>
                    <a:gd name="T56" fmla="*/ 0 w 213"/>
                    <a:gd name="T57" fmla="*/ 0 h 225"/>
                    <a:gd name="T58" fmla="*/ 0 w 213"/>
                    <a:gd name="T59" fmla="*/ 0 h 225"/>
                    <a:gd name="T60" fmla="*/ 0 w 213"/>
                    <a:gd name="T61" fmla="*/ 0 h 225"/>
                    <a:gd name="T62" fmla="*/ 0 w 213"/>
                    <a:gd name="T63" fmla="*/ 0 h 2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3" h="225">
                      <a:moveTo>
                        <a:pt x="106" y="0"/>
                      </a:moveTo>
                      <a:lnTo>
                        <a:pt x="117" y="0"/>
                      </a:lnTo>
                      <a:lnTo>
                        <a:pt x="128" y="3"/>
                      </a:lnTo>
                      <a:lnTo>
                        <a:pt x="138" y="5"/>
                      </a:lnTo>
                      <a:lnTo>
                        <a:pt x="148" y="9"/>
                      </a:lnTo>
                      <a:lnTo>
                        <a:pt x="157" y="13"/>
                      </a:lnTo>
                      <a:lnTo>
                        <a:pt x="166" y="20"/>
                      </a:lnTo>
                      <a:lnTo>
                        <a:pt x="174" y="26"/>
                      </a:lnTo>
                      <a:lnTo>
                        <a:pt x="182" y="33"/>
                      </a:lnTo>
                      <a:lnTo>
                        <a:pt x="188" y="41"/>
                      </a:lnTo>
                      <a:lnTo>
                        <a:pt x="195" y="49"/>
                      </a:lnTo>
                      <a:lnTo>
                        <a:pt x="200" y="59"/>
                      </a:lnTo>
                      <a:lnTo>
                        <a:pt x="204" y="69"/>
                      </a:lnTo>
                      <a:lnTo>
                        <a:pt x="209" y="79"/>
                      </a:lnTo>
                      <a:lnTo>
                        <a:pt x="211" y="90"/>
                      </a:lnTo>
                      <a:lnTo>
                        <a:pt x="213" y="100"/>
                      </a:lnTo>
                      <a:lnTo>
                        <a:pt x="213" y="112"/>
                      </a:lnTo>
                      <a:lnTo>
                        <a:pt x="213" y="124"/>
                      </a:lnTo>
                      <a:lnTo>
                        <a:pt x="211" y="134"/>
                      </a:lnTo>
                      <a:lnTo>
                        <a:pt x="209" y="145"/>
                      </a:lnTo>
                      <a:lnTo>
                        <a:pt x="204" y="156"/>
                      </a:lnTo>
                      <a:lnTo>
                        <a:pt x="200" y="165"/>
                      </a:lnTo>
                      <a:lnTo>
                        <a:pt x="195" y="175"/>
                      </a:lnTo>
                      <a:lnTo>
                        <a:pt x="188" y="183"/>
                      </a:lnTo>
                      <a:lnTo>
                        <a:pt x="182" y="192"/>
                      </a:lnTo>
                      <a:lnTo>
                        <a:pt x="174" y="198"/>
                      </a:lnTo>
                      <a:lnTo>
                        <a:pt x="166" y="205"/>
                      </a:lnTo>
                      <a:lnTo>
                        <a:pt x="157" y="211"/>
                      </a:lnTo>
                      <a:lnTo>
                        <a:pt x="148" y="215"/>
                      </a:lnTo>
                      <a:lnTo>
                        <a:pt x="138" y="219"/>
                      </a:lnTo>
                      <a:lnTo>
                        <a:pt x="128" y="222"/>
                      </a:lnTo>
                      <a:lnTo>
                        <a:pt x="117" y="224"/>
                      </a:lnTo>
                      <a:lnTo>
                        <a:pt x="106" y="225"/>
                      </a:lnTo>
                      <a:lnTo>
                        <a:pt x="96" y="224"/>
                      </a:lnTo>
                      <a:lnTo>
                        <a:pt x="85" y="222"/>
                      </a:lnTo>
                      <a:lnTo>
                        <a:pt x="74" y="219"/>
                      </a:lnTo>
                      <a:lnTo>
                        <a:pt x="65" y="215"/>
                      </a:lnTo>
                      <a:lnTo>
                        <a:pt x="56" y="211"/>
                      </a:lnTo>
                      <a:lnTo>
                        <a:pt x="47" y="205"/>
                      </a:lnTo>
                      <a:lnTo>
                        <a:pt x="39" y="198"/>
                      </a:lnTo>
                      <a:lnTo>
                        <a:pt x="32" y="192"/>
                      </a:lnTo>
                      <a:lnTo>
                        <a:pt x="24" y="183"/>
                      </a:lnTo>
                      <a:lnTo>
                        <a:pt x="18" y="175"/>
                      </a:lnTo>
                      <a:lnTo>
                        <a:pt x="13" y="165"/>
                      </a:lnTo>
                      <a:lnTo>
                        <a:pt x="8" y="156"/>
                      </a:lnTo>
                      <a:lnTo>
                        <a:pt x="5" y="145"/>
                      </a:lnTo>
                      <a:lnTo>
                        <a:pt x="2" y="134"/>
                      </a:lnTo>
                      <a:lnTo>
                        <a:pt x="1" y="124"/>
                      </a:lnTo>
                      <a:lnTo>
                        <a:pt x="0" y="112"/>
                      </a:lnTo>
                      <a:lnTo>
                        <a:pt x="1" y="100"/>
                      </a:lnTo>
                      <a:lnTo>
                        <a:pt x="2" y="90"/>
                      </a:lnTo>
                      <a:lnTo>
                        <a:pt x="5" y="79"/>
                      </a:lnTo>
                      <a:lnTo>
                        <a:pt x="8" y="69"/>
                      </a:lnTo>
                      <a:lnTo>
                        <a:pt x="13" y="59"/>
                      </a:lnTo>
                      <a:lnTo>
                        <a:pt x="18" y="49"/>
                      </a:lnTo>
                      <a:lnTo>
                        <a:pt x="24" y="41"/>
                      </a:lnTo>
                      <a:lnTo>
                        <a:pt x="32" y="33"/>
                      </a:lnTo>
                      <a:lnTo>
                        <a:pt x="39" y="26"/>
                      </a:lnTo>
                      <a:lnTo>
                        <a:pt x="47" y="20"/>
                      </a:lnTo>
                      <a:lnTo>
                        <a:pt x="56" y="13"/>
                      </a:lnTo>
                      <a:lnTo>
                        <a:pt x="65" y="9"/>
                      </a:lnTo>
                      <a:lnTo>
                        <a:pt x="74" y="5"/>
                      </a:lnTo>
                      <a:lnTo>
                        <a:pt x="85" y="3"/>
                      </a:lnTo>
                      <a:lnTo>
                        <a:pt x="96" y="0"/>
                      </a:lnTo>
                      <a:lnTo>
                        <a:pt x="106" y="0"/>
                      </a:lnTo>
                    </a:path>
                  </a:pathLst>
                </a:custGeom>
                <a:gradFill rotWithShape="0">
                  <a:gsLst>
                    <a:gs pos="0">
                      <a:srgbClr val="FFE0B2"/>
                    </a:gs>
                    <a:gs pos="100000">
                      <a:srgbClr val="FF9900"/>
                    </a:gs>
                  </a:gsLst>
                  <a:path path="rect">
                    <a:fillToRect l="50000" t="50000" r="50000" b="50000"/>
                  </a:path>
                </a:gradFill>
                <a:ln w="1588">
                  <a:solidFill>
                    <a:srgbClr val="1F1A17"/>
                  </a:solidFill>
                  <a:prstDash val="solid"/>
                  <a:round/>
                  <a:headEnd/>
                  <a:tailEnd/>
                </a:ln>
              </p:spPr>
              <p:txBody>
                <a:bodyPr/>
                <a:lstStyle/>
                <a:p>
                  <a:endParaRPr lang="en-US"/>
                </a:p>
              </p:txBody>
            </p:sp>
            <p:sp>
              <p:nvSpPr>
                <p:cNvPr id="389054" name="Freeform 2391"/>
                <p:cNvSpPr>
                  <a:spLocks noChangeAspect="1"/>
                </p:cNvSpPr>
                <p:nvPr/>
              </p:nvSpPr>
              <p:spPr bwMode="auto">
                <a:xfrm>
                  <a:off x="5356" y="2474"/>
                  <a:ext cx="14" cy="14"/>
                </a:xfrm>
                <a:custGeom>
                  <a:avLst/>
                  <a:gdLst>
                    <a:gd name="T0" fmla="*/ 0 w 43"/>
                    <a:gd name="T1" fmla="*/ 0 h 42"/>
                    <a:gd name="T2" fmla="*/ 0 w 43"/>
                    <a:gd name="T3" fmla="*/ 0 h 42"/>
                    <a:gd name="T4" fmla="*/ 0 w 43"/>
                    <a:gd name="T5" fmla="*/ 0 h 42"/>
                    <a:gd name="T6" fmla="*/ 0 w 43"/>
                    <a:gd name="T7" fmla="*/ 0 h 42"/>
                    <a:gd name="T8" fmla="*/ 0 w 43"/>
                    <a:gd name="T9" fmla="*/ 0 h 42"/>
                    <a:gd name="T10" fmla="*/ 0 w 43"/>
                    <a:gd name="T11" fmla="*/ 0 h 42"/>
                    <a:gd name="T12" fmla="*/ 0 w 43"/>
                    <a:gd name="T13" fmla="*/ 0 h 42"/>
                    <a:gd name="T14" fmla="*/ 0 w 43"/>
                    <a:gd name="T15" fmla="*/ 0 h 42"/>
                    <a:gd name="T16" fmla="*/ 0 w 43"/>
                    <a:gd name="T17" fmla="*/ 0 h 42"/>
                    <a:gd name="T18" fmla="*/ 0 w 43"/>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 h="42">
                      <a:moveTo>
                        <a:pt x="0" y="42"/>
                      </a:moveTo>
                      <a:lnTo>
                        <a:pt x="43" y="0"/>
                      </a:lnTo>
                      <a:lnTo>
                        <a:pt x="39" y="7"/>
                      </a:lnTo>
                      <a:lnTo>
                        <a:pt x="35" y="13"/>
                      </a:lnTo>
                      <a:lnTo>
                        <a:pt x="29" y="19"/>
                      </a:lnTo>
                      <a:lnTo>
                        <a:pt x="24" y="24"/>
                      </a:lnTo>
                      <a:lnTo>
                        <a:pt x="19" y="30"/>
                      </a:lnTo>
                      <a:lnTo>
                        <a:pt x="13" y="34"/>
                      </a:lnTo>
                      <a:lnTo>
                        <a:pt x="7" y="38"/>
                      </a:lnTo>
                      <a:lnTo>
                        <a:pt x="0" y="42"/>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55" name="Freeform 2392"/>
                <p:cNvSpPr>
                  <a:spLocks noChangeAspect="1"/>
                </p:cNvSpPr>
                <p:nvPr/>
              </p:nvSpPr>
              <p:spPr bwMode="auto">
                <a:xfrm>
                  <a:off x="5351" y="2469"/>
                  <a:ext cx="22" cy="22"/>
                </a:xfrm>
                <a:custGeom>
                  <a:avLst/>
                  <a:gdLst>
                    <a:gd name="T0" fmla="*/ 0 w 66"/>
                    <a:gd name="T1" fmla="*/ 0 h 66"/>
                    <a:gd name="T2" fmla="*/ 0 w 66"/>
                    <a:gd name="T3" fmla="*/ 0 h 66"/>
                    <a:gd name="T4" fmla="*/ 0 w 66"/>
                    <a:gd name="T5" fmla="*/ 0 h 66"/>
                    <a:gd name="T6" fmla="*/ 0 w 66"/>
                    <a:gd name="T7" fmla="*/ 0 h 66"/>
                    <a:gd name="T8" fmla="*/ 0 w 66"/>
                    <a:gd name="T9" fmla="*/ 0 h 66"/>
                    <a:gd name="T10" fmla="*/ 0 w 66"/>
                    <a:gd name="T11" fmla="*/ 0 h 66"/>
                    <a:gd name="T12" fmla="*/ 0 w 66"/>
                    <a:gd name="T13" fmla="*/ 0 h 66"/>
                    <a:gd name="T14" fmla="*/ 0 w 66"/>
                    <a:gd name="T15" fmla="*/ 0 h 66"/>
                    <a:gd name="T16" fmla="*/ 0 w 66"/>
                    <a:gd name="T17" fmla="*/ 0 h 66"/>
                    <a:gd name="T18" fmla="*/ 0 w 66"/>
                    <a:gd name="T19" fmla="*/ 0 h 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 h="66">
                      <a:moveTo>
                        <a:pt x="0" y="66"/>
                      </a:moveTo>
                      <a:lnTo>
                        <a:pt x="66" y="0"/>
                      </a:lnTo>
                      <a:lnTo>
                        <a:pt x="60" y="12"/>
                      </a:lnTo>
                      <a:lnTo>
                        <a:pt x="55" y="22"/>
                      </a:lnTo>
                      <a:lnTo>
                        <a:pt x="47" y="32"/>
                      </a:lnTo>
                      <a:lnTo>
                        <a:pt x="39" y="40"/>
                      </a:lnTo>
                      <a:lnTo>
                        <a:pt x="30" y="49"/>
                      </a:lnTo>
                      <a:lnTo>
                        <a:pt x="21" y="55"/>
                      </a:lnTo>
                      <a:lnTo>
                        <a:pt x="10" y="61"/>
                      </a:lnTo>
                      <a:lnTo>
                        <a:pt x="0" y="6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56" name="Freeform 2393"/>
                <p:cNvSpPr>
                  <a:spLocks noChangeAspect="1"/>
                </p:cNvSpPr>
                <p:nvPr/>
              </p:nvSpPr>
              <p:spPr bwMode="auto">
                <a:xfrm>
                  <a:off x="5347" y="2464"/>
                  <a:ext cx="27" cy="28"/>
                </a:xfrm>
                <a:custGeom>
                  <a:avLst/>
                  <a:gdLst>
                    <a:gd name="T0" fmla="*/ 0 w 82"/>
                    <a:gd name="T1" fmla="*/ 0 h 82"/>
                    <a:gd name="T2" fmla="*/ 0 w 82"/>
                    <a:gd name="T3" fmla="*/ 0 h 82"/>
                    <a:gd name="T4" fmla="*/ 0 w 82"/>
                    <a:gd name="T5" fmla="*/ 0 h 82"/>
                    <a:gd name="T6" fmla="*/ 0 w 82"/>
                    <a:gd name="T7" fmla="*/ 0 h 82"/>
                    <a:gd name="T8" fmla="*/ 0 w 82"/>
                    <a:gd name="T9" fmla="*/ 0 h 82"/>
                    <a:gd name="T10" fmla="*/ 0 w 82"/>
                    <a:gd name="T11" fmla="*/ 0 h 82"/>
                    <a:gd name="T12" fmla="*/ 0 w 82"/>
                    <a:gd name="T13" fmla="*/ 0 h 82"/>
                    <a:gd name="T14" fmla="*/ 0 w 82"/>
                    <a:gd name="T15" fmla="*/ 0 h 82"/>
                    <a:gd name="T16" fmla="*/ 0 w 82"/>
                    <a:gd name="T17" fmla="*/ 0 h 82"/>
                    <a:gd name="T18" fmla="*/ 0 w 82"/>
                    <a:gd name="T19" fmla="*/ 0 h 82"/>
                    <a:gd name="T20" fmla="*/ 0 w 82"/>
                    <a:gd name="T21" fmla="*/ 0 h 82"/>
                    <a:gd name="T22" fmla="*/ 0 w 82"/>
                    <a:gd name="T23" fmla="*/ 0 h 82"/>
                    <a:gd name="T24" fmla="*/ 0 w 82"/>
                    <a:gd name="T25" fmla="*/ 0 h 82"/>
                    <a:gd name="T26" fmla="*/ 0 w 82"/>
                    <a:gd name="T27" fmla="*/ 0 h 82"/>
                    <a:gd name="T28" fmla="*/ 0 w 82"/>
                    <a:gd name="T29" fmla="*/ 0 h 82"/>
                    <a:gd name="T30" fmla="*/ 0 w 82"/>
                    <a:gd name="T31" fmla="*/ 0 h 82"/>
                    <a:gd name="T32" fmla="*/ 0 w 82"/>
                    <a:gd name="T33" fmla="*/ 0 h 82"/>
                    <a:gd name="T34" fmla="*/ 0 w 82"/>
                    <a:gd name="T35" fmla="*/ 0 h 82"/>
                    <a:gd name="T36" fmla="*/ 0 w 82"/>
                    <a:gd name="T37" fmla="*/ 0 h 8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2" h="82">
                      <a:moveTo>
                        <a:pt x="70" y="29"/>
                      </a:moveTo>
                      <a:lnTo>
                        <a:pt x="27" y="71"/>
                      </a:lnTo>
                      <a:lnTo>
                        <a:pt x="24" y="74"/>
                      </a:lnTo>
                      <a:lnTo>
                        <a:pt x="21" y="75"/>
                      </a:lnTo>
                      <a:lnTo>
                        <a:pt x="18" y="77"/>
                      </a:lnTo>
                      <a:lnTo>
                        <a:pt x="14" y="78"/>
                      </a:lnTo>
                      <a:lnTo>
                        <a:pt x="10" y="79"/>
                      </a:lnTo>
                      <a:lnTo>
                        <a:pt x="7" y="80"/>
                      </a:lnTo>
                      <a:lnTo>
                        <a:pt x="3" y="81"/>
                      </a:lnTo>
                      <a:lnTo>
                        <a:pt x="0" y="82"/>
                      </a:lnTo>
                      <a:lnTo>
                        <a:pt x="82" y="0"/>
                      </a:lnTo>
                      <a:lnTo>
                        <a:pt x="81" y="4"/>
                      </a:lnTo>
                      <a:lnTo>
                        <a:pt x="79" y="8"/>
                      </a:lnTo>
                      <a:lnTo>
                        <a:pt x="78" y="12"/>
                      </a:lnTo>
                      <a:lnTo>
                        <a:pt x="76" y="15"/>
                      </a:lnTo>
                      <a:lnTo>
                        <a:pt x="75" y="19"/>
                      </a:lnTo>
                      <a:lnTo>
                        <a:pt x="73" y="23"/>
                      </a:lnTo>
                      <a:lnTo>
                        <a:pt x="71" y="26"/>
                      </a:lnTo>
                      <a:lnTo>
                        <a:pt x="70" y="2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57" name="Freeform 2394"/>
                <p:cNvSpPr>
                  <a:spLocks noChangeAspect="1"/>
                </p:cNvSpPr>
                <p:nvPr/>
              </p:nvSpPr>
              <p:spPr bwMode="auto">
                <a:xfrm>
                  <a:off x="5343" y="2461"/>
                  <a:ext cx="32" cy="31"/>
                </a:xfrm>
                <a:custGeom>
                  <a:avLst/>
                  <a:gdLst>
                    <a:gd name="T0" fmla="*/ 0 w 95"/>
                    <a:gd name="T1" fmla="*/ 0 h 94"/>
                    <a:gd name="T2" fmla="*/ 0 w 95"/>
                    <a:gd name="T3" fmla="*/ 0 h 94"/>
                    <a:gd name="T4" fmla="*/ 0 w 95"/>
                    <a:gd name="T5" fmla="*/ 0 h 94"/>
                    <a:gd name="T6" fmla="*/ 0 w 95"/>
                    <a:gd name="T7" fmla="*/ 0 h 94"/>
                    <a:gd name="T8" fmla="*/ 0 w 95"/>
                    <a:gd name="T9" fmla="*/ 0 h 94"/>
                    <a:gd name="T10" fmla="*/ 0 w 95"/>
                    <a:gd name="T11" fmla="*/ 0 h 94"/>
                    <a:gd name="T12" fmla="*/ 0 w 95"/>
                    <a:gd name="T13" fmla="*/ 0 h 94"/>
                    <a:gd name="T14" fmla="*/ 0 w 95"/>
                    <a:gd name="T15" fmla="*/ 0 h 94"/>
                    <a:gd name="T16" fmla="*/ 0 w 95"/>
                    <a:gd name="T17" fmla="*/ 0 h 94"/>
                    <a:gd name="T18" fmla="*/ 0 w 95"/>
                    <a:gd name="T19" fmla="*/ 0 h 94"/>
                    <a:gd name="T20" fmla="*/ 0 w 95"/>
                    <a:gd name="T21" fmla="*/ 0 h 94"/>
                    <a:gd name="T22" fmla="*/ 0 w 95"/>
                    <a:gd name="T23" fmla="*/ 0 h 94"/>
                    <a:gd name="T24" fmla="*/ 0 w 95"/>
                    <a:gd name="T25" fmla="*/ 0 h 94"/>
                    <a:gd name="T26" fmla="*/ 0 w 95"/>
                    <a:gd name="T27" fmla="*/ 0 h 94"/>
                    <a:gd name="T28" fmla="*/ 0 w 95"/>
                    <a:gd name="T29" fmla="*/ 0 h 94"/>
                    <a:gd name="T30" fmla="*/ 0 w 95"/>
                    <a:gd name="T31" fmla="*/ 0 h 94"/>
                    <a:gd name="T32" fmla="*/ 0 w 95"/>
                    <a:gd name="T33" fmla="*/ 0 h 94"/>
                    <a:gd name="T34" fmla="*/ 0 w 95"/>
                    <a:gd name="T35" fmla="*/ 0 h 94"/>
                    <a:gd name="T36" fmla="*/ 0 w 95"/>
                    <a:gd name="T37" fmla="*/ 0 h 9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5" h="94">
                      <a:moveTo>
                        <a:pt x="89" y="23"/>
                      </a:moveTo>
                      <a:lnTo>
                        <a:pt x="23" y="89"/>
                      </a:lnTo>
                      <a:lnTo>
                        <a:pt x="20" y="90"/>
                      </a:lnTo>
                      <a:lnTo>
                        <a:pt x="17" y="90"/>
                      </a:lnTo>
                      <a:lnTo>
                        <a:pt x="14" y="91"/>
                      </a:lnTo>
                      <a:lnTo>
                        <a:pt x="12" y="92"/>
                      </a:lnTo>
                      <a:lnTo>
                        <a:pt x="9" y="92"/>
                      </a:lnTo>
                      <a:lnTo>
                        <a:pt x="6" y="93"/>
                      </a:lnTo>
                      <a:lnTo>
                        <a:pt x="3" y="93"/>
                      </a:lnTo>
                      <a:lnTo>
                        <a:pt x="0" y="94"/>
                      </a:lnTo>
                      <a:lnTo>
                        <a:pt x="95" y="0"/>
                      </a:lnTo>
                      <a:lnTo>
                        <a:pt x="94" y="3"/>
                      </a:lnTo>
                      <a:lnTo>
                        <a:pt x="94" y="6"/>
                      </a:lnTo>
                      <a:lnTo>
                        <a:pt x="93" y="8"/>
                      </a:lnTo>
                      <a:lnTo>
                        <a:pt x="92" y="11"/>
                      </a:lnTo>
                      <a:lnTo>
                        <a:pt x="91" y="14"/>
                      </a:lnTo>
                      <a:lnTo>
                        <a:pt x="91" y="18"/>
                      </a:lnTo>
                      <a:lnTo>
                        <a:pt x="90" y="20"/>
                      </a:lnTo>
                      <a:lnTo>
                        <a:pt x="89" y="2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58" name="Freeform 2395"/>
                <p:cNvSpPr>
                  <a:spLocks noChangeAspect="1"/>
                </p:cNvSpPr>
                <p:nvPr/>
              </p:nvSpPr>
              <p:spPr bwMode="auto">
                <a:xfrm>
                  <a:off x="5340" y="2458"/>
                  <a:ext cx="35" cy="34"/>
                </a:xfrm>
                <a:custGeom>
                  <a:avLst/>
                  <a:gdLst>
                    <a:gd name="T0" fmla="*/ 0 w 104"/>
                    <a:gd name="T1" fmla="*/ 0 h 104"/>
                    <a:gd name="T2" fmla="*/ 0 w 104"/>
                    <a:gd name="T3" fmla="*/ 0 h 104"/>
                    <a:gd name="T4" fmla="*/ 0 w 104"/>
                    <a:gd name="T5" fmla="*/ 0 h 104"/>
                    <a:gd name="T6" fmla="*/ 0 w 104"/>
                    <a:gd name="T7" fmla="*/ 0 h 104"/>
                    <a:gd name="T8" fmla="*/ 0 w 104"/>
                    <a:gd name="T9" fmla="*/ 0 h 104"/>
                    <a:gd name="T10" fmla="*/ 0 w 104"/>
                    <a:gd name="T11" fmla="*/ 0 h 104"/>
                    <a:gd name="T12" fmla="*/ 0 w 104"/>
                    <a:gd name="T13" fmla="*/ 0 h 104"/>
                    <a:gd name="T14" fmla="*/ 0 w 104"/>
                    <a:gd name="T15" fmla="*/ 0 h 104"/>
                    <a:gd name="T16" fmla="*/ 0 w 104"/>
                    <a:gd name="T17" fmla="*/ 0 h 104"/>
                    <a:gd name="T18" fmla="*/ 0 w 104"/>
                    <a:gd name="T19" fmla="*/ 0 h 104"/>
                    <a:gd name="T20" fmla="*/ 0 w 104"/>
                    <a:gd name="T21" fmla="*/ 0 h 104"/>
                    <a:gd name="T22" fmla="*/ 0 w 104"/>
                    <a:gd name="T23" fmla="*/ 0 h 104"/>
                    <a:gd name="T24" fmla="*/ 0 w 104"/>
                    <a:gd name="T25" fmla="*/ 0 h 104"/>
                    <a:gd name="T26" fmla="*/ 0 w 104"/>
                    <a:gd name="T27" fmla="*/ 0 h 104"/>
                    <a:gd name="T28" fmla="*/ 0 w 104"/>
                    <a:gd name="T29" fmla="*/ 0 h 104"/>
                    <a:gd name="T30" fmla="*/ 0 w 104"/>
                    <a:gd name="T31" fmla="*/ 0 h 104"/>
                    <a:gd name="T32" fmla="*/ 0 w 104"/>
                    <a:gd name="T33" fmla="*/ 0 h 104"/>
                    <a:gd name="T34" fmla="*/ 0 w 104"/>
                    <a:gd name="T35" fmla="*/ 0 h 104"/>
                    <a:gd name="T36" fmla="*/ 0 w 104"/>
                    <a:gd name="T37" fmla="*/ 0 h 10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4" h="104">
                      <a:moveTo>
                        <a:pt x="102" y="20"/>
                      </a:moveTo>
                      <a:lnTo>
                        <a:pt x="20" y="102"/>
                      </a:lnTo>
                      <a:lnTo>
                        <a:pt x="17" y="102"/>
                      </a:lnTo>
                      <a:lnTo>
                        <a:pt x="15" y="103"/>
                      </a:lnTo>
                      <a:lnTo>
                        <a:pt x="12" y="103"/>
                      </a:lnTo>
                      <a:lnTo>
                        <a:pt x="10" y="103"/>
                      </a:lnTo>
                      <a:lnTo>
                        <a:pt x="7" y="104"/>
                      </a:lnTo>
                      <a:lnTo>
                        <a:pt x="5" y="104"/>
                      </a:lnTo>
                      <a:lnTo>
                        <a:pt x="3" y="104"/>
                      </a:lnTo>
                      <a:lnTo>
                        <a:pt x="0" y="104"/>
                      </a:lnTo>
                      <a:lnTo>
                        <a:pt x="104" y="0"/>
                      </a:lnTo>
                      <a:lnTo>
                        <a:pt x="104" y="2"/>
                      </a:lnTo>
                      <a:lnTo>
                        <a:pt x="104" y="5"/>
                      </a:lnTo>
                      <a:lnTo>
                        <a:pt x="104" y="7"/>
                      </a:lnTo>
                      <a:lnTo>
                        <a:pt x="103" y="11"/>
                      </a:lnTo>
                      <a:lnTo>
                        <a:pt x="103" y="13"/>
                      </a:lnTo>
                      <a:lnTo>
                        <a:pt x="103" y="15"/>
                      </a:lnTo>
                      <a:lnTo>
                        <a:pt x="102" y="18"/>
                      </a:lnTo>
                      <a:lnTo>
                        <a:pt x="102" y="2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59" name="Freeform 2396"/>
                <p:cNvSpPr>
                  <a:spLocks noChangeAspect="1"/>
                </p:cNvSpPr>
                <p:nvPr/>
              </p:nvSpPr>
              <p:spPr bwMode="auto">
                <a:xfrm>
                  <a:off x="5337" y="2454"/>
                  <a:ext cx="38" cy="38"/>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w 114"/>
                    <a:gd name="T13" fmla="*/ 0 h 114"/>
                    <a:gd name="T14" fmla="*/ 0 w 114"/>
                    <a:gd name="T15" fmla="*/ 0 h 114"/>
                    <a:gd name="T16" fmla="*/ 0 w 114"/>
                    <a:gd name="T17" fmla="*/ 0 h 114"/>
                    <a:gd name="T18" fmla="*/ 0 w 114"/>
                    <a:gd name="T19" fmla="*/ 0 h 114"/>
                    <a:gd name="T20" fmla="*/ 0 w 114"/>
                    <a:gd name="T21" fmla="*/ 0 h 114"/>
                    <a:gd name="T22" fmla="*/ 0 w 114"/>
                    <a:gd name="T23" fmla="*/ 0 h 114"/>
                    <a:gd name="T24" fmla="*/ 0 w 114"/>
                    <a:gd name="T25" fmla="*/ 0 h 114"/>
                    <a:gd name="T26" fmla="*/ 0 w 114"/>
                    <a:gd name="T27" fmla="*/ 0 h 114"/>
                    <a:gd name="T28" fmla="*/ 0 w 114"/>
                    <a:gd name="T29" fmla="*/ 0 h 114"/>
                    <a:gd name="T30" fmla="*/ 0 w 114"/>
                    <a:gd name="T31" fmla="*/ 0 h 114"/>
                    <a:gd name="T32" fmla="*/ 0 w 114"/>
                    <a:gd name="T33" fmla="*/ 0 h 114"/>
                    <a:gd name="T34" fmla="*/ 0 w 114"/>
                    <a:gd name="T35" fmla="*/ 0 h 114"/>
                    <a:gd name="T36" fmla="*/ 0 w 114"/>
                    <a:gd name="T37" fmla="*/ 0 h 114"/>
                    <a:gd name="T38" fmla="*/ 0 w 114"/>
                    <a:gd name="T39" fmla="*/ 0 h 114"/>
                    <a:gd name="T40" fmla="*/ 0 w 114"/>
                    <a:gd name="T41" fmla="*/ 0 h 114"/>
                    <a:gd name="T42" fmla="*/ 0 w 114"/>
                    <a:gd name="T43" fmla="*/ 0 h 114"/>
                    <a:gd name="T44" fmla="*/ 0 w 114"/>
                    <a:gd name="T45" fmla="*/ 0 h 114"/>
                    <a:gd name="T46" fmla="*/ 0 w 114"/>
                    <a:gd name="T47" fmla="*/ 0 h 114"/>
                    <a:gd name="T48" fmla="*/ 0 w 114"/>
                    <a:gd name="T49" fmla="*/ 0 h 114"/>
                    <a:gd name="T50" fmla="*/ 0 w 114"/>
                    <a:gd name="T51" fmla="*/ 0 h 114"/>
                    <a:gd name="T52" fmla="*/ 0 w 114"/>
                    <a:gd name="T53" fmla="*/ 0 h 114"/>
                    <a:gd name="T54" fmla="*/ 0 w 114"/>
                    <a:gd name="T55" fmla="*/ 0 h 114"/>
                    <a:gd name="T56" fmla="*/ 0 w 114"/>
                    <a:gd name="T57" fmla="*/ 0 h 114"/>
                    <a:gd name="T58" fmla="*/ 0 w 114"/>
                    <a:gd name="T59" fmla="*/ 0 h 114"/>
                    <a:gd name="T60" fmla="*/ 0 w 114"/>
                    <a:gd name="T61" fmla="*/ 0 h 114"/>
                    <a:gd name="T62" fmla="*/ 0 w 114"/>
                    <a:gd name="T63" fmla="*/ 0 h 114"/>
                    <a:gd name="T64" fmla="*/ 0 w 114"/>
                    <a:gd name="T65" fmla="*/ 0 h 114"/>
                    <a:gd name="T66" fmla="*/ 0 w 114"/>
                    <a:gd name="T67" fmla="*/ 0 h 114"/>
                    <a:gd name="T68" fmla="*/ 0 w 114"/>
                    <a:gd name="T69" fmla="*/ 0 h 11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4" h="114">
                      <a:moveTo>
                        <a:pt x="113" y="20"/>
                      </a:moveTo>
                      <a:lnTo>
                        <a:pt x="18" y="114"/>
                      </a:lnTo>
                      <a:lnTo>
                        <a:pt x="17" y="114"/>
                      </a:lnTo>
                      <a:lnTo>
                        <a:pt x="15" y="114"/>
                      </a:lnTo>
                      <a:lnTo>
                        <a:pt x="14" y="114"/>
                      </a:lnTo>
                      <a:lnTo>
                        <a:pt x="13" y="114"/>
                      </a:lnTo>
                      <a:lnTo>
                        <a:pt x="12" y="114"/>
                      </a:lnTo>
                      <a:lnTo>
                        <a:pt x="10" y="114"/>
                      </a:lnTo>
                      <a:lnTo>
                        <a:pt x="9" y="114"/>
                      </a:lnTo>
                      <a:lnTo>
                        <a:pt x="8" y="114"/>
                      </a:lnTo>
                      <a:lnTo>
                        <a:pt x="6" y="114"/>
                      </a:lnTo>
                      <a:lnTo>
                        <a:pt x="5" y="114"/>
                      </a:lnTo>
                      <a:lnTo>
                        <a:pt x="4" y="114"/>
                      </a:lnTo>
                      <a:lnTo>
                        <a:pt x="3" y="114"/>
                      </a:lnTo>
                      <a:lnTo>
                        <a:pt x="2" y="114"/>
                      </a:lnTo>
                      <a:lnTo>
                        <a:pt x="1" y="114"/>
                      </a:lnTo>
                      <a:lnTo>
                        <a:pt x="0" y="114"/>
                      </a:lnTo>
                      <a:lnTo>
                        <a:pt x="114" y="0"/>
                      </a:lnTo>
                      <a:lnTo>
                        <a:pt x="114" y="1"/>
                      </a:lnTo>
                      <a:lnTo>
                        <a:pt x="114" y="3"/>
                      </a:lnTo>
                      <a:lnTo>
                        <a:pt x="114" y="5"/>
                      </a:lnTo>
                      <a:lnTo>
                        <a:pt x="114" y="7"/>
                      </a:lnTo>
                      <a:lnTo>
                        <a:pt x="114" y="9"/>
                      </a:lnTo>
                      <a:lnTo>
                        <a:pt x="113" y="11"/>
                      </a:lnTo>
                      <a:lnTo>
                        <a:pt x="113" y="13"/>
                      </a:lnTo>
                      <a:lnTo>
                        <a:pt x="113" y="15"/>
                      </a:lnTo>
                      <a:lnTo>
                        <a:pt x="113" y="17"/>
                      </a:lnTo>
                      <a:lnTo>
                        <a:pt x="113" y="2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60" name="Freeform 2397"/>
                <p:cNvSpPr>
                  <a:spLocks noChangeAspect="1"/>
                </p:cNvSpPr>
                <p:nvPr/>
              </p:nvSpPr>
              <p:spPr bwMode="auto">
                <a:xfrm>
                  <a:off x="5335" y="2452"/>
                  <a:ext cx="40" cy="40"/>
                </a:xfrm>
                <a:custGeom>
                  <a:avLst/>
                  <a:gdLst>
                    <a:gd name="T0" fmla="*/ 0 w 121"/>
                    <a:gd name="T1" fmla="*/ 0 h 122"/>
                    <a:gd name="T2" fmla="*/ 0 w 121"/>
                    <a:gd name="T3" fmla="*/ 0 h 122"/>
                    <a:gd name="T4" fmla="*/ 0 w 121"/>
                    <a:gd name="T5" fmla="*/ 0 h 122"/>
                    <a:gd name="T6" fmla="*/ 0 w 121"/>
                    <a:gd name="T7" fmla="*/ 0 h 122"/>
                    <a:gd name="T8" fmla="*/ 0 w 121"/>
                    <a:gd name="T9" fmla="*/ 0 h 122"/>
                    <a:gd name="T10" fmla="*/ 0 w 121"/>
                    <a:gd name="T11" fmla="*/ 0 h 122"/>
                    <a:gd name="T12" fmla="*/ 0 w 121"/>
                    <a:gd name="T13" fmla="*/ 0 h 122"/>
                    <a:gd name="T14" fmla="*/ 0 w 121"/>
                    <a:gd name="T15" fmla="*/ 0 h 122"/>
                    <a:gd name="T16" fmla="*/ 0 w 121"/>
                    <a:gd name="T17" fmla="*/ 0 h 122"/>
                    <a:gd name="T18" fmla="*/ 0 w 121"/>
                    <a:gd name="T19" fmla="*/ 0 h 122"/>
                    <a:gd name="T20" fmla="*/ 0 w 121"/>
                    <a:gd name="T21" fmla="*/ 0 h 122"/>
                    <a:gd name="T22" fmla="*/ 0 w 121"/>
                    <a:gd name="T23" fmla="*/ 0 h 122"/>
                    <a:gd name="T24" fmla="*/ 0 w 121"/>
                    <a:gd name="T25" fmla="*/ 0 h 122"/>
                    <a:gd name="T26" fmla="*/ 0 w 121"/>
                    <a:gd name="T27" fmla="*/ 0 h 122"/>
                    <a:gd name="T28" fmla="*/ 0 w 121"/>
                    <a:gd name="T29" fmla="*/ 0 h 122"/>
                    <a:gd name="T30" fmla="*/ 0 w 121"/>
                    <a:gd name="T31" fmla="*/ 0 h 122"/>
                    <a:gd name="T32" fmla="*/ 0 w 121"/>
                    <a:gd name="T33" fmla="*/ 0 h 122"/>
                    <a:gd name="T34" fmla="*/ 0 w 121"/>
                    <a:gd name="T35" fmla="*/ 0 h 122"/>
                    <a:gd name="T36" fmla="*/ 0 w 121"/>
                    <a:gd name="T37" fmla="*/ 0 h 122"/>
                    <a:gd name="T38" fmla="*/ 0 w 121"/>
                    <a:gd name="T39" fmla="*/ 0 h 122"/>
                    <a:gd name="T40" fmla="*/ 0 w 121"/>
                    <a:gd name="T41" fmla="*/ 0 h 122"/>
                    <a:gd name="T42" fmla="*/ 0 w 121"/>
                    <a:gd name="T43" fmla="*/ 0 h 122"/>
                    <a:gd name="T44" fmla="*/ 0 w 121"/>
                    <a:gd name="T45" fmla="*/ 0 h 122"/>
                    <a:gd name="T46" fmla="*/ 0 w 121"/>
                    <a:gd name="T47" fmla="*/ 0 h 122"/>
                    <a:gd name="T48" fmla="*/ 0 w 121"/>
                    <a:gd name="T49" fmla="*/ 0 h 122"/>
                    <a:gd name="T50" fmla="*/ 0 w 121"/>
                    <a:gd name="T51" fmla="*/ 0 h 122"/>
                    <a:gd name="T52" fmla="*/ 0 w 121"/>
                    <a:gd name="T53" fmla="*/ 0 h 122"/>
                    <a:gd name="T54" fmla="*/ 0 w 121"/>
                    <a:gd name="T55" fmla="*/ 0 h 122"/>
                    <a:gd name="T56" fmla="*/ 0 w 121"/>
                    <a:gd name="T57" fmla="*/ 0 h 122"/>
                    <a:gd name="T58" fmla="*/ 0 w 121"/>
                    <a:gd name="T59" fmla="*/ 0 h 122"/>
                    <a:gd name="T60" fmla="*/ 0 w 121"/>
                    <a:gd name="T61" fmla="*/ 0 h 122"/>
                    <a:gd name="T62" fmla="*/ 0 w 121"/>
                    <a:gd name="T63" fmla="*/ 0 h 122"/>
                    <a:gd name="T64" fmla="*/ 0 w 121"/>
                    <a:gd name="T65" fmla="*/ 0 h 122"/>
                    <a:gd name="T66" fmla="*/ 0 w 121"/>
                    <a:gd name="T67" fmla="*/ 0 h 122"/>
                    <a:gd name="T68" fmla="*/ 0 w 121"/>
                    <a:gd name="T69" fmla="*/ 0 h 12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1" h="122">
                      <a:moveTo>
                        <a:pt x="120" y="18"/>
                      </a:moveTo>
                      <a:lnTo>
                        <a:pt x="16" y="122"/>
                      </a:lnTo>
                      <a:lnTo>
                        <a:pt x="15" y="122"/>
                      </a:lnTo>
                      <a:lnTo>
                        <a:pt x="12" y="122"/>
                      </a:lnTo>
                      <a:lnTo>
                        <a:pt x="10" y="122"/>
                      </a:lnTo>
                      <a:lnTo>
                        <a:pt x="8" y="122"/>
                      </a:lnTo>
                      <a:lnTo>
                        <a:pt x="7" y="122"/>
                      </a:lnTo>
                      <a:lnTo>
                        <a:pt x="5" y="122"/>
                      </a:lnTo>
                      <a:lnTo>
                        <a:pt x="3" y="121"/>
                      </a:lnTo>
                      <a:lnTo>
                        <a:pt x="1" y="121"/>
                      </a:lnTo>
                      <a:lnTo>
                        <a:pt x="0" y="121"/>
                      </a:lnTo>
                      <a:lnTo>
                        <a:pt x="120" y="0"/>
                      </a:lnTo>
                      <a:lnTo>
                        <a:pt x="120" y="2"/>
                      </a:lnTo>
                      <a:lnTo>
                        <a:pt x="120" y="3"/>
                      </a:lnTo>
                      <a:lnTo>
                        <a:pt x="121" y="4"/>
                      </a:lnTo>
                      <a:lnTo>
                        <a:pt x="121" y="5"/>
                      </a:lnTo>
                      <a:lnTo>
                        <a:pt x="121" y="6"/>
                      </a:lnTo>
                      <a:lnTo>
                        <a:pt x="121" y="7"/>
                      </a:lnTo>
                      <a:lnTo>
                        <a:pt x="121" y="8"/>
                      </a:lnTo>
                      <a:lnTo>
                        <a:pt x="121" y="11"/>
                      </a:lnTo>
                      <a:lnTo>
                        <a:pt x="121" y="12"/>
                      </a:lnTo>
                      <a:lnTo>
                        <a:pt x="121" y="13"/>
                      </a:lnTo>
                      <a:lnTo>
                        <a:pt x="121" y="14"/>
                      </a:lnTo>
                      <a:lnTo>
                        <a:pt x="121" y="15"/>
                      </a:lnTo>
                      <a:lnTo>
                        <a:pt x="121" y="16"/>
                      </a:lnTo>
                      <a:lnTo>
                        <a:pt x="121" y="17"/>
                      </a:lnTo>
                      <a:lnTo>
                        <a:pt x="120" y="18"/>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61" name="Freeform 2398"/>
                <p:cNvSpPr>
                  <a:spLocks noChangeAspect="1"/>
                </p:cNvSpPr>
                <p:nvPr/>
              </p:nvSpPr>
              <p:spPr bwMode="auto">
                <a:xfrm>
                  <a:off x="5332" y="2449"/>
                  <a:ext cx="43" cy="43"/>
                </a:xfrm>
                <a:custGeom>
                  <a:avLst/>
                  <a:gdLst>
                    <a:gd name="T0" fmla="*/ 0 w 129"/>
                    <a:gd name="T1" fmla="*/ 0 h 130"/>
                    <a:gd name="T2" fmla="*/ 0 w 129"/>
                    <a:gd name="T3" fmla="*/ 0 h 130"/>
                    <a:gd name="T4" fmla="*/ 0 w 129"/>
                    <a:gd name="T5" fmla="*/ 0 h 130"/>
                    <a:gd name="T6" fmla="*/ 0 w 129"/>
                    <a:gd name="T7" fmla="*/ 0 h 130"/>
                    <a:gd name="T8" fmla="*/ 0 w 129"/>
                    <a:gd name="T9" fmla="*/ 0 h 130"/>
                    <a:gd name="T10" fmla="*/ 0 w 129"/>
                    <a:gd name="T11" fmla="*/ 0 h 130"/>
                    <a:gd name="T12" fmla="*/ 0 w 129"/>
                    <a:gd name="T13" fmla="*/ 0 h 130"/>
                    <a:gd name="T14" fmla="*/ 0 w 129"/>
                    <a:gd name="T15" fmla="*/ 0 h 130"/>
                    <a:gd name="T16" fmla="*/ 0 w 129"/>
                    <a:gd name="T17" fmla="*/ 0 h 130"/>
                    <a:gd name="T18" fmla="*/ 0 w 129"/>
                    <a:gd name="T19" fmla="*/ 0 h 130"/>
                    <a:gd name="T20" fmla="*/ 0 w 129"/>
                    <a:gd name="T21" fmla="*/ 0 h 130"/>
                    <a:gd name="T22" fmla="*/ 0 w 129"/>
                    <a:gd name="T23" fmla="*/ 0 h 130"/>
                    <a:gd name="T24" fmla="*/ 0 w 129"/>
                    <a:gd name="T25" fmla="*/ 0 h 130"/>
                    <a:gd name="T26" fmla="*/ 0 w 129"/>
                    <a:gd name="T27" fmla="*/ 0 h 130"/>
                    <a:gd name="T28" fmla="*/ 0 w 129"/>
                    <a:gd name="T29" fmla="*/ 0 h 130"/>
                    <a:gd name="T30" fmla="*/ 0 w 129"/>
                    <a:gd name="T31" fmla="*/ 0 h 130"/>
                    <a:gd name="T32" fmla="*/ 0 w 129"/>
                    <a:gd name="T33" fmla="*/ 0 h 130"/>
                    <a:gd name="T34" fmla="*/ 0 w 129"/>
                    <a:gd name="T35" fmla="*/ 0 h 130"/>
                    <a:gd name="T36" fmla="*/ 0 w 129"/>
                    <a:gd name="T37" fmla="*/ 0 h 1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9" h="130">
                      <a:moveTo>
                        <a:pt x="129" y="16"/>
                      </a:moveTo>
                      <a:lnTo>
                        <a:pt x="15" y="130"/>
                      </a:lnTo>
                      <a:lnTo>
                        <a:pt x="13" y="130"/>
                      </a:lnTo>
                      <a:lnTo>
                        <a:pt x="11" y="130"/>
                      </a:lnTo>
                      <a:lnTo>
                        <a:pt x="10" y="129"/>
                      </a:lnTo>
                      <a:lnTo>
                        <a:pt x="8" y="129"/>
                      </a:lnTo>
                      <a:lnTo>
                        <a:pt x="6" y="129"/>
                      </a:lnTo>
                      <a:lnTo>
                        <a:pt x="3" y="128"/>
                      </a:lnTo>
                      <a:lnTo>
                        <a:pt x="2" y="128"/>
                      </a:lnTo>
                      <a:lnTo>
                        <a:pt x="0" y="128"/>
                      </a:lnTo>
                      <a:lnTo>
                        <a:pt x="127" y="0"/>
                      </a:lnTo>
                      <a:lnTo>
                        <a:pt x="128" y="3"/>
                      </a:lnTo>
                      <a:lnTo>
                        <a:pt x="128" y="5"/>
                      </a:lnTo>
                      <a:lnTo>
                        <a:pt x="128" y="7"/>
                      </a:lnTo>
                      <a:lnTo>
                        <a:pt x="128" y="9"/>
                      </a:lnTo>
                      <a:lnTo>
                        <a:pt x="128" y="11"/>
                      </a:lnTo>
                      <a:lnTo>
                        <a:pt x="129" y="12"/>
                      </a:lnTo>
                      <a:lnTo>
                        <a:pt x="129" y="14"/>
                      </a:lnTo>
                      <a:lnTo>
                        <a:pt x="129" y="1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62" name="Freeform 2399"/>
                <p:cNvSpPr>
                  <a:spLocks noChangeAspect="1"/>
                </p:cNvSpPr>
                <p:nvPr/>
              </p:nvSpPr>
              <p:spPr bwMode="auto">
                <a:xfrm>
                  <a:off x="5330" y="2447"/>
                  <a:ext cx="45" cy="45"/>
                </a:xfrm>
                <a:custGeom>
                  <a:avLst/>
                  <a:gdLst>
                    <a:gd name="T0" fmla="*/ 0 w 135"/>
                    <a:gd name="T1" fmla="*/ 0 h 136"/>
                    <a:gd name="T2" fmla="*/ 0 w 135"/>
                    <a:gd name="T3" fmla="*/ 0 h 136"/>
                    <a:gd name="T4" fmla="*/ 0 w 135"/>
                    <a:gd name="T5" fmla="*/ 0 h 136"/>
                    <a:gd name="T6" fmla="*/ 0 w 135"/>
                    <a:gd name="T7" fmla="*/ 0 h 136"/>
                    <a:gd name="T8" fmla="*/ 0 w 135"/>
                    <a:gd name="T9" fmla="*/ 0 h 136"/>
                    <a:gd name="T10" fmla="*/ 0 w 135"/>
                    <a:gd name="T11" fmla="*/ 0 h 136"/>
                    <a:gd name="T12" fmla="*/ 0 w 135"/>
                    <a:gd name="T13" fmla="*/ 0 h 136"/>
                    <a:gd name="T14" fmla="*/ 0 w 135"/>
                    <a:gd name="T15" fmla="*/ 0 h 136"/>
                    <a:gd name="T16" fmla="*/ 0 w 135"/>
                    <a:gd name="T17" fmla="*/ 0 h 136"/>
                    <a:gd name="T18" fmla="*/ 0 w 135"/>
                    <a:gd name="T19" fmla="*/ 0 h 136"/>
                    <a:gd name="T20" fmla="*/ 0 w 135"/>
                    <a:gd name="T21" fmla="*/ 0 h 136"/>
                    <a:gd name="T22" fmla="*/ 0 w 135"/>
                    <a:gd name="T23" fmla="*/ 0 h 136"/>
                    <a:gd name="T24" fmla="*/ 0 w 135"/>
                    <a:gd name="T25" fmla="*/ 0 h 136"/>
                    <a:gd name="T26" fmla="*/ 0 w 135"/>
                    <a:gd name="T27" fmla="*/ 0 h 136"/>
                    <a:gd name="T28" fmla="*/ 0 w 135"/>
                    <a:gd name="T29" fmla="*/ 0 h 136"/>
                    <a:gd name="T30" fmla="*/ 0 w 135"/>
                    <a:gd name="T31" fmla="*/ 0 h 136"/>
                    <a:gd name="T32" fmla="*/ 0 w 135"/>
                    <a:gd name="T33" fmla="*/ 0 h 136"/>
                    <a:gd name="T34" fmla="*/ 0 w 135"/>
                    <a:gd name="T35" fmla="*/ 0 h 136"/>
                    <a:gd name="T36" fmla="*/ 0 w 135"/>
                    <a:gd name="T37" fmla="*/ 0 h 1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35" h="136">
                      <a:moveTo>
                        <a:pt x="135" y="15"/>
                      </a:moveTo>
                      <a:lnTo>
                        <a:pt x="15" y="136"/>
                      </a:lnTo>
                      <a:lnTo>
                        <a:pt x="13" y="136"/>
                      </a:lnTo>
                      <a:lnTo>
                        <a:pt x="10" y="135"/>
                      </a:lnTo>
                      <a:lnTo>
                        <a:pt x="9" y="135"/>
                      </a:lnTo>
                      <a:lnTo>
                        <a:pt x="7" y="135"/>
                      </a:lnTo>
                      <a:lnTo>
                        <a:pt x="5" y="134"/>
                      </a:lnTo>
                      <a:lnTo>
                        <a:pt x="4" y="134"/>
                      </a:lnTo>
                      <a:lnTo>
                        <a:pt x="2" y="134"/>
                      </a:lnTo>
                      <a:lnTo>
                        <a:pt x="0" y="133"/>
                      </a:lnTo>
                      <a:lnTo>
                        <a:pt x="133" y="0"/>
                      </a:lnTo>
                      <a:lnTo>
                        <a:pt x="134" y="2"/>
                      </a:lnTo>
                      <a:lnTo>
                        <a:pt x="134" y="4"/>
                      </a:lnTo>
                      <a:lnTo>
                        <a:pt x="134" y="5"/>
                      </a:lnTo>
                      <a:lnTo>
                        <a:pt x="135" y="7"/>
                      </a:lnTo>
                      <a:lnTo>
                        <a:pt x="135" y="10"/>
                      </a:lnTo>
                      <a:lnTo>
                        <a:pt x="135" y="12"/>
                      </a:lnTo>
                      <a:lnTo>
                        <a:pt x="135" y="14"/>
                      </a:lnTo>
                      <a:lnTo>
                        <a:pt x="135" y="15"/>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63" name="Freeform 2400"/>
                <p:cNvSpPr>
                  <a:spLocks noChangeAspect="1"/>
                </p:cNvSpPr>
                <p:nvPr/>
              </p:nvSpPr>
              <p:spPr bwMode="auto">
                <a:xfrm>
                  <a:off x="5327" y="2445"/>
                  <a:ext cx="47" cy="47"/>
                </a:xfrm>
                <a:custGeom>
                  <a:avLst/>
                  <a:gdLst>
                    <a:gd name="T0" fmla="*/ 0 w 141"/>
                    <a:gd name="T1" fmla="*/ 0 h 141"/>
                    <a:gd name="T2" fmla="*/ 0 w 141"/>
                    <a:gd name="T3" fmla="*/ 0 h 141"/>
                    <a:gd name="T4" fmla="*/ 0 w 141"/>
                    <a:gd name="T5" fmla="*/ 0 h 141"/>
                    <a:gd name="T6" fmla="*/ 0 w 141"/>
                    <a:gd name="T7" fmla="*/ 0 h 141"/>
                    <a:gd name="T8" fmla="*/ 0 w 141"/>
                    <a:gd name="T9" fmla="*/ 0 h 141"/>
                    <a:gd name="T10" fmla="*/ 0 w 141"/>
                    <a:gd name="T11" fmla="*/ 0 h 141"/>
                    <a:gd name="T12" fmla="*/ 0 w 141"/>
                    <a:gd name="T13" fmla="*/ 0 h 141"/>
                    <a:gd name="T14" fmla="*/ 0 w 141"/>
                    <a:gd name="T15" fmla="*/ 0 h 141"/>
                    <a:gd name="T16" fmla="*/ 0 w 141"/>
                    <a:gd name="T17" fmla="*/ 0 h 141"/>
                    <a:gd name="T18" fmla="*/ 0 w 141"/>
                    <a:gd name="T19" fmla="*/ 0 h 141"/>
                    <a:gd name="T20" fmla="*/ 0 w 141"/>
                    <a:gd name="T21" fmla="*/ 0 h 141"/>
                    <a:gd name="T22" fmla="*/ 0 w 141"/>
                    <a:gd name="T23" fmla="*/ 0 h 141"/>
                    <a:gd name="T24" fmla="*/ 0 w 141"/>
                    <a:gd name="T25" fmla="*/ 0 h 141"/>
                    <a:gd name="T26" fmla="*/ 0 w 141"/>
                    <a:gd name="T27" fmla="*/ 0 h 141"/>
                    <a:gd name="T28" fmla="*/ 0 w 141"/>
                    <a:gd name="T29" fmla="*/ 0 h 141"/>
                    <a:gd name="T30" fmla="*/ 0 w 141"/>
                    <a:gd name="T31" fmla="*/ 0 h 141"/>
                    <a:gd name="T32" fmla="*/ 0 w 141"/>
                    <a:gd name="T33" fmla="*/ 0 h 141"/>
                    <a:gd name="T34" fmla="*/ 0 w 141"/>
                    <a:gd name="T35" fmla="*/ 0 h 141"/>
                    <a:gd name="T36" fmla="*/ 0 w 141"/>
                    <a:gd name="T37" fmla="*/ 0 h 1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1" h="141">
                      <a:moveTo>
                        <a:pt x="141" y="13"/>
                      </a:moveTo>
                      <a:lnTo>
                        <a:pt x="14" y="141"/>
                      </a:lnTo>
                      <a:lnTo>
                        <a:pt x="12" y="140"/>
                      </a:lnTo>
                      <a:lnTo>
                        <a:pt x="11" y="140"/>
                      </a:lnTo>
                      <a:lnTo>
                        <a:pt x="9" y="140"/>
                      </a:lnTo>
                      <a:lnTo>
                        <a:pt x="7" y="139"/>
                      </a:lnTo>
                      <a:lnTo>
                        <a:pt x="6" y="139"/>
                      </a:lnTo>
                      <a:lnTo>
                        <a:pt x="4" y="138"/>
                      </a:lnTo>
                      <a:lnTo>
                        <a:pt x="2" y="137"/>
                      </a:lnTo>
                      <a:lnTo>
                        <a:pt x="0" y="137"/>
                      </a:lnTo>
                      <a:lnTo>
                        <a:pt x="139" y="0"/>
                      </a:lnTo>
                      <a:lnTo>
                        <a:pt x="139" y="1"/>
                      </a:lnTo>
                      <a:lnTo>
                        <a:pt x="139" y="3"/>
                      </a:lnTo>
                      <a:lnTo>
                        <a:pt x="140" y="5"/>
                      </a:lnTo>
                      <a:lnTo>
                        <a:pt x="140" y="6"/>
                      </a:lnTo>
                      <a:lnTo>
                        <a:pt x="141" y="8"/>
                      </a:lnTo>
                      <a:lnTo>
                        <a:pt x="141" y="10"/>
                      </a:lnTo>
                      <a:lnTo>
                        <a:pt x="141" y="11"/>
                      </a:lnTo>
                      <a:lnTo>
                        <a:pt x="141" y="1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64" name="Freeform 2401"/>
                <p:cNvSpPr>
                  <a:spLocks noChangeAspect="1"/>
                </p:cNvSpPr>
                <p:nvPr/>
              </p:nvSpPr>
              <p:spPr bwMode="auto">
                <a:xfrm>
                  <a:off x="5325" y="2442"/>
                  <a:ext cx="49" cy="49"/>
                </a:xfrm>
                <a:custGeom>
                  <a:avLst/>
                  <a:gdLst>
                    <a:gd name="T0" fmla="*/ 0 w 146"/>
                    <a:gd name="T1" fmla="*/ 0 h 147"/>
                    <a:gd name="T2" fmla="*/ 0 w 146"/>
                    <a:gd name="T3" fmla="*/ 0 h 147"/>
                    <a:gd name="T4" fmla="*/ 0 w 146"/>
                    <a:gd name="T5" fmla="*/ 0 h 147"/>
                    <a:gd name="T6" fmla="*/ 0 w 146"/>
                    <a:gd name="T7" fmla="*/ 0 h 147"/>
                    <a:gd name="T8" fmla="*/ 0 w 146"/>
                    <a:gd name="T9" fmla="*/ 0 h 147"/>
                    <a:gd name="T10" fmla="*/ 0 w 146"/>
                    <a:gd name="T11" fmla="*/ 0 h 147"/>
                    <a:gd name="T12" fmla="*/ 0 w 146"/>
                    <a:gd name="T13" fmla="*/ 0 h 147"/>
                    <a:gd name="T14" fmla="*/ 0 w 146"/>
                    <a:gd name="T15" fmla="*/ 0 h 147"/>
                    <a:gd name="T16" fmla="*/ 0 w 146"/>
                    <a:gd name="T17" fmla="*/ 0 h 147"/>
                    <a:gd name="T18" fmla="*/ 0 w 146"/>
                    <a:gd name="T19" fmla="*/ 0 h 147"/>
                    <a:gd name="T20" fmla="*/ 0 w 146"/>
                    <a:gd name="T21" fmla="*/ 0 h 147"/>
                    <a:gd name="T22" fmla="*/ 0 w 146"/>
                    <a:gd name="T23" fmla="*/ 0 h 147"/>
                    <a:gd name="T24" fmla="*/ 0 w 146"/>
                    <a:gd name="T25" fmla="*/ 0 h 147"/>
                    <a:gd name="T26" fmla="*/ 0 w 146"/>
                    <a:gd name="T27" fmla="*/ 0 h 147"/>
                    <a:gd name="T28" fmla="*/ 0 w 146"/>
                    <a:gd name="T29" fmla="*/ 0 h 147"/>
                    <a:gd name="T30" fmla="*/ 0 w 146"/>
                    <a:gd name="T31" fmla="*/ 0 h 147"/>
                    <a:gd name="T32" fmla="*/ 0 w 146"/>
                    <a:gd name="T33" fmla="*/ 0 h 147"/>
                    <a:gd name="T34" fmla="*/ 0 w 146"/>
                    <a:gd name="T35" fmla="*/ 0 h 147"/>
                    <a:gd name="T36" fmla="*/ 0 w 146"/>
                    <a:gd name="T37" fmla="*/ 0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6" h="147">
                      <a:moveTo>
                        <a:pt x="146" y="14"/>
                      </a:moveTo>
                      <a:lnTo>
                        <a:pt x="13" y="147"/>
                      </a:lnTo>
                      <a:lnTo>
                        <a:pt x="12" y="147"/>
                      </a:lnTo>
                      <a:lnTo>
                        <a:pt x="10" y="146"/>
                      </a:lnTo>
                      <a:lnTo>
                        <a:pt x="8" y="146"/>
                      </a:lnTo>
                      <a:lnTo>
                        <a:pt x="6" y="145"/>
                      </a:lnTo>
                      <a:lnTo>
                        <a:pt x="5" y="144"/>
                      </a:lnTo>
                      <a:lnTo>
                        <a:pt x="3" y="144"/>
                      </a:lnTo>
                      <a:lnTo>
                        <a:pt x="2" y="143"/>
                      </a:lnTo>
                      <a:lnTo>
                        <a:pt x="0" y="143"/>
                      </a:lnTo>
                      <a:lnTo>
                        <a:pt x="143" y="0"/>
                      </a:lnTo>
                      <a:lnTo>
                        <a:pt x="143" y="2"/>
                      </a:lnTo>
                      <a:lnTo>
                        <a:pt x="144" y="3"/>
                      </a:lnTo>
                      <a:lnTo>
                        <a:pt x="144" y="6"/>
                      </a:lnTo>
                      <a:lnTo>
                        <a:pt x="145" y="8"/>
                      </a:lnTo>
                      <a:lnTo>
                        <a:pt x="145" y="9"/>
                      </a:lnTo>
                      <a:lnTo>
                        <a:pt x="145" y="11"/>
                      </a:lnTo>
                      <a:lnTo>
                        <a:pt x="146" y="12"/>
                      </a:lnTo>
                      <a:lnTo>
                        <a:pt x="146" y="14"/>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65" name="Freeform 2402"/>
                <p:cNvSpPr>
                  <a:spLocks noChangeAspect="1"/>
                </p:cNvSpPr>
                <p:nvPr/>
              </p:nvSpPr>
              <p:spPr bwMode="auto">
                <a:xfrm>
                  <a:off x="5324" y="2440"/>
                  <a:ext cx="50" cy="50"/>
                </a:xfrm>
                <a:custGeom>
                  <a:avLst/>
                  <a:gdLst>
                    <a:gd name="T0" fmla="*/ 0 w 150"/>
                    <a:gd name="T1" fmla="*/ 0 h 151"/>
                    <a:gd name="T2" fmla="*/ 0 w 150"/>
                    <a:gd name="T3" fmla="*/ 0 h 151"/>
                    <a:gd name="T4" fmla="*/ 0 w 150"/>
                    <a:gd name="T5" fmla="*/ 0 h 151"/>
                    <a:gd name="T6" fmla="*/ 0 w 150"/>
                    <a:gd name="T7" fmla="*/ 0 h 151"/>
                    <a:gd name="T8" fmla="*/ 0 w 150"/>
                    <a:gd name="T9" fmla="*/ 0 h 151"/>
                    <a:gd name="T10" fmla="*/ 0 w 150"/>
                    <a:gd name="T11" fmla="*/ 0 h 151"/>
                    <a:gd name="T12" fmla="*/ 0 w 150"/>
                    <a:gd name="T13" fmla="*/ 0 h 151"/>
                    <a:gd name="T14" fmla="*/ 0 w 150"/>
                    <a:gd name="T15" fmla="*/ 0 h 151"/>
                    <a:gd name="T16" fmla="*/ 0 w 150"/>
                    <a:gd name="T17" fmla="*/ 0 h 151"/>
                    <a:gd name="T18" fmla="*/ 0 w 150"/>
                    <a:gd name="T19" fmla="*/ 0 h 151"/>
                    <a:gd name="T20" fmla="*/ 0 w 150"/>
                    <a:gd name="T21" fmla="*/ 0 h 151"/>
                    <a:gd name="T22" fmla="*/ 0 w 150"/>
                    <a:gd name="T23" fmla="*/ 0 h 151"/>
                    <a:gd name="T24" fmla="*/ 0 w 150"/>
                    <a:gd name="T25" fmla="*/ 0 h 151"/>
                    <a:gd name="T26" fmla="*/ 0 w 150"/>
                    <a:gd name="T27" fmla="*/ 0 h 151"/>
                    <a:gd name="T28" fmla="*/ 0 w 150"/>
                    <a:gd name="T29" fmla="*/ 0 h 151"/>
                    <a:gd name="T30" fmla="*/ 0 w 150"/>
                    <a:gd name="T31" fmla="*/ 0 h 151"/>
                    <a:gd name="T32" fmla="*/ 0 w 150"/>
                    <a:gd name="T33" fmla="*/ 0 h 151"/>
                    <a:gd name="T34" fmla="*/ 0 w 150"/>
                    <a:gd name="T35" fmla="*/ 0 h 151"/>
                    <a:gd name="T36" fmla="*/ 0 w 150"/>
                    <a:gd name="T37" fmla="*/ 0 h 1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0" h="151">
                      <a:moveTo>
                        <a:pt x="150" y="14"/>
                      </a:moveTo>
                      <a:lnTo>
                        <a:pt x="11" y="151"/>
                      </a:lnTo>
                      <a:lnTo>
                        <a:pt x="10" y="150"/>
                      </a:lnTo>
                      <a:lnTo>
                        <a:pt x="8" y="150"/>
                      </a:lnTo>
                      <a:lnTo>
                        <a:pt x="7" y="149"/>
                      </a:lnTo>
                      <a:lnTo>
                        <a:pt x="5" y="149"/>
                      </a:lnTo>
                      <a:lnTo>
                        <a:pt x="4" y="148"/>
                      </a:lnTo>
                      <a:lnTo>
                        <a:pt x="3" y="147"/>
                      </a:lnTo>
                      <a:lnTo>
                        <a:pt x="1" y="147"/>
                      </a:lnTo>
                      <a:lnTo>
                        <a:pt x="0" y="145"/>
                      </a:lnTo>
                      <a:lnTo>
                        <a:pt x="144" y="0"/>
                      </a:lnTo>
                      <a:lnTo>
                        <a:pt x="145" y="2"/>
                      </a:lnTo>
                      <a:lnTo>
                        <a:pt x="147" y="3"/>
                      </a:lnTo>
                      <a:lnTo>
                        <a:pt x="147" y="5"/>
                      </a:lnTo>
                      <a:lnTo>
                        <a:pt x="148" y="6"/>
                      </a:lnTo>
                      <a:lnTo>
                        <a:pt x="148" y="8"/>
                      </a:lnTo>
                      <a:lnTo>
                        <a:pt x="149" y="9"/>
                      </a:lnTo>
                      <a:lnTo>
                        <a:pt x="149" y="12"/>
                      </a:lnTo>
                      <a:lnTo>
                        <a:pt x="150" y="14"/>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66" name="Freeform 2403"/>
                <p:cNvSpPr>
                  <a:spLocks noChangeAspect="1"/>
                </p:cNvSpPr>
                <p:nvPr/>
              </p:nvSpPr>
              <p:spPr bwMode="auto">
                <a:xfrm>
                  <a:off x="5322" y="2438"/>
                  <a:ext cx="51" cy="52"/>
                </a:xfrm>
                <a:custGeom>
                  <a:avLst/>
                  <a:gdLst>
                    <a:gd name="T0" fmla="*/ 0 w 154"/>
                    <a:gd name="T1" fmla="*/ 0 h 154"/>
                    <a:gd name="T2" fmla="*/ 0 w 154"/>
                    <a:gd name="T3" fmla="*/ 0 h 154"/>
                    <a:gd name="T4" fmla="*/ 0 w 154"/>
                    <a:gd name="T5" fmla="*/ 0 h 154"/>
                    <a:gd name="T6" fmla="*/ 0 w 154"/>
                    <a:gd name="T7" fmla="*/ 0 h 154"/>
                    <a:gd name="T8" fmla="*/ 0 w 154"/>
                    <a:gd name="T9" fmla="*/ 0 h 154"/>
                    <a:gd name="T10" fmla="*/ 0 w 154"/>
                    <a:gd name="T11" fmla="*/ 0 h 154"/>
                    <a:gd name="T12" fmla="*/ 0 w 154"/>
                    <a:gd name="T13" fmla="*/ 0 h 154"/>
                    <a:gd name="T14" fmla="*/ 0 w 154"/>
                    <a:gd name="T15" fmla="*/ 0 h 154"/>
                    <a:gd name="T16" fmla="*/ 0 w 154"/>
                    <a:gd name="T17" fmla="*/ 0 h 154"/>
                    <a:gd name="T18" fmla="*/ 0 w 154"/>
                    <a:gd name="T19" fmla="*/ 0 h 154"/>
                    <a:gd name="T20" fmla="*/ 0 w 154"/>
                    <a:gd name="T21" fmla="*/ 0 h 154"/>
                    <a:gd name="T22" fmla="*/ 0 w 154"/>
                    <a:gd name="T23" fmla="*/ 0 h 154"/>
                    <a:gd name="T24" fmla="*/ 0 w 154"/>
                    <a:gd name="T25" fmla="*/ 0 h 154"/>
                    <a:gd name="T26" fmla="*/ 0 w 154"/>
                    <a:gd name="T27" fmla="*/ 0 h 154"/>
                    <a:gd name="T28" fmla="*/ 0 w 154"/>
                    <a:gd name="T29" fmla="*/ 0 h 154"/>
                    <a:gd name="T30" fmla="*/ 0 w 154"/>
                    <a:gd name="T31" fmla="*/ 0 h 154"/>
                    <a:gd name="T32" fmla="*/ 0 w 154"/>
                    <a:gd name="T33" fmla="*/ 0 h 154"/>
                    <a:gd name="T34" fmla="*/ 0 w 154"/>
                    <a:gd name="T35" fmla="*/ 0 h 154"/>
                    <a:gd name="T36" fmla="*/ 0 w 154"/>
                    <a:gd name="T37" fmla="*/ 0 h 15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4" h="154">
                      <a:moveTo>
                        <a:pt x="154" y="11"/>
                      </a:moveTo>
                      <a:lnTo>
                        <a:pt x="11" y="154"/>
                      </a:lnTo>
                      <a:lnTo>
                        <a:pt x="10" y="153"/>
                      </a:lnTo>
                      <a:lnTo>
                        <a:pt x="9" y="152"/>
                      </a:lnTo>
                      <a:lnTo>
                        <a:pt x="7" y="152"/>
                      </a:lnTo>
                      <a:lnTo>
                        <a:pt x="6" y="150"/>
                      </a:lnTo>
                      <a:lnTo>
                        <a:pt x="5" y="149"/>
                      </a:lnTo>
                      <a:lnTo>
                        <a:pt x="2" y="148"/>
                      </a:lnTo>
                      <a:lnTo>
                        <a:pt x="1" y="148"/>
                      </a:lnTo>
                      <a:lnTo>
                        <a:pt x="0" y="147"/>
                      </a:lnTo>
                      <a:lnTo>
                        <a:pt x="148" y="0"/>
                      </a:lnTo>
                      <a:lnTo>
                        <a:pt x="148" y="1"/>
                      </a:lnTo>
                      <a:lnTo>
                        <a:pt x="149" y="3"/>
                      </a:lnTo>
                      <a:lnTo>
                        <a:pt x="150" y="4"/>
                      </a:lnTo>
                      <a:lnTo>
                        <a:pt x="150" y="5"/>
                      </a:lnTo>
                      <a:lnTo>
                        <a:pt x="151" y="7"/>
                      </a:lnTo>
                      <a:lnTo>
                        <a:pt x="153" y="8"/>
                      </a:lnTo>
                      <a:lnTo>
                        <a:pt x="153" y="10"/>
                      </a:lnTo>
                      <a:lnTo>
                        <a:pt x="154" y="1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67" name="Freeform 2404"/>
                <p:cNvSpPr>
                  <a:spLocks noChangeAspect="1"/>
                </p:cNvSpPr>
                <p:nvPr/>
              </p:nvSpPr>
              <p:spPr bwMode="auto">
                <a:xfrm>
                  <a:off x="5320" y="2436"/>
                  <a:ext cx="52" cy="52"/>
                </a:xfrm>
                <a:custGeom>
                  <a:avLst/>
                  <a:gdLst>
                    <a:gd name="T0" fmla="*/ 0 w 155"/>
                    <a:gd name="T1" fmla="*/ 0 h 157"/>
                    <a:gd name="T2" fmla="*/ 0 w 155"/>
                    <a:gd name="T3" fmla="*/ 0 h 157"/>
                    <a:gd name="T4" fmla="*/ 0 w 155"/>
                    <a:gd name="T5" fmla="*/ 0 h 157"/>
                    <a:gd name="T6" fmla="*/ 0 w 155"/>
                    <a:gd name="T7" fmla="*/ 0 h 157"/>
                    <a:gd name="T8" fmla="*/ 0 w 155"/>
                    <a:gd name="T9" fmla="*/ 0 h 157"/>
                    <a:gd name="T10" fmla="*/ 0 w 155"/>
                    <a:gd name="T11" fmla="*/ 0 h 157"/>
                    <a:gd name="T12" fmla="*/ 0 w 155"/>
                    <a:gd name="T13" fmla="*/ 0 h 157"/>
                    <a:gd name="T14" fmla="*/ 0 w 155"/>
                    <a:gd name="T15" fmla="*/ 0 h 157"/>
                    <a:gd name="T16" fmla="*/ 0 w 155"/>
                    <a:gd name="T17" fmla="*/ 0 h 157"/>
                    <a:gd name="T18" fmla="*/ 0 w 155"/>
                    <a:gd name="T19" fmla="*/ 0 h 157"/>
                    <a:gd name="T20" fmla="*/ 0 w 155"/>
                    <a:gd name="T21" fmla="*/ 0 h 157"/>
                    <a:gd name="T22" fmla="*/ 0 w 155"/>
                    <a:gd name="T23" fmla="*/ 0 h 157"/>
                    <a:gd name="T24" fmla="*/ 0 w 155"/>
                    <a:gd name="T25" fmla="*/ 0 h 157"/>
                    <a:gd name="T26" fmla="*/ 0 w 155"/>
                    <a:gd name="T27" fmla="*/ 0 h 157"/>
                    <a:gd name="T28" fmla="*/ 0 w 155"/>
                    <a:gd name="T29" fmla="*/ 0 h 157"/>
                    <a:gd name="T30" fmla="*/ 0 w 155"/>
                    <a:gd name="T31" fmla="*/ 0 h 157"/>
                    <a:gd name="T32" fmla="*/ 0 w 155"/>
                    <a:gd name="T33" fmla="*/ 0 h 157"/>
                    <a:gd name="T34" fmla="*/ 0 w 155"/>
                    <a:gd name="T35" fmla="*/ 0 h 157"/>
                    <a:gd name="T36" fmla="*/ 0 w 155"/>
                    <a:gd name="T37" fmla="*/ 0 h 1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5" h="157">
                      <a:moveTo>
                        <a:pt x="155" y="12"/>
                      </a:moveTo>
                      <a:lnTo>
                        <a:pt x="11" y="157"/>
                      </a:lnTo>
                      <a:lnTo>
                        <a:pt x="10" y="156"/>
                      </a:lnTo>
                      <a:lnTo>
                        <a:pt x="7" y="155"/>
                      </a:lnTo>
                      <a:lnTo>
                        <a:pt x="6" y="155"/>
                      </a:lnTo>
                      <a:lnTo>
                        <a:pt x="5" y="154"/>
                      </a:lnTo>
                      <a:lnTo>
                        <a:pt x="3" y="153"/>
                      </a:lnTo>
                      <a:lnTo>
                        <a:pt x="2" y="152"/>
                      </a:lnTo>
                      <a:lnTo>
                        <a:pt x="1" y="151"/>
                      </a:lnTo>
                      <a:lnTo>
                        <a:pt x="0" y="151"/>
                      </a:lnTo>
                      <a:lnTo>
                        <a:pt x="150" y="0"/>
                      </a:lnTo>
                      <a:lnTo>
                        <a:pt x="151" y="2"/>
                      </a:lnTo>
                      <a:lnTo>
                        <a:pt x="151" y="3"/>
                      </a:lnTo>
                      <a:lnTo>
                        <a:pt x="152" y="4"/>
                      </a:lnTo>
                      <a:lnTo>
                        <a:pt x="153" y="7"/>
                      </a:lnTo>
                      <a:lnTo>
                        <a:pt x="153" y="8"/>
                      </a:lnTo>
                      <a:lnTo>
                        <a:pt x="154" y="10"/>
                      </a:lnTo>
                      <a:lnTo>
                        <a:pt x="155" y="11"/>
                      </a:lnTo>
                      <a:lnTo>
                        <a:pt x="155" y="12"/>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68" name="Freeform 2405"/>
                <p:cNvSpPr>
                  <a:spLocks noChangeAspect="1"/>
                </p:cNvSpPr>
                <p:nvPr/>
              </p:nvSpPr>
              <p:spPr bwMode="auto">
                <a:xfrm>
                  <a:off x="5318" y="2434"/>
                  <a:ext cx="53" cy="53"/>
                </a:xfrm>
                <a:custGeom>
                  <a:avLst/>
                  <a:gdLst>
                    <a:gd name="T0" fmla="*/ 0 w 158"/>
                    <a:gd name="T1" fmla="*/ 0 h 159"/>
                    <a:gd name="T2" fmla="*/ 0 w 158"/>
                    <a:gd name="T3" fmla="*/ 0 h 159"/>
                    <a:gd name="T4" fmla="*/ 0 w 158"/>
                    <a:gd name="T5" fmla="*/ 0 h 159"/>
                    <a:gd name="T6" fmla="*/ 0 w 158"/>
                    <a:gd name="T7" fmla="*/ 0 h 159"/>
                    <a:gd name="T8" fmla="*/ 0 w 158"/>
                    <a:gd name="T9" fmla="*/ 0 h 159"/>
                    <a:gd name="T10" fmla="*/ 0 w 158"/>
                    <a:gd name="T11" fmla="*/ 0 h 159"/>
                    <a:gd name="T12" fmla="*/ 0 w 158"/>
                    <a:gd name="T13" fmla="*/ 0 h 159"/>
                    <a:gd name="T14" fmla="*/ 0 w 158"/>
                    <a:gd name="T15" fmla="*/ 0 h 159"/>
                    <a:gd name="T16" fmla="*/ 0 w 158"/>
                    <a:gd name="T17" fmla="*/ 0 h 159"/>
                    <a:gd name="T18" fmla="*/ 0 w 158"/>
                    <a:gd name="T19" fmla="*/ 0 h 159"/>
                    <a:gd name="T20" fmla="*/ 0 w 158"/>
                    <a:gd name="T21" fmla="*/ 0 h 159"/>
                    <a:gd name="T22" fmla="*/ 0 w 158"/>
                    <a:gd name="T23" fmla="*/ 0 h 159"/>
                    <a:gd name="T24" fmla="*/ 0 w 158"/>
                    <a:gd name="T25" fmla="*/ 0 h 159"/>
                    <a:gd name="T26" fmla="*/ 0 w 158"/>
                    <a:gd name="T27" fmla="*/ 0 h 159"/>
                    <a:gd name="T28" fmla="*/ 0 w 158"/>
                    <a:gd name="T29" fmla="*/ 0 h 159"/>
                    <a:gd name="T30" fmla="*/ 0 w 158"/>
                    <a:gd name="T31" fmla="*/ 0 h 159"/>
                    <a:gd name="T32" fmla="*/ 0 w 158"/>
                    <a:gd name="T33" fmla="*/ 0 h 159"/>
                    <a:gd name="T34" fmla="*/ 0 w 158"/>
                    <a:gd name="T35" fmla="*/ 0 h 159"/>
                    <a:gd name="T36" fmla="*/ 0 w 158"/>
                    <a:gd name="T37" fmla="*/ 0 h 1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8" h="159">
                      <a:moveTo>
                        <a:pt x="158" y="12"/>
                      </a:moveTo>
                      <a:lnTo>
                        <a:pt x="10" y="159"/>
                      </a:lnTo>
                      <a:lnTo>
                        <a:pt x="8" y="158"/>
                      </a:lnTo>
                      <a:lnTo>
                        <a:pt x="7" y="157"/>
                      </a:lnTo>
                      <a:lnTo>
                        <a:pt x="6" y="156"/>
                      </a:lnTo>
                      <a:lnTo>
                        <a:pt x="5" y="156"/>
                      </a:lnTo>
                      <a:lnTo>
                        <a:pt x="4" y="155"/>
                      </a:lnTo>
                      <a:lnTo>
                        <a:pt x="2" y="154"/>
                      </a:lnTo>
                      <a:lnTo>
                        <a:pt x="1" y="153"/>
                      </a:lnTo>
                      <a:lnTo>
                        <a:pt x="0" y="152"/>
                      </a:lnTo>
                      <a:lnTo>
                        <a:pt x="152" y="0"/>
                      </a:lnTo>
                      <a:lnTo>
                        <a:pt x="153" y="1"/>
                      </a:lnTo>
                      <a:lnTo>
                        <a:pt x="153" y="3"/>
                      </a:lnTo>
                      <a:lnTo>
                        <a:pt x="154" y="4"/>
                      </a:lnTo>
                      <a:lnTo>
                        <a:pt x="155" y="5"/>
                      </a:lnTo>
                      <a:lnTo>
                        <a:pt x="156" y="7"/>
                      </a:lnTo>
                      <a:lnTo>
                        <a:pt x="156" y="8"/>
                      </a:lnTo>
                      <a:lnTo>
                        <a:pt x="157" y="9"/>
                      </a:lnTo>
                      <a:lnTo>
                        <a:pt x="158" y="12"/>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69" name="Freeform 2406"/>
                <p:cNvSpPr>
                  <a:spLocks noChangeAspect="1"/>
                </p:cNvSpPr>
                <p:nvPr/>
              </p:nvSpPr>
              <p:spPr bwMode="auto">
                <a:xfrm>
                  <a:off x="5317" y="2432"/>
                  <a:ext cx="53" cy="54"/>
                </a:xfrm>
                <a:custGeom>
                  <a:avLst/>
                  <a:gdLst>
                    <a:gd name="T0" fmla="*/ 0 w 160"/>
                    <a:gd name="T1" fmla="*/ 0 h 162"/>
                    <a:gd name="T2" fmla="*/ 0 w 160"/>
                    <a:gd name="T3" fmla="*/ 0 h 162"/>
                    <a:gd name="T4" fmla="*/ 0 w 160"/>
                    <a:gd name="T5" fmla="*/ 0 h 162"/>
                    <a:gd name="T6" fmla="*/ 0 w 160"/>
                    <a:gd name="T7" fmla="*/ 0 h 162"/>
                    <a:gd name="T8" fmla="*/ 0 w 160"/>
                    <a:gd name="T9" fmla="*/ 0 h 162"/>
                    <a:gd name="T10" fmla="*/ 0 w 160"/>
                    <a:gd name="T11" fmla="*/ 0 h 162"/>
                    <a:gd name="T12" fmla="*/ 0 w 160"/>
                    <a:gd name="T13" fmla="*/ 0 h 162"/>
                    <a:gd name="T14" fmla="*/ 0 w 160"/>
                    <a:gd name="T15" fmla="*/ 0 h 162"/>
                    <a:gd name="T16" fmla="*/ 0 w 160"/>
                    <a:gd name="T17" fmla="*/ 0 h 162"/>
                    <a:gd name="T18" fmla="*/ 0 w 160"/>
                    <a:gd name="T19" fmla="*/ 0 h 162"/>
                    <a:gd name="T20" fmla="*/ 0 w 160"/>
                    <a:gd name="T21" fmla="*/ 0 h 162"/>
                    <a:gd name="T22" fmla="*/ 0 w 160"/>
                    <a:gd name="T23" fmla="*/ 0 h 162"/>
                    <a:gd name="T24" fmla="*/ 0 w 160"/>
                    <a:gd name="T25" fmla="*/ 0 h 162"/>
                    <a:gd name="T26" fmla="*/ 0 w 160"/>
                    <a:gd name="T27" fmla="*/ 0 h 162"/>
                    <a:gd name="T28" fmla="*/ 0 w 160"/>
                    <a:gd name="T29" fmla="*/ 0 h 162"/>
                    <a:gd name="T30" fmla="*/ 0 w 160"/>
                    <a:gd name="T31" fmla="*/ 0 h 162"/>
                    <a:gd name="T32" fmla="*/ 0 w 160"/>
                    <a:gd name="T33" fmla="*/ 0 h 162"/>
                    <a:gd name="T34" fmla="*/ 0 w 160"/>
                    <a:gd name="T35" fmla="*/ 0 h 162"/>
                    <a:gd name="T36" fmla="*/ 0 w 160"/>
                    <a:gd name="T37" fmla="*/ 0 h 1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0" h="162">
                      <a:moveTo>
                        <a:pt x="160" y="11"/>
                      </a:moveTo>
                      <a:lnTo>
                        <a:pt x="10" y="162"/>
                      </a:lnTo>
                      <a:lnTo>
                        <a:pt x="9" y="161"/>
                      </a:lnTo>
                      <a:lnTo>
                        <a:pt x="7" y="160"/>
                      </a:lnTo>
                      <a:lnTo>
                        <a:pt x="6" y="159"/>
                      </a:lnTo>
                      <a:lnTo>
                        <a:pt x="5" y="158"/>
                      </a:lnTo>
                      <a:lnTo>
                        <a:pt x="4" y="157"/>
                      </a:lnTo>
                      <a:lnTo>
                        <a:pt x="3" y="156"/>
                      </a:lnTo>
                      <a:lnTo>
                        <a:pt x="1" y="155"/>
                      </a:lnTo>
                      <a:lnTo>
                        <a:pt x="0" y="154"/>
                      </a:lnTo>
                      <a:lnTo>
                        <a:pt x="154" y="0"/>
                      </a:lnTo>
                      <a:lnTo>
                        <a:pt x="154" y="2"/>
                      </a:lnTo>
                      <a:lnTo>
                        <a:pt x="155" y="4"/>
                      </a:lnTo>
                      <a:lnTo>
                        <a:pt x="156" y="5"/>
                      </a:lnTo>
                      <a:lnTo>
                        <a:pt x="157" y="6"/>
                      </a:lnTo>
                      <a:lnTo>
                        <a:pt x="158" y="7"/>
                      </a:lnTo>
                      <a:lnTo>
                        <a:pt x="158" y="9"/>
                      </a:lnTo>
                      <a:lnTo>
                        <a:pt x="159" y="10"/>
                      </a:lnTo>
                      <a:lnTo>
                        <a:pt x="160" y="1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70" name="Freeform 2407"/>
                <p:cNvSpPr>
                  <a:spLocks noChangeAspect="1"/>
                </p:cNvSpPr>
                <p:nvPr/>
              </p:nvSpPr>
              <p:spPr bwMode="auto">
                <a:xfrm>
                  <a:off x="5315" y="2431"/>
                  <a:ext cx="54" cy="54"/>
                </a:xfrm>
                <a:custGeom>
                  <a:avLst/>
                  <a:gdLst>
                    <a:gd name="T0" fmla="*/ 0 w 162"/>
                    <a:gd name="T1" fmla="*/ 0 h 162"/>
                    <a:gd name="T2" fmla="*/ 0 w 162"/>
                    <a:gd name="T3" fmla="*/ 0 h 162"/>
                    <a:gd name="T4" fmla="*/ 0 w 162"/>
                    <a:gd name="T5" fmla="*/ 0 h 162"/>
                    <a:gd name="T6" fmla="*/ 0 w 162"/>
                    <a:gd name="T7" fmla="*/ 0 h 162"/>
                    <a:gd name="T8" fmla="*/ 0 w 162"/>
                    <a:gd name="T9" fmla="*/ 0 h 162"/>
                    <a:gd name="T10" fmla="*/ 0 w 162"/>
                    <a:gd name="T11" fmla="*/ 0 h 162"/>
                    <a:gd name="T12" fmla="*/ 0 w 162"/>
                    <a:gd name="T13" fmla="*/ 0 h 162"/>
                    <a:gd name="T14" fmla="*/ 0 w 162"/>
                    <a:gd name="T15" fmla="*/ 0 h 162"/>
                    <a:gd name="T16" fmla="*/ 0 w 162"/>
                    <a:gd name="T17" fmla="*/ 0 h 162"/>
                    <a:gd name="T18" fmla="*/ 0 w 162"/>
                    <a:gd name="T19" fmla="*/ 0 h 162"/>
                    <a:gd name="T20" fmla="*/ 0 w 162"/>
                    <a:gd name="T21" fmla="*/ 0 h 162"/>
                    <a:gd name="T22" fmla="*/ 0 w 162"/>
                    <a:gd name="T23" fmla="*/ 0 h 162"/>
                    <a:gd name="T24" fmla="*/ 0 w 162"/>
                    <a:gd name="T25" fmla="*/ 0 h 162"/>
                    <a:gd name="T26" fmla="*/ 0 w 162"/>
                    <a:gd name="T27" fmla="*/ 0 h 162"/>
                    <a:gd name="T28" fmla="*/ 0 w 162"/>
                    <a:gd name="T29" fmla="*/ 0 h 162"/>
                    <a:gd name="T30" fmla="*/ 0 w 162"/>
                    <a:gd name="T31" fmla="*/ 0 h 162"/>
                    <a:gd name="T32" fmla="*/ 0 w 162"/>
                    <a:gd name="T33" fmla="*/ 0 h 162"/>
                    <a:gd name="T34" fmla="*/ 0 w 162"/>
                    <a:gd name="T35" fmla="*/ 0 h 162"/>
                    <a:gd name="T36" fmla="*/ 0 w 162"/>
                    <a:gd name="T37" fmla="*/ 0 h 1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162">
                      <a:moveTo>
                        <a:pt x="162" y="10"/>
                      </a:moveTo>
                      <a:lnTo>
                        <a:pt x="10" y="162"/>
                      </a:lnTo>
                      <a:lnTo>
                        <a:pt x="9" y="161"/>
                      </a:lnTo>
                      <a:lnTo>
                        <a:pt x="8" y="160"/>
                      </a:lnTo>
                      <a:lnTo>
                        <a:pt x="6" y="159"/>
                      </a:lnTo>
                      <a:lnTo>
                        <a:pt x="5" y="158"/>
                      </a:lnTo>
                      <a:lnTo>
                        <a:pt x="3" y="157"/>
                      </a:lnTo>
                      <a:lnTo>
                        <a:pt x="2" y="155"/>
                      </a:lnTo>
                      <a:lnTo>
                        <a:pt x="1" y="154"/>
                      </a:lnTo>
                      <a:lnTo>
                        <a:pt x="0" y="153"/>
                      </a:lnTo>
                      <a:lnTo>
                        <a:pt x="154" y="0"/>
                      </a:lnTo>
                      <a:lnTo>
                        <a:pt x="155" y="1"/>
                      </a:lnTo>
                      <a:lnTo>
                        <a:pt x="157" y="2"/>
                      </a:lnTo>
                      <a:lnTo>
                        <a:pt x="158" y="3"/>
                      </a:lnTo>
                      <a:lnTo>
                        <a:pt x="159" y="4"/>
                      </a:lnTo>
                      <a:lnTo>
                        <a:pt x="159" y="6"/>
                      </a:lnTo>
                      <a:lnTo>
                        <a:pt x="160" y="8"/>
                      </a:lnTo>
                      <a:lnTo>
                        <a:pt x="161" y="9"/>
                      </a:lnTo>
                      <a:lnTo>
                        <a:pt x="162" y="1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71" name="Freeform 2408"/>
                <p:cNvSpPr>
                  <a:spLocks noChangeAspect="1"/>
                </p:cNvSpPr>
                <p:nvPr/>
              </p:nvSpPr>
              <p:spPr bwMode="auto">
                <a:xfrm>
                  <a:off x="5314" y="2429"/>
                  <a:ext cx="54" cy="55"/>
                </a:xfrm>
                <a:custGeom>
                  <a:avLst/>
                  <a:gdLst>
                    <a:gd name="T0" fmla="*/ 0 w 163"/>
                    <a:gd name="T1" fmla="*/ 0 h 163"/>
                    <a:gd name="T2" fmla="*/ 0 w 163"/>
                    <a:gd name="T3" fmla="*/ 0 h 163"/>
                    <a:gd name="T4" fmla="*/ 0 w 163"/>
                    <a:gd name="T5" fmla="*/ 0 h 163"/>
                    <a:gd name="T6" fmla="*/ 0 w 163"/>
                    <a:gd name="T7" fmla="*/ 0 h 163"/>
                    <a:gd name="T8" fmla="*/ 0 w 163"/>
                    <a:gd name="T9" fmla="*/ 0 h 163"/>
                    <a:gd name="T10" fmla="*/ 0 w 163"/>
                    <a:gd name="T11" fmla="*/ 0 h 163"/>
                    <a:gd name="T12" fmla="*/ 0 w 163"/>
                    <a:gd name="T13" fmla="*/ 0 h 163"/>
                    <a:gd name="T14" fmla="*/ 0 w 163"/>
                    <a:gd name="T15" fmla="*/ 0 h 163"/>
                    <a:gd name="T16" fmla="*/ 0 w 163"/>
                    <a:gd name="T17" fmla="*/ 0 h 163"/>
                    <a:gd name="T18" fmla="*/ 0 w 163"/>
                    <a:gd name="T19" fmla="*/ 0 h 163"/>
                    <a:gd name="T20" fmla="*/ 0 w 163"/>
                    <a:gd name="T21" fmla="*/ 0 h 163"/>
                    <a:gd name="T22" fmla="*/ 0 w 163"/>
                    <a:gd name="T23" fmla="*/ 0 h 163"/>
                    <a:gd name="T24" fmla="*/ 0 w 163"/>
                    <a:gd name="T25" fmla="*/ 0 h 163"/>
                    <a:gd name="T26" fmla="*/ 0 w 163"/>
                    <a:gd name="T27" fmla="*/ 0 h 163"/>
                    <a:gd name="T28" fmla="*/ 0 w 163"/>
                    <a:gd name="T29" fmla="*/ 0 h 163"/>
                    <a:gd name="T30" fmla="*/ 0 w 163"/>
                    <a:gd name="T31" fmla="*/ 0 h 163"/>
                    <a:gd name="T32" fmla="*/ 0 w 163"/>
                    <a:gd name="T33" fmla="*/ 0 h 163"/>
                    <a:gd name="T34" fmla="*/ 0 w 163"/>
                    <a:gd name="T35" fmla="*/ 0 h 163"/>
                    <a:gd name="T36" fmla="*/ 0 w 163"/>
                    <a:gd name="T37" fmla="*/ 0 h 16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3" h="163">
                      <a:moveTo>
                        <a:pt x="163" y="9"/>
                      </a:moveTo>
                      <a:lnTo>
                        <a:pt x="9" y="163"/>
                      </a:lnTo>
                      <a:lnTo>
                        <a:pt x="7" y="162"/>
                      </a:lnTo>
                      <a:lnTo>
                        <a:pt x="6" y="160"/>
                      </a:lnTo>
                      <a:lnTo>
                        <a:pt x="5" y="159"/>
                      </a:lnTo>
                      <a:lnTo>
                        <a:pt x="4" y="158"/>
                      </a:lnTo>
                      <a:lnTo>
                        <a:pt x="3" y="157"/>
                      </a:lnTo>
                      <a:lnTo>
                        <a:pt x="2" y="156"/>
                      </a:lnTo>
                      <a:lnTo>
                        <a:pt x="1" y="155"/>
                      </a:lnTo>
                      <a:lnTo>
                        <a:pt x="0" y="154"/>
                      </a:lnTo>
                      <a:lnTo>
                        <a:pt x="154" y="0"/>
                      </a:lnTo>
                      <a:lnTo>
                        <a:pt x="155" y="1"/>
                      </a:lnTo>
                      <a:lnTo>
                        <a:pt x="156" y="2"/>
                      </a:lnTo>
                      <a:lnTo>
                        <a:pt x="157" y="3"/>
                      </a:lnTo>
                      <a:lnTo>
                        <a:pt x="158" y="5"/>
                      </a:lnTo>
                      <a:lnTo>
                        <a:pt x="159" y="6"/>
                      </a:lnTo>
                      <a:lnTo>
                        <a:pt x="161" y="7"/>
                      </a:lnTo>
                      <a:lnTo>
                        <a:pt x="162" y="8"/>
                      </a:lnTo>
                      <a:lnTo>
                        <a:pt x="163" y="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72" name="Freeform 2409"/>
                <p:cNvSpPr>
                  <a:spLocks noChangeAspect="1"/>
                </p:cNvSpPr>
                <p:nvPr/>
              </p:nvSpPr>
              <p:spPr bwMode="auto">
                <a:xfrm>
                  <a:off x="5313" y="2428"/>
                  <a:ext cx="53" cy="54"/>
                </a:xfrm>
                <a:custGeom>
                  <a:avLst/>
                  <a:gdLst>
                    <a:gd name="T0" fmla="*/ 0 w 161"/>
                    <a:gd name="T1" fmla="*/ 0 h 162"/>
                    <a:gd name="T2" fmla="*/ 0 w 161"/>
                    <a:gd name="T3" fmla="*/ 0 h 162"/>
                    <a:gd name="T4" fmla="*/ 0 w 161"/>
                    <a:gd name="T5" fmla="*/ 0 h 162"/>
                    <a:gd name="T6" fmla="*/ 0 w 161"/>
                    <a:gd name="T7" fmla="*/ 0 h 162"/>
                    <a:gd name="T8" fmla="*/ 0 w 161"/>
                    <a:gd name="T9" fmla="*/ 0 h 162"/>
                    <a:gd name="T10" fmla="*/ 0 w 161"/>
                    <a:gd name="T11" fmla="*/ 0 h 162"/>
                    <a:gd name="T12" fmla="*/ 0 w 161"/>
                    <a:gd name="T13" fmla="*/ 0 h 162"/>
                    <a:gd name="T14" fmla="*/ 0 w 161"/>
                    <a:gd name="T15" fmla="*/ 0 h 162"/>
                    <a:gd name="T16" fmla="*/ 0 w 161"/>
                    <a:gd name="T17" fmla="*/ 0 h 162"/>
                    <a:gd name="T18" fmla="*/ 0 w 161"/>
                    <a:gd name="T19" fmla="*/ 0 h 162"/>
                    <a:gd name="T20" fmla="*/ 0 w 161"/>
                    <a:gd name="T21" fmla="*/ 0 h 162"/>
                    <a:gd name="T22" fmla="*/ 0 w 161"/>
                    <a:gd name="T23" fmla="*/ 0 h 162"/>
                    <a:gd name="T24" fmla="*/ 0 w 161"/>
                    <a:gd name="T25" fmla="*/ 0 h 162"/>
                    <a:gd name="T26" fmla="*/ 0 w 161"/>
                    <a:gd name="T27" fmla="*/ 0 h 162"/>
                    <a:gd name="T28" fmla="*/ 0 w 161"/>
                    <a:gd name="T29" fmla="*/ 0 h 162"/>
                    <a:gd name="T30" fmla="*/ 0 w 161"/>
                    <a:gd name="T31" fmla="*/ 0 h 162"/>
                    <a:gd name="T32" fmla="*/ 0 w 161"/>
                    <a:gd name="T33" fmla="*/ 0 h 162"/>
                    <a:gd name="T34" fmla="*/ 0 w 161"/>
                    <a:gd name="T35" fmla="*/ 0 h 162"/>
                    <a:gd name="T36" fmla="*/ 0 w 161"/>
                    <a:gd name="T37" fmla="*/ 0 h 1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1" h="162">
                      <a:moveTo>
                        <a:pt x="161" y="9"/>
                      </a:moveTo>
                      <a:lnTo>
                        <a:pt x="7" y="162"/>
                      </a:lnTo>
                      <a:lnTo>
                        <a:pt x="6" y="161"/>
                      </a:lnTo>
                      <a:lnTo>
                        <a:pt x="5" y="160"/>
                      </a:lnTo>
                      <a:lnTo>
                        <a:pt x="4" y="159"/>
                      </a:lnTo>
                      <a:lnTo>
                        <a:pt x="3" y="158"/>
                      </a:lnTo>
                      <a:lnTo>
                        <a:pt x="2" y="157"/>
                      </a:lnTo>
                      <a:lnTo>
                        <a:pt x="1" y="156"/>
                      </a:lnTo>
                      <a:lnTo>
                        <a:pt x="0" y="155"/>
                      </a:lnTo>
                      <a:lnTo>
                        <a:pt x="0" y="154"/>
                      </a:lnTo>
                      <a:lnTo>
                        <a:pt x="153" y="0"/>
                      </a:lnTo>
                      <a:lnTo>
                        <a:pt x="154" y="1"/>
                      </a:lnTo>
                      <a:lnTo>
                        <a:pt x="155" y="2"/>
                      </a:lnTo>
                      <a:lnTo>
                        <a:pt x="156" y="3"/>
                      </a:lnTo>
                      <a:lnTo>
                        <a:pt x="157" y="4"/>
                      </a:lnTo>
                      <a:lnTo>
                        <a:pt x="158" y="5"/>
                      </a:lnTo>
                      <a:lnTo>
                        <a:pt x="159" y="6"/>
                      </a:lnTo>
                      <a:lnTo>
                        <a:pt x="160" y="7"/>
                      </a:lnTo>
                      <a:lnTo>
                        <a:pt x="161" y="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73" name="Freeform 2410"/>
                <p:cNvSpPr>
                  <a:spLocks noChangeAspect="1"/>
                </p:cNvSpPr>
                <p:nvPr/>
              </p:nvSpPr>
              <p:spPr bwMode="auto">
                <a:xfrm>
                  <a:off x="5311" y="2426"/>
                  <a:ext cx="54" cy="55"/>
                </a:xfrm>
                <a:custGeom>
                  <a:avLst/>
                  <a:gdLst>
                    <a:gd name="T0" fmla="*/ 0 w 162"/>
                    <a:gd name="T1" fmla="*/ 0 h 163"/>
                    <a:gd name="T2" fmla="*/ 0 w 162"/>
                    <a:gd name="T3" fmla="*/ 0 h 163"/>
                    <a:gd name="T4" fmla="*/ 0 w 162"/>
                    <a:gd name="T5" fmla="*/ 0 h 163"/>
                    <a:gd name="T6" fmla="*/ 0 w 162"/>
                    <a:gd name="T7" fmla="*/ 0 h 163"/>
                    <a:gd name="T8" fmla="*/ 0 w 162"/>
                    <a:gd name="T9" fmla="*/ 0 h 163"/>
                    <a:gd name="T10" fmla="*/ 0 w 162"/>
                    <a:gd name="T11" fmla="*/ 0 h 163"/>
                    <a:gd name="T12" fmla="*/ 0 w 162"/>
                    <a:gd name="T13" fmla="*/ 0 h 163"/>
                    <a:gd name="T14" fmla="*/ 0 w 162"/>
                    <a:gd name="T15" fmla="*/ 0 h 163"/>
                    <a:gd name="T16" fmla="*/ 0 w 162"/>
                    <a:gd name="T17" fmla="*/ 0 h 163"/>
                    <a:gd name="T18" fmla="*/ 0 w 162"/>
                    <a:gd name="T19" fmla="*/ 0 h 163"/>
                    <a:gd name="T20" fmla="*/ 0 w 162"/>
                    <a:gd name="T21" fmla="*/ 0 h 163"/>
                    <a:gd name="T22" fmla="*/ 0 w 162"/>
                    <a:gd name="T23" fmla="*/ 0 h 163"/>
                    <a:gd name="T24" fmla="*/ 0 w 162"/>
                    <a:gd name="T25" fmla="*/ 0 h 163"/>
                    <a:gd name="T26" fmla="*/ 0 w 162"/>
                    <a:gd name="T27" fmla="*/ 0 h 163"/>
                    <a:gd name="T28" fmla="*/ 0 w 162"/>
                    <a:gd name="T29" fmla="*/ 0 h 163"/>
                    <a:gd name="T30" fmla="*/ 0 w 162"/>
                    <a:gd name="T31" fmla="*/ 0 h 163"/>
                    <a:gd name="T32" fmla="*/ 0 w 162"/>
                    <a:gd name="T33" fmla="*/ 0 h 163"/>
                    <a:gd name="T34" fmla="*/ 0 w 162"/>
                    <a:gd name="T35" fmla="*/ 0 h 163"/>
                    <a:gd name="T36" fmla="*/ 0 w 162"/>
                    <a:gd name="T37" fmla="*/ 0 h 16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163">
                      <a:moveTo>
                        <a:pt x="162" y="9"/>
                      </a:moveTo>
                      <a:lnTo>
                        <a:pt x="8" y="163"/>
                      </a:lnTo>
                      <a:lnTo>
                        <a:pt x="7" y="162"/>
                      </a:lnTo>
                      <a:lnTo>
                        <a:pt x="6" y="161"/>
                      </a:lnTo>
                      <a:lnTo>
                        <a:pt x="5" y="160"/>
                      </a:lnTo>
                      <a:lnTo>
                        <a:pt x="5" y="159"/>
                      </a:lnTo>
                      <a:lnTo>
                        <a:pt x="4" y="158"/>
                      </a:lnTo>
                      <a:lnTo>
                        <a:pt x="3" y="156"/>
                      </a:lnTo>
                      <a:lnTo>
                        <a:pt x="1" y="155"/>
                      </a:lnTo>
                      <a:lnTo>
                        <a:pt x="0" y="154"/>
                      </a:lnTo>
                      <a:lnTo>
                        <a:pt x="154" y="0"/>
                      </a:lnTo>
                      <a:lnTo>
                        <a:pt x="155" y="1"/>
                      </a:lnTo>
                      <a:lnTo>
                        <a:pt x="156" y="3"/>
                      </a:lnTo>
                      <a:lnTo>
                        <a:pt x="157" y="4"/>
                      </a:lnTo>
                      <a:lnTo>
                        <a:pt x="158" y="5"/>
                      </a:lnTo>
                      <a:lnTo>
                        <a:pt x="159" y="6"/>
                      </a:lnTo>
                      <a:lnTo>
                        <a:pt x="160" y="7"/>
                      </a:lnTo>
                      <a:lnTo>
                        <a:pt x="161" y="8"/>
                      </a:lnTo>
                      <a:lnTo>
                        <a:pt x="162" y="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74" name="Freeform 2411"/>
                <p:cNvSpPr>
                  <a:spLocks noChangeAspect="1"/>
                </p:cNvSpPr>
                <p:nvPr/>
              </p:nvSpPr>
              <p:spPr bwMode="auto">
                <a:xfrm>
                  <a:off x="5310" y="2425"/>
                  <a:ext cx="54" cy="54"/>
                </a:xfrm>
                <a:custGeom>
                  <a:avLst/>
                  <a:gdLst>
                    <a:gd name="T0" fmla="*/ 0 w 161"/>
                    <a:gd name="T1" fmla="*/ 0 h 163"/>
                    <a:gd name="T2" fmla="*/ 0 w 161"/>
                    <a:gd name="T3" fmla="*/ 0 h 163"/>
                    <a:gd name="T4" fmla="*/ 0 w 161"/>
                    <a:gd name="T5" fmla="*/ 0 h 163"/>
                    <a:gd name="T6" fmla="*/ 0 w 161"/>
                    <a:gd name="T7" fmla="*/ 0 h 163"/>
                    <a:gd name="T8" fmla="*/ 0 w 161"/>
                    <a:gd name="T9" fmla="*/ 0 h 163"/>
                    <a:gd name="T10" fmla="*/ 0 w 161"/>
                    <a:gd name="T11" fmla="*/ 0 h 163"/>
                    <a:gd name="T12" fmla="*/ 0 w 161"/>
                    <a:gd name="T13" fmla="*/ 0 h 163"/>
                    <a:gd name="T14" fmla="*/ 0 w 161"/>
                    <a:gd name="T15" fmla="*/ 0 h 163"/>
                    <a:gd name="T16" fmla="*/ 0 w 161"/>
                    <a:gd name="T17" fmla="*/ 0 h 163"/>
                    <a:gd name="T18" fmla="*/ 0 w 161"/>
                    <a:gd name="T19" fmla="*/ 0 h 163"/>
                    <a:gd name="T20" fmla="*/ 0 w 161"/>
                    <a:gd name="T21" fmla="*/ 0 h 163"/>
                    <a:gd name="T22" fmla="*/ 0 w 161"/>
                    <a:gd name="T23" fmla="*/ 0 h 163"/>
                    <a:gd name="T24" fmla="*/ 0 w 161"/>
                    <a:gd name="T25" fmla="*/ 0 h 163"/>
                    <a:gd name="T26" fmla="*/ 0 w 161"/>
                    <a:gd name="T27" fmla="*/ 0 h 163"/>
                    <a:gd name="T28" fmla="*/ 0 w 161"/>
                    <a:gd name="T29" fmla="*/ 0 h 163"/>
                    <a:gd name="T30" fmla="*/ 0 w 161"/>
                    <a:gd name="T31" fmla="*/ 0 h 163"/>
                    <a:gd name="T32" fmla="*/ 0 w 161"/>
                    <a:gd name="T33" fmla="*/ 0 h 163"/>
                    <a:gd name="T34" fmla="*/ 0 w 161"/>
                    <a:gd name="T35" fmla="*/ 0 h 163"/>
                    <a:gd name="T36" fmla="*/ 0 w 161"/>
                    <a:gd name="T37" fmla="*/ 0 h 16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1" h="163">
                      <a:moveTo>
                        <a:pt x="161" y="9"/>
                      </a:moveTo>
                      <a:lnTo>
                        <a:pt x="8" y="163"/>
                      </a:lnTo>
                      <a:lnTo>
                        <a:pt x="7" y="161"/>
                      </a:lnTo>
                      <a:lnTo>
                        <a:pt x="6" y="160"/>
                      </a:lnTo>
                      <a:lnTo>
                        <a:pt x="4" y="159"/>
                      </a:lnTo>
                      <a:lnTo>
                        <a:pt x="3" y="158"/>
                      </a:lnTo>
                      <a:lnTo>
                        <a:pt x="2" y="156"/>
                      </a:lnTo>
                      <a:lnTo>
                        <a:pt x="1" y="155"/>
                      </a:lnTo>
                      <a:lnTo>
                        <a:pt x="0" y="153"/>
                      </a:lnTo>
                      <a:lnTo>
                        <a:pt x="0" y="152"/>
                      </a:lnTo>
                      <a:lnTo>
                        <a:pt x="152" y="0"/>
                      </a:lnTo>
                      <a:lnTo>
                        <a:pt x="153" y="1"/>
                      </a:lnTo>
                      <a:lnTo>
                        <a:pt x="155" y="2"/>
                      </a:lnTo>
                      <a:lnTo>
                        <a:pt x="156" y="3"/>
                      </a:lnTo>
                      <a:lnTo>
                        <a:pt x="157" y="4"/>
                      </a:lnTo>
                      <a:lnTo>
                        <a:pt x="158" y="5"/>
                      </a:lnTo>
                      <a:lnTo>
                        <a:pt x="159" y="7"/>
                      </a:lnTo>
                      <a:lnTo>
                        <a:pt x="160" y="8"/>
                      </a:lnTo>
                      <a:lnTo>
                        <a:pt x="161" y="9"/>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75" name="Freeform 2412"/>
                <p:cNvSpPr>
                  <a:spLocks noChangeAspect="1"/>
                </p:cNvSpPr>
                <p:nvPr/>
              </p:nvSpPr>
              <p:spPr bwMode="auto">
                <a:xfrm>
                  <a:off x="5309" y="2424"/>
                  <a:ext cx="53" cy="54"/>
                </a:xfrm>
                <a:custGeom>
                  <a:avLst/>
                  <a:gdLst>
                    <a:gd name="T0" fmla="*/ 0 w 160"/>
                    <a:gd name="T1" fmla="*/ 0 h 161"/>
                    <a:gd name="T2" fmla="*/ 0 w 160"/>
                    <a:gd name="T3" fmla="*/ 0 h 161"/>
                    <a:gd name="T4" fmla="*/ 0 w 160"/>
                    <a:gd name="T5" fmla="*/ 0 h 161"/>
                    <a:gd name="T6" fmla="*/ 0 w 160"/>
                    <a:gd name="T7" fmla="*/ 0 h 161"/>
                    <a:gd name="T8" fmla="*/ 0 w 160"/>
                    <a:gd name="T9" fmla="*/ 0 h 161"/>
                    <a:gd name="T10" fmla="*/ 0 w 160"/>
                    <a:gd name="T11" fmla="*/ 0 h 161"/>
                    <a:gd name="T12" fmla="*/ 0 w 160"/>
                    <a:gd name="T13" fmla="*/ 0 h 161"/>
                    <a:gd name="T14" fmla="*/ 0 w 160"/>
                    <a:gd name="T15" fmla="*/ 0 h 161"/>
                    <a:gd name="T16" fmla="*/ 0 w 160"/>
                    <a:gd name="T17" fmla="*/ 0 h 161"/>
                    <a:gd name="T18" fmla="*/ 0 w 160"/>
                    <a:gd name="T19" fmla="*/ 0 h 161"/>
                    <a:gd name="T20" fmla="*/ 0 w 160"/>
                    <a:gd name="T21" fmla="*/ 0 h 161"/>
                    <a:gd name="T22" fmla="*/ 0 w 160"/>
                    <a:gd name="T23" fmla="*/ 0 h 161"/>
                    <a:gd name="T24" fmla="*/ 0 w 160"/>
                    <a:gd name="T25" fmla="*/ 0 h 161"/>
                    <a:gd name="T26" fmla="*/ 0 w 160"/>
                    <a:gd name="T27" fmla="*/ 0 h 161"/>
                    <a:gd name="T28" fmla="*/ 0 w 160"/>
                    <a:gd name="T29" fmla="*/ 0 h 161"/>
                    <a:gd name="T30" fmla="*/ 0 w 160"/>
                    <a:gd name="T31" fmla="*/ 0 h 161"/>
                    <a:gd name="T32" fmla="*/ 0 w 160"/>
                    <a:gd name="T33" fmla="*/ 0 h 161"/>
                    <a:gd name="T34" fmla="*/ 0 w 160"/>
                    <a:gd name="T35" fmla="*/ 0 h 161"/>
                    <a:gd name="T36" fmla="*/ 0 w 160"/>
                    <a:gd name="T37" fmla="*/ 0 h 1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0" h="161">
                      <a:moveTo>
                        <a:pt x="160" y="7"/>
                      </a:moveTo>
                      <a:lnTo>
                        <a:pt x="6" y="161"/>
                      </a:lnTo>
                      <a:lnTo>
                        <a:pt x="5" y="159"/>
                      </a:lnTo>
                      <a:lnTo>
                        <a:pt x="4" y="158"/>
                      </a:lnTo>
                      <a:lnTo>
                        <a:pt x="3" y="156"/>
                      </a:lnTo>
                      <a:lnTo>
                        <a:pt x="3" y="155"/>
                      </a:lnTo>
                      <a:lnTo>
                        <a:pt x="2" y="154"/>
                      </a:lnTo>
                      <a:lnTo>
                        <a:pt x="1" y="153"/>
                      </a:lnTo>
                      <a:lnTo>
                        <a:pt x="0" y="151"/>
                      </a:lnTo>
                      <a:lnTo>
                        <a:pt x="0" y="150"/>
                      </a:lnTo>
                      <a:lnTo>
                        <a:pt x="150" y="0"/>
                      </a:lnTo>
                      <a:lnTo>
                        <a:pt x="151" y="1"/>
                      </a:lnTo>
                      <a:lnTo>
                        <a:pt x="152" y="1"/>
                      </a:lnTo>
                      <a:lnTo>
                        <a:pt x="153" y="2"/>
                      </a:lnTo>
                      <a:lnTo>
                        <a:pt x="155" y="3"/>
                      </a:lnTo>
                      <a:lnTo>
                        <a:pt x="156" y="4"/>
                      </a:lnTo>
                      <a:lnTo>
                        <a:pt x="158" y="5"/>
                      </a:lnTo>
                      <a:lnTo>
                        <a:pt x="159" y="6"/>
                      </a:lnTo>
                      <a:lnTo>
                        <a:pt x="160" y="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76" name="Freeform 2413"/>
                <p:cNvSpPr>
                  <a:spLocks noChangeAspect="1"/>
                </p:cNvSpPr>
                <p:nvPr/>
              </p:nvSpPr>
              <p:spPr bwMode="auto">
                <a:xfrm>
                  <a:off x="5308" y="2423"/>
                  <a:ext cx="53" cy="53"/>
                </a:xfrm>
                <a:custGeom>
                  <a:avLst/>
                  <a:gdLst>
                    <a:gd name="T0" fmla="*/ 0 w 158"/>
                    <a:gd name="T1" fmla="*/ 0 h 159"/>
                    <a:gd name="T2" fmla="*/ 0 w 158"/>
                    <a:gd name="T3" fmla="*/ 0 h 159"/>
                    <a:gd name="T4" fmla="*/ 0 w 158"/>
                    <a:gd name="T5" fmla="*/ 0 h 159"/>
                    <a:gd name="T6" fmla="*/ 0 w 158"/>
                    <a:gd name="T7" fmla="*/ 0 h 159"/>
                    <a:gd name="T8" fmla="*/ 0 w 158"/>
                    <a:gd name="T9" fmla="*/ 0 h 159"/>
                    <a:gd name="T10" fmla="*/ 0 w 158"/>
                    <a:gd name="T11" fmla="*/ 0 h 159"/>
                    <a:gd name="T12" fmla="*/ 0 w 158"/>
                    <a:gd name="T13" fmla="*/ 0 h 159"/>
                    <a:gd name="T14" fmla="*/ 0 w 158"/>
                    <a:gd name="T15" fmla="*/ 0 h 159"/>
                    <a:gd name="T16" fmla="*/ 0 w 158"/>
                    <a:gd name="T17" fmla="*/ 0 h 159"/>
                    <a:gd name="T18" fmla="*/ 0 w 158"/>
                    <a:gd name="T19" fmla="*/ 0 h 159"/>
                    <a:gd name="T20" fmla="*/ 0 w 158"/>
                    <a:gd name="T21" fmla="*/ 0 h 159"/>
                    <a:gd name="T22" fmla="*/ 0 w 158"/>
                    <a:gd name="T23" fmla="*/ 0 h 159"/>
                    <a:gd name="T24" fmla="*/ 0 w 158"/>
                    <a:gd name="T25" fmla="*/ 0 h 159"/>
                    <a:gd name="T26" fmla="*/ 0 w 158"/>
                    <a:gd name="T27" fmla="*/ 0 h 159"/>
                    <a:gd name="T28" fmla="*/ 0 w 158"/>
                    <a:gd name="T29" fmla="*/ 0 h 159"/>
                    <a:gd name="T30" fmla="*/ 0 w 158"/>
                    <a:gd name="T31" fmla="*/ 0 h 159"/>
                    <a:gd name="T32" fmla="*/ 0 w 158"/>
                    <a:gd name="T33" fmla="*/ 0 h 159"/>
                    <a:gd name="T34" fmla="*/ 0 w 158"/>
                    <a:gd name="T35" fmla="*/ 0 h 159"/>
                    <a:gd name="T36" fmla="*/ 0 w 158"/>
                    <a:gd name="T37" fmla="*/ 0 h 1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8" h="159">
                      <a:moveTo>
                        <a:pt x="158" y="7"/>
                      </a:moveTo>
                      <a:lnTo>
                        <a:pt x="6" y="159"/>
                      </a:lnTo>
                      <a:lnTo>
                        <a:pt x="5" y="158"/>
                      </a:lnTo>
                      <a:lnTo>
                        <a:pt x="4" y="156"/>
                      </a:lnTo>
                      <a:lnTo>
                        <a:pt x="3" y="155"/>
                      </a:lnTo>
                      <a:lnTo>
                        <a:pt x="3" y="154"/>
                      </a:lnTo>
                      <a:lnTo>
                        <a:pt x="2" y="153"/>
                      </a:lnTo>
                      <a:lnTo>
                        <a:pt x="1" y="151"/>
                      </a:lnTo>
                      <a:lnTo>
                        <a:pt x="0" y="150"/>
                      </a:lnTo>
                      <a:lnTo>
                        <a:pt x="0" y="149"/>
                      </a:lnTo>
                      <a:lnTo>
                        <a:pt x="148" y="0"/>
                      </a:lnTo>
                      <a:lnTo>
                        <a:pt x="149" y="1"/>
                      </a:lnTo>
                      <a:lnTo>
                        <a:pt x="150" y="2"/>
                      </a:lnTo>
                      <a:lnTo>
                        <a:pt x="152" y="3"/>
                      </a:lnTo>
                      <a:lnTo>
                        <a:pt x="153" y="4"/>
                      </a:lnTo>
                      <a:lnTo>
                        <a:pt x="154" y="4"/>
                      </a:lnTo>
                      <a:lnTo>
                        <a:pt x="155" y="5"/>
                      </a:lnTo>
                      <a:lnTo>
                        <a:pt x="156" y="6"/>
                      </a:lnTo>
                      <a:lnTo>
                        <a:pt x="158" y="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77" name="Freeform 2414"/>
                <p:cNvSpPr>
                  <a:spLocks noChangeAspect="1"/>
                </p:cNvSpPr>
                <p:nvPr/>
              </p:nvSpPr>
              <p:spPr bwMode="auto">
                <a:xfrm>
                  <a:off x="5307" y="2422"/>
                  <a:ext cx="52" cy="52"/>
                </a:xfrm>
                <a:custGeom>
                  <a:avLst/>
                  <a:gdLst>
                    <a:gd name="T0" fmla="*/ 0 w 156"/>
                    <a:gd name="T1" fmla="*/ 0 h 157"/>
                    <a:gd name="T2" fmla="*/ 0 w 156"/>
                    <a:gd name="T3" fmla="*/ 0 h 157"/>
                    <a:gd name="T4" fmla="*/ 0 w 156"/>
                    <a:gd name="T5" fmla="*/ 0 h 157"/>
                    <a:gd name="T6" fmla="*/ 0 w 156"/>
                    <a:gd name="T7" fmla="*/ 0 h 157"/>
                    <a:gd name="T8" fmla="*/ 0 w 156"/>
                    <a:gd name="T9" fmla="*/ 0 h 157"/>
                    <a:gd name="T10" fmla="*/ 0 w 156"/>
                    <a:gd name="T11" fmla="*/ 0 h 157"/>
                    <a:gd name="T12" fmla="*/ 0 w 156"/>
                    <a:gd name="T13" fmla="*/ 0 h 157"/>
                    <a:gd name="T14" fmla="*/ 0 w 156"/>
                    <a:gd name="T15" fmla="*/ 0 h 157"/>
                    <a:gd name="T16" fmla="*/ 0 w 156"/>
                    <a:gd name="T17" fmla="*/ 0 h 157"/>
                    <a:gd name="T18" fmla="*/ 0 w 156"/>
                    <a:gd name="T19" fmla="*/ 0 h 157"/>
                    <a:gd name="T20" fmla="*/ 0 w 156"/>
                    <a:gd name="T21" fmla="*/ 0 h 157"/>
                    <a:gd name="T22" fmla="*/ 0 w 156"/>
                    <a:gd name="T23" fmla="*/ 0 h 157"/>
                    <a:gd name="T24" fmla="*/ 0 w 156"/>
                    <a:gd name="T25" fmla="*/ 0 h 157"/>
                    <a:gd name="T26" fmla="*/ 0 w 156"/>
                    <a:gd name="T27" fmla="*/ 0 h 157"/>
                    <a:gd name="T28" fmla="*/ 0 w 156"/>
                    <a:gd name="T29" fmla="*/ 0 h 157"/>
                    <a:gd name="T30" fmla="*/ 0 w 156"/>
                    <a:gd name="T31" fmla="*/ 0 h 157"/>
                    <a:gd name="T32" fmla="*/ 0 w 156"/>
                    <a:gd name="T33" fmla="*/ 0 h 157"/>
                    <a:gd name="T34" fmla="*/ 0 w 156"/>
                    <a:gd name="T35" fmla="*/ 0 h 157"/>
                    <a:gd name="T36" fmla="*/ 0 w 156"/>
                    <a:gd name="T37" fmla="*/ 0 h 1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6" h="157">
                      <a:moveTo>
                        <a:pt x="156" y="7"/>
                      </a:moveTo>
                      <a:lnTo>
                        <a:pt x="6" y="157"/>
                      </a:lnTo>
                      <a:lnTo>
                        <a:pt x="5" y="156"/>
                      </a:lnTo>
                      <a:lnTo>
                        <a:pt x="4" y="154"/>
                      </a:lnTo>
                      <a:lnTo>
                        <a:pt x="3" y="153"/>
                      </a:lnTo>
                      <a:lnTo>
                        <a:pt x="3" y="151"/>
                      </a:lnTo>
                      <a:lnTo>
                        <a:pt x="2" y="149"/>
                      </a:lnTo>
                      <a:lnTo>
                        <a:pt x="1" y="148"/>
                      </a:lnTo>
                      <a:lnTo>
                        <a:pt x="1" y="146"/>
                      </a:lnTo>
                      <a:lnTo>
                        <a:pt x="0" y="145"/>
                      </a:lnTo>
                      <a:lnTo>
                        <a:pt x="145" y="0"/>
                      </a:lnTo>
                      <a:lnTo>
                        <a:pt x="146" y="1"/>
                      </a:lnTo>
                      <a:lnTo>
                        <a:pt x="148" y="2"/>
                      </a:lnTo>
                      <a:lnTo>
                        <a:pt x="150" y="3"/>
                      </a:lnTo>
                      <a:lnTo>
                        <a:pt x="151" y="3"/>
                      </a:lnTo>
                      <a:lnTo>
                        <a:pt x="152" y="4"/>
                      </a:lnTo>
                      <a:lnTo>
                        <a:pt x="153" y="5"/>
                      </a:lnTo>
                      <a:lnTo>
                        <a:pt x="155" y="6"/>
                      </a:lnTo>
                      <a:lnTo>
                        <a:pt x="156" y="7"/>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78" name="Freeform 2415"/>
                <p:cNvSpPr>
                  <a:spLocks noChangeAspect="1"/>
                </p:cNvSpPr>
                <p:nvPr/>
              </p:nvSpPr>
              <p:spPr bwMode="auto">
                <a:xfrm>
                  <a:off x="5306" y="2421"/>
                  <a:ext cx="51" cy="51"/>
                </a:xfrm>
                <a:custGeom>
                  <a:avLst/>
                  <a:gdLst>
                    <a:gd name="T0" fmla="*/ 0 w 154"/>
                    <a:gd name="T1" fmla="*/ 0 h 155"/>
                    <a:gd name="T2" fmla="*/ 0 w 154"/>
                    <a:gd name="T3" fmla="*/ 0 h 155"/>
                    <a:gd name="T4" fmla="*/ 0 w 154"/>
                    <a:gd name="T5" fmla="*/ 0 h 155"/>
                    <a:gd name="T6" fmla="*/ 0 w 154"/>
                    <a:gd name="T7" fmla="*/ 0 h 155"/>
                    <a:gd name="T8" fmla="*/ 0 w 154"/>
                    <a:gd name="T9" fmla="*/ 0 h 155"/>
                    <a:gd name="T10" fmla="*/ 0 w 154"/>
                    <a:gd name="T11" fmla="*/ 0 h 155"/>
                    <a:gd name="T12" fmla="*/ 0 w 154"/>
                    <a:gd name="T13" fmla="*/ 0 h 155"/>
                    <a:gd name="T14" fmla="*/ 0 w 154"/>
                    <a:gd name="T15" fmla="*/ 0 h 155"/>
                    <a:gd name="T16" fmla="*/ 0 w 154"/>
                    <a:gd name="T17" fmla="*/ 0 h 155"/>
                    <a:gd name="T18" fmla="*/ 0 w 154"/>
                    <a:gd name="T19" fmla="*/ 0 h 155"/>
                    <a:gd name="T20" fmla="*/ 0 w 154"/>
                    <a:gd name="T21" fmla="*/ 0 h 155"/>
                    <a:gd name="T22" fmla="*/ 0 w 154"/>
                    <a:gd name="T23" fmla="*/ 0 h 155"/>
                    <a:gd name="T24" fmla="*/ 0 w 154"/>
                    <a:gd name="T25" fmla="*/ 0 h 155"/>
                    <a:gd name="T26" fmla="*/ 0 w 154"/>
                    <a:gd name="T27" fmla="*/ 0 h 155"/>
                    <a:gd name="T28" fmla="*/ 0 w 154"/>
                    <a:gd name="T29" fmla="*/ 0 h 155"/>
                    <a:gd name="T30" fmla="*/ 0 w 154"/>
                    <a:gd name="T31" fmla="*/ 0 h 155"/>
                    <a:gd name="T32" fmla="*/ 0 w 154"/>
                    <a:gd name="T33" fmla="*/ 0 h 155"/>
                    <a:gd name="T34" fmla="*/ 0 w 154"/>
                    <a:gd name="T35" fmla="*/ 0 h 155"/>
                    <a:gd name="T36" fmla="*/ 0 w 154"/>
                    <a:gd name="T37" fmla="*/ 0 h 15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4" h="155">
                      <a:moveTo>
                        <a:pt x="154" y="6"/>
                      </a:moveTo>
                      <a:lnTo>
                        <a:pt x="6" y="155"/>
                      </a:lnTo>
                      <a:lnTo>
                        <a:pt x="5" y="152"/>
                      </a:lnTo>
                      <a:lnTo>
                        <a:pt x="4" y="151"/>
                      </a:lnTo>
                      <a:lnTo>
                        <a:pt x="4" y="149"/>
                      </a:lnTo>
                      <a:lnTo>
                        <a:pt x="3" y="148"/>
                      </a:lnTo>
                      <a:lnTo>
                        <a:pt x="3" y="146"/>
                      </a:lnTo>
                      <a:lnTo>
                        <a:pt x="2" y="145"/>
                      </a:lnTo>
                      <a:lnTo>
                        <a:pt x="0" y="143"/>
                      </a:lnTo>
                      <a:lnTo>
                        <a:pt x="0" y="142"/>
                      </a:lnTo>
                      <a:lnTo>
                        <a:pt x="142" y="0"/>
                      </a:lnTo>
                      <a:lnTo>
                        <a:pt x="144" y="0"/>
                      </a:lnTo>
                      <a:lnTo>
                        <a:pt x="145" y="1"/>
                      </a:lnTo>
                      <a:lnTo>
                        <a:pt x="146" y="3"/>
                      </a:lnTo>
                      <a:lnTo>
                        <a:pt x="148" y="3"/>
                      </a:lnTo>
                      <a:lnTo>
                        <a:pt x="149" y="4"/>
                      </a:lnTo>
                      <a:lnTo>
                        <a:pt x="151" y="5"/>
                      </a:lnTo>
                      <a:lnTo>
                        <a:pt x="153" y="6"/>
                      </a:lnTo>
                      <a:lnTo>
                        <a:pt x="154" y="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79" name="Freeform 2416"/>
                <p:cNvSpPr>
                  <a:spLocks noChangeAspect="1"/>
                </p:cNvSpPr>
                <p:nvPr/>
              </p:nvSpPr>
              <p:spPr bwMode="auto">
                <a:xfrm>
                  <a:off x="5305" y="2420"/>
                  <a:ext cx="50" cy="50"/>
                </a:xfrm>
                <a:custGeom>
                  <a:avLst/>
                  <a:gdLst>
                    <a:gd name="T0" fmla="*/ 0 w 150"/>
                    <a:gd name="T1" fmla="*/ 0 h 151"/>
                    <a:gd name="T2" fmla="*/ 0 w 150"/>
                    <a:gd name="T3" fmla="*/ 0 h 151"/>
                    <a:gd name="T4" fmla="*/ 0 w 150"/>
                    <a:gd name="T5" fmla="*/ 0 h 151"/>
                    <a:gd name="T6" fmla="*/ 0 w 150"/>
                    <a:gd name="T7" fmla="*/ 0 h 151"/>
                    <a:gd name="T8" fmla="*/ 0 w 150"/>
                    <a:gd name="T9" fmla="*/ 0 h 151"/>
                    <a:gd name="T10" fmla="*/ 0 w 150"/>
                    <a:gd name="T11" fmla="*/ 0 h 151"/>
                    <a:gd name="T12" fmla="*/ 0 w 150"/>
                    <a:gd name="T13" fmla="*/ 0 h 151"/>
                    <a:gd name="T14" fmla="*/ 0 w 150"/>
                    <a:gd name="T15" fmla="*/ 0 h 151"/>
                    <a:gd name="T16" fmla="*/ 0 w 150"/>
                    <a:gd name="T17" fmla="*/ 0 h 151"/>
                    <a:gd name="T18" fmla="*/ 0 w 150"/>
                    <a:gd name="T19" fmla="*/ 0 h 151"/>
                    <a:gd name="T20" fmla="*/ 0 w 150"/>
                    <a:gd name="T21" fmla="*/ 0 h 151"/>
                    <a:gd name="T22" fmla="*/ 0 w 150"/>
                    <a:gd name="T23" fmla="*/ 0 h 151"/>
                    <a:gd name="T24" fmla="*/ 0 w 150"/>
                    <a:gd name="T25" fmla="*/ 0 h 151"/>
                    <a:gd name="T26" fmla="*/ 0 w 150"/>
                    <a:gd name="T27" fmla="*/ 0 h 151"/>
                    <a:gd name="T28" fmla="*/ 0 w 150"/>
                    <a:gd name="T29" fmla="*/ 0 h 151"/>
                    <a:gd name="T30" fmla="*/ 0 w 150"/>
                    <a:gd name="T31" fmla="*/ 0 h 151"/>
                    <a:gd name="T32" fmla="*/ 0 w 150"/>
                    <a:gd name="T33" fmla="*/ 0 h 151"/>
                    <a:gd name="T34" fmla="*/ 0 w 150"/>
                    <a:gd name="T35" fmla="*/ 0 h 151"/>
                    <a:gd name="T36" fmla="*/ 0 w 150"/>
                    <a:gd name="T37" fmla="*/ 0 h 1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0" h="151">
                      <a:moveTo>
                        <a:pt x="150" y="6"/>
                      </a:moveTo>
                      <a:lnTo>
                        <a:pt x="5" y="151"/>
                      </a:lnTo>
                      <a:lnTo>
                        <a:pt x="5" y="149"/>
                      </a:lnTo>
                      <a:lnTo>
                        <a:pt x="4" y="148"/>
                      </a:lnTo>
                      <a:lnTo>
                        <a:pt x="2" y="146"/>
                      </a:lnTo>
                      <a:lnTo>
                        <a:pt x="2" y="145"/>
                      </a:lnTo>
                      <a:lnTo>
                        <a:pt x="1" y="143"/>
                      </a:lnTo>
                      <a:lnTo>
                        <a:pt x="1" y="142"/>
                      </a:lnTo>
                      <a:lnTo>
                        <a:pt x="0" y="139"/>
                      </a:lnTo>
                      <a:lnTo>
                        <a:pt x="0" y="138"/>
                      </a:lnTo>
                      <a:lnTo>
                        <a:pt x="138" y="0"/>
                      </a:lnTo>
                      <a:lnTo>
                        <a:pt x="140" y="1"/>
                      </a:lnTo>
                      <a:lnTo>
                        <a:pt x="141" y="1"/>
                      </a:lnTo>
                      <a:lnTo>
                        <a:pt x="143" y="2"/>
                      </a:lnTo>
                      <a:lnTo>
                        <a:pt x="144" y="3"/>
                      </a:lnTo>
                      <a:lnTo>
                        <a:pt x="146" y="3"/>
                      </a:lnTo>
                      <a:lnTo>
                        <a:pt x="147" y="4"/>
                      </a:lnTo>
                      <a:lnTo>
                        <a:pt x="148" y="6"/>
                      </a:lnTo>
                      <a:lnTo>
                        <a:pt x="150" y="6"/>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80" name="Freeform 2417"/>
                <p:cNvSpPr>
                  <a:spLocks noChangeAspect="1"/>
                </p:cNvSpPr>
                <p:nvPr/>
              </p:nvSpPr>
              <p:spPr bwMode="auto">
                <a:xfrm>
                  <a:off x="5305" y="2419"/>
                  <a:ext cx="48" cy="49"/>
                </a:xfrm>
                <a:custGeom>
                  <a:avLst/>
                  <a:gdLst>
                    <a:gd name="T0" fmla="*/ 0 w 146"/>
                    <a:gd name="T1" fmla="*/ 0 h 147"/>
                    <a:gd name="T2" fmla="*/ 0 w 146"/>
                    <a:gd name="T3" fmla="*/ 0 h 147"/>
                    <a:gd name="T4" fmla="*/ 0 w 146"/>
                    <a:gd name="T5" fmla="*/ 0 h 147"/>
                    <a:gd name="T6" fmla="*/ 0 w 146"/>
                    <a:gd name="T7" fmla="*/ 0 h 147"/>
                    <a:gd name="T8" fmla="*/ 0 w 146"/>
                    <a:gd name="T9" fmla="*/ 0 h 147"/>
                    <a:gd name="T10" fmla="*/ 0 w 146"/>
                    <a:gd name="T11" fmla="*/ 0 h 147"/>
                    <a:gd name="T12" fmla="*/ 0 w 146"/>
                    <a:gd name="T13" fmla="*/ 0 h 147"/>
                    <a:gd name="T14" fmla="*/ 0 w 146"/>
                    <a:gd name="T15" fmla="*/ 0 h 147"/>
                    <a:gd name="T16" fmla="*/ 0 w 146"/>
                    <a:gd name="T17" fmla="*/ 0 h 147"/>
                    <a:gd name="T18" fmla="*/ 0 w 146"/>
                    <a:gd name="T19" fmla="*/ 0 h 147"/>
                    <a:gd name="T20" fmla="*/ 0 w 146"/>
                    <a:gd name="T21" fmla="*/ 0 h 147"/>
                    <a:gd name="T22" fmla="*/ 0 w 146"/>
                    <a:gd name="T23" fmla="*/ 0 h 147"/>
                    <a:gd name="T24" fmla="*/ 0 w 146"/>
                    <a:gd name="T25" fmla="*/ 0 h 147"/>
                    <a:gd name="T26" fmla="*/ 0 w 146"/>
                    <a:gd name="T27" fmla="*/ 0 h 147"/>
                    <a:gd name="T28" fmla="*/ 0 w 146"/>
                    <a:gd name="T29" fmla="*/ 0 h 147"/>
                    <a:gd name="T30" fmla="*/ 0 w 146"/>
                    <a:gd name="T31" fmla="*/ 0 h 147"/>
                    <a:gd name="T32" fmla="*/ 0 w 146"/>
                    <a:gd name="T33" fmla="*/ 0 h 147"/>
                    <a:gd name="T34" fmla="*/ 0 w 146"/>
                    <a:gd name="T35" fmla="*/ 0 h 147"/>
                    <a:gd name="T36" fmla="*/ 0 w 146"/>
                    <a:gd name="T37" fmla="*/ 0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6" h="147">
                      <a:moveTo>
                        <a:pt x="146" y="5"/>
                      </a:moveTo>
                      <a:lnTo>
                        <a:pt x="4" y="147"/>
                      </a:lnTo>
                      <a:lnTo>
                        <a:pt x="3" y="145"/>
                      </a:lnTo>
                      <a:lnTo>
                        <a:pt x="3" y="144"/>
                      </a:lnTo>
                      <a:lnTo>
                        <a:pt x="2" y="141"/>
                      </a:lnTo>
                      <a:lnTo>
                        <a:pt x="2" y="140"/>
                      </a:lnTo>
                      <a:lnTo>
                        <a:pt x="2" y="138"/>
                      </a:lnTo>
                      <a:lnTo>
                        <a:pt x="1" y="136"/>
                      </a:lnTo>
                      <a:lnTo>
                        <a:pt x="1" y="135"/>
                      </a:lnTo>
                      <a:lnTo>
                        <a:pt x="0" y="133"/>
                      </a:lnTo>
                      <a:lnTo>
                        <a:pt x="133" y="0"/>
                      </a:lnTo>
                      <a:lnTo>
                        <a:pt x="135" y="1"/>
                      </a:lnTo>
                      <a:lnTo>
                        <a:pt x="136" y="1"/>
                      </a:lnTo>
                      <a:lnTo>
                        <a:pt x="139" y="2"/>
                      </a:lnTo>
                      <a:lnTo>
                        <a:pt x="140" y="2"/>
                      </a:lnTo>
                      <a:lnTo>
                        <a:pt x="142" y="3"/>
                      </a:lnTo>
                      <a:lnTo>
                        <a:pt x="143" y="3"/>
                      </a:lnTo>
                      <a:lnTo>
                        <a:pt x="145" y="4"/>
                      </a:lnTo>
                      <a:lnTo>
                        <a:pt x="146" y="5"/>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81" name="Freeform 2418"/>
                <p:cNvSpPr>
                  <a:spLocks noChangeAspect="1"/>
                </p:cNvSpPr>
                <p:nvPr/>
              </p:nvSpPr>
              <p:spPr bwMode="auto">
                <a:xfrm>
                  <a:off x="5304" y="2418"/>
                  <a:ext cx="47" cy="48"/>
                </a:xfrm>
                <a:custGeom>
                  <a:avLst/>
                  <a:gdLst>
                    <a:gd name="T0" fmla="*/ 0 w 141"/>
                    <a:gd name="T1" fmla="*/ 0 h 142"/>
                    <a:gd name="T2" fmla="*/ 0 w 141"/>
                    <a:gd name="T3" fmla="*/ 0 h 142"/>
                    <a:gd name="T4" fmla="*/ 0 w 141"/>
                    <a:gd name="T5" fmla="*/ 0 h 142"/>
                    <a:gd name="T6" fmla="*/ 0 w 141"/>
                    <a:gd name="T7" fmla="*/ 0 h 142"/>
                    <a:gd name="T8" fmla="*/ 0 w 141"/>
                    <a:gd name="T9" fmla="*/ 0 h 142"/>
                    <a:gd name="T10" fmla="*/ 0 w 141"/>
                    <a:gd name="T11" fmla="*/ 0 h 142"/>
                    <a:gd name="T12" fmla="*/ 0 w 141"/>
                    <a:gd name="T13" fmla="*/ 0 h 142"/>
                    <a:gd name="T14" fmla="*/ 0 w 141"/>
                    <a:gd name="T15" fmla="*/ 0 h 142"/>
                    <a:gd name="T16" fmla="*/ 0 w 141"/>
                    <a:gd name="T17" fmla="*/ 0 h 142"/>
                    <a:gd name="T18" fmla="*/ 0 w 141"/>
                    <a:gd name="T19" fmla="*/ 0 h 142"/>
                    <a:gd name="T20" fmla="*/ 0 w 141"/>
                    <a:gd name="T21" fmla="*/ 0 h 142"/>
                    <a:gd name="T22" fmla="*/ 0 w 141"/>
                    <a:gd name="T23" fmla="*/ 0 h 142"/>
                    <a:gd name="T24" fmla="*/ 0 w 141"/>
                    <a:gd name="T25" fmla="*/ 0 h 142"/>
                    <a:gd name="T26" fmla="*/ 0 w 141"/>
                    <a:gd name="T27" fmla="*/ 0 h 142"/>
                    <a:gd name="T28" fmla="*/ 0 w 141"/>
                    <a:gd name="T29" fmla="*/ 0 h 142"/>
                    <a:gd name="T30" fmla="*/ 0 w 141"/>
                    <a:gd name="T31" fmla="*/ 0 h 142"/>
                    <a:gd name="T32" fmla="*/ 0 w 141"/>
                    <a:gd name="T33" fmla="*/ 0 h 142"/>
                    <a:gd name="T34" fmla="*/ 0 w 141"/>
                    <a:gd name="T35" fmla="*/ 0 h 142"/>
                    <a:gd name="T36" fmla="*/ 0 w 141"/>
                    <a:gd name="T37" fmla="*/ 0 h 1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1" h="142">
                      <a:moveTo>
                        <a:pt x="141" y="4"/>
                      </a:moveTo>
                      <a:lnTo>
                        <a:pt x="3" y="142"/>
                      </a:lnTo>
                      <a:lnTo>
                        <a:pt x="3" y="140"/>
                      </a:lnTo>
                      <a:lnTo>
                        <a:pt x="2" y="138"/>
                      </a:lnTo>
                      <a:lnTo>
                        <a:pt x="2" y="137"/>
                      </a:lnTo>
                      <a:lnTo>
                        <a:pt x="1" y="135"/>
                      </a:lnTo>
                      <a:lnTo>
                        <a:pt x="1" y="133"/>
                      </a:lnTo>
                      <a:lnTo>
                        <a:pt x="1" y="132"/>
                      </a:lnTo>
                      <a:lnTo>
                        <a:pt x="0" y="130"/>
                      </a:lnTo>
                      <a:lnTo>
                        <a:pt x="0" y="128"/>
                      </a:lnTo>
                      <a:lnTo>
                        <a:pt x="128" y="0"/>
                      </a:lnTo>
                      <a:lnTo>
                        <a:pt x="129" y="1"/>
                      </a:lnTo>
                      <a:lnTo>
                        <a:pt x="131" y="1"/>
                      </a:lnTo>
                      <a:lnTo>
                        <a:pt x="133" y="2"/>
                      </a:lnTo>
                      <a:lnTo>
                        <a:pt x="134" y="2"/>
                      </a:lnTo>
                      <a:lnTo>
                        <a:pt x="136" y="3"/>
                      </a:lnTo>
                      <a:lnTo>
                        <a:pt x="137" y="3"/>
                      </a:lnTo>
                      <a:lnTo>
                        <a:pt x="140" y="4"/>
                      </a:lnTo>
                      <a:lnTo>
                        <a:pt x="141" y="4"/>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82" name="Freeform 2419"/>
                <p:cNvSpPr>
                  <a:spLocks noChangeAspect="1"/>
                </p:cNvSpPr>
                <p:nvPr/>
              </p:nvSpPr>
              <p:spPr bwMode="auto">
                <a:xfrm>
                  <a:off x="5304" y="2418"/>
                  <a:ext cx="45" cy="45"/>
                </a:xfrm>
                <a:custGeom>
                  <a:avLst/>
                  <a:gdLst>
                    <a:gd name="T0" fmla="*/ 0 w 135"/>
                    <a:gd name="T1" fmla="*/ 0 h 136"/>
                    <a:gd name="T2" fmla="*/ 0 w 135"/>
                    <a:gd name="T3" fmla="*/ 0 h 136"/>
                    <a:gd name="T4" fmla="*/ 0 w 135"/>
                    <a:gd name="T5" fmla="*/ 0 h 136"/>
                    <a:gd name="T6" fmla="*/ 0 w 135"/>
                    <a:gd name="T7" fmla="*/ 0 h 136"/>
                    <a:gd name="T8" fmla="*/ 0 w 135"/>
                    <a:gd name="T9" fmla="*/ 0 h 136"/>
                    <a:gd name="T10" fmla="*/ 0 w 135"/>
                    <a:gd name="T11" fmla="*/ 0 h 136"/>
                    <a:gd name="T12" fmla="*/ 0 w 135"/>
                    <a:gd name="T13" fmla="*/ 0 h 136"/>
                    <a:gd name="T14" fmla="*/ 0 w 135"/>
                    <a:gd name="T15" fmla="*/ 0 h 136"/>
                    <a:gd name="T16" fmla="*/ 0 w 135"/>
                    <a:gd name="T17" fmla="*/ 0 h 136"/>
                    <a:gd name="T18" fmla="*/ 0 w 135"/>
                    <a:gd name="T19" fmla="*/ 0 h 136"/>
                    <a:gd name="T20" fmla="*/ 0 w 135"/>
                    <a:gd name="T21" fmla="*/ 0 h 136"/>
                    <a:gd name="T22" fmla="*/ 0 w 135"/>
                    <a:gd name="T23" fmla="*/ 0 h 136"/>
                    <a:gd name="T24" fmla="*/ 0 w 135"/>
                    <a:gd name="T25" fmla="*/ 0 h 136"/>
                    <a:gd name="T26" fmla="*/ 0 w 135"/>
                    <a:gd name="T27" fmla="*/ 0 h 136"/>
                    <a:gd name="T28" fmla="*/ 0 w 135"/>
                    <a:gd name="T29" fmla="*/ 0 h 136"/>
                    <a:gd name="T30" fmla="*/ 0 w 135"/>
                    <a:gd name="T31" fmla="*/ 0 h 136"/>
                    <a:gd name="T32" fmla="*/ 0 w 135"/>
                    <a:gd name="T33" fmla="*/ 0 h 136"/>
                    <a:gd name="T34" fmla="*/ 0 w 135"/>
                    <a:gd name="T35" fmla="*/ 0 h 136"/>
                    <a:gd name="T36" fmla="*/ 0 w 135"/>
                    <a:gd name="T37" fmla="*/ 0 h 1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35" h="136">
                      <a:moveTo>
                        <a:pt x="135" y="3"/>
                      </a:moveTo>
                      <a:lnTo>
                        <a:pt x="2" y="136"/>
                      </a:lnTo>
                      <a:lnTo>
                        <a:pt x="2" y="134"/>
                      </a:lnTo>
                      <a:lnTo>
                        <a:pt x="2" y="133"/>
                      </a:lnTo>
                      <a:lnTo>
                        <a:pt x="1" y="131"/>
                      </a:lnTo>
                      <a:lnTo>
                        <a:pt x="1" y="129"/>
                      </a:lnTo>
                      <a:lnTo>
                        <a:pt x="1" y="126"/>
                      </a:lnTo>
                      <a:lnTo>
                        <a:pt x="1" y="124"/>
                      </a:lnTo>
                      <a:lnTo>
                        <a:pt x="0" y="123"/>
                      </a:lnTo>
                      <a:lnTo>
                        <a:pt x="0" y="121"/>
                      </a:lnTo>
                      <a:lnTo>
                        <a:pt x="121" y="0"/>
                      </a:lnTo>
                      <a:lnTo>
                        <a:pt x="124" y="0"/>
                      </a:lnTo>
                      <a:lnTo>
                        <a:pt x="125" y="1"/>
                      </a:lnTo>
                      <a:lnTo>
                        <a:pt x="127" y="1"/>
                      </a:lnTo>
                      <a:lnTo>
                        <a:pt x="129" y="1"/>
                      </a:lnTo>
                      <a:lnTo>
                        <a:pt x="130" y="2"/>
                      </a:lnTo>
                      <a:lnTo>
                        <a:pt x="132" y="2"/>
                      </a:lnTo>
                      <a:lnTo>
                        <a:pt x="134" y="3"/>
                      </a:lnTo>
                      <a:lnTo>
                        <a:pt x="135" y="3"/>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83" name="Freeform 2420"/>
                <p:cNvSpPr>
                  <a:spLocks noChangeAspect="1"/>
                </p:cNvSpPr>
                <p:nvPr/>
              </p:nvSpPr>
              <p:spPr bwMode="auto">
                <a:xfrm>
                  <a:off x="5304" y="2418"/>
                  <a:ext cx="43" cy="43"/>
                </a:xfrm>
                <a:custGeom>
                  <a:avLst/>
                  <a:gdLst>
                    <a:gd name="T0" fmla="*/ 0 w 129"/>
                    <a:gd name="T1" fmla="*/ 0 h 130"/>
                    <a:gd name="T2" fmla="*/ 0 w 129"/>
                    <a:gd name="T3" fmla="*/ 0 h 130"/>
                    <a:gd name="T4" fmla="*/ 0 w 129"/>
                    <a:gd name="T5" fmla="*/ 0 h 130"/>
                    <a:gd name="T6" fmla="*/ 0 w 129"/>
                    <a:gd name="T7" fmla="*/ 0 h 130"/>
                    <a:gd name="T8" fmla="*/ 0 w 129"/>
                    <a:gd name="T9" fmla="*/ 0 h 130"/>
                    <a:gd name="T10" fmla="*/ 0 w 129"/>
                    <a:gd name="T11" fmla="*/ 0 h 130"/>
                    <a:gd name="T12" fmla="*/ 0 w 129"/>
                    <a:gd name="T13" fmla="*/ 0 h 130"/>
                    <a:gd name="T14" fmla="*/ 0 w 129"/>
                    <a:gd name="T15" fmla="*/ 0 h 130"/>
                    <a:gd name="T16" fmla="*/ 0 w 129"/>
                    <a:gd name="T17" fmla="*/ 0 h 130"/>
                    <a:gd name="T18" fmla="*/ 0 w 129"/>
                    <a:gd name="T19" fmla="*/ 0 h 130"/>
                    <a:gd name="T20" fmla="*/ 0 w 129"/>
                    <a:gd name="T21" fmla="*/ 0 h 130"/>
                    <a:gd name="T22" fmla="*/ 0 w 129"/>
                    <a:gd name="T23" fmla="*/ 0 h 130"/>
                    <a:gd name="T24" fmla="*/ 0 w 129"/>
                    <a:gd name="T25" fmla="*/ 0 h 130"/>
                    <a:gd name="T26" fmla="*/ 0 w 129"/>
                    <a:gd name="T27" fmla="*/ 0 h 130"/>
                    <a:gd name="T28" fmla="*/ 0 w 129"/>
                    <a:gd name="T29" fmla="*/ 0 h 130"/>
                    <a:gd name="T30" fmla="*/ 0 w 129"/>
                    <a:gd name="T31" fmla="*/ 0 h 130"/>
                    <a:gd name="T32" fmla="*/ 0 w 129"/>
                    <a:gd name="T33" fmla="*/ 0 h 130"/>
                    <a:gd name="T34" fmla="*/ 0 w 129"/>
                    <a:gd name="T35" fmla="*/ 0 h 130"/>
                    <a:gd name="T36" fmla="*/ 0 w 129"/>
                    <a:gd name="T37" fmla="*/ 0 h 1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9" h="130">
                      <a:moveTo>
                        <a:pt x="129" y="2"/>
                      </a:moveTo>
                      <a:lnTo>
                        <a:pt x="1" y="130"/>
                      </a:lnTo>
                      <a:lnTo>
                        <a:pt x="1" y="127"/>
                      </a:lnTo>
                      <a:lnTo>
                        <a:pt x="1" y="125"/>
                      </a:lnTo>
                      <a:lnTo>
                        <a:pt x="0" y="124"/>
                      </a:lnTo>
                      <a:lnTo>
                        <a:pt x="0" y="122"/>
                      </a:lnTo>
                      <a:lnTo>
                        <a:pt x="0" y="120"/>
                      </a:lnTo>
                      <a:lnTo>
                        <a:pt x="0" y="118"/>
                      </a:lnTo>
                      <a:lnTo>
                        <a:pt x="0" y="116"/>
                      </a:lnTo>
                      <a:lnTo>
                        <a:pt x="0" y="114"/>
                      </a:lnTo>
                      <a:lnTo>
                        <a:pt x="113" y="0"/>
                      </a:lnTo>
                      <a:lnTo>
                        <a:pt x="115" y="0"/>
                      </a:lnTo>
                      <a:lnTo>
                        <a:pt x="117" y="1"/>
                      </a:lnTo>
                      <a:lnTo>
                        <a:pt x="119" y="1"/>
                      </a:lnTo>
                      <a:lnTo>
                        <a:pt x="121" y="1"/>
                      </a:lnTo>
                      <a:lnTo>
                        <a:pt x="123" y="1"/>
                      </a:lnTo>
                      <a:lnTo>
                        <a:pt x="125" y="2"/>
                      </a:lnTo>
                      <a:lnTo>
                        <a:pt x="127" y="2"/>
                      </a:lnTo>
                      <a:lnTo>
                        <a:pt x="129" y="2"/>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84" name="Freeform 2421"/>
                <p:cNvSpPr>
                  <a:spLocks noChangeAspect="1"/>
                </p:cNvSpPr>
                <p:nvPr/>
              </p:nvSpPr>
              <p:spPr bwMode="auto">
                <a:xfrm>
                  <a:off x="5304" y="2418"/>
                  <a:ext cx="40" cy="40"/>
                </a:xfrm>
                <a:custGeom>
                  <a:avLst/>
                  <a:gdLst>
                    <a:gd name="T0" fmla="*/ 0 w 121"/>
                    <a:gd name="T1" fmla="*/ 0 h 122"/>
                    <a:gd name="T2" fmla="*/ 0 w 121"/>
                    <a:gd name="T3" fmla="*/ 0 h 122"/>
                    <a:gd name="T4" fmla="*/ 0 w 121"/>
                    <a:gd name="T5" fmla="*/ 0 h 122"/>
                    <a:gd name="T6" fmla="*/ 0 w 121"/>
                    <a:gd name="T7" fmla="*/ 0 h 122"/>
                    <a:gd name="T8" fmla="*/ 0 w 121"/>
                    <a:gd name="T9" fmla="*/ 0 h 122"/>
                    <a:gd name="T10" fmla="*/ 0 w 121"/>
                    <a:gd name="T11" fmla="*/ 0 h 122"/>
                    <a:gd name="T12" fmla="*/ 0 w 121"/>
                    <a:gd name="T13" fmla="*/ 0 h 122"/>
                    <a:gd name="T14" fmla="*/ 0 w 121"/>
                    <a:gd name="T15" fmla="*/ 0 h 122"/>
                    <a:gd name="T16" fmla="*/ 0 w 121"/>
                    <a:gd name="T17" fmla="*/ 0 h 122"/>
                    <a:gd name="T18" fmla="*/ 0 w 121"/>
                    <a:gd name="T19" fmla="*/ 0 h 122"/>
                    <a:gd name="T20" fmla="*/ 0 w 121"/>
                    <a:gd name="T21" fmla="*/ 0 h 122"/>
                    <a:gd name="T22" fmla="*/ 0 w 121"/>
                    <a:gd name="T23" fmla="*/ 0 h 122"/>
                    <a:gd name="T24" fmla="*/ 0 w 121"/>
                    <a:gd name="T25" fmla="*/ 0 h 122"/>
                    <a:gd name="T26" fmla="*/ 0 w 121"/>
                    <a:gd name="T27" fmla="*/ 0 h 122"/>
                    <a:gd name="T28" fmla="*/ 0 w 121"/>
                    <a:gd name="T29" fmla="*/ 0 h 122"/>
                    <a:gd name="T30" fmla="*/ 0 w 121"/>
                    <a:gd name="T31" fmla="*/ 0 h 122"/>
                    <a:gd name="T32" fmla="*/ 0 w 121"/>
                    <a:gd name="T33" fmla="*/ 0 h 122"/>
                    <a:gd name="T34" fmla="*/ 0 w 121"/>
                    <a:gd name="T35" fmla="*/ 0 h 122"/>
                    <a:gd name="T36" fmla="*/ 0 w 121"/>
                    <a:gd name="T37" fmla="*/ 0 h 122"/>
                    <a:gd name="T38" fmla="*/ 0 w 121"/>
                    <a:gd name="T39" fmla="*/ 0 h 122"/>
                    <a:gd name="T40" fmla="*/ 0 w 121"/>
                    <a:gd name="T41" fmla="*/ 0 h 122"/>
                    <a:gd name="T42" fmla="*/ 0 w 121"/>
                    <a:gd name="T43" fmla="*/ 0 h 122"/>
                    <a:gd name="T44" fmla="*/ 0 w 121"/>
                    <a:gd name="T45" fmla="*/ 0 h 122"/>
                    <a:gd name="T46" fmla="*/ 0 w 121"/>
                    <a:gd name="T47" fmla="*/ 0 h 122"/>
                    <a:gd name="T48" fmla="*/ 0 w 121"/>
                    <a:gd name="T49" fmla="*/ 0 h 122"/>
                    <a:gd name="T50" fmla="*/ 0 w 121"/>
                    <a:gd name="T51" fmla="*/ 0 h 122"/>
                    <a:gd name="T52" fmla="*/ 0 w 121"/>
                    <a:gd name="T53" fmla="*/ 0 h 122"/>
                    <a:gd name="T54" fmla="*/ 0 w 121"/>
                    <a:gd name="T55" fmla="*/ 0 h 122"/>
                    <a:gd name="T56" fmla="*/ 0 w 121"/>
                    <a:gd name="T57" fmla="*/ 0 h 122"/>
                    <a:gd name="T58" fmla="*/ 0 w 121"/>
                    <a:gd name="T59" fmla="*/ 0 h 122"/>
                    <a:gd name="T60" fmla="*/ 0 w 121"/>
                    <a:gd name="T61" fmla="*/ 0 h 122"/>
                    <a:gd name="T62" fmla="*/ 0 w 121"/>
                    <a:gd name="T63" fmla="*/ 0 h 122"/>
                    <a:gd name="T64" fmla="*/ 0 w 121"/>
                    <a:gd name="T65" fmla="*/ 0 h 122"/>
                    <a:gd name="T66" fmla="*/ 0 w 121"/>
                    <a:gd name="T67" fmla="*/ 0 h 122"/>
                    <a:gd name="T68" fmla="*/ 0 w 121"/>
                    <a:gd name="T69" fmla="*/ 0 h 12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1" h="122">
                      <a:moveTo>
                        <a:pt x="121" y="1"/>
                      </a:moveTo>
                      <a:lnTo>
                        <a:pt x="0" y="122"/>
                      </a:lnTo>
                      <a:lnTo>
                        <a:pt x="0" y="121"/>
                      </a:lnTo>
                      <a:lnTo>
                        <a:pt x="0" y="119"/>
                      </a:lnTo>
                      <a:lnTo>
                        <a:pt x="0" y="118"/>
                      </a:lnTo>
                      <a:lnTo>
                        <a:pt x="0" y="117"/>
                      </a:lnTo>
                      <a:lnTo>
                        <a:pt x="0" y="116"/>
                      </a:lnTo>
                      <a:lnTo>
                        <a:pt x="0" y="115"/>
                      </a:lnTo>
                      <a:lnTo>
                        <a:pt x="0" y="114"/>
                      </a:lnTo>
                      <a:lnTo>
                        <a:pt x="0" y="113"/>
                      </a:lnTo>
                      <a:lnTo>
                        <a:pt x="0" y="111"/>
                      </a:lnTo>
                      <a:lnTo>
                        <a:pt x="0" y="110"/>
                      </a:lnTo>
                      <a:lnTo>
                        <a:pt x="0" y="109"/>
                      </a:lnTo>
                      <a:lnTo>
                        <a:pt x="0" y="108"/>
                      </a:lnTo>
                      <a:lnTo>
                        <a:pt x="0" y="107"/>
                      </a:lnTo>
                      <a:lnTo>
                        <a:pt x="0" y="106"/>
                      </a:lnTo>
                      <a:lnTo>
                        <a:pt x="0" y="105"/>
                      </a:lnTo>
                      <a:lnTo>
                        <a:pt x="0" y="104"/>
                      </a:lnTo>
                      <a:lnTo>
                        <a:pt x="104" y="0"/>
                      </a:lnTo>
                      <a:lnTo>
                        <a:pt x="105" y="0"/>
                      </a:lnTo>
                      <a:lnTo>
                        <a:pt x="107" y="0"/>
                      </a:lnTo>
                      <a:lnTo>
                        <a:pt x="109" y="0"/>
                      </a:lnTo>
                      <a:lnTo>
                        <a:pt x="110" y="0"/>
                      </a:lnTo>
                      <a:lnTo>
                        <a:pt x="112" y="0"/>
                      </a:lnTo>
                      <a:lnTo>
                        <a:pt x="114" y="0"/>
                      </a:lnTo>
                      <a:lnTo>
                        <a:pt x="116" y="1"/>
                      </a:lnTo>
                      <a:lnTo>
                        <a:pt x="117" y="1"/>
                      </a:lnTo>
                      <a:lnTo>
                        <a:pt x="119" y="1"/>
                      </a:lnTo>
                      <a:lnTo>
                        <a:pt x="121" y="1"/>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85" name="Freeform 2422"/>
                <p:cNvSpPr>
                  <a:spLocks noChangeAspect="1"/>
                </p:cNvSpPr>
                <p:nvPr/>
              </p:nvSpPr>
              <p:spPr bwMode="auto">
                <a:xfrm>
                  <a:off x="5304" y="2418"/>
                  <a:ext cx="38" cy="38"/>
                </a:xfrm>
                <a:custGeom>
                  <a:avLst/>
                  <a:gdLst>
                    <a:gd name="T0" fmla="*/ 0 w 113"/>
                    <a:gd name="T1" fmla="*/ 0 h 114"/>
                    <a:gd name="T2" fmla="*/ 0 w 113"/>
                    <a:gd name="T3" fmla="*/ 0 h 114"/>
                    <a:gd name="T4" fmla="*/ 0 w 113"/>
                    <a:gd name="T5" fmla="*/ 0 h 114"/>
                    <a:gd name="T6" fmla="*/ 0 w 113"/>
                    <a:gd name="T7" fmla="*/ 0 h 114"/>
                    <a:gd name="T8" fmla="*/ 0 w 113"/>
                    <a:gd name="T9" fmla="*/ 0 h 114"/>
                    <a:gd name="T10" fmla="*/ 0 w 113"/>
                    <a:gd name="T11" fmla="*/ 0 h 114"/>
                    <a:gd name="T12" fmla="*/ 0 w 113"/>
                    <a:gd name="T13" fmla="*/ 0 h 114"/>
                    <a:gd name="T14" fmla="*/ 0 w 113"/>
                    <a:gd name="T15" fmla="*/ 0 h 114"/>
                    <a:gd name="T16" fmla="*/ 0 w 113"/>
                    <a:gd name="T17" fmla="*/ 0 h 114"/>
                    <a:gd name="T18" fmla="*/ 0 w 113"/>
                    <a:gd name="T19" fmla="*/ 0 h 114"/>
                    <a:gd name="T20" fmla="*/ 0 w 113"/>
                    <a:gd name="T21" fmla="*/ 0 h 114"/>
                    <a:gd name="T22" fmla="*/ 0 w 113"/>
                    <a:gd name="T23" fmla="*/ 0 h 114"/>
                    <a:gd name="T24" fmla="*/ 0 w 113"/>
                    <a:gd name="T25" fmla="*/ 0 h 114"/>
                    <a:gd name="T26" fmla="*/ 0 w 113"/>
                    <a:gd name="T27" fmla="*/ 0 h 114"/>
                    <a:gd name="T28" fmla="*/ 0 w 113"/>
                    <a:gd name="T29" fmla="*/ 0 h 114"/>
                    <a:gd name="T30" fmla="*/ 0 w 113"/>
                    <a:gd name="T31" fmla="*/ 0 h 114"/>
                    <a:gd name="T32" fmla="*/ 0 w 113"/>
                    <a:gd name="T33" fmla="*/ 0 h 114"/>
                    <a:gd name="T34" fmla="*/ 0 w 113"/>
                    <a:gd name="T35" fmla="*/ 0 h 114"/>
                    <a:gd name="T36" fmla="*/ 0 w 113"/>
                    <a:gd name="T37" fmla="*/ 0 h 114"/>
                    <a:gd name="T38" fmla="*/ 0 w 113"/>
                    <a:gd name="T39" fmla="*/ 0 h 114"/>
                    <a:gd name="T40" fmla="*/ 0 w 113"/>
                    <a:gd name="T41" fmla="*/ 0 h 114"/>
                    <a:gd name="T42" fmla="*/ 0 w 113"/>
                    <a:gd name="T43" fmla="*/ 0 h 114"/>
                    <a:gd name="T44" fmla="*/ 0 w 113"/>
                    <a:gd name="T45" fmla="*/ 0 h 114"/>
                    <a:gd name="T46" fmla="*/ 0 w 113"/>
                    <a:gd name="T47" fmla="*/ 0 h 114"/>
                    <a:gd name="T48" fmla="*/ 0 w 113"/>
                    <a:gd name="T49" fmla="*/ 0 h 114"/>
                    <a:gd name="T50" fmla="*/ 0 w 113"/>
                    <a:gd name="T51" fmla="*/ 0 h 114"/>
                    <a:gd name="T52" fmla="*/ 0 w 113"/>
                    <a:gd name="T53" fmla="*/ 0 h 114"/>
                    <a:gd name="T54" fmla="*/ 0 w 113"/>
                    <a:gd name="T55" fmla="*/ 0 h 114"/>
                    <a:gd name="T56" fmla="*/ 0 w 113"/>
                    <a:gd name="T57" fmla="*/ 0 h 114"/>
                    <a:gd name="T58" fmla="*/ 0 w 113"/>
                    <a:gd name="T59" fmla="*/ 0 h 114"/>
                    <a:gd name="T60" fmla="*/ 0 w 113"/>
                    <a:gd name="T61" fmla="*/ 0 h 114"/>
                    <a:gd name="T62" fmla="*/ 0 w 113"/>
                    <a:gd name="T63" fmla="*/ 0 h 114"/>
                    <a:gd name="T64" fmla="*/ 0 w 113"/>
                    <a:gd name="T65" fmla="*/ 0 h 114"/>
                    <a:gd name="T66" fmla="*/ 0 w 113"/>
                    <a:gd name="T67" fmla="*/ 0 h 114"/>
                    <a:gd name="T68" fmla="*/ 0 w 113"/>
                    <a:gd name="T69" fmla="*/ 0 h 11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3" h="114">
                      <a:moveTo>
                        <a:pt x="113" y="0"/>
                      </a:moveTo>
                      <a:lnTo>
                        <a:pt x="0" y="114"/>
                      </a:lnTo>
                      <a:lnTo>
                        <a:pt x="0" y="113"/>
                      </a:lnTo>
                      <a:lnTo>
                        <a:pt x="0" y="110"/>
                      </a:lnTo>
                      <a:lnTo>
                        <a:pt x="0" y="107"/>
                      </a:lnTo>
                      <a:lnTo>
                        <a:pt x="0" y="105"/>
                      </a:lnTo>
                      <a:lnTo>
                        <a:pt x="0" y="103"/>
                      </a:lnTo>
                      <a:lnTo>
                        <a:pt x="0" y="101"/>
                      </a:lnTo>
                      <a:lnTo>
                        <a:pt x="1" y="99"/>
                      </a:lnTo>
                      <a:lnTo>
                        <a:pt x="1" y="97"/>
                      </a:lnTo>
                      <a:lnTo>
                        <a:pt x="1" y="94"/>
                      </a:lnTo>
                      <a:lnTo>
                        <a:pt x="96" y="1"/>
                      </a:lnTo>
                      <a:lnTo>
                        <a:pt x="97" y="1"/>
                      </a:lnTo>
                      <a:lnTo>
                        <a:pt x="98" y="0"/>
                      </a:lnTo>
                      <a:lnTo>
                        <a:pt x="99" y="0"/>
                      </a:lnTo>
                      <a:lnTo>
                        <a:pt x="101" y="0"/>
                      </a:lnTo>
                      <a:lnTo>
                        <a:pt x="102" y="0"/>
                      </a:lnTo>
                      <a:lnTo>
                        <a:pt x="103" y="0"/>
                      </a:lnTo>
                      <a:lnTo>
                        <a:pt x="105" y="0"/>
                      </a:lnTo>
                      <a:lnTo>
                        <a:pt x="107" y="0"/>
                      </a:lnTo>
                      <a:lnTo>
                        <a:pt x="108" y="0"/>
                      </a:lnTo>
                      <a:lnTo>
                        <a:pt x="109" y="0"/>
                      </a:lnTo>
                      <a:lnTo>
                        <a:pt x="110" y="0"/>
                      </a:lnTo>
                      <a:lnTo>
                        <a:pt x="111" y="0"/>
                      </a:lnTo>
                      <a:lnTo>
                        <a:pt x="112" y="0"/>
                      </a:lnTo>
                      <a:lnTo>
                        <a:pt x="113"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86" name="Freeform 2423"/>
                <p:cNvSpPr>
                  <a:spLocks noChangeAspect="1"/>
                </p:cNvSpPr>
                <p:nvPr/>
              </p:nvSpPr>
              <p:spPr bwMode="auto">
                <a:xfrm>
                  <a:off x="5304" y="2418"/>
                  <a:ext cx="35" cy="34"/>
                </a:xfrm>
                <a:custGeom>
                  <a:avLst/>
                  <a:gdLst>
                    <a:gd name="T0" fmla="*/ 0 w 104"/>
                    <a:gd name="T1" fmla="*/ 0 h 104"/>
                    <a:gd name="T2" fmla="*/ 0 w 104"/>
                    <a:gd name="T3" fmla="*/ 0 h 104"/>
                    <a:gd name="T4" fmla="*/ 0 w 104"/>
                    <a:gd name="T5" fmla="*/ 0 h 104"/>
                    <a:gd name="T6" fmla="*/ 0 w 104"/>
                    <a:gd name="T7" fmla="*/ 0 h 104"/>
                    <a:gd name="T8" fmla="*/ 0 w 104"/>
                    <a:gd name="T9" fmla="*/ 0 h 104"/>
                    <a:gd name="T10" fmla="*/ 0 w 104"/>
                    <a:gd name="T11" fmla="*/ 0 h 104"/>
                    <a:gd name="T12" fmla="*/ 0 w 104"/>
                    <a:gd name="T13" fmla="*/ 0 h 104"/>
                    <a:gd name="T14" fmla="*/ 0 w 104"/>
                    <a:gd name="T15" fmla="*/ 0 h 104"/>
                    <a:gd name="T16" fmla="*/ 0 w 104"/>
                    <a:gd name="T17" fmla="*/ 0 h 104"/>
                    <a:gd name="T18" fmla="*/ 0 w 104"/>
                    <a:gd name="T19" fmla="*/ 0 h 104"/>
                    <a:gd name="T20" fmla="*/ 0 w 104"/>
                    <a:gd name="T21" fmla="*/ 0 h 104"/>
                    <a:gd name="T22" fmla="*/ 0 w 104"/>
                    <a:gd name="T23" fmla="*/ 0 h 104"/>
                    <a:gd name="T24" fmla="*/ 0 w 104"/>
                    <a:gd name="T25" fmla="*/ 0 h 104"/>
                    <a:gd name="T26" fmla="*/ 0 w 104"/>
                    <a:gd name="T27" fmla="*/ 0 h 104"/>
                    <a:gd name="T28" fmla="*/ 0 w 104"/>
                    <a:gd name="T29" fmla="*/ 0 h 104"/>
                    <a:gd name="T30" fmla="*/ 0 w 104"/>
                    <a:gd name="T31" fmla="*/ 0 h 104"/>
                    <a:gd name="T32" fmla="*/ 0 w 104"/>
                    <a:gd name="T33" fmla="*/ 0 h 104"/>
                    <a:gd name="T34" fmla="*/ 0 w 104"/>
                    <a:gd name="T35" fmla="*/ 0 h 104"/>
                    <a:gd name="T36" fmla="*/ 0 w 104"/>
                    <a:gd name="T37" fmla="*/ 0 h 10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4" h="104">
                      <a:moveTo>
                        <a:pt x="104" y="0"/>
                      </a:moveTo>
                      <a:lnTo>
                        <a:pt x="0" y="104"/>
                      </a:lnTo>
                      <a:lnTo>
                        <a:pt x="0" y="102"/>
                      </a:lnTo>
                      <a:lnTo>
                        <a:pt x="0" y="100"/>
                      </a:lnTo>
                      <a:lnTo>
                        <a:pt x="1" y="97"/>
                      </a:lnTo>
                      <a:lnTo>
                        <a:pt x="1" y="94"/>
                      </a:lnTo>
                      <a:lnTo>
                        <a:pt x="2" y="91"/>
                      </a:lnTo>
                      <a:lnTo>
                        <a:pt x="2" y="89"/>
                      </a:lnTo>
                      <a:lnTo>
                        <a:pt x="2" y="86"/>
                      </a:lnTo>
                      <a:lnTo>
                        <a:pt x="3" y="84"/>
                      </a:lnTo>
                      <a:lnTo>
                        <a:pt x="85" y="2"/>
                      </a:lnTo>
                      <a:lnTo>
                        <a:pt x="87" y="2"/>
                      </a:lnTo>
                      <a:lnTo>
                        <a:pt x="90" y="1"/>
                      </a:lnTo>
                      <a:lnTo>
                        <a:pt x="93" y="1"/>
                      </a:lnTo>
                      <a:lnTo>
                        <a:pt x="95" y="1"/>
                      </a:lnTo>
                      <a:lnTo>
                        <a:pt x="97" y="0"/>
                      </a:lnTo>
                      <a:lnTo>
                        <a:pt x="100" y="0"/>
                      </a:lnTo>
                      <a:lnTo>
                        <a:pt x="102" y="0"/>
                      </a:lnTo>
                      <a:lnTo>
                        <a:pt x="104"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87" name="Freeform 2424"/>
                <p:cNvSpPr>
                  <a:spLocks noChangeAspect="1"/>
                </p:cNvSpPr>
                <p:nvPr/>
              </p:nvSpPr>
              <p:spPr bwMode="auto">
                <a:xfrm>
                  <a:off x="5304" y="2418"/>
                  <a:ext cx="32" cy="31"/>
                </a:xfrm>
                <a:custGeom>
                  <a:avLst/>
                  <a:gdLst>
                    <a:gd name="T0" fmla="*/ 0 w 95"/>
                    <a:gd name="T1" fmla="*/ 0 h 93"/>
                    <a:gd name="T2" fmla="*/ 0 w 95"/>
                    <a:gd name="T3" fmla="*/ 0 h 93"/>
                    <a:gd name="T4" fmla="*/ 0 w 95"/>
                    <a:gd name="T5" fmla="*/ 0 h 93"/>
                    <a:gd name="T6" fmla="*/ 0 w 95"/>
                    <a:gd name="T7" fmla="*/ 0 h 93"/>
                    <a:gd name="T8" fmla="*/ 0 w 95"/>
                    <a:gd name="T9" fmla="*/ 0 h 93"/>
                    <a:gd name="T10" fmla="*/ 0 w 95"/>
                    <a:gd name="T11" fmla="*/ 0 h 93"/>
                    <a:gd name="T12" fmla="*/ 0 w 95"/>
                    <a:gd name="T13" fmla="*/ 0 h 93"/>
                    <a:gd name="T14" fmla="*/ 0 w 95"/>
                    <a:gd name="T15" fmla="*/ 0 h 93"/>
                    <a:gd name="T16" fmla="*/ 0 w 95"/>
                    <a:gd name="T17" fmla="*/ 0 h 93"/>
                    <a:gd name="T18" fmla="*/ 0 w 95"/>
                    <a:gd name="T19" fmla="*/ 0 h 93"/>
                    <a:gd name="T20" fmla="*/ 0 w 95"/>
                    <a:gd name="T21" fmla="*/ 0 h 93"/>
                    <a:gd name="T22" fmla="*/ 0 w 95"/>
                    <a:gd name="T23" fmla="*/ 0 h 93"/>
                    <a:gd name="T24" fmla="*/ 0 w 95"/>
                    <a:gd name="T25" fmla="*/ 0 h 93"/>
                    <a:gd name="T26" fmla="*/ 0 w 95"/>
                    <a:gd name="T27" fmla="*/ 0 h 93"/>
                    <a:gd name="T28" fmla="*/ 0 w 95"/>
                    <a:gd name="T29" fmla="*/ 0 h 93"/>
                    <a:gd name="T30" fmla="*/ 0 w 95"/>
                    <a:gd name="T31" fmla="*/ 0 h 93"/>
                    <a:gd name="T32" fmla="*/ 0 w 95"/>
                    <a:gd name="T33" fmla="*/ 0 h 93"/>
                    <a:gd name="T34" fmla="*/ 0 w 95"/>
                    <a:gd name="T35" fmla="*/ 0 h 93"/>
                    <a:gd name="T36" fmla="*/ 0 w 95"/>
                    <a:gd name="T37" fmla="*/ 0 h 9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5" h="93">
                      <a:moveTo>
                        <a:pt x="95" y="0"/>
                      </a:moveTo>
                      <a:lnTo>
                        <a:pt x="0" y="93"/>
                      </a:lnTo>
                      <a:lnTo>
                        <a:pt x="0" y="90"/>
                      </a:lnTo>
                      <a:lnTo>
                        <a:pt x="1" y="88"/>
                      </a:lnTo>
                      <a:lnTo>
                        <a:pt x="2" y="85"/>
                      </a:lnTo>
                      <a:lnTo>
                        <a:pt x="2" y="82"/>
                      </a:lnTo>
                      <a:lnTo>
                        <a:pt x="3" y="79"/>
                      </a:lnTo>
                      <a:lnTo>
                        <a:pt x="4" y="76"/>
                      </a:lnTo>
                      <a:lnTo>
                        <a:pt x="5" y="73"/>
                      </a:lnTo>
                      <a:lnTo>
                        <a:pt x="7" y="70"/>
                      </a:lnTo>
                      <a:lnTo>
                        <a:pt x="73" y="4"/>
                      </a:lnTo>
                      <a:lnTo>
                        <a:pt x="75" y="4"/>
                      </a:lnTo>
                      <a:lnTo>
                        <a:pt x="78" y="3"/>
                      </a:lnTo>
                      <a:lnTo>
                        <a:pt x="80" y="2"/>
                      </a:lnTo>
                      <a:lnTo>
                        <a:pt x="83" y="1"/>
                      </a:lnTo>
                      <a:lnTo>
                        <a:pt x="86" y="1"/>
                      </a:lnTo>
                      <a:lnTo>
                        <a:pt x="89" y="0"/>
                      </a:lnTo>
                      <a:lnTo>
                        <a:pt x="92" y="0"/>
                      </a:lnTo>
                      <a:lnTo>
                        <a:pt x="95"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88" name="Freeform 2425"/>
                <p:cNvSpPr>
                  <a:spLocks noChangeAspect="1"/>
                </p:cNvSpPr>
                <p:nvPr/>
              </p:nvSpPr>
              <p:spPr bwMode="auto">
                <a:xfrm>
                  <a:off x="5305" y="2418"/>
                  <a:ext cx="27" cy="28"/>
                </a:xfrm>
                <a:custGeom>
                  <a:avLst/>
                  <a:gdLst>
                    <a:gd name="T0" fmla="*/ 0 w 82"/>
                    <a:gd name="T1" fmla="*/ 0 h 82"/>
                    <a:gd name="T2" fmla="*/ 0 w 82"/>
                    <a:gd name="T3" fmla="*/ 0 h 82"/>
                    <a:gd name="T4" fmla="*/ 0 w 82"/>
                    <a:gd name="T5" fmla="*/ 0 h 82"/>
                    <a:gd name="T6" fmla="*/ 0 w 82"/>
                    <a:gd name="T7" fmla="*/ 0 h 82"/>
                    <a:gd name="T8" fmla="*/ 0 w 82"/>
                    <a:gd name="T9" fmla="*/ 0 h 82"/>
                    <a:gd name="T10" fmla="*/ 0 w 82"/>
                    <a:gd name="T11" fmla="*/ 0 h 82"/>
                    <a:gd name="T12" fmla="*/ 0 w 82"/>
                    <a:gd name="T13" fmla="*/ 0 h 82"/>
                    <a:gd name="T14" fmla="*/ 0 w 82"/>
                    <a:gd name="T15" fmla="*/ 0 h 82"/>
                    <a:gd name="T16" fmla="*/ 0 w 82"/>
                    <a:gd name="T17" fmla="*/ 0 h 82"/>
                    <a:gd name="T18" fmla="*/ 0 w 82"/>
                    <a:gd name="T19" fmla="*/ 0 h 82"/>
                    <a:gd name="T20" fmla="*/ 0 w 82"/>
                    <a:gd name="T21" fmla="*/ 0 h 82"/>
                    <a:gd name="T22" fmla="*/ 0 w 82"/>
                    <a:gd name="T23" fmla="*/ 0 h 82"/>
                    <a:gd name="T24" fmla="*/ 0 w 82"/>
                    <a:gd name="T25" fmla="*/ 0 h 82"/>
                    <a:gd name="T26" fmla="*/ 0 w 82"/>
                    <a:gd name="T27" fmla="*/ 0 h 82"/>
                    <a:gd name="T28" fmla="*/ 0 w 82"/>
                    <a:gd name="T29" fmla="*/ 0 h 82"/>
                    <a:gd name="T30" fmla="*/ 0 w 82"/>
                    <a:gd name="T31" fmla="*/ 0 h 82"/>
                    <a:gd name="T32" fmla="*/ 0 w 82"/>
                    <a:gd name="T33" fmla="*/ 0 h 82"/>
                    <a:gd name="T34" fmla="*/ 0 w 82"/>
                    <a:gd name="T35" fmla="*/ 0 h 82"/>
                    <a:gd name="T36" fmla="*/ 0 w 82"/>
                    <a:gd name="T37" fmla="*/ 0 h 8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2" h="82">
                      <a:moveTo>
                        <a:pt x="82" y="0"/>
                      </a:moveTo>
                      <a:lnTo>
                        <a:pt x="0" y="82"/>
                      </a:lnTo>
                      <a:lnTo>
                        <a:pt x="1" y="78"/>
                      </a:lnTo>
                      <a:lnTo>
                        <a:pt x="2" y="74"/>
                      </a:lnTo>
                      <a:lnTo>
                        <a:pt x="3" y="70"/>
                      </a:lnTo>
                      <a:lnTo>
                        <a:pt x="6" y="67"/>
                      </a:lnTo>
                      <a:lnTo>
                        <a:pt x="7" y="64"/>
                      </a:lnTo>
                      <a:lnTo>
                        <a:pt x="8" y="60"/>
                      </a:lnTo>
                      <a:lnTo>
                        <a:pt x="10" y="56"/>
                      </a:lnTo>
                      <a:lnTo>
                        <a:pt x="12" y="53"/>
                      </a:lnTo>
                      <a:lnTo>
                        <a:pt x="55" y="11"/>
                      </a:lnTo>
                      <a:lnTo>
                        <a:pt x="58" y="8"/>
                      </a:lnTo>
                      <a:lnTo>
                        <a:pt x="61" y="7"/>
                      </a:lnTo>
                      <a:lnTo>
                        <a:pt x="64" y="5"/>
                      </a:lnTo>
                      <a:lnTo>
                        <a:pt x="67" y="4"/>
                      </a:lnTo>
                      <a:lnTo>
                        <a:pt x="72" y="3"/>
                      </a:lnTo>
                      <a:lnTo>
                        <a:pt x="75" y="2"/>
                      </a:lnTo>
                      <a:lnTo>
                        <a:pt x="78" y="1"/>
                      </a:lnTo>
                      <a:lnTo>
                        <a:pt x="82"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89" name="Freeform 2426"/>
                <p:cNvSpPr>
                  <a:spLocks noChangeAspect="1"/>
                </p:cNvSpPr>
                <p:nvPr/>
              </p:nvSpPr>
              <p:spPr bwMode="auto">
                <a:xfrm>
                  <a:off x="5307" y="2419"/>
                  <a:ext cx="22" cy="22"/>
                </a:xfrm>
                <a:custGeom>
                  <a:avLst/>
                  <a:gdLst>
                    <a:gd name="T0" fmla="*/ 0 w 66"/>
                    <a:gd name="T1" fmla="*/ 0 h 66"/>
                    <a:gd name="T2" fmla="*/ 0 w 66"/>
                    <a:gd name="T3" fmla="*/ 0 h 66"/>
                    <a:gd name="T4" fmla="*/ 0 w 66"/>
                    <a:gd name="T5" fmla="*/ 0 h 66"/>
                    <a:gd name="T6" fmla="*/ 0 w 66"/>
                    <a:gd name="T7" fmla="*/ 0 h 66"/>
                    <a:gd name="T8" fmla="*/ 0 w 66"/>
                    <a:gd name="T9" fmla="*/ 0 h 66"/>
                    <a:gd name="T10" fmla="*/ 0 w 66"/>
                    <a:gd name="T11" fmla="*/ 0 h 66"/>
                    <a:gd name="T12" fmla="*/ 0 w 66"/>
                    <a:gd name="T13" fmla="*/ 0 h 66"/>
                    <a:gd name="T14" fmla="*/ 0 w 66"/>
                    <a:gd name="T15" fmla="*/ 0 h 66"/>
                    <a:gd name="T16" fmla="*/ 0 w 66"/>
                    <a:gd name="T17" fmla="*/ 0 h 66"/>
                    <a:gd name="T18" fmla="*/ 0 w 66"/>
                    <a:gd name="T19" fmla="*/ 0 h 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 h="66">
                      <a:moveTo>
                        <a:pt x="66" y="0"/>
                      </a:moveTo>
                      <a:lnTo>
                        <a:pt x="0" y="66"/>
                      </a:lnTo>
                      <a:lnTo>
                        <a:pt x="4" y="55"/>
                      </a:lnTo>
                      <a:lnTo>
                        <a:pt x="10" y="45"/>
                      </a:lnTo>
                      <a:lnTo>
                        <a:pt x="18" y="34"/>
                      </a:lnTo>
                      <a:lnTo>
                        <a:pt x="25" y="26"/>
                      </a:lnTo>
                      <a:lnTo>
                        <a:pt x="34" y="18"/>
                      </a:lnTo>
                      <a:lnTo>
                        <a:pt x="43" y="11"/>
                      </a:lnTo>
                      <a:lnTo>
                        <a:pt x="54" y="5"/>
                      </a:lnTo>
                      <a:lnTo>
                        <a:pt x="66"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90" name="Freeform 2427"/>
                <p:cNvSpPr>
                  <a:spLocks noChangeAspect="1"/>
                </p:cNvSpPr>
                <p:nvPr/>
              </p:nvSpPr>
              <p:spPr bwMode="auto">
                <a:xfrm>
                  <a:off x="5309" y="2422"/>
                  <a:ext cx="14" cy="14"/>
                </a:xfrm>
                <a:custGeom>
                  <a:avLst/>
                  <a:gdLst>
                    <a:gd name="T0" fmla="*/ 0 w 43"/>
                    <a:gd name="T1" fmla="*/ 0 h 42"/>
                    <a:gd name="T2" fmla="*/ 0 w 43"/>
                    <a:gd name="T3" fmla="*/ 0 h 42"/>
                    <a:gd name="T4" fmla="*/ 0 w 43"/>
                    <a:gd name="T5" fmla="*/ 0 h 42"/>
                    <a:gd name="T6" fmla="*/ 0 w 43"/>
                    <a:gd name="T7" fmla="*/ 0 h 42"/>
                    <a:gd name="T8" fmla="*/ 0 w 43"/>
                    <a:gd name="T9" fmla="*/ 0 h 42"/>
                    <a:gd name="T10" fmla="*/ 0 w 43"/>
                    <a:gd name="T11" fmla="*/ 0 h 42"/>
                    <a:gd name="T12" fmla="*/ 0 w 43"/>
                    <a:gd name="T13" fmla="*/ 0 h 42"/>
                    <a:gd name="T14" fmla="*/ 0 w 43"/>
                    <a:gd name="T15" fmla="*/ 0 h 42"/>
                    <a:gd name="T16" fmla="*/ 0 w 43"/>
                    <a:gd name="T17" fmla="*/ 0 h 42"/>
                    <a:gd name="T18" fmla="*/ 0 w 43"/>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 h="42">
                      <a:moveTo>
                        <a:pt x="43" y="0"/>
                      </a:moveTo>
                      <a:lnTo>
                        <a:pt x="0" y="42"/>
                      </a:lnTo>
                      <a:lnTo>
                        <a:pt x="4" y="36"/>
                      </a:lnTo>
                      <a:lnTo>
                        <a:pt x="9" y="29"/>
                      </a:lnTo>
                      <a:lnTo>
                        <a:pt x="13" y="23"/>
                      </a:lnTo>
                      <a:lnTo>
                        <a:pt x="18" y="18"/>
                      </a:lnTo>
                      <a:lnTo>
                        <a:pt x="23" y="12"/>
                      </a:lnTo>
                      <a:lnTo>
                        <a:pt x="30" y="8"/>
                      </a:lnTo>
                      <a:lnTo>
                        <a:pt x="36" y="4"/>
                      </a:lnTo>
                      <a:lnTo>
                        <a:pt x="43" y="0"/>
                      </a:lnTo>
                      <a:close/>
                    </a:path>
                  </a:pathLst>
                </a:custGeom>
                <a:gradFill rotWithShape="0">
                  <a:gsLst>
                    <a:gs pos="0">
                      <a:srgbClr val="FFE0B2"/>
                    </a:gs>
                    <a:gs pos="100000">
                      <a:srgbClr val="FF99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91" name="Freeform 2428"/>
                <p:cNvSpPr>
                  <a:spLocks noChangeAspect="1"/>
                </p:cNvSpPr>
                <p:nvPr/>
              </p:nvSpPr>
              <p:spPr bwMode="auto">
                <a:xfrm>
                  <a:off x="5304" y="2418"/>
                  <a:ext cx="71" cy="74"/>
                </a:xfrm>
                <a:custGeom>
                  <a:avLst/>
                  <a:gdLst>
                    <a:gd name="T0" fmla="*/ 0 w 213"/>
                    <a:gd name="T1" fmla="*/ 0 h 224"/>
                    <a:gd name="T2" fmla="*/ 0 w 213"/>
                    <a:gd name="T3" fmla="*/ 0 h 224"/>
                    <a:gd name="T4" fmla="*/ 0 w 213"/>
                    <a:gd name="T5" fmla="*/ 0 h 224"/>
                    <a:gd name="T6" fmla="*/ 0 w 213"/>
                    <a:gd name="T7" fmla="*/ 0 h 224"/>
                    <a:gd name="T8" fmla="*/ 0 w 213"/>
                    <a:gd name="T9" fmla="*/ 0 h 224"/>
                    <a:gd name="T10" fmla="*/ 0 w 213"/>
                    <a:gd name="T11" fmla="*/ 0 h 224"/>
                    <a:gd name="T12" fmla="*/ 0 w 213"/>
                    <a:gd name="T13" fmla="*/ 0 h 224"/>
                    <a:gd name="T14" fmla="*/ 0 w 213"/>
                    <a:gd name="T15" fmla="*/ 0 h 224"/>
                    <a:gd name="T16" fmla="*/ 0 w 213"/>
                    <a:gd name="T17" fmla="*/ 0 h 224"/>
                    <a:gd name="T18" fmla="*/ 0 w 213"/>
                    <a:gd name="T19" fmla="*/ 0 h 224"/>
                    <a:gd name="T20" fmla="*/ 0 w 213"/>
                    <a:gd name="T21" fmla="*/ 0 h 224"/>
                    <a:gd name="T22" fmla="*/ 0 w 213"/>
                    <a:gd name="T23" fmla="*/ 0 h 224"/>
                    <a:gd name="T24" fmla="*/ 0 w 213"/>
                    <a:gd name="T25" fmla="*/ 0 h 224"/>
                    <a:gd name="T26" fmla="*/ 0 w 213"/>
                    <a:gd name="T27" fmla="*/ 0 h 224"/>
                    <a:gd name="T28" fmla="*/ 0 w 213"/>
                    <a:gd name="T29" fmla="*/ 0 h 224"/>
                    <a:gd name="T30" fmla="*/ 0 w 213"/>
                    <a:gd name="T31" fmla="*/ 0 h 224"/>
                    <a:gd name="T32" fmla="*/ 0 w 213"/>
                    <a:gd name="T33" fmla="*/ 0 h 224"/>
                    <a:gd name="T34" fmla="*/ 0 w 213"/>
                    <a:gd name="T35" fmla="*/ 0 h 224"/>
                    <a:gd name="T36" fmla="*/ 0 w 213"/>
                    <a:gd name="T37" fmla="*/ 0 h 224"/>
                    <a:gd name="T38" fmla="*/ 0 w 213"/>
                    <a:gd name="T39" fmla="*/ 0 h 224"/>
                    <a:gd name="T40" fmla="*/ 0 w 213"/>
                    <a:gd name="T41" fmla="*/ 0 h 224"/>
                    <a:gd name="T42" fmla="*/ 0 w 213"/>
                    <a:gd name="T43" fmla="*/ 0 h 224"/>
                    <a:gd name="T44" fmla="*/ 0 w 213"/>
                    <a:gd name="T45" fmla="*/ 0 h 224"/>
                    <a:gd name="T46" fmla="*/ 0 w 213"/>
                    <a:gd name="T47" fmla="*/ 0 h 224"/>
                    <a:gd name="T48" fmla="*/ 0 w 213"/>
                    <a:gd name="T49" fmla="*/ 0 h 224"/>
                    <a:gd name="T50" fmla="*/ 0 w 213"/>
                    <a:gd name="T51" fmla="*/ 0 h 224"/>
                    <a:gd name="T52" fmla="*/ 0 w 213"/>
                    <a:gd name="T53" fmla="*/ 0 h 224"/>
                    <a:gd name="T54" fmla="*/ 0 w 213"/>
                    <a:gd name="T55" fmla="*/ 0 h 224"/>
                    <a:gd name="T56" fmla="*/ 0 w 213"/>
                    <a:gd name="T57" fmla="*/ 0 h 224"/>
                    <a:gd name="T58" fmla="*/ 0 w 213"/>
                    <a:gd name="T59" fmla="*/ 0 h 224"/>
                    <a:gd name="T60" fmla="*/ 0 w 213"/>
                    <a:gd name="T61" fmla="*/ 0 h 224"/>
                    <a:gd name="T62" fmla="*/ 0 w 213"/>
                    <a:gd name="T63" fmla="*/ 0 h 2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3" h="224">
                      <a:moveTo>
                        <a:pt x="107" y="0"/>
                      </a:moveTo>
                      <a:lnTo>
                        <a:pt x="117" y="1"/>
                      </a:lnTo>
                      <a:lnTo>
                        <a:pt x="128" y="2"/>
                      </a:lnTo>
                      <a:lnTo>
                        <a:pt x="137" y="5"/>
                      </a:lnTo>
                      <a:lnTo>
                        <a:pt x="148" y="8"/>
                      </a:lnTo>
                      <a:lnTo>
                        <a:pt x="157" y="14"/>
                      </a:lnTo>
                      <a:lnTo>
                        <a:pt x="166" y="19"/>
                      </a:lnTo>
                      <a:lnTo>
                        <a:pt x="174" y="25"/>
                      </a:lnTo>
                      <a:lnTo>
                        <a:pt x="181" y="33"/>
                      </a:lnTo>
                      <a:lnTo>
                        <a:pt x="188" y="41"/>
                      </a:lnTo>
                      <a:lnTo>
                        <a:pt x="195" y="50"/>
                      </a:lnTo>
                      <a:lnTo>
                        <a:pt x="200" y="58"/>
                      </a:lnTo>
                      <a:lnTo>
                        <a:pt x="204" y="69"/>
                      </a:lnTo>
                      <a:lnTo>
                        <a:pt x="208" y="79"/>
                      </a:lnTo>
                      <a:lnTo>
                        <a:pt x="211" y="89"/>
                      </a:lnTo>
                      <a:lnTo>
                        <a:pt x="212" y="101"/>
                      </a:lnTo>
                      <a:lnTo>
                        <a:pt x="213" y="113"/>
                      </a:lnTo>
                      <a:lnTo>
                        <a:pt x="212" y="123"/>
                      </a:lnTo>
                      <a:lnTo>
                        <a:pt x="211" y="135"/>
                      </a:lnTo>
                      <a:lnTo>
                        <a:pt x="208" y="145"/>
                      </a:lnTo>
                      <a:lnTo>
                        <a:pt x="204" y="156"/>
                      </a:lnTo>
                      <a:lnTo>
                        <a:pt x="200" y="166"/>
                      </a:lnTo>
                      <a:lnTo>
                        <a:pt x="195" y="175"/>
                      </a:lnTo>
                      <a:lnTo>
                        <a:pt x="188" y="184"/>
                      </a:lnTo>
                      <a:lnTo>
                        <a:pt x="181" y="191"/>
                      </a:lnTo>
                      <a:lnTo>
                        <a:pt x="174" y="199"/>
                      </a:lnTo>
                      <a:lnTo>
                        <a:pt x="166" y="205"/>
                      </a:lnTo>
                      <a:lnTo>
                        <a:pt x="157" y="210"/>
                      </a:lnTo>
                      <a:lnTo>
                        <a:pt x="148" y="216"/>
                      </a:lnTo>
                      <a:lnTo>
                        <a:pt x="137" y="219"/>
                      </a:lnTo>
                      <a:lnTo>
                        <a:pt x="128" y="222"/>
                      </a:lnTo>
                      <a:lnTo>
                        <a:pt x="117" y="224"/>
                      </a:lnTo>
                      <a:lnTo>
                        <a:pt x="107" y="224"/>
                      </a:lnTo>
                      <a:lnTo>
                        <a:pt x="96" y="224"/>
                      </a:lnTo>
                      <a:lnTo>
                        <a:pt x="85" y="222"/>
                      </a:lnTo>
                      <a:lnTo>
                        <a:pt x="75" y="219"/>
                      </a:lnTo>
                      <a:lnTo>
                        <a:pt x="65" y="216"/>
                      </a:lnTo>
                      <a:lnTo>
                        <a:pt x="55" y="210"/>
                      </a:lnTo>
                      <a:lnTo>
                        <a:pt x="47" y="205"/>
                      </a:lnTo>
                      <a:lnTo>
                        <a:pt x="38" y="199"/>
                      </a:lnTo>
                      <a:lnTo>
                        <a:pt x="31" y="191"/>
                      </a:lnTo>
                      <a:lnTo>
                        <a:pt x="25" y="184"/>
                      </a:lnTo>
                      <a:lnTo>
                        <a:pt x="18" y="175"/>
                      </a:lnTo>
                      <a:lnTo>
                        <a:pt x="13" y="166"/>
                      </a:lnTo>
                      <a:lnTo>
                        <a:pt x="9" y="156"/>
                      </a:lnTo>
                      <a:lnTo>
                        <a:pt x="4" y="145"/>
                      </a:lnTo>
                      <a:lnTo>
                        <a:pt x="2" y="135"/>
                      </a:lnTo>
                      <a:lnTo>
                        <a:pt x="0" y="123"/>
                      </a:lnTo>
                      <a:lnTo>
                        <a:pt x="0" y="113"/>
                      </a:lnTo>
                      <a:lnTo>
                        <a:pt x="0" y="101"/>
                      </a:lnTo>
                      <a:lnTo>
                        <a:pt x="2" y="89"/>
                      </a:lnTo>
                      <a:lnTo>
                        <a:pt x="4" y="79"/>
                      </a:lnTo>
                      <a:lnTo>
                        <a:pt x="9" y="69"/>
                      </a:lnTo>
                      <a:lnTo>
                        <a:pt x="13" y="58"/>
                      </a:lnTo>
                      <a:lnTo>
                        <a:pt x="18" y="50"/>
                      </a:lnTo>
                      <a:lnTo>
                        <a:pt x="25" y="41"/>
                      </a:lnTo>
                      <a:lnTo>
                        <a:pt x="31" y="33"/>
                      </a:lnTo>
                      <a:lnTo>
                        <a:pt x="38" y="25"/>
                      </a:lnTo>
                      <a:lnTo>
                        <a:pt x="47" y="19"/>
                      </a:lnTo>
                      <a:lnTo>
                        <a:pt x="55" y="14"/>
                      </a:lnTo>
                      <a:lnTo>
                        <a:pt x="65" y="8"/>
                      </a:lnTo>
                      <a:lnTo>
                        <a:pt x="75" y="5"/>
                      </a:lnTo>
                      <a:lnTo>
                        <a:pt x="85" y="2"/>
                      </a:lnTo>
                      <a:lnTo>
                        <a:pt x="96" y="1"/>
                      </a:lnTo>
                      <a:lnTo>
                        <a:pt x="107" y="0"/>
                      </a:lnTo>
                    </a:path>
                  </a:pathLst>
                </a:custGeom>
                <a:gradFill rotWithShape="0">
                  <a:gsLst>
                    <a:gs pos="0">
                      <a:srgbClr val="FFE0B2"/>
                    </a:gs>
                    <a:gs pos="100000">
                      <a:srgbClr val="FF9900"/>
                    </a:gs>
                  </a:gsLst>
                  <a:path path="rect">
                    <a:fillToRect l="50000" t="50000" r="50000" b="50000"/>
                  </a:path>
                </a:gradFill>
                <a:ln w="1588">
                  <a:solidFill>
                    <a:srgbClr val="1F1A17"/>
                  </a:solidFill>
                  <a:prstDash val="solid"/>
                  <a:round/>
                  <a:headEnd/>
                  <a:tailEnd/>
                </a:ln>
              </p:spPr>
              <p:txBody>
                <a:bodyPr/>
                <a:lstStyle/>
                <a:p>
                  <a:endParaRPr lang="en-US"/>
                </a:p>
              </p:txBody>
            </p:sp>
            <p:sp>
              <p:nvSpPr>
                <p:cNvPr id="389092" name="Freeform 2429"/>
                <p:cNvSpPr>
                  <a:spLocks noChangeAspect="1"/>
                </p:cNvSpPr>
                <p:nvPr/>
              </p:nvSpPr>
              <p:spPr bwMode="auto">
                <a:xfrm>
                  <a:off x="4880" y="2292"/>
                  <a:ext cx="635" cy="23"/>
                </a:xfrm>
                <a:custGeom>
                  <a:avLst/>
                  <a:gdLst>
                    <a:gd name="T0" fmla="*/ 0 w 1903"/>
                    <a:gd name="T1" fmla="*/ 0 h 71"/>
                    <a:gd name="T2" fmla="*/ 0 w 1903"/>
                    <a:gd name="T3" fmla="*/ 0 h 71"/>
                    <a:gd name="T4" fmla="*/ 0 w 1903"/>
                    <a:gd name="T5" fmla="*/ 0 h 71"/>
                    <a:gd name="T6" fmla="*/ 0 60000 65536"/>
                    <a:gd name="T7" fmla="*/ 0 60000 65536"/>
                    <a:gd name="T8" fmla="*/ 0 60000 65536"/>
                  </a:gdLst>
                  <a:ahLst/>
                  <a:cxnLst>
                    <a:cxn ang="T6">
                      <a:pos x="T0" y="T1"/>
                    </a:cxn>
                    <a:cxn ang="T7">
                      <a:pos x="T2" y="T3"/>
                    </a:cxn>
                    <a:cxn ang="T8">
                      <a:pos x="T4" y="T5"/>
                    </a:cxn>
                  </a:cxnLst>
                  <a:rect l="0" t="0" r="r" b="b"/>
                  <a:pathLst>
                    <a:path w="1903" h="71">
                      <a:moveTo>
                        <a:pt x="0" y="71"/>
                      </a:moveTo>
                      <a:lnTo>
                        <a:pt x="202" y="0"/>
                      </a:lnTo>
                      <a:lnTo>
                        <a:pt x="1903" y="0"/>
                      </a:lnTo>
                    </a:path>
                  </a:pathLst>
                </a:custGeom>
                <a:gradFill rotWithShape="0">
                  <a:gsLst>
                    <a:gs pos="0">
                      <a:srgbClr val="FFE0B2"/>
                    </a:gs>
                    <a:gs pos="100000">
                      <a:srgbClr val="FF9900"/>
                    </a:gs>
                  </a:gsLst>
                  <a:path path="rect">
                    <a:fillToRect l="50000" t="50000" r="50000" b="50000"/>
                  </a:path>
                </a:gradFill>
                <a:ln w="6350">
                  <a:solidFill>
                    <a:srgbClr val="FF9900"/>
                  </a:solidFill>
                  <a:prstDash val="solid"/>
                  <a:round/>
                  <a:headEnd/>
                  <a:tailEnd/>
                </a:ln>
              </p:spPr>
              <p:txBody>
                <a:bodyPr/>
                <a:lstStyle/>
                <a:p>
                  <a:endParaRPr lang="en-US"/>
                </a:p>
              </p:txBody>
            </p:sp>
            <p:sp>
              <p:nvSpPr>
                <p:cNvPr id="389093" name="Line 2430"/>
                <p:cNvSpPr>
                  <a:spLocks noChangeAspect="1" noChangeShapeType="1"/>
                </p:cNvSpPr>
                <p:nvPr/>
              </p:nvSpPr>
              <p:spPr bwMode="auto">
                <a:xfrm flipH="1">
                  <a:off x="5361" y="2359"/>
                  <a:ext cx="176" cy="123"/>
                </a:xfrm>
                <a:prstGeom prst="line">
                  <a:avLst/>
                </a:prstGeom>
                <a:noFill/>
                <a:ln w="6350">
                  <a:solidFill>
                    <a:srgbClr val="FF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9094" name="Line 2431"/>
                <p:cNvSpPr>
                  <a:spLocks noChangeAspect="1" noChangeShapeType="1"/>
                </p:cNvSpPr>
                <p:nvPr/>
              </p:nvSpPr>
              <p:spPr bwMode="auto">
                <a:xfrm flipH="1" flipV="1">
                  <a:off x="4877" y="2390"/>
                  <a:ext cx="450" cy="102"/>
                </a:xfrm>
                <a:prstGeom prst="line">
                  <a:avLst/>
                </a:prstGeom>
                <a:noFill/>
                <a:ln w="6350">
                  <a:solidFill>
                    <a:srgbClr val="FF99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386178" name="Group 2432"/>
            <p:cNvGrpSpPr>
              <a:grpSpLocks noChangeAspect="1"/>
            </p:cNvGrpSpPr>
            <p:nvPr/>
          </p:nvGrpSpPr>
          <p:grpSpPr bwMode="auto">
            <a:xfrm>
              <a:off x="4780" y="2744"/>
              <a:ext cx="349" cy="321"/>
              <a:chOff x="5027" y="2832"/>
              <a:chExt cx="407" cy="380"/>
            </a:xfrm>
          </p:grpSpPr>
          <p:sp>
            <p:nvSpPr>
              <p:cNvPr id="388644" name="Freeform 2433"/>
              <p:cNvSpPr>
                <a:spLocks noChangeAspect="1"/>
              </p:cNvSpPr>
              <p:nvPr/>
            </p:nvSpPr>
            <p:spPr bwMode="auto">
              <a:xfrm>
                <a:off x="5209" y="2832"/>
                <a:ext cx="97" cy="91"/>
              </a:xfrm>
              <a:custGeom>
                <a:avLst/>
                <a:gdLst>
                  <a:gd name="T0" fmla="*/ 0 w 289"/>
                  <a:gd name="T1" fmla="*/ 0 h 274"/>
                  <a:gd name="T2" fmla="*/ 0 w 289"/>
                  <a:gd name="T3" fmla="*/ 0 h 274"/>
                  <a:gd name="T4" fmla="*/ 0 w 289"/>
                  <a:gd name="T5" fmla="*/ 0 h 274"/>
                  <a:gd name="T6" fmla="*/ 0 w 289"/>
                  <a:gd name="T7" fmla="*/ 0 h 274"/>
                  <a:gd name="T8" fmla="*/ 0 w 28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9" h="274">
                    <a:moveTo>
                      <a:pt x="0" y="274"/>
                    </a:moveTo>
                    <a:lnTo>
                      <a:pt x="275" y="0"/>
                    </a:lnTo>
                    <a:lnTo>
                      <a:pt x="289" y="0"/>
                    </a:lnTo>
                    <a:lnTo>
                      <a:pt x="33" y="274"/>
                    </a:lnTo>
                    <a:lnTo>
                      <a:pt x="0" y="274"/>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45" name="Freeform 2434"/>
              <p:cNvSpPr>
                <a:spLocks noChangeAspect="1"/>
              </p:cNvSpPr>
              <p:nvPr/>
            </p:nvSpPr>
            <p:spPr bwMode="auto">
              <a:xfrm>
                <a:off x="5202" y="2832"/>
                <a:ext cx="104" cy="91"/>
              </a:xfrm>
              <a:custGeom>
                <a:avLst/>
                <a:gdLst>
                  <a:gd name="T0" fmla="*/ 0 w 311"/>
                  <a:gd name="T1" fmla="*/ 0 h 274"/>
                  <a:gd name="T2" fmla="*/ 0 w 311"/>
                  <a:gd name="T3" fmla="*/ 0 h 274"/>
                  <a:gd name="T4" fmla="*/ 0 w 311"/>
                  <a:gd name="T5" fmla="*/ 0 h 274"/>
                  <a:gd name="T6" fmla="*/ 0 w 311"/>
                  <a:gd name="T7" fmla="*/ 0 h 274"/>
                  <a:gd name="T8" fmla="*/ 0 w 311"/>
                  <a:gd name="T9" fmla="*/ 0 h 274"/>
                  <a:gd name="T10" fmla="*/ 0 w 311"/>
                  <a:gd name="T11" fmla="*/ 0 h 27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11" h="274">
                    <a:moveTo>
                      <a:pt x="204" y="114"/>
                    </a:moveTo>
                    <a:lnTo>
                      <a:pt x="44" y="274"/>
                    </a:lnTo>
                    <a:lnTo>
                      <a:pt x="0" y="274"/>
                    </a:lnTo>
                    <a:lnTo>
                      <a:pt x="274" y="0"/>
                    </a:lnTo>
                    <a:lnTo>
                      <a:pt x="311" y="0"/>
                    </a:lnTo>
                    <a:lnTo>
                      <a:pt x="204" y="114"/>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46" name="Freeform 2435"/>
              <p:cNvSpPr>
                <a:spLocks noChangeAspect="1"/>
              </p:cNvSpPr>
              <p:nvPr/>
            </p:nvSpPr>
            <p:spPr bwMode="auto">
              <a:xfrm>
                <a:off x="5194" y="2832"/>
                <a:ext cx="107" cy="91"/>
              </a:xfrm>
              <a:custGeom>
                <a:avLst/>
                <a:gdLst>
                  <a:gd name="T0" fmla="*/ 0 w 320"/>
                  <a:gd name="T1" fmla="*/ 0 h 274"/>
                  <a:gd name="T2" fmla="*/ 0 w 320"/>
                  <a:gd name="T3" fmla="*/ 0 h 274"/>
                  <a:gd name="T4" fmla="*/ 0 w 320"/>
                  <a:gd name="T5" fmla="*/ 0 h 274"/>
                  <a:gd name="T6" fmla="*/ 0 w 320"/>
                  <a:gd name="T7" fmla="*/ 0 h 274"/>
                  <a:gd name="T8" fmla="*/ 0 w 320"/>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0" h="274">
                    <a:moveTo>
                      <a:pt x="320" y="0"/>
                    </a:moveTo>
                    <a:lnTo>
                      <a:pt x="45" y="274"/>
                    </a:lnTo>
                    <a:lnTo>
                      <a:pt x="0" y="274"/>
                    </a:lnTo>
                    <a:lnTo>
                      <a:pt x="275" y="0"/>
                    </a:lnTo>
                    <a:lnTo>
                      <a:pt x="320"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47" name="Freeform 2436"/>
              <p:cNvSpPr>
                <a:spLocks noChangeAspect="1"/>
              </p:cNvSpPr>
              <p:nvPr/>
            </p:nvSpPr>
            <p:spPr bwMode="auto">
              <a:xfrm>
                <a:off x="5187" y="2832"/>
                <a:ext cx="106" cy="91"/>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5" y="274"/>
                    </a:lnTo>
                    <a:lnTo>
                      <a:pt x="0" y="274"/>
                    </a:lnTo>
                    <a:lnTo>
                      <a:pt x="274"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48" name="Freeform 2437"/>
              <p:cNvSpPr>
                <a:spLocks noChangeAspect="1"/>
              </p:cNvSpPr>
              <p:nvPr/>
            </p:nvSpPr>
            <p:spPr bwMode="auto">
              <a:xfrm>
                <a:off x="5180" y="2832"/>
                <a:ext cx="106" cy="91"/>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4" y="274"/>
                    </a:lnTo>
                    <a:lnTo>
                      <a:pt x="0" y="274"/>
                    </a:lnTo>
                    <a:lnTo>
                      <a:pt x="274"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49" name="Freeform 2438"/>
              <p:cNvSpPr>
                <a:spLocks noChangeAspect="1"/>
              </p:cNvSpPr>
              <p:nvPr/>
            </p:nvSpPr>
            <p:spPr bwMode="auto">
              <a:xfrm>
                <a:off x="5172" y="2832"/>
                <a:ext cx="106" cy="91"/>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5" y="274"/>
                    </a:lnTo>
                    <a:lnTo>
                      <a:pt x="0" y="274"/>
                    </a:lnTo>
                    <a:lnTo>
                      <a:pt x="275"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50" name="Freeform 2439"/>
              <p:cNvSpPr>
                <a:spLocks noChangeAspect="1"/>
              </p:cNvSpPr>
              <p:nvPr/>
            </p:nvSpPr>
            <p:spPr bwMode="auto">
              <a:xfrm>
                <a:off x="5165" y="2832"/>
                <a:ext cx="106" cy="91"/>
              </a:xfrm>
              <a:custGeom>
                <a:avLst/>
                <a:gdLst>
                  <a:gd name="T0" fmla="*/ 0 w 318"/>
                  <a:gd name="T1" fmla="*/ 0 h 274"/>
                  <a:gd name="T2" fmla="*/ 0 w 318"/>
                  <a:gd name="T3" fmla="*/ 0 h 274"/>
                  <a:gd name="T4" fmla="*/ 0 w 318"/>
                  <a:gd name="T5" fmla="*/ 0 h 274"/>
                  <a:gd name="T6" fmla="*/ 0 w 318"/>
                  <a:gd name="T7" fmla="*/ 0 h 274"/>
                  <a:gd name="T8" fmla="*/ 0 w 318"/>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274">
                    <a:moveTo>
                      <a:pt x="318" y="0"/>
                    </a:moveTo>
                    <a:lnTo>
                      <a:pt x="44" y="274"/>
                    </a:lnTo>
                    <a:lnTo>
                      <a:pt x="0" y="274"/>
                    </a:lnTo>
                    <a:lnTo>
                      <a:pt x="275" y="0"/>
                    </a:lnTo>
                    <a:lnTo>
                      <a:pt x="318"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51" name="Freeform 2440"/>
              <p:cNvSpPr>
                <a:spLocks noChangeAspect="1"/>
              </p:cNvSpPr>
              <p:nvPr/>
            </p:nvSpPr>
            <p:spPr bwMode="auto">
              <a:xfrm>
                <a:off x="5158" y="2832"/>
                <a:ext cx="106" cy="91"/>
              </a:xfrm>
              <a:custGeom>
                <a:avLst/>
                <a:gdLst>
                  <a:gd name="T0" fmla="*/ 0 w 318"/>
                  <a:gd name="T1" fmla="*/ 0 h 274"/>
                  <a:gd name="T2" fmla="*/ 0 w 318"/>
                  <a:gd name="T3" fmla="*/ 0 h 274"/>
                  <a:gd name="T4" fmla="*/ 0 w 318"/>
                  <a:gd name="T5" fmla="*/ 0 h 274"/>
                  <a:gd name="T6" fmla="*/ 0 w 318"/>
                  <a:gd name="T7" fmla="*/ 0 h 274"/>
                  <a:gd name="T8" fmla="*/ 0 w 318"/>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274">
                    <a:moveTo>
                      <a:pt x="318" y="0"/>
                    </a:moveTo>
                    <a:lnTo>
                      <a:pt x="43" y="274"/>
                    </a:lnTo>
                    <a:lnTo>
                      <a:pt x="0" y="274"/>
                    </a:lnTo>
                    <a:lnTo>
                      <a:pt x="274" y="0"/>
                    </a:lnTo>
                    <a:lnTo>
                      <a:pt x="318"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52" name="Freeform 2441"/>
              <p:cNvSpPr>
                <a:spLocks noChangeAspect="1"/>
              </p:cNvSpPr>
              <p:nvPr/>
            </p:nvSpPr>
            <p:spPr bwMode="auto">
              <a:xfrm>
                <a:off x="5150" y="2832"/>
                <a:ext cx="107" cy="91"/>
              </a:xfrm>
              <a:custGeom>
                <a:avLst/>
                <a:gdLst>
                  <a:gd name="T0" fmla="*/ 0 w 320"/>
                  <a:gd name="T1" fmla="*/ 0 h 274"/>
                  <a:gd name="T2" fmla="*/ 0 w 320"/>
                  <a:gd name="T3" fmla="*/ 0 h 274"/>
                  <a:gd name="T4" fmla="*/ 0 w 320"/>
                  <a:gd name="T5" fmla="*/ 0 h 274"/>
                  <a:gd name="T6" fmla="*/ 0 w 320"/>
                  <a:gd name="T7" fmla="*/ 0 h 274"/>
                  <a:gd name="T8" fmla="*/ 0 w 320"/>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0" h="274">
                    <a:moveTo>
                      <a:pt x="320" y="0"/>
                    </a:moveTo>
                    <a:lnTo>
                      <a:pt x="45" y="274"/>
                    </a:lnTo>
                    <a:lnTo>
                      <a:pt x="0" y="274"/>
                    </a:lnTo>
                    <a:lnTo>
                      <a:pt x="275" y="0"/>
                    </a:lnTo>
                    <a:lnTo>
                      <a:pt x="320"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53" name="Freeform 2442"/>
              <p:cNvSpPr>
                <a:spLocks noChangeAspect="1"/>
              </p:cNvSpPr>
              <p:nvPr/>
            </p:nvSpPr>
            <p:spPr bwMode="auto">
              <a:xfrm>
                <a:off x="5143" y="2832"/>
                <a:ext cx="106" cy="91"/>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5" y="274"/>
                    </a:lnTo>
                    <a:lnTo>
                      <a:pt x="0" y="274"/>
                    </a:lnTo>
                    <a:lnTo>
                      <a:pt x="274"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54" name="Freeform 2443"/>
              <p:cNvSpPr>
                <a:spLocks noChangeAspect="1"/>
              </p:cNvSpPr>
              <p:nvPr/>
            </p:nvSpPr>
            <p:spPr bwMode="auto">
              <a:xfrm>
                <a:off x="5135" y="2832"/>
                <a:ext cx="107" cy="91"/>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4" y="274"/>
                    </a:lnTo>
                    <a:lnTo>
                      <a:pt x="0" y="274"/>
                    </a:lnTo>
                    <a:lnTo>
                      <a:pt x="274"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55" name="Freeform 2444"/>
              <p:cNvSpPr>
                <a:spLocks noChangeAspect="1"/>
              </p:cNvSpPr>
              <p:nvPr/>
            </p:nvSpPr>
            <p:spPr bwMode="auto">
              <a:xfrm>
                <a:off x="5128" y="2832"/>
                <a:ext cx="106" cy="91"/>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5" y="274"/>
                    </a:lnTo>
                    <a:lnTo>
                      <a:pt x="0" y="274"/>
                    </a:lnTo>
                    <a:lnTo>
                      <a:pt x="275"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56" name="Freeform 2445"/>
              <p:cNvSpPr>
                <a:spLocks noChangeAspect="1"/>
              </p:cNvSpPr>
              <p:nvPr/>
            </p:nvSpPr>
            <p:spPr bwMode="auto">
              <a:xfrm>
                <a:off x="5120" y="2832"/>
                <a:ext cx="107" cy="91"/>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5" y="274"/>
                    </a:lnTo>
                    <a:lnTo>
                      <a:pt x="0" y="274"/>
                    </a:lnTo>
                    <a:lnTo>
                      <a:pt x="274"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57" name="Freeform 2446"/>
              <p:cNvSpPr>
                <a:spLocks noChangeAspect="1"/>
              </p:cNvSpPr>
              <p:nvPr/>
            </p:nvSpPr>
            <p:spPr bwMode="auto">
              <a:xfrm>
                <a:off x="5113" y="2832"/>
                <a:ext cx="106" cy="91"/>
              </a:xfrm>
              <a:custGeom>
                <a:avLst/>
                <a:gdLst>
                  <a:gd name="T0" fmla="*/ 0 w 320"/>
                  <a:gd name="T1" fmla="*/ 0 h 274"/>
                  <a:gd name="T2" fmla="*/ 0 w 320"/>
                  <a:gd name="T3" fmla="*/ 0 h 274"/>
                  <a:gd name="T4" fmla="*/ 0 w 320"/>
                  <a:gd name="T5" fmla="*/ 0 h 274"/>
                  <a:gd name="T6" fmla="*/ 0 w 320"/>
                  <a:gd name="T7" fmla="*/ 0 h 274"/>
                  <a:gd name="T8" fmla="*/ 0 w 320"/>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0" h="274">
                    <a:moveTo>
                      <a:pt x="320" y="0"/>
                    </a:moveTo>
                    <a:lnTo>
                      <a:pt x="45" y="274"/>
                    </a:lnTo>
                    <a:lnTo>
                      <a:pt x="0" y="274"/>
                    </a:lnTo>
                    <a:lnTo>
                      <a:pt x="275" y="0"/>
                    </a:lnTo>
                    <a:lnTo>
                      <a:pt x="320"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58" name="Freeform 2447"/>
              <p:cNvSpPr>
                <a:spLocks noChangeAspect="1"/>
              </p:cNvSpPr>
              <p:nvPr/>
            </p:nvSpPr>
            <p:spPr bwMode="auto">
              <a:xfrm>
                <a:off x="5105" y="2832"/>
                <a:ext cx="107" cy="91"/>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5" y="274"/>
                    </a:lnTo>
                    <a:lnTo>
                      <a:pt x="0" y="274"/>
                    </a:lnTo>
                    <a:lnTo>
                      <a:pt x="275"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59" name="Freeform 2448"/>
              <p:cNvSpPr>
                <a:spLocks noChangeAspect="1"/>
              </p:cNvSpPr>
              <p:nvPr/>
            </p:nvSpPr>
            <p:spPr bwMode="auto">
              <a:xfrm>
                <a:off x="5098" y="2832"/>
                <a:ext cx="106" cy="91"/>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4" y="274"/>
                    </a:lnTo>
                    <a:lnTo>
                      <a:pt x="0" y="274"/>
                    </a:lnTo>
                    <a:lnTo>
                      <a:pt x="274"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60" name="Freeform 2449"/>
              <p:cNvSpPr>
                <a:spLocks noChangeAspect="1"/>
              </p:cNvSpPr>
              <p:nvPr/>
            </p:nvSpPr>
            <p:spPr bwMode="auto">
              <a:xfrm>
                <a:off x="5091" y="2832"/>
                <a:ext cx="106" cy="91"/>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4" y="274"/>
                    </a:lnTo>
                    <a:lnTo>
                      <a:pt x="0" y="274"/>
                    </a:lnTo>
                    <a:lnTo>
                      <a:pt x="275"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61" name="Freeform 2450"/>
              <p:cNvSpPr>
                <a:spLocks noChangeAspect="1"/>
              </p:cNvSpPr>
              <p:nvPr/>
            </p:nvSpPr>
            <p:spPr bwMode="auto">
              <a:xfrm>
                <a:off x="5083" y="2832"/>
                <a:ext cx="106" cy="91"/>
              </a:xfrm>
              <a:custGeom>
                <a:avLst/>
                <a:gdLst>
                  <a:gd name="T0" fmla="*/ 0 w 318"/>
                  <a:gd name="T1" fmla="*/ 0 h 274"/>
                  <a:gd name="T2" fmla="*/ 0 w 318"/>
                  <a:gd name="T3" fmla="*/ 0 h 274"/>
                  <a:gd name="T4" fmla="*/ 0 w 318"/>
                  <a:gd name="T5" fmla="*/ 0 h 274"/>
                  <a:gd name="T6" fmla="*/ 0 w 318"/>
                  <a:gd name="T7" fmla="*/ 0 h 274"/>
                  <a:gd name="T8" fmla="*/ 0 w 318"/>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274">
                    <a:moveTo>
                      <a:pt x="318" y="0"/>
                    </a:moveTo>
                    <a:lnTo>
                      <a:pt x="44" y="274"/>
                    </a:lnTo>
                    <a:lnTo>
                      <a:pt x="0" y="274"/>
                    </a:lnTo>
                    <a:lnTo>
                      <a:pt x="275" y="0"/>
                    </a:lnTo>
                    <a:lnTo>
                      <a:pt x="318"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62" name="Freeform 2451"/>
              <p:cNvSpPr>
                <a:spLocks noChangeAspect="1"/>
              </p:cNvSpPr>
              <p:nvPr/>
            </p:nvSpPr>
            <p:spPr bwMode="auto">
              <a:xfrm>
                <a:off x="5076" y="2832"/>
                <a:ext cx="106" cy="91"/>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4" y="274"/>
                    </a:lnTo>
                    <a:lnTo>
                      <a:pt x="0" y="274"/>
                    </a:lnTo>
                    <a:lnTo>
                      <a:pt x="274"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63" name="Freeform 2452"/>
              <p:cNvSpPr>
                <a:spLocks noChangeAspect="1"/>
              </p:cNvSpPr>
              <p:nvPr/>
            </p:nvSpPr>
            <p:spPr bwMode="auto">
              <a:xfrm>
                <a:off x="5068" y="2832"/>
                <a:ext cx="107" cy="91"/>
              </a:xfrm>
              <a:custGeom>
                <a:avLst/>
                <a:gdLst>
                  <a:gd name="T0" fmla="*/ 0 w 320"/>
                  <a:gd name="T1" fmla="*/ 0 h 274"/>
                  <a:gd name="T2" fmla="*/ 0 w 320"/>
                  <a:gd name="T3" fmla="*/ 0 h 274"/>
                  <a:gd name="T4" fmla="*/ 0 w 320"/>
                  <a:gd name="T5" fmla="*/ 0 h 274"/>
                  <a:gd name="T6" fmla="*/ 0 w 320"/>
                  <a:gd name="T7" fmla="*/ 0 h 274"/>
                  <a:gd name="T8" fmla="*/ 0 w 320"/>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0" h="274">
                    <a:moveTo>
                      <a:pt x="320" y="0"/>
                    </a:moveTo>
                    <a:lnTo>
                      <a:pt x="45" y="274"/>
                    </a:lnTo>
                    <a:lnTo>
                      <a:pt x="0" y="274"/>
                    </a:lnTo>
                    <a:lnTo>
                      <a:pt x="275" y="0"/>
                    </a:lnTo>
                    <a:lnTo>
                      <a:pt x="320"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64" name="Freeform 2453"/>
              <p:cNvSpPr>
                <a:spLocks noChangeAspect="1"/>
              </p:cNvSpPr>
              <p:nvPr/>
            </p:nvSpPr>
            <p:spPr bwMode="auto">
              <a:xfrm>
                <a:off x="5061" y="2832"/>
                <a:ext cx="106" cy="91"/>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5" y="274"/>
                    </a:lnTo>
                    <a:lnTo>
                      <a:pt x="0" y="274"/>
                    </a:lnTo>
                    <a:lnTo>
                      <a:pt x="275"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65" name="Freeform 2454"/>
              <p:cNvSpPr>
                <a:spLocks noChangeAspect="1"/>
              </p:cNvSpPr>
              <p:nvPr/>
            </p:nvSpPr>
            <p:spPr bwMode="auto">
              <a:xfrm>
                <a:off x="5054" y="2832"/>
                <a:ext cx="106" cy="91"/>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4" y="274"/>
                    </a:lnTo>
                    <a:lnTo>
                      <a:pt x="0" y="274"/>
                    </a:lnTo>
                    <a:lnTo>
                      <a:pt x="274"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66" name="Freeform 2455"/>
              <p:cNvSpPr>
                <a:spLocks noChangeAspect="1"/>
              </p:cNvSpPr>
              <p:nvPr/>
            </p:nvSpPr>
            <p:spPr bwMode="auto">
              <a:xfrm>
                <a:off x="5046" y="2832"/>
                <a:ext cx="107" cy="91"/>
              </a:xfrm>
              <a:custGeom>
                <a:avLst/>
                <a:gdLst>
                  <a:gd name="T0" fmla="*/ 0 w 320"/>
                  <a:gd name="T1" fmla="*/ 0 h 274"/>
                  <a:gd name="T2" fmla="*/ 0 w 320"/>
                  <a:gd name="T3" fmla="*/ 0 h 274"/>
                  <a:gd name="T4" fmla="*/ 0 w 320"/>
                  <a:gd name="T5" fmla="*/ 0 h 274"/>
                  <a:gd name="T6" fmla="*/ 0 w 320"/>
                  <a:gd name="T7" fmla="*/ 0 h 274"/>
                  <a:gd name="T8" fmla="*/ 0 w 320"/>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0" h="274">
                    <a:moveTo>
                      <a:pt x="320" y="0"/>
                    </a:moveTo>
                    <a:lnTo>
                      <a:pt x="45" y="274"/>
                    </a:lnTo>
                    <a:lnTo>
                      <a:pt x="0" y="274"/>
                    </a:lnTo>
                    <a:lnTo>
                      <a:pt x="275" y="0"/>
                    </a:lnTo>
                    <a:lnTo>
                      <a:pt x="320"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67" name="Freeform 2456"/>
              <p:cNvSpPr>
                <a:spLocks noChangeAspect="1"/>
              </p:cNvSpPr>
              <p:nvPr/>
            </p:nvSpPr>
            <p:spPr bwMode="auto">
              <a:xfrm>
                <a:off x="5039" y="2832"/>
                <a:ext cx="106" cy="91"/>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5" y="274"/>
                    </a:lnTo>
                    <a:lnTo>
                      <a:pt x="0" y="274"/>
                    </a:lnTo>
                    <a:lnTo>
                      <a:pt x="275"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68" name="Freeform 2457"/>
              <p:cNvSpPr>
                <a:spLocks noChangeAspect="1"/>
              </p:cNvSpPr>
              <p:nvPr/>
            </p:nvSpPr>
            <p:spPr bwMode="auto">
              <a:xfrm>
                <a:off x="5031" y="2832"/>
                <a:ext cx="107" cy="91"/>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4" y="274"/>
                    </a:lnTo>
                    <a:lnTo>
                      <a:pt x="0" y="274"/>
                    </a:lnTo>
                    <a:lnTo>
                      <a:pt x="274"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69" name="Freeform 2458"/>
              <p:cNvSpPr>
                <a:spLocks noChangeAspect="1"/>
              </p:cNvSpPr>
              <p:nvPr/>
            </p:nvSpPr>
            <p:spPr bwMode="auto">
              <a:xfrm>
                <a:off x="5027" y="2832"/>
                <a:ext cx="103" cy="91"/>
              </a:xfrm>
              <a:custGeom>
                <a:avLst/>
                <a:gdLst>
                  <a:gd name="T0" fmla="*/ 0 w 311"/>
                  <a:gd name="T1" fmla="*/ 0 h 274"/>
                  <a:gd name="T2" fmla="*/ 0 w 311"/>
                  <a:gd name="T3" fmla="*/ 0 h 274"/>
                  <a:gd name="T4" fmla="*/ 0 w 311"/>
                  <a:gd name="T5" fmla="*/ 0 h 274"/>
                  <a:gd name="T6" fmla="*/ 0 w 311"/>
                  <a:gd name="T7" fmla="*/ 0 h 274"/>
                  <a:gd name="T8" fmla="*/ 0 w 311"/>
                  <a:gd name="T9" fmla="*/ 0 h 274"/>
                  <a:gd name="T10" fmla="*/ 0 w 311"/>
                  <a:gd name="T11" fmla="*/ 0 h 27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11" h="274">
                    <a:moveTo>
                      <a:pt x="311" y="0"/>
                    </a:moveTo>
                    <a:lnTo>
                      <a:pt x="36" y="274"/>
                    </a:lnTo>
                    <a:lnTo>
                      <a:pt x="0" y="274"/>
                    </a:lnTo>
                    <a:lnTo>
                      <a:pt x="107" y="159"/>
                    </a:lnTo>
                    <a:lnTo>
                      <a:pt x="267" y="0"/>
                    </a:lnTo>
                    <a:lnTo>
                      <a:pt x="311"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70" name="Freeform 2459"/>
              <p:cNvSpPr>
                <a:spLocks noChangeAspect="1"/>
              </p:cNvSpPr>
              <p:nvPr/>
            </p:nvSpPr>
            <p:spPr bwMode="auto">
              <a:xfrm>
                <a:off x="5027" y="2832"/>
                <a:ext cx="96" cy="91"/>
              </a:xfrm>
              <a:custGeom>
                <a:avLst/>
                <a:gdLst>
                  <a:gd name="T0" fmla="*/ 0 w 288"/>
                  <a:gd name="T1" fmla="*/ 0 h 274"/>
                  <a:gd name="T2" fmla="*/ 0 w 288"/>
                  <a:gd name="T3" fmla="*/ 0 h 274"/>
                  <a:gd name="T4" fmla="*/ 0 w 288"/>
                  <a:gd name="T5" fmla="*/ 0 h 274"/>
                  <a:gd name="T6" fmla="*/ 0 w 288"/>
                  <a:gd name="T7" fmla="*/ 0 h 274"/>
                  <a:gd name="T8" fmla="*/ 0 w 288"/>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8" h="274">
                    <a:moveTo>
                      <a:pt x="288" y="0"/>
                    </a:moveTo>
                    <a:lnTo>
                      <a:pt x="14" y="274"/>
                    </a:lnTo>
                    <a:lnTo>
                      <a:pt x="0" y="274"/>
                    </a:lnTo>
                    <a:lnTo>
                      <a:pt x="255" y="0"/>
                    </a:lnTo>
                    <a:lnTo>
                      <a:pt x="288"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71" name="Freeform 2460"/>
              <p:cNvSpPr>
                <a:spLocks noChangeAspect="1"/>
              </p:cNvSpPr>
              <p:nvPr/>
            </p:nvSpPr>
            <p:spPr bwMode="auto">
              <a:xfrm>
                <a:off x="5062" y="2832"/>
                <a:ext cx="54" cy="53"/>
              </a:xfrm>
              <a:custGeom>
                <a:avLst/>
                <a:gdLst>
                  <a:gd name="T0" fmla="*/ 0 w 160"/>
                  <a:gd name="T1" fmla="*/ 0 h 159"/>
                  <a:gd name="T2" fmla="*/ 0 w 160"/>
                  <a:gd name="T3" fmla="*/ 0 h 159"/>
                  <a:gd name="T4" fmla="*/ 0 w 160"/>
                  <a:gd name="T5" fmla="*/ 0 h 159"/>
                  <a:gd name="T6" fmla="*/ 0 w 160"/>
                  <a:gd name="T7" fmla="*/ 0 h 15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0" h="159">
                    <a:moveTo>
                      <a:pt x="160" y="0"/>
                    </a:moveTo>
                    <a:lnTo>
                      <a:pt x="0" y="159"/>
                    </a:lnTo>
                    <a:lnTo>
                      <a:pt x="148" y="0"/>
                    </a:lnTo>
                    <a:lnTo>
                      <a:pt x="160"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72" name="Freeform 2461"/>
              <p:cNvSpPr>
                <a:spLocks noChangeAspect="1"/>
              </p:cNvSpPr>
              <p:nvPr/>
            </p:nvSpPr>
            <p:spPr bwMode="auto">
              <a:xfrm>
                <a:off x="5027" y="2832"/>
                <a:ext cx="279" cy="91"/>
              </a:xfrm>
              <a:custGeom>
                <a:avLst/>
                <a:gdLst>
                  <a:gd name="T0" fmla="*/ 0 w 837"/>
                  <a:gd name="T1" fmla="*/ 0 h 274"/>
                  <a:gd name="T2" fmla="*/ 0 w 837"/>
                  <a:gd name="T3" fmla="*/ 0 h 274"/>
                  <a:gd name="T4" fmla="*/ 0 w 837"/>
                  <a:gd name="T5" fmla="*/ 0 h 274"/>
                  <a:gd name="T6" fmla="*/ 0 w 837"/>
                  <a:gd name="T7" fmla="*/ 0 h 274"/>
                  <a:gd name="T8" fmla="*/ 0 w 837"/>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37" h="274">
                    <a:moveTo>
                      <a:pt x="255" y="0"/>
                    </a:moveTo>
                    <a:lnTo>
                      <a:pt x="837" y="0"/>
                    </a:lnTo>
                    <a:lnTo>
                      <a:pt x="581" y="274"/>
                    </a:lnTo>
                    <a:lnTo>
                      <a:pt x="0" y="274"/>
                    </a:lnTo>
                    <a:lnTo>
                      <a:pt x="255" y="0"/>
                    </a:lnTo>
                  </a:path>
                </a:pathLst>
              </a:custGeom>
              <a:gradFill rotWithShape="0">
                <a:gsLst>
                  <a:gs pos="0">
                    <a:srgbClr val="EAEAEA"/>
                  </a:gs>
                  <a:gs pos="100000">
                    <a:srgbClr val="9B9B9B"/>
                  </a:gs>
                </a:gsLst>
                <a:lin ang="0" scaled="1"/>
              </a:gradFill>
              <a:ln w="1588">
                <a:solidFill>
                  <a:srgbClr val="1F1A17"/>
                </a:solidFill>
                <a:prstDash val="solid"/>
                <a:round/>
                <a:headEnd/>
                <a:tailEnd/>
              </a:ln>
            </p:spPr>
            <p:txBody>
              <a:bodyPr/>
              <a:lstStyle/>
              <a:p>
                <a:endParaRPr lang="en-US"/>
              </a:p>
            </p:txBody>
          </p:sp>
          <p:sp>
            <p:nvSpPr>
              <p:cNvPr id="388673" name="Rectangle 2462"/>
              <p:cNvSpPr>
                <a:spLocks noChangeAspect="1" noChangeArrowheads="1"/>
              </p:cNvSpPr>
              <p:nvPr/>
            </p:nvSpPr>
            <p:spPr bwMode="auto">
              <a:xfrm>
                <a:off x="5216" y="2923"/>
                <a:ext cx="4"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74" name="Rectangle 2463"/>
              <p:cNvSpPr>
                <a:spLocks noChangeAspect="1" noChangeArrowheads="1"/>
              </p:cNvSpPr>
              <p:nvPr/>
            </p:nvSpPr>
            <p:spPr bwMode="auto">
              <a:xfrm>
                <a:off x="5213" y="2923"/>
                <a:ext cx="7"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75" name="Rectangle 2464"/>
              <p:cNvSpPr>
                <a:spLocks noChangeAspect="1" noChangeArrowheads="1"/>
              </p:cNvSpPr>
              <p:nvPr/>
            </p:nvSpPr>
            <p:spPr bwMode="auto">
              <a:xfrm>
                <a:off x="5209" y="2923"/>
                <a:ext cx="7"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76" name="Rectangle 2465"/>
              <p:cNvSpPr>
                <a:spLocks noChangeAspect="1" noChangeArrowheads="1"/>
              </p:cNvSpPr>
              <p:nvPr/>
            </p:nvSpPr>
            <p:spPr bwMode="auto">
              <a:xfrm>
                <a:off x="5205"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77" name="Rectangle 2466"/>
              <p:cNvSpPr>
                <a:spLocks noChangeAspect="1" noChangeArrowheads="1"/>
              </p:cNvSpPr>
              <p:nvPr/>
            </p:nvSpPr>
            <p:spPr bwMode="auto">
              <a:xfrm>
                <a:off x="5201"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78" name="Rectangle 2467"/>
              <p:cNvSpPr>
                <a:spLocks noChangeAspect="1" noChangeArrowheads="1"/>
              </p:cNvSpPr>
              <p:nvPr/>
            </p:nvSpPr>
            <p:spPr bwMode="auto">
              <a:xfrm>
                <a:off x="5197"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79" name="Rectangle 2468"/>
              <p:cNvSpPr>
                <a:spLocks noChangeAspect="1" noChangeArrowheads="1"/>
              </p:cNvSpPr>
              <p:nvPr/>
            </p:nvSpPr>
            <p:spPr bwMode="auto">
              <a:xfrm>
                <a:off x="5193"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80" name="Rectangle 2469"/>
              <p:cNvSpPr>
                <a:spLocks noChangeAspect="1" noChangeArrowheads="1"/>
              </p:cNvSpPr>
              <p:nvPr/>
            </p:nvSpPr>
            <p:spPr bwMode="auto">
              <a:xfrm>
                <a:off x="5189"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81" name="Rectangle 2470"/>
              <p:cNvSpPr>
                <a:spLocks noChangeAspect="1" noChangeArrowheads="1"/>
              </p:cNvSpPr>
              <p:nvPr/>
            </p:nvSpPr>
            <p:spPr bwMode="auto">
              <a:xfrm>
                <a:off x="5186" y="2923"/>
                <a:ext cx="7"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82" name="Rectangle 2471"/>
              <p:cNvSpPr>
                <a:spLocks noChangeAspect="1" noChangeArrowheads="1"/>
              </p:cNvSpPr>
              <p:nvPr/>
            </p:nvSpPr>
            <p:spPr bwMode="auto">
              <a:xfrm>
                <a:off x="5182" y="2923"/>
                <a:ext cx="7"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83" name="Rectangle 2472"/>
              <p:cNvSpPr>
                <a:spLocks noChangeAspect="1" noChangeArrowheads="1"/>
              </p:cNvSpPr>
              <p:nvPr/>
            </p:nvSpPr>
            <p:spPr bwMode="auto">
              <a:xfrm>
                <a:off x="5178"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84" name="Rectangle 2473"/>
              <p:cNvSpPr>
                <a:spLocks noChangeAspect="1" noChangeArrowheads="1"/>
              </p:cNvSpPr>
              <p:nvPr/>
            </p:nvSpPr>
            <p:spPr bwMode="auto">
              <a:xfrm>
                <a:off x="5174"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85" name="Rectangle 2474"/>
              <p:cNvSpPr>
                <a:spLocks noChangeAspect="1" noChangeArrowheads="1"/>
              </p:cNvSpPr>
              <p:nvPr/>
            </p:nvSpPr>
            <p:spPr bwMode="auto">
              <a:xfrm>
                <a:off x="5170"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86" name="Rectangle 2475"/>
              <p:cNvSpPr>
                <a:spLocks noChangeAspect="1" noChangeArrowheads="1"/>
              </p:cNvSpPr>
              <p:nvPr/>
            </p:nvSpPr>
            <p:spPr bwMode="auto">
              <a:xfrm>
                <a:off x="5166"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87" name="Rectangle 2476"/>
              <p:cNvSpPr>
                <a:spLocks noChangeAspect="1" noChangeArrowheads="1"/>
              </p:cNvSpPr>
              <p:nvPr/>
            </p:nvSpPr>
            <p:spPr bwMode="auto">
              <a:xfrm>
                <a:off x="5162"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88" name="Rectangle 2477"/>
              <p:cNvSpPr>
                <a:spLocks noChangeAspect="1" noChangeArrowheads="1"/>
              </p:cNvSpPr>
              <p:nvPr/>
            </p:nvSpPr>
            <p:spPr bwMode="auto">
              <a:xfrm>
                <a:off x="5158"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89" name="Rectangle 2478"/>
              <p:cNvSpPr>
                <a:spLocks noChangeAspect="1" noChangeArrowheads="1"/>
              </p:cNvSpPr>
              <p:nvPr/>
            </p:nvSpPr>
            <p:spPr bwMode="auto">
              <a:xfrm>
                <a:off x="5154"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90" name="Rectangle 2479"/>
              <p:cNvSpPr>
                <a:spLocks noChangeAspect="1" noChangeArrowheads="1"/>
              </p:cNvSpPr>
              <p:nvPr/>
            </p:nvSpPr>
            <p:spPr bwMode="auto">
              <a:xfrm>
                <a:off x="5150"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91" name="Rectangle 2480"/>
              <p:cNvSpPr>
                <a:spLocks noChangeAspect="1" noChangeArrowheads="1"/>
              </p:cNvSpPr>
              <p:nvPr/>
            </p:nvSpPr>
            <p:spPr bwMode="auto">
              <a:xfrm>
                <a:off x="5147" y="2923"/>
                <a:ext cx="7"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92" name="Rectangle 2481"/>
              <p:cNvSpPr>
                <a:spLocks noChangeAspect="1" noChangeArrowheads="1"/>
              </p:cNvSpPr>
              <p:nvPr/>
            </p:nvSpPr>
            <p:spPr bwMode="auto">
              <a:xfrm>
                <a:off x="5143" y="2923"/>
                <a:ext cx="7"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93" name="Rectangle 2482"/>
              <p:cNvSpPr>
                <a:spLocks noChangeAspect="1" noChangeArrowheads="1"/>
              </p:cNvSpPr>
              <p:nvPr/>
            </p:nvSpPr>
            <p:spPr bwMode="auto">
              <a:xfrm>
                <a:off x="5139"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94" name="Rectangle 2483"/>
              <p:cNvSpPr>
                <a:spLocks noChangeAspect="1" noChangeArrowheads="1"/>
              </p:cNvSpPr>
              <p:nvPr/>
            </p:nvSpPr>
            <p:spPr bwMode="auto">
              <a:xfrm>
                <a:off x="5135"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95" name="Rectangle 2484"/>
              <p:cNvSpPr>
                <a:spLocks noChangeAspect="1" noChangeArrowheads="1"/>
              </p:cNvSpPr>
              <p:nvPr/>
            </p:nvSpPr>
            <p:spPr bwMode="auto">
              <a:xfrm>
                <a:off x="5131"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96" name="Rectangle 2485"/>
              <p:cNvSpPr>
                <a:spLocks noChangeAspect="1" noChangeArrowheads="1"/>
              </p:cNvSpPr>
              <p:nvPr/>
            </p:nvSpPr>
            <p:spPr bwMode="auto">
              <a:xfrm>
                <a:off x="5127"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97" name="Rectangle 2486"/>
              <p:cNvSpPr>
                <a:spLocks noChangeAspect="1" noChangeArrowheads="1"/>
              </p:cNvSpPr>
              <p:nvPr/>
            </p:nvSpPr>
            <p:spPr bwMode="auto">
              <a:xfrm>
                <a:off x="5123"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98" name="Rectangle 2487"/>
              <p:cNvSpPr>
                <a:spLocks noChangeAspect="1" noChangeArrowheads="1"/>
              </p:cNvSpPr>
              <p:nvPr/>
            </p:nvSpPr>
            <p:spPr bwMode="auto">
              <a:xfrm>
                <a:off x="5120" y="2923"/>
                <a:ext cx="7"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99" name="Rectangle 2488"/>
              <p:cNvSpPr>
                <a:spLocks noChangeAspect="1" noChangeArrowheads="1"/>
              </p:cNvSpPr>
              <p:nvPr/>
            </p:nvSpPr>
            <p:spPr bwMode="auto">
              <a:xfrm>
                <a:off x="5116" y="2923"/>
                <a:ext cx="7"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00" name="Rectangle 2489"/>
              <p:cNvSpPr>
                <a:spLocks noChangeAspect="1" noChangeArrowheads="1"/>
              </p:cNvSpPr>
              <p:nvPr/>
            </p:nvSpPr>
            <p:spPr bwMode="auto">
              <a:xfrm>
                <a:off x="5112"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01" name="Rectangle 2490"/>
              <p:cNvSpPr>
                <a:spLocks noChangeAspect="1" noChangeArrowheads="1"/>
              </p:cNvSpPr>
              <p:nvPr/>
            </p:nvSpPr>
            <p:spPr bwMode="auto">
              <a:xfrm>
                <a:off x="5108"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02" name="Rectangle 2491"/>
              <p:cNvSpPr>
                <a:spLocks noChangeAspect="1" noChangeArrowheads="1"/>
              </p:cNvSpPr>
              <p:nvPr/>
            </p:nvSpPr>
            <p:spPr bwMode="auto">
              <a:xfrm>
                <a:off x="5104"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03" name="Rectangle 2492"/>
              <p:cNvSpPr>
                <a:spLocks noChangeAspect="1" noChangeArrowheads="1"/>
              </p:cNvSpPr>
              <p:nvPr/>
            </p:nvSpPr>
            <p:spPr bwMode="auto">
              <a:xfrm>
                <a:off x="5100"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04" name="Rectangle 2493"/>
              <p:cNvSpPr>
                <a:spLocks noChangeAspect="1" noChangeArrowheads="1"/>
              </p:cNvSpPr>
              <p:nvPr/>
            </p:nvSpPr>
            <p:spPr bwMode="auto">
              <a:xfrm>
                <a:off x="5096"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05" name="Rectangle 2494"/>
              <p:cNvSpPr>
                <a:spLocks noChangeAspect="1" noChangeArrowheads="1"/>
              </p:cNvSpPr>
              <p:nvPr/>
            </p:nvSpPr>
            <p:spPr bwMode="auto">
              <a:xfrm>
                <a:off x="5092"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06" name="Rectangle 2495"/>
              <p:cNvSpPr>
                <a:spLocks noChangeAspect="1" noChangeArrowheads="1"/>
              </p:cNvSpPr>
              <p:nvPr/>
            </p:nvSpPr>
            <p:spPr bwMode="auto">
              <a:xfrm>
                <a:off x="5089" y="2923"/>
                <a:ext cx="7"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07" name="Rectangle 2496"/>
              <p:cNvSpPr>
                <a:spLocks noChangeAspect="1" noChangeArrowheads="1"/>
              </p:cNvSpPr>
              <p:nvPr/>
            </p:nvSpPr>
            <p:spPr bwMode="auto">
              <a:xfrm>
                <a:off x="5085" y="2923"/>
                <a:ext cx="7"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08" name="Rectangle 2497"/>
              <p:cNvSpPr>
                <a:spLocks noChangeAspect="1" noChangeArrowheads="1"/>
              </p:cNvSpPr>
              <p:nvPr/>
            </p:nvSpPr>
            <p:spPr bwMode="auto">
              <a:xfrm>
                <a:off x="5081"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09" name="Rectangle 2498"/>
              <p:cNvSpPr>
                <a:spLocks noChangeAspect="1" noChangeArrowheads="1"/>
              </p:cNvSpPr>
              <p:nvPr/>
            </p:nvSpPr>
            <p:spPr bwMode="auto">
              <a:xfrm>
                <a:off x="5077"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10" name="Rectangle 2499"/>
              <p:cNvSpPr>
                <a:spLocks noChangeAspect="1" noChangeArrowheads="1"/>
              </p:cNvSpPr>
              <p:nvPr/>
            </p:nvSpPr>
            <p:spPr bwMode="auto">
              <a:xfrm>
                <a:off x="5073"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11" name="Rectangle 2500"/>
              <p:cNvSpPr>
                <a:spLocks noChangeAspect="1" noChangeArrowheads="1"/>
              </p:cNvSpPr>
              <p:nvPr/>
            </p:nvSpPr>
            <p:spPr bwMode="auto">
              <a:xfrm>
                <a:off x="5069"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12" name="Rectangle 2501"/>
              <p:cNvSpPr>
                <a:spLocks noChangeAspect="1" noChangeArrowheads="1"/>
              </p:cNvSpPr>
              <p:nvPr/>
            </p:nvSpPr>
            <p:spPr bwMode="auto">
              <a:xfrm>
                <a:off x="5065"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13" name="Rectangle 2502"/>
              <p:cNvSpPr>
                <a:spLocks noChangeAspect="1" noChangeArrowheads="1"/>
              </p:cNvSpPr>
              <p:nvPr/>
            </p:nvSpPr>
            <p:spPr bwMode="auto">
              <a:xfrm>
                <a:off x="5061"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14" name="Rectangle 2503"/>
              <p:cNvSpPr>
                <a:spLocks noChangeAspect="1" noChangeArrowheads="1"/>
              </p:cNvSpPr>
              <p:nvPr/>
            </p:nvSpPr>
            <p:spPr bwMode="auto">
              <a:xfrm>
                <a:off x="5057"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15" name="Rectangle 2504"/>
              <p:cNvSpPr>
                <a:spLocks noChangeAspect="1" noChangeArrowheads="1"/>
              </p:cNvSpPr>
              <p:nvPr/>
            </p:nvSpPr>
            <p:spPr bwMode="auto">
              <a:xfrm>
                <a:off x="5054" y="2923"/>
                <a:ext cx="7"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16" name="Rectangle 2505"/>
              <p:cNvSpPr>
                <a:spLocks noChangeAspect="1" noChangeArrowheads="1"/>
              </p:cNvSpPr>
              <p:nvPr/>
            </p:nvSpPr>
            <p:spPr bwMode="auto">
              <a:xfrm>
                <a:off x="5050" y="2923"/>
                <a:ext cx="7"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17" name="Rectangle 2506"/>
              <p:cNvSpPr>
                <a:spLocks noChangeAspect="1" noChangeArrowheads="1"/>
              </p:cNvSpPr>
              <p:nvPr/>
            </p:nvSpPr>
            <p:spPr bwMode="auto">
              <a:xfrm>
                <a:off x="5046"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18" name="Rectangle 2507"/>
              <p:cNvSpPr>
                <a:spLocks noChangeAspect="1" noChangeArrowheads="1"/>
              </p:cNvSpPr>
              <p:nvPr/>
            </p:nvSpPr>
            <p:spPr bwMode="auto">
              <a:xfrm>
                <a:off x="5042"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19" name="Rectangle 2508"/>
              <p:cNvSpPr>
                <a:spLocks noChangeAspect="1" noChangeArrowheads="1"/>
              </p:cNvSpPr>
              <p:nvPr/>
            </p:nvSpPr>
            <p:spPr bwMode="auto">
              <a:xfrm>
                <a:off x="5038"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20" name="Rectangle 2509"/>
              <p:cNvSpPr>
                <a:spLocks noChangeAspect="1" noChangeArrowheads="1"/>
              </p:cNvSpPr>
              <p:nvPr/>
            </p:nvSpPr>
            <p:spPr bwMode="auto">
              <a:xfrm>
                <a:off x="5034" y="2923"/>
                <a:ext cx="8"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21" name="Rectangle 2510"/>
              <p:cNvSpPr>
                <a:spLocks noChangeAspect="1" noChangeArrowheads="1"/>
              </p:cNvSpPr>
              <p:nvPr/>
            </p:nvSpPr>
            <p:spPr bwMode="auto">
              <a:xfrm>
                <a:off x="5031" y="2923"/>
                <a:ext cx="7"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22" name="Rectangle 2511"/>
              <p:cNvSpPr>
                <a:spLocks noChangeAspect="1" noChangeArrowheads="1"/>
              </p:cNvSpPr>
              <p:nvPr/>
            </p:nvSpPr>
            <p:spPr bwMode="auto">
              <a:xfrm>
                <a:off x="5027" y="2923"/>
                <a:ext cx="7" cy="183"/>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23" name="Rectangle 2512"/>
              <p:cNvSpPr>
                <a:spLocks noChangeAspect="1" noChangeArrowheads="1"/>
              </p:cNvSpPr>
              <p:nvPr/>
            </p:nvSpPr>
            <p:spPr bwMode="auto">
              <a:xfrm>
                <a:off x="5027" y="2923"/>
                <a:ext cx="193" cy="183"/>
              </a:xfrm>
              <a:prstGeom prst="rect">
                <a:avLst/>
              </a:prstGeom>
              <a:gradFill rotWithShape="0">
                <a:gsLst>
                  <a:gs pos="0">
                    <a:srgbClr val="EAEAEA"/>
                  </a:gs>
                  <a:gs pos="100000">
                    <a:srgbClr val="9B9B9B"/>
                  </a:gs>
                </a:gsLst>
                <a:lin ang="0" scaled="1"/>
              </a:gradFill>
              <a:ln w="1588">
                <a:solidFill>
                  <a:srgbClr val="1F1A17"/>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24" name="Freeform 2513"/>
              <p:cNvSpPr>
                <a:spLocks noChangeAspect="1"/>
              </p:cNvSpPr>
              <p:nvPr/>
            </p:nvSpPr>
            <p:spPr bwMode="auto">
              <a:xfrm>
                <a:off x="5220" y="2832"/>
                <a:ext cx="86" cy="92"/>
              </a:xfrm>
              <a:custGeom>
                <a:avLst/>
                <a:gdLst>
                  <a:gd name="T0" fmla="*/ 0 w 256"/>
                  <a:gd name="T1" fmla="*/ 0 h 278"/>
                  <a:gd name="T2" fmla="*/ 0 w 256"/>
                  <a:gd name="T3" fmla="*/ 0 h 278"/>
                  <a:gd name="T4" fmla="*/ 0 w 256"/>
                  <a:gd name="T5" fmla="*/ 0 h 278"/>
                  <a:gd name="T6" fmla="*/ 0 w 256"/>
                  <a:gd name="T7" fmla="*/ 0 h 278"/>
                  <a:gd name="T8" fmla="*/ 0 w 256"/>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278">
                    <a:moveTo>
                      <a:pt x="256" y="22"/>
                    </a:moveTo>
                    <a:lnTo>
                      <a:pt x="0" y="278"/>
                    </a:lnTo>
                    <a:lnTo>
                      <a:pt x="0" y="274"/>
                    </a:lnTo>
                    <a:lnTo>
                      <a:pt x="256" y="0"/>
                    </a:lnTo>
                    <a:lnTo>
                      <a:pt x="256" y="22"/>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25" name="Freeform 2514"/>
              <p:cNvSpPr>
                <a:spLocks noChangeAspect="1"/>
              </p:cNvSpPr>
              <p:nvPr/>
            </p:nvSpPr>
            <p:spPr bwMode="auto">
              <a:xfrm>
                <a:off x="5220" y="2832"/>
                <a:ext cx="86" cy="99"/>
              </a:xfrm>
              <a:custGeom>
                <a:avLst/>
                <a:gdLst>
                  <a:gd name="T0" fmla="*/ 0 w 256"/>
                  <a:gd name="T1" fmla="*/ 0 h 299"/>
                  <a:gd name="T2" fmla="*/ 0 w 256"/>
                  <a:gd name="T3" fmla="*/ 0 h 299"/>
                  <a:gd name="T4" fmla="*/ 0 w 256"/>
                  <a:gd name="T5" fmla="*/ 0 h 299"/>
                  <a:gd name="T6" fmla="*/ 0 w 256"/>
                  <a:gd name="T7" fmla="*/ 0 h 299"/>
                  <a:gd name="T8" fmla="*/ 0 w 256"/>
                  <a:gd name="T9" fmla="*/ 0 h 299"/>
                  <a:gd name="T10" fmla="*/ 0 w 256"/>
                  <a:gd name="T11" fmla="*/ 0 h 29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6" h="299">
                    <a:moveTo>
                      <a:pt x="255" y="1"/>
                    </a:moveTo>
                    <a:lnTo>
                      <a:pt x="256" y="0"/>
                    </a:lnTo>
                    <a:lnTo>
                      <a:pt x="256" y="43"/>
                    </a:lnTo>
                    <a:lnTo>
                      <a:pt x="0" y="299"/>
                    </a:lnTo>
                    <a:lnTo>
                      <a:pt x="0" y="274"/>
                    </a:lnTo>
                    <a:lnTo>
                      <a:pt x="255" y="1"/>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26" name="Freeform 2515"/>
              <p:cNvSpPr>
                <a:spLocks noChangeAspect="1"/>
              </p:cNvSpPr>
              <p:nvPr/>
            </p:nvSpPr>
            <p:spPr bwMode="auto">
              <a:xfrm>
                <a:off x="5220" y="2839"/>
                <a:ext cx="86" cy="100"/>
              </a:xfrm>
              <a:custGeom>
                <a:avLst/>
                <a:gdLst>
                  <a:gd name="T0" fmla="*/ 0 w 256"/>
                  <a:gd name="T1" fmla="*/ 0 h 300"/>
                  <a:gd name="T2" fmla="*/ 0 w 256"/>
                  <a:gd name="T3" fmla="*/ 0 h 300"/>
                  <a:gd name="T4" fmla="*/ 0 w 256"/>
                  <a:gd name="T5" fmla="*/ 0 h 300"/>
                  <a:gd name="T6" fmla="*/ 0 w 256"/>
                  <a:gd name="T7" fmla="*/ 0 h 300"/>
                  <a:gd name="T8" fmla="*/ 0 w 256"/>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300">
                    <a:moveTo>
                      <a:pt x="0" y="256"/>
                    </a:moveTo>
                    <a:lnTo>
                      <a:pt x="256" y="0"/>
                    </a:lnTo>
                    <a:lnTo>
                      <a:pt x="256" y="44"/>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27" name="Freeform 2516"/>
              <p:cNvSpPr>
                <a:spLocks noChangeAspect="1"/>
              </p:cNvSpPr>
              <p:nvPr/>
            </p:nvSpPr>
            <p:spPr bwMode="auto">
              <a:xfrm>
                <a:off x="5220" y="2846"/>
                <a:ext cx="86" cy="100"/>
              </a:xfrm>
              <a:custGeom>
                <a:avLst/>
                <a:gdLst>
                  <a:gd name="T0" fmla="*/ 0 w 256"/>
                  <a:gd name="T1" fmla="*/ 0 h 300"/>
                  <a:gd name="T2" fmla="*/ 0 w 256"/>
                  <a:gd name="T3" fmla="*/ 0 h 300"/>
                  <a:gd name="T4" fmla="*/ 0 w 256"/>
                  <a:gd name="T5" fmla="*/ 0 h 300"/>
                  <a:gd name="T6" fmla="*/ 0 w 256"/>
                  <a:gd name="T7" fmla="*/ 0 h 300"/>
                  <a:gd name="T8" fmla="*/ 0 w 256"/>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300">
                    <a:moveTo>
                      <a:pt x="0" y="256"/>
                    </a:moveTo>
                    <a:lnTo>
                      <a:pt x="256" y="0"/>
                    </a:lnTo>
                    <a:lnTo>
                      <a:pt x="256" y="44"/>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28" name="Freeform 2517"/>
              <p:cNvSpPr>
                <a:spLocks noChangeAspect="1"/>
              </p:cNvSpPr>
              <p:nvPr/>
            </p:nvSpPr>
            <p:spPr bwMode="auto">
              <a:xfrm>
                <a:off x="5220" y="2854"/>
                <a:ext cx="86" cy="99"/>
              </a:xfrm>
              <a:custGeom>
                <a:avLst/>
                <a:gdLst>
                  <a:gd name="T0" fmla="*/ 0 w 256"/>
                  <a:gd name="T1" fmla="*/ 0 h 299"/>
                  <a:gd name="T2" fmla="*/ 0 w 256"/>
                  <a:gd name="T3" fmla="*/ 0 h 299"/>
                  <a:gd name="T4" fmla="*/ 0 w 256"/>
                  <a:gd name="T5" fmla="*/ 0 h 299"/>
                  <a:gd name="T6" fmla="*/ 0 w 256"/>
                  <a:gd name="T7" fmla="*/ 0 h 299"/>
                  <a:gd name="T8" fmla="*/ 0 w 256"/>
                  <a:gd name="T9" fmla="*/ 0 h 2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299">
                    <a:moveTo>
                      <a:pt x="0" y="256"/>
                    </a:moveTo>
                    <a:lnTo>
                      <a:pt x="256" y="0"/>
                    </a:lnTo>
                    <a:lnTo>
                      <a:pt x="256" y="43"/>
                    </a:lnTo>
                    <a:lnTo>
                      <a:pt x="0" y="299"/>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29" name="Freeform 2518"/>
              <p:cNvSpPr>
                <a:spLocks noChangeAspect="1"/>
              </p:cNvSpPr>
              <p:nvPr/>
            </p:nvSpPr>
            <p:spPr bwMode="auto">
              <a:xfrm>
                <a:off x="5220" y="2861"/>
                <a:ext cx="86" cy="100"/>
              </a:xfrm>
              <a:custGeom>
                <a:avLst/>
                <a:gdLst>
                  <a:gd name="T0" fmla="*/ 0 w 256"/>
                  <a:gd name="T1" fmla="*/ 0 h 300"/>
                  <a:gd name="T2" fmla="*/ 0 w 256"/>
                  <a:gd name="T3" fmla="*/ 0 h 300"/>
                  <a:gd name="T4" fmla="*/ 0 w 256"/>
                  <a:gd name="T5" fmla="*/ 0 h 300"/>
                  <a:gd name="T6" fmla="*/ 0 w 256"/>
                  <a:gd name="T7" fmla="*/ 0 h 300"/>
                  <a:gd name="T8" fmla="*/ 0 w 256"/>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300">
                    <a:moveTo>
                      <a:pt x="0" y="256"/>
                    </a:moveTo>
                    <a:lnTo>
                      <a:pt x="256" y="0"/>
                    </a:lnTo>
                    <a:lnTo>
                      <a:pt x="256" y="43"/>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30" name="Freeform 2519"/>
              <p:cNvSpPr>
                <a:spLocks noChangeAspect="1"/>
              </p:cNvSpPr>
              <p:nvPr/>
            </p:nvSpPr>
            <p:spPr bwMode="auto">
              <a:xfrm>
                <a:off x="5220" y="2868"/>
                <a:ext cx="86" cy="100"/>
              </a:xfrm>
              <a:custGeom>
                <a:avLst/>
                <a:gdLst>
                  <a:gd name="T0" fmla="*/ 0 w 256"/>
                  <a:gd name="T1" fmla="*/ 0 h 300"/>
                  <a:gd name="T2" fmla="*/ 0 w 256"/>
                  <a:gd name="T3" fmla="*/ 0 h 300"/>
                  <a:gd name="T4" fmla="*/ 0 w 256"/>
                  <a:gd name="T5" fmla="*/ 0 h 300"/>
                  <a:gd name="T6" fmla="*/ 0 w 256"/>
                  <a:gd name="T7" fmla="*/ 0 h 300"/>
                  <a:gd name="T8" fmla="*/ 0 w 256"/>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300">
                    <a:moveTo>
                      <a:pt x="0" y="256"/>
                    </a:moveTo>
                    <a:lnTo>
                      <a:pt x="256" y="0"/>
                    </a:lnTo>
                    <a:lnTo>
                      <a:pt x="256" y="44"/>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31" name="Freeform 2520"/>
              <p:cNvSpPr>
                <a:spLocks noChangeAspect="1"/>
              </p:cNvSpPr>
              <p:nvPr/>
            </p:nvSpPr>
            <p:spPr bwMode="auto">
              <a:xfrm>
                <a:off x="5220" y="2875"/>
                <a:ext cx="86" cy="100"/>
              </a:xfrm>
              <a:custGeom>
                <a:avLst/>
                <a:gdLst>
                  <a:gd name="T0" fmla="*/ 0 w 256"/>
                  <a:gd name="T1" fmla="*/ 0 h 300"/>
                  <a:gd name="T2" fmla="*/ 0 w 256"/>
                  <a:gd name="T3" fmla="*/ 0 h 300"/>
                  <a:gd name="T4" fmla="*/ 0 w 256"/>
                  <a:gd name="T5" fmla="*/ 0 h 300"/>
                  <a:gd name="T6" fmla="*/ 0 w 256"/>
                  <a:gd name="T7" fmla="*/ 0 h 300"/>
                  <a:gd name="T8" fmla="*/ 0 w 256"/>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300">
                    <a:moveTo>
                      <a:pt x="0" y="257"/>
                    </a:moveTo>
                    <a:lnTo>
                      <a:pt x="256" y="0"/>
                    </a:lnTo>
                    <a:lnTo>
                      <a:pt x="256" y="44"/>
                    </a:lnTo>
                    <a:lnTo>
                      <a:pt x="0" y="300"/>
                    </a:lnTo>
                    <a:lnTo>
                      <a:pt x="0" y="257"/>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32" name="Freeform 2521"/>
              <p:cNvSpPr>
                <a:spLocks noChangeAspect="1"/>
              </p:cNvSpPr>
              <p:nvPr/>
            </p:nvSpPr>
            <p:spPr bwMode="auto">
              <a:xfrm>
                <a:off x="5220" y="2883"/>
                <a:ext cx="86" cy="100"/>
              </a:xfrm>
              <a:custGeom>
                <a:avLst/>
                <a:gdLst>
                  <a:gd name="T0" fmla="*/ 0 w 256"/>
                  <a:gd name="T1" fmla="*/ 0 h 300"/>
                  <a:gd name="T2" fmla="*/ 0 w 256"/>
                  <a:gd name="T3" fmla="*/ 0 h 300"/>
                  <a:gd name="T4" fmla="*/ 0 w 256"/>
                  <a:gd name="T5" fmla="*/ 0 h 300"/>
                  <a:gd name="T6" fmla="*/ 0 w 256"/>
                  <a:gd name="T7" fmla="*/ 0 h 300"/>
                  <a:gd name="T8" fmla="*/ 0 w 256"/>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300">
                    <a:moveTo>
                      <a:pt x="0" y="256"/>
                    </a:moveTo>
                    <a:lnTo>
                      <a:pt x="256" y="0"/>
                    </a:lnTo>
                    <a:lnTo>
                      <a:pt x="256" y="43"/>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33" name="Freeform 2522"/>
              <p:cNvSpPr>
                <a:spLocks noChangeAspect="1"/>
              </p:cNvSpPr>
              <p:nvPr/>
            </p:nvSpPr>
            <p:spPr bwMode="auto">
              <a:xfrm>
                <a:off x="5220" y="2890"/>
                <a:ext cx="86" cy="100"/>
              </a:xfrm>
              <a:custGeom>
                <a:avLst/>
                <a:gdLst>
                  <a:gd name="T0" fmla="*/ 0 w 256"/>
                  <a:gd name="T1" fmla="*/ 0 h 300"/>
                  <a:gd name="T2" fmla="*/ 0 w 256"/>
                  <a:gd name="T3" fmla="*/ 0 h 300"/>
                  <a:gd name="T4" fmla="*/ 0 w 256"/>
                  <a:gd name="T5" fmla="*/ 0 h 300"/>
                  <a:gd name="T6" fmla="*/ 0 w 256"/>
                  <a:gd name="T7" fmla="*/ 0 h 300"/>
                  <a:gd name="T8" fmla="*/ 0 w 256"/>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300">
                    <a:moveTo>
                      <a:pt x="0" y="256"/>
                    </a:moveTo>
                    <a:lnTo>
                      <a:pt x="256" y="0"/>
                    </a:lnTo>
                    <a:lnTo>
                      <a:pt x="256" y="44"/>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34" name="Freeform 2523"/>
              <p:cNvSpPr>
                <a:spLocks noChangeAspect="1"/>
              </p:cNvSpPr>
              <p:nvPr/>
            </p:nvSpPr>
            <p:spPr bwMode="auto">
              <a:xfrm>
                <a:off x="5220" y="2897"/>
                <a:ext cx="86" cy="100"/>
              </a:xfrm>
              <a:custGeom>
                <a:avLst/>
                <a:gdLst>
                  <a:gd name="T0" fmla="*/ 0 w 256"/>
                  <a:gd name="T1" fmla="*/ 0 h 300"/>
                  <a:gd name="T2" fmla="*/ 0 w 256"/>
                  <a:gd name="T3" fmla="*/ 0 h 300"/>
                  <a:gd name="T4" fmla="*/ 0 w 256"/>
                  <a:gd name="T5" fmla="*/ 0 h 300"/>
                  <a:gd name="T6" fmla="*/ 0 w 256"/>
                  <a:gd name="T7" fmla="*/ 0 h 300"/>
                  <a:gd name="T8" fmla="*/ 0 w 256"/>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300">
                    <a:moveTo>
                      <a:pt x="0" y="257"/>
                    </a:moveTo>
                    <a:lnTo>
                      <a:pt x="256" y="0"/>
                    </a:lnTo>
                    <a:lnTo>
                      <a:pt x="256" y="44"/>
                    </a:lnTo>
                    <a:lnTo>
                      <a:pt x="0" y="300"/>
                    </a:lnTo>
                    <a:lnTo>
                      <a:pt x="0" y="257"/>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35" name="Freeform 2524"/>
              <p:cNvSpPr>
                <a:spLocks noChangeAspect="1"/>
              </p:cNvSpPr>
              <p:nvPr/>
            </p:nvSpPr>
            <p:spPr bwMode="auto">
              <a:xfrm>
                <a:off x="5220" y="2904"/>
                <a:ext cx="86" cy="100"/>
              </a:xfrm>
              <a:custGeom>
                <a:avLst/>
                <a:gdLst>
                  <a:gd name="T0" fmla="*/ 0 w 256"/>
                  <a:gd name="T1" fmla="*/ 0 h 299"/>
                  <a:gd name="T2" fmla="*/ 0 w 256"/>
                  <a:gd name="T3" fmla="*/ 0 h 299"/>
                  <a:gd name="T4" fmla="*/ 0 w 256"/>
                  <a:gd name="T5" fmla="*/ 0 h 299"/>
                  <a:gd name="T6" fmla="*/ 0 w 256"/>
                  <a:gd name="T7" fmla="*/ 0 h 299"/>
                  <a:gd name="T8" fmla="*/ 0 w 256"/>
                  <a:gd name="T9" fmla="*/ 0 h 2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299">
                    <a:moveTo>
                      <a:pt x="0" y="256"/>
                    </a:moveTo>
                    <a:lnTo>
                      <a:pt x="256" y="0"/>
                    </a:lnTo>
                    <a:lnTo>
                      <a:pt x="256" y="43"/>
                    </a:lnTo>
                    <a:lnTo>
                      <a:pt x="0" y="299"/>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36" name="Freeform 2525"/>
              <p:cNvSpPr>
                <a:spLocks noChangeAspect="1"/>
              </p:cNvSpPr>
              <p:nvPr/>
            </p:nvSpPr>
            <p:spPr bwMode="auto">
              <a:xfrm>
                <a:off x="5220" y="2912"/>
                <a:ext cx="86" cy="100"/>
              </a:xfrm>
              <a:custGeom>
                <a:avLst/>
                <a:gdLst>
                  <a:gd name="T0" fmla="*/ 0 w 256"/>
                  <a:gd name="T1" fmla="*/ 0 h 300"/>
                  <a:gd name="T2" fmla="*/ 0 w 256"/>
                  <a:gd name="T3" fmla="*/ 0 h 300"/>
                  <a:gd name="T4" fmla="*/ 0 w 256"/>
                  <a:gd name="T5" fmla="*/ 0 h 300"/>
                  <a:gd name="T6" fmla="*/ 0 w 256"/>
                  <a:gd name="T7" fmla="*/ 0 h 300"/>
                  <a:gd name="T8" fmla="*/ 0 w 256"/>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300">
                    <a:moveTo>
                      <a:pt x="0" y="256"/>
                    </a:moveTo>
                    <a:lnTo>
                      <a:pt x="256" y="0"/>
                    </a:lnTo>
                    <a:lnTo>
                      <a:pt x="256" y="43"/>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37" name="Freeform 2526"/>
              <p:cNvSpPr>
                <a:spLocks noChangeAspect="1"/>
              </p:cNvSpPr>
              <p:nvPr/>
            </p:nvSpPr>
            <p:spPr bwMode="auto">
              <a:xfrm>
                <a:off x="5220" y="2919"/>
                <a:ext cx="86" cy="100"/>
              </a:xfrm>
              <a:custGeom>
                <a:avLst/>
                <a:gdLst>
                  <a:gd name="T0" fmla="*/ 0 w 256"/>
                  <a:gd name="T1" fmla="*/ 0 h 300"/>
                  <a:gd name="T2" fmla="*/ 0 w 256"/>
                  <a:gd name="T3" fmla="*/ 0 h 300"/>
                  <a:gd name="T4" fmla="*/ 0 w 256"/>
                  <a:gd name="T5" fmla="*/ 0 h 300"/>
                  <a:gd name="T6" fmla="*/ 0 w 256"/>
                  <a:gd name="T7" fmla="*/ 0 h 300"/>
                  <a:gd name="T8" fmla="*/ 0 w 256"/>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300">
                    <a:moveTo>
                      <a:pt x="0" y="256"/>
                    </a:moveTo>
                    <a:lnTo>
                      <a:pt x="256" y="0"/>
                    </a:lnTo>
                    <a:lnTo>
                      <a:pt x="256" y="44"/>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38" name="Freeform 2527"/>
              <p:cNvSpPr>
                <a:spLocks noChangeAspect="1"/>
              </p:cNvSpPr>
              <p:nvPr/>
            </p:nvSpPr>
            <p:spPr bwMode="auto">
              <a:xfrm>
                <a:off x="5220" y="2926"/>
                <a:ext cx="86" cy="100"/>
              </a:xfrm>
              <a:custGeom>
                <a:avLst/>
                <a:gdLst>
                  <a:gd name="T0" fmla="*/ 0 w 256"/>
                  <a:gd name="T1" fmla="*/ 0 h 300"/>
                  <a:gd name="T2" fmla="*/ 0 w 256"/>
                  <a:gd name="T3" fmla="*/ 0 h 300"/>
                  <a:gd name="T4" fmla="*/ 0 w 256"/>
                  <a:gd name="T5" fmla="*/ 0 h 300"/>
                  <a:gd name="T6" fmla="*/ 0 w 256"/>
                  <a:gd name="T7" fmla="*/ 0 h 300"/>
                  <a:gd name="T8" fmla="*/ 0 w 256"/>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300">
                    <a:moveTo>
                      <a:pt x="0" y="257"/>
                    </a:moveTo>
                    <a:lnTo>
                      <a:pt x="256" y="0"/>
                    </a:lnTo>
                    <a:lnTo>
                      <a:pt x="256" y="44"/>
                    </a:lnTo>
                    <a:lnTo>
                      <a:pt x="0" y="300"/>
                    </a:lnTo>
                    <a:lnTo>
                      <a:pt x="0" y="257"/>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39" name="Freeform 2528"/>
              <p:cNvSpPr>
                <a:spLocks noChangeAspect="1"/>
              </p:cNvSpPr>
              <p:nvPr/>
            </p:nvSpPr>
            <p:spPr bwMode="auto">
              <a:xfrm>
                <a:off x="5220" y="2933"/>
                <a:ext cx="86" cy="100"/>
              </a:xfrm>
              <a:custGeom>
                <a:avLst/>
                <a:gdLst>
                  <a:gd name="T0" fmla="*/ 0 w 256"/>
                  <a:gd name="T1" fmla="*/ 0 h 300"/>
                  <a:gd name="T2" fmla="*/ 0 w 256"/>
                  <a:gd name="T3" fmla="*/ 0 h 300"/>
                  <a:gd name="T4" fmla="*/ 0 w 256"/>
                  <a:gd name="T5" fmla="*/ 0 h 300"/>
                  <a:gd name="T6" fmla="*/ 0 w 256"/>
                  <a:gd name="T7" fmla="*/ 0 h 300"/>
                  <a:gd name="T8" fmla="*/ 0 w 256"/>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300">
                    <a:moveTo>
                      <a:pt x="0" y="256"/>
                    </a:moveTo>
                    <a:lnTo>
                      <a:pt x="256" y="0"/>
                    </a:lnTo>
                    <a:lnTo>
                      <a:pt x="256" y="43"/>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40" name="Freeform 2529"/>
              <p:cNvSpPr>
                <a:spLocks noChangeAspect="1"/>
              </p:cNvSpPr>
              <p:nvPr/>
            </p:nvSpPr>
            <p:spPr bwMode="auto">
              <a:xfrm>
                <a:off x="5220" y="2941"/>
                <a:ext cx="86" cy="100"/>
              </a:xfrm>
              <a:custGeom>
                <a:avLst/>
                <a:gdLst>
                  <a:gd name="T0" fmla="*/ 0 w 256"/>
                  <a:gd name="T1" fmla="*/ 0 h 300"/>
                  <a:gd name="T2" fmla="*/ 0 w 256"/>
                  <a:gd name="T3" fmla="*/ 0 h 300"/>
                  <a:gd name="T4" fmla="*/ 0 w 256"/>
                  <a:gd name="T5" fmla="*/ 0 h 300"/>
                  <a:gd name="T6" fmla="*/ 0 w 256"/>
                  <a:gd name="T7" fmla="*/ 0 h 300"/>
                  <a:gd name="T8" fmla="*/ 0 w 256"/>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300">
                    <a:moveTo>
                      <a:pt x="0" y="256"/>
                    </a:moveTo>
                    <a:lnTo>
                      <a:pt x="256" y="0"/>
                    </a:lnTo>
                    <a:lnTo>
                      <a:pt x="256" y="44"/>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41" name="Freeform 2530"/>
              <p:cNvSpPr>
                <a:spLocks noChangeAspect="1"/>
              </p:cNvSpPr>
              <p:nvPr/>
            </p:nvSpPr>
            <p:spPr bwMode="auto">
              <a:xfrm>
                <a:off x="5220" y="2948"/>
                <a:ext cx="86" cy="100"/>
              </a:xfrm>
              <a:custGeom>
                <a:avLst/>
                <a:gdLst>
                  <a:gd name="T0" fmla="*/ 0 w 256"/>
                  <a:gd name="T1" fmla="*/ 0 h 300"/>
                  <a:gd name="T2" fmla="*/ 0 w 256"/>
                  <a:gd name="T3" fmla="*/ 0 h 300"/>
                  <a:gd name="T4" fmla="*/ 0 w 256"/>
                  <a:gd name="T5" fmla="*/ 0 h 300"/>
                  <a:gd name="T6" fmla="*/ 0 w 256"/>
                  <a:gd name="T7" fmla="*/ 0 h 300"/>
                  <a:gd name="T8" fmla="*/ 0 w 256"/>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300">
                    <a:moveTo>
                      <a:pt x="0" y="257"/>
                    </a:moveTo>
                    <a:lnTo>
                      <a:pt x="256" y="0"/>
                    </a:lnTo>
                    <a:lnTo>
                      <a:pt x="256" y="44"/>
                    </a:lnTo>
                    <a:lnTo>
                      <a:pt x="0" y="300"/>
                    </a:lnTo>
                    <a:lnTo>
                      <a:pt x="0" y="257"/>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42" name="Freeform 2531"/>
              <p:cNvSpPr>
                <a:spLocks noChangeAspect="1"/>
              </p:cNvSpPr>
              <p:nvPr/>
            </p:nvSpPr>
            <p:spPr bwMode="auto">
              <a:xfrm>
                <a:off x="5220" y="2955"/>
                <a:ext cx="86" cy="100"/>
              </a:xfrm>
              <a:custGeom>
                <a:avLst/>
                <a:gdLst>
                  <a:gd name="T0" fmla="*/ 0 w 256"/>
                  <a:gd name="T1" fmla="*/ 0 h 299"/>
                  <a:gd name="T2" fmla="*/ 0 w 256"/>
                  <a:gd name="T3" fmla="*/ 0 h 299"/>
                  <a:gd name="T4" fmla="*/ 0 w 256"/>
                  <a:gd name="T5" fmla="*/ 0 h 299"/>
                  <a:gd name="T6" fmla="*/ 0 w 256"/>
                  <a:gd name="T7" fmla="*/ 0 h 299"/>
                  <a:gd name="T8" fmla="*/ 0 w 256"/>
                  <a:gd name="T9" fmla="*/ 0 h 2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299">
                    <a:moveTo>
                      <a:pt x="0" y="256"/>
                    </a:moveTo>
                    <a:lnTo>
                      <a:pt x="256" y="0"/>
                    </a:lnTo>
                    <a:lnTo>
                      <a:pt x="256" y="43"/>
                    </a:lnTo>
                    <a:lnTo>
                      <a:pt x="0" y="299"/>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43" name="Freeform 2532"/>
              <p:cNvSpPr>
                <a:spLocks noChangeAspect="1"/>
              </p:cNvSpPr>
              <p:nvPr/>
            </p:nvSpPr>
            <p:spPr bwMode="auto">
              <a:xfrm>
                <a:off x="5220" y="2962"/>
                <a:ext cx="86" cy="100"/>
              </a:xfrm>
              <a:custGeom>
                <a:avLst/>
                <a:gdLst>
                  <a:gd name="T0" fmla="*/ 0 w 256"/>
                  <a:gd name="T1" fmla="*/ 0 h 300"/>
                  <a:gd name="T2" fmla="*/ 0 w 256"/>
                  <a:gd name="T3" fmla="*/ 0 h 300"/>
                  <a:gd name="T4" fmla="*/ 0 w 256"/>
                  <a:gd name="T5" fmla="*/ 0 h 300"/>
                  <a:gd name="T6" fmla="*/ 0 w 256"/>
                  <a:gd name="T7" fmla="*/ 0 h 300"/>
                  <a:gd name="T8" fmla="*/ 0 w 256"/>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300">
                    <a:moveTo>
                      <a:pt x="0" y="256"/>
                    </a:moveTo>
                    <a:lnTo>
                      <a:pt x="256" y="0"/>
                    </a:lnTo>
                    <a:lnTo>
                      <a:pt x="256" y="44"/>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44" name="Freeform 2533"/>
              <p:cNvSpPr>
                <a:spLocks noChangeAspect="1"/>
              </p:cNvSpPr>
              <p:nvPr/>
            </p:nvSpPr>
            <p:spPr bwMode="auto">
              <a:xfrm>
                <a:off x="5220" y="2970"/>
                <a:ext cx="86" cy="100"/>
              </a:xfrm>
              <a:custGeom>
                <a:avLst/>
                <a:gdLst>
                  <a:gd name="T0" fmla="*/ 0 w 256"/>
                  <a:gd name="T1" fmla="*/ 0 h 300"/>
                  <a:gd name="T2" fmla="*/ 0 w 256"/>
                  <a:gd name="T3" fmla="*/ 0 h 300"/>
                  <a:gd name="T4" fmla="*/ 0 w 256"/>
                  <a:gd name="T5" fmla="*/ 0 h 300"/>
                  <a:gd name="T6" fmla="*/ 0 w 256"/>
                  <a:gd name="T7" fmla="*/ 0 h 300"/>
                  <a:gd name="T8" fmla="*/ 0 w 256"/>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300">
                    <a:moveTo>
                      <a:pt x="0" y="256"/>
                    </a:moveTo>
                    <a:lnTo>
                      <a:pt x="256" y="0"/>
                    </a:lnTo>
                    <a:lnTo>
                      <a:pt x="256" y="44"/>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45" name="Freeform 2534"/>
              <p:cNvSpPr>
                <a:spLocks noChangeAspect="1"/>
              </p:cNvSpPr>
              <p:nvPr/>
            </p:nvSpPr>
            <p:spPr bwMode="auto">
              <a:xfrm>
                <a:off x="5220" y="2977"/>
                <a:ext cx="86" cy="100"/>
              </a:xfrm>
              <a:custGeom>
                <a:avLst/>
                <a:gdLst>
                  <a:gd name="T0" fmla="*/ 0 w 256"/>
                  <a:gd name="T1" fmla="*/ 0 h 299"/>
                  <a:gd name="T2" fmla="*/ 0 w 256"/>
                  <a:gd name="T3" fmla="*/ 0 h 299"/>
                  <a:gd name="T4" fmla="*/ 0 w 256"/>
                  <a:gd name="T5" fmla="*/ 0 h 299"/>
                  <a:gd name="T6" fmla="*/ 0 w 256"/>
                  <a:gd name="T7" fmla="*/ 0 h 299"/>
                  <a:gd name="T8" fmla="*/ 0 w 256"/>
                  <a:gd name="T9" fmla="*/ 0 h 2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299">
                    <a:moveTo>
                      <a:pt x="0" y="256"/>
                    </a:moveTo>
                    <a:lnTo>
                      <a:pt x="256" y="0"/>
                    </a:lnTo>
                    <a:lnTo>
                      <a:pt x="256" y="43"/>
                    </a:lnTo>
                    <a:lnTo>
                      <a:pt x="0" y="299"/>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46" name="Freeform 2535"/>
              <p:cNvSpPr>
                <a:spLocks noChangeAspect="1"/>
              </p:cNvSpPr>
              <p:nvPr/>
            </p:nvSpPr>
            <p:spPr bwMode="auto">
              <a:xfrm>
                <a:off x="5220" y="2984"/>
                <a:ext cx="86" cy="100"/>
              </a:xfrm>
              <a:custGeom>
                <a:avLst/>
                <a:gdLst>
                  <a:gd name="T0" fmla="*/ 0 w 256"/>
                  <a:gd name="T1" fmla="*/ 0 h 300"/>
                  <a:gd name="T2" fmla="*/ 0 w 256"/>
                  <a:gd name="T3" fmla="*/ 0 h 300"/>
                  <a:gd name="T4" fmla="*/ 0 w 256"/>
                  <a:gd name="T5" fmla="*/ 0 h 300"/>
                  <a:gd name="T6" fmla="*/ 0 w 256"/>
                  <a:gd name="T7" fmla="*/ 0 h 300"/>
                  <a:gd name="T8" fmla="*/ 0 w 256"/>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300">
                    <a:moveTo>
                      <a:pt x="0" y="256"/>
                    </a:moveTo>
                    <a:lnTo>
                      <a:pt x="256" y="0"/>
                    </a:lnTo>
                    <a:lnTo>
                      <a:pt x="256" y="43"/>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47" name="Freeform 2536"/>
              <p:cNvSpPr>
                <a:spLocks noChangeAspect="1"/>
              </p:cNvSpPr>
              <p:nvPr/>
            </p:nvSpPr>
            <p:spPr bwMode="auto">
              <a:xfrm>
                <a:off x="5220" y="2991"/>
                <a:ext cx="86" cy="100"/>
              </a:xfrm>
              <a:custGeom>
                <a:avLst/>
                <a:gdLst>
                  <a:gd name="T0" fmla="*/ 0 w 256"/>
                  <a:gd name="T1" fmla="*/ 0 h 300"/>
                  <a:gd name="T2" fmla="*/ 0 w 256"/>
                  <a:gd name="T3" fmla="*/ 0 h 300"/>
                  <a:gd name="T4" fmla="*/ 0 w 256"/>
                  <a:gd name="T5" fmla="*/ 0 h 300"/>
                  <a:gd name="T6" fmla="*/ 0 w 256"/>
                  <a:gd name="T7" fmla="*/ 0 h 300"/>
                  <a:gd name="T8" fmla="*/ 0 w 256"/>
                  <a:gd name="T9" fmla="*/ 0 h 300"/>
                  <a:gd name="T10" fmla="*/ 0 w 25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6" h="300">
                    <a:moveTo>
                      <a:pt x="0" y="256"/>
                    </a:moveTo>
                    <a:lnTo>
                      <a:pt x="256" y="0"/>
                    </a:lnTo>
                    <a:lnTo>
                      <a:pt x="256" y="37"/>
                    </a:lnTo>
                    <a:lnTo>
                      <a:pt x="222" y="78"/>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48" name="Freeform 2537"/>
              <p:cNvSpPr>
                <a:spLocks noChangeAspect="1"/>
              </p:cNvSpPr>
              <p:nvPr/>
            </p:nvSpPr>
            <p:spPr bwMode="auto">
              <a:xfrm>
                <a:off x="5220" y="2999"/>
                <a:ext cx="86" cy="100"/>
              </a:xfrm>
              <a:custGeom>
                <a:avLst/>
                <a:gdLst>
                  <a:gd name="T0" fmla="*/ 0 w 256"/>
                  <a:gd name="T1" fmla="*/ 0 h 300"/>
                  <a:gd name="T2" fmla="*/ 0 w 256"/>
                  <a:gd name="T3" fmla="*/ 0 h 300"/>
                  <a:gd name="T4" fmla="*/ 0 w 256"/>
                  <a:gd name="T5" fmla="*/ 0 h 300"/>
                  <a:gd name="T6" fmla="*/ 0 w 256"/>
                  <a:gd name="T7" fmla="*/ 0 h 300"/>
                  <a:gd name="T8" fmla="*/ 0 w 256"/>
                  <a:gd name="T9" fmla="*/ 0 h 300"/>
                  <a:gd name="T10" fmla="*/ 0 w 25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6" h="300">
                    <a:moveTo>
                      <a:pt x="0" y="257"/>
                    </a:moveTo>
                    <a:lnTo>
                      <a:pt x="256" y="0"/>
                    </a:lnTo>
                    <a:lnTo>
                      <a:pt x="256" y="15"/>
                    </a:lnTo>
                    <a:lnTo>
                      <a:pt x="112" y="189"/>
                    </a:lnTo>
                    <a:lnTo>
                      <a:pt x="0" y="300"/>
                    </a:lnTo>
                    <a:lnTo>
                      <a:pt x="0" y="257"/>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49" name="Freeform 2538"/>
              <p:cNvSpPr>
                <a:spLocks noChangeAspect="1"/>
              </p:cNvSpPr>
              <p:nvPr/>
            </p:nvSpPr>
            <p:spPr bwMode="auto">
              <a:xfrm>
                <a:off x="5220" y="3017"/>
                <a:ext cx="74" cy="89"/>
              </a:xfrm>
              <a:custGeom>
                <a:avLst/>
                <a:gdLst>
                  <a:gd name="T0" fmla="*/ 0 w 222"/>
                  <a:gd name="T1" fmla="*/ 0 h 265"/>
                  <a:gd name="T2" fmla="*/ 0 w 222"/>
                  <a:gd name="T3" fmla="*/ 0 h 265"/>
                  <a:gd name="T4" fmla="*/ 0 w 222"/>
                  <a:gd name="T5" fmla="*/ 0 h 265"/>
                  <a:gd name="T6" fmla="*/ 0 w 222"/>
                  <a:gd name="T7" fmla="*/ 0 h 265"/>
                  <a:gd name="T8" fmla="*/ 0 w 222"/>
                  <a:gd name="T9" fmla="*/ 0 h 26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2" h="265">
                    <a:moveTo>
                      <a:pt x="0" y="222"/>
                    </a:moveTo>
                    <a:lnTo>
                      <a:pt x="222" y="0"/>
                    </a:lnTo>
                    <a:lnTo>
                      <a:pt x="0" y="265"/>
                    </a:lnTo>
                    <a:lnTo>
                      <a:pt x="0" y="222"/>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50" name="Freeform 2539"/>
              <p:cNvSpPr>
                <a:spLocks noChangeAspect="1"/>
              </p:cNvSpPr>
              <p:nvPr/>
            </p:nvSpPr>
            <p:spPr bwMode="auto">
              <a:xfrm>
                <a:off x="5220" y="3062"/>
                <a:ext cx="38" cy="44"/>
              </a:xfrm>
              <a:custGeom>
                <a:avLst/>
                <a:gdLst>
                  <a:gd name="T0" fmla="*/ 0 w 112"/>
                  <a:gd name="T1" fmla="*/ 0 h 132"/>
                  <a:gd name="T2" fmla="*/ 0 w 112"/>
                  <a:gd name="T3" fmla="*/ 0 h 132"/>
                  <a:gd name="T4" fmla="*/ 0 w 112"/>
                  <a:gd name="T5" fmla="*/ 0 h 132"/>
                  <a:gd name="T6" fmla="*/ 0 w 112"/>
                  <a:gd name="T7" fmla="*/ 0 h 13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2" h="132">
                    <a:moveTo>
                      <a:pt x="0" y="111"/>
                    </a:moveTo>
                    <a:lnTo>
                      <a:pt x="112" y="0"/>
                    </a:lnTo>
                    <a:lnTo>
                      <a:pt x="0" y="132"/>
                    </a:lnTo>
                    <a:lnTo>
                      <a:pt x="0" y="111"/>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51" name="Freeform 2540"/>
              <p:cNvSpPr>
                <a:spLocks noChangeAspect="1"/>
              </p:cNvSpPr>
              <p:nvPr/>
            </p:nvSpPr>
            <p:spPr bwMode="auto">
              <a:xfrm>
                <a:off x="5220" y="2832"/>
                <a:ext cx="86" cy="274"/>
              </a:xfrm>
              <a:custGeom>
                <a:avLst/>
                <a:gdLst>
                  <a:gd name="T0" fmla="*/ 0 w 256"/>
                  <a:gd name="T1" fmla="*/ 0 h 822"/>
                  <a:gd name="T2" fmla="*/ 0 w 256"/>
                  <a:gd name="T3" fmla="*/ 0 h 822"/>
                  <a:gd name="T4" fmla="*/ 0 w 256"/>
                  <a:gd name="T5" fmla="*/ 0 h 822"/>
                  <a:gd name="T6" fmla="*/ 0 w 256"/>
                  <a:gd name="T7" fmla="*/ 0 h 822"/>
                  <a:gd name="T8" fmla="*/ 0 w 256"/>
                  <a:gd name="T9" fmla="*/ 0 h 8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822">
                    <a:moveTo>
                      <a:pt x="0" y="274"/>
                    </a:moveTo>
                    <a:lnTo>
                      <a:pt x="256" y="0"/>
                    </a:lnTo>
                    <a:lnTo>
                      <a:pt x="256" y="516"/>
                    </a:lnTo>
                    <a:lnTo>
                      <a:pt x="0" y="822"/>
                    </a:lnTo>
                    <a:lnTo>
                      <a:pt x="0" y="274"/>
                    </a:lnTo>
                  </a:path>
                </a:pathLst>
              </a:custGeom>
              <a:gradFill rotWithShape="0">
                <a:gsLst>
                  <a:gs pos="0">
                    <a:srgbClr val="EAEAEA"/>
                  </a:gs>
                  <a:gs pos="100000">
                    <a:srgbClr val="9B9B9B"/>
                  </a:gs>
                </a:gsLst>
                <a:lin ang="0" scaled="1"/>
              </a:gradFill>
              <a:ln w="1588">
                <a:solidFill>
                  <a:srgbClr val="1F1A17"/>
                </a:solidFill>
                <a:prstDash val="solid"/>
                <a:round/>
                <a:headEnd/>
                <a:tailEnd/>
              </a:ln>
            </p:spPr>
            <p:txBody>
              <a:bodyPr/>
              <a:lstStyle/>
              <a:p>
                <a:endParaRPr lang="en-US"/>
              </a:p>
            </p:txBody>
          </p:sp>
          <p:sp>
            <p:nvSpPr>
              <p:cNvPr id="388752" name="Freeform 2541"/>
              <p:cNvSpPr>
                <a:spLocks noChangeAspect="1"/>
              </p:cNvSpPr>
              <p:nvPr/>
            </p:nvSpPr>
            <p:spPr bwMode="auto">
              <a:xfrm>
                <a:off x="5337" y="2938"/>
                <a:ext cx="97" cy="92"/>
              </a:xfrm>
              <a:custGeom>
                <a:avLst/>
                <a:gdLst>
                  <a:gd name="T0" fmla="*/ 0 w 290"/>
                  <a:gd name="T1" fmla="*/ 0 h 274"/>
                  <a:gd name="T2" fmla="*/ 0 w 290"/>
                  <a:gd name="T3" fmla="*/ 0 h 274"/>
                  <a:gd name="T4" fmla="*/ 0 w 290"/>
                  <a:gd name="T5" fmla="*/ 0 h 274"/>
                  <a:gd name="T6" fmla="*/ 0 w 290"/>
                  <a:gd name="T7" fmla="*/ 0 h 274"/>
                  <a:gd name="T8" fmla="*/ 0 w 290"/>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 h="274">
                    <a:moveTo>
                      <a:pt x="0" y="274"/>
                    </a:moveTo>
                    <a:lnTo>
                      <a:pt x="275" y="0"/>
                    </a:lnTo>
                    <a:lnTo>
                      <a:pt x="290" y="0"/>
                    </a:lnTo>
                    <a:lnTo>
                      <a:pt x="33" y="274"/>
                    </a:lnTo>
                    <a:lnTo>
                      <a:pt x="0" y="274"/>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53" name="Freeform 2542"/>
              <p:cNvSpPr>
                <a:spLocks noChangeAspect="1"/>
              </p:cNvSpPr>
              <p:nvPr/>
            </p:nvSpPr>
            <p:spPr bwMode="auto">
              <a:xfrm>
                <a:off x="5330" y="2938"/>
                <a:ext cx="104" cy="92"/>
              </a:xfrm>
              <a:custGeom>
                <a:avLst/>
                <a:gdLst>
                  <a:gd name="T0" fmla="*/ 0 w 312"/>
                  <a:gd name="T1" fmla="*/ 0 h 274"/>
                  <a:gd name="T2" fmla="*/ 0 w 312"/>
                  <a:gd name="T3" fmla="*/ 0 h 274"/>
                  <a:gd name="T4" fmla="*/ 0 w 312"/>
                  <a:gd name="T5" fmla="*/ 0 h 274"/>
                  <a:gd name="T6" fmla="*/ 0 w 312"/>
                  <a:gd name="T7" fmla="*/ 0 h 274"/>
                  <a:gd name="T8" fmla="*/ 0 w 312"/>
                  <a:gd name="T9" fmla="*/ 0 h 274"/>
                  <a:gd name="T10" fmla="*/ 0 w 312"/>
                  <a:gd name="T11" fmla="*/ 0 h 27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12" h="274">
                    <a:moveTo>
                      <a:pt x="204" y="114"/>
                    </a:moveTo>
                    <a:lnTo>
                      <a:pt x="45" y="274"/>
                    </a:lnTo>
                    <a:lnTo>
                      <a:pt x="0" y="274"/>
                    </a:lnTo>
                    <a:lnTo>
                      <a:pt x="274" y="0"/>
                    </a:lnTo>
                    <a:lnTo>
                      <a:pt x="312" y="0"/>
                    </a:lnTo>
                    <a:lnTo>
                      <a:pt x="204" y="114"/>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54" name="Freeform 2543"/>
              <p:cNvSpPr>
                <a:spLocks noChangeAspect="1"/>
              </p:cNvSpPr>
              <p:nvPr/>
            </p:nvSpPr>
            <p:spPr bwMode="auto">
              <a:xfrm>
                <a:off x="5322" y="2938"/>
                <a:ext cx="107" cy="92"/>
              </a:xfrm>
              <a:custGeom>
                <a:avLst/>
                <a:gdLst>
                  <a:gd name="T0" fmla="*/ 0 w 320"/>
                  <a:gd name="T1" fmla="*/ 0 h 274"/>
                  <a:gd name="T2" fmla="*/ 0 w 320"/>
                  <a:gd name="T3" fmla="*/ 0 h 274"/>
                  <a:gd name="T4" fmla="*/ 0 w 320"/>
                  <a:gd name="T5" fmla="*/ 0 h 274"/>
                  <a:gd name="T6" fmla="*/ 0 w 320"/>
                  <a:gd name="T7" fmla="*/ 0 h 274"/>
                  <a:gd name="T8" fmla="*/ 0 w 320"/>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0" h="274">
                    <a:moveTo>
                      <a:pt x="320" y="0"/>
                    </a:moveTo>
                    <a:lnTo>
                      <a:pt x="45" y="274"/>
                    </a:lnTo>
                    <a:lnTo>
                      <a:pt x="0" y="274"/>
                    </a:lnTo>
                    <a:lnTo>
                      <a:pt x="275" y="0"/>
                    </a:lnTo>
                    <a:lnTo>
                      <a:pt x="320"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55" name="Freeform 2544"/>
              <p:cNvSpPr>
                <a:spLocks noChangeAspect="1"/>
              </p:cNvSpPr>
              <p:nvPr/>
            </p:nvSpPr>
            <p:spPr bwMode="auto">
              <a:xfrm>
                <a:off x="5315" y="2938"/>
                <a:ext cx="106" cy="92"/>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5" y="274"/>
                    </a:lnTo>
                    <a:lnTo>
                      <a:pt x="0" y="274"/>
                    </a:lnTo>
                    <a:lnTo>
                      <a:pt x="275"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56" name="Freeform 2545"/>
              <p:cNvSpPr>
                <a:spLocks noChangeAspect="1"/>
              </p:cNvSpPr>
              <p:nvPr/>
            </p:nvSpPr>
            <p:spPr bwMode="auto">
              <a:xfrm>
                <a:off x="5308" y="2938"/>
                <a:ext cx="106" cy="92"/>
              </a:xfrm>
              <a:custGeom>
                <a:avLst/>
                <a:gdLst>
                  <a:gd name="T0" fmla="*/ 0 w 318"/>
                  <a:gd name="T1" fmla="*/ 0 h 274"/>
                  <a:gd name="T2" fmla="*/ 0 w 318"/>
                  <a:gd name="T3" fmla="*/ 0 h 274"/>
                  <a:gd name="T4" fmla="*/ 0 w 318"/>
                  <a:gd name="T5" fmla="*/ 0 h 274"/>
                  <a:gd name="T6" fmla="*/ 0 w 318"/>
                  <a:gd name="T7" fmla="*/ 0 h 274"/>
                  <a:gd name="T8" fmla="*/ 0 w 318"/>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274">
                    <a:moveTo>
                      <a:pt x="318" y="0"/>
                    </a:moveTo>
                    <a:lnTo>
                      <a:pt x="43" y="274"/>
                    </a:lnTo>
                    <a:lnTo>
                      <a:pt x="0" y="274"/>
                    </a:lnTo>
                    <a:lnTo>
                      <a:pt x="274" y="0"/>
                    </a:lnTo>
                    <a:lnTo>
                      <a:pt x="318"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57" name="Freeform 2546"/>
              <p:cNvSpPr>
                <a:spLocks noChangeAspect="1"/>
              </p:cNvSpPr>
              <p:nvPr/>
            </p:nvSpPr>
            <p:spPr bwMode="auto">
              <a:xfrm>
                <a:off x="5300" y="2938"/>
                <a:ext cx="107" cy="92"/>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4" y="274"/>
                    </a:lnTo>
                    <a:lnTo>
                      <a:pt x="0" y="274"/>
                    </a:lnTo>
                    <a:lnTo>
                      <a:pt x="275"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58" name="Freeform 2547"/>
              <p:cNvSpPr>
                <a:spLocks noChangeAspect="1"/>
              </p:cNvSpPr>
              <p:nvPr/>
            </p:nvSpPr>
            <p:spPr bwMode="auto">
              <a:xfrm>
                <a:off x="5293" y="2938"/>
                <a:ext cx="106" cy="92"/>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5" y="274"/>
                    </a:lnTo>
                    <a:lnTo>
                      <a:pt x="0" y="274"/>
                    </a:lnTo>
                    <a:lnTo>
                      <a:pt x="275"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59" name="Freeform 2548"/>
              <p:cNvSpPr>
                <a:spLocks noChangeAspect="1"/>
              </p:cNvSpPr>
              <p:nvPr/>
            </p:nvSpPr>
            <p:spPr bwMode="auto">
              <a:xfrm>
                <a:off x="5286" y="2938"/>
                <a:ext cx="106" cy="92"/>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4" y="274"/>
                    </a:lnTo>
                    <a:lnTo>
                      <a:pt x="0" y="274"/>
                    </a:lnTo>
                    <a:lnTo>
                      <a:pt x="274"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60" name="Freeform 2549"/>
              <p:cNvSpPr>
                <a:spLocks noChangeAspect="1"/>
              </p:cNvSpPr>
              <p:nvPr/>
            </p:nvSpPr>
            <p:spPr bwMode="auto">
              <a:xfrm>
                <a:off x="5278" y="2938"/>
                <a:ext cx="107" cy="92"/>
              </a:xfrm>
              <a:custGeom>
                <a:avLst/>
                <a:gdLst>
                  <a:gd name="T0" fmla="*/ 0 w 320"/>
                  <a:gd name="T1" fmla="*/ 0 h 274"/>
                  <a:gd name="T2" fmla="*/ 0 w 320"/>
                  <a:gd name="T3" fmla="*/ 0 h 274"/>
                  <a:gd name="T4" fmla="*/ 0 w 320"/>
                  <a:gd name="T5" fmla="*/ 0 h 274"/>
                  <a:gd name="T6" fmla="*/ 0 w 320"/>
                  <a:gd name="T7" fmla="*/ 0 h 274"/>
                  <a:gd name="T8" fmla="*/ 0 w 320"/>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0" h="274">
                    <a:moveTo>
                      <a:pt x="320" y="0"/>
                    </a:moveTo>
                    <a:lnTo>
                      <a:pt x="45" y="274"/>
                    </a:lnTo>
                    <a:lnTo>
                      <a:pt x="0" y="274"/>
                    </a:lnTo>
                    <a:lnTo>
                      <a:pt x="275" y="0"/>
                    </a:lnTo>
                    <a:lnTo>
                      <a:pt x="320"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61" name="Freeform 2550"/>
              <p:cNvSpPr>
                <a:spLocks noChangeAspect="1"/>
              </p:cNvSpPr>
              <p:nvPr/>
            </p:nvSpPr>
            <p:spPr bwMode="auto">
              <a:xfrm>
                <a:off x="5271" y="2938"/>
                <a:ext cx="106" cy="92"/>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5" y="274"/>
                    </a:lnTo>
                    <a:lnTo>
                      <a:pt x="0" y="274"/>
                    </a:lnTo>
                    <a:lnTo>
                      <a:pt x="275"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62" name="Freeform 2551"/>
              <p:cNvSpPr>
                <a:spLocks noChangeAspect="1"/>
              </p:cNvSpPr>
              <p:nvPr/>
            </p:nvSpPr>
            <p:spPr bwMode="auto">
              <a:xfrm>
                <a:off x="5263" y="2938"/>
                <a:ext cx="107" cy="92"/>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4" y="274"/>
                    </a:lnTo>
                    <a:lnTo>
                      <a:pt x="0" y="274"/>
                    </a:lnTo>
                    <a:lnTo>
                      <a:pt x="274"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63" name="Freeform 2552"/>
              <p:cNvSpPr>
                <a:spLocks noChangeAspect="1"/>
              </p:cNvSpPr>
              <p:nvPr/>
            </p:nvSpPr>
            <p:spPr bwMode="auto">
              <a:xfrm>
                <a:off x="5256" y="2938"/>
                <a:ext cx="106" cy="92"/>
              </a:xfrm>
              <a:custGeom>
                <a:avLst/>
                <a:gdLst>
                  <a:gd name="T0" fmla="*/ 0 w 320"/>
                  <a:gd name="T1" fmla="*/ 0 h 274"/>
                  <a:gd name="T2" fmla="*/ 0 w 320"/>
                  <a:gd name="T3" fmla="*/ 0 h 274"/>
                  <a:gd name="T4" fmla="*/ 0 w 320"/>
                  <a:gd name="T5" fmla="*/ 0 h 274"/>
                  <a:gd name="T6" fmla="*/ 0 w 320"/>
                  <a:gd name="T7" fmla="*/ 0 h 274"/>
                  <a:gd name="T8" fmla="*/ 0 w 320"/>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0" h="274">
                    <a:moveTo>
                      <a:pt x="320" y="0"/>
                    </a:moveTo>
                    <a:lnTo>
                      <a:pt x="45" y="274"/>
                    </a:lnTo>
                    <a:lnTo>
                      <a:pt x="0" y="274"/>
                    </a:lnTo>
                    <a:lnTo>
                      <a:pt x="275" y="0"/>
                    </a:lnTo>
                    <a:lnTo>
                      <a:pt x="320"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64" name="Freeform 2553"/>
              <p:cNvSpPr>
                <a:spLocks noChangeAspect="1"/>
              </p:cNvSpPr>
              <p:nvPr/>
            </p:nvSpPr>
            <p:spPr bwMode="auto">
              <a:xfrm>
                <a:off x="5248" y="2938"/>
                <a:ext cx="107" cy="92"/>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5" y="274"/>
                    </a:lnTo>
                    <a:lnTo>
                      <a:pt x="0" y="274"/>
                    </a:lnTo>
                    <a:lnTo>
                      <a:pt x="275"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65" name="Freeform 2554"/>
              <p:cNvSpPr>
                <a:spLocks noChangeAspect="1"/>
              </p:cNvSpPr>
              <p:nvPr/>
            </p:nvSpPr>
            <p:spPr bwMode="auto">
              <a:xfrm>
                <a:off x="5241" y="2938"/>
                <a:ext cx="106" cy="92"/>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4" y="274"/>
                    </a:lnTo>
                    <a:lnTo>
                      <a:pt x="0" y="274"/>
                    </a:lnTo>
                    <a:lnTo>
                      <a:pt x="274"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66" name="Freeform 2555"/>
              <p:cNvSpPr>
                <a:spLocks noChangeAspect="1"/>
              </p:cNvSpPr>
              <p:nvPr/>
            </p:nvSpPr>
            <p:spPr bwMode="auto">
              <a:xfrm>
                <a:off x="5234" y="2938"/>
                <a:ext cx="106" cy="92"/>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4" y="274"/>
                    </a:lnTo>
                    <a:lnTo>
                      <a:pt x="0" y="274"/>
                    </a:lnTo>
                    <a:lnTo>
                      <a:pt x="275"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67" name="Freeform 2556"/>
              <p:cNvSpPr>
                <a:spLocks noChangeAspect="1"/>
              </p:cNvSpPr>
              <p:nvPr/>
            </p:nvSpPr>
            <p:spPr bwMode="auto">
              <a:xfrm>
                <a:off x="5226" y="2938"/>
                <a:ext cx="106" cy="92"/>
              </a:xfrm>
              <a:custGeom>
                <a:avLst/>
                <a:gdLst>
                  <a:gd name="T0" fmla="*/ 0 w 318"/>
                  <a:gd name="T1" fmla="*/ 0 h 274"/>
                  <a:gd name="T2" fmla="*/ 0 w 318"/>
                  <a:gd name="T3" fmla="*/ 0 h 274"/>
                  <a:gd name="T4" fmla="*/ 0 w 318"/>
                  <a:gd name="T5" fmla="*/ 0 h 274"/>
                  <a:gd name="T6" fmla="*/ 0 w 318"/>
                  <a:gd name="T7" fmla="*/ 0 h 274"/>
                  <a:gd name="T8" fmla="*/ 0 w 318"/>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274">
                    <a:moveTo>
                      <a:pt x="318" y="0"/>
                    </a:moveTo>
                    <a:lnTo>
                      <a:pt x="44" y="274"/>
                    </a:lnTo>
                    <a:lnTo>
                      <a:pt x="0" y="274"/>
                    </a:lnTo>
                    <a:lnTo>
                      <a:pt x="275" y="0"/>
                    </a:lnTo>
                    <a:lnTo>
                      <a:pt x="318"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68" name="Freeform 2557"/>
              <p:cNvSpPr>
                <a:spLocks noChangeAspect="1"/>
              </p:cNvSpPr>
              <p:nvPr/>
            </p:nvSpPr>
            <p:spPr bwMode="auto">
              <a:xfrm>
                <a:off x="5219" y="2938"/>
                <a:ext cx="106" cy="92"/>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4" y="274"/>
                    </a:lnTo>
                    <a:lnTo>
                      <a:pt x="0" y="274"/>
                    </a:lnTo>
                    <a:lnTo>
                      <a:pt x="274"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69" name="Freeform 2558"/>
              <p:cNvSpPr>
                <a:spLocks noChangeAspect="1"/>
              </p:cNvSpPr>
              <p:nvPr/>
            </p:nvSpPr>
            <p:spPr bwMode="auto">
              <a:xfrm>
                <a:off x="5211" y="2938"/>
                <a:ext cx="107" cy="92"/>
              </a:xfrm>
              <a:custGeom>
                <a:avLst/>
                <a:gdLst>
                  <a:gd name="T0" fmla="*/ 0 w 320"/>
                  <a:gd name="T1" fmla="*/ 0 h 274"/>
                  <a:gd name="T2" fmla="*/ 0 w 320"/>
                  <a:gd name="T3" fmla="*/ 0 h 274"/>
                  <a:gd name="T4" fmla="*/ 0 w 320"/>
                  <a:gd name="T5" fmla="*/ 0 h 274"/>
                  <a:gd name="T6" fmla="*/ 0 w 320"/>
                  <a:gd name="T7" fmla="*/ 0 h 274"/>
                  <a:gd name="T8" fmla="*/ 0 w 320"/>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0" h="274">
                    <a:moveTo>
                      <a:pt x="320" y="0"/>
                    </a:moveTo>
                    <a:lnTo>
                      <a:pt x="45" y="274"/>
                    </a:lnTo>
                    <a:lnTo>
                      <a:pt x="0" y="274"/>
                    </a:lnTo>
                    <a:lnTo>
                      <a:pt x="275" y="0"/>
                    </a:lnTo>
                    <a:lnTo>
                      <a:pt x="320"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70" name="Freeform 2559"/>
              <p:cNvSpPr>
                <a:spLocks noChangeAspect="1"/>
              </p:cNvSpPr>
              <p:nvPr/>
            </p:nvSpPr>
            <p:spPr bwMode="auto">
              <a:xfrm>
                <a:off x="5204" y="2938"/>
                <a:ext cx="106" cy="92"/>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5" y="274"/>
                    </a:lnTo>
                    <a:lnTo>
                      <a:pt x="0" y="274"/>
                    </a:lnTo>
                    <a:lnTo>
                      <a:pt x="275"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71" name="Freeform 2560"/>
              <p:cNvSpPr>
                <a:spLocks noChangeAspect="1"/>
              </p:cNvSpPr>
              <p:nvPr/>
            </p:nvSpPr>
            <p:spPr bwMode="auto">
              <a:xfrm>
                <a:off x="5197" y="2938"/>
                <a:ext cx="106" cy="92"/>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4" y="274"/>
                    </a:lnTo>
                    <a:lnTo>
                      <a:pt x="0" y="274"/>
                    </a:lnTo>
                    <a:lnTo>
                      <a:pt x="274"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72" name="Freeform 2561"/>
              <p:cNvSpPr>
                <a:spLocks noChangeAspect="1"/>
              </p:cNvSpPr>
              <p:nvPr/>
            </p:nvSpPr>
            <p:spPr bwMode="auto">
              <a:xfrm>
                <a:off x="5189" y="2938"/>
                <a:ext cx="107" cy="92"/>
              </a:xfrm>
              <a:custGeom>
                <a:avLst/>
                <a:gdLst>
                  <a:gd name="T0" fmla="*/ 0 w 320"/>
                  <a:gd name="T1" fmla="*/ 0 h 274"/>
                  <a:gd name="T2" fmla="*/ 0 w 320"/>
                  <a:gd name="T3" fmla="*/ 0 h 274"/>
                  <a:gd name="T4" fmla="*/ 0 w 320"/>
                  <a:gd name="T5" fmla="*/ 0 h 274"/>
                  <a:gd name="T6" fmla="*/ 0 w 320"/>
                  <a:gd name="T7" fmla="*/ 0 h 274"/>
                  <a:gd name="T8" fmla="*/ 0 w 320"/>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0" h="274">
                    <a:moveTo>
                      <a:pt x="320" y="0"/>
                    </a:moveTo>
                    <a:lnTo>
                      <a:pt x="45" y="274"/>
                    </a:lnTo>
                    <a:lnTo>
                      <a:pt x="0" y="274"/>
                    </a:lnTo>
                    <a:lnTo>
                      <a:pt x="275" y="0"/>
                    </a:lnTo>
                    <a:lnTo>
                      <a:pt x="320"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73" name="Freeform 2562"/>
              <p:cNvSpPr>
                <a:spLocks noChangeAspect="1"/>
              </p:cNvSpPr>
              <p:nvPr/>
            </p:nvSpPr>
            <p:spPr bwMode="auto">
              <a:xfrm>
                <a:off x="5182" y="2938"/>
                <a:ext cx="106" cy="92"/>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5" y="274"/>
                    </a:lnTo>
                    <a:lnTo>
                      <a:pt x="0" y="274"/>
                    </a:lnTo>
                    <a:lnTo>
                      <a:pt x="275"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74" name="Freeform 2563"/>
              <p:cNvSpPr>
                <a:spLocks noChangeAspect="1"/>
              </p:cNvSpPr>
              <p:nvPr/>
            </p:nvSpPr>
            <p:spPr bwMode="auto">
              <a:xfrm>
                <a:off x="5174" y="2938"/>
                <a:ext cx="107" cy="92"/>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4" y="274"/>
                    </a:lnTo>
                    <a:lnTo>
                      <a:pt x="0" y="274"/>
                    </a:lnTo>
                    <a:lnTo>
                      <a:pt x="274"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75" name="Freeform 2564"/>
              <p:cNvSpPr>
                <a:spLocks noChangeAspect="1"/>
              </p:cNvSpPr>
              <p:nvPr/>
            </p:nvSpPr>
            <p:spPr bwMode="auto">
              <a:xfrm>
                <a:off x="5167" y="2938"/>
                <a:ext cx="106" cy="92"/>
              </a:xfrm>
              <a:custGeom>
                <a:avLst/>
                <a:gdLst>
                  <a:gd name="T0" fmla="*/ 0 w 319"/>
                  <a:gd name="T1" fmla="*/ 0 h 274"/>
                  <a:gd name="T2" fmla="*/ 0 w 319"/>
                  <a:gd name="T3" fmla="*/ 0 h 274"/>
                  <a:gd name="T4" fmla="*/ 0 w 319"/>
                  <a:gd name="T5" fmla="*/ 0 h 274"/>
                  <a:gd name="T6" fmla="*/ 0 w 319"/>
                  <a:gd name="T7" fmla="*/ 0 h 274"/>
                  <a:gd name="T8" fmla="*/ 0 w 319"/>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274">
                    <a:moveTo>
                      <a:pt x="319" y="0"/>
                    </a:moveTo>
                    <a:lnTo>
                      <a:pt x="44" y="274"/>
                    </a:lnTo>
                    <a:lnTo>
                      <a:pt x="0" y="274"/>
                    </a:lnTo>
                    <a:lnTo>
                      <a:pt x="275" y="0"/>
                    </a:lnTo>
                    <a:lnTo>
                      <a:pt x="31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76" name="Freeform 2565"/>
              <p:cNvSpPr>
                <a:spLocks noChangeAspect="1"/>
              </p:cNvSpPr>
              <p:nvPr/>
            </p:nvSpPr>
            <p:spPr bwMode="auto">
              <a:xfrm>
                <a:off x="5160" y="2938"/>
                <a:ext cx="106" cy="92"/>
              </a:xfrm>
              <a:custGeom>
                <a:avLst/>
                <a:gdLst>
                  <a:gd name="T0" fmla="*/ 0 w 318"/>
                  <a:gd name="T1" fmla="*/ 0 h 274"/>
                  <a:gd name="T2" fmla="*/ 0 w 318"/>
                  <a:gd name="T3" fmla="*/ 0 h 274"/>
                  <a:gd name="T4" fmla="*/ 0 w 318"/>
                  <a:gd name="T5" fmla="*/ 0 h 274"/>
                  <a:gd name="T6" fmla="*/ 0 w 318"/>
                  <a:gd name="T7" fmla="*/ 0 h 274"/>
                  <a:gd name="T8" fmla="*/ 0 w 318"/>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274">
                    <a:moveTo>
                      <a:pt x="318" y="0"/>
                    </a:moveTo>
                    <a:lnTo>
                      <a:pt x="44" y="274"/>
                    </a:lnTo>
                    <a:lnTo>
                      <a:pt x="0" y="274"/>
                    </a:lnTo>
                    <a:lnTo>
                      <a:pt x="275" y="0"/>
                    </a:lnTo>
                    <a:lnTo>
                      <a:pt x="318"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77" name="Freeform 2566"/>
              <p:cNvSpPr>
                <a:spLocks noChangeAspect="1"/>
              </p:cNvSpPr>
              <p:nvPr/>
            </p:nvSpPr>
            <p:spPr bwMode="auto">
              <a:xfrm>
                <a:off x="5155" y="2938"/>
                <a:ext cx="104" cy="92"/>
              </a:xfrm>
              <a:custGeom>
                <a:avLst/>
                <a:gdLst>
                  <a:gd name="T0" fmla="*/ 0 w 312"/>
                  <a:gd name="T1" fmla="*/ 0 h 274"/>
                  <a:gd name="T2" fmla="*/ 0 w 312"/>
                  <a:gd name="T3" fmla="*/ 0 h 274"/>
                  <a:gd name="T4" fmla="*/ 0 w 312"/>
                  <a:gd name="T5" fmla="*/ 0 h 274"/>
                  <a:gd name="T6" fmla="*/ 0 w 312"/>
                  <a:gd name="T7" fmla="*/ 0 h 274"/>
                  <a:gd name="T8" fmla="*/ 0 w 312"/>
                  <a:gd name="T9" fmla="*/ 0 h 274"/>
                  <a:gd name="T10" fmla="*/ 0 w 312"/>
                  <a:gd name="T11" fmla="*/ 0 h 274"/>
                  <a:gd name="T12" fmla="*/ 0 w 312"/>
                  <a:gd name="T13" fmla="*/ 0 h 2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2" h="274">
                    <a:moveTo>
                      <a:pt x="312" y="0"/>
                    </a:moveTo>
                    <a:lnTo>
                      <a:pt x="37" y="274"/>
                    </a:lnTo>
                    <a:lnTo>
                      <a:pt x="0" y="274"/>
                    </a:lnTo>
                    <a:lnTo>
                      <a:pt x="108" y="159"/>
                    </a:lnTo>
                    <a:lnTo>
                      <a:pt x="267" y="0"/>
                    </a:lnTo>
                    <a:lnTo>
                      <a:pt x="312"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78" name="Freeform 2567"/>
              <p:cNvSpPr>
                <a:spLocks noChangeAspect="1"/>
              </p:cNvSpPr>
              <p:nvPr/>
            </p:nvSpPr>
            <p:spPr bwMode="auto">
              <a:xfrm>
                <a:off x="5155" y="2938"/>
                <a:ext cx="96" cy="92"/>
              </a:xfrm>
              <a:custGeom>
                <a:avLst/>
                <a:gdLst>
                  <a:gd name="T0" fmla="*/ 0 w 290"/>
                  <a:gd name="T1" fmla="*/ 0 h 274"/>
                  <a:gd name="T2" fmla="*/ 0 w 290"/>
                  <a:gd name="T3" fmla="*/ 0 h 274"/>
                  <a:gd name="T4" fmla="*/ 0 w 290"/>
                  <a:gd name="T5" fmla="*/ 0 h 274"/>
                  <a:gd name="T6" fmla="*/ 0 w 290"/>
                  <a:gd name="T7" fmla="*/ 0 h 274"/>
                  <a:gd name="T8" fmla="*/ 0 w 290"/>
                  <a:gd name="T9" fmla="*/ 0 h 274"/>
                  <a:gd name="T10" fmla="*/ 0 w 290"/>
                  <a:gd name="T11" fmla="*/ 0 h 27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0" h="274">
                    <a:moveTo>
                      <a:pt x="290" y="0"/>
                    </a:moveTo>
                    <a:lnTo>
                      <a:pt x="15" y="274"/>
                    </a:lnTo>
                    <a:lnTo>
                      <a:pt x="0" y="274"/>
                    </a:lnTo>
                    <a:lnTo>
                      <a:pt x="257" y="0"/>
                    </a:lnTo>
                    <a:lnTo>
                      <a:pt x="290"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79" name="Freeform 2568"/>
              <p:cNvSpPr>
                <a:spLocks noChangeAspect="1"/>
              </p:cNvSpPr>
              <p:nvPr/>
            </p:nvSpPr>
            <p:spPr bwMode="auto">
              <a:xfrm>
                <a:off x="5191" y="2938"/>
                <a:ext cx="53" cy="53"/>
              </a:xfrm>
              <a:custGeom>
                <a:avLst/>
                <a:gdLst>
                  <a:gd name="T0" fmla="*/ 0 w 159"/>
                  <a:gd name="T1" fmla="*/ 0 h 159"/>
                  <a:gd name="T2" fmla="*/ 0 w 159"/>
                  <a:gd name="T3" fmla="*/ 0 h 159"/>
                  <a:gd name="T4" fmla="*/ 0 w 159"/>
                  <a:gd name="T5" fmla="*/ 0 h 159"/>
                  <a:gd name="T6" fmla="*/ 0 w 159"/>
                  <a:gd name="T7" fmla="*/ 0 h 15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9" h="159">
                    <a:moveTo>
                      <a:pt x="159" y="0"/>
                    </a:moveTo>
                    <a:lnTo>
                      <a:pt x="0" y="159"/>
                    </a:lnTo>
                    <a:lnTo>
                      <a:pt x="149" y="0"/>
                    </a:lnTo>
                    <a:lnTo>
                      <a:pt x="159" y="0"/>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80" name="Freeform 2569"/>
              <p:cNvSpPr>
                <a:spLocks noChangeAspect="1"/>
              </p:cNvSpPr>
              <p:nvPr/>
            </p:nvSpPr>
            <p:spPr bwMode="auto">
              <a:xfrm>
                <a:off x="5155" y="2938"/>
                <a:ext cx="279" cy="92"/>
              </a:xfrm>
              <a:custGeom>
                <a:avLst/>
                <a:gdLst>
                  <a:gd name="T0" fmla="*/ 0 w 838"/>
                  <a:gd name="T1" fmla="*/ 0 h 274"/>
                  <a:gd name="T2" fmla="*/ 0 w 838"/>
                  <a:gd name="T3" fmla="*/ 0 h 274"/>
                  <a:gd name="T4" fmla="*/ 0 w 838"/>
                  <a:gd name="T5" fmla="*/ 0 h 274"/>
                  <a:gd name="T6" fmla="*/ 0 w 838"/>
                  <a:gd name="T7" fmla="*/ 0 h 274"/>
                  <a:gd name="T8" fmla="*/ 0 w 838"/>
                  <a:gd name="T9" fmla="*/ 0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38" h="274">
                    <a:moveTo>
                      <a:pt x="257" y="0"/>
                    </a:moveTo>
                    <a:lnTo>
                      <a:pt x="838" y="0"/>
                    </a:lnTo>
                    <a:lnTo>
                      <a:pt x="581" y="274"/>
                    </a:lnTo>
                    <a:lnTo>
                      <a:pt x="0" y="274"/>
                    </a:lnTo>
                    <a:lnTo>
                      <a:pt x="257" y="0"/>
                    </a:lnTo>
                  </a:path>
                </a:pathLst>
              </a:custGeom>
              <a:gradFill rotWithShape="0">
                <a:gsLst>
                  <a:gs pos="0">
                    <a:srgbClr val="EAEAEA"/>
                  </a:gs>
                  <a:gs pos="100000">
                    <a:srgbClr val="9B9B9B"/>
                  </a:gs>
                </a:gsLst>
                <a:lin ang="0" scaled="1"/>
              </a:gradFill>
              <a:ln w="1588">
                <a:solidFill>
                  <a:srgbClr val="1F1A17"/>
                </a:solidFill>
                <a:prstDash val="solid"/>
                <a:round/>
                <a:headEnd/>
                <a:tailEnd/>
              </a:ln>
            </p:spPr>
            <p:txBody>
              <a:bodyPr/>
              <a:lstStyle/>
              <a:p>
                <a:endParaRPr lang="en-US"/>
              </a:p>
            </p:txBody>
          </p:sp>
          <p:sp>
            <p:nvSpPr>
              <p:cNvPr id="388781" name="Rectangle 2570"/>
              <p:cNvSpPr>
                <a:spLocks noChangeAspect="1" noChangeArrowheads="1"/>
              </p:cNvSpPr>
              <p:nvPr/>
            </p:nvSpPr>
            <p:spPr bwMode="auto">
              <a:xfrm>
                <a:off x="5344" y="3030"/>
                <a:ext cx="4"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82" name="Rectangle 2571"/>
              <p:cNvSpPr>
                <a:spLocks noChangeAspect="1" noChangeArrowheads="1"/>
              </p:cNvSpPr>
              <p:nvPr/>
            </p:nvSpPr>
            <p:spPr bwMode="auto">
              <a:xfrm>
                <a:off x="5341" y="3030"/>
                <a:ext cx="7"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83" name="Rectangle 2572"/>
              <p:cNvSpPr>
                <a:spLocks noChangeAspect="1" noChangeArrowheads="1"/>
              </p:cNvSpPr>
              <p:nvPr/>
            </p:nvSpPr>
            <p:spPr bwMode="auto">
              <a:xfrm>
                <a:off x="5337" y="3030"/>
                <a:ext cx="7"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84" name="Rectangle 2573"/>
              <p:cNvSpPr>
                <a:spLocks noChangeAspect="1" noChangeArrowheads="1"/>
              </p:cNvSpPr>
              <p:nvPr/>
            </p:nvSpPr>
            <p:spPr bwMode="auto">
              <a:xfrm>
                <a:off x="5333"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85" name="Rectangle 2574"/>
              <p:cNvSpPr>
                <a:spLocks noChangeAspect="1" noChangeArrowheads="1"/>
              </p:cNvSpPr>
              <p:nvPr/>
            </p:nvSpPr>
            <p:spPr bwMode="auto">
              <a:xfrm>
                <a:off x="5329"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86" name="Rectangle 2575"/>
              <p:cNvSpPr>
                <a:spLocks noChangeAspect="1" noChangeArrowheads="1"/>
              </p:cNvSpPr>
              <p:nvPr/>
            </p:nvSpPr>
            <p:spPr bwMode="auto">
              <a:xfrm>
                <a:off x="5325"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87" name="Rectangle 2576"/>
              <p:cNvSpPr>
                <a:spLocks noChangeAspect="1" noChangeArrowheads="1"/>
              </p:cNvSpPr>
              <p:nvPr/>
            </p:nvSpPr>
            <p:spPr bwMode="auto">
              <a:xfrm>
                <a:off x="5321"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88" name="Rectangle 2577"/>
              <p:cNvSpPr>
                <a:spLocks noChangeAspect="1" noChangeArrowheads="1"/>
              </p:cNvSpPr>
              <p:nvPr/>
            </p:nvSpPr>
            <p:spPr bwMode="auto">
              <a:xfrm>
                <a:off x="5318" y="3030"/>
                <a:ext cx="7"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89" name="Rectangle 2578"/>
              <p:cNvSpPr>
                <a:spLocks noChangeAspect="1" noChangeArrowheads="1"/>
              </p:cNvSpPr>
              <p:nvPr/>
            </p:nvSpPr>
            <p:spPr bwMode="auto">
              <a:xfrm>
                <a:off x="5314" y="3030"/>
                <a:ext cx="7"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90" name="Rectangle 2579"/>
              <p:cNvSpPr>
                <a:spLocks noChangeAspect="1" noChangeArrowheads="1"/>
              </p:cNvSpPr>
              <p:nvPr/>
            </p:nvSpPr>
            <p:spPr bwMode="auto">
              <a:xfrm>
                <a:off x="5310"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91" name="Rectangle 2580"/>
              <p:cNvSpPr>
                <a:spLocks noChangeAspect="1" noChangeArrowheads="1"/>
              </p:cNvSpPr>
              <p:nvPr/>
            </p:nvSpPr>
            <p:spPr bwMode="auto">
              <a:xfrm>
                <a:off x="5306"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92" name="Rectangle 2581"/>
              <p:cNvSpPr>
                <a:spLocks noChangeAspect="1" noChangeArrowheads="1"/>
              </p:cNvSpPr>
              <p:nvPr/>
            </p:nvSpPr>
            <p:spPr bwMode="auto">
              <a:xfrm>
                <a:off x="5302"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93" name="Rectangle 2582"/>
              <p:cNvSpPr>
                <a:spLocks noChangeAspect="1" noChangeArrowheads="1"/>
              </p:cNvSpPr>
              <p:nvPr/>
            </p:nvSpPr>
            <p:spPr bwMode="auto">
              <a:xfrm>
                <a:off x="5298"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94" name="Rectangle 2583"/>
              <p:cNvSpPr>
                <a:spLocks noChangeAspect="1" noChangeArrowheads="1"/>
              </p:cNvSpPr>
              <p:nvPr/>
            </p:nvSpPr>
            <p:spPr bwMode="auto">
              <a:xfrm>
                <a:off x="5294"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95" name="Rectangle 2584"/>
              <p:cNvSpPr>
                <a:spLocks noChangeAspect="1" noChangeArrowheads="1"/>
              </p:cNvSpPr>
              <p:nvPr/>
            </p:nvSpPr>
            <p:spPr bwMode="auto">
              <a:xfrm>
                <a:off x="5290"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96" name="Rectangle 2585"/>
              <p:cNvSpPr>
                <a:spLocks noChangeAspect="1" noChangeArrowheads="1"/>
              </p:cNvSpPr>
              <p:nvPr/>
            </p:nvSpPr>
            <p:spPr bwMode="auto">
              <a:xfrm>
                <a:off x="5286"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97" name="Rectangle 2586"/>
              <p:cNvSpPr>
                <a:spLocks noChangeAspect="1" noChangeArrowheads="1"/>
              </p:cNvSpPr>
              <p:nvPr/>
            </p:nvSpPr>
            <p:spPr bwMode="auto">
              <a:xfrm>
                <a:off x="5282"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98" name="Rectangle 2587"/>
              <p:cNvSpPr>
                <a:spLocks noChangeAspect="1" noChangeArrowheads="1"/>
              </p:cNvSpPr>
              <p:nvPr/>
            </p:nvSpPr>
            <p:spPr bwMode="auto">
              <a:xfrm>
                <a:off x="5278"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799" name="Rectangle 2588"/>
              <p:cNvSpPr>
                <a:spLocks noChangeAspect="1" noChangeArrowheads="1"/>
              </p:cNvSpPr>
              <p:nvPr/>
            </p:nvSpPr>
            <p:spPr bwMode="auto">
              <a:xfrm>
                <a:off x="5275" y="3030"/>
                <a:ext cx="7"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00" name="Rectangle 2589"/>
              <p:cNvSpPr>
                <a:spLocks noChangeAspect="1" noChangeArrowheads="1"/>
              </p:cNvSpPr>
              <p:nvPr/>
            </p:nvSpPr>
            <p:spPr bwMode="auto">
              <a:xfrm>
                <a:off x="5271" y="3030"/>
                <a:ext cx="7"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01" name="Rectangle 2590"/>
              <p:cNvSpPr>
                <a:spLocks noChangeAspect="1" noChangeArrowheads="1"/>
              </p:cNvSpPr>
              <p:nvPr/>
            </p:nvSpPr>
            <p:spPr bwMode="auto">
              <a:xfrm>
                <a:off x="5267"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02" name="Rectangle 2591"/>
              <p:cNvSpPr>
                <a:spLocks noChangeAspect="1" noChangeArrowheads="1"/>
              </p:cNvSpPr>
              <p:nvPr/>
            </p:nvSpPr>
            <p:spPr bwMode="auto">
              <a:xfrm>
                <a:off x="5263"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03" name="Rectangle 2592"/>
              <p:cNvSpPr>
                <a:spLocks noChangeAspect="1" noChangeArrowheads="1"/>
              </p:cNvSpPr>
              <p:nvPr/>
            </p:nvSpPr>
            <p:spPr bwMode="auto">
              <a:xfrm>
                <a:off x="5259"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04" name="Rectangle 2593"/>
              <p:cNvSpPr>
                <a:spLocks noChangeAspect="1" noChangeArrowheads="1"/>
              </p:cNvSpPr>
              <p:nvPr/>
            </p:nvSpPr>
            <p:spPr bwMode="auto">
              <a:xfrm>
                <a:off x="5255"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05" name="Rectangle 2594"/>
              <p:cNvSpPr>
                <a:spLocks noChangeAspect="1" noChangeArrowheads="1"/>
              </p:cNvSpPr>
              <p:nvPr/>
            </p:nvSpPr>
            <p:spPr bwMode="auto">
              <a:xfrm>
                <a:off x="5252" y="3030"/>
                <a:ext cx="7"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06" name="Rectangle 2595"/>
              <p:cNvSpPr>
                <a:spLocks noChangeAspect="1" noChangeArrowheads="1"/>
              </p:cNvSpPr>
              <p:nvPr/>
            </p:nvSpPr>
            <p:spPr bwMode="auto">
              <a:xfrm>
                <a:off x="5248" y="3030"/>
                <a:ext cx="7"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07" name="Rectangle 2596"/>
              <p:cNvSpPr>
                <a:spLocks noChangeAspect="1" noChangeArrowheads="1"/>
              </p:cNvSpPr>
              <p:nvPr/>
            </p:nvSpPr>
            <p:spPr bwMode="auto">
              <a:xfrm>
                <a:off x="5244"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08" name="Rectangle 2597"/>
              <p:cNvSpPr>
                <a:spLocks noChangeAspect="1" noChangeArrowheads="1"/>
              </p:cNvSpPr>
              <p:nvPr/>
            </p:nvSpPr>
            <p:spPr bwMode="auto">
              <a:xfrm>
                <a:off x="5240"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09" name="Rectangle 2598"/>
              <p:cNvSpPr>
                <a:spLocks noChangeAspect="1" noChangeArrowheads="1"/>
              </p:cNvSpPr>
              <p:nvPr/>
            </p:nvSpPr>
            <p:spPr bwMode="auto">
              <a:xfrm>
                <a:off x="5236"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10" name="Rectangle 2599"/>
              <p:cNvSpPr>
                <a:spLocks noChangeAspect="1" noChangeArrowheads="1"/>
              </p:cNvSpPr>
              <p:nvPr/>
            </p:nvSpPr>
            <p:spPr bwMode="auto">
              <a:xfrm>
                <a:off x="5232"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11" name="Rectangle 2600"/>
              <p:cNvSpPr>
                <a:spLocks noChangeAspect="1" noChangeArrowheads="1"/>
              </p:cNvSpPr>
              <p:nvPr/>
            </p:nvSpPr>
            <p:spPr bwMode="auto">
              <a:xfrm>
                <a:off x="5228"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12" name="Rectangle 2601"/>
              <p:cNvSpPr>
                <a:spLocks noChangeAspect="1" noChangeArrowheads="1"/>
              </p:cNvSpPr>
              <p:nvPr/>
            </p:nvSpPr>
            <p:spPr bwMode="auto">
              <a:xfrm>
                <a:off x="5225" y="3030"/>
                <a:ext cx="7"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13" name="Rectangle 2602"/>
              <p:cNvSpPr>
                <a:spLocks noChangeAspect="1" noChangeArrowheads="1"/>
              </p:cNvSpPr>
              <p:nvPr/>
            </p:nvSpPr>
            <p:spPr bwMode="auto">
              <a:xfrm>
                <a:off x="5221" y="3030"/>
                <a:ext cx="7"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14" name="Rectangle 2603"/>
              <p:cNvSpPr>
                <a:spLocks noChangeAspect="1" noChangeArrowheads="1"/>
              </p:cNvSpPr>
              <p:nvPr/>
            </p:nvSpPr>
            <p:spPr bwMode="auto">
              <a:xfrm>
                <a:off x="5217"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15" name="Rectangle 2604"/>
              <p:cNvSpPr>
                <a:spLocks noChangeAspect="1" noChangeArrowheads="1"/>
              </p:cNvSpPr>
              <p:nvPr/>
            </p:nvSpPr>
            <p:spPr bwMode="auto">
              <a:xfrm>
                <a:off x="5213"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16" name="Rectangle 2605"/>
              <p:cNvSpPr>
                <a:spLocks noChangeAspect="1" noChangeArrowheads="1"/>
              </p:cNvSpPr>
              <p:nvPr/>
            </p:nvSpPr>
            <p:spPr bwMode="auto">
              <a:xfrm>
                <a:off x="5209"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17" name="Rectangle 2606"/>
              <p:cNvSpPr>
                <a:spLocks noChangeAspect="1" noChangeArrowheads="1"/>
              </p:cNvSpPr>
              <p:nvPr/>
            </p:nvSpPr>
            <p:spPr bwMode="auto">
              <a:xfrm>
                <a:off x="5205"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18" name="Rectangle 2607"/>
              <p:cNvSpPr>
                <a:spLocks noChangeAspect="1" noChangeArrowheads="1"/>
              </p:cNvSpPr>
              <p:nvPr/>
            </p:nvSpPr>
            <p:spPr bwMode="auto">
              <a:xfrm>
                <a:off x="5201"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19" name="Rectangle 2608"/>
              <p:cNvSpPr>
                <a:spLocks noChangeAspect="1" noChangeArrowheads="1"/>
              </p:cNvSpPr>
              <p:nvPr/>
            </p:nvSpPr>
            <p:spPr bwMode="auto">
              <a:xfrm>
                <a:off x="5197"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20" name="Rectangle 2609"/>
              <p:cNvSpPr>
                <a:spLocks noChangeAspect="1" noChangeArrowheads="1"/>
              </p:cNvSpPr>
              <p:nvPr/>
            </p:nvSpPr>
            <p:spPr bwMode="auto">
              <a:xfrm>
                <a:off x="5193"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21" name="Rectangle 2610"/>
              <p:cNvSpPr>
                <a:spLocks noChangeAspect="1" noChangeArrowheads="1"/>
              </p:cNvSpPr>
              <p:nvPr/>
            </p:nvSpPr>
            <p:spPr bwMode="auto">
              <a:xfrm>
                <a:off x="5189"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22" name="Rectangle 2611"/>
              <p:cNvSpPr>
                <a:spLocks noChangeAspect="1" noChangeArrowheads="1"/>
              </p:cNvSpPr>
              <p:nvPr/>
            </p:nvSpPr>
            <p:spPr bwMode="auto">
              <a:xfrm>
                <a:off x="5186" y="3030"/>
                <a:ext cx="7"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23" name="Rectangle 2612"/>
              <p:cNvSpPr>
                <a:spLocks noChangeAspect="1" noChangeArrowheads="1"/>
              </p:cNvSpPr>
              <p:nvPr/>
            </p:nvSpPr>
            <p:spPr bwMode="auto">
              <a:xfrm>
                <a:off x="5182" y="3030"/>
                <a:ext cx="7"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24" name="Rectangle 2613"/>
              <p:cNvSpPr>
                <a:spLocks noChangeAspect="1" noChangeArrowheads="1"/>
              </p:cNvSpPr>
              <p:nvPr/>
            </p:nvSpPr>
            <p:spPr bwMode="auto">
              <a:xfrm>
                <a:off x="5178"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25" name="Rectangle 2614"/>
              <p:cNvSpPr>
                <a:spLocks noChangeAspect="1" noChangeArrowheads="1"/>
              </p:cNvSpPr>
              <p:nvPr/>
            </p:nvSpPr>
            <p:spPr bwMode="auto">
              <a:xfrm>
                <a:off x="5174"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26" name="Rectangle 2615"/>
              <p:cNvSpPr>
                <a:spLocks noChangeAspect="1" noChangeArrowheads="1"/>
              </p:cNvSpPr>
              <p:nvPr/>
            </p:nvSpPr>
            <p:spPr bwMode="auto">
              <a:xfrm>
                <a:off x="5170"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27" name="Rectangle 2616"/>
              <p:cNvSpPr>
                <a:spLocks noChangeAspect="1" noChangeArrowheads="1"/>
              </p:cNvSpPr>
              <p:nvPr/>
            </p:nvSpPr>
            <p:spPr bwMode="auto">
              <a:xfrm>
                <a:off x="5166"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28" name="Rectangle 2617"/>
              <p:cNvSpPr>
                <a:spLocks noChangeAspect="1" noChangeArrowheads="1"/>
              </p:cNvSpPr>
              <p:nvPr/>
            </p:nvSpPr>
            <p:spPr bwMode="auto">
              <a:xfrm>
                <a:off x="5162" y="3030"/>
                <a:ext cx="8"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29" name="Rectangle 2618"/>
              <p:cNvSpPr>
                <a:spLocks noChangeAspect="1" noChangeArrowheads="1"/>
              </p:cNvSpPr>
              <p:nvPr/>
            </p:nvSpPr>
            <p:spPr bwMode="auto">
              <a:xfrm>
                <a:off x="5159" y="3030"/>
                <a:ext cx="7"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30" name="Rectangle 2619"/>
              <p:cNvSpPr>
                <a:spLocks noChangeAspect="1" noChangeArrowheads="1"/>
              </p:cNvSpPr>
              <p:nvPr/>
            </p:nvSpPr>
            <p:spPr bwMode="auto">
              <a:xfrm>
                <a:off x="5155" y="3030"/>
                <a:ext cx="7" cy="182"/>
              </a:xfrm>
              <a:prstGeom prst="rect">
                <a:avLst/>
              </a:pr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31" name="Rectangle 2620"/>
              <p:cNvSpPr>
                <a:spLocks noChangeAspect="1" noChangeArrowheads="1"/>
              </p:cNvSpPr>
              <p:nvPr/>
            </p:nvSpPr>
            <p:spPr bwMode="auto">
              <a:xfrm>
                <a:off x="5155" y="3030"/>
                <a:ext cx="193" cy="182"/>
              </a:xfrm>
              <a:prstGeom prst="rect">
                <a:avLst/>
              </a:prstGeom>
              <a:gradFill rotWithShape="0">
                <a:gsLst>
                  <a:gs pos="0">
                    <a:srgbClr val="EAEAEA"/>
                  </a:gs>
                  <a:gs pos="100000">
                    <a:srgbClr val="9B9B9B"/>
                  </a:gs>
                </a:gsLst>
                <a:lin ang="0" scaled="1"/>
              </a:gradFill>
              <a:ln w="1588">
                <a:solidFill>
                  <a:srgbClr val="1F1A17"/>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832" name="Freeform 2621"/>
              <p:cNvSpPr>
                <a:spLocks noChangeAspect="1"/>
              </p:cNvSpPr>
              <p:nvPr/>
            </p:nvSpPr>
            <p:spPr bwMode="auto">
              <a:xfrm>
                <a:off x="5348" y="2938"/>
                <a:ext cx="86" cy="93"/>
              </a:xfrm>
              <a:custGeom>
                <a:avLst/>
                <a:gdLst>
                  <a:gd name="T0" fmla="*/ 0 w 257"/>
                  <a:gd name="T1" fmla="*/ 0 h 278"/>
                  <a:gd name="T2" fmla="*/ 0 w 257"/>
                  <a:gd name="T3" fmla="*/ 0 h 278"/>
                  <a:gd name="T4" fmla="*/ 0 w 257"/>
                  <a:gd name="T5" fmla="*/ 0 h 278"/>
                  <a:gd name="T6" fmla="*/ 0 w 257"/>
                  <a:gd name="T7" fmla="*/ 0 h 278"/>
                  <a:gd name="T8" fmla="*/ 0 w 25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278">
                    <a:moveTo>
                      <a:pt x="257" y="22"/>
                    </a:moveTo>
                    <a:lnTo>
                      <a:pt x="0" y="278"/>
                    </a:lnTo>
                    <a:lnTo>
                      <a:pt x="0" y="274"/>
                    </a:lnTo>
                    <a:lnTo>
                      <a:pt x="257" y="0"/>
                    </a:lnTo>
                    <a:lnTo>
                      <a:pt x="257" y="22"/>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33" name="Freeform 2622"/>
              <p:cNvSpPr>
                <a:spLocks noChangeAspect="1"/>
              </p:cNvSpPr>
              <p:nvPr/>
            </p:nvSpPr>
            <p:spPr bwMode="auto">
              <a:xfrm>
                <a:off x="5348" y="2938"/>
                <a:ext cx="86" cy="100"/>
              </a:xfrm>
              <a:custGeom>
                <a:avLst/>
                <a:gdLst>
                  <a:gd name="T0" fmla="*/ 0 w 257"/>
                  <a:gd name="T1" fmla="*/ 0 h 299"/>
                  <a:gd name="T2" fmla="*/ 0 w 257"/>
                  <a:gd name="T3" fmla="*/ 0 h 299"/>
                  <a:gd name="T4" fmla="*/ 0 w 257"/>
                  <a:gd name="T5" fmla="*/ 0 h 299"/>
                  <a:gd name="T6" fmla="*/ 0 w 257"/>
                  <a:gd name="T7" fmla="*/ 0 h 299"/>
                  <a:gd name="T8" fmla="*/ 0 w 257"/>
                  <a:gd name="T9" fmla="*/ 0 h 299"/>
                  <a:gd name="T10" fmla="*/ 0 w 257"/>
                  <a:gd name="T11" fmla="*/ 0 h 29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7" h="299">
                    <a:moveTo>
                      <a:pt x="256" y="1"/>
                    </a:moveTo>
                    <a:lnTo>
                      <a:pt x="257" y="0"/>
                    </a:lnTo>
                    <a:lnTo>
                      <a:pt x="257" y="43"/>
                    </a:lnTo>
                    <a:lnTo>
                      <a:pt x="0" y="299"/>
                    </a:lnTo>
                    <a:lnTo>
                      <a:pt x="0" y="274"/>
                    </a:lnTo>
                    <a:lnTo>
                      <a:pt x="256" y="1"/>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34" name="Freeform 2623"/>
              <p:cNvSpPr>
                <a:spLocks noChangeAspect="1"/>
              </p:cNvSpPr>
              <p:nvPr/>
            </p:nvSpPr>
            <p:spPr bwMode="auto">
              <a:xfrm>
                <a:off x="5348" y="2946"/>
                <a:ext cx="86" cy="100"/>
              </a:xfrm>
              <a:custGeom>
                <a:avLst/>
                <a:gdLst>
                  <a:gd name="T0" fmla="*/ 0 w 257"/>
                  <a:gd name="T1" fmla="*/ 0 h 300"/>
                  <a:gd name="T2" fmla="*/ 0 w 257"/>
                  <a:gd name="T3" fmla="*/ 0 h 300"/>
                  <a:gd name="T4" fmla="*/ 0 w 257"/>
                  <a:gd name="T5" fmla="*/ 0 h 300"/>
                  <a:gd name="T6" fmla="*/ 0 w 257"/>
                  <a:gd name="T7" fmla="*/ 0 h 300"/>
                  <a:gd name="T8" fmla="*/ 0 w 257"/>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300">
                    <a:moveTo>
                      <a:pt x="0" y="256"/>
                    </a:moveTo>
                    <a:lnTo>
                      <a:pt x="257" y="0"/>
                    </a:lnTo>
                    <a:lnTo>
                      <a:pt x="257" y="44"/>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35" name="Freeform 2624"/>
              <p:cNvSpPr>
                <a:spLocks noChangeAspect="1"/>
              </p:cNvSpPr>
              <p:nvPr/>
            </p:nvSpPr>
            <p:spPr bwMode="auto">
              <a:xfrm>
                <a:off x="5348" y="2953"/>
                <a:ext cx="86" cy="100"/>
              </a:xfrm>
              <a:custGeom>
                <a:avLst/>
                <a:gdLst>
                  <a:gd name="T0" fmla="*/ 0 w 257"/>
                  <a:gd name="T1" fmla="*/ 0 h 300"/>
                  <a:gd name="T2" fmla="*/ 0 w 257"/>
                  <a:gd name="T3" fmla="*/ 0 h 300"/>
                  <a:gd name="T4" fmla="*/ 0 w 257"/>
                  <a:gd name="T5" fmla="*/ 0 h 300"/>
                  <a:gd name="T6" fmla="*/ 0 w 257"/>
                  <a:gd name="T7" fmla="*/ 0 h 300"/>
                  <a:gd name="T8" fmla="*/ 0 w 257"/>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300">
                    <a:moveTo>
                      <a:pt x="0" y="256"/>
                    </a:moveTo>
                    <a:lnTo>
                      <a:pt x="257" y="0"/>
                    </a:lnTo>
                    <a:lnTo>
                      <a:pt x="257" y="44"/>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36" name="Freeform 2625"/>
              <p:cNvSpPr>
                <a:spLocks noChangeAspect="1"/>
              </p:cNvSpPr>
              <p:nvPr/>
            </p:nvSpPr>
            <p:spPr bwMode="auto">
              <a:xfrm>
                <a:off x="5348" y="2960"/>
                <a:ext cx="86" cy="100"/>
              </a:xfrm>
              <a:custGeom>
                <a:avLst/>
                <a:gdLst>
                  <a:gd name="T0" fmla="*/ 0 w 257"/>
                  <a:gd name="T1" fmla="*/ 0 h 299"/>
                  <a:gd name="T2" fmla="*/ 0 w 257"/>
                  <a:gd name="T3" fmla="*/ 0 h 299"/>
                  <a:gd name="T4" fmla="*/ 0 w 257"/>
                  <a:gd name="T5" fmla="*/ 0 h 299"/>
                  <a:gd name="T6" fmla="*/ 0 w 257"/>
                  <a:gd name="T7" fmla="*/ 0 h 299"/>
                  <a:gd name="T8" fmla="*/ 0 w 257"/>
                  <a:gd name="T9" fmla="*/ 0 h 2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299">
                    <a:moveTo>
                      <a:pt x="0" y="256"/>
                    </a:moveTo>
                    <a:lnTo>
                      <a:pt x="257" y="0"/>
                    </a:lnTo>
                    <a:lnTo>
                      <a:pt x="257" y="43"/>
                    </a:lnTo>
                    <a:lnTo>
                      <a:pt x="0" y="299"/>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37" name="Freeform 2626"/>
              <p:cNvSpPr>
                <a:spLocks noChangeAspect="1"/>
              </p:cNvSpPr>
              <p:nvPr/>
            </p:nvSpPr>
            <p:spPr bwMode="auto">
              <a:xfrm>
                <a:off x="5348" y="2967"/>
                <a:ext cx="86" cy="100"/>
              </a:xfrm>
              <a:custGeom>
                <a:avLst/>
                <a:gdLst>
                  <a:gd name="T0" fmla="*/ 0 w 257"/>
                  <a:gd name="T1" fmla="*/ 0 h 300"/>
                  <a:gd name="T2" fmla="*/ 0 w 257"/>
                  <a:gd name="T3" fmla="*/ 0 h 300"/>
                  <a:gd name="T4" fmla="*/ 0 w 257"/>
                  <a:gd name="T5" fmla="*/ 0 h 300"/>
                  <a:gd name="T6" fmla="*/ 0 w 257"/>
                  <a:gd name="T7" fmla="*/ 0 h 300"/>
                  <a:gd name="T8" fmla="*/ 0 w 257"/>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300">
                    <a:moveTo>
                      <a:pt x="0" y="256"/>
                    </a:moveTo>
                    <a:lnTo>
                      <a:pt x="257" y="0"/>
                    </a:lnTo>
                    <a:lnTo>
                      <a:pt x="257" y="43"/>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38" name="Freeform 2627"/>
              <p:cNvSpPr>
                <a:spLocks noChangeAspect="1"/>
              </p:cNvSpPr>
              <p:nvPr/>
            </p:nvSpPr>
            <p:spPr bwMode="auto">
              <a:xfrm>
                <a:off x="5348" y="2975"/>
                <a:ext cx="86" cy="100"/>
              </a:xfrm>
              <a:custGeom>
                <a:avLst/>
                <a:gdLst>
                  <a:gd name="T0" fmla="*/ 0 w 257"/>
                  <a:gd name="T1" fmla="*/ 0 h 300"/>
                  <a:gd name="T2" fmla="*/ 0 w 257"/>
                  <a:gd name="T3" fmla="*/ 0 h 300"/>
                  <a:gd name="T4" fmla="*/ 0 w 257"/>
                  <a:gd name="T5" fmla="*/ 0 h 300"/>
                  <a:gd name="T6" fmla="*/ 0 w 257"/>
                  <a:gd name="T7" fmla="*/ 0 h 300"/>
                  <a:gd name="T8" fmla="*/ 0 w 257"/>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300">
                    <a:moveTo>
                      <a:pt x="0" y="256"/>
                    </a:moveTo>
                    <a:lnTo>
                      <a:pt x="257" y="0"/>
                    </a:lnTo>
                    <a:lnTo>
                      <a:pt x="257" y="44"/>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39" name="Freeform 2628"/>
              <p:cNvSpPr>
                <a:spLocks noChangeAspect="1"/>
              </p:cNvSpPr>
              <p:nvPr/>
            </p:nvSpPr>
            <p:spPr bwMode="auto">
              <a:xfrm>
                <a:off x="5348" y="2982"/>
                <a:ext cx="86" cy="100"/>
              </a:xfrm>
              <a:custGeom>
                <a:avLst/>
                <a:gdLst>
                  <a:gd name="T0" fmla="*/ 0 w 257"/>
                  <a:gd name="T1" fmla="*/ 0 h 300"/>
                  <a:gd name="T2" fmla="*/ 0 w 257"/>
                  <a:gd name="T3" fmla="*/ 0 h 300"/>
                  <a:gd name="T4" fmla="*/ 0 w 257"/>
                  <a:gd name="T5" fmla="*/ 0 h 300"/>
                  <a:gd name="T6" fmla="*/ 0 w 257"/>
                  <a:gd name="T7" fmla="*/ 0 h 300"/>
                  <a:gd name="T8" fmla="*/ 0 w 257"/>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300">
                    <a:moveTo>
                      <a:pt x="0" y="257"/>
                    </a:moveTo>
                    <a:lnTo>
                      <a:pt x="257" y="0"/>
                    </a:lnTo>
                    <a:lnTo>
                      <a:pt x="257" y="44"/>
                    </a:lnTo>
                    <a:lnTo>
                      <a:pt x="0" y="300"/>
                    </a:lnTo>
                    <a:lnTo>
                      <a:pt x="0" y="257"/>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40" name="Freeform 2629"/>
              <p:cNvSpPr>
                <a:spLocks noChangeAspect="1"/>
              </p:cNvSpPr>
              <p:nvPr/>
            </p:nvSpPr>
            <p:spPr bwMode="auto">
              <a:xfrm>
                <a:off x="5348" y="2989"/>
                <a:ext cx="86" cy="100"/>
              </a:xfrm>
              <a:custGeom>
                <a:avLst/>
                <a:gdLst>
                  <a:gd name="T0" fmla="*/ 0 w 257"/>
                  <a:gd name="T1" fmla="*/ 0 h 300"/>
                  <a:gd name="T2" fmla="*/ 0 w 257"/>
                  <a:gd name="T3" fmla="*/ 0 h 300"/>
                  <a:gd name="T4" fmla="*/ 0 w 257"/>
                  <a:gd name="T5" fmla="*/ 0 h 300"/>
                  <a:gd name="T6" fmla="*/ 0 w 257"/>
                  <a:gd name="T7" fmla="*/ 0 h 300"/>
                  <a:gd name="T8" fmla="*/ 0 w 257"/>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300">
                    <a:moveTo>
                      <a:pt x="0" y="256"/>
                    </a:moveTo>
                    <a:lnTo>
                      <a:pt x="257" y="0"/>
                    </a:lnTo>
                    <a:lnTo>
                      <a:pt x="257" y="43"/>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41" name="Freeform 2630"/>
              <p:cNvSpPr>
                <a:spLocks noChangeAspect="1"/>
              </p:cNvSpPr>
              <p:nvPr/>
            </p:nvSpPr>
            <p:spPr bwMode="auto">
              <a:xfrm>
                <a:off x="5348" y="2996"/>
                <a:ext cx="86" cy="100"/>
              </a:xfrm>
              <a:custGeom>
                <a:avLst/>
                <a:gdLst>
                  <a:gd name="T0" fmla="*/ 0 w 257"/>
                  <a:gd name="T1" fmla="*/ 0 h 300"/>
                  <a:gd name="T2" fmla="*/ 0 w 257"/>
                  <a:gd name="T3" fmla="*/ 0 h 300"/>
                  <a:gd name="T4" fmla="*/ 0 w 257"/>
                  <a:gd name="T5" fmla="*/ 0 h 300"/>
                  <a:gd name="T6" fmla="*/ 0 w 257"/>
                  <a:gd name="T7" fmla="*/ 0 h 300"/>
                  <a:gd name="T8" fmla="*/ 0 w 257"/>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300">
                    <a:moveTo>
                      <a:pt x="0" y="256"/>
                    </a:moveTo>
                    <a:lnTo>
                      <a:pt x="257" y="0"/>
                    </a:lnTo>
                    <a:lnTo>
                      <a:pt x="257" y="44"/>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42" name="Freeform 2631"/>
              <p:cNvSpPr>
                <a:spLocks noChangeAspect="1"/>
              </p:cNvSpPr>
              <p:nvPr/>
            </p:nvSpPr>
            <p:spPr bwMode="auto">
              <a:xfrm>
                <a:off x="5348" y="3004"/>
                <a:ext cx="86" cy="100"/>
              </a:xfrm>
              <a:custGeom>
                <a:avLst/>
                <a:gdLst>
                  <a:gd name="T0" fmla="*/ 0 w 257"/>
                  <a:gd name="T1" fmla="*/ 0 h 300"/>
                  <a:gd name="T2" fmla="*/ 0 w 257"/>
                  <a:gd name="T3" fmla="*/ 0 h 300"/>
                  <a:gd name="T4" fmla="*/ 0 w 257"/>
                  <a:gd name="T5" fmla="*/ 0 h 300"/>
                  <a:gd name="T6" fmla="*/ 0 w 257"/>
                  <a:gd name="T7" fmla="*/ 0 h 300"/>
                  <a:gd name="T8" fmla="*/ 0 w 257"/>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300">
                    <a:moveTo>
                      <a:pt x="0" y="257"/>
                    </a:moveTo>
                    <a:lnTo>
                      <a:pt x="257" y="0"/>
                    </a:lnTo>
                    <a:lnTo>
                      <a:pt x="257" y="44"/>
                    </a:lnTo>
                    <a:lnTo>
                      <a:pt x="0" y="300"/>
                    </a:lnTo>
                    <a:lnTo>
                      <a:pt x="0" y="257"/>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43" name="Freeform 2632"/>
              <p:cNvSpPr>
                <a:spLocks noChangeAspect="1"/>
              </p:cNvSpPr>
              <p:nvPr/>
            </p:nvSpPr>
            <p:spPr bwMode="auto">
              <a:xfrm>
                <a:off x="5348" y="3011"/>
                <a:ext cx="86" cy="100"/>
              </a:xfrm>
              <a:custGeom>
                <a:avLst/>
                <a:gdLst>
                  <a:gd name="T0" fmla="*/ 0 w 257"/>
                  <a:gd name="T1" fmla="*/ 0 h 299"/>
                  <a:gd name="T2" fmla="*/ 0 w 257"/>
                  <a:gd name="T3" fmla="*/ 0 h 299"/>
                  <a:gd name="T4" fmla="*/ 0 w 257"/>
                  <a:gd name="T5" fmla="*/ 0 h 299"/>
                  <a:gd name="T6" fmla="*/ 0 w 257"/>
                  <a:gd name="T7" fmla="*/ 0 h 299"/>
                  <a:gd name="T8" fmla="*/ 0 w 257"/>
                  <a:gd name="T9" fmla="*/ 0 h 2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299">
                    <a:moveTo>
                      <a:pt x="0" y="256"/>
                    </a:moveTo>
                    <a:lnTo>
                      <a:pt x="257" y="0"/>
                    </a:lnTo>
                    <a:lnTo>
                      <a:pt x="257" y="43"/>
                    </a:lnTo>
                    <a:lnTo>
                      <a:pt x="0" y="299"/>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44" name="Freeform 2633"/>
              <p:cNvSpPr>
                <a:spLocks noChangeAspect="1"/>
              </p:cNvSpPr>
              <p:nvPr/>
            </p:nvSpPr>
            <p:spPr bwMode="auto">
              <a:xfrm>
                <a:off x="5348" y="3018"/>
                <a:ext cx="86" cy="100"/>
              </a:xfrm>
              <a:custGeom>
                <a:avLst/>
                <a:gdLst>
                  <a:gd name="T0" fmla="*/ 0 w 257"/>
                  <a:gd name="T1" fmla="*/ 0 h 300"/>
                  <a:gd name="T2" fmla="*/ 0 w 257"/>
                  <a:gd name="T3" fmla="*/ 0 h 300"/>
                  <a:gd name="T4" fmla="*/ 0 w 257"/>
                  <a:gd name="T5" fmla="*/ 0 h 300"/>
                  <a:gd name="T6" fmla="*/ 0 w 257"/>
                  <a:gd name="T7" fmla="*/ 0 h 300"/>
                  <a:gd name="T8" fmla="*/ 0 w 257"/>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300">
                    <a:moveTo>
                      <a:pt x="0" y="256"/>
                    </a:moveTo>
                    <a:lnTo>
                      <a:pt x="257" y="0"/>
                    </a:lnTo>
                    <a:lnTo>
                      <a:pt x="257" y="43"/>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45" name="Freeform 2634"/>
              <p:cNvSpPr>
                <a:spLocks noChangeAspect="1"/>
              </p:cNvSpPr>
              <p:nvPr/>
            </p:nvSpPr>
            <p:spPr bwMode="auto">
              <a:xfrm>
                <a:off x="5348" y="3025"/>
                <a:ext cx="86" cy="100"/>
              </a:xfrm>
              <a:custGeom>
                <a:avLst/>
                <a:gdLst>
                  <a:gd name="T0" fmla="*/ 0 w 257"/>
                  <a:gd name="T1" fmla="*/ 0 h 300"/>
                  <a:gd name="T2" fmla="*/ 0 w 257"/>
                  <a:gd name="T3" fmla="*/ 0 h 300"/>
                  <a:gd name="T4" fmla="*/ 0 w 257"/>
                  <a:gd name="T5" fmla="*/ 0 h 300"/>
                  <a:gd name="T6" fmla="*/ 0 w 257"/>
                  <a:gd name="T7" fmla="*/ 0 h 300"/>
                  <a:gd name="T8" fmla="*/ 0 w 257"/>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300">
                    <a:moveTo>
                      <a:pt x="0" y="256"/>
                    </a:moveTo>
                    <a:lnTo>
                      <a:pt x="257" y="0"/>
                    </a:lnTo>
                    <a:lnTo>
                      <a:pt x="257" y="44"/>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46" name="Freeform 2635"/>
              <p:cNvSpPr>
                <a:spLocks noChangeAspect="1"/>
              </p:cNvSpPr>
              <p:nvPr/>
            </p:nvSpPr>
            <p:spPr bwMode="auto">
              <a:xfrm>
                <a:off x="5348" y="3033"/>
                <a:ext cx="86" cy="100"/>
              </a:xfrm>
              <a:custGeom>
                <a:avLst/>
                <a:gdLst>
                  <a:gd name="T0" fmla="*/ 0 w 257"/>
                  <a:gd name="T1" fmla="*/ 0 h 300"/>
                  <a:gd name="T2" fmla="*/ 0 w 257"/>
                  <a:gd name="T3" fmla="*/ 0 h 300"/>
                  <a:gd name="T4" fmla="*/ 0 w 257"/>
                  <a:gd name="T5" fmla="*/ 0 h 300"/>
                  <a:gd name="T6" fmla="*/ 0 w 257"/>
                  <a:gd name="T7" fmla="*/ 0 h 300"/>
                  <a:gd name="T8" fmla="*/ 0 w 257"/>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300">
                    <a:moveTo>
                      <a:pt x="0" y="257"/>
                    </a:moveTo>
                    <a:lnTo>
                      <a:pt x="257" y="0"/>
                    </a:lnTo>
                    <a:lnTo>
                      <a:pt x="257" y="44"/>
                    </a:lnTo>
                    <a:lnTo>
                      <a:pt x="0" y="300"/>
                    </a:lnTo>
                    <a:lnTo>
                      <a:pt x="0" y="257"/>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47" name="Freeform 2636"/>
              <p:cNvSpPr>
                <a:spLocks noChangeAspect="1"/>
              </p:cNvSpPr>
              <p:nvPr/>
            </p:nvSpPr>
            <p:spPr bwMode="auto">
              <a:xfrm>
                <a:off x="5348" y="3040"/>
                <a:ext cx="86" cy="100"/>
              </a:xfrm>
              <a:custGeom>
                <a:avLst/>
                <a:gdLst>
                  <a:gd name="T0" fmla="*/ 0 w 257"/>
                  <a:gd name="T1" fmla="*/ 0 h 300"/>
                  <a:gd name="T2" fmla="*/ 0 w 257"/>
                  <a:gd name="T3" fmla="*/ 0 h 300"/>
                  <a:gd name="T4" fmla="*/ 0 w 257"/>
                  <a:gd name="T5" fmla="*/ 0 h 300"/>
                  <a:gd name="T6" fmla="*/ 0 w 257"/>
                  <a:gd name="T7" fmla="*/ 0 h 300"/>
                  <a:gd name="T8" fmla="*/ 0 w 257"/>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300">
                    <a:moveTo>
                      <a:pt x="0" y="256"/>
                    </a:moveTo>
                    <a:lnTo>
                      <a:pt x="257" y="0"/>
                    </a:lnTo>
                    <a:lnTo>
                      <a:pt x="257" y="43"/>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48" name="Freeform 2637"/>
              <p:cNvSpPr>
                <a:spLocks noChangeAspect="1"/>
              </p:cNvSpPr>
              <p:nvPr/>
            </p:nvSpPr>
            <p:spPr bwMode="auto">
              <a:xfrm>
                <a:off x="5348" y="3047"/>
                <a:ext cx="86" cy="100"/>
              </a:xfrm>
              <a:custGeom>
                <a:avLst/>
                <a:gdLst>
                  <a:gd name="T0" fmla="*/ 0 w 257"/>
                  <a:gd name="T1" fmla="*/ 0 h 300"/>
                  <a:gd name="T2" fmla="*/ 0 w 257"/>
                  <a:gd name="T3" fmla="*/ 0 h 300"/>
                  <a:gd name="T4" fmla="*/ 0 w 257"/>
                  <a:gd name="T5" fmla="*/ 0 h 300"/>
                  <a:gd name="T6" fmla="*/ 0 w 257"/>
                  <a:gd name="T7" fmla="*/ 0 h 300"/>
                  <a:gd name="T8" fmla="*/ 0 w 257"/>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300">
                    <a:moveTo>
                      <a:pt x="0" y="256"/>
                    </a:moveTo>
                    <a:lnTo>
                      <a:pt x="257" y="0"/>
                    </a:lnTo>
                    <a:lnTo>
                      <a:pt x="257" y="44"/>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49" name="Freeform 2638"/>
              <p:cNvSpPr>
                <a:spLocks noChangeAspect="1"/>
              </p:cNvSpPr>
              <p:nvPr/>
            </p:nvSpPr>
            <p:spPr bwMode="auto">
              <a:xfrm>
                <a:off x="5348" y="3054"/>
                <a:ext cx="86" cy="100"/>
              </a:xfrm>
              <a:custGeom>
                <a:avLst/>
                <a:gdLst>
                  <a:gd name="T0" fmla="*/ 0 w 257"/>
                  <a:gd name="T1" fmla="*/ 0 h 300"/>
                  <a:gd name="T2" fmla="*/ 0 w 257"/>
                  <a:gd name="T3" fmla="*/ 0 h 300"/>
                  <a:gd name="T4" fmla="*/ 0 w 257"/>
                  <a:gd name="T5" fmla="*/ 0 h 300"/>
                  <a:gd name="T6" fmla="*/ 0 w 257"/>
                  <a:gd name="T7" fmla="*/ 0 h 300"/>
                  <a:gd name="T8" fmla="*/ 0 w 257"/>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300">
                    <a:moveTo>
                      <a:pt x="0" y="257"/>
                    </a:moveTo>
                    <a:lnTo>
                      <a:pt x="257" y="0"/>
                    </a:lnTo>
                    <a:lnTo>
                      <a:pt x="257" y="44"/>
                    </a:lnTo>
                    <a:lnTo>
                      <a:pt x="0" y="300"/>
                    </a:lnTo>
                    <a:lnTo>
                      <a:pt x="0" y="257"/>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50" name="Freeform 2639"/>
              <p:cNvSpPr>
                <a:spLocks noChangeAspect="1"/>
              </p:cNvSpPr>
              <p:nvPr/>
            </p:nvSpPr>
            <p:spPr bwMode="auto">
              <a:xfrm>
                <a:off x="5348" y="3062"/>
                <a:ext cx="86" cy="100"/>
              </a:xfrm>
              <a:custGeom>
                <a:avLst/>
                <a:gdLst>
                  <a:gd name="T0" fmla="*/ 0 w 257"/>
                  <a:gd name="T1" fmla="*/ 0 h 299"/>
                  <a:gd name="T2" fmla="*/ 0 w 257"/>
                  <a:gd name="T3" fmla="*/ 0 h 299"/>
                  <a:gd name="T4" fmla="*/ 0 w 257"/>
                  <a:gd name="T5" fmla="*/ 0 h 299"/>
                  <a:gd name="T6" fmla="*/ 0 w 257"/>
                  <a:gd name="T7" fmla="*/ 0 h 299"/>
                  <a:gd name="T8" fmla="*/ 0 w 257"/>
                  <a:gd name="T9" fmla="*/ 0 h 2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299">
                    <a:moveTo>
                      <a:pt x="0" y="256"/>
                    </a:moveTo>
                    <a:lnTo>
                      <a:pt x="257" y="0"/>
                    </a:lnTo>
                    <a:lnTo>
                      <a:pt x="257" y="43"/>
                    </a:lnTo>
                    <a:lnTo>
                      <a:pt x="0" y="299"/>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51" name="Freeform 2640"/>
              <p:cNvSpPr>
                <a:spLocks noChangeAspect="1"/>
              </p:cNvSpPr>
              <p:nvPr/>
            </p:nvSpPr>
            <p:spPr bwMode="auto">
              <a:xfrm>
                <a:off x="5348" y="3069"/>
                <a:ext cx="86" cy="100"/>
              </a:xfrm>
              <a:custGeom>
                <a:avLst/>
                <a:gdLst>
                  <a:gd name="T0" fmla="*/ 0 w 257"/>
                  <a:gd name="T1" fmla="*/ 0 h 300"/>
                  <a:gd name="T2" fmla="*/ 0 w 257"/>
                  <a:gd name="T3" fmla="*/ 0 h 300"/>
                  <a:gd name="T4" fmla="*/ 0 w 257"/>
                  <a:gd name="T5" fmla="*/ 0 h 300"/>
                  <a:gd name="T6" fmla="*/ 0 w 257"/>
                  <a:gd name="T7" fmla="*/ 0 h 300"/>
                  <a:gd name="T8" fmla="*/ 0 w 257"/>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300">
                    <a:moveTo>
                      <a:pt x="0" y="256"/>
                    </a:moveTo>
                    <a:lnTo>
                      <a:pt x="257" y="0"/>
                    </a:lnTo>
                    <a:lnTo>
                      <a:pt x="257" y="44"/>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52" name="Freeform 2641"/>
              <p:cNvSpPr>
                <a:spLocks noChangeAspect="1"/>
              </p:cNvSpPr>
              <p:nvPr/>
            </p:nvSpPr>
            <p:spPr bwMode="auto">
              <a:xfrm>
                <a:off x="5348" y="3076"/>
                <a:ext cx="86" cy="100"/>
              </a:xfrm>
              <a:custGeom>
                <a:avLst/>
                <a:gdLst>
                  <a:gd name="T0" fmla="*/ 0 w 257"/>
                  <a:gd name="T1" fmla="*/ 0 h 300"/>
                  <a:gd name="T2" fmla="*/ 0 w 257"/>
                  <a:gd name="T3" fmla="*/ 0 h 300"/>
                  <a:gd name="T4" fmla="*/ 0 w 257"/>
                  <a:gd name="T5" fmla="*/ 0 h 300"/>
                  <a:gd name="T6" fmla="*/ 0 w 257"/>
                  <a:gd name="T7" fmla="*/ 0 h 300"/>
                  <a:gd name="T8" fmla="*/ 0 w 257"/>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300">
                    <a:moveTo>
                      <a:pt x="0" y="256"/>
                    </a:moveTo>
                    <a:lnTo>
                      <a:pt x="257" y="0"/>
                    </a:lnTo>
                    <a:lnTo>
                      <a:pt x="257" y="44"/>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53" name="Freeform 2642"/>
              <p:cNvSpPr>
                <a:spLocks noChangeAspect="1"/>
              </p:cNvSpPr>
              <p:nvPr/>
            </p:nvSpPr>
            <p:spPr bwMode="auto">
              <a:xfrm>
                <a:off x="5348" y="3084"/>
                <a:ext cx="86" cy="99"/>
              </a:xfrm>
              <a:custGeom>
                <a:avLst/>
                <a:gdLst>
                  <a:gd name="T0" fmla="*/ 0 w 257"/>
                  <a:gd name="T1" fmla="*/ 0 h 299"/>
                  <a:gd name="T2" fmla="*/ 0 w 257"/>
                  <a:gd name="T3" fmla="*/ 0 h 299"/>
                  <a:gd name="T4" fmla="*/ 0 w 257"/>
                  <a:gd name="T5" fmla="*/ 0 h 299"/>
                  <a:gd name="T6" fmla="*/ 0 w 257"/>
                  <a:gd name="T7" fmla="*/ 0 h 299"/>
                  <a:gd name="T8" fmla="*/ 0 w 257"/>
                  <a:gd name="T9" fmla="*/ 0 h 2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299">
                    <a:moveTo>
                      <a:pt x="0" y="256"/>
                    </a:moveTo>
                    <a:lnTo>
                      <a:pt x="257" y="0"/>
                    </a:lnTo>
                    <a:lnTo>
                      <a:pt x="257" y="43"/>
                    </a:lnTo>
                    <a:lnTo>
                      <a:pt x="0" y="299"/>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54" name="Freeform 2643"/>
              <p:cNvSpPr>
                <a:spLocks noChangeAspect="1"/>
              </p:cNvSpPr>
              <p:nvPr/>
            </p:nvSpPr>
            <p:spPr bwMode="auto">
              <a:xfrm>
                <a:off x="5348" y="3091"/>
                <a:ext cx="86" cy="100"/>
              </a:xfrm>
              <a:custGeom>
                <a:avLst/>
                <a:gdLst>
                  <a:gd name="T0" fmla="*/ 0 w 257"/>
                  <a:gd name="T1" fmla="*/ 0 h 300"/>
                  <a:gd name="T2" fmla="*/ 0 w 257"/>
                  <a:gd name="T3" fmla="*/ 0 h 300"/>
                  <a:gd name="T4" fmla="*/ 0 w 257"/>
                  <a:gd name="T5" fmla="*/ 0 h 300"/>
                  <a:gd name="T6" fmla="*/ 0 w 257"/>
                  <a:gd name="T7" fmla="*/ 0 h 300"/>
                  <a:gd name="T8" fmla="*/ 0 w 257"/>
                  <a:gd name="T9" fmla="*/ 0 h 3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300">
                    <a:moveTo>
                      <a:pt x="0" y="256"/>
                    </a:moveTo>
                    <a:lnTo>
                      <a:pt x="257" y="0"/>
                    </a:lnTo>
                    <a:lnTo>
                      <a:pt x="257" y="43"/>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55" name="Freeform 2644"/>
              <p:cNvSpPr>
                <a:spLocks noChangeAspect="1"/>
              </p:cNvSpPr>
              <p:nvPr/>
            </p:nvSpPr>
            <p:spPr bwMode="auto">
              <a:xfrm>
                <a:off x="5348" y="3098"/>
                <a:ext cx="86" cy="100"/>
              </a:xfrm>
              <a:custGeom>
                <a:avLst/>
                <a:gdLst>
                  <a:gd name="T0" fmla="*/ 0 w 257"/>
                  <a:gd name="T1" fmla="*/ 0 h 300"/>
                  <a:gd name="T2" fmla="*/ 0 w 257"/>
                  <a:gd name="T3" fmla="*/ 0 h 300"/>
                  <a:gd name="T4" fmla="*/ 0 w 257"/>
                  <a:gd name="T5" fmla="*/ 0 h 300"/>
                  <a:gd name="T6" fmla="*/ 0 w 257"/>
                  <a:gd name="T7" fmla="*/ 0 h 300"/>
                  <a:gd name="T8" fmla="*/ 0 w 257"/>
                  <a:gd name="T9" fmla="*/ 0 h 300"/>
                  <a:gd name="T10" fmla="*/ 0 w 257"/>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7" h="300">
                    <a:moveTo>
                      <a:pt x="0" y="256"/>
                    </a:moveTo>
                    <a:lnTo>
                      <a:pt x="257" y="0"/>
                    </a:lnTo>
                    <a:lnTo>
                      <a:pt x="257" y="37"/>
                    </a:lnTo>
                    <a:lnTo>
                      <a:pt x="223" y="78"/>
                    </a:lnTo>
                    <a:lnTo>
                      <a:pt x="0" y="300"/>
                    </a:lnTo>
                    <a:lnTo>
                      <a:pt x="0" y="256"/>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56" name="Freeform 2645"/>
              <p:cNvSpPr>
                <a:spLocks noChangeAspect="1"/>
              </p:cNvSpPr>
              <p:nvPr/>
            </p:nvSpPr>
            <p:spPr bwMode="auto">
              <a:xfrm>
                <a:off x="5348" y="3105"/>
                <a:ext cx="86" cy="100"/>
              </a:xfrm>
              <a:custGeom>
                <a:avLst/>
                <a:gdLst>
                  <a:gd name="T0" fmla="*/ 0 w 257"/>
                  <a:gd name="T1" fmla="*/ 0 h 300"/>
                  <a:gd name="T2" fmla="*/ 0 w 257"/>
                  <a:gd name="T3" fmla="*/ 0 h 300"/>
                  <a:gd name="T4" fmla="*/ 0 w 257"/>
                  <a:gd name="T5" fmla="*/ 0 h 300"/>
                  <a:gd name="T6" fmla="*/ 0 w 257"/>
                  <a:gd name="T7" fmla="*/ 0 h 300"/>
                  <a:gd name="T8" fmla="*/ 0 w 257"/>
                  <a:gd name="T9" fmla="*/ 0 h 300"/>
                  <a:gd name="T10" fmla="*/ 0 w 257"/>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7" h="300">
                    <a:moveTo>
                      <a:pt x="0" y="257"/>
                    </a:moveTo>
                    <a:lnTo>
                      <a:pt x="257" y="0"/>
                    </a:lnTo>
                    <a:lnTo>
                      <a:pt x="257" y="15"/>
                    </a:lnTo>
                    <a:lnTo>
                      <a:pt x="112" y="189"/>
                    </a:lnTo>
                    <a:lnTo>
                      <a:pt x="0" y="300"/>
                    </a:lnTo>
                    <a:lnTo>
                      <a:pt x="0" y="257"/>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57" name="Freeform 2646"/>
              <p:cNvSpPr>
                <a:spLocks noChangeAspect="1"/>
              </p:cNvSpPr>
              <p:nvPr/>
            </p:nvSpPr>
            <p:spPr bwMode="auto">
              <a:xfrm>
                <a:off x="5348" y="3124"/>
                <a:ext cx="75" cy="88"/>
              </a:xfrm>
              <a:custGeom>
                <a:avLst/>
                <a:gdLst>
                  <a:gd name="T0" fmla="*/ 0 w 223"/>
                  <a:gd name="T1" fmla="*/ 0 h 265"/>
                  <a:gd name="T2" fmla="*/ 0 w 223"/>
                  <a:gd name="T3" fmla="*/ 0 h 265"/>
                  <a:gd name="T4" fmla="*/ 0 w 223"/>
                  <a:gd name="T5" fmla="*/ 0 h 265"/>
                  <a:gd name="T6" fmla="*/ 0 w 223"/>
                  <a:gd name="T7" fmla="*/ 0 h 265"/>
                  <a:gd name="T8" fmla="*/ 0 w 223"/>
                  <a:gd name="T9" fmla="*/ 0 h 26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65">
                    <a:moveTo>
                      <a:pt x="0" y="222"/>
                    </a:moveTo>
                    <a:lnTo>
                      <a:pt x="223" y="0"/>
                    </a:lnTo>
                    <a:lnTo>
                      <a:pt x="0" y="265"/>
                    </a:lnTo>
                    <a:lnTo>
                      <a:pt x="0" y="222"/>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58" name="Freeform 2647"/>
              <p:cNvSpPr>
                <a:spLocks noChangeAspect="1"/>
              </p:cNvSpPr>
              <p:nvPr/>
            </p:nvSpPr>
            <p:spPr bwMode="auto">
              <a:xfrm>
                <a:off x="5348" y="3168"/>
                <a:ext cx="38" cy="44"/>
              </a:xfrm>
              <a:custGeom>
                <a:avLst/>
                <a:gdLst>
                  <a:gd name="T0" fmla="*/ 0 w 112"/>
                  <a:gd name="T1" fmla="*/ 0 h 132"/>
                  <a:gd name="T2" fmla="*/ 0 w 112"/>
                  <a:gd name="T3" fmla="*/ 0 h 132"/>
                  <a:gd name="T4" fmla="*/ 0 w 112"/>
                  <a:gd name="T5" fmla="*/ 0 h 132"/>
                  <a:gd name="T6" fmla="*/ 0 w 112"/>
                  <a:gd name="T7" fmla="*/ 0 h 13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2" h="132">
                    <a:moveTo>
                      <a:pt x="0" y="111"/>
                    </a:moveTo>
                    <a:lnTo>
                      <a:pt x="112" y="0"/>
                    </a:lnTo>
                    <a:lnTo>
                      <a:pt x="0" y="132"/>
                    </a:lnTo>
                    <a:lnTo>
                      <a:pt x="0" y="111"/>
                    </a:lnTo>
                    <a:close/>
                  </a:path>
                </a:pathLst>
              </a:custGeom>
              <a:gradFill rotWithShape="0">
                <a:gsLst>
                  <a:gs pos="0">
                    <a:srgbClr val="EAEAEA"/>
                  </a:gs>
                  <a:gs pos="100000">
                    <a:srgbClr val="9B9B9B"/>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59" name="Freeform 2648"/>
              <p:cNvSpPr>
                <a:spLocks noChangeAspect="1"/>
              </p:cNvSpPr>
              <p:nvPr/>
            </p:nvSpPr>
            <p:spPr bwMode="auto">
              <a:xfrm>
                <a:off x="5348" y="2938"/>
                <a:ext cx="86" cy="274"/>
              </a:xfrm>
              <a:custGeom>
                <a:avLst/>
                <a:gdLst>
                  <a:gd name="T0" fmla="*/ 0 w 257"/>
                  <a:gd name="T1" fmla="*/ 0 h 822"/>
                  <a:gd name="T2" fmla="*/ 0 w 257"/>
                  <a:gd name="T3" fmla="*/ 0 h 822"/>
                  <a:gd name="T4" fmla="*/ 0 w 257"/>
                  <a:gd name="T5" fmla="*/ 0 h 822"/>
                  <a:gd name="T6" fmla="*/ 0 w 257"/>
                  <a:gd name="T7" fmla="*/ 0 h 822"/>
                  <a:gd name="T8" fmla="*/ 0 w 257"/>
                  <a:gd name="T9" fmla="*/ 0 h 8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7" h="822">
                    <a:moveTo>
                      <a:pt x="0" y="274"/>
                    </a:moveTo>
                    <a:lnTo>
                      <a:pt x="257" y="0"/>
                    </a:lnTo>
                    <a:lnTo>
                      <a:pt x="257" y="516"/>
                    </a:lnTo>
                    <a:lnTo>
                      <a:pt x="0" y="822"/>
                    </a:lnTo>
                    <a:lnTo>
                      <a:pt x="0" y="274"/>
                    </a:lnTo>
                  </a:path>
                </a:pathLst>
              </a:custGeom>
              <a:gradFill rotWithShape="0">
                <a:gsLst>
                  <a:gs pos="0">
                    <a:srgbClr val="EAEAEA"/>
                  </a:gs>
                  <a:gs pos="100000">
                    <a:srgbClr val="9B9B9B"/>
                  </a:gs>
                </a:gsLst>
                <a:lin ang="0" scaled="1"/>
              </a:gradFill>
              <a:ln w="1588">
                <a:solidFill>
                  <a:srgbClr val="1F1A17"/>
                </a:solidFill>
                <a:prstDash val="solid"/>
                <a:round/>
                <a:headEnd/>
                <a:tailEnd/>
              </a:ln>
            </p:spPr>
            <p:txBody>
              <a:bodyPr/>
              <a:lstStyle/>
              <a:p>
                <a:endParaRPr lang="en-US"/>
              </a:p>
            </p:txBody>
          </p:sp>
        </p:grpSp>
        <p:sp>
          <p:nvSpPr>
            <p:cNvPr id="386179" name="Rectangle 2649"/>
            <p:cNvSpPr>
              <a:spLocks noChangeAspect="1" noChangeArrowheads="1"/>
            </p:cNvSpPr>
            <p:nvPr/>
          </p:nvSpPr>
          <p:spPr bwMode="auto">
            <a:xfrm>
              <a:off x="338" y="1168"/>
              <a:ext cx="532"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EUCALYPTUS</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180" name="Rectangle 2650"/>
            <p:cNvSpPr>
              <a:spLocks noChangeAspect="1" noChangeArrowheads="1"/>
            </p:cNvSpPr>
            <p:nvPr/>
          </p:nvSpPr>
          <p:spPr bwMode="auto">
            <a:xfrm>
              <a:off x="1007" y="1113"/>
              <a:ext cx="962" cy="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60000"/>
                </a:lnSpc>
                <a:spcBef>
                  <a:spcPct val="50000"/>
                </a:spcBef>
                <a:buFontTx/>
                <a:buNone/>
              </a:pPr>
              <a:r>
                <a:rPr lang="en-US" altLang="en-US" sz="120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rPr>
                <a:t> </a:t>
              </a: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DEBARKER,</a:t>
              </a:r>
            </a:p>
            <a:p>
              <a:pPr>
                <a:lnSpc>
                  <a:spcPct val="60000"/>
                </a:lnSpc>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CHIPPER &amp; SCREEN</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181" name="Rectangle 2651"/>
            <p:cNvSpPr>
              <a:spLocks noChangeAspect="1" noChangeArrowheads="1"/>
            </p:cNvSpPr>
            <p:nvPr/>
          </p:nvSpPr>
          <p:spPr bwMode="auto">
            <a:xfrm>
              <a:off x="2358" y="1743"/>
              <a:ext cx="394"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CHIP SILO</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182" name="Rectangle 2652"/>
            <p:cNvSpPr>
              <a:spLocks noChangeAspect="1" noChangeArrowheads="1"/>
            </p:cNvSpPr>
            <p:nvPr/>
          </p:nvSpPr>
          <p:spPr bwMode="auto">
            <a:xfrm>
              <a:off x="3062" y="1222"/>
              <a:ext cx="408"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DIGESTER</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183" name="Rectangle 2653"/>
            <p:cNvSpPr>
              <a:spLocks noChangeAspect="1" noChangeArrowheads="1"/>
            </p:cNvSpPr>
            <p:nvPr/>
          </p:nvSpPr>
          <p:spPr bwMode="auto">
            <a:xfrm>
              <a:off x="4984" y="1511"/>
              <a:ext cx="244"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900">
                  <a:latin typeface="Arial Unicode MS" panose="020B0604020202020204" pitchFamily="34" charset="-128"/>
                  <a:ea typeface="Arial Unicode MS" panose="020B0604020202020204" pitchFamily="34" charset="-128"/>
                  <a:cs typeface="Arial Unicode MS" panose="020B0604020202020204" pitchFamily="34" charset="-128"/>
                </a:rPr>
                <a:t>WASH</a:t>
              </a:r>
            </a:p>
            <a:p>
              <a:pPr>
                <a:spcBef>
                  <a:spcPct val="50000"/>
                </a:spcBef>
                <a:buFontTx/>
                <a:buNone/>
              </a:pPr>
              <a:r>
                <a:rPr lang="en-US" altLang="en-US" sz="900">
                  <a:latin typeface="Arial Unicode MS" panose="020B0604020202020204" pitchFamily="34" charset="-128"/>
                  <a:ea typeface="Arial Unicode MS" panose="020B0604020202020204" pitchFamily="34" charset="-128"/>
                  <a:cs typeface="Arial Unicode MS" panose="020B0604020202020204" pitchFamily="34" charset="-128"/>
                </a:rPr>
                <a:t>PRESS</a:t>
              </a:r>
              <a:endParaRPr lang="en-US" altLang="en-US" sz="14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184" name="Rectangle 2654"/>
            <p:cNvSpPr>
              <a:spLocks noChangeAspect="1" noChangeArrowheads="1"/>
            </p:cNvSpPr>
            <p:nvPr/>
          </p:nvSpPr>
          <p:spPr bwMode="auto">
            <a:xfrm>
              <a:off x="3944" y="1926"/>
              <a:ext cx="842"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O2  DELIGNIFICATION</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185" name="Rectangle 2655"/>
            <p:cNvSpPr>
              <a:spLocks noChangeAspect="1" noChangeArrowheads="1"/>
            </p:cNvSpPr>
            <p:nvPr/>
          </p:nvSpPr>
          <p:spPr bwMode="auto">
            <a:xfrm>
              <a:off x="338" y="2879"/>
              <a:ext cx="967"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UNBLEACHED STG TANK</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186" name="Rectangle 2656"/>
            <p:cNvSpPr>
              <a:spLocks noChangeAspect="1" noChangeArrowheads="1"/>
            </p:cNvSpPr>
            <p:nvPr/>
          </p:nvSpPr>
          <p:spPr bwMode="auto">
            <a:xfrm>
              <a:off x="1406" y="2884"/>
              <a:ext cx="740"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BLEACHING PLANT</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187" name="Rectangle 2657"/>
            <p:cNvSpPr>
              <a:spLocks noChangeAspect="1" noChangeArrowheads="1"/>
            </p:cNvSpPr>
            <p:nvPr/>
          </p:nvSpPr>
          <p:spPr bwMode="auto">
            <a:xfrm>
              <a:off x="2604" y="2830"/>
              <a:ext cx="408"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CLEANING</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188" name="Rectangle 2658"/>
            <p:cNvSpPr>
              <a:spLocks noChangeAspect="1" noChangeArrowheads="1"/>
            </p:cNvSpPr>
            <p:nvPr/>
          </p:nvSpPr>
          <p:spPr bwMode="auto">
            <a:xfrm>
              <a:off x="3631" y="2868"/>
              <a:ext cx="851"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BLEACHED STG TANK</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189" name="Rectangle 2659"/>
            <p:cNvSpPr>
              <a:spLocks noChangeAspect="1" noChangeArrowheads="1"/>
            </p:cNvSpPr>
            <p:nvPr/>
          </p:nvSpPr>
          <p:spPr bwMode="auto">
            <a:xfrm>
              <a:off x="4354" y="2614"/>
              <a:ext cx="599"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PULP MACHINE</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190" name="Rectangle 2660"/>
            <p:cNvSpPr>
              <a:spLocks noChangeAspect="1" noChangeArrowheads="1"/>
            </p:cNvSpPr>
            <p:nvPr/>
          </p:nvSpPr>
          <p:spPr bwMode="auto">
            <a:xfrm>
              <a:off x="570" y="3826"/>
              <a:ext cx="855"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EVAPORATION PLANT</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nvGrpSpPr>
            <p:cNvPr id="386191" name="Group 2661"/>
            <p:cNvGrpSpPr>
              <a:grpSpLocks noChangeAspect="1"/>
            </p:cNvGrpSpPr>
            <p:nvPr/>
          </p:nvGrpSpPr>
          <p:grpSpPr bwMode="auto">
            <a:xfrm>
              <a:off x="1291" y="3131"/>
              <a:ext cx="177" cy="338"/>
              <a:chOff x="1197" y="3205"/>
              <a:chExt cx="201" cy="384"/>
            </a:xfrm>
          </p:grpSpPr>
          <p:grpSp>
            <p:nvGrpSpPr>
              <p:cNvPr id="388608" name="Group 2662"/>
              <p:cNvGrpSpPr>
                <a:grpSpLocks noChangeAspect="1"/>
              </p:cNvGrpSpPr>
              <p:nvPr/>
            </p:nvGrpSpPr>
            <p:grpSpPr bwMode="auto">
              <a:xfrm>
                <a:off x="1197" y="3205"/>
                <a:ext cx="201" cy="356"/>
                <a:chOff x="1110" y="3162"/>
                <a:chExt cx="206" cy="370"/>
              </a:xfrm>
            </p:grpSpPr>
            <p:sp>
              <p:nvSpPr>
                <p:cNvPr id="67175" name="Rectangle 2663"/>
                <p:cNvSpPr>
                  <a:spLocks noChangeAspect="1" noChangeArrowheads="1"/>
                </p:cNvSpPr>
                <p:nvPr/>
              </p:nvSpPr>
              <p:spPr bwMode="auto">
                <a:xfrm>
                  <a:off x="1141"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76" name="Rectangle 2664"/>
                <p:cNvSpPr>
                  <a:spLocks noChangeAspect="1" noChangeArrowheads="1"/>
                </p:cNvSpPr>
                <p:nvPr/>
              </p:nvSpPr>
              <p:spPr bwMode="auto">
                <a:xfrm>
                  <a:off x="1145" y="3162"/>
                  <a:ext cx="5"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77" name="Rectangle 2665"/>
                <p:cNvSpPr>
                  <a:spLocks noChangeAspect="1" noChangeArrowheads="1"/>
                </p:cNvSpPr>
                <p:nvPr/>
              </p:nvSpPr>
              <p:spPr bwMode="auto">
                <a:xfrm>
                  <a:off x="1153"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78" name="Rectangle 2666"/>
                <p:cNvSpPr>
                  <a:spLocks noChangeAspect="1" noChangeArrowheads="1"/>
                </p:cNvSpPr>
                <p:nvPr/>
              </p:nvSpPr>
              <p:spPr bwMode="auto">
                <a:xfrm>
                  <a:off x="1157" y="3162"/>
                  <a:ext cx="7"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79" name="Rectangle 2667"/>
                <p:cNvSpPr>
                  <a:spLocks noChangeAspect="1" noChangeArrowheads="1"/>
                </p:cNvSpPr>
                <p:nvPr/>
              </p:nvSpPr>
              <p:spPr bwMode="auto">
                <a:xfrm>
                  <a:off x="1162"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80" name="Rectangle 2668"/>
                <p:cNvSpPr>
                  <a:spLocks noChangeAspect="1" noChangeArrowheads="1"/>
                </p:cNvSpPr>
                <p:nvPr/>
              </p:nvSpPr>
              <p:spPr bwMode="auto">
                <a:xfrm>
                  <a:off x="1165"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81" name="Rectangle 2669"/>
                <p:cNvSpPr>
                  <a:spLocks noChangeAspect="1" noChangeArrowheads="1"/>
                </p:cNvSpPr>
                <p:nvPr/>
              </p:nvSpPr>
              <p:spPr bwMode="auto">
                <a:xfrm>
                  <a:off x="1173"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82" name="Rectangle 2670"/>
                <p:cNvSpPr>
                  <a:spLocks noChangeAspect="1" noChangeArrowheads="1"/>
                </p:cNvSpPr>
                <p:nvPr/>
              </p:nvSpPr>
              <p:spPr bwMode="auto">
                <a:xfrm>
                  <a:off x="1176"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83" name="Rectangle 2671"/>
                <p:cNvSpPr>
                  <a:spLocks noChangeAspect="1" noChangeArrowheads="1"/>
                </p:cNvSpPr>
                <p:nvPr/>
              </p:nvSpPr>
              <p:spPr bwMode="auto">
                <a:xfrm>
                  <a:off x="1184"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84" name="Rectangle 2672"/>
                <p:cNvSpPr>
                  <a:spLocks noChangeAspect="1" noChangeArrowheads="1"/>
                </p:cNvSpPr>
                <p:nvPr/>
              </p:nvSpPr>
              <p:spPr bwMode="auto">
                <a:xfrm>
                  <a:off x="1188" y="3162"/>
                  <a:ext cx="5"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85" name="Rectangle 2673"/>
                <p:cNvSpPr>
                  <a:spLocks noChangeAspect="1" noChangeArrowheads="1"/>
                </p:cNvSpPr>
                <p:nvPr/>
              </p:nvSpPr>
              <p:spPr bwMode="auto">
                <a:xfrm>
                  <a:off x="1196"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86" name="Rectangle 2674"/>
                <p:cNvSpPr>
                  <a:spLocks noChangeAspect="1" noChangeArrowheads="1"/>
                </p:cNvSpPr>
                <p:nvPr/>
              </p:nvSpPr>
              <p:spPr bwMode="auto">
                <a:xfrm>
                  <a:off x="1198" y="3162"/>
                  <a:ext cx="7"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87" name="Rectangle 2675"/>
                <p:cNvSpPr>
                  <a:spLocks noChangeAspect="1" noChangeArrowheads="1"/>
                </p:cNvSpPr>
                <p:nvPr/>
              </p:nvSpPr>
              <p:spPr bwMode="auto">
                <a:xfrm>
                  <a:off x="1205"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88" name="Rectangle 2676"/>
                <p:cNvSpPr>
                  <a:spLocks noChangeAspect="1" noChangeArrowheads="1"/>
                </p:cNvSpPr>
                <p:nvPr/>
              </p:nvSpPr>
              <p:spPr bwMode="auto">
                <a:xfrm>
                  <a:off x="1208"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89" name="Rectangle 2677"/>
                <p:cNvSpPr>
                  <a:spLocks noChangeAspect="1" noChangeArrowheads="1"/>
                </p:cNvSpPr>
                <p:nvPr/>
              </p:nvSpPr>
              <p:spPr bwMode="auto">
                <a:xfrm>
                  <a:off x="1216"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90" name="Rectangle 2678"/>
                <p:cNvSpPr>
                  <a:spLocks noChangeAspect="1" noChangeArrowheads="1"/>
                </p:cNvSpPr>
                <p:nvPr/>
              </p:nvSpPr>
              <p:spPr bwMode="auto">
                <a:xfrm>
                  <a:off x="1219"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91" name="Rectangle 2679"/>
                <p:cNvSpPr>
                  <a:spLocks noChangeAspect="1" noChangeArrowheads="1"/>
                </p:cNvSpPr>
                <p:nvPr/>
              </p:nvSpPr>
              <p:spPr bwMode="auto">
                <a:xfrm>
                  <a:off x="1228" y="3162"/>
                  <a:ext cx="7"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92" name="Rectangle 2680"/>
                <p:cNvSpPr>
                  <a:spLocks noChangeAspect="1" noChangeArrowheads="1"/>
                </p:cNvSpPr>
                <p:nvPr/>
              </p:nvSpPr>
              <p:spPr bwMode="auto">
                <a:xfrm>
                  <a:off x="1230"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93" name="Rectangle 2681"/>
                <p:cNvSpPr>
                  <a:spLocks noChangeAspect="1" noChangeArrowheads="1"/>
                </p:cNvSpPr>
                <p:nvPr/>
              </p:nvSpPr>
              <p:spPr bwMode="auto">
                <a:xfrm>
                  <a:off x="1236"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94" name="Rectangle 2682"/>
                <p:cNvSpPr>
                  <a:spLocks noChangeAspect="1" noChangeArrowheads="1"/>
                </p:cNvSpPr>
                <p:nvPr/>
              </p:nvSpPr>
              <p:spPr bwMode="auto">
                <a:xfrm>
                  <a:off x="1239"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95" name="Rectangle 2683"/>
                <p:cNvSpPr>
                  <a:spLocks noChangeAspect="1" noChangeArrowheads="1"/>
                </p:cNvSpPr>
                <p:nvPr/>
              </p:nvSpPr>
              <p:spPr bwMode="auto">
                <a:xfrm>
                  <a:off x="1248"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96" name="Rectangle 2684"/>
                <p:cNvSpPr>
                  <a:spLocks noChangeAspect="1" noChangeArrowheads="1"/>
                </p:cNvSpPr>
                <p:nvPr/>
              </p:nvSpPr>
              <p:spPr bwMode="auto">
                <a:xfrm>
                  <a:off x="1251" y="3162"/>
                  <a:ext cx="5"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97" name="Rectangle 2685"/>
                <p:cNvSpPr>
                  <a:spLocks noChangeAspect="1" noChangeArrowheads="1"/>
                </p:cNvSpPr>
                <p:nvPr/>
              </p:nvSpPr>
              <p:spPr bwMode="auto">
                <a:xfrm>
                  <a:off x="1255" y="3162"/>
                  <a:ext cx="7"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98" name="Rectangle 2686"/>
                <p:cNvSpPr>
                  <a:spLocks noChangeAspect="1" noChangeArrowheads="1"/>
                </p:cNvSpPr>
                <p:nvPr/>
              </p:nvSpPr>
              <p:spPr bwMode="auto">
                <a:xfrm>
                  <a:off x="1259"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199" name="Rectangle 2687"/>
                <p:cNvSpPr>
                  <a:spLocks noChangeAspect="1" noChangeArrowheads="1"/>
                </p:cNvSpPr>
                <p:nvPr/>
              </p:nvSpPr>
              <p:spPr bwMode="auto">
                <a:xfrm>
                  <a:off x="1268"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200" name="Rectangle 2688"/>
                <p:cNvSpPr>
                  <a:spLocks noChangeAspect="1" noChangeArrowheads="1"/>
                </p:cNvSpPr>
                <p:nvPr/>
              </p:nvSpPr>
              <p:spPr bwMode="auto">
                <a:xfrm>
                  <a:off x="1271"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201" name="Rectangle 2689"/>
                <p:cNvSpPr>
                  <a:spLocks noChangeAspect="1" noChangeArrowheads="1"/>
                </p:cNvSpPr>
                <p:nvPr/>
              </p:nvSpPr>
              <p:spPr bwMode="auto">
                <a:xfrm>
                  <a:off x="1279" y="3162"/>
                  <a:ext cx="6"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202" name="Rectangle 2690"/>
                <p:cNvSpPr>
                  <a:spLocks noChangeAspect="1" noChangeArrowheads="1"/>
                </p:cNvSpPr>
                <p:nvPr/>
              </p:nvSpPr>
              <p:spPr bwMode="auto">
                <a:xfrm>
                  <a:off x="1282" y="3162"/>
                  <a:ext cx="2" cy="27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203" name="Rectangle 2691"/>
                <p:cNvSpPr>
                  <a:spLocks noChangeAspect="1" noChangeArrowheads="1"/>
                </p:cNvSpPr>
                <p:nvPr/>
              </p:nvSpPr>
              <p:spPr bwMode="auto">
                <a:xfrm>
                  <a:off x="1141" y="3162"/>
                  <a:ext cx="143" cy="272"/>
                </a:xfrm>
                <a:prstGeom prst="rect">
                  <a:avLst/>
                </a:prstGeom>
                <a:gradFill rotWithShape="0">
                  <a:gsLst>
                    <a:gs pos="0">
                      <a:schemeClr val="hlink"/>
                    </a:gs>
                    <a:gs pos="50000">
                      <a:schemeClr val="hlink">
                        <a:gamma/>
                        <a:tint val="40000"/>
                        <a:invGamma/>
                      </a:schemeClr>
                    </a:gs>
                    <a:gs pos="100000">
                      <a:schemeClr val="hlink"/>
                    </a:gs>
                  </a:gsLst>
                  <a:lin ang="0" scaled="1"/>
                </a:gradFill>
                <a:ln w="1588">
                  <a:solidFill>
                    <a:srgbClr val="1F1A17"/>
                  </a:solidFill>
                  <a:miter lim="800000"/>
                  <a:headEnd/>
                  <a:tailEnd/>
                </a:ln>
              </p:spPr>
              <p:txBody>
                <a:bodyPr/>
                <a:lstStyle/>
                <a:p>
                  <a:pPr>
                    <a:defRPr/>
                  </a:pPr>
                  <a:endParaRPr lang="en-US"/>
                </a:p>
              </p:txBody>
            </p:sp>
            <p:sp>
              <p:nvSpPr>
                <p:cNvPr id="67204" name="Freeform 2692"/>
                <p:cNvSpPr>
                  <a:spLocks noChangeAspect="1"/>
                </p:cNvSpPr>
                <p:nvPr/>
              </p:nvSpPr>
              <p:spPr bwMode="auto">
                <a:xfrm>
                  <a:off x="1117" y="3379"/>
                  <a:ext cx="24" cy="149"/>
                </a:xfrm>
                <a:custGeom>
                  <a:avLst/>
                  <a:gdLst>
                    <a:gd name="T0" fmla="*/ 73 w 73"/>
                    <a:gd name="T1" fmla="*/ 0 h 452"/>
                    <a:gd name="T2" fmla="*/ 0 w 73"/>
                    <a:gd name="T3" fmla="*/ 77 h 452"/>
                    <a:gd name="T4" fmla="*/ 0 w 73"/>
                    <a:gd name="T5" fmla="*/ 452 h 452"/>
                  </a:gdLst>
                  <a:ahLst/>
                  <a:cxnLst>
                    <a:cxn ang="0">
                      <a:pos x="T0" y="T1"/>
                    </a:cxn>
                    <a:cxn ang="0">
                      <a:pos x="T2" y="T3"/>
                    </a:cxn>
                    <a:cxn ang="0">
                      <a:pos x="T4" y="T5"/>
                    </a:cxn>
                  </a:cxnLst>
                  <a:rect l="0" t="0" r="r" b="b"/>
                  <a:pathLst>
                    <a:path w="73" h="452">
                      <a:moveTo>
                        <a:pt x="73" y="0"/>
                      </a:moveTo>
                      <a:lnTo>
                        <a:pt x="0" y="77"/>
                      </a:lnTo>
                      <a:lnTo>
                        <a:pt x="0" y="452"/>
                      </a:lnTo>
                    </a:path>
                  </a:pathLst>
                </a:custGeom>
                <a:gradFill rotWithShape="0">
                  <a:gsLst>
                    <a:gs pos="0">
                      <a:schemeClr val="hlink"/>
                    </a:gs>
                    <a:gs pos="50000">
                      <a:schemeClr val="hlink">
                        <a:gamma/>
                        <a:tint val="40000"/>
                        <a:invGamma/>
                      </a:schemeClr>
                    </a:gs>
                    <a:gs pos="100000">
                      <a:schemeClr val="hlink"/>
                    </a:gs>
                  </a:gsLst>
                  <a:lin ang="0" scaled="1"/>
                </a:gradFill>
                <a:ln w="1588">
                  <a:solidFill>
                    <a:srgbClr val="1F1A17"/>
                  </a:solidFill>
                  <a:prstDash val="solid"/>
                  <a:round/>
                  <a:headEnd/>
                  <a:tailEnd/>
                </a:ln>
              </p:spPr>
              <p:txBody>
                <a:bodyPr/>
                <a:lstStyle/>
                <a:p>
                  <a:pPr>
                    <a:defRPr/>
                  </a:pPr>
                  <a:endParaRPr lang="en-US"/>
                </a:p>
              </p:txBody>
            </p:sp>
            <p:sp>
              <p:nvSpPr>
                <p:cNvPr id="67205" name="Freeform 2693"/>
                <p:cNvSpPr>
                  <a:spLocks noChangeAspect="1"/>
                </p:cNvSpPr>
                <p:nvPr/>
              </p:nvSpPr>
              <p:spPr bwMode="auto">
                <a:xfrm>
                  <a:off x="1110" y="3377"/>
                  <a:ext cx="36" cy="34"/>
                </a:xfrm>
                <a:custGeom>
                  <a:avLst/>
                  <a:gdLst>
                    <a:gd name="T0" fmla="*/ 41 w 108"/>
                    <a:gd name="T1" fmla="*/ 91 h 105"/>
                    <a:gd name="T2" fmla="*/ 35 w 108"/>
                    <a:gd name="T3" fmla="*/ 105 h 105"/>
                    <a:gd name="T4" fmla="*/ 108 w 108"/>
                    <a:gd name="T5" fmla="*/ 28 h 105"/>
                    <a:gd name="T6" fmla="*/ 79 w 108"/>
                    <a:gd name="T7" fmla="*/ 0 h 105"/>
                    <a:gd name="T8" fmla="*/ 6 w 108"/>
                    <a:gd name="T9" fmla="*/ 77 h 105"/>
                    <a:gd name="T10" fmla="*/ 0 w 108"/>
                    <a:gd name="T11" fmla="*/ 91 h 105"/>
                    <a:gd name="T12" fmla="*/ 6 w 108"/>
                    <a:gd name="T13" fmla="*/ 77 h 105"/>
                    <a:gd name="T14" fmla="*/ 0 w 108"/>
                    <a:gd name="T15" fmla="*/ 83 h 105"/>
                    <a:gd name="T16" fmla="*/ 0 w 108"/>
                    <a:gd name="T17" fmla="*/ 91 h 105"/>
                    <a:gd name="T18" fmla="*/ 41 w 108"/>
                    <a:gd name="T19" fmla="*/ 9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5">
                      <a:moveTo>
                        <a:pt x="41" y="91"/>
                      </a:moveTo>
                      <a:lnTo>
                        <a:pt x="35" y="105"/>
                      </a:lnTo>
                      <a:lnTo>
                        <a:pt x="108" y="28"/>
                      </a:lnTo>
                      <a:lnTo>
                        <a:pt x="79" y="0"/>
                      </a:lnTo>
                      <a:lnTo>
                        <a:pt x="6" y="77"/>
                      </a:lnTo>
                      <a:lnTo>
                        <a:pt x="0" y="91"/>
                      </a:lnTo>
                      <a:lnTo>
                        <a:pt x="6" y="77"/>
                      </a:lnTo>
                      <a:lnTo>
                        <a:pt x="0" y="83"/>
                      </a:lnTo>
                      <a:lnTo>
                        <a:pt x="0" y="91"/>
                      </a:lnTo>
                      <a:lnTo>
                        <a:pt x="41" y="91"/>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7206" name="Freeform 2694"/>
                <p:cNvSpPr>
                  <a:spLocks noChangeAspect="1"/>
                </p:cNvSpPr>
                <p:nvPr/>
              </p:nvSpPr>
              <p:spPr bwMode="auto">
                <a:xfrm>
                  <a:off x="1110" y="3405"/>
                  <a:ext cx="14" cy="123"/>
                </a:xfrm>
                <a:custGeom>
                  <a:avLst/>
                  <a:gdLst>
                    <a:gd name="T0" fmla="*/ 21 w 41"/>
                    <a:gd name="T1" fmla="*/ 375 h 375"/>
                    <a:gd name="T2" fmla="*/ 41 w 41"/>
                    <a:gd name="T3" fmla="*/ 375 h 375"/>
                    <a:gd name="T4" fmla="*/ 41 w 41"/>
                    <a:gd name="T5" fmla="*/ 0 h 375"/>
                    <a:gd name="T6" fmla="*/ 0 w 41"/>
                    <a:gd name="T7" fmla="*/ 0 h 375"/>
                    <a:gd name="T8" fmla="*/ 0 w 41"/>
                    <a:gd name="T9" fmla="*/ 375 h 375"/>
                    <a:gd name="T10" fmla="*/ 21 w 41"/>
                    <a:gd name="T11" fmla="*/ 375 h 375"/>
                  </a:gdLst>
                  <a:ahLst/>
                  <a:cxnLst>
                    <a:cxn ang="0">
                      <a:pos x="T0" y="T1"/>
                    </a:cxn>
                    <a:cxn ang="0">
                      <a:pos x="T2" y="T3"/>
                    </a:cxn>
                    <a:cxn ang="0">
                      <a:pos x="T4" y="T5"/>
                    </a:cxn>
                    <a:cxn ang="0">
                      <a:pos x="T6" y="T7"/>
                    </a:cxn>
                    <a:cxn ang="0">
                      <a:pos x="T8" y="T9"/>
                    </a:cxn>
                    <a:cxn ang="0">
                      <a:pos x="T10" y="T11"/>
                    </a:cxn>
                  </a:cxnLst>
                  <a:rect l="0" t="0" r="r" b="b"/>
                  <a:pathLst>
                    <a:path w="41" h="375">
                      <a:moveTo>
                        <a:pt x="21" y="375"/>
                      </a:moveTo>
                      <a:lnTo>
                        <a:pt x="41" y="375"/>
                      </a:lnTo>
                      <a:lnTo>
                        <a:pt x="41" y="0"/>
                      </a:lnTo>
                      <a:lnTo>
                        <a:pt x="0" y="0"/>
                      </a:lnTo>
                      <a:lnTo>
                        <a:pt x="0" y="375"/>
                      </a:lnTo>
                      <a:lnTo>
                        <a:pt x="21" y="375"/>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7207" name="Freeform 2695"/>
                <p:cNvSpPr>
                  <a:spLocks noChangeAspect="1"/>
                </p:cNvSpPr>
                <p:nvPr/>
              </p:nvSpPr>
              <p:spPr bwMode="auto">
                <a:xfrm>
                  <a:off x="1279" y="3375"/>
                  <a:ext cx="37" cy="37"/>
                </a:xfrm>
                <a:custGeom>
                  <a:avLst/>
                  <a:gdLst>
                    <a:gd name="T0" fmla="*/ 110 w 110"/>
                    <a:gd name="T1" fmla="*/ 92 h 107"/>
                    <a:gd name="T2" fmla="*/ 103 w 110"/>
                    <a:gd name="T3" fmla="*/ 78 h 107"/>
                    <a:gd name="T4" fmla="*/ 30 w 110"/>
                    <a:gd name="T5" fmla="*/ 0 h 107"/>
                    <a:gd name="T6" fmla="*/ 0 w 110"/>
                    <a:gd name="T7" fmla="*/ 29 h 107"/>
                    <a:gd name="T8" fmla="*/ 74 w 110"/>
                    <a:gd name="T9" fmla="*/ 107 h 107"/>
                    <a:gd name="T10" fmla="*/ 68 w 110"/>
                    <a:gd name="T11" fmla="*/ 92 h 107"/>
                    <a:gd name="T12" fmla="*/ 110 w 110"/>
                    <a:gd name="T13" fmla="*/ 92 h 107"/>
                    <a:gd name="T14" fmla="*/ 110 w 110"/>
                    <a:gd name="T15" fmla="*/ 84 h 107"/>
                    <a:gd name="T16" fmla="*/ 103 w 110"/>
                    <a:gd name="T17" fmla="*/ 78 h 107"/>
                    <a:gd name="T18" fmla="*/ 110 w 110"/>
                    <a:gd name="T19" fmla="*/ 9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07">
                      <a:moveTo>
                        <a:pt x="110" y="92"/>
                      </a:moveTo>
                      <a:lnTo>
                        <a:pt x="103" y="78"/>
                      </a:lnTo>
                      <a:lnTo>
                        <a:pt x="30" y="0"/>
                      </a:lnTo>
                      <a:lnTo>
                        <a:pt x="0" y="29"/>
                      </a:lnTo>
                      <a:lnTo>
                        <a:pt x="74" y="107"/>
                      </a:lnTo>
                      <a:lnTo>
                        <a:pt x="68" y="92"/>
                      </a:lnTo>
                      <a:lnTo>
                        <a:pt x="110" y="92"/>
                      </a:lnTo>
                      <a:lnTo>
                        <a:pt x="110" y="84"/>
                      </a:lnTo>
                      <a:lnTo>
                        <a:pt x="103" y="78"/>
                      </a:lnTo>
                      <a:lnTo>
                        <a:pt x="110" y="92"/>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7208" name="Freeform 2696"/>
                <p:cNvSpPr>
                  <a:spLocks noChangeAspect="1"/>
                </p:cNvSpPr>
                <p:nvPr/>
              </p:nvSpPr>
              <p:spPr bwMode="auto">
                <a:xfrm>
                  <a:off x="1302" y="3405"/>
                  <a:ext cx="14" cy="123"/>
                </a:xfrm>
                <a:custGeom>
                  <a:avLst/>
                  <a:gdLst>
                    <a:gd name="T0" fmla="*/ 21 w 42"/>
                    <a:gd name="T1" fmla="*/ 375 h 375"/>
                    <a:gd name="T2" fmla="*/ 42 w 42"/>
                    <a:gd name="T3" fmla="*/ 375 h 375"/>
                    <a:gd name="T4" fmla="*/ 42 w 42"/>
                    <a:gd name="T5" fmla="*/ 0 h 375"/>
                    <a:gd name="T6" fmla="*/ 0 w 42"/>
                    <a:gd name="T7" fmla="*/ 0 h 375"/>
                    <a:gd name="T8" fmla="*/ 0 w 42"/>
                    <a:gd name="T9" fmla="*/ 375 h 375"/>
                    <a:gd name="T10" fmla="*/ 21 w 42"/>
                    <a:gd name="T11" fmla="*/ 375 h 375"/>
                  </a:gdLst>
                  <a:ahLst/>
                  <a:cxnLst>
                    <a:cxn ang="0">
                      <a:pos x="T0" y="T1"/>
                    </a:cxn>
                    <a:cxn ang="0">
                      <a:pos x="T2" y="T3"/>
                    </a:cxn>
                    <a:cxn ang="0">
                      <a:pos x="T4" y="T5"/>
                    </a:cxn>
                    <a:cxn ang="0">
                      <a:pos x="T6" y="T7"/>
                    </a:cxn>
                    <a:cxn ang="0">
                      <a:pos x="T8" y="T9"/>
                    </a:cxn>
                    <a:cxn ang="0">
                      <a:pos x="T10" y="T11"/>
                    </a:cxn>
                  </a:cxnLst>
                  <a:rect l="0" t="0" r="r" b="b"/>
                  <a:pathLst>
                    <a:path w="42" h="375">
                      <a:moveTo>
                        <a:pt x="21" y="375"/>
                      </a:moveTo>
                      <a:lnTo>
                        <a:pt x="42" y="375"/>
                      </a:lnTo>
                      <a:lnTo>
                        <a:pt x="42" y="0"/>
                      </a:lnTo>
                      <a:lnTo>
                        <a:pt x="0" y="0"/>
                      </a:lnTo>
                      <a:lnTo>
                        <a:pt x="0" y="375"/>
                      </a:lnTo>
                      <a:lnTo>
                        <a:pt x="21" y="375"/>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grpSp>
          <p:sp>
            <p:nvSpPr>
              <p:cNvPr id="67209" name="Freeform 2697"/>
              <p:cNvSpPr>
                <a:spLocks noChangeAspect="1"/>
              </p:cNvSpPr>
              <p:nvPr/>
            </p:nvSpPr>
            <p:spPr bwMode="auto">
              <a:xfrm>
                <a:off x="1295" y="3416"/>
                <a:ext cx="16" cy="173"/>
              </a:xfrm>
              <a:custGeom>
                <a:avLst/>
                <a:gdLst>
                  <a:gd name="T0" fmla="*/ 21 w 41"/>
                  <a:gd name="T1" fmla="*/ 539 h 539"/>
                  <a:gd name="T2" fmla="*/ 41 w 41"/>
                  <a:gd name="T3" fmla="*/ 539 h 539"/>
                  <a:gd name="T4" fmla="*/ 41 w 41"/>
                  <a:gd name="T5" fmla="*/ 0 h 539"/>
                  <a:gd name="T6" fmla="*/ 0 w 41"/>
                  <a:gd name="T7" fmla="*/ 0 h 539"/>
                  <a:gd name="T8" fmla="*/ 0 w 41"/>
                  <a:gd name="T9" fmla="*/ 539 h 539"/>
                  <a:gd name="T10" fmla="*/ 21 w 41"/>
                  <a:gd name="T11" fmla="*/ 539 h 539"/>
                </a:gdLst>
                <a:ahLst/>
                <a:cxnLst>
                  <a:cxn ang="0">
                    <a:pos x="T0" y="T1"/>
                  </a:cxn>
                  <a:cxn ang="0">
                    <a:pos x="T2" y="T3"/>
                  </a:cxn>
                  <a:cxn ang="0">
                    <a:pos x="T4" y="T5"/>
                  </a:cxn>
                  <a:cxn ang="0">
                    <a:pos x="T6" y="T7"/>
                  </a:cxn>
                  <a:cxn ang="0">
                    <a:pos x="T8" y="T9"/>
                  </a:cxn>
                  <a:cxn ang="0">
                    <a:pos x="T10" y="T11"/>
                  </a:cxn>
                </a:cxnLst>
                <a:rect l="0" t="0" r="r" b="b"/>
                <a:pathLst>
                  <a:path w="41" h="539">
                    <a:moveTo>
                      <a:pt x="21" y="539"/>
                    </a:moveTo>
                    <a:lnTo>
                      <a:pt x="41" y="539"/>
                    </a:lnTo>
                    <a:lnTo>
                      <a:pt x="41" y="0"/>
                    </a:lnTo>
                    <a:lnTo>
                      <a:pt x="0" y="0"/>
                    </a:lnTo>
                    <a:lnTo>
                      <a:pt x="0" y="539"/>
                    </a:lnTo>
                    <a:lnTo>
                      <a:pt x="21" y="539"/>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grpSp>
        <p:sp>
          <p:nvSpPr>
            <p:cNvPr id="386192" name="Rectangle 2698"/>
            <p:cNvSpPr>
              <a:spLocks noChangeAspect="1" noChangeArrowheads="1"/>
            </p:cNvSpPr>
            <p:nvPr/>
          </p:nvSpPr>
          <p:spPr bwMode="auto">
            <a:xfrm>
              <a:off x="1130" y="3440"/>
              <a:ext cx="551"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INCINERATOR</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193" name="Rectangle 2699"/>
            <p:cNvSpPr>
              <a:spLocks noChangeAspect="1" noChangeArrowheads="1"/>
            </p:cNvSpPr>
            <p:nvPr/>
          </p:nvSpPr>
          <p:spPr bwMode="auto">
            <a:xfrm>
              <a:off x="2520" y="3827"/>
              <a:ext cx="762"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RECOVERY BOILER</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194" name="Rectangle 2700"/>
            <p:cNvSpPr>
              <a:spLocks noChangeAspect="1" noChangeArrowheads="1"/>
            </p:cNvSpPr>
            <p:nvPr/>
          </p:nvSpPr>
          <p:spPr bwMode="auto">
            <a:xfrm>
              <a:off x="3733" y="3381"/>
              <a:ext cx="675"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RECAUSTICIZING</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195" name="Rectangle 2701"/>
            <p:cNvSpPr>
              <a:spLocks noChangeAspect="1" noChangeArrowheads="1"/>
            </p:cNvSpPr>
            <p:nvPr/>
          </p:nvSpPr>
          <p:spPr bwMode="auto">
            <a:xfrm>
              <a:off x="1588" y="3357"/>
              <a:ext cx="879"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TURBINE GENERATOR</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196" name="Rectangle 2702"/>
            <p:cNvSpPr>
              <a:spLocks noChangeAspect="1" noChangeArrowheads="1"/>
            </p:cNvSpPr>
            <p:nvPr/>
          </p:nvSpPr>
          <p:spPr bwMode="auto">
            <a:xfrm>
              <a:off x="4416" y="2978"/>
              <a:ext cx="433"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BALE PULP</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197" name="Rectangle 2703"/>
            <p:cNvSpPr>
              <a:spLocks noChangeAspect="1" noChangeArrowheads="1"/>
            </p:cNvSpPr>
            <p:nvPr/>
          </p:nvSpPr>
          <p:spPr bwMode="auto">
            <a:xfrm>
              <a:off x="5126" y="995"/>
              <a:ext cx="203"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80000"/>
                </a:lnSpc>
                <a:spcBef>
                  <a:spcPct val="50000"/>
                </a:spcBef>
                <a:buFontTx/>
                <a:buNone/>
              </a:pPr>
              <a:r>
                <a:rPr lang="en-US" altLang="en-US" sz="900">
                  <a:latin typeface="Arial Unicode MS" panose="020B0604020202020204" pitchFamily="34" charset="-128"/>
                  <a:ea typeface="Arial Unicode MS" panose="020B0604020202020204" pitchFamily="34" charset="-128"/>
                  <a:cs typeface="Arial Unicode MS" panose="020B0604020202020204" pitchFamily="34" charset="-128"/>
                </a:rPr>
                <a:t>Wash </a:t>
              </a:r>
            </a:p>
            <a:p>
              <a:pPr>
                <a:lnSpc>
                  <a:spcPct val="80000"/>
                </a:lnSpc>
                <a:spcBef>
                  <a:spcPct val="50000"/>
                </a:spcBef>
                <a:buFontTx/>
                <a:buNone/>
              </a:pPr>
              <a:r>
                <a:rPr lang="en-US" altLang="en-US" sz="900">
                  <a:latin typeface="Arial Unicode MS" panose="020B0604020202020204" pitchFamily="34" charset="-128"/>
                  <a:ea typeface="Arial Unicode MS" panose="020B0604020202020204" pitchFamily="34" charset="-128"/>
                  <a:cs typeface="Arial Unicode MS" panose="020B0604020202020204" pitchFamily="34" charset="-128"/>
                </a:rPr>
                <a:t>Water</a:t>
              </a:r>
              <a:endParaRPr lang="en-US" altLang="en-US" sz="14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198" name="Rectangle 2704"/>
            <p:cNvSpPr>
              <a:spLocks noChangeAspect="1" noChangeArrowheads="1"/>
            </p:cNvSpPr>
            <p:nvPr/>
          </p:nvSpPr>
          <p:spPr bwMode="auto">
            <a:xfrm>
              <a:off x="432" y="1707"/>
              <a:ext cx="93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BARK TO POWER BOILER</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199" name="Rectangle 2705"/>
            <p:cNvSpPr>
              <a:spLocks noChangeAspect="1" noChangeArrowheads="1"/>
            </p:cNvSpPr>
            <p:nvPr/>
          </p:nvSpPr>
          <p:spPr bwMode="auto">
            <a:xfrm>
              <a:off x="1978" y="1879"/>
              <a:ext cx="589"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BLACK LIQUOR</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200" name="Rectangle 2706"/>
            <p:cNvSpPr>
              <a:spLocks noChangeAspect="1" noChangeArrowheads="1"/>
            </p:cNvSpPr>
            <p:nvPr/>
          </p:nvSpPr>
          <p:spPr bwMode="auto">
            <a:xfrm>
              <a:off x="580" y="3032"/>
              <a:ext cx="808"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NON-CONDENSIBLE</a:t>
              </a:r>
              <a:r>
                <a:rPr lang="en-US" altLang="en-US" sz="1400">
                  <a:latin typeface="Arial Unicode MS" panose="020B0604020202020204" pitchFamily="34" charset="-128"/>
                  <a:ea typeface="Arial Unicode MS" panose="020B0604020202020204" pitchFamily="34" charset="-128"/>
                  <a:cs typeface="Arial Unicode MS" panose="020B0604020202020204" pitchFamily="34" charset="-128"/>
                </a:rPr>
                <a:t> </a:t>
              </a:r>
              <a:endParaRPr lang="en-US" altLang="en-US" sz="20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201" name="Rectangle 2707"/>
            <p:cNvSpPr>
              <a:spLocks noChangeAspect="1" noChangeArrowheads="1"/>
            </p:cNvSpPr>
            <p:nvPr/>
          </p:nvSpPr>
          <p:spPr bwMode="auto">
            <a:xfrm>
              <a:off x="4714" y="3740"/>
              <a:ext cx="41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70000"/>
                </a:lnSpc>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LIME MUD</a:t>
              </a:r>
            </a:p>
            <a:p>
              <a:pPr>
                <a:lnSpc>
                  <a:spcPct val="70000"/>
                </a:lnSpc>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LAND FILL </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202" name="Rectangle 2708"/>
            <p:cNvSpPr>
              <a:spLocks noChangeAspect="1" noChangeArrowheads="1"/>
            </p:cNvSpPr>
            <p:nvPr/>
          </p:nvSpPr>
          <p:spPr bwMode="auto">
            <a:xfrm>
              <a:off x="1978" y="1009"/>
              <a:ext cx="587"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WHITE LIQUOR</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203" name="Rectangle 2709"/>
            <p:cNvSpPr>
              <a:spLocks noChangeAspect="1" noChangeArrowheads="1"/>
            </p:cNvSpPr>
            <p:nvPr/>
          </p:nvSpPr>
          <p:spPr bwMode="auto">
            <a:xfrm>
              <a:off x="4604" y="3484"/>
              <a:ext cx="586"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WHITE LIQUOR</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204" name="Rectangle 2710"/>
            <p:cNvSpPr>
              <a:spLocks noChangeAspect="1" noChangeArrowheads="1"/>
            </p:cNvSpPr>
            <p:nvPr/>
          </p:nvSpPr>
          <p:spPr bwMode="auto">
            <a:xfrm>
              <a:off x="1428" y="2543"/>
              <a:ext cx="170"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200">
                  <a:cs typeface="Arial" panose="020B0604020202020204" pitchFamily="34" charset="0"/>
                </a:rPr>
                <a:t>Eop</a:t>
              </a:r>
            </a:p>
          </p:txBody>
        </p:sp>
        <p:sp>
          <p:nvSpPr>
            <p:cNvPr id="386205" name="Rectangle 2711"/>
            <p:cNvSpPr>
              <a:spLocks noChangeAspect="1" noChangeArrowheads="1"/>
            </p:cNvSpPr>
            <p:nvPr/>
          </p:nvSpPr>
          <p:spPr bwMode="auto">
            <a:xfrm>
              <a:off x="1808" y="2541"/>
              <a:ext cx="122"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200">
                  <a:cs typeface="Arial" panose="020B0604020202020204" pitchFamily="34" charset="0"/>
                </a:rPr>
                <a:t>H1</a:t>
              </a:r>
            </a:p>
          </p:txBody>
        </p:sp>
        <p:sp>
          <p:nvSpPr>
            <p:cNvPr id="386206" name="Rectangle 2712"/>
            <p:cNvSpPr>
              <a:spLocks noChangeAspect="1" noChangeArrowheads="1"/>
            </p:cNvSpPr>
            <p:nvPr/>
          </p:nvSpPr>
          <p:spPr bwMode="auto">
            <a:xfrm>
              <a:off x="2123" y="2536"/>
              <a:ext cx="122"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200">
                  <a:cs typeface="Arial" panose="020B0604020202020204" pitchFamily="34" charset="0"/>
                </a:rPr>
                <a:t>H2</a:t>
              </a:r>
            </a:p>
          </p:txBody>
        </p:sp>
        <p:grpSp>
          <p:nvGrpSpPr>
            <p:cNvPr id="386207" name="Group 2713"/>
            <p:cNvGrpSpPr>
              <a:grpSpLocks noChangeAspect="1"/>
            </p:cNvGrpSpPr>
            <p:nvPr/>
          </p:nvGrpSpPr>
          <p:grpSpPr bwMode="auto">
            <a:xfrm>
              <a:off x="961" y="1306"/>
              <a:ext cx="521" cy="189"/>
              <a:chOff x="991" y="698"/>
              <a:chExt cx="605" cy="224"/>
            </a:xfrm>
          </p:grpSpPr>
          <p:grpSp>
            <p:nvGrpSpPr>
              <p:cNvPr id="388248" name="Group 2714"/>
              <p:cNvGrpSpPr>
                <a:grpSpLocks noChangeAspect="1"/>
              </p:cNvGrpSpPr>
              <p:nvPr/>
            </p:nvGrpSpPr>
            <p:grpSpPr bwMode="auto">
              <a:xfrm>
                <a:off x="1066" y="698"/>
                <a:ext cx="397" cy="196"/>
                <a:chOff x="1066" y="698"/>
                <a:chExt cx="397" cy="196"/>
              </a:xfrm>
            </p:grpSpPr>
            <p:sp>
              <p:nvSpPr>
                <p:cNvPr id="388408" name="Rectangle 2715"/>
                <p:cNvSpPr>
                  <a:spLocks noChangeAspect="1" noChangeArrowheads="1"/>
                </p:cNvSpPr>
                <p:nvPr/>
              </p:nvSpPr>
              <p:spPr bwMode="auto">
                <a:xfrm>
                  <a:off x="1066" y="872"/>
                  <a:ext cx="81" cy="3"/>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09" name="Rectangle 2716"/>
                <p:cNvSpPr>
                  <a:spLocks noChangeAspect="1" noChangeArrowheads="1"/>
                </p:cNvSpPr>
                <p:nvPr/>
              </p:nvSpPr>
              <p:spPr bwMode="auto">
                <a:xfrm>
                  <a:off x="1066" y="869"/>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10" name="Rectangle 2717"/>
                <p:cNvSpPr>
                  <a:spLocks noChangeAspect="1" noChangeArrowheads="1"/>
                </p:cNvSpPr>
                <p:nvPr/>
              </p:nvSpPr>
              <p:spPr bwMode="auto">
                <a:xfrm>
                  <a:off x="1066" y="865"/>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11" name="Rectangle 2718"/>
                <p:cNvSpPr>
                  <a:spLocks noChangeAspect="1" noChangeArrowheads="1"/>
                </p:cNvSpPr>
                <p:nvPr/>
              </p:nvSpPr>
              <p:spPr bwMode="auto">
                <a:xfrm>
                  <a:off x="1066" y="862"/>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12" name="Rectangle 2719"/>
                <p:cNvSpPr>
                  <a:spLocks noChangeAspect="1" noChangeArrowheads="1"/>
                </p:cNvSpPr>
                <p:nvPr/>
              </p:nvSpPr>
              <p:spPr bwMode="auto">
                <a:xfrm>
                  <a:off x="1066" y="859"/>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13" name="Rectangle 2720"/>
                <p:cNvSpPr>
                  <a:spLocks noChangeAspect="1" noChangeArrowheads="1"/>
                </p:cNvSpPr>
                <p:nvPr/>
              </p:nvSpPr>
              <p:spPr bwMode="auto">
                <a:xfrm>
                  <a:off x="1066" y="855"/>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14" name="Rectangle 2721"/>
                <p:cNvSpPr>
                  <a:spLocks noChangeAspect="1" noChangeArrowheads="1"/>
                </p:cNvSpPr>
                <p:nvPr/>
              </p:nvSpPr>
              <p:spPr bwMode="auto">
                <a:xfrm>
                  <a:off x="1066" y="852"/>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15" name="Rectangle 2722"/>
                <p:cNvSpPr>
                  <a:spLocks noChangeAspect="1" noChangeArrowheads="1"/>
                </p:cNvSpPr>
                <p:nvPr/>
              </p:nvSpPr>
              <p:spPr bwMode="auto">
                <a:xfrm>
                  <a:off x="1066" y="849"/>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16" name="Rectangle 2723"/>
                <p:cNvSpPr>
                  <a:spLocks noChangeAspect="1" noChangeArrowheads="1"/>
                </p:cNvSpPr>
                <p:nvPr/>
              </p:nvSpPr>
              <p:spPr bwMode="auto">
                <a:xfrm>
                  <a:off x="1066" y="846"/>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17" name="Rectangle 2724"/>
                <p:cNvSpPr>
                  <a:spLocks noChangeAspect="1" noChangeArrowheads="1"/>
                </p:cNvSpPr>
                <p:nvPr/>
              </p:nvSpPr>
              <p:spPr bwMode="auto">
                <a:xfrm>
                  <a:off x="1066" y="842"/>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18" name="Rectangle 2725"/>
                <p:cNvSpPr>
                  <a:spLocks noChangeAspect="1" noChangeArrowheads="1"/>
                </p:cNvSpPr>
                <p:nvPr/>
              </p:nvSpPr>
              <p:spPr bwMode="auto">
                <a:xfrm>
                  <a:off x="1066" y="839"/>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19" name="Rectangle 2726"/>
                <p:cNvSpPr>
                  <a:spLocks noChangeAspect="1" noChangeArrowheads="1"/>
                </p:cNvSpPr>
                <p:nvPr/>
              </p:nvSpPr>
              <p:spPr bwMode="auto">
                <a:xfrm>
                  <a:off x="1066" y="836"/>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20" name="Rectangle 2727"/>
                <p:cNvSpPr>
                  <a:spLocks noChangeAspect="1" noChangeArrowheads="1"/>
                </p:cNvSpPr>
                <p:nvPr/>
              </p:nvSpPr>
              <p:spPr bwMode="auto">
                <a:xfrm>
                  <a:off x="1066" y="833"/>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21" name="Rectangle 2728"/>
                <p:cNvSpPr>
                  <a:spLocks noChangeAspect="1" noChangeArrowheads="1"/>
                </p:cNvSpPr>
                <p:nvPr/>
              </p:nvSpPr>
              <p:spPr bwMode="auto">
                <a:xfrm>
                  <a:off x="1066" y="830"/>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22" name="Rectangle 2729"/>
                <p:cNvSpPr>
                  <a:spLocks noChangeAspect="1" noChangeArrowheads="1"/>
                </p:cNvSpPr>
                <p:nvPr/>
              </p:nvSpPr>
              <p:spPr bwMode="auto">
                <a:xfrm>
                  <a:off x="1066" y="826"/>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23" name="Rectangle 2730"/>
                <p:cNvSpPr>
                  <a:spLocks noChangeAspect="1" noChangeArrowheads="1"/>
                </p:cNvSpPr>
                <p:nvPr/>
              </p:nvSpPr>
              <p:spPr bwMode="auto">
                <a:xfrm>
                  <a:off x="1066" y="823"/>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24" name="Rectangle 2731"/>
                <p:cNvSpPr>
                  <a:spLocks noChangeAspect="1" noChangeArrowheads="1"/>
                </p:cNvSpPr>
                <p:nvPr/>
              </p:nvSpPr>
              <p:spPr bwMode="auto">
                <a:xfrm>
                  <a:off x="1066" y="820"/>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25" name="Rectangle 2732"/>
                <p:cNvSpPr>
                  <a:spLocks noChangeAspect="1" noChangeArrowheads="1"/>
                </p:cNvSpPr>
                <p:nvPr/>
              </p:nvSpPr>
              <p:spPr bwMode="auto">
                <a:xfrm>
                  <a:off x="1066" y="817"/>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26" name="Rectangle 2733"/>
                <p:cNvSpPr>
                  <a:spLocks noChangeAspect="1" noChangeArrowheads="1"/>
                </p:cNvSpPr>
                <p:nvPr/>
              </p:nvSpPr>
              <p:spPr bwMode="auto">
                <a:xfrm>
                  <a:off x="1066" y="813"/>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27" name="Rectangle 2734"/>
                <p:cNvSpPr>
                  <a:spLocks noChangeAspect="1" noChangeArrowheads="1"/>
                </p:cNvSpPr>
                <p:nvPr/>
              </p:nvSpPr>
              <p:spPr bwMode="auto">
                <a:xfrm>
                  <a:off x="1066" y="810"/>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28" name="Rectangle 2735"/>
                <p:cNvSpPr>
                  <a:spLocks noChangeAspect="1" noChangeArrowheads="1"/>
                </p:cNvSpPr>
                <p:nvPr/>
              </p:nvSpPr>
              <p:spPr bwMode="auto">
                <a:xfrm>
                  <a:off x="1066" y="807"/>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29" name="Rectangle 2736"/>
                <p:cNvSpPr>
                  <a:spLocks noChangeAspect="1" noChangeArrowheads="1"/>
                </p:cNvSpPr>
                <p:nvPr/>
              </p:nvSpPr>
              <p:spPr bwMode="auto">
                <a:xfrm>
                  <a:off x="1066" y="803"/>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30" name="Rectangle 2737"/>
                <p:cNvSpPr>
                  <a:spLocks noChangeAspect="1" noChangeArrowheads="1"/>
                </p:cNvSpPr>
                <p:nvPr/>
              </p:nvSpPr>
              <p:spPr bwMode="auto">
                <a:xfrm>
                  <a:off x="1066" y="800"/>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31" name="Rectangle 2738"/>
                <p:cNvSpPr>
                  <a:spLocks noChangeAspect="1" noChangeArrowheads="1"/>
                </p:cNvSpPr>
                <p:nvPr/>
              </p:nvSpPr>
              <p:spPr bwMode="auto">
                <a:xfrm>
                  <a:off x="1066" y="797"/>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32" name="Rectangle 2739"/>
                <p:cNvSpPr>
                  <a:spLocks noChangeAspect="1" noChangeArrowheads="1"/>
                </p:cNvSpPr>
                <p:nvPr/>
              </p:nvSpPr>
              <p:spPr bwMode="auto">
                <a:xfrm>
                  <a:off x="1066" y="794"/>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33" name="Rectangle 2740"/>
                <p:cNvSpPr>
                  <a:spLocks noChangeAspect="1" noChangeArrowheads="1"/>
                </p:cNvSpPr>
                <p:nvPr/>
              </p:nvSpPr>
              <p:spPr bwMode="auto">
                <a:xfrm>
                  <a:off x="1066" y="791"/>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34" name="Rectangle 2741"/>
                <p:cNvSpPr>
                  <a:spLocks noChangeAspect="1" noChangeArrowheads="1"/>
                </p:cNvSpPr>
                <p:nvPr/>
              </p:nvSpPr>
              <p:spPr bwMode="auto">
                <a:xfrm>
                  <a:off x="1066" y="787"/>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35" name="Rectangle 2742"/>
                <p:cNvSpPr>
                  <a:spLocks noChangeAspect="1" noChangeArrowheads="1"/>
                </p:cNvSpPr>
                <p:nvPr/>
              </p:nvSpPr>
              <p:spPr bwMode="auto">
                <a:xfrm>
                  <a:off x="1066" y="784"/>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36" name="Rectangle 2743"/>
                <p:cNvSpPr>
                  <a:spLocks noChangeAspect="1" noChangeArrowheads="1"/>
                </p:cNvSpPr>
                <p:nvPr/>
              </p:nvSpPr>
              <p:spPr bwMode="auto">
                <a:xfrm>
                  <a:off x="1066" y="781"/>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37" name="Rectangle 2744"/>
                <p:cNvSpPr>
                  <a:spLocks noChangeAspect="1" noChangeArrowheads="1"/>
                </p:cNvSpPr>
                <p:nvPr/>
              </p:nvSpPr>
              <p:spPr bwMode="auto">
                <a:xfrm>
                  <a:off x="1066" y="778"/>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38" name="Rectangle 2745"/>
                <p:cNvSpPr>
                  <a:spLocks noChangeAspect="1" noChangeArrowheads="1"/>
                </p:cNvSpPr>
                <p:nvPr/>
              </p:nvSpPr>
              <p:spPr bwMode="auto">
                <a:xfrm>
                  <a:off x="1066" y="774"/>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39" name="Rectangle 2746"/>
                <p:cNvSpPr>
                  <a:spLocks noChangeAspect="1" noChangeArrowheads="1"/>
                </p:cNvSpPr>
                <p:nvPr/>
              </p:nvSpPr>
              <p:spPr bwMode="auto">
                <a:xfrm>
                  <a:off x="1066" y="771"/>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40" name="Rectangle 2747"/>
                <p:cNvSpPr>
                  <a:spLocks noChangeAspect="1" noChangeArrowheads="1"/>
                </p:cNvSpPr>
                <p:nvPr/>
              </p:nvSpPr>
              <p:spPr bwMode="auto">
                <a:xfrm>
                  <a:off x="1066" y="768"/>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41" name="Rectangle 2748"/>
                <p:cNvSpPr>
                  <a:spLocks noChangeAspect="1" noChangeArrowheads="1"/>
                </p:cNvSpPr>
                <p:nvPr/>
              </p:nvSpPr>
              <p:spPr bwMode="auto">
                <a:xfrm>
                  <a:off x="1066" y="765"/>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42" name="Rectangle 2749"/>
                <p:cNvSpPr>
                  <a:spLocks noChangeAspect="1" noChangeArrowheads="1"/>
                </p:cNvSpPr>
                <p:nvPr/>
              </p:nvSpPr>
              <p:spPr bwMode="auto">
                <a:xfrm>
                  <a:off x="1066" y="761"/>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43" name="Rectangle 2750"/>
                <p:cNvSpPr>
                  <a:spLocks noChangeAspect="1" noChangeArrowheads="1"/>
                </p:cNvSpPr>
                <p:nvPr/>
              </p:nvSpPr>
              <p:spPr bwMode="auto">
                <a:xfrm>
                  <a:off x="1066" y="758"/>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44" name="Rectangle 2751"/>
                <p:cNvSpPr>
                  <a:spLocks noChangeAspect="1" noChangeArrowheads="1"/>
                </p:cNvSpPr>
                <p:nvPr/>
              </p:nvSpPr>
              <p:spPr bwMode="auto">
                <a:xfrm>
                  <a:off x="1066" y="755"/>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45" name="Rectangle 2752"/>
                <p:cNvSpPr>
                  <a:spLocks noChangeAspect="1" noChangeArrowheads="1"/>
                </p:cNvSpPr>
                <p:nvPr/>
              </p:nvSpPr>
              <p:spPr bwMode="auto">
                <a:xfrm>
                  <a:off x="1066" y="752"/>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46" name="Rectangle 2753"/>
                <p:cNvSpPr>
                  <a:spLocks noChangeAspect="1" noChangeArrowheads="1"/>
                </p:cNvSpPr>
                <p:nvPr/>
              </p:nvSpPr>
              <p:spPr bwMode="auto">
                <a:xfrm>
                  <a:off x="1066" y="748"/>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47" name="Rectangle 2754"/>
                <p:cNvSpPr>
                  <a:spLocks noChangeAspect="1" noChangeArrowheads="1"/>
                </p:cNvSpPr>
                <p:nvPr/>
              </p:nvSpPr>
              <p:spPr bwMode="auto">
                <a:xfrm>
                  <a:off x="1066" y="745"/>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48" name="Rectangle 2755"/>
                <p:cNvSpPr>
                  <a:spLocks noChangeAspect="1" noChangeArrowheads="1"/>
                </p:cNvSpPr>
                <p:nvPr/>
              </p:nvSpPr>
              <p:spPr bwMode="auto">
                <a:xfrm>
                  <a:off x="1066" y="742"/>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49" name="Rectangle 2756"/>
                <p:cNvSpPr>
                  <a:spLocks noChangeAspect="1" noChangeArrowheads="1"/>
                </p:cNvSpPr>
                <p:nvPr/>
              </p:nvSpPr>
              <p:spPr bwMode="auto">
                <a:xfrm>
                  <a:off x="1066" y="739"/>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50" name="Rectangle 2757"/>
                <p:cNvSpPr>
                  <a:spLocks noChangeAspect="1" noChangeArrowheads="1"/>
                </p:cNvSpPr>
                <p:nvPr/>
              </p:nvSpPr>
              <p:spPr bwMode="auto">
                <a:xfrm>
                  <a:off x="1066" y="735"/>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51" name="Rectangle 2758"/>
                <p:cNvSpPr>
                  <a:spLocks noChangeAspect="1" noChangeArrowheads="1"/>
                </p:cNvSpPr>
                <p:nvPr/>
              </p:nvSpPr>
              <p:spPr bwMode="auto">
                <a:xfrm>
                  <a:off x="1066" y="732"/>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52" name="Rectangle 2759"/>
                <p:cNvSpPr>
                  <a:spLocks noChangeAspect="1" noChangeArrowheads="1"/>
                </p:cNvSpPr>
                <p:nvPr/>
              </p:nvSpPr>
              <p:spPr bwMode="auto">
                <a:xfrm>
                  <a:off x="1066" y="729"/>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53" name="Rectangle 2760"/>
                <p:cNvSpPr>
                  <a:spLocks noChangeAspect="1" noChangeArrowheads="1"/>
                </p:cNvSpPr>
                <p:nvPr/>
              </p:nvSpPr>
              <p:spPr bwMode="auto">
                <a:xfrm>
                  <a:off x="1066" y="726"/>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54" name="Rectangle 2761"/>
                <p:cNvSpPr>
                  <a:spLocks noChangeAspect="1" noChangeArrowheads="1"/>
                </p:cNvSpPr>
                <p:nvPr/>
              </p:nvSpPr>
              <p:spPr bwMode="auto">
                <a:xfrm>
                  <a:off x="1066" y="722"/>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55" name="Rectangle 2762"/>
                <p:cNvSpPr>
                  <a:spLocks noChangeAspect="1" noChangeArrowheads="1"/>
                </p:cNvSpPr>
                <p:nvPr/>
              </p:nvSpPr>
              <p:spPr bwMode="auto">
                <a:xfrm>
                  <a:off x="1066" y="719"/>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56" name="Rectangle 2763"/>
                <p:cNvSpPr>
                  <a:spLocks noChangeAspect="1" noChangeArrowheads="1"/>
                </p:cNvSpPr>
                <p:nvPr/>
              </p:nvSpPr>
              <p:spPr bwMode="auto">
                <a:xfrm>
                  <a:off x="1066" y="716"/>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57" name="Rectangle 2764"/>
                <p:cNvSpPr>
                  <a:spLocks noChangeAspect="1" noChangeArrowheads="1"/>
                </p:cNvSpPr>
                <p:nvPr/>
              </p:nvSpPr>
              <p:spPr bwMode="auto">
                <a:xfrm>
                  <a:off x="1066" y="713"/>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58" name="Rectangle 2765"/>
                <p:cNvSpPr>
                  <a:spLocks noChangeAspect="1" noChangeArrowheads="1"/>
                </p:cNvSpPr>
                <p:nvPr/>
              </p:nvSpPr>
              <p:spPr bwMode="auto">
                <a:xfrm>
                  <a:off x="1066" y="713"/>
                  <a:ext cx="81" cy="3"/>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59" name="Rectangle 2766"/>
                <p:cNvSpPr>
                  <a:spLocks noChangeAspect="1" noChangeArrowheads="1"/>
                </p:cNvSpPr>
                <p:nvPr/>
              </p:nvSpPr>
              <p:spPr bwMode="auto">
                <a:xfrm>
                  <a:off x="1066" y="713"/>
                  <a:ext cx="81" cy="162"/>
                </a:xfrm>
                <a:prstGeom prst="rect">
                  <a:avLst/>
                </a:prstGeom>
                <a:gradFill rotWithShape="0">
                  <a:gsLst>
                    <a:gs pos="0">
                      <a:srgbClr val="339966"/>
                    </a:gs>
                    <a:gs pos="50000">
                      <a:srgbClr val="96CBB0"/>
                    </a:gs>
                    <a:gs pos="100000">
                      <a:srgbClr val="339966"/>
                    </a:gs>
                  </a:gsLst>
                  <a:lin ang="5400000" scaled="1"/>
                </a:gradFill>
                <a:ln w="1588">
                  <a:solidFill>
                    <a:srgbClr val="1F1A17"/>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60" name="Rectangle 2767"/>
                <p:cNvSpPr>
                  <a:spLocks noChangeAspect="1" noChangeArrowheads="1"/>
                </p:cNvSpPr>
                <p:nvPr/>
              </p:nvSpPr>
              <p:spPr bwMode="auto">
                <a:xfrm>
                  <a:off x="1147" y="890"/>
                  <a:ext cx="36" cy="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61" name="Rectangle 2768"/>
                <p:cNvSpPr>
                  <a:spLocks noChangeAspect="1" noChangeArrowheads="1"/>
                </p:cNvSpPr>
                <p:nvPr/>
              </p:nvSpPr>
              <p:spPr bwMode="auto">
                <a:xfrm>
                  <a:off x="1147" y="886"/>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62" name="Rectangle 2769"/>
                <p:cNvSpPr>
                  <a:spLocks noChangeAspect="1" noChangeArrowheads="1"/>
                </p:cNvSpPr>
                <p:nvPr/>
              </p:nvSpPr>
              <p:spPr bwMode="auto">
                <a:xfrm>
                  <a:off x="1147" y="882"/>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63" name="Rectangle 2770"/>
                <p:cNvSpPr>
                  <a:spLocks noChangeAspect="1" noChangeArrowheads="1"/>
                </p:cNvSpPr>
                <p:nvPr/>
              </p:nvSpPr>
              <p:spPr bwMode="auto">
                <a:xfrm>
                  <a:off x="1147" y="878"/>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64" name="Rectangle 2771"/>
                <p:cNvSpPr>
                  <a:spLocks noChangeAspect="1" noChangeArrowheads="1"/>
                </p:cNvSpPr>
                <p:nvPr/>
              </p:nvSpPr>
              <p:spPr bwMode="auto">
                <a:xfrm>
                  <a:off x="1147" y="874"/>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65" name="Rectangle 2772"/>
                <p:cNvSpPr>
                  <a:spLocks noChangeAspect="1" noChangeArrowheads="1"/>
                </p:cNvSpPr>
                <p:nvPr/>
              </p:nvSpPr>
              <p:spPr bwMode="auto">
                <a:xfrm>
                  <a:off x="1147" y="870"/>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66" name="Rectangle 2773"/>
                <p:cNvSpPr>
                  <a:spLocks noChangeAspect="1" noChangeArrowheads="1"/>
                </p:cNvSpPr>
                <p:nvPr/>
              </p:nvSpPr>
              <p:spPr bwMode="auto">
                <a:xfrm>
                  <a:off x="1147" y="866"/>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67" name="Rectangle 2774"/>
                <p:cNvSpPr>
                  <a:spLocks noChangeAspect="1" noChangeArrowheads="1"/>
                </p:cNvSpPr>
                <p:nvPr/>
              </p:nvSpPr>
              <p:spPr bwMode="auto">
                <a:xfrm>
                  <a:off x="1147" y="863"/>
                  <a:ext cx="36"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68" name="Rectangle 2775"/>
                <p:cNvSpPr>
                  <a:spLocks noChangeAspect="1" noChangeArrowheads="1"/>
                </p:cNvSpPr>
                <p:nvPr/>
              </p:nvSpPr>
              <p:spPr bwMode="auto">
                <a:xfrm>
                  <a:off x="1147" y="859"/>
                  <a:ext cx="36"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69" name="Rectangle 2776"/>
                <p:cNvSpPr>
                  <a:spLocks noChangeAspect="1" noChangeArrowheads="1"/>
                </p:cNvSpPr>
                <p:nvPr/>
              </p:nvSpPr>
              <p:spPr bwMode="auto">
                <a:xfrm>
                  <a:off x="1147" y="855"/>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70" name="Rectangle 2777"/>
                <p:cNvSpPr>
                  <a:spLocks noChangeAspect="1" noChangeArrowheads="1"/>
                </p:cNvSpPr>
                <p:nvPr/>
              </p:nvSpPr>
              <p:spPr bwMode="auto">
                <a:xfrm>
                  <a:off x="1147" y="851"/>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71" name="Rectangle 2778"/>
                <p:cNvSpPr>
                  <a:spLocks noChangeAspect="1" noChangeArrowheads="1"/>
                </p:cNvSpPr>
                <p:nvPr/>
              </p:nvSpPr>
              <p:spPr bwMode="auto">
                <a:xfrm>
                  <a:off x="1147" y="847"/>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72" name="Rectangle 2779"/>
                <p:cNvSpPr>
                  <a:spLocks noChangeAspect="1" noChangeArrowheads="1"/>
                </p:cNvSpPr>
                <p:nvPr/>
              </p:nvSpPr>
              <p:spPr bwMode="auto">
                <a:xfrm>
                  <a:off x="1147" y="843"/>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73" name="Rectangle 2780"/>
                <p:cNvSpPr>
                  <a:spLocks noChangeAspect="1" noChangeArrowheads="1"/>
                </p:cNvSpPr>
                <p:nvPr/>
              </p:nvSpPr>
              <p:spPr bwMode="auto">
                <a:xfrm>
                  <a:off x="1147" y="839"/>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74" name="Rectangle 2781"/>
                <p:cNvSpPr>
                  <a:spLocks noChangeAspect="1" noChangeArrowheads="1"/>
                </p:cNvSpPr>
                <p:nvPr/>
              </p:nvSpPr>
              <p:spPr bwMode="auto">
                <a:xfrm>
                  <a:off x="1147" y="835"/>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75" name="Rectangle 2782"/>
                <p:cNvSpPr>
                  <a:spLocks noChangeAspect="1" noChangeArrowheads="1"/>
                </p:cNvSpPr>
                <p:nvPr/>
              </p:nvSpPr>
              <p:spPr bwMode="auto">
                <a:xfrm>
                  <a:off x="1147" y="831"/>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76" name="Rectangle 2783"/>
                <p:cNvSpPr>
                  <a:spLocks noChangeAspect="1" noChangeArrowheads="1"/>
                </p:cNvSpPr>
                <p:nvPr/>
              </p:nvSpPr>
              <p:spPr bwMode="auto">
                <a:xfrm>
                  <a:off x="1147" y="827"/>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77" name="Rectangle 2784"/>
                <p:cNvSpPr>
                  <a:spLocks noChangeAspect="1" noChangeArrowheads="1"/>
                </p:cNvSpPr>
                <p:nvPr/>
              </p:nvSpPr>
              <p:spPr bwMode="auto">
                <a:xfrm>
                  <a:off x="1147" y="824"/>
                  <a:ext cx="36"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78" name="Rectangle 2785"/>
                <p:cNvSpPr>
                  <a:spLocks noChangeAspect="1" noChangeArrowheads="1"/>
                </p:cNvSpPr>
                <p:nvPr/>
              </p:nvSpPr>
              <p:spPr bwMode="auto">
                <a:xfrm>
                  <a:off x="1147" y="820"/>
                  <a:ext cx="36"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79" name="Rectangle 2786"/>
                <p:cNvSpPr>
                  <a:spLocks noChangeAspect="1" noChangeArrowheads="1"/>
                </p:cNvSpPr>
                <p:nvPr/>
              </p:nvSpPr>
              <p:spPr bwMode="auto">
                <a:xfrm>
                  <a:off x="1147" y="816"/>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80" name="Rectangle 2787"/>
                <p:cNvSpPr>
                  <a:spLocks noChangeAspect="1" noChangeArrowheads="1"/>
                </p:cNvSpPr>
                <p:nvPr/>
              </p:nvSpPr>
              <p:spPr bwMode="auto">
                <a:xfrm>
                  <a:off x="1147" y="812"/>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81" name="Rectangle 2788"/>
                <p:cNvSpPr>
                  <a:spLocks noChangeAspect="1" noChangeArrowheads="1"/>
                </p:cNvSpPr>
                <p:nvPr/>
              </p:nvSpPr>
              <p:spPr bwMode="auto">
                <a:xfrm>
                  <a:off x="1147" y="808"/>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82" name="Rectangle 2789"/>
                <p:cNvSpPr>
                  <a:spLocks noChangeAspect="1" noChangeArrowheads="1"/>
                </p:cNvSpPr>
                <p:nvPr/>
              </p:nvSpPr>
              <p:spPr bwMode="auto">
                <a:xfrm>
                  <a:off x="1147" y="804"/>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83" name="Rectangle 2790"/>
                <p:cNvSpPr>
                  <a:spLocks noChangeAspect="1" noChangeArrowheads="1"/>
                </p:cNvSpPr>
                <p:nvPr/>
              </p:nvSpPr>
              <p:spPr bwMode="auto">
                <a:xfrm>
                  <a:off x="1147" y="800"/>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84" name="Rectangle 2791"/>
                <p:cNvSpPr>
                  <a:spLocks noChangeAspect="1" noChangeArrowheads="1"/>
                </p:cNvSpPr>
                <p:nvPr/>
              </p:nvSpPr>
              <p:spPr bwMode="auto">
                <a:xfrm>
                  <a:off x="1147" y="796"/>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85" name="Rectangle 2792"/>
                <p:cNvSpPr>
                  <a:spLocks noChangeAspect="1" noChangeArrowheads="1"/>
                </p:cNvSpPr>
                <p:nvPr/>
              </p:nvSpPr>
              <p:spPr bwMode="auto">
                <a:xfrm>
                  <a:off x="1147" y="792"/>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86" name="Rectangle 2793"/>
                <p:cNvSpPr>
                  <a:spLocks noChangeAspect="1" noChangeArrowheads="1"/>
                </p:cNvSpPr>
                <p:nvPr/>
              </p:nvSpPr>
              <p:spPr bwMode="auto">
                <a:xfrm>
                  <a:off x="1147" y="789"/>
                  <a:ext cx="36"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87" name="Rectangle 2794"/>
                <p:cNvSpPr>
                  <a:spLocks noChangeAspect="1" noChangeArrowheads="1"/>
                </p:cNvSpPr>
                <p:nvPr/>
              </p:nvSpPr>
              <p:spPr bwMode="auto">
                <a:xfrm>
                  <a:off x="1147" y="785"/>
                  <a:ext cx="36"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88" name="Rectangle 2795"/>
                <p:cNvSpPr>
                  <a:spLocks noChangeAspect="1" noChangeArrowheads="1"/>
                </p:cNvSpPr>
                <p:nvPr/>
              </p:nvSpPr>
              <p:spPr bwMode="auto">
                <a:xfrm>
                  <a:off x="1147" y="781"/>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89" name="Rectangle 2796"/>
                <p:cNvSpPr>
                  <a:spLocks noChangeAspect="1" noChangeArrowheads="1"/>
                </p:cNvSpPr>
                <p:nvPr/>
              </p:nvSpPr>
              <p:spPr bwMode="auto">
                <a:xfrm>
                  <a:off x="1147" y="777"/>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90" name="Rectangle 2797"/>
                <p:cNvSpPr>
                  <a:spLocks noChangeAspect="1" noChangeArrowheads="1"/>
                </p:cNvSpPr>
                <p:nvPr/>
              </p:nvSpPr>
              <p:spPr bwMode="auto">
                <a:xfrm>
                  <a:off x="1147" y="773"/>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91" name="Rectangle 2798"/>
                <p:cNvSpPr>
                  <a:spLocks noChangeAspect="1" noChangeArrowheads="1"/>
                </p:cNvSpPr>
                <p:nvPr/>
              </p:nvSpPr>
              <p:spPr bwMode="auto">
                <a:xfrm>
                  <a:off x="1147" y="769"/>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92" name="Rectangle 2799"/>
                <p:cNvSpPr>
                  <a:spLocks noChangeAspect="1" noChangeArrowheads="1"/>
                </p:cNvSpPr>
                <p:nvPr/>
              </p:nvSpPr>
              <p:spPr bwMode="auto">
                <a:xfrm>
                  <a:off x="1147" y="765"/>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93" name="Rectangle 2800"/>
                <p:cNvSpPr>
                  <a:spLocks noChangeAspect="1" noChangeArrowheads="1"/>
                </p:cNvSpPr>
                <p:nvPr/>
              </p:nvSpPr>
              <p:spPr bwMode="auto">
                <a:xfrm>
                  <a:off x="1147" y="761"/>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94" name="Rectangle 2801"/>
                <p:cNvSpPr>
                  <a:spLocks noChangeAspect="1" noChangeArrowheads="1"/>
                </p:cNvSpPr>
                <p:nvPr/>
              </p:nvSpPr>
              <p:spPr bwMode="auto">
                <a:xfrm>
                  <a:off x="1147" y="757"/>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95" name="Rectangle 2802"/>
                <p:cNvSpPr>
                  <a:spLocks noChangeAspect="1" noChangeArrowheads="1"/>
                </p:cNvSpPr>
                <p:nvPr/>
              </p:nvSpPr>
              <p:spPr bwMode="auto">
                <a:xfrm>
                  <a:off x="1147" y="753"/>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96" name="Rectangle 2803"/>
                <p:cNvSpPr>
                  <a:spLocks noChangeAspect="1" noChangeArrowheads="1"/>
                </p:cNvSpPr>
                <p:nvPr/>
              </p:nvSpPr>
              <p:spPr bwMode="auto">
                <a:xfrm>
                  <a:off x="1147" y="749"/>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97" name="Rectangle 2804"/>
                <p:cNvSpPr>
                  <a:spLocks noChangeAspect="1" noChangeArrowheads="1"/>
                </p:cNvSpPr>
                <p:nvPr/>
              </p:nvSpPr>
              <p:spPr bwMode="auto">
                <a:xfrm>
                  <a:off x="1147" y="745"/>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98" name="Rectangle 2805"/>
                <p:cNvSpPr>
                  <a:spLocks noChangeAspect="1" noChangeArrowheads="1"/>
                </p:cNvSpPr>
                <p:nvPr/>
              </p:nvSpPr>
              <p:spPr bwMode="auto">
                <a:xfrm>
                  <a:off x="1147" y="741"/>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499" name="Rectangle 2806"/>
                <p:cNvSpPr>
                  <a:spLocks noChangeAspect="1" noChangeArrowheads="1"/>
                </p:cNvSpPr>
                <p:nvPr/>
              </p:nvSpPr>
              <p:spPr bwMode="auto">
                <a:xfrm>
                  <a:off x="1147" y="737"/>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00" name="Rectangle 2807"/>
                <p:cNvSpPr>
                  <a:spLocks noChangeAspect="1" noChangeArrowheads="1"/>
                </p:cNvSpPr>
                <p:nvPr/>
              </p:nvSpPr>
              <p:spPr bwMode="auto">
                <a:xfrm>
                  <a:off x="1147" y="734"/>
                  <a:ext cx="36"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01" name="Rectangle 2808"/>
                <p:cNvSpPr>
                  <a:spLocks noChangeAspect="1" noChangeArrowheads="1"/>
                </p:cNvSpPr>
                <p:nvPr/>
              </p:nvSpPr>
              <p:spPr bwMode="auto">
                <a:xfrm>
                  <a:off x="1147" y="730"/>
                  <a:ext cx="36"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02" name="Rectangle 2809"/>
                <p:cNvSpPr>
                  <a:spLocks noChangeAspect="1" noChangeArrowheads="1"/>
                </p:cNvSpPr>
                <p:nvPr/>
              </p:nvSpPr>
              <p:spPr bwMode="auto">
                <a:xfrm>
                  <a:off x="1147" y="726"/>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03" name="Rectangle 2810"/>
                <p:cNvSpPr>
                  <a:spLocks noChangeAspect="1" noChangeArrowheads="1"/>
                </p:cNvSpPr>
                <p:nvPr/>
              </p:nvSpPr>
              <p:spPr bwMode="auto">
                <a:xfrm>
                  <a:off x="1147" y="722"/>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04" name="Rectangle 2811"/>
                <p:cNvSpPr>
                  <a:spLocks noChangeAspect="1" noChangeArrowheads="1"/>
                </p:cNvSpPr>
                <p:nvPr/>
              </p:nvSpPr>
              <p:spPr bwMode="auto">
                <a:xfrm>
                  <a:off x="1147" y="718"/>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05" name="Rectangle 2812"/>
                <p:cNvSpPr>
                  <a:spLocks noChangeAspect="1" noChangeArrowheads="1"/>
                </p:cNvSpPr>
                <p:nvPr/>
              </p:nvSpPr>
              <p:spPr bwMode="auto">
                <a:xfrm>
                  <a:off x="1147" y="714"/>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06" name="Rectangle 2813"/>
                <p:cNvSpPr>
                  <a:spLocks noChangeAspect="1" noChangeArrowheads="1"/>
                </p:cNvSpPr>
                <p:nvPr/>
              </p:nvSpPr>
              <p:spPr bwMode="auto">
                <a:xfrm>
                  <a:off x="1147" y="710"/>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07" name="Rectangle 2814"/>
                <p:cNvSpPr>
                  <a:spLocks noChangeAspect="1" noChangeArrowheads="1"/>
                </p:cNvSpPr>
                <p:nvPr/>
              </p:nvSpPr>
              <p:spPr bwMode="auto">
                <a:xfrm>
                  <a:off x="1147" y="706"/>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08" name="Rectangle 2815"/>
                <p:cNvSpPr>
                  <a:spLocks noChangeAspect="1" noChangeArrowheads="1"/>
                </p:cNvSpPr>
                <p:nvPr/>
              </p:nvSpPr>
              <p:spPr bwMode="auto">
                <a:xfrm>
                  <a:off x="1147" y="702"/>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09" name="Rectangle 2816"/>
                <p:cNvSpPr>
                  <a:spLocks noChangeAspect="1" noChangeArrowheads="1"/>
                </p:cNvSpPr>
                <p:nvPr/>
              </p:nvSpPr>
              <p:spPr bwMode="auto">
                <a:xfrm>
                  <a:off x="1147" y="698"/>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10" name="Rectangle 2817"/>
                <p:cNvSpPr>
                  <a:spLocks noChangeAspect="1" noChangeArrowheads="1"/>
                </p:cNvSpPr>
                <p:nvPr/>
              </p:nvSpPr>
              <p:spPr bwMode="auto">
                <a:xfrm>
                  <a:off x="1147" y="698"/>
                  <a:ext cx="36" cy="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11" name="Rectangle 2818"/>
                <p:cNvSpPr>
                  <a:spLocks noChangeAspect="1" noChangeArrowheads="1"/>
                </p:cNvSpPr>
                <p:nvPr/>
              </p:nvSpPr>
              <p:spPr bwMode="auto">
                <a:xfrm>
                  <a:off x="1147" y="698"/>
                  <a:ext cx="36" cy="1"/>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12" name="Rectangle 2819"/>
                <p:cNvSpPr>
                  <a:spLocks noChangeAspect="1" noChangeArrowheads="1"/>
                </p:cNvSpPr>
                <p:nvPr/>
              </p:nvSpPr>
              <p:spPr bwMode="auto">
                <a:xfrm>
                  <a:off x="1147" y="698"/>
                  <a:ext cx="36" cy="196"/>
                </a:xfrm>
                <a:prstGeom prst="rect">
                  <a:avLst/>
                </a:prstGeom>
                <a:gradFill rotWithShape="0">
                  <a:gsLst>
                    <a:gs pos="0">
                      <a:srgbClr val="339966"/>
                    </a:gs>
                    <a:gs pos="50000">
                      <a:srgbClr val="96CBB0"/>
                    </a:gs>
                    <a:gs pos="100000">
                      <a:srgbClr val="339966"/>
                    </a:gs>
                  </a:gsLst>
                  <a:lin ang="5400000" scaled="1"/>
                </a:gradFill>
                <a:ln w="1588">
                  <a:solidFill>
                    <a:srgbClr val="1F1A17"/>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13" name="Rectangle 2820"/>
                <p:cNvSpPr>
                  <a:spLocks noChangeAspect="1" noChangeArrowheads="1"/>
                </p:cNvSpPr>
                <p:nvPr/>
              </p:nvSpPr>
              <p:spPr bwMode="auto">
                <a:xfrm>
                  <a:off x="1183" y="872"/>
                  <a:ext cx="244" cy="3"/>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14" name="Rectangle 2821"/>
                <p:cNvSpPr>
                  <a:spLocks noChangeAspect="1" noChangeArrowheads="1"/>
                </p:cNvSpPr>
                <p:nvPr/>
              </p:nvSpPr>
              <p:spPr bwMode="auto">
                <a:xfrm>
                  <a:off x="1183" y="869"/>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15" name="Rectangle 2822"/>
                <p:cNvSpPr>
                  <a:spLocks noChangeAspect="1" noChangeArrowheads="1"/>
                </p:cNvSpPr>
                <p:nvPr/>
              </p:nvSpPr>
              <p:spPr bwMode="auto">
                <a:xfrm>
                  <a:off x="1183" y="865"/>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16" name="Rectangle 2823"/>
                <p:cNvSpPr>
                  <a:spLocks noChangeAspect="1" noChangeArrowheads="1"/>
                </p:cNvSpPr>
                <p:nvPr/>
              </p:nvSpPr>
              <p:spPr bwMode="auto">
                <a:xfrm>
                  <a:off x="1183" y="862"/>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17" name="Rectangle 2824"/>
                <p:cNvSpPr>
                  <a:spLocks noChangeAspect="1" noChangeArrowheads="1"/>
                </p:cNvSpPr>
                <p:nvPr/>
              </p:nvSpPr>
              <p:spPr bwMode="auto">
                <a:xfrm>
                  <a:off x="1183" y="859"/>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18" name="Rectangle 2825"/>
                <p:cNvSpPr>
                  <a:spLocks noChangeAspect="1" noChangeArrowheads="1"/>
                </p:cNvSpPr>
                <p:nvPr/>
              </p:nvSpPr>
              <p:spPr bwMode="auto">
                <a:xfrm>
                  <a:off x="1183" y="855"/>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19" name="Rectangle 2826"/>
                <p:cNvSpPr>
                  <a:spLocks noChangeAspect="1" noChangeArrowheads="1"/>
                </p:cNvSpPr>
                <p:nvPr/>
              </p:nvSpPr>
              <p:spPr bwMode="auto">
                <a:xfrm>
                  <a:off x="1183" y="852"/>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20" name="Rectangle 2827"/>
                <p:cNvSpPr>
                  <a:spLocks noChangeAspect="1" noChangeArrowheads="1"/>
                </p:cNvSpPr>
                <p:nvPr/>
              </p:nvSpPr>
              <p:spPr bwMode="auto">
                <a:xfrm>
                  <a:off x="1183" y="849"/>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21" name="Rectangle 2828"/>
                <p:cNvSpPr>
                  <a:spLocks noChangeAspect="1" noChangeArrowheads="1"/>
                </p:cNvSpPr>
                <p:nvPr/>
              </p:nvSpPr>
              <p:spPr bwMode="auto">
                <a:xfrm>
                  <a:off x="1183" y="846"/>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22" name="Rectangle 2829"/>
                <p:cNvSpPr>
                  <a:spLocks noChangeAspect="1" noChangeArrowheads="1"/>
                </p:cNvSpPr>
                <p:nvPr/>
              </p:nvSpPr>
              <p:spPr bwMode="auto">
                <a:xfrm>
                  <a:off x="1183" y="842"/>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23" name="Rectangle 2830"/>
                <p:cNvSpPr>
                  <a:spLocks noChangeAspect="1" noChangeArrowheads="1"/>
                </p:cNvSpPr>
                <p:nvPr/>
              </p:nvSpPr>
              <p:spPr bwMode="auto">
                <a:xfrm>
                  <a:off x="1183" y="839"/>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24" name="Rectangle 2831"/>
                <p:cNvSpPr>
                  <a:spLocks noChangeAspect="1" noChangeArrowheads="1"/>
                </p:cNvSpPr>
                <p:nvPr/>
              </p:nvSpPr>
              <p:spPr bwMode="auto">
                <a:xfrm>
                  <a:off x="1183" y="836"/>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25" name="Rectangle 2832"/>
                <p:cNvSpPr>
                  <a:spLocks noChangeAspect="1" noChangeArrowheads="1"/>
                </p:cNvSpPr>
                <p:nvPr/>
              </p:nvSpPr>
              <p:spPr bwMode="auto">
                <a:xfrm>
                  <a:off x="1183" y="833"/>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26" name="Rectangle 2833"/>
                <p:cNvSpPr>
                  <a:spLocks noChangeAspect="1" noChangeArrowheads="1"/>
                </p:cNvSpPr>
                <p:nvPr/>
              </p:nvSpPr>
              <p:spPr bwMode="auto">
                <a:xfrm>
                  <a:off x="1183" y="830"/>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27" name="Rectangle 2834"/>
                <p:cNvSpPr>
                  <a:spLocks noChangeAspect="1" noChangeArrowheads="1"/>
                </p:cNvSpPr>
                <p:nvPr/>
              </p:nvSpPr>
              <p:spPr bwMode="auto">
                <a:xfrm>
                  <a:off x="1183" y="826"/>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28" name="Rectangle 2835"/>
                <p:cNvSpPr>
                  <a:spLocks noChangeAspect="1" noChangeArrowheads="1"/>
                </p:cNvSpPr>
                <p:nvPr/>
              </p:nvSpPr>
              <p:spPr bwMode="auto">
                <a:xfrm>
                  <a:off x="1183" y="823"/>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29" name="Rectangle 2836"/>
                <p:cNvSpPr>
                  <a:spLocks noChangeAspect="1" noChangeArrowheads="1"/>
                </p:cNvSpPr>
                <p:nvPr/>
              </p:nvSpPr>
              <p:spPr bwMode="auto">
                <a:xfrm>
                  <a:off x="1183" y="820"/>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30" name="Rectangle 2837"/>
                <p:cNvSpPr>
                  <a:spLocks noChangeAspect="1" noChangeArrowheads="1"/>
                </p:cNvSpPr>
                <p:nvPr/>
              </p:nvSpPr>
              <p:spPr bwMode="auto">
                <a:xfrm>
                  <a:off x="1183" y="817"/>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31" name="Rectangle 2838"/>
                <p:cNvSpPr>
                  <a:spLocks noChangeAspect="1" noChangeArrowheads="1"/>
                </p:cNvSpPr>
                <p:nvPr/>
              </p:nvSpPr>
              <p:spPr bwMode="auto">
                <a:xfrm>
                  <a:off x="1183" y="813"/>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32" name="Rectangle 2839"/>
                <p:cNvSpPr>
                  <a:spLocks noChangeAspect="1" noChangeArrowheads="1"/>
                </p:cNvSpPr>
                <p:nvPr/>
              </p:nvSpPr>
              <p:spPr bwMode="auto">
                <a:xfrm>
                  <a:off x="1183" y="810"/>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33" name="Rectangle 2840"/>
                <p:cNvSpPr>
                  <a:spLocks noChangeAspect="1" noChangeArrowheads="1"/>
                </p:cNvSpPr>
                <p:nvPr/>
              </p:nvSpPr>
              <p:spPr bwMode="auto">
                <a:xfrm>
                  <a:off x="1183" y="807"/>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34" name="Rectangle 2841"/>
                <p:cNvSpPr>
                  <a:spLocks noChangeAspect="1" noChangeArrowheads="1"/>
                </p:cNvSpPr>
                <p:nvPr/>
              </p:nvSpPr>
              <p:spPr bwMode="auto">
                <a:xfrm>
                  <a:off x="1183" y="803"/>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35" name="Rectangle 2842"/>
                <p:cNvSpPr>
                  <a:spLocks noChangeAspect="1" noChangeArrowheads="1"/>
                </p:cNvSpPr>
                <p:nvPr/>
              </p:nvSpPr>
              <p:spPr bwMode="auto">
                <a:xfrm>
                  <a:off x="1183" y="800"/>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36" name="Rectangle 2843"/>
                <p:cNvSpPr>
                  <a:spLocks noChangeAspect="1" noChangeArrowheads="1"/>
                </p:cNvSpPr>
                <p:nvPr/>
              </p:nvSpPr>
              <p:spPr bwMode="auto">
                <a:xfrm>
                  <a:off x="1183" y="797"/>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37" name="Rectangle 2844"/>
                <p:cNvSpPr>
                  <a:spLocks noChangeAspect="1" noChangeArrowheads="1"/>
                </p:cNvSpPr>
                <p:nvPr/>
              </p:nvSpPr>
              <p:spPr bwMode="auto">
                <a:xfrm>
                  <a:off x="1183" y="794"/>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38" name="Rectangle 2845"/>
                <p:cNvSpPr>
                  <a:spLocks noChangeAspect="1" noChangeArrowheads="1"/>
                </p:cNvSpPr>
                <p:nvPr/>
              </p:nvSpPr>
              <p:spPr bwMode="auto">
                <a:xfrm>
                  <a:off x="1183" y="791"/>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39" name="Rectangle 2846"/>
                <p:cNvSpPr>
                  <a:spLocks noChangeAspect="1" noChangeArrowheads="1"/>
                </p:cNvSpPr>
                <p:nvPr/>
              </p:nvSpPr>
              <p:spPr bwMode="auto">
                <a:xfrm>
                  <a:off x="1183" y="787"/>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40" name="Rectangle 2847"/>
                <p:cNvSpPr>
                  <a:spLocks noChangeAspect="1" noChangeArrowheads="1"/>
                </p:cNvSpPr>
                <p:nvPr/>
              </p:nvSpPr>
              <p:spPr bwMode="auto">
                <a:xfrm>
                  <a:off x="1183" y="784"/>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41" name="Rectangle 2848"/>
                <p:cNvSpPr>
                  <a:spLocks noChangeAspect="1" noChangeArrowheads="1"/>
                </p:cNvSpPr>
                <p:nvPr/>
              </p:nvSpPr>
              <p:spPr bwMode="auto">
                <a:xfrm>
                  <a:off x="1183" y="781"/>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42" name="Rectangle 2849"/>
                <p:cNvSpPr>
                  <a:spLocks noChangeAspect="1" noChangeArrowheads="1"/>
                </p:cNvSpPr>
                <p:nvPr/>
              </p:nvSpPr>
              <p:spPr bwMode="auto">
                <a:xfrm>
                  <a:off x="1183" y="778"/>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43" name="Rectangle 2850"/>
                <p:cNvSpPr>
                  <a:spLocks noChangeAspect="1" noChangeArrowheads="1"/>
                </p:cNvSpPr>
                <p:nvPr/>
              </p:nvSpPr>
              <p:spPr bwMode="auto">
                <a:xfrm>
                  <a:off x="1183" y="774"/>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44" name="Rectangle 2851"/>
                <p:cNvSpPr>
                  <a:spLocks noChangeAspect="1" noChangeArrowheads="1"/>
                </p:cNvSpPr>
                <p:nvPr/>
              </p:nvSpPr>
              <p:spPr bwMode="auto">
                <a:xfrm>
                  <a:off x="1183" y="771"/>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45" name="Rectangle 2852"/>
                <p:cNvSpPr>
                  <a:spLocks noChangeAspect="1" noChangeArrowheads="1"/>
                </p:cNvSpPr>
                <p:nvPr/>
              </p:nvSpPr>
              <p:spPr bwMode="auto">
                <a:xfrm>
                  <a:off x="1183" y="768"/>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46" name="Rectangle 2853"/>
                <p:cNvSpPr>
                  <a:spLocks noChangeAspect="1" noChangeArrowheads="1"/>
                </p:cNvSpPr>
                <p:nvPr/>
              </p:nvSpPr>
              <p:spPr bwMode="auto">
                <a:xfrm>
                  <a:off x="1183" y="765"/>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47" name="Rectangle 2854"/>
                <p:cNvSpPr>
                  <a:spLocks noChangeAspect="1" noChangeArrowheads="1"/>
                </p:cNvSpPr>
                <p:nvPr/>
              </p:nvSpPr>
              <p:spPr bwMode="auto">
                <a:xfrm>
                  <a:off x="1183" y="761"/>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48" name="Rectangle 2855"/>
                <p:cNvSpPr>
                  <a:spLocks noChangeAspect="1" noChangeArrowheads="1"/>
                </p:cNvSpPr>
                <p:nvPr/>
              </p:nvSpPr>
              <p:spPr bwMode="auto">
                <a:xfrm>
                  <a:off x="1183" y="758"/>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49" name="Rectangle 2856"/>
                <p:cNvSpPr>
                  <a:spLocks noChangeAspect="1" noChangeArrowheads="1"/>
                </p:cNvSpPr>
                <p:nvPr/>
              </p:nvSpPr>
              <p:spPr bwMode="auto">
                <a:xfrm>
                  <a:off x="1183" y="755"/>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50" name="Rectangle 2857"/>
                <p:cNvSpPr>
                  <a:spLocks noChangeAspect="1" noChangeArrowheads="1"/>
                </p:cNvSpPr>
                <p:nvPr/>
              </p:nvSpPr>
              <p:spPr bwMode="auto">
                <a:xfrm>
                  <a:off x="1183" y="752"/>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51" name="Rectangle 2858"/>
                <p:cNvSpPr>
                  <a:spLocks noChangeAspect="1" noChangeArrowheads="1"/>
                </p:cNvSpPr>
                <p:nvPr/>
              </p:nvSpPr>
              <p:spPr bwMode="auto">
                <a:xfrm>
                  <a:off x="1183" y="748"/>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52" name="Rectangle 2859"/>
                <p:cNvSpPr>
                  <a:spLocks noChangeAspect="1" noChangeArrowheads="1"/>
                </p:cNvSpPr>
                <p:nvPr/>
              </p:nvSpPr>
              <p:spPr bwMode="auto">
                <a:xfrm>
                  <a:off x="1183" y="745"/>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53" name="Rectangle 2860"/>
                <p:cNvSpPr>
                  <a:spLocks noChangeAspect="1" noChangeArrowheads="1"/>
                </p:cNvSpPr>
                <p:nvPr/>
              </p:nvSpPr>
              <p:spPr bwMode="auto">
                <a:xfrm>
                  <a:off x="1183" y="742"/>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54" name="Rectangle 2861"/>
                <p:cNvSpPr>
                  <a:spLocks noChangeAspect="1" noChangeArrowheads="1"/>
                </p:cNvSpPr>
                <p:nvPr/>
              </p:nvSpPr>
              <p:spPr bwMode="auto">
                <a:xfrm>
                  <a:off x="1183" y="739"/>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55" name="Rectangle 2862"/>
                <p:cNvSpPr>
                  <a:spLocks noChangeAspect="1" noChangeArrowheads="1"/>
                </p:cNvSpPr>
                <p:nvPr/>
              </p:nvSpPr>
              <p:spPr bwMode="auto">
                <a:xfrm>
                  <a:off x="1183" y="735"/>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56" name="Rectangle 2863"/>
                <p:cNvSpPr>
                  <a:spLocks noChangeAspect="1" noChangeArrowheads="1"/>
                </p:cNvSpPr>
                <p:nvPr/>
              </p:nvSpPr>
              <p:spPr bwMode="auto">
                <a:xfrm>
                  <a:off x="1183" y="732"/>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57" name="Rectangle 2864"/>
                <p:cNvSpPr>
                  <a:spLocks noChangeAspect="1" noChangeArrowheads="1"/>
                </p:cNvSpPr>
                <p:nvPr/>
              </p:nvSpPr>
              <p:spPr bwMode="auto">
                <a:xfrm>
                  <a:off x="1183" y="729"/>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58" name="Rectangle 2865"/>
                <p:cNvSpPr>
                  <a:spLocks noChangeAspect="1" noChangeArrowheads="1"/>
                </p:cNvSpPr>
                <p:nvPr/>
              </p:nvSpPr>
              <p:spPr bwMode="auto">
                <a:xfrm>
                  <a:off x="1183" y="726"/>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59" name="Rectangle 2866"/>
                <p:cNvSpPr>
                  <a:spLocks noChangeAspect="1" noChangeArrowheads="1"/>
                </p:cNvSpPr>
                <p:nvPr/>
              </p:nvSpPr>
              <p:spPr bwMode="auto">
                <a:xfrm>
                  <a:off x="1183" y="722"/>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60" name="Rectangle 2867"/>
                <p:cNvSpPr>
                  <a:spLocks noChangeAspect="1" noChangeArrowheads="1"/>
                </p:cNvSpPr>
                <p:nvPr/>
              </p:nvSpPr>
              <p:spPr bwMode="auto">
                <a:xfrm>
                  <a:off x="1183" y="719"/>
                  <a:ext cx="244"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61" name="Rectangle 2868"/>
                <p:cNvSpPr>
                  <a:spLocks noChangeAspect="1" noChangeArrowheads="1"/>
                </p:cNvSpPr>
                <p:nvPr/>
              </p:nvSpPr>
              <p:spPr bwMode="auto">
                <a:xfrm>
                  <a:off x="1183" y="716"/>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62" name="Rectangle 2869"/>
                <p:cNvSpPr>
                  <a:spLocks noChangeAspect="1" noChangeArrowheads="1"/>
                </p:cNvSpPr>
                <p:nvPr/>
              </p:nvSpPr>
              <p:spPr bwMode="auto">
                <a:xfrm>
                  <a:off x="1183" y="713"/>
                  <a:ext cx="244"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63" name="Rectangle 2870"/>
                <p:cNvSpPr>
                  <a:spLocks noChangeAspect="1" noChangeArrowheads="1"/>
                </p:cNvSpPr>
                <p:nvPr/>
              </p:nvSpPr>
              <p:spPr bwMode="auto">
                <a:xfrm>
                  <a:off x="1183" y="713"/>
                  <a:ext cx="244" cy="3"/>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64" name="Rectangle 2871"/>
                <p:cNvSpPr>
                  <a:spLocks noChangeAspect="1" noChangeArrowheads="1"/>
                </p:cNvSpPr>
                <p:nvPr/>
              </p:nvSpPr>
              <p:spPr bwMode="auto">
                <a:xfrm>
                  <a:off x="1183" y="713"/>
                  <a:ext cx="244" cy="162"/>
                </a:xfrm>
                <a:prstGeom prst="rect">
                  <a:avLst/>
                </a:prstGeom>
                <a:gradFill rotWithShape="0">
                  <a:gsLst>
                    <a:gs pos="0">
                      <a:srgbClr val="339966"/>
                    </a:gs>
                    <a:gs pos="50000">
                      <a:srgbClr val="96CBB0"/>
                    </a:gs>
                    <a:gs pos="100000">
                      <a:srgbClr val="339966"/>
                    </a:gs>
                  </a:gsLst>
                  <a:lin ang="5400000" scaled="1"/>
                </a:gradFill>
                <a:ln w="1588">
                  <a:solidFill>
                    <a:srgbClr val="1F1A17"/>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65" name="Rectangle 2872"/>
                <p:cNvSpPr>
                  <a:spLocks noChangeAspect="1" noChangeArrowheads="1"/>
                </p:cNvSpPr>
                <p:nvPr/>
              </p:nvSpPr>
              <p:spPr bwMode="auto">
                <a:xfrm>
                  <a:off x="1427" y="890"/>
                  <a:ext cx="36" cy="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66" name="Rectangle 2873"/>
                <p:cNvSpPr>
                  <a:spLocks noChangeAspect="1" noChangeArrowheads="1"/>
                </p:cNvSpPr>
                <p:nvPr/>
              </p:nvSpPr>
              <p:spPr bwMode="auto">
                <a:xfrm>
                  <a:off x="1427" y="886"/>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67" name="Rectangle 2874"/>
                <p:cNvSpPr>
                  <a:spLocks noChangeAspect="1" noChangeArrowheads="1"/>
                </p:cNvSpPr>
                <p:nvPr/>
              </p:nvSpPr>
              <p:spPr bwMode="auto">
                <a:xfrm>
                  <a:off x="1427" y="882"/>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68" name="Rectangle 2875"/>
                <p:cNvSpPr>
                  <a:spLocks noChangeAspect="1" noChangeArrowheads="1"/>
                </p:cNvSpPr>
                <p:nvPr/>
              </p:nvSpPr>
              <p:spPr bwMode="auto">
                <a:xfrm>
                  <a:off x="1427" y="878"/>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69" name="Rectangle 2876"/>
                <p:cNvSpPr>
                  <a:spLocks noChangeAspect="1" noChangeArrowheads="1"/>
                </p:cNvSpPr>
                <p:nvPr/>
              </p:nvSpPr>
              <p:spPr bwMode="auto">
                <a:xfrm>
                  <a:off x="1427" y="874"/>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70" name="Rectangle 2877"/>
                <p:cNvSpPr>
                  <a:spLocks noChangeAspect="1" noChangeArrowheads="1"/>
                </p:cNvSpPr>
                <p:nvPr/>
              </p:nvSpPr>
              <p:spPr bwMode="auto">
                <a:xfrm>
                  <a:off x="1427" y="870"/>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71" name="Rectangle 2878"/>
                <p:cNvSpPr>
                  <a:spLocks noChangeAspect="1" noChangeArrowheads="1"/>
                </p:cNvSpPr>
                <p:nvPr/>
              </p:nvSpPr>
              <p:spPr bwMode="auto">
                <a:xfrm>
                  <a:off x="1427" y="866"/>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72" name="Rectangle 2879"/>
                <p:cNvSpPr>
                  <a:spLocks noChangeAspect="1" noChangeArrowheads="1"/>
                </p:cNvSpPr>
                <p:nvPr/>
              </p:nvSpPr>
              <p:spPr bwMode="auto">
                <a:xfrm>
                  <a:off x="1427" y="863"/>
                  <a:ext cx="36"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73" name="Rectangle 2880"/>
                <p:cNvSpPr>
                  <a:spLocks noChangeAspect="1" noChangeArrowheads="1"/>
                </p:cNvSpPr>
                <p:nvPr/>
              </p:nvSpPr>
              <p:spPr bwMode="auto">
                <a:xfrm>
                  <a:off x="1427" y="859"/>
                  <a:ext cx="36"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74" name="Rectangle 2881"/>
                <p:cNvSpPr>
                  <a:spLocks noChangeAspect="1" noChangeArrowheads="1"/>
                </p:cNvSpPr>
                <p:nvPr/>
              </p:nvSpPr>
              <p:spPr bwMode="auto">
                <a:xfrm>
                  <a:off x="1427" y="855"/>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75" name="Rectangle 2882"/>
                <p:cNvSpPr>
                  <a:spLocks noChangeAspect="1" noChangeArrowheads="1"/>
                </p:cNvSpPr>
                <p:nvPr/>
              </p:nvSpPr>
              <p:spPr bwMode="auto">
                <a:xfrm>
                  <a:off x="1427" y="851"/>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76" name="Rectangle 2883"/>
                <p:cNvSpPr>
                  <a:spLocks noChangeAspect="1" noChangeArrowheads="1"/>
                </p:cNvSpPr>
                <p:nvPr/>
              </p:nvSpPr>
              <p:spPr bwMode="auto">
                <a:xfrm>
                  <a:off x="1427" y="847"/>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77" name="Rectangle 2884"/>
                <p:cNvSpPr>
                  <a:spLocks noChangeAspect="1" noChangeArrowheads="1"/>
                </p:cNvSpPr>
                <p:nvPr/>
              </p:nvSpPr>
              <p:spPr bwMode="auto">
                <a:xfrm>
                  <a:off x="1427" y="843"/>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78" name="Rectangle 2885"/>
                <p:cNvSpPr>
                  <a:spLocks noChangeAspect="1" noChangeArrowheads="1"/>
                </p:cNvSpPr>
                <p:nvPr/>
              </p:nvSpPr>
              <p:spPr bwMode="auto">
                <a:xfrm>
                  <a:off x="1427" y="839"/>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79" name="Rectangle 2886"/>
                <p:cNvSpPr>
                  <a:spLocks noChangeAspect="1" noChangeArrowheads="1"/>
                </p:cNvSpPr>
                <p:nvPr/>
              </p:nvSpPr>
              <p:spPr bwMode="auto">
                <a:xfrm>
                  <a:off x="1427" y="835"/>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80" name="Rectangle 2887"/>
                <p:cNvSpPr>
                  <a:spLocks noChangeAspect="1" noChangeArrowheads="1"/>
                </p:cNvSpPr>
                <p:nvPr/>
              </p:nvSpPr>
              <p:spPr bwMode="auto">
                <a:xfrm>
                  <a:off x="1427" y="831"/>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81" name="Rectangle 2888"/>
                <p:cNvSpPr>
                  <a:spLocks noChangeAspect="1" noChangeArrowheads="1"/>
                </p:cNvSpPr>
                <p:nvPr/>
              </p:nvSpPr>
              <p:spPr bwMode="auto">
                <a:xfrm>
                  <a:off x="1427" y="827"/>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82" name="Rectangle 2889"/>
                <p:cNvSpPr>
                  <a:spLocks noChangeAspect="1" noChangeArrowheads="1"/>
                </p:cNvSpPr>
                <p:nvPr/>
              </p:nvSpPr>
              <p:spPr bwMode="auto">
                <a:xfrm>
                  <a:off x="1427" y="824"/>
                  <a:ext cx="36"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83" name="Rectangle 2890"/>
                <p:cNvSpPr>
                  <a:spLocks noChangeAspect="1" noChangeArrowheads="1"/>
                </p:cNvSpPr>
                <p:nvPr/>
              </p:nvSpPr>
              <p:spPr bwMode="auto">
                <a:xfrm>
                  <a:off x="1427" y="820"/>
                  <a:ext cx="36"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84" name="Rectangle 2891"/>
                <p:cNvSpPr>
                  <a:spLocks noChangeAspect="1" noChangeArrowheads="1"/>
                </p:cNvSpPr>
                <p:nvPr/>
              </p:nvSpPr>
              <p:spPr bwMode="auto">
                <a:xfrm>
                  <a:off x="1427" y="816"/>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85" name="Rectangle 2892"/>
                <p:cNvSpPr>
                  <a:spLocks noChangeAspect="1" noChangeArrowheads="1"/>
                </p:cNvSpPr>
                <p:nvPr/>
              </p:nvSpPr>
              <p:spPr bwMode="auto">
                <a:xfrm>
                  <a:off x="1427" y="812"/>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86" name="Rectangle 2893"/>
                <p:cNvSpPr>
                  <a:spLocks noChangeAspect="1" noChangeArrowheads="1"/>
                </p:cNvSpPr>
                <p:nvPr/>
              </p:nvSpPr>
              <p:spPr bwMode="auto">
                <a:xfrm>
                  <a:off x="1427" y="808"/>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87" name="Rectangle 2894"/>
                <p:cNvSpPr>
                  <a:spLocks noChangeAspect="1" noChangeArrowheads="1"/>
                </p:cNvSpPr>
                <p:nvPr/>
              </p:nvSpPr>
              <p:spPr bwMode="auto">
                <a:xfrm>
                  <a:off x="1427" y="804"/>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88" name="Rectangle 2895"/>
                <p:cNvSpPr>
                  <a:spLocks noChangeAspect="1" noChangeArrowheads="1"/>
                </p:cNvSpPr>
                <p:nvPr/>
              </p:nvSpPr>
              <p:spPr bwMode="auto">
                <a:xfrm>
                  <a:off x="1427" y="800"/>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89" name="Rectangle 2896"/>
                <p:cNvSpPr>
                  <a:spLocks noChangeAspect="1" noChangeArrowheads="1"/>
                </p:cNvSpPr>
                <p:nvPr/>
              </p:nvSpPr>
              <p:spPr bwMode="auto">
                <a:xfrm>
                  <a:off x="1427" y="796"/>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90" name="Rectangle 2897"/>
                <p:cNvSpPr>
                  <a:spLocks noChangeAspect="1" noChangeArrowheads="1"/>
                </p:cNvSpPr>
                <p:nvPr/>
              </p:nvSpPr>
              <p:spPr bwMode="auto">
                <a:xfrm>
                  <a:off x="1427" y="792"/>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91" name="Rectangle 2898"/>
                <p:cNvSpPr>
                  <a:spLocks noChangeAspect="1" noChangeArrowheads="1"/>
                </p:cNvSpPr>
                <p:nvPr/>
              </p:nvSpPr>
              <p:spPr bwMode="auto">
                <a:xfrm>
                  <a:off x="1427" y="789"/>
                  <a:ext cx="36"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92" name="Rectangle 2899"/>
                <p:cNvSpPr>
                  <a:spLocks noChangeAspect="1" noChangeArrowheads="1"/>
                </p:cNvSpPr>
                <p:nvPr/>
              </p:nvSpPr>
              <p:spPr bwMode="auto">
                <a:xfrm>
                  <a:off x="1427" y="785"/>
                  <a:ext cx="36"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93" name="Rectangle 2900"/>
                <p:cNvSpPr>
                  <a:spLocks noChangeAspect="1" noChangeArrowheads="1"/>
                </p:cNvSpPr>
                <p:nvPr/>
              </p:nvSpPr>
              <p:spPr bwMode="auto">
                <a:xfrm>
                  <a:off x="1427" y="781"/>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94" name="Rectangle 2901"/>
                <p:cNvSpPr>
                  <a:spLocks noChangeAspect="1" noChangeArrowheads="1"/>
                </p:cNvSpPr>
                <p:nvPr/>
              </p:nvSpPr>
              <p:spPr bwMode="auto">
                <a:xfrm>
                  <a:off x="1427" y="777"/>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95" name="Rectangle 2902"/>
                <p:cNvSpPr>
                  <a:spLocks noChangeAspect="1" noChangeArrowheads="1"/>
                </p:cNvSpPr>
                <p:nvPr/>
              </p:nvSpPr>
              <p:spPr bwMode="auto">
                <a:xfrm>
                  <a:off x="1427" y="773"/>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96" name="Rectangle 2903"/>
                <p:cNvSpPr>
                  <a:spLocks noChangeAspect="1" noChangeArrowheads="1"/>
                </p:cNvSpPr>
                <p:nvPr/>
              </p:nvSpPr>
              <p:spPr bwMode="auto">
                <a:xfrm>
                  <a:off x="1427" y="769"/>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97" name="Rectangle 2904"/>
                <p:cNvSpPr>
                  <a:spLocks noChangeAspect="1" noChangeArrowheads="1"/>
                </p:cNvSpPr>
                <p:nvPr/>
              </p:nvSpPr>
              <p:spPr bwMode="auto">
                <a:xfrm>
                  <a:off x="1427" y="765"/>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98" name="Rectangle 2905"/>
                <p:cNvSpPr>
                  <a:spLocks noChangeAspect="1" noChangeArrowheads="1"/>
                </p:cNvSpPr>
                <p:nvPr/>
              </p:nvSpPr>
              <p:spPr bwMode="auto">
                <a:xfrm>
                  <a:off x="1427" y="761"/>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599" name="Rectangle 2906"/>
                <p:cNvSpPr>
                  <a:spLocks noChangeAspect="1" noChangeArrowheads="1"/>
                </p:cNvSpPr>
                <p:nvPr/>
              </p:nvSpPr>
              <p:spPr bwMode="auto">
                <a:xfrm>
                  <a:off x="1427" y="757"/>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00" name="Rectangle 2907"/>
                <p:cNvSpPr>
                  <a:spLocks noChangeAspect="1" noChangeArrowheads="1"/>
                </p:cNvSpPr>
                <p:nvPr/>
              </p:nvSpPr>
              <p:spPr bwMode="auto">
                <a:xfrm>
                  <a:off x="1427" y="753"/>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01" name="Rectangle 2908"/>
                <p:cNvSpPr>
                  <a:spLocks noChangeAspect="1" noChangeArrowheads="1"/>
                </p:cNvSpPr>
                <p:nvPr/>
              </p:nvSpPr>
              <p:spPr bwMode="auto">
                <a:xfrm>
                  <a:off x="1427" y="749"/>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02" name="Rectangle 2909"/>
                <p:cNvSpPr>
                  <a:spLocks noChangeAspect="1" noChangeArrowheads="1"/>
                </p:cNvSpPr>
                <p:nvPr/>
              </p:nvSpPr>
              <p:spPr bwMode="auto">
                <a:xfrm>
                  <a:off x="1427" y="745"/>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03" name="Rectangle 2910"/>
                <p:cNvSpPr>
                  <a:spLocks noChangeAspect="1" noChangeArrowheads="1"/>
                </p:cNvSpPr>
                <p:nvPr/>
              </p:nvSpPr>
              <p:spPr bwMode="auto">
                <a:xfrm>
                  <a:off x="1427" y="741"/>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04" name="Rectangle 2911"/>
                <p:cNvSpPr>
                  <a:spLocks noChangeAspect="1" noChangeArrowheads="1"/>
                </p:cNvSpPr>
                <p:nvPr/>
              </p:nvSpPr>
              <p:spPr bwMode="auto">
                <a:xfrm>
                  <a:off x="1427" y="737"/>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05" name="Rectangle 2912"/>
                <p:cNvSpPr>
                  <a:spLocks noChangeAspect="1" noChangeArrowheads="1"/>
                </p:cNvSpPr>
                <p:nvPr/>
              </p:nvSpPr>
              <p:spPr bwMode="auto">
                <a:xfrm>
                  <a:off x="1427" y="734"/>
                  <a:ext cx="36"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06" name="Rectangle 2913"/>
                <p:cNvSpPr>
                  <a:spLocks noChangeAspect="1" noChangeArrowheads="1"/>
                </p:cNvSpPr>
                <p:nvPr/>
              </p:nvSpPr>
              <p:spPr bwMode="auto">
                <a:xfrm>
                  <a:off x="1427" y="730"/>
                  <a:ext cx="36"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607" name="Rectangle 2914"/>
                <p:cNvSpPr>
                  <a:spLocks noChangeAspect="1" noChangeArrowheads="1"/>
                </p:cNvSpPr>
                <p:nvPr/>
              </p:nvSpPr>
              <p:spPr bwMode="auto">
                <a:xfrm>
                  <a:off x="1427" y="726"/>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sp>
            <p:nvSpPr>
              <p:cNvPr id="388249" name="Rectangle 2915"/>
              <p:cNvSpPr>
                <a:spLocks noChangeAspect="1" noChangeArrowheads="1"/>
              </p:cNvSpPr>
              <p:nvPr/>
            </p:nvSpPr>
            <p:spPr bwMode="auto">
              <a:xfrm>
                <a:off x="1427" y="722"/>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50" name="Rectangle 2916"/>
              <p:cNvSpPr>
                <a:spLocks noChangeAspect="1" noChangeArrowheads="1"/>
              </p:cNvSpPr>
              <p:nvPr/>
            </p:nvSpPr>
            <p:spPr bwMode="auto">
              <a:xfrm>
                <a:off x="1427" y="718"/>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51" name="Rectangle 2917"/>
              <p:cNvSpPr>
                <a:spLocks noChangeAspect="1" noChangeArrowheads="1"/>
              </p:cNvSpPr>
              <p:nvPr/>
            </p:nvSpPr>
            <p:spPr bwMode="auto">
              <a:xfrm>
                <a:off x="1427" y="714"/>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52" name="Rectangle 2918"/>
              <p:cNvSpPr>
                <a:spLocks noChangeAspect="1" noChangeArrowheads="1"/>
              </p:cNvSpPr>
              <p:nvPr/>
            </p:nvSpPr>
            <p:spPr bwMode="auto">
              <a:xfrm>
                <a:off x="1427" y="710"/>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53" name="Rectangle 2919"/>
              <p:cNvSpPr>
                <a:spLocks noChangeAspect="1" noChangeArrowheads="1"/>
              </p:cNvSpPr>
              <p:nvPr/>
            </p:nvSpPr>
            <p:spPr bwMode="auto">
              <a:xfrm>
                <a:off x="1427" y="706"/>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54" name="Rectangle 2920"/>
              <p:cNvSpPr>
                <a:spLocks noChangeAspect="1" noChangeArrowheads="1"/>
              </p:cNvSpPr>
              <p:nvPr/>
            </p:nvSpPr>
            <p:spPr bwMode="auto">
              <a:xfrm>
                <a:off x="1427" y="702"/>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55" name="Rectangle 2921"/>
              <p:cNvSpPr>
                <a:spLocks noChangeAspect="1" noChangeArrowheads="1"/>
              </p:cNvSpPr>
              <p:nvPr/>
            </p:nvSpPr>
            <p:spPr bwMode="auto">
              <a:xfrm>
                <a:off x="1427" y="698"/>
                <a:ext cx="36"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56" name="Rectangle 2922"/>
              <p:cNvSpPr>
                <a:spLocks noChangeAspect="1" noChangeArrowheads="1"/>
              </p:cNvSpPr>
              <p:nvPr/>
            </p:nvSpPr>
            <p:spPr bwMode="auto">
              <a:xfrm>
                <a:off x="1427" y="698"/>
                <a:ext cx="36" cy="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57" name="Rectangle 2923"/>
              <p:cNvSpPr>
                <a:spLocks noChangeAspect="1" noChangeArrowheads="1"/>
              </p:cNvSpPr>
              <p:nvPr/>
            </p:nvSpPr>
            <p:spPr bwMode="auto">
              <a:xfrm>
                <a:off x="1427" y="698"/>
                <a:ext cx="36" cy="1"/>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58" name="Rectangle 2924"/>
              <p:cNvSpPr>
                <a:spLocks noChangeAspect="1" noChangeArrowheads="1"/>
              </p:cNvSpPr>
              <p:nvPr/>
            </p:nvSpPr>
            <p:spPr bwMode="auto">
              <a:xfrm>
                <a:off x="1427" y="698"/>
                <a:ext cx="36" cy="196"/>
              </a:xfrm>
              <a:prstGeom prst="rect">
                <a:avLst/>
              </a:prstGeom>
              <a:gradFill rotWithShape="0">
                <a:gsLst>
                  <a:gs pos="0">
                    <a:srgbClr val="339966"/>
                  </a:gs>
                  <a:gs pos="50000">
                    <a:srgbClr val="96CBB0"/>
                  </a:gs>
                  <a:gs pos="100000">
                    <a:srgbClr val="339966"/>
                  </a:gs>
                </a:gsLst>
                <a:lin ang="5400000" scaled="1"/>
              </a:gradFill>
              <a:ln w="1588">
                <a:solidFill>
                  <a:srgbClr val="1F1A17"/>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59" name="Rectangle 2925"/>
              <p:cNvSpPr>
                <a:spLocks noChangeAspect="1" noChangeArrowheads="1"/>
              </p:cNvSpPr>
              <p:nvPr/>
            </p:nvSpPr>
            <p:spPr bwMode="auto">
              <a:xfrm>
                <a:off x="1463" y="872"/>
                <a:ext cx="81" cy="3"/>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60" name="Rectangle 2926"/>
              <p:cNvSpPr>
                <a:spLocks noChangeAspect="1" noChangeArrowheads="1"/>
              </p:cNvSpPr>
              <p:nvPr/>
            </p:nvSpPr>
            <p:spPr bwMode="auto">
              <a:xfrm>
                <a:off x="1463" y="869"/>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61" name="Rectangle 2927"/>
              <p:cNvSpPr>
                <a:spLocks noChangeAspect="1" noChangeArrowheads="1"/>
              </p:cNvSpPr>
              <p:nvPr/>
            </p:nvSpPr>
            <p:spPr bwMode="auto">
              <a:xfrm>
                <a:off x="1463" y="865"/>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62" name="Rectangle 2928"/>
              <p:cNvSpPr>
                <a:spLocks noChangeAspect="1" noChangeArrowheads="1"/>
              </p:cNvSpPr>
              <p:nvPr/>
            </p:nvSpPr>
            <p:spPr bwMode="auto">
              <a:xfrm>
                <a:off x="1463" y="862"/>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63" name="Rectangle 2929"/>
              <p:cNvSpPr>
                <a:spLocks noChangeAspect="1" noChangeArrowheads="1"/>
              </p:cNvSpPr>
              <p:nvPr/>
            </p:nvSpPr>
            <p:spPr bwMode="auto">
              <a:xfrm>
                <a:off x="1463" y="859"/>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64" name="Rectangle 2930"/>
              <p:cNvSpPr>
                <a:spLocks noChangeAspect="1" noChangeArrowheads="1"/>
              </p:cNvSpPr>
              <p:nvPr/>
            </p:nvSpPr>
            <p:spPr bwMode="auto">
              <a:xfrm>
                <a:off x="1463" y="855"/>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65" name="Rectangle 2931"/>
              <p:cNvSpPr>
                <a:spLocks noChangeAspect="1" noChangeArrowheads="1"/>
              </p:cNvSpPr>
              <p:nvPr/>
            </p:nvSpPr>
            <p:spPr bwMode="auto">
              <a:xfrm>
                <a:off x="1463" y="852"/>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66" name="Rectangle 2932"/>
              <p:cNvSpPr>
                <a:spLocks noChangeAspect="1" noChangeArrowheads="1"/>
              </p:cNvSpPr>
              <p:nvPr/>
            </p:nvSpPr>
            <p:spPr bwMode="auto">
              <a:xfrm>
                <a:off x="1463" y="849"/>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67" name="Rectangle 2933"/>
              <p:cNvSpPr>
                <a:spLocks noChangeAspect="1" noChangeArrowheads="1"/>
              </p:cNvSpPr>
              <p:nvPr/>
            </p:nvSpPr>
            <p:spPr bwMode="auto">
              <a:xfrm>
                <a:off x="1463" y="846"/>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68" name="Rectangle 2934"/>
              <p:cNvSpPr>
                <a:spLocks noChangeAspect="1" noChangeArrowheads="1"/>
              </p:cNvSpPr>
              <p:nvPr/>
            </p:nvSpPr>
            <p:spPr bwMode="auto">
              <a:xfrm>
                <a:off x="1463" y="842"/>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69" name="Rectangle 2935"/>
              <p:cNvSpPr>
                <a:spLocks noChangeAspect="1" noChangeArrowheads="1"/>
              </p:cNvSpPr>
              <p:nvPr/>
            </p:nvSpPr>
            <p:spPr bwMode="auto">
              <a:xfrm>
                <a:off x="1463" y="839"/>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70" name="Rectangle 2936"/>
              <p:cNvSpPr>
                <a:spLocks noChangeAspect="1" noChangeArrowheads="1"/>
              </p:cNvSpPr>
              <p:nvPr/>
            </p:nvSpPr>
            <p:spPr bwMode="auto">
              <a:xfrm>
                <a:off x="1463" y="836"/>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71" name="Rectangle 2937"/>
              <p:cNvSpPr>
                <a:spLocks noChangeAspect="1" noChangeArrowheads="1"/>
              </p:cNvSpPr>
              <p:nvPr/>
            </p:nvSpPr>
            <p:spPr bwMode="auto">
              <a:xfrm>
                <a:off x="1463" y="830"/>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72" name="Rectangle 2938"/>
              <p:cNvSpPr>
                <a:spLocks noChangeAspect="1" noChangeArrowheads="1"/>
              </p:cNvSpPr>
              <p:nvPr/>
            </p:nvSpPr>
            <p:spPr bwMode="auto">
              <a:xfrm>
                <a:off x="1463" y="826"/>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73" name="Rectangle 2939"/>
              <p:cNvSpPr>
                <a:spLocks noChangeAspect="1" noChangeArrowheads="1"/>
              </p:cNvSpPr>
              <p:nvPr/>
            </p:nvSpPr>
            <p:spPr bwMode="auto">
              <a:xfrm>
                <a:off x="1463" y="823"/>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74" name="Rectangle 2940"/>
              <p:cNvSpPr>
                <a:spLocks noChangeAspect="1" noChangeArrowheads="1"/>
              </p:cNvSpPr>
              <p:nvPr/>
            </p:nvSpPr>
            <p:spPr bwMode="auto">
              <a:xfrm>
                <a:off x="1463" y="820"/>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75" name="Rectangle 2941"/>
              <p:cNvSpPr>
                <a:spLocks noChangeAspect="1" noChangeArrowheads="1"/>
              </p:cNvSpPr>
              <p:nvPr/>
            </p:nvSpPr>
            <p:spPr bwMode="auto">
              <a:xfrm>
                <a:off x="1463" y="817"/>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76" name="Rectangle 2942"/>
              <p:cNvSpPr>
                <a:spLocks noChangeAspect="1" noChangeArrowheads="1"/>
              </p:cNvSpPr>
              <p:nvPr/>
            </p:nvSpPr>
            <p:spPr bwMode="auto">
              <a:xfrm>
                <a:off x="1463" y="813"/>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77" name="Rectangle 2943"/>
              <p:cNvSpPr>
                <a:spLocks noChangeAspect="1" noChangeArrowheads="1"/>
              </p:cNvSpPr>
              <p:nvPr/>
            </p:nvSpPr>
            <p:spPr bwMode="auto">
              <a:xfrm>
                <a:off x="1463" y="810"/>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78" name="Rectangle 2944"/>
              <p:cNvSpPr>
                <a:spLocks noChangeAspect="1" noChangeArrowheads="1"/>
              </p:cNvSpPr>
              <p:nvPr/>
            </p:nvSpPr>
            <p:spPr bwMode="auto">
              <a:xfrm>
                <a:off x="1463" y="807"/>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79" name="Rectangle 2945"/>
              <p:cNvSpPr>
                <a:spLocks noChangeAspect="1" noChangeArrowheads="1"/>
              </p:cNvSpPr>
              <p:nvPr/>
            </p:nvSpPr>
            <p:spPr bwMode="auto">
              <a:xfrm>
                <a:off x="1463" y="803"/>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80" name="Rectangle 2946"/>
              <p:cNvSpPr>
                <a:spLocks noChangeAspect="1" noChangeArrowheads="1"/>
              </p:cNvSpPr>
              <p:nvPr/>
            </p:nvSpPr>
            <p:spPr bwMode="auto">
              <a:xfrm>
                <a:off x="1463" y="800"/>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81" name="Rectangle 2947"/>
              <p:cNvSpPr>
                <a:spLocks noChangeAspect="1" noChangeArrowheads="1"/>
              </p:cNvSpPr>
              <p:nvPr/>
            </p:nvSpPr>
            <p:spPr bwMode="auto">
              <a:xfrm>
                <a:off x="1463" y="797"/>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82" name="Rectangle 2948"/>
              <p:cNvSpPr>
                <a:spLocks noChangeAspect="1" noChangeArrowheads="1"/>
              </p:cNvSpPr>
              <p:nvPr/>
            </p:nvSpPr>
            <p:spPr bwMode="auto">
              <a:xfrm>
                <a:off x="1463" y="794"/>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83" name="Rectangle 2949"/>
              <p:cNvSpPr>
                <a:spLocks noChangeAspect="1" noChangeArrowheads="1"/>
              </p:cNvSpPr>
              <p:nvPr/>
            </p:nvSpPr>
            <p:spPr bwMode="auto">
              <a:xfrm>
                <a:off x="1463" y="787"/>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84" name="Rectangle 2950"/>
              <p:cNvSpPr>
                <a:spLocks noChangeAspect="1" noChangeArrowheads="1"/>
              </p:cNvSpPr>
              <p:nvPr/>
            </p:nvSpPr>
            <p:spPr bwMode="auto">
              <a:xfrm>
                <a:off x="1463" y="784"/>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85" name="Rectangle 2951"/>
              <p:cNvSpPr>
                <a:spLocks noChangeAspect="1" noChangeArrowheads="1"/>
              </p:cNvSpPr>
              <p:nvPr/>
            </p:nvSpPr>
            <p:spPr bwMode="auto">
              <a:xfrm>
                <a:off x="1463" y="781"/>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86" name="Rectangle 2952"/>
              <p:cNvSpPr>
                <a:spLocks noChangeAspect="1" noChangeArrowheads="1"/>
              </p:cNvSpPr>
              <p:nvPr/>
            </p:nvSpPr>
            <p:spPr bwMode="auto">
              <a:xfrm>
                <a:off x="1463" y="778"/>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87" name="Rectangle 2953"/>
              <p:cNvSpPr>
                <a:spLocks noChangeAspect="1" noChangeArrowheads="1"/>
              </p:cNvSpPr>
              <p:nvPr/>
            </p:nvSpPr>
            <p:spPr bwMode="auto">
              <a:xfrm>
                <a:off x="1463" y="774"/>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88" name="Rectangle 2954"/>
              <p:cNvSpPr>
                <a:spLocks noChangeAspect="1" noChangeArrowheads="1"/>
              </p:cNvSpPr>
              <p:nvPr/>
            </p:nvSpPr>
            <p:spPr bwMode="auto">
              <a:xfrm>
                <a:off x="1463" y="771"/>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89" name="Rectangle 2955"/>
              <p:cNvSpPr>
                <a:spLocks noChangeAspect="1" noChangeArrowheads="1"/>
              </p:cNvSpPr>
              <p:nvPr/>
            </p:nvSpPr>
            <p:spPr bwMode="auto">
              <a:xfrm>
                <a:off x="1463" y="768"/>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90" name="Rectangle 2956"/>
              <p:cNvSpPr>
                <a:spLocks noChangeAspect="1" noChangeArrowheads="1"/>
              </p:cNvSpPr>
              <p:nvPr/>
            </p:nvSpPr>
            <p:spPr bwMode="auto">
              <a:xfrm>
                <a:off x="1463" y="765"/>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91" name="Rectangle 2957"/>
              <p:cNvSpPr>
                <a:spLocks noChangeAspect="1" noChangeArrowheads="1"/>
              </p:cNvSpPr>
              <p:nvPr/>
            </p:nvSpPr>
            <p:spPr bwMode="auto">
              <a:xfrm>
                <a:off x="1463" y="761"/>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92" name="Rectangle 2958"/>
              <p:cNvSpPr>
                <a:spLocks noChangeAspect="1" noChangeArrowheads="1"/>
              </p:cNvSpPr>
              <p:nvPr/>
            </p:nvSpPr>
            <p:spPr bwMode="auto">
              <a:xfrm>
                <a:off x="1463" y="758"/>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93" name="Rectangle 2959"/>
              <p:cNvSpPr>
                <a:spLocks noChangeAspect="1" noChangeArrowheads="1"/>
              </p:cNvSpPr>
              <p:nvPr/>
            </p:nvSpPr>
            <p:spPr bwMode="auto">
              <a:xfrm>
                <a:off x="1463" y="755"/>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94" name="Rectangle 2960"/>
              <p:cNvSpPr>
                <a:spLocks noChangeAspect="1" noChangeArrowheads="1"/>
              </p:cNvSpPr>
              <p:nvPr/>
            </p:nvSpPr>
            <p:spPr bwMode="auto">
              <a:xfrm>
                <a:off x="1463" y="752"/>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95" name="Rectangle 2961"/>
              <p:cNvSpPr>
                <a:spLocks noChangeAspect="1" noChangeArrowheads="1"/>
              </p:cNvSpPr>
              <p:nvPr/>
            </p:nvSpPr>
            <p:spPr bwMode="auto">
              <a:xfrm>
                <a:off x="1463" y="748"/>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96" name="Rectangle 2962"/>
              <p:cNvSpPr>
                <a:spLocks noChangeAspect="1" noChangeArrowheads="1"/>
              </p:cNvSpPr>
              <p:nvPr/>
            </p:nvSpPr>
            <p:spPr bwMode="auto">
              <a:xfrm>
                <a:off x="1463" y="745"/>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97" name="Rectangle 2963"/>
              <p:cNvSpPr>
                <a:spLocks noChangeAspect="1" noChangeArrowheads="1"/>
              </p:cNvSpPr>
              <p:nvPr/>
            </p:nvSpPr>
            <p:spPr bwMode="auto">
              <a:xfrm>
                <a:off x="1463" y="739"/>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98" name="Rectangle 2964"/>
              <p:cNvSpPr>
                <a:spLocks noChangeAspect="1" noChangeArrowheads="1"/>
              </p:cNvSpPr>
              <p:nvPr/>
            </p:nvSpPr>
            <p:spPr bwMode="auto">
              <a:xfrm>
                <a:off x="1463" y="735"/>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299" name="Rectangle 2965"/>
              <p:cNvSpPr>
                <a:spLocks noChangeAspect="1" noChangeArrowheads="1"/>
              </p:cNvSpPr>
              <p:nvPr/>
            </p:nvSpPr>
            <p:spPr bwMode="auto">
              <a:xfrm>
                <a:off x="1463" y="732"/>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00" name="Rectangle 2966"/>
              <p:cNvSpPr>
                <a:spLocks noChangeAspect="1" noChangeArrowheads="1"/>
              </p:cNvSpPr>
              <p:nvPr/>
            </p:nvSpPr>
            <p:spPr bwMode="auto">
              <a:xfrm>
                <a:off x="1463" y="729"/>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01" name="Rectangle 2967"/>
              <p:cNvSpPr>
                <a:spLocks noChangeAspect="1" noChangeArrowheads="1"/>
              </p:cNvSpPr>
              <p:nvPr/>
            </p:nvSpPr>
            <p:spPr bwMode="auto">
              <a:xfrm>
                <a:off x="1463" y="726"/>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02" name="Rectangle 2968"/>
              <p:cNvSpPr>
                <a:spLocks noChangeAspect="1" noChangeArrowheads="1"/>
              </p:cNvSpPr>
              <p:nvPr/>
            </p:nvSpPr>
            <p:spPr bwMode="auto">
              <a:xfrm>
                <a:off x="1463" y="722"/>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03" name="Rectangle 2969"/>
              <p:cNvSpPr>
                <a:spLocks noChangeAspect="1" noChangeArrowheads="1"/>
              </p:cNvSpPr>
              <p:nvPr/>
            </p:nvSpPr>
            <p:spPr bwMode="auto">
              <a:xfrm>
                <a:off x="1463" y="719"/>
                <a:ext cx="8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04" name="Rectangle 2970"/>
              <p:cNvSpPr>
                <a:spLocks noChangeAspect="1" noChangeArrowheads="1"/>
              </p:cNvSpPr>
              <p:nvPr/>
            </p:nvSpPr>
            <p:spPr bwMode="auto">
              <a:xfrm>
                <a:off x="1463" y="716"/>
                <a:ext cx="8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05" name="Rectangle 2971"/>
              <p:cNvSpPr>
                <a:spLocks noChangeAspect="1" noChangeArrowheads="1"/>
              </p:cNvSpPr>
              <p:nvPr/>
            </p:nvSpPr>
            <p:spPr bwMode="auto">
              <a:xfrm>
                <a:off x="1463" y="713"/>
                <a:ext cx="81" cy="162"/>
              </a:xfrm>
              <a:prstGeom prst="rect">
                <a:avLst/>
              </a:prstGeom>
              <a:gradFill rotWithShape="0">
                <a:gsLst>
                  <a:gs pos="0">
                    <a:srgbClr val="339966"/>
                  </a:gs>
                  <a:gs pos="50000">
                    <a:srgbClr val="96CBB0"/>
                  </a:gs>
                  <a:gs pos="100000">
                    <a:srgbClr val="339966"/>
                  </a:gs>
                </a:gsLst>
                <a:lin ang="5400000" scaled="1"/>
              </a:gradFill>
              <a:ln w="1588">
                <a:solidFill>
                  <a:srgbClr val="1F1A17"/>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06" name="Rectangle 2972"/>
              <p:cNvSpPr>
                <a:spLocks noChangeAspect="1" noChangeArrowheads="1"/>
              </p:cNvSpPr>
              <p:nvPr/>
            </p:nvSpPr>
            <p:spPr bwMode="auto">
              <a:xfrm>
                <a:off x="1012" y="894"/>
                <a:ext cx="11"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07" name="Rectangle 2973"/>
              <p:cNvSpPr>
                <a:spLocks noChangeAspect="1" noChangeArrowheads="1"/>
              </p:cNvSpPr>
              <p:nvPr/>
            </p:nvSpPr>
            <p:spPr bwMode="auto">
              <a:xfrm>
                <a:off x="1012"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08" name="Rectangle 2974"/>
              <p:cNvSpPr>
                <a:spLocks noChangeAspect="1" noChangeArrowheads="1"/>
              </p:cNvSpPr>
              <p:nvPr/>
            </p:nvSpPr>
            <p:spPr bwMode="auto">
              <a:xfrm>
                <a:off x="1023"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09" name="Rectangle 2975"/>
              <p:cNvSpPr>
                <a:spLocks noChangeAspect="1" noChangeArrowheads="1"/>
              </p:cNvSpPr>
              <p:nvPr/>
            </p:nvSpPr>
            <p:spPr bwMode="auto">
              <a:xfrm>
                <a:off x="1035"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10" name="Rectangle 2976"/>
              <p:cNvSpPr>
                <a:spLocks noChangeAspect="1" noChangeArrowheads="1"/>
              </p:cNvSpPr>
              <p:nvPr/>
            </p:nvSpPr>
            <p:spPr bwMode="auto">
              <a:xfrm>
                <a:off x="1046" y="894"/>
                <a:ext cx="24"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11" name="Rectangle 2977"/>
              <p:cNvSpPr>
                <a:spLocks noChangeAspect="1" noChangeArrowheads="1"/>
              </p:cNvSpPr>
              <p:nvPr/>
            </p:nvSpPr>
            <p:spPr bwMode="auto">
              <a:xfrm>
                <a:off x="1058"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12" name="Rectangle 2978"/>
              <p:cNvSpPr>
                <a:spLocks noChangeAspect="1" noChangeArrowheads="1"/>
              </p:cNvSpPr>
              <p:nvPr/>
            </p:nvSpPr>
            <p:spPr bwMode="auto">
              <a:xfrm>
                <a:off x="1070"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13" name="Rectangle 2979"/>
              <p:cNvSpPr>
                <a:spLocks noChangeAspect="1" noChangeArrowheads="1"/>
              </p:cNvSpPr>
              <p:nvPr/>
            </p:nvSpPr>
            <p:spPr bwMode="auto">
              <a:xfrm>
                <a:off x="1081" y="894"/>
                <a:ext cx="24"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14" name="Rectangle 2980"/>
              <p:cNvSpPr>
                <a:spLocks noChangeAspect="1" noChangeArrowheads="1"/>
              </p:cNvSpPr>
              <p:nvPr/>
            </p:nvSpPr>
            <p:spPr bwMode="auto">
              <a:xfrm>
                <a:off x="1093" y="894"/>
                <a:ext cx="24"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15" name="Rectangle 2981"/>
              <p:cNvSpPr>
                <a:spLocks noChangeAspect="1" noChangeArrowheads="1"/>
              </p:cNvSpPr>
              <p:nvPr/>
            </p:nvSpPr>
            <p:spPr bwMode="auto">
              <a:xfrm>
                <a:off x="1105"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16" name="Rectangle 2982"/>
              <p:cNvSpPr>
                <a:spLocks noChangeAspect="1" noChangeArrowheads="1"/>
              </p:cNvSpPr>
              <p:nvPr/>
            </p:nvSpPr>
            <p:spPr bwMode="auto">
              <a:xfrm>
                <a:off x="1117"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17" name="Rectangle 2983"/>
              <p:cNvSpPr>
                <a:spLocks noChangeAspect="1" noChangeArrowheads="1"/>
              </p:cNvSpPr>
              <p:nvPr/>
            </p:nvSpPr>
            <p:spPr bwMode="auto">
              <a:xfrm>
                <a:off x="1128" y="894"/>
                <a:ext cx="24"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18" name="Rectangle 2984"/>
              <p:cNvSpPr>
                <a:spLocks noChangeAspect="1" noChangeArrowheads="1"/>
              </p:cNvSpPr>
              <p:nvPr/>
            </p:nvSpPr>
            <p:spPr bwMode="auto">
              <a:xfrm>
                <a:off x="1140"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19" name="Rectangle 2985"/>
              <p:cNvSpPr>
                <a:spLocks noChangeAspect="1" noChangeArrowheads="1"/>
              </p:cNvSpPr>
              <p:nvPr/>
            </p:nvSpPr>
            <p:spPr bwMode="auto">
              <a:xfrm>
                <a:off x="1152"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20" name="Rectangle 2986"/>
              <p:cNvSpPr>
                <a:spLocks noChangeAspect="1" noChangeArrowheads="1"/>
              </p:cNvSpPr>
              <p:nvPr/>
            </p:nvSpPr>
            <p:spPr bwMode="auto">
              <a:xfrm>
                <a:off x="1163" y="894"/>
                <a:ext cx="24"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21" name="Rectangle 2987"/>
              <p:cNvSpPr>
                <a:spLocks noChangeAspect="1" noChangeArrowheads="1"/>
              </p:cNvSpPr>
              <p:nvPr/>
            </p:nvSpPr>
            <p:spPr bwMode="auto">
              <a:xfrm>
                <a:off x="1175" y="894"/>
                <a:ext cx="24"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22" name="Rectangle 2988"/>
              <p:cNvSpPr>
                <a:spLocks noChangeAspect="1" noChangeArrowheads="1"/>
              </p:cNvSpPr>
              <p:nvPr/>
            </p:nvSpPr>
            <p:spPr bwMode="auto">
              <a:xfrm>
                <a:off x="1187"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23" name="Rectangle 2989"/>
              <p:cNvSpPr>
                <a:spLocks noChangeAspect="1" noChangeArrowheads="1"/>
              </p:cNvSpPr>
              <p:nvPr/>
            </p:nvSpPr>
            <p:spPr bwMode="auto">
              <a:xfrm>
                <a:off x="1199"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24" name="Rectangle 2990"/>
              <p:cNvSpPr>
                <a:spLocks noChangeAspect="1" noChangeArrowheads="1"/>
              </p:cNvSpPr>
              <p:nvPr/>
            </p:nvSpPr>
            <p:spPr bwMode="auto">
              <a:xfrm>
                <a:off x="1210" y="894"/>
                <a:ext cx="24"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25" name="Rectangle 2991"/>
              <p:cNvSpPr>
                <a:spLocks noChangeAspect="1" noChangeArrowheads="1"/>
              </p:cNvSpPr>
              <p:nvPr/>
            </p:nvSpPr>
            <p:spPr bwMode="auto">
              <a:xfrm>
                <a:off x="1222"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26" name="Rectangle 2992"/>
              <p:cNvSpPr>
                <a:spLocks noChangeAspect="1" noChangeArrowheads="1"/>
              </p:cNvSpPr>
              <p:nvPr/>
            </p:nvSpPr>
            <p:spPr bwMode="auto">
              <a:xfrm>
                <a:off x="1234"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27" name="Rectangle 2993"/>
              <p:cNvSpPr>
                <a:spLocks noChangeAspect="1" noChangeArrowheads="1"/>
              </p:cNvSpPr>
              <p:nvPr/>
            </p:nvSpPr>
            <p:spPr bwMode="auto">
              <a:xfrm>
                <a:off x="1245"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28" name="Rectangle 2994"/>
              <p:cNvSpPr>
                <a:spLocks noChangeAspect="1" noChangeArrowheads="1"/>
              </p:cNvSpPr>
              <p:nvPr/>
            </p:nvSpPr>
            <p:spPr bwMode="auto">
              <a:xfrm>
                <a:off x="1257"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29" name="Rectangle 2995"/>
              <p:cNvSpPr>
                <a:spLocks noChangeAspect="1" noChangeArrowheads="1"/>
              </p:cNvSpPr>
              <p:nvPr/>
            </p:nvSpPr>
            <p:spPr bwMode="auto">
              <a:xfrm>
                <a:off x="1268" y="894"/>
                <a:ext cx="24"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30" name="Rectangle 2996"/>
              <p:cNvSpPr>
                <a:spLocks noChangeAspect="1" noChangeArrowheads="1"/>
              </p:cNvSpPr>
              <p:nvPr/>
            </p:nvSpPr>
            <p:spPr bwMode="auto">
              <a:xfrm>
                <a:off x="1280" y="894"/>
                <a:ext cx="24"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31" name="Rectangle 2997"/>
              <p:cNvSpPr>
                <a:spLocks noChangeAspect="1" noChangeArrowheads="1"/>
              </p:cNvSpPr>
              <p:nvPr/>
            </p:nvSpPr>
            <p:spPr bwMode="auto">
              <a:xfrm>
                <a:off x="1292"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32" name="Rectangle 2998"/>
              <p:cNvSpPr>
                <a:spLocks noChangeAspect="1" noChangeArrowheads="1"/>
              </p:cNvSpPr>
              <p:nvPr/>
            </p:nvSpPr>
            <p:spPr bwMode="auto">
              <a:xfrm>
                <a:off x="1304"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33" name="Rectangle 2999"/>
              <p:cNvSpPr>
                <a:spLocks noChangeAspect="1" noChangeArrowheads="1"/>
              </p:cNvSpPr>
              <p:nvPr/>
            </p:nvSpPr>
            <p:spPr bwMode="auto">
              <a:xfrm>
                <a:off x="1315" y="894"/>
                <a:ext cx="24"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34" name="Rectangle 3000"/>
              <p:cNvSpPr>
                <a:spLocks noChangeAspect="1" noChangeArrowheads="1"/>
              </p:cNvSpPr>
              <p:nvPr/>
            </p:nvSpPr>
            <p:spPr bwMode="auto">
              <a:xfrm>
                <a:off x="1327"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35" name="Rectangle 3001"/>
              <p:cNvSpPr>
                <a:spLocks noChangeAspect="1" noChangeArrowheads="1"/>
              </p:cNvSpPr>
              <p:nvPr/>
            </p:nvSpPr>
            <p:spPr bwMode="auto">
              <a:xfrm>
                <a:off x="1339"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36" name="Rectangle 3002"/>
              <p:cNvSpPr>
                <a:spLocks noChangeAspect="1" noChangeArrowheads="1"/>
              </p:cNvSpPr>
              <p:nvPr/>
            </p:nvSpPr>
            <p:spPr bwMode="auto">
              <a:xfrm>
                <a:off x="1350" y="894"/>
                <a:ext cx="24"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37" name="Rectangle 3003"/>
              <p:cNvSpPr>
                <a:spLocks noChangeAspect="1" noChangeArrowheads="1"/>
              </p:cNvSpPr>
              <p:nvPr/>
            </p:nvSpPr>
            <p:spPr bwMode="auto">
              <a:xfrm>
                <a:off x="1362"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38" name="Rectangle 3004"/>
              <p:cNvSpPr>
                <a:spLocks noChangeAspect="1" noChangeArrowheads="1"/>
              </p:cNvSpPr>
              <p:nvPr/>
            </p:nvSpPr>
            <p:spPr bwMode="auto">
              <a:xfrm>
                <a:off x="1374"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39" name="Rectangle 3005"/>
              <p:cNvSpPr>
                <a:spLocks noChangeAspect="1" noChangeArrowheads="1"/>
              </p:cNvSpPr>
              <p:nvPr/>
            </p:nvSpPr>
            <p:spPr bwMode="auto">
              <a:xfrm>
                <a:off x="1385" y="894"/>
                <a:ext cx="24"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40" name="Rectangle 3006"/>
              <p:cNvSpPr>
                <a:spLocks noChangeAspect="1" noChangeArrowheads="1"/>
              </p:cNvSpPr>
              <p:nvPr/>
            </p:nvSpPr>
            <p:spPr bwMode="auto">
              <a:xfrm>
                <a:off x="1397" y="894"/>
                <a:ext cx="24"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41" name="Rectangle 3007"/>
              <p:cNvSpPr>
                <a:spLocks noChangeAspect="1" noChangeArrowheads="1"/>
              </p:cNvSpPr>
              <p:nvPr/>
            </p:nvSpPr>
            <p:spPr bwMode="auto">
              <a:xfrm>
                <a:off x="1409"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42" name="Rectangle 3008"/>
              <p:cNvSpPr>
                <a:spLocks noChangeAspect="1" noChangeArrowheads="1"/>
              </p:cNvSpPr>
              <p:nvPr/>
            </p:nvSpPr>
            <p:spPr bwMode="auto">
              <a:xfrm>
                <a:off x="1421"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43" name="Rectangle 3009"/>
              <p:cNvSpPr>
                <a:spLocks noChangeAspect="1" noChangeArrowheads="1"/>
              </p:cNvSpPr>
              <p:nvPr/>
            </p:nvSpPr>
            <p:spPr bwMode="auto">
              <a:xfrm>
                <a:off x="1432" y="894"/>
                <a:ext cx="24"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44" name="Rectangle 3010"/>
              <p:cNvSpPr>
                <a:spLocks noChangeAspect="1" noChangeArrowheads="1"/>
              </p:cNvSpPr>
              <p:nvPr/>
            </p:nvSpPr>
            <p:spPr bwMode="auto">
              <a:xfrm>
                <a:off x="1444"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45" name="Rectangle 3011"/>
              <p:cNvSpPr>
                <a:spLocks noChangeAspect="1" noChangeArrowheads="1"/>
              </p:cNvSpPr>
              <p:nvPr/>
            </p:nvSpPr>
            <p:spPr bwMode="auto">
              <a:xfrm>
                <a:off x="1456"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46" name="Rectangle 3012"/>
              <p:cNvSpPr>
                <a:spLocks noChangeAspect="1" noChangeArrowheads="1"/>
              </p:cNvSpPr>
              <p:nvPr/>
            </p:nvSpPr>
            <p:spPr bwMode="auto">
              <a:xfrm>
                <a:off x="1467"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47" name="Rectangle 3013"/>
              <p:cNvSpPr>
                <a:spLocks noChangeAspect="1" noChangeArrowheads="1"/>
              </p:cNvSpPr>
              <p:nvPr/>
            </p:nvSpPr>
            <p:spPr bwMode="auto">
              <a:xfrm>
                <a:off x="1479"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48" name="Rectangle 3014"/>
              <p:cNvSpPr>
                <a:spLocks noChangeAspect="1" noChangeArrowheads="1"/>
              </p:cNvSpPr>
              <p:nvPr/>
            </p:nvSpPr>
            <p:spPr bwMode="auto">
              <a:xfrm>
                <a:off x="1490" y="894"/>
                <a:ext cx="24"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49" name="Rectangle 3015"/>
              <p:cNvSpPr>
                <a:spLocks noChangeAspect="1" noChangeArrowheads="1"/>
              </p:cNvSpPr>
              <p:nvPr/>
            </p:nvSpPr>
            <p:spPr bwMode="auto">
              <a:xfrm>
                <a:off x="1502" y="894"/>
                <a:ext cx="24"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50" name="Rectangle 3016"/>
              <p:cNvSpPr>
                <a:spLocks noChangeAspect="1" noChangeArrowheads="1"/>
              </p:cNvSpPr>
              <p:nvPr/>
            </p:nvSpPr>
            <p:spPr bwMode="auto">
              <a:xfrm>
                <a:off x="1514"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51" name="Rectangle 3017"/>
              <p:cNvSpPr>
                <a:spLocks noChangeAspect="1" noChangeArrowheads="1"/>
              </p:cNvSpPr>
              <p:nvPr/>
            </p:nvSpPr>
            <p:spPr bwMode="auto">
              <a:xfrm>
                <a:off x="1526"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52" name="Rectangle 3018"/>
              <p:cNvSpPr>
                <a:spLocks noChangeAspect="1" noChangeArrowheads="1"/>
              </p:cNvSpPr>
              <p:nvPr/>
            </p:nvSpPr>
            <p:spPr bwMode="auto">
              <a:xfrm>
                <a:off x="1537" y="894"/>
                <a:ext cx="24"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53" name="Rectangle 3019"/>
              <p:cNvSpPr>
                <a:spLocks noChangeAspect="1" noChangeArrowheads="1"/>
              </p:cNvSpPr>
              <p:nvPr/>
            </p:nvSpPr>
            <p:spPr bwMode="auto">
              <a:xfrm>
                <a:off x="1549"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54" name="Rectangle 3020"/>
              <p:cNvSpPr>
                <a:spLocks noChangeAspect="1" noChangeArrowheads="1"/>
              </p:cNvSpPr>
              <p:nvPr/>
            </p:nvSpPr>
            <p:spPr bwMode="auto">
              <a:xfrm>
                <a:off x="1561" y="894"/>
                <a:ext cx="23"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55" name="Rectangle 3021"/>
              <p:cNvSpPr>
                <a:spLocks noChangeAspect="1" noChangeArrowheads="1"/>
              </p:cNvSpPr>
              <p:nvPr/>
            </p:nvSpPr>
            <p:spPr bwMode="auto">
              <a:xfrm>
                <a:off x="1572" y="894"/>
                <a:ext cx="24"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56" name="Rectangle 3022"/>
              <p:cNvSpPr>
                <a:spLocks noChangeAspect="1" noChangeArrowheads="1"/>
              </p:cNvSpPr>
              <p:nvPr/>
            </p:nvSpPr>
            <p:spPr bwMode="auto">
              <a:xfrm>
                <a:off x="1584" y="894"/>
                <a:ext cx="12" cy="2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57" name="Rectangle 3023"/>
              <p:cNvSpPr>
                <a:spLocks noChangeAspect="1" noChangeArrowheads="1"/>
              </p:cNvSpPr>
              <p:nvPr/>
            </p:nvSpPr>
            <p:spPr bwMode="auto">
              <a:xfrm>
                <a:off x="1012" y="894"/>
                <a:ext cx="584" cy="28"/>
              </a:xfrm>
              <a:prstGeom prst="rect">
                <a:avLst/>
              </a:prstGeom>
              <a:gradFill rotWithShape="0">
                <a:gsLst>
                  <a:gs pos="0">
                    <a:srgbClr val="339966"/>
                  </a:gs>
                  <a:gs pos="50000">
                    <a:srgbClr val="96CBB0"/>
                  </a:gs>
                  <a:gs pos="100000">
                    <a:srgbClr val="339966"/>
                  </a:gs>
                </a:gsLst>
                <a:lin ang="5400000" scaled="1"/>
              </a:gradFill>
              <a:ln w="1588">
                <a:solidFill>
                  <a:srgbClr val="1F1A17"/>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8358" name="Freeform 3024"/>
              <p:cNvSpPr>
                <a:spLocks noChangeAspect="1"/>
              </p:cNvSpPr>
              <p:nvPr/>
            </p:nvSpPr>
            <p:spPr bwMode="auto">
              <a:xfrm>
                <a:off x="1062" y="768"/>
                <a:ext cx="4" cy="3"/>
              </a:xfrm>
              <a:custGeom>
                <a:avLst/>
                <a:gdLst>
                  <a:gd name="T0" fmla="*/ 0 w 14"/>
                  <a:gd name="T1" fmla="*/ 0 h 7"/>
                  <a:gd name="T2" fmla="*/ 0 w 14"/>
                  <a:gd name="T3" fmla="*/ 0 h 7"/>
                  <a:gd name="T4" fmla="*/ 0 w 14"/>
                  <a:gd name="T5" fmla="*/ 0 h 7"/>
                  <a:gd name="T6" fmla="*/ 0 w 14"/>
                  <a:gd name="T7" fmla="*/ 0 h 7"/>
                  <a:gd name="T8" fmla="*/ 0 w 1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7">
                    <a:moveTo>
                      <a:pt x="14" y="7"/>
                    </a:moveTo>
                    <a:lnTo>
                      <a:pt x="8" y="7"/>
                    </a:lnTo>
                    <a:lnTo>
                      <a:pt x="0" y="0"/>
                    </a:lnTo>
                    <a:lnTo>
                      <a:pt x="14" y="0"/>
                    </a:lnTo>
                    <a:lnTo>
                      <a:pt x="14"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59" name="Freeform 3025"/>
              <p:cNvSpPr>
                <a:spLocks noChangeAspect="1"/>
              </p:cNvSpPr>
              <p:nvPr/>
            </p:nvSpPr>
            <p:spPr bwMode="auto">
              <a:xfrm>
                <a:off x="1060" y="767"/>
                <a:ext cx="6" cy="3"/>
              </a:xfrm>
              <a:custGeom>
                <a:avLst/>
                <a:gdLst>
                  <a:gd name="T0" fmla="*/ 0 w 19"/>
                  <a:gd name="T1" fmla="*/ 0 h 7"/>
                  <a:gd name="T2" fmla="*/ 0 w 19"/>
                  <a:gd name="T3" fmla="*/ 0 h 7"/>
                  <a:gd name="T4" fmla="*/ 0 w 19"/>
                  <a:gd name="T5" fmla="*/ 0 h 7"/>
                  <a:gd name="T6" fmla="*/ 0 w 19"/>
                  <a:gd name="T7" fmla="*/ 0 h 7"/>
                  <a:gd name="T8" fmla="*/ 0 w 1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7">
                    <a:moveTo>
                      <a:pt x="19" y="7"/>
                    </a:moveTo>
                    <a:lnTo>
                      <a:pt x="9" y="7"/>
                    </a:lnTo>
                    <a:lnTo>
                      <a:pt x="0" y="0"/>
                    </a:lnTo>
                    <a:lnTo>
                      <a:pt x="19" y="0"/>
                    </a:lnTo>
                    <a:lnTo>
                      <a:pt x="19"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60" name="Freeform 3026"/>
              <p:cNvSpPr>
                <a:spLocks noChangeAspect="1"/>
              </p:cNvSpPr>
              <p:nvPr/>
            </p:nvSpPr>
            <p:spPr bwMode="auto">
              <a:xfrm>
                <a:off x="1059" y="766"/>
                <a:ext cx="7" cy="2"/>
              </a:xfrm>
              <a:custGeom>
                <a:avLst/>
                <a:gdLst>
                  <a:gd name="T0" fmla="*/ 0 w 23"/>
                  <a:gd name="T1" fmla="*/ 0 h 6"/>
                  <a:gd name="T2" fmla="*/ 0 w 23"/>
                  <a:gd name="T3" fmla="*/ 0 h 6"/>
                  <a:gd name="T4" fmla="*/ 0 w 23"/>
                  <a:gd name="T5" fmla="*/ 0 h 6"/>
                  <a:gd name="T6" fmla="*/ 0 w 23"/>
                  <a:gd name="T7" fmla="*/ 0 h 6"/>
                  <a:gd name="T8" fmla="*/ 0 w 23"/>
                  <a:gd name="T9" fmla="*/ 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
                    <a:moveTo>
                      <a:pt x="23" y="6"/>
                    </a:moveTo>
                    <a:lnTo>
                      <a:pt x="9" y="6"/>
                    </a:lnTo>
                    <a:lnTo>
                      <a:pt x="0" y="0"/>
                    </a:lnTo>
                    <a:lnTo>
                      <a:pt x="23" y="0"/>
                    </a:lnTo>
                    <a:lnTo>
                      <a:pt x="23" y="6"/>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61" name="Freeform 3027"/>
              <p:cNvSpPr>
                <a:spLocks noChangeAspect="1"/>
              </p:cNvSpPr>
              <p:nvPr/>
            </p:nvSpPr>
            <p:spPr bwMode="auto">
              <a:xfrm>
                <a:off x="1057" y="765"/>
                <a:ext cx="9" cy="2"/>
              </a:xfrm>
              <a:custGeom>
                <a:avLst/>
                <a:gdLst>
                  <a:gd name="T0" fmla="*/ 0 w 28"/>
                  <a:gd name="T1" fmla="*/ 0 h 8"/>
                  <a:gd name="T2" fmla="*/ 0 w 28"/>
                  <a:gd name="T3" fmla="*/ 0 h 8"/>
                  <a:gd name="T4" fmla="*/ 0 w 28"/>
                  <a:gd name="T5" fmla="*/ 0 h 8"/>
                  <a:gd name="T6" fmla="*/ 0 w 28"/>
                  <a:gd name="T7" fmla="*/ 0 h 8"/>
                  <a:gd name="T8" fmla="*/ 0 w 2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8">
                    <a:moveTo>
                      <a:pt x="28" y="8"/>
                    </a:moveTo>
                    <a:lnTo>
                      <a:pt x="9" y="8"/>
                    </a:lnTo>
                    <a:lnTo>
                      <a:pt x="0" y="0"/>
                    </a:lnTo>
                    <a:lnTo>
                      <a:pt x="28" y="0"/>
                    </a:lnTo>
                    <a:lnTo>
                      <a:pt x="28"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62" name="Freeform 3028"/>
              <p:cNvSpPr>
                <a:spLocks noChangeAspect="1"/>
              </p:cNvSpPr>
              <p:nvPr/>
            </p:nvSpPr>
            <p:spPr bwMode="auto">
              <a:xfrm>
                <a:off x="1056" y="764"/>
                <a:ext cx="10" cy="2"/>
              </a:xfrm>
              <a:custGeom>
                <a:avLst/>
                <a:gdLst>
                  <a:gd name="T0" fmla="*/ 0 w 32"/>
                  <a:gd name="T1" fmla="*/ 0 h 8"/>
                  <a:gd name="T2" fmla="*/ 0 w 32"/>
                  <a:gd name="T3" fmla="*/ 0 h 8"/>
                  <a:gd name="T4" fmla="*/ 0 w 32"/>
                  <a:gd name="T5" fmla="*/ 0 h 8"/>
                  <a:gd name="T6" fmla="*/ 0 w 32"/>
                  <a:gd name="T7" fmla="*/ 0 h 8"/>
                  <a:gd name="T8" fmla="*/ 0 w 3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 h="8">
                    <a:moveTo>
                      <a:pt x="32" y="8"/>
                    </a:moveTo>
                    <a:lnTo>
                      <a:pt x="9" y="8"/>
                    </a:lnTo>
                    <a:lnTo>
                      <a:pt x="0" y="0"/>
                    </a:lnTo>
                    <a:lnTo>
                      <a:pt x="32" y="0"/>
                    </a:lnTo>
                    <a:lnTo>
                      <a:pt x="32"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63" name="Freeform 3029"/>
              <p:cNvSpPr>
                <a:spLocks noChangeAspect="1"/>
              </p:cNvSpPr>
              <p:nvPr/>
            </p:nvSpPr>
            <p:spPr bwMode="auto">
              <a:xfrm>
                <a:off x="1054" y="763"/>
                <a:ext cx="12" cy="2"/>
              </a:xfrm>
              <a:custGeom>
                <a:avLst/>
                <a:gdLst>
                  <a:gd name="T0" fmla="*/ 0 w 37"/>
                  <a:gd name="T1" fmla="*/ 0 h 6"/>
                  <a:gd name="T2" fmla="*/ 0 w 37"/>
                  <a:gd name="T3" fmla="*/ 0 h 6"/>
                  <a:gd name="T4" fmla="*/ 0 w 37"/>
                  <a:gd name="T5" fmla="*/ 0 h 6"/>
                  <a:gd name="T6" fmla="*/ 0 w 37"/>
                  <a:gd name="T7" fmla="*/ 0 h 6"/>
                  <a:gd name="T8" fmla="*/ 0 w 37"/>
                  <a:gd name="T9" fmla="*/ 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6">
                    <a:moveTo>
                      <a:pt x="37" y="6"/>
                    </a:moveTo>
                    <a:lnTo>
                      <a:pt x="9" y="6"/>
                    </a:lnTo>
                    <a:lnTo>
                      <a:pt x="0" y="0"/>
                    </a:lnTo>
                    <a:lnTo>
                      <a:pt x="37" y="0"/>
                    </a:lnTo>
                    <a:lnTo>
                      <a:pt x="37" y="6"/>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64" name="Freeform 3030"/>
              <p:cNvSpPr>
                <a:spLocks noChangeAspect="1"/>
              </p:cNvSpPr>
              <p:nvPr/>
            </p:nvSpPr>
            <p:spPr bwMode="auto">
              <a:xfrm>
                <a:off x="1053" y="761"/>
                <a:ext cx="13" cy="3"/>
              </a:xfrm>
              <a:custGeom>
                <a:avLst/>
                <a:gdLst>
                  <a:gd name="T0" fmla="*/ 0 w 41"/>
                  <a:gd name="T1" fmla="*/ 0 h 7"/>
                  <a:gd name="T2" fmla="*/ 0 w 41"/>
                  <a:gd name="T3" fmla="*/ 0 h 7"/>
                  <a:gd name="T4" fmla="*/ 0 w 41"/>
                  <a:gd name="T5" fmla="*/ 0 h 7"/>
                  <a:gd name="T6" fmla="*/ 0 w 41"/>
                  <a:gd name="T7" fmla="*/ 0 h 7"/>
                  <a:gd name="T8" fmla="*/ 0 w 41"/>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7">
                    <a:moveTo>
                      <a:pt x="41" y="7"/>
                    </a:moveTo>
                    <a:lnTo>
                      <a:pt x="9" y="7"/>
                    </a:lnTo>
                    <a:lnTo>
                      <a:pt x="0" y="0"/>
                    </a:lnTo>
                    <a:lnTo>
                      <a:pt x="41" y="0"/>
                    </a:lnTo>
                    <a:lnTo>
                      <a:pt x="41"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65" name="Freeform 3031"/>
              <p:cNvSpPr>
                <a:spLocks noChangeAspect="1"/>
              </p:cNvSpPr>
              <p:nvPr/>
            </p:nvSpPr>
            <p:spPr bwMode="auto">
              <a:xfrm>
                <a:off x="1051" y="760"/>
                <a:ext cx="15" cy="3"/>
              </a:xfrm>
              <a:custGeom>
                <a:avLst/>
                <a:gdLst>
                  <a:gd name="T0" fmla="*/ 0 w 46"/>
                  <a:gd name="T1" fmla="*/ 0 h 8"/>
                  <a:gd name="T2" fmla="*/ 0 w 46"/>
                  <a:gd name="T3" fmla="*/ 0 h 8"/>
                  <a:gd name="T4" fmla="*/ 0 w 46"/>
                  <a:gd name="T5" fmla="*/ 0 h 8"/>
                  <a:gd name="T6" fmla="*/ 0 w 46"/>
                  <a:gd name="T7" fmla="*/ 0 h 8"/>
                  <a:gd name="T8" fmla="*/ 0 w 46"/>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 h="8">
                    <a:moveTo>
                      <a:pt x="46" y="8"/>
                    </a:moveTo>
                    <a:lnTo>
                      <a:pt x="9" y="8"/>
                    </a:lnTo>
                    <a:lnTo>
                      <a:pt x="0" y="0"/>
                    </a:lnTo>
                    <a:lnTo>
                      <a:pt x="46" y="0"/>
                    </a:lnTo>
                    <a:lnTo>
                      <a:pt x="46"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66" name="Freeform 3032"/>
              <p:cNvSpPr>
                <a:spLocks noChangeAspect="1"/>
              </p:cNvSpPr>
              <p:nvPr/>
            </p:nvSpPr>
            <p:spPr bwMode="auto">
              <a:xfrm>
                <a:off x="1050" y="759"/>
                <a:ext cx="16" cy="2"/>
              </a:xfrm>
              <a:custGeom>
                <a:avLst/>
                <a:gdLst>
                  <a:gd name="T0" fmla="*/ 0 w 50"/>
                  <a:gd name="T1" fmla="*/ 0 h 7"/>
                  <a:gd name="T2" fmla="*/ 0 w 50"/>
                  <a:gd name="T3" fmla="*/ 0 h 7"/>
                  <a:gd name="T4" fmla="*/ 0 w 50"/>
                  <a:gd name="T5" fmla="*/ 0 h 7"/>
                  <a:gd name="T6" fmla="*/ 0 w 50"/>
                  <a:gd name="T7" fmla="*/ 0 h 7"/>
                  <a:gd name="T8" fmla="*/ 0 w 50"/>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 h="7">
                    <a:moveTo>
                      <a:pt x="50" y="7"/>
                    </a:moveTo>
                    <a:lnTo>
                      <a:pt x="9" y="7"/>
                    </a:lnTo>
                    <a:lnTo>
                      <a:pt x="0" y="0"/>
                    </a:lnTo>
                    <a:lnTo>
                      <a:pt x="50" y="0"/>
                    </a:lnTo>
                    <a:lnTo>
                      <a:pt x="50"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67" name="Freeform 3033"/>
              <p:cNvSpPr>
                <a:spLocks noChangeAspect="1"/>
              </p:cNvSpPr>
              <p:nvPr/>
            </p:nvSpPr>
            <p:spPr bwMode="auto">
              <a:xfrm>
                <a:off x="1048" y="758"/>
                <a:ext cx="18" cy="2"/>
              </a:xfrm>
              <a:custGeom>
                <a:avLst/>
                <a:gdLst>
                  <a:gd name="T0" fmla="*/ 0 w 55"/>
                  <a:gd name="T1" fmla="*/ 0 h 7"/>
                  <a:gd name="T2" fmla="*/ 0 w 55"/>
                  <a:gd name="T3" fmla="*/ 0 h 7"/>
                  <a:gd name="T4" fmla="*/ 0 w 55"/>
                  <a:gd name="T5" fmla="*/ 0 h 7"/>
                  <a:gd name="T6" fmla="*/ 0 w 55"/>
                  <a:gd name="T7" fmla="*/ 0 h 7"/>
                  <a:gd name="T8" fmla="*/ 0 w 5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5" h="7">
                    <a:moveTo>
                      <a:pt x="55" y="7"/>
                    </a:moveTo>
                    <a:lnTo>
                      <a:pt x="9" y="7"/>
                    </a:lnTo>
                    <a:lnTo>
                      <a:pt x="0" y="0"/>
                    </a:lnTo>
                    <a:lnTo>
                      <a:pt x="55" y="0"/>
                    </a:lnTo>
                    <a:lnTo>
                      <a:pt x="55"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68" name="Freeform 3034"/>
              <p:cNvSpPr>
                <a:spLocks noChangeAspect="1"/>
              </p:cNvSpPr>
              <p:nvPr/>
            </p:nvSpPr>
            <p:spPr bwMode="auto">
              <a:xfrm>
                <a:off x="1047" y="757"/>
                <a:ext cx="19" cy="2"/>
              </a:xfrm>
              <a:custGeom>
                <a:avLst/>
                <a:gdLst>
                  <a:gd name="T0" fmla="*/ 0 w 59"/>
                  <a:gd name="T1" fmla="*/ 0 h 7"/>
                  <a:gd name="T2" fmla="*/ 0 w 59"/>
                  <a:gd name="T3" fmla="*/ 0 h 7"/>
                  <a:gd name="T4" fmla="*/ 0 w 59"/>
                  <a:gd name="T5" fmla="*/ 0 h 7"/>
                  <a:gd name="T6" fmla="*/ 0 w 59"/>
                  <a:gd name="T7" fmla="*/ 0 h 7"/>
                  <a:gd name="T8" fmla="*/ 0 w 5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9" h="7">
                    <a:moveTo>
                      <a:pt x="59" y="7"/>
                    </a:moveTo>
                    <a:lnTo>
                      <a:pt x="9" y="7"/>
                    </a:lnTo>
                    <a:lnTo>
                      <a:pt x="0" y="0"/>
                    </a:lnTo>
                    <a:lnTo>
                      <a:pt x="59" y="0"/>
                    </a:lnTo>
                    <a:lnTo>
                      <a:pt x="59"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69" name="Freeform 3035"/>
              <p:cNvSpPr>
                <a:spLocks noChangeAspect="1"/>
              </p:cNvSpPr>
              <p:nvPr/>
            </p:nvSpPr>
            <p:spPr bwMode="auto">
              <a:xfrm>
                <a:off x="1045" y="755"/>
                <a:ext cx="21" cy="3"/>
              </a:xfrm>
              <a:custGeom>
                <a:avLst/>
                <a:gdLst>
                  <a:gd name="T0" fmla="*/ 0 w 63"/>
                  <a:gd name="T1" fmla="*/ 0 h 7"/>
                  <a:gd name="T2" fmla="*/ 0 w 63"/>
                  <a:gd name="T3" fmla="*/ 0 h 7"/>
                  <a:gd name="T4" fmla="*/ 0 w 63"/>
                  <a:gd name="T5" fmla="*/ 0 h 7"/>
                  <a:gd name="T6" fmla="*/ 0 w 63"/>
                  <a:gd name="T7" fmla="*/ 0 h 7"/>
                  <a:gd name="T8" fmla="*/ 0 w 6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7">
                    <a:moveTo>
                      <a:pt x="63" y="7"/>
                    </a:moveTo>
                    <a:lnTo>
                      <a:pt x="8" y="7"/>
                    </a:lnTo>
                    <a:lnTo>
                      <a:pt x="0" y="0"/>
                    </a:lnTo>
                    <a:lnTo>
                      <a:pt x="63" y="0"/>
                    </a:lnTo>
                    <a:lnTo>
                      <a:pt x="63"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70" name="Freeform 3036"/>
              <p:cNvSpPr>
                <a:spLocks noChangeAspect="1"/>
              </p:cNvSpPr>
              <p:nvPr/>
            </p:nvSpPr>
            <p:spPr bwMode="auto">
              <a:xfrm>
                <a:off x="1043" y="754"/>
                <a:ext cx="23" cy="3"/>
              </a:xfrm>
              <a:custGeom>
                <a:avLst/>
                <a:gdLst>
                  <a:gd name="T0" fmla="*/ 0 w 69"/>
                  <a:gd name="T1" fmla="*/ 0 h 8"/>
                  <a:gd name="T2" fmla="*/ 0 w 69"/>
                  <a:gd name="T3" fmla="*/ 0 h 8"/>
                  <a:gd name="T4" fmla="*/ 0 w 69"/>
                  <a:gd name="T5" fmla="*/ 0 h 8"/>
                  <a:gd name="T6" fmla="*/ 0 w 69"/>
                  <a:gd name="T7" fmla="*/ 0 h 8"/>
                  <a:gd name="T8" fmla="*/ 0 w 69"/>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8">
                    <a:moveTo>
                      <a:pt x="69" y="8"/>
                    </a:moveTo>
                    <a:lnTo>
                      <a:pt x="10" y="8"/>
                    </a:lnTo>
                    <a:lnTo>
                      <a:pt x="0" y="0"/>
                    </a:lnTo>
                    <a:lnTo>
                      <a:pt x="69" y="0"/>
                    </a:lnTo>
                    <a:lnTo>
                      <a:pt x="69"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71" name="Freeform 3037"/>
              <p:cNvSpPr>
                <a:spLocks noChangeAspect="1"/>
              </p:cNvSpPr>
              <p:nvPr/>
            </p:nvSpPr>
            <p:spPr bwMode="auto">
              <a:xfrm>
                <a:off x="1042" y="753"/>
                <a:ext cx="24" cy="2"/>
              </a:xfrm>
              <a:custGeom>
                <a:avLst/>
                <a:gdLst>
                  <a:gd name="T0" fmla="*/ 0 w 73"/>
                  <a:gd name="T1" fmla="*/ 0 h 7"/>
                  <a:gd name="T2" fmla="*/ 0 w 73"/>
                  <a:gd name="T3" fmla="*/ 0 h 7"/>
                  <a:gd name="T4" fmla="*/ 0 w 73"/>
                  <a:gd name="T5" fmla="*/ 0 h 7"/>
                  <a:gd name="T6" fmla="*/ 0 w 73"/>
                  <a:gd name="T7" fmla="*/ 0 h 7"/>
                  <a:gd name="T8" fmla="*/ 0 w 7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 h="7">
                    <a:moveTo>
                      <a:pt x="73" y="7"/>
                    </a:moveTo>
                    <a:lnTo>
                      <a:pt x="10" y="7"/>
                    </a:lnTo>
                    <a:lnTo>
                      <a:pt x="0" y="0"/>
                    </a:lnTo>
                    <a:lnTo>
                      <a:pt x="73" y="0"/>
                    </a:lnTo>
                    <a:lnTo>
                      <a:pt x="73"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72" name="Freeform 3038"/>
              <p:cNvSpPr>
                <a:spLocks noChangeAspect="1"/>
              </p:cNvSpPr>
              <p:nvPr/>
            </p:nvSpPr>
            <p:spPr bwMode="auto">
              <a:xfrm>
                <a:off x="1041" y="752"/>
                <a:ext cx="25" cy="2"/>
              </a:xfrm>
              <a:custGeom>
                <a:avLst/>
                <a:gdLst>
                  <a:gd name="T0" fmla="*/ 0 w 77"/>
                  <a:gd name="T1" fmla="*/ 0 h 7"/>
                  <a:gd name="T2" fmla="*/ 0 w 77"/>
                  <a:gd name="T3" fmla="*/ 0 h 7"/>
                  <a:gd name="T4" fmla="*/ 0 w 77"/>
                  <a:gd name="T5" fmla="*/ 0 h 7"/>
                  <a:gd name="T6" fmla="*/ 0 w 77"/>
                  <a:gd name="T7" fmla="*/ 0 h 7"/>
                  <a:gd name="T8" fmla="*/ 0 w 7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7" h="7">
                    <a:moveTo>
                      <a:pt x="77" y="7"/>
                    </a:moveTo>
                    <a:lnTo>
                      <a:pt x="8" y="7"/>
                    </a:lnTo>
                    <a:lnTo>
                      <a:pt x="0" y="0"/>
                    </a:lnTo>
                    <a:lnTo>
                      <a:pt x="77" y="0"/>
                    </a:lnTo>
                    <a:lnTo>
                      <a:pt x="77"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73" name="Freeform 3039"/>
              <p:cNvSpPr>
                <a:spLocks noChangeAspect="1"/>
              </p:cNvSpPr>
              <p:nvPr/>
            </p:nvSpPr>
            <p:spPr bwMode="auto">
              <a:xfrm>
                <a:off x="1039" y="751"/>
                <a:ext cx="27" cy="2"/>
              </a:xfrm>
              <a:custGeom>
                <a:avLst/>
                <a:gdLst>
                  <a:gd name="T0" fmla="*/ 0 w 81"/>
                  <a:gd name="T1" fmla="*/ 0 h 7"/>
                  <a:gd name="T2" fmla="*/ 0 w 81"/>
                  <a:gd name="T3" fmla="*/ 0 h 7"/>
                  <a:gd name="T4" fmla="*/ 0 w 81"/>
                  <a:gd name="T5" fmla="*/ 0 h 7"/>
                  <a:gd name="T6" fmla="*/ 0 w 81"/>
                  <a:gd name="T7" fmla="*/ 0 h 7"/>
                  <a:gd name="T8" fmla="*/ 0 w 81"/>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7">
                    <a:moveTo>
                      <a:pt x="81" y="7"/>
                    </a:moveTo>
                    <a:lnTo>
                      <a:pt x="8" y="7"/>
                    </a:lnTo>
                    <a:lnTo>
                      <a:pt x="0" y="0"/>
                    </a:lnTo>
                    <a:lnTo>
                      <a:pt x="81" y="0"/>
                    </a:lnTo>
                    <a:lnTo>
                      <a:pt x="81"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74" name="Freeform 3040"/>
              <p:cNvSpPr>
                <a:spLocks noChangeAspect="1"/>
              </p:cNvSpPr>
              <p:nvPr/>
            </p:nvSpPr>
            <p:spPr bwMode="auto">
              <a:xfrm>
                <a:off x="1037" y="750"/>
                <a:ext cx="29" cy="2"/>
              </a:xfrm>
              <a:custGeom>
                <a:avLst/>
                <a:gdLst>
                  <a:gd name="T0" fmla="*/ 0 w 87"/>
                  <a:gd name="T1" fmla="*/ 0 h 6"/>
                  <a:gd name="T2" fmla="*/ 0 w 87"/>
                  <a:gd name="T3" fmla="*/ 0 h 6"/>
                  <a:gd name="T4" fmla="*/ 0 w 87"/>
                  <a:gd name="T5" fmla="*/ 0 h 6"/>
                  <a:gd name="T6" fmla="*/ 0 w 87"/>
                  <a:gd name="T7" fmla="*/ 0 h 6"/>
                  <a:gd name="T8" fmla="*/ 0 w 87"/>
                  <a:gd name="T9" fmla="*/ 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 h="6">
                    <a:moveTo>
                      <a:pt x="87" y="6"/>
                    </a:moveTo>
                    <a:lnTo>
                      <a:pt x="10" y="6"/>
                    </a:lnTo>
                    <a:lnTo>
                      <a:pt x="0" y="0"/>
                    </a:lnTo>
                    <a:lnTo>
                      <a:pt x="87" y="0"/>
                    </a:lnTo>
                    <a:lnTo>
                      <a:pt x="87" y="6"/>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75" name="Freeform 3041"/>
              <p:cNvSpPr>
                <a:spLocks noChangeAspect="1"/>
              </p:cNvSpPr>
              <p:nvPr/>
            </p:nvSpPr>
            <p:spPr bwMode="auto">
              <a:xfrm>
                <a:off x="1036" y="748"/>
                <a:ext cx="30" cy="3"/>
              </a:xfrm>
              <a:custGeom>
                <a:avLst/>
                <a:gdLst>
                  <a:gd name="T0" fmla="*/ 0 w 91"/>
                  <a:gd name="T1" fmla="*/ 0 h 8"/>
                  <a:gd name="T2" fmla="*/ 0 w 91"/>
                  <a:gd name="T3" fmla="*/ 0 h 8"/>
                  <a:gd name="T4" fmla="*/ 0 w 91"/>
                  <a:gd name="T5" fmla="*/ 0 h 8"/>
                  <a:gd name="T6" fmla="*/ 0 w 91"/>
                  <a:gd name="T7" fmla="*/ 0 h 8"/>
                  <a:gd name="T8" fmla="*/ 0 w 91"/>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 h="8">
                    <a:moveTo>
                      <a:pt x="91" y="8"/>
                    </a:moveTo>
                    <a:lnTo>
                      <a:pt x="10" y="8"/>
                    </a:lnTo>
                    <a:lnTo>
                      <a:pt x="0" y="0"/>
                    </a:lnTo>
                    <a:lnTo>
                      <a:pt x="91" y="0"/>
                    </a:lnTo>
                    <a:lnTo>
                      <a:pt x="91"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76" name="Freeform 3042"/>
              <p:cNvSpPr>
                <a:spLocks noChangeAspect="1"/>
              </p:cNvSpPr>
              <p:nvPr/>
            </p:nvSpPr>
            <p:spPr bwMode="auto">
              <a:xfrm>
                <a:off x="1035" y="747"/>
                <a:ext cx="31" cy="3"/>
              </a:xfrm>
              <a:custGeom>
                <a:avLst/>
                <a:gdLst>
                  <a:gd name="T0" fmla="*/ 0 w 95"/>
                  <a:gd name="T1" fmla="*/ 0 h 8"/>
                  <a:gd name="T2" fmla="*/ 0 w 95"/>
                  <a:gd name="T3" fmla="*/ 0 h 8"/>
                  <a:gd name="T4" fmla="*/ 0 w 95"/>
                  <a:gd name="T5" fmla="*/ 0 h 8"/>
                  <a:gd name="T6" fmla="*/ 0 w 95"/>
                  <a:gd name="T7" fmla="*/ 0 h 8"/>
                  <a:gd name="T8" fmla="*/ 0 w 9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 h="8">
                    <a:moveTo>
                      <a:pt x="95" y="8"/>
                    </a:moveTo>
                    <a:lnTo>
                      <a:pt x="8" y="8"/>
                    </a:lnTo>
                    <a:lnTo>
                      <a:pt x="0" y="0"/>
                    </a:lnTo>
                    <a:lnTo>
                      <a:pt x="95" y="0"/>
                    </a:lnTo>
                    <a:lnTo>
                      <a:pt x="95"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77" name="Freeform 3043"/>
              <p:cNvSpPr>
                <a:spLocks noChangeAspect="1"/>
              </p:cNvSpPr>
              <p:nvPr/>
            </p:nvSpPr>
            <p:spPr bwMode="auto">
              <a:xfrm>
                <a:off x="1033" y="746"/>
                <a:ext cx="33" cy="2"/>
              </a:xfrm>
              <a:custGeom>
                <a:avLst/>
                <a:gdLst>
                  <a:gd name="T0" fmla="*/ 0 w 99"/>
                  <a:gd name="T1" fmla="*/ 0 h 6"/>
                  <a:gd name="T2" fmla="*/ 0 w 99"/>
                  <a:gd name="T3" fmla="*/ 0 h 6"/>
                  <a:gd name="T4" fmla="*/ 0 w 99"/>
                  <a:gd name="T5" fmla="*/ 0 h 6"/>
                  <a:gd name="T6" fmla="*/ 0 w 99"/>
                  <a:gd name="T7" fmla="*/ 0 h 6"/>
                  <a:gd name="T8" fmla="*/ 0 w 99"/>
                  <a:gd name="T9" fmla="*/ 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 h="6">
                    <a:moveTo>
                      <a:pt x="99" y="6"/>
                    </a:moveTo>
                    <a:lnTo>
                      <a:pt x="8" y="6"/>
                    </a:lnTo>
                    <a:lnTo>
                      <a:pt x="0" y="0"/>
                    </a:lnTo>
                    <a:lnTo>
                      <a:pt x="99" y="0"/>
                    </a:lnTo>
                    <a:lnTo>
                      <a:pt x="99" y="6"/>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78" name="Freeform 3044"/>
              <p:cNvSpPr>
                <a:spLocks noChangeAspect="1"/>
              </p:cNvSpPr>
              <p:nvPr/>
            </p:nvSpPr>
            <p:spPr bwMode="auto">
              <a:xfrm>
                <a:off x="1031" y="745"/>
                <a:ext cx="35" cy="2"/>
              </a:xfrm>
              <a:custGeom>
                <a:avLst/>
                <a:gdLst>
                  <a:gd name="T0" fmla="*/ 0 w 105"/>
                  <a:gd name="T1" fmla="*/ 0 h 7"/>
                  <a:gd name="T2" fmla="*/ 0 w 105"/>
                  <a:gd name="T3" fmla="*/ 0 h 7"/>
                  <a:gd name="T4" fmla="*/ 0 w 105"/>
                  <a:gd name="T5" fmla="*/ 0 h 7"/>
                  <a:gd name="T6" fmla="*/ 0 w 105"/>
                  <a:gd name="T7" fmla="*/ 0 h 7"/>
                  <a:gd name="T8" fmla="*/ 0 w 10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 h="7">
                    <a:moveTo>
                      <a:pt x="105" y="7"/>
                    </a:moveTo>
                    <a:lnTo>
                      <a:pt x="10" y="7"/>
                    </a:lnTo>
                    <a:lnTo>
                      <a:pt x="0" y="0"/>
                    </a:lnTo>
                    <a:lnTo>
                      <a:pt x="105" y="0"/>
                    </a:lnTo>
                    <a:lnTo>
                      <a:pt x="105"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79" name="Freeform 3045"/>
              <p:cNvSpPr>
                <a:spLocks noChangeAspect="1"/>
              </p:cNvSpPr>
              <p:nvPr/>
            </p:nvSpPr>
            <p:spPr bwMode="auto">
              <a:xfrm>
                <a:off x="1030" y="743"/>
                <a:ext cx="36" cy="3"/>
              </a:xfrm>
              <a:custGeom>
                <a:avLst/>
                <a:gdLst>
                  <a:gd name="T0" fmla="*/ 0 w 109"/>
                  <a:gd name="T1" fmla="*/ 0 h 8"/>
                  <a:gd name="T2" fmla="*/ 0 w 109"/>
                  <a:gd name="T3" fmla="*/ 0 h 8"/>
                  <a:gd name="T4" fmla="*/ 0 w 109"/>
                  <a:gd name="T5" fmla="*/ 0 h 8"/>
                  <a:gd name="T6" fmla="*/ 0 w 109"/>
                  <a:gd name="T7" fmla="*/ 0 h 8"/>
                  <a:gd name="T8" fmla="*/ 0 w 109"/>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 h="8">
                    <a:moveTo>
                      <a:pt x="109" y="8"/>
                    </a:moveTo>
                    <a:lnTo>
                      <a:pt x="10" y="8"/>
                    </a:lnTo>
                    <a:lnTo>
                      <a:pt x="0" y="0"/>
                    </a:lnTo>
                    <a:lnTo>
                      <a:pt x="109" y="0"/>
                    </a:lnTo>
                    <a:lnTo>
                      <a:pt x="109"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80" name="Freeform 3046"/>
              <p:cNvSpPr>
                <a:spLocks noChangeAspect="1"/>
              </p:cNvSpPr>
              <p:nvPr/>
            </p:nvSpPr>
            <p:spPr bwMode="auto">
              <a:xfrm>
                <a:off x="1029" y="742"/>
                <a:ext cx="37" cy="3"/>
              </a:xfrm>
              <a:custGeom>
                <a:avLst/>
                <a:gdLst>
                  <a:gd name="T0" fmla="*/ 0 w 113"/>
                  <a:gd name="T1" fmla="*/ 0 h 7"/>
                  <a:gd name="T2" fmla="*/ 0 w 113"/>
                  <a:gd name="T3" fmla="*/ 0 h 7"/>
                  <a:gd name="T4" fmla="*/ 0 w 113"/>
                  <a:gd name="T5" fmla="*/ 0 h 7"/>
                  <a:gd name="T6" fmla="*/ 0 w 113"/>
                  <a:gd name="T7" fmla="*/ 0 h 7"/>
                  <a:gd name="T8" fmla="*/ 0 w 11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 h="7">
                    <a:moveTo>
                      <a:pt x="113" y="7"/>
                    </a:moveTo>
                    <a:lnTo>
                      <a:pt x="8" y="7"/>
                    </a:lnTo>
                    <a:lnTo>
                      <a:pt x="0" y="0"/>
                    </a:lnTo>
                    <a:lnTo>
                      <a:pt x="113" y="0"/>
                    </a:lnTo>
                    <a:lnTo>
                      <a:pt x="113"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81" name="Freeform 3047"/>
              <p:cNvSpPr>
                <a:spLocks noChangeAspect="1"/>
              </p:cNvSpPr>
              <p:nvPr/>
            </p:nvSpPr>
            <p:spPr bwMode="auto">
              <a:xfrm>
                <a:off x="1027" y="741"/>
                <a:ext cx="39" cy="2"/>
              </a:xfrm>
              <a:custGeom>
                <a:avLst/>
                <a:gdLst>
                  <a:gd name="T0" fmla="*/ 0 w 117"/>
                  <a:gd name="T1" fmla="*/ 0 h 7"/>
                  <a:gd name="T2" fmla="*/ 0 w 117"/>
                  <a:gd name="T3" fmla="*/ 0 h 7"/>
                  <a:gd name="T4" fmla="*/ 0 w 117"/>
                  <a:gd name="T5" fmla="*/ 0 h 7"/>
                  <a:gd name="T6" fmla="*/ 0 w 117"/>
                  <a:gd name="T7" fmla="*/ 0 h 7"/>
                  <a:gd name="T8" fmla="*/ 0 w 11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 h="7">
                    <a:moveTo>
                      <a:pt x="117" y="7"/>
                    </a:moveTo>
                    <a:lnTo>
                      <a:pt x="8" y="7"/>
                    </a:lnTo>
                    <a:lnTo>
                      <a:pt x="0" y="0"/>
                    </a:lnTo>
                    <a:lnTo>
                      <a:pt x="117" y="0"/>
                    </a:lnTo>
                    <a:lnTo>
                      <a:pt x="117"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82" name="Freeform 3048"/>
              <p:cNvSpPr>
                <a:spLocks noChangeAspect="1"/>
              </p:cNvSpPr>
              <p:nvPr/>
            </p:nvSpPr>
            <p:spPr bwMode="auto">
              <a:xfrm>
                <a:off x="1026" y="740"/>
                <a:ext cx="40" cy="2"/>
              </a:xfrm>
              <a:custGeom>
                <a:avLst/>
                <a:gdLst>
                  <a:gd name="T0" fmla="*/ 0 w 122"/>
                  <a:gd name="T1" fmla="*/ 0 h 7"/>
                  <a:gd name="T2" fmla="*/ 0 w 122"/>
                  <a:gd name="T3" fmla="*/ 0 h 7"/>
                  <a:gd name="T4" fmla="*/ 0 w 122"/>
                  <a:gd name="T5" fmla="*/ 0 h 7"/>
                  <a:gd name="T6" fmla="*/ 0 w 122"/>
                  <a:gd name="T7" fmla="*/ 0 h 7"/>
                  <a:gd name="T8" fmla="*/ 0 w 122"/>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7">
                    <a:moveTo>
                      <a:pt x="122" y="7"/>
                    </a:moveTo>
                    <a:lnTo>
                      <a:pt x="9" y="7"/>
                    </a:lnTo>
                    <a:lnTo>
                      <a:pt x="0" y="0"/>
                    </a:lnTo>
                    <a:lnTo>
                      <a:pt x="122" y="0"/>
                    </a:lnTo>
                    <a:lnTo>
                      <a:pt x="122"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83" name="Freeform 3049"/>
              <p:cNvSpPr>
                <a:spLocks noChangeAspect="1"/>
              </p:cNvSpPr>
              <p:nvPr/>
            </p:nvSpPr>
            <p:spPr bwMode="auto">
              <a:xfrm>
                <a:off x="1024" y="739"/>
                <a:ext cx="42" cy="2"/>
              </a:xfrm>
              <a:custGeom>
                <a:avLst/>
                <a:gdLst>
                  <a:gd name="T0" fmla="*/ 0 w 127"/>
                  <a:gd name="T1" fmla="*/ 0 h 6"/>
                  <a:gd name="T2" fmla="*/ 0 w 127"/>
                  <a:gd name="T3" fmla="*/ 0 h 6"/>
                  <a:gd name="T4" fmla="*/ 0 w 127"/>
                  <a:gd name="T5" fmla="*/ 0 h 6"/>
                  <a:gd name="T6" fmla="*/ 0 w 127"/>
                  <a:gd name="T7" fmla="*/ 0 h 6"/>
                  <a:gd name="T8" fmla="*/ 0 w 127"/>
                  <a:gd name="T9" fmla="*/ 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7" h="6">
                    <a:moveTo>
                      <a:pt x="127" y="6"/>
                    </a:moveTo>
                    <a:lnTo>
                      <a:pt x="10" y="6"/>
                    </a:lnTo>
                    <a:lnTo>
                      <a:pt x="0" y="0"/>
                    </a:lnTo>
                    <a:lnTo>
                      <a:pt x="127" y="0"/>
                    </a:lnTo>
                    <a:lnTo>
                      <a:pt x="127" y="6"/>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84" name="Freeform 3050"/>
              <p:cNvSpPr>
                <a:spLocks noChangeAspect="1"/>
              </p:cNvSpPr>
              <p:nvPr/>
            </p:nvSpPr>
            <p:spPr bwMode="auto">
              <a:xfrm>
                <a:off x="1023" y="737"/>
                <a:ext cx="43" cy="3"/>
              </a:xfrm>
              <a:custGeom>
                <a:avLst/>
                <a:gdLst>
                  <a:gd name="T0" fmla="*/ 0 w 131"/>
                  <a:gd name="T1" fmla="*/ 0 h 8"/>
                  <a:gd name="T2" fmla="*/ 0 w 131"/>
                  <a:gd name="T3" fmla="*/ 0 h 8"/>
                  <a:gd name="T4" fmla="*/ 0 w 131"/>
                  <a:gd name="T5" fmla="*/ 0 h 8"/>
                  <a:gd name="T6" fmla="*/ 0 w 131"/>
                  <a:gd name="T7" fmla="*/ 0 h 8"/>
                  <a:gd name="T8" fmla="*/ 0 w 131"/>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 h="8">
                    <a:moveTo>
                      <a:pt x="131" y="8"/>
                    </a:moveTo>
                    <a:lnTo>
                      <a:pt x="9" y="8"/>
                    </a:lnTo>
                    <a:lnTo>
                      <a:pt x="0" y="0"/>
                    </a:lnTo>
                    <a:lnTo>
                      <a:pt x="131" y="0"/>
                    </a:lnTo>
                    <a:lnTo>
                      <a:pt x="131"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85" name="Freeform 3051"/>
              <p:cNvSpPr>
                <a:spLocks noChangeAspect="1"/>
              </p:cNvSpPr>
              <p:nvPr/>
            </p:nvSpPr>
            <p:spPr bwMode="auto">
              <a:xfrm>
                <a:off x="1021" y="736"/>
                <a:ext cx="45" cy="3"/>
              </a:xfrm>
              <a:custGeom>
                <a:avLst/>
                <a:gdLst>
                  <a:gd name="T0" fmla="*/ 0 w 136"/>
                  <a:gd name="T1" fmla="*/ 0 h 8"/>
                  <a:gd name="T2" fmla="*/ 0 w 136"/>
                  <a:gd name="T3" fmla="*/ 0 h 8"/>
                  <a:gd name="T4" fmla="*/ 0 w 136"/>
                  <a:gd name="T5" fmla="*/ 0 h 8"/>
                  <a:gd name="T6" fmla="*/ 0 w 136"/>
                  <a:gd name="T7" fmla="*/ 0 h 8"/>
                  <a:gd name="T8" fmla="*/ 0 w 136"/>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
                    <a:moveTo>
                      <a:pt x="136" y="8"/>
                    </a:moveTo>
                    <a:lnTo>
                      <a:pt x="9" y="8"/>
                    </a:lnTo>
                    <a:lnTo>
                      <a:pt x="0" y="0"/>
                    </a:lnTo>
                    <a:lnTo>
                      <a:pt x="136" y="0"/>
                    </a:lnTo>
                    <a:lnTo>
                      <a:pt x="136"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86" name="Freeform 3052"/>
              <p:cNvSpPr>
                <a:spLocks noChangeAspect="1"/>
              </p:cNvSpPr>
              <p:nvPr/>
            </p:nvSpPr>
            <p:spPr bwMode="auto">
              <a:xfrm>
                <a:off x="1020" y="735"/>
                <a:ext cx="46" cy="2"/>
              </a:xfrm>
              <a:custGeom>
                <a:avLst/>
                <a:gdLst>
                  <a:gd name="T0" fmla="*/ 0 w 140"/>
                  <a:gd name="T1" fmla="*/ 0 h 6"/>
                  <a:gd name="T2" fmla="*/ 0 w 140"/>
                  <a:gd name="T3" fmla="*/ 0 h 6"/>
                  <a:gd name="T4" fmla="*/ 0 w 140"/>
                  <a:gd name="T5" fmla="*/ 0 h 6"/>
                  <a:gd name="T6" fmla="*/ 0 w 140"/>
                  <a:gd name="T7" fmla="*/ 0 h 6"/>
                  <a:gd name="T8" fmla="*/ 0 w 140"/>
                  <a:gd name="T9" fmla="*/ 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0" h="6">
                    <a:moveTo>
                      <a:pt x="140" y="6"/>
                    </a:moveTo>
                    <a:lnTo>
                      <a:pt x="9" y="6"/>
                    </a:lnTo>
                    <a:lnTo>
                      <a:pt x="0" y="0"/>
                    </a:lnTo>
                    <a:lnTo>
                      <a:pt x="140" y="0"/>
                    </a:lnTo>
                    <a:lnTo>
                      <a:pt x="140" y="6"/>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87" name="Freeform 3053"/>
              <p:cNvSpPr>
                <a:spLocks noChangeAspect="1"/>
              </p:cNvSpPr>
              <p:nvPr/>
            </p:nvSpPr>
            <p:spPr bwMode="auto">
              <a:xfrm>
                <a:off x="1018" y="734"/>
                <a:ext cx="48" cy="2"/>
              </a:xfrm>
              <a:custGeom>
                <a:avLst/>
                <a:gdLst>
                  <a:gd name="T0" fmla="*/ 0 w 145"/>
                  <a:gd name="T1" fmla="*/ 0 h 7"/>
                  <a:gd name="T2" fmla="*/ 0 w 145"/>
                  <a:gd name="T3" fmla="*/ 0 h 7"/>
                  <a:gd name="T4" fmla="*/ 0 w 145"/>
                  <a:gd name="T5" fmla="*/ 0 h 7"/>
                  <a:gd name="T6" fmla="*/ 0 w 145"/>
                  <a:gd name="T7" fmla="*/ 0 h 7"/>
                  <a:gd name="T8" fmla="*/ 0 w 14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5" h="7">
                    <a:moveTo>
                      <a:pt x="145" y="7"/>
                    </a:moveTo>
                    <a:lnTo>
                      <a:pt x="9" y="7"/>
                    </a:lnTo>
                    <a:lnTo>
                      <a:pt x="0" y="0"/>
                    </a:lnTo>
                    <a:lnTo>
                      <a:pt x="145" y="0"/>
                    </a:lnTo>
                    <a:lnTo>
                      <a:pt x="145"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88" name="Freeform 3054"/>
              <p:cNvSpPr>
                <a:spLocks noChangeAspect="1"/>
              </p:cNvSpPr>
              <p:nvPr/>
            </p:nvSpPr>
            <p:spPr bwMode="auto">
              <a:xfrm>
                <a:off x="1017" y="733"/>
                <a:ext cx="49" cy="2"/>
              </a:xfrm>
              <a:custGeom>
                <a:avLst/>
                <a:gdLst>
                  <a:gd name="T0" fmla="*/ 0 w 149"/>
                  <a:gd name="T1" fmla="*/ 0 h 7"/>
                  <a:gd name="T2" fmla="*/ 0 w 149"/>
                  <a:gd name="T3" fmla="*/ 0 h 7"/>
                  <a:gd name="T4" fmla="*/ 0 w 149"/>
                  <a:gd name="T5" fmla="*/ 0 h 7"/>
                  <a:gd name="T6" fmla="*/ 0 w 149"/>
                  <a:gd name="T7" fmla="*/ 0 h 7"/>
                  <a:gd name="T8" fmla="*/ 0 w 14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9" h="7">
                    <a:moveTo>
                      <a:pt x="149" y="7"/>
                    </a:moveTo>
                    <a:lnTo>
                      <a:pt x="9" y="7"/>
                    </a:lnTo>
                    <a:lnTo>
                      <a:pt x="0" y="0"/>
                    </a:lnTo>
                    <a:lnTo>
                      <a:pt x="149" y="0"/>
                    </a:lnTo>
                    <a:lnTo>
                      <a:pt x="149"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89" name="Freeform 3055"/>
              <p:cNvSpPr>
                <a:spLocks noChangeAspect="1"/>
              </p:cNvSpPr>
              <p:nvPr/>
            </p:nvSpPr>
            <p:spPr bwMode="auto">
              <a:xfrm>
                <a:off x="1015" y="732"/>
                <a:ext cx="51" cy="2"/>
              </a:xfrm>
              <a:custGeom>
                <a:avLst/>
                <a:gdLst>
                  <a:gd name="T0" fmla="*/ 0 w 154"/>
                  <a:gd name="T1" fmla="*/ 0 h 7"/>
                  <a:gd name="T2" fmla="*/ 0 w 154"/>
                  <a:gd name="T3" fmla="*/ 0 h 7"/>
                  <a:gd name="T4" fmla="*/ 0 w 154"/>
                  <a:gd name="T5" fmla="*/ 0 h 7"/>
                  <a:gd name="T6" fmla="*/ 0 w 154"/>
                  <a:gd name="T7" fmla="*/ 0 h 7"/>
                  <a:gd name="T8" fmla="*/ 0 w 15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4" h="7">
                    <a:moveTo>
                      <a:pt x="154" y="7"/>
                    </a:moveTo>
                    <a:lnTo>
                      <a:pt x="9" y="7"/>
                    </a:lnTo>
                    <a:lnTo>
                      <a:pt x="0" y="0"/>
                    </a:lnTo>
                    <a:lnTo>
                      <a:pt x="154" y="0"/>
                    </a:lnTo>
                    <a:lnTo>
                      <a:pt x="154"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90" name="Freeform 3056"/>
              <p:cNvSpPr>
                <a:spLocks noChangeAspect="1"/>
              </p:cNvSpPr>
              <p:nvPr/>
            </p:nvSpPr>
            <p:spPr bwMode="auto">
              <a:xfrm>
                <a:off x="1014" y="730"/>
                <a:ext cx="52" cy="3"/>
              </a:xfrm>
              <a:custGeom>
                <a:avLst/>
                <a:gdLst>
                  <a:gd name="T0" fmla="*/ 0 w 158"/>
                  <a:gd name="T1" fmla="*/ 0 h 8"/>
                  <a:gd name="T2" fmla="*/ 0 w 158"/>
                  <a:gd name="T3" fmla="*/ 0 h 8"/>
                  <a:gd name="T4" fmla="*/ 0 w 158"/>
                  <a:gd name="T5" fmla="*/ 0 h 8"/>
                  <a:gd name="T6" fmla="*/ 0 w 158"/>
                  <a:gd name="T7" fmla="*/ 0 h 8"/>
                  <a:gd name="T8" fmla="*/ 0 w 15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 h="8">
                    <a:moveTo>
                      <a:pt x="158" y="8"/>
                    </a:moveTo>
                    <a:lnTo>
                      <a:pt x="9" y="8"/>
                    </a:lnTo>
                    <a:lnTo>
                      <a:pt x="0" y="0"/>
                    </a:lnTo>
                    <a:lnTo>
                      <a:pt x="158" y="0"/>
                    </a:lnTo>
                    <a:lnTo>
                      <a:pt x="158"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91" name="Freeform 3057"/>
              <p:cNvSpPr>
                <a:spLocks noChangeAspect="1"/>
              </p:cNvSpPr>
              <p:nvPr/>
            </p:nvSpPr>
            <p:spPr bwMode="auto">
              <a:xfrm>
                <a:off x="1012" y="729"/>
                <a:ext cx="54" cy="3"/>
              </a:xfrm>
              <a:custGeom>
                <a:avLst/>
                <a:gdLst>
                  <a:gd name="T0" fmla="*/ 0 w 163"/>
                  <a:gd name="T1" fmla="*/ 0 h 7"/>
                  <a:gd name="T2" fmla="*/ 0 w 163"/>
                  <a:gd name="T3" fmla="*/ 0 h 7"/>
                  <a:gd name="T4" fmla="*/ 0 w 163"/>
                  <a:gd name="T5" fmla="*/ 0 h 7"/>
                  <a:gd name="T6" fmla="*/ 0 w 163"/>
                  <a:gd name="T7" fmla="*/ 0 h 7"/>
                  <a:gd name="T8" fmla="*/ 0 w 16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3" h="7">
                    <a:moveTo>
                      <a:pt x="163" y="7"/>
                    </a:moveTo>
                    <a:lnTo>
                      <a:pt x="9" y="7"/>
                    </a:lnTo>
                    <a:lnTo>
                      <a:pt x="0" y="0"/>
                    </a:lnTo>
                    <a:lnTo>
                      <a:pt x="163" y="0"/>
                    </a:lnTo>
                    <a:lnTo>
                      <a:pt x="163"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92" name="Freeform 3058"/>
              <p:cNvSpPr>
                <a:spLocks noChangeAspect="1"/>
              </p:cNvSpPr>
              <p:nvPr/>
            </p:nvSpPr>
            <p:spPr bwMode="auto">
              <a:xfrm>
                <a:off x="1010" y="728"/>
                <a:ext cx="56" cy="2"/>
              </a:xfrm>
              <a:custGeom>
                <a:avLst/>
                <a:gdLst>
                  <a:gd name="T0" fmla="*/ 0 w 168"/>
                  <a:gd name="T1" fmla="*/ 0 h 7"/>
                  <a:gd name="T2" fmla="*/ 0 w 168"/>
                  <a:gd name="T3" fmla="*/ 0 h 7"/>
                  <a:gd name="T4" fmla="*/ 0 w 168"/>
                  <a:gd name="T5" fmla="*/ 0 h 7"/>
                  <a:gd name="T6" fmla="*/ 0 w 168"/>
                  <a:gd name="T7" fmla="*/ 0 h 7"/>
                  <a:gd name="T8" fmla="*/ 0 w 168"/>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8" h="7">
                    <a:moveTo>
                      <a:pt x="168" y="7"/>
                    </a:moveTo>
                    <a:lnTo>
                      <a:pt x="10" y="7"/>
                    </a:lnTo>
                    <a:lnTo>
                      <a:pt x="0" y="0"/>
                    </a:lnTo>
                    <a:lnTo>
                      <a:pt x="168" y="0"/>
                    </a:lnTo>
                    <a:lnTo>
                      <a:pt x="168"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93" name="Freeform 3059"/>
              <p:cNvSpPr>
                <a:spLocks noChangeAspect="1"/>
              </p:cNvSpPr>
              <p:nvPr/>
            </p:nvSpPr>
            <p:spPr bwMode="auto">
              <a:xfrm>
                <a:off x="1009" y="727"/>
                <a:ext cx="57" cy="2"/>
              </a:xfrm>
              <a:custGeom>
                <a:avLst/>
                <a:gdLst>
                  <a:gd name="T0" fmla="*/ 0 w 172"/>
                  <a:gd name="T1" fmla="*/ 0 h 7"/>
                  <a:gd name="T2" fmla="*/ 0 w 172"/>
                  <a:gd name="T3" fmla="*/ 0 h 7"/>
                  <a:gd name="T4" fmla="*/ 0 w 172"/>
                  <a:gd name="T5" fmla="*/ 0 h 7"/>
                  <a:gd name="T6" fmla="*/ 0 w 172"/>
                  <a:gd name="T7" fmla="*/ 0 h 7"/>
                  <a:gd name="T8" fmla="*/ 0 w 172"/>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 h="7">
                    <a:moveTo>
                      <a:pt x="172" y="7"/>
                    </a:moveTo>
                    <a:lnTo>
                      <a:pt x="9" y="7"/>
                    </a:lnTo>
                    <a:lnTo>
                      <a:pt x="0" y="0"/>
                    </a:lnTo>
                    <a:lnTo>
                      <a:pt x="172" y="0"/>
                    </a:lnTo>
                    <a:lnTo>
                      <a:pt x="172"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94" name="Freeform 3060"/>
              <p:cNvSpPr>
                <a:spLocks noChangeAspect="1"/>
              </p:cNvSpPr>
              <p:nvPr/>
            </p:nvSpPr>
            <p:spPr bwMode="auto">
              <a:xfrm>
                <a:off x="1008" y="726"/>
                <a:ext cx="58" cy="2"/>
              </a:xfrm>
              <a:custGeom>
                <a:avLst/>
                <a:gdLst>
                  <a:gd name="T0" fmla="*/ 0 w 176"/>
                  <a:gd name="T1" fmla="*/ 0 h 7"/>
                  <a:gd name="T2" fmla="*/ 0 w 176"/>
                  <a:gd name="T3" fmla="*/ 0 h 7"/>
                  <a:gd name="T4" fmla="*/ 0 w 176"/>
                  <a:gd name="T5" fmla="*/ 0 h 7"/>
                  <a:gd name="T6" fmla="*/ 0 w 176"/>
                  <a:gd name="T7" fmla="*/ 0 h 7"/>
                  <a:gd name="T8" fmla="*/ 0 w 176"/>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6" h="7">
                    <a:moveTo>
                      <a:pt x="176" y="7"/>
                    </a:moveTo>
                    <a:lnTo>
                      <a:pt x="8" y="7"/>
                    </a:lnTo>
                    <a:lnTo>
                      <a:pt x="0" y="0"/>
                    </a:lnTo>
                    <a:lnTo>
                      <a:pt x="176" y="0"/>
                    </a:lnTo>
                    <a:lnTo>
                      <a:pt x="176"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95" name="Freeform 3061"/>
              <p:cNvSpPr>
                <a:spLocks noChangeAspect="1"/>
              </p:cNvSpPr>
              <p:nvPr/>
            </p:nvSpPr>
            <p:spPr bwMode="auto">
              <a:xfrm>
                <a:off x="1006" y="724"/>
                <a:ext cx="60" cy="3"/>
              </a:xfrm>
              <a:custGeom>
                <a:avLst/>
                <a:gdLst>
                  <a:gd name="T0" fmla="*/ 0 w 180"/>
                  <a:gd name="T1" fmla="*/ 0 h 8"/>
                  <a:gd name="T2" fmla="*/ 0 w 180"/>
                  <a:gd name="T3" fmla="*/ 0 h 8"/>
                  <a:gd name="T4" fmla="*/ 0 w 180"/>
                  <a:gd name="T5" fmla="*/ 0 h 8"/>
                  <a:gd name="T6" fmla="*/ 0 w 180"/>
                  <a:gd name="T7" fmla="*/ 0 h 8"/>
                  <a:gd name="T8" fmla="*/ 0 w 180"/>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0" h="8">
                    <a:moveTo>
                      <a:pt x="180" y="8"/>
                    </a:moveTo>
                    <a:lnTo>
                      <a:pt x="8" y="8"/>
                    </a:lnTo>
                    <a:lnTo>
                      <a:pt x="0" y="0"/>
                    </a:lnTo>
                    <a:lnTo>
                      <a:pt x="180" y="0"/>
                    </a:lnTo>
                    <a:lnTo>
                      <a:pt x="180"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96" name="Freeform 3062"/>
              <p:cNvSpPr>
                <a:spLocks noChangeAspect="1"/>
              </p:cNvSpPr>
              <p:nvPr/>
            </p:nvSpPr>
            <p:spPr bwMode="auto">
              <a:xfrm>
                <a:off x="1004" y="723"/>
                <a:ext cx="62" cy="3"/>
              </a:xfrm>
              <a:custGeom>
                <a:avLst/>
                <a:gdLst>
                  <a:gd name="T0" fmla="*/ 0 w 186"/>
                  <a:gd name="T1" fmla="*/ 0 h 7"/>
                  <a:gd name="T2" fmla="*/ 0 w 186"/>
                  <a:gd name="T3" fmla="*/ 0 h 7"/>
                  <a:gd name="T4" fmla="*/ 0 w 186"/>
                  <a:gd name="T5" fmla="*/ 0 h 7"/>
                  <a:gd name="T6" fmla="*/ 0 w 186"/>
                  <a:gd name="T7" fmla="*/ 0 h 7"/>
                  <a:gd name="T8" fmla="*/ 0 w 186"/>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6" h="7">
                    <a:moveTo>
                      <a:pt x="186" y="7"/>
                    </a:moveTo>
                    <a:lnTo>
                      <a:pt x="10" y="7"/>
                    </a:lnTo>
                    <a:lnTo>
                      <a:pt x="0" y="0"/>
                    </a:lnTo>
                    <a:lnTo>
                      <a:pt x="186" y="0"/>
                    </a:lnTo>
                    <a:lnTo>
                      <a:pt x="186"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97" name="Freeform 3063"/>
              <p:cNvSpPr>
                <a:spLocks noChangeAspect="1"/>
              </p:cNvSpPr>
              <p:nvPr/>
            </p:nvSpPr>
            <p:spPr bwMode="auto">
              <a:xfrm>
                <a:off x="1003" y="722"/>
                <a:ext cx="63" cy="2"/>
              </a:xfrm>
              <a:custGeom>
                <a:avLst/>
                <a:gdLst>
                  <a:gd name="T0" fmla="*/ 0 w 190"/>
                  <a:gd name="T1" fmla="*/ 0 h 6"/>
                  <a:gd name="T2" fmla="*/ 0 w 190"/>
                  <a:gd name="T3" fmla="*/ 0 h 6"/>
                  <a:gd name="T4" fmla="*/ 0 w 190"/>
                  <a:gd name="T5" fmla="*/ 0 h 6"/>
                  <a:gd name="T6" fmla="*/ 0 w 190"/>
                  <a:gd name="T7" fmla="*/ 0 h 6"/>
                  <a:gd name="T8" fmla="*/ 0 w 190"/>
                  <a:gd name="T9" fmla="*/ 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0" h="6">
                    <a:moveTo>
                      <a:pt x="190" y="6"/>
                    </a:moveTo>
                    <a:lnTo>
                      <a:pt x="10" y="6"/>
                    </a:lnTo>
                    <a:lnTo>
                      <a:pt x="0" y="0"/>
                    </a:lnTo>
                    <a:lnTo>
                      <a:pt x="190" y="0"/>
                    </a:lnTo>
                    <a:lnTo>
                      <a:pt x="190" y="6"/>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98" name="Freeform 3064"/>
              <p:cNvSpPr>
                <a:spLocks noChangeAspect="1"/>
              </p:cNvSpPr>
              <p:nvPr/>
            </p:nvSpPr>
            <p:spPr bwMode="auto">
              <a:xfrm>
                <a:off x="1002" y="721"/>
                <a:ext cx="64" cy="2"/>
              </a:xfrm>
              <a:custGeom>
                <a:avLst/>
                <a:gdLst>
                  <a:gd name="T0" fmla="*/ 0 w 194"/>
                  <a:gd name="T1" fmla="*/ 0 h 8"/>
                  <a:gd name="T2" fmla="*/ 0 w 194"/>
                  <a:gd name="T3" fmla="*/ 0 h 8"/>
                  <a:gd name="T4" fmla="*/ 0 w 194"/>
                  <a:gd name="T5" fmla="*/ 0 h 8"/>
                  <a:gd name="T6" fmla="*/ 0 w 194"/>
                  <a:gd name="T7" fmla="*/ 0 h 8"/>
                  <a:gd name="T8" fmla="*/ 0 w 194"/>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8">
                    <a:moveTo>
                      <a:pt x="194" y="8"/>
                    </a:moveTo>
                    <a:lnTo>
                      <a:pt x="8" y="8"/>
                    </a:lnTo>
                    <a:lnTo>
                      <a:pt x="0" y="0"/>
                    </a:lnTo>
                    <a:lnTo>
                      <a:pt x="194" y="0"/>
                    </a:lnTo>
                    <a:lnTo>
                      <a:pt x="194"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99" name="Freeform 3065"/>
              <p:cNvSpPr>
                <a:spLocks noChangeAspect="1"/>
              </p:cNvSpPr>
              <p:nvPr/>
            </p:nvSpPr>
            <p:spPr bwMode="auto">
              <a:xfrm>
                <a:off x="1000" y="720"/>
                <a:ext cx="66" cy="2"/>
              </a:xfrm>
              <a:custGeom>
                <a:avLst/>
                <a:gdLst>
                  <a:gd name="T0" fmla="*/ 0 w 198"/>
                  <a:gd name="T1" fmla="*/ 0 h 8"/>
                  <a:gd name="T2" fmla="*/ 0 w 198"/>
                  <a:gd name="T3" fmla="*/ 0 h 8"/>
                  <a:gd name="T4" fmla="*/ 0 w 198"/>
                  <a:gd name="T5" fmla="*/ 0 h 8"/>
                  <a:gd name="T6" fmla="*/ 0 w 198"/>
                  <a:gd name="T7" fmla="*/ 0 h 8"/>
                  <a:gd name="T8" fmla="*/ 0 w 19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8" h="8">
                    <a:moveTo>
                      <a:pt x="198" y="8"/>
                    </a:moveTo>
                    <a:lnTo>
                      <a:pt x="8" y="8"/>
                    </a:lnTo>
                    <a:lnTo>
                      <a:pt x="0" y="0"/>
                    </a:lnTo>
                    <a:lnTo>
                      <a:pt x="198" y="0"/>
                    </a:lnTo>
                    <a:lnTo>
                      <a:pt x="198"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400" name="Freeform 3066"/>
              <p:cNvSpPr>
                <a:spLocks noChangeAspect="1"/>
              </p:cNvSpPr>
              <p:nvPr/>
            </p:nvSpPr>
            <p:spPr bwMode="auto">
              <a:xfrm>
                <a:off x="998" y="719"/>
                <a:ext cx="68" cy="2"/>
              </a:xfrm>
              <a:custGeom>
                <a:avLst/>
                <a:gdLst>
                  <a:gd name="T0" fmla="*/ 0 w 204"/>
                  <a:gd name="T1" fmla="*/ 0 h 6"/>
                  <a:gd name="T2" fmla="*/ 0 w 204"/>
                  <a:gd name="T3" fmla="*/ 0 h 6"/>
                  <a:gd name="T4" fmla="*/ 0 w 204"/>
                  <a:gd name="T5" fmla="*/ 0 h 6"/>
                  <a:gd name="T6" fmla="*/ 0 w 204"/>
                  <a:gd name="T7" fmla="*/ 0 h 6"/>
                  <a:gd name="T8" fmla="*/ 0 w 204"/>
                  <a:gd name="T9" fmla="*/ 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4" h="6">
                    <a:moveTo>
                      <a:pt x="204" y="6"/>
                    </a:moveTo>
                    <a:lnTo>
                      <a:pt x="10" y="6"/>
                    </a:lnTo>
                    <a:lnTo>
                      <a:pt x="0" y="0"/>
                    </a:lnTo>
                    <a:lnTo>
                      <a:pt x="204" y="0"/>
                    </a:lnTo>
                    <a:lnTo>
                      <a:pt x="204" y="6"/>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401" name="Freeform 3067"/>
              <p:cNvSpPr>
                <a:spLocks noChangeAspect="1"/>
              </p:cNvSpPr>
              <p:nvPr/>
            </p:nvSpPr>
            <p:spPr bwMode="auto">
              <a:xfrm>
                <a:off x="997" y="717"/>
                <a:ext cx="69" cy="3"/>
              </a:xfrm>
              <a:custGeom>
                <a:avLst/>
                <a:gdLst>
                  <a:gd name="T0" fmla="*/ 0 w 208"/>
                  <a:gd name="T1" fmla="*/ 0 h 7"/>
                  <a:gd name="T2" fmla="*/ 0 w 208"/>
                  <a:gd name="T3" fmla="*/ 0 h 7"/>
                  <a:gd name="T4" fmla="*/ 0 w 208"/>
                  <a:gd name="T5" fmla="*/ 0 h 7"/>
                  <a:gd name="T6" fmla="*/ 0 w 208"/>
                  <a:gd name="T7" fmla="*/ 0 h 7"/>
                  <a:gd name="T8" fmla="*/ 0 w 208"/>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7">
                    <a:moveTo>
                      <a:pt x="208" y="7"/>
                    </a:moveTo>
                    <a:lnTo>
                      <a:pt x="10" y="7"/>
                    </a:lnTo>
                    <a:lnTo>
                      <a:pt x="0" y="0"/>
                    </a:lnTo>
                    <a:lnTo>
                      <a:pt x="208" y="0"/>
                    </a:lnTo>
                    <a:lnTo>
                      <a:pt x="208"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402" name="Freeform 3068"/>
              <p:cNvSpPr>
                <a:spLocks noChangeAspect="1"/>
              </p:cNvSpPr>
              <p:nvPr/>
            </p:nvSpPr>
            <p:spPr bwMode="auto">
              <a:xfrm>
                <a:off x="996" y="716"/>
                <a:ext cx="70" cy="3"/>
              </a:xfrm>
              <a:custGeom>
                <a:avLst/>
                <a:gdLst>
                  <a:gd name="T0" fmla="*/ 0 w 212"/>
                  <a:gd name="T1" fmla="*/ 0 h 7"/>
                  <a:gd name="T2" fmla="*/ 0 w 212"/>
                  <a:gd name="T3" fmla="*/ 0 h 7"/>
                  <a:gd name="T4" fmla="*/ 0 w 212"/>
                  <a:gd name="T5" fmla="*/ 0 h 7"/>
                  <a:gd name="T6" fmla="*/ 0 w 212"/>
                  <a:gd name="T7" fmla="*/ 0 h 7"/>
                  <a:gd name="T8" fmla="*/ 0 w 212"/>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7">
                    <a:moveTo>
                      <a:pt x="212" y="7"/>
                    </a:moveTo>
                    <a:lnTo>
                      <a:pt x="8" y="7"/>
                    </a:lnTo>
                    <a:lnTo>
                      <a:pt x="0" y="0"/>
                    </a:lnTo>
                    <a:lnTo>
                      <a:pt x="212" y="0"/>
                    </a:lnTo>
                    <a:lnTo>
                      <a:pt x="212"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403" name="Freeform 3069"/>
              <p:cNvSpPr>
                <a:spLocks noChangeAspect="1"/>
              </p:cNvSpPr>
              <p:nvPr/>
            </p:nvSpPr>
            <p:spPr bwMode="auto">
              <a:xfrm>
                <a:off x="994" y="715"/>
                <a:ext cx="72" cy="2"/>
              </a:xfrm>
              <a:custGeom>
                <a:avLst/>
                <a:gdLst>
                  <a:gd name="T0" fmla="*/ 0 w 216"/>
                  <a:gd name="T1" fmla="*/ 0 h 7"/>
                  <a:gd name="T2" fmla="*/ 0 w 216"/>
                  <a:gd name="T3" fmla="*/ 0 h 7"/>
                  <a:gd name="T4" fmla="*/ 0 w 216"/>
                  <a:gd name="T5" fmla="*/ 0 h 7"/>
                  <a:gd name="T6" fmla="*/ 0 w 216"/>
                  <a:gd name="T7" fmla="*/ 0 h 7"/>
                  <a:gd name="T8" fmla="*/ 0 w 216"/>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 h="7">
                    <a:moveTo>
                      <a:pt x="216" y="7"/>
                    </a:moveTo>
                    <a:lnTo>
                      <a:pt x="8" y="7"/>
                    </a:lnTo>
                    <a:lnTo>
                      <a:pt x="0" y="0"/>
                    </a:lnTo>
                    <a:lnTo>
                      <a:pt x="216" y="0"/>
                    </a:lnTo>
                    <a:lnTo>
                      <a:pt x="216"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404" name="Freeform 3070"/>
              <p:cNvSpPr>
                <a:spLocks noChangeAspect="1"/>
              </p:cNvSpPr>
              <p:nvPr/>
            </p:nvSpPr>
            <p:spPr bwMode="auto">
              <a:xfrm>
                <a:off x="992" y="714"/>
                <a:ext cx="74" cy="2"/>
              </a:xfrm>
              <a:custGeom>
                <a:avLst/>
                <a:gdLst>
                  <a:gd name="T0" fmla="*/ 0 w 222"/>
                  <a:gd name="T1" fmla="*/ 0 h 8"/>
                  <a:gd name="T2" fmla="*/ 0 w 222"/>
                  <a:gd name="T3" fmla="*/ 0 h 8"/>
                  <a:gd name="T4" fmla="*/ 0 w 222"/>
                  <a:gd name="T5" fmla="*/ 0 h 8"/>
                  <a:gd name="T6" fmla="*/ 0 w 222"/>
                  <a:gd name="T7" fmla="*/ 0 h 8"/>
                  <a:gd name="T8" fmla="*/ 0 w 22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2" h="8">
                    <a:moveTo>
                      <a:pt x="222" y="8"/>
                    </a:moveTo>
                    <a:lnTo>
                      <a:pt x="10" y="8"/>
                    </a:lnTo>
                    <a:lnTo>
                      <a:pt x="0" y="0"/>
                    </a:lnTo>
                    <a:lnTo>
                      <a:pt x="222" y="0"/>
                    </a:lnTo>
                    <a:lnTo>
                      <a:pt x="222"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405" name="Freeform 3071"/>
              <p:cNvSpPr>
                <a:spLocks noChangeAspect="1"/>
              </p:cNvSpPr>
              <p:nvPr/>
            </p:nvSpPr>
            <p:spPr bwMode="auto">
              <a:xfrm>
                <a:off x="991" y="713"/>
                <a:ext cx="75" cy="2"/>
              </a:xfrm>
              <a:custGeom>
                <a:avLst/>
                <a:gdLst>
                  <a:gd name="T0" fmla="*/ 0 w 226"/>
                  <a:gd name="T1" fmla="*/ 0 h 7"/>
                  <a:gd name="T2" fmla="*/ 0 w 226"/>
                  <a:gd name="T3" fmla="*/ 0 h 7"/>
                  <a:gd name="T4" fmla="*/ 0 w 226"/>
                  <a:gd name="T5" fmla="*/ 0 h 7"/>
                  <a:gd name="T6" fmla="*/ 0 w 226"/>
                  <a:gd name="T7" fmla="*/ 0 h 7"/>
                  <a:gd name="T8" fmla="*/ 0 w 226"/>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6" h="7">
                    <a:moveTo>
                      <a:pt x="226" y="7"/>
                    </a:moveTo>
                    <a:lnTo>
                      <a:pt x="10" y="7"/>
                    </a:lnTo>
                    <a:lnTo>
                      <a:pt x="0" y="0"/>
                    </a:lnTo>
                    <a:lnTo>
                      <a:pt x="226" y="0"/>
                    </a:lnTo>
                    <a:lnTo>
                      <a:pt x="226"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406" name="Freeform 3072"/>
              <p:cNvSpPr>
                <a:spLocks noChangeAspect="1"/>
              </p:cNvSpPr>
              <p:nvPr/>
            </p:nvSpPr>
            <p:spPr bwMode="auto">
              <a:xfrm>
                <a:off x="991" y="713"/>
                <a:ext cx="75" cy="1"/>
              </a:xfrm>
              <a:custGeom>
                <a:avLst/>
                <a:gdLst>
                  <a:gd name="T0" fmla="*/ 0 w 226"/>
                  <a:gd name="T1" fmla="*/ 0 h 3"/>
                  <a:gd name="T2" fmla="*/ 0 w 226"/>
                  <a:gd name="T3" fmla="*/ 0 h 3"/>
                  <a:gd name="T4" fmla="*/ 0 w 226"/>
                  <a:gd name="T5" fmla="*/ 0 h 3"/>
                  <a:gd name="T6" fmla="*/ 0 w 226"/>
                  <a:gd name="T7" fmla="*/ 0 h 3"/>
                  <a:gd name="T8" fmla="*/ 0 w 226"/>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6" h="3">
                    <a:moveTo>
                      <a:pt x="226" y="3"/>
                    </a:moveTo>
                    <a:lnTo>
                      <a:pt x="4" y="3"/>
                    </a:lnTo>
                    <a:lnTo>
                      <a:pt x="0" y="0"/>
                    </a:lnTo>
                    <a:lnTo>
                      <a:pt x="226" y="0"/>
                    </a:lnTo>
                    <a:lnTo>
                      <a:pt x="226" y="3"/>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407" name="Freeform 3073"/>
              <p:cNvSpPr>
                <a:spLocks noChangeAspect="1"/>
              </p:cNvSpPr>
              <p:nvPr/>
            </p:nvSpPr>
            <p:spPr bwMode="auto">
              <a:xfrm>
                <a:off x="991" y="713"/>
                <a:ext cx="75" cy="59"/>
              </a:xfrm>
              <a:custGeom>
                <a:avLst/>
                <a:gdLst>
                  <a:gd name="T0" fmla="*/ 0 w 226"/>
                  <a:gd name="T1" fmla="*/ 0 h 178"/>
                  <a:gd name="T2" fmla="*/ 0 w 226"/>
                  <a:gd name="T3" fmla="*/ 0 h 178"/>
                  <a:gd name="T4" fmla="*/ 0 w 226"/>
                  <a:gd name="T5" fmla="*/ 0 h 178"/>
                  <a:gd name="T6" fmla="*/ 0 w 226"/>
                  <a:gd name="T7" fmla="*/ 0 h 1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6" h="178">
                    <a:moveTo>
                      <a:pt x="226" y="0"/>
                    </a:moveTo>
                    <a:lnTo>
                      <a:pt x="0" y="0"/>
                    </a:lnTo>
                    <a:lnTo>
                      <a:pt x="226" y="178"/>
                    </a:lnTo>
                    <a:lnTo>
                      <a:pt x="226" y="0"/>
                    </a:lnTo>
                  </a:path>
                </a:pathLst>
              </a:custGeom>
              <a:gradFill rotWithShape="0">
                <a:gsLst>
                  <a:gs pos="0">
                    <a:srgbClr val="339966"/>
                  </a:gs>
                  <a:gs pos="50000">
                    <a:srgbClr val="96CBB0"/>
                  </a:gs>
                  <a:gs pos="100000">
                    <a:srgbClr val="339966"/>
                  </a:gs>
                </a:gsLst>
                <a:lin ang="5400000" scaled="1"/>
              </a:gradFill>
              <a:ln w="1588">
                <a:solidFill>
                  <a:srgbClr val="1F1A17"/>
                </a:solidFill>
                <a:prstDash val="solid"/>
                <a:round/>
                <a:headEnd/>
                <a:tailEnd/>
              </a:ln>
            </p:spPr>
            <p:txBody>
              <a:bodyPr/>
              <a:lstStyle/>
              <a:p>
                <a:endParaRPr lang="en-US"/>
              </a:p>
            </p:txBody>
          </p:sp>
        </p:grpSp>
        <p:grpSp>
          <p:nvGrpSpPr>
            <p:cNvPr id="386208" name="Group 3074"/>
            <p:cNvGrpSpPr>
              <a:grpSpLocks noChangeAspect="1"/>
            </p:cNvGrpSpPr>
            <p:nvPr/>
          </p:nvGrpSpPr>
          <p:grpSpPr bwMode="auto">
            <a:xfrm>
              <a:off x="1477" y="1423"/>
              <a:ext cx="159" cy="155"/>
              <a:chOff x="1676" y="360"/>
              <a:chExt cx="184" cy="184"/>
            </a:xfrm>
          </p:grpSpPr>
          <p:sp>
            <p:nvSpPr>
              <p:cNvPr id="388245" name="Rectangle 3075"/>
              <p:cNvSpPr>
                <a:spLocks noChangeAspect="1" noChangeArrowheads="1"/>
              </p:cNvSpPr>
              <p:nvPr/>
            </p:nvSpPr>
            <p:spPr bwMode="auto">
              <a:xfrm>
                <a:off x="1764" y="408"/>
                <a:ext cx="40" cy="136"/>
              </a:xfrm>
              <a:prstGeom prst="rect">
                <a:avLst/>
              </a:prstGeom>
              <a:gradFill rotWithShape="0">
                <a:gsLst>
                  <a:gs pos="0">
                    <a:srgbClr val="339966"/>
                  </a:gs>
                  <a:gs pos="50000">
                    <a:srgbClr val="9CCDB5"/>
                  </a:gs>
                  <a:gs pos="100000">
                    <a:srgbClr val="339966"/>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67588" name="Rectangle 3076"/>
              <p:cNvSpPr>
                <a:spLocks noChangeAspect="1" noChangeArrowheads="1"/>
              </p:cNvSpPr>
              <p:nvPr/>
            </p:nvSpPr>
            <p:spPr bwMode="auto">
              <a:xfrm>
                <a:off x="1804" y="453"/>
                <a:ext cx="56" cy="47"/>
              </a:xfrm>
              <a:prstGeom prst="rect">
                <a:avLst/>
              </a:prstGeom>
              <a:gradFill rotWithShape="0">
                <a:gsLst>
                  <a:gs pos="0">
                    <a:schemeClr val="hlink"/>
                  </a:gs>
                  <a:gs pos="50000">
                    <a:schemeClr val="hlink">
                      <a:gamma/>
                      <a:tint val="45490"/>
                      <a:invGamma/>
                    </a:schemeClr>
                  </a:gs>
                  <a:gs pos="100000">
                    <a:schemeClr val="hlink"/>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a:p>
            </p:txBody>
          </p:sp>
          <p:sp>
            <p:nvSpPr>
              <p:cNvPr id="67589" name="AutoShape 3077"/>
              <p:cNvSpPr>
                <a:spLocks noChangeAspect="1" noChangeArrowheads="1"/>
              </p:cNvSpPr>
              <p:nvPr/>
            </p:nvSpPr>
            <p:spPr bwMode="auto">
              <a:xfrm flipH="1" flipV="1">
                <a:off x="1676" y="360"/>
                <a:ext cx="88" cy="116"/>
              </a:xfrm>
              <a:prstGeom prst="rtTriangle">
                <a:avLst/>
              </a:prstGeom>
              <a:gradFill rotWithShape="0">
                <a:gsLst>
                  <a:gs pos="0">
                    <a:schemeClr val="hlink"/>
                  </a:gs>
                  <a:gs pos="50000">
                    <a:schemeClr val="hlink">
                      <a:gamma/>
                      <a:tint val="48627"/>
                      <a:invGamma/>
                    </a:schemeClr>
                  </a:gs>
                  <a:gs pos="100000">
                    <a:schemeClr val="hlink"/>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a:p>
            </p:txBody>
          </p:sp>
        </p:grpSp>
        <p:sp>
          <p:nvSpPr>
            <p:cNvPr id="386209" name="Rectangle 3078"/>
            <p:cNvSpPr>
              <a:spLocks noChangeAspect="1" noChangeArrowheads="1"/>
            </p:cNvSpPr>
            <p:nvPr/>
          </p:nvSpPr>
          <p:spPr bwMode="auto">
            <a:xfrm>
              <a:off x="923" y="1503"/>
              <a:ext cx="69"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10" name="Rectangle 3079"/>
            <p:cNvSpPr>
              <a:spLocks noChangeAspect="1" noChangeArrowheads="1"/>
            </p:cNvSpPr>
            <p:nvPr/>
          </p:nvSpPr>
          <p:spPr bwMode="auto">
            <a:xfrm>
              <a:off x="923" y="1501"/>
              <a:ext cx="69"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11" name="Rectangle 3080"/>
            <p:cNvSpPr>
              <a:spLocks noChangeAspect="1" noChangeArrowheads="1"/>
            </p:cNvSpPr>
            <p:nvPr/>
          </p:nvSpPr>
          <p:spPr bwMode="auto">
            <a:xfrm>
              <a:off x="923" y="1492"/>
              <a:ext cx="69"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12" name="Rectangle 3081"/>
            <p:cNvSpPr>
              <a:spLocks noChangeAspect="1" noChangeArrowheads="1"/>
            </p:cNvSpPr>
            <p:nvPr/>
          </p:nvSpPr>
          <p:spPr bwMode="auto">
            <a:xfrm>
              <a:off x="923" y="1490"/>
              <a:ext cx="69" cy="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13" name="Rectangle 3082"/>
            <p:cNvSpPr>
              <a:spLocks noChangeAspect="1" noChangeArrowheads="1"/>
            </p:cNvSpPr>
            <p:nvPr/>
          </p:nvSpPr>
          <p:spPr bwMode="auto">
            <a:xfrm>
              <a:off x="923" y="1484"/>
              <a:ext cx="69"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14" name="Rectangle 3083"/>
            <p:cNvSpPr>
              <a:spLocks noChangeAspect="1" noChangeArrowheads="1"/>
            </p:cNvSpPr>
            <p:nvPr/>
          </p:nvSpPr>
          <p:spPr bwMode="auto">
            <a:xfrm>
              <a:off x="923" y="1481"/>
              <a:ext cx="69"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15" name="Rectangle 3084"/>
            <p:cNvSpPr>
              <a:spLocks noChangeAspect="1" noChangeArrowheads="1"/>
            </p:cNvSpPr>
            <p:nvPr/>
          </p:nvSpPr>
          <p:spPr bwMode="auto">
            <a:xfrm>
              <a:off x="923" y="1472"/>
              <a:ext cx="69"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16" name="Rectangle 3085"/>
            <p:cNvSpPr>
              <a:spLocks noChangeAspect="1" noChangeArrowheads="1"/>
            </p:cNvSpPr>
            <p:nvPr/>
          </p:nvSpPr>
          <p:spPr bwMode="auto">
            <a:xfrm>
              <a:off x="923" y="1470"/>
              <a:ext cx="69"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17" name="Rectangle 3086"/>
            <p:cNvSpPr>
              <a:spLocks noChangeAspect="1" noChangeArrowheads="1"/>
            </p:cNvSpPr>
            <p:nvPr/>
          </p:nvSpPr>
          <p:spPr bwMode="auto">
            <a:xfrm>
              <a:off x="923" y="1465"/>
              <a:ext cx="69"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18" name="Rectangle 3087"/>
            <p:cNvSpPr>
              <a:spLocks noChangeAspect="1" noChangeArrowheads="1"/>
            </p:cNvSpPr>
            <p:nvPr/>
          </p:nvSpPr>
          <p:spPr bwMode="auto">
            <a:xfrm>
              <a:off x="923" y="1462"/>
              <a:ext cx="69"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19" name="Rectangle 3088"/>
            <p:cNvSpPr>
              <a:spLocks noChangeAspect="1" noChangeArrowheads="1"/>
            </p:cNvSpPr>
            <p:nvPr/>
          </p:nvSpPr>
          <p:spPr bwMode="auto">
            <a:xfrm>
              <a:off x="923" y="1457"/>
              <a:ext cx="69"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20" name="Rectangle 3089"/>
            <p:cNvSpPr>
              <a:spLocks noChangeAspect="1" noChangeArrowheads="1"/>
            </p:cNvSpPr>
            <p:nvPr/>
          </p:nvSpPr>
          <p:spPr bwMode="auto">
            <a:xfrm>
              <a:off x="923" y="1454"/>
              <a:ext cx="69"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21" name="Rectangle 3090"/>
            <p:cNvSpPr>
              <a:spLocks noChangeAspect="1" noChangeArrowheads="1"/>
            </p:cNvSpPr>
            <p:nvPr/>
          </p:nvSpPr>
          <p:spPr bwMode="auto">
            <a:xfrm>
              <a:off x="923" y="1446"/>
              <a:ext cx="69" cy="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22" name="Rectangle 3091"/>
            <p:cNvSpPr>
              <a:spLocks noChangeAspect="1" noChangeArrowheads="1"/>
            </p:cNvSpPr>
            <p:nvPr/>
          </p:nvSpPr>
          <p:spPr bwMode="auto">
            <a:xfrm>
              <a:off x="923" y="1443"/>
              <a:ext cx="69"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23" name="Rectangle 3092"/>
            <p:cNvSpPr>
              <a:spLocks noChangeAspect="1" noChangeArrowheads="1"/>
            </p:cNvSpPr>
            <p:nvPr/>
          </p:nvSpPr>
          <p:spPr bwMode="auto">
            <a:xfrm>
              <a:off x="923" y="1437"/>
              <a:ext cx="69"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24" name="Rectangle 3093"/>
            <p:cNvSpPr>
              <a:spLocks noChangeAspect="1" noChangeArrowheads="1"/>
            </p:cNvSpPr>
            <p:nvPr/>
          </p:nvSpPr>
          <p:spPr bwMode="auto">
            <a:xfrm>
              <a:off x="923" y="1435"/>
              <a:ext cx="69"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25" name="Rectangle 3094"/>
            <p:cNvSpPr>
              <a:spLocks noChangeAspect="1" noChangeArrowheads="1"/>
            </p:cNvSpPr>
            <p:nvPr/>
          </p:nvSpPr>
          <p:spPr bwMode="auto">
            <a:xfrm>
              <a:off x="923" y="1428"/>
              <a:ext cx="69"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26" name="Rectangle 3095"/>
            <p:cNvSpPr>
              <a:spLocks noChangeAspect="1" noChangeArrowheads="1"/>
            </p:cNvSpPr>
            <p:nvPr/>
          </p:nvSpPr>
          <p:spPr bwMode="auto">
            <a:xfrm>
              <a:off x="923" y="1427"/>
              <a:ext cx="69"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27" name="Rectangle 3096"/>
            <p:cNvSpPr>
              <a:spLocks noChangeAspect="1" noChangeArrowheads="1"/>
            </p:cNvSpPr>
            <p:nvPr/>
          </p:nvSpPr>
          <p:spPr bwMode="auto">
            <a:xfrm>
              <a:off x="923" y="1418"/>
              <a:ext cx="69"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28" name="Rectangle 3097"/>
            <p:cNvSpPr>
              <a:spLocks noChangeAspect="1" noChangeArrowheads="1"/>
            </p:cNvSpPr>
            <p:nvPr/>
          </p:nvSpPr>
          <p:spPr bwMode="auto">
            <a:xfrm>
              <a:off x="923" y="1415"/>
              <a:ext cx="69"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29" name="Rectangle 3098"/>
            <p:cNvSpPr>
              <a:spLocks noChangeAspect="1" noChangeArrowheads="1"/>
            </p:cNvSpPr>
            <p:nvPr/>
          </p:nvSpPr>
          <p:spPr bwMode="auto">
            <a:xfrm>
              <a:off x="923" y="1410"/>
              <a:ext cx="69"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30" name="Rectangle 3099"/>
            <p:cNvSpPr>
              <a:spLocks noChangeAspect="1" noChangeArrowheads="1"/>
            </p:cNvSpPr>
            <p:nvPr/>
          </p:nvSpPr>
          <p:spPr bwMode="auto">
            <a:xfrm>
              <a:off x="923" y="1410"/>
              <a:ext cx="69" cy="3"/>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31" name="Rectangle 3100"/>
            <p:cNvSpPr>
              <a:spLocks noChangeAspect="1" noChangeArrowheads="1"/>
            </p:cNvSpPr>
            <p:nvPr/>
          </p:nvSpPr>
          <p:spPr bwMode="auto">
            <a:xfrm>
              <a:off x="923" y="1410"/>
              <a:ext cx="69" cy="137"/>
            </a:xfrm>
            <a:prstGeom prst="rect">
              <a:avLst/>
            </a:prstGeom>
            <a:gradFill rotWithShape="0">
              <a:gsLst>
                <a:gs pos="0">
                  <a:srgbClr val="339966"/>
                </a:gs>
                <a:gs pos="50000">
                  <a:srgbClr val="96CBB0"/>
                </a:gs>
                <a:gs pos="100000">
                  <a:srgbClr val="339966"/>
                </a:gs>
              </a:gsLst>
              <a:lin ang="5400000" scaled="1"/>
            </a:gradFill>
            <a:ln w="1588">
              <a:solidFill>
                <a:srgbClr val="1F1A17"/>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32" name="Rectangle 3101"/>
            <p:cNvSpPr>
              <a:spLocks noChangeAspect="1" noChangeArrowheads="1"/>
            </p:cNvSpPr>
            <p:nvPr/>
          </p:nvSpPr>
          <p:spPr bwMode="auto">
            <a:xfrm>
              <a:off x="992" y="1507"/>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33" name="Rectangle 3102"/>
            <p:cNvSpPr>
              <a:spLocks noChangeAspect="1" noChangeArrowheads="1"/>
            </p:cNvSpPr>
            <p:nvPr/>
          </p:nvSpPr>
          <p:spPr bwMode="auto">
            <a:xfrm>
              <a:off x="992" y="1501"/>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34" name="Rectangle 3103"/>
            <p:cNvSpPr>
              <a:spLocks noChangeAspect="1" noChangeArrowheads="1"/>
            </p:cNvSpPr>
            <p:nvPr/>
          </p:nvSpPr>
          <p:spPr bwMode="auto">
            <a:xfrm>
              <a:off x="992" y="1497"/>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35" name="Rectangle 3104"/>
            <p:cNvSpPr>
              <a:spLocks noChangeAspect="1" noChangeArrowheads="1"/>
            </p:cNvSpPr>
            <p:nvPr/>
          </p:nvSpPr>
          <p:spPr bwMode="auto">
            <a:xfrm>
              <a:off x="992" y="1494"/>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36" name="Rectangle 3105"/>
            <p:cNvSpPr>
              <a:spLocks noChangeAspect="1" noChangeArrowheads="1"/>
            </p:cNvSpPr>
            <p:nvPr/>
          </p:nvSpPr>
          <p:spPr bwMode="auto">
            <a:xfrm>
              <a:off x="992" y="1491"/>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37" name="Rectangle 3106"/>
            <p:cNvSpPr>
              <a:spLocks noChangeAspect="1" noChangeArrowheads="1"/>
            </p:cNvSpPr>
            <p:nvPr/>
          </p:nvSpPr>
          <p:spPr bwMode="auto">
            <a:xfrm>
              <a:off x="992" y="1484"/>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38" name="Rectangle 3107"/>
            <p:cNvSpPr>
              <a:spLocks noChangeAspect="1" noChangeArrowheads="1"/>
            </p:cNvSpPr>
            <p:nvPr/>
          </p:nvSpPr>
          <p:spPr bwMode="auto">
            <a:xfrm>
              <a:off x="992" y="1480"/>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39" name="Rectangle 3108"/>
            <p:cNvSpPr>
              <a:spLocks noChangeAspect="1" noChangeArrowheads="1"/>
            </p:cNvSpPr>
            <p:nvPr/>
          </p:nvSpPr>
          <p:spPr bwMode="auto">
            <a:xfrm>
              <a:off x="992" y="1474"/>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40" name="Rectangle 3109"/>
            <p:cNvSpPr>
              <a:spLocks noChangeAspect="1" noChangeArrowheads="1"/>
            </p:cNvSpPr>
            <p:nvPr/>
          </p:nvSpPr>
          <p:spPr bwMode="auto">
            <a:xfrm>
              <a:off x="992" y="1471"/>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41" name="Rectangle 3110"/>
            <p:cNvSpPr>
              <a:spLocks noChangeAspect="1" noChangeArrowheads="1"/>
            </p:cNvSpPr>
            <p:nvPr/>
          </p:nvSpPr>
          <p:spPr bwMode="auto">
            <a:xfrm>
              <a:off x="992" y="1465"/>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42" name="Rectangle 3111"/>
            <p:cNvSpPr>
              <a:spLocks noChangeAspect="1" noChangeArrowheads="1"/>
            </p:cNvSpPr>
            <p:nvPr/>
          </p:nvSpPr>
          <p:spPr bwMode="auto">
            <a:xfrm>
              <a:off x="992" y="1461"/>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43" name="Rectangle 3112"/>
            <p:cNvSpPr>
              <a:spLocks noChangeAspect="1" noChangeArrowheads="1"/>
            </p:cNvSpPr>
            <p:nvPr/>
          </p:nvSpPr>
          <p:spPr bwMode="auto">
            <a:xfrm>
              <a:off x="992" y="1454"/>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44" name="Rectangle 3113"/>
            <p:cNvSpPr>
              <a:spLocks noChangeAspect="1" noChangeArrowheads="1"/>
            </p:cNvSpPr>
            <p:nvPr/>
          </p:nvSpPr>
          <p:spPr bwMode="auto">
            <a:xfrm>
              <a:off x="992" y="1450"/>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45" name="Rectangle 3114"/>
            <p:cNvSpPr>
              <a:spLocks noChangeAspect="1" noChangeArrowheads="1"/>
            </p:cNvSpPr>
            <p:nvPr/>
          </p:nvSpPr>
          <p:spPr bwMode="auto">
            <a:xfrm>
              <a:off x="992" y="1448"/>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46" name="Rectangle 3115"/>
            <p:cNvSpPr>
              <a:spLocks noChangeAspect="1" noChangeArrowheads="1"/>
            </p:cNvSpPr>
            <p:nvPr/>
          </p:nvSpPr>
          <p:spPr bwMode="auto">
            <a:xfrm>
              <a:off x="992" y="1444"/>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47" name="Rectangle 3116"/>
            <p:cNvSpPr>
              <a:spLocks noChangeAspect="1" noChangeArrowheads="1"/>
            </p:cNvSpPr>
            <p:nvPr/>
          </p:nvSpPr>
          <p:spPr bwMode="auto">
            <a:xfrm>
              <a:off x="992" y="1437"/>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48" name="Rectangle 3117"/>
            <p:cNvSpPr>
              <a:spLocks noChangeAspect="1" noChangeArrowheads="1"/>
            </p:cNvSpPr>
            <p:nvPr/>
          </p:nvSpPr>
          <p:spPr bwMode="auto">
            <a:xfrm>
              <a:off x="992" y="1434"/>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49" name="Rectangle 3118"/>
            <p:cNvSpPr>
              <a:spLocks noChangeAspect="1" noChangeArrowheads="1"/>
            </p:cNvSpPr>
            <p:nvPr/>
          </p:nvSpPr>
          <p:spPr bwMode="auto">
            <a:xfrm>
              <a:off x="992" y="1428"/>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50" name="Rectangle 3119"/>
            <p:cNvSpPr>
              <a:spLocks noChangeAspect="1" noChangeArrowheads="1"/>
            </p:cNvSpPr>
            <p:nvPr/>
          </p:nvSpPr>
          <p:spPr bwMode="auto">
            <a:xfrm>
              <a:off x="992" y="1425"/>
              <a:ext cx="31"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51" name="Rectangle 3120"/>
            <p:cNvSpPr>
              <a:spLocks noChangeAspect="1" noChangeArrowheads="1"/>
            </p:cNvSpPr>
            <p:nvPr/>
          </p:nvSpPr>
          <p:spPr bwMode="auto">
            <a:xfrm>
              <a:off x="992" y="1418"/>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52" name="Rectangle 3121"/>
            <p:cNvSpPr>
              <a:spLocks noChangeAspect="1" noChangeArrowheads="1"/>
            </p:cNvSpPr>
            <p:nvPr/>
          </p:nvSpPr>
          <p:spPr bwMode="auto">
            <a:xfrm>
              <a:off x="992" y="1414"/>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53" name="Rectangle 3122"/>
            <p:cNvSpPr>
              <a:spLocks noChangeAspect="1" noChangeArrowheads="1"/>
            </p:cNvSpPr>
            <p:nvPr/>
          </p:nvSpPr>
          <p:spPr bwMode="auto">
            <a:xfrm>
              <a:off x="992" y="1411"/>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54" name="Rectangle 3123"/>
            <p:cNvSpPr>
              <a:spLocks noChangeAspect="1" noChangeArrowheads="1"/>
            </p:cNvSpPr>
            <p:nvPr/>
          </p:nvSpPr>
          <p:spPr bwMode="auto">
            <a:xfrm>
              <a:off x="992" y="1408"/>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55" name="Rectangle 3124"/>
            <p:cNvSpPr>
              <a:spLocks noChangeAspect="1" noChangeArrowheads="1"/>
            </p:cNvSpPr>
            <p:nvPr/>
          </p:nvSpPr>
          <p:spPr bwMode="auto">
            <a:xfrm>
              <a:off x="992" y="1401"/>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56" name="Rectangle 3125"/>
            <p:cNvSpPr>
              <a:spLocks noChangeAspect="1" noChangeArrowheads="1"/>
            </p:cNvSpPr>
            <p:nvPr/>
          </p:nvSpPr>
          <p:spPr bwMode="auto">
            <a:xfrm>
              <a:off x="992" y="1398"/>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57" name="Rectangle 3126"/>
            <p:cNvSpPr>
              <a:spLocks noChangeAspect="1" noChangeArrowheads="1"/>
            </p:cNvSpPr>
            <p:nvPr/>
          </p:nvSpPr>
          <p:spPr bwMode="auto">
            <a:xfrm>
              <a:off x="992" y="1398"/>
              <a:ext cx="31" cy="165"/>
            </a:xfrm>
            <a:prstGeom prst="rect">
              <a:avLst/>
            </a:prstGeom>
            <a:gradFill rotWithShape="0">
              <a:gsLst>
                <a:gs pos="0">
                  <a:srgbClr val="339966"/>
                </a:gs>
                <a:gs pos="50000">
                  <a:srgbClr val="96CBB0"/>
                </a:gs>
                <a:gs pos="100000">
                  <a:srgbClr val="339966"/>
                </a:gs>
              </a:gsLst>
              <a:lin ang="5400000" scaled="1"/>
            </a:gradFill>
            <a:ln w="1588">
              <a:solidFill>
                <a:srgbClr val="1F1A17"/>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58" name="Rectangle 3127"/>
            <p:cNvSpPr>
              <a:spLocks noChangeAspect="1" noChangeArrowheads="1"/>
            </p:cNvSpPr>
            <p:nvPr/>
          </p:nvSpPr>
          <p:spPr bwMode="auto">
            <a:xfrm>
              <a:off x="1023" y="1538"/>
              <a:ext cx="210"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59" name="Rectangle 3128"/>
            <p:cNvSpPr>
              <a:spLocks noChangeAspect="1" noChangeArrowheads="1"/>
            </p:cNvSpPr>
            <p:nvPr/>
          </p:nvSpPr>
          <p:spPr bwMode="auto">
            <a:xfrm>
              <a:off x="1023" y="1536"/>
              <a:ext cx="21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60" name="Rectangle 3129"/>
            <p:cNvSpPr>
              <a:spLocks noChangeAspect="1" noChangeArrowheads="1"/>
            </p:cNvSpPr>
            <p:nvPr/>
          </p:nvSpPr>
          <p:spPr bwMode="auto">
            <a:xfrm>
              <a:off x="1023" y="1531"/>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61" name="Rectangle 3130"/>
            <p:cNvSpPr>
              <a:spLocks noChangeAspect="1" noChangeArrowheads="1"/>
            </p:cNvSpPr>
            <p:nvPr/>
          </p:nvSpPr>
          <p:spPr bwMode="auto">
            <a:xfrm>
              <a:off x="1023" y="1528"/>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62" name="Rectangle 3131"/>
            <p:cNvSpPr>
              <a:spLocks noChangeAspect="1" noChangeArrowheads="1"/>
            </p:cNvSpPr>
            <p:nvPr/>
          </p:nvSpPr>
          <p:spPr bwMode="auto">
            <a:xfrm>
              <a:off x="1023" y="1519"/>
              <a:ext cx="21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63" name="Rectangle 3132"/>
            <p:cNvSpPr>
              <a:spLocks noChangeAspect="1" noChangeArrowheads="1"/>
            </p:cNvSpPr>
            <p:nvPr/>
          </p:nvSpPr>
          <p:spPr bwMode="auto">
            <a:xfrm>
              <a:off x="1023" y="1516"/>
              <a:ext cx="210"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64" name="Rectangle 3133"/>
            <p:cNvSpPr>
              <a:spLocks noChangeAspect="1" noChangeArrowheads="1"/>
            </p:cNvSpPr>
            <p:nvPr/>
          </p:nvSpPr>
          <p:spPr bwMode="auto">
            <a:xfrm>
              <a:off x="1023" y="1511"/>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65" name="Rectangle 3134"/>
            <p:cNvSpPr>
              <a:spLocks noChangeAspect="1" noChangeArrowheads="1"/>
            </p:cNvSpPr>
            <p:nvPr/>
          </p:nvSpPr>
          <p:spPr bwMode="auto">
            <a:xfrm>
              <a:off x="1023" y="1509"/>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66" name="Rectangle 3135"/>
            <p:cNvSpPr>
              <a:spLocks noChangeAspect="1" noChangeArrowheads="1"/>
            </p:cNvSpPr>
            <p:nvPr/>
          </p:nvSpPr>
          <p:spPr bwMode="auto">
            <a:xfrm>
              <a:off x="1023" y="1503"/>
              <a:ext cx="21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67" name="Rectangle 3136"/>
            <p:cNvSpPr>
              <a:spLocks noChangeAspect="1" noChangeArrowheads="1"/>
            </p:cNvSpPr>
            <p:nvPr/>
          </p:nvSpPr>
          <p:spPr bwMode="auto">
            <a:xfrm>
              <a:off x="1023" y="1501"/>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68" name="Rectangle 3137"/>
            <p:cNvSpPr>
              <a:spLocks noChangeAspect="1" noChangeArrowheads="1"/>
            </p:cNvSpPr>
            <p:nvPr/>
          </p:nvSpPr>
          <p:spPr bwMode="auto">
            <a:xfrm>
              <a:off x="1023" y="1492"/>
              <a:ext cx="21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69" name="Rectangle 3138"/>
            <p:cNvSpPr>
              <a:spLocks noChangeAspect="1" noChangeArrowheads="1"/>
            </p:cNvSpPr>
            <p:nvPr/>
          </p:nvSpPr>
          <p:spPr bwMode="auto">
            <a:xfrm>
              <a:off x="1023" y="1490"/>
              <a:ext cx="210" cy="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70" name="Rectangle 3139"/>
            <p:cNvSpPr>
              <a:spLocks noChangeAspect="1" noChangeArrowheads="1"/>
            </p:cNvSpPr>
            <p:nvPr/>
          </p:nvSpPr>
          <p:spPr bwMode="auto">
            <a:xfrm>
              <a:off x="1023" y="1484"/>
              <a:ext cx="21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71" name="Rectangle 3140"/>
            <p:cNvSpPr>
              <a:spLocks noChangeAspect="1" noChangeArrowheads="1"/>
            </p:cNvSpPr>
            <p:nvPr/>
          </p:nvSpPr>
          <p:spPr bwMode="auto">
            <a:xfrm>
              <a:off x="1023" y="1481"/>
              <a:ext cx="21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72" name="Rectangle 3141"/>
            <p:cNvSpPr>
              <a:spLocks noChangeAspect="1" noChangeArrowheads="1"/>
            </p:cNvSpPr>
            <p:nvPr/>
          </p:nvSpPr>
          <p:spPr bwMode="auto">
            <a:xfrm>
              <a:off x="1023" y="1472"/>
              <a:ext cx="210"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73" name="Rectangle 3142"/>
            <p:cNvSpPr>
              <a:spLocks noChangeAspect="1" noChangeArrowheads="1"/>
            </p:cNvSpPr>
            <p:nvPr/>
          </p:nvSpPr>
          <p:spPr bwMode="auto">
            <a:xfrm>
              <a:off x="1023" y="1470"/>
              <a:ext cx="21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74" name="Rectangle 3143"/>
            <p:cNvSpPr>
              <a:spLocks noChangeAspect="1" noChangeArrowheads="1"/>
            </p:cNvSpPr>
            <p:nvPr/>
          </p:nvSpPr>
          <p:spPr bwMode="auto">
            <a:xfrm>
              <a:off x="1023" y="1465"/>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75" name="Rectangle 3144"/>
            <p:cNvSpPr>
              <a:spLocks noChangeAspect="1" noChangeArrowheads="1"/>
            </p:cNvSpPr>
            <p:nvPr/>
          </p:nvSpPr>
          <p:spPr bwMode="auto">
            <a:xfrm>
              <a:off x="1023" y="1462"/>
              <a:ext cx="21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76" name="Rectangle 3145"/>
            <p:cNvSpPr>
              <a:spLocks noChangeAspect="1" noChangeArrowheads="1"/>
            </p:cNvSpPr>
            <p:nvPr/>
          </p:nvSpPr>
          <p:spPr bwMode="auto">
            <a:xfrm>
              <a:off x="1023" y="1457"/>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77" name="Rectangle 3146"/>
            <p:cNvSpPr>
              <a:spLocks noChangeAspect="1" noChangeArrowheads="1"/>
            </p:cNvSpPr>
            <p:nvPr/>
          </p:nvSpPr>
          <p:spPr bwMode="auto">
            <a:xfrm>
              <a:off x="1023" y="1454"/>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78" name="Rectangle 3147"/>
            <p:cNvSpPr>
              <a:spLocks noChangeAspect="1" noChangeArrowheads="1"/>
            </p:cNvSpPr>
            <p:nvPr/>
          </p:nvSpPr>
          <p:spPr bwMode="auto">
            <a:xfrm>
              <a:off x="1023" y="1446"/>
              <a:ext cx="210" cy="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79" name="Rectangle 3148"/>
            <p:cNvSpPr>
              <a:spLocks noChangeAspect="1" noChangeArrowheads="1"/>
            </p:cNvSpPr>
            <p:nvPr/>
          </p:nvSpPr>
          <p:spPr bwMode="auto">
            <a:xfrm>
              <a:off x="1023" y="1443"/>
              <a:ext cx="21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80" name="Rectangle 3149"/>
            <p:cNvSpPr>
              <a:spLocks noChangeAspect="1" noChangeArrowheads="1"/>
            </p:cNvSpPr>
            <p:nvPr/>
          </p:nvSpPr>
          <p:spPr bwMode="auto">
            <a:xfrm>
              <a:off x="1023" y="1437"/>
              <a:ext cx="21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81" name="Rectangle 3150"/>
            <p:cNvSpPr>
              <a:spLocks noChangeAspect="1" noChangeArrowheads="1"/>
            </p:cNvSpPr>
            <p:nvPr/>
          </p:nvSpPr>
          <p:spPr bwMode="auto">
            <a:xfrm>
              <a:off x="1023" y="1435"/>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82" name="Rectangle 3151"/>
            <p:cNvSpPr>
              <a:spLocks noChangeAspect="1" noChangeArrowheads="1"/>
            </p:cNvSpPr>
            <p:nvPr/>
          </p:nvSpPr>
          <p:spPr bwMode="auto">
            <a:xfrm>
              <a:off x="1023" y="1428"/>
              <a:ext cx="210"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83" name="Rectangle 3152"/>
            <p:cNvSpPr>
              <a:spLocks noChangeAspect="1" noChangeArrowheads="1"/>
            </p:cNvSpPr>
            <p:nvPr/>
          </p:nvSpPr>
          <p:spPr bwMode="auto">
            <a:xfrm>
              <a:off x="1023" y="1427"/>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84" name="Rectangle 3153"/>
            <p:cNvSpPr>
              <a:spLocks noChangeAspect="1" noChangeArrowheads="1"/>
            </p:cNvSpPr>
            <p:nvPr/>
          </p:nvSpPr>
          <p:spPr bwMode="auto">
            <a:xfrm>
              <a:off x="1023" y="1418"/>
              <a:ext cx="21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85" name="Rectangle 3154"/>
            <p:cNvSpPr>
              <a:spLocks noChangeAspect="1" noChangeArrowheads="1"/>
            </p:cNvSpPr>
            <p:nvPr/>
          </p:nvSpPr>
          <p:spPr bwMode="auto">
            <a:xfrm>
              <a:off x="1023" y="1415"/>
              <a:ext cx="21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86" name="Rectangle 3155"/>
            <p:cNvSpPr>
              <a:spLocks noChangeAspect="1" noChangeArrowheads="1"/>
            </p:cNvSpPr>
            <p:nvPr/>
          </p:nvSpPr>
          <p:spPr bwMode="auto">
            <a:xfrm>
              <a:off x="1023" y="1410"/>
              <a:ext cx="21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87" name="Rectangle 3156"/>
            <p:cNvSpPr>
              <a:spLocks noChangeAspect="1" noChangeArrowheads="1"/>
            </p:cNvSpPr>
            <p:nvPr/>
          </p:nvSpPr>
          <p:spPr bwMode="auto">
            <a:xfrm>
              <a:off x="1023" y="1410"/>
              <a:ext cx="210" cy="3"/>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88" name="Rectangle 3157"/>
            <p:cNvSpPr>
              <a:spLocks noChangeAspect="1" noChangeArrowheads="1"/>
            </p:cNvSpPr>
            <p:nvPr/>
          </p:nvSpPr>
          <p:spPr bwMode="auto">
            <a:xfrm>
              <a:off x="1023" y="1410"/>
              <a:ext cx="210" cy="137"/>
            </a:xfrm>
            <a:prstGeom prst="rect">
              <a:avLst/>
            </a:prstGeom>
            <a:gradFill rotWithShape="0">
              <a:gsLst>
                <a:gs pos="0">
                  <a:srgbClr val="339966"/>
                </a:gs>
                <a:gs pos="50000">
                  <a:srgbClr val="96CBB0"/>
                </a:gs>
                <a:gs pos="100000">
                  <a:srgbClr val="339966"/>
                </a:gs>
              </a:gsLst>
              <a:lin ang="5400000" scaled="1"/>
            </a:gradFill>
            <a:ln w="1588">
              <a:solidFill>
                <a:srgbClr val="1F1A17"/>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89" name="Rectangle 3158"/>
            <p:cNvSpPr>
              <a:spLocks noChangeAspect="1" noChangeArrowheads="1"/>
            </p:cNvSpPr>
            <p:nvPr/>
          </p:nvSpPr>
          <p:spPr bwMode="auto">
            <a:xfrm>
              <a:off x="1233" y="1556"/>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90" name="Rectangle 3159"/>
            <p:cNvSpPr>
              <a:spLocks noChangeAspect="1" noChangeArrowheads="1"/>
            </p:cNvSpPr>
            <p:nvPr/>
          </p:nvSpPr>
          <p:spPr bwMode="auto">
            <a:xfrm>
              <a:off x="1233" y="1553"/>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91" name="Rectangle 3160"/>
            <p:cNvSpPr>
              <a:spLocks noChangeAspect="1" noChangeArrowheads="1"/>
            </p:cNvSpPr>
            <p:nvPr/>
          </p:nvSpPr>
          <p:spPr bwMode="auto">
            <a:xfrm>
              <a:off x="1233" y="1546"/>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92" name="Rectangle 3161"/>
            <p:cNvSpPr>
              <a:spLocks noChangeAspect="1" noChangeArrowheads="1"/>
            </p:cNvSpPr>
            <p:nvPr/>
          </p:nvSpPr>
          <p:spPr bwMode="auto">
            <a:xfrm>
              <a:off x="1233" y="1543"/>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93" name="Rectangle 3162"/>
            <p:cNvSpPr>
              <a:spLocks noChangeAspect="1" noChangeArrowheads="1"/>
            </p:cNvSpPr>
            <p:nvPr/>
          </p:nvSpPr>
          <p:spPr bwMode="auto">
            <a:xfrm>
              <a:off x="1233" y="1539"/>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94" name="Rectangle 3163"/>
            <p:cNvSpPr>
              <a:spLocks noChangeAspect="1" noChangeArrowheads="1"/>
            </p:cNvSpPr>
            <p:nvPr/>
          </p:nvSpPr>
          <p:spPr bwMode="auto">
            <a:xfrm>
              <a:off x="1233" y="1537"/>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95" name="Rectangle 3164"/>
            <p:cNvSpPr>
              <a:spLocks noChangeAspect="1" noChangeArrowheads="1"/>
            </p:cNvSpPr>
            <p:nvPr/>
          </p:nvSpPr>
          <p:spPr bwMode="auto">
            <a:xfrm>
              <a:off x="1233" y="1531"/>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96" name="Rectangle 3165"/>
            <p:cNvSpPr>
              <a:spLocks noChangeAspect="1" noChangeArrowheads="1"/>
            </p:cNvSpPr>
            <p:nvPr/>
          </p:nvSpPr>
          <p:spPr bwMode="auto">
            <a:xfrm>
              <a:off x="1233" y="1527"/>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97" name="Rectangle 3166"/>
            <p:cNvSpPr>
              <a:spLocks noChangeAspect="1" noChangeArrowheads="1"/>
            </p:cNvSpPr>
            <p:nvPr/>
          </p:nvSpPr>
          <p:spPr bwMode="auto">
            <a:xfrm>
              <a:off x="1233" y="1520"/>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98" name="Rectangle 3167"/>
            <p:cNvSpPr>
              <a:spLocks noChangeAspect="1" noChangeArrowheads="1"/>
            </p:cNvSpPr>
            <p:nvPr/>
          </p:nvSpPr>
          <p:spPr bwMode="auto">
            <a:xfrm>
              <a:off x="1233" y="1516"/>
              <a:ext cx="31" cy="8"/>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299" name="Rectangle 3168"/>
            <p:cNvSpPr>
              <a:spLocks noChangeAspect="1" noChangeArrowheads="1"/>
            </p:cNvSpPr>
            <p:nvPr/>
          </p:nvSpPr>
          <p:spPr bwMode="auto">
            <a:xfrm>
              <a:off x="1233" y="1510"/>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00" name="Rectangle 3169"/>
            <p:cNvSpPr>
              <a:spLocks noChangeAspect="1" noChangeArrowheads="1"/>
            </p:cNvSpPr>
            <p:nvPr/>
          </p:nvSpPr>
          <p:spPr bwMode="auto">
            <a:xfrm>
              <a:off x="1233" y="1507"/>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01" name="Rectangle 3170"/>
            <p:cNvSpPr>
              <a:spLocks noChangeAspect="1" noChangeArrowheads="1"/>
            </p:cNvSpPr>
            <p:nvPr/>
          </p:nvSpPr>
          <p:spPr bwMode="auto">
            <a:xfrm>
              <a:off x="1233" y="1501"/>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02" name="Rectangle 3171"/>
            <p:cNvSpPr>
              <a:spLocks noChangeAspect="1" noChangeArrowheads="1"/>
            </p:cNvSpPr>
            <p:nvPr/>
          </p:nvSpPr>
          <p:spPr bwMode="auto">
            <a:xfrm>
              <a:off x="1233" y="1497"/>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03" name="Rectangle 3172"/>
            <p:cNvSpPr>
              <a:spLocks noChangeAspect="1" noChangeArrowheads="1"/>
            </p:cNvSpPr>
            <p:nvPr/>
          </p:nvSpPr>
          <p:spPr bwMode="auto">
            <a:xfrm>
              <a:off x="1233" y="1494"/>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04" name="Rectangle 3173"/>
            <p:cNvSpPr>
              <a:spLocks noChangeAspect="1" noChangeArrowheads="1"/>
            </p:cNvSpPr>
            <p:nvPr/>
          </p:nvSpPr>
          <p:spPr bwMode="auto">
            <a:xfrm>
              <a:off x="1233" y="1491"/>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05" name="Rectangle 3174"/>
            <p:cNvSpPr>
              <a:spLocks noChangeAspect="1" noChangeArrowheads="1"/>
            </p:cNvSpPr>
            <p:nvPr/>
          </p:nvSpPr>
          <p:spPr bwMode="auto">
            <a:xfrm>
              <a:off x="1233" y="1484"/>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06" name="Rectangle 3175"/>
            <p:cNvSpPr>
              <a:spLocks noChangeAspect="1" noChangeArrowheads="1"/>
            </p:cNvSpPr>
            <p:nvPr/>
          </p:nvSpPr>
          <p:spPr bwMode="auto">
            <a:xfrm>
              <a:off x="1233" y="1480"/>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07" name="Rectangle 3176"/>
            <p:cNvSpPr>
              <a:spLocks noChangeAspect="1" noChangeArrowheads="1"/>
            </p:cNvSpPr>
            <p:nvPr/>
          </p:nvSpPr>
          <p:spPr bwMode="auto">
            <a:xfrm>
              <a:off x="1233" y="1474"/>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08" name="Rectangle 3177"/>
            <p:cNvSpPr>
              <a:spLocks noChangeAspect="1" noChangeArrowheads="1"/>
            </p:cNvSpPr>
            <p:nvPr/>
          </p:nvSpPr>
          <p:spPr bwMode="auto">
            <a:xfrm>
              <a:off x="1233" y="1471"/>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09" name="Rectangle 3178"/>
            <p:cNvSpPr>
              <a:spLocks noChangeAspect="1" noChangeArrowheads="1"/>
            </p:cNvSpPr>
            <p:nvPr/>
          </p:nvSpPr>
          <p:spPr bwMode="auto">
            <a:xfrm>
              <a:off x="1233" y="1465"/>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10" name="Rectangle 3179"/>
            <p:cNvSpPr>
              <a:spLocks noChangeAspect="1" noChangeArrowheads="1"/>
            </p:cNvSpPr>
            <p:nvPr/>
          </p:nvSpPr>
          <p:spPr bwMode="auto">
            <a:xfrm>
              <a:off x="1233" y="1461"/>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11" name="Rectangle 3180"/>
            <p:cNvSpPr>
              <a:spLocks noChangeAspect="1" noChangeArrowheads="1"/>
            </p:cNvSpPr>
            <p:nvPr/>
          </p:nvSpPr>
          <p:spPr bwMode="auto">
            <a:xfrm>
              <a:off x="1233" y="1454"/>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12" name="Rectangle 3181"/>
            <p:cNvSpPr>
              <a:spLocks noChangeAspect="1" noChangeArrowheads="1"/>
            </p:cNvSpPr>
            <p:nvPr/>
          </p:nvSpPr>
          <p:spPr bwMode="auto">
            <a:xfrm>
              <a:off x="1233" y="1450"/>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13" name="Rectangle 3182"/>
            <p:cNvSpPr>
              <a:spLocks noChangeAspect="1" noChangeArrowheads="1"/>
            </p:cNvSpPr>
            <p:nvPr/>
          </p:nvSpPr>
          <p:spPr bwMode="auto">
            <a:xfrm>
              <a:off x="1233" y="1448"/>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14" name="Rectangle 3183"/>
            <p:cNvSpPr>
              <a:spLocks noChangeAspect="1" noChangeArrowheads="1"/>
            </p:cNvSpPr>
            <p:nvPr/>
          </p:nvSpPr>
          <p:spPr bwMode="auto">
            <a:xfrm>
              <a:off x="1233" y="1444"/>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15" name="Rectangle 3184"/>
            <p:cNvSpPr>
              <a:spLocks noChangeAspect="1" noChangeArrowheads="1"/>
            </p:cNvSpPr>
            <p:nvPr/>
          </p:nvSpPr>
          <p:spPr bwMode="auto">
            <a:xfrm>
              <a:off x="1233" y="1437"/>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16" name="Rectangle 3185"/>
            <p:cNvSpPr>
              <a:spLocks noChangeAspect="1" noChangeArrowheads="1"/>
            </p:cNvSpPr>
            <p:nvPr/>
          </p:nvSpPr>
          <p:spPr bwMode="auto">
            <a:xfrm>
              <a:off x="1233" y="1434"/>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17" name="Rectangle 3186"/>
            <p:cNvSpPr>
              <a:spLocks noChangeAspect="1" noChangeArrowheads="1"/>
            </p:cNvSpPr>
            <p:nvPr/>
          </p:nvSpPr>
          <p:spPr bwMode="auto">
            <a:xfrm>
              <a:off x="1233" y="1428"/>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18" name="Rectangle 3187"/>
            <p:cNvSpPr>
              <a:spLocks noChangeAspect="1" noChangeArrowheads="1"/>
            </p:cNvSpPr>
            <p:nvPr/>
          </p:nvSpPr>
          <p:spPr bwMode="auto">
            <a:xfrm>
              <a:off x="1233" y="1425"/>
              <a:ext cx="31"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19" name="Rectangle 3188"/>
            <p:cNvSpPr>
              <a:spLocks noChangeAspect="1" noChangeArrowheads="1"/>
            </p:cNvSpPr>
            <p:nvPr/>
          </p:nvSpPr>
          <p:spPr bwMode="auto">
            <a:xfrm>
              <a:off x="1233" y="1418"/>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20" name="Rectangle 3189"/>
            <p:cNvSpPr>
              <a:spLocks noChangeAspect="1" noChangeArrowheads="1"/>
            </p:cNvSpPr>
            <p:nvPr/>
          </p:nvSpPr>
          <p:spPr bwMode="auto">
            <a:xfrm>
              <a:off x="1233" y="1414"/>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21" name="Rectangle 3190"/>
            <p:cNvSpPr>
              <a:spLocks noChangeAspect="1" noChangeArrowheads="1"/>
            </p:cNvSpPr>
            <p:nvPr/>
          </p:nvSpPr>
          <p:spPr bwMode="auto">
            <a:xfrm>
              <a:off x="1233" y="1411"/>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22" name="Rectangle 3191"/>
            <p:cNvSpPr>
              <a:spLocks noChangeAspect="1" noChangeArrowheads="1"/>
            </p:cNvSpPr>
            <p:nvPr/>
          </p:nvSpPr>
          <p:spPr bwMode="auto">
            <a:xfrm>
              <a:off x="1233" y="1408"/>
              <a:ext cx="31"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23" name="Rectangle 3192"/>
            <p:cNvSpPr>
              <a:spLocks noChangeAspect="1" noChangeArrowheads="1"/>
            </p:cNvSpPr>
            <p:nvPr/>
          </p:nvSpPr>
          <p:spPr bwMode="auto">
            <a:xfrm>
              <a:off x="1233" y="1401"/>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24" name="Rectangle 3193"/>
            <p:cNvSpPr>
              <a:spLocks noChangeAspect="1" noChangeArrowheads="1"/>
            </p:cNvSpPr>
            <p:nvPr/>
          </p:nvSpPr>
          <p:spPr bwMode="auto">
            <a:xfrm>
              <a:off x="1233" y="1398"/>
              <a:ext cx="31"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25" name="Rectangle 3194"/>
            <p:cNvSpPr>
              <a:spLocks noChangeAspect="1" noChangeArrowheads="1"/>
            </p:cNvSpPr>
            <p:nvPr/>
          </p:nvSpPr>
          <p:spPr bwMode="auto">
            <a:xfrm>
              <a:off x="1233" y="1398"/>
              <a:ext cx="31" cy="165"/>
            </a:xfrm>
            <a:prstGeom prst="rect">
              <a:avLst/>
            </a:prstGeom>
            <a:gradFill rotWithShape="0">
              <a:gsLst>
                <a:gs pos="0">
                  <a:srgbClr val="339966"/>
                </a:gs>
                <a:gs pos="50000">
                  <a:srgbClr val="96CBB0"/>
                </a:gs>
                <a:gs pos="100000">
                  <a:srgbClr val="339966"/>
                </a:gs>
              </a:gsLst>
              <a:lin ang="5400000" scaled="1"/>
            </a:gradFill>
            <a:ln w="1588">
              <a:solidFill>
                <a:srgbClr val="1F1A17"/>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26" name="Rectangle 3195"/>
            <p:cNvSpPr>
              <a:spLocks noChangeAspect="1" noChangeArrowheads="1"/>
            </p:cNvSpPr>
            <p:nvPr/>
          </p:nvSpPr>
          <p:spPr bwMode="auto">
            <a:xfrm>
              <a:off x="1264" y="1538"/>
              <a:ext cx="70"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27" name="Rectangle 3196"/>
            <p:cNvSpPr>
              <a:spLocks noChangeAspect="1" noChangeArrowheads="1"/>
            </p:cNvSpPr>
            <p:nvPr/>
          </p:nvSpPr>
          <p:spPr bwMode="auto">
            <a:xfrm>
              <a:off x="1264" y="1536"/>
              <a:ext cx="7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28" name="Rectangle 3197"/>
            <p:cNvSpPr>
              <a:spLocks noChangeAspect="1" noChangeArrowheads="1"/>
            </p:cNvSpPr>
            <p:nvPr/>
          </p:nvSpPr>
          <p:spPr bwMode="auto">
            <a:xfrm>
              <a:off x="1264" y="1531"/>
              <a:ext cx="7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29" name="Rectangle 3198"/>
            <p:cNvSpPr>
              <a:spLocks noChangeAspect="1" noChangeArrowheads="1"/>
            </p:cNvSpPr>
            <p:nvPr/>
          </p:nvSpPr>
          <p:spPr bwMode="auto">
            <a:xfrm>
              <a:off x="1264" y="1528"/>
              <a:ext cx="7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30" name="Rectangle 3199"/>
            <p:cNvSpPr>
              <a:spLocks noChangeAspect="1" noChangeArrowheads="1"/>
            </p:cNvSpPr>
            <p:nvPr/>
          </p:nvSpPr>
          <p:spPr bwMode="auto">
            <a:xfrm>
              <a:off x="1264" y="1519"/>
              <a:ext cx="7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31" name="Rectangle 3200"/>
            <p:cNvSpPr>
              <a:spLocks noChangeAspect="1" noChangeArrowheads="1"/>
            </p:cNvSpPr>
            <p:nvPr/>
          </p:nvSpPr>
          <p:spPr bwMode="auto">
            <a:xfrm>
              <a:off x="1264" y="1516"/>
              <a:ext cx="70"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32" name="Rectangle 3201"/>
            <p:cNvSpPr>
              <a:spLocks noChangeAspect="1" noChangeArrowheads="1"/>
            </p:cNvSpPr>
            <p:nvPr/>
          </p:nvSpPr>
          <p:spPr bwMode="auto">
            <a:xfrm>
              <a:off x="1264" y="1509"/>
              <a:ext cx="7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33" name="Rectangle 3202"/>
            <p:cNvSpPr>
              <a:spLocks noChangeAspect="1" noChangeArrowheads="1"/>
            </p:cNvSpPr>
            <p:nvPr/>
          </p:nvSpPr>
          <p:spPr bwMode="auto">
            <a:xfrm>
              <a:off x="1264" y="1503"/>
              <a:ext cx="7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34" name="Rectangle 3203"/>
            <p:cNvSpPr>
              <a:spLocks noChangeAspect="1" noChangeArrowheads="1"/>
            </p:cNvSpPr>
            <p:nvPr/>
          </p:nvSpPr>
          <p:spPr bwMode="auto">
            <a:xfrm>
              <a:off x="1264" y="1501"/>
              <a:ext cx="7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35" name="Rectangle 3204"/>
            <p:cNvSpPr>
              <a:spLocks noChangeAspect="1" noChangeArrowheads="1"/>
            </p:cNvSpPr>
            <p:nvPr/>
          </p:nvSpPr>
          <p:spPr bwMode="auto">
            <a:xfrm>
              <a:off x="1264" y="1493"/>
              <a:ext cx="7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36" name="Rectangle 3205"/>
            <p:cNvSpPr>
              <a:spLocks noChangeAspect="1" noChangeArrowheads="1"/>
            </p:cNvSpPr>
            <p:nvPr/>
          </p:nvSpPr>
          <p:spPr bwMode="auto">
            <a:xfrm>
              <a:off x="1264" y="1490"/>
              <a:ext cx="70" cy="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37" name="Rectangle 3206"/>
            <p:cNvSpPr>
              <a:spLocks noChangeAspect="1" noChangeArrowheads="1"/>
            </p:cNvSpPr>
            <p:nvPr/>
          </p:nvSpPr>
          <p:spPr bwMode="auto">
            <a:xfrm>
              <a:off x="1264" y="1484"/>
              <a:ext cx="7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38" name="Rectangle 3207"/>
            <p:cNvSpPr>
              <a:spLocks noChangeAspect="1" noChangeArrowheads="1"/>
            </p:cNvSpPr>
            <p:nvPr/>
          </p:nvSpPr>
          <p:spPr bwMode="auto">
            <a:xfrm>
              <a:off x="1264" y="1481"/>
              <a:ext cx="7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39" name="Rectangle 3208"/>
            <p:cNvSpPr>
              <a:spLocks noChangeAspect="1" noChangeArrowheads="1"/>
            </p:cNvSpPr>
            <p:nvPr/>
          </p:nvSpPr>
          <p:spPr bwMode="auto">
            <a:xfrm>
              <a:off x="1264" y="1472"/>
              <a:ext cx="70" cy="7"/>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40" name="Rectangle 3209"/>
            <p:cNvSpPr>
              <a:spLocks noChangeAspect="1" noChangeArrowheads="1"/>
            </p:cNvSpPr>
            <p:nvPr/>
          </p:nvSpPr>
          <p:spPr bwMode="auto">
            <a:xfrm>
              <a:off x="1264" y="1471"/>
              <a:ext cx="7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41" name="Rectangle 3210"/>
            <p:cNvSpPr>
              <a:spLocks noChangeAspect="1" noChangeArrowheads="1"/>
            </p:cNvSpPr>
            <p:nvPr/>
          </p:nvSpPr>
          <p:spPr bwMode="auto">
            <a:xfrm>
              <a:off x="1264" y="1465"/>
              <a:ext cx="7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42" name="Rectangle 3211"/>
            <p:cNvSpPr>
              <a:spLocks noChangeAspect="1" noChangeArrowheads="1"/>
            </p:cNvSpPr>
            <p:nvPr/>
          </p:nvSpPr>
          <p:spPr bwMode="auto">
            <a:xfrm>
              <a:off x="1264" y="1462"/>
              <a:ext cx="7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43" name="Rectangle 3212"/>
            <p:cNvSpPr>
              <a:spLocks noChangeAspect="1" noChangeArrowheads="1"/>
            </p:cNvSpPr>
            <p:nvPr/>
          </p:nvSpPr>
          <p:spPr bwMode="auto">
            <a:xfrm>
              <a:off x="1264" y="1457"/>
              <a:ext cx="7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44" name="Rectangle 3213"/>
            <p:cNvSpPr>
              <a:spLocks noChangeAspect="1" noChangeArrowheads="1"/>
            </p:cNvSpPr>
            <p:nvPr/>
          </p:nvSpPr>
          <p:spPr bwMode="auto">
            <a:xfrm>
              <a:off x="1264" y="1454"/>
              <a:ext cx="7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45" name="Rectangle 3214"/>
            <p:cNvSpPr>
              <a:spLocks noChangeAspect="1" noChangeArrowheads="1"/>
            </p:cNvSpPr>
            <p:nvPr/>
          </p:nvSpPr>
          <p:spPr bwMode="auto">
            <a:xfrm>
              <a:off x="1264" y="1446"/>
              <a:ext cx="70" cy="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46" name="Rectangle 3215"/>
            <p:cNvSpPr>
              <a:spLocks noChangeAspect="1" noChangeArrowheads="1"/>
            </p:cNvSpPr>
            <p:nvPr/>
          </p:nvSpPr>
          <p:spPr bwMode="auto">
            <a:xfrm>
              <a:off x="1264" y="1443"/>
              <a:ext cx="7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47" name="Rectangle 3216"/>
            <p:cNvSpPr>
              <a:spLocks noChangeAspect="1" noChangeArrowheads="1"/>
            </p:cNvSpPr>
            <p:nvPr/>
          </p:nvSpPr>
          <p:spPr bwMode="auto">
            <a:xfrm>
              <a:off x="1264" y="1437"/>
              <a:ext cx="7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48" name="Rectangle 3217"/>
            <p:cNvSpPr>
              <a:spLocks noChangeAspect="1" noChangeArrowheads="1"/>
            </p:cNvSpPr>
            <p:nvPr/>
          </p:nvSpPr>
          <p:spPr bwMode="auto">
            <a:xfrm>
              <a:off x="1264" y="1429"/>
              <a:ext cx="7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49" name="Rectangle 3218"/>
            <p:cNvSpPr>
              <a:spLocks noChangeAspect="1" noChangeArrowheads="1"/>
            </p:cNvSpPr>
            <p:nvPr/>
          </p:nvSpPr>
          <p:spPr bwMode="auto">
            <a:xfrm>
              <a:off x="1264" y="1427"/>
              <a:ext cx="70" cy="5"/>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50" name="Rectangle 3219"/>
            <p:cNvSpPr>
              <a:spLocks noChangeAspect="1" noChangeArrowheads="1"/>
            </p:cNvSpPr>
            <p:nvPr/>
          </p:nvSpPr>
          <p:spPr bwMode="auto">
            <a:xfrm>
              <a:off x="1264" y="1418"/>
              <a:ext cx="7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51" name="Rectangle 3220"/>
            <p:cNvSpPr>
              <a:spLocks noChangeAspect="1" noChangeArrowheads="1"/>
            </p:cNvSpPr>
            <p:nvPr/>
          </p:nvSpPr>
          <p:spPr bwMode="auto">
            <a:xfrm>
              <a:off x="1264" y="1415"/>
              <a:ext cx="70" cy="6"/>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52" name="Rectangle 3221"/>
            <p:cNvSpPr>
              <a:spLocks noChangeAspect="1" noChangeArrowheads="1"/>
            </p:cNvSpPr>
            <p:nvPr/>
          </p:nvSpPr>
          <p:spPr bwMode="auto">
            <a:xfrm>
              <a:off x="1264" y="1410"/>
              <a:ext cx="70" cy="137"/>
            </a:xfrm>
            <a:prstGeom prst="rect">
              <a:avLst/>
            </a:prstGeom>
            <a:gradFill rotWithShape="0">
              <a:gsLst>
                <a:gs pos="0">
                  <a:srgbClr val="339966"/>
                </a:gs>
                <a:gs pos="50000">
                  <a:srgbClr val="96CBB0"/>
                </a:gs>
                <a:gs pos="100000">
                  <a:srgbClr val="339966"/>
                </a:gs>
              </a:gsLst>
              <a:lin ang="5400000" scaled="1"/>
            </a:gradFill>
            <a:ln w="1588">
              <a:solidFill>
                <a:srgbClr val="1F1A17"/>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53" name="Rectangle 3222"/>
            <p:cNvSpPr>
              <a:spLocks noChangeAspect="1" noChangeArrowheads="1"/>
            </p:cNvSpPr>
            <p:nvPr/>
          </p:nvSpPr>
          <p:spPr bwMode="auto">
            <a:xfrm>
              <a:off x="877" y="1563"/>
              <a:ext cx="9"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54" name="Rectangle 3223"/>
            <p:cNvSpPr>
              <a:spLocks noChangeAspect="1" noChangeArrowheads="1"/>
            </p:cNvSpPr>
            <p:nvPr/>
          </p:nvSpPr>
          <p:spPr bwMode="auto">
            <a:xfrm>
              <a:off x="877" y="1563"/>
              <a:ext cx="19"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55" name="Rectangle 3224"/>
            <p:cNvSpPr>
              <a:spLocks noChangeAspect="1" noChangeArrowheads="1"/>
            </p:cNvSpPr>
            <p:nvPr/>
          </p:nvSpPr>
          <p:spPr bwMode="auto">
            <a:xfrm>
              <a:off x="886"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56" name="Rectangle 3225"/>
            <p:cNvSpPr>
              <a:spLocks noChangeAspect="1" noChangeArrowheads="1"/>
            </p:cNvSpPr>
            <p:nvPr/>
          </p:nvSpPr>
          <p:spPr bwMode="auto">
            <a:xfrm>
              <a:off x="896"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57" name="Rectangle 3226"/>
            <p:cNvSpPr>
              <a:spLocks noChangeAspect="1" noChangeArrowheads="1"/>
            </p:cNvSpPr>
            <p:nvPr/>
          </p:nvSpPr>
          <p:spPr bwMode="auto">
            <a:xfrm>
              <a:off x="906"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58" name="Rectangle 3227"/>
            <p:cNvSpPr>
              <a:spLocks noChangeAspect="1" noChangeArrowheads="1"/>
            </p:cNvSpPr>
            <p:nvPr/>
          </p:nvSpPr>
          <p:spPr bwMode="auto">
            <a:xfrm>
              <a:off x="916"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59" name="Rectangle 3228"/>
            <p:cNvSpPr>
              <a:spLocks noChangeAspect="1" noChangeArrowheads="1"/>
            </p:cNvSpPr>
            <p:nvPr/>
          </p:nvSpPr>
          <p:spPr bwMode="auto">
            <a:xfrm>
              <a:off x="926"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60" name="Rectangle 3229"/>
            <p:cNvSpPr>
              <a:spLocks noChangeAspect="1" noChangeArrowheads="1"/>
            </p:cNvSpPr>
            <p:nvPr/>
          </p:nvSpPr>
          <p:spPr bwMode="auto">
            <a:xfrm>
              <a:off x="936"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61" name="Rectangle 3230"/>
            <p:cNvSpPr>
              <a:spLocks noChangeAspect="1" noChangeArrowheads="1"/>
            </p:cNvSpPr>
            <p:nvPr/>
          </p:nvSpPr>
          <p:spPr bwMode="auto">
            <a:xfrm>
              <a:off x="946" y="1563"/>
              <a:ext cx="21"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62" name="Rectangle 3231"/>
            <p:cNvSpPr>
              <a:spLocks noChangeAspect="1" noChangeArrowheads="1"/>
            </p:cNvSpPr>
            <p:nvPr/>
          </p:nvSpPr>
          <p:spPr bwMode="auto">
            <a:xfrm>
              <a:off x="956"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63" name="Rectangle 3232"/>
            <p:cNvSpPr>
              <a:spLocks noChangeAspect="1" noChangeArrowheads="1"/>
            </p:cNvSpPr>
            <p:nvPr/>
          </p:nvSpPr>
          <p:spPr bwMode="auto">
            <a:xfrm>
              <a:off x="967"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64" name="Rectangle 3233"/>
            <p:cNvSpPr>
              <a:spLocks noChangeAspect="1" noChangeArrowheads="1"/>
            </p:cNvSpPr>
            <p:nvPr/>
          </p:nvSpPr>
          <p:spPr bwMode="auto">
            <a:xfrm>
              <a:off x="976" y="1563"/>
              <a:ext cx="21"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65" name="Rectangle 3234"/>
            <p:cNvSpPr>
              <a:spLocks noChangeAspect="1" noChangeArrowheads="1"/>
            </p:cNvSpPr>
            <p:nvPr/>
          </p:nvSpPr>
          <p:spPr bwMode="auto">
            <a:xfrm>
              <a:off x="987" y="1563"/>
              <a:ext cx="19"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66" name="Rectangle 3235"/>
            <p:cNvSpPr>
              <a:spLocks noChangeAspect="1" noChangeArrowheads="1"/>
            </p:cNvSpPr>
            <p:nvPr/>
          </p:nvSpPr>
          <p:spPr bwMode="auto">
            <a:xfrm>
              <a:off x="997"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67" name="Rectangle 3236"/>
            <p:cNvSpPr>
              <a:spLocks noChangeAspect="1" noChangeArrowheads="1"/>
            </p:cNvSpPr>
            <p:nvPr/>
          </p:nvSpPr>
          <p:spPr bwMode="auto">
            <a:xfrm>
              <a:off x="1006"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68" name="Rectangle 3237"/>
            <p:cNvSpPr>
              <a:spLocks noChangeAspect="1" noChangeArrowheads="1"/>
            </p:cNvSpPr>
            <p:nvPr/>
          </p:nvSpPr>
          <p:spPr bwMode="auto">
            <a:xfrm>
              <a:off x="1017"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69" name="Rectangle 3238"/>
            <p:cNvSpPr>
              <a:spLocks noChangeAspect="1" noChangeArrowheads="1"/>
            </p:cNvSpPr>
            <p:nvPr/>
          </p:nvSpPr>
          <p:spPr bwMode="auto">
            <a:xfrm>
              <a:off x="1026" y="1563"/>
              <a:ext cx="21"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70" name="Rectangle 3239"/>
            <p:cNvSpPr>
              <a:spLocks noChangeAspect="1" noChangeArrowheads="1"/>
            </p:cNvSpPr>
            <p:nvPr/>
          </p:nvSpPr>
          <p:spPr bwMode="auto">
            <a:xfrm>
              <a:off x="1037"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71" name="Rectangle 3240"/>
            <p:cNvSpPr>
              <a:spLocks noChangeAspect="1" noChangeArrowheads="1"/>
            </p:cNvSpPr>
            <p:nvPr/>
          </p:nvSpPr>
          <p:spPr bwMode="auto">
            <a:xfrm>
              <a:off x="1047"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72" name="Rectangle 3241"/>
            <p:cNvSpPr>
              <a:spLocks noChangeAspect="1" noChangeArrowheads="1"/>
            </p:cNvSpPr>
            <p:nvPr/>
          </p:nvSpPr>
          <p:spPr bwMode="auto">
            <a:xfrm>
              <a:off x="1057"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73" name="Rectangle 3242"/>
            <p:cNvSpPr>
              <a:spLocks noChangeAspect="1" noChangeArrowheads="1"/>
            </p:cNvSpPr>
            <p:nvPr/>
          </p:nvSpPr>
          <p:spPr bwMode="auto">
            <a:xfrm>
              <a:off x="1067"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74" name="Rectangle 3243"/>
            <p:cNvSpPr>
              <a:spLocks noChangeAspect="1" noChangeArrowheads="1"/>
            </p:cNvSpPr>
            <p:nvPr/>
          </p:nvSpPr>
          <p:spPr bwMode="auto">
            <a:xfrm>
              <a:off x="1077"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75" name="Rectangle 3244"/>
            <p:cNvSpPr>
              <a:spLocks noChangeAspect="1" noChangeArrowheads="1"/>
            </p:cNvSpPr>
            <p:nvPr/>
          </p:nvSpPr>
          <p:spPr bwMode="auto">
            <a:xfrm>
              <a:off x="1087"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76" name="Rectangle 3245"/>
            <p:cNvSpPr>
              <a:spLocks noChangeAspect="1" noChangeArrowheads="1"/>
            </p:cNvSpPr>
            <p:nvPr/>
          </p:nvSpPr>
          <p:spPr bwMode="auto">
            <a:xfrm>
              <a:off x="1097"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77" name="Rectangle 3246"/>
            <p:cNvSpPr>
              <a:spLocks noChangeAspect="1" noChangeArrowheads="1"/>
            </p:cNvSpPr>
            <p:nvPr/>
          </p:nvSpPr>
          <p:spPr bwMode="auto">
            <a:xfrm>
              <a:off x="1107" y="1563"/>
              <a:ext cx="21"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78" name="Rectangle 3247"/>
            <p:cNvSpPr>
              <a:spLocks noChangeAspect="1" noChangeArrowheads="1"/>
            </p:cNvSpPr>
            <p:nvPr/>
          </p:nvSpPr>
          <p:spPr bwMode="auto">
            <a:xfrm>
              <a:off x="1117"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79" name="Rectangle 3248"/>
            <p:cNvSpPr>
              <a:spLocks noChangeAspect="1" noChangeArrowheads="1"/>
            </p:cNvSpPr>
            <p:nvPr/>
          </p:nvSpPr>
          <p:spPr bwMode="auto">
            <a:xfrm>
              <a:off x="1128" y="1563"/>
              <a:ext cx="19"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80" name="Rectangle 3249"/>
            <p:cNvSpPr>
              <a:spLocks noChangeAspect="1" noChangeArrowheads="1"/>
            </p:cNvSpPr>
            <p:nvPr/>
          </p:nvSpPr>
          <p:spPr bwMode="auto">
            <a:xfrm>
              <a:off x="1137" y="1563"/>
              <a:ext cx="21"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81" name="Rectangle 3250"/>
            <p:cNvSpPr>
              <a:spLocks noChangeAspect="1" noChangeArrowheads="1"/>
            </p:cNvSpPr>
            <p:nvPr/>
          </p:nvSpPr>
          <p:spPr bwMode="auto">
            <a:xfrm>
              <a:off x="1147"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82" name="Rectangle 3251"/>
            <p:cNvSpPr>
              <a:spLocks noChangeAspect="1" noChangeArrowheads="1"/>
            </p:cNvSpPr>
            <p:nvPr/>
          </p:nvSpPr>
          <p:spPr bwMode="auto">
            <a:xfrm>
              <a:off x="1158" y="1563"/>
              <a:ext cx="19"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83" name="Rectangle 3252"/>
            <p:cNvSpPr>
              <a:spLocks noChangeAspect="1" noChangeArrowheads="1"/>
            </p:cNvSpPr>
            <p:nvPr/>
          </p:nvSpPr>
          <p:spPr bwMode="auto">
            <a:xfrm>
              <a:off x="1167" y="1563"/>
              <a:ext cx="21"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84" name="Rectangle 3253"/>
            <p:cNvSpPr>
              <a:spLocks noChangeAspect="1" noChangeArrowheads="1"/>
            </p:cNvSpPr>
            <p:nvPr/>
          </p:nvSpPr>
          <p:spPr bwMode="auto">
            <a:xfrm>
              <a:off x="1177"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85" name="Rectangle 3254"/>
            <p:cNvSpPr>
              <a:spLocks noChangeAspect="1" noChangeArrowheads="1"/>
            </p:cNvSpPr>
            <p:nvPr/>
          </p:nvSpPr>
          <p:spPr bwMode="auto">
            <a:xfrm>
              <a:off x="1188"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86" name="Rectangle 3255"/>
            <p:cNvSpPr>
              <a:spLocks noChangeAspect="1" noChangeArrowheads="1"/>
            </p:cNvSpPr>
            <p:nvPr/>
          </p:nvSpPr>
          <p:spPr bwMode="auto">
            <a:xfrm>
              <a:off x="1197" y="1563"/>
              <a:ext cx="21"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87" name="Rectangle 3256"/>
            <p:cNvSpPr>
              <a:spLocks noChangeAspect="1" noChangeArrowheads="1"/>
            </p:cNvSpPr>
            <p:nvPr/>
          </p:nvSpPr>
          <p:spPr bwMode="auto">
            <a:xfrm>
              <a:off x="1208"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88" name="Rectangle 3257"/>
            <p:cNvSpPr>
              <a:spLocks noChangeAspect="1" noChangeArrowheads="1"/>
            </p:cNvSpPr>
            <p:nvPr/>
          </p:nvSpPr>
          <p:spPr bwMode="auto">
            <a:xfrm>
              <a:off x="1218"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89" name="Rectangle 3258"/>
            <p:cNvSpPr>
              <a:spLocks noChangeAspect="1" noChangeArrowheads="1"/>
            </p:cNvSpPr>
            <p:nvPr/>
          </p:nvSpPr>
          <p:spPr bwMode="auto">
            <a:xfrm>
              <a:off x="1228"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90" name="Rectangle 3259"/>
            <p:cNvSpPr>
              <a:spLocks noChangeAspect="1" noChangeArrowheads="1"/>
            </p:cNvSpPr>
            <p:nvPr/>
          </p:nvSpPr>
          <p:spPr bwMode="auto">
            <a:xfrm>
              <a:off x="1238"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91" name="Rectangle 3260"/>
            <p:cNvSpPr>
              <a:spLocks noChangeAspect="1" noChangeArrowheads="1"/>
            </p:cNvSpPr>
            <p:nvPr/>
          </p:nvSpPr>
          <p:spPr bwMode="auto">
            <a:xfrm>
              <a:off x="1248"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92" name="Rectangle 3261"/>
            <p:cNvSpPr>
              <a:spLocks noChangeAspect="1" noChangeArrowheads="1"/>
            </p:cNvSpPr>
            <p:nvPr/>
          </p:nvSpPr>
          <p:spPr bwMode="auto">
            <a:xfrm>
              <a:off x="1258"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93" name="Rectangle 3262"/>
            <p:cNvSpPr>
              <a:spLocks noChangeAspect="1" noChangeArrowheads="1"/>
            </p:cNvSpPr>
            <p:nvPr/>
          </p:nvSpPr>
          <p:spPr bwMode="auto">
            <a:xfrm>
              <a:off x="1268" y="1563"/>
              <a:ext cx="19"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94" name="Rectangle 3263"/>
            <p:cNvSpPr>
              <a:spLocks noChangeAspect="1" noChangeArrowheads="1"/>
            </p:cNvSpPr>
            <p:nvPr/>
          </p:nvSpPr>
          <p:spPr bwMode="auto">
            <a:xfrm>
              <a:off x="1278"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95" name="Rectangle 3264"/>
            <p:cNvSpPr>
              <a:spLocks noChangeAspect="1" noChangeArrowheads="1"/>
            </p:cNvSpPr>
            <p:nvPr/>
          </p:nvSpPr>
          <p:spPr bwMode="auto">
            <a:xfrm>
              <a:off x="1287" y="1563"/>
              <a:ext cx="21"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96" name="Rectangle 3265"/>
            <p:cNvSpPr>
              <a:spLocks noChangeAspect="1" noChangeArrowheads="1"/>
            </p:cNvSpPr>
            <p:nvPr/>
          </p:nvSpPr>
          <p:spPr bwMode="auto">
            <a:xfrm>
              <a:off x="1298" y="1563"/>
              <a:ext cx="21"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97" name="Rectangle 3266"/>
            <p:cNvSpPr>
              <a:spLocks noChangeAspect="1" noChangeArrowheads="1"/>
            </p:cNvSpPr>
            <p:nvPr/>
          </p:nvSpPr>
          <p:spPr bwMode="auto">
            <a:xfrm>
              <a:off x="1308"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98" name="Rectangle 3267"/>
            <p:cNvSpPr>
              <a:spLocks noChangeAspect="1" noChangeArrowheads="1"/>
            </p:cNvSpPr>
            <p:nvPr/>
          </p:nvSpPr>
          <p:spPr bwMode="auto">
            <a:xfrm>
              <a:off x="1319" y="1563"/>
              <a:ext cx="19"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399" name="Rectangle 3268"/>
            <p:cNvSpPr>
              <a:spLocks noChangeAspect="1" noChangeArrowheads="1"/>
            </p:cNvSpPr>
            <p:nvPr/>
          </p:nvSpPr>
          <p:spPr bwMode="auto">
            <a:xfrm>
              <a:off x="1328" y="1563"/>
              <a:ext cx="21"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400" name="Rectangle 3269"/>
            <p:cNvSpPr>
              <a:spLocks noChangeAspect="1" noChangeArrowheads="1"/>
            </p:cNvSpPr>
            <p:nvPr/>
          </p:nvSpPr>
          <p:spPr bwMode="auto">
            <a:xfrm>
              <a:off x="1338" y="1563"/>
              <a:ext cx="20"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401" name="Rectangle 3270"/>
            <p:cNvSpPr>
              <a:spLocks noChangeAspect="1" noChangeArrowheads="1"/>
            </p:cNvSpPr>
            <p:nvPr/>
          </p:nvSpPr>
          <p:spPr bwMode="auto">
            <a:xfrm>
              <a:off x="1349" y="1563"/>
              <a:ext cx="19"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402" name="Rectangle 3271"/>
            <p:cNvSpPr>
              <a:spLocks noChangeAspect="1" noChangeArrowheads="1"/>
            </p:cNvSpPr>
            <p:nvPr/>
          </p:nvSpPr>
          <p:spPr bwMode="auto">
            <a:xfrm>
              <a:off x="1358" y="1563"/>
              <a:ext cx="21"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403" name="Rectangle 3272"/>
            <p:cNvSpPr>
              <a:spLocks noChangeAspect="1" noChangeArrowheads="1"/>
            </p:cNvSpPr>
            <p:nvPr/>
          </p:nvSpPr>
          <p:spPr bwMode="auto">
            <a:xfrm>
              <a:off x="1368" y="1563"/>
              <a:ext cx="11" cy="24"/>
            </a:xfrm>
            <a:prstGeom prst="rect">
              <a:avLst/>
            </a:pr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404" name="Rectangle 3273"/>
            <p:cNvSpPr>
              <a:spLocks noChangeAspect="1" noChangeArrowheads="1"/>
            </p:cNvSpPr>
            <p:nvPr/>
          </p:nvSpPr>
          <p:spPr bwMode="auto">
            <a:xfrm>
              <a:off x="877" y="1563"/>
              <a:ext cx="502" cy="24"/>
            </a:xfrm>
            <a:prstGeom prst="rect">
              <a:avLst/>
            </a:prstGeom>
            <a:gradFill rotWithShape="0">
              <a:gsLst>
                <a:gs pos="0">
                  <a:srgbClr val="339966"/>
                </a:gs>
                <a:gs pos="50000">
                  <a:srgbClr val="96CBB0"/>
                </a:gs>
                <a:gs pos="100000">
                  <a:srgbClr val="339966"/>
                </a:gs>
              </a:gsLst>
              <a:lin ang="5400000" scaled="1"/>
            </a:gradFill>
            <a:ln w="1588">
              <a:solidFill>
                <a:srgbClr val="1F1A17"/>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405" name="Freeform 3274"/>
            <p:cNvSpPr>
              <a:spLocks noChangeAspect="1"/>
            </p:cNvSpPr>
            <p:nvPr/>
          </p:nvSpPr>
          <p:spPr bwMode="auto">
            <a:xfrm>
              <a:off x="919" y="1457"/>
              <a:ext cx="4" cy="2"/>
            </a:xfrm>
            <a:custGeom>
              <a:avLst/>
              <a:gdLst>
                <a:gd name="T0" fmla="*/ 0 w 14"/>
                <a:gd name="T1" fmla="*/ 0 h 7"/>
                <a:gd name="T2" fmla="*/ 0 w 14"/>
                <a:gd name="T3" fmla="*/ 0 h 7"/>
                <a:gd name="T4" fmla="*/ 0 w 14"/>
                <a:gd name="T5" fmla="*/ 0 h 7"/>
                <a:gd name="T6" fmla="*/ 0 w 14"/>
                <a:gd name="T7" fmla="*/ 0 h 7"/>
                <a:gd name="T8" fmla="*/ 0 w 1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7">
                  <a:moveTo>
                    <a:pt x="14" y="7"/>
                  </a:moveTo>
                  <a:lnTo>
                    <a:pt x="8" y="7"/>
                  </a:lnTo>
                  <a:lnTo>
                    <a:pt x="0" y="0"/>
                  </a:lnTo>
                  <a:lnTo>
                    <a:pt x="14" y="0"/>
                  </a:lnTo>
                  <a:lnTo>
                    <a:pt x="14"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06" name="Freeform 3275"/>
            <p:cNvSpPr>
              <a:spLocks noChangeAspect="1"/>
            </p:cNvSpPr>
            <p:nvPr/>
          </p:nvSpPr>
          <p:spPr bwMode="auto">
            <a:xfrm>
              <a:off x="917" y="1456"/>
              <a:ext cx="6" cy="2"/>
            </a:xfrm>
            <a:custGeom>
              <a:avLst/>
              <a:gdLst>
                <a:gd name="T0" fmla="*/ 0 w 19"/>
                <a:gd name="T1" fmla="*/ 0 h 7"/>
                <a:gd name="T2" fmla="*/ 0 w 19"/>
                <a:gd name="T3" fmla="*/ 0 h 7"/>
                <a:gd name="T4" fmla="*/ 0 w 19"/>
                <a:gd name="T5" fmla="*/ 0 h 7"/>
                <a:gd name="T6" fmla="*/ 0 w 19"/>
                <a:gd name="T7" fmla="*/ 0 h 7"/>
                <a:gd name="T8" fmla="*/ 0 w 1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7">
                  <a:moveTo>
                    <a:pt x="19" y="7"/>
                  </a:moveTo>
                  <a:lnTo>
                    <a:pt x="9" y="7"/>
                  </a:lnTo>
                  <a:lnTo>
                    <a:pt x="0" y="0"/>
                  </a:lnTo>
                  <a:lnTo>
                    <a:pt x="19" y="0"/>
                  </a:lnTo>
                  <a:lnTo>
                    <a:pt x="19"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07" name="Freeform 3276"/>
            <p:cNvSpPr>
              <a:spLocks noChangeAspect="1"/>
            </p:cNvSpPr>
            <p:nvPr/>
          </p:nvSpPr>
          <p:spPr bwMode="auto">
            <a:xfrm>
              <a:off x="916" y="1455"/>
              <a:ext cx="7" cy="2"/>
            </a:xfrm>
            <a:custGeom>
              <a:avLst/>
              <a:gdLst>
                <a:gd name="T0" fmla="*/ 0 w 23"/>
                <a:gd name="T1" fmla="*/ 0 h 6"/>
                <a:gd name="T2" fmla="*/ 0 w 23"/>
                <a:gd name="T3" fmla="*/ 0 h 6"/>
                <a:gd name="T4" fmla="*/ 0 w 23"/>
                <a:gd name="T5" fmla="*/ 0 h 6"/>
                <a:gd name="T6" fmla="*/ 0 w 23"/>
                <a:gd name="T7" fmla="*/ 0 h 6"/>
                <a:gd name="T8" fmla="*/ 0 w 23"/>
                <a:gd name="T9" fmla="*/ 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
                  <a:moveTo>
                    <a:pt x="23" y="6"/>
                  </a:moveTo>
                  <a:lnTo>
                    <a:pt x="9" y="6"/>
                  </a:lnTo>
                  <a:lnTo>
                    <a:pt x="0" y="0"/>
                  </a:lnTo>
                  <a:lnTo>
                    <a:pt x="23" y="0"/>
                  </a:lnTo>
                  <a:lnTo>
                    <a:pt x="23" y="6"/>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08" name="Freeform 3277"/>
            <p:cNvSpPr>
              <a:spLocks noChangeAspect="1"/>
            </p:cNvSpPr>
            <p:nvPr/>
          </p:nvSpPr>
          <p:spPr bwMode="auto">
            <a:xfrm>
              <a:off x="915" y="1454"/>
              <a:ext cx="8" cy="2"/>
            </a:xfrm>
            <a:custGeom>
              <a:avLst/>
              <a:gdLst>
                <a:gd name="T0" fmla="*/ 0 w 28"/>
                <a:gd name="T1" fmla="*/ 0 h 8"/>
                <a:gd name="T2" fmla="*/ 0 w 28"/>
                <a:gd name="T3" fmla="*/ 0 h 8"/>
                <a:gd name="T4" fmla="*/ 0 w 28"/>
                <a:gd name="T5" fmla="*/ 0 h 8"/>
                <a:gd name="T6" fmla="*/ 0 w 28"/>
                <a:gd name="T7" fmla="*/ 0 h 8"/>
                <a:gd name="T8" fmla="*/ 0 w 2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8">
                  <a:moveTo>
                    <a:pt x="28" y="8"/>
                  </a:moveTo>
                  <a:lnTo>
                    <a:pt x="9" y="8"/>
                  </a:lnTo>
                  <a:lnTo>
                    <a:pt x="0" y="0"/>
                  </a:lnTo>
                  <a:lnTo>
                    <a:pt x="28" y="0"/>
                  </a:lnTo>
                  <a:lnTo>
                    <a:pt x="28"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09" name="Freeform 3278"/>
            <p:cNvSpPr>
              <a:spLocks noChangeAspect="1"/>
            </p:cNvSpPr>
            <p:nvPr/>
          </p:nvSpPr>
          <p:spPr bwMode="auto">
            <a:xfrm>
              <a:off x="914" y="1453"/>
              <a:ext cx="9" cy="2"/>
            </a:xfrm>
            <a:custGeom>
              <a:avLst/>
              <a:gdLst>
                <a:gd name="T0" fmla="*/ 0 w 32"/>
                <a:gd name="T1" fmla="*/ 0 h 8"/>
                <a:gd name="T2" fmla="*/ 0 w 32"/>
                <a:gd name="T3" fmla="*/ 0 h 8"/>
                <a:gd name="T4" fmla="*/ 0 w 32"/>
                <a:gd name="T5" fmla="*/ 0 h 8"/>
                <a:gd name="T6" fmla="*/ 0 w 32"/>
                <a:gd name="T7" fmla="*/ 0 h 8"/>
                <a:gd name="T8" fmla="*/ 0 w 3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 h="8">
                  <a:moveTo>
                    <a:pt x="32" y="8"/>
                  </a:moveTo>
                  <a:lnTo>
                    <a:pt x="9" y="8"/>
                  </a:lnTo>
                  <a:lnTo>
                    <a:pt x="0" y="0"/>
                  </a:lnTo>
                  <a:lnTo>
                    <a:pt x="32" y="0"/>
                  </a:lnTo>
                  <a:lnTo>
                    <a:pt x="32"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10" name="Freeform 3279"/>
            <p:cNvSpPr>
              <a:spLocks noChangeAspect="1"/>
            </p:cNvSpPr>
            <p:nvPr/>
          </p:nvSpPr>
          <p:spPr bwMode="auto">
            <a:xfrm>
              <a:off x="913" y="1452"/>
              <a:ext cx="10" cy="2"/>
            </a:xfrm>
            <a:custGeom>
              <a:avLst/>
              <a:gdLst>
                <a:gd name="T0" fmla="*/ 0 w 37"/>
                <a:gd name="T1" fmla="*/ 0 h 6"/>
                <a:gd name="T2" fmla="*/ 0 w 37"/>
                <a:gd name="T3" fmla="*/ 0 h 6"/>
                <a:gd name="T4" fmla="*/ 0 w 37"/>
                <a:gd name="T5" fmla="*/ 0 h 6"/>
                <a:gd name="T6" fmla="*/ 0 w 37"/>
                <a:gd name="T7" fmla="*/ 0 h 6"/>
                <a:gd name="T8" fmla="*/ 0 w 37"/>
                <a:gd name="T9" fmla="*/ 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6">
                  <a:moveTo>
                    <a:pt x="37" y="6"/>
                  </a:moveTo>
                  <a:lnTo>
                    <a:pt x="9" y="6"/>
                  </a:lnTo>
                  <a:lnTo>
                    <a:pt x="0" y="0"/>
                  </a:lnTo>
                  <a:lnTo>
                    <a:pt x="37" y="0"/>
                  </a:lnTo>
                  <a:lnTo>
                    <a:pt x="37" y="6"/>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11" name="Freeform 3280"/>
            <p:cNvSpPr>
              <a:spLocks noChangeAspect="1"/>
            </p:cNvSpPr>
            <p:nvPr/>
          </p:nvSpPr>
          <p:spPr bwMode="auto">
            <a:xfrm>
              <a:off x="912" y="1450"/>
              <a:ext cx="11" cy="3"/>
            </a:xfrm>
            <a:custGeom>
              <a:avLst/>
              <a:gdLst>
                <a:gd name="T0" fmla="*/ 0 w 41"/>
                <a:gd name="T1" fmla="*/ 0 h 7"/>
                <a:gd name="T2" fmla="*/ 0 w 41"/>
                <a:gd name="T3" fmla="*/ 0 h 7"/>
                <a:gd name="T4" fmla="*/ 0 w 41"/>
                <a:gd name="T5" fmla="*/ 0 h 7"/>
                <a:gd name="T6" fmla="*/ 0 w 41"/>
                <a:gd name="T7" fmla="*/ 0 h 7"/>
                <a:gd name="T8" fmla="*/ 0 w 41"/>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7">
                  <a:moveTo>
                    <a:pt x="41" y="7"/>
                  </a:moveTo>
                  <a:lnTo>
                    <a:pt x="9" y="7"/>
                  </a:lnTo>
                  <a:lnTo>
                    <a:pt x="0" y="0"/>
                  </a:lnTo>
                  <a:lnTo>
                    <a:pt x="41" y="0"/>
                  </a:lnTo>
                  <a:lnTo>
                    <a:pt x="41"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12" name="Freeform 3281"/>
            <p:cNvSpPr>
              <a:spLocks noChangeAspect="1"/>
            </p:cNvSpPr>
            <p:nvPr/>
          </p:nvSpPr>
          <p:spPr bwMode="auto">
            <a:xfrm>
              <a:off x="910" y="1450"/>
              <a:ext cx="13" cy="2"/>
            </a:xfrm>
            <a:custGeom>
              <a:avLst/>
              <a:gdLst>
                <a:gd name="T0" fmla="*/ 0 w 46"/>
                <a:gd name="T1" fmla="*/ 0 h 8"/>
                <a:gd name="T2" fmla="*/ 0 w 46"/>
                <a:gd name="T3" fmla="*/ 0 h 8"/>
                <a:gd name="T4" fmla="*/ 0 w 46"/>
                <a:gd name="T5" fmla="*/ 0 h 8"/>
                <a:gd name="T6" fmla="*/ 0 w 46"/>
                <a:gd name="T7" fmla="*/ 0 h 8"/>
                <a:gd name="T8" fmla="*/ 0 w 46"/>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 h="8">
                  <a:moveTo>
                    <a:pt x="46" y="8"/>
                  </a:moveTo>
                  <a:lnTo>
                    <a:pt x="9" y="8"/>
                  </a:lnTo>
                  <a:lnTo>
                    <a:pt x="0" y="0"/>
                  </a:lnTo>
                  <a:lnTo>
                    <a:pt x="46" y="0"/>
                  </a:lnTo>
                  <a:lnTo>
                    <a:pt x="46"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13" name="Freeform 3282"/>
            <p:cNvSpPr>
              <a:spLocks noChangeAspect="1"/>
            </p:cNvSpPr>
            <p:nvPr/>
          </p:nvSpPr>
          <p:spPr bwMode="auto">
            <a:xfrm>
              <a:off x="909" y="1450"/>
              <a:ext cx="14" cy="0"/>
            </a:xfrm>
            <a:custGeom>
              <a:avLst/>
              <a:gdLst>
                <a:gd name="T0" fmla="*/ 0 w 50"/>
                <a:gd name="T1" fmla="*/ 0 h 7"/>
                <a:gd name="T2" fmla="*/ 0 w 50"/>
                <a:gd name="T3" fmla="*/ 0 h 7"/>
                <a:gd name="T4" fmla="*/ 0 w 50"/>
                <a:gd name="T5" fmla="*/ 0 h 7"/>
                <a:gd name="T6" fmla="*/ 0 w 50"/>
                <a:gd name="T7" fmla="*/ 0 h 7"/>
                <a:gd name="T8" fmla="*/ 0 w 50"/>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 h="7">
                  <a:moveTo>
                    <a:pt x="50" y="7"/>
                  </a:moveTo>
                  <a:lnTo>
                    <a:pt x="9" y="7"/>
                  </a:lnTo>
                  <a:lnTo>
                    <a:pt x="0" y="0"/>
                  </a:lnTo>
                  <a:lnTo>
                    <a:pt x="50" y="0"/>
                  </a:lnTo>
                  <a:lnTo>
                    <a:pt x="50"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14" name="Freeform 3283"/>
            <p:cNvSpPr>
              <a:spLocks noChangeAspect="1"/>
            </p:cNvSpPr>
            <p:nvPr/>
          </p:nvSpPr>
          <p:spPr bwMode="auto">
            <a:xfrm>
              <a:off x="908" y="1449"/>
              <a:ext cx="15" cy="1"/>
            </a:xfrm>
            <a:custGeom>
              <a:avLst/>
              <a:gdLst>
                <a:gd name="T0" fmla="*/ 0 w 55"/>
                <a:gd name="T1" fmla="*/ 0 h 7"/>
                <a:gd name="T2" fmla="*/ 0 w 55"/>
                <a:gd name="T3" fmla="*/ 0 h 7"/>
                <a:gd name="T4" fmla="*/ 0 w 55"/>
                <a:gd name="T5" fmla="*/ 0 h 7"/>
                <a:gd name="T6" fmla="*/ 0 w 55"/>
                <a:gd name="T7" fmla="*/ 0 h 7"/>
                <a:gd name="T8" fmla="*/ 0 w 5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5" h="7">
                  <a:moveTo>
                    <a:pt x="55" y="7"/>
                  </a:moveTo>
                  <a:lnTo>
                    <a:pt x="9" y="7"/>
                  </a:lnTo>
                  <a:lnTo>
                    <a:pt x="0" y="0"/>
                  </a:lnTo>
                  <a:lnTo>
                    <a:pt x="55" y="0"/>
                  </a:lnTo>
                  <a:lnTo>
                    <a:pt x="55"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15" name="Freeform 3284"/>
            <p:cNvSpPr>
              <a:spLocks noChangeAspect="1"/>
            </p:cNvSpPr>
            <p:nvPr/>
          </p:nvSpPr>
          <p:spPr bwMode="auto">
            <a:xfrm>
              <a:off x="907" y="1448"/>
              <a:ext cx="16" cy="2"/>
            </a:xfrm>
            <a:custGeom>
              <a:avLst/>
              <a:gdLst>
                <a:gd name="T0" fmla="*/ 0 w 59"/>
                <a:gd name="T1" fmla="*/ 0 h 7"/>
                <a:gd name="T2" fmla="*/ 0 w 59"/>
                <a:gd name="T3" fmla="*/ 0 h 7"/>
                <a:gd name="T4" fmla="*/ 0 w 59"/>
                <a:gd name="T5" fmla="*/ 0 h 7"/>
                <a:gd name="T6" fmla="*/ 0 w 59"/>
                <a:gd name="T7" fmla="*/ 0 h 7"/>
                <a:gd name="T8" fmla="*/ 0 w 5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9" h="7">
                  <a:moveTo>
                    <a:pt x="59" y="7"/>
                  </a:moveTo>
                  <a:lnTo>
                    <a:pt x="9" y="7"/>
                  </a:lnTo>
                  <a:lnTo>
                    <a:pt x="0" y="0"/>
                  </a:lnTo>
                  <a:lnTo>
                    <a:pt x="59" y="0"/>
                  </a:lnTo>
                  <a:lnTo>
                    <a:pt x="59"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16" name="Freeform 3285"/>
            <p:cNvSpPr>
              <a:spLocks noChangeAspect="1"/>
            </p:cNvSpPr>
            <p:nvPr/>
          </p:nvSpPr>
          <p:spPr bwMode="auto">
            <a:xfrm>
              <a:off x="905" y="1446"/>
              <a:ext cx="18" cy="3"/>
            </a:xfrm>
            <a:custGeom>
              <a:avLst/>
              <a:gdLst>
                <a:gd name="T0" fmla="*/ 0 w 63"/>
                <a:gd name="T1" fmla="*/ 0 h 7"/>
                <a:gd name="T2" fmla="*/ 0 w 63"/>
                <a:gd name="T3" fmla="*/ 0 h 7"/>
                <a:gd name="T4" fmla="*/ 0 w 63"/>
                <a:gd name="T5" fmla="*/ 0 h 7"/>
                <a:gd name="T6" fmla="*/ 0 w 63"/>
                <a:gd name="T7" fmla="*/ 0 h 7"/>
                <a:gd name="T8" fmla="*/ 0 w 6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7">
                  <a:moveTo>
                    <a:pt x="63" y="7"/>
                  </a:moveTo>
                  <a:lnTo>
                    <a:pt x="8" y="7"/>
                  </a:lnTo>
                  <a:lnTo>
                    <a:pt x="0" y="0"/>
                  </a:lnTo>
                  <a:lnTo>
                    <a:pt x="63" y="0"/>
                  </a:lnTo>
                  <a:lnTo>
                    <a:pt x="63"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17" name="Freeform 3286"/>
            <p:cNvSpPr>
              <a:spLocks noChangeAspect="1"/>
            </p:cNvSpPr>
            <p:nvPr/>
          </p:nvSpPr>
          <p:spPr bwMode="auto">
            <a:xfrm>
              <a:off x="903" y="1445"/>
              <a:ext cx="20" cy="3"/>
            </a:xfrm>
            <a:custGeom>
              <a:avLst/>
              <a:gdLst>
                <a:gd name="T0" fmla="*/ 0 w 69"/>
                <a:gd name="T1" fmla="*/ 0 h 8"/>
                <a:gd name="T2" fmla="*/ 0 w 69"/>
                <a:gd name="T3" fmla="*/ 0 h 8"/>
                <a:gd name="T4" fmla="*/ 0 w 69"/>
                <a:gd name="T5" fmla="*/ 0 h 8"/>
                <a:gd name="T6" fmla="*/ 0 w 69"/>
                <a:gd name="T7" fmla="*/ 0 h 8"/>
                <a:gd name="T8" fmla="*/ 0 w 69"/>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8">
                  <a:moveTo>
                    <a:pt x="69" y="8"/>
                  </a:moveTo>
                  <a:lnTo>
                    <a:pt x="10" y="8"/>
                  </a:lnTo>
                  <a:lnTo>
                    <a:pt x="0" y="0"/>
                  </a:lnTo>
                  <a:lnTo>
                    <a:pt x="69" y="0"/>
                  </a:lnTo>
                  <a:lnTo>
                    <a:pt x="69"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18" name="Freeform 3287"/>
            <p:cNvSpPr>
              <a:spLocks noChangeAspect="1"/>
            </p:cNvSpPr>
            <p:nvPr/>
          </p:nvSpPr>
          <p:spPr bwMode="auto">
            <a:xfrm>
              <a:off x="902" y="1444"/>
              <a:ext cx="21" cy="2"/>
            </a:xfrm>
            <a:custGeom>
              <a:avLst/>
              <a:gdLst>
                <a:gd name="T0" fmla="*/ 0 w 73"/>
                <a:gd name="T1" fmla="*/ 0 h 7"/>
                <a:gd name="T2" fmla="*/ 0 w 73"/>
                <a:gd name="T3" fmla="*/ 0 h 7"/>
                <a:gd name="T4" fmla="*/ 0 w 73"/>
                <a:gd name="T5" fmla="*/ 0 h 7"/>
                <a:gd name="T6" fmla="*/ 0 w 73"/>
                <a:gd name="T7" fmla="*/ 0 h 7"/>
                <a:gd name="T8" fmla="*/ 0 w 7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 h="7">
                  <a:moveTo>
                    <a:pt x="73" y="7"/>
                  </a:moveTo>
                  <a:lnTo>
                    <a:pt x="10" y="7"/>
                  </a:lnTo>
                  <a:lnTo>
                    <a:pt x="0" y="0"/>
                  </a:lnTo>
                  <a:lnTo>
                    <a:pt x="73" y="0"/>
                  </a:lnTo>
                  <a:lnTo>
                    <a:pt x="73"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19" name="Freeform 3288"/>
            <p:cNvSpPr>
              <a:spLocks noChangeAspect="1"/>
            </p:cNvSpPr>
            <p:nvPr/>
          </p:nvSpPr>
          <p:spPr bwMode="auto">
            <a:xfrm>
              <a:off x="901" y="1443"/>
              <a:ext cx="22" cy="2"/>
            </a:xfrm>
            <a:custGeom>
              <a:avLst/>
              <a:gdLst>
                <a:gd name="T0" fmla="*/ 0 w 77"/>
                <a:gd name="T1" fmla="*/ 0 h 7"/>
                <a:gd name="T2" fmla="*/ 0 w 77"/>
                <a:gd name="T3" fmla="*/ 0 h 7"/>
                <a:gd name="T4" fmla="*/ 0 w 77"/>
                <a:gd name="T5" fmla="*/ 0 h 7"/>
                <a:gd name="T6" fmla="*/ 0 w 77"/>
                <a:gd name="T7" fmla="*/ 0 h 7"/>
                <a:gd name="T8" fmla="*/ 0 w 7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7" h="7">
                  <a:moveTo>
                    <a:pt x="77" y="7"/>
                  </a:moveTo>
                  <a:lnTo>
                    <a:pt x="8" y="7"/>
                  </a:lnTo>
                  <a:lnTo>
                    <a:pt x="0" y="0"/>
                  </a:lnTo>
                  <a:lnTo>
                    <a:pt x="77" y="0"/>
                  </a:lnTo>
                  <a:lnTo>
                    <a:pt x="77"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20" name="Freeform 3289"/>
            <p:cNvSpPr>
              <a:spLocks noChangeAspect="1"/>
            </p:cNvSpPr>
            <p:nvPr/>
          </p:nvSpPr>
          <p:spPr bwMode="auto">
            <a:xfrm>
              <a:off x="900" y="1443"/>
              <a:ext cx="23" cy="1"/>
            </a:xfrm>
            <a:custGeom>
              <a:avLst/>
              <a:gdLst>
                <a:gd name="T0" fmla="*/ 0 w 81"/>
                <a:gd name="T1" fmla="*/ 0 h 7"/>
                <a:gd name="T2" fmla="*/ 0 w 81"/>
                <a:gd name="T3" fmla="*/ 0 h 7"/>
                <a:gd name="T4" fmla="*/ 0 w 81"/>
                <a:gd name="T5" fmla="*/ 0 h 7"/>
                <a:gd name="T6" fmla="*/ 0 w 81"/>
                <a:gd name="T7" fmla="*/ 0 h 7"/>
                <a:gd name="T8" fmla="*/ 0 w 81"/>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7">
                  <a:moveTo>
                    <a:pt x="81" y="7"/>
                  </a:moveTo>
                  <a:lnTo>
                    <a:pt x="8" y="7"/>
                  </a:lnTo>
                  <a:lnTo>
                    <a:pt x="0" y="0"/>
                  </a:lnTo>
                  <a:lnTo>
                    <a:pt x="81" y="0"/>
                  </a:lnTo>
                  <a:lnTo>
                    <a:pt x="81"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21" name="Freeform 3290"/>
            <p:cNvSpPr>
              <a:spLocks noChangeAspect="1"/>
            </p:cNvSpPr>
            <p:nvPr/>
          </p:nvSpPr>
          <p:spPr bwMode="auto">
            <a:xfrm>
              <a:off x="898" y="1442"/>
              <a:ext cx="25" cy="1"/>
            </a:xfrm>
            <a:custGeom>
              <a:avLst/>
              <a:gdLst>
                <a:gd name="T0" fmla="*/ 0 w 87"/>
                <a:gd name="T1" fmla="*/ 0 h 6"/>
                <a:gd name="T2" fmla="*/ 0 w 87"/>
                <a:gd name="T3" fmla="*/ 0 h 6"/>
                <a:gd name="T4" fmla="*/ 0 w 87"/>
                <a:gd name="T5" fmla="*/ 0 h 6"/>
                <a:gd name="T6" fmla="*/ 0 w 87"/>
                <a:gd name="T7" fmla="*/ 0 h 6"/>
                <a:gd name="T8" fmla="*/ 0 w 87"/>
                <a:gd name="T9" fmla="*/ 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 h="6">
                  <a:moveTo>
                    <a:pt x="87" y="6"/>
                  </a:moveTo>
                  <a:lnTo>
                    <a:pt x="10" y="6"/>
                  </a:lnTo>
                  <a:lnTo>
                    <a:pt x="0" y="0"/>
                  </a:lnTo>
                  <a:lnTo>
                    <a:pt x="87" y="0"/>
                  </a:lnTo>
                  <a:lnTo>
                    <a:pt x="87" y="6"/>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22" name="Freeform 3291"/>
            <p:cNvSpPr>
              <a:spLocks noChangeAspect="1"/>
            </p:cNvSpPr>
            <p:nvPr/>
          </p:nvSpPr>
          <p:spPr bwMode="auto">
            <a:xfrm>
              <a:off x="897" y="1440"/>
              <a:ext cx="26" cy="3"/>
            </a:xfrm>
            <a:custGeom>
              <a:avLst/>
              <a:gdLst>
                <a:gd name="T0" fmla="*/ 0 w 91"/>
                <a:gd name="T1" fmla="*/ 0 h 8"/>
                <a:gd name="T2" fmla="*/ 0 w 91"/>
                <a:gd name="T3" fmla="*/ 0 h 8"/>
                <a:gd name="T4" fmla="*/ 0 w 91"/>
                <a:gd name="T5" fmla="*/ 0 h 8"/>
                <a:gd name="T6" fmla="*/ 0 w 91"/>
                <a:gd name="T7" fmla="*/ 0 h 8"/>
                <a:gd name="T8" fmla="*/ 0 w 91"/>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 h="8">
                  <a:moveTo>
                    <a:pt x="91" y="8"/>
                  </a:moveTo>
                  <a:lnTo>
                    <a:pt x="10" y="8"/>
                  </a:lnTo>
                  <a:lnTo>
                    <a:pt x="0" y="0"/>
                  </a:lnTo>
                  <a:lnTo>
                    <a:pt x="91" y="0"/>
                  </a:lnTo>
                  <a:lnTo>
                    <a:pt x="91"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23" name="Freeform 3292"/>
            <p:cNvSpPr>
              <a:spLocks noChangeAspect="1"/>
            </p:cNvSpPr>
            <p:nvPr/>
          </p:nvSpPr>
          <p:spPr bwMode="auto">
            <a:xfrm>
              <a:off x="896" y="1439"/>
              <a:ext cx="27" cy="3"/>
            </a:xfrm>
            <a:custGeom>
              <a:avLst/>
              <a:gdLst>
                <a:gd name="T0" fmla="*/ 0 w 95"/>
                <a:gd name="T1" fmla="*/ 0 h 8"/>
                <a:gd name="T2" fmla="*/ 0 w 95"/>
                <a:gd name="T3" fmla="*/ 0 h 8"/>
                <a:gd name="T4" fmla="*/ 0 w 95"/>
                <a:gd name="T5" fmla="*/ 0 h 8"/>
                <a:gd name="T6" fmla="*/ 0 w 95"/>
                <a:gd name="T7" fmla="*/ 0 h 8"/>
                <a:gd name="T8" fmla="*/ 0 w 95"/>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 h="8">
                  <a:moveTo>
                    <a:pt x="95" y="8"/>
                  </a:moveTo>
                  <a:lnTo>
                    <a:pt x="8" y="8"/>
                  </a:lnTo>
                  <a:lnTo>
                    <a:pt x="0" y="0"/>
                  </a:lnTo>
                  <a:lnTo>
                    <a:pt x="95" y="0"/>
                  </a:lnTo>
                  <a:lnTo>
                    <a:pt x="95"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24" name="Freeform 3293"/>
            <p:cNvSpPr>
              <a:spLocks noChangeAspect="1"/>
            </p:cNvSpPr>
            <p:nvPr/>
          </p:nvSpPr>
          <p:spPr bwMode="auto">
            <a:xfrm>
              <a:off x="894" y="1438"/>
              <a:ext cx="29" cy="2"/>
            </a:xfrm>
            <a:custGeom>
              <a:avLst/>
              <a:gdLst>
                <a:gd name="T0" fmla="*/ 0 w 99"/>
                <a:gd name="T1" fmla="*/ 0 h 6"/>
                <a:gd name="T2" fmla="*/ 0 w 99"/>
                <a:gd name="T3" fmla="*/ 0 h 6"/>
                <a:gd name="T4" fmla="*/ 0 w 99"/>
                <a:gd name="T5" fmla="*/ 0 h 6"/>
                <a:gd name="T6" fmla="*/ 0 w 99"/>
                <a:gd name="T7" fmla="*/ 0 h 6"/>
                <a:gd name="T8" fmla="*/ 0 w 99"/>
                <a:gd name="T9" fmla="*/ 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 h="6">
                  <a:moveTo>
                    <a:pt x="99" y="6"/>
                  </a:moveTo>
                  <a:lnTo>
                    <a:pt x="8" y="6"/>
                  </a:lnTo>
                  <a:lnTo>
                    <a:pt x="0" y="0"/>
                  </a:lnTo>
                  <a:lnTo>
                    <a:pt x="99" y="0"/>
                  </a:lnTo>
                  <a:lnTo>
                    <a:pt x="99" y="6"/>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25" name="Freeform 3294"/>
            <p:cNvSpPr>
              <a:spLocks noChangeAspect="1"/>
            </p:cNvSpPr>
            <p:nvPr/>
          </p:nvSpPr>
          <p:spPr bwMode="auto">
            <a:xfrm>
              <a:off x="893" y="1437"/>
              <a:ext cx="30" cy="2"/>
            </a:xfrm>
            <a:custGeom>
              <a:avLst/>
              <a:gdLst>
                <a:gd name="T0" fmla="*/ 0 w 105"/>
                <a:gd name="T1" fmla="*/ 0 h 7"/>
                <a:gd name="T2" fmla="*/ 0 w 105"/>
                <a:gd name="T3" fmla="*/ 0 h 7"/>
                <a:gd name="T4" fmla="*/ 0 w 105"/>
                <a:gd name="T5" fmla="*/ 0 h 7"/>
                <a:gd name="T6" fmla="*/ 0 w 105"/>
                <a:gd name="T7" fmla="*/ 0 h 7"/>
                <a:gd name="T8" fmla="*/ 0 w 10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 h="7">
                  <a:moveTo>
                    <a:pt x="105" y="7"/>
                  </a:moveTo>
                  <a:lnTo>
                    <a:pt x="10" y="7"/>
                  </a:lnTo>
                  <a:lnTo>
                    <a:pt x="0" y="0"/>
                  </a:lnTo>
                  <a:lnTo>
                    <a:pt x="105" y="0"/>
                  </a:lnTo>
                  <a:lnTo>
                    <a:pt x="105"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26" name="Freeform 3295"/>
            <p:cNvSpPr>
              <a:spLocks noChangeAspect="1"/>
            </p:cNvSpPr>
            <p:nvPr/>
          </p:nvSpPr>
          <p:spPr bwMode="auto">
            <a:xfrm>
              <a:off x="892" y="1435"/>
              <a:ext cx="31" cy="3"/>
            </a:xfrm>
            <a:custGeom>
              <a:avLst/>
              <a:gdLst>
                <a:gd name="T0" fmla="*/ 0 w 109"/>
                <a:gd name="T1" fmla="*/ 0 h 8"/>
                <a:gd name="T2" fmla="*/ 0 w 109"/>
                <a:gd name="T3" fmla="*/ 0 h 8"/>
                <a:gd name="T4" fmla="*/ 0 w 109"/>
                <a:gd name="T5" fmla="*/ 0 h 8"/>
                <a:gd name="T6" fmla="*/ 0 w 109"/>
                <a:gd name="T7" fmla="*/ 0 h 8"/>
                <a:gd name="T8" fmla="*/ 0 w 109"/>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 h="8">
                  <a:moveTo>
                    <a:pt x="109" y="8"/>
                  </a:moveTo>
                  <a:lnTo>
                    <a:pt x="10" y="8"/>
                  </a:lnTo>
                  <a:lnTo>
                    <a:pt x="0" y="0"/>
                  </a:lnTo>
                  <a:lnTo>
                    <a:pt x="109" y="0"/>
                  </a:lnTo>
                  <a:lnTo>
                    <a:pt x="109"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27" name="Freeform 3296"/>
            <p:cNvSpPr>
              <a:spLocks noChangeAspect="1"/>
            </p:cNvSpPr>
            <p:nvPr/>
          </p:nvSpPr>
          <p:spPr bwMode="auto">
            <a:xfrm>
              <a:off x="891" y="1435"/>
              <a:ext cx="32" cy="2"/>
            </a:xfrm>
            <a:custGeom>
              <a:avLst/>
              <a:gdLst>
                <a:gd name="T0" fmla="*/ 0 w 113"/>
                <a:gd name="T1" fmla="*/ 0 h 7"/>
                <a:gd name="T2" fmla="*/ 0 w 113"/>
                <a:gd name="T3" fmla="*/ 0 h 7"/>
                <a:gd name="T4" fmla="*/ 0 w 113"/>
                <a:gd name="T5" fmla="*/ 0 h 7"/>
                <a:gd name="T6" fmla="*/ 0 w 113"/>
                <a:gd name="T7" fmla="*/ 0 h 7"/>
                <a:gd name="T8" fmla="*/ 0 w 11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 h="7">
                  <a:moveTo>
                    <a:pt x="113" y="7"/>
                  </a:moveTo>
                  <a:lnTo>
                    <a:pt x="8" y="7"/>
                  </a:lnTo>
                  <a:lnTo>
                    <a:pt x="0" y="0"/>
                  </a:lnTo>
                  <a:lnTo>
                    <a:pt x="113" y="0"/>
                  </a:lnTo>
                  <a:lnTo>
                    <a:pt x="113"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28" name="Freeform 3297"/>
            <p:cNvSpPr>
              <a:spLocks noChangeAspect="1"/>
            </p:cNvSpPr>
            <p:nvPr/>
          </p:nvSpPr>
          <p:spPr bwMode="auto">
            <a:xfrm>
              <a:off x="889" y="1434"/>
              <a:ext cx="34" cy="1"/>
            </a:xfrm>
            <a:custGeom>
              <a:avLst/>
              <a:gdLst>
                <a:gd name="T0" fmla="*/ 0 w 117"/>
                <a:gd name="T1" fmla="*/ 0 h 7"/>
                <a:gd name="T2" fmla="*/ 0 w 117"/>
                <a:gd name="T3" fmla="*/ 0 h 7"/>
                <a:gd name="T4" fmla="*/ 0 w 117"/>
                <a:gd name="T5" fmla="*/ 0 h 7"/>
                <a:gd name="T6" fmla="*/ 0 w 117"/>
                <a:gd name="T7" fmla="*/ 0 h 7"/>
                <a:gd name="T8" fmla="*/ 0 w 11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 h="7">
                  <a:moveTo>
                    <a:pt x="117" y="7"/>
                  </a:moveTo>
                  <a:lnTo>
                    <a:pt x="8" y="7"/>
                  </a:lnTo>
                  <a:lnTo>
                    <a:pt x="0" y="0"/>
                  </a:lnTo>
                  <a:lnTo>
                    <a:pt x="117" y="0"/>
                  </a:lnTo>
                  <a:lnTo>
                    <a:pt x="117"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29" name="Freeform 3298"/>
            <p:cNvSpPr>
              <a:spLocks noChangeAspect="1"/>
            </p:cNvSpPr>
            <p:nvPr/>
          </p:nvSpPr>
          <p:spPr bwMode="auto">
            <a:xfrm>
              <a:off x="888" y="1433"/>
              <a:ext cx="35" cy="2"/>
            </a:xfrm>
            <a:custGeom>
              <a:avLst/>
              <a:gdLst>
                <a:gd name="T0" fmla="*/ 0 w 122"/>
                <a:gd name="T1" fmla="*/ 0 h 7"/>
                <a:gd name="T2" fmla="*/ 0 w 122"/>
                <a:gd name="T3" fmla="*/ 0 h 7"/>
                <a:gd name="T4" fmla="*/ 0 w 122"/>
                <a:gd name="T5" fmla="*/ 0 h 7"/>
                <a:gd name="T6" fmla="*/ 0 w 122"/>
                <a:gd name="T7" fmla="*/ 0 h 7"/>
                <a:gd name="T8" fmla="*/ 0 w 122"/>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7">
                  <a:moveTo>
                    <a:pt x="122" y="7"/>
                  </a:moveTo>
                  <a:lnTo>
                    <a:pt x="9" y="7"/>
                  </a:lnTo>
                  <a:lnTo>
                    <a:pt x="0" y="0"/>
                  </a:lnTo>
                  <a:lnTo>
                    <a:pt x="122" y="0"/>
                  </a:lnTo>
                  <a:lnTo>
                    <a:pt x="122"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30" name="Freeform 3299"/>
            <p:cNvSpPr>
              <a:spLocks noChangeAspect="1"/>
            </p:cNvSpPr>
            <p:nvPr/>
          </p:nvSpPr>
          <p:spPr bwMode="auto">
            <a:xfrm>
              <a:off x="886" y="1432"/>
              <a:ext cx="37" cy="2"/>
            </a:xfrm>
            <a:custGeom>
              <a:avLst/>
              <a:gdLst>
                <a:gd name="T0" fmla="*/ 0 w 127"/>
                <a:gd name="T1" fmla="*/ 0 h 6"/>
                <a:gd name="T2" fmla="*/ 0 w 127"/>
                <a:gd name="T3" fmla="*/ 0 h 6"/>
                <a:gd name="T4" fmla="*/ 0 w 127"/>
                <a:gd name="T5" fmla="*/ 0 h 6"/>
                <a:gd name="T6" fmla="*/ 0 w 127"/>
                <a:gd name="T7" fmla="*/ 0 h 6"/>
                <a:gd name="T8" fmla="*/ 0 w 127"/>
                <a:gd name="T9" fmla="*/ 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7" h="6">
                  <a:moveTo>
                    <a:pt x="127" y="6"/>
                  </a:moveTo>
                  <a:lnTo>
                    <a:pt x="10" y="6"/>
                  </a:lnTo>
                  <a:lnTo>
                    <a:pt x="0" y="0"/>
                  </a:lnTo>
                  <a:lnTo>
                    <a:pt x="127" y="0"/>
                  </a:lnTo>
                  <a:lnTo>
                    <a:pt x="127" y="6"/>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31" name="Freeform 3300"/>
            <p:cNvSpPr>
              <a:spLocks noChangeAspect="1"/>
            </p:cNvSpPr>
            <p:nvPr/>
          </p:nvSpPr>
          <p:spPr bwMode="auto">
            <a:xfrm>
              <a:off x="886" y="1430"/>
              <a:ext cx="37" cy="3"/>
            </a:xfrm>
            <a:custGeom>
              <a:avLst/>
              <a:gdLst>
                <a:gd name="T0" fmla="*/ 0 w 131"/>
                <a:gd name="T1" fmla="*/ 0 h 8"/>
                <a:gd name="T2" fmla="*/ 0 w 131"/>
                <a:gd name="T3" fmla="*/ 0 h 8"/>
                <a:gd name="T4" fmla="*/ 0 w 131"/>
                <a:gd name="T5" fmla="*/ 0 h 8"/>
                <a:gd name="T6" fmla="*/ 0 w 131"/>
                <a:gd name="T7" fmla="*/ 0 h 8"/>
                <a:gd name="T8" fmla="*/ 0 w 131"/>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 h="8">
                  <a:moveTo>
                    <a:pt x="131" y="8"/>
                  </a:moveTo>
                  <a:lnTo>
                    <a:pt x="9" y="8"/>
                  </a:lnTo>
                  <a:lnTo>
                    <a:pt x="0" y="0"/>
                  </a:lnTo>
                  <a:lnTo>
                    <a:pt x="131" y="0"/>
                  </a:lnTo>
                  <a:lnTo>
                    <a:pt x="131"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32" name="Freeform 3301"/>
            <p:cNvSpPr>
              <a:spLocks noChangeAspect="1"/>
            </p:cNvSpPr>
            <p:nvPr/>
          </p:nvSpPr>
          <p:spPr bwMode="auto">
            <a:xfrm>
              <a:off x="884" y="1429"/>
              <a:ext cx="39" cy="3"/>
            </a:xfrm>
            <a:custGeom>
              <a:avLst/>
              <a:gdLst>
                <a:gd name="T0" fmla="*/ 0 w 136"/>
                <a:gd name="T1" fmla="*/ 0 h 8"/>
                <a:gd name="T2" fmla="*/ 0 w 136"/>
                <a:gd name="T3" fmla="*/ 0 h 8"/>
                <a:gd name="T4" fmla="*/ 0 w 136"/>
                <a:gd name="T5" fmla="*/ 0 h 8"/>
                <a:gd name="T6" fmla="*/ 0 w 136"/>
                <a:gd name="T7" fmla="*/ 0 h 8"/>
                <a:gd name="T8" fmla="*/ 0 w 136"/>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
                  <a:moveTo>
                    <a:pt x="136" y="8"/>
                  </a:moveTo>
                  <a:lnTo>
                    <a:pt x="9" y="8"/>
                  </a:lnTo>
                  <a:lnTo>
                    <a:pt x="0" y="0"/>
                  </a:lnTo>
                  <a:lnTo>
                    <a:pt x="136" y="0"/>
                  </a:lnTo>
                  <a:lnTo>
                    <a:pt x="136"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33" name="Freeform 3302"/>
            <p:cNvSpPr>
              <a:spLocks noChangeAspect="1"/>
            </p:cNvSpPr>
            <p:nvPr/>
          </p:nvSpPr>
          <p:spPr bwMode="auto">
            <a:xfrm>
              <a:off x="883" y="1429"/>
              <a:ext cx="40" cy="1"/>
            </a:xfrm>
            <a:custGeom>
              <a:avLst/>
              <a:gdLst>
                <a:gd name="T0" fmla="*/ 0 w 140"/>
                <a:gd name="T1" fmla="*/ 0 h 6"/>
                <a:gd name="T2" fmla="*/ 0 w 140"/>
                <a:gd name="T3" fmla="*/ 0 h 6"/>
                <a:gd name="T4" fmla="*/ 0 w 140"/>
                <a:gd name="T5" fmla="*/ 0 h 6"/>
                <a:gd name="T6" fmla="*/ 0 w 140"/>
                <a:gd name="T7" fmla="*/ 0 h 6"/>
                <a:gd name="T8" fmla="*/ 0 w 140"/>
                <a:gd name="T9" fmla="*/ 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0" h="6">
                  <a:moveTo>
                    <a:pt x="140" y="6"/>
                  </a:moveTo>
                  <a:lnTo>
                    <a:pt x="9" y="6"/>
                  </a:lnTo>
                  <a:lnTo>
                    <a:pt x="0" y="0"/>
                  </a:lnTo>
                  <a:lnTo>
                    <a:pt x="140" y="0"/>
                  </a:lnTo>
                  <a:lnTo>
                    <a:pt x="140" y="6"/>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34" name="Freeform 3303"/>
            <p:cNvSpPr>
              <a:spLocks noChangeAspect="1"/>
            </p:cNvSpPr>
            <p:nvPr/>
          </p:nvSpPr>
          <p:spPr bwMode="auto">
            <a:xfrm>
              <a:off x="881" y="1428"/>
              <a:ext cx="42" cy="1"/>
            </a:xfrm>
            <a:custGeom>
              <a:avLst/>
              <a:gdLst>
                <a:gd name="T0" fmla="*/ 0 w 145"/>
                <a:gd name="T1" fmla="*/ 0 h 7"/>
                <a:gd name="T2" fmla="*/ 0 w 145"/>
                <a:gd name="T3" fmla="*/ 0 h 7"/>
                <a:gd name="T4" fmla="*/ 0 w 145"/>
                <a:gd name="T5" fmla="*/ 0 h 7"/>
                <a:gd name="T6" fmla="*/ 0 w 145"/>
                <a:gd name="T7" fmla="*/ 0 h 7"/>
                <a:gd name="T8" fmla="*/ 0 w 145"/>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5" h="7">
                  <a:moveTo>
                    <a:pt x="145" y="7"/>
                  </a:moveTo>
                  <a:lnTo>
                    <a:pt x="9" y="7"/>
                  </a:lnTo>
                  <a:lnTo>
                    <a:pt x="0" y="0"/>
                  </a:lnTo>
                  <a:lnTo>
                    <a:pt x="145" y="0"/>
                  </a:lnTo>
                  <a:lnTo>
                    <a:pt x="145"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35" name="Freeform 3304"/>
            <p:cNvSpPr>
              <a:spLocks noChangeAspect="1"/>
            </p:cNvSpPr>
            <p:nvPr/>
          </p:nvSpPr>
          <p:spPr bwMode="auto">
            <a:xfrm>
              <a:off x="880" y="1428"/>
              <a:ext cx="43" cy="1"/>
            </a:xfrm>
            <a:custGeom>
              <a:avLst/>
              <a:gdLst>
                <a:gd name="T0" fmla="*/ 0 w 149"/>
                <a:gd name="T1" fmla="*/ 0 h 7"/>
                <a:gd name="T2" fmla="*/ 0 w 149"/>
                <a:gd name="T3" fmla="*/ 0 h 7"/>
                <a:gd name="T4" fmla="*/ 0 w 149"/>
                <a:gd name="T5" fmla="*/ 0 h 7"/>
                <a:gd name="T6" fmla="*/ 0 w 149"/>
                <a:gd name="T7" fmla="*/ 0 h 7"/>
                <a:gd name="T8" fmla="*/ 0 w 149"/>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9" h="7">
                  <a:moveTo>
                    <a:pt x="149" y="7"/>
                  </a:moveTo>
                  <a:lnTo>
                    <a:pt x="9" y="7"/>
                  </a:lnTo>
                  <a:lnTo>
                    <a:pt x="0" y="0"/>
                  </a:lnTo>
                  <a:lnTo>
                    <a:pt x="149" y="0"/>
                  </a:lnTo>
                  <a:lnTo>
                    <a:pt x="149"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36" name="Freeform 3305"/>
            <p:cNvSpPr>
              <a:spLocks noChangeAspect="1"/>
            </p:cNvSpPr>
            <p:nvPr/>
          </p:nvSpPr>
          <p:spPr bwMode="auto">
            <a:xfrm>
              <a:off x="879" y="1427"/>
              <a:ext cx="44" cy="1"/>
            </a:xfrm>
            <a:custGeom>
              <a:avLst/>
              <a:gdLst>
                <a:gd name="T0" fmla="*/ 0 w 154"/>
                <a:gd name="T1" fmla="*/ 0 h 7"/>
                <a:gd name="T2" fmla="*/ 0 w 154"/>
                <a:gd name="T3" fmla="*/ 0 h 7"/>
                <a:gd name="T4" fmla="*/ 0 w 154"/>
                <a:gd name="T5" fmla="*/ 0 h 7"/>
                <a:gd name="T6" fmla="*/ 0 w 154"/>
                <a:gd name="T7" fmla="*/ 0 h 7"/>
                <a:gd name="T8" fmla="*/ 0 w 154"/>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4" h="7">
                  <a:moveTo>
                    <a:pt x="154" y="7"/>
                  </a:moveTo>
                  <a:lnTo>
                    <a:pt x="9" y="7"/>
                  </a:lnTo>
                  <a:lnTo>
                    <a:pt x="0" y="0"/>
                  </a:lnTo>
                  <a:lnTo>
                    <a:pt x="154" y="0"/>
                  </a:lnTo>
                  <a:lnTo>
                    <a:pt x="154"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37" name="Freeform 3306"/>
            <p:cNvSpPr>
              <a:spLocks noChangeAspect="1"/>
            </p:cNvSpPr>
            <p:nvPr/>
          </p:nvSpPr>
          <p:spPr bwMode="auto">
            <a:xfrm>
              <a:off x="878" y="1425"/>
              <a:ext cx="45" cy="3"/>
            </a:xfrm>
            <a:custGeom>
              <a:avLst/>
              <a:gdLst>
                <a:gd name="T0" fmla="*/ 0 w 158"/>
                <a:gd name="T1" fmla="*/ 0 h 8"/>
                <a:gd name="T2" fmla="*/ 0 w 158"/>
                <a:gd name="T3" fmla="*/ 0 h 8"/>
                <a:gd name="T4" fmla="*/ 0 w 158"/>
                <a:gd name="T5" fmla="*/ 0 h 8"/>
                <a:gd name="T6" fmla="*/ 0 w 158"/>
                <a:gd name="T7" fmla="*/ 0 h 8"/>
                <a:gd name="T8" fmla="*/ 0 w 15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 h="8">
                  <a:moveTo>
                    <a:pt x="158" y="8"/>
                  </a:moveTo>
                  <a:lnTo>
                    <a:pt x="9" y="8"/>
                  </a:lnTo>
                  <a:lnTo>
                    <a:pt x="0" y="0"/>
                  </a:lnTo>
                  <a:lnTo>
                    <a:pt x="158" y="0"/>
                  </a:lnTo>
                  <a:lnTo>
                    <a:pt x="158"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38" name="Freeform 3307"/>
            <p:cNvSpPr>
              <a:spLocks noChangeAspect="1"/>
            </p:cNvSpPr>
            <p:nvPr/>
          </p:nvSpPr>
          <p:spPr bwMode="auto">
            <a:xfrm>
              <a:off x="877" y="1424"/>
              <a:ext cx="46" cy="3"/>
            </a:xfrm>
            <a:custGeom>
              <a:avLst/>
              <a:gdLst>
                <a:gd name="T0" fmla="*/ 0 w 163"/>
                <a:gd name="T1" fmla="*/ 0 h 7"/>
                <a:gd name="T2" fmla="*/ 0 w 163"/>
                <a:gd name="T3" fmla="*/ 0 h 7"/>
                <a:gd name="T4" fmla="*/ 0 w 163"/>
                <a:gd name="T5" fmla="*/ 0 h 7"/>
                <a:gd name="T6" fmla="*/ 0 w 163"/>
                <a:gd name="T7" fmla="*/ 0 h 7"/>
                <a:gd name="T8" fmla="*/ 0 w 16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3" h="7">
                  <a:moveTo>
                    <a:pt x="163" y="7"/>
                  </a:moveTo>
                  <a:lnTo>
                    <a:pt x="9" y="7"/>
                  </a:lnTo>
                  <a:lnTo>
                    <a:pt x="0" y="0"/>
                  </a:lnTo>
                  <a:lnTo>
                    <a:pt x="163" y="0"/>
                  </a:lnTo>
                  <a:lnTo>
                    <a:pt x="163"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39" name="Freeform 3308"/>
            <p:cNvSpPr>
              <a:spLocks noChangeAspect="1"/>
            </p:cNvSpPr>
            <p:nvPr/>
          </p:nvSpPr>
          <p:spPr bwMode="auto">
            <a:xfrm>
              <a:off x="875" y="1423"/>
              <a:ext cx="48" cy="2"/>
            </a:xfrm>
            <a:custGeom>
              <a:avLst/>
              <a:gdLst>
                <a:gd name="T0" fmla="*/ 0 w 168"/>
                <a:gd name="T1" fmla="*/ 0 h 7"/>
                <a:gd name="T2" fmla="*/ 0 w 168"/>
                <a:gd name="T3" fmla="*/ 0 h 7"/>
                <a:gd name="T4" fmla="*/ 0 w 168"/>
                <a:gd name="T5" fmla="*/ 0 h 7"/>
                <a:gd name="T6" fmla="*/ 0 w 168"/>
                <a:gd name="T7" fmla="*/ 0 h 7"/>
                <a:gd name="T8" fmla="*/ 0 w 168"/>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8" h="7">
                  <a:moveTo>
                    <a:pt x="168" y="7"/>
                  </a:moveTo>
                  <a:lnTo>
                    <a:pt x="10" y="7"/>
                  </a:lnTo>
                  <a:lnTo>
                    <a:pt x="0" y="0"/>
                  </a:lnTo>
                  <a:lnTo>
                    <a:pt x="168" y="0"/>
                  </a:lnTo>
                  <a:lnTo>
                    <a:pt x="168"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40" name="Freeform 3309"/>
            <p:cNvSpPr>
              <a:spLocks noChangeAspect="1"/>
            </p:cNvSpPr>
            <p:nvPr/>
          </p:nvSpPr>
          <p:spPr bwMode="auto">
            <a:xfrm>
              <a:off x="874" y="1422"/>
              <a:ext cx="49" cy="2"/>
            </a:xfrm>
            <a:custGeom>
              <a:avLst/>
              <a:gdLst>
                <a:gd name="T0" fmla="*/ 0 w 172"/>
                <a:gd name="T1" fmla="*/ 0 h 7"/>
                <a:gd name="T2" fmla="*/ 0 w 172"/>
                <a:gd name="T3" fmla="*/ 0 h 7"/>
                <a:gd name="T4" fmla="*/ 0 w 172"/>
                <a:gd name="T5" fmla="*/ 0 h 7"/>
                <a:gd name="T6" fmla="*/ 0 w 172"/>
                <a:gd name="T7" fmla="*/ 0 h 7"/>
                <a:gd name="T8" fmla="*/ 0 w 172"/>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 h="7">
                  <a:moveTo>
                    <a:pt x="172" y="7"/>
                  </a:moveTo>
                  <a:lnTo>
                    <a:pt x="9" y="7"/>
                  </a:lnTo>
                  <a:lnTo>
                    <a:pt x="0" y="0"/>
                  </a:lnTo>
                  <a:lnTo>
                    <a:pt x="172" y="0"/>
                  </a:lnTo>
                  <a:lnTo>
                    <a:pt x="172"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41" name="Freeform 3310"/>
            <p:cNvSpPr>
              <a:spLocks noChangeAspect="1"/>
            </p:cNvSpPr>
            <p:nvPr/>
          </p:nvSpPr>
          <p:spPr bwMode="auto">
            <a:xfrm>
              <a:off x="873" y="1421"/>
              <a:ext cx="50" cy="2"/>
            </a:xfrm>
            <a:custGeom>
              <a:avLst/>
              <a:gdLst>
                <a:gd name="T0" fmla="*/ 0 w 176"/>
                <a:gd name="T1" fmla="*/ 0 h 7"/>
                <a:gd name="T2" fmla="*/ 0 w 176"/>
                <a:gd name="T3" fmla="*/ 0 h 7"/>
                <a:gd name="T4" fmla="*/ 0 w 176"/>
                <a:gd name="T5" fmla="*/ 0 h 7"/>
                <a:gd name="T6" fmla="*/ 0 w 176"/>
                <a:gd name="T7" fmla="*/ 0 h 7"/>
                <a:gd name="T8" fmla="*/ 0 w 176"/>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6" h="7">
                  <a:moveTo>
                    <a:pt x="176" y="7"/>
                  </a:moveTo>
                  <a:lnTo>
                    <a:pt x="8" y="7"/>
                  </a:lnTo>
                  <a:lnTo>
                    <a:pt x="0" y="0"/>
                  </a:lnTo>
                  <a:lnTo>
                    <a:pt x="176" y="0"/>
                  </a:lnTo>
                  <a:lnTo>
                    <a:pt x="176"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42" name="Freeform 3311"/>
            <p:cNvSpPr>
              <a:spLocks noChangeAspect="1"/>
            </p:cNvSpPr>
            <p:nvPr/>
          </p:nvSpPr>
          <p:spPr bwMode="auto">
            <a:xfrm>
              <a:off x="872" y="1420"/>
              <a:ext cx="51" cy="2"/>
            </a:xfrm>
            <a:custGeom>
              <a:avLst/>
              <a:gdLst>
                <a:gd name="T0" fmla="*/ 0 w 180"/>
                <a:gd name="T1" fmla="*/ 0 h 8"/>
                <a:gd name="T2" fmla="*/ 0 w 180"/>
                <a:gd name="T3" fmla="*/ 0 h 8"/>
                <a:gd name="T4" fmla="*/ 0 w 180"/>
                <a:gd name="T5" fmla="*/ 0 h 8"/>
                <a:gd name="T6" fmla="*/ 0 w 180"/>
                <a:gd name="T7" fmla="*/ 0 h 8"/>
                <a:gd name="T8" fmla="*/ 0 w 180"/>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0" h="8">
                  <a:moveTo>
                    <a:pt x="180" y="8"/>
                  </a:moveTo>
                  <a:lnTo>
                    <a:pt x="8" y="8"/>
                  </a:lnTo>
                  <a:lnTo>
                    <a:pt x="0" y="0"/>
                  </a:lnTo>
                  <a:lnTo>
                    <a:pt x="180" y="0"/>
                  </a:lnTo>
                  <a:lnTo>
                    <a:pt x="180"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43" name="Freeform 3312"/>
            <p:cNvSpPr>
              <a:spLocks noChangeAspect="1"/>
            </p:cNvSpPr>
            <p:nvPr/>
          </p:nvSpPr>
          <p:spPr bwMode="auto">
            <a:xfrm>
              <a:off x="870" y="1419"/>
              <a:ext cx="53" cy="2"/>
            </a:xfrm>
            <a:custGeom>
              <a:avLst/>
              <a:gdLst>
                <a:gd name="T0" fmla="*/ 0 w 186"/>
                <a:gd name="T1" fmla="*/ 0 h 7"/>
                <a:gd name="T2" fmla="*/ 0 w 186"/>
                <a:gd name="T3" fmla="*/ 0 h 7"/>
                <a:gd name="T4" fmla="*/ 0 w 186"/>
                <a:gd name="T5" fmla="*/ 0 h 7"/>
                <a:gd name="T6" fmla="*/ 0 w 186"/>
                <a:gd name="T7" fmla="*/ 0 h 7"/>
                <a:gd name="T8" fmla="*/ 0 w 186"/>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6" h="7">
                  <a:moveTo>
                    <a:pt x="186" y="7"/>
                  </a:moveTo>
                  <a:lnTo>
                    <a:pt x="10" y="7"/>
                  </a:lnTo>
                  <a:lnTo>
                    <a:pt x="0" y="0"/>
                  </a:lnTo>
                  <a:lnTo>
                    <a:pt x="186" y="0"/>
                  </a:lnTo>
                  <a:lnTo>
                    <a:pt x="186"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44" name="Freeform 3313"/>
            <p:cNvSpPr>
              <a:spLocks noChangeAspect="1"/>
            </p:cNvSpPr>
            <p:nvPr/>
          </p:nvSpPr>
          <p:spPr bwMode="auto">
            <a:xfrm>
              <a:off x="869" y="1418"/>
              <a:ext cx="54" cy="2"/>
            </a:xfrm>
            <a:custGeom>
              <a:avLst/>
              <a:gdLst>
                <a:gd name="T0" fmla="*/ 0 w 190"/>
                <a:gd name="T1" fmla="*/ 0 h 6"/>
                <a:gd name="T2" fmla="*/ 0 w 190"/>
                <a:gd name="T3" fmla="*/ 0 h 6"/>
                <a:gd name="T4" fmla="*/ 0 w 190"/>
                <a:gd name="T5" fmla="*/ 0 h 6"/>
                <a:gd name="T6" fmla="*/ 0 w 190"/>
                <a:gd name="T7" fmla="*/ 0 h 6"/>
                <a:gd name="T8" fmla="*/ 0 w 190"/>
                <a:gd name="T9" fmla="*/ 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0" h="6">
                  <a:moveTo>
                    <a:pt x="190" y="6"/>
                  </a:moveTo>
                  <a:lnTo>
                    <a:pt x="10" y="6"/>
                  </a:lnTo>
                  <a:lnTo>
                    <a:pt x="0" y="0"/>
                  </a:lnTo>
                  <a:lnTo>
                    <a:pt x="190" y="0"/>
                  </a:lnTo>
                  <a:lnTo>
                    <a:pt x="190" y="6"/>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45" name="Freeform 3314"/>
            <p:cNvSpPr>
              <a:spLocks noChangeAspect="1"/>
            </p:cNvSpPr>
            <p:nvPr/>
          </p:nvSpPr>
          <p:spPr bwMode="auto">
            <a:xfrm>
              <a:off x="868" y="1417"/>
              <a:ext cx="55" cy="2"/>
            </a:xfrm>
            <a:custGeom>
              <a:avLst/>
              <a:gdLst>
                <a:gd name="T0" fmla="*/ 0 w 194"/>
                <a:gd name="T1" fmla="*/ 0 h 8"/>
                <a:gd name="T2" fmla="*/ 0 w 194"/>
                <a:gd name="T3" fmla="*/ 0 h 8"/>
                <a:gd name="T4" fmla="*/ 0 w 194"/>
                <a:gd name="T5" fmla="*/ 0 h 8"/>
                <a:gd name="T6" fmla="*/ 0 w 194"/>
                <a:gd name="T7" fmla="*/ 0 h 8"/>
                <a:gd name="T8" fmla="*/ 0 w 194"/>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8">
                  <a:moveTo>
                    <a:pt x="194" y="8"/>
                  </a:moveTo>
                  <a:lnTo>
                    <a:pt x="8" y="8"/>
                  </a:lnTo>
                  <a:lnTo>
                    <a:pt x="0" y="0"/>
                  </a:lnTo>
                  <a:lnTo>
                    <a:pt x="194" y="0"/>
                  </a:lnTo>
                  <a:lnTo>
                    <a:pt x="194"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46" name="Freeform 3315"/>
            <p:cNvSpPr>
              <a:spLocks noChangeAspect="1"/>
            </p:cNvSpPr>
            <p:nvPr/>
          </p:nvSpPr>
          <p:spPr bwMode="auto">
            <a:xfrm>
              <a:off x="866" y="1416"/>
              <a:ext cx="57" cy="2"/>
            </a:xfrm>
            <a:custGeom>
              <a:avLst/>
              <a:gdLst>
                <a:gd name="T0" fmla="*/ 0 w 198"/>
                <a:gd name="T1" fmla="*/ 0 h 8"/>
                <a:gd name="T2" fmla="*/ 0 w 198"/>
                <a:gd name="T3" fmla="*/ 0 h 8"/>
                <a:gd name="T4" fmla="*/ 0 w 198"/>
                <a:gd name="T5" fmla="*/ 0 h 8"/>
                <a:gd name="T6" fmla="*/ 0 w 198"/>
                <a:gd name="T7" fmla="*/ 0 h 8"/>
                <a:gd name="T8" fmla="*/ 0 w 19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8" h="8">
                  <a:moveTo>
                    <a:pt x="198" y="8"/>
                  </a:moveTo>
                  <a:lnTo>
                    <a:pt x="8" y="8"/>
                  </a:lnTo>
                  <a:lnTo>
                    <a:pt x="0" y="0"/>
                  </a:lnTo>
                  <a:lnTo>
                    <a:pt x="198" y="0"/>
                  </a:lnTo>
                  <a:lnTo>
                    <a:pt x="198"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47" name="Freeform 3316"/>
            <p:cNvSpPr>
              <a:spLocks noChangeAspect="1"/>
            </p:cNvSpPr>
            <p:nvPr/>
          </p:nvSpPr>
          <p:spPr bwMode="auto">
            <a:xfrm>
              <a:off x="864" y="1415"/>
              <a:ext cx="59" cy="2"/>
            </a:xfrm>
            <a:custGeom>
              <a:avLst/>
              <a:gdLst>
                <a:gd name="T0" fmla="*/ 0 w 204"/>
                <a:gd name="T1" fmla="*/ 0 h 6"/>
                <a:gd name="T2" fmla="*/ 0 w 204"/>
                <a:gd name="T3" fmla="*/ 0 h 6"/>
                <a:gd name="T4" fmla="*/ 0 w 204"/>
                <a:gd name="T5" fmla="*/ 0 h 6"/>
                <a:gd name="T6" fmla="*/ 0 w 204"/>
                <a:gd name="T7" fmla="*/ 0 h 6"/>
                <a:gd name="T8" fmla="*/ 0 w 204"/>
                <a:gd name="T9" fmla="*/ 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4" h="6">
                  <a:moveTo>
                    <a:pt x="204" y="6"/>
                  </a:moveTo>
                  <a:lnTo>
                    <a:pt x="10" y="6"/>
                  </a:lnTo>
                  <a:lnTo>
                    <a:pt x="0" y="0"/>
                  </a:lnTo>
                  <a:lnTo>
                    <a:pt x="204" y="0"/>
                  </a:lnTo>
                  <a:lnTo>
                    <a:pt x="204" y="6"/>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48" name="Freeform 3317"/>
            <p:cNvSpPr>
              <a:spLocks noChangeAspect="1"/>
            </p:cNvSpPr>
            <p:nvPr/>
          </p:nvSpPr>
          <p:spPr bwMode="auto">
            <a:xfrm>
              <a:off x="864" y="1413"/>
              <a:ext cx="59" cy="3"/>
            </a:xfrm>
            <a:custGeom>
              <a:avLst/>
              <a:gdLst>
                <a:gd name="T0" fmla="*/ 0 w 208"/>
                <a:gd name="T1" fmla="*/ 0 h 7"/>
                <a:gd name="T2" fmla="*/ 0 w 208"/>
                <a:gd name="T3" fmla="*/ 0 h 7"/>
                <a:gd name="T4" fmla="*/ 0 w 208"/>
                <a:gd name="T5" fmla="*/ 0 h 7"/>
                <a:gd name="T6" fmla="*/ 0 w 208"/>
                <a:gd name="T7" fmla="*/ 0 h 7"/>
                <a:gd name="T8" fmla="*/ 0 w 208"/>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7">
                  <a:moveTo>
                    <a:pt x="208" y="7"/>
                  </a:moveTo>
                  <a:lnTo>
                    <a:pt x="10" y="7"/>
                  </a:lnTo>
                  <a:lnTo>
                    <a:pt x="0" y="0"/>
                  </a:lnTo>
                  <a:lnTo>
                    <a:pt x="208" y="0"/>
                  </a:lnTo>
                  <a:lnTo>
                    <a:pt x="208"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49" name="Freeform 3318"/>
            <p:cNvSpPr>
              <a:spLocks noChangeAspect="1"/>
            </p:cNvSpPr>
            <p:nvPr/>
          </p:nvSpPr>
          <p:spPr bwMode="auto">
            <a:xfrm>
              <a:off x="863" y="1413"/>
              <a:ext cx="60" cy="2"/>
            </a:xfrm>
            <a:custGeom>
              <a:avLst/>
              <a:gdLst>
                <a:gd name="T0" fmla="*/ 0 w 212"/>
                <a:gd name="T1" fmla="*/ 0 h 7"/>
                <a:gd name="T2" fmla="*/ 0 w 212"/>
                <a:gd name="T3" fmla="*/ 0 h 7"/>
                <a:gd name="T4" fmla="*/ 0 w 212"/>
                <a:gd name="T5" fmla="*/ 0 h 7"/>
                <a:gd name="T6" fmla="*/ 0 w 212"/>
                <a:gd name="T7" fmla="*/ 0 h 7"/>
                <a:gd name="T8" fmla="*/ 0 w 212"/>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7">
                  <a:moveTo>
                    <a:pt x="212" y="7"/>
                  </a:moveTo>
                  <a:lnTo>
                    <a:pt x="8" y="7"/>
                  </a:lnTo>
                  <a:lnTo>
                    <a:pt x="0" y="0"/>
                  </a:lnTo>
                  <a:lnTo>
                    <a:pt x="212" y="0"/>
                  </a:lnTo>
                  <a:lnTo>
                    <a:pt x="212"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50" name="Freeform 3319"/>
            <p:cNvSpPr>
              <a:spLocks noChangeAspect="1"/>
            </p:cNvSpPr>
            <p:nvPr/>
          </p:nvSpPr>
          <p:spPr bwMode="auto">
            <a:xfrm>
              <a:off x="861" y="1412"/>
              <a:ext cx="62" cy="1"/>
            </a:xfrm>
            <a:custGeom>
              <a:avLst/>
              <a:gdLst>
                <a:gd name="T0" fmla="*/ 0 w 216"/>
                <a:gd name="T1" fmla="*/ 0 h 7"/>
                <a:gd name="T2" fmla="*/ 0 w 216"/>
                <a:gd name="T3" fmla="*/ 0 h 7"/>
                <a:gd name="T4" fmla="*/ 0 w 216"/>
                <a:gd name="T5" fmla="*/ 0 h 7"/>
                <a:gd name="T6" fmla="*/ 0 w 216"/>
                <a:gd name="T7" fmla="*/ 0 h 7"/>
                <a:gd name="T8" fmla="*/ 0 w 216"/>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 h="7">
                  <a:moveTo>
                    <a:pt x="216" y="7"/>
                  </a:moveTo>
                  <a:lnTo>
                    <a:pt x="8" y="7"/>
                  </a:lnTo>
                  <a:lnTo>
                    <a:pt x="0" y="0"/>
                  </a:lnTo>
                  <a:lnTo>
                    <a:pt x="216" y="0"/>
                  </a:lnTo>
                  <a:lnTo>
                    <a:pt x="216"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51" name="Freeform 3320"/>
            <p:cNvSpPr>
              <a:spLocks noChangeAspect="1"/>
            </p:cNvSpPr>
            <p:nvPr/>
          </p:nvSpPr>
          <p:spPr bwMode="auto">
            <a:xfrm>
              <a:off x="859" y="1411"/>
              <a:ext cx="64" cy="2"/>
            </a:xfrm>
            <a:custGeom>
              <a:avLst/>
              <a:gdLst>
                <a:gd name="T0" fmla="*/ 0 w 222"/>
                <a:gd name="T1" fmla="*/ 0 h 8"/>
                <a:gd name="T2" fmla="*/ 0 w 222"/>
                <a:gd name="T3" fmla="*/ 0 h 8"/>
                <a:gd name="T4" fmla="*/ 0 w 222"/>
                <a:gd name="T5" fmla="*/ 0 h 8"/>
                <a:gd name="T6" fmla="*/ 0 w 222"/>
                <a:gd name="T7" fmla="*/ 0 h 8"/>
                <a:gd name="T8" fmla="*/ 0 w 22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2" h="8">
                  <a:moveTo>
                    <a:pt x="222" y="8"/>
                  </a:moveTo>
                  <a:lnTo>
                    <a:pt x="10" y="8"/>
                  </a:lnTo>
                  <a:lnTo>
                    <a:pt x="0" y="0"/>
                  </a:lnTo>
                  <a:lnTo>
                    <a:pt x="222" y="0"/>
                  </a:lnTo>
                  <a:lnTo>
                    <a:pt x="222" y="8"/>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52" name="Freeform 3321"/>
            <p:cNvSpPr>
              <a:spLocks noChangeAspect="1"/>
            </p:cNvSpPr>
            <p:nvPr/>
          </p:nvSpPr>
          <p:spPr bwMode="auto">
            <a:xfrm>
              <a:off x="858" y="1410"/>
              <a:ext cx="65" cy="2"/>
            </a:xfrm>
            <a:custGeom>
              <a:avLst/>
              <a:gdLst>
                <a:gd name="T0" fmla="*/ 0 w 226"/>
                <a:gd name="T1" fmla="*/ 0 h 7"/>
                <a:gd name="T2" fmla="*/ 0 w 226"/>
                <a:gd name="T3" fmla="*/ 0 h 7"/>
                <a:gd name="T4" fmla="*/ 0 w 226"/>
                <a:gd name="T5" fmla="*/ 0 h 7"/>
                <a:gd name="T6" fmla="*/ 0 w 226"/>
                <a:gd name="T7" fmla="*/ 0 h 7"/>
                <a:gd name="T8" fmla="*/ 0 w 226"/>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6" h="7">
                  <a:moveTo>
                    <a:pt x="226" y="7"/>
                  </a:moveTo>
                  <a:lnTo>
                    <a:pt x="10" y="7"/>
                  </a:lnTo>
                  <a:lnTo>
                    <a:pt x="0" y="0"/>
                  </a:lnTo>
                  <a:lnTo>
                    <a:pt x="226" y="0"/>
                  </a:lnTo>
                  <a:lnTo>
                    <a:pt x="226" y="7"/>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53" name="Freeform 3322"/>
            <p:cNvSpPr>
              <a:spLocks noChangeAspect="1"/>
            </p:cNvSpPr>
            <p:nvPr/>
          </p:nvSpPr>
          <p:spPr bwMode="auto">
            <a:xfrm>
              <a:off x="858" y="1410"/>
              <a:ext cx="65" cy="1"/>
            </a:xfrm>
            <a:custGeom>
              <a:avLst/>
              <a:gdLst>
                <a:gd name="T0" fmla="*/ 0 w 226"/>
                <a:gd name="T1" fmla="*/ 0 h 3"/>
                <a:gd name="T2" fmla="*/ 0 w 226"/>
                <a:gd name="T3" fmla="*/ 0 h 3"/>
                <a:gd name="T4" fmla="*/ 0 w 226"/>
                <a:gd name="T5" fmla="*/ 0 h 3"/>
                <a:gd name="T6" fmla="*/ 0 w 226"/>
                <a:gd name="T7" fmla="*/ 0 h 3"/>
                <a:gd name="T8" fmla="*/ 0 w 226"/>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6" h="3">
                  <a:moveTo>
                    <a:pt x="226" y="3"/>
                  </a:moveTo>
                  <a:lnTo>
                    <a:pt x="4" y="3"/>
                  </a:lnTo>
                  <a:lnTo>
                    <a:pt x="0" y="0"/>
                  </a:lnTo>
                  <a:lnTo>
                    <a:pt x="226" y="0"/>
                  </a:lnTo>
                  <a:lnTo>
                    <a:pt x="226" y="3"/>
                  </a:lnTo>
                  <a:close/>
                </a:path>
              </a:pathLst>
            </a:custGeom>
            <a:gradFill rotWithShape="0">
              <a:gsLst>
                <a:gs pos="0">
                  <a:srgbClr val="339966"/>
                </a:gs>
                <a:gs pos="50000">
                  <a:srgbClr val="96CBB0"/>
                </a:gs>
                <a:gs pos="100000">
                  <a:srgbClr val="339966"/>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54" name="Freeform 3323"/>
            <p:cNvSpPr>
              <a:spLocks noChangeAspect="1"/>
            </p:cNvSpPr>
            <p:nvPr/>
          </p:nvSpPr>
          <p:spPr bwMode="auto">
            <a:xfrm>
              <a:off x="858" y="1410"/>
              <a:ext cx="65" cy="50"/>
            </a:xfrm>
            <a:custGeom>
              <a:avLst/>
              <a:gdLst>
                <a:gd name="T0" fmla="*/ 0 w 226"/>
                <a:gd name="T1" fmla="*/ 0 h 178"/>
                <a:gd name="T2" fmla="*/ 0 w 226"/>
                <a:gd name="T3" fmla="*/ 0 h 178"/>
                <a:gd name="T4" fmla="*/ 0 w 226"/>
                <a:gd name="T5" fmla="*/ 0 h 178"/>
                <a:gd name="T6" fmla="*/ 0 w 226"/>
                <a:gd name="T7" fmla="*/ 0 h 1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6" h="178">
                  <a:moveTo>
                    <a:pt x="226" y="0"/>
                  </a:moveTo>
                  <a:lnTo>
                    <a:pt x="0" y="0"/>
                  </a:lnTo>
                  <a:lnTo>
                    <a:pt x="226" y="178"/>
                  </a:lnTo>
                  <a:lnTo>
                    <a:pt x="226" y="0"/>
                  </a:lnTo>
                </a:path>
              </a:pathLst>
            </a:custGeom>
            <a:gradFill rotWithShape="0">
              <a:gsLst>
                <a:gs pos="0">
                  <a:srgbClr val="339966"/>
                </a:gs>
                <a:gs pos="50000">
                  <a:srgbClr val="96CBB0"/>
                </a:gs>
                <a:gs pos="100000">
                  <a:srgbClr val="339966"/>
                </a:gs>
              </a:gsLst>
              <a:lin ang="5400000" scaled="1"/>
            </a:gradFill>
            <a:ln w="1588">
              <a:solidFill>
                <a:srgbClr val="1F1A17"/>
              </a:solidFill>
              <a:prstDash val="solid"/>
              <a:round/>
              <a:headEnd/>
              <a:tailEnd/>
            </a:ln>
          </p:spPr>
          <p:txBody>
            <a:bodyPr/>
            <a:lstStyle/>
            <a:p>
              <a:endParaRPr lang="en-US"/>
            </a:p>
          </p:txBody>
        </p:sp>
        <p:grpSp>
          <p:nvGrpSpPr>
            <p:cNvPr id="386455" name="Group 3324"/>
            <p:cNvGrpSpPr>
              <a:grpSpLocks noChangeAspect="1"/>
            </p:cNvGrpSpPr>
            <p:nvPr/>
          </p:nvGrpSpPr>
          <p:grpSpPr bwMode="auto">
            <a:xfrm>
              <a:off x="1419" y="1517"/>
              <a:ext cx="159" cy="156"/>
              <a:chOff x="1676" y="360"/>
              <a:chExt cx="184" cy="184"/>
            </a:xfrm>
          </p:grpSpPr>
          <p:sp>
            <p:nvSpPr>
              <p:cNvPr id="388242" name="Rectangle 3325"/>
              <p:cNvSpPr>
                <a:spLocks noChangeAspect="1" noChangeArrowheads="1"/>
              </p:cNvSpPr>
              <p:nvPr/>
            </p:nvSpPr>
            <p:spPr bwMode="auto">
              <a:xfrm>
                <a:off x="1764" y="408"/>
                <a:ext cx="40" cy="136"/>
              </a:xfrm>
              <a:prstGeom prst="rect">
                <a:avLst/>
              </a:prstGeom>
              <a:gradFill rotWithShape="0">
                <a:gsLst>
                  <a:gs pos="0">
                    <a:srgbClr val="339966"/>
                  </a:gs>
                  <a:gs pos="50000">
                    <a:srgbClr val="9CCDB5"/>
                  </a:gs>
                  <a:gs pos="100000">
                    <a:srgbClr val="339966"/>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67838" name="Rectangle 3326"/>
              <p:cNvSpPr>
                <a:spLocks noChangeAspect="1" noChangeArrowheads="1"/>
              </p:cNvSpPr>
              <p:nvPr/>
            </p:nvSpPr>
            <p:spPr bwMode="auto">
              <a:xfrm>
                <a:off x="1804" y="452"/>
                <a:ext cx="56" cy="48"/>
              </a:xfrm>
              <a:prstGeom prst="rect">
                <a:avLst/>
              </a:prstGeom>
              <a:gradFill rotWithShape="0">
                <a:gsLst>
                  <a:gs pos="0">
                    <a:schemeClr val="hlink"/>
                  </a:gs>
                  <a:gs pos="50000">
                    <a:schemeClr val="hlink">
                      <a:gamma/>
                      <a:tint val="45490"/>
                      <a:invGamma/>
                    </a:schemeClr>
                  </a:gs>
                  <a:gs pos="100000">
                    <a:schemeClr val="hlink"/>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a:p>
            </p:txBody>
          </p:sp>
          <p:sp>
            <p:nvSpPr>
              <p:cNvPr id="67839" name="AutoShape 3327"/>
              <p:cNvSpPr>
                <a:spLocks noChangeAspect="1" noChangeArrowheads="1"/>
              </p:cNvSpPr>
              <p:nvPr/>
            </p:nvSpPr>
            <p:spPr bwMode="auto">
              <a:xfrm flipH="1" flipV="1">
                <a:off x="1676" y="360"/>
                <a:ext cx="88" cy="116"/>
              </a:xfrm>
              <a:prstGeom prst="rtTriangle">
                <a:avLst/>
              </a:prstGeom>
              <a:gradFill rotWithShape="0">
                <a:gsLst>
                  <a:gs pos="0">
                    <a:schemeClr val="hlink"/>
                  </a:gs>
                  <a:gs pos="50000">
                    <a:schemeClr val="hlink">
                      <a:gamma/>
                      <a:tint val="48627"/>
                      <a:invGamma/>
                    </a:schemeClr>
                  </a:gs>
                  <a:gs pos="100000">
                    <a:schemeClr val="hlink"/>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a:p>
            </p:txBody>
          </p:sp>
        </p:grpSp>
        <p:grpSp>
          <p:nvGrpSpPr>
            <p:cNvPr id="386456" name="Group 3328"/>
            <p:cNvGrpSpPr>
              <a:grpSpLocks noChangeAspect="1"/>
            </p:cNvGrpSpPr>
            <p:nvPr/>
          </p:nvGrpSpPr>
          <p:grpSpPr bwMode="auto">
            <a:xfrm>
              <a:off x="1615" y="1551"/>
              <a:ext cx="660" cy="153"/>
              <a:chOff x="1486" y="1295"/>
              <a:chExt cx="768" cy="181"/>
            </a:xfrm>
          </p:grpSpPr>
          <p:sp>
            <p:nvSpPr>
              <p:cNvPr id="388240" name="Line 3329"/>
              <p:cNvSpPr>
                <a:spLocks noChangeAspect="1" noChangeShapeType="1"/>
              </p:cNvSpPr>
              <p:nvPr/>
            </p:nvSpPr>
            <p:spPr bwMode="auto">
              <a:xfrm>
                <a:off x="1486" y="1472"/>
                <a:ext cx="768" cy="0"/>
              </a:xfrm>
              <a:prstGeom prst="line">
                <a:avLst/>
              </a:prstGeom>
              <a:noFill/>
              <a:ln w="9525">
                <a:solidFill>
                  <a:srgbClr val="FFCC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8241" name="Freeform 3330" descr="Cork"/>
              <p:cNvSpPr>
                <a:spLocks noChangeAspect="1"/>
              </p:cNvSpPr>
              <p:nvPr/>
            </p:nvSpPr>
            <p:spPr bwMode="auto">
              <a:xfrm>
                <a:off x="1536" y="1295"/>
                <a:ext cx="683" cy="181"/>
              </a:xfrm>
              <a:custGeom>
                <a:avLst/>
                <a:gdLst>
                  <a:gd name="T0" fmla="*/ 0 w 683"/>
                  <a:gd name="T1" fmla="*/ 177 h 181"/>
                  <a:gd name="T2" fmla="*/ 28 w 683"/>
                  <a:gd name="T3" fmla="*/ 141 h 181"/>
                  <a:gd name="T4" fmla="*/ 43 w 683"/>
                  <a:gd name="T5" fmla="*/ 127 h 181"/>
                  <a:gd name="T6" fmla="*/ 121 w 683"/>
                  <a:gd name="T7" fmla="*/ 42 h 181"/>
                  <a:gd name="T8" fmla="*/ 228 w 683"/>
                  <a:gd name="T9" fmla="*/ 21 h 181"/>
                  <a:gd name="T10" fmla="*/ 505 w 683"/>
                  <a:gd name="T11" fmla="*/ 13 h 181"/>
                  <a:gd name="T12" fmla="*/ 555 w 683"/>
                  <a:gd name="T13" fmla="*/ 28 h 181"/>
                  <a:gd name="T14" fmla="*/ 562 w 683"/>
                  <a:gd name="T15" fmla="*/ 49 h 181"/>
                  <a:gd name="T16" fmla="*/ 583 w 683"/>
                  <a:gd name="T17" fmla="*/ 63 h 181"/>
                  <a:gd name="T18" fmla="*/ 612 w 683"/>
                  <a:gd name="T19" fmla="*/ 92 h 181"/>
                  <a:gd name="T20" fmla="*/ 640 w 683"/>
                  <a:gd name="T21" fmla="*/ 120 h 181"/>
                  <a:gd name="T22" fmla="*/ 683 w 683"/>
                  <a:gd name="T23" fmla="*/ 177 h 1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83" h="181">
                    <a:moveTo>
                      <a:pt x="0" y="177"/>
                    </a:moveTo>
                    <a:cubicBezTo>
                      <a:pt x="44" y="148"/>
                      <a:pt x="4" y="181"/>
                      <a:pt x="28" y="141"/>
                    </a:cubicBezTo>
                    <a:cubicBezTo>
                      <a:pt x="32" y="135"/>
                      <a:pt x="39" y="132"/>
                      <a:pt x="43" y="127"/>
                    </a:cubicBezTo>
                    <a:cubicBezTo>
                      <a:pt x="71" y="91"/>
                      <a:pt x="83" y="68"/>
                      <a:pt x="121" y="42"/>
                    </a:cubicBezTo>
                    <a:cubicBezTo>
                      <a:pt x="149" y="0"/>
                      <a:pt x="178" y="15"/>
                      <a:pt x="228" y="21"/>
                    </a:cubicBezTo>
                    <a:cubicBezTo>
                      <a:pt x="317" y="7"/>
                      <a:pt x="415" y="18"/>
                      <a:pt x="505" y="13"/>
                    </a:cubicBezTo>
                    <a:cubicBezTo>
                      <a:pt x="522" y="18"/>
                      <a:pt x="542" y="16"/>
                      <a:pt x="555" y="28"/>
                    </a:cubicBezTo>
                    <a:cubicBezTo>
                      <a:pt x="560" y="33"/>
                      <a:pt x="557" y="43"/>
                      <a:pt x="562" y="49"/>
                    </a:cubicBezTo>
                    <a:cubicBezTo>
                      <a:pt x="567" y="56"/>
                      <a:pt x="576" y="58"/>
                      <a:pt x="583" y="63"/>
                    </a:cubicBezTo>
                    <a:cubicBezTo>
                      <a:pt x="601" y="120"/>
                      <a:pt x="574" y="55"/>
                      <a:pt x="612" y="92"/>
                    </a:cubicBezTo>
                    <a:cubicBezTo>
                      <a:pt x="651" y="130"/>
                      <a:pt x="582" y="101"/>
                      <a:pt x="640" y="120"/>
                    </a:cubicBezTo>
                    <a:cubicBezTo>
                      <a:pt x="649" y="146"/>
                      <a:pt x="664" y="158"/>
                      <a:pt x="683" y="177"/>
                    </a:cubicBezTo>
                  </a:path>
                </a:pathLst>
              </a:custGeom>
              <a:blipFill dpi="0" rotWithShape="0">
                <a:blip r:embed="rId2"/>
                <a:srcRect/>
                <a:tile tx="0" ty="0" sx="100000" sy="100000" flip="none" algn="tl"/>
              </a:blip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86457" name="Group 3331"/>
            <p:cNvGrpSpPr>
              <a:grpSpLocks noChangeAspect="1"/>
            </p:cNvGrpSpPr>
            <p:nvPr/>
          </p:nvGrpSpPr>
          <p:grpSpPr bwMode="auto">
            <a:xfrm>
              <a:off x="3179" y="1554"/>
              <a:ext cx="200" cy="201"/>
              <a:chOff x="3506" y="1396"/>
              <a:chExt cx="227" cy="228"/>
            </a:xfrm>
          </p:grpSpPr>
          <p:grpSp>
            <p:nvGrpSpPr>
              <p:cNvPr id="388132" name="Group 3332"/>
              <p:cNvGrpSpPr>
                <a:grpSpLocks noChangeAspect="1"/>
              </p:cNvGrpSpPr>
              <p:nvPr/>
            </p:nvGrpSpPr>
            <p:grpSpPr bwMode="auto">
              <a:xfrm>
                <a:off x="3558" y="1396"/>
                <a:ext cx="175" cy="164"/>
                <a:chOff x="3629" y="916"/>
                <a:chExt cx="307" cy="242"/>
              </a:xfrm>
            </p:grpSpPr>
            <p:sp>
              <p:nvSpPr>
                <p:cNvPr id="67845" name="Rectangle 3333"/>
                <p:cNvSpPr>
                  <a:spLocks noChangeAspect="1" noChangeArrowheads="1"/>
                </p:cNvSpPr>
                <p:nvPr/>
              </p:nvSpPr>
              <p:spPr bwMode="auto">
                <a:xfrm>
                  <a:off x="3629" y="916"/>
                  <a:ext cx="6"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46" name="Rectangle 3334"/>
                <p:cNvSpPr>
                  <a:spLocks noChangeAspect="1" noChangeArrowheads="1"/>
                </p:cNvSpPr>
                <p:nvPr/>
              </p:nvSpPr>
              <p:spPr bwMode="auto">
                <a:xfrm>
                  <a:off x="3629"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47" name="Rectangle 3335"/>
                <p:cNvSpPr>
                  <a:spLocks noChangeAspect="1" noChangeArrowheads="1"/>
                </p:cNvSpPr>
                <p:nvPr/>
              </p:nvSpPr>
              <p:spPr bwMode="auto">
                <a:xfrm>
                  <a:off x="3635"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48" name="Rectangle 3336"/>
                <p:cNvSpPr>
                  <a:spLocks noChangeAspect="1" noChangeArrowheads="1"/>
                </p:cNvSpPr>
                <p:nvPr/>
              </p:nvSpPr>
              <p:spPr bwMode="auto">
                <a:xfrm>
                  <a:off x="3641"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49" name="Rectangle 3337"/>
                <p:cNvSpPr>
                  <a:spLocks noChangeAspect="1" noChangeArrowheads="1"/>
                </p:cNvSpPr>
                <p:nvPr/>
              </p:nvSpPr>
              <p:spPr bwMode="auto">
                <a:xfrm>
                  <a:off x="3647"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50" name="Rectangle 3338"/>
                <p:cNvSpPr>
                  <a:spLocks noChangeAspect="1" noChangeArrowheads="1"/>
                </p:cNvSpPr>
                <p:nvPr/>
              </p:nvSpPr>
              <p:spPr bwMode="auto">
                <a:xfrm>
                  <a:off x="3653"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51" name="Rectangle 3339"/>
                <p:cNvSpPr>
                  <a:spLocks noChangeAspect="1" noChangeArrowheads="1"/>
                </p:cNvSpPr>
                <p:nvPr/>
              </p:nvSpPr>
              <p:spPr bwMode="auto">
                <a:xfrm>
                  <a:off x="3659"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52" name="Rectangle 3340"/>
                <p:cNvSpPr>
                  <a:spLocks noChangeAspect="1" noChangeArrowheads="1"/>
                </p:cNvSpPr>
                <p:nvPr/>
              </p:nvSpPr>
              <p:spPr bwMode="auto">
                <a:xfrm>
                  <a:off x="3665" y="916"/>
                  <a:ext cx="14"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53" name="Rectangle 3341"/>
                <p:cNvSpPr>
                  <a:spLocks noChangeAspect="1" noChangeArrowheads="1"/>
                </p:cNvSpPr>
                <p:nvPr/>
              </p:nvSpPr>
              <p:spPr bwMode="auto">
                <a:xfrm>
                  <a:off x="3671" y="916"/>
                  <a:ext cx="14"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54" name="Rectangle 3342"/>
                <p:cNvSpPr>
                  <a:spLocks noChangeAspect="1" noChangeArrowheads="1"/>
                </p:cNvSpPr>
                <p:nvPr/>
              </p:nvSpPr>
              <p:spPr bwMode="auto">
                <a:xfrm>
                  <a:off x="3679"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55" name="Rectangle 3343"/>
                <p:cNvSpPr>
                  <a:spLocks noChangeAspect="1" noChangeArrowheads="1"/>
                </p:cNvSpPr>
                <p:nvPr/>
              </p:nvSpPr>
              <p:spPr bwMode="auto">
                <a:xfrm>
                  <a:off x="3685"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56" name="Rectangle 3344"/>
                <p:cNvSpPr>
                  <a:spLocks noChangeAspect="1" noChangeArrowheads="1"/>
                </p:cNvSpPr>
                <p:nvPr/>
              </p:nvSpPr>
              <p:spPr bwMode="auto">
                <a:xfrm>
                  <a:off x="3691"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57" name="Rectangle 3345"/>
                <p:cNvSpPr>
                  <a:spLocks noChangeAspect="1" noChangeArrowheads="1"/>
                </p:cNvSpPr>
                <p:nvPr/>
              </p:nvSpPr>
              <p:spPr bwMode="auto">
                <a:xfrm>
                  <a:off x="3697"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58" name="Rectangle 3346"/>
                <p:cNvSpPr>
                  <a:spLocks noChangeAspect="1" noChangeArrowheads="1"/>
                </p:cNvSpPr>
                <p:nvPr/>
              </p:nvSpPr>
              <p:spPr bwMode="auto">
                <a:xfrm>
                  <a:off x="3703"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59" name="Rectangle 3347"/>
                <p:cNvSpPr>
                  <a:spLocks noChangeAspect="1" noChangeArrowheads="1"/>
                </p:cNvSpPr>
                <p:nvPr/>
              </p:nvSpPr>
              <p:spPr bwMode="auto">
                <a:xfrm>
                  <a:off x="3709"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60" name="Rectangle 3348"/>
                <p:cNvSpPr>
                  <a:spLocks noChangeAspect="1" noChangeArrowheads="1"/>
                </p:cNvSpPr>
                <p:nvPr/>
              </p:nvSpPr>
              <p:spPr bwMode="auto">
                <a:xfrm>
                  <a:off x="3715"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61" name="Rectangle 3349"/>
                <p:cNvSpPr>
                  <a:spLocks noChangeAspect="1" noChangeArrowheads="1"/>
                </p:cNvSpPr>
                <p:nvPr/>
              </p:nvSpPr>
              <p:spPr bwMode="auto">
                <a:xfrm>
                  <a:off x="3721"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62" name="Rectangle 3350"/>
                <p:cNvSpPr>
                  <a:spLocks noChangeAspect="1" noChangeArrowheads="1"/>
                </p:cNvSpPr>
                <p:nvPr/>
              </p:nvSpPr>
              <p:spPr bwMode="auto">
                <a:xfrm>
                  <a:off x="3727"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63" name="Rectangle 3351"/>
                <p:cNvSpPr>
                  <a:spLocks noChangeAspect="1" noChangeArrowheads="1"/>
                </p:cNvSpPr>
                <p:nvPr/>
              </p:nvSpPr>
              <p:spPr bwMode="auto">
                <a:xfrm>
                  <a:off x="3733"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64" name="Rectangle 3352"/>
                <p:cNvSpPr>
                  <a:spLocks noChangeAspect="1" noChangeArrowheads="1"/>
                </p:cNvSpPr>
                <p:nvPr/>
              </p:nvSpPr>
              <p:spPr bwMode="auto">
                <a:xfrm>
                  <a:off x="3739"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65" name="Rectangle 3353"/>
                <p:cNvSpPr>
                  <a:spLocks noChangeAspect="1" noChangeArrowheads="1"/>
                </p:cNvSpPr>
                <p:nvPr/>
              </p:nvSpPr>
              <p:spPr bwMode="auto">
                <a:xfrm>
                  <a:off x="3745"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66" name="Rectangle 3354"/>
                <p:cNvSpPr>
                  <a:spLocks noChangeAspect="1" noChangeArrowheads="1"/>
                </p:cNvSpPr>
                <p:nvPr/>
              </p:nvSpPr>
              <p:spPr bwMode="auto">
                <a:xfrm>
                  <a:off x="3751"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67" name="Rectangle 3355"/>
                <p:cNvSpPr>
                  <a:spLocks noChangeAspect="1" noChangeArrowheads="1"/>
                </p:cNvSpPr>
                <p:nvPr/>
              </p:nvSpPr>
              <p:spPr bwMode="auto">
                <a:xfrm>
                  <a:off x="3757" y="916"/>
                  <a:ext cx="14"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68" name="Rectangle 3356"/>
                <p:cNvSpPr>
                  <a:spLocks noChangeAspect="1" noChangeArrowheads="1"/>
                </p:cNvSpPr>
                <p:nvPr/>
              </p:nvSpPr>
              <p:spPr bwMode="auto">
                <a:xfrm>
                  <a:off x="3763" y="916"/>
                  <a:ext cx="14"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69" name="Rectangle 3357"/>
                <p:cNvSpPr>
                  <a:spLocks noChangeAspect="1" noChangeArrowheads="1"/>
                </p:cNvSpPr>
                <p:nvPr/>
              </p:nvSpPr>
              <p:spPr bwMode="auto">
                <a:xfrm>
                  <a:off x="3771"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70" name="Rectangle 3358"/>
                <p:cNvSpPr>
                  <a:spLocks noChangeAspect="1" noChangeArrowheads="1"/>
                </p:cNvSpPr>
                <p:nvPr/>
              </p:nvSpPr>
              <p:spPr bwMode="auto">
                <a:xfrm>
                  <a:off x="3777"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71" name="Rectangle 3359"/>
                <p:cNvSpPr>
                  <a:spLocks noChangeAspect="1" noChangeArrowheads="1"/>
                </p:cNvSpPr>
                <p:nvPr/>
              </p:nvSpPr>
              <p:spPr bwMode="auto">
                <a:xfrm>
                  <a:off x="3783"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72" name="Rectangle 3360"/>
                <p:cNvSpPr>
                  <a:spLocks noChangeAspect="1" noChangeArrowheads="1"/>
                </p:cNvSpPr>
                <p:nvPr/>
              </p:nvSpPr>
              <p:spPr bwMode="auto">
                <a:xfrm>
                  <a:off x="3789"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73" name="Rectangle 3361"/>
                <p:cNvSpPr>
                  <a:spLocks noChangeAspect="1" noChangeArrowheads="1"/>
                </p:cNvSpPr>
                <p:nvPr/>
              </p:nvSpPr>
              <p:spPr bwMode="auto">
                <a:xfrm>
                  <a:off x="3795"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74" name="Rectangle 3362"/>
                <p:cNvSpPr>
                  <a:spLocks noChangeAspect="1" noChangeArrowheads="1"/>
                </p:cNvSpPr>
                <p:nvPr/>
              </p:nvSpPr>
              <p:spPr bwMode="auto">
                <a:xfrm>
                  <a:off x="3801"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75" name="Rectangle 3363"/>
                <p:cNvSpPr>
                  <a:spLocks noChangeAspect="1" noChangeArrowheads="1"/>
                </p:cNvSpPr>
                <p:nvPr/>
              </p:nvSpPr>
              <p:spPr bwMode="auto">
                <a:xfrm>
                  <a:off x="3807"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76" name="Rectangle 3364"/>
                <p:cNvSpPr>
                  <a:spLocks noChangeAspect="1" noChangeArrowheads="1"/>
                </p:cNvSpPr>
                <p:nvPr/>
              </p:nvSpPr>
              <p:spPr bwMode="auto">
                <a:xfrm>
                  <a:off x="3813"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77" name="Rectangle 3365"/>
                <p:cNvSpPr>
                  <a:spLocks noChangeAspect="1" noChangeArrowheads="1"/>
                </p:cNvSpPr>
                <p:nvPr/>
              </p:nvSpPr>
              <p:spPr bwMode="auto">
                <a:xfrm>
                  <a:off x="3819"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78" name="Rectangle 3366"/>
                <p:cNvSpPr>
                  <a:spLocks noChangeAspect="1" noChangeArrowheads="1"/>
                </p:cNvSpPr>
                <p:nvPr/>
              </p:nvSpPr>
              <p:spPr bwMode="auto">
                <a:xfrm>
                  <a:off x="3824"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79" name="Rectangle 3367"/>
                <p:cNvSpPr>
                  <a:spLocks noChangeAspect="1" noChangeArrowheads="1"/>
                </p:cNvSpPr>
                <p:nvPr/>
              </p:nvSpPr>
              <p:spPr bwMode="auto">
                <a:xfrm>
                  <a:off x="3830"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80" name="Rectangle 3368"/>
                <p:cNvSpPr>
                  <a:spLocks noChangeAspect="1" noChangeArrowheads="1"/>
                </p:cNvSpPr>
                <p:nvPr/>
              </p:nvSpPr>
              <p:spPr bwMode="auto">
                <a:xfrm>
                  <a:off x="3836"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81" name="Rectangle 3369"/>
                <p:cNvSpPr>
                  <a:spLocks noChangeAspect="1" noChangeArrowheads="1"/>
                </p:cNvSpPr>
                <p:nvPr/>
              </p:nvSpPr>
              <p:spPr bwMode="auto">
                <a:xfrm>
                  <a:off x="3842" y="916"/>
                  <a:ext cx="14"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82" name="Rectangle 3370"/>
                <p:cNvSpPr>
                  <a:spLocks noChangeAspect="1" noChangeArrowheads="1"/>
                </p:cNvSpPr>
                <p:nvPr/>
              </p:nvSpPr>
              <p:spPr bwMode="auto">
                <a:xfrm>
                  <a:off x="3848" y="916"/>
                  <a:ext cx="14"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83" name="Rectangle 3371"/>
                <p:cNvSpPr>
                  <a:spLocks noChangeAspect="1" noChangeArrowheads="1"/>
                </p:cNvSpPr>
                <p:nvPr/>
              </p:nvSpPr>
              <p:spPr bwMode="auto">
                <a:xfrm>
                  <a:off x="3856"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84" name="Rectangle 3372"/>
                <p:cNvSpPr>
                  <a:spLocks noChangeAspect="1" noChangeArrowheads="1"/>
                </p:cNvSpPr>
                <p:nvPr/>
              </p:nvSpPr>
              <p:spPr bwMode="auto">
                <a:xfrm>
                  <a:off x="3862"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85" name="Rectangle 3373"/>
                <p:cNvSpPr>
                  <a:spLocks noChangeAspect="1" noChangeArrowheads="1"/>
                </p:cNvSpPr>
                <p:nvPr/>
              </p:nvSpPr>
              <p:spPr bwMode="auto">
                <a:xfrm>
                  <a:off x="3868"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86" name="Rectangle 3374"/>
                <p:cNvSpPr>
                  <a:spLocks noChangeAspect="1" noChangeArrowheads="1"/>
                </p:cNvSpPr>
                <p:nvPr/>
              </p:nvSpPr>
              <p:spPr bwMode="auto">
                <a:xfrm>
                  <a:off x="3874"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87" name="Rectangle 3375"/>
                <p:cNvSpPr>
                  <a:spLocks noChangeAspect="1" noChangeArrowheads="1"/>
                </p:cNvSpPr>
                <p:nvPr/>
              </p:nvSpPr>
              <p:spPr bwMode="auto">
                <a:xfrm>
                  <a:off x="3880"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88" name="Rectangle 3376"/>
                <p:cNvSpPr>
                  <a:spLocks noChangeAspect="1" noChangeArrowheads="1"/>
                </p:cNvSpPr>
                <p:nvPr/>
              </p:nvSpPr>
              <p:spPr bwMode="auto">
                <a:xfrm>
                  <a:off x="3886"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89" name="Rectangle 3377"/>
                <p:cNvSpPr>
                  <a:spLocks noChangeAspect="1" noChangeArrowheads="1"/>
                </p:cNvSpPr>
                <p:nvPr/>
              </p:nvSpPr>
              <p:spPr bwMode="auto">
                <a:xfrm>
                  <a:off x="3892"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90" name="Rectangle 3378"/>
                <p:cNvSpPr>
                  <a:spLocks noChangeAspect="1" noChangeArrowheads="1"/>
                </p:cNvSpPr>
                <p:nvPr/>
              </p:nvSpPr>
              <p:spPr bwMode="auto">
                <a:xfrm>
                  <a:off x="3898"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91" name="Rectangle 3379"/>
                <p:cNvSpPr>
                  <a:spLocks noChangeAspect="1" noChangeArrowheads="1"/>
                </p:cNvSpPr>
                <p:nvPr/>
              </p:nvSpPr>
              <p:spPr bwMode="auto">
                <a:xfrm>
                  <a:off x="3904"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92" name="Rectangle 3380"/>
                <p:cNvSpPr>
                  <a:spLocks noChangeAspect="1" noChangeArrowheads="1"/>
                </p:cNvSpPr>
                <p:nvPr/>
              </p:nvSpPr>
              <p:spPr bwMode="auto">
                <a:xfrm>
                  <a:off x="3910"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93" name="Rectangle 3381"/>
                <p:cNvSpPr>
                  <a:spLocks noChangeAspect="1" noChangeArrowheads="1"/>
                </p:cNvSpPr>
                <p:nvPr/>
              </p:nvSpPr>
              <p:spPr bwMode="auto">
                <a:xfrm>
                  <a:off x="3916"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94" name="Rectangle 3382"/>
                <p:cNvSpPr>
                  <a:spLocks noChangeAspect="1" noChangeArrowheads="1"/>
                </p:cNvSpPr>
                <p:nvPr/>
              </p:nvSpPr>
              <p:spPr bwMode="auto">
                <a:xfrm>
                  <a:off x="3922" y="916"/>
                  <a:ext cx="1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95" name="Rectangle 3383"/>
                <p:cNvSpPr>
                  <a:spLocks noChangeAspect="1" noChangeArrowheads="1"/>
                </p:cNvSpPr>
                <p:nvPr/>
              </p:nvSpPr>
              <p:spPr bwMode="auto">
                <a:xfrm>
                  <a:off x="3934" y="916"/>
                  <a:ext cx="2" cy="244"/>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896" name="Rectangle 3384"/>
                <p:cNvSpPr>
                  <a:spLocks noChangeAspect="1" noChangeArrowheads="1"/>
                </p:cNvSpPr>
                <p:nvPr/>
              </p:nvSpPr>
              <p:spPr bwMode="auto">
                <a:xfrm>
                  <a:off x="3629" y="916"/>
                  <a:ext cx="305" cy="244"/>
                </a:xfrm>
                <a:prstGeom prst="rect">
                  <a:avLst/>
                </a:prstGeom>
                <a:gradFill rotWithShape="0">
                  <a:gsLst>
                    <a:gs pos="0">
                      <a:schemeClr val="hlink"/>
                    </a:gs>
                    <a:gs pos="50000">
                      <a:schemeClr val="hlink">
                        <a:gamma/>
                        <a:tint val="30196"/>
                        <a:invGamma/>
                      </a:schemeClr>
                    </a:gs>
                    <a:gs pos="100000">
                      <a:schemeClr val="hlink"/>
                    </a:gs>
                  </a:gsLst>
                  <a:lin ang="0" scaled="1"/>
                </a:gradFill>
                <a:ln w="1588">
                  <a:solidFill>
                    <a:srgbClr val="1F1A17"/>
                  </a:solidFill>
                  <a:miter lim="800000"/>
                  <a:headEnd/>
                  <a:tailEnd/>
                </a:ln>
              </p:spPr>
              <p:txBody>
                <a:bodyPr/>
                <a:lstStyle/>
                <a:p>
                  <a:pPr>
                    <a:defRPr/>
                  </a:pPr>
                  <a:endParaRPr lang="en-US"/>
                </a:p>
              </p:txBody>
            </p:sp>
            <p:sp>
              <p:nvSpPr>
                <p:cNvPr id="388239" name="Line 3385"/>
                <p:cNvSpPr>
                  <a:spLocks noChangeAspect="1" noChangeShapeType="1"/>
                </p:cNvSpPr>
                <p:nvPr/>
              </p:nvSpPr>
              <p:spPr bwMode="auto">
                <a:xfrm flipV="1">
                  <a:off x="3629" y="916"/>
                  <a:ext cx="306" cy="242"/>
                </a:xfrm>
                <a:prstGeom prst="line">
                  <a:avLst/>
                </a:prstGeom>
                <a:noFill/>
                <a:ln w="1588">
                  <a:solidFill>
                    <a:srgbClr val="1F1A17"/>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388133" name="Group 3386"/>
              <p:cNvGrpSpPr>
                <a:grpSpLocks noChangeAspect="1"/>
              </p:cNvGrpSpPr>
              <p:nvPr/>
            </p:nvGrpSpPr>
            <p:grpSpPr bwMode="auto">
              <a:xfrm>
                <a:off x="3506" y="1459"/>
                <a:ext cx="175" cy="165"/>
                <a:chOff x="3629" y="916"/>
                <a:chExt cx="307" cy="242"/>
              </a:xfrm>
            </p:grpSpPr>
            <p:sp>
              <p:nvSpPr>
                <p:cNvPr id="67899" name="Rectangle 3387"/>
                <p:cNvSpPr>
                  <a:spLocks noChangeAspect="1" noChangeArrowheads="1"/>
                </p:cNvSpPr>
                <p:nvPr/>
              </p:nvSpPr>
              <p:spPr bwMode="auto">
                <a:xfrm>
                  <a:off x="3629" y="918"/>
                  <a:ext cx="6"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00" name="Rectangle 3388"/>
                <p:cNvSpPr>
                  <a:spLocks noChangeAspect="1" noChangeArrowheads="1"/>
                </p:cNvSpPr>
                <p:nvPr/>
              </p:nvSpPr>
              <p:spPr bwMode="auto">
                <a:xfrm>
                  <a:off x="3629"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01" name="Rectangle 3389"/>
                <p:cNvSpPr>
                  <a:spLocks noChangeAspect="1" noChangeArrowheads="1"/>
                </p:cNvSpPr>
                <p:nvPr/>
              </p:nvSpPr>
              <p:spPr bwMode="auto">
                <a:xfrm>
                  <a:off x="3635"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02" name="Rectangle 3390"/>
                <p:cNvSpPr>
                  <a:spLocks noChangeAspect="1" noChangeArrowheads="1"/>
                </p:cNvSpPr>
                <p:nvPr/>
              </p:nvSpPr>
              <p:spPr bwMode="auto">
                <a:xfrm>
                  <a:off x="3641"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03" name="Rectangle 3391"/>
                <p:cNvSpPr>
                  <a:spLocks noChangeAspect="1" noChangeArrowheads="1"/>
                </p:cNvSpPr>
                <p:nvPr/>
              </p:nvSpPr>
              <p:spPr bwMode="auto">
                <a:xfrm>
                  <a:off x="3647"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04" name="Rectangle 3392"/>
                <p:cNvSpPr>
                  <a:spLocks noChangeAspect="1" noChangeArrowheads="1"/>
                </p:cNvSpPr>
                <p:nvPr/>
              </p:nvSpPr>
              <p:spPr bwMode="auto">
                <a:xfrm>
                  <a:off x="3653"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05" name="Rectangle 3393"/>
                <p:cNvSpPr>
                  <a:spLocks noChangeAspect="1" noChangeArrowheads="1"/>
                </p:cNvSpPr>
                <p:nvPr/>
              </p:nvSpPr>
              <p:spPr bwMode="auto">
                <a:xfrm>
                  <a:off x="3659"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06" name="Rectangle 3394"/>
                <p:cNvSpPr>
                  <a:spLocks noChangeAspect="1" noChangeArrowheads="1"/>
                </p:cNvSpPr>
                <p:nvPr/>
              </p:nvSpPr>
              <p:spPr bwMode="auto">
                <a:xfrm>
                  <a:off x="3665" y="918"/>
                  <a:ext cx="14"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07" name="Rectangle 3395"/>
                <p:cNvSpPr>
                  <a:spLocks noChangeAspect="1" noChangeArrowheads="1"/>
                </p:cNvSpPr>
                <p:nvPr/>
              </p:nvSpPr>
              <p:spPr bwMode="auto">
                <a:xfrm>
                  <a:off x="3671" y="918"/>
                  <a:ext cx="14"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08" name="Rectangle 3396"/>
                <p:cNvSpPr>
                  <a:spLocks noChangeAspect="1" noChangeArrowheads="1"/>
                </p:cNvSpPr>
                <p:nvPr/>
              </p:nvSpPr>
              <p:spPr bwMode="auto">
                <a:xfrm>
                  <a:off x="3679"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09" name="Rectangle 3397"/>
                <p:cNvSpPr>
                  <a:spLocks noChangeAspect="1" noChangeArrowheads="1"/>
                </p:cNvSpPr>
                <p:nvPr/>
              </p:nvSpPr>
              <p:spPr bwMode="auto">
                <a:xfrm>
                  <a:off x="3685"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10" name="Rectangle 3398"/>
                <p:cNvSpPr>
                  <a:spLocks noChangeAspect="1" noChangeArrowheads="1"/>
                </p:cNvSpPr>
                <p:nvPr/>
              </p:nvSpPr>
              <p:spPr bwMode="auto">
                <a:xfrm>
                  <a:off x="3691"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11" name="Rectangle 3399"/>
                <p:cNvSpPr>
                  <a:spLocks noChangeAspect="1" noChangeArrowheads="1"/>
                </p:cNvSpPr>
                <p:nvPr/>
              </p:nvSpPr>
              <p:spPr bwMode="auto">
                <a:xfrm>
                  <a:off x="3697"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12" name="Rectangle 3400"/>
                <p:cNvSpPr>
                  <a:spLocks noChangeAspect="1" noChangeArrowheads="1"/>
                </p:cNvSpPr>
                <p:nvPr/>
              </p:nvSpPr>
              <p:spPr bwMode="auto">
                <a:xfrm>
                  <a:off x="3703"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13" name="Rectangle 3401"/>
                <p:cNvSpPr>
                  <a:spLocks noChangeAspect="1" noChangeArrowheads="1"/>
                </p:cNvSpPr>
                <p:nvPr/>
              </p:nvSpPr>
              <p:spPr bwMode="auto">
                <a:xfrm>
                  <a:off x="3709"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14" name="Rectangle 3402"/>
                <p:cNvSpPr>
                  <a:spLocks noChangeAspect="1" noChangeArrowheads="1"/>
                </p:cNvSpPr>
                <p:nvPr/>
              </p:nvSpPr>
              <p:spPr bwMode="auto">
                <a:xfrm>
                  <a:off x="3715"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15" name="Rectangle 3403"/>
                <p:cNvSpPr>
                  <a:spLocks noChangeAspect="1" noChangeArrowheads="1"/>
                </p:cNvSpPr>
                <p:nvPr/>
              </p:nvSpPr>
              <p:spPr bwMode="auto">
                <a:xfrm>
                  <a:off x="3721"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16" name="Rectangle 3404"/>
                <p:cNvSpPr>
                  <a:spLocks noChangeAspect="1" noChangeArrowheads="1"/>
                </p:cNvSpPr>
                <p:nvPr/>
              </p:nvSpPr>
              <p:spPr bwMode="auto">
                <a:xfrm>
                  <a:off x="3727"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17" name="Rectangle 3405"/>
                <p:cNvSpPr>
                  <a:spLocks noChangeAspect="1" noChangeArrowheads="1"/>
                </p:cNvSpPr>
                <p:nvPr/>
              </p:nvSpPr>
              <p:spPr bwMode="auto">
                <a:xfrm>
                  <a:off x="3733"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18" name="Rectangle 3406"/>
                <p:cNvSpPr>
                  <a:spLocks noChangeAspect="1" noChangeArrowheads="1"/>
                </p:cNvSpPr>
                <p:nvPr/>
              </p:nvSpPr>
              <p:spPr bwMode="auto">
                <a:xfrm>
                  <a:off x="3739"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19" name="Rectangle 3407"/>
                <p:cNvSpPr>
                  <a:spLocks noChangeAspect="1" noChangeArrowheads="1"/>
                </p:cNvSpPr>
                <p:nvPr/>
              </p:nvSpPr>
              <p:spPr bwMode="auto">
                <a:xfrm>
                  <a:off x="3744"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20" name="Rectangle 3408"/>
                <p:cNvSpPr>
                  <a:spLocks noChangeAspect="1" noChangeArrowheads="1"/>
                </p:cNvSpPr>
                <p:nvPr/>
              </p:nvSpPr>
              <p:spPr bwMode="auto">
                <a:xfrm>
                  <a:off x="3750"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21" name="Rectangle 3409"/>
                <p:cNvSpPr>
                  <a:spLocks noChangeAspect="1" noChangeArrowheads="1"/>
                </p:cNvSpPr>
                <p:nvPr/>
              </p:nvSpPr>
              <p:spPr bwMode="auto">
                <a:xfrm>
                  <a:off x="3756" y="918"/>
                  <a:ext cx="14"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22" name="Rectangle 3410"/>
                <p:cNvSpPr>
                  <a:spLocks noChangeAspect="1" noChangeArrowheads="1"/>
                </p:cNvSpPr>
                <p:nvPr/>
              </p:nvSpPr>
              <p:spPr bwMode="auto">
                <a:xfrm>
                  <a:off x="3762" y="918"/>
                  <a:ext cx="14"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23" name="Rectangle 3411"/>
                <p:cNvSpPr>
                  <a:spLocks noChangeAspect="1" noChangeArrowheads="1"/>
                </p:cNvSpPr>
                <p:nvPr/>
              </p:nvSpPr>
              <p:spPr bwMode="auto">
                <a:xfrm>
                  <a:off x="3770"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24" name="Rectangle 3412"/>
                <p:cNvSpPr>
                  <a:spLocks noChangeAspect="1" noChangeArrowheads="1"/>
                </p:cNvSpPr>
                <p:nvPr/>
              </p:nvSpPr>
              <p:spPr bwMode="auto">
                <a:xfrm>
                  <a:off x="3776"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25" name="Rectangle 3413"/>
                <p:cNvSpPr>
                  <a:spLocks noChangeAspect="1" noChangeArrowheads="1"/>
                </p:cNvSpPr>
                <p:nvPr/>
              </p:nvSpPr>
              <p:spPr bwMode="auto">
                <a:xfrm>
                  <a:off x="3782"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26" name="Rectangle 3414"/>
                <p:cNvSpPr>
                  <a:spLocks noChangeAspect="1" noChangeArrowheads="1"/>
                </p:cNvSpPr>
                <p:nvPr/>
              </p:nvSpPr>
              <p:spPr bwMode="auto">
                <a:xfrm>
                  <a:off x="3788"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27" name="Rectangle 3415"/>
                <p:cNvSpPr>
                  <a:spLocks noChangeAspect="1" noChangeArrowheads="1"/>
                </p:cNvSpPr>
                <p:nvPr/>
              </p:nvSpPr>
              <p:spPr bwMode="auto">
                <a:xfrm>
                  <a:off x="3794"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28" name="Rectangle 3416"/>
                <p:cNvSpPr>
                  <a:spLocks noChangeAspect="1" noChangeArrowheads="1"/>
                </p:cNvSpPr>
                <p:nvPr/>
              </p:nvSpPr>
              <p:spPr bwMode="auto">
                <a:xfrm>
                  <a:off x="3800"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29" name="Rectangle 3417"/>
                <p:cNvSpPr>
                  <a:spLocks noChangeAspect="1" noChangeArrowheads="1"/>
                </p:cNvSpPr>
                <p:nvPr/>
              </p:nvSpPr>
              <p:spPr bwMode="auto">
                <a:xfrm>
                  <a:off x="3806"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30" name="Rectangle 3418"/>
                <p:cNvSpPr>
                  <a:spLocks noChangeAspect="1" noChangeArrowheads="1"/>
                </p:cNvSpPr>
                <p:nvPr/>
              </p:nvSpPr>
              <p:spPr bwMode="auto">
                <a:xfrm>
                  <a:off x="3812"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31" name="Rectangle 3419"/>
                <p:cNvSpPr>
                  <a:spLocks noChangeAspect="1" noChangeArrowheads="1"/>
                </p:cNvSpPr>
                <p:nvPr/>
              </p:nvSpPr>
              <p:spPr bwMode="auto">
                <a:xfrm>
                  <a:off x="3818"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32" name="Rectangle 3420"/>
                <p:cNvSpPr>
                  <a:spLocks noChangeAspect="1" noChangeArrowheads="1"/>
                </p:cNvSpPr>
                <p:nvPr/>
              </p:nvSpPr>
              <p:spPr bwMode="auto">
                <a:xfrm>
                  <a:off x="3824"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33" name="Rectangle 3421"/>
                <p:cNvSpPr>
                  <a:spLocks noChangeAspect="1" noChangeArrowheads="1"/>
                </p:cNvSpPr>
                <p:nvPr/>
              </p:nvSpPr>
              <p:spPr bwMode="auto">
                <a:xfrm>
                  <a:off x="3830"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34" name="Rectangle 3422"/>
                <p:cNvSpPr>
                  <a:spLocks noChangeAspect="1" noChangeArrowheads="1"/>
                </p:cNvSpPr>
                <p:nvPr/>
              </p:nvSpPr>
              <p:spPr bwMode="auto">
                <a:xfrm>
                  <a:off x="3836"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35" name="Rectangle 3423"/>
                <p:cNvSpPr>
                  <a:spLocks noChangeAspect="1" noChangeArrowheads="1"/>
                </p:cNvSpPr>
                <p:nvPr/>
              </p:nvSpPr>
              <p:spPr bwMode="auto">
                <a:xfrm>
                  <a:off x="3842" y="918"/>
                  <a:ext cx="14"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36" name="Rectangle 3424"/>
                <p:cNvSpPr>
                  <a:spLocks noChangeAspect="1" noChangeArrowheads="1"/>
                </p:cNvSpPr>
                <p:nvPr/>
              </p:nvSpPr>
              <p:spPr bwMode="auto">
                <a:xfrm>
                  <a:off x="3848" y="918"/>
                  <a:ext cx="14"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37" name="Rectangle 3425"/>
                <p:cNvSpPr>
                  <a:spLocks noChangeAspect="1" noChangeArrowheads="1"/>
                </p:cNvSpPr>
                <p:nvPr/>
              </p:nvSpPr>
              <p:spPr bwMode="auto">
                <a:xfrm>
                  <a:off x="3856"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38" name="Rectangle 3426"/>
                <p:cNvSpPr>
                  <a:spLocks noChangeAspect="1" noChangeArrowheads="1"/>
                </p:cNvSpPr>
                <p:nvPr/>
              </p:nvSpPr>
              <p:spPr bwMode="auto">
                <a:xfrm>
                  <a:off x="3862"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39" name="Rectangle 3427"/>
                <p:cNvSpPr>
                  <a:spLocks noChangeAspect="1" noChangeArrowheads="1"/>
                </p:cNvSpPr>
                <p:nvPr/>
              </p:nvSpPr>
              <p:spPr bwMode="auto">
                <a:xfrm>
                  <a:off x="3868"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40" name="Rectangle 3428"/>
                <p:cNvSpPr>
                  <a:spLocks noChangeAspect="1" noChangeArrowheads="1"/>
                </p:cNvSpPr>
                <p:nvPr/>
              </p:nvSpPr>
              <p:spPr bwMode="auto">
                <a:xfrm>
                  <a:off x="3874"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41" name="Rectangle 3429"/>
                <p:cNvSpPr>
                  <a:spLocks noChangeAspect="1" noChangeArrowheads="1"/>
                </p:cNvSpPr>
                <p:nvPr/>
              </p:nvSpPr>
              <p:spPr bwMode="auto">
                <a:xfrm>
                  <a:off x="3880"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42" name="Rectangle 3430"/>
                <p:cNvSpPr>
                  <a:spLocks noChangeAspect="1" noChangeArrowheads="1"/>
                </p:cNvSpPr>
                <p:nvPr/>
              </p:nvSpPr>
              <p:spPr bwMode="auto">
                <a:xfrm>
                  <a:off x="3886"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43" name="Rectangle 3431"/>
                <p:cNvSpPr>
                  <a:spLocks noChangeAspect="1" noChangeArrowheads="1"/>
                </p:cNvSpPr>
                <p:nvPr/>
              </p:nvSpPr>
              <p:spPr bwMode="auto">
                <a:xfrm>
                  <a:off x="3892"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44" name="Rectangle 3432"/>
                <p:cNvSpPr>
                  <a:spLocks noChangeAspect="1" noChangeArrowheads="1"/>
                </p:cNvSpPr>
                <p:nvPr/>
              </p:nvSpPr>
              <p:spPr bwMode="auto">
                <a:xfrm>
                  <a:off x="3898"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45" name="Rectangle 3433"/>
                <p:cNvSpPr>
                  <a:spLocks noChangeAspect="1" noChangeArrowheads="1"/>
                </p:cNvSpPr>
                <p:nvPr/>
              </p:nvSpPr>
              <p:spPr bwMode="auto">
                <a:xfrm>
                  <a:off x="3904"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46" name="Rectangle 3434"/>
                <p:cNvSpPr>
                  <a:spLocks noChangeAspect="1" noChangeArrowheads="1"/>
                </p:cNvSpPr>
                <p:nvPr/>
              </p:nvSpPr>
              <p:spPr bwMode="auto">
                <a:xfrm>
                  <a:off x="3910"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47" name="Rectangle 3435"/>
                <p:cNvSpPr>
                  <a:spLocks noChangeAspect="1" noChangeArrowheads="1"/>
                </p:cNvSpPr>
                <p:nvPr/>
              </p:nvSpPr>
              <p:spPr bwMode="auto">
                <a:xfrm>
                  <a:off x="3916"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48" name="Rectangle 3436"/>
                <p:cNvSpPr>
                  <a:spLocks noChangeAspect="1" noChangeArrowheads="1"/>
                </p:cNvSpPr>
                <p:nvPr/>
              </p:nvSpPr>
              <p:spPr bwMode="auto">
                <a:xfrm>
                  <a:off x="3922" y="918"/>
                  <a:ext cx="1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49" name="Rectangle 3437"/>
                <p:cNvSpPr>
                  <a:spLocks noChangeAspect="1" noChangeArrowheads="1"/>
                </p:cNvSpPr>
                <p:nvPr/>
              </p:nvSpPr>
              <p:spPr bwMode="auto">
                <a:xfrm>
                  <a:off x="3934" y="918"/>
                  <a:ext cx="2" cy="240"/>
                </a:xfrm>
                <a:prstGeom prst="rect">
                  <a:avLst/>
                </a:pr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7950" name="Rectangle 3438"/>
                <p:cNvSpPr>
                  <a:spLocks noChangeAspect="1" noChangeArrowheads="1"/>
                </p:cNvSpPr>
                <p:nvPr/>
              </p:nvSpPr>
              <p:spPr bwMode="auto">
                <a:xfrm>
                  <a:off x="3629" y="918"/>
                  <a:ext cx="305" cy="240"/>
                </a:xfrm>
                <a:prstGeom prst="rect">
                  <a:avLst/>
                </a:prstGeom>
                <a:gradFill rotWithShape="0">
                  <a:gsLst>
                    <a:gs pos="0">
                      <a:schemeClr val="hlink"/>
                    </a:gs>
                    <a:gs pos="50000">
                      <a:schemeClr val="hlink">
                        <a:gamma/>
                        <a:tint val="30196"/>
                        <a:invGamma/>
                      </a:schemeClr>
                    </a:gs>
                    <a:gs pos="100000">
                      <a:schemeClr val="hlink"/>
                    </a:gs>
                  </a:gsLst>
                  <a:lin ang="0" scaled="1"/>
                </a:gradFill>
                <a:ln w="1588">
                  <a:solidFill>
                    <a:srgbClr val="1F1A17"/>
                  </a:solidFill>
                  <a:miter lim="800000"/>
                  <a:headEnd/>
                  <a:tailEnd/>
                </a:ln>
              </p:spPr>
              <p:txBody>
                <a:bodyPr/>
                <a:lstStyle/>
                <a:p>
                  <a:pPr>
                    <a:defRPr/>
                  </a:pPr>
                  <a:endParaRPr lang="en-US"/>
                </a:p>
              </p:txBody>
            </p:sp>
            <p:sp>
              <p:nvSpPr>
                <p:cNvPr id="388186" name="Line 3439"/>
                <p:cNvSpPr>
                  <a:spLocks noChangeAspect="1" noChangeShapeType="1"/>
                </p:cNvSpPr>
                <p:nvPr/>
              </p:nvSpPr>
              <p:spPr bwMode="auto">
                <a:xfrm flipV="1">
                  <a:off x="3629" y="916"/>
                  <a:ext cx="306" cy="242"/>
                </a:xfrm>
                <a:prstGeom prst="line">
                  <a:avLst/>
                </a:prstGeom>
                <a:noFill/>
                <a:ln w="1588">
                  <a:solidFill>
                    <a:srgbClr val="1F1A17"/>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386458" name="Group 3440"/>
            <p:cNvGrpSpPr>
              <a:grpSpLocks noChangeAspect="1"/>
            </p:cNvGrpSpPr>
            <p:nvPr/>
          </p:nvGrpSpPr>
          <p:grpSpPr bwMode="auto">
            <a:xfrm>
              <a:off x="3461" y="1293"/>
              <a:ext cx="274" cy="177"/>
              <a:chOff x="5208" y="1004"/>
              <a:chExt cx="376" cy="258"/>
            </a:xfrm>
          </p:grpSpPr>
          <p:sp>
            <p:nvSpPr>
              <p:cNvPr id="387977" name="Freeform 3441"/>
              <p:cNvSpPr>
                <a:spLocks noChangeAspect="1"/>
              </p:cNvSpPr>
              <p:nvPr/>
            </p:nvSpPr>
            <p:spPr bwMode="auto">
              <a:xfrm>
                <a:off x="5237" y="1117"/>
                <a:ext cx="5" cy="52"/>
              </a:xfrm>
              <a:custGeom>
                <a:avLst/>
                <a:gdLst>
                  <a:gd name="T0" fmla="*/ 0 w 16"/>
                  <a:gd name="T1" fmla="*/ 0 h 158"/>
                  <a:gd name="T2" fmla="*/ 0 w 16"/>
                  <a:gd name="T3" fmla="*/ 0 h 158"/>
                  <a:gd name="T4" fmla="*/ 0 w 16"/>
                  <a:gd name="T5" fmla="*/ 0 h 158"/>
                  <a:gd name="T6" fmla="*/ 0 w 16"/>
                  <a:gd name="T7" fmla="*/ 0 h 158"/>
                  <a:gd name="T8" fmla="*/ 0 w 16"/>
                  <a:gd name="T9" fmla="*/ 0 h 158"/>
                  <a:gd name="T10" fmla="*/ 0 w 16"/>
                  <a:gd name="T11" fmla="*/ 0 h 158"/>
                  <a:gd name="T12" fmla="*/ 0 w 16"/>
                  <a:gd name="T13" fmla="*/ 0 h 158"/>
                  <a:gd name="T14" fmla="*/ 0 w 16"/>
                  <a:gd name="T15" fmla="*/ 0 h 158"/>
                  <a:gd name="T16" fmla="*/ 0 w 16"/>
                  <a:gd name="T17" fmla="*/ 0 h 158"/>
                  <a:gd name="T18" fmla="*/ 0 w 16"/>
                  <a:gd name="T19" fmla="*/ 0 h 158"/>
                  <a:gd name="T20" fmla="*/ 0 w 16"/>
                  <a:gd name="T21" fmla="*/ 0 h 158"/>
                  <a:gd name="T22" fmla="*/ 0 w 16"/>
                  <a:gd name="T23" fmla="*/ 0 h 158"/>
                  <a:gd name="T24" fmla="*/ 0 w 16"/>
                  <a:gd name="T25" fmla="*/ 0 h 158"/>
                  <a:gd name="T26" fmla="*/ 0 w 16"/>
                  <a:gd name="T27" fmla="*/ 0 h 158"/>
                  <a:gd name="T28" fmla="*/ 0 w 16"/>
                  <a:gd name="T29" fmla="*/ 0 h 158"/>
                  <a:gd name="T30" fmla="*/ 0 w 16"/>
                  <a:gd name="T31" fmla="*/ 0 h 158"/>
                  <a:gd name="T32" fmla="*/ 0 w 16"/>
                  <a:gd name="T33" fmla="*/ 0 h 158"/>
                  <a:gd name="T34" fmla="*/ 0 w 16"/>
                  <a:gd name="T35" fmla="*/ 0 h 158"/>
                  <a:gd name="T36" fmla="*/ 0 w 16"/>
                  <a:gd name="T37" fmla="*/ 0 h 158"/>
                  <a:gd name="T38" fmla="*/ 0 w 16"/>
                  <a:gd name="T39" fmla="*/ 0 h 1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6" h="158">
                    <a:moveTo>
                      <a:pt x="0" y="123"/>
                    </a:moveTo>
                    <a:lnTo>
                      <a:pt x="0" y="120"/>
                    </a:lnTo>
                    <a:lnTo>
                      <a:pt x="0" y="105"/>
                    </a:lnTo>
                    <a:lnTo>
                      <a:pt x="1" y="89"/>
                    </a:lnTo>
                    <a:lnTo>
                      <a:pt x="2" y="74"/>
                    </a:lnTo>
                    <a:lnTo>
                      <a:pt x="3" y="60"/>
                    </a:lnTo>
                    <a:lnTo>
                      <a:pt x="6" y="44"/>
                    </a:lnTo>
                    <a:lnTo>
                      <a:pt x="8" y="29"/>
                    </a:lnTo>
                    <a:lnTo>
                      <a:pt x="12" y="15"/>
                    </a:lnTo>
                    <a:lnTo>
                      <a:pt x="16" y="0"/>
                    </a:lnTo>
                    <a:lnTo>
                      <a:pt x="16" y="158"/>
                    </a:lnTo>
                    <a:lnTo>
                      <a:pt x="1" y="158"/>
                    </a:lnTo>
                    <a:lnTo>
                      <a:pt x="1" y="154"/>
                    </a:lnTo>
                    <a:lnTo>
                      <a:pt x="0" y="150"/>
                    </a:lnTo>
                    <a:lnTo>
                      <a:pt x="0" y="146"/>
                    </a:lnTo>
                    <a:lnTo>
                      <a:pt x="0" y="141"/>
                    </a:lnTo>
                    <a:lnTo>
                      <a:pt x="0" y="137"/>
                    </a:lnTo>
                    <a:lnTo>
                      <a:pt x="0" y="133"/>
                    </a:lnTo>
                    <a:lnTo>
                      <a:pt x="0" y="128"/>
                    </a:lnTo>
                    <a:lnTo>
                      <a:pt x="0" y="12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78" name="Freeform 3442"/>
              <p:cNvSpPr>
                <a:spLocks noChangeAspect="1"/>
              </p:cNvSpPr>
              <p:nvPr/>
            </p:nvSpPr>
            <p:spPr bwMode="auto">
              <a:xfrm>
                <a:off x="5237" y="1100"/>
                <a:ext cx="10" cy="69"/>
              </a:xfrm>
              <a:custGeom>
                <a:avLst/>
                <a:gdLst>
                  <a:gd name="T0" fmla="*/ 0 w 32"/>
                  <a:gd name="T1" fmla="*/ 0 h 207"/>
                  <a:gd name="T2" fmla="*/ 0 w 32"/>
                  <a:gd name="T3" fmla="*/ 0 h 207"/>
                  <a:gd name="T4" fmla="*/ 0 w 32"/>
                  <a:gd name="T5" fmla="*/ 0 h 207"/>
                  <a:gd name="T6" fmla="*/ 0 w 32"/>
                  <a:gd name="T7" fmla="*/ 0 h 207"/>
                  <a:gd name="T8" fmla="*/ 0 w 32"/>
                  <a:gd name="T9" fmla="*/ 0 h 207"/>
                  <a:gd name="T10" fmla="*/ 0 w 32"/>
                  <a:gd name="T11" fmla="*/ 0 h 207"/>
                  <a:gd name="T12" fmla="*/ 0 w 32"/>
                  <a:gd name="T13" fmla="*/ 0 h 207"/>
                  <a:gd name="T14" fmla="*/ 0 w 32"/>
                  <a:gd name="T15" fmla="*/ 0 h 207"/>
                  <a:gd name="T16" fmla="*/ 0 w 32"/>
                  <a:gd name="T17" fmla="*/ 0 h 207"/>
                  <a:gd name="T18" fmla="*/ 0 w 32"/>
                  <a:gd name="T19" fmla="*/ 0 h 207"/>
                  <a:gd name="T20" fmla="*/ 0 w 32"/>
                  <a:gd name="T21" fmla="*/ 0 h 207"/>
                  <a:gd name="T22" fmla="*/ 0 w 32"/>
                  <a:gd name="T23" fmla="*/ 0 h 207"/>
                  <a:gd name="T24" fmla="*/ 0 w 32"/>
                  <a:gd name="T25" fmla="*/ 0 h 207"/>
                  <a:gd name="T26" fmla="*/ 0 w 32"/>
                  <a:gd name="T27" fmla="*/ 0 h 207"/>
                  <a:gd name="T28" fmla="*/ 0 w 32"/>
                  <a:gd name="T29" fmla="*/ 0 h 207"/>
                  <a:gd name="T30" fmla="*/ 0 w 32"/>
                  <a:gd name="T31" fmla="*/ 0 h 207"/>
                  <a:gd name="T32" fmla="*/ 0 w 32"/>
                  <a:gd name="T33" fmla="*/ 0 h 207"/>
                  <a:gd name="T34" fmla="*/ 0 w 32"/>
                  <a:gd name="T35" fmla="*/ 0 h 207"/>
                  <a:gd name="T36" fmla="*/ 0 w 32"/>
                  <a:gd name="T37" fmla="*/ 0 h 207"/>
                  <a:gd name="T38" fmla="*/ 0 w 32"/>
                  <a:gd name="T39" fmla="*/ 0 h 2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 h="207">
                    <a:moveTo>
                      <a:pt x="0" y="172"/>
                    </a:moveTo>
                    <a:lnTo>
                      <a:pt x="0" y="169"/>
                    </a:lnTo>
                    <a:lnTo>
                      <a:pt x="0" y="148"/>
                    </a:lnTo>
                    <a:lnTo>
                      <a:pt x="2" y="126"/>
                    </a:lnTo>
                    <a:lnTo>
                      <a:pt x="4" y="103"/>
                    </a:lnTo>
                    <a:lnTo>
                      <a:pt x="7" y="82"/>
                    </a:lnTo>
                    <a:lnTo>
                      <a:pt x="13" y="62"/>
                    </a:lnTo>
                    <a:lnTo>
                      <a:pt x="18" y="40"/>
                    </a:lnTo>
                    <a:lnTo>
                      <a:pt x="24" y="20"/>
                    </a:lnTo>
                    <a:lnTo>
                      <a:pt x="32" y="0"/>
                    </a:lnTo>
                    <a:lnTo>
                      <a:pt x="32" y="207"/>
                    </a:lnTo>
                    <a:lnTo>
                      <a:pt x="1" y="207"/>
                    </a:lnTo>
                    <a:lnTo>
                      <a:pt x="1" y="203"/>
                    </a:lnTo>
                    <a:lnTo>
                      <a:pt x="0" y="199"/>
                    </a:lnTo>
                    <a:lnTo>
                      <a:pt x="0" y="195"/>
                    </a:lnTo>
                    <a:lnTo>
                      <a:pt x="0" y="190"/>
                    </a:lnTo>
                    <a:lnTo>
                      <a:pt x="0" y="186"/>
                    </a:lnTo>
                    <a:lnTo>
                      <a:pt x="0" y="182"/>
                    </a:lnTo>
                    <a:lnTo>
                      <a:pt x="0" y="177"/>
                    </a:lnTo>
                    <a:lnTo>
                      <a:pt x="0" y="17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79" name="Freeform 3443"/>
              <p:cNvSpPr>
                <a:spLocks noChangeAspect="1"/>
              </p:cNvSpPr>
              <p:nvPr/>
            </p:nvSpPr>
            <p:spPr bwMode="auto">
              <a:xfrm>
                <a:off x="5242" y="1089"/>
                <a:ext cx="11" cy="80"/>
              </a:xfrm>
              <a:custGeom>
                <a:avLst/>
                <a:gdLst>
                  <a:gd name="T0" fmla="*/ 0 w 32"/>
                  <a:gd name="T1" fmla="*/ 0 h 242"/>
                  <a:gd name="T2" fmla="*/ 0 w 32"/>
                  <a:gd name="T3" fmla="*/ 0 h 242"/>
                  <a:gd name="T4" fmla="*/ 0 w 32"/>
                  <a:gd name="T5" fmla="*/ 0 h 242"/>
                  <a:gd name="T6" fmla="*/ 0 w 32"/>
                  <a:gd name="T7" fmla="*/ 0 h 242"/>
                  <a:gd name="T8" fmla="*/ 0 w 32"/>
                  <a:gd name="T9" fmla="*/ 0 h 242"/>
                  <a:gd name="T10" fmla="*/ 0 w 32"/>
                  <a:gd name="T11" fmla="*/ 0 h 242"/>
                  <a:gd name="T12" fmla="*/ 0 w 32"/>
                  <a:gd name="T13" fmla="*/ 0 h 242"/>
                  <a:gd name="T14" fmla="*/ 0 w 32"/>
                  <a:gd name="T15" fmla="*/ 0 h 242"/>
                  <a:gd name="T16" fmla="*/ 0 w 32"/>
                  <a:gd name="T17" fmla="*/ 0 h 242"/>
                  <a:gd name="T18" fmla="*/ 0 w 32"/>
                  <a:gd name="T19" fmla="*/ 0 h 242"/>
                  <a:gd name="T20" fmla="*/ 0 w 32"/>
                  <a:gd name="T21" fmla="*/ 0 h 242"/>
                  <a:gd name="T22" fmla="*/ 0 w 32"/>
                  <a:gd name="T23" fmla="*/ 0 h 2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42">
                    <a:moveTo>
                      <a:pt x="0" y="242"/>
                    </a:moveTo>
                    <a:lnTo>
                      <a:pt x="0" y="84"/>
                    </a:lnTo>
                    <a:lnTo>
                      <a:pt x="3" y="73"/>
                    </a:lnTo>
                    <a:lnTo>
                      <a:pt x="6" y="62"/>
                    </a:lnTo>
                    <a:lnTo>
                      <a:pt x="9" y="51"/>
                    </a:lnTo>
                    <a:lnTo>
                      <a:pt x="14" y="40"/>
                    </a:lnTo>
                    <a:lnTo>
                      <a:pt x="18" y="30"/>
                    </a:lnTo>
                    <a:lnTo>
                      <a:pt x="22" y="20"/>
                    </a:lnTo>
                    <a:lnTo>
                      <a:pt x="26" y="10"/>
                    </a:lnTo>
                    <a:lnTo>
                      <a:pt x="32" y="0"/>
                    </a:lnTo>
                    <a:lnTo>
                      <a:pt x="32" y="242"/>
                    </a:lnTo>
                    <a:lnTo>
                      <a:pt x="0" y="24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80" name="Freeform 3444"/>
              <p:cNvSpPr>
                <a:spLocks noChangeAspect="1"/>
              </p:cNvSpPr>
              <p:nvPr/>
            </p:nvSpPr>
            <p:spPr bwMode="auto">
              <a:xfrm>
                <a:off x="5247" y="1079"/>
                <a:ext cx="11" cy="90"/>
              </a:xfrm>
              <a:custGeom>
                <a:avLst/>
                <a:gdLst>
                  <a:gd name="T0" fmla="*/ 0 w 32"/>
                  <a:gd name="T1" fmla="*/ 0 h 272"/>
                  <a:gd name="T2" fmla="*/ 0 w 32"/>
                  <a:gd name="T3" fmla="*/ 0 h 272"/>
                  <a:gd name="T4" fmla="*/ 0 w 32"/>
                  <a:gd name="T5" fmla="*/ 0 h 272"/>
                  <a:gd name="T6" fmla="*/ 0 w 32"/>
                  <a:gd name="T7" fmla="*/ 0 h 272"/>
                  <a:gd name="T8" fmla="*/ 0 w 32"/>
                  <a:gd name="T9" fmla="*/ 0 h 272"/>
                  <a:gd name="T10" fmla="*/ 0 w 32"/>
                  <a:gd name="T11" fmla="*/ 0 h 272"/>
                  <a:gd name="T12" fmla="*/ 0 w 32"/>
                  <a:gd name="T13" fmla="*/ 0 h 272"/>
                  <a:gd name="T14" fmla="*/ 0 w 32"/>
                  <a:gd name="T15" fmla="*/ 0 h 272"/>
                  <a:gd name="T16" fmla="*/ 0 w 32"/>
                  <a:gd name="T17" fmla="*/ 0 h 272"/>
                  <a:gd name="T18" fmla="*/ 0 w 32"/>
                  <a:gd name="T19" fmla="*/ 0 h 272"/>
                  <a:gd name="T20" fmla="*/ 0 w 32"/>
                  <a:gd name="T21" fmla="*/ 0 h 272"/>
                  <a:gd name="T22" fmla="*/ 0 w 32"/>
                  <a:gd name="T23" fmla="*/ 0 h 2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72">
                    <a:moveTo>
                      <a:pt x="0" y="272"/>
                    </a:moveTo>
                    <a:lnTo>
                      <a:pt x="0" y="65"/>
                    </a:lnTo>
                    <a:lnTo>
                      <a:pt x="3" y="57"/>
                    </a:lnTo>
                    <a:lnTo>
                      <a:pt x="7" y="48"/>
                    </a:lnTo>
                    <a:lnTo>
                      <a:pt x="10" y="41"/>
                    </a:lnTo>
                    <a:lnTo>
                      <a:pt x="15" y="32"/>
                    </a:lnTo>
                    <a:lnTo>
                      <a:pt x="19" y="24"/>
                    </a:lnTo>
                    <a:lnTo>
                      <a:pt x="23" y="16"/>
                    </a:lnTo>
                    <a:lnTo>
                      <a:pt x="28" y="8"/>
                    </a:lnTo>
                    <a:lnTo>
                      <a:pt x="32" y="0"/>
                    </a:lnTo>
                    <a:lnTo>
                      <a:pt x="32" y="272"/>
                    </a:lnTo>
                    <a:lnTo>
                      <a:pt x="0" y="27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81" name="Freeform 3445"/>
              <p:cNvSpPr>
                <a:spLocks noChangeAspect="1"/>
              </p:cNvSpPr>
              <p:nvPr/>
            </p:nvSpPr>
            <p:spPr bwMode="auto">
              <a:xfrm>
                <a:off x="5253" y="1070"/>
                <a:ext cx="10" cy="99"/>
              </a:xfrm>
              <a:custGeom>
                <a:avLst/>
                <a:gdLst>
                  <a:gd name="T0" fmla="*/ 0 w 32"/>
                  <a:gd name="T1" fmla="*/ 0 h 297"/>
                  <a:gd name="T2" fmla="*/ 0 w 32"/>
                  <a:gd name="T3" fmla="*/ 0 h 297"/>
                  <a:gd name="T4" fmla="*/ 0 w 32"/>
                  <a:gd name="T5" fmla="*/ 0 h 297"/>
                  <a:gd name="T6" fmla="*/ 0 w 32"/>
                  <a:gd name="T7" fmla="*/ 0 h 297"/>
                  <a:gd name="T8" fmla="*/ 0 w 32"/>
                  <a:gd name="T9" fmla="*/ 0 h 297"/>
                  <a:gd name="T10" fmla="*/ 0 w 32"/>
                  <a:gd name="T11" fmla="*/ 0 h 297"/>
                  <a:gd name="T12" fmla="*/ 0 w 32"/>
                  <a:gd name="T13" fmla="*/ 0 h 297"/>
                  <a:gd name="T14" fmla="*/ 0 w 32"/>
                  <a:gd name="T15" fmla="*/ 0 h 297"/>
                  <a:gd name="T16" fmla="*/ 0 w 32"/>
                  <a:gd name="T17" fmla="*/ 0 h 297"/>
                  <a:gd name="T18" fmla="*/ 0 w 32"/>
                  <a:gd name="T19" fmla="*/ 0 h 297"/>
                  <a:gd name="T20" fmla="*/ 0 w 32"/>
                  <a:gd name="T21" fmla="*/ 0 h 297"/>
                  <a:gd name="T22" fmla="*/ 0 w 32"/>
                  <a:gd name="T23" fmla="*/ 0 h 2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97">
                    <a:moveTo>
                      <a:pt x="0" y="297"/>
                    </a:moveTo>
                    <a:lnTo>
                      <a:pt x="0" y="55"/>
                    </a:lnTo>
                    <a:lnTo>
                      <a:pt x="4" y="48"/>
                    </a:lnTo>
                    <a:lnTo>
                      <a:pt x="7" y="40"/>
                    </a:lnTo>
                    <a:lnTo>
                      <a:pt x="12" y="34"/>
                    </a:lnTo>
                    <a:lnTo>
                      <a:pt x="15" y="26"/>
                    </a:lnTo>
                    <a:lnTo>
                      <a:pt x="19" y="20"/>
                    </a:lnTo>
                    <a:lnTo>
                      <a:pt x="23" y="14"/>
                    </a:lnTo>
                    <a:lnTo>
                      <a:pt x="27" y="6"/>
                    </a:lnTo>
                    <a:lnTo>
                      <a:pt x="32" y="0"/>
                    </a:lnTo>
                    <a:lnTo>
                      <a:pt x="32" y="297"/>
                    </a:lnTo>
                    <a:lnTo>
                      <a:pt x="0" y="2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82" name="Freeform 3446"/>
              <p:cNvSpPr>
                <a:spLocks noChangeAspect="1"/>
              </p:cNvSpPr>
              <p:nvPr/>
            </p:nvSpPr>
            <p:spPr bwMode="auto">
              <a:xfrm>
                <a:off x="5258" y="1063"/>
                <a:ext cx="11" cy="106"/>
              </a:xfrm>
              <a:custGeom>
                <a:avLst/>
                <a:gdLst>
                  <a:gd name="T0" fmla="*/ 0 w 33"/>
                  <a:gd name="T1" fmla="*/ 0 h 320"/>
                  <a:gd name="T2" fmla="*/ 0 w 33"/>
                  <a:gd name="T3" fmla="*/ 0 h 320"/>
                  <a:gd name="T4" fmla="*/ 0 w 33"/>
                  <a:gd name="T5" fmla="*/ 0 h 320"/>
                  <a:gd name="T6" fmla="*/ 0 w 33"/>
                  <a:gd name="T7" fmla="*/ 0 h 320"/>
                  <a:gd name="T8" fmla="*/ 0 w 33"/>
                  <a:gd name="T9" fmla="*/ 0 h 320"/>
                  <a:gd name="T10" fmla="*/ 0 w 33"/>
                  <a:gd name="T11" fmla="*/ 0 h 320"/>
                  <a:gd name="T12" fmla="*/ 0 w 33"/>
                  <a:gd name="T13" fmla="*/ 0 h 320"/>
                  <a:gd name="T14" fmla="*/ 0 w 33"/>
                  <a:gd name="T15" fmla="*/ 0 h 320"/>
                  <a:gd name="T16" fmla="*/ 0 w 33"/>
                  <a:gd name="T17" fmla="*/ 0 h 320"/>
                  <a:gd name="T18" fmla="*/ 0 w 33"/>
                  <a:gd name="T19" fmla="*/ 0 h 320"/>
                  <a:gd name="T20" fmla="*/ 0 w 33"/>
                  <a:gd name="T21" fmla="*/ 0 h 320"/>
                  <a:gd name="T22" fmla="*/ 0 w 33"/>
                  <a:gd name="T23" fmla="*/ 0 h 3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20">
                    <a:moveTo>
                      <a:pt x="0" y="320"/>
                    </a:moveTo>
                    <a:lnTo>
                      <a:pt x="0" y="48"/>
                    </a:lnTo>
                    <a:lnTo>
                      <a:pt x="4" y="42"/>
                    </a:lnTo>
                    <a:lnTo>
                      <a:pt x="7" y="35"/>
                    </a:lnTo>
                    <a:lnTo>
                      <a:pt x="11" y="30"/>
                    </a:lnTo>
                    <a:lnTo>
                      <a:pt x="16" y="24"/>
                    </a:lnTo>
                    <a:lnTo>
                      <a:pt x="20" y="18"/>
                    </a:lnTo>
                    <a:lnTo>
                      <a:pt x="24" y="12"/>
                    </a:lnTo>
                    <a:lnTo>
                      <a:pt x="28" y="7"/>
                    </a:lnTo>
                    <a:lnTo>
                      <a:pt x="33" y="0"/>
                    </a:lnTo>
                    <a:lnTo>
                      <a:pt x="33" y="320"/>
                    </a:lnTo>
                    <a:lnTo>
                      <a:pt x="0" y="3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83" name="Freeform 3447"/>
              <p:cNvSpPr>
                <a:spLocks noChangeAspect="1"/>
              </p:cNvSpPr>
              <p:nvPr/>
            </p:nvSpPr>
            <p:spPr bwMode="auto">
              <a:xfrm>
                <a:off x="5263" y="1056"/>
                <a:ext cx="11" cy="113"/>
              </a:xfrm>
              <a:custGeom>
                <a:avLst/>
                <a:gdLst>
                  <a:gd name="T0" fmla="*/ 0 w 33"/>
                  <a:gd name="T1" fmla="*/ 0 h 339"/>
                  <a:gd name="T2" fmla="*/ 0 w 33"/>
                  <a:gd name="T3" fmla="*/ 0 h 339"/>
                  <a:gd name="T4" fmla="*/ 0 w 33"/>
                  <a:gd name="T5" fmla="*/ 0 h 339"/>
                  <a:gd name="T6" fmla="*/ 0 w 33"/>
                  <a:gd name="T7" fmla="*/ 0 h 339"/>
                  <a:gd name="T8" fmla="*/ 0 w 33"/>
                  <a:gd name="T9" fmla="*/ 0 h 339"/>
                  <a:gd name="T10" fmla="*/ 0 w 33"/>
                  <a:gd name="T11" fmla="*/ 0 h 339"/>
                  <a:gd name="T12" fmla="*/ 0 w 33"/>
                  <a:gd name="T13" fmla="*/ 0 h 339"/>
                  <a:gd name="T14" fmla="*/ 0 w 33"/>
                  <a:gd name="T15" fmla="*/ 0 h 339"/>
                  <a:gd name="T16" fmla="*/ 0 w 33"/>
                  <a:gd name="T17" fmla="*/ 0 h 339"/>
                  <a:gd name="T18" fmla="*/ 0 w 33"/>
                  <a:gd name="T19" fmla="*/ 0 h 339"/>
                  <a:gd name="T20" fmla="*/ 0 w 33"/>
                  <a:gd name="T21" fmla="*/ 0 h 339"/>
                  <a:gd name="T22" fmla="*/ 0 w 33"/>
                  <a:gd name="T23" fmla="*/ 0 h 3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39">
                    <a:moveTo>
                      <a:pt x="0" y="339"/>
                    </a:moveTo>
                    <a:lnTo>
                      <a:pt x="0" y="42"/>
                    </a:lnTo>
                    <a:lnTo>
                      <a:pt x="4" y="36"/>
                    </a:lnTo>
                    <a:lnTo>
                      <a:pt x="8" y="31"/>
                    </a:lnTo>
                    <a:lnTo>
                      <a:pt x="11" y="26"/>
                    </a:lnTo>
                    <a:lnTo>
                      <a:pt x="16" y="20"/>
                    </a:lnTo>
                    <a:lnTo>
                      <a:pt x="20" y="15"/>
                    </a:lnTo>
                    <a:lnTo>
                      <a:pt x="24" y="10"/>
                    </a:lnTo>
                    <a:lnTo>
                      <a:pt x="28" y="6"/>
                    </a:lnTo>
                    <a:lnTo>
                      <a:pt x="33" y="0"/>
                    </a:lnTo>
                    <a:lnTo>
                      <a:pt x="33" y="339"/>
                    </a:lnTo>
                    <a:lnTo>
                      <a:pt x="0" y="33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84" name="Freeform 3448"/>
              <p:cNvSpPr>
                <a:spLocks noChangeAspect="1"/>
              </p:cNvSpPr>
              <p:nvPr/>
            </p:nvSpPr>
            <p:spPr bwMode="auto">
              <a:xfrm>
                <a:off x="5269" y="1050"/>
                <a:ext cx="11" cy="119"/>
              </a:xfrm>
              <a:custGeom>
                <a:avLst/>
                <a:gdLst>
                  <a:gd name="T0" fmla="*/ 0 w 32"/>
                  <a:gd name="T1" fmla="*/ 0 h 357"/>
                  <a:gd name="T2" fmla="*/ 0 w 32"/>
                  <a:gd name="T3" fmla="*/ 0 h 357"/>
                  <a:gd name="T4" fmla="*/ 0 w 32"/>
                  <a:gd name="T5" fmla="*/ 0 h 357"/>
                  <a:gd name="T6" fmla="*/ 0 w 32"/>
                  <a:gd name="T7" fmla="*/ 0 h 357"/>
                  <a:gd name="T8" fmla="*/ 0 w 32"/>
                  <a:gd name="T9" fmla="*/ 0 h 357"/>
                  <a:gd name="T10" fmla="*/ 0 w 32"/>
                  <a:gd name="T11" fmla="*/ 0 h 357"/>
                  <a:gd name="T12" fmla="*/ 0 w 32"/>
                  <a:gd name="T13" fmla="*/ 0 h 357"/>
                  <a:gd name="T14" fmla="*/ 0 w 32"/>
                  <a:gd name="T15" fmla="*/ 0 h 357"/>
                  <a:gd name="T16" fmla="*/ 0 w 32"/>
                  <a:gd name="T17" fmla="*/ 0 h 357"/>
                  <a:gd name="T18" fmla="*/ 0 w 32"/>
                  <a:gd name="T19" fmla="*/ 0 h 357"/>
                  <a:gd name="T20" fmla="*/ 0 w 32"/>
                  <a:gd name="T21" fmla="*/ 0 h 357"/>
                  <a:gd name="T22" fmla="*/ 0 w 32"/>
                  <a:gd name="T23" fmla="*/ 0 h 3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57">
                    <a:moveTo>
                      <a:pt x="0" y="357"/>
                    </a:moveTo>
                    <a:lnTo>
                      <a:pt x="0" y="37"/>
                    </a:lnTo>
                    <a:lnTo>
                      <a:pt x="3" y="33"/>
                    </a:lnTo>
                    <a:lnTo>
                      <a:pt x="7" y="28"/>
                    </a:lnTo>
                    <a:lnTo>
                      <a:pt x="11" y="24"/>
                    </a:lnTo>
                    <a:lnTo>
                      <a:pt x="15" y="18"/>
                    </a:lnTo>
                    <a:lnTo>
                      <a:pt x="19" y="14"/>
                    </a:lnTo>
                    <a:lnTo>
                      <a:pt x="23" y="10"/>
                    </a:lnTo>
                    <a:lnTo>
                      <a:pt x="27" y="6"/>
                    </a:lnTo>
                    <a:lnTo>
                      <a:pt x="32" y="0"/>
                    </a:lnTo>
                    <a:lnTo>
                      <a:pt x="32" y="357"/>
                    </a:lnTo>
                    <a:lnTo>
                      <a:pt x="0" y="35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85" name="Freeform 3449"/>
              <p:cNvSpPr>
                <a:spLocks noChangeAspect="1"/>
              </p:cNvSpPr>
              <p:nvPr/>
            </p:nvSpPr>
            <p:spPr bwMode="auto">
              <a:xfrm>
                <a:off x="5274" y="1045"/>
                <a:ext cx="11" cy="124"/>
              </a:xfrm>
              <a:custGeom>
                <a:avLst/>
                <a:gdLst>
                  <a:gd name="T0" fmla="*/ 0 w 32"/>
                  <a:gd name="T1" fmla="*/ 0 h 373"/>
                  <a:gd name="T2" fmla="*/ 0 w 32"/>
                  <a:gd name="T3" fmla="*/ 0 h 373"/>
                  <a:gd name="T4" fmla="*/ 0 w 32"/>
                  <a:gd name="T5" fmla="*/ 0 h 373"/>
                  <a:gd name="T6" fmla="*/ 0 w 32"/>
                  <a:gd name="T7" fmla="*/ 0 h 373"/>
                  <a:gd name="T8" fmla="*/ 0 w 32"/>
                  <a:gd name="T9" fmla="*/ 0 h 373"/>
                  <a:gd name="T10" fmla="*/ 0 w 32"/>
                  <a:gd name="T11" fmla="*/ 0 h 373"/>
                  <a:gd name="T12" fmla="*/ 0 w 32"/>
                  <a:gd name="T13" fmla="*/ 0 h 373"/>
                  <a:gd name="T14" fmla="*/ 0 w 32"/>
                  <a:gd name="T15" fmla="*/ 0 h 373"/>
                  <a:gd name="T16" fmla="*/ 0 w 32"/>
                  <a:gd name="T17" fmla="*/ 0 h 373"/>
                  <a:gd name="T18" fmla="*/ 0 w 32"/>
                  <a:gd name="T19" fmla="*/ 0 h 373"/>
                  <a:gd name="T20" fmla="*/ 0 w 32"/>
                  <a:gd name="T21" fmla="*/ 0 h 373"/>
                  <a:gd name="T22" fmla="*/ 0 w 32"/>
                  <a:gd name="T23" fmla="*/ 0 h 3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73">
                    <a:moveTo>
                      <a:pt x="0" y="373"/>
                    </a:moveTo>
                    <a:lnTo>
                      <a:pt x="0" y="34"/>
                    </a:lnTo>
                    <a:lnTo>
                      <a:pt x="3" y="30"/>
                    </a:lnTo>
                    <a:lnTo>
                      <a:pt x="7" y="26"/>
                    </a:lnTo>
                    <a:lnTo>
                      <a:pt x="11" y="22"/>
                    </a:lnTo>
                    <a:lnTo>
                      <a:pt x="16" y="17"/>
                    </a:lnTo>
                    <a:lnTo>
                      <a:pt x="19" y="13"/>
                    </a:lnTo>
                    <a:lnTo>
                      <a:pt x="23" y="9"/>
                    </a:lnTo>
                    <a:lnTo>
                      <a:pt x="27" y="4"/>
                    </a:lnTo>
                    <a:lnTo>
                      <a:pt x="32" y="0"/>
                    </a:lnTo>
                    <a:lnTo>
                      <a:pt x="32" y="373"/>
                    </a:lnTo>
                    <a:lnTo>
                      <a:pt x="0" y="37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86" name="Freeform 3450"/>
              <p:cNvSpPr>
                <a:spLocks noChangeAspect="1"/>
              </p:cNvSpPr>
              <p:nvPr/>
            </p:nvSpPr>
            <p:spPr bwMode="auto">
              <a:xfrm>
                <a:off x="5280" y="1040"/>
                <a:ext cx="10" cy="129"/>
              </a:xfrm>
              <a:custGeom>
                <a:avLst/>
                <a:gdLst>
                  <a:gd name="T0" fmla="*/ 0 w 32"/>
                  <a:gd name="T1" fmla="*/ 0 h 387"/>
                  <a:gd name="T2" fmla="*/ 0 w 32"/>
                  <a:gd name="T3" fmla="*/ 0 h 387"/>
                  <a:gd name="T4" fmla="*/ 0 w 32"/>
                  <a:gd name="T5" fmla="*/ 0 h 387"/>
                  <a:gd name="T6" fmla="*/ 0 w 32"/>
                  <a:gd name="T7" fmla="*/ 0 h 387"/>
                  <a:gd name="T8" fmla="*/ 0 w 32"/>
                  <a:gd name="T9" fmla="*/ 0 h 387"/>
                  <a:gd name="T10" fmla="*/ 0 w 32"/>
                  <a:gd name="T11" fmla="*/ 0 h 387"/>
                  <a:gd name="T12" fmla="*/ 0 w 32"/>
                  <a:gd name="T13" fmla="*/ 0 h 387"/>
                  <a:gd name="T14" fmla="*/ 0 w 32"/>
                  <a:gd name="T15" fmla="*/ 0 h 387"/>
                  <a:gd name="T16" fmla="*/ 0 w 32"/>
                  <a:gd name="T17" fmla="*/ 0 h 387"/>
                  <a:gd name="T18" fmla="*/ 0 w 32"/>
                  <a:gd name="T19" fmla="*/ 0 h 387"/>
                  <a:gd name="T20" fmla="*/ 0 w 32"/>
                  <a:gd name="T21" fmla="*/ 0 h 387"/>
                  <a:gd name="T22" fmla="*/ 0 w 32"/>
                  <a:gd name="T23" fmla="*/ 0 h 38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87">
                    <a:moveTo>
                      <a:pt x="0" y="387"/>
                    </a:moveTo>
                    <a:lnTo>
                      <a:pt x="0" y="30"/>
                    </a:lnTo>
                    <a:lnTo>
                      <a:pt x="4" y="27"/>
                    </a:lnTo>
                    <a:lnTo>
                      <a:pt x="7" y="23"/>
                    </a:lnTo>
                    <a:lnTo>
                      <a:pt x="11" y="18"/>
                    </a:lnTo>
                    <a:lnTo>
                      <a:pt x="16" y="15"/>
                    </a:lnTo>
                    <a:lnTo>
                      <a:pt x="20" y="11"/>
                    </a:lnTo>
                    <a:lnTo>
                      <a:pt x="24" y="8"/>
                    </a:lnTo>
                    <a:lnTo>
                      <a:pt x="27" y="4"/>
                    </a:lnTo>
                    <a:lnTo>
                      <a:pt x="32" y="0"/>
                    </a:lnTo>
                    <a:lnTo>
                      <a:pt x="32" y="387"/>
                    </a:lnTo>
                    <a:lnTo>
                      <a:pt x="0" y="38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87" name="Freeform 3451"/>
              <p:cNvSpPr>
                <a:spLocks noChangeAspect="1"/>
              </p:cNvSpPr>
              <p:nvPr/>
            </p:nvSpPr>
            <p:spPr bwMode="auto">
              <a:xfrm>
                <a:off x="5285" y="1036"/>
                <a:ext cx="11" cy="133"/>
              </a:xfrm>
              <a:custGeom>
                <a:avLst/>
                <a:gdLst>
                  <a:gd name="T0" fmla="*/ 0 w 33"/>
                  <a:gd name="T1" fmla="*/ 0 h 400"/>
                  <a:gd name="T2" fmla="*/ 0 w 33"/>
                  <a:gd name="T3" fmla="*/ 0 h 400"/>
                  <a:gd name="T4" fmla="*/ 0 w 33"/>
                  <a:gd name="T5" fmla="*/ 0 h 400"/>
                  <a:gd name="T6" fmla="*/ 0 w 33"/>
                  <a:gd name="T7" fmla="*/ 0 h 400"/>
                  <a:gd name="T8" fmla="*/ 0 w 33"/>
                  <a:gd name="T9" fmla="*/ 0 h 400"/>
                  <a:gd name="T10" fmla="*/ 0 w 33"/>
                  <a:gd name="T11" fmla="*/ 0 h 400"/>
                  <a:gd name="T12" fmla="*/ 0 w 33"/>
                  <a:gd name="T13" fmla="*/ 0 h 400"/>
                  <a:gd name="T14" fmla="*/ 0 w 33"/>
                  <a:gd name="T15" fmla="*/ 0 h 400"/>
                  <a:gd name="T16" fmla="*/ 0 w 33"/>
                  <a:gd name="T17" fmla="*/ 0 h 400"/>
                  <a:gd name="T18" fmla="*/ 0 w 33"/>
                  <a:gd name="T19" fmla="*/ 0 h 400"/>
                  <a:gd name="T20" fmla="*/ 0 w 33"/>
                  <a:gd name="T21" fmla="*/ 0 h 400"/>
                  <a:gd name="T22" fmla="*/ 0 w 33"/>
                  <a:gd name="T23" fmla="*/ 0 h 4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00">
                    <a:moveTo>
                      <a:pt x="0" y="400"/>
                    </a:moveTo>
                    <a:lnTo>
                      <a:pt x="0" y="27"/>
                    </a:lnTo>
                    <a:lnTo>
                      <a:pt x="4" y="24"/>
                    </a:lnTo>
                    <a:lnTo>
                      <a:pt x="8" y="21"/>
                    </a:lnTo>
                    <a:lnTo>
                      <a:pt x="11" y="17"/>
                    </a:lnTo>
                    <a:lnTo>
                      <a:pt x="16" y="13"/>
                    </a:lnTo>
                    <a:lnTo>
                      <a:pt x="20" y="10"/>
                    </a:lnTo>
                    <a:lnTo>
                      <a:pt x="24" y="7"/>
                    </a:lnTo>
                    <a:lnTo>
                      <a:pt x="28" y="3"/>
                    </a:lnTo>
                    <a:lnTo>
                      <a:pt x="33" y="0"/>
                    </a:lnTo>
                    <a:lnTo>
                      <a:pt x="33" y="400"/>
                    </a:lnTo>
                    <a:lnTo>
                      <a:pt x="0" y="4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88" name="Freeform 3452"/>
              <p:cNvSpPr>
                <a:spLocks noChangeAspect="1"/>
              </p:cNvSpPr>
              <p:nvPr/>
            </p:nvSpPr>
            <p:spPr bwMode="auto">
              <a:xfrm>
                <a:off x="5290" y="1032"/>
                <a:ext cx="11" cy="137"/>
              </a:xfrm>
              <a:custGeom>
                <a:avLst/>
                <a:gdLst>
                  <a:gd name="T0" fmla="*/ 0 w 33"/>
                  <a:gd name="T1" fmla="*/ 0 h 412"/>
                  <a:gd name="T2" fmla="*/ 0 w 33"/>
                  <a:gd name="T3" fmla="*/ 0 h 412"/>
                  <a:gd name="T4" fmla="*/ 0 w 33"/>
                  <a:gd name="T5" fmla="*/ 0 h 412"/>
                  <a:gd name="T6" fmla="*/ 0 w 33"/>
                  <a:gd name="T7" fmla="*/ 0 h 412"/>
                  <a:gd name="T8" fmla="*/ 0 w 33"/>
                  <a:gd name="T9" fmla="*/ 0 h 412"/>
                  <a:gd name="T10" fmla="*/ 0 w 33"/>
                  <a:gd name="T11" fmla="*/ 0 h 412"/>
                  <a:gd name="T12" fmla="*/ 0 w 33"/>
                  <a:gd name="T13" fmla="*/ 0 h 412"/>
                  <a:gd name="T14" fmla="*/ 0 w 33"/>
                  <a:gd name="T15" fmla="*/ 0 h 412"/>
                  <a:gd name="T16" fmla="*/ 0 w 33"/>
                  <a:gd name="T17" fmla="*/ 0 h 412"/>
                  <a:gd name="T18" fmla="*/ 0 w 33"/>
                  <a:gd name="T19" fmla="*/ 0 h 412"/>
                  <a:gd name="T20" fmla="*/ 0 w 33"/>
                  <a:gd name="T21" fmla="*/ 0 h 412"/>
                  <a:gd name="T22" fmla="*/ 0 w 33"/>
                  <a:gd name="T23" fmla="*/ 0 h 4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12">
                    <a:moveTo>
                      <a:pt x="0" y="412"/>
                    </a:moveTo>
                    <a:lnTo>
                      <a:pt x="0" y="25"/>
                    </a:lnTo>
                    <a:lnTo>
                      <a:pt x="4" y="22"/>
                    </a:lnTo>
                    <a:lnTo>
                      <a:pt x="8" y="19"/>
                    </a:lnTo>
                    <a:lnTo>
                      <a:pt x="12" y="16"/>
                    </a:lnTo>
                    <a:lnTo>
                      <a:pt x="16" y="13"/>
                    </a:lnTo>
                    <a:lnTo>
                      <a:pt x="20" y="9"/>
                    </a:lnTo>
                    <a:lnTo>
                      <a:pt x="24" y="6"/>
                    </a:lnTo>
                    <a:lnTo>
                      <a:pt x="28" y="3"/>
                    </a:lnTo>
                    <a:lnTo>
                      <a:pt x="33" y="0"/>
                    </a:lnTo>
                    <a:lnTo>
                      <a:pt x="33" y="412"/>
                    </a:lnTo>
                    <a:lnTo>
                      <a:pt x="0" y="41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89" name="Freeform 3453"/>
              <p:cNvSpPr>
                <a:spLocks noChangeAspect="1"/>
              </p:cNvSpPr>
              <p:nvPr/>
            </p:nvSpPr>
            <p:spPr bwMode="auto">
              <a:xfrm>
                <a:off x="5296" y="1028"/>
                <a:ext cx="11" cy="141"/>
              </a:xfrm>
              <a:custGeom>
                <a:avLst/>
                <a:gdLst>
                  <a:gd name="T0" fmla="*/ 0 w 32"/>
                  <a:gd name="T1" fmla="*/ 0 h 423"/>
                  <a:gd name="T2" fmla="*/ 0 w 32"/>
                  <a:gd name="T3" fmla="*/ 0 h 423"/>
                  <a:gd name="T4" fmla="*/ 0 w 32"/>
                  <a:gd name="T5" fmla="*/ 0 h 423"/>
                  <a:gd name="T6" fmla="*/ 0 w 32"/>
                  <a:gd name="T7" fmla="*/ 0 h 423"/>
                  <a:gd name="T8" fmla="*/ 0 w 32"/>
                  <a:gd name="T9" fmla="*/ 0 h 423"/>
                  <a:gd name="T10" fmla="*/ 0 w 32"/>
                  <a:gd name="T11" fmla="*/ 0 h 423"/>
                  <a:gd name="T12" fmla="*/ 0 w 32"/>
                  <a:gd name="T13" fmla="*/ 0 h 423"/>
                  <a:gd name="T14" fmla="*/ 0 w 32"/>
                  <a:gd name="T15" fmla="*/ 0 h 423"/>
                  <a:gd name="T16" fmla="*/ 0 w 32"/>
                  <a:gd name="T17" fmla="*/ 0 h 423"/>
                  <a:gd name="T18" fmla="*/ 0 w 32"/>
                  <a:gd name="T19" fmla="*/ 0 h 423"/>
                  <a:gd name="T20" fmla="*/ 0 w 32"/>
                  <a:gd name="T21" fmla="*/ 0 h 423"/>
                  <a:gd name="T22" fmla="*/ 0 w 32"/>
                  <a:gd name="T23" fmla="*/ 0 h 42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23">
                    <a:moveTo>
                      <a:pt x="0" y="423"/>
                    </a:moveTo>
                    <a:lnTo>
                      <a:pt x="0" y="23"/>
                    </a:lnTo>
                    <a:lnTo>
                      <a:pt x="3" y="19"/>
                    </a:lnTo>
                    <a:lnTo>
                      <a:pt x="7" y="17"/>
                    </a:lnTo>
                    <a:lnTo>
                      <a:pt x="11" y="14"/>
                    </a:lnTo>
                    <a:lnTo>
                      <a:pt x="16" y="11"/>
                    </a:lnTo>
                    <a:lnTo>
                      <a:pt x="19" y="8"/>
                    </a:lnTo>
                    <a:lnTo>
                      <a:pt x="23" y="6"/>
                    </a:lnTo>
                    <a:lnTo>
                      <a:pt x="27" y="2"/>
                    </a:lnTo>
                    <a:lnTo>
                      <a:pt x="32" y="0"/>
                    </a:lnTo>
                    <a:lnTo>
                      <a:pt x="32" y="423"/>
                    </a:lnTo>
                    <a:lnTo>
                      <a:pt x="0" y="42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90" name="Freeform 3454"/>
              <p:cNvSpPr>
                <a:spLocks noChangeAspect="1"/>
              </p:cNvSpPr>
              <p:nvPr/>
            </p:nvSpPr>
            <p:spPr bwMode="auto">
              <a:xfrm>
                <a:off x="5301" y="1025"/>
                <a:ext cx="11" cy="144"/>
              </a:xfrm>
              <a:custGeom>
                <a:avLst/>
                <a:gdLst>
                  <a:gd name="T0" fmla="*/ 0 w 32"/>
                  <a:gd name="T1" fmla="*/ 0 h 433"/>
                  <a:gd name="T2" fmla="*/ 0 w 32"/>
                  <a:gd name="T3" fmla="*/ 0 h 433"/>
                  <a:gd name="T4" fmla="*/ 0 w 32"/>
                  <a:gd name="T5" fmla="*/ 0 h 433"/>
                  <a:gd name="T6" fmla="*/ 0 w 32"/>
                  <a:gd name="T7" fmla="*/ 0 h 433"/>
                  <a:gd name="T8" fmla="*/ 0 w 32"/>
                  <a:gd name="T9" fmla="*/ 0 h 433"/>
                  <a:gd name="T10" fmla="*/ 0 w 32"/>
                  <a:gd name="T11" fmla="*/ 0 h 433"/>
                  <a:gd name="T12" fmla="*/ 0 w 32"/>
                  <a:gd name="T13" fmla="*/ 0 h 433"/>
                  <a:gd name="T14" fmla="*/ 0 w 32"/>
                  <a:gd name="T15" fmla="*/ 0 h 433"/>
                  <a:gd name="T16" fmla="*/ 0 w 32"/>
                  <a:gd name="T17" fmla="*/ 0 h 433"/>
                  <a:gd name="T18" fmla="*/ 0 w 32"/>
                  <a:gd name="T19" fmla="*/ 0 h 433"/>
                  <a:gd name="T20" fmla="*/ 0 w 32"/>
                  <a:gd name="T21" fmla="*/ 0 h 433"/>
                  <a:gd name="T22" fmla="*/ 0 w 32"/>
                  <a:gd name="T23" fmla="*/ 0 h 4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33">
                    <a:moveTo>
                      <a:pt x="0" y="433"/>
                    </a:moveTo>
                    <a:lnTo>
                      <a:pt x="0" y="21"/>
                    </a:lnTo>
                    <a:lnTo>
                      <a:pt x="3" y="18"/>
                    </a:lnTo>
                    <a:lnTo>
                      <a:pt x="7" y="16"/>
                    </a:lnTo>
                    <a:lnTo>
                      <a:pt x="11" y="12"/>
                    </a:lnTo>
                    <a:lnTo>
                      <a:pt x="16" y="10"/>
                    </a:lnTo>
                    <a:lnTo>
                      <a:pt x="20" y="7"/>
                    </a:lnTo>
                    <a:lnTo>
                      <a:pt x="23" y="5"/>
                    </a:lnTo>
                    <a:lnTo>
                      <a:pt x="27" y="3"/>
                    </a:lnTo>
                    <a:lnTo>
                      <a:pt x="32" y="0"/>
                    </a:lnTo>
                    <a:lnTo>
                      <a:pt x="32" y="433"/>
                    </a:lnTo>
                    <a:lnTo>
                      <a:pt x="0" y="43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91" name="Freeform 3455"/>
              <p:cNvSpPr>
                <a:spLocks noChangeAspect="1"/>
              </p:cNvSpPr>
              <p:nvPr/>
            </p:nvSpPr>
            <p:spPr bwMode="auto">
              <a:xfrm>
                <a:off x="5307" y="1022"/>
                <a:ext cx="10" cy="147"/>
              </a:xfrm>
              <a:custGeom>
                <a:avLst/>
                <a:gdLst>
                  <a:gd name="T0" fmla="*/ 0 w 31"/>
                  <a:gd name="T1" fmla="*/ 0 h 442"/>
                  <a:gd name="T2" fmla="*/ 0 w 31"/>
                  <a:gd name="T3" fmla="*/ 0 h 442"/>
                  <a:gd name="T4" fmla="*/ 0 w 31"/>
                  <a:gd name="T5" fmla="*/ 0 h 442"/>
                  <a:gd name="T6" fmla="*/ 0 w 31"/>
                  <a:gd name="T7" fmla="*/ 0 h 442"/>
                  <a:gd name="T8" fmla="*/ 0 w 31"/>
                  <a:gd name="T9" fmla="*/ 0 h 442"/>
                  <a:gd name="T10" fmla="*/ 0 w 31"/>
                  <a:gd name="T11" fmla="*/ 0 h 442"/>
                  <a:gd name="T12" fmla="*/ 0 w 31"/>
                  <a:gd name="T13" fmla="*/ 0 h 442"/>
                  <a:gd name="T14" fmla="*/ 0 w 31"/>
                  <a:gd name="T15" fmla="*/ 0 h 442"/>
                  <a:gd name="T16" fmla="*/ 0 w 31"/>
                  <a:gd name="T17" fmla="*/ 0 h 442"/>
                  <a:gd name="T18" fmla="*/ 0 w 31"/>
                  <a:gd name="T19" fmla="*/ 0 h 442"/>
                  <a:gd name="T20" fmla="*/ 0 w 31"/>
                  <a:gd name="T21" fmla="*/ 0 h 442"/>
                  <a:gd name="T22" fmla="*/ 0 w 31"/>
                  <a:gd name="T23" fmla="*/ 0 h 4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442">
                    <a:moveTo>
                      <a:pt x="0" y="442"/>
                    </a:moveTo>
                    <a:lnTo>
                      <a:pt x="0" y="19"/>
                    </a:lnTo>
                    <a:lnTo>
                      <a:pt x="4" y="16"/>
                    </a:lnTo>
                    <a:lnTo>
                      <a:pt x="7" y="14"/>
                    </a:lnTo>
                    <a:lnTo>
                      <a:pt x="11" y="12"/>
                    </a:lnTo>
                    <a:lnTo>
                      <a:pt x="16" y="9"/>
                    </a:lnTo>
                    <a:lnTo>
                      <a:pt x="20" y="7"/>
                    </a:lnTo>
                    <a:lnTo>
                      <a:pt x="24" y="4"/>
                    </a:lnTo>
                    <a:lnTo>
                      <a:pt x="27" y="2"/>
                    </a:lnTo>
                    <a:lnTo>
                      <a:pt x="31" y="0"/>
                    </a:lnTo>
                    <a:lnTo>
                      <a:pt x="31" y="442"/>
                    </a:lnTo>
                    <a:lnTo>
                      <a:pt x="0" y="44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92" name="Freeform 3456"/>
              <p:cNvSpPr>
                <a:spLocks noChangeAspect="1"/>
              </p:cNvSpPr>
              <p:nvPr/>
            </p:nvSpPr>
            <p:spPr bwMode="auto">
              <a:xfrm>
                <a:off x="5312" y="1019"/>
                <a:ext cx="11" cy="150"/>
              </a:xfrm>
              <a:custGeom>
                <a:avLst/>
                <a:gdLst>
                  <a:gd name="T0" fmla="*/ 0 w 33"/>
                  <a:gd name="T1" fmla="*/ 0 h 450"/>
                  <a:gd name="T2" fmla="*/ 0 w 33"/>
                  <a:gd name="T3" fmla="*/ 0 h 450"/>
                  <a:gd name="T4" fmla="*/ 0 w 33"/>
                  <a:gd name="T5" fmla="*/ 0 h 450"/>
                  <a:gd name="T6" fmla="*/ 0 w 33"/>
                  <a:gd name="T7" fmla="*/ 0 h 450"/>
                  <a:gd name="T8" fmla="*/ 0 w 33"/>
                  <a:gd name="T9" fmla="*/ 0 h 450"/>
                  <a:gd name="T10" fmla="*/ 0 w 33"/>
                  <a:gd name="T11" fmla="*/ 0 h 450"/>
                  <a:gd name="T12" fmla="*/ 0 w 33"/>
                  <a:gd name="T13" fmla="*/ 0 h 450"/>
                  <a:gd name="T14" fmla="*/ 0 w 33"/>
                  <a:gd name="T15" fmla="*/ 0 h 450"/>
                  <a:gd name="T16" fmla="*/ 0 w 33"/>
                  <a:gd name="T17" fmla="*/ 0 h 450"/>
                  <a:gd name="T18" fmla="*/ 0 w 33"/>
                  <a:gd name="T19" fmla="*/ 0 h 450"/>
                  <a:gd name="T20" fmla="*/ 0 w 33"/>
                  <a:gd name="T21" fmla="*/ 0 h 450"/>
                  <a:gd name="T22" fmla="*/ 0 w 33"/>
                  <a:gd name="T23" fmla="*/ 0 h 4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50">
                    <a:moveTo>
                      <a:pt x="0" y="450"/>
                    </a:moveTo>
                    <a:lnTo>
                      <a:pt x="0" y="17"/>
                    </a:lnTo>
                    <a:lnTo>
                      <a:pt x="4" y="15"/>
                    </a:lnTo>
                    <a:lnTo>
                      <a:pt x="8" y="12"/>
                    </a:lnTo>
                    <a:lnTo>
                      <a:pt x="11" y="10"/>
                    </a:lnTo>
                    <a:lnTo>
                      <a:pt x="15" y="8"/>
                    </a:lnTo>
                    <a:lnTo>
                      <a:pt x="20" y="6"/>
                    </a:lnTo>
                    <a:lnTo>
                      <a:pt x="24" y="4"/>
                    </a:lnTo>
                    <a:lnTo>
                      <a:pt x="28" y="2"/>
                    </a:lnTo>
                    <a:lnTo>
                      <a:pt x="33" y="0"/>
                    </a:lnTo>
                    <a:lnTo>
                      <a:pt x="33" y="450"/>
                    </a:lnTo>
                    <a:lnTo>
                      <a:pt x="0" y="45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93" name="Freeform 3457"/>
              <p:cNvSpPr>
                <a:spLocks noChangeAspect="1"/>
              </p:cNvSpPr>
              <p:nvPr/>
            </p:nvSpPr>
            <p:spPr bwMode="auto">
              <a:xfrm>
                <a:off x="5317" y="1017"/>
                <a:ext cx="11" cy="152"/>
              </a:xfrm>
              <a:custGeom>
                <a:avLst/>
                <a:gdLst>
                  <a:gd name="T0" fmla="*/ 0 w 33"/>
                  <a:gd name="T1" fmla="*/ 0 h 458"/>
                  <a:gd name="T2" fmla="*/ 0 w 33"/>
                  <a:gd name="T3" fmla="*/ 0 h 458"/>
                  <a:gd name="T4" fmla="*/ 0 w 33"/>
                  <a:gd name="T5" fmla="*/ 0 h 458"/>
                  <a:gd name="T6" fmla="*/ 0 w 33"/>
                  <a:gd name="T7" fmla="*/ 0 h 458"/>
                  <a:gd name="T8" fmla="*/ 0 w 33"/>
                  <a:gd name="T9" fmla="*/ 0 h 458"/>
                  <a:gd name="T10" fmla="*/ 0 w 33"/>
                  <a:gd name="T11" fmla="*/ 0 h 458"/>
                  <a:gd name="T12" fmla="*/ 0 w 33"/>
                  <a:gd name="T13" fmla="*/ 0 h 458"/>
                  <a:gd name="T14" fmla="*/ 0 w 33"/>
                  <a:gd name="T15" fmla="*/ 0 h 458"/>
                  <a:gd name="T16" fmla="*/ 0 w 33"/>
                  <a:gd name="T17" fmla="*/ 0 h 458"/>
                  <a:gd name="T18" fmla="*/ 0 w 33"/>
                  <a:gd name="T19" fmla="*/ 0 h 458"/>
                  <a:gd name="T20" fmla="*/ 0 w 33"/>
                  <a:gd name="T21" fmla="*/ 0 h 458"/>
                  <a:gd name="T22" fmla="*/ 0 w 33"/>
                  <a:gd name="T23" fmla="*/ 0 h 4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58">
                    <a:moveTo>
                      <a:pt x="0" y="458"/>
                    </a:moveTo>
                    <a:lnTo>
                      <a:pt x="0" y="16"/>
                    </a:lnTo>
                    <a:lnTo>
                      <a:pt x="5" y="14"/>
                    </a:lnTo>
                    <a:lnTo>
                      <a:pt x="9" y="12"/>
                    </a:lnTo>
                    <a:lnTo>
                      <a:pt x="13" y="10"/>
                    </a:lnTo>
                    <a:lnTo>
                      <a:pt x="16" y="8"/>
                    </a:lnTo>
                    <a:lnTo>
                      <a:pt x="21" y="6"/>
                    </a:lnTo>
                    <a:lnTo>
                      <a:pt x="25" y="3"/>
                    </a:lnTo>
                    <a:lnTo>
                      <a:pt x="29" y="1"/>
                    </a:lnTo>
                    <a:lnTo>
                      <a:pt x="33" y="0"/>
                    </a:lnTo>
                    <a:lnTo>
                      <a:pt x="33" y="458"/>
                    </a:lnTo>
                    <a:lnTo>
                      <a:pt x="0" y="45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94" name="Freeform 3458"/>
              <p:cNvSpPr>
                <a:spLocks noChangeAspect="1"/>
              </p:cNvSpPr>
              <p:nvPr/>
            </p:nvSpPr>
            <p:spPr bwMode="auto">
              <a:xfrm>
                <a:off x="5323" y="1014"/>
                <a:ext cx="10" cy="155"/>
              </a:xfrm>
              <a:custGeom>
                <a:avLst/>
                <a:gdLst>
                  <a:gd name="T0" fmla="*/ 0 w 31"/>
                  <a:gd name="T1" fmla="*/ 0 h 465"/>
                  <a:gd name="T2" fmla="*/ 0 w 31"/>
                  <a:gd name="T3" fmla="*/ 0 h 465"/>
                  <a:gd name="T4" fmla="*/ 0 w 31"/>
                  <a:gd name="T5" fmla="*/ 0 h 465"/>
                  <a:gd name="T6" fmla="*/ 0 w 31"/>
                  <a:gd name="T7" fmla="*/ 0 h 465"/>
                  <a:gd name="T8" fmla="*/ 0 w 31"/>
                  <a:gd name="T9" fmla="*/ 0 h 465"/>
                  <a:gd name="T10" fmla="*/ 0 w 31"/>
                  <a:gd name="T11" fmla="*/ 0 h 465"/>
                  <a:gd name="T12" fmla="*/ 0 w 31"/>
                  <a:gd name="T13" fmla="*/ 0 h 465"/>
                  <a:gd name="T14" fmla="*/ 0 w 31"/>
                  <a:gd name="T15" fmla="*/ 0 h 465"/>
                  <a:gd name="T16" fmla="*/ 0 w 31"/>
                  <a:gd name="T17" fmla="*/ 0 h 465"/>
                  <a:gd name="T18" fmla="*/ 0 w 31"/>
                  <a:gd name="T19" fmla="*/ 0 h 465"/>
                  <a:gd name="T20" fmla="*/ 0 w 31"/>
                  <a:gd name="T21" fmla="*/ 0 h 465"/>
                  <a:gd name="T22" fmla="*/ 0 w 31"/>
                  <a:gd name="T23" fmla="*/ 0 h 4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465">
                    <a:moveTo>
                      <a:pt x="0" y="465"/>
                    </a:moveTo>
                    <a:lnTo>
                      <a:pt x="0" y="15"/>
                    </a:lnTo>
                    <a:lnTo>
                      <a:pt x="3" y="13"/>
                    </a:lnTo>
                    <a:lnTo>
                      <a:pt x="7" y="10"/>
                    </a:lnTo>
                    <a:lnTo>
                      <a:pt x="11" y="8"/>
                    </a:lnTo>
                    <a:lnTo>
                      <a:pt x="15" y="7"/>
                    </a:lnTo>
                    <a:lnTo>
                      <a:pt x="19" y="5"/>
                    </a:lnTo>
                    <a:lnTo>
                      <a:pt x="23" y="3"/>
                    </a:lnTo>
                    <a:lnTo>
                      <a:pt x="27" y="2"/>
                    </a:lnTo>
                    <a:lnTo>
                      <a:pt x="31" y="0"/>
                    </a:lnTo>
                    <a:lnTo>
                      <a:pt x="31" y="465"/>
                    </a:lnTo>
                    <a:lnTo>
                      <a:pt x="0" y="4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95" name="Freeform 3459"/>
              <p:cNvSpPr>
                <a:spLocks noChangeAspect="1"/>
              </p:cNvSpPr>
              <p:nvPr/>
            </p:nvSpPr>
            <p:spPr bwMode="auto">
              <a:xfrm>
                <a:off x="5328" y="1012"/>
                <a:ext cx="11" cy="157"/>
              </a:xfrm>
              <a:custGeom>
                <a:avLst/>
                <a:gdLst>
                  <a:gd name="T0" fmla="*/ 0 w 32"/>
                  <a:gd name="T1" fmla="*/ 0 h 471"/>
                  <a:gd name="T2" fmla="*/ 0 w 32"/>
                  <a:gd name="T3" fmla="*/ 0 h 471"/>
                  <a:gd name="T4" fmla="*/ 0 w 32"/>
                  <a:gd name="T5" fmla="*/ 0 h 471"/>
                  <a:gd name="T6" fmla="*/ 0 w 32"/>
                  <a:gd name="T7" fmla="*/ 0 h 471"/>
                  <a:gd name="T8" fmla="*/ 0 w 32"/>
                  <a:gd name="T9" fmla="*/ 0 h 471"/>
                  <a:gd name="T10" fmla="*/ 0 w 32"/>
                  <a:gd name="T11" fmla="*/ 0 h 471"/>
                  <a:gd name="T12" fmla="*/ 0 w 32"/>
                  <a:gd name="T13" fmla="*/ 0 h 471"/>
                  <a:gd name="T14" fmla="*/ 0 w 32"/>
                  <a:gd name="T15" fmla="*/ 0 h 471"/>
                  <a:gd name="T16" fmla="*/ 0 w 32"/>
                  <a:gd name="T17" fmla="*/ 0 h 471"/>
                  <a:gd name="T18" fmla="*/ 0 w 32"/>
                  <a:gd name="T19" fmla="*/ 0 h 471"/>
                  <a:gd name="T20" fmla="*/ 0 w 32"/>
                  <a:gd name="T21" fmla="*/ 0 h 471"/>
                  <a:gd name="T22" fmla="*/ 0 w 32"/>
                  <a:gd name="T23" fmla="*/ 0 h 47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71">
                    <a:moveTo>
                      <a:pt x="0" y="471"/>
                    </a:moveTo>
                    <a:lnTo>
                      <a:pt x="0" y="13"/>
                    </a:lnTo>
                    <a:lnTo>
                      <a:pt x="4" y="11"/>
                    </a:lnTo>
                    <a:lnTo>
                      <a:pt x="8" y="9"/>
                    </a:lnTo>
                    <a:lnTo>
                      <a:pt x="12" y="8"/>
                    </a:lnTo>
                    <a:lnTo>
                      <a:pt x="16" y="6"/>
                    </a:lnTo>
                    <a:lnTo>
                      <a:pt x="21" y="5"/>
                    </a:lnTo>
                    <a:lnTo>
                      <a:pt x="24" y="3"/>
                    </a:lnTo>
                    <a:lnTo>
                      <a:pt x="28" y="1"/>
                    </a:lnTo>
                    <a:lnTo>
                      <a:pt x="32" y="0"/>
                    </a:lnTo>
                    <a:lnTo>
                      <a:pt x="32" y="471"/>
                    </a:lnTo>
                    <a:lnTo>
                      <a:pt x="0" y="47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96" name="Freeform 3460"/>
              <p:cNvSpPr>
                <a:spLocks noChangeAspect="1"/>
              </p:cNvSpPr>
              <p:nvPr/>
            </p:nvSpPr>
            <p:spPr bwMode="auto">
              <a:xfrm>
                <a:off x="5333" y="1010"/>
                <a:ext cx="11" cy="159"/>
              </a:xfrm>
              <a:custGeom>
                <a:avLst/>
                <a:gdLst>
                  <a:gd name="T0" fmla="*/ 0 w 32"/>
                  <a:gd name="T1" fmla="*/ 0 h 477"/>
                  <a:gd name="T2" fmla="*/ 0 w 32"/>
                  <a:gd name="T3" fmla="*/ 0 h 477"/>
                  <a:gd name="T4" fmla="*/ 0 w 32"/>
                  <a:gd name="T5" fmla="*/ 0 h 477"/>
                  <a:gd name="T6" fmla="*/ 0 w 32"/>
                  <a:gd name="T7" fmla="*/ 0 h 477"/>
                  <a:gd name="T8" fmla="*/ 0 w 32"/>
                  <a:gd name="T9" fmla="*/ 0 h 477"/>
                  <a:gd name="T10" fmla="*/ 0 w 32"/>
                  <a:gd name="T11" fmla="*/ 0 h 477"/>
                  <a:gd name="T12" fmla="*/ 0 w 32"/>
                  <a:gd name="T13" fmla="*/ 0 h 477"/>
                  <a:gd name="T14" fmla="*/ 0 w 32"/>
                  <a:gd name="T15" fmla="*/ 0 h 477"/>
                  <a:gd name="T16" fmla="*/ 0 w 32"/>
                  <a:gd name="T17" fmla="*/ 0 h 477"/>
                  <a:gd name="T18" fmla="*/ 0 w 32"/>
                  <a:gd name="T19" fmla="*/ 0 h 477"/>
                  <a:gd name="T20" fmla="*/ 0 w 32"/>
                  <a:gd name="T21" fmla="*/ 0 h 477"/>
                  <a:gd name="T22" fmla="*/ 0 w 32"/>
                  <a:gd name="T23" fmla="*/ 0 h 4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77">
                    <a:moveTo>
                      <a:pt x="0" y="477"/>
                    </a:moveTo>
                    <a:lnTo>
                      <a:pt x="0" y="12"/>
                    </a:lnTo>
                    <a:lnTo>
                      <a:pt x="5" y="11"/>
                    </a:lnTo>
                    <a:lnTo>
                      <a:pt x="8" y="9"/>
                    </a:lnTo>
                    <a:lnTo>
                      <a:pt x="12" y="7"/>
                    </a:lnTo>
                    <a:lnTo>
                      <a:pt x="16" y="6"/>
                    </a:lnTo>
                    <a:lnTo>
                      <a:pt x="21" y="4"/>
                    </a:lnTo>
                    <a:lnTo>
                      <a:pt x="25" y="3"/>
                    </a:lnTo>
                    <a:lnTo>
                      <a:pt x="28" y="2"/>
                    </a:lnTo>
                    <a:lnTo>
                      <a:pt x="32" y="0"/>
                    </a:lnTo>
                    <a:lnTo>
                      <a:pt x="32" y="477"/>
                    </a:lnTo>
                    <a:lnTo>
                      <a:pt x="0" y="47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97" name="Freeform 3461"/>
              <p:cNvSpPr>
                <a:spLocks noChangeAspect="1"/>
              </p:cNvSpPr>
              <p:nvPr/>
            </p:nvSpPr>
            <p:spPr bwMode="auto">
              <a:xfrm>
                <a:off x="5339" y="1009"/>
                <a:ext cx="10" cy="160"/>
              </a:xfrm>
              <a:custGeom>
                <a:avLst/>
                <a:gdLst>
                  <a:gd name="T0" fmla="*/ 0 w 32"/>
                  <a:gd name="T1" fmla="*/ 0 h 481"/>
                  <a:gd name="T2" fmla="*/ 0 w 32"/>
                  <a:gd name="T3" fmla="*/ 0 h 481"/>
                  <a:gd name="T4" fmla="*/ 0 w 32"/>
                  <a:gd name="T5" fmla="*/ 0 h 481"/>
                  <a:gd name="T6" fmla="*/ 0 w 32"/>
                  <a:gd name="T7" fmla="*/ 0 h 481"/>
                  <a:gd name="T8" fmla="*/ 0 w 32"/>
                  <a:gd name="T9" fmla="*/ 0 h 481"/>
                  <a:gd name="T10" fmla="*/ 0 w 32"/>
                  <a:gd name="T11" fmla="*/ 0 h 481"/>
                  <a:gd name="T12" fmla="*/ 0 w 32"/>
                  <a:gd name="T13" fmla="*/ 0 h 481"/>
                  <a:gd name="T14" fmla="*/ 0 w 32"/>
                  <a:gd name="T15" fmla="*/ 0 h 481"/>
                  <a:gd name="T16" fmla="*/ 0 w 32"/>
                  <a:gd name="T17" fmla="*/ 0 h 481"/>
                  <a:gd name="T18" fmla="*/ 0 w 32"/>
                  <a:gd name="T19" fmla="*/ 0 h 481"/>
                  <a:gd name="T20" fmla="*/ 0 w 32"/>
                  <a:gd name="T21" fmla="*/ 0 h 481"/>
                  <a:gd name="T22" fmla="*/ 0 w 32"/>
                  <a:gd name="T23" fmla="*/ 0 h 4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81">
                    <a:moveTo>
                      <a:pt x="0" y="481"/>
                    </a:moveTo>
                    <a:lnTo>
                      <a:pt x="0" y="10"/>
                    </a:lnTo>
                    <a:lnTo>
                      <a:pt x="5" y="8"/>
                    </a:lnTo>
                    <a:lnTo>
                      <a:pt x="9" y="7"/>
                    </a:lnTo>
                    <a:lnTo>
                      <a:pt x="12" y="6"/>
                    </a:lnTo>
                    <a:lnTo>
                      <a:pt x="16" y="5"/>
                    </a:lnTo>
                    <a:lnTo>
                      <a:pt x="21" y="3"/>
                    </a:lnTo>
                    <a:lnTo>
                      <a:pt x="25" y="2"/>
                    </a:lnTo>
                    <a:lnTo>
                      <a:pt x="29" y="1"/>
                    </a:lnTo>
                    <a:lnTo>
                      <a:pt x="32" y="0"/>
                    </a:lnTo>
                    <a:lnTo>
                      <a:pt x="32" y="481"/>
                    </a:lnTo>
                    <a:lnTo>
                      <a:pt x="0" y="4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98" name="Freeform 3462"/>
              <p:cNvSpPr>
                <a:spLocks noChangeAspect="1"/>
              </p:cNvSpPr>
              <p:nvPr/>
            </p:nvSpPr>
            <p:spPr bwMode="auto">
              <a:xfrm>
                <a:off x="5344" y="1008"/>
                <a:ext cx="11" cy="161"/>
              </a:xfrm>
              <a:custGeom>
                <a:avLst/>
                <a:gdLst>
                  <a:gd name="T0" fmla="*/ 0 w 33"/>
                  <a:gd name="T1" fmla="*/ 0 h 485"/>
                  <a:gd name="T2" fmla="*/ 0 w 33"/>
                  <a:gd name="T3" fmla="*/ 0 h 485"/>
                  <a:gd name="T4" fmla="*/ 0 w 33"/>
                  <a:gd name="T5" fmla="*/ 0 h 485"/>
                  <a:gd name="T6" fmla="*/ 0 w 33"/>
                  <a:gd name="T7" fmla="*/ 0 h 485"/>
                  <a:gd name="T8" fmla="*/ 0 w 33"/>
                  <a:gd name="T9" fmla="*/ 0 h 485"/>
                  <a:gd name="T10" fmla="*/ 0 w 33"/>
                  <a:gd name="T11" fmla="*/ 0 h 485"/>
                  <a:gd name="T12" fmla="*/ 0 w 33"/>
                  <a:gd name="T13" fmla="*/ 0 h 485"/>
                  <a:gd name="T14" fmla="*/ 0 w 33"/>
                  <a:gd name="T15" fmla="*/ 0 h 485"/>
                  <a:gd name="T16" fmla="*/ 0 w 33"/>
                  <a:gd name="T17" fmla="*/ 0 h 485"/>
                  <a:gd name="T18" fmla="*/ 0 w 33"/>
                  <a:gd name="T19" fmla="*/ 0 h 485"/>
                  <a:gd name="T20" fmla="*/ 0 w 33"/>
                  <a:gd name="T21" fmla="*/ 0 h 485"/>
                  <a:gd name="T22" fmla="*/ 0 w 33"/>
                  <a:gd name="T23" fmla="*/ 0 h 4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85">
                    <a:moveTo>
                      <a:pt x="0" y="485"/>
                    </a:moveTo>
                    <a:lnTo>
                      <a:pt x="0" y="8"/>
                    </a:lnTo>
                    <a:lnTo>
                      <a:pt x="5" y="7"/>
                    </a:lnTo>
                    <a:lnTo>
                      <a:pt x="9" y="6"/>
                    </a:lnTo>
                    <a:lnTo>
                      <a:pt x="13" y="5"/>
                    </a:lnTo>
                    <a:lnTo>
                      <a:pt x="16" y="4"/>
                    </a:lnTo>
                    <a:lnTo>
                      <a:pt x="21" y="3"/>
                    </a:lnTo>
                    <a:lnTo>
                      <a:pt x="25" y="2"/>
                    </a:lnTo>
                    <a:lnTo>
                      <a:pt x="29" y="1"/>
                    </a:lnTo>
                    <a:lnTo>
                      <a:pt x="33" y="0"/>
                    </a:lnTo>
                    <a:lnTo>
                      <a:pt x="33" y="485"/>
                    </a:lnTo>
                    <a:lnTo>
                      <a:pt x="0" y="48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99" name="Freeform 3463"/>
              <p:cNvSpPr>
                <a:spLocks noChangeAspect="1"/>
              </p:cNvSpPr>
              <p:nvPr/>
            </p:nvSpPr>
            <p:spPr bwMode="auto">
              <a:xfrm>
                <a:off x="5349" y="1006"/>
                <a:ext cx="11" cy="163"/>
              </a:xfrm>
              <a:custGeom>
                <a:avLst/>
                <a:gdLst>
                  <a:gd name="T0" fmla="*/ 0 w 33"/>
                  <a:gd name="T1" fmla="*/ 0 h 489"/>
                  <a:gd name="T2" fmla="*/ 0 w 33"/>
                  <a:gd name="T3" fmla="*/ 0 h 489"/>
                  <a:gd name="T4" fmla="*/ 0 w 33"/>
                  <a:gd name="T5" fmla="*/ 0 h 489"/>
                  <a:gd name="T6" fmla="*/ 0 w 33"/>
                  <a:gd name="T7" fmla="*/ 0 h 489"/>
                  <a:gd name="T8" fmla="*/ 0 w 33"/>
                  <a:gd name="T9" fmla="*/ 0 h 489"/>
                  <a:gd name="T10" fmla="*/ 0 w 33"/>
                  <a:gd name="T11" fmla="*/ 0 h 489"/>
                  <a:gd name="T12" fmla="*/ 0 w 33"/>
                  <a:gd name="T13" fmla="*/ 0 h 489"/>
                  <a:gd name="T14" fmla="*/ 0 w 33"/>
                  <a:gd name="T15" fmla="*/ 0 h 489"/>
                  <a:gd name="T16" fmla="*/ 0 w 33"/>
                  <a:gd name="T17" fmla="*/ 0 h 489"/>
                  <a:gd name="T18" fmla="*/ 0 w 33"/>
                  <a:gd name="T19" fmla="*/ 0 h 489"/>
                  <a:gd name="T20" fmla="*/ 0 w 33"/>
                  <a:gd name="T21" fmla="*/ 0 h 489"/>
                  <a:gd name="T22" fmla="*/ 0 w 33"/>
                  <a:gd name="T23" fmla="*/ 0 h 4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89">
                    <a:moveTo>
                      <a:pt x="0" y="489"/>
                    </a:moveTo>
                    <a:lnTo>
                      <a:pt x="0" y="8"/>
                    </a:lnTo>
                    <a:lnTo>
                      <a:pt x="5" y="7"/>
                    </a:lnTo>
                    <a:lnTo>
                      <a:pt x="9" y="6"/>
                    </a:lnTo>
                    <a:lnTo>
                      <a:pt x="13" y="5"/>
                    </a:lnTo>
                    <a:lnTo>
                      <a:pt x="17" y="4"/>
                    </a:lnTo>
                    <a:lnTo>
                      <a:pt x="21" y="2"/>
                    </a:lnTo>
                    <a:lnTo>
                      <a:pt x="25" y="1"/>
                    </a:lnTo>
                    <a:lnTo>
                      <a:pt x="29" y="1"/>
                    </a:lnTo>
                    <a:lnTo>
                      <a:pt x="33" y="0"/>
                    </a:lnTo>
                    <a:lnTo>
                      <a:pt x="33" y="489"/>
                    </a:lnTo>
                    <a:lnTo>
                      <a:pt x="0" y="4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00" name="Freeform 3464"/>
              <p:cNvSpPr>
                <a:spLocks noChangeAspect="1"/>
              </p:cNvSpPr>
              <p:nvPr/>
            </p:nvSpPr>
            <p:spPr bwMode="auto">
              <a:xfrm>
                <a:off x="5355" y="1005"/>
                <a:ext cx="11" cy="164"/>
              </a:xfrm>
              <a:custGeom>
                <a:avLst/>
                <a:gdLst>
                  <a:gd name="T0" fmla="*/ 0 w 32"/>
                  <a:gd name="T1" fmla="*/ 0 h 492"/>
                  <a:gd name="T2" fmla="*/ 0 w 32"/>
                  <a:gd name="T3" fmla="*/ 0 h 492"/>
                  <a:gd name="T4" fmla="*/ 0 w 32"/>
                  <a:gd name="T5" fmla="*/ 0 h 492"/>
                  <a:gd name="T6" fmla="*/ 0 w 32"/>
                  <a:gd name="T7" fmla="*/ 0 h 492"/>
                  <a:gd name="T8" fmla="*/ 0 w 32"/>
                  <a:gd name="T9" fmla="*/ 0 h 492"/>
                  <a:gd name="T10" fmla="*/ 0 w 32"/>
                  <a:gd name="T11" fmla="*/ 0 h 492"/>
                  <a:gd name="T12" fmla="*/ 0 w 32"/>
                  <a:gd name="T13" fmla="*/ 0 h 492"/>
                  <a:gd name="T14" fmla="*/ 0 w 32"/>
                  <a:gd name="T15" fmla="*/ 0 h 492"/>
                  <a:gd name="T16" fmla="*/ 0 w 32"/>
                  <a:gd name="T17" fmla="*/ 0 h 492"/>
                  <a:gd name="T18" fmla="*/ 0 w 32"/>
                  <a:gd name="T19" fmla="*/ 0 h 492"/>
                  <a:gd name="T20" fmla="*/ 0 w 32"/>
                  <a:gd name="T21" fmla="*/ 0 h 492"/>
                  <a:gd name="T22" fmla="*/ 0 w 32"/>
                  <a:gd name="T23" fmla="*/ 0 h 4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2">
                    <a:moveTo>
                      <a:pt x="0" y="492"/>
                    </a:moveTo>
                    <a:lnTo>
                      <a:pt x="0" y="7"/>
                    </a:lnTo>
                    <a:lnTo>
                      <a:pt x="4" y="5"/>
                    </a:lnTo>
                    <a:lnTo>
                      <a:pt x="8" y="4"/>
                    </a:lnTo>
                    <a:lnTo>
                      <a:pt x="12" y="4"/>
                    </a:lnTo>
                    <a:lnTo>
                      <a:pt x="16" y="3"/>
                    </a:lnTo>
                    <a:lnTo>
                      <a:pt x="20" y="2"/>
                    </a:lnTo>
                    <a:lnTo>
                      <a:pt x="24" y="1"/>
                    </a:lnTo>
                    <a:lnTo>
                      <a:pt x="28" y="1"/>
                    </a:lnTo>
                    <a:lnTo>
                      <a:pt x="32" y="0"/>
                    </a:lnTo>
                    <a:lnTo>
                      <a:pt x="32" y="492"/>
                    </a:lnTo>
                    <a:lnTo>
                      <a:pt x="0" y="49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01" name="Freeform 3465"/>
              <p:cNvSpPr>
                <a:spLocks noChangeAspect="1"/>
              </p:cNvSpPr>
              <p:nvPr/>
            </p:nvSpPr>
            <p:spPr bwMode="auto">
              <a:xfrm>
                <a:off x="5360" y="1005"/>
                <a:ext cx="11" cy="164"/>
              </a:xfrm>
              <a:custGeom>
                <a:avLst/>
                <a:gdLst>
                  <a:gd name="T0" fmla="*/ 0 w 32"/>
                  <a:gd name="T1" fmla="*/ 0 h 494"/>
                  <a:gd name="T2" fmla="*/ 0 w 32"/>
                  <a:gd name="T3" fmla="*/ 0 h 494"/>
                  <a:gd name="T4" fmla="*/ 0 w 32"/>
                  <a:gd name="T5" fmla="*/ 0 h 494"/>
                  <a:gd name="T6" fmla="*/ 0 w 32"/>
                  <a:gd name="T7" fmla="*/ 0 h 494"/>
                  <a:gd name="T8" fmla="*/ 0 w 32"/>
                  <a:gd name="T9" fmla="*/ 0 h 494"/>
                  <a:gd name="T10" fmla="*/ 0 w 32"/>
                  <a:gd name="T11" fmla="*/ 0 h 494"/>
                  <a:gd name="T12" fmla="*/ 0 w 32"/>
                  <a:gd name="T13" fmla="*/ 0 h 494"/>
                  <a:gd name="T14" fmla="*/ 0 w 32"/>
                  <a:gd name="T15" fmla="*/ 0 h 494"/>
                  <a:gd name="T16" fmla="*/ 0 w 32"/>
                  <a:gd name="T17" fmla="*/ 0 h 494"/>
                  <a:gd name="T18" fmla="*/ 0 w 32"/>
                  <a:gd name="T19" fmla="*/ 0 h 494"/>
                  <a:gd name="T20" fmla="*/ 0 w 32"/>
                  <a:gd name="T21" fmla="*/ 0 h 494"/>
                  <a:gd name="T22" fmla="*/ 0 w 32"/>
                  <a:gd name="T23" fmla="*/ 0 h 49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4">
                    <a:moveTo>
                      <a:pt x="0" y="494"/>
                    </a:moveTo>
                    <a:lnTo>
                      <a:pt x="0" y="5"/>
                    </a:lnTo>
                    <a:lnTo>
                      <a:pt x="5" y="4"/>
                    </a:lnTo>
                    <a:lnTo>
                      <a:pt x="8" y="3"/>
                    </a:lnTo>
                    <a:lnTo>
                      <a:pt x="12" y="3"/>
                    </a:lnTo>
                    <a:lnTo>
                      <a:pt x="16" y="2"/>
                    </a:lnTo>
                    <a:lnTo>
                      <a:pt x="21" y="2"/>
                    </a:lnTo>
                    <a:lnTo>
                      <a:pt x="25" y="1"/>
                    </a:lnTo>
                    <a:lnTo>
                      <a:pt x="28" y="1"/>
                    </a:lnTo>
                    <a:lnTo>
                      <a:pt x="32" y="0"/>
                    </a:lnTo>
                    <a:lnTo>
                      <a:pt x="32" y="494"/>
                    </a:lnTo>
                    <a:lnTo>
                      <a:pt x="0" y="49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02" name="Freeform 3466"/>
              <p:cNvSpPr>
                <a:spLocks noChangeAspect="1"/>
              </p:cNvSpPr>
              <p:nvPr/>
            </p:nvSpPr>
            <p:spPr bwMode="auto">
              <a:xfrm>
                <a:off x="5366" y="1004"/>
                <a:ext cx="10" cy="165"/>
              </a:xfrm>
              <a:custGeom>
                <a:avLst/>
                <a:gdLst>
                  <a:gd name="T0" fmla="*/ 0 w 32"/>
                  <a:gd name="T1" fmla="*/ 0 h 496"/>
                  <a:gd name="T2" fmla="*/ 0 w 32"/>
                  <a:gd name="T3" fmla="*/ 0 h 496"/>
                  <a:gd name="T4" fmla="*/ 0 w 32"/>
                  <a:gd name="T5" fmla="*/ 0 h 496"/>
                  <a:gd name="T6" fmla="*/ 0 w 32"/>
                  <a:gd name="T7" fmla="*/ 0 h 496"/>
                  <a:gd name="T8" fmla="*/ 0 w 32"/>
                  <a:gd name="T9" fmla="*/ 0 h 496"/>
                  <a:gd name="T10" fmla="*/ 0 w 32"/>
                  <a:gd name="T11" fmla="*/ 0 h 496"/>
                  <a:gd name="T12" fmla="*/ 0 w 32"/>
                  <a:gd name="T13" fmla="*/ 0 h 496"/>
                  <a:gd name="T14" fmla="*/ 0 w 32"/>
                  <a:gd name="T15" fmla="*/ 0 h 496"/>
                  <a:gd name="T16" fmla="*/ 0 w 32"/>
                  <a:gd name="T17" fmla="*/ 0 h 496"/>
                  <a:gd name="T18" fmla="*/ 0 w 32"/>
                  <a:gd name="T19" fmla="*/ 0 h 496"/>
                  <a:gd name="T20" fmla="*/ 0 w 32"/>
                  <a:gd name="T21" fmla="*/ 0 h 496"/>
                  <a:gd name="T22" fmla="*/ 0 w 32"/>
                  <a:gd name="T23" fmla="*/ 0 h 49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6">
                    <a:moveTo>
                      <a:pt x="0" y="496"/>
                    </a:moveTo>
                    <a:lnTo>
                      <a:pt x="0" y="4"/>
                    </a:lnTo>
                    <a:lnTo>
                      <a:pt x="5" y="4"/>
                    </a:lnTo>
                    <a:lnTo>
                      <a:pt x="9" y="3"/>
                    </a:lnTo>
                    <a:lnTo>
                      <a:pt x="12" y="3"/>
                    </a:lnTo>
                    <a:lnTo>
                      <a:pt x="16" y="2"/>
                    </a:lnTo>
                    <a:lnTo>
                      <a:pt x="21" y="2"/>
                    </a:lnTo>
                    <a:lnTo>
                      <a:pt x="25" y="1"/>
                    </a:lnTo>
                    <a:lnTo>
                      <a:pt x="29" y="1"/>
                    </a:lnTo>
                    <a:lnTo>
                      <a:pt x="32" y="0"/>
                    </a:lnTo>
                    <a:lnTo>
                      <a:pt x="32" y="496"/>
                    </a:lnTo>
                    <a:lnTo>
                      <a:pt x="0" y="49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03" name="Freeform 3467"/>
              <p:cNvSpPr>
                <a:spLocks noChangeAspect="1"/>
              </p:cNvSpPr>
              <p:nvPr/>
            </p:nvSpPr>
            <p:spPr bwMode="auto">
              <a:xfrm>
                <a:off x="5371" y="1004"/>
                <a:ext cx="11" cy="165"/>
              </a:xfrm>
              <a:custGeom>
                <a:avLst/>
                <a:gdLst>
                  <a:gd name="T0" fmla="*/ 0 w 33"/>
                  <a:gd name="T1" fmla="*/ 0 h 497"/>
                  <a:gd name="T2" fmla="*/ 0 w 33"/>
                  <a:gd name="T3" fmla="*/ 0 h 497"/>
                  <a:gd name="T4" fmla="*/ 0 w 33"/>
                  <a:gd name="T5" fmla="*/ 0 h 497"/>
                  <a:gd name="T6" fmla="*/ 0 w 33"/>
                  <a:gd name="T7" fmla="*/ 0 h 497"/>
                  <a:gd name="T8" fmla="*/ 0 w 33"/>
                  <a:gd name="T9" fmla="*/ 0 h 497"/>
                  <a:gd name="T10" fmla="*/ 0 w 33"/>
                  <a:gd name="T11" fmla="*/ 0 h 497"/>
                  <a:gd name="T12" fmla="*/ 0 w 33"/>
                  <a:gd name="T13" fmla="*/ 0 h 497"/>
                  <a:gd name="T14" fmla="*/ 0 w 33"/>
                  <a:gd name="T15" fmla="*/ 0 h 497"/>
                  <a:gd name="T16" fmla="*/ 0 w 33"/>
                  <a:gd name="T17" fmla="*/ 0 h 497"/>
                  <a:gd name="T18" fmla="*/ 0 w 33"/>
                  <a:gd name="T19" fmla="*/ 0 h 497"/>
                  <a:gd name="T20" fmla="*/ 0 w 33"/>
                  <a:gd name="T21" fmla="*/ 0 h 497"/>
                  <a:gd name="T22" fmla="*/ 0 w 33"/>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97">
                    <a:moveTo>
                      <a:pt x="0" y="497"/>
                    </a:moveTo>
                    <a:lnTo>
                      <a:pt x="0" y="3"/>
                    </a:lnTo>
                    <a:lnTo>
                      <a:pt x="5" y="3"/>
                    </a:lnTo>
                    <a:lnTo>
                      <a:pt x="9" y="2"/>
                    </a:lnTo>
                    <a:lnTo>
                      <a:pt x="12" y="2"/>
                    </a:lnTo>
                    <a:lnTo>
                      <a:pt x="16" y="1"/>
                    </a:lnTo>
                    <a:lnTo>
                      <a:pt x="20" y="1"/>
                    </a:lnTo>
                    <a:lnTo>
                      <a:pt x="25" y="1"/>
                    </a:lnTo>
                    <a:lnTo>
                      <a:pt x="29" y="1"/>
                    </a:lnTo>
                    <a:lnTo>
                      <a:pt x="33" y="0"/>
                    </a:lnTo>
                    <a:lnTo>
                      <a:pt x="33"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04" name="Freeform 3468"/>
              <p:cNvSpPr>
                <a:spLocks noChangeAspect="1"/>
              </p:cNvSpPr>
              <p:nvPr/>
            </p:nvSpPr>
            <p:spPr bwMode="auto">
              <a:xfrm>
                <a:off x="5376" y="1004"/>
                <a:ext cx="11" cy="165"/>
              </a:xfrm>
              <a:custGeom>
                <a:avLst/>
                <a:gdLst>
                  <a:gd name="T0" fmla="*/ 0 w 33"/>
                  <a:gd name="T1" fmla="*/ 0 h 497"/>
                  <a:gd name="T2" fmla="*/ 0 w 33"/>
                  <a:gd name="T3" fmla="*/ 0 h 497"/>
                  <a:gd name="T4" fmla="*/ 0 w 33"/>
                  <a:gd name="T5" fmla="*/ 0 h 497"/>
                  <a:gd name="T6" fmla="*/ 0 w 33"/>
                  <a:gd name="T7" fmla="*/ 0 h 497"/>
                  <a:gd name="T8" fmla="*/ 0 w 33"/>
                  <a:gd name="T9" fmla="*/ 0 h 497"/>
                  <a:gd name="T10" fmla="*/ 0 w 33"/>
                  <a:gd name="T11" fmla="*/ 0 h 497"/>
                  <a:gd name="T12" fmla="*/ 0 w 33"/>
                  <a:gd name="T13" fmla="*/ 0 h 497"/>
                  <a:gd name="T14" fmla="*/ 0 w 33"/>
                  <a:gd name="T15" fmla="*/ 0 h 497"/>
                  <a:gd name="T16" fmla="*/ 0 w 33"/>
                  <a:gd name="T17" fmla="*/ 0 h 497"/>
                  <a:gd name="T18" fmla="*/ 0 w 33"/>
                  <a:gd name="T19" fmla="*/ 0 h 497"/>
                  <a:gd name="T20" fmla="*/ 0 w 33"/>
                  <a:gd name="T21" fmla="*/ 0 h 497"/>
                  <a:gd name="T22" fmla="*/ 0 w 33"/>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97">
                    <a:moveTo>
                      <a:pt x="0" y="497"/>
                    </a:moveTo>
                    <a:lnTo>
                      <a:pt x="0" y="1"/>
                    </a:lnTo>
                    <a:lnTo>
                      <a:pt x="4" y="1"/>
                    </a:lnTo>
                    <a:lnTo>
                      <a:pt x="9" y="1"/>
                    </a:lnTo>
                    <a:lnTo>
                      <a:pt x="13" y="1"/>
                    </a:lnTo>
                    <a:lnTo>
                      <a:pt x="16" y="0"/>
                    </a:lnTo>
                    <a:lnTo>
                      <a:pt x="20" y="0"/>
                    </a:lnTo>
                    <a:lnTo>
                      <a:pt x="25" y="0"/>
                    </a:lnTo>
                    <a:lnTo>
                      <a:pt x="29" y="0"/>
                    </a:lnTo>
                    <a:lnTo>
                      <a:pt x="33" y="0"/>
                    </a:lnTo>
                    <a:lnTo>
                      <a:pt x="33"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05" name="Freeform 3469"/>
              <p:cNvSpPr>
                <a:spLocks noChangeAspect="1"/>
              </p:cNvSpPr>
              <p:nvPr/>
            </p:nvSpPr>
            <p:spPr bwMode="auto">
              <a:xfrm>
                <a:off x="5382" y="1004"/>
                <a:ext cx="11" cy="165"/>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w 32"/>
                  <a:gd name="T25" fmla="*/ 0 h 497"/>
                  <a:gd name="T26" fmla="*/ 0 w 32"/>
                  <a:gd name="T27" fmla="*/ 0 h 497"/>
                  <a:gd name="T28" fmla="*/ 0 w 32"/>
                  <a:gd name="T29" fmla="*/ 0 h 497"/>
                  <a:gd name="T30" fmla="*/ 0 w 32"/>
                  <a:gd name="T31" fmla="*/ 0 h 497"/>
                  <a:gd name="T32" fmla="*/ 0 w 32"/>
                  <a:gd name="T33" fmla="*/ 0 h 497"/>
                  <a:gd name="T34" fmla="*/ 0 w 32"/>
                  <a:gd name="T35" fmla="*/ 0 h 497"/>
                  <a:gd name="T36" fmla="*/ 0 w 32"/>
                  <a:gd name="T37" fmla="*/ 0 h 497"/>
                  <a:gd name="T38" fmla="*/ 0 w 32"/>
                  <a:gd name="T39" fmla="*/ 0 h 497"/>
                  <a:gd name="T40" fmla="*/ 0 w 32"/>
                  <a:gd name="T41" fmla="*/ 0 h 49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 h="497">
                    <a:moveTo>
                      <a:pt x="0" y="497"/>
                    </a:moveTo>
                    <a:lnTo>
                      <a:pt x="0" y="0"/>
                    </a:lnTo>
                    <a:lnTo>
                      <a:pt x="2" y="0"/>
                    </a:lnTo>
                    <a:lnTo>
                      <a:pt x="6" y="0"/>
                    </a:lnTo>
                    <a:lnTo>
                      <a:pt x="9" y="0"/>
                    </a:lnTo>
                    <a:lnTo>
                      <a:pt x="12" y="0"/>
                    </a:lnTo>
                    <a:lnTo>
                      <a:pt x="15" y="0"/>
                    </a:lnTo>
                    <a:lnTo>
                      <a:pt x="18" y="0"/>
                    </a:lnTo>
                    <a:lnTo>
                      <a:pt x="20" y="0"/>
                    </a:lnTo>
                    <a:lnTo>
                      <a:pt x="24" y="0"/>
                    </a:lnTo>
                    <a:lnTo>
                      <a:pt x="25" y="0"/>
                    </a:lnTo>
                    <a:lnTo>
                      <a:pt x="26" y="0"/>
                    </a:lnTo>
                    <a:lnTo>
                      <a:pt x="27" y="0"/>
                    </a:lnTo>
                    <a:lnTo>
                      <a:pt x="28" y="0"/>
                    </a:lnTo>
                    <a:lnTo>
                      <a:pt x="29" y="0"/>
                    </a:lnTo>
                    <a:lnTo>
                      <a:pt x="30" y="0"/>
                    </a:lnTo>
                    <a:lnTo>
                      <a:pt x="31" y="0"/>
                    </a:lnTo>
                    <a:lnTo>
                      <a:pt x="32" y="0"/>
                    </a:lnTo>
                    <a:lnTo>
                      <a:pt x="32" y="497"/>
                    </a:lnTo>
                    <a:lnTo>
                      <a:pt x="31"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06" name="Freeform 3470"/>
              <p:cNvSpPr>
                <a:spLocks noChangeAspect="1"/>
              </p:cNvSpPr>
              <p:nvPr/>
            </p:nvSpPr>
            <p:spPr bwMode="auto">
              <a:xfrm>
                <a:off x="5387" y="1004"/>
                <a:ext cx="11" cy="165"/>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w 32"/>
                  <a:gd name="T25" fmla="*/ 0 h 497"/>
                  <a:gd name="T26" fmla="*/ 0 w 32"/>
                  <a:gd name="T27" fmla="*/ 0 h 497"/>
                  <a:gd name="T28" fmla="*/ 0 w 32"/>
                  <a:gd name="T29" fmla="*/ 0 h 497"/>
                  <a:gd name="T30" fmla="*/ 0 w 32"/>
                  <a:gd name="T31" fmla="*/ 0 h 497"/>
                  <a:gd name="T32" fmla="*/ 0 w 32"/>
                  <a:gd name="T33" fmla="*/ 0 h 497"/>
                  <a:gd name="T34" fmla="*/ 0 w 32"/>
                  <a:gd name="T35" fmla="*/ 0 h 497"/>
                  <a:gd name="T36" fmla="*/ 0 w 32"/>
                  <a:gd name="T37" fmla="*/ 0 h 497"/>
                  <a:gd name="T38" fmla="*/ 0 w 32"/>
                  <a:gd name="T39" fmla="*/ 0 h 497"/>
                  <a:gd name="T40" fmla="*/ 0 w 32"/>
                  <a:gd name="T41" fmla="*/ 0 h 49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 h="497">
                    <a:moveTo>
                      <a:pt x="0" y="497"/>
                    </a:moveTo>
                    <a:lnTo>
                      <a:pt x="0" y="0"/>
                    </a:lnTo>
                    <a:lnTo>
                      <a:pt x="1" y="0"/>
                    </a:lnTo>
                    <a:lnTo>
                      <a:pt x="2" y="0"/>
                    </a:lnTo>
                    <a:lnTo>
                      <a:pt x="3" y="0"/>
                    </a:lnTo>
                    <a:lnTo>
                      <a:pt x="4" y="0"/>
                    </a:lnTo>
                    <a:lnTo>
                      <a:pt x="6" y="0"/>
                    </a:lnTo>
                    <a:lnTo>
                      <a:pt x="7" y="0"/>
                    </a:lnTo>
                    <a:lnTo>
                      <a:pt x="8" y="0"/>
                    </a:lnTo>
                    <a:lnTo>
                      <a:pt x="11" y="0"/>
                    </a:lnTo>
                    <a:lnTo>
                      <a:pt x="14" y="0"/>
                    </a:lnTo>
                    <a:lnTo>
                      <a:pt x="17" y="0"/>
                    </a:lnTo>
                    <a:lnTo>
                      <a:pt x="20" y="0"/>
                    </a:lnTo>
                    <a:lnTo>
                      <a:pt x="24" y="0"/>
                    </a:lnTo>
                    <a:lnTo>
                      <a:pt x="26" y="0"/>
                    </a:lnTo>
                    <a:lnTo>
                      <a:pt x="29" y="0"/>
                    </a:lnTo>
                    <a:lnTo>
                      <a:pt x="32" y="0"/>
                    </a:lnTo>
                    <a:lnTo>
                      <a:pt x="32" y="481"/>
                    </a:lnTo>
                    <a:lnTo>
                      <a:pt x="15"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07" name="Freeform 3471"/>
              <p:cNvSpPr>
                <a:spLocks noChangeAspect="1"/>
              </p:cNvSpPr>
              <p:nvPr/>
            </p:nvSpPr>
            <p:spPr bwMode="auto">
              <a:xfrm>
                <a:off x="5393" y="1004"/>
                <a:ext cx="10" cy="165"/>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7">
                    <a:moveTo>
                      <a:pt x="0" y="497"/>
                    </a:moveTo>
                    <a:lnTo>
                      <a:pt x="0" y="0"/>
                    </a:lnTo>
                    <a:lnTo>
                      <a:pt x="4" y="0"/>
                    </a:lnTo>
                    <a:lnTo>
                      <a:pt x="9" y="0"/>
                    </a:lnTo>
                    <a:lnTo>
                      <a:pt x="12" y="0"/>
                    </a:lnTo>
                    <a:lnTo>
                      <a:pt x="16" y="0"/>
                    </a:lnTo>
                    <a:lnTo>
                      <a:pt x="20" y="1"/>
                    </a:lnTo>
                    <a:lnTo>
                      <a:pt x="25" y="1"/>
                    </a:lnTo>
                    <a:lnTo>
                      <a:pt x="28" y="1"/>
                    </a:lnTo>
                    <a:lnTo>
                      <a:pt x="32" y="1"/>
                    </a:lnTo>
                    <a:lnTo>
                      <a:pt x="32" y="466"/>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08" name="Freeform 3472"/>
              <p:cNvSpPr>
                <a:spLocks noChangeAspect="1"/>
              </p:cNvSpPr>
              <p:nvPr/>
            </p:nvSpPr>
            <p:spPr bwMode="auto">
              <a:xfrm>
                <a:off x="5398" y="1004"/>
                <a:ext cx="11" cy="160"/>
              </a:xfrm>
              <a:custGeom>
                <a:avLst/>
                <a:gdLst>
                  <a:gd name="T0" fmla="*/ 0 w 32"/>
                  <a:gd name="T1" fmla="*/ 0 h 481"/>
                  <a:gd name="T2" fmla="*/ 0 w 32"/>
                  <a:gd name="T3" fmla="*/ 0 h 481"/>
                  <a:gd name="T4" fmla="*/ 0 w 32"/>
                  <a:gd name="T5" fmla="*/ 0 h 481"/>
                  <a:gd name="T6" fmla="*/ 0 w 32"/>
                  <a:gd name="T7" fmla="*/ 0 h 481"/>
                  <a:gd name="T8" fmla="*/ 0 w 32"/>
                  <a:gd name="T9" fmla="*/ 0 h 481"/>
                  <a:gd name="T10" fmla="*/ 0 w 32"/>
                  <a:gd name="T11" fmla="*/ 0 h 481"/>
                  <a:gd name="T12" fmla="*/ 0 w 32"/>
                  <a:gd name="T13" fmla="*/ 0 h 481"/>
                  <a:gd name="T14" fmla="*/ 0 w 32"/>
                  <a:gd name="T15" fmla="*/ 0 h 481"/>
                  <a:gd name="T16" fmla="*/ 0 w 32"/>
                  <a:gd name="T17" fmla="*/ 0 h 481"/>
                  <a:gd name="T18" fmla="*/ 0 w 32"/>
                  <a:gd name="T19" fmla="*/ 0 h 481"/>
                  <a:gd name="T20" fmla="*/ 0 w 32"/>
                  <a:gd name="T21" fmla="*/ 0 h 481"/>
                  <a:gd name="T22" fmla="*/ 0 w 32"/>
                  <a:gd name="T23" fmla="*/ 0 h 4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81">
                    <a:moveTo>
                      <a:pt x="0" y="481"/>
                    </a:moveTo>
                    <a:lnTo>
                      <a:pt x="0" y="0"/>
                    </a:lnTo>
                    <a:lnTo>
                      <a:pt x="4" y="1"/>
                    </a:lnTo>
                    <a:lnTo>
                      <a:pt x="9" y="1"/>
                    </a:lnTo>
                    <a:lnTo>
                      <a:pt x="13" y="1"/>
                    </a:lnTo>
                    <a:lnTo>
                      <a:pt x="16" y="1"/>
                    </a:lnTo>
                    <a:lnTo>
                      <a:pt x="20" y="2"/>
                    </a:lnTo>
                    <a:lnTo>
                      <a:pt x="25" y="2"/>
                    </a:lnTo>
                    <a:lnTo>
                      <a:pt x="29" y="3"/>
                    </a:lnTo>
                    <a:lnTo>
                      <a:pt x="32" y="3"/>
                    </a:lnTo>
                    <a:lnTo>
                      <a:pt x="32" y="448"/>
                    </a:lnTo>
                    <a:lnTo>
                      <a:pt x="0" y="4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09" name="Freeform 3473"/>
              <p:cNvSpPr>
                <a:spLocks noChangeAspect="1"/>
              </p:cNvSpPr>
              <p:nvPr/>
            </p:nvSpPr>
            <p:spPr bwMode="auto">
              <a:xfrm>
                <a:off x="5403" y="1004"/>
                <a:ext cx="11" cy="155"/>
              </a:xfrm>
              <a:custGeom>
                <a:avLst/>
                <a:gdLst>
                  <a:gd name="T0" fmla="*/ 0 w 33"/>
                  <a:gd name="T1" fmla="*/ 0 h 465"/>
                  <a:gd name="T2" fmla="*/ 0 w 33"/>
                  <a:gd name="T3" fmla="*/ 0 h 465"/>
                  <a:gd name="T4" fmla="*/ 0 w 33"/>
                  <a:gd name="T5" fmla="*/ 0 h 465"/>
                  <a:gd name="T6" fmla="*/ 0 w 33"/>
                  <a:gd name="T7" fmla="*/ 0 h 465"/>
                  <a:gd name="T8" fmla="*/ 0 w 33"/>
                  <a:gd name="T9" fmla="*/ 0 h 465"/>
                  <a:gd name="T10" fmla="*/ 0 w 33"/>
                  <a:gd name="T11" fmla="*/ 0 h 465"/>
                  <a:gd name="T12" fmla="*/ 0 w 33"/>
                  <a:gd name="T13" fmla="*/ 0 h 465"/>
                  <a:gd name="T14" fmla="*/ 0 w 33"/>
                  <a:gd name="T15" fmla="*/ 0 h 465"/>
                  <a:gd name="T16" fmla="*/ 0 w 33"/>
                  <a:gd name="T17" fmla="*/ 0 h 465"/>
                  <a:gd name="T18" fmla="*/ 0 w 33"/>
                  <a:gd name="T19" fmla="*/ 0 h 465"/>
                  <a:gd name="T20" fmla="*/ 0 w 33"/>
                  <a:gd name="T21" fmla="*/ 0 h 465"/>
                  <a:gd name="T22" fmla="*/ 0 w 33"/>
                  <a:gd name="T23" fmla="*/ 0 h 4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65">
                    <a:moveTo>
                      <a:pt x="0" y="465"/>
                    </a:moveTo>
                    <a:lnTo>
                      <a:pt x="0" y="0"/>
                    </a:lnTo>
                    <a:lnTo>
                      <a:pt x="4" y="1"/>
                    </a:lnTo>
                    <a:lnTo>
                      <a:pt x="9" y="1"/>
                    </a:lnTo>
                    <a:lnTo>
                      <a:pt x="13" y="2"/>
                    </a:lnTo>
                    <a:lnTo>
                      <a:pt x="17" y="2"/>
                    </a:lnTo>
                    <a:lnTo>
                      <a:pt x="20" y="3"/>
                    </a:lnTo>
                    <a:lnTo>
                      <a:pt x="25" y="3"/>
                    </a:lnTo>
                    <a:lnTo>
                      <a:pt x="29" y="4"/>
                    </a:lnTo>
                    <a:lnTo>
                      <a:pt x="33" y="4"/>
                    </a:lnTo>
                    <a:lnTo>
                      <a:pt x="33" y="432"/>
                    </a:lnTo>
                    <a:lnTo>
                      <a:pt x="0" y="4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10" name="Freeform 3474"/>
              <p:cNvSpPr>
                <a:spLocks noChangeAspect="1"/>
              </p:cNvSpPr>
              <p:nvPr/>
            </p:nvSpPr>
            <p:spPr bwMode="auto">
              <a:xfrm>
                <a:off x="5409" y="1005"/>
                <a:ext cx="11" cy="148"/>
              </a:xfrm>
              <a:custGeom>
                <a:avLst/>
                <a:gdLst>
                  <a:gd name="T0" fmla="*/ 0 w 33"/>
                  <a:gd name="T1" fmla="*/ 0 h 445"/>
                  <a:gd name="T2" fmla="*/ 0 w 33"/>
                  <a:gd name="T3" fmla="*/ 0 h 445"/>
                  <a:gd name="T4" fmla="*/ 0 w 33"/>
                  <a:gd name="T5" fmla="*/ 0 h 445"/>
                  <a:gd name="T6" fmla="*/ 0 w 33"/>
                  <a:gd name="T7" fmla="*/ 0 h 445"/>
                  <a:gd name="T8" fmla="*/ 0 w 33"/>
                  <a:gd name="T9" fmla="*/ 0 h 445"/>
                  <a:gd name="T10" fmla="*/ 0 w 33"/>
                  <a:gd name="T11" fmla="*/ 0 h 445"/>
                  <a:gd name="T12" fmla="*/ 0 w 33"/>
                  <a:gd name="T13" fmla="*/ 0 h 445"/>
                  <a:gd name="T14" fmla="*/ 0 w 33"/>
                  <a:gd name="T15" fmla="*/ 0 h 445"/>
                  <a:gd name="T16" fmla="*/ 0 w 33"/>
                  <a:gd name="T17" fmla="*/ 0 h 445"/>
                  <a:gd name="T18" fmla="*/ 0 w 33"/>
                  <a:gd name="T19" fmla="*/ 0 h 445"/>
                  <a:gd name="T20" fmla="*/ 0 w 33"/>
                  <a:gd name="T21" fmla="*/ 0 h 445"/>
                  <a:gd name="T22" fmla="*/ 0 w 33"/>
                  <a:gd name="T23" fmla="*/ 0 h 4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45">
                    <a:moveTo>
                      <a:pt x="0" y="445"/>
                    </a:moveTo>
                    <a:lnTo>
                      <a:pt x="0" y="0"/>
                    </a:lnTo>
                    <a:lnTo>
                      <a:pt x="4" y="1"/>
                    </a:lnTo>
                    <a:lnTo>
                      <a:pt x="9" y="1"/>
                    </a:lnTo>
                    <a:lnTo>
                      <a:pt x="13" y="2"/>
                    </a:lnTo>
                    <a:lnTo>
                      <a:pt x="17" y="2"/>
                    </a:lnTo>
                    <a:lnTo>
                      <a:pt x="21" y="3"/>
                    </a:lnTo>
                    <a:lnTo>
                      <a:pt x="25" y="4"/>
                    </a:lnTo>
                    <a:lnTo>
                      <a:pt x="29" y="4"/>
                    </a:lnTo>
                    <a:lnTo>
                      <a:pt x="33" y="5"/>
                    </a:lnTo>
                    <a:lnTo>
                      <a:pt x="33" y="414"/>
                    </a:lnTo>
                    <a:lnTo>
                      <a:pt x="0" y="44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11" name="Freeform 3475"/>
              <p:cNvSpPr>
                <a:spLocks noChangeAspect="1"/>
              </p:cNvSpPr>
              <p:nvPr/>
            </p:nvSpPr>
            <p:spPr bwMode="auto">
              <a:xfrm>
                <a:off x="5414" y="1005"/>
                <a:ext cx="11" cy="143"/>
              </a:xfrm>
              <a:custGeom>
                <a:avLst/>
                <a:gdLst>
                  <a:gd name="T0" fmla="*/ 0 w 32"/>
                  <a:gd name="T1" fmla="*/ 0 h 428"/>
                  <a:gd name="T2" fmla="*/ 0 w 32"/>
                  <a:gd name="T3" fmla="*/ 0 h 428"/>
                  <a:gd name="T4" fmla="*/ 0 w 32"/>
                  <a:gd name="T5" fmla="*/ 0 h 428"/>
                  <a:gd name="T6" fmla="*/ 0 w 32"/>
                  <a:gd name="T7" fmla="*/ 0 h 428"/>
                  <a:gd name="T8" fmla="*/ 0 w 32"/>
                  <a:gd name="T9" fmla="*/ 0 h 428"/>
                  <a:gd name="T10" fmla="*/ 0 w 32"/>
                  <a:gd name="T11" fmla="*/ 0 h 428"/>
                  <a:gd name="T12" fmla="*/ 0 w 32"/>
                  <a:gd name="T13" fmla="*/ 0 h 428"/>
                  <a:gd name="T14" fmla="*/ 0 w 32"/>
                  <a:gd name="T15" fmla="*/ 0 h 428"/>
                  <a:gd name="T16" fmla="*/ 0 w 32"/>
                  <a:gd name="T17" fmla="*/ 0 h 428"/>
                  <a:gd name="T18" fmla="*/ 0 w 32"/>
                  <a:gd name="T19" fmla="*/ 0 h 428"/>
                  <a:gd name="T20" fmla="*/ 0 w 32"/>
                  <a:gd name="T21" fmla="*/ 0 h 428"/>
                  <a:gd name="T22" fmla="*/ 0 w 32"/>
                  <a:gd name="T23" fmla="*/ 0 h 4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28">
                    <a:moveTo>
                      <a:pt x="0" y="428"/>
                    </a:moveTo>
                    <a:lnTo>
                      <a:pt x="0" y="0"/>
                    </a:lnTo>
                    <a:lnTo>
                      <a:pt x="3" y="1"/>
                    </a:lnTo>
                    <a:lnTo>
                      <a:pt x="8" y="2"/>
                    </a:lnTo>
                    <a:lnTo>
                      <a:pt x="12" y="2"/>
                    </a:lnTo>
                    <a:lnTo>
                      <a:pt x="16" y="3"/>
                    </a:lnTo>
                    <a:lnTo>
                      <a:pt x="20" y="4"/>
                    </a:lnTo>
                    <a:lnTo>
                      <a:pt x="24" y="5"/>
                    </a:lnTo>
                    <a:lnTo>
                      <a:pt x="28" y="5"/>
                    </a:lnTo>
                    <a:lnTo>
                      <a:pt x="32" y="7"/>
                    </a:lnTo>
                    <a:lnTo>
                      <a:pt x="32" y="396"/>
                    </a:lnTo>
                    <a:lnTo>
                      <a:pt x="0" y="42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12" name="Freeform 3476"/>
              <p:cNvSpPr>
                <a:spLocks noChangeAspect="1"/>
              </p:cNvSpPr>
              <p:nvPr/>
            </p:nvSpPr>
            <p:spPr bwMode="auto">
              <a:xfrm>
                <a:off x="5420" y="1006"/>
                <a:ext cx="10" cy="137"/>
              </a:xfrm>
              <a:custGeom>
                <a:avLst/>
                <a:gdLst>
                  <a:gd name="T0" fmla="*/ 0 w 32"/>
                  <a:gd name="T1" fmla="*/ 0 h 409"/>
                  <a:gd name="T2" fmla="*/ 0 w 32"/>
                  <a:gd name="T3" fmla="*/ 0 h 409"/>
                  <a:gd name="T4" fmla="*/ 0 w 32"/>
                  <a:gd name="T5" fmla="*/ 0 h 409"/>
                  <a:gd name="T6" fmla="*/ 0 w 32"/>
                  <a:gd name="T7" fmla="*/ 0 h 409"/>
                  <a:gd name="T8" fmla="*/ 0 w 32"/>
                  <a:gd name="T9" fmla="*/ 0 h 409"/>
                  <a:gd name="T10" fmla="*/ 0 w 32"/>
                  <a:gd name="T11" fmla="*/ 0 h 409"/>
                  <a:gd name="T12" fmla="*/ 0 w 32"/>
                  <a:gd name="T13" fmla="*/ 0 h 409"/>
                  <a:gd name="T14" fmla="*/ 0 w 32"/>
                  <a:gd name="T15" fmla="*/ 0 h 409"/>
                  <a:gd name="T16" fmla="*/ 0 w 32"/>
                  <a:gd name="T17" fmla="*/ 0 h 409"/>
                  <a:gd name="T18" fmla="*/ 0 w 32"/>
                  <a:gd name="T19" fmla="*/ 0 h 409"/>
                  <a:gd name="T20" fmla="*/ 0 w 32"/>
                  <a:gd name="T21" fmla="*/ 0 h 409"/>
                  <a:gd name="T22" fmla="*/ 0 w 32"/>
                  <a:gd name="T23" fmla="*/ 0 h 40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09">
                    <a:moveTo>
                      <a:pt x="0" y="409"/>
                    </a:moveTo>
                    <a:lnTo>
                      <a:pt x="0" y="0"/>
                    </a:lnTo>
                    <a:lnTo>
                      <a:pt x="4" y="1"/>
                    </a:lnTo>
                    <a:lnTo>
                      <a:pt x="8" y="2"/>
                    </a:lnTo>
                    <a:lnTo>
                      <a:pt x="12" y="2"/>
                    </a:lnTo>
                    <a:lnTo>
                      <a:pt x="16" y="4"/>
                    </a:lnTo>
                    <a:lnTo>
                      <a:pt x="20" y="5"/>
                    </a:lnTo>
                    <a:lnTo>
                      <a:pt x="25" y="6"/>
                    </a:lnTo>
                    <a:lnTo>
                      <a:pt x="28" y="7"/>
                    </a:lnTo>
                    <a:lnTo>
                      <a:pt x="32" y="8"/>
                    </a:lnTo>
                    <a:lnTo>
                      <a:pt x="32" y="377"/>
                    </a:lnTo>
                    <a:lnTo>
                      <a:pt x="0" y="40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13" name="Freeform 3477"/>
              <p:cNvSpPr>
                <a:spLocks noChangeAspect="1"/>
              </p:cNvSpPr>
              <p:nvPr/>
            </p:nvSpPr>
            <p:spPr bwMode="auto">
              <a:xfrm>
                <a:off x="5425" y="1008"/>
                <a:ext cx="11" cy="129"/>
              </a:xfrm>
              <a:custGeom>
                <a:avLst/>
                <a:gdLst>
                  <a:gd name="T0" fmla="*/ 0 w 32"/>
                  <a:gd name="T1" fmla="*/ 0 h 389"/>
                  <a:gd name="T2" fmla="*/ 0 w 32"/>
                  <a:gd name="T3" fmla="*/ 0 h 389"/>
                  <a:gd name="T4" fmla="*/ 0 w 32"/>
                  <a:gd name="T5" fmla="*/ 0 h 389"/>
                  <a:gd name="T6" fmla="*/ 0 w 32"/>
                  <a:gd name="T7" fmla="*/ 0 h 389"/>
                  <a:gd name="T8" fmla="*/ 0 w 32"/>
                  <a:gd name="T9" fmla="*/ 0 h 389"/>
                  <a:gd name="T10" fmla="*/ 0 w 32"/>
                  <a:gd name="T11" fmla="*/ 0 h 389"/>
                  <a:gd name="T12" fmla="*/ 0 w 32"/>
                  <a:gd name="T13" fmla="*/ 0 h 389"/>
                  <a:gd name="T14" fmla="*/ 0 w 32"/>
                  <a:gd name="T15" fmla="*/ 0 h 389"/>
                  <a:gd name="T16" fmla="*/ 0 w 32"/>
                  <a:gd name="T17" fmla="*/ 0 h 389"/>
                  <a:gd name="T18" fmla="*/ 0 w 32"/>
                  <a:gd name="T19" fmla="*/ 0 h 389"/>
                  <a:gd name="T20" fmla="*/ 0 w 32"/>
                  <a:gd name="T21" fmla="*/ 0 h 389"/>
                  <a:gd name="T22" fmla="*/ 0 w 32"/>
                  <a:gd name="T23" fmla="*/ 0 h 3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89">
                    <a:moveTo>
                      <a:pt x="0" y="389"/>
                    </a:moveTo>
                    <a:lnTo>
                      <a:pt x="0" y="0"/>
                    </a:lnTo>
                    <a:lnTo>
                      <a:pt x="4" y="1"/>
                    </a:lnTo>
                    <a:lnTo>
                      <a:pt x="9" y="2"/>
                    </a:lnTo>
                    <a:lnTo>
                      <a:pt x="12" y="3"/>
                    </a:lnTo>
                    <a:lnTo>
                      <a:pt x="16" y="4"/>
                    </a:lnTo>
                    <a:lnTo>
                      <a:pt x="20" y="5"/>
                    </a:lnTo>
                    <a:lnTo>
                      <a:pt x="24" y="6"/>
                    </a:lnTo>
                    <a:lnTo>
                      <a:pt x="29" y="7"/>
                    </a:lnTo>
                    <a:lnTo>
                      <a:pt x="32" y="9"/>
                    </a:lnTo>
                    <a:lnTo>
                      <a:pt x="32" y="357"/>
                    </a:lnTo>
                    <a:lnTo>
                      <a:pt x="0" y="3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14" name="Freeform 3478"/>
              <p:cNvSpPr>
                <a:spLocks noChangeAspect="1"/>
              </p:cNvSpPr>
              <p:nvPr/>
            </p:nvSpPr>
            <p:spPr bwMode="auto">
              <a:xfrm>
                <a:off x="5430" y="1009"/>
                <a:ext cx="11" cy="123"/>
              </a:xfrm>
              <a:custGeom>
                <a:avLst/>
                <a:gdLst>
                  <a:gd name="T0" fmla="*/ 0 w 33"/>
                  <a:gd name="T1" fmla="*/ 0 h 369"/>
                  <a:gd name="T2" fmla="*/ 0 w 33"/>
                  <a:gd name="T3" fmla="*/ 0 h 369"/>
                  <a:gd name="T4" fmla="*/ 0 w 33"/>
                  <a:gd name="T5" fmla="*/ 0 h 369"/>
                  <a:gd name="T6" fmla="*/ 0 w 33"/>
                  <a:gd name="T7" fmla="*/ 0 h 369"/>
                  <a:gd name="T8" fmla="*/ 0 w 33"/>
                  <a:gd name="T9" fmla="*/ 0 h 369"/>
                  <a:gd name="T10" fmla="*/ 0 w 33"/>
                  <a:gd name="T11" fmla="*/ 0 h 369"/>
                  <a:gd name="T12" fmla="*/ 0 w 33"/>
                  <a:gd name="T13" fmla="*/ 0 h 369"/>
                  <a:gd name="T14" fmla="*/ 0 w 33"/>
                  <a:gd name="T15" fmla="*/ 0 h 369"/>
                  <a:gd name="T16" fmla="*/ 0 w 33"/>
                  <a:gd name="T17" fmla="*/ 0 h 369"/>
                  <a:gd name="T18" fmla="*/ 0 w 33"/>
                  <a:gd name="T19" fmla="*/ 0 h 369"/>
                  <a:gd name="T20" fmla="*/ 0 w 33"/>
                  <a:gd name="T21" fmla="*/ 0 h 369"/>
                  <a:gd name="T22" fmla="*/ 0 w 33"/>
                  <a:gd name="T23" fmla="*/ 0 h 3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69">
                    <a:moveTo>
                      <a:pt x="0" y="369"/>
                    </a:moveTo>
                    <a:lnTo>
                      <a:pt x="0" y="0"/>
                    </a:lnTo>
                    <a:lnTo>
                      <a:pt x="4" y="1"/>
                    </a:lnTo>
                    <a:lnTo>
                      <a:pt x="8" y="2"/>
                    </a:lnTo>
                    <a:lnTo>
                      <a:pt x="13" y="3"/>
                    </a:lnTo>
                    <a:lnTo>
                      <a:pt x="16" y="5"/>
                    </a:lnTo>
                    <a:lnTo>
                      <a:pt x="20" y="6"/>
                    </a:lnTo>
                    <a:lnTo>
                      <a:pt x="24" y="7"/>
                    </a:lnTo>
                    <a:lnTo>
                      <a:pt x="29" y="8"/>
                    </a:lnTo>
                    <a:lnTo>
                      <a:pt x="33" y="10"/>
                    </a:lnTo>
                    <a:lnTo>
                      <a:pt x="33" y="336"/>
                    </a:lnTo>
                    <a:lnTo>
                      <a:pt x="0" y="36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15" name="Freeform 3479"/>
              <p:cNvSpPr>
                <a:spLocks noChangeAspect="1"/>
              </p:cNvSpPr>
              <p:nvPr/>
            </p:nvSpPr>
            <p:spPr bwMode="auto">
              <a:xfrm>
                <a:off x="5436" y="1011"/>
                <a:ext cx="11" cy="116"/>
              </a:xfrm>
              <a:custGeom>
                <a:avLst/>
                <a:gdLst>
                  <a:gd name="T0" fmla="*/ 0 w 33"/>
                  <a:gd name="T1" fmla="*/ 0 h 348"/>
                  <a:gd name="T2" fmla="*/ 0 w 33"/>
                  <a:gd name="T3" fmla="*/ 0 h 348"/>
                  <a:gd name="T4" fmla="*/ 0 w 33"/>
                  <a:gd name="T5" fmla="*/ 0 h 348"/>
                  <a:gd name="T6" fmla="*/ 0 w 33"/>
                  <a:gd name="T7" fmla="*/ 0 h 348"/>
                  <a:gd name="T8" fmla="*/ 0 w 33"/>
                  <a:gd name="T9" fmla="*/ 0 h 348"/>
                  <a:gd name="T10" fmla="*/ 0 w 33"/>
                  <a:gd name="T11" fmla="*/ 0 h 348"/>
                  <a:gd name="T12" fmla="*/ 0 w 33"/>
                  <a:gd name="T13" fmla="*/ 0 h 348"/>
                  <a:gd name="T14" fmla="*/ 0 w 33"/>
                  <a:gd name="T15" fmla="*/ 0 h 348"/>
                  <a:gd name="T16" fmla="*/ 0 w 33"/>
                  <a:gd name="T17" fmla="*/ 0 h 348"/>
                  <a:gd name="T18" fmla="*/ 0 w 33"/>
                  <a:gd name="T19" fmla="*/ 0 h 348"/>
                  <a:gd name="T20" fmla="*/ 0 w 33"/>
                  <a:gd name="T21" fmla="*/ 0 h 348"/>
                  <a:gd name="T22" fmla="*/ 0 w 33"/>
                  <a:gd name="T23" fmla="*/ 0 h 3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48">
                    <a:moveTo>
                      <a:pt x="0" y="348"/>
                    </a:moveTo>
                    <a:lnTo>
                      <a:pt x="0" y="0"/>
                    </a:lnTo>
                    <a:lnTo>
                      <a:pt x="4" y="1"/>
                    </a:lnTo>
                    <a:lnTo>
                      <a:pt x="8" y="2"/>
                    </a:lnTo>
                    <a:lnTo>
                      <a:pt x="13" y="3"/>
                    </a:lnTo>
                    <a:lnTo>
                      <a:pt x="17" y="5"/>
                    </a:lnTo>
                    <a:lnTo>
                      <a:pt x="20" y="6"/>
                    </a:lnTo>
                    <a:lnTo>
                      <a:pt x="24" y="8"/>
                    </a:lnTo>
                    <a:lnTo>
                      <a:pt x="29" y="10"/>
                    </a:lnTo>
                    <a:lnTo>
                      <a:pt x="33" y="11"/>
                    </a:lnTo>
                    <a:lnTo>
                      <a:pt x="33" y="315"/>
                    </a:lnTo>
                    <a:lnTo>
                      <a:pt x="0" y="3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16" name="Freeform 3480"/>
              <p:cNvSpPr>
                <a:spLocks noChangeAspect="1"/>
              </p:cNvSpPr>
              <p:nvPr/>
            </p:nvSpPr>
            <p:spPr bwMode="auto">
              <a:xfrm>
                <a:off x="5441" y="1012"/>
                <a:ext cx="11" cy="109"/>
              </a:xfrm>
              <a:custGeom>
                <a:avLst/>
                <a:gdLst>
                  <a:gd name="T0" fmla="*/ 0 w 32"/>
                  <a:gd name="T1" fmla="*/ 0 h 326"/>
                  <a:gd name="T2" fmla="*/ 0 w 32"/>
                  <a:gd name="T3" fmla="*/ 0 h 326"/>
                  <a:gd name="T4" fmla="*/ 0 w 32"/>
                  <a:gd name="T5" fmla="*/ 0 h 326"/>
                  <a:gd name="T6" fmla="*/ 0 w 32"/>
                  <a:gd name="T7" fmla="*/ 0 h 326"/>
                  <a:gd name="T8" fmla="*/ 0 w 32"/>
                  <a:gd name="T9" fmla="*/ 0 h 326"/>
                  <a:gd name="T10" fmla="*/ 0 w 32"/>
                  <a:gd name="T11" fmla="*/ 0 h 326"/>
                  <a:gd name="T12" fmla="*/ 0 w 32"/>
                  <a:gd name="T13" fmla="*/ 0 h 326"/>
                  <a:gd name="T14" fmla="*/ 0 w 32"/>
                  <a:gd name="T15" fmla="*/ 0 h 326"/>
                  <a:gd name="T16" fmla="*/ 0 w 32"/>
                  <a:gd name="T17" fmla="*/ 0 h 326"/>
                  <a:gd name="T18" fmla="*/ 0 w 32"/>
                  <a:gd name="T19" fmla="*/ 0 h 326"/>
                  <a:gd name="T20" fmla="*/ 0 w 32"/>
                  <a:gd name="T21" fmla="*/ 0 h 326"/>
                  <a:gd name="T22" fmla="*/ 0 w 32"/>
                  <a:gd name="T23" fmla="*/ 0 h 3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26">
                    <a:moveTo>
                      <a:pt x="0" y="326"/>
                    </a:moveTo>
                    <a:lnTo>
                      <a:pt x="0" y="0"/>
                    </a:lnTo>
                    <a:lnTo>
                      <a:pt x="3" y="1"/>
                    </a:lnTo>
                    <a:lnTo>
                      <a:pt x="7" y="3"/>
                    </a:lnTo>
                    <a:lnTo>
                      <a:pt x="12" y="5"/>
                    </a:lnTo>
                    <a:lnTo>
                      <a:pt x="16" y="6"/>
                    </a:lnTo>
                    <a:lnTo>
                      <a:pt x="20" y="8"/>
                    </a:lnTo>
                    <a:lnTo>
                      <a:pt x="23" y="10"/>
                    </a:lnTo>
                    <a:lnTo>
                      <a:pt x="28" y="11"/>
                    </a:lnTo>
                    <a:lnTo>
                      <a:pt x="32" y="13"/>
                    </a:lnTo>
                    <a:lnTo>
                      <a:pt x="32" y="294"/>
                    </a:lnTo>
                    <a:lnTo>
                      <a:pt x="0" y="3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17" name="Freeform 3481"/>
              <p:cNvSpPr>
                <a:spLocks noChangeAspect="1"/>
              </p:cNvSpPr>
              <p:nvPr/>
            </p:nvSpPr>
            <p:spPr bwMode="auto">
              <a:xfrm>
                <a:off x="5447" y="1014"/>
                <a:ext cx="10" cy="102"/>
              </a:xfrm>
              <a:custGeom>
                <a:avLst/>
                <a:gdLst>
                  <a:gd name="T0" fmla="*/ 0 w 32"/>
                  <a:gd name="T1" fmla="*/ 0 h 304"/>
                  <a:gd name="T2" fmla="*/ 0 w 32"/>
                  <a:gd name="T3" fmla="*/ 0 h 304"/>
                  <a:gd name="T4" fmla="*/ 0 w 32"/>
                  <a:gd name="T5" fmla="*/ 0 h 304"/>
                  <a:gd name="T6" fmla="*/ 0 w 32"/>
                  <a:gd name="T7" fmla="*/ 0 h 304"/>
                  <a:gd name="T8" fmla="*/ 0 w 32"/>
                  <a:gd name="T9" fmla="*/ 0 h 304"/>
                  <a:gd name="T10" fmla="*/ 0 w 32"/>
                  <a:gd name="T11" fmla="*/ 0 h 304"/>
                  <a:gd name="T12" fmla="*/ 0 w 32"/>
                  <a:gd name="T13" fmla="*/ 0 h 304"/>
                  <a:gd name="T14" fmla="*/ 0 w 32"/>
                  <a:gd name="T15" fmla="*/ 0 h 304"/>
                  <a:gd name="T16" fmla="*/ 0 w 32"/>
                  <a:gd name="T17" fmla="*/ 0 h 304"/>
                  <a:gd name="T18" fmla="*/ 0 w 32"/>
                  <a:gd name="T19" fmla="*/ 0 h 304"/>
                  <a:gd name="T20" fmla="*/ 0 w 32"/>
                  <a:gd name="T21" fmla="*/ 0 h 304"/>
                  <a:gd name="T22" fmla="*/ 0 w 32"/>
                  <a:gd name="T23" fmla="*/ 0 h 30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04">
                    <a:moveTo>
                      <a:pt x="0" y="304"/>
                    </a:moveTo>
                    <a:lnTo>
                      <a:pt x="0" y="0"/>
                    </a:lnTo>
                    <a:lnTo>
                      <a:pt x="4" y="2"/>
                    </a:lnTo>
                    <a:lnTo>
                      <a:pt x="7" y="4"/>
                    </a:lnTo>
                    <a:lnTo>
                      <a:pt x="12" y="5"/>
                    </a:lnTo>
                    <a:lnTo>
                      <a:pt x="16" y="7"/>
                    </a:lnTo>
                    <a:lnTo>
                      <a:pt x="20" y="9"/>
                    </a:lnTo>
                    <a:lnTo>
                      <a:pt x="24" y="10"/>
                    </a:lnTo>
                    <a:lnTo>
                      <a:pt x="28" y="13"/>
                    </a:lnTo>
                    <a:lnTo>
                      <a:pt x="32" y="15"/>
                    </a:lnTo>
                    <a:lnTo>
                      <a:pt x="32" y="272"/>
                    </a:lnTo>
                    <a:lnTo>
                      <a:pt x="0" y="30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18" name="Freeform 3482"/>
              <p:cNvSpPr>
                <a:spLocks noChangeAspect="1"/>
              </p:cNvSpPr>
              <p:nvPr/>
            </p:nvSpPr>
            <p:spPr bwMode="auto">
              <a:xfrm>
                <a:off x="5452" y="1017"/>
                <a:ext cx="11" cy="93"/>
              </a:xfrm>
              <a:custGeom>
                <a:avLst/>
                <a:gdLst>
                  <a:gd name="T0" fmla="*/ 0 w 32"/>
                  <a:gd name="T1" fmla="*/ 0 h 281"/>
                  <a:gd name="T2" fmla="*/ 0 w 32"/>
                  <a:gd name="T3" fmla="*/ 0 h 281"/>
                  <a:gd name="T4" fmla="*/ 0 w 32"/>
                  <a:gd name="T5" fmla="*/ 0 h 281"/>
                  <a:gd name="T6" fmla="*/ 0 w 32"/>
                  <a:gd name="T7" fmla="*/ 0 h 281"/>
                  <a:gd name="T8" fmla="*/ 0 w 32"/>
                  <a:gd name="T9" fmla="*/ 0 h 281"/>
                  <a:gd name="T10" fmla="*/ 0 w 32"/>
                  <a:gd name="T11" fmla="*/ 0 h 281"/>
                  <a:gd name="T12" fmla="*/ 0 w 32"/>
                  <a:gd name="T13" fmla="*/ 0 h 281"/>
                  <a:gd name="T14" fmla="*/ 0 w 32"/>
                  <a:gd name="T15" fmla="*/ 0 h 281"/>
                  <a:gd name="T16" fmla="*/ 0 w 32"/>
                  <a:gd name="T17" fmla="*/ 0 h 281"/>
                  <a:gd name="T18" fmla="*/ 0 w 32"/>
                  <a:gd name="T19" fmla="*/ 0 h 281"/>
                  <a:gd name="T20" fmla="*/ 0 w 32"/>
                  <a:gd name="T21" fmla="*/ 0 h 281"/>
                  <a:gd name="T22" fmla="*/ 0 w 32"/>
                  <a:gd name="T23" fmla="*/ 0 h 2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81">
                    <a:moveTo>
                      <a:pt x="0" y="281"/>
                    </a:moveTo>
                    <a:lnTo>
                      <a:pt x="0" y="0"/>
                    </a:lnTo>
                    <a:lnTo>
                      <a:pt x="4" y="1"/>
                    </a:lnTo>
                    <a:lnTo>
                      <a:pt x="8" y="3"/>
                    </a:lnTo>
                    <a:lnTo>
                      <a:pt x="12" y="6"/>
                    </a:lnTo>
                    <a:lnTo>
                      <a:pt x="16" y="8"/>
                    </a:lnTo>
                    <a:lnTo>
                      <a:pt x="20" y="10"/>
                    </a:lnTo>
                    <a:lnTo>
                      <a:pt x="24" y="12"/>
                    </a:lnTo>
                    <a:lnTo>
                      <a:pt x="29" y="14"/>
                    </a:lnTo>
                    <a:lnTo>
                      <a:pt x="32" y="16"/>
                    </a:lnTo>
                    <a:lnTo>
                      <a:pt x="32" y="249"/>
                    </a:lnTo>
                    <a:lnTo>
                      <a:pt x="0" y="2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19" name="Freeform 3483"/>
              <p:cNvSpPr>
                <a:spLocks noChangeAspect="1"/>
              </p:cNvSpPr>
              <p:nvPr/>
            </p:nvSpPr>
            <p:spPr bwMode="auto">
              <a:xfrm>
                <a:off x="5457" y="1019"/>
                <a:ext cx="11" cy="86"/>
              </a:xfrm>
              <a:custGeom>
                <a:avLst/>
                <a:gdLst>
                  <a:gd name="T0" fmla="*/ 0 w 32"/>
                  <a:gd name="T1" fmla="*/ 0 h 257"/>
                  <a:gd name="T2" fmla="*/ 0 w 32"/>
                  <a:gd name="T3" fmla="*/ 0 h 257"/>
                  <a:gd name="T4" fmla="*/ 0 w 32"/>
                  <a:gd name="T5" fmla="*/ 0 h 257"/>
                  <a:gd name="T6" fmla="*/ 0 w 32"/>
                  <a:gd name="T7" fmla="*/ 0 h 257"/>
                  <a:gd name="T8" fmla="*/ 0 w 32"/>
                  <a:gd name="T9" fmla="*/ 0 h 257"/>
                  <a:gd name="T10" fmla="*/ 0 w 32"/>
                  <a:gd name="T11" fmla="*/ 0 h 257"/>
                  <a:gd name="T12" fmla="*/ 0 w 32"/>
                  <a:gd name="T13" fmla="*/ 0 h 257"/>
                  <a:gd name="T14" fmla="*/ 0 w 32"/>
                  <a:gd name="T15" fmla="*/ 0 h 257"/>
                  <a:gd name="T16" fmla="*/ 0 w 32"/>
                  <a:gd name="T17" fmla="*/ 0 h 257"/>
                  <a:gd name="T18" fmla="*/ 0 w 32"/>
                  <a:gd name="T19" fmla="*/ 0 h 257"/>
                  <a:gd name="T20" fmla="*/ 0 w 32"/>
                  <a:gd name="T21" fmla="*/ 0 h 257"/>
                  <a:gd name="T22" fmla="*/ 0 w 32"/>
                  <a:gd name="T23" fmla="*/ 0 h 2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57">
                    <a:moveTo>
                      <a:pt x="0" y="257"/>
                    </a:moveTo>
                    <a:lnTo>
                      <a:pt x="0" y="0"/>
                    </a:lnTo>
                    <a:lnTo>
                      <a:pt x="4" y="2"/>
                    </a:lnTo>
                    <a:lnTo>
                      <a:pt x="8" y="4"/>
                    </a:lnTo>
                    <a:lnTo>
                      <a:pt x="13" y="6"/>
                    </a:lnTo>
                    <a:lnTo>
                      <a:pt x="16" y="8"/>
                    </a:lnTo>
                    <a:lnTo>
                      <a:pt x="20" y="10"/>
                    </a:lnTo>
                    <a:lnTo>
                      <a:pt x="24" y="12"/>
                    </a:lnTo>
                    <a:lnTo>
                      <a:pt x="29" y="15"/>
                    </a:lnTo>
                    <a:lnTo>
                      <a:pt x="32" y="17"/>
                    </a:lnTo>
                    <a:lnTo>
                      <a:pt x="32" y="224"/>
                    </a:lnTo>
                    <a:lnTo>
                      <a:pt x="0" y="25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20" name="Freeform 3484"/>
              <p:cNvSpPr>
                <a:spLocks noChangeAspect="1"/>
              </p:cNvSpPr>
              <p:nvPr/>
            </p:nvSpPr>
            <p:spPr bwMode="auto">
              <a:xfrm>
                <a:off x="5463" y="1022"/>
                <a:ext cx="11" cy="78"/>
              </a:xfrm>
              <a:custGeom>
                <a:avLst/>
                <a:gdLst>
                  <a:gd name="T0" fmla="*/ 0 w 33"/>
                  <a:gd name="T1" fmla="*/ 0 h 233"/>
                  <a:gd name="T2" fmla="*/ 0 w 33"/>
                  <a:gd name="T3" fmla="*/ 0 h 233"/>
                  <a:gd name="T4" fmla="*/ 0 w 33"/>
                  <a:gd name="T5" fmla="*/ 0 h 233"/>
                  <a:gd name="T6" fmla="*/ 0 w 33"/>
                  <a:gd name="T7" fmla="*/ 0 h 233"/>
                  <a:gd name="T8" fmla="*/ 0 w 33"/>
                  <a:gd name="T9" fmla="*/ 0 h 233"/>
                  <a:gd name="T10" fmla="*/ 0 w 33"/>
                  <a:gd name="T11" fmla="*/ 0 h 233"/>
                  <a:gd name="T12" fmla="*/ 0 w 33"/>
                  <a:gd name="T13" fmla="*/ 0 h 233"/>
                  <a:gd name="T14" fmla="*/ 0 w 33"/>
                  <a:gd name="T15" fmla="*/ 0 h 233"/>
                  <a:gd name="T16" fmla="*/ 0 w 33"/>
                  <a:gd name="T17" fmla="*/ 0 h 233"/>
                  <a:gd name="T18" fmla="*/ 0 w 33"/>
                  <a:gd name="T19" fmla="*/ 0 h 233"/>
                  <a:gd name="T20" fmla="*/ 0 w 33"/>
                  <a:gd name="T21" fmla="*/ 0 h 233"/>
                  <a:gd name="T22" fmla="*/ 0 w 33"/>
                  <a:gd name="T23" fmla="*/ 0 h 2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233">
                    <a:moveTo>
                      <a:pt x="0" y="233"/>
                    </a:moveTo>
                    <a:lnTo>
                      <a:pt x="0" y="0"/>
                    </a:lnTo>
                    <a:lnTo>
                      <a:pt x="4" y="2"/>
                    </a:lnTo>
                    <a:lnTo>
                      <a:pt x="8" y="4"/>
                    </a:lnTo>
                    <a:lnTo>
                      <a:pt x="13" y="7"/>
                    </a:lnTo>
                    <a:lnTo>
                      <a:pt x="17" y="9"/>
                    </a:lnTo>
                    <a:lnTo>
                      <a:pt x="20" y="12"/>
                    </a:lnTo>
                    <a:lnTo>
                      <a:pt x="24" y="14"/>
                    </a:lnTo>
                    <a:lnTo>
                      <a:pt x="29" y="16"/>
                    </a:lnTo>
                    <a:lnTo>
                      <a:pt x="33" y="19"/>
                    </a:lnTo>
                    <a:lnTo>
                      <a:pt x="33" y="200"/>
                    </a:lnTo>
                    <a:lnTo>
                      <a:pt x="0" y="23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21" name="Freeform 3485"/>
              <p:cNvSpPr>
                <a:spLocks noChangeAspect="1"/>
              </p:cNvSpPr>
              <p:nvPr/>
            </p:nvSpPr>
            <p:spPr bwMode="auto">
              <a:xfrm>
                <a:off x="5468" y="1025"/>
                <a:ext cx="11" cy="69"/>
              </a:xfrm>
              <a:custGeom>
                <a:avLst/>
                <a:gdLst>
                  <a:gd name="T0" fmla="*/ 0 w 33"/>
                  <a:gd name="T1" fmla="*/ 0 h 207"/>
                  <a:gd name="T2" fmla="*/ 0 w 33"/>
                  <a:gd name="T3" fmla="*/ 0 h 207"/>
                  <a:gd name="T4" fmla="*/ 0 w 33"/>
                  <a:gd name="T5" fmla="*/ 0 h 207"/>
                  <a:gd name="T6" fmla="*/ 0 w 33"/>
                  <a:gd name="T7" fmla="*/ 0 h 207"/>
                  <a:gd name="T8" fmla="*/ 0 w 33"/>
                  <a:gd name="T9" fmla="*/ 0 h 207"/>
                  <a:gd name="T10" fmla="*/ 0 w 33"/>
                  <a:gd name="T11" fmla="*/ 0 h 207"/>
                  <a:gd name="T12" fmla="*/ 0 w 33"/>
                  <a:gd name="T13" fmla="*/ 0 h 207"/>
                  <a:gd name="T14" fmla="*/ 0 w 33"/>
                  <a:gd name="T15" fmla="*/ 0 h 207"/>
                  <a:gd name="T16" fmla="*/ 0 w 33"/>
                  <a:gd name="T17" fmla="*/ 0 h 207"/>
                  <a:gd name="T18" fmla="*/ 0 w 33"/>
                  <a:gd name="T19" fmla="*/ 0 h 207"/>
                  <a:gd name="T20" fmla="*/ 0 w 33"/>
                  <a:gd name="T21" fmla="*/ 0 h 207"/>
                  <a:gd name="T22" fmla="*/ 0 w 33"/>
                  <a:gd name="T23" fmla="*/ 0 h 2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207">
                    <a:moveTo>
                      <a:pt x="0" y="207"/>
                    </a:moveTo>
                    <a:lnTo>
                      <a:pt x="0" y="0"/>
                    </a:lnTo>
                    <a:lnTo>
                      <a:pt x="4" y="3"/>
                    </a:lnTo>
                    <a:lnTo>
                      <a:pt x="8" y="5"/>
                    </a:lnTo>
                    <a:lnTo>
                      <a:pt x="13" y="7"/>
                    </a:lnTo>
                    <a:lnTo>
                      <a:pt x="17" y="10"/>
                    </a:lnTo>
                    <a:lnTo>
                      <a:pt x="21" y="12"/>
                    </a:lnTo>
                    <a:lnTo>
                      <a:pt x="24" y="16"/>
                    </a:lnTo>
                    <a:lnTo>
                      <a:pt x="29" y="19"/>
                    </a:lnTo>
                    <a:lnTo>
                      <a:pt x="33" y="21"/>
                    </a:lnTo>
                    <a:lnTo>
                      <a:pt x="33" y="175"/>
                    </a:lnTo>
                    <a:lnTo>
                      <a:pt x="0" y="2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22" name="Freeform 3486"/>
              <p:cNvSpPr>
                <a:spLocks noChangeAspect="1"/>
              </p:cNvSpPr>
              <p:nvPr/>
            </p:nvSpPr>
            <p:spPr bwMode="auto">
              <a:xfrm>
                <a:off x="5474" y="1028"/>
                <a:ext cx="10" cy="61"/>
              </a:xfrm>
              <a:custGeom>
                <a:avLst/>
                <a:gdLst>
                  <a:gd name="T0" fmla="*/ 0 w 32"/>
                  <a:gd name="T1" fmla="*/ 0 h 181"/>
                  <a:gd name="T2" fmla="*/ 0 w 32"/>
                  <a:gd name="T3" fmla="*/ 0 h 181"/>
                  <a:gd name="T4" fmla="*/ 0 w 32"/>
                  <a:gd name="T5" fmla="*/ 0 h 181"/>
                  <a:gd name="T6" fmla="*/ 0 w 32"/>
                  <a:gd name="T7" fmla="*/ 0 h 181"/>
                  <a:gd name="T8" fmla="*/ 0 w 32"/>
                  <a:gd name="T9" fmla="*/ 0 h 181"/>
                  <a:gd name="T10" fmla="*/ 0 w 32"/>
                  <a:gd name="T11" fmla="*/ 0 h 181"/>
                  <a:gd name="T12" fmla="*/ 0 w 32"/>
                  <a:gd name="T13" fmla="*/ 0 h 181"/>
                  <a:gd name="T14" fmla="*/ 0 w 32"/>
                  <a:gd name="T15" fmla="*/ 0 h 181"/>
                  <a:gd name="T16" fmla="*/ 0 w 32"/>
                  <a:gd name="T17" fmla="*/ 0 h 181"/>
                  <a:gd name="T18" fmla="*/ 0 w 32"/>
                  <a:gd name="T19" fmla="*/ 0 h 181"/>
                  <a:gd name="T20" fmla="*/ 0 w 32"/>
                  <a:gd name="T21" fmla="*/ 0 h 181"/>
                  <a:gd name="T22" fmla="*/ 0 w 32"/>
                  <a:gd name="T23" fmla="*/ 0 h 1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181">
                    <a:moveTo>
                      <a:pt x="0" y="181"/>
                    </a:moveTo>
                    <a:lnTo>
                      <a:pt x="0" y="0"/>
                    </a:lnTo>
                    <a:lnTo>
                      <a:pt x="4" y="2"/>
                    </a:lnTo>
                    <a:lnTo>
                      <a:pt x="7" y="6"/>
                    </a:lnTo>
                    <a:lnTo>
                      <a:pt x="12" y="9"/>
                    </a:lnTo>
                    <a:lnTo>
                      <a:pt x="16" y="11"/>
                    </a:lnTo>
                    <a:lnTo>
                      <a:pt x="20" y="14"/>
                    </a:lnTo>
                    <a:lnTo>
                      <a:pt x="24" y="17"/>
                    </a:lnTo>
                    <a:lnTo>
                      <a:pt x="27" y="20"/>
                    </a:lnTo>
                    <a:lnTo>
                      <a:pt x="32" y="23"/>
                    </a:lnTo>
                    <a:lnTo>
                      <a:pt x="32" y="149"/>
                    </a:lnTo>
                    <a:lnTo>
                      <a:pt x="0" y="1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23" name="Freeform 3487"/>
              <p:cNvSpPr>
                <a:spLocks noChangeAspect="1"/>
              </p:cNvSpPr>
              <p:nvPr/>
            </p:nvSpPr>
            <p:spPr bwMode="auto">
              <a:xfrm>
                <a:off x="5479" y="1032"/>
                <a:ext cx="11" cy="51"/>
              </a:xfrm>
              <a:custGeom>
                <a:avLst/>
                <a:gdLst>
                  <a:gd name="T0" fmla="*/ 0 w 32"/>
                  <a:gd name="T1" fmla="*/ 0 h 154"/>
                  <a:gd name="T2" fmla="*/ 0 w 32"/>
                  <a:gd name="T3" fmla="*/ 0 h 154"/>
                  <a:gd name="T4" fmla="*/ 0 w 32"/>
                  <a:gd name="T5" fmla="*/ 0 h 154"/>
                  <a:gd name="T6" fmla="*/ 0 w 32"/>
                  <a:gd name="T7" fmla="*/ 0 h 154"/>
                  <a:gd name="T8" fmla="*/ 0 w 32"/>
                  <a:gd name="T9" fmla="*/ 0 h 154"/>
                  <a:gd name="T10" fmla="*/ 0 w 32"/>
                  <a:gd name="T11" fmla="*/ 0 h 154"/>
                  <a:gd name="T12" fmla="*/ 0 w 32"/>
                  <a:gd name="T13" fmla="*/ 0 h 154"/>
                  <a:gd name="T14" fmla="*/ 0 w 32"/>
                  <a:gd name="T15" fmla="*/ 0 h 154"/>
                  <a:gd name="T16" fmla="*/ 0 w 32"/>
                  <a:gd name="T17" fmla="*/ 0 h 154"/>
                  <a:gd name="T18" fmla="*/ 0 w 32"/>
                  <a:gd name="T19" fmla="*/ 0 h 154"/>
                  <a:gd name="T20" fmla="*/ 0 w 32"/>
                  <a:gd name="T21" fmla="*/ 0 h 154"/>
                  <a:gd name="T22" fmla="*/ 0 w 32"/>
                  <a:gd name="T23" fmla="*/ 0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154">
                    <a:moveTo>
                      <a:pt x="0" y="154"/>
                    </a:moveTo>
                    <a:lnTo>
                      <a:pt x="0" y="0"/>
                    </a:lnTo>
                    <a:lnTo>
                      <a:pt x="4" y="3"/>
                    </a:lnTo>
                    <a:lnTo>
                      <a:pt x="8" y="6"/>
                    </a:lnTo>
                    <a:lnTo>
                      <a:pt x="11" y="9"/>
                    </a:lnTo>
                    <a:lnTo>
                      <a:pt x="16" y="13"/>
                    </a:lnTo>
                    <a:lnTo>
                      <a:pt x="20" y="16"/>
                    </a:lnTo>
                    <a:lnTo>
                      <a:pt x="24" y="19"/>
                    </a:lnTo>
                    <a:lnTo>
                      <a:pt x="29" y="22"/>
                    </a:lnTo>
                    <a:lnTo>
                      <a:pt x="32" y="25"/>
                    </a:lnTo>
                    <a:lnTo>
                      <a:pt x="32" y="122"/>
                    </a:lnTo>
                    <a:lnTo>
                      <a:pt x="0" y="15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24" name="Freeform 3488"/>
              <p:cNvSpPr>
                <a:spLocks noChangeAspect="1"/>
              </p:cNvSpPr>
              <p:nvPr/>
            </p:nvSpPr>
            <p:spPr bwMode="auto">
              <a:xfrm>
                <a:off x="5484" y="1036"/>
                <a:ext cx="11" cy="42"/>
              </a:xfrm>
              <a:custGeom>
                <a:avLst/>
                <a:gdLst>
                  <a:gd name="T0" fmla="*/ 0 w 32"/>
                  <a:gd name="T1" fmla="*/ 0 h 126"/>
                  <a:gd name="T2" fmla="*/ 0 w 32"/>
                  <a:gd name="T3" fmla="*/ 0 h 126"/>
                  <a:gd name="T4" fmla="*/ 0 w 32"/>
                  <a:gd name="T5" fmla="*/ 0 h 126"/>
                  <a:gd name="T6" fmla="*/ 0 w 32"/>
                  <a:gd name="T7" fmla="*/ 0 h 126"/>
                  <a:gd name="T8" fmla="*/ 0 w 32"/>
                  <a:gd name="T9" fmla="*/ 0 h 126"/>
                  <a:gd name="T10" fmla="*/ 0 w 32"/>
                  <a:gd name="T11" fmla="*/ 0 h 126"/>
                  <a:gd name="T12" fmla="*/ 0 w 32"/>
                  <a:gd name="T13" fmla="*/ 0 h 126"/>
                  <a:gd name="T14" fmla="*/ 0 w 32"/>
                  <a:gd name="T15" fmla="*/ 0 h 126"/>
                  <a:gd name="T16" fmla="*/ 0 w 32"/>
                  <a:gd name="T17" fmla="*/ 0 h 126"/>
                  <a:gd name="T18" fmla="*/ 0 w 32"/>
                  <a:gd name="T19" fmla="*/ 0 h 126"/>
                  <a:gd name="T20" fmla="*/ 0 w 32"/>
                  <a:gd name="T21" fmla="*/ 0 h 126"/>
                  <a:gd name="T22" fmla="*/ 0 w 32"/>
                  <a:gd name="T23" fmla="*/ 0 h 1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126">
                    <a:moveTo>
                      <a:pt x="0" y="126"/>
                    </a:moveTo>
                    <a:lnTo>
                      <a:pt x="0" y="0"/>
                    </a:lnTo>
                    <a:lnTo>
                      <a:pt x="4" y="4"/>
                    </a:lnTo>
                    <a:lnTo>
                      <a:pt x="8" y="7"/>
                    </a:lnTo>
                    <a:lnTo>
                      <a:pt x="13" y="10"/>
                    </a:lnTo>
                    <a:lnTo>
                      <a:pt x="17" y="13"/>
                    </a:lnTo>
                    <a:lnTo>
                      <a:pt x="20" y="17"/>
                    </a:lnTo>
                    <a:lnTo>
                      <a:pt x="24" y="21"/>
                    </a:lnTo>
                    <a:lnTo>
                      <a:pt x="28" y="24"/>
                    </a:lnTo>
                    <a:lnTo>
                      <a:pt x="32" y="28"/>
                    </a:lnTo>
                    <a:lnTo>
                      <a:pt x="32" y="93"/>
                    </a:lnTo>
                    <a:lnTo>
                      <a:pt x="0" y="1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25" name="Freeform 3489"/>
              <p:cNvSpPr>
                <a:spLocks noChangeAspect="1"/>
              </p:cNvSpPr>
              <p:nvPr/>
            </p:nvSpPr>
            <p:spPr bwMode="auto">
              <a:xfrm>
                <a:off x="5490" y="1040"/>
                <a:ext cx="11" cy="33"/>
              </a:xfrm>
              <a:custGeom>
                <a:avLst/>
                <a:gdLst>
                  <a:gd name="T0" fmla="*/ 0 w 33"/>
                  <a:gd name="T1" fmla="*/ 0 h 97"/>
                  <a:gd name="T2" fmla="*/ 0 w 33"/>
                  <a:gd name="T3" fmla="*/ 0 h 97"/>
                  <a:gd name="T4" fmla="*/ 0 w 33"/>
                  <a:gd name="T5" fmla="*/ 0 h 97"/>
                  <a:gd name="T6" fmla="*/ 0 w 33"/>
                  <a:gd name="T7" fmla="*/ 0 h 97"/>
                  <a:gd name="T8" fmla="*/ 0 w 33"/>
                  <a:gd name="T9" fmla="*/ 0 h 97"/>
                  <a:gd name="T10" fmla="*/ 0 w 33"/>
                  <a:gd name="T11" fmla="*/ 0 h 97"/>
                  <a:gd name="T12" fmla="*/ 0 w 33"/>
                  <a:gd name="T13" fmla="*/ 0 h 97"/>
                  <a:gd name="T14" fmla="*/ 0 w 33"/>
                  <a:gd name="T15" fmla="*/ 0 h 97"/>
                  <a:gd name="T16" fmla="*/ 0 w 33"/>
                  <a:gd name="T17" fmla="*/ 0 h 97"/>
                  <a:gd name="T18" fmla="*/ 0 w 33"/>
                  <a:gd name="T19" fmla="*/ 0 h 97"/>
                  <a:gd name="T20" fmla="*/ 0 w 33"/>
                  <a:gd name="T21" fmla="*/ 0 h 97"/>
                  <a:gd name="T22" fmla="*/ 0 w 33"/>
                  <a:gd name="T23" fmla="*/ 0 h 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97">
                    <a:moveTo>
                      <a:pt x="0" y="97"/>
                    </a:moveTo>
                    <a:lnTo>
                      <a:pt x="0" y="0"/>
                    </a:lnTo>
                    <a:lnTo>
                      <a:pt x="4" y="4"/>
                    </a:lnTo>
                    <a:lnTo>
                      <a:pt x="8" y="8"/>
                    </a:lnTo>
                    <a:lnTo>
                      <a:pt x="12" y="11"/>
                    </a:lnTo>
                    <a:lnTo>
                      <a:pt x="17" y="15"/>
                    </a:lnTo>
                    <a:lnTo>
                      <a:pt x="21" y="18"/>
                    </a:lnTo>
                    <a:lnTo>
                      <a:pt x="24" y="23"/>
                    </a:lnTo>
                    <a:lnTo>
                      <a:pt x="28" y="27"/>
                    </a:lnTo>
                    <a:lnTo>
                      <a:pt x="33" y="31"/>
                    </a:lnTo>
                    <a:lnTo>
                      <a:pt x="33" y="64"/>
                    </a:lnTo>
                    <a:lnTo>
                      <a:pt x="0" y="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26" name="Freeform 3490"/>
              <p:cNvSpPr>
                <a:spLocks noChangeAspect="1"/>
              </p:cNvSpPr>
              <p:nvPr/>
            </p:nvSpPr>
            <p:spPr bwMode="auto">
              <a:xfrm>
                <a:off x="5495" y="1045"/>
                <a:ext cx="11" cy="22"/>
              </a:xfrm>
              <a:custGeom>
                <a:avLst/>
                <a:gdLst>
                  <a:gd name="T0" fmla="*/ 0 w 33"/>
                  <a:gd name="T1" fmla="*/ 0 h 65"/>
                  <a:gd name="T2" fmla="*/ 0 w 33"/>
                  <a:gd name="T3" fmla="*/ 0 h 65"/>
                  <a:gd name="T4" fmla="*/ 0 w 33"/>
                  <a:gd name="T5" fmla="*/ 0 h 65"/>
                  <a:gd name="T6" fmla="*/ 0 w 33"/>
                  <a:gd name="T7" fmla="*/ 0 h 65"/>
                  <a:gd name="T8" fmla="*/ 0 w 33"/>
                  <a:gd name="T9" fmla="*/ 0 h 65"/>
                  <a:gd name="T10" fmla="*/ 0 w 33"/>
                  <a:gd name="T11" fmla="*/ 0 h 65"/>
                  <a:gd name="T12" fmla="*/ 0 w 33"/>
                  <a:gd name="T13" fmla="*/ 0 h 65"/>
                  <a:gd name="T14" fmla="*/ 0 w 33"/>
                  <a:gd name="T15" fmla="*/ 0 h 65"/>
                  <a:gd name="T16" fmla="*/ 0 w 33"/>
                  <a:gd name="T17" fmla="*/ 0 h 65"/>
                  <a:gd name="T18" fmla="*/ 0 w 33"/>
                  <a:gd name="T19" fmla="*/ 0 h 65"/>
                  <a:gd name="T20" fmla="*/ 0 w 33"/>
                  <a:gd name="T21" fmla="*/ 0 h 65"/>
                  <a:gd name="T22" fmla="*/ 0 w 33"/>
                  <a:gd name="T23" fmla="*/ 0 h 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65">
                    <a:moveTo>
                      <a:pt x="0" y="65"/>
                    </a:moveTo>
                    <a:lnTo>
                      <a:pt x="0" y="0"/>
                    </a:lnTo>
                    <a:lnTo>
                      <a:pt x="4" y="3"/>
                    </a:lnTo>
                    <a:lnTo>
                      <a:pt x="8" y="8"/>
                    </a:lnTo>
                    <a:lnTo>
                      <a:pt x="12" y="12"/>
                    </a:lnTo>
                    <a:lnTo>
                      <a:pt x="17" y="16"/>
                    </a:lnTo>
                    <a:lnTo>
                      <a:pt x="21" y="21"/>
                    </a:lnTo>
                    <a:lnTo>
                      <a:pt x="24" y="25"/>
                    </a:lnTo>
                    <a:lnTo>
                      <a:pt x="28" y="29"/>
                    </a:lnTo>
                    <a:lnTo>
                      <a:pt x="33" y="33"/>
                    </a:lnTo>
                    <a:lnTo>
                      <a:pt x="0" y="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27" name="Freeform 3491"/>
              <p:cNvSpPr>
                <a:spLocks noChangeAspect="1"/>
              </p:cNvSpPr>
              <p:nvPr/>
            </p:nvSpPr>
            <p:spPr bwMode="auto">
              <a:xfrm>
                <a:off x="5501" y="1051"/>
                <a:ext cx="5" cy="11"/>
              </a:xfrm>
              <a:custGeom>
                <a:avLst/>
                <a:gdLst>
                  <a:gd name="T0" fmla="*/ 0 w 16"/>
                  <a:gd name="T1" fmla="*/ 0 h 33"/>
                  <a:gd name="T2" fmla="*/ 0 w 16"/>
                  <a:gd name="T3" fmla="*/ 0 h 33"/>
                  <a:gd name="T4" fmla="*/ 0 w 16"/>
                  <a:gd name="T5" fmla="*/ 0 h 33"/>
                  <a:gd name="T6" fmla="*/ 0 w 16"/>
                  <a:gd name="T7" fmla="*/ 0 h 33"/>
                  <a:gd name="T8" fmla="*/ 0 w 16"/>
                  <a:gd name="T9" fmla="*/ 0 h 33"/>
                  <a:gd name="T10" fmla="*/ 0 w 16"/>
                  <a:gd name="T11" fmla="*/ 0 h 33"/>
                  <a:gd name="T12" fmla="*/ 0 w 16"/>
                  <a:gd name="T13" fmla="*/ 0 h 33"/>
                  <a:gd name="T14" fmla="*/ 0 w 16"/>
                  <a:gd name="T15" fmla="*/ 0 h 33"/>
                  <a:gd name="T16" fmla="*/ 0 w 16"/>
                  <a:gd name="T17" fmla="*/ 0 h 33"/>
                  <a:gd name="T18" fmla="*/ 0 w 16"/>
                  <a:gd name="T19" fmla="*/ 0 h 33"/>
                  <a:gd name="T20" fmla="*/ 0 w 16"/>
                  <a:gd name="T21" fmla="*/ 0 h 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 h="33">
                    <a:moveTo>
                      <a:pt x="0" y="33"/>
                    </a:moveTo>
                    <a:lnTo>
                      <a:pt x="0" y="0"/>
                    </a:lnTo>
                    <a:lnTo>
                      <a:pt x="2" y="2"/>
                    </a:lnTo>
                    <a:lnTo>
                      <a:pt x="3" y="5"/>
                    </a:lnTo>
                    <a:lnTo>
                      <a:pt x="5" y="7"/>
                    </a:lnTo>
                    <a:lnTo>
                      <a:pt x="7" y="9"/>
                    </a:lnTo>
                    <a:lnTo>
                      <a:pt x="9" y="11"/>
                    </a:lnTo>
                    <a:lnTo>
                      <a:pt x="11" y="13"/>
                    </a:lnTo>
                    <a:lnTo>
                      <a:pt x="14" y="15"/>
                    </a:lnTo>
                    <a:lnTo>
                      <a:pt x="16" y="17"/>
                    </a:lnTo>
                    <a:lnTo>
                      <a:pt x="0" y="3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28" name="Freeform 3492"/>
              <p:cNvSpPr>
                <a:spLocks noChangeAspect="1"/>
              </p:cNvSpPr>
              <p:nvPr/>
            </p:nvSpPr>
            <p:spPr bwMode="auto">
              <a:xfrm>
                <a:off x="5237" y="1004"/>
                <a:ext cx="269" cy="165"/>
              </a:xfrm>
              <a:custGeom>
                <a:avLst/>
                <a:gdLst>
                  <a:gd name="T0" fmla="*/ 0 w 808"/>
                  <a:gd name="T1" fmla="*/ 0 h 497"/>
                  <a:gd name="T2" fmla="*/ 0 w 808"/>
                  <a:gd name="T3" fmla="*/ 0 h 497"/>
                  <a:gd name="T4" fmla="*/ 0 w 808"/>
                  <a:gd name="T5" fmla="*/ 0 h 497"/>
                  <a:gd name="T6" fmla="*/ 0 w 808"/>
                  <a:gd name="T7" fmla="*/ 0 h 497"/>
                  <a:gd name="T8" fmla="*/ 0 w 808"/>
                  <a:gd name="T9" fmla="*/ 0 h 497"/>
                  <a:gd name="T10" fmla="*/ 0 w 808"/>
                  <a:gd name="T11" fmla="*/ 0 h 497"/>
                  <a:gd name="T12" fmla="*/ 0 w 808"/>
                  <a:gd name="T13" fmla="*/ 0 h 497"/>
                  <a:gd name="T14" fmla="*/ 0 w 808"/>
                  <a:gd name="T15" fmla="*/ 0 h 497"/>
                  <a:gd name="T16" fmla="*/ 0 w 808"/>
                  <a:gd name="T17" fmla="*/ 0 h 497"/>
                  <a:gd name="T18" fmla="*/ 0 w 808"/>
                  <a:gd name="T19" fmla="*/ 0 h 497"/>
                  <a:gd name="T20" fmla="*/ 0 w 808"/>
                  <a:gd name="T21" fmla="*/ 0 h 497"/>
                  <a:gd name="T22" fmla="*/ 0 w 808"/>
                  <a:gd name="T23" fmla="*/ 0 h 497"/>
                  <a:gd name="T24" fmla="*/ 0 w 808"/>
                  <a:gd name="T25" fmla="*/ 0 h 497"/>
                  <a:gd name="T26" fmla="*/ 0 w 808"/>
                  <a:gd name="T27" fmla="*/ 0 h 497"/>
                  <a:gd name="T28" fmla="*/ 0 w 808"/>
                  <a:gd name="T29" fmla="*/ 0 h 497"/>
                  <a:gd name="T30" fmla="*/ 0 w 808"/>
                  <a:gd name="T31" fmla="*/ 0 h 497"/>
                  <a:gd name="T32" fmla="*/ 0 w 808"/>
                  <a:gd name="T33" fmla="*/ 0 h 497"/>
                  <a:gd name="T34" fmla="*/ 0 w 808"/>
                  <a:gd name="T35" fmla="*/ 0 h 497"/>
                  <a:gd name="T36" fmla="*/ 0 w 808"/>
                  <a:gd name="T37" fmla="*/ 0 h 497"/>
                  <a:gd name="T38" fmla="*/ 0 w 808"/>
                  <a:gd name="T39" fmla="*/ 0 h 497"/>
                  <a:gd name="T40" fmla="*/ 0 w 808"/>
                  <a:gd name="T41" fmla="*/ 0 h 497"/>
                  <a:gd name="T42" fmla="*/ 0 w 808"/>
                  <a:gd name="T43" fmla="*/ 0 h 497"/>
                  <a:gd name="T44" fmla="*/ 0 w 808"/>
                  <a:gd name="T45" fmla="*/ 0 h 497"/>
                  <a:gd name="T46" fmla="*/ 0 w 808"/>
                  <a:gd name="T47" fmla="*/ 0 h 497"/>
                  <a:gd name="T48" fmla="*/ 0 w 808"/>
                  <a:gd name="T49" fmla="*/ 0 h 497"/>
                  <a:gd name="T50" fmla="*/ 0 w 808"/>
                  <a:gd name="T51" fmla="*/ 0 h 497"/>
                  <a:gd name="T52" fmla="*/ 0 w 808"/>
                  <a:gd name="T53" fmla="*/ 0 h 497"/>
                  <a:gd name="T54" fmla="*/ 0 w 808"/>
                  <a:gd name="T55" fmla="*/ 0 h 497"/>
                  <a:gd name="T56" fmla="*/ 0 w 808"/>
                  <a:gd name="T57" fmla="*/ 0 h 497"/>
                  <a:gd name="T58" fmla="*/ 0 w 808"/>
                  <a:gd name="T59" fmla="*/ 0 h 497"/>
                  <a:gd name="T60" fmla="*/ 0 w 808"/>
                  <a:gd name="T61" fmla="*/ 0 h 497"/>
                  <a:gd name="T62" fmla="*/ 0 w 808"/>
                  <a:gd name="T63" fmla="*/ 0 h 497"/>
                  <a:gd name="T64" fmla="*/ 0 w 808"/>
                  <a:gd name="T65" fmla="*/ 0 h 497"/>
                  <a:gd name="T66" fmla="*/ 0 w 808"/>
                  <a:gd name="T67" fmla="*/ 0 h 497"/>
                  <a:gd name="T68" fmla="*/ 0 w 808"/>
                  <a:gd name="T69" fmla="*/ 0 h 497"/>
                  <a:gd name="T70" fmla="*/ 0 w 808"/>
                  <a:gd name="T71" fmla="*/ 0 h 497"/>
                  <a:gd name="T72" fmla="*/ 0 w 808"/>
                  <a:gd name="T73" fmla="*/ 0 h 497"/>
                  <a:gd name="T74" fmla="*/ 0 w 808"/>
                  <a:gd name="T75" fmla="*/ 0 h 497"/>
                  <a:gd name="T76" fmla="*/ 0 w 808"/>
                  <a:gd name="T77" fmla="*/ 0 h 497"/>
                  <a:gd name="T78" fmla="*/ 0 w 808"/>
                  <a:gd name="T79" fmla="*/ 0 h 497"/>
                  <a:gd name="T80" fmla="*/ 0 w 808"/>
                  <a:gd name="T81" fmla="*/ 0 h 497"/>
                  <a:gd name="T82" fmla="*/ 0 w 808"/>
                  <a:gd name="T83" fmla="*/ 0 h 497"/>
                  <a:gd name="T84" fmla="*/ 0 w 808"/>
                  <a:gd name="T85" fmla="*/ 0 h 497"/>
                  <a:gd name="T86" fmla="*/ 0 w 808"/>
                  <a:gd name="T87" fmla="*/ 0 h 497"/>
                  <a:gd name="T88" fmla="*/ 0 w 808"/>
                  <a:gd name="T89" fmla="*/ 0 h 497"/>
                  <a:gd name="T90" fmla="*/ 0 w 808"/>
                  <a:gd name="T91" fmla="*/ 0 h 497"/>
                  <a:gd name="T92" fmla="*/ 0 w 808"/>
                  <a:gd name="T93" fmla="*/ 0 h 497"/>
                  <a:gd name="T94" fmla="*/ 0 w 808"/>
                  <a:gd name="T95" fmla="*/ 0 h 497"/>
                  <a:gd name="T96" fmla="*/ 0 w 808"/>
                  <a:gd name="T97" fmla="*/ 0 h 497"/>
                  <a:gd name="T98" fmla="*/ 0 w 808"/>
                  <a:gd name="T99" fmla="*/ 0 h 497"/>
                  <a:gd name="T100" fmla="*/ 0 w 808"/>
                  <a:gd name="T101" fmla="*/ 0 h 497"/>
                  <a:gd name="T102" fmla="*/ 0 w 808"/>
                  <a:gd name="T103" fmla="*/ 0 h 497"/>
                  <a:gd name="T104" fmla="*/ 0 w 808"/>
                  <a:gd name="T105" fmla="*/ 0 h 497"/>
                  <a:gd name="T106" fmla="*/ 0 w 808"/>
                  <a:gd name="T107" fmla="*/ 0 h 497"/>
                  <a:gd name="T108" fmla="*/ 0 w 808"/>
                  <a:gd name="T109" fmla="*/ 0 h 497"/>
                  <a:gd name="T110" fmla="*/ 0 w 808"/>
                  <a:gd name="T111" fmla="*/ 0 h 497"/>
                  <a:gd name="T112" fmla="*/ 0 w 808"/>
                  <a:gd name="T113" fmla="*/ 0 h 497"/>
                  <a:gd name="T114" fmla="*/ 0 w 808"/>
                  <a:gd name="T115" fmla="*/ 0 h 497"/>
                  <a:gd name="T116" fmla="*/ 0 w 808"/>
                  <a:gd name="T117" fmla="*/ 0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08" h="497">
                    <a:moveTo>
                      <a:pt x="460" y="0"/>
                    </a:moveTo>
                    <a:lnTo>
                      <a:pt x="485" y="0"/>
                    </a:lnTo>
                    <a:lnTo>
                      <a:pt x="511" y="2"/>
                    </a:lnTo>
                    <a:lnTo>
                      <a:pt x="536" y="6"/>
                    </a:lnTo>
                    <a:lnTo>
                      <a:pt x="561" y="10"/>
                    </a:lnTo>
                    <a:lnTo>
                      <a:pt x="585" y="17"/>
                    </a:lnTo>
                    <a:lnTo>
                      <a:pt x="609" y="24"/>
                    </a:lnTo>
                    <a:lnTo>
                      <a:pt x="631" y="33"/>
                    </a:lnTo>
                    <a:lnTo>
                      <a:pt x="654" y="42"/>
                    </a:lnTo>
                    <a:lnTo>
                      <a:pt x="676" y="53"/>
                    </a:lnTo>
                    <a:lnTo>
                      <a:pt x="697" y="66"/>
                    </a:lnTo>
                    <a:lnTo>
                      <a:pt x="717" y="79"/>
                    </a:lnTo>
                    <a:lnTo>
                      <a:pt x="737" y="92"/>
                    </a:lnTo>
                    <a:lnTo>
                      <a:pt x="756" y="107"/>
                    </a:lnTo>
                    <a:lnTo>
                      <a:pt x="774" y="123"/>
                    </a:lnTo>
                    <a:lnTo>
                      <a:pt x="791" y="140"/>
                    </a:lnTo>
                    <a:lnTo>
                      <a:pt x="808" y="158"/>
                    </a:lnTo>
                    <a:lnTo>
                      <a:pt x="467" y="497"/>
                    </a:lnTo>
                    <a:lnTo>
                      <a:pt x="1" y="497"/>
                    </a:lnTo>
                    <a:lnTo>
                      <a:pt x="1" y="493"/>
                    </a:lnTo>
                    <a:lnTo>
                      <a:pt x="0" y="489"/>
                    </a:lnTo>
                    <a:lnTo>
                      <a:pt x="0" y="484"/>
                    </a:lnTo>
                    <a:lnTo>
                      <a:pt x="0" y="479"/>
                    </a:lnTo>
                    <a:lnTo>
                      <a:pt x="0" y="474"/>
                    </a:lnTo>
                    <a:lnTo>
                      <a:pt x="0" y="470"/>
                    </a:lnTo>
                    <a:lnTo>
                      <a:pt x="0" y="464"/>
                    </a:lnTo>
                    <a:lnTo>
                      <a:pt x="0" y="459"/>
                    </a:lnTo>
                    <a:lnTo>
                      <a:pt x="0" y="436"/>
                    </a:lnTo>
                    <a:lnTo>
                      <a:pt x="2" y="412"/>
                    </a:lnTo>
                    <a:lnTo>
                      <a:pt x="5" y="390"/>
                    </a:lnTo>
                    <a:lnTo>
                      <a:pt x="8" y="367"/>
                    </a:lnTo>
                    <a:lnTo>
                      <a:pt x="14" y="345"/>
                    </a:lnTo>
                    <a:lnTo>
                      <a:pt x="20" y="323"/>
                    </a:lnTo>
                    <a:lnTo>
                      <a:pt x="28" y="302"/>
                    </a:lnTo>
                    <a:lnTo>
                      <a:pt x="36" y="281"/>
                    </a:lnTo>
                    <a:lnTo>
                      <a:pt x="45" y="260"/>
                    </a:lnTo>
                    <a:lnTo>
                      <a:pt x="55" y="240"/>
                    </a:lnTo>
                    <a:lnTo>
                      <a:pt x="66" y="221"/>
                    </a:lnTo>
                    <a:lnTo>
                      <a:pt x="79" y="203"/>
                    </a:lnTo>
                    <a:lnTo>
                      <a:pt x="91" y="185"/>
                    </a:lnTo>
                    <a:lnTo>
                      <a:pt x="105" y="167"/>
                    </a:lnTo>
                    <a:lnTo>
                      <a:pt x="119" y="151"/>
                    </a:lnTo>
                    <a:lnTo>
                      <a:pt x="135" y="135"/>
                    </a:lnTo>
                    <a:lnTo>
                      <a:pt x="151" y="119"/>
                    </a:lnTo>
                    <a:lnTo>
                      <a:pt x="167" y="105"/>
                    </a:lnTo>
                    <a:lnTo>
                      <a:pt x="185" y="91"/>
                    </a:lnTo>
                    <a:lnTo>
                      <a:pt x="203" y="79"/>
                    </a:lnTo>
                    <a:lnTo>
                      <a:pt x="221" y="67"/>
                    </a:lnTo>
                    <a:lnTo>
                      <a:pt x="240" y="55"/>
                    </a:lnTo>
                    <a:lnTo>
                      <a:pt x="261" y="46"/>
                    </a:lnTo>
                    <a:lnTo>
                      <a:pt x="281" y="36"/>
                    </a:lnTo>
                    <a:lnTo>
                      <a:pt x="302" y="27"/>
                    </a:lnTo>
                    <a:lnTo>
                      <a:pt x="323" y="20"/>
                    </a:lnTo>
                    <a:lnTo>
                      <a:pt x="345" y="14"/>
                    </a:lnTo>
                    <a:lnTo>
                      <a:pt x="367" y="9"/>
                    </a:lnTo>
                    <a:lnTo>
                      <a:pt x="389" y="5"/>
                    </a:lnTo>
                    <a:lnTo>
                      <a:pt x="413" y="2"/>
                    </a:lnTo>
                    <a:lnTo>
                      <a:pt x="436" y="0"/>
                    </a:lnTo>
                    <a:lnTo>
                      <a:pt x="460" y="0"/>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sp>
            <p:nvSpPr>
              <p:cNvPr id="388029" name="Freeform 3493"/>
              <p:cNvSpPr>
                <a:spLocks noChangeAspect="1"/>
              </p:cNvSpPr>
              <p:nvPr/>
            </p:nvSpPr>
            <p:spPr bwMode="auto">
              <a:xfrm>
                <a:off x="5282" y="1115"/>
                <a:ext cx="5" cy="58"/>
              </a:xfrm>
              <a:custGeom>
                <a:avLst/>
                <a:gdLst>
                  <a:gd name="T0" fmla="*/ 0 w 14"/>
                  <a:gd name="T1" fmla="*/ 0 h 175"/>
                  <a:gd name="T2" fmla="*/ 0 w 14"/>
                  <a:gd name="T3" fmla="*/ 0 h 175"/>
                  <a:gd name="T4" fmla="*/ 0 w 14"/>
                  <a:gd name="T5" fmla="*/ 0 h 175"/>
                  <a:gd name="T6" fmla="*/ 0 w 14"/>
                  <a:gd name="T7" fmla="*/ 0 h 175"/>
                  <a:gd name="T8" fmla="*/ 0 w 14"/>
                  <a:gd name="T9" fmla="*/ 0 h 175"/>
                  <a:gd name="T10" fmla="*/ 0 w 14"/>
                  <a:gd name="T11" fmla="*/ 0 h 175"/>
                  <a:gd name="T12" fmla="*/ 0 w 14"/>
                  <a:gd name="T13" fmla="*/ 0 h 175"/>
                  <a:gd name="T14" fmla="*/ 0 w 14"/>
                  <a:gd name="T15" fmla="*/ 0 h 175"/>
                  <a:gd name="T16" fmla="*/ 0 w 14"/>
                  <a:gd name="T17" fmla="*/ 0 h 175"/>
                  <a:gd name="T18" fmla="*/ 0 w 14"/>
                  <a:gd name="T19" fmla="*/ 0 h 175"/>
                  <a:gd name="T20" fmla="*/ 0 w 14"/>
                  <a:gd name="T21" fmla="*/ 0 h 175"/>
                  <a:gd name="T22" fmla="*/ 0 w 14"/>
                  <a:gd name="T23" fmla="*/ 0 h 175"/>
                  <a:gd name="T24" fmla="*/ 0 w 14"/>
                  <a:gd name="T25" fmla="*/ 0 h 175"/>
                  <a:gd name="T26" fmla="*/ 0 w 14"/>
                  <a:gd name="T27" fmla="*/ 0 h 175"/>
                  <a:gd name="T28" fmla="*/ 0 w 14"/>
                  <a:gd name="T29" fmla="*/ 0 h 175"/>
                  <a:gd name="T30" fmla="*/ 0 w 14"/>
                  <a:gd name="T31" fmla="*/ 0 h 175"/>
                  <a:gd name="T32" fmla="*/ 0 w 14"/>
                  <a:gd name="T33" fmla="*/ 0 h 175"/>
                  <a:gd name="T34" fmla="*/ 0 w 14"/>
                  <a:gd name="T35" fmla="*/ 0 h 1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4" h="175">
                    <a:moveTo>
                      <a:pt x="14" y="0"/>
                    </a:moveTo>
                    <a:lnTo>
                      <a:pt x="14" y="175"/>
                    </a:lnTo>
                    <a:lnTo>
                      <a:pt x="11" y="164"/>
                    </a:lnTo>
                    <a:lnTo>
                      <a:pt x="8" y="154"/>
                    </a:lnTo>
                    <a:lnTo>
                      <a:pt x="6" y="143"/>
                    </a:lnTo>
                    <a:lnTo>
                      <a:pt x="4" y="133"/>
                    </a:lnTo>
                    <a:lnTo>
                      <a:pt x="2" y="121"/>
                    </a:lnTo>
                    <a:lnTo>
                      <a:pt x="1" y="110"/>
                    </a:lnTo>
                    <a:lnTo>
                      <a:pt x="1" y="99"/>
                    </a:lnTo>
                    <a:lnTo>
                      <a:pt x="0" y="87"/>
                    </a:lnTo>
                    <a:lnTo>
                      <a:pt x="1" y="76"/>
                    </a:lnTo>
                    <a:lnTo>
                      <a:pt x="1" y="65"/>
                    </a:lnTo>
                    <a:lnTo>
                      <a:pt x="2" y="54"/>
                    </a:lnTo>
                    <a:lnTo>
                      <a:pt x="4" y="42"/>
                    </a:lnTo>
                    <a:lnTo>
                      <a:pt x="6" y="32"/>
                    </a:lnTo>
                    <a:lnTo>
                      <a:pt x="8" y="21"/>
                    </a:lnTo>
                    <a:lnTo>
                      <a:pt x="11" y="10"/>
                    </a:lnTo>
                    <a:lnTo>
                      <a:pt x="14"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30" name="Freeform 3494"/>
              <p:cNvSpPr>
                <a:spLocks noChangeAspect="1"/>
              </p:cNvSpPr>
              <p:nvPr/>
            </p:nvSpPr>
            <p:spPr bwMode="auto">
              <a:xfrm>
                <a:off x="5282" y="1103"/>
                <a:ext cx="9" cy="82"/>
              </a:xfrm>
              <a:custGeom>
                <a:avLst/>
                <a:gdLst>
                  <a:gd name="T0" fmla="*/ 0 w 27"/>
                  <a:gd name="T1" fmla="*/ 0 h 245"/>
                  <a:gd name="T2" fmla="*/ 0 w 27"/>
                  <a:gd name="T3" fmla="*/ 0 h 245"/>
                  <a:gd name="T4" fmla="*/ 0 w 27"/>
                  <a:gd name="T5" fmla="*/ 0 h 245"/>
                  <a:gd name="T6" fmla="*/ 0 w 27"/>
                  <a:gd name="T7" fmla="*/ 0 h 245"/>
                  <a:gd name="T8" fmla="*/ 0 w 27"/>
                  <a:gd name="T9" fmla="*/ 0 h 245"/>
                  <a:gd name="T10" fmla="*/ 0 w 27"/>
                  <a:gd name="T11" fmla="*/ 0 h 245"/>
                  <a:gd name="T12" fmla="*/ 0 w 27"/>
                  <a:gd name="T13" fmla="*/ 0 h 245"/>
                  <a:gd name="T14" fmla="*/ 0 w 27"/>
                  <a:gd name="T15" fmla="*/ 0 h 245"/>
                  <a:gd name="T16" fmla="*/ 0 w 27"/>
                  <a:gd name="T17" fmla="*/ 0 h 245"/>
                  <a:gd name="T18" fmla="*/ 0 w 27"/>
                  <a:gd name="T19" fmla="*/ 0 h 245"/>
                  <a:gd name="T20" fmla="*/ 0 w 27"/>
                  <a:gd name="T21" fmla="*/ 0 h 245"/>
                  <a:gd name="T22" fmla="*/ 0 w 27"/>
                  <a:gd name="T23" fmla="*/ 0 h 245"/>
                  <a:gd name="T24" fmla="*/ 0 w 27"/>
                  <a:gd name="T25" fmla="*/ 0 h 245"/>
                  <a:gd name="T26" fmla="*/ 0 w 27"/>
                  <a:gd name="T27" fmla="*/ 0 h 245"/>
                  <a:gd name="T28" fmla="*/ 0 w 27"/>
                  <a:gd name="T29" fmla="*/ 0 h 245"/>
                  <a:gd name="T30" fmla="*/ 0 w 27"/>
                  <a:gd name="T31" fmla="*/ 0 h 245"/>
                  <a:gd name="T32" fmla="*/ 0 w 27"/>
                  <a:gd name="T33" fmla="*/ 0 h 245"/>
                  <a:gd name="T34" fmla="*/ 0 w 27"/>
                  <a:gd name="T35" fmla="*/ 0 h 24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7" h="245">
                    <a:moveTo>
                      <a:pt x="27" y="0"/>
                    </a:moveTo>
                    <a:lnTo>
                      <a:pt x="27" y="245"/>
                    </a:lnTo>
                    <a:lnTo>
                      <a:pt x="21" y="231"/>
                    </a:lnTo>
                    <a:lnTo>
                      <a:pt x="16" y="216"/>
                    </a:lnTo>
                    <a:lnTo>
                      <a:pt x="11" y="202"/>
                    </a:lnTo>
                    <a:lnTo>
                      <a:pt x="8" y="186"/>
                    </a:lnTo>
                    <a:lnTo>
                      <a:pt x="4" y="171"/>
                    </a:lnTo>
                    <a:lnTo>
                      <a:pt x="2" y="155"/>
                    </a:lnTo>
                    <a:lnTo>
                      <a:pt x="1" y="139"/>
                    </a:lnTo>
                    <a:lnTo>
                      <a:pt x="0" y="122"/>
                    </a:lnTo>
                    <a:lnTo>
                      <a:pt x="1" y="106"/>
                    </a:lnTo>
                    <a:lnTo>
                      <a:pt x="2" y="90"/>
                    </a:lnTo>
                    <a:lnTo>
                      <a:pt x="4" y="74"/>
                    </a:lnTo>
                    <a:lnTo>
                      <a:pt x="8" y="58"/>
                    </a:lnTo>
                    <a:lnTo>
                      <a:pt x="11" y="43"/>
                    </a:lnTo>
                    <a:lnTo>
                      <a:pt x="16" y="28"/>
                    </a:lnTo>
                    <a:lnTo>
                      <a:pt x="21" y="13"/>
                    </a:lnTo>
                    <a:lnTo>
                      <a:pt x="27"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31" name="Freeform 3495"/>
              <p:cNvSpPr>
                <a:spLocks noChangeAspect="1"/>
              </p:cNvSpPr>
              <p:nvPr/>
            </p:nvSpPr>
            <p:spPr bwMode="auto">
              <a:xfrm>
                <a:off x="5287" y="1094"/>
                <a:ext cx="9" cy="100"/>
              </a:xfrm>
              <a:custGeom>
                <a:avLst/>
                <a:gdLst>
                  <a:gd name="T0" fmla="*/ 0 w 27"/>
                  <a:gd name="T1" fmla="*/ 0 h 299"/>
                  <a:gd name="T2" fmla="*/ 0 w 27"/>
                  <a:gd name="T3" fmla="*/ 0 h 299"/>
                  <a:gd name="T4" fmla="*/ 0 w 27"/>
                  <a:gd name="T5" fmla="*/ 0 h 299"/>
                  <a:gd name="T6" fmla="*/ 0 w 27"/>
                  <a:gd name="T7" fmla="*/ 0 h 299"/>
                  <a:gd name="T8" fmla="*/ 0 w 27"/>
                  <a:gd name="T9" fmla="*/ 0 h 299"/>
                  <a:gd name="T10" fmla="*/ 0 w 27"/>
                  <a:gd name="T11" fmla="*/ 0 h 299"/>
                  <a:gd name="T12" fmla="*/ 0 w 27"/>
                  <a:gd name="T13" fmla="*/ 0 h 299"/>
                  <a:gd name="T14" fmla="*/ 0 w 27"/>
                  <a:gd name="T15" fmla="*/ 0 h 299"/>
                  <a:gd name="T16" fmla="*/ 0 w 27"/>
                  <a:gd name="T17" fmla="*/ 0 h 299"/>
                  <a:gd name="T18" fmla="*/ 0 w 27"/>
                  <a:gd name="T19" fmla="*/ 0 h 299"/>
                  <a:gd name="T20" fmla="*/ 0 w 27"/>
                  <a:gd name="T21" fmla="*/ 0 h 299"/>
                  <a:gd name="T22" fmla="*/ 0 w 27"/>
                  <a:gd name="T23" fmla="*/ 0 h 299"/>
                  <a:gd name="T24" fmla="*/ 0 w 27"/>
                  <a:gd name="T25" fmla="*/ 0 h 299"/>
                  <a:gd name="T26" fmla="*/ 0 w 27"/>
                  <a:gd name="T27" fmla="*/ 0 h 299"/>
                  <a:gd name="T28" fmla="*/ 0 w 27"/>
                  <a:gd name="T29" fmla="*/ 0 h 299"/>
                  <a:gd name="T30" fmla="*/ 0 w 27"/>
                  <a:gd name="T31" fmla="*/ 0 h 299"/>
                  <a:gd name="T32" fmla="*/ 0 w 27"/>
                  <a:gd name="T33" fmla="*/ 0 h 299"/>
                  <a:gd name="T34" fmla="*/ 0 w 27"/>
                  <a:gd name="T35" fmla="*/ 0 h 299"/>
                  <a:gd name="T36" fmla="*/ 0 w 27"/>
                  <a:gd name="T37" fmla="*/ 0 h 29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299">
                    <a:moveTo>
                      <a:pt x="0" y="237"/>
                    </a:moveTo>
                    <a:lnTo>
                      <a:pt x="0" y="62"/>
                    </a:lnTo>
                    <a:lnTo>
                      <a:pt x="2" y="53"/>
                    </a:lnTo>
                    <a:lnTo>
                      <a:pt x="5" y="46"/>
                    </a:lnTo>
                    <a:lnTo>
                      <a:pt x="9" y="37"/>
                    </a:lnTo>
                    <a:lnTo>
                      <a:pt x="12" y="30"/>
                    </a:lnTo>
                    <a:lnTo>
                      <a:pt x="15" y="22"/>
                    </a:lnTo>
                    <a:lnTo>
                      <a:pt x="18" y="15"/>
                    </a:lnTo>
                    <a:lnTo>
                      <a:pt x="22" y="7"/>
                    </a:lnTo>
                    <a:lnTo>
                      <a:pt x="27" y="0"/>
                    </a:lnTo>
                    <a:lnTo>
                      <a:pt x="27" y="299"/>
                    </a:lnTo>
                    <a:lnTo>
                      <a:pt x="22" y="291"/>
                    </a:lnTo>
                    <a:lnTo>
                      <a:pt x="18" y="284"/>
                    </a:lnTo>
                    <a:lnTo>
                      <a:pt x="15" y="276"/>
                    </a:lnTo>
                    <a:lnTo>
                      <a:pt x="12" y="269"/>
                    </a:lnTo>
                    <a:lnTo>
                      <a:pt x="9" y="260"/>
                    </a:lnTo>
                    <a:lnTo>
                      <a:pt x="5" y="253"/>
                    </a:lnTo>
                    <a:lnTo>
                      <a:pt x="2" y="246"/>
                    </a:lnTo>
                    <a:lnTo>
                      <a:pt x="0" y="23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32" name="Freeform 3496"/>
              <p:cNvSpPr>
                <a:spLocks noChangeAspect="1"/>
              </p:cNvSpPr>
              <p:nvPr/>
            </p:nvSpPr>
            <p:spPr bwMode="auto">
              <a:xfrm>
                <a:off x="5291" y="1087"/>
                <a:ext cx="9" cy="114"/>
              </a:xfrm>
              <a:custGeom>
                <a:avLst/>
                <a:gdLst>
                  <a:gd name="T0" fmla="*/ 0 w 26"/>
                  <a:gd name="T1" fmla="*/ 0 h 341"/>
                  <a:gd name="T2" fmla="*/ 0 w 26"/>
                  <a:gd name="T3" fmla="*/ 0 h 341"/>
                  <a:gd name="T4" fmla="*/ 0 w 26"/>
                  <a:gd name="T5" fmla="*/ 0 h 341"/>
                  <a:gd name="T6" fmla="*/ 0 w 26"/>
                  <a:gd name="T7" fmla="*/ 0 h 341"/>
                  <a:gd name="T8" fmla="*/ 0 w 26"/>
                  <a:gd name="T9" fmla="*/ 0 h 341"/>
                  <a:gd name="T10" fmla="*/ 0 w 26"/>
                  <a:gd name="T11" fmla="*/ 0 h 341"/>
                  <a:gd name="T12" fmla="*/ 0 w 26"/>
                  <a:gd name="T13" fmla="*/ 0 h 341"/>
                  <a:gd name="T14" fmla="*/ 0 w 26"/>
                  <a:gd name="T15" fmla="*/ 0 h 341"/>
                  <a:gd name="T16" fmla="*/ 0 w 26"/>
                  <a:gd name="T17" fmla="*/ 0 h 341"/>
                  <a:gd name="T18" fmla="*/ 0 w 26"/>
                  <a:gd name="T19" fmla="*/ 0 h 341"/>
                  <a:gd name="T20" fmla="*/ 0 w 26"/>
                  <a:gd name="T21" fmla="*/ 0 h 341"/>
                  <a:gd name="T22" fmla="*/ 0 w 26"/>
                  <a:gd name="T23" fmla="*/ 0 h 341"/>
                  <a:gd name="T24" fmla="*/ 0 w 26"/>
                  <a:gd name="T25" fmla="*/ 0 h 341"/>
                  <a:gd name="T26" fmla="*/ 0 w 26"/>
                  <a:gd name="T27" fmla="*/ 0 h 341"/>
                  <a:gd name="T28" fmla="*/ 0 w 26"/>
                  <a:gd name="T29" fmla="*/ 0 h 341"/>
                  <a:gd name="T30" fmla="*/ 0 w 26"/>
                  <a:gd name="T31" fmla="*/ 0 h 341"/>
                  <a:gd name="T32" fmla="*/ 0 w 26"/>
                  <a:gd name="T33" fmla="*/ 0 h 341"/>
                  <a:gd name="T34" fmla="*/ 0 w 26"/>
                  <a:gd name="T35" fmla="*/ 0 h 341"/>
                  <a:gd name="T36" fmla="*/ 0 w 26"/>
                  <a:gd name="T37" fmla="*/ 0 h 3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341">
                    <a:moveTo>
                      <a:pt x="0" y="293"/>
                    </a:moveTo>
                    <a:lnTo>
                      <a:pt x="0" y="48"/>
                    </a:lnTo>
                    <a:lnTo>
                      <a:pt x="3" y="41"/>
                    </a:lnTo>
                    <a:lnTo>
                      <a:pt x="6" y="35"/>
                    </a:lnTo>
                    <a:lnTo>
                      <a:pt x="9" y="30"/>
                    </a:lnTo>
                    <a:lnTo>
                      <a:pt x="13" y="23"/>
                    </a:lnTo>
                    <a:lnTo>
                      <a:pt x="16" y="17"/>
                    </a:lnTo>
                    <a:lnTo>
                      <a:pt x="19" y="11"/>
                    </a:lnTo>
                    <a:lnTo>
                      <a:pt x="23" y="6"/>
                    </a:lnTo>
                    <a:lnTo>
                      <a:pt x="26" y="0"/>
                    </a:lnTo>
                    <a:lnTo>
                      <a:pt x="26" y="341"/>
                    </a:lnTo>
                    <a:lnTo>
                      <a:pt x="23" y="335"/>
                    </a:lnTo>
                    <a:lnTo>
                      <a:pt x="19" y="329"/>
                    </a:lnTo>
                    <a:lnTo>
                      <a:pt x="16" y="323"/>
                    </a:lnTo>
                    <a:lnTo>
                      <a:pt x="13" y="318"/>
                    </a:lnTo>
                    <a:lnTo>
                      <a:pt x="9" y="311"/>
                    </a:lnTo>
                    <a:lnTo>
                      <a:pt x="6" y="306"/>
                    </a:lnTo>
                    <a:lnTo>
                      <a:pt x="3" y="300"/>
                    </a:lnTo>
                    <a:lnTo>
                      <a:pt x="0" y="29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33" name="Freeform 3497"/>
              <p:cNvSpPr>
                <a:spLocks noChangeAspect="1"/>
              </p:cNvSpPr>
              <p:nvPr/>
            </p:nvSpPr>
            <p:spPr bwMode="auto">
              <a:xfrm>
                <a:off x="5296" y="1081"/>
                <a:ext cx="9" cy="126"/>
              </a:xfrm>
              <a:custGeom>
                <a:avLst/>
                <a:gdLst>
                  <a:gd name="T0" fmla="*/ 0 w 26"/>
                  <a:gd name="T1" fmla="*/ 0 h 376"/>
                  <a:gd name="T2" fmla="*/ 0 w 26"/>
                  <a:gd name="T3" fmla="*/ 0 h 376"/>
                  <a:gd name="T4" fmla="*/ 0 w 26"/>
                  <a:gd name="T5" fmla="*/ 0 h 376"/>
                  <a:gd name="T6" fmla="*/ 0 w 26"/>
                  <a:gd name="T7" fmla="*/ 0 h 376"/>
                  <a:gd name="T8" fmla="*/ 0 w 26"/>
                  <a:gd name="T9" fmla="*/ 0 h 376"/>
                  <a:gd name="T10" fmla="*/ 0 w 26"/>
                  <a:gd name="T11" fmla="*/ 0 h 376"/>
                  <a:gd name="T12" fmla="*/ 0 w 26"/>
                  <a:gd name="T13" fmla="*/ 0 h 376"/>
                  <a:gd name="T14" fmla="*/ 0 w 26"/>
                  <a:gd name="T15" fmla="*/ 0 h 376"/>
                  <a:gd name="T16" fmla="*/ 0 w 26"/>
                  <a:gd name="T17" fmla="*/ 0 h 376"/>
                  <a:gd name="T18" fmla="*/ 0 w 26"/>
                  <a:gd name="T19" fmla="*/ 0 h 376"/>
                  <a:gd name="T20" fmla="*/ 0 w 26"/>
                  <a:gd name="T21" fmla="*/ 0 h 376"/>
                  <a:gd name="T22" fmla="*/ 0 w 26"/>
                  <a:gd name="T23" fmla="*/ 0 h 376"/>
                  <a:gd name="T24" fmla="*/ 0 w 26"/>
                  <a:gd name="T25" fmla="*/ 0 h 376"/>
                  <a:gd name="T26" fmla="*/ 0 w 26"/>
                  <a:gd name="T27" fmla="*/ 0 h 376"/>
                  <a:gd name="T28" fmla="*/ 0 w 26"/>
                  <a:gd name="T29" fmla="*/ 0 h 376"/>
                  <a:gd name="T30" fmla="*/ 0 w 26"/>
                  <a:gd name="T31" fmla="*/ 0 h 376"/>
                  <a:gd name="T32" fmla="*/ 0 w 26"/>
                  <a:gd name="T33" fmla="*/ 0 h 376"/>
                  <a:gd name="T34" fmla="*/ 0 w 26"/>
                  <a:gd name="T35" fmla="*/ 0 h 376"/>
                  <a:gd name="T36" fmla="*/ 0 w 26"/>
                  <a:gd name="T37" fmla="*/ 0 h 3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376">
                    <a:moveTo>
                      <a:pt x="0" y="338"/>
                    </a:moveTo>
                    <a:lnTo>
                      <a:pt x="0" y="39"/>
                    </a:lnTo>
                    <a:lnTo>
                      <a:pt x="3" y="34"/>
                    </a:lnTo>
                    <a:lnTo>
                      <a:pt x="5" y="29"/>
                    </a:lnTo>
                    <a:lnTo>
                      <a:pt x="8" y="24"/>
                    </a:lnTo>
                    <a:lnTo>
                      <a:pt x="12" y="19"/>
                    </a:lnTo>
                    <a:lnTo>
                      <a:pt x="16" y="15"/>
                    </a:lnTo>
                    <a:lnTo>
                      <a:pt x="19" y="9"/>
                    </a:lnTo>
                    <a:lnTo>
                      <a:pt x="22" y="5"/>
                    </a:lnTo>
                    <a:lnTo>
                      <a:pt x="26" y="0"/>
                    </a:lnTo>
                    <a:lnTo>
                      <a:pt x="26" y="376"/>
                    </a:lnTo>
                    <a:lnTo>
                      <a:pt x="22" y="372"/>
                    </a:lnTo>
                    <a:lnTo>
                      <a:pt x="19" y="368"/>
                    </a:lnTo>
                    <a:lnTo>
                      <a:pt x="16" y="362"/>
                    </a:lnTo>
                    <a:lnTo>
                      <a:pt x="12" y="357"/>
                    </a:lnTo>
                    <a:lnTo>
                      <a:pt x="8" y="353"/>
                    </a:lnTo>
                    <a:lnTo>
                      <a:pt x="5" y="347"/>
                    </a:lnTo>
                    <a:lnTo>
                      <a:pt x="3" y="342"/>
                    </a:lnTo>
                    <a:lnTo>
                      <a:pt x="0" y="33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34" name="Freeform 3498"/>
              <p:cNvSpPr>
                <a:spLocks noChangeAspect="1"/>
              </p:cNvSpPr>
              <p:nvPr/>
            </p:nvSpPr>
            <p:spPr bwMode="auto">
              <a:xfrm>
                <a:off x="5300" y="1076"/>
                <a:ext cx="9" cy="136"/>
              </a:xfrm>
              <a:custGeom>
                <a:avLst/>
                <a:gdLst>
                  <a:gd name="T0" fmla="*/ 0 w 27"/>
                  <a:gd name="T1" fmla="*/ 0 h 407"/>
                  <a:gd name="T2" fmla="*/ 0 w 27"/>
                  <a:gd name="T3" fmla="*/ 0 h 407"/>
                  <a:gd name="T4" fmla="*/ 0 w 27"/>
                  <a:gd name="T5" fmla="*/ 0 h 407"/>
                  <a:gd name="T6" fmla="*/ 0 w 27"/>
                  <a:gd name="T7" fmla="*/ 0 h 407"/>
                  <a:gd name="T8" fmla="*/ 0 w 27"/>
                  <a:gd name="T9" fmla="*/ 0 h 407"/>
                  <a:gd name="T10" fmla="*/ 0 w 27"/>
                  <a:gd name="T11" fmla="*/ 0 h 407"/>
                  <a:gd name="T12" fmla="*/ 0 w 27"/>
                  <a:gd name="T13" fmla="*/ 0 h 407"/>
                  <a:gd name="T14" fmla="*/ 0 w 27"/>
                  <a:gd name="T15" fmla="*/ 0 h 407"/>
                  <a:gd name="T16" fmla="*/ 0 w 27"/>
                  <a:gd name="T17" fmla="*/ 0 h 407"/>
                  <a:gd name="T18" fmla="*/ 0 w 27"/>
                  <a:gd name="T19" fmla="*/ 0 h 407"/>
                  <a:gd name="T20" fmla="*/ 0 w 27"/>
                  <a:gd name="T21" fmla="*/ 0 h 407"/>
                  <a:gd name="T22" fmla="*/ 0 w 27"/>
                  <a:gd name="T23" fmla="*/ 0 h 407"/>
                  <a:gd name="T24" fmla="*/ 0 w 27"/>
                  <a:gd name="T25" fmla="*/ 0 h 407"/>
                  <a:gd name="T26" fmla="*/ 0 w 27"/>
                  <a:gd name="T27" fmla="*/ 0 h 407"/>
                  <a:gd name="T28" fmla="*/ 0 w 27"/>
                  <a:gd name="T29" fmla="*/ 0 h 407"/>
                  <a:gd name="T30" fmla="*/ 0 w 27"/>
                  <a:gd name="T31" fmla="*/ 0 h 407"/>
                  <a:gd name="T32" fmla="*/ 0 w 27"/>
                  <a:gd name="T33" fmla="*/ 0 h 407"/>
                  <a:gd name="T34" fmla="*/ 0 w 27"/>
                  <a:gd name="T35" fmla="*/ 0 h 407"/>
                  <a:gd name="T36" fmla="*/ 0 w 27"/>
                  <a:gd name="T37" fmla="*/ 0 h 40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07">
                    <a:moveTo>
                      <a:pt x="0" y="374"/>
                    </a:moveTo>
                    <a:lnTo>
                      <a:pt x="0" y="33"/>
                    </a:lnTo>
                    <a:lnTo>
                      <a:pt x="4" y="29"/>
                    </a:lnTo>
                    <a:lnTo>
                      <a:pt x="7" y="24"/>
                    </a:lnTo>
                    <a:lnTo>
                      <a:pt x="10" y="20"/>
                    </a:lnTo>
                    <a:lnTo>
                      <a:pt x="13" y="16"/>
                    </a:lnTo>
                    <a:lnTo>
                      <a:pt x="16" y="11"/>
                    </a:lnTo>
                    <a:lnTo>
                      <a:pt x="21" y="7"/>
                    </a:lnTo>
                    <a:lnTo>
                      <a:pt x="24" y="3"/>
                    </a:lnTo>
                    <a:lnTo>
                      <a:pt x="27" y="0"/>
                    </a:lnTo>
                    <a:lnTo>
                      <a:pt x="27" y="407"/>
                    </a:lnTo>
                    <a:lnTo>
                      <a:pt x="24" y="403"/>
                    </a:lnTo>
                    <a:lnTo>
                      <a:pt x="21" y="400"/>
                    </a:lnTo>
                    <a:lnTo>
                      <a:pt x="16" y="395"/>
                    </a:lnTo>
                    <a:lnTo>
                      <a:pt x="13" y="391"/>
                    </a:lnTo>
                    <a:lnTo>
                      <a:pt x="10" y="387"/>
                    </a:lnTo>
                    <a:lnTo>
                      <a:pt x="7" y="383"/>
                    </a:lnTo>
                    <a:lnTo>
                      <a:pt x="4" y="378"/>
                    </a:lnTo>
                    <a:lnTo>
                      <a:pt x="0" y="37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35" name="Freeform 3499"/>
              <p:cNvSpPr>
                <a:spLocks noChangeAspect="1"/>
              </p:cNvSpPr>
              <p:nvPr/>
            </p:nvSpPr>
            <p:spPr bwMode="auto">
              <a:xfrm>
                <a:off x="5305" y="1072"/>
                <a:ext cx="9" cy="145"/>
              </a:xfrm>
              <a:custGeom>
                <a:avLst/>
                <a:gdLst>
                  <a:gd name="T0" fmla="*/ 0 w 27"/>
                  <a:gd name="T1" fmla="*/ 0 h 435"/>
                  <a:gd name="T2" fmla="*/ 0 w 27"/>
                  <a:gd name="T3" fmla="*/ 0 h 435"/>
                  <a:gd name="T4" fmla="*/ 0 w 27"/>
                  <a:gd name="T5" fmla="*/ 0 h 435"/>
                  <a:gd name="T6" fmla="*/ 0 w 27"/>
                  <a:gd name="T7" fmla="*/ 0 h 435"/>
                  <a:gd name="T8" fmla="*/ 0 w 27"/>
                  <a:gd name="T9" fmla="*/ 0 h 435"/>
                  <a:gd name="T10" fmla="*/ 0 w 27"/>
                  <a:gd name="T11" fmla="*/ 0 h 435"/>
                  <a:gd name="T12" fmla="*/ 0 w 27"/>
                  <a:gd name="T13" fmla="*/ 0 h 435"/>
                  <a:gd name="T14" fmla="*/ 0 w 27"/>
                  <a:gd name="T15" fmla="*/ 0 h 435"/>
                  <a:gd name="T16" fmla="*/ 0 w 27"/>
                  <a:gd name="T17" fmla="*/ 0 h 435"/>
                  <a:gd name="T18" fmla="*/ 0 w 27"/>
                  <a:gd name="T19" fmla="*/ 0 h 435"/>
                  <a:gd name="T20" fmla="*/ 0 w 27"/>
                  <a:gd name="T21" fmla="*/ 0 h 435"/>
                  <a:gd name="T22" fmla="*/ 0 w 27"/>
                  <a:gd name="T23" fmla="*/ 0 h 435"/>
                  <a:gd name="T24" fmla="*/ 0 w 27"/>
                  <a:gd name="T25" fmla="*/ 0 h 435"/>
                  <a:gd name="T26" fmla="*/ 0 w 27"/>
                  <a:gd name="T27" fmla="*/ 0 h 435"/>
                  <a:gd name="T28" fmla="*/ 0 w 27"/>
                  <a:gd name="T29" fmla="*/ 0 h 435"/>
                  <a:gd name="T30" fmla="*/ 0 w 27"/>
                  <a:gd name="T31" fmla="*/ 0 h 435"/>
                  <a:gd name="T32" fmla="*/ 0 w 27"/>
                  <a:gd name="T33" fmla="*/ 0 h 435"/>
                  <a:gd name="T34" fmla="*/ 0 w 27"/>
                  <a:gd name="T35" fmla="*/ 0 h 435"/>
                  <a:gd name="T36" fmla="*/ 0 w 27"/>
                  <a:gd name="T37" fmla="*/ 0 h 4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35">
                    <a:moveTo>
                      <a:pt x="0" y="405"/>
                    </a:moveTo>
                    <a:lnTo>
                      <a:pt x="0" y="29"/>
                    </a:lnTo>
                    <a:lnTo>
                      <a:pt x="3" y="25"/>
                    </a:lnTo>
                    <a:lnTo>
                      <a:pt x="7" y="21"/>
                    </a:lnTo>
                    <a:lnTo>
                      <a:pt x="10" y="18"/>
                    </a:lnTo>
                    <a:lnTo>
                      <a:pt x="13" y="14"/>
                    </a:lnTo>
                    <a:lnTo>
                      <a:pt x="16" y="11"/>
                    </a:lnTo>
                    <a:lnTo>
                      <a:pt x="19" y="6"/>
                    </a:lnTo>
                    <a:lnTo>
                      <a:pt x="23" y="3"/>
                    </a:lnTo>
                    <a:lnTo>
                      <a:pt x="27" y="0"/>
                    </a:lnTo>
                    <a:lnTo>
                      <a:pt x="27" y="435"/>
                    </a:lnTo>
                    <a:lnTo>
                      <a:pt x="23" y="432"/>
                    </a:lnTo>
                    <a:lnTo>
                      <a:pt x="19" y="428"/>
                    </a:lnTo>
                    <a:lnTo>
                      <a:pt x="16" y="424"/>
                    </a:lnTo>
                    <a:lnTo>
                      <a:pt x="13" y="421"/>
                    </a:lnTo>
                    <a:lnTo>
                      <a:pt x="10" y="417"/>
                    </a:lnTo>
                    <a:lnTo>
                      <a:pt x="7" y="414"/>
                    </a:lnTo>
                    <a:lnTo>
                      <a:pt x="3" y="409"/>
                    </a:lnTo>
                    <a:lnTo>
                      <a:pt x="0" y="40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36" name="Freeform 3500"/>
              <p:cNvSpPr>
                <a:spLocks noChangeAspect="1"/>
              </p:cNvSpPr>
              <p:nvPr/>
            </p:nvSpPr>
            <p:spPr bwMode="auto">
              <a:xfrm>
                <a:off x="5309" y="1067"/>
                <a:ext cx="9" cy="154"/>
              </a:xfrm>
              <a:custGeom>
                <a:avLst/>
                <a:gdLst>
                  <a:gd name="T0" fmla="*/ 0 w 27"/>
                  <a:gd name="T1" fmla="*/ 0 h 461"/>
                  <a:gd name="T2" fmla="*/ 0 w 27"/>
                  <a:gd name="T3" fmla="*/ 0 h 461"/>
                  <a:gd name="T4" fmla="*/ 0 w 27"/>
                  <a:gd name="T5" fmla="*/ 0 h 461"/>
                  <a:gd name="T6" fmla="*/ 0 w 27"/>
                  <a:gd name="T7" fmla="*/ 0 h 461"/>
                  <a:gd name="T8" fmla="*/ 0 w 27"/>
                  <a:gd name="T9" fmla="*/ 0 h 461"/>
                  <a:gd name="T10" fmla="*/ 0 w 27"/>
                  <a:gd name="T11" fmla="*/ 0 h 461"/>
                  <a:gd name="T12" fmla="*/ 0 w 27"/>
                  <a:gd name="T13" fmla="*/ 0 h 461"/>
                  <a:gd name="T14" fmla="*/ 0 w 27"/>
                  <a:gd name="T15" fmla="*/ 0 h 461"/>
                  <a:gd name="T16" fmla="*/ 0 w 27"/>
                  <a:gd name="T17" fmla="*/ 0 h 461"/>
                  <a:gd name="T18" fmla="*/ 0 w 27"/>
                  <a:gd name="T19" fmla="*/ 0 h 461"/>
                  <a:gd name="T20" fmla="*/ 0 w 27"/>
                  <a:gd name="T21" fmla="*/ 0 h 461"/>
                  <a:gd name="T22" fmla="*/ 0 w 27"/>
                  <a:gd name="T23" fmla="*/ 0 h 461"/>
                  <a:gd name="T24" fmla="*/ 0 w 27"/>
                  <a:gd name="T25" fmla="*/ 0 h 461"/>
                  <a:gd name="T26" fmla="*/ 0 w 27"/>
                  <a:gd name="T27" fmla="*/ 0 h 461"/>
                  <a:gd name="T28" fmla="*/ 0 w 27"/>
                  <a:gd name="T29" fmla="*/ 0 h 461"/>
                  <a:gd name="T30" fmla="*/ 0 w 27"/>
                  <a:gd name="T31" fmla="*/ 0 h 461"/>
                  <a:gd name="T32" fmla="*/ 0 w 27"/>
                  <a:gd name="T33" fmla="*/ 0 h 461"/>
                  <a:gd name="T34" fmla="*/ 0 w 27"/>
                  <a:gd name="T35" fmla="*/ 0 h 461"/>
                  <a:gd name="T36" fmla="*/ 0 w 27"/>
                  <a:gd name="T37" fmla="*/ 0 h 4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61">
                    <a:moveTo>
                      <a:pt x="0" y="434"/>
                    </a:moveTo>
                    <a:lnTo>
                      <a:pt x="0" y="27"/>
                    </a:lnTo>
                    <a:lnTo>
                      <a:pt x="3" y="23"/>
                    </a:lnTo>
                    <a:lnTo>
                      <a:pt x="6" y="19"/>
                    </a:lnTo>
                    <a:lnTo>
                      <a:pt x="10" y="16"/>
                    </a:lnTo>
                    <a:lnTo>
                      <a:pt x="13" y="13"/>
                    </a:lnTo>
                    <a:lnTo>
                      <a:pt x="16" y="10"/>
                    </a:lnTo>
                    <a:lnTo>
                      <a:pt x="20" y="7"/>
                    </a:lnTo>
                    <a:lnTo>
                      <a:pt x="23" y="3"/>
                    </a:lnTo>
                    <a:lnTo>
                      <a:pt x="27" y="0"/>
                    </a:lnTo>
                    <a:lnTo>
                      <a:pt x="27" y="461"/>
                    </a:lnTo>
                    <a:lnTo>
                      <a:pt x="23" y="457"/>
                    </a:lnTo>
                    <a:lnTo>
                      <a:pt x="20" y="454"/>
                    </a:lnTo>
                    <a:lnTo>
                      <a:pt x="16" y="451"/>
                    </a:lnTo>
                    <a:lnTo>
                      <a:pt x="13" y="448"/>
                    </a:lnTo>
                    <a:lnTo>
                      <a:pt x="10" y="445"/>
                    </a:lnTo>
                    <a:lnTo>
                      <a:pt x="6" y="441"/>
                    </a:lnTo>
                    <a:lnTo>
                      <a:pt x="3" y="437"/>
                    </a:lnTo>
                    <a:lnTo>
                      <a:pt x="0" y="43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37" name="Freeform 3501"/>
              <p:cNvSpPr>
                <a:spLocks noChangeAspect="1"/>
              </p:cNvSpPr>
              <p:nvPr/>
            </p:nvSpPr>
            <p:spPr bwMode="auto">
              <a:xfrm>
                <a:off x="5314" y="1064"/>
                <a:ext cx="8" cy="160"/>
              </a:xfrm>
              <a:custGeom>
                <a:avLst/>
                <a:gdLst>
                  <a:gd name="T0" fmla="*/ 0 w 26"/>
                  <a:gd name="T1" fmla="*/ 0 h 481"/>
                  <a:gd name="T2" fmla="*/ 0 w 26"/>
                  <a:gd name="T3" fmla="*/ 0 h 481"/>
                  <a:gd name="T4" fmla="*/ 0 w 26"/>
                  <a:gd name="T5" fmla="*/ 0 h 481"/>
                  <a:gd name="T6" fmla="*/ 0 w 26"/>
                  <a:gd name="T7" fmla="*/ 0 h 481"/>
                  <a:gd name="T8" fmla="*/ 0 w 26"/>
                  <a:gd name="T9" fmla="*/ 0 h 481"/>
                  <a:gd name="T10" fmla="*/ 0 w 26"/>
                  <a:gd name="T11" fmla="*/ 0 h 481"/>
                  <a:gd name="T12" fmla="*/ 0 w 26"/>
                  <a:gd name="T13" fmla="*/ 0 h 481"/>
                  <a:gd name="T14" fmla="*/ 0 w 26"/>
                  <a:gd name="T15" fmla="*/ 0 h 481"/>
                  <a:gd name="T16" fmla="*/ 0 w 26"/>
                  <a:gd name="T17" fmla="*/ 0 h 481"/>
                  <a:gd name="T18" fmla="*/ 0 w 26"/>
                  <a:gd name="T19" fmla="*/ 0 h 481"/>
                  <a:gd name="T20" fmla="*/ 0 w 26"/>
                  <a:gd name="T21" fmla="*/ 0 h 481"/>
                  <a:gd name="T22" fmla="*/ 0 w 26"/>
                  <a:gd name="T23" fmla="*/ 0 h 481"/>
                  <a:gd name="T24" fmla="*/ 0 w 26"/>
                  <a:gd name="T25" fmla="*/ 0 h 481"/>
                  <a:gd name="T26" fmla="*/ 0 w 26"/>
                  <a:gd name="T27" fmla="*/ 0 h 481"/>
                  <a:gd name="T28" fmla="*/ 0 w 26"/>
                  <a:gd name="T29" fmla="*/ 0 h 481"/>
                  <a:gd name="T30" fmla="*/ 0 w 26"/>
                  <a:gd name="T31" fmla="*/ 0 h 481"/>
                  <a:gd name="T32" fmla="*/ 0 w 26"/>
                  <a:gd name="T33" fmla="*/ 0 h 481"/>
                  <a:gd name="T34" fmla="*/ 0 w 26"/>
                  <a:gd name="T35" fmla="*/ 0 h 481"/>
                  <a:gd name="T36" fmla="*/ 0 w 26"/>
                  <a:gd name="T37" fmla="*/ 0 h 48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81">
                    <a:moveTo>
                      <a:pt x="0" y="458"/>
                    </a:moveTo>
                    <a:lnTo>
                      <a:pt x="0" y="23"/>
                    </a:lnTo>
                    <a:lnTo>
                      <a:pt x="3" y="20"/>
                    </a:lnTo>
                    <a:lnTo>
                      <a:pt x="6" y="17"/>
                    </a:lnTo>
                    <a:lnTo>
                      <a:pt x="9" y="13"/>
                    </a:lnTo>
                    <a:lnTo>
                      <a:pt x="13" y="10"/>
                    </a:lnTo>
                    <a:lnTo>
                      <a:pt x="16" y="7"/>
                    </a:lnTo>
                    <a:lnTo>
                      <a:pt x="19" y="5"/>
                    </a:lnTo>
                    <a:lnTo>
                      <a:pt x="22" y="2"/>
                    </a:lnTo>
                    <a:lnTo>
                      <a:pt x="26" y="0"/>
                    </a:lnTo>
                    <a:lnTo>
                      <a:pt x="26" y="481"/>
                    </a:lnTo>
                    <a:lnTo>
                      <a:pt x="22" y="479"/>
                    </a:lnTo>
                    <a:lnTo>
                      <a:pt x="19" y="476"/>
                    </a:lnTo>
                    <a:lnTo>
                      <a:pt x="16" y="473"/>
                    </a:lnTo>
                    <a:lnTo>
                      <a:pt x="13" y="471"/>
                    </a:lnTo>
                    <a:lnTo>
                      <a:pt x="9" y="467"/>
                    </a:lnTo>
                    <a:lnTo>
                      <a:pt x="6" y="464"/>
                    </a:lnTo>
                    <a:lnTo>
                      <a:pt x="3" y="461"/>
                    </a:lnTo>
                    <a:lnTo>
                      <a:pt x="0" y="45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38" name="Freeform 3502"/>
              <p:cNvSpPr>
                <a:spLocks noChangeAspect="1"/>
              </p:cNvSpPr>
              <p:nvPr/>
            </p:nvSpPr>
            <p:spPr bwMode="auto">
              <a:xfrm>
                <a:off x="5318" y="1060"/>
                <a:ext cx="9" cy="168"/>
              </a:xfrm>
              <a:custGeom>
                <a:avLst/>
                <a:gdLst>
                  <a:gd name="T0" fmla="*/ 0 w 26"/>
                  <a:gd name="T1" fmla="*/ 0 h 503"/>
                  <a:gd name="T2" fmla="*/ 0 w 26"/>
                  <a:gd name="T3" fmla="*/ 0 h 503"/>
                  <a:gd name="T4" fmla="*/ 0 w 26"/>
                  <a:gd name="T5" fmla="*/ 0 h 503"/>
                  <a:gd name="T6" fmla="*/ 0 w 26"/>
                  <a:gd name="T7" fmla="*/ 0 h 503"/>
                  <a:gd name="T8" fmla="*/ 0 w 26"/>
                  <a:gd name="T9" fmla="*/ 0 h 503"/>
                  <a:gd name="T10" fmla="*/ 0 w 26"/>
                  <a:gd name="T11" fmla="*/ 0 h 503"/>
                  <a:gd name="T12" fmla="*/ 0 w 26"/>
                  <a:gd name="T13" fmla="*/ 0 h 503"/>
                  <a:gd name="T14" fmla="*/ 0 w 26"/>
                  <a:gd name="T15" fmla="*/ 0 h 503"/>
                  <a:gd name="T16" fmla="*/ 0 w 26"/>
                  <a:gd name="T17" fmla="*/ 0 h 503"/>
                  <a:gd name="T18" fmla="*/ 0 w 26"/>
                  <a:gd name="T19" fmla="*/ 0 h 503"/>
                  <a:gd name="T20" fmla="*/ 0 w 26"/>
                  <a:gd name="T21" fmla="*/ 0 h 503"/>
                  <a:gd name="T22" fmla="*/ 0 w 26"/>
                  <a:gd name="T23" fmla="*/ 0 h 503"/>
                  <a:gd name="T24" fmla="*/ 0 w 26"/>
                  <a:gd name="T25" fmla="*/ 0 h 503"/>
                  <a:gd name="T26" fmla="*/ 0 w 26"/>
                  <a:gd name="T27" fmla="*/ 0 h 503"/>
                  <a:gd name="T28" fmla="*/ 0 w 26"/>
                  <a:gd name="T29" fmla="*/ 0 h 503"/>
                  <a:gd name="T30" fmla="*/ 0 w 26"/>
                  <a:gd name="T31" fmla="*/ 0 h 503"/>
                  <a:gd name="T32" fmla="*/ 0 w 26"/>
                  <a:gd name="T33" fmla="*/ 0 h 503"/>
                  <a:gd name="T34" fmla="*/ 0 w 26"/>
                  <a:gd name="T35" fmla="*/ 0 h 503"/>
                  <a:gd name="T36" fmla="*/ 0 w 26"/>
                  <a:gd name="T37" fmla="*/ 0 h 5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03">
                    <a:moveTo>
                      <a:pt x="0" y="482"/>
                    </a:moveTo>
                    <a:lnTo>
                      <a:pt x="0" y="21"/>
                    </a:lnTo>
                    <a:lnTo>
                      <a:pt x="3" y="18"/>
                    </a:lnTo>
                    <a:lnTo>
                      <a:pt x="6" y="16"/>
                    </a:lnTo>
                    <a:lnTo>
                      <a:pt x="9" y="13"/>
                    </a:lnTo>
                    <a:lnTo>
                      <a:pt x="12" y="11"/>
                    </a:lnTo>
                    <a:lnTo>
                      <a:pt x="16" y="7"/>
                    </a:lnTo>
                    <a:lnTo>
                      <a:pt x="20" y="5"/>
                    </a:lnTo>
                    <a:lnTo>
                      <a:pt x="23" y="2"/>
                    </a:lnTo>
                    <a:lnTo>
                      <a:pt x="26" y="0"/>
                    </a:lnTo>
                    <a:lnTo>
                      <a:pt x="26" y="503"/>
                    </a:lnTo>
                    <a:lnTo>
                      <a:pt x="23" y="500"/>
                    </a:lnTo>
                    <a:lnTo>
                      <a:pt x="20" y="498"/>
                    </a:lnTo>
                    <a:lnTo>
                      <a:pt x="16" y="495"/>
                    </a:lnTo>
                    <a:lnTo>
                      <a:pt x="12" y="492"/>
                    </a:lnTo>
                    <a:lnTo>
                      <a:pt x="9" y="490"/>
                    </a:lnTo>
                    <a:lnTo>
                      <a:pt x="6" y="487"/>
                    </a:lnTo>
                    <a:lnTo>
                      <a:pt x="3" y="484"/>
                    </a:lnTo>
                    <a:lnTo>
                      <a:pt x="0" y="48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39" name="Freeform 3503"/>
              <p:cNvSpPr>
                <a:spLocks noChangeAspect="1"/>
              </p:cNvSpPr>
              <p:nvPr/>
            </p:nvSpPr>
            <p:spPr bwMode="auto">
              <a:xfrm>
                <a:off x="5322" y="1057"/>
                <a:ext cx="9" cy="174"/>
              </a:xfrm>
              <a:custGeom>
                <a:avLst/>
                <a:gdLst>
                  <a:gd name="T0" fmla="*/ 0 w 27"/>
                  <a:gd name="T1" fmla="*/ 0 h 520"/>
                  <a:gd name="T2" fmla="*/ 0 w 27"/>
                  <a:gd name="T3" fmla="*/ 0 h 520"/>
                  <a:gd name="T4" fmla="*/ 0 w 27"/>
                  <a:gd name="T5" fmla="*/ 0 h 520"/>
                  <a:gd name="T6" fmla="*/ 0 w 27"/>
                  <a:gd name="T7" fmla="*/ 0 h 520"/>
                  <a:gd name="T8" fmla="*/ 0 w 27"/>
                  <a:gd name="T9" fmla="*/ 0 h 520"/>
                  <a:gd name="T10" fmla="*/ 0 w 27"/>
                  <a:gd name="T11" fmla="*/ 0 h 520"/>
                  <a:gd name="T12" fmla="*/ 0 w 27"/>
                  <a:gd name="T13" fmla="*/ 0 h 520"/>
                  <a:gd name="T14" fmla="*/ 0 w 27"/>
                  <a:gd name="T15" fmla="*/ 0 h 520"/>
                  <a:gd name="T16" fmla="*/ 0 w 27"/>
                  <a:gd name="T17" fmla="*/ 0 h 520"/>
                  <a:gd name="T18" fmla="*/ 0 w 27"/>
                  <a:gd name="T19" fmla="*/ 0 h 520"/>
                  <a:gd name="T20" fmla="*/ 0 w 27"/>
                  <a:gd name="T21" fmla="*/ 0 h 520"/>
                  <a:gd name="T22" fmla="*/ 0 w 27"/>
                  <a:gd name="T23" fmla="*/ 0 h 520"/>
                  <a:gd name="T24" fmla="*/ 0 w 27"/>
                  <a:gd name="T25" fmla="*/ 0 h 520"/>
                  <a:gd name="T26" fmla="*/ 0 w 27"/>
                  <a:gd name="T27" fmla="*/ 0 h 520"/>
                  <a:gd name="T28" fmla="*/ 0 w 27"/>
                  <a:gd name="T29" fmla="*/ 0 h 520"/>
                  <a:gd name="T30" fmla="*/ 0 w 27"/>
                  <a:gd name="T31" fmla="*/ 0 h 520"/>
                  <a:gd name="T32" fmla="*/ 0 w 27"/>
                  <a:gd name="T33" fmla="*/ 0 h 520"/>
                  <a:gd name="T34" fmla="*/ 0 w 27"/>
                  <a:gd name="T35" fmla="*/ 0 h 520"/>
                  <a:gd name="T36" fmla="*/ 0 w 27"/>
                  <a:gd name="T37" fmla="*/ 0 h 5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20">
                    <a:moveTo>
                      <a:pt x="0" y="501"/>
                    </a:moveTo>
                    <a:lnTo>
                      <a:pt x="0" y="20"/>
                    </a:lnTo>
                    <a:lnTo>
                      <a:pt x="4" y="16"/>
                    </a:lnTo>
                    <a:lnTo>
                      <a:pt x="7" y="14"/>
                    </a:lnTo>
                    <a:lnTo>
                      <a:pt x="10" y="12"/>
                    </a:lnTo>
                    <a:lnTo>
                      <a:pt x="13" y="9"/>
                    </a:lnTo>
                    <a:lnTo>
                      <a:pt x="16" y="7"/>
                    </a:lnTo>
                    <a:lnTo>
                      <a:pt x="20" y="5"/>
                    </a:lnTo>
                    <a:lnTo>
                      <a:pt x="23" y="3"/>
                    </a:lnTo>
                    <a:lnTo>
                      <a:pt x="27" y="0"/>
                    </a:lnTo>
                    <a:lnTo>
                      <a:pt x="27" y="520"/>
                    </a:lnTo>
                    <a:lnTo>
                      <a:pt x="23" y="518"/>
                    </a:lnTo>
                    <a:lnTo>
                      <a:pt x="20" y="516"/>
                    </a:lnTo>
                    <a:lnTo>
                      <a:pt x="16" y="514"/>
                    </a:lnTo>
                    <a:lnTo>
                      <a:pt x="13" y="511"/>
                    </a:lnTo>
                    <a:lnTo>
                      <a:pt x="10" y="509"/>
                    </a:lnTo>
                    <a:lnTo>
                      <a:pt x="7" y="507"/>
                    </a:lnTo>
                    <a:lnTo>
                      <a:pt x="4" y="504"/>
                    </a:lnTo>
                    <a:lnTo>
                      <a:pt x="0" y="50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40" name="Freeform 3504"/>
              <p:cNvSpPr>
                <a:spLocks noChangeAspect="1"/>
              </p:cNvSpPr>
              <p:nvPr/>
            </p:nvSpPr>
            <p:spPr bwMode="auto">
              <a:xfrm>
                <a:off x="5327" y="1055"/>
                <a:ext cx="9" cy="179"/>
              </a:xfrm>
              <a:custGeom>
                <a:avLst/>
                <a:gdLst>
                  <a:gd name="T0" fmla="*/ 0 w 27"/>
                  <a:gd name="T1" fmla="*/ 0 h 537"/>
                  <a:gd name="T2" fmla="*/ 0 w 27"/>
                  <a:gd name="T3" fmla="*/ 0 h 537"/>
                  <a:gd name="T4" fmla="*/ 0 w 27"/>
                  <a:gd name="T5" fmla="*/ 0 h 537"/>
                  <a:gd name="T6" fmla="*/ 0 w 27"/>
                  <a:gd name="T7" fmla="*/ 0 h 537"/>
                  <a:gd name="T8" fmla="*/ 0 w 27"/>
                  <a:gd name="T9" fmla="*/ 0 h 537"/>
                  <a:gd name="T10" fmla="*/ 0 w 27"/>
                  <a:gd name="T11" fmla="*/ 0 h 537"/>
                  <a:gd name="T12" fmla="*/ 0 w 27"/>
                  <a:gd name="T13" fmla="*/ 0 h 537"/>
                  <a:gd name="T14" fmla="*/ 0 w 27"/>
                  <a:gd name="T15" fmla="*/ 0 h 537"/>
                  <a:gd name="T16" fmla="*/ 0 w 27"/>
                  <a:gd name="T17" fmla="*/ 0 h 537"/>
                  <a:gd name="T18" fmla="*/ 0 w 27"/>
                  <a:gd name="T19" fmla="*/ 0 h 537"/>
                  <a:gd name="T20" fmla="*/ 0 w 27"/>
                  <a:gd name="T21" fmla="*/ 0 h 537"/>
                  <a:gd name="T22" fmla="*/ 0 w 27"/>
                  <a:gd name="T23" fmla="*/ 0 h 537"/>
                  <a:gd name="T24" fmla="*/ 0 w 27"/>
                  <a:gd name="T25" fmla="*/ 0 h 537"/>
                  <a:gd name="T26" fmla="*/ 0 w 27"/>
                  <a:gd name="T27" fmla="*/ 0 h 537"/>
                  <a:gd name="T28" fmla="*/ 0 w 27"/>
                  <a:gd name="T29" fmla="*/ 0 h 537"/>
                  <a:gd name="T30" fmla="*/ 0 w 27"/>
                  <a:gd name="T31" fmla="*/ 0 h 537"/>
                  <a:gd name="T32" fmla="*/ 0 w 27"/>
                  <a:gd name="T33" fmla="*/ 0 h 537"/>
                  <a:gd name="T34" fmla="*/ 0 w 27"/>
                  <a:gd name="T35" fmla="*/ 0 h 537"/>
                  <a:gd name="T36" fmla="*/ 0 w 27"/>
                  <a:gd name="T37" fmla="*/ 0 h 5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37">
                    <a:moveTo>
                      <a:pt x="0" y="520"/>
                    </a:moveTo>
                    <a:lnTo>
                      <a:pt x="0" y="17"/>
                    </a:lnTo>
                    <a:lnTo>
                      <a:pt x="3" y="15"/>
                    </a:lnTo>
                    <a:lnTo>
                      <a:pt x="7" y="13"/>
                    </a:lnTo>
                    <a:lnTo>
                      <a:pt x="10" y="11"/>
                    </a:lnTo>
                    <a:lnTo>
                      <a:pt x="13" y="8"/>
                    </a:lnTo>
                    <a:lnTo>
                      <a:pt x="16" y="6"/>
                    </a:lnTo>
                    <a:lnTo>
                      <a:pt x="20" y="4"/>
                    </a:lnTo>
                    <a:lnTo>
                      <a:pt x="24" y="2"/>
                    </a:lnTo>
                    <a:lnTo>
                      <a:pt x="27" y="0"/>
                    </a:lnTo>
                    <a:lnTo>
                      <a:pt x="27" y="537"/>
                    </a:lnTo>
                    <a:lnTo>
                      <a:pt x="24" y="535"/>
                    </a:lnTo>
                    <a:lnTo>
                      <a:pt x="20" y="533"/>
                    </a:lnTo>
                    <a:lnTo>
                      <a:pt x="16" y="530"/>
                    </a:lnTo>
                    <a:lnTo>
                      <a:pt x="13" y="528"/>
                    </a:lnTo>
                    <a:lnTo>
                      <a:pt x="10" y="526"/>
                    </a:lnTo>
                    <a:lnTo>
                      <a:pt x="7" y="524"/>
                    </a:lnTo>
                    <a:lnTo>
                      <a:pt x="3" y="522"/>
                    </a:lnTo>
                    <a:lnTo>
                      <a:pt x="0" y="5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41" name="Freeform 3505"/>
              <p:cNvSpPr>
                <a:spLocks noChangeAspect="1"/>
              </p:cNvSpPr>
              <p:nvPr/>
            </p:nvSpPr>
            <p:spPr bwMode="auto">
              <a:xfrm>
                <a:off x="5331" y="1052"/>
                <a:ext cx="9" cy="184"/>
              </a:xfrm>
              <a:custGeom>
                <a:avLst/>
                <a:gdLst>
                  <a:gd name="T0" fmla="*/ 0 w 27"/>
                  <a:gd name="T1" fmla="*/ 0 h 551"/>
                  <a:gd name="T2" fmla="*/ 0 w 27"/>
                  <a:gd name="T3" fmla="*/ 0 h 551"/>
                  <a:gd name="T4" fmla="*/ 0 w 27"/>
                  <a:gd name="T5" fmla="*/ 0 h 551"/>
                  <a:gd name="T6" fmla="*/ 0 w 27"/>
                  <a:gd name="T7" fmla="*/ 0 h 551"/>
                  <a:gd name="T8" fmla="*/ 0 w 27"/>
                  <a:gd name="T9" fmla="*/ 0 h 551"/>
                  <a:gd name="T10" fmla="*/ 0 w 27"/>
                  <a:gd name="T11" fmla="*/ 0 h 551"/>
                  <a:gd name="T12" fmla="*/ 0 w 27"/>
                  <a:gd name="T13" fmla="*/ 0 h 551"/>
                  <a:gd name="T14" fmla="*/ 0 w 27"/>
                  <a:gd name="T15" fmla="*/ 0 h 551"/>
                  <a:gd name="T16" fmla="*/ 0 w 27"/>
                  <a:gd name="T17" fmla="*/ 0 h 551"/>
                  <a:gd name="T18" fmla="*/ 0 w 27"/>
                  <a:gd name="T19" fmla="*/ 0 h 551"/>
                  <a:gd name="T20" fmla="*/ 0 w 27"/>
                  <a:gd name="T21" fmla="*/ 0 h 551"/>
                  <a:gd name="T22" fmla="*/ 0 w 27"/>
                  <a:gd name="T23" fmla="*/ 0 h 551"/>
                  <a:gd name="T24" fmla="*/ 0 w 27"/>
                  <a:gd name="T25" fmla="*/ 0 h 551"/>
                  <a:gd name="T26" fmla="*/ 0 w 27"/>
                  <a:gd name="T27" fmla="*/ 0 h 551"/>
                  <a:gd name="T28" fmla="*/ 0 w 27"/>
                  <a:gd name="T29" fmla="*/ 0 h 551"/>
                  <a:gd name="T30" fmla="*/ 0 w 27"/>
                  <a:gd name="T31" fmla="*/ 0 h 551"/>
                  <a:gd name="T32" fmla="*/ 0 w 27"/>
                  <a:gd name="T33" fmla="*/ 0 h 551"/>
                  <a:gd name="T34" fmla="*/ 0 w 27"/>
                  <a:gd name="T35" fmla="*/ 0 h 551"/>
                  <a:gd name="T36" fmla="*/ 0 w 27"/>
                  <a:gd name="T37" fmla="*/ 0 h 5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51">
                    <a:moveTo>
                      <a:pt x="0" y="535"/>
                    </a:moveTo>
                    <a:lnTo>
                      <a:pt x="0" y="15"/>
                    </a:lnTo>
                    <a:lnTo>
                      <a:pt x="3" y="13"/>
                    </a:lnTo>
                    <a:lnTo>
                      <a:pt x="6" y="11"/>
                    </a:lnTo>
                    <a:lnTo>
                      <a:pt x="10" y="9"/>
                    </a:lnTo>
                    <a:lnTo>
                      <a:pt x="13" y="7"/>
                    </a:lnTo>
                    <a:lnTo>
                      <a:pt x="16" y="5"/>
                    </a:lnTo>
                    <a:lnTo>
                      <a:pt x="19" y="4"/>
                    </a:lnTo>
                    <a:lnTo>
                      <a:pt x="22" y="2"/>
                    </a:lnTo>
                    <a:lnTo>
                      <a:pt x="27" y="0"/>
                    </a:lnTo>
                    <a:lnTo>
                      <a:pt x="27" y="551"/>
                    </a:lnTo>
                    <a:lnTo>
                      <a:pt x="22" y="549"/>
                    </a:lnTo>
                    <a:lnTo>
                      <a:pt x="19" y="547"/>
                    </a:lnTo>
                    <a:lnTo>
                      <a:pt x="16" y="545"/>
                    </a:lnTo>
                    <a:lnTo>
                      <a:pt x="13" y="544"/>
                    </a:lnTo>
                    <a:lnTo>
                      <a:pt x="10" y="542"/>
                    </a:lnTo>
                    <a:lnTo>
                      <a:pt x="6" y="540"/>
                    </a:lnTo>
                    <a:lnTo>
                      <a:pt x="3" y="537"/>
                    </a:lnTo>
                    <a:lnTo>
                      <a:pt x="0" y="53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42" name="Freeform 3506"/>
              <p:cNvSpPr>
                <a:spLocks noChangeAspect="1"/>
              </p:cNvSpPr>
              <p:nvPr/>
            </p:nvSpPr>
            <p:spPr bwMode="auto">
              <a:xfrm>
                <a:off x="5336" y="1050"/>
                <a:ext cx="8" cy="188"/>
              </a:xfrm>
              <a:custGeom>
                <a:avLst/>
                <a:gdLst>
                  <a:gd name="T0" fmla="*/ 0 w 26"/>
                  <a:gd name="T1" fmla="*/ 0 h 565"/>
                  <a:gd name="T2" fmla="*/ 0 w 26"/>
                  <a:gd name="T3" fmla="*/ 0 h 565"/>
                  <a:gd name="T4" fmla="*/ 0 w 26"/>
                  <a:gd name="T5" fmla="*/ 0 h 565"/>
                  <a:gd name="T6" fmla="*/ 0 w 26"/>
                  <a:gd name="T7" fmla="*/ 0 h 565"/>
                  <a:gd name="T8" fmla="*/ 0 w 26"/>
                  <a:gd name="T9" fmla="*/ 0 h 565"/>
                  <a:gd name="T10" fmla="*/ 0 w 26"/>
                  <a:gd name="T11" fmla="*/ 0 h 565"/>
                  <a:gd name="T12" fmla="*/ 0 w 26"/>
                  <a:gd name="T13" fmla="*/ 0 h 565"/>
                  <a:gd name="T14" fmla="*/ 0 w 26"/>
                  <a:gd name="T15" fmla="*/ 0 h 565"/>
                  <a:gd name="T16" fmla="*/ 0 w 26"/>
                  <a:gd name="T17" fmla="*/ 0 h 565"/>
                  <a:gd name="T18" fmla="*/ 0 w 26"/>
                  <a:gd name="T19" fmla="*/ 0 h 565"/>
                  <a:gd name="T20" fmla="*/ 0 w 26"/>
                  <a:gd name="T21" fmla="*/ 0 h 565"/>
                  <a:gd name="T22" fmla="*/ 0 w 26"/>
                  <a:gd name="T23" fmla="*/ 0 h 565"/>
                  <a:gd name="T24" fmla="*/ 0 w 26"/>
                  <a:gd name="T25" fmla="*/ 0 h 565"/>
                  <a:gd name="T26" fmla="*/ 0 w 26"/>
                  <a:gd name="T27" fmla="*/ 0 h 565"/>
                  <a:gd name="T28" fmla="*/ 0 w 26"/>
                  <a:gd name="T29" fmla="*/ 0 h 565"/>
                  <a:gd name="T30" fmla="*/ 0 w 26"/>
                  <a:gd name="T31" fmla="*/ 0 h 565"/>
                  <a:gd name="T32" fmla="*/ 0 w 26"/>
                  <a:gd name="T33" fmla="*/ 0 h 565"/>
                  <a:gd name="T34" fmla="*/ 0 w 26"/>
                  <a:gd name="T35" fmla="*/ 0 h 565"/>
                  <a:gd name="T36" fmla="*/ 0 w 26"/>
                  <a:gd name="T37" fmla="*/ 0 h 5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65">
                    <a:moveTo>
                      <a:pt x="0" y="551"/>
                    </a:moveTo>
                    <a:lnTo>
                      <a:pt x="0" y="14"/>
                    </a:lnTo>
                    <a:lnTo>
                      <a:pt x="3" y="12"/>
                    </a:lnTo>
                    <a:lnTo>
                      <a:pt x="6" y="11"/>
                    </a:lnTo>
                    <a:lnTo>
                      <a:pt x="9" y="9"/>
                    </a:lnTo>
                    <a:lnTo>
                      <a:pt x="13" y="7"/>
                    </a:lnTo>
                    <a:lnTo>
                      <a:pt x="16" y="5"/>
                    </a:lnTo>
                    <a:lnTo>
                      <a:pt x="20" y="3"/>
                    </a:lnTo>
                    <a:lnTo>
                      <a:pt x="23" y="2"/>
                    </a:lnTo>
                    <a:lnTo>
                      <a:pt x="26" y="0"/>
                    </a:lnTo>
                    <a:lnTo>
                      <a:pt x="26" y="565"/>
                    </a:lnTo>
                    <a:lnTo>
                      <a:pt x="23" y="563"/>
                    </a:lnTo>
                    <a:lnTo>
                      <a:pt x="20" y="561"/>
                    </a:lnTo>
                    <a:lnTo>
                      <a:pt x="16" y="559"/>
                    </a:lnTo>
                    <a:lnTo>
                      <a:pt x="13" y="558"/>
                    </a:lnTo>
                    <a:lnTo>
                      <a:pt x="9" y="556"/>
                    </a:lnTo>
                    <a:lnTo>
                      <a:pt x="6" y="554"/>
                    </a:lnTo>
                    <a:lnTo>
                      <a:pt x="3" y="553"/>
                    </a:lnTo>
                    <a:lnTo>
                      <a:pt x="0" y="55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43" name="Freeform 3507"/>
              <p:cNvSpPr>
                <a:spLocks noChangeAspect="1"/>
              </p:cNvSpPr>
              <p:nvPr/>
            </p:nvSpPr>
            <p:spPr bwMode="auto">
              <a:xfrm>
                <a:off x="5340" y="1048"/>
                <a:ext cx="9" cy="192"/>
              </a:xfrm>
              <a:custGeom>
                <a:avLst/>
                <a:gdLst>
                  <a:gd name="T0" fmla="*/ 0 w 25"/>
                  <a:gd name="T1" fmla="*/ 0 h 576"/>
                  <a:gd name="T2" fmla="*/ 0 w 25"/>
                  <a:gd name="T3" fmla="*/ 0 h 576"/>
                  <a:gd name="T4" fmla="*/ 0 w 25"/>
                  <a:gd name="T5" fmla="*/ 0 h 576"/>
                  <a:gd name="T6" fmla="*/ 0 w 25"/>
                  <a:gd name="T7" fmla="*/ 0 h 576"/>
                  <a:gd name="T8" fmla="*/ 0 w 25"/>
                  <a:gd name="T9" fmla="*/ 0 h 576"/>
                  <a:gd name="T10" fmla="*/ 0 w 25"/>
                  <a:gd name="T11" fmla="*/ 0 h 576"/>
                  <a:gd name="T12" fmla="*/ 0 w 25"/>
                  <a:gd name="T13" fmla="*/ 0 h 576"/>
                  <a:gd name="T14" fmla="*/ 0 w 25"/>
                  <a:gd name="T15" fmla="*/ 0 h 576"/>
                  <a:gd name="T16" fmla="*/ 0 w 25"/>
                  <a:gd name="T17" fmla="*/ 0 h 576"/>
                  <a:gd name="T18" fmla="*/ 0 w 25"/>
                  <a:gd name="T19" fmla="*/ 0 h 576"/>
                  <a:gd name="T20" fmla="*/ 0 w 25"/>
                  <a:gd name="T21" fmla="*/ 0 h 576"/>
                  <a:gd name="T22" fmla="*/ 0 w 25"/>
                  <a:gd name="T23" fmla="*/ 0 h 576"/>
                  <a:gd name="T24" fmla="*/ 0 w 25"/>
                  <a:gd name="T25" fmla="*/ 0 h 576"/>
                  <a:gd name="T26" fmla="*/ 0 w 25"/>
                  <a:gd name="T27" fmla="*/ 0 h 576"/>
                  <a:gd name="T28" fmla="*/ 0 w 25"/>
                  <a:gd name="T29" fmla="*/ 0 h 576"/>
                  <a:gd name="T30" fmla="*/ 0 w 25"/>
                  <a:gd name="T31" fmla="*/ 0 h 576"/>
                  <a:gd name="T32" fmla="*/ 0 w 25"/>
                  <a:gd name="T33" fmla="*/ 0 h 576"/>
                  <a:gd name="T34" fmla="*/ 0 w 25"/>
                  <a:gd name="T35" fmla="*/ 0 h 576"/>
                  <a:gd name="T36" fmla="*/ 0 w 25"/>
                  <a:gd name="T37" fmla="*/ 0 h 5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5" h="576">
                    <a:moveTo>
                      <a:pt x="0" y="564"/>
                    </a:moveTo>
                    <a:lnTo>
                      <a:pt x="0" y="13"/>
                    </a:lnTo>
                    <a:lnTo>
                      <a:pt x="3" y="11"/>
                    </a:lnTo>
                    <a:lnTo>
                      <a:pt x="6" y="9"/>
                    </a:lnTo>
                    <a:lnTo>
                      <a:pt x="9" y="8"/>
                    </a:lnTo>
                    <a:lnTo>
                      <a:pt x="12" y="6"/>
                    </a:lnTo>
                    <a:lnTo>
                      <a:pt x="16" y="5"/>
                    </a:lnTo>
                    <a:lnTo>
                      <a:pt x="19" y="3"/>
                    </a:lnTo>
                    <a:lnTo>
                      <a:pt x="22" y="2"/>
                    </a:lnTo>
                    <a:lnTo>
                      <a:pt x="25" y="0"/>
                    </a:lnTo>
                    <a:lnTo>
                      <a:pt x="25" y="576"/>
                    </a:lnTo>
                    <a:lnTo>
                      <a:pt x="22" y="575"/>
                    </a:lnTo>
                    <a:lnTo>
                      <a:pt x="19" y="574"/>
                    </a:lnTo>
                    <a:lnTo>
                      <a:pt x="16" y="572"/>
                    </a:lnTo>
                    <a:lnTo>
                      <a:pt x="12" y="571"/>
                    </a:lnTo>
                    <a:lnTo>
                      <a:pt x="9" y="569"/>
                    </a:lnTo>
                    <a:lnTo>
                      <a:pt x="6" y="567"/>
                    </a:lnTo>
                    <a:lnTo>
                      <a:pt x="3" y="565"/>
                    </a:lnTo>
                    <a:lnTo>
                      <a:pt x="0" y="56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44" name="Freeform 3508"/>
              <p:cNvSpPr>
                <a:spLocks noChangeAspect="1"/>
              </p:cNvSpPr>
              <p:nvPr/>
            </p:nvSpPr>
            <p:spPr bwMode="auto">
              <a:xfrm>
                <a:off x="5344" y="1046"/>
                <a:ext cx="9" cy="196"/>
              </a:xfrm>
              <a:custGeom>
                <a:avLst/>
                <a:gdLst>
                  <a:gd name="T0" fmla="*/ 0 w 27"/>
                  <a:gd name="T1" fmla="*/ 0 h 586"/>
                  <a:gd name="T2" fmla="*/ 0 w 27"/>
                  <a:gd name="T3" fmla="*/ 0 h 586"/>
                  <a:gd name="T4" fmla="*/ 0 w 27"/>
                  <a:gd name="T5" fmla="*/ 0 h 586"/>
                  <a:gd name="T6" fmla="*/ 0 w 27"/>
                  <a:gd name="T7" fmla="*/ 0 h 586"/>
                  <a:gd name="T8" fmla="*/ 0 w 27"/>
                  <a:gd name="T9" fmla="*/ 0 h 586"/>
                  <a:gd name="T10" fmla="*/ 0 w 27"/>
                  <a:gd name="T11" fmla="*/ 0 h 586"/>
                  <a:gd name="T12" fmla="*/ 0 w 27"/>
                  <a:gd name="T13" fmla="*/ 0 h 586"/>
                  <a:gd name="T14" fmla="*/ 0 w 27"/>
                  <a:gd name="T15" fmla="*/ 0 h 586"/>
                  <a:gd name="T16" fmla="*/ 0 w 27"/>
                  <a:gd name="T17" fmla="*/ 0 h 586"/>
                  <a:gd name="T18" fmla="*/ 0 w 27"/>
                  <a:gd name="T19" fmla="*/ 0 h 586"/>
                  <a:gd name="T20" fmla="*/ 0 w 27"/>
                  <a:gd name="T21" fmla="*/ 0 h 586"/>
                  <a:gd name="T22" fmla="*/ 0 w 27"/>
                  <a:gd name="T23" fmla="*/ 0 h 586"/>
                  <a:gd name="T24" fmla="*/ 0 w 27"/>
                  <a:gd name="T25" fmla="*/ 0 h 586"/>
                  <a:gd name="T26" fmla="*/ 0 w 27"/>
                  <a:gd name="T27" fmla="*/ 0 h 586"/>
                  <a:gd name="T28" fmla="*/ 0 w 27"/>
                  <a:gd name="T29" fmla="*/ 0 h 586"/>
                  <a:gd name="T30" fmla="*/ 0 w 27"/>
                  <a:gd name="T31" fmla="*/ 0 h 586"/>
                  <a:gd name="T32" fmla="*/ 0 w 27"/>
                  <a:gd name="T33" fmla="*/ 0 h 586"/>
                  <a:gd name="T34" fmla="*/ 0 w 27"/>
                  <a:gd name="T35" fmla="*/ 0 h 586"/>
                  <a:gd name="T36" fmla="*/ 0 w 27"/>
                  <a:gd name="T37" fmla="*/ 0 h 58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86">
                    <a:moveTo>
                      <a:pt x="0" y="576"/>
                    </a:moveTo>
                    <a:lnTo>
                      <a:pt x="0" y="11"/>
                    </a:lnTo>
                    <a:lnTo>
                      <a:pt x="4" y="10"/>
                    </a:lnTo>
                    <a:lnTo>
                      <a:pt x="7" y="8"/>
                    </a:lnTo>
                    <a:lnTo>
                      <a:pt x="10" y="7"/>
                    </a:lnTo>
                    <a:lnTo>
                      <a:pt x="13" y="6"/>
                    </a:lnTo>
                    <a:lnTo>
                      <a:pt x="16" y="4"/>
                    </a:lnTo>
                    <a:lnTo>
                      <a:pt x="21" y="3"/>
                    </a:lnTo>
                    <a:lnTo>
                      <a:pt x="24" y="2"/>
                    </a:lnTo>
                    <a:lnTo>
                      <a:pt x="27" y="0"/>
                    </a:lnTo>
                    <a:lnTo>
                      <a:pt x="27" y="586"/>
                    </a:lnTo>
                    <a:lnTo>
                      <a:pt x="24" y="585"/>
                    </a:lnTo>
                    <a:lnTo>
                      <a:pt x="21" y="584"/>
                    </a:lnTo>
                    <a:lnTo>
                      <a:pt x="16" y="583"/>
                    </a:lnTo>
                    <a:lnTo>
                      <a:pt x="13" y="581"/>
                    </a:lnTo>
                    <a:lnTo>
                      <a:pt x="10" y="580"/>
                    </a:lnTo>
                    <a:lnTo>
                      <a:pt x="7" y="579"/>
                    </a:lnTo>
                    <a:lnTo>
                      <a:pt x="4" y="577"/>
                    </a:lnTo>
                    <a:lnTo>
                      <a:pt x="0" y="57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45" name="Freeform 3509"/>
              <p:cNvSpPr>
                <a:spLocks noChangeAspect="1"/>
              </p:cNvSpPr>
              <p:nvPr/>
            </p:nvSpPr>
            <p:spPr bwMode="auto">
              <a:xfrm>
                <a:off x="5349" y="1045"/>
                <a:ext cx="9" cy="198"/>
              </a:xfrm>
              <a:custGeom>
                <a:avLst/>
                <a:gdLst>
                  <a:gd name="T0" fmla="*/ 0 w 27"/>
                  <a:gd name="T1" fmla="*/ 0 h 596"/>
                  <a:gd name="T2" fmla="*/ 0 w 27"/>
                  <a:gd name="T3" fmla="*/ 0 h 596"/>
                  <a:gd name="T4" fmla="*/ 0 w 27"/>
                  <a:gd name="T5" fmla="*/ 0 h 596"/>
                  <a:gd name="T6" fmla="*/ 0 w 27"/>
                  <a:gd name="T7" fmla="*/ 0 h 596"/>
                  <a:gd name="T8" fmla="*/ 0 w 27"/>
                  <a:gd name="T9" fmla="*/ 0 h 596"/>
                  <a:gd name="T10" fmla="*/ 0 w 27"/>
                  <a:gd name="T11" fmla="*/ 0 h 596"/>
                  <a:gd name="T12" fmla="*/ 0 w 27"/>
                  <a:gd name="T13" fmla="*/ 0 h 596"/>
                  <a:gd name="T14" fmla="*/ 0 w 27"/>
                  <a:gd name="T15" fmla="*/ 0 h 596"/>
                  <a:gd name="T16" fmla="*/ 0 w 27"/>
                  <a:gd name="T17" fmla="*/ 0 h 596"/>
                  <a:gd name="T18" fmla="*/ 0 w 27"/>
                  <a:gd name="T19" fmla="*/ 0 h 596"/>
                  <a:gd name="T20" fmla="*/ 0 w 27"/>
                  <a:gd name="T21" fmla="*/ 0 h 596"/>
                  <a:gd name="T22" fmla="*/ 0 w 27"/>
                  <a:gd name="T23" fmla="*/ 0 h 596"/>
                  <a:gd name="T24" fmla="*/ 0 w 27"/>
                  <a:gd name="T25" fmla="*/ 0 h 596"/>
                  <a:gd name="T26" fmla="*/ 0 w 27"/>
                  <a:gd name="T27" fmla="*/ 0 h 596"/>
                  <a:gd name="T28" fmla="*/ 0 w 27"/>
                  <a:gd name="T29" fmla="*/ 0 h 596"/>
                  <a:gd name="T30" fmla="*/ 0 w 27"/>
                  <a:gd name="T31" fmla="*/ 0 h 596"/>
                  <a:gd name="T32" fmla="*/ 0 w 27"/>
                  <a:gd name="T33" fmla="*/ 0 h 596"/>
                  <a:gd name="T34" fmla="*/ 0 w 27"/>
                  <a:gd name="T35" fmla="*/ 0 h 596"/>
                  <a:gd name="T36" fmla="*/ 0 w 27"/>
                  <a:gd name="T37" fmla="*/ 0 h 59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96">
                    <a:moveTo>
                      <a:pt x="0" y="586"/>
                    </a:moveTo>
                    <a:lnTo>
                      <a:pt x="0" y="10"/>
                    </a:lnTo>
                    <a:lnTo>
                      <a:pt x="4" y="9"/>
                    </a:lnTo>
                    <a:lnTo>
                      <a:pt x="8" y="8"/>
                    </a:lnTo>
                    <a:lnTo>
                      <a:pt x="11" y="7"/>
                    </a:lnTo>
                    <a:lnTo>
                      <a:pt x="14" y="5"/>
                    </a:lnTo>
                    <a:lnTo>
                      <a:pt x="17" y="4"/>
                    </a:lnTo>
                    <a:lnTo>
                      <a:pt x="20" y="2"/>
                    </a:lnTo>
                    <a:lnTo>
                      <a:pt x="24" y="1"/>
                    </a:lnTo>
                    <a:lnTo>
                      <a:pt x="27" y="0"/>
                    </a:lnTo>
                    <a:lnTo>
                      <a:pt x="27" y="596"/>
                    </a:lnTo>
                    <a:lnTo>
                      <a:pt x="24" y="594"/>
                    </a:lnTo>
                    <a:lnTo>
                      <a:pt x="20" y="593"/>
                    </a:lnTo>
                    <a:lnTo>
                      <a:pt x="17" y="592"/>
                    </a:lnTo>
                    <a:lnTo>
                      <a:pt x="14" y="591"/>
                    </a:lnTo>
                    <a:lnTo>
                      <a:pt x="11" y="590"/>
                    </a:lnTo>
                    <a:lnTo>
                      <a:pt x="8" y="589"/>
                    </a:lnTo>
                    <a:lnTo>
                      <a:pt x="4" y="588"/>
                    </a:lnTo>
                    <a:lnTo>
                      <a:pt x="0" y="58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46" name="Freeform 3510"/>
              <p:cNvSpPr>
                <a:spLocks noChangeAspect="1"/>
              </p:cNvSpPr>
              <p:nvPr/>
            </p:nvSpPr>
            <p:spPr bwMode="auto">
              <a:xfrm>
                <a:off x="5353" y="1044"/>
                <a:ext cx="9" cy="201"/>
              </a:xfrm>
              <a:custGeom>
                <a:avLst/>
                <a:gdLst>
                  <a:gd name="T0" fmla="*/ 0 w 27"/>
                  <a:gd name="T1" fmla="*/ 0 h 603"/>
                  <a:gd name="T2" fmla="*/ 0 w 27"/>
                  <a:gd name="T3" fmla="*/ 0 h 603"/>
                  <a:gd name="T4" fmla="*/ 0 w 27"/>
                  <a:gd name="T5" fmla="*/ 0 h 603"/>
                  <a:gd name="T6" fmla="*/ 0 w 27"/>
                  <a:gd name="T7" fmla="*/ 0 h 603"/>
                  <a:gd name="T8" fmla="*/ 0 w 27"/>
                  <a:gd name="T9" fmla="*/ 0 h 603"/>
                  <a:gd name="T10" fmla="*/ 0 w 27"/>
                  <a:gd name="T11" fmla="*/ 0 h 603"/>
                  <a:gd name="T12" fmla="*/ 0 w 27"/>
                  <a:gd name="T13" fmla="*/ 0 h 603"/>
                  <a:gd name="T14" fmla="*/ 0 w 27"/>
                  <a:gd name="T15" fmla="*/ 0 h 603"/>
                  <a:gd name="T16" fmla="*/ 0 w 27"/>
                  <a:gd name="T17" fmla="*/ 0 h 603"/>
                  <a:gd name="T18" fmla="*/ 0 w 27"/>
                  <a:gd name="T19" fmla="*/ 0 h 603"/>
                  <a:gd name="T20" fmla="*/ 0 w 27"/>
                  <a:gd name="T21" fmla="*/ 0 h 603"/>
                  <a:gd name="T22" fmla="*/ 0 w 27"/>
                  <a:gd name="T23" fmla="*/ 0 h 603"/>
                  <a:gd name="T24" fmla="*/ 0 w 27"/>
                  <a:gd name="T25" fmla="*/ 0 h 603"/>
                  <a:gd name="T26" fmla="*/ 0 w 27"/>
                  <a:gd name="T27" fmla="*/ 0 h 603"/>
                  <a:gd name="T28" fmla="*/ 0 w 27"/>
                  <a:gd name="T29" fmla="*/ 0 h 603"/>
                  <a:gd name="T30" fmla="*/ 0 w 27"/>
                  <a:gd name="T31" fmla="*/ 0 h 603"/>
                  <a:gd name="T32" fmla="*/ 0 w 27"/>
                  <a:gd name="T33" fmla="*/ 0 h 603"/>
                  <a:gd name="T34" fmla="*/ 0 w 27"/>
                  <a:gd name="T35" fmla="*/ 0 h 603"/>
                  <a:gd name="T36" fmla="*/ 0 w 27"/>
                  <a:gd name="T37" fmla="*/ 0 h 6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03">
                    <a:moveTo>
                      <a:pt x="0" y="594"/>
                    </a:moveTo>
                    <a:lnTo>
                      <a:pt x="0" y="8"/>
                    </a:lnTo>
                    <a:lnTo>
                      <a:pt x="3" y="7"/>
                    </a:lnTo>
                    <a:lnTo>
                      <a:pt x="6" y="5"/>
                    </a:lnTo>
                    <a:lnTo>
                      <a:pt x="10" y="4"/>
                    </a:lnTo>
                    <a:lnTo>
                      <a:pt x="13" y="3"/>
                    </a:lnTo>
                    <a:lnTo>
                      <a:pt x="16" y="2"/>
                    </a:lnTo>
                    <a:lnTo>
                      <a:pt x="20" y="1"/>
                    </a:lnTo>
                    <a:lnTo>
                      <a:pt x="23" y="0"/>
                    </a:lnTo>
                    <a:lnTo>
                      <a:pt x="27" y="0"/>
                    </a:lnTo>
                    <a:lnTo>
                      <a:pt x="27" y="603"/>
                    </a:lnTo>
                    <a:lnTo>
                      <a:pt x="23" y="602"/>
                    </a:lnTo>
                    <a:lnTo>
                      <a:pt x="20" y="601"/>
                    </a:lnTo>
                    <a:lnTo>
                      <a:pt x="16" y="600"/>
                    </a:lnTo>
                    <a:lnTo>
                      <a:pt x="13" y="599"/>
                    </a:lnTo>
                    <a:lnTo>
                      <a:pt x="10" y="597"/>
                    </a:lnTo>
                    <a:lnTo>
                      <a:pt x="6" y="596"/>
                    </a:lnTo>
                    <a:lnTo>
                      <a:pt x="3" y="595"/>
                    </a:lnTo>
                    <a:lnTo>
                      <a:pt x="0" y="59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47" name="Freeform 3511"/>
              <p:cNvSpPr>
                <a:spLocks noChangeAspect="1"/>
              </p:cNvSpPr>
              <p:nvPr/>
            </p:nvSpPr>
            <p:spPr bwMode="auto">
              <a:xfrm>
                <a:off x="5358" y="1042"/>
                <a:ext cx="8" cy="204"/>
              </a:xfrm>
              <a:custGeom>
                <a:avLst/>
                <a:gdLst>
                  <a:gd name="T0" fmla="*/ 0 w 26"/>
                  <a:gd name="T1" fmla="*/ 0 h 610"/>
                  <a:gd name="T2" fmla="*/ 0 w 26"/>
                  <a:gd name="T3" fmla="*/ 0 h 610"/>
                  <a:gd name="T4" fmla="*/ 0 w 26"/>
                  <a:gd name="T5" fmla="*/ 0 h 610"/>
                  <a:gd name="T6" fmla="*/ 0 w 26"/>
                  <a:gd name="T7" fmla="*/ 0 h 610"/>
                  <a:gd name="T8" fmla="*/ 0 w 26"/>
                  <a:gd name="T9" fmla="*/ 0 h 610"/>
                  <a:gd name="T10" fmla="*/ 0 w 26"/>
                  <a:gd name="T11" fmla="*/ 0 h 610"/>
                  <a:gd name="T12" fmla="*/ 0 w 26"/>
                  <a:gd name="T13" fmla="*/ 0 h 610"/>
                  <a:gd name="T14" fmla="*/ 0 w 26"/>
                  <a:gd name="T15" fmla="*/ 0 h 610"/>
                  <a:gd name="T16" fmla="*/ 0 w 26"/>
                  <a:gd name="T17" fmla="*/ 0 h 610"/>
                  <a:gd name="T18" fmla="*/ 0 w 26"/>
                  <a:gd name="T19" fmla="*/ 0 h 610"/>
                  <a:gd name="T20" fmla="*/ 0 w 26"/>
                  <a:gd name="T21" fmla="*/ 0 h 610"/>
                  <a:gd name="T22" fmla="*/ 0 w 26"/>
                  <a:gd name="T23" fmla="*/ 0 h 610"/>
                  <a:gd name="T24" fmla="*/ 0 w 26"/>
                  <a:gd name="T25" fmla="*/ 0 h 610"/>
                  <a:gd name="T26" fmla="*/ 0 w 26"/>
                  <a:gd name="T27" fmla="*/ 0 h 610"/>
                  <a:gd name="T28" fmla="*/ 0 w 26"/>
                  <a:gd name="T29" fmla="*/ 0 h 610"/>
                  <a:gd name="T30" fmla="*/ 0 w 26"/>
                  <a:gd name="T31" fmla="*/ 0 h 610"/>
                  <a:gd name="T32" fmla="*/ 0 w 26"/>
                  <a:gd name="T33" fmla="*/ 0 h 610"/>
                  <a:gd name="T34" fmla="*/ 0 w 26"/>
                  <a:gd name="T35" fmla="*/ 0 h 610"/>
                  <a:gd name="T36" fmla="*/ 0 w 26"/>
                  <a:gd name="T37" fmla="*/ 0 h 6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10">
                    <a:moveTo>
                      <a:pt x="0" y="603"/>
                    </a:moveTo>
                    <a:lnTo>
                      <a:pt x="0" y="7"/>
                    </a:lnTo>
                    <a:lnTo>
                      <a:pt x="3" y="6"/>
                    </a:lnTo>
                    <a:lnTo>
                      <a:pt x="7" y="5"/>
                    </a:lnTo>
                    <a:lnTo>
                      <a:pt x="10" y="4"/>
                    </a:lnTo>
                    <a:lnTo>
                      <a:pt x="14" y="4"/>
                    </a:lnTo>
                    <a:lnTo>
                      <a:pt x="17" y="3"/>
                    </a:lnTo>
                    <a:lnTo>
                      <a:pt x="20" y="2"/>
                    </a:lnTo>
                    <a:lnTo>
                      <a:pt x="23" y="1"/>
                    </a:lnTo>
                    <a:lnTo>
                      <a:pt x="26" y="0"/>
                    </a:lnTo>
                    <a:lnTo>
                      <a:pt x="26" y="610"/>
                    </a:lnTo>
                    <a:lnTo>
                      <a:pt x="23" y="610"/>
                    </a:lnTo>
                    <a:lnTo>
                      <a:pt x="20" y="609"/>
                    </a:lnTo>
                    <a:lnTo>
                      <a:pt x="17" y="608"/>
                    </a:lnTo>
                    <a:lnTo>
                      <a:pt x="14" y="607"/>
                    </a:lnTo>
                    <a:lnTo>
                      <a:pt x="10" y="606"/>
                    </a:lnTo>
                    <a:lnTo>
                      <a:pt x="7" y="605"/>
                    </a:lnTo>
                    <a:lnTo>
                      <a:pt x="3" y="604"/>
                    </a:lnTo>
                    <a:lnTo>
                      <a:pt x="0" y="60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48" name="Freeform 3512"/>
              <p:cNvSpPr>
                <a:spLocks noChangeAspect="1"/>
              </p:cNvSpPr>
              <p:nvPr/>
            </p:nvSpPr>
            <p:spPr bwMode="auto">
              <a:xfrm>
                <a:off x="5362" y="1042"/>
                <a:ext cx="9" cy="205"/>
              </a:xfrm>
              <a:custGeom>
                <a:avLst/>
                <a:gdLst>
                  <a:gd name="T0" fmla="*/ 0 w 26"/>
                  <a:gd name="T1" fmla="*/ 0 h 615"/>
                  <a:gd name="T2" fmla="*/ 0 w 26"/>
                  <a:gd name="T3" fmla="*/ 0 h 615"/>
                  <a:gd name="T4" fmla="*/ 0 w 26"/>
                  <a:gd name="T5" fmla="*/ 0 h 615"/>
                  <a:gd name="T6" fmla="*/ 0 w 26"/>
                  <a:gd name="T7" fmla="*/ 0 h 615"/>
                  <a:gd name="T8" fmla="*/ 0 w 26"/>
                  <a:gd name="T9" fmla="*/ 0 h 615"/>
                  <a:gd name="T10" fmla="*/ 0 w 26"/>
                  <a:gd name="T11" fmla="*/ 0 h 615"/>
                  <a:gd name="T12" fmla="*/ 0 w 26"/>
                  <a:gd name="T13" fmla="*/ 0 h 615"/>
                  <a:gd name="T14" fmla="*/ 0 w 26"/>
                  <a:gd name="T15" fmla="*/ 0 h 615"/>
                  <a:gd name="T16" fmla="*/ 0 w 26"/>
                  <a:gd name="T17" fmla="*/ 0 h 615"/>
                  <a:gd name="T18" fmla="*/ 0 w 26"/>
                  <a:gd name="T19" fmla="*/ 0 h 615"/>
                  <a:gd name="T20" fmla="*/ 0 w 26"/>
                  <a:gd name="T21" fmla="*/ 0 h 615"/>
                  <a:gd name="T22" fmla="*/ 0 w 26"/>
                  <a:gd name="T23" fmla="*/ 0 h 615"/>
                  <a:gd name="T24" fmla="*/ 0 w 26"/>
                  <a:gd name="T25" fmla="*/ 0 h 615"/>
                  <a:gd name="T26" fmla="*/ 0 w 26"/>
                  <a:gd name="T27" fmla="*/ 0 h 615"/>
                  <a:gd name="T28" fmla="*/ 0 w 26"/>
                  <a:gd name="T29" fmla="*/ 0 h 615"/>
                  <a:gd name="T30" fmla="*/ 0 w 26"/>
                  <a:gd name="T31" fmla="*/ 0 h 615"/>
                  <a:gd name="T32" fmla="*/ 0 w 26"/>
                  <a:gd name="T33" fmla="*/ 0 h 615"/>
                  <a:gd name="T34" fmla="*/ 0 w 26"/>
                  <a:gd name="T35" fmla="*/ 0 h 615"/>
                  <a:gd name="T36" fmla="*/ 0 w 26"/>
                  <a:gd name="T37" fmla="*/ 0 h 6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15">
                    <a:moveTo>
                      <a:pt x="0" y="609"/>
                    </a:moveTo>
                    <a:lnTo>
                      <a:pt x="0" y="6"/>
                    </a:lnTo>
                    <a:lnTo>
                      <a:pt x="3" y="5"/>
                    </a:lnTo>
                    <a:lnTo>
                      <a:pt x="6" y="4"/>
                    </a:lnTo>
                    <a:lnTo>
                      <a:pt x="9" y="3"/>
                    </a:lnTo>
                    <a:lnTo>
                      <a:pt x="12" y="2"/>
                    </a:lnTo>
                    <a:lnTo>
                      <a:pt x="16" y="2"/>
                    </a:lnTo>
                    <a:lnTo>
                      <a:pt x="20" y="1"/>
                    </a:lnTo>
                    <a:lnTo>
                      <a:pt x="23" y="0"/>
                    </a:lnTo>
                    <a:lnTo>
                      <a:pt x="26" y="0"/>
                    </a:lnTo>
                    <a:lnTo>
                      <a:pt x="26" y="615"/>
                    </a:lnTo>
                    <a:lnTo>
                      <a:pt x="23" y="614"/>
                    </a:lnTo>
                    <a:lnTo>
                      <a:pt x="20" y="614"/>
                    </a:lnTo>
                    <a:lnTo>
                      <a:pt x="16" y="613"/>
                    </a:lnTo>
                    <a:lnTo>
                      <a:pt x="12" y="612"/>
                    </a:lnTo>
                    <a:lnTo>
                      <a:pt x="9" y="612"/>
                    </a:lnTo>
                    <a:lnTo>
                      <a:pt x="6" y="611"/>
                    </a:lnTo>
                    <a:lnTo>
                      <a:pt x="3" y="610"/>
                    </a:lnTo>
                    <a:lnTo>
                      <a:pt x="0" y="60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49" name="Freeform 3513"/>
              <p:cNvSpPr>
                <a:spLocks noChangeAspect="1"/>
              </p:cNvSpPr>
              <p:nvPr/>
            </p:nvSpPr>
            <p:spPr bwMode="auto">
              <a:xfrm>
                <a:off x="5366" y="1041"/>
                <a:ext cx="9" cy="206"/>
              </a:xfrm>
              <a:custGeom>
                <a:avLst/>
                <a:gdLst>
                  <a:gd name="T0" fmla="*/ 0 w 27"/>
                  <a:gd name="T1" fmla="*/ 0 h 620"/>
                  <a:gd name="T2" fmla="*/ 0 w 27"/>
                  <a:gd name="T3" fmla="*/ 0 h 620"/>
                  <a:gd name="T4" fmla="*/ 0 w 27"/>
                  <a:gd name="T5" fmla="*/ 0 h 620"/>
                  <a:gd name="T6" fmla="*/ 0 w 27"/>
                  <a:gd name="T7" fmla="*/ 0 h 620"/>
                  <a:gd name="T8" fmla="*/ 0 w 27"/>
                  <a:gd name="T9" fmla="*/ 0 h 620"/>
                  <a:gd name="T10" fmla="*/ 0 w 27"/>
                  <a:gd name="T11" fmla="*/ 0 h 620"/>
                  <a:gd name="T12" fmla="*/ 0 w 27"/>
                  <a:gd name="T13" fmla="*/ 0 h 620"/>
                  <a:gd name="T14" fmla="*/ 0 w 27"/>
                  <a:gd name="T15" fmla="*/ 0 h 620"/>
                  <a:gd name="T16" fmla="*/ 0 w 27"/>
                  <a:gd name="T17" fmla="*/ 0 h 620"/>
                  <a:gd name="T18" fmla="*/ 0 w 27"/>
                  <a:gd name="T19" fmla="*/ 0 h 620"/>
                  <a:gd name="T20" fmla="*/ 0 w 27"/>
                  <a:gd name="T21" fmla="*/ 0 h 620"/>
                  <a:gd name="T22" fmla="*/ 0 w 27"/>
                  <a:gd name="T23" fmla="*/ 0 h 620"/>
                  <a:gd name="T24" fmla="*/ 0 w 27"/>
                  <a:gd name="T25" fmla="*/ 0 h 620"/>
                  <a:gd name="T26" fmla="*/ 0 w 27"/>
                  <a:gd name="T27" fmla="*/ 0 h 620"/>
                  <a:gd name="T28" fmla="*/ 0 w 27"/>
                  <a:gd name="T29" fmla="*/ 0 h 620"/>
                  <a:gd name="T30" fmla="*/ 0 w 27"/>
                  <a:gd name="T31" fmla="*/ 0 h 620"/>
                  <a:gd name="T32" fmla="*/ 0 w 27"/>
                  <a:gd name="T33" fmla="*/ 0 h 620"/>
                  <a:gd name="T34" fmla="*/ 0 w 27"/>
                  <a:gd name="T35" fmla="*/ 0 h 620"/>
                  <a:gd name="T36" fmla="*/ 0 w 27"/>
                  <a:gd name="T37" fmla="*/ 0 h 6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0">
                    <a:moveTo>
                      <a:pt x="0" y="615"/>
                    </a:moveTo>
                    <a:lnTo>
                      <a:pt x="0" y="5"/>
                    </a:lnTo>
                    <a:lnTo>
                      <a:pt x="4" y="5"/>
                    </a:lnTo>
                    <a:lnTo>
                      <a:pt x="8" y="4"/>
                    </a:lnTo>
                    <a:lnTo>
                      <a:pt x="11" y="3"/>
                    </a:lnTo>
                    <a:lnTo>
                      <a:pt x="14" y="3"/>
                    </a:lnTo>
                    <a:lnTo>
                      <a:pt x="17" y="2"/>
                    </a:lnTo>
                    <a:lnTo>
                      <a:pt x="21" y="2"/>
                    </a:lnTo>
                    <a:lnTo>
                      <a:pt x="24" y="0"/>
                    </a:lnTo>
                    <a:lnTo>
                      <a:pt x="27" y="0"/>
                    </a:lnTo>
                    <a:lnTo>
                      <a:pt x="27" y="620"/>
                    </a:lnTo>
                    <a:lnTo>
                      <a:pt x="24" y="620"/>
                    </a:lnTo>
                    <a:lnTo>
                      <a:pt x="21" y="619"/>
                    </a:lnTo>
                    <a:lnTo>
                      <a:pt x="17" y="619"/>
                    </a:lnTo>
                    <a:lnTo>
                      <a:pt x="14" y="618"/>
                    </a:lnTo>
                    <a:lnTo>
                      <a:pt x="11" y="617"/>
                    </a:lnTo>
                    <a:lnTo>
                      <a:pt x="8" y="617"/>
                    </a:lnTo>
                    <a:lnTo>
                      <a:pt x="4" y="616"/>
                    </a:lnTo>
                    <a:lnTo>
                      <a:pt x="0" y="6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50" name="Freeform 3514"/>
              <p:cNvSpPr>
                <a:spLocks noChangeAspect="1"/>
              </p:cNvSpPr>
              <p:nvPr/>
            </p:nvSpPr>
            <p:spPr bwMode="auto">
              <a:xfrm>
                <a:off x="5371" y="1040"/>
                <a:ext cx="9" cy="208"/>
              </a:xfrm>
              <a:custGeom>
                <a:avLst/>
                <a:gdLst>
                  <a:gd name="T0" fmla="*/ 0 w 27"/>
                  <a:gd name="T1" fmla="*/ 0 h 624"/>
                  <a:gd name="T2" fmla="*/ 0 w 27"/>
                  <a:gd name="T3" fmla="*/ 0 h 624"/>
                  <a:gd name="T4" fmla="*/ 0 w 27"/>
                  <a:gd name="T5" fmla="*/ 0 h 624"/>
                  <a:gd name="T6" fmla="*/ 0 w 27"/>
                  <a:gd name="T7" fmla="*/ 0 h 624"/>
                  <a:gd name="T8" fmla="*/ 0 w 27"/>
                  <a:gd name="T9" fmla="*/ 0 h 624"/>
                  <a:gd name="T10" fmla="*/ 0 w 27"/>
                  <a:gd name="T11" fmla="*/ 0 h 624"/>
                  <a:gd name="T12" fmla="*/ 0 w 27"/>
                  <a:gd name="T13" fmla="*/ 0 h 624"/>
                  <a:gd name="T14" fmla="*/ 0 w 27"/>
                  <a:gd name="T15" fmla="*/ 0 h 624"/>
                  <a:gd name="T16" fmla="*/ 0 w 27"/>
                  <a:gd name="T17" fmla="*/ 0 h 624"/>
                  <a:gd name="T18" fmla="*/ 0 w 27"/>
                  <a:gd name="T19" fmla="*/ 0 h 624"/>
                  <a:gd name="T20" fmla="*/ 0 w 27"/>
                  <a:gd name="T21" fmla="*/ 0 h 624"/>
                  <a:gd name="T22" fmla="*/ 0 w 27"/>
                  <a:gd name="T23" fmla="*/ 0 h 624"/>
                  <a:gd name="T24" fmla="*/ 0 w 27"/>
                  <a:gd name="T25" fmla="*/ 0 h 624"/>
                  <a:gd name="T26" fmla="*/ 0 w 27"/>
                  <a:gd name="T27" fmla="*/ 0 h 624"/>
                  <a:gd name="T28" fmla="*/ 0 w 27"/>
                  <a:gd name="T29" fmla="*/ 0 h 624"/>
                  <a:gd name="T30" fmla="*/ 0 w 27"/>
                  <a:gd name="T31" fmla="*/ 0 h 624"/>
                  <a:gd name="T32" fmla="*/ 0 w 27"/>
                  <a:gd name="T33" fmla="*/ 0 h 624"/>
                  <a:gd name="T34" fmla="*/ 0 w 27"/>
                  <a:gd name="T35" fmla="*/ 0 h 624"/>
                  <a:gd name="T36" fmla="*/ 0 w 27"/>
                  <a:gd name="T37" fmla="*/ 0 h 6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4">
                    <a:moveTo>
                      <a:pt x="0" y="620"/>
                    </a:moveTo>
                    <a:lnTo>
                      <a:pt x="0" y="5"/>
                    </a:lnTo>
                    <a:lnTo>
                      <a:pt x="3" y="4"/>
                    </a:lnTo>
                    <a:lnTo>
                      <a:pt x="7" y="4"/>
                    </a:lnTo>
                    <a:lnTo>
                      <a:pt x="10" y="2"/>
                    </a:lnTo>
                    <a:lnTo>
                      <a:pt x="13" y="2"/>
                    </a:lnTo>
                    <a:lnTo>
                      <a:pt x="16" y="1"/>
                    </a:lnTo>
                    <a:lnTo>
                      <a:pt x="19" y="1"/>
                    </a:lnTo>
                    <a:lnTo>
                      <a:pt x="24" y="0"/>
                    </a:lnTo>
                    <a:lnTo>
                      <a:pt x="27" y="0"/>
                    </a:lnTo>
                    <a:lnTo>
                      <a:pt x="27" y="624"/>
                    </a:lnTo>
                    <a:lnTo>
                      <a:pt x="24" y="624"/>
                    </a:lnTo>
                    <a:lnTo>
                      <a:pt x="19" y="623"/>
                    </a:lnTo>
                    <a:lnTo>
                      <a:pt x="16" y="623"/>
                    </a:lnTo>
                    <a:lnTo>
                      <a:pt x="13" y="622"/>
                    </a:lnTo>
                    <a:lnTo>
                      <a:pt x="10" y="622"/>
                    </a:lnTo>
                    <a:lnTo>
                      <a:pt x="7" y="621"/>
                    </a:lnTo>
                    <a:lnTo>
                      <a:pt x="3" y="621"/>
                    </a:lnTo>
                    <a:lnTo>
                      <a:pt x="0" y="6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51" name="Freeform 3515"/>
              <p:cNvSpPr>
                <a:spLocks noChangeAspect="1"/>
              </p:cNvSpPr>
              <p:nvPr/>
            </p:nvSpPr>
            <p:spPr bwMode="auto">
              <a:xfrm>
                <a:off x="5375" y="1040"/>
                <a:ext cx="9" cy="208"/>
              </a:xfrm>
              <a:custGeom>
                <a:avLst/>
                <a:gdLst>
                  <a:gd name="T0" fmla="*/ 0 w 27"/>
                  <a:gd name="T1" fmla="*/ 0 h 626"/>
                  <a:gd name="T2" fmla="*/ 0 w 27"/>
                  <a:gd name="T3" fmla="*/ 0 h 626"/>
                  <a:gd name="T4" fmla="*/ 0 w 27"/>
                  <a:gd name="T5" fmla="*/ 0 h 626"/>
                  <a:gd name="T6" fmla="*/ 0 w 27"/>
                  <a:gd name="T7" fmla="*/ 0 h 626"/>
                  <a:gd name="T8" fmla="*/ 0 w 27"/>
                  <a:gd name="T9" fmla="*/ 0 h 626"/>
                  <a:gd name="T10" fmla="*/ 0 w 27"/>
                  <a:gd name="T11" fmla="*/ 0 h 626"/>
                  <a:gd name="T12" fmla="*/ 0 w 27"/>
                  <a:gd name="T13" fmla="*/ 0 h 626"/>
                  <a:gd name="T14" fmla="*/ 0 w 27"/>
                  <a:gd name="T15" fmla="*/ 0 h 626"/>
                  <a:gd name="T16" fmla="*/ 0 w 27"/>
                  <a:gd name="T17" fmla="*/ 0 h 626"/>
                  <a:gd name="T18" fmla="*/ 0 w 27"/>
                  <a:gd name="T19" fmla="*/ 0 h 626"/>
                  <a:gd name="T20" fmla="*/ 0 w 27"/>
                  <a:gd name="T21" fmla="*/ 0 h 626"/>
                  <a:gd name="T22" fmla="*/ 0 w 27"/>
                  <a:gd name="T23" fmla="*/ 0 h 626"/>
                  <a:gd name="T24" fmla="*/ 0 w 27"/>
                  <a:gd name="T25" fmla="*/ 0 h 626"/>
                  <a:gd name="T26" fmla="*/ 0 w 27"/>
                  <a:gd name="T27" fmla="*/ 0 h 626"/>
                  <a:gd name="T28" fmla="*/ 0 w 27"/>
                  <a:gd name="T29" fmla="*/ 0 h 626"/>
                  <a:gd name="T30" fmla="*/ 0 w 27"/>
                  <a:gd name="T31" fmla="*/ 0 h 626"/>
                  <a:gd name="T32" fmla="*/ 0 w 27"/>
                  <a:gd name="T33" fmla="*/ 0 h 626"/>
                  <a:gd name="T34" fmla="*/ 0 w 27"/>
                  <a:gd name="T35" fmla="*/ 0 h 626"/>
                  <a:gd name="T36" fmla="*/ 0 w 27"/>
                  <a:gd name="T37" fmla="*/ 0 h 6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6">
                    <a:moveTo>
                      <a:pt x="0" y="623"/>
                    </a:moveTo>
                    <a:lnTo>
                      <a:pt x="0" y="3"/>
                    </a:lnTo>
                    <a:lnTo>
                      <a:pt x="3" y="2"/>
                    </a:lnTo>
                    <a:lnTo>
                      <a:pt x="6" y="2"/>
                    </a:lnTo>
                    <a:lnTo>
                      <a:pt x="11" y="1"/>
                    </a:lnTo>
                    <a:lnTo>
                      <a:pt x="14" y="1"/>
                    </a:lnTo>
                    <a:lnTo>
                      <a:pt x="17" y="1"/>
                    </a:lnTo>
                    <a:lnTo>
                      <a:pt x="20" y="0"/>
                    </a:lnTo>
                    <a:lnTo>
                      <a:pt x="23" y="0"/>
                    </a:lnTo>
                    <a:lnTo>
                      <a:pt x="27" y="0"/>
                    </a:lnTo>
                    <a:lnTo>
                      <a:pt x="27" y="626"/>
                    </a:lnTo>
                    <a:lnTo>
                      <a:pt x="23" y="626"/>
                    </a:lnTo>
                    <a:lnTo>
                      <a:pt x="20" y="626"/>
                    </a:lnTo>
                    <a:lnTo>
                      <a:pt x="17" y="625"/>
                    </a:lnTo>
                    <a:lnTo>
                      <a:pt x="14" y="625"/>
                    </a:lnTo>
                    <a:lnTo>
                      <a:pt x="11" y="625"/>
                    </a:lnTo>
                    <a:lnTo>
                      <a:pt x="6" y="624"/>
                    </a:lnTo>
                    <a:lnTo>
                      <a:pt x="3" y="624"/>
                    </a:lnTo>
                    <a:lnTo>
                      <a:pt x="0" y="62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52" name="Freeform 3516"/>
              <p:cNvSpPr>
                <a:spLocks noChangeAspect="1"/>
              </p:cNvSpPr>
              <p:nvPr/>
            </p:nvSpPr>
            <p:spPr bwMode="auto">
              <a:xfrm>
                <a:off x="5380" y="1039"/>
                <a:ext cx="9" cy="210"/>
              </a:xfrm>
              <a:custGeom>
                <a:avLst/>
                <a:gdLst>
                  <a:gd name="T0" fmla="*/ 0 w 26"/>
                  <a:gd name="T1" fmla="*/ 0 h 629"/>
                  <a:gd name="T2" fmla="*/ 0 w 26"/>
                  <a:gd name="T3" fmla="*/ 0 h 629"/>
                  <a:gd name="T4" fmla="*/ 0 w 26"/>
                  <a:gd name="T5" fmla="*/ 0 h 629"/>
                  <a:gd name="T6" fmla="*/ 0 w 26"/>
                  <a:gd name="T7" fmla="*/ 0 h 629"/>
                  <a:gd name="T8" fmla="*/ 0 w 26"/>
                  <a:gd name="T9" fmla="*/ 0 h 629"/>
                  <a:gd name="T10" fmla="*/ 0 w 26"/>
                  <a:gd name="T11" fmla="*/ 0 h 629"/>
                  <a:gd name="T12" fmla="*/ 0 w 26"/>
                  <a:gd name="T13" fmla="*/ 0 h 629"/>
                  <a:gd name="T14" fmla="*/ 0 w 26"/>
                  <a:gd name="T15" fmla="*/ 0 h 629"/>
                  <a:gd name="T16" fmla="*/ 0 w 26"/>
                  <a:gd name="T17" fmla="*/ 0 h 629"/>
                  <a:gd name="T18" fmla="*/ 0 w 26"/>
                  <a:gd name="T19" fmla="*/ 0 h 629"/>
                  <a:gd name="T20" fmla="*/ 0 w 26"/>
                  <a:gd name="T21" fmla="*/ 0 h 629"/>
                  <a:gd name="T22" fmla="*/ 0 w 26"/>
                  <a:gd name="T23" fmla="*/ 0 h 629"/>
                  <a:gd name="T24" fmla="*/ 0 w 26"/>
                  <a:gd name="T25" fmla="*/ 0 h 629"/>
                  <a:gd name="T26" fmla="*/ 0 w 26"/>
                  <a:gd name="T27" fmla="*/ 0 h 629"/>
                  <a:gd name="T28" fmla="*/ 0 w 26"/>
                  <a:gd name="T29" fmla="*/ 0 h 629"/>
                  <a:gd name="T30" fmla="*/ 0 w 26"/>
                  <a:gd name="T31" fmla="*/ 0 h 629"/>
                  <a:gd name="T32" fmla="*/ 0 w 26"/>
                  <a:gd name="T33" fmla="*/ 0 h 629"/>
                  <a:gd name="T34" fmla="*/ 0 w 26"/>
                  <a:gd name="T35" fmla="*/ 0 h 629"/>
                  <a:gd name="T36" fmla="*/ 0 w 26"/>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9">
                    <a:moveTo>
                      <a:pt x="0" y="626"/>
                    </a:moveTo>
                    <a:lnTo>
                      <a:pt x="0" y="2"/>
                    </a:lnTo>
                    <a:lnTo>
                      <a:pt x="3" y="2"/>
                    </a:lnTo>
                    <a:lnTo>
                      <a:pt x="6" y="1"/>
                    </a:lnTo>
                    <a:lnTo>
                      <a:pt x="9" y="1"/>
                    </a:lnTo>
                    <a:lnTo>
                      <a:pt x="13" y="1"/>
                    </a:lnTo>
                    <a:lnTo>
                      <a:pt x="16" y="0"/>
                    </a:lnTo>
                    <a:lnTo>
                      <a:pt x="19" y="0"/>
                    </a:lnTo>
                    <a:lnTo>
                      <a:pt x="23" y="0"/>
                    </a:lnTo>
                    <a:lnTo>
                      <a:pt x="26" y="0"/>
                    </a:lnTo>
                    <a:lnTo>
                      <a:pt x="26" y="629"/>
                    </a:lnTo>
                    <a:lnTo>
                      <a:pt x="23" y="629"/>
                    </a:lnTo>
                    <a:lnTo>
                      <a:pt x="19" y="629"/>
                    </a:lnTo>
                    <a:lnTo>
                      <a:pt x="16" y="627"/>
                    </a:lnTo>
                    <a:lnTo>
                      <a:pt x="13" y="627"/>
                    </a:lnTo>
                    <a:lnTo>
                      <a:pt x="9" y="627"/>
                    </a:lnTo>
                    <a:lnTo>
                      <a:pt x="6" y="627"/>
                    </a:lnTo>
                    <a:lnTo>
                      <a:pt x="3" y="626"/>
                    </a:lnTo>
                    <a:lnTo>
                      <a:pt x="0" y="6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53" name="Freeform 3517"/>
              <p:cNvSpPr>
                <a:spLocks noChangeAspect="1"/>
              </p:cNvSpPr>
              <p:nvPr/>
            </p:nvSpPr>
            <p:spPr bwMode="auto">
              <a:xfrm>
                <a:off x="5384" y="1039"/>
                <a:ext cx="9" cy="210"/>
              </a:xfrm>
              <a:custGeom>
                <a:avLst/>
                <a:gdLst>
                  <a:gd name="T0" fmla="*/ 0 w 26"/>
                  <a:gd name="T1" fmla="*/ 0 h 629"/>
                  <a:gd name="T2" fmla="*/ 0 w 26"/>
                  <a:gd name="T3" fmla="*/ 0 h 629"/>
                  <a:gd name="T4" fmla="*/ 0 w 26"/>
                  <a:gd name="T5" fmla="*/ 0 h 629"/>
                  <a:gd name="T6" fmla="*/ 0 w 26"/>
                  <a:gd name="T7" fmla="*/ 0 h 629"/>
                  <a:gd name="T8" fmla="*/ 0 w 26"/>
                  <a:gd name="T9" fmla="*/ 0 h 629"/>
                  <a:gd name="T10" fmla="*/ 0 w 26"/>
                  <a:gd name="T11" fmla="*/ 0 h 629"/>
                  <a:gd name="T12" fmla="*/ 0 w 26"/>
                  <a:gd name="T13" fmla="*/ 0 h 629"/>
                  <a:gd name="T14" fmla="*/ 0 w 26"/>
                  <a:gd name="T15" fmla="*/ 0 h 629"/>
                  <a:gd name="T16" fmla="*/ 0 w 26"/>
                  <a:gd name="T17" fmla="*/ 0 h 629"/>
                  <a:gd name="T18" fmla="*/ 0 w 26"/>
                  <a:gd name="T19" fmla="*/ 0 h 629"/>
                  <a:gd name="T20" fmla="*/ 0 w 26"/>
                  <a:gd name="T21" fmla="*/ 0 h 629"/>
                  <a:gd name="T22" fmla="*/ 0 w 26"/>
                  <a:gd name="T23" fmla="*/ 0 h 629"/>
                  <a:gd name="T24" fmla="*/ 0 w 26"/>
                  <a:gd name="T25" fmla="*/ 0 h 629"/>
                  <a:gd name="T26" fmla="*/ 0 w 26"/>
                  <a:gd name="T27" fmla="*/ 0 h 629"/>
                  <a:gd name="T28" fmla="*/ 0 w 26"/>
                  <a:gd name="T29" fmla="*/ 0 h 629"/>
                  <a:gd name="T30" fmla="*/ 0 w 26"/>
                  <a:gd name="T31" fmla="*/ 0 h 629"/>
                  <a:gd name="T32" fmla="*/ 0 w 26"/>
                  <a:gd name="T33" fmla="*/ 0 h 629"/>
                  <a:gd name="T34" fmla="*/ 0 w 26"/>
                  <a:gd name="T35" fmla="*/ 0 h 629"/>
                  <a:gd name="T36" fmla="*/ 0 w 26"/>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9">
                    <a:moveTo>
                      <a:pt x="0" y="627"/>
                    </a:moveTo>
                    <a:lnTo>
                      <a:pt x="0" y="1"/>
                    </a:lnTo>
                    <a:lnTo>
                      <a:pt x="3" y="0"/>
                    </a:lnTo>
                    <a:lnTo>
                      <a:pt x="6" y="0"/>
                    </a:lnTo>
                    <a:lnTo>
                      <a:pt x="10" y="0"/>
                    </a:lnTo>
                    <a:lnTo>
                      <a:pt x="13" y="0"/>
                    </a:lnTo>
                    <a:lnTo>
                      <a:pt x="17" y="0"/>
                    </a:lnTo>
                    <a:lnTo>
                      <a:pt x="20" y="0"/>
                    </a:lnTo>
                    <a:lnTo>
                      <a:pt x="23" y="0"/>
                    </a:lnTo>
                    <a:lnTo>
                      <a:pt x="26" y="0"/>
                    </a:lnTo>
                    <a:lnTo>
                      <a:pt x="26" y="629"/>
                    </a:lnTo>
                    <a:lnTo>
                      <a:pt x="23" y="629"/>
                    </a:lnTo>
                    <a:lnTo>
                      <a:pt x="20" y="629"/>
                    </a:lnTo>
                    <a:lnTo>
                      <a:pt x="17" y="629"/>
                    </a:lnTo>
                    <a:lnTo>
                      <a:pt x="13" y="629"/>
                    </a:lnTo>
                    <a:lnTo>
                      <a:pt x="10" y="629"/>
                    </a:lnTo>
                    <a:lnTo>
                      <a:pt x="6" y="629"/>
                    </a:lnTo>
                    <a:lnTo>
                      <a:pt x="3" y="627"/>
                    </a:lnTo>
                    <a:lnTo>
                      <a:pt x="0" y="62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54" name="Freeform 3518"/>
              <p:cNvSpPr>
                <a:spLocks noChangeAspect="1"/>
              </p:cNvSpPr>
              <p:nvPr/>
            </p:nvSpPr>
            <p:spPr bwMode="auto">
              <a:xfrm>
                <a:off x="5389" y="1039"/>
                <a:ext cx="9" cy="210"/>
              </a:xfrm>
              <a:custGeom>
                <a:avLst/>
                <a:gdLst>
                  <a:gd name="T0" fmla="*/ 0 w 27"/>
                  <a:gd name="T1" fmla="*/ 0 h 629"/>
                  <a:gd name="T2" fmla="*/ 0 w 27"/>
                  <a:gd name="T3" fmla="*/ 0 h 629"/>
                  <a:gd name="T4" fmla="*/ 0 w 27"/>
                  <a:gd name="T5" fmla="*/ 0 h 629"/>
                  <a:gd name="T6" fmla="*/ 0 w 27"/>
                  <a:gd name="T7" fmla="*/ 0 h 629"/>
                  <a:gd name="T8" fmla="*/ 0 w 27"/>
                  <a:gd name="T9" fmla="*/ 0 h 629"/>
                  <a:gd name="T10" fmla="*/ 0 w 27"/>
                  <a:gd name="T11" fmla="*/ 0 h 629"/>
                  <a:gd name="T12" fmla="*/ 0 w 27"/>
                  <a:gd name="T13" fmla="*/ 0 h 629"/>
                  <a:gd name="T14" fmla="*/ 0 w 27"/>
                  <a:gd name="T15" fmla="*/ 0 h 629"/>
                  <a:gd name="T16" fmla="*/ 0 w 27"/>
                  <a:gd name="T17" fmla="*/ 0 h 629"/>
                  <a:gd name="T18" fmla="*/ 0 w 27"/>
                  <a:gd name="T19" fmla="*/ 0 h 629"/>
                  <a:gd name="T20" fmla="*/ 0 w 27"/>
                  <a:gd name="T21" fmla="*/ 0 h 629"/>
                  <a:gd name="T22" fmla="*/ 0 w 27"/>
                  <a:gd name="T23" fmla="*/ 0 h 629"/>
                  <a:gd name="T24" fmla="*/ 0 w 27"/>
                  <a:gd name="T25" fmla="*/ 0 h 629"/>
                  <a:gd name="T26" fmla="*/ 0 w 27"/>
                  <a:gd name="T27" fmla="*/ 0 h 629"/>
                  <a:gd name="T28" fmla="*/ 0 w 27"/>
                  <a:gd name="T29" fmla="*/ 0 h 629"/>
                  <a:gd name="T30" fmla="*/ 0 w 27"/>
                  <a:gd name="T31" fmla="*/ 0 h 629"/>
                  <a:gd name="T32" fmla="*/ 0 w 27"/>
                  <a:gd name="T33" fmla="*/ 0 h 629"/>
                  <a:gd name="T34" fmla="*/ 0 w 27"/>
                  <a:gd name="T35" fmla="*/ 0 h 629"/>
                  <a:gd name="T36" fmla="*/ 0 w 27"/>
                  <a:gd name="T37" fmla="*/ 0 h 629"/>
                  <a:gd name="T38" fmla="*/ 0 w 27"/>
                  <a:gd name="T39" fmla="*/ 0 h 629"/>
                  <a:gd name="T40" fmla="*/ 0 w 27"/>
                  <a:gd name="T41" fmla="*/ 0 h 629"/>
                  <a:gd name="T42" fmla="*/ 0 w 27"/>
                  <a:gd name="T43" fmla="*/ 0 h 629"/>
                  <a:gd name="T44" fmla="*/ 0 w 27"/>
                  <a:gd name="T45" fmla="*/ 0 h 629"/>
                  <a:gd name="T46" fmla="*/ 0 w 27"/>
                  <a:gd name="T47" fmla="*/ 0 h 629"/>
                  <a:gd name="T48" fmla="*/ 0 w 27"/>
                  <a:gd name="T49" fmla="*/ 0 h 629"/>
                  <a:gd name="T50" fmla="*/ 0 w 27"/>
                  <a:gd name="T51" fmla="*/ 0 h 629"/>
                  <a:gd name="T52" fmla="*/ 0 w 27"/>
                  <a:gd name="T53" fmla="*/ 0 h 629"/>
                  <a:gd name="T54" fmla="*/ 0 w 27"/>
                  <a:gd name="T55" fmla="*/ 0 h 629"/>
                  <a:gd name="T56" fmla="*/ 0 w 27"/>
                  <a:gd name="T57" fmla="*/ 0 h 629"/>
                  <a:gd name="T58" fmla="*/ 0 w 27"/>
                  <a:gd name="T59" fmla="*/ 0 h 629"/>
                  <a:gd name="T60" fmla="*/ 0 w 27"/>
                  <a:gd name="T61" fmla="*/ 0 h 629"/>
                  <a:gd name="T62" fmla="*/ 0 w 27"/>
                  <a:gd name="T63" fmla="*/ 0 h 629"/>
                  <a:gd name="T64" fmla="*/ 0 w 27"/>
                  <a:gd name="T65" fmla="*/ 0 h 629"/>
                  <a:gd name="T66" fmla="*/ 0 w 27"/>
                  <a:gd name="T67" fmla="*/ 0 h 629"/>
                  <a:gd name="T68" fmla="*/ 0 w 27"/>
                  <a:gd name="T69" fmla="*/ 0 h 6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7" h="629">
                    <a:moveTo>
                      <a:pt x="0" y="629"/>
                    </a:moveTo>
                    <a:lnTo>
                      <a:pt x="0" y="0"/>
                    </a:lnTo>
                    <a:lnTo>
                      <a:pt x="2" y="0"/>
                    </a:lnTo>
                    <a:lnTo>
                      <a:pt x="4" y="0"/>
                    </a:lnTo>
                    <a:lnTo>
                      <a:pt x="5" y="0"/>
                    </a:lnTo>
                    <a:lnTo>
                      <a:pt x="7" y="0"/>
                    </a:lnTo>
                    <a:lnTo>
                      <a:pt x="9" y="0"/>
                    </a:lnTo>
                    <a:lnTo>
                      <a:pt x="10" y="0"/>
                    </a:lnTo>
                    <a:lnTo>
                      <a:pt x="12" y="0"/>
                    </a:lnTo>
                    <a:lnTo>
                      <a:pt x="13" y="0"/>
                    </a:lnTo>
                    <a:lnTo>
                      <a:pt x="15" y="0"/>
                    </a:lnTo>
                    <a:lnTo>
                      <a:pt x="16" y="0"/>
                    </a:lnTo>
                    <a:lnTo>
                      <a:pt x="19" y="0"/>
                    </a:lnTo>
                    <a:lnTo>
                      <a:pt x="20" y="0"/>
                    </a:lnTo>
                    <a:lnTo>
                      <a:pt x="22" y="0"/>
                    </a:lnTo>
                    <a:lnTo>
                      <a:pt x="24" y="0"/>
                    </a:lnTo>
                    <a:lnTo>
                      <a:pt x="25" y="0"/>
                    </a:lnTo>
                    <a:lnTo>
                      <a:pt x="27" y="0"/>
                    </a:lnTo>
                    <a:lnTo>
                      <a:pt x="27" y="629"/>
                    </a:lnTo>
                    <a:lnTo>
                      <a:pt x="25" y="629"/>
                    </a:lnTo>
                    <a:lnTo>
                      <a:pt x="24" y="629"/>
                    </a:lnTo>
                    <a:lnTo>
                      <a:pt x="22" y="629"/>
                    </a:lnTo>
                    <a:lnTo>
                      <a:pt x="20" y="629"/>
                    </a:lnTo>
                    <a:lnTo>
                      <a:pt x="19" y="629"/>
                    </a:lnTo>
                    <a:lnTo>
                      <a:pt x="16" y="629"/>
                    </a:lnTo>
                    <a:lnTo>
                      <a:pt x="15" y="629"/>
                    </a:lnTo>
                    <a:lnTo>
                      <a:pt x="13" y="629"/>
                    </a:lnTo>
                    <a:lnTo>
                      <a:pt x="12" y="629"/>
                    </a:lnTo>
                    <a:lnTo>
                      <a:pt x="10" y="629"/>
                    </a:lnTo>
                    <a:lnTo>
                      <a:pt x="9" y="629"/>
                    </a:lnTo>
                    <a:lnTo>
                      <a:pt x="7" y="629"/>
                    </a:lnTo>
                    <a:lnTo>
                      <a:pt x="5" y="629"/>
                    </a:lnTo>
                    <a:lnTo>
                      <a:pt x="4" y="629"/>
                    </a:lnTo>
                    <a:lnTo>
                      <a:pt x="2"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55" name="Freeform 3519"/>
              <p:cNvSpPr>
                <a:spLocks noChangeAspect="1"/>
              </p:cNvSpPr>
              <p:nvPr/>
            </p:nvSpPr>
            <p:spPr bwMode="auto">
              <a:xfrm>
                <a:off x="5393" y="1039"/>
                <a:ext cx="9" cy="210"/>
              </a:xfrm>
              <a:custGeom>
                <a:avLst/>
                <a:gdLst>
                  <a:gd name="T0" fmla="*/ 0 w 27"/>
                  <a:gd name="T1" fmla="*/ 0 h 629"/>
                  <a:gd name="T2" fmla="*/ 0 w 27"/>
                  <a:gd name="T3" fmla="*/ 0 h 629"/>
                  <a:gd name="T4" fmla="*/ 0 w 27"/>
                  <a:gd name="T5" fmla="*/ 0 h 629"/>
                  <a:gd name="T6" fmla="*/ 0 w 27"/>
                  <a:gd name="T7" fmla="*/ 0 h 629"/>
                  <a:gd name="T8" fmla="*/ 0 w 27"/>
                  <a:gd name="T9" fmla="*/ 0 h 629"/>
                  <a:gd name="T10" fmla="*/ 0 w 27"/>
                  <a:gd name="T11" fmla="*/ 0 h 629"/>
                  <a:gd name="T12" fmla="*/ 0 w 27"/>
                  <a:gd name="T13" fmla="*/ 0 h 629"/>
                  <a:gd name="T14" fmla="*/ 0 w 27"/>
                  <a:gd name="T15" fmla="*/ 0 h 629"/>
                  <a:gd name="T16" fmla="*/ 0 w 27"/>
                  <a:gd name="T17" fmla="*/ 0 h 629"/>
                  <a:gd name="T18" fmla="*/ 0 w 27"/>
                  <a:gd name="T19" fmla="*/ 0 h 629"/>
                  <a:gd name="T20" fmla="*/ 0 w 27"/>
                  <a:gd name="T21" fmla="*/ 0 h 629"/>
                  <a:gd name="T22" fmla="*/ 0 w 27"/>
                  <a:gd name="T23" fmla="*/ 0 h 629"/>
                  <a:gd name="T24" fmla="*/ 0 w 27"/>
                  <a:gd name="T25" fmla="*/ 0 h 629"/>
                  <a:gd name="T26" fmla="*/ 0 w 27"/>
                  <a:gd name="T27" fmla="*/ 0 h 629"/>
                  <a:gd name="T28" fmla="*/ 0 w 27"/>
                  <a:gd name="T29" fmla="*/ 0 h 629"/>
                  <a:gd name="T30" fmla="*/ 0 w 27"/>
                  <a:gd name="T31" fmla="*/ 0 h 629"/>
                  <a:gd name="T32" fmla="*/ 0 w 27"/>
                  <a:gd name="T33" fmla="*/ 0 h 629"/>
                  <a:gd name="T34" fmla="*/ 0 w 27"/>
                  <a:gd name="T35" fmla="*/ 0 h 629"/>
                  <a:gd name="T36" fmla="*/ 0 w 27"/>
                  <a:gd name="T37" fmla="*/ 0 h 629"/>
                  <a:gd name="T38" fmla="*/ 0 w 27"/>
                  <a:gd name="T39" fmla="*/ 0 h 629"/>
                  <a:gd name="T40" fmla="*/ 0 w 27"/>
                  <a:gd name="T41" fmla="*/ 0 h 6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7" h="629">
                    <a:moveTo>
                      <a:pt x="0" y="629"/>
                    </a:moveTo>
                    <a:lnTo>
                      <a:pt x="0" y="0"/>
                    </a:lnTo>
                    <a:lnTo>
                      <a:pt x="3" y="0"/>
                    </a:lnTo>
                    <a:lnTo>
                      <a:pt x="7" y="0"/>
                    </a:lnTo>
                    <a:lnTo>
                      <a:pt x="11" y="0"/>
                    </a:lnTo>
                    <a:lnTo>
                      <a:pt x="14" y="0"/>
                    </a:lnTo>
                    <a:lnTo>
                      <a:pt x="17" y="0"/>
                    </a:lnTo>
                    <a:lnTo>
                      <a:pt x="20" y="0"/>
                    </a:lnTo>
                    <a:lnTo>
                      <a:pt x="24" y="0"/>
                    </a:lnTo>
                    <a:lnTo>
                      <a:pt x="27" y="1"/>
                    </a:lnTo>
                    <a:lnTo>
                      <a:pt x="27" y="627"/>
                    </a:lnTo>
                    <a:lnTo>
                      <a:pt x="24" y="627"/>
                    </a:lnTo>
                    <a:lnTo>
                      <a:pt x="20" y="629"/>
                    </a:lnTo>
                    <a:lnTo>
                      <a:pt x="17" y="629"/>
                    </a:lnTo>
                    <a:lnTo>
                      <a:pt x="14" y="629"/>
                    </a:lnTo>
                    <a:lnTo>
                      <a:pt x="11" y="629"/>
                    </a:lnTo>
                    <a:lnTo>
                      <a:pt x="7" y="629"/>
                    </a:lnTo>
                    <a:lnTo>
                      <a:pt x="3"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56" name="Freeform 3520"/>
              <p:cNvSpPr>
                <a:spLocks noChangeAspect="1"/>
              </p:cNvSpPr>
              <p:nvPr/>
            </p:nvSpPr>
            <p:spPr bwMode="auto">
              <a:xfrm>
                <a:off x="5398" y="1039"/>
                <a:ext cx="9" cy="210"/>
              </a:xfrm>
              <a:custGeom>
                <a:avLst/>
                <a:gdLst>
                  <a:gd name="T0" fmla="*/ 0 w 27"/>
                  <a:gd name="T1" fmla="*/ 0 h 629"/>
                  <a:gd name="T2" fmla="*/ 0 w 27"/>
                  <a:gd name="T3" fmla="*/ 0 h 629"/>
                  <a:gd name="T4" fmla="*/ 0 w 27"/>
                  <a:gd name="T5" fmla="*/ 0 h 629"/>
                  <a:gd name="T6" fmla="*/ 0 w 27"/>
                  <a:gd name="T7" fmla="*/ 0 h 629"/>
                  <a:gd name="T8" fmla="*/ 0 w 27"/>
                  <a:gd name="T9" fmla="*/ 0 h 629"/>
                  <a:gd name="T10" fmla="*/ 0 w 27"/>
                  <a:gd name="T11" fmla="*/ 0 h 629"/>
                  <a:gd name="T12" fmla="*/ 0 w 27"/>
                  <a:gd name="T13" fmla="*/ 0 h 629"/>
                  <a:gd name="T14" fmla="*/ 0 w 27"/>
                  <a:gd name="T15" fmla="*/ 0 h 629"/>
                  <a:gd name="T16" fmla="*/ 0 w 27"/>
                  <a:gd name="T17" fmla="*/ 0 h 629"/>
                  <a:gd name="T18" fmla="*/ 0 w 27"/>
                  <a:gd name="T19" fmla="*/ 0 h 629"/>
                  <a:gd name="T20" fmla="*/ 0 w 27"/>
                  <a:gd name="T21" fmla="*/ 0 h 629"/>
                  <a:gd name="T22" fmla="*/ 0 w 27"/>
                  <a:gd name="T23" fmla="*/ 0 h 629"/>
                  <a:gd name="T24" fmla="*/ 0 w 27"/>
                  <a:gd name="T25" fmla="*/ 0 h 629"/>
                  <a:gd name="T26" fmla="*/ 0 w 27"/>
                  <a:gd name="T27" fmla="*/ 0 h 629"/>
                  <a:gd name="T28" fmla="*/ 0 w 27"/>
                  <a:gd name="T29" fmla="*/ 0 h 629"/>
                  <a:gd name="T30" fmla="*/ 0 w 27"/>
                  <a:gd name="T31" fmla="*/ 0 h 629"/>
                  <a:gd name="T32" fmla="*/ 0 w 27"/>
                  <a:gd name="T33" fmla="*/ 0 h 629"/>
                  <a:gd name="T34" fmla="*/ 0 w 27"/>
                  <a:gd name="T35" fmla="*/ 0 h 629"/>
                  <a:gd name="T36" fmla="*/ 0 w 27"/>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9">
                    <a:moveTo>
                      <a:pt x="0" y="629"/>
                    </a:moveTo>
                    <a:lnTo>
                      <a:pt x="0" y="0"/>
                    </a:lnTo>
                    <a:lnTo>
                      <a:pt x="3" y="0"/>
                    </a:lnTo>
                    <a:lnTo>
                      <a:pt x="6" y="0"/>
                    </a:lnTo>
                    <a:lnTo>
                      <a:pt x="10" y="0"/>
                    </a:lnTo>
                    <a:lnTo>
                      <a:pt x="13" y="1"/>
                    </a:lnTo>
                    <a:lnTo>
                      <a:pt x="16" y="1"/>
                    </a:lnTo>
                    <a:lnTo>
                      <a:pt x="19" y="1"/>
                    </a:lnTo>
                    <a:lnTo>
                      <a:pt x="23" y="2"/>
                    </a:lnTo>
                    <a:lnTo>
                      <a:pt x="27" y="2"/>
                    </a:lnTo>
                    <a:lnTo>
                      <a:pt x="27" y="626"/>
                    </a:lnTo>
                    <a:lnTo>
                      <a:pt x="23" y="626"/>
                    </a:lnTo>
                    <a:lnTo>
                      <a:pt x="19" y="627"/>
                    </a:lnTo>
                    <a:lnTo>
                      <a:pt x="16" y="627"/>
                    </a:lnTo>
                    <a:lnTo>
                      <a:pt x="13" y="627"/>
                    </a:lnTo>
                    <a:lnTo>
                      <a:pt x="10" y="627"/>
                    </a:lnTo>
                    <a:lnTo>
                      <a:pt x="6" y="629"/>
                    </a:lnTo>
                    <a:lnTo>
                      <a:pt x="3"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57" name="Freeform 3521"/>
              <p:cNvSpPr>
                <a:spLocks noChangeAspect="1"/>
              </p:cNvSpPr>
              <p:nvPr/>
            </p:nvSpPr>
            <p:spPr bwMode="auto">
              <a:xfrm>
                <a:off x="5402" y="1040"/>
                <a:ext cx="9" cy="208"/>
              </a:xfrm>
              <a:custGeom>
                <a:avLst/>
                <a:gdLst>
                  <a:gd name="T0" fmla="*/ 0 w 26"/>
                  <a:gd name="T1" fmla="*/ 0 h 626"/>
                  <a:gd name="T2" fmla="*/ 0 w 26"/>
                  <a:gd name="T3" fmla="*/ 0 h 626"/>
                  <a:gd name="T4" fmla="*/ 0 w 26"/>
                  <a:gd name="T5" fmla="*/ 0 h 626"/>
                  <a:gd name="T6" fmla="*/ 0 w 26"/>
                  <a:gd name="T7" fmla="*/ 0 h 626"/>
                  <a:gd name="T8" fmla="*/ 0 w 26"/>
                  <a:gd name="T9" fmla="*/ 0 h 626"/>
                  <a:gd name="T10" fmla="*/ 0 w 26"/>
                  <a:gd name="T11" fmla="*/ 0 h 626"/>
                  <a:gd name="T12" fmla="*/ 0 w 26"/>
                  <a:gd name="T13" fmla="*/ 0 h 626"/>
                  <a:gd name="T14" fmla="*/ 0 w 26"/>
                  <a:gd name="T15" fmla="*/ 0 h 626"/>
                  <a:gd name="T16" fmla="*/ 0 w 26"/>
                  <a:gd name="T17" fmla="*/ 0 h 626"/>
                  <a:gd name="T18" fmla="*/ 0 w 26"/>
                  <a:gd name="T19" fmla="*/ 0 h 626"/>
                  <a:gd name="T20" fmla="*/ 0 w 26"/>
                  <a:gd name="T21" fmla="*/ 0 h 626"/>
                  <a:gd name="T22" fmla="*/ 0 w 26"/>
                  <a:gd name="T23" fmla="*/ 0 h 626"/>
                  <a:gd name="T24" fmla="*/ 0 w 26"/>
                  <a:gd name="T25" fmla="*/ 0 h 626"/>
                  <a:gd name="T26" fmla="*/ 0 w 26"/>
                  <a:gd name="T27" fmla="*/ 0 h 626"/>
                  <a:gd name="T28" fmla="*/ 0 w 26"/>
                  <a:gd name="T29" fmla="*/ 0 h 626"/>
                  <a:gd name="T30" fmla="*/ 0 w 26"/>
                  <a:gd name="T31" fmla="*/ 0 h 626"/>
                  <a:gd name="T32" fmla="*/ 0 w 26"/>
                  <a:gd name="T33" fmla="*/ 0 h 626"/>
                  <a:gd name="T34" fmla="*/ 0 w 26"/>
                  <a:gd name="T35" fmla="*/ 0 h 626"/>
                  <a:gd name="T36" fmla="*/ 0 w 26"/>
                  <a:gd name="T37" fmla="*/ 0 h 6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6">
                    <a:moveTo>
                      <a:pt x="0" y="626"/>
                    </a:moveTo>
                    <a:lnTo>
                      <a:pt x="0" y="0"/>
                    </a:lnTo>
                    <a:lnTo>
                      <a:pt x="3" y="0"/>
                    </a:lnTo>
                    <a:lnTo>
                      <a:pt x="6" y="0"/>
                    </a:lnTo>
                    <a:lnTo>
                      <a:pt x="10" y="1"/>
                    </a:lnTo>
                    <a:lnTo>
                      <a:pt x="14" y="1"/>
                    </a:lnTo>
                    <a:lnTo>
                      <a:pt x="17" y="1"/>
                    </a:lnTo>
                    <a:lnTo>
                      <a:pt x="20" y="2"/>
                    </a:lnTo>
                    <a:lnTo>
                      <a:pt x="23" y="2"/>
                    </a:lnTo>
                    <a:lnTo>
                      <a:pt x="26" y="3"/>
                    </a:lnTo>
                    <a:lnTo>
                      <a:pt x="26" y="623"/>
                    </a:lnTo>
                    <a:lnTo>
                      <a:pt x="23" y="624"/>
                    </a:lnTo>
                    <a:lnTo>
                      <a:pt x="20" y="624"/>
                    </a:lnTo>
                    <a:lnTo>
                      <a:pt x="17" y="625"/>
                    </a:lnTo>
                    <a:lnTo>
                      <a:pt x="14" y="625"/>
                    </a:lnTo>
                    <a:lnTo>
                      <a:pt x="10" y="625"/>
                    </a:lnTo>
                    <a:lnTo>
                      <a:pt x="6" y="626"/>
                    </a:lnTo>
                    <a:lnTo>
                      <a:pt x="3" y="626"/>
                    </a:lnTo>
                    <a:lnTo>
                      <a:pt x="0" y="6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58" name="Freeform 3522"/>
              <p:cNvSpPr>
                <a:spLocks noChangeAspect="1"/>
              </p:cNvSpPr>
              <p:nvPr/>
            </p:nvSpPr>
            <p:spPr bwMode="auto">
              <a:xfrm>
                <a:off x="5407" y="1040"/>
                <a:ext cx="8" cy="208"/>
              </a:xfrm>
              <a:custGeom>
                <a:avLst/>
                <a:gdLst>
                  <a:gd name="T0" fmla="*/ 0 w 26"/>
                  <a:gd name="T1" fmla="*/ 0 h 624"/>
                  <a:gd name="T2" fmla="*/ 0 w 26"/>
                  <a:gd name="T3" fmla="*/ 0 h 624"/>
                  <a:gd name="T4" fmla="*/ 0 w 26"/>
                  <a:gd name="T5" fmla="*/ 0 h 624"/>
                  <a:gd name="T6" fmla="*/ 0 w 26"/>
                  <a:gd name="T7" fmla="*/ 0 h 624"/>
                  <a:gd name="T8" fmla="*/ 0 w 26"/>
                  <a:gd name="T9" fmla="*/ 0 h 624"/>
                  <a:gd name="T10" fmla="*/ 0 w 26"/>
                  <a:gd name="T11" fmla="*/ 0 h 624"/>
                  <a:gd name="T12" fmla="*/ 0 w 26"/>
                  <a:gd name="T13" fmla="*/ 0 h 624"/>
                  <a:gd name="T14" fmla="*/ 0 w 26"/>
                  <a:gd name="T15" fmla="*/ 0 h 624"/>
                  <a:gd name="T16" fmla="*/ 0 w 26"/>
                  <a:gd name="T17" fmla="*/ 0 h 624"/>
                  <a:gd name="T18" fmla="*/ 0 w 26"/>
                  <a:gd name="T19" fmla="*/ 0 h 624"/>
                  <a:gd name="T20" fmla="*/ 0 w 26"/>
                  <a:gd name="T21" fmla="*/ 0 h 624"/>
                  <a:gd name="T22" fmla="*/ 0 w 26"/>
                  <a:gd name="T23" fmla="*/ 0 h 624"/>
                  <a:gd name="T24" fmla="*/ 0 w 26"/>
                  <a:gd name="T25" fmla="*/ 0 h 624"/>
                  <a:gd name="T26" fmla="*/ 0 w 26"/>
                  <a:gd name="T27" fmla="*/ 0 h 624"/>
                  <a:gd name="T28" fmla="*/ 0 w 26"/>
                  <a:gd name="T29" fmla="*/ 0 h 624"/>
                  <a:gd name="T30" fmla="*/ 0 w 26"/>
                  <a:gd name="T31" fmla="*/ 0 h 624"/>
                  <a:gd name="T32" fmla="*/ 0 w 26"/>
                  <a:gd name="T33" fmla="*/ 0 h 624"/>
                  <a:gd name="T34" fmla="*/ 0 w 26"/>
                  <a:gd name="T35" fmla="*/ 0 h 624"/>
                  <a:gd name="T36" fmla="*/ 0 w 26"/>
                  <a:gd name="T37" fmla="*/ 0 h 6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4">
                    <a:moveTo>
                      <a:pt x="0" y="624"/>
                    </a:moveTo>
                    <a:lnTo>
                      <a:pt x="0" y="0"/>
                    </a:lnTo>
                    <a:lnTo>
                      <a:pt x="3" y="0"/>
                    </a:lnTo>
                    <a:lnTo>
                      <a:pt x="6" y="1"/>
                    </a:lnTo>
                    <a:lnTo>
                      <a:pt x="9" y="1"/>
                    </a:lnTo>
                    <a:lnTo>
                      <a:pt x="12" y="2"/>
                    </a:lnTo>
                    <a:lnTo>
                      <a:pt x="16" y="2"/>
                    </a:lnTo>
                    <a:lnTo>
                      <a:pt x="19" y="4"/>
                    </a:lnTo>
                    <a:lnTo>
                      <a:pt x="22" y="4"/>
                    </a:lnTo>
                    <a:lnTo>
                      <a:pt x="26" y="5"/>
                    </a:lnTo>
                    <a:lnTo>
                      <a:pt x="26" y="620"/>
                    </a:lnTo>
                    <a:lnTo>
                      <a:pt x="22" y="621"/>
                    </a:lnTo>
                    <a:lnTo>
                      <a:pt x="19" y="621"/>
                    </a:lnTo>
                    <a:lnTo>
                      <a:pt x="16" y="622"/>
                    </a:lnTo>
                    <a:lnTo>
                      <a:pt x="12" y="622"/>
                    </a:lnTo>
                    <a:lnTo>
                      <a:pt x="9" y="623"/>
                    </a:lnTo>
                    <a:lnTo>
                      <a:pt x="6" y="623"/>
                    </a:lnTo>
                    <a:lnTo>
                      <a:pt x="3" y="624"/>
                    </a:lnTo>
                    <a:lnTo>
                      <a:pt x="0" y="62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59" name="Freeform 3523"/>
              <p:cNvSpPr>
                <a:spLocks noChangeAspect="1"/>
              </p:cNvSpPr>
              <p:nvPr/>
            </p:nvSpPr>
            <p:spPr bwMode="auto">
              <a:xfrm>
                <a:off x="5411" y="1041"/>
                <a:ext cx="9" cy="206"/>
              </a:xfrm>
              <a:custGeom>
                <a:avLst/>
                <a:gdLst>
                  <a:gd name="T0" fmla="*/ 0 w 27"/>
                  <a:gd name="T1" fmla="*/ 0 h 620"/>
                  <a:gd name="T2" fmla="*/ 0 w 27"/>
                  <a:gd name="T3" fmla="*/ 0 h 620"/>
                  <a:gd name="T4" fmla="*/ 0 w 27"/>
                  <a:gd name="T5" fmla="*/ 0 h 620"/>
                  <a:gd name="T6" fmla="*/ 0 w 27"/>
                  <a:gd name="T7" fmla="*/ 0 h 620"/>
                  <a:gd name="T8" fmla="*/ 0 w 27"/>
                  <a:gd name="T9" fmla="*/ 0 h 620"/>
                  <a:gd name="T10" fmla="*/ 0 w 27"/>
                  <a:gd name="T11" fmla="*/ 0 h 620"/>
                  <a:gd name="T12" fmla="*/ 0 w 27"/>
                  <a:gd name="T13" fmla="*/ 0 h 620"/>
                  <a:gd name="T14" fmla="*/ 0 w 27"/>
                  <a:gd name="T15" fmla="*/ 0 h 620"/>
                  <a:gd name="T16" fmla="*/ 0 w 27"/>
                  <a:gd name="T17" fmla="*/ 0 h 620"/>
                  <a:gd name="T18" fmla="*/ 0 w 27"/>
                  <a:gd name="T19" fmla="*/ 0 h 620"/>
                  <a:gd name="T20" fmla="*/ 0 w 27"/>
                  <a:gd name="T21" fmla="*/ 0 h 620"/>
                  <a:gd name="T22" fmla="*/ 0 w 27"/>
                  <a:gd name="T23" fmla="*/ 0 h 620"/>
                  <a:gd name="T24" fmla="*/ 0 w 27"/>
                  <a:gd name="T25" fmla="*/ 0 h 620"/>
                  <a:gd name="T26" fmla="*/ 0 w 27"/>
                  <a:gd name="T27" fmla="*/ 0 h 620"/>
                  <a:gd name="T28" fmla="*/ 0 w 27"/>
                  <a:gd name="T29" fmla="*/ 0 h 620"/>
                  <a:gd name="T30" fmla="*/ 0 w 27"/>
                  <a:gd name="T31" fmla="*/ 0 h 620"/>
                  <a:gd name="T32" fmla="*/ 0 w 27"/>
                  <a:gd name="T33" fmla="*/ 0 h 620"/>
                  <a:gd name="T34" fmla="*/ 0 w 27"/>
                  <a:gd name="T35" fmla="*/ 0 h 620"/>
                  <a:gd name="T36" fmla="*/ 0 w 27"/>
                  <a:gd name="T37" fmla="*/ 0 h 6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0">
                    <a:moveTo>
                      <a:pt x="0" y="620"/>
                    </a:moveTo>
                    <a:lnTo>
                      <a:pt x="0" y="0"/>
                    </a:lnTo>
                    <a:lnTo>
                      <a:pt x="4" y="0"/>
                    </a:lnTo>
                    <a:lnTo>
                      <a:pt x="7" y="2"/>
                    </a:lnTo>
                    <a:lnTo>
                      <a:pt x="11" y="2"/>
                    </a:lnTo>
                    <a:lnTo>
                      <a:pt x="14" y="3"/>
                    </a:lnTo>
                    <a:lnTo>
                      <a:pt x="17" y="3"/>
                    </a:lnTo>
                    <a:lnTo>
                      <a:pt x="21" y="4"/>
                    </a:lnTo>
                    <a:lnTo>
                      <a:pt x="24" y="5"/>
                    </a:lnTo>
                    <a:lnTo>
                      <a:pt x="27" y="5"/>
                    </a:lnTo>
                    <a:lnTo>
                      <a:pt x="27" y="615"/>
                    </a:lnTo>
                    <a:lnTo>
                      <a:pt x="24" y="616"/>
                    </a:lnTo>
                    <a:lnTo>
                      <a:pt x="21" y="617"/>
                    </a:lnTo>
                    <a:lnTo>
                      <a:pt x="17" y="617"/>
                    </a:lnTo>
                    <a:lnTo>
                      <a:pt x="14" y="618"/>
                    </a:lnTo>
                    <a:lnTo>
                      <a:pt x="11" y="619"/>
                    </a:lnTo>
                    <a:lnTo>
                      <a:pt x="7" y="619"/>
                    </a:lnTo>
                    <a:lnTo>
                      <a:pt x="4" y="620"/>
                    </a:lnTo>
                    <a:lnTo>
                      <a:pt x="0" y="6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60" name="Freeform 3524"/>
              <p:cNvSpPr>
                <a:spLocks noChangeAspect="1"/>
              </p:cNvSpPr>
              <p:nvPr/>
            </p:nvSpPr>
            <p:spPr bwMode="auto">
              <a:xfrm>
                <a:off x="5415" y="1042"/>
                <a:ext cx="9" cy="205"/>
              </a:xfrm>
              <a:custGeom>
                <a:avLst/>
                <a:gdLst>
                  <a:gd name="T0" fmla="*/ 0 w 27"/>
                  <a:gd name="T1" fmla="*/ 0 h 615"/>
                  <a:gd name="T2" fmla="*/ 0 w 27"/>
                  <a:gd name="T3" fmla="*/ 0 h 615"/>
                  <a:gd name="T4" fmla="*/ 0 w 27"/>
                  <a:gd name="T5" fmla="*/ 0 h 615"/>
                  <a:gd name="T6" fmla="*/ 0 w 27"/>
                  <a:gd name="T7" fmla="*/ 0 h 615"/>
                  <a:gd name="T8" fmla="*/ 0 w 27"/>
                  <a:gd name="T9" fmla="*/ 0 h 615"/>
                  <a:gd name="T10" fmla="*/ 0 w 27"/>
                  <a:gd name="T11" fmla="*/ 0 h 615"/>
                  <a:gd name="T12" fmla="*/ 0 w 27"/>
                  <a:gd name="T13" fmla="*/ 0 h 615"/>
                  <a:gd name="T14" fmla="*/ 0 w 27"/>
                  <a:gd name="T15" fmla="*/ 0 h 615"/>
                  <a:gd name="T16" fmla="*/ 0 w 27"/>
                  <a:gd name="T17" fmla="*/ 0 h 615"/>
                  <a:gd name="T18" fmla="*/ 0 w 27"/>
                  <a:gd name="T19" fmla="*/ 0 h 615"/>
                  <a:gd name="T20" fmla="*/ 0 w 27"/>
                  <a:gd name="T21" fmla="*/ 0 h 615"/>
                  <a:gd name="T22" fmla="*/ 0 w 27"/>
                  <a:gd name="T23" fmla="*/ 0 h 615"/>
                  <a:gd name="T24" fmla="*/ 0 w 27"/>
                  <a:gd name="T25" fmla="*/ 0 h 615"/>
                  <a:gd name="T26" fmla="*/ 0 w 27"/>
                  <a:gd name="T27" fmla="*/ 0 h 615"/>
                  <a:gd name="T28" fmla="*/ 0 w 27"/>
                  <a:gd name="T29" fmla="*/ 0 h 615"/>
                  <a:gd name="T30" fmla="*/ 0 w 27"/>
                  <a:gd name="T31" fmla="*/ 0 h 615"/>
                  <a:gd name="T32" fmla="*/ 0 w 27"/>
                  <a:gd name="T33" fmla="*/ 0 h 615"/>
                  <a:gd name="T34" fmla="*/ 0 w 27"/>
                  <a:gd name="T35" fmla="*/ 0 h 615"/>
                  <a:gd name="T36" fmla="*/ 0 w 27"/>
                  <a:gd name="T37" fmla="*/ 0 h 6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15">
                    <a:moveTo>
                      <a:pt x="0" y="615"/>
                    </a:moveTo>
                    <a:lnTo>
                      <a:pt x="0" y="0"/>
                    </a:lnTo>
                    <a:lnTo>
                      <a:pt x="3" y="0"/>
                    </a:lnTo>
                    <a:lnTo>
                      <a:pt x="7" y="1"/>
                    </a:lnTo>
                    <a:lnTo>
                      <a:pt x="10" y="2"/>
                    </a:lnTo>
                    <a:lnTo>
                      <a:pt x="13" y="2"/>
                    </a:lnTo>
                    <a:lnTo>
                      <a:pt x="16" y="3"/>
                    </a:lnTo>
                    <a:lnTo>
                      <a:pt x="19" y="4"/>
                    </a:lnTo>
                    <a:lnTo>
                      <a:pt x="23" y="5"/>
                    </a:lnTo>
                    <a:lnTo>
                      <a:pt x="27" y="6"/>
                    </a:lnTo>
                    <a:lnTo>
                      <a:pt x="27" y="609"/>
                    </a:lnTo>
                    <a:lnTo>
                      <a:pt x="23" y="610"/>
                    </a:lnTo>
                    <a:lnTo>
                      <a:pt x="19" y="611"/>
                    </a:lnTo>
                    <a:lnTo>
                      <a:pt x="16" y="612"/>
                    </a:lnTo>
                    <a:lnTo>
                      <a:pt x="13" y="612"/>
                    </a:lnTo>
                    <a:lnTo>
                      <a:pt x="10" y="613"/>
                    </a:lnTo>
                    <a:lnTo>
                      <a:pt x="7" y="614"/>
                    </a:lnTo>
                    <a:lnTo>
                      <a:pt x="3" y="614"/>
                    </a:lnTo>
                    <a:lnTo>
                      <a:pt x="0" y="6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61" name="Freeform 3525"/>
              <p:cNvSpPr>
                <a:spLocks noChangeAspect="1"/>
              </p:cNvSpPr>
              <p:nvPr/>
            </p:nvSpPr>
            <p:spPr bwMode="auto">
              <a:xfrm>
                <a:off x="5420" y="1042"/>
                <a:ext cx="9" cy="204"/>
              </a:xfrm>
              <a:custGeom>
                <a:avLst/>
                <a:gdLst>
                  <a:gd name="T0" fmla="*/ 0 w 27"/>
                  <a:gd name="T1" fmla="*/ 0 h 610"/>
                  <a:gd name="T2" fmla="*/ 0 w 27"/>
                  <a:gd name="T3" fmla="*/ 0 h 610"/>
                  <a:gd name="T4" fmla="*/ 0 w 27"/>
                  <a:gd name="T5" fmla="*/ 0 h 610"/>
                  <a:gd name="T6" fmla="*/ 0 w 27"/>
                  <a:gd name="T7" fmla="*/ 0 h 610"/>
                  <a:gd name="T8" fmla="*/ 0 w 27"/>
                  <a:gd name="T9" fmla="*/ 0 h 610"/>
                  <a:gd name="T10" fmla="*/ 0 w 27"/>
                  <a:gd name="T11" fmla="*/ 0 h 610"/>
                  <a:gd name="T12" fmla="*/ 0 w 27"/>
                  <a:gd name="T13" fmla="*/ 0 h 610"/>
                  <a:gd name="T14" fmla="*/ 0 w 27"/>
                  <a:gd name="T15" fmla="*/ 0 h 610"/>
                  <a:gd name="T16" fmla="*/ 0 w 27"/>
                  <a:gd name="T17" fmla="*/ 0 h 610"/>
                  <a:gd name="T18" fmla="*/ 0 w 27"/>
                  <a:gd name="T19" fmla="*/ 0 h 610"/>
                  <a:gd name="T20" fmla="*/ 0 w 27"/>
                  <a:gd name="T21" fmla="*/ 0 h 610"/>
                  <a:gd name="T22" fmla="*/ 0 w 27"/>
                  <a:gd name="T23" fmla="*/ 0 h 610"/>
                  <a:gd name="T24" fmla="*/ 0 w 27"/>
                  <a:gd name="T25" fmla="*/ 0 h 610"/>
                  <a:gd name="T26" fmla="*/ 0 w 27"/>
                  <a:gd name="T27" fmla="*/ 0 h 610"/>
                  <a:gd name="T28" fmla="*/ 0 w 27"/>
                  <a:gd name="T29" fmla="*/ 0 h 610"/>
                  <a:gd name="T30" fmla="*/ 0 w 27"/>
                  <a:gd name="T31" fmla="*/ 0 h 610"/>
                  <a:gd name="T32" fmla="*/ 0 w 27"/>
                  <a:gd name="T33" fmla="*/ 0 h 610"/>
                  <a:gd name="T34" fmla="*/ 0 w 27"/>
                  <a:gd name="T35" fmla="*/ 0 h 610"/>
                  <a:gd name="T36" fmla="*/ 0 w 27"/>
                  <a:gd name="T37" fmla="*/ 0 h 6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10">
                    <a:moveTo>
                      <a:pt x="0" y="610"/>
                    </a:moveTo>
                    <a:lnTo>
                      <a:pt x="0" y="0"/>
                    </a:lnTo>
                    <a:lnTo>
                      <a:pt x="3" y="1"/>
                    </a:lnTo>
                    <a:lnTo>
                      <a:pt x="6" y="2"/>
                    </a:lnTo>
                    <a:lnTo>
                      <a:pt x="10" y="3"/>
                    </a:lnTo>
                    <a:lnTo>
                      <a:pt x="14" y="4"/>
                    </a:lnTo>
                    <a:lnTo>
                      <a:pt x="17" y="4"/>
                    </a:lnTo>
                    <a:lnTo>
                      <a:pt x="20" y="5"/>
                    </a:lnTo>
                    <a:lnTo>
                      <a:pt x="23" y="6"/>
                    </a:lnTo>
                    <a:lnTo>
                      <a:pt x="27" y="7"/>
                    </a:lnTo>
                    <a:lnTo>
                      <a:pt x="27" y="603"/>
                    </a:lnTo>
                    <a:lnTo>
                      <a:pt x="23" y="604"/>
                    </a:lnTo>
                    <a:lnTo>
                      <a:pt x="20" y="605"/>
                    </a:lnTo>
                    <a:lnTo>
                      <a:pt x="17" y="606"/>
                    </a:lnTo>
                    <a:lnTo>
                      <a:pt x="14" y="607"/>
                    </a:lnTo>
                    <a:lnTo>
                      <a:pt x="10" y="608"/>
                    </a:lnTo>
                    <a:lnTo>
                      <a:pt x="6" y="609"/>
                    </a:lnTo>
                    <a:lnTo>
                      <a:pt x="3" y="610"/>
                    </a:lnTo>
                    <a:lnTo>
                      <a:pt x="0" y="61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62" name="Freeform 3526"/>
              <p:cNvSpPr>
                <a:spLocks noChangeAspect="1"/>
              </p:cNvSpPr>
              <p:nvPr/>
            </p:nvSpPr>
            <p:spPr bwMode="auto">
              <a:xfrm>
                <a:off x="5424" y="1044"/>
                <a:ext cx="9" cy="201"/>
              </a:xfrm>
              <a:custGeom>
                <a:avLst/>
                <a:gdLst>
                  <a:gd name="T0" fmla="*/ 0 w 25"/>
                  <a:gd name="T1" fmla="*/ 0 h 603"/>
                  <a:gd name="T2" fmla="*/ 0 w 25"/>
                  <a:gd name="T3" fmla="*/ 0 h 603"/>
                  <a:gd name="T4" fmla="*/ 0 w 25"/>
                  <a:gd name="T5" fmla="*/ 0 h 603"/>
                  <a:gd name="T6" fmla="*/ 0 w 25"/>
                  <a:gd name="T7" fmla="*/ 0 h 603"/>
                  <a:gd name="T8" fmla="*/ 0 w 25"/>
                  <a:gd name="T9" fmla="*/ 0 h 603"/>
                  <a:gd name="T10" fmla="*/ 0 w 25"/>
                  <a:gd name="T11" fmla="*/ 0 h 603"/>
                  <a:gd name="T12" fmla="*/ 0 w 25"/>
                  <a:gd name="T13" fmla="*/ 0 h 603"/>
                  <a:gd name="T14" fmla="*/ 0 w 25"/>
                  <a:gd name="T15" fmla="*/ 0 h 603"/>
                  <a:gd name="T16" fmla="*/ 0 w 25"/>
                  <a:gd name="T17" fmla="*/ 0 h 603"/>
                  <a:gd name="T18" fmla="*/ 0 w 25"/>
                  <a:gd name="T19" fmla="*/ 0 h 603"/>
                  <a:gd name="T20" fmla="*/ 0 w 25"/>
                  <a:gd name="T21" fmla="*/ 0 h 603"/>
                  <a:gd name="T22" fmla="*/ 0 w 25"/>
                  <a:gd name="T23" fmla="*/ 0 h 603"/>
                  <a:gd name="T24" fmla="*/ 0 w 25"/>
                  <a:gd name="T25" fmla="*/ 0 h 603"/>
                  <a:gd name="T26" fmla="*/ 0 w 25"/>
                  <a:gd name="T27" fmla="*/ 0 h 603"/>
                  <a:gd name="T28" fmla="*/ 0 w 25"/>
                  <a:gd name="T29" fmla="*/ 0 h 603"/>
                  <a:gd name="T30" fmla="*/ 0 w 25"/>
                  <a:gd name="T31" fmla="*/ 0 h 603"/>
                  <a:gd name="T32" fmla="*/ 0 w 25"/>
                  <a:gd name="T33" fmla="*/ 0 h 603"/>
                  <a:gd name="T34" fmla="*/ 0 w 25"/>
                  <a:gd name="T35" fmla="*/ 0 h 603"/>
                  <a:gd name="T36" fmla="*/ 0 w 25"/>
                  <a:gd name="T37" fmla="*/ 0 h 6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5" h="603">
                    <a:moveTo>
                      <a:pt x="0" y="603"/>
                    </a:moveTo>
                    <a:lnTo>
                      <a:pt x="0" y="0"/>
                    </a:lnTo>
                    <a:lnTo>
                      <a:pt x="3" y="0"/>
                    </a:lnTo>
                    <a:lnTo>
                      <a:pt x="6" y="1"/>
                    </a:lnTo>
                    <a:lnTo>
                      <a:pt x="9" y="2"/>
                    </a:lnTo>
                    <a:lnTo>
                      <a:pt x="13" y="3"/>
                    </a:lnTo>
                    <a:lnTo>
                      <a:pt x="16" y="4"/>
                    </a:lnTo>
                    <a:lnTo>
                      <a:pt x="19" y="5"/>
                    </a:lnTo>
                    <a:lnTo>
                      <a:pt x="22" y="7"/>
                    </a:lnTo>
                    <a:lnTo>
                      <a:pt x="25" y="8"/>
                    </a:lnTo>
                    <a:lnTo>
                      <a:pt x="25" y="594"/>
                    </a:lnTo>
                    <a:lnTo>
                      <a:pt x="22" y="595"/>
                    </a:lnTo>
                    <a:lnTo>
                      <a:pt x="19" y="596"/>
                    </a:lnTo>
                    <a:lnTo>
                      <a:pt x="16" y="597"/>
                    </a:lnTo>
                    <a:lnTo>
                      <a:pt x="13" y="599"/>
                    </a:lnTo>
                    <a:lnTo>
                      <a:pt x="9" y="600"/>
                    </a:lnTo>
                    <a:lnTo>
                      <a:pt x="6" y="601"/>
                    </a:lnTo>
                    <a:lnTo>
                      <a:pt x="3" y="602"/>
                    </a:lnTo>
                    <a:lnTo>
                      <a:pt x="0" y="60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63" name="Freeform 3527"/>
              <p:cNvSpPr>
                <a:spLocks noChangeAspect="1"/>
              </p:cNvSpPr>
              <p:nvPr/>
            </p:nvSpPr>
            <p:spPr bwMode="auto">
              <a:xfrm>
                <a:off x="5429" y="1045"/>
                <a:ext cx="8" cy="198"/>
              </a:xfrm>
              <a:custGeom>
                <a:avLst/>
                <a:gdLst>
                  <a:gd name="T0" fmla="*/ 0 w 26"/>
                  <a:gd name="T1" fmla="*/ 0 h 596"/>
                  <a:gd name="T2" fmla="*/ 0 w 26"/>
                  <a:gd name="T3" fmla="*/ 0 h 596"/>
                  <a:gd name="T4" fmla="*/ 0 w 26"/>
                  <a:gd name="T5" fmla="*/ 0 h 596"/>
                  <a:gd name="T6" fmla="*/ 0 w 26"/>
                  <a:gd name="T7" fmla="*/ 0 h 596"/>
                  <a:gd name="T8" fmla="*/ 0 w 26"/>
                  <a:gd name="T9" fmla="*/ 0 h 596"/>
                  <a:gd name="T10" fmla="*/ 0 w 26"/>
                  <a:gd name="T11" fmla="*/ 0 h 596"/>
                  <a:gd name="T12" fmla="*/ 0 w 26"/>
                  <a:gd name="T13" fmla="*/ 0 h 596"/>
                  <a:gd name="T14" fmla="*/ 0 w 26"/>
                  <a:gd name="T15" fmla="*/ 0 h 596"/>
                  <a:gd name="T16" fmla="*/ 0 w 26"/>
                  <a:gd name="T17" fmla="*/ 0 h 596"/>
                  <a:gd name="T18" fmla="*/ 0 w 26"/>
                  <a:gd name="T19" fmla="*/ 0 h 596"/>
                  <a:gd name="T20" fmla="*/ 0 w 26"/>
                  <a:gd name="T21" fmla="*/ 0 h 596"/>
                  <a:gd name="T22" fmla="*/ 0 w 26"/>
                  <a:gd name="T23" fmla="*/ 0 h 596"/>
                  <a:gd name="T24" fmla="*/ 0 w 26"/>
                  <a:gd name="T25" fmla="*/ 0 h 596"/>
                  <a:gd name="T26" fmla="*/ 0 w 26"/>
                  <a:gd name="T27" fmla="*/ 0 h 596"/>
                  <a:gd name="T28" fmla="*/ 0 w 26"/>
                  <a:gd name="T29" fmla="*/ 0 h 596"/>
                  <a:gd name="T30" fmla="*/ 0 w 26"/>
                  <a:gd name="T31" fmla="*/ 0 h 596"/>
                  <a:gd name="T32" fmla="*/ 0 w 26"/>
                  <a:gd name="T33" fmla="*/ 0 h 596"/>
                  <a:gd name="T34" fmla="*/ 0 w 26"/>
                  <a:gd name="T35" fmla="*/ 0 h 596"/>
                  <a:gd name="T36" fmla="*/ 0 w 26"/>
                  <a:gd name="T37" fmla="*/ 0 h 59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96">
                    <a:moveTo>
                      <a:pt x="0" y="596"/>
                    </a:moveTo>
                    <a:lnTo>
                      <a:pt x="0" y="0"/>
                    </a:lnTo>
                    <a:lnTo>
                      <a:pt x="3" y="1"/>
                    </a:lnTo>
                    <a:lnTo>
                      <a:pt x="6" y="2"/>
                    </a:lnTo>
                    <a:lnTo>
                      <a:pt x="9" y="4"/>
                    </a:lnTo>
                    <a:lnTo>
                      <a:pt x="13" y="5"/>
                    </a:lnTo>
                    <a:lnTo>
                      <a:pt x="17" y="7"/>
                    </a:lnTo>
                    <a:lnTo>
                      <a:pt x="20" y="8"/>
                    </a:lnTo>
                    <a:lnTo>
                      <a:pt x="23" y="9"/>
                    </a:lnTo>
                    <a:lnTo>
                      <a:pt x="26" y="11"/>
                    </a:lnTo>
                    <a:lnTo>
                      <a:pt x="26" y="586"/>
                    </a:lnTo>
                    <a:lnTo>
                      <a:pt x="23" y="588"/>
                    </a:lnTo>
                    <a:lnTo>
                      <a:pt x="20" y="589"/>
                    </a:lnTo>
                    <a:lnTo>
                      <a:pt x="17" y="590"/>
                    </a:lnTo>
                    <a:lnTo>
                      <a:pt x="13" y="591"/>
                    </a:lnTo>
                    <a:lnTo>
                      <a:pt x="9" y="592"/>
                    </a:lnTo>
                    <a:lnTo>
                      <a:pt x="6" y="593"/>
                    </a:lnTo>
                    <a:lnTo>
                      <a:pt x="3" y="594"/>
                    </a:lnTo>
                    <a:lnTo>
                      <a:pt x="0" y="59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64" name="Freeform 3528"/>
              <p:cNvSpPr>
                <a:spLocks noChangeAspect="1"/>
              </p:cNvSpPr>
              <p:nvPr/>
            </p:nvSpPr>
            <p:spPr bwMode="auto">
              <a:xfrm>
                <a:off x="5433" y="1046"/>
                <a:ext cx="9" cy="196"/>
              </a:xfrm>
              <a:custGeom>
                <a:avLst/>
                <a:gdLst>
                  <a:gd name="T0" fmla="*/ 0 w 27"/>
                  <a:gd name="T1" fmla="*/ 0 h 586"/>
                  <a:gd name="T2" fmla="*/ 0 w 27"/>
                  <a:gd name="T3" fmla="*/ 0 h 586"/>
                  <a:gd name="T4" fmla="*/ 0 w 27"/>
                  <a:gd name="T5" fmla="*/ 0 h 586"/>
                  <a:gd name="T6" fmla="*/ 0 w 27"/>
                  <a:gd name="T7" fmla="*/ 0 h 586"/>
                  <a:gd name="T8" fmla="*/ 0 w 27"/>
                  <a:gd name="T9" fmla="*/ 0 h 586"/>
                  <a:gd name="T10" fmla="*/ 0 w 27"/>
                  <a:gd name="T11" fmla="*/ 0 h 586"/>
                  <a:gd name="T12" fmla="*/ 0 w 27"/>
                  <a:gd name="T13" fmla="*/ 0 h 586"/>
                  <a:gd name="T14" fmla="*/ 0 w 27"/>
                  <a:gd name="T15" fmla="*/ 0 h 586"/>
                  <a:gd name="T16" fmla="*/ 0 w 27"/>
                  <a:gd name="T17" fmla="*/ 0 h 586"/>
                  <a:gd name="T18" fmla="*/ 0 w 27"/>
                  <a:gd name="T19" fmla="*/ 0 h 586"/>
                  <a:gd name="T20" fmla="*/ 0 w 27"/>
                  <a:gd name="T21" fmla="*/ 0 h 586"/>
                  <a:gd name="T22" fmla="*/ 0 w 27"/>
                  <a:gd name="T23" fmla="*/ 0 h 586"/>
                  <a:gd name="T24" fmla="*/ 0 w 27"/>
                  <a:gd name="T25" fmla="*/ 0 h 586"/>
                  <a:gd name="T26" fmla="*/ 0 w 27"/>
                  <a:gd name="T27" fmla="*/ 0 h 586"/>
                  <a:gd name="T28" fmla="*/ 0 w 27"/>
                  <a:gd name="T29" fmla="*/ 0 h 586"/>
                  <a:gd name="T30" fmla="*/ 0 w 27"/>
                  <a:gd name="T31" fmla="*/ 0 h 586"/>
                  <a:gd name="T32" fmla="*/ 0 w 27"/>
                  <a:gd name="T33" fmla="*/ 0 h 586"/>
                  <a:gd name="T34" fmla="*/ 0 w 27"/>
                  <a:gd name="T35" fmla="*/ 0 h 586"/>
                  <a:gd name="T36" fmla="*/ 0 w 27"/>
                  <a:gd name="T37" fmla="*/ 0 h 58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86">
                    <a:moveTo>
                      <a:pt x="0" y="586"/>
                    </a:moveTo>
                    <a:lnTo>
                      <a:pt x="0" y="0"/>
                    </a:lnTo>
                    <a:lnTo>
                      <a:pt x="5" y="2"/>
                    </a:lnTo>
                    <a:lnTo>
                      <a:pt x="8" y="3"/>
                    </a:lnTo>
                    <a:lnTo>
                      <a:pt x="11" y="4"/>
                    </a:lnTo>
                    <a:lnTo>
                      <a:pt x="14" y="6"/>
                    </a:lnTo>
                    <a:lnTo>
                      <a:pt x="17" y="7"/>
                    </a:lnTo>
                    <a:lnTo>
                      <a:pt x="21" y="8"/>
                    </a:lnTo>
                    <a:lnTo>
                      <a:pt x="24" y="10"/>
                    </a:lnTo>
                    <a:lnTo>
                      <a:pt x="27" y="11"/>
                    </a:lnTo>
                    <a:lnTo>
                      <a:pt x="27" y="576"/>
                    </a:lnTo>
                    <a:lnTo>
                      <a:pt x="24" y="577"/>
                    </a:lnTo>
                    <a:lnTo>
                      <a:pt x="21" y="579"/>
                    </a:lnTo>
                    <a:lnTo>
                      <a:pt x="17" y="580"/>
                    </a:lnTo>
                    <a:lnTo>
                      <a:pt x="14" y="581"/>
                    </a:lnTo>
                    <a:lnTo>
                      <a:pt x="11" y="583"/>
                    </a:lnTo>
                    <a:lnTo>
                      <a:pt x="8" y="584"/>
                    </a:lnTo>
                    <a:lnTo>
                      <a:pt x="5" y="585"/>
                    </a:lnTo>
                    <a:lnTo>
                      <a:pt x="0" y="58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65" name="Freeform 3529"/>
              <p:cNvSpPr>
                <a:spLocks noChangeAspect="1"/>
              </p:cNvSpPr>
              <p:nvPr/>
            </p:nvSpPr>
            <p:spPr bwMode="auto">
              <a:xfrm>
                <a:off x="5437" y="1048"/>
                <a:ext cx="9" cy="192"/>
              </a:xfrm>
              <a:custGeom>
                <a:avLst/>
                <a:gdLst>
                  <a:gd name="T0" fmla="*/ 0 w 27"/>
                  <a:gd name="T1" fmla="*/ 0 h 575"/>
                  <a:gd name="T2" fmla="*/ 0 w 27"/>
                  <a:gd name="T3" fmla="*/ 0 h 575"/>
                  <a:gd name="T4" fmla="*/ 0 w 27"/>
                  <a:gd name="T5" fmla="*/ 0 h 575"/>
                  <a:gd name="T6" fmla="*/ 0 w 27"/>
                  <a:gd name="T7" fmla="*/ 0 h 575"/>
                  <a:gd name="T8" fmla="*/ 0 w 27"/>
                  <a:gd name="T9" fmla="*/ 0 h 575"/>
                  <a:gd name="T10" fmla="*/ 0 w 27"/>
                  <a:gd name="T11" fmla="*/ 0 h 575"/>
                  <a:gd name="T12" fmla="*/ 0 w 27"/>
                  <a:gd name="T13" fmla="*/ 0 h 575"/>
                  <a:gd name="T14" fmla="*/ 0 w 27"/>
                  <a:gd name="T15" fmla="*/ 0 h 575"/>
                  <a:gd name="T16" fmla="*/ 0 w 27"/>
                  <a:gd name="T17" fmla="*/ 0 h 575"/>
                  <a:gd name="T18" fmla="*/ 0 w 27"/>
                  <a:gd name="T19" fmla="*/ 0 h 575"/>
                  <a:gd name="T20" fmla="*/ 0 w 27"/>
                  <a:gd name="T21" fmla="*/ 0 h 575"/>
                  <a:gd name="T22" fmla="*/ 0 w 27"/>
                  <a:gd name="T23" fmla="*/ 0 h 575"/>
                  <a:gd name="T24" fmla="*/ 0 w 27"/>
                  <a:gd name="T25" fmla="*/ 0 h 575"/>
                  <a:gd name="T26" fmla="*/ 0 w 27"/>
                  <a:gd name="T27" fmla="*/ 0 h 575"/>
                  <a:gd name="T28" fmla="*/ 0 w 27"/>
                  <a:gd name="T29" fmla="*/ 0 h 575"/>
                  <a:gd name="T30" fmla="*/ 0 w 27"/>
                  <a:gd name="T31" fmla="*/ 0 h 575"/>
                  <a:gd name="T32" fmla="*/ 0 w 27"/>
                  <a:gd name="T33" fmla="*/ 0 h 575"/>
                  <a:gd name="T34" fmla="*/ 0 w 27"/>
                  <a:gd name="T35" fmla="*/ 0 h 575"/>
                  <a:gd name="T36" fmla="*/ 0 w 27"/>
                  <a:gd name="T37" fmla="*/ 0 h 5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75">
                    <a:moveTo>
                      <a:pt x="0" y="575"/>
                    </a:moveTo>
                    <a:lnTo>
                      <a:pt x="0" y="0"/>
                    </a:lnTo>
                    <a:lnTo>
                      <a:pt x="3" y="1"/>
                    </a:lnTo>
                    <a:lnTo>
                      <a:pt x="7" y="2"/>
                    </a:lnTo>
                    <a:lnTo>
                      <a:pt x="10" y="4"/>
                    </a:lnTo>
                    <a:lnTo>
                      <a:pt x="14" y="5"/>
                    </a:lnTo>
                    <a:lnTo>
                      <a:pt x="17" y="7"/>
                    </a:lnTo>
                    <a:lnTo>
                      <a:pt x="20" y="8"/>
                    </a:lnTo>
                    <a:lnTo>
                      <a:pt x="24" y="10"/>
                    </a:lnTo>
                    <a:lnTo>
                      <a:pt x="27" y="12"/>
                    </a:lnTo>
                    <a:lnTo>
                      <a:pt x="27" y="563"/>
                    </a:lnTo>
                    <a:lnTo>
                      <a:pt x="24" y="564"/>
                    </a:lnTo>
                    <a:lnTo>
                      <a:pt x="20" y="566"/>
                    </a:lnTo>
                    <a:lnTo>
                      <a:pt x="17" y="568"/>
                    </a:lnTo>
                    <a:lnTo>
                      <a:pt x="14" y="570"/>
                    </a:lnTo>
                    <a:lnTo>
                      <a:pt x="10" y="571"/>
                    </a:lnTo>
                    <a:lnTo>
                      <a:pt x="7" y="573"/>
                    </a:lnTo>
                    <a:lnTo>
                      <a:pt x="3" y="574"/>
                    </a:lnTo>
                    <a:lnTo>
                      <a:pt x="0" y="57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66" name="Freeform 3530"/>
              <p:cNvSpPr>
                <a:spLocks noChangeAspect="1"/>
              </p:cNvSpPr>
              <p:nvPr/>
            </p:nvSpPr>
            <p:spPr bwMode="auto">
              <a:xfrm>
                <a:off x="5442" y="1050"/>
                <a:ext cx="9" cy="188"/>
              </a:xfrm>
              <a:custGeom>
                <a:avLst/>
                <a:gdLst>
                  <a:gd name="T0" fmla="*/ 0 w 27"/>
                  <a:gd name="T1" fmla="*/ 0 h 565"/>
                  <a:gd name="T2" fmla="*/ 0 w 27"/>
                  <a:gd name="T3" fmla="*/ 0 h 565"/>
                  <a:gd name="T4" fmla="*/ 0 w 27"/>
                  <a:gd name="T5" fmla="*/ 0 h 565"/>
                  <a:gd name="T6" fmla="*/ 0 w 27"/>
                  <a:gd name="T7" fmla="*/ 0 h 565"/>
                  <a:gd name="T8" fmla="*/ 0 w 27"/>
                  <a:gd name="T9" fmla="*/ 0 h 565"/>
                  <a:gd name="T10" fmla="*/ 0 w 27"/>
                  <a:gd name="T11" fmla="*/ 0 h 565"/>
                  <a:gd name="T12" fmla="*/ 0 w 27"/>
                  <a:gd name="T13" fmla="*/ 0 h 565"/>
                  <a:gd name="T14" fmla="*/ 0 w 27"/>
                  <a:gd name="T15" fmla="*/ 0 h 565"/>
                  <a:gd name="T16" fmla="*/ 0 w 27"/>
                  <a:gd name="T17" fmla="*/ 0 h 565"/>
                  <a:gd name="T18" fmla="*/ 0 w 27"/>
                  <a:gd name="T19" fmla="*/ 0 h 565"/>
                  <a:gd name="T20" fmla="*/ 0 w 27"/>
                  <a:gd name="T21" fmla="*/ 0 h 565"/>
                  <a:gd name="T22" fmla="*/ 0 w 27"/>
                  <a:gd name="T23" fmla="*/ 0 h 565"/>
                  <a:gd name="T24" fmla="*/ 0 w 27"/>
                  <a:gd name="T25" fmla="*/ 0 h 565"/>
                  <a:gd name="T26" fmla="*/ 0 w 27"/>
                  <a:gd name="T27" fmla="*/ 0 h 565"/>
                  <a:gd name="T28" fmla="*/ 0 w 27"/>
                  <a:gd name="T29" fmla="*/ 0 h 565"/>
                  <a:gd name="T30" fmla="*/ 0 w 27"/>
                  <a:gd name="T31" fmla="*/ 0 h 565"/>
                  <a:gd name="T32" fmla="*/ 0 w 27"/>
                  <a:gd name="T33" fmla="*/ 0 h 565"/>
                  <a:gd name="T34" fmla="*/ 0 w 27"/>
                  <a:gd name="T35" fmla="*/ 0 h 565"/>
                  <a:gd name="T36" fmla="*/ 0 w 27"/>
                  <a:gd name="T37" fmla="*/ 0 h 5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65">
                    <a:moveTo>
                      <a:pt x="0" y="565"/>
                    </a:moveTo>
                    <a:lnTo>
                      <a:pt x="0" y="0"/>
                    </a:lnTo>
                    <a:lnTo>
                      <a:pt x="4" y="2"/>
                    </a:lnTo>
                    <a:lnTo>
                      <a:pt x="7" y="3"/>
                    </a:lnTo>
                    <a:lnTo>
                      <a:pt x="11" y="5"/>
                    </a:lnTo>
                    <a:lnTo>
                      <a:pt x="14" y="7"/>
                    </a:lnTo>
                    <a:lnTo>
                      <a:pt x="17" y="9"/>
                    </a:lnTo>
                    <a:lnTo>
                      <a:pt x="20" y="11"/>
                    </a:lnTo>
                    <a:lnTo>
                      <a:pt x="23" y="12"/>
                    </a:lnTo>
                    <a:lnTo>
                      <a:pt x="27" y="14"/>
                    </a:lnTo>
                    <a:lnTo>
                      <a:pt x="27" y="551"/>
                    </a:lnTo>
                    <a:lnTo>
                      <a:pt x="23" y="553"/>
                    </a:lnTo>
                    <a:lnTo>
                      <a:pt x="20" y="554"/>
                    </a:lnTo>
                    <a:lnTo>
                      <a:pt x="17" y="556"/>
                    </a:lnTo>
                    <a:lnTo>
                      <a:pt x="14" y="558"/>
                    </a:lnTo>
                    <a:lnTo>
                      <a:pt x="11" y="559"/>
                    </a:lnTo>
                    <a:lnTo>
                      <a:pt x="7" y="561"/>
                    </a:lnTo>
                    <a:lnTo>
                      <a:pt x="4" y="563"/>
                    </a:lnTo>
                    <a:lnTo>
                      <a:pt x="0" y="5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67" name="Freeform 3531"/>
              <p:cNvSpPr>
                <a:spLocks noChangeAspect="1"/>
              </p:cNvSpPr>
              <p:nvPr/>
            </p:nvSpPr>
            <p:spPr bwMode="auto">
              <a:xfrm>
                <a:off x="5446" y="1052"/>
                <a:ext cx="9" cy="184"/>
              </a:xfrm>
              <a:custGeom>
                <a:avLst/>
                <a:gdLst>
                  <a:gd name="T0" fmla="*/ 0 w 26"/>
                  <a:gd name="T1" fmla="*/ 0 h 551"/>
                  <a:gd name="T2" fmla="*/ 0 w 26"/>
                  <a:gd name="T3" fmla="*/ 0 h 551"/>
                  <a:gd name="T4" fmla="*/ 0 w 26"/>
                  <a:gd name="T5" fmla="*/ 0 h 551"/>
                  <a:gd name="T6" fmla="*/ 0 w 26"/>
                  <a:gd name="T7" fmla="*/ 0 h 551"/>
                  <a:gd name="T8" fmla="*/ 0 w 26"/>
                  <a:gd name="T9" fmla="*/ 0 h 551"/>
                  <a:gd name="T10" fmla="*/ 0 w 26"/>
                  <a:gd name="T11" fmla="*/ 0 h 551"/>
                  <a:gd name="T12" fmla="*/ 0 w 26"/>
                  <a:gd name="T13" fmla="*/ 0 h 551"/>
                  <a:gd name="T14" fmla="*/ 0 w 26"/>
                  <a:gd name="T15" fmla="*/ 0 h 551"/>
                  <a:gd name="T16" fmla="*/ 0 w 26"/>
                  <a:gd name="T17" fmla="*/ 0 h 551"/>
                  <a:gd name="T18" fmla="*/ 0 w 26"/>
                  <a:gd name="T19" fmla="*/ 0 h 551"/>
                  <a:gd name="T20" fmla="*/ 0 w 26"/>
                  <a:gd name="T21" fmla="*/ 0 h 551"/>
                  <a:gd name="T22" fmla="*/ 0 w 26"/>
                  <a:gd name="T23" fmla="*/ 0 h 551"/>
                  <a:gd name="T24" fmla="*/ 0 w 26"/>
                  <a:gd name="T25" fmla="*/ 0 h 551"/>
                  <a:gd name="T26" fmla="*/ 0 w 26"/>
                  <a:gd name="T27" fmla="*/ 0 h 551"/>
                  <a:gd name="T28" fmla="*/ 0 w 26"/>
                  <a:gd name="T29" fmla="*/ 0 h 551"/>
                  <a:gd name="T30" fmla="*/ 0 w 26"/>
                  <a:gd name="T31" fmla="*/ 0 h 551"/>
                  <a:gd name="T32" fmla="*/ 0 w 26"/>
                  <a:gd name="T33" fmla="*/ 0 h 551"/>
                  <a:gd name="T34" fmla="*/ 0 w 26"/>
                  <a:gd name="T35" fmla="*/ 0 h 551"/>
                  <a:gd name="T36" fmla="*/ 0 w 26"/>
                  <a:gd name="T37" fmla="*/ 0 h 5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51">
                    <a:moveTo>
                      <a:pt x="0" y="551"/>
                    </a:moveTo>
                    <a:lnTo>
                      <a:pt x="0" y="0"/>
                    </a:lnTo>
                    <a:lnTo>
                      <a:pt x="3" y="2"/>
                    </a:lnTo>
                    <a:lnTo>
                      <a:pt x="6" y="4"/>
                    </a:lnTo>
                    <a:lnTo>
                      <a:pt x="9" y="5"/>
                    </a:lnTo>
                    <a:lnTo>
                      <a:pt x="14" y="7"/>
                    </a:lnTo>
                    <a:lnTo>
                      <a:pt x="17" y="9"/>
                    </a:lnTo>
                    <a:lnTo>
                      <a:pt x="20" y="11"/>
                    </a:lnTo>
                    <a:lnTo>
                      <a:pt x="23" y="13"/>
                    </a:lnTo>
                    <a:lnTo>
                      <a:pt x="26" y="15"/>
                    </a:lnTo>
                    <a:lnTo>
                      <a:pt x="26" y="535"/>
                    </a:lnTo>
                    <a:lnTo>
                      <a:pt x="23" y="537"/>
                    </a:lnTo>
                    <a:lnTo>
                      <a:pt x="20" y="540"/>
                    </a:lnTo>
                    <a:lnTo>
                      <a:pt x="17" y="542"/>
                    </a:lnTo>
                    <a:lnTo>
                      <a:pt x="14" y="544"/>
                    </a:lnTo>
                    <a:lnTo>
                      <a:pt x="9" y="545"/>
                    </a:lnTo>
                    <a:lnTo>
                      <a:pt x="6" y="547"/>
                    </a:lnTo>
                    <a:lnTo>
                      <a:pt x="3" y="549"/>
                    </a:lnTo>
                    <a:lnTo>
                      <a:pt x="0" y="55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68" name="Freeform 3532"/>
              <p:cNvSpPr>
                <a:spLocks noChangeAspect="1"/>
              </p:cNvSpPr>
              <p:nvPr/>
            </p:nvSpPr>
            <p:spPr bwMode="auto">
              <a:xfrm>
                <a:off x="5451" y="1055"/>
                <a:ext cx="8" cy="179"/>
              </a:xfrm>
              <a:custGeom>
                <a:avLst/>
                <a:gdLst>
                  <a:gd name="T0" fmla="*/ 0 w 26"/>
                  <a:gd name="T1" fmla="*/ 0 h 537"/>
                  <a:gd name="T2" fmla="*/ 0 w 26"/>
                  <a:gd name="T3" fmla="*/ 0 h 537"/>
                  <a:gd name="T4" fmla="*/ 0 w 26"/>
                  <a:gd name="T5" fmla="*/ 0 h 537"/>
                  <a:gd name="T6" fmla="*/ 0 w 26"/>
                  <a:gd name="T7" fmla="*/ 0 h 537"/>
                  <a:gd name="T8" fmla="*/ 0 w 26"/>
                  <a:gd name="T9" fmla="*/ 0 h 537"/>
                  <a:gd name="T10" fmla="*/ 0 w 26"/>
                  <a:gd name="T11" fmla="*/ 0 h 537"/>
                  <a:gd name="T12" fmla="*/ 0 w 26"/>
                  <a:gd name="T13" fmla="*/ 0 h 537"/>
                  <a:gd name="T14" fmla="*/ 0 w 26"/>
                  <a:gd name="T15" fmla="*/ 0 h 537"/>
                  <a:gd name="T16" fmla="*/ 0 w 26"/>
                  <a:gd name="T17" fmla="*/ 0 h 537"/>
                  <a:gd name="T18" fmla="*/ 0 w 26"/>
                  <a:gd name="T19" fmla="*/ 0 h 537"/>
                  <a:gd name="T20" fmla="*/ 0 w 26"/>
                  <a:gd name="T21" fmla="*/ 0 h 537"/>
                  <a:gd name="T22" fmla="*/ 0 w 26"/>
                  <a:gd name="T23" fmla="*/ 0 h 537"/>
                  <a:gd name="T24" fmla="*/ 0 w 26"/>
                  <a:gd name="T25" fmla="*/ 0 h 537"/>
                  <a:gd name="T26" fmla="*/ 0 w 26"/>
                  <a:gd name="T27" fmla="*/ 0 h 537"/>
                  <a:gd name="T28" fmla="*/ 0 w 26"/>
                  <a:gd name="T29" fmla="*/ 0 h 537"/>
                  <a:gd name="T30" fmla="*/ 0 w 26"/>
                  <a:gd name="T31" fmla="*/ 0 h 537"/>
                  <a:gd name="T32" fmla="*/ 0 w 26"/>
                  <a:gd name="T33" fmla="*/ 0 h 537"/>
                  <a:gd name="T34" fmla="*/ 0 w 26"/>
                  <a:gd name="T35" fmla="*/ 0 h 537"/>
                  <a:gd name="T36" fmla="*/ 0 w 26"/>
                  <a:gd name="T37" fmla="*/ 0 h 5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37">
                    <a:moveTo>
                      <a:pt x="0" y="537"/>
                    </a:moveTo>
                    <a:lnTo>
                      <a:pt x="0" y="0"/>
                    </a:lnTo>
                    <a:lnTo>
                      <a:pt x="4" y="2"/>
                    </a:lnTo>
                    <a:lnTo>
                      <a:pt x="7" y="4"/>
                    </a:lnTo>
                    <a:lnTo>
                      <a:pt x="10" y="6"/>
                    </a:lnTo>
                    <a:lnTo>
                      <a:pt x="13" y="8"/>
                    </a:lnTo>
                    <a:lnTo>
                      <a:pt x="17" y="11"/>
                    </a:lnTo>
                    <a:lnTo>
                      <a:pt x="20" y="13"/>
                    </a:lnTo>
                    <a:lnTo>
                      <a:pt x="23" y="15"/>
                    </a:lnTo>
                    <a:lnTo>
                      <a:pt x="26" y="17"/>
                    </a:lnTo>
                    <a:lnTo>
                      <a:pt x="26" y="520"/>
                    </a:lnTo>
                    <a:lnTo>
                      <a:pt x="23" y="522"/>
                    </a:lnTo>
                    <a:lnTo>
                      <a:pt x="20" y="524"/>
                    </a:lnTo>
                    <a:lnTo>
                      <a:pt x="17" y="526"/>
                    </a:lnTo>
                    <a:lnTo>
                      <a:pt x="13" y="528"/>
                    </a:lnTo>
                    <a:lnTo>
                      <a:pt x="10" y="530"/>
                    </a:lnTo>
                    <a:lnTo>
                      <a:pt x="7" y="533"/>
                    </a:lnTo>
                    <a:lnTo>
                      <a:pt x="4" y="535"/>
                    </a:lnTo>
                    <a:lnTo>
                      <a:pt x="0" y="53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69" name="Freeform 3533"/>
              <p:cNvSpPr>
                <a:spLocks noChangeAspect="1"/>
              </p:cNvSpPr>
              <p:nvPr/>
            </p:nvSpPr>
            <p:spPr bwMode="auto">
              <a:xfrm>
                <a:off x="5455" y="1057"/>
                <a:ext cx="9" cy="174"/>
              </a:xfrm>
              <a:custGeom>
                <a:avLst/>
                <a:gdLst>
                  <a:gd name="T0" fmla="*/ 0 w 27"/>
                  <a:gd name="T1" fmla="*/ 0 h 520"/>
                  <a:gd name="T2" fmla="*/ 0 w 27"/>
                  <a:gd name="T3" fmla="*/ 0 h 520"/>
                  <a:gd name="T4" fmla="*/ 0 w 27"/>
                  <a:gd name="T5" fmla="*/ 0 h 520"/>
                  <a:gd name="T6" fmla="*/ 0 w 27"/>
                  <a:gd name="T7" fmla="*/ 0 h 520"/>
                  <a:gd name="T8" fmla="*/ 0 w 27"/>
                  <a:gd name="T9" fmla="*/ 0 h 520"/>
                  <a:gd name="T10" fmla="*/ 0 w 27"/>
                  <a:gd name="T11" fmla="*/ 0 h 520"/>
                  <a:gd name="T12" fmla="*/ 0 w 27"/>
                  <a:gd name="T13" fmla="*/ 0 h 520"/>
                  <a:gd name="T14" fmla="*/ 0 w 27"/>
                  <a:gd name="T15" fmla="*/ 0 h 520"/>
                  <a:gd name="T16" fmla="*/ 0 w 27"/>
                  <a:gd name="T17" fmla="*/ 0 h 520"/>
                  <a:gd name="T18" fmla="*/ 0 w 27"/>
                  <a:gd name="T19" fmla="*/ 0 h 520"/>
                  <a:gd name="T20" fmla="*/ 0 w 27"/>
                  <a:gd name="T21" fmla="*/ 0 h 520"/>
                  <a:gd name="T22" fmla="*/ 0 w 27"/>
                  <a:gd name="T23" fmla="*/ 0 h 520"/>
                  <a:gd name="T24" fmla="*/ 0 w 27"/>
                  <a:gd name="T25" fmla="*/ 0 h 520"/>
                  <a:gd name="T26" fmla="*/ 0 w 27"/>
                  <a:gd name="T27" fmla="*/ 0 h 520"/>
                  <a:gd name="T28" fmla="*/ 0 w 27"/>
                  <a:gd name="T29" fmla="*/ 0 h 520"/>
                  <a:gd name="T30" fmla="*/ 0 w 27"/>
                  <a:gd name="T31" fmla="*/ 0 h 520"/>
                  <a:gd name="T32" fmla="*/ 0 w 27"/>
                  <a:gd name="T33" fmla="*/ 0 h 520"/>
                  <a:gd name="T34" fmla="*/ 0 w 27"/>
                  <a:gd name="T35" fmla="*/ 0 h 520"/>
                  <a:gd name="T36" fmla="*/ 0 w 27"/>
                  <a:gd name="T37" fmla="*/ 0 h 5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20">
                    <a:moveTo>
                      <a:pt x="0" y="520"/>
                    </a:moveTo>
                    <a:lnTo>
                      <a:pt x="0" y="0"/>
                    </a:lnTo>
                    <a:lnTo>
                      <a:pt x="4" y="3"/>
                    </a:lnTo>
                    <a:lnTo>
                      <a:pt x="7" y="5"/>
                    </a:lnTo>
                    <a:lnTo>
                      <a:pt x="10" y="7"/>
                    </a:lnTo>
                    <a:lnTo>
                      <a:pt x="14" y="9"/>
                    </a:lnTo>
                    <a:lnTo>
                      <a:pt x="18" y="12"/>
                    </a:lnTo>
                    <a:lnTo>
                      <a:pt x="21" y="14"/>
                    </a:lnTo>
                    <a:lnTo>
                      <a:pt x="24" y="16"/>
                    </a:lnTo>
                    <a:lnTo>
                      <a:pt x="27" y="20"/>
                    </a:lnTo>
                    <a:lnTo>
                      <a:pt x="27" y="501"/>
                    </a:lnTo>
                    <a:lnTo>
                      <a:pt x="24" y="504"/>
                    </a:lnTo>
                    <a:lnTo>
                      <a:pt x="21" y="507"/>
                    </a:lnTo>
                    <a:lnTo>
                      <a:pt x="18" y="509"/>
                    </a:lnTo>
                    <a:lnTo>
                      <a:pt x="14" y="511"/>
                    </a:lnTo>
                    <a:lnTo>
                      <a:pt x="10" y="514"/>
                    </a:lnTo>
                    <a:lnTo>
                      <a:pt x="7" y="516"/>
                    </a:lnTo>
                    <a:lnTo>
                      <a:pt x="4" y="518"/>
                    </a:lnTo>
                    <a:lnTo>
                      <a:pt x="0" y="5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70" name="Freeform 3534"/>
              <p:cNvSpPr>
                <a:spLocks noChangeAspect="1"/>
              </p:cNvSpPr>
              <p:nvPr/>
            </p:nvSpPr>
            <p:spPr bwMode="auto">
              <a:xfrm>
                <a:off x="5459" y="1060"/>
                <a:ext cx="9" cy="168"/>
              </a:xfrm>
              <a:custGeom>
                <a:avLst/>
                <a:gdLst>
                  <a:gd name="T0" fmla="*/ 0 w 27"/>
                  <a:gd name="T1" fmla="*/ 0 h 503"/>
                  <a:gd name="T2" fmla="*/ 0 w 27"/>
                  <a:gd name="T3" fmla="*/ 0 h 503"/>
                  <a:gd name="T4" fmla="*/ 0 w 27"/>
                  <a:gd name="T5" fmla="*/ 0 h 503"/>
                  <a:gd name="T6" fmla="*/ 0 w 27"/>
                  <a:gd name="T7" fmla="*/ 0 h 503"/>
                  <a:gd name="T8" fmla="*/ 0 w 27"/>
                  <a:gd name="T9" fmla="*/ 0 h 503"/>
                  <a:gd name="T10" fmla="*/ 0 w 27"/>
                  <a:gd name="T11" fmla="*/ 0 h 503"/>
                  <a:gd name="T12" fmla="*/ 0 w 27"/>
                  <a:gd name="T13" fmla="*/ 0 h 503"/>
                  <a:gd name="T14" fmla="*/ 0 w 27"/>
                  <a:gd name="T15" fmla="*/ 0 h 503"/>
                  <a:gd name="T16" fmla="*/ 0 w 27"/>
                  <a:gd name="T17" fmla="*/ 0 h 503"/>
                  <a:gd name="T18" fmla="*/ 0 w 27"/>
                  <a:gd name="T19" fmla="*/ 0 h 503"/>
                  <a:gd name="T20" fmla="*/ 0 w 27"/>
                  <a:gd name="T21" fmla="*/ 0 h 503"/>
                  <a:gd name="T22" fmla="*/ 0 w 27"/>
                  <a:gd name="T23" fmla="*/ 0 h 503"/>
                  <a:gd name="T24" fmla="*/ 0 w 27"/>
                  <a:gd name="T25" fmla="*/ 0 h 503"/>
                  <a:gd name="T26" fmla="*/ 0 w 27"/>
                  <a:gd name="T27" fmla="*/ 0 h 503"/>
                  <a:gd name="T28" fmla="*/ 0 w 27"/>
                  <a:gd name="T29" fmla="*/ 0 h 503"/>
                  <a:gd name="T30" fmla="*/ 0 w 27"/>
                  <a:gd name="T31" fmla="*/ 0 h 503"/>
                  <a:gd name="T32" fmla="*/ 0 w 27"/>
                  <a:gd name="T33" fmla="*/ 0 h 503"/>
                  <a:gd name="T34" fmla="*/ 0 w 27"/>
                  <a:gd name="T35" fmla="*/ 0 h 503"/>
                  <a:gd name="T36" fmla="*/ 0 w 27"/>
                  <a:gd name="T37" fmla="*/ 0 h 5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03">
                    <a:moveTo>
                      <a:pt x="0" y="503"/>
                    </a:moveTo>
                    <a:lnTo>
                      <a:pt x="0" y="0"/>
                    </a:lnTo>
                    <a:lnTo>
                      <a:pt x="5" y="2"/>
                    </a:lnTo>
                    <a:lnTo>
                      <a:pt x="8" y="5"/>
                    </a:lnTo>
                    <a:lnTo>
                      <a:pt x="11" y="7"/>
                    </a:lnTo>
                    <a:lnTo>
                      <a:pt x="14" y="11"/>
                    </a:lnTo>
                    <a:lnTo>
                      <a:pt x="17" y="13"/>
                    </a:lnTo>
                    <a:lnTo>
                      <a:pt x="20" y="16"/>
                    </a:lnTo>
                    <a:lnTo>
                      <a:pt x="24" y="18"/>
                    </a:lnTo>
                    <a:lnTo>
                      <a:pt x="27" y="21"/>
                    </a:lnTo>
                    <a:lnTo>
                      <a:pt x="27" y="482"/>
                    </a:lnTo>
                    <a:lnTo>
                      <a:pt x="24" y="484"/>
                    </a:lnTo>
                    <a:lnTo>
                      <a:pt x="20" y="487"/>
                    </a:lnTo>
                    <a:lnTo>
                      <a:pt x="17" y="490"/>
                    </a:lnTo>
                    <a:lnTo>
                      <a:pt x="14" y="492"/>
                    </a:lnTo>
                    <a:lnTo>
                      <a:pt x="11" y="495"/>
                    </a:lnTo>
                    <a:lnTo>
                      <a:pt x="8" y="498"/>
                    </a:lnTo>
                    <a:lnTo>
                      <a:pt x="5" y="500"/>
                    </a:lnTo>
                    <a:lnTo>
                      <a:pt x="0" y="50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71" name="Freeform 3535"/>
              <p:cNvSpPr>
                <a:spLocks noChangeAspect="1"/>
              </p:cNvSpPr>
              <p:nvPr/>
            </p:nvSpPr>
            <p:spPr bwMode="auto">
              <a:xfrm>
                <a:off x="5464" y="1064"/>
                <a:ext cx="9" cy="160"/>
              </a:xfrm>
              <a:custGeom>
                <a:avLst/>
                <a:gdLst>
                  <a:gd name="T0" fmla="*/ 0 w 27"/>
                  <a:gd name="T1" fmla="*/ 0 h 481"/>
                  <a:gd name="T2" fmla="*/ 0 w 27"/>
                  <a:gd name="T3" fmla="*/ 0 h 481"/>
                  <a:gd name="T4" fmla="*/ 0 w 27"/>
                  <a:gd name="T5" fmla="*/ 0 h 481"/>
                  <a:gd name="T6" fmla="*/ 0 w 27"/>
                  <a:gd name="T7" fmla="*/ 0 h 481"/>
                  <a:gd name="T8" fmla="*/ 0 w 27"/>
                  <a:gd name="T9" fmla="*/ 0 h 481"/>
                  <a:gd name="T10" fmla="*/ 0 w 27"/>
                  <a:gd name="T11" fmla="*/ 0 h 481"/>
                  <a:gd name="T12" fmla="*/ 0 w 27"/>
                  <a:gd name="T13" fmla="*/ 0 h 481"/>
                  <a:gd name="T14" fmla="*/ 0 w 27"/>
                  <a:gd name="T15" fmla="*/ 0 h 481"/>
                  <a:gd name="T16" fmla="*/ 0 w 27"/>
                  <a:gd name="T17" fmla="*/ 0 h 481"/>
                  <a:gd name="T18" fmla="*/ 0 w 27"/>
                  <a:gd name="T19" fmla="*/ 0 h 481"/>
                  <a:gd name="T20" fmla="*/ 0 w 27"/>
                  <a:gd name="T21" fmla="*/ 0 h 481"/>
                  <a:gd name="T22" fmla="*/ 0 w 27"/>
                  <a:gd name="T23" fmla="*/ 0 h 481"/>
                  <a:gd name="T24" fmla="*/ 0 w 27"/>
                  <a:gd name="T25" fmla="*/ 0 h 481"/>
                  <a:gd name="T26" fmla="*/ 0 w 27"/>
                  <a:gd name="T27" fmla="*/ 0 h 481"/>
                  <a:gd name="T28" fmla="*/ 0 w 27"/>
                  <a:gd name="T29" fmla="*/ 0 h 481"/>
                  <a:gd name="T30" fmla="*/ 0 w 27"/>
                  <a:gd name="T31" fmla="*/ 0 h 481"/>
                  <a:gd name="T32" fmla="*/ 0 w 27"/>
                  <a:gd name="T33" fmla="*/ 0 h 481"/>
                  <a:gd name="T34" fmla="*/ 0 w 27"/>
                  <a:gd name="T35" fmla="*/ 0 h 481"/>
                  <a:gd name="T36" fmla="*/ 0 w 27"/>
                  <a:gd name="T37" fmla="*/ 0 h 48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81">
                    <a:moveTo>
                      <a:pt x="0" y="481"/>
                    </a:moveTo>
                    <a:lnTo>
                      <a:pt x="0" y="0"/>
                    </a:lnTo>
                    <a:lnTo>
                      <a:pt x="3" y="2"/>
                    </a:lnTo>
                    <a:lnTo>
                      <a:pt x="6" y="5"/>
                    </a:lnTo>
                    <a:lnTo>
                      <a:pt x="10" y="8"/>
                    </a:lnTo>
                    <a:lnTo>
                      <a:pt x="14" y="10"/>
                    </a:lnTo>
                    <a:lnTo>
                      <a:pt x="17" y="13"/>
                    </a:lnTo>
                    <a:lnTo>
                      <a:pt x="20" y="17"/>
                    </a:lnTo>
                    <a:lnTo>
                      <a:pt x="24" y="20"/>
                    </a:lnTo>
                    <a:lnTo>
                      <a:pt x="27" y="23"/>
                    </a:lnTo>
                    <a:lnTo>
                      <a:pt x="27" y="458"/>
                    </a:lnTo>
                    <a:lnTo>
                      <a:pt x="24" y="461"/>
                    </a:lnTo>
                    <a:lnTo>
                      <a:pt x="20" y="464"/>
                    </a:lnTo>
                    <a:lnTo>
                      <a:pt x="17" y="467"/>
                    </a:lnTo>
                    <a:lnTo>
                      <a:pt x="14" y="471"/>
                    </a:lnTo>
                    <a:lnTo>
                      <a:pt x="10" y="473"/>
                    </a:lnTo>
                    <a:lnTo>
                      <a:pt x="6" y="476"/>
                    </a:lnTo>
                    <a:lnTo>
                      <a:pt x="3" y="479"/>
                    </a:lnTo>
                    <a:lnTo>
                      <a:pt x="0" y="4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72" name="Freeform 3536"/>
              <p:cNvSpPr>
                <a:spLocks noChangeAspect="1"/>
              </p:cNvSpPr>
              <p:nvPr/>
            </p:nvSpPr>
            <p:spPr bwMode="auto">
              <a:xfrm>
                <a:off x="5468" y="1067"/>
                <a:ext cx="9" cy="154"/>
              </a:xfrm>
              <a:custGeom>
                <a:avLst/>
                <a:gdLst>
                  <a:gd name="T0" fmla="*/ 0 w 26"/>
                  <a:gd name="T1" fmla="*/ 0 h 461"/>
                  <a:gd name="T2" fmla="*/ 0 w 26"/>
                  <a:gd name="T3" fmla="*/ 0 h 461"/>
                  <a:gd name="T4" fmla="*/ 0 w 26"/>
                  <a:gd name="T5" fmla="*/ 0 h 461"/>
                  <a:gd name="T6" fmla="*/ 0 w 26"/>
                  <a:gd name="T7" fmla="*/ 0 h 461"/>
                  <a:gd name="T8" fmla="*/ 0 w 26"/>
                  <a:gd name="T9" fmla="*/ 0 h 461"/>
                  <a:gd name="T10" fmla="*/ 0 w 26"/>
                  <a:gd name="T11" fmla="*/ 0 h 461"/>
                  <a:gd name="T12" fmla="*/ 0 w 26"/>
                  <a:gd name="T13" fmla="*/ 0 h 461"/>
                  <a:gd name="T14" fmla="*/ 0 w 26"/>
                  <a:gd name="T15" fmla="*/ 0 h 461"/>
                  <a:gd name="T16" fmla="*/ 0 w 26"/>
                  <a:gd name="T17" fmla="*/ 0 h 461"/>
                  <a:gd name="T18" fmla="*/ 0 w 26"/>
                  <a:gd name="T19" fmla="*/ 0 h 461"/>
                  <a:gd name="T20" fmla="*/ 0 w 26"/>
                  <a:gd name="T21" fmla="*/ 0 h 461"/>
                  <a:gd name="T22" fmla="*/ 0 w 26"/>
                  <a:gd name="T23" fmla="*/ 0 h 461"/>
                  <a:gd name="T24" fmla="*/ 0 w 26"/>
                  <a:gd name="T25" fmla="*/ 0 h 461"/>
                  <a:gd name="T26" fmla="*/ 0 w 26"/>
                  <a:gd name="T27" fmla="*/ 0 h 461"/>
                  <a:gd name="T28" fmla="*/ 0 w 26"/>
                  <a:gd name="T29" fmla="*/ 0 h 461"/>
                  <a:gd name="T30" fmla="*/ 0 w 26"/>
                  <a:gd name="T31" fmla="*/ 0 h 461"/>
                  <a:gd name="T32" fmla="*/ 0 w 26"/>
                  <a:gd name="T33" fmla="*/ 0 h 461"/>
                  <a:gd name="T34" fmla="*/ 0 w 26"/>
                  <a:gd name="T35" fmla="*/ 0 h 461"/>
                  <a:gd name="T36" fmla="*/ 0 w 26"/>
                  <a:gd name="T37" fmla="*/ 0 h 4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61">
                    <a:moveTo>
                      <a:pt x="0" y="461"/>
                    </a:moveTo>
                    <a:lnTo>
                      <a:pt x="0" y="0"/>
                    </a:lnTo>
                    <a:lnTo>
                      <a:pt x="4" y="3"/>
                    </a:lnTo>
                    <a:lnTo>
                      <a:pt x="7" y="7"/>
                    </a:lnTo>
                    <a:lnTo>
                      <a:pt x="11" y="10"/>
                    </a:lnTo>
                    <a:lnTo>
                      <a:pt x="14" y="13"/>
                    </a:lnTo>
                    <a:lnTo>
                      <a:pt x="17" y="16"/>
                    </a:lnTo>
                    <a:lnTo>
                      <a:pt x="20" y="19"/>
                    </a:lnTo>
                    <a:lnTo>
                      <a:pt x="23" y="23"/>
                    </a:lnTo>
                    <a:lnTo>
                      <a:pt x="26" y="27"/>
                    </a:lnTo>
                    <a:lnTo>
                      <a:pt x="26" y="434"/>
                    </a:lnTo>
                    <a:lnTo>
                      <a:pt x="23" y="437"/>
                    </a:lnTo>
                    <a:lnTo>
                      <a:pt x="20" y="441"/>
                    </a:lnTo>
                    <a:lnTo>
                      <a:pt x="17" y="445"/>
                    </a:lnTo>
                    <a:lnTo>
                      <a:pt x="14" y="448"/>
                    </a:lnTo>
                    <a:lnTo>
                      <a:pt x="11" y="451"/>
                    </a:lnTo>
                    <a:lnTo>
                      <a:pt x="7" y="454"/>
                    </a:lnTo>
                    <a:lnTo>
                      <a:pt x="4" y="457"/>
                    </a:lnTo>
                    <a:lnTo>
                      <a:pt x="0" y="46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73" name="Freeform 3537"/>
              <p:cNvSpPr>
                <a:spLocks noChangeAspect="1"/>
              </p:cNvSpPr>
              <p:nvPr/>
            </p:nvSpPr>
            <p:spPr bwMode="auto">
              <a:xfrm>
                <a:off x="5473" y="1072"/>
                <a:ext cx="9" cy="145"/>
              </a:xfrm>
              <a:custGeom>
                <a:avLst/>
                <a:gdLst>
                  <a:gd name="T0" fmla="*/ 0 w 26"/>
                  <a:gd name="T1" fmla="*/ 0 h 435"/>
                  <a:gd name="T2" fmla="*/ 0 w 26"/>
                  <a:gd name="T3" fmla="*/ 0 h 435"/>
                  <a:gd name="T4" fmla="*/ 0 w 26"/>
                  <a:gd name="T5" fmla="*/ 0 h 435"/>
                  <a:gd name="T6" fmla="*/ 0 w 26"/>
                  <a:gd name="T7" fmla="*/ 0 h 435"/>
                  <a:gd name="T8" fmla="*/ 0 w 26"/>
                  <a:gd name="T9" fmla="*/ 0 h 435"/>
                  <a:gd name="T10" fmla="*/ 0 w 26"/>
                  <a:gd name="T11" fmla="*/ 0 h 435"/>
                  <a:gd name="T12" fmla="*/ 0 w 26"/>
                  <a:gd name="T13" fmla="*/ 0 h 435"/>
                  <a:gd name="T14" fmla="*/ 0 w 26"/>
                  <a:gd name="T15" fmla="*/ 0 h 435"/>
                  <a:gd name="T16" fmla="*/ 0 w 26"/>
                  <a:gd name="T17" fmla="*/ 0 h 435"/>
                  <a:gd name="T18" fmla="*/ 0 w 26"/>
                  <a:gd name="T19" fmla="*/ 0 h 435"/>
                  <a:gd name="T20" fmla="*/ 0 w 26"/>
                  <a:gd name="T21" fmla="*/ 0 h 435"/>
                  <a:gd name="T22" fmla="*/ 0 w 26"/>
                  <a:gd name="T23" fmla="*/ 0 h 435"/>
                  <a:gd name="T24" fmla="*/ 0 w 26"/>
                  <a:gd name="T25" fmla="*/ 0 h 435"/>
                  <a:gd name="T26" fmla="*/ 0 w 26"/>
                  <a:gd name="T27" fmla="*/ 0 h 435"/>
                  <a:gd name="T28" fmla="*/ 0 w 26"/>
                  <a:gd name="T29" fmla="*/ 0 h 435"/>
                  <a:gd name="T30" fmla="*/ 0 w 26"/>
                  <a:gd name="T31" fmla="*/ 0 h 435"/>
                  <a:gd name="T32" fmla="*/ 0 w 26"/>
                  <a:gd name="T33" fmla="*/ 0 h 435"/>
                  <a:gd name="T34" fmla="*/ 0 w 26"/>
                  <a:gd name="T35" fmla="*/ 0 h 435"/>
                  <a:gd name="T36" fmla="*/ 0 w 26"/>
                  <a:gd name="T37" fmla="*/ 0 h 4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35">
                    <a:moveTo>
                      <a:pt x="0" y="435"/>
                    </a:moveTo>
                    <a:lnTo>
                      <a:pt x="0" y="0"/>
                    </a:lnTo>
                    <a:lnTo>
                      <a:pt x="3" y="3"/>
                    </a:lnTo>
                    <a:lnTo>
                      <a:pt x="6" y="6"/>
                    </a:lnTo>
                    <a:lnTo>
                      <a:pt x="10" y="11"/>
                    </a:lnTo>
                    <a:lnTo>
                      <a:pt x="14" y="14"/>
                    </a:lnTo>
                    <a:lnTo>
                      <a:pt x="17" y="18"/>
                    </a:lnTo>
                    <a:lnTo>
                      <a:pt x="20" y="21"/>
                    </a:lnTo>
                    <a:lnTo>
                      <a:pt x="23" y="25"/>
                    </a:lnTo>
                    <a:lnTo>
                      <a:pt x="26" y="29"/>
                    </a:lnTo>
                    <a:lnTo>
                      <a:pt x="26" y="405"/>
                    </a:lnTo>
                    <a:lnTo>
                      <a:pt x="23" y="409"/>
                    </a:lnTo>
                    <a:lnTo>
                      <a:pt x="20" y="414"/>
                    </a:lnTo>
                    <a:lnTo>
                      <a:pt x="17" y="417"/>
                    </a:lnTo>
                    <a:lnTo>
                      <a:pt x="14" y="421"/>
                    </a:lnTo>
                    <a:lnTo>
                      <a:pt x="10" y="424"/>
                    </a:lnTo>
                    <a:lnTo>
                      <a:pt x="6" y="428"/>
                    </a:lnTo>
                    <a:lnTo>
                      <a:pt x="3" y="432"/>
                    </a:lnTo>
                    <a:lnTo>
                      <a:pt x="0" y="43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74" name="Freeform 3538"/>
              <p:cNvSpPr>
                <a:spLocks noChangeAspect="1"/>
              </p:cNvSpPr>
              <p:nvPr/>
            </p:nvSpPr>
            <p:spPr bwMode="auto">
              <a:xfrm>
                <a:off x="5477" y="1076"/>
                <a:ext cx="9" cy="136"/>
              </a:xfrm>
              <a:custGeom>
                <a:avLst/>
                <a:gdLst>
                  <a:gd name="T0" fmla="*/ 0 w 27"/>
                  <a:gd name="T1" fmla="*/ 0 h 407"/>
                  <a:gd name="T2" fmla="*/ 0 w 27"/>
                  <a:gd name="T3" fmla="*/ 0 h 407"/>
                  <a:gd name="T4" fmla="*/ 0 w 27"/>
                  <a:gd name="T5" fmla="*/ 0 h 407"/>
                  <a:gd name="T6" fmla="*/ 0 w 27"/>
                  <a:gd name="T7" fmla="*/ 0 h 407"/>
                  <a:gd name="T8" fmla="*/ 0 w 27"/>
                  <a:gd name="T9" fmla="*/ 0 h 407"/>
                  <a:gd name="T10" fmla="*/ 0 w 27"/>
                  <a:gd name="T11" fmla="*/ 0 h 407"/>
                  <a:gd name="T12" fmla="*/ 0 w 27"/>
                  <a:gd name="T13" fmla="*/ 0 h 407"/>
                  <a:gd name="T14" fmla="*/ 0 w 27"/>
                  <a:gd name="T15" fmla="*/ 0 h 407"/>
                  <a:gd name="T16" fmla="*/ 0 w 27"/>
                  <a:gd name="T17" fmla="*/ 0 h 407"/>
                  <a:gd name="T18" fmla="*/ 0 w 27"/>
                  <a:gd name="T19" fmla="*/ 0 h 407"/>
                  <a:gd name="T20" fmla="*/ 0 w 27"/>
                  <a:gd name="T21" fmla="*/ 0 h 407"/>
                  <a:gd name="T22" fmla="*/ 0 w 27"/>
                  <a:gd name="T23" fmla="*/ 0 h 407"/>
                  <a:gd name="T24" fmla="*/ 0 w 27"/>
                  <a:gd name="T25" fmla="*/ 0 h 407"/>
                  <a:gd name="T26" fmla="*/ 0 w 27"/>
                  <a:gd name="T27" fmla="*/ 0 h 407"/>
                  <a:gd name="T28" fmla="*/ 0 w 27"/>
                  <a:gd name="T29" fmla="*/ 0 h 407"/>
                  <a:gd name="T30" fmla="*/ 0 w 27"/>
                  <a:gd name="T31" fmla="*/ 0 h 407"/>
                  <a:gd name="T32" fmla="*/ 0 w 27"/>
                  <a:gd name="T33" fmla="*/ 0 h 407"/>
                  <a:gd name="T34" fmla="*/ 0 w 27"/>
                  <a:gd name="T35" fmla="*/ 0 h 407"/>
                  <a:gd name="T36" fmla="*/ 0 w 27"/>
                  <a:gd name="T37" fmla="*/ 0 h 40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07">
                    <a:moveTo>
                      <a:pt x="0" y="407"/>
                    </a:moveTo>
                    <a:lnTo>
                      <a:pt x="0" y="0"/>
                    </a:lnTo>
                    <a:lnTo>
                      <a:pt x="5" y="3"/>
                    </a:lnTo>
                    <a:lnTo>
                      <a:pt x="8" y="7"/>
                    </a:lnTo>
                    <a:lnTo>
                      <a:pt x="11" y="11"/>
                    </a:lnTo>
                    <a:lnTo>
                      <a:pt x="14" y="16"/>
                    </a:lnTo>
                    <a:lnTo>
                      <a:pt x="17" y="20"/>
                    </a:lnTo>
                    <a:lnTo>
                      <a:pt x="21" y="24"/>
                    </a:lnTo>
                    <a:lnTo>
                      <a:pt x="24" y="29"/>
                    </a:lnTo>
                    <a:lnTo>
                      <a:pt x="27" y="33"/>
                    </a:lnTo>
                    <a:lnTo>
                      <a:pt x="27" y="373"/>
                    </a:lnTo>
                    <a:lnTo>
                      <a:pt x="24" y="378"/>
                    </a:lnTo>
                    <a:lnTo>
                      <a:pt x="21" y="383"/>
                    </a:lnTo>
                    <a:lnTo>
                      <a:pt x="17" y="387"/>
                    </a:lnTo>
                    <a:lnTo>
                      <a:pt x="14" y="391"/>
                    </a:lnTo>
                    <a:lnTo>
                      <a:pt x="11" y="395"/>
                    </a:lnTo>
                    <a:lnTo>
                      <a:pt x="8" y="400"/>
                    </a:lnTo>
                    <a:lnTo>
                      <a:pt x="5" y="403"/>
                    </a:lnTo>
                    <a:lnTo>
                      <a:pt x="0" y="4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75" name="Freeform 3539"/>
              <p:cNvSpPr>
                <a:spLocks noChangeAspect="1"/>
              </p:cNvSpPr>
              <p:nvPr/>
            </p:nvSpPr>
            <p:spPr bwMode="auto">
              <a:xfrm>
                <a:off x="5482" y="1081"/>
                <a:ext cx="9" cy="126"/>
              </a:xfrm>
              <a:custGeom>
                <a:avLst/>
                <a:gdLst>
                  <a:gd name="T0" fmla="*/ 0 w 27"/>
                  <a:gd name="T1" fmla="*/ 0 h 376"/>
                  <a:gd name="T2" fmla="*/ 0 w 27"/>
                  <a:gd name="T3" fmla="*/ 0 h 376"/>
                  <a:gd name="T4" fmla="*/ 0 w 27"/>
                  <a:gd name="T5" fmla="*/ 0 h 376"/>
                  <a:gd name="T6" fmla="*/ 0 w 27"/>
                  <a:gd name="T7" fmla="*/ 0 h 376"/>
                  <a:gd name="T8" fmla="*/ 0 w 27"/>
                  <a:gd name="T9" fmla="*/ 0 h 376"/>
                  <a:gd name="T10" fmla="*/ 0 w 27"/>
                  <a:gd name="T11" fmla="*/ 0 h 376"/>
                  <a:gd name="T12" fmla="*/ 0 w 27"/>
                  <a:gd name="T13" fmla="*/ 0 h 376"/>
                  <a:gd name="T14" fmla="*/ 0 w 27"/>
                  <a:gd name="T15" fmla="*/ 0 h 376"/>
                  <a:gd name="T16" fmla="*/ 0 w 27"/>
                  <a:gd name="T17" fmla="*/ 0 h 376"/>
                  <a:gd name="T18" fmla="*/ 0 w 27"/>
                  <a:gd name="T19" fmla="*/ 0 h 376"/>
                  <a:gd name="T20" fmla="*/ 0 w 27"/>
                  <a:gd name="T21" fmla="*/ 0 h 376"/>
                  <a:gd name="T22" fmla="*/ 0 w 27"/>
                  <a:gd name="T23" fmla="*/ 0 h 376"/>
                  <a:gd name="T24" fmla="*/ 0 w 27"/>
                  <a:gd name="T25" fmla="*/ 0 h 376"/>
                  <a:gd name="T26" fmla="*/ 0 w 27"/>
                  <a:gd name="T27" fmla="*/ 0 h 376"/>
                  <a:gd name="T28" fmla="*/ 0 w 27"/>
                  <a:gd name="T29" fmla="*/ 0 h 376"/>
                  <a:gd name="T30" fmla="*/ 0 w 27"/>
                  <a:gd name="T31" fmla="*/ 0 h 376"/>
                  <a:gd name="T32" fmla="*/ 0 w 27"/>
                  <a:gd name="T33" fmla="*/ 0 h 376"/>
                  <a:gd name="T34" fmla="*/ 0 w 27"/>
                  <a:gd name="T35" fmla="*/ 0 h 376"/>
                  <a:gd name="T36" fmla="*/ 0 w 27"/>
                  <a:gd name="T37" fmla="*/ 0 h 3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376">
                    <a:moveTo>
                      <a:pt x="0" y="376"/>
                    </a:moveTo>
                    <a:lnTo>
                      <a:pt x="0" y="0"/>
                    </a:lnTo>
                    <a:lnTo>
                      <a:pt x="3" y="5"/>
                    </a:lnTo>
                    <a:lnTo>
                      <a:pt x="7" y="9"/>
                    </a:lnTo>
                    <a:lnTo>
                      <a:pt x="11" y="15"/>
                    </a:lnTo>
                    <a:lnTo>
                      <a:pt x="14" y="19"/>
                    </a:lnTo>
                    <a:lnTo>
                      <a:pt x="17" y="24"/>
                    </a:lnTo>
                    <a:lnTo>
                      <a:pt x="21" y="29"/>
                    </a:lnTo>
                    <a:lnTo>
                      <a:pt x="24" y="34"/>
                    </a:lnTo>
                    <a:lnTo>
                      <a:pt x="27" y="39"/>
                    </a:lnTo>
                    <a:lnTo>
                      <a:pt x="27" y="338"/>
                    </a:lnTo>
                    <a:lnTo>
                      <a:pt x="24" y="342"/>
                    </a:lnTo>
                    <a:lnTo>
                      <a:pt x="21" y="347"/>
                    </a:lnTo>
                    <a:lnTo>
                      <a:pt x="17" y="353"/>
                    </a:lnTo>
                    <a:lnTo>
                      <a:pt x="14" y="357"/>
                    </a:lnTo>
                    <a:lnTo>
                      <a:pt x="11" y="362"/>
                    </a:lnTo>
                    <a:lnTo>
                      <a:pt x="7" y="368"/>
                    </a:lnTo>
                    <a:lnTo>
                      <a:pt x="3" y="372"/>
                    </a:lnTo>
                    <a:lnTo>
                      <a:pt x="0" y="37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76" name="Freeform 3540"/>
              <p:cNvSpPr>
                <a:spLocks noChangeAspect="1"/>
              </p:cNvSpPr>
              <p:nvPr/>
            </p:nvSpPr>
            <p:spPr bwMode="auto">
              <a:xfrm>
                <a:off x="5486" y="1087"/>
                <a:ext cx="9" cy="114"/>
              </a:xfrm>
              <a:custGeom>
                <a:avLst/>
                <a:gdLst>
                  <a:gd name="T0" fmla="*/ 0 w 27"/>
                  <a:gd name="T1" fmla="*/ 0 h 340"/>
                  <a:gd name="T2" fmla="*/ 0 w 27"/>
                  <a:gd name="T3" fmla="*/ 0 h 340"/>
                  <a:gd name="T4" fmla="*/ 0 w 27"/>
                  <a:gd name="T5" fmla="*/ 0 h 340"/>
                  <a:gd name="T6" fmla="*/ 0 w 27"/>
                  <a:gd name="T7" fmla="*/ 0 h 340"/>
                  <a:gd name="T8" fmla="*/ 0 w 27"/>
                  <a:gd name="T9" fmla="*/ 0 h 340"/>
                  <a:gd name="T10" fmla="*/ 0 w 27"/>
                  <a:gd name="T11" fmla="*/ 0 h 340"/>
                  <a:gd name="T12" fmla="*/ 0 w 27"/>
                  <a:gd name="T13" fmla="*/ 0 h 340"/>
                  <a:gd name="T14" fmla="*/ 0 w 27"/>
                  <a:gd name="T15" fmla="*/ 0 h 340"/>
                  <a:gd name="T16" fmla="*/ 0 w 27"/>
                  <a:gd name="T17" fmla="*/ 0 h 340"/>
                  <a:gd name="T18" fmla="*/ 0 w 27"/>
                  <a:gd name="T19" fmla="*/ 0 h 340"/>
                  <a:gd name="T20" fmla="*/ 0 w 27"/>
                  <a:gd name="T21" fmla="*/ 0 h 340"/>
                  <a:gd name="T22" fmla="*/ 0 w 27"/>
                  <a:gd name="T23" fmla="*/ 0 h 340"/>
                  <a:gd name="T24" fmla="*/ 0 w 27"/>
                  <a:gd name="T25" fmla="*/ 0 h 340"/>
                  <a:gd name="T26" fmla="*/ 0 w 27"/>
                  <a:gd name="T27" fmla="*/ 0 h 340"/>
                  <a:gd name="T28" fmla="*/ 0 w 27"/>
                  <a:gd name="T29" fmla="*/ 0 h 340"/>
                  <a:gd name="T30" fmla="*/ 0 w 27"/>
                  <a:gd name="T31" fmla="*/ 0 h 340"/>
                  <a:gd name="T32" fmla="*/ 0 w 27"/>
                  <a:gd name="T33" fmla="*/ 0 h 340"/>
                  <a:gd name="T34" fmla="*/ 0 w 27"/>
                  <a:gd name="T35" fmla="*/ 0 h 340"/>
                  <a:gd name="T36" fmla="*/ 0 w 27"/>
                  <a:gd name="T37" fmla="*/ 0 h 3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340">
                    <a:moveTo>
                      <a:pt x="0" y="340"/>
                    </a:moveTo>
                    <a:lnTo>
                      <a:pt x="0" y="0"/>
                    </a:lnTo>
                    <a:lnTo>
                      <a:pt x="4" y="6"/>
                    </a:lnTo>
                    <a:lnTo>
                      <a:pt x="8" y="11"/>
                    </a:lnTo>
                    <a:lnTo>
                      <a:pt x="11" y="17"/>
                    </a:lnTo>
                    <a:lnTo>
                      <a:pt x="15" y="23"/>
                    </a:lnTo>
                    <a:lnTo>
                      <a:pt x="18" y="30"/>
                    </a:lnTo>
                    <a:lnTo>
                      <a:pt x="21" y="35"/>
                    </a:lnTo>
                    <a:lnTo>
                      <a:pt x="23" y="41"/>
                    </a:lnTo>
                    <a:lnTo>
                      <a:pt x="27" y="48"/>
                    </a:lnTo>
                    <a:lnTo>
                      <a:pt x="27" y="293"/>
                    </a:lnTo>
                    <a:lnTo>
                      <a:pt x="23" y="300"/>
                    </a:lnTo>
                    <a:lnTo>
                      <a:pt x="21" y="306"/>
                    </a:lnTo>
                    <a:lnTo>
                      <a:pt x="18" y="311"/>
                    </a:lnTo>
                    <a:lnTo>
                      <a:pt x="15" y="318"/>
                    </a:lnTo>
                    <a:lnTo>
                      <a:pt x="11" y="323"/>
                    </a:lnTo>
                    <a:lnTo>
                      <a:pt x="8" y="329"/>
                    </a:lnTo>
                    <a:lnTo>
                      <a:pt x="4" y="335"/>
                    </a:lnTo>
                    <a:lnTo>
                      <a:pt x="0" y="34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77" name="Freeform 3541"/>
              <p:cNvSpPr>
                <a:spLocks noChangeAspect="1"/>
              </p:cNvSpPr>
              <p:nvPr/>
            </p:nvSpPr>
            <p:spPr bwMode="auto">
              <a:xfrm>
                <a:off x="5491" y="1094"/>
                <a:ext cx="9" cy="100"/>
              </a:xfrm>
              <a:custGeom>
                <a:avLst/>
                <a:gdLst>
                  <a:gd name="T0" fmla="*/ 0 w 27"/>
                  <a:gd name="T1" fmla="*/ 0 h 299"/>
                  <a:gd name="T2" fmla="*/ 0 w 27"/>
                  <a:gd name="T3" fmla="*/ 0 h 299"/>
                  <a:gd name="T4" fmla="*/ 0 w 27"/>
                  <a:gd name="T5" fmla="*/ 0 h 299"/>
                  <a:gd name="T6" fmla="*/ 0 w 27"/>
                  <a:gd name="T7" fmla="*/ 0 h 299"/>
                  <a:gd name="T8" fmla="*/ 0 w 27"/>
                  <a:gd name="T9" fmla="*/ 0 h 299"/>
                  <a:gd name="T10" fmla="*/ 0 w 27"/>
                  <a:gd name="T11" fmla="*/ 0 h 299"/>
                  <a:gd name="T12" fmla="*/ 0 w 27"/>
                  <a:gd name="T13" fmla="*/ 0 h 299"/>
                  <a:gd name="T14" fmla="*/ 0 w 27"/>
                  <a:gd name="T15" fmla="*/ 0 h 299"/>
                  <a:gd name="T16" fmla="*/ 0 w 27"/>
                  <a:gd name="T17" fmla="*/ 0 h 299"/>
                  <a:gd name="T18" fmla="*/ 0 w 27"/>
                  <a:gd name="T19" fmla="*/ 0 h 299"/>
                  <a:gd name="T20" fmla="*/ 0 w 27"/>
                  <a:gd name="T21" fmla="*/ 0 h 299"/>
                  <a:gd name="T22" fmla="*/ 0 w 27"/>
                  <a:gd name="T23" fmla="*/ 0 h 299"/>
                  <a:gd name="T24" fmla="*/ 0 w 27"/>
                  <a:gd name="T25" fmla="*/ 0 h 299"/>
                  <a:gd name="T26" fmla="*/ 0 w 27"/>
                  <a:gd name="T27" fmla="*/ 0 h 299"/>
                  <a:gd name="T28" fmla="*/ 0 w 27"/>
                  <a:gd name="T29" fmla="*/ 0 h 299"/>
                  <a:gd name="T30" fmla="*/ 0 w 27"/>
                  <a:gd name="T31" fmla="*/ 0 h 299"/>
                  <a:gd name="T32" fmla="*/ 0 w 27"/>
                  <a:gd name="T33" fmla="*/ 0 h 299"/>
                  <a:gd name="T34" fmla="*/ 0 w 27"/>
                  <a:gd name="T35" fmla="*/ 0 h 299"/>
                  <a:gd name="T36" fmla="*/ 0 w 27"/>
                  <a:gd name="T37" fmla="*/ 0 h 29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299">
                    <a:moveTo>
                      <a:pt x="0" y="299"/>
                    </a:moveTo>
                    <a:lnTo>
                      <a:pt x="0" y="0"/>
                    </a:lnTo>
                    <a:lnTo>
                      <a:pt x="3" y="7"/>
                    </a:lnTo>
                    <a:lnTo>
                      <a:pt x="7" y="15"/>
                    </a:lnTo>
                    <a:lnTo>
                      <a:pt x="11" y="22"/>
                    </a:lnTo>
                    <a:lnTo>
                      <a:pt x="15" y="30"/>
                    </a:lnTo>
                    <a:lnTo>
                      <a:pt x="18" y="37"/>
                    </a:lnTo>
                    <a:lnTo>
                      <a:pt x="21" y="46"/>
                    </a:lnTo>
                    <a:lnTo>
                      <a:pt x="23" y="53"/>
                    </a:lnTo>
                    <a:lnTo>
                      <a:pt x="27" y="62"/>
                    </a:lnTo>
                    <a:lnTo>
                      <a:pt x="27" y="237"/>
                    </a:lnTo>
                    <a:lnTo>
                      <a:pt x="23" y="246"/>
                    </a:lnTo>
                    <a:lnTo>
                      <a:pt x="21" y="253"/>
                    </a:lnTo>
                    <a:lnTo>
                      <a:pt x="18" y="260"/>
                    </a:lnTo>
                    <a:lnTo>
                      <a:pt x="15" y="269"/>
                    </a:lnTo>
                    <a:lnTo>
                      <a:pt x="11" y="276"/>
                    </a:lnTo>
                    <a:lnTo>
                      <a:pt x="7" y="284"/>
                    </a:lnTo>
                    <a:lnTo>
                      <a:pt x="3" y="291"/>
                    </a:lnTo>
                    <a:lnTo>
                      <a:pt x="0" y="29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78" name="Freeform 3542"/>
              <p:cNvSpPr>
                <a:spLocks noChangeAspect="1"/>
              </p:cNvSpPr>
              <p:nvPr/>
            </p:nvSpPr>
            <p:spPr bwMode="auto">
              <a:xfrm>
                <a:off x="5495" y="1103"/>
                <a:ext cx="9" cy="82"/>
              </a:xfrm>
              <a:custGeom>
                <a:avLst/>
                <a:gdLst>
                  <a:gd name="T0" fmla="*/ 0 w 26"/>
                  <a:gd name="T1" fmla="*/ 0 h 245"/>
                  <a:gd name="T2" fmla="*/ 0 w 26"/>
                  <a:gd name="T3" fmla="*/ 0 h 245"/>
                  <a:gd name="T4" fmla="*/ 0 w 26"/>
                  <a:gd name="T5" fmla="*/ 0 h 245"/>
                  <a:gd name="T6" fmla="*/ 0 w 26"/>
                  <a:gd name="T7" fmla="*/ 0 h 245"/>
                  <a:gd name="T8" fmla="*/ 0 w 26"/>
                  <a:gd name="T9" fmla="*/ 0 h 245"/>
                  <a:gd name="T10" fmla="*/ 0 w 26"/>
                  <a:gd name="T11" fmla="*/ 0 h 245"/>
                  <a:gd name="T12" fmla="*/ 0 w 26"/>
                  <a:gd name="T13" fmla="*/ 0 h 245"/>
                  <a:gd name="T14" fmla="*/ 0 w 26"/>
                  <a:gd name="T15" fmla="*/ 0 h 245"/>
                  <a:gd name="T16" fmla="*/ 0 w 26"/>
                  <a:gd name="T17" fmla="*/ 0 h 245"/>
                  <a:gd name="T18" fmla="*/ 0 w 26"/>
                  <a:gd name="T19" fmla="*/ 0 h 245"/>
                  <a:gd name="T20" fmla="*/ 0 w 26"/>
                  <a:gd name="T21" fmla="*/ 0 h 245"/>
                  <a:gd name="T22" fmla="*/ 0 w 26"/>
                  <a:gd name="T23" fmla="*/ 0 h 245"/>
                  <a:gd name="T24" fmla="*/ 0 w 26"/>
                  <a:gd name="T25" fmla="*/ 0 h 245"/>
                  <a:gd name="T26" fmla="*/ 0 w 26"/>
                  <a:gd name="T27" fmla="*/ 0 h 245"/>
                  <a:gd name="T28" fmla="*/ 0 w 26"/>
                  <a:gd name="T29" fmla="*/ 0 h 245"/>
                  <a:gd name="T30" fmla="*/ 0 w 26"/>
                  <a:gd name="T31" fmla="*/ 0 h 245"/>
                  <a:gd name="T32" fmla="*/ 0 w 26"/>
                  <a:gd name="T33" fmla="*/ 0 h 245"/>
                  <a:gd name="T34" fmla="*/ 0 w 26"/>
                  <a:gd name="T35" fmla="*/ 0 h 245"/>
                  <a:gd name="T36" fmla="*/ 0 w 26"/>
                  <a:gd name="T37" fmla="*/ 0 h 24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245">
                    <a:moveTo>
                      <a:pt x="0" y="245"/>
                    </a:moveTo>
                    <a:lnTo>
                      <a:pt x="0" y="0"/>
                    </a:lnTo>
                    <a:lnTo>
                      <a:pt x="6" y="13"/>
                    </a:lnTo>
                    <a:lnTo>
                      <a:pt x="11" y="28"/>
                    </a:lnTo>
                    <a:lnTo>
                      <a:pt x="16" y="43"/>
                    </a:lnTo>
                    <a:lnTo>
                      <a:pt x="20" y="58"/>
                    </a:lnTo>
                    <a:lnTo>
                      <a:pt x="22" y="74"/>
                    </a:lnTo>
                    <a:lnTo>
                      <a:pt x="24" y="90"/>
                    </a:lnTo>
                    <a:lnTo>
                      <a:pt x="26" y="106"/>
                    </a:lnTo>
                    <a:lnTo>
                      <a:pt x="26" y="122"/>
                    </a:lnTo>
                    <a:lnTo>
                      <a:pt x="26" y="123"/>
                    </a:lnTo>
                    <a:lnTo>
                      <a:pt x="26" y="139"/>
                    </a:lnTo>
                    <a:lnTo>
                      <a:pt x="24" y="155"/>
                    </a:lnTo>
                    <a:lnTo>
                      <a:pt x="22" y="171"/>
                    </a:lnTo>
                    <a:lnTo>
                      <a:pt x="20" y="186"/>
                    </a:lnTo>
                    <a:lnTo>
                      <a:pt x="16" y="202"/>
                    </a:lnTo>
                    <a:lnTo>
                      <a:pt x="11" y="216"/>
                    </a:lnTo>
                    <a:lnTo>
                      <a:pt x="6" y="231"/>
                    </a:lnTo>
                    <a:lnTo>
                      <a:pt x="0" y="24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79" name="Freeform 3543"/>
              <p:cNvSpPr>
                <a:spLocks noChangeAspect="1"/>
              </p:cNvSpPr>
              <p:nvPr/>
            </p:nvSpPr>
            <p:spPr bwMode="auto">
              <a:xfrm>
                <a:off x="5500" y="1115"/>
                <a:ext cx="4" cy="58"/>
              </a:xfrm>
              <a:custGeom>
                <a:avLst/>
                <a:gdLst>
                  <a:gd name="T0" fmla="*/ 0 w 12"/>
                  <a:gd name="T1" fmla="*/ 0 h 175"/>
                  <a:gd name="T2" fmla="*/ 0 w 12"/>
                  <a:gd name="T3" fmla="*/ 0 h 175"/>
                  <a:gd name="T4" fmla="*/ 0 w 12"/>
                  <a:gd name="T5" fmla="*/ 0 h 175"/>
                  <a:gd name="T6" fmla="*/ 0 w 12"/>
                  <a:gd name="T7" fmla="*/ 0 h 175"/>
                  <a:gd name="T8" fmla="*/ 0 w 12"/>
                  <a:gd name="T9" fmla="*/ 0 h 175"/>
                  <a:gd name="T10" fmla="*/ 0 w 12"/>
                  <a:gd name="T11" fmla="*/ 0 h 175"/>
                  <a:gd name="T12" fmla="*/ 0 w 12"/>
                  <a:gd name="T13" fmla="*/ 0 h 175"/>
                  <a:gd name="T14" fmla="*/ 0 w 12"/>
                  <a:gd name="T15" fmla="*/ 0 h 175"/>
                  <a:gd name="T16" fmla="*/ 0 w 12"/>
                  <a:gd name="T17" fmla="*/ 0 h 175"/>
                  <a:gd name="T18" fmla="*/ 0 w 12"/>
                  <a:gd name="T19" fmla="*/ 0 h 175"/>
                  <a:gd name="T20" fmla="*/ 0 w 12"/>
                  <a:gd name="T21" fmla="*/ 0 h 175"/>
                  <a:gd name="T22" fmla="*/ 0 w 12"/>
                  <a:gd name="T23" fmla="*/ 0 h 175"/>
                  <a:gd name="T24" fmla="*/ 0 w 12"/>
                  <a:gd name="T25" fmla="*/ 0 h 175"/>
                  <a:gd name="T26" fmla="*/ 0 w 12"/>
                  <a:gd name="T27" fmla="*/ 0 h 175"/>
                  <a:gd name="T28" fmla="*/ 0 w 12"/>
                  <a:gd name="T29" fmla="*/ 0 h 175"/>
                  <a:gd name="T30" fmla="*/ 0 w 12"/>
                  <a:gd name="T31" fmla="*/ 0 h 175"/>
                  <a:gd name="T32" fmla="*/ 0 w 12"/>
                  <a:gd name="T33" fmla="*/ 0 h 175"/>
                  <a:gd name="T34" fmla="*/ 0 w 12"/>
                  <a:gd name="T35" fmla="*/ 0 h 1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2" h="175">
                    <a:moveTo>
                      <a:pt x="0" y="175"/>
                    </a:moveTo>
                    <a:lnTo>
                      <a:pt x="0" y="0"/>
                    </a:lnTo>
                    <a:lnTo>
                      <a:pt x="2" y="10"/>
                    </a:lnTo>
                    <a:lnTo>
                      <a:pt x="5" y="21"/>
                    </a:lnTo>
                    <a:lnTo>
                      <a:pt x="7" y="32"/>
                    </a:lnTo>
                    <a:lnTo>
                      <a:pt x="9" y="42"/>
                    </a:lnTo>
                    <a:lnTo>
                      <a:pt x="10" y="54"/>
                    </a:lnTo>
                    <a:lnTo>
                      <a:pt x="11" y="65"/>
                    </a:lnTo>
                    <a:lnTo>
                      <a:pt x="12" y="76"/>
                    </a:lnTo>
                    <a:lnTo>
                      <a:pt x="12" y="87"/>
                    </a:lnTo>
                    <a:lnTo>
                      <a:pt x="12" y="99"/>
                    </a:lnTo>
                    <a:lnTo>
                      <a:pt x="11" y="110"/>
                    </a:lnTo>
                    <a:lnTo>
                      <a:pt x="10" y="121"/>
                    </a:lnTo>
                    <a:lnTo>
                      <a:pt x="9" y="133"/>
                    </a:lnTo>
                    <a:lnTo>
                      <a:pt x="7" y="143"/>
                    </a:lnTo>
                    <a:lnTo>
                      <a:pt x="5" y="154"/>
                    </a:lnTo>
                    <a:lnTo>
                      <a:pt x="2" y="164"/>
                    </a:lnTo>
                    <a:lnTo>
                      <a:pt x="0" y="17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80" name="Freeform 3544"/>
              <p:cNvSpPr>
                <a:spLocks noChangeAspect="1"/>
              </p:cNvSpPr>
              <p:nvPr/>
            </p:nvSpPr>
            <p:spPr bwMode="auto">
              <a:xfrm>
                <a:off x="5504" y="1144"/>
                <a:ext cx="1" cy="1"/>
              </a:xfrm>
              <a:custGeom>
                <a:avLst/>
                <a:gdLst>
                  <a:gd name="T0" fmla="*/ 0 w 1"/>
                  <a:gd name="T1" fmla="*/ 1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1 h 1"/>
                  <a:gd name="T26" fmla="*/ 0 w 1"/>
                  <a:gd name="T27" fmla="*/ 1 h 1"/>
                  <a:gd name="T28" fmla="*/ 0 w 1"/>
                  <a:gd name="T29" fmla="*/ 1 h 1"/>
                  <a:gd name="T30" fmla="*/ 0 w 1"/>
                  <a:gd name="T31" fmla="*/ 1 h 1"/>
                  <a:gd name="T32" fmla="*/ 0 w 1"/>
                  <a:gd name="T33" fmla="*/ 1 h 1"/>
                  <a:gd name="T34" fmla="*/ 0 w 1"/>
                  <a:gd name="T35" fmla="*/ 1 h 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 h="1">
                    <a:moveTo>
                      <a:pt x="0" y="1"/>
                    </a:moveTo>
                    <a:lnTo>
                      <a:pt x="0" y="0"/>
                    </a:lnTo>
                    <a:lnTo>
                      <a:pt x="0" y="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81" name="Freeform 3545"/>
              <p:cNvSpPr>
                <a:spLocks noChangeAspect="1"/>
              </p:cNvSpPr>
              <p:nvPr/>
            </p:nvSpPr>
            <p:spPr bwMode="auto">
              <a:xfrm>
                <a:off x="5282" y="1039"/>
                <a:ext cx="222" cy="210"/>
              </a:xfrm>
              <a:custGeom>
                <a:avLst/>
                <a:gdLst>
                  <a:gd name="T0" fmla="*/ 0 w 664"/>
                  <a:gd name="T1" fmla="*/ 0 h 629"/>
                  <a:gd name="T2" fmla="*/ 0 w 664"/>
                  <a:gd name="T3" fmla="*/ 0 h 629"/>
                  <a:gd name="T4" fmla="*/ 0 w 664"/>
                  <a:gd name="T5" fmla="*/ 0 h 629"/>
                  <a:gd name="T6" fmla="*/ 0 w 664"/>
                  <a:gd name="T7" fmla="*/ 0 h 629"/>
                  <a:gd name="T8" fmla="*/ 0 w 664"/>
                  <a:gd name="T9" fmla="*/ 0 h 629"/>
                  <a:gd name="T10" fmla="*/ 0 w 664"/>
                  <a:gd name="T11" fmla="*/ 0 h 629"/>
                  <a:gd name="T12" fmla="*/ 0 w 664"/>
                  <a:gd name="T13" fmla="*/ 0 h 629"/>
                  <a:gd name="T14" fmla="*/ 0 w 664"/>
                  <a:gd name="T15" fmla="*/ 0 h 629"/>
                  <a:gd name="T16" fmla="*/ 0 w 664"/>
                  <a:gd name="T17" fmla="*/ 0 h 629"/>
                  <a:gd name="T18" fmla="*/ 0 w 664"/>
                  <a:gd name="T19" fmla="*/ 0 h 629"/>
                  <a:gd name="T20" fmla="*/ 0 w 664"/>
                  <a:gd name="T21" fmla="*/ 0 h 629"/>
                  <a:gd name="T22" fmla="*/ 0 w 664"/>
                  <a:gd name="T23" fmla="*/ 0 h 629"/>
                  <a:gd name="T24" fmla="*/ 0 w 664"/>
                  <a:gd name="T25" fmla="*/ 0 h 629"/>
                  <a:gd name="T26" fmla="*/ 0 w 664"/>
                  <a:gd name="T27" fmla="*/ 0 h 629"/>
                  <a:gd name="T28" fmla="*/ 0 w 664"/>
                  <a:gd name="T29" fmla="*/ 0 h 629"/>
                  <a:gd name="T30" fmla="*/ 0 w 664"/>
                  <a:gd name="T31" fmla="*/ 0 h 629"/>
                  <a:gd name="T32" fmla="*/ 0 w 664"/>
                  <a:gd name="T33" fmla="*/ 0 h 629"/>
                  <a:gd name="T34" fmla="*/ 0 w 664"/>
                  <a:gd name="T35" fmla="*/ 0 h 629"/>
                  <a:gd name="T36" fmla="*/ 0 w 664"/>
                  <a:gd name="T37" fmla="*/ 0 h 629"/>
                  <a:gd name="T38" fmla="*/ 0 w 664"/>
                  <a:gd name="T39" fmla="*/ 0 h 629"/>
                  <a:gd name="T40" fmla="*/ 0 w 664"/>
                  <a:gd name="T41" fmla="*/ 0 h 629"/>
                  <a:gd name="T42" fmla="*/ 0 w 664"/>
                  <a:gd name="T43" fmla="*/ 0 h 629"/>
                  <a:gd name="T44" fmla="*/ 0 w 664"/>
                  <a:gd name="T45" fmla="*/ 0 h 629"/>
                  <a:gd name="T46" fmla="*/ 0 w 664"/>
                  <a:gd name="T47" fmla="*/ 0 h 629"/>
                  <a:gd name="T48" fmla="*/ 0 w 664"/>
                  <a:gd name="T49" fmla="*/ 0 h 629"/>
                  <a:gd name="T50" fmla="*/ 0 w 664"/>
                  <a:gd name="T51" fmla="*/ 0 h 629"/>
                  <a:gd name="T52" fmla="*/ 0 w 664"/>
                  <a:gd name="T53" fmla="*/ 0 h 629"/>
                  <a:gd name="T54" fmla="*/ 0 w 664"/>
                  <a:gd name="T55" fmla="*/ 0 h 629"/>
                  <a:gd name="T56" fmla="*/ 0 w 664"/>
                  <a:gd name="T57" fmla="*/ 0 h 629"/>
                  <a:gd name="T58" fmla="*/ 0 w 664"/>
                  <a:gd name="T59" fmla="*/ 0 h 629"/>
                  <a:gd name="T60" fmla="*/ 0 w 664"/>
                  <a:gd name="T61" fmla="*/ 0 h 629"/>
                  <a:gd name="T62" fmla="*/ 0 w 664"/>
                  <a:gd name="T63" fmla="*/ 0 h 629"/>
                  <a:gd name="T64" fmla="*/ 0 w 664"/>
                  <a:gd name="T65" fmla="*/ 0 h 629"/>
                  <a:gd name="T66" fmla="*/ 0 w 664"/>
                  <a:gd name="T67" fmla="*/ 0 h 629"/>
                  <a:gd name="T68" fmla="*/ 0 w 664"/>
                  <a:gd name="T69" fmla="*/ 0 h 629"/>
                  <a:gd name="T70" fmla="*/ 0 w 664"/>
                  <a:gd name="T71" fmla="*/ 0 h 629"/>
                  <a:gd name="T72" fmla="*/ 0 w 664"/>
                  <a:gd name="T73" fmla="*/ 0 h 629"/>
                  <a:gd name="T74" fmla="*/ 0 w 664"/>
                  <a:gd name="T75" fmla="*/ 0 h 629"/>
                  <a:gd name="T76" fmla="*/ 0 w 664"/>
                  <a:gd name="T77" fmla="*/ 0 h 629"/>
                  <a:gd name="T78" fmla="*/ 0 w 664"/>
                  <a:gd name="T79" fmla="*/ 0 h 629"/>
                  <a:gd name="T80" fmla="*/ 0 w 664"/>
                  <a:gd name="T81" fmla="*/ 0 h 629"/>
                  <a:gd name="T82" fmla="*/ 0 w 664"/>
                  <a:gd name="T83" fmla="*/ 0 h 629"/>
                  <a:gd name="T84" fmla="*/ 0 w 664"/>
                  <a:gd name="T85" fmla="*/ 0 h 6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64" h="629">
                    <a:moveTo>
                      <a:pt x="332" y="629"/>
                    </a:moveTo>
                    <a:lnTo>
                      <a:pt x="349" y="629"/>
                    </a:lnTo>
                    <a:lnTo>
                      <a:pt x="366" y="627"/>
                    </a:lnTo>
                    <a:lnTo>
                      <a:pt x="383" y="625"/>
                    </a:lnTo>
                    <a:lnTo>
                      <a:pt x="399" y="622"/>
                    </a:lnTo>
                    <a:lnTo>
                      <a:pt x="415" y="619"/>
                    </a:lnTo>
                    <a:lnTo>
                      <a:pt x="431" y="615"/>
                    </a:lnTo>
                    <a:lnTo>
                      <a:pt x="446" y="609"/>
                    </a:lnTo>
                    <a:lnTo>
                      <a:pt x="461" y="604"/>
                    </a:lnTo>
                    <a:lnTo>
                      <a:pt x="476" y="598"/>
                    </a:lnTo>
                    <a:lnTo>
                      <a:pt x="491" y="590"/>
                    </a:lnTo>
                    <a:lnTo>
                      <a:pt x="505" y="583"/>
                    </a:lnTo>
                    <a:lnTo>
                      <a:pt x="517" y="574"/>
                    </a:lnTo>
                    <a:lnTo>
                      <a:pt x="531" y="566"/>
                    </a:lnTo>
                    <a:lnTo>
                      <a:pt x="543" y="556"/>
                    </a:lnTo>
                    <a:lnTo>
                      <a:pt x="556" y="547"/>
                    </a:lnTo>
                    <a:lnTo>
                      <a:pt x="567" y="536"/>
                    </a:lnTo>
                    <a:lnTo>
                      <a:pt x="578" y="525"/>
                    </a:lnTo>
                    <a:lnTo>
                      <a:pt x="589" y="514"/>
                    </a:lnTo>
                    <a:lnTo>
                      <a:pt x="598" y="502"/>
                    </a:lnTo>
                    <a:lnTo>
                      <a:pt x="608" y="489"/>
                    </a:lnTo>
                    <a:lnTo>
                      <a:pt x="616" y="478"/>
                    </a:lnTo>
                    <a:lnTo>
                      <a:pt x="624" y="464"/>
                    </a:lnTo>
                    <a:lnTo>
                      <a:pt x="631" y="450"/>
                    </a:lnTo>
                    <a:lnTo>
                      <a:pt x="638" y="436"/>
                    </a:lnTo>
                    <a:lnTo>
                      <a:pt x="644" y="422"/>
                    </a:lnTo>
                    <a:lnTo>
                      <a:pt x="649" y="407"/>
                    </a:lnTo>
                    <a:lnTo>
                      <a:pt x="654" y="393"/>
                    </a:lnTo>
                    <a:lnTo>
                      <a:pt x="658" y="378"/>
                    </a:lnTo>
                    <a:lnTo>
                      <a:pt x="660" y="362"/>
                    </a:lnTo>
                    <a:lnTo>
                      <a:pt x="662" y="347"/>
                    </a:lnTo>
                    <a:lnTo>
                      <a:pt x="664" y="331"/>
                    </a:lnTo>
                    <a:lnTo>
                      <a:pt x="664" y="314"/>
                    </a:lnTo>
                    <a:lnTo>
                      <a:pt x="664" y="298"/>
                    </a:lnTo>
                    <a:lnTo>
                      <a:pt x="662" y="282"/>
                    </a:lnTo>
                    <a:lnTo>
                      <a:pt x="660" y="266"/>
                    </a:lnTo>
                    <a:lnTo>
                      <a:pt x="658" y="251"/>
                    </a:lnTo>
                    <a:lnTo>
                      <a:pt x="654" y="236"/>
                    </a:lnTo>
                    <a:lnTo>
                      <a:pt x="649" y="221"/>
                    </a:lnTo>
                    <a:lnTo>
                      <a:pt x="644" y="206"/>
                    </a:lnTo>
                    <a:lnTo>
                      <a:pt x="638" y="192"/>
                    </a:lnTo>
                    <a:lnTo>
                      <a:pt x="631" y="178"/>
                    </a:lnTo>
                    <a:lnTo>
                      <a:pt x="624" y="165"/>
                    </a:lnTo>
                    <a:lnTo>
                      <a:pt x="616" y="151"/>
                    </a:lnTo>
                    <a:lnTo>
                      <a:pt x="608" y="138"/>
                    </a:lnTo>
                    <a:lnTo>
                      <a:pt x="598" y="127"/>
                    </a:lnTo>
                    <a:lnTo>
                      <a:pt x="589" y="115"/>
                    </a:lnTo>
                    <a:lnTo>
                      <a:pt x="578" y="103"/>
                    </a:lnTo>
                    <a:lnTo>
                      <a:pt x="567" y="92"/>
                    </a:lnTo>
                    <a:lnTo>
                      <a:pt x="556" y="82"/>
                    </a:lnTo>
                    <a:lnTo>
                      <a:pt x="543" y="71"/>
                    </a:lnTo>
                    <a:lnTo>
                      <a:pt x="531" y="63"/>
                    </a:lnTo>
                    <a:lnTo>
                      <a:pt x="517" y="53"/>
                    </a:lnTo>
                    <a:lnTo>
                      <a:pt x="505" y="46"/>
                    </a:lnTo>
                    <a:lnTo>
                      <a:pt x="491" y="39"/>
                    </a:lnTo>
                    <a:lnTo>
                      <a:pt x="476" y="31"/>
                    </a:lnTo>
                    <a:lnTo>
                      <a:pt x="461" y="25"/>
                    </a:lnTo>
                    <a:lnTo>
                      <a:pt x="446" y="19"/>
                    </a:lnTo>
                    <a:lnTo>
                      <a:pt x="431" y="14"/>
                    </a:lnTo>
                    <a:lnTo>
                      <a:pt x="415" y="10"/>
                    </a:lnTo>
                    <a:lnTo>
                      <a:pt x="399" y="7"/>
                    </a:lnTo>
                    <a:lnTo>
                      <a:pt x="383" y="3"/>
                    </a:lnTo>
                    <a:lnTo>
                      <a:pt x="366" y="1"/>
                    </a:lnTo>
                    <a:lnTo>
                      <a:pt x="349" y="0"/>
                    </a:lnTo>
                    <a:lnTo>
                      <a:pt x="332" y="0"/>
                    </a:lnTo>
                    <a:lnTo>
                      <a:pt x="315" y="0"/>
                    </a:lnTo>
                    <a:lnTo>
                      <a:pt x="298" y="1"/>
                    </a:lnTo>
                    <a:lnTo>
                      <a:pt x="282" y="3"/>
                    </a:lnTo>
                    <a:lnTo>
                      <a:pt x="265" y="7"/>
                    </a:lnTo>
                    <a:lnTo>
                      <a:pt x="249" y="10"/>
                    </a:lnTo>
                    <a:lnTo>
                      <a:pt x="234" y="14"/>
                    </a:lnTo>
                    <a:lnTo>
                      <a:pt x="218" y="19"/>
                    </a:lnTo>
                    <a:lnTo>
                      <a:pt x="203" y="25"/>
                    </a:lnTo>
                    <a:lnTo>
                      <a:pt x="189" y="31"/>
                    </a:lnTo>
                    <a:lnTo>
                      <a:pt x="175" y="39"/>
                    </a:lnTo>
                    <a:lnTo>
                      <a:pt x="161" y="46"/>
                    </a:lnTo>
                    <a:lnTo>
                      <a:pt x="147" y="53"/>
                    </a:lnTo>
                    <a:lnTo>
                      <a:pt x="134" y="63"/>
                    </a:lnTo>
                    <a:lnTo>
                      <a:pt x="122" y="71"/>
                    </a:lnTo>
                    <a:lnTo>
                      <a:pt x="110" y="82"/>
                    </a:lnTo>
                    <a:lnTo>
                      <a:pt x="98" y="92"/>
                    </a:lnTo>
                    <a:lnTo>
                      <a:pt x="87" y="103"/>
                    </a:lnTo>
                    <a:lnTo>
                      <a:pt x="77" y="115"/>
                    </a:lnTo>
                    <a:lnTo>
                      <a:pt x="66" y="127"/>
                    </a:lnTo>
                    <a:lnTo>
                      <a:pt x="58" y="138"/>
                    </a:lnTo>
                    <a:lnTo>
                      <a:pt x="49" y="151"/>
                    </a:lnTo>
                    <a:lnTo>
                      <a:pt x="41" y="165"/>
                    </a:lnTo>
                    <a:lnTo>
                      <a:pt x="33" y="178"/>
                    </a:lnTo>
                    <a:lnTo>
                      <a:pt x="27" y="192"/>
                    </a:lnTo>
                    <a:lnTo>
                      <a:pt x="20" y="206"/>
                    </a:lnTo>
                    <a:lnTo>
                      <a:pt x="15" y="221"/>
                    </a:lnTo>
                    <a:lnTo>
                      <a:pt x="11" y="236"/>
                    </a:lnTo>
                    <a:lnTo>
                      <a:pt x="8" y="251"/>
                    </a:lnTo>
                    <a:lnTo>
                      <a:pt x="4" y="266"/>
                    </a:lnTo>
                    <a:lnTo>
                      <a:pt x="2" y="282"/>
                    </a:lnTo>
                    <a:lnTo>
                      <a:pt x="1" y="298"/>
                    </a:lnTo>
                    <a:lnTo>
                      <a:pt x="0" y="314"/>
                    </a:lnTo>
                    <a:lnTo>
                      <a:pt x="1" y="331"/>
                    </a:lnTo>
                    <a:lnTo>
                      <a:pt x="2" y="347"/>
                    </a:lnTo>
                    <a:lnTo>
                      <a:pt x="4" y="362"/>
                    </a:lnTo>
                    <a:lnTo>
                      <a:pt x="8" y="378"/>
                    </a:lnTo>
                    <a:lnTo>
                      <a:pt x="11" y="393"/>
                    </a:lnTo>
                    <a:lnTo>
                      <a:pt x="15" y="407"/>
                    </a:lnTo>
                    <a:lnTo>
                      <a:pt x="20" y="422"/>
                    </a:lnTo>
                    <a:lnTo>
                      <a:pt x="27" y="436"/>
                    </a:lnTo>
                    <a:lnTo>
                      <a:pt x="33" y="450"/>
                    </a:lnTo>
                    <a:lnTo>
                      <a:pt x="41" y="464"/>
                    </a:lnTo>
                    <a:lnTo>
                      <a:pt x="49" y="478"/>
                    </a:lnTo>
                    <a:lnTo>
                      <a:pt x="58" y="489"/>
                    </a:lnTo>
                    <a:lnTo>
                      <a:pt x="66" y="502"/>
                    </a:lnTo>
                    <a:lnTo>
                      <a:pt x="77" y="514"/>
                    </a:lnTo>
                    <a:lnTo>
                      <a:pt x="87" y="525"/>
                    </a:lnTo>
                    <a:lnTo>
                      <a:pt x="98" y="536"/>
                    </a:lnTo>
                    <a:lnTo>
                      <a:pt x="110" y="547"/>
                    </a:lnTo>
                    <a:lnTo>
                      <a:pt x="122" y="556"/>
                    </a:lnTo>
                    <a:lnTo>
                      <a:pt x="134" y="566"/>
                    </a:lnTo>
                    <a:lnTo>
                      <a:pt x="147" y="574"/>
                    </a:lnTo>
                    <a:lnTo>
                      <a:pt x="161" y="583"/>
                    </a:lnTo>
                    <a:lnTo>
                      <a:pt x="175" y="590"/>
                    </a:lnTo>
                    <a:lnTo>
                      <a:pt x="189" y="598"/>
                    </a:lnTo>
                    <a:lnTo>
                      <a:pt x="203" y="604"/>
                    </a:lnTo>
                    <a:lnTo>
                      <a:pt x="218" y="609"/>
                    </a:lnTo>
                    <a:lnTo>
                      <a:pt x="234" y="615"/>
                    </a:lnTo>
                    <a:lnTo>
                      <a:pt x="249" y="619"/>
                    </a:lnTo>
                    <a:lnTo>
                      <a:pt x="265" y="622"/>
                    </a:lnTo>
                    <a:lnTo>
                      <a:pt x="282" y="625"/>
                    </a:lnTo>
                    <a:lnTo>
                      <a:pt x="298" y="627"/>
                    </a:lnTo>
                    <a:lnTo>
                      <a:pt x="315" y="629"/>
                    </a:lnTo>
                    <a:lnTo>
                      <a:pt x="332" y="629"/>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sp>
            <p:nvSpPr>
              <p:cNvPr id="388082" name="Freeform 3546"/>
              <p:cNvSpPr>
                <a:spLocks noChangeAspect="1"/>
              </p:cNvSpPr>
              <p:nvPr/>
            </p:nvSpPr>
            <p:spPr bwMode="auto">
              <a:xfrm>
                <a:off x="5208" y="1157"/>
                <a:ext cx="14" cy="14"/>
              </a:xfrm>
              <a:custGeom>
                <a:avLst/>
                <a:gdLst>
                  <a:gd name="T0" fmla="*/ 0 w 41"/>
                  <a:gd name="T1" fmla="*/ 0 h 42"/>
                  <a:gd name="T2" fmla="*/ 0 w 41"/>
                  <a:gd name="T3" fmla="*/ 0 h 42"/>
                  <a:gd name="T4" fmla="*/ 0 w 41"/>
                  <a:gd name="T5" fmla="*/ 0 h 42"/>
                  <a:gd name="T6" fmla="*/ 0 w 41"/>
                  <a:gd name="T7" fmla="*/ 0 h 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1" h="42">
                    <a:moveTo>
                      <a:pt x="41" y="0"/>
                    </a:moveTo>
                    <a:lnTo>
                      <a:pt x="0" y="42"/>
                    </a:lnTo>
                    <a:lnTo>
                      <a:pt x="0" y="0"/>
                    </a:lnTo>
                    <a:lnTo>
                      <a:pt x="41"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83" name="Freeform 3547"/>
              <p:cNvSpPr>
                <a:spLocks noChangeAspect="1"/>
              </p:cNvSpPr>
              <p:nvPr/>
            </p:nvSpPr>
            <p:spPr bwMode="auto">
              <a:xfrm>
                <a:off x="5208" y="1157"/>
                <a:ext cx="24" cy="23"/>
              </a:xfrm>
              <a:custGeom>
                <a:avLst/>
                <a:gdLst>
                  <a:gd name="T0" fmla="*/ 0 w 70"/>
                  <a:gd name="T1" fmla="*/ 0 h 71"/>
                  <a:gd name="T2" fmla="*/ 0 w 70"/>
                  <a:gd name="T3" fmla="*/ 0 h 71"/>
                  <a:gd name="T4" fmla="*/ 0 w 70"/>
                  <a:gd name="T5" fmla="*/ 0 h 71"/>
                  <a:gd name="T6" fmla="*/ 0 w 70"/>
                  <a:gd name="T7" fmla="*/ 0 h 71"/>
                  <a:gd name="T8" fmla="*/ 0 w 70"/>
                  <a:gd name="T9" fmla="*/ 0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71">
                    <a:moveTo>
                      <a:pt x="0" y="12"/>
                    </a:moveTo>
                    <a:lnTo>
                      <a:pt x="11" y="0"/>
                    </a:lnTo>
                    <a:lnTo>
                      <a:pt x="70" y="0"/>
                    </a:lnTo>
                    <a:lnTo>
                      <a:pt x="0" y="71"/>
                    </a:lnTo>
                    <a:lnTo>
                      <a:pt x="0" y="1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84" name="Freeform 3548"/>
              <p:cNvSpPr>
                <a:spLocks noChangeAspect="1"/>
              </p:cNvSpPr>
              <p:nvPr/>
            </p:nvSpPr>
            <p:spPr bwMode="auto">
              <a:xfrm>
                <a:off x="5208" y="1157"/>
                <a:ext cx="34" cy="33"/>
              </a:xfrm>
              <a:custGeom>
                <a:avLst/>
                <a:gdLst>
                  <a:gd name="T0" fmla="*/ 0 w 100"/>
                  <a:gd name="T1" fmla="*/ 0 h 100"/>
                  <a:gd name="T2" fmla="*/ 0 w 100"/>
                  <a:gd name="T3" fmla="*/ 0 h 100"/>
                  <a:gd name="T4" fmla="*/ 0 w 100"/>
                  <a:gd name="T5" fmla="*/ 0 h 100"/>
                  <a:gd name="T6" fmla="*/ 0 w 100"/>
                  <a:gd name="T7" fmla="*/ 0 h 100"/>
                  <a:gd name="T8" fmla="*/ 0 w 100"/>
                  <a:gd name="T9" fmla="*/ 0 h 100"/>
                  <a:gd name="T10" fmla="*/ 0 w 100"/>
                  <a:gd name="T11" fmla="*/ 0 h 1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100">
                    <a:moveTo>
                      <a:pt x="0" y="42"/>
                    </a:moveTo>
                    <a:lnTo>
                      <a:pt x="41" y="0"/>
                    </a:lnTo>
                    <a:lnTo>
                      <a:pt x="93" y="0"/>
                    </a:lnTo>
                    <a:lnTo>
                      <a:pt x="100" y="0"/>
                    </a:lnTo>
                    <a:lnTo>
                      <a:pt x="0" y="100"/>
                    </a:lnTo>
                    <a:lnTo>
                      <a:pt x="0" y="4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85" name="Freeform 3549"/>
              <p:cNvSpPr>
                <a:spLocks noChangeAspect="1"/>
              </p:cNvSpPr>
              <p:nvPr/>
            </p:nvSpPr>
            <p:spPr bwMode="auto">
              <a:xfrm>
                <a:off x="5208" y="1157"/>
                <a:ext cx="44" cy="43"/>
              </a:xfrm>
              <a:custGeom>
                <a:avLst/>
                <a:gdLst>
                  <a:gd name="T0" fmla="*/ 0 w 130"/>
                  <a:gd name="T1" fmla="*/ 0 h 130"/>
                  <a:gd name="T2" fmla="*/ 0 w 130"/>
                  <a:gd name="T3" fmla="*/ 0 h 130"/>
                  <a:gd name="T4" fmla="*/ 0 w 130"/>
                  <a:gd name="T5" fmla="*/ 0 h 130"/>
                  <a:gd name="T6" fmla="*/ 0 w 130"/>
                  <a:gd name="T7" fmla="*/ 0 h 130"/>
                  <a:gd name="T8" fmla="*/ 0 w 130"/>
                  <a:gd name="T9" fmla="*/ 0 h 130"/>
                  <a:gd name="T10" fmla="*/ 0 w 130"/>
                  <a:gd name="T11" fmla="*/ 0 h 1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0" h="130">
                    <a:moveTo>
                      <a:pt x="0" y="71"/>
                    </a:moveTo>
                    <a:lnTo>
                      <a:pt x="70" y="0"/>
                    </a:lnTo>
                    <a:lnTo>
                      <a:pt x="93" y="0"/>
                    </a:lnTo>
                    <a:lnTo>
                      <a:pt x="130" y="0"/>
                    </a:lnTo>
                    <a:lnTo>
                      <a:pt x="0" y="130"/>
                    </a:lnTo>
                    <a:lnTo>
                      <a:pt x="0" y="7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86" name="Freeform 3550"/>
              <p:cNvSpPr>
                <a:spLocks noChangeAspect="1"/>
              </p:cNvSpPr>
              <p:nvPr/>
            </p:nvSpPr>
            <p:spPr bwMode="auto">
              <a:xfrm>
                <a:off x="5208" y="1157"/>
                <a:ext cx="53" cy="53"/>
              </a:xfrm>
              <a:custGeom>
                <a:avLst/>
                <a:gdLst>
                  <a:gd name="T0" fmla="*/ 0 w 159"/>
                  <a:gd name="T1" fmla="*/ 0 h 160"/>
                  <a:gd name="T2" fmla="*/ 0 w 159"/>
                  <a:gd name="T3" fmla="*/ 0 h 160"/>
                  <a:gd name="T4" fmla="*/ 0 w 159"/>
                  <a:gd name="T5" fmla="*/ 0 h 160"/>
                  <a:gd name="T6" fmla="*/ 0 w 159"/>
                  <a:gd name="T7" fmla="*/ 0 h 160"/>
                  <a:gd name="T8" fmla="*/ 0 w 159"/>
                  <a:gd name="T9" fmla="*/ 0 h 1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 h="160">
                    <a:moveTo>
                      <a:pt x="0" y="100"/>
                    </a:moveTo>
                    <a:lnTo>
                      <a:pt x="100" y="0"/>
                    </a:lnTo>
                    <a:lnTo>
                      <a:pt x="159" y="0"/>
                    </a:lnTo>
                    <a:lnTo>
                      <a:pt x="0" y="160"/>
                    </a:lnTo>
                    <a:lnTo>
                      <a:pt x="0" y="1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87" name="Freeform 3551"/>
              <p:cNvSpPr>
                <a:spLocks noChangeAspect="1"/>
              </p:cNvSpPr>
              <p:nvPr/>
            </p:nvSpPr>
            <p:spPr bwMode="auto">
              <a:xfrm>
                <a:off x="5208" y="1157"/>
                <a:ext cx="63" cy="63"/>
              </a:xfrm>
              <a:custGeom>
                <a:avLst/>
                <a:gdLst>
                  <a:gd name="T0" fmla="*/ 0 w 189"/>
                  <a:gd name="T1" fmla="*/ 0 h 189"/>
                  <a:gd name="T2" fmla="*/ 0 w 189"/>
                  <a:gd name="T3" fmla="*/ 0 h 189"/>
                  <a:gd name="T4" fmla="*/ 0 w 189"/>
                  <a:gd name="T5" fmla="*/ 0 h 189"/>
                  <a:gd name="T6" fmla="*/ 0 w 189"/>
                  <a:gd name="T7" fmla="*/ 0 h 189"/>
                  <a:gd name="T8" fmla="*/ 0 w 189"/>
                  <a:gd name="T9" fmla="*/ 0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 h="189">
                    <a:moveTo>
                      <a:pt x="0" y="130"/>
                    </a:moveTo>
                    <a:lnTo>
                      <a:pt x="130" y="0"/>
                    </a:lnTo>
                    <a:lnTo>
                      <a:pt x="189" y="0"/>
                    </a:lnTo>
                    <a:lnTo>
                      <a:pt x="0" y="189"/>
                    </a:lnTo>
                    <a:lnTo>
                      <a:pt x="0" y="13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88" name="Freeform 3552"/>
              <p:cNvSpPr>
                <a:spLocks noChangeAspect="1"/>
              </p:cNvSpPr>
              <p:nvPr/>
            </p:nvSpPr>
            <p:spPr bwMode="auto">
              <a:xfrm>
                <a:off x="5208" y="1157"/>
                <a:ext cx="73" cy="73"/>
              </a:xfrm>
              <a:custGeom>
                <a:avLst/>
                <a:gdLst>
                  <a:gd name="T0" fmla="*/ 0 w 218"/>
                  <a:gd name="T1" fmla="*/ 0 h 219"/>
                  <a:gd name="T2" fmla="*/ 0 w 218"/>
                  <a:gd name="T3" fmla="*/ 0 h 219"/>
                  <a:gd name="T4" fmla="*/ 0 w 218"/>
                  <a:gd name="T5" fmla="*/ 0 h 219"/>
                  <a:gd name="T6" fmla="*/ 0 w 218"/>
                  <a:gd name="T7" fmla="*/ 0 h 219"/>
                  <a:gd name="T8" fmla="*/ 0 w 218"/>
                  <a:gd name="T9" fmla="*/ 0 h 2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 h="219">
                    <a:moveTo>
                      <a:pt x="0" y="160"/>
                    </a:moveTo>
                    <a:lnTo>
                      <a:pt x="159" y="0"/>
                    </a:lnTo>
                    <a:lnTo>
                      <a:pt x="218" y="0"/>
                    </a:lnTo>
                    <a:lnTo>
                      <a:pt x="0" y="219"/>
                    </a:lnTo>
                    <a:lnTo>
                      <a:pt x="0" y="16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89" name="Freeform 3553"/>
              <p:cNvSpPr>
                <a:spLocks noChangeAspect="1"/>
              </p:cNvSpPr>
              <p:nvPr/>
            </p:nvSpPr>
            <p:spPr bwMode="auto">
              <a:xfrm>
                <a:off x="5208" y="1157"/>
                <a:ext cx="83" cy="82"/>
              </a:xfrm>
              <a:custGeom>
                <a:avLst/>
                <a:gdLst>
                  <a:gd name="T0" fmla="*/ 0 w 248"/>
                  <a:gd name="T1" fmla="*/ 0 h 248"/>
                  <a:gd name="T2" fmla="*/ 0 w 248"/>
                  <a:gd name="T3" fmla="*/ 0 h 248"/>
                  <a:gd name="T4" fmla="*/ 0 w 248"/>
                  <a:gd name="T5" fmla="*/ 0 h 248"/>
                  <a:gd name="T6" fmla="*/ 0 w 248"/>
                  <a:gd name="T7" fmla="*/ 0 h 248"/>
                  <a:gd name="T8" fmla="*/ 0 w 248"/>
                  <a:gd name="T9" fmla="*/ 0 h 2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8" h="248">
                    <a:moveTo>
                      <a:pt x="0" y="189"/>
                    </a:moveTo>
                    <a:lnTo>
                      <a:pt x="189" y="0"/>
                    </a:lnTo>
                    <a:lnTo>
                      <a:pt x="248" y="0"/>
                    </a:lnTo>
                    <a:lnTo>
                      <a:pt x="0" y="248"/>
                    </a:lnTo>
                    <a:lnTo>
                      <a:pt x="0" y="1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90" name="Freeform 3554"/>
              <p:cNvSpPr>
                <a:spLocks noChangeAspect="1"/>
              </p:cNvSpPr>
              <p:nvPr/>
            </p:nvSpPr>
            <p:spPr bwMode="auto">
              <a:xfrm>
                <a:off x="5208" y="1157"/>
                <a:ext cx="93" cy="92"/>
              </a:xfrm>
              <a:custGeom>
                <a:avLst/>
                <a:gdLst>
                  <a:gd name="T0" fmla="*/ 0 w 278"/>
                  <a:gd name="T1" fmla="*/ 0 h 278"/>
                  <a:gd name="T2" fmla="*/ 0 w 278"/>
                  <a:gd name="T3" fmla="*/ 0 h 278"/>
                  <a:gd name="T4" fmla="*/ 0 w 278"/>
                  <a:gd name="T5" fmla="*/ 0 h 278"/>
                  <a:gd name="T6" fmla="*/ 0 w 278"/>
                  <a:gd name="T7" fmla="*/ 0 h 278"/>
                  <a:gd name="T8" fmla="*/ 0 w 278"/>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8" h="278">
                    <a:moveTo>
                      <a:pt x="0" y="219"/>
                    </a:moveTo>
                    <a:lnTo>
                      <a:pt x="218" y="0"/>
                    </a:lnTo>
                    <a:lnTo>
                      <a:pt x="278" y="0"/>
                    </a:lnTo>
                    <a:lnTo>
                      <a:pt x="0" y="278"/>
                    </a:lnTo>
                    <a:lnTo>
                      <a:pt x="0" y="21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91" name="Freeform 3555"/>
              <p:cNvSpPr>
                <a:spLocks noChangeAspect="1"/>
              </p:cNvSpPr>
              <p:nvPr/>
            </p:nvSpPr>
            <p:spPr bwMode="auto">
              <a:xfrm>
                <a:off x="5208" y="1157"/>
                <a:ext cx="103" cy="102"/>
              </a:xfrm>
              <a:custGeom>
                <a:avLst/>
                <a:gdLst>
                  <a:gd name="T0" fmla="*/ 0 w 307"/>
                  <a:gd name="T1" fmla="*/ 0 h 307"/>
                  <a:gd name="T2" fmla="*/ 0 w 307"/>
                  <a:gd name="T3" fmla="*/ 0 h 307"/>
                  <a:gd name="T4" fmla="*/ 0 w 307"/>
                  <a:gd name="T5" fmla="*/ 0 h 307"/>
                  <a:gd name="T6" fmla="*/ 0 w 307"/>
                  <a:gd name="T7" fmla="*/ 0 h 307"/>
                  <a:gd name="T8" fmla="*/ 0 w 307"/>
                  <a:gd name="T9" fmla="*/ 0 h 3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7" h="307">
                    <a:moveTo>
                      <a:pt x="0" y="248"/>
                    </a:moveTo>
                    <a:lnTo>
                      <a:pt x="248" y="0"/>
                    </a:lnTo>
                    <a:lnTo>
                      <a:pt x="307" y="0"/>
                    </a:lnTo>
                    <a:lnTo>
                      <a:pt x="0" y="307"/>
                    </a:lnTo>
                    <a:lnTo>
                      <a:pt x="0" y="2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92" name="Freeform 3556"/>
              <p:cNvSpPr>
                <a:spLocks noChangeAspect="1"/>
              </p:cNvSpPr>
              <p:nvPr/>
            </p:nvSpPr>
            <p:spPr bwMode="auto">
              <a:xfrm>
                <a:off x="5208" y="1157"/>
                <a:ext cx="113" cy="105"/>
              </a:xfrm>
              <a:custGeom>
                <a:avLst/>
                <a:gdLst>
                  <a:gd name="T0" fmla="*/ 0 w 337"/>
                  <a:gd name="T1" fmla="*/ 0 h 315"/>
                  <a:gd name="T2" fmla="*/ 0 w 337"/>
                  <a:gd name="T3" fmla="*/ 0 h 315"/>
                  <a:gd name="T4" fmla="*/ 0 w 337"/>
                  <a:gd name="T5" fmla="*/ 0 h 315"/>
                  <a:gd name="T6" fmla="*/ 0 w 337"/>
                  <a:gd name="T7" fmla="*/ 0 h 315"/>
                  <a:gd name="T8" fmla="*/ 0 w 337"/>
                  <a:gd name="T9" fmla="*/ 0 h 315"/>
                  <a:gd name="T10" fmla="*/ 0 w 337"/>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7" h="315">
                    <a:moveTo>
                      <a:pt x="0" y="278"/>
                    </a:moveTo>
                    <a:lnTo>
                      <a:pt x="278" y="0"/>
                    </a:lnTo>
                    <a:lnTo>
                      <a:pt x="337" y="0"/>
                    </a:lnTo>
                    <a:lnTo>
                      <a:pt x="22" y="315"/>
                    </a:lnTo>
                    <a:lnTo>
                      <a:pt x="0" y="315"/>
                    </a:lnTo>
                    <a:lnTo>
                      <a:pt x="0" y="27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93" name="Freeform 3557"/>
              <p:cNvSpPr>
                <a:spLocks noChangeAspect="1"/>
              </p:cNvSpPr>
              <p:nvPr/>
            </p:nvSpPr>
            <p:spPr bwMode="auto">
              <a:xfrm>
                <a:off x="5208" y="1157"/>
                <a:ext cx="122" cy="105"/>
              </a:xfrm>
              <a:custGeom>
                <a:avLst/>
                <a:gdLst>
                  <a:gd name="T0" fmla="*/ 0 w 366"/>
                  <a:gd name="T1" fmla="*/ 0 h 315"/>
                  <a:gd name="T2" fmla="*/ 0 w 366"/>
                  <a:gd name="T3" fmla="*/ 0 h 315"/>
                  <a:gd name="T4" fmla="*/ 0 w 366"/>
                  <a:gd name="T5" fmla="*/ 0 h 315"/>
                  <a:gd name="T6" fmla="*/ 0 w 366"/>
                  <a:gd name="T7" fmla="*/ 0 h 315"/>
                  <a:gd name="T8" fmla="*/ 0 w 366"/>
                  <a:gd name="T9" fmla="*/ 0 h 315"/>
                  <a:gd name="T10" fmla="*/ 0 w 366"/>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66" h="315">
                    <a:moveTo>
                      <a:pt x="0" y="307"/>
                    </a:moveTo>
                    <a:lnTo>
                      <a:pt x="307" y="0"/>
                    </a:lnTo>
                    <a:lnTo>
                      <a:pt x="366" y="0"/>
                    </a:lnTo>
                    <a:lnTo>
                      <a:pt x="52" y="315"/>
                    </a:lnTo>
                    <a:lnTo>
                      <a:pt x="0" y="315"/>
                    </a:lnTo>
                    <a:lnTo>
                      <a:pt x="0" y="3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94" name="Freeform 3558"/>
              <p:cNvSpPr>
                <a:spLocks noChangeAspect="1"/>
              </p:cNvSpPr>
              <p:nvPr/>
            </p:nvSpPr>
            <p:spPr bwMode="auto">
              <a:xfrm>
                <a:off x="5216" y="1157"/>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95" name="Freeform 3559"/>
              <p:cNvSpPr>
                <a:spLocks noChangeAspect="1"/>
              </p:cNvSpPr>
              <p:nvPr/>
            </p:nvSpPr>
            <p:spPr bwMode="auto">
              <a:xfrm>
                <a:off x="5226"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96" name="Freeform 3560"/>
              <p:cNvSpPr>
                <a:spLocks noChangeAspect="1"/>
              </p:cNvSpPr>
              <p:nvPr/>
            </p:nvSpPr>
            <p:spPr bwMode="auto">
              <a:xfrm>
                <a:off x="5236"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97" name="Freeform 3561"/>
              <p:cNvSpPr>
                <a:spLocks noChangeAspect="1"/>
              </p:cNvSpPr>
              <p:nvPr/>
            </p:nvSpPr>
            <p:spPr bwMode="auto">
              <a:xfrm>
                <a:off x="5245"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98" name="Freeform 3562"/>
              <p:cNvSpPr>
                <a:spLocks noChangeAspect="1"/>
              </p:cNvSpPr>
              <p:nvPr/>
            </p:nvSpPr>
            <p:spPr bwMode="auto">
              <a:xfrm>
                <a:off x="5255"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99" name="Freeform 3563"/>
              <p:cNvSpPr>
                <a:spLocks noChangeAspect="1"/>
              </p:cNvSpPr>
              <p:nvPr/>
            </p:nvSpPr>
            <p:spPr bwMode="auto">
              <a:xfrm>
                <a:off x="5265"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w 374"/>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74" h="315">
                    <a:moveTo>
                      <a:pt x="0" y="315"/>
                    </a:moveTo>
                    <a:lnTo>
                      <a:pt x="315" y="0"/>
                    </a:lnTo>
                    <a:lnTo>
                      <a:pt x="374" y="0"/>
                    </a:lnTo>
                    <a:lnTo>
                      <a:pt x="60" y="315"/>
                    </a:lnTo>
                    <a:lnTo>
                      <a:pt x="47"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00" name="Freeform 3564"/>
              <p:cNvSpPr>
                <a:spLocks noChangeAspect="1"/>
              </p:cNvSpPr>
              <p:nvPr/>
            </p:nvSpPr>
            <p:spPr bwMode="auto">
              <a:xfrm>
                <a:off x="5275"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w 373"/>
                  <a:gd name="T11" fmla="*/ 0 h 315"/>
                  <a:gd name="T12" fmla="*/ 0 w 373"/>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73" h="315">
                    <a:moveTo>
                      <a:pt x="0" y="315"/>
                    </a:moveTo>
                    <a:lnTo>
                      <a:pt x="314" y="0"/>
                    </a:lnTo>
                    <a:lnTo>
                      <a:pt x="361" y="0"/>
                    </a:lnTo>
                    <a:lnTo>
                      <a:pt x="373" y="0"/>
                    </a:lnTo>
                    <a:lnTo>
                      <a:pt x="58" y="315"/>
                    </a:lnTo>
                    <a:lnTo>
                      <a:pt x="17"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01" name="Freeform 3565"/>
              <p:cNvSpPr>
                <a:spLocks noChangeAspect="1"/>
              </p:cNvSpPr>
              <p:nvPr/>
            </p:nvSpPr>
            <p:spPr bwMode="auto">
              <a:xfrm>
                <a:off x="5285"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w 373"/>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73" h="315">
                    <a:moveTo>
                      <a:pt x="0" y="315"/>
                    </a:moveTo>
                    <a:lnTo>
                      <a:pt x="314" y="0"/>
                    </a:lnTo>
                    <a:lnTo>
                      <a:pt x="331"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02" name="Freeform 3566"/>
              <p:cNvSpPr>
                <a:spLocks noChangeAspect="1"/>
              </p:cNvSpPr>
              <p:nvPr/>
            </p:nvSpPr>
            <p:spPr bwMode="auto">
              <a:xfrm>
                <a:off x="5294"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03" name="Freeform 3567"/>
              <p:cNvSpPr>
                <a:spLocks noChangeAspect="1"/>
              </p:cNvSpPr>
              <p:nvPr/>
            </p:nvSpPr>
            <p:spPr bwMode="auto">
              <a:xfrm>
                <a:off x="5304"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04" name="Freeform 3568"/>
              <p:cNvSpPr>
                <a:spLocks noChangeAspect="1"/>
              </p:cNvSpPr>
              <p:nvPr/>
            </p:nvSpPr>
            <p:spPr bwMode="auto">
              <a:xfrm>
                <a:off x="5314"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05" name="Freeform 3569"/>
              <p:cNvSpPr>
                <a:spLocks noChangeAspect="1"/>
              </p:cNvSpPr>
              <p:nvPr/>
            </p:nvSpPr>
            <p:spPr bwMode="auto">
              <a:xfrm>
                <a:off x="5324" y="1157"/>
                <a:ext cx="125"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06" name="Freeform 3570"/>
              <p:cNvSpPr>
                <a:spLocks noChangeAspect="1"/>
              </p:cNvSpPr>
              <p:nvPr/>
            </p:nvSpPr>
            <p:spPr bwMode="auto">
              <a:xfrm>
                <a:off x="5334" y="1157"/>
                <a:ext cx="125"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07" name="Freeform 3571"/>
              <p:cNvSpPr>
                <a:spLocks noChangeAspect="1"/>
              </p:cNvSpPr>
              <p:nvPr/>
            </p:nvSpPr>
            <p:spPr bwMode="auto">
              <a:xfrm>
                <a:off x="5344"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08" name="Freeform 3572"/>
              <p:cNvSpPr>
                <a:spLocks noChangeAspect="1"/>
              </p:cNvSpPr>
              <p:nvPr/>
            </p:nvSpPr>
            <p:spPr bwMode="auto">
              <a:xfrm>
                <a:off x="5354" y="1157"/>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09" name="Freeform 3573"/>
              <p:cNvSpPr>
                <a:spLocks noChangeAspect="1"/>
              </p:cNvSpPr>
              <p:nvPr/>
            </p:nvSpPr>
            <p:spPr bwMode="auto">
              <a:xfrm>
                <a:off x="5364"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5" y="0"/>
                    </a:lnTo>
                    <a:lnTo>
                      <a:pt x="373"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10" name="Freeform 3574"/>
              <p:cNvSpPr>
                <a:spLocks noChangeAspect="1"/>
              </p:cNvSpPr>
              <p:nvPr/>
            </p:nvSpPr>
            <p:spPr bwMode="auto">
              <a:xfrm>
                <a:off x="5374"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11" name="Freeform 3575"/>
              <p:cNvSpPr>
                <a:spLocks noChangeAspect="1"/>
              </p:cNvSpPr>
              <p:nvPr/>
            </p:nvSpPr>
            <p:spPr bwMode="auto">
              <a:xfrm>
                <a:off x="5384"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3"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12" name="Freeform 3576"/>
              <p:cNvSpPr>
                <a:spLocks noChangeAspect="1"/>
              </p:cNvSpPr>
              <p:nvPr/>
            </p:nvSpPr>
            <p:spPr bwMode="auto">
              <a:xfrm>
                <a:off x="5393"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13" name="Freeform 3577"/>
              <p:cNvSpPr>
                <a:spLocks noChangeAspect="1"/>
              </p:cNvSpPr>
              <p:nvPr/>
            </p:nvSpPr>
            <p:spPr bwMode="auto">
              <a:xfrm>
                <a:off x="5403"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14" name="Freeform 3578"/>
              <p:cNvSpPr>
                <a:spLocks noChangeAspect="1"/>
              </p:cNvSpPr>
              <p:nvPr/>
            </p:nvSpPr>
            <p:spPr bwMode="auto">
              <a:xfrm>
                <a:off x="5413"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5" y="0"/>
                    </a:lnTo>
                    <a:lnTo>
                      <a:pt x="373"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15" name="Freeform 3579"/>
              <p:cNvSpPr>
                <a:spLocks noChangeAspect="1"/>
              </p:cNvSpPr>
              <p:nvPr/>
            </p:nvSpPr>
            <p:spPr bwMode="auto">
              <a:xfrm>
                <a:off x="5423"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5"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16" name="Freeform 3580"/>
              <p:cNvSpPr>
                <a:spLocks noChangeAspect="1"/>
              </p:cNvSpPr>
              <p:nvPr/>
            </p:nvSpPr>
            <p:spPr bwMode="auto">
              <a:xfrm>
                <a:off x="5433" y="1157"/>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4"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17" name="Freeform 3581"/>
              <p:cNvSpPr>
                <a:spLocks noChangeAspect="1"/>
              </p:cNvSpPr>
              <p:nvPr/>
            </p:nvSpPr>
            <p:spPr bwMode="auto">
              <a:xfrm>
                <a:off x="5442"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18" name="Freeform 3582"/>
              <p:cNvSpPr>
                <a:spLocks noChangeAspect="1"/>
              </p:cNvSpPr>
              <p:nvPr/>
            </p:nvSpPr>
            <p:spPr bwMode="auto">
              <a:xfrm>
                <a:off x="5452"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19" name="Freeform 3583"/>
              <p:cNvSpPr>
                <a:spLocks noChangeAspect="1"/>
              </p:cNvSpPr>
              <p:nvPr/>
            </p:nvSpPr>
            <p:spPr bwMode="auto">
              <a:xfrm>
                <a:off x="5462" y="1157"/>
                <a:ext cx="122" cy="105"/>
              </a:xfrm>
              <a:custGeom>
                <a:avLst/>
                <a:gdLst>
                  <a:gd name="T0" fmla="*/ 0 w 366"/>
                  <a:gd name="T1" fmla="*/ 0 h 315"/>
                  <a:gd name="T2" fmla="*/ 0 w 366"/>
                  <a:gd name="T3" fmla="*/ 0 h 315"/>
                  <a:gd name="T4" fmla="*/ 0 w 366"/>
                  <a:gd name="T5" fmla="*/ 0 h 315"/>
                  <a:gd name="T6" fmla="*/ 0 w 366"/>
                  <a:gd name="T7" fmla="*/ 0 h 315"/>
                  <a:gd name="T8" fmla="*/ 0 w 366"/>
                  <a:gd name="T9" fmla="*/ 0 h 315"/>
                  <a:gd name="T10" fmla="*/ 0 w 366"/>
                  <a:gd name="T11" fmla="*/ 0 h 315"/>
                  <a:gd name="T12" fmla="*/ 0 w 366"/>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6" h="315">
                    <a:moveTo>
                      <a:pt x="0" y="315"/>
                    </a:moveTo>
                    <a:lnTo>
                      <a:pt x="315" y="0"/>
                    </a:lnTo>
                    <a:lnTo>
                      <a:pt x="366" y="0"/>
                    </a:lnTo>
                    <a:lnTo>
                      <a:pt x="366" y="9"/>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20" name="Freeform 3584"/>
              <p:cNvSpPr>
                <a:spLocks noChangeAspect="1"/>
              </p:cNvSpPr>
              <p:nvPr/>
            </p:nvSpPr>
            <p:spPr bwMode="auto">
              <a:xfrm>
                <a:off x="5472" y="1157"/>
                <a:ext cx="112" cy="105"/>
              </a:xfrm>
              <a:custGeom>
                <a:avLst/>
                <a:gdLst>
                  <a:gd name="T0" fmla="*/ 0 w 336"/>
                  <a:gd name="T1" fmla="*/ 0 h 315"/>
                  <a:gd name="T2" fmla="*/ 0 w 336"/>
                  <a:gd name="T3" fmla="*/ 0 h 315"/>
                  <a:gd name="T4" fmla="*/ 0 w 336"/>
                  <a:gd name="T5" fmla="*/ 0 h 315"/>
                  <a:gd name="T6" fmla="*/ 0 w 336"/>
                  <a:gd name="T7" fmla="*/ 0 h 315"/>
                  <a:gd name="T8" fmla="*/ 0 w 336"/>
                  <a:gd name="T9" fmla="*/ 0 h 315"/>
                  <a:gd name="T10" fmla="*/ 0 w 336"/>
                  <a:gd name="T11" fmla="*/ 0 h 315"/>
                  <a:gd name="T12" fmla="*/ 0 w 336"/>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15">
                    <a:moveTo>
                      <a:pt x="0" y="315"/>
                    </a:moveTo>
                    <a:lnTo>
                      <a:pt x="315" y="0"/>
                    </a:lnTo>
                    <a:lnTo>
                      <a:pt x="336" y="0"/>
                    </a:lnTo>
                    <a:lnTo>
                      <a:pt x="336" y="37"/>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21" name="Freeform 3585"/>
              <p:cNvSpPr>
                <a:spLocks noChangeAspect="1"/>
              </p:cNvSpPr>
              <p:nvPr/>
            </p:nvSpPr>
            <p:spPr bwMode="auto">
              <a:xfrm>
                <a:off x="5482" y="1160"/>
                <a:ext cx="102" cy="102"/>
              </a:xfrm>
              <a:custGeom>
                <a:avLst/>
                <a:gdLst>
                  <a:gd name="T0" fmla="*/ 0 w 307"/>
                  <a:gd name="T1" fmla="*/ 0 h 306"/>
                  <a:gd name="T2" fmla="*/ 0 w 307"/>
                  <a:gd name="T3" fmla="*/ 0 h 306"/>
                  <a:gd name="T4" fmla="*/ 0 w 307"/>
                  <a:gd name="T5" fmla="*/ 0 h 306"/>
                  <a:gd name="T6" fmla="*/ 0 w 307"/>
                  <a:gd name="T7" fmla="*/ 0 h 306"/>
                  <a:gd name="T8" fmla="*/ 0 w 307"/>
                  <a:gd name="T9" fmla="*/ 0 h 3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7" h="306">
                    <a:moveTo>
                      <a:pt x="0" y="306"/>
                    </a:moveTo>
                    <a:lnTo>
                      <a:pt x="307" y="0"/>
                    </a:lnTo>
                    <a:lnTo>
                      <a:pt x="307" y="58"/>
                    </a:lnTo>
                    <a:lnTo>
                      <a:pt x="59" y="306"/>
                    </a:lnTo>
                    <a:lnTo>
                      <a:pt x="0" y="30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22" name="Freeform 3586"/>
              <p:cNvSpPr>
                <a:spLocks noChangeAspect="1"/>
              </p:cNvSpPr>
              <p:nvPr/>
            </p:nvSpPr>
            <p:spPr bwMode="auto">
              <a:xfrm>
                <a:off x="5492" y="1169"/>
                <a:ext cx="92" cy="93"/>
              </a:xfrm>
              <a:custGeom>
                <a:avLst/>
                <a:gdLst>
                  <a:gd name="T0" fmla="*/ 0 w 277"/>
                  <a:gd name="T1" fmla="*/ 0 h 278"/>
                  <a:gd name="T2" fmla="*/ 0 w 277"/>
                  <a:gd name="T3" fmla="*/ 0 h 278"/>
                  <a:gd name="T4" fmla="*/ 0 w 277"/>
                  <a:gd name="T5" fmla="*/ 0 h 278"/>
                  <a:gd name="T6" fmla="*/ 0 w 277"/>
                  <a:gd name="T7" fmla="*/ 0 h 278"/>
                  <a:gd name="T8" fmla="*/ 0 w 277"/>
                  <a:gd name="T9" fmla="*/ 0 h 278"/>
                  <a:gd name="T10" fmla="*/ 0 w 277"/>
                  <a:gd name="T11" fmla="*/ 0 h 27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7" h="278">
                    <a:moveTo>
                      <a:pt x="0" y="278"/>
                    </a:moveTo>
                    <a:lnTo>
                      <a:pt x="277" y="0"/>
                    </a:lnTo>
                    <a:lnTo>
                      <a:pt x="277" y="60"/>
                    </a:lnTo>
                    <a:lnTo>
                      <a:pt x="59" y="278"/>
                    </a:lnTo>
                    <a:lnTo>
                      <a:pt x="37" y="278"/>
                    </a:lnTo>
                    <a:lnTo>
                      <a:pt x="0" y="27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23" name="Freeform 3587"/>
              <p:cNvSpPr>
                <a:spLocks noChangeAspect="1"/>
              </p:cNvSpPr>
              <p:nvPr/>
            </p:nvSpPr>
            <p:spPr bwMode="auto">
              <a:xfrm>
                <a:off x="5502" y="1179"/>
                <a:ext cx="82" cy="83"/>
              </a:xfrm>
              <a:custGeom>
                <a:avLst/>
                <a:gdLst>
                  <a:gd name="T0" fmla="*/ 0 w 248"/>
                  <a:gd name="T1" fmla="*/ 0 h 248"/>
                  <a:gd name="T2" fmla="*/ 0 w 248"/>
                  <a:gd name="T3" fmla="*/ 0 h 248"/>
                  <a:gd name="T4" fmla="*/ 0 w 248"/>
                  <a:gd name="T5" fmla="*/ 0 h 248"/>
                  <a:gd name="T6" fmla="*/ 0 w 248"/>
                  <a:gd name="T7" fmla="*/ 0 h 248"/>
                  <a:gd name="T8" fmla="*/ 0 w 248"/>
                  <a:gd name="T9" fmla="*/ 0 h 248"/>
                  <a:gd name="T10" fmla="*/ 0 w 248"/>
                  <a:gd name="T11" fmla="*/ 0 h 2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8" h="248">
                    <a:moveTo>
                      <a:pt x="0" y="248"/>
                    </a:moveTo>
                    <a:lnTo>
                      <a:pt x="248" y="0"/>
                    </a:lnTo>
                    <a:lnTo>
                      <a:pt x="248" y="60"/>
                    </a:lnTo>
                    <a:lnTo>
                      <a:pt x="59" y="248"/>
                    </a:lnTo>
                    <a:lnTo>
                      <a:pt x="8" y="248"/>
                    </a:lnTo>
                    <a:lnTo>
                      <a:pt x="0" y="2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24" name="Freeform 3588"/>
              <p:cNvSpPr>
                <a:spLocks noChangeAspect="1"/>
              </p:cNvSpPr>
              <p:nvPr/>
            </p:nvSpPr>
            <p:spPr bwMode="auto">
              <a:xfrm>
                <a:off x="5512" y="1189"/>
                <a:ext cx="72" cy="73"/>
              </a:xfrm>
              <a:custGeom>
                <a:avLst/>
                <a:gdLst>
                  <a:gd name="T0" fmla="*/ 0 w 218"/>
                  <a:gd name="T1" fmla="*/ 0 h 218"/>
                  <a:gd name="T2" fmla="*/ 0 w 218"/>
                  <a:gd name="T3" fmla="*/ 0 h 218"/>
                  <a:gd name="T4" fmla="*/ 0 w 218"/>
                  <a:gd name="T5" fmla="*/ 0 h 218"/>
                  <a:gd name="T6" fmla="*/ 0 w 218"/>
                  <a:gd name="T7" fmla="*/ 0 h 218"/>
                  <a:gd name="T8" fmla="*/ 0 w 218"/>
                  <a:gd name="T9" fmla="*/ 0 h 2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 h="218">
                    <a:moveTo>
                      <a:pt x="0" y="218"/>
                    </a:moveTo>
                    <a:lnTo>
                      <a:pt x="218" y="0"/>
                    </a:lnTo>
                    <a:lnTo>
                      <a:pt x="218" y="59"/>
                    </a:lnTo>
                    <a:lnTo>
                      <a:pt x="59" y="218"/>
                    </a:lnTo>
                    <a:lnTo>
                      <a:pt x="0" y="21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25" name="Freeform 3589"/>
              <p:cNvSpPr>
                <a:spLocks noChangeAspect="1"/>
              </p:cNvSpPr>
              <p:nvPr/>
            </p:nvSpPr>
            <p:spPr bwMode="auto">
              <a:xfrm>
                <a:off x="5521" y="1199"/>
                <a:ext cx="63" cy="63"/>
              </a:xfrm>
              <a:custGeom>
                <a:avLst/>
                <a:gdLst>
                  <a:gd name="T0" fmla="*/ 0 w 189"/>
                  <a:gd name="T1" fmla="*/ 0 h 188"/>
                  <a:gd name="T2" fmla="*/ 0 w 189"/>
                  <a:gd name="T3" fmla="*/ 0 h 188"/>
                  <a:gd name="T4" fmla="*/ 0 w 189"/>
                  <a:gd name="T5" fmla="*/ 0 h 188"/>
                  <a:gd name="T6" fmla="*/ 0 w 189"/>
                  <a:gd name="T7" fmla="*/ 0 h 188"/>
                  <a:gd name="T8" fmla="*/ 0 w 189"/>
                  <a:gd name="T9" fmla="*/ 0 h 1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 h="188">
                    <a:moveTo>
                      <a:pt x="0" y="188"/>
                    </a:moveTo>
                    <a:lnTo>
                      <a:pt x="189" y="0"/>
                    </a:lnTo>
                    <a:lnTo>
                      <a:pt x="189" y="58"/>
                    </a:lnTo>
                    <a:lnTo>
                      <a:pt x="60" y="188"/>
                    </a:lnTo>
                    <a:lnTo>
                      <a:pt x="0" y="18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26" name="Freeform 3590"/>
              <p:cNvSpPr>
                <a:spLocks noChangeAspect="1"/>
              </p:cNvSpPr>
              <p:nvPr/>
            </p:nvSpPr>
            <p:spPr bwMode="auto">
              <a:xfrm>
                <a:off x="5531" y="1209"/>
                <a:ext cx="53" cy="53"/>
              </a:xfrm>
              <a:custGeom>
                <a:avLst/>
                <a:gdLst>
                  <a:gd name="T0" fmla="*/ 0 w 159"/>
                  <a:gd name="T1" fmla="*/ 0 h 159"/>
                  <a:gd name="T2" fmla="*/ 0 w 159"/>
                  <a:gd name="T3" fmla="*/ 0 h 159"/>
                  <a:gd name="T4" fmla="*/ 0 w 159"/>
                  <a:gd name="T5" fmla="*/ 0 h 159"/>
                  <a:gd name="T6" fmla="*/ 0 w 159"/>
                  <a:gd name="T7" fmla="*/ 0 h 159"/>
                  <a:gd name="T8" fmla="*/ 0 w 159"/>
                  <a:gd name="T9" fmla="*/ 0 h 1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 h="159">
                    <a:moveTo>
                      <a:pt x="0" y="159"/>
                    </a:moveTo>
                    <a:lnTo>
                      <a:pt x="159" y="0"/>
                    </a:lnTo>
                    <a:lnTo>
                      <a:pt x="159" y="59"/>
                    </a:lnTo>
                    <a:lnTo>
                      <a:pt x="59" y="159"/>
                    </a:lnTo>
                    <a:lnTo>
                      <a:pt x="0" y="15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27" name="Freeform 3591"/>
              <p:cNvSpPr>
                <a:spLocks noChangeAspect="1"/>
              </p:cNvSpPr>
              <p:nvPr/>
            </p:nvSpPr>
            <p:spPr bwMode="auto">
              <a:xfrm>
                <a:off x="5541" y="1218"/>
                <a:ext cx="43" cy="44"/>
              </a:xfrm>
              <a:custGeom>
                <a:avLst/>
                <a:gdLst>
                  <a:gd name="T0" fmla="*/ 0 w 129"/>
                  <a:gd name="T1" fmla="*/ 0 h 130"/>
                  <a:gd name="T2" fmla="*/ 0 w 129"/>
                  <a:gd name="T3" fmla="*/ 0 h 130"/>
                  <a:gd name="T4" fmla="*/ 0 w 129"/>
                  <a:gd name="T5" fmla="*/ 0 h 130"/>
                  <a:gd name="T6" fmla="*/ 0 w 129"/>
                  <a:gd name="T7" fmla="*/ 0 h 130"/>
                  <a:gd name="T8" fmla="*/ 0 w 129"/>
                  <a:gd name="T9" fmla="*/ 0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9" h="130">
                    <a:moveTo>
                      <a:pt x="0" y="130"/>
                    </a:moveTo>
                    <a:lnTo>
                      <a:pt x="129" y="0"/>
                    </a:lnTo>
                    <a:lnTo>
                      <a:pt x="129" y="60"/>
                    </a:lnTo>
                    <a:lnTo>
                      <a:pt x="59" y="130"/>
                    </a:lnTo>
                    <a:lnTo>
                      <a:pt x="0" y="13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28" name="Freeform 3592"/>
              <p:cNvSpPr>
                <a:spLocks noChangeAspect="1"/>
              </p:cNvSpPr>
              <p:nvPr/>
            </p:nvSpPr>
            <p:spPr bwMode="auto">
              <a:xfrm>
                <a:off x="5551" y="1228"/>
                <a:ext cx="33" cy="34"/>
              </a:xfrm>
              <a:custGeom>
                <a:avLst/>
                <a:gdLst>
                  <a:gd name="T0" fmla="*/ 0 w 100"/>
                  <a:gd name="T1" fmla="*/ 0 h 100"/>
                  <a:gd name="T2" fmla="*/ 0 w 100"/>
                  <a:gd name="T3" fmla="*/ 0 h 100"/>
                  <a:gd name="T4" fmla="*/ 0 w 100"/>
                  <a:gd name="T5" fmla="*/ 0 h 100"/>
                  <a:gd name="T6" fmla="*/ 0 w 100"/>
                  <a:gd name="T7" fmla="*/ 0 h 100"/>
                  <a:gd name="T8" fmla="*/ 0 w 100"/>
                  <a:gd name="T9" fmla="*/ 0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 h="100">
                    <a:moveTo>
                      <a:pt x="0" y="100"/>
                    </a:moveTo>
                    <a:lnTo>
                      <a:pt x="100" y="0"/>
                    </a:lnTo>
                    <a:lnTo>
                      <a:pt x="100" y="59"/>
                    </a:lnTo>
                    <a:lnTo>
                      <a:pt x="59" y="100"/>
                    </a:lnTo>
                    <a:lnTo>
                      <a:pt x="0" y="1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29" name="Freeform 3593"/>
              <p:cNvSpPr>
                <a:spLocks noChangeAspect="1"/>
              </p:cNvSpPr>
              <p:nvPr/>
            </p:nvSpPr>
            <p:spPr bwMode="auto">
              <a:xfrm>
                <a:off x="5561" y="1238"/>
                <a:ext cx="23" cy="24"/>
              </a:xfrm>
              <a:custGeom>
                <a:avLst/>
                <a:gdLst>
                  <a:gd name="T0" fmla="*/ 0 w 70"/>
                  <a:gd name="T1" fmla="*/ 0 h 70"/>
                  <a:gd name="T2" fmla="*/ 0 w 70"/>
                  <a:gd name="T3" fmla="*/ 0 h 70"/>
                  <a:gd name="T4" fmla="*/ 0 w 70"/>
                  <a:gd name="T5" fmla="*/ 0 h 70"/>
                  <a:gd name="T6" fmla="*/ 0 w 70"/>
                  <a:gd name="T7" fmla="*/ 0 h 70"/>
                  <a:gd name="T8" fmla="*/ 0 w 70"/>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70">
                    <a:moveTo>
                      <a:pt x="0" y="70"/>
                    </a:moveTo>
                    <a:lnTo>
                      <a:pt x="70" y="0"/>
                    </a:lnTo>
                    <a:lnTo>
                      <a:pt x="70" y="59"/>
                    </a:lnTo>
                    <a:lnTo>
                      <a:pt x="59" y="70"/>
                    </a:lnTo>
                    <a:lnTo>
                      <a:pt x="0" y="7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30" name="Freeform 3594"/>
              <p:cNvSpPr>
                <a:spLocks noChangeAspect="1"/>
              </p:cNvSpPr>
              <p:nvPr/>
            </p:nvSpPr>
            <p:spPr bwMode="auto">
              <a:xfrm>
                <a:off x="5571" y="1248"/>
                <a:ext cx="13" cy="14"/>
              </a:xfrm>
              <a:custGeom>
                <a:avLst/>
                <a:gdLst>
                  <a:gd name="T0" fmla="*/ 0 w 41"/>
                  <a:gd name="T1" fmla="*/ 0 h 41"/>
                  <a:gd name="T2" fmla="*/ 0 w 41"/>
                  <a:gd name="T3" fmla="*/ 0 h 41"/>
                  <a:gd name="T4" fmla="*/ 0 w 41"/>
                  <a:gd name="T5" fmla="*/ 0 h 41"/>
                  <a:gd name="T6" fmla="*/ 0 w 41"/>
                  <a:gd name="T7" fmla="*/ 0 h 4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1" h="41">
                    <a:moveTo>
                      <a:pt x="0" y="41"/>
                    </a:moveTo>
                    <a:lnTo>
                      <a:pt x="41" y="0"/>
                    </a:lnTo>
                    <a:lnTo>
                      <a:pt x="41" y="41"/>
                    </a:lnTo>
                    <a:lnTo>
                      <a:pt x="0" y="4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31" name="Freeform 3595"/>
              <p:cNvSpPr>
                <a:spLocks noChangeAspect="1"/>
              </p:cNvSpPr>
              <p:nvPr/>
            </p:nvSpPr>
            <p:spPr bwMode="auto">
              <a:xfrm>
                <a:off x="5208" y="1157"/>
                <a:ext cx="376" cy="105"/>
              </a:xfrm>
              <a:custGeom>
                <a:avLst/>
                <a:gdLst>
                  <a:gd name="T0" fmla="*/ 0 w 1128"/>
                  <a:gd name="T1" fmla="*/ 0 h 315"/>
                  <a:gd name="T2" fmla="*/ 0 w 1128"/>
                  <a:gd name="T3" fmla="*/ 0 h 315"/>
                  <a:gd name="T4" fmla="*/ 0 w 1128"/>
                  <a:gd name="T5" fmla="*/ 0 h 315"/>
                  <a:gd name="T6" fmla="*/ 0 w 1128"/>
                  <a:gd name="T7" fmla="*/ 0 h 315"/>
                  <a:gd name="T8" fmla="*/ 0 w 1128"/>
                  <a:gd name="T9" fmla="*/ 0 h 315"/>
                  <a:gd name="T10" fmla="*/ 0 w 1128"/>
                  <a:gd name="T11" fmla="*/ 0 h 315"/>
                  <a:gd name="T12" fmla="*/ 0 w 1128"/>
                  <a:gd name="T13" fmla="*/ 0 h 315"/>
                  <a:gd name="T14" fmla="*/ 0 w 1128"/>
                  <a:gd name="T15" fmla="*/ 0 h 315"/>
                  <a:gd name="T16" fmla="*/ 0 w 1128"/>
                  <a:gd name="T17" fmla="*/ 0 h 3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28" h="315">
                    <a:moveTo>
                      <a:pt x="0" y="0"/>
                    </a:moveTo>
                    <a:lnTo>
                      <a:pt x="93" y="0"/>
                    </a:lnTo>
                    <a:lnTo>
                      <a:pt x="561" y="0"/>
                    </a:lnTo>
                    <a:lnTo>
                      <a:pt x="1128" y="0"/>
                    </a:lnTo>
                    <a:lnTo>
                      <a:pt x="1128" y="315"/>
                    </a:lnTo>
                    <a:lnTo>
                      <a:pt x="888" y="315"/>
                    </a:lnTo>
                    <a:lnTo>
                      <a:pt x="217" y="315"/>
                    </a:lnTo>
                    <a:lnTo>
                      <a:pt x="0" y="315"/>
                    </a:lnTo>
                    <a:lnTo>
                      <a:pt x="0" y="0"/>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grpSp>
        <p:grpSp>
          <p:nvGrpSpPr>
            <p:cNvPr id="386459" name="Group 3596"/>
            <p:cNvGrpSpPr>
              <a:grpSpLocks noChangeAspect="1"/>
            </p:cNvGrpSpPr>
            <p:nvPr/>
          </p:nvGrpSpPr>
          <p:grpSpPr bwMode="auto">
            <a:xfrm>
              <a:off x="490" y="2253"/>
              <a:ext cx="323" cy="620"/>
              <a:chOff x="4057" y="2065"/>
              <a:chExt cx="375" cy="732"/>
            </a:xfrm>
          </p:grpSpPr>
          <p:grpSp>
            <p:nvGrpSpPr>
              <p:cNvPr id="387818" name="Group 3597"/>
              <p:cNvGrpSpPr>
                <a:grpSpLocks noChangeAspect="1"/>
              </p:cNvGrpSpPr>
              <p:nvPr/>
            </p:nvGrpSpPr>
            <p:grpSpPr bwMode="auto">
              <a:xfrm>
                <a:off x="4113" y="2668"/>
                <a:ext cx="268" cy="129"/>
                <a:chOff x="4113" y="2668"/>
                <a:chExt cx="268" cy="86"/>
              </a:xfrm>
            </p:grpSpPr>
            <p:sp>
              <p:nvSpPr>
                <p:cNvPr id="68110" name="Rectangle 3598"/>
                <p:cNvSpPr>
                  <a:spLocks noChangeAspect="1" noChangeArrowheads="1"/>
                </p:cNvSpPr>
                <p:nvPr/>
              </p:nvSpPr>
              <p:spPr bwMode="auto">
                <a:xfrm>
                  <a:off x="4113" y="2668"/>
                  <a:ext cx="6"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11" name="Rectangle 3599"/>
                <p:cNvSpPr>
                  <a:spLocks noChangeAspect="1" noChangeArrowheads="1"/>
                </p:cNvSpPr>
                <p:nvPr/>
              </p:nvSpPr>
              <p:spPr bwMode="auto">
                <a:xfrm>
                  <a:off x="4113"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12" name="Rectangle 3600"/>
                <p:cNvSpPr>
                  <a:spLocks noChangeAspect="1" noChangeArrowheads="1"/>
                </p:cNvSpPr>
                <p:nvPr/>
              </p:nvSpPr>
              <p:spPr bwMode="auto">
                <a:xfrm>
                  <a:off x="4119"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13" name="Rectangle 3601"/>
                <p:cNvSpPr>
                  <a:spLocks noChangeAspect="1" noChangeArrowheads="1"/>
                </p:cNvSpPr>
                <p:nvPr/>
              </p:nvSpPr>
              <p:spPr bwMode="auto">
                <a:xfrm>
                  <a:off x="4123"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14" name="Rectangle 3602"/>
                <p:cNvSpPr>
                  <a:spLocks noChangeAspect="1" noChangeArrowheads="1"/>
                </p:cNvSpPr>
                <p:nvPr/>
              </p:nvSpPr>
              <p:spPr bwMode="auto">
                <a:xfrm>
                  <a:off x="4129" y="2668"/>
                  <a:ext cx="9"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15" name="Rectangle 3603"/>
                <p:cNvSpPr>
                  <a:spLocks noChangeAspect="1" noChangeArrowheads="1"/>
                </p:cNvSpPr>
                <p:nvPr/>
              </p:nvSpPr>
              <p:spPr bwMode="auto">
                <a:xfrm>
                  <a:off x="4135"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16" name="Rectangle 3604"/>
                <p:cNvSpPr>
                  <a:spLocks noChangeAspect="1" noChangeArrowheads="1"/>
                </p:cNvSpPr>
                <p:nvPr/>
              </p:nvSpPr>
              <p:spPr bwMode="auto">
                <a:xfrm>
                  <a:off x="4138" y="2668"/>
                  <a:ext cx="13"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17" name="Rectangle 3605"/>
                <p:cNvSpPr>
                  <a:spLocks noChangeAspect="1" noChangeArrowheads="1"/>
                </p:cNvSpPr>
                <p:nvPr/>
              </p:nvSpPr>
              <p:spPr bwMode="auto">
                <a:xfrm>
                  <a:off x="4145" y="2668"/>
                  <a:ext cx="7"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18" name="Rectangle 3606"/>
                <p:cNvSpPr>
                  <a:spLocks noChangeAspect="1" noChangeArrowheads="1"/>
                </p:cNvSpPr>
                <p:nvPr/>
              </p:nvSpPr>
              <p:spPr bwMode="auto">
                <a:xfrm>
                  <a:off x="4151" y="2668"/>
                  <a:ext cx="9"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19" name="Rectangle 3607"/>
                <p:cNvSpPr>
                  <a:spLocks noChangeAspect="1" noChangeArrowheads="1"/>
                </p:cNvSpPr>
                <p:nvPr/>
              </p:nvSpPr>
              <p:spPr bwMode="auto">
                <a:xfrm>
                  <a:off x="4156"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20" name="Rectangle 3608"/>
                <p:cNvSpPr>
                  <a:spLocks noChangeAspect="1" noChangeArrowheads="1"/>
                </p:cNvSpPr>
                <p:nvPr/>
              </p:nvSpPr>
              <p:spPr bwMode="auto">
                <a:xfrm>
                  <a:off x="4160" y="2668"/>
                  <a:ext cx="7"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21" name="Rectangle 3609"/>
                <p:cNvSpPr>
                  <a:spLocks noChangeAspect="1" noChangeArrowheads="1"/>
                </p:cNvSpPr>
                <p:nvPr/>
              </p:nvSpPr>
              <p:spPr bwMode="auto">
                <a:xfrm>
                  <a:off x="4167" y="2668"/>
                  <a:ext cx="7"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22" name="Rectangle 3610"/>
                <p:cNvSpPr>
                  <a:spLocks noChangeAspect="1" noChangeArrowheads="1"/>
                </p:cNvSpPr>
                <p:nvPr/>
              </p:nvSpPr>
              <p:spPr bwMode="auto">
                <a:xfrm>
                  <a:off x="4172" y="2668"/>
                  <a:ext cx="9"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23" name="Rectangle 3611"/>
                <p:cNvSpPr>
                  <a:spLocks noChangeAspect="1" noChangeArrowheads="1"/>
                </p:cNvSpPr>
                <p:nvPr/>
              </p:nvSpPr>
              <p:spPr bwMode="auto">
                <a:xfrm>
                  <a:off x="4178"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24" name="Rectangle 3612"/>
                <p:cNvSpPr>
                  <a:spLocks noChangeAspect="1" noChangeArrowheads="1"/>
                </p:cNvSpPr>
                <p:nvPr/>
              </p:nvSpPr>
              <p:spPr bwMode="auto">
                <a:xfrm>
                  <a:off x="4181" y="2668"/>
                  <a:ext cx="13"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25" name="Rectangle 3613"/>
                <p:cNvSpPr>
                  <a:spLocks noChangeAspect="1" noChangeArrowheads="1"/>
                </p:cNvSpPr>
                <p:nvPr/>
              </p:nvSpPr>
              <p:spPr bwMode="auto">
                <a:xfrm>
                  <a:off x="4188" y="2668"/>
                  <a:ext cx="8"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26" name="Rectangle 3614"/>
                <p:cNvSpPr>
                  <a:spLocks noChangeAspect="1" noChangeArrowheads="1"/>
                </p:cNvSpPr>
                <p:nvPr/>
              </p:nvSpPr>
              <p:spPr bwMode="auto">
                <a:xfrm>
                  <a:off x="4194" y="2668"/>
                  <a:ext cx="9"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27" name="Rectangle 3615"/>
                <p:cNvSpPr>
                  <a:spLocks noChangeAspect="1" noChangeArrowheads="1"/>
                </p:cNvSpPr>
                <p:nvPr/>
              </p:nvSpPr>
              <p:spPr bwMode="auto">
                <a:xfrm>
                  <a:off x="4199"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28" name="Rectangle 3616"/>
                <p:cNvSpPr>
                  <a:spLocks noChangeAspect="1" noChangeArrowheads="1"/>
                </p:cNvSpPr>
                <p:nvPr/>
              </p:nvSpPr>
              <p:spPr bwMode="auto">
                <a:xfrm>
                  <a:off x="4203"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29" name="Rectangle 3617"/>
                <p:cNvSpPr>
                  <a:spLocks noChangeAspect="1" noChangeArrowheads="1"/>
                </p:cNvSpPr>
                <p:nvPr/>
              </p:nvSpPr>
              <p:spPr bwMode="auto">
                <a:xfrm>
                  <a:off x="4210" y="2668"/>
                  <a:ext cx="8"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30" name="Rectangle 3618"/>
                <p:cNvSpPr>
                  <a:spLocks noChangeAspect="1" noChangeArrowheads="1"/>
                </p:cNvSpPr>
                <p:nvPr/>
              </p:nvSpPr>
              <p:spPr bwMode="auto">
                <a:xfrm>
                  <a:off x="4215"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31" name="Rectangle 3619"/>
                <p:cNvSpPr>
                  <a:spLocks noChangeAspect="1" noChangeArrowheads="1"/>
                </p:cNvSpPr>
                <p:nvPr/>
              </p:nvSpPr>
              <p:spPr bwMode="auto">
                <a:xfrm>
                  <a:off x="4221"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32" name="Rectangle 3620"/>
                <p:cNvSpPr>
                  <a:spLocks noChangeAspect="1" noChangeArrowheads="1"/>
                </p:cNvSpPr>
                <p:nvPr/>
              </p:nvSpPr>
              <p:spPr bwMode="auto">
                <a:xfrm>
                  <a:off x="4225"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33" name="Rectangle 3621"/>
                <p:cNvSpPr>
                  <a:spLocks noChangeAspect="1" noChangeArrowheads="1"/>
                </p:cNvSpPr>
                <p:nvPr/>
              </p:nvSpPr>
              <p:spPr bwMode="auto">
                <a:xfrm>
                  <a:off x="4231" y="2668"/>
                  <a:ext cx="8"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34" name="Rectangle 3622"/>
                <p:cNvSpPr>
                  <a:spLocks noChangeAspect="1" noChangeArrowheads="1"/>
                </p:cNvSpPr>
                <p:nvPr/>
              </p:nvSpPr>
              <p:spPr bwMode="auto">
                <a:xfrm>
                  <a:off x="4237"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35" name="Rectangle 3623"/>
                <p:cNvSpPr>
                  <a:spLocks noChangeAspect="1" noChangeArrowheads="1"/>
                </p:cNvSpPr>
                <p:nvPr/>
              </p:nvSpPr>
              <p:spPr bwMode="auto">
                <a:xfrm>
                  <a:off x="4242" y="2668"/>
                  <a:ext cx="13"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36" name="Rectangle 3624"/>
                <p:cNvSpPr>
                  <a:spLocks noChangeAspect="1" noChangeArrowheads="1"/>
                </p:cNvSpPr>
                <p:nvPr/>
              </p:nvSpPr>
              <p:spPr bwMode="auto">
                <a:xfrm>
                  <a:off x="4247" y="2668"/>
                  <a:ext cx="7"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37" name="Rectangle 3625"/>
                <p:cNvSpPr>
                  <a:spLocks noChangeAspect="1" noChangeArrowheads="1"/>
                </p:cNvSpPr>
                <p:nvPr/>
              </p:nvSpPr>
              <p:spPr bwMode="auto">
                <a:xfrm>
                  <a:off x="4253" y="2668"/>
                  <a:ext cx="8"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38" name="Rectangle 3626"/>
                <p:cNvSpPr>
                  <a:spLocks noChangeAspect="1" noChangeArrowheads="1"/>
                </p:cNvSpPr>
                <p:nvPr/>
              </p:nvSpPr>
              <p:spPr bwMode="auto">
                <a:xfrm>
                  <a:off x="4258"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39" name="Rectangle 3627"/>
                <p:cNvSpPr>
                  <a:spLocks noChangeAspect="1" noChangeArrowheads="1"/>
                </p:cNvSpPr>
                <p:nvPr/>
              </p:nvSpPr>
              <p:spPr bwMode="auto">
                <a:xfrm>
                  <a:off x="4264"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40" name="Rectangle 3628"/>
                <p:cNvSpPr>
                  <a:spLocks noChangeAspect="1" noChangeArrowheads="1"/>
                </p:cNvSpPr>
                <p:nvPr/>
              </p:nvSpPr>
              <p:spPr bwMode="auto">
                <a:xfrm>
                  <a:off x="4268"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41" name="Rectangle 3629"/>
                <p:cNvSpPr>
                  <a:spLocks noChangeAspect="1" noChangeArrowheads="1"/>
                </p:cNvSpPr>
                <p:nvPr/>
              </p:nvSpPr>
              <p:spPr bwMode="auto">
                <a:xfrm>
                  <a:off x="4274" y="2668"/>
                  <a:ext cx="9"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42" name="Rectangle 3630"/>
                <p:cNvSpPr>
                  <a:spLocks noChangeAspect="1" noChangeArrowheads="1"/>
                </p:cNvSpPr>
                <p:nvPr/>
              </p:nvSpPr>
              <p:spPr bwMode="auto">
                <a:xfrm>
                  <a:off x="4280"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43" name="Rectangle 3631"/>
                <p:cNvSpPr>
                  <a:spLocks noChangeAspect="1" noChangeArrowheads="1"/>
                </p:cNvSpPr>
                <p:nvPr/>
              </p:nvSpPr>
              <p:spPr bwMode="auto">
                <a:xfrm>
                  <a:off x="4285"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44" name="Rectangle 3632"/>
                <p:cNvSpPr>
                  <a:spLocks noChangeAspect="1" noChangeArrowheads="1"/>
                </p:cNvSpPr>
                <p:nvPr/>
              </p:nvSpPr>
              <p:spPr bwMode="auto">
                <a:xfrm>
                  <a:off x="4290" y="2668"/>
                  <a:ext cx="7"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45" name="Rectangle 3633"/>
                <p:cNvSpPr>
                  <a:spLocks noChangeAspect="1" noChangeArrowheads="1"/>
                </p:cNvSpPr>
                <p:nvPr/>
              </p:nvSpPr>
              <p:spPr bwMode="auto">
                <a:xfrm>
                  <a:off x="4295" y="2668"/>
                  <a:ext cx="9"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46" name="Rectangle 3634"/>
                <p:cNvSpPr>
                  <a:spLocks noChangeAspect="1" noChangeArrowheads="1"/>
                </p:cNvSpPr>
                <p:nvPr/>
              </p:nvSpPr>
              <p:spPr bwMode="auto">
                <a:xfrm>
                  <a:off x="4301"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47" name="Rectangle 3635"/>
                <p:cNvSpPr>
                  <a:spLocks noChangeAspect="1" noChangeArrowheads="1"/>
                </p:cNvSpPr>
                <p:nvPr/>
              </p:nvSpPr>
              <p:spPr bwMode="auto">
                <a:xfrm>
                  <a:off x="4304" y="2668"/>
                  <a:ext cx="13"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48" name="Rectangle 3636"/>
                <p:cNvSpPr>
                  <a:spLocks noChangeAspect="1" noChangeArrowheads="1"/>
                </p:cNvSpPr>
                <p:nvPr/>
              </p:nvSpPr>
              <p:spPr bwMode="auto">
                <a:xfrm>
                  <a:off x="4312" y="2668"/>
                  <a:ext cx="7"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49" name="Rectangle 3637"/>
                <p:cNvSpPr>
                  <a:spLocks noChangeAspect="1" noChangeArrowheads="1"/>
                </p:cNvSpPr>
                <p:nvPr/>
              </p:nvSpPr>
              <p:spPr bwMode="auto">
                <a:xfrm>
                  <a:off x="4317" y="2668"/>
                  <a:ext cx="9"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50" name="Rectangle 3638"/>
                <p:cNvSpPr>
                  <a:spLocks noChangeAspect="1" noChangeArrowheads="1"/>
                </p:cNvSpPr>
                <p:nvPr/>
              </p:nvSpPr>
              <p:spPr bwMode="auto">
                <a:xfrm>
                  <a:off x="4322"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51" name="Rectangle 3639"/>
                <p:cNvSpPr>
                  <a:spLocks noChangeAspect="1" noChangeArrowheads="1"/>
                </p:cNvSpPr>
                <p:nvPr/>
              </p:nvSpPr>
              <p:spPr bwMode="auto">
                <a:xfrm>
                  <a:off x="4328"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52" name="Rectangle 3640"/>
                <p:cNvSpPr>
                  <a:spLocks noChangeAspect="1" noChangeArrowheads="1"/>
                </p:cNvSpPr>
                <p:nvPr/>
              </p:nvSpPr>
              <p:spPr bwMode="auto">
                <a:xfrm>
                  <a:off x="4333" y="2668"/>
                  <a:ext cx="8"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53" name="Rectangle 3641"/>
                <p:cNvSpPr>
                  <a:spLocks noChangeAspect="1" noChangeArrowheads="1"/>
                </p:cNvSpPr>
                <p:nvPr/>
              </p:nvSpPr>
              <p:spPr bwMode="auto">
                <a:xfrm>
                  <a:off x="4338"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54" name="Rectangle 3642"/>
                <p:cNvSpPr>
                  <a:spLocks noChangeAspect="1" noChangeArrowheads="1"/>
                </p:cNvSpPr>
                <p:nvPr/>
              </p:nvSpPr>
              <p:spPr bwMode="auto">
                <a:xfrm>
                  <a:off x="4344"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55" name="Rectangle 3643"/>
                <p:cNvSpPr>
                  <a:spLocks noChangeAspect="1" noChangeArrowheads="1"/>
                </p:cNvSpPr>
                <p:nvPr/>
              </p:nvSpPr>
              <p:spPr bwMode="auto">
                <a:xfrm>
                  <a:off x="4348" y="2668"/>
                  <a:ext cx="12"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56" name="Rectangle 3644"/>
                <p:cNvSpPr>
                  <a:spLocks noChangeAspect="1" noChangeArrowheads="1"/>
                </p:cNvSpPr>
                <p:nvPr/>
              </p:nvSpPr>
              <p:spPr bwMode="auto">
                <a:xfrm>
                  <a:off x="4354" y="2668"/>
                  <a:ext cx="8"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57" name="Rectangle 3645"/>
                <p:cNvSpPr>
                  <a:spLocks noChangeAspect="1" noChangeArrowheads="1"/>
                </p:cNvSpPr>
                <p:nvPr/>
              </p:nvSpPr>
              <p:spPr bwMode="auto">
                <a:xfrm>
                  <a:off x="4360" y="2668"/>
                  <a:ext cx="10"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58" name="Rectangle 3646"/>
                <p:cNvSpPr>
                  <a:spLocks noChangeAspect="1" noChangeArrowheads="1"/>
                </p:cNvSpPr>
                <p:nvPr/>
              </p:nvSpPr>
              <p:spPr bwMode="auto">
                <a:xfrm>
                  <a:off x="4365" y="2668"/>
                  <a:ext cx="13"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59" name="Rectangle 3647"/>
                <p:cNvSpPr>
                  <a:spLocks noChangeAspect="1" noChangeArrowheads="1"/>
                </p:cNvSpPr>
                <p:nvPr/>
              </p:nvSpPr>
              <p:spPr bwMode="auto">
                <a:xfrm>
                  <a:off x="4370" y="2668"/>
                  <a:ext cx="7"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60" name="Rectangle 3648"/>
                <p:cNvSpPr>
                  <a:spLocks noChangeAspect="1" noChangeArrowheads="1"/>
                </p:cNvSpPr>
                <p:nvPr/>
              </p:nvSpPr>
              <p:spPr bwMode="auto">
                <a:xfrm>
                  <a:off x="4376" y="2668"/>
                  <a:ext cx="5" cy="86"/>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61" name="Rectangle 3649"/>
                <p:cNvSpPr>
                  <a:spLocks noChangeAspect="1" noChangeArrowheads="1"/>
                </p:cNvSpPr>
                <p:nvPr/>
              </p:nvSpPr>
              <p:spPr bwMode="auto">
                <a:xfrm>
                  <a:off x="4113" y="2668"/>
                  <a:ext cx="268" cy="86"/>
                </a:xfrm>
                <a:prstGeom prst="rect">
                  <a:avLst/>
                </a:prstGeom>
                <a:gradFill rotWithShape="0">
                  <a:gsLst>
                    <a:gs pos="0">
                      <a:schemeClr val="hlink"/>
                    </a:gs>
                    <a:gs pos="50000">
                      <a:schemeClr val="hlink">
                        <a:gamma/>
                        <a:tint val="40000"/>
                        <a:invGamma/>
                      </a:schemeClr>
                    </a:gs>
                    <a:gs pos="100000">
                      <a:schemeClr val="hlink"/>
                    </a:gs>
                  </a:gsLst>
                  <a:lin ang="0" scaled="1"/>
                </a:gradFill>
                <a:ln w="1588">
                  <a:solidFill>
                    <a:srgbClr val="1F1A17"/>
                  </a:solidFill>
                  <a:miter lim="800000"/>
                  <a:headEnd/>
                  <a:tailEnd/>
                </a:ln>
              </p:spPr>
              <p:txBody>
                <a:bodyPr/>
                <a:lstStyle/>
                <a:p>
                  <a:pPr>
                    <a:defRPr/>
                  </a:pPr>
                  <a:endParaRPr lang="en-US"/>
                </a:p>
              </p:txBody>
            </p:sp>
          </p:grpSp>
          <p:grpSp>
            <p:nvGrpSpPr>
              <p:cNvPr id="387819" name="Group 3650"/>
              <p:cNvGrpSpPr>
                <a:grpSpLocks noChangeAspect="1"/>
              </p:cNvGrpSpPr>
              <p:nvPr/>
            </p:nvGrpSpPr>
            <p:grpSpPr bwMode="auto">
              <a:xfrm>
                <a:off x="4057" y="2065"/>
                <a:ext cx="375" cy="493"/>
                <a:chOff x="4057" y="2065"/>
                <a:chExt cx="375" cy="529"/>
              </a:xfrm>
            </p:grpSpPr>
            <p:sp>
              <p:nvSpPr>
                <p:cNvPr id="68163" name="Rectangle 3651"/>
                <p:cNvSpPr>
                  <a:spLocks noChangeAspect="1" noChangeArrowheads="1"/>
                </p:cNvSpPr>
                <p:nvPr/>
              </p:nvSpPr>
              <p:spPr bwMode="auto">
                <a:xfrm>
                  <a:off x="4057" y="2065"/>
                  <a:ext cx="8"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64" name="Rectangle 3652"/>
                <p:cNvSpPr>
                  <a:spLocks noChangeAspect="1" noChangeArrowheads="1"/>
                </p:cNvSpPr>
                <p:nvPr/>
              </p:nvSpPr>
              <p:spPr bwMode="auto">
                <a:xfrm>
                  <a:off x="4057"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65" name="Rectangle 3653"/>
                <p:cNvSpPr>
                  <a:spLocks noChangeAspect="1" noChangeArrowheads="1"/>
                </p:cNvSpPr>
                <p:nvPr/>
              </p:nvSpPr>
              <p:spPr bwMode="auto">
                <a:xfrm>
                  <a:off x="4065"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66" name="Rectangle 3654"/>
                <p:cNvSpPr>
                  <a:spLocks noChangeAspect="1" noChangeArrowheads="1"/>
                </p:cNvSpPr>
                <p:nvPr/>
              </p:nvSpPr>
              <p:spPr bwMode="auto">
                <a:xfrm>
                  <a:off x="4072"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67" name="Rectangle 3655"/>
                <p:cNvSpPr>
                  <a:spLocks noChangeAspect="1" noChangeArrowheads="1"/>
                </p:cNvSpPr>
                <p:nvPr/>
              </p:nvSpPr>
              <p:spPr bwMode="auto">
                <a:xfrm>
                  <a:off x="4080"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68" name="Rectangle 3656"/>
                <p:cNvSpPr>
                  <a:spLocks noChangeAspect="1" noChangeArrowheads="1"/>
                </p:cNvSpPr>
                <p:nvPr/>
              </p:nvSpPr>
              <p:spPr bwMode="auto">
                <a:xfrm>
                  <a:off x="4087"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69" name="Rectangle 3657"/>
                <p:cNvSpPr>
                  <a:spLocks noChangeAspect="1" noChangeArrowheads="1"/>
                </p:cNvSpPr>
                <p:nvPr/>
              </p:nvSpPr>
              <p:spPr bwMode="auto">
                <a:xfrm>
                  <a:off x="4095"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70" name="Rectangle 3658"/>
                <p:cNvSpPr>
                  <a:spLocks noChangeAspect="1" noChangeArrowheads="1"/>
                </p:cNvSpPr>
                <p:nvPr/>
              </p:nvSpPr>
              <p:spPr bwMode="auto">
                <a:xfrm>
                  <a:off x="4102"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71" name="Rectangle 3659"/>
                <p:cNvSpPr>
                  <a:spLocks noChangeAspect="1" noChangeArrowheads="1"/>
                </p:cNvSpPr>
                <p:nvPr/>
              </p:nvSpPr>
              <p:spPr bwMode="auto">
                <a:xfrm>
                  <a:off x="4110"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72" name="Rectangle 3660"/>
                <p:cNvSpPr>
                  <a:spLocks noChangeAspect="1" noChangeArrowheads="1"/>
                </p:cNvSpPr>
                <p:nvPr/>
              </p:nvSpPr>
              <p:spPr bwMode="auto">
                <a:xfrm>
                  <a:off x="4117"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73" name="Rectangle 3661"/>
                <p:cNvSpPr>
                  <a:spLocks noChangeAspect="1" noChangeArrowheads="1"/>
                </p:cNvSpPr>
                <p:nvPr/>
              </p:nvSpPr>
              <p:spPr bwMode="auto">
                <a:xfrm>
                  <a:off x="4125" y="2065"/>
                  <a:ext cx="14"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74" name="Rectangle 3662"/>
                <p:cNvSpPr>
                  <a:spLocks noChangeAspect="1" noChangeArrowheads="1"/>
                </p:cNvSpPr>
                <p:nvPr/>
              </p:nvSpPr>
              <p:spPr bwMode="auto">
                <a:xfrm>
                  <a:off x="4132"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75" name="Rectangle 3663"/>
                <p:cNvSpPr>
                  <a:spLocks noChangeAspect="1" noChangeArrowheads="1"/>
                </p:cNvSpPr>
                <p:nvPr/>
              </p:nvSpPr>
              <p:spPr bwMode="auto">
                <a:xfrm>
                  <a:off x="4139"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76" name="Rectangle 3664"/>
                <p:cNvSpPr>
                  <a:spLocks noChangeAspect="1" noChangeArrowheads="1"/>
                </p:cNvSpPr>
                <p:nvPr/>
              </p:nvSpPr>
              <p:spPr bwMode="auto">
                <a:xfrm>
                  <a:off x="4148" y="2065"/>
                  <a:ext cx="14"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77" name="Rectangle 3665"/>
                <p:cNvSpPr>
                  <a:spLocks noChangeAspect="1" noChangeArrowheads="1"/>
                </p:cNvSpPr>
                <p:nvPr/>
              </p:nvSpPr>
              <p:spPr bwMode="auto">
                <a:xfrm>
                  <a:off x="4155"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78" name="Rectangle 3666"/>
                <p:cNvSpPr>
                  <a:spLocks noChangeAspect="1" noChangeArrowheads="1"/>
                </p:cNvSpPr>
                <p:nvPr/>
              </p:nvSpPr>
              <p:spPr bwMode="auto">
                <a:xfrm>
                  <a:off x="4161" y="2065"/>
                  <a:ext cx="14"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79" name="Rectangle 3667"/>
                <p:cNvSpPr>
                  <a:spLocks noChangeAspect="1" noChangeArrowheads="1"/>
                </p:cNvSpPr>
                <p:nvPr/>
              </p:nvSpPr>
              <p:spPr bwMode="auto">
                <a:xfrm>
                  <a:off x="4170"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80" name="Rectangle 3668"/>
                <p:cNvSpPr>
                  <a:spLocks noChangeAspect="1" noChangeArrowheads="1"/>
                </p:cNvSpPr>
                <p:nvPr/>
              </p:nvSpPr>
              <p:spPr bwMode="auto">
                <a:xfrm>
                  <a:off x="4177"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81" name="Rectangle 3669"/>
                <p:cNvSpPr>
                  <a:spLocks noChangeAspect="1" noChangeArrowheads="1"/>
                </p:cNvSpPr>
                <p:nvPr/>
              </p:nvSpPr>
              <p:spPr bwMode="auto">
                <a:xfrm>
                  <a:off x="4185"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82" name="Rectangle 3670"/>
                <p:cNvSpPr>
                  <a:spLocks noChangeAspect="1" noChangeArrowheads="1"/>
                </p:cNvSpPr>
                <p:nvPr/>
              </p:nvSpPr>
              <p:spPr bwMode="auto">
                <a:xfrm>
                  <a:off x="4192"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83" name="Rectangle 3671"/>
                <p:cNvSpPr>
                  <a:spLocks noChangeAspect="1" noChangeArrowheads="1"/>
                </p:cNvSpPr>
                <p:nvPr/>
              </p:nvSpPr>
              <p:spPr bwMode="auto">
                <a:xfrm>
                  <a:off x="4200"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84" name="Rectangle 3672"/>
                <p:cNvSpPr>
                  <a:spLocks noChangeAspect="1" noChangeArrowheads="1"/>
                </p:cNvSpPr>
                <p:nvPr/>
              </p:nvSpPr>
              <p:spPr bwMode="auto">
                <a:xfrm>
                  <a:off x="4207"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85" name="Rectangle 3673"/>
                <p:cNvSpPr>
                  <a:spLocks noChangeAspect="1" noChangeArrowheads="1"/>
                </p:cNvSpPr>
                <p:nvPr/>
              </p:nvSpPr>
              <p:spPr bwMode="auto">
                <a:xfrm>
                  <a:off x="4215" y="2065"/>
                  <a:ext cx="14"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86" name="Rectangle 3674"/>
                <p:cNvSpPr>
                  <a:spLocks noChangeAspect="1" noChangeArrowheads="1"/>
                </p:cNvSpPr>
                <p:nvPr/>
              </p:nvSpPr>
              <p:spPr bwMode="auto">
                <a:xfrm>
                  <a:off x="4222"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87" name="Rectangle 3675"/>
                <p:cNvSpPr>
                  <a:spLocks noChangeAspect="1" noChangeArrowheads="1"/>
                </p:cNvSpPr>
                <p:nvPr/>
              </p:nvSpPr>
              <p:spPr bwMode="auto">
                <a:xfrm>
                  <a:off x="4229"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88" name="Rectangle 3676"/>
                <p:cNvSpPr>
                  <a:spLocks noChangeAspect="1" noChangeArrowheads="1"/>
                </p:cNvSpPr>
                <p:nvPr/>
              </p:nvSpPr>
              <p:spPr bwMode="auto">
                <a:xfrm>
                  <a:off x="4237"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89" name="Rectangle 3677"/>
                <p:cNvSpPr>
                  <a:spLocks noChangeAspect="1" noChangeArrowheads="1"/>
                </p:cNvSpPr>
                <p:nvPr/>
              </p:nvSpPr>
              <p:spPr bwMode="auto">
                <a:xfrm>
                  <a:off x="4244" y="2065"/>
                  <a:ext cx="16"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90" name="Rectangle 3678"/>
                <p:cNvSpPr>
                  <a:spLocks noChangeAspect="1" noChangeArrowheads="1"/>
                </p:cNvSpPr>
                <p:nvPr/>
              </p:nvSpPr>
              <p:spPr bwMode="auto">
                <a:xfrm>
                  <a:off x="4252"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91" name="Rectangle 3679"/>
                <p:cNvSpPr>
                  <a:spLocks noChangeAspect="1" noChangeArrowheads="1"/>
                </p:cNvSpPr>
                <p:nvPr/>
              </p:nvSpPr>
              <p:spPr bwMode="auto">
                <a:xfrm>
                  <a:off x="4260"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92" name="Rectangle 3680"/>
                <p:cNvSpPr>
                  <a:spLocks noChangeAspect="1" noChangeArrowheads="1"/>
                </p:cNvSpPr>
                <p:nvPr/>
              </p:nvSpPr>
              <p:spPr bwMode="auto">
                <a:xfrm>
                  <a:off x="4267"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93" name="Rectangle 3681"/>
                <p:cNvSpPr>
                  <a:spLocks noChangeAspect="1" noChangeArrowheads="1"/>
                </p:cNvSpPr>
                <p:nvPr/>
              </p:nvSpPr>
              <p:spPr bwMode="auto">
                <a:xfrm>
                  <a:off x="4275" y="2065"/>
                  <a:ext cx="14"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94" name="Rectangle 3682"/>
                <p:cNvSpPr>
                  <a:spLocks noChangeAspect="1" noChangeArrowheads="1"/>
                </p:cNvSpPr>
                <p:nvPr/>
              </p:nvSpPr>
              <p:spPr bwMode="auto">
                <a:xfrm>
                  <a:off x="4282"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95" name="Rectangle 3683"/>
                <p:cNvSpPr>
                  <a:spLocks noChangeAspect="1" noChangeArrowheads="1"/>
                </p:cNvSpPr>
                <p:nvPr/>
              </p:nvSpPr>
              <p:spPr bwMode="auto">
                <a:xfrm>
                  <a:off x="4289"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96" name="Rectangle 3684"/>
                <p:cNvSpPr>
                  <a:spLocks noChangeAspect="1" noChangeArrowheads="1"/>
                </p:cNvSpPr>
                <p:nvPr/>
              </p:nvSpPr>
              <p:spPr bwMode="auto">
                <a:xfrm>
                  <a:off x="4297"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97" name="Rectangle 3685"/>
                <p:cNvSpPr>
                  <a:spLocks noChangeAspect="1" noChangeArrowheads="1"/>
                </p:cNvSpPr>
                <p:nvPr/>
              </p:nvSpPr>
              <p:spPr bwMode="auto">
                <a:xfrm>
                  <a:off x="4304"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98" name="Rectangle 3686"/>
                <p:cNvSpPr>
                  <a:spLocks noChangeAspect="1" noChangeArrowheads="1"/>
                </p:cNvSpPr>
                <p:nvPr/>
              </p:nvSpPr>
              <p:spPr bwMode="auto">
                <a:xfrm>
                  <a:off x="4312"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199" name="Rectangle 3687"/>
                <p:cNvSpPr>
                  <a:spLocks noChangeAspect="1" noChangeArrowheads="1"/>
                </p:cNvSpPr>
                <p:nvPr/>
              </p:nvSpPr>
              <p:spPr bwMode="auto">
                <a:xfrm>
                  <a:off x="4319"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00" name="Rectangle 3688"/>
                <p:cNvSpPr>
                  <a:spLocks noChangeAspect="1" noChangeArrowheads="1"/>
                </p:cNvSpPr>
                <p:nvPr/>
              </p:nvSpPr>
              <p:spPr bwMode="auto">
                <a:xfrm>
                  <a:off x="4328" y="2065"/>
                  <a:ext cx="14"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01" name="Rectangle 3689"/>
                <p:cNvSpPr>
                  <a:spLocks noChangeAspect="1" noChangeArrowheads="1"/>
                </p:cNvSpPr>
                <p:nvPr/>
              </p:nvSpPr>
              <p:spPr bwMode="auto">
                <a:xfrm>
                  <a:off x="4334"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02" name="Rectangle 3690"/>
                <p:cNvSpPr>
                  <a:spLocks noChangeAspect="1" noChangeArrowheads="1"/>
                </p:cNvSpPr>
                <p:nvPr/>
              </p:nvSpPr>
              <p:spPr bwMode="auto">
                <a:xfrm>
                  <a:off x="4341"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03" name="Rectangle 3691"/>
                <p:cNvSpPr>
                  <a:spLocks noChangeAspect="1" noChangeArrowheads="1"/>
                </p:cNvSpPr>
                <p:nvPr/>
              </p:nvSpPr>
              <p:spPr bwMode="auto">
                <a:xfrm>
                  <a:off x="4350" y="2065"/>
                  <a:ext cx="14"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04" name="Rectangle 3692"/>
                <p:cNvSpPr>
                  <a:spLocks noChangeAspect="1" noChangeArrowheads="1"/>
                </p:cNvSpPr>
                <p:nvPr/>
              </p:nvSpPr>
              <p:spPr bwMode="auto">
                <a:xfrm>
                  <a:off x="4357"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05" name="Rectangle 3693"/>
                <p:cNvSpPr>
                  <a:spLocks noChangeAspect="1" noChangeArrowheads="1"/>
                </p:cNvSpPr>
                <p:nvPr/>
              </p:nvSpPr>
              <p:spPr bwMode="auto">
                <a:xfrm>
                  <a:off x="4364"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06" name="Rectangle 3694"/>
                <p:cNvSpPr>
                  <a:spLocks noChangeAspect="1" noChangeArrowheads="1"/>
                </p:cNvSpPr>
                <p:nvPr/>
              </p:nvSpPr>
              <p:spPr bwMode="auto">
                <a:xfrm>
                  <a:off x="4372"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07" name="Rectangle 3695"/>
                <p:cNvSpPr>
                  <a:spLocks noChangeAspect="1" noChangeArrowheads="1"/>
                </p:cNvSpPr>
                <p:nvPr/>
              </p:nvSpPr>
              <p:spPr bwMode="auto">
                <a:xfrm>
                  <a:off x="4379"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08" name="Rectangle 3696"/>
                <p:cNvSpPr>
                  <a:spLocks noChangeAspect="1" noChangeArrowheads="1"/>
                </p:cNvSpPr>
                <p:nvPr/>
              </p:nvSpPr>
              <p:spPr bwMode="auto">
                <a:xfrm>
                  <a:off x="4387"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09" name="Rectangle 3697"/>
                <p:cNvSpPr>
                  <a:spLocks noChangeAspect="1" noChangeArrowheads="1"/>
                </p:cNvSpPr>
                <p:nvPr/>
              </p:nvSpPr>
              <p:spPr bwMode="auto">
                <a:xfrm>
                  <a:off x="4394"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10" name="Rectangle 3698"/>
                <p:cNvSpPr>
                  <a:spLocks noChangeAspect="1" noChangeArrowheads="1"/>
                </p:cNvSpPr>
                <p:nvPr/>
              </p:nvSpPr>
              <p:spPr bwMode="auto">
                <a:xfrm>
                  <a:off x="4402" y="2065"/>
                  <a:ext cx="14"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11" name="Rectangle 3699"/>
                <p:cNvSpPr>
                  <a:spLocks noChangeAspect="1" noChangeArrowheads="1"/>
                </p:cNvSpPr>
                <p:nvPr/>
              </p:nvSpPr>
              <p:spPr bwMode="auto">
                <a:xfrm>
                  <a:off x="4409" y="2065"/>
                  <a:ext cx="15"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12" name="Rectangle 3700"/>
                <p:cNvSpPr>
                  <a:spLocks noChangeAspect="1" noChangeArrowheads="1"/>
                </p:cNvSpPr>
                <p:nvPr/>
              </p:nvSpPr>
              <p:spPr bwMode="auto">
                <a:xfrm>
                  <a:off x="4416" y="2065"/>
                  <a:ext cx="16"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13" name="Rectangle 3701"/>
                <p:cNvSpPr>
                  <a:spLocks noChangeAspect="1" noChangeArrowheads="1"/>
                </p:cNvSpPr>
                <p:nvPr/>
              </p:nvSpPr>
              <p:spPr bwMode="auto">
                <a:xfrm>
                  <a:off x="4424" y="2065"/>
                  <a:ext cx="8" cy="532"/>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14" name="Rectangle 3702"/>
                <p:cNvSpPr>
                  <a:spLocks noChangeAspect="1" noChangeArrowheads="1"/>
                </p:cNvSpPr>
                <p:nvPr/>
              </p:nvSpPr>
              <p:spPr bwMode="auto">
                <a:xfrm>
                  <a:off x="4057" y="2065"/>
                  <a:ext cx="375" cy="532"/>
                </a:xfrm>
                <a:prstGeom prst="rect">
                  <a:avLst/>
                </a:prstGeom>
                <a:gradFill rotWithShape="0">
                  <a:gsLst>
                    <a:gs pos="0">
                      <a:schemeClr val="hlink"/>
                    </a:gs>
                    <a:gs pos="50000">
                      <a:schemeClr val="hlink">
                        <a:gamma/>
                        <a:tint val="40000"/>
                        <a:invGamma/>
                      </a:schemeClr>
                    </a:gs>
                    <a:gs pos="100000">
                      <a:schemeClr val="hlink"/>
                    </a:gs>
                  </a:gsLst>
                  <a:lin ang="0" scaled="1"/>
                </a:gradFill>
                <a:ln w="1588">
                  <a:solidFill>
                    <a:srgbClr val="1F1A17"/>
                  </a:solidFill>
                  <a:miter lim="800000"/>
                  <a:headEnd/>
                  <a:tailEnd/>
                </a:ln>
              </p:spPr>
              <p:txBody>
                <a:bodyPr/>
                <a:lstStyle/>
                <a:p>
                  <a:pPr>
                    <a:defRPr/>
                  </a:pPr>
                  <a:endParaRPr lang="en-US"/>
                </a:p>
              </p:txBody>
            </p:sp>
          </p:grpSp>
          <p:grpSp>
            <p:nvGrpSpPr>
              <p:cNvPr id="387820" name="Group 3703"/>
              <p:cNvGrpSpPr>
                <a:grpSpLocks noChangeAspect="1"/>
              </p:cNvGrpSpPr>
              <p:nvPr/>
            </p:nvGrpSpPr>
            <p:grpSpPr bwMode="auto">
              <a:xfrm>
                <a:off x="4057" y="2558"/>
                <a:ext cx="375" cy="110"/>
                <a:chOff x="4057" y="2594"/>
                <a:chExt cx="375" cy="74"/>
              </a:xfrm>
            </p:grpSpPr>
            <p:sp>
              <p:nvSpPr>
                <p:cNvPr id="68216" name="Freeform 3704"/>
                <p:cNvSpPr>
                  <a:spLocks noChangeAspect="1"/>
                </p:cNvSpPr>
                <p:nvPr/>
              </p:nvSpPr>
              <p:spPr bwMode="auto">
                <a:xfrm>
                  <a:off x="4080" y="2594"/>
                  <a:ext cx="15" cy="50"/>
                </a:xfrm>
                <a:custGeom>
                  <a:avLst/>
                  <a:gdLst>
                    <a:gd name="T0" fmla="*/ 0 w 46"/>
                    <a:gd name="T1" fmla="*/ 92 h 152"/>
                    <a:gd name="T2" fmla="*/ 0 w 46"/>
                    <a:gd name="T3" fmla="*/ 0 h 152"/>
                    <a:gd name="T4" fmla="*/ 46 w 46"/>
                    <a:gd name="T5" fmla="*/ 0 h 152"/>
                    <a:gd name="T6" fmla="*/ 46 w 46"/>
                    <a:gd name="T7" fmla="*/ 152 h 152"/>
                    <a:gd name="T8" fmla="*/ 0 w 46"/>
                    <a:gd name="T9" fmla="*/ 92 h 152"/>
                  </a:gdLst>
                  <a:ahLst/>
                  <a:cxnLst>
                    <a:cxn ang="0">
                      <a:pos x="T0" y="T1"/>
                    </a:cxn>
                    <a:cxn ang="0">
                      <a:pos x="T2" y="T3"/>
                    </a:cxn>
                    <a:cxn ang="0">
                      <a:pos x="T4" y="T5"/>
                    </a:cxn>
                    <a:cxn ang="0">
                      <a:pos x="T6" y="T7"/>
                    </a:cxn>
                    <a:cxn ang="0">
                      <a:pos x="T8" y="T9"/>
                    </a:cxn>
                  </a:cxnLst>
                  <a:rect l="0" t="0" r="r" b="b"/>
                  <a:pathLst>
                    <a:path w="46" h="152">
                      <a:moveTo>
                        <a:pt x="0" y="92"/>
                      </a:moveTo>
                      <a:lnTo>
                        <a:pt x="0" y="0"/>
                      </a:lnTo>
                      <a:lnTo>
                        <a:pt x="46" y="0"/>
                      </a:lnTo>
                      <a:lnTo>
                        <a:pt x="46" y="152"/>
                      </a:lnTo>
                      <a:lnTo>
                        <a:pt x="0" y="92"/>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217" name="Freeform 3705"/>
                <p:cNvSpPr>
                  <a:spLocks noChangeAspect="1"/>
                </p:cNvSpPr>
                <p:nvPr/>
              </p:nvSpPr>
              <p:spPr bwMode="auto">
                <a:xfrm>
                  <a:off x="4087" y="2594"/>
                  <a:ext cx="15" cy="61"/>
                </a:xfrm>
                <a:custGeom>
                  <a:avLst/>
                  <a:gdLst>
                    <a:gd name="T0" fmla="*/ 0 w 45"/>
                    <a:gd name="T1" fmla="*/ 122 h 183"/>
                    <a:gd name="T2" fmla="*/ 0 w 45"/>
                    <a:gd name="T3" fmla="*/ 0 h 183"/>
                    <a:gd name="T4" fmla="*/ 45 w 45"/>
                    <a:gd name="T5" fmla="*/ 0 h 183"/>
                    <a:gd name="T6" fmla="*/ 45 w 45"/>
                    <a:gd name="T7" fmla="*/ 183 h 183"/>
                    <a:gd name="T8" fmla="*/ 0 w 45"/>
                    <a:gd name="T9" fmla="*/ 122 h 183"/>
                  </a:gdLst>
                  <a:ahLst/>
                  <a:cxnLst>
                    <a:cxn ang="0">
                      <a:pos x="T0" y="T1"/>
                    </a:cxn>
                    <a:cxn ang="0">
                      <a:pos x="T2" y="T3"/>
                    </a:cxn>
                    <a:cxn ang="0">
                      <a:pos x="T4" y="T5"/>
                    </a:cxn>
                    <a:cxn ang="0">
                      <a:pos x="T6" y="T7"/>
                    </a:cxn>
                    <a:cxn ang="0">
                      <a:pos x="T8" y="T9"/>
                    </a:cxn>
                  </a:cxnLst>
                  <a:rect l="0" t="0" r="r" b="b"/>
                  <a:pathLst>
                    <a:path w="45" h="183">
                      <a:moveTo>
                        <a:pt x="0" y="122"/>
                      </a:moveTo>
                      <a:lnTo>
                        <a:pt x="0" y="0"/>
                      </a:lnTo>
                      <a:lnTo>
                        <a:pt x="45" y="0"/>
                      </a:lnTo>
                      <a:lnTo>
                        <a:pt x="45" y="183"/>
                      </a:lnTo>
                      <a:lnTo>
                        <a:pt x="0" y="122"/>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218" name="Freeform 3706"/>
                <p:cNvSpPr>
                  <a:spLocks noChangeAspect="1"/>
                </p:cNvSpPr>
                <p:nvPr/>
              </p:nvSpPr>
              <p:spPr bwMode="auto">
                <a:xfrm>
                  <a:off x="4095" y="2594"/>
                  <a:ext cx="15" cy="71"/>
                </a:xfrm>
                <a:custGeom>
                  <a:avLst/>
                  <a:gdLst>
                    <a:gd name="T0" fmla="*/ 0 w 45"/>
                    <a:gd name="T1" fmla="*/ 152 h 213"/>
                    <a:gd name="T2" fmla="*/ 0 w 45"/>
                    <a:gd name="T3" fmla="*/ 0 h 213"/>
                    <a:gd name="T4" fmla="*/ 45 w 45"/>
                    <a:gd name="T5" fmla="*/ 0 h 213"/>
                    <a:gd name="T6" fmla="*/ 45 w 45"/>
                    <a:gd name="T7" fmla="*/ 213 h 213"/>
                    <a:gd name="T8" fmla="*/ 0 w 45"/>
                    <a:gd name="T9" fmla="*/ 152 h 213"/>
                  </a:gdLst>
                  <a:ahLst/>
                  <a:cxnLst>
                    <a:cxn ang="0">
                      <a:pos x="T0" y="T1"/>
                    </a:cxn>
                    <a:cxn ang="0">
                      <a:pos x="T2" y="T3"/>
                    </a:cxn>
                    <a:cxn ang="0">
                      <a:pos x="T4" y="T5"/>
                    </a:cxn>
                    <a:cxn ang="0">
                      <a:pos x="T6" y="T7"/>
                    </a:cxn>
                    <a:cxn ang="0">
                      <a:pos x="T8" y="T9"/>
                    </a:cxn>
                  </a:cxnLst>
                  <a:rect l="0" t="0" r="r" b="b"/>
                  <a:pathLst>
                    <a:path w="45" h="213">
                      <a:moveTo>
                        <a:pt x="0" y="152"/>
                      </a:moveTo>
                      <a:lnTo>
                        <a:pt x="0" y="0"/>
                      </a:lnTo>
                      <a:lnTo>
                        <a:pt x="45" y="0"/>
                      </a:lnTo>
                      <a:lnTo>
                        <a:pt x="45" y="213"/>
                      </a:lnTo>
                      <a:lnTo>
                        <a:pt x="0" y="152"/>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219" name="Freeform 3707"/>
                <p:cNvSpPr>
                  <a:spLocks noChangeAspect="1"/>
                </p:cNvSpPr>
                <p:nvPr/>
              </p:nvSpPr>
              <p:spPr bwMode="auto">
                <a:xfrm>
                  <a:off x="4102" y="2594"/>
                  <a:ext cx="15" cy="74"/>
                </a:xfrm>
                <a:custGeom>
                  <a:avLst/>
                  <a:gdLst>
                    <a:gd name="T0" fmla="*/ 0 w 45"/>
                    <a:gd name="T1" fmla="*/ 183 h 223"/>
                    <a:gd name="T2" fmla="*/ 0 w 45"/>
                    <a:gd name="T3" fmla="*/ 0 h 223"/>
                    <a:gd name="T4" fmla="*/ 45 w 45"/>
                    <a:gd name="T5" fmla="*/ 0 h 223"/>
                    <a:gd name="T6" fmla="*/ 45 w 45"/>
                    <a:gd name="T7" fmla="*/ 223 h 223"/>
                    <a:gd name="T8" fmla="*/ 30 w 45"/>
                    <a:gd name="T9" fmla="*/ 223 h 223"/>
                    <a:gd name="T10" fmla="*/ 0 w 45"/>
                    <a:gd name="T11" fmla="*/ 183 h 223"/>
                  </a:gdLst>
                  <a:ahLst/>
                  <a:cxnLst>
                    <a:cxn ang="0">
                      <a:pos x="T0" y="T1"/>
                    </a:cxn>
                    <a:cxn ang="0">
                      <a:pos x="T2" y="T3"/>
                    </a:cxn>
                    <a:cxn ang="0">
                      <a:pos x="T4" y="T5"/>
                    </a:cxn>
                    <a:cxn ang="0">
                      <a:pos x="T6" y="T7"/>
                    </a:cxn>
                    <a:cxn ang="0">
                      <a:pos x="T8" y="T9"/>
                    </a:cxn>
                    <a:cxn ang="0">
                      <a:pos x="T10" y="T11"/>
                    </a:cxn>
                  </a:cxnLst>
                  <a:rect l="0" t="0" r="r" b="b"/>
                  <a:pathLst>
                    <a:path w="45" h="223">
                      <a:moveTo>
                        <a:pt x="0" y="183"/>
                      </a:moveTo>
                      <a:lnTo>
                        <a:pt x="0" y="0"/>
                      </a:lnTo>
                      <a:lnTo>
                        <a:pt x="45" y="0"/>
                      </a:lnTo>
                      <a:lnTo>
                        <a:pt x="45" y="223"/>
                      </a:lnTo>
                      <a:lnTo>
                        <a:pt x="30" y="223"/>
                      </a:lnTo>
                      <a:lnTo>
                        <a:pt x="0" y="183"/>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220" name="Freeform 3708"/>
                <p:cNvSpPr>
                  <a:spLocks noChangeAspect="1"/>
                </p:cNvSpPr>
                <p:nvPr/>
              </p:nvSpPr>
              <p:spPr bwMode="auto">
                <a:xfrm>
                  <a:off x="4110" y="2594"/>
                  <a:ext cx="15" cy="74"/>
                </a:xfrm>
                <a:custGeom>
                  <a:avLst/>
                  <a:gdLst>
                    <a:gd name="T0" fmla="*/ 0 w 45"/>
                    <a:gd name="T1" fmla="*/ 213 h 223"/>
                    <a:gd name="T2" fmla="*/ 0 w 45"/>
                    <a:gd name="T3" fmla="*/ 0 h 223"/>
                    <a:gd name="T4" fmla="*/ 45 w 45"/>
                    <a:gd name="T5" fmla="*/ 0 h 223"/>
                    <a:gd name="T6" fmla="*/ 45 w 45"/>
                    <a:gd name="T7" fmla="*/ 223 h 223"/>
                    <a:gd name="T8" fmla="*/ 7 w 45"/>
                    <a:gd name="T9" fmla="*/ 223 h 223"/>
                    <a:gd name="T10" fmla="*/ 0 w 45"/>
                    <a:gd name="T11" fmla="*/ 213 h 223"/>
                  </a:gdLst>
                  <a:ahLst/>
                  <a:cxnLst>
                    <a:cxn ang="0">
                      <a:pos x="T0" y="T1"/>
                    </a:cxn>
                    <a:cxn ang="0">
                      <a:pos x="T2" y="T3"/>
                    </a:cxn>
                    <a:cxn ang="0">
                      <a:pos x="T4" y="T5"/>
                    </a:cxn>
                    <a:cxn ang="0">
                      <a:pos x="T6" y="T7"/>
                    </a:cxn>
                    <a:cxn ang="0">
                      <a:pos x="T8" y="T9"/>
                    </a:cxn>
                    <a:cxn ang="0">
                      <a:pos x="T10" y="T11"/>
                    </a:cxn>
                  </a:cxnLst>
                  <a:rect l="0" t="0" r="r" b="b"/>
                  <a:pathLst>
                    <a:path w="45" h="223">
                      <a:moveTo>
                        <a:pt x="0" y="213"/>
                      </a:moveTo>
                      <a:lnTo>
                        <a:pt x="0" y="0"/>
                      </a:lnTo>
                      <a:lnTo>
                        <a:pt x="45" y="0"/>
                      </a:lnTo>
                      <a:lnTo>
                        <a:pt x="45" y="223"/>
                      </a:lnTo>
                      <a:lnTo>
                        <a:pt x="7" y="223"/>
                      </a:lnTo>
                      <a:lnTo>
                        <a:pt x="0" y="213"/>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221" name="Rectangle 3709"/>
                <p:cNvSpPr>
                  <a:spLocks noChangeAspect="1" noChangeArrowheads="1"/>
                </p:cNvSpPr>
                <p:nvPr/>
              </p:nvSpPr>
              <p:spPr bwMode="auto">
                <a:xfrm>
                  <a:off x="4117"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22" name="Rectangle 3710"/>
                <p:cNvSpPr>
                  <a:spLocks noChangeAspect="1" noChangeArrowheads="1"/>
                </p:cNvSpPr>
                <p:nvPr/>
              </p:nvSpPr>
              <p:spPr bwMode="auto">
                <a:xfrm>
                  <a:off x="4125" y="2594"/>
                  <a:ext cx="14"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23" name="Rectangle 3711"/>
                <p:cNvSpPr>
                  <a:spLocks noChangeAspect="1" noChangeArrowheads="1"/>
                </p:cNvSpPr>
                <p:nvPr/>
              </p:nvSpPr>
              <p:spPr bwMode="auto">
                <a:xfrm>
                  <a:off x="4132"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24" name="Rectangle 3712"/>
                <p:cNvSpPr>
                  <a:spLocks noChangeAspect="1" noChangeArrowheads="1"/>
                </p:cNvSpPr>
                <p:nvPr/>
              </p:nvSpPr>
              <p:spPr bwMode="auto">
                <a:xfrm>
                  <a:off x="4139"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25" name="Rectangle 3713"/>
                <p:cNvSpPr>
                  <a:spLocks noChangeAspect="1" noChangeArrowheads="1"/>
                </p:cNvSpPr>
                <p:nvPr/>
              </p:nvSpPr>
              <p:spPr bwMode="auto">
                <a:xfrm>
                  <a:off x="4148" y="2594"/>
                  <a:ext cx="14"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26" name="Rectangle 3714"/>
                <p:cNvSpPr>
                  <a:spLocks noChangeAspect="1" noChangeArrowheads="1"/>
                </p:cNvSpPr>
                <p:nvPr/>
              </p:nvSpPr>
              <p:spPr bwMode="auto">
                <a:xfrm>
                  <a:off x="4155"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27" name="Rectangle 3715"/>
                <p:cNvSpPr>
                  <a:spLocks noChangeAspect="1" noChangeArrowheads="1"/>
                </p:cNvSpPr>
                <p:nvPr/>
              </p:nvSpPr>
              <p:spPr bwMode="auto">
                <a:xfrm>
                  <a:off x="4161" y="2594"/>
                  <a:ext cx="14"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28" name="Rectangle 3716"/>
                <p:cNvSpPr>
                  <a:spLocks noChangeAspect="1" noChangeArrowheads="1"/>
                </p:cNvSpPr>
                <p:nvPr/>
              </p:nvSpPr>
              <p:spPr bwMode="auto">
                <a:xfrm>
                  <a:off x="4170"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29" name="Rectangle 3717"/>
                <p:cNvSpPr>
                  <a:spLocks noChangeAspect="1" noChangeArrowheads="1"/>
                </p:cNvSpPr>
                <p:nvPr/>
              </p:nvSpPr>
              <p:spPr bwMode="auto">
                <a:xfrm>
                  <a:off x="4177"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30" name="Rectangle 3718"/>
                <p:cNvSpPr>
                  <a:spLocks noChangeAspect="1" noChangeArrowheads="1"/>
                </p:cNvSpPr>
                <p:nvPr/>
              </p:nvSpPr>
              <p:spPr bwMode="auto">
                <a:xfrm>
                  <a:off x="4185"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31" name="Rectangle 3719"/>
                <p:cNvSpPr>
                  <a:spLocks noChangeAspect="1" noChangeArrowheads="1"/>
                </p:cNvSpPr>
                <p:nvPr/>
              </p:nvSpPr>
              <p:spPr bwMode="auto">
                <a:xfrm>
                  <a:off x="4192"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32" name="Rectangle 3720"/>
                <p:cNvSpPr>
                  <a:spLocks noChangeAspect="1" noChangeArrowheads="1"/>
                </p:cNvSpPr>
                <p:nvPr/>
              </p:nvSpPr>
              <p:spPr bwMode="auto">
                <a:xfrm>
                  <a:off x="4200"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33" name="Rectangle 3721"/>
                <p:cNvSpPr>
                  <a:spLocks noChangeAspect="1" noChangeArrowheads="1"/>
                </p:cNvSpPr>
                <p:nvPr/>
              </p:nvSpPr>
              <p:spPr bwMode="auto">
                <a:xfrm>
                  <a:off x="4207"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34" name="Rectangle 3722"/>
                <p:cNvSpPr>
                  <a:spLocks noChangeAspect="1" noChangeArrowheads="1"/>
                </p:cNvSpPr>
                <p:nvPr/>
              </p:nvSpPr>
              <p:spPr bwMode="auto">
                <a:xfrm>
                  <a:off x="4215" y="2594"/>
                  <a:ext cx="14"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35" name="Rectangle 3723"/>
                <p:cNvSpPr>
                  <a:spLocks noChangeAspect="1" noChangeArrowheads="1"/>
                </p:cNvSpPr>
                <p:nvPr/>
              </p:nvSpPr>
              <p:spPr bwMode="auto">
                <a:xfrm>
                  <a:off x="4222"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36" name="Rectangle 3724"/>
                <p:cNvSpPr>
                  <a:spLocks noChangeAspect="1" noChangeArrowheads="1"/>
                </p:cNvSpPr>
                <p:nvPr/>
              </p:nvSpPr>
              <p:spPr bwMode="auto">
                <a:xfrm>
                  <a:off x="4229"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37" name="Rectangle 3725"/>
                <p:cNvSpPr>
                  <a:spLocks noChangeAspect="1" noChangeArrowheads="1"/>
                </p:cNvSpPr>
                <p:nvPr/>
              </p:nvSpPr>
              <p:spPr bwMode="auto">
                <a:xfrm>
                  <a:off x="4237"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38" name="Rectangle 3726"/>
                <p:cNvSpPr>
                  <a:spLocks noChangeAspect="1" noChangeArrowheads="1"/>
                </p:cNvSpPr>
                <p:nvPr/>
              </p:nvSpPr>
              <p:spPr bwMode="auto">
                <a:xfrm>
                  <a:off x="4244" y="2594"/>
                  <a:ext cx="16"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39" name="Rectangle 3727"/>
                <p:cNvSpPr>
                  <a:spLocks noChangeAspect="1" noChangeArrowheads="1"/>
                </p:cNvSpPr>
                <p:nvPr/>
              </p:nvSpPr>
              <p:spPr bwMode="auto">
                <a:xfrm>
                  <a:off x="4252"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40" name="Rectangle 3728"/>
                <p:cNvSpPr>
                  <a:spLocks noChangeAspect="1" noChangeArrowheads="1"/>
                </p:cNvSpPr>
                <p:nvPr/>
              </p:nvSpPr>
              <p:spPr bwMode="auto">
                <a:xfrm>
                  <a:off x="4260"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41" name="Rectangle 3729"/>
                <p:cNvSpPr>
                  <a:spLocks noChangeAspect="1" noChangeArrowheads="1"/>
                </p:cNvSpPr>
                <p:nvPr/>
              </p:nvSpPr>
              <p:spPr bwMode="auto">
                <a:xfrm>
                  <a:off x="4267"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42" name="Rectangle 3730"/>
                <p:cNvSpPr>
                  <a:spLocks noChangeAspect="1" noChangeArrowheads="1"/>
                </p:cNvSpPr>
                <p:nvPr/>
              </p:nvSpPr>
              <p:spPr bwMode="auto">
                <a:xfrm>
                  <a:off x="4275" y="2594"/>
                  <a:ext cx="14"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43" name="Rectangle 3731"/>
                <p:cNvSpPr>
                  <a:spLocks noChangeAspect="1" noChangeArrowheads="1"/>
                </p:cNvSpPr>
                <p:nvPr/>
              </p:nvSpPr>
              <p:spPr bwMode="auto">
                <a:xfrm>
                  <a:off x="4282"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44" name="Rectangle 3732"/>
                <p:cNvSpPr>
                  <a:spLocks noChangeAspect="1" noChangeArrowheads="1"/>
                </p:cNvSpPr>
                <p:nvPr/>
              </p:nvSpPr>
              <p:spPr bwMode="auto">
                <a:xfrm>
                  <a:off x="4289"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45" name="Rectangle 3733"/>
                <p:cNvSpPr>
                  <a:spLocks noChangeAspect="1" noChangeArrowheads="1"/>
                </p:cNvSpPr>
                <p:nvPr/>
              </p:nvSpPr>
              <p:spPr bwMode="auto">
                <a:xfrm>
                  <a:off x="4297"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46" name="Rectangle 3734"/>
                <p:cNvSpPr>
                  <a:spLocks noChangeAspect="1" noChangeArrowheads="1"/>
                </p:cNvSpPr>
                <p:nvPr/>
              </p:nvSpPr>
              <p:spPr bwMode="auto">
                <a:xfrm>
                  <a:off x="4304"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47" name="Rectangle 3735"/>
                <p:cNvSpPr>
                  <a:spLocks noChangeAspect="1" noChangeArrowheads="1"/>
                </p:cNvSpPr>
                <p:nvPr/>
              </p:nvSpPr>
              <p:spPr bwMode="auto">
                <a:xfrm>
                  <a:off x="4312"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48" name="Rectangle 3736"/>
                <p:cNvSpPr>
                  <a:spLocks noChangeAspect="1" noChangeArrowheads="1"/>
                </p:cNvSpPr>
                <p:nvPr/>
              </p:nvSpPr>
              <p:spPr bwMode="auto">
                <a:xfrm>
                  <a:off x="4319"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49" name="Rectangle 3737"/>
                <p:cNvSpPr>
                  <a:spLocks noChangeAspect="1" noChangeArrowheads="1"/>
                </p:cNvSpPr>
                <p:nvPr/>
              </p:nvSpPr>
              <p:spPr bwMode="auto">
                <a:xfrm>
                  <a:off x="4328" y="2594"/>
                  <a:ext cx="14"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50" name="Rectangle 3738"/>
                <p:cNvSpPr>
                  <a:spLocks noChangeAspect="1" noChangeArrowheads="1"/>
                </p:cNvSpPr>
                <p:nvPr/>
              </p:nvSpPr>
              <p:spPr bwMode="auto">
                <a:xfrm>
                  <a:off x="4334"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51" name="Rectangle 3739"/>
                <p:cNvSpPr>
                  <a:spLocks noChangeAspect="1" noChangeArrowheads="1"/>
                </p:cNvSpPr>
                <p:nvPr/>
              </p:nvSpPr>
              <p:spPr bwMode="auto">
                <a:xfrm>
                  <a:off x="4341"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52" name="Rectangle 3740"/>
                <p:cNvSpPr>
                  <a:spLocks noChangeAspect="1" noChangeArrowheads="1"/>
                </p:cNvSpPr>
                <p:nvPr/>
              </p:nvSpPr>
              <p:spPr bwMode="auto">
                <a:xfrm>
                  <a:off x="4350" y="2594"/>
                  <a:ext cx="14"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53" name="Rectangle 3741"/>
                <p:cNvSpPr>
                  <a:spLocks noChangeAspect="1" noChangeArrowheads="1"/>
                </p:cNvSpPr>
                <p:nvPr/>
              </p:nvSpPr>
              <p:spPr bwMode="auto">
                <a:xfrm>
                  <a:off x="4357"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54" name="Rectangle 3742"/>
                <p:cNvSpPr>
                  <a:spLocks noChangeAspect="1" noChangeArrowheads="1"/>
                </p:cNvSpPr>
                <p:nvPr/>
              </p:nvSpPr>
              <p:spPr bwMode="auto">
                <a:xfrm>
                  <a:off x="4364" y="2594"/>
                  <a:ext cx="1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8255" name="Freeform 3743"/>
                <p:cNvSpPr>
                  <a:spLocks noChangeAspect="1"/>
                </p:cNvSpPr>
                <p:nvPr/>
              </p:nvSpPr>
              <p:spPr bwMode="auto">
                <a:xfrm>
                  <a:off x="4372" y="2594"/>
                  <a:ext cx="15" cy="74"/>
                </a:xfrm>
                <a:custGeom>
                  <a:avLst/>
                  <a:gdLst>
                    <a:gd name="T0" fmla="*/ 0 w 45"/>
                    <a:gd name="T1" fmla="*/ 223 h 223"/>
                    <a:gd name="T2" fmla="*/ 0 w 45"/>
                    <a:gd name="T3" fmla="*/ 0 h 223"/>
                    <a:gd name="T4" fmla="*/ 45 w 45"/>
                    <a:gd name="T5" fmla="*/ 0 h 223"/>
                    <a:gd name="T6" fmla="*/ 45 w 45"/>
                    <a:gd name="T7" fmla="*/ 201 h 223"/>
                    <a:gd name="T8" fmla="*/ 30 w 45"/>
                    <a:gd name="T9" fmla="*/ 223 h 223"/>
                    <a:gd name="T10" fmla="*/ 0 w 45"/>
                    <a:gd name="T11" fmla="*/ 223 h 223"/>
                  </a:gdLst>
                  <a:ahLst/>
                  <a:cxnLst>
                    <a:cxn ang="0">
                      <a:pos x="T0" y="T1"/>
                    </a:cxn>
                    <a:cxn ang="0">
                      <a:pos x="T2" y="T3"/>
                    </a:cxn>
                    <a:cxn ang="0">
                      <a:pos x="T4" y="T5"/>
                    </a:cxn>
                    <a:cxn ang="0">
                      <a:pos x="T6" y="T7"/>
                    </a:cxn>
                    <a:cxn ang="0">
                      <a:pos x="T8" y="T9"/>
                    </a:cxn>
                    <a:cxn ang="0">
                      <a:pos x="T10" y="T11"/>
                    </a:cxn>
                  </a:cxnLst>
                  <a:rect l="0" t="0" r="r" b="b"/>
                  <a:pathLst>
                    <a:path w="45" h="223">
                      <a:moveTo>
                        <a:pt x="0" y="223"/>
                      </a:moveTo>
                      <a:lnTo>
                        <a:pt x="0" y="0"/>
                      </a:lnTo>
                      <a:lnTo>
                        <a:pt x="45" y="0"/>
                      </a:lnTo>
                      <a:lnTo>
                        <a:pt x="45" y="201"/>
                      </a:lnTo>
                      <a:lnTo>
                        <a:pt x="30" y="223"/>
                      </a:lnTo>
                      <a:lnTo>
                        <a:pt x="0" y="223"/>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256" name="Freeform 3744"/>
                <p:cNvSpPr>
                  <a:spLocks noChangeAspect="1"/>
                </p:cNvSpPr>
                <p:nvPr/>
              </p:nvSpPr>
              <p:spPr bwMode="auto">
                <a:xfrm>
                  <a:off x="4379" y="2594"/>
                  <a:ext cx="15" cy="74"/>
                </a:xfrm>
                <a:custGeom>
                  <a:avLst/>
                  <a:gdLst>
                    <a:gd name="T0" fmla="*/ 0 w 44"/>
                    <a:gd name="T1" fmla="*/ 223 h 223"/>
                    <a:gd name="T2" fmla="*/ 0 w 44"/>
                    <a:gd name="T3" fmla="*/ 0 h 223"/>
                    <a:gd name="T4" fmla="*/ 44 w 44"/>
                    <a:gd name="T5" fmla="*/ 0 h 223"/>
                    <a:gd name="T6" fmla="*/ 44 w 44"/>
                    <a:gd name="T7" fmla="*/ 167 h 223"/>
                    <a:gd name="T8" fmla="*/ 7 w 44"/>
                    <a:gd name="T9" fmla="*/ 223 h 223"/>
                    <a:gd name="T10" fmla="*/ 0 w 44"/>
                    <a:gd name="T11" fmla="*/ 223 h 223"/>
                  </a:gdLst>
                  <a:ahLst/>
                  <a:cxnLst>
                    <a:cxn ang="0">
                      <a:pos x="T0" y="T1"/>
                    </a:cxn>
                    <a:cxn ang="0">
                      <a:pos x="T2" y="T3"/>
                    </a:cxn>
                    <a:cxn ang="0">
                      <a:pos x="T4" y="T5"/>
                    </a:cxn>
                    <a:cxn ang="0">
                      <a:pos x="T6" y="T7"/>
                    </a:cxn>
                    <a:cxn ang="0">
                      <a:pos x="T8" y="T9"/>
                    </a:cxn>
                    <a:cxn ang="0">
                      <a:pos x="T10" y="T11"/>
                    </a:cxn>
                  </a:cxnLst>
                  <a:rect l="0" t="0" r="r" b="b"/>
                  <a:pathLst>
                    <a:path w="44" h="223">
                      <a:moveTo>
                        <a:pt x="0" y="223"/>
                      </a:moveTo>
                      <a:lnTo>
                        <a:pt x="0" y="0"/>
                      </a:lnTo>
                      <a:lnTo>
                        <a:pt x="44" y="0"/>
                      </a:lnTo>
                      <a:lnTo>
                        <a:pt x="44" y="167"/>
                      </a:lnTo>
                      <a:lnTo>
                        <a:pt x="7" y="223"/>
                      </a:lnTo>
                      <a:lnTo>
                        <a:pt x="0" y="223"/>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257" name="Freeform 3745"/>
                <p:cNvSpPr>
                  <a:spLocks noChangeAspect="1"/>
                </p:cNvSpPr>
                <p:nvPr/>
              </p:nvSpPr>
              <p:spPr bwMode="auto">
                <a:xfrm>
                  <a:off x="4387" y="2594"/>
                  <a:ext cx="15" cy="67"/>
                </a:xfrm>
                <a:custGeom>
                  <a:avLst/>
                  <a:gdLst>
                    <a:gd name="T0" fmla="*/ 0 w 45"/>
                    <a:gd name="T1" fmla="*/ 201 h 201"/>
                    <a:gd name="T2" fmla="*/ 0 w 45"/>
                    <a:gd name="T3" fmla="*/ 0 h 201"/>
                    <a:gd name="T4" fmla="*/ 45 w 45"/>
                    <a:gd name="T5" fmla="*/ 0 h 201"/>
                    <a:gd name="T6" fmla="*/ 45 w 45"/>
                    <a:gd name="T7" fmla="*/ 134 h 201"/>
                    <a:gd name="T8" fmla="*/ 0 w 45"/>
                    <a:gd name="T9" fmla="*/ 201 h 201"/>
                  </a:gdLst>
                  <a:ahLst/>
                  <a:cxnLst>
                    <a:cxn ang="0">
                      <a:pos x="T0" y="T1"/>
                    </a:cxn>
                    <a:cxn ang="0">
                      <a:pos x="T2" y="T3"/>
                    </a:cxn>
                    <a:cxn ang="0">
                      <a:pos x="T4" y="T5"/>
                    </a:cxn>
                    <a:cxn ang="0">
                      <a:pos x="T6" y="T7"/>
                    </a:cxn>
                    <a:cxn ang="0">
                      <a:pos x="T8" y="T9"/>
                    </a:cxn>
                  </a:cxnLst>
                  <a:rect l="0" t="0" r="r" b="b"/>
                  <a:pathLst>
                    <a:path w="45" h="201">
                      <a:moveTo>
                        <a:pt x="0" y="201"/>
                      </a:moveTo>
                      <a:lnTo>
                        <a:pt x="0" y="0"/>
                      </a:lnTo>
                      <a:lnTo>
                        <a:pt x="45" y="0"/>
                      </a:lnTo>
                      <a:lnTo>
                        <a:pt x="45" y="134"/>
                      </a:lnTo>
                      <a:lnTo>
                        <a:pt x="0" y="201"/>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258" name="Freeform 3746"/>
                <p:cNvSpPr>
                  <a:spLocks noChangeAspect="1"/>
                </p:cNvSpPr>
                <p:nvPr/>
              </p:nvSpPr>
              <p:spPr bwMode="auto">
                <a:xfrm>
                  <a:off x="4394" y="2594"/>
                  <a:ext cx="15" cy="55"/>
                </a:xfrm>
                <a:custGeom>
                  <a:avLst/>
                  <a:gdLst>
                    <a:gd name="T0" fmla="*/ 0 w 45"/>
                    <a:gd name="T1" fmla="*/ 167 h 167"/>
                    <a:gd name="T2" fmla="*/ 0 w 45"/>
                    <a:gd name="T3" fmla="*/ 0 h 167"/>
                    <a:gd name="T4" fmla="*/ 45 w 45"/>
                    <a:gd name="T5" fmla="*/ 0 h 167"/>
                    <a:gd name="T6" fmla="*/ 45 w 45"/>
                    <a:gd name="T7" fmla="*/ 101 h 167"/>
                    <a:gd name="T8" fmla="*/ 0 w 45"/>
                    <a:gd name="T9" fmla="*/ 167 h 167"/>
                  </a:gdLst>
                  <a:ahLst/>
                  <a:cxnLst>
                    <a:cxn ang="0">
                      <a:pos x="T0" y="T1"/>
                    </a:cxn>
                    <a:cxn ang="0">
                      <a:pos x="T2" y="T3"/>
                    </a:cxn>
                    <a:cxn ang="0">
                      <a:pos x="T4" y="T5"/>
                    </a:cxn>
                    <a:cxn ang="0">
                      <a:pos x="T6" y="T7"/>
                    </a:cxn>
                    <a:cxn ang="0">
                      <a:pos x="T8" y="T9"/>
                    </a:cxn>
                  </a:cxnLst>
                  <a:rect l="0" t="0" r="r" b="b"/>
                  <a:pathLst>
                    <a:path w="45" h="167">
                      <a:moveTo>
                        <a:pt x="0" y="167"/>
                      </a:moveTo>
                      <a:lnTo>
                        <a:pt x="0" y="0"/>
                      </a:lnTo>
                      <a:lnTo>
                        <a:pt x="45" y="0"/>
                      </a:lnTo>
                      <a:lnTo>
                        <a:pt x="45" y="101"/>
                      </a:lnTo>
                      <a:lnTo>
                        <a:pt x="0" y="167"/>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259" name="Freeform 3747"/>
                <p:cNvSpPr>
                  <a:spLocks noChangeAspect="1"/>
                </p:cNvSpPr>
                <p:nvPr/>
              </p:nvSpPr>
              <p:spPr bwMode="auto">
                <a:xfrm>
                  <a:off x="4402" y="2594"/>
                  <a:ext cx="14" cy="44"/>
                </a:xfrm>
                <a:custGeom>
                  <a:avLst/>
                  <a:gdLst>
                    <a:gd name="T0" fmla="*/ 0 w 44"/>
                    <a:gd name="T1" fmla="*/ 134 h 134"/>
                    <a:gd name="T2" fmla="*/ 0 w 44"/>
                    <a:gd name="T3" fmla="*/ 0 h 134"/>
                    <a:gd name="T4" fmla="*/ 44 w 44"/>
                    <a:gd name="T5" fmla="*/ 0 h 134"/>
                    <a:gd name="T6" fmla="*/ 44 w 44"/>
                    <a:gd name="T7" fmla="*/ 67 h 134"/>
                    <a:gd name="T8" fmla="*/ 0 w 44"/>
                    <a:gd name="T9" fmla="*/ 134 h 134"/>
                  </a:gdLst>
                  <a:ahLst/>
                  <a:cxnLst>
                    <a:cxn ang="0">
                      <a:pos x="T0" y="T1"/>
                    </a:cxn>
                    <a:cxn ang="0">
                      <a:pos x="T2" y="T3"/>
                    </a:cxn>
                    <a:cxn ang="0">
                      <a:pos x="T4" y="T5"/>
                    </a:cxn>
                    <a:cxn ang="0">
                      <a:pos x="T6" y="T7"/>
                    </a:cxn>
                    <a:cxn ang="0">
                      <a:pos x="T8" y="T9"/>
                    </a:cxn>
                  </a:cxnLst>
                  <a:rect l="0" t="0" r="r" b="b"/>
                  <a:pathLst>
                    <a:path w="44" h="134">
                      <a:moveTo>
                        <a:pt x="0" y="134"/>
                      </a:moveTo>
                      <a:lnTo>
                        <a:pt x="0" y="0"/>
                      </a:lnTo>
                      <a:lnTo>
                        <a:pt x="44" y="0"/>
                      </a:lnTo>
                      <a:lnTo>
                        <a:pt x="44" y="67"/>
                      </a:lnTo>
                      <a:lnTo>
                        <a:pt x="0" y="134"/>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260" name="Freeform 3748"/>
                <p:cNvSpPr>
                  <a:spLocks noChangeAspect="1"/>
                </p:cNvSpPr>
                <p:nvPr/>
              </p:nvSpPr>
              <p:spPr bwMode="auto">
                <a:xfrm>
                  <a:off x="4057" y="2594"/>
                  <a:ext cx="8" cy="10"/>
                </a:xfrm>
                <a:custGeom>
                  <a:avLst/>
                  <a:gdLst>
                    <a:gd name="T0" fmla="*/ 0 w 23"/>
                    <a:gd name="T1" fmla="*/ 0 h 31"/>
                    <a:gd name="T2" fmla="*/ 23 w 23"/>
                    <a:gd name="T3" fmla="*/ 0 h 31"/>
                    <a:gd name="T4" fmla="*/ 23 w 23"/>
                    <a:gd name="T5" fmla="*/ 31 h 31"/>
                    <a:gd name="T6" fmla="*/ 0 w 23"/>
                    <a:gd name="T7" fmla="*/ 0 h 31"/>
                  </a:gdLst>
                  <a:ahLst/>
                  <a:cxnLst>
                    <a:cxn ang="0">
                      <a:pos x="T0" y="T1"/>
                    </a:cxn>
                    <a:cxn ang="0">
                      <a:pos x="T2" y="T3"/>
                    </a:cxn>
                    <a:cxn ang="0">
                      <a:pos x="T4" y="T5"/>
                    </a:cxn>
                    <a:cxn ang="0">
                      <a:pos x="T6" y="T7"/>
                    </a:cxn>
                  </a:cxnLst>
                  <a:rect l="0" t="0" r="r" b="b"/>
                  <a:pathLst>
                    <a:path w="23" h="31">
                      <a:moveTo>
                        <a:pt x="0" y="0"/>
                      </a:moveTo>
                      <a:lnTo>
                        <a:pt x="23" y="0"/>
                      </a:lnTo>
                      <a:lnTo>
                        <a:pt x="23" y="31"/>
                      </a:lnTo>
                      <a:lnTo>
                        <a:pt x="0" y="0"/>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261" name="Freeform 3749"/>
                <p:cNvSpPr>
                  <a:spLocks noChangeAspect="1"/>
                </p:cNvSpPr>
                <p:nvPr/>
              </p:nvSpPr>
              <p:spPr bwMode="auto">
                <a:xfrm>
                  <a:off x="4057" y="2594"/>
                  <a:ext cx="15" cy="20"/>
                </a:xfrm>
                <a:custGeom>
                  <a:avLst/>
                  <a:gdLst>
                    <a:gd name="T0" fmla="*/ 0 w 45"/>
                    <a:gd name="T1" fmla="*/ 0 h 61"/>
                    <a:gd name="T2" fmla="*/ 45 w 45"/>
                    <a:gd name="T3" fmla="*/ 0 h 61"/>
                    <a:gd name="T4" fmla="*/ 45 w 45"/>
                    <a:gd name="T5" fmla="*/ 61 h 61"/>
                    <a:gd name="T6" fmla="*/ 0 w 45"/>
                    <a:gd name="T7" fmla="*/ 0 h 61"/>
                  </a:gdLst>
                  <a:ahLst/>
                  <a:cxnLst>
                    <a:cxn ang="0">
                      <a:pos x="T0" y="T1"/>
                    </a:cxn>
                    <a:cxn ang="0">
                      <a:pos x="T2" y="T3"/>
                    </a:cxn>
                    <a:cxn ang="0">
                      <a:pos x="T4" y="T5"/>
                    </a:cxn>
                    <a:cxn ang="0">
                      <a:pos x="T6" y="T7"/>
                    </a:cxn>
                  </a:cxnLst>
                  <a:rect l="0" t="0" r="r" b="b"/>
                  <a:pathLst>
                    <a:path w="45" h="61">
                      <a:moveTo>
                        <a:pt x="0" y="0"/>
                      </a:moveTo>
                      <a:lnTo>
                        <a:pt x="45" y="0"/>
                      </a:lnTo>
                      <a:lnTo>
                        <a:pt x="45" y="61"/>
                      </a:lnTo>
                      <a:lnTo>
                        <a:pt x="0" y="0"/>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262" name="Freeform 3750"/>
                <p:cNvSpPr>
                  <a:spLocks noChangeAspect="1"/>
                </p:cNvSpPr>
                <p:nvPr/>
              </p:nvSpPr>
              <p:spPr bwMode="auto">
                <a:xfrm>
                  <a:off x="4065" y="2594"/>
                  <a:ext cx="15" cy="30"/>
                </a:xfrm>
                <a:custGeom>
                  <a:avLst/>
                  <a:gdLst>
                    <a:gd name="T0" fmla="*/ 0 w 44"/>
                    <a:gd name="T1" fmla="*/ 31 h 92"/>
                    <a:gd name="T2" fmla="*/ 0 w 44"/>
                    <a:gd name="T3" fmla="*/ 0 h 92"/>
                    <a:gd name="T4" fmla="*/ 44 w 44"/>
                    <a:gd name="T5" fmla="*/ 0 h 92"/>
                    <a:gd name="T6" fmla="*/ 44 w 44"/>
                    <a:gd name="T7" fmla="*/ 92 h 92"/>
                    <a:gd name="T8" fmla="*/ 0 w 44"/>
                    <a:gd name="T9" fmla="*/ 31 h 92"/>
                  </a:gdLst>
                  <a:ahLst/>
                  <a:cxnLst>
                    <a:cxn ang="0">
                      <a:pos x="T0" y="T1"/>
                    </a:cxn>
                    <a:cxn ang="0">
                      <a:pos x="T2" y="T3"/>
                    </a:cxn>
                    <a:cxn ang="0">
                      <a:pos x="T4" y="T5"/>
                    </a:cxn>
                    <a:cxn ang="0">
                      <a:pos x="T6" y="T7"/>
                    </a:cxn>
                    <a:cxn ang="0">
                      <a:pos x="T8" y="T9"/>
                    </a:cxn>
                  </a:cxnLst>
                  <a:rect l="0" t="0" r="r" b="b"/>
                  <a:pathLst>
                    <a:path w="44" h="92">
                      <a:moveTo>
                        <a:pt x="0" y="31"/>
                      </a:moveTo>
                      <a:lnTo>
                        <a:pt x="0" y="0"/>
                      </a:lnTo>
                      <a:lnTo>
                        <a:pt x="44" y="0"/>
                      </a:lnTo>
                      <a:lnTo>
                        <a:pt x="44" y="92"/>
                      </a:lnTo>
                      <a:lnTo>
                        <a:pt x="0" y="31"/>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263" name="Freeform 3751"/>
                <p:cNvSpPr>
                  <a:spLocks noChangeAspect="1"/>
                </p:cNvSpPr>
                <p:nvPr/>
              </p:nvSpPr>
              <p:spPr bwMode="auto">
                <a:xfrm>
                  <a:off x="4072" y="2594"/>
                  <a:ext cx="15" cy="40"/>
                </a:xfrm>
                <a:custGeom>
                  <a:avLst/>
                  <a:gdLst>
                    <a:gd name="T0" fmla="*/ 0 w 45"/>
                    <a:gd name="T1" fmla="*/ 61 h 122"/>
                    <a:gd name="T2" fmla="*/ 0 w 45"/>
                    <a:gd name="T3" fmla="*/ 0 h 122"/>
                    <a:gd name="T4" fmla="*/ 45 w 45"/>
                    <a:gd name="T5" fmla="*/ 0 h 122"/>
                    <a:gd name="T6" fmla="*/ 45 w 45"/>
                    <a:gd name="T7" fmla="*/ 122 h 122"/>
                    <a:gd name="T8" fmla="*/ 0 w 45"/>
                    <a:gd name="T9" fmla="*/ 61 h 122"/>
                  </a:gdLst>
                  <a:ahLst/>
                  <a:cxnLst>
                    <a:cxn ang="0">
                      <a:pos x="T0" y="T1"/>
                    </a:cxn>
                    <a:cxn ang="0">
                      <a:pos x="T2" y="T3"/>
                    </a:cxn>
                    <a:cxn ang="0">
                      <a:pos x="T4" y="T5"/>
                    </a:cxn>
                    <a:cxn ang="0">
                      <a:pos x="T6" y="T7"/>
                    </a:cxn>
                    <a:cxn ang="0">
                      <a:pos x="T8" y="T9"/>
                    </a:cxn>
                  </a:cxnLst>
                  <a:rect l="0" t="0" r="r" b="b"/>
                  <a:pathLst>
                    <a:path w="45" h="122">
                      <a:moveTo>
                        <a:pt x="0" y="61"/>
                      </a:moveTo>
                      <a:lnTo>
                        <a:pt x="0" y="0"/>
                      </a:lnTo>
                      <a:lnTo>
                        <a:pt x="45" y="0"/>
                      </a:lnTo>
                      <a:lnTo>
                        <a:pt x="45" y="122"/>
                      </a:lnTo>
                      <a:lnTo>
                        <a:pt x="0" y="61"/>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264" name="Freeform 3752"/>
                <p:cNvSpPr>
                  <a:spLocks noChangeAspect="1"/>
                </p:cNvSpPr>
                <p:nvPr/>
              </p:nvSpPr>
              <p:spPr bwMode="auto">
                <a:xfrm>
                  <a:off x="4409" y="2594"/>
                  <a:ext cx="15" cy="33"/>
                </a:xfrm>
                <a:custGeom>
                  <a:avLst/>
                  <a:gdLst>
                    <a:gd name="T0" fmla="*/ 0 w 46"/>
                    <a:gd name="T1" fmla="*/ 101 h 101"/>
                    <a:gd name="T2" fmla="*/ 0 w 46"/>
                    <a:gd name="T3" fmla="*/ 0 h 101"/>
                    <a:gd name="T4" fmla="*/ 46 w 46"/>
                    <a:gd name="T5" fmla="*/ 0 h 101"/>
                    <a:gd name="T6" fmla="*/ 46 w 46"/>
                    <a:gd name="T7" fmla="*/ 34 h 101"/>
                    <a:gd name="T8" fmla="*/ 0 w 46"/>
                    <a:gd name="T9" fmla="*/ 101 h 101"/>
                  </a:gdLst>
                  <a:ahLst/>
                  <a:cxnLst>
                    <a:cxn ang="0">
                      <a:pos x="T0" y="T1"/>
                    </a:cxn>
                    <a:cxn ang="0">
                      <a:pos x="T2" y="T3"/>
                    </a:cxn>
                    <a:cxn ang="0">
                      <a:pos x="T4" y="T5"/>
                    </a:cxn>
                    <a:cxn ang="0">
                      <a:pos x="T6" y="T7"/>
                    </a:cxn>
                    <a:cxn ang="0">
                      <a:pos x="T8" y="T9"/>
                    </a:cxn>
                  </a:cxnLst>
                  <a:rect l="0" t="0" r="r" b="b"/>
                  <a:pathLst>
                    <a:path w="46" h="101">
                      <a:moveTo>
                        <a:pt x="0" y="101"/>
                      </a:moveTo>
                      <a:lnTo>
                        <a:pt x="0" y="0"/>
                      </a:lnTo>
                      <a:lnTo>
                        <a:pt x="46" y="0"/>
                      </a:lnTo>
                      <a:lnTo>
                        <a:pt x="46" y="34"/>
                      </a:lnTo>
                      <a:lnTo>
                        <a:pt x="0" y="101"/>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265" name="Freeform 3753"/>
                <p:cNvSpPr>
                  <a:spLocks noChangeAspect="1"/>
                </p:cNvSpPr>
                <p:nvPr/>
              </p:nvSpPr>
              <p:spPr bwMode="auto">
                <a:xfrm>
                  <a:off x="4416" y="2594"/>
                  <a:ext cx="16" cy="22"/>
                </a:xfrm>
                <a:custGeom>
                  <a:avLst/>
                  <a:gdLst>
                    <a:gd name="T0" fmla="*/ 0 w 46"/>
                    <a:gd name="T1" fmla="*/ 67 h 67"/>
                    <a:gd name="T2" fmla="*/ 0 w 46"/>
                    <a:gd name="T3" fmla="*/ 0 h 67"/>
                    <a:gd name="T4" fmla="*/ 46 w 46"/>
                    <a:gd name="T5" fmla="*/ 0 h 67"/>
                    <a:gd name="T6" fmla="*/ 0 w 46"/>
                    <a:gd name="T7" fmla="*/ 67 h 67"/>
                  </a:gdLst>
                  <a:ahLst/>
                  <a:cxnLst>
                    <a:cxn ang="0">
                      <a:pos x="T0" y="T1"/>
                    </a:cxn>
                    <a:cxn ang="0">
                      <a:pos x="T2" y="T3"/>
                    </a:cxn>
                    <a:cxn ang="0">
                      <a:pos x="T4" y="T5"/>
                    </a:cxn>
                    <a:cxn ang="0">
                      <a:pos x="T6" y="T7"/>
                    </a:cxn>
                  </a:cxnLst>
                  <a:rect l="0" t="0" r="r" b="b"/>
                  <a:pathLst>
                    <a:path w="46" h="67">
                      <a:moveTo>
                        <a:pt x="0" y="67"/>
                      </a:moveTo>
                      <a:lnTo>
                        <a:pt x="0" y="0"/>
                      </a:lnTo>
                      <a:lnTo>
                        <a:pt x="46" y="0"/>
                      </a:lnTo>
                      <a:lnTo>
                        <a:pt x="0" y="67"/>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266" name="Freeform 3754"/>
                <p:cNvSpPr>
                  <a:spLocks noChangeAspect="1"/>
                </p:cNvSpPr>
                <p:nvPr/>
              </p:nvSpPr>
              <p:spPr bwMode="auto">
                <a:xfrm>
                  <a:off x="4424" y="2594"/>
                  <a:ext cx="8" cy="11"/>
                </a:xfrm>
                <a:custGeom>
                  <a:avLst/>
                  <a:gdLst>
                    <a:gd name="T0" fmla="*/ 0 w 22"/>
                    <a:gd name="T1" fmla="*/ 34 h 34"/>
                    <a:gd name="T2" fmla="*/ 0 w 22"/>
                    <a:gd name="T3" fmla="*/ 0 h 34"/>
                    <a:gd name="T4" fmla="*/ 22 w 22"/>
                    <a:gd name="T5" fmla="*/ 0 h 34"/>
                    <a:gd name="T6" fmla="*/ 0 w 22"/>
                    <a:gd name="T7" fmla="*/ 34 h 34"/>
                  </a:gdLst>
                  <a:ahLst/>
                  <a:cxnLst>
                    <a:cxn ang="0">
                      <a:pos x="T0" y="T1"/>
                    </a:cxn>
                    <a:cxn ang="0">
                      <a:pos x="T2" y="T3"/>
                    </a:cxn>
                    <a:cxn ang="0">
                      <a:pos x="T4" y="T5"/>
                    </a:cxn>
                    <a:cxn ang="0">
                      <a:pos x="T6" y="T7"/>
                    </a:cxn>
                  </a:cxnLst>
                  <a:rect l="0" t="0" r="r" b="b"/>
                  <a:pathLst>
                    <a:path w="22" h="34">
                      <a:moveTo>
                        <a:pt x="0" y="34"/>
                      </a:moveTo>
                      <a:lnTo>
                        <a:pt x="0" y="0"/>
                      </a:lnTo>
                      <a:lnTo>
                        <a:pt x="22" y="0"/>
                      </a:lnTo>
                      <a:lnTo>
                        <a:pt x="0" y="34"/>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267" name="Freeform 3755"/>
                <p:cNvSpPr>
                  <a:spLocks noChangeAspect="1"/>
                </p:cNvSpPr>
                <p:nvPr/>
              </p:nvSpPr>
              <p:spPr bwMode="auto">
                <a:xfrm>
                  <a:off x="4057" y="2594"/>
                  <a:ext cx="375" cy="74"/>
                </a:xfrm>
                <a:custGeom>
                  <a:avLst/>
                  <a:gdLst>
                    <a:gd name="T0" fmla="*/ 0 w 1123"/>
                    <a:gd name="T1" fmla="*/ 0 h 223"/>
                    <a:gd name="T2" fmla="*/ 165 w 1123"/>
                    <a:gd name="T3" fmla="*/ 223 h 223"/>
                    <a:gd name="T4" fmla="*/ 973 w 1123"/>
                    <a:gd name="T5" fmla="*/ 223 h 223"/>
                    <a:gd name="T6" fmla="*/ 1123 w 1123"/>
                    <a:gd name="T7" fmla="*/ 0 h 223"/>
                    <a:gd name="T8" fmla="*/ 0 w 1123"/>
                    <a:gd name="T9" fmla="*/ 0 h 223"/>
                  </a:gdLst>
                  <a:ahLst/>
                  <a:cxnLst>
                    <a:cxn ang="0">
                      <a:pos x="T0" y="T1"/>
                    </a:cxn>
                    <a:cxn ang="0">
                      <a:pos x="T2" y="T3"/>
                    </a:cxn>
                    <a:cxn ang="0">
                      <a:pos x="T4" y="T5"/>
                    </a:cxn>
                    <a:cxn ang="0">
                      <a:pos x="T6" y="T7"/>
                    </a:cxn>
                    <a:cxn ang="0">
                      <a:pos x="T8" y="T9"/>
                    </a:cxn>
                  </a:cxnLst>
                  <a:rect l="0" t="0" r="r" b="b"/>
                  <a:pathLst>
                    <a:path w="1123" h="223">
                      <a:moveTo>
                        <a:pt x="0" y="0"/>
                      </a:moveTo>
                      <a:lnTo>
                        <a:pt x="165" y="223"/>
                      </a:lnTo>
                      <a:lnTo>
                        <a:pt x="973" y="223"/>
                      </a:lnTo>
                      <a:lnTo>
                        <a:pt x="1123" y="0"/>
                      </a:lnTo>
                      <a:lnTo>
                        <a:pt x="0" y="0"/>
                      </a:lnTo>
                    </a:path>
                  </a:pathLst>
                </a:custGeom>
                <a:gradFill rotWithShape="0">
                  <a:gsLst>
                    <a:gs pos="0">
                      <a:schemeClr val="hlink"/>
                    </a:gs>
                    <a:gs pos="50000">
                      <a:schemeClr val="hlink">
                        <a:gamma/>
                        <a:tint val="40000"/>
                        <a:invGamma/>
                      </a:schemeClr>
                    </a:gs>
                    <a:gs pos="100000">
                      <a:schemeClr val="hlink"/>
                    </a:gs>
                  </a:gsLst>
                  <a:lin ang="0" scaled="1"/>
                </a:gradFill>
                <a:ln w="1588">
                  <a:solidFill>
                    <a:srgbClr val="1F1A17"/>
                  </a:solidFill>
                  <a:prstDash val="solid"/>
                  <a:round/>
                  <a:headEnd/>
                  <a:tailEnd/>
                </a:ln>
              </p:spPr>
              <p:txBody>
                <a:bodyPr/>
                <a:lstStyle/>
                <a:p>
                  <a:pPr>
                    <a:defRPr/>
                  </a:pPr>
                  <a:endParaRPr lang="en-US"/>
                </a:p>
              </p:txBody>
            </p:sp>
          </p:grpSp>
        </p:grpSp>
        <p:sp>
          <p:nvSpPr>
            <p:cNvPr id="386460" name="Line 3756"/>
            <p:cNvSpPr>
              <a:spLocks noChangeAspect="1" noChangeShapeType="1"/>
            </p:cNvSpPr>
            <p:nvPr/>
          </p:nvSpPr>
          <p:spPr bwMode="auto">
            <a:xfrm>
              <a:off x="2535" y="1052"/>
              <a:ext cx="221" cy="0"/>
            </a:xfrm>
            <a:prstGeom prst="line">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cxnSp>
          <p:nvCxnSpPr>
            <p:cNvPr id="386461" name="AutoShape 3757"/>
            <p:cNvCxnSpPr>
              <a:cxnSpLocks noChangeAspect="1" noChangeShapeType="1"/>
              <a:stCxn id="65632" idx="10"/>
              <a:endCxn id="67950" idx="1"/>
            </p:cNvCxnSpPr>
            <p:nvPr/>
          </p:nvCxnSpPr>
          <p:spPr bwMode="auto">
            <a:xfrm flipV="1">
              <a:off x="3080" y="1683"/>
              <a:ext cx="99" cy="166"/>
            </a:xfrm>
            <a:prstGeom prst="bentConnector3">
              <a:avLst>
                <a:gd name="adj1" fmla="val 34509"/>
              </a:avLst>
            </a:prstGeom>
            <a:noFill/>
            <a:ln w="19050">
              <a:solidFill>
                <a:srgbClr val="FF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86462" name="Group 3758"/>
            <p:cNvGrpSpPr>
              <a:grpSpLocks noChangeAspect="1"/>
            </p:cNvGrpSpPr>
            <p:nvPr/>
          </p:nvGrpSpPr>
          <p:grpSpPr bwMode="auto">
            <a:xfrm>
              <a:off x="1236" y="2249"/>
              <a:ext cx="194" cy="129"/>
              <a:chOff x="5208" y="1004"/>
              <a:chExt cx="376" cy="258"/>
            </a:xfrm>
          </p:grpSpPr>
          <p:sp>
            <p:nvSpPr>
              <p:cNvPr id="387663" name="Freeform 3759"/>
              <p:cNvSpPr>
                <a:spLocks noChangeAspect="1"/>
              </p:cNvSpPr>
              <p:nvPr/>
            </p:nvSpPr>
            <p:spPr bwMode="auto">
              <a:xfrm>
                <a:off x="5237" y="1117"/>
                <a:ext cx="5" cy="52"/>
              </a:xfrm>
              <a:custGeom>
                <a:avLst/>
                <a:gdLst>
                  <a:gd name="T0" fmla="*/ 0 w 16"/>
                  <a:gd name="T1" fmla="*/ 0 h 158"/>
                  <a:gd name="T2" fmla="*/ 0 w 16"/>
                  <a:gd name="T3" fmla="*/ 0 h 158"/>
                  <a:gd name="T4" fmla="*/ 0 w 16"/>
                  <a:gd name="T5" fmla="*/ 0 h 158"/>
                  <a:gd name="T6" fmla="*/ 0 w 16"/>
                  <a:gd name="T7" fmla="*/ 0 h 158"/>
                  <a:gd name="T8" fmla="*/ 0 w 16"/>
                  <a:gd name="T9" fmla="*/ 0 h 158"/>
                  <a:gd name="T10" fmla="*/ 0 w 16"/>
                  <a:gd name="T11" fmla="*/ 0 h 158"/>
                  <a:gd name="T12" fmla="*/ 0 w 16"/>
                  <a:gd name="T13" fmla="*/ 0 h 158"/>
                  <a:gd name="T14" fmla="*/ 0 w 16"/>
                  <a:gd name="T15" fmla="*/ 0 h 158"/>
                  <a:gd name="T16" fmla="*/ 0 w 16"/>
                  <a:gd name="T17" fmla="*/ 0 h 158"/>
                  <a:gd name="T18" fmla="*/ 0 w 16"/>
                  <a:gd name="T19" fmla="*/ 0 h 158"/>
                  <a:gd name="T20" fmla="*/ 0 w 16"/>
                  <a:gd name="T21" fmla="*/ 0 h 158"/>
                  <a:gd name="T22" fmla="*/ 0 w 16"/>
                  <a:gd name="T23" fmla="*/ 0 h 158"/>
                  <a:gd name="T24" fmla="*/ 0 w 16"/>
                  <a:gd name="T25" fmla="*/ 0 h 158"/>
                  <a:gd name="T26" fmla="*/ 0 w 16"/>
                  <a:gd name="T27" fmla="*/ 0 h 158"/>
                  <a:gd name="T28" fmla="*/ 0 w 16"/>
                  <a:gd name="T29" fmla="*/ 0 h 158"/>
                  <a:gd name="T30" fmla="*/ 0 w 16"/>
                  <a:gd name="T31" fmla="*/ 0 h 158"/>
                  <a:gd name="T32" fmla="*/ 0 w 16"/>
                  <a:gd name="T33" fmla="*/ 0 h 158"/>
                  <a:gd name="T34" fmla="*/ 0 w 16"/>
                  <a:gd name="T35" fmla="*/ 0 h 158"/>
                  <a:gd name="T36" fmla="*/ 0 w 16"/>
                  <a:gd name="T37" fmla="*/ 0 h 158"/>
                  <a:gd name="T38" fmla="*/ 0 w 16"/>
                  <a:gd name="T39" fmla="*/ 0 h 1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6" h="158">
                    <a:moveTo>
                      <a:pt x="0" y="123"/>
                    </a:moveTo>
                    <a:lnTo>
                      <a:pt x="0" y="120"/>
                    </a:lnTo>
                    <a:lnTo>
                      <a:pt x="0" y="105"/>
                    </a:lnTo>
                    <a:lnTo>
                      <a:pt x="1" y="89"/>
                    </a:lnTo>
                    <a:lnTo>
                      <a:pt x="2" y="74"/>
                    </a:lnTo>
                    <a:lnTo>
                      <a:pt x="3" y="60"/>
                    </a:lnTo>
                    <a:lnTo>
                      <a:pt x="6" y="44"/>
                    </a:lnTo>
                    <a:lnTo>
                      <a:pt x="8" y="29"/>
                    </a:lnTo>
                    <a:lnTo>
                      <a:pt x="12" y="15"/>
                    </a:lnTo>
                    <a:lnTo>
                      <a:pt x="16" y="0"/>
                    </a:lnTo>
                    <a:lnTo>
                      <a:pt x="16" y="158"/>
                    </a:lnTo>
                    <a:lnTo>
                      <a:pt x="1" y="158"/>
                    </a:lnTo>
                    <a:lnTo>
                      <a:pt x="1" y="154"/>
                    </a:lnTo>
                    <a:lnTo>
                      <a:pt x="0" y="150"/>
                    </a:lnTo>
                    <a:lnTo>
                      <a:pt x="0" y="146"/>
                    </a:lnTo>
                    <a:lnTo>
                      <a:pt x="0" y="141"/>
                    </a:lnTo>
                    <a:lnTo>
                      <a:pt x="0" y="137"/>
                    </a:lnTo>
                    <a:lnTo>
                      <a:pt x="0" y="133"/>
                    </a:lnTo>
                    <a:lnTo>
                      <a:pt x="0" y="128"/>
                    </a:lnTo>
                    <a:lnTo>
                      <a:pt x="0" y="12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64" name="Freeform 3760"/>
              <p:cNvSpPr>
                <a:spLocks noChangeAspect="1"/>
              </p:cNvSpPr>
              <p:nvPr/>
            </p:nvSpPr>
            <p:spPr bwMode="auto">
              <a:xfrm>
                <a:off x="5237" y="1100"/>
                <a:ext cx="10" cy="69"/>
              </a:xfrm>
              <a:custGeom>
                <a:avLst/>
                <a:gdLst>
                  <a:gd name="T0" fmla="*/ 0 w 32"/>
                  <a:gd name="T1" fmla="*/ 0 h 207"/>
                  <a:gd name="T2" fmla="*/ 0 w 32"/>
                  <a:gd name="T3" fmla="*/ 0 h 207"/>
                  <a:gd name="T4" fmla="*/ 0 w 32"/>
                  <a:gd name="T5" fmla="*/ 0 h 207"/>
                  <a:gd name="T6" fmla="*/ 0 w 32"/>
                  <a:gd name="T7" fmla="*/ 0 h 207"/>
                  <a:gd name="T8" fmla="*/ 0 w 32"/>
                  <a:gd name="T9" fmla="*/ 0 h 207"/>
                  <a:gd name="T10" fmla="*/ 0 w 32"/>
                  <a:gd name="T11" fmla="*/ 0 h 207"/>
                  <a:gd name="T12" fmla="*/ 0 w 32"/>
                  <a:gd name="T13" fmla="*/ 0 h 207"/>
                  <a:gd name="T14" fmla="*/ 0 w 32"/>
                  <a:gd name="T15" fmla="*/ 0 h 207"/>
                  <a:gd name="T16" fmla="*/ 0 w 32"/>
                  <a:gd name="T17" fmla="*/ 0 h 207"/>
                  <a:gd name="T18" fmla="*/ 0 w 32"/>
                  <a:gd name="T19" fmla="*/ 0 h 207"/>
                  <a:gd name="T20" fmla="*/ 0 w 32"/>
                  <a:gd name="T21" fmla="*/ 0 h 207"/>
                  <a:gd name="T22" fmla="*/ 0 w 32"/>
                  <a:gd name="T23" fmla="*/ 0 h 207"/>
                  <a:gd name="T24" fmla="*/ 0 w 32"/>
                  <a:gd name="T25" fmla="*/ 0 h 207"/>
                  <a:gd name="T26" fmla="*/ 0 w 32"/>
                  <a:gd name="T27" fmla="*/ 0 h 207"/>
                  <a:gd name="T28" fmla="*/ 0 w 32"/>
                  <a:gd name="T29" fmla="*/ 0 h 207"/>
                  <a:gd name="T30" fmla="*/ 0 w 32"/>
                  <a:gd name="T31" fmla="*/ 0 h 207"/>
                  <a:gd name="T32" fmla="*/ 0 w 32"/>
                  <a:gd name="T33" fmla="*/ 0 h 207"/>
                  <a:gd name="T34" fmla="*/ 0 w 32"/>
                  <a:gd name="T35" fmla="*/ 0 h 207"/>
                  <a:gd name="T36" fmla="*/ 0 w 32"/>
                  <a:gd name="T37" fmla="*/ 0 h 207"/>
                  <a:gd name="T38" fmla="*/ 0 w 32"/>
                  <a:gd name="T39" fmla="*/ 0 h 2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 h="207">
                    <a:moveTo>
                      <a:pt x="0" y="172"/>
                    </a:moveTo>
                    <a:lnTo>
                      <a:pt x="0" y="169"/>
                    </a:lnTo>
                    <a:lnTo>
                      <a:pt x="0" y="148"/>
                    </a:lnTo>
                    <a:lnTo>
                      <a:pt x="2" y="126"/>
                    </a:lnTo>
                    <a:lnTo>
                      <a:pt x="4" y="103"/>
                    </a:lnTo>
                    <a:lnTo>
                      <a:pt x="7" y="82"/>
                    </a:lnTo>
                    <a:lnTo>
                      <a:pt x="13" y="62"/>
                    </a:lnTo>
                    <a:lnTo>
                      <a:pt x="18" y="40"/>
                    </a:lnTo>
                    <a:lnTo>
                      <a:pt x="24" y="20"/>
                    </a:lnTo>
                    <a:lnTo>
                      <a:pt x="32" y="0"/>
                    </a:lnTo>
                    <a:lnTo>
                      <a:pt x="32" y="207"/>
                    </a:lnTo>
                    <a:lnTo>
                      <a:pt x="1" y="207"/>
                    </a:lnTo>
                    <a:lnTo>
                      <a:pt x="1" y="203"/>
                    </a:lnTo>
                    <a:lnTo>
                      <a:pt x="0" y="199"/>
                    </a:lnTo>
                    <a:lnTo>
                      <a:pt x="0" y="195"/>
                    </a:lnTo>
                    <a:lnTo>
                      <a:pt x="0" y="190"/>
                    </a:lnTo>
                    <a:lnTo>
                      <a:pt x="0" y="186"/>
                    </a:lnTo>
                    <a:lnTo>
                      <a:pt x="0" y="182"/>
                    </a:lnTo>
                    <a:lnTo>
                      <a:pt x="0" y="177"/>
                    </a:lnTo>
                    <a:lnTo>
                      <a:pt x="0" y="17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65" name="Freeform 3761"/>
              <p:cNvSpPr>
                <a:spLocks noChangeAspect="1"/>
              </p:cNvSpPr>
              <p:nvPr/>
            </p:nvSpPr>
            <p:spPr bwMode="auto">
              <a:xfrm>
                <a:off x="5242" y="1089"/>
                <a:ext cx="11" cy="80"/>
              </a:xfrm>
              <a:custGeom>
                <a:avLst/>
                <a:gdLst>
                  <a:gd name="T0" fmla="*/ 0 w 32"/>
                  <a:gd name="T1" fmla="*/ 0 h 242"/>
                  <a:gd name="T2" fmla="*/ 0 w 32"/>
                  <a:gd name="T3" fmla="*/ 0 h 242"/>
                  <a:gd name="T4" fmla="*/ 0 w 32"/>
                  <a:gd name="T5" fmla="*/ 0 h 242"/>
                  <a:gd name="T6" fmla="*/ 0 w 32"/>
                  <a:gd name="T7" fmla="*/ 0 h 242"/>
                  <a:gd name="T8" fmla="*/ 0 w 32"/>
                  <a:gd name="T9" fmla="*/ 0 h 242"/>
                  <a:gd name="T10" fmla="*/ 0 w 32"/>
                  <a:gd name="T11" fmla="*/ 0 h 242"/>
                  <a:gd name="T12" fmla="*/ 0 w 32"/>
                  <a:gd name="T13" fmla="*/ 0 h 242"/>
                  <a:gd name="T14" fmla="*/ 0 w 32"/>
                  <a:gd name="T15" fmla="*/ 0 h 242"/>
                  <a:gd name="T16" fmla="*/ 0 w 32"/>
                  <a:gd name="T17" fmla="*/ 0 h 242"/>
                  <a:gd name="T18" fmla="*/ 0 w 32"/>
                  <a:gd name="T19" fmla="*/ 0 h 242"/>
                  <a:gd name="T20" fmla="*/ 0 w 32"/>
                  <a:gd name="T21" fmla="*/ 0 h 242"/>
                  <a:gd name="T22" fmla="*/ 0 w 32"/>
                  <a:gd name="T23" fmla="*/ 0 h 2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42">
                    <a:moveTo>
                      <a:pt x="0" y="242"/>
                    </a:moveTo>
                    <a:lnTo>
                      <a:pt x="0" y="84"/>
                    </a:lnTo>
                    <a:lnTo>
                      <a:pt x="3" y="73"/>
                    </a:lnTo>
                    <a:lnTo>
                      <a:pt x="6" y="62"/>
                    </a:lnTo>
                    <a:lnTo>
                      <a:pt x="9" y="51"/>
                    </a:lnTo>
                    <a:lnTo>
                      <a:pt x="14" y="40"/>
                    </a:lnTo>
                    <a:lnTo>
                      <a:pt x="18" y="30"/>
                    </a:lnTo>
                    <a:lnTo>
                      <a:pt x="22" y="20"/>
                    </a:lnTo>
                    <a:lnTo>
                      <a:pt x="26" y="10"/>
                    </a:lnTo>
                    <a:lnTo>
                      <a:pt x="32" y="0"/>
                    </a:lnTo>
                    <a:lnTo>
                      <a:pt x="32" y="242"/>
                    </a:lnTo>
                    <a:lnTo>
                      <a:pt x="0" y="24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66" name="Freeform 3762"/>
              <p:cNvSpPr>
                <a:spLocks noChangeAspect="1"/>
              </p:cNvSpPr>
              <p:nvPr/>
            </p:nvSpPr>
            <p:spPr bwMode="auto">
              <a:xfrm>
                <a:off x="5247" y="1079"/>
                <a:ext cx="11" cy="90"/>
              </a:xfrm>
              <a:custGeom>
                <a:avLst/>
                <a:gdLst>
                  <a:gd name="T0" fmla="*/ 0 w 32"/>
                  <a:gd name="T1" fmla="*/ 0 h 272"/>
                  <a:gd name="T2" fmla="*/ 0 w 32"/>
                  <a:gd name="T3" fmla="*/ 0 h 272"/>
                  <a:gd name="T4" fmla="*/ 0 w 32"/>
                  <a:gd name="T5" fmla="*/ 0 h 272"/>
                  <a:gd name="T6" fmla="*/ 0 w 32"/>
                  <a:gd name="T7" fmla="*/ 0 h 272"/>
                  <a:gd name="T8" fmla="*/ 0 w 32"/>
                  <a:gd name="T9" fmla="*/ 0 h 272"/>
                  <a:gd name="T10" fmla="*/ 0 w 32"/>
                  <a:gd name="T11" fmla="*/ 0 h 272"/>
                  <a:gd name="T12" fmla="*/ 0 w 32"/>
                  <a:gd name="T13" fmla="*/ 0 h 272"/>
                  <a:gd name="T14" fmla="*/ 0 w 32"/>
                  <a:gd name="T15" fmla="*/ 0 h 272"/>
                  <a:gd name="T16" fmla="*/ 0 w 32"/>
                  <a:gd name="T17" fmla="*/ 0 h 272"/>
                  <a:gd name="T18" fmla="*/ 0 w 32"/>
                  <a:gd name="T19" fmla="*/ 0 h 272"/>
                  <a:gd name="T20" fmla="*/ 0 w 32"/>
                  <a:gd name="T21" fmla="*/ 0 h 272"/>
                  <a:gd name="T22" fmla="*/ 0 w 32"/>
                  <a:gd name="T23" fmla="*/ 0 h 2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72">
                    <a:moveTo>
                      <a:pt x="0" y="272"/>
                    </a:moveTo>
                    <a:lnTo>
                      <a:pt x="0" y="65"/>
                    </a:lnTo>
                    <a:lnTo>
                      <a:pt x="3" y="57"/>
                    </a:lnTo>
                    <a:lnTo>
                      <a:pt x="7" y="48"/>
                    </a:lnTo>
                    <a:lnTo>
                      <a:pt x="10" y="41"/>
                    </a:lnTo>
                    <a:lnTo>
                      <a:pt x="15" y="32"/>
                    </a:lnTo>
                    <a:lnTo>
                      <a:pt x="19" y="24"/>
                    </a:lnTo>
                    <a:lnTo>
                      <a:pt x="23" y="16"/>
                    </a:lnTo>
                    <a:lnTo>
                      <a:pt x="28" y="8"/>
                    </a:lnTo>
                    <a:lnTo>
                      <a:pt x="32" y="0"/>
                    </a:lnTo>
                    <a:lnTo>
                      <a:pt x="32" y="272"/>
                    </a:lnTo>
                    <a:lnTo>
                      <a:pt x="0" y="27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67" name="Freeform 3763"/>
              <p:cNvSpPr>
                <a:spLocks noChangeAspect="1"/>
              </p:cNvSpPr>
              <p:nvPr/>
            </p:nvSpPr>
            <p:spPr bwMode="auto">
              <a:xfrm>
                <a:off x="5253" y="1070"/>
                <a:ext cx="10" cy="99"/>
              </a:xfrm>
              <a:custGeom>
                <a:avLst/>
                <a:gdLst>
                  <a:gd name="T0" fmla="*/ 0 w 32"/>
                  <a:gd name="T1" fmla="*/ 0 h 297"/>
                  <a:gd name="T2" fmla="*/ 0 w 32"/>
                  <a:gd name="T3" fmla="*/ 0 h 297"/>
                  <a:gd name="T4" fmla="*/ 0 w 32"/>
                  <a:gd name="T5" fmla="*/ 0 h 297"/>
                  <a:gd name="T6" fmla="*/ 0 w 32"/>
                  <a:gd name="T7" fmla="*/ 0 h 297"/>
                  <a:gd name="T8" fmla="*/ 0 w 32"/>
                  <a:gd name="T9" fmla="*/ 0 h 297"/>
                  <a:gd name="T10" fmla="*/ 0 w 32"/>
                  <a:gd name="T11" fmla="*/ 0 h 297"/>
                  <a:gd name="T12" fmla="*/ 0 w 32"/>
                  <a:gd name="T13" fmla="*/ 0 h 297"/>
                  <a:gd name="T14" fmla="*/ 0 w 32"/>
                  <a:gd name="T15" fmla="*/ 0 h 297"/>
                  <a:gd name="T16" fmla="*/ 0 w 32"/>
                  <a:gd name="T17" fmla="*/ 0 h 297"/>
                  <a:gd name="T18" fmla="*/ 0 w 32"/>
                  <a:gd name="T19" fmla="*/ 0 h 297"/>
                  <a:gd name="T20" fmla="*/ 0 w 32"/>
                  <a:gd name="T21" fmla="*/ 0 h 297"/>
                  <a:gd name="T22" fmla="*/ 0 w 32"/>
                  <a:gd name="T23" fmla="*/ 0 h 2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97">
                    <a:moveTo>
                      <a:pt x="0" y="297"/>
                    </a:moveTo>
                    <a:lnTo>
                      <a:pt x="0" y="55"/>
                    </a:lnTo>
                    <a:lnTo>
                      <a:pt x="4" y="48"/>
                    </a:lnTo>
                    <a:lnTo>
                      <a:pt x="7" y="40"/>
                    </a:lnTo>
                    <a:lnTo>
                      <a:pt x="12" y="34"/>
                    </a:lnTo>
                    <a:lnTo>
                      <a:pt x="15" y="26"/>
                    </a:lnTo>
                    <a:lnTo>
                      <a:pt x="19" y="20"/>
                    </a:lnTo>
                    <a:lnTo>
                      <a:pt x="23" y="14"/>
                    </a:lnTo>
                    <a:lnTo>
                      <a:pt x="27" y="6"/>
                    </a:lnTo>
                    <a:lnTo>
                      <a:pt x="32" y="0"/>
                    </a:lnTo>
                    <a:lnTo>
                      <a:pt x="32" y="297"/>
                    </a:lnTo>
                    <a:lnTo>
                      <a:pt x="0" y="2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68" name="Freeform 3764"/>
              <p:cNvSpPr>
                <a:spLocks noChangeAspect="1"/>
              </p:cNvSpPr>
              <p:nvPr/>
            </p:nvSpPr>
            <p:spPr bwMode="auto">
              <a:xfrm>
                <a:off x="5258" y="1063"/>
                <a:ext cx="11" cy="106"/>
              </a:xfrm>
              <a:custGeom>
                <a:avLst/>
                <a:gdLst>
                  <a:gd name="T0" fmla="*/ 0 w 33"/>
                  <a:gd name="T1" fmla="*/ 0 h 320"/>
                  <a:gd name="T2" fmla="*/ 0 w 33"/>
                  <a:gd name="T3" fmla="*/ 0 h 320"/>
                  <a:gd name="T4" fmla="*/ 0 w 33"/>
                  <a:gd name="T5" fmla="*/ 0 h 320"/>
                  <a:gd name="T6" fmla="*/ 0 w 33"/>
                  <a:gd name="T7" fmla="*/ 0 h 320"/>
                  <a:gd name="T8" fmla="*/ 0 w 33"/>
                  <a:gd name="T9" fmla="*/ 0 h 320"/>
                  <a:gd name="T10" fmla="*/ 0 w 33"/>
                  <a:gd name="T11" fmla="*/ 0 h 320"/>
                  <a:gd name="T12" fmla="*/ 0 w 33"/>
                  <a:gd name="T13" fmla="*/ 0 h 320"/>
                  <a:gd name="T14" fmla="*/ 0 w 33"/>
                  <a:gd name="T15" fmla="*/ 0 h 320"/>
                  <a:gd name="T16" fmla="*/ 0 w 33"/>
                  <a:gd name="T17" fmla="*/ 0 h 320"/>
                  <a:gd name="T18" fmla="*/ 0 w 33"/>
                  <a:gd name="T19" fmla="*/ 0 h 320"/>
                  <a:gd name="T20" fmla="*/ 0 w 33"/>
                  <a:gd name="T21" fmla="*/ 0 h 320"/>
                  <a:gd name="T22" fmla="*/ 0 w 33"/>
                  <a:gd name="T23" fmla="*/ 0 h 3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20">
                    <a:moveTo>
                      <a:pt x="0" y="320"/>
                    </a:moveTo>
                    <a:lnTo>
                      <a:pt x="0" y="48"/>
                    </a:lnTo>
                    <a:lnTo>
                      <a:pt x="4" y="42"/>
                    </a:lnTo>
                    <a:lnTo>
                      <a:pt x="7" y="35"/>
                    </a:lnTo>
                    <a:lnTo>
                      <a:pt x="11" y="30"/>
                    </a:lnTo>
                    <a:lnTo>
                      <a:pt x="16" y="24"/>
                    </a:lnTo>
                    <a:lnTo>
                      <a:pt x="20" y="18"/>
                    </a:lnTo>
                    <a:lnTo>
                      <a:pt x="24" y="12"/>
                    </a:lnTo>
                    <a:lnTo>
                      <a:pt x="28" y="7"/>
                    </a:lnTo>
                    <a:lnTo>
                      <a:pt x="33" y="0"/>
                    </a:lnTo>
                    <a:lnTo>
                      <a:pt x="33" y="320"/>
                    </a:lnTo>
                    <a:lnTo>
                      <a:pt x="0" y="3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69" name="Freeform 3765"/>
              <p:cNvSpPr>
                <a:spLocks noChangeAspect="1"/>
              </p:cNvSpPr>
              <p:nvPr/>
            </p:nvSpPr>
            <p:spPr bwMode="auto">
              <a:xfrm>
                <a:off x="5263" y="1056"/>
                <a:ext cx="11" cy="113"/>
              </a:xfrm>
              <a:custGeom>
                <a:avLst/>
                <a:gdLst>
                  <a:gd name="T0" fmla="*/ 0 w 33"/>
                  <a:gd name="T1" fmla="*/ 0 h 339"/>
                  <a:gd name="T2" fmla="*/ 0 w 33"/>
                  <a:gd name="T3" fmla="*/ 0 h 339"/>
                  <a:gd name="T4" fmla="*/ 0 w 33"/>
                  <a:gd name="T5" fmla="*/ 0 h 339"/>
                  <a:gd name="T6" fmla="*/ 0 w 33"/>
                  <a:gd name="T7" fmla="*/ 0 h 339"/>
                  <a:gd name="T8" fmla="*/ 0 w 33"/>
                  <a:gd name="T9" fmla="*/ 0 h 339"/>
                  <a:gd name="T10" fmla="*/ 0 w 33"/>
                  <a:gd name="T11" fmla="*/ 0 h 339"/>
                  <a:gd name="T12" fmla="*/ 0 w 33"/>
                  <a:gd name="T13" fmla="*/ 0 h 339"/>
                  <a:gd name="T14" fmla="*/ 0 w 33"/>
                  <a:gd name="T15" fmla="*/ 0 h 339"/>
                  <a:gd name="T16" fmla="*/ 0 w 33"/>
                  <a:gd name="T17" fmla="*/ 0 h 339"/>
                  <a:gd name="T18" fmla="*/ 0 w 33"/>
                  <a:gd name="T19" fmla="*/ 0 h 339"/>
                  <a:gd name="T20" fmla="*/ 0 w 33"/>
                  <a:gd name="T21" fmla="*/ 0 h 339"/>
                  <a:gd name="T22" fmla="*/ 0 w 33"/>
                  <a:gd name="T23" fmla="*/ 0 h 3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39">
                    <a:moveTo>
                      <a:pt x="0" y="339"/>
                    </a:moveTo>
                    <a:lnTo>
                      <a:pt x="0" y="42"/>
                    </a:lnTo>
                    <a:lnTo>
                      <a:pt x="4" y="36"/>
                    </a:lnTo>
                    <a:lnTo>
                      <a:pt x="8" y="31"/>
                    </a:lnTo>
                    <a:lnTo>
                      <a:pt x="11" y="26"/>
                    </a:lnTo>
                    <a:lnTo>
                      <a:pt x="16" y="20"/>
                    </a:lnTo>
                    <a:lnTo>
                      <a:pt x="20" y="15"/>
                    </a:lnTo>
                    <a:lnTo>
                      <a:pt x="24" y="10"/>
                    </a:lnTo>
                    <a:lnTo>
                      <a:pt x="28" y="6"/>
                    </a:lnTo>
                    <a:lnTo>
                      <a:pt x="33" y="0"/>
                    </a:lnTo>
                    <a:lnTo>
                      <a:pt x="33" y="339"/>
                    </a:lnTo>
                    <a:lnTo>
                      <a:pt x="0" y="33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70" name="Freeform 3766"/>
              <p:cNvSpPr>
                <a:spLocks noChangeAspect="1"/>
              </p:cNvSpPr>
              <p:nvPr/>
            </p:nvSpPr>
            <p:spPr bwMode="auto">
              <a:xfrm>
                <a:off x="5269" y="1050"/>
                <a:ext cx="11" cy="119"/>
              </a:xfrm>
              <a:custGeom>
                <a:avLst/>
                <a:gdLst>
                  <a:gd name="T0" fmla="*/ 0 w 32"/>
                  <a:gd name="T1" fmla="*/ 0 h 357"/>
                  <a:gd name="T2" fmla="*/ 0 w 32"/>
                  <a:gd name="T3" fmla="*/ 0 h 357"/>
                  <a:gd name="T4" fmla="*/ 0 w 32"/>
                  <a:gd name="T5" fmla="*/ 0 h 357"/>
                  <a:gd name="T6" fmla="*/ 0 w 32"/>
                  <a:gd name="T7" fmla="*/ 0 h 357"/>
                  <a:gd name="T8" fmla="*/ 0 w 32"/>
                  <a:gd name="T9" fmla="*/ 0 h 357"/>
                  <a:gd name="T10" fmla="*/ 0 w 32"/>
                  <a:gd name="T11" fmla="*/ 0 h 357"/>
                  <a:gd name="T12" fmla="*/ 0 w 32"/>
                  <a:gd name="T13" fmla="*/ 0 h 357"/>
                  <a:gd name="T14" fmla="*/ 0 w 32"/>
                  <a:gd name="T15" fmla="*/ 0 h 357"/>
                  <a:gd name="T16" fmla="*/ 0 w 32"/>
                  <a:gd name="T17" fmla="*/ 0 h 357"/>
                  <a:gd name="T18" fmla="*/ 0 w 32"/>
                  <a:gd name="T19" fmla="*/ 0 h 357"/>
                  <a:gd name="T20" fmla="*/ 0 w 32"/>
                  <a:gd name="T21" fmla="*/ 0 h 357"/>
                  <a:gd name="T22" fmla="*/ 0 w 32"/>
                  <a:gd name="T23" fmla="*/ 0 h 3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57">
                    <a:moveTo>
                      <a:pt x="0" y="357"/>
                    </a:moveTo>
                    <a:lnTo>
                      <a:pt x="0" y="37"/>
                    </a:lnTo>
                    <a:lnTo>
                      <a:pt x="3" y="33"/>
                    </a:lnTo>
                    <a:lnTo>
                      <a:pt x="7" y="28"/>
                    </a:lnTo>
                    <a:lnTo>
                      <a:pt x="11" y="24"/>
                    </a:lnTo>
                    <a:lnTo>
                      <a:pt x="15" y="18"/>
                    </a:lnTo>
                    <a:lnTo>
                      <a:pt x="19" y="14"/>
                    </a:lnTo>
                    <a:lnTo>
                      <a:pt x="23" y="10"/>
                    </a:lnTo>
                    <a:lnTo>
                      <a:pt x="27" y="6"/>
                    </a:lnTo>
                    <a:lnTo>
                      <a:pt x="32" y="0"/>
                    </a:lnTo>
                    <a:lnTo>
                      <a:pt x="32" y="357"/>
                    </a:lnTo>
                    <a:lnTo>
                      <a:pt x="0" y="35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71" name="Freeform 3767"/>
              <p:cNvSpPr>
                <a:spLocks noChangeAspect="1"/>
              </p:cNvSpPr>
              <p:nvPr/>
            </p:nvSpPr>
            <p:spPr bwMode="auto">
              <a:xfrm>
                <a:off x="5274" y="1045"/>
                <a:ext cx="11" cy="124"/>
              </a:xfrm>
              <a:custGeom>
                <a:avLst/>
                <a:gdLst>
                  <a:gd name="T0" fmla="*/ 0 w 32"/>
                  <a:gd name="T1" fmla="*/ 0 h 373"/>
                  <a:gd name="T2" fmla="*/ 0 w 32"/>
                  <a:gd name="T3" fmla="*/ 0 h 373"/>
                  <a:gd name="T4" fmla="*/ 0 w 32"/>
                  <a:gd name="T5" fmla="*/ 0 h 373"/>
                  <a:gd name="T6" fmla="*/ 0 w 32"/>
                  <a:gd name="T7" fmla="*/ 0 h 373"/>
                  <a:gd name="T8" fmla="*/ 0 w 32"/>
                  <a:gd name="T9" fmla="*/ 0 h 373"/>
                  <a:gd name="T10" fmla="*/ 0 w 32"/>
                  <a:gd name="T11" fmla="*/ 0 h 373"/>
                  <a:gd name="T12" fmla="*/ 0 w 32"/>
                  <a:gd name="T13" fmla="*/ 0 h 373"/>
                  <a:gd name="T14" fmla="*/ 0 w 32"/>
                  <a:gd name="T15" fmla="*/ 0 h 373"/>
                  <a:gd name="T16" fmla="*/ 0 w 32"/>
                  <a:gd name="T17" fmla="*/ 0 h 373"/>
                  <a:gd name="T18" fmla="*/ 0 w 32"/>
                  <a:gd name="T19" fmla="*/ 0 h 373"/>
                  <a:gd name="T20" fmla="*/ 0 w 32"/>
                  <a:gd name="T21" fmla="*/ 0 h 373"/>
                  <a:gd name="T22" fmla="*/ 0 w 32"/>
                  <a:gd name="T23" fmla="*/ 0 h 3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73">
                    <a:moveTo>
                      <a:pt x="0" y="373"/>
                    </a:moveTo>
                    <a:lnTo>
                      <a:pt x="0" y="34"/>
                    </a:lnTo>
                    <a:lnTo>
                      <a:pt x="3" y="30"/>
                    </a:lnTo>
                    <a:lnTo>
                      <a:pt x="7" y="26"/>
                    </a:lnTo>
                    <a:lnTo>
                      <a:pt x="11" y="22"/>
                    </a:lnTo>
                    <a:lnTo>
                      <a:pt x="16" y="17"/>
                    </a:lnTo>
                    <a:lnTo>
                      <a:pt x="19" y="13"/>
                    </a:lnTo>
                    <a:lnTo>
                      <a:pt x="23" y="9"/>
                    </a:lnTo>
                    <a:lnTo>
                      <a:pt x="27" y="4"/>
                    </a:lnTo>
                    <a:lnTo>
                      <a:pt x="32" y="0"/>
                    </a:lnTo>
                    <a:lnTo>
                      <a:pt x="32" y="373"/>
                    </a:lnTo>
                    <a:lnTo>
                      <a:pt x="0" y="37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72" name="Freeform 3768"/>
              <p:cNvSpPr>
                <a:spLocks noChangeAspect="1"/>
              </p:cNvSpPr>
              <p:nvPr/>
            </p:nvSpPr>
            <p:spPr bwMode="auto">
              <a:xfrm>
                <a:off x="5280" y="1040"/>
                <a:ext cx="10" cy="129"/>
              </a:xfrm>
              <a:custGeom>
                <a:avLst/>
                <a:gdLst>
                  <a:gd name="T0" fmla="*/ 0 w 32"/>
                  <a:gd name="T1" fmla="*/ 0 h 387"/>
                  <a:gd name="T2" fmla="*/ 0 w 32"/>
                  <a:gd name="T3" fmla="*/ 0 h 387"/>
                  <a:gd name="T4" fmla="*/ 0 w 32"/>
                  <a:gd name="T5" fmla="*/ 0 h 387"/>
                  <a:gd name="T6" fmla="*/ 0 w 32"/>
                  <a:gd name="T7" fmla="*/ 0 h 387"/>
                  <a:gd name="T8" fmla="*/ 0 w 32"/>
                  <a:gd name="T9" fmla="*/ 0 h 387"/>
                  <a:gd name="T10" fmla="*/ 0 w 32"/>
                  <a:gd name="T11" fmla="*/ 0 h 387"/>
                  <a:gd name="T12" fmla="*/ 0 w 32"/>
                  <a:gd name="T13" fmla="*/ 0 h 387"/>
                  <a:gd name="T14" fmla="*/ 0 w 32"/>
                  <a:gd name="T15" fmla="*/ 0 h 387"/>
                  <a:gd name="T16" fmla="*/ 0 w 32"/>
                  <a:gd name="T17" fmla="*/ 0 h 387"/>
                  <a:gd name="T18" fmla="*/ 0 w 32"/>
                  <a:gd name="T19" fmla="*/ 0 h 387"/>
                  <a:gd name="T20" fmla="*/ 0 w 32"/>
                  <a:gd name="T21" fmla="*/ 0 h 387"/>
                  <a:gd name="T22" fmla="*/ 0 w 32"/>
                  <a:gd name="T23" fmla="*/ 0 h 38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87">
                    <a:moveTo>
                      <a:pt x="0" y="387"/>
                    </a:moveTo>
                    <a:lnTo>
                      <a:pt x="0" y="30"/>
                    </a:lnTo>
                    <a:lnTo>
                      <a:pt x="4" y="27"/>
                    </a:lnTo>
                    <a:lnTo>
                      <a:pt x="7" y="23"/>
                    </a:lnTo>
                    <a:lnTo>
                      <a:pt x="11" y="18"/>
                    </a:lnTo>
                    <a:lnTo>
                      <a:pt x="16" y="15"/>
                    </a:lnTo>
                    <a:lnTo>
                      <a:pt x="20" y="11"/>
                    </a:lnTo>
                    <a:lnTo>
                      <a:pt x="24" y="8"/>
                    </a:lnTo>
                    <a:lnTo>
                      <a:pt x="27" y="4"/>
                    </a:lnTo>
                    <a:lnTo>
                      <a:pt x="32" y="0"/>
                    </a:lnTo>
                    <a:lnTo>
                      <a:pt x="32" y="387"/>
                    </a:lnTo>
                    <a:lnTo>
                      <a:pt x="0" y="38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73" name="Freeform 3769"/>
              <p:cNvSpPr>
                <a:spLocks noChangeAspect="1"/>
              </p:cNvSpPr>
              <p:nvPr/>
            </p:nvSpPr>
            <p:spPr bwMode="auto">
              <a:xfrm>
                <a:off x="5285" y="1036"/>
                <a:ext cx="11" cy="133"/>
              </a:xfrm>
              <a:custGeom>
                <a:avLst/>
                <a:gdLst>
                  <a:gd name="T0" fmla="*/ 0 w 33"/>
                  <a:gd name="T1" fmla="*/ 0 h 400"/>
                  <a:gd name="T2" fmla="*/ 0 w 33"/>
                  <a:gd name="T3" fmla="*/ 0 h 400"/>
                  <a:gd name="T4" fmla="*/ 0 w 33"/>
                  <a:gd name="T5" fmla="*/ 0 h 400"/>
                  <a:gd name="T6" fmla="*/ 0 w 33"/>
                  <a:gd name="T7" fmla="*/ 0 h 400"/>
                  <a:gd name="T8" fmla="*/ 0 w 33"/>
                  <a:gd name="T9" fmla="*/ 0 h 400"/>
                  <a:gd name="T10" fmla="*/ 0 w 33"/>
                  <a:gd name="T11" fmla="*/ 0 h 400"/>
                  <a:gd name="T12" fmla="*/ 0 w 33"/>
                  <a:gd name="T13" fmla="*/ 0 h 400"/>
                  <a:gd name="T14" fmla="*/ 0 w 33"/>
                  <a:gd name="T15" fmla="*/ 0 h 400"/>
                  <a:gd name="T16" fmla="*/ 0 w 33"/>
                  <a:gd name="T17" fmla="*/ 0 h 400"/>
                  <a:gd name="T18" fmla="*/ 0 w 33"/>
                  <a:gd name="T19" fmla="*/ 0 h 400"/>
                  <a:gd name="T20" fmla="*/ 0 w 33"/>
                  <a:gd name="T21" fmla="*/ 0 h 400"/>
                  <a:gd name="T22" fmla="*/ 0 w 33"/>
                  <a:gd name="T23" fmla="*/ 0 h 4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00">
                    <a:moveTo>
                      <a:pt x="0" y="400"/>
                    </a:moveTo>
                    <a:lnTo>
                      <a:pt x="0" y="27"/>
                    </a:lnTo>
                    <a:lnTo>
                      <a:pt x="4" y="24"/>
                    </a:lnTo>
                    <a:lnTo>
                      <a:pt x="8" y="21"/>
                    </a:lnTo>
                    <a:lnTo>
                      <a:pt x="11" y="17"/>
                    </a:lnTo>
                    <a:lnTo>
                      <a:pt x="16" y="13"/>
                    </a:lnTo>
                    <a:lnTo>
                      <a:pt x="20" y="10"/>
                    </a:lnTo>
                    <a:lnTo>
                      <a:pt x="24" y="7"/>
                    </a:lnTo>
                    <a:lnTo>
                      <a:pt x="28" y="3"/>
                    </a:lnTo>
                    <a:lnTo>
                      <a:pt x="33" y="0"/>
                    </a:lnTo>
                    <a:lnTo>
                      <a:pt x="33" y="400"/>
                    </a:lnTo>
                    <a:lnTo>
                      <a:pt x="0" y="4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74" name="Freeform 3770"/>
              <p:cNvSpPr>
                <a:spLocks noChangeAspect="1"/>
              </p:cNvSpPr>
              <p:nvPr/>
            </p:nvSpPr>
            <p:spPr bwMode="auto">
              <a:xfrm>
                <a:off x="5290" y="1032"/>
                <a:ext cx="11" cy="137"/>
              </a:xfrm>
              <a:custGeom>
                <a:avLst/>
                <a:gdLst>
                  <a:gd name="T0" fmla="*/ 0 w 33"/>
                  <a:gd name="T1" fmla="*/ 0 h 412"/>
                  <a:gd name="T2" fmla="*/ 0 w 33"/>
                  <a:gd name="T3" fmla="*/ 0 h 412"/>
                  <a:gd name="T4" fmla="*/ 0 w 33"/>
                  <a:gd name="T5" fmla="*/ 0 h 412"/>
                  <a:gd name="T6" fmla="*/ 0 w 33"/>
                  <a:gd name="T7" fmla="*/ 0 h 412"/>
                  <a:gd name="T8" fmla="*/ 0 w 33"/>
                  <a:gd name="T9" fmla="*/ 0 h 412"/>
                  <a:gd name="T10" fmla="*/ 0 w 33"/>
                  <a:gd name="T11" fmla="*/ 0 h 412"/>
                  <a:gd name="T12" fmla="*/ 0 w 33"/>
                  <a:gd name="T13" fmla="*/ 0 h 412"/>
                  <a:gd name="T14" fmla="*/ 0 w 33"/>
                  <a:gd name="T15" fmla="*/ 0 h 412"/>
                  <a:gd name="T16" fmla="*/ 0 w 33"/>
                  <a:gd name="T17" fmla="*/ 0 h 412"/>
                  <a:gd name="T18" fmla="*/ 0 w 33"/>
                  <a:gd name="T19" fmla="*/ 0 h 412"/>
                  <a:gd name="T20" fmla="*/ 0 w 33"/>
                  <a:gd name="T21" fmla="*/ 0 h 412"/>
                  <a:gd name="T22" fmla="*/ 0 w 33"/>
                  <a:gd name="T23" fmla="*/ 0 h 4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12">
                    <a:moveTo>
                      <a:pt x="0" y="412"/>
                    </a:moveTo>
                    <a:lnTo>
                      <a:pt x="0" y="25"/>
                    </a:lnTo>
                    <a:lnTo>
                      <a:pt x="4" y="22"/>
                    </a:lnTo>
                    <a:lnTo>
                      <a:pt x="8" y="19"/>
                    </a:lnTo>
                    <a:lnTo>
                      <a:pt x="12" y="16"/>
                    </a:lnTo>
                    <a:lnTo>
                      <a:pt x="16" y="13"/>
                    </a:lnTo>
                    <a:lnTo>
                      <a:pt x="20" y="9"/>
                    </a:lnTo>
                    <a:lnTo>
                      <a:pt x="24" y="6"/>
                    </a:lnTo>
                    <a:lnTo>
                      <a:pt x="28" y="3"/>
                    </a:lnTo>
                    <a:lnTo>
                      <a:pt x="33" y="0"/>
                    </a:lnTo>
                    <a:lnTo>
                      <a:pt x="33" y="412"/>
                    </a:lnTo>
                    <a:lnTo>
                      <a:pt x="0" y="41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75" name="Freeform 3771"/>
              <p:cNvSpPr>
                <a:spLocks noChangeAspect="1"/>
              </p:cNvSpPr>
              <p:nvPr/>
            </p:nvSpPr>
            <p:spPr bwMode="auto">
              <a:xfrm>
                <a:off x="5296" y="1028"/>
                <a:ext cx="11" cy="141"/>
              </a:xfrm>
              <a:custGeom>
                <a:avLst/>
                <a:gdLst>
                  <a:gd name="T0" fmla="*/ 0 w 32"/>
                  <a:gd name="T1" fmla="*/ 0 h 423"/>
                  <a:gd name="T2" fmla="*/ 0 w 32"/>
                  <a:gd name="T3" fmla="*/ 0 h 423"/>
                  <a:gd name="T4" fmla="*/ 0 w 32"/>
                  <a:gd name="T5" fmla="*/ 0 h 423"/>
                  <a:gd name="T6" fmla="*/ 0 w 32"/>
                  <a:gd name="T7" fmla="*/ 0 h 423"/>
                  <a:gd name="T8" fmla="*/ 0 w 32"/>
                  <a:gd name="T9" fmla="*/ 0 h 423"/>
                  <a:gd name="T10" fmla="*/ 0 w 32"/>
                  <a:gd name="T11" fmla="*/ 0 h 423"/>
                  <a:gd name="T12" fmla="*/ 0 w 32"/>
                  <a:gd name="T13" fmla="*/ 0 h 423"/>
                  <a:gd name="T14" fmla="*/ 0 w 32"/>
                  <a:gd name="T15" fmla="*/ 0 h 423"/>
                  <a:gd name="T16" fmla="*/ 0 w 32"/>
                  <a:gd name="T17" fmla="*/ 0 h 423"/>
                  <a:gd name="T18" fmla="*/ 0 w 32"/>
                  <a:gd name="T19" fmla="*/ 0 h 423"/>
                  <a:gd name="T20" fmla="*/ 0 w 32"/>
                  <a:gd name="T21" fmla="*/ 0 h 423"/>
                  <a:gd name="T22" fmla="*/ 0 w 32"/>
                  <a:gd name="T23" fmla="*/ 0 h 42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23">
                    <a:moveTo>
                      <a:pt x="0" y="423"/>
                    </a:moveTo>
                    <a:lnTo>
                      <a:pt x="0" y="23"/>
                    </a:lnTo>
                    <a:lnTo>
                      <a:pt x="3" y="19"/>
                    </a:lnTo>
                    <a:lnTo>
                      <a:pt x="7" y="17"/>
                    </a:lnTo>
                    <a:lnTo>
                      <a:pt x="11" y="14"/>
                    </a:lnTo>
                    <a:lnTo>
                      <a:pt x="16" y="11"/>
                    </a:lnTo>
                    <a:lnTo>
                      <a:pt x="19" y="8"/>
                    </a:lnTo>
                    <a:lnTo>
                      <a:pt x="23" y="6"/>
                    </a:lnTo>
                    <a:lnTo>
                      <a:pt x="27" y="2"/>
                    </a:lnTo>
                    <a:lnTo>
                      <a:pt x="32" y="0"/>
                    </a:lnTo>
                    <a:lnTo>
                      <a:pt x="32" y="423"/>
                    </a:lnTo>
                    <a:lnTo>
                      <a:pt x="0" y="42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76" name="Freeform 3772"/>
              <p:cNvSpPr>
                <a:spLocks noChangeAspect="1"/>
              </p:cNvSpPr>
              <p:nvPr/>
            </p:nvSpPr>
            <p:spPr bwMode="auto">
              <a:xfrm>
                <a:off x="5301" y="1025"/>
                <a:ext cx="11" cy="144"/>
              </a:xfrm>
              <a:custGeom>
                <a:avLst/>
                <a:gdLst>
                  <a:gd name="T0" fmla="*/ 0 w 32"/>
                  <a:gd name="T1" fmla="*/ 0 h 433"/>
                  <a:gd name="T2" fmla="*/ 0 w 32"/>
                  <a:gd name="T3" fmla="*/ 0 h 433"/>
                  <a:gd name="T4" fmla="*/ 0 w 32"/>
                  <a:gd name="T5" fmla="*/ 0 h 433"/>
                  <a:gd name="T6" fmla="*/ 0 w 32"/>
                  <a:gd name="T7" fmla="*/ 0 h 433"/>
                  <a:gd name="T8" fmla="*/ 0 w 32"/>
                  <a:gd name="T9" fmla="*/ 0 h 433"/>
                  <a:gd name="T10" fmla="*/ 0 w 32"/>
                  <a:gd name="T11" fmla="*/ 0 h 433"/>
                  <a:gd name="T12" fmla="*/ 0 w 32"/>
                  <a:gd name="T13" fmla="*/ 0 h 433"/>
                  <a:gd name="T14" fmla="*/ 0 w 32"/>
                  <a:gd name="T15" fmla="*/ 0 h 433"/>
                  <a:gd name="T16" fmla="*/ 0 w 32"/>
                  <a:gd name="T17" fmla="*/ 0 h 433"/>
                  <a:gd name="T18" fmla="*/ 0 w 32"/>
                  <a:gd name="T19" fmla="*/ 0 h 433"/>
                  <a:gd name="T20" fmla="*/ 0 w 32"/>
                  <a:gd name="T21" fmla="*/ 0 h 433"/>
                  <a:gd name="T22" fmla="*/ 0 w 32"/>
                  <a:gd name="T23" fmla="*/ 0 h 4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33">
                    <a:moveTo>
                      <a:pt x="0" y="433"/>
                    </a:moveTo>
                    <a:lnTo>
                      <a:pt x="0" y="21"/>
                    </a:lnTo>
                    <a:lnTo>
                      <a:pt x="3" y="18"/>
                    </a:lnTo>
                    <a:lnTo>
                      <a:pt x="7" y="16"/>
                    </a:lnTo>
                    <a:lnTo>
                      <a:pt x="11" y="12"/>
                    </a:lnTo>
                    <a:lnTo>
                      <a:pt x="16" y="10"/>
                    </a:lnTo>
                    <a:lnTo>
                      <a:pt x="20" y="7"/>
                    </a:lnTo>
                    <a:lnTo>
                      <a:pt x="23" y="5"/>
                    </a:lnTo>
                    <a:lnTo>
                      <a:pt x="27" y="3"/>
                    </a:lnTo>
                    <a:lnTo>
                      <a:pt x="32" y="0"/>
                    </a:lnTo>
                    <a:lnTo>
                      <a:pt x="32" y="433"/>
                    </a:lnTo>
                    <a:lnTo>
                      <a:pt x="0" y="43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77" name="Freeform 3773"/>
              <p:cNvSpPr>
                <a:spLocks noChangeAspect="1"/>
              </p:cNvSpPr>
              <p:nvPr/>
            </p:nvSpPr>
            <p:spPr bwMode="auto">
              <a:xfrm>
                <a:off x="5307" y="1022"/>
                <a:ext cx="10" cy="147"/>
              </a:xfrm>
              <a:custGeom>
                <a:avLst/>
                <a:gdLst>
                  <a:gd name="T0" fmla="*/ 0 w 31"/>
                  <a:gd name="T1" fmla="*/ 0 h 442"/>
                  <a:gd name="T2" fmla="*/ 0 w 31"/>
                  <a:gd name="T3" fmla="*/ 0 h 442"/>
                  <a:gd name="T4" fmla="*/ 0 w 31"/>
                  <a:gd name="T5" fmla="*/ 0 h 442"/>
                  <a:gd name="T6" fmla="*/ 0 w 31"/>
                  <a:gd name="T7" fmla="*/ 0 h 442"/>
                  <a:gd name="T8" fmla="*/ 0 w 31"/>
                  <a:gd name="T9" fmla="*/ 0 h 442"/>
                  <a:gd name="T10" fmla="*/ 0 w 31"/>
                  <a:gd name="T11" fmla="*/ 0 h 442"/>
                  <a:gd name="T12" fmla="*/ 0 w 31"/>
                  <a:gd name="T13" fmla="*/ 0 h 442"/>
                  <a:gd name="T14" fmla="*/ 0 w 31"/>
                  <a:gd name="T15" fmla="*/ 0 h 442"/>
                  <a:gd name="T16" fmla="*/ 0 w 31"/>
                  <a:gd name="T17" fmla="*/ 0 h 442"/>
                  <a:gd name="T18" fmla="*/ 0 w 31"/>
                  <a:gd name="T19" fmla="*/ 0 h 442"/>
                  <a:gd name="T20" fmla="*/ 0 w 31"/>
                  <a:gd name="T21" fmla="*/ 0 h 442"/>
                  <a:gd name="T22" fmla="*/ 0 w 31"/>
                  <a:gd name="T23" fmla="*/ 0 h 4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442">
                    <a:moveTo>
                      <a:pt x="0" y="442"/>
                    </a:moveTo>
                    <a:lnTo>
                      <a:pt x="0" y="19"/>
                    </a:lnTo>
                    <a:lnTo>
                      <a:pt x="4" y="16"/>
                    </a:lnTo>
                    <a:lnTo>
                      <a:pt x="7" y="14"/>
                    </a:lnTo>
                    <a:lnTo>
                      <a:pt x="11" y="12"/>
                    </a:lnTo>
                    <a:lnTo>
                      <a:pt x="16" y="9"/>
                    </a:lnTo>
                    <a:lnTo>
                      <a:pt x="20" y="7"/>
                    </a:lnTo>
                    <a:lnTo>
                      <a:pt x="24" y="4"/>
                    </a:lnTo>
                    <a:lnTo>
                      <a:pt x="27" y="2"/>
                    </a:lnTo>
                    <a:lnTo>
                      <a:pt x="31" y="0"/>
                    </a:lnTo>
                    <a:lnTo>
                      <a:pt x="31" y="442"/>
                    </a:lnTo>
                    <a:lnTo>
                      <a:pt x="0" y="44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78" name="Freeform 3774"/>
              <p:cNvSpPr>
                <a:spLocks noChangeAspect="1"/>
              </p:cNvSpPr>
              <p:nvPr/>
            </p:nvSpPr>
            <p:spPr bwMode="auto">
              <a:xfrm>
                <a:off x="5312" y="1019"/>
                <a:ext cx="11" cy="150"/>
              </a:xfrm>
              <a:custGeom>
                <a:avLst/>
                <a:gdLst>
                  <a:gd name="T0" fmla="*/ 0 w 33"/>
                  <a:gd name="T1" fmla="*/ 0 h 450"/>
                  <a:gd name="T2" fmla="*/ 0 w 33"/>
                  <a:gd name="T3" fmla="*/ 0 h 450"/>
                  <a:gd name="T4" fmla="*/ 0 w 33"/>
                  <a:gd name="T5" fmla="*/ 0 h 450"/>
                  <a:gd name="T6" fmla="*/ 0 w 33"/>
                  <a:gd name="T7" fmla="*/ 0 h 450"/>
                  <a:gd name="T8" fmla="*/ 0 w 33"/>
                  <a:gd name="T9" fmla="*/ 0 h 450"/>
                  <a:gd name="T10" fmla="*/ 0 w 33"/>
                  <a:gd name="T11" fmla="*/ 0 h 450"/>
                  <a:gd name="T12" fmla="*/ 0 w 33"/>
                  <a:gd name="T13" fmla="*/ 0 h 450"/>
                  <a:gd name="T14" fmla="*/ 0 w 33"/>
                  <a:gd name="T15" fmla="*/ 0 h 450"/>
                  <a:gd name="T16" fmla="*/ 0 w 33"/>
                  <a:gd name="T17" fmla="*/ 0 h 450"/>
                  <a:gd name="T18" fmla="*/ 0 w 33"/>
                  <a:gd name="T19" fmla="*/ 0 h 450"/>
                  <a:gd name="T20" fmla="*/ 0 w 33"/>
                  <a:gd name="T21" fmla="*/ 0 h 450"/>
                  <a:gd name="T22" fmla="*/ 0 w 33"/>
                  <a:gd name="T23" fmla="*/ 0 h 4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50">
                    <a:moveTo>
                      <a:pt x="0" y="450"/>
                    </a:moveTo>
                    <a:lnTo>
                      <a:pt x="0" y="17"/>
                    </a:lnTo>
                    <a:lnTo>
                      <a:pt x="4" y="15"/>
                    </a:lnTo>
                    <a:lnTo>
                      <a:pt x="8" y="12"/>
                    </a:lnTo>
                    <a:lnTo>
                      <a:pt x="11" y="10"/>
                    </a:lnTo>
                    <a:lnTo>
                      <a:pt x="15" y="8"/>
                    </a:lnTo>
                    <a:lnTo>
                      <a:pt x="20" y="6"/>
                    </a:lnTo>
                    <a:lnTo>
                      <a:pt x="24" y="4"/>
                    </a:lnTo>
                    <a:lnTo>
                      <a:pt x="28" y="2"/>
                    </a:lnTo>
                    <a:lnTo>
                      <a:pt x="33" y="0"/>
                    </a:lnTo>
                    <a:lnTo>
                      <a:pt x="33" y="450"/>
                    </a:lnTo>
                    <a:lnTo>
                      <a:pt x="0" y="45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79" name="Freeform 3775"/>
              <p:cNvSpPr>
                <a:spLocks noChangeAspect="1"/>
              </p:cNvSpPr>
              <p:nvPr/>
            </p:nvSpPr>
            <p:spPr bwMode="auto">
              <a:xfrm>
                <a:off x="5317" y="1017"/>
                <a:ext cx="11" cy="152"/>
              </a:xfrm>
              <a:custGeom>
                <a:avLst/>
                <a:gdLst>
                  <a:gd name="T0" fmla="*/ 0 w 33"/>
                  <a:gd name="T1" fmla="*/ 0 h 458"/>
                  <a:gd name="T2" fmla="*/ 0 w 33"/>
                  <a:gd name="T3" fmla="*/ 0 h 458"/>
                  <a:gd name="T4" fmla="*/ 0 w 33"/>
                  <a:gd name="T5" fmla="*/ 0 h 458"/>
                  <a:gd name="T6" fmla="*/ 0 w 33"/>
                  <a:gd name="T7" fmla="*/ 0 h 458"/>
                  <a:gd name="T8" fmla="*/ 0 w 33"/>
                  <a:gd name="T9" fmla="*/ 0 h 458"/>
                  <a:gd name="T10" fmla="*/ 0 w 33"/>
                  <a:gd name="T11" fmla="*/ 0 h 458"/>
                  <a:gd name="T12" fmla="*/ 0 w 33"/>
                  <a:gd name="T13" fmla="*/ 0 h 458"/>
                  <a:gd name="T14" fmla="*/ 0 w 33"/>
                  <a:gd name="T15" fmla="*/ 0 h 458"/>
                  <a:gd name="T16" fmla="*/ 0 w 33"/>
                  <a:gd name="T17" fmla="*/ 0 h 458"/>
                  <a:gd name="T18" fmla="*/ 0 w 33"/>
                  <a:gd name="T19" fmla="*/ 0 h 458"/>
                  <a:gd name="T20" fmla="*/ 0 w 33"/>
                  <a:gd name="T21" fmla="*/ 0 h 458"/>
                  <a:gd name="T22" fmla="*/ 0 w 33"/>
                  <a:gd name="T23" fmla="*/ 0 h 4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58">
                    <a:moveTo>
                      <a:pt x="0" y="458"/>
                    </a:moveTo>
                    <a:lnTo>
                      <a:pt x="0" y="16"/>
                    </a:lnTo>
                    <a:lnTo>
                      <a:pt x="5" y="14"/>
                    </a:lnTo>
                    <a:lnTo>
                      <a:pt x="9" y="12"/>
                    </a:lnTo>
                    <a:lnTo>
                      <a:pt x="13" y="10"/>
                    </a:lnTo>
                    <a:lnTo>
                      <a:pt x="16" y="8"/>
                    </a:lnTo>
                    <a:lnTo>
                      <a:pt x="21" y="6"/>
                    </a:lnTo>
                    <a:lnTo>
                      <a:pt x="25" y="3"/>
                    </a:lnTo>
                    <a:lnTo>
                      <a:pt x="29" y="1"/>
                    </a:lnTo>
                    <a:lnTo>
                      <a:pt x="33" y="0"/>
                    </a:lnTo>
                    <a:lnTo>
                      <a:pt x="33" y="458"/>
                    </a:lnTo>
                    <a:lnTo>
                      <a:pt x="0" y="45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80" name="Freeform 3776"/>
              <p:cNvSpPr>
                <a:spLocks noChangeAspect="1"/>
              </p:cNvSpPr>
              <p:nvPr/>
            </p:nvSpPr>
            <p:spPr bwMode="auto">
              <a:xfrm>
                <a:off x="5323" y="1014"/>
                <a:ext cx="10" cy="155"/>
              </a:xfrm>
              <a:custGeom>
                <a:avLst/>
                <a:gdLst>
                  <a:gd name="T0" fmla="*/ 0 w 31"/>
                  <a:gd name="T1" fmla="*/ 0 h 465"/>
                  <a:gd name="T2" fmla="*/ 0 w 31"/>
                  <a:gd name="T3" fmla="*/ 0 h 465"/>
                  <a:gd name="T4" fmla="*/ 0 w 31"/>
                  <a:gd name="T5" fmla="*/ 0 h 465"/>
                  <a:gd name="T6" fmla="*/ 0 w 31"/>
                  <a:gd name="T7" fmla="*/ 0 h 465"/>
                  <a:gd name="T8" fmla="*/ 0 w 31"/>
                  <a:gd name="T9" fmla="*/ 0 h 465"/>
                  <a:gd name="T10" fmla="*/ 0 w 31"/>
                  <a:gd name="T11" fmla="*/ 0 h 465"/>
                  <a:gd name="T12" fmla="*/ 0 w 31"/>
                  <a:gd name="T13" fmla="*/ 0 h 465"/>
                  <a:gd name="T14" fmla="*/ 0 w 31"/>
                  <a:gd name="T15" fmla="*/ 0 h 465"/>
                  <a:gd name="T16" fmla="*/ 0 w 31"/>
                  <a:gd name="T17" fmla="*/ 0 h 465"/>
                  <a:gd name="T18" fmla="*/ 0 w 31"/>
                  <a:gd name="T19" fmla="*/ 0 h 465"/>
                  <a:gd name="T20" fmla="*/ 0 w 31"/>
                  <a:gd name="T21" fmla="*/ 0 h 465"/>
                  <a:gd name="T22" fmla="*/ 0 w 31"/>
                  <a:gd name="T23" fmla="*/ 0 h 4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465">
                    <a:moveTo>
                      <a:pt x="0" y="465"/>
                    </a:moveTo>
                    <a:lnTo>
                      <a:pt x="0" y="15"/>
                    </a:lnTo>
                    <a:lnTo>
                      <a:pt x="3" y="13"/>
                    </a:lnTo>
                    <a:lnTo>
                      <a:pt x="7" y="10"/>
                    </a:lnTo>
                    <a:lnTo>
                      <a:pt x="11" y="8"/>
                    </a:lnTo>
                    <a:lnTo>
                      <a:pt x="15" y="7"/>
                    </a:lnTo>
                    <a:lnTo>
                      <a:pt x="19" y="5"/>
                    </a:lnTo>
                    <a:lnTo>
                      <a:pt x="23" y="3"/>
                    </a:lnTo>
                    <a:lnTo>
                      <a:pt x="27" y="2"/>
                    </a:lnTo>
                    <a:lnTo>
                      <a:pt x="31" y="0"/>
                    </a:lnTo>
                    <a:lnTo>
                      <a:pt x="31" y="465"/>
                    </a:lnTo>
                    <a:lnTo>
                      <a:pt x="0" y="4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81" name="Freeform 3777"/>
              <p:cNvSpPr>
                <a:spLocks noChangeAspect="1"/>
              </p:cNvSpPr>
              <p:nvPr/>
            </p:nvSpPr>
            <p:spPr bwMode="auto">
              <a:xfrm>
                <a:off x="5328" y="1012"/>
                <a:ext cx="11" cy="157"/>
              </a:xfrm>
              <a:custGeom>
                <a:avLst/>
                <a:gdLst>
                  <a:gd name="T0" fmla="*/ 0 w 32"/>
                  <a:gd name="T1" fmla="*/ 0 h 471"/>
                  <a:gd name="T2" fmla="*/ 0 w 32"/>
                  <a:gd name="T3" fmla="*/ 0 h 471"/>
                  <a:gd name="T4" fmla="*/ 0 w 32"/>
                  <a:gd name="T5" fmla="*/ 0 h 471"/>
                  <a:gd name="T6" fmla="*/ 0 w 32"/>
                  <a:gd name="T7" fmla="*/ 0 h 471"/>
                  <a:gd name="T8" fmla="*/ 0 w 32"/>
                  <a:gd name="T9" fmla="*/ 0 h 471"/>
                  <a:gd name="T10" fmla="*/ 0 w 32"/>
                  <a:gd name="T11" fmla="*/ 0 h 471"/>
                  <a:gd name="T12" fmla="*/ 0 w 32"/>
                  <a:gd name="T13" fmla="*/ 0 h 471"/>
                  <a:gd name="T14" fmla="*/ 0 w 32"/>
                  <a:gd name="T15" fmla="*/ 0 h 471"/>
                  <a:gd name="T16" fmla="*/ 0 w 32"/>
                  <a:gd name="T17" fmla="*/ 0 h 471"/>
                  <a:gd name="T18" fmla="*/ 0 w 32"/>
                  <a:gd name="T19" fmla="*/ 0 h 471"/>
                  <a:gd name="T20" fmla="*/ 0 w 32"/>
                  <a:gd name="T21" fmla="*/ 0 h 471"/>
                  <a:gd name="T22" fmla="*/ 0 w 32"/>
                  <a:gd name="T23" fmla="*/ 0 h 47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71">
                    <a:moveTo>
                      <a:pt x="0" y="471"/>
                    </a:moveTo>
                    <a:lnTo>
                      <a:pt x="0" y="13"/>
                    </a:lnTo>
                    <a:lnTo>
                      <a:pt x="4" y="11"/>
                    </a:lnTo>
                    <a:lnTo>
                      <a:pt x="8" y="9"/>
                    </a:lnTo>
                    <a:lnTo>
                      <a:pt x="12" y="8"/>
                    </a:lnTo>
                    <a:lnTo>
                      <a:pt x="16" y="6"/>
                    </a:lnTo>
                    <a:lnTo>
                      <a:pt x="21" y="5"/>
                    </a:lnTo>
                    <a:lnTo>
                      <a:pt x="24" y="3"/>
                    </a:lnTo>
                    <a:lnTo>
                      <a:pt x="28" y="1"/>
                    </a:lnTo>
                    <a:lnTo>
                      <a:pt x="32" y="0"/>
                    </a:lnTo>
                    <a:lnTo>
                      <a:pt x="32" y="471"/>
                    </a:lnTo>
                    <a:lnTo>
                      <a:pt x="0" y="47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82" name="Freeform 3778"/>
              <p:cNvSpPr>
                <a:spLocks noChangeAspect="1"/>
              </p:cNvSpPr>
              <p:nvPr/>
            </p:nvSpPr>
            <p:spPr bwMode="auto">
              <a:xfrm>
                <a:off x="5333" y="1010"/>
                <a:ext cx="11" cy="159"/>
              </a:xfrm>
              <a:custGeom>
                <a:avLst/>
                <a:gdLst>
                  <a:gd name="T0" fmla="*/ 0 w 32"/>
                  <a:gd name="T1" fmla="*/ 0 h 477"/>
                  <a:gd name="T2" fmla="*/ 0 w 32"/>
                  <a:gd name="T3" fmla="*/ 0 h 477"/>
                  <a:gd name="T4" fmla="*/ 0 w 32"/>
                  <a:gd name="T5" fmla="*/ 0 h 477"/>
                  <a:gd name="T6" fmla="*/ 0 w 32"/>
                  <a:gd name="T7" fmla="*/ 0 h 477"/>
                  <a:gd name="T8" fmla="*/ 0 w 32"/>
                  <a:gd name="T9" fmla="*/ 0 h 477"/>
                  <a:gd name="T10" fmla="*/ 0 w 32"/>
                  <a:gd name="T11" fmla="*/ 0 h 477"/>
                  <a:gd name="T12" fmla="*/ 0 w 32"/>
                  <a:gd name="T13" fmla="*/ 0 h 477"/>
                  <a:gd name="T14" fmla="*/ 0 w 32"/>
                  <a:gd name="T15" fmla="*/ 0 h 477"/>
                  <a:gd name="T16" fmla="*/ 0 w 32"/>
                  <a:gd name="T17" fmla="*/ 0 h 477"/>
                  <a:gd name="T18" fmla="*/ 0 w 32"/>
                  <a:gd name="T19" fmla="*/ 0 h 477"/>
                  <a:gd name="T20" fmla="*/ 0 w 32"/>
                  <a:gd name="T21" fmla="*/ 0 h 477"/>
                  <a:gd name="T22" fmla="*/ 0 w 32"/>
                  <a:gd name="T23" fmla="*/ 0 h 4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77">
                    <a:moveTo>
                      <a:pt x="0" y="477"/>
                    </a:moveTo>
                    <a:lnTo>
                      <a:pt x="0" y="12"/>
                    </a:lnTo>
                    <a:lnTo>
                      <a:pt x="5" y="11"/>
                    </a:lnTo>
                    <a:lnTo>
                      <a:pt x="8" y="9"/>
                    </a:lnTo>
                    <a:lnTo>
                      <a:pt x="12" y="7"/>
                    </a:lnTo>
                    <a:lnTo>
                      <a:pt x="16" y="6"/>
                    </a:lnTo>
                    <a:lnTo>
                      <a:pt x="21" y="4"/>
                    </a:lnTo>
                    <a:lnTo>
                      <a:pt x="25" y="3"/>
                    </a:lnTo>
                    <a:lnTo>
                      <a:pt x="28" y="2"/>
                    </a:lnTo>
                    <a:lnTo>
                      <a:pt x="32" y="0"/>
                    </a:lnTo>
                    <a:lnTo>
                      <a:pt x="32" y="477"/>
                    </a:lnTo>
                    <a:lnTo>
                      <a:pt x="0" y="47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83" name="Freeform 3779"/>
              <p:cNvSpPr>
                <a:spLocks noChangeAspect="1"/>
              </p:cNvSpPr>
              <p:nvPr/>
            </p:nvSpPr>
            <p:spPr bwMode="auto">
              <a:xfrm>
                <a:off x="5339" y="1009"/>
                <a:ext cx="10" cy="160"/>
              </a:xfrm>
              <a:custGeom>
                <a:avLst/>
                <a:gdLst>
                  <a:gd name="T0" fmla="*/ 0 w 32"/>
                  <a:gd name="T1" fmla="*/ 0 h 481"/>
                  <a:gd name="T2" fmla="*/ 0 w 32"/>
                  <a:gd name="T3" fmla="*/ 0 h 481"/>
                  <a:gd name="T4" fmla="*/ 0 w 32"/>
                  <a:gd name="T5" fmla="*/ 0 h 481"/>
                  <a:gd name="T6" fmla="*/ 0 w 32"/>
                  <a:gd name="T7" fmla="*/ 0 h 481"/>
                  <a:gd name="T8" fmla="*/ 0 w 32"/>
                  <a:gd name="T9" fmla="*/ 0 h 481"/>
                  <a:gd name="T10" fmla="*/ 0 w 32"/>
                  <a:gd name="T11" fmla="*/ 0 h 481"/>
                  <a:gd name="T12" fmla="*/ 0 w 32"/>
                  <a:gd name="T13" fmla="*/ 0 h 481"/>
                  <a:gd name="T14" fmla="*/ 0 w 32"/>
                  <a:gd name="T15" fmla="*/ 0 h 481"/>
                  <a:gd name="T16" fmla="*/ 0 w 32"/>
                  <a:gd name="T17" fmla="*/ 0 h 481"/>
                  <a:gd name="T18" fmla="*/ 0 w 32"/>
                  <a:gd name="T19" fmla="*/ 0 h 481"/>
                  <a:gd name="T20" fmla="*/ 0 w 32"/>
                  <a:gd name="T21" fmla="*/ 0 h 481"/>
                  <a:gd name="T22" fmla="*/ 0 w 32"/>
                  <a:gd name="T23" fmla="*/ 0 h 4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81">
                    <a:moveTo>
                      <a:pt x="0" y="481"/>
                    </a:moveTo>
                    <a:lnTo>
                      <a:pt x="0" y="10"/>
                    </a:lnTo>
                    <a:lnTo>
                      <a:pt x="5" y="8"/>
                    </a:lnTo>
                    <a:lnTo>
                      <a:pt x="9" y="7"/>
                    </a:lnTo>
                    <a:lnTo>
                      <a:pt x="12" y="6"/>
                    </a:lnTo>
                    <a:lnTo>
                      <a:pt x="16" y="5"/>
                    </a:lnTo>
                    <a:lnTo>
                      <a:pt x="21" y="3"/>
                    </a:lnTo>
                    <a:lnTo>
                      <a:pt x="25" y="2"/>
                    </a:lnTo>
                    <a:lnTo>
                      <a:pt x="29" y="1"/>
                    </a:lnTo>
                    <a:lnTo>
                      <a:pt x="32" y="0"/>
                    </a:lnTo>
                    <a:lnTo>
                      <a:pt x="32" y="481"/>
                    </a:lnTo>
                    <a:lnTo>
                      <a:pt x="0" y="4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84" name="Freeform 3780"/>
              <p:cNvSpPr>
                <a:spLocks noChangeAspect="1"/>
              </p:cNvSpPr>
              <p:nvPr/>
            </p:nvSpPr>
            <p:spPr bwMode="auto">
              <a:xfrm>
                <a:off x="5344" y="1008"/>
                <a:ext cx="11" cy="161"/>
              </a:xfrm>
              <a:custGeom>
                <a:avLst/>
                <a:gdLst>
                  <a:gd name="T0" fmla="*/ 0 w 33"/>
                  <a:gd name="T1" fmla="*/ 0 h 485"/>
                  <a:gd name="T2" fmla="*/ 0 w 33"/>
                  <a:gd name="T3" fmla="*/ 0 h 485"/>
                  <a:gd name="T4" fmla="*/ 0 w 33"/>
                  <a:gd name="T5" fmla="*/ 0 h 485"/>
                  <a:gd name="T6" fmla="*/ 0 w 33"/>
                  <a:gd name="T7" fmla="*/ 0 h 485"/>
                  <a:gd name="T8" fmla="*/ 0 w 33"/>
                  <a:gd name="T9" fmla="*/ 0 h 485"/>
                  <a:gd name="T10" fmla="*/ 0 w 33"/>
                  <a:gd name="T11" fmla="*/ 0 h 485"/>
                  <a:gd name="T12" fmla="*/ 0 w 33"/>
                  <a:gd name="T13" fmla="*/ 0 h 485"/>
                  <a:gd name="T14" fmla="*/ 0 w 33"/>
                  <a:gd name="T15" fmla="*/ 0 h 485"/>
                  <a:gd name="T16" fmla="*/ 0 w 33"/>
                  <a:gd name="T17" fmla="*/ 0 h 485"/>
                  <a:gd name="T18" fmla="*/ 0 w 33"/>
                  <a:gd name="T19" fmla="*/ 0 h 485"/>
                  <a:gd name="T20" fmla="*/ 0 w 33"/>
                  <a:gd name="T21" fmla="*/ 0 h 485"/>
                  <a:gd name="T22" fmla="*/ 0 w 33"/>
                  <a:gd name="T23" fmla="*/ 0 h 4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85">
                    <a:moveTo>
                      <a:pt x="0" y="485"/>
                    </a:moveTo>
                    <a:lnTo>
                      <a:pt x="0" y="8"/>
                    </a:lnTo>
                    <a:lnTo>
                      <a:pt x="5" y="7"/>
                    </a:lnTo>
                    <a:lnTo>
                      <a:pt x="9" y="6"/>
                    </a:lnTo>
                    <a:lnTo>
                      <a:pt x="13" y="5"/>
                    </a:lnTo>
                    <a:lnTo>
                      <a:pt x="16" y="4"/>
                    </a:lnTo>
                    <a:lnTo>
                      <a:pt x="21" y="3"/>
                    </a:lnTo>
                    <a:lnTo>
                      <a:pt x="25" y="2"/>
                    </a:lnTo>
                    <a:lnTo>
                      <a:pt x="29" y="1"/>
                    </a:lnTo>
                    <a:lnTo>
                      <a:pt x="33" y="0"/>
                    </a:lnTo>
                    <a:lnTo>
                      <a:pt x="33" y="485"/>
                    </a:lnTo>
                    <a:lnTo>
                      <a:pt x="0" y="48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85" name="Freeform 3781"/>
              <p:cNvSpPr>
                <a:spLocks noChangeAspect="1"/>
              </p:cNvSpPr>
              <p:nvPr/>
            </p:nvSpPr>
            <p:spPr bwMode="auto">
              <a:xfrm>
                <a:off x="5349" y="1006"/>
                <a:ext cx="11" cy="163"/>
              </a:xfrm>
              <a:custGeom>
                <a:avLst/>
                <a:gdLst>
                  <a:gd name="T0" fmla="*/ 0 w 33"/>
                  <a:gd name="T1" fmla="*/ 0 h 489"/>
                  <a:gd name="T2" fmla="*/ 0 w 33"/>
                  <a:gd name="T3" fmla="*/ 0 h 489"/>
                  <a:gd name="T4" fmla="*/ 0 w 33"/>
                  <a:gd name="T5" fmla="*/ 0 h 489"/>
                  <a:gd name="T6" fmla="*/ 0 w 33"/>
                  <a:gd name="T7" fmla="*/ 0 h 489"/>
                  <a:gd name="T8" fmla="*/ 0 w 33"/>
                  <a:gd name="T9" fmla="*/ 0 h 489"/>
                  <a:gd name="T10" fmla="*/ 0 w 33"/>
                  <a:gd name="T11" fmla="*/ 0 h 489"/>
                  <a:gd name="T12" fmla="*/ 0 w 33"/>
                  <a:gd name="T13" fmla="*/ 0 h 489"/>
                  <a:gd name="T14" fmla="*/ 0 w 33"/>
                  <a:gd name="T15" fmla="*/ 0 h 489"/>
                  <a:gd name="T16" fmla="*/ 0 w 33"/>
                  <a:gd name="T17" fmla="*/ 0 h 489"/>
                  <a:gd name="T18" fmla="*/ 0 w 33"/>
                  <a:gd name="T19" fmla="*/ 0 h 489"/>
                  <a:gd name="T20" fmla="*/ 0 w 33"/>
                  <a:gd name="T21" fmla="*/ 0 h 489"/>
                  <a:gd name="T22" fmla="*/ 0 w 33"/>
                  <a:gd name="T23" fmla="*/ 0 h 4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89">
                    <a:moveTo>
                      <a:pt x="0" y="489"/>
                    </a:moveTo>
                    <a:lnTo>
                      <a:pt x="0" y="8"/>
                    </a:lnTo>
                    <a:lnTo>
                      <a:pt x="5" y="7"/>
                    </a:lnTo>
                    <a:lnTo>
                      <a:pt x="9" y="6"/>
                    </a:lnTo>
                    <a:lnTo>
                      <a:pt x="13" y="5"/>
                    </a:lnTo>
                    <a:lnTo>
                      <a:pt x="17" y="4"/>
                    </a:lnTo>
                    <a:lnTo>
                      <a:pt x="21" y="2"/>
                    </a:lnTo>
                    <a:lnTo>
                      <a:pt x="25" y="1"/>
                    </a:lnTo>
                    <a:lnTo>
                      <a:pt x="29" y="1"/>
                    </a:lnTo>
                    <a:lnTo>
                      <a:pt x="33" y="0"/>
                    </a:lnTo>
                    <a:lnTo>
                      <a:pt x="33" y="489"/>
                    </a:lnTo>
                    <a:lnTo>
                      <a:pt x="0" y="4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86" name="Freeform 3782"/>
              <p:cNvSpPr>
                <a:spLocks noChangeAspect="1"/>
              </p:cNvSpPr>
              <p:nvPr/>
            </p:nvSpPr>
            <p:spPr bwMode="auto">
              <a:xfrm>
                <a:off x="5355" y="1005"/>
                <a:ext cx="11" cy="164"/>
              </a:xfrm>
              <a:custGeom>
                <a:avLst/>
                <a:gdLst>
                  <a:gd name="T0" fmla="*/ 0 w 32"/>
                  <a:gd name="T1" fmla="*/ 0 h 492"/>
                  <a:gd name="T2" fmla="*/ 0 w 32"/>
                  <a:gd name="T3" fmla="*/ 0 h 492"/>
                  <a:gd name="T4" fmla="*/ 0 w 32"/>
                  <a:gd name="T5" fmla="*/ 0 h 492"/>
                  <a:gd name="T6" fmla="*/ 0 w 32"/>
                  <a:gd name="T7" fmla="*/ 0 h 492"/>
                  <a:gd name="T8" fmla="*/ 0 w 32"/>
                  <a:gd name="T9" fmla="*/ 0 h 492"/>
                  <a:gd name="T10" fmla="*/ 0 w 32"/>
                  <a:gd name="T11" fmla="*/ 0 h 492"/>
                  <a:gd name="T12" fmla="*/ 0 w 32"/>
                  <a:gd name="T13" fmla="*/ 0 h 492"/>
                  <a:gd name="T14" fmla="*/ 0 w 32"/>
                  <a:gd name="T15" fmla="*/ 0 h 492"/>
                  <a:gd name="T16" fmla="*/ 0 w 32"/>
                  <a:gd name="T17" fmla="*/ 0 h 492"/>
                  <a:gd name="T18" fmla="*/ 0 w 32"/>
                  <a:gd name="T19" fmla="*/ 0 h 492"/>
                  <a:gd name="T20" fmla="*/ 0 w 32"/>
                  <a:gd name="T21" fmla="*/ 0 h 492"/>
                  <a:gd name="T22" fmla="*/ 0 w 32"/>
                  <a:gd name="T23" fmla="*/ 0 h 4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2">
                    <a:moveTo>
                      <a:pt x="0" y="492"/>
                    </a:moveTo>
                    <a:lnTo>
                      <a:pt x="0" y="7"/>
                    </a:lnTo>
                    <a:lnTo>
                      <a:pt x="4" y="5"/>
                    </a:lnTo>
                    <a:lnTo>
                      <a:pt x="8" y="4"/>
                    </a:lnTo>
                    <a:lnTo>
                      <a:pt x="12" y="4"/>
                    </a:lnTo>
                    <a:lnTo>
                      <a:pt x="16" y="3"/>
                    </a:lnTo>
                    <a:lnTo>
                      <a:pt x="20" y="2"/>
                    </a:lnTo>
                    <a:lnTo>
                      <a:pt x="24" y="1"/>
                    </a:lnTo>
                    <a:lnTo>
                      <a:pt x="28" y="1"/>
                    </a:lnTo>
                    <a:lnTo>
                      <a:pt x="32" y="0"/>
                    </a:lnTo>
                    <a:lnTo>
                      <a:pt x="32" y="492"/>
                    </a:lnTo>
                    <a:lnTo>
                      <a:pt x="0" y="49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87" name="Freeform 3783"/>
              <p:cNvSpPr>
                <a:spLocks noChangeAspect="1"/>
              </p:cNvSpPr>
              <p:nvPr/>
            </p:nvSpPr>
            <p:spPr bwMode="auto">
              <a:xfrm>
                <a:off x="5360" y="1005"/>
                <a:ext cx="11" cy="164"/>
              </a:xfrm>
              <a:custGeom>
                <a:avLst/>
                <a:gdLst>
                  <a:gd name="T0" fmla="*/ 0 w 32"/>
                  <a:gd name="T1" fmla="*/ 0 h 494"/>
                  <a:gd name="T2" fmla="*/ 0 w 32"/>
                  <a:gd name="T3" fmla="*/ 0 h 494"/>
                  <a:gd name="T4" fmla="*/ 0 w 32"/>
                  <a:gd name="T5" fmla="*/ 0 h 494"/>
                  <a:gd name="T6" fmla="*/ 0 w 32"/>
                  <a:gd name="T7" fmla="*/ 0 h 494"/>
                  <a:gd name="T8" fmla="*/ 0 w 32"/>
                  <a:gd name="T9" fmla="*/ 0 h 494"/>
                  <a:gd name="T10" fmla="*/ 0 w 32"/>
                  <a:gd name="T11" fmla="*/ 0 h 494"/>
                  <a:gd name="T12" fmla="*/ 0 w 32"/>
                  <a:gd name="T13" fmla="*/ 0 h 494"/>
                  <a:gd name="T14" fmla="*/ 0 w 32"/>
                  <a:gd name="T15" fmla="*/ 0 h 494"/>
                  <a:gd name="T16" fmla="*/ 0 w 32"/>
                  <a:gd name="T17" fmla="*/ 0 h 494"/>
                  <a:gd name="T18" fmla="*/ 0 w 32"/>
                  <a:gd name="T19" fmla="*/ 0 h 494"/>
                  <a:gd name="T20" fmla="*/ 0 w 32"/>
                  <a:gd name="T21" fmla="*/ 0 h 494"/>
                  <a:gd name="T22" fmla="*/ 0 w 32"/>
                  <a:gd name="T23" fmla="*/ 0 h 49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4">
                    <a:moveTo>
                      <a:pt x="0" y="494"/>
                    </a:moveTo>
                    <a:lnTo>
                      <a:pt x="0" y="5"/>
                    </a:lnTo>
                    <a:lnTo>
                      <a:pt x="5" y="4"/>
                    </a:lnTo>
                    <a:lnTo>
                      <a:pt x="8" y="3"/>
                    </a:lnTo>
                    <a:lnTo>
                      <a:pt x="12" y="3"/>
                    </a:lnTo>
                    <a:lnTo>
                      <a:pt x="16" y="2"/>
                    </a:lnTo>
                    <a:lnTo>
                      <a:pt x="21" y="2"/>
                    </a:lnTo>
                    <a:lnTo>
                      <a:pt x="25" y="1"/>
                    </a:lnTo>
                    <a:lnTo>
                      <a:pt x="28" y="1"/>
                    </a:lnTo>
                    <a:lnTo>
                      <a:pt x="32" y="0"/>
                    </a:lnTo>
                    <a:lnTo>
                      <a:pt x="32" y="494"/>
                    </a:lnTo>
                    <a:lnTo>
                      <a:pt x="0" y="49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88" name="Freeform 3784"/>
              <p:cNvSpPr>
                <a:spLocks noChangeAspect="1"/>
              </p:cNvSpPr>
              <p:nvPr/>
            </p:nvSpPr>
            <p:spPr bwMode="auto">
              <a:xfrm>
                <a:off x="5366" y="1004"/>
                <a:ext cx="10" cy="165"/>
              </a:xfrm>
              <a:custGeom>
                <a:avLst/>
                <a:gdLst>
                  <a:gd name="T0" fmla="*/ 0 w 32"/>
                  <a:gd name="T1" fmla="*/ 0 h 496"/>
                  <a:gd name="T2" fmla="*/ 0 w 32"/>
                  <a:gd name="T3" fmla="*/ 0 h 496"/>
                  <a:gd name="T4" fmla="*/ 0 w 32"/>
                  <a:gd name="T5" fmla="*/ 0 h 496"/>
                  <a:gd name="T6" fmla="*/ 0 w 32"/>
                  <a:gd name="T7" fmla="*/ 0 h 496"/>
                  <a:gd name="T8" fmla="*/ 0 w 32"/>
                  <a:gd name="T9" fmla="*/ 0 h 496"/>
                  <a:gd name="T10" fmla="*/ 0 w 32"/>
                  <a:gd name="T11" fmla="*/ 0 h 496"/>
                  <a:gd name="T12" fmla="*/ 0 w 32"/>
                  <a:gd name="T13" fmla="*/ 0 h 496"/>
                  <a:gd name="T14" fmla="*/ 0 w 32"/>
                  <a:gd name="T15" fmla="*/ 0 h 496"/>
                  <a:gd name="T16" fmla="*/ 0 w 32"/>
                  <a:gd name="T17" fmla="*/ 0 h 496"/>
                  <a:gd name="T18" fmla="*/ 0 w 32"/>
                  <a:gd name="T19" fmla="*/ 0 h 496"/>
                  <a:gd name="T20" fmla="*/ 0 w 32"/>
                  <a:gd name="T21" fmla="*/ 0 h 496"/>
                  <a:gd name="T22" fmla="*/ 0 w 32"/>
                  <a:gd name="T23" fmla="*/ 0 h 49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6">
                    <a:moveTo>
                      <a:pt x="0" y="496"/>
                    </a:moveTo>
                    <a:lnTo>
                      <a:pt x="0" y="4"/>
                    </a:lnTo>
                    <a:lnTo>
                      <a:pt x="5" y="4"/>
                    </a:lnTo>
                    <a:lnTo>
                      <a:pt x="9" y="3"/>
                    </a:lnTo>
                    <a:lnTo>
                      <a:pt x="12" y="3"/>
                    </a:lnTo>
                    <a:lnTo>
                      <a:pt x="16" y="2"/>
                    </a:lnTo>
                    <a:lnTo>
                      <a:pt x="21" y="2"/>
                    </a:lnTo>
                    <a:lnTo>
                      <a:pt x="25" y="1"/>
                    </a:lnTo>
                    <a:lnTo>
                      <a:pt x="29" y="1"/>
                    </a:lnTo>
                    <a:lnTo>
                      <a:pt x="32" y="0"/>
                    </a:lnTo>
                    <a:lnTo>
                      <a:pt x="32" y="496"/>
                    </a:lnTo>
                    <a:lnTo>
                      <a:pt x="0" y="49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89" name="Freeform 3785"/>
              <p:cNvSpPr>
                <a:spLocks noChangeAspect="1"/>
              </p:cNvSpPr>
              <p:nvPr/>
            </p:nvSpPr>
            <p:spPr bwMode="auto">
              <a:xfrm>
                <a:off x="5371" y="1004"/>
                <a:ext cx="11" cy="165"/>
              </a:xfrm>
              <a:custGeom>
                <a:avLst/>
                <a:gdLst>
                  <a:gd name="T0" fmla="*/ 0 w 33"/>
                  <a:gd name="T1" fmla="*/ 0 h 497"/>
                  <a:gd name="T2" fmla="*/ 0 w 33"/>
                  <a:gd name="T3" fmla="*/ 0 h 497"/>
                  <a:gd name="T4" fmla="*/ 0 w 33"/>
                  <a:gd name="T5" fmla="*/ 0 h 497"/>
                  <a:gd name="T6" fmla="*/ 0 w 33"/>
                  <a:gd name="T7" fmla="*/ 0 h 497"/>
                  <a:gd name="T8" fmla="*/ 0 w 33"/>
                  <a:gd name="T9" fmla="*/ 0 h 497"/>
                  <a:gd name="T10" fmla="*/ 0 w 33"/>
                  <a:gd name="T11" fmla="*/ 0 h 497"/>
                  <a:gd name="T12" fmla="*/ 0 w 33"/>
                  <a:gd name="T13" fmla="*/ 0 h 497"/>
                  <a:gd name="T14" fmla="*/ 0 w 33"/>
                  <a:gd name="T15" fmla="*/ 0 h 497"/>
                  <a:gd name="T16" fmla="*/ 0 w 33"/>
                  <a:gd name="T17" fmla="*/ 0 h 497"/>
                  <a:gd name="T18" fmla="*/ 0 w 33"/>
                  <a:gd name="T19" fmla="*/ 0 h 497"/>
                  <a:gd name="T20" fmla="*/ 0 w 33"/>
                  <a:gd name="T21" fmla="*/ 0 h 497"/>
                  <a:gd name="T22" fmla="*/ 0 w 33"/>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97">
                    <a:moveTo>
                      <a:pt x="0" y="497"/>
                    </a:moveTo>
                    <a:lnTo>
                      <a:pt x="0" y="3"/>
                    </a:lnTo>
                    <a:lnTo>
                      <a:pt x="5" y="3"/>
                    </a:lnTo>
                    <a:lnTo>
                      <a:pt x="9" y="2"/>
                    </a:lnTo>
                    <a:lnTo>
                      <a:pt x="12" y="2"/>
                    </a:lnTo>
                    <a:lnTo>
                      <a:pt x="16" y="1"/>
                    </a:lnTo>
                    <a:lnTo>
                      <a:pt x="20" y="1"/>
                    </a:lnTo>
                    <a:lnTo>
                      <a:pt x="25" y="1"/>
                    </a:lnTo>
                    <a:lnTo>
                      <a:pt x="29" y="1"/>
                    </a:lnTo>
                    <a:lnTo>
                      <a:pt x="33" y="0"/>
                    </a:lnTo>
                    <a:lnTo>
                      <a:pt x="33"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90" name="Freeform 3786"/>
              <p:cNvSpPr>
                <a:spLocks noChangeAspect="1"/>
              </p:cNvSpPr>
              <p:nvPr/>
            </p:nvSpPr>
            <p:spPr bwMode="auto">
              <a:xfrm>
                <a:off x="5376" y="1004"/>
                <a:ext cx="11" cy="165"/>
              </a:xfrm>
              <a:custGeom>
                <a:avLst/>
                <a:gdLst>
                  <a:gd name="T0" fmla="*/ 0 w 33"/>
                  <a:gd name="T1" fmla="*/ 0 h 497"/>
                  <a:gd name="T2" fmla="*/ 0 w 33"/>
                  <a:gd name="T3" fmla="*/ 0 h 497"/>
                  <a:gd name="T4" fmla="*/ 0 w 33"/>
                  <a:gd name="T5" fmla="*/ 0 h 497"/>
                  <a:gd name="T6" fmla="*/ 0 w 33"/>
                  <a:gd name="T7" fmla="*/ 0 h 497"/>
                  <a:gd name="T8" fmla="*/ 0 w 33"/>
                  <a:gd name="T9" fmla="*/ 0 h 497"/>
                  <a:gd name="T10" fmla="*/ 0 w 33"/>
                  <a:gd name="T11" fmla="*/ 0 h 497"/>
                  <a:gd name="T12" fmla="*/ 0 w 33"/>
                  <a:gd name="T13" fmla="*/ 0 h 497"/>
                  <a:gd name="T14" fmla="*/ 0 w 33"/>
                  <a:gd name="T15" fmla="*/ 0 h 497"/>
                  <a:gd name="T16" fmla="*/ 0 w 33"/>
                  <a:gd name="T17" fmla="*/ 0 h 497"/>
                  <a:gd name="T18" fmla="*/ 0 w 33"/>
                  <a:gd name="T19" fmla="*/ 0 h 497"/>
                  <a:gd name="T20" fmla="*/ 0 w 33"/>
                  <a:gd name="T21" fmla="*/ 0 h 497"/>
                  <a:gd name="T22" fmla="*/ 0 w 33"/>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97">
                    <a:moveTo>
                      <a:pt x="0" y="497"/>
                    </a:moveTo>
                    <a:lnTo>
                      <a:pt x="0" y="1"/>
                    </a:lnTo>
                    <a:lnTo>
                      <a:pt x="4" y="1"/>
                    </a:lnTo>
                    <a:lnTo>
                      <a:pt x="9" y="1"/>
                    </a:lnTo>
                    <a:lnTo>
                      <a:pt x="13" y="1"/>
                    </a:lnTo>
                    <a:lnTo>
                      <a:pt x="16" y="0"/>
                    </a:lnTo>
                    <a:lnTo>
                      <a:pt x="20" y="0"/>
                    </a:lnTo>
                    <a:lnTo>
                      <a:pt x="25" y="0"/>
                    </a:lnTo>
                    <a:lnTo>
                      <a:pt x="29" y="0"/>
                    </a:lnTo>
                    <a:lnTo>
                      <a:pt x="33" y="0"/>
                    </a:lnTo>
                    <a:lnTo>
                      <a:pt x="33"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91" name="Freeform 3787"/>
              <p:cNvSpPr>
                <a:spLocks noChangeAspect="1"/>
              </p:cNvSpPr>
              <p:nvPr/>
            </p:nvSpPr>
            <p:spPr bwMode="auto">
              <a:xfrm>
                <a:off x="5382" y="1004"/>
                <a:ext cx="11" cy="165"/>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w 32"/>
                  <a:gd name="T25" fmla="*/ 0 h 497"/>
                  <a:gd name="T26" fmla="*/ 0 w 32"/>
                  <a:gd name="T27" fmla="*/ 0 h 497"/>
                  <a:gd name="T28" fmla="*/ 0 w 32"/>
                  <a:gd name="T29" fmla="*/ 0 h 497"/>
                  <a:gd name="T30" fmla="*/ 0 w 32"/>
                  <a:gd name="T31" fmla="*/ 0 h 497"/>
                  <a:gd name="T32" fmla="*/ 0 w 32"/>
                  <a:gd name="T33" fmla="*/ 0 h 497"/>
                  <a:gd name="T34" fmla="*/ 0 w 32"/>
                  <a:gd name="T35" fmla="*/ 0 h 497"/>
                  <a:gd name="T36" fmla="*/ 0 w 32"/>
                  <a:gd name="T37" fmla="*/ 0 h 497"/>
                  <a:gd name="T38" fmla="*/ 0 w 32"/>
                  <a:gd name="T39" fmla="*/ 0 h 497"/>
                  <a:gd name="T40" fmla="*/ 0 w 32"/>
                  <a:gd name="T41" fmla="*/ 0 h 49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 h="497">
                    <a:moveTo>
                      <a:pt x="0" y="497"/>
                    </a:moveTo>
                    <a:lnTo>
                      <a:pt x="0" y="0"/>
                    </a:lnTo>
                    <a:lnTo>
                      <a:pt x="2" y="0"/>
                    </a:lnTo>
                    <a:lnTo>
                      <a:pt x="6" y="0"/>
                    </a:lnTo>
                    <a:lnTo>
                      <a:pt x="9" y="0"/>
                    </a:lnTo>
                    <a:lnTo>
                      <a:pt x="12" y="0"/>
                    </a:lnTo>
                    <a:lnTo>
                      <a:pt x="15" y="0"/>
                    </a:lnTo>
                    <a:lnTo>
                      <a:pt x="18" y="0"/>
                    </a:lnTo>
                    <a:lnTo>
                      <a:pt x="20" y="0"/>
                    </a:lnTo>
                    <a:lnTo>
                      <a:pt x="24" y="0"/>
                    </a:lnTo>
                    <a:lnTo>
                      <a:pt x="25" y="0"/>
                    </a:lnTo>
                    <a:lnTo>
                      <a:pt x="26" y="0"/>
                    </a:lnTo>
                    <a:lnTo>
                      <a:pt x="27" y="0"/>
                    </a:lnTo>
                    <a:lnTo>
                      <a:pt x="28" y="0"/>
                    </a:lnTo>
                    <a:lnTo>
                      <a:pt x="29" y="0"/>
                    </a:lnTo>
                    <a:lnTo>
                      <a:pt x="30" y="0"/>
                    </a:lnTo>
                    <a:lnTo>
                      <a:pt x="31" y="0"/>
                    </a:lnTo>
                    <a:lnTo>
                      <a:pt x="32" y="0"/>
                    </a:lnTo>
                    <a:lnTo>
                      <a:pt x="32" y="497"/>
                    </a:lnTo>
                    <a:lnTo>
                      <a:pt x="31"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92" name="Freeform 3788"/>
              <p:cNvSpPr>
                <a:spLocks noChangeAspect="1"/>
              </p:cNvSpPr>
              <p:nvPr/>
            </p:nvSpPr>
            <p:spPr bwMode="auto">
              <a:xfrm>
                <a:off x="5387" y="1004"/>
                <a:ext cx="11" cy="165"/>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w 32"/>
                  <a:gd name="T25" fmla="*/ 0 h 497"/>
                  <a:gd name="T26" fmla="*/ 0 w 32"/>
                  <a:gd name="T27" fmla="*/ 0 h 497"/>
                  <a:gd name="T28" fmla="*/ 0 w 32"/>
                  <a:gd name="T29" fmla="*/ 0 h 497"/>
                  <a:gd name="T30" fmla="*/ 0 w 32"/>
                  <a:gd name="T31" fmla="*/ 0 h 497"/>
                  <a:gd name="T32" fmla="*/ 0 w 32"/>
                  <a:gd name="T33" fmla="*/ 0 h 497"/>
                  <a:gd name="T34" fmla="*/ 0 w 32"/>
                  <a:gd name="T35" fmla="*/ 0 h 497"/>
                  <a:gd name="T36" fmla="*/ 0 w 32"/>
                  <a:gd name="T37" fmla="*/ 0 h 497"/>
                  <a:gd name="T38" fmla="*/ 0 w 32"/>
                  <a:gd name="T39" fmla="*/ 0 h 497"/>
                  <a:gd name="T40" fmla="*/ 0 w 32"/>
                  <a:gd name="T41" fmla="*/ 0 h 49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 h="497">
                    <a:moveTo>
                      <a:pt x="0" y="497"/>
                    </a:moveTo>
                    <a:lnTo>
                      <a:pt x="0" y="0"/>
                    </a:lnTo>
                    <a:lnTo>
                      <a:pt x="1" y="0"/>
                    </a:lnTo>
                    <a:lnTo>
                      <a:pt x="2" y="0"/>
                    </a:lnTo>
                    <a:lnTo>
                      <a:pt x="3" y="0"/>
                    </a:lnTo>
                    <a:lnTo>
                      <a:pt x="4" y="0"/>
                    </a:lnTo>
                    <a:lnTo>
                      <a:pt x="6" y="0"/>
                    </a:lnTo>
                    <a:lnTo>
                      <a:pt x="7" y="0"/>
                    </a:lnTo>
                    <a:lnTo>
                      <a:pt x="8" y="0"/>
                    </a:lnTo>
                    <a:lnTo>
                      <a:pt x="11" y="0"/>
                    </a:lnTo>
                    <a:lnTo>
                      <a:pt x="14" y="0"/>
                    </a:lnTo>
                    <a:lnTo>
                      <a:pt x="17" y="0"/>
                    </a:lnTo>
                    <a:lnTo>
                      <a:pt x="20" y="0"/>
                    </a:lnTo>
                    <a:lnTo>
                      <a:pt x="24" y="0"/>
                    </a:lnTo>
                    <a:lnTo>
                      <a:pt x="26" y="0"/>
                    </a:lnTo>
                    <a:lnTo>
                      <a:pt x="29" y="0"/>
                    </a:lnTo>
                    <a:lnTo>
                      <a:pt x="32" y="0"/>
                    </a:lnTo>
                    <a:lnTo>
                      <a:pt x="32" y="481"/>
                    </a:lnTo>
                    <a:lnTo>
                      <a:pt x="15"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93" name="Freeform 3789"/>
              <p:cNvSpPr>
                <a:spLocks noChangeAspect="1"/>
              </p:cNvSpPr>
              <p:nvPr/>
            </p:nvSpPr>
            <p:spPr bwMode="auto">
              <a:xfrm>
                <a:off x="5393" y="1004"/>
                <a:ext cx="10" cy="165"/>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7">
                    <a:moveTo>
                      <a:pt x="0" y="497"/>
                    </a:moveTo>
                    <a:lnTo>
                      <a:pt x="0" y="0"/>
                    </a:lnTo>
                    <a:lnTo>
                      <a:pt x="4" y="0"/>
                    </a:lnTo>
                    <a:lnTo>
                      <a:pt x="9" y="0"/>
                    </a:lnTo>
                    <a:lnTo>
                      <a:pt x="12" y="0"/>
                    </a:lnTo>
                    <a:lnTo>
                      <a:pt x="16" y="0"/>
                    </a:lnTo>
                    <a:lnTo>
                      <a:pt x="20" y="1"/>
                    </a:lnTo>
                    <a:lnTo>
                      <a:pt x="25" y="1"/>
                    </a:lnTo>
                    <a:lnTo>
                      <a:pt x="28" y="1"/>
                    </a:lnTo>
                    <a:lnTo>
                      <a:pt x="32" y="1"/>
                    </a:lnTo>
                    <a:lnTo>
                      <a:pt x="32" y="466"/>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94" name="Freeform 3790"/>
              <p:cNvSpPr>
                <a:spLocks noChangeAspect="1"/>
              </p:cNvSpPr>
              <p:nvPr/>
            </p:nvSpPr>
            <p:spPr bwMode="auto">
              <a:xfrm>
                <a:off x="5398" y="1004"/>
                <a:ext cx="11" cy="160"/>
              </a:xfrm>
              <a:custGeom>
                <a:avLst/>
                <a:gdLst>
                  <a:gd name="T0" fmla="*/ 0 w 32"/>
                  <a:gd name="T1" fmla="*/ 0 h 481"/>
                  <a:gd name="T2" fmla="*/ 0 w 32"/>
                  <a:gd name="T3" fmla="*/ 0 h 481"/>
                  <a:gd name="T4" fmla="*/ 0 w 32"/>
                  <a:gd name="T5" fmla="*/ 0 h 481"/>
                  <a:gd name="T6" fmla="*/ 0 w 32"/>
                  <a:gd name="T7" fmla="*/ 0 h 481"/>
                  <a:gd name="T8" fmla="*/ 0 w 32"/>
                  <a:gd name="T9" fmla="*/ 0 h 481"/>
                  <a:gd name="T10" fmla="*/ 0 w 32"/>
                  <a:gd name="T11" fmla="*/ 0 h 481"/>
                  <a:gd name="T12" fmla="*/ 0 w 32"/>
                  <a:gd name="T13" fmla="*/ 0 h 481"/>
                  <a:gd name="T14" fmla="*/ 0 w 32"/>
                  <a:gd name="T15" fmla="*/ 0 h 481"/>
                  <a:gd name="T16" fmla="*/ 0 w 32"/>
                  <a:gd name="T17" fmla="*/ 0 h 481"/>
                  <a:gd name="T18" fmla="*/ 0 w 32"/>
                  <a:gd name="T19" fmla="*/ 0 h 481"/>
                  <a:gd name="T20" fmla="*/ 0 w 32"/>
                  <a:gd name="T21" fmla="*/ 0 h 481"/>
                  <a:gd name="T22" fmla="*/ 0 w 32"/>
                  <a:gd name="T23" fmla="*/ 0 h 4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81">
                    <a:moveTo>
                      <a:pt x="0" y="481"/>
                    </a:moveTo>
                    <a:lnTo>
                      <a:pt x="0" y="0"/>
                    </a:lnTo>
                    <a:lnTo>
                      <a:pt x="4" y="1"/>
                    </a:lnTo>
                    <a:lnTo>
                      <a:pt x="9" y="1"/>
                    </a:lnTo>
                    <a:lnTo>
                      <a:pt x="13" y="1"/>
                    </a:lnTo>
                    <a:lnTo>
                      <a:pt x="16" y="1"/>
                    </a:lnTo>
                    <a:lnTo>
                      <a:pt x="20" y="2"/>
                    </a:lnTo>
                    <a:lnTo>
                      <a:pt x="25" y="2"/>
                    </a:lnTo>
                    <a:lnTo>
                      <a:pt x="29" y="3"/>
                    </a:lnTo>
                    <a:lnTo>
                      <a:pt x="32" y="3"/>
                    </a:lnTo>
                    <a:lnTo>
                      <a:pt x="32" y="448"/>
                    </a:lnTo>
                    <a:lnTo>
                      <a:pt x="0" y="4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95" name="Freeform 3791"/>
              <p:cNvSpPr>
                <a:spLocks noChangeAspect="1"/>
              </p:cNvSpPr>
              <p:nvPr/>
            </p:nvSpPr>
            <p:spPr bwMode="auto">
              <a:xfrm>
                <a:off x="5403" y="1004"/>
                <a:ext cx="11" cy="155"/>
              </a:xfrm>
              <a:custGeom>
                <a:avLst/>
                <a:gdLst>
                  <a:gd name="T0" fmla="*/ 0 w 33"/>
                  <a:gd name="T1" fmla="*/ 0 h 465"/>
                  <a:gd name="T2" fmla="*/ 0 w 33"/>
                  <a:gd name="T3" fmla="*/ 0 h 465"/>
                  <a:gd name="T4" fmla="*/ 0 w 33"/>
                  <a:gd name="T5" fmla="*/ 0 h 465"/>
                  <a:gd name="T6" fmla="*/ 0 w 33"/>
                  <a:gd name="T7" fmla="*/ 0 h 465"/>
                  <a:gd name="T8" fmla="*/ 0 w 33"/>
                  <a:gd name="T9" fmla="*/ 0 h 465"/>
                  <a:gd name="T10" fmla="*/ 0 w 33"/>
                  <a:gd name="T11" fmla="*/ 0 h 465"/>
                  <a:gd name="T12" fmla="*/ 0 w 33"/>
                  <a:gd name="T13" fmla="*/ 0 h 465"/>
                  <a:gd name="T14" fmla="*/ 0 w 33"/>
                  <a:gd name="T15" fmla="*/ 0 h 465"/>
                  <a:gd name="T16" fmla="*/ 0 w 33"/>
                  <a:gd name="T17" fmla="*/ 0 h 465"/>
                  <a:gd name="T18" fmla="*/ 0 w 33"/>
                  <a:gd name="T19" fmla="*/ 0 h 465"/>
                  <a:gd name="T20" fmla="*/ 0 w 33"/>
                  <a:gd name="T21" fmla="*/ 0 h 465"/>
                  <a:gd name="T22" fmla="*/ 0 w 33"/>
                  <a:gd name="T23" fmla="*/ 0 h 4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65">
                    <a:moveTo>
                      <a:pt x="0" y="465"/>
                    </a:moveTo>
                    <a:lnTo>
                      <a:pt x="0" y="0"/>
                    </a:lnTo>
                    <a:lnTo>
                      <a:pt x="4" y="1"/>
                    </a:lnTo>
                    <a:lnTo>
                      <a:pt x="9" y="1"/>
                    </a:lnTo>
                    <a:lnTo>
                      <a:pt x="13" y="2"/>
                    </a:lnTo>
                    <a:lnTo>
                      <a:pt x="17" y="2"/>
                    </a:lnTo>
                    <a:lnTo>
                      <a:pt x="20" y="3"/>
                    </a:lnTo>
                    <a:lnTo>
                      <a:pt x="25" y="3"/>
                    </a:lnTo>
                    <a:lnTo>
                      <a:pt x="29" y="4"/>
                    </a:lnTo>
                    <a:lnTo>
                      <a:pt x="33" y="4"/>
                    </a:lnTo>
                    <a:lnTo>
                      <a:pt x="33" y="432"/>
                    </a:lnTo>
                    <a:lnTo>
                      <a:pt x="0" y="4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96" name="Freeform 3792"/>
              <p:cNvSpPr>
                <a:spLocks noChangeAspect="1"/>
              </p:cNvSpPr>
              <p:nvPr/>
            </p:nvSpPr>
            <p:spPr bwMode="auto">
              <a:xfrm>
                <a:off x="5409" y="1005"/>
                <a:ext cx="11" cy="148"/>
              </a:xfrm>
              <a:custGeom>
                <a:avLst/>
                <a:gdLst>
                  <a:gd name="T0" fmla="*/ 0 w 33"/>
                  <a:gd name="T1" fmla="*/ 0 h 445"/>
                  <a:gd name="T2" fmla="*/ 0 w 33"/>
                  <a:gd name="T3" fmla="*/ 0 h 445"/>
                  <a:gd name="T4" fmla="*/ 0 w 33"/>
                  <a:gd name="T5" fmla="*/ 0 h 445"/>
                  <a:gd name="T6" fmla="*/ 0 w 33"/>
                  <a:gd name="T7" fmla="*/ 0 h 445"/>
                  <a:gd name="T8" fmla="*/ 0 w 33"/>
                  <a:gd name="T9" fmla="*/ 0 h 445"/>
                  <a:gd name="T10" fmla="*/ 0 w 33"/>
                  <a:gd name="T11" fmla="*/ 0 h 445"/>
                  <a:gd name="T12" fmla="*/ 0 w 33"/>
                  <a:gd name="T13" fmla="*/ 0 h 445"/>
                  <a:gd name="T14" fmla="*/ 0 w 33"/>
                  <a:gd name="T15" fmla="*/ 0 h 445"/>
                  <a:gd name="T16" fmla="*/ 0 w 33"/>
                  <a:gd name="T17" fmla="*/ 0 h 445"/>
                  <a:gd name="T18" fmla="*/ 0 w 33"/>
                  <a:gd name="T19" fmla="*/ 0 h 445"/>
                  <a:gd name="T20" fmla="*/ 0 w 33"/>
                  <a:gd name="T21" fmla="*/ 0 h 445"/>
                  <a:gd name="T22" fmla="*/ 0 w 33"/>
                  <a:gd name="T23" fmla="*/ 0 h 4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45">
                    <a:moveTo>
                      <a:pt x="0" y="445"/>
                    </a:moveTo>
                    <a:lnTo>
                      <a:pt x="0" y="0"/>
                    </a:lnTo>
                    <a:lnTo>
                      <a:pt x="4" y="1"/>
                    </a:lnTo>
                    <a:lnTo>
                      <a:pt x="9" y="1"/>
                    </a:lnTo>
                    <a:lnTo>
                      <a:pt x="13" y="2"/>
                    </a:lnTo>
                    <a:lnTo>
                      <a:pt x="17" y="2"/>
                    </a:lnTo>
                    <a:lnTo>
                      <a:pt x="21" y="3"/>
                    </a:lnTo>
                    <a:lnTo>
                      <a:pt x="25" y="4"/>
                    </a:lnTo>
                    <a:lnTo>
                      <a:pt x="29" y="4"/>
                    </a:lnTo>
                    <a:lnTo>
                      <a:pt x="33" y="5"/>
                    </a:lnTo>
                    <a:lnTo>
                      <a:pt x="33" y="414"/>
                    </a:lnTo>
                    <a:lnTo>
                      <a:pt x="0" y="44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97" name="Freeform 3793"/>
              <p:cNvSpPr>
                <a:spLocks noChangeAspect="1"/>
              </p:cNvSpPr>
              <p:nvPr/>
            </p:nvSpPr>
            <p:spPr bwMode="auto">
              <a:xfrm>
                <a:off x="5414" y="1005"/>
                <a:ext cx="11" cy="143"/>
              </a:xfrm>
              <a:custGeom>
                <a:avLst/>
                <a:gdLst>
                  <a:gd name="T0" fmla="*/ 0 w 32"/>
                  <a:gd name="T1" fmla="*/ 0 h 428"/>
                  <a:gd name="T2" fmla="*/ 0 w 32"/>
                  <a:gd name="T3" fmla="*/ 0 h 428"/>
                  <a:gd name="T4" fmla="*/ 0 w 32"/>
                  <a:gd name="T5" fmla="*/ 0 h 428"/>
                  <a:gd name="T6" fmla="*/ 0 w 32"/>
                  <a:gd name="T7" fmla="*/ 0 h 428"/>
                  <a:gd name="T8" fmla="*/ 0 w 32"/>
                  <a:gd name="T9" fmla="*/ 0 h 428"/>
                  <a:gd name="T10" fmla="*/ 0 w 32"/>
                  <a:gd name="T11" fmla="*/ 0 h 428"/>
                  <a:gd name="T12" fmla="*/ 0 w 32"/>
                  <a:gd name="T13" fmla="*/ 0 h 428"/>
                  <a:gd name="T14" fmla="*/ 0 w 32"/>
                  <a:gd name="T15" fmla="*/ 0 h 428"/>
                  <a:gd name="T16" fmla="*/ 0 w 32"/>
                  <a:gd name="T17" fmla="*/ 0 h 428"/>
                  <a:gd name="T18" fmla="*/ 0 w 32"/>
                  <a:gd name="T19" fmla="*/ 0 h 428"/>
                  <a:gd name="T20" fmla="*/ 0 w 32"/>
                  <a:gd name="T21" fmla="*/ 0 h 428"/>
                  <a:gd name="T22" fmla="*/ 0 w 32"/>
                  <a:gd name="T23" fmla="*/ 0 h 4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28">
                    <a:moveTo>
                      <a:pt x="0" y="428"/>
                    </a:moveTo>
                    <a:lnTo>
                      <a:pt x="0" y="0"/>
                    </a:lnTo>
                    <a:lnTo>
                      <a:pt x="3" y="1"/>
                    </a:lnTo>
                    <a:lnTo>
                      <a:pt x="8" y="2"/>
                    </a:lnTo>
                    <a:lnTo>
                      <a:pt x="12" y="2"/>
                    </a:lnTo>
                    <a:lnTo>
                      <a:pt x="16" y="3"/>
                    </a:lnTo>
                    <a:lnTo>
                      <a:pt x="20" y="4"/>
                    </a:lnTo>
                    <a:lnTo>
                      <a:pt x="24" y="5"/>
                    </a:lnTo>
                    <a:lnTo>
                      <a:pt x="28" y="5"/>
                    </a:lnTo>
                    <a:lnTo>
                      <a:pt x="32" y="7"/>
                    </a:lnTo>
                    <a:lnTo>
                      <a:pt x="32" y="396"/>
                    </a:lnTo>
                    <a:lnTo>
                      <a:pt x="0" y="42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98" name="Freeform 3794"/>
              <p:cNvSpPr>
                <a:spLocks noChangeAspect="1"/>
              </p:cNvSpPr>
              <p:nvPr/>
            </p:nvSpPr>
            <p:spPr bwMode="auto">
              <a:xfrm>
                <a:off x="5420" y="1006"/>
                <a:ext cx="10" cy="137"/>
              </a:xfrm>
              <a:custGeom>
                <a:avLst/>
                <a:gdLst>
                  <a:gd name="T0" fmla="*/ 0 w 32"/>
                  <a:gd name="T1" fmla="*/ 0 h 409"/>
                  <a:gd name="T2" fmla="*/ 0 w 32"/>
                  <a:gd name="T3" fmla="*/ 0 h 409"/>
                  <a:gd name="T4" fmla="*/ 0 w 32"/>
                  <a:gd name="T5" fmla="*/ 0 h 409"/>
                  <a:gd name="T6" fmla="*/ 0 w 32"/>
                  <a:gd name="T7" fmla="*/ 0 h 409"/>
                  <a:gd name="T8" fmla="*/ 0 w 32"/>
                  <a:gd name="T9" fmla="*/ 0 h 409"/>
                  <a:gd name="T10" fmla="*/ 0 w 32"/>
                  <a:gd name="T11" fmla="*/ 0 h 409"/>
                  <a:gd name="T12" fmla="*/ 0 w 32"/>
                  <a:gd name="T13" fmla="*/ 0 h 409"/>
                  <a:gd name="T14" fmla="*/ 0 w 32"/>
                  <a:gd name="T15" fmla="*/ 0 h 409"/>
                  <a:gd name="T16" fmla="*/ 0 w 32"/>
                  <a:gd name="T17" fmla="*/ 0 h 409"/>
                  <a:gd name="T18" fmla="*/ 0 w 32"/>
                  <a:gd name="T19" fmla="*/ 0 h 409"/>
                  <a:gd name="T20" fmla="*/ 0 w 32"/>
                  <a:gd name="T21" fmla="*/ 0 h 409"/>
                  <a:gd name="T22" fmla="*/ 0 w 32"/>
                  <a:gd name="T23" fmla="*/ 0 h 40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09">
                    <a:moveTo>
                      <a:pt x="0" y="409"/>
                    </a:moveTo>
                    <a:lnTo>
                      <a:pt x="0" y="0"/>
                    </a:lnTo>
                    <a:lnTo>
                      <a:pt x="4" y="1"/>
                    </a:lnTo>
                    <a:lnTo>
                      <a:pt x="8" y="2"/>
                    </a:lnTo>
                    <a:lnTo>
                      <a:pt x="12" y="2"/>
                    </a:lnTo>
                    <a:lnTo>
                      <a:pt x="16" y="4"/>
                    </a:lnTo>
                    <a:lnTo>
                      <a:pt x="20" y="5"/>
                    </a:lnTo>
                    <a:lnTo>
                      <a:pt x="25" y="6"/>
                    </a:lnTo>
                    <a:lnTo>
                      <a:pt x="28" y="7"/>
                    </a:lnTo>
                    <a:lnTo>
                      <a:pt x="32" y="8"/>
                    </a:lnTo>
                    <a:lnTo>
                      <a:pt x="32" y="377"/>
                    </a:lnTo>
                    <a:lnTo>
                      <a:pt x="0" y="40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99" name="Freeform 3795"/>
              <p:cNvSpPr>
                <a:spLocks noChangeAspect="1"/>
              </p:cNvSpPr>
              <p:nvPr/>
            </p:nvSpPr>
            <p:spPr bwMode="auto">
              <a:xfrm>
                <a:off x="5425" y="1008"/>
                <a:ext cx="11" cy="129"/>
              </a:xfrm>
              <a:custGeom>
                <a:avLst/>
                <a:gdLst>
                  <a:gd name="T0" fmla="*/ 0 w 32"/>
                  <a:gd name="T1" fmla="*/ 0 h 389"/>
                  <a:gd name="T2" fmla="*/ 0 w 32"/>
                  <a:gd name="T3" fmla="*/ 0 h 389"/>
                  <a:gd name="T4" fmla="*/ 0 w 32"/>
                  <a:gd name="T5" fmla="*/ 0 h 389"/>
                  <a:gd name="T6" fmla="*/ 0 w 32"/>
                  <a:gd name="T7" fmla="*/ 0 h 389"/>
                  <a:gd name="T8" fmla="*/ 0 w 32"/>
                  <a:gd name="T9" fmla="*/ 0 h 389"/>
                  <a:gd name="T10" fmla="*/ 0 w 32"/>
                  <a:gd name="T11" fmla="*/ 0 h 389"/>
                  <a:gd name="T12" fmla="*/ 0 w 32"/>
                  <a:gd name="T13" fmla="*/ 0 h 389"/>
                  <a:gd name="T14" fmla="*/ 0 w 32"/>
                  <a:gd name="T15" fmla="*/ 0 h 389"/>
                  <a:gd name="T16" fmla="*/ 0 w 32"/>
                  <a:gd name="T17" fmla="*/ 0 h 389"/>
                  <a:gd name="T18" fmla="*/ 0 w 32"/>
                  <a:gd name="T19" fmla="*/ 0 h 389"/>
                  <a:gd name="T20" fmla="*/ 0 w 32"/>
                  <a:gd name="T21" fmla="*/ 0 h 389"/>
                  <a:gd name="T22" fmla="*/ 0 w 32"/>
                  <a:gd name="T23" fmla="*/ 0 h 3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89">
                    <a:moveTo>
                      <a:pt x="0" y="389"/>
                    </a:moveTo>
                    <a:lnTo>
                      <a:pt x="0" y="0"/>
                    </a:lnTo>
                    <a:lnTo>
                      <a:pt x="4" y="1"/>
                    </a:lnTo>
                    <a:lnTo>
                      <a:pt x="9" y="2"/>
                    </a:lnTo>
                    <a:lnTo>
                      <a:pt x="12" y="3"/>
                    </a:lnTo>
                    <a:lnTo>
                      <a:pt x="16" y="4"/>
                    </a:lnTo>
                    <a:lnTo>
                      <a:pt x="20" y="5"/>
                    </a:lnTo>
                    <a:lnTo>
                      <a:pt x="24" y="6"/>
                    </a:lnTo>
                    <a:lnTo>
                      <a:pt x="29" y="7"/>
                    </a:lnTo>
                    <a:lnTo>
                      <a:pt x="32" y="9"/>
                    </a:lnTo>
                    <a:lnTo>
                      <a:pt x="32" y="357"/>
                    </a:lnTo>
                    <a:lnTo>
                      <a:pt x="0" y="3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00" name="Freeform 3796"/>
              <p:cNvSpPr>
                <a:spLocks noChangeAspect="1"/>
              </p:cNvSpPr>
              <p:nvPr/>
            </p:nvSpPr>
            <p:spPr bwMode="auto">
              <a:xfrm>
                <a:off x="5430" y="1009"/>
                <a:ext cx="11" cy="123"/>
              </a:xfrm>
              <a:custGeom>
                <a:avLst/>
                <a:gdLst>
                  <a:gd name="T0" fmla="*/ 0 w 33"/>
                  <a:gd name="T1" fmla="*/ 0 h 369"/>
                  <a:gd name="T2" fmla="*/ 0 w 33"/>
                  <a:gd name="T3" fmla="*/ 0 h 369"/>
                  <a:gd name="T4" fmla="*/ 0 w 33"/>
                  <a:gd name="T5" fmla="*/ 0 h 369"/>
                  <a:gd name="T6" fmla="*/ 0 w 33"/>
                  <a:gd name="T7" fmla="*/ 0 h 369"/>
                  <a:gd name="T8" fmla="*/ 0 w 33"/>
                  <a:gd name="T9" fmla="*/ 0 h 369"/>
                  <a:gd name="T10" fmla="*/ 0 w 33"/>
                  <a:gd name="T11" fmla="*/ 0 h 369"/>
                  <a:gd name="T12" fmla="*/ 0 w 33"/>
                  <a:gd name="T13" fmla="*/ 0 h 369"/>
                  <a:gd name="T14" fmla="*/ 0 w 33"/>
                  <a:gd name="T15" fmla="*/ 0 h 369"/>
                  <a:gd name="T16" fmla="*/ 0 w 33"/>
                  <a:gd name="T17" fmla="*/ 0 h 369"/>
                  <a:gd name="T18" fmla="*/ 0 w 33"/>
                  <a:gd name="T19" fmla="*/ 0 h 369"/>
                  <a:gd name="T20" fmla="*/ 0 w 33"/>
                  <a:gd name="T21" fmla="*/ 0 h 369"/>
                  <a:gd name="T22" fmla="*/ 0 w 33"/>
                  <a:gd name="T23" fmla="*/ 0 h 3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69">
                    <a:moveTo>
                      <a:pt x="0" y="369"/>
                    </a:moveTo>
                    <a:lnTo>
                      <a:pt x="0" y="0"/>
                    </a:lnTo>
                    <a:lnTo>
                      <a:pt x="4" y="1"/>
                    </a:lnTo>
                    <a:lnTo>
                      <a:pt x="8" y="2"/>
                    </a:lnTo>
                    <a:lnTo>
                      <a:pt x="13" y="3"/>
                    </a:lnTo>
                    <a:lnTo>
                      <a:pt x="16" y="5"/>
                    </a:lnTo>
                    <a:lnTo>
                      <a:pt x="20" y="6"/>
                    </a:lnTo>
                    <a:lnTo>
                      <a:pt x="24" y="7"/>
                    </a:lnTo>
                    <a:lnTo>
                      <a:pt x="29" y="8"/>
                    </a:lnTo>
                    <a:lnTo>
                      <a:pt x="33" y="10"/>
                    </a:lnTo>
                    <a:lnTo>
                      <a:pt x="33" y="336"/>
                    </a:lnTo>
                    <a:lnTo>
                      <a:pt x="0" y="36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01" name="Freeform 3797"/>
              <p:cNvSpPr>
                <a:spLocks noChangeAspect="1"/>
              </p:cNvSpPr>
              <p:nvPr/>
            </p:nvSpPr>
            <p:spPr bwMode="auto">
              <a:xfrm>
                <a:off x="5436" y="1011"/>
                <a:ext cx="11" cy="116"/>
              </a:xfrm>
              <a:custGeom>
                <a:avLst/>
                <a:gdLst>
                  <a:gd name="T0" fmla="*/ 0 w 33"/>
                  <a:gd name="T1" fmla="*/ 0 h 348"/>
                  <a:gd name="T2" fmla="*/ 0 w 33"/>
                  <a:gd name="T3" fmla="*/ 0 h 348"/>
                  <a:gd name="T4" fmla="*/ 0 w 33"/>
                  <a:gd name="T5" fmla="*/ 0 h 348"/>
                  <a:gd name="T6" fmla="*/ 0 w 33"/>
                  <a:gd name="T7" fmla="*/ 0 h 348"/>
                  <a:gd name="T8" fmla="*/ 0 w 33"/>
                  <a:gd name="T9" fmla="*/ 0 h 348"/>
                  <a:gd name="T10" fmla="*/ 0 w 33"/>
                  <a:gd name="T11" fmla="*/ 0 h 348"/>
                  <a:gd name="T12" fmla="*/ 0 w 33"/>
                  <a:gd name="T13" fmla="*/ 0 h 348"/>
                  <a:gd name="T14" fmla="*/ 0 w 33"/>
                  <a:gd name="T15" fmla="*/ 0 h 348"/>
                  <a:gd name="T16" fmla="*/ 0 w 33"/>
                  <a:gd name="T17" fmla="*/ 0 h 348"/>
                  <a:gd name="T18" fmla="*/ 0 w 33"/>
                  <a:gd name="T19" fmla="*/ 0 h 348"/>
                  <a:gd name="T20" fmla="*/ 0 w 33"/>
                  <a:gd name="T21" fmla="*/ 0 h 348"/>
                  <a:gd name="T22" fmla="*/ 0 w 33"/>
                  <a:gd name="T23" fmla="*/ 0 h 3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48">
                    <a:moveTo>
                      <a:pt x="0" y="348"/>
                    </a:moveTo>
                    <a:lnTo>
                      <a:pt x="0" y="0"/>
                    </a:lnTo>
                    <a:lnTo>
                      <a:pt x="4" y="1"/>
                    </a:lnTo>
                    <a:lnTo>
                      <a:pt x="8" y="2"/>
                    </a:lnTo>
                    <a:lnTo>
                      <a:pt x="13" y="3"/>
                    </a:lnTo>
                    <a:lnTo>
                      <a:pt x="17" y="5"/>
                    </a:lnTo>
                    <a:lnTo>
                      <a:pt x="20" y="6"/>
                    </a:lnTo>
                    <a:lnTo>
                      <a:pt x="24" y="8"/>
                    </a:lnTo>
                    <a:lnTo>
                      <a:pt x="29" y="10"/>
                    </a:lnTo>
                    <a:lnTo>
                      <a:pt x="33" y="11"/>
                    </a:lnTo>
                    <a:lnTo>
                      <a:pt x="33" y="315"/>
                    </a:lnTo>
                    <a:lnTo>
                      <a:pt x="0" y="3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02" name="Freeform 3798"/>
              <p:cNvSpPr>
                <a:spLocks noChangeAspect="1"/>
              </p:cNvSpPr>
              <p:nvPr/>
            </p:nvSpPr>
            <p:spPr bwMode="auto">
              <a:xfrm>
                <a:off x="5441" y="1012"/>
                <a:ext cx="11" cy="109"/>
              </a:xfrm>
              <a:custGeom>
                <a:avLst/>
                <a:gdLst>
                  <a:gd name="T0" fmla="*/ 0 w 32"/>
                  <a:gd name="T1" fmla="*/ 0 h 326"/>
                  <a:gd name="T2" fmla="*/ 0 w 32"/>
                  <a:gd name="T3" fmla="*/ 0 h 326"/>
                  <a:gd name="T4" fmla="*/ 0 w 32"/>
                  <a:gd name="T5" fmla="*/ 0 h 326"/>
                  <a:gd name="T6" fmla="*/ 0 w 32"/>
                  <a:gd name="T7" fmla="*/ 0 h 326"/>
                  <a:gd name="T8" fmla="*/ 0 w 32"/>
                  <a:gd name="T9" fmla="*/ 0 h 326"/>
                  <a:gd name="T10" fmla="*/ 0 w 32"/>
                  <a:gd name="T11" fmla="*/ 0 h 326"/>
                  <a:gd name="T12" fmla="*/ 0 w 32"/>
                  <a:gd name="T13" fmla="*/ 0 h 326"/>
                  <a:gd name="T14" fmla="*/ 0 w 32"/>
                  <a:gd name="T15" fmla="*/ 0 h 326"/>
                  <a:gd name="T16" fmla="*/ 0 w 32"/>
                  <a:gd name="T17" fmla="*/ 0 h 326"/>
                  <a:gd name="T18" fmla="*/ 0 w 32"/>
                  <a:gd name="T19" fmla="*/ 0 h 326"/>
                  <a:gd name="T20" fmla="*/ 0 w 32"/>
                  <a:gd name="T21" fmla="*/ 0 h 326"/>
                  <a:gd name="T22" fmla="*/ 0 w 32"/>
                  <a:gd name="T23" fmla="*/ 0 h 3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26">
                    <a:moveTo>
                      <a:pt x="0" y="326"/>
                    </a:moveTo>
                    <a:lnTo>
                      <a:pt x="0" y="0"/>
                    </a:lnTo>
                    <a:lnTo>
                      <a:pt x="3" y="1"/>
                    </a:lnTo>
                    <a:lnTo>
                      <a:pt x="7" y="3"/>
                    </a:lnTo>
                    <a:lnTo>
                      <a:pt x="12" y="5"/>
                    </a:lnTo>
                    <a:lnTo>
                      <a:pt x="16" y="6"/>
                    </a:lnTo>
                    <a:lnTo>
                      <a:pt x="20" y="8"/>
                    </a:lnTo>
                    <a:lnTo>
                      <a:pt x="23" y="10"/>
                    </a:lnTo>
                    <a:lnTo>
                      <a:pt x="28" y="11"/>
                    </a:lnTo>
                    <a:lnTo>
                      <a:pt x="32" y="13"/>
                    </a:lnTo>
                    <a:lnTo>
                      <a:pt x="32" y="294"/>
                    </a:lnTo>
                    <a:lnTo>
                      <a:pt x="0" y="3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03" name="Freeform 3799"/>
              <p:cNvSpPr>
                <a:spLocks noChangeAspect="1"/>
              </p:cNvSpPr>
              <p:nvPr/>
            </p:nvSpPr>
            <p:spPr bwMode="auto">
              <a:xfrm>
                <a:off x="5447" y="1014"/>
                <a:ext cx="10" cy="102"/>
              </a:xfrm>
              <a:custGeom>
                <a:avLst/>
                <a:gdLst>
                  <a:gd name="T0" fmla="*/ 0 w 32"/>
                  <a:gd name="T1" fmla="*/ 0 h 304"/>
                  <a:gd name="T2" fmla="*/ 0 w 32"/>
                  <a:gd name="T3" fmla="*/ 0 h 304"/>
                  <a:gd name="T4" fmla="*/ 0 w 32"/>
                  <a:gd name="T5" fmla="*/ 0 h 304"/>
                  <a:gd name="T6" fmla="*/ 0 w 32"/>
                  <a:gd name="T7" fmla="*/ 0 h 304"/>
                  <a:gd name="T8" fmla="*/ 0 w 32"/>
                  <a:gd name="T9" fmla="*/ 0 h 304"/>
                  <a:gd name="T10" fmla="*/ 0 w 32"/>
                  <a:gd name="T11" fmla="*/ 0 h 304"/>
                  <a:gd name="T12" fmla="*/ 0 w 32"/>
                  <a:gd name="T13" fmla="*/ 0 h 304"/>
                  <a:gd name="T14" fmla="*/ 0 w 32"/>
                  <a:gd name="T15" fmla="*/ 0 h 304"/>
                  <a:gd name="T16" fmla="*/ 0 w 32"/>
                  <a:gd name="T17" fmla="*/ 0 h 304"/>
                  <a:gd name="T18" fmla="*/ 0 w 32"/>
                  <a:gd name="T19" fmla="*/ 0 h 304"/>
                  <a:gd name="T20" fmla="*/ 0 w 32"/>
                  <a:gd name="T21" fmla="*/ 0 h 304"/>
                  <a:gd name="T22" fmla="*/ 0 w 32"/>
                  <a:gd name="T23" fmla="*/ 0 h 30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04">
                    <a:moveTo>
                      <a:pt x="0" y="304"/>
                    </a:moveTo>
                    <a:lnTo>
                      <a:pt x="0" y="0"/>
                    </a:lnTo>
                    <a:lnTo>
                      <a:pt x="4" y="2"/>
                    </a:lnTo>
                    <a:lnTo>
                      <a:pt x="7" y="4"/>
                    </a:lnTo>
                    <a:lnTo>
                      <a:pt x="12" y="5"/>
                    </a:lnTo>
                    <a:lnTo>
                      <a:pt x="16" y="7"/>
                    </a:lnTo>
                    <a:lnTo>
                      <a:pt x="20" y="9"/>
                    </a:lnTo>
                    <a:lnTo>
                      <a:pt x="24" y="10"/>
                    </a:lnTo>
                    <a:lnTo>
                      <a:pt x="28" y="13"/>
                    </a:lnTo>
                    <a:lnTo>
                      <a:pt x="32" y="15"/>
                    </a:lnTo>
                    <a:lnTo>
                      <a:pt x="32" y="272"/>
                    </a:lnTo>
                    <a:lnTo>
                      <a:pt x="0" y="30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04" name="Freeform 3800"/>
              <p:cNvSpPr>
                <a:spLocks noChangeAspect="1"/>
              </p:cNvSpPr>
              <p:nvPr/>
            </p:nvSpPr>
            <p:spPr bwMode="auto">
              <a:xfrm>
                <a:off x="5452" y="1017"/>
                <a:ext cx="11" cy="93"/>
              </a:xfrm>
              <a:custGeom>
                <a:avLst/>
                <a:gdLst>
                  <a:gd name="T0" fmla="*/ 0 w 32"/>
                  <a:gd name="T1" fmla="*/ 0 h 281"/>
                  <a:gd name="T2" fmla="*/ 0 w 32"/>
                  <a:gd name="T3" fmla="*/ 0 h 281"/>
                  <a:gd name="T4" fmla="*/ 0 w 32"/>
                  <a:gd name="T5" fmla="*/ 0 h 281"/>
                  <a:gd name="T6" fmla="*/ 0 w 32"/>
                  <a:gd name="T7" fmla="*/ 0 h 281"/>
                  <a:gd name="T8" fmla="*/ 0 w 32"/>
                  <a:gd name="T9" fmla="*/ 0 h 281"/>
                  <a:gd name="T10" fmla="*/ 0 w 32"/>
                  <a:gd name="T11" fmla="*/ 0 h 281"/>
                  <a:gd name="T12" fmla="*/ 0 w 32"/>
                  <a:gd name="T13" fmla="*/ 0 h 281"/>
                  <a:gd name="T14" fmla="*/ 0 w 32"/>
                  <a:gd name="T15" fmla="*/ 0 h 281"/>
                  <a:gd name="T16" fmla="*/ 0 w 32"/>
                  <a:gd name="T17" fmla="*/ 0 h 281"/>
                  <a:gd name="T18" fmla="*/ 0 w 32"/>
                  <a:gd name="T19" fmla="*/ 0 h 281"/>
                  <a:gd name="T20" fmla="*/ 0 w 32"/>
                  <a:gd name="T21" fmla="*/ 0 h 281"/>
                  <a:gd name="T22" fmla="*/ 0 w 32"/>
                  <a:gd name="T23" fmla="*/ 0 h 2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81">
                    <a:moveTo>
                      <a:pt x="0" y="281"/>
                    </a:moveTo>
                    <a:lnTo>
                      <a:pt x="0" y="0"/>
                    </a:lnTo>
                    <a:lnTo>
                      <a:pt x="4" y="1"/>
                    </a:lnTo>
                    <a:lnTo>
                      <a:pt x="8" y="3"/>
                    </a:lnTo>
                    <a:lnTo>
                      <a:pt x="12" y="6"/>
                    </a:lnTo>
                    <a:lnTo>
                      <a:pt x="16" y="8"/>
                    </a:lnTo>
                    <a:lnTo>
                      <a:pt x="20" y="10"/>
                    </a:lnTo>
                    <a:lnTo>
                      <a:pt x="24" y="12"/>
                    </a:lnTo>
                    <a:lnTo>
                      <a:pt x="29" y="14"/>
                    </a:lnTo>
                    <a:lnTo>
                      <a:pt x="32" y="16"/>
                    </a:lnTo>
                    <a:lnTo>
                      <a:pt x="32" y="249"/>
                    </a:lnTo>
                    <a:lnTo>
                      <a:pt x="0" y="2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05" name="Freeform 3801"/>
              <p:cNvSpPr>
                <a:spLocks noChangeAspect="1"/>
              </p:cNvSpPr>
              <p:nvPr/>
            </p:nvSpPr>
            <p:spPr bwMode="auto">
              <a:xfrm>
                <a:off x="5457" y="1019"/>
                <a:ext cx="11" cy="86"/>
              </a:xfrm>
              <a:custGeom>
                <a:avLst/>
                <a:gdLst>
                  <a:gd name="T0" fmla="*/ 0 w 32"/>
                  <a:gd name="T1" fmla="*/ 0 h 257"/>
                  <a:gd name="T2" fmla="*/ 0 w 32"/>
                  <a:gd name="T3" fmla="*/ 0 h 257"/>
                  <a:gd name="T4" fmla="*/ 0 w 32"/>
                  <a:gd name="T5" fmla="*/ 0 h 257"/>
                  <a:gd name="T6" fmla="*/ 0 w 32"/>
                  <a:gd name="T7" fmla="*/ 0 h 257"/>
                  <a:gd name="T8" fmla="*/ 0 w 32"/>
                  <a:gd name="T9" fmla="*/ 0 h 257"/>
                  <a:gd name="T10" fmla="*/ 0 w 32"/>
                  <a:gd name="T11" fmla="*/ 0 h 257"/>
                  <a:gd name="T12" fmla="*/ 0 w 32"/>
                  <a:gd name="T13" fmla="*/ 0 h 257"/>
                  <a:gd name="T14" fmla="*/ 0 w 32"/>
                  <a:gd name="T15" fmla="*/ 0 h 257"/>
                  <a:gd name="T16" fmla="*/ 0 w 32"/>
                  <a:gd name="T17" fmla="*/ 0 h 257"/>
                  <a:gd name="T18" fmla="*/ 0 w 32"/>
                  <a:gd name="T19" fmla="*/ 0 h 257"/>
                  <a:gd name="T20" fmla="*/ 0 w 32"/>
                  <a:gd name="T21" fmla="*/ 0 h 257"/>
                  <a:gd name="T22" fmla="*/ 0 w 32"/>
                  <a:gd name="T23" fmla="*/ 0 h 2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57">
                    <a:moveTo>
                      <a:pt x="0" y="257"/>
                    </a:moveTo>
                    <a:lnTo>
                      <a:pt x="0" y="0"/>
                    </a:lnTo>
                    <a:lnTo>
                      <a:pt x="4" y="2"/>
                    </a:lnTo>
                    <a:lnTo>
                      <a:pt x="8" y="4"/>
                    </a:lnTo>
                    <a:lnTo>
                      <a:pt x="13" y="6"/>
                    </a:lnTo>
                    <a:lnTo>
                      <a:pt x="16" y="8"/>
                    </a:lnTo>
                    <a:lnTo>
                      <a:pt x="20" y="10"/>
                    </a:lnTo>
                    <a:lnTo>
                      <a:pt x="24" y="12"/>
                    </a:lnTo>
                    <a:lnTo>
                      <a:pt x="29" y="15"/>
                    </a:lnTo>
                    <a:lnTo>
                      <a:pt x="32" y="17"/>
                    </a:lnTo>
                    <a:lnTo>
                      <a:pt x="32" y="224"/>
                    </a:lnTo>
                    <a:lnTo>
                      <a:pt x="0" y="25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06" name="Freeform 3802"/>
              <p:cNvSpPr>
                <a:spLocks noChangeAspect="1"/>
              </p:cNvSpPr>
              <p:nvPr/>
            </p:nvSpPr>
            <p:spPr bwMode="auto">
              <a:xfrm>
                <a:off x="5463" y="1022"/>
                <a:ext cx="11" cy="78"/>
              </a:xfrm>
              <a:custGeom>
                <a:avLst/>
                <a:gdLst>
                  <a:gd name="T0" fmla="*/ 0 w 33"/>
                  <a:gd name="T1" fmla="*/ 0 h 233"/>
                  <a:gd name="T2" fmla="*/ 0 w 33"/>
                  <a:gd name="T3" fmla="*/ 0 h 233"/>
                  <a:gd name="T4" fmla="*/ 0 w 33"/>
                  <a:gd name="T5" fmla="*/ 0 h 233"/>
                  <a:gd name="T6" fmla="*/ 0 w 33"/>
                  <a:gd name="T7" fmla="*/ 0 h 233"/>
                  <a:gd name="T8" fmla="*/ 0 w 33"/>
                  <a:gd name="T9" fmla="*/ 0 h 233"/>
                  <a:gd name="T10" fmla="*/ 0 w 33"/>
                  <a:gd name="T11" fmla="*/ 0 h 233"/>
                  <a:gd name="T12" fmla="*/ 0 w 33"/>
                  <a:gd name="T13" fmla="*/ 0 h 233"/>
                  <a:gd name="T14" fmla="*/ 0 w 33"/>
                  <a:gd name="T15" fmla="*/ 0 h 233"/>
                  <a:gd name="T16" fmla="*/ 0 w 33"/>
                  <a:gd name="T17" fmla="*/ 0 h 233"/>
                  <a:gd name="T18" fmla="*/ 0 w 33"/>
                  <a:gd name="T19" fmla="*/ 0 h 233"/>
                  <a:gd name="T20" fmla="*/ 0 w 33"/>
                  <a:gd name="T21" fmla="*/ 0 h 233"/>
                  <a:gd name="T22" fmla="*/ 0 w 33"/>
                  <a:gd name="T23" fmla="*/ 0 h 2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233">
                    <a:moveTo>
                      <a:pt x="0" y="233"/>
                    </a:moveTo>
                    <a:lnTo>
                      <a:pt x="0" y="0"/>
                    </a:lnTo>
                    <a:lnTo>
                      <a:pt x="4" y="2"/>
                    </a:lnTo>
                    <a:lnTo>
                      <a:pt x="8" y="4"/>
                    </a:lnTo>
                    <a:lnTo>
                      <a:pt x="13" y="7"/>
                    </a:lnTo>
                    <a:lnTo>
                      <a:pt x="17" y="9"/>
                    </a:lnTo>
                    <a:lnTo>
                      <a:pt x="20" y="12"/>
                    </a:lnTo>
                    <a:lnTo>
                      <a:pt x="24" y="14"/>
                    </a:lnTo>
                    <a:lnTo>
                      <a:pt x="29" y="16"/>
                    </a:lnTo>
                    <a:lnTo>
                      <a:pt x="33" y="19"/>
                    </a:lnTo>
                    <a:lnTo>
                      <a:pt x="33" y="200"/>
                    </a:lnTo>
                    <a:lnTo>
                      <a:pt x="0" y="23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07" name="Freeform 3803"/>
              <p:cNvSpPr>
                <a:spLocks noChangeAspect="1"/>
              </p:cNvSpPr>
              <p:nvPr/>
            </p:nvSpPr>
            <p:spPr bwMode="auto">
              <a:xfrm>
                <a:off x="5468" y="1025"/>
                <a:ext cx="11" cy="69"/>
              </a:xfrm>
              <a:custGeom>
                <a:avLst/>
                <a:gdLst>
                  <a:gd name="T0" fmla="*/ 0 w 33"/>
                  <a:gd name="T1" fmla="*/ 0 h 207"/>
                  <a:gd name="T2" fmla="*/ 0 w 33"/>
                  <a:gd name="T3" fmla="*/ 0 h 207"/>
                  <a:gd name="T4" fmla="*/ 0 w 33"/>
                  <a:gd name="T5" fmla="*/ 0 h 207"/>
                  <a:gd name="T6" fmla="*/ 0 w 33"/>
                  <a:gd name="T7" fmla="*/ 0 h 207"/>
                  <a:gd name="T8" fmla="*/ 0 w 33"/>
                  <a:gd name="T9" fmla="*/ 0 h 207"/>
                  <a:gd name="T10" fmla="*/ 0 w 33"/>
                  <a:gd name="T11" fmla="*/ 0 h 207"/>
                  <a:gd name="T12" fmla="*/ 0 w 33"/>
                  <a:gd name="T13" fmla="*/ 0 h 207"/>
                  <a:gd name="T14" fmla="*/ 0 w 33"/>
                  <a:gd name="T15" fmla="*/ 0 h 207"/>
                  <a:gd name="T16" fmla="*/ 0 w 33"/>
                  <a:gd name="T17" fmla="*/ 0 h 207"/>
                  <a:gd name="T18" fmla="*/ 0 w 33"/>
                  <a:gd name="T19" fmla="*/ 0 h 207"/>
                  <a:gd name="T20" fmla="*/ 0 w 33"/>
                  <a:gd name="T21" fmla="*/ 0 h 207"/>
                  <a:gd name="T22" fmla="*/ 0 w 33"/>
                  <a:gd name="T23" fmla="*/ 0 h 2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207">
                    <a:moveTo>
                      <a:pt x="0" y="207"/>
                    </a:moveTo>
                    <a:lnTo>
                      <a:pt x="0" y="0"/>
                    </a:lnTo>
                    <a:lnTo>
                      <a:pt x="4" y="3"/>
                    </a:lnTo>
                    <a:lnTo>
                      <a:pt x="8" y="5"/>
                    </a:lnTo>
                    <a:lnTo>
                      <a:pt x="13" y="7"/>
                    </a:lnTo>
                    <a:lnTo>
                      <a:pt x="17" y="10"/>
                    </a:lnTo>
                    <a:lnTo>
                      <a:pt x="21" y="12"/>
                    </a:lnTo>
                    <a:lnTo>
                      <a:pt x="24" y="16"/>
                    </a:lnTo>
                    <a:lnTo>
                      <a:pt x="29" y="19"/>
                    </a:lnTo>
                    <a:lnTo>
                      <a:pt x="33" y="21"/>
                    </a:lnTo>
                    <a:lnTo>
                      <a:pt x="33" y="175"/>
                    </a:lnTo>
                    <a:lnTo>
                      <a:pt x="0" y="2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08" name="Freeform 3804"/>
              <p:cNvSpPr>
                <a:spLocks noChangeAspect="1"/>
              </p:cNvSpPr>
              <p:nvPr/>
            </p:nvSpPr>
            <p:spPr bwMode="auto">
              <a:xfrm>
                <a:off x="5474" y="1028"/>
                <a:ext cx="10" cy="61"/>
              </a:xfrm>
              <a:custGeom>
                <a:avLst/>
                <a:gdLst>
                  <a:gd name="T0" fmla="*/ 0 w 32"/>
                  <a:gd name="T1" fmla="*/ 0 h 181"/>
                  <a:gd name="T2" fmla="*/ 0 w 32"/>
                  <a:gd name="T3" fmla="*/ 0 h 181"/>
                  <a:gd name="T4" fmla="*/ 0 w 32"/>
                  <a:gd name="T5" fmla="*/ 0 h 181"/>
                  <a:gd name="T6" fmla="*/ 0 w 32"/>
                  <a:gd name="T7" fmla="*/ 0 h 181"/>
                  <a:gd name="T8" fmla="*/ 0 w 32"/>
                  <a:gd name="T9" fmla="*/ 0 h 181"/>
                  <a:gd name="T10" fmla="*/ 0 w 32"/>
                  <a:gd name="T11" fmla="*/ 0 h 181"/>
                  <a:gd name="T12" fmla="*/ 0 w 32"/>
                  <a:gd name="T13" fmla="*/ 0 h 181"/>
                  <a:gd name="T14" fmla="*/ 0 w 32"/>
                  <a:gd name="T15" fmla="*/ 0 h 181"/>
                  <a:gd name="T16" fmla="*/ 0 w 32"/>
                  <a:gd name="T17" fmla="*/ 0 h 181"/>
                  <a:gd name="T18" fmla="*/ 0 w 32"/>
                  <a:gd name="T19" fmla="*/ 0 h 181"/>
                  <a:gd name="T20" fmla="*/ 0 w 32"/>
                  <a:gd name="T21" fmla="*/ 0 h 181"/>
                  <a:gd name="T22" fmla="*/ 0 w 32"/>
                  <a:gd name="T23" fmla="*/ 0 h 1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181">
                    <a:moveTo>
                      <a:pt x="0" y="181"/>
                    </a:moveTo>
                    <a:lnTo>
                      <a:pt x="0" y="0"/>
                    </a:lnTo>
                    <a:lnTo>
                      <a:pt x="4" y="2"/>
                    </a:lnTo>
                    <a:lnTo>
                      <a:pt x="7" y="6"/>
                    </a:lnTo>
                    <a:lnTo>
                      <a:pt x="12" y="9"/>
                    </a:lnTo>
                    <a:lnTo>
                      <a:pt x="16" y="11"/>
                    </a:lnTo>
                    <a:lnTo>
                      <a:pt x="20" y="14"/>
                    </a:lnTo>
                    <a:lnTo>
                      <a:pt x="24" y="17"/>
                    </a:lnTo>
                    <a:lnTo>
                      <a:pt x="27" y="20"/>
                    </a:lnTo>
                    <a:lnTo>
                      <a:pt x="32" y="23"/>
                    </a:lnTo>
                    <a:lnTo>
                      <a:pt x="32" y="149"/>
                    </a:lnTo>
                    <a:lnTo>
                      <a:pt x="0" y="1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09" name="Freeform 3805"/>
              <p:cNvSpPr>
                <a:spLocks noChangeAspect="1"/>
              </p:cNvSpPr>
              <p:nvPr/>
            </p:nvSpPr>
            <p:spPr bwMode="auto">
              <a:xfrm>
                <a:off x="5479" y="1032"/>
                <a:ext cx="11" cy="51"/>
              </a:xfrm>
              <a:custGeom>
                <a:avLst/>
                <a:gdLst>
                  <a:gd name="T0" fmla="*/ 0 w 32"/>
                  <a:gd name="T1" fmla="*/ 0 h 154"/>
                  <a:gd name="T2" fmla="*/ 0 w 32"/>
                  <a:gd name="T3" fmla="*/ 0 h 154"/>
                  <a:gd name="T4" fmla="*/ 0 w 32"/>
                  <a:gd name="T5" fmla="*/ 0 h 154"/>
                  <a:gd name="T6" fmla="*/ 0 w 32"/>
                  <a:gd name="T7" fmla="*/ 0 h 154"/>
                  <a:gd name="T8" fmla="*/ 0 w 32"/>
                  <a:gd name="T9" fmla="*/ 0 h 154"/>
                  <a:gd name="T10" fmla="*/ 0 w 32"/>
                  <a:gd name="T11" fmla="*/ 0 h 154"/>
                  <a:gd name="T12" fmla="*/ 0 w 32"/>
                  <a:gd name="T13" fmla="*/ 0 h 154"/>
                  <a:gd name="T14" fmla="*/ 0 w 32"/>
                  <a:gd name="T15" fmla="*/ 0 h 154"/>
                  <a:gd name="T16" fmla="*/ 0 w 32"/>
                  <a:gd name="T17" fmla="*/ 0 h 154"/>
                  <a:gd name="T18" fmla="*/ 0 w 32"/>
                  <a:gd name="T19" fmla="*/ 0 h 154"/>
                  <a:gd name="T20" fmla="*/ 0 w 32"/>
                  <a:gd name="T21" fmla="*/ 0 h 154"/>
                  <a:gd name="T22" fmla="*/ 0 w 32"/>
                  <a:gd name="T23" fmla="*/ 0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154">
                    <a:moveTo>
                      <a:pt x="0" y="154"/>
                    </a:moveTo>
                    <a:lnTo>
                      <a:pt x="0" y="0"/>
                    </a:lnTo>
                    <a:lnTo>
                      <a:pt x="4" y="3"/>
                    </a:lnTo>
                    <a:lnTo>
                      <a:pt x="8" y="6"/>
                    </a:lnTo>
                    <a:lnTo>
                      <a:pt x="11" y="9"/>
                    </a:lnTo>
                    <a:lnTo>
                      <a:pt x="16" y="13"/>
                    </a:lnTo>
                    <a:lnTo>
                      <a:pt x="20" y="16"/>
                    </a:lnTo>
                    <a:lnTo>
                      <a:pt x="24" y="19"/>
                    </a:lnTo>
                    <a:lnTo>
                      <a:pt x="29" y="22"/>
                    </a:lnTo>
                    <a:lnTo>
                      <a:pt x="32" y="25"/>
                    </a:lnTo>
                    <a:lnTo>
                      <a:pt x="32" y="122"/>
                    </a:lnTo>
                    <a:lnTo>
                      <a:pt x="0" y="15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10" name="Freeform 3806"/>
              <p:cNvSpPr>
                <a:spLocks noChangeAspect="1"/>
              </p:cNvSpPr>
              <p:nvPr/>
            </p:nvSpPr>
            <p:spPr bwMode="auto">
              <a:xfrm>
                <a:off x="5484" y="1036"/>
                <a:ext cx="11" cy="42"/>
              </a:xfrm>
              <a:custGeom>
                <a:avLst/>
                <a:gdLst>
                  <a:gd name="T0" fmla="*/ 0 w 32"/>
                  <a:gd name="T1" fmla="*/ 0 h 126"/>
                  <a:gd name="T2" fmla="*/ 0 w 32"/>
                  <a:gd name="T3" fmla="*/ 0 h 126"/>
                  <a:gd name="T4" fmla="*/ 0 w 32"/>
                  <a:gd name="T5" fmla="*/ 0 h 126"/>
                  <a:gd name="T6" fmla="*/ 0 w 32"/>
                  <a:gd name="T7" fmla="*/ 0 h 126"/>
                  <a:gd name="T8" fmla="*/ 0 w 32"/>
                  <a:gd name="T9" fmla="*/ 0 h 126"/>
                  <a:gd name="T10" fmla="*/ 0 w 32"/>
                  <a:gd name="T11" fmla="*/ 0 h 126"/>
                  <a:gd name="T12" fmla="*/ 0 w 32"/>
                  <a:gd name="T13" fmla="*/ 0 h 126"/>
                  <a:gd name="T14" fmla="*/ 0 w 32"/>
                  <a:gd name="T15" fmla="*/ 0 h 126"/>
                  <a:gd name="T16" fmla="*/ 0 w 32"/>
                  <a:gd name="T17" fmla="*/ 0 h 126"/>
                  <a:gd name="T18" fmla="*/ 0 w 32"/>
                  <a:gd name="T19" fmla="*/ 0 h 126"/>
                  <a:gd name="T20" fmla="*/ 0 w 32"/>
                  <a:gd name="T21" fmla="*/ 0 h 126"/>
                  <a:gd name="T22" fmla="*/ 0 w 32"/>
                  <a:gd name="T23" fmla="*/ 0 h 1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126">
                    <a:moveTo>
                      <a:pt x="0" y="126"/>
                    </a:moveTo>
                    <a:lnTo>
                      <a:pt x="0" y="0"/>
                    </a:lnTo>
                    <a:lnTo>
                      <a:pt x="4" y="4"/>
                    </a:lnTo>
                    <a:lnTo>
                      <a:pt x="8" y="7"/>
                    </a:lnTo>
                    <a:lnTo>
                      <a:pt x="13" y="10"/>
                    </a:lnTo>
                    <a:lnTo>
                      <a:pt x="17" y="13"/>
                    </a:lnTo>
                    <a:lnTo>
                      <a:pt x="20" y="17"/>
                    </a:lnTo>
                    <a:lnTo>
                      <a:pt x="24" y="21"/>
                    </a:lnTo>
                    <a:lnTo>
                      <a:pt x="28" y="24"/>
                    </a:lnTo>
                    <a:lnTo>
                      <a:pt x="32" y="28"/>
                    </a:lnTo>
                    <a:lnTo>
                      <a:pt x="32" y="93"/>
                    </a:lnTo>
                    <a:lnTo>
                      <a:pt x="0" y="1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11" name="Freeform 3807"/>
              <p:cNvSpPr>
                <a:spLocks noChangeAspect="1"/>
              </p:cNvSpPr>
              <p:nvPr/>
            </p:nvSpPr>
            <p:spPr bwMode="auto">
              <a:xfrm>
                <a:off x="5490" y="1040"/>
                <a:ext cx="11" cy="33"/>
              </a:xfrm>
              <a:custGeom>
                <a:avLst/>
                <a:gdLst>
                  <a:gd name="T0" fmla="*/ 0 w 33"/>
                  <a:gd name="T1" fmla="*/ 0 h 97"/>
                  <a:gd name="T2" fmla="*/ 0 w 33"/>
                  <a:gd name="T3" fmla="*/ 0 h 97"/>
                  <a:gd name="T4" fmla="*/ 0 w 33"/>
                  <a:gd name="T5" fmla="*/ 0 h 97"/>
                  <a:gd name="T6" fmla="*/ 0 w 33"/>
                  <a:gd name="T7" fmla="*/ 0 h 97"/>
                  <a:gd name="T8" fmla="*/ 0 w 33"/>
                  <a:gd name="T9" fmla="*/ 0 h 97"/>
                  <a:gd name="T10" fmla="*/ 0 w 33"/>
                  <a:gd name="T11" fmla="*/ 0 h 97"/>
                  <a:gd name="T12" fmla="*/ 0 w 33"/>
                  <a:gd name="T13" fmla="*/ 0 h 97"/>
                  <a:gd name="T14" fmla="*/ 0 w 33"/>
                  <a:gd name="T15" fmla="*/ 0 h 97"/>
                  <a:gd name="T16" fmla="*/ 0 w 33"/>
                  <a:gd name="T17" fmla="*/ 0 h 97"/>
                  <a:gd name="T18" fmla="*/ 0 w 33"/>
                  <a:gd name="T19" fmla="*/ 0 h 97"/>
                  <a:gd name="T20" fmla="*/ 0 w 33"/>
                  <a:gd name="T21" fmla="*/ 0 h 97"/>
                  <a:gd name="T22" fmla="*/ 0 w 33"/>
                  <a:gd name="T23" fmla="*/ 0 h 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97">
                    <a:moveTo>
                      <a:pt x="0" y="97"/>
                    </a:moveTo>
                    <a:lnTo>
                      <a:pt x="0" y="0"/>
                    </a:lnTo>
                    <a:lnTo>
                      <a:pt x="4" y="4"/>
                    </a:lnTo>
                    <a:lnTo>
                      <a:pt x="8" y="8"/>
                    </a:lnTo>
                    <a:lnTo>
                      <a:pt x="12" y="11"/>
                    </a:lnTo>
                    <a:lnTo>
                      <a:pt x="17" y="15"/>
                    </a:lnTo>
                    <a:lnTo>
                      <a:pt x="21" y="18"/>
                    </a:lnTo>
                    <a:lnTo>
                      <a:pt x="24" y="23"/>
                    </a:lnTo>
                    <a:lnTo>
                      <a:pt x="28" y="27"/>
                    </a:lnTo>
                    <a:lnTo>
                      <a:pt x="33" y="31"/>
                    </a:lnTo>
                    <a:lnTo>
                      <a:pt x="33" y="64"/>
                    </a:lnTo>
                    <a:lnTo>
                      <a:pt x="0" y="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12" name="Freeform 3808"/>
              <p:cNvSpPr>
                <a:spLocks noChangeAspect="1"/>
              </p:cNvSpPr>
              <p:nvPr/>
            </p:nvSpPr>
            <p:spPr bwMode="auto">
              <a:xfrm>
                <a:off x="5495" y="1045"/>
                <a:ext cx="11" cy="22"/>
              </a:xfrm>
              <a:custGeom>
                <a:avLst/>
                <a:gdLst>
                  <a:gd name="T0" fmla="*/ 0 w 33"/>
                  <a:gd name="T1" fmla="*/ 0 h 65"/>
                  <a:gd name="T2" fmla="*/ 0 w 33"/>
                  <a:gd name="T3" fmla="*/ 0 h 65"/>
                  <a:gd name="T4" fmla="*/ 0 w 33"/>
                  <a:gd name="T5" fmla="*/ 0 h 65"/>
                  <a:gd name="T6" fmla="*/ 0 w 33"/>
                  <a:gd name="T7" fmla="*/ 0 h 65"/>
                  <a:gd name="T8" fmla="*/ 0 w 33"/>
                  <a:gd name="T9" fmla="*/ 0 h 65"/>
                  <a:gd name="T10" fmla="*/ 0 w 33"/>
                  <a:gd name="T11" fmla="*/ 0 h 65"/>
                  <a:gd name="T12" fmla="*/ 0 w 33"/>
                  <a:gd name="T13" fmla="*/ 0 h 65"/>
                  <a:gd name="T14" fmla="*/ 0 w 33"/>
                  <a:gd name="T15" fmla="*/ 0 h 65"/>
                  <a:gd name="T16" fmla="*/ 0 w 33"/>
                  <a:gd name="T17" fmla="*/ 0 h 65"/>
                  <a:gd name="T18" fmla="*/ 0 w 33"/>
                  <a:gd name="T19" fmla="*/ 0 h 65"/>
                  <a:gd name="T20" fmla="*/ 0 w 33"/>
                  <a:gd name="T21" fmla="*/ 0 h 65"/>
                  <a:gd name="T22" fmla="*/ 0 w 33"/>
                  <a:gd name="T23" fmla="*/ 0 h 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65">
                    <a:moveTo>
                      <a:pt x="0" y="65"/>
                    </a:moveTo>
                    <a:lnTo>
                      <a:pt x="0" y="0"/>
                    </a:lnTo>
                    <a:lnTo>
                      <a:pt x="4" y="3"/>
                    </a:lnTo>
                    <a:lnTo>
                      <a:pt x="8" y="8"/>
                    </a:lnTo>
                    <a:lnTo>
                      <a:pt x="12" y="12"/>
                    </a:lnTo>
                    <a:lnTo>
                      <a:pt x="17" y="16"/>
                    </a:lnTo>
                    <a:lnTo>
                      <a:pt x="21" y="21"/>
                    </a:lnTo>
                    <a:lnTo>
                      <a:pt x="24" y="25"/>
                    </a:lnTo>
                    <a:lnTo>
                      <a:pt x="28" y="29"/>
                    </a:lnTo>
                    <a:lnTo>
                      <a:pt x="33" y="33"/>
                    </a:lnTo>
                    <a:lnTo>
                      <a:pt x="0" y="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13" name="Freeform 3809"/>
              <p:cNvSpPr>
                <a:spLocks noChangeAspect="1"/>
              </p:cNvSpPr>
              <p:nvPr/>
            </p:nvSpPr>
            <p:spPr bwMode="auto">
              <a:xfrm>
                <a:off x="5501" y="1051"/>
                <a:ext cx="5" cy="11"/>
              </a:xfrm>
              <a:custGeom>
                <a:avLst/>
                <a:gdLst>
                  <a:gd name="T0" fmla="*/ 0 w 16"/>
                  <a:gd name="T1" fmla="*/ 0 h 33"/>
                  <a:gd name="T2" fmla="*/ 0 w 16"/>
                  <a:gd name="T3" fmla="*/ 0 h 33"/>
                  <a:gd name="T4" fmla="*/ 0 w 16"/>
                  <a:gd name="T5" fmla="*/ 0 h 33"/>
                  <a:gd name="T6" fmla="*/ 0 w 16"/>
                  <a:gd name="T7" fmla="*/ 0 h 33"/>
                  <a:gd name="T8" fmla="*/ 0 w 16"/>
                  <a:gd name="T9" fmla="*/ 0 h 33"/>
                  <a:gd name="T10" fmla="*/ 0 w 16"/>
                  <a:gd name="T11" fmla="*/ 0 h 33"/>
                  <a:gd name="T12" fmla="*/ 0 w 16"/>
                  <a:gd name="T13" fmla="*/ 0 h 33"/>
                  <a:gd name="T14" fmla="*/ 0 w 16"/>
                  <a:gd name="T15" fmla="*/ 0 h 33"/>
                  <a:gd name="T16" fmla="*/ 0 w 16"/>
                  <a:gd name="T17" fmla="*/ 0 h 33"/>
                  <a:gd name="T18" fmla="*/ 0 w 16"/>
                  <a:gd name="T19" fmla="*/ 0 h 33"/>
                  <a:gd name="T20" fmla="*/ 0 w 16"/>
                  <a:gd name="T21" fmla="*/ 0 h 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 h="33">
                    <a:moveTo>
                      <a:pt x="0" y="33"/>
                    </a:moveTo>
                    <a:lnTo>
                      <a:pt x="0" y="0"/>
                    </a:lnTo>
                    <a:lnTo>
                      <a:pt x="2" y="2"/>
                    </a:lnTo>
                    <a:lnTo>
                      <a:pt x="3" y="5"/>
                    </a:lnTo>
                    <a:lnTo>
                      <a:pt x="5" y="7"/>
                    </a:lnTo>
                    <a:lnTo>
                      <a:pt x="7" y="9"/>
                    </a:lnTo>
                    <a:lnTo>
                      <a:pt x="9" y="11"/>
                    </a:lnTo>
                    <a:lnTo>
                      <a:pt x="11" y="13"/>
                    </a:lnTo>
                    <a:lnTo>
                      <a:pt x="14" y="15"/>
                    </a:lnTo>
                    <a:lnTo>
                      <a:pt x="16" y="17"/>
                    </a:lnTo>
                    <a:lnTo>
                      <a:pt x="0" y="3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14" name="Freeform 3810"/>
              <p:cNvSpPr>
                <a:spLocks noChangeAspect="1"/>
              </p:cNvSpPr>
              <p:nvPr/>
            </p:nvSpPr>
            <p:spPr bwMode="auto">
              <a:xfrm>
                <a:off x="5237" y="1004"/>
                <a:ext cx="269" cy="165"/>
              </a:xfrm>
              <a:custGeom>
                <a:avLst/>
                <a:gdLst>
                  <a:gd name="T0" fmla="*/ 0 w 808"/>
                  <a:gd name="T1" fmla="*/ 0 h 497"/>
                  <a:gd name="T2" fmla="*/ 0 w 808"/>
                  <a:gd name="T3" fmla="*/ 0 h 497"/>
                  <a:gd name="T4" fmla="*/ 0 w 808"/>
                  <a:gd name="T5" fmla="*/ 0 h 497"/>
                  <a:gd name="T6" fmla="*/ 0 w 808"/>
                  <a:gd name="T7" fmla="*/ 0 h 497"/>
                  <a:gd name="T8" fmla="*/ 0 w 808"/>
                  <a:gd name="T9" fmla="*/ 0 h 497"/>
                  <a:gd name="T10" fmla="*/ 0 w 808"/>
                  <a:gd name="T11" fmla="*/ 0 h 497"/>
                  <a:gd name="T12" fmla="*/ 0 w 808"/>
                  <a:gd name="T13" fmla="*/ 0 h 497"/>
                  <a:gd name="T14" fmla="*/ 0 w 808"/>
                  <a:gd name="T15" fmla="*/ 0 h 497"/>
                  <a:gd name="T16" fmla="*/ 0 w 808"/>
                  <a:gd name="T17" fmla="*/ 0 h 497"/>
                  <a:gd name="T18" fmla="*/ 0 w 808"/>
                  <a:gd name="T19" fmla="*/ 0 h 497"/>
                  <a:gd name="T20" fmla="*/ 0 w 808"/>
                  <a:gd name="T21" fmla="*/ 0 h 497"/>
                  <a:gd name="T22" fmla="*/ 0 w 808"/>
                  <a:gd name="T23" fmla="*/ 0 h 497"/>
                  <a:gd name="T24" fmla="*/ 0 w 808"/>
                  <a:gd name="T25" fmla="*/ 0 h 497"/>
                  <a:gd name="T26" fmla="*/ 0 w 808"/>
                  <a:gd name="T27" fmla="*/ 0 h 497"/>
                  <a:gd name="T28" fmla="*/ 0 w 808"/>
                  <a:gd name="T29" fmla="*/ 0 h 497"/>
                  <a:gd name="T30" fmla="*/ 0 w 808"/>
                  <a:gd name="T31" fmla="*/ 0 h 497"/>
                  <a:gd name="T32" fmla="*/ 0 w 808"/>
                  <a:gd name="T33" fmla="*/ 0 h 497"/>
                  <a:gd name="T34" fmla="*/ 0 w 808"/>
                  <a:gd name="T35" fmla="*/ 0 h 497"/>
                  <a:gd name="T36" fmla="*/ 0 w 808"/>
                  <a:gd name="T37" fmla="*/ 0 h 497"/>
                  <a:gd name="T38" fmla="*/ 0 w 808"/>
                  <a:gd name="T39" fmla="*/ 0 h 497"/>
                  <a:gd name="T40" fmla="*/ 0 w 808"/>
                  <a:gd name="T41" fmla="*/ 0 h 497"/>
                  <a:gd name="T42" fmla="*/ 0 w 808"/>
                  <a:gd name="T43" fmla="*/ 0 h 497"/>
                  <a:gd name="T44" fmla="*/ 0 w 808"/>
                  <a:gd name="T45" fmla="*/ 0 h 497"/>
                  <a:gd name="T46" fmla="*/ 0 w 808"/>
                  <a:gd name="T47" fmla="*/ 0 h 497"/>
                  <a:gd name="T48" fmla="*/ 0 w 808"/>
                  <a:gd name="T49" fmla="*/ 0 h 497"/>
                  <a:gd name="T50" fmla="*/ 0 w 808"/>
                  <a:gd name="T51" fmla="*/ 0 h 497"/>
                  <a:gd name="T52" fmla="*/ 0 w 808"/>
                  <a:gd name="T53" fmla="*/ 0 h 497"/>
                  <a:gd name="T54" fmla="*/ 0 w 808"/>
                  <a:gd name="T55" fmla="*/ 0 h 497"/>
                  <a:gd name="T56" fmla="*/ 0 w 808"/>
                  <a:gd name="T57" fmla="*/ 0 h 497"/>
                  <a:gd name="T58" fmla="*/ 0 w 808"/>
                  <a:gd name="T59" fmla="*/ 0 h 497"/>
                  <a:gd name="T60" fmla="*/ 0 w 808"/>
                  <a:gd name="T61" fmla="*/ 0 h 497"/>
                  <a:gd name="T62" fmla="*/ 0 w 808"/>
                  <a:gd name="T63" fmla="*/ 0 h 497"/>
                  <a:gd name="T64" fmla="*/ 0 w 808"/>
                  <a:gd name="T65" fmla="*/ 0 h 497"/>
                  <a:gd name="T66" fmla="*/ 0 w 808"/>
                  <a:gd name="T67" fmla="*/ 0 h 497"/>
                  <a:gd name="T68" fmla="*/ 0 w 808"/>
                  <a:gd name="T69" fmla="*/ 0 h 497"/>
                  <a:gd name="T70" fmla="*/ 0 w 808"/>
                  <a:gd name="T71" fmla="*/ 0 h 497"/>
                  <a:gd name="T72" fmla="*/ 0 w 808"/>
                  <a:gd name="T73" fmla="*/ 0 h 497"/>
                  <a:gd name="T74" fmla="*/ 0 w 808"/>
                  <a:gd name="T75" fmla="*/ 0 h 497"/>
                  <a:gd name="T76" fmla="*/ 0 w 808"/>
                  <a:gd name="T77" fmla="*/ 0 h 497"/>
                  <a:gd name="T78" fmla="*/ 0 w 808"/>
                  <a:gd name="T79" fmla="*/ 0 h 497"/>
                  <a:gd name="T80" fmla="*/ 0 w 808"/>
                  <a:gd name="T81" fmla="*/ 0 h 497"/>
                  <a:gd name="T82" fmla="*/ 0 w 808"/>
                  <a:gd name="T83" fmla="*/ 0 h 497"/>
                  <a:gd name="T84" fmla="*/ 0 w 808"/>
                  <a:gd name="T85" fmla="*/ 0 h 497"/>
                  <a:gd name="T86" fmla="*/ 0 w 808"/>
                  <a:gd name="T87" fmla="*/ 0 h 497"/>
                  <a:gd name="T88" fmla="*/ 0 w 808"/>
                  <a:gd name="T89" fmla="*/ 0 h 497"/>
                  <a:gd name="T90" fmla="*/ 0 w 808"/>
                  <a:gd name="T91" fmla="*/ 0 h 497"/>
                  <a:gd name="T92" fmla="*/ 0 w 808"/>
                  <a:gd name="T93" fmla="*/ 0 h 497"/>
                  <a:gd name="T94" fmla="*/ 0 w 808"/>
                  <a:gd name="T95" fmla="*/ 0 h 497"/>
                  <a:gd name="T96" fmla="*/ 0 w 808"/>
                  <a:gd name="T97" fmla="*/ 0 h 497"/>
                  <a:gd name="T98" fmla="*/ 0 w 808"/>
                  <a:gd name="T99" fmla="*/ 0 h 497"/>
                  <a:gd name="T100" fmla="*/ 0 w 808"/>
                  <a:gd name="T101" fmla="*/ 0 h 497"/>
                  <a:gd name="T102" fmla="*/ 0 w 808"/>
                  <a:gd name="T103" fmla="*/ 0 h 497"/>
                  <a:gd name="T104" fmla="*/ 0 w 808"/>
                  <a:gd name="T105" fmla="*/ 0 h 497"/>
                  <a:gd name="T106" fmla="*/ 0 w 808"/>
                  <a:gd name="T107" fmla="*/ 0 h 497"/>
                  <a:gd name="T108" fmla="*/ 0 w 808"/>
                  <a:gd name="T109" fmla="*/ 0 h 497"/>
                  <a:gd name="T110" fmla="*/ 0 w 808"/>
                  <a:gd name="T111" fmla="*/ 0 h 497"/>
                  <a:gd name="T112" fmla="*/ 0 w 808"/>
                  <a:gd name="T113" fmla="*/ 0 h 497"/>
                  <a:gd name="T114" fmla="*/ 0 w 808"/>
                  <a:gd name="T115" fmla="*/ 0 h 497"/>
                  <a:gd name="T116" fmla="*/ 0 w 808"/>
                  <a:gd name="T117" fmla="*/ 0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08" h="497">
                    <a:moveTo>
                      <a:pt x="460" y="0"/>
                    </a:moveTo>
                    <a:lnTo>
                      <a:pt x="485" y="0"/>
                    </a:lnTo>
                    <a:lnTo>
                      <a:pt x="511" y="2"/>
                    </a:lnTo>
                    <a:lnTo>
                      <a:pt x="536" y="6"/>
                    </a:lnTo>
                    <a:lnTo>
                      <a:pt x="561" y="10"/>
                    </a:lnTo>
                    <a:lnTo>
                      <a:pt x="585" y="17"/>
                    </a:lnTo>
                    <a:lnTo>
                      <a:pt x="609" y="24"/>
                    </a:lnTo>
                    <a:lnTo>
                      <a:pt x="631" y="33"/>
                    </a:lnTo>
                    <a:lnTo>
                      <a:pt x="654" y="42"/>
                    </a:lnTo>
                    <a:lnTo>
                      <a:pt x="676" y="53"/>
                    </a:lnTo>
                    <a:lnTo>
                      <a:pt x="697" y="66"/>
                    </a:lnTo>
                    <a:lnTo>
                      <a:pt x="717" y="79"/>
                    </a:lnTo>
                    <a:lnTo>
                      <a:pt x="737" y="92"/>
                    </a:lnTo>
                    <a:lnTo>
                      <a:pt x="756" y="107"/>
                    </a:lnTo>
                    <a:lnTo>
                      <a:pt x="774" y="123"/>
                    </a:lnTo>
                    <a:lnTo>
                      <a:pt x="791" y="140"/>
                    </a:lnTo>
                    <a:lnTo>
                      <a:pt x="808" y="158"/>
                    </a:lnTo>
                    <a:lnTo>
                      <a:pt x="467" y="497"/>
                    </a:lnTo>
                    <a:lnTo>
                      <a:pt x="1" y="497"/>
                    </a:lnTo>
                    <a:lnTo>
                      <a:pt x="1" y="493"/>
                    </a:lnTo>
                    <a:lnTo>
                      <a:pt x="0" y="489"/>
                    </a:lnTo>
                    <a:lnTo>
                      <a:pt x="0" y="484"/>
                    </a:lnTo>
                    <a:lnTo>
                      <a:pt x="0" y="479"/>
                    </a:lnTo>
                    <a:lnTo>
                      <a:pt x="0" y="474"/>
                    </a:lnTo>
                    <a:lnTo>
                      <a:pt x="0" y="470"/>
                    </a:lnTo>
                    <a:lnTo>
                      <a:pt x="0" y="464"/>
                    </a:lnTo>
                    <a:lnTo>
                      <a:pt x="0" y="459"/>
                    </a:lnTo>
                    <a:lnTo>
                      <a:pt x="0" y="436"/>
                    </a:lnTo>
                    <a:lnTo>
                      <a:pt x="2" y="412"/>
                    </a:lnTo>
                    <a:lnTo>
                      <a:pt x="5" y="390"/>
                    </a:lnTo>
                    <a:lnTo>
                      <a:pt x="8" y="367"/>
                    </a:lnTo>
                    <a:lnTo>
                      <a:pt x="14" y="345"/>
                    </a:lnTo>
                    <a:lnTo>
                      <a:pt x="20" y="323"/>
                    </a:lnTo>
                    <a:lnTo>
                      <a:pt x="28" y="302"/>
                    </a:lnTo>
                    <a:lnTo>
                      <a:pt x="36" y="281"/>
                    </a:lnTo>
                    <a:lnTo>
                      <a:pt x="45" y="260"/>
                    </a:lnTo>
                    <a:lnTo>
                      <a:pt x="55" y="240"/>
                    </a:lnTo>
                    <a:lnTo>
                      <a:pt x="66" y="221"/>
                    </a:lnTo>
                    <a:lnTo>
                      <a:pt x="79" y="203"/>
                    </a:lnTo>
                    <a:lnTo>
                      <a:pt x="91" y="185"/>
                    </a:lnTo>
                    <a:lnTo>
                      <a:pt x="105" y="167"/>
                    </a:lnTo>
                    <a:lnTo>
                      <a:pt x="119" y="151"/>
                    </a:lnTo>
                    <a:lnTo>
                      <a:pt x="135" y="135"/>
                    </a:lnTo>
                    <a:lnTo>
                      <a:pt x="151" y="119"/>
                    </a:lnTo>
                    <a:lnTo>
                      <a:pt x="167" y="105"/>
                    </a:lnTo>
                    <a:lnTo>
                      <a:pt x="185" y="91"/>
                    </a:lnTo>
                    <a:lnTo>
                      <a:pt x="203" y="79"/>
                    </a:lnTo>
                    <a:lnTo>
                      <a:pt x="221" y="67"/>
                    </a:lnTo>
                    <a:lnTo>
                      <a:pt x="240" y="55"/>
                    </a:lnTo>
                    <a:lnTo>
                      <a:pt x="261" y="46"/>
                    </a:lnTo>
                    <a:lnTo>
                      <a:pt x="281" y="36"/>
                    </a:lnTo>
                    <a:lnTo>
                      <a:pt x="302" y="27"/>
                    </a:lnTo>
                    <a:lnTo>
                      <a:pt x="323" y="20"/>
                    </a:lnTo>
                    <a:lnTo>
                      <a:pt x="345" y="14"/>
                    </a:lnTo>
                    <a:lnTo>
                      <a:pt x="367" y="9"/>
                    </a:lnTo>
                    <a:lnTo>
                      <a:pt x="389" y="5"/>
                    </a:lnTo>
                    <a:lnTo>
                      <a:pt x="413" y="2"/>
                    </a:lnTo>
                    <a:lnTo>
                      <a:pt x="436" y="0"/>
                    </a:lnTo>
                    <a:lnTo>
                      <a:pt x="460" y="0"/>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sp>
            <p:nvSpPr>
              <p:cNvPr id="387715" name="Freeform 3811"/>
              <p:cNvSpPr>
                <a:spLocks noChangeAspect="1"/>
              </p:cNvSpPr>
              <p:nvPr/>
            </p:nvSpPr>
            <p:spPr bwMode="auto">
              <a:xfrm>
                <a:off x="5282" y="1115"/>
                <a:ext cx="5" cy="58"/>
              </a:xfrm>
              <a:custGeom>
                <a:avLst/>
                <a:gdLst>
                  <a:gd name="T0" fmla="*/ 0 w 14"/>
                  <a:gd name="T1" fmla="*/ 0 h 175"/>
                  <a:gd name="T2" fmla="*/ 0 w 14"/>
                  <a:gd name="T3" fmla="*/ 0 h 175"/>
                  <a:gd name="T4" fmla="*/ 0 w 14"/>
                  <a:gd name="T5" fmla="*/ 0 h 175"/>
                  <a:gd name="T6" fmla="*/ 0 w 14"/>
                  <a:gd name="T7" fmla="*/ 0 h 175"/>
                  <a:gd name="T8" fmla="*/ 0 w 14"/>
                  <a:gd name="T9" fmla="*/ 0 h 175"/>
                  <a:gd name="T10" fmla="*/ 0 w 14"/>
                  <a:gd name="T11" fmla="*/ 0 h 175"/>
                  <a:gd name="T12" fmla="*/ 0 w 14"/>
                  <a:gd name="T13" fmla="*/ 0 h 175"/>
                  <a:gd name="T14" fmla="*/ 0 w 14"/>
                  <a:gd name="T15" fmla="*/ 0 h 175"/>
                  <a:gd name="T16" fmla="*/ 0 w 14"/>
                  <a:gd name="T17" fmla="*/ 0 h 175"/>
                  <a:gd name="T18" fmla="*/ 0 w 14"/>
                  <a:gd name="T19" fmla="*/ 0 h 175"/>
                  <a:gd name="T20" fmla="*/ 0 w 14"/>
                  <a:gd name="T21" fmla="*/ 0 h 175"/>
                  <a:gd name="T22" fmla="*/ 0 w 14"/>
                  <a:gd name="T23" fmla="*/ 0 h 175"/>
                  <a:gd name="T24" fmla="*/ 0 w 14"/>
                  <a:gd name="T25" fmla="*/ 0 h 175"/>
                  <a:gd name="T26" fmla="*/ 0 w 14"/>
                  <a:gd name="T27" fmla="*/ 0 h 175"/>
                  <a:gd name="T28" fmla="*/ 0 w 14"/>
                  <a:gd name="T29" fmla="*/ 0 h 175"/>
                  <a:gd name="T30" fmla="*/ 0 w 14"/>
                  <a:gd name="T31" fmla="*/ 0 h 175"/>
                  <a:gd name="T32" fmla="*/ 0 w 14"/>
                  <a:gd name="T33" fmla="*/ 0 h 175"/>
                  <a:gd name="T34" fmla="*/ 0 w 14"/>
                  <a:gd name="T35" fmla="*/ 0 h 1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4" h="175">
                    <a:moveTo>
                      <a:pt x="14" y="0"/>
                    </a:moveTo>
                    <a:lnTo>
                      <a:pt x="14" y="175"/>
                    </a:lnTo>
                    <a:lnTo>
                      <a:pt x="11" y="164"/>
                    </a:lnTo>
                    <a:lnTo>
                      <a:pt x="8" y="154"/>
                    </a:lnTo>
                    <a:lnTo>
                      <a:pt x="6" y="143"/>
                    </a:lnTo>
                    <a:lnTo>
                      <a:pt x="4" y="133"/>
                    </a:lnTo>
                    <a:lnTo>
                      <a:pt x="2" y="121"/>
                    </a:lnTo>
                    <a:lnTo>
                      <a:pt x="1" y="110"/>
                    </a:lnTo>
                    <a:lnTo>
                      <a:pt x="1" y="99"/>
                    </a:lnTo>
                    <a:lnTo>
                      <a:pt x="0" y="87"/>
                    </a:lnTo>
                    <a:lnTo>
                      <a:pt x="1" y="76"/>
                    </a:lnTo>
                    <a:lnTo>
                      <a:pt x="1" y="65"/>
                    </a:lnTo>
                    <a:lnTo>
                      <a:pt x="2" y="54"/>
                    </a:lnTo>
                    <a:lnTo>
                      <a:pt x="4" y="42"/>
                    </a:lnTo>
                    <a:lnTo>
                      <a:pt x="6" y="32"/>
                    </a:lnTo>
                    <a:lnTo>
                      <a:pt x="8" y="21"/>
                    </a:lnTo>
                    <a:lnTo>
                      <a:pt x="11" y="10"/>
                    </a:lnTo>
                    <a:lnTo>
                      <a:pt x="14"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16" name="Freeform 3812"/>
              <p:cNvSpPr>
                <a:spLocks noChangeAspect="1"/>
              </p:cNvSpPr>
              <p:nvPr/>
            </p:nvSpPr>
            <p:spPr bwMode="auto">
              <a:xfrm>
                <a:off x="5282" y="1103"/>
                <a:ext cx="9" cy="82"/>
              </a:xfrm>
              <a:custGeom>
                <a:avLst/>
                <a:gdLst>
                  <a:gd name="T0" fmla="*/ 0 w 27"/>
                  <a:gd name="T1" fmla="*/ 0 h 245"/>
                  <a:gd name="T2" fmla="*/ 0 w 27"/>
                  <a:gd name="T3" fmla="*/ 0 h 245"/>
                  <a:gd name="T4" fmla="*/ 0 w 27"/>
                  <a:gd name="T5" fmla="*/ 0 h 245"/>
                  <a:gd name="T6" fmla="*/ 0 w 27"/>
                  <a:gd name="T7" fmla="*/ 0 h 245"/>
                  <a:gd name="T8" fmla="*/ 0 w 27"/>
                  <a:gd name="T9" fmla="*/ 0 h 245"/>
                  <a:gd name="T10" fmla="*/ 0 w 27"/>
                  <a:gd name="T11" fmla="*/ 0 h 245"/>
                  <a:gd name="T12" fmla="*/ 0 w 27"/>
                  <a:gd name="T13" fmla="*/ 0 h 245"/>
                  <a:gd name="T14" fmla="*/ 0 w 27"/>
                  <a:gd name="T15" fmla="*/ 0 h 245"/>
                  <a:gd name="T16" fmla="*/ 0 w 27"/>
                  <a:gd name="T17" fmla="*/ 0 h 245"/>
                  <a:gd name="T18" fmla="*/ 0 w 27"/>
                  <a:gd name="T19" fmla="*/ 0 h 245"/>
                  <a:gd name="T20" fmla="*/ 0 w 27"/>
                  <a:gd name="T21" fmla="*/ 0 h 245"/>
                  <a:gd name="T22" fmla="*/ 0 w 27"/>
                  <a:gd name="T23" fmla="*/ 0 h 245"/>
                  <a:gd name="T24" fmla="*/ 0 w 27"/>
                  <a:gd name="T25" fmla="*/ 0 h 245"/>
                  <a:gd name="T26" fmla="*/ 0 w 27"/>
                  <a:gd name="T27" fmla="*/ 0 h 245"/>
                  <a:gd name="T28" fmla="*/ 0 w 27"/>
                  <a:gd name="T29" fmla="*/ 0 h 245"/>
                  <a:gd name="T30" fmla="*/ 0 w 27"/>
                  <a:gd name="T31" fmla="*/ 0 h 245"/>
                  <a:gd name="T32" fmla="*/ 0 w 27"/>
                  <a:gd name="T33" fmla="*/ 0 h 245"/>
                  <a:gd name="T34" fmla="*/ 0 w 27"/>
                  <a:gd name="T35" fmla="*/ 0 h 24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7" h="245">
                    <a:moveTo>
                      <a:pt x="27" y="0"/>
                    </a:moveTo>
                    <a:lnTo>
                      <a:pt x="27" y="245"/>
                    </a:lnTo>
                    <a:lnTo>
                      <a:pt x="21" y="231"/>
                    </a:lnTo>
                    <a:lnTo>
                      <a:pt x="16" y="216"/>
                    </a:lnTo>
                    <a:lnTo>
                      <a:pt x="11" y="202"/>
                    </a:lnTo>
                    <a:lnTo>
                      <a:pt x="8" y="186"/>
                    </a:lnTo>
                    <a:lnTo>
                      <a:pt x="4" y="171"/>
                    </a:lnTo>
                    <a:lnTo>
                      <a:pt x="2" y="155"/>
                    </a:lnTo>
                    <a:lnTo>
                      <a:pt x="1" y="139"/>
                    </a:lnTo>
                    <a:lnTo>
                      <a:pt x="0" y="122"/>
                    </a:lnTo>
                    <a:lnTo>
                      <a:pt x="1" y="106"/>
                    </a:lnTo>
                    <a:lnTo>
                      <a:pt x="2" y="90"/>
                    </a:lnTo>
                    <a:lnTo>
                      <a:pt x="4" y="74"/>
                    </a:lnTo>
                    <a:lnTo>
                      <a:pt x="8" y="58"/>
                    </a:lnTo>
                    <a:lnTo>
                      <a:pt x="11" y="43"/>
                    </a:lnTo>
                    <a:lnTo>
                      <a:pt x="16" y="28"/>
                    </a:lnTo>
                    <a:lnTo>
                      <a:pt x="21" y="13"/>
                    </a:lnTo>
                    <a:lnTo>
                      <a:pt x="27"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17" name="Freeform 3813"/>
              <p:cNvSpPr>
                <a:spLocks noChangeAspect="1"/>
              </p:cNvSpPr>
              <p:nvPr/>
            </p:nvSpPr>
            <p:spPr bwMode="auto">
              <a:xfrm>
                <a:off x="5287" y="1094"/>
                <a:ext cx="9" cy="100"/>
              </a:xfrm>
              <a:custGeom>
                <a:avLst/>
                <a:gdLst>
                  <a:gd name="T0" fmla="*/ 0 w 27"/>
                  <a:gd name="T1" fmla="*/ 0 h 299"/>
                  <a:gd name="T2" fmla="*/ 0 w 27"/>
                  <a:gd name="T3" fmla="*/ 0 h 299"/>
                  <a:gd name="T4" fmla="*/ 0 w 27"/>
                  <a:gd name="T5" fmla="*/ 0 h 299"/>
                  <a:gd name="T6" fmla="*/ 0 w 27"/>
                  <a:gd name="T7" fmla="*/ 0 h 299"/>
                  <a:gd name="T8" fmla="*/ 0 w 27"/>
                  <a:gd name="T9" fmla="*/ 0 h 299"/>
                  <a:gd name="T10" fmla="*/ 0 w 27"/>
                  <a:gd name="T11" fmla="*/ 0 h 299"/>
                  <a:gd name="T12" fmla="*/ 0 w 27"/>
                  <a:gd name="T13" fmla="*/ 0 h 299"/>
                  <a:gd name="T14" fmla="*/ 0 w 27"/>
                  <a:gd name="T15" fmla="*/ 0 h 299"/>
                  <a:gd name="T16" fmla="*/ 0 w 27"/>
                  <a:gd name="T17" fmla="*/ 0 h 299"/>
                  <a:gd name="T18" fmla="*/ 0 w 27"/>
                  <a:gd name="T19" fmla="*/ 0 h 299"/>
                  <a:gd name="T20" fmla="*/ 0 w 27"/>
                  <a:gd name="T21" fmla="*/ 0 h 299"/>
                  <a:gd name="T22" fmla="*/ 0 w 27"/>
                  <a:gd name="T23" fmla="*/ 0 h 299"/>
                  <a:gd name="T24" fmla="*/ 0 w 27"/>
                  <a:gd name="T25" fmla="*/ 0 h 299"/>
                  <a:gd name="T26" fmla="*/ 0 w 27"/>
                  <a:gd name="T27" fmla="*/ 0 h 299"/>
                  <a:gd name="T28" fmla="*/ 0 w 27"/>
                  <a:gd name="T29" fmla="*/ 0 h 299"/>
                  <a:gd name="T30" fmla="*/ 0 w 27"/>
                  <a:gd name="T31" fmla="*/ 0 h 299"/>
                  <a:gd name="T32" fmla="*/ 0 w 27"/>
                  <a:gd name="T33" fmla="*/ 0 h 299"/>
                  <a:gd name="T34" fmla="*/ 0 w 27"/>
                  <a:gd name="T35" fmla="*/ 0 h 299"/>
                  <a:gd name="T36" fmla="*/ 0 w 27"/>
                  <a:gd name="T37" fmla="*/ 0 h 29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299">
                    <a:moveTo>
                      <a:pt x="0" y="237"/>
                    </a:moveTo>
                    <a:lnTo>
                      <a:pt x="0" y="62"/>
                    </a:lnTo>
                    <a:lnTo>
                      <a:pt x="2" y="53"/>
                    </a:lnTo>
                    <a:lnTo>
                      <a:pt x="5" y="46"/>
                    </a:lnTo>
                    <a:lnTo>
                      <a:pt x="9" y="37"/>
                    </a:lnTo>
                    <a:lnTo>
                      <a:pt x="12" y="30"/>
                    </a:lnTo>
                    <a:lnTo>
                      <a:pt x="15" y="22"/>
                    </a:lnTo>
                    <a:lnTo>
                      <a:pt x="18" y="15"/>
                    </a:lnTo>
                    <a:lnTo>
                      <a:pt x="22" y="7"/>
                    </a:lnTo>
                    <a:lnTo>
                      <a:pt x="27" y="0"/>
                    </a:lnTo>
                    <a:lnTo>
                      <a:pt x="27" y="299"/>
                    </a:lnTo>
                    <a:lnTo>
                      <a:pt x="22" y="291"/>
                    </a:lnTo>
                    <a:lnTo>
                      <a:pt x="18" y="284"/>
                    </a:lnTo>
                    <a:lnTo>
                      <a:pt x="15" y="276"/>
                    </a:lnTo>
                    <a:lnTo>
                      <a:pt x="12" y="269"/>
                    </a:lnTo>
                    <a:lnTo>
                      <a:pt x="9" y="260"/>
                    </a:lnTo>
                    <a:lnTo>
                      <a:pt x="5" y="253"/>
                    </a:lnTo>
                    <a:lnTo>
                      <a:pt x="2" y="246"/>
                    </a:lnTo>
                    <a:lnTo>
                      <a:pt x="0" y="23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18" name="Freeform 3814"/>
              <p:cNvSpPr>
                <a:spLocks noChangeAspect="1"/>
              </p:cNvSpPr>
              <p:nvPr/>
            </p:nvSpPr>
            <p:spPr bwMode="auto">
              <a:xfrm>
                <a:off x="5291" y="1087"/>
                <a:ext cx="9" cy="114"/>
              </a:xfrm>
              <a:custGeom>
                <a:avLst/>
                <a:gdLst>
                  <a:gd name="T0" fmla="*/ 0 w 26"/>
                  <a:gd name="T1" fmla="*/ 0 h 341"/>
                  <a:gd name="T2" fmla="*/ 0 w 26"/>
                  <a:gd name="T3" fmla="*/ 0 h 341"/>
                  <a:gd name="T4" fmla="*/ 0 w 26"/>
                  <a:gd name="T5" fmla="*/ 0 h 341"/>
                  <a:gd name="T6" fmla="*/ 0 w 26"/>
                  <a:gd name="T7" fmla="*/ 0 h 341"/>
                  <a:gd name="T8" fmla="*/ 0 w 26"/>
                  <a:gd name="T9" fmla="*/ 0 h 341"/>
                  <a:gd name="T10" fmla="*/ 0 w 26"/>
                  <a:gd name="T11" fmla="*/ 0 h 341"/>
                  <a:gd name="T12" fmla="*/ 0 w 26"/>
                  <a:gd name="T13" fmla="*/ 0 h 341"/>
                  <a:gd name="T14" fmla="*/ 0 w 26"/>
                  <a:gd name="T15" fmla="*/ 0 h 341"/>
                  <a:gd name="T16" fmla="*/ 0 w 26"/>
                  <a:gd name="T17" fmla="*/ 0 h 341"/>
                  <a:gd name="T18" fmla="*/ 0 w 26"/>
                  <a:gd name="T19" fmla="*/ 0 h 341"/>
                  <a:gd name="T20" fmla="*/ 0 w 26"/>
                  <a:gd name="T21" fmla="*/ 0 h 341"/>
                  <a:gd name="T22" fmla="*/ 0 w 26"/>
                  <a:gd name="T23" fmla="*/ 0 h 341"/>
                  <a:gd name="T24" fmla="*/ 0 w 26"/>
                  <a:gd name="T25" fmla="*/ 0 h 341"/>
                  <a:gd name="T26" fmla="*/ 0 w 26"/>
                  <a:gd name="T27" fmla="*/ 0 h 341"/>
                  <a:gd name="T28" fmla="*/ 0 w 26"/>
                  <a:gd name="T29" fmla="*/ 0 h 341"/>
                  <a:gd name="T30" fmla="*/ 0 w 26"/>
                  <a:gd name="T31" fmla="*/ 0 h 341"/>
                  <a:gd name="T32" fmla="*/ 0 w 26"/>
                  <a:gd name="T33" fmla="*/ 0 h 341"/>
                  <a:gd name="T34" fmla="*/ 0 w 26"/>
                  <a:gd name="T35" fmla="*/ 0 h 341"/>
                  <a:gd name="T36" fmla="*/ 0 w 26"/>
                  <a:gd name="T37" fmla="*/ 0 h 3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341">
                    <a:moveTo>
                      <a:pt x="0" y="293"/>
                    </a:moveTo>
                    <a:lnTo>
                      <a:pt x="0" y="48"/>
                    </a:lnTo>
                    <a:lnTo>
                      <a:pt x="3" y="41"/>
                    </a:lnTo>
                    <a:lnTo>
                      <a:pt x="6" y="35"/>
                    </a:lnTo>
                    <a:lnTo>
                      <a:pt x="9" y="30"/>
                    </a:lnTo>
                    <a:lnTo>
                      <a:pt x="13" y="23"/>
                    </a:lnTo>
                    <a:lnTo>
                      <a:pt x="16" y="17"/>
                    </a:lnTo>
                    <a:lnTo>
                      <a:pt x="19" y="11"/>
                    </a:lnTo>
                    <a:lnTo>
                      <a:pt x="23" y="6"/>
                    </a:lnTo>
                    <a:lnTo>
                      <a:pt x="26" y="0"/>
                    </a:lnTo>
                    <a:lnTo>
                      <a:pt x="26" y="341"/>
                    </a:lnTo>
                    <a:lnTo>
                      <a:pt x="23" y="335"/>
                    </a:lnTo>
                    <a:lnTo>
                      <a:pt x="19" y="329"/>
                    </a:lnTo>
                    <a:lnTo>
                      <a:pt x="16" y="323"/>
                    </a:lnTo>
                    <a:lnTo>
                      <a:pt x="13" y="318"/>
                    </a:lnTo>
                    <a:lnTo>
                      <a:pt x="9" y="311"/>
                    </a:lnTo>
                    <a:lnTo>
                      <a:pt x="6" y="306"/>
                    </a:lnTo>
                    <a:lnTo>
                      <a:pt x="3" y="300"/>
                    </a:lnTo>
                    <a:lnTo>
                      <a:pt x="0" y="29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19" name="Freeform 3815"/>
              <p:cNvSpPr>
                <a:spLocks noChangeAspect="1"/>
              </p:cNvSpPr>
              <p:nvPr/>
            </p:nvSpPr>
            <p:spPr bwMode="auto">
              <a:xfrm>
                <a:off x="5296" y="1081"/>
                <a:ext cx="9" cy="126"/>
              </a:xfrm>
              <a:custGeom>
                <a:avLst/>
                <a:gdLst>
                  <a:gd name="T0" fmla="*/ 0 w 26"/>
                  <a:gd name="T1" fmla="*/ 0 h 376"/>
                  <a:gd name="T2" fmla="*/ 0 w 26"/>
                  <a:gd name="T3" fmla="*/ 0 h 376"/>
                  <a:gd name="T4" fmla="*/ 0 w 26"/>
                  <a:gd name="T5" fmla="*/ 0 h 376"/>
                  <a:gd name="T6" fmla="*/ 0 w 26"/>
                  <a:gd name="T7" fmla="*/ 0 h 376"/>
                  <a:gd name="T8" fmla="*/ 0 w 26"/>
                  <a:gd name="T9" fmla="*/ 0 h 376"/>
                  <a:gd name="T10" fmla="*/ 0 w 26"/>
                  <a:gd name="T11" fmla="*/ 0 h 376"/>
                  <a:gd name="T12" fmla="*/ 0 w 26"/>
                  <a:gd name="T13" fmla="*/ 0 h 376"/>
                  <a:gd name="T14" fmla="*/ 0 w 26"/>
                  <a:gd name="T15" fmla="*/ 0 h 376"/>
                  <a:gd name="T16" fmla="*/ 0 w 26"/>
                  <a:gd name="T17" fmla="*/ 0 h 376"/>
                  <a:gd name="T18" fmla="*/ 0 w 26"/>
                  <a:gd name="T19" fmla="*/ 0 h 376"/>
                  <a:gd name="T20" fmla="*/ 0 w 26"/>
                  <a:gd name="T21" fmla="*/ 0 h 376"/>
                  <a:gd name="T22" fmla="*/ 0 w 26"/>
                  <a:gd name="T23" fmla="*/ 0 h 376"/>
                  <a:gd name="T24" fmla="*/ 0 w 26"/>
                  <a:gd name="T25" fmla="*/ 0 h 376"/>
                  <a:gd name="T26" fmla="*/ 0 w 26"/>
                  <a:gd name="T27" fmla="*/ 0 h 376"/>
                  <a:gd name="T28" fmla="*/ 0 w 26"/>
                  <a:gd name="T29" fmla="*/ 0 h 376"/>
                  <a:gd name="T30" fmla="*/ 0 w 26"/>
                  <a:gd name="T31" fmla="*/ 0 h 376"/>
                  <a:gd name="T32" fmla="*/ 0 w 26"/>
                  <a:gd name="T33" fmla="*/ 0 h 376"/>
                  <a:gd name="T34" fmla="*/ 0 w 26"/>
                  <a:gd name="T35" fmla="*/ 0 h 376"/>
                  <a:gd name="T36" fmla="*/ 0 w 26"/>
                  <a:gd name="T37" fmla="*/ 0 h 3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376">
                    <a:moveTo>
                      <a:pt x="0" y="338"/>
                    </a:moveTo>
                    <a:lnTo>
                      <a:pt x="0" y="39"/>
                    </a:lnTo>
                    <a:lnTo>
                      <a:pt x="3" y="34"/>
                    </a:lnTo>
                    <a:lnTo>
                      <a:pt x="5" y="29"/>
                    </a:lnTo>
                    <a:lnTo>
                      <a:pt x="8" y="24"/>
                    </a:lnTo>
                    <a:lnTo>
                      <a:pt x="12" y="19"/>
                    </a:lnTo>
                    <a:lnTo>
                      <a:pt x="16" y="15"/>
                    </a:lnTo>
                    <a:lnTo>
                      <a:pt x="19" y="9"/>
                    </a:lnTo>
                    <a:lnTo>
                      <a:pt x="22" y="5"/>
                    </a:lnTo>
                    <a:lnTo>
                      <a:pt x="26" y="0"/>
                    </a:lnTo>
                    <a:lnTo>
                      <a:pt x="26" y="376"/>
                    </a:lnTo>
                    <a:lnTo>
                      <a:pt x="22" y="372"/>
                    </a:lnTo>
                    <a:lnTo>
                      <a:pt x="19" y="368"/>
                    </a:lnTo>
                    <a:lnTo>
                      <a:pt x="16" y="362"/>
                    </a:lnTo>
                    <a:lnTo>
                      <a:pt x="12" y="357"/>
                    </a:lnTo>
                    <a:lnTo>
                      <a:pt x="8" y="353"/>
                    </a:lnTo>
                    <a:lnTo>
                      <a:pt x="5" y="347"/>
                    </a:lnTo>
                    <a:lnTo>
                      <a:pt x="3" y="342"/>
                    </a:lnTo>
                    <a:lnTo>
                      <a:pt x="0" y="33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20" name="Freeform 3816"/>
              <p:cNvSpPr>
                <a:spLocks noChangeAspect="1"/>
              </p:cNvSpPr>
              <p:nvPr/>
            </p:nvSpPr>
            <p:spPr bwMode="auto">
              <a:xfrm>
                <a:off x="5300" y="1076"/>
                <a:ext cx="9" cy="136"/>
              </a:xfrm>
              <a:custGeom>
                <a:avLst/>
                <a:gdLst>
                  <a:gd name="T0" fmla="*/ 0 w 27"/>
                  <a:gd name="T1" fmla="*/ 0 h 407"/>
                  <a:gd name="T2" fmla="*/ 0 w 27"/>
                  <a:gd name="T3" fmla="*/ 0 h 407"/>
                  <a:gd name="T4" fmla="*/ 0 w 27"/>
                  <a:gd name="T5" fmla="*/ 0 h 407"/>
                  <a:gd name="T6" fmla="*/ 0 w 27"/>
                  <a:gd name="T7" fmla="*/ 0 h 407"/>
                  <a:gd name="T8" fmla="*/ 0 w 27"/>
                  <a:gd name="T9" fmla="*/ 0 h 407"/>
                  <a:gd name="T10" fmla="*/ 0 w 27"/>
                  <a:gd name="T11" fmla="*/ 0 h 407"/>
                  <a:gd name="T12" fmla="*/ 0 w 27"/>
                  <a:gd name="T13" fmla="*/ 0 h 407"/>
                  <a:gd name="T14" fmla="*/ 0 w 27"/>
                  <a:gd name="T15" fmla="*/ 0 h 407"/>
                  <a:gd name="T16" fmla="*/ 0 w 27"/>
                  <a:gd name="T17" fmla="*/ 0 h 407"/>
                  <a:gd name="T18" fmla="*/ 0 w 27"/>
                  <a:gd name="T19" fmla="*/ 0 h 407"/>
                  <a:gd name="T20" fmla="*/ 0 w 27"/>
                  <a:gd name="T21" fmla="*/ 0 h 407"/>
                  <a:gd name="T22" fmla="*/ 0 w 27"/>
                  <a:gd name="T23" fmla="*/ 0 h 407"/>
                  <a:gd name="T24" fmla="*/ 0 w 27"/>
                  <a:gd name="T25" fmla="*/ 0 h 407"/>
                  <a:gd name="T26" fmla="*/ 0 w 27"/>
                  <a:gd name="T27" fmla="*/ 0 h 407"/>
                  <a:gd name="T28" fmla="*/ 0 w 27"/>
                  <a:gd name="T29" fmla="*/ 0 h 407"/>
                  <a:gd name="T30" fmla="*/ 0 w 27"/>
                  <a:gd name="T31" fmla="*/ 0 h 407"/>
                  <a:gd name="T32" fmla="*/ 0 w 27"/>
                  <a:gd name="T33" fmla="*/ 0 h 407"/>
                  <a:gd name="T34" fmla="*/ 0 w 27"/>
                  <a:gd name="T35" fmla="*/ 0 h 407"/>
                  <a:gd name="T36" fmla="*/ 0 w 27"/>
                  <a:gd name="T37" fmla="*/ 0 h 40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07">
                    <a:moveTo>
                      <a:pt x="0" y="374"/>
                    </a:moveTo>
                    <a:lnTo>
                      <a:pt x="0" y="33"/>
                    </a:lnTo>
                    <a:lnTo>
                      <a:pt x="4" y="29"/>
                    </a:lnTo>
                    <a:lnTo>
                      <a:pt x="7" y="24"/>
                    </a:lnTo>
                    <a:lnTo>
                      <a:pt x="10" y="20"/>
                    </a:lnTo>
                    <a:lnTo>
                      <a:pt x="13" y="16"/>
                    </a:lnTo>
                    <a:lnTo>
                      <a:pt x="16" y="11"/>
                    </a:lnTo>
                    <a:lnTo>
                      <a:pt x="21" y="7"/>
                    </a:lnTo>
                    <a:lnTo>
                      <a:pt x="24" y="3"/>
                    </a:lnTo>
                    <a:lnTo>
                      <a:pt x="27" y="0"/>
                    </a:lnTo>
                    <a:lnTo>
                      <a:pt x="27" y="407"/>
                    </a:lnTo>
                    <a:lnTo>
                      <a:pt x="24" y="403"/>
                    </a:lnTo>
                    <a:lnTo>
                      <a:pt x="21" y="400"/>
                    </a:lnTo>
                    <a:lnTo>
                      <a:pt x="16" y="395"/>
                    </a:lnTo>
                    <a:lnTo>
                      <a:pt x="13" y="391"/>
                    </a:lnTo>
                    <a:lnTo>
                      <a:pt x="10" y="387"/>
                    </a:lnTo>
                    <a:lnTo>
                      <a:pt x="7" y="383"/>
                    </a:lnTo>
                    <a:lnTo>
                      <a:pt x="4" y="378"/>
                    </a:lnTo>
                    <a:lnTo>
                      <a:pt x="0" y="37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21" name="Freeform 3817"/>
              <p:cNvSpPr>
                <a:spLocks noChangeAspect="1"/>
              </p:cNvSpPr>
              <p:nvPr/>
            </p:nvSpPr>
            <p:spPr bwMode="auto">
              <a:xfrm>
                <a:off x="5305" y="1072"/>
                <a:ext cx="9" cy="145"/>
              </a:xfrm>
              <a:custGeom>
                <a:avLst/>
                <a:gdLst>
                  <a:gd name="T0" fmla="*/ 0 w 27"/>
                  <a:gd name="T1" fmla="*/ 0 h 435"/>
                  <a:gd name="T2" fmla="*/ 0 w 27"/>
                  <a:gd name="T3" fmla="*/ 0 h 435"/>
                  <a:gd name="T4" fmla="*/ 0 w 27"/>
                  <a:gd name="T5" fmla="*/ 0 h 435"/>
                  <a:gd name="T6" fmla="*/ 0 w 27"/>
                  <a:gd name="T7" fmla="*/ 0 h 435"/>
                  <a:gd name="T8" fmla="*/ 0 w 27"/>
                  <a:gd name="T9" fmla="*/ 0 h 435"/>
                  <a:gd name="T10" fmla="*/ 0 w 27"/>
                  <a:gd name="T11" fmla="*/ 0 h 435"/>
                  <a:gd name="T12" fmla="*/ 0 w 27"/>
                  <a:gd name="T13" fmla="*/ 0 h 435"/>
                  <a:gd name="T14" fmla="*/ 0 w 27"/>
                  <a:gd name="T15" fmla="*/ 0 h 435"/>
                  <a:gd name="T16" fmla="*/ 0 w 27"/>
                  <a:gd name="T17" fmla="*/ 0 h 435"/>
                  <a:gd name="T18" fmla="*/ 0 w 27"/>
                  <a:gd name="T19" fmla="*/ 0 h 435"/>
                  <a:gd name="T20" fmla="*/ 0 w 27"/>
                  <a:gd name="T21" fmla="*/ 0 h 435"/>
                  <a:gd name="T22" fmla="*/ 0 w 27"/>
                  <a:gd name="T23" fmla="*/ 0 h 435"/>
                  <a:gd name="T24" fmla="*/ 0 w 27"/>
                  <a:gd name="T25" fmla="*/ 0 h 435"/>
                  <a:gd name="T26" fmla="*/ 0 w 27"/>
                  <a:gd name="T27" fmla="*/ 0 h 435"/>
                  <a:gd name="T28" fmla="*/ 0 w 27"/>
                  <a:gd name="T29" fmla="*/ 0 h 435"/>
                  <a:gd name="T30" fmla="*/ 0 w 27"/>
                  <a:gd name="T31" fmla="*/ 0 h 435"/>
                  <a:gd name="T32" fmla="*/ 0 w 27"/>
                  <a:gd name="T33" fmla="*/ 0 h 435"/>
                  <a:gd name="T34" fmla="*/ 0 w 27"/>
                  <a:gd name="T35" fmla="*/ 0 h 435"/>
                  <a:gd name="T36" fmla="*/ 0 w 27"/>
                  <a:gd name="T37" fmla="*/ 0 h 4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35">
                    <a:moveTo>
                      <a:pt x="0" y="405"/>
                    </a:moveTo>
                    <a:lnTo>
                      <a:pt x="0" y="29"/>
                    </a:lnTo>
                    <a:lnTo>
                      <a:pt x="3" y="25"/>
                    </a:lnTo>
                    <a:lnTo>
                      <a:pt x="7" y="21"/>
                    </a:lnTo>
                    <a:lnTo>
                      <a:pt x="10" y="18"/>
                    </a:lnTo>
                    <a:lnTo>
                      <a:pt x="13" y="14"/>
                    </a:lnTo>
                    <a:lnTo>
                      <a:pt x="16" y="11"/>
                    </a:lnTo>
                    <a:lnTo>
                      <a:pt x="19" y="6"/>
                    </a:lnTo>
                    <a:lnTo>
                      <a:pt x="23" y="3"/>
                    </a:lnTo>
                    <a:lnTo>
                      <a:pt x="27" y="0"/>
                    </a:lnTo>
                    <a:lnTo>
                      <a:pt x="27" y="435"/>
                    </a:lnTo>
                    <a:lnTo>
                      <a:pt x="23" y="432"/>
                    </a:lnTo>
                    <a:lnTo>
                      <a:pt x="19" y="428"/>
                    </a:lnTo>
                    <a:lnTo>
                      <a:pt x="16" y="424"/>
                    </a:lnTo>
                    <a:lnTo>
                      <a:pt x="13" y="421"/>
                    </a:lnTo>
                    <a:lnTo>
                      <a:pt x="10" y="417"/>
                    </a:lnTo>
                    <a:lnTo>
                      <a:pt x="7" y="414"/>
                    </a:lnTo>
                    <a:lnTo>
                      <a:pt x="3" y="409"/>
                    </a:lnTo>
                    <a:lnTo>
                      <a:pt x="0" y="40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22" name="Freeform 3818"/>
              <p:cNvSpPr>
                <a:spLocks noChangeAspect="1"/>
              </p:cNvSpPr>
              <p:nvPr/>
            </p:nvSpPr>
            <p:spPr bwMode="auto">
              <a:xfrm>
                <a:off x="5309" y="1067"/>
                <a:ext cx="9" cy="154"/>
              </a:xfrm>
              <a:custGeom>
                <a:avLst/>
                <a:gdLst>
                  <a:gd name="T0" fmla="*/ 0 w 27"/>
                  <a:gd name="T1" fmla="*/ 0 h 461"/>
                  <a:gd name="T2" fmla="*/ 0 w 27"/>
                  <a:gd name="T3" fmla="*/ 0 h 461"/>
                  <a:gd name="T4" fmla="*/ 0 w 27"/>
                  <a:gd name="T5" fmla="*/ 0 h 461"/>
                  <a:gd name="T6" fmla="*/ 0 w 27"/>
                  <a:gd name="T7" fmla="*/ 0 h 461"/>
                  <a:gd name="T8" fmla="*/ 0 w 27"/>
                  <a:gd name="T9" fmla="*/ 0 h 461"/>
                  <a:gd name="T10" fmla="*/ 0 w 27"/>
                  <a:gd name="T11" fmla="*/ 0 h 461"/>
                  <a:gd name="T12" fmla="*/ 0 w 27"/>
                  <a:gd name="T13" fmla="*/ 0 h 461"/>
                  <a:gd name="T14" fmla="*/ 0 w 27"/>
                  <a:gd name="T15" fmla="*/ 0 h 461"/>
                  <a:gd name="T16" fmla="*/ 0 w 27"/>
                  <a:gd name="T17" fmla="*/ 0 h 461"/>
                  <a:gd name="T18" fmla="*/ 0 w 27"/>
                  <a:gd name="T19" fmla="*/ 0 h 461"/>
                  <a:gd name="T20" fmla="*/ 0 w 27"/>
                  <a:gd name="T21" fmla="*/ 0 h 461"/>
                  <a:gd name="T22" fmla="*/ 0 w 27"/>
                  <a:gd name="T23" fmla="*/ 0 h 461"/>
                  <a:gd name="T24" fmla="*/ 0 w 27"/>
                  <a:gd name="T25" fmla="*/ 0 h 461"/>
                  <a:gd name="T26" fmla="*/ 0 w 27"/>
                  <a:gd name="T27" fmla="*/ 0 h 461"/>
                  <a:gd name="T28" fmla="*/ 0 w 27"/>
                  <a:gd name="T29" fmla="*/ 0 h 461"/>
                  <a:gd name="T30" fmla="*/ 0 w 27"/>
                  <a:gd name="T31" fmla="*/ 0 h 461"/>
                  <a:gd name="T32" fmla="*/ 0 w 27"/>
                  <a:gd name="T33" fmla="*/ 0 h 461"/>
                  <a:gd name="T34" fmla="*/ 0 w 27"/>
                  <a:gd name="T35" fmla="*/ 0 h 461"/>
                  <a:gd name="T36" fmla="*/ 0 w 27"/>
                  <a:gd name="T37" fmla="*/ 0 h 4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61">
                    <a:moveTo>
                      <a:pt x="0" y="434"/>
                    </a:moveTo>
                    <a:lnTo>
                      <a:pt x="0" y="27"/>
                    </a:lnTo>
                    <a:lnTo>
                      <a:pt x="3" y="23"/>
                    </a:lnTo>
                    <a:lnTo>
                      <a:pt x="6" y="19"/>
                    </a:lnTo>
                    <a:lnTo>
                      <a:pt x="10" y="16"/>
                    </a:lnTo>
                    <a:lnTo>
                      <a:pt x="13" y="13"/>
                    </a:lnTo>
                    <a:lnTo>
                      <a:pt x="16" y="10"/>
                    </a:lnTo>
                    <a:lnTo>
                      <a:pt x="20" y="7"/>
                    </a:lnTo>
                    <a:lnTo>
                      <a:pt x="23" y="3"/>
                    </a:lnTo>
                    <a:lnTo>
                      <a:pt x="27" y="0"/>
                    </a:lnTo>
                    <a:lnTo>
                      <a:pt x="27" y="461"/>
                    </a:lnTo>
                    <a:lnTo>
                      <a:pt x="23" y="457"/>
                    </a:lnTo>
                    <a:lnTo>
                      <a:pt x="20" y="454"/>
                    </a:lnTo>
                    <a:lnTo>
                      <a:pt x="16" y="451"/>
                    </a:lnTo>
                    <a:lnTo>
                      <a:pt x="13" y="448"/>
                    </a:lnTo>
                    <a:lnTo>
                      <a:pt x="10" y="445"/>
                    </a:lnTo>
                    <a:lnTo>
                      <a:pt x="6" y="441"/>
                    </a:lnTo>
                    <a:lnTo>
                      <a:pt x="3" y="437"/>
                    </a:lnTo>
                    <a:lnTo>
                      <a:pt x="0" y="43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23" name="Freeform 3819"/>
              <p:cNvSpPr>
                <a:spLocks noChangeAspect="1"/>
              </p:cNvSpPr>
              <p:nvPr/>
            </p:nvSpPr>
            <p:spPr bwMode="auto">
              <a:xfrm>
                <a:off x="5314" y="1064"/>
                <a:ext cx="8" cy="160"/>
              </a:xfrm>
              <a:custGeom>
                <a:avLst/>
                <a:gdLst>
                  <a:gd name="T0" fmla="*/ 0 w 26"/>
                  <a:gd name="T1" fmla="*/ 0 h 481"/>
                  <a:gd name="T2" fmla="*/ 0 w 26"/>
                  <a:gd name="T3" fmla="*/ 0 h 481"/>
                  <a:gd name="T4" fmla="*/ 0 w 26"/>
                  <a:gd name="T5" fmla="*/ 0 h 481"/>
                  <a:gd name="T6" fmla="*/ 0 w 26"/>
                  <a:gd name="T7" fmla="*/ 0 h 481"/>
                  <a:gd name="T8" fmla="*/ 0 w 26"/>
                  <a:gd name="T9" fmla="*/ 0 h 481"/>
                  <a:gd name="T10" fmla="*/ 0 w 26"/>
                  <a:gd name="T11" fmla="*/ 0 h 481"/>
                  <a:gd name="T12" fmla="*/ 0 w 26"/>
                  <a:gd name="T13" fmla="*/ 0 h 481"/>
                  <a:gd name="T14" fmla="*/ 0 w 26"/>
                  <a:gd name="T15" fmla="*/ 0 h 481"/>
                  <a:gd name="T16" fmla="*/ 0 w 26"/>
                  <a:gd name="T17" fmla="*/ 0 h 481"/>
                  <a:gd name="T18" fmla="*/ 0 w 26"/>
                  <a:gd name="T19" fmla="*/ 0 h 481"/>
                  <a:gd name="T20" fmla="*/ 0 w 26"/>
                  <a:gd name="T21" fmla="*/ 0 h 481"/>
                  <a:gd name="T22" fmla="*/ 0 w 26"/>
                  <a:gd name="T23" fmla="*/ 0 h 481"/>
                  <a:gd name="T24" fmla="*/ 0 w 26"/>
                  <a:gd name="T25" fmla="*/ 0 h 481"/>
                  <a:gd name="T26" fmla="*/ 0 w 26"/>
                  <a:gd name="T27" fmla="*/ 0 h 481"/>
                  <a:gd name="T28" fmla="*/ 0 w 26"/>
                  <a:gd name="T29" fmla="*/ 0 h 481"/>
                  <a:gd name="T30" fmla="*/ 0 w 26"/>
                  <a:gd name="T31" fmla="*/ 0 h 481"/>
                  <a:gd name="T32" fmla="*/ 0 w 26"/>
                  <a:gd name="T33" fmla="*/ 0 h 481"/>
                  <a:gd name="T34" fmla="*/ 0 w 26"/>
                  <a:gd name="T35" fmla="*/ 0 h 481"/>
                  <a:gd name="T36" fmla="*/ 0 w 26"/>
                  <a:gd name="T37" fmla="*/ 0 h 48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81">
                    <a:moveTo>
                      <a:pt x="0" y="458"/>
                    </a:moveTo>
                    <a:lnTo>
                      <a:pt x="0" y="23"/>
                    </a:lnTo>
                    <a:lnTo>
                      <a:pt x="3" y="20"/>
                    </a:lnTo>
                    <a:lnTo>
                      <a:pt x="6" y="17"/>
                    </a:lnTo>
                    <a:lnTo>
                      <a:pt x="9" y="13"/>
                    </a:lnTo>
                    <a:lnTo>
                      <a:pt x="13" y="10"/>
                    </a:lnTo>
                    <a:lnTo>
                      <a:pt x="16" y="7"/>
                    </a:lnTo>
                    <a:lnTo>
                      <a:pt x="19" y="5"/>
                    </a:lnTo>
                    <a:lnTo>
                      <a:pt x="22" y="2"/>
                    </a:lnTo>
                    <a:lnTo>
                      <a:pt x="26" y="0"/>
                    </a:lnTo>
                    <a:lnTo>
                      <a:pt x="26" y="481"/>
                    </a:lnTo>
                    <a:lnTo>
                      <a:pt x="22" y="479"/>
                    </a:lnTo>
                    <a:lnTo>
                      <a:pt x="19" y="476"/>
                    </a:lnTo>
                    <a:lnTo>
                      <a:pt x="16" y="473"/>
                    </a:lnTo>
                    <a:lnTo>
                      <a:pt x="13" y="471"/>
                    </a:lnTo>
                    <a:lnTo>
                      <a:pt x="9" y="467"/>
                    </a:lnTo>
                    <a:lnTo>
                      <a:pt x="6" y="464"/>
                    </a:lnTo>
                    <a:lnTo>
                      <a:pt x="3" y="461"/>
                    </a:lnTo>
                    <a:lnTo>
                      <a:pt x="0" y="45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24" name="Freeform 3820"/>
              <p:cNvSpPr>
                <a:spLocks noChangeAspect="1"/>
              </p:cNvSpPr>
              <p:nvPr/>
            </p:nvSpPr>
            <p:spPr bwMode="auto">
              <a:xfrm>
                <a:off x="5318" y="1060"/>
                <a:ext cx="9" cy="168"/>
              </a:xfrm>
              <a:custGeom>
                <a:avLst/>
                <a:gdLst>
                  <a:gd name="T0" fmla="*/ 0 w 26"/>
                  <a:gd name="T1" fmla="*/ 0 h 503"/>
                  <a:gd name="T2" fmla="*/ 0 w 26"/>
                  <a:gd name="T3" fmla="*/ 0 h 503"/>
                  <a:gd name="T4" fmla="*/ 0 w 26"/>
                  <a:gd name="T5" fmla="*/ 0 h 503"/>
                  <a:gd name="T6" fmla="*/ 0 w 26"/>
                  <a:gd name="T7" fmla="*/ 0 h 503"/>
                  <a:gd name="T8" fmla="*/ 0 w 26"/>
                  <a:gd name="T9" fmla="*/ 0 h 503"/>
                  <a:gd name="T10" fmla="*/ 0 w 26"/>
                  <a:gd name="T11" fmla="*/ 0 h 503"/>
                  <a:gd name="T12" fmla="*/ 0 w 26"/>
                  <a:gd name="T13" fmla="*/ 0 h 503"/>
                  <a:gd name="T14" fmla="*/ 0 w 26"/>
                  <a:gd name="T15" fmla="*/ 0 h 503"/>
                  <a:gd name="T16" fmla="*/ 0 w 26"/>
                  <a:gd name="T17" fmla="*/ 0 h 503"/>
                  <a:gd name="T18" fmla="*/ 0 w 26"/>
                  <a:gd name="T19" fmla="*/ 0 h 503"/>
                  <a:gd name="T20" fmla="*/ 0 w 26"/>
                  <a:gd name="T21" fmla="*/ 0 h 503"/>
                  <a:gd name="T22" fmla="*/ 0 w 26"/>
                  <a:gd name="T23" fmla="*/ 0 h 503"/>
                  <a:gd name="T24" fmla="*/ 0 w 26"/>
                  <a:gd name="T25" fmla="*/ 0 h 503"/>
                  <a:gd name="T26" fmla="*/ 0 w 26"/>
                  <a:gd name="T27" fmla="*/ 0 h 503"/>
                  <a:gd name="T28" fmla="*/ 0 w 26"/>
                  <a:gd name="T29" fmla="*/ 0 h 503"/>
                  <a:gd name="T30" fmla="*/ 0 w 26"/>
                  <a:gd name="T31" fmla="*/ 0 h 503"/>
                  <a:gd name="T32" fmla="*/ 0 w 26"/>
                  <a:gd name="T33" fmla="*/ 0 h 503"/>
                  <a:gd name="T34" fmla="*/ 0 w 26"/>
                  <a:gd name="T35" fmla="*/ 0 h 503"/>
                  <a:gd name="T36" fmla="*/ 0 w 26"/>
                  <a:gd name="T37" fmla="*/ 0 h 5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03">
                    <a:moveTo>
                      <a:pt x="0" y="482"/>
                    </a:moveTo>
                    <a:lnTo>
                      <a:pt x="0" y="21"/>
                    </a:lnTo>
                    <a:lnTo>
                      <a:pt x="3" y="18"/>
                    </a:lnTo>
                    <a:lnTo>
                      <a:pt x="6" y="16"/>
                    </a:lnTo>
                    <a:lnTo>
                      <a:pt x="9" y="13"/>
                    </a:lnTo>
                    <a:lnTo>
                      <a:pt x="12" y="11"/>
                    </a:lnTo>
                    <a:lnTo>
                      <a:pt x="16" y="7"/>
                    </a:lnTo>
                    <a:lnTo>
                      <a:pt x="20" y="5"/>
                    </a:lnTo>
                    <a:lnTo>
                      <a:pt x="23" y="2"/>
                    </a:lnTo>
                    <a:lnTo>
                      <a:pt x="26" y="0"/>
                    </a:lnTo>
                    <a:lnTo>
                      <a:pt x="26" y="503"/>
                    </a:lnTo>
                    <a:lnTo>
                      <a:pt x="23" y="500"/>
                    </a:lnTo>
                    <a:lnTo>
                      <a:pt x="20" y="498"/>
                    </a:lnTo>
                    <a:lnTo>
                      <a:pt x="16" y="495"/>
                    </a:lnTo>
                    <a:lnTo>
                      <a:pt x="12" y="492"/>
                    </a:lnTo>
                    <a:lnTo>
                      <a:pt x="9" y="490"/>
                    </a:lnTo>
                    <a:lnTo>
                      <a:pt x="6" y="487"/>
                    </a:lnTo>
                    <a:lnTo>
                      <a:pt x="3" y="484"/>
                    </a:lnTo>
                    <a:lnTo>
                      <a:pt x="0" y="48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25" name="Freeform 3821"/>
              <p:cNvSpPr>
                <a:spLocks noChangeAspect="1"/>
              </p:cNvSpPr>
              <p:nvPr/>
            </p:nvSpPr>
            <p:spPr bwMode="auto">
              <a:xfrm>
                <a:off x="5322" y="1057"/>
                <a:ext cx="9" cy="174"/>
              </a:xfrm>
              <a:custGeom>
                <a:avLst/>
                <a:gdLst>
                  <a:gd name="T0" fmla="*/ 0 w 27"/>
                  <a:gd name="T1" fmla="*/ 0 h 520"/>
                  <a:gd name="T2" fmla="*/ 0 w 27"/>
                  <a:gd name="T3" fmla="*/ 0 h 520"/>
                  <a:gd name="T4" fmla="*/ 0 w 27"/>
                  <a:gd name="T5" fmla="*/ 0 h 520"/>
                  <a:gd name="T6" fmla="*/ 0 w 27"/>
                  <a:gd name="T7" fmla="*/ 0 h 520"/>
                  <a:gd name="T8" fmla="*/ 0 w 27"/>
                  <a:gd name="T9" fmla="*/ 0 h 520"/>
                  <a:gd name="T10" fmla="*/ 0 w 27"/>
                  <a:gd name="T11" fmla="*/ 0 h 520"/>
                  <a:gd name="T12" fmla="*/ 0 w 27"/>
                  <a:gd name="T13" fmla="*/ 0 h 520"/>
                  <a:gd name="T14" fmla="*/ 0 w 27"/>
                  <a:gd name="T15" fmla="*/ 0 h 520"/>
                  <a:gd name="T16" fmla="*/ 0 w 27"/>
                  <a:gd name="T17" fmla="*/ 0 h 520"/>
                  <a:gd name="T18" fmla="*/ 0 w 27"/>
                  <a:gd name="T19" fmla="*/ 0 h 520"/>
                  <a:gd name="T20" fmla="*/ 0 w 27"/>
                  <a:gd name="T21" fmla="*/ 0 h 520"/>
                  <a:gd name="T22" fmla="*/ 0 w 27"/>
                  <a:gd name="T23" fmla="*/ 0 h 520"/>
                  <a:gd name="T24" fmla="*/ 0 w 27"/>
                  <a:gd name="T25" fmla="*/ 0 h 520"/>
                  <a:gd name="T26" fmla="*/ 0 w 27"/>
                  <a:gd name="T27" fmla="*/ 0 h 520"/>
                  <a:gd name="T28" fmla="*/ 0 w 27"/>
                  <a:gd name="T29" fmla="*/ 0 h 520"/>
                  <a:gd name="T30" fmla="*/ 0 w 27"/>
                  <a:gd name="T31" fmla="*/ 0 h 520"/>
                  <a:gd name="T32" fmla="*/ 0 w 27"/>
                  <a:gd name="T33" fmla="*/ 0 h 520"/>
                  <a:gd name="T34" fmla="*/ 0 w 27"/>
                  <a:gd name="T35" fmla="*/ 0 h 520"/>
                  <a:gd name="T36" fmla="*/ 0 w 27"/>
                  <a:gd name="T37" fmla="*/ 0 h 5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20">
                    <a:moveTo>
                      <a:pt x="0" y="501"/>
                    </a:moveTo>
                    <a:lnTo>
                      <a:pt x="0" y="20"/>
                    </a:lnTo>
                    <a:lnTo>
                      <a:pt x="4" y="16"/>
                    </a:lnTo>
                    <a:lnTo>
                      <a:pt x="7" y="14"/>
                    </a:lnTo>
                    <a:lnTo>
                      <a:pt x="10" y="12"/>
                    </a:lnTo>
                    <a:lnTo>
                      <a:pt x="13" y="9"/>
                    </a:lnTo>
                    <a:lnTo>
                      <a:pt x="16" y="7"/>
                    </a:lnTo>
                    <a:lnTo>
                      <a:pt x="20" y="5"/>
                    </a:lnTo>
                    <a:lnTo>
                      <a:pt x="23" y="3"/>
                    </a:lnTo>
                    <a:lnTo>
                      <a:pt x="27" y="0"/>
                    </a:lnTo>
                    <a:lnTo>
                      <a:pt x="27" y="520"/>
                    </a:lnTo>
                    <a:lnTo>
                      <a:pt x="23" y="518"/>
                    </a:lnTo>
                    <a:lnTo>
                      <a:pt x="20" y="516"/>
                    </a:lnTo>
                    <a:lnTo>
                      <a:pt x="16" y="514"/>
                    </a:lnTo>
                    <a:lnTo>
                      <a:pt x="13" y="511"/>
                    </a:lnTo>
                    <a:lnTo>
                      <a:pt x="10" y="509"/>
                    </a:lnTo>
                    <a:lnTo>
                      <a:pt x="7" y="507"/>
                    </a:lnTo>
                    <a:lnTo>
                      <a:pt x="4" y="504"/>
                    </a:lnTo>
                    <a:lnTo>
                      <a:pt x="0" y="50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26" name="Freeform 3822"/>
              <p:cNvSpPr>
                <a:spLocks noChangeAspect="1"/>
              </p:cNvSpPr>
              <p:nvPr/>
            </p:nvSpPr>
            <p:spPr bwMode="auto">
              <a:xfrm>
                <a:off x="5327" y="1055"/>
                <a:ext cx="9" cy="179"/>
              </a:xfrm>
              <a:custGeom>
                <a:avLst/>
                <a:gdLst>
                  <a:gd name="T0" fmla="*/ 0 w 27"/>
                  <a:gd name="T1" fmla="*/ 0 h 537"/>
                  <a:gd name="T2" fmla="*/ 0 w 27"/>
                  <a:gd name="T3" fmla="*/ 0 h 537"/>
                  <a:gd name="T4" fmla="*/ 0 w 27"/>
                  <a:gd name="T5" fmla="*/ 0 h 537"/>
                  <a:gd name="T6" fmla="*/ 0 w 27"/>
                  <a:gd name="T7" fmla="*/ 0 h 537"/>
                  <a:gd name="T8" fmla="*/ 0 w 27"/>
                  <a:gd name="T9" fmla="*/ 0 h 537"/>
                  <a:gd name="T10" fmla="*/ 0 w 27"/>
                  <a:gd name="T11" fmla="*/ 0 h 537"/>
                  <a:gd name="T12" fmla="*/ 0 w 27"/>
                  <a:gd name="T13" fmla="*/ 0 h 537"/>
                  <a:gd name="T14" fmla="*/ 0 w 27"/>
                  <a:gd name="T15" fmla="*/ 0 h 537"/>
                  <a:gd name="T16" fmla="*/ 0 w 27"/>
                  <a:gd name="T17" fmla="*/ 0 h 537"/>
                  <a:gd name="T18" fmla="*/ 0 w 27"/>
                  <a:gd name="T19" fmla="*/ 0 h 537"/>
                  <a:gd name="T20" fmla="*/ 0 w 27"/>
                  <a:gd name="T21" fmla="*/ 0 h 537"/>
                  <a:gd name="T22" fmla="*/ 0 w 27"/>
                  <a:gd name="T23" fmla="*/ 0 h 537"/>
                  <a:gd name="T24" fmla="*/ 0 w 27"/>
                  <a:gd name="T25" fmla="*/ 0 h 537"/>
                  <a:gd name="T26" fmla="*/ 0 w 27"/>
                  <a:gd name="T27" fmla="*/ 0 h 537"/>
                  <a:gd name="T28" fmla="*/ 0 w 27"/>
                  <a:gd name="T29" fmla="*/ 0 h 537"/>
                  <a:gd name="T30" fmla="*/ 0 w 27"/>
                  <a:gd name="T31" fmla="*/ 0 h 537"/>
                  <a:gd name="T32" fmla="*/ 0 w 27"/>
                  <a:gd name="T33" fmla="*/ 0 h 537"/>
                  <a:gd name="T34" fmla="*/ 0 w 27"/>
                  <a:gd name="T35" fmla="*/ 0 h 537"/>
                  <a:gd name="T36" fmla="*/ 0 w 27"/>
                  <a:gd name="T37" fmla="*/ 0 h 5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37">
                    <a:moveTo>
                      <a:pt x="0" y="520"/>
                    </a:moveTo>
                    <a:lnTo>
                      <a:pt x="0" y="17"/>
                    </a:lnTo>
                    <a:lnTo>
                      <a:pt x="3" y="15"/>
                    </a:lnTo>
                    <a:lnTo>
                      <a:pt x="7" y="13"/>
                    </a:lnTo>
                    <a:lnTo>
                      <a:pt x="10" y="11"/>
                    </a:lnTo>
                    <a:lnTo>
                      <a:pt x="13" y="8"/>
                    </a:lnTo>
                    <a:lnTo>
                      <a:pt x="16" y="6"/>
                    </a:lnTo>
                    <a:lnTo>
                      <a:pt x="20" y="4"/>
                    </a:lnTo>
                    <a:lnTo>
                      <a:pt x="24" y="2"/>
                    </a:lnTo>
                    <a:lnTo>
                      <a:pt x="27" y="0"/>
                    </a:lnTo>
                    <a:lnTo>
                      <a:pt x="27" y="537"/>
                    </a:lnTo>
                    <a:lnTo>
                      <a:pt x="24" y="535"/>
                    </a:lnTo>
                    <a:lnTo>
                      <a:pt x="20" y="533"/>
                    </a:lnTo>
                    <a:lnTo>
                      <a:pt x="16" y="530"/>
                    </a:lnTo>
                    <a:lnTo>
                      <a:pt x="13" y="528"/>
                    </a:lnTo>
                    <a:lnTo>
                      <a:pt x="10" y="526"/>
                    </a:lnTo>
                    <a:lnTo>
                      <a:pt x="7" y="524"/>
                    </a:lnTo>
                    <a:lnTo>
                      <a:pt x="3" y="522"/>
                    </a:lnTo>
                    <a:lnTo>
                      <a:pt x="0" y="5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27" name="Freeform 3823"/>
              <p:cNvSpPr>
                <a:spLocks noChangeAspect="1"/>
              </p:cNvSpPr>
              <p:nvPr/>
            </p:nvSpPr>
            <p:spPr bwMode="auto">
              <a:xfrm>
                <a:off x="5331" y="1052"/>
                <a:ext cx="9" cy="184"/>
              </a:xfrm>
              <a:custGeom>
                <a:avLst/>
                <a:gdLst>
                  <a:gd name="T0" fmla="*/ 0 w 27"/>
                  <a:gd name="T1" fmla="*/ 0 h 551"/>
                  <a:gd name="T2" fmla="*/ 0 w 27"/>
                  <a:gd name="T3" fmla="*/ 0 h 551"/>
                  <a:gd name="T4" fmla="*/ 0 w 27"/>
                  <a:gd name="T5" fmla="*/ 0 h 551"/>
                  <a:gd name="T6" fmla="*/ 0 w 27"/>
                  <a:gd name="T7" fmla="*/ 0 h 551"/>
                  <a:gd name="T8" fmla="*/ 0 w 27"/>
                  <a:gd name="T9" fmla="*/ 0 h 551"/>
                  <a:gd name="T10" fmla="*/ 0 w 27"/>
                  <a:gd name="T11" fmla="*/ 0 h 551"/>
                  <a:gd name="T12" fmla="*/ 0 w 27"/>
                  <a:gd name="T13" fmla="*/ 0 h 551"/>
                  <a:gd name="T14" fmla="*/ 0 w 27"/>
                  <a:gd name="T15" fmla="*/ 0 h 551"/>
                  <a:gd name="T16" fmla="*/ 0 w 27"/>
                  <a:gd name="T17" fmla="*/ 0 h 551"/>
                  <a:gd name="T18" fmla="*/ 0 w 27"/>
                  <a:gd name="T19" fmla="*/ 0 h 551"/>
                  <a:gd name="T20" fmla="*/ 0 w 27"/>
                  <a:gd name="T21" fmla="*/ 0 h 551"/>
                  <a:gd name="T22" fmla="*/ 0 w 27"/>
                  <a:gd name="T23" fmla="*/ 0 h 551"/>
                  <a:gd name="T24" fmla="*/ 0 w 27"/>
                  <a:gd name="T25" fmla="*/ 0 h 551"/>
                  <a:gd name="T26" fmla="*/ 0 w 27"/>
                  <a:gd name="T27" fmla="*/ 0 h 551"/>
                  <a:gd name="T28" fmla="*/ 0 w 27"/>
                  <a:gd name="T29" fmla="*/ 0 h 551"/>
                  <a:gd name="T30" fmla="*/ 0 w 27"/>
                  <a:gd name="T31" fmla="*/ 0 h 551"/>
                  <a:gd name="T32" fmla="*/ 0 w 27"/>
                  <a:gd name="T33" fmla="*/ 0 h 551"/>
                  <a:gd name="T34" fmla="*/ 0 w 27"/>
                  <a:gd name="T35" fmla="*/ 0 h 551"/>
                  <a:gd name="T36" fmla="*/ 0 w 27"/>
                  <a:gd name="T37" fmla="*/ 0 h 5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51">
                    <a:moveTo>
                      <a:pt x="0" y="535"/>
                    </a:moveTo>
                    <a:lnTo>
                      <a:pt x="0" y="15"/>
                    </a:lnTo>
                    <a:lnTo>
                      <a:pt x="3" y="13"/>
                    </a:lnTo>
                    <a:lnTo>
                      <a:pt x="6" y="11"/>
                    </a:lnTo>
                    <a:lnTo>
                      <a:pt x="10" y="9"/>
                    </a:lnTo>
                    <a:lnTo>
                      <a:pt x="13" y="7"/>
                    </a:lnTo>
                    <a:lnTo>
                      <a:pt x="16" y="5"/>
                    </a:lnTo>
                    <a:lnTo>
                      <a:pt x="19" y="4"/>
                    </a:lnTo>
                    <a:lnTo>
                      <a:pt x="22" y="2"/>
                    </a:lnTo>
                    <a:lnTo>
                      <a:pt x="27" y="0"/>
                    </a:lnTo>
                    <a:lnTo>
                      <a:pt x="27" y="551"/>
                    </a:lnTo>
                    <a:lnTo>
                      <a:pt x="22" y="549"/>
                    </a:lnTo>
                    <a:lnTo>
                      <a:pt x="19" y="547"/>
                    </a:lnTo>
                    <a:lnTo>
                      <a:pt x="16" y="545"/>
                    </a:lnTo>
                    <a:lnTo>
                      <a:pt x="13" y="544"/>
                    </a:lnTo>
                    <a:lnTo>
                      <a:pt x="10" y="542"/>
                    </a:lnTo>
                    <a:lnTo>
                      <a:pt x="6" y="540"/>
                    </a:lnTo>
                    <a:lnTo>
                      <a:pt x="3" y="537"/>
                    </a:lnTo>
                    <a:lnTo>
                      <a:pt x="0" y="53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28" name="Freeform 3824"/>
              <p:cNvSpPr>
                <a:spLocks noChangeAspect="1"/>
              </p:cNvSpPr>
              <p:nvPr/>
            </p:nvSpPr>
            <p:spPr bwMode="auto">
              <a:xfrm>
                <a:off x="5336" y="1050"/>
                <a:ext cx="8" cy="188"/>
              </a:xfrm>
              <a:custGeom>
                <a:avLst/>
                <a:gdLst>
                  <a:gd name="T0" fmla="*/ 0 w 26"/>
                  <a:gd name="T1" fmla="*/ 0 h 565"/>
                  <a:gd name="T2" fmla="*/ 0 w 26"/>
                  <a:gd name="T3" fmla="*/ 0 h 565"/>
                  <a:gd name="T4" fmla="*/ 0 w 26"/>
                  <a:gd name="T5" fmla="*/ 0 h 565"/>
                  <a:gd name="T6" fmla="*/ 0 w 26"/>
                  <a:gd name="T7" fmla="*/ 0 h 565"/>
                  <a:gd name="T8" fmla="*/ 0 w 26"/>
                  <a:gd name="T9" fmla="*/ 0 h 565"/>
                  <a:gd name="T10" fmla="*/ 0 w 26"/>
                  <a:gd name="T11" fmla="*/ 0 h 565"/>
                  <a:gd name="T12" fmla="*/ 0 w 26"/>
                  <a:gd name="T13" fmla="*/ 0 h 565"/>
                  <a:gd name="T14" fmla="*/ 0 w 26"/>
                  <a:gd name="T15" fmla="*/ 0 h 565"/>
                  <a:gd name="T16" fmla="*/ 0 w 26"/>
                  <a:gd name="T17" fmla="*/ 0 h 565"/>
                  <a:gd name="T18" fmla="*/ 0 w 26"/>
                  <a:gd name="T19" fmla="*/ 0 h 565"/>
                  <a:gd name="T20" fmla="*/ 0 w 26"/>
                  <a:gd name="T21" fmla="*/ 0 h 565"/>
                  <a:gd name="T22" fmla="*/ 0 w 26"/>
                  <a:gd name="T23" fmla="*/ 0 h 565"/>
                  <a:gd name="T24" fmla="*/ 0 w 26"/>
                  <a:gd name="T25" fmla="*/ 0 h 565"/>
                  <a:gd name="T26" fmla="*/ 0 w 26"/>
                  <a:gd name="T27" fmla="*/ 0 h 565"/>
                  <a:gd name="T28" fmla="*/ 0 w 26"/>
                  <a:gd name="T29" fmla="*/ 0 h 565"/>
                  <a:gd name="T30" fmla="*/ 0 w 26"/>
                  <a:gd name="T31" fmla="*/ 0 h 565"/>
                  <a:gd name="T32" fmla="*/ 0 w 26"/>
                  <a:gd name="T33" fmla="*/ 0 h 565"/>
                  <a:gd name="T34" fmla="*/ 0 w 26"/>
                  <a:gd name="T35" fmla="*/ 0 h 565"/>
                  <a:gd name="T36" fmla="*/ 0 w 26"/>
                  <a:gd name="T37" fmla="*/ 0 h 5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65">
                    <a:moveTo>
                      <a:pt x="0" y="551"/>
                    </a:moveTo>
                    <a:lnTo>
                      <a:pt x="0" y="14"/>
                    </a:lnTo>
                    <a:lnTo>
                      <a:pt x="3" y="12"/>
                    </a:lnTo>
                    <a:lnTo>
                      <a:pt x="6" y="11"/>
                    </a:lnTo>
                    <a:lnTo>
                      <a:pt x="9" y="9"/>
                    </a:lnTo>
                    <a:lnTo>
                      <a:pt x="13" y="7"/>
                    </a:lnTo>
                    <a:lnTo>
                      <a:pt x="16" y="5"/>
                    </a:lnTo>
                    <a:lnTo>
                      <a:pt x="20" y="3"/>
                    </a:lnTo>
                    <a:lnTo>
                      <a:pt x="23" y="2"/>
                    </a:lnTo>
                    <a:lnTo>
                      <a:pt x="26" y="0"/>
                    </a:lnTo>
                    <a:lnTo>
                      <a:pt x="26" y="565"/>
                    </a:lnTo>
                    <a:lnTo>
                      <a:pt x="23" y="563"/>
                    </a:lnTo>
                    <a:lnTo>
                      <a:pt x="20" y="561"/>
                    </a:lnTo>
                    <a:lnTo>
                      <a:pt x="16" y="559"/>
                    </a:lnTo>
                    <a:lnTo>
                      <a:pt x="13" y="558"/>
                    </a:lnTo>
                    <a:lnTo>
                      <a:pt x="9" y="556"/>
                    </a:lnTo>
                    <a:lnTo>
                      <a:pt x="6" y="554"/>
                    </a:lnTo>
                    <a:lnTo>
                      <a:pt x="3" y="553"/>
                    </a:lnTo>
                    <a:lnTo>
                      <a:pt x="0" y="55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29" name="Freeform 3825"/>
              <p:cNvSpPr>
                <a:spLocks noChangeAspect="1"/>
              </p:cNvSpPr>
              <p:nvPr/>
            </p:nvSpPr>
            <p:spPr bwMode="auto">
              <a:xfrm>
                <a:off x="5340" y="1048"/>
                <a:ext cx="9" cy="192"/>
              </a:xfrm>
              <a:custGeom>
                <a:avLst/>
                <a:gdLst>
                  <a:gd name="T0" fmla="*/ 0 w 25"/>
                  <a:gd name="T1" fmla="*/ 0 h 576"/>
                  <a:gd name="T2" fmla="*/ 0 w 25"/>
                  <a:gd name="T3" fmla="*/ 0 h 576"/>
                  <a:gd name="T4" fmla="*/ 0 w 25"/>
                  <a:gd name="T5" fmla="*/ 0 h 576"/>
                  <a:gd name="T6" fmla="*/ 0 w 25"/>
                  <a:gd name="T7" fmla="*/ 0 h 576"/>
                  <a:gd name="T8" fmla="*/ 0 w 25"/>
                  <a:gd name="T9" fmla="*/ 0 h 576"/>
                  <a:gd name="T10" fmla="*/ 0 w 25"/>
                  <a:gd name="T11" fmla="*/ 0 h 576"/>
                  <a:gd name="T12" fmla="*/ 0 w 25"/>
                  <a:gd name="T13" fmla="*/ 0 h 576"/>
                  <a:gd name="T14" fmla="*/ 0 w 25"/>
                  <a:gd name="T15" fmla="*/ 0 h 576"/>
                  <a:gd name="T16" fmla="*/ 0 w 25"/>
                  <a:gd name="T17" fmla="*/ 0 h 576"/>
                  <a:gd name="T18" fmla="*/ 0 w 25"/>
                  <a:gd name="T19" fmla="*/ 0 h 576"/>
                  <a:gd name="T20" fmla="*/ 0 w 25"/>
                  <a:gd name="T21" fmla="*/ 0 h 576"/>
                  <a:gd name="T22" fmla="*/ 0 w 25"/>
                  <a:gd name="T23" fmla="*/ 0 h 576"/>
                  <a:gd name="T24" fmla="*/ 0 w 25"/>
                  <a:gd name="T25" fmla="*/ 0 h 576"/>
                  <a:gd name="T26" fmla="*/ 0 w 25"/>
                  <a:gd name="T27" fmla="*/ 0 h 576"/>
                  <a:gd name="T28" fmla="*/ 0 w 25"/>
                  <a:gd name="T29" fmla="*/ 0 h 576"/>
                  <a:gd name="T30" fmla="*/ 0 w 25"/>
                  <a:gd name="T31" fmla="*/ 0 h 576"/>
                  <a:gd name="T32" fmla="*/ 0 w 25"/>
                  <a:gd name="T33" fmla="*/ 0 h 576"/>
                  <a:gd name="T34" fmla="*/ 0 w 25"/>
                  <a:gd name="T35" fmla="*/ 0 h 576"/>
                  <a:gd name="T36" fmla="*/ 0 w 25"/>
                  <a:gd name="T37" fmla="*/ 0 h 5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5" h="576">
                    <a:moveTo>
                      <a:pt x="0" y="564"/>
                    </a:moveTo>
                    <a:lnTo>
                      <a:pt x="0" y="13"/>
                    </a:lnTo>
                    <a:lnTo>
                      <a:pt x="3" y="11"/>
                    </a:lnTo>
                    <a:lnTo>
                      <a:pt x="6" y="9"/>
                    </a:lnTo>
                    <a:lnTo>
                      <a:pt x="9" y="8"/>
                    </a:lnTo>
                    <a:lnTo>
                      <a:pt x="12" y="6"/>
                    </a:lnTo>
                    <a:lnTo>
                      <a:pt x="16" y="5"/>
                    </a:lnTo>
                    <a:lnTo>
                      <a:pt x="19" y="3"/>
                    </a:lnTo>
                    <a:lnTo>
                      <a:pt x="22" y="2"/>
                    </a:lnTo>
                    <a:lnTo>
                      <a:pt x="25" y="0"/>
                    </a:lnTo>
                    <a:lnTo>
                      <a:pt x="25" y="576"/>
                    </a:lnTo>
                    <a:lnTo>
                      <a:pt x="22" y="575"/>
                    </a:lnTo>
                    <a:lnTo>
                      <a:pt x="19" y="574"/>
                    </a:lnTo>
                    <a:lnTo>
                      <a:pt x="16" y="572"/>
                    </a:lnTo>
                    <a:lnTo>
                      <a:pt x="12" y="571"/>
                    </a:lnTo>
                    <a:lnTo>
                      <a:pt x="9" y="569"/>
                    </a:lnTo>
                    <a:lnTo>
                      <a:pt x="6" y="567"/>
                    </a:lnTo>
                    <a:lnTo>
                      <a:pt x="3" y="565"/>
                    </a:lnTo>
                    <a:lnTo>
                      <a:pt x="0" y="56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30" name="Freeform 3826"/>
              <p:cNvSpPr>
                <a:spLocks noChangeAspect="1"/>
              </p:cNvSpPr>
              <p:nvPr/>
            </p:nvSpPr>
            <p:spPr bwMode="auto">
              <a:xfrm>
                <a:off x="5344" y="1046"/>
                <a:ext cx="9" cy="196"/>
              </a:xfrm>
              <a:custGeom>
                <a:avLst/>
                <a:gdLst>
                  <a:gd name="T0" fmla="*/ 0 w 27"/>
                  <a:gd name="T1" fmla="*/ 0 h 586"/>
                  <a:gd name="T2" fmla="*/ 0 w 27"/>
                  <a:gd name="T3" fmla="*/ 0 h 586"/>
                  <a:gd name="T4" fmla="*/ 0 w 27"/>
                  <a:gd name="T5" fmla="*/ 0 h 586"/>
                  <a:gd name="T6" fmla="*/ 0 w 27"/>
                  <a:gd name="T7" fmla="*/ 0 h 586"/>
                  <a:gd name="T8" fmla="*/ 0 w 27"/>
                  <a:gd name="T9" fmla="*/ 0 h 586"/>
                  <a:gd name="T10" fmla="*/ 0 w 27"/>
                  <a:gd name="T11" fmla="*/ 0 h 586"/>
                  <a:gd name="T12" fmla="*/ 0 w 27"/>
                  <a:gd name="T13" fmla="*/ 0 h 586"/>
                  <a:gd name="T14" fmla="*/ 0 w 27"/>
                  <a:gd name="T15" fmla="*/ 0 h 586"/>
                  <a:gd name="T16" fmla="*/ 0 w 27"/>
                  <a:gd name="T17" fmla="*/ 0 h 586"/>
                  <a:gd name="T18" fmla="*/ 0 w 27"/>
                  <a:gd name="T19" fmla="*/ 0 h 586"/>
                  <a:gd name="T20" fmla="*/ 0 w 27"/>
                  <a:gd name="T21" fmla="*/ 0 h 586"/>
                  <a:gd name="T22" fmla="*/ 0 w 27"/>
                  <a:gd name="T23" fmla="*/ 0 h 586"/>
                  <a:gd name="T24" fmla="*/ 0 w 27"/>
                  <a:gd name="T25" fmla="*/ 0 h 586"/>
                  <a:gd name="T26" fmla="*/ 0 w 27"/>
                  <a:gd name="T27" fmla="*/ 0 h 586"/>
                  <a:gd name="T28" fmla="*/ 0 w 27"/>
                  <a:gd name="T29" fmla="*/ 0 h 586"/>
                  <a:gd name="T30" fmla="*/ 0 w 27"/>
                  <a:gd name="T31" fmla="*/ 0 h 586"/>
                  <a:gd name="T32" fmla="*/ 0 w 27"/>
                  <a:gd name="T33" fmla="*/ 0 h 586"/>
                  <a:gd name="T34" fmla="*/ 0 w 27"/>
                  <a:gd name="T35" fmla="*/ 0 h 586"/>
                  <a:gd name="T36" fmla="*/ 0 w 27"/>
                  <a:gd name="T37" fmla="*/ 0 h 58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86">
                    <a:moveTo>
                      <a:pt x="0" y="576"/>
                    </a:moveTo>
                    <a:lnTo>
                      <a:pt x="0" y="11"/>
                    </a:lnTo>
                    <a:lnTo>
                      <a:pt x="4" y="10"/>
                    </a:lnTo>
                    <a:lnTo>
                      <a:pt x="7" y="8"/>
                    </a:lnTo>
                    <a:lnTo>
                      <a:pt x="10" y="7"/>
                    </a:lnTo>
                    <a:lnTo>
                      <a:pt x="13" y="6"/>
                    </a:lnTo>
                    <a:lnTo>
                      <a:pt x="16" y="4"/>
                    </a:lnTo>
                    <a:lnTo>
                      <a:pt x="21" y="3"/>
                    </a:lnTo>
                    <a:lnTo>
                      <a:pt x="24" y="2"/>
                    </a:lnTo>
                    <a:lnTo>
                      <a:pt x="27" y="0"/>
                    </a:lnTo>
                    <a:lnTo>
                      <a:pt x="27" y="586"/>
                    </a:lnTo>
                    <a:lnTo>
                      <a:pt x="24" y="585"/>
                    </a:lnTo>
                    <a:lnTo>
                      <a:pt x="21" y="584"/>
                    </a:lnTo>
                    <a:lnTo>
                      <a:pt x="16" y="583"/>
                    </a:lnTo>
                    <a:lnTo>
                      <a:pt x="13" y="581"/>
                    </a:lnTo>
                    <a:lnTo>
                      <a:pt x="10" y="580"/>
                    </a:lnTo>
                    <a:lnTo>
                      <a:pt x="7" y="579"/>
                    </a:lnTo>
                    <a:lnTo>
                      <a:pt x="4" y="577"/>
                    </a:lnTo>
                    <a:lnTo>
                      <a:pt x="0" y="57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31" name="Freeform 3827"/>
              <p:cNvSpPr>
                <a:spLocks noChangeAspect="1"/>
              </p:cNvSpPr>
              <p:nvPr/>
            </p:nvSpPr>
            <p:spPr bwMode="auto">
              <a:xfrm>
                <a:off x="5349" y="1045"/>
                <a:ext cx="9" cy="198"/>
              </a:xfrm>
              <a:custGeom>
                <a:avLst/>
                <a:gdLst>
                  <a:gd name="T0" fmla="*/ 0 w 27"/>
                  <a:gd name="T1" fmla="*/ 0 h 596"/>
                  <a:gd name="T2" fmla="*/ 0 w 27"/>
                  <a:gd name="T3" fmla="*/ 0 h 596"/>
                  <a:gd name="T4" fmla="*/ 0 w 27"/>
                  <a:gd name="T5" fmla="*/ 0 h 596"/>
                  <a:gd name="T6" fmla="*/ 0 w 27"/>
                  <a:gd name="T7" fmla="*/ 0 h 596"/>
                  <a:gd name="T8" fmla="*/ 0 w 27"/>
                  <a:gd name="T9" fmla="*/ 0 h 596"/>
                  <a:gd name="T10" fmla="*/ 0 w 27"/>
                  <a:gd name="T11" fmla="*/ 0 h 596"/>
                  <a:gd name="T12" fmla="*/ 0 w 27"/>
                  <a:gd name="T13" fmla="*/ 0 h 596"/>
                  <a:gd name="T14" fmla="*/ 0 w 27"/>
                  <a:gd name="T15" fmla="*/ 0 h 596"/>
                  <a:gd name="T16" fmla="*/ 0 w 27"/>
                  <a:gd name="T17" fmla="*/ 0 h 596"/>
                  <a:gd name="T18" fmla="*/ 0 w 27"/>
                  <a:gd name="T19" fmla="*/ 0 h 596"/>
                  <a:gd name="T20" fmla="*/ 0 w 27"/>
                  <a:gd name="T21" fmla="*/ 0 h 596"/>
                  <a:gd name="T22" fmla="*/ 0 w 27"/>
                  <a:gd name="T23" fmla="*/ 0 h 596"/>
                  <a:gd name="T24" fmla="*/ 0 w 27"/>
                  <a:gd name="T25" fmla="*/ 0 h 596"/>
                  <a:gd name="T26" fmla="*/ 0 w 27"/>
                  <a:gd name="T27" fmla="*/ 0 h 596"/>
                  <a:gd name="T28" fmla="*/ 0 w 27"/>
                  <a:gd name="T29" fmla="*/ 0 h 596"/>
                  <a:gd name="T30" fmla="*/ 0 w 27"/>
                  <a:gd name="T31" fmla="*/ 0 h 596"/>
                  <a:gd name="T32" fmla="*/ 0 w 27"/>
                  <a:gd name="T33" fmla="*/ 0 h 596"/>
                  <a:gd name="T34" fmla="*/ 0 w 27"/>
                  <a:gd name="T35" fmla="*/ 0 h 596"/>
                  <a:gd name="T36" fmla="*/ 0 w 27"/>
                  <a:gd name="T37" fmla="*/ 0 h 59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96">
                    <a:moveTo>
                      <a:pt x="0" y="586"/>
                    </a:moveTo>
                    <a:lnTo>
                      <a:pt x="0" y="10"/>
                    </a:lnTo>
                    <a:lnTo>
                      <a:pt x="4" y="9"/>
                    </a:lnTo>
                    <a:lnTo>
                      <a:pt x="8" y="8"/>
                    </a:lnTo>
                    <a:lnTo>
                      <a:pt x="11" y="7"/>
                    </a:lnTo>
                    <a:lnTo>
                      <a:pt x="14" y="5"/>
                    </a:lnTo>
                    <a:lnTo>
                      <a:pt x="17" y="4"/>
                    </a:lnTo>
                    <a:lnTo>
                      <a:pt x="20" y="2"/>
                    </a:lnTo>
                    <a:lnTo>
                      <a:pt x="24" y="1"/>
                    </a:lnTo>
                    <a:lnTo>
                      <a:pt x="27" y="0"/>
                    </a:lnTo>
                    <a:lnTo>
                      <a:pt x="27" y="596"/>
                    </a:lnTo>
                    <a:lnTo>
                      <a:pt x="24" y="594"/>
                    </a:lnTo>
                    <a:lnTo>
                      <a:pt x="20" y="593"/>
                    </a:lnTo>
                    <a:lnTo>
                      <a:pt x="17" y="592"/>
                    </a:lnTo>
                    <a:lnTo>
                      <a:pt x="14" y="591"/>
                    </a:lnTo>
                    <a:lnTo>
                      <a:pt x="11" y="590"/>
                    </a:lnTo>
                    <a:lnTo>
                      <a:pt x="8" y="589"/>
                    </a:lnTo>
                    <a:lnTo>
                      <a:pt x="4" y="588"/>
                    </a:lnTo>
                    <a:lnTo>
                      <a:pt x="0" y="58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32" name="Freeform 3828"/>
              <p:cNvSpPr>
                <a:spLocks noChangeAspect="1"/>
              </p:cNvSpPr>
              <p:nvPr/>
            </p:nvSpPr>
            <p:spPr bwMode="auto">
              <a:xfrm>
                <a:off x="5353" y="1044"/>
                <a:ext cx="9" cy="201"/>
              </a:xfrm>
              <a:custGeom>
                <a:avLst/>
                <a:gdLst>
                  <a:gd name="T0" fmla="*/ 0 w 27"/>
                  <a:gd name="T1" fmla="*/ 0 h 603"/>
                  <a:gd name="T2" fmla="*/ 0 w 27"/>
                  <a:gd name="T3" fmla="*/ 0 h 603"/>
                  <a:gd name="T4" fmla="*/ 0 w 27"/>
                  <a:gd name="T5" fmla="*/ 0 h 603"/>
                  <a:gd name="T6" fmla="*/ 0 w 27"/>
                  <a:gd name="T7" fmla="*/ 0 h 603"/>
                  <a:gd name="T8" fmla="*/ 0 w 27"/>
                  <a:gd name="T9" fmla="*/ 0 h 603"/>
                  <a:gd name="T10" fmla="*/ 0 w 27"/>
                  <a:gd name="T11" fmla="*/ 0 h 603"/>
                  <a:gd name="T12" fmla="*/ 0 w 27"/>
                  <a:gd name="T13" fmla="*/ 0 h 603"/>
                  <a:gd name="T14" fmla="*/ 0 w 27"/>
                  <a:gd name="T15" fmla="*/ 0 h 603"/>
                  <a:gd name="T16" fmla="*/ 0 w 27"/>
                  <a:gd name="T17" fmla="*/ 0 h 603"/>
                  <a:gd name="T18" fmla="*/ 0 w 27"/>
                  <a:gd name="T19" fmla="*/ 0 h 603"/>
                  <a:gd name="T20" fmla="*/ 0 w 27"/>
                  <a:gd name="T21" fmla="*/ 0 h 603"/>
                  <a:gd name="T22" fmla="*/ 0 w 27"/>
                  <a:gd name="T23" fmla="*/ 0 h 603"/>
                  <a:gd name="T24" fmla="*/ 0 w 27"/>
                  <a:gd name="T25" fmla="*/ 0 h 603"/>
                  <a:gd name="T26" fmla="*/ 0 w 27"/>
                  <a:gd name="T27" fmla="*/ 0 h 603"/>
                  <a:gd name="T28" fmla="*/ 0 w 27"/>
                  <a:gd name="T29" fmla="*/ 0 h 603"/>
                  <a:gd name="T30" fmla="*/ 0 w 27"/>
                  <a:gd name="T31" fmla="*/ 0 h 603"/>
                  <a:gd name="T32" fmla="*/ 0 w 27"/>
                  <a:gd name="T33" fmla="*/ 0 h 603"/>
                  <a:gd name="T34" fmla="*/ 0 w 27"/>
                  <a:gd name="T35" fmla="*/ 0 h 603"/>
                  <a:gd name="T36" fmla="*/ 0 w 27"/>
                  <a:gd name="T37" fmla="*/ 0 h 6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03">
                    <a:moveTo>
                      <a:pt x="0" y="594"/>
                    </a:moveTo>
                    <a:lnTo>
                      <a:pt x="0" y="8"/>
                    </a:lnTo>
                    <a:lnTo>
                      <a:pt x="3" y="7"/>
                    </a:lnTo>
                    <a:lnTo>
                      <a:pt x="6" y="5"/>
                    </a:lnTo>
                    <a:lnTo>
                      <a:pt x="10" y="4"/>
                    </a:lnTo>
                    <a:lnTo>
                      <a:pt x="13" y="3"/>
                    </a:lnTo>
                    <a:lnTo>
                      <a:pt x="16" y="2"/>
                    </a:lnTo>
                    <a:lnTo>
                      <a:pt x="20" y="1"/>
                    </a:lnTo>
                    <a:lnTo>
                      <a:pt x="23" y="0"/>
                    </a:lnTo>
                    <a:lnTo>
                      <a:pt x="27" y="0"/>
                    </a:lnTo>
                    <a:lnTo>
                      <a:pt x="27" y="603"/>
                    </a:lnTo>
                    <a:lnTo>
                      <a:pt x="23" y="602"/>
                    </a:lnTo>
                    <a:lnTo>
                      <a:pt x="20" y="601"/>
                    </a:lnTo>
                    <a:lnTo>
                      <a:pt x="16" y="600"/>
                    </a:lnTo>
                    <a:lnTo>
                      <a:pt x="13" y="599"/>
                    </a:lnTo>
                    <a:lnTo>
                      <a:pt x="10" y="597"/>
                    </a:lnTo>
                    <a:lnTo>
                      <a:pt x="6" y="596"/>
                    </a:lnTo>
                    <a:lnTo>
                      <a:pt x="3" y="595"/>
                    </a:lnTo>
                    <a:lnTo>
                      <a:pt x="0" y="59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33" name="Freeform 3829"/>
              <p:cNvSpPr>
                <a:spLocks noChangeAspect="1"/>
              </p:cNvSpPr>
              <p:nvPr/>
            </p:nvSpPr>
            <p:spPr bwMode="auto">
              <a:xfrm>
                <a:off x="5358" y="1042"/>
                <a:ext cx="8" cy="204"/>
              </a:xfrm>
              <a:custGeom>
                <a:avLst/>
                <a:gdLst>
                  <a:gd name="T0" fmla="*/ 0 w 26"/>
                  <a:gd name="T1" fmla="*/ 0 h 610"/>
                  <a:gd name="T2" fmla="*/ 0 w 26"/>
                  <a:gd name="T3" fmla="*/ 0 h 610"/>
                  <a:gd name="T4" fmla="*/ 0 w 26"/>
                  <a:gd name="T5" fmla="*/ 0 h 610"/>
                  <a:gd name="T6" fmla="*/ 0 w 26"/>
                  <a:gd name="T7" fmla="*/ 0 h 610"/>
                  <a:gd name="T8" fmla="*/ 0 w 26"/>
                  <a:gd name="T9" fmla="*/ 0 h 610"/>
                  <a:gd name="T10" fmla="*/ 0 w 26"/>
                  <a:gd name="T11" fmla="*/ 0 h 610"/>
                  <a:gd name="T12" fmla="*/ 0 w 26"/>
                  <a:gd name="T13" fmla="*/ 0 h 610"/>
                  <a:gd name="T14" fmla="*/ 0 w 26"/>
                  <a:gd name="T15" fmla="*/ 0 h 610"/>
                  <a:gd name="T16" fmla="*/ 0 w 26"/>
                  <a:gd name="T17" fmla="*/ 0 h 610"/>
                  <a:gd name="T18" fmla="*/ 0 w 26"/>
                  <a:gd name="T19" fmla="*/ 0 h 610"/>
                  <a:gd name="T20" fmla="*/ 0 w 26"/>
                  <a:gd name="T21" fmla="*/ 0 h 610"/>
                  <a:gd name="T22" fmla="*/ 0 w 26"/>
                  <a:gd name="T23" fmla="*/ 0 h 610"/>
                  <a:gd name="T24" fmla="*/ 0 w 26"/>
                  <a:gd name="T25" fmla="*/ 0 h 610"/>
                  <a:gd name="T26" fmla="*/ 0 w 26"/>
                  <a:gd name="T27" fmla="*/ 0 h 610"/>
                  <a:gd name="T28" fmla="*/ 0 w 26"/>
                  <a:gd name="T29" fmla="*/ 0 h 610"/>
                  <a:gd name="T30" fmla="*/ 0 w 26"/>
                  <a:gd name="T31" fmla="*/ 0 h 610"/>
                  <a:gd name="T32" fmla="*/ 0 w 26"/>
                  <a:gd name="T33" fmla="*/ 0 h 610"/>
                  <a:gd name="T34" fmla="*/ 0 w 26"/>
                  <a:gd name="T35" fmla="*/ 0 h 610"/>
                  <a:gd name="T36" fmla="*/ 0 w 26"/>
                  <a:gd name="T37" fmla="*/ 0 h 6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10">
                    <a:moveTo>
                      <a:pt x="0" y="603"/>
                    </a:moveTo>
                    <a:lnTo>
                      <a:pt x="0" y="7"/>
                    </a:lnTo>
                    <a:lnTo>
                      <a:pt x="3" y="6"/>
                    </a:lnTo>
                    <a:lnTo>
                      <a:pt x="7" y="5"/>
                    </a:lnTo>
                    <a:lnTo>
                      <a:pt x="10" y="4"/>
                    </a:lnTo>
                    <a:lnTo>
                      <a:pt x="14" y="4"/>
                    </a:lnTo>
                    <a:lnTo>
                      <a:pt x="17" y="3"/>
                    </a:lnTo>
                    <a:lnTo>
                      <a:pt x="20" y="2"/>
                    </a:lnTo>
                    <a:lnTo>
                      <a:pt x="23" y="1"/>
                    </a:lnTo>
                    <a:lnTo>
                      <a:pt x="26" y="0"/>
                    </a:lnTo>
                    <a:lnTo>
                      <a:pt x="26" y="610"/>
                    </a:lnTo>
                    <a:lnTo>
                      <a:pt x="23" y="610"/>
                    </a:lnTo>
                    <a:lnTo>
                      <a:pt x="20" y="609"/>
                    </a:lnTo>
                    <a:lnTo>
                      <a:pt x="17" y="608"/>
                    </a:lnTo>
                    <a:lnTo>
                      <a:pt x="14" y="607"/>
                    </a:lnTo>
                    <a:lnTo>
                      <a:pt x="10" y="606"/>
                    </a:lnTo>
                    <a:lnTo>
                      <a:pt x="7" y="605"/>
                    </a:lnTo>
                    <a:lnTo>
                      <a:pt x="3" y="604"/>
                    </a:lnTo>
                    <a:lnTo>
                      <a:pt x="0" y="60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34" name="Freeform 3830"/>
              <p:cNvSpPr>
                <a:spLocks noChangeAspect="1"/>
              </p:cNvSpPr>
              <p:nvPr/>
            </p:nvSpPr>
            <p:spPr bwMode="auto">
              <a:xfrm>
                <a:off x="5362" y="1042"/>
                <a:ext cx="9" cy="205"/>
              </a:xfrm>
              <a:custGeom>
                <a:avLst/>
                <a:gdLst>
                  <a:gd name="T0" fmla="*/ 0 w 26"/>
                  <a:gd name="T1" fmla="*/ 0 h 615"/>
                  <a:gd name="T2" fmla="*/ 0 w 26"/>
                  <a:gd name="T3" fmla="*/ 0 h 615"/>
                  <a:gd name="T4" fmla="*/ 0 w 26"/>
                  <a:gd name="T5" fmla="*/ 0 h 615"/>
                  <a:gd name="T6" fmla="*/ 0 w 26"/>
                  <a:gd name="T7" fmla="*/ 0 h 615"/>
                  <a:gd name="T8" fmla="*/ 0 w 26"/>
                  <a:gd name="T9" fmla="*/ 0 h 615"/>
                  <a:gd name="T10" fmla="*/ 0 w 26"/>
                  <a:gd name="T11" fmla="*/ 0 h 615"/>
                  <a:gd name="T12" fmla="*/ 0 w 26"/>
                  <a:gd name="T13" fmla="*/ 0 h 615"/>
                  <a:gd name="T14" fmla="*/ 0 w 26"/>
                  <a:gd name="T15" fmla="*/ 0 h 615"/>
                  <a:gd name="T16" fmla="*/ 0 w 26"/>
                  <a:gd name="T17" fmla="*/ 0 h 615"/>
                  <a:gd name="T18" fmla="*/ 0 w 26"/>
                  <a:gd name="T19" fmla="*/ 0 h 615"/>
                  <a:gd name="T20" fmla="*/ 0 w 26"/>
                  <a:gd name="T21" fmla="*/ 0 h 615"/>
                  <a:gd name="T22" fmla="*/ 0 w 26"/>
                  <a:gd name="T23" fmla="*/ 0 h 615"/>
                  <a:gd name="T24" fmla="*/ 0 w 26"/>
                  <a:gd name="T25" fmla="*/ 0 h 615"/>
                  <a:gd name="T26" fmla="*/ 0 w 26"/>
                  <a:gd name="T27" fmla="*/ 0 h 615"/>
                  <a:gd name="T28" fmla="*/ 0 w 26"/>
                  <a:gd name="T29" fmla="*/ 0 h 615"/>
                  <a:gd name="T30" fmla="*/ 0 w 26"/>
                  <a:gd name="T31" fmla="*/ 0 h 615"/>
                  <a:gd name="T32" fmla="*/ 0 w 26"/>
                  <a:gd name="T33" fmla="*/ 0 h 615"/>
                  <a:gd name="T34" fmla="*/ 0 w 26"/>
                  <a:gd name="T35" fmla="*/ 0 h 615"/>
                  <a:gd name="T36" fmla="*/ 0 w 26"/>
                  <a:gd name="T37" fmla="*/ 0 h 6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15">
                    <a:moveTo>
                      <a:pt x="0" y="609"/>
                    </a:moveTo>
                    <a:lnTo>
                      <a:pt x="0" y="6"/>
                    </a:lnTo>
                    <a:lnTo>
                      <a:pt x="3" y="5"/>
                    </a:lnTo>
                    <a:lnTo>
                      <a:pt x="6" y="4"/>
                    </a:lnTo>
                    <a:lnTo>
                      <a:pt x="9" y="3"/>
                    </a:lnTo>
                    <a:lnTo>
                      <a:pt x="12" y="2"/>
                    </a:lnTo>
                    <a:lnTo>
                      <a:pt x="16" y="2"/>
                    </a:lnTo>
                    <a:lnTo>
                      <a:pt x="20" y="1"/>
                    </a:lnTo>
                    <a:lnTo>
                      <a:pt x="23" y="0"/>
                    </a:lnTo>
                    <a:lnTo>
                      <a:pt x="26" y="0"/>
                    </a:lnTo>
                    <a:lnTo>
                      <a:pt x="26" y="615"/>
                    </a:lnTo>
                    <a:lnTo>
                      <a:pt x="23" y="614"/>
                    </a:lnTo>
                    <a:lnTo>
                      <a:pt x="20" y="614"/>
                    </a:lnTo>
                    <a:lnTo>
                      <a:pt x="16" y="613"/>
                    </a:lnTo>
                    <a:lnTo>
                      <a:pt x="12" y="612"/>
                    </a:lnTo>
                    <a:lnTo>
                      <a:pt x="9" y="612"/>
                    </a:lnTo>
                    <a:lnTo>
                      <a:pt x="6" y="611"/>
                    </a:lnTo>
                    <a:lnTo>
                      <a:pt x="3" y="610"/>
                    </a:lnTo>
                    <a:lnTo>
                      <a:pt x="0" y="60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35" name="Freeform 3831"/>
              <p:cNvSpPr>
                <a:spLocks noChangeAspect="1"/>
              </p:cNvSpPr>
              <p:nvPr/>
            </p:nvSpPr>
            <p:spPr bwMode="auto">
              <a:xfrm>
                <a:off x="5366" y="1041"/>
                <a:ext cx="9" cy="206"/>
              </a:xfrm>
              <a:custGeom>
                <a:avLst/>
                <a:gdLst>
                  <a:gd name="T0" fmla="*/ 0 w 27"/>
                  <a:gd name="T1" fmla="*/ 0 h 620"/>
                  <a:gd name="T2" fmla="*/ 0 w 27"/>
                  <a:gd name="T3" fmla="*/ 0 h 620"/>
                  <a:gd name="T4" fmla="*/ 0 w 27"/>
                  <a:gd name="T5" fmla="*/ 0 h 620"/>
                  <a:gd name="T6" fmla="*/ 0 w 27"/>
                  <a:gd name="T7" fmla="*/ 0 h 620"/>
                  <a:gd name="T8" fmla="*/ 0 w 27"/>
                  <a:gd name="T9" fmla="*/ 0 h 620"/>
                  <a:gd name="T10" fmla="*/ 0 w 27"/>
                  <a:gd name="T11" fmla="*/ 0 h 620"/>
                  <a:gd name="T12" fmla="*/ 0 w 27"/>
                  <a:gd name="T13" fmla="*/ 0 h 620"/>
                  <a:gd name="T14" fmla="*/ 0 w 27"/>
                  <a:gd name="T15" fmla="*/ 0 h 620"/>
                  <a:gd name="T16" fmla="*/ 0 w 27"/>
                  <a:gd name="T17" fmla="*/ 0 h 620"/>
                  <a:gd name="T18" fmla="*/ 0 w 27"/>
                  <a:gd name="T19" fmla="*/ 0 h 620"/>
                  <a:gd name="T20" fmla="*/ 0 w 27"/>
                  <a:gd name="T21" fmla="*/ 0 h 620"/>
                  <a:gd name="T22" fmla="*/ 0 w 27"/>
                  <a:gd name="T23" fmla="*/ 0 h 620"/>
                  <a:gd name="T24" fmla="*/ 0 w 27"/>
                  <a:gd name="T25" fmla="*/ 0 h 620"/>
                  <a:gd name="T26" fmla="*/ 0 w 27"/>
                  <a:gd name="T27" fmla="*/ 0 h 620"/>
                  <a:gd name="T28" fmla="*/ 0 w 27"/>
                  <a:gd name="T29" fmla="*/ 0 h 620"/>
                  <a:gd name="T30" fmla="*/ 0 w 27"/>
                  <a:gd name="T31" fmla="*/ 0 h 620"/>
                  <a:gd name="T32" fmla="*/ 0 w 27"/>
                  <a:gd name="T33" fmla="*/ 0 h 620"/>
                  <a:gd name="T34" fmla="*/ 0 w 27"/>
                  <a:gd name="T35" fmla="*/ 0 h 620"/>
                  <a:gd name="T36" fmla="*/ 0 w 27"/>
                  <a:gd name="T37" fmla="*/ 0 h 6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0">
                    <a:moveTo>
                      <a:pt x="0" y="615"/>
                    </a:moveTo>
                    <a:lnTo>
                      <a:pt x="0" y="5"/>
                    </a:lnTo>
                    <a:lnTo>
                      <a:pt x="4" y="5"/>
                    </a:lnTo>
                    <a:lnTo>
                      <a:pt x="8" y="4"/>
                    </a:lnTo>
                    <a:lnTo>
                      <a:pt x="11" y="3"/>
                    </a:lnTo>
                    <a:lnTo>
                      <a:pt x="14" y="3"/>
                    </a:lnTo>
                    <a:lnTo>
                      <a:pt x="17" y="2"/>
                    </a:lnTo>
                    <a:lnTo>
                      <a:pt x="21" y="2"/>
                    </a:lnTo>
                    <a:lnTo>
                      <a:pt x="24" y="0"/>
                    </a:lnTo>
                    <a:lnTo>
                      <a:pt x="27" y="0"/>
                    </a:lnTo>
                    <a:lnTo>
                      <a:pt x="27" y="620"/>
                    </a:lnTo>
                    <a:lnTo>
                      <a:pt x="24" y="620"/>
                    </a:lnTo>
                    <a:lnTo>
                      <a:pt x="21" y="619"/>
                    </a:lnTo>
                    <a:lnTo>
                      <a:pt x="17" y="619"/>
                    </a:lnTo>
                    <a:lnTo>
                      <a:pt x="14" y="618"/>
                    </a:lnTo>
                    <a:lnTo>
                      <a:pt x="11" y="617"/>
                    </a:lnTo>
                    <a:lnTo>
                      <a:pt x="8" y="617"/>
                    </a:lnTo>
                    <a:lnTo>
                      <a:pt x="4" y="616"/>
                    </a:lnTo>
                    <a:lnTo>
                      <a:pt x="0" y="6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36" name="Freeform 3832"/>
              <p:cNvSpPr>
                <a:spLocks noChangeAspect="1"/>
              </p:cNvSpPr>
              <p:nvPr/>
            </p:nvSpPr>
            <p:spPr bwMode="auto">
              <a:xfrm>
                <a:off x="5371" y="1040"/>
                <a:ext cx="9" cy="208"/>
              </a:xfrm>
              <a:custGeom>
                <a:avLst/>
                <a:gdLst>
                  <a:gd name="T0" fmla="*/ 0 w 27"/>
                  <a:gd name="T1" fmla="*/ 0 h 624"/>
                  <a:gd name="T2" fmla="*/ 0 w 27"/>
                  <a:gd name="T3" fmla="*/ 0 h 624"/>
                  <a:gd name="T4" fmla="*/ 0 w 27"/>
                  <a:gd name="T5" fmla="*/ 0 h 624"/>
                  <a:gd name="T6" fmla="*/ 0 w 27"/>
                  <a:gd name="T7" fmla="*/ 0 h 624"/>
                  <a:gd name="T8" fmla="*/ 0 w 27"/>
                  <a:gd name="T9" fmla="*/ 0 h 624"/>
                  <a:gd name="T10" fmla="*/ 0 w 27"/>
                  <a:gd name="T11" fmla="*/ 0 h 624"/>
                  <a:gd name="T12" fmla="*/ 0 w 27"/>
                  <a:gd name="T13" fmla="*/ 0 h 624"/>
                  <a:gd name="T14" fmla="*/ 0 w 27"/>
                  <a:gd name="T15" fmla="*/ 0 h 624"/>
                  <a:gd name="T16" fmla="*/ 0 w 27"/>
                  <a:gd name="T17" fmla="*/ 0 h 624"/>
                  <a:gd name="T18" fmla="*/ 0 w 27"/>
                  <a:gd name="T19" fmla="*/ 0 h 624"/>
                  <a:gd name="T20" fmla="*/ 0 w 27"/>
                  <a:gd name="T21" fmla="*/ 0 h 624"/>
                  <a:gd name="T22" fmla="*/ 0 w 27"/>
                  <a:gd name="T23" fmla="*/ 0 h 624"/>
                  <a:gd name="T24" fmla="*/ 0 w 27"/>
                  <a:gd name="T25" fmla="*/ 0 h 624"/>
                  <a:gd name="T26" fmla="*/ 0 w 27"/>
                  <a:gd name="T27" fmla="*/ 0 h 624"/>
                  <a:gd name="T28" fmla="*/ 0 w 27"/>
                  <a:gd name="T29" fmla="*/ 0 h 624"/>
                  <a:gd name="T30" fmla="*/ 0 w 27"/>
                  <a:gd name="T31" fmla="*/ 0 h 624"/>
                  <a:gd name="T32" fmla="*/ 0 w 27"/>
                  <a:gd name="T33" fmla="*/ 0 h 624"/>
                  <a:gd name="T34" fmla="*/ 0 w 27"/>
                  <a:gd name="T35" fmla="*/ 0 h 624"/>
                  <a:gd name="T36" fmla="*/ 0 w 27"/>
                  <a:gd name="T37" fmla="*/ 0 h 6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4">
                    <a:moveTo>
                      <a:pt x="0" y="620"/>
                    </a:moveTo>
                    <a:lnTo>
                      <a:pt x="0" y="5"/>
                    </a:lnTo>
                    <a:lnTo>
                      <a:pt x="3" y="4"/>
                    </a:lnTo>
                    <a:lnTo>
                      <a:pt x="7" y="4"/>
                    </a:lnTo>
                    <a:lnTo>
                      <a:pt x="10" y="2"/>
                    </a:lnTo>
                    <a:lnTo>
                      <a:pt x="13" y="2"/>
                    </a:lnTo>
                    <a:lnTo>
                      <a:pt x="16" y="1"/>
                    </a:lnTo>
                    <a:lnTo>
                      <a:pt x="19" y="1"/>
                    </a:lnTo>
                    <a:lnTo>
                      <a:pt x="24" y="0"/>
                    </a:lnTo>
                    <a:lnTo>
                      <a:pt x="27" y="0"/>
                    </a:lnTo>
                    <a:lnTo>
                      <a:pt x="27" y="624"/>
                    </a:lnTo>
                    <a:lnTo>
                      <a:pt x="24" y="624"/>
                    </a:lnTo>
                    <a:lnTo>
                      <a:pt x="19" y="623"/>
                    </a:lnTo>
                    <a:lnTo>
                      <a:pt x="16" y="623"/>
                    </a:lnTo>
                    <a:lnTo>
                      <a:pt x="13" y="622"/>
                    </a:lnTo>
                    <a:lnTo>
                      <a:pt x="10" y="622"/>
                    </a:lnTo>
                    <a:lnTo>
                      <a:pt x="7" y="621"/>
                    </a:lnTo>
                    <a:lnTo>
                      <a:pt x="3" y="621"/>
                    </a:lnTo>
                    <a:lnTo>
                      <a:pt x="0" y="6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37" name="Freeform 3833"/>
              <p:cNvSpPr>
                <a:spLocks noChangeAspect="1"/>
              </p:cNvSpPr>
              <p:nvPr/>
            </p:nvSpPr>
            <p:spPr bwMode="auto">
              <a:xfrm>
                <a:off x="5375" y="1040"/>
                <a:ext cx="9" cy="208"/>
              </a:xfrm>
              <a:custGeom>
                <a:avLst/>
                <a:gdLst>
                  <a:gd name="T0" fmla="*/ 0 w 27"/>
                  <a:gd name="T1" fmla="*/ 0 h 626"/>
                  <a:gd name="T2" fmla="*/ 0 w 27"/>
                  <a:gd name="T3" fmla="*/ 0 h 626"/>
                  <a:gd name="T4" fmla="*/ 0 w 27"/>
                  <a:gd name="T5" fmla="*/ 0 h 626"/>
                  <a:gd name="T6" fmla="*/ 0 w 27"/>
                  <a:gd name="T7" fmla="*/ 0 h 626"/>
                  <a:gd name="T8" fmla="*/ 0 w 27"/>
                  <a:gd name="T9" fmla="*/ 0 h 626"/>
                  <a:gd name="T10" fmla="*/ 0 w 27"/>
                  <a:gd name="T11" fmla="*/ 0 h 626"/>
                  <a:gd name="T12" fmla="*/ 0 w 27"/>
                  <a:gd name="T13" fmla="*/ 0 h 626"/>
                  <a:gd name="T14" fmla="*/ 0 w 27"/>
                  <a:gd name="T15" fmla="*/ 0 h 626"/>
                  <a:gd name="T16" fmla="*/ 0 w 27"/>
                  <a:gd name="T17" fmla="*/ 0 h 626"/>
                  <a:gd name="T18" fmla="*/ 0 w 27"/>
                  <a:gd name="T19" fmla="*/ 0 h 626"/>
                  <a:gd name="T20" fmla="*/ 0 w 27"/>
                  <a:gd name="T21" fmla="*/ 0 h 626"/>
                  <a:gd name="T22" fmla="*/ 0 w 27"/>
                  <a:gd name="T23" fmla="*/ 0 h 626"/>
                  <a:gd name="T24" fmla="*/ 0 w 27"/>
                  <a:gd name="T25" fmla="*/ 0 h 626"/>
                  <a:gd name="T26" fmla="*/ 0 w 27"/>
                  <a:gd name="T27" fmla="*/ 0 h 626"/>
                  <a:gd name="T28" fmla="*/ 0 w 27"/>
                  <a:gd name="T29" fmla="*/ 0 h 626"/>
                  <a:gd name="T30" fmla="*/ 0 w 27"/>
                  <a:gd name="T31" fmla="*/ 0 h 626"/>
                  <a:gd name="T32" fmla="*/ 0 w 27"/>
                  <a:gd name="T33" fmla="*/ 0 h 626"/>
                  <a:gd name="T34" fmla="*/ 0 w 27"/>
                  <a:gd name="T35" fmla="*/ 0 h 626"/>
                  <a:gd name="T36" fmla="*/ 0 w 27"/>
                  <a:gd name="T37" fmla="*/ 0 h 6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6">
                    <a:moveTo>
                      <a:pt x="0" y="623"/>
                    </a:moveTo>
                    <a:lnTo>
                      <a:pt x="0" y="3"/>
                    </a:lnTo>
                    <a:lnTo>
                      <a:pt x="3" y="2"/>
                    </a:lnTo>
                    <a:lnTo>
                      <a:pt x="6" y="2"/>
                    </a:lnTo>
                    <a:lnTo>
                      <a:pt x="11" y="1"/>
                    </a:lnTo>
                    <a:lnTo>
                      <a:pt x="14" y="1"/>
                    </a:lnTo>
                    <a:lnTo>
                      <a:pt x="17" y="1"/>
                    </a:lnTo>
                    <a:lnTo>
                      <a:pt x="20" y="0"/>
                    </a:lnTo>
                    <a:lnTo>
                      <a:pt x="23" y="0"/>
                    </a:lnTo>
                    <a:lnTo>
                      <a:pt x="27" y="0"/>
                    </a:lnTo>
                    <a:lnTo>
                      <a:pt x="27" y="626"/>
                    </a:lnTo>
                    <a:lnTo>
                      <a:pt x="23" y="626"/>
                    </a:lnTo>
                    <a:lnTo>
                      <a:pt x="20" y="626"/>
                    </a:lnTo>
                    <a:lnTo>
                      <a:pt x="17" y="625"/>
                    </a:lnTo>
                    <a:lnTo>
                      <a:pt x="14" y="625"/>
                    </a:lnTo>
                    <a:lnTo>
                      <a:pt x="11" y="625"/>
                    </a:lnTo>
                    <a:lnTo>
                      <a:pt x="6" y="624"/>
                    </a:lnTo>
                    <a:lnTo>
                      <a:pt x="3" y="624"/>
                    </a:lnTo>
                    <a:lnTo>
                      <a:pt x="0" y="62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38" name="Freeform 3834"/>
              <p:cNvSpPr>
                <a:spLocks noChangeAspect="1"/>
              </p:cNvSpPr>
              <p:nvPr/>
            </p:nvSpPr>
            <p:spPr bwMode="auto">
              <a:xfrm>
                <a:off x="5380" y="1039"/>
                <a:ext cx="9" cy="210"/>
              </a:xfrm>
              <a:custGeom>
                <a:avLst/>
                <a:gdLst>
                  <a:gd name="T0" fmla="*/ 0 w 26"/>
                  <a:gd name="T1" fmla="*/ 0 h 629"/>
                  <a:gd name="T2" fmla="*/ 0 w 26"/>
                  <a:gd name="T3" fmla="*/ 0 h 629"/>
                  <a:gd name="T4" fmla="*/ 0 w 26"/>
                  <a:gd name="T5" fmla="*/ 0 h 629"/>
                  <a:gd name="T6" fmla="*/ 0 w 26"/>
                  <a:gd name="T7" fmla="*/ 0 h 629"/>
                  <a:gd name="T8" fmla="*/ 0 w 26"/>
                  <a:gd name="T9" fmla="*/ 0 h 629"/>
                  <a:gd name="T10" fmla="*/ 0 w 26"/>
                  <a:gd name="T11" fmla="*/ 0 h 629"/>
                  <a:gd name="T12" fmla="*/ 0 w 26"/>
                  <a:gd name="T13" fmla="*/ 0 h 629"/>
                  <a:gd name="T14" fmla="*/ 0 w 26"/>
                  <a:gd name="T15" fmla="*/ 0 h 629"/>
                  <a:gd name="T16" fmla="*/ 0 w 26"/>
                  <a:gd name="T17" fmla="*/ 0 h 629"/>
                  <a:gd name="T18" fmla="*/ 0 w 26"/>
                  <a:gd name="T19" fmla="*/ 0 h 629"/>
                  <a:gd name="T20" fmla="*/ 0 w 26"/>
                  <a:gd name="T21" fmla="*/ 0 h 629"/>
                  <a:gd name="T22" fmla="*/ 0 w 26"/>
                  <a:gd name="T23" fmla="*/ 0 h 629"/>
                  <a:gd name="T24" fmla="*/ 0 w 26"/>
                  <a:gd name="T25" fmla="*/ 0 h 629"/>
                  <a:gd name="T26" fmla="*/ 0 w 26"/>
                  <a:gd name="T27" fmla="*/ 0 h 629"/>
                  <a:gd name="T28" fmla="*/ 0 w 26"/>
                  <a:gd name="T29" fmla="*/ 0 h 629"/>
                  <a:gd name="T30" fmla="*/ 0 w 26"/>
                  <a:gd name="T31" fmla="*/ 0 h 629"/>
                  <a:gd name="T32" fmla="*/ 0 w 26"/>
                  <a:gd name="T33" fmla="*/ 0 h 629"/>
                  <a:gd name="T34" fmla="*/ 0 w 26"/>
                  <a:gd name="T35" fmla="*/ 0 h 629"/>
                  <a:gd name="T36" fmla="*/ 0 w 26"/>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9">
                    <a:moveTo>
                      <a:pt x="0" y="626"/>
                    </a:moveTo>
                    <a:lnTo>
                      <a:pt x="0" y="2"/>
                    </a:lnTo>
                    <a:lnTo>
                      <a:pt x="3" y="2"/>
                    </a:lnTo>
                    <a:lnTo>
                      <a:pt x="6" y="1"/>
                    </a:lnTo>
                    <a:lnTo>
                      <a:pt x="9" y="1"/>
                    </a:lnTo>
                    <a:lnTo>
                      <a:pt x="13" y="1"/>
                    </a:lnTo>
                    <a:lnTo>
                      <a:pt x="16" y="0"/>
                    </a:lnTo>
                    <a:lnTo>
                      <a:pt x="19" y="0"/>
                    </a:lnTo>
                    <a:lnTo>
                      <a:pt x="23" y="0"/>
                    </a:lnTo>
                    <a:lnTo>
                      <a:pt x="26" y="0"/>
                    </a:lnTo>
                    <a:lnTo>
                      <a:pt x="26" y="629"/>
                    </a:lnTo>
                    <a:lnTo>
                      <a:pt x="23" y="629"/>
                    </a:lnTo>
                    <a:lnTo>
                      <a:pt x="19" y="629"/>
                    </a:lnTo>
                    <a:lnTo>
                      <a:pt x="16" y="627"/>
                    </a:lnTo>
                    <a:lnTo>
                      <a:pt x="13" y="627"/>
                    </a:lnTo>
                    <a:lnTo>
                      <a:pt x="9" y="627"/>
                    </a:lnTo>
                    <a:lnTo>
                      <a:pt x="6" y="627"/>
                    </a:lnTo>
                    <a:lnTo>
                      <a:pt x="3" y="626"/>
                    </a:lnTo>
                    <a:lnTo>
                      <a:pt x="0" y="6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39" name="Freeform 3835"/>
              <p:cNvSpPr>
                <a:spLocks noChangeAspect="1"/>
              </p:cNvSpPr>
              <p:nvPr/>
            </p:nvSpPr>
            <p:spPr bwMode="auto">
              <a:xfrm>
                <a:off x="5384" y="1039"/>
                <a:ext cx="9" cy="210"/>
              </a:xfrm>
              <a:custGeom>
                <a:avLst/>
                <a:gdLst>
                  <a:gd name="T0" fmla="*/ 0 w 26"/>
                  <a:gd name="T1" fmla="*/ 0 h 629"/>
                  <a:gd name="T2" fmla="*/ 0 w 26"/>
                  <a:gd name="T3" fmla="*/ 0 h 629"/>
                  <a:gd name="T4" fmla="*/ 0 w 26"/>
                  <a:gd name="T5" fmla="*/ 0 h 629"/>
                  <a:gd name="T6" fmla="*/ 0 w 26"/>
                  <a:gd name="T7" fmla="*/ 0 h 629"/>
                  <a:gd name="T8" fmla="*/ 0 w 26"/>
                  <a:gd name="T9" fmla="*/ 0 h 629"/>
                  <a:gd name="T10" fmla="*/ 0 w 26"/>
                  <a:gd name="T11" fmla="*/ 0 h 629"/>
                  <a:gd name="T12" fmla="*/ 0 w 26"/>
                  <a:gd name="T13" fmla="*/ 0 h 629"/>
                  <a:gd name="T14" fmla="*/ 0 w 26"/>
                  <a:gd name="T15" fmla="*/ 0 h 629"/>
                  <a:gd name="T16" fmla="*/ 0 w 26"/>
                  <a:gd name="T17" fmla="*/ 0 h 629"/>
                  <a:gd name="T18" fmla="*/ 0 w 26"/>
                  <a:gd name="T19" fmla="*/ 0 h 629"/>
                  <a:gd name="T20" fmla="*/ 0 w 26"/>
                  <a:gd name="T21" fmla="*/ 0 h 629"/>
                  <a:gd name="T22" fmla="*/ 0 w 26"/>
                  <a:gd name="T23" fmla="*/ 0 h 629"/>
                  <a:gd name="T24" fmla="*/ 0 w 26"/>
                  <a:gd name="T25" fmla="*/ 0 h 629"/>
                  <a:gd name="T26" fmla="*/ 0 w 26"/>
                  <a:gd name="T27" fmla="*/ 0 h 629"/>
                  <a:gd name="T28" fmla="*/ 0 w 26"/>
                  <a:gd name="T29" fmla="*/ 0 h 629"/>
                  <a:gd name="T30" fmla="*/ 0 w 26"/>
                  <a:gd name="T31" fmla="*/ 0 h 629"/>
                  <a:gd name="T32" fmla="*/ 0 w 26"/>
                  <a:gd name="T33" fmla="*/ 0 h 629"/>
                  <a:gd name="T34" fmla="*/ 0 w 26"/>
                  <a:gd name="T35" fmla="*/ 0 h 629"/>
                  <a:gd name="T36" fmla="*/ 0 w 26"/>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9">
                    <a:moveTo>
                      <a:pt x="0" y="627"/>
                    </a:moveTo>
                    <a:lnTo>
                      <a:pt x="0" y="1"/>
                    </a:lnTo>
                    <a:lnTo>
                      <a:pt x="3" y="0"/>
                    </a:lnTo>
                    <a:lnTo>
                      <a:pt x="6" y="0"/>
                    </a:lnTo>
                    <a:lnTo>
                      <a:pt x="10" y="0"/>
                    </a:lnTo>
                    <a:lnTo>
                      <a:pt x="13" y="0"/>
                    </a:lnTo>
                    <a:lnTo>
                      <a:pt x="17" y="0"/>
                    </a:lnTo>
                    <a:lnTo>
                      <a:pt x="20" y="0"/>
                    </a:lnTo>
                    <a:lnTo>
                      <a:pt x="23" y="0"/>
                    </a:lnTo>
                    <a:lnTo>
                      <a:pt x="26" y="0"/>
                    </a:lnTo>
                    <a:lnTo>
                      <a:pt x="26" y="629"/>
                    </a:lnTo>
                    <a:lnTo>
                      <a:pt x="23" y="629"/>
                    </a:lnTo>
                    <a:lnTo>
                      <a:pt x="20" y="629"/>
                    </a:lnTo>
                    <a:lnTo>
                      <a:pt x="17" y="629"/>
                    </a:lnTo>
                    <a:lnTo>
                      <a:pt x="13" y="629"/>
                    </a:lnTo>
                    <a:lnTo>
                      <a:pt x="10" y="629"/>
                    </a:lnTo>
                    <a:lnTo>
                      <a:pt x="6" y="629"/>
                    </a:lnTo>
                    <a:lnTo>
                      <a:pt x="3" y="627"/>
                    </a:lnTo>
                    <a:lnTo>
                      <a:pt x="0" y="62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40" name="Freeform 3836"/>
              <p:cNvSpPr>
                <a:spLocks noChangeAspect="1"/>
              </p:cNvSpPr>
              <p:nvPr/>
            </p:nvSpPr>
            <p:spPr bwMode="auto">
              <a:xfrm>
                <a:off x="5389" y="1039"/>
                <a:ext cx="9" cy="210"/>
              </a:xfrm>
              <a:custGeom>
                <a:avLst/>
                <a:gdLst>
                  <a:gd name="T0" fmla="*/ 0 w 27"/>
                  <a:gd name="T1" fmla="*/ 0 h 629"/>
                  <a:gd name="T2" fmla="*/ 0 w 27"/>
                  <a:gd name="T3" fmla="*/ 0 h 629"/>
                  <a:gd name="T4" fmla="*/ 0 w 27"/>
                  <a:gd name="T5" fmla="*/ 0 h 629"/>
                  <a:gd name="T6" fmla="*/ 0 w 27"/>
                  <a:gd name="T7" fmla="*/ 0 h 629"/>
                  <a:gd name="T8" fmla="*/ 0 w 27"/>
                  <a:gd name="T9" fmla="*/ 0 h 629"/>
                  <a:gd name="T10" fmla="*/ 0 w 27"/>
                  <a:gd name="T11" fmla="*/ 0 h 629"/>
                  <a:gd name="T12" fmla="*/ 0 w 27"/>
                  <a:gd name="T13" fmla="*/ 0 h 629"/>
                  <a:gd name="T14" fmla="*/ 0 w 27"/>
                  <a:gd name="T15" fmla="*/ 0 h 629"/>
                  <a:gd name="T16" fmla="*/ 0 w 27"/>
                  <a:gd name="T17" fmla="*/ 0 h 629"/>
                  <a:gd name="T18" fmla="*/ 0 w 27"/>
                  <a:gd name="T19" fmla="*/ 0 h 629"/>
                  <a:gd name="T20" fmla="*/ 0 w 27"/>
                  <a:gd name="T21" fmla="*/ 0 h 629"/>
                  <a:gd name="T22" fmla="*/ 0 w 27"/>
                  <a:gd name="T23" fmla="*/ 0 h 629"/>
                  <a:gd name="T24" fmla="*/ 0 w 27"/>
                  <a:gd name="T25" fmla="*/ 0 h 629"/>
                  <a:gd name="T26" fmla="*/ 0 w 27"/>
                  <a:gd name="T27" fmla="*/ 0 h 629"/>
                  <a:gd name="T28" fmla="*/ 0 w 27"/>
                  <a:gd name="T29" fmla="*/ 0 h 629"/>
                  <a:gd name="T30" fmla="*/ 0 w 27"/>
                  <a:gd name="T31" fmla="*/ 0 h 629"/>
                  <a:gd name="T32" fmla="*/ 0 w 27"/>
                  <a:gd name="T33" fmla="*/ 0 h 629"/>
                  <a:gd name="T34" fmla="*/ 0 w 27"/>
                  <a:gd name="T35" fmla="*/ 0 h 629"/>
                  <a:gd name="T36" fmla="*/ 0 w 27"/>
                  <a:gd name="T37" fmla="*/ 0 h 629"/>
                  <a:gd name="T38" fmla="*/ 0 w 27"/>
                  <a:gd name="T39" fmla="*/ 0 h 629"/>
                  <a:gd name="T40" fmla="*/ 0 w 27"/>
                  <a:gd name="T41" fmla="*/ 0 h 629"/>
                  <a:gd name="T42" fmla="*/ 0 w 27"/>
                  <a:gd name="T43" fmla="*/ 0 h 629"/>
                  <a:gd name="T44" fmla="*/ 0 w 27"/>
                  <a:gd name="T45" fmla="*/ 0 h 629"/>
                  <a:gd name="T46" fmla="*/ 0 w 27"/>
                  <a:gd name="T47" fmla="*/ 0 h 629"/>
                  <a:gd name="T48" fmla="*/ 0 w 27"/>
                  <a:gd name="T49" fmla="*/ 0 h 629"/>
                  <a:gd name="T50" fmla="*/ 0 w 27"/>
                  <a:gd name="T51" fmla="*/ 0 h 629"/>
                  <a:gd name="T52" fmla="*/ 0 w 27"/>
                  <a:gd name="T53" fmla="*/ 0 h 629"/>
                  <a:gd name="T54" fmla="*/ 0 w 27"/>
                  <a:gd name="T55" fmla="*/ 0 h 629"/>
                  <a:gd name="T56" fmla="*/ 0 w 27"/>
                  <a:gd name="T57" fmla="*/ 0 h 629"/>
                  <a:gd name="T58" fmla="*/ 0 w 27"/>
                  <a:gd name="T59" fmla="*/ 0 h 629"/>
                  <a:gd name="T60" fmla="*/ 0 w 27"/>
                  <a:gd name="T61" fmla="*/ 0 h 629"/>
                  <a:gd name="T62" fmla="*/ 0 w 27"/>
                  <a:gd name="T63" fmla="*/ 0 h 629"/>
                  <a:gd name="T64" fmla="*/ 0 w 27"/>
                  <a:gd name="T65" fmla="*/ 0 h 629"/>
                  <a:gd name="T66" fmla="*/ 0 w 27"/>
                  <a:gd name="T67" fmla="*/ 0 h 629"/>
                  <a:gd name="T68" fmla="*/ 0 w 27"/>
                  <a:gd name="T69" fmla="*/ 0 h 6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7" h="629">
                    <a:moveTo>
                      <a:pt x="0" y="629"/>
                    </a:moveTo>
                    <a:lnTo>
                      <a:pt x="0" y="0"/>
                    </a:lnTo>
                    <a:lnTo>
                      <a:pt x="2" y="0"/>
                    </a:lnTo>
                    <a:lnTo>
                      <a:pt x="4" y="0"/>
                    </a:lnTo>
                    <a:lnTo>
                      <a:pt x="5" y="0"/>
                    </a:lnTo>
                    <a:lnTo>
                      <a:pt x="7" y="0"/>
                    </a:lnTo>
                    <a:lnTo>
                      <a:pt x="9" y="0"/>
                    </a:lnTo>
                    <a:lnTo>
                      <a:pt x="10" y="0"/>
                    </a:lnTo>
                    <a:lnTo>
                      <a:pt x="12" y="0"/>
                    </a:lnTo>
                    <a:lnTo>
                      <a:pt x="13" y="0"/>
                    </a:lnTo>
                    <a:lnTo>
                      <a:pt x="15" y="0"/>
                    </a:lnTo>
                    <a:lnTo>
                      <a:pt x="16" y="0"/>
                    </a:lnTo>
                    <a:lnTo>
                      <a:pt x="19" y="0"/>
                    </a:lnTo>
                    <a:lnTo>
                      <a:pt x="20" y="0"/>
                    </a:lnTo>
                    <a:lnTo>
                      <a:pt x="22" y="0"/>
                    </a:lnTo>
                    <a:lnTo>
                      <a:pt x="24" y="0"/>
                    </a:lnTo>
                    <a:lnTo>
                      <a:pt x="25" y="0"/>
                    </a:lnTo>
                    <a:lnTo>
                      <a:pt x="27" y="0"/>
                    </a:lnTo>
                    <a:lnTo>
                      <a:pt x="27" y="629"/>
                    </a:lnTo>
                    <a:lnTo>
                      <a:pt x="25" y="629"/>
                    </a:lnTo>
                    <a:lnTo>
                      <a:pt x="24" y="629"/>
                    </a:lnTo>
                    <a:lnTo>
                      <a:pt x="22" y="629"/>
                    </a:lnTo>
                    <a:lnTo>
                      <a:pt x="20" y="629"/>
                    </a:lnTo>
                    <a:lnTo>
                      <a:pt x="19" y="629"/>
                    </a:lnTo>
                    <a:lnTo>
                      <a:pt x="16" y="629"/>
                    </a:lnTo>
                    <a:lnTo>
                      <a:pt x="15" y="629"/>
                    </a:lnTo>
                    <a:lnTo>
                      <a:pt x="13" y="629"/>
                    </a:lnTo>
                    <a:lnTo>
                      <a:pt x="12" y="629"/>
                    </a:lnTo>
                    <a:lnTo>
                      <a:pt x="10" y="629"/>
                    </a:lnTo>
                    <a:lnTo>
                      <a:pt x="9" y="629"/>
                    </a:lnTo>
                    <a:lnTo>
                      <a:pt x="7" y="629"/>
                    </a:lnTo>
                    <a:lnTo>
                      <a:pt x="5" y="629"/>
                    </a:lnTo>
                    <a:lnTo>
                      <a:pt x="4" y="629"/>
                    </a:lnTo>
                    <a:lnTo>
                      <a:pt x="2"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41" name="Freeform 3837"/>
              <p:cNvSpPr>
                <a:spLocks noChangeAspect="1"/>
              </p:cNvSpPr>
              <p:nvPr/>
            </p:nvSpPr>
            <p:spPr bwMode="auto">
              <a:xfrm>
                <a:off x="5393" y="1039"/>
                <a:ext cx="9" cy="210"/>
              </a:xfrm>
              <a:custGeom>
                <a:avLst/>
                <a:gdLst>
                  <a:gd name="T0" fmla="*/ 0 w 27"/>
                  <a:gd name="T1" fmla="*/ 0 h 629"/>
                  <a:gd name="T2" fmla="*/ 0 w 27"/>
                  <a:gd name="T3" fmla="*/ 0 h 629"/>
                  <a:gd name="T4" fmla="*/ 0 w 27"/>
                  <a:gd name="T5" fmla="*/ 0 h 629"/>
                  <a:gd name="T6" fmla="*/ 0 w 27"/>
                  <a:gd name="T7" fmla="*/ 0 h 629"/>
                  <a:gd name="T8" fmla="*/ 0 w 27"/>
                  <a:gd name="T9" fmla="*/ 0 h 629"/>
                  <a:gd name="T10" fmla="*/ 0 w 27"/>
                  <a:gd name="T11" fmla="*/ 0 h 629"/>
                  <a:gd name="T12" fmla="*/ 0 w 27"/>
                  <a:gd name="T13" fmla="*/ 0 h 629"/>
                  <a:gd name="T14" fmla="*/ 0 w 27"/>
                  <a:gd name="T15" fmla="*/ 0 h 629"/>
                  <a:gd name="T16" fmla="*/ 0 w 27"/>
                  <a:gd name="T17" fmla="*/ 0 h 629"/>
                  <a:gd name="T18" fmla="*/ 0 w 27"/>
                  <a:gd name="T19" fmla="*/ 0 h 629"/>
                  <a:gd name="T20" fmla="*/ 0 w 27"/>
                  <a:gd name="T21" fmla="*/ 0 h 629"/>
                  <a:gd name="T22" fmla="*/ 0 w 27"/>
                  <a:gd name="T23" fmla="*/ 0 h 629"/>
                  <a:gd name="T24" fmla="*/ 0 w 27"/>
                  <a:gd name="T25" fmla="*/ 0 h 629"/>
                  <a:gd name="T26" fmla="*/ 0 w 27"/>
                  <a:gd name="T27" fmla="*/ 0 h 629"/>
                  <a:gd name="T28" fmla="*/ 0 w 27"/>
                  <a:gd name="T29" fmla="*/ 0 h 629"/>
                  <a:gd name="T30" fmla="*/ 0 w 27"/>
                  <a:gd name="T31" fmla="*/ 0 h 629"/>
                  <a:gd name="T32" fmla="*/ 0 w 27"/>
                  <a:gd name="T33" fmla="*/ 0 h 629"/>
                  <a:gd name="T34" fmla="*/ 0 w 27"/>
                  <a:gd name="T35" fmla="*/ 0 h 629"/>
                  <a:gd name="T36" fmla="*/ 0 w 27"/>
                  <a:gd name="T37" fmla="*/ 0 h 629"/>
                  <a:gd name="T38" fmla="*/ 0 w 27"/>
                  <a:gd name="T39" fmla="*/ 0 h 629"/>
                  <a:gd name="T40" fmla="*/ 0 w 27"/>
                  <a:gd name="T41" fmla="*/ 0 h 6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7" h="629">
                    <a:moveTo>
                      <a:pt x="0" y="629"/>
                    </a:moveTo>
                    <a:lnTo>
                      <a:pt x="0" y="0"/>
                    </a:lnTo>
                    <a:lnTo>
                      <a:pt x="3" y="0"/>
                    </a:lnTo>
                    <a:lnTo>
                      <a:pt x="7" y="0"/>
                    </a:lnTo>
                    <a:lnTo>
                      <a:pt x="11" y="0"/>
                    </a:lnTo>
                    <a:lnTo>
                      <a:pt x="14" y="0"/>
                    </a:lnTo>
                    <a:lnTo>
                      <a:pt x="17" y="0"/>
                    </a:lnTo>
                    <a:lnTo>
                      <a:pt x="20" y="0"/>
                    </a:lnTo>
                    <a:lnTo>
                      <a:pt x="24" y="0"/>
                    </a:lnTo>
                    <a:lnTo>
                      <a:pt x="27" y="1"/>
                    </a:lnTo>
                    <a:lnTo>
                      <a:pt x="27" y="627"/>
                    </a:lnTo>
                    <a:lnTo>
                      <a:pt x="24" y="627"/>
                    </a:lnTo>
                    <a:lnTo>
                      <a:pt x="20" y="629"/>
                    </a:lnTo>
                    <a:lnTo>
                      <a:pt x="17" y="629"/>
                    </a:lnTo>
                    <a:lnTo>
                      <a:pt x="14" y="629"/>
                    </a:lnTo>
                    <a:lnTo>
                      <a:pt x="11" y="629"/>
                    </a:lnTo>
                    <a:lnTo>
                      <a:pt x="7" y="629"/>
                    </a:lnTo>
                    <a:lnTo>
                      <a:pt x="3"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42" name="Freeform 3838"/>
              <p:cNvSpPr>
                <a:spLocks noChangeAspect="1"/>
              </p:cNvSpPr>
              <p:nvPr/>
            </p:nvSpPr>
            <p:spPr bwMode="auto">
              <a:xfrm>
                <a:off x="5398" y="1039"/>
                <a:ext cx="9" cy="210"/>
              </a:xfrm>
              <a:custGeom>
                <a:avLst/>
                <a:gdLst>
                  <a:gd name="T0" fmla="*/ 0 w 27"/>
                  <a:gd name="T1" fmla="*/ 0 h 629"/>
                  <a:gd name="T2" fmla="*/ 0 w 27"/>
                  <a:gd name="T3" fmla="*/ 0 h 629"/>
                  <a:gd name="T4" fmla="*/ 0 w 27"/>
                  <a:gd name="T5" fmla="*/ 0 h 629"/>
                  <a:gd name="T6" fmla="*/ 0 w 27"/>
                  <a:gd name="T7" fmla="*/ 0 h 629"/>
                  <a:gd name="T8" fmla="*/ 0 w 27"/>
                  <a:gd name="T9" fmla="*/ 0 h 629"/>
                  <a:gd name="T10" fmla="*/ 0 w 27"/>
                  <a:gd name="T11" fmla="*/ 0 h 629"/>
                  <a:gd name="T12" fmla="*/ 0 w 27"/>
                  <a:gd name="T13" fmla="*/ 0 h 629"/>
                  <a:gd name="T14" fmla="*/ 0 w 27"/>
                  <a:gd name="T15" fmla="*/ 0 h 629"/>
                  <a:gd name="T16" fmla="*/ 0 w 27"/>
                  <a:gd name="T17" fmla="*/ 0 h 629"/>
                  <a:gd name="T18" fmla="*/ 0 w 27"/>
                  <a:gd name="T19" fmla="*/ 0 h 629"/>
                  <a:gd name="T20" fmla="*/ 0 w 27"/>
                  <a:gd name="T21" fmla="*/ 0 h 629"/>
                  <a:gd name="T22" fmla="*/ 0 w 27"/>
                  <a:gd name="T23" fmla="*/ 0 h 629"/>
                  <a:gd name="T24" fmla="*/ 0 w 27"/>
                  <a:gd name="T25" fmla="*/ 0 h 629"/>
                  <a:gd name="T26" fmla="*/ 0 w 27"/>
                  <a:gd name="T27" fmla="*/ 0 h 629"/>
                  <a:gd name="T28" fmla="*/ 0 w 27"/>
                  <a:gd name="T29" fmla="*/ 0 h 629"/>
                  <a:gd name="T30" fmla="*/ 0 w 27"/>
                  <a:gd name="T31" fmla="*/ 0 h 629"/>
                  <a:gd name="T32" fmla="*/ 0 w 27"/>
                  <a:gd name="T33" fmla="*/ 0 h 629"/>
                  <a:gd name="T34" fmla="*/ 0 w 27"/>
                  <a:gd name="T35" fmla="*/ 0 h 629"/>
                  <a:gd name="T36" fmla="*/ 0 w 27"/>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9">
                    <a:moveTo>
                      <a:pt x="0" y="629"/>
                    </a:moveTo>
                    <a:lnTo>
                      <a:pt x="0" y="0"/>
                    </a:lnTo>
                    <a:lnTo>
                      <a:pt x="3" y="0"/>
                    </a:lnTo>
                    <a:lnTo>
                      <a:pt x="6" y="0"/>
                    </a:lnTo>
                    <a:lnTo>
                      <a:pt x="10" y="0"/>
                    </a:lnTo>
                    <a:lnTo>
                      <a:pt x="13" y="1"/>
                    </a:lnTo>
                    <a:lnTo>
                      <a:pt x="16" y="1"/>
                    </a:lnTo>
                    <a:lnTo>
                      <a:pt x="19" y="1"/>
                    </a:lnTo>
                    <a:lnTo>
                      <a:pt x="23" y="2"/>
                    </a:lnTo>
                    <a:lnTo>
                      <a:pt x="27" y="2"/>
                    </a:lnTo>
                    <a:lnTo>
                      <a:pt x="27" y="626"/>
                    </a:lnTo>
                    <a:lnTo>
                      <a:pt x="23" y="626"/>
                    </a:lnTo>
                    <a:lnTo>
                      <a:pt x="19" y="627"/>
                    </a:lnTo>
                    <a:lnTo>
                      <a:pt x="16" y="627"/>
                    </a:lnTo>
                    <a:lnTo>
                      <a:pt x="13" y="627"/>
                    </a:lnTo>
                    <a:lnTo>
                      <a:pt x="10" y="627"/>
                    </a:lnTo>
                    <a:lnTo>
                      <a:pt x="6" y="629"/>
                    </a:lnTo>
                    <a:lnTo>
                      <a:pt x="3"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43" name="Freeform 3839"/>
              <p:cNvSpPr>
                <a:spLocks noChangeAspect="1"/>
              </p:cNvSpPr>
              <p:nvPr/>
            </p:nvSpPr>
            <p:spPr bwMode="auto">
              <a:xfrm>
                <a:off x="5402" y="1040"/>
                <a:ext cx="9" cy="208"/>
              </a:xfrm>
              <a:custGeom>
                <a:avLst/>
                <a:gdLst>
                  <a:gd name="T0" fmla="*/ 0 w 26"/>
                  <a:gd name="T1" fmla="*/ 0 h 626"/>
                  <a:gd name="T2" fmla="*/ 0 w 26"/>
                  <a:gd name="T3" fmla="*/ 0 h 626"/>
                  <a:gd name="T4" fmla="*/ 0 w 26"/>
                  <a:gd name="T5" fmla="*/ 0 h 626"/>
                  <a:gd name="T6" fmla="*/ 0 w 26"/>
                  <a:gd name="T7" fmla="*/ 0 h 626"/>
                  <a:gd name="T8" fmla="*/ 0 w 26"/>
                  <a:gd name="T9" fmla="*/ 0 h 626"/>
                  <a:gd name="T10" fmla="*/ 0 w 26"/>
                  <a:gd name="T11" fmla="*/ 0 h 626"/>
                  <a:gd name="T12" fmla="*/ 0 w 26"/>
                  <a:gd name="T13" fmla="*/ 0 h 626"/>
                  <a:gd name="T14" fmla="*/ 0 w 26"/>
                  <a:gd name="T15" fmla="*/ 0 h 626"/>
                  <a:gd name="T16" fmla="*/ 0 w 26"/>
                  <a:gd name="T17" fmla="*/ 0 h 626"/>
                  <a:gd name="T18" fmla="*/ 0 w 26"/>
                  <a:gd name="T19" fmla="*/ 0 h 626"/>
                  <a:gd name="T20" fmla="*/ 0 w 26"/>
                  <a:gd name="T21" fmla="*/ 0 h 626"/>
                  <a:gd name="T22" fmla="*/ 0 w 26"/>
                  <a:gd name="T23" fmla="*/ 0 h 626"/>
                  <a:gd name="T24" fmla="*/ 0 w 26"/>
                  <a:gd name="T25" fmla="*/ 0 h 626"/>
                  <a:gd name="T26" fmla="*/ 0 w 26"/>
                  <a:gd name="T27" fmla="*/ 0 h 626"/>
                  <a:gd name="T28" fmla="*/ 0 w 26"/>
                  <a:gd name="T29" fmla="*/ 0 h 626"/>
                  <a:gd name="T30" fmla="*/ 0 w 26"/>
                  <a:gd name="T31" fmla="*/ 0 h 626"/>
                  <a:gd name="T32" fmla="*/ 0 w 26"/>
                  <a:gd name="T33" fmla="*/ 0 h 626"/>
                  <a:gd name="T34" fmla="*/ 0 w 26"/>
                  <a:gd name="T35" fmla="*/ 0 h 626"/>
                  <a:gd name="T36" fmla="*/ 0 w 26"/>
                  <a:gd name="T37" fmla="*/ 0 h 6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6">
                    <a:moveTo>
                      <a:pt x="0" y="626"/>
                    </a:moveTo>
                    <a:lnTo>
                      <a:pt x="0" y="0"/>
                    </a:lnTo>
                    <a:lnTo>
                      <a:pt x="3" y="0"/>
                    </a:lnTo>
                    <a:lnTo>
                      <a:pt x="6" y="0"/>
                    </a:lnTo>
                    <a:lnTo>
                      <a:pt x="10" y="1"/>
                    </a:lnTo>
                    <a:lnTo>
                      <a:pt x="14" y="1"/>
                    </a:lnTo>
                    <a:lnTo>
                      <a:pt x="17" y="1"/>
                    </a:lnTo>
                    <a:lnTo>
                      <a:pt x="20" y="2"/>
                    </a:lnTo>
                    <a:lnTo>
                      <a:pt x="23" y="2"/>
                    </a:lnTo>
                    <a:lnTo>
                      <a:pt x="26" y="3"/>
                    </a:lnTo>
                    <a:lnTo>
                      <a:pt x="26" y="623"/>
                    </a:lnTo>
                    <a:lnTo>
                      <a:pt x="23" y="624"/>
                    </a:lnTo>
                    <a:lnTo>
                      <a:pt x="20" y="624"/>
                    </a:lnTo>
                    <a:lnTo>
                      <a:pt x="17" y="625"/>
                    </a:lnTo>
                    <a:lnTo>
                      <a:pt x="14" y="625"/>
                    </a:lnTo>
                    <a:lnTo>
                      <a:pt x="10" y="625"/>
                    </a:lnTo>
                    <a:lnTo>
                      <a:pt x="6" y="626"/>
                    </a:lnTo>
                    <a:lnTo>
                      <a:pt x="3" y="626"/>
                    </a:lnTo>
                    <a:lnTo>
                      <a:pt x="0" y="6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44" name="Freeform 3840"/>
              <p:cNvSpPr>
                <a:spLocks noChangeAspect="1"/>
              </p:cNvSpPr>
              <p:nvPr/>
            </p:nvSpPr>
            <p:spPr bwMode="auto">
              <a:xfrm>
                <a:off x="5407" y="1040"/>
                <a:ext cx="8" cy="208"/>
              </a:xfrm>
              <a:custGeom>
                <a:avLst/>
                <a:gdLst>
                  <a:gd name="T0" fmla="*/ 0 w 26"/>
                  <a:gd name="T1" fmla="*/ 0 h 624"/>
                  <a:gd name="T2" fmla="*/ 0 w 26"/>
                  <a:gd name="T3" fmla="*/ 0 h 624"/>
                  <a:gd name="T4" fmla="*/ 0 w 26"/>
                  <a:gd name="T5" fmla="*/ 0 h 624"/>
                  <a:gd name="T6" fmla="*/ 0 w 26"/>
                  <a:gd name="T7" fmla="*/ 0 h 624"/>
                  <a:gd name="T8" fmla="*/ 0 w 26"/>
                  <a:gd name="T9" fmla="*/ 0 h 624"/>
                  <a:gd name="T10" fmla="*/ 0 w 26"/>
                  <a:gd name="T11" fmla="*/ 0 h 624"/>
                  <a:gd name="T12" fmla="*/ 0 w 26"/>
                  <a:gd name="T13" fmla="*/ 0 h 624"/>
                  <a:gd name="T14" fmla="*/ 0 w 26"/>
                  <a:gd name="T15" fmla="*/ 0 h 624"/>
                  <a:gd name="T16" fmla="*/ 0 w 26"/>
                  <a:gd name="T17" fmla="*/ 0 h 624"/>
                  <a:gd name="T18" fmla="*/ 0 w 26"/>
                  <a:gd name="T19" fmla="*/ 0 h 624"/>
                  <a:gd name="T20" fmla="*/ 0 w 26"/>
                  <a:gd name="T21" fmla="*/ 0 h 624"/>
                  <a:gd name="T22" fmla="*/ 0 w 26"/>
                  <a:gd name="T23" fmla="*/ 0 h 624"/>
                  <a:gd name="T24" fmla="*/ 0 w 26"/>
                  <a:gd name="T25" fmla="*/ 0 h 624"/>
                  <a:gd name="T26" fmla="*/ 0 w 26"/>
                  <a:gd name="T27" fmla="*/ 0 h 624"/>
                  <a:gd name="T28" fmla="*/ 0 w 26"/>
                  <a:gd name="T29" fmla="*/ 0 h 624"/>
                  <a:gd name="T30" fmla="*/ 0 w 26"/>
                  <a:gd name="T31" fmla="*/ 0 h 624"/>
                  <a:gd name="T32" fmla="*/ 0 w 26"/>
                  <a:gd name="T33" fmla="*/ 0 h 624"/>
                  <a:gd name="T34" fmla="*/ 0 w 26"/>
                  <a:gd name="T35" fmla="*/ 0 h 624"/>
                  <a:gd name="T36" fmla="*/ 0 w 26"/>
                  <a:gd name="T37" fmla="*/ 0 h 6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4">
                    <a:moveTo>
                      <a:pt x="0" y="624"/>
                    </a:moveTo>
                    <a:lnTo>
                      <a:pt x="0" y="0"/>
                    </a:lnTo>
                    <a:lnTo>
                      <a:pt x="3" y="0"/>
                    </a:lnTo>
                    <a:lnTo>
                      <a:pt x="6" y="1"/>
                    </a:lnTo>
                    <a:lnTo>
                      <a:pt x="9" y="1"/>
                    </a:lnTo>
                    <a:lnTo>
                      <a:pt x="12" y="2"/>
                    </a:lnTo>
                    <a:lnTo>
                      <a:pt x="16" y="2"/>
                    </a:lnTo>
                    <a:lnTo>
                      <a:pt x="19" y="4"/>
                    </a:lnTo>
                    <a:lnTo>
                      <a:pt x="22" y="4"/>
                    </a:lnTo>
                    <a:lnTo>
                      <a:pt x="26" y="5"/>
                    </a:lnTo>
                    <a:lnTo>
                      <a:pt x="26" y="620"/>
                    </a:lnTo>
                    <a:lnTo>
                      <a:pt x="22" y="621"/>
                    </a:lnTo>
                    <a:lnTo>
                      <a:pt x="19" y="621"/>
                    </a:lnTo>
                    <a:lnTo>
                      <a:pt x="16" y="622"/>
                    </a:lnTo>
                    <a:lnTo>
                      <a:pt x="12" y="622"/>
                    </a:lnTo>
                    <a:lnTo>
                      <a:pt x="9" y="623"/>
                    </a:lnTo>
                    <a:lnTo>
                      <a:pt x="6" y="623"/>
                    </a:lnTo>
                    <a:lnTo>
                      <a:pt x="3" y="624"/>
                    </a:lnTo>
                    <a:lnTo>
                      <a:pt x="0" y="62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45" name="Freeform 3841"/>
              <p:cNvSpPr>
                <a:spLocks noChangeAspect="1"/>
              </p:cNvSpPr>
              <p:nvPr/>
            </p:nvSpPr>
            <p:spPr bwMode="auto">
              <a:xfrm>
                <a:off x="5411" y="1041"/>
                <a:ext cx="9" cy="206"/>
              </a:xfrm>
              <a:custGeom>
                <a:avLst/>
                <a:gdLst>
                  <a:gd name="T0" fmla="*/ 0 w 27"/>
                  <a:gd name="T1" fmla="*/ 0 h 620"/>
                  <a:gd name="T2" fmla="*/ 0 w 27"/>
                  <a:gd name="T3" fmla="*/ 0 h 620"/>
                  <a:gd name="T4" fmla="*/ 0 w 27"/>
                  <a:gd name="T5" fmla="*/ 0 h 620"/>
                  <a:gd name="T6" fmla="*/ 0 w 27"/>
                  <a:gd name="T7" fmla="*/ 0 h 620"/>
                  <a:gd name="T8" fmla="*/ 0 w 27"/>
                  <a:gd name="T9" fmla="*/ 0 h 620"/>
                  <a:gd name="T10" fmla="*/ 0 w 27"/>
                  <a:gd name="T11" fmla="*/ 0 h 620"/>
                  <a:gd name="T12" fmla="*/ 0 w 27"/>
                  <a:gd name="T13" fmla="*/ 0 h 620"/>
                  <a:gd name="T14" fmla="*/ 0 w 27"/>
                  <a:gd name="T15" fmla="*/ 0 h 620"/>
                  <a:gd name="T16" fmla="*/ 0 w 27"/>
                  <a:gd name="T17" fmla="*/ 0 h 620"/>
                  <a:gd name="T18" fmla="*/ 0 w 27"/>
                  <a:gd name="T19" fmla="*/ 0 h 620"/>
                  <a:gd name="T20" fmla="*/ 0 w 27"/>
                  <a:gd name="T21" fmla="*/ 0 h 620"/>
                  <a:gd name="T22" fmla="*/ 0 w 27"/>
                  <a:gd name="T23" fmla="*/ 0 h 620"/>
                  <a:gd name="T24" fmla="*/ 0 w 27"/>
                  <a:gd name="T25" fmla="*/ 0 h 620"/>
                  <a:gd name="T26" fmla="*/ 0 w 27"/>
                  <a:gd name="T27" fmla="*/ 0 h 620"/>
                  <a:gd name="T28" fmla="*/ 0 w 27"/>
                  <a:gd name="T29" fmla="*/ 0 h 620"/>
                  <a:gd name="T30" fmla="*/ 0 w 27"/>
                  <a:gd name="T31" fmla="*/ 0 h 620"/>
                  <a:gd name="T32" fmla="*/ 0 w 27"/>
                  <a:gd name="T33" fmla="*/ 0 h 620"/>
                  <a:gd name="T34" fmla="*/ 0 w 27"/>
                  <a:gd name="T35" fmla="*/ 0 h 620"/>
                  <a:gd name="T36" fmla="*/ 0 w 27"/>
                  <a:gd name="T37" fmla="*/ 0 h 6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0">
                    <a:moveTo>
                      <a:pt x="0" y="620"/>
                    </a:moveTo>
                    <a:lnTo>
                      <a:pt x="0" y="0"/>
                    </a:lnTo>
                    <a:lnTo>
                      <a:pt x="4" y="0"/>
                    </a:lnTo>
                    <a:lnTo>
                      <a:pt x="7" y="2"/>
                    </a:lnTo>
                    <a:lnTo>
                      <a:pt x="11" y="2"/>
                    </a:lnTo>
                    <a:lnTo>
                      <a:pt x="14" y="3"/>
                    </a:lnTo>
                    <a:lnTo>
                      <a:pt x="17" y="3"/>
                    </a:lnTo>
                    <a:lnTo>
                      <a:pt x="21" y="4"/>
                    </a:lnTo>
                    <a:lnTo>
                      <a:pt x="24" y="5"/>
                    </a:lnTo>
                    <a:lnTo>
                      <a:pt x="27" y="5"/>
                    </a:lnTo>
                    <a:lnTo>
                      <a:pt x="27" y="615"/>
                    </a:lnTo>
                    <a:lnTo>
                      <a:pt x="24" y="616"/>
                    </a:lnTo>
                    <a:lnTo>
                      <a:pt x="21" y="617"/>
                    </a:lnTo>
                    <a:lnTo>
                      <a:pt x="17" y="617"/>
                    </a:lnTo>
                    <a:lnTo>
                      <a:pt x="14" y="618"/>
                    </a:lnTo>
                    <a:lnTo>
                      <a:pt x="11" y="619"/>
                    </a:lnTo>
                    <a:lnTo>
                      <a:pt x="7" y="619"/>
                    </a:lnTo>
                    <a:lnTo>
                      <a:pt x="4" y="620"/>
                    </a:lnTo>
                    <a:lnTo>
                      <a:pt x="0" y="6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46" name="Freeform 3842"/>
              <p:cNvSpPr>
                <a:spLocks noChangeAspect="1"/>
              </p:cNvSpPr>
              <p:nvPr/>
            </p:nvSpPr>
            <p:spPr bwMode="auto">
              <a:xfrm>
                <a:off x="5415" y="1042"/>
                <a:ext cx="9" cy="205"/>
              </a:xfrm>
              <a:custGeom>
                <a:avLst/>
                <a:gdLst>
                  <a:gd name="T0" fmla="*/ 0 w 27"/>
                  <a:gd name="T1" fmla="*/ 0 h 615"/>
                  <a:gd name="T2" fmla="*/ 0 w 27"/>
                  <a:gd name="T3" fmla="*/ 0 h 615"/>
                  <a:gd name="T4" fmla="*/ 0 w 27"/>
                  <a:gd name="T5" fmla="*/ 0 h 615"/>
                  <a:gd name="T6" fmla="*/ 0 w 27"/>
                  <a:gd name="T7" fmla="*/ 0 h 615"/>
                  <a:gd name="T8" fmla="*/ 0 w 27"/>
                  <a:gd name="T9" fmla="*/ 0 h 615"/>
                  <a:gd name="T10" fmla="*/ 0 w 27"/>
                  <a:gd name="T11" fmla="*/ 0 h 615"/>
                  <a:gd name="T12" fmla="*/ 0 w 27"/>
                  <a:gd name="T13" fmla="*/ 0 h 615"/>
                  <a:gd name="T14" fmla="*/ 0 w 27"/>
                  <a:gd name="T15" fmla="*/ 0 h 615"/>
                  <a:gd name="T16" fmla="*/ 0 w 27"/>
                  <a:gd name="T17" fmla="*/ 0 h 615"/>
                  <a:gd name="T18" fmla="*/ 0 w 27"/>
                  <a:gd name="T19" fmla="*/ 0 h 615"/>
                  <a:gd name="T20" fmla="*/ 0 w 27"/>
                  <a:gd name="T21" fmla="*/ 0 h 615"/>
                  <a:gd name="T22" fmla="*/ 0 w 27"/>
                  <a:gd name="T23" fmla="*/ 0 h 615"/>
                  <a:gd name="T24" fmla="*/ 0 w 27"/>
                  <a:gd name="T25" fmla="*/ 0 h 615"/>
                  <a:gd name="T26" fmla="*/ 0 w 27"/>
                  <a:gd name="T27" fmla="*/ 0 h 615"/>
                  <a:gd name="T28" fmla="*/ 0 w 27"/>
                  <a:gd name="T29" fmla="*/ 0 h 615"/>
                  <a:gd name="T30" fmla="*/ 0 w 27"/>
                  <a:gd name="T31" fmla="*/ 0 h 615"/>
                  <a:gd name="T32" fmla="*/ 0 w 27"/>
                  <a:gd name="T33" fmla="*/ 0 h 615"/>
                  <a:gd name="T34" fmla="*/ 0 w 27"/>
                  <a:gd name="T35" fmla="*/ 0 h 615"/>
                  <a:gd name="T36" fmla="*/ 0 w 27"/>
                  <a:gd name="T37" fmla="*/ 0 h 6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15">
                    <a:moveTo>
                      <a:pt x="0" y="615"/>
                    </a:moveTo>
                    <a:lnTo>
                      <a:pt x="0" y="0"/>
                    </a:lnTo>
                    <a:lnTo>
                      <a:pt x="3" y="0"/>
                    </a:lnTo>
                    <a:lnTo>
                      <a:pt x="7" y="1"/>
                    </a:lnTo>
                    <a:lnTo>
                      <a:pt x="10" y="2"/>
                    </a:lnTo>
                    <a:lnTo>
                      <a:pt x="13" y="2"/>
                    </a:lnTo>
                    <a:lnTo>
                      <a:pt x="16" y="3"/>
                    </a:lnTo>
                    <a:lnTo>
                      <a:pt x="19" y="4"/>
                    </a:lnTo>
                    <a:lnTo>
                      <a:pt x="23" y="5"/>
                    </a:lnTo>
                    <a:lnTo>
                      <a:pt x="27" y="6"/>
                    </a:lnTo>
                    <a:lnTo>
                      <a:pt x="27" y="609"/>
                    </a:lnTo>
                    <a:lnTo>
                      <a:pt x="23" y="610"/>
                    </a:lnTo>
                    <a:lnTo>
                      <a:pt x="19" y="611"/>
                    </a:lnTo>
                    <a:lnTo>
                      <a:pt x="16" y="612"/>
                    </a:lnTo>
                    <a:lnTo>
                      <a:pt x="13" y="612"/>
                    </a:lnTo>
                    <a:lnTo>
                      <a:pt x="10" y="613"/>
                    </a:lnTo>
                    <a:lnTo>
                      <a:pt x="7" y="614"/>
                    </a:lnTo>
                    <a:lnTo>
                      <a:pt x="3" y="614"/>
                    </a:lnTo>
                    <a:lnTo>
                      <a:pt x="0" y="6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47" name="Freeform 3843"/>
              <p:cNvSpPr>
                <a:spLocks noChangeAspect="1"/>
              </p:cNvSpPr>
              <p:nvPr/>
            </p:nvSpPr>
            <p:spPr bwMode="auto">
              <a:xfrm>
                <a:off x="5420" y="1042"/>
                <a:ext cx="9" cy="204"/>
              </a:xfrm>
              <a:custGeom>
                <a:avLst/>
                <a:gdLst>
                  <a:gd name="T0" fmla="*/ 0 w 27"/>
                  <a:gd name="T1" fmla="*/ 0 h 610"/>
                  <a:gd name="T2" fmla="*/ 0 w 27"/>
                  <a:gd name="T3" fmla="*/ 0 h 610"/>
                  <a:gd name="T4" fmla="*/ 0 w 27"/>
                  <a:gd name="T5" fmla="*/ 0 h 610"/>
                  <a:gd name="T6" fmla="*/ 0 w 27"/>
                  <a:gd name="T7" fmla="*/ 0 h 610"/>
                  <a:gd name="T8" fmla="*/ 0 w 27"/>
                  <a:gd name="T9" fmla="*/ 0 h 610"/>
                  <a:gd name="T10" fmla="*/ 0 w 27"/>
                  <a:gd name="T11" fmla="*/ 0 h 610"/>
                  <a:gd name="T12" fmla="*/ 0 w 27"/>
                  <a:gd name="T13" fmla="*/ 0 h 610"/>
                  <a:gd name="T14" fmla="*/ 0 w 27"/>
                  <a:gd name="T15" fmla="*/ 0 h 610"/>
                  <a:gd name="T16" fmla="*/ 0 w 27"/>
                  <a:gd name="T17" fmla="*/ 0 h 610"/>
                  <a:gd name="T18" fmla="*/ 0 w 27"/>
                  <a:gd name="T19" fmla="*/ 0 h 610"/>
                  <a:gd name="T20" fmla="*/ 0 w 27"/>
                  <a:gd name="T21" fmla="*/ 0 h 610"/>
                  <a:gd name="T22" fmla="*/ 0 w 27"/>
                  <a:gd name="T23" fmla="*/ 0 h 610"/>
                  <a:gd name="T24" fmla="*/ 0 w 27"/>
                  <a:gd name="T25" fmla="*/ 0 h 610"/>
                  <a:gd name="T26" fmla="*/ 0 w 27"/>
                  <a:gd name="T27" fmla="*/ 0 h 610"/>
                  <a:gd name="T28" fmla="*/ 0 w 27"/>
                  <a:gd name="T29" fmla="*/ 0 h 610"/>
                  <a:gd name="T30" fmla="*/ 0 w 27"/>
                  <a:gd name="T31" fmla="*/ 0 h 610"/>
                  <a:gd name="T32" fmla="*/ 0 w 27"/>
                  <a:gd name="T33" fmla="*/ 0 h 610"/>
                  <a:gd name="T34" fmla="*/ 0 w 27"/>
                  <a:gd name="T35" fmla="*/ 0 h 610"/>
                  <a:gd name="T36" fmla="*/ 0 w 27"/>
                  <a:gd name="T37" fmla="*/ 0 h 6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10">
                    <a:moveTo>
                      <a:pt x="0" y="610"/>
                    </a:moveTo>
                    <a:lnTo>
                      <a:pt x="0" y="0"/>
                    </a:lnTo>
                    <a:lnTo>
                      <a:pt x="3" y="1"/>
                    </a:lnTo>
                    <a:lnTo>
                      <a:pt x="6" y="2"/>
                    </a:lnTo>
                    <a:lnTo>
                      <a:pt x="10" y="3"/>
                    </a:lnTo>
                    <a:lnTo>
                      <a:pt x="14" y="4"/>
                    </a:lnTo>
                    <a:lnTo>
                      <a:pt x="17" y="4"/>
                    </a:lnTo>
                    <a:lnTo>
                      <a:pt x="20" y="5"/>
                    </a:lnTo>
                    <a:lnTo>
                      <a:pt x="23" y="6"/>
                    </a:lnTo>
                    <a:lnTo>
                      <a:pt x="27" y="7"/>
                    </a:lnTo>
                    <a:lnTo>
                      <a:pt x="27" y="603"/>
                    </a:lnTo>
                    <a:lnTo>
                      <a:pt x="23" y="604"/>
                    </a:lnTo>
                    <a:lnTo>
                      <a:pt x="20" y="605"/>
                    </a:lnTo>
                    <a:lnTo>
                      <a:pt x="17" y="606"/>
                    </a:lnTo>
                    <a:lnTo>
                      <a:pt x="14" y="607"/>
                    </a:lnTo>
                    <a:lnTo>
                      <a:pt x="10" y="608"/>
                    </a:lnTo>
                    <a:lnTo>
                      <a:pt x="6" y="609"/>
                    </a:lnTo>
                    <a:lnTo>
                      <a:pt x="3" y="610"/>
                    </a:lnTo>
                    <a:lnTo>
                      <a:pt x="0" y="61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48" name="Freeform 3844"/>
              <p:cNvSpPr>
                <a:spLocks noChangeAspect="1"/>
              </p:cNvSpPr>
              <p:nvPr/>
            </p:nvSpPr>
            <p:spPr bwMode="auto">
              <a:xfrm>
                <a:off x="5424" y="1044"/>
                <a:ext cx="9" cy="201"/>
              </a:xfrm>
              <a:custGeom>
                <a:avLst/>
                <a:gdLst>
                  <a:gd name="T0" fmla="*/ 0 w 25"/>
                  <a:gd name="T1" fmla="*/ 0 h 603"/>
                  <a:gd name="T2" fmla="*/ 0 w 25"/>
                  <a:gd name="T3" fmla="*/ 0 h 603"/>
                  <a:gd name="T4" fmla="*/ 0 w 25"/>
                  <a:gd name="T5" fmla="*/ 0 h 603"/>
                  <a:gd name="T6" fmla="*/ 0 w 25"/>
                  <a:gd name="T7" fmla="*/ 0 h 603"/>
                  <a:gd name="T8" fmla="*/ 0 w 25"/>
                  <a:gd name="T9" fmla="*/ 0 h 603"/>
                  <a:gd name="T10" fmla="*/ 0 w 25"/>
                  <a:gd name="T11" fmla="*/ 0 h 603"/>
                  <a:gd name="T12" fmla="*/ 0 w 25"/>
                  <a:gd name="T13" fmla="*/ 0 h 603"/>
                  <a:gd name="T14" fmla="*/ 0 w 25"/>
                  <a:gd name="T15" fmla="*/ 0 h 603"/>
                  <a:gd name="T16" fmla="*/ 0 w 25"/>
                  <a:gd name="T17" fmla="*/ 0 h 603"/>
                  <a:gd name="T18" fmla="*/ 0 w 25"/>
                  <a:gd name="T19" fmla="*/ 0 h 603"/>
                  <a:gd name="T20" fmla="*/ 0 w 25"/>
                  <a:gd name="T21" fmla="*/ 0 h 603"/>
                  <a:gd name="T22" fmla="*/ 0 w 25"/>
                  <a:gd name="T23" fmla="*/ 0 h 603"/>
                  <a:gd name="T24" fmla="*/ 0 w 25"/>
                  <a:gd name="T25" fmla="*/ 0 h 603"/>
                  <a:gd name="T26" fmla="*/ 0 w 25"/>
                  <a:gd name="T27" fmla="*/ 0 h 603"/>
                  <a:gd name="T28" fmla="*/ 0 w 25"/>
                  <a:gd name="T29" fmla="*/ 0 h 603"/>
                  <a:gd name="T30" fmla="*/ 0 w 25"/>
                  <a:gd name="T31" fmla="*/ 0 h 603"/>
                  <a:gd name="T32" fmla="*/ 0 w 25"/>
                  <a:gd name="T33" fmla="*/ 0 h 603"/>
                  <a:gd name="T34" fmla="*/ 0 w 25"/>
                  <a:gd name="T35" fmla="*/ 0 h 603"/>
                  <a:gd name="T36" fmla="*/ 0 w 25"/>
                  <a:gd name="T37" fmla="*/ 0 h 6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5" h="603">
                    <a:moveTo>
                      <a:pt x="0" y="603"/>
                    </a:moveTo>
                    <a:lnTo>
                      <a:pt x="0" y="0"/>
                    </a:lnTo>
                    <a:lnTo>
                      <a:pt x="3" y="0"/>
                    </a:lnTo>
                    <a:lnTo>
                      <a:pt x="6" y="1"/>
                    </a:lnTo>
                    <a:lnTo>
                      <a:pt x="9" y="2"/>
                    </a:lnTo>
                    <a:lnTo>
                      <a:pt x="13" y="3"/>
                    </a:lnTo>
                    <a:lnTo>
                      <a:pt x="16" y="4"/>
                    </a:lnTo>
                    <a:lnTo>
                      <a:pt x="19" y="5"/>
                    </a:lnTo>
                    <a:lnTo>
                      <a:pt x="22" y="7"/>
                    </a:lnTo>
                    <a:lnTo>
                      <a:pt x="25" y="8"/>
                    </a:lnTo>
                    <a:lnTo>
                      <a:pt x="25" y="594"/>
                    </a:lnTo>
                    <a:lnTo>
                      <a:pt x="22" y="595"/>
                    </a:lnTo>
                    <a:lnTo>
                      <a:pt x="19" y="596"/>
                    </a:lnTo>
                    <a:lnTo>
                      <a:pt x="16" y="597"/>
                    </a:lnTo>
                    <a:lnTo>
                      <a:pt x="13" y="599"/>
                    </a:lnTo>
                    <a:lnTo>
                      <a:pt x="9" y="600"/>
                    </a:lnTo>
                    <a:lnTo>
                      <a:pt x="6" y="601"/>
                    </a:lnTo>
                    <a:lnTo>
                      <a:pt x="3" y="602"/>
                    </a:lnTo>
                    <a:lnTo>
                      <a:pt x="0" y="60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49" name="Freeform 3845"/>
              <p:cNvSpPr>
                <a:spLocks noChangeAspect="1"/>
              </p:cNvSpPr>
              <p:nvPr/>
            </p:nvSpPr>
            <p:spPr bwMode="auto">
              <a:xfrm>
                <a:off x="5429" y="1045"/>
                <a:ext cx="8" cy="198"/>
              </a:xfrm>
              <a:custGeom>
                <a:avLst/>
                <a:gdLst>
                  <a:gd name="T0" fmla="*/ 0 w 26"/>
                  <a:gd name="T1" fmla="*/ 0 h 596"/>
                  <a:gd name="T2" fmla="*/ 0 w 26"/>
                  <a:gd name="T3" fmla="*/ 0 h 596"/>
                  <a:gd name="T4" fmla="*/ 0 w 26"/>
                  <a:gd name="T5" fmla="*/ 0 h 596"/>
                  <a:gd name="T6" fmla="*/ 0 w 26"/>
                  <a:gd name="T7" fmla="*/ 0 h 596"/>
                  <a:gd name="T8" fmla="*/ 0 w 26"/>
                  <a:gd name="T9" fmla="*/ 0 h 596"/>
                  <a:gd name="T10" fmla="*/ 0 w 26"/>
                  <a:gd name="T11" fmla="*/ 0 h 596"/>
                  <a:gd name="T12" fmla="*/ 0 w 26"/>
                  <a:gd name="T13" fmla="*/ 0 h 596"/>
                  <a:gd name="T14" fmla="*/ 0 w 26"/>
                  <a:gd name="T15" fmla="*/ 0 h 596"/>
                  <a:gd name="T16" fmla="*/ 0 w 26"/>
                  <a:gd name="T17" fmla="*/ 0 h 596"/>
                  <a:gd name="T18" fmla="*/ 0 w 26"/>
                  <a:gd name="T19" fmla="*/ 0 h 596"/>
                  <a:gd name="T20" fmla="*/ 0 w 26"/>
                  <a:gd name="T21" fmla="*/ 0 h 596"/>
                  <a:gd name="T22" fmla="*/ 0 w 26"/>
                  <a:gd name="T23" fmla="*/ 0 h 596"/>
                  <a:gd name="T24" fmla="*/ 0 w 26"/>
                  <a:gd name="T25" fmla="*/ 0 h 596"/>
                  <a:gd name="T26" fmla="*/ 0 w 26"/>
                  <a:gd name="T27" fmla="*/ 0 h 596"/>
                  <a:gd name="T28" fmla="*/ 0 w 26"/>
                  <a:gd name="T29" fmla="*/ 0 h 596"/>
                  <a:gd name="T30" fmla="*/ 0 w 26"/>
                  <a:gd name="T31" fmla="*/ 0 h 596"/>
                  <a:gd name="T32" fmla="*/ 0 w 26"/>
                  <a:gd name="T33" fmla="*/ 0 h 596"/>
                  <a:gd name="T34" fmla="*/ 0 w 26"/>
                  <a:gd name="T35" fmla="*/ 0 h 596"/>
                  <a:gd name="T36" fmla="*/ 0 w 26"/>
                  <a:gd name="T37" fmla="*/ 0 h 59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96">
                    <a:moveTo>
                      <a:pt x="0" y="596"/>
                    </a:moveTo>
                    <a:lnTo>
                      <a:pt x="0" y="0"/>
                    </a:lnTo>
                    <a:lnTo>
                      <a:pt x="3" y="1"/>
                    </a:lnTo>
                    <a:lnTo>
                      <a:pt x="6" y="2"/>
                    </a:lnTo>
                    <a:lnTo>
                      <a:pt x="9" y="4"/>
                    </a:lnTo>
                    <a:lnTo>
                      <a:pt x="13" y="5"/>
                    </a:lnTo>
                    <a:lnTo>
                      <a:pt x="17" y="7"/>
                    </a:lnTo>
                    <a:lnTo>
                      <a:pt x="20" y="8"/>
                    </a:lnTo>
                    <a:lnTo>
                      <a:pt x="23" y="9"/>
                    </a:lnTo>
                    <a:lnTo>
                      <a:pt x="26" y="11"/>
                    </a:lnTo>
                    <a:lnTo>
                      <a:pt x="26" y="586"/>
                    </a:lnTo>
                    <a:lnTo>
                      <a:pt x="23" y="588"/>
                    </a:lnTo>
                    <a:lnTo>
                      <a:pt x="20" y="589"/>
                    </a:lnTo>
                    <a:lnTo>
                      <a:pt x="17" y="590"/>
                    </a:lnTo>
                    <a:lnTo>
                      <a:pt x="13" y="591"/>
                    </a:lnTo>
                    <a:lnTo>
                      <a:pt x="9" y="592"/>
                    </a:lnTo>
                    <a:lnTo>
                      <a:pt x="6" y="593"/>
                    </a:lnTo>
                    <a:lnTo>
                      <a:pt x="3" y="594"/>
                    </a:lnTo>
                    <a:lnTo>
                      <a:pt x="0" y="59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50" name="Freeform 3846"/>
              <p:cNvSpPr>
                <a:spLocks noChangeAspect="1"/>
              </p:cNvSpPr>
              <p:nvPr/>
            </p:nvSpPr>
            <p:spPr bwMode="auto">
              <a:xfrm>
                <a:off x="5433" y="1046"/>
                <a:ext cx="9" cy="196"/>
              </a:xfrm>
              <a:custGeom>
                <a:avLst/>
                <a:gdLst>
                  <a:gd name="T0" fmla="*/ 0 w 27"/>
                  <a:gd name="T1" fmla="*/ 0 h 586"/>
                  <a:gd name="T2" fmla="*/ 0 w 27"/>
                  <a:gd name="T3" fmla="*/ 0 h 586"/>
                  <a:gd name="T4" fmla="*/ 0 w 27"/>
                  <a:gd name="T5" fmla="*/ 0 h 586"/>
                  <a:gd name="T6" fmla="*/ 0 w 27"/>
                  <a:gd name="T7" fmla="*/ 0 h 586"/>
                  <a:gd name="T8" fmla="*/ 0 w 27"/>
                  <a:gd name="T9" fmla="*/ 0 h 586"/>
                  <a:gd name="T10" fmla="*/ 0 w 27"/>
                  <a:gd name="T11" fmla="*/ 0 h 586"/>
                  <a:gd name="T12" fmla="*/ 0 w 27"/>
                  <a:gd name="T13" fmla="*/ 0 h 586"/>
                  <a:gd name="T14" fmla="*/ 0 w 27"/>
                  <a:gd name="T15" fmla="*/ 0 h 586"/>
                  <a:gd name="T16" fmla="*/ 0 w 27"/>
                  <a:gd name="T17" fmla="*/ 0 h 586"/>
                  <a:gd name="T18" fmla="*/ 0 w 27"/>
                  <a:gd name="T19" fmla="*/ 0 h 586"/>
                  <a:gd name="T20" fmla="*/ 0 w 27"/>
                  <a:gd name="T21" fmla="*/ 0 h 586"/>
                  <a:gd name="T22" fmla="*/ 0 w 27"/>
                  <a:gd name="T23" fmla="*/ 0 h 586"/>
                  <a:gd name="T24" fmla="*/ 0 w 27"/>
                  <a:gd name="T25" fmla="*/ 0 h 586"/>
                  <a:gd name="T26" fmla="*/ 0 w 27"/>
                  <a:gd name="T27" fmla="*/ 0 h 586"/>
                  <a:gd name="T28" fmla="*/ 0 w 27"/>
                  <a:gd name="T29" fmla="*/ 0 h 586"/>
                  <a:gd name="T30" fmla="*/ 0 w 27"/>
                  <a:gd name="T31" fmla="*/ 0 h 586"/>
                  <a:gd name="T32" fmla="*/ 0 w 27"/>
                  <a:gd name="T33" fmla="*/ 0 h 586"/>
                  <a:gd name="T34" fmla="*/ 0 w 27"/>
                  <a:gd name="T35" fmla="*/ 0 h 586"/>
                  <a:gd name="T36" fmla="*/ 0 w 27"/>
                  <a:gd name="T37" fmla="*/ 0 h 58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86">
                    <a:moveTo>
                      <a:pt x="0" y="586"/>
                    </a:moveTo>
                    <a:lnTo>
                      <a:pt x="0" y="0"/>
                    </a:lnTo>
                    <a:lnTo>
                      <a:pt x="5" y="2"/>
                    </a:lnTo>
                    <a:lnTo>
                      <a:pt x="8" y="3"/>
                    </a:lnTo>
                    <a:lnTo>
                      <a:pt x="11" y="4"/>
                    </a:lnTo>
                    <a:lnTo>
                      <a:pt x="14" y="6"/>
                    </a:lnTo>
                    <a:lnTo>
                      <a:pt x="17" y="7"/>
                    </a:lnTo>
                    <a:lnTo>
                      <a:pt x="21" y="8"/>
                    </a:lnTo>
                    <a:lnTo>
                      <a:pt x="24" y="10"/>
                    </a:lnTo>
                    <a:lnTo>
                      <a:pt x="27" y="11"/>
                    </a:lnTo>
                    <a:lnTo>
                      <a:pt x="27" y="576"/>
                    </a:lnTo>
                    <a:lnTo>
                      <a:pt x="24" y="577"/>
                    </a:lnTo>
                    <a:lnTo>
                      <a:pt x="21" y="579"/>
                    </a:lnTo>
                    <a:lnTo>
                      <a:pt x="17" y="580"/>
                    </a:lnTo>
                    <a:lnTo>
                      <a:pt x="14" y="581"/>
                    </a:lnTo>
                    <a:lnTo>
                      <a:pt x="11" y="583"/>
                    </a:lnTo>
                    <a:lnTo>
                      <a:pt x="8" y="584"/>
                    </a:lnTo>
                    <a:lnTo>
                      <a:pt x="5" y="585"/>
                    </a:lnTo>
                    <a:lnTo>
                      <a:pt x="0" y="58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51" name="Freeform 3847"/>
              <p:cNvSpPr>
                <a:spLocks noChangeAspect="1"/>
              </p:cNvSpPr>
              <p:nvPr/>
            </p:nvSpPr>
            <p:spPr bwMode="auto">
              <a:xfrm>
                <a:off x="5437" y="1048"/>
                <a:ext cx="9" cy="192"/>
              </a:xfrm>
              <a:custGeom>
                <a:avLst/>
                <a:gdLst>
                  <a:gd name="T0" fmla="*/ 0 w 27"/>
                  <a:gd name="T1" fmla="*/ 0 h 575"/>
                  <a:gd name="T2" fmla="*/ 0 w 27"/>
                  <a:gd name="T3" fmla="*/ 0 h 575"/>
                  <a:gd name="T4" fmla="*/ 0 w 27"/>
                  <a:gd name="T5" fmla="*/ 0 h 575"/>
                  <a:gd name="T6" fmla="*/ 0 w 27"/>
                  <a:gd name="T7" fmla="*/ 0 h 575"/>
                  <a:gd name="T8" fmla="*/ 0 w 27"/>
                  <a:gd name="T9" fmla="*/ 0 h 575"/>
                  <a:gd name="T10" fmla="*/ 0 w 27"/>
                  <a:gd name="T11" fmla="*/ 0 h 575"/>
                  <a:gd name="T12" fmla="*/ 0 w 27"/>
                  <a:gd name="T13" fmla="*/ 0 h 575"/>
                  <a:gd name="T14" fmla="*/ 0 w 27"/>
                  <a:gd name="T15" fmla="*/ 0 h 575"/>
                  <a:gd name="T16" fmla="*/ 0 w 27"/>
                  <a:gd name="T17" fmla="*/ 0 h 575"/>
                  <a:gd name="T18" fmla="*/ 0 w 27"/>
                  <a:gd name="T19" fmla="*/ 0 h 575"/>
                  <a:gd name="T20" fmla="*/ 0 w 27"/>
                  <a:gd name="T21" fmla="*/ 0 h 575"/>
                  <a:gd name="T22" fmla="*/ 0 w 27"/>
                  <a:gd name="T23" fmla="*/ 0 h 575"/>
                  <a:gd name="T24" fmla="*/ 0 w 27"/>
                  <a:gd name="T25" fmla="*/ 0 h 575"/>
                  <a:gd name="T26" fmla="*/ 0 w 27"/>
                  <a:gd name="T27" fmla="*/ 0 h 575"/>
                  <a:gd name="T28" fmla="*/ 0 w 27"/>
                  <a:gd name="T29" fmla="*/ 0 h 575"/>
                  <a:gd name="T30" fmla="*/ 0 w 27"/>
                  <a:gd name="T31" fmla="*/ 0 h 575"/>
                  <a:gd name="T32" fmla="*/ 0 w 27"/>
                  <a:gd name="T33" fmla="*/ 0 h 575"/>
                  <a:gd name="T34" fmla="*/ 0 w 27"/>
                  <a:gd name="T35" fmla="*/ 0 h 575"/>
                  <a:gd name="T36" fmla="*/ 0 w 27"/>
                  <a:gd name="T37" fmla="*/ 0 h 5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75">
                    <a:moveTo>
                      <a:pt x="0" y="575"/>
                    </a:moveTo>
                    <a:lnTo>
                      <a:pt x="0" y="0"/>
                    </a:lnTo>
                    <a:lnTo>
                      <a:pt x="3" y="1"/>
                    </a:lnTo>
                    <a:lnTo>
                      <a:pt x="7" y="2"/>
                    </a:lnTo>
                    <a:lnTo>
                      <a:pt x="10" y="4"/>
                    </a:lnTo>
                    <a:lnTo>
                      <a:pt x="14" y="5"/>
                    </a:lnTo>
                    <a:lnTo>
                      <a:pt x="17" y="7"/>
                    </a:lnTo>
                    <a:lnTo>
                      <a:pt x="20" y="8"/>
                    </a:lnTo>
                    <a:lnTo>
                      <a:pt x="24" y="10"/>
                    </a:lnTo>
                    <a:lnTo>
                      <a:pt x="27" y="12"/>
                    </a:lnTo>
                    <a:lnTo>
                      <a:pt x="27" y="563"/>
                    </a:lnTo>
                    <a:lnTo>
                      <a:pt x="24" y="564"/>
                    </a:lnTo>
                    <a:lnTo>
                      <a:pt x="20" y="566"/>
                    </a:lnTo>
                    <a:lnTo>
                      <a:pt x="17" y="568"/>
                    </a:lnTo>
                    <a:lnTo>
                      <a:pt x="14" y="570"/>
                    </a:lnTo>
                    <a:lnTo>
                      <a:pt x="10" y="571"/>
                    </a:lnTo>
                    <a:lnTo>
                      <a:pt x="7" y="573"/>
                    </a:lnTo>
                    <a:lnTo>
                      <a:pt x="3" y="574"/>
                    </a:lnTo>
                    <a:lnTo>
                      <a:pt x="0" y="57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52" name="Freeform 3848"/>
              <p:cNvSpPr>
                <a:spLocks noChangeAspect="1"/>
              </p:cNvSpPr>
              <p:nvPr/>
            </p:nvSpPr>
            <p:spPr bwMode="auto">
              <a:xfrm>
                <a:off x="5442" y="1050"/>
                <a:ext cx="9" cy="188"/>
              </a:xfrm>
              <a:custGeom>
                <a:avLst/>
                <a:gdLst>
                  <a:gd name="T0" fmla="*/ 0 w 27"/>
                  <a:gd name="T1" fmla="*/ 0 h 565"/>
                  <a:gd name="T2" fmla="*/ 0 w 27"/>
                  <a:gd name="T3" fmla="*/ 0 h 565"/>
                  <a:gd name="T4" fmla="*/ 0 w 27"/>
                  <a:gd name="T5" fmla="*/ 0 h 565"/>
                  <a:gd name="T6" fmla="*/ 0 w 27"/>
                  <a:gd name="T7" fmla="*/ 0 h 565"/>
                  <a:gd name="T8" fmla="*/ 0 w 27"/>
                  <a:gd name="T9" fmla="*/ 0 h 565"/>
                  <a:gd name="T10" fmla="*/ 0 w 27"/>
                  <a:gd name="T11" fmla="*/ 0 h 565"/>
                  <a:gd name="T12" fmla="*/ 0 w 27"/>
                  <a:gd name="T13" fmla="*/ 0 h 565"/>
                  <a:gd name="T14" fmla="*/ 0 w 27"/>
                  <a:gd name="T15" fmla="*/ 0 h 565"/>
                  <a:gd name="T16" fmla="*/ 0 w 27"/>
                  <a:gd name="T17" fmla="*/ 0 h 565"/>
                  <a:gd name="T18" fmla="*/ 0 w 27"/>
                  <a:gd name="T19" fmla="*/ 0 h 565"/>
                  <a:gd name="T20" fmla="*/ 0 w 27"/>
                  <a:gd name="T21" fmla="*/ 0 h 565"/>
                  <a:gd name="T22" fmla="*/ 0 w 27"/>
                  <a:gd name="T23" fmla="*/ 0 h 565"/>
                  <a:gd name="T24" fmla="*/ 0 w 27"/>
                  <a:gd name="T25" fmla="*/ 0 h 565"/>
                  <a:gd name="T26" fmla="*/ 0 w 27"/>
                  <a:gd name="T27" fmla="*/ 0 h 565"/>
                  <a:gd name="T28" fmla="*/ 0 w 27"/>
                  <a:gd name="T29" fmla="*/ 0 h 565"/>
                  <a:gd name="T30" fmla="*/ 0 w 27"/>
                  <a:gd name="T31" fmla="*/ 0 h 565"/>
                  <a:gd name="T32" fmla="*/ 0 w 27"/>
                  <a:gd name="T33" fmla="*/ 0 h 565"/>
                  <a:gd name="T34" fmla="*/ 0 w 27"/>
                  <a:gd name="T35" fmla="*/ 0 h 565"/>
                  <a:gd name="T36" fmla="*/ 0 w 27"/>
                  <a:gd name="T37" fmla="*/ 0 h 5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65">
                    <a:moveTo>
                      <a:pt x="0" y="565"/>
                    </a:moveTo>
                    <a:lnTo>
                      <a:pt x="0" y="0"/>
                    </a:lnTo>
                    <a:lnTo>
                      <a:pt x="4" y="2"/>
                    </a:lnTo>
                    <a:lnTo>
                      <a:pt x="7" y="3"/>
                    </a:lnTo>
                    <a:lnTo>
                      <a:pt x="11" y="5"/>
                    </a:lnTo>
                    <a:lnTo>
                      <a:pt x="14" y="7"/>
                    </a:lnTo>
                    <a:lnTo>
                      <a:pt x="17" y="9"/>
                    </a:lnTo>
                    <a:lnTo>
                      <a:pt x="20" y="11"/>
                    </a:lnTo>
                    <a:lnTo>
                      <a:pt x="23" y="12"/>
                    </a:lnTo>
                    <a:lnTo>
                      <a:pt x="27" y="14"/>
                    </a:lnTo>
                    <a:lnTo>
                      <a:pt x="27" y="551"/>
                    </a:lnTo>
                    <a:lnTo>
                      <a:pt x="23" y="553"/>
                    </a:lnTo>
                    <a:lnTo>
                      <a:pt x="20" y="554"/>
                    </a:lnTo>
                    <a:lnTo>
                      <a:pt x="17" y="556"/>
                    </a:lnTo>
                    <a:lnTo>
                      <a:pt x="14" y="558"/>
                    </a:lnTo>
                    <a:lnTo>
                      <a:pt x="11" y="559"/>
                    </a:lnTo>
                    <a:lnTo>
                      <a:pt x="7" y="561"/>
                    </a:lnTo>
                    <a:lnTo>
                      <a:pt x="4" y="563"/>
                    </a:lnTo>
                    <a:lnTo>
                      <a:pt x="0" y="5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53" name="Freeform 3849"/>
              <p:cNvSpPr>
                <a:spLocks noChangeAspect="1"/>
              </p:cNvSpPr>
              <p:nvPr/>
            </p:nvSpPr>
            <p:spPr bwMode="auto">
              <a:xfrm>
                <a:off x="5446" y="1052"/>
                <a:ext cx="9" cy="184"/>
              </a:xfrm>
              <a:custGeom>
                <a:avLst/>
                <a:gdLst>
                  <a:gd name="T0" fmla="*/ 0 w 26"/>
                  <a:gd name="T1" fmla="*/ 0 h 551"/>
                  <a:gd name="T2" fmla="*/ 0 w 26"/>
                  <a:gd name="T3" fmla="*/ 0 h 551"/>
                  <a:gd name="T4" fmla="*/ 0 w 26"/>
                  <a:gd name="T5" fmla="*/ 0 h 551"/>
                  <a:gd name="T6" fmla="*/ 0 w 26"/>
                  <a:gd name="T7" fmla="*/ 0 h 551"/>
                  <a:gd name="T8" fmla="*/ 0 w 26"/>
                  <a:gd name="T9" fmla="*/ 0 h 551"/>
                  <a:gd name="T10" fmla="*/ 0 w 26"/>
                  <a:gd name="T11" fmla="*/ 0 h 551"/>
                  <a:gd name="T12" fmla="*/ 0 w 26"/>
                  <a:gd name="T13" fmla="*/ 0 h 551"/>
                  <a:gd name="T14" fmla="*/ 0 w 26"/>
                  <a:gd name="T15" fmla="*/ 0 h 551"/>
                  <a:gd name="T16" fmla="*/ 0 w 26"/>
                  <a:gd name="T17" fmla="*/ 0 h 551"/>
                  <a:gd name="T18" fmla="*/ 0 w 26"/>
                  <a:gd name="T19" fmla="*/ 0 h 551"/>
                  <a:gd name="T20" fmla="*/ 0 w 26"/>
                  <a:gd name="T21" fmla="*/ 0 h 551"/>
                  <a:gd name="T22" fmla="*/ 0 w 26"/>
                  <a:gd name="T23" fmla="*/ 0 h 551"/>
                  <a:gd name="T24" fmla="*/ 0 w 26"/>
                  <a:gd name="T25" fmla="*/ 0 h 551"/>
                  <a:gd name="T26" fmla="*/ 0 w 26"/>
                  <a:gd name="T27" fmla="*/ 0 h 551"/>
                  <a:gd name="T28" fmla="*/ 0 w 26"/>
                  <a:gd name="T29" fmla="*/ 0 h 551"/>
                  <a:gd name="T30" fmla="*/ 0 w 26"/>
                  <a:gd name="T31" fmla="*/ 0 h 551"/>
                  <a:gd name="T32" fmla="*/ 0 w 26"/>
                  <a:gd name="T33" fmla="*/ 0 h 551"/>
                  <a:gd name="T34" fmla="*/ 0 w 26"/>
                  <a:gd name="T35" fmla="*/ 0 h 551"/>
                  <a:gd name="T36" fmla="*/ 0 w 26"/>
                  <a:gd name="T37" fmla="*/ 0 h 5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51">
                    <a:moveTo>
                      <a:pt x="0" y="551"/>
                    </a:moveTo>
                    <a:lnTo>
                      <a:pt x="0" y="0"/>
                    </a:lnTo>
                    <a:lnTo>
                      <a:pt x="3" y="2"/>
                    </a:lnTo>
                    <a:lnTo>
                      <a:pt x="6" y="4"/>
                    </a:lnTo>
                    <a:lnTo>
                      <a:pt x="9" y="5"/>
                    </a:lnTo>
                    <a:lnTo>
                      <a:pt x="14" y="7"/>
                    </a:lnTo>
                    <a:lnTo>
                      <a:pt x="17" y="9"/>
                    </a:lnTo>
                    <a:lnTo>
                      <a:pt x="20" y="11"/>
                    </a:lnTo>
                    <a:lnTo>
                      <a:pt x="23" y="13"/>
                    </a:lnTo>
                    <a:lnTo>
                      <a:pt x="26" y="15"/>
                    </a:lnTo>
                    <a:lnTo>
                      <a:pt x="26" y="535"/>
                    </a:lnTo>
                    <a:lnTo>
                      <a:pt x="23" y="537"/>
                    </a:lnTo>
                    <a:lnTo>
                      <a:pt x="20" y="540"/>
                    </a:lnTo>
                    <a:lnTo>
                      <a:pt x="17" y="542"/>
                    </a:lnTo>
                    <a:lnTo>
                      <a:pt x="14" y="544"/>
                    </a:lnTo>
                    <a:lnTo>
                      <a:pt x="9" y="545"/>
                    </a:lnTo>
                    <a:lnTo>
                      <a:pt x="6" y="547"/>
                    </a:lnTo>
                    <a:lnTo>
                      <a:pt x="3" y="549"/>
                    </a:lnTo>
                    <a:lnTo>
                      <a:pt x="0" y="55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54" name="Freeform 3850"/>
              <p:cNvSpPr>
                <a:spLocks noChangeAspect="1"/>
              </p:cNvSpPr>
              <p:nvPr/>
            </p:nvSpPr>
            <p:spPr bwMode="auto">
              <a:xfrm>
                <a:off x="5451" y="1055"/>
                <a:ext cx="8" cy="179"/>
              </a:xfrm>
              <a:custGeom>
                <a:avLst/>
                <a:gdLst>
                  <a:gd name="T0" fmla="*/ 0 w 26"/>
                  <a:gd name="T1" fmla="*/ 0 h 537"/>
                  <a:gd name="T2" fmla="*/ 0 w 26"/>
                  <a:gd name="T3" fmla="*/ 0 h 537"/>
                  <a:gd name="T4" fmla="*/ 0 w 26"/>
                  <a:gd name="T5" fmla="*/ 0 h 537"/>
                  <a:gd name="T6" fmla="*/ 0 w 26"/>
                  <a:gd name="T7" fmla="*/ 0 h 537"/>
                  <a:gd name="T8" fmla="*/ 0 w 26"/>
                  <a:gd name="T9" fmla="*/ 0 h 537"/>
                  <a:gd name="T10" fmla="*/ 0 w 26"/>
                  <a:gd name="T11" fmla="*/ 0 h 537"/>
                  <a:gd name="T12" fmla="*/ 0 w 26"/>
                  <a:gd name="T13" fmla="*/ 0 h 537"/>
                  <a:gd name="T14" fmla="*/ 0 w 26"/>
                  <a:gd name="T15" fmla="*/ 0 h 537"/>
                  <a:gd name="T16" fmla="*/ 0 w 26"/>
                  <a:gd name="T17" fmla="*/ 0 h 537"/>
                  <a:gd name="T18" fmla="*/ 0 w 26"/>
                  <a:gd name="T19" fmla="*/ 0 h 537"/>
                  <a:gd name="T20" fmla="*/ 0 w 26"/>
                  <a:gd name="T21" fmla="*/ 0 h 537"/>
                  <a:gd name="T22" fmla="*/ 0 w 26"/>
                  <a:gd name="T23" fmla="*/ 0 h 537"/>
                  <a:gd name="T24" fmla="*/ 0 w 26"/>
                  <a:gd name="T25" fmla="*/ 0 h 537"/>
                  <a:gd name="T26" fmla="*/ 0 w 26"/>
                  <a:gd name="T27" fmla="*/ 0 h 537"/>
                  <a:gd name="T28" fmla="*/ 0 w 26"/>
                  <a:gd name="T29" fmla="*/ 0 h 537"/>
                  <a:gd name="T30" fmla="*/ 0 w 26"/>
                  <a:gd name="T31" fmla="*/ 0 h 537"/>
                  <a:gd name="T32" fmla="*/ 0 w 26"/>
                  <a:gd name="T33" fmla="*/ 0 h 537"/>
                  <a:gd name="T34" fmla="*/ 0 w 26"/>
                  <a:gd name="T35" fmla="*/ 0 h 537"/>
                  <a:gd name="T36" fmla="*/ 0 w 26"/>
                  <a:gd name="T37" fmla="*/ 0 h 5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37">
                    <a:moveTo>
                      <a:pt x="0" y="537"/>
                    </a:moveTo>
                    <a:lnTo>
                      <a:pt x="0" y="0"/>
                    </a:lnTo>
                    <a:lnTo>
                      <a:pt x="4" y="2"/>
                    </a:lnTo>
                    <a:lnTo>
                      <a:pt x="7" y="4"/>
                    </a:lnTo>
                    <a:lnTo>
                      <a:pt x="10" y="6"/>
                    </a:lnTo>
                    <a:lnTo>
                      <a:pt x="13" y="8"/>
                    </a:lnTo>
                    <a:lnTo>
                      <a:pt x="17" y="11"/>
                    </a:lnTo>
                    <a:lnTo>
                      <a:pt x="20" y="13"/>
                    </a:lnTo>
                    <a:lnTo>
                      <a:pt x="23" y="15"/>
                    </a:lnTo>
                    <a:lnTo>
                      <a:pt x="26" y="17"/>
                    </a:lnTo>
                    <a:lnTo>
                      <a:pt x="26" y="520"/>
                    </a:lnTo>
                    <a:lnTo>
                      <a:pt x="23" y="522"/>
                    </a:lnTo>
                    <a:lnTo>
                      <a:pt x="20" y="524"/>
                    </a:lnTo>
                    <a:lnTo>
                      <a:pt x="17" y="526"/>
                    </a:lnTo>
                    <a:lnTo>
                      <a:pt x="13" y="528"/>
                    </a:lnTo>
                    <a:lnTo>
                      <a:pt x="10" y="530"/>
                    </a:lnTo>
                    <a:lnTo>
                      <a:pt x="7" y="533"/>
                    </a:lnTo>
                    <a:lnTo>
                      <a:pt x="4" y="535"/>
                    </a:lnTo>
                    <a:lnTo>
                      <a:pt x="0" y="53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55" name="Freeform 3851"/>
              <p:cNvSpPr>
                <a:spLocks noChangeAspect="1"/>
              </p:cNvSpPr>
              <p:nvPr/>
            </p:nvSpPr>
            <p:spPr bwMode="auto">
              <a:xfrm>
                <a:off x="5455" y="1057"/>
                <a:ext cx="9" cy="174"/>
              </a:xfrm>
              <a:custGeom>
                <a:avLst/>
                <a:gdLst>
                  <a:gd name="T0" fmla="*/ 0 w 27"/>
                  <a:gd name="T1" fmla="*/ 0 h 520"/>
                  <a:gd name="T2" fmla="*/ 0 w 27"/>
                  <a:gd name="T3" fmla="*/ 0 h 520"/>
                  <a:gd name="T4" fmla="*/ 0 w 27"/>
                  <a:gd name="T5" fmla="*/ 0 h 520"/>
                  <a:gd name="T6" fmla="*/ 0 w 27"/>
                  <a:gd name="T7" fmla="*/ 0 h 520"/>
                  <a:gd name="T8" fmla="*/ 0 w 27"/>
                  <a:gd name="T9" fmla="*/ 0 h 520"/>
                  <a:gd name="T10" fmla="*/ 0 w 27"/>
                  <a:gd name="T11" fmla="*/ 0 h 520"/>
                  <a:gd name="T12" fmla="*/ 0 w 27"/>
                  <a:gd name="T13" fmla="*/ 0 h 520"/>
                  <a:gd name="T14" fmla="*/ 0 w 27"/>
                  <a:gd name="T15" fmla="*/ 0 h 520"/>
                  <a:gd name="T16" fmla="*/ 0 w 27"/>
                  <a:gd name="T17" fmla="*/ 0 h 520"/>
                  <a:gd name="T18" fmla="*/ 0 w 27"/>
                  <a:gd name="T19" fmla="*/ 0 h 520"/>
                  <a:gd name="T20" fmla="*/ 0 w 27"/>
                  <a:gd name="T21" fmla="*/ 0 h 520"/>
                  <a:gd name="T22" fmla="*/ 0 w 27"/>
                  <a:gd name="T23" fmla="*/ 0 h 520"/>
                  <a:gd name="T24" fmla="*/ 0 w 27"/>
                  <a:gd name="T25" fmla="*/ 0 h 520"/>
                  <a:gd name="T26" fmla="*/ 0 w 27"/>
                  <a:gd name="T27" fmla="*/ 0 h 520"/>
                  <a:gd name="T28" fmla="*/ 0 w 27"/>
                  <a:gd name="T29" fmla="*/ 0 h 520"/>
                  <a:gd name="T30" fmla="*/ 0 w 27"/>
                  <a:gd name="T31" fmla="*/ 0 h 520"/>
                  <a:gd name="T32" fmla="*/ 0 w 27"/>
                  <a:gd name="T33" fmla="*/ 0 h 520"/>
                  <a:gd name="T34" fmla="*/ 0 w 27"/>
                  <a:gd name="T35" fmla="*/ 0 h 520"/>
                  <a:gd name="T36" fmla="*/ 0 w 27"/>
                  <a:gd name="T37" fmla="*/ 0 h 5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20">
                    <a:moveTo>
                      <a:pt x="0" y="520"/>
                    </a:moveTo>
                    <a:lnTo>
                      <a:pt x="0" y="0"/>
                    </a:lnTo>
                    <a:lnTo>
                      <a:pt x="4" y="3"/>
                    </a:lnTo>
                    <a:lnTo>
                      <a:pt x="7" y="5"/>
                    </a:lnTo>
                    <a:lnTo>
                      <a:pt x="10" y="7"/>
                    </a:lnTo>
                    <a:lnTo>
                      <a:pt x="14" y="9"/>
                    </a:lnTo>
                    <a:lnTo>
                      <a:pt x="18" y="12"/>
                    </a:lnTo>
                    <a:lnTo>
                      <a:pt x="21" y="14"/>
                    </a:lnTo>
                    <a:lnTo>
                      <a:pt x="24" y="16"/>
                    </a:lnTo>
                    <a:lnTo>
                      <a:pt x="27" y="20"/>
                    </a:lnTo>
                    <a:lnTo>
                      <a:pt x="27" y="501"/>
                    </a:lnTo>
                    <a:lnTo>
                      <a:pt x="24" y="504"/>
                    </a:lnTo>
                    <a:lnTo>
                      <a:pt x="21" y="507"/>
                    </a:lnTo>
                    <a:lnTo>
                      <a:pt x="18" y="509"/>
                    </a:lnTo>
                    <a:lnTo>
                      <a:pt x="14" y="511"/>
                    </a:lnTo>
                    <a:lnTo>
                      <a:pt x="10" y="514"/>
                    </a:lnTo>
                    <a:lnTo>
                      <a:pt x="7" y="516"/>
                    </a:lnTo>
                    <a:lnTo>
                      <a:pt x="4" y="518"/>
                    </a:lnTo>
                    <a:lnTo>
                      <a:pt x="0" y="5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56" name="Freeform 3852"/>
              <p:cNvSpPr>
                <a:spLocks noChangeAspect="1"/>
              </p:cNvSpPr>
              <p:nvPr/>
            </p:nvSpPr>
            <p:spPr bwMode="auto">
              <a:xfrm>
                <a:off x="5459" y="1060"/>
                <a:ext cx="9" cy="168"/>
              </a:xfrm>
              <a:custGeom>
                <a:avLst/>
                <a:gdLst>
                  <a:gd name="T0" fmla="*/ 0 w 27"/>
                  <a:gd name="T1" fmla="*/ 0 h 503"/>
                  <a:gd name="T2" fmla="*/ 0 w 27"/>
                  <a:gd name="T3" fmla="*/ 0 h 503"/>
                  <a:gd name="T4" fmla="*/ 0 w 27"/>
                  <a:gd name="T5" fmla="*/ 0 h 503"/>
                  <a:gd name="T6" fmla="*/ 0 w 27"/>
                  <a:gd name="T7" fmla="*/ 0 h 503"/>
                  <a:gd name="T8" fmla="*/ 0 w 27"/>
                  <a:gd name="T9" fmla="*/ 0 h 503"/>
                  <a:gd name="T10" fmla="*/ 0 w 27"/>
                  <a:gd name="T11" fmla="*/ 0 h 503"/>
                  <a:gd name="T12" fmla="*/ 0 w 27"/>
                  <a:gd name="T13" fmla="*/ 0 h 503"/>
                  <a:gd name="T14" fmla="*/ 0 w 27"/>
                  <a:gd name="T15" fmla="*/ 0 h 503"/>
                  <a:gd name="T16" fmla="*/ 0 w 27"/>
                  <a:gd name="T17" fmla="*/ 0 h 503"/>
                  <a:gd name="T18" fmla="*/ 0 w 27"/>
                  <a:gd name="T19" fmla="*/ 0 h 503"/>
                  <a:gd name="T20" fmla="*/ 0 w 27"/>
                  <a:gd name="T21" fmla="*/ 0 h 503"/>
                  <a:gd name="T22" fmla="*/ 0 w 27"/>
                  <a:gd name="T23" fmla="*/ 0 h 503"/>
                  <a:gd name="T24" fmla="*/ 0 w 27"/>
                  <a:gd name="T25" fmla="*/ 0 h 503"/>
                  <a:gd name="T26" fmla="*/ 0 w 27"/>
                  <a:gd name="T27" fmla="*/ 0 h 503"/>
                  <a:gd name="T28" fmla="*/ 0 w 27"/>
                  <a:gd name="T29" fmla="*/ 0 h 503"/>
                  <a:gd name="T30" fmla="*/ 0 w 27"/>
                  <a:gd name="T31" fmla="*/ 0 h 503"/>
                  <a:gd name="T32" fmla="*/ 0 w 27"/>
                  <a:gd name="T33" fmla="*/ 0 h 503"/>
                  <a:gd name="T34" fmla="*/ 0 w 27"/>
                  <a:gd name="T35" fmla="*/ 0 h 503"/>
                  <a:gd name="T36" fmla="*/ 0 w 27"/>
                  <a:gd name="T37" fmla="*/ 0 h 5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03">
                    <a:moveTo>
                      <a:pt x="0" y="503"/>
                    </a:moveTo>
                    <a:lnTo>
                      <a:pt x="0" y="0"/>
                    </a:lnTo>
                    <a:lnTo>
                      <a:pt x="5" y="2"/>
                    </a:lnTo>
                    <a:lnTo>
                      <a:pt x="8" y="5"/>
                    </a:lnTo>
                    <a:lnTo>
                      <a:pt x="11" y="7"/>
                    </a:lnTo>
                    <a:lnTo>
                      <a:pt x="14" y="11"/>
                    </a:lnTo>
                    <a:lnTo>
                      <a:pt x="17" y="13"/>
                    </a:lnTo>
                    <a:lnTo>
                      <a:pt x="20" y="16"/>
                    </a:lnTo>
                    <a:lnTo>
                      <a:pt x="24" y="18"/>
                    </a:lnTo>
                    <a:lnTo>
                      <a:pt x="27" y="21"/>
                    </a:lnTo>
                    <a:lnTo>
                      <a:pt x="27" y="482"/>
                    </a:lnTo>
                    <a:lnTo>
                      <a:pt x="24" y="484"/>
                    </a:lnTo>
                    <a:lnTo>
                      <a:pt x="20" y="487"/>
                    </a:lnTo>
                    <a:lnTo>
                      <a:pt x="17" y="490"/>
                    </a:lnTo>
                    <a:lnTo>
                      <a:pt x="14" y="492"/>
                    </a:lnTo>
                    <a:lnTo>
                      <a:pt x="11" y="495"/>
                    </a:lnTo>
                    <a:lnTo>
                      <a:pt x="8" y="498"/>
                    </a:lnTo>
                    <a:lnTo>
                      <a:pt x="5" y="500"/>
                    </a:lnTo>
                    <a:lnTo>
                      <a:pt x="0" y="50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57" name="Freeform 3853"/>
              <p:cNvSpPr>
                <a:spLocks noChangeAspect="1"/>
              </p:cNvSpPr>
              <p:nvPr/>
            </p:nvSpPr>
            <p:spPr bwMode="auto">
              <a:xfrm>
                <a:off x="5464" y="1064"/>
                <a:ext cx="9" cy="160"/>
              </a:xfrm>
              <a:custGeom>
                <a:avLst/>
                <a:gdLst>
                  <a:gd name="T0" fmla="*/ 0 w 27"/>
                  <a:gd name="T1" fmla="*/ 0 h 481"/>
                  <a:gd name="T2" fmla="*/ 0 w 27"/>
                  <a:gd name="T3" fmla="*/ 0 h 481"/>
                  <a:gd name="T4" fmla="*/ 0 w 27"/>
                  <a:gd name="T5" fmla="*/ 0 h 481"/>
                  <a:gd name="T6" fmla="*/ 0 w 27"/>
                  <a:gd name="T7" fmla="*/ 0 h 481"/>
                  <a:gd name="T8" fmla="*/ 0 w 27"/>
                  <a:gd name="T9" fmla="*/ 0 h 481"/>
                  <a:gd name="T10" fmla="*/ 0 w 27"/>
                  <a:gd name="T11" fmla="*/ 0 h 481"/>
                  <a:gd name="T12" fmla="*/ 0 w 27"/>
                  <a:gd name="T13" fmla="*/ 0 h 481"/>
                  <a:gd name="T14" fmla="*/ 0 w 27"/>
                  <a:gd name="T15" fmla="*/ 0 h 481"/>
                  <a:gd name="T16" fmla="*/ 0 w 27"/>
                  <a:gd name="T17" fmla="*/ 0 h 481"/>
                  <a:gd name="T18" fmla="*/ 0 w 27"/>
                  <a:gd name="T19" fmla="*/ 0 h 481"/>
                  <a:gd name="T20" fmla="*/ 0 w 27"/>
                  <a:gd name="T21" fmla="*/ 0 h 481"/>
                  <a:gd name="T22" fmla="*/ 0 w 27"/>
                  <a:gd name="T23" fmla="*/ 0 h 481"/>
                  <a:gd name="T24" fmla="*/ 0 w 27"/>
                  <a:gd name="T25" fmla="*/ 0 h 481"/>
                  <a:gd name="T26" fmla="*/ 0 w 27"/>
                  <a:gd name="T27" fmla="*/ 0 h 481"/>
                  <a:gd name="T28" fmla="*/ 0 w 27"/>
                  <a:gd name="T29" fmla="*/ 0 h 481"/>
                  <a:gd name="T30" fmla="*/ 0 w 27"/>
                  <a:gd name="T31" fmla="*/ 0 h 481"/>
                  <a:gd name="T32" fmla="*/ 0 w 27"/>
                  <a:gd name="T33" fmla="*/ 0 h 481"/>
                  <a:gd name="T34" fmla="*/ 0 w 27"/>
                  <a:gd name="T35" fmla="*/ 0 h 481"/>
                  <a:gd name="T36" fmla="*/ 0 w 27"/>
                  <a:gd name="T37" fmla="*/ 0 h 48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81">
                    <a:moveTo>
                      <a:pt x="0" y="481"/>
                    </a:moveTo>
                    <a:lnTo>
                      <a:pt x="0" y="0"/>
                    </a:lnTo>
                    <a:lnTo>
                      <a:pt x="3" y="2"/>
                    </a:lnTo>
                    <a:lnTo>
                      <a:pt x="6" y="5"/>
                    </a:lnTo>
                    <a:lnTo>
                      <a:pt x="10" y="8"/>
                    </a:lnTo>
                    <a:lnTo>
                      <a:pt x="14" y="10"/>
                    </a:lnTo>
                    <a:lnTo>
                      <a:pt x="17" y="13"/>
                    </a:lnTo>
                    <a:lnTo>
                      <a:pt x="20" y="17"/>
                    </a:lnTo>
                    <a:lnTo>
                      <a:pt x="24" y="20"/>
                    </a:lnTo>
                    <a:lnTo>
                      <a:pt x="27" y="23"/>
                    </a:lnTo>
                    <a:lnTo>
                      <a:pt x="27" y="458"/>
                    </a:lnTo>
                    <a:lnTo>
                      <a:pt x="24" y="461"/>
                    </a:lnTo>
                    <a:lnTo>
                      <a:pt x="20" y="464"/>
                    </a:lnTo>
                    <a:lnTo>
                      <a:pt x="17" y="467"/>
                    </a:lnTo>
                    <a:lnTo>
                      <a:pt x="14" y="471"/>
                    </a:lnTo>
                    <a:lnTo>
                      <a:pt x="10" y="473"/>
                    </a:lnTo>
                    <a:lnTo>
                      <a:pt x="6" y="476"/>
                    </a:lnTo>
                    <a:lnTo>
                      <a:pt x="3" y="479"/>
                    </a:lnTo>
                    <a:lnTo>
                      <a:pt x="0" y="4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58" name="Freeform 3854"/>
              <p:cNvSpPr>
                <a:spLocks noChangeAspect="1"/>
              </p:cNvSpPr>
              <p:nvPr/>
            </p:nvSpPr>
            <p:spPr bwMode="auto">
              <a:xfrm>
                <a:off x="5468" y="1067"/>
                <a:ext cx="9" cy="154"/>
              </a:xfrm>
              <a:custGeom>
                <a:avLst/>
                <a:gdLst>
                  <a:gd name="T0" fmla="*/ 0 w 26"/>
                  <a:gd name="T1" fmla="*/ 0 h 461"/>
                  <a:gd name="T2" fmla="*/ 0 w 26"/>
                  <a:gd name="T3" fmla="*/ 0 h 461"/>
                  <a:gd name="T4" fmla="*/ 0 w 26"/>
                  <a:gd name="T5" fmla="*/ 0 h 461"/>
                  <a:gd name="T6" fmla="*/ 0 w 26"/>
                  <a:gd name="T7" fmla="*/ 0 h 461"/>
                  <a:gd name="T8" fmla="*/ 0 w 26"/>
                  <a:gd name="T9" fmla="*/ 0 h 461"/>
                  <a:gd name="T10" fmla="*/ 0 w 26"/>
                  <a:gd name="T11" fmla="*/ 0 h 461"/>
                  <a:gd name="T12" fmla="*/ 0 w 26"/>
                  <a:gd name="T13" fmla="*/ 0 h 461"/>
                  <a:gd name="T14" fmla="*/ 0 w 26"/>
                  <a:gd name="T15" fmla="*/ 0 h 461"/>
                  <a:gd name="T16" fmla="*/ 0 w 26"/>
                  <a:gd name="T17" fmla="*/ 0 h 461"/>
                  <a:gd name="T18" fmla="*/ 0 w 26"/>
                  <a:gd name="T19" fmla="*/ 0 h 461"/>
                  <a:gd name="T20" fmla="*/ 0 w 26"/>
                  <a:gd name="T21" fmla="*/ 0 h 461"/>
                  <a:gd name="T22" fmla="*/ 0 w 26"/>
                  <a:gd name="T23" fmla="*/ 0 h 461"/>
                  <a:gd name="T24" fmla="*/ 0 w 26"/>
                  <a:gd name="T25" fmla="*/ 0 h 461"/>
                  <a:gd name="T26" fmla="*/ 0 w 26"/>
                  <a:gd name="T27" fmla="*/ 0 h 461"/>
                  <a:gd name="T28" fmla="*/ 0 w 26"/>
                  <a:gd name="T29" fmla="*/ 0 h 461"/>
                  <a:gd name="T30" fmla="*/ 0 w 26"/>
                  <a:gd name="T31" fmla="*/ 0 h 461"/>
                  <a:gd name="T32" fmla="*/ 0 w 26"/>
                  <a:gd name="T33" fmla="*/ 0 h 461"/>
                  <a:gd name="T34" fmla="*/ 0 w 26"/>
                  <a:gd name="T35" fmla="*/ 0 h 461"/>
                  <a:gd name="T36" fmla="*/ 0 w 26"/>
                  <a:gd name="T37" fmla="*/ 0 h 4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61">
                    <a:moveTo>
                      <a:pt x="0" y="461"/>
                    </a:moveTo>
                    <a:lnTo>
                      <a:pt x="0" y="0"/>
                    </a:lnTo>
                    <a:lnTo>
                      <a:pt x="4" y="3"/>
                    </a:lnTo>
                    <a:lnTo>
                      <a:pt x="7" y="7"/>
                    </a:lnTo>
                    <a:lnTo>
                      <a:pt x="11" y="10"/>
                    </a:lnTo>
                    <a:lnTo>
                      <a:pt x="14" y="13"/>
                    </a:lnTo>
                    <a:lnTo>
                      <a:pt x="17" y="16"/>
                    </a:lnTo>
                    <a:lnTo>
                      <a:pt x="20" y="19"/>
                    </a:lnTo>
                    <a:lnTo>
                      <a:pt x="23" y="23"/>
                    </a:lnTo>
                    <a:lnTo>
                      <a:pt x="26" y="27"/>
                    </a:lnTo>
                    <a:lnTo>
                      <a:pt x="26" y="434"/>
                    </a:lnTo>
                    <a:lnTo>
                      <a:pt x="23" y="437"/>
                    </a:lnTo>
                    <a:lnTo>
                      <a:pt x="20" y="441"/>
                    </a:lnTo>
                    <a:lnTo>
                      <a:pt x="17" y="445"/>
                    </a:lnTo>
                    <a:lnTo>
                      <a:pt x="14" y="448"/>
                    </a:lnTo>
                    <a:lnTo>
                      <a:pt x="11" y="451"/>
                    </a:lnTo>
                    <a:lnTo>
                      <a:pt x="7" y="454"/>
                    </a:lnTo>
                    <a:lnTo>
                      <a:pt x="4" y="457"/>
                    </a:lnTo>
                    <a:lnTo>
                      <a:pt x="0" y="46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59" name="Freeform 3855"/>
              <p:cNvSpPr>
                <a:spLocks noChangeAspect="1"/>
              </p:cNvSpPr>
              <p:nvPr/>
            </p:nvSpPr>
            <p:spPr bwMode="auto">
              <a:xfrm>
                <a:off x="5473" y="1072"/>
                <a:ext cx="9" cy="145"/>
              </a:xfrm>
              <a:custGeom>
                <a:avLst/>
                <a:gdLst>
                  <a:gd name="T0" fmla="*/ 0 w 26"/>
                  <a:gd name="T1" fmla="*/ 0 h 435"/>
                  <a:gd name="T2" fmla="*/ 0 w 26"/>
                  <a:gd name="T3" fmla="*/ 0 h 435"/>
                  <a:gd name="T4" fmla="*/ 0 w 26"/>
                  <a:gd name="T5" fmla="*/ 0 h 435"/>
                  <a:gd name="T6" fmla="*/ 0 w 26"/>
                  <a:gd name="T7" fmla="*/ 0 h 435"/>
                  <a:gd name="T8" fmla="*/ 0 w 26"/>
                  <a:gd name="T9" fmla="*/ 0 h 435"/>
                  <a:gd name="T10" fmla="*/ 0 w 26"/>
                  <a:gd name="T11" fmla="*/ 0 h 435"/>
                  <a:gd name="T12" fmla="*/ 0 w 26"/>
                  <a:gd name="T13" fmla="*/ 0 h 435"/>
                  <a:gd name="T14" fmla="*/ 0 w 26"/>
                  <a:gd name="T15" fmla="*/ 0 h 435"/>
                  <a:gd name="T16" fmla="*/ 0 w 26"/>
                  <a:gd name="T17" fmla="*/ 0 h 435"/>
                  <a:gd name="T18" fmla="*/ 0 w 26"/>
                  <a:gd name="T19" fmla="*/ 0 h 435"/>
                  <a:gd name="T20" fmla="*/ 0 w 26"/>
                  <a:gd name="T21" fmla="*/ 0 h 435"/>
                  <a:gd name="T22" fmla="*/ 0 w 26"/>
                  <a:gd name="T23" fmla="*/ 0 h 435"/>
                  <a:gd name="T24" fmla="*/ 0 w 26"/>
                  <a:gd name="T25" fmla="*/ 0 h 435"/>
                  <a:gd name="T26" fmla="*/ 0 w 26"/>
                  <a:gd name="T27" fmla="*/ 0 h 435"/>
                  <a:gd name="T28" fmla="*/ 0 w 26"/>
                  <a:gd name="T29" fmla="*/ 0 h 435"/>
                  <a:gd name="T30" fmla="*/ 0 w 26"/>
                  <a:gd name="T31" fmla="*/ 0 h 435"/>
                  <a:gd name="T32" fmla="*/ 0 w 26"/>
                  <a:gd name="T33" fmla="*/ 0 h 435"/>
                  <a:gd name="T34" fmla="*/ 0 w 26"/>
                  <a:gd name="T35" fmla="*/ 0 h 435"/>
                  <a:gd name="T36" fmla="*/ 0 w 26"/>
                  <a:gd name="T37" fmla="*/ 0 h 4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35">
                    <a:moveTo>
                      <a:pt x="0" y="435"/>
                    </a:moveTo>
                    <a:lnTo>
                      <a:pt x="0" y="0"/>
                    </a:lnTo>
                    <a:lnTo>
                      <a:pt x="3" y="3"/>
                    </a:lnTo>
                    <a:lnTo>
                      <a:pt x="6" y="6"/>
                    </a:lnTo>
                    <a:lnTo>
                      <a:pt x="10" y="11"/>
                    </a:lnTo>
                    <a:lnTo>
                      <a:pt x="14" y="14"/>
                    </a:lnTo>
                    <a:lnTo>
                      <a:pt x="17" y="18"/>
                    </a:lnTo>
                    <a:lnTo>
                      <a:pt x="20" y="21"/>
                    </a:lnTo>
                    <a:lnTo>
                      <a:pt x="23" y="25"/>
                    </a:lnTo>
                    <a:lnTo>
                      <a:pt x="26" y="29"/>
                    </a:lnTo>
                    <a:lnTo>
                      <a:pt x="26" y="405"/>
                    </a:lnTo>
                    <a:lnTo>
                      <a:pt x="23" y="409"/>
                    </a:lnTo>
                    <a:lnTo>
                      <a:pt x="20" y="414"/>
                    </a:lnTo>
                    <a:lnTo>
                      <a:pt x="17" y="417"/>
                    </a:lnTo>
                    <a:lnTo>
                      <a:pt x="14" y="421"/>
                    </a:lnTo>
                    <a:lnTo>
                      <a:pt x="10" y="424"/>
                    </a:lnTo>
                    <a:lnTo>
                      <a:pt x="6" y="428"/>
                    </a:lnTo>
                    <a:lnTo>
                      <a:pt x="3" y="432"/>
                    </a:lnTo>
                    <a:lnTo>
                      <a:pt x="0" y="43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60" name="Freeform 3856"/>
              <p:cNvSpPr>
                <a:spLocks noChangeAspect="1"/>
              </p:cNvSpPr>
              <p:nvPr/>
            </p:nvSpPr>
            <p:spPr bwMode="auto">
              <a:xfrm>
                <a:off x="5477" y="1076"/>
                <a:ext cx="9" cy="136"/>
              </a:xfrm>
              <a:custGeom>
                <a:avLst/>
                <a:gdLst>
                  <a:gd name="T0" fmla="*/ 0 w 27"/>
                  <a:gd name="T1" fmla="*/ 0 h 407"/>
                  <a:gd name="T2" fmla="*/ 0 w 27"/>
                  <a:gd name="T3" fmla="*/ 0 h 407"/>
                  <a:gd name="T4" fmla="*/ 0 w 27"/>
                  <a:gd name="T5" fmla="*/ 0 h 407"/>
                  <a:gd name="T6" fmla="*/ 0 w 27"/>
                  <a:gd name="T7" fmla="*/ 0 h 407"/>
                  <a:gd name="T8" fmla="*/ 0 w 27"/>
                  <a:gd name="T9" fmla="*/ 0 h 407"/>
                  <a:gd name="T10" fmla="*/ 0 w 27"/>
                  <a:gd name="T11" fmla="*/ 0 h 407"/>
                  <a:gd name="T12" fmla="*/ 0 w 27"/>
                  <a:gd name="T13" fmla="*/ 0 h 407"/>
                  <a:gd name="T14" fmla="*/ 0 w 27"/>
                  <a:gd name="T15" fmla="*/ 0 h 407"/>
                  <a:gd name="T16" fmla="*/ 0 w 27"/>
                  <a:gd name="T17" fmla="*/ 0 h 407"/>
                  <a:gd name="T18" fmla="*/ 0 w 27"/>
                  <a:gd name="T19" fmla="*/ 0 h 407"/>
                  <a:gd name="T20" fmla="*/ 0 w 27"/>
                  <a:gd name="T21" fmla="*/ 0 h 407"/>
                  <a:gd name="T22" fmla="*/ 0 w 27"/>
                  <a:gd name="T23" fmla="*/ 0 h 407"/>
                  <a:gd name="T24" fmla="*/ 0 w 27"/>
                  <a:gd name="T25" fmla="*/ 0 h 407"/>
                  <a:gd name="T26" fmla="*/ 0 w 27"/>
                  <a:gd name="T27" fmla="*/ 0 h 407"/>
                  <a:gd name="T28" fmla="*/ 0 w 27"/>
                  <a:gd name="T29" fmla="*/ 0 h 407"/>
                  <a:gd name="T30" fmla="*/ 0 w 27"/>
                  <a:gd name="T31" fmla="*/ 0 h 407"/>
                  <a:gd name="T32" fmla="*/ 0 w 27"/>
                  <a:gd name="T33" fmla="*/ 0 h 407"/>
                  <a:gd name="T34" fmla="*/ 0 w 27"/>
                  <a:gd name="T35" fmla="*/ 0 h 407"/>
                  <a:gd name="T36" fmla="*/ 0 w 27"/>
                  <a:gd name="T37" fmla="*/ 0 h 40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07">
                    <a:moveTo>
                      <a:pt x="0" y="407"/>
                    </a:moveTo>
                    <a:lnTo>
                      <a:pt x="0" y="0"/>
                    </a:lnTo>
                    <a:lnTo>
                      <a:pt x="5" y="3"/>
                    </a:lnTo>
                    <a:lnTo>
                      <a:pt x="8" y="7"/>
                    </a:lnTo>
                    <a:lnTo>
                      <a:pt x="11" y="11"/>
                    </a:lnTo>
                    <a:lnTo>
                      <a:pt x="14" y="16"/>
                    </a:lnTo>
                    <a:lnTo>
                      <a:pt x="17" y="20"/>
                    </a:lnTo>
                    <a:lnTo>
                      <a:pt x="21" y="24"/>
                    </a:lnTo>
                    <a:lnTo>
                      <a:pt x="24" y="29"/>
                    </a:lnTo>
                    <a:lnTo>
                      <a:pt x="27" y="33"/>
                    </a:lnTo>
                    <a:lnTo>
                      <a:pt x="27" y="373"/>
                    </a:lnTo>
                    <a:lnTo>
                      <a:pt x="24" y="378"/>
                    </a:lnTo>
                    <a:lnTo>
                      <a:pt x="21" y="383"/>
                    </a:lnTo>
                    <a:lnTo>
                      <a:pt x="17" y="387"/>
                    </a:lnTo>
                    <a:lnTo>
                      <a:pt x="14" y="391"/>
                    </a:lnTo>
                    <a:lnTo>
                      <a:pt x="11" y="395"/>
                    </a:lnTo>
                    <a:lnTo>
                      <a:pt x="8" y="400"/>
                    </a:lnTo>
                    <a:lnTo>
                      <a:pt x="5" y="403"/>
                    </a:lnTo>
                    <a:lnTo>
                      <a:pt x="0" y="4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61" name="Freeform 3857"/>
              <p:cNvSpPr>
                <a:spLocks noChangeAspect="1"/>
              </p:cNvSpPr>
              <p:nvPr/>
            </p:nvSpPr>
            <p:spPr bwMode="auto">
              <a:xfrm>
                <a:off x="5482" y="1081"/>
                <a:ext cx="9" cy="126"/>
              </a:xfrm>
              <a:custGeom>
                <a:avLst/>
                <a:gdLst>
                  <a:gd name="T0" fmla="*/ 0 w 27"/>
                  <a:gd name="T1" fmla="*/ 0 h 376"/>
                  <a:gd name="T2" fmla="*/ 0 w 27"/>
                  <a:gd name="T3" fmla="*/ 0 h 376"/>
                  <a:gd name="T4" fmla="*/ 0 w 27"/>
                  <a:gd name="T5" fmla="*/ 0 h 376"/>
                  <a:gd name="T6" fmla="*/ 0 w 27"/>
                  <a:gd name="T7" fmla="*/ 0 h 376"/>
                  <a:gd name="T8" fmla="*/ 0 w 27"/>
                  <a:gd name="T9" fmla="*/ 0 h 376"/>
                  <a:gd name="T10" fmla="*/ 0 w 27"/>
                  <a:gd name="T11" fmla="*/ 0 h 376"/>
                  <a:gd name="T12" fmla="*/ 0 w 27"/>
                  <a:gd name="T13" fmla="*/ 0 h 376"/>
                  <a:gd name="T14" fmla="*/ 0 w 27"/>
                  <a:gd name="T15" fmla="*/ 0 h 376"/>
                  <a:gd name="T16" fmla="*/ 0 w 27"/>
                  <a:gd name="T17" fmla="*/ 0 h 376"/>
                  <a:gd name="T18" fmla="*/ 0 w 27"/>
                  <a:gd name="T19" fmla="*/ 0 h 376"/>
                  <a:gd name="T20" fmla="*/ 0 w 27"/>
                  <a:gd name="T21" fmla="*/ 0 h 376"/>
                  <a:gd name="T22" fmla="*/ 0 w 27"/>
                  <a:gd name="T23" fmla="*/ 0 h 376"/>
                  <a:gd name="T24" fmla="*/ 0 w 27"/>
                  <a:gd name="T25" fmla="*/ 0 h 376"/>
                  <a:gd name="T26" fmla="*/ 0 w 27"/>
                  <a:gd name="T27" fmla="*/ 0 h 376"/>
                  <a:gd name="T28" fmla="*/ 0 w 27"/>
                  <a:gd name="T29" fmla="*/ 0 h 376"/>
                  <a:gd name="T30" fmla="*/ 0 w 27"/>
                  <a:gd name="T31" fmla="*/ 0 h 376"/>
                  <a:gd name="T32" fmla="*/ 0 w 27"/>
                  <a:gd name="T33" fmla="*/ 0 h 376"/>
                  <a:gd name="T34" fmla="*/ 0 w 27"/>
                  <a:gd name="T35" fmla="*/ 0 h 376"/>
                  <a:gd name="T36" fmla="*/ 0 w 27"/>
                  <a:gd name="T37" fmla="*/ 0 h 3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376">
                    <a:moveTo>
                      <a:pt x="0" y="376"/>
                    </a:moveTo>
                    <a:lnTo>
                      <a:pt x="0" y="0"/>
                    </a:lnTo>
                    <a:lnTo>
                      <a:pt x="3" y="5"/>
                    </a:lnTo>
                    <a:lnTo>
                      <a:pt x="7" y="9"/>
                    </a:lnTo>
                    <a:lnTo>
                      <a:pt x="11" y="15"/>
                    </a:lnTo>
                    <a:lnTo>
                      <a:pt x="14" y="19"/>
                    </a:lnTo>
                    <a:lnTo>
                      <a:pt x="17" y="24"/>
                    </a:lnTo>
                    <a:lnTo>
                      <a:pt x="21" y="29"/>
                    </a:lnTo>
                    <a:lnTo>
                      <a:pt x="24" y="34"/>
                    </a:lnTo>
                    <a:lnTo>
                      <a:pt x="27" y="39"/>
                    </a:lnTo>
                    <a:lnTo>
                      <a:pt x="27" y="338"/>
                    </a:lnTo>
                    <a:lnTo>
                      <a:pt x="24" y="342"/>
                    </a:lnTo>
                    <a:lnTo>
                      <a:pt x="21" y="347"/>
                    </a:lnTo>
                    <a:lnTo>
                      <a:pt x="17" y="353"/>
                    </a:lnTo>
                    <a:lnTo>
                      <a:pt x="14" y="357"/>
                    </a:lnTo>
                    <a:lnTo>
                      <a:pt x="11" y="362"/>
                    </a:lnTo>
                    <a:lnTo>
                      <a:pt x="7" y="368"/>
                    </a:lnTo>
                    <a:lnTo>
                      <a:pt x="3" y="372"/>
                    </a:lnTo>
                    <a:lnTo>
                      <a:pt x="0" y="37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62" name="Freeform 3858"/>
              <p:cNvSpPr>
                <a:spLocks noChangeAspect="1"/>
              </p:cNvSpPr>
              <p:nvPr/>
            </p:nvSpPr>
            <p:spPr bwMode="auto">
              <a:xfrm>
                <a:off x="5486" y="1087"/>
                <a:ext cx="9" cy="114"/>
              </a:xfrm>
              <a:custGeom>
                <a:avLst/>
                <a:gdLst>
                  <a:gd name="T0" fmla="*/ 0 w 27"/>
                  <a:gd name="T1" fmla="*/ 0 h 340"/>
                  <a:gd name="T2" fmla="*/ 0 w 27"/>
                  <a:gd name="T3" fmla="*/ 0 h 340"/>
                  <a:gd name="T4" fmla="*/ 0 w 27"/>
                  <a:gd name="T5" fmla="*/ 0 h 340"/>
                  <a:gd name="T6" fmla="*/ 0 w 27"/>
                  <a:gd name="T7" fmla="*/ 0 h 340"/>
                  <a:gd name="T8" fmla="*/ 0 w 27"/>
                  <a:gd name="T9" fmla="*/ 0 h 340"/>
                  <a:gd name="T10" fmla="*/ 0 w 27"/>
                  <a:gd name="T11" fmla="*/ 0 h 340"/>
                  <a:gd name="T12" fmla="*/ 0 w 27"/>
                  <a:gd name="T13" fmla="*/ 0 h 340"/>
                  <a:gd name="T14" fmla="*/ 0 w 27"/>
                  <a:gd name="T15" fmla="*/ 0 h 340"/>
                  <a:gd name="T16" fmla="*/ 0 w 27"/>
                  <a:gd name="T17" fmla="*/ 0 h 340"/>
                  <a:gd name="T18" fmla="*/ 0 w 27"/>
                  <a:gd name="T19" fmla="*/ 0 h 340"/>
                  <a:gd name="T20" fmla="*/ 0 w 27"/>
                  <a:gd name="T21" fmla="*/ 0 h 340"/>
                  <a:gd name="T22" fmla="*/ 0 w 27"/>
                  <a:gd name="T23" fmla="*/ 0 h 340"/>
                  <a:gd name="T24" fmla="*/ 0 w 27"/>
                  <a:gd name="T25" fmla="*/ 0 h 340"/>
                  <a:gd name="T26" fmla="*/ 0 w 27"/>
                  <a:gd name="T27" fmla="*/ 0 h 340"/>
                  <a:gd name="T28" fmla="*/ 0 w 27"/>
                  <a:gd name="T29" fmla="*/ 0 h 340"/>
                  <a:gd name="T30" fmla="*/ 0 w 27"/>
                  <a:gd name="T31" fmla="*/ 0 h 340"/>
                  <a:gd name="T32" fmla="*/ 0 w 27"/>
                  <a:gd name="T33" fmla="*/ 0 h 340"/>
                  <a:gd name="T34" fmla="*/ 0 w 27"/>
                  <a:gd name="T35" fmla="*/ 0 h 340"/>
                  <a:gd name="T36" fmla="*/ 0 w 27"/>
                  <a:gd name="T37" fmla="*/ 0 h 3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340">
                    <a:moveTo>
                      <a:pt x="0" y="340"/>
                    </a:moveTo>
                    <a:lnTo>
                      <a:pt x="0" y="0"/>
                    </a:lnTo>
                    <a:lnTo>
                      <a:pt x="4" y="6"/>
                    </a:lnTo>
                    <a:lnTo>
                      <a:pt x="8" y="11"/>
                    </a:lnTo>
                    <a:lnTo>
                      <a:pt x="11" y="17"/>
                    </a:lnTo>
                    <a:lnTo>
                      <a:pt x="15" y="23"/>
                    </a:lnTo>
                    <a:lnTo>
                      <a:pt x="18" y="30"/>
                    </a:lnTo>
                    <a:lnTo>
                      <a:pt x="21" y="35"/>
                    </a:lnTo>
                    <a:lnTo>
                      <a:pt x="23" y="41"/>
                    </a:lnTo>
                    <a:lnTo>
                      <a:pt x="27" y="48"/>
                    </a:lnTo>
                    <a:lnTo>
                      <a:pt x="27" y="293"/>
                    </a:lnTo>
                    <a:lnTo>
                      <a:pt x="23" y="300"/>
                    </a:lnTo>
                    <a:lnTo>
                      <a:pt x="21" y="306"/>
                    </a:lnTo>
                    <a:lnTo>
                      <a:pt x="18" y="311"/>
                    </a:lnTo>
                    <a:lnTo>
                      <a:pt x="15" y="318"/>
                    </a:lnTo>
                    <a:lnTo>
                      <a:pt x="11" y="323"/>
                    </a:lnTo>
                    <a:lnTo>
                      <a:pt x="8" y="329"/>
                    </a:lnTo>
                    <a:lnTo>
                      <a:pt x="4" y="335"/>
                    </a:lnTo>
                    <a:lnTo>
                      <a:pt x="0" y="34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63" name="Freeform 3859"/>
              <p:cNvSpPr>
                <a:spLocks noChangeAspect="1"/>
              </p:cNvSpPr>
              <p:nvPr/>
            </p:nvSpPr>
            <p:spPr bwMode="auto">
              <a:xfrm>
                <a:off x="5491" y="1094"/>
                <a:ext cx="9" cy="100"/>
              </a:xfrm>
              <a:custGeom>
                <a:avLst/>
                <a:gdLst>
                  <a:gd name="T0" fmla="*/ 0 w 27"/>
                  <a:gd name="T1" fmla="*/ 0 h 299"/>
                  <a:gd name="T2" fmla="*/ 0 w 27"/>
                  <a:gd name="T3" fmla="*/ 0 h 299"/>
                  <a:gd name="T4" fmla="*/ 0 w 27"/>
                  <a:gd name="T5" fmla="*/ 0 h 299"/>
                  <a:gd name="T6" fmla="*/ 0 w 27"/>
                  <a:gd name="T7" fmla="*/ 0 h 299"/>
                  <a:gd name="T8" fmla="*/ 0 w 27"/>
                  <a:gd name="T9" fmla="*/ 0 h 299"/>
                  <a:gd name="T10" fmla="*/ 0 w 27"/>
                  <a:gd name="T11" fmla="*/ 0 h 299"/>
                  <a:gd name="T12" fmla="*/ 0 w 27"/>
                  <a:gd name="T13" fmla="*/ 0 h 299"/>
                  <a:gd name="T14" fmla="*/ 0 w 27"/>
                  <a:gd name="T15" fmla="*/ 0 h 299"/>
                  <a:gd name="T16" fmla="*/ 0 w 27"/>
                  <a:gd name="T17" fmla="*/ 0 h 299"/>
                  <a:gd name="T18" fmla="*/ 0 w 27"/>
                  <a:gd name="T19" fmla="*/ 0 h 299"/>
                  <a:gd name="T20" fmla="*/ 0 w 27"/>
                  <a:gd name="T21" fmla="*/ 0 h 299"/>
                  <a:gd name="T22" fmla="*/ 0 w 27"/>
                  <a:gd name="T23" fmla="*/ 0 h 299"/>
                  <a:gd name="T24" fmla="*/ 0 w 27"/>
                  <a:gd name="T25" fmla="*/ 0 h 299"/>
                  <a:gd name="T26" fmla="*/ 0 w 27"/>
                  <a:gd name="T27" fmla="*/ 0 h 299"/>
                  <a:gd name="T28" fmla="*/ 0 w 27"/>
                  <a:gd name="T29" fmla="*/ 0 h 299"/>
                  <a:gd name="T30" fmla="*/ 0 w 27"/>
                  <a:gd name="T31" fmla="*/ 0 h 299"/>
                  <a:gd name="T32" fmla="*/ 0 w 27"/>
                  <a:gd name="T33" fmla="*/ 0 h 299"/>
                  <a:gd name="T34" fmla="*/ 0 w 27"/>
                  <a:gd name="T35" fmla="*/ 0 h 299"/>
                  <a:gd name="T36" fmla="*/ 0 w 27"/>
                  <a:gd name="T37" fmla="*/ 0 h 29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299">
                    <a:moveTo>
                      <a:pt x="0" y="299"/>
                    </a:moveTo>
                    <a:lnTo>
                      <a:pt x="0" y="0"/>
                    </a:lnTo>
                    <a:lnTo>
                      <a:pt x="3" y="7"/>
                    </a:lnTo>
                    <a:lnTo>
                      <a:pt x="7" y="15"/>
                    </a:lnTo>
                    <a:lnTo>
                      <a:pt x="11" y="22"/>
                    </a:lnTo>
                    <a:lnTo>
                      <a:pt x="15" y="30"/>
                    </a:lnTo>
                    <a:lnTo>
                      <a:pt x="18" y="37"/>
                    </a:lnTo>
                    <a:lnTo>
                      <a:pt x="21" y="46"/>
                    </a:lnTo>
                    <a:lnTo>
                      <a:pt x="23" y="53"/>
                    </a:lnTo>
                    <a:lnTo>
                      <a:pt x="27" y="62"/>
                    </a:lnTo>
                    <a:lnTo>
                      <a:pt x="27" y="237"/>
                    </a:lnTo>
                    <a:lnTo>
                      <a:pt x="23" y="246"/>
                    </a:lnTo>
                    <a:lnTo>
                      <a:pt x="21" y="253"/>
                    </a:lnTo>
                    <a:lnTo>
                      <a:pt x="18" y="260"/>
                    </a:lnTo>
                    <a:lnTo>
                      <a:pt x="15" y="269"/>
                    </a:lnTo>
                    <a:lnTo>
                      <a:pt x="11" y="276"/>
                    </a:lnTo>
                    <a:lnTo>
                      <a:pt x="7" y="284"/>
                    </a:lnTo>
                    <a:lnTo>
                      <a:pt x="3" y="291"/>
                    </a:lnTo>
                    <a:lnTo>
                      <a:pt x="0" y="29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64" name="Freeform 3860"/>
              <p:cNvSpPr>
                <a:spLocks noChangeAspect="1"/>
              </p:cNvSpPr>
              <p:nvPr/>
            </p:nvSpPr>
            <p:spPr bwMode="auto">
              <a:xfrm>
                <a:off x="5495" y="1103"/>
                <a:ext cx="9" cy="82"/>
              </a:xfrm>
              <a:custGeom>
                <a:avLst/>
                <a:gdLst>
                  <a:gd name="T0" fmla="*/ 0 w 26"/>
                  <a:gd name="T1" fmla="*/ 0 h 245"/>
                  <a:gd name="T2" fmla="*/ 0 w 26"/>
                  <a:gd name="T3" fmla="*/ 0 h 245"/>
                  <a:gd name="T4" fmla="*/ 0 w 26"/>
                  <a:gd name="T5" fmla="*/ 0 h 245"/>
                  <a:gd name="T6" fmla="*/ 0 w 26"/>
                  <a:gd name="T7" fmla="*/ 0 h 245"/>
                  <a:gd name="T8" fmla="*/ 0 w 26"/>
                  <a:gd name="T9" fmla="*/ 0 h 245"/>
                  <a:gd name="T10" fmla="*/ 0 w 26"/>
                  <a:gd name="T11" fmla="*/ 0 h 245"/>
                  <a:gd name="T12" fmla="*/ 0 w 26"/>
                  <a:gd name="T13" fmla="*/ 0 h 245"/>
                  <a:gd name="T14" fmla="*/ 0 w 26"/>
                  <a:gd name="T15" fmla="*/ 0 h 245"/>
                  <a:gd name="T16" fmla="*/ 0 w 26"/>
                  <a:gd name="T17" fmla="*/ 0 h 245"/>
                  <a:gd name="T18" fmla="*/ 0 w 26"/>
                  <a:gd name="T19" fmla="*/ 0 h 245"/>
                  <a:gd name="T20" fmla="*/ 0 w 26"/>
                  <a:gd name="T21" fmla="*/ 0 h 245"/>
                  <a:gd name="T22" fmla="*/ 0 w 26"/>
                  <a:gd name="T23" fmla="*/ 0 h 245"/>
                  <a:gd name="T24" fmla="*/ 0 w 26"/>
                  <a:gd name="T25" fmla="*/ 0 h 245"/>
                  <a:gd name="T26" fmla="*/ 0 w 26"/>
                  <a:gd name="T27" fmla="*/ 0 h 245"/>
                  <a:gd name="T28" fmla="*/ 0 w 26"/>
                  <a:gd name="T29" fmla="*/ 0 h 245"/>
                  <a:gd name="T30" fmla="*/ 0 w 26"/>
                  <a:gd name="T31" fmla="*/ 0 h 245"/>
                  <a:gd name="T32" fmla="*/ 0 w 26"/>
                  <a:gd name="T33" fmla="*/ 0 h 245"/>
                  <a:gd name="T34" fmla="*/ 0 w 26"/>
                  <a:gd name="T35" fmla="*/ 0 h 245"/>
                  <a:gd name="T36" fmla="*/ 0 w 26"/>
                  <a:gd name="T37" fmla="*/ 0 h 24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245">
                    <a:moveTo>
                      <a:pt x="0" y="245"/>
                    </a:moveTo>
                    <a:lnTo>
                      <a:pt x="0" y="0"/>
                    </a:lnTo>
                    <a:lnTo>
                      <a:pt x="6" y="13"/>
                    </a:lnTo>
                    <a:lnTo>
                      <a:pt x="11" y="28"/>
                    </a:lnTo>
                    <a:lnTo>
                      <a:pt x="16" y="43"/>
                    </a:lnTo>
                    <a:lnTo>
                      <a:pt x="20" y="58"/>
                    </a:lnTo>
                    <a:lnTo>
                      <a:pt x="22" y="74"/>
                    </a:lnTo>
                    <a:lnTo>
                      <a:pt x="24" y="90"/>
                    </a:lnTo>
                    <a:lnTo>
                      <a:pt x="26" y="106"/>
                    </a:lnTo>
                    <a:lnTo>
                      <a:pt x="26" y="122"/>
                    </a:lnTo>
                    <a:lnTo>
                      <a:pt x="26" y="123"/>
                    </a:lnTo>
                    <a:lnTo>
                      <a:pt x="26" y="139"/>
                    </a:lnTo>
                    <a:lnTo>
                      <a:pt x="24" y="155"/>
                    </a:lnTo>
                    <a:lnTo>
                      <a:pt x="22" y="171"/>
                    </a:lnTo>
                    <a:lnTo>
                      <a:pt x="20" y="186"/>
                    </a:lnTo>
                    <a:lnTo>
                      <a:pt x="16" y="202"/>
                    </a:lnTo>
                    <a:lnTo>
                      <a:pt x="11" y="216"/>
                    </a:lnTo>
                    <a:lnTo>
                      <a:pt x="6" y="231"/>
                    </a:lnTo>
                    <a:lnTo>
                      <a:pt x="0" y="24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65" name="Freeform 3861"/>
              <p:cNvSpPr>
                <a:spLocks noChangeAspect="1"/>
              </p:cNvSpPr>
              <p:nvPr/>
            </p:nvSpPr>
            <p:spPr bwMode="auto">
              <a:xfrm>
                <a:off x="5500" y="1115"/>
                <a:ext cx="4" cy="58"/>
              </a:xfrm>
              <a:custGeom>
                <a:avLst/>
                <a:gdLst>
                  <a:gd name="T0" fmla="*/ 0 w 12"/>
                  <a:gd name="T1" fmla="*/ 0 h 175"/>
                  <a:gd name="T2" fmla="*/ 0 w 12"/>
                  <a:gd name="T3" fmla="*/ 0 h 175"/>
                  <a:gd name="T4" fmla="*/ 0 w 12"/>
                  <a:gd name="T5" fmla="*/ 0 h 175"/>
                  <a:gd name="T6" fmla="*/ 0 w 12"/>
                  <a:gd name="T7" fmla="*/ 0 h 175"/>
                  <a:gd name="T8" fmla="*/ 0 w 12"/>
                  <a:gd name="T9" fmla="*/ 0 h 175"/>
                  <a:gd name="T10" fmla="*/ 0 w 12"/>
                  <a:gd name="T11" fmla="*/ 0 h 175"/>
                  <a:gd name="T12" fmla="*/ 0 w 12"/>
                  <a:gd name="T13" fmla="*/ 0 h 175"/>
                  <a:gd name="T14" fmla="*/ 0 w 12"/>
                  <a:gd name="T15" fmla="*/ 0 h 175"/>
                  <a:gd name="T16" fmla="*/ 0 w 12"/>
                  <a:gd name="T17" fmla="*/ 0 h 175"/>
                  <a:gd name="T18" fmla="*/ 0 w 12"/>
                  <a:gd name="T19" fmla="*/ 0 h 175"/>
                  <a:gd name="T20" fmla="*/ 0 w 12"/>
                  <a:gd name="T21" fmla="*/ 0 h 175"/>
                  <a:gd name="T22" fmla="*/ 0 w 12"/>
                  <a:gd name="T23" fmla="*/ 0 h 175"/>
                  <a:gd name="T24" fmla="*/ 0 w 12"/>
                  <a:gd name="T25" fmla="*/ 0 h 175"/>
                  <a:gd name="T26" fmla="*/ 0 w 12"/>
                  <a:gd name="T27" fmla="*/ 0 h 175"/>
                  <a:gd name="T28" fmla="*/ 0 w 12"/>
                  <a:gd name="T29" fmla="*/ 0 h 175"/>
                  <a:gd name="T30" fmla="*/ 0 w 12"/>
                  <a:gd name="T31" fmla="*/ 0 h 175"/>
                  <a:gd name="T32" fmla="*/ 0 w 12"/>
                  <a:gd name="T33" fmla="*/ 0 h 175"/>
                  <a:gd name="T34" fmla="*/ 0 w 12"/>
                  <a:gd name="T35" fmla="*/ 0 h 1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2" h="175">
                    <a:moveTo>
                      <a:pt x="0" y="175"/>
                    </a:moveTo>
                    <a:lnTo>
                      <a:pt x="0" y="0"/>
                    </a:lnTo>
                    <a:lnTo>
                      <a:pt x="2" y="10"/>
                    </a:lnTo>
                    <a:lnTo>
                      <a:pt x="5" y="21"/>
                    </a:lnTo>
                    <a:lnTo>
                      <a:pt x="7" y="32"/>
                    </a:lnTo>
                    <a:lnTo>
                      <a:pt x="9" y="42"/>
                    </a:lnTo>
                    <a:lnTo>
                      <a:pt x="10" y="54"/>
                    </a:lnTo>
                    <a:lnTo>
                      <a:pt x="11" y="65"/>
                    </a:lnTo>
                    <a:lnTo>
                      <a:pt x="12" y="76"/>
                    </a:lnTo>
                    <a:lnTo>
                      <a:pt x="12" y="87"/>
                    </a:lnTo>
                    <a:lnTo>
                      <a:pt x="12" y="99"/>
                    </a:lnTo>
                    <a:lnTo>
                      <a:pt x="11" y="110"/>
                    </a:lnTo>
                    <a:lnTo>
                      <a:pt x="10" y="121"/>
                    </a:lnTo>
                    <a:lnTo>
                      <a:pt x="9" y="133"/>
                    </a:lnTo>
                    <a:lnTo>
                      <a:pt x="7" y="143"/>
                    </a:lnTo>
                    <a:lnTo>
                      <a:pt x="5" y="154"/>
                    </a:lnTo>
                    <a:lnTo>
                      <a:pt x="2" y="164"/>
                    </a:lnTo>
                    <a:lnTo>
                      <a:pt x="0" y="17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66" name="Freeform 3862"/>
              <p:cNvSpPr>
                <a:spLocks noChangeAspect="1"/>
              </p:cNvSpPr>
              <p:nvPr/>
            </p:nvSpPr>
            <p:spPr bwMode="auto">
              <a:xfrm>
                <a:off x="5504" y="1144"/>
                <a:ext cx="1" cy="1"/>
              </a:xfrm>
              <a:custGeom>
                <a:avLst/>
                <a:gdLst>
                  <a:gd name="T0" fmla="*/ 0 w 1"/>
                  <a:gd name="T1" fmla="*/ 1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1 h 1"/>
                  <a:gd name="T26" fmla="*/ 0 w 1"/>
                  <a:gd name="T27" fmla="*/ 1 h 1"/>
                  <a:gd name="T28" fmla="*/ 0 w 1"/>
                  <a:gd name="T29" fmla="*/ 1 h 1"/>
                  <a:gd name="T30" fmla="*/ 0 w 1"/>
                  <a:gd name="T31" fmla="*/ 1 h 1"/>
                  <a:gd name="T32" fmla="*/ 0 w 1"/>
                  <a:gd name="T33" fmla="*/ 1 h 1"/>
                  <a:gd name="T34" fmla="*/ 0 w 1"/>
                  <a:gd name="T35" fmla="*/ 1 h 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 h="1">
                    <a:moveTo>
                      <a:pt x="0" y="1"/>
                    </a:moveTo>
                    <a:lnTo>
                      <a:pt x="0" y="0"/>
                    </a:lnTo>
                    <a:lnTo>
                      <a:pt x="0" y="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67" name="Freeform 3863"/>
              <p:cNvSpPr>
                <a:spLocks noChangeAspect="1"/>
              </p:cNvSpPr>
              <p:nvPr/>
            </p:nvSpPr>
            <p:spPr bwMode="auto">
              <a:xfrm>
                <a:off x="5282" y="1039"/>
                <a:ext cx="222" cy="210"/>
              </a:xfrm>
              <a:custGeom>
                <a:avLst/>
                <a:gdLst>
                  <a:gd name="T0" fmla="*/ 0 w 664"/>
                  <a:gd name="T1" fmla="*/ 0 h 629"/>
                  <a:gd name="T2" fmla="*/ 0 w 664"/>
                  <a:gd name="T3" fmla="*/ 0 h 629"/>
                  <a:gd name="T4" fmla="*/ 0 w 664"/>
                  <a:gd name="T5" fmla="*/ 0 h 629"/>
                  <a:gd name="T6" fmla="*/ 0 w 664"/>
                  <a:gd name="T7" fmla="*/ 0 h 629"/>
                  <a:gd name="T8" fmla="*/ 0 w 664"/>
                  <a:gd name="T9" fmla="*/ 0 h 629"/>
                  <a:gd name="T10" fmla="*/ 0 w 664"/>
                  <a:gd name="T11" fmla="*/ 0 h 629"/>
                  <a:gd name="T12" fmla="*/ 0 w 664"/>
                  <a:gd name="T13" fmla="*/ 0 h 629"/>
                  <a:gd name="T14" fmla="*/ 0 w 664"/>
                  <a:gd name="T15" fmla="*/ 0 h 629"/>
                  <a:gd name="T16" fmla="*/ 0 w 664"/>
                  <a:gd name="T17" fmla="*/ 0 h 629"/>
                  <a:gd name="T18" fmla="*/ 0 w 664"/>
                  <a:gd name="T19" fmla="*/ 0 h 629"/>
                  <a:gd name="T20" fmla="*/ 0 w 664"/>
                  <a:gd name="T21" fmla="*/ 0 h 629"/>
                  <a:gd name="T22" fmla="*/ 0 w 664"/>
                  <a:gd name="T23" fmla="*/ 0 h 629"/>
                  <a:gd name="T24" fmla="*/ 0 w 664"/>
                  <a:gd name="T25" fmla="*/ 0 h 629"/>
                  <a:gd name="T26" fmla="*/ 0 w 664"/>
                  <a:gd name="T27" fmla="*/ 0 h 629"/>
                  <a:gd name="T28" fmla="*/ 0 w 664"/>
                  <a:gd name="T29" fmla="*/ 0 h 629"/>
                  <a:gd name="T30" fmla="*/ 0 w 664"/>
                  <a:gd name="T31" fmla="*/ 0 h 629"/>
                  <a:gd name="T32" fmla="*/ 0 w 664"/>
                  <a:gd name="T33" fmla="*/ 0 h 629"/>
                  <a:gd name="T34" fmla="*/ 0 w 664"/>
                  <a:gd name="T35" fmla="*/ 0 h 629"/>
                  <a:gd name="T36" fmla="*/ 0 w 664"/>
                  <a:gd name="T37" fmla="*/ 0 h 629"/>
                  <a:gd name="T38" fmla="*/ 0 w 664"/>
                  <a:gd name="T39" fmla="*/ 0 h 629"/>
                  <a:gd name="T40" fmla="*/ 0 w 664"/>
                  <a:gd name="T41" fmla="*/ 0 h 629"/>
                  <a:gd name="T42" fmla="*/ 0 w 664"/>
                  <a:gd name="T43" fmla="*/ 0 h 629"/>
                  <a:gd name="T44" fmla="*/ 0 w 664"/>
                  <a:gd name="T45" fmla="*/ 0 h 629"/>
                  <a:gd name="T46" fmla="*/ 0 w 664"/>
                  <a:gd name="T47" fmla="*/ 0 h 629"/>
                  <a:gd name="T48" fmla="*/ 0 w 664"/>
                  <a:gd name="T49" fmla="*/ 0 h 629"/>
                  <a:gd name="T50" fmla="*/ 0 w 664"/>
                  <a:gd name="T51" fmla="*/ 0 h 629"/>
                  <a:gd name="T52" fmla="*/ 0 w 664"/>
                  <a:gd name="T53" fmla="*/ 0 h 629"/>
                  <a:gd name="T54" fmla="*/ 0 w 664"/>
                  <a:gd name="T55" fmla="*/ 0 h 629"/>
                  <a:gd name="T56" fmla="*/ 0 w 664"/>
                  <a:gd name="T57" fmla="*/ 0 h 629"/>
                  <a:gd name="T58" fmla="*/ 0 w 664"/>
                  <a:gd name="T59" fmla="*/ 0 h 629"/>
                  <a:gd name="T60" fmla="*/ 0 w 664"/>
                  <a:gd name="T61" fmla="*/ 0 h 629"/>
                  <a:gd name="T62" fmla="*/ 0 w 664"/>
                  <a:gd name="T63" fmla="*/ 0 h 629"/>
                  <a:gd name="T64" fmla="*/ 0 w 664"/>
                  <a:gd name="T65" fmla="*/ 0 h 629"/>
                  <a:gd name="T66" fmla="*/ 0 w 664"/>
                  <a:gd name="T67" fmla="*/ 0 h 629"/>
                  <a:gd name="T68" fmla="*/ 0 w 664"/>
                  <a:gd name="T69" fmla="*/ 0 h 629"/>
                  <a:gd name="T70" fmla="*/ 0 w 664"/>
                  <a:gd name="T71" fmla="*/ 0 h 629"/>
                  <a:gd name="T72" fmla="*/ 0 w 664"/>
                  <a:gd name="T73" fmla="*/ 0 h 629"/>
                  <a:gd name="T74" fmla="*/ 0 w 664"/>
                  <a:gd name="T75" fmla="*/ 0 h 629"/>
                  <a:gd name="T76" fmla="*/ 0 w 664"/>
                  <a:gd name="T77" fmla="*/ 0 h 629"/>
                  <a:gd name="T78" fmla="*/ 0 w 664"/>
                  <a:gd name="T79" fmla="*/ 0 h 629"/>
                  <a:gd name="T80" fmla="*/ 0 w 664"/>
                  <a:gd name="T81" fmla="*/ 0 h 629"/>
                  <a:gd name="T82" fmla="*/ 0 w 664"/>
                  <a:gd name="T83" fmla="*/ 0 h 629"/>
                  <a:gd name="T84" fmla="*/ 0 w 664"/>
                  <a:gd name="T85" fmla="*/ 0 h 6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64" h="629">
                    <a:moveTo>
                      <a:pt x="332" y="629"/>
                    </a:moveTo>
                    <a:lnTo>
                      <a:pt x="349" y="629"/>
                    </a:lnTo>
                    <a:lnTo>
                      <a:pt x="366" y="627"/>
                    </a:lnTo>
                    <a:lnTo>
                      <a:pt x="383" y="625"/>
                    </a:lnTo>
                    <a:lnTo>
                      <a:pt x="399" y="622"/>
                    </a:lnTo>
                    <a:lnTo>
                      <a:pt x="415" y="619"/>
                    </a:lnTo>
                    <a:lnTo>
                      <a:pt x="431" y="615"/>
                    </a:lnTo>
                    <a:lnTo>
                      <a:pt x="446" y="609"/>
                    </a:lnTo>
                    <a:lnTo>
                      <a:pt x="461" y="604"/>
                    </a:lnTo>
                    <a:lnTo>
                      <a:pt x="476" y="598"/>
                    </a:lnTo>
                    <a:lnTo>
                      <a:pt x="491" y="590"/>
                    </a:lnTo>
                    <a:lnTo>
                      <a:pt x="505" y="583"/>
                    </a:lnTo>
                    <a:lnTo>
                      <a:pt x="517" y="574"/>
                    </a:lnTo>
                    <a:lnTo>
                      <a:pt x="531" y="566"/>
                    </a:lnTo>
                    <a:lnTo>
                      <a:pt x="543" y="556"/>
                    </a:lnTo>
                    <a:lnTo>
                      <a:pt x="556" y="547"/>
                    </a:lnTo>
                    <a:lnTo>
                      <a:pt x="567" y="536"/>
                    </a:lnTo>
                    <a:lnTo>
                      <a:pt x="578" y="525"/>
                    </a:lnTo>
                    <a:lnTo>
                      <a:pt x="589" y="514"/>
                    </a:lnTo>
                    <a:lnTo>
                      <a:pt x="598" y="502"/>
                    </a:lnTo>
                    <a:lnTo>
                      <a:pt x="608" y="489"/>
                    </a:lnTo>
                    <a:lnTo>
                      <a:pt x="616" y="478"/>
                    </a:lnTo>
                    <a:lnTo>
                      <a:pt x="624" y="464"/>
                    </a:lnTo>
                    <a:lnTo>
                      <a:pt x="631" y="450"/>
                    </a:lnTo>
                    <a:lnTo>
                      <a:pt x="638" y="436"/>
                    </a:lnTo>
                    <a:lnTo>
                      <a:pt x="644" y="422"/>
                    </a:lnTo>
                    <a:lnTo>
                      <a:pt x="649" y="407"/>
                    </a:lnTo>
                    <a:lnTo>
                      <a:pt x="654" y="393"/>
                    </a:lnTo>
                    <a:lnTo>
                      <a:pt x="658" y="378"/>
                    </a:lnTo>
                    <a:lnTo>
                      <a:pt x="660" y="362"/>
                    </a:lnTo>
                    <a:lnTo>
                      <a:pt x="662" y="347"/>
                    </a:lnTo>
                    <a:lnTo>
                      <a:pt x="664" y="331"/>
                    </a:lnTo>
                    <a:lnTo>
                      <a:pt x="664" y="314"/>
                    </a:lnTo>
                    <a:lnTo>
                      <a:pt x="664" y="298"/>
                    </a:lnTo>
                    <a:lnTo>
                      <a:pt x="662" y="282"/>
                    </a:lnTo>
                    <a:lnTo>
                      <a:pt x="660" y="266"/>
                    </a:lnTo>
                    <a:lnTo>
                      <a:pt x="658" y="251"/>
                    </a:lnTo>
                    <a:lnTo>
                      <a:pt x="654" y="236"/>
                    </a:lnTo>
                    <a:lnTo>
                      <a:pt x="649" y="221"/>
                    </a:lnTo>
                    <a:lnTo>
                      <a:pt x="644" y="206"/>
                    </a:lnTo>
                    <a:lnTo>
                      <a:pt x="638" y="192"/>
                    </a:lnTo>
                    <a:lnTo>
                      <a:pt x="631" y="178"/>
                    </a:lnTo>
                    <a:lnTo>
                      <a:pt x="624" y="165"/>
                    </a:lnTo>
                    <a:lnTo>
                      <a:pt x="616" y="151"/>
                    </a:lnTo>
                    <a:lnTo>
                      <a:pt x="608" y="138"/>
                    </a:lnTo>
                    <a:lnTo>
                      <a:pt x="598" y="127"/>
                    </a:lnTo>
                    <a:lnTo>
                      <a:pt x="589" y="115"/>
                    </a:lnTo>
                    <a:lnTo>
                      <a:pt x="578" y="103"/>
                    </a:lnTo>
                    <a:lnTo>
                      <a:pt x="567" y="92"/>
                    </a:lnTo>
                    <a:lnTo>
                      <a:pt x="556" y="82"/>
                    </a:lnTo>
                    <a:lnTo>
                      <a:pt x="543" y="71"/>
                    </a:lnTo>
                    <a:lnTo>
                      <a:pt x="531" y="63"/>
                    </a:lnTo>
                    <a:lnTo>
                      <a:pt x="517" y="53"/>
                    </a:lnTo>
                    <a:lnTo>
                      <a:pt x="505" y="46"/>
                    </a:lnTo>
                    <a:lnTo>
                      <a:pt x="491" y="39"/>
                    </a:lnTo>
                    <a:lnTo>
                      <a:pt x="476" y="31"/>
                    </a:lnTo>
                    <a:lnTo>
                      <a:pt x="461" y="25"/>
                    </a:lnTo>
                    <a:lnTo>
                      <a:pt x="446" y="19"/>
                    </a:lnTo>
                    <a:lnTo>
                      <a:pt x="431" y="14"/>
                    </a:lnTo>
                    <a:lnTo>
                      <a:pt x="415" y="10"/>
                    </a:lnTo>
                    <a:lnTo>
                      <a:pt x="399" y="7"/>
                    </a:lnTo>
                    <a:lnTo>
                      <a:pt x="383" y="3"/>
                    </a:lnTo>
                    <a:lnTo>
                      <a:pt x="366" y="1"/>
                    </a:lnTo>
                    <a:lnTo>
                      <a:pt x="349" y="0"/>
                    </a:lnTo>
                    <a:lnTo>
                      <a:pt x="332" y="0"/>
                    </a:lnTo>
                    <a:lnTo>
                      <a:pt x="315" y="0"/>
                    </a:lnTo>
                    <a:lnTo>
                      <a:pt x="298" y="1"/>
                    </a:lnTo>
                    <a:lnTo>
                      <a:pt x="282" y="3"/>
                    </a:lnTo>
                    <a:lnTo>
                      <a:pt x="265" y="7"/>
                    </a:lnTo>
                    <a:lnTo>
                      <a:pt x="249" y="10"/>
                    </a:lnTo>
                    <a:lnTo>
                      <a:pt x="234" y="14"/>
                    </a:lnTo>
                    <a:lnTo>
                      <a:pt x="218" y="19"/>
                    </a:lnTo>
                    <a:lnTo>
                      <a:pt x="203" y="25"/>
                    </a:lnTo>
                    <a:lnTo>
                      <a:pt x="189" y="31"/>
                    </a:lnTo>
                    <a:lnTo>
                      <a:pt x="175" y="39"/>
                    </a:lnTo>
                    <a:lnTo>
                      <a:pt x="161" y="46"/>
                    </a:lnTo>
                    <a:lnTo>
                      <a:pt x="147" y="53"/>
                    </a:lnTo>
                    <a:lnTo>
                      <a:pt x="134" y="63"/>
                    </a:lnTo>
                    <a:lnTo>
                      <a:pt x="122" y="71"/>
                    </a:lnTo>
                    <a:lnTo>
                      <a:pt x="110" y="82"/>
                    </a:lnTo>
                    <a:lnTo>
                      <a:pt x="98" y="92"/>
                    </a:lnTo>
                    <a:lnTo>
                      <a:pt x="87" y="103"/>
                    </a:lnTo>
                    <a:lnTo>
                      <a:pt x="77" y="115"/>
                    </a:lnTo>
                    <a:lnTo>
                      <a:pt x="66" y="127"/>
                    </a:lnTo>
                    <a:lnTo>
                      <a:pt x="58" y="138"/>
                    </a:lnTo>
                    <a:lnTo>
                      <a:pt x="49" y="151"/>
                    </a:lnTo>
                    <a:lnTo>
                      <a:pt x="41" y="165"/>
                    </a:lnTo>
                    <a:lnTo>
                      <a:pt x="33" y="178"/>
                    </a:lnTo>
                    <a:lnTo>
                      <a:pt x="27" y="192"/>
                    </a:lnTo>
                    <a:lnTo>
                      <a:pt x="20" y="206"/>
                    </a:lnTo>
                    <a:lnTo>
                      <a:pt x="15" y="221"/>
                    </a:lnTo>
                    <a:lnTo>
                      <a:pt x="11" y="236"/>
                    </a:lnTo>
                    <a:lnTo>
                      <a:pt x="8" y="251"/>
                    </a:lnTo>
                    <a:lnTo>
                      <a:pt x="4" y="266"/>
                    </a:lnTo>
                    <a:lnTo>
                      <a:pt x="2" y="282"/>
                    </a:lnTo>
                    <a:lnTo>
                      <a:pt x="1" y="298"/>
                    </a:lnTo>
                    <a:lnTo>
                      <a:pt x="0" y="314"/>
                    </a:lnTo>
                    <a:lnTo>
                      <a:pt x="1" y="331"/>
                    </a:lnTo>
                    <a:lnTo>
                      <a:pt x="2" y="347"/>
                    </a:lnTo>
                    <a:lnTo>
                      <a:pt x="4" y="362"/>
                    </a:lnTo>
                    <a:lnTo>
                      <a:pt x="8" y="378"/>
                    </a:lnTo>
                    <a:lnTo>
                      <a:pt x="11" y="393"/>
                    </a:lnTo>
                    <a:lnTo>
                      <a:pt x="15" y="407"/>
                    </a:lnTo>
                    <a:lnTo>
                      <a:pt x="20" y="422"/>
                    </a:lnTo>
                    <a:lnTo>
                      <a:pt x="27" y="436"/>
                    </a:lnTo>
                    <a:lnTo>
                      <a:pt x="33" y="450"/>
                    </a:lnTo>
                    <a:lnTo>
                      <a:pt x="41" y="464"/>
                    </a:lnTo>
                    <a:lnTo>
                      <a:pt x="49" y="478"/>
                    </a:lnTo>
                    <a:lnTo>
                      <a:pt x="58" y="489"/>
                    </a:lnTo>
                    <a:lnTo>
                      <a:pt x="66" y="502"/>
                    </a:lnTo>
                    <a:lnTo>
                      <a:pt x="77" y="514"/>
                    </a:lnTo>
                    <a:lnTo>
                      <a:pt x="87" y="525"/>
                    </a:lnTo>
                    <a:lnTo>
                      <a:pt x="98" y="536"/>
                    </a:lnTo>
                    <a:lnTo>
                      <a:pt x="110" y="547"/>
                    </a:lnTo>
                    <a:lnTo>
                      <a:pt x="122" y="556"/>
                    </a:lnTo>
                    <a:lnTo>
                      <a:pt x="134" y="566"/>
                    </a:lnTo>
                    <a:lnTo>
                      <a:pt x="147" y="574"/>
                    </a:lnTo>
                    <a:lnTo>
                      <a:pt x="161" y="583"/>
                    </a:lnTo>
                    <a:lnTo>
                      <a:pt x="175" y="590"/>
                    </a:lnTo>
                    <a:lnTo>
                      <a:pt x="189" y="598"/>
                    </a:lnTo>
                    <a:lnTo>
                      <a:pt x="203" y="604"/>
                    </a:lnTo>
                    <a:lnTo>
                      <a:pt x="218" y="609"/>
                    </a:lnTo>
                    <a:lnTo>
                      <a:pt x="234" y="615"/>
                    </a:lnTo>
                    <a:lnTo>
                      <a:pt x="249" y="619"/>
                    </a:lnTo>
                    <a:lnTo>
                      <a:pt x="265" y="622"/>
                    </a:lnTo>
                    <a:lnTo>
                      <a:pt x="282" y="625"/>
                    </a:lnTo>
                    <a:lnTo>
                      <a:pt x="298" y="627"/>
                    </a:lnTo>
                    <a:lnTo>
                      <a:pt x="315" y="629"/>
                    </a:lnTo>
                    <a:lnTo>
                      <a:pt x="332" y="629"/>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sp>
            <p:nvSpPr>
              <p:cNvPr id="387768" name="Freeform 3864"/>
              <p:cNvSpPr>
                <a:spLocks noChangeAspect="1"/>
              </p:cNvSpPr>
              <p:nvPr/>
            </p:nvSpPr>
            <p:spPr bwMode="auto">
              <a:xfrm>
                <a:off x="5208" y="1157"/>
                <a:ext cx="14" cy="14"/>
              </a:xfrm>
              <a:custGeom>
                <a:avLst/>
                <a:gdLst>
                  <a:gd name="T0" fmla="*/ 0 w 41"/>
                  <a:gd name="T1" fmla="*/ 0 h 42"/>
                  <a:gd name="T2" fmla="*/ 0 w 41"/>
                  <a:gd name="T3" fmla="*/ 0 h 42"/>
                  <a:gd name="T4" fmla="*/ 0 w 41"/>
                  <a:gd name="T5" fmla="*/ 0 h 42"/>
                  <a:gd name="T6" fmla="*/ 0 w 41"/>
                  <a:gd name="T7" fmla="*/ 0 h 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1" h="42">
                    <a:moveTo>
                      <a:pt x="41" y="0"/>
                    </a:moveTo>
                    <a:lnTo>
                      <a:pt x="0" y="42"/>
                    </a:lnTo>
                    <a:lnTo>
                      <a:pt x="0" y="0"/>
                    </a:lnTo>
                    <a:lnTo>
                      <a:pt x="41"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69" name="Freeform 3865"/>
              <p:cNvSpPr>
                <a:spLocks noChangeAspect="1"/>
              </p:cNvSpPr>
              <p:nvPr/>
            </p:nvSpPr>
            <p:spPr bwMode="auto">
              <a:xfrm>
                <a:off x="5208" y="1157"/>
                <a:ext cx="24" cy="23"/>
              </a:xfrm>
              <a:custGeom>
                <a:avLst/>
                <a:gdLst>
                  <a:gd name="T0" fmla="*/ 0 w 70"/>
                  <a:gd name="T1" fmla="*/ 0 h 71"/>
                  <a:gd name="T2" fmla="*/ 0 w 70"/>
                  <a:gd name="T3" fmla="*/ 0 h 71"/>
                  <a:gd name="T4" fmla="*/ 0 w 70"/>
                  <a:gd name="T5" fmla="*/ 0 h 71"/>
                  <a:gd name="T6" fmla="*/ 0 w 70"/>
                  <a:gd name="T7" fmla="*/ 0 h 71"/>
                  <a:gd name="T8" fmla="*/ 0 w 70"/>
                  <a:gd name="T9" fmla="*/ 0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71">
                    <a:moveTo>
                      <a:pt x="0" y="12"/>
                    </a:moveTo>
                    <a:lnTo>
                      <a:pt x="11" y="0"/>
                    </a:lnTo>
                    <a:lnTo>
                      <a:pt x="70" y="0"/>
                    </a:lnTo>
                    <a:lnTo>
                      <a:pt x="0" y="71"/>
                    </a:lnTo>
                    <a:lnTo>
                      <a:pt x="0" y="1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70" name="Freeform 3866"/>
              <p:cNvSpPr>
                <a:spLocks noChangeAspect="1"/>
              </p:cNvSpPr>
              <p:nvPr/>
            </p:nvSpPr>
            <p:spPr bwMode="auto">
              <a:xfrm>
                <a:off x="5208" y="1157"/>
                <a:ext cx="34" cy="33"/>
              </a:xfrm>
              <a:custGeom>
                <a:avLst/>
                <a:gdLst>
                  <a:gd name="T0" fmla="*/ 0 w 100"/>
                  <a:gd name="T1" fmla="*/ 0 h 100"/>
                  <a:gd name="T2" fmla="*/ 0 w 100"/>
                  <a:gd name="T3" fmla="*/ 0 h 100"/>
                  <a:gd name="T4" fmla="*/ 0 w 100"/>
                  <a:gd name="T5" fmla="*/ 0 h 100"/>
                  <a:gd name="T6" fmla="*/ 0 w 100"/>
                  <a:gd name="T7" fmla="*/ 0 h 100"/>
                  <a:gd name="T8" fmla="*/ 0 w 100"/>
                  <a:gd name="T9" fmla="*/ 0 h 100"/>
                  <a:gd name="T10" fmla="*/ 0 w 100"/>
                  <a:gd name="T11" fmla="*/ 0 h 1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100">
                    <a:moveTo>
                      <a:pt x="0" y="42"/>
                    </a:moveTo>
                    <a:lnTo>
                      <a:pt x="41" y="0"/>
                    </a:lnTo>
                    <a:lnTo>
                      <a:pt x="93" y="0"/>
                    </a:lnTo>
                    <a:lnTo>
                      <a:pt x="100" y="0"/>
                    </a:lnTo>
                    <a:lnTo>
                      <a:pt x="0" y="100"/>
                    </a:lnTo>
                    <a:lnTo>
                      <a:pt x="0" y="4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71" name="Freeform 3867"/>
              <p:cNvSpPr>
                <a:spLocks noChangeAspect="1"/>
              </p:cNvSpPr>
              <p:nvPr/>
            </p:nvSpPr>
            <p:spPr bwMode="auto">
              <a:xfrm>
                <a:off x="5208" y="1157"/>
                <a:ext cx="44" cy="43"/>
              </a:xfrm>
              <a:custGeom>
                <a:avLst/>
                <a:gdLst>
                  <a:gd name="T0" fmla="*/ 0 w 130"/>
                  <a:gd name="T1" fmla="*/ 0 h 130"/>
                  <a:gd name="T2" fmla="*/ 0 w 130"/>
                  <a:gd name="T3" fmla="*/ 0 h 130"/>
                  <a:gd name="T4" fmla="*/ 0 w 130"/>
                  <a:gd name="T5" fmla="*/ 0 h 130"/>
                  <a:gd name="T6" fmla="*/ 0 w 130"/>
                  <a:gd name="T7" fmla="*/ 0 h 130"/>
                  <a:gd name="T8" fmla="*/ 0 w 130"/>
                  <a:gd name="T9" fmla="*/ 0 h 130"/>
                  <a:gd name="T10" fmla="*/ 0 w 130"/>
                  <a:gd name="T11" fmla="*/ 0 h 1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0" h="130">
                    <a:moveTo>
                      <a:pt x="0" y="71"/>
                    </a:moveTo>
                    <a:lnTo>
                      <a:pt x="70" y="0"/>
                    </a:lnTo>
                    <a:lnTo>
                      <a:pt x="93" y="0"/>
                    </a:lnTo>
                    <a:lnTo>
                      <a:pt x="130" y="0"/>
                    </a:lnTo>
                    <a:lnTo>
                      <a:pt x="0" y="130"/>
                    </a:lnTo>
                    <a:lnTo>
                      <a:pt x="0" y="7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72" name="Freeform 3868"/>
              <p:cNvSpPr>
                <a:spLocks noChangeAspect="1"/>
              </p:cNvSpPr>
              <p:nvPr/>
            </p:nvSpPr>
            <p:spPr bwMode="auto">
              <a:xfrm>
                <a:off x="5208" y="1157"/>
                <a:ext cx="53" cy="53"/>
              </a:xfrm>
              <a:custGeom>
                <a:avLst/>
                <a:gdLst>
                  <a:gd name="T0" fmla="*/ 0 w 159"/>
                  <a:gd name="T1" fmla="*/ 0 h 160"/>
                  <a:gd name="T2" fmla="*/ 0 w 159"/>
                  <a:gd name="T3" fmla="*/ 0 h 160"/>
                  <a:gd name="T4" fmla="*/ 0 w 159"/>
                  <a:gd name="T5" fmla="*/ 0 h 160"/>
                  <a:gd name="T6" fmla="*/ 0 w 159"/>
                  <a:gd name="T7" fmla="*/ 0 h 160"/>
                  <a:gd name="T8" fmla="*/ 0 w 159"/>
                  <a:gd name="T9" fmla="*/ 0 h 1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 h="160">
                    <a:moveTo>
                      <a:pt x="0" y="100"/>
                    </a:moveTo>
                    <a:lnTo>
                      <a:pt x="100" y="0"/>
                    </a:lnTo>
                    <a:lnTo>
                      <a:pt x="159" y="0"/>
                    </a:lnTo>
                    <a:lnTo>
                      <a:pt x="0" y="160"/>
                    </a:lnTo>
                    <a:lnTo>
                      <a:pt x="0" y="1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73" name="Freeform 3869"/>
              <p:cNvSpPr>
                <a:spLocks noChangeAspect="1"/>
              </p:cNvSpPr>
              <p:nvPr/>
            </p:nvSpPr>
            <p:spPr bwMode="auto">
              <a:xfrm>
                <a:off x="5208" y="1157"/>
                <a:ext cx="63" cy="63"/>
              </a:xfrm>
              <a:custGeom>
                <a:avLst/>
                <a:gdLst>
                  <a:gd name="T0" fmla="*/ 0 w 189"/>
                  <a:gd name="T1" fmla="*/ 0 h 189"/>
                  <a:gd name="T2" fmla="*/ 0 w 189"/>
                  <a:gd name="T3" fmla="*/ 0 h 189"/>
                  <a:gd name="T4" fmla="*/ 0 w 189"/>
                  <a:gd name="T5" fmla="*/ 0 h 189"/>
                  <a:gd name="T6" fmla="*/ 0 w 189"/>
                  <a:gd name="T7" fmla="*/ 0 h 189"/>
                  <a:gd name="T8" fmla="*/ 0 w 189"/>
                  <a:gd name="T9" fmla="*/ 0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 h="189">
                    <a:moveTo>
                      <a:pt x="0" y="130"/>
                    </a:moveTo>
                    <a:lnTo>
                      <a:pt x="130" y="0"/>
                    </a:lnTo>
                    <a:lnTo>
                      <a:pt x="189" y="0"/>
                    </a:lnTo>
                    <a:lnTo>
                      <a:pt x="0" y="189"/>
                    </a:lnTo>
                    <a:lnTo>
                      <a:pt x="0" y="13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74" name="Freeform 3870"/>
              <p:cNvSpPr>
                <a:spLocks noChangeAspect="1"/>
              </p:cNvSpPr>
              <p:nvPr/>
            </p:nvSpPr>
            <p:spPr bwMode="auto">
              <a:xfrm>
                <a:off x="5208" y="1157"/>
                <a:ext cx="73" cy="73"/>
              </a:xfrm>
              <a:custGeom>
                <a:avLst/>
                <a:gdLst>
                  <a:gd name="T0" fmla="*/ 0 w 218"/>
                  <a:gd name="T1" fmla="*/ 0 h 219"/>
                  <a:gd name="T2" fmla="*/ 0 w 218"/>
                  <a:gd name="T3" fmla="*/ 0 h 219"/>
                  <a:gd name="T4" fmla="*/ 0 w 218"/>
                  <a:gd name="T5" fmla="*/ 0 h 219"/>
                  <a:gd name="T6" fmla="*/ 0 w 218"/>
                  <a:gd name="T7" fmla="*/ 0 h 219"/>
                  <a:gd name="T8" fmla="*/ 0 w 218"/>
                  <a:gd name="T9" fmla="*/ 0 h 2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 h="219">
                    <a:moveTo>
                      <a:pt x="0" y="160"/>
                    </a:moveTo>
                    <a:lnTo>
                      <a:pt x="159" y="0"/>
                    </a:lnTo>
                    <a:lnTo>
                      <a:pt x="218" y="0"/>
                    </a:lnTo>
                    <a:lnTo>
                      <a:pt x="0" y="219"/>
                    </a:lnTo>
                    <a:lnTo>
                      <a:pt x="0" y="16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75" name="Freeform 3871"/>
              <p:cNvSpPr>
                <a:spLocks noChangeAspect="1"/>
              </p:cNvSpPr>
              <p:nvPr/>
            </p:nvSpPr>
            <p:spPr bwMode="auto">
              <a:xfrm>
                <a:off x="5208" y="1157"/>
                <a:ext cx="83" cy="82"/>
              </a:xfrm>
              <a:custGeom>
                <a:avLst/>
                <a:gdLst>
                  <a:gd name="T0" fmla="*/ 0 w 248"/>
                  <a:gd name="T1" fmla="*/ 0 h 248"/>
                  <a:gd name="T2" fmla="*/ 0 w 248"/>
                  <a:gd name="T3" fmla="*/ 0 h 248"/>
                  <a:gd name="T4" fmla="*/ 0 w 248"/>
                  <a:gd name="T5" fmla="*/ 0 h 248"/>
                  <a:gd name="T6" fmla="*/ 0 w 248"/>
                  <a:gd name="T7" fmla="*/ 0 h 248"/>
                  <a:gd name="T8" fmla="*/ 0 w 248"/>
                  <a:gd name="T9" fmla="*/ 0 h 2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8" h="248">
                    <a:moveTo>
                      <a:pt x="0" y="189"/>
                    </a:moveTo>
                    <a:lnTo>
                      <a:pt x="189" y="0"/>
                    </a:lnTo>
                    <a:lnTo>
                      <a:pt x="248" y="0"/>
                    </a:lnTo>
                    <a:lnTo>
                      <a:pt x="0" y="248"/>
                    </a:lnTo>
                    <a:lnTo>
                      <a:pt x="0" y="1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76" name="Freeform 3872"/>
              <p:cNvSpPr>
                <a:spLocks noChangeAspect="1"/>
              </p:cNvSpPr>
              <p:nvPr/>
            </p:nvSpPr>
            <p:spPr bwMode="auto">
              <a:xfrm>
                <a:off x="5208" y="1157"/>
                <a:ext cx="93" cy="92"/>
              </a:xfrm>
              <a:custGeom>
                <a:avLst/>
                <a:gdLst>
                  <a:gd name="T0" fmla="*/ 0 w 278"/>
                  <a:gd name="T1" fmla="*/ 0 h 278"/>
                  <a:gd name="T2" fmla="*/ 0 w 278"/>
                  <a:gd name="T3" fmla="*/ 0 h 278"/>
                  <a:gd name="T4" fmla="*/ 0 w 278"/>
                  <a:gd name="T5" fmla="*/ 0 h 278"/>
                  <a:gd name="T6" fmla="*/ 0 w 278"/>
                  <a:gd name="T7" fmla="*/ 0 h 278"/>
                  <a:gd name="T8" fmla="*/ 0 w 278"/>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8" h="278">
                    <a:moveTo>
                      <a:pt x="0" y="219"/>
                    </a:moveTo>
                    <a:lnTo>
                      <a:pt x="218" y="0"/>
                    </a:lnTo>
                    <a:lnTo>
                      <a:pt x="278" y="0"/>
                    </a:lnTo>
                    <a:lnTo>
                      <a:pt x="0" y="278"/>
                    </a:lnTo>
                    <a:lnTo>
                      <a:pt x="0" y="21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77" name="Freeform 3873"/>
              <p:cNvSpPr>
                <a:spLocks noChangeAspect="1"/>
              </p:cNvSpPr>
              <p:nvPr/>
            </p:nvSpPr>
            <p:spPr bwMode="auto">
              <a:xfrm>
                <a:off x="5208" y="1157"/>
                <a:ext cx="103" cy="102"/>
              </a:xfrm>
              <a:custGeom>
                <a:avLst/>
                <a:gdLst>
                  <a:gd name="T0" fmla="*/ 0 w 307"/>
                  <a:gd name="T1" fmla="*/ 0 h 307"/>
                  <a:gd name="T2" fmla="*/ 0 w 307"/>
                  <a:gd name="T3" fmla="*/ 0 h 307"/>
                  <a:gd name="T4" fmla="*/ 0 w 307"/>
                  <a:gd name="T5" fmla="*/ 0 h 307"/>
                  <a:gd name="T6" fmla="*/ 0 w 307"/>
                  <a:gd name="T7" fmla="*/ 0 h 307"/>
                  <a:gd name="T8" fmla="*/ 0 w 307"/>
                  <a:gd name="T9" fmla="*/ 0 h 3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7" h="307">
                    <a:moveTo>
                      <a:pt x="0" y="248"/>
                    </a:moveTo>
                    <a:lnTo>
                      <a:pt x="248" y="0"/>
                    </a:lnTo>
                    <a:lnTo>
                      <a:pt x="307" y="0"/>
                    </a:lnTo>
                    <a:lnTo>
                      <a:pt x="0" y="307"/>
                    </a:lnTo>
                    <a:lnTo>
                      <a:pt x="0" y="2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78" name="Freeform 3874"/>
              <p:cNvSpPr>
                <a:spLocks noChangeAspect="1"/>
              </p:cNvSpPr>
              <p:nvPr/>
            </p:nvSpPr>
            <p:spPr bwMode="auto">
              <a:xfrm>
                <a:off x="5208" y="1157"/>
                <a:ext cx="113" cy="105"/>
              </a:xfrm>
              <a:custGeom>
                <a:avLst/>
                <a:gdLst>
                  <a:gd name="T0" fmla="*/ 0 w 337"/>
                  <a:gd name="T1" fmla="*/ 0 h 315"/>
                  <a:gd name="T2" fmla="*/ 0 w 337"/>
                  <a:gd name="T3" fmla="*/ 0 h 315"/>
                  <a:gd name="T4" fmla="*/ 0 w 337"/>
                  <a:gd name="T5" fmla="*/ 0 h 315"/>
                  <a:gd name="T6" fmla="*/ 0 w 337"/>
                  <a:gd name="T7" fmla="*/ 0 h 315"/>
                  <a:gd name="T8" fmla="*/ 0 w 337"/>
                  <a:gd name="T9" fmla="*/ 0 h 315"/>
                  <a:gd name="T10" fmla="*/ 0 w 337"/>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7" h="315">
                    <a:moveTo>
                      <a:pt x="0" y="278"/>
                    </a:moveTo>
                    <a:lnTo>
                      <a:pt x="278" y="0"/>
                    </a:lnTo>
                    <a:lnTo>
                      <a:pt x="337" y="0"/>
                    </a:lnTo>
                    <a:lnTo>
                      <a:pt x="22" y="315"/>
                    </a:lnTo>
                    <a:lnTo>
                      <a:pt x="0" y="315"/>
                    </a:lnTo>
                    <a:lnTo>
                      <a:pt x="0" y="27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79" name="Freeform 3875"/>
              <p:cNvSpPr>
                <a:spLocks noChangeAspect="1"/>
              </p:cNvSpPr>
              <p:nvPr/>
            </p:nvSpPr>
            <p:spPr bwMode="auto">
              <a:xfrm>
                <a:off x="5208" y="1157"/>
                <a:ext cx="122" cy="105"/>
              </a:xfrm>
              <a:custGeom>
                <a:avLst/>
                <a:gdLst>
                  <a:gd name="T0" fmla="*/ 0 w 366"/>
                  <a:gd name="T1" fmla="*/ 0 h 315"/>
                  <a:gd name="T2" fmla="*/ 0 w 366"/>
                  <a:gd name="T3" fmla="*/ 0 h 315"/>
                  <a:gd name="T4" fmla="*/ 0 w 366"/>
                  <a:gd name="T5" fmla="*/ 0 h 315"/>
                  <a:gd name="T6" fmla="*/ 0 w 366"/>
                  <a:gd name="T7" fmla="*/ 0 h 315"/>
                  <a:gd name="T8" fmla="*/ 0 w 366"/>
                  <a:gd name="T9" fmla="*/ 0 h 315"/>
                  <a:gd name="T10" fmla="*/ 0 w 366"/>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66" h="315">
                    <a:moveTo>
                      <a:pt x="0" y="307"/>
                    </a:moveTo>
                    <a:lnTo>
                      <a:pt x="307" y="0"/>
                    </a:lnTo>
                    <a:lnTo>
                      <a:pt x="366" y="0"/>
                    </a:lnTo>
                    <a:lnTo>
                      <a:pt x="52" y="315"/>
                    </a:lnTo>
                    <a:lnTo>
                      <a:pt x="0" y="315"/>
                    </a:lnTo>
                    <a:lnTo>
                      <a:pt x="0" y="3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80" name="Freeform 3876"/>
              <p:cNvSpPr>
                <a:spLocks noChangeAspect="1"/>
              </p:cNvSpPr>
              <p:nvPr/>
            </p:nvSpPr>
            <p:spPr bwMode="auto">
              <a:xfrm>
                <a:off x="5216" y="1157"/>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81" name="Freeform 3877"/>
              <p:cNvSpPr>
                <a:spLocks noChangeAspect="1"/>
              </p:cNvSpPr>
              <p:nvPr/>
            </p:nvSpPr>
            <p:spPr bwMode="auto">
              <a:xfrm>
                <a:off x="5226"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82" name="Freeform 3878"/>
              <p:cNvSpPr>
                <a:spLocks noChangeAspect="1"/>
              </p:cNvSpPr>
              <p:nvPr/>
            </p:nvSpPr>
            <p:spPr bwMode="auto">
              <a:xfrm>
                <a:off x="5236"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83" name="Freeform 3879"/>
              <p:cNvSpPr>
                <a:spLocks noChangeAspect="1"/>
              </p:cNvSpPr>
              <p:nvPr/>
            </p:nvSpPr>
            <p:spPr bwMode="auto">
              <a:xfrm>
                <a:off x="5245"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84" name="Freeform 3880"/>
              <p:cNvSpPr>
                <a:spLocks noChangeAspect="1"/>
              </p:cNvSpPr>
              <p:nvPr/>
            </p:nvSpPr>
            <p:spPr bwMode="auto">
              <a:xfrm>
                <a:off x="5255"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85" name="Freeform 3881"/>
              <p:cNvSpPr>
                <a:spLocks noChangeAspect="1"/>
              </p:cNvSpPr>
              <p:nvPr/>
            </p:nvSpPr>
            <p:spPr bwMode="auto">
              <a:xfrm>
                <a:off x="5265"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w 374"/>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74" h="315">
                    <a:moveTo>
                      <a:pt x="0" y="315"/>
                    </a:moveTo>
                    <a:lnTo>
                      <a:pt x="315" y="0"/>
                    </a:lnTo>
                    <a:lnTo>
                      <a:pt x="374" y="0"/>
                    </a:lnTo>
                    <a:lnTo>
                      <a:pt x="60" y="315"/>
                    </a:lnTo>
                    <a:lnTo>
                      <a:pt x="47"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86" name="Freeform 3882"/>
              <p:cNvSpPr>
                <a:spLocks noChangeAspect="1"/>
              </p:cNvSpPr>
              <p:nvPr/>
            </p:nvSpPr>
            <p:spPr bwMode="auto">
              <a:xfrm>
                <a:off x="5275"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w 373"/>
                  <a:gd name="T11" fmla="*/ 0 h 315"/>
                  <a:gd name="T12" fmla="*/ 0 w 373"/>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73" h="315">
                    <a:moveTo>
                      <a:pt x="0" y="315"/>
                    </a:moveTo>
                    <a:lnTo>
                      <a:pt x="314" y="0"/>
                    </a:lnTo>
                    <a:lnTo>
                      <a:pt x="361" y="0"/>
                    </a:lnTo>
                    <a:lnTo>
                      <a:pt x="373" y="0"/>
                    </a:lnTo>
                    <a:lnTo>
                      <a:pt x="58" y="315"/>
                    </a:lnTo>
                    <a:lnTo>
                      <a:pt x="17"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87" name="Freeform 3883"/>
              <p:cNvSpPr>
                <a:spLocks noChangeAspect="1"/>
              </p:cNvSpPr>
              <p:nvPr/>
            </p:nvSpPr>
            <p:spPr bwMode="auto">
              <a:xfrm>
                <a:off x="5285"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w 373"/>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73" h="315">
                    <a:moveTo>
                      <a:pt x="0" y="315"/>
                    </a:moveTo>
                    <a:lnTo>
                      <a:pt x="314" y="0"/>
                    </a:lnTo>
                    <a:lnTo>
                      <a:pt x="331"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88" name="Freeform 3884"/>
              <p:cNvSpPr>
                <a:spLocks noChangeAspect="1"/>
              </p:cNvSpPr>
              <p:nvPr/>
            </p:nvSpPr>
            <p:spPr bwMode="auto">
              <a:xfrm>
                <a:off x="5294"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89" name="Freeform 3885"/>
              <p:cNvSpPr>
                <a:spLocks noChangeAspect="1"/>
              </p:cNvSpPr>
              <p:nvPr/>
            </p:nvSpPr>
            <p:spPr bwMode="auto">
              <a:xfrm>
                <a:off x="5304"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90" name="Freeform 3886"/>
              <p:cNvSpPr>
                <a:spLocks noChangeAspect="1"/>
              </p:cNvSpPr>
              <p:nvPr/>
            </p:nvSpPr>
            <p:spPr bwMode="auto">
              <a:xfrm>
                <a:off x="5314"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91" name="Freeform 3887"/>
              <p:cNvSpPr>
                <a:spLocks noChangeAspect="1"/>
              </p:cNvSpPr>
              <p:nvPr/>
            </p:nvSpPr>
            <p:spPr bwMode="auto">
              <a:xfrm>
                <a:off x="5324" y="1157"/>
                <a:ext cx="125"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92" name="Freeform 3888"/>
              <p:cNvSpPr>
                <a:spLocks noChangeAspect="1"/>
              </p:cNvSpPr>
              <p:nvPr/>
            </p:nvSpPr>
            <p:spPr bwMode="auto">
              <a:xfrm>
                <a:off x="5334" y="1157"/>
                <a:ext cx="125"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93" name="Freeform 3889"/>
              <p:cNvSpPr>
                <a:spLocks noChangeAspect="1"/>
              </p:cNvSpPr>
              <p:nvPr/>
            </p:nvSpPr>
            <p:spPr bwMode="auto">
              <a:xfrm>
                <a:off x="5344"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94" name="Freeform 3890"/>
              <p:cNvSpPr>
                <a:spLocks noChangeAspect="1"/>
              </p:cNvSpPr>
              <p:nvPr/>
            </p:nvSpPr>
            <p:spPr bwMode="auto">
              <a:xfrm>
                <a:off x="5354" y="1157"/>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95" name="Freeform 3891"/>
              <p:cNvSpPr>
                <a:spLocks noChangeAspect="1"/>
              </p:cNvSpPr>
              <p:nvPr/>
            </p:nvSpPr>
            <p:spPr bwMode="auto">
              <a:xfrm>
                <a:off x="5364"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5" y="0"/>
                    </a:lnTo>
                    <a:lnTo>
                      <a:pt x="373"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96" name="Freeform 3892"/>
              <p:cNvSpPr>
                <a:spLocks noChangeAspect="1"/>
              </p:cNvSpPr>
              <p:nvPr/>
            </p:nvSpPr>
            <p:spPr bwMode="auto">
              <a:xfrm>
                <a:off x="5374"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97" name="Freeform 3893"/>
              <p:cNvSpPr>
                <a:spLocks noChangeAspect="1"/>
              </p:cNvSpPr>
              <p:nvPr/>
            </p:nvSpPr>
            <p:spPr bwMode="auto">
              <a:xfrm>
                <a:off x="5384"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3"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98" name="Freeform 3894"/>
              <p:cNvSpPr>
                <a:spLocks noChangeAspect="1"/>
              </p:cNvSpPr>
              <p:nvPr/>
            </p:nvSpPr>
            <p:spPr bwMode="auto">
              <a:xfrm>
                <a:off x="5393"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99" name="Freeform 3895"/>
              <p:cNvSpPr>
                <a:spLocks noChangeAspect="1"/>
              </p:cNvSpPr>
              <p:nvPr/>
            </p:nvSpPr>
            <p:spPr bwMode="auto">
              <a:xfrm>
                <a:off x="5403"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00" name="Freeform 3896"/>
              <p:cNvSpPr>
                <a:spLocks noChangeAspect="1"/>
              </p:cNvSpPr>
              <p:nvPr/>
            </p:nvSpPr>
            <p:spPr bwMode="auto">
              <a:xfrm>
                <a:off x="5413"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5" y="0"/>
                    </a:lnTo>
                    <a:lnTo>
                      <a:pt x="373"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01" name="Freeform 3897"/>
              <p:cNvSpPr>
                <a:spLocks noChangeAspect="1"/>
              </p:cNvSpPr>
              <p:nvPr/>
            </p:nvSpPr>
            <p:spPr bwMode="auto">
              <a:xfrm>
                <a:off x="5423"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5"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02" name="Freeform 3898"/>
              <p:cNvSpPr>
                <a:spLocks noChangeAspect="1"/>
              </p:cNvSpPr>
              <p:nvPr/>
            </p:nvSpPr>
            <p:spPr bwMode="auto">
              <a:xfrm>
                <a:off x="5433" y="1157"/>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4"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03" name="Freeform 3899"/>
              <p:cNvSpPr>
                <a:spLocks noChangeAspect="1"/>
              </p:cNvSpPr>
              <p:nvPr/>
            </p:nvSpPr>
            <p:spPr bwMode="auto">
              <a:xfrm>
                <a:off x="5442"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04" name="Freeform 3900"/>
              <p:cNvSpPr>
                <a:spLocks noChangeAspect="1"/>
              </p:cNvSpPr>
              <p:nvPr/>
            </p:nvSpPr>
            <p:spPr bwMode="auto">
              <a:xfrm>
                <a:off x="5452"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05" name="Freeform 3901"/>
              <p:cNvSpPr>
                <a:spLocks noChangeAspect="1"/>
              </p:cNvSpPr>
              <p:nvPr/>
            </p:nvSpPr>
            <p:spPr bwMode="auto">
              <a:xfrm>
                <a:off x="5462" y="1157"/>
                <a:ext cx="122" cy="105"/>
              </a:xfrm>
              <a:custGeom>
                <a:avLst/>
                <a:gdLst>
                  <a:gd name="T0" fmla="*/ 0 w 366"/>
                  <a:gd name="T1" fmla="*/ 0 h 315"/>
                  <a:gd name="T2" fmla="*/ 0 w 366"/>
                  <a:gd name="T3" fmla="*/ 0 h 315"/>
                  <a:gd name="T4" fmla="*/ 0 w 366"/>
                  <a:gd name="T5" fmla="*/ 0 h 315"/>
                  <a:gd name="T6" fmla="*/ 0 w 366"/>
                  <a:gd name="T7" fmla="*/ 0 h 315"/>
                  <a:gd name="T8" fmla="*/ 0 w 366"/>
                  <a:gd name="T9" fmla="*/ 0 h 315"/>
                  <a:gd name="T10" fmla="*/ 0 w 366"/>
                  <a:gd name="T11" fmla="*/ 0 h 315"/>
                  <a:gd name="T12" fmla="*/ 0 w 366"/>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6" h="315">
                    <a:moveTo>
                      <a:pt x="0" y="315"/>
                    </a:moveTo>
                    <a:lnTo>
                      <a:pt x="315" y="0"/>
                    </a:lnTo>
                    <a:lnTo>
                      <a:pt x="366" y="0"/>
                    </a:lnTo>
                    <a:lnTo>
                      <a:pt x="366" y="9"/>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06" name="Freeform 3902"/>
              <p:cNvSpPr>
                <a:spLocks noChangeAspect="1"/>
              </p:cNvSpPr>
              <p:nvPr/>
            </p:nvSpPr>
            <p:spPr bwMode="auto">
              <a:xfrm>
                <a:off x="5472" y="1157"/>
                <a:ext cx="112" cy="105"/>
              </a:xfrm>
              <a:custGeom>
                <a:avLst/>
                <a:gdLst>
                  <a:gd name="T0" fmla="*/ 0 w 336"/>
                  <a:gd name="T1" fmla="*/ 0 h 315"/>
                  <a:gd name="T2" fmla="*/ 0 w 336"/>
                  <a:gd name="T3" fmla="*/ 0 h 315"/>
                  <a:gd name="T4" fmla="*/ 0 w 336"/>
                  <a:gd name="T5" fmla="*/ 0 h 315"/>
                  <a:gd name="T6" fmla="*/ 0 w 336"/>
                  <a:gd name="T7" fmla="*/ 0 h 315"/>
                  <a:gd name="T8" fmla="*/ 0 w 336"/>
                  <a:gd name="T9" fmla="*/ 0 h 315"/>
                  <a:gd name="T10" fmla="*/ 0 w 336"/>
                  <a:gd name="T11" fmla="*/ 0 h 315"/>
                  <a:gd name="T12" fmla="*/ 0 w 336"/>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15">
                    <a:moveTo>
                      <a:pt x="0" y="315"/>
                    </a:moveTo>
                    <a:lnTo>
                      <a:pt x="315" y="0"/>
                    </a:lnTo>
                    <a:lnTo>
                      <a:pt x="336" y="0"/>
                    </a:lnTo>
                    <a:lnTo>
                      <a:pt x="336" y="37"/>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07" name="Freeform 3903"/>
              <p:cNvSpPr>
                <a:spLocks noChangeAspect="1"/>
              </p:cNvSpPr>
              <p:nvPr/>
            </p:nvSpPr>
            <p:spPr bwMode="auto">
              <a:xfrm>
                <a:off x="5482" y="1160"/>
                <a:ext cx="102" cy="102"/>
              </a:xfrm>
              <a:custGeom>
                <a:avLst/>
                <a:gdLst>
                  <a:gd name="T0" fmla="*/ 0 w 307"/>
                  <a:gd name="T1" fmla="*/ 0 h 306"/>
                  <a:gd name="T2" fmla="*/ 0 w 307"/>
                  <a:gd name="T3" fmla="*/ 0 h 306"/>
                  <a:gd name="T4" fmla="*/ 0 w 307"/>
                  <a:gd name="T5" fmla="*/ 0 h 306"/>
                  <a:gd name="T6" fmla="*/ 0 w 307"/>
                  <a:gd name="T7" fmla="*/ 0 h 306"/>
                  <a:gd name="T8" fmla="*/ 0 w 307"/>
                  <a:gd name="T9" fmla="*/ 0 h 3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7" h="306">
                    <a:moveTo>
                      <a:pt x="0" y="306"/>
                    </a:moveTo>
                    <a:lnTo>
                      <a:pt x="307" y="0"/>
                    </a:lnTo>
                    <a:lnTo>
                      <a:pt x="307" y="58"/>
                    </a:lnTo>
                    <a:lnTo>
                      <a:pt x="59" y="306"/>
                    </a:lnTo>
                    <a:lnTo>
                      <a:pt x="0" y="30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08" name="Freeform 3904"/>
              <p:cNvSpPr>
                <a:spLocks noChangeAspect="1"/>
              </p:cNvSpPr>
              <p:nvPr/>
            </p:nvSpPr>
            <p:spPr bwMode="auto">
              <a:xfrm>
                <a:off x="5492" y="1169"/>
                <a:ext cx="92" cy="93"/>
              </a:xfrm>
              <a:custGeom>
                <a:avLst/>
                <a:gdLst>
                  <a:gd name="T0" fmla="*/ 0 w 277"/>
                  <a:gd name="T1" fmla="*/ 0 h 278"/>
                  <a:gd name="T2" fmla="*/ 0 w 277"/>
                  <a:gd name="T3" fmla="*/ 0 h 278"/>
                  <a:gd name="T4" fmla="*/ 0 w 277"/>
                  <a:gd name="T5" fmla="*/ 0 h 278"/>
                  <a:gd name="T6" fmla="*/ 0 w 277"/>
                  <a:gd name="T7" fmla="*/ 0 h 278"/>
                  <a:gd name="T8" fmla="*/ 0 w 277"/>
                  <a:gd name="T9" fmla="*/ 0 h 278"/>
                  <a:gd name="T10" fmla="*/ 0 w 277"/>
                  <a:gd name="T11" fmla="*/ 0 h 27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7" h="278">
                    <a:moveTo>
                      <a:pt x="0" y="278"/>
                    </a:moveTo>
                    <a:lnTo>
                      <a:pt x="277" y="0"/>
                    </a:lnTo>
                    <a:lnTo>
                      <a:pt x="277" y="60"/>
                    </a:lnTo>
                    <a:lnTo>
                      <a:pt x="59" y="278"/>
                    </a:lnTo>
                    <a:lnTo>
                      <a:pt x="37" y="278"/>
                    </a:lnTo>
                    <a:lnTo>
                      <a:pt x="0" y="27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09" name="Freeform 3905"/>
              <p:cNvSpPr>
                <a:spLocks noChangeAspect="1"/>
              </p:cNvSpPr>
              <p:nvPr/>
            </p:nvSpPr>
            <p:spPr bwMode="auto">
              <a:xfrm>
                <a:off x="5502" y="1179"/>
                <a:ext cx="82" cy="83"/>
              </a:xfrm>
              <a:custGeom>
                <a:avLst/>
                <a:gdLst>
                  <a:gd name="T0" fmla="*/ 0 w 248"/>
                  <a:gd name="T1" fmla="*/ 0 h 248"/>
                  <a:gd name="T2" fmla="*/ 0 w 248"/>
                  <a:gd name="T3" fmla="*/ 0 h 248"/>
                  <a:gd name="T4" fmla="*/ 0 w 248"/>
                  <a:gd name="T5" fmla="*/ 0 h 248"/>
                  <a:gd name="T6" fmla="*/ 0 w 248"/>
                  <a:gd name="T7" fmla="*/ 0 h 248"/>
                  <a:gd name="T8" fmla="*/ 0 w 248"/>
                  <a:gd name="T9" fmla="*/ 0 h 248"/>
                  <a:gd name="T10" fmla="*/ 0 w 248"/>
                  <a:gd name="T11" fmla="*/ 0 h 2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8" h="248">
                    <a:moveTo>
                      <a:pt x="0" y="248"/>
                    </a:moveTo>
                    <a:lnTo>
                      <a:pt x="248" y="0"/>
                    </a:lnTo>
                    <a:lnTo>
                      <a:pt x="248" y="60"/>
                    </a:lnTo>
                    <a:lnTo>
                      <a:pt x="59" y="248"/>
                    </a:lnTo>
                    <a:lnTo>
                      <a:pt x="8" y="248"/>
                    </a:lnTo>
                    <a:lnTo>
                      <a:pt x="0" y="2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10" name="Freeform 3906"/>
              <p:cNvSpPr>
                <a:spLocks noChangeAspect="1"/>
              </p:cNvSpPr>
              <p:nvPr/>
            </p:nvSpPr>
            <p:spPr bwMode="auto">
              <a:xfrm>
                <a:off x="5512" y="1189"/>
                <a:ext cx="72" cy="73"/>
              </a:xfrm>
              <a:custGeom>
                <a:avLst/>
                <a:gdLst>
                  <a:gd name="T0" fmla="*/ 0 w 218"/>
                  <a:gd name="T1" fmla="*/ 0 h 218"/>
                  <a:gd name="T2" fmla="*/ 0 w 218"/>
                  <a:gd name="T3" fmla="*/ 0 h 218"/>
                  <a:gd name="T4" fmla="*/ 0 w 218"/>
                  <a:gd name="T5" fmla="*/ 0 h 218"/>
                  <a:gd name="T6" fmla="*/ 0 w 218"/>
                  <a:gd name="T7" fmla="*/ 0 h 218"/>
                  <a:gd name="T8" fmla="*/ 0 w 218"/>
                  <a:gd name="T9" fmla="*/ 0 h 2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 h="218">
                    <a:moveTo>
                      <a:pt x="0" y="218"/>
                    </a:moveTo>
                    <a:lnTo>
                      <a:pt x="218" y="0"/>
                    </a:lnTo>
                    <a:lnTo>
                      <a:pt x="218" y="59"/>
                    </a:lnTo>
                    <a:lnTo>
                      <a:pt x="59" y="218"/>
                    </a:lnTo>
                    <a:lnTo>
                      <a:pt x="0" y="21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11" name="Freeform 3907"/>
              <p:cNvSpPr>
                <a:spLocks noChangeAspect="1"/>
              </p:cNvSpPr>
              <p:nvPr/>
            </p:nvSpPr>
            <p:spPr bwMode="auto">
              <a:xfrm>
                <a:off x="5521" y="1199"/>
                <a:ext cx="63" cy="63"/>
              </a:xfrm>
              <a:custGeom>
                <a:avLst/>
                <a:gdLst>
                  <a:gd name="T0" fmla="*/ 0 w 189"/>
                  <a:gd name="T1" fmla="*/ 0 h 188"/>
                  <a:gd name="T2" fmla="*/ 0 w 189"/>
                  <a:gd name="T3" fmla="*/ 0 h 188"/>
                  <a:gd name="T4" fmla="*/ 0 w 189"/>
                  <a:gd name="T5" fmla="*/ 0 h 188"/>
                  <a:gd name="T6" fmla="*/ 0 w 189"/>
                  <a:gd name="T7" fmla="*/ 0 h 188"/>
                  <a:gd name="T8" fmla="*/ 0 w 189"/>
                  <a:gd name="T9" fmla="*/ 0 h 1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 h="188">
                    <a:moveTo>
                      <a:pt x="0" y="188"/>
                    </a:moveTo>
                    <a:lnTo>
                      <a:pt x="189" y="0"/>
                    </a:lnTo>
                    <a:lnTo>
                      <a:pt x="189" y="58"/>
                    </a:lnTo>
                    <a:lnTo>
                      <a:pt x="60" y="188"/>
                    </a:lnTo>
                    <a:lnTo>
                      <a:pt x="0" y="18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12" name="Freeform 3908"/>
              <p:cNvSpPr>
                <a:spLocks noChangeAspect="1"/>
              </p:cNvSpPr>
              <p:nvPr/>
            </p:nvSpPr>
            <p:spPr bwMode="auto">
              <a:xfrm>
                <a:off x="5531" y="1209"/>
                <a:ext cx="53" cy="53"/>
              </a:xfrm>
              <a:custGeom>
                <a:avLst/>
                <a:gdLst>
                  <a:gd name="T0" fmla="*/ 0 w 159"/>
                  <a:gd name="T1" fmla="*/ 0 h 159"/>
                  <a:gd name="T2" fmla="*/ 0 w 159"/>
                  <a:gd name="T3" fmla="*/ 0 h 159"/>
                  <a:gd name="T4" fmla="*/ 0 w 159"/>
                  <a:gd name="T5" fmla="*/ 0 h 159"/>
                  <a:gd name="T6" fmla="*/ 0 w 159"/>
                  <a:gd name="T7" fmla="*/ 0 h 159"/>
                  <a:gd name="T8" fmla="*/ 0 w 159"/>
                  <a:gd name="T9" fmla="*/ 0 h 1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 h="159">
                    <a:moveTo>
                      <a:pt x="0" y="159"/>
                    </a:moveTo>
                    <a:lnTo>
                      <a:pt x="159" y="0"/>
                    </a:lnTo>
                    <a:lnTo>
                      <a:pt x="159" y="59"/>
                    </a:lnTo>
                    <a:lnTo>
                      <a:pt x="59" y="159"/>
                    </a:lnTo>
                    <a:lnTo>
                      <a:pt x="0" y="15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13" name="Freeform 3909"/>
              <p:cNvSpPr>
                <a:spLocks noChangeAspect="1"/>
              </p:cNvSpPr>
              <p:nvPr/>
            </p:nvSpPr>
            <p:spPr bwMode="auto">
              <a:xfrm>
                <a:off x="5541" y="1218"/>
                <a:ext cx="43" cy="44"/>
              </a:xfrm>
              <a:custGeom>
                <a:avLst/>
                <a:gdLst>
                  <a:gd name="T0" fmla="*/ 0 w 129"/>
                  <a:gd name="T1" fmla="*/ 0 h 130"/>
                  <a:gd name="T2" fmla="*/ 0 w 129"/>
                  <a:gd name="T3" fmla="*/ 0 h 130"/>
                  <a:gd name="T4" fmla="*/ 0 w 129"/>
                  <a:gd name="T5" fmla="*/ 0 h 130"/>
                  <a:gd name="T6" fmla="*/ 0 w 129"/>
                  <a:gd name="T7" fmla="*/ 0 h 130"/>
                  <a:gd name="T8" fmla="*/ 0 w 129"/>
                  <a:gd name="T9" fmla="*/ 0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9" h="130">
                    <a:moveTo>
                      <a:pt x="0" y="130"/>
                    </a:moveTo>
                    <a:lnTo>
                      <a:pt x="129" y="0"/>
                    </a:lnTo>
                    <a:lnTo>
                      <a:pt x="129" y="60"/>
                    </a:lnTo>
                    <a:lnTo>
                      <a:pt x="59" y="130"/>
                    </a:lnTo>
                    <a:lnTo>
                      <a:pt x="0" y="13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14" name="Freeform 3910"/>
              <p:cNvSpPr>
                <a:spLocks noChangeAspect="1"/>
              </p:cNvSpPr>
              <p:nvPr/>
            </p:nvSpPr>
            <p:spPr bwMode="auto">
              <a:xfrm>
                <a:off x="5551" y="1228"/>
                <a:ext cx="33" cy="34"/>
              </a:xfrm>
              <a:custGeom>
                <a:avLst/>
                <a:gdLst>
                  <a:gd name="T0" fmla="*/ 0 w 100"/>
                  <a:gd name="T1" fmla="*/ 0 h 100"/>
                  <a:gd name="T2" fmla="*/ 0 w 100"/>
                  <a:gd name="T3" fmla="*/ 0 h 100"/>
                  <a:gd name="T4" fmla="*/ 0 w 100"/>
                  <a:gd name="T5" fmla="*/ 0 h 100"/>
                  <a:gd name="T6" fmla="*/ 0 w 100"/>
                  <a:gd name="T7" fmla="*/ 0 h 100"/>
                  <a:gd name="T8" fmla="*/ 0 w 100"/>
                  <a:gd name="T9" fmla="*/ 0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 h="100">
                    <a:moveTo>
                      <a:pt x="0" y="100"/>
                    </a:moveTo>
                    <a:lnTo>
                      <a:pt x="100" y="0"/>
                    </a:lnTo>
                    <a:lnTo>
                      <a:pt x="100" y="59"/>
                    </a:lnTo>
                    <a:lnTo>
                      <a:pt x="59" y="100"/>
                    </a:lnTo>
                    <a:lnTo>
                      <a:pt x="0" y="1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15" name="Freeform 3911"/>
              <p:cNvSpPr>
                <a:spLocks noChangeAspect="1"/>
              </p:cNvSpPr>
              <p:nvPr/>
            </p:nvSpPr>
            <p:spPr bwMode="auto">
              <a:xfrm>
                <a:off x="5561" y="1238"/>
                <a:ext cx="23" cy="24"/>
              </a:xfrm>
              <a:custGeom>
                <a:avLst/>
                <a:gdLst>
                  <a:gd name="T0" fmla="*/ 0 w 70"/>
                  <a:gd name="T1" fmla="*/ 0 h 70"/>
                  <a:gd name="T2" fmla="*/ 0 w 70"/>
                  <a:gd name="T3" fmla="*/ 0 h 70"/>
                  <a:gd name="T4" fmla="*/ 0 w 70"/>
                  <a:gd name="T5" fmla="*/ 0 h 70"/>
                  <a:gd name="T6" fmla="*/ 0 w 70"/>
                  <a:gd name="T7" fmla="*/ 0 h 70"/>
                  <a:gd name="T8" fmla="*/ 0 w 70"/>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70">
                    <a:moveTo>
                      <a:pt x="0" y="70"/>
                    </a:moveTo>
                    <a:lnTo>
                      <a:pt x="70" y="0"/>
                    </a:lnTo>
                    <a:lnTo>
                      <a:pt x="70" y="59"/>
                    </a:lnTo>
                    <a:lnTo>
                      <a:pt x="59" y="70"/>
                    </a:lnTo>
                    <a:lnTo>
                      <a:pt x="0" y="7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16" name="Freeform 3912"/>
              <p:cNvSpPr>
                <a:spLocks noChangeAspect="1"/>
              </p:cNvSpPr>
              <p:nvPr/>
            </p:nvSpPr>
            <p:spPr bwMode="auto">
              <a:xfrm>
                <a:off x="5571" y="1248"/>
                <a:ext cx="13" cy="14"/>
              </a:xfrm>
              <a:custGeom>
                <a:avLst/>
                <a:gdLst>
                  <a:gd name="T0" fmla="*/ 0 w 41"/>
                  <a:gd name="T1" fmla="*/ 0 h 41"/>
                  <a:gd name="T2" fmla="*/ 0 w 41"/>
                  <a:gd name="T3" fmla="*/ 0 h 41"/>
                  <a:gd name="T4" fmla="*/ 0 w 41"/>
                  <a:gd name="T5" fmla="*/ 0 h 41"/>
                  <a:gd name="T6" fmla="*/ 0 w 41"/>
                  <a:gd name="T7" fmla="*/ 0 h 4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1" h="41">
                    <a:moveTo>
                      <a:pt x="0" y="41"/>
                    </a:moveTo>
                    <a:lnTo>
                      <a:pt x="41" y="0"/>
                    </a:lnTo>
                    <a:lnTo>
                      <a:pt x="41" y="41"/>
                    </a:lnTo>
                    <a:lnTo>
                      <a:pt x="0" y="4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17" name="Freeform 3913"/>
              <p:cNvSpPr>
                <a:spLocks noChangeAspect="1"/>
              </p:cNvSpPr>
              <p:nvPr/>
            </p:nvSpPr>
            <p:spPr bwMode="auto">
              <a:xfrm>
                <a:off x="5208" y="1157"/>
                <a:ext cx="376" cy="105"/>
              </a:xfrm>
              <a:custGeom>
                <a:avLst/>
                <a:gdLst>
                  <a:gd name="T0" fmla="*/ 0 w 1128"/>
                  <a:gd name="T1" fmla="*/ 0 h 315"/>
                  <a:gd name="T2" fmla="*/ 0 w 1128"/>
                  <a:gd name="T3" fmla="*/ 0 h 315"/>
                  <a:gd name="T4" fmla="*/ 0 w 1128"/>
                  <a:gd name="T5" fmla="*/ 0 h 315"/>
                  <a:gd name="T6" fmla="*/ 0 w 1128"/>
                  <a:gd name="T7" fmla="*/ 0 h 315"/>
                  <a:gd name="T8" fmla="*/ 0 w 1128"/>
                  <a:gd name="T9" fmla="*/ 0 h 315"/>
                  <a:gd name="T10" fmla="*/ 0 w 1128"/>
                  <a:gd name="T11" fmla="*/ 0 h 315"/>
                  <a:gd name="T12" fmla="*/ 0 w 1128"/>
                  <a:gd name="T13" fmla="*/ 0 h 315"/>
                  <a:gd name="T14" fmla="*/ 0 w 1128"/>
                  <a:gd name="T15" fmla="*/ 0 h 315"/>
                  <a:gd name="T16" fmla="*/ 0 w 1128"/>
                  <a:gd name="T17" fmla="*/ 0 h 3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28" h="315">
                    <a:moveTo>
                      <a:pt x="0" y="0"/>
                    </a:moveTo>
                    <a:lnTo>
                      <a:pt x="93" y="0"/>
                    </a:lnTo>
                    <a:lnTo>
                      <a:pt x="561" y="0"/>
                    </a:lnTo>
                    <a:lnTo>
                      <a:pt x="1128" y="0"/>
                    </a:lnTo>
                    <a:lnTo>
                      <a:pt x="1128" y="315"/>
                    </a:lnTo>
                    <a:lnTo>
                      <a:pt x="888" y="315"/>
                    </a:lnTo>
                    <a:lnTo>
                      <a:pt x="217" y="315"/>
                    </a:lnTo>
                    <a:lnTo>
                      <a:pt x="0" y="315"/>
                    </a:lnTo>
                    <a:lnTo>
                      <a:pt x="0" y="0"/>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grpSp>
        <p:grpSp>
          <p:nvGrpSpPr>
            <p:cNvPr id="386463" name="Group 3914"/>
            <p:cNvGrpSpPr>
              <a:grpSpLocks noChangeAspect="1"/>
            </p:cNvGrpSpPr>
            <p:nvPr/>
          </p:nvGrpSpPr>
          <p:grpSpPr bwMode="auto">
            <a:xfrm>
              <a:off x="1566" y="2250"/>
              <a:ext cx="194" cy="128"/>
              <a:chOff x="5208" y="1004"/>
              <a:chExt cx="376" cy="258"/>
            </a:xfrm>
          </p:grpSpPr>
          <p:sp>
            <p:nvSpPr>
              <p:cNvPr id="387508" name="Freeform 3915"/>
              <p:cNvSpPr>
                <a:spLocks noChangeAspect="1"/>
              </p:cNvSpPr>
              <p:nvPr/>
            </p:nvSpPr>
            <p:spPr bwMode="auto">
              <a:xfrm>
                <a:off x="5237" y="1117"/>
                <a:ext cx="5" cy="52"/>
              </a:xfrm>
              <a:custGeom>
                <a:avLst/>
                <a:gdLst>
                  <a:gd name="T0" fmla="*/ 0 w 16"/>
                  <a:gd name="T1" fmla="*/ 0 h 158"/>
                  <a:gd name="T2" fmla="*/ 0 w 16"/>
                  <a:gd name="T3" fmla="*/ 0 h 158"/>
                  <a:gd name="T4" fmla="*/ 0 w 16"/>
                  <a:gd name="T5" fmla="*/ 0 h 158"/>
                  <a:gd name="T6" fmla="*/ 0 w 16"/>
                  <a:gd name="T7" fmla="*/ 0 h 158"/>
                  <a:gd name="T8" fmla="*/ 0 w 16"/>
                  <a:gd name="T9" fmla="*/ 0 h 158"/>
                  <a:gd name="T10" fmla="*/ 0 w 16"/>
                  <a:gd name="T11" fmla="*/ 0 h 158"/>
                  <a:gd name="T12" fmla="*/ 0 w 16"/>
                  <a:gd name="T13" fmla="*/ 0 h 158"/>
                  <a:gd name="T14" fmla="*/ 0 w 16"/>
                  <a:gd name="T15" fmla="*/ 0 h 158"/>
                  <a:gd name="T16" fmla="*/ 0 w 16"/>
                  <a:gd name="T17" fmla="*/ 0 h 158"/>
                  <a:gd name="T18" fmla="*/ 0 w 16"/>
                  <a:gd name="T19" fmla="*/ 0 h 158"/>
                  <a:gd name="T20" fmla="*/ 0 w 16"/>
                  <a:gd name="T21" fmla="*/ 0 h 158"/>
                  <a:gd name="T22" fmla="*/ 0 w 16"/>
                  <a:gd name="T23" fmla="*/ 0 h 158"/>
                  <a:gd name="T24" fmla="*/ 0 w 16"/>
                  <a:gd name="T25" fmla="*/ 0 h 158"/>
                  <a:gd name="T26" fmla="*/ 0 w 16"/>
                  <a:gd name="T27" fmla="*/ 0 h 158"/>
                  <a:gd name="T28" fmla="*/ 0 w 16"/>
                  <a:gd name="T29" fmla="*/ 0 h 158"/>
                  <a:gd name="T30" fmla="*/ 0 w 16"/>
                  <a:gd name="T31" fmla="*/ 0 h 158"/>
                  <a:gd name="T32" fmla="*/ 0 w 16"/>
                  <a:gd name="T33" fmla="*/ 0 h 158"/>
                  <a:gd name="T34" fmla="*/ 0 w 16"/>
                  <a:gd name="T35" fmla="*/ 0 h 158"/>
                  <a:gd name="T36" fmla="*/ 0 w 16"/>
                  <a:gd name="T37" fmla="*/ 0 h 158"/>
                  <a:gd name="T38" fmla="*/ 0 w 16"/>
                  <a:gd name="T39" fmla="*/ 0 h 1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6" h="158">
                    <a:moveTo>
                      <a:pt x="0" y="123"/>
                    </a:moveTo>
                    <a:lnTo>
                      <a:pt x="0" y="120"/>
                    </a:lnTo>
                    <a:lnTo>
                      <a:pt x="0" y="105"/>
                    </a:lnTo>
                    <a:lnTo>
                      <a:pt x="1" y="89"/>
                    </a:lnTo>
                    <a:lnTo>
                      <a:pt x="2" y="74"/>
                    </a:lnTo>
                    <a:lnTo>
                      <a:pt x="3" y="60"/>
                    </a:lnTo>
                    <a:lnTo>
                      <a:pt x="6" y="44"/>
                    </a:lnTo>
                    <a:lnTo>
                      <a:pt x="8" y="29"/>
                    </a:lnTo>
                    <a:lnTo>
                      <a:pt x="12" y="15"/>
                    </a:lnTo>
                    <a:lnTo>
                      <a:pt x="16" y="0"/>
                    </a:lnTo>
                    <a:lnTo>
                      <a:pt x="16" y="158"/>
                    </a:lnTo>
                    <a:lnTo>
                      <a:pt x="1" y="158"/>
                    </a:lnTo>
                    <a:lnTo>
                      <a:pt x="1" y="154"/>
                    </a:lnTo>
                    <a:lnTo>
                      <a:pt x="0" y="150"/>
                    </a:lnTo>
                    <a:lnTo>
                      <a:pt x="0" y="146"/>
                    </a:lnTo>
                    <a:lnTo>
                      <a:pt x="0" y="141"/>
                    </a:lnTo>
                    <a:lnTo>
                      <a:pt x="0" y="137"/>
                    </a:lnTo>
                    <a:lnTo>
                      <a:pt x="0" y="133"/>
                    </a:lnTo>
                    <a:lnTo>
                      <a:pt x="0" y="128"/>
                    </a:lnTo>
                    <a:lnTo>
                      <a:pt x="0" y="12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09" name="Freeform 3916"/>
              <p:cNvSpPr>
                <a:spLocks noChangeAspect="1"/>
              </p:cNvSpPr>
              <p:nvPr/>
            </p:nvSpPr>
            <p:spPr bwMode="auto">
              <a:xfrm>
                <a:off x="5237" y="1100"/>
                <a:ext cx="10" cy="69"/>
              </a:xfrm>
              <a:custGeom>
                <a:avLst/>
                <a:gdLst>
                  <a:gd name="T0" fmla="*/ 0 w 32"/>
                  <a:gd name="T1" fmla="*/ 0 h 207"/>
                  <a:gd name="T2" fmla="*/ 0 w 32"/>
                  <a:gd name="T3" fmla="*/ 0 h 207"/>
                  <a:gd name="T4" fmla="*/ 0 w 32"/>
                  <a:gd name="T5" fmla="*/ 0 h 207"/>
                  <a:gd name="T6" fmla="*/ 0 w 32"/>
                  <a:gd name="T7" fmla="*/ 0 h 207"/>
                  <a:gd name="T8" fmla="*/ 0 w 32"/>
                  <a:gd name="T9" fmla="*/ 0 h 207"/>
                  <a:gd name="T10" fmla="*/ 0 w 32"/>
                  <a:gd name="T11" fmla="*/ 0 h 207"/>
                  <a:gd name="T12" fmla="*/ 0 w 32"/>
                  <a:gd name="T13" fmla="*/ 0 h 207"/>
                  <a:gd name="T14" fmla="*/ 0 w 32"/>
                  <a:gd name="T15" fmla="*/ 0 h 207"/>
                  <a:gd name="T16" fmla="*/ 0 w 32"/>
                  <a:gd name="T17" fmla="*/ 0 h 207"/>
                  <a:gd name="T18" fmla="*/ 0 w 32"/>
                  <a:gd name="T19" fmla="*/ 0 h 207"/>
                  <a:gd name="T20" fmla="*/ 0 w 32"/>
                  <a:gd name="T21" fmla="*/ 0 h 207"/>
                  <a:gd name="T22" fmla="*/ 0 w 32"/>
                  <a:gd name="T23" fmla="*/ 0 h 207"/>
                  <a:gd name="T24" fmla="*/ 0 w 32"/>
                  <a:gd name="T25" fmla="*/ 0 h 207"/>
                  <a:gd name="T26" fmla="*/ 0 w 32"/>
                  <a:gd name="T27" fmla="*/ 0 h 207"/>
                  <a:gd name="T28" fmla="*/ 0 w 32"/>
                  <a:gd name="T29" fmla="*/ 0 h 207"/>
                  <a:gd name="T30" fmla="*/ 0 w 32"/>
                  <a:gd name="T31" fmla="*/ 0 h 207"/>
                  <a:gd name="T32" fmla="*/ 0 w 32"/>
                  <a:gd name="T33" fmla="*/ 0 h 207"/>
                  <a:gd name="T34" fmla="*/ 0 w 32"/>
                  <a:gd name="T35" fmla="*/ 0 h 207"/>
                  <a:gd name="T36" fmla="*/ 0 w 32"/>
                  <a:gd name="T37" fmla="*/ 0 h 207"/>
                  <a:gd name="T38" fmla="*/ 0 w 32"/>
                  <a:gd name="T39" fmla="*/ 0 h 2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 h="207">
                    <a:moveTo>
                      <a:pt x="0" y="172"/>
                    </a:moveTo>
                    <a:lnTo>
                      <a:pt x="0" y="169"/>
                    </a:lnTo>
                    <a:lnTo>
                      <a:pt x="0" y="148"/>
                    </a:lnTo>
                    <a:lnTo>
                      <a:pt x="2" y="126"/>
                    </a:lnTo>
                    <a:lnTo>
                      <a:pt x="4" y="103"/>
                    </a:lnTo>
                    <a:lnTo>
                      <a:pt x="7" y="82"/>
                    </a:lnTo>
                    <a:lnTo>
                      <a:pt x="13" y="62"/>
                    </a:lnTo>
                    <a:lnTo>
                      <a:pt x="18" y="40"/>
                    </a:lnTo>
                    <a:lnTo>
                      <a:pt x="24" y="20"/>
                    </a:lnTo>
                    <a:lnTo>
                      <a:pt x="32" y="0"/>
                    </a:lnTo>
                    <a:lnTo>
                      <a:pt x="32" y="207"/>
                    </a:lnTo>
                    <a:lnTo>
                      <a:pt x="1" y="207"/>
                    </a:lnTo>
                    <a:lnTo>
                      <a:pt x="1" y="203"/>
                    </a:lnTo>
                    <a:lnTo>
                      <a:pt x="0" y="199"/>
                    </a:lnTo>
                    <a:lnTo>
                      <a:pt x="0" y="195"/>
                    </a:lnTo>
                    <a:lnTo>
                      <a:pt x="0" y="190"/>
                    </a:lnTo>
                    <a:lnTo>
                      <a:pt x="0" y="186"/>
                    </a:lnTo>
                    <a:lnTo>
                      <a:pt x="0" y="182"/>
                    </a:lnTo>
                    <a:lnTo>
                      <a:pt x="0" y="177"/>
                    </a:lnTo>
                    <a:lnTo>
                      <a:pt x="0" y="17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10" name="Freeform 3917"/>
              <p:cNvSpPr>
                <a:spLocks noChangeAspect="1"/>
              </p:cNvSpPr>
              <p:nvPr/>
            </p:nvSpPr>
            <p:spPr bwMode="auto">
              <a:xfrm>
                <a:off x="5242" y="1089"/>
                <a:ext cx="11" cy="80"/>
              </a:xfrm>
              <a:custGeom>
                <a:avLst/>
                <a:gdLst>
                  <a:gd name="T0" fmla="*/ 0 w 32"/>
                  <a:gd name="T1" fmla="*/ 0 h 242"/>
                  <a:gd name="T2" fmla="*/ 0 w 32"/>
                  <a:gd name="T3" fmla="*/ 0 h 242"/>
                  <a:gd name="T4" fmla="*/ 0 w 32"/>
                  <a:gd name="T5" fmla="*/ 0 h 242"/>
                  <a:gd name="T6" fmla="*/ 0 w 32"/>
                  <a:gd name="T7" fmla="*/ 0 h 242"/>
                  <a:gd name="T8" fmla="*/ 0 w 32"/>
                  <a:gd name="T9" fmla="*/ 0 h 242"/>
                  <a:gd name="T10" fmla="*/ 0 w 32"/>
                  <a:gd name="T11" fmla="*/ 0 h 242"/>
                  <a:gd name="T12" fmla="*/ 0 w 32"/>
                  <a:gd name="T13" fmla="*/ 0 h 242"/>
                  <a:gd name="T14" fmla="*/ 0 w 32"/>
                  <a:gd name="T15" fmla="*/ 0 h 242"/>
                  <a:gd name="T16" fmla="*/ 0 w 32"/>
                  <a:gd name="T17" fmla="*/ 0 h 242"/>
                  <a:gd name="T18" fmla="*/ 0 w 32"/>
                  <a:gd name="T19" fmla="*/ 0 h 242"/>
                  <a:gd name="T20" fmla="*/ 0 w 32"/>
                  <a:gd name="T21" fmla="*/ 0 h 242"/>
                  <a:gd name="T22" fmla="*/ 0 w 32"/>
                  <a:gd name="T23" fmla="*/ 0 h 2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42">
                    <a:moveTo>
                      <a:pt x="0" y="242"/>
                    </a:moveTo>
                    <a:lnTo>
                      <a:pt x="0" y="84"/>
                    </a:lnTo>
                    <a:lnTo>
                      <a:pt x="3" y="73"/>
                    </a:lnTo>
                    <a:lnTo>
                      <a:pt x="6" y="62"/>
                    </a:lnTo>
                    <a:lnTo>
                      <a:pt x="9" y="51"/>
                    </a:lnTo>
                    <a:lnTo>
                      <a:pt x="14" y="40"/>
                    </a:lnTo>
                    <a:lnTo>
                      <a:pt x="18" y="30"/>
                    </a:lnTo>
                    <a:lnTo>
                      <a:pt x="22" y="20"/>
                    </a:lnTo>
                    <a:lnTo>
                      <a:pt x="26" y="10"/>
                    </a:lnTo>
                    <a:lnTo>
                      <a:pt x="32" y="0"/>
                    </a:lnTo>
                    <a:lnTo>
                      <a:pt x="32" y="242"/>
                    </a:lnTo>
                    <a:lnTo>
                      <a:pt x="0" y="24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11" name="Freeform 3918"/>
              <p:cNvSpPr>
                <a:spLocks noChangeAspect="1"/>
              </p:cNvSpPr>
              <p:nvPr/>
            </p:nvSpPr>
            <p:spPr bwMode="auto">
              <a:xfrm>
                <a:off x="5247" y="1079"/>
                <a:ext cx="11" cy="90"/>
              </a:xfrm>
              <a:custGeom>
                <a:avLst/>
                <a:gdLst>
                  <a:gd name="T0" fmla="*/ 0 w 32"/>
                  <a:gd name="T1" fmla="*/ 0 h 272"/>
                  <a:gd name="T2" fmla="*/ 0 w 32"/>
                  <a:gd name="T3" fmla="*/ 0 h 272"/>
                  <a:gd name="T4" fmla="*/ 0 w 32"/>
                  <a:gd name="T5" fmla="*/ 0 h 272"/>
                  <a:gd name="T6" fmla="*/ 0 w 32"/>
                  <a:gd name="T7" fmla="*/ 0 h 272"/>
                  <a:gd name="T8" fmla="*/ 0 w 32"/>
                  <a:gd name="T9" fmla="*/ 0 h 272"/>
                  <a:gd name="T10" fmla="*/ 0 w 32"/>
                  <a:gd name="T11" fmla="*/ 0 h 272"/>
                  <a:gd name="T12" fmla="*/ 0 w 32"/>
                  <a:gd name="T13" fmla="*/ 0 h 272"/>
                  <a:gd name="T14" fmla="*/ 0 w 32"/>
                  <a:gd name="T15" fmla="*/ 0 h 272"/>
                  <a:gd name="T16" fmla="*/ 0 w 32"/>
                  <a:gd name="T17" fmla="*/ 0 h 272"/>
                  <a:gd name="T18" fmla="*/ 0 w 32"/>
                  <a:gd name="T19" fmla="*/ 0 h 272"/>
                  <a:gd name="T20" fmla="*/ 0 w 32"/>
                  <a:gd name="T21" fmla="*/ 0 h 272"/>
                  <a:gd name="T22" fmla="*/ 0 w 32"/>
                  <a:gd name="T23" fmla="*/ 0 h 2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72">
                    <a:moveTo>
                      <a:pt x="0" y="272"/>
                    </a:moveTo>
                    <a:lnTo>
                      <a:pt x="0" y="65"/>
                    </a:lnTo>
                    <a:lnTo>
                      <a:pt x="3" y="57"/>
                    </a:lnTo>
                    <a:lnTo>
                      <a:pt x="7" y="48"/>
                    </a:lnTo>
                    <a:lnTo>
                      <a:pt x="10" y="41"/>
                    </a:lnTo>
                    <a:lnTo>
                      <a:pt x="15" y="32"/>
                    </a:lnTo>
                    <a:lnTo>
                      <a:pt x="19" y="24"/>
                    </a:lnTo>
                    <a:lnTo>
                      <a:pt x="23" y="16"/>
                    </a:lnTo>
                    <a:lnTo>
                      <a:pt x="28" y="8"/>
                    </a:lnTo>
                    <a:lnTo>
                      <a:pt x="32" y="0"/>
                    </a:lnTo>
                    <a:lnTo>
                      <a:pt x="32" y="272"/>
                    </a:lnTo>
                    <a:lnTo>
                      <a:pt x="0" y="27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12" name="Freeform 3919"/>
              <p:cNvSpPr>
                <a:spLocks noChangeAspect="1"/>
              </p:cNvSpPr>
              <p:nvPr/>
            </p:nvSpPr>
            <p:spPr bwMode="auto">
              <a:xfrm>
                <a:off x="5253" y="1070"/>
                <a:ext cx="10" cy="99"/>
              </a:xfrm>
              <a:custGeom>
                <a:avLst/>
                <a:gdLst>
                  <a:gd name="T0" fmla="*/ 0 w 32"/>
                  <a:gd name="T1" fmla="*/ 0 h 297"/>
                  <a:gd name="T2" fmla="*/ 0 w 32"/>
                  <a:gd name="T3" fmla="*/ 0 h 297"/>
                  <a:gd name="T4" fmla="*/ 0 w 32"/>
                  <a:gd name="T5" fmla="*/ 0 h 297"/>
                  <a:gd name="T6" fmla="*/ 0 w 32"/>
                  <a:gd name="T7" fmla="*/ 0 h 297"/>
                  <a:gd name="T8" fmla="*/ 0 w 32"/>
                  <a:gd name="T9" fmla="*/ 0 h 297"/>
                  <a:gd name="T10" fmla="*/ 0 w 32"/>
                  <a:gd name="T11" fmla="*/ 0 h 297"/>
                  <a:gd name="T12" fmla="*/ 0 w 32"/>
                  <a:gd name="T13" fmla="*/ 0 h 297"/>
                  <a:gd name="T14" fmla="*/ 0 w 32"/>
                  <a:gd name="T15" fmla="*/ 0 h 297"/>
                  <a:gd name="T16" fmla="*/ 0 w 32"/>
                  <a:gd name="T17" fmla="*/ 0 h 297"/>
                  <a:gd name="T18" fmla="*/ 0 w 32"/>
                  <a:gd name="T19" fmla="*/ 0 h 297"/>
                  <a:gd name="T20" fmla="*/ 0 w 32"/>
                  <a:gd name="T21" fmla="*/ 0 h 297"/>
                  <a:gd name="T22" fmla="*/ 0 w 32"/>
                  <a:gd name="T23" fmla="*/ 0 h 2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97">
                    <a:moveTo>
                      <a:pt x="0" y="297"/>
                    </a:moveTo>
                    <a:lnTo>
                      <a:pt x="0" y="55"/>
                    </a:lnTo>
                    <a:lnTo>
                      <a:pt x="4" y="48"/>
                    </a:lnTo>
                    <a:lnTo>
                      <a:pt x="7" y="40"/>
                    </a:lnTo>
                    <a:lnTo>
                      <a:pt x="12" y="34"/>
                    </a:lnTo>
                    <a:lnTo>
                      <a:pt x="15" y="26"/>
                    </a:lnTo>
                    <a:lnTo>
                      <a:pt x="19" y="20"/>
                    </a:lnTo>
                    <a:lnTo>
                      <a:pt x="23" y="14"/>
                    </a:lnTo>
                    <a:lnTo>
                      <a:pt x="27" y="6"/>
                    </a:lnTo>
                    <a:lnTo>
                      <a:pt x="32" y="0"/>
                    </a:lnTo>
                    <a:lnTo>
                      <a:pt x="32" y="297"/>
                    </a:lnTo>
                    <a:lnTo>
                      <a:pt x="0" y="2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13" name="Freeform 3920"/>
              <p:cNvSpPr>
                <a:spLocks noChangeAspect="1"/>
              </p:cNvSpPr>
              <p:nvPr/>
            </p:nvSpPr>
            <p:spPr bwMode="auto">
              <a:xfrm>
                <a:off x="5258" y="1063"/>
                <a:ext cx="11" cy="106"/>
              </a:xfrm>
              <a:custGeom>
                <a:avLst/>
                <a:gdLst>
                  <a:gd name="T0" fmla="*/ 0 w 33"/>
                  <a:gd name="T1" fmla="*/ 0 h 320"/>
                  <a:gd name="T2" fmla="*/ 0 w 33"/>
                  <a:gd name="T3" fmla="*/ 0 h 320"/>
                  <a:gd name="T4" fmla="*/ 0 w 33"/>
                  <a:gd name="T5" fmla="*/ 0 h 320"/>
                  <a:gd name="T6" fmla="*/ 0 w 33"/>
                  <a:gd name="T7" fmla="*/ 0 h 320"/>
                  <a:gd name="T8" fmla="*/ 0 w 33"/>
                  <a:gd name="T9" fmla="*/ 0 h 320"/>
                  <a:gd name="T10" fmla="*/ 0 w 33"/>
                  <a:gd name="T11" fmla="*/ 0 h 320"/>
                  <a:gd name="T12" fmla="*/ 0 w 33"/>
                  <a:gd name="T13" fmla="*/ 0 h 320"/>
                  <a:gd name="T14" fmla="*/ 0 w 33"/>
                  <a:gd name="T15" fmla="*/ 0 h 320"/>
                  <a:gd name="T16" fmla="*/ 0 w 33"/>
                  <a:gd name="T17" fmla="*/ 0 h 320"/>
                  <a:gd name="T18" fmla="*/ 0 w 33"/>
                  <a:gd name="T19" fmla="*/ 0 h 320"/>
                  <a:gd name="T20" fmla="*/ 0 w 33"/>
                  <a:gd name="T21" fmla="*/ 0 h 320"/>
                  <a:gd name="T22" fmla="*/ 0 w 33"/>
                  <a:gd name="T23" fmla="*/ 0 h 3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20">
                    <a:moveTo>
                      <a:pt x="0" y="320"/>
                    </a:moveTo>
                    <a:lnTo>
                      <a:pt x="0" y="48"/>
                    </a:lnTo>
                    <a:lnTo>
                      <a:pt x="4" y="42"/>
                    </a:lnTo>
                    <a:lnTo>
                      <a:pt x="7" y="35"/>
                    </a:lnTo>
                    <a:lnTo>
                      <a:pt x="11" y="30"/>
                    </a:lnTo>
                    <a:lnTo>
                      <a:pt x="16" y="24"/>
                    </a:lnTo>
                    <a:lnTo>
                      <a:pt x="20" y="18"/>
                    </a:lnTo>
                    <a:lnTo>
                      <a:pt x="24" y="12"/>
                    </a:lnTo>
                    <a:lnTo>
                      <a:pt x="28" y="7"/>
                    </a:lnTo>
                    <a:lnTo>
                      <a:pt x="33" y="0"/>
                    </a:lnTo>
                    <a:lnTo>
                      <a:pt x="33" y="320"/>
                    </a:lnTo>
                    <a:lnTo>
                      <a:pt x="0" y="3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14" name="Freeform 3921"/>
              <p:cNvSpPr>
                <a:spLocks noChangeAspect="1"/>
              </p:cNvSpPr>
              <p:nvPr/>
            </p:nvSpPr>
            <p:spPr bwMode="auto">
              <a:xfrm>
                <a:off x="5263" y="1056"/>
                <a:ext cx="11" cy="113"/>
              </a:xfrm>
              <a:custGeom>
                <a:avLst/>
                <a:gdLst>
                  <a:gd name="T0" fmla="*/ 0 w 33"/>
                  <a:gd name="T1" fmla="*/ 0 h 339"/>
                  <a:gd name="T2" fmla="*/ 0 w 33"/>
                  <a:gd name="T3" fmla="*/ 0 h 339"/>
                  <a:gd name="T4" fmla="*/ 0 w 33"/>
                  <a:gd name="T5" fmla="*/ 0 h 339"/>
                  <a:gd name="T6" fmla="*/ 0 w 33"/>
                  <a:gd name="T7" fmla="*/ 0 h 339"/>
                  <a:gd name="T8" fmla="*/ 0 w 33"/>
                  <a:gd name="T9" fmla="*/ 0 h 339"/>
                  <a:gd name="T10" fmla="*/ 0 w 33"/>
                  <a:gd name="T11" fmla="*/ 0 h 339"/>
                  <a:gd name="T12" fmla="*/ 0 w 33"/>
                  <a:gd name="T13" fmla="*/ 0 h 339"/>
                  <a:gd name="T14" fmla="*/ 0 w 33"/>
                  <a:gd name="T15" fmla="*/ 0 h 339"/>
                  <a:gd name="T16" fmla="*/ 0 w 33"/>
                  <a:gd name="T17" fmla="*/ 0 h 339"/>
                  <a:gd name="T18" fmla="*/ 0 w 33"/>
                  <a:gd name="T19" fmla="*/ 0 h 339"/>
                  <a:gd name="T20" fmla="*/ 0 w 33"/>
                  <a:gd name="T21" fmla="*/ 0 h 339"/>
                  <a:gd name="T22" fmla="*/ 0 w 33"/>
                  <a:gd name="T23" fmla="*/ 0 h 3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39">
                    <a:moveTo>
                      <a:pt x="0" y="339"/>
                    </a:moveTo>
                    <a:lnTo>
                      <a:pt x="0" y="42"/>
                    </a:lnTo>
                    <a:lnTo>
                      <a:pt x="4" y="36"/>
                    </a:lnTo>
                    <a:lnTo>
                      <a:pt x="8" y="31"/>
                    </a:lnTo>
                    <a:lnTo>
                      <a:pt x="11" y="26"/>
                    </a:lnTo>
                    <a:lnTo>
                      <a:pt x="16" y="20"/>
                    </a:lnTo>
                    <a:lnTo>
                      <a:pt x="20" y="15"/>
                    </a:lnTo>
                    <a:lnTo>
                      <a:pt x="24" y="10"/>
                    </a:lnTo>
                    <a:lnTo>
                      <a:pt x="28" y="6"/>
                    </a:lnTo>
                    <a:lnTo>
                      <a:pt x="33" y="0"/>
                    </a:lnTo>
                    <a:lnTo>
                      <a:pt x="33" y="339"/>
                    </a:lnTo>
                    <a:lnTo>
                      <a:pt x="0" y="33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15" name="Freeform 3922"/>
              <p:cNvSpPr>
                <a:spLocks noChangeAspect="1"/>
              </p:cNvSpPr>
              <p:nvPr/>
            </p:nvSpPr>
            <p:spPr bwMode="auto">
              <a:xfrm>
                <a:off x="5269" y="1050"/>
                <a:ext cx="11" cy="119"/>
              </a:xfrm>
              <a:custGeom>
                <a:avLst/>
                <a:gdLst>
                  <a:gd name="T0" fmla="*/ 0 w 32"/>
                  <a:gd name="T1" fmla="*/ 0 h 357"/>
                  <a:gd name="T2" fmla="*/ 0 w 32"/>
                  <a:gd name="T3" fmla="*/ 0 h 357"/>
                  <a:gd name="T4" fmla="*/ 0 w 32"/>
                  <a:gd name="T5" fmla="*/ 0 h 357"/>
                  <a:gd name="T6" fmla="*/ 0 w 32"/>
                  <a:gd name="T7" fmla="*/ 0 h 357"/>
                  <a:gd name="T8" fmla="*/ 0 w 32"/>
                  <a:gd name="T9" fmla="*/ 0 h 357"/>
                  <a:gd name="T10" fmla="*/ 0 w 32"/>
                  <a:gd name="T11" fmla="*/ 0 h 357"/>
                  <a:gd name="T12" fmla="*/ 0 w 32"/>
                  <a:gd name="T13" fmla="*/ 0 h 357"/>
                  <a:gd name="T14" fmla="*/ 0 w 32"/>
                  <a:gd name="T15" fmla="*/ 0 h 357"/>
                  <a:gd name="T16" fmla="*/ 0 w 32"/>
                  <a:gd name="T17" fmla="*/ 0 h 357"/>
                  <a:gd name="T18" fmla="*/ 0 w 32"/>
                  <a:gd name="T19" fmla="*/ 0 h 357"/>
                  <a:gd name="T20" fmla="*/ 0 w 32"/>
                  <a:gd name="T21" fmla="*/ 0 h 357"/>
                  <a:gd name="T22" fmla="*/ 0 w 32"/>
                  <a:gd name="T23" fmla="*/ 0 h 3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57">
                    <a:moveTo>
                      <a:pt x="0" y="357"/>
                    </a:moveTo>
                    <a:lnTo>
                      <a:pt x="0" y="37"/>
                    </a:lnTo>
                    <a:lnTo>
                      <a:pt x="3" y="33"/>
                    </a:lnTo>
                    <a:lnTo>
                      <a:pt x="7" y="28"/>
                    </a:lnTo>
                    <a:lnTo>
                      <a:pt x="11" y="24"/>
                    </a:lnTo>
                    <a:lnTo>
                      <a:pt x="15" y="18"/>
                    </a:lnTo>
                    <a:lnTo>
                      <a:pt x="19" y="14"/>
                    </a:lnTo>
                    <a:lnTo>
                      <a:pt x="23" y="10"/>
                    </a:lnTo>
                    <a:lnTo>
                      <a:pt x="27" y="6"/>
                    </a:lnTo>
                    <a:lnTo>
                      <a:pt x="32" y="0"/>
                    </a:lnTo>
                    <a:lnTo>
                      <a:pt x="32" y="357"/>
                    </a:lnTo>
                    <a:lnTo>
                      <a:pt x="0" y="35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16" name="Freeform 3923"/>
              <p:cNvSpPr>
                <a:spLocks noChangeAspect="1"/>
              </p:cNvSpPr>
              <p:nvPr/>
            </p:nvSpPr>
            <p:spPr bwMode="auto">
              <a:xfrm>
                <a:off x="5274" y="1045"/>
                <a:ext cx="11" cy="124"/>
              </a:xfrm>
              <a:custGeom>
                <a:avLst/>
                <a:gdLst>
                  <a:gd name="T0" fmla="*/ 0 w 32"/>
                  <a:gd name="T1" fmla="*/ 0 h 373"/>
                  <a:gd name="T2" fmla="*/ 0 w 32"/>
                  <a:gd name="T3" fmla="*/ 0 h 373"/>
                  <a:gd name="T4" fmla="*/ 0 w 32"/>
                  <a:gd name="T5" fmla="*/ 0 h 373"/>
                  <a:gd name="T6" fmla="*/ 0 w 32"/>
                  <a:gd name="T7" fmla="*/ 0 h 373"/>
                  <a:gd name="T8" fmla="*/ 0 w 32"/>
                  <a:gd name="T9" fmla="*/ 0 h 373"/>
                  <a:gd name="T10" fmla="*/ 0 w 32"/>
                  <a:gd name="T11" fmla="*/ 0 h 373"/>
                  <a:gd name="T12" fmla="*/ 0 w 32"/>
                  <a:gd name="T13" fmla="*/ 0 h 373"/>
                  <a:gd name="T14" fmla="*/ 0 w 32"/>
                  <a:gd name="T15" fmla="*/ 0 h 373"/>
                  <a:gd name="T16" fmla="*/ 0 w 32"/>
                  <a:gd name="T17" fmla="*/ 0 h 373"/>
                  <a:gd name="T18" fmla="*/ 0 w 32"/>
                  <a:gd name="T19" fmla="*/ 0 h 373"/>
                  <a:gd name="T20" fmla="*/ 0 w 32"/>
                  <a:gd name="T21" fmla="*/ 0 h 373"/>
                  <a:gd name="T22" fmla="*/ 0 w 32"/>
                  <a:gd name="T23" fmla="*/ 0 h 3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73">
                    <a:moveTo>
                      <a:pt x="0" y="373"/>
                    </a:moveTo>
                    <a:lnTo>
                      <a:pt x="0" y="34"/>
                    </a:lnTo>
                    <a:lnTo>
                      <a:pt x="3" y="30"/>
                    </a:lnTo>
                    <a:lnTo>
                      <a:pt x="7" y="26"/>
                    </a:lnTo>
                    <a:lnTo>
                      <a:pt x="11" y="22"/>
                    </a:lnTo>
                    <a:lnTo>
                      <a:pt x="16" y="17"/>
                    </a:lnTo>
                    <a:lnTo>
                      <a:pt x="19" y="13"/>
                    </a:lnTo>
                    <a:lnTo>
                      <a:pt x="23" y="9"/>
                    </a:lnTo>
                    <a:lnTo>
                      <a:pt x="27" y="4"/>
                    </a:lnTo>
                    <a:lnTo>
                      <a:pt x="32" y="0"/>
                    </a:lnTo>
                    <a:lnTo>
                      <a:pt x="32" y="373"/>
                    </a:lnTo>
                    <a:lnTo>
                      <a:pt x="0" y="37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17" name="Freeform 3924"/>
              <p:cNvSpPr>
                <a:spLocks noChangeAspect="1"/>
              </p:cNvSpPr>
              <p:nvPr/>
            </p:nvSpPr>
            <p:spPr bwMode="auto">
              <a:xfrm>
                <a:off x="5280" y="1040"/>
                <a:ext cx="10" cy="129"/>
              </a:xfrm>
              <a:custGeom>
                <a:avLst/>
                <a:gdLst>
                  <a:gd name="T0" fmla="*/ 0 w 32"/>
                  <a:gd name="T1" fmla="*/ 0 h 387"/>
                  <a:gd name="T2" fmla="*/ 0 w 32"/>
                  <a:gd name="T3" fmla="*/ 0 h 387"/>
                  <a:gd name="T4" fmla="*/ 0 w 32"/>
                  <a:gd name="T5" fmla="*/ 0 h 387"/>
                  <a:gd name="T6" fmla="*/ 0 w 32"/>
                  <a:gd name="T7" fmla="*/ 0 h 387"/>
                  <a:gd name="T8" fmla="*/ 0 w 32"/>
                  <a:gd name="T9" fmla="*/ 0 h 387"/>
                  <a:gd name="T10" fmla="*/ 0 w 32"/>
                  <a:gd name="T11" fmla="*/ 0 h 387"/>
                  <a:gd name="T12" fmla="*/ 0 w 32"/>
                  <a:gd name="T13" fmla="*/ 0 h 387"/>
                  <a:gd name="T14" fmla="*/ 0 w 32"/>
                  <a:gd name="T15" fmla="*/ 0 h 387"/>
                  <a:gd name="T16" fmla="*/ 0 w 32"/>
                  <a:gd name="T17" fmla="*/ 0 h 387"/>
                  <a:gd name="T18" fmla="*/ 0 w 32"/>
                  <a:gd name="T19" fmla="*/ 0 h 387"/>
                  <a:gd name="T20" fmla="*/ 0 w 32"/>
                  <a:gd name="T21" fmla="*/ 0 h 387"/>
                  <a:gd name="T22" fmla="*/ 0 w 32"/>
                  <a:gd name="T23" fmla="*/ 0 h 38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87">
                    <a:moveTo>
                      <a:pt x="0" y="387"/>
                    </a:moveTo>
                    <a:lnTo>
                      <a:pt x="0" y="30"/>
                    </a:lnTo>
                    <a:lnTo>
                      <a:pt x="4" y="27"/>
                    </a:lnTo>
                    <a:lnTo>
                      <a:pt x="7" y="23"/>
                    </a:lnTo>
                    <a:lnTo>
                      <a:pt x="11" y="18"/>
                    </a:lnTo>
                    <a:lnTo>
                      <a:pt x="16" y="15"/>
                    </a:lnTo>
                    <a:lnTo>
                      <a:pt x="20" y="11"/>
                    </a:lnTo>
                    <a:lnTo>
                      <a:pt x="24" y="8"/>
                    </a:lnTo>
                    <a:lnTo>
                      <a:pt x="27" y="4"/>
                    </a:lnTo>
                    <a:lnTo>
                      <a:pt x="32" y="0"/>
                    </a:lnTo>
                    <a:lnTo>
                      <a:pt x="32" y="387"/>
                    </a:lnTo>
                    <a:lnTo>
                      <a:pt x="0" y="38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18" name="Freeform 3925"/>
              <p:cNvSpPr>
                <a:spLocks noChangeAspect="1"/>
              </p:cNvSpPr>
              <p:nvPr/>
            </p:nvSpPr>
            <p:spPr bwMode="auto">
              <a:xfrm>
                <a:off x="5285" y="1036"/>
                <a:ext cx="11" cy="133"/>
              </a:xfrm>
              <a:custGeom>
                <a:avLst/>
                <a:gdLst>
                  <a:gd name="T0" fmla="*/ 0 w 33"/>
                  <a:gd name="T1" fmla="*/ 0 h 400"/>
                  <a:gd name="T2" fmla="*/ 0 w 33"/>
                  <a:gd name="T3" fmla="*/ 0 h 400"/>
                  <a:gd name="T4" fmla="*/ 0 w 33"/>
                  <a:gd name="T5" fmla="*/ 0 h 400"/>
                  <a:gd name="T6" fmla="*/ 0 w 33"/>
                  <a:gd name="T7" fmla="*/ 0 h 400"/>
                  <a:gd name="T8" fmla="*/ 0 w 33"/>
                  <a:gd name="T9" fmla="*/ 0 h 400"/>
                  <a:gd name="T10" fmla="*/ 0 w 33"/>
                  <a:gd name="T11" fmla="*/ 0 h 400"/>
                  <a:gd name="T12" fmla="*/ 0 w 33"/>
                  <a:gd name="T13" fmla="*/ 0 h 400"/>
                  <a:gd name="T14" fmla="*/ 0 w 33"/>
                  <a:gd name="T15" fmla="*/ 0 h 400"/>
                  <a:gd name="T16" fmla="*/ 0 w 33"/>
                  <a:gd name="T17" fmla="*/ 0 h 400"/>
                  <a:gd name="T18" fmla="*/ 0 w 33"/>
                  <a:gd name="T19" fmla="*/ 0 h 400"/>
                  <a:gd name="T20" fmla="*/ 0 w 33"/>
                  <a:gd name="T21" fmla="*/ 0 h 400"/>
                  <a:gd name="T22" fmla="*/ 0 w 33"/>
                  <a:gd name="T23" fmla="*/ 0 h 4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00">
                    <a:moveTo>
                      <a:pt x="0" y="400"/>
                    </a:moveTo>
                    <a:lnTo>
                      <a:pt x="0" y="27"/>
                    </a:lnTo>
                    <a:lnTo>
                      <a:pt x="4" y="24"/>
                    </a:lnTo>
                    <a:lnTo>
                      <a:pt x="8" y="21"/>
                    </a:lnTo>
                    <a:lnTo>
                      <a:pt x="11" y="17"/>
                    </a:lnTo>
                    <a:lnTo>
                      <a:pt x="16" y="13"/>
                    </a:lnTo>
                    <a:lnTo>
                      <a:pt x="20" y="10"/>
                    </a:lnTo>
                    <a:lnTo>
                      <a:pt x="24" y="7"/>
                    </a:lnTo>
                    <a:lnTo>
                      <a:pt x="28" y="3"/>
                    </a:lnTo>
                    <a:lnTo>
                      <a:pt x="33" y="0"/>
                    </a:lnTo>
                    <a:lnTo>
                      <a:pt x="33" y="400"/>
                    </a:lnTo>
                    <a:lnTo>
                      <a:pt x="0" y="4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19" name="Freeform 3926"/>
              <p:cNvSpPr>
                <a:spLocks noChangeAspect="1"/>
              </p:cNvSpPr>
              <p:nvPr/>
            </p:nvSpPr>
            <p:spPr bwMode="auto">
              <a:xfrm>
                <a:off x="5290" y="1032"/>
                <a:ext cx="11" cy="137"/>
              </a:xfrm>
              <a:custGeom>
                <a:avLst/>
                <a:gdLst>
                  <a:gd name="T0" fmla="*/ 0 w 33"/>
                  <a:gd name="T1" fmla="*/ 0 h 412"/>
                  <a:gd name="T2" fmla="*/ 0 w 33"/>
                  <a:gd name="T3" fmla="*/ 0 h 412"/>
                  <a:gd name="T4" fmla="*/ 0 w 33"/>
                  <a:gd name="T5" fmla="*/ 0 h 412"/>
                  <a:gd name="T6" fmla="*/ 0 w 33"/>
                  <a:gd name="T7" fmla="*/ 0 h 412"/>
                  <a:gd name="T8" fmla="*/ 0 w 33"/>
                  <a:gd name="T9" fmla="*/ 0 h 412"/>
                  <a:gd name="T10" fmla="*/ 0 w 33"/>
                  <a:gd name="T11" fmla="*/ 0 h 412"/>
                  <a:gd name="T12" fmla="*/ 0 w 33"/>
                  <a:gd name="T13" fmla="*/ 0 h 412"/>
                  <a:gd name="T14" fmla="*/ 0 w 33"/>
                  <a:gd name="T15" fmla="*/ 0 h 412"/>
                  <a:gd name="T16" fmla="*/ 0 w 33"/>
                  <a:gd name="T17" fmla="*/ 0 h 412"/>
                  <a:gd name="T18" fmla="*/ 0 w 33"/>
                  <a:gd name="T19" fmla="*/ 0 h 412"/>
                  <a:gd name="T20" fmla="*/ 0 w 33"/>
                  <a:gd name="T21" fmla="*/ 0 h 412"/>
                  <a:gd name="T22" fmla="*/ 0 w 33"/>
                  <a:gd name="T23" fmla="*/ 0 h 4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12">
                    <a:moveTo>
                      <a:pt x="0" y="412"/>
                    </a:moveTo>
                    <a:lnTo>
                      <a:pt x="0" y="25"/>
                    </a:lnTo>
                    <a:lnTo>
                      <a:pt x="4" y="22"/>
                    </a:lnTo>
                    <a:lnTo>
                      <a:pt x="8" y="19"/>
                    </a:lnTo>
                    <a:lnTo>
                      <a:pt x="12" y="16"/>
                    </a:lnTo>
                    <a:lnTo>
                      <a:pt x="16" y="13"/>
                    </a:lnTo>
                    <a:lnTo>
                      <a:pt x="20" y="9"/>
                    </a:lnTo>
                    <a:lnTo>
                      <a:pt x="24" y="6"/>
                    </a:lnTo>
                    <a:lnTo>
                      <a:pt x="28" y="3"/>
                    </a:lnTo>
                    <a:lnTo>
                      <a:pt x="33" y="0"/>
                    </a:lnTo>
                    <a:lnTo>
                      <a:pt x="33" y="412"/>
                    </a:lnTo>
                    <a:lnTo>
                      <a:pt x="0" y="41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20" name="Freeform 3927"/>
              <p:cNvSpPr>
                <a:spLocks noChangeAspect="1"/>
              </p:cNvSpPr>
              <p:nvPr/>
            </p:nvSpPr>
            <p:spPr bwMode="auto">
              <a:xfrm>
                <a:off x="5296" y="1028"/>
                <a:ext cx="11" cy="141"/>
              </a:xfrm>
              <a:custGeom>
                <a:avLst/>
                <a:gdLst>
                  <a:gd name="T0" fmla="*/ 0 w 32"/>
                  <a:gd name="T1" fmla="*/ 0 h 423"/>
                  <a:gd name="T2" fmla="*/ 0 w 32"/>
                  <a:gd name="T3" fmla="*/ 0 h 423"/>
                  <a:gd name="T4" fmla="*/ 0 w 32"/>
                  <a:gd name="T5" fmla="*/ 0 h 423"/>
                  <a:gd name="T6" fmla="*/ 0 w 32"/>
                  <a:gd name="T7" fmla="*/ 0 h 423"/>
                  <a:gd name="T8" fmla="*/ 0 w 32"/>
                  <a:gd name="T9" fmla="*/ 0 h 423"/>
                  <a:gd name="T10" fmla="*/ 0 w 32"/>
                  <a:gd name="T11" fmla="*/ 0 h 423"/>
                  <a:gd name="T12" fmla="*/ 0 w 32"/>
                  <a:gd name="T13" fmla="*/ 0 h 423"/>
                  <a:gd name="T14" fmla="*/ 0 w 32"/>
                  <a:gd name="T15" fmla="*/ 0 h 423"/>
                  <a:gd name="T16" fmla="*/ 0 w 32"/>
                  <a:gd name="T17" fmla="*/ 0 h 423"/>
                  <a:gd name="T18" fmla="*/ 0 w 32"/>
                  <a:gd name="T19" fmla="*/ 0 h 423"/>
                  <a:gd name="T20" fmla="*/ 0 w 32"/>
                  <a:gd name="T21" fmla="*/ 0 h 423"/>
                  <a:gd name="T22" fmla="*/ 0 w 32"/>
                  <a:gd name="T23" fmla="*/ 0 h 42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23">
                    <a:moveTo>
                      <a:pt x="0" y="423"/>
                    </a:moveTo>
                    <a:lnTo>
                      <a:pt x="0" y="23"/>
                    </a:lnTo>
                    <a:lnTo>
                      <a:pt x="3" y="19"/>
                    </a:lnTo>
                    <a:lnTo>
                      <a:pt x="7" y="17"/>
                    </a:lnTo>
                    <a:lnTo>
                      <a:pt x="11" y="14"/>
                    </a:lnTo>
                    <a:lnTo>
                      <a:pt x="16" y="11"/>
                    </a:lnTo>
                    <a:lnTo>
                      <a:pt x="19" y="8"/>
                    </a:lnTo>
                    <a:lnTo>
                      <a:pt x="23" y="6"/>
                    </a:lnTo>
                    <a:lnTo>
                      <a:pt x="27" y="2"/>
                    </a:lnTo>
                    <a:lnTo>
                      <a:pt x="32" y="0"/>
                    </a:lnTo>
                    <a:lnTo>
                      <a:pt x="32" y="423"/>
                    </a:lnTo>
                    <a:lnTo>
                      <a:pt x="0" y="42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21" name="Freeform 3928"/>
              <p:cNvSpPr>
                <a:spLocks noChangeAspect="1"/>
              </p:cNvSpPr>
              <p:nvPr/>
            </p:nvSpPr>
            <p:spPr bwMode="auto">
              <a:xfrm>
                <a:off x="5301" y="1025"/>
                <a:ext cx="11" cy="144"/>
              </a:xfrm>
              <a:custGeom>
                <a:avLst/>
                <a:gdLst>
                  <a:gd name="T0" fmla="*/ 0 w 32"/>
                  <a:gd name="T1" fmla="*/ 0 h 433"/>
                  <a:gd name="T2" fmla="*/ 0 w 32"/>
                  <a:gd name="T3" fmla="*/ 0 h 433"/>
                  <a:gd name="T4" fmla="*/ 0 w 32"/>
                  <a:gd name="T5" fmla="*/ 0 h 433"/>
                  <a:gd name="T6" fmla="*/ 0 w 32"/>
                  <a:gd name="T7" fmla="*/ 0 h 433"/>
                  <a:gd name="T8" fmla="*/ 0 w 32"/>
                  <a:gd name="T9" fmla="*/ 0 h 433"/>
                  <a:gd name="T10" fmla="*/ 0 w 32"/>
                  <a:gd name="T11" fmla="*/ 0 h 433"/>
                  <a:gd name="T12" fmla="*/ 0 w 32"/>
                  <a:gd name="T13" fmla="*/ 0 h 433"/>
                  <a:gd name="T14" fmla="*/ 0 w 32"/>
                  <a:gd name="T15" fmla="*/ 0 h 433"/>
                  <a:gd name="T16" fmla="*/ 0 w 32"/>
                  <a:gd name="T17" fmla="*/ 0 h 433"/>
                  <a:gd name="T18" fmla="*/ 0 w 32"/>
                  <a:gd name="T19" fmla="*/ 0 h 433"/>
                  <a:gd name="T20" fmla="*/ 0 w 32"/>
                  <a:gd name="T21" fmla="*/ 0 h 433"/>
                  <a:gd name="T22" fmla="*/ 0 w 32"/>
                  <a:gd name="T23" fmla="*/ 0 h 4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33">
                    <a:moveTo>
                      <a:pt x="0" y="433"/>
                    </a:moveTo>
                    <a:lnTo>
                      <a:pt x="0" y="21"/>
                    </a:lnTo>
                    <a:lnTo>
                      <a:pt x="3" y="18"/>
                    </a:lnTo>
                    <a:lnTo>
                      <a:pt x="7" y="16"/>
                    </a:lnTo>
                    <a:lnTo>
                      <a:pt x="11" y="12"/>
                    </a:lnTo>
                    <a:lnTo>
                      <a:pt x="16" y="10"/>
                    </a:lnTo>
                    <a:lnTo>
                      <a:pt x="20" y="7"/>
                    </a:lnTo>
                    <a:lnTo>
                      <a:pt x="23" y="5"/>
                    </a:lnTo>
                    <a:lnTo>
                      <a:pt x="27" y="3"/>
                    </a:lnTo>
                    <a:lnTo>
                      <a:pt x="32" y="0"/>
                    </a:lnTo>
                    <a:lnTo>
                      <a:pt x="32" y="433"/>
                    </a:lnTo>
                    <a:lnTo>
                      <a:pt x="0" y="43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22" name="Freeform 3929"/>
              <p:cNvSpPr>
                <a:spLocks noChangeAspect="1"/>
              </p:cNvSpPr>
              <p:nvPr/>
            </p:nvSpPr>
            <p:spPr bwMode="auto">
              <a:xfrm>
                <a:off x="5307" y="1022"/>
                <a:ext cx="10" cy="147"/>
              </a:xfrm>
              <a:custGeom>
                <a:avLst/>
                <a:gdLst>
                  <a:gd name="T0" fmla="*/ 0 w 31"/>
                  <a:gd name="T1" fmla="*/ 0 h 442"/>
                  <a:gd name="T2" fmla="*/ 0 w 31"/>
                  <a:gd name="T3" fmla="*/ 0 h 442"/>
                  <a:gd name="T4" fmla="*/ 0 w 31"/>
                  <a:gd name="T5" fmla="*/ 0 h 442"/>
                  <a:gd name="T6" fmla="*/ 0 w 31"/>
                  <a:gd name="T7" fmla="*/ 0 h 442"/>
                  <a:gd name="T8" fmla="*/ 0 w 31"/>
                  <a:gd name="T9" fmla="*/ 0 h 442"/>
                  <a:gd name="T10" fmla="*/ 0 w 31"/>
                  <a:gd name="T11" fmla="*/ 0 h 442"/>
                  <a:gd name="T12" fmla="*/ 0 w 31"/>
                  <a:gd name="T13" fmla="*/ 0 h 442"/>
                  <a:gd name="T14" fmla="*/ 0 w 31"/>
                  <a:gd name="T15" fmla="*/ 0 h 442"/>
                  <a:gd name="T16" fmla="*/ 0 w 31"/>
                  <a:gd name="T17" fmla="*/ 0 h 442"/>
                  <a:gd name="T18" fmla="*/ 0 w 31"/>
                  <a:gd name="T19" fmla="*/ 0 h 442"/>
                  <a:gd name="T20" fmla="*/ 0 w 31"/>
                  <a:gd name="T21" fmla="*/ 0 h 442"/>
                  <a:gd name="T22" fmla="*/ 0 w 31"/>
                  <a:gd name="T23" fmla="*/ 0 h 4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442">
                    <a:moveTo>
                      <a:pt x="0" y="442"/>
                    </a:moveTo>
                    <a:lnTo>
                      <a:pt x="0" y="19"/>
                    </a:lnTo>
                    <a:lnTo>
                      <a:pt x="4" y="16"/>
                    </a:lnTo>
                    <a:lnTo>
                      <a:pt x="7" y="14"/>
                    </a:lnTo>
                    <a:lnTo>
                      <a:pt x="11" y="12"/>
                    </a:lnTo>
                    <a:lnTo>
                      <a:pt x="16" y="9"/>
                    </a:lnTo>
                    <a:lnTo>
                      <a:pt x="20" y="7"/>
                    </a:lnTo>
                    <a:lnTo>
                      <a:pt x="24" y="4"/>
                    </a:lnTo>
                    <a:lnTo>
                      <a:pt x="27" y="2"/>
                    </a:lnTo>
                    <a:lnTo>
                      <a:pt x="31" y="0"/>
                    </a:lnTo>
                    <a:lnTo>
                      <a:pt x="31" y="442"/>
                    </a:lnTo>
                    <a:lnTo>
                      <a:pt x="0" y="44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23" name="Freeform 3930"/>
              <p:cNvSpPr>
                <a:spLocks noChangeAspect="1"/>
              </p:cNvSpPr>
              <p:nvPr/>
            </p:nvSpPr>
            <p:spPr bwMode="auto">
              <a:xfrm>
                <a:off x="5312" y="1019"/>
                <a:ext cx="11" cy="150"/>
              </a:xfrm>
              <a:custGeom>
                <a:avLst/>
                <a:gdLst>
                  <a:gd name="T0" fmla="*/ 0 w 33"/>
                  <a:gd name="T1" fmla="*/ 0 h 450"/>
                  <a:gd name="T2" fmla="*/ 0 w 33"/>
                  <a:gd name="T3" fmla="*/ 0 h 450"/>
                  <a:gd name="T4" fmla="*/ 0 w 33"/>
                  <a:gd name="T5" fmla="*/ 0 h 450"/>
                  <a:gd name="T6" fmla="*/ 0 w 33"/>
                  <a:gd name="T7" fmla="*/ 0 h 450"/>
                  <a:gd name="T8" fmla="*/ 0 w 33"/>
                  <a:gd name="T9" fmla="*/ 0 h 450"/>
                  <a:gd name="T10" fmla="*/ 0 w 33"/>
                  <a:gd name="T11" fmla="*/ 0 h 450"/>
                  <a:gd name="T12" fmla="*/ 0 w 33"/>
                  <a:gd name="T13" fmla="*/ 0 h 450"/>
                  <a:gd name="T14" fmla="*/ 0 w 33"/>
                  <a:gd name="T15" fmla="*/ 0 h 450"/>
                  <a:gd name="T16" fmla="*/ 0 w 33"/>
                  <a:gd name="T17" fmla="*/ 0 h 450"/>
                  <a:gd name="T18" fmla="*/ 0 w 33"/>
                  <a:gd name="T19" fmla="*/ 0 h 450"/>
                  <a:gd name="T20" fmla="*/ 0 w 33"/>
                  <a:gd name="T21" fmla="*/ 0 h 450"/>
                  <a:gd name="T22" fmla="*/ 0 w 33"/>
                  <a:gd name="T23" fmla="*/ 0 h 4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50">
                    <a:moveTo>
                      <a:pt x="0" y="450"/>
                    </a:moveTo>
                    <a:lnTo>
                      <a:pt x="0" y="17"/>
                    </a:lnTo>
                    <a:lnTo>
                      <a:pt x="4" y="15"/>
                    </a:lnTo>
                    <a:lnTo>
                      <a:pt x="8" y="12"/>
                    </a:lnTo>
                    <a:lnTo>
                      <a:pt x="11" y="10"/>
                    </a:lnTo>
                    <a:lnTo>
                      <a:pt x="15" y="8"/>
                    </a:lnTo>
                    <a:lnTo>
                      <a:pt x="20" y="6"/>
                    </a:lnTo>
                    <a:lnTo>
                      <a:pt x="24" y="4"/>
                    </a:lnTo>
                    <a:lnTo>
                      <a:pt x="28" y="2"/>
                    </a:lnTo>
                    <a:lnTo>
                      <a:pt x="33" y="0"/>
                    </a:lnTo>
                    <a:lnTo>
                      <a:pt x="33" y="450"/>
                    </a:lnTo>
                    <a:lnTo>
                      <a:pt x="0" y="45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24" name="Freeform 3931"/>
              <p:cNvSpPr>
                <a:spLocks noChangeAspect="1"/>
              </p:cNvSpPr>
              <p:nvPr/>
            </p:nvSpPr>
            <p:spPr bwMode="auto">
              <a:xfrm>
                <a:off x="5317" y="1017"/>
                <a:ext cx="11" cy="152"/>
              </a:xfrm>
              <a:custGeom>
                <a:avLst/>
                <a:gdLst>
                  <a:gd name="T0" fmla="*/ 0 w 33"/>
                  <a:gd name="T1" fmla="*/ 0 h 458"/>
                  <a:gd name="T2" fmla="*/ 0 w 33"/>
                  <a:gd name="T3" fmla="*/ 0 h 458"/>
                  <a:gd name="T4" fmla="*/ 0 w 33"/>
                  <a:gd name="T5" fmla="*/ 0 h 458"/>
                  <a:gd name="T6" fmla="*/ 0 w 33"/>
                  <a:gd name="T7" fmla="*/ 0 h 458"/>
                  <a:gd name="T8" fmla="*/ 0 w 33"/>
                  <a:gd name="T9" fmla="*/ 0 h 458"/>
                  <a:gd name="T10" fmla="*/ 0 w 33"/>
                  <a:gd name="T11" fmla="*/ 0 h 458"/>
                  <a:gd name="T12" fmla="*/ 0 w 33"/>
                  <a:gd name="T13" fmla="*/ 0 h 458"/>
                  <a:gd name="T14" fmla="*/ 0 w 33"/>
                  <a:gd name="T15" fmla="*/ 0 h 458"/>
                  <a:gd name="T16" fmla="*/ 0 w 33"/>
                  <a:gd name="T17" fmla="*/ 0 h 458"/>
                  <a:gd name="T18" fmla="*/ 0 w 33"/>
                  <a:gd name="T19" fmla="*/ 0 h 458"/>
                  <a:gd name="T20" fmla="*/ 0 w 33"/>
                  <a:gd name="T21" fmla="*/ 0 h 458"/>
                  <a:gd name="T22" fmla="*/ 0 w 33"/>
                  <a:gd name="T23" fmla="*/ 0 h 4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58">
                    <a:moveTo>
                      <a:pt x="0" y="458"/>
                    </a:moveTo>
                    <a:lnTo>
                      <a:pt x="0" y="16"/>
                    </a:lnTo>
                    <a:lnTo>
                      <a:pt x="5" y="14"/>
                    </a:lnTo>
                    <a:lnTo>
                      <a:pt x="9" y="12"/>
                    </a:lnTo>
                    <a:lnTo>
                      <a:pt x="13" y="10"/>
                    </a:lnTo>
                    <a:lnTo>
                      <a:pt x="16" y="8"/>
                    </a:lnTo>
                    <a:lnTo>
                      <a:pt x="21" y="6"/>
                    </a:lnTo>
                    <a:lnTo>
                      <a:pt x="25" y="3"/>
                    </a:lnTo>
                    <a:lnTo>
                      <a:pt x="29" y="1"/>
                    </a:lnTo>
                    <a:lnTo>
                      <a:pt x="33" y="0"/>
                    </a:lnTo>
                    <a:lnTo>
                      <a:pt x="33" y="458"/>
                    </a:lnTo>
                    <a:lnTo>
                      <a:pt x="0" y="45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25" name="Freeform 3932"/>
              <p:cNvSpPr>
                <a:spLocks noChangeAspect="1"/>
              </p:cNvSpPr>
              <p:nvPr/>
            </p:nvSpPr>
            <p:spPr bwMode="auto">
              <a:xfrm>
                <a:off x="5323" y="1014"/>
                <a:ext cx="10" cy="155"/>
              </a:xfrm>
              <a:custGeom>
                <a:avLst/>
                <a:gdLst>
                  <a:gd name="T0" fmla="*/ 0 w 31"/>
                  <a:gd name="T1" fmla="*/ 0 h 465"/>
                  <a:gd name="T2" fmla="*/ 0 w 31"/>
                  <a:gd name="T3" fmla="*/ 0 h 465"/>
                  <a:gd name="T4" fmla="*/ 0 w 31"/>
                  <a:gd name="T5" fmla="*/ 0 h 465"/>
                  <a:gd name="T6" fmla="*/ 0 w 31"/>
                  <a:gd name="T7" fmla="*/ 0 h 465"/>
                  <a:gd name="T8" fmla="*/ 0 w 31"/>
                  <a:gd name="T9" fmla="*/ 0 h 465"/>
                  <a:gd name="T10" fmla="*/ 0 w 31"/>
                  <a:gd name="T11" fmla="*/ 0 h 465"/>
                  <a:gd name="T12" fmla="*/ 0 w 31"/>
                  <a:gd name="T13" fmla="*/ 0 h 465"/>
                  <a:gd name="T14" fmla="*/ 0 w 31"/>
                  <a:gd name="T15" fmla="*/ 0 h 465"/>
                  <a:gd name="T16" fmla="*/ 0 w 31"/>
                  <a:gd name="T17" fmla="*/ 0 h 465"/>
                  <a:gd name="T18" fmla="*/ 0 w 31"/>
                  <a:gd name="T19" fmla="*/ 0 h 465"/>
                  <a:gd name="T20" fmla="*/ 0 w 31"/>
                  <a:gd name="T21" fmla="*/ 0 h 465"/>
                  <a:gd name="T22" fmla="*/ 0 w 31"/>
                  <a:gd name="T23" fmla="*/ 0 h 4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465">
                    <a:moveTo>
                      <a:pt x="0" y="465"/>
                    </a:moveTo>
                    <a:lnTo>
                      <a:pt x="0" y="15"/>
                    </a:lnTo>
                    <a:lnTo>
                      <a:pt x="3" y="13"/>
                    </a:lnTo>
                    <a:lnTo>
                      <a:pt x="7" y="10"/>
                    </a:lnTo>
                    <a:lnTo>
                      <a:pt x="11" y="8"/>
                    </a:lnTo>
                    <a:lnTo>
                      <a:pt x="15" y="7"/>
                    </a:lnTo>
                    <a:lnTo>
                      <a:pt x="19" y="5"/>
                    </a:lnTo>
                    <a:lnTo>
                      <a:pt x="23" y="3"/>
                    </a:lnTo>
                    <a:lnTo>
                      <a:pt x="27" y="2"/>
                    </a:lnTo>
                    <a:lnTo>
                      <a:pt x="31" y="0"/>
                    </a:lnTo>
                    <a:lnTo>
                      <a:pt x="31" y="465"/>
                    </a:lnTo>
                    <a:lnTo>
                      <a:pt x="0" y="4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26" name="Freeform 3933"/>
              <p:cNvSpPr>
                <a:spLocks noChangeAspect="1"/>
              </p:cNvSpPr>
              <p:nvPr/>
            </p:nvSpPr>
            <p:spPr bwMode="auto">
              <a:xfrm>
                <a:off x="5328" y="1012"/>
                <a:ext cx="11" cy="157"/>
              </a:xfrm>
              <a:custGeom>
                <a:avLst/>
                <a:gdLst>
                  <a:gd name="T0" fmla="*/ 0 w 32"/>
                  <a:gd name="T1" fmla="*/ 0 h 471"/>
                  <a:gd name="T2" fmla="*/ 0 w 32"/>
                  <a:gd name="T3" fmla="*/ 0 h 471"/>
                  <a:gd name="T4" fmla="*/ 0 w 32"/>
                  <a:gd name="T5" fmla="*/ 0 h 471"/>
                  <a:gd name="T6" fmla="*/ 0 w 32"/>
                  <a:gd name="T7" fmla="*/ 0 h 471"/>
                  <a:gd name="T8" fmla="*/ 0 w 32"/>
                  <a:gd name="T9" fmla="*/ 0 h 471"/>
                  <a:gd name="T10" fmla="*/ 0 w 32"/>
                  <a:gd name="T11" fmla="*/ 0 h 471"/>
                  <a:gd name="T12" fmla="*/ 0 w 32"/>
                  <a:gd name="T13" fmla="*/ 0 h 471"/>
                  <a:gd name="T14" fmla="*/ 0 w 32"/>
                  <a:gd name="T15" fmla="*/ 0 h 471"/>
                  <a:gd name="T16" fmla="*/ 0 w 32"/>
                  <a:gd name="T17" fmla="*/ 0 h 471"/>
                  <a:gd name="T18" fmla="*/ 0 w 32"/>
                  <a:gd name="T19" fmla="*/ 0 h 471"/>
                  <a:gd name="T20" fmla="*/ 0 w 32"/>
                  <a:gd name="T21" fmla="*/ 0 h 471"/>
                  <a:gd name="T22" fmla="*/ 0 w 32"/>
                  <a:gd name="T23" fmla="*/ 0 h 47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71">
                    <a:moveTo>
                      <a:pt x="0" y="471"/>
                    </a:moveTo>
                    <a:lnTo>
                      <a:pt x="0" y="13"/>
                    </a:lnTo>
                    <a:lnTo>
                      <a:pt x="4" y="11"/>
                    </a:lnTo>
                    <a:lnTo>
                      <a:pt x="8" y="9"/>
                    </a:lnTo>
                    <a:lnTo>
                      <a:pt x="12" y="8"/>
                    </a:lnTo>
                    <a:lnTo>
                      <a:pt x="16" y="6"/>
                    </a:lnTo>
                    <a:lnTo>
                      <a:pt x="21" y="5"/>
                    </a:lnTo>
                    <a:lnTo>
                      <a:pt x="24" y="3"/>
                    </a:lnTo>
                    <a:lnTo>
                      <a:pt x="28" y="1"/>
                    </a:lnTo>
                    <a:lnTo>
                      <a:pt x="32" y="0"/>
                    </a:lnTo>
                    <a:lnTo>
                      <a:pt x="32" y="471"/>
                    </a:lnTo>
                    <a:lnTo>
                      <a:pt x="0" y="47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27" name="Freeform 3934"/>
              <p:cNvSpPr>
                <a:spLocks noChangeAspect="1"/>
              </p:cNvSpPr>
              <p:nvPr/>
            </p:nvSpPr>
            <p:spPr bwMode="auto">
              <a:xfrm>
                <a:off x="5333" y="1010"/>
                <a:ext cx="11" cy="159"/>
              </a:xfrm>
              <a:custGeom>
                <a:avLst/>
                <a:gdLst>
                  <a:gd name="T0" fmla="*/ 0 w 32"/>
                  <a:gd name="T1" fmla="*/ 0 h 477"/>
                  <a:gd name="T2" fmla="*/ 0 w 32"/>
                  <a:gd name="T3" fmla="*/ 0 h 477"/>
                  <a:gd name="T4" fmla="*/ 0 w 32"/>
                  <a:gd name="T5" fmla="*/ 0 h 477"/>
                  <a:gd name="T6" fmla="*/ 0 w 32"/>
                  <a:gd name="T7" fmla="*/ 0 h 477"/>
                  <a:gd name="T8" fmla="*/ 0 w 32"/>
                  <a:gd name="T9" fmla="*/ 0 h 477"/>
                  <a:gd name="T10" fmla="*/ 0 w 32"/>
                  <a:gd name="T11" fmla="*/ 0 h 477"/>
                  <a:gd name="T12" fmla="*/ 0 w 32"/>
                  <a:gd name="T13" fmla="*/ 0 h 477"/>
                  <a:gd name="T14" fmla="*/ 0 w 32"/>
                  <a:gd name="T15" fmla="*/ 0 h 477"/>
                  <a:gd name="T16" fmla="*/ 0 w 32"/>
                  <a:gd name="T17" fmla="*/ 0 h 477"/>
                  <a:gd name="T18" fmla="*/ 0 w 32"/>
                  <a:gd name="T19" fmla="*/ 0 h 477"/>
                  <a:gd name="T20" fmla="*/ 0 w 32"/>
                  <a:gd name="T21" fmla="*/ 0 h 477"/>
                  <a:gd name="T22" fmla="*/ 0 w 32"/>
                  <a:gd name="T23" fmla="*/ 0 h 4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77">
                    <a:moveTo>
                      <a:pt x="0" y="477"/>
                    </a:moveTo>
                    <a:lnTo>
                      <a:pt x="0" y="12"/>
                    </a:lnTo>
                    <a:lnTo>
                      <a:pt x="5" y="11"/>
                    </a:lnTo>
                    <a:lnTo>
                      <a:pt x="8" y="9"/>
                    </a:lnTo>
                    <a:lnTo>
                      <a:pt x="12" y="7"/>
                    </a:lnTo>
                    <a:lnTo>
                      <a:pt x="16" y="6"/>
                    </a:lnTo>
                    <a:lnTo>
                      <a:pt x="21" y="4"/>
                    </a:lnTo>
                    <a:lnTo>
                      <a:pt x="25" y="3"/>
                    </a:lnTo>
                    <a:lnTo>
                      <a:pt x="28" y="2"/>
                    </a:lnTo>
                    <a:lnTo>
                      <a:pt x="32" y="0"/>
                    </a:lnTo>
                    <a:lnTo>
                      <a:pt x="32" y="477"/>
                    </a:lnTo>
                    <a:lnTo>
                      <a:pt x="0" y="47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28" name="Freeform 3935"/>
              <p:cNvSpPr>
                <a:spLocks noChangeAspect="1"/>
              </p:cNvSpPr>
              <p:nvPr/>
            </p:nvSpPr>
            <p:spPr bwMode="auto">
              <a:xfrm>
                <a:off x="5339" y="1009"/>
                <a:ext cx="10" cy="160"/>
              </a:xfrm>
              <a:custGeom>
                <a:avLst/>
                <a:gdLst>
                  <a:gd name="T0" fmla="*/ 0 w 32"/>
                  <a:gd name="T1" fmla="*/ 0 h 481"/>
                  <a:gd name="T2" fmla="*/ 0 w 32"/>
                  <a:gd name="T3" fmla="*/ 0 h 481"/>
                  <a:gd name="T4" fmla="*/ 0 w 32"/>
                  <a:gd name="T5" fmla="*/ 0 h 481"/>
                  <a:gd name="T6" fmla="*/ 0 w 32"/>
                  <a:gd name="T7" fmla="*/ 0 h 481"/>
                  <a:gd name="T8" fmla="*/ 0 w 32"/>
                  <a:gd name="T9" fmla="*/ 0 h 481"/>
                  <a:gd name="T10" fmla="*/ 0 w 32"/>
                  <a:gd name="T11" fmla="*/ 0 h 481"/>
                  <a:gd name="T12" fmla="*/ 0 w 32"/>
                  <a:gd name="T13" fmla="*/ 0 h 481"/>
                  <a:gd name="T14" fmla="*/ 0 w 32"/>
                  <a:gd name="T15" fmla="*/ 0 h 481"/>
                  <a:gd name="T16" fmla="*/ 0 w 32"/>
                  <a:gd name="T17" fmla="*/ 0 h 481"/>
                  <a:gd name="T18" fmla="*/ 0 w 32"/>
                  <a:gd name="T19" fmla="*/ 0 h 481"/>
                  <a:gd name="T20" fmla="*/ 0 w 32"/>
                  <a:gd name="T21" fmla="*/ 0 h 481"/>
                  <a:gd name="T22" fmla="*/ 0 w 32"/>
                  <a:gd name="T23" fmla="*/ 0 h 4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81">
                    <a:moveTo>
                      <a:pt x="0" y="481"/>
                    </a:moveTo>
                    <a:lnTo>
                      <a:pt x="0" y="10"/>
                    </a:lnTo>
                    <a:lnTo>
                      <a:pt x="5" y="8"/>
                    </a:lnTo>
                    <a:lnTo>
                      <a:pt x="9" y="7"/>
                    </a:lnTo>
                    <a:lnTo>
                      <a:pt x="12" y="6"/>
                    </a:lnTo>
                    <a:lnTo>
                      <a:pt x="16" y="5"/>
                    </a:lnTo>
                    <a:lnTo>
                      <a:pt x="21" y="3"/>
                    </a:lnTo>
                    <a:lnTo>
                      <a:pt x="25" y="2"/>
                    </a:lnTo>
                    <a:lnTo>
                      <a:pt x="29" y="1"/>
                    </a:lnTo>
                    <a:lnTo>
                      <a:pt x="32" y="0"/>
                    </a:lnTo>
                    <a:lnTo>
                      <a:pt x="32" y="481"/>
                    </a:lnTo>
                    <a:lnTo>
                      <a:pt x="0" y="4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29" name="Freeform 3936"/>
              <p:cNvSpPr>
                <a:spLocks noChangeAspect="1"/>
              </p:cNvSpPr>
              <p:nvPr/>
            </p:nvSpPr>
            <p:spPr bwMode="auto">
              <a:xfrm>
                <a:off x="5344" y="1008"/>
                <a:ext cx="11" cy="161"/>
              </a:xfrm>
              <a:custGeom>
                <a:avLst/>
                <a:gdLst>
                  <a:gd name="T0" fmla="*/ 0 w 33"/>
                  <a:gd name="T1" fmla="*/ 0 h 485"/>
                  <a:gd name="T2" fmla="*/ 0 w 33"/>
                  <a:gd name="T3" fmla="*/ 0 h 485"/>
                  <a:gd name="T4" fmla="*/ 0 w 33"/>
                  <a:gd name="T5" fmla="*/ 0 h 485"/>
                  <a:gd name="T6" fmla="*/ 0 w 33"/>
                  <a:gd name="T7" fmla="*/ 0 h 485"/>
                  <a:gd name="T8" fmla="*/ 0 w 33"/>
                  <a:gd name="T9" fmla="*/ 0 h 485"/>
                  <a:gd name="T10" fmla="*/ 0 w 33"/>
                  <a:gd name="T11" fmla="*/ 0 h 485"/>
                  <a:gd name="T12" fmla="*/ 0 w 33"/>
                  <a:gd name="T13" fmla="*/ 0 h 485"/>
                  <a:gd name="T14" fmla="*/ 0 w 33"/>
                  <a:gd name="T15" fmla="*/ 0 h 485"/>
                  <a:gd name="T16" fmla="*/ 0 w 33"/>
                  <a:gd name="T17" fmla="*/ 0 h 485"/>
                  <a:gd name="T18" fmla="*/ 0 w 33"/>
                  <a:gd name="T19" fmla="*/ 0 h 485"/>
                  <a:gd name="T20" fmla="*/ 0 w 33"/>
                  <a:gd name="T21" fmla="*/ 0 h 485"/>
                  <a:gd name="T22" fmla="*/ 0 w 33"/>
                  <a:gd name="T23" fmla="*/ 0 h 4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85">
                    <a:moveTo>
                      <a:pt x="0" y="485"/>
                    </a:moveTo>
                    <a:lnTo>
                      <a:pt x="0" y="8"/>
                    </a:lnTo>
                    <a:lnTo>
                      <a:pt x="5" y="7"/>
                    </a:lnTo>
                    <a:lnTo>
                      <a:pt x="9" y="6"/>
                    </a:lnTo>
                    <a:lnTo>
                      <a:pt x="13" y="5"/>
                    </a:lnTo>
                    <a:lnTo>
                      <a:pt x="16" y="4"/>
                    </a:lnTo>
                    <a:lnTo>
                      <a:pt x="21" y="3"/>
                    </a:lnTo>
                    <a:lnTo>
                      <a:pt x="25" y="2"/>
                    </a:lnTo>
                    <a:lnTo>
                      <a:pt x="29" y="1"/>
                    </a:lnTo>
                    <a:lnTo>
                      <a:pt x="33" y="0"/>
                    </a:lnTo>
                    <a:lnTo>
                      <a:pt x="33" y="485"/>
                    </a:lnTo>
                    <a:lnTo>
                      <a:pt x="0" y="48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30" name="Freeform 3937"/>
              <p:cNvSpPr>
                <a:spLocks noChangeAspect="1"/>
              </p:cNvSpPr>
              <p:nvPr/>
            </p:nvSpPr>
            <p:spPr bwMode="auto">
              <a:xfrm>
                <a:off x="5349" y="1006"/>
                <a:ext cx="11" cy="163"/>
              </a:xfrm>
              <a:custGeom>
                <a:avLst/>
                <a:gdLst>
                  <a:gd name="T0" fmla="*/ 0 w 33"/>
                  <a:gd name="T1" fmla="*/ 0 h 489"/>
                  <a:gd name="T2" fmla="*/ 0 w 33"/>
                  <a:gd name="T3" fmla="*/ 0 h 489"/>
                  <a:gd name="T4" fmla="*/ 0 w 33"/>
                  <a:gd name="T5" fmla="*/ 0 h 489"/>
                  <a:gd name="T6" fmla="*/ 0 w 33"/>
                  <a:gd name="T7" fmla="*/ 0 h 489"/>
                  <a:gd name="T8" fmla="*/ 0 w 33"/>
                  <a:gd name="T9" fmla="*/ 0 h 489"/>
                  <a:gd name="T10" fmla="*/ 0 w 33"/>
                  <a:gd name="T11" fmla="*/ 0 h 489"/>
                  <a:gd name="T12" fmla="*/ 0 w 33"/>
                  <a:gd name="T13" fmla="*/ 0 h 489"/>
                  <a:gd name="T14" fmla="*/ 0 w 33"/>
                  <a:gd name="T15" fmla="*/ 0 h 489"/>
                  <a:gd name="T16" fmla="*/ 0 w 33"/>
                  <a:gd name="T17" fmla="*/ 0 h 489"/>
                  <a:gd name="T18" fmla="*/ 0 w 33"/>
                  <a:gd name="T19" fmla="*/ 0 h 489"/>
                  <a:gd name="T20" fmla="*/ 0 w 33"/>
                  <a:gd name="T21" fmla="*/ 0 h 489"/>
                  <a:gd name="T22" fmla="*/ 0 w 33"/>
                  <a:gd name="T23" fmla="*/ 0 h 4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89">
                    <a:moveTo>
                      <a:pt x="0" y="489"/>
                    </a:moveTo>
                    <a:lnTo>
                      <a:pt x="0" y="8"/>
                    </a:lnTo>
                    <a:lnTo>
                      <a:pt x="5" y="7"/>
                    </a:lnTo>
                    <a:lnTo>
                      <a:pt x="9" y="6"/>
                    </a:lnTo>
                    <a:lnTo>
                      <a:pt x="13" y="5"/>
                    </a:lnTo>
                    <a:lnTo>
                      <a:pt x="17" y="4"/>
                    </a:lnTo>
                    <a:lnTo>
                      <a:pt x="21" y="2"/>
                    </a:lnTo>
                    <a:lnTo>
                      <a:pt x="25" y="1"/>
                    </a:lnTo>
                    <a:lnTo>
                      <a:pt x="29" y="1"/>
                    </a:lnTo>
                    <a:lnTo>
                      <a:pt x="33" y="0"/>
                    </a:lnTo>
                    <a:lnTo>
                      <a:pt x="33" y="489"/>
                    </a:lnTo>
                    <a:lnTo>
                      <a:pt x="0" y="4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31" name="Freeform 3938"/>
              <p:cNvSpPr>
                <a:spLocks noChangeAspect="1"/>
              </p:cNvSpPr>
              <p:nvPr/>
            </p:nvSpPr>
            <p:spPr bwMode="auto">
              <a:xfrm>
                <a:off x="5355" y="1005"/>
                <a:ext cx="11" cy="164"/>
              </a:xfrm>
              <a:custGeom>
                <a:avLst/>
                <a:gdLst>
                  <a:gd name="T0" fmla="*/ 0 w 32"/>
                  <a:gd name="T1" fmla="*/ 0 h 492"/>
                  <a:gd name="T2" fmla="*/ 0 w 32"/>
                  <a:gd name="T3" fmla="*/ 0 h 492"/>
                  <a:gd name="T4" fmla="*/ 0 w 32"/>
                  <a:gd name="T5" fmla="*/ 0 h 492"/>
                  <a:gd name="T6" fmla="*/ 0 w 32"/>
                  <a:gd name="T7" fmla="*/ 0 h 492"/>
                  <a:gd name="T8" fmla="*/ 0 w 32"/>
                  <a:gd name="T9" fmla="*/ 0 h 492"/>
                  <a:gd name="T10" fmla="*/ 0 w 32"/>
                  <a:gd name="T11" fmla="*/ 0 h 492"/>
                  <a:gd name="T12" fmla="*/ 0 w 32"/>
                  <a:gd name="T13" fmla="*/ 0 h 492"/>
                  <a:gd name="T14" fmla="*/ 0 w 32"/>
                  <a:gd name="T15" fmla="*/ 0 h 492"/>
                  <a:gd name="T16" fmla="*/ 0 w 32"/>
                  <a:gd name="T17" fmla="*/ 0 h 492"/>
                  <a:gd name="T18" fmla="*/ 0 w 32"/>
                  <a:gd name="T19" fmla="*/ 0 h 492"/>
                  <a:gd name="T20" fmla="*/ 0 w 32"/>
                  <a:gd name="T21" fmla="*/ 0 h 492"/>
                  <a:gd name="T22" fmla="*/ 0 w 32"/>
                  <a:gd name="T23" fmla="*/ 0 h 4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2">
                    <a:moveTo>
                      <a:pt x="0" y="492"/>
                    </a:moveTo>
                    <a:lnTo>
                      <a:pt x="0" y="7"/>
                    </a:lnTo>
                    <a:lnTo>
                      <a:pt x="4" y="5"/>
                    </a:lnTo>
                    <a:lnTo>
                      <a:pt x="8" y="4"/>
                    </a:lnTo>
                    <a:lnTo>
                      <a:pt x="12" y="4"/>
                    </a:lnTo>
                    <a:lnTo>
                      <a:pt x="16" y="3"/>
                    </a:lnTo>
                    <a:lnTo>
                      <a:pt x="20" y="2"/>
                    </a:lnTo>
                    <a:lnTo>
                      <a:pt x="24" y="1"/>
                    </a:lnTo>
                    <a:lnTo>
                      <a:pt x="28" y="1"/>
                    </a:lnTo>
                    <a:lnTo>
                      <a:pt x="32" y="0"/>
                    </a:lnTo>
                    <a:lnTo>
                      <a:pt x="32" y="492"/>
                    </a:lnTo>
                    <a:lnTo>
                      <a:pt x="0" y="49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32" name="Freeform 3939"/>
              <p:cNvSpPr>
                <a:spLocks noChangeAspect="1"/>
              </p:cNvSpPr>
              <p:nvPr/>
            </p:nvSpPr>
            <p:spPr bwMode="auto">
              <a:xfrm>
                <a:off x="5360" y="1005"/>
                <a:ext cx="11" cy="164"/>
              </a:xfrm>
              <a:custGeom>
                <a:avLst/>
                <a:gdLst>
                  <a:gd name="T0" fmla="*/ 0 w 32"/>
                  <a:gd name="T1" fmla="*/ 0 h 494"/>
                  <a:gd name="T2" fmla="*/ 0 w 32"/>
                  <a:gd name="T3" fmla="*/ 0 h 494"/>
                  <a:gd name="T4" fmla="*/ 0 w 32"/>
                  <a:gd name="T5" fmla="*/ 0 h 494"/>
                  <a:gd name="T6" fmla="*/ 0 w 32"/>
                  <a:gd name="T7" fmla="*/ 0 h 494"/>
                  <a:gd name="T8" fmla="*/ 0 w 32"/>
                  <a:gd name="T9" fmla="*/ 0 h 494"/>
                  <a:gd name="T10" fmla="*/ 0 w 32"/>
                  <a:gd name="T11" fmla="*/ 0 h 494"/>
                  <a:gd name="T12" fmla="*/ 0 w 32"/>
                  <a:gd name="T13" fmla="*/ 0 h 494"/>
                  <a:gd name="T14" fmla="*/ 0 w 32"/>
                  <a:gd name="T15" fmla="*/ 0 h 494"/>
                  <a:gd name="T16" fmla="*/ 0 w 32"/>
                  <a:gd name="T17" fmla="*/ 0 h 494"/>
                  <a:gd name="T18" fmla="*/ 0 w 32"/>
                  <a:gd name="T19" fmla="*/ 0 h 494"/>
                  <a:gd name="T20" fmla="*/ 0 w 32"/>
                  <a:gd name="T21" fmla="*/ 0 h 494"/>
                  <a:gd name="T22" fmla="*/ 0 w 32"/>
                  <a:gd name="T23" fmla="*/ 0 h 49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4">
                    <a:moveTo>
                      <a:pt x="0" y="494"/>
                    </a:moveTo>
                    <a:lnTo>
                      <a:pt x="0" y="5"/>
                    </a:lnTo>
                    <a:lnTo>
                      <a:pt x="5" y="4"/>
                    </a:lnTo>
                    <a:lnTo>
                      <a:pt x="8" y="3"/>
                    </a:lnTo>
                    <a:lnTo>
                      <a:pt x="12" y="3"/>
                    </a:lnTo>
                    <a:lnTo>
                      <a:pt x="16" y="2"/>
                    </a:lnTo>
                    <a:lnTo>
                      <a:pt x="21" y="2"/>
                    </a:lnTo>
                    <a:lnTo>
                      <a:pt x="25" y="1"/>
                    </a:lnTo>
                    <a:lnTo>
                      <a:pt x="28" y="1"/>
                    </a:lnTo>
                    <a:lnTo>
                      <a:pt x="32" y="0"/>
                    </a:lnTo>
                    <a:lnTo>
                      <a:pt x="32" y="494"/>
                    </a:lnTo>
                    <a:lnTo>
                      <a:pt x="0" y="49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33" name="Freeform 3940"/>
              <p:cNvSpPr>
                <a:spLocks noChangeAspect="1"/>
              </p:cNvSpPr>
              <p:nvPr/>
            </p:nvSpPr>
            <p:spPr bwMode="auto">
              <a:xfrm>
                <a:off x="5366" y="1004"/>
                <a:ext cx="10" cy="165"/>
              </a:xfrm>
              <a:custGeom>
                <a:avLst/>
                <a:gdLst>
                  <a:gd name="T0" fmla="*/ 0 w 32"/>
                  <a:gd name="T1" fmla="*/ 0 h 496"/>
                  <a:gd name="T2" fmla="*/ 0 w 32"/>
                  <a:gd name="T3" fmla="*/ 0 h 496"/>
                  <a:gd name="T4" fmla="*/ 0 w 32"/>
                  <a:gd name="T5" fmla="*/ 0 h 496"/>
                  <a:gd name="T6" fmla="*/ 0 w 32"/>
                  <a:gd name="T7" fmla="*/ 0 h 496"/>
                  <a:gd name="T8" fmla="*/ 0 w 32"/>
                  <a:gd name="T9" fmla="*/ 0 h 496"/>
                  <a:gd name="T10" fmla="*/ 0 w 32"/>
                  <a:gd name="T11" fmla="*/ 0 h 496"/>
                  <a:gd name="T12" fmla="*/ 0 w 32"/>
                  <a:gd name="T13" fmla="*/ 0 h 496"/>
                  <a:gd name="T14" fmla="*/ 0 w 32"/>
                  <a:gd name="T15" fmla="*/ 0 h 496"/>
                  <a:gd name="T16" fmla="*/ 0 w 32"/>
                  <a:gd name="T17" fmla="*/ 0 h 496"/>
                  <a:gd name="T18" fmla="*/ 0 w 32"/>
                  <a:gd name="T19" fmla="*/ 0 h 496"/>
                  <a:gd name="T20" fmla="*/ 0 w 32"/>
                  <a:gd name="T21" fmla="*/ 0 h 496"/>
                  <a:gd name="T22" fmla="*/ 0 w 32"/>
                  <a:gd name="T23" fmla="*/ 0 h 49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6">
                    <a:moveTo>
                      <a:pt x="0" y="496"/>
                    </a:moveTo>
                    <a:lnTo>
                      <a:pt x="0" y="4"/>
                    </a:lnTo>
                    <a:lnTo>
                      <a:pt x="5" y="4"/>
                    </a:lnTo>
                    <a:lnTo>
                      <a:pt x="9" y="3"/>
                    </a:lnTo>
                    <a:lnTo>
                      <a:pt x="12" y="3"/>
                    </a:lnTo>
                    <a:lnTo>
                      <a:pt x="16" y="2"/>
                    </a:lnTo>
                    <a:lnTo>
                      <a:pt x="21" y="2"/>
                    </a:lnTo>
                    <a:lnTo>
                      <a:pt x="25" y="1"/>
                    </a:lnTo>
                    <a:lnTo>
                      <a:pt x="29" y="1"/>
                    </a:lnTo>
                    <a:lnTo>
                      <a:pt x="32" y="0"/>
                    </a:lnTo>
                    <a:lnTo>
                      <a:pt x="32" y="496"/>
                    </a:lnTo>
                    <a:lnTo>
                      <a:pt x="0" y="49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34" name="Freeform 3941"/>
              <p:cNvSpPr>
                <a:spLocks noChangeAspect="1"/>
              </p:cNvSpPr>
              <p:nvPr/>
            </p:nvSpPr>
            <p:spPr bwMode="auto">
              <a:xfrm>
                <a:off x="5371" y="1004"/>
                <a:ext cx="11" cy="165"/>
              </a:xfrm>
              <a:custGeom>
                <a:avLst/>
                <a:gdLst>
                  <a:gd name="T0" fmla="*/ 0 w 33"/>
                  <a:gd name="T1" fmla="*/ 0 h 497"/>
                  <a:gd name="T2" fmla="*/ 0 w 33"/>
                  <a:gd name="T3" fmla="*/ 0 h 497"/>
                  <a:gd name="T4" fmla="*/ 0 w 33"/>
                  <a:gd name="T5" fmla="*/ 0 h 497"/>
                  <a:gd name="T6" fmla="*/ 0 w 33"/>
                  <a:gd name="T7" fmla="*/ 0 h 497"/>
                  <a:gd name="T8" fmla="*/ 0 w 33"/>
                  <a:gd name="T9" fmla="*/ 0 h 497"/>
                  <a:gd name="T10" fmla="*/ 0 w 33"/>
                  <a:gd name="T11" fmla="*/ 0 h 497"/>
                  <a:gd name="T12" fmla="*/ 0 w 33"/>
                  <a:gd name="T13" fmla="*/ 0 h 497"/>
                  <a:gd name="T14" fmla="*/ 0 w 33"/>
                  <a:gd name="T15" fmla="*/ 0 h 497"/>
                  <a:gd name="T16" fmla="*/ 0 w 33"/>
                  <a:gd name="T17" fmla="*/ 0 h 497"/>
                  <a:gd name="T18" fmla="*/ 0 w 33"/>
                  <a:gd name="T19" fmla="*/ 0 h 497"/>
                  <a:gd name="T20" fmla="*/ 0 w 33"/>
                  <a:gd name="T21" fmla="*/ 0 h 497"/>
                  <a:gd name="T22" fmla="*/ 0 w 33"/>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97">
                    <a:moveTo>
                      <a:pt x="0" y="497"/>
                    </a:moveTo>
                    <a:lnTo>
                      <a:pt x="0" y="3"/>
                    </a:lnTo>
                    <a:lnTo>
                      <a:pt x="5" y="3"/>
                    </a:lnTo>
                    <a:lnTo>
                      <a:pt x="9" y="2"/>
                    </a:lnTo>
                    <a:lnTo>
                      <a:pt x="12" y="2"/>
                    </a:lnTo>
                    <a:lnTo>
                      <a:pt x="16" y="1"/>
                    </a:lnTo>
                    <a:lnTo>
                      <a:pt x="20" y="1"/>
                    </a:lnTo>
                    <a:lnTo>
                      <a:pt x="25" y="1"/>
                    </a:lnTo>
                    <a:lnTo>
                      <a:pt x="29" y="1"/>
                    </a:lnTo>
                    <a:lnTo>
                      <a:pt x="33" y="0"/>
                    </a:lnTo>
                    <a:lnTo>
                      <a:pt x="33"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35" name="Freeform 3942"/>
              <p:cNvSpPr>
                <a:spLocks noChangeAspect="1"/>
              </p:cNvSpPr>
              <p:nvPr/>
            </p:nvSpPr>
            <p:spPr bwMode="auto">
              <a:xfrm>
                <a:off x="5376" y="1004"/>
                <a:ext cx="11" cy="165"/>
              </a:xfrm>
              <a:custGeom>
                <a:avLst/>
                <a:gdLst>
                  <a:gd name="T0" fmla="*/ 0 w 33"/>
                  <a:gd name="T1" fmla="*/ 0 h 497"/>
                  <a:gd name="T2" fmla="*/ 0 w 33"/>
                  <a:gd name="T3" fmla="*/ 0 h 497"/>
                  <a:gd name="T4" fmla="*/ 0 w 33"/>
                  <a:gd name="T5" fmla="*/ 0 h 497"/>
                  <a:gd name="T6" fmla="*/ 0 w 33"/>
                  <a:gd name="T7" fmla="*/ 0 h 497"/>
                  <a:gd name="T8" fmla="*/ 0 w 33"/>
                  <a:gd name="T9" fmla="*/ 0 h 497"/>
                  <a:gd name="T10" fmla="*/ 0 w 33"/>
                  <a:gd name="T11" fmla="*/ 0 h 497"/>
                  <a:gd name="T12" fmla="*/ 0 w 33"/>
                  <a:gd name="T13" fmla="*/ 0 h 497"/>
                  <a:gd name="T14" fmla="*/ 0 w 33"/>
                  <a:gd name="T15" fmla="*/ 0 h 497"/>
                  <a:gd name="T16" fmla="*/ 0 w 33"/>
                  <a:gd name="T17" fmla="*/ 0 h 497"/>
                  <a:gd name="T18" fmla="*/ 0 w 33"/>
                  <a:gd name="T19" fmla="*/ 0 h 497"/>
                  <a:gd name="T20" fmla="*/ 0 w 33"/>
                  <a:gd name="T21" fmla="*/ 0 h 497"/>
                  <a:gd name="T22" fmla="*/ 0 w 33"/>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97">
                    <a:moveTo>
                      <a:pt x="0" y="497"/>
                    </a:moveTo>
                    <a:lnTo>
                      <a:pt x="0" y="1"/>
                    </a:lnTo>
                    <a:lnTo>
                      <a:pt x="4" y="1"/>
                    </a:lnTo>
                    <a:lnTo>
                      <a:pt x="9" y="1"/>
                    </a:lnTo>
                    <a:lnTo>
                      <a:pt x="13" y="1"/>
                    </a:lnTo>
                    <a:lnTo>
                      <a:pt x="16" y="0"/>
                    </a:lnTo>
                    <a:lnTo>
                      <a:pt x="20" y="0"/>
                    </a:lnTo>
                    <a:lnTo>
                      <a:pt x="25" y="0"/>
                    </a:lnTo>
                    <a:lnTo>
                      <a:pt x="29" y="0"/>
                    </a:lnTo>
                    <a:lnTo>
                      <a:pt x="33" y="0"/>
                    </a:lnTo>
                    <a:lnTo>
                      <a:pt x="33"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36" name="Freeform 3943"/>
              <p:cNvSpPr>
                <a:spLocks noChangeAspect="1"/>
              </p:cNvSpPr>
              <p:nvPr/>
            </p:nvSpPr>
            <p:spPr bwMode="auto">
              <a:xfrm>
                <a:off x="5382" y="1004"/>
                <a:ext cx="11" cy="165"/>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w 32"/>
                  <a:gd name="T25" fmla="*/ 0 h 497"/>
                  <a:gd name="T26" fmla="*/ 0 w 32"/>
                  <a:gd name="T27" fmla="*/ 0 h 497"/>
                  <a:gd name="T28" fmla="*/ 0 w 32"/>
                  <a:gd name="T29" fmla="*/ 0 h 497"/>
                  <a:gd name="T30" fmla="*/ 0 w 32"/>
                  <a:gd name="T31" fmla="*/ 0 h 497"/>
                  <a:gd name="T32" fmla="*/ 0 w 32"/>
                  <a:gd name="T33" fmla="*/ 0 h 497"/>
                  <a:gd name="T34" fmla="*/ 0 w 32"/>
                  <a:gd name="T35" fmla="*/ 0 h 497"/>
                  <a:gd name="T36" fmla="*/ 0 w 32"/>
                  <a:gd name="T37" fmla="*/ 0 h 497"/>
                  <a:gd name="T38" fmla="*/ 0 w 32"/>
                  <a:gd name="T39" fmla="*/ 0 h 497"/>
                  <a:gd name="T40" fmla="*/ 0 w 32"/>
                  <a:gd name="T41" fmla="*/ 0 h 49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 h="497">
                    <a:moveTo>
                      <a:pt x="0" y="497"/>
                    </a:moveTo>
                    <a:lnTo>
                      <a:pt x="0" y="0"/>
                    </a:lnTo>
                    <a:lnTo>
                      <a:pt x="2" y="0"/>
                    </a:lnTo>
                    <a:lnTo>
                      <a:pt x="6" y="0"/>
                    </a:lnTo>
                    <a:lnTo>
                      <a:pt x="9" y="0"/>
                    </a:lnTo>
                    <a:lnTo>
                      <a:pt x="12" y="0"/>
                    </a:lnTo>
                    <a:lnTo>
                      <a:pt x="15" y="0"/>
                    </a:lnTo>
                    <a:lnTo>
                      <a:pt x="18" y="0"/>
                    </a:lnTo>
                    <a:lnTo>
                      <a:pt x="20" y="0"/>
                    </a:lnTo>
                    <a:lnTo>
                      <a:pt x="24" y="0"/>
                    </a:lnTo>
                    <a:lnTo>
                      <a:pt x="25" y="0"/>
                    </a:lnTo>
                    <a:lnTo>
                      <a:pt x="26" y="0"/>
                    </a:lnTo>
                    <a:lnTo>
                      <a:pt x="27" y="0"/>
                    </a:lnTo>
                    <a:lnTo>
                      <a:pt x="28" y="0"/>
                    </a:lnTo>
                    <a:lnTo>
                      <a:pt x="29" y="0"/>
                    </a:lnTo>
                    <a:lnTo>
                      <a:pt x="30" y="0"/>
                    </a:lnTo>
                    <a:lnTo>
                      <a:pt x="31" y="0"/>
                    </a:lnTo>
                    <a:lnTo>
                      <a:pt x="32" y="0"/>
                    </a:lnTo>
                    <a:lnTo>
                      <a:pt x="32" y="497"/>
                    </a:lnTo>
                    <a:lnTo>
                      <a:pt x="31"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37" name="Freeform 3944"/>
              <p:cNvSpPr>
                <a:spLocks noChangeAspect="1"/>
              </p:cNvSpPr>
              <p:nvPr/>
            </p:nvSpPr>
            <p:spPr bwMode="auto">
              <a:xfrm>
                <a:off x="5387" y="1004"/>
                <a:ext cx="11" cy="165"/>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w 32"/>
                  <a:gd name="T25" fmla="*/ 0 h 497"/>
                  <a:gd name="T26" fmla="*/ 0 w 32"/>
                  <a:gd name="T27" fmla="*/ 0 h 497"/>
                  <a:gd name="T28" fmla="*/ 0 w 32"/>
                  <a:gd name="T29" fmla="*/ 0 h 497"/>
                  <a:gd name="T30" fmla="*/ 0 w 32"/>
                  <a:gd name="T31" fmla="*/ 0 h 497"/>
                  <a:gd name="T32" fmla="*/ 0 w 32"/>
                  <a:gd name="T33" fmla="*/ 0 h 497"/>
                  <a:gd name="T34" fmla="*/ 0 w 32"/>
                  <a:gd name="T35" fmla="*/ 0 h 497"/>
                  <a:gd name="T36" fmla="*/ 0 w 32"/>
                  <a:gd name="T37" fmla="*/ 0 h 497"/>
                  <a:gd name="T38" fmla="*/ 0 w 32"/>
                  <a:gd name="T39" fmla="*/ 0 h 497"/>
                  <a:gd name="T40" fmla="*/ 0 w 32"/>
                  <a:gd name="T41" fmla="*/ 0 h 49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 h="497">
                    <a:moveTo>
                      <a:pt x="0" y="497"/>
                    </a:moveTo>
                    <a:lnTo>
                      <a:pt x="0" y="0"/>
                    </a:lnTo>
                    <a:lnTo>
                      <a:pt x="1" y="0"/>
                    </a:lnTo>
                    <a:lnTo>
                      <a:pt x="2" y="0"/>
                    </a:lnTo>
                    <a:lnTo>
                      <a:pt x="3" y="0"/>
                    </a:lnTo>
                    <a:lnTo>
                      <a:pt x="4" y="0"/>
                    </a:lnTo>
                    <a:lnTo>
                      <a:pt x="6" y="0"/>
                    </a:lnTo>
                    <a:lnTo>
                      <a:pt x="7" y="0"/>
                    </a:lnTo>
                    <a:lnTo>
                      <a:pt x="8" y="0"/>
                    </a:lnTo>
                    <a:lnTo>
                      <a:pt x="11" y="0"/>
                    </a:lnTo>
                    <a:lnTo>
                      <a:pt x="14" y="0"/>
                    </a:lnTo>
                    <a:lnTo>
                      <a:pt x="17" y="0"/>
                    </a:lnTo>
                    <a:lnTo>
                      <a:pt x="20" y="0"/>
                    </a:lnTo>
                    <a:lnTo>
                      <a:pt x="24" y="0"/>
                    </a:lnTo>
                    <a:lnTo>
                      <a:pt x="26" y="0"/>
                    </a:lnTo>
                    <a:lnTo>
                      <a:pt x="29" y="0"/>
                    </a:lnTo>
                    <a:lnTo>
                      <a:pt x="32" y="0"/>
                    </a:lnTo>
                    <a:lnTo>
                      <a:pt x="32" y="481"/>
                    </a:lnTo>
                    <a:lnTo>
                      <a:pt x="15"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38" name="Freeform 3945"/>
              <p:cNvSpPr>
                <a:spLocks noChangeAspect="1"/>
              </p:cNvSpPr>
              <p:nvPr/>
            </p:nvSpPr>
            <p:spPr bwMode="auto">
              <a:xfrm>
                <a:off x="5393" y="1004"/>
                <a:ext cx="10" cy="165"/>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7">
                    <a:moveTo>
                      <a:pt x="0" y="497"/>
                    </a:moveTo>
                    <a:lnTo>
                      <a:pt x="0" y="0"/>
                    </a:lnTo>
                    <a:lnTo>
                      <a:pt x="4" y="0"/>
                    </a:lnTo>
                    <a:lnTo>
                      <a:pt x="9" y="0"/>
                    </a:lnTo>
                    <a:lnTo>
                      <a:pt x="12" y="0"/>
                    </a:lnTo>
                    <a:lnTo>
                      <a:pt x="16" y="0"/>
                    </a:lnTo>
                    <a:lnTo>
                      <a:pt x="20" y="1"/>
                    </a:lnTo>
                    <a:lnTo>
                      <a:pt x="25" y="1"/>
                    </a:lnTo>
                    <a:lnTo>
                      <a:pt x="28" y="1"/>
                    </a:lnTo>
                    <a:lnTo>
                      <a:pt x="32" y="1"/>
                    </a:lnTo>
                    <a:lnTo>
                      <a:pt x="32" y="466"/>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39" name="Freeform 3946"/>
              <p:cNvSpPr>
                <a:spLocks noChangeAspect="1"/>
              </p:cNvSpPr>
              <p:nvPr/>
            </p:nvSpPr>
            <p:spPr bwMode="auto">
              <a:xfrm>
                <a:off x="5398" y="1004"/>
                <a:ext cx="11" cy="160"/>
              </a:xfrm>
              <a:custGeom>
                <a:avLst/>
                <a:gdLst>
                  <a:gd name="T0" fmla="*/ 0 w 32"/>
                  <a:gd name="T1" fmla="*/ 0 h 481"/>
                  <a:gd name="T2" fmla="*/ 0 w 32"/>
                  <a:gd name="T3" fmla="*/ 0 h 481"/>
                  <a:gd name="T4" fmla="*/ 0 w 32"/>
                  <a:gd name="T5" fmla="*/ 0 h 481"/>
                  <a:gd name="T6" fmla="*/ 0 w 32"/>
                  <a:gd name="T7" fmla="*/ 0 h 481"/>
                  <a:gd name="T8" fmla="*/ 0 w 32"/>
                  <a:gd name="T9" fmla="*/ 0 h 481"/>
                  <a:gd name="T10" fmla="*/ 0 w 32"/>
                  <a:gd name="T11" fmla="*/ 0 h 481"/>
                  <a:gd name="T12" fmla="*/ 0 w 32"/>
                  <a:gd name="T13" fmla="*/ 0 h 481"/>
                  <a:gd name="T14" fmla="*/ 0 w 32"/>
                  <a:gd name="T15" fmla="*/ 0 h 481"/>
                  <a:gd name="T16" fmla="*/ 0 w 32"/>
                  <a:gd name="T17" fmla="*/ 0 h 481"/>
                  <a:gd name="T18" fmla="*/ 0 w 32"/>
                  <a:gd name="T19" fmla="*/ 0 h 481"/>
                  <a:gd name="T20" fmla="*/ 0 w 32"/>
                  <a:gd name="T21" fmla="*/ 0 h 481"/>
                  <a:gd name="T22" fmla="*/ 0 w 32"/>
                  <a:gd name="T23" fmla="*/ 0 h 4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81">
                    <a:moveTo>
                      <a:pt x="0" y="481"/>
                    </a:moveTo>
                    <a:lnTo>
                      <a:pt x="0" y="0"/>
                    </a:lnTo>
                    <a:lnTo>
                      <a:pt x="4" y="1"/>
                    </a:lnTo>
                    <a:lnTo>
                      <a:pt x="9" y="1"/>
                    </a:lnTo>
                    <a:lnTo>
                      <a:pt x="13" y="1"/>
                    </a:lnTo>
                    <a:lnTo>
                      <a:pt x="16" y="1"/>
                    </a:lnTo>
                    <a:lnTo>
                      <a:pt x="20" y="2"/>
                    </a:lnTo>
                    <a:lnTo>
                      <a:pt x="25" y="2"/>
                    </a:lnTo>
                    <a:lnTo>
                      <a:pt x="29" y="3"/>
                    </a:lnTo>
                    <a:lnTo>
                      <a:pt x="32" y="3"/>
                    </a:lnTo>
                    <a:lnTo>
                      <a:pt x="32" y="448"/>
                    </a:lnTo>
                    <a:lnTo>
                      <a:pt x="0" y="4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40" name="Freeform 3947"/>
              <p:cNvSpPr>
                <a:spLocks noChangeAspect="1"/>
              </p:cNvSpPr>
              <p:nvPr/>
            </p:nvSpPr>
            <p:spPr bwMode="auto">
              <a:xfrm>
                <a:off x="5403" y="1004"/>
                <a:ext cx="11" cy="155"/>
              </a:xfrm>
              <a:custGeom>
                <a:avLst/>
                <a:gdLst>
                  <a:gd name="T0" fmla="*/ 0 w 33"/>
                  <a:gd name="T1" fmla="*/ 0 h 465"/>
                  <a:gd name="T2" fmla="*/ 0 w 33"/>
                  <a:gd name="T3" fmla="*/ 0 h 465"/>
                  <a:gd name="T4" fmla="*/ 0 w 33"/>
                  <a:gd name="T5" fmla="*/ 0 h 465"/>
                  <a:gd name="T6" fmla="*/ 0 w 33"/>
                  <a:gd name="T7" fmla="*/ 0 h 465"/>
                  <a:gd name="T8" fmla="*/ 0 w 33"/>
                  <a:gd name="T9" fmla="*/ 0 h 465"/>
                  <a:gd name="T10" fmla="*/ 0 w 33"/>
                  <a:gd name="T11" fmla="*/ 0 h 465"/>
                  <a:gd name="T12" fmla="*/ 0 w 33"/>
                  <a:gd name="T13" fmla="*/ 0 h 465"/>
                  <a:gd name="T14" fmla="*/ 0 w 33"/>
                  <a:gd name="T15" fmla="*/ 0 h 465"/>
                  <a:gd name="T16" fmla="*/ 0 w 33"/>
                  <a:gd name="T17" fmla="*/ 0 h 465"/>
                  <a:gd name="T18" fmla="*/ 0 w 33"/>
                  <a:gd name="T19" fmla="*/ 0 h 465"/>
                  <a:gd name="T20" fmla="*/ 0 w 33"/>
                  <a:gd name="T21" fmla="*/ 0 h 465"/>
                  <a:gd name="T22" fmla="*/ 0 w 33"/>
                  <a:gd name="T23" fmla="*/ 0 h 4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65">
                    <a:moveTo>
                      <a:pt x="0" y="465"/>
                    </a:moveTo>
                    <a:lnTo>
                      <a:pt x="0" y="0"/>
                    </a:lnTo>
                    <a:lnTo>
                      <a:pt x="4" y="1"/>
                    </a:lnTo>
                    <a:lnTo>
                      <a:pt x="9" y="1"/>
                    </a:lnTo>
                    <a:lnTo>
                      <a:pt x="13" y="2"/>
                    </a:lnTo>
                    <a:lnTo>
                      <a:pt x="17" y="2"/>
                    </a:lnTo>
                    <a:lnTo>
                      <a:pt x="20" y="3"/>
                    </a:lnTo>
                    <a:lnTo>
                      <a:pt x="25" y="3"/>
                    </a:lnTo>
                    <a:lnTo>
                      <a:pt x="29" y="4"/>
                    </a:lnTo>
                    <a:lnTo>
                      <a:pt x="33" y="4"/>
                    </a:lnTo>
                    <a:lnTo>
                      <a:pt x="33" y="432"/>
                    </a:lnTo>
                    <a:lnTo>
                      <a:pt x="0" y="4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41" name="Freeform 3948"/>
              <p:cNvSpPr>
                <a:spLocks noChangeAspect="1"/>
              </p:cNvSpPr>
              <p:nvPr/>
            </p:nvSpPr>
            <p:spPr bwMode="auto">
              <a:xfrm>
                <a:off x="5409" y="1005"/>
                <a:ext cx="11" cy="148"/>
              </a:xfrm>
              <a:custGeom>
                <a:avLst/>
                <a:gdLst>
                  <a:gd name="T0" fmla="*/ 0 w 33"/>
                  <a:gd name="T1" fmla="*/ 0 h 445"/>
                  <a:gd name="T2" fmla="*/ 0 w 33"/>
                  <a:gd name="T3" fmla="*/ 0 h 445"/>
                  <a:gd name="T4" fmla="*/ 0 w 33"/>
                  <a:gd name="T5" fmla="*/ 0 h 445"/>
                  <a:gd name="T6" fmla="*/ 0 w 33"/>
                  <a:gd name="T7" fmla="*/ 0 h 445"/>
                  <a:gd name="T8" fmla="*/ 0 w 33"/>
                  <a:gd name="T9" fmla="*/ 0 h 445"/>
                  <a:gd name="T10" fmla="*/ 0 w 33"/>
                  <a:gd name="T11" fmla="*/ 0 h 445"/>
                  <a:gd name="T12" fmla="*/ 0 w 33"/>
                  <a:gd name="T13" fmla="*/ 0 h 445"/>
                  <a:gd name="T14" fmla="*/ 0 w 33"/>
                  <a:gd name="T15" fmla="*/ 0 h 445"/>
                  <a:gd name="T16" fmla="*/ 0 w 33"/>
                  <a:gd name="T17" fmla="*/ 0 h 445"/>
                  <a:gd name="T18" fmla="*/ 0 w 33"/>
                  <a:gd name="T19" fmla="*/ 0 h 445"/>
                  <a:gd name="T20" fmla="*/ 0 w 33"/>
                  <a:gd name="T21" fmla="*/ 0 h 445"/>
                  <a:gd name="T22" fmla="*/ 0 w 33"/>
                  <a:gd name="T23" fmla="*/ 0 h 4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45">
                    <a:moveTo>
                      <a:pt x="0" y="445"/>
                    </a:moveTo>
                    <a:lnTo>
                      <a:pt x="0" y="0"/>
                    </a:lnTo>
                    <a:lnTo>
                      <a:pt x="4" y="1"/>
                    </a:lnTo>
                    <a:lnTo>
                      <a:pt x="9" y="1"/>
                    </a:lnTo>
                    <a:lnTo>
                      <a:pt x="13" y="2"/>
                    </a:lnTo>
                    <a:lnTo>
                      <a:pt x="17" y="2"/>
                    </a:lnTo>
                    <a:lnTo>
                      <a:pt x="21" y="3"/>
                    </a:lnTo>
                    <a:lnTo>
                      <a:pt x="25" y="4"/>
                    </a:lnTo>
                    <a:lnTo>
                      <a:pt x="29" y="4"/>
                    </a:lnTo>
                    <a:lnTo>
                      <a:pt x="33" y="5"/>
                    </a:lnTo>
                    <a:lnTo>
                      <a:pt x="33" y="414"/>
                    </a:lnTo>
                    <a:lnTo>
                      <a:pt x="0" y="44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42" name="Freeform 3949"/>
              <p:cNvSpPr>
                <a:spLocks noChangeAspect="1"/>
              </p:cNvSpPr>
              <p:nvPr/>
            </p:nvSpPr>
            <p:spPr bwMode="auto">
              <a:xfrm>
                <a:off x="5414" y="1005"/>
                <a:ext cx="11" cy="143"/>
              </a:xfrm>
              <a:custGeom>
                <a:avLst/>
                <a:gdLst>
                  <a:gd name="T0" fmla="*/ 0 w 32"/>
                  <a:gd name="T1" fmla="*/ 0 h 428"/>
                  <a:gd name="T2" fmla="*/ 0 w 32"/>
                  <a:gd name="T3" fmla="*/ 0 h 428"/>
                  <a:gd name="T4" fmla="*/ 0 w 32"/>
                  <a:gd name="T5" fmla="*/ 0 h 428"/>
                  <a:gd name="T6" fmla="*/ 0 w 32"/>
                  <a:gd name="T7" fmla="*/ 0 h 428"/>
                  <a:gd name="T8" fmla="*/ 0 w 32"/>
                  <a:gd name="T9" fmla="*/ 0 h 428"/>
                  <a:gd name="T10" fmla="*/ 0 w 32"/>
                  <a:gd name="T11" fmla="*/ 0 h 428"/>
                  <a:gd name="T12" fmla="*/ 0 w 32"/>
                  <a:gd name="T13" fmla="*/ 0 h 428"/>
                  <a:gd name="T14" fmla="*/ 0 w 32"/>
                  <a:gd name="T15" fmla="*/ 0 h 428"/>
                  <a:gd name="T16" fmla="*/ 0 w 32"/>
                  <a:gd name="T17" fmla="*/ 0 h 428"/>
                  <a:gd name="T18" fmla="*/ 0 w 32"/>
                  <a:gd name="T19" fmla="*/ 0 h 428"/>
                  <a:gd name="T20" fmla="*/ 0 w 32"/>
                  <a:gd name="T21" fmla="*/ 0 h 428"/>
                  <a:gd name="T22" fmla="*/ 0 w 32"/>
                  <a:gd name="T23" fmla="*/ 0 h 4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28">
                    <a:moveTo>
                      <a:pt x="0" y="428"/>
                    </a:moveTo>
                    <a:lnTo>
                      <a:pt x="0" y="0"/>
                    </a:lnTo>
                    <a:lnTo>
                      <a:pt x="3" y="1"/>
                    </a:lnTo>
                    <a:lnTo>
                      <a:pt x="8" y="2"/>
                    </a:lnTo>
                    <a:lnTo>
                      <a:pt x="12" y="2"/>
                    </a:lnTo>
                    <a:lnTo>
                      <a:pt x="16" y="3"/>
                    </a:lnTo>
                    <a:lnTo>
                      <a:pt x="20" y="4"/>
                    </a:lnTo>
                    <a:lnTo>
                      <a:pt x="24" y="5"/>
                    </a:lnTo>
                    <a:lnTo>
                      <a:pt x="28" y="5"/>
                    </a:lnTo>
                    <a:lnTo>
                      <a:pt x="32" y="7"/>
                    </a:lnTo>
                    <a:lnTo>
                      <a:pt x="32" y="396"/>
                    </a:lnTo>
                    <a:lnTo>
                      <a:pt x="0" y="42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43" name="Freeform 3950"/>
              <p:cNvSpPr>
                <a:spLocks noChangeAspect="1"/>
              </p:cNvSpPr>
              <p:nvPr/>
            </p:nvSpPr>
            <p:spPr bwMode="auto">
              <a:xfrm>
                <a:off x="5420" y="1006"/>
                <a:ext cx="10" cy="137"/>
              </a:xfrm>
              <a:custGeom>
                <a:avLst/>
                <a:gdLst>
                  <a:gd name="T0" fmla="*/ 0 w 32"/>
                  <a:gd name="T1" fmla="*/ 0 h 409"/>
                  <a:gd name="T2" fmla="*/ 0 w 32"/>
                  <a:gd name="T3" fmla="*/ 0 h 409"/>
                  <a:gd name="T4" fmla="*/ 0 w 32"/>
                  <a:gd name="T5" fmla="*/ 0 h 409"/>
                  <a:gd name="T6" fmla="*/ 0 w 32"/>
                  <a:gd name="T7" fmla="*/ 0 h 409"/>
                  <a:gd name="T8" fmla="*/ 0 w 32"/>
                  <a:gd name="T9" fmla="*/ 0 h 409"/>
                  <a:gd name="T10" fmla="*/ 0 w 32"/>
                  <a:gd name="T11" fmla="*/ 0 h 409"/>
                  <a:gd name="T12" fmla="*/ 0 w 32"/>
                  <a:gd name="T13" fmla="*/ 0 h 409"/>
                  <a:gd name="T14" fmla="*/ 0 w 32"/>
                  <a:gd name="T15" fmla="*/ 0 h 409"/>
                  <a:gd name="T16" fmla="*/ 0 w 32"/>
                  <a:gd name="T17" fmla="*/ 0 h 409"/>
                  <a:gd name="T18" fmla="*/ 0 w 32"/>
                  <a:gd name="T19" fmla="*/ 0 h 409"/>
                  <a:gd name="T20" fmla="*/ 0 w 32"/>
                  <a:gd name="T21" fmla="*/ 0 h 409"/>
                  <a:gd name="T22" fmla="*/ 0 w 32"/>
                  <a:gd name="T23" fmla="*/ 0 h 40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09">
                    <a:moveTo>
                      <a:pt x="0" y="409"/>
                    </a:moveTo>
                    <a:lnTo>
                      <a:pt x="0" y="0"/>
                    </a:lnTo>
                    <a:lnTo>
                      <a:pt x="4" y="1"/>
                    </a:lnTo>
                    <a:lnTo>
                      <a:pt x="8" y="2"/>
                    </a:lnTo>
                    <a:lnTo>
                      <a:pt x="12" y="2"/>
                    </a:lnTo>
                    <a:lnTo>
                      <a:pt x="16" y="4"/>
                    </a:lnTo>
                    <a:lnTo>
                      <a:pt x="20" y="5"/>
                    </a:lnTo>
                    <a:lnTo>
                      <a:pt x="25" y="6"/>
                    </a:lnTo>
                    <a:lnTo>
                      <a:pt x="28" y="7"/>
                    </a:lnTo>
                    <a:lnTo>
                      <a:pt x="32" y="8"/>
                    </a:lnTo>
                    <a:lnTo>
                      <a:pt x="32" y="377"/>
                    </a:lnTo>
                    <a:lnTo>
                      <a:pt x="0" y="40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44" name="Freeform 3951"/>
              <p:cNvSpPr>
                <a:spLocks noChangeAspect="1"/>
              </p:cNvSpPr>
              <p:nvPr/>
            </p:nvSpPr>
            <p:spPr bwMode="auto">
              <a:xfrm>
                <a:off x="5425" y="1008"/>
                <a:ext cx="11" cy="129"/>
              </a:xfrm>
              <a:custGeom>
                <a:avLst/>
                <a:gdLst>
                  <a:gd name="T0" fmla="*/ 0 w 32"/>
                  <a:gd name="T1" fmla="*/ 0 h 389"/>
                  <a:gd name="T2" fmla="*/ 0 w 32"/>
                  <a:gd name="T3" fmla="*/ 0 h 389"/>
                  <a:gd name="T4" fmla="*/ 0 w 32"/>
                  <a:gd name="T5" fmla="*/ 0 h 389"/>
                  <a:gd name="T6" fmla="*/ 0 w 32"/>
                  <a:gd name="T7" fmla="*/ 0 h 389"/>
                  <a:gd name="T8" fmla="*/ 0 w 32"/>
                  <a:gd name="T9" fmla="*/ 0 h 389"/>
                  <a:gd name="T10" fmla="*/ 0 w 32"/>
                  <a:gd name="T11" fmla="*/ 0 h 389"/>
                  <a:gd name="T12" fmla="*/ 0 w 32"/>
                  <a:gd name="T13" fmla="*/ 0 h 389"/>
                  <a:gd name="T14" fmla="*/ 0 w 32"/>
                  <a:gd name="T15" fmla="*/ 0 h 389"/>
                  <a:gd name="T16" fmla="*/ 0 w 32"/>
                  <a:gd name="T17" fmla="*/ 0 h 389"/>
                  <a:gd name="T18" fmla="*/ 0 w 32"/>
                  <a:gd name="T19" fmla="*/ 0 h 389"/>
                  <a:gd name="T20" fmla="*/ 0 w 32"/>
                  <a:gd name="T21" fmla="*/ 0 h 389"/>
                  <a:gd name="T22" fmla="*/ 0 w 32"/>
                  <a:gd name="T23" fmla="*/ 0 h 3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89">
                    <a:moveTo>
                      <a:pt x="0" y="389"/>
                    </a:moveTo>
                    <a:lnTo>
                      <a:pt x="0" y="0"/>
                    </a:lnTo>
                    <a:lnTo>
                      <a:pt x="4" y="1"/>
                    </a:lnTo>
                    <a:lnTo>
                      <a:pt x="9" y="2"/>
                    </a:lnTo>
                    <a:lnTo>
                      <a:pt x="12" y="3"/>
                    </a:lnTo>
                    <a:lnTo>
                      <a:pt x="16" y="4"/>
                    </a:lnTo>
                    <a:lnTo>
                      <a:pt x="20" y="5"/>
                    </a:lnTo>
                    <a:lnTo>
                      <a:pt x="24" y="6"/>
                    </a:lnTo>
                    <a:lnTo>
                      <a:pt x="29" y="7"/>
                    </a:lnTo>
                    <a:lnTo>
                      <a:pt x="32" y="9"/>
                    </a:lnTo>
                    <a:lnTo>
                      <a:pt x="32" y="357"/>
                    </a:lnTo>
                    <a:lnTo>
                      <a:pt x="0" y="3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45" name="Freeform 3952"/>
              <p:cNvSpPr>
                <a:spLocks noChangeAspect="1"/>
              </p:cNvSpPr>
              <p:nvPr/>
            </p:nvSpPr>
            <p:spPr bwMode="auto">
              <a:xfrm>
                <a:off x="5430" y="1009"/>
                <a:ext cx="11" cy="123"/>
              </a:xfrm>
              <a:custGeom>
                <a:avLst/>
                <a:gdLst>
                  <a:gd name="T0" fmla="*/ 0 w 33"/>
                  <a:gd name="T1" fmla="*/ 0 h 369"/>
                  <a:gd name="T2" fmla="*/ 0 w 33"/>
                  <a:gd name="T3" fmla="*/ 0 h 369"/>
                  <a:gd name="T4" fmla="*/ 0 w 33"/>
                  <a:gd name="T5" fmla="*/ 0 h 369"/>
                  <a:gd name="T6" fmla="*/ 0 w 33"/>
                  <a:gd name="T7" fmla="*/ 0 h 369"/>
                  <a:gd name="T8" fmla="*/ 0 w 33"/>
                  <a:gd name="T9" fmla="*/ 0 h 369"/>
                  <a:gd name="T10" fmla="*/ 0 w 33"/>
                  <a:gd name="T11" fmla="*/ 0 h 369"/>
                  <a:gd name="T12" fmla="*/ 0 w 33"/>
                  <a:gd name="T13" fmla="*/ 0 h 369"/>
                  <a:gd name="T14" fmla="*/ 0 w 33"/>
                  <a:gd name="T15" fmla="*/ 0 h 369"/>
                  <a:gd name="T16" fmla="*/ 0 w 33"/>
                  <a:gd name="T17" fmla="*/ 0 h 369"/>
                  <a:gd name="T18" fmla="*/ 0 w 33"/>
                  <a:gd name="T19" fmla="*/ 0 h 369"/>
                  <a:gd name="T20" fmla="*/ 0 w 33"/>
                  <a:gd name="T21" fmla="*/ 0 h 369"/>
                  <a:gd name="T22" fmla="*/ 0 w 33"/>
                  <a:gd name="T23" fmla="*/ 0 h 3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69">
                    <a:moveTo>
                      <a:pt x="0" y="369"/>
                    </a:moveTo>
                    <a:lnTo>
                      <a:pt x="0" y="0"/>
                    </a:lnTo>
                    <a:lnTo>
                      <a:pt x="4" y="1"/>
                    </a:lnTo>
                    <a:lnTo>
                      <a:pt x="8" y="2"/>
                    </a:lnTo>
                    <a:lnTo>
                      <a:pt x="13" y="3"/>
                    </a:lnTo>
                    <a:lnTo>
                      <a:pt x="16" y="5"/>
                    </a:lnTo>
                    <a:lnTo>
                      <a:pt x="20" y="6"/>
                    </a:lnTo>
                    <a:lnTo>
                      <a:pt x="24" y="7"/>
                    </a:lnTo>
                    <a:lnTo>
                      <a:pt x="29" y="8"/>
                    </a:lnTo>
                    <a:lnTo>
                      <a:pt x="33" y="10"/>
                    </a:lnTo>
                    <a:lnTo>
                      <a:pt x="33" y="336"/>
                    </a:lnTo>
                    <a:lnTo>
                      <a:pt x="0" y="36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46" name="Freeform 3953"/>
              <p:cNvSpPr>
                <a:spLocks noChangeAspect="1"/>
              </p:cNvSpPr>
              <p:nvPr/>
            </p:nvSpPr>
            <p:spPr bwMode="auto">
              <a:xfrm>
                <a:off x="5436" y="1011"/>
                <a:ext cx="11" cy="116"/>
              </a:xfrm>
              <a:custGeom>
                <a:avLst/>
                <a:gdLst>
                  <a:gd name="T0" fmla="*/ 0 w 33"/>
                  <a:gd name="T1" fmla="*/ 0 h 348"/>
                  <a:gd name="T2" fmla="*/ 0 w 33"/>
                  <a:gd name="T3" fmla="*/ 0 h 348"/>
                  <a:gd name="T4" fmla="*/ 0 w 33"/>
                  <a:gd name="T5" fmla="*/ 0 h 348"/>
                  <a:gd name="T6" fmla="*/ 0 w 33"/>
                  <a:gd name="T7" fmla="*/ 0 h 348"/>
                  <a:gd name="T8" fmla="*/ 0 w 33"/>
                  <a:gd name="T9" fmla="*/ 0 h 348"/>
                  <a:gd name="T10" fmla="*/ 0 w 33"/>
                  <a:gd name="T11" fmla="*/ 0 h 348"/>
                  <a:gd name="T12" fmla="*/ 0 w 33"/>
                  <a:gd name="T13" fmla="*/ 0 h 348"/>
                  <a:gd name="T14" fmla="*/ 0 w 33"/>
                  <a:gd name="T15" fmla="*/ 0 h 348"/>
                  <a:gd name="T16" fmla="*/ 0 w 33"/>
                  <a:gd name="T17" fmla="*/ 0 h 348"/>
                  <a:gd name="T18" fmla="*/ 0 w 33"/>
                  <a:gd name="T19" fmla="*/ 0 h 348"/>
                  <a:gd name="T20" fmla="*/ 0 w 33"/>
                  <a:gd name="T21" fmla="*/ 0 h 348"/>
                  <a:gd name="T22" fmla="*/ 0 w 33"/>
                  <a:gd name="T23" fmla="*/ 0 h 3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48">
                    <a:moveTo>
                      <a:pt x="0" y="348"/>
                    </a:moveTo>
                    <a:lnTo>
                      <a:pt x="0" y="0"/>
                    </a:lnTo>
                    <a:lnTo>
                      <a:pt x="4" y="1"/>
                    </a:lnTo>
                    <a:lnTo>
                      <a:pt x="8" y="2"/>
                    </a:lnTo>
                    <a:lnTo>
                      <a:pt x="13" y="3"/>
                    </a:lnTo>
                    <a:lnTo>
                      <a:pt x="17" y="5"/>
                    </a:lnTo>
                    <a:lnTo>
                      <a:pt x="20" y="6"/>
                    </a:lnTo>
                    <a:lnTo>
                      <a:pt x="24" y="8"/>
                    </a:lnTo>
                    <a:lnTo>
                      <a:pt x="29" y="10"/>
                    </a:lnTo>
                    <a:lnTo>
                      <a:pt x="33" y="11"/>
                    </a:lnTo>
                    <a:lnTo>
                      <a:pt x="33" y="315"/>
                    </a:lnTo>
                    <a:lnTo>
                      <a:pt x="0" y="3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47" name="Freeform 3954"/>
              <p:cNvSpPr>
                <a:spLocks noChangeAspect="1"/>
              </p:cNvSpPr>
              <p:nvPr/>
            </p:nvSpPr>
            <p:spPr bwMode="auto">
              <a:xfrm>
                <a:off x="5441" y="1012"/>
                <a:ext cx="11" cy="109"/>
              </a:xfrm>
              <a:custGeom>
                <a:avLst/>
                <a:gdLst>
                  <a:gd name="T0" fmla="*/ 0 w 32"/>
                  <a:gd name="T1" fmla="*/ 0 h 326"/>
                  <a:gd name="T2" fmla="*/ 0 w 32"/>
                  <a:gd name="T3" fmla="*/ 0 h 326"/>
                  <a:gd name="T4" fmla="*/ 0 w 32"/>
                  <a:gd name="T5" fmla="*/ 0 h 326"/>
                  <a:gd name="T6" fmla="*/ 0 w 32"/>
                  <a:gd name="T7" fmla="*/ 0 h 326"/>
                  <a:gd name="T8" fmla="*/ 0 w 32"/>
                  <a:gd name="T9" fmla="*/ 0 h 326"/>
                  <a:gd name="T10" fmla="*/ 0 w 32"/>
                  <a:gd name="T11" fmla="*/ 0 h 326"/>
                  <a:gd name="T12" fmla="*/ 0 w 32"/>
                  <a:gd name="T13" fmla="*/ 0 h 326"/>
                  <a:gd name="T14" fmla="*/ 0 w 32"/>
                  <a:gd name="T15" fmla="*/ 0 h 326"/>
                  <a:gd name="T16" fmla="*/ 0 w 32"/>
                  <a:gd name="T17" fmla="*/ 0 h 326"/>
                  <a:gd name="T18" fmla="*/ 0 w 32"/>
                  <a:gd name="T19" fmla="*/ 0 h 326"/>
                  <a:gd name="T20" fmla="*/ 0 w 32"/>
                  <a:gd name="T21" fmla="*/ 0 h 326"/>
                  <a:gd name="T22" fmla="*/ 0 w 32"/>
                  <a:gd name="T23" fmla="*/ 0 h 3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26">
                    <a:moveTo>
                      <a:pt x="0" y="326"/>
                    </a:moveTo>
                    <a:lnTo>
                      <a:pt x="0" y="0"/>
                    </a:lnTo>
                    <a:lnTo>
                      <a:pt x="3" y="1"/>
                    </a:lnTo>
                    <a:lnTo>
                      <a:pt x="7" y="3"/>
                    </a:lnTo>
                    <a:lnTo>
                      <a:pt x="12" y="5"/>
                    </a:lnTo>
                    <a:lnTo>
                      <a:pt x="16" y="6"/>
                    </a:lnTo>
                    <a:lnTo>
                      <a:pt x="20" y="8"/>
                    </a:lnTo>
                    <a:lnTo>
                      <a:pt x="23" y="10"/>
                    </a:lnTo>
                    <a:lnTo>
                      <a:pt x="28" y="11"/>
                    </a:lnTo>
                    <a:lnTo>
                      <a:pt x="32" y="13"/>
                    </a:lnTo>
                    <a:lnTo>
                      <a:pt x="32" y="294"/>
                    </a:lnTo>
                    <a:lnTo>
                      <a:pt x="0" y="3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48" name="Freeform 3955"/>
              <p:cNvSpPr>
                <a:spLocks noChangeAspect="1"/>
              </p:cNvSpPr>
              <p:nvPr/>
            </p:nvSpPr>
            <p:spPr bwMode="auto">
              <a:xfrm>
                <a:off x="5447" y="1014"/>
                <a:ext cx="10" cy="102"/>
              </a:xfrm>
              <a:custGeom>
                <a:avLst/>
                <a:gdLst>
                  <a:gd name="T0" fmla="*/ 0 w 32"/>
                  <a:gd name="T1" fmla="*/ 0 h 304"/>
                  <a:gd name="T2" fmla="*/ 0 w 32"/>
                  <a:gd name="T3" fmla="*/ 0 h 304"/>
                  <a:gd name="T4" fmla="*/ 0 w 32"/>
                  <a:gd name="T5" fmla="*/ 0 h 304"/>
                  <a:gd name="T6" fmla="*/ 0 w 32"/>
                  <a:gd name="T7" fmla="*/ 0 h 304"/>
                  <a:gd name="T8" fmla="*/ 0 w 32"/>
                  <a:gd name="T9" fmla="*/ 0 h 304"/>
                  <a:gd name="T10" fmla="*/ 0 w 32"/>
                  <a:gd name="T11" fmla="*/ 0 h 304"/>
                  <a:gd name="T12" fmla="*/ 0 w 32"/>
                  <a:gd name="T13" fmla="*/ 0 h 304"/>
                  <a:gd name="T14" fmla="*/ 0 w 32"/>
                  <a:gd name="T15" fmla="*/ 0 h 304"/>
                  <a:gd name="T16" fmla="*/ 0 w 32"/>
                  <a:gd name="T17" fmla="*/ 0 h 304"/>
                  <a:gd name="T18" fmla="*/ 0 w 32"/>
                  <a:gd name="T19" fmla="*/ 0 h 304"/>
                  <a:gd name="T20" fmla="*/ 0 w 32"/>
                  <a:gd name="T21" fmla="*/ 0 h 304"/>
                  <a:gd name="T22" fmla="*/ 0 w 32"/>
                  <a:gd name="T23" fmla="*/ 0 h 30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04">
                    <a:moveTo>
                      <a:pt x="0" y="304"/>
                    </a:moveTo>
                    <a:lnTo>
                      <a:pt x="0" y="0"/>
                    </a:lnTo>
                    <a:lnTo>
                      <a:pt x="4" y="2"/>
                    </a:lnTo>
                    <a:lnTo>
                      <a:pt x="7" y="4"/>
                    </a:lnTo>
                    <a:lnTo>
                      <a:pt x="12" y="5"/>
                    </a:lnTo>
                    <a:lnTo>
                      <a:pt x="16" y="7"/>
                    </a:lnTo>
                    <a:lnTo>
                      <a:pt x="20" y="9"/>
                    </a:lnTo>
                    <a:lnTo>
                      <a:pt x="24" y="10"/>
                    </a:lnTo>
                    <a:lnTo>
                      <a:pt x="28" y="13"/>
                    </a:lnTo>
                    <a:lnTo>
                      <a:pt x="32" y="15"/>
                    </a:lnTo>
                    <a:lnTo>
                      <a:pt x="32" y="272"/>
                    </a:lnTo>
                    <a:lnTo>
                      <a:pt x="0" y="30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49" name="Freeform 3956"/>
              <p:cNvSpPr>
                <a:spLocks noChangeAspect="1"/>
              </p:cNvSpPr>
              <p:nvPr/>
            </p:nvSpPr>
            <p:spPr bwMode="auto">
              <a:xfrm>
                <a:off x="5452" y="1017"/>
                <a:ext cx="11" cy="93"/>
              </a:xfrm>
              <a:custGeom>
                <a:avLst/>
                <a:gdLst>
                  <a:gd name="T0" fmla="*/ 0 w 32"/>
                  <a:gd name="T1" fmla="*/ 0 h 281"/>
                  <a:gd name="T2" fmla="*/ 0 w 32"/>
                  <a:gd name="T3" fmla="*/ 0 h 281"/>
                  <a:gd name="T4" fmla="*/ 0 w 32"/>
                  <a:gd name="T5" fmla="*/ 0 h 281"/>
                  <a:gd name="T6" fmla="*/ 0 w 32"/>
                  <a:gd name="T7" fmla="*/ 0 h 281"/>
                  <a:gd name="T8" fmla="*/ 0 w 32"/>
                  <a:gd name="T9" fmla="*/ 0 h 281"/>
                  <a:gd name="T10" fmla="*/ 0 w 32"/>
                  <a:gd name="T11" fmla="*/ 0 h 281"/>
                  <a:gd name="T12" fmla="*/ 0 w 32"/>
                  <a:gd name="T13" fmla="*/ 0 h 281"/>
                  <a:gd name="T14" fmla="*/ 0 w 32"/>
                  <a:gd name="T15" fmla="*/ 0 h 281"/>
                  <a:gd name="T16" fmla="*/ 0 w 32"/>
                  <a:gd name="T17" fmla="*/ 0 h 281"/>
                  <a:gd name="T18" fmla="*/ 0 w 32"/>
                  <a:gd name="T19" fmla="*/ 0 h 281"/>
                  <a:gd name="T20" fmla="*/ 0 w 32"/>
                  <a:gd name="T21" fmla="*/ 0 h 281"/>
                  <a:gd name="T22" fmla="*/ 0 w 32"/>
                  <a:gd name="T23" fmla="*/ 0 h 2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81">
                    <a:moveTo>
                      <a:pt x="0" y="281"/>
                    </a:moveTo>
                    <a:lnTo>
                      <a:pt x="0" y="0"/>
                    </a:lnTo>
                    <a:lnTo>
                      <a:pt x="4" y="1"/>
                    </a:lnTo>
                    <a:lnTo>
                      <a:pt x="8" y="3"/>
                    </a:lnTo>
                    <a:lnTo>
                      <a:pt x="12" y="6"/>
                    </a:lnTo>
                    <a:lnTo>
                      <a:pt x="16" y="8"/>
                    </a:lnTo>
                    <a:lnTo>
                      <a:pt x="20" y="10"/>
                    </a:lnTo>
                    <a:lnTo>
                      <a:pt x="24" y="12"/>
                    </a:lnTo>
                    <a:lnTo>
                      <a:pt x="29" y="14"/>
                    </a:lnTo>
                    <a:lnTo>
                      <a:pt x="32" y="16"/>
                    </a:lnTo>
                    <a:lnTo>
                      <a:pt x="32" y="249"/>
                    </a:lnTo>
                    <a:lnTo>
                      <a:pt x="0" y="2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50" name="Freeform 3957"/>
              <p:cNvSpPr>
                <a:spLocks noChangeAspect="1"/>
              </p:cNvSpPr>
              <p:nvPr/>
            </p:nvSpPr>
            <p:spPr bwMode="auto">
              <a:xfrm>
                <a:off x="5457" y="1019"/>
                <a:ext cx="11" cy="86"/>
              </a:xfrm>
              <a:custGeom>
                <a:avLst/>
                <a:gdLst>
                  <a:gd name="T0" fmla="*/ 0 w 32"/>
                  <a:gd name="T1" fmla="*/ 0 h 257"/>
                  <a:gd name="T2" fmla="*/ 0 w 32"/>
                  <a:gd name="T3" fmla="*/ 0 h 257"/>
                  <a:gd name="T4" fmla="*/ 0 w 32"/>
                  <a:gd name="T5" fmla="*/ 0 h 257"/>
                  <a:gd name="T6" fmla="*/ 0 w 32"/>
                  <a:gd name="T7" fmla="*/ 0 h 257"/>
                  <a:gd name="T8" fmla="*/ 0 w 32"/>
                  <a:gd name="T9" fmla="*/ 0 h 257"/>
                  <a:gd name="T10" fmla="*/ 0 w 32"/>
                  <a:gd name="T11" fmla="*/ 0 h 257"/>
                  <a:gd name="T12" fmla="*/ 0 w 32"/>
                  <a:gd name="T13" fmla="*/ 0 h 257"/>
                  <a:gd name="T14" fmla="*/ 0 w 32"/>
                  <a:gd name="T15" fmla="*/ 0 h 257"/>
                  <a:gd name="T16" fmla="*/ 0 w 32"/>
                  <a:gd name="T17" fmla="*/ 0 h 257"/>
                  <a:gd name="T18" fmla="*/ 0 w 32"/>
                  <a:gd name="T19" fmla="*/ 0 h 257"/>
                  <a:gd name="T20" fmla="*/ 0 w 32"/>
                  <a:gd name="T21" fmla="*/ 0 h 257"/>
                  <a:gd name="T22" fmla="*/ 0 w 32"/>
                  <a:gd name="T23" fmla="*/ 0 h 2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57">
                    <a:moveTo>
                      <a:pt x="0" y="257"/>
                    </a:moveTo>
                    <a:lnTo>
                      <a:pt x="0" y="0"/>
                    </a:lnTo>
                    <a:lnTo>
                      <a:pt x="4" y="2"/>
                    </a:lnTo>
                    <a:lnTo>
                      <a:pt x="8" y="4"/>
                    </a:lnTo>
                    <a:lnTo>
                      <a:pt x="13" y="6"/>
                    </a:lnTo>
                    <a:lnTo>
                      <a:pt x="16" y="8"/>
                    </a:lnTo>
                    <a:lnTo>
                      <a:pt x="20" y="10"/>
                    </a:lnTo>
                    <a:lnTo>
                      <a:pt x="24" y="12"/>
                    </a:lnTo>
                    <a:lnTo>
                      <a:pt x="29" y="15"/>
                    </a:lnTo>
                    <a:lnTo>
                      <a:pt x="32" y="17"/>
                    </a:lnTo>
                    <a:lnTo>
                      <a:pt x="32" y="224"/>
                    </a:lnTo>
                    <a:lnTo>
                      <a:pt x="0" y="25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51" name="Freeform 3958"/>
              <p:cNvSpPr>
                <a:spLocks noChangeAspect="1"/>
              </p:cNvSpPr>
              <p:nvPr/>
            </p:nvSpPr>
            <p:spPr bwMode="auto">
              <a:xfrm>
                <a:off x="5463" y="1022"/>
                <a:ext cx="11" cy="78"/>
              </a:xfrm>
              <a:custGeom>
                <a:avLst/>
                <a:gdLst>
                  <a:gd name="T0" fmla="*/ 0 w 33"/>
                  <a:gd name="T1" fmla="*/ 0 h 233"/>
                  <a:gd name="T2" fmla="*/ 0 w 33"/>
                  <a:gd name="T3" fmla="*/ 0 h 233"/>
                  <a:gd name="T4" fmla="*/ 0 w 33"/>
                  <a:gd name="T5" fmla="*/ 0 h 233"/>
                  <a:gd name="T6" fmla="*/ 0 w 33"/>
                  <a:gd name="T7" fmla="*/ 0 h 233"/>
                  <a:gd name="T8" fmla="*/ 0 w 33"/>
                  <a:gd name="T9" fmla="*/ 0 h 233"/>
                  <a:gd name="T10" fmla="*/ 0 w 33"/>
                  <a:gd name="T11" fmla="*/ 0 h 233"/>
                  <a:gd name="T12" fmla="*/ 0 w 33"/>
                  <a:gd name="T13" fmla="*/ 0 h 233"/>
                  <a:gd name="T14" fmla="*/ 0 w 33"/>
                  <a:gd name="T15" fmla="*/ 0 h 233"/>
                  <a:gd name="T16" fmla="*/ 0 w 33"/>
                  <a:gd name="T17" fmla="*/ 0 h 233"/>
                  <a:gd name="T18" fmla="*/ 0 w 33"/>
                  <a:gd name="T19" fmla="*/ 0 h 233"/>
                  <a:gd name="T20" fmla="*/ 0 w 33"/>
                  <a:gd name="T21" fmla="*/ 0 h 233"/>
                  <a:gd name="T22" fmla="*/ 0 w 33"/>
                  <a:gd name="T23" fmla="*/ 0 h 2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233">
                    <a:moveTo>
                      <a:pt x="0" y="233"/>
                    </a:moveTo>
                    <a:lnTo>
                      <a:pt x="0" y="0"/>
                    </a:lnTo>
                    <a:lnTo>
                      <a:pt x="4" y="2"/>
                    </a:lnTo>
                    <a:lnTo>
                      <a:pt x="8" y="4"/>
                    </a:lnTo>
                    <a:lnTo>
                      <a:pt x="13" y="7"/>
                    </a:lnTo>
                    <a:lnTo>
                      <a:pt x="17" y="9"/>
                    </a:lnTo>
                    <a:lnTo>
                      <a:pt x="20" y="12"/>
                    </a:lnTo>
                    <a:lnTo>
                      <a:pt x="24" y="14"/>
                    </a:lnTo>
                    <a:lnTo>
                      <a:pt x="29" y="16"/>
                    </a:lnTo>
                    <a:lnTo>
                      <a:pt x="33" y="19"/>
                    </a:lnTo>
                    <a:lnTo>
                      <a:pt x="33" y="200"/>
                    </a:lnTo>
                    <a:lnTo>
                      <a:pt x="0" y="23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52" name="Freeform 3959"/>
              <p:cNvSpPr>
                <a:spLocks noChangeAspect="1"/>
              </p:cNvSpPr>
              <p:nvPr/>
            </p:nvSpPr>
            <p:spPr bwMode="auto">
              <a:xfrm>
                <a:off x="5468" y="1025"/>
                <a:ext cx="11" cy="69"/>
              </a:xfrm>
              <a:custGeom>
                <a:avLst/>
                <a:gdLst>
                  <a:gd name="T0" fmla="*/ 0 w 33"/>
                  <a:gd name="T1" fmla="*/ 0 h 207"/>
                  <a:gd name="T2" fmla="*/ 0 w 33"/>
                  <a:gd name="T3" fmla="*/ 0 h 207"/>
                  <a:gd name="T4" fmla="*/ 0 w 33"/>
                  <a:gd name="T5" fmla="*/ 0 h 207"/>
                  <a:gd name="T6" fmla="*/ 0 w 33"/>
                  <a:gd name="T7" fmla="*/ 0 h 207"/>
                  <a:gd name="T8" fmla="*/ 0 w 33"/>
                  <a:gd name="T9" fmla="*/ 0 h 207"/>
                  <a:gd name="T10" fmla="*/ 0 w 33"/>
                  <a:gd name="T11" fmla="*/ 0 h 207"/>
                  <a:gd name="T12" fmla="*/ 0 w 33"/>
                  <a:gd name="T13" fmla="*/ 0 h 207"/>
                  <a:gd name="T14" fmla="*/ 0 w 33"/>
                  <a:gd name="T15" fmla="*/ 0 h 207"/>
                  <a:gd name="T16" fmla="*/ 0 w 33"/>
                  <a:gd name="T17" fmla="*/ 0 h 207"/>
                  <a:gd name="T18" fmla="*/ 0 w 33"/>
                  <a:gd name="T19" fmla="*/ 0 h 207"/>
                  <a:gd name="T20" fmla="*/ 0 w 33"/>
                  <a:gd name="T21" fmla="*/ 0 h 207"/>
                  <a:gd name="T22" fmla="*/ 0 w 33"/>
                  <a:gd name="T23" fmla="*/ 0 h 2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207">
                    <a:moveTo>
                      <a:pt x="0" y="207"/>
                    </a:moveTo>
                    <a:lnTo>
                      <a:pt x="0" y="0"/>
                    </a:lnTo>
                    <a:lnTo>
                      <a:pt x="4" y="3"/>
                    </a:lnTo>
                    <a:lnTo>
                      <a:pt x="8" y="5"/>
                    </a:lnTo>
                    <a:lnTo>
                      <a:pt x="13" y="7"/>
                    </a:lnTo>
                    <a:lnTo>
                      <a:pt x="17" y="10"/>
                    </a:lnTo>
                    <a:lnTo>
                      <a:pt x="21" y="12"/>
                    </a:lnTo>
                    <a:lnTo>
                      <a:pt x="24" y="16"/>
                    </a:lnTo>
                    <a:lnTo>
                      <a:pt x="29" y="19"/>
                    </a:lnTo>
                    <a:lnTo>
                      <a:pt x="33" y="21"/>
                    </a:lnTo>
                    <a:lnTo>
                      <a:pt x="33" y="175"/>
                    </a:lnTo>
                    <a:lnTo>
                      <a:pt x="0" y="2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53" name="Freeform 3960"/>
              <p:cNvSpPr>
                <a:spLocks noChangeAspect="1"/>
              </p:cNvSpPr>
              <p:nvPr/>
            </p:nvSpPr>
            <p:spPr bwMode="auto">
              <a:xfrm>
                <a:off x="5474" y="1028"/>
                <a:ext cx="10" cy="61"/>
              </a:xfrm>
              <a:custGeom>
                <a:avLst/>
                <a:gdLst>
                  <a:gd name="T0" fmla="*/ 0 w 32"/>
                  <a:gd name="T1" fmla="*/ 0 h 181"/>
                  <a:gd name="T2" fmla="*/ 0 w 32"/>
                  <a:gd name="T3" fmla="*/ 0 h 181"/>
                  <a:gd name="T4" fmla="*/ 0 w 32"/>
                  <a:gd name="T5" fmla="*/ 0 h 181"/>
                  <a:gd name="T6" fmla="*/ 0 w 32"/>
                  <a:gd name="T7" fmla="*/ 0 h 181"/>
                  <a:gd name="T8" fmla="*/ 0 w 32"/>
                  <a:gd name="T9" fmla="*/ 0 h 181"/>
                  <a:gd name="T10" fmla="*/ 0 w 32"/>
                  <a:gd name="T11" fmla="*/ 0 h 181"/>
                  <a:gd name="T12" fmla="*/ 0 w 32"/>
                  <a:gd name="T13" fmla="*/ 0 h 181"/>
                  <a:gd name="T14" fmla="*/ 0 w 32"/>
                  <a:gd name="T15" fmla="*/ 0 h 181"/>
                  <a:gd name="T16" fmla="*/ 0 w 32"/>
                  <a:gd name="T17" fmla="*/ 0 h 181"/>
                  <a:gd name="T18" fmla="*/ 0 w 32"/>
                  <a:gd name="T19" fmla="*/ 0 h 181"/>
                  <a:gd name="T20" fmla="*/ 0 w 32"/>
                  <a:gd name="T21" fmla="*/ 0 h 181"/>
                  <a:gd name="T22" fmla="*/ 0 w 32"/>
                  <a:gd name="T23" fmla="*/ 0 h 1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181">
                    <a:moveTo>
                      <a:pt x="0" y="181"/>
                    </a:moveTo>
                    <a:lnTo>
                      <a:pt x="0" y="0"/>
                    </a:lnTo>
                    <a:lnTo>
                      <a:pt x="4" y="2"/>
                    </a:lnTo>
                    <a:lnTo>
                      <a:pt x="7" y="6"/>
                    </a:lnTo>
                    <a:lnTo>
                      <a:pt x="12" y="9"/>
                    </a:lnTo>
                    <a:lnTo>
                      <a:pt x="16" y="11"/>
                    </a:lnTo>
                    <a:lnTo>
                      <a:pt x="20" y="14"/>
                    </a:lnTo>
                    <a:lnTo>
                      <a:pt x="24" y="17"/>
                    </a:lnTo>
                    <a:lnTo>
                      <a:pt x="27" y="20"/>
                    </a:lnTo>
                    <a:lnTo>
                      <a:pt x="32" y="23"/>
                    </a:lnTo>
                    <a:lnTo>
                      <a:pt x="32" y="149"/>
                    </a:lnTo>
                    <a:lnTo>
                      <a:pt x="0" y="1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54" name="Freeform 3961"/>
              <p:cNvSpPr>
                <a:spLocks noChangeAspect="1"/>
              </p:cNvSpPr>
              <p:nvPr/>
            </p:nvSpPr>
            <p:spPr bwMode="auto">
              <a:xfrm>
                <a:off x="5479" y="1032"/>
                <a:ext cx="11" cy="51"/>
              </a:xfrm>
              <a:custGeom>
                <a:avLst/>
                <a:gdLst>
                  <a:gd name="T0" fmla="*/ 0 w 32"/>
                  <a:gd name="T1" fmla="*/ 0 h 154"/>
                  <a:gd name="T2" fmla="*/ 0 w 32"/>
                  <a:gd name="T3" fmla="*/ 0 h 154"/>
                  <a:gd name="T4" fmla="*/ 0 w 32"/>
                  <a:gd name="T5" fmla="*/ 0 h 154"/>
                  <a:gd name="T6" fmla="*/ 0 w 32"/>
                  <a:gd name="T7" fmla="*/ 0 h 154"/>
                  <a:gd name="T8" fmla="*/ 0 w 32"/>
                  <a:gd name="T9" fmla="*/ 0 h 154"/>
                  <a:gd name="T10" fmla="*/ 0 w 32"/>
                  <a:gd name="T11" fmla="*/ 0 h 154"/>
                  <a:gd name="T12" fmla="*/ 0 w 32"/>
                  <a:gd name="T13" fmla="*/ 0 h 154"/>
                  <a:gd name="T14" fmla="*/ 0 w 32"/>
                  <a:gd name="T15" fmla="*/ 0 h 154"/>
                  <a:gd name="T16" fmla="*/ 0 w 32"/>
                  <a:gd name="T17" fmla="*/ 0 h 154"/>
                  <a:gd name="T18" fmla="*/ 0 w 32"/>
                  <a:gd name="T19" fmla="*/ 0 h 154"/>
                  <a:gd name="T20" fmla="*/ 0 w 32"/>
                  <a:gd name="T21" fmla="*/ 0 h 154"/>
                  <a:gd name="T22" fmla="*/ 0 w 32"/>
                  <a:gd name="T23" fmla="*/ 0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154">
                    <a:moveTo>
                      <a:pt x="0" y="154"/>
                    </a:moveTo>
                    <a:lnTo>
                      <a:pt x="0" y="0"/>
                    </a:lnTo>
                    <a:lnTo>
                      <a:pt x="4" y="3"/>
                    </a:lnTo>
                    <a:lnTo>
                      <a:pt x="8" y="6"/>
                    </a:lnTo>
                    <a:lnTo>
                      <a:pt x="11" y="9"/>
                    </a:lnTo>
                    <a:lnTo>
                      <a:pt x="16" y="13"/>
                    </a:lnTo>
                    <a:lnTo>
                      <a:pt x="20" y="16"/>
                    </a:lnTo>
                    <a:lnTo>
                      <a:pt x="24" y="19"/>
                    </a:lnTo>
                    <a:lnTo>
                      <a:pt x="29" y="22"/>
                    </a:lnTo>
                    <a:lnTo>
                      <a:pt x="32" y="25"/>
                    </a:lnTo>
                    <a:lnTo>
                      <a:pt x="32" y="122"/>
                    </a:lnTo>
                    <a:lnTo>
                      <a:pt x="0" y="15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55" name="Freeform 3962"/>
              <p:cNvSpPr>
                <a:spLocks noChangeAspect="1"/>
              </p:cNvSpPr>
              <p:nvPr/>
            </p:nvSpPr>
            <p:spPr bwMode="auto">
              <a:xfrm>
                <a:off x="5484" y="1036"/>
                <a:ext cx="11" cy="42"/>
              </a:xfrm>
              <a:custGeom>
                <a:avLst/>
                <a:gdLst>
                  <a:gd name="T0" fmla="*/ 0 w 32"/>
                  <a:gd name="T1" fmla="*/ 0 h 126"/>
                  <a:gd name="T2" fmla="*/ 0 w 32"/>
                  <a:gd name="T3" fmla="*/ 0 h 126"/>
                  <a:gd name="T4" fmla="*/ 0 w 32"/>
                  <a:gd name="T5" fmla="*/ 0 h 126"/>
                  <a:gd name="T6" fmla="*/ 0 w 32"/>
                  <a:gd name="T7" fmla="*/ 0 h 126"/>
                  <a:gd name="T8" fmla="*/ 0 w 32"/>
                  <a:gd name="T9" fmla="*/ 0 h 126"/>
                  <a:gd name="T10" fmla="*/ 0 w 32"/>
                  <a:gd name="T11" fmla="*/ 0 h 126"/>
                  <a:gd name="T12" fmla="*/ 0 w 32"/>
                  <a:gd name="T13" fmla="*/ 0 h 126"/>
                  <a:gd name="T14" fmla="*/ 0 w 32"/>
                  <a:gd name="T15" fmla="*/ 0 h 126"/>
                  <a:gd name="T16" fmla="*/ 0 w 32"/>
                  <a:gd name="T17" fmla="*/ 0 h 126"/>
                  <a:gd name="T18" fmla="*/ 0 w 32"/>
                  <a:gd name="T19" fmla="*/ 0 h 126"/>
                  <a:gd name="T20" fmla="*/ 0 w 32"/>
                  <a:gd name="T21" fmla="*/ 0 h 126"/>
                  <a:gd name="T22" fmla="*/ 0 w 32"/>
                  <a:gd name="T23" fmla="*/ 0 h 1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126">
                    <a:moveTo>
                      <a:pt x="0" y="126"/>
                    </a:moveTo>
                    <a:lnTo>
                      <a:pt x="0" y="0"/>
                    </a:lnTo>
                    <a:lnTo>
                      <a:pt x="4" y="4"/>
                    </a:lnTo>
                    <a:lnTo>
                      <a:pt x="8" y="7"/>
                    </a:lnTo>
                    <a:lnTo>
                      <a:pt x="13" y="10"/>
                    </a:lnTo>
                    <a:lnTo>
                      <a:pt x="17" y="13"/>
                    </a:lnTo>
                    <a:lnTo>
                      <a:pt x="20" y="17"/>
                    </a:lnTo>
                    <a:lnTo>
                      <a:pt x="24" y="21"/>
                    </a:lnTo>
                    <a:lnTo>
                      <a:pt x="28" y="24"/>
                    </a:lnTo>
                    <a:lnTo>
                      <a:pt x="32" y="28"/>
                    </a:lnTo>
                    <a:lnTo>
                      <a:pt x="32" y="93"/>
                    </a:lnTo>
                    <a:lnTo>
                      <a:pt x="0" y="1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56" name="Freeform 3963"/>
              <p:cNvSpPr>
                <a:spLocks noChangeAspect="1"/>
              </p:cNvSpPr>
              <p:nvPr/>
            </p:nvSpPr>
            <p:spPr bwMode="auto">
              <a:xfrm>
                <a:off x="5490" y="1040"/>
                <a:ext cx="11" cy="33"/>
              </a:xfrm>
              <a:custGeom>
                <a:avLst/>
                <a:gdLst>
                  <a:gd name="T0" fmla="*/ 0 w 33"/>
                  <a:gd name="T1" fmla="*/ 0 h 97"/>
                  <a:gd name="T2" fmla="*/ 0 w 33"/>
                  <a:gd name="T3" fmla="*/ 0 h 97"/>
                  <a:gd name="T4" fmla="*/ 0 w 33"/>
                  <a:gd name="T5" fmla="*/ 0 h 97"/>
                  <a:gd name="T6" fmla="*/ 0 w 33"/>
                  <a:gd name="T7" fmla="*/ 0 h 97"/>
                  <a:gd name="T8" fmla="*/ 0 w 33"/>
                  <a:gd name="T9" fmla="*/ 0 h 97"/>
                  <a:gd name="T10" fmla="*/ 0 w 33"/>
                  <a:gd name="T11" fmla="*/ 0 h 97"/>
                  <a:gd name="T12" fmla="*/ 0 w 33"/>
                  <a:gd name="T13" fmla="*/ 0 h 97"/>
                  <a:gd name="T14" fmla="*/ 0 w 33"/>
                  <a:gd name="T15" fmla="*/ 0 h 97"/>
                  <a:gd name="T16" fmla="*/ 0 w 33"/>
                  <a:gd name="T17" fmla="*/ 0 h 97"/>
                  <a:gd name="T18" fmla="*/ 0 w 33"/>
                  <a:gd name="T19" fmla="*/ 0 h 97"/>
                  <a:gd name="T20" fmla="*/ 0 w 33"/>
                  <a:gd name="T21" fmla="*/ 0 h 97"/>
                  <a:gd name="T22" fmla="*/ 0 w 33"/>
                  <a:gd name="T23" fmla="*/ 0 h 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97">
                    <a:moveTo>
                      <a:pt x="0" y="97"/>
                    </a:moveTo>
                    <a:lnTo>
                      <a:pt x="0" y="0"/>
                    </a:lnTo>
                    <a:lnTo>
                      <a:pt x="4" y="4"/>
                    </a:lnTo>
                    <a:lnTo>
                      <a:pt x="8" y="8"/>
                    </a:lnTo>
                    <a:lnTo>
                      <a:pt x="12" y="11"/>
                    </a:lnTo>
                    <a:lnTo>
                      <a:pt x="17" y="15"/>
                    </a:lnTo>
                    <a:lnTo>
                      <a:pt x="21" y="18"/>
                    </a:lnTo>
                    <a:lnTo>
                      <a:pt x="24" y="23"/>
                    </a:lnTo>
                    <a:lnTo>
                      <a:pt x="28" y="27"/>
                    </a:lnTo>
                    <a:lnTo>
                      <a:pt x="33" y="31"/>
                    </a:lnTo>
                    <a:lnTo>
                      <a:pt x="33" y="64"/>
                    </a:lnTo>
                    <a:lnTo>
                      <a:pt x="0" y="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57" name="Freeform 3964"/>
              <p:cNvSpPr>
                <a:spLocks noChangeAspect="1"/>
              </p:cNvSpPr>
              <p:nvPr/>
            </p:nvSpPr>
            <p:spPr bwMode="auto">
              <a:xfrm>
                <a:off x="5495" y="1045"/>
                <a:ext cx="11" cy="22"/>
              </a:xfrm>
              <a:custGeom>
                <a:avLst/>
                <a:gdLst>
                  <a:gd name="T0" fmla="*/ 0 w 33"/>
                  <a:gd name="T1" fmla="*/ 0 h 65"/>
                  <a:gd name="T2" fmla="*/ 0 w 33"/>
                  <a:gd name="T3" fmla="*/ 0 h 65"/>
                  <a:gd name="T4" fmla="*/ 0 w 33"/>
                  <a:gd name="T5" fmla="*/ 0 h 65"/>
                  <a:gd name="T6" fmla="*/ 0 w 33"/>
                  <a:gd name="T7" fmla="*/ 0 h 65"/>
                  <a:gd name="T8" fmla="*/ 0 w 33"/>
                  <a:gd name="T9" fmla="*/ 0 h 65"/>
                  <a:gd name="T10" fmla="*/ 0 w 33"/>
                  <a:gd name="T11" fmla="*/ 0 h 65"/>
                  <a:gd name="T12" fmla="*/ 0 w 33"/>
                  <a:gd name="T13" fmla="*/ 0 h 65"/>
                  <a:gd name="T14" fmla="*/ 0 w 33"/>
                  <a:gd name="T15" fmla="*/ 0 h 65"/>
                  <a:gd name="T16" fmla="*/ 0 w 33"/>
                  <a:gd name="T17" fmla="*/ 0 h 65"/>
                  <a:gd name="T18" fmla="*/ 0 w 33"/>
                  <a:gd name="T19" fmla="*/ 0 h 65"/>
                  <a:gd name="T20" fmla="*/ 0 w 33"/>
                  <a:gd name="T21" fmla="*/ 0 h 65"/>
                  <a:gd name="T22" fmla="*/ 0 w 33"/>
                  <a:gd name="T23" fmla="*/ 0 h 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65">
                    <a:moveTo>
                      <a:pt x="0" y="65"/>
                    </a:moveTo>
                    <a:lnTo>
                      <a:pt x="0" y="0"/>
                    </a:lnTo>
                    <a:lnTo>
                      <a:pt x="4" y="3"/>
                    </a:lnTo>
                    <a:lnTo>
                      <a:pt x="8" y="8"/>
                    </a:lnTo>
                    <a:lnTo>
                      <a:pt x="12" y="12"/>
                    </a:lnTo>
                    <a:lnTo>
                      <a:pt x="17" y="16"/>
                    </a:lnTo>
                    <a:lnTo>
                      <a:pt x="21" y="21"/>
                    </a:lnTo>
                    <a:lnTo>
                      <a:pt x="24" y="25"/>
                    </a:lnTo>
                    <a:lnTo>
                      <a:pt x="28" y="29"/>
                    </a:lnTo>
                    <a:lnTo>
                      <a:pt x="33" y="33"/>
                    </a:lnTo>
                    <a:lnTo>
                      <a:pt x="0" y="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58" name="Freeform 3965"/>
              <p:cNvSpPr>
                <a:spLocks noChangeAspect="1"/>
              </p:cNvSpPr>
              <p:nvPr/>
            </p:nvSpPr>
            <p:spPr bwMode="auto">
              <a:xfrm>
                <a:off x="5501" y="1051"/>
                <a:ext cx="5" cy="11"/>
              </a:xfrm>
              <a:custGeom>
                <a:avLst/>
                <a:gdLst>
                  <a:gd name="T0" fmla="*/ 0 w 16"/>
                  <a:gd name="T1" fmla="*/ 0 h 33"/>
                  <a:gd name="T2" fmla="*/ 0 w 16"/>
                  <a:gd name="T3" fmla="*/ 0 h 33"/>
                  <a:gd name="T4" fmla="*/ 0 w 16"/>
                  <a:gd name="T5" fmla="*/ 0 h 33"/>
                  <a:gd name="T6" fmla="*/ 0 w 16"/>
                  <a:gd name="T7" fmla="*/ 0 h 33"/>
                  <a:gd name="T8" fmla="*/ 0 w 16"/>
                  <a:gd name="T9" fmla="*/ 0 h 33"/>
                  <a:gd name="T10" fmla="*/ 0 w 16"/>
                  <a:gd name="T11" fmla="*/ 0 h 33"/>
                  <a:gd name="T12" fmla="*/ 0 w 16"/>
                  <a:gd name="T13" fmla="*/ 0 h 33"/>
                  <a:gd name="T14" fmla="*/ 0 w 16"/>
                  <a:gd name="T15" fmla="*/ 0 h 33"/>
                  <a:gd name="T16" fmla="*/ 0 w 16"/>
                  <a:gd name="T17" fmla="*/ 0 h 33"/>
                  <a:gd name="T18" fmla="*/ 0 w 16"/>
                  <a:gd name="T19" fmla="*/ 0 h 33"/>
                  <a:gd name="T20" fmla="*/ 0 w 16"/>
                  <a:gd name="T21" fmla="*/ 0 h 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 h="33">
                    <a:moveTo>
                      <a:pt x="0" y="33"/>
                    </a:moveTo>
                    <a:lnTo>
                      <a:pt x="0" y="0"/>
                    </a:lnTo>
                    <a:lnTo>
                      <a:pt x="2" y="2"/>
                    </a:lnTo>
                    <a:lnTo>
                      <a:pt x="3" y="5"/>
                    </a:lnTo>
                    <a:lnTo>
                      <a:pt x="5" y="7"/>
                    </a:lnTo>
                    <a:lnTo>
                      <a:pt x="7" y="9"/>
                    </a:lnTo>
                    <a:lnTo>
                      <a:pt x="9" y="11"/>
                    </a:lnTo>
                    <a:lnTo>
                      <a:pt x="11" y="13"/>
                    </a:lnTo>
                    <a:lnTo>
                      <a:pt x="14" y="15"/>
                    </a:lnTo>
                    <a:lnTo>
                      <a:pt x="16" y="17"/>
                    </a:lnTo>
                    <a:lnTo>
                      <a:pt x="0" y="3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59" name="Freeform 3966"/>
              <p:cNvSpPr>
                <a:spLocks noChangeAspect="1"/>
              </p:cNvSpPr>
              <p:nvPr/>
            </p:nvSpPr>
            <p:spPr bwMode="auto">
              <a:xfrm>
                <a:off x="5237" y="1004"/>
                <a:ext cx="269" cy="165"/>
              </a:xfrm>
              <a:custGeom>
                <a:avLst/>
                <a:gdLst>
                  <a:gd name="T0" fmla="*/ 0 w 808"/>
                  <a:gd name="T1" fmla="*/ 0 h 497"/>
                  <a:gd name="T2" fmla="*/ 0 w 808"/>
                  <a:gd name="T3" fmla="*/ 0 h 497"/>
                  <a:gd name="T4" fmla="*/ 0 w 808"/>
                  <a:gd name="T5" fmla="*/ 0 h 497"/>
                  <a:gd name="T6" fmla="*/ 0 w 808"/>
                  <a:gd name="T7" fmla="*/ 0 h 497"/>
                  <a:gd name="T8" fmla="*/ 0 w 808"/>
                  <a:gd name="T9" fmla="*/ 0 h 497"/>
                  <a:gd name="T10" fmla="*/ 0 w 808"/>
                  <a:gd name="T11" fmla="*/ 0 h 497"/>
                  <a:gd name="T12" fmla="*/ 0 w 808"/>
                  <a:gd name="T13" fmla="*/ 0 h 497"/>
                  <a:gd name="T14" fmla="*/ 0 w 808"/>
                  <a:gd name="T15" fmla="*/ 0 h 497"/>
                  <a:gd name="T16" fmla="*/ 0 w 808"/>
                  <a:gd name="T17" fmla="*/ 0 h 497"/>
                  <a:gd name="T18" fmla="*/ 0 w 808"/>
                  <a:gd name="T19" fmla="*/ 0 h 497"/>
                  <a:gd name="T20" fmla="*/ 0 w 808"/>
                  <a:gd name="T21" fmla="*/ 0 h 497"/>
                  <a:gd name="T22" fmla="*/ 0 w 808"/>
                  <a:gd name="T23" fmla="*/ 0 h 497"/>
                  <a:gd name="T24" fmla="*/ 0 w 808"/>
                  <a:gd name="T25" fmla="*/ 0 h 497"/>
                  <a:gd name="T26" fmla="*/ 0 w 808"/>
                  <a:gd name="T27" fmla="*/ 0 h 497"/>
                  <a:gd name="T28" fmla="*/ 0 w 808"/>
                  <a:gd name="T29" fmla="*/ 0 h 497"/>
                  <a:gd name="T30" fmla="*/ 0 w 808"/>
                  <a:gd name="T31" fmla="*/ 0 h 497"/>
                  <a:gd name="T32" fmla="*/ 0 w 808"/>
                  <a:gd name="T33" fmla="*/ 0 h 497"/>
                  <a:gd name="T34" fmla="*/ 0 w 808"/>
                  <a:gd name="T35" fmla="*/ 0 h 497"/>
                  <a:gd name="T36" fmla="*/ 0 w 808"/>
                  <a:gd name="T37" fmla="*/ 0 h 497"/>
                  <a:gd name="T38" fmla="*/ 0 w 808"/>
                  <a:gd name="T39" fmla="*/ 0 h 497"/>
                  <a:gd name="T40" fmla="*/ 0 w 808"/>
                  <a:gd name="T41" fmla="*/ 0 h 497"/>
                  <a:gd name="T42" fmla="*/ 0 w 808"/>
                  <a:gd name="T43" fmla="*/ 0 h 497"/>
                  <a:gd name="T44" fmla="*/ 0 w 808"/>
                  <a:gd name="T45" fmla="*/ 0 h 497"/>
                  <a:gd name="T46" fmla="*/ 0 w 808"/>
                  <a:gd name="T47" fmla="*/ 0 h 497"/>
                  <a:gd name="T48" fmla="*/ 0 w 808"/>
                  <a:gd name="T49" fmla="*/ 0 h 497"/>
                  <a:gd name="T50" fmla="*/ 0 w 808"/>
                  <a:gd name="T51" fmla="*/ 0 h 497"/>
                  <a:gd name="T52" fmla="*/ 0 w 808"/>
                  <a:gd name="T53" fmla="*/ 0 h 497"/>
                  <a:gd name="T54" fmla="*/ 0 w 808"/>
                  <a:gd name="T55" fmla="*/ 0 h 497"/>
                  <a:gd name="T56" fmla="*/ 0 w 808"/>
                  <a:gd name="T57" fmla="*/ 0 h 497"/>
                  <a:gd name="T58" fmla="*/ 0 w 808"/>
                  <a:gd name="T59" fmla="*/ 0 h 497"/>
                  <a:gd name="T60" fmla="*/ 0 w 808"/>
                  <a:gd name="T61" fmla="*/ 0 h 497"/>
                  <a:gd name="T62" fmla="*/ 0 w 808"/>
                  <a:gd name="T63" fmla="*/ 0 h 497"/>
                  <a:gd name="T64" fmla="*/ 0 w 808"/>
                  <a:gd name="T65" fmla="*/ 0 h 497"/>
                  <a:gd name="T66" fmla="*/ 0 w 808"/>
                  <a:gd name="T67" fmla="*/ 0 h 497"/>
                  <a:gd name="T68" fmla="*/ 0 w 808"/>
                  <a:gd name="T69" fmla="*/ 0 h 497"/>
                  <a:gd name="T70" fmla="*/ 0 w 808"/>
                  <a:gd name="T71" fmla="*/ 0 h 497"/>
                  <a:gd name="T72" fmla="*/ 0 w 808"/>
                  <a:gd name="T73" fmla="*/ 0 h 497"/>
                  <a:gd name="T74" fmla="*/ 0 w 808"/>
                  <a:gd name="T75" fmla="*/ 0 h 497"/>
                  <a:gd name="T76" fmla="*/ 0 w 808"/>
                  <a:gd name="T77" fmla="*/ 0 h 497"/>
                  <a:gd name="T78" fmla="*/ 0 w 808"/>
                  <a:gd name="T79" fmla="*/ 0 h 497"/>
                  <a:gd name="T80" fmla="*/ 0 w 808"/>
                  <a:gd name="T81" fmla="*/ 0 h 497"/>
                  <a:gd name="T82" fmla="*/ 0 w 808"/>
                  <a:gd name="T83" fmla="*/ 0 h 497"/>
                  <a:gd name="T84" fmla="*/ 0 w 808"/>
                  <a:gd name="T85" fmla="*/ 0 h 497"/>
                  <a:gd name="T86" fmla="*/ 0 w 808"/>
                  <a:gd name="T87" fmla="*/ 0 h 497"/>
                  <a:gd name="T88" fmla="*/ 0 w 808"/>
                  <a:gd name="T89" fmla="*/ 0 h 497"/>
                  <a:gd name="T90" fmla="*/ 0 w 808"/>
                  <a:gd name="T91" fmla="*/ 0 h 497"/>
                  <a:gd name="T92" fmla="*/ 0 w 808"/>
                  <a:gd name="T93" fmla="*/ 0 h 497"/>
                  <a:gd name="T94" fmla="*/ 0 w 808"/>
                  <a:gd name="T95" fmla="*/ 0 h 497"/>
                  <a:gd name="T96" fmla="*/ 0 w 808"/>
                  <a:gd name="T97" fmla="*/ 0 h 497"/>
                  <a:gd name="T98" fmla="*/ 0 w 808"/>
                  <a:gd name="T99" fmla="*/ 0 h 497"/>
                  <a:gd name="T100" fmla="*/ 0 w 808"/>
                  <a:gd name="T101" fmla="*/ 0 h 497"/>
                  <a:gd name="T102" fmla="*/ 0 w 808"/>
                  <a:gd name="T103" fmla="*/ 0 h 497"/>
                  <a:gd name="T104" fmla="*/ 0 w 808"/>
                  <a:gd name="T105" fmla="*/ 0 h 497"/>
                  <a:gd name="T106" fmla="*/ 0 w 808"/>
                  <a:gd name="T107" fmla="*/ 0 h 497"/>
                  <a:gd name="T108" fmla="*/ 0 w 808"/>
                  <a:gd name="T109" fmla="*/ 0 h 497"/>
                  <a:gd name="T110" fmla="*/ 0 w 808"/>
                  <a:gd name="T111" fmla="*/ 0 h 497"/>
                  <a:gd name="T112" fmla="*/ 0 w 808"/>
                  <a:gd name="T113" fmla="*/ 0 h 497"/>
                  <a:gd name="T114" fmla="*/ 0 w 808"/>
                  <a:gd name="T115" fmla="*/ 0 h 497"/>
                  <a:gd name="T116" fmla="*/ 0 w 808"/>
                  <a:gd name="T117" fmla="*/ 0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08" h="497">
                    <a:moveTo>
                      <a:pt x="460" y="0"/>
                    </a:moveTo>
                    <a:lnTo>
                      <a:pt x="485" y="0"/>
                    </a:lnTo>
                    <a:lnTo>
                      <a:pt x="511" y="2"/>
                    </a:lnTo>
                    <a:lnTo>
                      <a:pt x="536" y="6"/>
                    </a:lnTo>
                    <a:lnTo>
                      <a:pt x="561" y="10"/>
                    </a:lnTo>
                    <a:lnTo>
                      <a:pt x="585" y="17"/>
                    </a:lnTo>
                    <a:lnTo>
                      <a:pt x="609" y="24"/>
                    </a:lnTo>
                    <a:lnTo>
                      <a:pt x="631" y="33"/>
                    </a:lnTo>
                    <a:lnTo>
                      <a:pt x="654" y="42"/>
                    </a:lnTo>
                    <a:lnTo>
                      <a:pt x="676" y="53"/>
                    </a:lnTo>
                    <a:lnTo>
                      <a:pt x="697" y="66"/>
                    </a:lnTo>
                    <a:lnTo>
                      <a:pt x="717" y="79"/>
                    </a:lnTo>
                    <a:lnTo>
                      <a:pt x="737" y="92"/>
                    </a:lnTo>
                    <a:lnTo>
                      <a:pt x="756" y="107"/>
                    </a:lnTo>
                    <a:lnTo>
                      <a:pt x="774" y="123"/>
                    </a:lnTo>
                    <a:lnTo>
                      <a:pt x="791" y="140"/>
                    </a:lnTo>
                    <a:lnTo>
                      <a:pt x="808" y="158"/>
                    </a:lnTo>
                    <a:lnTo>
                      <a:pt x="467" y="497"/>
                    </a:lnTo>
                    <a:lnTo>
                      <a:pt x="1" y="497"/>
                    </a:lnTo>
                    <a:lnTo>
                      <a:pt x="1" y="493"/>
                    </a:lnTo>
                    <a:lnTo>
                      <a:pt x="0" y="489"/>
                    </a:lnTo>
                    <a:lnTo>
                      <a:pt x="0" y="484"/>
                    </a:lnTo>
                    <a:lnTo>
                      <a:pt x="0" y="479"/>
                    </a:lnTo>
                    <a:lnTo>
                      <a:pt x="0" y="474"/>
                    </a:lnTo>
                    <a:lnTo>
                      <a:pt x="0" y="470"/>
                    </a:lnTo>
                    <a:lnTo>
                      <a:pt x="0" y="464"/>
                    </a:lnTo>
                    <a:lnTo>
                      <a:pt x="0" y="459"/>
                    </a:lnTo>
                    <a:lnTo>
                      <a:pt x="0" y="436"/>
                    </a:lnTo>
                    <a:lnTo>
                      <a:pt x="2" y="412"/>
                    </a:lnTo>
                    <a:lnTo>
                      <a:pt x="5" y="390"/>
                    </a:lnTo>
                    <a:lnTo>
                      <a:pt x="8" y="367"/>
                    </a:lnTo>
                    <a:lnTo>
                      <a:pt x="14" y="345"/>
                    </a:lnTo>
                    <a:lnTo>
                      <a:pt x="20" y="323"/>
                    </a:lnTo>
                    <a:lnTo>
                      <a:pt x="28" y="302"/>
                    </a:lnTo>
                    <a:lnTo>
                      <a:pt x="36" y="281"/>
                    </a:lnTo>
                    <a:lnTo>
                      <a:pt x="45" y="260"/>
                    </a:lnTo>
                    <a:lnTo>
                      <a:pt x="55" y="240"/>
                    </a:lnTo>
                    <a:lnTo>
                      <a:pt x="66" y="221"/>
                    </a:lnTo>
                    <a:lnTo>
                      <a:pt x="79" y="203"/>
                    </a:lnTo>
                    <a:lnTo>
                      <a:pt x="91" y="185"/>
                    </a:lnTo>
                    <a:lnTo>
                      <a:pt x="105" y="167"/>
                    </a:lnTo>
                    <a:lnTo>
                      <a:pt x="119" y="151"/>
                    </a:lnTo>
                    <a:lnTo>
                      <a:pt x="135" y="135"/>
                    </a:lnTo>
                    <a:lnTo>
                      <a:pt x="151" y="119"/>
                    </a:lnTo>
                    <a:lnTo>
                      <a:pt x="167" y="105"/>
                    </a:lnTo>
                    <a:lnTo>
                      <a:pt x="185" y="91"/>
                    </a:lnTo>
                    <a:lnTo>
                      <a:pt x="203" y="79"/>
                    </a:lnTo>
                    <a:lnTo>
                      <a:pt x="221" y="67"/>
                    </a:lnTo>
                    <a:lnTo>
                      <a:pt x="240" y="55"/>
                    </a:lnTo>
                    <a:lnTo>
                      <a:pt x="261" y="46"/>
                    </a:lnTo>
                    <a:lnTo>
                      <a:pt x="281" y="36"/>
                    </a:lnTo>
                    <a:lnTo>
                      <a:pt x="302" y="27"/>
                    </a:lnTo>
                    <a:lnTo>
                      <a:pt x="323" y="20"/>
                    </a:lnTo>
                    <a:lnTo>
                      <a:pt x="345" y="14"/>
                    </a:lnTo>
                    <a:lnTo>
                      <a:pt x="367" y="9"/>
                    </a:lnTo>
                    <a:lnTo>
                      <a:pt x="389" y="5"/>
                    </a:lnTo>
                    <a:lnTo>
                      <a:pt x="413" y="2"/>
                    </a:lnTo>
                    <a:lnTo>
                      <a:pt x="436" y="0"/>
                    </a:lnTo>
                    <a:lnTo>
                      <a:pt x="460" y="0"/>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sp>
            <p:nvSpPr>
              <p:cNvPr id="387560" name="Freeform 3967"/>
              <p:cNvSpPr>
                <a:spLocks noChangeAspect="1"/>
              </p:cNvSpPr>
              <p:nvPr/>
            </p:nvSpPr>
            <p:spPr bwMode="auto">
              <a:xfrm>
                <a:off x="5282" y="1115"/>
                <a:ext cx="5" cy="58"/>
              </a:xfrm>
              <a:custGeom>
                <a:avLst/>
                <a:gdLst>
                  <a:gd name="T0" fmla="*/ 0 w 14"/>
                  <a:gd name="T1" fmla="*/ 0 h 175"/>
                  <a:gd name="T2" fmla="*/ 0 w 14"/>
                  <a:gd name="T3" fmla="*/ 0 h 175"/>
                  <a:gd name="T4" fmla="*/ 0 w 14"/>
                  <a:gd name="T5" fmla="*/ 0 h 175"/>
                  <a:gd name="T6" fmla="*/ 0 w 14"/>
                  <a:gd name="T7" fmla="*/ 0 h 175"/>
                  <a:gd name="T8" fmla="*/ 0 w 14"/>
                  <a:gd name="T9" fmla="*/ 0 h 175"/>
                  <a:gd name="T10" fmla="*/ 0 w 14"/>
                  <a:gd name="T11" fmla="*/ 0 h 175"/>
                  <a:gd name="T12" fmla="*/ 0 w 14"/>
                  <a:gd name="T13" fmla="*/ 0 h 175"/>
                  <a:gd name="T14" fmla="*/ 0 w 14"/>
                  <a:gd name="T15" fmla="*/ 0 h 175"/>
                  <a:gd name="T16" fmla="*/ 0 w 14"/>
                  <a:gd name="T17" fmla="*/ 0 h 175"/>
                  <a:gd name="T18" fmla="*/ 0 w 14"/>
                  <a:gd name="T19" fmla="*/ 0 h 175"/>
                  <a:gd name="T20" fmla="*/ 0 w 14"/>
                  <a:gd name="T21" fmla="*/ 0 h 175"/>
                  <a:gd name="T22" fmla="*/ 0 w 14"/>
                  <a:gd name="T23" fmla="*/ 0 h 175"/>
                  <a:gd name="T24" fmla="*/ 0 w 14"/>
                  <a:gd name="T25" fmla="*/ 0 h 175"/>
                  <a:gd name="T26" fmla="*/ 0 w 14"/>
                  <a:gd name="T27" fmla="*/ 0 h 175"/>
                  <a:gd name="T28" fmla="*/ 0 w 14"/>
                  <a:gd name="T29" fmla="*/ 0 h 175"/>
                  <a:gd name="T30" fmla="*/ 0 w 14"/>
                  <a:gd name="T31" fmla="*/ 0 h 175"/>
                  <a:gd name="T32" fmla="*/ 0 w 14"/>
                  <a:gd name="T33" fmla="*/ 0 h 175"/>
                  <a:gd name="T34" fmla="*/ 0 w 14"/>
                  <a:gd name="T35" fmla="*/ 0 h 1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4" h="175">
                    <a:moveTo>
                      <a:pt x="14" y="0"/>
                    </a:moveTo>
                    <a:lnTo>
                      <a:pt x="14" y="175"/>
                    </a:lnTo>
                    <a:lnTo>
                      <a:pt x="11" y="164"/>
                    </a:lnTo>
                    <a:lnTo>
                      <a:pt x="8" y="154"/>
                    </a:lnTo>
                    <a:lnTo>
                      <a:pt x="6" y="143"/>
                    </a:lnTo>
                    <a:lnTo>
                      <a:pt x="4" y="133"/>
                    </a:lnTo>
                    <a:lnTo>
                      <a:pt x="2" y="121"/>
                    </a:lnTo>
                    <a:lnTo>
                      <a:pt x="1" y="110"/>
                    </a:lnTo>
                    <a:lnTo>
                      <a:pt x="1" y="99"/>
                    </a:lnTo>
                    <a:lnTo>
                      <a:pt x="0" y="87"/>
                    </a:lnTo>
                    <a:lnTo>
                      <a:pt x="1" y="76"/>
                    </a:lnTo>
                    <a:lnTo>
                      <a:pt x="1" y="65"/>
                    </a:lnTo>
                    <a:lnTo>
                      <a:pt x="2" y="54"/>
                    </a:lnTo>
                    <a:lnTo>
                      <a:pt x="4" y="42"/>
                    </a:lnTo>
                    <a:lnTo>
                      <a:pt x="6" y="32"/>
                    </a:lnTo>
                    <a:lnTo>
                      <a:pt x="8" y="21"/>
                    </a:lnTo>
                    <a:lnTo>
                      <a:pt x="11" y="10"/>
                    </a:lnTo>
                    <a:lnTo>
                      <a:pt x="14"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61" name="Freeform 3968"/>
              <p:cNvSpPr>
                <a:spLocks noChangeAspect="1"/>
              </p:cNvSpPr>
              <p:nvPr/>
            </p:nvSpPr>
            <p:spPr bwMode="auto">
              <a:xfrm>
                <a:off x="5282" y="1103"/>
                <a:ext cx="9" cy="82"/>
              </a:xfrm>
              <a:custGeom>
                <a:avLst/>
                <a:gdLst>
                  <a:gd name="T0" fmla="*/ 0 w 27"/>
                  <a:gd name="T1" fmla="*/ 0 h 245"/>
                  <a:gd name="T2" fmla="*/ 0 w 27"/>
                  <a:gd name="T3" fmla="*/ 0 h 245"/>
                  <a:gd name="T4" fmla="*/ 0 w 27"/>
                  <a:gd name="T5" fmla="*/ 0 h 245"/>
                  <a:gd name="T6" fmla="*/ 0 w 27"/>
                  <a:gd name="T7" fmla="*/ 0 h 245"/>
                  <a:gd name="T8" fmla="*/ 0 w 27"/>
                  <a:gd name="T9" fmla="*/ 0 h 245"/>
                  <a:gd name="T10" fmla="*/ 0 w 27"/>
                  <a:gd name="T11" fmla="*/ 0 h 245"/>
                  <a:gd name="T12" fmla="*/ 0 w 27"/>
                  <a:gd name="T13" fmla="*/ 0 h 245"/>
                  <a:gd name="T14" fmla="*/ 0 w 27"/>
                  <a:gd name="T15" fmla="*/ 0 h 245"/>
                  <a:gd name="T16" fmla="*/ 0 w 27"/>
                  <a:gd name="T17" fmla="*/ 0 h 245"/>
                  <a:gd name="T18" fmla="*/ 0 w 27"/>
                  <a:gd name="T19" fmla="*/ 0 h 245"/>
                  <a:gd name="T20" fmla="*/ 0 w 27"/>
                  <a:gd name="T21" fmla="*/ 0 h 245"/>
                  <a:gd name="T22" fmla="*/ 0 w 27"/>
                  <a:gd name="T23" fmla="*/ 0 h 245"/>
                  <a:gd name="T24" fmla="*/ 0 w 27"/>
                  <a:gd name="T25" fmla="*/ 0 h 245"/>
                  <a:gd name="T26" fmla="*/ 0 w 27"/>
                  <a:gd name="T27" fmla="*/ 0 h 245"/>
                  <a:gd name="T28" fmla="*/ 0 w 27"/>
                  <a:gd name="T29" fmla="*/ 0 h 245"/>
                  <a:gd name="T30" fmla="*/ 0 w 27"/>
                  <a:gd name="T31" fmla="*/ 0 h 245"/>
                  <a:gd name="T32" fmla="*/ 0 w 27"/>
                  <a:gd name="T33" fmla="*/ 0 h 245"/>
                  <a:gd name="T34" fmla="*/ 0 w 27"/>
                  <a:gd name="T35" fmla="*/ 0 h 24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7" h="245">
                    <a:moveTo>
                      <a:pt x="27" y="0"/>
                    </a:moveTo>
                    <a:lnTo>
                      <a:pt x="27" y="245"/>
                    </a:lnTo>
                    <a:lnTo>
                      <a:pt x="21" y="231"/>
                    </a:lnTo>
                    <a:lnTo>
                      <a:pt x="16" y="216"/>
                    </a:lnTo>
                    <a:lnTo>
                      <a:pt x="11" y="202"/>
                    </a:lnTo>
                    <a:lnTo>
                      <a:pt x="8" y="186"/>
                    </a:lnTo>
                    <a:lnTo>
                      <a:pt x="4" y="171"/>
                    </a:lnTo>
                    <a:lnTo>
                      <a:pt x="2" y="155"/>
                    </a:lnTo>
                    <a:lnTo>
                      <a:pt x="1" y="139"/>
                    </a:lnTo>
                    <a:lnTo>
                      <a:pt x="0" y="122"/>
                    </a:lnTo>
                    <a:lnTo>
                      <a:pt x="1" y="106"/>
                    </a:lnTo>
                    <a:lnTo>
                      <a:pt x="2" y="90"/>
                    </a:lnTo>
                    <a:lnTo>
                      <a:pt x="4" y="74"/>
                    </a:lnTo>
                    <a:lnTo>
                      <a:pt x="8" y="58"/>
                    </a:lnTo>
                    <a:lnTo>
                      <a:pt x="11" y="43"/>
                    </a:lnTo>
                    <a:lnTo>
                      <a:pt x="16" y="28"/>
                    </a:lnTo>
                    <a:lnTo>
                      <a:pt x="21" y="13"/>
                    </a:lnTo>
                    <a:lnTo>
                      <a:pt x="27"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62" name="Freeform 3969"/>
              <p:cNvSpPr>
                <a:spLocks noChangeAspect="1"/>
              </p:cNvSpPr>
              <p:nvPr/>
            </p:nvSpPr>
            <p:spPr bwMode="auto">
              <a:xfrm>
                <a:off x="5287" y="1094"/>
                <a:ext cx="9" cy="100"/>
              </a:xfrm>
              <a:custGeom>
                <a:avLst/>
                <a:gdLst>
                  <a:gd name="T0" fmla="*/ 0 w 27"/>
                  <a:gd name="T1" fmla="*/ 0 h 299"/>
                  <a:gd name="T2" fmla="*/ 0 w 27"/>
                  <a:gd name="T3" fmla="*/ 0 h 299"/>
                  <a:gd name="T4" fmla="*/ 0 w 27"/>
                  <a:gd name="T5" fmla="*/ 0 h 299"/>
                  <a:gd name="T6" fmla="*/ 0 w 27"/>
                  <a:gd name="T7" fmla="*/ 0 h 299"/>
                  <a:gd name="T8" fmla="*/ 0 w 27"/>
                  <a:gd name="T9" fmla="*/ 0 h 299"/>
                  <a:gd name="T10" fmla="*/ 0 w 27"/>
                  <a:gd name="T11" fmla="*/ 0 h 299"/>
                  <a:gd name="T12" fmla="*/ 0 w 27"/>
                  <a:gd name="T13" fmla="*/ 0 h 299"/>
                  <a:gd name="T14" fmla="*/ 0 w 27"/>
                  <a:gd name="T15" fmla="*/ 0 h 299"/>
                  <a:gd name="T16" fmla="*/ 0 w 27"/>
                  <a:gd name="T17" fmla="*/ 0 h 299"/>
                  <a:gd name="T18" fmla="*/ 0 w 27"/>
                  <a:gd name="T19" fmla="*/ 0 h 299"/>
                  <a:gd name="T20" fmla="*/ 0 w 27"/>
                  <a:gd name="T21" fmla="*/ 0 h 299"/>
                  <a:gd name="T22" fmla="*/ 0 w 27"/>
                  <a:gd name="T23" fmla="*/ 0 h 299"/>
                  <a:gd name="T24" fmla="*/ 0 w 27"/>
                  <a:gd name="T25" fmla="*/ 0 h 299"/>
                  <a:gd name="T26" fmla="*/ 0 w 27"/>
                  <a:gd name="T27" fmla="*/ 0 h 299"/>
                  <a:gd name="T28" fmla="*/ 0 w 27"/>
                  <a:gd name="T29" fmla="*/ 0 h 299"/>
                  <a:gd name="T30" fmla="*/ 0 w 27"/>
                  <a:gd name="T31" fmla="*/ 0 h 299"/>
                  <a:gd name="T32" fmla="*/ 0 w 27"/>
                  <a:gd name="T33" fmla="*/ 0 h 299"/>
                  <a:gd name="T34" fmla="*/ 0 w 27"/>
                  <a:gd name="T35" fmla="*/ 0 h 299"/>
                  <a:gd name="T36" fmla="*/ 0 w 27"/>
                  <a:gd name="T37" fmla="*/ 0 h 29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299">
                    <a:moveTo>
                      <a:pt x="0" y="237"/>
                    </a:moveTo>
                    <a:lnTo>
                      <a:pt x="0" y="62"/>
                    </a:lnTo>
                    <a:lnTo>
                      <a:pt x="2" y="53"/>
                    </a:lnTo>
                    <a:lnTo>
                      <a:pt x="5" y="46"/>
                    </a:lnTo>
                    <a:lnTo>
                      <a:pt x="9" y="37"/>
                    </a:lnTo>
                    <a:lnTo>
                      <a:pt x="12" y="30"/>
                    </a:lnTo>
                    <a:lnTo>
                      <a:pt x="15" y="22"/>
                    </a:lnTo>
                    <a:lnTo>
                      <a:pt x="18" y="15"/>
                    </a:lnTo>
                    <a:lnTo>
                      <a:pt x="22" y="7"/>
                    </a:lnTo>
                    <a:lnTo>
                      <a:pt x="27" y="0"/>
                    </a:lnTo>
                    <a:lnTo>
                      <a:pt x="27" y="299"/>
                    </a:lnTo>
                    <a:lnTo>
                      <a:pt x="22" y="291"/>
                    </a:lnTo>
                    <a:lnTo>
                      <a:pt x="18" y="284"/>
                    </a:lnTo>
                    <a:lnTo>
                      <a:pt x="15" y="276"/>
                    </a:lnTo>
                    <a:lnTo>
                      <a:pt x="12" y="269"/>
                    </a:lnTo>
                    <a:lnTo>
                      <a:pt x="9" y="260"/>
                    </a:lnTo>
                    <a:lnTo>
                      <a:pt x="5" y="253"/>
                    </a:lnTo>
                    <a:lnTo>
                      <a:pt x="2" y="246"/>
                    </a:lnTo>
                    <a:lnTo>
                      <a:pt x="0" y="23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63" name="Freeform 3970"/>
              <p:cNvSpPr>
                <a:spLocks noChangeAspect="1"/>
              </p:cNvSpPr>
              <p:nvPr/>
            </p:nvSpPr>
            <p:spPr bwMode="auto">
              <a:xfrm>
                <a:off x="5291" y="1087"/>
                <a:ext cx="9" cy="114"/>
              </a:xfrm>
              <a:custGeom>
                <a:avLst/>
                <a:gdLst>
                  <a:gd name="T0" fmla="*/ 0 w 26"/>
                  <a:gd name="T1" fmla="*/ 0 h 341"/>
                  <a:gd name="T2" fmla="*/ 0 w 26"/>
                  <a:gd name="T3" fmla="*/ 0 h 341"/>
                  <a:gd name="T4" fmla="*/ 0 w 26"/>
                  <a:gd name="T5" fmla="*/ 0 h 341"/>
                  <a:gd name="T6" fmla="*/ 0 w 26"/>
                  <a:gd name="T7" fmla="*/ 0 h 341"/>
                  <a:gd name="T8" fmla="*/ 0 w 26"/>
                  <a:gd name="T9" fmla="*/ 0 h 341"/>
                  <a:gd name="T10" fmla="*/ 0 w 26"/>
                  <a:gd name="T11" fmla="*/ 0 h 341"/>
                  <a:gd name="T12" fmla="*/ 0 w 26"/>
                  <a:gd name="T13" fmla="*/ 0 h 341"/>
                  <a:gd name="T14" fmla="*/ 0 w 26"/>
                  <a:gd name="T15" fmla="*/ 0 h 341"/>
                  <a:gd name="T16" fmla="*/ 0 w 26"/>
                  <a:gd name="T17" fmla="*/ 0 h 341"/>
                  <a:gd name="T18" fmla="*/ 0 w 26"/>
                  <a:gd name="T19" fmla="*/ 0 h 341"/>
                  <a:gd name="T20" fmla="*/ 0 w 26"/>
                  <a:gd name="T21" fmla="*/ 0 h 341"/>
                  <a:gd name="T22" fmla="*/ 0 w 26"/>
                  <a:gd name="T23" fmla="*/ 0 h 341"/>
                  <a:gd name="T24" fmla="*/ 0 w 26"/>
                  <a:gd name="T25" fmla="*/ 0 h 341"/>
                  <a:gd name="T26" fmla="*/ 0 w 26"/>
                  <a:gd name="T27" fmla="*/ 0 h 341"/>
                  <a:gd name="T28" fmla="*/ 0 w 26"/>
                  <a:gd name="T29" fmla="*/ 0 h 341"/>
                  <a:gd name="T30" fmla="*/ 0 w 26"/>
                  <a:gd name="T31" fmla="*/ 0 h 341"/>
                  <a:gd name="T32" fmla="*/ 0 w 26"/>
                  <a:gd name="T33" fmla="*/ 0 h 341"/>
                  <a:gd name="T34" fmla="*/ 0 w 26"/>
                  <a:gd name="T35" fmla="*/ 0 h 341"/>
                  <a:gd name="T36" fmla="*/ 0 w 26"/>
                  <a:gd name="T37" fmla="*/ 0 h 3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341">
                    <a:moveTo>
                      <a:pt x="0" y="293"/>
                    </a:moveTo>
                    <a:lnTo>
                      <a:pt x="0" y="48"/>
                    </a:lnTo>
                    <a:lnTo>
                      <a:pt x="3" y="41"/>
                    </a:lnTo>
                    <a:lnTo>
                      <a:pt x="6" y="35"/>
                    </a:lnTo>
                    <a:lnTo>
                      <a:pt x="9" y="30"/>
                    </a:lnTo>
                    <a:lnTo>
                      <a:pt x="13" y="23"/>
                    </a:lnTo>
                    <a:lnTo>
                      <a:pt x="16" y="17"/>
                    </a:lnTo>
                    <a:lnTo>
                      <a:pt x="19" y="11"/>
                    </a:lnTo>
                    <a:lnTo>
                      <a:pt x="23" y="6"/>
                    </a:lnTo>
                    <a:lnTo>
                      <a:pt x="26" y="0"/>
                    </a:lnTo>
                    <a:lnTo>
                      <a:pt x="26" y="341"/>
                    </a:lnTo>
                    <a:lnTo>
                      <a:pt x="23" y="335"/>
                    </a:lnTo>
                    <a:lnTo>
                      <a:pt x="19" y="329"/>
                    </a:lnTo>
                    <a:lnTo>
                      <a:pt x="16" y="323"/>
                    </a:lnTo>
                    <a:lnTo>
                      <a:pt x="13" y="318"/>
                    </a:lnTo>
                    <a:lnTo>
                      <a:pt x="9" y="311"/>
                    </a:lnTo>
                    <a:lnTo>
                      <a:pt x="6" y="306"/>
                    </a:lnTo>
                    <a:lnTo>
                      <a:pt x="3" y="300"/>
                    </a:lnTo>
                    <a:lnTo>
                      <a:pt x="0" y="29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64" name="Freeform 3971"/>
              <p:cNvSpPr>
                <a:spLocks noChangeAspect="1"/>
              </p:cNvSpPr>
              <p:nvPr/>
            </p:nvSpPr>
            <p:spPr bwMode="auto">
              <a:xfrm>
                <a:off x="5296" y="1081"/>
                <a:ext cx="9" cy="126"/>
              </a:xfrm>
              <a:custGeom>
                <a:avLst/>
                <a:gdLst>
                  <a:gd name="T0" fmla="*/ 0 w 26"/>
                  <a:gd name="T1" fmla="*/ 0 h 376"/>
                  <a:gd name="T2" fmla="*/ 0 w 26"/>
                  <a:gd name="T3" fmla="*/ 0 h 376"/>
                  <a:gd name="T4" fmla="*/ 0 w 26"/>
                  <a:gd name="T5" fmla="*/ 0 h 376"/>
                  <a:gd name="T6" fmla="*/ 0 w 26"/>
                  <a:gd name="T7" fmla="*/ 0 h 376"/>
                  <a:gd name="T8" fmla="*/ 0 w 26"/>
                  <a:gd name="T9" fmla="*/ 0 h 376"/>
                  <a:gd name="T10" fmla="*/ 0 w 26"/>
                  <a:gd name="T11" fmla="*/ 0 h 376"/>
                  <a:gd name="T12" fmla="*/ 0 w 26"/>
                  <a:gd name="T13" fmla="*/ 0 h 376"/>
                  <a:gd name="T14" fmla="*/ 0 w 26"/>
                  <a:gd name="T15" fmla="*/ 0 h 376"/>
                  <a:gd name="T16" fmla="*/ 0 w 26"/>
                  <a:gd name="T17" fmla="*/ 0 h 376"/>
                  <a:gd name="T18" fmla="*/ 0 w 26"/>
                  <a:gd name="T19" fmla="*/ 0 h 376"/>
                  <a:gd name="T20" fmla="*/ 0 w 26"/>
                  <a:gd name="T21" fmla="*/ 0 h 376"/>
                  <a:gd name="T22" fmla="*/ 0 w 26"/>
                  <a:gd name="T23" fmla="*/ 0 h 376"/>
                  <a:gd name="T24" fmla="*/ 0 w 26"/>
                  <a:gd name="T25" fmla="*/ 0 h 376"/>
                  <a:gd name="T26" fmla="*/ 0 w 26"/>
                  <a:gd name="T27" fmla="*/ 0 h 376"/>
                  <a:gd name="T28" fmla="*/ 0 w 26"/>
                  <a:gd name="T29" fmla="*/ 0 h 376"/>
                  <a:gd name="T30" fmla="*/ 0 w 26"/>
                  <a:gd name="T31" fmla="*/ 0 h 376"/>
                  <a:gd name="T32" fmla="*/ 0 w 26"/>
                  <a:gd name="T33" fmla="*/ 0 h 376"/>
                  <a:gd name="T34" fmla="*/ 0 w 26"/>
                  <a:gd name="T35" fmla="*/ 0 h 376"/>
                  <a:gd name="T36" fmla="*/ 0 w 26"/>
                  <a:gd name="T37" fmla="*/ 0 h 3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376">
                    <a:moveTo>
                      <a:pt x="0" y="338"/>
                    </a:moveTo>
                    <a:lnTo>
                      <a:pt x="0" y="39"/>
                    </a:lnTo>
                    <a:lnTo>
                      <a:pt x="3" y="34"/>
                    </a:lnTo>
                    <a:lnTo>
                      <a:pt x="5" y="29"/>
                    </a:lnTo>
                    <a:lnTo>
                      <a:pt x="8" y="24"/>
                    </a:lnTo>
                    <a:lnTo>
                      <a:pt x="12" y="19"/>
                    </a:lnTo>
                    <a:lnTo>
                      <a:pt x="16" y="15"/>
                    </a:lnTo>
                    <a:lnTo>
                      <a:pt x="19" y="9"/>
                    </a:lnTo>
                    <a:lnTo>
                      <a:pt x="22" y="5"/>
                    </a:lnTo>
                    <a:lnTo>
                      <a:pt x="26" y="0"/>
                    </a:lnTo>
                    <a:lnTo>
                      <a:pt x="26" y="376"/>
                    </a:lnTo>
                    <a:lnTo>
                      <a:pt x="22" y="372"/>
                    </a:lnTo>
                    <a:lnTo>
                      <a:pt x="19" y="368"/>
                    </a:lnTo>
                    <a:lnTo>
                      <a:pt x="16" y="362"/>
                    </a:lnTo>
                    <a:lnTo>
                      <a:pt x="12" y="357"/>
                    </a:lnTo>
                    <a:lnTo>
                      <a:pt x="8" y="353"/>
                    </a:lnTo>
                    <a:lnTo>
                      <a:pt x="5" y="347"/>
                    </a:lnTo>
                    <a:lnTo>
                      <a:pt x="3" y="342"/>
                    </a:lnTo>
                    <a:lnTo>
                      <a:pt x="0" y="33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65" name="Freeform 3972"/>
              <p:cNvSpPr>
                <a:spLocks noChangeAspect="1"/>
              </p:cNvSpPr>
              <p:nvPr/>
            </p:nvSpPr>
            <p:spPr bwMode="auto">
              <a:xfrm>
                <a:off x="5300" y="1076"/>
                <a:ext cx="9" cy="136"/>
              </a:xfrm>
              <a:custGeom>
                <a:avLst/>
                <a:gdLst>
                  <a:gd name="T0" fmla="*/ 0 w 27"/>
                  <a:gd name="T1" fmla="*/ 0 h 407"/>
                  <a:gd name="T2" fmla="*/ 0 w 27"/>
                  <a:gd name="T3" fmla="*/ 0 h 407"/>
                  <a:gd name="T4" fmla="*/ 0 w 27"/>
                  <a:gd name="T5" fmla="*/ 0 h 407"/>
                  <a:gd name="T6" fmla="*/ 0 w 27"/>
                  <a:gd name="T7" fmla="*/ 0 h 407"/>
                  <a:gd name="T8" fmla="*/ 0 w 27"/>
                  <a:gd name="T9" fmla="*/ 0 h 407"/>
                  <a:gd name="T10" fmla="*/ 0 w 27"/>
                  <a:gd name="T11" fmla="*/ 0 h 407"/>
                  <a:gd name="T12" fmla="*/ 0 w 27"/>
                  <a:gd name="T13" fmla="*/ 0 h 407"/>
                  <a:gd name="T14" fmla="*/ 0 w 27"/>
                  <a:gd name="T15" fmla="*/ 0 h 407"/>
                  <a:gd name="T16" fmla="*/ 0 w 27"/>
                  <a:gd name="T17" fmla="*/ 0 h 407"/>
                  <a:gd name="T18" fmla="*/ 0 w 27"/>
                  <a:gd name="T19" fmla="*/ 0 h 407"/>
                  <a:gd name="T20" fmla="*/ 0 w 27"/>
                  <a:gd name="T21" fmla="*/ 0 h 407"/>
                  <a:gd name="T22" fmla="*/ 0 w 27"/>
                  <a:gd name="T23" fmla="*/ 0 h 407"/>
                  <a:gd name="T24" fmla="*/ 0 w 27"/>
                  <a:gd name="T25" fmla="*/ 0 h 407"/>
                  <a:gd name="T26" fmla="*/ 0 w 27"/>
                  <a:gd name="T27" fmla="*/ 0 h 407"/>
                  <a:gd name="T28" fmla="*/ 0 w 27"/>
                  <a:gd name="T29" fmla="*/ 0 h 407"/>
                  <a:gd name="T30" fmla="*/ 0 w 27"/>
                  <a:gd name="T31" fmla="*/ 0 h 407"/>
                  <a:gd name="T32" fmla="*/ 0 w 27"/>
                  <a:gd name="T33" fmla="*/ 0 h 407"/>
                  <a:gd name="T34" fmla="*/ 0 w 27"/>
                  <a:gd name="T35" fmla="*/ 0 h 407"/>
                  <a:gd name="T36" fmla="*/ 0 w 27"/>
                  <a:gd name="T37" fmla="*/ 0 h 40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07">
                    <a:moveTo>
                      <a:pt x="0" y="374"/>
                    </a:moveTo>
                    <a:lnTo>
                      <a:pt x="0" y="33"/>
                    </a:lnTo>
                    <a:lnTo>
                      <a:pt x="4" y="29"/>
                    </a:lnTo>
                    <a:lnTo>
                      <a:pt x="7" y="24"/>
                    </a:lnTo>
                    <a:lnTo>
                      <a:pt x="10" y="20"/>
                    </a:lnTo>
                    <a:lnTo>
                      <a:pt x="13" y="16"/>
                    </a:lnTo>
                    <a:lnTo>
                      <a:pt x="16" y="11"/>
                    </a:lnTo>
                    <a:lnTo>
                      <a:pt x="21" y="7"/>
                    </a:lnTo>
                    <a:lnTo>
                      <a:pt x="24" y="3"/>
                    </a:lnTo>
                    <a:lnTo>
                      <a:pt x="27" y="0"/>
                    </a:lnTo>
                    <a:lnTo>
                      <a:pt x="27" y="407"/>
                    </a:lnTo>
                    <a:lnTo>
                      <a:pt x="24" y="403"/>
                    </a:lnTo>
                    <a:lnTo>
                      <a:pt x="21" y="400"/>
                    </a:lnTo>
                    <a:lnTo>
                      <a:pt x="16" y="395"/>
                    </a:lnTo>
                    <a:lnTo>
                      <a:pt x="13" y="391"/>
                    </a:lnTo>
                    <a:lnTo>
                      <a:pt x="10" y="387"/>
                    </a:lnTo>
                    <a:lnTo>
                      <a:pt x="7" y="383"/>
                    </a:lnTo>
                    <a:lnTo>
                      <a:pt x="4" y="378"/>
                    </a:lnTo>
                    <a:lnTo>
                      <a:pt x="0" y="37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66" name="Freeform 3973"/>
              <p:cNvSpPr>
                <a:spLocks noChangeAspect="1"/>
              </p:cNvSpPr>
              <p:nvPr/>
            </p:nvSpPr>
            <p:spPr bwMode="auto">
              <a:xfrm>
                <a:off x="5305" y="1072"/>
                <a:ext cx="9" cy="145"/>
              </a:xfrm>
              <a:custGeom>
                <a:avLst/>
                <a:gdLst>
                  <a:gd name="T0" fmla="*/ 0 w 27"/>
                  <a:gd name="T1" fmla="*/ 0 h 435"/>
                  <a:gd name="T2" fmla="*/ 0 w 27"/>
                  <a:gd name="T3" fmla="*/ 0 h 435"/>
                  <a:gd name="T4" fmla="*/ 0 w 27"/>
                  <a:gd name="T5" fmla="*/ 0 h 435"/>
                  <a:gd name="T6" fmla="*/ 0 w 27"/>
                  <a:gd name="T7" fmla="*/ 0 h 435"/>
                  <a:gd name="T8" fmla="*/ 0 w 27"/>
                  <a:gd name="T9" fmla="*/ 0 h 435"/>
                  <a:gd name="T10" fmla="*/ 0 w 27"/>
                  <a:gd name="T11" fmla="*/ 0 h 435"/>
                  <a:gd name="T12" fmla="*/ 0 w 27"/>
                  <a:gd name="T13" fmla="*/ 0 h 435"/>
                  <a:gd name="T14" fmla="*/ 0 w 27"/>
                  <a:gd name="T15" fmla="*/ 0 h 435"/>
                  <a:gd name="T16" fmla="*/ 0 w 27"/>
                  <a:gd name="T17" fmla="*/ 0 h 435"/>
                  <a:gd name="T18" fmla="*/ 0 w 27"/>
                  <a:gd name="T19" fmla="*/ 0 h 435"/>
                  <a:gd name="T20" fmla="*/ 0 w 27"/>
                  <a:gd name="T21" fmla="*/ 0 h 435"/>
                  <a:gd name="T22" fmla="*/ 0 w 27"/>
                  <a:gd name="T23" fmla="*/ 0 h 435"/>
                  <a:gd name="T24" fmla="*/ 0 w 27"/>
                  <a:gd name="T25" fmla="*/ 0 h 435"/>
                  <a:gd name="T26" fmla="*/ 0 w 27"/>
                  <a:gd name="T27" fmla="*/ 0 h 435"/>
                  <a:gd name="T28" fmla="*/ 0 w 27"/>
                  <a:gd name="T29" fmla="*/ 0 h 435"/>
                  <a:gd name="T30" fmla="*/ 0 w 27"/>
                  <a:gd name="T31" fmla="*/ 0 h 435"/>
                  <a:gd name="T32" fmla="*/ 0 w 27"/>
                  <a:gd name="T33" fmla="*/ 0 h 435"/>
                  <a:gd name="T34" fmla="*/ 0 w 27"/>
                  <a:gd name="T35" fmla="*/ 0 h 435"/>
                  <a:gd name="T36" fmla="*/ 0 w 27"/>
                  <a:gd name="T37" fmla="*/ 0 h 4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35">
                    <a:moveTo>
                      <a:pt x="0" y="405"/>
                    </a:moveTo>
                    <a:lnTo>
                      <a:pt x="0" y="29"/>
                    </a:lnTo>
                    <a:lnTo>
                      <a:pt x="3" y="25"/>
                    </a:lnTo>
                    <a:lnTo>
                      <a:pt x="7" y="21"/>
                    </a:lnTo>
                    <a:lnTo>
                      <a:pt x="10" y="18"/>
                    </a:lnTo>
                    <a:lnTo>
                      <a:pt x="13" y="14"/>
                    </a:lnTo>
                    <a:lnTo>
                      <a:pt x="16" y="11"/>
                    </a:lnTo>
                    <a:lnTo>
                      <a:pt x="19" y="6"/>
                    </a:lnTo>
                    <a:lnTo>
                      <a:pt x="23" y="3"/>
                    </a:lnTo>
                    <a:lnTo>
                      <a:pt x="27" y="0"/>
                    </a:lnTo>
                    <a:lnTo>
                      <a:pt x="27" y="435"/>
                    </a:lnTo>
                    <a:lnTo>
                      <a:pt x="23" y="432"/>
                    </a:lnTo>
                    <a:lnTo>
                      <a:pt x="19" y="428"/>
                    </a:lnTo>
                    <a:lnTo>
                      <a:pt x="16" y="424"/>
                    </a:lnTo>
                    <a:lnTo>
                      <a:pt x="13" y="421"/>
                    </a:lnTo>
                    <a:lnTo>
                      <a:pt x="10" y="417"/>
                    </a:lnTo>
                    <a:lnTo>
                      <a:pt x="7" y="414"/>
                    </a:lnTo>
                    <a:lnTo>
                      <a:pt x="3" y="409"/>
                    </a:lnTo>
                    <a:lnTo>
                      <a:pt x="0" y="40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67" name="Freeform 3974"/>
              <p:cNvSpPr>
                <a:spLocks noChangeAspect="1"/>
              </p:cNvSpPr>
              <p:nvPr/>
            </p:nvSpPr>
            <p:spPr bwMode="auto">
              <a:xfrm>
                <a:off x="5309" y="1067"/>
                <a:ext cx="9" cy="154"/>
              </a:xfrm>
              <a:custGeom>
                <a:avLst/>
                <a:gdLst>
                  <a:gd name="T0" fmla="*/ 0 w 27"/>
                  <a:gd name="T1" fmla="*/ 0 h 461"/>
                  <a:gd name="T2" fmla="*/ 0 w 27"/>
                  <a:gd name="T3" fmla="*/ 0 h 461"/>
                  <a:gd name="T4" fmla="*/ 0 w 27"/>
                  <a:gd name="T5" fmla="*/ 0 h 461"/>
                  <a:gd name="T6" fmla="*/ 0 w 27"/>
                  <a:gd name="T7" fmla="*/ 0 h 461"/>
                  <a:gd name="T8" fmla="*/ 0 w 27"/>
                  <a:gd name="T9" fmla="*/ 0 h 461"/>
                  <a:gd name="T10" fmla="*/ 0 w 27"/>
                  <a:gd name="T11" fmla="*/ 0 h 461"/>
                  <a:gd name="T12" fmla="*/ 0 w 27"/>
                  <a:gd name="T13" fmla="*/ 0 h 461"/>
                  <a:gd name="T14" fmla="*/ 0 w 27"/>
                  <a:gd name="T15" fmla="*/ 0 h 461"/>
                  <a:gd name="T16" fmla="*/ 0 w 27"/>
                  <a:gd name="T17" fmla="*/ 0 h 461"/>
                  <a:gd name="T18" fmla="*/ 0 w 27"/>
                  <a:gd name="T19" fmla="*/ 0 h 461"/>
                  <a:gd name="T20" fmla="*/ 0 w 27"/>
                  <a:gd name="T21" fmla="*/ 0 h 461"/>
                  <a:gd name="T22" fmla="*/ 0 w 27"/>
                  <a:gd name="T23" fmla="*/ 0 h 461"/>
                  <a:gd name="T24" fmla="*/ 0 w 27"/>
                  <a:gd name="T25" fmla="*/ 0 h 461"/>
                  <a:gd name="T26" fmla="*/ 0 w 27"/>
                  <a:gd name="T27" fmla="*/ 0 h 461"/>
                  <a:gd name="T28" fmla="*/ 0 w 27"/>
                  <a:gd name="T29" fmla="*/ 0 h 461"/>
                  <a:gd name="T30" fmla="*/ 0 w 27"/>
                  <a:gd name="T31" fmla="*/ 0 h 461"/>
                  <a:gd name="T32" fmla="*/ 0 w 27"/>
                  <a:gd name="T33" fmla="*/ 0 h 461"/>
                  <a:gd name="T34" fmla="*/ 0 w 27"/>
                  <a:gd name="T35" fmla="*/ 0 h 461"/>
                  <a:gd name="T36" fmla="*/ 0 w 27"/>
                  <a:gd name="T37" fmla="*/ 0 h 4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61">
                    <a:moveTo>
                      <a:pt x="0" y="434"/>
                    </a:moveTo>
                    <a:lnTo>
                      <a:pt x="0" y="27"/>
                    </a:lnTo>
                    <a:lnTo>
                      <a:pt x="3" y="23"/>
                    </a:lnTo>
                    <a:lnTo>
                      <a:pt x="6" y="19"/>
                    </a:lnTo>
                    <a:lnTo>
                      <a:pt x="10" y="16"/>
                    </a:lnTo>
                    <a:lnTo>
                      <a:pt x="13" y="13"/>
                    </a:lnTo>
                    <a:lnTo>
                      <a:pt x="16" y="10"/>
                    </a:lnTo>
                    <a:lnTo>
                      <a:pt x="20" y="7"/>
                    </a:lnTo>
                    <a:lnTo>
                      <a:pt x="23" y="3"/>
                    </a:lnTo>
                    <a:lnTo>
                      <a:pt x="27" y="0"/>
                    </a:lnTo>
                    <a:lnTo>
                      <a:pt x="27" y="461"/>
                    </a:lnTo>
                    <a:lnTo>
                      <a:pt x="23" y="457"/>
                    </a:lnTo>
                    <a:lnTo>
                      <a:pt x="20" y="454"/>
                    </a:lnTo>
                    <a:lnTo>
                      <a:pt x="16" y="451"/>
                    </a:lnTo>
                    <a:lnTo>
                      <a:pt x="13" y="448"/>
                    </a:lnTo>
                    <a:lnTo>
                      <a:pt x="10" y="445"/>
                    </a:lnTo>
                    <a:lnTo>
                      <a:pt x="6" y="441"/>
                    </a:lnTo>
                    <a:lnTo>
                      <a:pt x="3" y="437"/>
                    </a:lnTo>
                    <a:lnTo>
                      <a:pt x="0" y="43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68" name="Freeform 3975"/>
              <p:cNvSpPr>
                <a:spLocks noChangeAspect="1"/>
              </p:cNvSpPr>
              <p:nvPr/>
            </p:nvSpPr>
            <p:spPr bwMode="auto">
              <a:xfrm>
                <a:off x="5314" y="1064"/>
                <a:ext cx="8" cy="160"/>
              </a:xfrm>
              <a:custGeom>
                <a:avLst/>
                <a:gdLst>
                  <a:gd name="T0" fmla="*/ 0 w 26"/>
                  <a:gd name="T1" fmla="*/ 0 h 481"/>
                  <a:gd name="T2" fmla="*/ 0 w 26"/>
                  <a:gd name="T3" fmla="*/ 0 h 481"/>
                  <a:gd name="T4" fmla="*/ 0 w 26"/>
                  <a:gd name="T5" fmla="*/ 0 h 481"/>
                  <a:gd name="T6" fmla="*/ 0 w 26"/>
                  <a:gd name="T7" fmla="*/ 0 h 481"/>
                  <a:gd name="T8" fmla="*/ 0 w 26"/>
                  <a:gd name="T9" fmla="*/ 0 h 481"/>
                  <a:gd name="T10" fmla="*/ 0 w 26"/>
                  <a:gd name="T11" fmla="*/ 0 h 481"/>
                  <a:gd name="T12" fmla="*/ 0 w 26"/>
                  <a:gd name="T13" fmla="*/ 0 h 481"/>
                  <a:gd name="T14" fmla="*/ 0 w 26"/>
                  <a:gd name="T15" fmla="*/ 0 h 481"/>
                  <a:gd name="T16" fmla="*/ 0 w 26"/>
                  <a:gd name="T17" fmla="*/ 0 h 481"/>
                  <a:gd name="T18" fmla="*/ 0 w 26"/>
                  <a:gd name="T19" fmla="*/ 0 h 481"/>
                  <a:gd name="T20" fmla="*/ 0 w 26"/>
                  <a:gd name="T21" fmla="*/ 0 h 481"/>
                  <a:gd name="T22" fmla="*/ 0 w 26"/>
                  <a:gd name="T23" fmla="*/ 0 h 481"/>
                  <a:gd name="T24" fmla="*/ 0 w 26"/>
                  <a:gd name="T25" fmla="*/ 0 h 481"/>
                  <a:gd name="T26" fmla="*/ 0 w 26"/>
                  <a:gd name="T27" fmla="*/ 0 h 481"/>
                  <a:gd name="T28" fmla="*/ 0 w 26"/>
                  <a:gd name="T29" fmla="*/ 0 h 481"/>
                  <a:gd name="T30" fmla="*/ 0 w 26"/>
                  <a:gd name="T31" fmla="*/ 0 h 481"/>
                  <a:gd name="T32" fmla="*/ 0 w 26"/>
                  <a:gd name="T33" fmla="*/ 0 h 481"/>
                  <a:gd name="T34" fmla="*/ 0 w 26"/>
                  <a:gd name="T35" fmla="*/ 0 h 481"/>
                  <a:gd name="T36" fmla="*/ 0 w 26"/>
                  <a:gd name="T37" fmla="*/ 0 h 48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81">
                    <a:moveTo>
                      <a:pt x="0" y="458"/>
                    </a:moveTo>
                    <a:lnTo>
                      <a:pt x="0" y="23"/>
                    </a:lnTo>
                    <a:lnTo>
                      <a:pt x="3" y="20"/>
                    </a:lnTo>
                    <a:lnTo>
                      <a:pt x="6" y="17"/>
                    </a:lnTo>
                    <a:lnTo>
                      <a:pt x="9" y="13"/>
                    </a:lnTo>
                    <a:lnTo>
                      <a:pt x="13" y="10"/>
                    </a:lnTo>
                    <a:lnTo>
                      <a:pt x="16" y="7"/>
                    </a:lnTo>
                    <a:lnTo>
                      <a:pt x="19" y="5"/>
                    </a:lnTo>
                    <a:lnTo>
                      <a:pt x="22" y="2"/>
                    </a:lnTo>
                    <a:lnTo>
                      <a:pt x="26" y="0"/>
                    </a:lnTo>
                    <a:lnTo>
                      <a:pt x="26" y="481"/>
                    </a:lnTo>
                    <a:lnTo>
                      <a:pt x="22" y="479"/>
                    </a:lnTo>
                    <a:lnTo>
                      <a:pt x="19" y="476"/>
                    </a:lnTo>
                    <a:lnTo>
                      <a:pt x="16" y="473"/>
                    </a:lnTo>
                    <a:lnTo>
                      <a:pt x="13" y="471"/>
                    </a:lnTo>
                    <a:lnTo>
                      <a:pt x="9" y="467"/>
                    </a:lnTo>
                    <a:lnTo>
                      <a:pt x="6" y="464"/>
                    </a:lnTo>
                    <a:lnTo>
                      <a:pt x="3" y="461"/>
                    </a:lnTo>
                    <a:lnTo>
                      <a:pt x="0" y="45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69" name="Freeform 3976"/>
              <p:cNvSpPr>
                <a:spLocks noChangeAspect="1"/>
              </p:cNvSpPr>
              <p:nvPr/>
            </p:nvSpPr>
            <p:spPr bwMode="auto">
              <a:xfrm>
                <a:off x="5318" y="1060"/>
                <a:ext cx="9" cy="168"/>
              </a:xfrm>
              <a:custGeom>
                <a:avLst/>
                <a:gdLst>
                  <a:gd name="T0" fmla="*/ 0 w 26"/>
                  <a:gd name="T1" fmla="*/ 0 h 503"/>
                  <a:gd name="T2" fmla="*/ 0 w 26"/>
                  <a:gd name="T3" fmla="*/ 0 h 503"/>
                  <a:gd name="T4" fmla="*/ 0 w 26"/>
                  <a:gd name="T5" fmla="*/ 0 h 503"/>
                  <a:gd name="T6" fmla="*/ 0 w 26"/>
                  <a:gd name="T7" fmla="*/ 0 h 503"/>
                  <a:gd name="T8" fmla="*/ 0 w 26"/>
                  <a:gd name="T9" fmla="*/ 0 h 503"/>
                  <a:gd name="T10" fmla="*/ 0 w 26"/>
                  <a:gd name="T11" fmla="*/ 0 h 503"/>
                  <a:gd name="T12" fmla="*/ 0 w 26"/>
                  <a:gd name="T13" fmla="*/ 0 h 503"/>
                  <a:gd name="T14" fmla="*/ 0 w 26"/>
                  <a:gd name="T15" fmla="*/ 0 h 503"/>
                  <a:gd name="T16" fmla="*/ 0 w 26"/>
                  <a:gd name="T17" fmla="*/ 0 h 503"/>
                  <a:gd name="T18" fmla="*/ 0 w 26"/>
                  <a:gd name="T19" fmla="*/ 0 h 503"/>
                  <a:gd name="T20" fmla="*/ 0 w 26"/>
                  <a:gd name="T21" fmla="*/ 0 h 503"/>
                  <a:gd name="T22" fmla="*/ 0 w 26"/>
                  <a:gd name="T23" fmla="*/ 0 h 503"/>
                  <a:gd name="T24" fmla="*/ 0 w 26"/>
                  <a:gd name="T25" fmla="*/ 0 h 503"/>
                  <a:gd name="T26" fmla="*/ 0 w 26"/>
                  <a:gd name="T27" fmla="*/ 0 h 503"/>
                  <a:gd name="T28" fmla="*/ 0 w 26"/>
                  <a:gd name="T29" fmla="*/ 0 h 503"/>
                  <a:gd name="T30" fmla="*/ 0 w 26"/>
                  <a:gd name="T31" fmla="*/ 0 h 503"/>
                  <a:gd name="T32" fmla="*/ 0 w 26"/>
                  <a:gd name="T33" fmla="*/ 0 h 503"/>
                  <a:gd name="T34" fmla="*/ 0 w 26"/>
                  <a:gd name="T35" fmla="*/ 0 h 503"/>
                  <a:gd name="T36" fmla="*/ 0 w 26"/>
                  <a:gd name="T37" fmla="*/ 0 h 5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03">
                    <a:moveTo>
                      <a:pt x="0" y="482"/>
                    </a:moveTo>
                    <a:lnTo>
                      <a:pt x="0" y="21"/>
                    </a:lnTo>
                    <a:lnTo>
                      <a:pt x="3" y="18"/>
                    </a:lnTo>
                    <a:lnTo>
                      <a:pt x="6" y="16"/>
                    </a:lnTo>
                    <a:lnTo>
                      <a:pt x="9" y="13"/>
                    </a:lnTo>
                    <a:lnTo>
                      <a:pt x="12" y="11"/>
                    </a:lnTo>
                    <a:lnTo>
                      <a:pt x="16" y="7"/>
                    </a:lnTo>
                    <a:lnTo>
                      <a:pt x="20" y="5"/>
                    </a:lnTo>
                    <a:lnTo>
                      <a:pt x="23" y="2"/>
                    </a:lnTo>
                    <a:lnTo>
                      <a:pt x="26" y="0"/>
                    </a:lnTo>
                    <a:lnTo>
                      <a:pt x="26" y="503"/>
                    </a:lnTo>
                    <a:lnTo>
                      <a:pt x="23" y="500"/>
                    </a:lnTo>
                    <a:lnTo>
                      <a:pt x="20" y="498"/>
                    </a:lnTo>
                    <a:lnTo>
                      <a:pt x="16" y="495"/>
                    </a:lnTo>
                    <a:lnTo>
                      <a:pt x="12" y="492"/>
                    </a:lnTo>
                    <a:lnTo>
                      <a:pt x="9" y="490"/>
                    </a:lnTo>
                    <a:lnTo>
                      <a:pt x="6" y="487"/>
                    </a:lnTo>
                    <a:lnTo>
                      <a:pt x="3" y="484"/>
                    </a:lnTo>
                    <a:lnTo>
                      <a:pt x="0" y="48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70" name="Freeform 3977"/>
              <p:cNvSpPr>
                <a:spLocks noChangeAspect="1"/>
              </p:cNvSpPr>
              <p:nvPr/>
            </p:nvSpPr>
            <p:spPr bwMode="auto">
              <a:xfrm>
                <a:off x="5322" y="1057"/>
                <a:ext cx="9" cy="174"/>
              </a:xfrm>
              <a:custGeom>
                <a:avLst/>
                <a:gdLst>
                  <a:gd name="T0" fmla="*/ 0 w 27"/>
                  <a:gd name="T1" fmla="*/ 0 h 520"/>
                  <a:gd name="T2" fmla="*/ 0 w 27"/>
                  <a:gd name="T3" fmla="*/ 0 h 520"/>
                  <a:gd name="T4" fmla="*/ 0 w 27"/>
                  <a:gd name="T5" fmla="*/ 0 h 520"/>
                  <a:gd name="T6" fmla="*/ 0 w 27"/>
                  <a:gd name="T7" fmla="*/ 0 h 520"/>
                  <a:gd name="T8" fmla="*/ 0 w 27"/>
                  <a:gd name="T9" fmla="*/ 0 h 520"/>
                  <a:gd name="T10" fmla="*/ 0 w 27"/>
                  <a:gd name="T11" fmla="*/ 0 h 520"/>
                  <a:gd name="T12" fmla="*/ 0 w 27"/>
                  <a:gd name="T13" fmla="*/ 0 h 520"/>
                  <a:gd name="T14" fmla="*/ 0 w 27"/>
                  <a:gd name="T15" fmla="*/ 0 h 520"/>
                  <a:gd name="T16" fmla="*/ 0 w 27"/>
                  <a:gd name="T17" fmla="*/ 0 h 520"/>
                  <a:gd name="T18" fmla="*/ 0 w 27"/>
                  <a:gd name="T19" fmla="*/ 0 h 520"/>
                  <a:gd name="T20" fmla="*/ 0 w 27"/>
                  <a:gd name="T21" fmla="*/ 0 h 520"/>
                  <a:gd name="T22" fmla="*/ 0 w 27"/>
                  <a:gd name="T23" fmla="*/ 0 h 520"/>
                  <a:gd name="T24" fmla="*/ 0 w 27"/>
                  <a:gd name="T25" fmla="*/ 0 h 520"/>
                  <a:gd name="T26" fmla="*/ 0 w 27"/>
                  <a:gd name="T27" fmla="*/ 0 h 520"/>
                  <a:gd name="T28" fmla="*/ 0 w 27"/>
                  <a:gd name="T29" fmla="*/ 0 h 520"/>
                  <a:gd name="T30" fmla="*/ 0 w 27"/>
                  <a:gd name="T31" fmla="*/ 0 h 520"/>
                  <a:gd name="T32" fmla="*/ 0 w 27"/>
                  <a:gd name="T33" fmla="*/ 0 h 520"/>
                  <a:gd name="T34" fmla="*/ 0 w 27"/>
                  <a:gd name="T35" fmla="*/ 0 h 520"/>
                  <a:gd name="T36" fmla="*/ 0 w 27"/>
                  <a:gd name="T37" fmla="*/ 0 h 5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20">
                    <a:moveTo>
                      <a:pt x="0" y="501"/>
                    </a:moveTo>
                    <a:lnTo>
                      <a:pt x="0" y="20"/>
                    </a:lnTo>
                    <a:lnTo>
                      <a:pt x="4" y="16"/>
                    </a:lnTo>
                    <a:lnTo>
                      <a:pt x="7" y="14"/>
                    </a:lnTo>
                    <a:lnTo>
                      <a:pt x="10" y="12"/>
                    </a:lnTo>
                    <a:lnTo>
                      <a:pt x="13" y="9"/>
                    </a:lnTo>
                    <a:lnTo>
                      <a:pt x="16" y="7"/>
                    </a:lnTo>
                    <a:lnTo>
                      <a:pt x="20" y="5"/>
                    </a:lnTo>
                    <a:lnTo>
                      <a:pt x="23" y="3"/>
                    </a:lnTo>
                    <a:lnTo>
                      <a:pt x="27" y="0"/>
                    </a:lnTo>
                    <a:lnTo>
                      <a:pt x="27" y="520"/>
                    </a:lnTo>
                    <a:lnTo>
                      <a:pt x="23" y="518"/>
                    </a:lnTo>
                    <a:lnTo>
                      <a:pt x="20" y="516"/>
                    </a:lnTo>
                    <a:lnTo>
                      <a:pt x="16" y="514"/>
                    </a:lnTo>
                    <a:lnTo>
                      <a:pt x="13" y="511"/>
                    </a:lnTo>
                    <a:lnTo>
                      <a:pt x="10" y="509"/>
                    </a:lnTo>
                    <a:lnTo>
                      <a:pt x="7" y="507"/>
                    </a:lnTo>
                    <a:lnTo>
                      <a:pt x="4" y="504"/>
                    </a:lnTo>
                    <a:lnTo>
                      <a:pt x="0" y="50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71" name="Freeform 3978"/>
              <p:cNvSpPr>
                <a:spLocks noChangeAspect="1"/>
              </p:cNvSpPr>
              <p:nvPr/>
            </p:nvSpPr>
            <p:spPr bwMode="auto">
              <a:xfrm>
                <a:off x="5327" y="1055"/>
                <a:ext cx="9" cy="179"/>
              </a:xfrm>
              <a:custGeom>
                <a:avLst/>
                <a:gdLst>
                  <a:gd name="T0" fmla="*/ 0 w 27"/>
                  <a:gd name="T1" fmla="*/ 0 h 537"/>
                  <a:gd name="T2" fmla="*/ 0 w 27"/>
                  <a:gd name="T3" fmla="*/ 0 h 537"/>
                  <a:gd name="T4" fmla="*/ 0 w 27"/>
                  <a:gd name="T5" fmla="*/ 0 h 537"/>
                  <a:gd name="T6" fmla="*/ 0 w 27"/>
                  <a:gd name="T7" fmla="*/ 0 h 537"/>
                  <a:gd name="T8" fmla="*/ 0 w 27"/>
                  <a:gd name="T9" fmla="*/ 0 h 537"/>
                  <a:gd name="T10" fmla="*/ 0 w 27"/>
                  <a:gd name="T11" fmla="*/ 0 h 537"/>
                  <a:gd name="T12" fmla="*/ 0 w 27"/>
                  <a:gd name="T13" fmla="*/ 0 h 537"/>
                  <a:gd name="T14" fmla="*/ 0 w 27"/>
                  <a:gd name="T15" fmla="*/ 0 h 537"/>
                  <a:gd name="T16" fmla="*/ 0 w 27"/>
                  <a:gd name="T17" fmla="*/ 0 h 537"/>
                  <a:gd name="T18" fmla="*/ 0 w 27"/>
                  <a:gd name="T19" fmla="*/ 0 h 537"/>
                  <a:gd name="T20" fmla="*/ 0 w 27"/>
                  <a:gd name="T21" fmla="*/ 0 h 537"/>
                  <a:gd name="T22" fmla="*/ 0 w 27"/>
                  <a:gd name="T23" fmla="*/ 0 h 537"/>
                  <a:gd name="T24" fmla="*/ 0 w 27"/>
                  <a:gd name="T25" fmla="*/ 0 h 537"/>
                  <a:gd name="T26" fmla="*/ 0 w 27"/>
                  <a:gd name="T27" fmla="*/ 0 h 537"/>
                  <a:gd name="T28" fmla="*/ 0 w 27"/>
                  <a:gd name="T29" fmla="*/ 0 h 537"/>
                  <a:gd name="T30" fmla="*/ 0 w 27"/>
                  <a:gd name="T31" fmla="*/ 0 h 537"/>
                  <a:gd name="T32" fmla="*/ 0 w 27"/>
                  <a:gd name="T33" fmla="*/ 0 h 537"/>
                  <a:gd name="T34" fmla="*/ 0 w 27"/>
                  <a:gd name="T35" fmla="*/ 0 h 537"/>
                  <a:gd name="T36" fmla="*/ 0 w 27"/>
                  <a:gd name="T37" fmla="*/ 0 h 5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37">
                    <a:moveTo>
                      <a:pt x="0" y="520"/>
                    </a:moveTo>
                    <a:lnTo>
                      <a:pt x="0" y="17"/>
                    </a:lnTo>
                    <a:lnTo>
                      <a:pt x="3" y="15"/>
                    </a:lnTo>
                    <a:lnTo>
                      <a:pt x="7" y="13"/>
                    </a:lnTo>
                    <a:lnTo>
                      <a:pt x="10" y="11"/>
                    </a:lnTo>
                    <a:lnTo>
                      <a:pt x="13" y="8"/>
                    </a:lnTo>
                    <a:lnTo>
                      <a:pt x="16" y="6"/>
                    </a:lnTo>
                    <a:lnTo>
                      <a:pt x="20" y="4"/>
                    </a:lnTo>
                    <a:lnTo>
                      <a:pt x="24" y="2"/>
                    </a:lnTo>
                    <a:lnTo>
                      <a:pt x="27" y="0"/>
                    </a:lnTo>
                    <a:lnTo>
                      <a:pt x="27" y="537"/>
                    </a:lnTo>
                    <a:lnTo>
                      <a:pt x="24" y="535"/>
                    </a:lnTo>
                    <a:lnTo>
                      <a:pt x="20" y="533"/>
                    </a:lnTo>
                    <a:lnTo>
                      <a:pt x="16" y="530"/>
                    </a:lnTo>
                    <a:lnTo>
                      <a:pt x="13" y="528"/>
                    </a:lnTo>
                    <a:lnTo>
                      <a:pt x="10" y="526"/>
                    </a:lnTo>
                    <a:lnTo>
                      <a:pt x="7" y="524"/>
                    </a:lnTo>
                    <a:lnTo>
                      <a:pt x="3" y="522"/>
                    </a:lnTo>
                    <a:lnTo>
                      <a:pt x="0" y="5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72" name="Freeform 3979"/>
              <p:cNvSpPr>
                <a:spLocks noChangeAspect="1"/>
              </p:cNvSpPr>
              <p:nvPr/>
            </p:nvSpPr>
            <p:spPr bwMode="auto">
              <a:xfrm>
                <a:off x="5331" y="1052"/>
                <a:ext cx="9" cy="184"/>
              </a:xfrm>
              <a:custGeom>
                <a:avLst/>
                <a:gdLst>
                  <a:gd name="T0" fmla="*/ 0 w 27"/>
                  <a:gd name="T1" fmla="*/ 0 h 551"/>
                  <a:gd name="T2" fmla="*/ 0 w 27"/>
                  <a:gd name="T3" fmla="*/ 0 h 551"/>
                  <a:gd name="T4" fmla="*/ 0 w 27"/>
                  <a:gd name="T5" fmla="*/ 0 h 551"/>
                  <a:gd name="T6" fmla="*/ 0 w 27"/>
                  <a:gd name="T7" fmla="*/ 0 h 551"/>
                  <a:gd name="T8" fmla="*/ 0 w 27"/>
                  <a:gd name="T9" fmla="*/ 0 h 551"/>
                  <a:gd name="T10" fmla="*/ 0 w 27"/>
                  <a:gd name="T11" fmla="*/ 0 h 551"/>
                  <a:gd name="T12" fmla="*/ 0 w 27"/>
                  <a:gd name="T13" fmla="*/ 0 h 551"/>
                  <a:gd name="T14" fmla="*/ 0 w 27"/>
                  <a:gd name="T15" fmla="*/ 0 h 551"/>
                  <a:gd name="T16" fmla="*/ 0 w 27"/>
                  <a:gd name="T17" fmla="*/ 0 h 551"/>
                  <a:gd name="T18" fmla="*/ 0 w 27"/>
                  <a:gd name="T19" fmla="*/ 0 h 551"/>
                  <a:gd name="T20" fmla="*/ 0 w 27"/>
                  <a:gd name="T21" fmla="*/ 0 h 551"/>
                  <a:gd name="T22" fmla="*/ 0 w 27"/>
                  <a:gd name="T23" fmla="*/ 0 h 551"/>
                  <a:gd name="T24" fmla="*/ 0 w 27"/>
                  <a:gd name="T25" fmla="*/ 0 h 551"/>
                  <a:gd name="T26" fmla="*/ 0 w 27"/>
                  <a:gd name="T27" fmla="*/ 0 h 551"/>
                  <a:gd name="T28" fmla="*/ 0 w 27"/>
                  <a:gd name="T29" fmla="*/ 0 h 551"/>
                  <a:gd name="T30" fmla="*/ 0 w 27"/>
                  <a:gd name="T31" fmla="*/ 0 h 551"/>
                  <a:gd name="T32" fmla="*/ 0 w 27"/>
                  <a:gd name="T33" fmla="*/ 0 h 551"/>
                  <a:gd name="T34" fmla="*/ 0 w 27"/>
                  <a:gd name="T35" fmla="*/ 0 h 551"/>
                  <a:gd name="T36" fmla="*/ 0 w 27"/>
                  <a:gd name="T37" fmla="*/ 0 h 5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51">
                    <a:moveTo>
                      <a:pt x="0" y="535"/>
                    </a:moveTo>
                    <a:lnTo>
                      <a:pt x="0" y="15"/>
                    </a:lnTo>
                    <a:lnTo>
                      <a:pt x="3" y="13"/>
                    </a:lnTo>
                    <a:lnTo>
                      <a:pt x="6" y="11"/>
                    </a:lnTo>
                    <a:lnTo>
                      <a:pt x="10" y="9"/>
                    </a:lnTo>
                    <a:lnTo>
                      <a:pt x="13" y="7"/>
                    </a:lnTo>
                    <a:lnTo>
                      <a:pt x="16" y="5"/>
                    </a:lnTo>
                    <a:lnTo>
                      <a:pt x="19" y="4"/>
                    </a:lnTo>
                    <a:lnTo>
                      <a:pt x="22" y="2"/>
                    </a:lnTo>
                    <a:lnTo>
                      <a:pt x="27" y="0"/>
                    </a:lnTo>
                    <a:lnTo>
                      <a:pt x="27" y="551"/>
                    </a:lnTo>
                    <a:lnTo>
                      <a:pt x="22" y="549"/>
                    </a:lnTo>
                    <a:lnTo>
                      <a:pt x="19" y="547"/>
                    </a:lnTo>
                    <a:lnTo>
                      <a:pt x="16" y="545"/>
                    </a:lnTo>
                    <a:lnTo>
                      <a:pt x="13" y="544"/>
                    </a:lnTo>
                    <a:lnTo>
                      <a:pt x="10" y="542"/>
                    </a:lnTo>
                    <a:lnTo>
                      <a:pt x="6" y="540"/>
                    </a:lnTo>
                    <a:lnTo>
                      <a:pt x="3" y="537"/>
                    </a:lnTo>
                    <a:lnTo>
                      <a:pt x="0" y="53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73" name="Freeform 3980"/>
              <p:cNvSpPr>
                <a:spLocks noChangeAspect="1"/>
              </p:cNvSpPr>
              <p:nvPr/>
            </p:nvSpPr>
            <p:spPr bwMode="auto">
              <a:xfrm>
                <a:off x="5336" y="1050"/>
                <a:ext cx="8" cy="188"/>
              </a:xfrm>
              <a:custGeom>
                <a:avLst/>
                <a:gdLst>
                  <a:gd name="T0" fmla="*/ 0 w 26"/>
                  <a:gd name="T1" fmla="*/ 0 h 565"/>
                  <a:gd name="T2" fmla="*/ 0 w 26"/>
                  <a:gd name="T3" fmla="*/ 0 h 565"/>
                  <a:gd name="T4" fmla="*/ 0 w 26"/>
                  <a:gd name="T5" fmla="*/ 0 h 565"/>
                  <a:gd name="T6" fmla="*/ 0 w 26"/>
                  <a:gd name="T7" fmla="*/ 0 h 565"/>
                  <a:gd name="T8" fmla="*/ 0 w 26"/>
                  <a:gd name="T9" fmla="*/ 0 h 565"/>
                  <a:gd name="T10" fmla="*/ 0 w 26"/>
                  <a:gd name="T11" fmla="*/ 0 h 565"/>
                  <a:gd name="T12" fmla="*/ 0 w 26"/>
                  <a:gd name="T13" fmla="*/ 0 h 565"/>
                  <a:gd name="T14" fmla="*/ 0 w 26"/>
                  <a:gd name="T15" fmla="*/ 0 h 565"/>
                  <a:gd name="T16" fmla="*/ 0 w 26"/>
                  <a:gd name="T17" fmla="*/ 0 h 565"/>
                  <a:gd name="T18" fmla="*/ 0 w 26"/>
                  <a:gd name="T19" fmla="*/ 0 h 565"/>
                  <a:gd name="T20" fmla="*/ 0 w 26"/>
                  <a:gd name="T21" fmla="*/ 0 h 565"/>
                  <a:gd name="T22" fmla="*/ 0 w 26"/>
                  <a:gd name="T23" fmla="*/ 0 h 565"/>
                  <a:gd name="T24" fmla="*/ 0 w 26"/>
                  <a:gd name="T25" fmla="*/ 0 h 565"/>
                  <a:gd name="T26" fmla="*/ 0 w 26"/>
                  <a:gd name="T27" fmla="*/ 0 h 565"/>
                  <a:gd name="T28" fmla="*/ 0 w 26"/>
                  <a:gd name="T29" fmla="*/ 0 h 565"/>
                  <a:gd name="T30" fmla="*/ 0 w 26"/>
                  <a:gd name="T31" fmla="*/ 0 h 565"/>
                  <a:gd name="T32" fmla="*/ 0 w 26"/>
                  <a:gd name="T33" fmla="*/ 0 h 565"/>
                  <a:gd name="T34" fmla="*/ 0 w 26"/>
                  <a:gd name="T35" fmla="*/ 0 h 565"/>
                  <a:gd name="T36" fmla="*/ 0 w 26"/>
                  <a:gd name="T37" fmla="*/ 0 h 5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65">
                    <a:moveTo>
                      <a:pt x="0" y="551"/>
                    </a:moveTo>
                    <a:lnTo>
                      <a:pt x="0" y="14"/>
                    </a:lnTo>
                    <a:lnTo>
                      <a:pt x="3" y="12"/>
                    </a:lnTo>
                    <a:lnTo>
                      <a:pt x="6" y="11"/>
                    </a:lnTo>
                    <a:lnTo>
                      <a:pt x="9" y="9"/>
                    </a:lnTo>
                    <a:lnTo>
                      <a:pt x="13" y="7"/>
                    </a:lnTo>
                    <a:lnTo>
                      <a:pt x="16" y="5"/>
                    </a:lnTo>
                    <a:lnTo>
                      <a:pt x="20" y="3"/>
                    </a:lnTo>
                    <a:lnTo>
                      <a:pt x="23" y="2"/>
                    </a:lnTo>
                    <a:lnTo>
                      <a:pt x="26" y="0"/>
                    </a:lnTo>
                    <a:lnTo>
                      <a:pt x="26" y="565"/>
                    </a:lnTo>
                    <a:lnTo>
                      <a:pt x="23" y="563"/>
                    </a:lnTo>
                    <a:lnTo>
                      <a:pt x="20" y="561"/>
                    </a:lnTo>
                    <a:lnTo>
                      <a:pt x="16" y="559"/>
                    </a:lnTo>
                    <a:lnTo>
                      <a:pt x="13" y="558"/>
                    </a:lnTo>
                    <a:lnTo>
                      <a:pt x="9" y="556"/>
                    </a:lnTo>
                    <a:lnTo>
                      <a:pt x="6" y="554"/>
                    </a:lnTo>
                    <a:lnTo>
                      <a:pt x="3" y="553"/>
                    </a:lnTo>
                    <a:lnTo>
                      <a:pt x="0" y="55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74" name="Freeform 3981"/>
              <p:cNvSpPr>
                <a:spLocks noChangeAspect="1"/>
              </p:cNvSpPr>
              <p:nvPr/>
            </p:nvSpPr>
            <p:spPr bwMode="auto">
              <a:xfrm>
                <a:off x="5340" y="1048"/>
                <a:ext cx="9" cy="192"/>
              </a:xfrm>
              <a:custGeom>
                <a:avLst/>
                <a:gdLst>
                  <a:gd name="T0" fmla="*/ 0 w 25"/>
                  <a:gd name="T1" fmla="*/ 0 h 576"/>
                  <a:gd name="T2" fmla="*/ 0 w 25"/>
                  <a:gd name="T3" fmla="*/ 0 h 576"/>
                  <a:gd name="T4" fmla="*/ 0 w 25"/>
                  <a:gd name="T5" fmla="*/ 0 h 576"/>
                  <a:gd name="T6" fmla="*/ 0 w 25"/>
                  <a:gd name="T7" fmla="*/ 0 h 576"/>
                  <a:gd name="T8" fmla="*/ 0 w 25"/>
                  <a:gd name="T9" fmla="*/ 0 h 576"/>
                  <a:gd name="T10" fmla="*/ 0 w 25"/>
                  <a:gd name="T11" fmla="*/ 0 h 576"/>
                  <a:gd name="T12" fmla="*/ 0 w 25"/>
                  <a:gd name="T13" fmla="*/ 0 h 576"/>
                  <a:gd name="T14" fmla="*/ 0 w 25"/>
                  <a:gd name="T15" fmla="*/ 0 h 576"/>
                  <a:gd name="T16" fmla="*/ 0 w 25"/>
                  <a:gd name="T17" fmla="*/ 0 h 576"/>
                  <a:gd name="T18" fmla="*/ 0 w 25"/>
                  <a:gd name="T19" fmla="*/ 0 h 576"/>
                  <a:gd name="T20" fmla="*/ 0 w 25"/>
                  <a:gd name="T21" fmla="*/ 0 h 576"/>
                  <a:gd name="T22" fmla="*/ 0 w 25"/>
                  <a:gd name="T23" fmla="*/ 0 h 576"/>
                  <a:gd name="T24" fmla="*/ 0 w 25"/>
                  <a:gd name="T25" fmla="*/ 0 h 576"/>
                  <a:gd name="T26" fmla="*/ 0 w 25"/>
                  <a:gd name="T27" fmla="*/ 0 h 576"/>
                  <a:gd name="T28" fmla="*/ 0 w 25"/>
                  <a:gd name="T29" fmla="*/ 0 h 576"/>
                  <a:gd name="T30" fmla="*/ 0 w 25"/>
                  <a:gd name="T31" fmla="*/ 0 h 576"/>
                  <a:gd name="T32" fmla="*/ 0 w 25"/>
                  <a:gd name="T33" fmla="*/ 0 h 576"/>
                  <a:gd name="T34" fmla="*/ 0 w 25"/>
                  <a:gd name="T35" fmla="*/ 0 h 576"/>
                  <a:gd name="T36" fmla="*/ 0 w 25"/>
                  <a:gd name="T37" fmla="*/ 0 h 5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5" h="576">
                    <a:moveTo>
                      <a:pt x="0" y="564"/>
                    </a:moveTo>
                    <a:lnTo>
                      <a:pt x="0" y="13"/>
                    </a:lnTo>
                    <a:lnTo>
                      <a:pt x="3" y="11"/>
                    </a:lnTo>
                    <a:lnTo>
                      <a:pt x="6" y="9"/>
                    </a:lnTo>
                    <a:lnTo>
                      <a:pt x="9" y="8"/>
                    </a:lnTo>
                    <a:lnTo>
                      <a:pt x="12" y="6"/>
                    </a:lnTo>
                    <a:lnTo>
                      <a:pt x="16" y="5"/>
                    </a:lnTo>
                    <a:lnTo>
                      <a:pt x="19" y="3"/>
                    </a:lnTo>
                    <a:lnTo>
                      <a:pt x="22" y="2"/>
                    </a:lnTo>
                    <a:lnTo>
                      <a:pt x="25" y="0"/>
                    </a:lnTo>
                    <a:lnTo>
                      <a:pt x="25" y="576"/>
                    </a:lnTo>
                    <a:lnTo>
                      <a:pt x="22" y="575"/>
                    </a:lnTo>
                    <a:lnTo>
                      <a:pt x="19" y="574"/>
                    </a:lnTo>
                    <a:lnTo>
                      <a:pt x="16" y="572"/>
                    </a:lnTo>
                    <a:lnTo>
                      <a:pt x="12" y="571"/>
                    </a:lnTo>
                    <a:lnTo>
                      <a:pt x="9" y="569"/>
                    </a:lnTo>
                    <a:lnTo>
                      <a:pt x="6" y="567"/>
                    </a:lnTo>
                    <a:lnTo>
                      <a:pt x="3" y="565"/>
                    </a:lnTo>
                    <a:lnTo>
                      <a:pt x="0" y="56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75" name="Freeform 3982"/>
              <p:cNvSpPr>
                <a:spLocks noChangeAspect="1"/>
              </p:cNvSpPr>
              <p:nvPr/>
            </p:nvSpPr>
            <p:spPr bwMode="auto">
              <a:xfrm>
                <a:off x="5344" y="1046"/>
                <a:ext cx="9" cy="196"/>
              </a:xfrm>
              <a:custGeom>
                <a:avLst/>
                <a:gdLst>
                  <a:gd name="T0" fmla="*/ 0 w 27"/>
                  <a:gd name="T1" fmla="*/ 0 h 586"/>
                  <a:gd name="T2" fmla="*/ 0 w 27"/>
                  <a:gd name="T3" fmla="*/ 0 h 586"/>
                  <a:gd name="T4" fmla="*/ 0 w 27"/>
                  <a:gd name="T5" fmla="*/ 0 h 586"/>
                  <a:gd name="T6" fmla="*/ 0 w 27"/>
                  <a:gd name="T7" fmla="*/ 0 h 586"/>
                  <a:gd name="T8" fmla="*/ 0 w 27"/>
                  <a:gd name="T9" fmla="*/ 0 h 586"/>
                  <a:gd name="T10" fmla="*/ 0 w 27"/>
                  <a:gd name="T11" fmla="*/ 0 h 586"/>
                  <a:gd name="T12" fmla="*/ 0 w 27"/>
                  <a:gd name="T13" fmla="*/ 0 h 586"/>
                  <a:gd name="T14" fmla="*/ 0 w 27"/>
                  <a:gd name="T15" fmla="*/ 0 h 586"/>
                  <a:gd name="T16" fmla="*/ 0 w 27"/>
                  <a:gd name="T17" fmla="*/ 0 h 586"/>
                  <a:gd name="T18" fmla="*/ 0 w 27"/>
                  <a:gd name="T19" fmla="*/ 0 h 586"/>
                  <a:gd name="T20" fmla="*/ 0 w 27"/>
                  <a:gd name="T21" fmla="*/ 0 h 586"/>
                  <a:gd name="T22" fmla="*/ 0 w 27"/>
                  <a:gd name="T23" fmla="*/ 0 h 586"/>
                  <a:gd name="T24" fmla="*/ 0 w 27"/>
                  <a:gd name="T25" fmla="*/ 0 h 586"/>
                  <a:gd name="T26" fmla="*/ 0 w 27"/>
                  <a:gd name="T27" fmla="*/ 0 h 586"/>
                  <a:gd name="T28" fmla="*/ 0 w 27"/>
                  <a:gd name="T29" fmla="*/ 0 h 586"/>
                  <a:gd name="T30" fmla="*/ 0 w 27"/>
                  <a:gd name="T31" fmla="*/ 0 h 586"/>
                  <a:gd name="T32" fmla="*/ 0 w 27"/>
                  <a:gd name="T33" fmla="*/ 0 h 586"/>
                  <a:gd name="T34" fmla="*/ 0 w 27"/>
                  <a:gd name="T35" fmla="*/ 0 h 586"/>
                  <a:gd name="T36" fmla="*/ 0 w 27"/>
                  <a:gd name="T37" fmla="*/ 0 h 58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86">
                    <a:moveTo>
                      <a:pt x="0" y="576"/>
                    </a:moveTo>
                    <a:lnTo>
                      <a:pt x="0" y="11"/>
                    </a:lnTo>
                    <a:lnTo>
                      <a:pt x="4" y="10"/>
                    </a:lnTo>
                    <a:lnTo>
                      <a:pt x="7" y="8"/>
                    </a:lnTo>
                    <a:lnTo>
                      <a:pt x="10" y="7"/>
                    </a:lnTo>
                    <a:lnTo>
                      <a:pt x="13" y="6"/>
                    </a:lnTo>
                    <a:lnTo>
                      <a:pt x="16" y="4"/>
                    </a:lnTo>
                    <a:lnTo>
                      <a:pt x="21" y="3"/>
                    </a:lnTo>
                    <a:lnTo>
                      <a:pt x="24" y="2"/>
                    </a:lnTo>
                    <a:lnTo>
                      <a:pt x="27" y="0"/>
                    </a:lnTo>
                    <a:lnTo>
                      <a:pt x="27" y="586"/>
                    </a:lnTo>
                    <a:lnTo>
                      <a:pt x="24" y="585"/>
                    </a:lnTo>
                    <a:lnTo>
                      <a:pt x="21" y="584"/>
                    </a:lnTo>
                    <a:lnTo>
                      <a:pt x="16" y="583"/>
                    </a:lnTo>
                    <a:lnTo>
                      <a:pt x="13" y="581"/>
                    </a:lnTo>
                    <a:lnTo>
                      <a:pt x="10" y="580"/>
                    </a:lnTo>
                    <a:lnTo>
                      <a:pt x="7" y="579"/>
                    </a:lnTo>
                    <a:lnTo>
                      <a:pt x="4" y="577"/>
                    </a:lnTo>
                    <a:lnTo>
                      <a:pt x="0" y="57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76" name="Freeform 3983"/>
              <p:cNvSpPr>
                <a:spLocks noChangeAspect="1"/>
              </p:cNvSpPr>
              <p:nvPr/>
            </p:nvSpPr>
            <p:spPr bwMode="auto">
              <a:xfrm>
                <a:off x="5349" y="1045"/>
                <a:ext cx="9" cy="198"/>
              </a:xfrm>
              <a:custGeom>
                <a:avLst/>
                <a:gdLst>
                  <a:gd name="T0" fmla="*/ 0 w 27"/>
                  <a:gd name="T1" fmla="*/ 0 h 596"/>
                  <a:gd name="T2" fmla="*/ 0 w 27"/>
                  <a:gd name="T3" fmla="*/ 0 h 596"/>
                  <a:gd name="T4" fmla="*/ 0 w 27"/>
                  <a:gd name="T5" fmla="*/ 0 h 596"/>
                  <a:gd name="T6" fmla="*/ 0 w 27"/>
                  <a:gd name="T7" fmla="*/ 0 h 596"/>
                  <a:gd name="T8" fmla="*/ 0 w 27"/>
                  <a:gd name="T9" fmla="*/ 0 h 596"/>
                  <a:gd name="T10" fmla="*/ 0 w 27"/>
                  <a:gd name="T11" fmla="*/ 0 h 596"/>
                  <a:gd name="T12" fmla="*/ 0 w 27"/>
                  <a:gd name="T13" fmla="*/ 0 h 596"/>
                  <a:gd name="T14" fmla="*/ 0 w 27"/>
                  <a:gd name="T15" fmla="*/ 0 h 596"/>
                  <a:gd name="T16" fmla="*/ 0 w 27"/>
                  <a:gd name="T17" fmla="*/ 0 h 596"/>
                  <a:gd name="T18" fmla="*/ 0 w 27"/>
                  <a:gd name="T19" fmla="*/ 0 h 596"/>
                  <a:gd name="T20" fmla="*/ 0 w 27"/>
                  <a:gd name="T21" fmla="*/ 0 h 596"/>
                  <a:gd name="T22" fmla="*/ 0 w 27"/>
                  <a:gd name="T23" fmla="*/ 0 h 596"/>
                  <a:gd name="T24" fmla="*/ 0 w 27"/>
                  <a:gd name="T25" fmla="*/ 0 h 596"/>
                  <a:gd name="T26" fmla="*/ 0 w 27"/>
                  <a:gd name="T27" fmla="*/ 0 h 596"/>
                  <a:gd name="T28" fmla="*/ 0 w 27"/>
                  <a:gd name="T29" fmla="*/ 0 h 596"/>
                  <a:gd name="T30" fmla="*/ 0 w 27"/>
                  <a:gd name="T31" fmla="*/ 0 h 596"/>
                  <a:gd name="T32" fmla="*/ 0 w 27"/>
                  <a:gd name="T33" fmla="*/ 0 h 596"/>
                  <a:gd name="T34" fmla="*/ 0 w 27"/>
                  <a:gd name="T35" fmla="*/ 0 h 596"/>
                  <a:gd name="T36" fmla="*/ 0 w 27"/>
                  <a:gd name="T37" fmla="*/ 0 h 59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96">
                    <a:moveTo>
                      <a:pt x="0" y="586"/>
                    </a:moveTo>
                    <a:lnTo>
                      <a:pt x="0" y="10"/>
                    </a:lnTo>
                    <a:lnTo>
                      <a:pt x="4" y="9"/>
                    </a:lnTo>
                    <a:lnTo>
                      <a:pt x="8" y="8"/>
                    </a:lnTo>
                    <a:lnTo>
                      <a:pt x="11" y="7"/>
                    </a:lnTo>
                    <a:lnTo>
                      <a:pt x="14" y="5"/>
                    </a:lnTo>
                    <a:lnTo>
                      <a:pt x="17" y="4"/>
                    </a:lnTo>
                    <a:lnTo>
                      <a:pt x="20" y="2"/>
                    </a:lnTo>
                    <a:lnTo>
                      <a:pt x="24" y="1"/>
                    </a:lnTo>
                    <a:lnTo>
                      <a:pt x="27" y="0"/>
                    </a:lnTo>
                    <a:lnTo>
                      <a:pt x="27" y="596"/>
                    </a:lnTo>
                    <a:lnTo>
                      <a:pt x="24" y="594"/>
                    </a:lnTo>
                    <a:lnTo>
                      <a:pt x="20" y="593"/>
                    </a:lnTo>
                    <a:lnTo>
                      <a:pt x="17" y="592"/>
                    </a:lnTo>
                    <a:lnTo>
                      <a:pt x="14" y="591"/>
                    </a:lnTo>
                    <a:lnTo>
                      <a:pt x="11" y="590"/>
                    </a:lnTo>
                    <a:lnTo>
                      <a:pt x="8" y="589"/>
                    </a:lnTo>
                    <a:lnTo>
                      <a:pt x="4" y="588"/>
                    </a:lnTo>
                    <a:lnTo>
                      <a:pt x="0" y="58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77" name="Freeform 3984"/>
              <p:cNvSpPr>
                <a:spLocks noChangeAspect="1"/>
              </p:cNvSpPr>
              <p:nvPr/>
            </p:nvSpPr>
            <p:spPr bwMode="auto">
              <a:xfrm>
                <a:off x="5353" y="1044"/>
                <a:ext cx="9" cy="201"/>
              </a:xfrm>
              <a:custGeom>
                <a:avLst/>
                <a:gdLst>
                  <a:gd name="T0" fmla="*/ 0 w 27"/>
                  <a:gd name="T1" fmla="*/ 0 h 603"/>
                  <a:gd name="T2" fmla="*/ 0 w 27"/>
                  <a:gd name="T3" fmla="*/ 0 h 603"/>
                  <a:gd name="T4" fmla="*/ 0 w 27"/>
                  <a:gd name="T5" fmla="*/ 0 h 603"/>
                  <a:gd name="T6" fmla="*/ 0 w 27"/>
                  <a:gd name="T7" fmla="*/ 0 h 603"/>
                  <a:gd name="T8" fmla="*/ 0 w 27"/>
                  <a:gd name="T9" fmla="*/ 0 h 603"/>
                  <a:gd name="T10" fmla="*/ 0 w 27"/>
                  <a:gd name="T11" fmla="*/ 0 h 603"/>
                  <a:gd name="T12" fmla="*/ 0 w 27"/>
                  <a:gd name="T13" fmla="*/ 0 h 603"/>
                  <a:gd name="T14" fmla="*/ 0 w 27"/>
                  <a:gd name="T15" fmla="*/ 0 h 603"/>
                  <a:gd name="T16" fmla="*/ 0 w 27"/>
                  <a:gd name="T17" fmla="*/ 0 h 603"/>
                  <a:gd name="T18" fmla="*/ 0 w 27"/>
                  <a:gd name="T19" fmla="*/ 0 h 603"/>
                  <a:gd name="T20" fmla="*/ 0 w 27"/>
                  <a:gd name="T21" fmla="*/ 0 h 603"/>
                  <a:gd name="T22" fmla="*/ 0 w 27"/>
                  <a:gd name="T23" fmla="*/ 0 h 603"/>
                  <a:gd name="T24" fmla="*/ 0 w 27"/>
                  <a:gd name="T25" fmla="*/ 0 h 603"/>
                  <a:gd name="T26" fmla="*/ 0 w 27"/>
                  <a:gd name="T27" fmla="*/ 0 h 603"/>
                  <a:gd name="T28" fmla="*/ 0 w 27"/>
                  <a:gd name="T29" fmla="*/ 0 h 603"/>
                  <a:gd name="T30" fmla="*/ 0 w 27"/>
                  <a:gd name="T31" fmla="*/ 0 h 603"/>
                  <a:gd name="T32" fmla="*/ 0 w 27"/>
                  <a:gd name="T33" fmla="*/ 0 h 603"/>
                  <a:gd name="T34" fmla="*/ 0 w 27"/>
                  <a:gd name="T35" fmla="*/ 0 h 603"/>
                  <a:gd name="T36" fmla="*/ 0 w 27"/>
                  <a:gd name="T37" fmla="*/ 0 h 6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03">
                    <a:moveTo>
                      <a:pt x="0" y="594"/>
                    </a:moveTo>
                    <a:lnTo>
                      <a:pt x="0" y="8"/>
                    </a:lnTo>
                    <a:lnTo>
                      <a:pt x="3" y="7"/>
                    </a:lnTo>
                    <a:lnTo>
                      <a:pt x="6" y="5"/>
                    </a:lnTo>
                    <a:lnTo>
                      <a:pt x="10" y="4"/>
                    </a:lnTo>
                    <a:lnTo>
                      <a:pt x="13" y="3"/>
                    </a:lnTo>
                    <a:lnTo>
                      <a:pt x="16" y="2"/>
                    </a:lnTo>
                    <a:lnTo>
                      <a:pt x="20" y="1"/>
                    </a:lnTo>
                    <a:lnTo>
                      <a:pt x="23" y="0"/>
                    </a:lnTo>
                    <a:lnTo>
                      <a:pt x="27" y="0"/>
                    </a:lnTo>
                    <a:lnTo>
                      <a:pt x="27" y="603"/>
                    </a:lnTo>
                    <a:lnTo>
                      <a:pt x="23" y="602"/>
                    </a:lnTo>
                    <a:lnTo>
                      <a:pt x="20" y="601"/>
                    </a:lnTo>
                    <a:lnTo>
                      <a:pt x="16" y="600"/>
                    </a:lnTo>
                    <a:lnTo>
                      <a:pt x="13" y="599"/>
                    </a:lnTo>
                    <a:lnTo>
                      <a:pt x="10" y="597"/>
                    </a:lnTo>
                    <a:lnTo>
                      <a:pt x="6" y="596"/>
                    </a:lnTo>
                    <a:lnTo>
                      <a:pt x="3" y="595"/>
                    </a:lnTo>
                    <a:lnTo>
                      <a:pt x="0" y="59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78" name="Freeform 3985"/>
              <p:cNvSpPr>
                <a:spLocks noChangeAspect="1"/>
              </p:cNvSpPr>
              <p:nvPr/>
            </p:nvSpPr>
            <p:spPr bwMode="auto">
              <a:xfrm>
                <a:off x="5358" y="1042"/>
                <a:ext cx="8" cy="204"/>
              </a:xfrm>
              <a:custGeom>
                <a:avLst/>
                <a:gdLst>
                  <a:gd name="T0" fmla="*/ 0 w 26"/>
                  <a:gd name="T1" fmla="*/ 0 h 610"/>
                  <a:gd name="T2" fmla="*/ 0 w 26"/>
                  <a:gd name="T3" fmla="*/ 0 h 610"/>
                  <a:gd name="T4" fmla="*/ 0 w 26"/>
                  <a:gd name="T5" fmla="*/ 0 h 610"/>
                  <a:gd name="T6" fmla="*/ 0 w 26"/>
                  <a:gd name="T7" fmla="*/ 0 h 610"/>
                  <a:gd name="T8" fmla="*/ 0 w 26"/>
                  <a:gd name="T9" fmla="*/ 0 h 610"/>
                  <a:gd name="T10" fmla="*/ 0 w 26"/>
                  <a:gd name="T11" fmla="*/ 0 h 610"/>
                  <a:gd name="T12" fmla="*/ 0 w 26"/>
                  <a:gd name="T13" fmla="*/ 0 h 610"/>
                  <a:gd name="T14" fmla="*/ 0 w 26"/>
                  <a:gd name="T15" fmla="*/ 0 h 610"/>
                  <a:gd name="T16" fmla="*/ 0 w 26"/>
                  <a:gd name="T17" fmla="*/ 0 h 610"/>
                  <a:gd name="T18" fmla="*/ 0 w 26"/>
                  <a:gd name="T19" fmla="*/ 0 h 610"/>
                  <a:gd name="T20" fmla="*/ 0 w 26"/>
                  <a:gd name="T21" fmla="*/ 0 h 610"/>
                  <a:gd name="T22" fmla="*/ 0 w 26"/>
                  <a:gd name="T23" fmla="*/ 0 h 610"/>
                  <a:gd name="T24" fmla="*/ 0 w 26"/>
                  <a:gd name="T25" fmla="*/ 0 h 610"/>
                  <a:gd name="T26" fmla="*/ 0 w 26"/>
                  <a:gd name="T27" fmla="*/ 0 h 610"/>
                  <a:gd name="T28" fmla="*/ 0 w 26"/>
                  <a:gd name="T29" fmla="*/ 0 h 610"/>
                  <a:gd name="T30" fmla="*/ 0 w 26"/>
                  <a:gd name="T31" fmla="*/ 0 h 610"/>
                  <a:gd name="T32" fmla="*/ 0 w 26"/>
                  <a:gd name="T33" fmla="*/ 0 h 610"/>
                  <a:gd name="T34" fmla="*/ 0 w 26"/>
                  <a:gd name="T35" fmla="*/ 0 h 610"/>
                  <a:gd name="T36" fmla="*/ 0 w 26"/>
                  <a:gd name="T37" fmla="*/ 0 h 6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10">
                    <a:moveTo>
                      <a:pt x="0" y="603"/>
                    </a:moveTo>
                    <a:lnTo>
                      <a:pt x="0" y="7"/>
                    </a:lnTo>
                    <a:lnTo>
                      <a:pt x="3" y="6"/>
                    </a:lnTo>
                    <a:lnTo>
                      <a:pt x="7" y="5"/>
                    </a:lnTo>
                    <a:lnTo>
                      <a:pt x="10" y="4"/>
                    </a:lnTo>
                    <a:lnTo>
                      <a:pt x="14" y="4"/>
                    </a:lnTo>
                    <a:lnTo>
                      <a:pt x="17" y="3"/>
                    </a:lnTo>
                    <a:lnTo>
                      <a:pt x="20" y="2"/>
                    </a:lnTo>
                    <a:lnTo>
                      <a:pt x="23" y="1"/>
                    </a:lnTo>
                    <a:lnTo>
                      <a:pt x="26" y="0"/>
                    </a:lnTo>
                    <a:lnTo>
                      <a:pt x="26" y="610"/>
                    </a:lnTo>
                    <a:lnTo>
                      <a:pt x="23" y="610"/>
                    </a:lnTo>
                    <a:lnTo>
                      <a:pt x="20" y="609"/>
                    </a:lnTo>
                    <a:lnTo>
                      <a:pt x="17" y="608"/>
                    </a:lnTo>
                    <a:lnTo>
                      <a:pt x="14" y="607"/>
                    </a:lnTo>
                    <a:lnTo>
                      <a:pt x="10" y="606"/>
                    </a:lnTo>
                    <a:lnTo>
                      <a:pt x="7" y="605"/>
                    </a:lnTo>
                    <a:lnTo>
                      <a:pt x="3" y="604"/>
                    </a:lnTo>
                    <a:lnTo>
                      <a:pt x="0" y="60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79" name="Freeform 3986"/>
              <p:cNvSpPr>
                <a:spLocks noChangeAspect="1"/>
              </p:cNvSpPr>
              <p:nvPr/>
            </p:nvSpPr>
            <p:spPr bwMode="auto">
              <a:xfrm>
                <a:off x="5362" y="1042"/>
                <a:ext cx="9" cy="205"/>
              </a:xfrm>
              <a:custGeom>
                <a:avLst/>
                <a:gdLst>
                  <a:gd name="T0" fmla="*/ 0 w 26"/>
                  <a:gd name="T1" fmla="*/ 0 h 615"/>
                  <a:gd name="T2" fmla="*/ 0 w 26"/>
                  <a:gd name="T3" fmla="*/ 0 h 615"/>
                  <a:gd name="T4" fmla="*/ 0 w 26"/>
                  <a:gd name="T5" fmla="*/ 0 h 615"/>
                  <a:gd name="T6" fmla="*/ 0 w 26"/>
                  <a:gd name="T7" fmla="*/ 0 h 615"/>
                  <a:gd name="T8" fmla="*/ 0 w 26"/>
                  <a:gd name="T9" fmla="*/ 0 h 615"/>
                  <a:gd name="T10" fmla="*/ 0 w 26"/>
                  <a:gd name="T11" fmla="*/ 0 h 615"/>
                  <a:gd name="T12" fmla="*/ 0 w 26"/>
                  <a:gd name="T13" fmla="*/ 0 h 615"/>
                  <a:gd name="T14" fmla="*/ 0 w 26"/>
                  <a:gd name="T15" fmla="*/ 0 h 615"/>
                  <a:gd name="T16" fmla="*/ 0 w 26"/>
                  <a:gd name="T17" fmla="*/ 0 h 615"/>
                  <a:gd name="T18" fmla="*/ 0 w 26"/>
                  <a:gd name="T19" fmla="*/ 0 h 615"/>
                  <a:gd name="T20" fmla="*/ 0 w 26"/>
                  <a:gd name="T21" fmla="*/ 0 h 615"/>
                  <a:gd name="T22" fmla="*/ 0 w 26"/>
                  <a:gd name="T23" fmla="*/ 0 h 615"/>
                  <a:gd name="T24" fmla="*/ 0 w 26"/>
                  <a:gd name="T25" fmla="*/ 0 h 615"/>
                  <a:gd name="T26" fmla="*/ 0 w 26"/>
                  <a:gd name="T27" fmla="*/ 0 h 615"/>
                  <a:gd name="T28" fmla="*/ 0 w 26"/>
                  <a:gd name="T29" fmla="*/ 0 h 615"/>
                  <a:gd name="T30" fmla="*/ 0 w 26"/>
                  <a:gd name="T31" fmla="*/ 0 h 615"/>
                  <a:gd name="T32" fmla="*/ 0 w 26"/>
                  <a:gd name="T33" fmla="*/ 0 h 615"/>
                  <a:gd name="T34" fmla="*/ 0 w 26"/>
                  <a:gd name="T35" fmla="*/ 0 h 615"/>
                  <a:gd name="T36" fmla="*/ 0 w 26"/>
                  <a:gd name="T37" fmla="*/ 0 h 6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15">
                    <a:moveTo>
                      <a:pt x="0" y="609"/>
                    </a:moveTo>
                    <a:lnTo>
                      <a:pt x="0" y="6"/>
                    </a:lnTo>
                    <a:lnTo>
                      <a:pt x="3" y="5"/>
                    </a:lnTo>
                    <a:lnTo>
                      <a:pt x="6" y="4"/>
                    </a:lnTo>
                    <a:lnTo>
                      <a:pt x="9" y="3"/>
                    </a:lnTo>
                    <a:lnTo>
                      <a:pt x="12" y="2"/>
                    </a:lnTo>
                    <a:lnTo>
                      <a:pt x="16" y="2"/>
                    </a:lnTo>
                    <a:lnTo>
                      <a:pt x="20" y="1"/>
                    </a:lnTo>
                    <a:lnTo>
                      <a:pt x="23" y="0"/>
                    </a:lnTo>
                    <a:lnTo>
                      <a:pt x="26" y="0"/>
                    </a:lnTo>
                    <a:lnTo>
                      <a:pt x="26" y="615"/>
                    </a:lnTo>
                    <a:lnTo>
                      <a:pt x="23" y="614"/>
                    </a:lnTo>
                    <a:lnTo>
                      <a:pt x="20" y="614"/>
                    </a:lnTo>
                    <a:lnTo>
                      <a:pt x="16" y="613"/>
                    </a:lnTo>
                    <a:lnTo>
                      <a:pt x="12" y="612"/>
                    </a:lnTo>
                    <a:lnTo>
                      <a:pt x="9" y="612"/>
                    </a:lnTo>
                    <a:lnTo>
                      <a:pt x="6" y="611"/>
                    </a:lnTo>
                    <a:lnTo>
                      <a:pt x="3" y="610"/>
                    </a:lnTo>
                    <a:lnTo>
                      <a:pt x="0" y="60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80" name="Freeform 3987"/>
              <p:cNvSpPr>
                <a:spLocks noChangeAspect="1"/>
              </p:cNvSpPr>
              <p:nvPr/>
            </p:nvSpPr>
            <p:spPr bwMode="auto">
              <a:xfrm>
                <a:off x="5366" y="1041"/>
                <a:ext cx="9" cy="206"/>
              </a:xfrm>
              <a:custGeom>
                <a:avLst/>
                <a:gdLst>
                  <a:gd name="T0" fmla="*/ 0 w 27"/>
                  <a:gd name="T1" fmla="*/ 0 h 620"/>
                  <a:gd name="T2" fmla="*/ 0 w 27"/>
                  <a:gd name="T3" fmla="*/ 0 h 620"/>
                  <a:gd name="T4" fmla="*/ 0 w 27"/>
                  <a:gd name="T5" fmla="*/ 0 h 620"/>
                  <a:gd name="T6" fmla="*/ 0 w 27"/>
                  <a:gd name="T7" fmla="*/ 0 h 620"/>
                  <a:gd name="T8" fmla="*/ 0 w 27"/>
                  <a:gd name="T9" fmla="*/ 0 h 620"/>
                  <a:gd name="T10" fmla="*/ 0 w 27"/>
                  <a:gd name="T11" fmla="*/ 0 h 620"/>
                  <a:gd name="T12" fmla="*/ 0 w 27"/>
                  <a:gd name="T13" fmla="*/ 0 h 620"/>
                  <a:gd name="T14" fmla="*/ 0 w 27"/>
                  <a:gd name="T15" fmla="*/ 0 h 620"/>
                  <a:gd name="T16" fmla="*/ 0 w 27"/>
                  <a:gd name="T17" fmla="*/ 0 h 620"/>
                  <a:gd name="T18" fmla="*/ 0 w 27"/>
                  <a:gd name="T19" fmla="*/ 0 h 620"/>
                  <a:gd name="T20" fmla="*/ 0 w 27"/>
                  <a:gd name="T21" fmla="*/ 0 h 620"/>
                  <a:gd name="T22" fmla="*/ 0 w 27"/>
                  <a:gd name="T23" fmla="*/ 0 h 620"/>
                  <a:gd name="T24" fmla="*/ 0 w 27"/>
                  <a:gd name="T25" fmla="*/ 0 h 620"/>
                  <a:gd name="T26" fmla="*/ 0 w 27"/>
                  <a:gd name="T27" fmla="*/ 0 h 620"/>
                  <a:gd name="T28" fmla="*/ 0 w 27"/>
                  <a:gd name="T29" fmla="*/ 0 h 620"/>
                  <a:gd name="T30" fmla="*/ 0 w 27"/>
                  <a:gd name="T31" fmla="*/ 0 h 620"/>
                  <a:gd name="T32" fmla="*/ 0 w 27"/>
                  <a:gd name="T33" fmla="*/ 0 h 620"/>
                  <a:gd name="T34" fmla="*/ 0 w 27"/>
                  <a:gd name="T35" fmla="*/ 0 h 620"/>
                  <a:gd name="T36" fmla="*/ 0 w 27"/>
                  <a:gd name="T37" fmla="*/ 0 h 6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0">
                    <a:moveTo>
                      <a:pt x="0" y="615"/>
                    </a:moveTo>
                    <a:lnTo>
                      <a:pt x="0" y="5"/>
                    </a:lnTo>
                    <a:lnTo>
                      <a:pt x="4" y="5"/>
                    </a:lnTo>
                    <a:lnTo>
                      <a:pt x="8" y="4"/>
                    </a:lnTo>
                    <a:lnTo>
                      <a:pt x="11" y="3"/>
                    </a:lnTo>
                    <a:lnTo>
                      <a:pt x="14" y="3"/>
                    </a:lnTo>
                    <a:lnTo>
                      <a:pt x="17" y="2"/>
                    </a:lnTo>
                    <a:lnTo>
                      <a:pt x="21" y="2"/>
                    </a:lnTo>
                    <a:lnTo>
                      <a:pt x="24" y="0"/>
                    </a:lnTo>
                    <a:lnTo>
                      <a:pt x="27" y="0"/>
                    </a:lnTo>
                    <a:lnTo>
                      <a:pt x="27" y="620"/>
                    </a:lnTo>
                    <a:lnTo>
                      <a:pt x="24" y="620"/>
                    </a:lnTo>
                    <a:lnTo>
                      <a:pt x="21" y="619"/>
                    </a:lnTo>
                    <a:lnTo>
                      <a:pt x="17" y="619"/>
                    </a:lnTo>
                    <a:lnTo>
                      <a:pt x="14" y="618"/>
                    </a:lnTo>
                    <a:lnTo>
                      <a:pt x="11" y="617"/>
                    </a:lnTo>
                    <a:lnTo>
                      <a:pt x="8" y="617"/>
                    </a:lnTo>
                    <a:lnTo>
                      <a:pt x="4" y="616"/>
                    </a:lnTo>
                    <a:lnTo>
                      <a:pt x="0" y="6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81" name="Freeform 3988"/>
              <p:cNvSpPr>
                <a:spLocks noChangeAspect="1"/>
              </p:cNvSpPr>
              <p:nvPr/>
            </p:nvSpPr>
            <p:spPr bwMode="auto">
              <a:xfrm>
                <a:off x="5371" y="1040"/>
                <a:ext cx="9" cy="208"/>
              </a:xfrm>
              <a:custGeom>
                <a:avLst/>
                <a:gdLst>
                  <a:gd name="T0" fmla="*/ 0 w 27"/>
                  <a:gd name="T1" fmla="*/ 0 h 624"/>
                  <a:gd name="T2" fmla="*/ 0 w 27"/>
                  <a:gd name="T3" fmla="*/ 0 h 624"/>
                  <a:gd name="T4" fmla="*/ 0 w 27"/>
                  <a:gd name="T5" fmla="*/ 0 h 624"/>
                  <a:gd name="T6" fmla="*/ 0 w 27"/>
                  <a:gd name="T7" fmla="*/ 0 h 624"/>
                  <a:gd name="T8" fmla="*/ 0 w 27"/>
                  <a:gd name="T9" fmla="*/ 0 h 624"/>
                  <a:gd name="T10" fmla="*/ 0 w 27"/>
                  <a:gd name="T11" fmla="*/ 0 h 624"/>
                  <a:gd name="T12" fmla="*/ 0 w 27"/>
                  <a:gd name="T13" fmla="*/ 0 h 624"/>
                  <a:gd name="T14" fmla="*/ 0 w 27"/>
                  <a:gd name="T15" fmla="*/ 0 h 624"/>
                  <a:gd name="T16" fmla="*/ 0 w 27"/>
                  <a:gd name="T17" fmla="*/ 0 h 624"/>
                  <a:gd name="T18" fmla="*/ 0 w 27"/>
                  <a:gd name="T19" fmla="*/ 0 h 624"/>
                  <a:gd name="T20" fmla="*/ 0 w 27"/>
                  <a:gd name="T21" fmla="*/ 0 h 624"/>
                  <a:gd name="T22" fmla="*/ 0 w 27"/>
                  <a:gd name="T23" fmla="*/ 0 h 624"/>
                  <a:gd name="T24" fmla="*/ 0 w 27"/>
                  <a:gd name="T25" fmla="*/ 0 h 624"/>
                  <a:gd name="T26" fmla="*/ 0 w 27"/>
                  <a:gd name="T27" fmla="*/ 0 h 624"/>
                  <a:gd name="T28" fmla="*/ 0 w 27"/>
                  <a:gd name="T29" fmla="*/ 0 h 624"/>
                  <a:gd name="T30" fmla="*/ 0 w 27"/>
                  <a:gd name="T31" fmla="*/ 0 h 624"/>
                  <a:gd name="T32" fmla="*/ 0 w 27"/>
                  <a:gd name="T33" fmla="*/ 0 h 624"/>
                  <a:gd name="T34" fmla="*/ 0 w 27"/>
                  <a:gd name="T35" fmla="*/ 0 h 624"/>
                  <a:gd name="T36" fmla="*/ 0 w 27"/>
                  <a:gd name="T37" fmla="*/ 0 h 6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4">
                    <a:moveTo>
                      <a:pt x="0" y="620"/>
                    </a:moveTo>
                    <a:lnTo>
                      <a:pt x="0" y="5"/>
                    </a:lnTo>
                    <a:lnTo>
                      <a:pt x="3" y="4"/>
                    </a:lnTo>
                    <a:lnTo>
                      <a:pt x="7" y="4"/>
                    </a:lnTo>
                    <a:lnTo>
                      <a:pt x="10" y="2"/>
                    </a:lnTo>
                    <a:lnTo>
                      <a:pt x="13" y="2"/>
                    </a:lnTo>
                    <a:lnTo>
                      <a:pt x="16" y="1"/>
                    </a:lnTo>
                    <a:lnTo>
                      <a:pt x="19" y="1"/>
                    </a:lnTo>
                    <a:lnTo>
                      <a:pt x="24" y="0"/>
                    </a:lnTo>
                    <a:lnTo>
                      <a:pt x="27" y="0"/>
                    </a:lnTo>
                    <a:lnTo>
                      <a:pt x="27" y="624"/>
                    </a:lnTo>
                    <a:lnTo>
                      <a:pt x="24" y="624"/>
                    </a:lnTo>
                    <a:lnTo>
                      <a:pt x="19" y="623"/>
                    </a:lnTo>
                    <a:lnTo>
                      <a:pt x="16" y="623"/>
                    </a:lnTo>
                    <a:lnTo>
                      <a:pt x="13" y="622"/>
                    </a:lnTo>
                    <a:lnTo>
                      <a:pt x="10" y="622"/>
                    </a:lnTo>
                    <a:lnTo>
                      <a:pt x="7" y="621"/>
                    </a:lnTo>
                    <a:lnTo>
                      <a:pt x="3" y="621"/>
                    </a:lnTo>
                    <a:lnTo>
                      <a:pt x="0" y="6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82" name="Freeform 3989"/>
              <p:cNvSpPr>
                <a:spLocks noChangeAspect="1"/>
              </p:cNvSpPr>
              <p:nvPr/>
            </p:nvSpPr>
            <p:spPr bwMode="auto">
              <a:xfrm>
                <a:off x="5375" y="1040"/>
                <a:ext cx="9" cy="208"/>
              </a:xfrm>
              <a:custGeom>
                <a:avLst/>
                <a:gdLst>
                  <a:gd name="T0" fmla="*/ 0 w 27"/>
                  <a:gd name="T1" fmla="*/ 0 h 626"/>
                  <a:gd name="T2" fmla="*/ 0 w 27"/>
                  <a:gd name="T3" fmla="*/ 0 h 626"/>
                  <a:gd name="T4" fmla="*/ 0 w 27"/>
                  <a:gd name="T5" fmla="*/ 0 h 626"/>
                  <a:gd name="T6" fmla="*/ 0 w 27"/>
                  <a:gd name="T7" fmla="*/ 0 h 626"/>
                  <a:gd name="T8" fmla="*/ 0 w 27"/>
                  <a:gd name="T9" fmla="*/ 0 h 626"/>
                  <a:gd name="T10" fmla="*/ 0 w 27"/>
                  <a:gd name="T11" fmla="*/ 0 h 626"/>
                  <a:gd name="T12" fmla="*/ 0 w 27"/>
                  <a:gd name="T13" fmla="*/ 0 h 626"/>
                  <a:gd name="T14" fmla="*/ 0 w 27"/>
                  <a:gd name="T15" fmla="*/ 0 h 626"/>
                  <a:gd name="T16" fmla="*/ 0 w 27"/>
                  <a:gd name="T17" fmla="*/ 0 h 626"/>
                  <a:gd name="T18" fmla="*/ 0 w 27"/>
                  <a:gd name="T19" fmla="*/ 0 h 626"/>
                  <a:gd name="T20" fmla="*/ 0 w 27"/>
                  <a:gd name="T21" fmla="*/ 0 h 626"/>
                  <a:gd name="T22" fmla="*/ 0 w 27"/>
                  <a:gd name="T23" fmla="*/ 0 h 626"/>
                  <a:gd name="T24" fmla="*/ 0 w 27"/>
                  <a:gd name="T25" fmla="*/ 0 h 626"/>
                  <a:gd name="T26" fmla="*/ 0 w 27"/>
                  <a:gd name="T27" fmla="*/ 0 h 626"/>
                  <a:gd name="T28" fmla="*/ 0 w 27"/>
                  <a:gd name="T29" fmla="*/ 0 h 626"/>
                  <a:gd name="T30" fmla="*/ 0 w 27"/>
                  <a:gd name="T31" fmla="*/ 0 h 626"/>
                  <a:gd name="T32" fmla="*/ 0 w 27"/>
                  <a:gd name="T33" fmla="*/ 0 h 626"/>
                  <a:gd name="T34" fmla="*/ 0 w 27"/>
                  <a:gd name="T35" fmla="*/ 0 h 626"/>
                  <a:gd name="T36" fmla="*/ 0 w 27"/>
                  <a:gd name="T37" fmla="*/ 0 h 6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6">
                    <a:moveTo>
                      <a:pt x="0" y="623"/>
                    </a:moveTo>
                    <a:lnTo>
                      <a:pt x="0" y="3"/>
                    </a:lnTo>
                    <a:lnTo>
                      <a:pt x="3" y="2"/>
                    </a:lnTo>
                    <a:lnTo>
                      <a:pt x="6" y="2"/>
                    </a:lnTo>
                    <a:lnTo>
                      <a:pt x="11" y="1"/>
                    </a:lnTo>
                    <a:lnTo>
                      <a:pt x="14" y="1"/>
                    </a:lnTo>
                    <a:lnTo>
                      <a:pt x="17" y="1"/>
                    </a:lnTo>
                    <a:lnTo>
                      <a:pt x="20" y="0"/>
                    </a:lnTo>
                    <a:lnTo>
                      <a:pt x="23" y="0"/>
                    </a:lnTo>
                    <a:lnTo>
                      <a:pt x="27" y="0"/>
                    </a:lnTo>
                    <a:lnTo>
                      <a:pt x="27" y="626"/>
                    </a:lnTo>
                    <a:lnTo>
                      <a:pt x="23" y="626"/>
                    </a:lnTo>
                    <a:lnTo>
                      <a:pt x="20" y="626"/>
                    </a:lnTo>
                    <a:lnTo>
                      <a:pt x="17" y="625"/>
                    </a:lnTo>
                    <a:lnTo>
                      <a:pt x="14" y="625"/>
                    </a:lnTo>
                    <a:lnTo>
                      <a:pt x="11" y="625"/>
                    </a:lnTo>
                    <a:lnTo>
                      <a:pt x="6" y="624"/>
                    </a:lnTo>
                    <a:lnTo>
                      <a:pt x="3" y="624"/>
                    </a:lnTo>
                    <a:lnTo>
                      <a:pt x="0" y="62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83" name="Freeform 3990"/>
              <p:cNvSpPr>
                <a:spLocks noChangeAspect="1"/>
              </p:cNvSpPr>
              <p:nvPr/>
            </p:nvSpPr>
            <p:spPr bwMode="auto">
              <a:xfrm>
                <a:off x="5380" y="1039"/>
                <a:ext cx="9" cy="210"/>
              </a:xfrm>
              <a:custGeom>
                <a:avLst/>
                <a:gdLst>
                  <a:gd name="T0" fmla="*/ 0 w 26"/>
                  <a:gd name="T1" fmla="*/ 0 h 629"/>
                  <a:gd name="T2" fmla="*/ 0 w 26"/>
                  <a:gd name="T3" fmla="*/ 0 h 629"/>
                  <a:gd name="T4" fmla="*/ 0 w 26"/>
                  <a:gd name="T5" fmla="*/ 0 h 629"/>
                  <a:gd name="T6" fmla="*/ 0 w 26"/>
                  <a:gd name="T7" fmla="*/ 0 h 629"/>
                  <a:gd name="T8" fmla="*/ 0 w 26"/>
                  <a:gd name="T9" fmla="*/ 0 h 629"/>
                  <a:gd name="T10" fmla="*/ 0 w 26"/>
                  <a:gd name="T11" fmla="*/ 0 h 629"/>
                  <a:gd name="T12" fmla="*/ 0 w 26"/>
                  <a:gd name="T13" fmla="*/ 0 h 629"/>
                  <a:gd name="T14" fmla="*/ 0 w 26"/>
                  <a:gd name="T15" fmla="*/ 0 h 629"/>
                  <a:gd name="T16" fmla="*/ 0 w 26"/>
                  <a:gd name="T17" fmla="*/ 0 h 629"/>
                  <a:gd name="T18" fmla="*/ 0 w 26"/>
                  <a:gd name="T19" fmla="*/ 0 h 629"/>
                  <a:gd name="T20" fmla="*/ 0 w 26"/>
                  <a:gd name="T21" fmla="*/ 0 h 629"/>
                  <a:gd name="T22" fmla="*/ 0 w 26"/>
                  <a:gd name="T23" fmla="*/ 0 h 629"/>
                  <a:gd name="T24" fmla="*/ 0 w 26"/>
                  <a:gd name="T25" fmla="*/ 0 h 629"/>
                  <a:gd name="T26" fmla="*/ 0 w 26"/>
                  <a:gd name="T27" fmla="*/ 0 h 629"/>
                  <a:gd name="T28" fmla="*/ 0 w 26"/>
                  <a:gd name="T29" fmla="*/ 0 h 629"/>
                  <a:gd name="T30" fmla="*/ 0 w 26"/>
                  <a:gd name="T31" fmla="*/ 0 h 629"/>
                  <a:gd name="T32" fmla="*/ 0 w 26"/>
                  <a:gd name="T33" fmla="*/ 0 h 629"/>
                  <a:gd name="T34" fmla="*/ 0 w 26"/>
                  <a:gd name="T35" fmla="*/ 0 h 629"/>
                  <a:gd name="T36" fmla="*/ 0 w 26"/>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9">
                    <a:moveTo>
                      <a:pt x="0" y="626"/>
                    </a:moveTo>
                    <a:lnTo>
                      <a:pt x="0" y="2"/>
                    </a:lnTo>
                    <a:lnTo>
                      <a:pt x="3" y="2"/>
                    </a:lnTo>
                    <a:lnTo>
                      <a:pt x="6" y="1"/>
                    </a:lnTo>
                    <a:lnTo>
                      <a:pt x="9" y="1"/>
                    </a:lnTo>
                    <a:lnTo>
                      <a:pt x="13" y="1"/>
                    </a:lnTo>
                    <a:lnTo>
                      <a:pt x="16" y="0"/>
                    </a:lnTo>
                    <a:lnTo>
                      <a:pt x="19" y="0"/>
                    </a:lnTo>
                    <a:lnTo>
                      <a:pt x="23" y="0"/>
                    </a:lnTo>
                    <a:lnTo>
                      <a:pt x="26" y="0"/>
                    </a:lnTo>
                    <a:lnTo>
                      <a:pt x="26" y="629"/>
                    </a:lnTo>
                    <a:lnTo>
                      <a:pt x="23" y="629"/>
                    </a:lnTo>
                    <a:lnTo>
                      <a:pt x="19" y="629"/>
                    </a:lnTo>
                    <a:lnTo>
                      <a:pt x="16" y="627"/>
                    </a:lnTo>
                    <a:lnTo>
                      <a:pt x="13" y="627"/>
                    </a:lnTo>
                    <a:lnTo>
                      <a:pt x="9" y="627"/>
                    </a:lnTo>
                    <a:lnTo>
                      <a:pt x="6" y="627"/>
                    </a:lnTo>
                    <a:lnTo>
                      <a:pt x="3" y="626"/>
                    </a:lnTo>
                    <a:lnTo>
                      <a:pt x="0" y="6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84" name="Freeform 3991"/>
              <p:cNvSpPr>
                <a:spLocks noChangeAspect="1"/>
              </p:cNvSpPr>
              <p:nvPr/>
            </p:nvSpPr>
            <p:spPr bwMode="auto">
              <a:xfrm>
                <a:off x="5384" y="1039"/>
                <a:ext cx="9" cy="210"/>
              </a:xfrm>
              <a:custGeom>
                <a:avLst/>
                <a:gdLst>
                  <a:gd name="T0" fmla="*/ 0 w 26"/>
                  <a:gd name="T1" fmla="*/ 0 h 629"/>
                  <a:gd name="T2" fmla="*/ 0 w 26"/>
                  <a:gd name="T3" fmla="*/ 0 h 629"/>
                  <a:gd name="T4" fmla="*/ 0 w 26"/>
                  <a:gd name="T5" fmla="*/ 0 h 629"/>
                  <a:gd name="T6" fmla="*/ 0 w 26"/>
                  <a:gd name="T7" fmla="*/ 0 h 629"/>
                  <a:gd name="T8" fmla="*/ 0 w 26"/>
                  <a:gd name="T9" fmla="*/ 0 h 629"/>
                  <a:gd name="T10" fmla="*/ 0 w 26"/>
                  <a:gd name="T11" fmla="*/ 0 h 629"/>
                  <a:gd name="T12" fmla="*/ 0 w 26"/>
                  <a:gd name="T13" fmla="*/ 0 h 629"/>
                  <a:gd name="T14" fmla="*/ 0 w 26"/>
                  <a:gd name="T15" fmla="*/ 0 h 629"/>
                  <a:gd name="T16" fmla="*/ 0 w 26"/>
                  <a:gd name="T17" fmla="*/ 0 h 629"/>
                  <a:gd name="T18" fmla="*/ 0 w 26"/>
                  <a:gd name="T19" fmla="*/ 0 h 629"/>
                  <a:gd name="T20" fmla="*/ 0 w 26"/>
                  <a:gd name="T21" fmla="*/ 0 h 629"/>
                  <a:gd name="T22" fmla="*/ 0 w 26"/>
                  <a:gd name="T23" fmla="*/ 0 h 629"/>
                  <a:gd name="T24" fmla="*/ 0 w 26"/>
                  <a:gd name="T25" fmla="*/ 0 h 629"/>
                  <a:gd name="T26" fmla="*/ 0 w 26"/>
                  <a:gd name="T27" fmla="*/ 0 h 629"/>
                  <a:gd name="T28" fmla="*/ 0 w 26"/>
                  <a:gd name="T29" fmla="*/ 0 h 629"/>
                  <a:gd name="T30" fmla="*/ 0 w 26"/>
                  <a:gd name="T31" fmla="*/ 0 h 629"/>
                  <a:gd name="T32" fmla="*/ 0 w 26"/>
                  <a:gd name="T33" fmla="*/ 0 h 629"/>
                  <a:gd name="T34" fmla="*/ 0 w 26"/>
                  <a:gd name="T35" fmla="*/ 0 h 629"/>
                  <a:gd name="T36" fmla="*/ 0 w 26"/>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9">
                    <a:moveTo>
                      <a:pt x="0" y="627"/>
                    </a:moveTo>
                    <a:lnTo>
                      <a:pt x="0" y="1"/>
                    </a:lnTo>
                    <a:lnTo>
                      <a:pt x="3" y="0"/>
                    </a:lnTo>
                    <a:lnTo>
                      <a:pt x="6" y="0"/>
                    </a:lnTo>
                    <a:lnTo>
                      <a:pt x="10" y="0"/>
                    </a:lnTo>
                    <a:lnTo>
                      <a:pt x="13" y="0"/>
                    </a:lnTo>
                    <a:lnTo>
                      <a:pt x="17" y="0"/>
                    </a:lnTo>
                    <a:lnTo>
                      <a:pt x="20" y="0"/>
                    </a:lnTo>
                    <a:lnTo>
                      <a:pt x="23" y="0"/>
                    </a:lnTo>
                    <a:lnTo>
                      <a:pt x="26" y="0"/>
                    </a:lnTo>
                    <a:lnTo>
                      <a:pt x="26" y="629"/>
                    </a:lnTo>
                    <a:lnTo>
                      <a:pt x="23" y="629"/>
                    </a:lnTo>
                    <a:lnTo>
                      <a:pt x="20" y="629"/>
                    </a:lnTo>
                    <a:lnTo>
                      <a:pt x="17" y="629"/>
                    </a:lnTo>
                    <a:lnTo>
                      <a:pt x="13" y="629"/>
                    </a:lnTo>
                    <a:lnTo>
                      <a:pt x="10" y="629"/>
                    </a:lnTo>
                    <a:lnTo>
                      <a:pt x="6" y="629"/>
                    </a:lnTo>
                    <a:lnTo>
                      <a:pt x="3" y="627"/>
                    </a:lnTo>
                    <a:lnTo>
                      <a:pt x="0" y="62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85" name="Freeform 3992"/>
              <p:cNvSpPr>
                <a:spLocks noChangeAspect="1"/>
              </p:cNvSpPr>
              <p:nvPr/>
            </p:nvSpPr>
            <p:spPr bwMode="auto">
              <a:xfrm>
                <a:off x="5389" y="1039"/>
                <a:ext cx="9" cy="210"/>
              </a:xfrm>
              <a:custGeom>
                <a:avLst/>
                <a:gdLst>
                  <a:gd name="T0" fmla="*/ 0 w 27"/>
                  <a:gd name="T1" fmla="*/ 0 h 629"/>
                  <a:gd name="T2" fmla="*/ 0 w 27"/>
                  <a:gd name="T3" fmla="*/ 0 h 629"/>
                  <a:gd name="T4" fmla="*/ 0 w 27"/>
                  <a:gd name="T5" fmla="*/ 0 h 629"/>
                  <a:gd name="T6" fmla="*/ 0 w 27"/>
                  <a:gd name="T7" fmla="*/ 0 h 629"/>
                  <a:gd name="T8" fmla="*/ 0 w 27"/>
                  <a:gd name="T9" fmla="*/ 0 h 629"/>
                  <a:gd name="T10" fmla="*/ 0 w 27"/>
                  <a:gd name="T11" fmla="*/ 0 h 629"/>
                  <a:gd name="T12" fmla="*/ 0 w 27"/>
                  <a:gd name="T13" fmla="*/ 0 h 629"/>
                  <a:gd name="T14" fmla="*/ 0 w 27"/>
                  <a:gd name="T15" fmla="*/ 0 h 629"/>
                  <a:gd name="T16" fmla="*/ 0 w 27"/>
                  <a:gd name="T17" fmla="*/ 0 h 629"/>
                  <a:gd name="T18" fmla="*/ 0 w 27"/>
                  <a:gd name="T19" fmla="*/ 0 h 629"/>
                  <a:gd name="T20" fmla="*/ 0 w 27"/>
                  <a:gd name="T21" fmla="*/ 0 h 629"/>
                  <a:gd name="T22" fmla="*/ 0 w 27"/>
                  <a:gd name="T23" fmla="*/ 0 h 629"/>
                  <a:gd name="T24" fmla="*/ 0 w 27"/>
                  <a:gd name="T25" fmla="*/ 0 h 629"/>
                  <a:gd name="T26" fmla="*/ 0 w 27"/>
                  <a:gd name="T27" fmla="*/ 0 h 629"/>
                  <a:gd name="T28" fmla="*/ 0 w 27"/>
                  <a:gd name="T29" fmla="*/ 0 h 629"/>
                  <a:gd name="T30" fmla="*/ 0 w 27"/>
                  <a:gd name="T31" fmla="*/ 0 h 629"/>
                  <a:gd name="T32" fmla="*/ 0 w 27"/>
                  <a:gd name="T33" fmla="*/ 0 h 629"/>
                  <a:gd name="T34" fmla="*/ 0 w 27"/>
                  <a:gd name="T35" fmla="*/ 0 h 629"/>
                  <a:gd name="T36" fmla="*/ 0 w 27"/>
                  <a:gd name="T37" fmla="*/ 0 h 629"/>
                  <a:gd name="T38" fmla="*/ 0 w 27"/>
                  <a:gd name="T39" fmla="*/ 0 h 629"/>
                  <a:gd name="T40" fmla="*/ 0 w 27"/>
                  <a:gd name="T41" fmla="*/ 0 h 629"/>
                  <a:gd name="T42" fmla="*/ 0 w 27"/>
                  <a:gd name="T43" fmla="*/ 0 h 629"/>
                  <a:gd name="T44" fmla="*/ 0 w 27"/>
                  <a:gd name="T45" fmla="*/ 0 h 629"/>
                  <a:gd name="T46" fmla="*/ 0 w 27"/>
                  <a:gd name="T47" fmla="*/ 0 h 629"/>
                  <a:gd name="T48" fmla="*/ 0 w 27"/>
                  <a:gd name="T49" fmla="*/ 0 h 629"/>
                  <a:gd name="T50" fmla="*/ 0 w 27"/>
                  <a:gd name="T51" fmla="*/ 0 h 629"/>
                  <a:gd name="T52" fmla="*/ 0 w 27"/>
                  <a:gd name="T53" fmla="*/ 0 h 629"/>
                  <a:gd name="T54" fmla="*/ 0 w 27"/>
                  <a:gd name="T55" fmla="*/ 0 h 629"/>
                  <a:gd name="T56" fmla="*/ 0 w 27"/>
                  <a:gd name="T57" fmla="*/ 0 h 629"/>
                  <a:gd name="T58" fmla="*/ 0 w 27"/>
                  <a:gd name="T59" fmla="*/ 0 h 629"/>
                  <a:gd name="T60" fmla="*/ 0 w 27"/>
                  <a:gd name="T61" fmla="*/ 0 h 629"/>
                  <a:gd name="T62" fmla="*/ 0 w 27"/>
                  <a:gd name="T63" fmla="*/ 0 h 629"/>
                  <a:gd name="T64" fmla="*/ 0 w 27"/>
                  <a:gd name="T65" fmla="*/ 0 h 629"/>
                  <a:gd name="T66" fmla="*/ 0 w 27"/>
                  <a:gd name="T67" fmla="*/ 0 h 629"/>
                  <a:gd name="T68" fmla="*/ 0 w 27"/>
                  <a:gd name="T69" fmla="*/ 0 h 6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7" h="629">
                    <a:moveTo>
                      <a:pt x="0" y="629"/>
                    </a:moveTo>
                    <a:lnTo>
                      <a:pt x="0" y="0"/>
                    </a:lnTo>
                    <a:lnTo>
                      <a:pt x="2" y="0"/>
                    </a:lnTo>
                    <a:lnTo>
                      <a:pt x="4" y="0"/>
                    </a:lnTo>
                    <a:lnTo>
                      <a:pt x="5" y="0"/>
                    </a:lnTo>
                    <a:lnTo>
                      <a:pt x="7" y="0"/>
                    </a:lnTo>
                    <a:lnTo>
                      <a:pt x="9" y="0"/>
                    </a:lnTo>
                    <a:lnTo>
                      <a:pt x="10" y="0"/>
                    </a:lnTo>
                    <a:lnTo>
                      <a:pt x="12" y="0"/>
                    </a:lnTo>
                    <a:lnTo>
                      <a:pt x="13" y="0"/>
                    </a:lnTo>
                    <a:lnTo>
                      <a:pt x="15" y="0"/>
                    </a:lnTo>
                    <a:lnTo>
                      <a:pt x="16" y="0"/>
                    </a:lnTo>
                    <a:lnTo>
                      <a:pt x="19" y="0"/>
                    </a:lnTo>
                    <a:lnTo>
                      <a:pt x="20" y="0"/>
                    </a:lnTo>
                    <a:lnTo>
                      <a:pt x="22" y="0"/>
                    </a:lnTo>
                    <a:lnTo>
                      <a:pt x="24" y="0"/>
                    </a:lnTo>
                    <a:lnTo>
                      <a:pt x="25" y="0"/>
                    </a:lnTo>
                    <a:lnTo>
                      <a:pt x="27" y="0"/>
                    </a:lnTo>
                    <a:lnTo>
                      <a:pt x="27" y="629"/>
                    </a:lnTo>
                    <a:lnTo>
                      <a:pt x="25" y="629"/>
                    </a:lnTo>
                    <a:lnTo>
                      <a:pt x="24" y="629"/>
                    </a:lnTo>
                    <a:lnTo>
                      <a:pt x="22" y="629"/>
                    </a:lnTo>
                    <a:lnTo>
                      <a:pt x="20" y="629"/>
                    </a:lnTo>
                    <a:lnTo>
                      <a:pt x="19" y="629"/>
                    </a:lnTo>
                    <a:lnTo>
                      <a:pt x="16" y="629"/>
                    </a:lnTo>
                    <a:lnTo>
                      <a:pt x="15" y="629"/>
                    </a:lnTo>
                    <a:lnTo>
                      <a:pt x="13" y="629"/>
                    </a:lnTo>
                    <a:lnTo>
                      <a:pt x="12" y="629"/>
                    </a:lnTo>
                    <a:lnTo>
                      <a:pt x="10" y="629"/>
                    </a:lnTo>
                    <a:lnTo>
                      <a:pt x="9" y="629"/>
                    </a:lnTo>
                    <a:lnTo>
                      <a:pt x="7" y="629"/>
                    </a:lnTo>
                    <a:lnTo>
                      <a:pt x="5" y="629"/>
                    </a:lnTo>
                    <a:lnTo>
                      <a:pt x="4" y="629"/>
                    </a:lnTo>
                    <a:lnTo>
                      <a:pt x="2"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86" name="Freeform 3993"/>
              <p:cNvSpPr>
                <a:spLocks noChangeAspect="1"/>
              </p:cNvSpPr>
              <p:nvPr/>
            </p:nvSpPr>
            <p:spPr bwMode="auto">
              <a:xfrm>
                <a:off x="5393" y="1039"/>
                <a:ext cx="9" cy="210"/>
              </a:xfrm>
              <a:custGeom>
                <a:avLst/>
                <a:gdLst>
                  <a:gd name="T0" fmla="*/ 0 w 27"/>
                  <a:gd name="T1" fmla="*/ 0 h 629"/>
                  <a:gd name="T2" fmla="*/ 0 w 27"/>
                  <a:gd name="T3" fmla="*/ 0 h 629"/>
                  <a:gd name="T4" fmla="*/ 0 w 27"/>
                  <a:gd name="T5" fmla="*/ 0 h 629"/>
                  <a:gd name="T6" fmla="*/ 0 w 27"/>
                  <a:gd name="T7" fmla="*/ 0 h 629"/>
                  <a:gd name="T8" fmla="*/ 0 w 27"/>
                  <a:gd name="T9" fmla="*/ 0 h 629"/>
                  <a:gd name="T10" fmla="*/ 0 w 27"/>
                  <a:gd name="T11" fmla="*/ 0 h 629"/>
                  <a:gd name="T12" fmla="*/ 0 w 27"/>
                  <a:gd name="T13" fmla="*/ 0 h 629"/>
                  <a:gd name="T14" fmla="*/ 0 w 27"/>
                  <a:gd name="T15" fmla="*/ 0 h 629"/>
                  <a:gd name="T16" fmla="*/ 0 w 27"/>
                  <a:gd name="T17" fmla="*/ 0 h 629"/>
                  <a:gd name="T18" fmla="*/ 0 w 27"/>
                  <a:gd name="T19" fmla="*/ 0 h 629"/>
                  <a:gd name="T20" fmla="*/ 0 w 27"/>
                  <a:gd name="T21" fmla="*/ 0 h 629"/>
                  <a:gd name="T22" fmla="*/ 0 w 27"/>
                  <a:gd name="T23" fmla="*/ 0 h 629"/>
                  <a:gd name="T24" fmla="*/ 0 w 27"/>
                  <a:gd name="T25" fmla="*/ 0 h 629"/>
                  <a:gd name="T26" fmla="*/ 0 w 27"/>
                  <a:gd name="T27" fmla="*/ 0 h 629"/>
                  <a:gd name="T28" fmla="*/ 0 w 27"/>
                  <a:gd name="T29" fmla="*/ 0 h 629"/>
                  <a:gd name="T30" fmla="*/ 0 w 27"/>
                  <a:gd name="T31" fmla="*/ 0 h 629"/>
                  <a:gd name="T32" fmla="*/ 0 w 27"/>
                  <a:gd name="T33" fmla="*/ 0 h 629"/>
                  <a:gd name="T34" fmla="*/ 0 w 27"/>
                  <a:gd name="T35" fmla="*/ 0 h 629"/>
                  <a:gd name="T36" fmla="*/ 0 w 27"/>
                  <a:gd name="T37" fmla="*/ 0 h 629"/>
                  <a:gd name="T38" fmla="*/ 0 w 27"/>
                  <a:gd name="T39" fmla="*/ 0 h 629"/>
                  <a:gd name="T40" fmla="*/ 0 w 27"/>
                  <a:gd name="T41" fmla="*/ 0 h 6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7" h="629">
                    <a:moveTo>
                      <a:pt x="0" y="629"/>
                    </a:moveTo>
                    <a:lnTo>
                      <a:pt x="0" y="0"/>
                    </a:lnTo>
                    <a:lnTo>
                      <a:pt x="3" y="0"/>
                    </a:lnTo>
                    <a:lnTo>
                      <a:pt x="7" y="0"/>
                    </a:lnTo>
                    <a:lnTo>
                      <a:pt x="11" y="0"/>
                    </a:lnTo>
                    <a:lnTo>
                      <a:pt x="14" y="0"/>
                    </a:lnTo>
                    <a:lnTo>
                      <a:pt x="17" y="0"/>
                    </a:lnTo>
                    <a:lnTo>
                      <a:pt x="20" y="0"/>
                    </a:lnTo>
                    <a:lnTo>
                      <a:pt x="24" y="0"/>
                    </a:lnTo>
                    <a:lnTo>
                      <a:pt x="27" y="1"/>
                    </a:lnTo>
                    <a:lnTo>
                      <a:pt x="27" y="627"/>
                    </a:lnTo>
                    <a:lnTo>
                      <a:pt x="24" y="627"/>
                    </a:lnTo>
                    <a:lnTo>
                      <a:pt x="20" y="629"/>
                    </a:lnTo>
                    <a:lnTo>
                      <a:pt x="17" y="629"/>
                    </a:lnTo>
                    <a:lnTo>
                      <a:pt x="14" y="629"/>
                    </a:lnTo>
                    <a:lnTo>
                      <a:pt x="11" y="629"/>
                    </a:lnTo>
                    <a:lnTo>
                      <a:pt x="7" y="629"/>
                    </a:lnTo>
                    <a:lnTo>
                      <a:pt x="3"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87" name="Freeform 3994"/>
              <p:cNvSpPr>
                <a:spLocks noChangeAspect="1"/>
              </p:cNvSpPr>
              <p:nvPr/>
            </p:nvSpPr>
            <p:spPr bwMode="auto">
              <a:xfrm>
                <a:off x="5398" y="1039"/>
                <a:ext cx="9" cy="210"/>
              </a:xfrm>
              <a:custGeom>
                <a:avLst/>
                <a:gdLst>
                  <a:gd name="T0" fmla="*/ 0 w 27"/>
                  <a:gd name="T1" fmla="*/ 0 h 629"/>
                  <a:gd name="T2" fmla="*/ 0 w 27"/>
                  <a:gd name="T3" fmla="*/ 0 h 629"/>
                  <a:gd name="T4" fmla="*/ 0 w 27"/>
                  <a:gd name="T5" fmla="*/ 0 h 629"/>
                  <a:gd name="T6" fmla="*/ 0 w 27"/>
                  <a:gd name="T7" fmla="*/ 0 h 629"/>
                  <a:gd name="T8" fmla="*/ 0 w 27"/>
                  <a:gd name="T9" fmla="*/ 0 h 629"/>
                  <a:gd name="T10" fmla="*/ 0 w 27"/>
                  <a:gd name="T11" fmla="*/ 0 h 629"/>
                  <a:gd name="T12" fmla="*/ 0 w 27"/>
                  <a:gd name="T13" fmla="*/ 0 h 629"/>
                  <a:gd name="T14" fmla="*/ 0 w 27"/>
                  <a:gd name="T15" fmla="*/ 0 h 629"/>
                  <a:gd name="T16" fmla="*/ 0 w 27"/>
                  <a:gd name="T17" fmla="*/ 0 h 629"/>
                  <a:gd name="T18" fmla="*/ 0 w 27"/>
                  <a:gd name="T19" fmla="*/ 0 h 629"/>
                  <a:gd name="T20" fmla="*/ 0 w 27"/>
                  <a:gd name="T21" fmla="*/ 0 h 629"/>
                  <a:gd name="T22" fmla="*/ 0 w 27"/>
                  <a:gd name="T23" fmla="*/ 0 h 629"/>
                  <a:gd name="T24" fmla="*/ 0 w 27"/>
                  <a:gd name="T25" fmla="*/ 0 h 629"/>
                  <a:gd name="T26" fmla="*/ 0 w 27"/>
                  <a:gd name="T27" fmla="*/ 0 h 629"/>
                  <a:gd name="T28" fmla="*/ 0 w 27"/>
                  <a:gd name="T29" fmla="*/ 0 h 629"/>
                  <a:gd name="T30" fmla="*/ 0 w 27"/>
                  <a:gd name="T31" fmla="*/ 0 h 629"/>
                  <a:gd name="T32" fmla="*/ 0 w 27"/>
                  <a:gd name="T33" fmla="*/ 0 h 629"/>
                  <a:gd name="T34" fmla="*/ 0 w 27"/>
                  <a:gd name="T35" fmla="*/ 0 h 629"/>
                  <a:gd name="T36" fmla="*/ 0 w 27"/>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9">
                    <a:moveTo>
                      <a:pt x="0" y="629"/>
                    </a:moveTo>
                    <a:lnTo>
                      <a:pt x="0" y="0"/>
                    </a:lnTo>
                    <a:lnTo>
                      <a:pt x="3" y="0"/>
                    </a:lnTo>
                    <a:lnTo>
                      <a:pt x="6" y="0"/>
                    </a:lnTo>
                    <a:lnTo>
                      <a:pt x="10" y="0"/>
                    </a:lnTo>
                    <a:lnTo>
                      <a:pt x="13" y="1"/>
                    </a:lnTo>
                    <a:lnTo>
                      <a:pt x="16" y="1"/>
                    </a:lnTo>
                    <a:lnTo>
                      <a:pt x="19" y="1"/>
                    </a:lnTo>
                    <a:lnTo>
                      <a:pt x="23" y="2"/>
                    </a:lnTo>
                    <a:lnTo>
                      <a:pt x="27" y="2"/>
                    </a:lnTo>
                    <a:lnTo>
                      <a:pt x="27" y="626"/>
                    </a:lnTo>
                    <a:lnTo>
                      <a:pt x="23" y="626"/>
                    </a:lnTo>
                    <a:lnTo>
                      <a:pt x="19" y="627"/>
                    </a:lnTo>
                    <a:lnTo>
                      <a:pt x="16" y="627"/>
                    </a:lnTo>
                    <a:lnTo>
                      <a:pt x="13" y="627"/>
                    </a:lnTo>
                    <a:lnTo>
                      <a:pt x="10" y="627"/>
                    </a:lnTo>
                    <a:lnTo>
                      <a:pt x="6" y="629"/>
                    </a:lnTo>
                    <a:lnTo>
                      <a:pt x="3"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88" name="Freeform 3995"/>
              <p:cNvSpPr>
                <a:spLocks noChangeAspect="1"/>
              </p:cNvSpPr>
              <p:nvPr/>
            </p:nvSpPr>
            <p:spPr bwMode="auto">
              <a:xfrm>
                <a:off x="5402" y="1040"/>
                <a:ext cx="9" cy="208"/>
              </a:xfrm>
              <a:custGeom>
                <a:avLst/>
                <a:gdLst>
                  <a:gd name="T0" fmla="*/ 0 w 26"/>
                  <a:gd name="T1" fmla="*/ 0 h 626"/>
                  <a:gd name="T2" fmla="*/ 0 w 26"/>
                  <a:gd name="T3" fmla="*/ 0 h 626"/>
                  <a:gd name="T4" fmla="*/ 0 w 26"/>
                  <a:gd name="T5" fmla="*/ 0 h 626"/>
                  <a:gd name="T6" fmla="*/ 0 w 26"/>
                  <a:gd name="T7" fmla="*/ 0 h 626"/>
                  <a:gd name="T8" fmla="*/ 0 w 26"/>
                  <a:gd name="T9" fmla="*/ 0 h 626"/>
                  <a:gd name="T10" fmla="*/ 0 w 26"/>
                  <a:gd name="T11" fmla="*/ 0 h 626"/>
                  <a:gd name="T12" fmla="*/ 0 w 26"/>
                  <a:gd name="T13" fmla="*/ 0 h 626"/>
                  <a:gd name="T14" fmla="*/ 0 w 26"/>
                  <a:gd name="T15" fmla="*/ 0 h 626"/>
                  <a:gd name="T16" fmla="*/ 0 w 26"/>
                  <a:gd name="T17" fmla="*/ 0 h 626"/>
                  <a:gd name="T18" fmla="*/ 0 w 26"/>
                  <a:gd name="T19" fmla="*/ 0 h 626"/>
                  <a:gd name="T20" fmla="*/ 0 w 26"/>
                  <a:gd name="T21" fmla="*/ 0 h 626"/>
                  <a:gd name="T22" fmla="*/ 0 w 26"/>
                  <a:gd name="T23" fmla="*/ 0 h 626"/>
                  <a:gd name="T24" fmla="*/ 0 w 26"/>
                  <a:gd name="T25" fmla="*/ 0 h 626"/>
                  <a:gd name="T26" fmla="*/ 0 w 26"/>
                  <a:gd name="T27" fmla="*/ 0 h 626"/>
                  <a:gd name="T28" fmla="*/ 0 w 26"/>
                  <a:gd name="T29" fmla="*/ 0 h 626"/>
                  <a:gd name="T30" fmla="*/ 0 w 26"/>
                  <a:gd name="T31" fmla="*/ 0 h 626"/>
                  <a:gd name="T32" fmla="*/ 0 w 26"/>
                  <a:gd name="T33" fmla="*/ 0 h 626"/>
                  <a:gd name="T34" fmla="*/ 0 w 26"/>
                  <a:gd name="T35" fmla="*/ 0 h 626"/>
                  <a:gd name="T36" fmla="*/ 0 w 26"/>
                  <a:gd name="T37" fmla="*/ 0 h 6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6">
                    <a:moveTo>
                      <a:pt x="0" y="626"/>
                    </a:moveTo>
                    <a:lnTo>
                      <a:pt x="0" y="0"/>
                    </a:lnTo>
                    <a:lnTo>
                      <a:pt x="3" y="0"/>
                    </a:lnTo>
                    <a:lnTo>
                      <a:pt x="6" y="0"/>
                    </a:lnTo>
                    <a:lnTo>
                      <a:pt x="10" y="1"/>
                    </a:lnTo>
                    <a:lnTo>
                      <a:pt x="14" y="1"/>
                    </a:lnTo>
                    <a:lnTo>
                      <a:pt x="17" y="1"/>
                    </a:lnTo>
                    <a:lnTo>
                      <a:pt x="20" y="2"/>
                    </a:lnTo>
                    <a:lnTo>
                      <a:pt x="23" y="2"/>
                    </a:lnTo>
                    <a:lnTo>
                      <a:pt x="26" y="3"/>
                    </a:lnTo>
                    <a:lnTo>
                      <a:pt x="26" y="623"/>
                    </a:lnTo>
                    <a:lnTo>
                      <a:pt x="23" y="624"/>
                    </a:lnTo>
                    <a:lnTo>
                      <a:pt x="20" y="624"/>
                    </a:lnTo>
                    <a:lnTo>
                      <a:pt x="17" y="625"/>
                    </a:lnTo>
                    <a:lnTo>
                      <a:pt x="14" y="625"/>
                    </a:lnTo>
                    <a:lnTo>
                      <a:pt x="10" y="625"/>
                    </a:lnTo>
                    <a:lnTo>
                      <a:pt x="6" y="626"/>
                    </a:lnTo>
                    <a:lnTo>
                      <a:pt x="3" y="626"/>
                    </a:lnTo>
                    <a:lnTo>
                      <a:pt x="0" y="6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89" name="Freeform 3996"/>
              <p:cNvSpPr>
                <a:spLocks noChangeAspect="1"/>
              </p:cNvSpPr>
              <p:nvPr/>
            </p:nvSpPr>
            <p:spPr bwMode="auto">
              <a:xfrm>
                <a:off x="5407" y="1040"/>
                <a:ext cx="8" cy="208"/>
              </a:xfrm>
              <a:custGeom>
                <a:avLst/>
                <a:gdLst>
                  <a:gd name="T0" fmla="*/ 0 w 26"/>
                  <a:gd name="T1" fmla="*/ 0 h 624"/>
                  <a:gd name="T2" fmla="*/ 0 w 26"/>
                  <a:gd name="T3" fmla="*/ 0 h 624"/>
                  <a:gd name="T4" fmla="*/ 0 w 26"/>
                  <a:gd name="T5" fmla="*/ 0 h 624"/>
                  <a:gd name="T6" fmla="*/ 0 w 26"/>
                  <a:gd name="T7" fmla="*/ 0 h 624"/>
                  <a:gd name="T8" fmla="*/ 0 w 26"/>
                  <a:gd name="T9" fmla="*/ 0 h 624"/>
                  <a:gd name="T10" fmla="*/ 0 w 26"/>
                  <a:gd name="T11" fmla="*/ 0 h 624"/>
                  <a:gd name="T12" fmla="*/ 0 w 26"/>
                  <a:gd name="T13" fmla="*/ 0 h 624"/>
                  <a:gd name="T14" fmla="*/ 0 w 26"/>
                  <a:gd name="T15" fmla="*/ 0 h 624"/>
                  <a:gd name="T16" fmla="*/ 0 w 26"/>
                  <a:gd name="T17" fmla="*/ 0 h 624"/>
                  <a:gd name="T18" fmla="*/ 0 w 26"/>
                  <a:gd name="T19" fmla="*/ 0 h 624"/>
                  <a:gd name="T20" fmla="*/ 0 w 26"/>
                  <a:gd name="T21" fmla="*/ 0 h 624"/>
                  <a:gd name="T22" fmla="*/ 0 w 26"/>
                  <a:gd name="T23" fmla="*/ 0 h 624"/>
                  <a:gd name="T24" fmla="*/ 0 w 26"/>
                  <a:gd name="T25" fmla="*/ 0 h 624"/>
                  <a:gd name="T26" fmla="*/ 0 w 26"/>
                  <a:gd name="T27" fmla="*/ 0 h 624"/>
                  <a:gd name="T28" fmla="*/ 0 w 26"/>
                  <a:gd name="T29" fmla="*/ 0 h 624"/>
                  <a:gd name="T30" fmla="*/ 0 w 26"/>
                  <a:gd name="T31" fmla="*/ 0 h 624"/>
                  <a:gd name="T32" fmla="*/ 0 w 26"/>
                  <a:gd name="T33" fmla="*/ 0 h 624"/>
                  <a:gd name="T34" fmla="*/ 0 w 26"/>
                  <a:gd name="T35" fmla="*/ 0 h 624"/>
                  <a:gd name="T36" fmla="*/ 0 w 26"/>
                  <a:gd name="T37" fmla="*/ 0 h 6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4">
                    <a:moveTo>
                      <a:pt x="0" y="624"/>
                    </a:moveTo>
                    <a:lnTo>
                      <a:pt x="0" y="0"/>
                    </a:lnTo>
                    <a:lnTo>
                      <a:pt x="3" y="0"/>
                    </a:lnTo>
                    <a:lnTo>
                      <a:pt x="6" y="1"/>
                    </a:lnTo>
                    <a:lnTo>
                      <a:pt x="9" y="1"/>
                    </a:lnTo>
                    <a:lnTo>
                      <a:pt x="12" y="2"/>
                    </a:lnTo>
                    <a:lnTo>
                      <a:pt x="16" y="2"/>
                    </a:lnTo>
                    <a:lnTo>
                      <a:pt x="19" y="4"/>
                    </a:lnTo>
                    <a:lnTo>
                      <a:pt x="22" y="4"/>
                    </a:lnTo>
                    <a:lnTo>
                      <a:pt x="26" y="5"/>
                    </a:lnTo>
                    <a:lnTo>
                      <a:pt x="26" y="620"/>
                    </a:lnTo>
                    <a:lnTo>
                      <a:pt x="22" y="621"/>
                    </a:lnTo>
                    <a:lnTo>
                      <a:pt x="19" y="621"/>
                    </a:lnTo>
                    <a:lnTo>
                      <a:pt x="16" y="622"/>
                    </a:lnTo>
                    <a:lnTo>
                      <a:pt x="12" y="622"/>
                    </a:lnTo>
                    <a:lnTo>
                      <a:pt x="9" y="623"/>
                    </a:lnTo>
                    <a:lnTo>
                      <a:pt x="6" y="623"/>
                    </a:lnTo>
                    <a:lnTo>
                      <a:pt x="3" y="624"/>
                    </a:lnTo>
                    <a:lnTo>
                      <a:pt x="0" y="62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90" name="Freeform 3997"/>
              <p:cNvSpPr>
                <a:spLocks noChangeAspect="1"/>
              </p:cNvSpPr>
              <p:nvPr/>
            </p:nvSpPr>
            <p:spPr bwMode="auto">
              <a:xfrm>
                <a:off x="5411" y="1041"/>
                <a:ext cx="9" cy="206"/>
              </a:xfrm>
              <a:custGeom>
                <a:avLst/>
                <a:gdLst>
                  <a:gd name="T0" fmla="*/ 0 w 27"/>
                  <a:gd name="T1" fmla="*/ 0 h 620"/>
                  <a:gd name="T2" fmla="*/ 0 w 27"/>
                  <a:gd name="T3" fmla="*/ 0 h 620"/>
                  <a:gd name="T4" fmla="*/ 0 w 27"/>
                  <a:gd name="T5" fmla="*/ 0 h 620"/>
                  <a:gd name="T6" fmla="*/ 0 w 27"/>
                  <a:gd name="T7" fmla="*/ 0 h 620"/>
                  <a:gd name="T8" fmla="*/ 0 w 27"/>
                  <a:gd name="T9" fmla="*/ 0 h 620"/>
                  <a:gd name="T10" fmla="*/ 0 w 27"/>
                  <a:gd name="T11" fmla="*/ 0 h 620"/>
                  <a:gd name="T12" fmla="*/ 0 w 27"/>
                  <a:gd name="T13" fmla="*/ 0 h 620"/>
                  <a:gd name="T14" fmla="*/ 0 w 27"/>
                  <a:gd name="T15" fmla="*/ 0 h 620"/>
                  <a:gd name="T16" fmla="*/ 0 w 27"/>
                  <a:gd name="T17" fmla="*/ 0 h 620"/>
                  <a:gd name="T18" fmla="*/ 0 w 27"/>
                  <a:gd name="T19" fmla="*/ 0 h 620"/>
                  <a:gd name="T20" fmla="*/ 0 w 27"/>
                  <a:gd name="T21" fmla="*/ 0 h 620"/>
                  <a:gd name="T22" fmla="*/ 0 w 27"/>
                  <a:gd name="T23" fmla="*/ 0 h 620"/>
                  <a:gd name="T24" fmla="*/ 0 w 27"/>
                  <a:gd name="T25" fmla="*/ 0 h 620"/>
                  <a:gd name="T26" fmla="*/ 0 w 27"/>
                  <a:gd name="T27" fmla="*/ 0 h 620"/>
                  <a:gd name="T28" fmla="*/ 0 w 27"/>
                  <a:gd name="T29" fmla="*/ 0 h 620"/>
                  <a:gd name="T30" fmla="*/ 0 w 27"/>
                  <a:gd name="T31" fmla="*/ 0 h 620"/>
                  <a:gd name="T32" fmla="*/ 0 w 27"/>
                  <a:gd name="T33" fmla="*/ 0 h 620"/>
                  <a:gd name="T34" fmla="*/ 0 w 27"/>
                  <a:gd name="T35" fmla="*/ 0 h 620"/>
                  <a:gd name="T36" fmla="*/ 0 w 27"/>
                  <a:gd name="T37" fmla="*/ 0 h 6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0">
                    <a:moveTo>
                      <a:pt x="0" y="620"/>
                    </a:moveTo>
                    <a:lnTo>
                      <a:pt x="0" y="0"/>
                    </a:lnTo>
                    <a:lnTo>
                      <a:pt x="4" y="0"/>
                    </a:lnTo>
                    <a:lnTo>
                      <a:pt x="7" y="2"/>
                    </a:lnTo>
                    <a:lnTo>
                      <a:pt x="11" y="2"/>
                    </a:lnTo>
                    <a:lnTo>
                      <a:pt x="14" y="3"/>
                    </a:lnTo>
                    <a:lnTo>
                      <a:pt x="17" y="3"/>
                    </a:lnTo>
                    <a:lnTo>
                      <a:pt x="21" y="4"/>
                    </a:lnTo>
                    <a:lnTo>
                      <a:pt x="24" y="5"/>
                    </a:lnTo>
                    <a:lnTo>
                      <a:pt x="27" y="5"/>
                    </a:lnTo>
                    <a:lnTo>
                      <a:pt x="27" y="615"/>
                    </a:lnTo>
                    <a:lnTo>
                      <a:pt x="24" y="616"/>
                    </a:lnTo>
                    <a:lnTo>
                      <a:pt x="21" y="617"/>
                    </a:lnTo>
                    <a:lnTo>
                      <a:pt x="17" y="617"/>
                    </a:lnTo>
                    <a:lnTo>
                      <a:pt x="14" y="618"/>
                    </a:lnTo>
                    <a:lnTo>
                      <a:pt x="11" y="619"/>
                    </a:lnTo>
                    <a:lnTo>
                      <a:pt x="7" y="619"/>
                    </a:lnTo>
                    <a:lnTo>
                      <a:pt x="4" y="620"/>
                    </a:lnTo>
                    <a:lnTo>
                      <a:pt x="0" y="6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91" name="Freeform 3998"/>
              <p:cNvSpPr>
                <a:spLocks noChangeAspect="1"/>
              </p:cNvSpPr>
              <p:nvPr/>
            </p:nvSpPr>
            <p:spPr bwMode="auto">
              <a:xfrm>
                <a:off x="5415" y="1042"/>
                <a:ext cx="9" cy="205"/>
              </a:xfrm>
              <a:custGeom>
                <a:avLst/>
                <a:gdLst>
                  <a:gd name="T0" fmla="*/ 0 w 27"/>
                  <a:gd name="T1" fmla="*/ 0 h 615"/>
                  <a:gd name="T2" fmla="*/ 0 w 27"/>
                  <a:gd name="T3" fmla="*/ 0 h 615"/>
                  <a:gd name="T4" fmla="*/ 0 w 27"/>
                  <a:gd name="T5" fmla="*/ 0 h 615"/>
                  <a:gd name="T6" fmla="*/ 0 w 27"/>
                  <a:gd name="T7" fmla="*/ 0 h 615"/>
                  <a:gd name="T8" fmla="*/ 0 w 27"/>
                  <a:gd name="T9" fmla="*/ 0 h 615"/>
                  <a:gd name="T10" fmla="*/ 0 w 27"/>
                  <a:gd name="T11" fmla="*/ 0 h 615"/>
                  <a:gd name="T12" fmla="*/ 0 w 27"/>
                  <a:gd name="T13" fmla="*/ 0 h 615"/>
                  <a:gd name="T14" fmla="*/ 0 w 27"/>
                  <a:gd name="T15" fmla="*/ 0 h 615"/>
                  <a:gd name="T16" fmla="*/ 0 w 27"/>
                  <a:gd name="T17" fmla="*/ 0 h 615"/>
                  <a:gd name="T18" fmla="*/ 0 w 27"/>
                  <a:gd name="T19" fmla="*/ 0 h 615"/>
                  <a:gd name="T20" fmla="*/ 0 w 27"/>
                  <a:gd name="T21" fmla="*/ 0 h 615"/>
                  <a:gd name="T22" fmla="*/ 0 w 27"/>
                  <a:gd name="T23" fmla="*/ 0 h 615"/>
                  <a:gd name="T24" fmla="*/ 0 w 27"/>
                  <a:gd name="T25" fmla="*/ 0 h 615"/>
                  <a:gd name="T26" fmla="*/ 0 w 27"/>
                  <a:gd name="T27" fmla="*/ 0 h 615"/>
                  <a:gd name="T28" fmla="*/ 0 w 27"/>
                  <a:gd name="T29" fmla="*/ 0 h 615"/>
                  <a:gd name="T30" fmla="*/ 0 w 27"/>
                  <a:gd name="T31" fmla="*/ 0 h 615"/>
                  <a:gd name="T32" fmla="*/ 0 w 27"/>
                  <a:gd name="T33" fmla="*/ 0 h 615"/>
                  <a:gd name="T34" fmla="*/ 0 w 27"/>
                  <a:gd name="T35" fmla="*/ 0 h 615"/>
                  <a:gd name="T36" fmla="*/ 0 w 27"/>
                  <a:gd name="T37" fmla="*/ 0 h 6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15">
                    <a:moveTo>
                      <a:pt x="0" y="615"/>
                    </a:moveTo>
                    <a:lnTo>
                      <a:pt x="0" y="0"/>
                    </a:lnTo>
                    <a:lnTo>
                      <a:pt x="3" y="0"/>
                    </a:lnTo>
                    <a:lnTo>
                      <a:pt x="7" y="1"/>
                    </a:lnTo>
                    <a:lnTo>
                      <a:pt x="10" y="2"/>
                    </a:lnTo>
                    <a:lnTo>
                      <a:pt x="13" y="2"/>
                    </a:lnTo>
                    <a:lnTo>
                      <a:pt x="16" y="3"/>
                    </a:lnTo>
                    <a:lnTo>
                      <a:pt x="19" y="4"/>
                    </a:lnTo>
                    <a:lnTo>
                      <a:pt x="23" y="5"/>
                    </a:lnTo>
                    <a:lnTo>
                      <a:pt x="27" y="6"/>
                    </a:lnTo>
                    <a:lnTo>
                      <a:pt x="27" y="609"/>
                    </a:lnTo>
                    <a:lnTo>
                      <a:pt x="23" y="610"/>
                    </a:lnTo>
                    <a:lnTo>
                      <a:pt x="19" y="611"/>
                    </a:lnTo>
                    <a:lnTo>
                      <a:pt x="16" y="612"/>
                    </a:lnTo>
                    <a:lnTo>
                      <a:pt x="13" y="612"/>
                    </a:lnTo>
                    <a:lnTo>
                      <a:pt x="10" y="613"/>
                    </a:lnTo>
                    <a:lnTo>
                      <a:pt x="7" y="614"/>
                    </a:lnTo>
                    <a:lnTo>
                      <a:pt x="3" y="614"/>
                    </a:lnTo>
                    <a:lnTo>
                      <a:pt x="0" y="6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92" name="Freeform 3999"/>
              <p:cNvSpPr>
                <a:spLocks noChangeAspect="1"/>
              </p:cNvSpPr>
              <p:nvPr/>
            </p:nvSpPr>
            <p:spPr bwMode="auto">
              <a:xfrm>
                <a:off x="5420" y="1042"/>
                <a:ext cx="9" cy="204"/>
              </a:xfrm>
              <a:custGeom>
                <a:avLst/>
                <a:gdLst>
                  <a:gd name="T0" fmla="*/ 0 w 27"/>
                  <a:gd name="T1" fmla="*/ 0 h 610"/>
                  <a:gd name="T2" fmla="*/ 0 w 27"/>
                  <a:gd name="T3" fmla="*/ 0 h 610"/>
                  <a:gd name="T4" fmla="*/ 0 w 27"/>
                  <a:gd name="T5" fmla="*/ 0 h 610"/>
                  <a:gd name="T6" fmla="*/ 0 w 27"/>
                  <a:gd name="T7" fmla="*/ 0 h 610"/>
                  <a:gd name="T8" fmla="*/ 0 w 27"/>
                  <a:gd name="T9" fmla="*/ 0 h 610"/>
                  <a:gd name="T10" fmla="*/ 0 w 27"/>
                  <a:gd name="T11" fmla="*/ 0 h 610"/>
                  <a:gd name="T12" fmla="*/ 0 w 27"/>
                  <a:gd name="T13" fmla="*/ 0 h 610"/>
                  <a:gd name="T14" fmla="*/ 0 w 27"/>
                  <a:gd name="T15" fmla="*/ 0 h 610"/>
                  <a:gd name="T16" fmla="*/ 0 w 27"/>
                  <a:gd name="T17" fmla="*/ 0 h 610"/>
                  <a:gd name="T18" fmla="*/ 0 w 27"/>
                  <a:gd name="T19" fmla="*/ 0 h 610"/>
                  <a:gd name="T20" fmla="*/ 0 w 27"/>
                  <a:gd name="T21" fmla="*/ 0 h 610"/>
                  <a:gd name="T22" fmla="*/ 0 w 27"/>
                  <a:gd name="T23" fmla="*/ 0 h 610"/>
                  <a:gd name="T24" fmla="*/ 0 w 27"/>
                  <a:gd name="T25" fmla="*/ 0 h 610"/>
                  <a:gd name="T26" fmla="*/ 0 w 27"/>
                  <a:gd name="T27" fmla="*/ 0 h 610"/>
                  <a:gd name="T28" fmla="*/ 0 w 27"/>
                  <a:gd name="T29" fmla="*/ 0 h 610"/>
                  <a:gd name="T30" fmla="*/ 0 w 27"/>
                  <a:gd name="T31" fmla="*/ 0 h 610"/>
                  <a:gd name="T32" fmla="*/ 0 w 27"/>
                  <a:gd name="T33" fmla="*/ 0 h 610"/>
                  <a:gd name="T34" fmla="*/ 0 w 27"/>
                  <a:gd name="T35" fmla="*/ 0 h 610"/>
                  <a:gd name="T36" fmla="*/ 0 w 27"/>
                  <a:gd name="T37" fmla="*/ 0 h 6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10">
                    <a:moveTo>
                      <a:pt x="0" y="610"/>
                    </a:moveTo>
                    <a:lnTo>
                      <a:pt x="0" y="0"/>
                    </a:lnTo>
                    <a:lnTo>
                      <a:pt x="3" y="1"/>
                    </a:lnTo>
                    <a:lnTo>
                      <a:pt x="6" y="2"/>
                    </a:lnTo>
                    <a:lnTo>
                      <a:pt x="10" y="3"/>
                    </a:lnTo>
                    <a:lnTo>
                      <a:pt x="14" y="4"/>
                    </a:lnTo>
                    <a:lnTo>
                      <a:pt x="17" y="4"/>
                    </a:lnTo>
                    <a:lnTo>
                      <a:pt x="20" y="5"/>
                    </a:lnTo>
                    <a:lnTo>
                      <a:pt x="23" y="6"/>
                    </a:lnTo>
                    <a:lnTo>
                      <a:pt x="27" y="7"/>
                    </a:lnTo>
                    <a:lnTo>
                      <a:pt x="27" y="603"/>
                    </a:lnTo>
                    <a:lnTo>
                      <a:pt x="23" y="604"/>
                    </a:lnTo>
                    <a:lnTo>
                      <a:pt x="20" y="605"/>
                    </a:lnTo>
                    <a:lnTo>
                      <a:pt x="17" y="606"/>
                    </a:lnTo>
                    <a:lnTo>
                      <a:pt x="14" y="607"/>
                    </a:lnTo>
                    <a:lnTo>
                      <a:pt x="10" y="608"/>
                    </a:lnTo>
                    <a:lnTo>
                      <a:pt x="6" y="609"/>
                    </a:lnTo>
                    <a:lnTo>
                      <a:pt x="3" y="610"/>
                    </a:lnTo>
                    <a:lnTo>
                      <a:pt x="0" y="61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93" name="Freeform 4000"/>
              <p:cNvSpPr>
                <a:spLocks noChangeAspect="1"/>
              </p:cNvSpPr>
              <p:nvPr/>
            </p:nvSpPr>
            <p:spPr bwMode="auto">
              <a:xfrm>
                <a:off x="5424" y="1044"/>
                <a:ext cx="9" cy="201"/>
              </a:xfrm>
              <a:custGeom>
                <a:avLst/>
                <a:gdLst>
                  <a:gd name="T0" fmla="*/ 0 w 25"/>
                  <a:gd name="T1" fmla="*/ 0 h 603"/>
                  <a:gd name="T2" fmla="*/ 0 w 25"/>
                  <a:gd name="T3" fmla="*/ 0 h 603"/>
                  <a:gd name="T4" fmla="*/ 0 w 25"/>
                  <a:gd name="T5" fmla="*/ 0 h 603"/>
                  <a:gd name="T6" fmla="*/ 0 w 25"/>
                  <a:gd name="T7" fmla="*/ 0 h 603"/>
                  <a:gd name="T8" fmla="*/ 0 w 25"/>
                  <a:gd name="T9" fmla="*/ 0 h 603"/>
                  <a:gd name="T10" fmla="*/ 0 w 25"/>
                  <a:gd name="T11" fmla="*/ 0 h 603"/>
                  <a:gd name="T12" fmla="*/ 0 w 25"/>
                  <a:gd name="T13" fmla="*/ 0 h 603"/>
                  <a:gd name="T14" fmla="*/ 0 w 25"/>
                  <a:gd name="T15" fmla="*/ 0 h 603"/>
                  <a:gd name="T16" fmla="*/ 0 w 25"/>
                  <a:gd name="T17" fmla="*/ 0 h 603"/>
                  <a:gd name="T18" fmla="*/ 0 w 25"/>
                  <a:gd name="T19" fmla="*/ 0 h 603"/>
                  <a:gd name="T20" fmla="*/ 0 w 25"/>
                  <a:gd name="T21" fmla="*/ 0 h 603"/>
                  <a:gd name="T22" fmla="*/ 0 w 25"/>
                  <a:gd name="T23" fmla="*/ 0 h 603"/>
                  <a:gd name="T24" fmla="*/ 0 w 25"/>
                  <a:gd name="T25" fmla="*/ 0 h 603"/>
                  <a:gd name="T26" fmla="*/ 0 w 25"/>
                  <a:gd name="T27" fmla="*/ 0 h 603"/>
                  <a:gd name="T28" fmla="*/ 0 w 25"/>
                  <a:gd name="T29" fmla="*/ 0 h 603"/>
                  <a:gd name="T30" fmla="*/ 0 w 25"/>
                  <a:gd name="T31" fmla="*/ 0 h 603"/>
                  <a:gd name="T32" fmla="*/ 0 w 25"/>
                  <a:gd name="T33" fmla="*/ 0 h 603"/>
                  <a:gd name="T34" fmla="*/ 0 w 25"/>
                  <a:gd name="T35" fmla="*/ 0 h 603"/>
                  <a:gd name="T36" fmla="*/ 0 w 25"/>
                  <a:gd name="T37" fmla="*/ 0 h 6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5" h="603">
                    <a:moveTo>
                      <a:pt x="0" y="603"/>
                    </a:moveTo>
                    <a:lnTo>
                      <a:pt x="0" y="0"/>
                    </a:lnTo>
                    <a:lnTo>
                      <a:pt x="3" y="0"/>
                    </a:lnTo>
                    <a:lnTo>
                      <a:pt x="6" y="1"/>
                    </a:lnTo>
                    <a:lnTo>
                      <a:pt x="9" y="2"/>
                    </a:lnTo>
                    <a:lnTo>
                      <a:pt x="13" y="3"/>
                    </a:lnTo>
                    <a:lnTo>
                      <a:pt x="16" y="4"/>
                    </a:lnTo>
                    <a:lnTo>
                      <a:pt x="19" y="5"/>
                    </a:lnTo>
                    <a:lnTo>
                      <a:pt x="22" y="7"/>
                    </a:lnTo>
                    <a:lnTo>
                      <a:pt x="25" y="8"/>
                    </a:lnTo>
                    <a:lnTo>
                      <a:pt x="25" y="594"/>
                    </a:lnTo>
                    <a:lnTo>
                      <a:pt x="22" y="595"/>
                    </a:lnTo>
                    <a:lnTo>
                      <a:pt x="19" y="596"/>
                    </a:lnTo>
                    <a:lnTo>
                      <a:pt x="16" y="597"/>
                    </a:lnTo>
                    <a:lnTo>
                      <a:pt x="13" y="599"/>
                    </a:lnTo>
                    <a:lnTo>
                      <a:pt x="9" y="600"/>
                    </a:lnTo>
                    <a:lnTo>
                      <a:pt x="6" y="601"/>
                    </a:lnTo>
                    <a:lnTo>
                      <a:pt x="3" y="602"/>
                    </a:lnTo>
                    <a:lnTo>
                      <a:pt x="0" y="60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94" name="Freeform 4001"/>
              <p:cNvSpPr>
                <a:spLocks noChangeAspect="1"/>
              </p:cNvSpPr>
              <p:nvPr/>
            </p:nvSpPr>
            <p:spPr bwMode="auto">
              <a:xfrm>
                <a:off x="5429" y="1045"/>
                <a:ext cx="8" cy="198"/>
              </a:xfrm>
              <a:custGeom>
                <a:avLst/>
                <a:gdLst>
                  <a:gd name="T0" fmla="*/ 0 w 26"/>
                  <a:gd name="T1" fmla="*/ 0 h 596"/>
                  <a:gd name="T2" fmla="*/ 0 w 26"/>
                  <a:gd name="T3" fmla="*/ 0 h 596"/>
                  <a:gd name="T4" fmla="*/ 0 w 26"/>
                  <a:gd name="T5" fmla="*/ 0 h 596"/>
                  <a:gd name="T6" fmla="*/ 0 w 26"/>
                  <a:gd name="T7" fmla="*/ 0 h 596"/>
                  <a:gd name="T8" fmla="*/ 0 w 26"/>
                  <a:gd name="T9" fmla="*/ 0 h 596"/>
                  <a:gd name="T10" fmla="*/ 0 w 26"/>
                  <a:gd name="T11" fmla="*/ 0 h 596"/>
                  <a:gd name="T12" fmla="*/ 0 w 26"/>
                  <a:gd name="T13" fmla="*/ 0 h 596"/>
                  <a:gd name="T14" fmla="*/ 0 w 26"/>
                  <a:gd name="T15" fmla="*/ 0 h 596"/>
                  <a:gd name="T16" fmla="*/ 0 w 26"/>
                  <a:gd name="T17" fmla="*/ 0 h 596"/>
                  <a:gd name="T18" fmla="*/ 0 w 26"/>
                  <a:gd name="T19" fmla="*/ 0 h 596"/>
                  <a:gd name="T20" fmla="*/ 0 w 26"/>
                  <a:gd name="T21" fmla="*/ 0 h 596"/>
                  <a:gd name="T22" fmla="*/ 0 w 26"/>
                  <a:gd name="T23" fmla="*/ 0 h 596"/>
                  <a:gd name="T24" fmla="*/ 0 w 26"/>
                  <a:gd name="T25" fmla="*/ 0 h 596"/>
                  <a:gd name="T26" fmla="*/ 0 w 26"/>
                  <a:gd name="T27" fmla="*/ 0 h 596"/>
                  <a:gd name="T28" fmla="*/ 0 w 26"/>
                  <a:gd name="T29" fmla="*/ 0 h 596"/>
                  <a:gd name="T30" fmla="*/ 0 w 26"/>
                  <a:gd name="T31" fmla="*/ 0 h 596"/>
                  <a:gd name="T32" fmla="*/ 0 w 26"/>
                  <a:gd name="T33" fmla="*/ 0 h 596"/>
                  <a:gd name="T34" fmla="*/ 0 w 26"/>
                  <a:gd name="T35" fmla="*/ 0 h 596"/>
                  <a:gd name="T36" fmla="*/ 0 w 26"/>
                  <a:gd name="T37" fmla="*/ 0 h 59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96">
                    <a:moveTo>
                      <a:pt x="0" y="596"/>
                    </a:moveTo>
                    <a:lnTo>
                      <a:pt x="0" y="0"/>
                    </a:lnTo>
                    <a:lnTo>
                      <a:pt x="3" y="1"/>
                    </a:lnTo>
                    <a:lnTo>
                      <a:pt x="6" y="2"/>
                    </a:lnTo>
                    <a:lnTo>
                      <a:pt x="9" y="4"/>
                    </a:lnTo>
                    <a:lnTo>
                      <a:pt x="13" y="5"/>
                    </a:lnTo>
                    <a:lnTo>
                      <a:pt x="17" y="7"/>
                    </a:lnTo>
                    <a:lnTo>
                      <a:pt x="20" y="8"/>
                    </a:lnTo>
                    <a:lnTo>
                      <a:pt x="23" y="9"/>
                    </a:lnTo>
                    <a:lnTo>
                      <a:pt x="26" y="11"/>
                    </a:lnTo>
                    <a:lnTo>
                      <a:pt x="26" y="586"/>
                    </a:lnTo>
                    <a:lnTo>
                      <a:pt x="23" y="588"/>
                    </a:lnTo>
                    <a:lnTo>
                      <a:pt x="20" y="589"/>
                    </a:lnTo>
                    <a:lnTo>
                      <a:pt x="17" y="590"/>
                    </a:lnTo>
                    <a:lnTo>
                      <a:pt x="13" y="591"/>
                    </a:lnTo>
                    <a:lnTo>
                      <a:pt x="9" y="592"/>
                    </a:lnTo>
                    <a:lnTo>
                      <a:pt x="6" y="593"/>
                    </a:lnTo>
                    <a:lnTo>
                      <a:pt x="3" y="594"/>
                    </a:lnTo>
                    <a:lnTo>
                      <a:pt x="0" y="59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95" name="Freeform 4002"/>
              <p:cNvSpPr>
                <a:spLocks noChangeAspect="1"/>
              </p:cNvSpPr>
              <p:nvPr/>
            </p:nvSpPr>
            <p:spPr bwMode="auto">
              <a:xfrm>
                <a:off x="5433" y="1046"/>
                <a:ext cx="9" cy="196"/>
              </a:xfrm>
              <a:custGeom>
                <a:avLst/>
                <a:gdLst>
                  <a:gd name="T0" fmla="*/ 0 w 27"/>
                  <a:gd name="T1" fmla="*/ 0 h 586"/>
                  <a:gd name="T2" fmla="*/ 0 w 27"/>
                  <a:gd name="T3" fmla="*/ 0 h 586"/>
                  <a:gd name="T4" fmla="*/ 0 w 27"/>
                  <a:gd name="T5" fmla="*/ 0 h 586"/>
                  <a:gd name="T6" fmla="*/ 0 w 27"/>
                  <a:gd name="T7" fmla="*/ 0 h 586"/>
                  <a:gd name="T8" fmla="*/ 0 w 27"/>
                  <a:gd name="T9" fmla="*/ 0 h 586"/>
                  <a:gd name="T10" fmla="*/ 0 w 27"/>
                  <a:gd name="T11" fmla="*/ 0 h 586"/>
                  <a:gd name="T12" fmla="*/ 0 w 27"/>
                  <a:gd name="T13" fmla="*/ 0 h 586"/>
                  <a:gd name="T14" fmla="*/ 0 w 27"/>
                  <a:gd name="T15" fmla="*/ 0 h 586"/>
                  <a:gd name="T16" fmla="*/ 0 w 27"/>
                  <a:gd name="T17" fmla="*/ 0 h 586"/>
                  <a:gd name="T18" fmla="*/ 0 w 27"/>
                  <a:gd name="T19" fmla="*/ 0 h 586"/>
                  <a:gd name="T20" fmla="*/ 0 w 27"/>
                  <a:gd name="T21" fmla="*/ 0 h 586"/>
                  <a:gd name="T22" fmla="*/ 0 w 27"/>
                  <a:gd name="T23" fmla="*/ 0 h 586"/>
                  <a:gd name="T24" fmla="*/ 0 w 27"/>
                  <a:gd name="T25" fmla="*/ 0 h 586"/>
                  <a:gd name="T26" fmla="*/ 0 w 27"/>
                  <a:gd name="T27" fmla="*/ 0 h 586"/>
                  <a:gd name="T28" fmla="*/ 0 w 27"/>
                  <a:gd name="T29" fmla="*/ 0 h 586"/>
                  <a:gd name="T30" fmla="*/ 0 w 27"/>
                  <a:gd name="T31" fmla="*/ 0 h 586"/>
                  <a:gd name="T32" fmla="*/ 0 w 27"/>
                  <a:gd name="T33" fmla="*/ 0 h 586"/>
                  <a:gd name="T34" fmla="*/ 0 w 27"/>
                  <a:gd name="T35" fmla="*/ 0 h 586"/>
                  <a:gd name="T36" fmla="*/ 0 w 27"/>
                  <a:gd name="T37" fmla="*/ 0 h 58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86">
                    <a:moveTo>
                      <a:pt x="0" y="586"/>
                    </a:moveTo>
                    <a:lnTo>
                      <a:pt x="0" y="0"/>
                    </a:lnTo>
                    <a:lnTo>
                      <a:pt x="5" y="2"/>
                    </a:lnTo>
                    <a:lnTo>
                      <a:pt x="8" y="3"/>
                    </a:lnTo>
                    <a:lnTo>
                      <a:pt x="11" y="4"/>
                    </a:lnTo>
                    <a:lnTo>
                      <a:pt x="14" y="6"/>
                    </a:lnTo>
                    <a:lnTo>
                      <a:pt x="17" y="7"/>
                    </a:lnTo>
                    <a:lnTo>
                      <a:pt x="21" y="8"/>
                    </a:lnTo>
                    <a:lnTo>
                      <a:pt x="24" y="10"/>
                    </a:lnTo>
                    <a:lnTo>
                      <a:pt x="27" y="11"/>
                    </a:lnTo>
                    <a:lnTo>
                      <a:pt x="27" y="576"/>
                    </a:lnTo>
                    <a:lnTo>
                      <a:pt x="24" y="577"/>
                    </a:lnTo>
                    <a:lnTo>
                      <a:pt x="21" y="579"/>
                    </a:lnTo>
                    <a:lnTo>
                      <a:pt x="17" y="580"/>
                    </a:lnTo>
                    <a:lnTo>
                      <a:pt x="14" y="581"/>
                    </a:lnTo>
                    <a:lnTo>
                      <a:pt x="11" y="583"/>
                    </a:lnTo>
                    <a:lnTo>
                      <a:pt x="8" y="584"/>
                    </a:lnTo>
                    <a:lnTo>
                      <a:pt x="5" y="585"/>
                    </a:lnTo>
                    <a:lnTo>
                      <a:pt x="0" y="58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96" name="Freeform 4003"/>
              <p:cNvSpPr>
                <a:spLocks noChangeAspect="1"/>
              </p:cNvSpPr>
              <p:nvPr/>
            </p:nvSpPr>
            <p:spPr bwMode="auto">
              <a:xfrm>
                <a:off x="5437" y="1048"/>
                <a:ext cx="9" cy="192"/>
              </a:xfrm>
              <a:custGeom>
                <a:avLst/>
                <a:gdLst>
                  <a:gd name="T0" fmla="*/ 0 w 27"/>
                  <a:gd name="T1" fmla="*/ 0 h 575"/>
                  <a:gd name="T2" fmla="*/ 0 w 27"/>
                  <a:gd name="T3" fmla="*/ 0 h 575"/>
                  <a:gd name="T4" fmla="*/ 0 w 27"/>
                  <a:gd name="T5" fmla="*/ 0 h 575"/>
                  <a:gd name="T6" fmla="*/ 0 w 27"/>
                  <a:gd name="T7" fmla="*/ 0 h 575"/>
                  <a:gd name="T8" fmla="*/ 0 w 27"/>
                  <a:gd name="T9" fmla="*/ 0 h 575"/>
                  <a:gd name="T10" fmla="*/ 0 w 27"/>
                  <a:gd name="T11" fmla="*/ 0 h 575"/>
                  <a:gd name="T12" fmla="*/ 0 w 27"/>
                  <a:gd name="T13" fmla="*/ 0 h 575"/>
                  <a:gd name="T14" fmla="*/ 0 w 27"/>
                  <a:gd name="T15" fmla="*/ 0 h 575"/>
                  <a:gd name="T16" fmla="*/ 0 w 27"/>
                  <a:gd name="T17" fmla="*/ 0 h 575"/>
                  <a:gd name="T18" fmla="*/ 0 w 27"/>
                  <a:gd name="T19" fmla="*/ 0 h 575"/>
                  <a:gd name="T20" fmla="*/ 0 w 27"/>
                  <a:gd name="T21" fmla="*/ 0 h 575"/>
                  <a:gd name="T22" fmla="*/ 0 w 27"/>
                  <a:gd name="T23" fmla="*/ 0 h 575"/>
                  <a:gd name="T24" fmla="*/ 0 w 27"/>
                  <a:gd name="T25" fmla="*/ 0 h 575"/>
                  <a:gd name="T26" fmla="*/ 0 w 27"/>
                  <a:gd name="T27" fmla="*/ 0 h 575"/>
                  <a:gd name="T28" fmla="*/ 0 w 27"/>
                  <a:gd name="T29" fmla="*/ 0 h 575"/>
                  <a:gd name="T30" fmla="*/ 0 w 27"/>
                  <a:gd name="T31" fmla="*/ 0 h 575"/>
                  <a:gd name="T32" fmla="*/ 0 w 27"/>
                  <a:gd name="T33" fmla="*/ 0 h 575"/>
                  <a:gd name="T34" fmla="*/ 0 w 27"/>
                  <a:gd name="T35" fmla="*/ 0 h 575"/>
                  <a:gd name="T36" fmla="*/ 0 w 27"/>
                  <a:gd name="T37" fmla="*/ 0 h 5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75">
                    <a:moveTo>
                      <a:pt x="0" y="575"/>
                    </a:moveTo>
                    <a:lnTo>
                      <a:pt x="0" y="0"/>
                    </a:lnTo>
                    <a:lnTo>
                      <a:pt x="3" y="1"/>
                    </a:lnTo>
                    <a:lnTo>
                      <a:pt x="7" y="2"/>
                    </a:lnTo>
                    <a:lnTo>
                      <a:pt x="10" y="4"/>
                    </a:lnTo>
                    <a:lnTo>
                      <a:pt x="14" y="5"/>
                    </a:lnTo>
                    <a:lnTo>
                      <a:pt x="17" y="7"/>
                    </a:lnTo>
                    <a:lnTo>
                      <a:pt x="20" y="8"/>
                    </a:lnTo>
                    <a:lnTo>
                      <a:pt x="24" y="10"/>
                    </a:lnTo>
                    <a:lnTo>
                      <a:pt x="27" y="12"/>
                    </a:lnTo>
                    <a:lnTo>
                      <a:pt x="27" y="563"/>
                    </a:lnTo>
                    <a:lnTo>
                      <a:pt x="24" y="564"/>
                    </a:lnTo>
                    <a:lnTo>
                      <a:pt x="20" y="566"/>
                    </a:lnTo>
                    <a:lnTo>
                      <a:pt x="17" y="568"/>
                    </a:lnTo>
                    <a:lnTo>
                      <a:pt x="14" y="570"/>
                    </a:lnTo>
                    <a:lnTo>
                      <a:pt x="10" y="571"/>
                    </a:lnTo>
                    <a:lnTo>
                      <a:pt x="7" y="573"/>
                    </a:lnTo>
                    <a:lnTo>
                      <a:pt x="3" y="574"/>
                    </a:lnTo>
                    <a:lnTo>
                      <a:pt x="0" y="57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97" name="Freeform 4004"/>
              <p:cNvSpPr>
                <a:spLocks noChangeAspect="1"/>
              </p:cNvSpPr>
              <p:nvPr/>
            </p:nvSpPr>
            <p:spPr bwMode="auto">
              <a:xfrm>
                <a:off x="5442" y="1050"/>
                <a:ext cx="9" cy="188"/>
              </a:xfrm>
              <a:custGeom>
                <a:avLst/>
                <a:gdLst>
                  <a:gd name="T0" fmla="*/ 0 w 27"/>
                  <a:gd name="T1" fmla="*/ 0 h 565"/>
                  <a:gd name="T2" fmla="*/ 0 w 27"/>
                  <a:gd name="T3" fmla="*/ 0 h 565"/>
                  <a:gd name="T4" fmla="*/ 0 w 27"/>
                  <a:gd name="T5" fmla="*/ 0 h 565"/>
                  <a:gd name="T6" fmla="*/ 0 w 27"/>
                  <a:gd name="T7" fmla="*/ 0 h 565"/>
                  <a:gd name="T8" fmla="*/ 0 w 27"/>
                  <a:gd name="T9" fmla="*/ 0 h 565"/>
                  <a:gd name="T10" fmla="*/ 0 w 27"/>
                  <a:gd name="T11" fmla="*/ 0 h 565"/>
                  <a:gd name="T12" fmla="*/ 0 w 27"/>
                  <a:gd name="T13" fmla="*/ 0 h 565"/>
                  <a:gd name="T14" fmla="*/ 0 w 27"/>
                  <a:gd name="T15" fmla="*/ 0 h 565"/>
                  <a:gd name="T16" fmla="*/ 0 w 27"/>
                  <a:gd name="T17" fmla="*/ 0 h 565"/>
                  <a:gd name="T18" fmla="*/ 0 w 27"/>
                  <a:gd name="T19" fmla="*/ 0 h 565"/>
                  <a:gd name="T20" fmla="*/ 0 w 27"/>
                  <a:gd name="T21" fmla="*/ 0 h 565"/>
                  <a:gd name="T22" fmla="*/ 0 w 27"/>
                  <a:gd name="T23" fmla="*/ 0 h 565"/>
                  <a:gd name="T24" fmla="*/ 0 w 27"/>
                  <a:gd name="T25" fmla="*/ 0 h 565"/>
                  <a:gd name="T26" fmla="*/ 0 w 27"/>
                  <a:gd name="T27" fmla="*/ 0 h 565"/>
                  <a:gd name="T28" fmla="*/ 0 w 27"/>
                  <a:gd name="T29" fmla="*/ 0 h 565"/>
                  <a:gd name="T30" fmla="*/ 0 w 27"/>
                  <a:gd name="T31" fmla="*/ 0 h 565"/>
                  <a:gd name="T32" fmla="*/ 0 w 27"/>
                  <a:gd name="T33" fmla="*/ 0 h 565"/>
                  <a:gd name="T34" fmla="*/ 0 w 27"/>
                  <a:gd name="T35" fmla="*/ 0 h 565"/>
                  <a:gd name="T36" fmla="*/ 0 w 27"/>
                  <a:gd name="T37" fmla="*/ 0 h 5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65">
                    <a:moveTo>
                      <a:pt x="0" y="565"/>
                    </a:moveTo>
                    <a:lnTo>
                      <a:pt x="0" y="0"/>
                    </a:lnTo>
                    <a:lnTo>
                      <a:pt x="4" y="2"/>
                    </a:lnTo>
                    <a:lnTo>
                      <a:pt x="7" y="3"/>
                    </a:lnTo>
                    <a:lnTo>
                      <a:pt x="11" y="5"/>
                    </a:lnTo>
                    <a:lnTo>
                      <a:pt x="14" y="7"/>
                    </a:lnTo>
                    <a:lnTo>
                      <a:pt x="17" y="9"/>
                    </a:lnTo>
                    <a:lnTo>
                      <a:pt x="20" y="11"/>
                    </a:lnTo>
                    <a:lnTo>
                      <a:pt x="23" y="12"/>
                    </a:lnTo>
                    <a:lnTo>
                      <a:pt x="27" y="14"/>
                    </a:lnTo>
                    <a:lnTo>
                      <a:pt x="27" y="551"/>
                    </a:lnTo>
                    <a:lnTo>
                      <a:pt x="23" y="553"/>
                    </a:lnTo>
                    <a:lnTo>
                      <a:pt x="20" y="554"/>
                    </a:lnTo>
                    <a:lnTo>
                      <a:pt x="17" y="556"/>
                    </a:lnTo>
                    <a:lnTo>
                      <a:pt x="14" y="558"/>
                    </a:lnTo>
                    <a:lnTo>
                      <a:pt x="11" y="559"/>
                    </a:lnTo>
                    <a:lnTo>
                      <a:pt x="7" y="561"/>
                    </a:lnTo>
                    <a:lnTo>
                      <a:pt x="4" y="563"/>
                    </a:lnTo>
                    <a:lnTo>
                      <a:pt x="0" y="5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98" name="Freeform 4005"/>
              <p:cNvSpPr>
                <a:spLocks noChangeAspect="1"/>
              </p:cNvSpPr>
              <p:nvPr/>
            </p:nvSpPr>
            <p:spPr bwMode="auto">
              <a:xfrm>
                <a:off x="5446" y="1052"/>
                <a:ext cx="9" cy="184"/>
              </a:xfrm>
              <a:custGeom>
                <a:avLst/>
                <a:gdLst>
                  <a:gd name="T0" fmla="*/ 0 w 26"/>
                  <a:gd name="T1" fmla="*/ 0 h 551"/>
                  <a:gd name="T2" fmla="*/ 0 w 26"/>
                  <a:gd name="T3" fmla="*/ 0 h 551"/>
                  <a:gd name="T4" fmla="*/ 0 w 26"/>
                  <a:gd name="T5" fmla="*/ 0 h 551"/>
                  <a:gd name="T6" fmla="*/ 0 w 26"/>
                  <a:gd name="T7" fmla="*/ 0 h 551"/>
                  <a:gd name="T8" fmla="*/ 0 w 26"/>
                  <a:gd name="T9" fmla="*/ 0 h 551"/>
                  <a:gd name="T10" fmla="*/ 0 w 26"/>
                  <a:gd name="T11" fmla="*/ 0 h 551"/>
                  <a:gd name="T12" fmla="*/ 0 w 26"/>
                  <a:gd name="T13" fmla="*/ 0 h 551"/>
                  <a:gd name="T14" fmla="*/ 0 w 26"/>
                  <a:gd name="T15" fmla="*/ 0 h 551"/>
                  <a:gd name="T16" fmla="*/ 0 w 26"/>
                  <a:gd name="T17" fmla="*/ 0 h 551"/>
                  <a:gd name="T18" fmla="*/ 0 w 26"/>
                  <a:gd name="T19" fmla="*/ 0 h 551"/>
                  <a:gd name="T20" fmla="*/ 0 w 26"/>
                  <a:gd name="T21" fmla="*/ 0 h 551"/>
                  <a:gd name="T22" fmla="*/ 0 w 26"/>
                  <a:gd name="T23" fmla="*/ 0 h 551"/>
                  <a:gd name="T24" fmla="*/ 0 w 26"/>
                  <a:gd name="T25" fmla="*/ 0 h 551"/>
                  <a:gd name="T26" fmla="*/ 0 w 26"/>
                  <a:gd name="T27" fmla="*/ 0 h 551"/>
                  <a:gd name="T28" fmla="*/ 0 w 26"/>
                  <a:gd name="T29" fmla="*/ 0 h 551"/>
                  <a:gd name="T30" fmla="*/ 0 w 26"/>
                  <a:gd name="T31" fmla="*/ 0 h 551"/>
                  <a:gd name="T32" fmla="*/ 0 w 26"/>
                  <a:gd name="T33" fmla="*/ 0 h 551"/>
                  <a:gd name="T34" fmla="*/ 0 w 26"/>
                  <a:gd name="T35" fmla="*/ 0 h 551"/>
                  <a:gd name="T36" fmla="*/ 0 w 26"/>
                  <a:gd name="T37" fmla="*/ 0 h 5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51">
                    <a:moveTo>
                      <a:pt x="0" y="551"/>
                    </a:moveTo>
                    <a:lnTo>
                      <a:pt x="0" y="0"/>
                    </a:lnTo>
                    <a:lnTo>
                      <a:pt x="3" y="2"/>
                    </a:lnTo>
                    <a:lnTo>
                      <a:pt x="6" y="4"/>
                    </a:lnTo>
                    <a:lnTo>
                      <a:pt x="9" y="5"/>
                    </a:lnTo>
                    <a:lnTo>
                      <a:pt x="14" y="7"/>
                    </a:lnTo>
                    <a:lnTo>
                      <a:pt x="17" y="9"/>
                    </a:lnTo>
                    <a:lnTo>
                      <a:pt x="20" y="11"/>
                    </a:lnTo>
                    <a:lnTo>
                      <a:pt x="23" y="13"/>
                    </a:lnTo>
                    <a:lnTo>
                      <a:pt x="26" y="15"/>
                    </a:lnTo>
                    <a:lnTo>
                      <a:pt x="26" y="535"/>
                    </a:lnTo>
                    <a:lnTo>
                      <a:pt x="23" y="537"/>
                    </a:lnTo>
                    <a:lnTo>
                      <a:pt x="20" y="540"/>
                    </a:lnTo>
                    <a:lnTo>
                      <a:pt x="17" y="542"/>
                    </a:lnTo>
                    <a:lnTo>
                      <a:pt x="14" y="544"/>
                    </a:lnTo>
                    <a:lnTo>
                      <a:pt x="9" y="545"/>
                    </a:lnTo>
                    <a:lnTo>
                      <a:pt x="6" y="547"/>
                    </a:lnTo>
                    <a:lnTo>
                      <a:pt x="3" y="549"/>
                    </a:lnTo>
                    <a:lnTo>
                      <a:pt x="0" y="55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99" name="Freeform 4006"/>
              <p:cNvSpPr>
                <a:spLocks noChangeAspect="1"/>
              </p:cNvSpPr>
              <p:nvPr/>
            </p:nvSpPr>
            <p:spPr bwMode="auto">
              <a:xfrm>
                <a:off x="5451" y="1055"/>
                <a:ext cx="8" cy="179"/>
              </a:xfrm>
              <a:custGeom>
                <a:avLst/>
                <a:gdLst>
                  <a:gd name="T0" fmla="*/ 0 w 26"/>
                  <a:gd name="T1" fmla="*/ 0 h 537"/>
                  <a:gd name="T2" fmla="*/ 0 w 26"/>
                  <a:gd name="T3" fmla="*/ 0 h 537"/>
                  <a:gd name="T4" fmla="*/ 0 w 26"/>
                  <a:gd name="T5" fmla="*/ 0 h 537"/>
                  <a:gd name="T6" fmla="*/ 0 w 26"/>
                  <a:gd name="T7" fmla="*/ 0 h 537"/>
                  <a:gd name="T8" fmla="*/ 0 w 26"/>
                  <a:gd name="T9" fmla="*/ 0 h 537"/>
                  <a:gd name="T10" fmla="*/ 0 w 26"/>
                  <a:gd name="T11" fmla="*/ 0 h 537"/>
                  <a:gd name="T12" fmla="*/ 0 w 26"/>
                  <a:gd name="T13" fmla="*/ 0 h 537"/>
                  <a:gd name="T14" fmla="*/ 0 w 26"/>
                  <a:gd name="T15" fmla="*/ 0 h 537"/>
                  <a:gd name="T16" fmla="*/ 0 w 26"/>
                  <a:gd name="T17" fmla="*/ 0 h 537"/>
                  <a:gd name="T18" fmla="*/ 0 w 26"/>
                  <a:gd name="T19" fmla="*/ 0 h 537"/>
                  <a:gd name="T20" fmla="*/ 0 w 26"/>
                  <a:gd name="T21" fmla="*/ 0 h 537"/>
                  <a:gd name="T22" fmla="*/ 0 w 26"/>
                  <a:gd name="T23" fmla="*/ 0 h 537"/>
                  <a:gd name="T24" fmla="*/ 0 w 26"/>
                  <a:gd name="T25" fmla="*/ 0 h 537"/>
                  <a:gd name="T26" fmla="*/ 0 w 26"/>
                  <a:gd name="T27" fmla="*/ 0 h 537"/>
                  <a:gd name="T28" fmla="*/ 0 w 26"/>
                  <a:gd name="T29" fmla="*/ 0 h 537"/>
                  <a:gd name="T30" fmla="*/ 0 w 26"/>
                  <a:gd name="T31" fmla="*/ 0 h 537"/>
                  <a:gd name="T32" fmla="*/ 0 w 26"/>
                  <a:gd name="T33" fmla="*/ 0 h 537"/>
                  <a:gd name="T34" fmla="*/ 0 w 26"/>
                  <a:gd name="T35" fmla="*/ 0 h 537"/>
                  <a:gd name="T36" fmla="*/ 0 w 26"/>
                  <a:gd name="T37" fmla="*/ 0 h 5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37">
                    <a:moveTo>
                      <a:pt x="0" y="537"/>
                    </a:moveTo>
                    <a:lnTo>
                      <a:pt x="0" y="0"/>
                    </a:lnTo>
                    <a:lnTo>
                      <a:pt x="4" y="2"/>
                    </a:lnTo>
                    <a:lnTo>
                      <a:pt x="7" y="4"/>
                    </a:lnTo>
                    <a:lnTo>
                      <a:pt x="10" y="6"/>
                    </a:lnTo>
                    <a:lnTo>
                      <a:pt x="13" y="8"/>
                    </a:lnTo>
                    <a:lnTo>
                      <a:pt x="17" y="11"/>
                    </a:lnTo>
                    <a:lnTo>
                      <a:pt x="20" y="13"/>
                    </a:lnTo>
                    <a:lnTo>
                      <a:pt x="23" y="15"/>
                    </a:lnTo>
                    <a:lnTo>
                      <a:pt x="26" y="17"/>
                    </a:lnTo>
                    <a:lnTo>
                      <a:pt x="26" y="520"/>
                    </a:lnTo>
                    <a:lnTo>
                      <a:pt x="23" y="522"/>
                    </a:lnTo>
                    <a:lnTo>
                      <a:pt x="20" y="524"/>
                    </a:lnTo>
                    <a:lnTo>
                      <a:pt x="17" y="526"/>
                    </a:lnTo>
                    <a:lnTo>
                      <a:pt x="13" y="528"/>
                    </a:lnTo>
                    <a:lnTo>
                      <a:pt x="10" y="530"/>
                    </a:lnTo>
                    <a:lnTo>
                      <a:pt x="7" y="533"/>
                    </a:lnTo>
                    <a:lnTo>
                      <a:pt x="4" y="535"/>
                    </a:lnTo>
                    <a:lnTo>
                      <a:pt x="0" y="53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00" name="Freeform 4007"/>
              <p:cNvSpPr>
                <a:spLocks noChangeAspect="1"/>
              </p:cNvSpPr>
              <p:nvPr/>
            </p:nvSpPr>
            <p:spPr bwMode="auto">
              <a:xfrm>
                <a:off x="5455" y="1057"/>
                <a:ext cx="9" cy="174"/>
              </a:xfrm>
              <a:custGeom>
                <a:avLst/>
                <a:gdLst>
                  <a:gd name="T0" fmla="*/ 0 w 27"/>
                  <a:gd name="T1" fmla="*/ 0 h 520"/>
                  <a:gd name="T2" fmla="*/ 0 w 27"/>
                  <a:gd name="T3" fmla="*/ 0 h 520"/>
                  <a:gd name="T4" fmla="*/ 0 w 27"/>
                  <a:gd name="T5" fmla="*/ 0 h 520"/>
                  <a:gd name="T6" fmla="*/ 0 w 27"/>
                  <a:gd name="T7" fmla="*/ 0 h 520"/>
                  <a:gd name="T8" fmla="*/ 0 w 27"/>
                  <a:gd name="T9" fmla="*/ 0 h 520"/>
                  <a:gd name="T10" fmla="*/ 0 w 27"/>
                  <a:gd name="T11" fmla="*/ 0 h 520"/>
                  <a:gd name="T12" fmla="*/ 0 w 27"/>
                  <a:gd name="T13" fmla="*/ 0 h 520"/>
                  <a:gd name="T14" fmla="*/ 0 w 27"/>
                  <a:gd name="T15" fmla="*/ 0 h 520"/>
                  <a:gd name="T16" fmla="*/ 0 w 27"/>
                  <a:gd name="T17" fmla="*/ 0 h 520"/>
                  <a:gd name="T18" fmla="*/ 0 w 27"/>
                  <a:gd name="T19" fmla="*/ 0 h 520"/>
                  <a:gd name="T20" fmla="*/ 0 w 27"/>
                  <a:gd name="T21" fmla="*/ 0 h 520"/>
                  <a:gd name="T22" fmla="*/ 0 w 27"/>
                  <a:gd name="T23" fmla="*/ 0 h 520"/>
                  <a:gd name="T24" fmla="*/ 0 w 27"/>
                  <a:gd name="T25" fmla="*/ 0 h 520"/>
                  <a:gd name="T26" fmla="*/ 0 w 27"/>
                  <a:gd name="T27" fmla="*/ 0 h 520"/>
                  <a:gd name="T28" fmla="*/ 0 w 27"/>
                  <a:gd name="T29" fmla="*/ 0 h 520"/>
                  <a:gd name="T30" fmla="*/ 0 w 27"/>
                  <a:gd name="T31" fmla="*/ 0 h 520"/>
                  <a:gd name="T32" fmla="*/ 0 w 27"/>
                  <a:gd name="T33" fmla="*/ 0 h 520"/>
                  <a:gd name="T34" fmla="*/ 0 w 27"/>
                  <a:gd name="T35" fmla="*/ 0 h 520"/>
                  <a:gd name="T36" fmla="*/ 0 w 27"/>
                  <a:gd name="T37" fmla="*/ 0 h 5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20">
                    <a:moveTo>
                      <a:pt x="0" y="520"/>
                    </a:moveTo>
                    <a:lnTo>
                      <a:pt x="0" y="0"/>
                    </a:lnTo>
                    <a:lnTo>
                      <a:pt x="4" y="3"/>
                    </a:lnTo>
                    <a:lnTo>
                      <a:pt x="7" y="5"/>
                    </a:lnTo>
                    <a:lnTo>
                      <a:pt x="10" y="7"/>
                    </a:lnTo>
                    <a:lnTo>
                      <a:pt x="14" y="9"/>
                    </a:lnTo>
                    <a:lnTo>
                      <a:pt x="18" y="12"/>
                    </a:lnTo>
                    <a:lnTo>
                      <a:pt x="21" y="14"/>
                    </a:lnTo>
                    <a:lnTo>
                      <a:pt x="24" y="16"/>
                    </a:lnTo>
                    <a:lnTo>
                      <a:pt x="27" y="20"/>
                    </a:lnTo>
                    <a:lnTo>
                      <a:pt x="27" y="501"/>
                    </a:lnTo>
                    <a:lnTo>
                      <a:pt x="24" y="504"/>
                    </a:lnTo>
                    <a:lnTo>
                      <a:pt x="21" y="507"/>
                    </a:lnTo>
                    <a:lnTo>
                      <a:pt x="18" y="509"/>
                    </a:lnTo>
                    <a:lnTo>
                      <a:pt x="14" y="511"/>
                    </a:lnTo>
                    <a:lnTo>
                      <a:pt x="10" y="514"/>
                    </a:lnTo>
                    <a:lnTo>
                      <a:pt x="7" y="516"/>
                    </a:lnTo>
                    <a:lnTo>
                      <a:pt x="4" y="518"/>
                    </a:lnTo>
                    <a:lnTo>
                      <a:pt x="0" y="5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01" name="Freeform 4008"/>
              <p:cNvSpPr>
                <a:spLocks noChangeAspect="1"/>
              </p:cNvSpPr>
              <p:nvPr/>
            </p:nvSpPr>
            <p:spPr bwMode="auto">
              <a:xfrm>
                <a:off x="5459" y="1060"/>
                <a:ext cx="9" cy="168"/>
              </a:xfrm>
              <a:custGeom>
                <a:avLst/>
                <a:gdLst>
                  <a:gd name="T0" fmla="*/ 0 w 27"/>
                  <a:gd name="T1" fmla="*/ 0 h 503"/>
                  <a:gd name="T2" fmla="*/ 0 w 27"/>
                  <a:gd name="T3" fmla="*/ 0 h 503"/>
                  <a:gd name="T4" fmla="*/ 0 w 27"/>
                  <a:gd name="T5" fmla="*/ 0 h 503"/>
                  <a:gd name="T6" fmla="*/ 0 w 27"/>
                  <a:gd name="T7" fmla="*/ 0 h 503"/>
                  <a:gd name="T8" fmla="*/ 0 w 27"/>
                  <a:gd name="T9" fmla="*/ 0 h 503"/>
                  <a:gd name="T10" fmla="*/ 0 w 27"/>
                  <a:gd name="T11" fmla="*/ 0 h 503"/>
                  <a:gd name="T12" fmla="*/ 0 w 27"/>
                  <a:gd name="T13" fmla="*/ 0 h 503"/>
                  <a:gd name="T14" fmla="*/ 0 w 27"/>
                  <a:gd name="T15" fmla="*/ 0 h 503"/>
                  <a:gd name="T16" fmla="*/ 0 w 27"/>
                  <a:gd name="T17" fmla="*/ 0 h 503"/>
                  <a:gd name="T18" fmla="*/ 0 w 27"/>
                  <a:gd name="T19" fmla="*/ 0 h 503"/>
                  <a:gd name="T20" fmla="*/ 0 w 27"/>
                  <a:gd name="T21" fmla="*/ 0 h 503"/>
                  <a:gd name="T22" fmla="*/ 0 w 27"/>
                  <a:gd name="T23" fmla="*/ 0 h 503"/>
                  <a:gd name="T24" fmla="*/ 0 w 27"/>
                  <a:gd name="T25" fmla="*/ 0 h 503"/>
                  <a:gd name="T26" fmla="*/ 0 w 27"/>
                  <a:gd name="T27" fmla="*/ 0 h 503"/>
                  <a:gd name="T28" fmla="*/ 0 w 27"/>
                  <a:gd name="T29" fmla="*/ 0 h 503"/>
                  <a:gd name="T30" fmla="*/ 0 w 27"/>
                  <a:gd name="T31" fmla="*/ 0 h 503"/>
                  <a:gd name="T32" fmla="*/ 0 w 27"/>
                  <a:gd name="T33" fmla="*/ 0 h 503"/>
                  <a:gd name="T34" fmla="*/ 0 w 27"/>
                  <a:gd name="T35" fmla="*/ 0 h 503"/>
                  <a:gd name="T36" fmla="*/ 0 w 27"/>
                  <a:gd name="T37" fmla="*/ 0 h 5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03">
                    <a:moveTo>
                      <a:pt x="0" y="503"/>
                    </a:moveTo>
                    <a:lnTo>
                      <a:pt x="0" y="0"/>
                    </a:lnTo>
                    <a:lnTo>
                      <a:pt x="5" y="2"/>
                    </a:lnTo>
                    <a:lnTo>
                      <a:pt x="8" y="5"/>
                    </a:lnTo>
                    <a:lnTo>
                      <a:pt x="11" y="7"/>
                    </a:lnTo>
                    <a:lnTo>
                      <a:pt x="14" y="11"/>
                    </a:lnTo>
                    <a:lnTo>
                      <a:pt x="17" y="13"/>
                    </a:lnTo>
                    <a:lnTo>
                      <a:pt x="20" y="16"/>
                    </a:lnTo>
                    <a:lnTo>
                      <a:pt x="24" y="18"/>
                    </a:lnTo>
                    <a:lnTo>
                      <a:pt x="27" y="21"/>
                    </a:lnTo>
                    <a:lnTo>
                      <a:pt x="27" y="482"/>
                    </a:lnTo>
                    <a:lnTo>
                      <a:pt x="24" y="484"/>
                    </a:lnTo>
                    <a:lnTo>
                      <a:pt x="20" y="487"/>
                    </a:lnTo>
                    <a:lnTo>
                      <a:pt x="17" y="490"/>
                    </a:lnTo>
                    <a:lnTo>
                      <a:pt x="14" y="492"/>
                    </a:lnTo>
                    <a:lnTo>
                      <a:pt x="11" y="495"/>
                    </a:lnTo>
                    <a:lnTo>
                      <a:pt x="8" y="498"/>
                    </a:lnTo>
                    <a:lnTo>
                      <a:pt x="5" y="500"/>
                    </a:lnTo>
                    <a:lnTo>
                      <a:pt x="0" y="50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02" name="Freeform 4009"/>
              <p:cNvSpPr>
                <a:spLocks noChangeAspect="1"/>
              </p:cNvSpPr>
              <p:nvPr/>
            </p:nvSpPr>
            <p:spPr bwMode="auto">
              <a:xfrm>
                <a:off x="5464" y="1064"/>
                <a:ext cx="9" cy="160"/>
              </a:xfrm>
              <a:custGeom>
                <a:avLst/>
                <a:gdLst>
                  <a:gd name="T0" fmla="*/ 0 w 27"/>
                  <a:gd name="T1" fmla="*/ 0 h 481"/>
                  <a:gd name="T2" fmla="*/ 0 w 27"/>
                  <a:gd name="T3" fmla="*/ 0 h 481"/>
                  <a:gd name="T4" fmla="*/ 0 w 27"/>
                  <a:gd name="T5" fmla="*/ 0 h 481"/>
                  <a:gd name="T6" fmla="*/ 0 w 27"/>
                  <a:gd name="T7" fmla="*/ 0 h 481"/>
                  <a:gd name="T8" fmla="*/ 0 w 27"/>
                  <a:gd name="T9" fmla="*/ 0 h 481"/>
                  <a:gd name="T10" fmla="*/ 0 w 27"/>
                  <a:gd name="T11" fmla="*/ 0 h 481"/>
                  <a:gd name="T12" fmla="*/ 0 w 27"/>
                  <a:gd name="T13" fmla="*/ 0 h 481"/>
                  <a:gd name="T14" fmla="*/ 0 w 27"/>
                  <a:gd name="T15" fmla="*/ 0 h 481"/>
                  <a:gd name="T16" fmla="*/ 0 w 27"/>
                  <a:gd name="T17" fmla="*/ 0 h 481"/>
                  <a:gd name="T18" fmla="*/ 0 w 27"/>
                  <a:gd name="T19" fmla="*/ 0 h 481"/>
                  <a:gd name="T20" fmla="*/ 0 w 27"/>
                  <a:gd name="T21" fmla="*/ 0 h 481"/>
                  <a:gd name="T22" fmla="*/ 0 w 27"/>
                  <a:gd name="T23" fmla="*/ 0 h 481"/>
                  <a:gd name="T24" fmla="*/ 0 w 27"/>
                  <a:gd name="T25" fmla="*/ 0 h 481"/>
                  <a:gd name="T26" fmla="*/ 0 w 27"/>
                  <a:gd name="T27" fmla="*/ 0 h 481"/>
                  <a:gd name="T28" fmla="*/ 0 w 27"/>
                  <a:gd name="T29" fmla="*/ 0 h 481"/>
                  <a:gd name="T30" fmla="*/ 0 w 27"/>
                  <a:gd name="T31" fmla="*/ 0 h 481"/>
                  <a:gd name="T32" fmla="*/ 0 w 27"/>
                  <a:gd name="T33" fmla="*/ 0 h 481"/>
                  <a:gd name="T34" fmla="*/ 0 w 27"/>
                  <a:gd name="T35" fmla="*/ 0 h 481"/>
                  <a:gd name="T36" fmla="*/ 0 w 27"/>
                  <a:gd name="T37" fmla="*/ 0 h 48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81">
                    <a:moveTo>
                      <a:pt x="0" y="481"/>
                    </a:moveTo>
                    <a:lnTo>
                      <a:pt x="0" y="0"/>
                    </a:lnTo>
                    <a:lnTo>
                      <a:pt x="3" y="2"/>
                    </a:lnTo>
                    <a:lnTo>
                      <a:pt x="6" y="5"/>
                    </a:lnTo>
                    <a:lnTo>
                      <a:pt x="10" y="8"/>
                    </a:lnTo>
                    <a:lnTo>
                      <a:pt x="14" y="10"/>
                    </a:lnTo>
                    <a:lnTo>
                      <a:pt x="17" y="13"/>
                    </a:lnTo>
                    <a:lnTo>
                      <a:pt x="20" y="17"/>
                    </a:lnTo>
                    <a:lnTo>
                      <a:pt x="24" y="20"/>
                    </a:lnTo>
                    <a:lnTo>
                      <a:pt x="27" y="23"/>
                    </a:lnTo>
                    <a:lnTo>
                      <a:pt x="27" y="458"/>
                    </a:lnTo>
                    <a:lnTo>
                      <a:pt x="24" y="461"/>
                    </a:lnTo>
                    <a:lnTo>
                      <a:pt x="20" y="464"/>
                    </a:lnTo>
                    <a:lnTo>
                      <a:pt x="17" y="467"/>
                    </a:lnTo>
                    <a:lnTo>
                      <a:pt x="14" y="471"/>
                    </a:lnTo>
                    <a:lnTo>
                      <a:pt x="10" y="473"/>
                    </a:lnTo>
                    <a:lnTo>
                      <a:pt x="6" y="476"/>
                    </a:lnTo>
                    <a:lnTo>
                      <a:pt x="3" y="479"/>
                    </a:lnTo>
                    <a:lnTo>
                      <a:pt x="0" y="4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03" name="Freeform 4010"/>
              <p:cNvSpPr>
                <a:spLocks noChangeAspect="1"/>
              </p:cNvSpPr>
              <p:nvPr/>
            </p:nvSpPr>
            <p:spPr bwMode="auto">
              <a:xfrm>
                <a:off x="5468" y="1067"/>
                <a:ext cx="9" cy="154"/>
              </a:xfrm>
              <a:custGeom>
                <a:avLst/>
                <a:gdLst>
                  <a:gd name="T0" fmla="*/ 0 w 26"/>
                  <a:gd name="T1" fmla="*/ 0 h 461"/>
                  <a:gd name="T2" fmla="*/ 0 w 26"/>
                  <a:gd name="T3" fmla="*/ 0 h 461"/>
                  <a:gd name="T4" fmla="*/ 0 w 26"/>
                  <a:gd name="T5" fmla="*/ 0 h 461"/>
                  <a:gd name="T6" fmla="*/ 0 w 26"/>
                  <a:gd name="T7" fmla="*/ 0 h 461"/>
                  <a:gd name="T8" fmla="*/ 0 w 26"/>
                  <a:gd name="T9" fmla="*/ 0 h 461"/>
                  <a:gd name="T10" fmla="*/ 0 w 26"/>
                  <a:gd name="T11" fmla="*/ 0 h 461"/>
                  <a:gd name="T12" fmla="*/ 0 w 26"/>
                  <a:gd name="T13" fmla="*/ 0 h 461"/>
                  <a:gd name="T14" fmla="*/ 0 w 26"/>
                  <a:gd name="T15" fmla="*/ 0 h 461"/>
                  <a:gd name="T16" fmla="*/ 0 w 26"/>
                  <a:gd name="T17" fmla="*/ 0 h 461"/>
                  <a:gd name="T18" fmla="*/ 0 w 26"/>
                  <a:gd name="T19" fmla="*/ 0 h 461"/>
                  <a:gd name="T20" fmla="*/ 0 w 26"/>
                  <a:gd name="T21" fmla="*/ 0 h 461"/>
                  <a:gd name="T22" fmla="*/ 0 w 26"/>
                  <a:gd name="T23" fmla="*/ 0 h 461"/>
                  <a:gd name="T24" fmla="*/ 0 w 26"/>
                  <a:gd name="T25" fmla="*/ 0 h 461"/>
                  <a:gd name="T26" fmla="*/ 0 w 26"/>
                  <a:gd name="T27" fmla="*/ 0 h 461"/>
                  <a:gd name="T28" fmla="*/ 0 w 26"/>
                  <a:gd name="T29" fmla="*/ 0 h 461"/>
                  <a:gd name="T30" fmla="*/ 0 w 26"/>
                  <a:gd name="T31" fmla="*/ 0 h 461"/>
                  <a:gd name="T32" fmla="*/ 0 w 26"/>
                  <a:gd name="T33" fmla="*/ 0 h 461"/>
                  <a:gd name="T34" fmla="*/ 0 w 26"/>
                  <a:gd name="T35" fmla="*/ 0 h 461"/>
                  <a:gd name="T36" fmla="*/ 0 w 26"/>
                  <a:gd name="T37" fmla="*/ 0 h 4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61">
                    <a:moveTo>
                      <a:pt x="0" y="461"/>
                    </a:moveTo>
                    <a:lnTo>
                      <a:pt x="0" y="0"/>
                    </a:lnTo>
                    <a:lnTo>
                      <a:pt x="4" y="3"/>
                    </a:lnTo>
                    <a:lnTo>
                      <a:pt x="7" y="7"/>
                    </a:lnTo>
                    <a:lnTo>
                      <a:pt x="11" y="10"/>
                    </a:lnTo>
                    <a:lnTo>
                      <a:pt x="14" y="13"/>
                    </a:lnTo>
                    <a:lnTo>
                      <a:pt x="17" y="16"/>
                    </a:lnTo>
                    <a:lnTo>
                      <a:pt x="20" y="19"/>
                    </a:lnTo>
                    <a:lnTo>
                      <a:pt x="23" y="23"/>
                    </a:lnTo>
                    <a:lnTo>
                      <a:pt x="26" y="27"/>
                    </a:lnTo>
                    <a:lnTo>
                      <a:pt x="26" y="434"/>
                    </a:lnTo>
                    <a:lnTo>
                      <a:pt x="23" y="437"/>
                    </a:lnTo>
                    <a:lnTo>
                      <a:pt x="20" y="441"/>
                    </a:lnTo>
                    <a:lnTo>
                      <a:pt x="17" y="445"/>
                    </a:lnTo>
                    <a:lnTo>
                      <a:pt x="14" y="448"/>
                    </a:lnTo>
                    <a:lnTo>
                      <a:pt x="11" y="451"/>
                    </a:lnTo>
                    <a:lnTo>
                      <a:pt x="7" y="454"/>
                    </a:lnTo>
                    <a:lnTo>
                      <a:pt x="4" y="457"/>
                    </a:lnTo>
                    <a:lnTo>
                      <a:pt x="0" y="46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04" name="Freeform 4011"/>
              <p:cNvSpPr>
                <a:spLocks noChangeAspect="1"/>
              </p:cNvSpPr>
              <p:nvPr/>
            </p:nvSpPr>
            <p:spPr bwMode="auto">
              <a:xfrm>
                <a:off x="5473" y="1072"/>
                <a:ext cx="9" cy="145"/>
              </a:xfrm>
              <a:custGeom>
                <a:avLst/>
                <a:gdLst>
                  <a:gd name="T0" fmla="*/ 0 w 26"/>
                  <a:gd name="T1" fmla="*/ 0 h 435"/>
                  <a:gd name="T2" fmla="*/ 0 w 26"/>
                  <a:gd name="T3" fmla="*/ 0 h 435"/>
                  <a:gd name="T4" fmla="*/ 0 w 26"/>
                  <a:gd name="T5" fmla="*/ 0 h 435"/>
                  <a:gd name="T6" fmla="*/ 0 w 26"/>
                  <a:gd name="T7" fmla="*/ 0 h 435"/>
                  <a:gd name="T8" fmla="*/ 0 w 26"/>
                  <a:gd name="T9" fmla="*/ 0 h 435"/>
                  <a:gd name="T10" fmla="*/ 0 w 26"/>
                  <a:gd name="T11" fmla="*/ 0 h 435"/>
                  <a:gd name="T12" fmla="*/ 0 w 26"/>
                  <a:gd name="T13" fmla="*/ 0 h 435"/>
                  <a:gd name="T14" fmla="*/ 0 w 26"/>
                  <a:gd name="T15" fmla="*/ 0 h 435"/>
                  <a:gd name="T16" fmla="*/ 0 w 26"/>
                  <a:gd name="T17" fmla="*/ 0 h 435"/>
                  <a:gd name="T18" fmla="*/ 0 w 26"/>
                  <a:gd name="T19" fmla="*/ 0 h 435"/>
                  <a:gd name="T20" fmla="*/ 0 w 26"/>
                  <a:gd name="T21" fmla="*/ 0 h 435"/>
                  <a:gd name="T22" fmla="*/ 0 w 26"/>
                  <a:gd name="T23" fmla="*/ 0 h 435"/>
                  <a:gd name="T24" fmla="*/ 0 w 26"/>
                  <a:gd name="T25" fmla="*/ 0 h 435"/>
                  <a:gd name="T26" fmla="*/ 0 w 26"/>
                  <a:gd name="T27" fmla="*/ 0 h 435"/>
                  <a:gd name="T28" fmla="*/ 0 w 26"/>
                  <a:gd name="T29" fmla="*/ 0 h 435"/>
                  <a:gd name="T30" fmla="*/ 0 w 26"/>
                  <a:gd name="T31" fmla="*/ 0 h 435"/>
                  <a:gd name="T32" fmla="*/ 0 w 26"/>
                  <a:gd name="T33" fmla="*/ 0 h 435"/>
                  <a:gd name="T34" fmla="*/ 0 w 26"/>
                  <a:gd name="T35" fmla="*/ 0 h 435"/>
                  <a:gd name="T36" fmla="*/ 0 w 26"/>
                  <a:gd name="T37" fmla="*/ 0 h 4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35">
                    <a:moveTo>
                      <a:pt x="0" y="435"/>
                    </a:moveTo>
                    <a:lnTo>
                      <a:pt x="0" y="0"/>
                    </a:lnTo>
                    <a:lnTo>
                      <a:pt x="3" y="3"/>
                    </a:lnTo>
                    <a:lnTo>
                      <a:pt x="6" y="6"/>
                    </a:lnTo>
                    <a:lnTo>
                      <a:pt x="10" y="11"/>
                    </a:lnTo>
                    <a:lnTo>
                      <a:pt x="14" y="14"/>
                    </a:lnTo>
                    <a:lnTo>
                      <a:pt x="17" y="18"/>
                    </a:lnTo>
                    <a:lnTo>
                      <a:pt x="20" y="21"/>
                    </a:lnTo>
                    <a:lnTo>
                      <a:pt x="23" y="25"/>
                    </a:lnTo>
                    <a:lnTo>
                      <a:pt x="26" y="29"/>
                    </a:lnTo>
                    <a:lnTo>
                      <a:pt x="26" y="405"/>
                    </a:lnTo>
                    <a:lnTo>
                      <a:pt x="23" y="409"/>
                    </a:lnTo>
                    <a:lnTo>
                      <a:pt x="20" y="414"/>
                    </a:lnTo>
                    <a:lnTo>
                      <a:pt x="17" y="417"/>
                    </a:lnTo>
                    <a:lnTo>
                      <a:pt x="14" y="421"/>
                    </a:lnTo>
                    <a:lnTo>
                      <a:pt x="10" y="424"/>
                    </a:lnTo>
                    <a:lnTo>
                      <a:pt x="6" y="428"/>
                    </a:lnTo>
                    <a:lnTo>
                      <a:pt x="3" y="432"/>
                    </a:lnTo>
                    <a:lnTo>
                      <a:pt x="0" y="43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05" name="Freeform 4012"/>
              <p:cNvSpPr>
                <a:spLocks noChangeAspect="1"/>
              </p:cNvSpPr>
              <p:nvPr/>
            </p:nvSpPr>
            <p:spPr bwMode="auto">
              <a:xfrm>
                <a:off x="5477" y="1076"/>
                <a:ext cx="9" cy="136"/>
              </a:xfrm>
              <a:custGeom>
                <a:avLst/>
                <a:gdLst>
                  <a:gd name="T0" fmla="*/ 0 w 27"/>
                  <a:gd name="T1" fmla="*/ 0 h 407"/>
                  <a:gd name="T2" fmla="*/ 0 w 27"/>
                  <a:gd name="T3" fmla="*/ 0 h 407"/>
                  <a:gd name="T4" fmla="*/ 0 w 27"/>
                  <a:gd name="T5" fmla="*/ 0 h 407"/>
                  <a:gd name="T6" fmla="*/ 0 w 27"/>
                  <a:gd name="T7" fmla="*/ 0 h 407"/>
                  <a:gd name="T8" fmla="*/ 0 w 27"/>
                  <a:gd name="T9" fmla="*/ 0 h 407"/>
                  <a:gd name="T10" fmla="*/ 0 w 27"/>
                  <a:gd name="T11" fmla="*/ 0 h 407"/>
                  <a:gd name="T12" fmla="*/ 0 w 27"/>
                  <a:gd name="T13" fmla="*/ 0 h 407"/>
                  <a:gd name="T14" fmla="*/ 0 w 27"/>
                  <a:gd name="T15" fmla="*/ 0 h 407"/>
                  <a:gd name="T16" fmla="*/ 0 w 27"/>
                  <a:gd name="T17" fmla="*/ 0 h 407"/>
                  <a:gd name="T18" fmla="*/ 0 w 27"/>
                  <a:gd name="T19" fmla="*/ 0 h 407"/>
                  <a:gd name="T20" fmla="*/ 0 w 27"/>
                  <a:gd name="T21" fmla="*/ 0 h 407"/>
                  <a:gd name="T22" fmla="*/ 0 w 27"/>
                  <a:gd name="T23" fmla="*/ 0 h 407"/>
                  <a:gd name="T24" fmla="*/ 0 w 27"/>
                  <a:gd name="T25" fmla="*/ 0 h 407"/>
                  <a:gd name="T26" fmla="*/ 0 w 27"/>
                  <a:gd name="T27" fmla="*/ 0 h 407"/>
                  <a:gd name="T28" fmla="*/ 0 w 27"/>
                  <a:gd name="T29" fmla="*/ 0 h 407"/>
                  <a:gd name="T30" fmla="*/ 0 w 27"/>
                  <a:gd name="T31" fmla="*/ 0 h 407"/>
                  <a:gd name="T32" fmla="*/ 0 w 27"/>
                  <a:gd name="T33" fmla="*/ 0 h 407"/>
                  <a:gd name="T34" fmla="*/ 0 w 27"/>
                  <a:gd name="T35" fmla="*/ 0 h 407"/>
                  <a:gd name="T36" fmla="*/ 0 w 27"/>
                  <a:gd name="T37" fmla="*/ 0 h 40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07">
                    <a:moveTo>
                      <a:pt x="0" y="407"/>
                    </a:moveTo>
                    <a:lnTo>
                      <a:pt x="0" y="0"/>
                    </a:lnTo>
                    <a:lnTo>
                      <a:pt x="5" y="3"/>
                    </a:lnTo>
                    <a:lnTo>
                      <a:pt x="8" y="7"/>
                    </a:lnTo>
                    <a:lnTo>
                      <a:pt x="11" y="11"/>
                    </a:lnTo>
                    <a:lnTo>
                      <a:pt x="14" y="16"/>
                    </a:lnTo>
                    <a:lnTo>
                      <a:pt x="17" y="20"/>
                    </a:lnTo>
                    <a:lnTo>
                      <a:pt x="21" y="24"/>
                    </a:lnTo>
                    <a:lnTo>
                      <a:pt x="24" y="29"/>
                    </a:lnTo>
                    <a:lnTo>
                      <a:pt x="27" y="33"/>
                    </a:lnTo>
                    <a:lnTo>
                      <a:pt x="27" y="373"/>
                    </a:lnTo>
                    <a:lnTo>
                      <a:pt x="24" y="378"/>
                    </a:lnTo>
                    <a:lnTo>
                      <a:pt x="21" y="383"/>
                    </a:lnTo>
                    <a:lnTo>
                      <a:pt x="17" y="387"/>
                    </a:lnTo>
                    <a:lnTo>
                      <a:pt x="14" y="391"/>
                    </a:lnTo>
                    <a:lnTo>
                      <a:pt x="11" y="395"/>
                    </a:lnTo>
                    <a:lnTo>
                      <a:pt x="8" y="400"/>
                    </a:lnTo>
                    <a:lnTo>
                      <a:pt x="5" y="403"/>
                    </a:lnTo>
                    <a:lnTo>
                      <a:pt x="0" y="4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06" name="Freeform 4013"/>
              <p:cNvSpPr>
                <a:spLocks noChangeAspect="1"/>
              </p:cNvSpPr>
              <p:nvPr/>
            </p:nvSpPr>
            <p:spPr bwMode="auto">
              <a:xfrm>
                <a:off x="5482" y="1081"/>
                <a:ext cx="9" cy="126"/>
              </a:xfrm>
              <a:custGeom>
                <a:avLst/>
                <a:gdLst>
                  <a:gd name="T0" fmla="*/ 0 w 27"/>
                  <a:gd name="T1" fmla="*/ 0 h 376"/>
                  <a:gd name="T2" fmla="*/ 0 w 27"/>
                  <a:gd name="T3" fmla="*/ 0 h 376"/>
                  <a:gd name="T4" fmla="*/ 0 w 27"/>
                  <a:gd name="T5" fmla="*/ 0 h 376"/>
                  <a:gd name="T6" fmla="*/ 0 w 27"/>
                  <a:gd name="T7" fmla="*/ 0 h 376"/>
                  <a:gd name="T8" fmla="*/ 0 w 27"/>
                  <a:gd name="T9" fmla="*/ 0 h 376"/>
                  <a:gd name="T10" fmla="*/ 0 w 27"/>
                  <a:gd name="T11" fmla="*/ 0 h 376"/>
                  <a:gd name="T12" fmla="*/ 0 w 27"/>
                  <a:gd name="T13" fmla="*/ 0 h 376"/>
                  <a:gd name="T14" fmla="*/ 0 w 27"/>
                  <a:gd name="T15" fmla="*/ 0 h 376"/>
                  <a:gd name="T16" fmla="*/ 0 w 27"/>
                  <a:gd name="T17" fmla="*/ 0 h 376"/>
                  <a:gd name="T18" fmla="*/ 0 w 27"/>
                  <a:gd name="T19" fmla="*/ 0 h 376"/>
                  <a:gd name="T20" fmla="*/ 0 w 27"/>
                  <a:gd name="T21" fmla="*/ 0 h 376"/>
                  <a:gd name="T22" fmla="*/ 0 w 27"/>
                  <a:gd name="T23" fmla="*/ 0 h 376"/>
                  <a:gd name="T24" fmla="*/ 0 w 27"/>
                  <a:gd name="T25" fmla="*/ 0 h 376"/>
                  <a:gd name="T26" fmla="*/ 0 w 27"/>
                  <a:gd name="T27" fmla="*/ 0 h 376"/>
                  <a:gd name="T28" fmla="*/ 0 w 27"/>
                  <a:gd name="T29" fmla="*/ 0 h 376"/>
                  <a:gd name="T30" fmla="*/ 0 w 27"/>
                  <a:gd name="T31" fmla="*/ 0 h 376"/>
                  <a:gd name="T32" fmla="*/ 0 w 27"/>
                  <a:gd name="T33" fmla="*/ 0 h 376"/>
                  <a:gd name="T34" fmla="*/ 0 w 27"/>
                  <a:gd name="T35" fmla="*/ 0 h 376"/>
                  <a:gd name="T36" fmla="*/ 0 w 27"/>
                  <a:gd name="T37" fmla="*/ 0 h 3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376">
                    <a:moveTo>
                      <a:pt x="0" y="376"/>
                    </a:moveTo>
                    <a:lnTo>
                      <a:pt x="0" y="0"/>
                    </a:lnTo>
                    <a:lnTo>
                      <a:pt x="3" y="5"/>
                    </a:lnTo>
                    <a:lnTo>
                      <a:pt x="7" y="9"/>
                    </a:lnTo>
                    <a:lnTo>
                      <a:pt x="11" y="15"/>
                    </a:lnTo>
                    <a:lnTo>
                      <a:pt x="14" y="19"/>
                    </a:lnTo>
                    <a:lnTo>
                      <a:pt x="17" y="24"/>
                    </a:lnTo>
                    <a:lnTo>
                      <a:pt x="21" y="29"/>
                    </a:lnTo>
                    <a:lnTo>
                      <a:pt x="24" y="34"/>
                    </a:lnTo>
                    <a:lnTo>
                      <a:pt x="27" y="39"/>
                    </a:lnTo>
                    <a:lnTo>
                      <a:pt x="27" y="338"/>
                    </a:lnTo>
                    <a:lnTo>
                      <a:pt x="24" y="342"/>
                    </a:lnTo>
                    <a:lnTo>
                      <a:pt x="21" y="347"/>
                    </a:lnTo>
                    <a:lnTo>
                      <a:pt x="17" y="353"/>
                    </a:lnTo>
                    <a:lnTo>
                      <a:pt x="14" y="357"/>
                    </a:lnTo>
                    <a:lnTo>
                      <a:pt x="11" y="362"/>
                    </a:lnTo>
                    <a:lnTo>
                      <a:pt x="7" y="368"/>
                    </a:lnTo>
                    <a:lnTo>
                      <a:pt x="3" y="372"/>
                    </a:lnTo>
                    <a:lnTo>
                      <a:pt x="0" y="37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07" name="Freeform 4014"/>
              <p:cNvSpPr>
                <a:spLocks noChangeAspect="1"/>
              </p:cNvSpPr>
              <p:nvPr/>
            </p:nvSpPr>
            <p:spPr bwMode="auto">
              <a:xfrm>
                <a:off x="5486" y="1087"/>
                <a:ext cx="9" cy="114"/>
              </a:xfrm>
              <a:custGeom>
                <a:avLst/>
                <a:gdLst>
                  <a:gd name="T0" fmla="*/ 0 w 27"/>
                  <a:gd name="T1" fmla="*/ 0 h 340"/>
                  <a:gd name="T2" fmla="*/ 0 w 27"/>
                  <a:gd name="T3" fmla="*/ 0 h 340"/>
                  <a:gd name="T4" fmla="*/ 0 w 27"/>
                  <a:gd name="T5" fmla="*/ 0 h 340"/>
                  <a:gd name="T6" fmla="*/ 0 w 27"/>
                  <a:gd name="T7" fmla="*/ 0 h 340"/>
                  <a:gd name="T8" fmla="*/ 0 w 27"/>
                  <a:gd name="T9" fmla="*/ 0 h 340"/>
                  <a:gd name="T10" fmla="*/ 0 w 27"/>
                  <a:gd name="T11" fmla="*/ 0 h 340"/>
                  <a:gd name="T12" fmla="*/ 0 w 27"/>
                  <a:gd name="T13" fmla="*/ 0 h 340"/>
                  <a:gd name="T14" fmla="*/ 0 w 27"/>
                  <a:gd name="T15" fmla="*/ 0 h 340"/>
                  <a:gd name="T16" fmla="*/ 0 w 27"/>
                  <a:gd name="T17" fmla="*/ 0 h 340"/>
                  <a:gd name="T18" fmla="*/ 0 w 27"/>
                  <a:gd name="T19" fmla="*/ 0 h 340"/>
                  <a:gd name="T20" fmla="*/ 0 w 27"/>
                  <a:gd name="T21" fmla="*/ 0 h 340"/>
                  <a:gd name="T22" fmla="*/ 0 w 27"/>
                  <a:gd name="T23" fmla="*/ 0 h 340"/>
                  <a:gd name="T24" fmla="*/ 0 w 27"/>
                  <a:gd name="T25" fmla="*/ 0 h 340"/>
                  <a:gd name="T26" fmla="*/ 0 w 27"/>
                  <a:gd name="T27" fmla="*/ 0 h 340"/>
                  <a:gd name="T28" fmla="*/ 0 w 27"/>
                  <a:gd name="T29" fmla="*/ 0 h 340"/>
                  <a:gd name="T30" fmla="*/ 0 w 27"/>
                  <a:gd name="T31" fmla="*/ 0 h 340"/>
                  <a:gd name="T32" fmla="*/ 0 w 27"/>
                  <a:gd name="T33" fmla="*/ 0 h 340"/>
                  <a:gd name="T34" fmla="*/ 0 w 27"/>
                  <a:gd name="T35" fmla="*/ 0 h 340"/>
                  <a:gd name="T36" fmla="*/ 0 w 27"/>
                  <a:gd name="T37" fmla="*/ 0 h 3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340">
                    <a:moveTo>
                      <a:pt x="0" y="340"/>
                    </a:moveTo>
                    <a:lnTo>
                      <a:pt x="0" y="0"/>
                    </a:lnTo>
                    <a:lnTo>
                      <a:pt x="4" y="6"/>
                    </a:lnTo>
                    <a:lnTo>
                      <a:pt x="8" y="11"/>
                    </a:lnTo>
                    <a:lnTo>
                      <a:pt x="11" y="17"/>
                    </a:lnTo>
                    <a:lnTo>
                      <a:pt x="15" y="23"/>
                    </a:lnTo>
                    <a:lnTo>
                      <a:pt x="18" y="30"/>
                    </a:lnTo>
                    <a:lnTo>
                      <a:pt x="21" y="35"/>
                    </a:lnTo>
                    <a:lnTo>
                      <a:pt x="23" y="41"/>
                    </a:lnTo>
                    <a:lnTo>
                      <a:pt x="27" y="48"/>
                    </a:lnTo>
                    <a:lnTo>
                      <a:pt x="27" y="293"/>
                    </a:lnTo>
                    <a:lnTo>
                      <a:pt x="23" y="300"/>
                    </a:lnTo>
                    <a:lnTo>
                      <a:pt x="21" y="306"/>
                    </a:lnTo>
                    <a:lnTo>
                      <a:pt x="18" y="311"/>
                    </a:lnTo>
                    <a:lnTo>
                      <a:pt x="15" y="318"/>
                    </a:lnTo>
                    <a:lnTo>
                      <a:pt x="11" y="323"/>
                    </a:lnTo>
                    <a:lnTo>
                      <a:pt x="8" y="329"/>
                    </a:lnTo>
                    <a:lnTo>
                      <a:pt x="4" y="335"/>
                    </a:lnTo>
                    <a:lnTo>
                      <a:pt x="0" y="34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08" name="Freeform 4015"/>
              <p:cNvSpPr>
                <a:spLocks noChangeAspect="1"/>
              </p:cNvSpPr>
              <p:nvPr/>
            </p:nvSpPr>
            <p:spPr bwMode="auto">
              <a:xfrm>
                <a:off x="5491" y="1094"/>
                <a:ext cx="9" cy="100"/>
              </a:xfrm>
              <a:custGeom>
                <a:avLst/>
                <a:gdLst>
                  <a:gd name="T0" fmla="*/ 0 w 27"/>
                  <a:gd name="T1" fmla="*/ 0 h 299"/>
                  <a:gd name="T2" fmla="*/ 0 w 27"/>
                  <a:gd name="T3" fmla="*/ 0 h 299"/>
                  <a:gd name="T4" fmla="*/ 0 w 27"/>
                  <a:gd name="T5" fmla="*/ 0 h 299"/>
                  <a:gd name="T6" fmla="*/ 0 w 27"/>
                  <a:gd name="T7" fmla="*/ 0 h 299"/>
                  <a:gd name="T8" fmla="*/ 0 w 27"/>
                  <a:gd name="T9" fmla="*/ 0 h 299"/>
                  <a:gd name="T10" fmla="*/ 0 w 27"/>
                  <a:gd name="T11" fmla="*/ 0 h 299"/>
                  <a:gd name="T12" fmla="*/ 0 w 27"/>
                  <a:gd name="T13" fmla="*/ 0 h 299"/>
                  <a:gd name="T14" fmla="*/ 0 w 27"/>
                  <a:gd name="T15" fmla="*/ 0 h 299"/>
                  <a:gd name="T16" fmla="*/ 0 w 27"/>
                  <a:gd name="T17" fmla="*/ 0 h 299"/>
                  <a:gd name="T18" fmla="*/ 0 w 27"/>
                  <a:gd name="T19" fmla="*/ 0 h 299"/>
                  <a:gd name="T20" fmla="*/ 0 w 27"/>
                  <a:gd name="T21" fmla="*/ 0 h 299"/>
                  <a:gd name="T22" fmla="*/ 0 w 27"/>
                  <a:gd name="T23" fmla="*/ 0 h 299"/>
                  <a:gd name="T24" fmla="*/ 0 w 27"/>
                  <a:gd name="T25" fmla="*/ 0 h 299"/>
                  <a:gd name="T26" fmla="*/ 0 w 27"/>
                  <a:gd name="T27" fmla="*/ 0 h 299"/>
                  <a:gd name="T28" fmla="*/ 0 w 27"/>
                  <a:gd name="T29" fmla="*/ 0 h 299"/>
                  <a:gd name="T30" fmla="*/ 0 w 27"/>
                  <a:gd name="T31" fmla="*/ 0 h 299"/>
                  <a:gd name="T32" fmla="*/ 0 w 27"/>
                  <a:gd name="T33" fmla="*/ 0 h 299"/>
                  <a:gd name="T34" fmla="*/ 0 w 27"/>
                  <a:gd name="T35" fmla="*/ 0 h 299"/>
                  <a:gd name="T36" fmla="*/ 0 w 27"/>
                  <a:gd name="T37" fmla="*/ 0 h 29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299">
                    <a:moveTo>
                      <a:pt x="0" y="299"/>
                    </a:moveTo>
                    <a:lnTo>
                      <a:pt x="0" y="0"/>
                    </a:lnTo>
                    <a:lnTo>
                      <a:pt x="3" y="7"/>
                    </a:lnTo>
                    <a:lnTo>
                      <a:pt x="7" y="15"/>
                    </a:lnTo>
                    <a:lnTo>
                      <a:pt x="11" y="22"/>
                    </a:lnTo>
                    <a:lnTo>
                      <a:pt x="15" y="30"/>
                    </a:lnTo>
                    <a:lnTo>
                      <a:pt x="18" y="37"/>
                    </a:lnTo>
                    <a:lnTo>
                      <a:pt x="21" y="46"/>
                    </a:lnTo>
                    <a:lnTo>
                      <a:pt x="23" y="53"/>
                    </a:lnTo>
                    <a:lnTo>
                      <a:pt x="27" y="62"/>
                    </a:lnTo>
                    <a:lnTo>
                      <a:pt x="27" y="237"/>
                    </a:lnTo>
                    <a:lnTo>
                      <a:pt x="23" y="246"/>
                    </a:lnTo>
                    <a:lnTo>
                      <a:pt x="21" y="253"/>
                    </a:lnTo>
                    <a:lnTo>
                      <a:pt x="18" y="260"/>
                    </a:lnTo>
                    <a:lnTo>
                      <a:pt x="15" y="269"/>
                    </a:lnTo>
                    <a:lnTo>
                      <a:pt x="11" y="276"/>
                    </a:lnTo>
                    <a:lnTo>
                      <a:pt x="7" y="284"/>
                    </a:lnTo>
                    <a:lnTo>
                      <a:pt x="3" y="291"/>
                    </a:lnTo>
                    <a:lnTo>
                      <a:pt x="0" y="29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09" name="Freeform 4016"/>
              <p:cNvSpPr>
                <a:spLocks noChangeAspect="1"/>
              </p:cNvSpPr>
              <p:nvPr/>
            </p:nvSpPr>
            <p:spPr bwMode="auto">
              <a:xfrm>
                <a:off x="5495" y="1103"/>
                <a:ext cx="9" cy="82"/>
              </a:xfrm>
              <a:custGeom>
                <a:avLst/>
                <a:gdLst>
                  <a:gd name="T0" fmla="*/ 0 w 26"/>
                  <a:gd name="T1" fmla="*/ 0 h 245"/>
                  <a:gd name="T2" fmla="*/ 0 w 26"/>
                  <a:gd name="T3" fmla="*/ 0 h 245"/>
                  <a:gd name="T4" fmla="*/ 0 w 26"/>
                  <a:gd name="T5" fmla="*/ 0 h 245"/>
                  <a:gd name="T6" fmla="*/ 0 w 26"/>
                  <a:gd name="T7" fmla="*/ 0 h 245"/>
                  <a:gd name="T8" fmla="*/ 0 w 26"/>
                  <a:gd name="T9" fmla="*/ 0 h 245"/>
                  <a:gd name="T10" fmla="*/ 0 w 26"/>
                  <a:gd name="T11" fmla="*/ 0 h 245"/>
                  <a:gd name="T12" fmla="*/ 0 w 26"/>
                  <a:gd name="T13" fmla="*/ 0 h 245"/>
                  <a:gd name="T14" fmla="*/ 0 w 26"/>
                  <a:gd name="T15" fmla="*/ 0 h 245"/>
                  <a:gd name="T16" fmla="*/ 0 w 26"/>
                  <a:gd name="T17" fmla="*/ 0 h 245"/>
                  <a:gd name="T18" fmla="*/ 0 w 26"/>
                  <a:gd name="T19" fmla="*/ 0 h 245"/>
                  <a:gd name="T20" fmla="*/ 0 w 26"/>
                  <a:gd name="T21" fmla="*/ 0 h 245"/>
                  <a:gd name="T22" fmla="*/ 0 w 26"/>
                  <a:gd name="T23" fmla="*/ 0 h 245"/>
                  <a:gd name="T24" fmla="*/ 0 w 26"/>
                  <a:gd name="T25" fmla="*/ 0 h 245"/>
                  <a:gd name="T26" fmla="*/ 0 w 26"/>
                  <a:gd name="T27" fmla="*/ 0 h 245"/>
                  <a:gd name="T28" fmla="*/ 0 w 26"/>
                  <a:gd name="T29" fmla="*/ 0 h 245"/>
                  <a:gd name="T30" fmla="*/ 0 w 26"/>
                  <a:gd name="T31" fmla="*/ 0 h 245"/>
                  <a:gd name="T32" fmla="*/ 0 w 26"/>
                  <a:gd name="T33" fmla="*/ 0 h 245"/>
                  <a:gd name="T34" fmla="*/ 0 w 26"/>
                  <a:gd name="T35" fmla="*/ 0 h 245"/>
                  <a:gd name="T36" fmla="*/ 0 w 26"/>
                  <a:gd name="T37" fmla="*/ 0 h 24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245">
                    <a:moveTo>
                      <a:pt x="0" y="245"/>
                    </a:moveTo>
                    <a:lnTo>
                      <a:pt x="0" y="0"/>
                    </a:lnTo>
                    <a:lnTo>
                      <a:pt x="6" y="13"/>
                    </a:lnTo>
                    <a:lnTo>
                      <a:pt x="11" y="28"/>
                    </a:lnTo>
                    <a:lnTo>
                      <a:pt x="16" y="43"/>
                    </a:lnTo>
                    <a:lnTo>
                      <a:pt x="20" y="58"/>
                    </a:lnTo>
                    <a:lnTo>
                      <a:pt x="22" y="74"/>
                    </a:lnTo>
                    <a:lnTo>
                      <a:pt x="24" y="90"/>
                    </a:lnTo>
                    <a:lnTo>
                      <a:pt x="26" y="106"/>
                    </a:lnTo>
                    <a:lnTo>
                      <a:pt x="26" y="122"/>
                    </a:lnTo>
                    <a:lnTo>
                      <a:pt x="26" y="123"/>
                    </a:lnTo>
                    <a:lnTo>
                      <a:pt x="26" y="139"/>
                    </a:lnTo>
                    <a:lnTo>
                      <a:pt x="24" y="155"/>
                    </a:lnTo>
                    <a:lnTo>
                      <a:pt x="22" y="171"/>
                    </a:lnTo>
                    <a:lnTo>
                      <a:pt x="20" y="186"/>
                    </a:lnTo>
                    <a:lnTo>
                      <a:pt x="16" y="202"/>
                    </a:lnTo>
                    <a:lnTo>
                      <a:pt x="11" y="216"/>
                    </a:lnTo>
                    <a:lnTo>
                      <a:pt x="6" y="231"/>
                    </a:lnTo>
                    <a:lnTo>
                      <a:pt x="0" y="24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10" name="Freeform 4017"/>
              <p:cNvSpPr>
                <a:spLocks noChangeAspect="1"/>
              </p:cNvSpPr>
              <p:nvPr/>
            </p:nvSpPr>
            <p:spPr bwMode="auto">
              <a:xfrm>
                <a:off x="5500" y="1115"/>
                <a:ext cx="4" cy="58"/>
              </a:xfrm>
              <a:custGeom>
                <a:avLst/>
                <a:gdLst>
                  <a:gd name="T0" fmla="*/ 0 w 12"/>
                  <a:gd name="T1" fmla="*/ 0 h 175"/>
                  <a:gd name="T2" fmla="*/ 0 w 12"/>
                  <a:gd name="T3" fmla="*/ 0 h 175"/>
                  <a:gd name="T4" fmla="*/ 0 w 12"/>
                  <a:gd name="T5" fmla="*/ 0 h 175"/>
                  <a:gd name="T6" fmla="*/ 0 w 12"/>
                  <a:gd name="T7" fmla="*/ 0 h 175"/>
                  <a:gd name="T8" fmla="*/ 0 w 12"/>
                  <a:gd name="T9" fmla="*/ 0 h 175"/>
                  <a:gd name="T10" fmla="*/ 0 w 12"/>
                  <a:gd name="T11" fmla="*/ 0 h 175"/>
                  <a:gd name="T12" fmla="*/ 0 w 12"/>
                  <a:gd name="T13" fmla="*/ 0 h 175"/>
                  <a:gd name="T14" fmla="*/ 0 w 12"/>
                  <a:gd name="T15" fmla="*/ 0 h 175"/>
                  <a:gd name="T16" fmla="*/ 0 w 12"/>
                  <a:gd name="T17" fmla="*/ 0 h 175"/>
                  <a:gd name="T18" fmla="*/ 0 w 12"/>
                  <a:gd name="T19" fmla="*/ 0 h 175"/>
                  <a:gd name="T20" fmla="*/ 0 w 12"/>
                  <a:gd name="T21" fmla="*/ 0 h 175"/>
                  <a:gd name="T22" fmla="*/ 0 w 12"/>
                  <a:gd name="T23" fmla="*/ 0 h 175"/>
                  <a:gd name="T24" fmla="*/ 0 w 12"/>
                  <a:gd name="T25" fmla="*/ 0 h 175"/>
                  <a:gd name="T26" fmla="*/ 0 w 12"/>
                  <a:gd name="T27" fmla="*/ 0 h 175"/>
                  <a:gd name="T28" fmla="*/ 0 w 12"/>
                  <a:gd name="T29" fmla="*/ 0 h 175"/>
                  <a:gd name="T30" fmla="*/ 0 w 12"/>
                  <a:gd name="T31" fmla="*/ 0 h 175"/>
                  <a:gd name="T32" fmla="*/ 0 w 12"/>
                  <a:gd name="T33" fmla="*/ 0 h 175"/>
                  <a:gd name="T34" fmla="*/ 0 w 12"/>
                  <a:gd name="T35" fmla="*/ 0 h 1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2" h="175">
                    <a:moveTo>
                      <a:pt x="0" y="175"/>
                    </a:moveTo>
                    <a:lnTo>
                      <a:pt x="0" y="0"/>
                    </a:lnTo>
                    <a:lnTo>
                      <a:pt x="2" y="10"/>
                    </a:lnTo>
                    <a:lnTo>
                      <a:pt x="5" y="21"/>
                    </a:lnTo>
                    <a:lnTo>
                      <a:pt x="7" y="32"/>
                    </a:lnTo>
                    <a:lnTo>
                      <a:pt x="9" y="42"/>
                    </a:lnTo>
                    <a:lnTo>
                      <a:pt x="10" y="54"/>
                    </a:lnTo>
                    <a:lnTo>
                      <a:pt x="11" y="65"/>
                    </a:lnTo>
                    <a:lnTo>
                      <a:pt x="12" y="76"/>
                    </a:lnTo>
                    <a:lnTo>
                      <a:pt x="12" y="87"/>
                    </a:lnTo>
                    <a:lnTo>
                      <a:pt x="12" y="99"/>
                    </a:lnTo>
                    <a:lnTo>
                      <a:pt x="11" y="110"/>
                    </a:lnTo>
                    <a:lnTo>
                      <a:pt x="10" y="121"/>
                    </a:lnTo>
                    <a:lnTo>
                      <a:pt x="9" y="133"/>
                    </a:lnTo>
                    <a:lnTo>
                      <a:pt x="7" y="143"/>
                    </a:lnTo>
                    <a:lnTo>
                      <a:pt x="5" y="154"/>
                    </a:lnTo>
                    <a:lnTo>
                      <a:pt x="2" y="164"/>
                    </a:lnTo>
                    <a:lnTo>
                      <a:pt x="0" y="17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11" name="Freeform 4018"/>
              <p:cNvSpPr>
                <a:spLocks noChangeAspect="1"/>
              </p:cNvSpPr>
              <p:nvPr/>
            </p:nvSpPr>
            <p:spPr bwMode="auto">
              <a:xfrm>
                <a:off x="5504" y="1144"/>
                <a:ext cx="1" cy="1"/>
              </a:xfrm>
              <a:custGeom>
                <a:avLst/>
                <a:gdLst>
                  <a:gd name="T0" fmla="*/ 0 w 1"/>
                  <a:gd name="T1" fmla="*/ 1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1 h 1"/>
                  <a:gd name="T26" fmla="*/ 0 w 1"/>
                  <a:gd name="T27" fmla="*/ 1 h 1"/>
                  <a:gd name="T28" fmla="*/ 0 w 1"/>
                  <a:gd name="T29" fmla="*/ 1 h 1"/>
                  <a:gd name="T30" fmla="*/ 0 w 1"/>
                  <a:gd name="T31" fmla="*/ 1 h 1"/>
                  <a:gd name="T32" fmla="*/ 0 w 1"/>
                  <a:gd name="T33" fmla="*/ 1 h 1"/>
                  <a:gd name="T34" fmla="*/ 0 w 1"/>
                  <a:gd name="T35" fmla="*/ 1 h 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 h="1">
                    <a:moveTo>
                      <a:pt x="0" y="1"/>
                    </a:moveTo>
                    <a:lnTo>
                      <a:pt x="0" y="0"/>
                    </a:lnTo>
                    <a:lnTo>
                      <a:pt x="0" y="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12" name="Freeform 4019"/>
              <p:cNvSpPr>
                <a:spLocks noChangeAspect="1"/>
              </p:cNvSpPr>
              <p:nvPr/>
            </p:nvSpPr>
            <p:spPr bwMode="auto">
              <a:xfrm>
                <a:off x="5282" y="1039"/>
                <a:ext cx="222" cy="210"/>
              </a:xfrm>
              <a:custGeom>
                <a:avLst/>
                <a:gdLst>
                  <a:gd name="T0" fmla="*/ 0 w 664"/>
                  <a:gd name="T1" fmla="*/ 0 h 629"/>
                  <a:gd name="T2" fmla="*/ 0 w 664"/>
                  <a:gd name="T3" fmla="*/ 0 h 629"/>
                  <a:gd name="T4" fmla="*/ 0 w 664"/>
                  <a:gd name="T5" fmla="*/ 0 h 629"/>
                  <a:gd name="T6" fmla="*/ 0 w 664"/>
                  <a:gd name="T7" fmla="*/ 0 h 629"/>
                  <a:gd name="T8" fmla="*/ 0 w 664"/>
                  <a:gd name="T9" fmla="*/ 0 h 629"/>
                  <a:gd name="T10" fmla="*/ 0 w 664"/>
                  <a:gd name="T11" fmla="*/ 0 h 629"/>
                  <a:gd name="T12" fmla="*/ 0 w 664"/>
                  <a:gd name="T13" fmla="*/ 0 h 629"/>
                  <a:gd name="T14" fmla="*/ 0 w 664"/>
                  <a:gd name="T15" fmla="*/ 0 h 629"/>
                  <a:gd name="T16" fmla="*/ 0 w 664"/>
                  <a:gd name="T17" fmla="*/ 0 h 629"/>
                  <a:gd name="T18" fmla="*/ 0 w 664"/>
                  <a:gd name="T19" fmla="*/ 0 h 629"/>
                  <a:gd name="T20" fmla="*/ 0 w 664"/>
                  <a:gd name="T21" fmla="*/ 0 h 629"/>
                  <a:gd name="T22" fmla="*/ 0 w 664"/>
                  <a:gd name="T23" fmla="*/ 0 h 629"/>
                  <a:gd name="T24" fmla="*/ 0 w 664"/>
                  <a:gd name="T25" fmla="*/ 0 h 629"/>
                  <a:gd name="T26" fmla="*/ 0 w 664"/>
                  <a:gd name="T27" fmla="*/ 0 h 629"/>
                  <a:gd name="T28" fmla="*/ 0 w 664"/>
                  <a:gd name="T29" fmla="*/ 0 h 629"/>
                  <a:gd name="T30" fmla="*/ 0 w 664"/>
                  <a:gd name="T31" fmla="*/ 0 h 629"/>
                  <a:gd name="T32" fmla="*/ 0 w 664"/>
                  <a:gd name="T33" fmla="*/ 0 h 629"/>
                  <a:gd name="T34" fmla="*/ 0 w 664"/>
                  <a:gd name="T35" fmla="*/ 0 h 629"/>
                  <a:gd name="T36" fmla="*/ 0 w 664"/>
                  <a:gd name="T37" fmla="*/ 0 h 629"/>
                  <a:gd name="T38" fmla="*/ 0 w 664"/>
                  <a:gd name="T39" fmla="*/ 0 h 629"/>
                  <a:gd name="T40" fmla="*/ 0 w 664"/>
                  <a:gd name="T41" fmla="*/ 0 h 629"/>
                  <a:gd name="T42" fmla="*/ 0 w 664"/>
                  <a:gd name="T43" fmla="*/ 0 h 629"/>
                  <a:gd name="T44" fmla="*/ 0 w 664"/>
                  <a:gd name="T45" fmla="*/ 0 h 629"/>
                  <a:gd name="T46" fmla="*/ 0 w 664"/>
                  <a:gd name="T47" fmla="*/ 0 h 629"/>
                  <a:gd name="T48" fmla="*/ 0 w 664"/>
                  <a:gd name="T49" fmla="*/ 0 h 629"/>
                  <a:gd name="T50" fmla="*/ 0 w 664"/>
                  <a:gd name="T51" fmla="*/ 0 h 629"/>
                  <a:gd name="T52" fmla="*/ 0 w 664"/>
                  <a:gd name="T53" fmla="*/ 0 h 629"/>
                  <a:gd name="T54" fmla="*/ 0 w 664"/>
                  <a:gd name="T55" fmla="*/ 0 h 629"/>
                  <a:gd name="T56" fmla="*/ 0 w 664"/>
                  <a:gd name="T57" fmla="*/ 0 h 629"/>
                  <a:gd name="T58" fmla="*/ 0 w 664"/>
                  <a:gd name="T59" fmla="*/ 0 h 629"/>
                  <a:gd name="T60" fmla="*/ 0 w 664"/>
                  <a:gd name="T61" fmla="*/ 0 h 629"/>
                  <a:gd name="T62" fmla="*/ 0 w 664"/>
                  <a:gd name="T63" fmla="*/ 0 h 629"/>
                  <a:gd name="T64" fmla="*/ 0 w 664"/>
                  <a:gd name="T65" fmla="*/ 0 h 629"/>
                  <a:gd name="T66" fmla="*/ 0 w 664"/>
                  <a:gd name="T67" fmla="*/ 0 h 629"/>
                  <a:gd name="T68" fmla="*/ 0 w 664"/>
                  <a:gd name="T69" fmla="*/ 0 h 629"/>
                  <a:gd name="T70" fmla="*/ 0 w 664"/>
                  <a:gd name="T71" fmla="*/ 0 h 629"/>
                  <a:gd name="T72" fmla="*/ 0 w 664"/>
                  <a:gd name="T73" fmla="*/ 0 h 629"/>
                  <a:gd name="T74" fmla="*/ 0 w 664"/>
                  <a:gd name="T75" fmla="*/ 0 h 629"/>
                  <a:gd name="T76" fmla="*/ 0 w 664"/>
                  <a:gd name="T77" fmla="*/ 0 h 629"/>
                  <a:gd name="T78" fmla="*/ 0 w 664"/>
                  <a:gd name="T79" fmla="*/ 0 h 629"/>
                  <a:gd name="T80" fmla="*/ 0 w 664"/>
                  <a:gd name="T81" fmla="*/ 0 h 629"/>
                  <a:gd name="T82" fmla="*/ 0 w 664"/>
                  <a:gd name="T83" fmla="*/ 0 h 629"/>
                  <a:gd name="T84" fmla="*/ 0 w 664"/>
                  <a:gd name="T85" fmla="*/ 0 h 6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64" h="629">
                    <a:moveTo>
                      <a:pt x="332" y="629"/>
                    </a:moveTo>
                    <a:lnTo>
                      <a:pt x="349" y="629"/>
                    </a:lnTo>
                    <a:lnTo>
                      <a:pt x="366" y="627"/>
                    </a:lnTo>
                    <a:lnTo>
                      <a:pt x="383" y="625"/>
                    </a:lnTo>
                    <a:lnTo>
                      <a:pt x="399" y="622"/>
                    </a:lnTo>
                    <a:lnTo>
                      <a:pt x="415" y="619"/>
                    </a:lnTo>
                    <a:lnTo>
                      <a:pt x="431" y="615"/>
                    </a:lnTo>
                    <a:lnTo>
                      <a:pt x="446" y="609"/>
                    </a:lnTo>
                    <a:lnTo>
                      <a:pt x="461" y="604"/>
                    </a:lnTo>
                    <a:lnTo>
                      <a:pt x="476" y="598"/>
                    </a:lnTo>
                    <a:lnTo>
                      <a:pt x="491" y="590"/>
                    </a:lnTo>
                    <a:lnTo>
                      <a:pt x="505" y="583"/>
                    </a:lnTo>
                    <a:lnTo>
                      <a:pt x="517" y="574"/>
                    </a:lnTo>
                    <a:lnTo>
                      <a:pt x="531" y="566"/>
                    </a:lnTo>
                    <a:lnTo>
                      <a:pt x="543" y="556"/>
                    </a:lnTo>
                    <a:lnTo>
                      <a:pt x="556" y="547"/>
                    </a:lnTo>
                    <a:lnTo>
                      <a:pt x="567" y="536"/>
                    </a:lnTo>
                    <a:lnTo>
                      <a:pt x="578" y="525"/>
                    </a:lnTo>
                    <a:lnTo>
                      <a:pt x="589" y="514"/>
                    </a:lnTo>
                    <a:lnTo>
                      <a:pt x="598" y="502"/>
                    </a:lnTo>
                    <a:lnTo>
                      <a:pt x="608" y="489"/>
                    </a:lnTo>
                    <a:lnTo>
                      <a:pt x="616" y="478"/>
                    </a:lnTo>
                    <a:lnTo>
                      <a:pt x="624" y="464"/>
                    </a:lnTo>
                    <a:lnTo>
                      <a:pt x="631" y="450"/>
                    </a:lnTo>
                    <a:lnTo>
                      <a:pt x="638" y="436"/>
                    </a:lnTo>
                    <a:lnTo>
                      <a:pt x="644" y="422"/>
                    </a:lnTo>
                    <a:lnTo>
                      <a:pt x="649" y="407"/>
                    </a:lnTo>
                    <a:lnTo>
                      <a:pt x="654" y="393"/>
                    </a:lnTo>
                    <a:lnTo>
                      <a:pt x="658" y="378"/>
                    </a:lnTo>
                    <a:lnTo>
                      <a:pt x="660" y="362"/>
                    </a:lnTo>
                    <a:lnTo>
                      <a:pt x="662" y="347"/>
                    </a:lnTo>
                    <a:lnTo>
                      <a:pt x="664" y="331"/>
                    </a:lnTo>
                    <a:lnTo>
                      <a:pt x="664" y="314"/>
                    </a:lnTo>
                    <a:lnTo>
                      <a:pt x="664" y="298"/>
                    </a:lnTo>
                    <a:lnTo>
                      <a:pt x="662" y="282"/>
                    </a:lnTo>
                    <a:lnTo>
                      <a:pt x="660" y="266"/>
                    </a:lnTo>
                    <a:lnTo>
                      <a:pt x="658" y="251"/>
                    </a:lnTo>
                    <a:lnTo>
                      <a:pt x="654" y="236"/>
                    </a:lnTo>
                    <a:lnTo>
                      <a:pt x="649" y="221"/>
                    </a:lnTo>
                    <a:lnTo>
                      <a:pt x="644" y="206"/>
                    </a:lnTo>
                    <a:lnTo>
                      <a:pt x="638" y="192"/>
                    </a:lnTo>
                    <a:lnTo>
                      <a:pt x="631" y="178"/>
                    </a:lnTo>
                    <a:lnTo>
                      <a:pt x="624" y="165"/>
                    </a:lnTo>
                    <a:lnTo>
                      <a:pt x="616" y="151"/>
                    </a:lnTo>
                    <a:lnTo>
                      <a:pt x="608" y="138"/>
                    </a:lnTo>
                    <a:lnTo>
                      <a:pt x="598" y="127"/>
                    </a:lnTo>
                    <a:lnTo>
                      <a:pt x="589" y="115"/>
                    </a:lnTo>
                    <a:lnTo>
                      <a:pt x="578" y="103"/>
                    </a:lnTo>
                    <a:lnTo>
                      <a:pt x="567" y="92"/>
                    </a:lnTo>
                    <a:lnTo>
                      <a:pt x="556" y="82"/>
                    </a:lnTo>
                    <a:lnTo>
                      <a:pt x="543" y="71"/>
                    </a:lnTo>
                    <a:lnTo>
                      <a:pt x="531" y="63"/>
                    </a:lnTo>
                    <a:lnTo>
                      <a:pt x="517" y="53"/>
                    </a:lnTo>
                    <a:lnTo>
                      <a:pt x="505" y="46"/>
                    </a:lnTo>
                    <a:lnTo>
                      <a:pt x="491" y="39"/>
                    </a:lnTo>
                    <a:lnTo>
                      <a:pt x="476" y="31"/>
                    </a:lnTo>
                    <a:lnTo>
                      <a:pt x="461" y="25"/>
                    </a:lnTo>
                    <a:lnTo>
                      <a:pt x="446" y="19"/>
                    </a:lnTo>
                    <a:lnTo>
                      <a:pt x="431" y="14"/>
                    </a:lnTo>
                    <a:lnTo>
                      <a:pt x="415" y="10"/>
                    </a:lnTo>
                    <a:lnTo>
                      <a:pt x="399" y="7"/>
                    </a:lnTo>
                    <a:lnTo>
                      <a:pt x="383" y="3"/>
                    </a:lnTo>
                    <a:lnTo>
                      <a:pt x="366" y="1"/>
                    </a:lnTo>
                    <a:lnTo>
                      <a:pt x="349" y="0"/>
                    </a:lnTo>
                    <a:lnTo>
                      <a:pt x="332" y="0"/>
                    </a:lnTo>
                    <a:lnTo>
                      <a:pt x="315" y="0"/>
                    </a:lnTo>
                    <a:lnTo>
                      <a:pt x="298" y="1"/>
                    </a:lnTo>
                    <a:lnTo>
                      <a:pt x="282" y="3"/>
                    </a:lnTo>
                    <a:lnTo>
                      <a:pt x="265" y="7"/>
                    </a:lnTo>
                    <a:lnTo>
                      <a:pt x="249" y="10"/>
                    </a:lnTo>
                    <a:lnTo>
                      <a:pt x="234" y="14"/>
                    </a:lnTo>
                    <a:lnTo>
                      <a:pt x="218" y="19"/>
                    </a:lnTo>
                    <a:lnTo>
                      <a:pt x="203" y="25"/>
                    </a:lnTo>
                    <a:lnTo>
                      <a:pt x="189" y="31"/>
                    </a:lnTo>
                    <a:lnTo>
                      <a:pt x="175" y="39"/>
                    </a:lnTo>
                    <a:lnTo>
                      <a:pt x="161" y="46"/>
                    </a:lnTo>
                    <a:lnTo>
                      <a:pt x="147" y="53"/>
                    </a:lnTo>
                    <a:lnTo>
                      <a:pt x="134" y="63"/>
                    </a:lnTo>
                    <a:lnTo>
                      <a:pt x="122" y="71"/>
                    </a:lnTo>
                    <a:lnTo>
                      <a:pt x="110" y="82"/>
                    </a:lnTo>
                    <a:lnTo>
                      <a:pt x="98" y="92"/>
                    </a:lnTo>
                    <a:lnTo>
                      <a:pt x="87" y="103"/>
                    </a:lnTo>
                    <a:lnTo>
                      <a:pt x="77" y="115"/>
                    </a:lnTo>
                    <a:lnTo>
                      <a:pt x="66" y="127"/>
                    </a:lnTo>
                    <a:lnTo>
                      <a:pt x="58" y="138"/>
                    </a:lnTo>
                    <a:lnTo>
                      <a:pt x="49" y="151"/>
                    </a:lnTo>
                    <a:lnTo>
                      <a:pt x="41" y="165"/>
                    </a:lnTo>
                    <a:lnTo>
                      <a:pt x="33" y="178"/>
                    </a:lnTo>
                    <a:lnTo>
                      <a:pt x="27" y="192"/>
                    </a:lnTo>
                    <a:lnTo>
                      <a:pt x="20" y="206"/>
                    </a:lnTo>
                    <a:lnTo>
                      <a:pt x="15" y="221"/>
                    </a:lnTo>
                    <a:lnTo>
                      <a:pt x="11" y="236"/>
                    </a:lnTo>
                    <a:lnTo>
                      <a:pt x="8" y="251"/>
                    </a:lnTo>
                    <a:lnTo>
                      <a:pt x="4" y="266"/>
                    </a:lnTo>
                    <a:lnTo>
                      <a:pt x="2" y="282"/>
                    </a:lnTo>
                    <a:lnTo>
                      <a:pt x="1" y="298"/>
                    </a:lnTo>
                    <a:lnTo>
                      <a:pt x="0" y="314"/>
                    </a:lnTo>
                    <a:lnTo>
                      <a:pt x="1" y="331"/>
                    </a:lnTo>
                    <a:lnTo>
                      <a:pt x="2" y="347"/>
                    </a:lnTo>
                    <a:lnTo>
                      <a:pt x="4" y="362"/>
                    </a:lnTo>
                    <a:lnTo>
                      <a:pt x="8" y="378"/>
                    </a:lnTo>
                    <a:lnTo>
                      <a:pt x="11" y="393"/>
                    </a:lnTo>
                    <a:lnTo>
                      <a:pt x="15" y="407"/>
                    </a:lnTo>
                    <a:lnTo>
                      <a:pt x="20" y="422"/>
                    </a:lnTo>
                    <a:lnTo>
                      <a:pt x="27" y="436"/>
                    </a:lnTo>
                    <a:lnTo>
                      <a:pt x="33" y="450"/>
                    </a:lnTo>
                    <a:lnTo>
                      <a:pt x="41" y="464"/>
                    </a:lnTo>
                    <a:lnTo>
                      <a:pt x="49" y="478"/>
                    </a:lnTo>
                    <a:lnTo>
                      <a:pt x="58" y="489"/>
                    </a:lnTo>
                    <a:lnTo>
                      <a:pt x="66" y="502"/>
                    </a:lnTo>
                    <a:lnTo>
                      <a:pt x="77" y="514"/>
                    </a:lnTo>
                    <a:lnTo>
                      <a:pt x="87" y="525"/>
                    </a:lnTo>
                    <a:lnTo>
                      <a:pt x="98" y="536"/>
                    </a:lnTo>
                    <a:lnTo>
                      <a:pt x="110" y="547"/>
                    </a:lnTo>
                    <a:lnTo>
                      <a:pt x="122" y="556"/>
                    </a:lnTo>
                    <a:lnTo>
                      <a:pt x="134" y="566"/>
                    </a:lnTo>
                    <a:lnTo>
                      <a:pt x="147" y="574"/>
                    </a:lnTo>
                    <a:lnTo>
                      <a:pt x="161" y="583"/>
                    </a:lnTo>
                    <a:lnTo>
                      <a:pt x="175" y="590"/>
                    </a:lnTo>
                    <a:lnTo>
                      <a:pt x="189" y="598"/>
                    </a:lnTo>
                    <a:lnTo>
                      <a:pt x="203" y="604"/>
                    </a:lnTo>
                    <a:lnTo>
                      <a:pt x="218" y="609"/>
                    </a:lnTo>
                    <a:lnTo>
                      <a:pt x="234" y="615"/>
                    </a:lnTo>
                    <a:lnTo>
                      <a:pt x="249" y="619"/>
                    </a:lnTo>
                    <a:lnTo>
                      <a:pt x="265" y="622"/>
                    </a:lnTo>
                    <a:lnTo>
                      <a:pt x="282" y="625"/>
                    </a:lnTo>
                    <a:lnTo>
                      <a:pt x="298" y="627"/>
                    </a:lnTo>
                    <a:lnTo>
                      <a:pt x="315" y="629"/>
                    </a:lnTo>
                    <a:lnTo>
                      <a:pt x="332" y="629"/>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sp>
            <p:nvSpPr>
              <p:cNvPr id="387613" name="Freeform 4020"/>
              <p:cNvSpPr>
                <a:spLocks noChangeAspect="1"/>
              </p:cNvSpPr>
              <p:nvPr/>
            </p:nvSpPr>
            <p:spPr bwMode="auto">
              <a:xfrm>
                <a:off x="5208" y="1157"/>
                <a:ext cx="14" cy="14"/>
              </a:xfrm>
              <a:custGeom>
                <a:avLst/>
                <a:gdLst>
                  <a:gd name="T0" fmla="*/ 0 w 41"/>
                  <a:gd name="T1" fmla="*/ 0 h 42"/>
                  <a:gd name="T2" fmla="*/ 0 w 41"/>
                  <a:gd name="T3" fmla="*/ 0 h 42"/>
                  <a:gd name="T4" fmla="*/ 0 w 41"/>
                  <a:gd name="T5" fmla="*/ 0 h 42"/>
                  <a:gd name="T6" fmla="*/ 0 w 41"/>
                  <a:gd name="T7" fmla="*/ 0 h 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1" h="42">
                    <a:moveTo>
                      <a:pt x="41" y="0"/>
                    </a:moveTo>
                    <a:lnTo>
                      <a:pt x="0" y="42"/>
                    </a:lnTo>
                    <a:lnTo>
                      <a:pt x="0" y="0"/>
                    </a:lnTo>
                    <a:lnTo>
                      <a:pt x="41"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14" name="Freeform 4021"/>
              <p:cNvSpPr>
                <a:spLocks noChangeAspect="1"/>
              </p:cNvSpPr>
              <p:nvPr/>
            </p:nvSpPr>
            <p:spPr bwMode="auto">
              <a:xfrm>
                <a:off x="5208" y="1157"/>
                <a:ext cx="24" cy="23"/>
              </a:xfrm>
              <a:custGeom>
                <a:avLst/>
                <a:gdLst>
                  <a:gd name="T0" fmla="*/ 0 w 70"/>
                  <a:gd name="T1" fmla="*/ 0 h 71"/>
                  <a:gd name="T2" fmla="*/ 0 w 70"/>
                  <a:gd name="T3" fmla="*/ 0 h 71"/>
                  <a:gd name="T4" fmla="*/ 0 w 70"/>
                  <a:gd name="T5" fmla="*/ 0 h 71"/>
                  <a:gd name="T6" fmla="*/ 0 w 70"/>
                  <a:gd name="T7" fmla="*/ 0 h 71"/>
                  <a:gd name="T8" fmla="*/ 0 w 70"/>
                  <a:gd name="T9" fmla="*/ 0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71">
                    <a:moveTo>
                      <a:pt x="0" y="12"/>
                    </a:moveTo>
                    <a:lnTo>
                      <a:pt x="11" y="0"/>
                    </a:lnTo>
                    <a:lnTo>
                      <a:pt x="70" y="0"/>
                    </a:lnTo>
                    <a:lnTo>
                      <a:pt x="0" y="71"/>
                    </a:lnTo>
                    <a:lnTo>
                      <a:pt x="0" y="1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15" name="Freeform 4022"/>
              <p:cNvSpPr>
                <a:spLocks noChangeAspect="1"/>
              </p:cNvSpPr>
              <p:nvPr/>
            </p:nvSpPr>
            <p:spPr bwMode="auto">
              <a:xfrm>
                <a:off x="5208" y="1157"/>
                <a:ext cx="34" cy="33"/>
              </a:xfrm>
              <a:custGeom>
                <a:avLst/>
                <a:gdLst>
                  <a:gd name="T0" fmla="*/ 0 w 100"/>
                  <a:gd name="T1" fmla="*/ 0 h 100"/>
                  <a:gd name="T2" fmla="*/ 0 w 100"/>
                  <a:gd name="T3" fmla="*/ 0 h 100"/>
                  <a:gd name="T4" fmla="*/ 0 w 100"/>
                  <a:gd name="T5" fmla="*/ 0 h 100"/>
                  <a:gd name="T6" fmla="*/ 0 w 100"/>
                  <a:gd name="T7" fmla="*/ 0 h 100"/>
                  <a:gd name="T8" fmla="*/ 0 w 100"/>
                  <a:gd name="T9" fmla="*/ 0 h 100"/>
                  <a:gd name="T10" fmla="*/ 0 w 100"/>
                  <a:gd name="T11" fmla="*/ 0 h 1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100">
                    <a:moveTo>
                      <a:pt x="0" y="42"/>
                    </a:moveTo>
                    <a:lnTo>
                      <a:pt x="41" y="0"/>
                    </a:lnTo>
                    <a:lnTo>
                      <a:pt x="93" y="0"/>
                    </a:lnTo>
                    <a:lnTo>
                      <a:pt x="100" y="0"/>
                    </a:lnTo>
                    <a:lnTo>
                      <a:pt x="0" y="100"/>
                    </a:lnTo>
                    <a:lnTo>
                      <a:pt x="0" y="4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16" name="Freeform 4023"/>
              <p:cNvSpPr>
                <a:spLocks noChangeAspect="1"/>
              </p:cNvSpPr>
              <p:nvPr/>
            </p:nvSpPr>
            <p:spPr bwMode="auto">
              <a:xfrm>
                <a:off x="5208" y="1157"/>
                <a:ext cx="44" cy="43"/>
              </a:xfrm>
              <a:custGeom>
                <a:avLst/>
                <a:gdLst>
                  <a:gd name="T0" fmla="*/ 0 w 130"/>
                  <a:gd name="T1" fmla="*/ 0 h 130"/>
                  <a:gd name="T2" fmla="*/ 0 w 130"/>
                  <a:gd name="T3" fmla="*/ 0 h 130"/>
                  <a:gd name="T4" fmla="*/ 0 w 130"/>
                  <a:gd name="T5" fmla="*/ 0 h 130"/>
                  <a:gd name="T6" fmla="*/ 0 w 130"/>
                  <a:gd name="T7" fmla="*/ 0 h 130"/>
                  <a:gd name="T8" fmla="*/ 0 w 130"/>
                  <a:gd name="T9" fmla="*/ 0 h 130"/>
                  <a:gd name="T10" fmla="*/ 0 w 130"/>
                  <a:gd name="T11" fmla="*/ 0 h 1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0" h="130">
                    <a:moveTo>
                      <a:pt x="0" y="71"/>
                    </a:moveTo>
                    <a:lnTo>
                      <a:pt x="70" y="0"/>
                    </a:lnTo>
                    <a:lnTo>
                      <a:pt x="93" y="0"/>
                    </a:lnTo>
                    <a:lnTo>
                      <a:pt x="130" y="0"/>
                    </a:lnTo>
                    <a:lnTo>
                      <a:pt x="0" y="130"/>
                    </a:lnTo>
                    <a:lnTo>
                      <a:pt x="0" y="7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17" name="Freeform 4024"/>
              <p:cNvSpPr>
                <a:spLocks noChangeAspect="1"/>
              </p:cNvSpPr>
              <p:nvPr/>
            </p:nvSpPr>
            <p:spPr bwMode="auto">
              <a:xfrm>
                <a:off x="5208" y="1157"/>
                <a:ext cx="53" cy="53"/>
              </a:xfrm>
              <a:custGeom>
                <a:avLst/>
                <a:gdLst>
                  <a:gd name="T0" fmla="*/ 0 w 159"/>
                  <a:gd name="T1" fmla="*/ 0 h 160"/>
                  <a:gd name="T2" fmla="*/ 0 w 159"/>
                  <a:gd name="T3" fmla="*/ 0 h 160"/>
                  <a:gd name="T4" fmla="*/ 0 w 159"/>
                  <a:gd name="T5" fmla="*/ 0 h 160"/>
                  <a:gd name="T6" fmla="*/ 0 w 159"/>
                  <a:gd name="T7" fmla="*/ 0 h 160"/>
                  <a:gd name="T8" fmla="*/ 0 w 159"/>
                  <a:gd name="T9" fmla="*/ 0 h 1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 h="160">
                    <a:moveTo>
                      <a:pt x="0" y="100"/>
                    </a:moveTo>
                    <a:lnTo>
                      <a:pt x="100" y="0"/>
                    </a:lnTo>
                    <a:lnTo>
                      <a:pt x="159" y="0"/>
                    </a:lnTo>
                    <a:lnTo>
                      <a:pt x="0" y="160"/>
                    </a:lnTo>
                    <a:lnTo>
                      <a:pt x="0" y="1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18" name="Freeform 4025"/>
              <p:cNvSpPr>
                <a:spLocks noChangeAspect="1"/>
              </p:cNvSpPr>
              <p:nvPr/>
            </p:nvSpPr>
            <p:spPr bwMode="auto">
              <a:xfrm>
                <a:off x="5208" y="1157"/>
                <a:ext cx="63" cy="63"/>
              </a:xfrm>
              <a:custGeom>
                <a:avLst/>
                <a:gdLst>
                  <a:gd name="T0" fmla="*/ 0 w 189"/>
                  <a:gd name="T1" fmla="*/ 0 h 189"/>
                  <a:gd name="T2" fmla="*/ 0 w 189"/>
                  <a:gd name="T3" fmla="*/ 0 h 189"/>
                  <a:gd name="T4" fmla="*/ 0 w 189"/>
                  <a:gd name="T5" fmla="*/ 0 h 189"/>
                  <a:gd name="T6" fmla="*/ 0 w 189"/>
                  <a:gd name="T7" fmla="*/ 0 h 189"/>
                  <a:gd name="T8" fmla="*/ 0 w 189"/>
                  <a:gd name="T9" fmla="*/ 0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 h="189">
                    <a:moveTo>
                      <a:pt x="0" y="130"/>
                    </a:moveTo>
                    <a:lnTo>
                      <a:pt x="130" y="0"/>
                    </a:lnTo>
                    <a:lnTo>
                      <a:pt x="189" y="0"/>
                    </a:lnTo>
                    <a:lnTo>
                      <a:pt x="0" y="189"/>
                    </a:lnTo>
                    <a:lnTo>
                      <a:pt x="0" y="13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19" name="Freeform 4026"/>
              <p:cNvSpPr>
                <a:spLocks noChangeAspect="1"/>
              </p:cNvSpPr>
              <p:nvPr/>
            </p:nvSpPr>
            <p:spPr bwMode="auto">
              <a:xfrm>
                <a:off x="5208" y="1157"/>
                <a:ext cx="73" cy="73"/>
              </a:xfrm>
              <a:custGeom>
                <a:avLst/>
                <a:gdLst>
                  <a:gd name="T0" fmla="*/ 0 w 218"/>
                  <a:gd name="T1" fmla="*/ 0 h 219"/>
                  <a:gd name="T2" fmla="*/ 0 w 218"/>
                  <a:gd name="T3" fmla="*/ 0 h 219"/>
                  <a:gd name="T4" fmla="*/ 0 w 218"/>
                  <a:gd name="T5" fmla="*/ 0 h 219"/>
                  <a:gd name="T6" fmla="*/ 0 w 218"/>
                  <a:gd name="T7" fmla="*/ 0 h 219"/>
                  <a:gd name="T8" fmla="*/ 0 w 218"/>
                  <a:gd name="T9" fmla="*/ 0 h 2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 h="219">
                    <a:moveTo>
                      <a:pt x="0" y="160"/>
                    </a:moveTo>
                    <a:lnTo>
                      <a:pt x="159" y="0"/>
                    </a:lnTo>
                    <a:lnTo>
                      <a:pt x="218" y="0"/>
                    </a:lnTo>
                    <a:lnTo>
                      <a:pt x="0" y="219"/>
                    </a:lnTo>
                    <a:lnTo>
                      <a:pt x="0" y="16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20" name="Freeform 4027"/>
              <p:cNvSpPr>
                <a:spLocks noChangeAspect="1"/>
              </p:cNvSpPr>
              <p:nvPr/>
            </p:nvSpPr>
            <p:spPr bwMode="auto">
              <a:xfrm>
                <a:off x="5208" y="1157"/>
                <a:ext cx="83" cy="82"/>
              </a:xfrm>
              <a:custGeom>
                <a:avLst/>
                <a:gdLst>
                  <a:gd name="T0" fmla="*/ 0 w 248"/>
                  <a:gd name="T1" fmla="*/ 0 h 248"/>
                  <a:gd name="T2" fmla="*/ 0 w 248"/>
                  <a:gd name="T3" fmla="*/ 0 h 248"/>
                  <a:gd name="T4" fmla="*/ 0 w 248"/>
                  <a:gd name="T5" fmla="*/ 0 h 248"/>
                  <a:gd name="T6" fmla="*/ 0 w 248"/>
                  <a:gd name="T7" fmla="*/ 0 h 248"/>
                  <a:gd name="T8" fmla="*/ 0 w 248"/>
                  <a:gd name="T9" fmla="*/ 0 h 2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8" h="248">
                    <a:moveTo>
                      <a:pt x="0" y="189"/>
                    </a:moveTo>
                    <a:lnTo>
                      <a:pt x="189" y="0"/>
                    </a:lnTo>
                    <a:lnTo>
                      <a:pt x="248" y="0"/>
                    </a:lnTo>
                    <a:lnTo>
                      <a:pt x="0" y="248"/>
                    </a:lnTo>
                    <a:lnTo>
                      <a:pt x="0" y="1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21" name="Freeform 4028"/>
              <p:cNvSpPr>
                <a:spLocks noChangeAspect="1"/>
              </p:cNvSpPr>
              <p:nvPr/>
            </p:nvSpPr>
            <p:spPr bwMode="auto">
              <a:xfrm>
                <a:off x="5208" y="1157"/>
                <a:ext cx="93" cy="92"/>
              </a:xfrm>
              <a:custGeom>
                <a:avLst/>
                <a:gdLst>
                  <a:gd name="T0" fmla="*/ 0 w 278"/>
                  <a:gd name="T1" fmla="*/ 0 h 278"/>
                  <a:gd name="T2" fmla="*/ 0 w 278"/>
                  <a:gd name="T3" fmla="*/ 0 h 278"/>
                  <a:gd name="T4" fmla="*/ 0 w 278"/>
                  <a:gd name="T5" fmla="*/ 0 h 278"/>
                  <a:gd name="T6" fmla="*/ 0 w 278"/>
                  <a:gd name="T7" fmla="*/ 0 h 278"/>
                  <a:gd name="T8" fmla="*/ 0 w 278"/>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8" h="278">
                    <a:moveTo>
                      <a:pt x="0" y="219"/>
                    </a:moveTo>
                    <a:lnTo>
                      <a:pt x="218" y="0"/>
                    </a:lnTo>
                    <a:lnTo>
                      <a:pt x="278" y="0"/>
                    </a:lnTo>
                    <a:lnTo>
                      <a:pt x="0" y="278"/>
                    </a:lnTo>
                    <a:lnTo>
                      <a:pt x="0" y="21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22" name="Freeform 4029"/>
              <p:cNvSpPr>
                <a:spLocks noChangeAspect="1"/>
              </p:cNvSpPr>
              <p:nvPr/>
            </p:nvSpPr>
            <p:spPr bwMode="auto">
              <a:xfrm>
                <a:off x="5208" y="1157"/>
                <a:ext cx="103" cy="102"/>
              </a:xfrm>
              <a:custGeom>
                <a:avLst/>
                <a:gdLst>
                  <a:gd name="T0" fmla="*/ 0 w 307"/>
                  <a:gd name="T1" fmla="*/ 0 h 307"/>
                  <a:gd name="T2" fmla="*/ 0 w 307"/>
                  <a:gd name="T3" fmla="*/ 0 h 307"/>
                  <a:gd name="T4" fmla="*/ 0 w 307"/>
                  <a:gd name="T5" fmla="*/ 0 h 307"/>
                  <a:gd name="T6" fmla="*/ 0 w 307"/>
                  <a:gd name="T7" fmla="*/ 0 h 307"/>
                  <a:gd name="T8" fmla="*/ 0 w 307"/>
                  <a:gd name="T9" fmla="*/ 0 h 3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7" h="307">
                    <a:moveTo>
                      <a:pt x="0" y="248"/>
                    </a:moveTo>
                    <a:lnTo>
                      <a:pt x="248" y="0"/>
                    </a:lnTo>
                    <a:lnTo>
                      <a:pt x="307" y="0"/>
                    </a:lnTo>
                    <a:lnTo>
                      <a:pt x="0" y="307"/>
                    </a:lnTo>
                    <a:lnTo>
                      <a:pt x="0" y="2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23" name="Freeform 4030"/>
              <p:cNvSpPr>
                <a:spLocks noChangeAspect="1"/>
              </p:cNvSpPr>
              <p:nvPr/>
            </p:nvSpPr>
            <p:spPr bwMode="auto">
              <a:xfrm>
                <a:off x="5208" y="1157"/>
                <a:ext cx="113" cy="105"/>
              </a:xfrm>
              <a:custGeom>
                <a:avLst/>
                <a:gdLst>
                  <a:gd name="T0" fmla="*/ 0 w 337"/>
                  <a:gd name="T1" fmla="*/ 0 h 315"/>
                  <a:gd name="T2" fmla="*/ 0 w 337"/>
                  <a:gd name="T3" fmla="*/ 0 h 315"/>
                  <a:gd name="T4" fmla="*/ 0 w 337"/>
                  <a:gd name="T5" fmla="*/ 0 h 315"/>
                  <a:gd name="T6" fmla="*/ 0 w 337"/>
                  <a:gd name="T7" fmla="*/ 0 h 315"/>
                  <a:gd name="T8" fmla="*/ 0 w 337"/>
                  <a:gd name="T9" fmla="*/ 0 h 315"/>
                  <a:gd name="T10" fmla="*/ 0 w 337"/>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7" h="315">
                    <a:moveTo>
                      <a:pt x="0" y="278"/>
                    </a:moveTo>
                    <a:lnTo>
                      <a:pt x="278" y="0"/>
                    </a:lnTo>
                    <a:lnTo>
                      <a:pt x="337" y="0"/>
                    </a:lnTo>
                    <a:lnTo>
                      <a:pt x="22" y="315"/>
                    </a:lnTo>
                    <a:lnTo>
                      <a:pt x="0" y="315"/>
                    </a:lnTo>
                    <a:lnTo>
                      <a:pt x="0" y="27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24" name="Freeform 4031"/>
              <p:cNvSpPr>
                <a:spLocks noChangeAspect="1"/>
              </p:cNvSpPr>
              <p:nvPr/>
            </p:nvSpPr>
            <p:spPr bwMode="auto">
              <a:xfrm>
                <a:off x="5208" y="1157"/>
                <a:ext cx="122" cy="105"/>
              </a:xfrm>
              <a:custGeom>
                <a:avLst/>
                <a:gdLst>
                  <a:gd name="T0" fmla="*/ 0 w 366"/>
                  <a:gd name="T1" fmla="*/ 0 h 315"/>
                  <a:gd name="T2" fmla="*/ 0 w 366"/>
                  <a:gd name="T3" fmla="*/ 0 h 315"/>
                  <a:gd name="T4" fmla="*/ 0 w 366"/>
                  <a:gd name="T5" fmla="*/ 0 h 315"/>
                  <a:gd name="T6" fmla="*/ 0 w 366"/>
                  <a:gd name="T7" fmla="*/ 0 h 315"/>
                  <a:gd name="T8" fmla="*/ 0 w 366"/>
                  <a:gd name="T9" fmla="*/ 0 h 315"/>
                  <a:gd name="T10" fmla="*/ 0 w 366"/>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66" h="315">
                    <a:moveTo>
                      <a:pt x="0" y="307"/>
                    </a:moveTo>
                    <a:lnTo>
                      <a:pt x="307" y="0"/>
                    </a:lnTo>
                    <a:lnTo>
                      <a:pt x="366" y="0"/>
                    </a:lnTo>
                    <a:lnTo>
                      <a:pt x="52" y="315"/>
                    </a:lnTo>
                    <a:lnTo>
                      <a:pt x="0" y="315"/>
                    </a:lnTo>
                    <a:lnTo>
                      <a:pt x="0" y="3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25" name="Freeform 4032"/>
              <p:cNvSpPr>
                <a:spLocks noChangeAspect="1"/>
              </p:cNvSpPr>
              <p:nvPr/>
            </p:nvSpPr>
            <p:spPr bwMode="auto">
              <a:xfrm>
                <a:off x="5216" y="1157"/>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26" name="Freeform 4033"/>
              <p:cNvSpPr>
                <a:spLocks noChangeAspect="1"/>
              </p:cNvSpPr>
              <p:nvPr/>
            </p:nvSpPr>
            <p:spPr bwMode="auto">
              <a:xfrm>
                <a:off x="5226"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27" name="Freeform 4034"/>
              <p:cNvSpPr>
                <a:spLocks noChangeAspect="1"/>
              </p:cNvSpPr>
              <p:nvPr/>
            </p:nvSpPr>
            <p:spPr bwMode="auto">
              <a:xfrm>
                <a:off x="5236"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28" name="Freeform 4035"/>
              <p:cNvSpPr>
                <a:spLocks noChangeAspect="1"/>
              </p:cNvSpPr>
              <p:nvPr/>
            </p:nvSpPr>
            <p:spPr bwMode="auto">
              <a:xfrm>
                <a:off x="5245"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29" name="Freeform 4036"/>
              <p:cNvSpPr>
                <a:spLocks noChangeAspect="1"/>
              </p:cNvSpPr>
              <p:nvPr/>
            </p:nvSpPr>
            <p:spPr bwMode="auto">
              <a:xfrm>
                <a:off x="5255"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30" name="Freeform 4037"/>
              <p:cNvSpPr>
                <a:spLocks noChangeAspect="1"/>
              </p:cNvSpPr>
              <p:nvPr/>
            </p:nvSpPr>
            <p:spPr bwMode="auto">
              <a:xfrm>
                <a:off x="5265"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w 374"/>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74" h="315">
                    <a:moveTo>
                      <a:pt x="0" y="315"/>
                    </a:moveTo>
                    <a:lnTo>
                      <a:pt x="315" y="0"/>
                    </a:lnTo>
                    <a:lnTo>
                      <a:pt x="374" y="0"/>
                    </a:lnTo>
                    <a:lnTo>
                      <a:pt x="60" y="315"/>
                    </a:lnTo>
                    <a:lnTo>
                      <a:pt x="47"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31" name="Freeform 4038"/>
              <p:cNvSpPr>
                <a:spLocks noChangeAspect="1"/>
              </p:cNvSpPr>
              <p:nvPr/>
            </p:nvSpPr>
            <p:spPr bwMode="auto">
              <a:xfrm>
                <a:off x="5275"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w 373"/>
                  <a:gd name="T11" fmla="*/ 0 h 315"/>
                  <a:gd name="T12" fmla="*/ 0 w 373"/>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73" h="315">
                    <a:moveTo>
                      <a:pt x="0" y="315"/>
                    </a:moveTo>
                    <a:lnTo>
                      <a:pt x="314" y="0"/>
                    </a:lnTo>
                    <a:lnTo>
                      <a:pt x="361" y="0"/>
                    </a:lnTo>
                    <a:lnTo>
                      <a:pt x="373" y="0"/>
                    </a:lnTo>
                    <a:lnTo>
                      <a:pt x="58" y="315"/>
                    </a:lnTo>
                    <a:lnTo>
                      <a:pt x="17"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32" name="Freeform 4039"/>
              <p:cNvSpPr>
                <a:spLocks noChangeAspect="1"/>
              </p:cNvSpPr>
              <p:nvPr/>
            </p:nvSpPr>
            <p:spPr bwMode="auto">
              <a:xfrm>
                <a:off x="5285"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w 373"/>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73" h="315">
                    <a:moveTo>
                      <a:pt x="0" y="315"/>
                    </a:moveTo>
                    <a:lnTo>
                      <a:pt x="314" y="0"/>
                    </a:lnTo>
                    <a:lnTo>
                      <a:pt x="331"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33" name="Freeform 4040"/>
              <p:cNvSpPr>
                <a:spLocks noChangeAspect="1"/>
              </p:cNvSpPr>
              <p:nvPr/>
            </p:nvSpPr>
            <p:spPr bwMode="auto">
              <a:xfrm>
                <a:off x="5294"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34" name="Freeform 4041"/>
              <p:cNvSpPr>
                <a:spLocks noChangeAspect="1"/>
              </p:cNvSpPr>
              <p:nvPr/>
            </p:nvSpPr>
            <p:spPr bwMode="auto">
              <a:xfrm>
                <a:off x="5304"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35" name="Freeform 4042"/>
              <p:cNvSpPr>
                <a:spLocks noChangeAspect="1"/>
              </p:cNvSpPr>
              <p:nvPr/>
            </p:nvSpPr>
            <p:spPr bwMode="auto">
              <a:xfrm>
                <a:off x="5314"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36" name="Freeform 4043"/>
              <p:cNvSpPr>
                <a:spLocks noChangeAspect="1"/>
              </p:cNvSpPr>
              <p:nvPr/>
            </p:nvSpPr>
            <p:spPr bwMode="auto">
              <a:xfrm>
                <a:off x="5324" y="1157"/>
                <a:ext cx="125"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37" name="Freeform 4044"/>
              <p:cNvSpPr>
                <a:spLocks noChangeAspect="1"/>
              </p:cNvSpPr>
              <p:nvPr/>
            </p:nvSpPr>
            <p:spPr bwMode="auto">
              <a:xfrm>
                <a:off x="5334" y="1157"/>
                <a:ext cx="125"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38" name="Freeform 4045"/>
              <p:cNvSpPr>
                <a:spLocks noChangeAspect="1"/>
              </p:cNvSpPr>
              <p:nvPr/>
            </p:nvSpPr>
            <p:spPr bwMode="auto">
              <a:xfrm>
                <a:off x="5344"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39" name="Freeform 4046"/>
              <p:cNvSpPr>
                <a:spLocks noChangeAspect="1"/>
              </p:cNvSpPr>
              <p:nvPr/>
            </p:nvSpPr>
            <p:spPr bwMode="auto">
              <a:xfrm>
                <a:off x="5354" y="1157"/>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40" name="Freeform 4047"/>
              <p:cNvSpPr>
                <a:spLocks noChangeAspect="1"/>
              </p:cNvSpPr>
              <p:nvPr/>
            </p:nvSpPr>
            <p:spPr bwMode="auto">
              <a:xfrm>
                <a:off x="5364"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5" y="0"/>
                    </a:lnTo>
                    <a:lnTo>
                      <a:pt x="373"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41" name="Freeform 4048"/>
              <p:cNvSpPr>
                <a:spLocks noChangeAspect="1"/>
              </p:cNvSpPr>
              <p:nvPr/>
            </p:nvSpPr>
            <p:spPr bwMode="auto">
              <a:xfrm>
                <a:off x="5374"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42" name="Freeform 4049"/>
              <p:cNvSpPr>
                <a:spLocks noChangeAspect="1"/>
              </p:cNvSpPr>
              <p:nvPr/>
            </p:nvSpPr>
            <p:spPr bwMode="auto">
              <a:xfrm>
                <a:off x="5384"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3"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43" name="Freeform 4050"/>
              <p:cNvSpPr>
                <a:spLocks noChangeAspect="1"/>
              </p:cNvSpPr>
              <p:nvPr/>
            </p:nvSpPr>
            <p:spPr bwMode="auto">
              <a:xfrm>
                <a:off x="5393"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44" name="Freeform 4051"/>
              <p:cNvSpPr>
                <a:spLocks noChangeAspect="1"/>
              </p:cNvSpPr>
              <p:nvPr/>
            </p:nvSpPr>
            <p:spPr bwMode="auto">
              <a:xfrm>
                <a:off x="5403"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45" name="Freeform 4052"/>
              <p:cNvSpPr>
                <a:spLocks noChangeAspect="1"/>
              </p:cNvSpPr>
              <p:nvPr/>
            </p:nvSpPr>
            <p:spPr bwMode="auto">
              <a:xfrm>
                <a:off x="5413"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5" y="0"/>
                    </a:lnTo>
                    <a:lnTo>
                      <a:pt x="373"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46" name="Freeform 4053"/>
              <p:cNvSpPr>
                <a:spLocks noChangeAspect="1"/>
              </p:cNvSpPr>
              <p:nvPr/>
            </p:nvSpPr>
            <p:spPr bwMode="auto">
              <a:xfrm>
                <a:off x="5423"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5"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47" name="Freeform 4054"/>
              <p:cNvSpPr>
                <a:spLocks noChangeAspect="1"/>
              </p:cNvSpPr>
              <p:nvPr/>
            </p:nvSpPr>
            <p:spPr bwMode="auto">
              <a:xfrm>
                <a:off x="5433" y="1157"/>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4"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48" name="Freeform 4055"/>
              <p:cNvSpPr>
                <a:spLocks noChangeAspect="1"/>
              </p:cNvSpPr>
              <p:nvPr/>
            </p:nvSpPr>
            <p:spPr bwMode="auto">
              <a:xfrm>
                <a:off x="5442"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49" name="Freeform 4056"/>
              <p:cNvSpPr>
                <a:spLocks noChangeAspect="1"/>
              </p:cNvSpPr>
              <p:nvPr/>
            </p:nvSpPr>
            <p:spPr bwMode="auto">
              <a:xfrm>
                <a:off x="5452"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50" name="Freeform 4057"/>
              <p:cNvSpPr>
                <a:spLocks noChangeAspect="1"/>
              </p:cNvSpPr>
              <p:nvPr/>
            </p:nvSpPr>
            <p:spPr bwMode="auto">
              <a:xfrm>
                <a:off x="5462" y="1157"/>
                <a:ext cx="122" cy="105"/>
              </a:xfrm>
              <a:custGeom>
                <a:avLst/>
                <a:gdLst>
                  <a:gd name="T0" fmla="*/ 0 w 366"/>
                  <a:gd name="T1" fmla="*/ 0 h 315"/>
                  <a:gd name="T2" fmla="*/ 0 w 366"/>
                  <a:gd name="T3" fmla="*/ 0 h 315"/>
                  <a:gd name="T4" fmla="*/ 0 w 366"/>
                  <a:gd name="T5" fmla="*/ 0 h 315"/>
                  <a:gd name="T6" fmla="*/ 0 w 366"/>
                  <a:gd name="T7" fmla="*/ 0 h 315"/>
                  <a:gd name="T8" fmla="*/ 0 w 366"/>
                  <a:gd name="T9" fmla="*/ 0 h 315"/>
                  <a:gd name="T10" fmla="*/ 0 w 366"/>
                  <a:gd name="T11" fmla="*/ 0 h 315"/>
                  <a:gd name="T12" fmla="*/ 0 w 366"/>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6" h="315">
                    <a:moveTo>
                      <a:pt x="0" y="315"/>
                    </a:moveTo>
                    <a:lnTo>
                      <a:pt x="315" y="0"/>
                    </a:lnTo>
                    <a:lnTo>
                      <a:pt x="366" y="0"/>
                    </a:lnTo>
                    <a:lnTo>
                      <a:pt x="366" y="9"/>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51" name="Freeform 4058"/>
              <p:cNvSpPr>
                <a:spLocks noChangeAspect="1"/>
              </p:cNvSpPr>
              <p:nvPr/>
            </p:nvSpPr>
            <p:spPr bwMode="auto">
              <a:xfrm>
                <a:off x="5472" y="1157"/>
                <a:ext cx="112" cy="105"/>
              </a:xfrm>
              <a:custGeom>
                <a:avLst/>
                <a:gdLst>
                  <a:gd name="T0" fmla="*/ 0 w 336"/>
                  <a:gd name="T1" fmla="*/ 0 h 315"/>
                  <a:gd name="T2" fmla="*/ 0 w 336"/>
                  <a:gd name="T3" fmla="*/ 0 h 315"/>
                  <a:gd name="T4" fmla="*/ 0 w 336"/>
                  <a:gd name="T5" fmla="*/ 0 h 315"/>
                  <a:gd name="T6" fmla="*/ 0 w 336"/>
                  <a:gd name="T7" fmla="*/ 0 h 315"/>
                  <a:gd name="T8" fmla="*/ 0 w 336"/>
                  <a:gd name="T9" fmla="*/ 0 h 315"/>
                  <a:gd name="T10" fmla="*/ 0 w 336"/>
                  <a:gd name="T11" fmla="*/ 0 h 315"/>
                  <a:gd name="T12" fmla="*/ 0 w 336"/>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15">
                    <a:moveTo>
                      <a:pt x="0" y="315"/>
                    </a:moveTo>
                    <a:lnTo>
                      <a:pt x="315" y="0"/>
                    </a:lnTo>
                    <a:lnTo>
                      <a:pt x="336" y="0"/>
                    </a:lnTo>
                    <a:lnTo>
                      <a:pt x="336" y="37"/>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52" name="Freeform 4059"/>
              <p:cNvSpPr>
                <a:spLocks noChangeAspect="1"/>
              </p:cNvSpPr>
              <p:nvPr/>
            </p:nvSpPr>
            <p:spPr bwMode="auto">
              <a:xfrm>
                <a:off x="5482" y="1160"/>
                <a:ext cx="102" cy="102"/>
              </a:xfrm>
              <a:custGeom>
                <a:avLst/>
                <a:gdLst>
                  <a:gd name="T0" fmla="*/ 0 w 307"/>
                  <a:gd name="T1" fmla="*/ 0 h 306"/>
                  <a:gd name="T2" fmla="*/ 0 w 307"/>
                  <a:gd name="T3" fmla="*/ 0 h 306"/>
                  <a:gd name="T4" fmla="*/ 0 w 307"/>
                  <a:gd name="T5" fmla="*/ 0 h 306"/>
                  <a:gd name="T6" fmla="*/ 0 w 307"/>
                  <a:gd name="T7" fmla="*/ 0 h 306"/>
                  <a:gd name="T8" fmla="*/ 0 w 307"/>
                  <a:gd name="T9" fmla="*/ 0 h 3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7" h="306">
                    <a:moveTo>
                      <a:pt x="0" y="306"/>
                    </a:moveTo>
                    <a:lnTo>
                      <a:pt x="307" y="0"/>
                    </a:lnTo>
                    <a:lnTo>
                      <a:pt x="307" y="58"/>
                    </a:lnTo>
                    <a:lnTo>
                      <a:pt x="59" y="306"/>
                    </a:lnTo>
                    <a:lnTo>
                      <a:pt x="0" y="30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53" name="Freeform 4060"/>
              <p:cNvSpPr>
                <a:spLocks noChangeAspect="1"/>
              </p:cNvSpPr>
              <p:nvPr/>
            </p:nvSpPr>
            <p:spPr bwMode="auto">
              <a:xfrm>
                <a:off x="5492" y="1169"/>
                <a:ext cx="92" cy="93"/>
              </a:xfrm>
              <a:custGeom>
                <a:avLst/>
                <a:gdLst>
                  <a:gd name="T0" fmla="*/ 0 w 277"/>
                  <a:gd name="T1" fmla="*/ 0 h 278"/>
                  <a:gd name="T2" fmla="*/ 0 w 277"/>
                  <a:gd name="T3" fmla="*/ 0 h 278"/>
                  <a:gd name="T4" fmla="*/ 0 w 277"/>
                  <a:gd name="T5" fmla="*/ 0 h 278"/>
                  <a:gd name="T6" fmla="*/ 0 w 277"/>
                  <a:gd name="T7" fmla="*/ 0 h 278"/>
                  <a:gd name="T8" fmla="*/ 0 w 277"/>
                  <a:gd name="T9" fmla="*/ 0 h 278"/>
                  <a:gd name="T10" fmla="*/ 0 w 277"/>
                  <a:gd name="T11" fmla="*/ 0 h 27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7" h="278">
                    <a:moveTo>
                      <a:pt x="0" y="278"/>
                    </a:moveTo>
                    <a:lnTo>
                      <a:pt x="277" y="0"/>
                    </a:lnTo>
                    <a:lnTo>
                      <a:pt x="277" y="60"/>
                    </a:lnTo>
                    <a:lnTo>
                      <a:pt x="59" y="278"/>
                    </a:lnTo>
                    <a:lnTo>
                      <a:pt x="37" y="278"/>
                    </a:lnTo>
                    <a:lnTo>
                      <a:pt x="0" y="27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54" name="Freeform 4061"/>
              <p:cNvSpPr>
                <a:spLocks noChangeAspect="1"/>
              </p:cNvSpPr>
              <p:nvPr/>
            </p:nvSpPr>
            <p:spPr bwMode="auto">
              <a:xfrm>
                <a:off x="5502" y="1179"/>
                <a:ext cx="82" cy="83"/>
              </a:xfrm>
              <a:custGeom>
                <a:avLst/>
                <a:gdLst>
                  <a:gd name="T0" fmla="*/ 0 w 248"/>
                  <a:gd name="T1" fmla="*/ 0 h 248"/>
                  <a:gd name="T2" fmla="*/ 0 w 248"/>
                  <a:gd name="T3" fmla="*/ 0 h 248"/>
                  <a:gd name="T4" fmla="*/ 0 w 248"/>
                  <a:gd name="T5" fmla="*/ 0 h 248"/>
                  <a:gd name="T6" fmla="*/ 0 w 248"/>
                  <a:gd name="T7" fmla="*/ 0 h 248"/>
                  <a:gd name="T8" fmla="*/ 0 w 248"/>
                  <a:gd name="T9" fmla="*/ 0 h 248"/>
                  <a:gd name="T10" fmla="*/ 0 w 248"/>
                  <a:gd name="T11" fmla="*/ 0 h 2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8" h="248">
                    <a:moveTo>
                      <a:pt x="0" y="248"/>
                    </a:moveTo>
                    <a:lnTo>
                      <a:pt x="248" y="0"/>
                    </a:lnTo>
                    <a:lnTo>
                      <a:pt x="248" y="60"/>
                    </a:lnTo>
                    <a:lnTo>
                      <a:pt x="59" y="248"/>
                    </a:lnTo>
                    <a:lnTo>
                      <a:pt x="8" y="248"/>
                    </a:lnTo>
                    <a:lnTo>
                      <a:pt x="0" y="2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55" name="Freeform 4062"/>
              <p:cNvSpPr>
                <a:spLocks noChangeAspect="1"/>
              </p:cNvSpPr>
              <p:nvPr/>
            </p:nvSpPr>
            <p:spPr bwMode="auto">
              <a:xfrm>
                <a:off x="5512" y="1189"/>
                <a:ext cx="72" cy="73"/>
              </a:xfrm>
              <a:custGeom>
                <a:avLst/>
                <a:gdLst>
                  <a:gd name="T0" fmla="*/ 0 w 218"/>
                  <a:gd name="T1" fmla="*/ 0 h 218"/>
                  <a:gd name="T2" fmla="*/ 0 w 218"/>
                  <a:gd name="T3" fmla="*/ 0 h 218"/>
                  <a:gd name="T4" fmla="*/ 0 w 218"/>
                  <a:gd name="T5" fmla="*/ 0 h 218"/>
                  <a:gd name="T6" fmla="*/ 0 w 218"/>
                  <a:gd name="T7" fmla="*/ 0 h 218"/>
                  <a:gd name="T8" fmla="*/ 0 w 218"/>
                  <a:gd name="T9" fmla="*/ 0 h 2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 h="218">
                    <a:moveTo>
                      <a:pt x="0" y="218"/>
                    </a:moveTo>
                    <a:lnTo>
                      <a:pt x="218" y="0"/>
                    </a:lnTo>
                    <a:lnTo>
                      <a:pt x="218" y="59"/>
                    </a:lnTo>
                    <a:lnTo>
                      <a:pt x="59" y="218"/>
                    </a:lnTo>
                    <a:lnTo>
                      <a:pt x="0" y="21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56" name="Freeform 4063"/>
              <p:cNvSpPr>
                <a:spLocks noChangeAspect="1"/>
              </p:cNvSpPr>
              <p:nvPr/>
            </p:nvSpPr>
            <p:spPr bwMode="auto">
              <a:xfrm>
                <a:off x="5521" y="1199"/>
                <a:ext cx="63" cy="63"/>
              </a:xfrm>
              <a:custGeom>
                <a:avLst/>
                <a:gdLst>
                  <a:gd name="T0" fmla="*/ 0 w 189"/>
                  <a:gd name="T1" fmla="*/ 0 h 188"/>
                  <a:gd name="T2" fmla="*/ 0 w 189"/>
                  <a:gd name="T3" fmla="*/ 0 h 188"/>
                  <a:gd name="T4" fmla="*/ 0 w 189"/>
                  <a:gd name="T5" fmla="*/ 0 h 188"/>
                  <a:gd name="T6" fmla="*/ 0 w 189"/>
                  <a:gd name="T7" fmla="*/ 0 h 188"/>
                  <a:gd name="T8" fmla="*/ 0 w 189"/>
                  <a:gd name="T9" fmla="*/ 0 h 1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 h="188">
                    <a:moveTo>
                      <a:pt x="0" y="188"/>
                    </a:moveTo>
                    <a:lnTo>
                      <a:pt x="189" y="0"/>
                    </a:lnTo>
                    <a:lnTo>
                      <a:pt x="189" y="58"/>
                    </a:lnTo>
                    <a:lnTo>
                      <a:pt x="60" y="188"/>
                    </a:lnTo>
                    <a:lnTo>
                      <a:pt x="0" y="18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57" name="Freeform 4064"/>
              <p:cNvSpPr>
                <a:spLocks noChangeAspect="1"/>
              </p:cNvSpPr>
              <p:nvPr/>
            </p:nvSpPr>
            <p:spPr bwMode="auto">
              <a:xfrm>
                <a:off x="5531" y="1209"/>
                <a:ext cx="53" cy="53"/>
              </a:xfrm>
              <a:custGeom>
                <a:avLst/>
                <a:gdLst>
                  <a:gd name="T0" fmla="*/ 0 w 159"/>
                  <a:gd name="T1" fmla="*/ 0 h 159"/>
                  <a:gd name="T2" fmla="*/ 0 w 159"/>
                  <a:gd name="T3" fmla="*/ 0 h 159"/>
                  <a:gd name="T4" fmla="*/ 0 w 159"/>
                  <a:gd name="T5" fmla="*/ 0 h 159"/>
                  <a:gd name="T6" fmla="*/ 0 w 159"/>
                  <a:gd name="T7" fmla="*/ 0 h 159"/>
                  <a:gd name="T8" fmla="*/ 0 w 159"/>
                  <a:gd name="T9" fmla="*/ 0 h 1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 h="159">
                    <a:moveTo>
                      <a:pt x="0" y="159"/>
                    </a:moveTo>
                    <a:lnTo>
                      <a:pt x="159" y="0"/>
                    </a:lnTo>
                    <a:lnTo>
                      <a:pt x="159" y="59"/>
                    </a:lnTo>
                    <a:lnTo>
                      <a:pt x="59" y="159"/>
                    </a:lnTo>
                    <a:lnTo>
                      <a:pt x="0" y="15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58" name="Freeform 4065"/>
              <p:cNvSpPr>
                <a:spLocks noChangeAspect="1"/>
              </p:cNvSpPr>
              <p:nvPr/>
            </p:nvSpPr>
            <p:spPr bwMode="auto">
              <a:xfrm>
                <a:off x="5541" y="1218"/>
                <a:ext cx="43" cy="44"/>
              </a:xfrm>
              <a:custGeom>
                <a:avLst/>
                <a:gdLst>
                  <a:gd name="T0" fmla="*/ 0 w 129"/>
                  <a:gd name="T1" fmla="*/ 0 h 130"/>
                  <a:gd name="T2" fmla="*/ 0 w 129"/>
                  <a:gd name="T3" fmla="*/ 0 h 130"/>
                  <a:gd name="T4" fmla="*/ 0 w 129"/>
                  <a:gd name="T5" fmla="*/ 0 h 130"/>
                  <a:gd name="T6" fmla="*/ 0 w 129"/>
                  <a:gd name="T7" fmla="*/ 0 h 130"/>
                  <a:gd name="T8" fmla="*/ 0 w 129"/>
                  <a:gd name="T9" fmla="*/ 0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9" h="130">
                    <a:moveTo>
                      <a:pt x="0" y="130"/>
                    </a:moveTo>
                    <a:lnTo>
                      <a:pt x="129" y="0"/>
                    </a:lnTo>
                    <a:lnTo>
                      <a:pt x="129" y="60"/>
                    </a:lnTo>
                    <a:lnTo>
                      <a:pt x="59" y="130"/>
                    </a:lnTo>
                    <a:lnTo>
                      <a:pt x="0" y="13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59" name="Freeform 4066"/>
              <p:cNvSpPr>
                <a:spLocks noChangeAspect="1"/>
              </p:cNvSpPr>
              <p:nvPr/>
            </p:nvSpPr>
            <p:spPr bwMode="auto">
              <a:xfrm>
                <a:off x="5551" y="1228"/>
                <a:ext cx="33" cy="34"/>
              </a:xfrm>
              <a:custGeom>
                <a:avLst/>
                <a:gdLst>
                  <a:gd name="T0" fmla="*/ 0 w 100"/>
                  <a:gd name="T1" fmla="*/ 0 h 100"/>
                  <a:gd name="T2" fmla="*/ 0 w 100"/>
                  <a:gd name="T3" fmla="*/ 0 h 100"/>
                  <a:gd name="T4" fmla="*/ 0 w 100"/>
                  <a:gd name="T5" fmla="*/ 0 h 100"/>
                  <a:gd name="T6" fmla="*/ 0 w 100"/>
                  <a:gd name="T7" fmla="*/ 0 h 100"/>
                  <a:gd name="T8" fmla="*/ 0 w 100"/>
                  <a:gd name="T9" fmla="*/ 0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 h="100">
                    <a:moveTo>
                      <a:pt x="0" y="100"/>
                    </a:moveTo>
                    <a:lnTo>
                      <a:pt x="100" y="0"/>
                    </a:lnTo>
                    <a:lnTo>
                      <a:pt x="100" y="59"/>
                    </a:lnTo>
                    <a:lnTo>
                      <a:pt x="59" y="100"/>
                    </a:lnTo>
                    <a:lnTo>
                      <a:pt x="0" y="1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60" name="Freeform 4067"/>
              <p:cNvSpPr>
                <a:spLocks noChangeAspect="1"/>
              </p:cNvSpPr>
              <p:nvPr/>
            </p:nvSpPr>
            <p:spPr bwMode="auto">
              <a:xfrm>
                <a:off x="5561" y="1238"/>
                <a:ext cx="23" cy="24"/>
              </a:xfrm>
              <a:custGeom>
                <a:avLst/>
                <a:gdLst>
                  <a:gd name="T0" fmla="*/ 0 w 70"/>
                  <a:gd name="T1" fmla="*/ 0 h 70"/>
                  <a:gd name="T2" fmla="*/ 0 w 70"/>
                  <a:gd name="T3" fmla="*/ 0 h 70"/>
                  <a:gd name="T4" fmla="*/ 0 w 70"/>
                  <a:gd name="T5" fmla="*/ 0 h 70"/>
                  <a:gd name="T6" fmla="*/ 0 w 70"/>
                  <a:gd name="T7" fmla="*/ 0 h 70"/>
                  <a:gd name="T8" fmla="*/ 0 w 70"/>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70">
                    <a:moveTo>
                      <a:pt x="0" y="70"/>
                    </a:moveTo>
                    <a:lnTo>
                      <a:pt x="70" y="0"/>
                    </a:lnTo>
                    <a:lnTo>
                      <a:pt x="70" y="59"/>
                    </a:lnTo>
                    <a:lnTo>
                      <a:pt x="59" y="70"/>
                    </a:lnTo>
                    <a:lnTo>
                      <a:pt x="0" y="7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61" name="Freeform 4068"/>
              <p:cNvSpPr>
                <a:spLocks noChangeAspect="1"/>
              </p:cNvSpPr>
              <p:nvPr/>
            </p:nvSpPr>
            <p:spPr bwMode="auto">
              <a:xfrm>
                <a:off x="5571" y="1248"/>
                <a:ext cx="13" cy="14"/>
              </a:xfrm>
              <a:custGeom>
                <a:avLst/>
                <a:gdLst>
                  <a:gd name="T0" fmla="*/ 0 w 41"/>
                  <a:gd name="T1" fmla="*/ 0 h 41"/>
                  <a:gd name="T2" fmla="*/ 0 w 41"/>
                  <a:gd name="T3" fmla="*/ 0 h 41"/>
                  <a:gd name="T4" fmla="*/ 0 w 41"/>
                  <a:gd name="T5" fmla="*/ 0 h 41"/>
                  <a:gd name="T6" fmla="*/ 0 w 41"/>
                  <a:gd name="T7" fmla="*/ 0 h 4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1" h="41">
                    <a:moveTo>
                      <a:pt x="0" y="41"/>
                    </a:moveTo>
                    <a:lnTo>
                      <a:pt x="41" y="0"/>
                    </a:lnTo>
                    <a:lnTo>
                      <a:pt x="41" y="41"/>
                    </a:lnTo>
                    <a:lnTo>
                      <a:pt x="0" y="4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62" name="Freeform 4069"/>
              <p:cNvSpPr>
                <a:spLocks noChangeAspect="1"/>
              </p:cNvSpPr>
              <p:nvPr/>
            </p:nvSpPr>
            <p:spPr bwMode="auto">
              <a:xfrm>
                <a:off x="5208" y="1157"/>
                <a:ext cx="376" cy="105"/>
              </a:xfrm>
              <a:custGeom>
                <a:avLst/>
                <a:gdLst>
                  <a:gd name="T0" fmla="*/ 0 w 1128"/>
                  <a:gd name="T1" fmla="*/ 0 h 315"/>
                  <a:gd name="T2" fmla="*/ 0 w 1128"/>
                  <a:gd name="T3" fmla="*/ 0 h 315"/>
                  <a:gd name="T4" fmla="*/ 0 w 1128"/>
                  <a:gd name="T5" fmla="*/ 0 h 315"/>
                  <a:gd name="T6" fmla="*/ 0 w 1128"/>
                  <a:gd name="T7" fmla="*/ 0 h 315"/>
                  <a:gd name="T8" fmla="*/ 0 w 1128"/>
                  <a:gd name="T9" fmla="*/ 0 h 315"/>
                  <a:gd name="T10" fmla="*/ 0 w 1128"/>
                  <a:gd name="T11" fmla="*/ 0 h 315"/>
                  <a:gd name="T12" fmla="*/ 0 w 1128"/>
                  <a:gd name="T13" fmla="*/ 0 h 315"/>
                  <a:gd name="T14" fmla="*/ 0 w 1128"/>
                  <a:gd name="T15" fmla="*/ 0 h 315"/>
                  <a:gd name="T16" fmla="*/ 0 w 1128"/>
                  <a:gd name="T17" fmla="*/ 0 h 3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28" h="315">
                    <a:moveTo>
                      <a:pt x="0" y="0"/>
                    </a:moveTo>
                    <a:lnTo>
                      <a:pt x="93" y="0"/>
                    </a:lnTo>
                    <a:lnTo>
                      <a:pt x="561" y="0"/>
                    </a:lnTo>
                    <a:lnTo>
                      <a:pt x="1128" y="0"/>
                    </a:lnTo>
                    <a:lnTo>
                      <a:pt x="1128" y="315"/>
                    </a:lnTo>
                    <a:lnTo>
                      <a:pt x="888" y="315"/>
                    </a:lnTo>
                    <a:lnTo>
                      <a:pt x="217" y="315"/>
                    </a:lnTo>
                    <a:lnTo>
                      <a:pt x="0" y="315"/>
                    </a:lnTo>
                    <a:lnTo>
                      <a:pt x="0" y="0"/>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grpSp>
        <p:grpSp>
          <p:nvGrpSpPr>
            <p:cNvPr id="386464" name="Group 4070"/>
            <p:cNvGrpSpPr>
              <a:grpSpLocks noChangeAspect="1"/>
            </p:cNvGrpSpPr>
            <p:nvPr/>
          </p:nvGrpSpPr>
          <p:grpSpPr bwMode="auto">
            <a:xfrm>
              <a:off x="2271" y="2231"/>
              <a:ext cx="194" cy="127"/>
              <a:chOff x="5208" y="1004"/>
              <a:chExt cx="376" cy="258"/>
            </a:xfrm>
          </p:grpSpPr>
          <p:sp>
            <p:nvSpPr>
              <p:cNvPr id="387353" name="Freeform 4071"/>
              <p:cNvSpPr>
                <a:spLocks noChangeAspect="1"/>
              </p:cNvSpPr>
              <p:nvPr/>
            </p:nvSpPr>
            <p:spPr bwMode="auto">
              <a:xfrm>
                <a:off x="5237" y="1117"/>
                <a:ext cx="5" cy="52"/>
              </a:xfrm>
              <a:custGeom>
                <a:avLst/>
                <a:gdLst>
                  <a:gd name="T0" fmla="*/ 0 w 16"/>
                  <a:gd name="T1" fmla="*/ 0 h 158"/>
                  <a:gd name="T2" fmla="*/ 0 w 16"/>
                  <a:gd name="T3" fmla="*/ 0 h 158"/>
                  <a:gd name="T4" fmla="*/ 0 w 16"/>
                  <a:gd name="T5" fmla="*/ 0 h 158"/>
                  <a:gd name="T6" fmla="*/ 0 w 16"/>
                  <a:gd name="T7" fmla="*/ 0 h 158"/>
                  <a:gd name="T8" fmla="*/ 0 w 16"/>
                  <a:gd name="T9" fmla="*/ 0 h 158"/>
                  <a:gd name="T10" fmla="*/ 0 w 16"/>
                  <a:gd name="T11" fmla="*/ 0 h 158"/>
                  <a:gd name="T12" fmla="*/ 0 w 16"/>
                  <a:gd name="T13" fmla="*/ 0 h 158"/>
                  <a:gd name="T14" fmla="*/ 0 w 16"/>
                  <a:gd name="T15" fmla="*/ 0 h 158"/>
                  <a:gd name="T16" fmla="*/ 0 w 16"/>
                  <a:gd name="T17" fmla="*/ 0 h 158"/>
                  <a:gd name="T18" fmla="*/ 0 w 16"/>
                  <a:gd name="T19" fmla="*/ 0 h 158"/>
                  <a:gd name="T20" fmla="*/ 0 w 16"/>
                  <a:gd name="T21" fmla="*/ 0 h 158"/>
                  <a:gd name="T22" fmla="*/ 0 w 16"/>
                  <a:gd name="T23" fmla="*/ 0 h 158"/>
                  <a:gd name="T24" fmla="*/ 0 w 16"/>
                  <a:gd name="T25" fmla="*/ 0 h 158"/>
                  <a:gd name="T26" fmla="*/ 0 w 16"/>
                  <a:gd name="T27" fmla="*/ 0 h 158"/>
                  <a:gd name="T28" fmla="*/ 0 w 16"/>
                  <a:gd name="T29" fmla="*/ 0 h 158"/>
                  <a:gd name="T30" fmla="*/ 0 w 16"/>
                  <a:gd name="T31" fmla="*/ 0 h 158"/>
                  <a:gd name="T32" fmla="*/ 0 w 16"/>
                  <a:gd name="T33" fmla="*/ 0 h 158"/>
                  <a:gd name="T34" fmla="*/ 0 w 16"/>
                  <a:gd name="T35" fmla="*/ 0 h 158"/>
                  <a:gd name="T36" fmla="*/ 0 w 16"/>
                  <a:gd name="T37" fmla="*/ 0 h 158"/>
                  <a:gd name="T38" fmla="*/ 0 w 16"/>
                  <a:gd name="T39" fmla="*/ 0 h 1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6" h="158">
                    <a:moveTo>
                      <a:pt x="0" y="123"/>
                    </a:moveTo>
                    <a:lnTo>
                      <a:pt x="0" y="120"/>
                    </a:lnTo>
                    <a:lnTo>
                      <a:pt x="0" y="105"/>
                    </a:lnTo>
                    <a:lnTo>
                      <a:pt x="1" y="89"/>
                    </a:lnTo>
                    <a:lnTo>
                      <a:pt x="2" y="74"/>
                    </a:lnTo>
                    <a:lnTo>
                      <a:pt x="3" y="60"/>
                    </a:lnTo>
                    <a:lnTo>
                      <a:pt x="6" y="44"/>
                    </a:lnTo>
                    <a:lnTo>
                      <a:pt x="8" y="29"/>
                    </a:lnTo>
                    <a:lnTo>
                      <a:pt x="12" y="15"/>
                    </a:lnTo>
                    <a:lnTo>
                      <a:pt x="16" y="0"/>
                    </a:lnTo>
                    <a:lnTo>
                      <a:pt x="16" y="158"/>
                    </a:lnTo>
                    <a:lnTo>
                      <a:pt x="1" y="158"/>
                    </a:lnTo>
                    <a:lnTo>
                      <a:pt x="1" y="154"/>
                    </a:lnTo>
                    <a:lnTo>
                      <a:pt x="0" y="150"/>
                    </a:lnTo>
                    <a:lnTo>
                      <a:pt x="0" y="146"/>
                    </a:lnTo>
                    <a:lnTo>
                      <a:pt x="0" y="141"/>
                    </a:lnTo>
                    <a:lnTo>
                      <a:pt x="0" y="137"/>
                    </a:lnTo>
                    <a:lnTo>
                      <a:pt x="0" y="133"/>
                    </a:lnTo>
                    <a:lnTo>
                      <a:pt x="0" y="128"/>
                    </a:lnTo>
                    <a:lnTo>
                      <a:pt x="0" y="12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54" name="Freeform 4072"/>
              <p:cNvSpPr>
                <a:spLocks noChangeAspect="1"/>
              </p:cNvSpPr>
              <p:nvPr/>
            </p:nvSpPr>
            <p:spPr bwMode="auto">
              <a:xfrm>
                <a:off x="5237" y="1100"/>
                <a:ext cx="10" cy="69"/>
              </a:xfrm>
              <a:custGeom>
                <a:avLst/>
                <a:gdLst>
                  <a:gd name="T0" fmla="*/ 0 w 32"/>
                  <a:gd name="T1" fmla="*/ 0 h 207"/>
                  <a:gd name="T2" fmla="*/ 0 w 32"/>
                  <a:gd name="T3" fmla="*/ 0 h 207"/>
                  <a:gd name="T4" fmla="*/ 0 w 32"/>
                  <a:gd name="T5" fmla="*/ 0 h 207"/>
                  <a:gd name="T6" fmla="*/ 0 w 32"/>
                  <a:gd name="T7" fmla="*/ 0 h 207"/>
                  <a:gd name="T8" fmla="*/ 0 w 32"/>
                  <a:gd name="T9" fmla="*/ 0 h 207"/>
                  <a:gd name="T10" fmla="*/ 0 w 32"/>
                  <a:gd name="T11" fmla="*/ 0 h 207"/>
                  <a:gd name="T12" fmla="*/ 0 w 32"/>
                  <a:gd name="T13" fmla="*/ 0 h 207"/>
                  <a:gd name="T14" fmla="*/ 0 w 32"/>
                  <a:gd name="T15" fmla="*/ 0 h 207"/>
                  <a:gd name="T16" fmla="*/ 0 w 32"/>
                  <a:gd name="T17" fmla="*/ 0 h 207"/>
                  <a:gd name="T18" fmla="*/ 0 w 32"/>
                  <a:gd name="T19" fmla="*/ 0 h 207"/>
                  <a:gd name="T20" fmla="*/ 0 w 32"/>
                  <a:gd name="T21" fmla="*/ 0 h 207"/>
                  <a:gd name="T22" fmla="*/ 0 w 32"/>
                  <a:gd name="T23" fmla="*/ 0 h 207"/>
                  <a:gd name="T24" fmla="*/ 0 w 32"/>
                  <a:gd name="T25" fmla="*/ 0 h 207"/>
                  <a:gd name="T26" fmla="*/ 0 w 32"/>
                  <a:gd name="T27" fmla="*/ 0 h 207"/>
                  <a:gd name="T28" fmla="*/ 0 w 32"/>
                  <a:gd name="T29" fmla="*/ 0 h 207"/>
                  <a:gd name="T30" fmla="*/ 0 w 32"/>
                  <a:gd name="T31" fmla="*/ 0 h 207"/>
                  <a:gd name="T32" fmla="*/ 0 w 32"/>
                  <a:gd name="T33" fmla="*/ 0 h 207"/>
                  <a:gd name="T34" fmla="*/ 0 w 32"/>
                  <a:gd name="T35" fmla="*/ 0 h 207"/>
                  <a:gd name="T36" fmla="*/ 0 w 32"/>
                  <a:gd name="T37" fmla="*/ 0 h 207"/>
                  <a:gd name="T38" fmla="*/ 0 w 32"/>
                  <a:gd name="T39" fmla="*/ 0 h 2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 h="207">
                    <a:moveTo>
                      <a:pt x="0" y="172"/>
                    </a:moveTo>
                    <a:lnTo>
                      <a:pt x="0" y="169"/>
                    </a:lnTo>
                    <a:lnTo>
                      <a:pt x="0" y="148"/>
                    </a:lnTo>
                    <a:lnTo>
                      <a:pt x="2" y="126"/>
                    </a:lnTo>
                    <a:lnTo>
                      <a:pt x="4" y="103"/>
                    </a:lnTo>
                    <a:lnTo>
                      <a:pt x="7" y="82"/>
                    </a:lnTo>
                    <a:lnTo>
                      <a:pt x="13" y="62"/>
                    </a:lnTo>
                    <a:lnTo>
                      <a:pt x="18" y="40"/>
                    </a:lnTo>
                    <a:lnTo>
                      <a:pt x="24" y="20"/>
                    </a:lnTo>
                    <a:lnTo>
                      <a:pt x="32" y="0"/>
                    </a:lnTo>
                    <a:lnTo>
                      <a:pt x="32" y="207"/>
                    </a:lnTo>
                    <a:lnTo>
                      <a:pt x="1" y="207"/>
                    </a:lnTo>
                    <a:lnTo>
                      <a:pt x="1" y="203"/>
                    </a:lnTo>
                    <a:lnTo>
                      <a:pt x="0" y="199"/>
                    </a:lnTo>
                    <a:lnTo>
                      <a:pt x="0" y="195"/>
                    </a:lnTo>
                    <a:lnTo>
                      <a:pt x="0" y="190"/>
                    </a:lnTo>
                    <a:lnTo>
                      <a:pt x="0" y="186"/>
                    </a:lnTo>
                    <a:lnTo>
                      <a:pt x="0" y="182"/>
                    </a:lnTo>
                    <a:lnTo>
                      <a:pt x="0" y="177"/>
                    </a:lnTo>
                    <a:lnTo>
                      <a:pt x="0" y="17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55" name="Freeform 4073"/>
              <p:cNvSpPr>
                <a:spLocks noChangeAspect="1"/>
              </p:cNvSpPr>
              <p:nvPr/>
            </p:nvSpPr>
            <p:spPr bwMode="auto">
              <a:xfrm>
                <a:off x="5242" y="1089"/>
                <a:ext cx="11" cy="80"/>
              </a:xfrm>
              <a:custGeom>
                <a:avLst/>
                <a:gdLst>
                  <a:gd name="T0" fmla="*/ 0 w 32"/>
                  <a:gd name="T1" fmla="*/ 0 h 242"/>
                  <a:gd name="T2" fmla="*/ 0 w 32"/>
                  <a:gd name="T3" fmla="*/ 0 h 242"/>
                  <a:gd name="T4" fmla="*/ 0 w 32"/>
                  <a:gd name="T5" fmla="*/ 0 h 242"/>
                  <a:gd name="T6" fmla="*/ 0 w 32"/>
                  <a:gd name="T7" fmla="*/ 0 h 242"/>
                  <a:gd name="T8" fmla="*/ 0 w 32"/>
                  <a:gd name="T9" fmla="*/ 0 h 242"/>
                  <a:gd name="T10" fmla="*/ 0 w 32"/>
                  <a:gd name="T11" fmla="*/ 0 h 242"/>
                  <a:gd name="T12" fmla="*/ 0 w 32"/>
                  <a:gd name="T13" fmla="*/ 0 h 242"/>
                  <a:gd name="T14" fmla="*/ 0 w 32"/>
                  <a:gd name="T15" fmla="*/ 0 h 242"/>
                  <a:gd name="T16" fmla="*/ 0 w 32"/>
                  <a:gd name="T17" fmla="*/ 0 h 242"/>
                  <a:gd name="T18" fmla="*/ 0 w 32"/>
                  <a:gd name="T19" fmla="*/ 0 h 242"/>
                  <a:gd name="T20" fmla="*/ 0 w 32"/>
                  <a:gd name="T21" fmla="*/ 0 h 242"/>
                  <a:gd name="T22" fmla="*/ 0 w 32"/>
                  <a:gd name="T23" fmla="*/ 0 h 2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42">
                    <a:moveTo>
                      <a:pt x="0" y="242"/>
                    </a:moveTo>
                    <a:lnTo>
                      <a:pt x="0" y="84"/>
                    </a:lnTo>
                    <a:lnTo>
                      <a:pt x="3" y="73"/>
                    </a:lnTo>
                    <a:lnTo>
                      <a:pt x="6" y="62"/>
                    </a:lnTo>
                    <a:lnTo>
                      <a:pt x="9" y="51"/>
                    </a:lnTo>
                    <a:lnTo>
                      <a:pt x="14" y="40"/>
                    </a:lnTo>
                    <a:lnTo>
                      <a:pt x="18" y="30"/>
                    </a:lnTo>
                    <a:lnTo>
                      <a:pt x="22" y="20"/>
                    </a:lnTo>
                    <a:lnTo>
                      <a:pt x="26" y="10"/>
                    </a:lnTo>
                    <a:lnTo>
                      <a:pt x="32" y="0"/>
                    </a:lnTo>
                    <a:lnTo>
                      <a:pt x="32" y="242"/>
                    </a:lnTo>
                    <a:lnTo>
                      <a:pt x="0" y="24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56" name="Freeform 4074"/>
              <p:cNvSpPr>
                <a:spLocks noChangeAspect="1"/>
              </p:cNvSpPr>
              <p:nvPr/>
            </p:nvSpPr>
            <p:spPr bwMode="auto">
              <a:xfrm>
                <a:off x="5247" y="1079"/>
                <a:ext cx="11" cy="90"/>
              </a:xfrm>
              <a:custGeom>
                <a:avLst/>
                <a:gdLst>
                  <a:gd name="T0" fmla="*/ 0 w 32"/>
                  <a:gd name="T1" fmla="*/ 0 h 272"/>
                  <a:gd name="T2" fmla="*/ 0 w 32"/>
                  <a:gd name="T3" fmla="*/ 0 h 272"/>
                  <a:gd name="T4" fmla="*/ 0 w 32"/>
                  <a:gd name="T5" fmla="*/ 0 h 272"/>
                  <a:gd name="T6" fmla="*/ 0 w 32"/>
                  <a:gd name="T7" fmla="*/ 0 h 272"/>
                  <a:gd name="T8" fmla="*/ 0 w 32"/>
                  <a:gd name="T9" fmla="*/ 0 h 272"/>
                  <a:gd name="T10" fmla="*/ 0 w 32"/>
                  <a:gd name="T11" fmla="*/ 0 h 272"/>
                  <a:gd name="T12" fmla="*/ 0 w 32"/>
                  <a:gd name="T13" fmla="*/ 0 h 272"/>
                  <a:gd name="T14" fmla="*/ 0 w 32"/>
                  <a:gd name="T15" fmla="*/ 0 h 272"/>
                  <a:gd name="T16" fmla="*/ 0 w 32"/>
                  <a:gd name="T17" fmla="*/ 0 h 272"/>
                  <a:gd name="T18" fmla="*/ 0 w 32"/>
                  <a:gd name="T19" fmla="*/ 0 h 272"/>
                  <a:gd name="T20" fmla="*/ 0 w 32"/>
                  <a:gd name="T21" fmla="*/ 0 h 272"/>
                  <a:gd name="T22" fmla="*/ 0 w 32"/>
                  <a:gd name="T23" fmla="*/ 0 h 2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72">
                    <a:moveTo>
                      <a:pt x="0" y="272"/>
                    </a:moveTo>
                    <a:lnTo>
                      <a:pt x="0" y="65"/>
                    </a:lnTo>
                    <a:lnTo>
                      <a:pt x="3" y="57"/>
                    </a:lnTo>
                    <a:lnTo>
                      <a:pt x="7" y="48"/>
                    </a:lnTo>
                    <a:lnTo>
                      <a:pt x="10" y="41"/>
                    </a:lnTo>
                    <a:lnTo>
                      <a:pt x="15" y="32"/>
                    </a:lnTo>
                    <a:lnTo>
                      <a:pt x="19" y="24"/>
                    </a:lnTo>
                    <a:lnTo>
                      <a:pt x="23" y="16"/>
                    </a:lnTo>
                    <a:lnTo>
                      <a:pt x="28" y="8"/>
                    </a:lnTo>
                    <a:lnTo>
                      <a:pt x="32" y="0"/>
                    </a:lnTo>
                    <a:lnTo>
                      <a:pt x="32" y="272"/>
                    </a:lnTo>
                    <a:lnTo>
                      <a:pt x="0" y="27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57" name="Freeform 4075"/>
              <p:cNvSpPr>
                <a:spLocks noChangeAspect="1"/>
              </p:cNvSpPr>
              <p:nvPr/>
            </p:nvSpPr>
            <p:spPr bwMode="auto">
              <a:xfrm>
                <a:off x="5253" y="1070"/>
                <a:ext cx="10" cy="99"/>
              </a:xfrm>
              <a:custGeom>
                <a:avLst/>
                <a:gdLst>
                  <a:gd name="T0" fmla="*/ 0 w 32"/>
                  <a:gd name="T1" fmla="*/ 0 h 297"/>
                  <a:gd name="T2" fmla="*/ 0 w 32"/>
                  <a:gd name="T3" fmla="*/ 0 h 297"/>
                  <a:gd name="T4" fmla="*/ 0 w 32"/>
                  <a:gd name="T5" fmla="*/ 0 h 297"/>
                  <a:gd name="T6" fmla="*/ 0 w 32"/>
                  <a:gd name="T7" fmla="*/ 0 h 297"/>
                  <a:gd name="T8" fmla="*/ 0 w 32"/>
                  <a:gd name="T9" fmla="*/ 0 h 297"/>
                  <a:gd name="T10" fmla="*/ 0 w 32"/>
                  <a:gd name="T11" fmla="*/ 0 h 297"/>
                  <a:gd name="T12" fmla="*/ 0 w 32"/>
                  <a:gd name="T13" fmla="*/ 0 h 297"/>
                  <a:gd name="T14" fmla="*/ 0 w 32"/>
                  <a:gd name="T15" fmla="*/ 0 h 297"/>
                  <a:gd name="T16" fmla="*/ 0 w 32"/>
                  <a:gd name="T17" fmla="*/ 0 h 297"/>
                  <a:gd name="T18" fmla="*/ 0 w 32"/>
                  <a:gd name="T19" fmla="*/ 0 h 297"/>
                  <a:gd name="T20" fmla="*/ 0 w 32"/>
                  <a:gd name="T21" fmla="*/ 0 h 297"/>
                  <a:gd name="T22" fmla="*/ 0 w 32"/>
                  <a:gd name="T23" fmla="*/ 0 h 2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97">
                    <a:moveTo>
                      <a:pt x="0" y="297"/>
                    </a:moveTo>
                    <a:lnTo>
                      <a:pt x="0" y="55"/>
                    </a:lnTo>
                    <a:lnTo>
                      <a:pt x="4" y="48"/>
                    </a:lnTo>
                    <a:lnTo>
                      <a:pt x="7" y="40"/>
                    </a:lnTo>
                    <a:lnTo>
                      <a:pt x="12" y="34"/>
                    </a:lnTo>
                    <a:lnTo>
                      <a:pt x="15" y="26"/>
                    </a:lnTo>
                    <a:lnTo>
                      <a:pt x="19" y="20"/>
                    </a:lnTo>
                    <a:lnTo>
                      <a:pt x="23" y="14"/>
                    </a:lnTo>
                    <a:lnTo>
                      <a:pt x="27" y="6"/>
                    </a:lnTo>
                    <a:lnTo>
                      <a:pt x="32" y="0"/>
                    </a:lnTo>
                    <a:lnTo>
                      <a:pt x="32" y="297"/>
                    </a:lnTo>
                    <a:lnTo>
                      <a:pt x="0" y="2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58" name="Freeform 4076"/>
              <p:cNvSpPr>
                <a:spLocks noChangeAspect="1"/>
              </p:cNvSpPr>
              <p:nvPr/>
            </p:nvSpPr>
            <p:spPr bwMode="auto">
              <a:xfrm>
                <a:off x="5258" y="1063"/>
                <a:ext cx="11" cy="106"/>
              </a:xfrm>
              <a:custGeom>
                <a:avLst/>
                <a:gdLst>
                  <a:gd name="T0" fmla="*/ 0 w 33"/>
                  <a:gd name="T1" fmla="*/ 0 h 320"/>
                  <a:gd name="T2" fmla="*/ 0 w 33"/>
                  <a:gd name="T3" fmla="*/ 0 h 320"/>
                  <a:gd name="T4" fmla="*/ 0 w 33"/>
                  <a:gd name="T5" fmla="*/ 0 h 320"/>
                  <a:gd name="T6" fmla="*/ 0 w 33"/>
                  <a:gd name="T7" fmla="*/ 0 h 320"/>
                  <a:gd name="T8" fmla="*/ 0 w 33"/>
                  <a:gd name="T9" fmla="*/ 0 h 320"/>
                  <a:gd name="T10" fmla="*/ 0 w 33"/>
                  <a:gd name="T11" fmla="*/ 0 h 320"/>
                  <a:gd name="T12" fmla="*/ 0 w 33"/>
                  <a:gd name="T13" fmla="*/ 0 h 320"/>
                  <a:gd name="T14" fmla="*/ 0 w 33"/>
                  <a:gd name="T15" fmla="*/ 0 h 320"/>
                  <a:gd name="T16" fmla="*/ 0 w 33"/>
                  <a:gd name="T17" fmla="*/ 0 h 320"/>
                  <a:gd name="T18" fmla="*/ 0 w 33"/>
                  <a:gd name="T19" fmla="*/ 0 h 320"/>
                  <a:gd name="T20" fmla="*/ 0 w 33"/>
                  <a:gd name="T21" fmla="*/ 0 h 320"/>
                  <a:gd name="T22" fmla="*/ 0 w 33"/>
                  <a:gd name="T23" fmla="*/ 0 h 3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20">
                    <a:moveTo>
                      <a:pt x="0" y="320"/>
                    </a:moveTo>
                    <a:lnTo>
                      <a:pt x="0" y="48"/>
                    </a:lnTo>
                    <a:lnTo>
                      <a:pt x="4" y="42"/>
                    </a:lnTo>
                    <a:lnTo>
                      <a:pt x="7" y="35"/>
                    </a:lnTo>
                    <a:lnTo>
                      <a:pt x="11" y="30"/>
                    </a:lnTo>
                    <a:lnTo>
                      <a:pt x="16" y="24"/>
                    </a:lnTo>
                    <a:lnTo>
                      <a:pt x="20" y="18"/>
                    </a:lnTo>
                    <a:lnTo>
                      <a:pt x="24" y="12"/>
                    </a:lnTo>
                    <a:lnTo>
                      <a:pt x="28" y="7"/>
                    </a:lnTo>
                    <a:lnTo>
                      <a:pt x="33" y="0"/>
                    </a:lnTo>
                    <a:lnTo>
                      <a:pt x="33" y="320"/>
                    </a:lnTo>
                    <a:lnTo>
                      <a:pt x="0" y="3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59" name="Freeform 4077"/>
              <p:cNvSpPr>
                <a:spLocks noChangeAspect="1"/>
              </p:cNvSpPr>
              <p:nvPr/>
            </p:nvSpPr>
            <p:spPr bwMode="auto">
              <a:xfrm>
                <a:off x="5263" y="1056"/>
                <a:ext cx="11" cy="113"/>
              </a:xfrm>
              <a:custGeom>
                <a:avLst/>
                <a:gdLst>
                  <a:gd name="T0" fmla="*/ 0 w 33"/>
                  <a:gd name="T1" fmla="*/ 0 h 339"/>
                  <a:gd name="T2" fmla="*/ 0 w 33"/>
                  <a:gd name="T3" fmla="*/ 0 h 339"/>
                  <a:gd name="T4" fmla="*/ 0 w 33"/>
                  <a:gd name="T5" fmla="*/ 0 h 339"/>
                  <a:gd name="T6" fmla="*/ 0 w 33"/>
                  <a:gd name="T7" fmla="*/ 0 h 339"/>
                  <a:gd name="T8" fmla="*/ 0 w 33"/>
                  <a:gd name="T9" fmla="*/ 0 h 339"/>
                  <a:gd name="T10" fmla="*/ 0 w 33"/>
                  <a:gd name="T11" fmla="*/ 0 h 339"/>
                  <a:gd name="T12" fmla="*/ 0 w 33"/>
                  <a:gd name="T13" fmla="*/ 0 h 339"/>
                  <a:gd name="T14" fmla="*/ 0 w 33"/>
                  <a:gd name="T15" fmla="*/ 0 h 339"/>
                  <a:gd name="T16" fmla="*/ 0 w 33"/>
                  <a:gd name="T17" fmla="*/ 0 h 339"/>
                  <a:gd name="T18" fmla="*/ 0 w 33"/>
                  <a:gd name="T19" fmla="*/ 0 h 339"/>
                  <a:gd name="T20" fmla="*/ 0 w 33"/>
                  <a:gd name="T21" fmla="*/ 0 h 339"/>
                  <a:gd name="T22" fmla="*/ 0 w 33"/>
                  <a:gd name="T23" fmla="*/ 0 h 3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39">
                    <a:moveTo>
                      <a:pt x="0" y="339"/>
                    </a:moveTo>
                    <a:lnTo>
                      <a:pt x="0" y="42"/>
                    </a:lnTo>
                    <a:lnTo>
                      <a:pt x="4" y="36"/>
                    </a:lnTo>
                    <a:lnTo>
                      <a:pt x="8" y="31"/>
                    </a:lnTo>
                    <a:lnTo>
                      <a:pt x="11" y="26"/>
                    </a:lnTo>
                    <a:lnTo>
                      <a:pt x="16" y="20"/>
                    </a:lnTo>
                    <a:lnTo>
                      <a:pt x="20" y="15"/>
                    </a:lnTo>
                    <a:lnTo>
                      <a:pt x="24" y="10"/>
                    </a:lnTo>
                    <a:lnTo>
                      <a:pt x="28" y="6"/>
                    </a:lnTo>
                    <a:lnTo>
                      <a:pt x="33" y="0"/>
                    </a:lnTo>
                    <a:lnTo>
                      <a:pt x="33" y="339"/>
                    </a:lnTo>
                    <a:lnTo>
                      <a:pt x="0" y="33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60" name="Freeform 4078"/>
              <p:cNvSpPr>
                <a:spLocks noChangeAspect="1"/>
              </p:cNvSpPr>
              <p:nvPr/>
            </p:nvSpPr>
            <p:spPr bwMode="auto">
              <a:xfrm>
                <a:off x="5269" y="1050"/>
                <a:ext cx="11" cy="119"/>
              </a:xfrm>
              <a:custGeom>
                <a:avLst/>
                <a:gdLst>
                  <a:gd name="T0" fmla="*/ 0 w 32"/>
                  <a:gd name="T1" fmla="*/ 0 h 357"/>
                  <a:gd name="T2" fmla="*/ 0 w 32"/>
                  <a:gd name="T3" fmla="*/ 0 h 357"/>
                  <a:gd name="T4" fmla="*/ 0 w 32"/>
                  <a:gd name="T5" fmla="*/ 0 h 357"/>
                  <a:gd name="T6" fmla="*/ 0 w 32"/>
                  <a:gd name="T7" fmla="*/ 0 h 357"/>
                  <a:gd name="T8" fmla="*/ 0 w 32"/>
                  <a:gd name="T9" fmla="*/ 0 h 357"/>
                  <a:gd name="T10" fmla="*/ 0 w 32"/>
                  <a:gd name="T11" fmla="*/ 0 h 357"/>
                  <a:gd name="T12" fmla="*/ 0 w 32"/>
                  <a:gd name="T13" fmla="*/ 0 h 357"/>
                  <a:gd name="T14" fmla="*/ 0 w 32"/>
                  <a:gd name="T15" fmla="*/ 0 h 357"/>
                  <a:gd name="T16" fmla="*/ 0 w 32"/>
                  <a:gd name="T17" fmla="*/ 0 h 357"/>
                  <a:gd name="T18" fmla="*/ 0 w 32"/>
                  <a:gd name="T19" fmla="*/ 0 h 357"/>
                  <a:gd name="T20" fmla="*/ 0 w 32"/>
                  <a:gd name="T21" fmla="*/ 0 h 357"/>
                  <a:gd name="T22" fmla="*/ 0 w 32"/>
                  <a:gd name="T23" fmla="*/ 0 h 3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57">
                    <a:moveTo>
                      <a:pt x="0" y="357"/>
                    </a:moveTo>
                    <a:lnTo>
                      <a:pt x="0" y="37"/>
                    </a:lnTo>
                    <a:lnTo>
                      <a:pt x="3" y="33"/>
                    </a:lnTo>
                    <a:lnTo>
                      <a:pt x="7" y="28"/>
                    </a:lnTo>
                    <a:lnTo>
                      <a:pt x="11" y="24"/>
                    </a:lnTo>
                    <a:lnTo>
                      <a:pt x="15" y="18"/>
                    </a:lnTo>
                    <a:lnTo>
                      <a:pt x="19" y="14"/>
                    </a:lnTo>
                    <a:lnTo>
                      <a:pt x="23" y="10"/>
                    </a:lnTo>
                    <a:lnTo>
                      <a:pt x="27" y="6"/>
                    </a:lnTo>
                    <a:lnTo>
                      <a:pt x="32" y="0"/>
                    </a:lnTo>
                    <a:lnTo>
                      <a:pt x="32" y="357"/>
                    </a:lnTo>
                    <a:lnTo>
                      <a:pt x="0" y="35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61" name="Freeform 4079"/>
              <p:cNvSpPr>
                <a:spLocks noChangeAspect="1"/>
              </p:cNvSpPr>
              <p:nvPr/>
            </p:nvSpPr>
            <p:spPr bwMode="auto">
              <a:xfrm>
                <a:off x="5274" y="1045"/>
                <a:ext cx="11" cy="124"/>
              </a:xfrm>
              <a:custGeom>
                <a:avLst/>
                <a:gdLst>
                  <a:gd name="T0" fmla="*/ 0 w 32"/>
                  <a:gd name="T1" fmla="*/ 0 h 373"/>
                  <a:gd name="T2" fmla="*/ 0 w 32"/>
                  <a:gd name="T3" fmla="*/ 0 h 373"/>
                  <a:gd name="T4" fmla="*/ 0 w 32"/>
                  <a:gd name="T5" fmla="*/ 0 h 373"/>
                  <a:gd name="T6" fmla="*/ 0 w 32"/>
                  <a:gd name="T7" fmla="*/ 0 h 373"/>
                  <a:gd name="T8" fmla="*/ 0 w 32"/>
                  <a:gd name="T9" fmla="*/ 0 h 373"/>
                  <a:gd name="T10" fmla="*/ 0 w 32"/>
                  <a:gd name="T11" fmla="*/ 0 h 373"/>
                  <a:gd name="T12" fmla="*/ 0 w 32"/>
                  <a:gd name="T13" fmla="*/ 0 h 373"/>
                  <a:gd name="T14" fmla="*/ 0 w 32"/>
                  <a:gd name="T15" fmla="*/ 0 h 373"/>
                  <a:gd name="T16" fmla="*/ 0 w 32"/>
                  <a:gd name="T17" fmla="*/ 0 h 373"/>
                  <a:gd name="T18" fmla="*/ 0 w 32"/>
                  <a:gd name="T19" fmla="*/ 0 h 373"/>
                  <a:gd name="T20" fmla="*/ 0 w 32"/>
                  <a:gd name="T21" fmla="*/ 0 h 373"/>
                  <a:gd name="T22" fmla="*/ 0 w 32"/>
                  <a:gd name="T23" fmla="*/ 0 h 3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73">
                    <a:moveTo>
                      <a:pt x="0" y="373"/>
                    </a:moveTo>
                    <a:lnTo>
                      <a:pt x="0" y="34"/>
                    </a:lnTo>
                    <a:lnTo>
                      <a:pt x="3" y="30"/>
                    </a:lnTo>
                    <a:lnTo>
                      <a:pt x="7" y="26"/>
                    </a:lnTo>
                    <a:lnTo>
                      <a:pt x="11" y="22"/>
                    </a:lnTo>
                    <a:lnTo>
                      <a:pt x="16" y="17"/>
                    </a:lnTo>
                    <a:lnTo>
                      <a:pt x="19" y="13"/>
                    </a:lnTo>
                    <a:lnTo>
                      <a:pt x="23" y="9"/>
                    </a:lnTo>
                    <a:lnTo>
                      <a:pt x="27" y="4"/>
                    </a:lnTo>
                    <a:lnTo>
                      <a:pt x="32" y="0"/>
                    </a:lnTo>
                    <a:lnTo>
                      <a:pt x="32" y="373"/>
                    </a:lnTo>
                    <a:lnTo>
                      <a:pt x="0" y="37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62" name="Freeform 4080"/>
              <p:cNvSpPr>
                <a:spLocks noChangeAspect="1"/>
              </p:cNvSpPr>
              <p:nvPr/>
            </p:nvSpPr>
            <p:spPr bwMode="auto">
              <a:xfrm>
                <a:off x="5280" y="1040"/>
                <a:ext cx="10" cy="129"/>
              </a:xfrm>
              <a:custGeom>
                <a:avLst/>
                <a:gdLst>
                  <a:gd name="T0" fmla="*/ 0 w 32"/>
                  <a:gd name="T1" fmla="*/ 0 h 387"/>
                  <a:gd name="T2" fmla="*/ 0 w 32"/>
                  <a:gd name="T3" fmla="*/ 0 h 387"/>
                  <a:gd name="T4" fmla="*/ 0 w 32"/>
                  <a:gd name="T5" fmla="*/ 0 h 387"/>
                  <a:gd name="T6" fmla="*/ 0 w 32"/>
                  <a:gd name="T7" fmla="*/ 0 h 387"/>
                  <a:gd name="T8" fmla="*/ 0 w 32"/>
                  <a:gd name="T9" fmla="*/ 0 h 387"/>
                  <a:gd name="T10" fmla="*/ 0 w 32"/>
                  <a:gd name="T11" fmla="*/ 0 h 387"/>
                  <a:gd name="T12" fmla="*/ 0 w 32"/>
                  <a:gd name="T13" fmla="*/ 0 h 387"/>
                  <a:gd name="T14" fmla="*/ 0 w 32"/>
                  <a:gd name="T15" fmla="*/ 0 h 387"/>
                  <a:gd name="T16" fmla="*/ 0 w 32"/>
                  <a:gd name="T17" fmla="*/ 0 h 387"/>
                  <a:gd name="T18" fmla="*/ 0 w 32"/>
                  <a:gd name="T19" fmla="*/ 0 h 387"/>
                  <a:gd name="T20" fmla="*/ 0 w 32"/>
                  <a:gd name="T21" fmla="*/ 0 h 387"/>
                  <a:gd name="T22" fmla="*/ 0 w 32"/>
                  <a:gd name="T23" fmla="*/ 0 h 38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87">
                    <a:moveTo>
                      <a:pt x="0" y="387"/>
                    </a:moveTo>
                    <a:lnTo>
                      <a:pt x="0" y="30"/>
                    </a:lnTo>
                    <a:lnTo>
                      <a:pt x="4" y="27"/>
                    </a:lnTo>
                    <a:lnTo>
                      <a:pt x="7" y="23"/>
                    </a:lnTo>
                    <a:lnTo>
                      <a:pt x="11" y="18"/>
                    </a:lnTo>
                    <a:lnTo>
                      <a:pt x="16" y="15"/>
                    </a:lnTo>
                    <a:lnTo>
                      <a:pt x="20" y="11"/>
                    </a:lnTo>
                    <a:lnTo>
                      <a:pt x="24" y="8"/>
                    </a:lnTo>
                    <a:lnTo>
                      <a:pt x="27" y="4"/>
                    </a:lnTo>
                    <a:lnTo>
                      <a:pt x="32" y="0"/>
                    </a:lnTo>
                    <a:lnTo>
                      <a:pt x="32" y="387"/>
                    </a:lnTo>
                    <a:lnTo>
                      <a:pt x="0" y="38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63" name="Freeform 4081"/>
              <p:cNvSpPr>
                <a:spLocks noChangeAspect="1"/>
              </p:cNvSpPr>
              <p:nvPr/>
            </p:nvSpPr>
            <p:spPr bwMode="auto">
              <a:xfrm>
                <a:off x="5285" y="1036"/>
                <a:ext cx="11" cy="133"/>
              </a:xfrm>
              <a:custGeom>
                <a:avLst/>
                <a:gdLst>
                  <a:gd name="T0" fmla="*/ 0 w 33"/>
                  <a:gd name="T1" fmla="*/ 0 h 400"/>
                  <a:gd name="T2" fmla="*/ 0 w 33"/>
                  <a:gd name="T3" fmla="*/ 0 h 400"/>
                  <a:gd name="T4" fmla="*/ 0 w 33"/>
                  <a:gd name="T5" fmla="*/ 0 h 400"/>
                  <a:gd name="T6" fmla="*/ 0 w 33"/>
                  <a:gd name="T7" fmla="*/ 0 h 400"/>
                  <a:gd name="T8" fmla="*/ 0 w 33"/>
                  <a:gd name="T9" fmla="*/ 0 h 400"/>
                  <a:gd name="T10" fmla="*/ 0 w 33"/>
                  <a:gd name="T11" fmla="*/ 0 h 400"/>
                  <a:gd name="T12" fmla="*/ 0 w 33"/>
                  <a:gd name="T13" fmla="*/ 0 h 400"/>
                  <a:gd name="T14" fmla="*/ 0 w 33"/>
                  <a:gd name="T15" fmla="*/ 0 h 400"/>
                  <a:gd name="T16" fmla="*/ 0 w 33"/>
                  <a:gd name="T17" fmla="*/ 0 h 400"/>
                  <a:gd name="T18" fmla="*/ 0 w 33"/>
                  <a:gd name="T19" fmla="*/ 0 h 400"/>
                  <a:gd name="T20" fmla="*/ 0 w 33"/>
                  <a:gd name="T21" fmla="*/ 0 h 400"/>
                  <a:gd name="T22" fmla="*/ 0 w 33"/>
                  <a:gd name="T23" fmla="*/ 0 h 4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00">
                    <a:moveTo>
                      <a:pt x="0" y="400"/>
                    </a:moveTo>
                    <a:lnTo>
                      <a:pt x="0" y="27"/>
                    </a:lnTo>
                    <a:lnTo>
                      <a:pt x="4" y="24"/>
                    </a:lnTo>
                    <a:lnTo>
                      <a:pt x="8" y="21"/>
                    </a:lnTo>
                    <a:lnTo>
                      <a:pt x="11" y="17"/>
                    </a:lnTo>
                    <a:lnTo>
                      <a:pt x="16" y="13"/>
                    </a:lnTo>
                    <a:lnTo>
                      <a:pt x="20" y="10"/>
                    </a:lnTo>
                    <a:lnTo>
                      <a:pt x="24" y="7"/>
                    </a:lnTo>
                    <a:lnTo>
                      <a:pt x="28" y="3"/>
                    </a:lnTo>
                    <a:lnTo>
                      <a:pt x="33" y="0"/>
                    </a:lnTo>
                    <a:lnTo>
                      <a:pt x="33" y="400"/>
                    </a:lnTo>
                    <a:lnTo>
                      <a:pt x="0" y="4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64" name="Freeform 4082"/>
              <p:cNvSpPr>
                <a:spLocks noChangeAspect="1"/>
              </p:cNvSpPr>
              <p:nvPr/>
            </p:nvSpPr>
            <p:spPr bwMode="auto">
              <a:xfrm>
                <a:off x="5290" y="1032"/>
                <a:ext cx="11" cy="137"/>
              </a:xfrm>
              <a:custGeom>
                <a:avLst/>
                <a:gdLst>
                  <a:gd name="T0" fmla="*/ 0 w 33"/>
                  <a:gd name="T1" fmla="*/ 0 h 412"/>
                  <a:gd name="T2" fmla="*/ 0 w 33"/>
                  <a:gd name="T3" fmla="*/ 0 h 412"/>
                  <a:gd name="T4" fmla="*/ 0 w 33"/>
                  <a:gd name="T5" fmla="*/ 0 h 412"/>
                  <a:gd name="T6" fmla="*/ 0 w 33"/>
                  <a:gd name="T7" fmla="*/ 0 h 412"/>
                  <a:gd name="T8" fmla="*/ 0 w 33"/>
                  <a:gd name="T9" fmla="*/ 0 h 412"/>
                  <a:gd name="T10" fmla="*/ 0 w 33"/>
                  <a:gd name="T11" fmla="*/ 0 h 412"/>
                  <a:gd name="T12" fmla="*/ 0 w 33"/>
                  <a:gd name="T13" fmla="*/ 0 h 412"/>
                  <a:gd name="T14" fmla="*/ 0 w 33"/>
                  <a:gd name="T15" fmla="*/ 0 h 412"/>
                  <a:gd name="T16" fmla="*/ 0 w 33"/>
                  <a:gd name="T17" fmla="*/ 0 h 412"/>
                  <a:gd name="T18" fmla="*/ 0 w 33"/>
                  <a:gd name="T19" fmla="*/ 0 h 412"/>
                  <a:gd name="T20" fmla="*/ 0 w 33"/>
                  <a:gd name="T21" fmla="*/ 0 h 412"/>
                  <a:gd name="T22" fmla="*/ 0 w 33"/>
                  <a:gd name="T23" fmla="*/ 0 h 4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12">
                    <a:moveTo>
                      <a:pt x="0" y="412"/>
                    </a:moveTo>
                    <a:lnTo>
                      <a:pt x="0" y="25"/>
                    </a:lnTo>
                    <a:lnTo>
                      <a:pt x="4" y="22"/>
                    </a:lnTo>
                    <a:lnTo>
                      <a:pt x="8" y="19"/>
                    </a:lnTo>
                    <a:lnTo>
                      <a:pt x="12" y="16"/>
                    </a:lnTo>
                    <a:lnTo>
                      <a:pt x="16" y="13"/>
                    </a:lnTo>
                    <a:lnTo>
                      <a:pt x="20" y="9"/>
                    </a:lnTo>
                    <a:lnTo>
                      <a:pt x="24" y="6"/>
                    </a:lnTo>
                    <a:lnTo>
                      <a:pt x="28" y="3"/>
                    </a:lnTo>
                    <a:lnTo>
                      <a:pt x="33" y="0"/>
                    </a:lnTo>
                    <a:lnTo>
                      <a:pt x="33" y="412"/>
                    </a:lnTo>
                    <a:lnTo>
                      <a:pt x="0" y="41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65" name="Freeform 4083"/>
              <p:cNvSpPr>
                <a:spLocks noChangeAspect="1"/>
              </p:cNvSpPr>
              <p:nvPr/>
            </p:nvSpPr>
            <p:spPr bwMode="auto">
              <a:xfrm>
                <a:off x="5296" y="1028"/>
                <a:ext cx="11" cy="141"/>
              </a:xfrm>
              <a:custGeom>
                <a:avLst/>
                <a:gdLst>
                  <a:gd name="T0" fmla="*/ 0 w 32"/>
                  <a:gd name="T1" fmla="*/ 0 h 423"/>
                  <a:gd name="T2" fmla="*/ 0 w 32"/>
                  <a:gd name="T3" fmla="*/ 0 h 423"/>
                  <a:gd name="T4" fmla="*/ 0 w 32"/>
                  <a:gd name="T5" fmla="*/ 0 h 423"/>
                  <a:gd name="T6" fmla="*/ 0 w 32"/>
                  <a:gd name="T7" fmla="*/ 0 h 423"/>
                  <a:gd name="T8" fmla="*/ 0 w 32"/>
                  <a:gd name="T9" fmla="*/ 0 h 423"/>
                  <a:gd name="T10" fmla="*/ 0 w 32"/>
                  <a:gd name="T11" fmla="*/ 0 h 423"/>
                  <a:gd name="T12" fmla="*/ 0 w 32"/>
                  <a:gd name="T13" fmla="*/ 0 h 423"/>
                  <a:gd name="T14" fmla="*/ 0 w 32"/>
                  <a:gd name="T15" fmla="*/ 0 h 423"/>
                  <a:gd name="T16" fmla="*/ 0 w 32"/>
                  <a:gd name="T17" fmla="*/ 0 h 423"/>
                  <a:gd name="T18" fmla="*/ 0 w 32"/>
                  <a:gd name="T19" fmla="*/ 0 h 423"/>
                  <a:gd name="T20" fmla="*/ 0 w 32"/>
                  <a:gd name="T21" fmla="*/ 0 h 423"/>
                  <a:gd name="T22" fmla="*/ 0 w 32"/>
                  <a:gd name="T23" fmla="*/ 0 h 42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23">
                    <a:moveTo>
                      <a:pt x="0" y="423"/>
                    </a:moveTo>
                    <a:lnTo>
                      <a:pt x="0" y="23"/>
                    </a:lnTo>
                    <a:lnTo>
                      <a:pt x="3" y="19"/>
                    </a:lnTo>
                    <a:lnTo>
                      <a:pt x="7" y="17"/>
                    </a:lnTo>
                    <a:lnTo>
                      <a:pt x="11" y="14"/>
                    </a:lnTo>
                    <a:lnTo>
                      <a:pt x="16" y="11"/>
                    </a:lnTo>
                    <a:lnTo>
                      <a:pt x="19" y="8"/>
                    </a:lnTo>
                    <a:lnTo>
                      <a:pt x="23" y="6"/>
                    </a:lnTo>
                    <a:lnTo>
                      <a:pt x="27" y="2"/>
                    </a:lnTo>
                    <a:lnTo>
                      <a:pt x="32" y="0"/>
                    </a:lnTo>
                    <a:lnTo>
                      <a:pt x="32" y="423"/>
                    </a:lnTo>
                    <a:lnTo>
                      <a:pt x="0" y="42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66" name="Freeform 4084"/>
              <p:cNvSpPr>
                <a:spLocks noChangeAspect="1"/>
              </p:cNvSpPr>
              <p:nvPr/>
            </p:nvSpPr>
            <p:spPr bwMode="auto">
              <a:xfrm>
                <a:off x="5301" y="1025"/>
                <a:ext cx="11" cy="144"/>
              </a:xfrm>
              <a:custGeom>
                <a:avLst/>
                <a:gdLst>
                  <a:gd name="T0" fmla="*/ 0 w 32"/>
                  <a:gd name="T1" fmla="*/ 0 h 433"/>
                  <a:gd name="T2" fmla="*/ 0 w 32"/>
                  <a:gd name="T3" fmla="*/ 0 h 433"/>
                  <a:gd name="T4" fmla="*/ 0 w 32"/>
                  <a:gd name="T5" fmla="*/ 0 h 433"/>
                  <a:gd name="T6" fmla="*/ 0 w 32"/>
                  <a:gd name="T7" fmla="*/ 0 h 433"/>
                  <a:gd name="T8" fmla="*/ 0 w 32"/>
                  <a:gd name="T9" fmla="*/ 0 h 433"/>
                  <a:gd name="T10" fmla="*/ 0 w 32"/>
                  <a:gd name="T11" fmla="*/ 0 h 433"/>
                  <a:gd name="T12" fmla="*/ 0 w 32"/>
                  <a:gd name="T13" fmla="*/ 0 h 433"/>
                  <a:gd name="T14" fmla="*/ 0 w 32"/>
                  <a:gd name="T15" fmla="*/ 0 h 433"/>
                  <a:gd name="T16" fmla="*/ 0 w 32"/>
                  <a:gd name="T17" fmla="*/ 0 h 433"/>
                  <a:gd name="T18" fmla="*/ 0 w 32"/>
                  <a:gd name="T19" fmla="*/ 0 h 433"/>
                  <a:gd name="T20" fmla="*/ 0 w 32"/>
                  <a:gd name="T21" fmla="*/ 0 h 433"/>
                  <a:gd name="T22" fmla="*/ 0 w 32"/>
                  <a:gd name="T23" fmla="*/ 0 h 4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33">
                    <a:moveTo>
                      <a:pt x="0" y="433"/>
                    </a:moveTo>
                    <a:lnTo>
                      <a:pt x="0" y="21"/>
                    </a:lnTo>
                    <a:lnTo>
                      <a:pt x="3" y="18"/>
                    </a:lnTo>
                    <a:lnTo>
                      <a:pt x="7" y="16"/>
                    </a:lnTo>
                    <a:lnTo>
                      <a:pt x="11" y="12"/>
                    </a:lnTo>
                    <a:lnTo>
                      <a:pt x="16" y="10"/>
                    </a:lnTo>
                    <a:lnTo>
                      <a:pt x="20" y="7"/>
                    </a:lnTo>
                    <a:lnTo>
                      <a:pt x="23" y="5"/>
                    </a:lnTo>
                    <a:lnTo>
                      <a:pt x="27" y="3"/>
                    </a:lnTo>
                    <a:lnTo>
                      <a:pt x="32" y="0"/>
                    </a:lnTo>
                    <a:lnTo>
                      <a:pt x="32" y="433"/>
                    </a:lnTo>
                    <a:lnTo>
                      <a:pt x="0" y="43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67" name="Freeform 4085"/>
              <p:cNvSpPr>
                <a:spLocks noChangeAspect="1"/>
              </p:cNvSpPr>
              <p:nvPr/>
            </p:nvSpPr>
            <p:spPr bwMode="auto">
              <a:xfrm>
                <a:off x="5307" y="1022"/>
                <a:ext cx="10" cy="147"/>
              </a:xfrm>
              <a:custGeom>
                <a:avLst/>
                <a:gdLst>
                  <a:gd name="T0" fmla="*/ 0 w 31"/>
                  <a:gd name="T1" fmla="*/ 0 h 442"/>
                  <a:gd name="T2" fmla="*/ 0 w 31"/>
                  <a:gd name="T3" fmla="*/ 0 h 442"/>
                  <a:gd name="T4" fmla="*/ 0 w 31"/>
                  <a:gd name="T5" fmla="*/ 0 h 442"/>
                  <a:gd name="T6" fmla="*/ 0 w 31"/>
                  <a:gd name="T7" fmla="*/ 0 h 442"/>
                  <a:gd name="T8" fmla="*/ 0 w 31"/>
                  <a:gd name="T9" fmla="*/ 0 h 442"/>
                  <a:gd name="T10" fmla="*/ 0 w 31"/>
                  <a:gd name="T11" fmla="*/ 0 h 442"/>
                  <a:gd name="T12" fmla="*/ 0 w 31"/>
                  <a:gd name="T13" fmla="*/ 0 h 442"/>
                  <a:gd name="T14" fmla="*/ 0 w 31"/>
                  <a:gd name="T15" fmla="*/ 0 h 442"/>
                  <a:gd name="T16" fmla="*/ 0 w 31"/>
                  <a:gd name="T17" fmla="*/ 0 h 442"/>
                  <a:gd name="T18" fmla="*/ 0 w 31"/>
                  <a:gd name="T19" fmla="*/ 0 h 442"/>
                  <a:gd name="T20" fmla="*/ 0 w 31"/>
                  <a:gd name="T21" fmla="*/ 0 h 442"/>
                  <a:gd name="T22" fmla="*/ 0 w 31"/>
                  <a:gd name="T23" fmla="*/ 0 h 4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442">
                    <a:moveTo>
                      <a:pt x="0" y="442"/>
                    </a:moveTo>
                    <a:lnTo>
                      <a:pt x="0" y="19"/>
                    </a:lnTo>
                    <a:lnTo>
                      <a:pt x="4" y="16"/>
                    </a:lnTo>
                    <a:lnTo>
                      <a:pt x="7" y="14"/>
                    </a:lnTo>
                    <a:lnTo>
                      <a:pt x="11" y="12"/>
                    </a:lnTo>
                    <a:lnTo>
                      <a:pt x="16" y="9"/>
                    </a:lnTo>
                    <a:lnTo>
                      <a:pt x="20" y="7"/>
                    </a:lnTo>
                    <a:lnTo>
                      <a:pt x="24" y="4"/>
                    </a:lnTo>
                    <a:lnTo>
                      <a:pt x="27" y="2"/>
                    </a:lnTo>
                    <a:lnTo>
                      <a:pt x="31" y="0"/>
                    </a:lnTo>
                    <a:lnTo>
                      <a:pt x="31" y="442"/>
                    </a:lnTo>
                    <a:lnTo>
                      <a:pt x="0" y="44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68" name="Freeform 4086"/>
              <p:cNvSpPr>
                <a:spLocks noChangeAspect="1"/>
              </p:cNvSpPr>
              <p:nvPr/>
            </p:nvSpPr>
            <p:spPr bwMode="auto">
              <a:xfrm>
                <a:off x="5312" y="1019"/>
                <a:ext cx="11" cy="150"/>
              </a:xfrm>
              <a:custGeom>
                <a:avLst/>
                <a:gdLst>
                  <a:gd name="T0" fmla="*/ 0 w 33"/>
                  <a:gd name="T1" fmla="*/ 0 h 450"/>
                  <a:gd name="T2" fmla="*/ 0 w 33"/>
                  <a:gd name="T3" fmla="*/ 0 h 450"/>
                  <a:gd name="T4" fmla="*/ 0 w 33"/>
                  <a:gd name="T5" fmla="*/ 0 h 450"/>
                  <a:gd name="T6" fmla="*/ 0 w 33"/>
                  <a:gd name="T7" fmla="*/ 0 h 450"/>
                  <a:gd name="T8" fmla="*/ 0 w 33"/>
                  <a:gd name="T9" fmla="*/ 0 h 450"/>
                  <a:gd name="T10" fmla="*/ 0 w 33"/>
                  <a:gd name="T11" fmla="*/ 0 h 450"/>
                  <a:gd name="T12" fmla="*/ 0 w 33"/>
                  <a:gd name="T13" fmla="*/ 0 h 450"/>
                  <a:gd name="T14" fmla="*/ 0 w 33"/>
                  <a:gd name="T15" fmla="*/ 0 h 450"/>
                  <a:gd name="T16" fmla="*/ 0 w 33"/>
                  <a:gd name="T17" fmla="*/ 0 h 450"/>
                  <a:gd name="T18" fmla="*/ 0 w 33"/>
                  <a:gd name="T19" fmla="*/ 0 h 450"/>
                  <a:gd name="T20" fmla="*/ 0 w 33"/>
                  <a:gd name="T21" fmla="*/ 0 h 450"/>
                  <a:gd name="T22" fmla="*/ 0 w 33"/>
                  <a:gd name="T23" fmla="*/ 0 h 4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50">
                    <a:moveTo>
                      <a:pt x="0" y="450"/>
                    </a:moveTo>
                    <a:lnTo>
                      <a:pt x="0" y="17"/>
                    </a:lnTo>
                    <a:lnTo>
                      <a:pt x="4" y="15"/>
                    </a:lnTo>
                    <a:lnTo>
                      <a:pt x="8" y="12"/>
                    </a:lnTo>
                    <a:lnTo>
                      <a:pt x="11" y="10"/>
                    </a:lnTo>
                    <a:lnTo>
                      <a:pt x="15" y="8"/>
                    </a:lnTo>
                    <a:lnTo>
                      <a:pt x="20" y="6"/>
                    </a:lnTo>
                    <a:lnTo>
                      <a:pt x="24" y="4"/>
                    </a:lnTo>
                    <a:lnTo>
                      <a:pt x="28" y="2"/>
                    </a:lnTo>
                    <a:lnTo>
                      <a:pt x="33" y="0"/>
                    </a:lnTo>
                    <a:lnTo>
                      <a:pt x="33" y="450"/>
                    </a:lnTo>
                    <a:lnTo>
                      <a:pt x="0" y="45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69" name="Freeform 4087"/>
              <p:cNvSpPr>
                <a:spLocks noChangeAspect="1"/>
              </p:cNvSpPr>
              <p:nvPr/>
            </p:nvSpPr>
            <p:spPr bwMode="auto">
              <a:xfrm>
                <a:off x="5317" y="1017"/>
                <a:ext cx="11" cy="152"/>
              </a:xfrm>
              <a:custGeom>
                <a:avLst/>
                <a:gdLst>
                  <a:gd name="T0" fmla="*/ 0 w 33"/>
                  <a:gd name="T1" fmla="*/ 0 h 458"/>
                  <a:gd name="T2" fmla="*/ 0 w 33"/>
                  <a:gd name="T3" fmla="*/ 0 h 458"/>
                  <a:gd name="T4" fmla="*/ 0 w 33"/>
                  <a:gd name="T5" fmla="*/ 0 h 458"/>
                  <a:gd name="T6" fmla="*/ 0 w 33"/>
                  <a:gd name="T7" fmla="*/ 0 h 458"/>
                  <a:gd name="T8" fmla="*/ 0 w 33"/>
                  <a:gd name="T9" fmla="*/ 0 h 458"/>
                  <a:gd name="T10" fmla="*/ 0 w 33"/>
                  <a:gd name="T11" fmla="*/ 0 h 458"/>
                  <a:gd name="T12" fmla="*/ 0 w 33"/>
                  <a:gd name="T13" fmla="*/ 0 h 458"/>
                  <a:gd name="T14" fmla="*/ 0 w 33"/>
                  <a:gd name="T15" fmla="*/ 0 h 458"/>
                  <a:gd name="T16" fmla="*/ 0 w 33"/>
                  <a:gd name="T17" fmla="*/ 0 h 458"/>
                  <a:gd name="T18" fmla="*/ 0 w 33"/>
                  <a:gd name="T19" fmla="*/ 0 h 458"/>
                  <a:gd name="T20" fmla="*/ 0 w 33"/>
                  <a:gd name="T21" fmla="*/ 0 h 458"/>
                  <a:gd name="T22" fmla="*/ 0 w 33"/>
                  <a:gd name="T23" fmla="*/ 0 h 4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58">
                    <a:moveTo>
                      <a:pt x="0" y="458"/>
                    </a:moveTo>
                    <a:lnTo>
                      <a:pt x="0" y="16"/>
                    </a:lnTo>
                    <a:lnTo>
                      <a:pt x="5" y="14"/>
                    </a:lnTo>
                    <a:lnTo>
                      <a:pt x="9" y="12"/>
                    </a:lnTo>
                    <a:lnTo>
                      <a:pt x="13" y="10"/>
                    </a:lnTo>
                    <a:lnTo>
                      <a:pt x="16" y="8"/>
                    </a:lnTo>
                    <a:lnTo>
                      <a:pt x="21" y="6"/>
                    </a:lnTo>
                    <a:lnTo>
                      <a:pt x="25" y="3"/>
                    </a:lnTo>
                    <a:lnTo>
                      <a:pt x="29" y="1"/>
                    </a:lnTo>
                    <a:lnTo>
                      <a:pt x="33" y="0"/>
                    </a:lnTo>
                    <a:lnTo>
                      <a:pt x="33" y="458"/>
                    </a:lnTo>
                    <a:lnTo>
                      <a:pt x="0" y="45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70" name="Freeform 4088"/>
              <p:cNvSpPr>
                <a:spLocks noChangeAspect="1"/>
              </p:cNvSpPr>
              <p:nvPr/>
            </p:nvSpPr>
            <p:spPr bwMode="auto">
              <a:xfrm>
                <a:off x="5323" y="1014"/>
                <a:ext cx="10" cy="155"/>
              </a:xfrm>
              <a:custGeom>
                <a:avLst/>
                <a:gdLst>
                  <a:gd name="T0" fmla="*/ 0 w 31"/>
                  <a:gd name="T1" fmla="*/ 0 h 465"/>
                  <a:gd name="T2" fmla="*/ 0 w 31"/>
                  <a:gd name="T3" fmla="*/ 0 h 465"/>
                  <a:gd name="T4" fmla="*/ 0 w 31"/>
                  <a:gd name="T5" fmla="*/ 0 h 465"/>
                  <a:gd name="T6" fmla="*/ 0 w 31"/>
                  <a:gd name="T7" fmla="*/ 0 h 465"/>
                  <a:gd name="T8" fmla="*/ 0 w 31"/>
                  <a:gd name="T9" fmla="*/ 0 h 465"/>
                  <a:gd name="T10" fmla="*/ 0 w 31"/>
                  <a:gd name="T11" fmla="*/ 0 h 465"/>
                  <a:gd name="T12" fmla="*/ 0 w 31"/>
                  <a:gd name="T13" fmla="*/ 0 h 465"/>
                  <a:gd name="T14" fmla="*/ 0 w 31"/>
                  <a:gd name="T15" fmla="*/ 0 h 465"/>
                  <a:gd name="T16" fmla="*/ 0 w 31"/>
                  <a:gd name="T17" fmla="*/ 0 h 465"/>
                  <a:gd name="T18" fmla="*/ 0 w 31"/>
                  <a:gd name="T19" fmla="*/ 0 h 465"/>
                  <a:gd name="T20" fmla="*/ 0 w 31"/>
                  <a:gd name="T21" fmla="*/ 0 h 465"/>
                  <a:gd name="T22" fmla="*/ 0 w 31"/>
                  <a:gd name="T23" fmla="*/ 0 h 4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465">
                    <a:moveTo>
                      <a:pt x="0" y="465"/>
                    </a:moveTo>
                    <a:lnTo>
                      <a:pt x="0" y="15"/>
                    </a:lnTo>
                    <a:lnTo>
                      <a:pt x="3" y="13"/>
                    </a:lnTo>
                    <a:lnTo>
                      <a:pt x="7" y="10"/>
                    </a:lnTo>
                    <a:lnTo>
                      <a:pt x="11" y="8"/>
                    </a:lnTo>
                    <a:lnTo>
                      <a:pt x="15" y="7"/>
                    </a:lnTo>
                    <a:lnTo>
                      <a:pt x="19" y="5"/>
                    </a:lnTo>
                    <a:lnTo>
                      <a:pt x="23" y="3"/>
                    </a:lnTo>
                    <a:lnTo>
                      <a:pt x="27" y="2"/>
                    </a:lnTo>
                    <a:lnTo>
                      <a:pt x="31" y="0"/>
                    </a:lnTo>
                    <a:lnTo>
                      <a:pt x="31" y="465"/>
                    </a:lnTo>
                    <a:lnTo>
                      <a:pt x="0" y="4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71" name="Freeform 4089"/>
              <p:cNvSpPr>
                <a:spLocks noChangeAspect="1"/>
              </p:cNvSpPr>
              <p:nvPr/>
            </p:nvSpPr>
            <p:spPr bwMode="auto">
              <a:xfrm>
                <a:off x="5328" y="1012"/>
                <a:ext cx="11" cy="157"/>
              </a:xfrm>
              <a:custGeom>
                <a:avLst/>
                <a:gdLst>
                  <a:gd name="T0" fmla="*/ 0 w 32"/>
                  <a:gd name="T1" fmla="*/ 0 h 471"/>
                  <a:gd name="T2" fmla="*/ 0 w 32"/>
                  <a:gd name="T3" fmla="*/ 0 h 471"/>
                  <a:gd name="T4" fmla="*/ 0 w 32"/>
                  <a:gd name="T5" fmla="*/ 0 h 471"/>
                  <a:gd name="T6" fmla="*/ 0 w 32"/>
                  <a:gd name="T7" fmla="*/ 0 h 471"/>
                  <a:gd name="T8" fmla="*/ 0 w 32"/>
                  <a:gd name="T9" fmla="*/ 0 h 471"/>
                  <a:gd name="T10" fmla="*/ 0 w 32"/>
                  <a:gd name="T11" fmla="*/ 0 h 471"/>
                  <a:gd name="T12" fmla="*/ 0 w 32"/>
                  <a:gd name="T13" fmla="*/ 0 h 471"/>
                  <a:gd name="T14" fmla="*/ 0 w 32"/>
                  <a:gd name="T15" fmla="*/ 0 h 471"/>
                  <a:gd name="T16" fmla="*/ 0 w 32"/>
                  <a:gd name="T17" fmla="*/ 0 h 471"/>
                  <a:gd name="T18" fmla="*/ 0 w 32"/>
                  <a:gd name="T19" fmla="*/ 0 h 471"/>
                  <a:gd name="T20" fmla="*/ 0 w 32"/>
                  <a:gd name="T21" fmla="*/ 0 h 471"/>
                  <a:gd name="T22" fmla="*/ 0 w 32"/>
                  <a:gd name="T23" fmla="*/ 0 h 47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71">
                    <a:moveTo>
                      <a:pt x="0" y="471"/>
                    </a:moveTo>
                    <a:lnTo>
                      <a:pt x="0" y="13"/>
                    </a:lnTo>
                    <a:lnTo>
                      <a:pt x="4" y="11"/>
                    </a:lnTo>
                    <a:lnTo>
                      <a:pt x="8" y="9"/>
                    </a:lnTo>
                    <a:lnTo>
                      <a:pt x="12" y="8"/>
                    </a:lnTo>
                    <a:lnTo>
                      <a:pt x="16" y="6"/>
                    </a:lnTo>
                    <a:lnTo>
                      <a:pt x="21" y="5"/>
                    </a:lnTo>
                    <a:lnTo>
                      <a:pt x="24" y="3"/>
                    </a:lnTo>
                    <a:lnTo>
                      <a:pt x="28" y="1"/>
                    </a:lnTo>
                    <a:lnTo>
                      <a:pt x="32" y="0"/>
                    </a:lnTo>
                    <a:lnTo>
                      <a:pt x="32" y="471"/>
                    </a:lnTo>
                    <a:lnTo>
                      <a:pt x="0" y="47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72" name="Freeform 4090"/>
              <p:cNvSpPr>
                <a:spLocks noChangeAspect="1"/>
              </p:cNvSpPr>
              <p:nvPr/>
            </p:nvSpPr>
            <p:spPr bwMode="auto">
              <a:xfrm>
                <a:off x="5333" y="1010"/>
                <a:ext cx="11" cy="159"/>
              </a:xfrm>
              <a:custGeom>
                <a:avLst/>
                <a:gdLst>
                  <a:gd name="T0" fmla="*/ 0 w 32"/>
                  <a:gd name="T1" fmla="*/ 0 h 477"/>
                  <a:gd name="T2" fmla="*/ 0 w 32"/>
                  <a:gd name="T3" fmla="*/ 0 h 477"/>
                  <a:gd name="T4" fmla="*/ 0 w 32"/>
                  <a:gd name="T5" fmla="*/ 0 h 477"/>
                  <a:gd name="T6" fmla="*/ 0 w 32"/>
                  <a:gd name="T7" fmla="*/ 0 h 477"/>
                  <a:gd name="T8" fmla="*/ 0 w 32"/>
                  <a:gd name="T9" fmla="*/ 0 h 477"/>
                  <a:gd name="T10" fmla="*/ 0 w 32"/>
                  <a:gd name="T11" fmla="*/ 0 h 477"/>
                  <a:gd name="T12" fmla="*/ 0 w 32"/>
                  <a:gd name="T13" fmla="*/ 0 h 477"/>
                  <a:gd name="T14" fmla="*/ 0 w 32"/>
                  <a:gd name="T15" fmla="*/ 0 h 477"/>
                  <a:gd name="T16" fmla="*/ 0 w 32"/>
                  <a:gd name="T17" fmla="*/ 0 h 477"/>
                  <a:gd name="T18" fmla="*/ 0 w 32"/>
                  <a:gd name="T19" fmla="*/ 0 h 477"/>
                  <a:gd name="T20" fmla="*/ 0 w 32"/>
                  <a:gd name="T21" fmla="*/ 0 h 477"/>
                  <a:gd name="T22" fmla="*/ 0 w 32"/>
                  <a:gd name="T23" fmla="*/ 0 h 4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77">
                    <a:moveTo>
                      <a:pt x="0" y="477"/>
                    </a:moveTo>
                    <a:lnTo>
                      <a:pt x="0" y="12"/>
                    </a:lnTo>
                    <a:lnTo>
                      <a:pt x="5" y="11"/>
                    </a:lnTo>
                    <a:lnTo>
                      <a:pt x="8" y="9"/>
                    </a:lnTo>
                    <a:lnTo>
                      <a:pt x="12" y="7"/>
                    </a:lnTo>
                    <a:lnTo>
                      <a:pt x="16" y="6"/>
                    </a:lnTo>
                    <a:lnTo>
                      <a:pt x="21" y="4"/>
                    </a:lnTo>
                    <a:lnTo>
                      <a:pt x="25" y="3"/>
                    </a:lnTo>
                    <a:lnTo>
                      <a:pt x="28" y="2"/>
                    </a:lnTo>
                    <a:lnTo>
                      <a:pt x="32" y="0"/>
                    </a:lnTo>
                    <a:lnTo>
                      <a:pt x="32" y="477"/>
                    </a:lnTo>
                    <a:lnTo>
                      <a:pt x="0" y="47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73" name="Freeform 4091"/>
              <p:cNvSpPr>
                <a:spLocks noChangeAspect="1"/>
              </p:cNvSpPr>
              <p:nvPr/>
            </p:nvSpPr>
            <p:spPr bwMode="auto">
              <a:xfrm>
                <a:off x="5339" y="1009"/>
                <a:ext cx="10" cy="160"/>
              </a:xfrm>
              <a:custGeom>
                <a:avLst/>
                <a:gdLst>
                  <a:gd name="T0" fmla="*/ 0 w 32"/>
                  <a:gd name="T1" fmla="*/ 0 h 481"/>
                  <a:gd name="T2" fmla="*/ 0 w 32"/>
                  <a:gd name="T3" fmla="*/ 0 h 481"/>
                  <a:gd name="T4" fmla="*/ 0 w 32"/>
                  <a:gd name="T5" fmla="*/ 0 h 481"/>
                  <a:gd name="T6" fmla="*/ 0 w 32"/>
                  <a:gd name="T7" fmla="*/ 0 h 481"/>
                  <a:gd name="T8" fmla="*/ 0 w 32"/>
                  <a:gd name="T9" fmla="*/ 0 h 481"/>
                  <a:gd name="T10" fmla="*/ 0 w 32"/>
                  <a:gd name="T11" fmla="*/ 0 h 481"/>
                  <a:gd name="T12" fmla="*/ 0 w 32"/>
                  <a:gd name="T13" fmla="*/ 0 h 481"/>
                  <a:gd name="T14" fmla="*/ 0 w 32"/>
                  <a:gd name="T15" fmla="*/ 0 h 481"/>
                  <a:gd name="T16" fmla="*/ 0 w 32"/>
                  <a:gd name="T17" fmla="*/ 0 h 481"/>
                  <a:gd name="T18" fmla="*/ 0 w 32"/>
                  <a:gd name="T19" fmla="*/ 0 h 481"/>
                  <a:gd name="T20" fmla="*/ 0 w 32"/>
                  <a:gd name="T21" fmla="*/ 0 h 481"/>
                  <a:gd name="T22" fmla="*/ 0 w 32"/>
                  <a:gd name="T23" fmla="*/ 0 h 4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81">
                    <a:moveTo>
                      <a:pt x="0" y="481"/>
                    </a:moveTo>
                    <a:lnTo>
                      <a:pt x="0" y="10"/>
                    </a:lnTo>
                    <a:lnTo>
                      <a:pt x="5" y="8"/>
                    </a:lnTo>
                    <a:lnTo>
                      <a:pt x="9" y="7"/>
                    </a:lnTo>
                    <a:lnTo>
                      <a:pt x="12" y="6"/>
                    </a:lnTo>
                    <a:lnTo>
                      <a:pt x="16" y="5"/>
                    </a:lnTo>
                    <a:lnTo>
                      <a:pt x="21" y="3"/>
                    </a:lnTo>
                    <a:lnTo>
                      <a:pt x="25" y="2"/>
                    </a:lnTo>
                    <a:lnTo>
                      <a:pt x="29" y="1"/>
                    </a:lnTo>
                    <a:lnTo>
                      <a:pt x="32" y="0"/>
                    </a:lnTo>
                    <a:lnTo>
                      <a:pt x="32" y="481"/>
                    </a:lnTo>
                    <a:lnTo>
                      <a:pt x="0" y="4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74" name="Freeform 4092"/>
              <p:cNvSpPr>
                <a:spLocks noChangeAspect="1"/>
              </p:cNvSpPr>
              <p:nvPr/>
            </p:nvSpPr>
            <p:spPr bwMode="auto">
              <a:xfrm>
                <a:off x="5344" y="1008"/>
                <a:ext cx="11" cy="161"/>
              </a:xfrm>
              <a:custGeom>
                <a:avLst/>
                <a:gdLst>
                  <a:gd name="T0" fmla="*/ 0 w 33"/>
                  <a:gd name="T1" fmla="*/ 0 h 485"/>
                  <a:gd name="T2" fmla="*/ 0 w 33"/>
                  <a:gd name="T3" fmla="*/ 0 h 485"/>
                  <a:gd name="T4" fmla="*/ 0 w 33"/>
                  <a:gd name="T5" fmla="*/ 0 h 485"/>
                  <a:gd name="T6" fmla="*/ 0 w 33"/>
                  <a:gd name="T7" fmla="*/ 0 h 485"/>
                  <a:gd name="T8" fmla="*/ 0 w 33"/>
                  <a:gd name="T9" fmla="*/ 0 h 485"/>
                  <a:gd name="T10" fmla="*/ 0 w 33"/>
                  <a:gd name="T11" fmla="*/ 0 h 485"/>
                  <a:gd name="T12" fmla="*/ 0 w 33"/>
                  <a:gd name="T13" fmla="*/ 0 h 485"/>
                  <a:gd name="T14" fmla="*/ 0 w 33"/>
                  <a:gd name="T15" fmla="*/ 0 h 485"/>
                  <a:gd name="T16" fmla="*/ 0 w 33"/>
                  <a:gd name="T17" fmla="*/ 0 h 485"/>
                  <a:gd name="T18" fmla="*/ 0 w 33"/>
                  <a:gd name="T19" fmla="*/ 0 h 485"/>
                  <a:gd name="T20" fmla="*/ 0 w 33"/>
                  <a:gd name="T21" fmla="*/ 0 h 485"/>
                  <a:gd name="T22" fmla="*/ 0 w 33"/>
                  <a:gd name="T23" fmla="*/ 0 h 4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85">
                    <a:moveTo>
                      <a:pt x="0" y="485"/>
                    </a:moveTo>
                    <a:lnTo>
                      <a:pt x="0" y="8"/>
                    </a:lnTo>
                    <a:lnTo>
                      <a:pt x="5" y="7"/>
                    </a:lnTo>
                    <a:lnTo>
                      <a:pt x="9" y="6"/>
                    </a:lnTo>
                    <a:lnTo>
                      <a:pt x="13" y="5"/>
                    </a:lnTo>
                    <a:lnTo>
                      <a:pt x="16" y="4"/>
                    </a:lnTo>
                    <a:lnTo>
                      <a:pt x="21" y="3"/>
                    </a:lnTo>
                    <a:lnTo>
                      <a:pt x="25" y="2"/>
                    </a:lnTo>
                    <a:lnTo>
                      <a:pt x="29" y="1"/>
                    </a:lnTo>
                    <a:lnTo>
                      <a:pt x="33" y="0"/>
                    </a:lnTo>
                    <a:lnTo>
                      <a:pt x="33" y="485"/>
                    </a:lnTo>
                    <a:lnTo>
                      <a:pt x="0" y="48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75" name="Freeform 4093"/>
              <p:cNvSpPr>
                <a:spLocks noChangeAspect="1"/>
              </p:cNvSpPr>
              <p:nvPr/>
            </p:nvSpPr>
            <p:spPr bwMode="auto">
              <a:xfrm>
                <a:off x="5349" y="1006"/>
                <a:ext cx="11" cy="163"/>
              </a:xfrm>
              <a:custGeom>
                <a:avLst/>
                <a:gdLst>
                  <a:gd name="T0" fmla="*/ 0 w 33"/>
                  <a:gd name="T1" fmla="*/ 0 h 489"/>
                  <a:gd name="T2" fmla="*/ 0 w 33"/>
                  <a:gd name="T3" fmla="*/ 0 h 489"/>
                  <a:gd name="T4" fmla="*/ 0 w 33"/>
                  <a:gd name="T5" fmla="*/ 0 h 489"/>
                  <a:gd name="T6" fmla="*/ 0 w 33"/>
                  <a:gd name="T7" fmla="*/ 0 h 489"/>
                  <a:gd name="T8" fmla="*/ 0 w 33"/>
                  <a:gd name="T9" fmla="*/ 0 h 489"/>
                  <a:gd name="T10" fmla="*/ 0 w 33"/>
                  <a:gd name="T11" fmla="*/ 0 h 489"/>
                  <a:gd name="T12" fmla="*/ 0 w 33"/>
                  <a:gd name="T13" fmla="*/ 0 h 489"/>
                  <a:gd name="T14" fmla="*/ 0 w 33"/>
                  <a:gd name="T15" fmla="*/ 0 h 489"/>
                  <a:gd name="T16" fmla="*/ 0 w 33"/>
                  <a:gd name="T17" fmla="*/ 0 h 489"/>
                  <a:gd name="T18" fmla="*/ 0 w 33"/>
                  <a:gd name="T19" fmla="*/ 0 h 489"/>
                  <a:gd name="T20" fmla="*/ 0 w 33"/>
                  <a:gd name="T21" fmla="*/ 0 h 489"/>
                  <a:gd name="T22" fmla="*/ 0 w 33"/>
                  <a:gd name="T23" fmla="*/ 0 h 4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89">
                    <a:moveTo>
                      <a:pt x="0" y="489"/>
                    </a:moveTo>
                    <a:lnTo>
                      <a:pt x="0" y="8"/>
                    </a:lnTo>
                    <a:lnTo>
                      <a:pt x="5" y="7"/>
                    </a:lnTo>
                    <a:lnTo>
                      <a:pt x="9" y="6"/>
                    </a:lnTo>
                    <a:lnTo>
                      <a:pt x="13" y="5"/>
                    </a:lnTo>
                    <a:lnTo>
                      <a:pt x="17" y="4"/>
                    </a:lnTo>
                    <a:lnTo>
                      <a:pt x="21" y="2"/>
                    </a:lnTo>
                    <a:lnTo>
                      <a:pt x="25" y="1"/>
                    </a:lnTo>
                    <a:lnTo>
                      <a:pt x="29" y="1"/>
                    </a:lnTo>
                    <a:lnTo>
                      <a:pt x="33" y="0"/>
                    </a:lnTo>
                    <a:lnTo>
                      <a:pt x="33" y="489"/>
                    </a:lnTo>
                    <a:lnTo>
                      <a:pt x="0" y="4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76" name="Freeform 4094"/>
              <p:cNvSpPr>
                <a:spLocks noChangeAspect="1"/>
              </p:cNvSpPr>
              <p:nvPr/>
            </p:nvSpPr>
            <p:spPr bwMode="auto">
              <a:xfrm>
                <a:off x="5355" y="1005"/>
                <a:ext cx="11" cy="164"/>
              </a:xfrm>
              <a:custGeom>
                <a:avLst/>
                <a:gdLst>
                  <a:gd name="T0" fmla="*/ 0 w 32"/>
                  <a:gd name="T1" fmla="*/ 0 h 492"/>
                  <a:gd name="T2" fmla="*/ 0 w 32"/>
                  <a:gd name="T3" fmla="*/ 0 h 492"/>
                  <a:gd name="T4" fmla="*/ 0 w 32"/>
                  <a:gd name="T5" fmla="*/ 0 h 492"/>
                  <a:gd name="T6" fmla="*/ 0 w 32"/>
                  <a:gd name="T7" fmla="*/ 0 h 492"/>
                  <a:gd name="T8" fmla="*/ 0 w 32"/>
                  <a:gd name="T9" fmla="*/ 0 h 492"/>
                  <a:gd name="T10" fmla="*/ 0 w 32"/>
                  <a:gd name="T11" fmla="*/ 0 h 492"/>
                  <a:gd name="T12" fmla="*/ 0 w 32"/>
                  <a:gd name="T13" fmla="*/ 0 h 492"/>
                  <a:gd name="T14" fmla="*/ 0 w 32"/>
                  <a:gd name="T15" fmla="*/ 0 h 492"/>
                  <a:gd name="T16" fmla="*/ 0 w 32"/>
                  <a:gd name="T17" fmla="*/ 0 h 492"/>
                  <a:gd name="T18" fmla="*/ 0 w 32"/>
                  <a:gd name="T19" fmla="*/ 0 h 492"/>
                  <a:gd name="T20" fmla="*/ 0 w 32"/>
                  <a:gd name="T21" fmla="*/ 0 h 492"/>
                  <a:gd name="T22" fmla="*/ 0 w 32"/>
                  <a:gd name="T23" fmla="*/ 0 h 4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2">
                    <a:moveTo>
                      <a:pt x="0" y="492"/>
                    </a:moveTo>
                    <a:lnTo>
                      <a:pt x="0" y="7"/>
                    </a:lnTo>
                    <a:lnTo>
                      <a:pt x="4" y="5"/>
                    </a:lnTo>
                    <a:lnTo>
                      <a:pt x="8" y="4"/>
                    </a:lnTo>
                    <a:lnTo>
                      <a:pt x="12" y="4"/>
                    </a:lnTo>
                    <a:lnTo>
                      <a:pt x="16" y="3"/>
                    </a:lnTo>
                    <a:lnTo>
                      <a:pt x="20" y="2"/>
                    </a:lnTo>
                    <a:lnTo>
                      <a:pt x="24" y="1"/>
                    </a:lnTo>
                    <a:lnTo>
                      <a:pt x="28" y="1"/>
                    </a:lnTo>
                    <a:lnTo>
                      <a:pt x="32" y="0"/>
                    </a:lnTo>
                    <a:lnTo>
                      <a:pt x="32" y="492"/>
                    </a:lnTo>
                    <a:lnTo>
                      <a:pt x="0" y="49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77" name="Freeform 4095"/>
              <p:cNvSpPr>
                <a:spLocks noChangeAspect="1"/>
              </p:cNvSpPr>
              <p:nvPr/>
            </p:nvSpPr>
            <p:spPr bwMode="auto">
              <a:xfrm>
                <a:off x="5360" y="1005"/>
                <a:ext cx="11" cy="164"/>
              </a:xfrm>
              <a:custGeom>
                <a:avLst/>
                <a:gdLst>
                  <a:gd name="T0" fmla="*/ 0 w 32"/>
                  <a:gd name="T1" fmla="*/ 0 h 494"/>
                  <a:gd name="T2" fmla="*/ 0 w 32"/>
                  <a:gd name="T3" fmla="*/ 0 h 494"/>
                  <a:gd name="T4" fmla="*/ 0 w 32"/>
                  <a:gd name="T5" fmla="*/ 0 h 494"/>
                  <a:gd name="T6" fmla="*/ 0 w 32"/>
                  <a:gd name="T7" fmla="*/ 0 h 494"/>
                  <a:gd name="T8" fmla="*/ 0 w 32"/>
                  <a:gd name="T9" fmla="*/ 0 h 494"/>
                  <a:gd name="T10" fmla="*/ 0 w 32"/>
                  <a:gd name="T11" fmla="*/ 0 h 494"/>
                  <a:gd name="T12" fmla="*/ 0 w 32"/>
                  <a:gd name="T13" fmla="*/ 0 h 494"/>
                  <a:gd name="T14" fmla="*/ 0 w 32"/>
                  <a:gd name="T15" fmla="*/ 0 h 494"/>
                  <a:gd name="T16" fmla="*/ 0 w 32"/>
                  <a:gd name="T17" fmla="*/ 0 h 494"/>
                  <a:gd name="T18" fmla="*/ 0 w 32"/>
                  <a:gd name="T19" fmla="*/ 0 h 494"/>
                  <a:gd name="T20" fmla="*/ 0 w 32"/>
                  <a:gd name="T21" fmla="*/ 0 h 494"/>
                  <a:gd name="T22" fmla="*/ 0 w 32"/>
                  <a:gd name="T23" fmla="*/ 0 h 49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4">
                    <a:moveTo>
                      <a:pt x="0" y="494"/>
                    </a:moveTo>
                    <a:lnTo>
                      <a:pt x="0" y="5"/>
                    </a:lnTo>
                    <a:lnTo>
                      <a:pt x="5" y="4"/>
                    </a:lnTo>
                    <a:lnTo>
                      <a:pt x="8" y="3"/>
                    </a:lnTo>
                    <a:lnTo>
                      <a:pt x="12" y="3"/>
                    </a:lnTo>
                    <a:lnTo>
                      <a:pt x="16" y="2"/>
                    </a:lnTo>
                    <a:lnTo>
                      <a:pt x="21" y="2"/>
                    </a:lnTo>
                    <a:lnTo>
                      <a:pt x="25" y="1"/>
                    </a:lnTo>
                    <a:lnTo>
                      <a:pt x="28" y="1"/>
                    </a:lnTo>
                    <a:lnTo>
                      <a:pt x="32" y="0"/>
                    </a:lnTo>
                    <a:lnTo>
                      <a:pt x="32" y="494"/>
                    </a:lnTo>
                    <a:lnTo>
                      <a:pt x="0" y="49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78" name="Freeform 4096"/>
              <p:cNvSpPr>
                <a:spLocks noChangeAspect="1"/>
              </p:cNvSpPr>
              <p:nvPr/>
            </p:nvSpPr>
            <p:spPr bwMode="auto">
              <a:xfrm>
                <a:off x="5366" y="1004"/>
                <a:ext cx="10" cy="165"/>
              </a:xfrm>
              <a:custGeom>
                <a:avLst/>
                <a:gdLst>
                  <a:gd name="T0" fmla="*/ 0 w 32"/>
                  <a:gd name="T1" fmla="*/ 0 h 496"/>
                  <a:gd name="T2" fmla="*/ 0 w 32"/>
                  <a:gd name="T3" fmla="*/ 0 h 496"/>
                  <a:gd name="T4" fmla="*/ 0 w 32"/>
                  <a:gd name="T5" fmla="*/ 0 h 496"/>
                  <a:gd name="T6" fmla="*/ 0 w 32"/>
                  <a:gd name="T7" fmla="*/ 0 h 496"/>
                  <a:gd name="T8" fmla="*/ 0 w 32"/>
                  <a:gd name="T9" fmla="*/ 0 h 496"/>
                  <a:gd name="T10" fmla="*/ 0 w 32"/>
                  <a:gd name="T11" fmla="*/ 0 h 496"/>
                  <a:gd name="T12" fmla="*/ 0 w 32"/>
                  <a:gd name="T13" fmla="*/ 0 h 496"/>
                  <a:gd name="T14" fmla="*/ 0 w 32"/>
                  <a:gd name="T15" fmla="*/ 0 h 496"/>
                  <a:gd name="T16" fmla="*/ 0 w 32"/>
                  <a:gd name="T17" fmla="*/ 0 h 496"/>
                  <a:gd name="T18" fmla="*/ 0 w 32"/>
                  <a:gd name="T19" fmla="*/ 0 h 496"/>
                  <a:gd name="T20" fmla="*/ 0 w 32"/>
                  <a:gd name="T21" fmla="*/ 0 h 496"/>
                  <a:gd name="T22" fmla="*/ 0 w 32"/>
                  <a:gd name="T23" fmla="*/ 0 h 49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6">
                    <a:moveTo>
                      <a:pt x="0" y="496"/>
                    </a:moveTo>
                    <a:lnTo>
                      <a:pt x="0" y="4"/>
                    </a:lnTo>
                    <a:lnTo>
                      <a:pt x="5" y="4"/>
                    </a:lnTo>
                    <a:lnTo>
                      <a:pt x="9" y="3"/>
                    </a:lnTo>
                    <a:lnTo>
                      <a:pt x="12" y="3"/>
                    </a:lnTo>
                    <a:lnTo>
                      <a:pt x="16" y="2"/>
                    </a:lnTo>
                    <a:lnTo>
                      <a:pt x="21" y="2"/>
                    </a:lnTo>
                    <a:lnTo>
                      <a:pt x="25" y="1"/>
                    </a:lnTo>
                    <a:lnTo>
                      <a:pt x="29" y="1"/>
                    </a:lnTo>
                    <a:lnTo>
                      <a:pt x="32" y="0"/>
                    </a:lnTo>
                    <a:lnTo>
                      <a:pt x="32" y="496"/>
                    </a:lnTo>
                    <a:lnTo>
                      <a:pt x="0" y="49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79" name="Freeform 4097"/>
              <p:cNvSpPr>
                <a:spLocks noChangeAspect="1"/>
              </p:cNvSpPr>
              <p:nvPr/>
            </p:nvSpPr>
            <p:spPr bwMode="auto">
              <a:xfrm>
                <a:off x="5371" y="1004"/>
                <a:ext cx="11" cy="165"/>
              </a:xfrm>
              <a:custGeom>
                <a:avLst/>
                <a:gdLst>
                  <a:gd name="T0" fmla="*/ 0 w 33"/>
                  <a:gd name="T1" fmla="*/ 0 h 497"/>
                  <a:gd name="T2" fmla="*/ 0 w 33"/>
                  <a:gd name="T3" fmla="*/ 0 h 497"/>
                  <a:gd name="T4" fmla="*/ 0 w 33"/>
                  <a:gd name="T5" fmla="*/ 0 h 497"/>
                  <a:gd name="T6" fmla="*/ 0 w 33"/>
                  <a:gd name="T7" fmla="*/ 0 h 497"/>
                  <a:gd name="T8" fmla="*/ 0 w 33"/>
                  <a:gd name="T9" fmla="*/ 0 h 497"/>
                  <a:gd name="T10" fmla="*/ 0 w 33"/>
                  <a:gd name="T11" fmla="*/ 0 h 497"/>
                  <a:gd name="T12" fmla="*/ 0 w 33"/>
                  <a:gd name="T13" fmla="*/ 0 h 497"/>
                  <a:gd name="T14" fmla="*/ 0 w 33"/>
                  <a:gd name="T15" fmla="*/ 0 h 497"/>
                  <a:gd name="T16" fmla="*/ 0 w 33"/>
                  <a:gd name="T17" fmla="*/ 0 h 497"/>
                  <a:gd name="T18" fmla="*/ 0 w 33"/>
                  <a:gd name="T19" fmla="*/ 0 h 497"/>
                  <a:gd name="T20" fmla="*/ 0 w 33"/>
                  <a:gd name="T21" fmla="*/ 0 h 497"/>
                  <a:gd name="T22" fmla="*/ 0 w 33"/>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97">
                    <a:moveTo>
                      <a:pt x="0" y="497"/>
                    </a:moveTo>
                    <a:lnTo>
                      <a:pt x="0" y="3"/>
                    </a:lnTo>
                    <a:lnTo>
                      <a:pt x="5" y="3"/>
                    </a:lnTo>
                    <a:lnTo>
                      <a:pt x="9" y="2"/>
                    </a:lnTo>
                    <a:lnTo>
                      <a:pt x="12" y="2"/>
                    </a:lnTo>
                    <a:lnTo>
                      <a:pt x="16" y="1"/>
                    </a:lnTo>
                    <a:lnTo>
                      <a:pt x="20" y="1"/>
                    </a:lnTo>
                    <a:lnTo>
                      <a:pt x="25" y="1"/>
                    </a:lnTo>
                    <a:lnTo>
                      <a:pt x="29" y="1"/>
                    </a:lnTo>
                    <a:lnTo>
                      <a:pt x="33" y="0"/>
                    </a:lnTo>
                    <a:lnTo>
                      <a:pt x="33"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80" name="Freeform 4098"/>
              <p:cNvSpPr>
                <a:spLocks noChangeAspect="1"/>
              </p:cNvSpPr>
              <p:nvPr/>
            </p:nvSpPr>
            <p:spPr bwMode="auto">
              <a:xfrm>
                <a:off x="5376" y="1004"/>
                <a:ext cx="11" cy="165"/>
              </a:xfrm>
              <a:custGeom>
                <a:avLst/>
                <a:gdLst>
                  <a:gd name="T0" fmla="*/ 0 w 33"/>
                  <a:gd name="T1" fmla="*/ 0 h 497"/>
                  <a:gd name="T2" fmla="*/ 0 w 33"/>
                  <a:gd name="T3" fmla="*/ 0 h 497"/>
                  <a:gd name="T4" fmla="*/ 0 w 33"/>
                  <a:gd name="T5" fmla="*/ 0 h 497"/>
                  <a:gd name="T6" fmla="*/ 0 w 33"/>
                  <a:gd name="T7" fmla="*/ 0 h 497"/>
                  <a:gd name="T8" fmla="*/ 0 w 33"/>
                  <a:gd name="T9" fmla="*/ 0 h 497"/>
                  <a:gd name="T10" fmla="*/ 0 w 33"/>
                  <a:gd name="T11" fmla="*/ 0 h 497"/>
                  <a:gd name="T12" fmla="*/ 0 w 33"/>
                  <a:gd name="T13" fmla="*/ 0 h 497"/>
                  <a:gd name="T14" fmla="*/ 0 w 33"/>
                  <a:gd name="T15" fmla="*/ 0 h 497"/>
                  <a:gd name="T16" fmla="*/ 0 w 33"/>
                  <a:gd name="T17" fmla="*/ 0 h 497"/>
                  <a:gd name="T18" fmla="*/ 0 w 33"/>
                  <a:gd name="T19" fmla="*/ 0 h 497"/>
                  <a:gd name="T20" fmla="*/ 0 w 33"/>
                  <a:gd name="T21" fmla="*/ 0 h 497"/>
                  <a:gd name="T22" fmla="*/ 0 w 33"/>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97">
                    <a:moveTo>
                      <a:pt x="0" y="497"/>
                    </a:moveTo>
                    <a:lnTo>
                      <a:pt x="0" y="1"/>
                    </a:lnTo>
                    <a:lnTo>
                      <a:pt x="4" y="1"/>
                    </a:lnTo>
                    <a:lnTo>
                      <a:pt x="9" y="1"/>
                    </a:lnTo>
                    <a:lnTo>
                      <a:pt x="13" y="1"/>
                    </a:lnTo>
                    <a:lnTo>
                      <a:pt x="16" y="0"/>
                    </a:lnTo>
                    <a:lnTo>
                      <a:pt x="20" y="0"/>
                    </a:lnTo>
                    <a:lnTo>
                      <a:pt x="25" y="0"/>
                    </a:lnTo>
                    <a:lnTo>
                      <a:pt x="29" y="0"/>
                    </a:lnTo>
                    <a:lnTo>
                      <a:pt x="33" y="0"/>
                    </a:lnTo>
                    <a:lnTo>
                      <a:pt x="33"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81" name="Freeform 4099"/>
              <p:cNvSpPr>
                <a:spLocks noChangeAspect="1"/>
              </p:cNvSpPr>
              <p:nvPr/>
            </p:nvSpPr>
            <p:spPr bwMode="auto">
              <a:xfrm>
                <a:off x="5382" y="1004"/>
                <a:ext cx="11" cy="165"/>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w 32"/>
                  <a:gd name="T25" fmla="*/ 0 h 497"/>
                  <a:gd name="T26" fmla="*/ 0 w 32"/>
                  <a:gd name="T27" fmla="*/ 0 h 497"/>
                  <a:gd name="T28" fmla="*/ 0 w 32"/>
                  <a:gd name="T29" fmla="*/ 0 h 497"/>
                  <a:gd name="T30" fmla="*/ 0 w 32"/>
                  <a:gd name="T31" fmla="*/ 0 h 497"/>
                  <a:gd name="T32" fmla="*/ 0 w 32"/>
                  <a:gd name="T33" fmla="*/ 0 h 497"/>
                  <a:gd name="T34" fmla="*/ 0 w 32"/>
                  <a:gd name="T35" fmla="*/ 0 h 497"/>
                  <a:gd name="T36" fmla="*/ 0 w 32"/>
                  <a:gd name="T37" fmla="*/ 0 h 497"/>
                  <a:gd name="T38" fmla="*/ 0 w 32"/>
                  <a:gd name="T39" fmla="*/ 0 h 497"/>
                  <a:gd name="T40" fmla="*/ 0 w 32"/>
                  <a:gd name="T41" fmla="*/ 0 h 49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 h="497">
                    <a:moveTo>
                      <a:pt x="0" y="497"/>
                    </a:moveTo>
                    <a:lnTo>
                      <a:pt x="0" y="0"/>
                    </a:lnTo>
                    <a:lnTo>
                      <a:pt x="2" y="0"/>
                    </a:lnTo>
                    <a:lnTo>
                      <a:pt x="6" y="0"/>
                    </a:lnTo>
                    <a:lnTo>
                      <a:pt x="9" y="0"/>
                    </a:lnTo>
                    <a:lnTo>
                      <a:pt x="12" y="0"/>
                    </a:lnTo>
                    <a:lnTo>
                      <a:pt x="15" y="0"/>
                    </a:lnTo>
                    <a:lnTo>
                      <a:pt x="18" y="0"/>
                    </a:lnTo>
                    <a:lnTo>
                      <a:pt x="20" y="0"/>
                    </a:lnTo>
                    <a:lnTo>
                      <a:pt x="24" y="0"/>
                    </a:lnTo>
                    <a:lnTo>
                      <a:pt x="25" y="0"/>
                    </a:lnTo>
                    <a:lnTo>
                      <a:pt x="26" y="0"/>
                    </a:lnTo>
                    <a:lnTo>
                      <a:pt x="27" y="0"/>
                    </a:lnTo>
                    <a:lnTo>
                      <a:pt x="28" y="0"/>
                    </a:lnTo>
                    <a:lnTo>
                      <a:pt x="29" y="0"/>
                    </a:lnTo>
                    <a:lnTo>
                      <a:pt x="30" y="0"/>
                    </a:lnTo>
                    <a:lnTo>
                      <a:pt x="31" y="0"/>
                    </a:lnTo>
                    <a:lnTo>
                      <a:pt x="32" y="0"/>
                    </a:lnTo>
                    <a:lnTo>
                      <a:pt x="32" y="497"/>
                    </a:lnTo>
                    <a:lnTo>
                      <a:pt x="31"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82" name="Freeform 4100"/>
              <p:cNvSpPr>
                <a:spLocks noChangeAspect="1"/>
              </p:cNvSpPr>
              <p:nvPr/>
            </p:nvSpPr>
            <p:spPr bwMode="auto">
              <a:xfrm>
                <a:off x="5387" y="1004"/>
                <a:ext cx="11" cy="165"/>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w 32"/>
                  <a:gd name="T25" fmla="*/ 0 h 497"/>
                  <a:gd name="T26" fmla="*/ 0 w 32"/>
                  <a:gd name="T27" fmla="*/ 0 h 497"/>
                  <a:gd name="T28" fmla="*/ 0 w 32"/>
                  <a:gd name="T29" fmla="*/ 0 h 497"/>
                  <a:gd name="T30" fmla="*/ 0 w 32"/>
                  <a:gd name="T31" fmla="*/ 0 h 497"/>
                  <a:gd name="T32" fmla="*/ 0 w 32"/>
                  <a:gd name="T33" fmla="*/ 0 h 497"/>
                  <a:gd name="T34" fmla="*/ 0 w 32"/>
                  <a:gd name="T35" fmla="*/ 0 h 497"/>
                  <a:gd name="T36" fmla="*/ 0 w 32"/>
                  <a:gd name="T37" fmla="*/ 0 h 497"/>
                  <a:gd name="T38" fmla="*/ 0 w 32"/>
                  <a:gd name="T39" fmla="*/ 0 h 497"/>
                  <a:gd name="T40" fmla="*/ 0 w 32"/>
                  <a:gd name="T41" fmla="*/ 0 h 49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 h="497">
                    <a:moveTo>
                      <a:pt x="0" y="497"/>
                    </a:moveTo>
                    <a:lnTo>
                      <a:pt x="0" y="0"/>
                    </a:lnTo>
                    <a:lnTo>
                      <a:pt x="1" y="0"/>
                    </a:lnTo>
                    <a:lnTo>
                      <a:pt x="2" y="0"/>
                    </a:lnTo>
                    <a:lnTo>
                      <a:pt x="3" y="0"/>
                    </a:lnTo>
                    <a:lnTo>
                      <a:pt x="4" y="0"/>
                    </a:lnTo>
                    <a:lnTo>
                      <a:pt x="6" y="0"/>
                    </a:lnTo>
                    <a:lnTo>
                      <a:pt x="7" y="0"/>
                    </a:lnTo>
                    <a:lnTo>
                      <a:pt x="8" y="0"/>
                    </a:lnTo>
                    <a:lnTo>
                      <a:pt x="11" y="0"/>
                    </a:lnTo>
                    <a:lnTo>
                      <a:pt x="14" y="0"/>
                    </a:lnTo>
                    <a:lnTo>
                      <a:pt x="17" y="0"/>
                    </a:lnTo>
                    <a:lnTo>
                      <a:pt x="20" y="0"/>
                    </a:lnTo>
                    <a:lnTo>
                      <a:pt x="24" y="0"/>
                    </a:lnTo>
                    <a:lnTo>
                      <a:pt x="26" y="0"/>
                    </a:lnTo>
                    <a:lnTo>
                      <a:pt x="29" y="0"/>
                    </a:lnTo>
                    <a:lnTo>
                      <a:pt x="32" y="0"/>
                    </a:lnTo>
                    <a:lnTo>
                      <a:pt x="32" y="481"/>
                    </a:lnTo>
                    <a:lnTo>
                      <a:pt x="15"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83" name="Freeform 4101"/>
              <p:cNvSpPr>
                <a:spLocks noChangeAspect="1"/>
              </p:cNvSpPr>
              <p:nvPr/>
            </p:nvSpPr>
            <p:spPr bwMode="auto">
              <a:xfrm>
                <a:off x="5393" y="1004"/>
                <a:ext cx="10" cy="165"/>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7">
                    <a:moveTo>
                      <a:pt x="0" y="497"/>
                    </a:moveTo>
                    <a:lnTo>
                      <a:pt x="0" y="0"/>
                    </a:lnTo>
                    <a:lnTo>
                      <a:pt x="4" y="0"/>
                    </a:lnTo>
                    <a:lnTo>
                      <a:pt x="9" y="0"/>
                    </a:lnTo>
                    <a:lnTo>
                      <a:pt x="12" y="0"/>
                    </a:lnTo>
                    <a:lnTo>
                      <a:pt x="16" y="0"/>
                    </a:lnTo>
                    <a:lnTo>
                      <a:pt x="20" y="1"/>
                    </a:lnTo>
                    <a:lnTo>
                      <a:pt x="25" y="1"/>
                    </a:lnTo>
                    <a:lnTo>
                      <a:pt x="28" y="1"/>
                    </a:lnTo>
                    <a:lnTo>
                      <a:pt x="32" y="1"/>
                    </a:lnTo>
                    <a:lnTo>
                      <a:pt x="32" y="466"/>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84" name="Freeform 4102"/>
              <p:cNvSpPr>
                <a:spLocks noChangeAspect="1"/>
              </p:cNvSpPr>
              <p:nvPr/>
            </p:nvSpPr>
            <p:spPr bwMode="auto">
              <a:xfrm>
                <a:off x="5398" y="1004"/>
                <a:ext cx="11" cy="160"/>
              </a:xfrm>
              <a:custGeom>
                <a:avLst/>
                <a:gdLst>
                  <a:gd name="T0" fmla="*/ 0 w 32"/>
                  <a:gd name="T1" fmla="*/ 0 h 481"/>
                  <a:gd name="T2" fmla="*/ 0 w 32"/>
                  <a:gd name="T3" fmla="*/ 0 h 481"/>
                  <a:gd name="T4" fmla="*/ 0 w 32"/>
                  <a:gd name="T5" fmla="*/ 0 h 481"/>
                  <a:gd name="T6" fmla="*/ 0 w 32"/>
                  <a:gd name="T7" fmla="*/ 0 h 481"/>
                  <a:gd name="T8" fmla="*/ 0 w 32"/>
                  <a:gd name="T9" fmla="*/ 0 h 481"/>
                  <a:gd name="T10" fmla="*/ 0 w 32"/>
                  <a:gd name="T11" fmla="*/ 0 h 481"/>
                  <a:gd name="T12" fmla="*/ 0 w 32"/>
                  <a:gd name="T13" fmla="*/ 0 h 481"/>
                  <a:gd name="T14" fmla="*/ 0 w 32"/>
                  <a:gd name="T15" fmla="*/ 0 h 481"/>
                  <a:gd name="T16" fmla="*/ 0 w 32"/>
                  <a:gd name="T17" fmla="*/ 0 h 481"/>
                  <a:gd name="T18" fmla="*/ 0 w 32"/>
                  <a:gd name="T19" fmla="*/ 0 h 481"/>
                  <a:gd name="T20" fmla="*/ 0 w 32"/>
                  <a:gd name="T21" fmla="*/ 0 h 481"/>
                  <a:gd name="T22" fmla="*/ 0 w 32"/>
                  <a:gd name="T23" fmla="*/ 0 h 4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81">
                    <a:moveTo>
                      <a:pt x="0" y="481"/>
                    </a:moveTo>
                    <a:lnTo>
                      <a:pt x="0" y="0"/>
                    </a:lnTo>
                    <a:lnTo>
                      <a:pt x="4" y="1"/>
                    </a:lnTo>
                    <a:lnTo>
                      <a:pt x="9" y="1"/>
                    </a:lnTo>
                    <a:lnTo>
                      <a:pt x="13" y="1"/>
                    </a:lnTo>
                    <a:lnTo>
                      <a:pt x="16" y="1"/>
                    </a:lnTo>
                    <a:lnTo>
                      <a:pt x="20" y="2"/>
                    </a:lnTo>
                    <a:lnTo>
                      <a:pt x="25" y="2"/>
                    </a:lnTo>
                    <a:lnTo>
                      <a:pt x="29" y="3"/>
                    </a:lnTo>
                    <a:lnTo>
                      <a:pt x="32" y="3"/>
                    </a:lnTo>
                    <a:lnTo>
                      <a:pt x="32" y="448"/>
                    </a:lnTo>
                    <a:lnTo>
                      <a:pt x="0" y="4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85" name="Freeform 4103"/>
              <p:cNvSpPr>
                <a:spLocks noChangeAspect="1"/>
              </p:cNvSpPr>
              <p:nvPr/>
            </p:nvSpPr>
            <p:spPr bwMode="auto">
              <a:xfrm>
                <a:off x="5403" y="1004"/>
                <a:ext cx="11" cy="155"/>
              </a:xfrm>
              <a:custGeom>
                <a:avLst/>
                <a:gdLst>
                  <a:gd name="T0" fmla="*/ 0 w 33"/>
                  <a:gd name="T1" fmla="*/ 0 h 465"/>
                  <a:gd name="T2" fmla="*/ 0 w 33"/>
                  <a:gd name="T3" fmla="*/ 0 h 465"/>
                  <a:gd name="T4" fmla="*/ 0 w 33"/>
                  <a:gd name="T5" fmla="*/ 0 h 465"/>
                  <a:gd name="T6" fmla="*/ 0 w 33"/>
                  <a:gd name="T7" fmla="*/ 0 h 465"/>
                  <a:gd name="T8" fmla="*/ 0 w 33"/>
                  <a:gd name="T9" fmla="*/ 0 h 465"/>
                  <a:gd name="T10" fmla="*/ 0 w 33"/>
                  <a:gd name="T11" fmla="*/ 0 h 465"/>
                  <a:gd name="T12" fmla="*/ 0 w 33"/>
                  <a:gd name="T13" fmla="*/ 0 h 465"/>
                  <a:gd name="T14" fmla="*/ 0 w 33"/>
                  <a:gd name="T15" fmla="*/ 0 h 465"/>
                  <a:gd name="T16" fmla="*/ 0 w 33"/>
                  <a:gd name="T17" fmla="*/ 0 h 465"/>
                  <a:gd name="T18" fmla="*/ 0 w 33"/>
                  <a:gd name="T19" fmla="*/ 0 h 465"/>
                  <a:gd name="T20" fmla="*/ 0 w 33"/>
                  <a:gd name="T21" fmla="*/ 0 h 465"/>
                  <a:gd name="T22" fmla="*/ 0 w 33"/>
                  <a:gd name="T23" fmla="*/ 0 h 4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65">
                    <a:moveTo>
                      <a:pt x="0" y="465"/>
                    </a:moveTo>
                    <a:lnTo>
                      <a:pt x="0" y="0"/>
                    </a:lnTo>
                    <a:lnTo>
                      <a:pt x="4" y="1"/>
                    </a:lnTo>
                    <a:lnTo>
                      <a:pt x="9" y="1"/>
                    </a:lnTo>
                    <a:lnTo>
                      <a:pt x="13" y="2"/>
                    </a:lnTo>
                    <a:lnTo>
                      <a:pt x="17" y="2"/>
                    </a:lnTo>
                    <a:lnTo>
                      <a:pt x="20" y="3"/>
                    </a:lnTo>
                    <a:lnTo>
                      <a:pt x="25" y="3"/>
                    </a:lnTo>
                    <a:lnTo>
                      <a:pt x="29" y="4"/>
                    </a:lnTo>
                    <a:lnTo>
                      <a:pt x="33" y="4"/>
                    </a:lnTo>
                    <a:lnTo>
                      <a:pt x="33" y="432"/>
                    </a:lnTo>
                    <a:lnTo>
                      <a:pt x="0" y="4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86" name="Freeform 4104"/>
              <p:cNvSpPr>
                <a:spLocks noChangeAspect="1"/>
              </p:cNvSpPr>
              <p:nvPr/>
            </p:nvSpPr>
            <p:spPr bwMode="auto">
              <a:xfrm>
                <a:off x="5409" y="1005"/>
                <a:ext cx="11" cy="148"/>
              </a:xfrm>
              <a:custGeom>
                <a:avLst/>
                <a:gdLst>
                  <a:gd name="T0" fmla="*/ 0 w 33"/>
                  <a:gd name="T1" fmla="*/ 0 h 445"/>
                  <a:gd name="T2" fmla="*/ 0 w 33"/>
                  <a:gd name="T3" fmla="*/ 0 h 445"/>
                  <a:gd name="T4" fmla="*/ 0 w 33"/>
                  <a:gd name="T5" fmla="*/ 0 h 445"/>
                  <a:gd name="T6" fmla="*/ 0 w 33"/>
                  <a:gd name="T7" fmla="*/ 0 h 445"/>
                  <a:gd name="T8" fmla="*/ 0 w 33"/>
                  <a:gd name="T9" fmla="*/ 0 h 445"/>
                  <a:gd name="T10" fmla="*/ 0 w 33"/>
                  <a:gd name="T11" fmla="*/ 0 h 445"/>
                  <a:gd name="T12" fmla="*/ 0 w 33"/>
                  <a:gd name="T13" fmla="*/ 0 h 445"/>
                  <a:gd name="T14" fmla="*/ 0 w 33"/>
                  <a:gd name="T15" fmla="*/ 0 h 445"/>
                  <a:gd name="T16" fmla="*/ 0 w 33"/>
                  <a:gd name="T17" fmla="*/ 0 h 445"/>
                  <a:gd name="T18" fmla="*/ 0 w 33"/>
                  <a:gd name="T19" fmla="*/ 0 h 445"/>
                  <a:gd name="T20" fmla="*/ 0 w 33"/>
                  <a:gd name="T21" fmla="*/ 0 h 445"/>
                  <a:gd name="T22" fmla="*/ 0 w 33"/>
                  <a:gd name="T23" fmla="*/ 0 h 4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45">
                    <a:moveTo>
                      <a:pt x="0" y="445"/>
                    </a:moveTo>
                    <a:lnTo>
                      <a:pt x="0" y="0"/>
                    </a:lnTo>
                    <a:lnTo>
                      <a:pt x="4" y="1"/>
                    </a:lnTo>
                    <a:lnTo>
                      <a:pt x="9" y="1"/>
                    </a:lnTo>
                    <a:lnTo>
                      <a:pt x="13" y="2"/>
                    </a:lnTo>
                    <a:lnTo>
                      <a:pt x="17" y="2"/>
                    </a:lnTo>
                    <a:lnTo>
                      <a:pt x="21" y="3"/>
                    </a:lnTo>
                    <a:lnTo>
                      <a:pt x="25" y="4"/>
                    </a:lnTo>
                    <a:lnTo>
                      <a:pt x="29" y="4"/>
                    </a:lnTo>
                    <a:lnTo>
                      <a:pt x="33" y="5"/>
                    </a:lnTo>
                    <a:lnTo>
                      <a:pt x="33" y="414"/>
                    </a:lnTo>
                    <a:lnTo>
                      <a:pt x="0" y="44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87" name="Freeform 4105"/>
              <p:cNvSpPr>
                <a:spLocks noChangeAspect="1"/>
              </p:cNvSpPr>
              <p:nvPr/>
            </p:nvSpPr>
            <p:spPr bwMode="auto">
              <a:xfrm>
                <a:off x="5414" y="1005"/>
                <a:ext cx="11" cy="143"/>
              </a:xfrm>
              <a:custGeom>
                <a:avLst/>
                <a:gdLst>
                  <a:gd name="T0" fmla="*/ 0 w 32"/>
                  <a:gd name="T1" fmla="*/ 0 h 428"/>
                  <a:gd name="T2" fmla="*/ 0 w 32"/>
                  <a:gd name="T3" fmla="*/ 0 h 428"/>
                  <a:gd name="T4" fmla="*/ 0 w 32"/>
                  <a:gd name="T5" fmla="*/ 0 h 428"/>
                  <a:gd name="T6" fmla="*/ 0 w 32"/>
                  <a:gd name="T7" fmla="*/ 0 h 428"/>
                  <a:gd name="T8" fmla="*/ 0 w 32"/>
                  <a:gd name="T9" fmla="*/ 0 h 428"/>
                  <a:gd name="T10" fmla="*/ 0 w 32"/>
                  <a:gd name="T11" fmla="*/ 0 h 428"/>
                  <a:gd name="T12" fmla="*/ 0 w 32"/>
                  <a:gd name="T13" fmla="*/ 0 h 428"/>
                  <a:gd name="T14" fmla="*/ 0 w 32"/>
                  <a:gd name="T15" fmla="*/ 0 h 428"/>
                  <a:gd name="T16" fmla="*/ 0 w 32"/>
                  <a:gd name="T17" fmla="*/ 0 h 428"/>
                  <a:gd name="T18" fmla="*/ 0 w 32"/>
                  <a:gd name="T19" fmla="*/ 0 h 428"/>
                  <a:gd name="T20" fmla="*/ 0 w 32"/>
                  <a:gd name="T21" fmla="*/ 0 h 428"/>
                  <a:gd name="T22" fmla="*/ 0 w 32"/>
                  <a:gd name="T23" fmla="*/ 0 h 4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28">
                    <a:moveTo>
                      <a:pt x="0" y="428"/>
                    </a:moveTo>
                    <a:lnTo>
                      <a:pt x="0" y="0"/>
                    </a:lnTo>
                    <a:lnTo>
                      <a:pt x="3" y="1"/>
                    </a:lnTo>
                    <a:lnTo>
                      <a:pt x="8" y="2"/>
                    </a:lnTo>
                    <a:lnTo>
                      <a:pt x="12" y="2"/>
                    </a:lnTo>
                    <a:lnTo>
                      <a:pt x="16" y="3"/>
                    </a:lnTo>
                    <a:lnTo>
                      <a:pt x="20" y="4"/>
                    </a:lnTo>
                    <a:lnTo>
                      <a:pt x="24" y="5"/>
                    </a:lnTo>
                    <a:lnTo>
                      <a:pt x="28" y="5"/>
                    </a:lnTo>
                    <a:lnTo>
                      <a:pt x="32" y="7"/>
                    </a:lnTo>
                    <a:lnTo>
                      <a:pt x="32" y="396"/>
                    </a:lnTo>
                    <a:lnTo>
                      <a:pt x="0" y="42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88" name="Freeform 4106"/>
              <p:cNvSpPr>
                <a:spLocks noChangeAspect="1"/>
              </p:cNvSpPr>
              <p:nvPr/>
            </p:nvSpPr>
            <p:spPr bwMode="auto">
              <a:xfrm>
                <a:off x="5420" y="1006"/>
                <a:ext cx="10" cy="137"/>
              </a:xfrm>
              <a:custGeom>
                <a:avLst/>
                <a:gdLst>
                  <a:gd name="T0" fmla="*/ 0 w 32"/>
                  <a:gd name="T1" fmla="*/ 0 h 409"/>
                  <a:gd name="T2" fmla="*/ 0 w 32"/>
                  <a:gd name="T3" fmla="*/ 0 h 409"/>
                  <a:gd name="T4" fmla="*/ 0 w 32"/>
                  <a:gd name="T5" fmla="*/ 0 h 409"/>
                  <a:gd name="T6" fmla="*/ 0 w 32"/>
                  <a:gd name="T7" fmla="*/ 0 h 409"/>
                  <a:gd name="T8" fmla="*/ 0 w 32"/>
                  <a:gd name="T9" fmla="*/ 0 h 409"/>
                  <a:gd name="T10" fmla="*/ 0 w 32"/>
                  <a:gd name="T11" fmla="*/ 0 h 409"/>
                  <a:gd name="T12" fmla="*/ 0 w 32"/>
                  <a:gd name="T13" fmla="*/ 0 h 409"/>
                  <a:gd name="T14" fmla="*/ 0 w 32"/>
                  <a:gd name="T15" fmla="*/ 0 h 409"/>
                  <a:gd name="T16" fmla="*/ 0 w 32"/>
                  <a:gd name="T17" fmla="*/ 0 h 409"/>
                  <a:gd name="T18" fmla="*/ 0 w 32"/>
                  <a:gd name="T19" fmla="*/ 0 h 409"/>
                  <a:gd name="T20" fmla="*/ 0 w 32"/>
                  <a:gd name="T21" fmla="*/ 0 h 409"/>
                  <a:gd name="T22" fmla="*/ 0 w 32"/>
                  <a:gd name="T23" fmla="*/ 0 h 40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09">
                    <a:moveTo>
                      <a:pt x="0" y="409"/>
                    </a:moveTo>
                    <a:lnTo>
                      <a:pt x="0" y="0"/>
                    </a:lnTo>
                    <a:lnTo>
                      <a:pt x="4" y="1"/>
                    </a:lnTo>
                    <a:lnTo>
                      <a:pt x="8" y="2"/>
                    </a:lnTo>
                    <a:lnTo>
                      <a:pt x="12" y="2"/>
                    </a:lnTo>
                    <a:lnTo>
                      <a:pt x="16" y="4"/>
                    </a:lnTo>
                    <a:lnTo>
                      <a:pt x="20" y="5"/>
                    </a:lnTo>
                    <a:lnTo>
                      <a:pt x="25" y="6"/>
                    </a:lnTo>
                    <a:lnTo>
                      <a:pt x="28" y="7"/>
                    </a:lnTo>
                    <a:lnTo>
                      <a:pt x="32" y="8"/>
                    </a:lnTo>
                    <a:lnTo>
                      <a:pt x="32" y="377"/>
                    </a:lnTo>
                    <a:lnTo>
                      <a:pt x="0" y="40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89" name="Freeform 4107"/>
              <p:cNvSpPr>
                <a:spLocks noChangeAspect="1"/>
              </p:cNvSpPr>
              <p:nvPr/>
            </p:nvSpPr>
            <p:spPr bwMode="auto">
              <a:xfrm>
                <a:off x="5425" y="1008"/>
                <a:ext cx="11" cy="129"/>
              </a:xfrm>
              <a:custGeom>
                <a:avLst/>
                <a:gdLst>
                  <a:gd name="T0" fmla="*/ 0 w 32"/>
                  <a:gd name="T1" fmla="*/ 0 h 389"/>
                  <a:gd name="T2" fmla="*/ 0 w 32"/>
                  <a:gd name="T3" fmla="*/ 0 h 389"/>
                  <a:gd name="T4" fmla="*/ 0 w 32"/>
                  <a:gd name="T5" fmla="*/ 0 h 389"/>
                  <a:gd name="T6" fmla="*/ 0 w 32"/>
                  <a:gd name="T7" fmla="*/ 0 h 389"/>
                  <a:gd name="T8" fmla="*/ 0 w 32"/>
                  <a:gd name="T9" fmla="*/ 0 h 389"/>
                  <a:gd name="T10" fmla="*/ 0 w 32"/>
                  <a:gd name="T11" fmla="*/ 0 h 389"/>
                  <a:gd name="T12" fmla="*/ 0 w 32"/>
                  <a:gd name="T13" fmla="*/ 0 h 389"/>
                  <a:gd name="T14" fmla="*/ 0 w 32"/>
                  <a:gd name="T15" fmla="*/ 0 h 389"/>
                  <a:gd name="T16" fmla="*/ 0 w 32"/>
                  <a:gd name="T17" fmla="*/ 0 h 389"/>
                  <a:gd name="T18" fmla="*/ 0 w 32"/>
                  <a:gd name="T19" fmla="*/ 0 h 389"/>
                  <a:gd name="T20" fmla="*/ 0 w 32"/>
                  <a:gd name="T21" fmla="*/ 0 h 389"/>
                  <a:gd name="T22" fmla="*/ 0 w 32"/>
                  <a:gd name="T23" fmla="*/ 0 h 3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89">
                    <a:moveTo>
                      <a:pt x="0" y="389"/>
                    </a:moveTo>
                    <a:lnTo>
                      <a:pt x="0" y="0"/>
                    </a:lnTo>
                    <a:lnTo>
                      <a:pt x="4" y="1"/>
                    </a:lnTo>
                    <a:lnTo>
                      <a:pt x="9" y="2"/>
                    </a:lnTo>
                    <a:lnTo>
                      <a:pt x="12" y="3"/>
                    </a:lnTo>
                    <a:lnTo>
                      <a:pt x="16" y="4"/>
                    </a:lnTo>
                    <a:lnTo>
                      <a:pt x="20" y="5"/>
                    </a:lnTo>
                    <a:lnTo>
                      <a:pt x="24" y="6"/>
                    </a:lnTo>
                    <a:lnTo>
                      <a:pt x="29" y="7"/>
                    </a:lnTo>
                    <a:lnTo>
                      <a:pt x="32" y="9"/>
                    </a:lnTo>
                    <a:lnTo>
                      <a:pt x="32" y="357"/>
                    </a:lnTo>
                    <a:lnTo>
                      <a:pt x="0" y="3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90" name="Freeform 4108"/>
              <p:cNvSpPr>
                <a:spLocks noChangeAspect="1"/>
              </p:cNvSpPr>
              <p:nvPr/>
            </p:nvSpPr>
            <p:spPr bwMode="auto">
              <a:xfrm>
                <a:off x="5430" y="1009"/>
                <a:ext cx="11" cy="123"/>
              </a:xfrm>
              <a:custGeom>
                <a:avLst/>
                <a:gdLst>
                  <a:gd name="T0" fmla="*/ 0 w 33"/>
                  <a:gd name="T1" fmla="*/ 0 h 369"/>
                  <a:gd name="T2" fmla="*/ 0 w 33"/>
                  <a:gd name="T3" fmla="*/ 0 h 369"/>
                  <a:gd name="T4" fmla="*/ 0 w 33"/>
                  <a:gd name="T5" fmla="*/ 0 h 369"/>
                  <a:gd name="T6" fmla="*/ 0 w 33"/>
                  <a:gd name="T7" fmla="*/ 0 h 369"/>
                  <a:gd name="T8" fmla="*/ 0 w 33"/>
                  <a:gd name="T9" fmla="*/ 0 h 369"/>
                  <a:gd name="T10" fmla="*/ 0 w 33"/>
                  <a:gd name="T11" fmla="*/ 0 h 369"/>
                  <a:gd name="T12" fmla="*/ 0 w 33"/>
                  <a:gd name="T13" fmla="*/ 0 h 369"/>
                  <a:gd name="T14" fmla="*/ 0 w 33"/>
                  <a:gd name="T15" fmla="*/ 0 h 369"/>
                  <a:gd name="T16" fmla="*/ 0 w 33"/>
                  <a:gd name="T17" fmla="*/ 0 h 369"/>
                  <a:gd name="T18" fmla="*/ 0 w 33"/>
                  <a:gd name="T19" fmla="*/ 0 h 369"/>
                  <a:gd name="T20" fmla="*/ 0 w 33"/>
                  <a:gd name="T21" fmla="*/ 0 h 369"/>
                  <a:gd name="T22" fmla="*/ 0 w 33"/>
                  <a:gd name="T23" fmla="*/ 0 h 3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69">
                    <a:moveTo>
                      <a:pt x="0" y="369"/>
                    </a:moveTo>
                    <a:lnTo>
                      <a:pt x="0" y="0"/>
                    </a:lnTo>
                    <a:lnTo>
                      <a:pt x="4" y="1"/>
                    </a:lnTo>
                    <a:lnTo>
                      <a:pt x="8" y="2"/>
                    </a:lnTo>
                    <a:lnTo>
                      <a:pt x="13" y="3"/>
                    </a:lnTo>
                    <a:lnTo>
                      <a:pt x="16" y="5"/>
                    </a:lnTo>
                    <a:lnTo>
                      <a:pt x="20" y="6"/>
                    </a:lnTo>
                    <a:lnTo>
                      <a:pt x="24" y="7"/>
                    </a:lnTo>
                    <a:lnTo>
                      <a:pt x="29" y="8"/>
                    </a:lnTo>
                    <a:lnTo>
                      <a:pt x="33" y="10"/>
                    </a:lnTo>
                    <a:lnTo>
                      <a:pt x="33" y="336"/>
                    </a:lnTo>
                    <a:lnTo>
                      <a:pt x="0" y="36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91" name="Freeform 4109"/>
              <p:cNvSpPr>
                <a:spLocks noChangeAspect="1"/>
              </p:cNvSpPr>
              <p:nvPr/>
            </p:nvSpPr>
            <p:spPr bwMode="auto">
              <a:xfrm>
                <a:off x="5436" y="1011"/>
                <a:ext cx="11" cy="116"/>
              </a:xfrm>
              <a:custGeom>
                <a:avLst/>
                <a:gdLst>
                  <a:gd name="T0" fmla="*/ 0 w 33"/>
                  <a:gd name="T1" fmla="*/ 0 h 348"/>
                  <a:gd name="T2" fmla="*/ 0 w 33"/>
                  <a:gd name="T3" fmla="*/ 0 h 348"/>
                  <a:gd name="T4" fmla="*/ 0 w 33"/>
                  <a:gd name="T5" fmla="*/ 0 h 348"/>
                  <a:gd name="T6" fmla="*/ 0 w 33"/>
                  <a:gd name="T7" fmla="*/ 0 h 348"/>
                  <a:gd name="T8" fmla="*/ 0 w 33"/>
                  <a:gd name="T9" fmla="*/ 0 h 348"/>
                  <a:gd name="T10" fmla="*/ 0 w 33"/>
                  <a:gd name="T11" fmla="*/ 0 h 348"/>
                  <a:gd name="T12" fmla="*/ 0 w 33"/>
                  <a:gd name="T13" fmla="*/ 0 h 348"/>
                  <a:gd name="T14" fmla="*/ 0 w 33"/>
                  <a:gd name="T15" fmla="*/ 0 h 348"/>
                  <a:gd name="T16" fmla="*/ 0 w 33"/>
                  <a:gd name="T17" fmla="*/ 0 h 348"/>
                  <a:gd name="T18" fmla="*/ 0 w 33"/>
                  <a:gd name="T19" fmla="*/ 0 h 348"/>
                  <a:gd name="T20" fmla="*/ 0 w 33"/>
                  <a:gd name="T21" fmla="*/ 0 h 348"/>
                  <a:gd name="T22" fmla="*/ 0 w 33"/>
                  <a:gd name="T23" fmla="*/ 0 h 3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48">
                    <a:moveTo>
                      <a:pt x="0" y="348"/>
                    </a:moveTo>
                    <a:lnTo>
                      <a:pt x="0" y="0"/>
                    </a:lnTo>
                    <a:lnTo>
                      <a:pt x="4" y="1"/>
                    </a:lnTo>
                    <a:lnTo>
                      <a:pt x="8" y="2"/>
                    </a:lnTo>
                    <a:lnTo>
                      <a:pt x="13" y="3"/>
                    </a:lnTo>
                    <a:lnTo>
                      <a:pt x="17" y="5"/>
                    </a:lnTo>
                    <a:lnTo>
                      <a:pt x="20" y="6"/>
                    </a:lnTo>
                    <a:lnTo>
                      <a:pt x="24" y="8"/>
                    </a:lnTo>
                    <a:lnTo>
                      <a:pt x="29" y="10"/>
                    </a:lnTo>
                    <a:lnTo>
                      <a:pt x="33" y="11"/>
                    </a:lnTo>
                    <a:lnTo>
                      <a:pt x="33" y="315"/>
                    </a:lnTo>
                    <a:lnTo>
                      <a:pt x="0" y="3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92" name="Freeform 4110"/>
              <p:cNvSpPr>
                <a:spLocks noChangeAspect="1"/>
              </p:cNvSpPr>
              <p:nvPr/>
            </p:nvSpPr>
            <p:spPr bwMode="auto">
              <a:xfrm>
                <a:off x="5441" y="1012"/>
                <a:ext cx="11" cy="109"/>
              </a:xfrm>
              <a:custGeom>
                <a:avLst/>
                <a:gdLst>
                  <a:gd name="T0" fmla="*/ 0 w 32"/>
                  <a:gd name="T1" fmla="*/ 0 h 326"/>
                  <a:gd name="T2" fmla="*/ 0 w 32"/>
                  <a:gd name="T3" fmla="*/ 0 h 326"/>
                  <a:gd name="T4" fmla="*/ 0 w 32"/>
                  <a:gd name="T5" fmla="*/ 0 h 326"/>
                  <a:gd name="T6" fmla="*/ 0 w 32"/>
                  <a:gd name="T7" fmla="*/ 0 h 326"/>
                  <a:gd name="T8" fmla="*/ 0 w 32"/>
                  <a:gd name="T9" fmla="*/ 0 h 326"/>
                  <a:gd name="T10" fmla="*/ 0 w 32"/>
                  <a:gd name="T11" fmla="*/ 0 h 326"/>
                  <a:gd name="T12" fmla="*/ 0 w 32"/>
                  <a:gd name="T13" fmla="*/ 0 h 326"/>
                  <a:gd name="T14" fmla="*/ 0 w 32"/>
                  <a:gd name="T15" fmla="*/ 0 h 326"/>
                  <a:gd name="T16" fmla="*/ 0 w 32"/>
                  <a:gd name="T17" fmla="*/ 0 h 326"/>
                  <a:gd name="T18" fmla="*/ 0 w 32"/>
                  <a:gd name="T19" fmla="*/ 0 h 326"/>
                  <a:gd name="T20" fmla="*/ 0 w 32"/>
                  <a:gd name="T21" fmla="*/ 0 h 326"/>
                  <a:gd name="T22" fmla="*/ 0 w 32"/>
                  <a:gd name="T23" fmla="*/ 0 h 3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26">
                    <a:moveTo>
                      <a:pt x="0" y="326"/>
                    </a:moveTo>
                    <a:lnTo>
                      <a:pt x="0" y="0"/>
                    </a:lnTo>
                    <a:lnTo>
                      <a:pt x="3" y="1"/>
                    </a:lnTo>
                    <a:lnTo>
                      <a:pt x="7" y="3"/>
                    </a:lnTo>
                    <a:lnTo>
                      <a:pt x="12" y="5"/>
                    </a:lnTo>
                    <a:lnTo>
                      <a:pt x="16" y="6"/>
                    </a:lnTo>
                    <a:lnTo>
                      <a:pt x="20" y="8"/>
                    </a:lnTo>
                    <a:lnTo>
                      <a:pt x="23" y="10"/>
                    </a:lnTo>
                    <a:lnTo>
                      <a:pt x="28" y="11"/>
                    </a:lnTo>
                    <a:lnTo>
                      <a:pt x="32" y="13"/>
                    </a:lnTo>
                    <a:lnTo>
                      <a:pt x="32" y="294"/>
                    </a:lnTo>
                    <a:lnTo>
                      <a:pt x="0" y="3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93" name="Freeform 4111"/>
              <p:cNvSpPr>
                <a:spLocks noChangeAspect="1"/>
              </p:cNvSpPr>
              <p:nvPr/>
            </p:nvSpPr>
            <p:spPr bwMode="auto">
              <a:xfrm>
                <a:off x="5447" y="1014"/>
                <a:ext cx="10" cy="102"/>
              </a:xfrm>
              <a:custGeom>
                <a:avLst/>
                <a:gdLst>
                  <a:gd name="T0" fmla="*/ 0 w 32"/>
                  <a:gd name="T1" fmla="*/ 0 h 304"/>
                  <a:gd name="T2" fmla="*/ 0 w 32"/>
                  <a:gd name="T3" fmla="*/ 0 h 304"/>
                  <a:gd name="T4" fmla="*/ 0 w 32"/>
                  <a:gd name="T5" fmla="*/ 0 h 304"/>
                  <a:gd name="T6" fmla="*/ 0 w 32"/>
                  <a:gd name="T7" fmla="*/ 0 h 304"/>
                  <a:gd name="T8" fmla="*/ 0 w 32"/>
                  <a:gd name="T9" fmla="*/ 0 h 304"/>
                  <a:gd name="T10" fmla="*/ 0 w 32"/>
                  <a:gd name="T11" fmla="*/ 0 h 304"/>
                  <a:gd name="T12" fmla="*/ 0 w 32"/>
                  <a:gd name="T13" fmla="*/ 0 h 304"/>
                  <a:gd name="T14" fmla="*/ 0 w 32"/>
                  <a:gd name="T15" fmla="*/ 0 h 304"/>
                  <a:gd name="T16" fmla="*/ 0 w 32"/>
                  <a:gd name="T17" fmla="*/ 0 h 304"/>
                  <a:gd name="T18" fmla="*/ 0 w 32"/>
                  <a:gd name="T19" fmla="*/ 0 h 304"/>
                  <a:gd name="T20" fmla="*/ 0 w 32"/>
                  <a:gd name="T21" fmla="*/ 0 h 304"/>
                  <a:gd name="T22" fmla="*/ 0 w 32"/>
                  <a:gd name="T23" fmla="*/ 0 h 30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04">
                    <a:moveTo>
                      <a:pt x="0" y="304"/>
                    </a:moveTo>
                    <a:lnTo>
                      <a:pt x="0" y="0"/>
                    </a:lnTo>
                    <a:lnTo>
                      <a:pt x="4" y="2"/>
                    </a:lnTo>
                    <a:lnTo>
                      <a:pt x="7" y="4"/>
                    </a:lnTo>
                    <a:lnTo>
                      <a:pt x="12" y="5"/>
                    </a:lnTo>
                    <a:lnTo>
                      <a:pt x="16" y="7"/>
                    </a:lnTo>
                    <a:lnTo>
                      <a:pt x="20" y="9"/>
                    </a:lnTo>
                    <a:lnTo>
                      <a:pt x="24" y="10"/>
                    </a:lnTo>
                    <a:lnTo>
                      <a:pt x="28" y="13"/>
                    </a:lnTo>
                    <a:lnTo>
                      <a:pt x="32" y="15"/>
                    </a:lnTo>
                    <a:lnTo>
                      <a:pt x="32" y="272"/>
                    </a:lnTo>
                    <a:lnTo>
                      <a:pt x="0" y="30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94" name="Freeform 4112"/>
              <p:cNvSpPr>
                <a:spLocks noChangeAspect="1"/>
              </p:cNvSpPr>
              <p:nvPr/>
            </p:nvSpPr>
            <p:spPr bwMode="auto">
              <a:xfrm>
                <a:off x="5452" y="1017"/>
                <a:ext cx="11" cy="93"/>
              </a:xfrm>
              <a:custGeom>
                <a:avLst/>
                <a:gdLst>
                  <a:gd name="T0" fmla="*/ 0 w 32"/>
                  <a:gd name="T1" fmla="*/ 0 h 281"/>
                  <a:gd name="T2" fmla="*/ 0 w 32"/>
                  <a:gd name="T3" fmla="*/ 0 h 281"/>
                  <a:gd name="T4" fmla="*/ 0 w 32"/>
                  <a:gd name="T5" fmla="*/ 0 h 281"/>
                  <a:gd name="T6" fmla="*/ 0 w 32"/>
                  <a:gd name="T7" fmla="*/ 0 h 281"/>
                  <a:gd name="T8" fmla="*/ 0 w 32"/>
                  <a:gd name="T9" fmla="*/ 0 h 281"/>
                  <a:gd name="T10" fmla="*/ 0 w 32"/>
                  <a:gd name="T11" fmla="*/ 0 h 281"/>
                  <a:gd name="T12" fmla="*/ 0 w 32"/>
                  <a:gd name="T13" fmla="*/ 0 h 281"/>
                  <a:gd name="T14" fmla="*/ 0 w 32"/>
                  <a:gd name="T15" fmla="*/ 0 h 281"/>
                  <a:gd name="T16" fmla="*/ 0 w 32"/>
                  <a:gd name="T17" fmla="*/ 0 h 281"/>
                  <a:gd name="T18" fmla="*/ 0 w 32"/>
                  <a:gd name="T19" fmla="*/ 0 h 281"/>
                  <a:gd name="T20" fmla="*/ 0 w 32"/>
                  <a:gd name="T21" fmla="*/ 0 h 281"/>
                  <a:gd name="T22" fmla="*/ 0 w 32"/>
                  <a:gd name="T23" fmla="*/ 0 h 2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81">
                    <a:moveTo>
                      <a:pt x="0" y="281"/>
                    </a:moveTo>
                    <a:lnTo>
                      <a:pt x="0" y="0"/>
                    </a:lnTo>
                    <a:lnTo>
                      <a:pt x="4" y="1"/>
                    </a:lnTo>
                    <a:lnTo>
                      <a:pt x="8" y="3"/>
                    </a:lnTo>
                    <a:lnTo>
                      <a:pt x="12" y="6"/>
                    </a:lnTo>
                    <a:lnTo>
                      <a:pt x="16" y="8"/>
                    </a:lnTo>
                    <a:lnTo>
                      <a:pt x="20" y="10"/>
                    </a:lnTo>
                    <a:lnTo>
                      <a:pt x="24" y="12"/>
                    </a:lnTo>
                    <a:lnTo>
                      <a:pt x="29" y="14"/>
                    </a:lnTo>
                    <a:lnTo>
                      <a:pt x="32" y="16"/>
                    </a:lnTo>
                    <a:lnTo>
                      <a:pt x="32" y="249"/>
                    </a:lnTo>
                    <a:lnTo>
                      <a:pt x="0" y="2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95" name="Freeform 4113"/>
              <p:cNvSpPr>
                <a:spLocks noChangeAspect="1"/>
              </p:cNvSpPr>
              <p:nvPr/>
            </p:nvSpPr>
            <p:spPr bwMode="auto">
              <a:xfrm>
                <a:off x="5457" y="1019"/>
                <a:ext cx="11" cy="86"/>
              </a:xfrm>
              <a:custGeom>
                <a:avLst/>
                <a:gdLst>
                  <a:gd name="T0" fmla="*/ 0 w 32"/>
                  <a:gd name="T1" fmla="*/ 0 h 257"/>
                  <a:gd name="T2" fmla="*/ 0 w 32"/>
                  <a:gd name="T3" fmla="*/ 0 h 257"/>
                  <a:gd name="T4" fmla="*/ 0 w 32"/>
                  <a:gd name="T5" fmla="*/ 0 h 257"/>
                  <a:gd name="T6" fmla="*/ 0 w 32"/>
                  <a:gd name="T7" fmla="*/ 0 h 257"/>
                  <a:gd name="T8" fmla="*/ 0 w 32"/>
                  <a:gd name="T9" fmla="*/ 0 h 257"/>
                  <a:gd name="T10" fmla="*/ 0 w 32"/>
                  <a:gd name="T11" fmla="*/ 0 h 257"/>
                  <a:gd name="T12" fmla="*/ 0 w 32"/>
                  <a:gd name="T13" fmla="*/ 0 h 257"/>
                  <a:gd name="T14" fmla="*/ 0 w 32"/>
                  <a:gd name="T15" fmla="*/ 0 h 257"/>
                  <a:gd name="T16" fmla="*/ 0 w 32"/>
                  <a:gd name="T17" fmla="*/ 0 h 257"/>
                  <a:gd name="T18" fmla="*/ 0 w 32"/>
                  <a:gd name="T19" fmla="*/ 0 h 257"/>
                  <a:gd name="T20" fmla="*/ 0 w 32"/>
                  <a:gd name="T21" fmla="*/ 0 h 257"/>
                  <a:gd name="T22" fmla="*/ 0 w 32"/>
                  <a:gd name="T23" fmla="*/ 0 h 2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257">
                    <a:moveTo>
                      <a:pt x="0" y="257"/>
                    </a:moveTo>
                    <a:lnTo>
                      <a:pt x="0" y="0"/>
                    </a:lnTo>
                    <a:lnTo>
                      <a:pt x="4" y="2"/>
                    </a:lnTo>
                    <a:lnTo>
                      <a:pt x="8" y="4"/>
                    </a:lnTo>
                    <a:lnTo>
                      <a:pt x="13" y="6"/>
                    </a:lnTo>
                    <a:lnTo>
                      <a:pt x="16" y="8"/>
                    </a:lnTo>
                    <a:lnTo>
                      <a:pt x="20" y="10"/>
                    </a:lnTo>
                    <a:lnTo>
                      <a:pt x="24" y="12"/>
                    </a:lnTo>
                    <a:lnTo>
                      <a:pt x="29" y="15"/>
                    </a:lnTo>
                    <a:lnTo>
                      <a:pt x="32" y="17"/>
                    </a:lnTo>
                    <a:lnTo>
                      <a:pt x="32" y="224"/>
                    </a:lnTo>
                    <a:lnTo>
                      <a:pt x="0" y="25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96" name="Freeform 4114"/>
              <p:cNvSpPr>
                <a:spLocks noChangeAspect="1"/>
              </p:cNvSpPr>
              <p:nvPr/>
            </p:nvSpPr>
            <p:spPr bwMode="auto">
              <a:xfrm>
                <a:off x="5463" y="1022"/>
                <a:ext cx="11" cy="78"/>
              </a:xfrm>
              <a:custGeom>
                <a:avLst/>
                <a:gdLst>
                  <a:gd name="T0" fmla="*/ 0 w 33"/>
                  <a:gd name="T1" fmla="*/ 0 h 233"/>
                  <a:gd name="T2" fmla="*/ 0 w 33"/>
                  <a:gd name="T3" fmla="*/ 0 h 233"/>
                  <a:gd name="T4" fmla="*/ 0 w 33"/>
                  <a:gd name="T5" fmla="*/ 0 h 233"/>
                  <a:gd name="T6" fmla="*/ 0 w 33"/>
                  <a:gd name="T7" fmla="*/ 0 h 233"/>
                  <a:gd name="T8" fmla="*/ 0 w 33"/>
                  <a:gd name="T9" fmla="*/ 0 h 233"/>
                  <a:gd name="T10" fmla="*/ 0 w 33"/>
                  <a:gd name="T11" fmla="*/ 0 h 233"/>
                  <a:gd name="T12" fmla="*/ 0 w 33"/>
                  <a:gd name="T13" fmla="*/ 0 h 233"/>
                  <a:gd name="T14" fmla="*/ 0 w 33"/>
                  <a:gd name="T15" fmla="*/ 0 h 233"/>
                  <a:gd name="T16" fmla="*/ 0 w 33"/>
                  <a:gd name="T17" fmla="*/ 0 h 233"/>
                  <a:gd name="T18" fmla="*/ 0 w 33"/>
                  <a:gd name="T19" fmla="*/ 0 h 233"/>
                  <a:gd name="T20" fmla="*/ 0 w 33"/>
                  <a:gd name="T21" fmla="*/ 0 h 233"/>
                  <a:gd name="T22" fmla="*/ 0 w 33"/>
                  <a:gd name="T23" fmla="*/ 0 h 2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233">
                    <a:moveTo>
                      <a:pt x="0" y="233"/>
                    </a:moveTo>
                    <a:lnTo>
                      <a:pt x="0" y="0"/>
                    </a:lnTo>
                    <a:lnTo>
                      <a:pt x="4" y="2"/>
                    </a:lnTo>
                    <a:lnTo>
                      <a:pt x="8" y="4"/>
                    </a:lnTo>
                    <a:lnTo>
                      <a:pt x="13" y="7"/>
                    </a:lnTo>
                    <a:lnTo>
                      <a:pt x="17" y="9"/>
                    </a:lnTo>
                    <a:lnTo>
                      <a:pt x="20" y="12"/>
                    </a:lnTo>
                    <a:lnTo>
                      <a:pt x="24" y="14"/>
                    </a:lnTo>
                    <a:lnTo>
                      <a:pt x="29" y="16"/>
                    </a:lnTo>
                    <a:lnTo>
                      <a:pt x="33" y="19"/>
                    </a:lnTo>
                    <a:lnTo>
                      <a:pt x="33" y="200"/>
                    </a:lnTo>
                    <a:lnTo>
                      <a:pt x="0" y="23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97" name="Freeform 4115"/>
              <p:cNvSpPr>
                <a:spLocks noChangeAspect="1"/>
              </p:cNvSpPr>
              <p:nvPr/>
            </p:nvSpPr>
            <p:spPr bwMode="auto">
              <a:xfrm>
                <a:off x="5468" y="1025"/>
                <a:ext cx="11" cy="69"/>
              </a:xfrm>
              <a:custGeom>
                <a:avLst/>
                <a:gdLst>
                  <a:gd name="T0" fmla="*/ 0 w 33"/>
                  <a:gd name="T1" fmla="*/ 0 h 207"/>
                  <a:gd name="T2" fmla="*/ 0 w 33"/>
                  <a:gd name="T3" fmla="*/ 0 h 207"/>
                  <a:gd name="T4" fmla="*/ 0 w 33"/>
                  <a:gd name="T5" fmla="*/ 0 h 207"/>
                  <a:gd name="T6" fmla="*/ 0 w 33"/>
                  <a:gd name="T7" fmla="*/ 0 h 207"/>
                  <a:gd name="T8" fmla="*/ 0 w 33"/>
                  <a:gd name="T9" fmla="*/ 0 h 207"/>
                  <a:gd name="T10" fmla="*/ 0 w 33"/>
                  <a:gd name="T11" fmla="*/ 0 h 207"/>
                  <a:gd name="T12" fmla="*/ 0 w 33"/>
                  <a:gd name="T13" fmla="*/ 0 h 207"/>
                  <a:gd name="T14" fmla="*/ 0 w 33"/>
                  <a:gd name="T15" fmla="*/ 0 h 207"/>
                  <a:gd name="T16" fmla="*/ 0 w 33"/>
                  <a:gd name="T17" fmla="*/ 0 h 207"/>
                  <a:gd name="T18" fmla="*/ 0 w 33"/>
                  <a:gd name="T19" fmla="*/ 0 h 207"/>
                  <a:gd name="T20" fmla="*/ 0 w 33"/>
                  <a:gd name="T21" fmla="*/ 0 h 207"/>
                  <a:gd name="T22" fmla="*/ 0 w 33"/>
                  <a:gd name="T23" fmla="*/ 0 h 2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207">
                    <a:moveTo>
                      <a:pt x="0" y="207"/>
                    </a:moveTo>
                    <a:lnTo>
                      <a:pt x="0" y="0"/>
                    </a:lnTo>
                    <a:lnTo>
                      <a:pt x="4" y="3"/>
                    </a:lnTo>
                    <a:lnTo>
                      <a:pt x="8" y="5"/>
                    </a:lnTo>
                    <a:lnTo>
                      <a:pt x="13" y="7"/>
                    </a:lnTo>
                    <a:lnTo>
                      <a:pt x="17" y="10"/>
                    </a:lnTo>
                    <a:lnTo>
                      <a:pt x="21" y="12"/>
                    </a:lnTo>
                    <a:lnTo>
                      <a:pt x="24" y="16"/>
                    </a:lnTo>
                    <a:lnTo>
                      <a:pt x="29" y="19"/>
                    </a:lnTo>
                    <a:lnTo>
                      <a:pt x="33" y="21"/>
                    </a:lnTo>
                    <a:lnTo>
                      <a:pt x="33" y="175"/>
                    </a:lnTo>
                    <a:lnTo>
                      <a:pt x="0" y="2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98" name="Freeform 4116"/>
              <p:cNvSpPr>
                <a:spLocks noChangeAspect="1"/>
              </p:cNvSpPr>
              <p:nvPr/>
            </p:nvSpPr>
            <p:spPr bwMode="auto">
              <a:xfrm>
                <a:off x="5474" y="1028"/>
                <a:ext cx="10" cy="61"/>
              </a:xfrm>
              <a:custGeom>
                <a:avLst/>
                <a:gdLst>
                  <a:gd name="T0" fmla="*/ 0 w 32"/>
                  <a:gd name="T1" fmla="*/ 0 h 181"/>
                  <a:gd name="T2" fmla="*/ 0 w 32"/>
                  <a:gd name="T3" fmla="*/ 0 h 181"/>
                  <a:gd name="T4" fmla="*/ 0 w 32"/>
                  <a:gd name="T5" fmla="*/ 0 h 181"/>
                  <a:gd name="T6" fmla="*/ 0 w 32"/>
                  <a:gd name="T7" fmla="*/ 0 h 181"/>
                  <a:gd name="T8" fmla="*/ 0 w 32"/>
                  <a:gd name="T9" fmla="*/ 0 h 181"/>
                  <a:gd name="T10" fmla="*/ 0 w 32"/>
                  <a:gd name="T11" fmla="*/ 0 h 181"/>
                  <a:gd name="T12" fmla="*/ 0 w 32"/>
                  <a:gd name="T13" fmla="*/ 0 h 181"/>
                  <a:gd name="T14" fmla="*/ 0 w 32"/>
                  <a:gd name="T15" fmla="*/ 0 h 181"/>
                  <a:gd name="T16" fmla="*/ 0 w 32"/>
                  <a:gd name="T17" fmla="*/ 0 h 181"/>
                  <a:gd name="T18" fmla="*/ 0 w 32"/>
                  <a:gd name="T19" fmla="*/ 0 h 181"/>
                  <a:gd name="T20" fmla="*/ 0 w 32"/>
                  <a:gd name="T21" fmla="*/ 0 h 181"/>
                  <a:gd name="T22" fmla="*/ 0 w 32"/>
                  <a:gd name="T23" fmla="*/ 0 h 1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181">
                    <a:moveTo>
                      <a:pt x="0" y="181"/>
                    </a:moveTo>
                    <a:lnTo>
                      <a:pt x="0" y="0"/>
                    </a:lnTo>
                    <a:lnTo>
                      <a:pt x="4" y="2"/>
                    </a:lnTo>
                    <a:lnTo>
                      <a:pt x="7" y="6"/>
                    </a:lnTo>
                    <a:lnTo>
                      <a:pt x="12" y="9"/>
                    </a:lnTo>
                    <a:lnTo>
                      <a:pt x="16" y="11"/>
                    </a:lnTo>
                    <a:lnTo>
                      <a:pt x="20" y="14"/>
                    </a:lnTo>
                    <a:lnTo>
                      <a:pt x="24" y="17"/>
                    </a:lnTo>
                    <a:lnTo>
                      <a:pt x="27" y="20"/>
                    </a:lnTo>
                    <a:lnTo>
                      <a:pt x="32" y="23"/>
                    </a:lnTo>
                    <a:lnTo>
                      <a:pt x="32" y="149"/>
                    </a:lnTo>
                    <a:lnTo>
                      <a:pt x="0" y="1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99" name="Freeform 4117"/>
              <p:cNvSpPr>
                <a:spLocks noChangeAspect="1"/>
              </p:cNvSpPr>
              <p:nvPr/>
            </p:nvSpPr>
            <p:spPr bwMode="auto">
              <a:xfrm>
                <a:off x="5479" y="1032"/>
                <a:ext cx="11" cy="51"/>
              </a:xfrm>
              <a:custGeom>
                <a:avLst/>
                <a:gdLst>
                  <a:gd name="T0" fmla="*/ 0 w 32"/>
                  <a:gd name="T1" fmla="*/ 0 h 154"/>
                  <a:gd name="T2" fmla="*/ 0 w 32"/>
                  <a:gd name="T3" fmla="*/ 0 h 154"/>
                  <a:gd name="T4" fmla="*/ 0 w 32"/>
                  <a:gd name="T5" fmla="*/ 0 h 154"/>
                  <a:gd name="T6" fmla="*/ 0 w 32"/>
                  <a:gd name="T7" fmla="*/ 0 h 154"/>
                  <a:gd name="T8" fmla="*/ 0 w 32"/>
                  <a:gd name="T9" fmla="*/ 0 h 154"/>
                  <a:gd name="T10" fmla="*/ 0 w 32"/>
                  <a:gd name="T11" fmla="*/ 0 h 154"/>
                  <a:gd name="T12" fmla="*/ 0 w 32"/>
                  <a:gd name="T13" fmla="*/ 0 h 154"/>
                  <a:gd name="T14" fmla="*/ 0 w 32"/>
                  <a:gd name="T15" fmla="*/ 0 h 154"/>
                  <a:gd name="T16" fmla="*/ 0 w 32"/>
                  <a:gd name="T17" fmla="*/ 0 h 154"/>
                  <a:gd name="T18" fmla="*/ 0 w 32"/>
                  <a:gd name="T19" fmla="*/ 0 h 154"/>
                  <a:gd name="T20" fmla="*/ 0 w 32"/>
                  <a:gd name="T21" fmla="*/ 0 h 154"/>
                  <a:gd name="T22" fmla="*/ 0 w 32"/>
                  <a:gd name="T23" fmla="*/ 0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154">
                    <a:moveTo>
                      <a:pt x="0" y="154"/>
                    </a:moveTo>
                    <a:lnTo>
                      <a:pt x="0" y="0"/>
                    </a:lnTo>
                    <a:lnTo>
                      <a:pt x="4" y="3"/>
                    </a:lnTo>
                    <a:lnTo>
                      <a:pt x="8" y="6"/>
                    </a:lnTo>
                    <a:lnTo>
                      <a:pt x="11" y="9"/>
                    </a:lnTo>
                    <a:lnTo>
                      <a:pt x="16" y="13"/>
                    </a:lnTo>
                    <a:lnTo>
                      <a:pt x="20" y="16"/>
                    </a:lnTo>
                    <a:lnTo>
                      <a:pt x="24" y="19"/>
                    </a:lnTo>
                    <a:lnTo>
                      <a:pt x="29" y="22"/>
                    </a:lnTo>
                    <a:lnTo>
                      <a:pt x="32" y="25"/>
                    </a:lnTo>
                    <a:lnTo>
                      <a:pt x="32" y="122"/>
                    </a:lnTo>
                    <a:lnTo>
                      <a:pt x="0" y="15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00" name="Freeform 4118"/>
              <p:cNvSpPr>
                <a:spLocks noChangeAspect="1"/>
              </p:cNvSpPr>
              <p:nvPr/>
            </p:nvSpPr>
            <p:spPr bwMode="auto">
              <a:xfrm>
                <a:off x="5484" y="1036"/>
                <a:ext cx="11" cy="42"/>
              </a:xfrm>
              <a:custGeom>
                <a:avLst/>
                <a:gdLst>
                  <a:gd name="T0" fmla="*/ 0 w 32"/>
                  <a:gd name="T1" fmla="*/ 0 h 126"/>
                  <a:gd name="T2" fmla="*/ 0 w 32"/>
                  <a:gd name="T3" fmla="*/ 0 h 126"/>
                  <a:gd name="T4" fmla="*/ 0 w 32"/>
                  <a:gd name="T5" fmla="*/ 0 h 126"/>
                  <a:gd name="T6" fmla="*/ 0 w 32"/>
                  <a:gd name="T7" fmla="*/ 0 h 126"/>
                  <a:gd name="T8" fmla="*/ 0 w 32"/>
                  <a:gd name="T9" fmla="*/ 0 h 126"/>
                  <a:gd name="T10" fmla="*/ 0 w 32"/>
                  <a:gd name="T11" fmla="*/ 0 h 126"/>
                  <a:gd name="T12" fmla="*/ 0 w 32"/>
                  <a:gd name="T13" fmla="*/ 0 h 126"/>
                  <a:gd name="T14" fmla="*/ 0 w 32"/>
                  <a:gd name="T15" fmla="*/ 0 h 126"/>
                  <a:gd name="T16" fmla="*/ 0 w 32"/>
                  <a:gd name="T17" fmla="*/ 0 h 126"/>
                  <a:gd name="T18" fmla="*/ 0 w 32"/>
                  <a:gd name="T19" fmla="*/ 0 h 126"/>
                  <a:gd name="T20" fmla="*/ 0 w 32"/>
                  <a:gd name="T21" fmla="*/ 0 h 126"/>
                  <a:gd name="T22" fmla="*/ 0 w 32"/>
                  <a:gd name="T23" fmla="*/ 0 h 1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126">
                    <a:moveTo>
                      <a:pt x="0" y="126"/>
                    </a:moveTo>
                    <a:lnTo>
                      <a:pt x="0" y="0"/>
                    </a:lnTo>
                    <a:lnTo>
                      <a:pt x="4" y="4"/>
                    </a:lnTo>
                    <a:lnTo>
                      <a:pt x="8" y="7"/>
                    </a:lnTo>
                    <a:lnTo>
                      <a:pt x="13" y="10"/>
                    </a:lnTo>
                    <a:lnTo>
                      <a:pt x="17" y="13"/>
                    </a:lnTo>
                    <a:lnTo>
                      <a:pt x="20" y="17"/>
                    </a:lnTo>
                    <a:lnTo>
                      <a:pt x="24" y="21"/>
                    </a:lnTo>
                    <a:lnTo>
                      <a:pt x="28" y="24"/>
                    </a:lnTo>
                    <a:lnTo>
                      <a:pt x="32" y="28"/>
                    </a:lnTo>
                    <a:lnTo>
                      <a:pt x="32" y="93"/>
                    </a:lnTo>
                    <a:lnTo>
                      <a:pt x="0" y="1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01" name="Freeform 4119"/>
              <p:cNvSpPr>
                <a:spLocks noChangeAspect="1"/>
              </p:cNvSpPr>
              <p:nvPr/>
            </p:nvSpPr>
            <p:spPr bwMode="auto">
              <a:xfrm>
                <a:off x="5490" y="1040"/>
                <a:ext cx="11" cy="33"/>
              </a:xfrm>
              <a:custGeom>
                <a:avLst/>
                <a:gdLst>
                  <a:gd name="T0" fmla="*/ 0 w 33"/>
                  <a:gd name="T1" fmla="*/ 0 h 97"/>
                  <a:gd name="T2" fmla="*/ 0 w 33"/>
                  <a:gd name="T3" fmla="*/ 0 h 97"/>
                  <a:gd name="T4" fmla="*/ 0 w 33"/>
                  <a:gd name="T5" fmla="*/ 0 h 97"/>
                  <a:gd name="T6" fmla="*/ 0 w 33"/>
                  <a:gd name="T7" fmla="*/ 0 h 97"/>
                  <a:gd name="T8" fmla="*/ 0 w 33"/>
                  <a:gd name="T9" fmla="*/ 0 h 97"/>
                  <a:gd name="T10" fmla="*/ 0 w 33"/>
                  <a:gd name="T11" fmla="*/ 0 h 97"/>
                  <a:gd name="T12" fmla="*/ 0 w 33"/>
                  <a:gd name="T13" fmla="*/ 0 h 97"/>
                  <a:gd name="T14" fmla="*/ 0 w 33"/>
                  <a:gd name="T15" fmla="*/ 0 h 97"/>
                  <a:gd name="T16" fmla="*/ 0 w 33"/>
                  <a:gd name="T17" fmla="*/ 0 h 97"/>
                  <a:gd name="T18" fmla="*/ 0 w 33"/>
                  <a:gd name="T19" fmla="*/ 0 h 97"/>
                  <a:gd name="T20" fmla="*/ 0 w 33"/>
                  <a:gd name="T21" fmla="*/ 0 h 97"/>
                  <a:gd name="T22" fmla="*/ 0 w 33"/>
                  <a:gd name="T23" fmla="*/ 0 h 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97">
                    <a:moveTo>
                      <a:pt x="0" y="97"/>
                    </a:moveTo>
                    <a:lnTo>
                      <a:pt x="0" y="0"/>
                    </a:lnTo>
                    <a:lnTo>
                      <a:pt x="4" y="4"/>
                    </a:lnTo>
                    <a:lnTo>
                      <a:pt x="8" y="8"/>
                    </a:lnTo>
                    <a:lnTo>
                      <a:pt x="12" y="11"/>
                    </a:lnTo>
                    <a:lnTo>
                      <a:pt x="17" y="15"/>
                    </a:lnTo>
                    <a:lnTo>
                      <a:pt x="21" y="18"/>
                    </a:lnTo>
                    <a:lnTo>
                      <a:pt x="24" y="23"/>
                    </a:lnTo>
                    <a:lnTo>
                      <a:pt x="28" y="27"/>
                    </a:lnTo>
                    <a:lnTo>
                      <a:pt x="33" y="31"/>
                    </a:lnTo>
                    <a:lnTo>
                      <a:pt x="33" y="64"/>
                    </a:lnTo>
                    <a:lnTo>
                      <a:pt x="0" y="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02" name="Freeform 4120"/>
              <p:cNvSpPr>
                <a:spLocks noChangeAspect="1"/>
              </p:cNvSpPr>
              <p:nvPr/>
            </p:nvSpPr>
            <p:spPr bwMode="auto">
              <a:xfrm>
                <a:off x="5495" y="1045"/>
                <a:ext cx="11" cy="22"/>
              </a:xfrm>
              <a:custGeom>
                <a:avLst/>
                <a:gdLst>
                  <a:gd name="T0" fmla="*/ 0 w 33"/>
                  <a:gd name="T1" fmla="*/ 0 h 65"/>
                  <a:gd name="T2" fmla="*/ 0 w 33"/>
                  <a:gd name="T3" fmla="*/ 0 h 65"/>
                  <a:gd name="T4" fmla="*/ 0 w 33"/>
                  <a:gd name="T5" fmla="*/ 0 h 65"/>
                  <a:gd name="T6" fmla="*/ 0 w 33"/>
                  <a:gd name="T7" fmla="*/ 0 h 65"/>
                  <a:gd name="T8" fmla="*/ 0 w 33"/>
                  <a:gd name="T9" fmla="*/ 0 h 65"/>
                  <a:gd name="T10" fmla="*/ 0 w 33"/>
                  <a:gd name="T11" fmla="*/ 0 h 65"/>
                  <a:gd name="T12" fmla="*/ 0 w 33"/>
                  <a:gd name="T13" fmla="*/ 0 h 65"/>
                  <a:gd name="T14" fmla="*/ 0 w 33"/>
                  <a:gd name="T15" fmla="*/ 0 h 65"/>
                  <a:gd name="T16" fmla="*/ 0 w 33"/>
                  <a:gd name="T17" fmla="*/ 0 h 65"/>
                  <a:gd name="T18" fmla="*/ 0 w 33"/>
                  <a:gd name="T19" fmla="*/ 0 h 65"/>
                  <a:gd name="T20" fmla="*/ 0 w 33"/>
                  <a:gd name="T21" fmla="*/ 0 h 65"/>
                  <a:gd name="T22" fmla="*/ 0 w 33"/>
                  <a:gd name="T23" fmla="*/ 0 h 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65">
                    <a:moveTo>
                      <a:pt x="0" y="65"/>
                    </a:moveTo>
                    <a:lnTo>
                      <a:pt x="0" y="0"/>
                    </a:lnTo>
                    <a:lnTo>
                      <a:pt x="4" y="3"/>
                    </a:lnTo>
                    <a:lnTo>
                      <a:pt x="8" y="8"/>
                    </a:lnTo>
                    <a:lnTo>
                      <a:pt x="12" y="12"/>
                    </a:lnTo>
                    <a:lnTo>
                      <a:pt x="17" y="16"/>
                    </a:lnTo>
                    <a:lnTo>
                      <a:pt x="21" y="21"/>
                    </a:lnTo>
                    <a:lnTo>
                      <a:pt x="24" y="25"/>
                    </a:lnTo>
                    <a:lnTo>
                      <a:pt x="28" y="29"/>
                    </a:lnTo>
                    <a:lnTo>
                      <a:pt x="33" y="33"/>
                    </a:lnTo>
                    <a:lnTo>
                      <a:pt x="0" y="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03" name="Freeform 4121"/>
              <p:cNvSpPr>
                <a:spLocks noChangeAspect="1"/>
              </p:cNvSpPr>
              <p:nvPr/>
            </p:nvSpPr>
            <p:spPr bwMode="auto">
              <a:xfrm>
                <a:off x="5501" y="1051"/>
                <a:ext cx="5" cy="11"/>
              </a:xfrm>
              <a:custGeom>
                <a:avLst/>
                <a:gdLst>
                  <a:gd name="T0" fmla="*/ 0 w 16"/>
                  <a:gd name="T1" fmla="*/ 0 h 33"/>
                  <a:gd name="T2" fmla="*/ 0 w 16"/>
                  <a:gd name="T3" fmla="*/ 0 h 33"/>
                  <a:gd name="T4" fmla="*/ 0 w 16"/>
                  <a:gd name="T5" fmla="*/ 0 h 33"/>
                  <a:gd name="T6" fmla="*/ 0 w 16"/>
                  <a:gd name="T7" fmla="*/ 0 h 33"/>
                  <a:gd name="T8" fmla="*/ 0 w 16"/>
                  <a:gd name="T9" fmla="*/ 0 h 33"/>
                  <a:gd name="T10" fmla="*/ 0 w 16"/>
                  <a:gd name="T11" fmla="*/ 0 h 33"/>
                  <a:gd name="T12" fmla="*/ 0 w 16"/>
                  <a:gd name="T13" fmla="*/ 0 h 33"/>
                  <a:gd name="T14" fmla="*/ 0 w 16"/>
                  <a:gd name="T15" fmla="*/ 0 h 33"/>
                  <a:gd name="T16" fmla="*/ 0 w 16"/>
                  <a:gd name="T17" fmla="*/ 0 h 33"/>
                  <a:gd name="T18" fmla="*/ 0 w 16"/>
                  <a:gd name="T19" fmla="*/ 0 h 33"/>
                  <a:gd name="T20" fmla="*/ 0 w 16"/>
                  <a:gd name="T21" fmla="*/ 0 h 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 h="33">
                    <a:moveTo>
                      <a:pt x="0" y="33"/>
                    </a:moveTo>
                    <a:lnTo>
                      <a:pt x="0" y="0"/>
                    </a:lnTo>
                    <a:lnTo>
                      <a:pt x="2" y="2"/>
                    </a:lnTo>
                    <a:lnTo>
                      <a:pt x="3" y="5"/>
                    </a:lnTo>
                    <a:lnTo>
                      <a:pt x="5" y="7"/>
                    </a:lnTo>
                    <a:lnTo>
                      <a:pt x="7" y="9"/>
                    </a:lnTo>
                    <a:lnTo>
                      <a:pt x="9" y="11"/>
                    </a:lnTo>
                    <a:lnTo>
                      <a:pt x="11" y="13"/>
                    </a:lnTo>
                    <a:lnTo>
                      <a:pt x="14" y="15"/>
                    </a:lnTo>
                    <a:lnTo>
                      <a:pt x="16" y="17"/>
                    </a:lnTo>
                    <a:lnTo>
                      <a:pt x="0" y="3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04" name="Freeform 4122"/>
              <p:cNvSpPr>
                <a:spLocks noChangeAspect="1"/>
              </p:cNvSpPr>
              <p:nvPr/>
            </p:nvSpPr>
            <p:spPr bwMode="auto">
              <a:xfrm>
                <a:off x="5237" y="1004"/>
                <a:ext cx="269" cy="165"/>
              </a:xfrm>
              <a:custGeom>
                <a:avLst/>
                <a:gdLst>
                  <a:gd name="T0" fmla="*/ 0 w 808"/>
                  <a:gd name="T1" fmla="*/ 0 h 497"/>
                  <a:gd name="T2" fmla="*/ 0 w 808"/>
                  <a:gd name="T3" fmla="*/ 0 h 497"/>
                  <a:gd name="T4" fmla="*/ 0 w 808"/>
                  <a:gd name="T5" fmla="*/ 0 h 497"/>
                  <a:gd name="T6" fmla="*/ 0 w 808"/>
                  <a:gd name="T7" fmla="*/ 0 h 497"/>
                  <a:gd name="T8" fmla="*/ 0 w 808"/>
                  <a:gd name="T9" fmla="*/ 0 h 497"/>
                  <a:gd name="T10" fmla="*/ 0 w 808"/>
                  <a:gd name="T11" fmla="*/ 0 h 497"/>
                  <a:gd name="T12" fmla="*/ 0 w 808"/>
                  <a:gd name="T13" fmla="*/ 0 h 497"/>
                  <a:gd name="T14" fmla="*/ 0 w 808"/>
                  <a:gd name="T15" fmla="*/ 0 h 497"/>
                  <a:gd name="T16" fmla="*/ 0 w 808"/>
                  <a:gd name="T17" fmla="*/ 0 h 497"/>
                  <a:gd name="T18" fmla="*/ 0 w 808"/>
                  <a:gd name="T19" fmla="*/ 0 h 497"/>
                  <a:gd name="T20" fmla="*/ 0 w 808"/>
                  <a:gd name="T21" fmla="*/ 0 h 497"/>
                  <a:gd name="T22" fmla="*/ 0 w 808"/>
                  <a:gd name="T23" fmla="*/ 0 h 497"/>
                  <a:gd name="T24" fmla="*/ 0 w 808"/>
                  <a:gd name="T25" fmla="*/ 0 h 497"/>
                  <a:gd name="T26" fmla="*/ 0 w 808"/>
                  <a:gd name="T27" fmla="*/ 0 h 497"/>
                  <a:gd name="T28" fmla="*/ 0 w 808"/>
                  <a:gd name="T29" fmla="*/ 0 h 497"/>
                  <a:gd name="T30" fmla="*/ 0 w 808"/>
                  <a:gd name="T31" fmla="*/ 0 h 497"/>
                  <a:gd name="T32" fmla="*/ 0 w 808"/>
                  <a:gd name="T33" fmla="*/ 0 h 497"/>
                  <a:gd name="T34" fmla="*/ 0 w 808"/>
                  <a:gd name="T35" fmla="*/ 0 h 497"/>
                  <a:gd name="T36" fmla="*/ 0 w 808"/>
                  <a:gd name="T37" fmla="*/ 0 h 497"/>
                  <a:gd name="T38" fmla="*/ 0 w 808"/>
                  <a:gd name="T39" fmla="*/ 0 h 497"/>
                  <a:gd name="T40" fmla="*/ 0 w 808"/>
                  <a:gd name="T41" fmla="*/ 0 h 497"/>
                  <a:gd name="T42" fmla="*/ 0 w 808"/>
                  <a:gd name="T43" fmla="*/ 0 h 497"/>
                  <a:gd name="T44" fmla="*/ 0 w 808"/>
                  <a:gd name="T45" fmla="*/ 0 h 497"/>
                  <a:gd name="T46" fmla="*/ 0 w 808"/>
                  <a:gd name="T47" fmla="*/ 0 h 497"/>
                  <a:gd name="T48" fmla="*/ 0 w 808"/>
                  <a:gd name="T49" fmla="*/ 0 h 497"/>
                  <a:gd name="T50" fmla="*/ 0 w 808"/>
                  <a:gd name="T51" fmla="*/ 0 h 497"/>
                  <a:gd name="T52" fmla="*/ 0 w 808"/>
                  <a:gd name="T53" fmla="*/ 0 h 497"/>
                  <a:gd name="T54" fmla="*/ 0 w 808"/>
                  <a:gd name="T55" fmla="*/ 0 h 497"/>
                  <a:gd name="T56" fmla="*/ 0 w 808"/>
                  <a:gd name="T57" fmla="*/ 0 h 497"/>
                  <a:gd name="T58" fmla="*/ 0 w 808"/>
                  <a:gd name="T59" fmla="*/ 0 h 497"/>
                  <a:gd name="T60" fmla="*/ 0 w 808"/>
                  <a:gd name="T61" fmla="*/ 0 h 497"/>
                  <a:gd name="T62" fmla="*/ 0 w 808"/>
                  <a:gd name="T63" fmla="*/ 0 h 497"/>
                  <a:gd name="T64" fmla="*/ 0 w 808"/>
                  <a:gd name="T65" fmla="*/ 0 h 497"/>
                  <a:gd name="T66" fmla="*/ 0 w 808"/>
                  <a:gd name="T67" fmla="*/ 0 h 497"/>
                  <a:gd name="T68" fmla="*/ 0 w 808"/>
                  <a:gd name="T69" fmla="*/ 0 h 497"/>
                  <a:gd name="T70" fmla="*/ 0 w 808"/>
                  <a:gd name="T71" fmla="*/ 0 h 497"/>
                  <a:gd name="T72" fmla="*/ 0 w 808"/>
                  <a:gd name="T73" fmla="*/ 0 h 497"/>
                  <a:gd name="T74" fmla="*/ 0 w 808"/>
                  <a:gd name="T75" fmla="*/ 0 h 497"/>
                  <a:gd name="T76" fmla="*/ 0 w 808"/>
                  <a:gd name="T77" fmla="*/ 0 h 497"/>
                  <a:gd name="T78" fmla="*/ 0 w 808"/>
                  <a:gd name="T79" fmla="*/ 0 h 497"/>
                  <a:gd name="T80" fmla="*/ 0 w 808"/>
                  <a:gd name="T81" fmla="*/ 0 h 497"/>
                  <a:gd name="T82" fmla="*/ 0 w 808"/>
                  <a:gd name="T83" fmla="*/ 0 h 497"/>
                  <a:gd name="T84" fmla="*/ 0 w 808"/>
                  <a:gd name="T85" fmla="*/ 0 h 497"/>
                  <a:gd name="T86" fmla="*/ 0 w 808"/>
                  <a:gd name="T87" fmla="*/ 0 h 497"/>
                  <a:gd name="T88" fmla="*/ 0 w 808"/>
                  <a:gd name="T89" fmla="*/ 0 h 497"/>
                  <a:gd name="T90" fmla="*/ 0 w 808"/>
                  <a:gd name="T91" fmla="*/ 0 h 497"/>
                  <a:gd name="T92" fmla="*/ 0 w 808"/>
                  <a:gd name="T93" fmla="*/ 0 h 497"/>
                  <a:gd name="T94" fmla="*/ 0 w 808"/>
                  <a:gd name="T95" fmla="*/ 0 h 497"/>
                  <a:gd name="T96" fmla="*/ 0 w 808"/>
                  <a:gd name="T97" fmla="*/ 0 h 497"/>
                  <a:gd name="T98" fmla="*/ 0 w 808"/>
                  <a:gd name="T99" fmla="*/ 0 h 497"/>
                  <a:gd name="T100" fmla="*/ 0 w 808"/>
                  <a:gd name="T101" fmla="*/ 0 h 497"/>
                  <a:gd name="T102" fmla="*/ 0 w 808"/>
                  <a:gd name="T103" fmla="*/ 0 h 497"/>
                  <a:gd name="T104" fmla="*/ 0 w 808"/>
                  <a:gd name="T105" fmla="*/ 0 h 497"/>
                  <a:gd name="T106" fmla="*/ 0 w 808"/>
                  <a:gd name="T107" fmla="*/ 0 h 497"/>
                  <a:gd name="T108" fmla="*/ 0 w 808"/>
                  <a:gd name="T109" fmla="*/ 0 h 497"/>
                  <a:gd name="T110" fmla="*/ 0 w 808"/>
                  <a:gd name="T111" fmla="*/ 0 h 497"/>
                  <a:gd name="T112" fmla="*/ 0 w 808"/>
                  <a:gd name="T113" fmla="*/ 0 h 497"/>
                  <a:gd name="T114" fmla="*/ 0 w 808"/>
                  <a:gd name="T115" fmla="*/ 0 h 497"/>
                  <a:gd name="T116" fmla="*/ 0 w 808"/>
                  <a:gd name="T117" fmla="*/ 0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08" h="497">
                    <a:moveTo>
                      <a:pt x="460" y="0"/>
                    </a:moveTo>
                    <a:lnTo>
                      <a:pt x="485" y="0"/>
                    </a:lnTo>
                    <a:lnTo>
                      <a:pt x="511" y="2"/>
                    </a:lnTo>
                    <a:lnTo>
                      <a:pt x="536" y="6"/>
                    </a:lnTo>
                    <a:lnTo>
                      <a:pt x="561" y="10"/>
                    </a:lnTo>
                    <a:lnTo>
                      <a:pt x="585" y="17"/>
                    </a:lnTo>
                    <a:lnTo>
                      <a:pt x="609" y="24"/>
                    </a:lnTo>
                    <a:lnTo>
                      <a:pt x="631" y="33"/>
                    </a:lnTo>
                    <a:lnTo>
                      <a:pt x="654" y="42"/>
                    </a:lnTo>
                    <a:lnTo>
                      <a:pt x="676" y="53"/>
                    </a:lnTo>
                    <a:lnTo>
                      <a:pt x="697" y="66"/>
                    </a:lnTo>
                    <a:lnTo>
                      <a:pt x="717" y="79"/>
                    </a:lnTo>
                    <a:lnTo>
                      <a:pt x="737" y="92"/>
                    </a:lnTo>
                    <a:lnTo>
                      <a:pt x="756" y="107"/>
                    </a:lnTo>
                    <a:lnTo>
                      <a:pt x="774" y="123"/>
                    </a:lnTo>
                    <a:lnTo>
                      <a:pt x="791" y="140"/>
                    </a:lnTo>
                    <a:lnTo>
                      <a:pt x="808" y="158"/>
                    </a:lnTo>
                    <a:lnTo>
                      <a:pt x="467" y="497"/>
                    </a:lnTo>
                    <a:lnTo>
                      <a:pt x="1" y="497"/>
                    </a:lnTo>
                    <a:lnTo>
                      <a:pt x="1" y="493"/>
                    </a:lnTo>
                    <a:lnTo>
                      <a:pt x="0" y="489"/>
                    </a:lnTo>
                    <a:lnTo>
                      <a:pt x="0" y="484"/>
                    </a:lnTo>
                    <a:lnTo>
                      <a:pt x="0" y="479"/>
                    </a:lnTo>
                    <a:lnTo>
                      <a:pt x="0" y="474"/>
                    </a:lnTo>
                    <a:lnTo>
                      <a:pt x="0" y="470"/>
                    </a:lnTo>
                    <a:lnTo>
                      <a:pt x="0" y="464"/>
                    </a:lnTo>
                    <a:lnTo>
                      <a:pt x="0" y="459"/>
                    </a:lnTo>
                    <a:lnTo>
                      <a:pt x="0" y="436"/>
                    </a:lnTo>
                    <a:lnTo>
                      <a:pt x="2" y="412"/>
                    </a:lnTo>
                    <a:lnTo>
                      <a:pt x="5" y="390"/>
                    </a:lnTo>
                    <a:lnTo>
                      <a:pt x="8" y="367"/>
                    </a:lnTo>
                    <a:lnTo>
                      <a:pt x="14" y="345"/>
                    </a:lnTo>
                    <a:lnTo>
                      <a:pt x="20" y="323"/>
                    </a:lnTo>
                    <a:lnTo>
                      <a:pt x="28" y="302"/>
                    </a:lnTo>
                    <a:lnTo>
                      <a:pt x="36" y="281"/>
                    </a:lnTo>
                    <a:lnTo>
                      <a:pt x="45" y="260"/>
                    </a:lnTo>
                    <a:lnTo>
                      <a:pt x="55" y="240"/>
                    </a:lnTo>
                    <a:lnTo>
                      <a:pt x="66" y="221"/>
                    </a:lnTo>
                    <a:lnTo>
                      <a:pt x="79" y="203"/>
                    </a:lnTo>
                    <a:lnTo>
                      <a:pt x="91" y="185"/>
                    </a:lnTo>
                    <a:lnTo>
                      <a:pt x="105" y="167"/>
                    </a:lnTo>
                    <a:lnTo>
                      <a:pt x="119" y="151"/>
                    </a:lnTo>
                    <a:lnTo>
                      <a:pt x="135" y="135"/>
                    </a:lnTo>
                    <a:lnTo>
                      <a:pt x="151" y="119"/>
                    </a:lnTo>
                    <a:lnTo>
                      <a:pt x="167" y="105"/>
                    </a:lnTo>
                    <a:lnTo>
                      <a:pt x="185" y="91"/>
                    </a:lnTo>
                    <a:lnTo>
                      <a:pt x="203" y="79"/>
                    </a:lnTo>
                    <a:lnTo>
                      <a:pt x="221" y="67"/>
                    </a:lnTo>
                    <a:lnTo>
                      <a:pt x="240" y="55"/>
                    </a:lnTo>
                    <a:lnTo>
                      <a:pt x="261" y="46"/>
                    </a:lnTo>
                    <a:lnTo>
                      <a:pt x="281" y="36"/>
                    </a:lnTo>
                    <a:lnTo>
                      <a:pt x="302" y="27"/>
                    </a:lnTo>
                    <a:lnTo>
                      <a:pt x="323" y="20"/>
                    </a:lnTo>
                    <a:lnTo>
                      <a:pt x="345" y="14"/>
                    </a:lnTo>
                    <a:lnTo>
                      <a:pt x="367" y="9"/>
                    </a:lnTo>
                    <a:lnTo>
                      <a:pt x="389" y="5"/>
                    </a:lnTo>
                    <a:lnTo>
                      <a:pt x="413" y="2"/>
                    </a:lnTo>
                    <a:lnTo>
                      <a:pt x="436" y="0"/>
                    </a:lnTo>
                    <a:lnTo>
                      <a:pt x="460" y="0"/>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sp>
            <p:nvSpPr>
              <p:cNvPr id="387405" name="Freeform 4123"/>
              <p:cNvSpPr>
                <a:spLocks noChangeAspect="1"/>
              </p:cNvSpPr>
              <p:nvPr/>
            </p:nvSpPr>
            <p:spPr bwMode="auto">
              <a:xfrm>
                <a:off x="5282" y="1115"/>
                <a:ext cx="5" cy="58"/>
              </a:xfrm>
              <a:custGeom>
                <a:avLst/>
                <a:gdLst>
                  <a:gd name="T0" fmla="*/ 0 w 14"/>
                  <a:gd name="T1" fmla="*/ 0 h 175"/>
                  <a:gd name="T2" fmla="*/ 0 w 14"/>
                  <a:gd name="T3" fmla="*/ 0 h 175"/>
                  <a:gd name="T4" fmla="*/ 0 w 14"/>
                  <a:gd name="T5" fmla="*/ 0 h 175"/>
                  <a:gd name="T6" fmla="*/ 0 w 14"/>
                  <a:gd name="T7" fmla="*/ 0 h 175"/>
                  <a:gd name="T8" fmla="*/ 0 w 14"/>
                  <a:gd name="T9" fmla="*/ 0 h 175"/>
                  <a:gd name="T10" fmla="*/ 0 w 14"/>
                  <a:gd name="T11" fmla="*/ 0 h 175"/>
                  <a:gd name="T12" fmla="*/ 0 w 14"/>
                  <a:gd name="T13" fmla="*/ 0 h 175"/>
                  <a:gd name="T14" fmla="*/ 0 w 14"/>
                  <a:gd name="T15" fmla="*/ 0 h 175"/>
                  <a:gd name="T16" fmla="*/ 0 w 14"/>
                  <a:gd name="T17" fmla="*/ 0 h 175"/>
                  <a:gd name="T18" fmla="*/ 0 w 14"/>
                  <a:gd name="T19" fmla="*/ 0 h 175"/>
                  <a:gd name="T20" fmla="*/ 0 w 14"/>
                  <a:gd name="T21" fmla="*/ 0 h 175"/>
                  <a:gd name="T22" fmla="*/ 0 w 14"/>
                  <a:gd name="T23" fmla="*/ 0 h 175"/>
                  <a:gd name="T24" fmla="*/ 0 w 14"/>
                  <a:gd name="T25" fmla="*/ 0 h 175"/>
                  <a:gd name="T26" fmla="*/ 0 w 14"/>
                  <a:gd name="T27" fmla="*/ 0 h 175"/>
                  <a:gd name="T28" fmla="*/ 0 w 14"/>
                  <a:gd name="T29" fmla="*/ 0 h 175"/>
                  <a:gd name="T30" fmla="*/ 0 w 14"/>
                  <a:gd name="T31" fmla="*/ 0 h 175"/>
                  <a:gd name="T32" fmla="*/ 0 w 14"/>
                  <a:gd name="T33" fmla="*/ 0 h 175"/>
                  <a:gd name="T34" fmla="*/ 0 w 14"/>
                  <a:gd name="T35" fmla="*/ 0 h 1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4" h="175">
                    <a:moveTo>
                      <a:pt x="14" y="0"/>
                    </a:moveTo>
                    <a:lnTo>
                      <a:pt x="14" y="175"/>
                    </a:lnTo>
                    <a:lnTo>
                      <a:pt x="11" y="164"/>
                    </a:lnTo>
                    <a:lnTo>
                      <a:pt x="8" y="154"/>
                    </a:lnTo>
                    <a:lnTo>
                      <a:pt x="6" y="143"/>
                    </a:lnTo>
                    <a:lnTo>
                      <a:pt x="4" y="133"/>
                    </a:lnTo>
                    <a:lnTo>
                      <a:pt x="2" y="121"/>
                    </a:lnTo>
                    <a:lnTo>
                      <a:pt x="1" y="110"/>
                    </a:lnTo>
                    <a:lnTo>
                      <a:pt x="1" y="99"/>
                    </a:lnTo>
                    <a:lnTo>
                      <a:pt x="0" y="87"/>
                    </a:lnTo>
                    <a:lnTo>
                      <a:pt x="1" y="76"/>
                    </a:lnTo>
                    <a:lnTo>
                      <a:pt x="1" y="65"/>
                    </a:lnTo>
                    <a:lnTo>
                      <a:pt x="2" y="54"/>
                    </a:lnTo>
                    <a:lnTo>
                      <a:pt x="4" y="42"/>
                    </a:lnTo>
                    <a:lnTo>
                      <a:pt x="6" y="32"/>
                    </a:lnTo>
                    <a:lnTo>
                      <a:pt x="8" y="21"/>
                    </a:lnTo>
                    <a:lnTo>
                      <a:pt x="11" y="10"/>
                    </a:lnTo>
                    <a:lnTo>
                      <a:pt x="14"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06" name="Freeform 4124"/>
              <p:cNvSpPr>
                <a:spLocks noChangeAspect="1"/>
              </p:cNvSpPr>
              <p:nvPr/>
            </p:nvSpPr>
            <p:spPr bwMode="auto">
              <a:xfrm>
                <a:off x="5282" y="1103"/>
                <a:ext cx="9" cy="82"/>
              </a:xfrm>
              <a:custGeom>
                <a:avLst/>
                <a:gdLst>
                  <a:gd name="T0" fmla="*/ 0 w 27"/>
                  <a:gd name="T1" fmla="*/ 0 h 245"/>
                  <a:gd name="T2" fmla="*/ 0 w 27"/>
                  <a:gd name="T3" fmla="*/ 0 h 245"/>
                  <a:gd name="T4" fmla="*/ 0 w 27"/>
                  <a:gd name="T5" fmla="*/ 0 h 245"/>
                  <a:gd name="T6" fmla="*/ 0 w 27"/>
                  <a:gd name="T7" fmla="*/ 0 h 245"/>
                  <a:gd name="T8" fmla="*/ 0 w 27"/>
                  <a:gd name="T9" fmla="*/ 0 h 245"/>
                  <a:gd name="T10" fmla="*/ 0 w 27"/>
                  <a:gd name="T11" fmla="*/ 0 h 245"/>
                  <a:gd name="T12" fmla="*/ 0 w 27"/>
                  <a:gd name="T13" fmla="*/ 0 h 245"/>
                  <a:gd name="T14" fmla="*/ 0 w 27"/>
                  <a:gd name="T15" fmla="*/ 0 h 245"/>
                  <a:gd name="T16" fmla="*/ 0 w 27"/>
                  <a:gd name="T17" fmla="*/ 0 h 245"/>
                  <a:gd name="T18" fmla="*/ 0 w 27"/>
                  <a:gd name="T19" fmla="*/ 0 h 245"/>
                  <a:gd name="T20" fmla="*/ 0 w 27"/>
                  <a:gd name="T21" fmla="*/ 0 h 245"/>
                  <a:gd name="T22" fmla="*/ 0 w 27"/>
                  <a:gd name="T23" fmla="*/ 0 h 245"/>
                  <a:gd name="T24" fmla="*/ 0 w 27"/>
                  <a:gd name="T25" fmla="*/ 0 h 245"/>
                  <a:gd name="T26" fmla="*/ 0 w 27"/>
                  <a:gd name="T27" fmla="*/ 0 h 245"/>
                  <a:gd name="T28" fmla="*/ 0 w 27"/>
                  <a:gd name="T29" fmla="*/ 0 h 245"/>
                  <a:gd name="T30" fmla="*/ 0 w 27"/>
                  <a:gd name="T31" fmla="*/ 0 h 245"/>
                  <a:gd name="T32" fmla="*/ 0 w 27"/>
                  <a:gd name="T33" fmla="*/ 0 h 245"/>
                  <a:gd name="T34" fmla="*/ 0 w 27"/>
                  <a:gd name="T35" fmla="*/ 0 h 24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7" h="245">
                    <a:moveTo>
                      <a:pt x="27" y="0"/>
                    </a:moveTo>
                    <a:lnTo>
                      <a:pt x="27" y="245"/>
                    </a:lnTo>
                    <a:lnTo>
                      <a:pt x="21" y="231"/>
                    </a:lnTo>
                    <a:lnTo>
                      <a:pt x="16" y="216"/>
                    </a:lnTo>
                    <a:lnTo>
                      <a:pt x="11" y="202"/>
                    </a:lnTo>
                    <a:lnTo>
                      <a:pt x="8" y="186"/>
                    </a:lnTo>
                    <a:lnTo>
                      <a:pt x="4" y="171"/>
                    </a:lnTo>
                    <a:lnTo>
                      <a:pt x="2" y="155"/>
                    </a:lnTo>
                    <a:lnTo>
                      <a:pt x="1" y="139"/>
                    </a:lnTo>
                    <a:lnTo>
                      <a:pt x="0" y="122"/>
                    </a:lnTo>
                    <a:lnTo>
                      <a:pt x="1" y="106"/>
                    </a:lnTo>
                    <a:lnTo>
                      <a:pt x="2" y="90"/>
                    </a:lnTo>
                    <a:lnTo>
                      <a:pt x="4" y="74"/>
                    </a:lnTo>
                    <a:lnTo>
                      <a:pt x="8" y="58"/>
                    </a:lnTo>
                    <a:lnTo>
                      <a:pt x="11" y="43"/>
                    </a:lnTo>
                    <a:lnTo>
                      <a:pt x="16" y="28"/>
                    </a:lnTo>
                    <a:lnTo>
                      <a:pt x="21" y="13"/>
                    </a:lnTo>
                    <a:lnTo>
                      <a:pt x="27"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07" name="Freeform 4125"/>
              <p:cNvSpPr>
                <a:spLocks noChangeAspect="1"/>
              </p:cNvSpPr>
              <p:nvPr/>
            </p:nvSpPr>
            <p:spPr bwMode="auto">
              <a:xfrm>
                <a:off x="5287" y="1094"/>
                <a:ext cx="9" cy="100"/>
              </a:xfrm>
              <a:custGeom>
                <a:avLst/>
                <a:gdLst>
                  <a:gd name="T0" fmla="*/ 0 w 27"/>
                  <a:gd name="T1" fmla="*/ 0 h 299"/>
                  <a:gd name="T2" fmla="*/ 0 w 27"/>
                  <a:gd name="T3" fmla="*/ 0 h 299"/>
                  <a:gd name="T4" fmla="*/ 0 w 27"/>
                  <a:gd name="T5" fmla="*/ 0 h 299"/>
                  <a:gd name="T6" fmla="*/ 0 w 27"/>
                  <a:gd name="T7" fmla="*/ 0 h 299"/>
                  <a:gd name="T8" fmla="*/ 0 w 27"/>
                  <a:gd name="T9" fmla="*/ 0 h 299"/>
                  <a:gd name="T10" fmla="*/ 0 w 27"/>
                  <a:gd name="T11" fmla="*/ 0 h 299"/>
                  <a:gd name="T12" fmla="*/ 0 w 27"/>
                  <a:gd name="T13" fmla="*/ 0 h 299"/>
                  <a:gd name="T14" fmla="*/ 0 w 27"/>
                  <a:gd name="T15" fmla="*/ 0 h 299"/>
                  <a:gd name="T16" fmla="*/ 0 w 27"/>
                  <a:gd name="T17" fmla="*/ 0 h 299"/>
                  <a:gd name="T18" fmla="*/ 0 w 27"/>
                  <a:gd name="T19" fmla="*/ 0 h 299"/>
                  <a:gd name="T20" fmla="*/ 0 w 27"/>
                  <a:gd name="T21" fmla="*/ 0 h 299"/>
                  <a:gd name="T22" fmla="*/ 0 w 27"/>
                  <a:gd name="T23" fmla="*/ 0 h 299"/>
                  <a:gd name="T24" fmla="*/ 0 w 27"/>
                  <a:gd name="T25" fmla="*/ 0 h 299"/>
                  <a:gd name="T26" fmla="*/ 0 w 27"/>
                  <a:gd name="T27" fmla="*/ 0 h 299"/>
                  <a:gd name="T28" fmla="*/ 0 w 27"/>
                  <a:gd name="T29" fmla="*/ 0 h 299"/>
                  <a:gd name="T30" fmla="*/ 0 w 27"/>
                  <a:gd name="T31" fmla="*/ 0 h 299"/>
                  <a:gd name="T32" fmla="*/ 0 w 27"/>
                  <a:gd name="T33" fmla="*/ 0 h 299"/>
                  <a:gd name="T34" fmla="*/ 0 w 27"/>
                  <a:gd name="T35" fmla="*/ 0 h 299"/>
                  <a:gd name="T36" fmla="*/ 0 w 27"/>
                  <a:gd name="T37" fmla="*/ 0 h 29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299">
                    <a:moveTo>
                      <a:pt x="0" y="237"/>
                    </a:moveTo>
                    <a:lnTo>
                      <a:pt x="0" y="62"/>
                    </a:lnTo>
                    <a:lnTo>
                      <a:pt x="2" y="53"/>
                    </a:lnTo>
                    <a:lnTo>
                      <a:pt x="5" y="46"/>
                    </a:lnTo>
                    <a:lnTo>
                      <a:pt x="9" y="37"/>
                    </a:lnTo>
                    <a:lnTo>
                      <a:pt x="12" y="30"/>
                    </a:lnTo>
                    <a:lnTo>
                      <a:pt x="15" y="22"/>
                    </a:lnTo>
                    <a:lnTo>
                      <a:pt x="18" y="15"/>
                    </a:lnTo>
                    <a:lnTo>
                      <a:pt x="22" y="7"/>
                    </a:lnTo>
                    <a:lnTo>
                      <a:pt x="27" y="0"/>
                    </a:lnTo>
                    <a:lnTo>
                      <a:pt x="27" y="299"/>
                    </a:lnTo>
                    <a:lnTo>
                      <a:pt x="22" y="291"/>
                    </a:lnTo>
                    <a:lnTo>
                      <a:pt x="18" y="284"/>
                    </a:lnTo>
                    <a:lnTo>
                      <a:pt x="15" y="276"/>
                    </a:lnTo>
                    <a:lnTo>
                      <a:pt x="12" y="269"/>
                    </a:lnTo>
                    <a:lnTo>
                      <a:pt x="9" y="260"/>
                    </a:lnTo>
                    <a:lnTo>
                      <a:pt x="5" y="253"/>
                    </a:lnTo>
                    <a:lnTo>
                      <a:pt x="2" y="246"/>
                    </a:lnTo>
                    <a:lnTo>
                      <a:pt x="0" y="23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08" name="Freeform 4126"/>
              <p:cNvSpPr>
                <a:spLocks noChangeAspect="1"/>
              </p:cNvSpPr>
              <p:nvPr/>
            </p:nvSpPr>
            <p:spPr bwMode="auto">
              <a:xfrm>
                <a:off x="5291" y="1087"/>
                <a:ext cx="9" cy="114"/>
              </a:xfrm>
              <a:custGeom>
                <a:avLst/>
                <a:gdLst>
                  <a:gd name="T0" fmla="*/ 0 w 26"/>
                  <a:gd name="T1" fmla="*/ 0 h 341"/>
                  <a:gd name="T2" fmla="*/ 0 w 26"/>
                  <a:gd name="T3" fmla="*/ 0 h 341"/>
                  <a:gd name="T4" fmla="*/ 0 w 26"/>
                  <a:gd name="T5" fmla="*/ 0 h 341"/>
                  <a:gd name="T6" fmla="*/ 0 w 26"/>
                  <a:gd name="T7" fmla="*/ 0 h 341"/>
                  <a:gd name="T8" fmla="*/ 0 w 26"/>
                  <a:gd name="T9" fmla="*/ 0 h 341"/>
                  <a:gd name="T10" fmla="*/ 0 w 26"/>
                  <a:gd name="T11" fmla="*/ 0 h 341"/>
                  <a:gd name="T12" fmla="*/ 0 w 26"/>
                  <a:gd name="T13" fmla="*/ 0 h 341"/>
                  <a:gd name="T14" fmla="*/ 0 w 26"/>
                  <a:gd name="T15" fmla="*/ 0 h 341"/>
                  <a:gd name="T16" fmla="*/ 0 w 26"/>
                  <a:gd name="T17" fmla="*/ 0 h 341"/>
                  <a:gd name="T18" fmla="*/ 0 w 26"/>
                  <a:gd name="T19" fmla="*/ 0 h 341"/>
                  <a:gd name="T20" fmla="*/ 0 w 26"/>
                  <a:gd name="T21" fmla="*/ 0 h 341"/>
                  <a:gd name="T22" fmla="*/ 0 w 26"/>
                  <a:gd name="T23" fmla="*/ 0 h 341"/>
                  <a:gd name="T24" fmla="*/ 0 w 26"/>
                  <a:gd name="T25" fmla="*/ 0 h 341"/>
                  <a:gd name="T26" fmla="*/ 0 w 26"/>
                  <a:gd name="T27" fmla="*/ 0 h 341"/>
                  <a:gd name="T28" fmla="*/ 0 w 26"/>
                  <a:gd name="T29" fmla="*/ 0 h 341"/>
                  <a:gd name="T30" fmla="*/ 0 w 26"/>
                  <a:gd name="T31" fmla="*/ 0 h 341"/>
                  <a:gd name="T32" fmla="*/ 0 w 26"/>
                  <a:gd name="T33" fmla="*/ 0 h 341"/>
                  <a:gd name="T34" fmla="*/ 0 w 26"/>
                  <a:gd name="T35" fmla="*/ 0 h 341"/>
                  <a:gd name="T36" fmla="*/ 0 w 26"/>
                  <a:gd name="T37" fmla="*/ 0 h 3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341">
                    <a:moveTo>
                      <a:pt x="0" y="293"/>
                    </a:moveTo>
                    <a:lnTo>
                      <a:pt x="0" y="48"/>
                    </a:lnTo>
                    <a:lnTo>
                      <a:pt x="3" y="41"/>
                    </a:lnTo>
                    <a:lnTo>
                      <a:pt x="6" y="35"/>
                    </a:lnTo>
                    <a:lnTo>
                      <a:pt x="9" y="30"/>
                    </a:lnTo>
                    <a:lnTo>
                      <a:pt x="13" y="23"/>
                    </a:lnTo>
                    <a:lnTo>
                      <a:pt x="16" y="17"/>
                    </a:lnTo>
                    <a:lnTo>
                      <a:pt x="19" y="11"/>
                    </a:lnTo>
                    <a:lnTo>
                      <a:pt x="23" y="6"/>
                    </a:lnTo>
                    <a:lnTo>
                      <a:pt x="26" y="0"/>
                    </a:lnTo>
                    <a:lnTo>
                      <a:pt x="26" y="341"/>
                    </a:lnTo>
                    <a:lnTo>
                      <a:pt x="23" y="335"/>
                    </a:lnTo>
                    <a:lnTo>
                      <a:pt x="19" y="329"/>
                    </a:lnTo>
                    <a:lnTo>
                      <a:pt x="16" y="323"/>
                    </a:lnTo>
                    <a:lnTo>
                      <a:pt x="13" y="318"/>
                    </a:lnTo>
                    <a:lnTo>
                      <a:pt x="9" y="311"/>
                    </a:lnTo>
                    <a:lnTo>
                      <a:pt x="6" y="306"/>
                    </a:lnTo>
                    <a:lnTo>
                      <a:pt x="3" y="300"/>
                    </a:lnTo>
                    <a:lnTo>
                      <a:pt x="0" y="29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09" name="Freeform 4127"/>
              <p:cNvSpPr>
                <a:spLocks noChangeAspect="1"/>
              </p:cNvSpPr>
              <p:nvPr/>
            </p:nvSpPr>
            <p:spPr bwMode="auto">
              <a:xfrm>
                <a:off x="5296" y="1081"/>
                <a:ext cx="9" cy="126"/>
              </a:xfrm>
              <a:custGeom>
                <a:avLst/>
                <a:gdLst>
                  <a:gd name="T0" fmla="*/ 0 w 26"/>
                  <a:gd name="T1" fmla="*/ 0 h 376"/>
                  <a:gd name="T2" fmla="*/ 0 w 26"/>
                  <a:gd name="T3" fmla="*/ 0 h 376"/>
                  <a:gd name="T4" fmla="*/ 0 w 26"/>
                  <a:gd name="T5" fmla="*/ 0 h 376"/>
                  <a:gd name="T6" fmla="*/ 0 w 26"/>
                  <a:gd name="T7" fmla="*/ 0 h 376"/>
                  <a:gd name="T8" fmla="*/ 0 w 26"/>
                  <a:gd name="T9" fmla="*/ 0 h 376"/>
                  <a:gd name="T10" fmla="*/ 0 w 26"/>
                  <a:gd name="T11" fmla="*/ 0 h 376"/>
                  <a:gd name="T12" fmla="*/ 0 w 26"/>
                  <a:gd name="T13" fmla="*/ 0 h 376"/>
                  <a:gd name="T14" fmla="*/ 0 w 26"/>
                  <a:gd name="T15" fmla="*/ 0 h 376"/>
                  <a:gd name="T16" fmla="*/ 0 w 26"/>
                  <a:gd name="T17" fmla="*/ 0 h 376"/>
                  <a:gd name="T18" fmla="*/ 0 w 26"/>
                  <a:gd name="T19" fmla="*/ 0 h 376"/>
                  <a:gd name="T20" fmla="*/ 0 w 26"/>
                  <a:gd name="T21" fmla="*/ 0 h 376"/>
                  <a:gd name="T22" fmla="*/ 0 w 26"/>
                  <a:gd name="T23" fmla="*/ 0 h 376"/>
                  <a:gd name="T24" fmla="*/ 0 w 26"/>
                  <a:gd name="T25" fmla="*/ 0 h 376"/>
                  <a:gd name="T26" fmla="*/ 0 w 26"/>
                  <a:gd name="T27" fmla="*/ 0 h 376"/>
                  <a:gd name="T28" fmla="*/ 0 w 26"/>
                  <a:gd name="T29" fmla="*/ 0 h 376"/>
                  <a:gd name="T30" fmla="*/ 0 w 26"/>
                  <a:gd name="T31" fmla="*/ 0 h 376"/>
                  <a:gd name="T32" fmla="*/ 0 w 26"/>
                  <a:gd name="T33" fmla="*/ 0 h 376"/>
                  <a:gd name="T34" fmla="*/ 0 w 26"/>
                  <a:gd name="T35" fmla="*/ 0 h 376"/>
                  <a:gd name="T36" fmla="*/ 0 w 26"/>
                  <a:gd name="T37" fmla="*/ 0 h 3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376">
                    <a:moveTo>
                      <a:pt x="0" y="338"/>
                    </a:moveTo>
                    <a:lnTo>
                      <a:pt x="0" y="39"/>
                    </a:lnTo>
                    <a:lnTo>
                      <a:pt x="3" y="34"/>
                    </a:lnTo>
                    <a:lnTo>
                      <a:pt x="5" y="29"/>
                    </a:lnTo>
                    <a:lnTo>
                      <a:pt x="8" y="24"/>
                    </a:lnTo>
                    <a:lnTo>
                      <a:pt x="12" y="19"/>
                    </a:lnTo>
                    <a:lnTo>
                      <a:pt x="16" y="15"/>
                    </a:lnTo>
                    <a:lnTo>
                      <a:pt x="19" y="9"/>
                    </a:lnTo>
                    <a:lnTo>
                      <a:pt x="22" y="5"/>
                    </a:lnTo>
                    <a:lnTo>
                      <a:pt x="26" y="0"/>
                    </a:lnTo>
                    <a:lnTo>
                      <a:pt x="26" y="376"/>
                    </a:lnTo>
                    <a:lnTo>
                      <a:pt x="22" y="372"/>
                    </a:lnTo>
                    <a:lnTo>
                      <a:pt x="19" y="368"/>
                    </a:lnTo>
                    <a:lnTo>
                      <a:pt x="16" y="362"/>
                    </a:lnTo>
                    <a:lnTo>
                      <a:pt x="12" y="357"/>
                    </a:lnTo>
                    <a:lnTo>
                      <a:pt x="8" y="353"/>
                    </a:lnTo>
                    <a:lnTo>
                      <a:pt x="5" y="347"/>
                    </a:lnTo>
                    <a:lnTo>
                      <a:pt x="3" y="342"/>
                    </a:lnTo>
                    <a:lnTo>
                      <a:pt x="0" y="33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10" name="Freeform 4128"/>
              <p:cNvSpPr>
                <a:spLocks noChangeAspect="1"/>
              </p:cNvSpPr>
              <p:nvPr/>
            </p:nvSpPr>
            <p:spPr bwMode="auto">
              <a:xfrm>
                <a:off x="5300" y="1076"/>
                <a:ext cx="9" cy="136"/>
              </a:xfrm>
              <a:custGeom>
                <a:avLst/>
                <a:gdLst>
                  <a:gd name="T0" fmla="*/ 0 w 27"/>
                  <a:gd name="T1" fmla="*/ 0 h 407"/>
                  <a:gd name="T2" fmla="*/ 0 w 27"/>
                  <a:gd name="T3" fmla="*/ 0 h 407"/>
                  <a:gd name="T4" fmla="*/ 0 w 27"/>
                  <a:gd name="T5" fmla="*/ 0 h 407"/>
                  <a:gd name="T6" fmla="*/ 0 w 27"/>
                  <a:gd name="T7" fmla="*/ 0 h 407"/>
                  <a:gd name="T8" fmla="*/ 0 w 27"/>
                  <a:gd name="T9" fmla="*/ 0 h 407"/>
                  <a:gd name="T10" fmla="*/ 0 w 27"/>
                  <a:gd name="T11" fmla="*/ 0 h 407"/>
                  <a:gd name="T12" fmla="*/ 0 w 27"/>
                  <a:gd name="T13" fmla="*/ 0 h 407"/>
                  <a:gd name="T14" fmla="*/ 0 w 27"/>
                  <a:gd name="T15" fmla="*/ 0 h 407"/>
                  <a:gd name="T16" fmla="*/ 0 w 27"/>
                  <a:gd name="T17" fmla="*/ 0 h 407"/>
                  <a:gd name="T18" fmla="*/ 0 w 27"/>
                  <a:gd name="T19" fmla="*/ 0 h 407"/>
                  <a:gd name="T20" fmla="*/ 0 w 27"/>
                  <a:gd name="T21" fmla="*/ 0 h 407"/>
                  <a:gd name="T22" fmla="*/ 0 w 27"/>
                  <a:gd name="T23" fmla="*/ 0 h 407"/>
                  <a:gd name="T24" fmla="*/ 0 w 27"/>
                  <a:gd name="T25" fmla="*/ 0 h 407"/>
                  <a:gd name="T26" fmla="*/ 0 w 27"/>
                  <a:gd name="T27" fmla="*/ 0 h 407"/>
                  <a:gd name="T28" fmla="*/ 0 w 27"/>
                  <a:gd name="T29" fmla="*/ 0 h 407"/>
                  <a:gd name="T30" fmla="*/ 0 w 27"/>
                  <a:gd name="T31" fmla="*/ 0 h 407"/>
                  <a:gd name="T32" fmla="*/ 0 w 27"/>
                  <a:gd name="T33" fmla="*/ 0 h 407"/>
                  <a:gd name="T34" fmla="*/ 0 w 27"/>
                  <a:gd name="T35" fmla="*/ 0 h 407"/>
                  <a:gd name="T36" fmla="*/ 0 w 27"/>
                  <a:gd name="T37" fmla="*/ 0 h 40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07">
                    <a:moveTo>
                      <a:pt x="0" y="374"/>
                    </a:moveTo>
                    <a:lnTo>
                      <a:pt x="0" y="33"/>
                    </a:lnTo>
                    <a:lnTo>
                      <a:pt x="4" y="29"/>
                    </a:lnTo>
                    <a:lnTo>
                      <a:pt x="7" y="24"/>
                    </a:lnTo>
                    <a:lnTo>
                      <a:pt x="10" y="20"/>
                    </a:lnTo>
                    <a:lnTo>
                      <a:pt x="13" y="16"/>
                    </a:lnTo>
                    <a:lnTo>
                      <a:pt x="16" y="11"/>
                    </a:lnTo>
                    <a:lnTo>
                      <a:pt x="21" y="7"/>
                    </a:lnTo>
                    <a:lnTo>
                      <a:pt x="24" y="3"/>
                    </a:lnTo>
                    <a:lnTo>
                      <a:pt x="27" y="0"/>
                    </a:lnTo>
                    <a:lnTo>
                      <a:pt x="27" y="407"/>
                    </a:lnTo>
                    <a:lnTo>
                      <a:pt x="24" y="403"/>
                    </a:lnTo>
                    <a:lnTo>
                      <a:pt x="21" y="400"/>
                    </a:lnTo>
                    <a:lnTo>
                      <a:pt x="16" y="395"/>
                    </a:lnTo>
                    <a:lnTo>
                      <a:pt x="13" y="391"/>
                    </a:lnTo>
                    <a:lnTo>
                      <a:pt x="10" y="387"/>
                    </a:lnTo>
                    <a:lnTo>
                      <a:pt x="7" y="383"/>
                    </a:lnTo>
                    <a:lnTo>
                      <a:pt x="4" y="378"/>
                    </a:lnTo>
                    <a:lnTo>
                      <a:pt x="0" y="37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11" name="Freeform 4129"/>
              <p:cNvSpPr>
                <a:spLocks noChangeAspect="1"/>
              </p:cNvSpPr>
              <p:nvPr/>
            </p:nvSpPr>
            <p:spPr bwMode="auto">
              <a:xfrm>
                <a:off x="5305" y="1072"/>
                <a:ext cx="9" cy="145"/>
              </a:xfrm>
              <a:custGeom>
                <a:avLst/>
                <a:gdLst>
                  <a:gd name="T0" fmla="*/ 0 w 27"/>
                  <a:gd name="T1" fmla="*/ 0 h 435"/>
                  <a:gd name="T2" fmla="*/ 0 w 27"/>
                  <a:gd name="T3" fmla="*/ 0 h 435"/>
                  <a:gd name="T4" fmla="*/ 0 w 27"/>
                  <a:gd name="T5" fmla="*/ 0 h 435"/>
                  <a:gd name="T6" fmla="*/ 0 w 27"/>
                  <a:gd name="T7" fmla="*/ 0 h 435"/>
                  <a:gd name="T8" fmla="*/ 0 w 27"/>
                  <a:gd name="T9" fmla="*/ 0 h 435"/>
                  <a:gd name="T10" fmla="*/ 0 w 27"/>
                  <a:gd name="T11" fmla="*/ 0 h 435"/>
                  <a:gd name="T12" fmla="*/ 0 w 27"/>
                  <a:gd name="T13" fmla="*/ 0 h 435"/>
                  <a:gd name="T14" fmla="*/ 0 w 27"/>
                  <a:gd name="T15" fmla="*/ 0 h 435"/>
                  <a:gd name="T16" fmla="*/ 0 w 27"/>
                  <a:gd name="T17" fmla="*/ 0 h 435"/>
                  <a:gd name="T18" fmla="*/ 0 w 27"/>
                  <a:gd name="T19" fmla="*/ 0 h 435"/>
                  <a:gd name="T20" fmla="*/ 0 w 27"/>
                  <a:gd name="T21" fmla="*/ 0 h 435"/>
                  <a:gd name="T22" fmla="*/ 0 w 27"/>
                  <a:gd name="T23" fmla="*/ 0 h 435"/>
                  <a:gd name="T24" fmla="*/ 0 w 27"/>
                  <a:gd name="T25" fmla="*/ 0 h 435"/>
                  <a:gd name="T26" fmla="*/ 0 w 27"/>
                  <a:gd name="T27" fmla="*/ 0 h 435"/>
                  <a:gd name="T28" fmla="*/ 0 w 27"/>
                  <a:gd name="T29" fmla="*/ 0 h 435"/>
                  <a:gd name="T30" fmla="*/ 0 w 27"/>
                  <a:gd name="T31" fmla="*/ 0 h 435"/>
                  <a:gd name="T32" fmla="*/ 0 w 27"/>
                  <a:gd name="T33" fmla="*/ 0 h 435"/>
                  <a:gd name="T34" fmla="*/ 0 w 27"/>
                  <a:gd name="T35" fmla="*/ 0 h 435"/>
                  <a:gd name="T36" fmla="*/ 0 w 27"/>
                  <a:gd name="T37" fmla="*/ 0 h 4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35">
                    <a:moveTo>
                      <a:pt x="0" y="405"/>
                    </a:moveTo>
                    <a:lnTo>
                      <a:pt x="0" y="29"/>
                    </a:lnTo>
                    <a:lnTo>
                      <a:pt x="3" y="25"/>
                    </a:lnTo>
                    <a:lnTo>
                      <a:pt x="7" y="21"/>
                    </a:lnTo>
                    <a:lnTo>
                      <a:pt x="10" y="18"/>
                    </a:lnTo>
                    <a:lnTo>
                      <a:pt x="13" y="14"/>
                    </a:lnTo>
                    <a:lnTo>
                      <a:pt x="16" y="11"/>
                    </a:lnTo>
                    <a:lnTo>
                      <a:pt x="19" y="6"/>
                    </a:lnTo>
                    <a:lnTo>
                      <a:pt x="23" y="3"/>
                    </a:lnTo>
                    <a:lnTo>
                      <a:pt x="27" y="0"/>
                    </a:lnTo>
                    <a:lnTo>
                      <a:pt x="27" y="435"/>
                    </a:lnTo>
                    <a:lnTo>
                      <a:pt x="23" y="432"/>
                    </a:lnTo>
                    <a:lnTo>
                      <a:pt x="19" y="428"/>
                    </a:lnTo>
                    <a:lnTo>
                      <a:pt x="16" y="424"/>
                    </a:lnTo>
                    <a:lnTo>
                      <a:pt x="13" y="421"/>
                    </a:lnTo>
                    <a:lnTo>
                      <a:pt x="10" y="417"/>
                    </a:lnTo>
                    <a:lnTo>
                      <a:pt x="7" y="414"/>
                    </a:lnTo>
                    <a:lnTo>
                      <a:pt x="3" y="409"/>
                    </a:lnTo>
                    <a:lnTo>
                      <a:pt x="0" y="40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12" name="Freeform 4130"/>
              <p:cNvSpPr>
                <a:spLocks noChangeAspect="1"/>
              </p:cNvSpPr>
              <p:nvPr/>
            </p:nvSpPr>
            <p:spPr bwMode="auto">
              <a:xfrm>
                <a:off x="5309" y="1067"/>
                <a:ext cx="9" cy="154"/>
              </a:xfrm>
              <a:custGeom>
                <a:avLst/>
                <a:gdLst>
                  <a:gd name="T0" fmla="*/ 0 w 27"/>
                  <a:gd name="T1" fmla="*/ 0 h 461"/>
                  <a:gd name="T2" fmla="*/ 0 w 27"/>
                  <a:gd name="T3" fmla="*/ 0 h 461"/>
                  <a:gd name="T4" fmla="*/ 0 w 27"/>
                  <a:gd name="T5" fmla="*/ 0 h 461"/>
                  <a:gd name="T6" fmla="*/ 0 w 27"/>
                  <a:gd name="T7" fmla="*/ 0 h 461"/>
                  <a:gd name="T8" fmla="*/ 0 w 27"/>
                  <a:gd name="T9" fmla="*/ 0 h 461"/>
                  <a:gd name="T10" fmla="*/ 0 w 27"/>
                  <a:gd name="T11" fmla="*/ 0 h 461"/>
                  <a:gd name="T12" fmla="*/ 0 w 27"/>
                  <a:gd name="T13" fmla="*/ 0 h 461"/>
                  <a:gd name="T14" fmla="*/ 0 w 27"/>
                  <a:gd name="T15" fmla="*/ 0 h 461"/>
                  <a:gd name="T16" fmla="*/ 0 w 27"/>
                  <a:gd name="T17" fmla="*/ 0 h 461"/>
                  <a:gd name="T18" fmla="*/ 0 w 27"/>
                  <a:gd name="T19" fmla="*/ 0 h 461"/>
                  <a:gd name="T20" fmla="*/ 0 w 27"/>
                  <a:gd name="T21" fmla="*/ 0 h 461"/>
                  <a:gd name="T22" fmla="*/ 0 w 27"/>
                  <a:gd name="T23" fmla="*/ 0 h 461"/>
                  <a:gd name="T24" fmla="*/ 0 w 27"/>
                  <a:gd name="T25" fmla="*/ 0 h 461"/>
                  <a:gd name="T26" fmla="*/ 0 w 27"/>
                  <a:gd name="T27" fmla="*/ 0 h 461"/>
                  <a:gd name="T28" fmla="*/ 0 w 27"/>
                  <a:gd name="T29" fmla="*/ 0 h 461"/>
                  <a:gd name="T30" fmla="*/ 0 w 27"/>
                  <a:gd name="T31" fmla="*/ 0 h 461"/>
                  <a:gd name="T32" fmla="*/ 0 w 27"/>
                  <a:gd name="T33" fmla="*/ 0 h 461"/>
                  <a:gd name="T34" fmla="*/ 0 w 27"/>
                  <a:gd name="T35" fmla="*/ 0 h 461"/>
                  <a:gd name="T36" fmla="*/ 0 w 27"/>
                  <a:gd name="T37" fmla="*/ 0 h 4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61">
                    <a:moveTo>
                      <a:pt x="0" y="434"/>
                    </a:moveTo>
                    <a:lnTo>
                      <a:pt x="0" y="27"/>
                    </a:lnTo>
                    <a:lnTo>
                      <a:pt x="3" y="23"/>
                    </a:lnTo>
                    <a:lnTo>
                      <a:pt x="6" y="19"/>
                    </a:lnTo>
                    <a:lnTo>
                      <a:pt x="10" y="16"/>
                    </a:lnTo>
                    <a:lnTo>
                      <a:pt x="13" y="13"/>
                    </a:lnTo>
                    <a:lnTo>
                      <a:pt x="16" y="10"/>
                    </a:lnTo>
                    <a:lnTo>
                      <a:pt x="20" y="7"/>
                    </a:lnTo>
                    <a:lnTo>
                      <a:pt x="23" y="3"/>
                    </a:lnTo>
                    <a:lnTo>
                      <a:pt x="27" y="0"/>
                    </a:lnTo>
                    <a:lnTo>
                      <a:pt x="27" y="461"/>
                    </a:lnTo>
                    <a:lnTo>
                      <a:pt x="23" y="457"/>
                    </a:lnTo>
                    <a:lnTo>
                      <a:pt x="20" y="454"/>
                    </a:lnTo>
                    <a:lnTo>
                      <a:pt x="16" y="451"/>
                    </a:lnTo>
                    <a:lnTo>
                      <a:pt x="13" y="448"/>
                    </a:lnTo>
                    <a:lnTo>
                      <a:pt x="10" y="445"/>
                    </a:lnTo>
                    <a:lnTo>
                      <a:pt x="6" y="441"/>
                    </a:lnTo>
                    <a:lnTo>
                      <a:pt x="3" y="437"/>
                    </a:lnTo>
                    <a:lnTo>
                      <a:pt x="0" y="43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13" name="Freeform 4131"/>
              <p:cNvSpPr>
                <a:spLocks noChangeAspect="1"/>
              </p:cNvSpPr>
              <p:nvPr/>
            </p:nvSpPr>
            <p:spPr bwMode="auto">
              <a:xfrm>
                <a:off x="5314" y="1064"/>
                <a:ext cx="8" cy="160"/>
              </a:xfrm>
              <a:custGeom>
                <a:avLst/>
                <a:gdLst>
                  <a:gd name="T0" fmla="*/ 0 w 26"/>
                  <a:gd name="T1" fmla="*/ 0 h 481"/>
                  <a:gd name="T2" fmla="*/ 0 w 26"/>
                  <a:gd name="T3" fmla="*/ 0 h 481"/>
                  <a:gd name="T4" fmla="*/ 0 w 26"/>
                  <a:gd name="T5" fmla="*/ 0 h 481"/>
                  <a:gd name="T6" fmla="*/ 0 w 26"/>
                  <a:gd name="T7" fmla="*/ 0 h 481"/>
                  <a:gd name="T8" fmla="*/ 0 w 26"/>
                  <a:gd name="T9" fmla="*/ 0 h 481"/>
                  <a:gd name="T10" fmla="*/ 0 w 26"/>
                  <a:gd name="T11" fmla="*/ 0 h 481"/>
                  <a:gd name="T12" fmla="*/ 0 w 26"/>
                  <a:gd name="T13" fmla="*/ 0 h 481"/>
                  <a:gd name="T14" fmla="*/ 0 w 26"/>
                  <a:gd name="T15" fmla="*/ 0 h 481"/>
                  <a:gd name="T16" fmla="*/ 0 w 26"/>
                  <a:gd name="T17" fmla="*/ 0 h 481"/>
                  <a:gd name="T18" fmla="*/ 0 w 26"/>
                  <a:gd name="T19" fmla="*/ 0 h 481"/>
                  <a:gd name="T20" fmla="*/ 0 w 26"/>
                  <a:gd name="T21" fmla="*/ 0 h 481"/>
                  <a:gd name="T22" fmla="*/ 0 w 26"/>
                  <a:gd name="T23" fmla="*/ 0 h 481"/>
                  <a:gd name="T24" fmla="*/ 0 w 26"/>
                  <a:gd name="T25" fmla="*/ 0 h 481"/>
                  <a:gd name="T26" fmla="*/ 0 w 26"/>
                  <a:gd name="T27" fmla="*/ 0 h 481"/>
                  <a:gd name="T28" fmla="*/ 0 w 26"/>
                  <a:gd name="T29" fmla="*/ 0 h 481"/>
                  <a:gd name="T30" fmla="*/ 0 w 26"/>
                  <a:gd name="T31" fmla="*/ 0 h 481"/>
                  <a:gd name="T32" fmla="*/ 0 w 26"/>
                  <a:gd name="T33" fmla="*/ 0 h 481"/>
                  <a:gd name="T34" fmla="*/ 0 w 26"/>
                  <a:gd name="T35" fmla="*/ 0 h 481"/>
                  <a:gd name="T36" fmla="*/ 0 w 26"/>
                  <a:gd name="T37" fmla="*/ 0 h 48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81">
                    <a:moveTo>
                      <a:pt x="0" y="458"/>
                    </a:moveTo>
                    <a:lnTo>
                      <a:pt x="0" y="23"/>
                    </a:lnTo>
                    <a:lnTo>
                      <a:pt x="3" y="20"/>
                    </a:lnTo>
                    <a:lnTo>
                      <a:pt x="6" y="17"/>
                    </a:lnTo>
                    <a:lnTo>
                      <a:pt x="9" y="13"/>
                    </a:lnTo>
                    <a:lnTo>
                      <a:pt x="13" y="10"/>
                    </a:lnTo>
                    <a:lnTo>
                      <a:pt x="16" y="7"/>
                    </a:lnTo>
                    <a:lnTo>
                      <a:pt x="19" y="5"/>
                    </a:lnTo>
                    <a:lnTo>
                      <a:pt x="22" y="2"/>
                    </a:lnTo>
                    <a:lnTo>
                      <a:pt x="26" y="0"/>
                    </a:lnTo>
                    <a:lnTo>
                      <a:pt x="26" y="481"/>
                    </a:lnTo>
                    <a:lnTo>
                      <a:pt x="22" y="479"/>
                    </a:lnTo>
                    <a:lnTo>
                      <a:pt x="19" y="476"/>
                    </a:lnTo>
                    <a:lnTo>
                      <a:pt x="16" y="473"/>
                    </a:lnTo>
                    <a:lnTo>
                      <a:pt x="13" y="471"/>
                    </a:lnTo>
                    <a:lnTo>
                      <a:pt x="9" y="467"/>
                    </a:lnTo>
                    <a:lnTo>
                      <a:pt x="6" y="464"/>
                    </a:lnTo>
                    <a:lnTo>
                      <a:pt x="3" y="461"/>
                    </a:lnTo>
                    <a:lnTo>
                      <a:pt x="0" y="45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14" name="Freeform 4132"/>
              <p:cNvSpPr>
                <a:spLocks noChangeAspect="1"/>
              </p:cNvSpPr>
              <p:nvPr/>
            </p:nvSpPr>
            <p:spPr bwMode="auto">
              <a:xfrm>
                <a:off x="5318" y="1060"/>
                <a:ext cx="9" cy="168"/>
              </a:xfrm>
              <a:custGeom>
                <a:avLst/>
                <a:gdLst>
                  <a:gd name="T0" fmla="*/ 0 w 26"/>
                  <a:gd name="T1" fmla="*/ 0 h 503"/>
                  <a:gd name="T2" fmla="*/ 0 w 26"/>
                  <a:gd name="T3" fmla="*/ 0 h 503"/>
                  <a:gd name="T4" fmla="*/ 0 w 26"/>
                  <a:gd name="T5" fmla="*/ 0 h 503"/>
                  <a:gd name="T6" fmla="*/ 0 w 26"/>
                  <a:gd name="T7" fmla="*/ 0 h 503"/>
                  <a:gd name="T8" fmla="*/ 0 w 26"/>
                  <a:gd name="T9" fmla="*/ 0 h 503"/>
                  <a:gd name="T10" fmla="*/ 0 w 26"/>
                  <a:gd name="T11" fmla="*/ 0 h 503"/>
                  <a:gd name="T12" fmla="*/ 0 w 26"/>
                  <a:gd name="T13" fmla="*/ 0 h 503"/>
                  <a:gd name="T14" fmla="*/ 0 w 26"/>
                  <a:gd name="T15" fmla="*/ 0 h 503"/>
                  <a:gd name="T16" fmla="*/ 0 w 26"/>
                  <a:gd name="T17" fmla="*/ 0 h 503"/>
                  <a:gd name="T18" fmla="*/ 0 w 26"/>
                  <a:gd name="T19" fmla="*/ 0 h 503"/>
                  <a:gd name="T20" fmla="*/ 0 w 26"/>
                  <a:gd name="T21" fmla="*/ 0 h 503"/>
                  <a:gd name="T22" fmla="*/ 0 w 26"/>
                  <a:gd name="T23" fmla="*/ 0 h 503"/>
                  <a:gd name="T24" fmla="*/ 0 w 26"/>
                  <a:gd name="T25" fmla="*/ 0 h 503"/>
                  <a:gd name="T26" fmla="*/ 0 w 26"/>
                  <a:gd name="T27" fmla="*/ 0 h 503"/>
                  <a:gd name="T28" fmla="*/ 0 w 26"/>
                  <a:gd name="T29" fmla="*/ 0 h 503"/>
                  <a:gd name="T30" fmla="*/ 0 w 26"/>
                  <a:gd name="T31" fmla="*/ 0 h 503"/>
                  <a:gd name="T32" fmla="*/ 0 w 26"/>
                  <a:gd name="T33" fmla="*/ 0 h 503"/>
                  <a:gd name="T34" fmla="*/ 0 w 26"/>
                  <a:gd name="T35" fmla="*/ 0 h 503"/>
                  <a:gd name="T36" fmla="*/ 0 w 26"/>
                  <a:gd name="T37" fmla="*/ 0 h 5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03">
                    <a:moveTo>
                      <a:pt x="0" y="482"/>
                    </a:moveTo>
                    <a:lnTo>
                      <a:pt x="0" y="21"/>
                    </a:lnTo>
                    <a:lnTo>
                      <a:pt x="3" y="18"/>
                    </a:lnTo>
                    <a:lnTo>
                      <a:pt x="6" y="16"/>
                    </a:lnTo>
                    <a:lnTo>
                      <a:pt x="9" y="13"/>
                    </a:lnTo>
                    <a:lnTo>
                      <a:pt x="12" y="11"/>
                    </a:lnTo>
                    <a:lnTo>
                      <a:pt x="16" y="7"/>
                    </a:lnTo>
                    <a:lnTo>
                      <a:pt x="20" y="5"/>
                    </a:lnTo>
                    <a:lnTo>
                      <a:pt x="23" y="2"/>
                    </a:lnTo>
                    <a:lnTo>
                      <a:pt x="26" y="0"/>
                    </a:lnTo>
                    <a:lnTo>
                      <a:pt x="26" y="503"/>
                    </a:lnTo>
                    <a:lnTo>
                      <a:pt x="23" y="500"/>
                    </a:lnTo>
                    <a:lnTo>
                      <a:pt x="20" y="498"/>
                    </a:lnTo>
                    <a:lnTo>
                      <a:pt x="16" y="495"/>
                    </a:lnTo>
                    <a:lnTo>
                      <a:pt x="12" y="492"/>
                    </a:lnTo>
                    <a:lnTo>
                      <a:pt x="9" y="490"/>
                    </a:lnTo>
                    <a:lnTo>
                      <a:pt x="6" y="487"/>
                    </a:lnTo>
                    <a:lnTo>
                      <a:pt x="3" y="484"/>
                    </a:lnTo>
                    <a:lnTo>
                      <a:pt x="0" y="48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15" name="Freeform 4133"/>
              <p:cNvSpPr>
                <a:spLocks noChangeAspect="1"/>
              </p:cNvSpPr>
              <p:nvPr/>
            </p:nvSpPr>
            <p:spPr bwMode="auto">
              <a:xfrm>
                <a:off x="5322" y="1057"/>
                <a:ext cx="9" cy="174"/>
              </a:xfrm>
              <a:custGeom>
                <a:avLst/>
                <a:gdLst>
                  <a:gd name="T0" fmla="*/ 0 w 27"/>
                  <a:gd name="T1" fmla="*/ 0 h 520"/>
                  <a:gd name="T2" fmla="*/ 0 w 27"/>
                  <a:gd name="T3" fmla="*/ 0 h 520"/>
                  <a:gd name="T4" fmla="*/ 0 w 27"/>
                  <a:gd name="T5" fmla="*/ 0 h 520"/>
                  <a:gd name="T6" fmla="*/ 0 w 27"/>
                  <a:gd name="T7" fmla="*/ 0 h 520"/>
                  <a:gd name="T8" fmla="*/ 0 w 27"/>
                  <a:gd name="T9" fmla="*/ 0 h 520"/>
                  <a:gd name="T10" fmla="*/ 0 w 27"/>
                  <a:gd name="T11" fmla="*/ 0 h 520"/>
                  <a:gd name="T12" fmla="*/ 0 w 27"/>
                  <a:gd name="T13" fmla="*/ 0 h 520"/>
                  <a:gd name="T14" fmla="*/ 0 w 27"/>
                  <a:gd name="T15" fmla="*/ 0 h 520"/>
                  <a:gd name="T16" fmla="*/ 0 w 27"/>
                  <a:gd name="T17" fmla="*/ 0 h 520"/>
                  <a:gd name="T18" fmla="*/ 0 w 27"/>
                  <a:gd name="T19" fmla="*/ 0 h 520"/>
                  <a:gd name="T20" fmla="*/ 0 w 27"/>
                  <a:gd name="T21" fmla="*/ 0 h 520"/>
                  <a:gd name="T22" fmla="*/ 0 w 27"/>
                  <a:gd name="T23" fmla="*/ 0 h 520"/>
                  <a:gd name="T24" fmla="*/ 0 w 27"/>
                  <a:gd name="T25" fmla="*/ 0 h 520"/>
                  <a:gd name="T26" fmla="*/ 0 w 27"/>
                  <a:gd name="T27" fmla="*/ 0 h 520"/>
                  <a:gd name="T28" fmla="*/ 0 w 27"/>
                  <a:gd name="T29" fmla="*/ 0 h 520"/>
                  <a:gd name="T30" fmla="*/ 0 w 27"/>
                  <a:gd name="T31" fmla="*/ 0 h 520"/>
                  <a:gd name="T32" fmla="*/ 0 w 27"/>
                  <a:gd name="T33" fmla="*/ 0 h 520"/>
                  <a:gd name="T34" fmla="*/ 0 w 27"/>
                  <a:gd name="T35" fmla="*/ 0 h 520"/>
                  <a:gd name="T36" fmla="*/ 0 w 27"/>
                  <a:gd name="T37" fmla="*/ 0 h 5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20">
                    <a:moveTo>
                      <a:pt x="0" y="501"/>
                    </a:moveTo>
                    <a:lnTo>
                      <a:pt x="0" y="20"/>
                    </a:lnTo>
                    <a:lnTo>
                      <a:pt x="4" y="16"/>
                    </a:lnTo>
                    <a:lnTo>
                      <a:pt x="7" y="14"/>
                    </a:lnTo>
                    <a:lnTo>
                      <a:pt x="10" y="12"/>
                    </a:lnTo>
                    <a:lnTo>
                      <a:pt x="13" y="9"/>
                    </a:lnTo>
                    <a:lnTo>
                      <a:pt x="16" y="7"/>
                    </a:lnTo>
                    <a:lnTo>
                      <a:pt x="20" y="5"/>
                    </a:lnTo>
                    <a:lnTo>
                      <a:pt x="23" y="3"/>
                    </a:lnTo>
                    <a:lnTo>
                      <a:pt x="27" y="0"/>
                    </a:lnTo>
                    <a:lnTo>
                      <a:pt x="27" y="520"/>
                    </a:lnTo>
                    <a:lnTo>
                      <a:pt x="23" y="518"/>
                    </a:lnTo>
                    <a:lnTo>
                      <a:pt x="20" y="516"/>
                    </a:lnTo>
                    <a:lnTo>
                      <a:pt x="16" y="514"/>
                    </a:lnTo>
                    <a:lnTo>
                      <a:pt x="13" y="511"/>
                    </a:lnTo>
                    <a:lnTo>
                      <a:pt x="10" y="509"/>
                    </a:lnTo>
                    <a:lnTo>
                      <a:pt x="7" y="507"/>
                    </a:lnTo>
                    <a:lnTo>
                      <a:pt x="4" y="504"/>
                    </a:lnTo>
                    <a:lnTo>
                      <a:pt x="0" y="50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16" name="Freeform 4134"/>
              <p:cNvSpPr>
                <a:spLocks noChangeAspect="1"/>
              </p:cNvSpPr>
              <p:nvPr/>
            </p:nvSpPr>
            <p:spPr bwMode="auto">
              <a:xfrm>
                <a:off x="5327" y="1055"/>
                <a:ext cx="9" cy="179"/>
              </a:xfrm>
              <a:custGeom>
                <a:avLst/>
                <a:gdLst>
                  <a:gd name="T0" fmla="*/ 0 w 27"/>
                  <a:gd name="T1" fmla="*/ 0 h 537"/>
                  <a:gd name="T2" fmla="*/ 0 w 27"/>
                  <a:gd name="T3" fmla="*/ 0 h 537"/>
                  <a:gd name="T4" fmla="*/ 0 w 27"/>
                  <a:gd name="T5" fmla="*/ 0 h 537"/>
                  <a:gd name="T6" fmla="*/ 0 w 27"/>
                  <a:gd name="T7" fmla="*/ 0 h 537"/>
                  <a:gd name="T8" fmla="*/ 0 w 27"/>
                  <a:gd name="T9" fmla="*/ 0 h 537"/>
                  <a:gd name="T10" fmla="*/ 0 w 27"/>
                  <a:gd name="T11" fmla="*/ 0 h 537"/>
                  <a:gd name="T12" fmla="*/ 0 w 27"/>
                  <a:gd name="T13" fmla="*/ 0 h 537"/>
                  <a:gd name="T14" fmla="*/ 0 w 27"/>
                  <a:gd name="T15" fmla="*/ 0 h 537"/>
                  <a:gd name="T16" fmla="*/ 0 w 27"/>
                  <a:gd name="T17" fmla="*/ 0 h 537"/>
                  <a:gd name="T18" fmla="*/ 0 w 27"/>
                  <a:gd name="T19" fmla="*/ 0 h 537"/>
                  <a:gd name="T20" fmla="*/ 0 w 27"/>
                  <a:gd name="T21" fmla="*/ 0 h 537"/>
                  <a:gd name="T22" fmla="*/ 0 w 27"/>
                  <a:gd name="T23" fmla="*/ 0 h 537"/>
                  <a:gd name="T24" fmla="*/ 0 w 27"/>
                  <a:gd name="T25" fmla="*/ 0 h 537"/>
                  <a:gd name="T26" fmla="*/ 0 w 27"/>
                  <a:gd name="T27" fmla="*/ 0 h 537"/>
                  <a:gd name="T28" fmla="*/ 0 w 27"/>
                  <a:gd name="T29" fmla="*/ 0 h 537"/>
                  <a:gd name="T30" fmla="*/ 0 w 27"/>
                  <a:gd name="T31" fmla="*/ 0 h 537"/>
                  <a:gd name="T32" fmla="*/ 0 w 27"/>
                  <a:gd name="T33" fmla="*/ 0 h 537"/>
                  <a:gd name="T34" fmla="*/ 0 w 27"/>
                  <a:gd name="T35" fmla="*/ 0 h 537"/>
                  <a:gd name="T36" fmla="*/ 0 w 27"/>
                  <a:gd name="T37" fmla="*/ 0 h 5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37">
                    <a:moveTo>
                      <a:pt x="0" y="520"/>
                    </a:moveTo>
                    <a:lnTo>
                      <a:pt x="0" y="17"/>
                    </a:lnTo>
                    <a:lnTo>
                      <a:pt x="3" y="15"/>
                    </a:lnTo>
                    <a:lnTo>
                      <a:pt x="7" y="13"/>
                    </a:lnTo>
                    <a:lnTo>
                      <a:pt x="10" y="11"/>
                    </a:lnTo>
                    <a:lnTo>
                      <a:pt x="13" y="8"/>
                    </a:lnTo>
                    <a:lnTo>
                      <a:pt x="16" y="6"/>
                    </a:lnTo>
                    <a:lnTo>
                      <a:pt x="20" y="4"/>
                    </a:lnTo>
                    <a:lnTo>
                      <a:pt x="24" y="2"/>
                    </a:lnTo>
                    <a:lnTo>
                      <a:pt x="27" y="0"/>
                    </a:lnTo>
                    <a:lnTo>
                      <a:pt x="27" y="537"/>
                    </a:lnTo>
                    <a:lnTo>
                      <a:pt x="24" y="535"/>
                    </a:lnTo>
                    <a:lnTo>
                      <a:pt x="20" y="533"/>
                    </a:lnTo>
                    <a:lnTo>
                      <a:pt x="16" y="530"/>
                    </a:lnTo>
                    <a:lnTo>
                      <a:pt x="13" y="528"/>
                    </a:lnTo>
                    <a:lnTo>
                      <a:pt x="10" y="526"/>
                    </a:lnTo>
                    <a:lnTo>
                      <a:pt x="7" y="524"/>
                    </a:lnTo>
                    <a:lnTo>
                      <a:pt x="3" y="522"/>
                    </a:lnTo>
                    <a:lnTo>
                      <a:pt x="0" y="5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17" name="Freeform 4135"/>
              <p:cNvSpPr>
                <a:spLocks noChangeAspect="1"/>
              </p:cNvSpPr>
              <p:nvPr/>
            </p:nvSpPr>
            <p:spPr bwMode="auto">
              <a:xfrm>
                <a:off x="5331" y="1052"/>
                <a:ext cx="9" cy="184"/>
              </a:xfrm>
              <a:custGeom>
                <a:avLst/>
                <a:gdLst>
                  <a:gd name="T0" fmla="*/ 0 w 27"/>
                  <a:gd name="T1" fmla="*/ 0 h 551"/>
                  <a:gd name="T2" fmla="*/ 0 w 27"/>
                  <a:gd name="T3" fmla="*/ 0 h 551"/>
                  <a:gd name="T4" fmla="*/ 0 w 27"/>
                  <a:gd name="T5" fmla="*/ 0 h 551"/>
                  <a:gd name="T6" fmla="*/ 0 w 27"/>
                  <a:gd name="T7" fmla="*/ 0 h 551"/>
                  <a:gd name="T8" fmla="*/ 0 w 27"/>
                  <a:gd name="T9" fmla="*/ 0 h 551"/>
                  <a:gd name="T10" fmla="*/ 0 w 27"/>
                  <a:gd name="T11" fmla="*/ 0 h 551"/>
                  <a:gd name="T12" fmla="*/ 0 w 27"/>
                  <a:gd name="T13" fmla="*/ 0 h 551"/>
                  <a:gd name="T14" fmla="*/ 0 w 27"/>
                  <a:gd name="T15" fmla="*/ 0 h 551"/>
                  <a:gd name="T16" fmla="*/ 0 w 27"/>
                  <a:gd name="T17" fmla="*/ 0 h 551"/>
                  <a:gd name="T18" fmla="*/ 0 w 27"/>
                  <a:gd name="T19" fmla="*/ 0 h 551"/>
                  <a:gd name="T20" fmla="*/ 0 w 27"/>
                  <a:gd name="T21" fmla="*/ 0 h 551"/>
                  <a:gd name="T22" fmla="*/ 0 w 27"/>
                  <a:gd name="T23" fmla="*/ 0 h 551"/>
                  <a:gd name="T24" fmla="*/ 0 w 27"/>
                  <a:gd name="T25" fmla="*/ 0 h 551"/>
                  <a:gd name="T26" fmla="*/ 0 w 27"/>
                  <a:gd name="T27" fmla="*/ 0 h 551"/>
                  <a:gd name="T28" fmla="*/ 0 w 27"/>
                  <a:gd name="T29" fmla="*/ 0 h 551"/>
                  <a:gd name="T30" fmla="*/ 0 w 27"/>
                  <a:gd name="T31" fmla="*/ 0 h 551"/>
                  <a:gd name="T32" fmla="*/ 0 w 27"/>
                  <a:gd name="T33" fmla="*/ 0 h 551"/>
                  <a:gd name="T34" fmla="*/ 0 w 27"/>
                  <a:gd name="T35" fmla="*/ 0 h 551"/>
                  <a:gd name="T36" fmla="*/ 0 w 27"/>
                  <a:gd name="T37" fmla="*/ 0 h 5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51">
                    <a:moveTo>
                      <a:pt x="0" y="535"/>
                    </a:moveTo>
                    <a:lnTo>
                      <a:pt x="0" y="15"/>
                    </a:lnTo>
                    <a:lnTo>
                      <a:pt x="3" y="13"/>
                    </a:lnTo>
                    <a:lnTo>
                      <a:pt x="6" y="11"/>
                    </a:lnTo>
                    <a:lnTo>
                      <a:pt x="10" y="9"/>
                    </a:lnTo>
                    <a:lnTo>
                      <a:pt x="13" y="7"/>
                    </a:lnTo>
                    <a:lnTo>
                      <a:pt x="16" y="5"/>
                    </a:lnTo>
                    <a:lnTo>
                      <a:pt x="19" y="4"/>
                    </a:lnTo>
                    <a:lnTo>
                      <a:pt x="22" y="2"/>
                    </a:lnTo>
                    <a:lnTo>
                      <a:pt x="27" y="0"/>
                    </a:lnTo>
                    <a:lnTo>
                      <a:pt x="27" y="551"/>
                    </a:lnTo>
                    <a:lnTo>
                      <a:pt x="22" y="549"/>
                    </a:lnTo>
                    <a:lnTo>
                      <a:pt x="19" y="547"/>
                    </a:lnTo>
                    <a:lnTo>
                      <a:pt x="16" y="545"/>
                    </a:lnTo>
                    <a:lnTo>
                      <a:pt x="13" y="544"/>
                    </a:lnTo>
                    <a:lnTo>
                      <a:pt x="10" y="542"/>
                    </a:lnTo>
                    <a:lnTo>
                      <a:pt x="6" y="540"/>
                    </a:lnTo>
                    <a:lnTo>
                      <a:pt x="3" y="537"/>
                    </a:lnTo>
                    <a:lnTo>
                      <a:pt x="0" y="53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18" name="Freeform 4136"/>
              <p:cNvSpPr>
                <a:spLocks noChangeAspect="1"/>
              </p:cNvSpPr>
              <p:nvPr/>
            </p:nvSpPr>
            <p:spPr bwMode="auto">
              <a:xfrm>
                <a:off x="5336" y="1050"/>
                <a:ext cx="8" cy="188"/>
              </a:xfrm>
              <a:custGeom>
                <a:avLst/>
                <a:gdLst>
                  <a:gd name="T0" fmla="*/ 0 w 26"/>
                  <a:gd name="T1" fmla="*/ 0 h 565"/>
                  <a:gd name="T2" fmla="*/ 0 w 26"/>
                  <a:gd name="T3" fmla="*/ 0 h 565"/>
                  <a:gd name="T4" fmla="*/ 0 w 26"/>
                  <a:gd name="T5" fmla="*/ 0 h 565"/>
                  <a:gd name="T6" fmla="*/ 0 w 26"/>
                  <a:gd name="T7" fmla="*/ 0 h 565"/>
                  <a:gd name="T8" fmla="*/ 0 w 26"/>
                  <a:gd name="T9" fmla="*/ 0 h 565"/>
                  <a:gd name="T10" fmla="*/ 0 w 26"/>
                  <a:gd name="T11" fmla="*/ 0 h 565"/>
                  <a:gd name="T12" fmla="*/ 0 w 26"/>
                  <a:gd name="T13" fmla="*/ 0 h 565"/>
                  <a:gd name="T14" fmla="*/ 0 w 26"/>
                  <a:gd name="T15" fmla="*/ 0 h 565"/>
                  <a:gd name="T16" fmla="*/ 0 w 26"/>
                  <a:gd name="T17" fmla="*/ 0 h 565"/>
                  <a:gd name="T18" fmla="*/ 0 w 26"/>
                  <a:gd name="T19" fmla="*/ 0 h 565"/>
                  <a:gd name="T20" fmla="*/ 0 w 26"/>
                  <a:gd name="T21" fmla="*/ 0 h 565"/>
                  <a:gd name="T22" fmla="*/ 0 w 26"/>
                  <a:gd name="T23" fmla="*/ 0 h 565"/>
                  <a:gd name="T24" fmla="*/ 0 w 26"/>
                  <a:gd name="T25" fmla="*/ 0 h 565"/>
                  <a:gd name="T26" fmla="*/ 0 w 26"/>
                  <a:gd name="T27" fmla="*/ 0 h 565"/>
                  <a:gd name="T28" fmla="*/ 0 w 26"/>
                  <a:gd name="T29" fmla="*/ 0 h 565"/>
                  <a:gd name="T30" fmla="*/ 0 w 26"/>
                  <a:gd name="T31" fmla="*/ 0 h 565"/>
                  <a:gd name="T32" fmla="*/ 0 w 26"/>
                  <a:gd name="T33" fmla="*/ 0 h 565"/>
                  <a:gd name="T34" fmla="*/ 0 w 26"/>
                  <a:gd name="T35" fmla="*/ 0 h 565"/>
                  <a:gd name="T36" fmla="*/ 0 w 26"/>
                  <a:gd name="T37" fmla="*/ 0 h 5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65">
                    <a:moveTo>
                      <a:pt x="0" y="551"/>
                    </a:moveTo>
                    <a:lnTo>
                      <a:pt x="0" y="14"/>
                    </a:lnTo>
                    <a:lnTo>
                      <a:pt x="3" y="12"/>
                    </a:lnTo>
                    <a:lnTo>
                      <a:pt x="6" y="11"/>
                    </a:lnTo>
                    <a:lnTo>
                      <a:pt x="9" y="9"/>
                    </a:lnTo>
                    <a:lnTo>
                      <a:pt x="13" y="7"/>
                    </a:lnTo>
                    <a:lnTo>
                      <a:pt x="16" y="5"/>
                    </a:lnTo>
                    <a:lnTo>
                      <a:pt x="20" y="3"/>
                    </a:lnTo>
                    <a:lnTo>
                      <a:pt x="23" y="2"/>
                    </a:lnTo>
                    <a:lnTo>
                      <a:pt x="26" y="0"/>
                    </a:lnTo>
                    <a:lnTo>
                      <a:pt x="26" y="565"/>
                    </a:lnTo>
                    <a:lnTo>
                      <a:pt x="23" y="563"/>
                    </a:lnTo>
                    <a:lnTo>
                      <a:pt x="20" y="561"/>
                    </a:lnTo>
                    <a:lnTo>
                      <a:pt x="16" y="559"/>
                    </a:lnTo>
                    <a:lnTo>
                      <a:pt x="13" y="558"/>
                    </a:lnTo>
                    <a:lnTo>
                      <a:pt x="9" y="556"/>
                    </a:lnTo>
                    <a:lnTo>
                      <a:pt x="6" y="554"/>
                    </a:lnTo>
                    <a:lnTo>
                      <a:pt x="3" y="553"/>
                    </a:lnTo>
                    <a:lnTo>
                      <a:pt x="0" y="55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19" name="Freeform 4137"/>
              <p:cNvSpPr>
                <a:spLocks noChangeAspect="1"/>
              </p:cNvSpPr>
              <p:nvPr/>
            </p:nvSpPr>
            <p:spPr bwMode="auto">
              <a:xfrm>
                <a:off x="5340" y="1048"/>
                <a:ext cx="9" cy="192"/>
              </a:xfrm>
              <a:custGeom>
                <a:avLst/>
                <a:gdLst>
                  <a:gd name="T0" fmla="*/ 0 w 25"/>
                  <a:gd name="T1" fmla="*/ 0 h 576"/>
                  <a:gd name="T2" fmla="*/ 0 w 25"/>
                  <a:gd name="T3" fmla="*/ 0 h 576"/>
                  <a:gd name="T4" fmla="*/ 0 w 25"/>
                  <a:gd name="T5" fmla="*/ 0 h 576"/>
                  <a:gd name="T6" fmla="*/ 0 w 25"/>
                  <a:gd name="T7" fmla="*/ 0 h 576"/>
                  <a:gd name="T8" fmla="*/ 0 w 25"/>
                  <a:gd name="T9" fmla="*/ 0 h 576"/>
                  <a:gd name="T10" fmla="*/ 0 w 25"/>
                  <a:gd name="T11" fmla="*/ 0 h 576"/>
                  <a:gd name="T12" fmla="*/ 0 w 25"/>
                  <a:gd name="T13" fmla="*/ 0 h 576"/>
                  <a:gd name="T14" fmla="*/ 0 w 25"/>
                  <a:gd name="T15" fmla="*/ 0 h 576"/>
                  <a:gd name="T16" fmla="*/ 0 w 25"/>
                  <a:gd name="T17" fmla="*/ 0 h 576"/>
                  <a:gd name="T18" fmla="*/ 0 w 25"/>
                  <a:gd name="T19" fmla="*/ 0 h 576"/>
                  <a:gd name="T20" fmla="*/ 0 w 25"/>
                  <a:gd name="T21" fmla="*/ 0 h 576"/>
                  <a:gd name="T22" fmla="*/ 0 w 25"/>
                  <a:gd name="T23" fmla="*/ 0 h 576"/>
                  <a:gd name="T24" fmla="*/ 0 w 25"/>
                  <a:gd name="T25" fmla="*/ 0 h 576"/>
                  <a:gd name="T26" fmla="*/ 0 w 25"/>
                  <a:gd name="T27" fmla="*/ 0 h 576"/>
                  <a:gd name="T28" fmla="*/ 0 w 25"/>
                  <a:gd name="T29" fmla="*/ 0 h 576"/>
                  <a:gd name="T30" fmla="*/ 0 w 25"/>
                  <a:gd name="T31" fmla="*/ 0 h 576"/>
                  <a:gd name="T32" fmla="*/ 0 w 25"/>
                  <a:gd name="T33" fmla="*/ 0 h 576"/>
                  <a:gd name="T34" fmla="*/ 0 w 25"/>
                  <a:gd name="T35" fmla="*/ 0 h 576"/>
                  <a:gd name="T36" fmla="*/ 0 w 25"/>
                  <a:gd name="T37" fmla="*/ 0 h 5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5" h="576">
                    <a:moveTo>
                      <a:pt x="0" y="564"/>
                    </a:moveTo>
                    <a:lnTo>
                      <a:pt x="0" y="13"/>
                    </a:lnTo>
                    <a:lnTo>
                      <a:pt x="3" y="11"/>
                    </a:lnTo>
                    <a:lnTo>
                      <a:pt x="6" y="9"/>
                    </a:lnTo>
                    <a:lnTo>
                      <a:pt x="9" y="8"/>
                    </a:lnTo>
                    <a:lnTo>
                      <a:pt x="12" y="6"/>
                    </a:lnTo>
                    <a:lnTo>
                      <a:pt x="16" y="5"/>
                    </a:lnTo>
                    <a:lnTo>
                      <a:pt x="19" y="3"/>
                    </a:lnTo>
                    <a:lnTo>
                      <a:pt x="22" y="2"/>
                    </a:lnTo>
                    <a:lnTo>
                      <a:pt x="25" y="0"/>
                    </a:lnTo>
                    <a:lnTo>
                      <a:pt x="25" y="576"/>
                    </a:lnTo>
                    <a:lnTo>
                      <a:pt x="22" y="575"/>
                    </a:lnTo>
                    <a:lnTo>
                      <a:pt x="19" y="574"/>
                    </a:lnTo>
                    <a:lnTo>
                      <a:pt x="16" y="572"/>
                    </a:lnTo>
                    <a:lnTo>
                      <a:pt x="12" y="571"/>
                    </a:lnTo>
                    <a:lnTo>
                      <a:pt x="9" y="569"/>
                    </a:lnTo>
                    <a:lnTo>
                      <a:pt x="6" y="567"/>
                    </a:lnTo>
                    <a:lnTo>
                      <a:pt x="3" y="565"/>
                    </a:lnTo>
                    <a:lnTo>
                      <a:pt x="0" y="56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20" name="Freeform 4138"/>
              <p:cNvSpPr>
                <a:spLocks noChangeAspect="1"/>
              </p:cNvSpPr>
              <p:nvPr/>
            </p:nvSpPr>
            <p:spPr bwMode="auto">
              <a:xfrm>
                <a:off x="5344" y="1046"/>
                <a:ext cx="9" cy="196"/>
              </a:xfrm>
              <a:custGeom>
                <a:avLst/>
                <a:gdLst>
                  <a:gd name="T0" fmla="*/ 0 w 27"/>
                  <a:gd name="T1" fmla="*/ 0 h 586"/>
                  <a:gd name="T2" fmla="*/ 0 w 27"/>
                  <a:gd name="T3" fmla="*/ 0 h 586"/>
                  <a:gd name="T4" fmla="*/ 0 w 27"/>
                  <a:gd name="T5" fmla="*/ 0 h 586"/>
                  <a:gd name="T6" fmla="*/ 0 w 27"/>
                  <a:gd name="T7" fmla="*/ 0 h 586"/>
                  <a:gd name="T8" fmla="*/ 0 w 27"/>
                  <a:gd name="T9" fmla="*/ 0 h 586"/>
                  <a:gd name="T10" fmla="*/ 0 w 27"/>
                  <a:gd name="T11" fmla="*/ 0 h 586"/>
                  <a:gd name="T12" fmla="*/ 0 w 27"/>
                  <a:gd name="T13" fmla="*/ 0 h 586"/>
                  <a:gd name="T14" fmla="*/ 0 w 27"/>
                  <a:gd name="T15" fmla="*/ 0 h 586"/>
                  <a:gd name="T16" fmla="*/ 0 w 27"/>
                  <a:gd name="T17" fmla="*/ 0 h 586"/>
                  <a:gd name="T18" fmla="*/ 0 w 27"/>
                  <a:gd name="T19" fmla="*/ 0 h 586"/>
                  <a:gd name="T20" fmla="*/ 0 w 27"/>
                  <a:gd name="T21" fmla="*/ 0 h 586"/>
                  <a:gd name="T22" fmla="*/ 0 w 27"/>
                  <a:gd name="T23" fmla="*/ 0 h 586"/>
                  <a:gd name="T24" fmla="*/ 0 w 27"/>
                  <a:gd name="T25" fmla="*/ 0 h 586"/>
                  <a:gd name="T26" fmla="*/ 0 w 27"/>
                  <a:gd name="T27" fmla="*/ 0 h 586"/>
                  <a:gd name="T28" fmla="*/ 0 w 27"/>
                  <a:gd name="T29" fmla="*/ 0 h 586"/>
                  <a:gd name="T30" fmla="*/ 0 w 27"/>
                  <a:gd name="T31" fmla="*/ 0 h 586"/>
                  <a:gd name="T32" fmla="*/ 0 w 27"/>
                  <a:gd name="T33" fmla="*/ 0 h 586"/>
                  <a:gd name="T34" fmla="*/ 0 w 27"/>
                  <a:gd name="T35" fmla="*/ 0 h 586"/>
                  <a:gd name="T36" fmla="*/ 0 w 27"/>
                  <a:gd name="T37" fmla="*/ 0 h 58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86">
                    <a:moveTo>
                      <a:pt x="0" y="576"/>
                    </a:moveTo>
                    <a:lnTo>
                      <a:pt x="0" y="11"/>
                    </a:lnTo>
                    <a:lnTo>
                      <a:pt x="4" y="10"/>
                    </a:lnTo>
                    <a:lnTo>
                      <a:pt x="7" y="8"/>
                    </a:lnTo>
                    <a:lnTo>
                      <a:pt x="10" y="7"/>
                    </a:lnTo>
                    <a:lnTo>
                      <a:pt x="13" y="6"/>
                    </a:lnTo>
                    <a:lnTo>
                      <a:pt x="16" y="4"/>
                    </a:lnTo>
                    <a:lnTo>
                      <a:pt x="21" y="3"/>
                    </a:lnTo>
                    <a:lnTo>
                      <a:pt x="24" y="2"/>
                    </a:lnTo>
                    <a:lnTo>
                      <a:pt x="27" y="0"/>
                    </a:lnTo>
                    <a:lnTo>
                      <a:pt x="27" y="586"/>
                    </a:lnTo>
                    <a:lnTo>
                      <a:pt x="24" y="585"/>
                    </a:lnTo>
                    <a:lnTo>
                      <a:pt x="21" y="584"/>
                    </a:lnTo>
                    <a:lnTo>
                      <a:pt x="16" y="583"/>
                    </a:lnTo>
                    <a:lnTo>
                      <a:pt x="13" y="581"/>
                    </a:lnTo>
                    <a:lnTo>
                      <a:pt x="10" y="580"/>
                    </a:lnTo>
                    <a:lnTo>
                      <a:pt x="7" y="579"/>
                    </a:lnTo>
                    <a:lnTo>
                      <a:pt x="4" y="577"/>
                    </a:lnTo>
                    <a:lnTo>
                      <a:pt x="0" y="57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21" name="Freeform 4139"/>
              <p:cNvSpPr>
                <a:spLocks noChangeAspect="1"/>
              </p:cNvSpPr>
              <p:nvPr/>
            </p:nvSpPr>
            <p:spPr bwMode="auto">
              <a:xfrm>
                <a:off x="5349" y="1045"/>
                <a:ext cx="9" cy="198"/>
              </a:xfrm>
              <a:custGeom>
                <a:avLst/>
                <a:gdLst>
                  <a:gd name="T0" fmla="*/ 0 w 27"/>
                  <a:gd name="T1" fmla="*/ 0 h 596"/>
                  <a:gd name="T2" fmla="*/ 0 w 27"/>
                  <a:gd name="T3" fmla="*/ 0 h 596"/>
                  <a:gd name="T4" fmla="*/ 0 w 27"/>
                  <a:gd name="T5" fmla="*/ 0 h 596"/>
                  <a:gd name="T6" fmla="*/ 0 w 27"/>
                  <a:gd name="T7" fmla="*/ 0 h 596"/>
                  <a:gd name="T8" fmla="*/ 0 w 27"/>
                  <a:gd name="T9" fmla="*/ 0 h 596"/>
                  <a:gd name="T10" fmla="*/ 0 w 27"/>
                  <a:gd name="T11" fmla="*/ 0 h 596"/>
                  <a:gd name="T12" fmla="*/ 0 w 27"/>
                  <a:gd name="T13" fmla="*/ 0 h 596"/>
                  <a:gd name="T14" fmla="*/ 0 w 27"/>
                  <a:gd name="T15" fmla="*/ 0 h 596"/>
                  <a:gd name="T16" fmla="*/ 0 w 27"/>
                  <a:gd name="T17" fmla="*/ 0 h 596"/>
                  <a:gd name="T18" fmla="*/ 0 w 27"/>
                  <a:gd name="T19" fmla="*/ 0 h 596"/>
                  <a:gd name="T20" fmla="*/ 0 w 27"/>
                  <a:gd name="T21" fmla="*/ 0 h 596"/>
                  <a:gd name="T22" fmla="*/ 0 w 27"/>
                  <a:gd name="T23" fmla="*/ 0 h 596"/>
                  <a:gd name="T24" fmla="*/ 0 w 27"/>
                  <a:gd name="T25" fmla="*/ 0 h 596"/>
                  <a:gd name="T26" fmla="*/ 0 w 27"/>
                  <a:gd name="T27" fmla="*/ 0 h 596"/>
                  <a:gd name="T28" fmla="*/ 0 w 27"/>
                  <a:gd name="T29" fmla="*/ 0 h 596"/>
                  <a:gd name="T30" fmla="*/ 0 w 27"/>
                  <a:gd name="T31" fmla="*/ 0 h 596"/>
                  <a:gd name="T32" fmla="*/ 0 w 27"/>
                  <a:gd name="T33" fmla="*/ 0 h 596"/>
                  <a:gd name="T34" fmla="*/ 0 w 27"/>
                  <a:gd name="T35" fmla="*/ 0 h 596"/>
                  <a:gd name="T36" fmla="*/ 0 w 27"/>
                  <a:gd name="T37" fmla="*/ 0 h 59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96">
                    <a:moveTo>
                      <a:pt x="0" y="586"/>
                    </a:moveTo>
                    <a:lnTo>
                      <a:pt x="0" y="10"/>
                    </a:lnTo>
                    <a:lnTo>
                      <a:pt x="4" y="9"/>
                    </a:lnTo>
                    <a:lnTo>
                      <a:pt x="8" y="8"/>
                    </a:lnTo>
                    <a:lnTo>
                      <a:pt x="11" y="7"/>
                    </a:lnTo>
                    <a:lnTo>
                      <a:pt x="14" y="5"/>
                    </a:lnTo>
                    <a:lnTo>
                      <a:pt x="17" y="4"/>
                    </a:lnTo>
                    <a:lnTo>
                      <a:pt x="20" y="2"/>
                    </a:lnTo>
                    <a:lnTo>
                      <a:pt x="24" y="1"/>
                    </a:lnTo>
                    <a:lnTo>
                      <a:pt x="27" y="0"/>
                    </a:lnTo>
                    <a:lnTo>
                      <a:pt x="27" y="596"/>
                    </a:lnTo>
                    <a:lnTo>
                      <a:pt x="24" y="594"/>
                    </a:lnTo>
                    <a:lnTo>
                      <a:pt x="20" y="593"/>
                    </a:lnTo>
                    <a:lnTo>
                      <a:pt x="17" y="592"/>
                    </a:lnTo>
                    <a:lnTo>
                      <a:pt x="14" y="591"/>
                    </a:lnTo>
                    <a:lnTo>
                      <a:pt x="11" y="590"/>
                    </a:lnTo>
                    <a:lnTo>
                      <a:pt x="8" y="589"/>
                    </a:lnTo>
                    <a:lnTo>
                      <a:pt x="4" y="588"/>
                    </a:lnTo>
                    <a:lnTo>
                      <a:pt x="0" y="58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22" name="Freeform 4140"/>
              <p:cNvSpPr>
                <a:spLocks noChangeAspect="1"/>
              </p:cNvSpPr>
              <p:nvPr/>
            </p:nvSpPr>
            <p:spPr bwMode="auto">
              <a:xfrm>
                <a:off x="5353" y="1044"/>
                <a:ext cx="9" cy="201"/>
              </a:xfrm>
              <a:custGeom>
                <a:avLst/>
                <a:gdLst>
                  <a:gd name="T0" fmla="*/ 0 w 27"/>
                  <a:gd name="T1" fmla="*/ 0 h 603"/>
                  <a:gd name="T2" fmla="*/ 0 w 27"/>
                  <a:gd name="T3" fmla="*/ 0 h 603"/>
                  <a:gd name="T4" fmla="*/ 0 w 27"/>
                  <a:gd name="T5" fmla="*/ 0 h 603"/>
                  <a:gd name="T6" fmla="*/ 0 w 27"/>
                  <a:gd name="T7" fmla="*/ 0 h 603"/>
                  <a:gd name="T8" fmla="*/ 0 w 27"/>
                  <a:gd name="T9" fmla="*/ 0 h 603"/>
                  <a:gd name="T10" fmla="*/ 0 w 27"/>
                  <a:gd name="T11" fmla="*/ 0 h 603"/>
                  <a:gd name="T12" fmla="*/ 0 w 27"/>
                  <a:gd name="T13" fmla="*/ 0 h 603"/>
                  <a:gd name="T14" fmla="*/ 0 w 27"/>
                  <a:gd name="T15" fmla="*/ 0 h 603"/>
                  <a:gd name="T16" fmla="*/ 0 w 27"/>
                  <a:gd name="T17" fmla="*/ 0 h 603"/>
                  <a:gd name="T18" fmla="*/ 0 w 27"/>
                  <a:gd name="T19" fmla="*/ 0 h 603"/>
                  <a:gd name="T20" fmla="*/ 0 w 27"/>
                  <a:gd name="T21" fmla="*/ 0 h 603"/>
                  <a:gd name="T22" fmla="*/ 0 w 27"/>
                  <a:gd name="T23" fmla="*/ 0 h 603"/>
                  <a:gd name="T24" fmla="*/ 0 w 27"/>
                  <a:gd name="T25" fmla="*/ 0 h 603"/>
                  <a:gd name="T26" fmla="*/ 0 w 27"/>
                  <a:gd name="T27" fmla="*/ 0 h 603"/>
                  <a:gd name="T28" fmla="*/ 0 w 27"/>
                  <a:gd name="T29" fmla="*/ 0 h 603"/>
                  <a:gd name="T30" fmla="*/ 0 w 27"/>
                  <a:gd name="T31" fmla="*/ 0 h 603"/>
                  <a:gd name="T32" fmla="*/ 0 w 27"/>
                  <a:gd name="T33" fmla="*/ 0 h 603"/>
                  <a:gd name="T34" fmla="*/ 0 w 27"/>
                  <a:gd name="T35" fmla="*/ 0 h 603"/>
                  <a:gd name="T36" fmla="*/ 0 w 27"/>
                  <a:gd name="T37" fmla="*/ 0 h 6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03">
                    <a:moveTo>
                      <a:pt x="0" y="594"/>
                    </a:moveTo>
                    <a:lnTo>
                      <a:pt x="0" y="8"/>
                    </a:lnTo>
                    <a:lnTo>
                      <a:pt x="3" y="7"/>
                    </a:lnTo>
                    <a:lnTo>
                      <a:pt x="6" y="5"/>
                    </a:lnTo>
                    <a:lnTo>
                      <a:pt x="10" y="4"/>
                    </a:lnTo>
                    <a:lnTo>
                      <a:pt x="13" y="3"/>
                    </a:lnTo>
                    <a:lnTo>
                      <a:pt x="16" y="2"/>
                    </a:lnTo>
                    <a:lnTo>
                      <a:pt x="20" y="1"/>
                    </a:lnTo>
                    <a:lnTo>
                      <a:pt x="23" y="0"/>
                    </a:lnTo>
                    <a:lnTo>
                      <a:pt x="27" y="0"/>
                    </a:lnTo>
                    <a:lnTo>
                      <a:pt x="27" y="603"/>
                    </a:lnTo>
                    <a:lnTo>
                      <a:pt x="23" y="602"/>
                    </a:lnTo>
                    <a:lnTo>
                      <a:pt x="20" y="601"/>
                    </a:lnTo>
                    <a:lnTo>
                      <a:pt x="16" y="600"/>
                    </a:lnTo>
                    <a:lnTo>
                      <a:pt x="13" y="599"/>
                    </a:lnTo>
                    <a:lnTo>
                      <a:pt x="10" y="597"/>
                    </a:lnTo>
                    <a:lnTo>
                      <a:pt x="6" y="596"/>
                    </a:lnTo>
                    <a:lnTo>
                      <a:pt x="3" y="595"/>
                    </a:lnTo>
                    <a:lnTo>
                      <a:pt x="0" y="59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23" name="Freeform 4141"/>
              <p:cNvSpPr>
                <a:spLocks noChangeAspect="1"/>
              </p:cNvSpPr>
              <p:nvPr/>
            </p:nvSpPr>
            <p:spPr bwMode="auto">
              <a:xfrm>
                <a:off x="5358" y="1042"/>
                <a:ext cx="8" cy="204"/>
              </a:xfrm>
              <a:custGeom>
                <a:avLst/>
                <a:gdLst>
                  <a:gd name="T0" fmla="*/ 0 w 26"/>
                  <a:gd name="T1" fmla="*/ 0 h 610"/>
                  <a:gd name="T2" fmla="*/ 0 w 26"/>
                  <a:gd name="T3" fmla="*/ 0 h 610"/>
                  <a:gd name="T4" fmla="*/ 0 w 26"/>
                  <a:gd name="T5" fmla="*/ 0 h 610"/>
                  <a:gd name="T6" fmla="*/ 0 w 26"/>
                  <a:gd name="T7" fmla="*/ 0 h 610"/>
                  <a:gd name="T8" fmla="*/ 0 w 26"/>
                  <a:gd name="T9" fmla="*/ 0 h 610"/>
                  <a:gd name="T10" fmla="*/ 0 w 26"/>
                  <a:gd name="T11" fmla="*/ 0 h 610"/>
                  <a:gd name="T12" fmla="*/ 0 w 26"/>
                  <a:gd name="T13" fmla="*/ 0 h 610"/>
                  <a:gd name="T14" fmla="*/ 0 w 26"/>
                  <a:gd name="T15" fmla="*/ 0 h 610"/>
                  <a:gd name="T16" fmla="*/ 0 w 26"/>
                  <a:gd name="T17" fmla="*/ 0 h 610"/>
                  <a:gd name="T18" fmla="*/ 0 w 26"/>
                  <a:gd name="T19" fmla="*/ 0 h 610"/>
                  <a:gd name="T20" fmla="*/ 0 w 26"/>
                  <a:gd name="T21" fmla="*/ 0 h 610"/>
                  <a:gd name="T22" fmla="*/ 0 w 26"/>
                  <a:gd name="T23" fmla="*/ 0 h 610"/>
                  <a:gd name="T24" fmla="*/ 0 w 26"/>
                  <a:gd name="T25" fmla="*/ 0 h 610"/>
                  <a:gd name="T26" fmla="*/ 0 w 26"/>
                  <a:gd name="T27" fmla="*/ 0 h 610"/>
                  <a:gd name="T28" fmla="*/ 0 w 26"/>
                  <a:gd name="T29" fmla="*/ 0 h 610"/>
                  <a:gd name="T30" fmla="*/ 0 w 26"/>
                  <a:gd name="T31" fmla="*/ 0 h 610"/>
                  <a:gd name="T32" fmla="*/ 0 w 26"/>
                  <a:gd name="T33" fmla="*/ 0 h 610"/>
                  <a:gd name="T34" fmla="*/ 0 w 26"/>
                  <a:gd name="T35" fmla="*/ 0 h 610"/>
                  <a:gd name="T36" fmla="*/ 0 w 26"/>
                  <a:gd name="T37" fmla="*/ 0 h 6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10">
                    <a:moveTo>
                      <a:pt x="0" y="603"/>
                    </a:moveTo>
                    <a:lnTo>
                      <a:pt x="0" y="7"/>
                    </a:lnTo>
                    <a:lnTo>
                      <a:pt x="3" y="6"/>
                    </a:lnTo>
                    <a:lnTo>
                      <a:pt x="7" y="5"/>
                    </a:lnTo>
                    <a:lnTo>
                      <a:pt x="10" y="4"/>
                    </a:lnTo>
                    <a:lnTo>
                      <a:pt x="14" y="4"/>
                    </a:lnTo>
                    <a:lnTo>
                      <a:pt x="17" y="3"/>
                    </a:lnTo>
                    <a:lnTo>
                      <a:pt x="20" y="2"/>
                    </a:lnTo>
                    <a:lnTo>
                      <a:pt x="23" y="1"/>
                    </a:lnTo>
                    <a:lnTo>
                      <a:pt x="26" y="0"/>
                    </a:lnTo>
                    <a:lnTo>
                      <a:pt x="26" y="610"/>
                    </a:lnTo>
                    <a:lnTo>
                      <a:pt x="23" y="610"/>
                    </a:lnTo>
                    <a:lnTo>
                      <a:pt x="20" y="609"/>
                    </a:lnTo>
                    <a:lnTo>
                      <a:pt x="17" y="608"/>
                    </a:lnTo>
                    <a:lnTo>
                      <a:pt x="14" y="607"/>
                    </a:lnTo>
                    <a:lnTo>
                      <a:pt x="10" y="606"/>
                    </a:lnTo>
                    <a:lnTo>
                      <a:pt x="7" y="605"/>
                    </a:lnTo>
                    <a:lnTo>
                      <a:pt x="3" y="604"/>
                    </a:lnTo>
                    <a:lnTo>
                      <a:pt x="0" y="60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24" name="Freeform 4142"/>
              <p:cNvSpPr>
                <a:spLocks noChangeAspect="1"/>
              </p:cNvSpPr>
              <p:nvPr/>
            </p:nvSpPr>
            <p:spPr bwMode="auto">
              <a:xfrm>
                <a:off x="5362" y="1042"/>
                <a:ext cx="9" cy="205"/>
              </a:xfrm>
              <a:custGeom>
                <a:avLst/>
                <a:gdLst>
                  <a:gd name="T0" fmla="*/ 0 w 26"/>
                  <a:gd name="T1" fmla="*/ 0 h 615"/>
                  <a:gd name="T2" fmla="*/ 0 w 26"/>
                  <a:gd name="T3" fmla="*/ 0 h 615"/>
                  <a:gd name="T4" fmla="*/ 0 w 26"/>
                  <a:gd name="T5" fmla="*/ 0 h 615"/>
                  <a:gd name="T6" fmla="*/ 0 w 26"/>
                  <a:gd name="T7" fmla="*/ 0 h 615"/>
                  <a:gd name="T8" fmla="*/ 0 w 26"/>
                  <a:gd name="T9" fmla="*/ 0 h 615"/>
                  <a:gd name="T10" fmla="*/ 0 w 26"/>
                  <a:gd name="T11" fmla="*/ 0 h 615"/>
                  <a:gd name="T12" fmla="*/ 0 w 26"/>
                  <a:gd name="T13" fmla="*/ 0 h 615"/>
                  <a:gd name="T14" fmla="*/ 0 w 26"/>
                  <a:gd name="T15" fmla="*/ 0 h 615"/>
                  <a:gd name="T16" fmla="*/ 0 w 26"/>
                  <a:gd name="T17" fmla="*/ 0 h 615"/>
                  <a:gd name="T18" fmla="*/ 0 w 26"/>
                  <a:gd name="T19" fmla="*/ 0 h 615"/>
                  <a:gd name="T20" fmla="*/ 0 w 26"/>
                  <a:gd name="T21" fmla="*/ 0 h 615"/>
                  <a:gd name="T22" fmla="*/ 0 w 26"/>
                  <a:gd name="T23" fmla="*/ 0 h 615"/>
                  <a:gd name="T24" fmla="*/ 0 w 26"/>
                  <a:gd name="T25" fmla="*/ 0 h 615"/>
                  <a:gd name="T26" fmla="*/ 0 w 26"/>
                  <a:gd name="T27" fmla="*/ 0 h 615"/>
                  <a:gd name="T28" fmla="*/ 0 w 26"/>
                  <a:gd name="T29" fmla="*/ 0 h 615"/>
                  <a:gd name="T30" fmla="*/ 0 w 26"/>
                  <a:gd name="T31" fmla="*/ 0 h 615"/>
                  <a:gd name="T32" fmla="*/ 0 w 26"/>
                  <a:gd name="T33" fmla="*/ 0 h 615"/>
                  <a:gd name="T34" fmla="*/ 0 w 26"/>
                  <a:gd name="T35" fmla="*/ 0 h 615"/>
                  <a:gd name="T36" fmla="*/ 0 w 26"/>
                  <a:gd name="T37" fmla="*/ 0 h 6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15">
                    <a:moveTo>
                      <a:pt x="0" y="609"/>
                    </a:moveTo>
                    <a:lnTo>
                      <a:pt x="0" y="6"/>
                    </a:lnTo>
                    <a:lnTo>
                      <a:pt x="3" y="5"/>
                    </a:lnTo>
                    <a:lnTo>
                      <a:pt x="6" y="4"/>
                    </a:lnTo>
                    <a:lnTo>
                      <a:pt x="9" y="3"/>
                    </a:lnTo>
                    <a:lnTo>
                      <a:pt x="12" y="2"/>
                    </a:lnTo>
                    <a:lnTo>
                      <a:pt x="16" y="2"/>
                    </a:lnTo>
                    <a:lnTo>
                      <a:pt x="20" y="1"/>
                    </a:lnTo>
                    <a:lnTo>
                      <a:pt x="23" y="0"/>
                    </a:lnTo>
                    <a:lnTo>
                      <a:pt x="26" y="0"/>
                    </a:lnTo>
                    <a:lnTo>
                      <a:pt x="26" y="615"/>
                    </a:lnTo>
                    <a:lnTo>
                      <a:pt x="23" y="614"/>
                    </a:lnTo>
                    <a:lnTo>
                      <a:pt x="20" y="614"/>
                    </a:lnTo>
                    <a:lnTo>
                      <a:pt x="16" y="613"/>
                    </a:lnTo>
                    <a:lnTo>
                      <a:pt x="12" y="612"/>
                    </a:lnTo>
                    <a:lnTo>
                      <a:pt x="9" y="612"/>
                    </a:lnTo>
                    <a:lnTo>
                      <a:pt x="6" y="611"/>
                    </a:lnTo>
                    <a:lnTo>
                      <a:pt x="3" y="610"/>
                    </a:lnTo>
                    <a:lnTo>
                      <a:pt x="0" y="60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25" name="Freeform 4143"/>
              <p:cNvSpPr>
                <a:spLocks noChangeAspect="1"/>
              </p:cNvSpPr>
              <p:nvPr/>
            </p:nvSpPr>
            <p:spPr bwMode="auto">
              <a:xfrm>
                <a:off x="5366" y="1041"/>
                <a:ext cx="9" cy="206"/>
              </a:xfrm>
              <a:custGeom>
                <a:avLst/>
                <a:gdLst>
                  <a:gd name="T0" fmla="*/ 0 w 27"/>
                  <a:gd name="T1" fmla="*/ 0 h 620"/>
                  <a:gd name="T2" fmla="*/ 0 w 27"/>
                  <a:gd name="T3" fmla="*/ 0 h 620"/>
                  <a:gd name="T4" fmla="*/ 0 w 27"/>
                  <a:gd name="T5" fmla="*/ 0 h 620"/>
                  <a:gd name="T6" fmla="*/ 0 w 27"/>
                  <a:gd name="T7" fmla="*/ 0 h 620"/>
                  <a:gd name="T8" fmla="*/ 0 w 27"/>
                  <a:gd name="T9" fmla="*/ 0 h 620"/>
                  <a:gd name="T10" fmla="*/ 0 w 27"/>
                  <a:gd name="T11" fmla="*/ 0 h 620"/>
                  <a:gd name="T12" fmla="*/ 0 w 27"/>
                  <a:gd name="T13" fmla="*/ 0 h 620"/>
                  <a:gd name="T14" fmla="*/ 0 w 27"/>
                  <a:gd name="T15" fmla="*/ 0 h 620"/>
                  <a:gd name="T16" fmla="*/ 0 w 27"/>
                  <a:gd name="T17" fmla="*/ 0 h 620"/>
                  <a:gd name="T18" fmla="*/ 0 w 27"/>
                  <a:gd name="T19" fmla="*/ 0 h 620"/>
                  <a:gd name="T20" fmla="*/ 0 w 27"/>
                  <a:gd name="T21" fmla="*/ 0 h 620"/>
                  <a:gd name="T22" fmla="*/ 0 w 27"/>
                  <a:gd name="T23" fmla="*/ 0 h 620"/>
                  <a:gd name="T24" fmla="*/ 0 w 27"/>
                  <a:gd name="T25" fmla="*/ 0 h 620"/>
                  <a:gd name="T26" fmla="*/ 0 w 27"/>
                  <a:gd name="T27" fmla="*/ 0 h 620"/>
                  <a:gd name="T28" fmla="*/ 0 w 27"/>
                  <a:gd name="T29" fmla="*/ 0 h 620"/>
                  <a:gd name="T30" fmla="*/ 0 w 27"/>
                  <a:gd name="T31" fmla="*/ 0 h 620"/>
                  <a:gd name="T32" fmla="*/ 0 w 27"/>
                  <a:gd name="T33" fmla="*/ 0 h 620"/>
                  <a:gd name="T34" fmla="*/ 0 w 27"/>
                  <a:gd name="T35" fmla="*/ 0 h 620"/>
                  <a:gd name="T36" fmla="*/ 0 w 27"/>
                  <a:gd name="T37" fmla="*/ 0 h 6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0">
                    <a:moveTo>
                      <a:pt x="0" y="615"/>
                    </a:moveTo>
                    <a:lnTo>
                      <a:pt x="0" y="5"/>
                    </a:lnTo>
                    <a:lnTo>
                      <a:pt x="4" y="5"/>
                    </a:lnTo>
                    <a:lnTo>
                      <a:pt x="8" y="4"/>
                    </a:lnTo>
                    <a:lnTo>
                      <a:pt x="11" y="3"/>
                    </a:lnTo>
                    <a:lnTo>
                      <a:pt x="14" y="3"/>
                    </a:lnTo>
                    <a:lnTo>
                      <a:pt x="17" y="2"/>
                    </a:lnTo>
                    <a:lnTo>
                      <a:pt x="21" y="2"/>
                    </a:lnTo>
                    <a:lnTo>
                      <a:pt x="24" y="0"/>
                    </a:lnTo>
                    <a:lnTo>
                      <a:pt x="27" y="0"/>
                    </a:lnTo>
                    <a:lnTo>
                      <a:pt x="27" y="620"/>
                    </a:lnTo>
                    <a:lnTo>
                      <a:pt x="24" y="620"/>
                    </a:lnTo>
                    <a:lnTo>
                      <a:pt x="21" y="619"/>
                    </a:lnTo>
                    <a:lnTo>
                      <a:pt x="17" y="619"/>
                    </a:lnTo>
                    <a:lnTo>
                      <a:pt x="14" y="618"/>
                    </a:lnTo>
                    <a:lnTo>
                      <a:pt x="11" y="617"/>
                    </a:lnTo>
                    <a:lnTo>
                      <a:pt x="8" y="617"/>
                    </a:lnTo>
                    <a:lnTo>
                      <a:pt x="4" y="616"/>
                    </a:lnTo>
                    <a:lnTo>
                      <a:pt x="0" y="6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26" name="Freeform 4144"/>
              <p:cNvSpPr>
                <a:spLocks noChangeAspect="1"/>
              </p:cNvSpPr>
              <p:nvPr/>
            </p:nvSpPr>
            <p:spPr bwMode="auto">
              <a:xfrm>
                <a:off x="5371" y="1040"/>
                <a:ext cx="9" cy="208"/>
              </a:xfrm>
              <a:custGeom>
                <a:avLst/>
                <a:gdLst>
                  <a:gd name="T0" fmla="*/ 0 w 27"/>
                  <a:gd name="T1" fmla="*/ 0 h 624"/>
                  <a:gd name="T2" fmla="*/ 0 w 27"/>
                  <a:gd name="T3" fmla="*/ 0 h 624"/>
                  <a:gd name="T4" fmla="*/ 0 w 27"/>
                  <a:gd name="T5" fmla="*/ 0 h 624"/>
                  <a:gd name="T6" fmla="*/ 0 w 27"/>
                  <a:gd name="T7" fmla="*/ 0 h 624"/>
                  <a:gd name="T8" fmla="*/ 0 w 27"/>
                  <a:gd name="T9" fmla="*/ 0 h 624"/>
                  <a:gd name="T10" fmla="*/ 0 w 27"/>
                  <a:gd name="T11" fmla="*/ 0 h 624"/>
                  <a:gd name="T12" fmla="*/ 0 w 27"/>
                  <a:gd name="T13" fmla="*/ 0 h 624"/>
                  <a:gd name="T14" fmla="*/ 0 w 27"/>
                  <a:gd name="T15" fmla="*/ 0 h 624"/>
                  <a:gd name="T16" fmla="*/ 0 w 27"/>
                  <a:gd name="T17" fmla="*/ 0 h 624"/>
                  <a:gd name="T18" fmla="*/ 0 w 27"/>
                  <a:gd name="T19" fmla="*/ 0 h 624"/>
                  <a:gd name="T20" fmla="*/ 0 w 27"/>
                  <a:gd name="T21" fmla="*/ 0 h 624"/>
                  <a:gd name="T22" fmla="*/ 0 w 27"/>
                  <a:gd name="T23" fmla="*/ 0 h 624"/>
                  <a:gd name="T24" fmla="*/ 0 w 27"/>
                  <a:gd name="T25" fmla="*/ 0 h 624"/>
                  <a:gd name="T26" fmla="*/ 0 w 27"/>
                  <a:gd name="T27" fmla="*/ 0 h 624"/>
                  <a:gd name="T28" fmla="*/ 0 w 27"/>
                  <a:gd name="T29" fmla="*/ 0 h 624"/>
                  <a:gd name="T30" fmla="*/ 0 w 27"/>
                  <a:gd name="T31" fmla="*/ 0 h 624"/>
                  <a:gd name="T32" fmla="*/ 0 w 27"/>
                  <a:gd name="T33" fmla="*/ 0 h 624"/>
                  <a:gd name="T34" fmla="*/ 0 w 27"/>
                  <a:gd name="T35" fmla="*/ 0 h 624"/>
                  <a:gd name="T36" fmla="*/ 0 w 27"/>
                  <a:gd name="T37" fmla="*/ 0 h 6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4">
                    <a:moveTo>
                      <a:pt x="0" y="620"/>
                    </a:moveTo>
                    <a:lnTo>
                      <a:pt x="0" y="5"/>
                    </a:lnTo>
                    <a:lnTo>
                      <a:pt x="3" y="4"/>
                    </a:lnTo>
                    <a:lnTo>
                      <a:pt x="7" y="4"/>
                    </a:lnTo>
                    <a:lnTo>
                      <a:pt x="10" y="2"/>
                    </a:lnTo>
                    <a:lnTo>
                      <a:pt x="13" y="2"/>
                    </a:lnTo>
                    <a:lnTo>
                      <a:pt x="16" y="1"/>
                    </a:lnTo>
                    <a:lnTo>
                      <a:pt x="19" y="1"/>
                    </a:lnTo>
                    <a:lnTo>
                      <a:pt x="24" y="0"/>
                    </a:lnTo>
                    <a:lnTo>
                      <a:pt x="27" y="0"/>
                    </a:lnTo>
                    <a:lnTo>
                      <a:pt x="27" y="624"/>
                    </a:lnTo>
                    <a:lnTo>
                      <a:pt x="24" y="624"/>
                    </a:lnTo>
                    <a:lnTo>
                      <a:pt x="19" y="623"/>
                    </a:lnTo>
                    <a:lnTo>
                      <a:pt x="16" y="623"/>
                    </a:lnTo>
                    <a:lnTo>
                      <a:pt x="13" y="622"/>
                    </a:lnTo>
                    <a:lnTo>
                      <a:pt x="10" y="622"/>
                    </a:lnTo>
                    <a:lnTo>
                      <a:pt x="7" y="621"/>
                    </a:lnTo>
                    <a:lnTo>
                      <a:pt x="3" y="621"/>
                    </a:lnTo>
                    <a:lnTo>
                      <a:pt x="0" y="6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27" name="Freeform 4145"/>
              <p:cNvSpPr>
                <a:spLocks noChangeAspect="1"/>
              </p:cNvSpPr>
              <p:nvPr/>
            </p:nvSpPr>
            <p:spPr bwMode="auto">
              <a:xfrm>
                <a:off x="5375" y="1040"/>
                <a:ext cx="9" cy="208"/>
              </a:xfrm>
              <a:custGeom>
                <a:avLst/>
                <a:gdLst>
                  <a:gd name="T0" fmla="*/ 0 w 27"/>
                  <a:gd name="T1" fmla="*/ 0 h 626"/>
                  <a:gd name="T2" fmla="*/ 0 w 27"/>
                  <a:gd name="T3" fmla="*/ 0 h 626"/>
                  <a:gd name="T4" fmla="*/ 0 w 27"/>
                  <a:gd name="T5" fmla="*/ 0 h 626"/>
                  <a:gd name="T6" fmla="*/ 0 w 27"/>
                  <a:gd name="T7" fmla="*/ 0 h 626"/>
                  <a:gd name="T8" fmla="*/ 0 w 27"/>
                  <a:gd name="T9" fmla="*/ 0 h 626"/>
                  <a:gd name="T10" fmla="*/ 0 w 27"/>
                  <a:gd name="T11" fmla="*/ 0 h 626"/>
                  <a:gd name="T12" fmla="*/ 0 w 27"/>
                  <a:gd name="T13" fmla="*/ 0 h 626"/>
                  <a:gd name="T14" fmla="*/ 0 w 27"/>
                  <a:gd name="T15" fmla="*/ 0 h 626"/>
                  <a:gd name="T16" fmla="*/ 0 w 27"/>
                  <a:gd name="T17" fmla="*/ 0 h 626"/>
                  <a:gd name="T18" fmla="*/ 0 w 27"/>
                  <a:gd name="T19" fmla="*/ 0 h 626"/>
                  <a:gd name="T20" fmla="*/ 0 w 27"/>
                  <a:gd name="T21" fmla="*/ 0 h 626"/>
                  <a:gd name="T22" fmla="*/ 0 w 27"/>
                  <a:gd name="T23" fmla="*/ 0 h 626"/>
                  <a:gd name="T24" fmla="*/ 0 w 27"/>
                  <a:gd name="T25" fmla="*/ 0 h 626"/>
                  <a:gd name="T26" fmla="*/ 0 w 27"/>
                  <a:gd name="T27" fmla="*/ 0 h 626"/>
                  <a:gd name="T28" fmla="*/ 0 w 27"/>
                  <a:gd name="T29" fmla="*/ 0 h 626"/>
                  <a:gd name="T30" fmla="*/ 0 w 27"/>
                  <a:gd name="T31" fmla="*/ 0 h 626"/>
                  <a:gd name="T32" fmla="*/ 0 w 27"/>
                  <a:gd name="T33" fmla="*/ 0 h 626"/>
                  <a:gd name="T34" fmla="*/ 0 w 27"/>
                  <a:gd name="T35" fmla="*/ 0 h 626"/>
                  <a:gd name="T36" fmla="*/ 0 w 27"/>
                  <a:gd name="T37" fmla="*/ 0 h 6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6">
                    <a:moveTo>
                      <a:pt x="0" y="623"/>
                    </a:moveTo>
                    <a:lnTo>
                      <a:pt x="0" y="3"/>
                    </a:lnTo>
                    <a:lnTo>
                      <a:pt x="3" y="2"/>
                    </a:lnTo>
                    <a:lnTo>
                      <a:pt x="6" y="2"/>
                    </a:lnTo>
                    <a:lnTo>
                      <a:pt x="11" y="1"/>
                    </a:lnTo>
                    <a:lnTo>
                      <a:pt x="14" y="1"/>
                    </a:lnTo>
                    <a:lnTo>
                      <a:pt x="17" y="1"/>
                    </a:lnTo>
                    <a:lnTo>
                      <a:pt x="20" y="0"/>
                    </a:lnTo>
                    <a:lnTo>
                      <a:pt x="23" y="0"/>
                    </a:lnTo>
                    <a:lnTo>
                      <a:pt x="27" y="0"/>
                    </a:lnTo>
                    <a:lnTo>
                      <a:pt x="27" y="626"/>
                    </a:lnTo>
                    <a:lnTo>
                      <a:pt x="23" y="626"/>
                    </a:lnTo>
                    <a:lnTo>
                      <a:pt x="20" y="626"/>
                    </a:lnTo>
                    <a:lnTo>
                      <a:pt x="17" y="625"/>
                    </a:lnTo>
                    <a:lnTo>
                      <a:pt x="14" y="625"/>
                    </a:lnTo>
                    <a:lnTo>
                      <a:pt x="11" y="625"/>
                    </a:lnTo>
                    <a:lnTo>
                      <a:pt x="6" y="624"/>
                    </a:lnTo>
                    <a:lnTo>
                      <a:pt x="3" y="624"/>
                    </a:lnTo>
                    <a:lnTo>
                      <a:pt x="0" y="62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28" name="Freeform 4146"/>
              <p:cNvSpPr>
                <a:spLocks noChangeAspect="1"/>
              </p:cNvSpPr>
              <p:nvPr/>
            </p:nvSpPr>
            <p:spPr bwMode="auto">
              <a:xfrm>
                <a:off x="5380" y="1039"/>
                <a:ext cx="9" cy="210"/>
              </a:xfrm>
              <a:custGeom>
                <a:avLst/>
                <a:gdLst>
                  <a:gd name="T0" fmla="*/ 0 w 26"/>
                  <a:gd name="T1" fmla="*/ 0 h 629"/>
                  <a:gd name="T2" fmla="*/ 0 w 26"/>
                  <a:gd name="T3" fmla="*/ 0 h 629"/>
                  <a:gd name="T4" fmla="*/ 0 w 26"/>
                  <a:gd name="T5" fmla="*/ 0 h 629"/>
                  <a:gd name="T6" fmla="*/ 0 w 26"/>
                  <a:gd name="T7" fmla="*/ 0 h 629"/>
                  <a:gd name="T8" fmla="*/ 0 w 26"/>
                  <a:gd name="T9" fmla="*/ 0 h 629"/>
                  <a:gd name="T10" fmla="*/ 0 w 26"/>
                  <a:gd name="T11" fmla="*/ 0 h 629"/>
                  <a:gd name="T12" fmla="*/ 0 w 26"/>
                  <a:gd name="T13" fmla="*/ 0 h 629"/>
                  <a:gd name="T14" fmla="*/ 0 w 26"/>
                  <a:gd name="T15" fmla="*/ 0 h 629"/>
                  <a:gd name="T16" fmla="*/ 0 w 26"/>
                  <a:gd name="T17" fmla="*/ 0 h 629"/>
                  <a:gd name="T18" fmla="*/ 0 w 26"/>
                  <a:gd name="T19" fmla="*/ 0 h 629"/>
                  <a:gd name="T20" fmla="*/ 0 w 26"/>
                  <a:gd name="T21" fmla="*/ 0 h 629"/>
                  <a:gd name="T22" fmla="*/ 0 w 26"/>
                  <a:gd name="T23" fmla="*/ 0 h 629"/>
                  <a:gd name="T24" fmla="*/ 0 w 26"/>
                  <a:gd name="T25" fmla="*/ 0 h 629"/>
                  <a:gd name="T26" fmla="*/ 0 w 26"/>
                  <a:gd name="T27" fmla="*/ 0 h 629"/>
                  <a:gd name="T28" fmla="*/ 0 w 26"/>
                  <a:gd name="T29" fmla="*/ 0 h 629"/>
                  <a:gd name="T30" fmla="*/ 0 w 26"/>
                  <a:gd name="T31" fmla="*/ 0 h 629"/>
                  <a:gd name="T32" fmla="*/ 0 w 26"/>
                  <a:gd name="T33" fmla="*/ 0 h 629"/>
                  <a:gd name="T34" fmla="*/ 0 w 26"/>
                  <a:gd name="T35" fmla="*/ 0 h 629"/>
                  <a:gd name="T36" fmla="*/ 0 w 26"/>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9">
                    <a:moveTo>
                      <a:pt x="0" y="626"/>
                    </a:moveTo>
                    <a:lnTo>
                      <a:pt x="0" y="2"/>
                    </a:lnTo>
                    <a:lnTo>
                      <a:pt x="3" y="2"/>
                    </a:lnTo>
                    <a:lnTo>
                      <a:pt x="6" y="1"/>
                    </a:lnTo>
                    <a:lnTo>
                      <a:pt x="9" y="1"/>
                    </a:lnTo>
                    <a:lnTo>
                      <a:pt x="13" y="1"/>
                    </a:lnTo>
                    <a:lnTo>
                      <a:pt x="16" y="0"/>
                    </a:lnTo>
                    <a:lnTo>
                      <a:pt x="19" y="0"/>
                    </a:lnTo>
                    <a:lnTo>
                      <a:pt x="23" y="0"/>
                    </a:lnTo>
                    <a:lnTo>
                      <a:pt x="26" y="0"/>
                    </a:lnTo>
                    <a:lnTo>
                      <a:pt x="26" y="629"/>
                    </a:lnTo>
                    <a:lnTo>
                      <a:pt x="23" y="629"/>
                    </a:lnTo>
                    <a:lnTo>
                      <a:pt x="19" y="629"/>
                    </a:lnTo>
                    <a:lnTo>
                      <a:pt x="16" y="627"/>
                    </a:lnTo>
                    <a:lnTo>
                      <a:pt x="13" y="627"/>
                    </a:lnTo>
                    <a:lnTo>
                      <a:pt x="9" y="627"/>
                    </a:lnTo>
                    <a:lnTo>
                      <a:pt x="6" y="627"/>
                    </a:lnTo>
                    <a:lnTo>
                      <a:pt x="3" y="626"/>
                    </a:lnTo>
                    <a:lnTo>
                      <a:pt x="0" y="6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29" name="Freeform 4147"/>
              <p:cNvSpPr>
                <a:spLocks noChangeAspect="1"/>
              </p:cNvSpPr>
              <p:nvPr/>
            </p:nvSpPr>
            <p:spPr bwMode="auto">
              <a:xfrm>
                <a:off x="5384" y="1039"/>
                <a:ext cx="9" cy="210"/>
              </a:xfrm>
              <a:custGeom>
                <a:avLst/>
                <a:gdLst>
                  <a:gd name="T0" fmla="*/ 0 w 26"/>
                  <a:gd name="T1" fmla="*/ 0 h 629"/>
                  <a:gd name="T2" fmla="*/ 0 w 26"/>
                  <a:gd name="T3" fmla="*/ 0 h 629"/>
                  <a:gd name="T4" fmla="*/ 0 w 26"/>
                  <a:gd name="T5" fmla="*/ 0 h 629"/>
                  <a:gd name="T6" fmla="*/ 0 w 26"/>
                  <a:gd name="T7" fmla="*/ 0 h 629"/>
                  <a:gd name="T8" fmla="*/ 0 w 26"/>
                  <a:gd name="T9" fmla="*/ 0 h 629"/>
                  <a:gd name="T10" fmla="*/ 0 w 26"/>
                  <a:gd name="T11" fmla="*/ 0 h 629"/>
                  <a:gd name="T12" fmla="*/ 0 w 26"/>
                  <a:gd name="T13" fmla="*/ 0 h 629"/>
                  <a:gd name="T14" fmla="*/ 0 w 26"/>
                  <a:gd name="T15" fmla="*/ 0 h 629"/>
                  <a:gd name="T16" fmla="*/ 0 w 26"/>
                  <a:gd name="T17" fmla="*/ 0 h 629"/>
                  <a:gd name="T18" fmla="*/ 0 w 26"/>
                  <a:gd name="T19" fmla="*/ 0 h 629"/>
                  <a:gd name="T20" fmla="*/ 0 w 26"/>
                  <a:gd name="T21" fmla="*/ 0 h 629"/>
                  <a:gd name="T22" fmla="*/ 0 w 26"/>
                  <a:gd name="T23" fmla="*/ 0 h 629"/>
                  <a:gd name="T24" fmla="*/ 0 w 26"/>
                  <a:gd name="T25" fmla="*/ 0 h 629"/>
                  <a:gd name="T26" fmla="*/ 0 w 26"/>
                  <a:gd name="T27" fmla="*/ 0 h 629"/>
                  <a:gd name="T28" fmla="*/ 0 w 26"/>
                  <a:gd name="T29" fmla="*/ 0 h 629"/>
                  <a:gd name="T30" fmla="*/ 0 w 26"/>
                  <a:gd name="T31" fmla="*/ 0 h 629"/>
                  <a:gd name="T32" fmla="*/ 0 w 26"/>
                  <a:gd name="T33" fmla="*/ 0 h 629"/>
                  <a:gd name="T34" fmla="*/ 0 w 26"/>
                  <a:gd name="T35" fmla="*/ 0 h 629"/>
                  <a:gd name="T36" fmla="*/ 0 w 26"/>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9">
                    <a:moveTo>
                      <a:pt x="0" y="627"/>
                    </a:moveTo>
                    <a:lnTo>
                      <a:pt x="0" y="1"/>
                    </a:lnTo>
                    <a:lnTo>
                      <a:pt x="3" y="0"/>
                    </a:lnTo>
                    <a:lnTo>
                      <a:pt x="6" y="0"/>
                    </a:lnTo>
                    <a:lnTo>
                      <a:pt x="10" y="0"/>
                    </a:lnTo>
                    <a:lnTo>
                      <a:pt x="13" y="0"/>
                    </a:lnTo>
                    <a:lnTo>
                      <a:pt x="17" y="0"/>
                    </a:lnTo>
                    <a:lnTo>
                      <a:pt x="20" y="0"/>
                    </a:lnTo>
                    <a:lnTo>
                      <a:pt x="23" y="0"/>
                    </a:lnTo>
                    <a:lnTo>
                      <a:pt x="26" y="0"/>
                    </a:lnTo>
                    <a:lnTo>
                      <a:pt x="26" y="629"/>
                    </a:lnTo>
                    <a:lnTo>
                      <a:pt x="23" y="629"/>
                    </a:lnTo>
                    <a:lnTo>
                      <a:pt x="20" y="629"/>
                    </a:lnTo>
                    <a:lnTo>
                      <a:pt x="17" y="629"/>
                    </a:lnTo>
                    <a:lnTo>
                      <a:pt x="13" y="629"/>
                    </a:lnTo>
                    <a:lnTo>
                      <a:pt x="10" y="629"/>
                    </a:lnTo>
                    <a:lnTo>
                      <a:pt x="6" y="629"/>
                    </a:lnTo>
                    <a:lnTo>
                      <a:pt x="3" y="627"/>
                    </a:lnTo>
                    <a:lnTo>
                      <a:pt x="0" y="62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30" name="Freeform 4148"/>
              <p:cNvSpPr>
                <a:spLocks noChangeAspect="1"/>
              </p:cNvSpPr>
              <p:nvPr/>
            </p:nvSpPr>
            <p:spPr bwMode="auto">
              <a:xfrm>
                <a:off x="5389" y="1039"/>
                <a:ext cx="9" cy="210"/>
              </a:xfrm>
              <a:custGeom>
                <a:avLst/>
                <a:gdLst>
                  <a:gd name="T0" fmla="*/ 0 w 27"/>
                  <a:gd name="T1" fmla="*/ 0 h 629"/>
                  <a:gd name="T2" fmla="*/ 0 w 27"/>
                  <a:gd name="T3" fmla="*/ 0 h 629"/>
                  <a:gd name="T4" fmla="*/ 0 w 27"/>
                  <a:gd name="T5" fmla="*/ 0 h 629"/>
                  <a:gd name="T6" fmla="*/ 0 w 27"/>
                  <a:gd name="T7" fmla="*/ 0 h 629"/>
                  <a:gd name="T8" fmla="*/ 0 w 27"/>
                  <a:gd name="T9" fmla="*/ 0 h 629"/>
                  <a:gd name="T10" fmla="*/ 0 w 27"/>
                  <a:gd name="T11" fmla="*/ 0 h 629"/>
                  <a:gd name="T12" fmla="*/ 0 w 27"/>
                  <a:gd name="T13" fmla="*/ 0 h 629"/>
                  <a:gd name="T14" fmla="*/ 0 w 27"/>
                  <a:gd name="T15" fmla="*/ 0 h 629"/>
                  <a:gd name="T16" fmla="*/ 0 w 27"/>
                  <a:gd name="T17" fmla="*/ 0 h 629"/>
                  <a:gd name="T18" fmla="*/ 0 w 27"/>
                  <a:gd name="T19" fmla="*/ 0 h 629"/>
                  <a:gd name="T20" fmla="*/ 0 w 27"/>
                  <a:gd name="T21" fmla="*/ 0 h 629"/>
                  <a:gd name="T22" fmla="*/ 0 w 27"/>
                  <a:gd name="T23" fmla="*/ 0 h 629"/>
                  <a:gd name="T24" fmla="*/ 0 w 27"/>
                  <a:gd name="T25" fmla="*/ 0 h 629"/>
                  <a:gd name="T26" fmla="*/ 0 w 27"/>
                  <a:gd name="T27" fmla="*/ 0 h 629"/>
                  <a:gd name="T28" fmla="*/ 0 w 27"/>
                  <a:gd name="T29" fmla="*/ 0 h 629"/>
                  <a:gd name="T30" fmla="*/ 0 w 27"/>
                  <a:gd name="T31" fmla="*/ 0 h 629"/>
                  <a:gd name="T32" fmla="*/ 0 w 27"/>
                  <a:gd name="T33" fmla="*/ 0 h 629"/>
                  <a:gd name="T34" fmla="*/ 0 w 27"/>
                  <a:gd name="T35" fmla="*/ 0 h 629"/>
                  <a:gd name="T36" fmla="*/ 0 w 27"/>
                  <a:gd name="T37" fmla="*/ 0 h 629"/>
                  <a:gd name="T38" fmla="*/ 0 w 27"/>
                  <a:gd name="T39" fmla="*/ 0 h 629"/>
                  <a:gd name="T40" fmla="*/ 0 w 27"/>
                  <a:gd name="T41" fmla="*/ 0 h 629"/>
                  <a:gd name="T42" fmla="*/ 0 w 27"/>
                  <a:gd name="T43" fmla="*/ 0 h 629"/>
                  <a:gd name="T44" fmla="*/ 0 w 27"/>
                  <a:gd name="T45" fmla="*/ 0 h 629"/>
                  <a:gd name="T46" fmla="*/ 0 w 27"/>
                  <a:gd name="T47" fmla="*/ 0 h 629"/>
                  <a:gd name="T48" fmla="*/ 0 w 27"/>
                  <a:gd name="T49" fmla="*/ 0 h 629"/>
                  <a:gd name="T50" fmla="*/ 0 w 27"/>
                  <a:gd name="T51" fmla="*/ 0 h 629"/>
                  <a:gd name="T52" fmla="*/ 0 w 27"/>
                  <a:gd name="T53" fmla="*/ 0 h 629"/>
                  <a:gd name="T54" fmla="*/ 0 w 27"/>
                  <a:gd name="T55" fmla="*/ 0 h 629"/>
                  <a:gd name="T56" fmla="*/ 0 w 27"/>
                  <a:gd name="T57" fmla="*/ 0 h 629"/>
                  <a:gd name="T58" fmla="*/ 0 w 27"/>
                  <a:gd name="T59" fmla="*/ 0 h 629"/>
                  <a:gd name="T60" fmla="*/ 0 w 27"/>
                  <a:gd name="T61" fmla="*/ 0 h 629"/>
                  <a:gd name="T62" fmla="*/ 0 w 27"/>
                  <a:gd name="T63" fmla="*/ 0 h 629"/>
                  <a:gd name="T64" fmla="*/ 0 w 27"/>
                  <a:gd name="T65" fmla="*/ 0 h 629"/>
                  <a:gd name="T66" fmla="*/ 0 w 27"/>
                  <a:gd name="T67" fmla="*/ 0 h 629"/>
                  <a:gd name="T68" fmla="*/ 0 w 27"/>
                  <a:gd name="T69" fmla="*/ 0 h 6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7" h="629">
                    <a:moveTo>
                      <a:pt x="0" y="629"/>
                    </a:moveTo>
                    <a:lnTo>
                      <a:pt x="0" y="0"/>
                    </a:lnTo>
                    <a:lnTo>
                      <a:pt x="2" y="0"/>
                    </a:lnTo>
                    <a:lnTo>
                      <a:pt x="4" y="0"/>
                    </a:lnTo>
                    <a:lnTo>
                      <a:pt x="5" y="0"/>
                    </a:lnTo>
                    <a:lnTo>
                      <a:pt x="7" y="0"/>
                    </a:lnTo>
                    <a:lnTo>
                      <a:pt x="9" y="0"/>
                    </a:lnTo>
                    <a:lnTo>
                      <a:pt x="10" y="0"/>
                    </a:lnTo>
                    <a:lnTo>
                      <a:pt x="12" y="0"/>
                    </a:lnTo>
                    <a:lnTo>
                      <a:pt x="13" y="0"/>
                    </a:lnTo>
                    <a:lnTo>
                      <a:pt x="15" y="0"/>
                    </a:lnTo>
                    <a:lnTo>
                      <a:pt x="16" y="0"/>
                    </a:lnTo>
                    <a:lnTo>
                      <a:pt x="19" y="0"/>
                    </a:lnTo>
                    <a:lnTo>
                      <a:pt x="20" y="0"/>
                    </a:lnTo>
                    <a:lnTo>
                      <a:pt x="22" y="0"/>
                    </a:lnTo>
                    <a:lnTo>
                      <a:pt x="24" y="0"/>
                    </a:lnTo>
                    <a:lnTo>
                      <a:pt x="25" y="0"/>
                    </a:lnTo>
                    <a:lnTo>
                      <a:pt x="27" y="0"/>
                    </a:lnTo>
                    <a:lnTo>
                      <a:pt x="27" y="629"/>
                    </a:lnTo>
                    <a:lnTo>
                      <a:pt x="25" y="629"/>
                    </a:lnTo>
                    <a:lnTo>
                      <a:pt x="24" y="629"/>
                    </a:lnTo>
                    <a:lnTo>
                      <a:pt x="22" y="629"/>
                    </a:lnTo>
                    <a:lnTo>
                      <a:pt x="20" y="629"/>
                    </a:lnTo>
                    <a:lnTo>
                      <a:pt x="19" y="629"/>
                    </a:lnTo>
                    <a:lnTo>
                      <a:pt x="16" y="629"/>
                    </a:lnTo>
                    <a:lnTo>
                      <a:pt x="15" y="629"/>
                    </a:lnTo>
                    <a:lnTo>
                      <a:pt x="13" y="629"/>
                    </a:lnTo>
                    <a:lnTo>
                      <a:pt x="12" y="629"/>
                    </a:lnTo>
                    <a:lnTo>
                      <a:pt x="10" y="629"/>
                    </a:lnTo>
                    <a:lnTo>
                      <a:pt x="9" y="629"/>
                    </a:lnTo>
                    <a:lnTo>
                      <a:pt x="7" y="629"/>
                    </a:lnTo>
                    <a:lnTo>
                      <a:pt x="5" y="629"/>
                    </a:lnTo>
                    <a:lnTo>
                      <a:pt x="4" y="629"/>
                    </a:lnTo>
                    <a:lnTo>
                      <a:pt x="2"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31" name="Freeform 4149"/>
              <p:cNvSpPr>
                <a:spLocks noChangeAspect="1"/>
              </p:cNvSpPr>
              <p:nvPr/>
            </p:nvSpPr>
            <p:spPr bwMode="auto">
              <a:xfrm>
                <a:off x="5393" y="1039"/>
                <a:ext cx="9" cy="210"/>
              </a:xfrm>
              <a:custGeom>
                <a:avLst/>
                <a:gdLst>
                  <a:gd name="T0" fmla="*/ 0 w 27"/>
                  <a:gd name="T1" fmla="*/ 0 h 629"/>
                  <a:gd name="T2" fmla="*/ 0 w 27"/>
                  <a:gd name="T3" fmla="*/ 0 h 629"/>
                  <a:gd name="T4" fmla="*/ 0 w 27"/>
                  <a:gd name="T5" fmla="*/ 0 h 629"/>
                  <a:gd name="T6" fmla="*/ 0 w 27"/>
                  <a:gd name="T7" fmla="*/ 0 h 629"/>
                  <a:gd name="T8" fmla="*/ 0 w 27"/>
                  <a:gd name="T9" fmla="*/ 0 h 629"/>
                  <a:gd name="T10" fmla="*/ 0 w 27"/>
                  <a:gd name="T11" fmla="*/ 0 h 629"/>
                  <a:gd name="T12" fmla="*/ 0 w 27"/>
                  <a:gd name="T13" fmla="*/ 0 h 629"/>
                  <a:gd name="T14" fmla="*/ 0 w 27"/>
                  <a:gd name="T15" fmla="*/ 0 h 629"/>
                  <a:gd name="T16" fmla="*/ 0 w 27"/>
                  <a:gd name="T17" fmla="*/ 0 h 629"/>
                  <a:gd name="T18" fmla="*/ 0 w 27"/>
                  <a:gd name="T19" fmla="*/ 0 h 629"/>
                  <a:gd name="T20" fmla="*/ 0 w 27"/>
                  <a:gd name="T21" fmla="*/ 0 h 629"/>
                  <a:gd name="T22" fmla="*/ 0 w 27"/>
                  <a:gd name="T23" fmla="*/ 0 h 629"/>
                  <a:gd name="T24" fmla="*/ 0 w 27"/>
                  <a:gd name="T25" fmla="*/ 0 h 629"/>
                  <a:gd name="T26" fmla="*/ 0 w 27"/>
                  <a:gd name="T27" fmla="*/ 0 h 629"/>
                  <a:gd name="T28" fmla="*/ 0 w 27"/>
                  <a:gd name="T29" fmla="*/ 0 h 629"/>
                  <a:gd name="T30" fmla="*/ 0 w 27"/>
                  <a:gd name="T31" fmla="*/ 0 h 629"/>
                  <a:gd name="T32" fmla="*/ 0 w 27"/>
                  <a:gd name="T33" fmla="*/ 0 h 629"/>
                  <a:gd name="T34" fmla="*/ 0 w 27"/>
                  <a:gd name="T35" fmla="*/ 0 h 629"/>
                  <a:gd name="T36" fmla="*/ 0 w 27"/>
                  <a:gd name="T37" fmla="*/ 0 h 629"/>
                  <a:gd name="T38" fmla="*/ 0 w 27"/>
                  <a:gd name="T39" fmla="*/ 0 h 629"/>
                  <a:gd name="T40" fmla="*/ 0 w 27"/>
                  <a:gd name="T41" fmla="*/ 0 h 6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7" h="629">
                    <a:moveTo>
                      <a:pt x="0" y="629"/>
                    </a:moveTo>
                    <a:lnTo>
                      <a:pt x="0" y="0"/>
                    </a:lnTo>
                    <a:lnTo>
                      <a:pt x="3" y="0"/>
                    </a:lnTo>
                    <a:lnTo>
                      <a:pt x="7" y="0"/>
                    </a:lnTo>
                    <a:lnTo>
                      <a:pt x="11" y="0"/>
                    </a:lnTo>
                    <a:lnTo>
                      <a:pt x="14" y="0"/>
                    </a:lnTo>
                    <a:lnTo>
                      <a:pt x="17" y="0"/>
                    </a:lnTo>
                    <a:lnTo>
                      <a:pt x="20" y="0"/>
                    </a:lnTo>
                    <a:lnTo>
                      <a:pt x="24" y="0"/>
                    </a:lnTo>
                    <a:lnTo>
                      <a:pt x="27" y="1"/>
                    </a:lnTo>
                    <a:lnTo>
                      <a:pt x="27" y="627"/>
                    </a:lnTo>
                    <a:lnTo>
                      <a:pt x="24" y="627"/>
                    </a:lnTo>
                    <a:lnTo>
                      <a:pt x="20" y="629"/>
                    </a:lnTo>
                    <a:lnTo>
                      <a:pt x="17" y="629"/>
                    </a:lnTo>
                    <a:lnTo>
                      <a:pt x="14" y="629"/>
                    </a:lnTo>
                    <a:lnTo>
                      <a:pt x="11" y="629"/>
                    </a:lnTo>
                    <a:lnTo>
                      <a:pt x="7" y="629"/>
                    </a:lnTo>
                    <a:lnTo>
                      <a:pt x="3"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32" name="Freeform 4150"/>
              <p:cNvSpPr>
                <a:spLocks noChangeAspect="1"/>
              </p:cNvSpPr>
              <p:nvPr/>
            </p:nvSpPr>
            <p:spPr bwMode="auto">
              <a:xfrm>
                <a:off x="5398" y="1039"/>
                <a:ext cx="9" cy="210"/>
              </a:xfrm>
              <a:custGeom>
                <a:avLst/>
                <a:gdLst>
                  <a:gd name="T0" fmla="*/ 0 w 27"/>
                  <a:gd name="T1" fmla="*/ 0 h 629"/>
                  <a:gd name="T2" fmla="*/ 0 w 27"/>
                  <a:gd name="T3" fmla="*/ 0 h 629"/>
                  <a:gd name="T4" fmla="*/ 0 w 27"/>
                  <a:gd name="T5" fmla="*/ 0 h 629"/>
                  <a:gd name="T6" fmla="*/ 0 w 27"/>
                  <a:gd name="T7" fmla="*/ 0 h 629"/>
                  <a:gd name="T8" fmla="*/ 0 w 27"/>
                  <a:gd name="T9" fmla="*/ 0 h 629"/>
                  <a:gd name="T10" fmla="*/ 0 w 27"/>
                  <a:gd name="T11" fmla="*/ 0 h 629"/>
                  <a:gd name="T12" fmla="*/ 0 w 27"/>
                  <a:gd name="T13" fmla="*/ 0 h 629"/>
                  <a:gd name="T14" fmla="*/ 0 w 27"/>
                  <a:gd name="T15" fmla="*/ 0 h 629"/>
                  <a:gd name="T16" fmla="*/ 0 w 27"/>
                  <a:gd name="T17" fmla="*/ 0 h 629"/>
                  <a:gd name="T18" fmla="*/ 0 w 27"/>
                  <a:gd name="T19" fmla="*/ 0 h 629"/>
                  <a:gd name="T20" fmla="*/ 0 w 27"/>
                  <a:gd name="T21" fmla="*/ 0 h 629"/>
                  <a:gd name="T22" fmla="*/ 0 w 27"/>
                  <a:gd name="T23" fmla="*/ 0 h 629"/>
                  <a:gd name="T24" fmla="*/ 0 w 27"/>
                  <a:gd name="T25" fmla="*/ 0 h 629"/>
                  <a:gd name="T26" fmla="*/ 0 w 27"/>
                  <a:gd name="T27" fmla="*/ 0 h 629"/>
                  <a:gd name="T28" fmla="*/ 0 w 27"/>
                  <a:gd name="T29" fmla="*/ 0 h 629"/>
                  <a:gd name="T30" fmla="*/ 0 w 27"/>
                  <a:gd name="T31" fmla="*/ 0 h 629"/>
                  <a:gd name="T32" fmla="*/ 0 w 27"/>
                  <a:gd name="T33" fmla="*/ 0 h 629"/>
                  <a:gd name="T34" fmla="*/ 0 w 27"/>
                  <a:gd name="T35" fmla="*/ 0 h 629"/>
                  <a:gd name="T36" fmla="*/ 0 w 27"/>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9">
                    <a:moveTo>
                      <a:pt x="0" y="629"/>
                    </a:moveTo>
                    <a:lnTo>
                      <a:pt x="0" y="0"/>
                    </a:lnTo>
                    <a:lnTo>
                      <a:pt x="3" y="0"/>
                    </a:lnTo>
                    <a:lnTo>
                      <a:pt x="6" y="0"/>
                    </a:lnTo>
                    <a:lnTo>
                      <a:pt x="10" y="0"/>
                    </a:lnTo>
                    <a:lnTo>
                      <a:pt x="13" y="1"/>
                    </a:lnTo>
                    <a:lnTo>
                      <a:pt x="16" y="1"/>
                    </a:lnTo>
                    <a:lnTo>
                      <a:pt x="19" y="1"/>
                    </a:lnTo>
                    <a:lnTo>
                      <a:pt x="23" y="2"/>
                    </a:lnTo>
                    <a:lnTo>
                      <a:pt x="27" y="2"/>
                    </a:lnTo>
                    <a:lnTo>
                      <a:pt x="27" y="626"/>
                    </a:lnTo>
                    <a:lnTo>
                      <a:pt x="23" y="626"/>
                    </a:lnTo>
                    <a:lnTo>
                      <a:pt x="19" y="627"/>
                    </a:lnTo>
                    <a:lnTo>
                      <a:pt x="16" y="627"/>
                    </a:lnTo>
                    <a:lnTo>
                      <a:pt x="13" y="627"/>
                    </a:lnTo>
                    <a:lnTo>
                      <a:pt x="10" y="627"/>
                    </a:lnTo>
                    <a:lnTo>
                      <a:pt x="6" y="629"/>
                    </a:lnTo>
                    <a:lnTo>
                      <a:pt x="3"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33" name="Freeform 4151"/>
              <p:cNvSpPr>
                <a:spLocks noChangeAspect="1"/>
              </p:cNvSpPr>
              <p:nvPr/>
            </p:nvSpPr>
            <p:spPr bwMode="auto">
              <a:xfrm>
                <a:off x="5402" y="1040"/>
                <a:ext cx="9" cy="208"/>
              </a:xfrm>
              <a:custGeom>
                <a:avLst/>
                <a:gdLst>
                  <a:gd name="T0" fmla="*/ 0 w 26"/>
                  <a:gd name="T1" fmla="*/ 0 h 626"/>
                  <a:gd name="T2" fmla="*/ 0 w 26"/>
                  <a:gd name="T3" fmla="*/ 0 h 626"/>
                  <a:gd name="T4" fmla="*/ 0 w 26"/>
                  <a:gd name="T5" fmla="*/ 0 h 626"/>
                  <a:gd name="T6" fmla="*/ 0 w 26"/>
                  <a:gd name="T7" fmla="*/ 0 h 626"/>
                  <a:gd name="T8" fmla="*/ 0 w 26"/>
                  <a:gd name="T9" fmla="*/ 0 h 626"/>
                  <a:gd name="T10" fmla="*/ 0 w 26"/>
                  <a:gd name="T11" fmla="*/ 0 h 626"/>
                  <a:gd name="T12" fmla="*/ 0 w 26"/>
                  <a:gd name="T13" fmla="*/ 0 h 626"/>
                  <a:gd name="T14" fmla="*/ 0 w 26"/>
                  <a:gd name="T15" fmla="*/ 0 h 626"/>
                  <a:gd name="T16" fmla="*/ 0 w 26"/>
                  <a:gd name="T17" fmla="*/ 0 h 626"/>
                  <a:gd name="T18" fmla="*/ 0 w 26"/>
                  <a:gd name="T19" fmla="*/ 0 h 626"/>
                  <a:gd name="T20" fmla="*/ 0 w 26"/>
                  <a:gd name="T21" fmla="*/ 0 h 626"/>
                  <a:gd name="T22" fmla="*/ 0 w 26"/>
                  <a:gd name="T23" fmla="*/ 0 h 626"/>
                  <a:gd name="T24" fmla="*/ 0 w 26"/>
                  <a:gd name="T25" fmla="*/ 0 h 626"/>
                  <a:gd name="T26" fmla="*/ 0 w 26"/>
                  <a:gd name="T27" fmla="*/ 0 h 626"/>
                  <a:gd name="T28" fmla="*/ 0 w 26"/>
                  <a:gd name="T29" fmla="*/ 0 h 626"/>
                  <a:gd name="T30" fmla="*/ 0 w 26"/>
                  <a:gd name="T31" fmla="*/ 0 h 626"/>
                  <a:gd name="T32" fmla="*/ 0 w 26"/>
                  <a:gd name="T33" fmla="*/ 0 h 626"/>
                  <a:gd name="T34" fmla="*/ 0 w 26"/>
                  <a:gd name="T35" fmla="*/ 0 h 626"/>
                  <a:gd name="T36" fmla="*/ 0 w 26"/>
                  <a:gd name="T37" fmla="*/ 0 h 6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6">
                    <a:moveTo>
                      <a:pt x="0" y="626"/>
                    </a:moveTo>
                    <a:lnTo>
                      <a:pt x="0" y="0"/>
                    </a:lnTo>
                    <a:lnTo>
                      <a:pt x="3" y="0"/>
                    </a:lnTo>
                    <a:lnTo>
                      <a:pt x="6" y="0"/>
                    </a:lnTo>
                    <a:lnTo>
                      <a:pt x="10" y="1"/>
                    </a:lnTo>
                    <a:lnTo>
                      <a:pt x="14" y="1"/>
                    </a:lnTo>
                    <a:lnTo>
                      <a:pt x="17" y="1"/>
                    </a:lnTo>
                    <a:lnTo>
                      <a:pt x="20" y="2"/>
                    </a:lnTo>
                    <a:lnTo>
                      <a:pt x="23" y="2"/>
                    </a:lnTo>
                    <a:lnTo>
                      <a:pt x="26" y="3"/>
                    </a:lnTo>
                    <a:lnTo>
                      <a:pt x="26" y="623"/>
                    </a:lnTo>
                    <a:lnTo>
                      <a:pt x="23" y="624"/>
                    </a:lnTo>
                    <a:lnTo>
                      <a:pt x="20" y="624"/>
                    </a:lnTo>
                    <a:lnTo>
                      <a:pt x="17" y="625"/>
                    </a:lnTo>
                    <a:lnTo>
                      <a:pt x="14" y="625"/>
                    </a:lnTo>
                    <a:lnTo>
                      <a:pt x="10" y="625"/>
                    </a:lnTo>
                    <a:lnTo>
                      <a:pt x="6" y="626"/>
                    </a:lnTo>
                    <a:lnTo>
                      <a:pt x="3" y="626"/>
                    </a:lnTo>
                    <a:lnTo>
                      <a:pt x="0" y="6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34" name="Freeform 4152"/>
              <p:cNvSpPr>
                <a:spLocks noChangeAspect="1"/>
              </p:cNvSpPr>
              <p:nvPr/>
            </p:nvSpPr>
            <p:spPr bwMode="auto">
              <a:xfrm>
                <a:off x="5407" y="1040"/>
                <a:ext cx="8" cy="208"/>
              </a:xfrm>
              <a:custGeom>
                <a:avLst/>
                <a:gdLst>
                  <a:gd name="T0" fmla="*/ 0 w 26"/>
                  <a:gd name="T1" fmla="*/ 0 h 624"/>
                  <a:gd name="T2" fmla="*/ 0 w 26"/>
                  <a:gd name="T3" fmla="*/ 0 h 624"/>
                  <a:gd name="T4" fmla="*/ 0 w 26"/>
                  <a:gd name="T5" fmla="*/ 0 h 624"/>
                  <a:gd name="T6" fmla="*/ 0 w 26"/>
                  <a:gd name="T7" fmla="*/ 0 h 624"/>
                  <a:gd name="T8" fmla="*/ 0 w 26"/>
                  <a:gd name="T9" fmla="*/ 0 h 624"/>
                  <a:gd name="T10" fmla="*/ 0 w 26"/>
                  <a:gd name="T11" fmla="*/ 0 h 624"/>
                  <a:gd name="T12" fmla="*/ 0 w 26"/>
                  <a:gd name="T13" fmla="*/ 0 h 624"/>
                  <a:gd name="T14" fmla="*/ 0 w 26"/>
                  <a:gd name="T15" fmla="*/ 0 h 624"/>
                  <a:gd name="T16" fmla="*/ 0 w 26"/>
                  <a:gd name="T17" fmla="*/ 0 h 624"/>
                  <a:gd name="T18" fmla="*/ 0 w 26"/>
                  <a:gd name="T19" fmla="*/ 0 h 624"/>
                  <a:gd name="T20" fmla="*/ 0 w 26"/>
                  <a:gd name="T21" fmla="*/ 0 h 624"/>
                  <a:gd name="T22" fmla="*/ 0 w 26"/>
                  <a:gd name="T23" fmla="*/ 0 h 624"/>
                  <a:gd name="T24" fmla="*/ 0 w 26"/>
                  <a:gd name="T25" fmla="*/ 0 h 624"/>
                  <a:gd name="T26" fmla="*/ 0 w 26"/>
                  <a:gd name="T27" fmla="*/ 0 h 624"/>
                  <a:gd name="T28" fmla="*/ 0 w 26"/>
                  <a:gd name="T29" fmla="*/ 0 h 624"/>
                  <a:gd name="T30" fmla="*/ 0 w 26"/>
                  <a:gd name="T31" fmla="*/ 0 h 624"/>
                  <a:gd name="T32" fmla="*/ 0 w 26"/>
                  <a:gd name="T33" fmla="*/ 0 h 624"/>
                  <a:gd name="T34" fmla="*/ 0 w 26"/>
                  <a:gd name="T35" fmla="*/ 0 h 624"/>
                  <a:gd name="T36" fmla="*/ 0 w 26"/>
                  <a:gd name="T37" fmla="*/ 0 h 6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4">
                    <a:moveTo>
                      <a:pt x="0" y="624"/>
                    </a:moveTo>
                    <a:lnTo>
                      <a:pt x="0" y="0"/>
                    </a:lnTo>
                    <a:lnTo>
                      <a:pt x="3" y="0"/>
                    </a:lnTo>
                    <a:lnTo>
                      <a:pt x="6" y="1"/>
                    </a:lnTo>
                    <a:lnTo>
                      <a:pt x="9" y="1"/>
                    </a:lnTo>
                    <a:lnTo>
                      <a:pt x="12" y="2"/>
                    </a:lnTo>
                    <a:lnTo>
                      <a:pt x="16" y="2"/>
                    </a:lnTo>
                    <a:lnTo>
                      <a:pt x="19" y="4"/>
                    </a:lnTo>
                    <a:lnTo>
                      <a:pt x="22" y="4"/>
                    </a:lnTo>
                    <a:lnTo>
                      <a:pt x="26" y="5"/>
                    </a:lnTo>
                    <a:lnTo>
                      <a:pt x="26" y="620"/>
                    </a:lnTo>
                    <a:lnTo>
                      <a:pt x="22" y="621"/>
                    </a:lnTo>
                    <a:lnTo>
                      <a:pt x="19" y="621"/>
                    </a:lnTo>
                    <a:lnTo>
                      <a:pt x="16" y="622"/>
                    </a:lnTo>
                    <a:lnTo>
                      <a:pt x="12" y="622"/>
                    </a:lnTo>
                    <a:lnTo>
                      <a:pt x="9" y="623"/>
                    </a:lnTo>
                    <a:lnTo>
                      <a:pt x="6" y="623"/>
                    </a:lnTo>
                    <a:lnTo>
                      <a:pt x="3" y="624"/>
                    </a:lnTo>
                    <a:lnTo>
                      <a:pt x="0" y="62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35" name="Freeform 4153"/>
              <p:cNvSpPr>
                <a:spLocks noChangeAspect="1"/>
              </p:cNvSpPr>
              <p:nvPr/>
            </p:nvSpPr>
            <p:spPr bwMode="auto">
              <a:xfrm>
                <a:off x="5411" y="1041"/>
                <a:ext cx="9" cy="206"/>
              </a:xfrm>
              <a:custGeom>
                <a:avLst/>
                <a:gdLst>
                  <a:gd name="T0" fmla="*/ 0 w 27"/>
                  <a:gd name="T1" fmla="*/ 0 h 620"/>
                  <a:gd name="T2" fmla="*/ 0 w 27"/>
                  <a:gd name="T3" fmla="*/ 0 h 620"/>
                  <a:gd name="T4" fmla="*/ 0 w 27"/>
                  <a:gd name="T5" fmla="*/ 0 h 620"/>
                  <a:gd name="T6" fmla="*/ 0 w 27"/>
                  <a:gd name="T7" fmla="*/ 0 h 620"/>
                  <a:gd name="T8" fmla="*/ 0 w 27"/>
                  <a:gd name="T9" fmla="*/ 0 h 620"/>
                  <a:gd name="T10" fmla="*/ 0 w 27"/>
                  <a:gd name="T11" fmla="*/ 0 h 620"/>
                  <a:gd name="T12" fmla="*/ 0 w 27"/>
                  <a:gd name="T13" fmla="*/ 0 h 620"/>
                  <a:gd name="T14" fmla="*/ 0 w 27"/>
                  <a:gd name="T15" fmla="*/ 0 h 620"/>
                  <a:gd name="T16" fmla="*/ 0 w 27"/>
                  <a:gd name="T17" fmla="*/ 0 h 620"/>
                  <a:gd name="T18" fmla="*/ 0 w 27"/>
                  <a:gd name="T19" fmla="*/ 0 h 620"/>
                  <a:gd name="T20" fmla="*/ 0 w 27"/>
                  <a:gd name="T21" fmla="*/ 0 h 620"/>
                  <a:gd name="T22" fmla="*/ 0 w 27"/>
                  <a:gd name="T23" fmla="*/ 0 h 620"/>
                  <a:gd name="T24" fmla="*/ 0 w 27"/>
                  <a:gd name="T25" fmla="*/ 0 h 620"/>
                  <a:gd name="T26" fmla="*/ 0 w 27"/>
                  <a:gd name="T27" fmla="*/ 0 h 620"/>
                  <a:gd name="T28" fmla="*/ 0 w 27"/>
                  <a:gd name="T29" fmla="*/ 0 h 620"/>
                  <a:gd name="T30" fmla="*/ 0 w 27"/>
                  <a:gd name="T31" fmla="*/ 0 h 620"/>
                  <a:gd name="T32" fmla="*/ 0 w 27"/>
                  <a:gd name="T33" fmla="*/ 0 h 620"/>
                  <a:gd name="T34" fmla="*/ 0 w 27"/>
                  <a:gd name="T35" fmla="*/ 0 h 620"/>
                  <a:gd name="T36" fmla="*/ 0 w 27"/>
                  <a:gd name="T37" fmla="*/ 0 h 6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0">
                    <a:moveTo>
                      <a:pt x="0" y="620"/>
                    </a:moveTo>
                    <a:lnTo>
                      <a:pt x="0" y="0"/>
                    </a:lnTo>
                    <a:lnTo>
                      <a:pt x="4" y="0"/>
                    </a:lnTo>
                    <a:lnTo>
                      <a:pt x="7" y="2"/>
                    </a:lnTo>
                    <a:lnTo>
                      <a:pt x="11" y="2"/>
                    </a:lnTo>
                    <a:lnTo>
                      <a:pt x="14" y="3"/>
                    </a:lnTo>
                    <a:lnTo>
                      <a:pt x="17" y="3"/>
                    </a:lnTo>
                    <a:lnTo>
                      <a:pt x="21" y="4"/>
                    </a:lnTo>
                    <a:lnTo>
                      <a:pt x="24" y="5"/>
                    </a:lnTo>
                    <a:lnTo>
                      <a:pt x="27" y="5"/>
                    </a:lnTo>
                    <a:lnTo>
                      <a:pt x="27" y="615"/>
                    </a:lnTo>
                    <a:lnTo>
                      <a:pt x="24" y="616"/>
                    </a:lnTo>
                    <a:lnTo>
                      <a:pt x="21" y="617"/>
                    </a:lnTo>
                    <a:lnTo>
                      <a:pt x="17" y="617"/>
                    </a:lnTo>
                    <a:lnTo>
                      <a:pt x="14" y="618"/>
                    </a:lnTo>
                    <a:lnTo>
                      <a:pt x="11" y="619"/>
                    </a:lnTo>
                    <a:lnTo>
                      <a:pt x="7" y="619"/>
                    </a:lnTo>
                    <a:lnTo>
                      <a:pt x="4" y="620"/>
                    </a:lnTo>
                    <a:lnTo>
                      <a:pt x="0" y="6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36" name="Freeform 4154"/>
              <p:cNvSpPr>
                <a:spLocks noChangeAspect="1"/>
              </p:cNvSpPr>
              <p:nvPr/>
            </p:nvSpPr>
            <p:spPr bwMode="auto">
              <a:xfrm>
                <a:off x="5415" y="1042"/>
                <a:ext cx="9" cy="205"/>
              </a:xfrm>
              <a:custGeom>
                <a:avLst/>
                <a:gdLst>
                  <a:gd name="T0" fmla="*/ 0 w 27"/>
                  <a:gd name="T1" fmla="*/ 0 h 615"/>
                  <a:gd name="T2" fmla="*/ 0 w 27"/>
                  <a:gd name="T3" fmla="*/ 0 h 615"/>
                  <a:gd name="T4" fmla="*/ 0 w 27"/>
                  <a:gd name="T5" fmla="*/ 0 h 615"/>
                  <a:gd name="T6" fmla="*/ 0 w 27"/>
                  <a:gd name="T7" fmla="*/ 0 h 615"/>
                  <a:gd name="T8" fmla="*/ 0 w 27"/>
                  <a:gd name="T9" fmla="*/ 0 h 615"/>
                  <a:gd name="T10" fmla="*/ 0 w 27"/>
                  <a:gd name="T11" fmla="*/ 0 h 615"/>
                  <a:gd name="T12" fmla="*/ 0 w 27"/>
                  <a:gd name="T13" fmla="*/ 0 h 615"/>
                  <a:gd name="T14" fmla="*/ 0 w 27"/>
                  <a:gd name="T15" fmla="*/ 0 h 615"/>
                  <a:gd name="T16" fmla="*/ 0 w 27"/>
                  <a:gd name="T17" fmla="*/ 0 h 615"/>
                  <a:gd name="T18" fmla="*/ 0 w 27"/>
                  <a:gd name="T19" fmla="*/ 0 h 615"/>
                  <a:gd name="T20" fmla="*/ 0 w 27"/>
                  <a:gd name="T21" fmla="*/ 0 h 615"/>
                  <a:gd name="T22" fmla="*/ 0 w 27"/>
                  <a:gd name="T23" fmla="*/ 0 h 615"/>
                  <a:gd name="T24" fmla="*/ 0 w 27"/>
                  <a:gd name="T25" fmla="*/ 0 h 615"/>
                  <a:gd name="T26" fmla="*/ 0 w 27"/>
                  <a:gd name="T27" fmla="*/ 0 h 615"/>
                  <a:gd name="T28" fmla="*/ 0 w 27"/>
                  <a:gd name="T29" fmla="*/ 0 h 615"/>
                  <a:gd name="T30" fmla="*/ 0 w 27"/>
                  <a:gd name="T31" fmla="*/ 0 h 615"/>
                  <a:gd name="T32" fmla="*/ 0 w 27"/>
                  <a:gd name="T33" fmla="*/ 0 h 615"/>
                  <a:gd name="T34" fmla="*/ 0 w 27"/>
                  <a:gd name="T35" fmla="*/ 0 h 615"/>
                  <a:gd name="T36" fmla="*/ 0 w 27"/>
                  <a:gd name="T37" fmla="*/ 0 h 6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15">
                    <a:moveTo>
                      <a:pt x="0" y="615"/>
                    </a:moveTo>
                    <a:lnTo>
                      <a:pt x="0" y="0"/>
                    </a:lnTo>
                    <a:lnTo>
                      <a:pt x="3" y="0"/>
                    </a:lnTo>
                    <a:lnTo>
                      <a:pt x="7" y="1"/>
                    </a:lnTo>
                    <a:lnTo>
                      <a:pt x="10" y="2"/>
                    </a:lnTo>
                    <a:lnTo>
                      <a:pt x="13" y="2"/>
                    </a:lnTo>
                    <a:lnTo>
                      <a:pt x="16" y="3"/>
                    </a:lnTo>
                    <a:lnTo>
                      <a:pt x="19" y="4"/>
                    </a:lnTo>
                    <a:lnTo>
                      <a:pt x="23" y="5"/>
                    </a:lnTo>
                    <a:lnTo>
                      <a:pt x="27" y="6"/>
                    </a:lnTo>
                    <a:lnTo>
                      <a:pt x="27" y="609"/>
                    </a:lnTo>
                    <a:lnTo>
                      <a:pt x="23" y="610"/>
                    </a:lnTo>
                    <a:lnTo>
                      <a:pt x="19" y="611"/>
                    </a:lnTo>
                    <a:lnTo>
                      <a:pt x="16" y="612"/>
                    </a:lnTo>
                    <a:lnTo>
                      <a:pt x="13" y="612"/>
                    </a:lnTo>
                    <a:lnTo>
                      <a:pt x="10" y="613"/>
                    </a:lnTo>
                    <a:lnTo>
                      <a:pt x="7" y="614"/>
                    </a:lnTo>
                    <a:lnTo>
                      <a:pt x="3" y="614"/>
                    </a:lnTo>
                    <a:lnTo>
                      <a:pt x="0" y="6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37" name="Freeform 4155"/>
              <p:cNvSpPr>
                <a:spLocks noChangeAspect="1"/>
              </p:cNvSpPr>
              <p:nvPr/>
            </p:nvSpPr>
            <p:spPr bwMode="auto">
              <a:xfrm>
                <a:off x="5420" y="1042"/>
                <a:ext cx="9" cy="204"/>
              </a:xfrm>
              <a:custGeom>
                <a:avLst/>
                <a:gdLst>
                  <a:gd name="T0" fmla="*/ 0 w 27"/>
                  <a:gd name="T1" fmla="*/ 0 h 610"/>
                  <a:gd name="T2" fmla="*/ 0 w 27"/>
                  <a:gd name="T3" fmla="*/ 0 h 610"/>
                  <a:gd name="T4" fmla="*/ 0 w 27"/>
                  <a:gd name="T5" fmla="*/ 0 h 610"/>
                  <a:gd name="T6" fmla="*/ 0 w 27"/>
                  <a:gd name="T7" fmla="*/ 0 h 610"/>
                  <a:gd name="T8" fmla="*/ 0 w 27"/>
                  <a:gd name="T9" fmla="*/ 0 h 610"/>
                  <a:gd name="T10" fmla="*/ 0 w 27"/>
                  <a:gd name="T11" fmla="*/ 0 h 610"/>
                  <a:gd name="T12" fmla="*/ 0 w 27"/>
                  <a:gd name="T13" fmla="*/ 0 h 610"/>
                  <a:gd name="T14" fmla="*/ 0 w 27"/>
                  <a:gd name="T15" fmla="*/ 0 h 610"/>
                  <a:gd name="T16" fmla="*/ 0 w 27"/>
                  <a:gd name="T17" fmla="*/ 0 h 610"/>
                  <a:gd name="T18" fmla="*/ 0 w 27"/>
                  <a:gd name="T19" fmla="*/ 0 h 610"/>
                  <a:gd name="T20" fmla="*/ 0 w 27"/>
                  <a:gd name="T21" fmla="*/ 0 h 610"/>
                  <a:gd name="T22" fmla="*/ 0 w 27"/>
                  <a:gd name="T23" fmla="*/ 0 h 610"/>
                  <a:gd name="T24" fmla="*/ 0 w 27"/>
                  <a:gd name="T25" fmla="*/ 0 h 610"/>
                  <a:gd name="T26" fmla="*/ 0 w 27"/>
                  <a:gd name="T27" fmla="*/ 0 h 610"/>
                  <a:gd name="T28" fmla="*/ 0 w 27"/>
                  <a:gd name="T29" fmla="*/ 0 h 610"/>
                  <a:gd name="T30" fmla="*/ 0 w 27"/>
                  <a:gd name="T31" fmla="*/ 0 h 610"/>
                  <a:gd name="T32" fmla="*/ 0 w 27"/>
                  <a:gd name="T33" fmla="*/ 0 h 610"/>
                  <a:gd name="T34" fmla="*/ 0 w 27"/>
                  <a:gd name="T35" fmla="*/ 0 h 610"/>
                  <a:gd name="T36" fmla="*/ 0 w 27"/>
                  <a:gd name="T37" fmla="*/ 0 h 6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10">
                    <a:moveTo>
                      <a:pt x="0" y="610"/>
                    </a:moveTo>
                    <a:lnTo>
                      <a:pt x="0" y="0"/>
                    </a:lnTo>
                    <a:lnTo>
                      <a:pt x="3" y="1"/>
                    </a:lnTo>
                    <a:lnTo>
                      <a:pt x="6" y="2"/>
                    </a:lnTo>
                    <a:lnTo>
                      <a:pt x="10" y="3"/>
                    </a:lnTo>
                    <a:lnTo>
                      <a:pt x="14" y="4"/>
                    </a:lnTo>
                    <a:lnTo>
                      <a:pt x="17" y="4"/>
                    </a:lnTo>
                    <a:lnTo>
                      <a:pt x="20" y="5"/>
                    </a:lnTo>
                    <a:lnTo>
                      <a:pt x="23" y="6"/>
                    </a:lnTo>
                    <a:lnTo>
                      <a:pt x="27" y="7"/>
                    </a:lnTo>
                    <a:lnTo>
                      <a:pt x="27" y="603"/>
                    </a:lnTo>
                    <a:lnTo>
                      <a:pt x="23" y="604"/>
                    </a:lnTo>
                    <a:lnTo>
                      <a:pt x="20" y="605"/>
                    </a:lnTo>
                    <a:lnTo>
                      <a:pt x="17" y="606"/>
                    </a:lnTo>
                    <a:lnTo>
                      <a:pt x="14" y="607"/>
                    </a:lnTo>
                    <a:lnTo>
                      <a:pt x="10" y="608"/>
                    </a:lnTo>
                    <a:lnTo>
                      <a:pt x="6" y="609"/>
                    </a:lnTo>
                    <a:lnTo>
                      <a:pt x="3" y="610"/>
                    </a:lnTo>
                    <a:lnTo>
                      <a:pt x="0" y="61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38" name="Freeform 4156"/>
              <p:cNvSpPr>
                <a:spLocks noChangeAspect="1"/>
              </p:cNvSpPr>
              <p:nvPr/>
            </p:nvSpPr>
            <p:spPr bwMode="auto">
              <a:xfrm>
                <a:off x="5424" y="1044"/>
                <a:ext cx="9" cy="201"/>
              </a:xfrm>
              <a:custGeom>
                <a:avLst/>
                <a:gdLst>
                  <a:gd name="T0" fmla="*/ 0 w 25"/>
                  <a:gd name="T1" fmla="*/ 0 h 603"/>
                  <a:gd name="T2" fmla="*/ 0 w 25"/>
                  <a:gd name="T3" fmla="*/ 0 h 603"/>
                  <a:gd name="T4" fmla="*/ 0 w 25"/>
                  <a:gd name="T5" fmla="*/ 0 h 603"/>
                  <a:gd name="T6" fmla="*/ 0 w 25"/>
                  <a:gd name="T7" fmla="*/ 0 h 603"/>
                  <a:gd name="T8" fmla="*/ 0 w 25"/>
                  <a:gd name="T9" fmla="*/ 0 h 603"/>
                  <a:gd name="T10" fmla="*/ 0 w 25"/>
                  <a:gd name="T11" fmla="*/ 0 h 603"/>
                  <a:gd name="T12" fmla="*/ 0 w 25"/>
                  <a:gd name="T13" fmla="*/ 0 h 603"/>
                  <a:gd name="T14" fmla="*/ 0 w 25"/>
                  <a:gd name="T15" fmla="*/ 0 h 603"/>
                  <a:gd name="T16" fmla="*/ 0 w 25"/>
                  <a:gd name="T17" fmla="*/ 0 h 603"/>
                  <a:gd name="T18" fmla="*/ 0 w 25"/>
                  <a:gd name="T19" fmla="*/ 0 h 603"/>
                  <a:gd name="T20" fmla="*/ 0 w 25"/>
                  <a:gd name="T21" fmla="*/ 0 h 603"/>
                  <a:gd name="T22" fmla="*/ 0 w 25"/>
                  <a:gd name="T23" fmla="*/ 0 h 603"/>
                  <a:gd name="T24" fmla="*/ 0 w 25"/>
                  <a:gd name="T25" fmla="*/ 0 h 603"/>
                  <a:gd name="T26" fmla="*/ 0 w 25"/>
                  <a:gd name="T27" fmla="*/ 0 h 603"/>
                  <a:gd name="T28" fmla="*/ 0 w 25"/>
                  <a:gd name="T29" fmla="*/ 0 h 603"/>
                  <a:gd name="T30" fmla="*/ 0 w 25"/>
                  <a:gd name="T31" fmla="*/ 0 h 603"/>
                  <a:gd name="T32" fmla="*/ 0 w 25"/>
                  <a:gd name="T33" fmla="*/ 0 h 603"/>
                  <a:gd name="T34" fmla="*/ 0 w 25"/>
                  <a:gd name="T35" fmla="*/ 0 h 603"/>
                  <a:gd name="T36" fmla="*/ 0 w 25"/>
                  <a:gd name="T37" fmla="*/ 0 h 6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5" h="603">
                    <a:moveTo>
                      <a:pt x="0" y="603"/>
                    </a:moveTo>
                    <a:lnTo>
                      <a:pt x="0" y="0"/>
                    </a:lnTo>
                    <a:lnTo>
                      <a:pt x="3" y="0"/>
                    </a:lnTo>
                    <a:lnTo>
                      <a:pt x="6" y="1"/>
                    </a:lnTo>
                    <a:lnTo>
                      <a:pt x="9" y="2"/>
                    </a:lnTo>
                    <a:lnTo>
                      <a:pt x="13" y="3"/>
                    </a:lnTo>
                    <a:lnTo>
                      <a:pt x="16" y="4"/>
                    </a:lnTo>
                    <a:lnTo>
                      <a:pt x="19" y="5"/>
                    </a:lnTo>
                    <a:lnTo>
                      <a:pt x="22" y="7"/>
                    </a:lnTo>
                    <a:lnTo>
                      <a:pt x="25" y="8"/>
                    </a:lnTo>
                    <a:lnTo>
                      <a:pt x="25" y="594"/>
                    </a:lnTo>
                    <a:lnTo>
                      <a:pt x="22" y="595"/>
                    </a:lnTo>
                    <a:lnTo>
                      <a:pt x="19" y="596"/>
                    </a:lnTo>
                    <a:lnTo>
                      <a:pt x="16" y="597"/>
                    </a:lnTo>
                    <a:lnTo>
                      <a:pt x="13" y="599"/>
                    </a:lnTo>
                    <a:lnTo>
                      <a:pt x="9" y="600"/>
                    </a:lnTo>
                    <a:lnTo>
                      <a:pt x="6" y="601"/>
                    </a:lnTo>
                    <a:lnTo>
                      <a:pt x="3" y="602"/>
                    </a:lnTo>
                    <a:lnTo>
                      <a:pt x="0" y="60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39" name="Freeform 4157"/>
              <p:cNvSpPr>
                <a:spLocks noChangeAspect="1"/>
              </p:cNvSpPr>
              <p:nvPr/>
            </p:nvSpPr>
            <p:spPr bwMode="auto">
              <a:xfrm>
                <a:off x="5429" y="1045"/>
                <a:ext cx="8" cy="198"/>
              </a:xfrm>
              <a:custGeom>
                <a:avLst/>
                <a:gdLst>
                  <a:gd name="T0" fmla="*/ 0 w 26"/>
                  <a:gd name="T1" fmla="*/ 0 h 596"/>
                  <a:gd name="T2" fmla="*/ 0 w 26"/>
                  <a:gd name="T3" fmla="*/ 0 h 596"/>
                  <a:gd name="T4" fmla="*/ 0 w 26"/>
                  <a:gd name="T5" fmla="*/ 0 h 596"/>
                  <a:gd name="T6" fmla="*/ 0 w 26"/>
                  <a:gd name="T7" fmla="*/ 0 h 596"/>
                  <a:gd name="T8" fmla="*/ 0 w 26"/>
                  <a:gd name="T9" fmla="*/ 0 h 596"/>
                  <a:gd name="T10" fmla="*/ 0 w 26"/>
                  <a:gd name="T11" fmla="*/ 0 h 596"/>
                  <a:gd name="T12" fmla="*/ 0 w 26"/>
                  <a:gd name="T13" fmla="*/ 0 h 596"/>
                  <a:gd name="T14" fmla="*/ 0 w 26"/>
                  <a:gd name="T15" fmla="*/ 0 h 596"/>
                  <a:gd name="T16" fmla="*/ 0 w 26"/>
                  <a:gd name="T17" fmla="*/ 0 h 596"/>
                  <a:gd name="T18" fmla="*/ 0 w 26"/>
                  <a:gd name="T19" fmla="*/ 0 h 596"/>
                  <a:gd name="T20" fmla="*/ 0 w 26"/>
                  <a:gd name="T21" fmla="*/ 0 h 596"/>
                  <a:gd name="T22" fmla="*/ 0 w 26"/>
                  <a:gd name="T23" fmla="*/ 0 h 596"/>
                  <a:gd name="T24" fmla="*/ 0 w 26"/>
                  <a:gd name="T25" fmla="*/ 0 h 596"/>
                  <a:gd name="T26" fmla="*/ 0 w 26"/>
                  <a:gd name="T27" fmla="*/ 0 h 596"/>
                  <a:gd name="T28" fmla="*/ 0 w 26"/>
                  <a:gd name="T29" fmla="*/ 0 h 596"/>
                  <a:gd name="T30" fmla="*/ 0 w 26"/>
                  <a:gd name="T31" fmla="*/ 0 h 596"/>
                  <a:gd name="T32" fmla="*/ 0 w 26"/>
                  <a:gd name="T33" fmla="*/ 0 h 596"/>
                  <a:gd name="T34" fmla="*/ 0 w 26"/>
                  <a:gd name="T35" fmla="*/ 0 h 596"/>
                  <a:gd name="T36" fmla="*/ 0 w 26"/>
                  <a:gd name="T37" fmla="*/ 0 h 59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96">
                    <a:moveTo>
                      <a:pt x="0" y="596"/>
                    </a:moveTo>
                    <a:lnTo>
                      <a:pt x="0" y="0"/>
                    </a:lnTo>
                    <a:lnTo>
                      <a:pt x="3" y="1"/>
                    </a:lnTo>
                    <a:lnTo>
                      <a:pt x="6" y="2"/>
                    </a:lnTo>
                    <a:lnTo>
                      <a:pt x="9" y="4"/>
                    </a:lnTo>
                    <a:lnTo>
                      <a:pt x="13" y="5"/>
                    </a:lnTo>
                    <a:lnTo>
                      <a:pt x="17" y="7"/>
                    </a:lnTo>
                    <a:lnTo>
                      <a:pt x="20" y="8"/>
                    </a:lnTo>
                    <a:lnTo>
                      <a:pt x="23" y="9"/>
                    </a:lnTo>
                    <a:lnTo>
                      <a:pt x="26" y="11"/>
                    </a:lnTo>
                    <a:lnTo>
                      <a:pt x="26" y="586"/>
                    </a:lnTo>
                    <a:lnTo>
                      <a:pt x="23" y="588"/>
                    </a:lnTo>
                    <a:lnTo>
                      <a:pt x="20" y="589"/>
                    </a:lnTo>
                    <a:lnTo>
                      <a:pt x="17" y="590"/>
                    </a:lnTo>
                    <a:lnTo>
                      <a:pt x="13" y="591"/>
                    </a:lnTo>
                    <a:lnTo>
                      <a:pt x="9" y="592"/>
                    </a:lnTo>
                    <a:lnTo>
                      <a:pt x="6" y="593"/>
                    </a:lnTo>
                    <a:lnTo>
                      <a:pt x="3" y="594"/>
                    </a:lnTo>
                    <a:lnTo>
                      <a:pt x="0" y="59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40" name="Freeform 4158"/>
              <p:cNvSpPr>
                <a:spLocks noChangeAspect="1"/>
              </p:cNvSpPr>
              <p:nvPr/>
            </p:nvSpPr>
            <p:spPr bwMode="auto">
              <a:xfrm>
                <a:off x="5433" y="1046"/>
                <a:ext cx="9" cy="196"/>
              </a:xfrm>
              <a:custGeom>
                <a:avLst/>
                <a:gdLst>
                  <a:gd name="T0" fmla="*/ 0 w 27"/>
                  <a:gd name="T1" fmla="*/ 0 h 586"/>
                  <a:gd name="T2" fmla="*/ 0 w 27"/>
                  <a:gd name="T3" fmla="*/ 0 h 586"/>
                  <a:gd name="T4" fmla="*/ 0 w 27"/>
                  <a:gd name="T5" fmla="*/ 0 h 586"/>
                  <a:gd name="T6" fmla="*/ 0 w 27"/>
                  <a:gd name="T7" fmla="*/ 0 h 586"/>
                  <a:gd name="T8" fmla="*/ 0 w 27"/>
                  <a:gd name="T9" fmla="*/ 0 h 586"/>
                  <a:gd name="T10" fmla="*/ 0 w 27"/>
                  <a:gd name="T11" fmla="*/ 0 h 586"/>
                  <a:gd name="T12" fmla="*/ 0 w 27"/>
                  <a:gd name="T13" fmla="*/ 0 h 586"/>
                  <a:gd name="T14" fmla="*/ 0 w 27"/>
                  <a:gd name="T15" fmla="*/ 0 h 586"/>
                  <a:gd name="T16" fmla="*/ 0 w 27"/>
                  <a:gd name="T17" fmla="*/ 0 h 586"/>
                  <a:gd name="T18" fmla="*/ 0 w 27"/>
                  <a:gd name="T19" fmla="*/ 0 h 586"/>
                  <a:gd name="T20" fmla="*/ 0 w 27"/>
                  <a:gd name="T21" fmla="*/ 0 h 586"/>
                  <a:gd name="T22" fmla="*/ 0 w 27"/>
                  <a:gd name="T23" fmla="*/ 0 h 586"/>
                  <a:gd name="T24" fmla="*/ 0 w 27"/>
                  <a:gd name="T25" fmla="*/ 0 h 586"/>
                  <a:gd name="T26" fmla="*/ 0 w 27"/>
                  <a:gd name="T27" fmla="*/ 0 h 586"/>
                  <a:gd name="T28" fmla="*/ 0 w 27"/>
                  <a:gd name="T29" fmla="*/ 0 h 586"/>
                  <a:gd name="T30" fmla="*/ 0 w 27"/>
                  <a:gd name="T31" fmla="*/ 0 h 586"/>
                  <a:gd name="T32" fmla="*/ 0 w 27"/>
                  <a:gd name="T33" fmla="*/ 0 h 586"/>
                  <a:gd name="T34" fmla="*/ 0 w 27"/>
                  <a:gd name="T35" fmla="*/ 0 h 586"/>
                  <a:gd name="T36" fmla="*/ 0 w 27"/>
                  <a:gd name="T37" fmla="*/ 0 h 58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86">
                    <a:moveTo>
                      <a:pt x="0" y="586"/>
                    </a:moveTo>
                    <a:lnTo>
                      <a:pt x="0" y="0"/>
                    </a:lnTo>
                    <a:lnTo>
                      <a:pt x="5" y="2"/>
                    </a:lnTo>
                    <a:lnTo>
                      <a:pt x="8" y="3"/>
                    </a:lnTo>
                    <a:lnTo>
                      <a:pt x="11" y="4"/>
                    </a:lnTo>
                    <a:lnTo>
                      <a:pt x="14" y="6"/>
                    </a:lnTo>
                    <a:lnTo>
                      <a:pt x="17" y="7"/>
                    </a:lnTo>
                    <a:lnTo>
                      <a:pt x="21" y="8"/>
                    </a:lnTo>
                    <a:lnTo>
                      <a:pt x="24" y="10"/>
                    </a:lnTo>
                    <a:lnTo>
                      <a:pt x="27" y="11"/>
                    </a:lnTo>
                    <a:lnTo>
                      <a:pt x="27" y="576"/>
                    </a:lnTo>
                    <a:lnTo>
                      <a:pt x="24" y="577"/>
                    </a:lnTo>
                    <a:lnTo>
                      <a:pt x="21" y="579"/>
                    </a:lnTo>
                    <a:lnTo>
                      <a:pt x="17" y="580"/>
                    </a:lnTo>
                    <a:lnTo>
                      <a:pt x="14" y="581"/>
                    </a:lnTo>
                    <a:lnTo>
                      <a:pt x="11" y="583"/>
                    </a:lnTo>
                    <a:lnTo>
                      <a:pt x="8" y="584"/>
                    </a:lnTo>
                    <a:lnTo>
                      <a:pt x="5" y="585"/>
                    </a:lnTo>
                    <a:lnTo>
                      <a:pt x="0" y="58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41" name="Freeform 4159"/>
              <p:cNvSpPr>
                <a:spLocks noChangeAspect="1"/>
              </p:cNvSpPr>
              <p:nvPr/>
            </p:nvSpPr>
            <p:spPr bwMode="auto">
              <a:xfrm>
                <a:off x="5437" y="1048"/>
                <a:ext cx="9" cy="192"/>
              </a:xfrm>
              <a:custGeom>
                <a:avLst/>
                <a:gdLst>
                  <a:gd name="T0" fmla="*/ 0 w 27"/>
                  <a:gd name="T1" fmla="*/ 0 h 575"/>
                  <a:gd name="T2" fmla="*/ 0 w 27"/>
                  <a:gd name="T3" fmla="*/ 0 h 575"/>
                  <a:gd name="T4" fmla="*/ 0 w 27"/>
                  <a:gd name="T5" fmla="*/ 0 h 575"/>
                  <a:gd name="T6" fmla="*/ 0 w 27"/>
                  <a:gd name="T7" fmla="*/ 0 h 575"/>
                  <a:gd name="T8" fmla="*/ 0 w 27"/>
                  <a:gd name="T9" fmla="*/ 0 h 575"/>
                  <a:gd name="T10" fmla="*/ 0 w 27"/>
                  <a:gd name="T11" fmla="*/ 0 h 575"/>
                  <a:gd name="T12" fmla="*/ 0 w 27"/>
                  <a:gd name="T13" fmla="*/ 0 h 575"/>
                  <a:gd name="T14" fmla="*/ 0 w 27"/>
                  <a:gd name="T15" fmla="*/ 0 h 575"/>
                  <a:gd name="T16" fmla="*/ 0 w 27"/>
                  <a:gd name="T17" fmla="*/ 0 h 575"/>
                  <a:gd name="T18" fmla="*/ 0 w 27"/>
                  <a:gd name="T19" fmla="*/ 0 h 575"/>
                  <a:gd name="T20" fmla="*/ 0 w 27"/>
                  <a:gd name="T21" fmla="*/ 0 h 575"/>
                  <a:gd name="T22" fmla="*/ 0 w 27"/>
                  <a:gd name="T23" fmla="*/ 0 h 575"/>
                  <a:gd name="T24" fmla="*/ 0 w 27"/>
                  <a:gd name="T25" fmla="*/ 0 h 575"/>
                  <a:gd name="T26" fmla="*/ 0 w 27"/>
                  <a:gd name="T27" fmla="*/ 0 h 575"/>
                  <a:gd name="T28" fmla="*/ 0 w 27"/>
                  <a:gd name="T29" fmla="*/ 0 h 575"/>
                  <a:gd name="T30" fmla="*/ 0 w 27"/>
                  <a:gd name="T31" fmla="*/ 0 h 575"/>
                  <a:gd name="T32" fmla="*/ 0 w 27"/>
                  <a:gd name="T33" fmla="*/ 0 h 575"/>
                  <a:gd name="T34" fmla="*/ 0 w 27"/>
                  <a:gd name="T35" fmla="*/ 0 h 575"/>
                  <a:gd name="T36" fmla="*/ 0 w 27"/>
                  <a:gd name="T37" fmla="*/ 0 h 5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75">
                    <a:moveTo>
                      <a:pt x="0" y="575"/>
                    </a:moveTo>
                    <a:lnTo>
                      <a:pt x="0" y="0"/>
                    </a:lnTo>
                    <a:lnTo>
                      <a:pt x="3" y="1"/>
                    </a:lnTo>
                    <a:lnTo>
                      <a:pt x="7" y="2"/>
                    </a:lnTo>
                    <a:lnTo>
                      <a:pt x="10" y="4"/>
                    </a:lnTo>
                    <a:lnTo>
                      <a:pt x="14" y="5"/>
                    </a:lnTo>
                    <a:lnTo>
                      <a:pt x="17" y="7"/>
                    </a:lnTo>
                    <a:lnTo>
                      <a:pt x="20" y="8"/>
                    </a:lnTo>
                    <a:lnTo>
                      <a:pt x="24" y="10"/>
                    </a:lnTo>
                    <a:lnTo>
                      <a:pt x="27" y="12"/>
                    </a:lnTo>
                    <a:lnTo>
                      <a:pt x="27" y="563"/>
                    </a:lnTo>
                    <a:lnTo>
                      <a:pt x="24" y="564"/>
                    </a:lnTo>
                    <a:lnTo>
                      <a:pt x="20" y="566"/>
                    </a:lnTo>
                    <a:lnTo>
                      <a:pt x="17" y="568"/>
                    </a:lnTo>
                    <a:lnTo>
                      <a:pt x="14" y="570"/>
                    </a:lnTo>
                    <a:lnTo>
                      <a:pt x="10" y="571"/>
                    </a:lnTo>
                    <a:lnTo>
                      <a:pt x="7" y="573"/>
                    </a:lnTo>
                    <a:lnTo>
                      <a:pt x="3" y="574"/>
                    </a:lnTo>
                    <a:lnTo>
                      <a:pt x="0" y="57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42" name="Freeform 4160"/>
              <p:cNvSpPr>
                <a:spLocks noChangeAspect="1"/>
              </p:cNvSpPr>
              <p:nvPr/>
            </p:nvSpPr>
            <p:spPr bwMode="auto">
              <a:xfrm>
                <a:off x="5442" y="1050"/>
                <a:ext cx="9" cy="188"/>
              </a:xfrm>
              <a:custGeom>
                <a:avLst/>
                <a:gdLst>
                  <a:gd name="T0" fmla="*/ 0 w 27"/>
                  <a:gd name="T1" fmla="*/ 0 h 565"/>
                  <a:gd name="T2" fmla="*/ 0 w 27"/>
                  <a:gd name="T3" fmla="*/ 0 h 565"/>
                  <a:gd name="T4" fmla="*/ 0 w 27"/>
                  <a:gd name="T5" fmla="*/ 0 h 565"/>
                  <a:gd name="T6" fmla="*/ 0 w 27"/>
                  <a:gd name="T7" fmla="*/ 0 h 565"/>
                  <a:gd name="T8" fmla="*/ 0 w 27"/>
                  <a:gd name="T9" fmla="*/ 0 h 565"/>
                  <a:gd name="T10" fmla="*/ 0 w 27"/>
                  <a:gd name="T11" fmla="*/ 0 h 565"/>
                  <a:gd name="T12" fmla="*/ 0 w 27"/>
                  <a:gd name="T13" fmla="*/ 0 h 565"/>
                  <a:gd name="T14" fmla="*/ 0 w 27"/>
                  <a:gd name="T15" fmla="*/ 0 h 565"/>
                  <a:gd name="T16" fmla="*/ 0 w 27"/>
                  <a:gd name="T17" fmla="*/ 0 h 565"/>
                  <a:gd name="T18" fmla="*/ 0 w 27"/>
                  <a:gd name="T19" fmla="*/ 0 h 565"/>
                  <a:gd name="T20" fmla="*/ 0 w 27"/>
                  <a:gd name="T21" fmla="*/ 0 h 565"/>
                  <a:gd name="T22" fmla="*/ 0 w 27"/>
                  <a:gd name="T23" fmla="*/ 0 h 565"/>
                  <a:gd name="T24" fmla="*/ 0 w 27"/>
                  <a:gd name="T25" fmla="*/ 0 h 565"/>
                  <a:gd name="T26" fmla="*/ 0 w 27"/>
                  <a:gd name="T27" fmla="*/ 0 h 565"/>
                  <a:gd name="T28" fmla="*/ 0 w 27"/>
                  <a:gd name="T29" fmla="*/ 0 h 565"/>
                  <a:gd name="T30" fmla="*/ 0 w 27"/>
                  <a:gd name="T31" fmla="*/ 0 h 565"/>
                  <a:gd name="T32" fmla="*/ 0 w 27"/>
                  <a:gd name="T33" fmla="*/ 0 h 565"/>
                  <a:gd name="T34" fmla="*/ 0 w 27"/>
                  <a:gd name="T35" fmla="*/ 0 h 565"/>
                  <a:gd name="T36" fmla="*/ 0 w 27"/>
                  <a:gd name="T37" fmla="*/ 0 h 5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65">
                    <a:moveTo>
                      <a:pt x="0" y="565"/>
                    </a:moveTo>
                    <a:lnTo>
                      <a:pt x="0" y="0"/>
                    </a:lnTo>
                    <a:lnTo>
                      <a:pt x="4" y="2"/>
                    </a:lnTo>
                    <a:lnTo>
                      <a:pt x="7" y="3"/>
                    </a:lnTo>
                    <a:lnTo>
                      <a:pt x="11" y="5"/>
                    </a:lnTo>
                    <a:lnTo>
                      <a:pt x="14" y="7"/>
                    </a:lnTo>
                    <a:lnTo>
                      <a:pt x="17" y="9"/>
                    </a:lnTo>
                    <a:lnTo>
                      <a:pt x="20" y="11"/>
                    </a:lnTo>
                    <a:lnTo>
                      <a:pt x="23" y="12"/>
                    </a:lnTo>
                    <a:lnTo>
                      <a:pt x="27" y="14"/>
                    </a:lnTo>
                    <a:lnTo>
                      <a:pt x="27" y="551"/>
                    </a:lnTo>
                    <a:lnTo>
                      <a:pt x="23" y="553"/>
                    </a:lnTo>
                    <a:lnTo>
                      <a:pt x="20" y="554"/>
                    </a:lnTo>
                    <a:lnTo>
                      <a:pt x="17" y="556"/>
                    </a:lnTo>
                    <a:lnTo>
                      <a:pt x="14" y="558"/>
                    </a:lnTo>
                    <a:lnTo>
                      <a:pt x="11" y="559"/>
                    </a:lnTo>
                    <a:lnTo>
                      <a:pt x="7" y="561"/>
                    </a:lnTo>
                    <a:lnTo>
                      <a:pt x="4" y="563"/>
                    </a:lnTo>
                    <a:lnTo>
                      <a:pt x="0" y="5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43" name="Freeform 4161"/>
              <p:cNvSpPr>
                <a:spLocks noChangeAspect="1"/>
              </p:cNvSpPr>
              <p:nvPr/>
            </p:nvSpPr>
            <p:spPr bwMode="auto">
              <a:xfrm>
                <a:off x="5446" y="1052"/>
                <a:ext cx="9" cy="184"/>
              </a:xfrm>
              <a:custGeom>
                <a:avLst/>
                <a:gdLst>
                  <a:gd name="T0" fmla="*/ 0 w 26"/>
                  <a:gd name="T1" fmla="*/ 0 h 551"/>
                  <a:gd name="T2" fmla="*/ 0 w 26"/>
                  <a:gd name="T3" fmla="*/ 0 h 551"/>
                  <a:gd name="T4" fmla="*/ 0 w 26"/>
                  <a:gd name="T5" fmla="*/ 0 h 551"/>
                  <a:gd name="T6" fmla="*/ 0 w 26"/>
                  <a:gd name="T7" fmla="*/ 0 h 551"/>
                  <a:gd name="T8" fmla="*/ 0 w 26"/>
                  <a:gd name="T9" fmla="*/ 0 h 551"/>
                  <a:gd name="T10" fmla="*/ 0 w 26"/>
                  <a:gd name="T11" fmla="*/ 0 h 551"/>
                  <a:gd name="T12" fmla="*/ 0 w 26"/>
                  <a:gd name="T13" fmla="*/ 0 h 551"/>
                  <a:gd name="T14" fmla="*/ 0 w 26"/>
                  <a:gd name="T15" fmla="*/ 0 h 551"/>
                  <a:gd name="T16" fmla="*/ 0 w 26"/>
                  <a:gd name="T17" fmla="*/ 0 h 551"/>
                  <a:gd name="T18" fmla="*/ 0 w 26"/>
                  <a:gd name="T19" fmla="*/ 0 h 551"/>
                  <a:gd name="T20" fmla="*/ 0 w 26"/>
                  <a:gd name="T21" fmla="*/ 0 h 551"/>
                  <a:gd name="T22" fmla="*/ 0 w 26"/>
                  <a:gd name="T23" fmla="*/ 0 h 551"/>
                  <a:gd name="T24" fmla="*/ 0 w 26"/>
                  <a:gd name="T25" fmla="*/ 0 h 551"/>
                  <a:gd name="T26" fmla="*/ 0 w 26"/>
                  <a:gd name="T27" fmla="*/ 0 h 551"/>
                  <a:gd name="T28" fmla="*/ 0 w 26"/>
                  <a:gd name="T29" fmla="*/ 0 h 551"/>
                  <a:gd name="T30" fmla="*/ 0 w 26"/>
                  <a:gd name="T31" fmla="*/ 0 h 551"/>
                  <a:gd name="T32" fmla="*/ 0 w 26"/>
                  <a:gd name="T33" fmla="*/ 0 h 551"/>
                  <a:gd name="T34" fmla="*/ 0 w 26"/>
                  <a:gd name="T35" fmla="*/ 0 h 551"/>
                  <a:gd name="T36" fmla="*/ 0 w 26"/>
                  <a:gd name="T37" fmla="*/ 0 h 5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51">
                    <a:moveTo>
                      <a:pt x="0" y="551"/>
                    </a:moveTo>
                    <a:lnTo>
                      <a:pt x="0" y="0"/>
                    </a:lnTo>
                    <a:lnTo>
                      <a:pt x="3" y="2"/>
                    </a:lnTo>
                    <a:lnTo>
                      <a:pt x="6" y="4"/>
                    </a:lnTo>
                    <a:lnTo>
                      <a:pt x="9" y="5"/>
                    </a:lnTo>
                    <a:lnTo>
                      <a:pt x="14" y="7"/>
                    </a:lnTo>
                    <a:lnTo>
                      <a:pt x="17" y="9"/>
                    </a:lnTo>
                    <a:lnTo>
                      <a:pt x="20" y="11"/>
                    </a:lnTo>
                    <a:lnTo>
                      <a:pt x="23" y="13"/>
                    </a:lnTo>
                    <a:lnTo>
                      <a:pt x="26" y="15"/>
                    </a:lnTo>
                    <a:lnTo>
                      <a:pt x="26" y="535"/>
                    </a:lnTo>
                    <a:lnTo>
                      <a:pt x="23" y="537"/>
                    </a:lnTo>
                    <a:lnTo>
                      <a:pt x="20" y="540"/>
                    </a:lnTo>
                    <a:lnTo>
                      <a:pt x="17" y="542"/>
                    </a:lnTo>
                    <a:lnTo>
                      <a:pt x="14" y="544"/>
                    </a:lnTo>
                    <a:lnTo>
                      <a:pt x="9" y="545"/>
                    </a:lnTo>
                    <a:lnTo>
                      <a:pt x="6" y="547"/>
                    </a:lnTo>
                    <a:lnTo>
                      <a:pt x="3" y="549"/>
                    </a:lnTo>
                    <a:lnTo>
                      <a:pt x="0" y="55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44" name="Freeform 4162"/>
              <p:cNvSpPr>
                <a:spLocks noChangeAspect="1"/>
              </p:cNvSpPr>
              <p:nvPr/>
            </p:nvSpPr>
            <p:spPr bwMode="auto">
              <a:xfrm>
                <a:off x="5451" y="1055"/>
                <a:ext cx="8" cy="179"/>
              </a:xfrm>
              <a:custGeom>
                <a:avLst/>
                <a:gdLst>
                  <a:gd name="T0" fmla="*/ 0 w 26"/>
                  <a:gd name="T1" fmla="*/ 0 h 537"/>
                  <a:gd name="T2" fmla="*/ 0 w 26"/>
                  <a:gd name="T3" fmla="*/ 0 h 537"/>
                  <a:gd name="T4" fmla="*/ 0 w 26"/>
                  <a:gd name="T5" fmla="*/ 0 h 537"/>
                  <a:gd name="T6" fmla="*/ 0 w 26"/>
                  <a:gd name="T7" fmla="*/ 0 h 537"/>
                  <a:gd name="T8" fmla="*/ 0 w 26"/>
                  <a:gd name="T9" fmla="*/ 0 h 537"/>
                  <a:gd name="T10" fmla="*/ 0 w 26"/>
                  <a:gd name="T11" fmla="*/ 0 h 537"/>
                  <a:gd name="T12" fmla="*/ 0 w 26"/>
                  <a:gd name="T13" fmla="*/ 0 h 537"/>
                  <a:gd name="T14" fmla="*/ 0 w 26"/>
                  <a:gd name="T15" fmla="*/ 0 h 537"/>
                  <a:gd name="T16" fmla="*/ 0 w 26"/>
                  <a:gd name="T17" fmla="*/ 0 h 537"/>
                  <a:gd name="T18" fmla="*/ 0 w 26"/>
                  <a:gd name="T19" fmla="*/ 0 h 537"/>
                  <a:gd name="T20" fmla="*/ 0 w 26"/>
                  <a:gd name="T21" fmla="*/ 0 h 537"/>
                  <a:gd name="T22" fmla="*/ 0 w 26"/>
                  <a:gd name="T23" fmla="*/ 0 h 537"/>
                  <a:gd name="T24" fmla="*/ 0 w 26"/>
                  <a:gd name="T25" fmla="*/ 0 h 537"/>
                  <a:gd name="T26" fmla="*/ 0 w 26"/>
                  <a:gd name="T27" fmla="*/ 0 h 537"/>
                  <a:gd name="T28" fmla="*/ 0 w 26"/>
                  <a:gd name="T29" fmla="*/ 0 h 537"/>
                  <a:gd name="T30" fmla="*/ 0 w 26"/>
                  <a:gd name="T31" fmla="*/ 0 h 537"/>
                  <a:gd name="T32" fmla="*/ 0 w 26"/>
                  <a:gd name="T33" fmla="*/ 0 h 537"/>
                  <a:gd name="T34" fmla="*/ 0 w 26"/>
                  <a:gd name="T35" fmla="*/ 0 h 537"/>
                  <a:gd name="T36" fmla="*/ 0 w 26"/>
                  <a:gd name="T37" fmla="*/ 0 h 5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37">
                    <a:moveTo>
                      <a:pt x="0" y="537"/>
                    </a:moveTo>
                    <a:lnTo>
                      <a:pt x="0" y="0"/>
                    </a:lnTo>
                    <a:lnTo>
                      <a:pt x="4" y="2"/>
                    </a:lnTo>
                    <a:lnTo>
                      <a:pt x="7" y="4"/>
                    </a:lnTo>
                    <a:lnTo>
                      <a:pt x="10" y="6"/>
                    </a:lnTo>
                    <a:lnTo>
                      <a:pt x="13" y="8"/>
                    </a:lnTo>
                    <a:lnTo>
                      <a:pt x="17" y="11"/>
                    </a:lnTo>
                    <a:lnTo>
                      <a:pt x="20" y="13"/>
                    </a:lnTo>
                    <a:lnTo>
                      <a:pt x="23" y="15"/>
                    </a:lnTo>
                    <a:lnTo>
                      <a:pt x="26" y="17"/>
                    </a:lnTo>
                    <a:lnTo>
                      <a:pt x="26" y="520"/>
                    </a:lnTo>
                    <a:lnTo>
                      <a:pt x="23" y="522"/>
                    </a:lnTo>
                    <a:lnTo>
                      <a:pt x="20" y="524"/>
                    </a:lnTo>
                    <a:lnTo>
                      <a:pt x="17" y="526"/>
                    </a:lnTo>
                    <a:lnTo>
                      <a:pt x="13" y="528"/>
                    </a:lnTo>
                    <a:lnTo>
                      <a:pt x="10" y="530"/>
                    </a:lnTo>
                    <a:lnTo>
                      <a:pt x="7" y="533"/>
                    </a:lnTo>
                    <a:lnTo>
                      <a:pt x="4" y="535"/>
                    </a:lnTo>
                    <a:lnTo>
                      <a:pt x="0" y="53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45" name="Freeform 4163"/>
              <p:cNvSpPr>
                <a:spLocks noChangeAspect="1"/>
              </p:cNvSpPr>
              <p:nvPr/>
            </p:nvSpPr>
            <p:spPr bwMode="auto">
              <a:xfrm>
                <a:off x="5455" y="1057"/>
                <a:ext cx="9" cy="174"/>
              </a:xfrm>
              <a:custGeom>
                <a:avLst/>
                <a:gdLst>
                  <a:gd name="T0" fmla="*/ 0 w 27"/>
                  <a:gd name="T1" fmla="*/ 0 h 520"/>
                  <a:gd name="T2" fmla="*/ 0 w 27"/>
                  <a:gd name="T3" fmla="*/ 0 h 520"/>
                  <a:gd name="T4" fmla="*/ 0 w 27"/>
                  <a:gd name="T5" fmla="*/ 0 h 520"/>
                  <a:gd name="T6" fmla="*/ 0 w 27"/>
                  <a:gd name="T7" fmla="*/ 0 h 520"/>
                  <a:gd name="T8" fmla="*/ 0 w 27"/>
                  <a:gd name="T9" fmla="*/ 0 h 520"/>
                  <a:gd name="T10" fmla="*/ 0 w 27"/>
                  <a:gd name="T11" fmla="*/ 0 h 520"/>
                  <a:gd name="T12" fmla="*/ 0 w 27"/>
                  <a:gd name="T13" fmla="*/ 0 h 520"/>
                  <a:gd name="T14" fmla="*/ 0 w 27"/>
                  <a:gd name="T15" fmla="*/ 0 h 520"/>
                  <a:gd name="T16" fmla="*/ 0 w 27"/>
                  <a:gd name="T17" fmla="*/ 0 h 520"/>
                  <a:gd name="T18" fmla="*/ 0 w 27"/>
                  <a:gd name="T19" fmla="*/ 0 h 520"/>
                  <a:gd name="T20" fmla="*/ 0 w 27"/>
                  <a:gd name="T21" fmla="*/ 0 h 520"/>
                  <a:gd name="T22" fmla="*/ 0 w 27"/>
                  <a:gd name="T23" fmla="*/ 0 h 520"/>
                  <a:gd name="T24" fmla="*/ 0 w 27"/>
                  <a:gd name="T25" fmla="*/ 0 h 520"/>
                  <a:gd name="T26" fmla="*/ 0 w 27"/>
                  <a:gd name="T27" fmla="*/ 0 h 520"/>
                  <a:gd name="T28" fmla="*/ 0 w 27"/>
                  <a:gd name="T29" fmla="*/ 0 h 520"/>
                  <a:gd name="T30" fmla="*/ 0 w 27"/>
                  <a:gd name="T31" fmla="*/ 0 h 520"/>
                  <a:gd name="T32" fmla="*/ 0 w 27"/>
                  <a:gd name="T33" fmla="*/ 0 h 520"/>
                  <a:gd name="T34" fmla="*/ 0 w 27"/>
                  <a:gd name="T35" fmla="*/ 0 h 520"/>
                  <a:gd name="T36" fmla="*/ 0 w 27"/>
                  <a:gd name="T37" fmla="*/ 0 h 5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20">
                    <a:moveTo>
                      <a:pt x="0" y="520"/>
                    </a:moveTo>
                    <a:lnTo>
                      <a:pt x="0" y="0"/>
                    </a:lnTo>
                    <a:lnTo>
                      <a:pt x="4" y="3"/>
                    </a:lnTo>
                    <a:lnTo>
                      <a:pt x="7" y="5"/>
                    </a:lnTo>
                    <a:lnTo>
                      <a:pt x="10" y="7"/>
                    </a:lnTo>
                    <a:lnTo>
                      <a:pt x="14" y="9"/>
                    </a:lnTo>
                    <a:lnTo>
                      <a:pt x="18" y="12"/>
                    </a:lnTo>
                    <a:lnTo>
                      <a:pt x="21" y="14"/>
                    </a:lnTo>
                    <a:lnTo>
                      <a:pt x="24" y="16"/>
                    </a:lnTo>
                    <a:lnTo>
                      <a:pt x="27" y="20"/>
                    </a:lnTo>
                    <a:lnTo>
                      <a:pt x="27" y="501"/>
                    </a:lnTo>
                    <a:lnTo>
                      <a:pt x="24" y="504"/>
                    </a:lnTo>
                    <a:lnTo>
                      <a:pt x="21" y="507"/>
                    </a:lnTo>
                    <a:lnTo>
                      <a:pt x="18" y="509"/>
                    </a:lnTo>
                    <a:lnTo>
                      <a:pt x="14" y="511"/>
                    </a:lnTo>
                    <a:lnTo>
                      <a:pt x="10" y="514"/>
                    </a:lnTo>
                    <a:lnTo>
                      <a:pt x="7" y="516"/>
                    </a:lnTo>
                    <a:lnTo>
                      <a:pt x="4" y="518"/>
                    </a:lnTo>
                    <a:lnTo>
                      <a:pt x="0" y="5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46" name="Freeform 4164"/>
              <p:cNvSpPr>
                <a:spLocks noChangeAspect="1"/>
              </p:cNvSpPr>
              <p:nvPr/>
            </p:nvSpPr>
            <p:spPr bwMode="auto">
              <a:xfrm>
                <a:off x="5459" y="1060"/>
                <a:ext cx="9" cy="168"/>
              </a:xfrm>
              <a:custGeom>
                <a:avLst/>
                <a:gdLst>
                  <a:gd name="T0" fmla="*/ 0 w 27"/>
                  <a:gd name="T1" fmla="*/ 0 h 503"/>
                  <a:gd name="T2" fmla="*/ 0 w 27"/>
                  <a:gd name="T3" fmla="*/ 0 h 503"/>
                  <a:gd name="T4" fmla="*/ 0 w 27"/>
                  <a:gd name="T5" fmla="*/ 0 h 503"/>
                  <a:gd name="T6" fmla="*/ 0 w 27"/>
                  <a:gd name="T7" fmla="*/ 0 h 503"/>
                  <a:gd name="T8" fmla="*/ 0 w 27"/>
                  <a:gd name="T9" fmla="*/ 0 h 503"/>
                  <a:gd name="T10" fmla="*/ 0 w 27"/>
                  <a:gd name="T11" fmla="*/ 0 h 503"/>
                  <a:gd name="T12" fmla="*/ 0 w 27"/>
                  <a:gd name="T13" fmla="*/ 0 h 503"/>
                  <a:gd name="T14" fmla="*/ 0 w 27"/>
                  <a:gd name="T15" fmla="*/ 0 h 503"/>
                  <a:gd name="T16" fmla="*/ 0 w 27"/>
                  <a:gd name="T17" fmla="*/ 0 h 503"/>
                  <a:gd name="T18" fmla="*/ 0 w 27"/>
                  <a:gd name="T19" fmla="*/ 0 h 503"/>
                  <a:gd name="T20" fmla="*/ 0 w 27"/>
                  <a:gd name="T21" fmla="*/ 0 h 503"/>
                  <a:gd name="T22" fmla="*/ 0 w 27"/>
                  <a:gd name="T23" fmla="*/ 0 h 503"/>
                  <a:gd name="T24" fmla="*/ 0 w 27"/>
                  <a:gd name="T25" fmla="*/ 0 h 503"/>
                  <a:gd name="T26" fmla="*/ 0 w 27"/>
                  <a:gd name="T27" fmla="*/ 0 h 503"/>
                  <a:gd name="T28" fmla="*/ 0 w 27"/>
                  <a:gd name="T29" fmla="*/ 0 h 503"/>
                  <a:gd name="T30" fmla="*/ 0 w 27"/>
                  <a:gd name="T31" fmla="*/ 0 h 503"/>
                  <a:gd name="T32" fmla="*/ 0 w 27"/>
                  <a:gd name="T33" fmla="*/ 0 h 503"/>
                  <a:gd name="T34" fmla="*/ 0 w 27"/>
                  <a:gd name="T35" fmla="*/ 0 h 503"/>
                  <a:gd name="T36" fmla="*/ 0 w 27"/>
                  <a:gd name="T37" fmla="*/ 0 h 5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03">
                    <a:moveTo>
                      <a:pt x="0" y="503"/>
                    </a:moveTo>
                    <a:lnTo>
                      <a:pt x="0" y="0"/>
                    </a:lnTo>
                    <a:lnTo>
                      <a:pt x="5" y="2"/>
                    </a:lnTo>
                    <a:lnTo>
                      <a:pt x="8" y="5"/>
                    </a:lnTo>
                    <a:lnTo>
                      <a:pt x="11" y="7"/>
                    </a:lnTo>
                    <a:lnTo>
                      <a:pt x="14" y="11"/>
                    </a:lnTo>
                    <a:lnTo>
                      <a:pt x="17" y="13"/>
                    </a:lnTo>
                    <a:lnTo>
                      <a:pt x="20" y="16"/>
                    </a:lnTo>
                    <a:lnTo>
                      <a:pt x="24" y="18"/>
                    </a:lnTo>
                    <a:lnTo>
                      <a:pt x="27" y="21"/>
                    </a:lnTo>
                    <a:lnTo>
                      <a:pt x="27" y="482"/>
                    </a:lnTo>
                    <a:lnTo>
                      <a:pt x="24" y="484"/>
                    </a:lnTo>
                    <a:lnTo>
                      <a:pt x="20" y="487"/>
                    </a:lnTo>
                    <a:lnTo>
                      <a:pt x="17" y="490"/>
                    </a:lnTo>
                    <a:lnTo>
                      <a:pt x="14" y="492"/>
                    </a:lnTo>
                    <a:lnTo>
                      <a:pt x="11" y="495"/>
                    </a:lnTo>
                    <a:lnTo>
                      <a:pt x="8" y="498"/>
                    </a:lnTo>
                    <a:lnTo>
                      <a:pt x="5" y="500"/>
                    </a:lnTo>
                    <a:lnTo>
                      <a:pt x="0" y="50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47" name="Freeform 4165"/>
              <p:cNvSpPr>
                <a:spLocks noChangeAspect="1"/>
              </p:cNvSpPr>
              <p:nvPr/>
            </p:nvSpPr>
            <p:spPr bwMode="auto">
              <a:xfrm>
                <a:off x="5464" y="1064"/>
                <a:ext cx="9" cy="160"/>
              </a:xfrm>
              <a:custGeom>
                <a:avLst/>
                <a:gdLst>
                  <a:gd name="T0" fmla="*/ 0 w 27"/>
                  <a:gd name="T1" fmla="*/ 0 h 481"/>
                  <a:gd name="T2" fmla="*/ 0 w 27"/>
                  <a:gd name="T3" fmla="*/ 0 h 481"/>
                  <a:gd name="T4" fmla="*/ 0 w 27"/>
                  <a:gd name="T5" fmla="*/ 0 h 481"/>
                  <a:gd name="T6" fmla="*/ 0 w 27"/>
                  <a:gd name="T7" fmla="*/ 0 h 481"/>
                  <a:gd name="T8" fmla="*/ 0 w 27"/>
                  <a:gd name="T9" fmla="*/ 0 h 481"/>
                  <a:gd name="T10" fmla="*/ 0 w 27"/>
                  <a:gd name="T11" fmla="*/ 0 h 481"/>
                  <a:gd name="T12" fmla="*/ 0 w 27"/>
                  <a:gd name="T13" fmla="*/ 0 h 481"/>
                  <a:gd name="T14" fmla="*/ 0 w 27"/>
                  <a:gd name="T15" fmla="*/ 0 h 481"/>
                  <a:gd name="T16" fmla="*/ 0 w 27"/>
                  <a:gd name="T17" fmla="*/ 0 h 481"/>
                  <a:gd name="T18" fmla="*/ 0 w 27"/>
                  <a:gd name="T19" fmla="*/ 0 h 481"/>
                  <a:gd name="T20" fmla="*/ 0 w 27"/>
                  <a:gd name="T21" fmla="*/ 0 h 481"/>
                  <a:gd name="T22" fmla="*/ 0 w 27"/>
                  <a:gd name="T23" fmla="*/ 0 h 481"/>
                  <a:gd name="T24" fmla="*/ 0 w 27"/>
                  <a:gd name="T25" fmla="*/ 0 h 481"/>
                  <a:gd name="T26" fmla="*/ 0 w 27"/>
                  <a:gd name="T27" fmla="*/ 0 h 481"/>
                  <a:gd name="T28" fmla="*/ 0 w 27"/>
                  <a:gd name="T29" fmla="*/ 0 h 481"/>
                  <a:gd name="T30" fmla="*/ 0 w 27"/>
                  <a:gd name="T31" fmla="*/ 0 h 481"/>
                  <a:gd name="T32" fmla="*/ 0 w 27"/>
                  <a:gd name="T33" fmla="*/ 0 h 481"/>
                  <a:gd name="T34" fmla="*/ 0 w 27"/>
                  <a:gd name="T35" fmla="*/ 0 h 481"/>
                  <a:gd name="T36" fmla="*/ 0 w 27"/>
                  <a:gd name="T37" fmla="*/ 0 h 48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81">
                    <a:moveTo>
                      <a:pt x="0" y="481"/>
                    </a:moveTo>
                    <a:lnTo>
                      <a:pt x="0" y="0"/>
                    </a:lnTo>
                    <a:lnTo>
                      <a:pt x="3" y="2"/>
                    </a:lnTo>
                    <a:lnTo>
                      <a:pt x="6" y="5"/>
                    </a:lnTo>
                    <a:lnTo>
                      <a:pt x="10" y="8"/>
                    </a:lnTo>
                    <a:lnTo>
                      <a:pt x="14" y="10"/>
                    </a:lnTo>
                    <a:lnTo>
                      <a:pt x="17" y="13"/>
                    </a:lnTo>
                    <a:lnTo>
                      <a:pt x="20" y="17"/>
                    </a:lnTo>
                    <a:lnTo>
                      <a:pt x="24" y="20"/>
                    </a:lnTo>
                    <a:lnTo>
                      <a:pt x="27" y="23"/>
                    </a:lnTo>
                    <a:lnTo>
                      <a:pt x="27" y="458"/>
                    </a:lnTo>
                    <a:lnTo>
                      <a:pt x="24" y="461"/>
                    </a:lnTo>
                    <a:lnTo>
                      <a:pt x="20" y="464"/>
                    </a:lnTo>
                    <a:lnTo>
                      <a:pt x="17" y="467"/>
                    </a:lnTo>
                    <a:lnTo>
                      <a:pt x="14" y="471"/>
                    </a:lnTo>
                    <a:lnTo>
                      <a:pt x="10" y="473"/>
                    </a:lnTo>
                    <a:lnTo>
                      <a:pt x="6" y="476"/>
                    </a:lnTo>
                    <a:lnTo>
                      <a:pt x="3" y="479"/>
                    </a:lnTo>
                    <a:lnTo>
                      <a:pt x="0" y="4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48" name="Freeform 4166"/>
              <p:cNvSpPr>
                <a:spLocks noChangeAspect="1"/>
              </p:cNvSpPr>
              <p:nvPr/>
            </p:nvSpPr>
            <p:spPr bwMode="auto">
              <a:xfrm>
                <a:off x="5468" y="1067"/>
                <a:ext cx="9" cy="154"/>
              </a:xfrm>
              <a:custGeom>
                <a:avLst/>
                <a:gdLst>
                  <a:gd name="T0" fmla="*/ 0 w 26"/>
                  <a:gd name="T1" fmla="*/ 0 h 461"/>
                  <a:gd name="T2" fmla="*/ 0 w 26"/>
                  <a:gd name="T3" fmla="*/ 0 h 461"/>
                  <a:gd name="T4" fmla="*/ 0 w 26"/>
                  <a:gd name="T5" fmla="*/ 0 h 461"/>
                  <a:gd name="T6" fmla="*/ 0 w 26"/>
                  <a:gd name="T7" fmla="*/ 0 h 461"/>
                  <a:gd name="T8" fmla="*/ 0 w 26"/>
                  <a:gd name="T9" fmla="*/ 0 h 461"/>
                  <a:gd name="T10" fmla="*/ 0 w 26"/>
                  <a:gd name="T11" fmla="*/ 0 h 461"/>
                  <a:gd name="T12" fmla="*/ 0 w 26"/>
                  <a:gd name="T13" fmla="*/ 0 h 461"/>
                  <a:gd name="T14" fmla="*/ 0 w 26"/>
                  <a:gd name="T15" fmla="*/ 0 h 461"/>
                  <a:gd name="T16" fmla="*/ 0 w 26"/>
                  <a:gd name="T17" fmla="*/ 0 h 461"/>
                  <a:gd name="T18" fmla="*/ 0 w 26"/>
                  <a:gd name="T19" fmla="*/ 0 h 461"/>
                  <a:gd name="T20" fmla="*/ 0 w 26"/>
                  <a:gd name="T21" fmla="*/ 0 h 461"/>
                  <a:gd name="T22" fmla="*/ 0 w 26"/>
                  <a:gd name="T23" fmla="*/ 0 h 461"/>
                  <a:gd name="T24" fmla="*/ 0 w 26"/>
                  <a:gd name="T25" fmla="*/ 0 h 461"/>
                  <a:gd name="T26" fmla="*/ 0 w 26"/>
                  <a:gd name="T27" fmla="*/ 0 h 461"/>
                  <a:gd name="T28" fmla="*/ 0 w 26"/>
                  <a:gd name="T29" fmla="*/ 0 h 461"/>
                  <a:gd name="T30" fmla="*/ 0 w 26"/>
                  <a:gd name="T31" fmla="*/ 0 h 461"/>
                  <a:gd name="T32" fmla="*/ 0 w 26"/>
                  <a:gd name="T33" fmla="*/ 0 h 461"/>
                  <a:gd name="T34" fmla="*/ 0 w 26"/>
                  <a:gd name="T35" fmla="*/ 0 h 461"/>
                  <a:gd name="T36" fmla="*/ 0 w 26"/>
                  <a:gd name="T37" fmla="*/ 0 h 4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61">
                    <a:moveTo>
                      <a:pt x="0" y="461"/>
                    </a:moveTo>
                    <a:lnTo>
                      <a:pt x="0" y="0"/>
                    </a:lnTo>
                    <a:lnTo>
                      <a:pt x="4" y="3"/>
                    </a:lnTo>
                    <a:lnTo>
                      <a:pt x="7" y="7"/>
                    </a:lnTo>
                    <a:lnTo>
                      <a:pt x="11" y="10"/>
                    </a:lnTo>
                    <a:lnTo>
                      <a:pt x="14" y="13"/>
                    </a:lnTo>
                    <a:lnTo>
                      <a:pt x="17" y="16"/>
                    </a:lnTo>
                    <a:lnTo>
                      <a:pt x="20" y="19"/>
                    </a:lnTo>
                    <a:lnTo>
                      <a:pt x="23" y="23"/>
                    </a:lnTo>
                    <a:lnTo>
                      <a:pt x="26" y="27"/>
                    </a:lnTo>
                    <a:lnTo>
                      <a:pt x="26" y="434"/>
                    </a:lnTo>
                    <a:lnTo>
                      <a:pt x="23" y="437"/>
                    </a:lnTo>
                    <a:lnTo>
                      <a:pt x="20" y="441"/>
                    </a:lnTo>
                    <a:lnTo>
                      <a:pt x="17" y="445"/>
                    </a:lnTo>
                    <a:lnTo>
                      <a:pt x="14" y="448"/>
                    </a:lnTo>
                    <a:lnTo>
                      <a:pt x="11" y="451"/>
                    </a:lnTo>
                    <a:lnTo>
                      <a:pt x="7" y="454"/>
                    </a:lnTo>
                    <a:lnTo>
                      <a:pt x="4" y="457"/>
                    </a:lnTo>
                    <a:lnTo>
                      <a:pt x="0" y="46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49" name="Freeform 4167"/>
              <p:cNvSpPr>
                <a:spLocks noChangeAspect="1"/>
              </p:cNvSpPr>
              <p:nvPr/>
            </p:nvSpPr>
            <p:spPr bwMode="auto">
              <a:xfrm>
                <a:off x="5473" y="1072"/>
                <a:ext cx="9" cy="145"/>
              </a:xfrm>
              <a:custGeom>
                <a:avLst/>
                <a:gdLst>
                  <a:gd name="T0" fmla="*/ 0 w 26"/>
                  <a:gd name="T1" fmla="*/ 0 h 435"/>
                  <a:gd name="T2" fmla="*/ 0 w 26"/>
                  <a:gd name="T3" fmla="*/ 0 h 435"/>
                  <a:gd name="T4" fmla="*/ 0 w 26"/>
                  <a:gd name="T5" fmla="*/ 0 h 435"/>
                  <a:gd name="T6" fmla="*/ 0 w 26"/>
                  <a:gd name="T7" fmla="*/ 0 h 435"/>
                  <a:gd name="T8" fmla="*/ 0 w 26"/>
                  <a:gd name="T9" fmla="*/ 0 h 435"/>
                  <a:gd name="T10" fmla="*/ 0 w 26"/>
                  <a:gd name="T11" fmla="*/ 0 h 435"/>
                  <a:gd name="T12" fmla="*/ 0 w 26"/>
                  <a:gd name="T13" fmla="*/ 0 h 435"/>
                  <a:gd name="T14" fmla="*/ 0 w 26"/>
                  <a:gd name="T15" fmla="*/ 0 h 435"/>
                  <a:gd name="T16" fmla="*/ 0 w 26"/>
                  <a:gd name="T17" fmla="*/ 0 h 435"/>
                  <a:gd name="T18" fmla="*/ 0 w 26"/>
                  <a:gd name="T19" fmla="*/ 0 h 435"/>
                  <a:gd name="T20" fmla="*/ 0 w 26"/>
                  <a:gd name="T21" fmla="*/ 0 h 435"/>
                  <a:gd name="T22" fmla="*/ 0 w 26"/>
                  <a:gd name="T23" fmla="*/ 0 h 435"/>
                  <a:gd name="T24" fmla="*/ 0 w 26"/>
                  <a:gd name="T25" fmla="*/ 0 h 435"/>
                  <a:gd name="T26" fmla="*/ 0 w 26"/>
                  <a:gd name="T27" fmla="*/ 0 h 435"/>
                  <a:gd name="T28" fmla="*/ 0 w 26"/>
                  <a:gd name="T29" fmla="*/ 0 h 435"/>
                  <a:gd name="T30" fmla="*/ 0 w 26"/>
                  <a:gd name="T31" fmla="*/ 0 h 435"/>
                  <a:gd name="T32" fmla="*/ 0 w 26"/>
                  <a:gd name="T33" fmla="*/ 0 h 435"/>
                  <a:gd name="T34" fmla="*/ 0 w 26"/>
                  <a:gd name="T35" fmla="*/ 0 h 435"/>
                  <a:gd name="T36" fmla="*/ 0 w 26"/>
                  <a:gd name="T37" fmla="*/ 0 h 4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35">
                    <a:moveTo>
                      <a:pt x="0" y="435"/>
                    </a:moveTo>
                    <a:lnTo>
                      <a:pt x="0" y="0"/>
                    </a:lnTo>
                    <a:lnTo>
                      <a:pt x="3" y="3"/>
                    </a:lnTo>
                    <a:lnTo>
                      <a:pt x="6" y="6"/>
                    </a:lnTo>
                    <a:lnTo>
                      <a:pt x="10" y="11"/>
                    </a:lnTo>
                    <a:lnTo>
                      <a:pt x="14" y="14"/>
                    </a:lnTo>
                    <a:lnTo>
                      <a:pt x="17" y="18"/>
                    </a:lnTo>
                    <a:lnTo>
                      <a:pt x="20" y="21"/>
                    </a:lnTo>
                    <a:lnTo>
                      <a:pt x="23" y="25"/>
                    </a:lnTo>
                    <a:lnTo>
                      <a:pt x="26" y="29"/>
                    </a:lnTo>
                    <a:lnTo>
                      <a:pt x="26" y="405"/>
                    </a:lnTo>
                    <a:lnTo>
                      <a:pt x="23" y="409"/>
                    </a:lnTo>
                    <a:lnTo>
                      <a:pt x="20" y="414"/>
                    </a:lnTo>
                    <a:lnTo>
                      <a:pt x="17" y="417"/>
                    </a:lnTo>
                    <a:lnTo>
                      <a:pt x="14" y="421"/>
                    </a:lnTo>
                    <a:lnTo>
                      <a:pt x="10" y="424"/>
                    </a:lnTo>
                    <a:lnTo>
                      <a:pt x="6" y="428"/>
                    </a:lnTo>
                    <a:lnTo>
                      <a:pt x="3" y="432"/>
                    </a:lnTo>
                    <a:lnTo>
                      <a:pt x="0" y="43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50" name="Freeform 4168"/>
              <p:cNvSpPr>
                <a:spLocks noChangeAspect="1"/>
              </p:cNvSpPr>
              <p:nvPr/>
            </p:nvSpPr>
            <p:spPr bwMode="auto">
              <a:xfrm>
                <a:off x="5477" y="1076"/>
                <a:ext cx="9" cy="136"/>
              </a:xfrm>
              <a:custGeom>
                <a:avLst/>
                <a:gdLst>
                  <a:gd name="T0" fmla="*/ 0 w 27"/>
                  <a:gd name="T1" fmla="*/ 0 h 407"/>
                  <a:gd name="T2" fmla="*/ 0 w 27"/>
                  <a:gd name="T3" fmla="*/ 0 h 407"/>
                  <a:gd name="T4" fmla="*/ 0 w 27"/>
                  <a:gd name="T5" fmla="*/ 0 h 407"/>
                  <a:gd name="T6" fmla="*/ 0 w 27"/>
                  <a:gd name="T7" fmla="*/ 0 h 407"/>
                  <a:gd name="T8" fmla="*/ 0 w 27"/>
                  <a:gd name="T9" fmla="*/ 0 h 407"/>
                  <a:gd name="T10" fmla="*/ 0 w 27"/>
                  <a:gd name="T11" fmla="*/ 0 h 407"/>
                  <a:gd name="T12" fmla="*/ 0 w 27"/>
                  <a:gd name="T13" fmla="*/ 0 h 407"/>
                  <a:gd name="T14" fmla="*/ 0 w 27"/>
                  <a:gd name="T15" fmla="*/ 0 h 407"/>
                  <a:gd name="T16" fmla="*/ 0 w 27"/>
                  <a:gd name="T17" fmla="*/ 0 h 407"/>
                  <a:gd name="T18" fmla="*/ 0 w 27"/>
                  <a:gd name="T19" fmla="*/ 0 h 407"/>
                  <a:gd name="T20" fmla="*/ 0 w 27"/>
                  <a:gd name="T21" fmla="*/ 0 h 407"/>
                  <a:gd name="T22" fmla="*/ 0 w 27"/>
                  <a:gd name="T23" fmla="*/ 0 h 407"/>
                  <a:gd name="T24" fmla="*/ 0 w 27"/>
                  <a:gd name="T25" fmla="*/ 0 h 407"/>
                  <a:gd name="T26" fmla="*/ 0 w 27"/>
                  <a:gd name="T27" fmla="*/ 0 h 407"/>
                  <a:gd name="T28" fmla="*/ 0 w 27"/>
                  <a:gd name="T29" fmla="*/ 0 h 407"/>
                  <a:gd name="T30" fmla="*/ 0 w 27"/>
                  <a:gd name="T31" fmla="*/ 0 h 407"/>
                  <a:gd name="T32" fmla="*/ 0 w 27"/>
                  <a:gd name="T33" fmla="*/ 0 h 407"/>
                  <a:gd name="T34" fmla="*/ 0 w 27"/>
                  <a:gd name="T35" fmla="*/ 0 h 407"/>
                  <a:gd name="T36" fmla="*/ 0 w 27"/>
                  <a:gd name="T37" fmla="*/ 0 h 40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07">
                    <a:moveTo>
                      <a:pt x="0" y="407"/>
                    </a:moveTo>
                    <a:lnTo>
                      <a:pt x="0" y="0"/>
                    </a:lnTo>
                    <a:lnTo>
                      <a:pt x="5" y="3"/>
                    </a:lnTo>
                    <a:lnTo>
                      <a:pt x="8" y="7"/>
                    </a:lnTo>
                    <a:lnTo>
                      <a:pt x="11" y="11"/>
                    </a:lnTo>
                    <a:lnTo>
                      <a:pt x="14" y="16"/>
                    </a:lnTo>
                    <a:lnTo>
                      <a:pt x="17" y="20"/>
                    </a:lnTo>
                    <a:lnTo>
                      <a:pt x="21" y="24"/>
                    </a:lnTo>
                    <a:lnTo>
                      <a:pt x="24" y="29"/>
                    </a:lnTo>
                    <a:lnTo>
                      <a:pt x="27" y="33"/>
                    </a:lnTo>
                    <a:lnTo>
                      <a:pt x="27" y="373"/>
                    </a:lnTo>
                    <a:lnTo>
                      <a:pt x="24" y="378"/>
                    </a:lnTo>
                    <a:lnTo>
                      <a:pt x="21" y="383"/>
                    </a:lnTo>
                    <a:lnTo>
                      <a:pt x="17" y="387"/>
                    </a:lnTo>
                    <a:lnTo>
                      <a:pt x="14" y="391"/>
                    </a:lnTo>
                    <a:lnTo>
                      <a:pt x="11" y="395"/>
                    </a:lnTo>
                    <a:lnTo>
                      <a:pt x="8" y="400"/>
                    </a:lnTo>
                    <a:lnTo>
                      <a:pt x="5" y="403"/>
                    </a:lnTo>
                    <a:lnTo>
                      <a:pt x="0" y="4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51" name="Freeform 4169"/>
              <p:cNvSpPr>
                <a:spLocks noChangeAspect="1"/>
              </p:cNvSpPr>
              <p:nvPr/>
            </p:nvSpPr>
            <p:spPr bwMode="auto">
              <a:xfrm>
                <a:off x="5482" y="1081"/>
                <a:ext cx="9" cy="126"/>
              </a:xfrm>
              <a:custGeom>
                <a:avLst/>
                <a:gdLst>
                  <a:gd name="T0" fmla="*/ 0 w 27"/>
                  <a:gd name="T1" fmla="*/ 0 h 376"/>
                  <a:gd name="T2" fmla="*/ 0 w 27"/>
                  <a:gd name="T3" fmla="*/ 0 h 376"/>
                  <a:gd name="T4" fmla="*/ 0 w 27"/>
                  <a:gd name="T5" fmla="*/ 0 h 376"/>
                  <a:gd name="T6" fmla="*/ 0 w 27"/>
                  <a:gd name="T7" fmla="*/ 0 h 376"/>
                  <a:gd name="T8" fmla="*/ 0 w 27"/>
                  <a:gd name="T9" fmla="*/ 0 h 376"/>
                  <a:gd name="T10" fmla="*/ 0 w 27"/>
                  <a:gd name="T11" fmla="*/ 0 h 376"/>
                  <a:gd name="T12" fmla="*/ 0 w 27"/>
                  <a:gd name="T13" fmla="*/ 0 h 376"/>
                  <a:gd name="T14" fmla="*/ 0 w 27"/>
                  <a:gd name="T15" fmla="*/ 0 h 376"/>
                  <a:gd name="T16" fmla="*/ 0 w 27"/>
                  <a:gd name="T17" fmla="*/ 0 h 376"/>
                  <a:gd name="T18" fmla="*/ 0 w 27"/>
                  <a:gd name="T19" fmla="*/ 0 h 376"/>
                  <a:gd name="T20" fmla="*/ 0 w 27"/>
                  <a:gd name="T21" fmla="*/ 0 h 376"/>
                  <a:gd name="T22" fmla="*/ 0 w 27"/>
                  <a:gd name="T23" fmla="*/ 0 h 376"/>
                  <a:gd name="T24" fmla="*/ 0 w 27"/>
                  <a:gd name="T25" fmla="*/ 0 h 376"/>
                  <a:gd name="T26" fmla="*/ 0 w 27"/>
                  <a:gd name="T27" fmla="*/ 0 h 376"/>
                  <a:gd name="T28" fmla="*/ 0 w 27"/>
                  <a:gd name="T29" fmla="*/ 0 h 376"/>
                  <a:gd name="T30" fmla="*/ 0 w 27"/>
                  <a:gd name="T31" fmla="*/ 0 h 376"/>
                  <a:gd name="T32" fmla="*/ 0 w 27"/>
                  <a:gd name="T33" fmla="*/ 0 h 376"/>
                  <a:gd name="T34" fmla="*/ 0 w 27"/>
                  <a:gd name="T35" fmla="*/ 0 h 376"/>
                  <a:gd name="T36" fmla="*/ 0 w 27"/>
                  <a:gd name="T37" fmla="*/ 0 h 3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376">
                    <a:moveTo>
                      <a:pt x="0" y="376"/>
                    </a:moveTo>
                    <a:lnTo>
                      <a:pt x="0" y="0"/>
                    </a:lnTo>
                    <a:lnTo>
                      <a:pt x="3" y="5"/>
                    </a:lnTo>
                    <a:lnTo>
                      <a:pt x="7" y="9"/>
                    </a:lnTo>
                    <a:lnTo>
                      <a:pt x="11" y="15"/>
                    </a:lnTo>
                    <a:lnTo>
                      <a:pt x="14" y="19"/>
                    </a:lnTo>
                    <a:lnTo>
                      <a:pt x="17" y="24"/>
                    </a:lnTo>
                    <a:lnTo>
                      <a:pt x="21" y="29"/>
                    </a:lnTo>
                    <a:lnTo>
                      <a:pt x="24" y="34"/>
                    </a:lnTo>
                    <a:lnTo>
                      <a:pt x="27" y="39"/>
                    </a:lnTo>
                    <a:lnTo>
                      <a:pt x="27" y="338"/>
                    </a:lnTo>
                    <a:lnTo>
                      <a:pt x="24" y="342"/>
                    </a:lnTo>
                    <a:lnTo>
                      <a:pt x="21" y="347"/>
                    </a:lnTo>
                    <a:lnTo>
                      <a:pt x="17" y="353"/>
                    </a:lnTo>
                    <a:lnTo>
                      <a:pt x="14" y="357"/>
                    </a:lnTo>
                    <a:lnTo>
                      <a:pt x="11" y="362"/>
                    </a:lnTo>
                    <a:lnTo>
                      <a:pt x="7" y="368"/>
                    </a:lnTo>
                    <a:lnTo>
                      <a:pt x="3" y="372"/>
                    </a:lnTo>
                    <a:lnTo>
                      <a:pt x="0" y="37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52" name="Freeform 4170"/>
              <p:cNvSpPr>
                <a:spLocks noChangeAspect="1"/>
              </p:cNvSpPr>
              <p:nvPr/>
            </p:nvSpPr>
            <p:spPr bwMode="auto">
              <a:xfrm>
                <a:off x="5486" y="1087"/>
                <a:ext cx="9" cy="114"/>
              </a:xfrm>
              <a:custGeom>
                <a:avLst/>
                <a:gdLst>
                  <a:gd name="T0" fmla="*/ 0 w 27"/>
                  <a:gd name="T1" fmla="*/ 0 h 340"/>
                  <a:gd name="T2" fmla="*/ 0 w 27"/>
                  <a:gd name="T3" fmla="*/ 0 h 340"/>
                  <a:gd name="T4" fmla="*/ 0 w 27"/>
                  <a:gd name="T5" fmla="*/ 0 h 340"/>
                  <a:gd name="T6" fmla="*/ 0 w 27"/>
                  <a:gd name="T7" fmla="*/ 0 h 340"/>
                  <a:gd name="T8" fmla="*/ 0 w 27"/>
                  <a:gd name="T9" fmla="*/ 0 h 340"/>
                  <a:gd name="T10" fmla="*/ 0 w 27"/>
                  <a:gd name="T11" fmla="*/ 0 h 340"/>
                  <a:gd name="T12" fmla="*/ 0 w 27"/>
                  <a:gd name="T13" fmla="*/ 0 h 340"/>
                  <a:gd name="T14" fmla="*/ 0 w 27"/>
                  <a:gd name="T15" fmla="*/ 0 h 340"/>
                  <a:gd name="T16" fmla="*/ 0 w 27"/>
                  <a:gd name="T17" fmla="*/ 0 h 340"/>
                  <a:gd name="T18" fmla="*/ 0 w 27"/>
                  <a:gd name="T19" fmla="*/ 0 h 340"/>
                  <a:gd name="T20" fmla="*/ 0 w 27"/>
                  <a:gd name="T21" fmla="*/ 0 h 340"/>
                  <a:gd name="T22" fmla="*/ 0 w 27"/>
                  <a:gd name="T23" fmla="*/ 0 h 340"/>
                  <a:gd name="T24" fmla="*/ 0 w 27"/>
                  <a:gd name="T25" fmla="*/ 0 h 340"/>
                  <a:gd name="T26" fmla="*/ 0 w 27"/>
                  <a:gd name="T27" fmla="*/ 0 h 340"/>
                  <a:gd name="T28" fmla="*/ 0 w 27"/>
                  <a:gd name="T29" fmla="*/ 0 h 340"/>
                  <a:gd name="T30" fmla="*/ 0 w 27"/>
                  <a:gd name="T31" fmla="*/ 0 h 340"/>
                  <a:gd name="T32" fmla="*/ 0 w 27"/>
                  <a:gd name="T33" fmla="*/ 0 h 340"/>
                  <a:gd name="T34" fmla="*/ 0 w 27"/>
                  <a:gd name="T35" fmla="*/ 0 h 340"/>
                  <a:gd name="T36" fmla="*/ 0 w 27"/>
                  <a:gd name="T37" fmla="*/ 0 h 3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340">
                    <a:moveTo>
                      <a:pt x="0" y="340"/>
                    </a:moveTo>
                    <a:lnTo>
                      <a:pt x="0" y="0"/>
                    </a:lnTo>
                    <a:lnTo>
                      <a:pt x="4" y="6"/>
                    </a:lnTo>
                    <a:lnTo>
                      <a:pt x="8" y="11"/>
                    </a:lnTo>
                    <a:lnTo>
                      <a:pt x="11" y="17"/>
                    </a:lnTo>
                    <a:lnTo>
                      <a:pt x="15" y="23"/>
                    </a:lnTo>
                    <a:lnTo>
                      <a:pt x="18" y="30"/>
                    </a:lnTo>
                    <a:lnTo>
                      <a:pt x="21" y="35"/>
                    </a:lnTo>
                    <a:lnTo>
                      <a:pt x="23" y="41"/>
                    </a:lnTo>
                    <a:lnTo>
                      <a:pt x="27" y="48"/>
                    </a:lnTo>
                    <a:lnTo>
                      <a:pt x="27" y="293"/>
                    </a:lnTo>
                    <a:lnTo>
                      <a:pt x="23" y="300"/>
                    </a:lnTo>
                    <a:lnTo>
                      <a:pt x="21" y="306"/>
                    </a:lnTo>
                    <a:lnTo>
                      <a:pt x="18" y="311"/>
                    </a:lnTo>
                    <a:lnTo>
                      <a:pt x="15" y="318"/>
                    </a:lnTo>
                    <a:lnTo>
                      <a:pt x="11" y="323"/>
                    </a:lnTo>
                    <a:lnTo>
                      <a:pt x="8" y="329"/>
                    </a:lnTo>
                    <a:lnTo>
                      <a:pt x="4" y="335"/>
                    </a:lnTo>
                    <a:lnTo>
                      <a:pt x="0" y="34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53" name="Freeform 4171"/>
              <p:cNvSpPr>
                <a:spLocks noChangeAspect="1"/>
              </p:cNvSpPr>
              <p:nvPr/>
            </p:nvSpPr>
            <p:spPr bwMode="auto">
              <a:xfrm>
                <a:off x="5491" y="1094"/>
                <a:ext cx="9" cy="100"/>
              </a:xfrm>
              <a:custGeom>
                <a:avLst/>
                <a:gdLst>
                  <a:gd name="T0" fmla="*/ 0 w 27"/>
                  <a:gd name="T1" fmla="*/ 0 h 299"/>
                  <a:gd name="T2" fmla="*/ 0 w 27"/>
                  <a:gd name="T3" fmla="*/ 0 h 299"/>
                  <a:gd name="T4" fmla="*/ 0 w 27"/>
                  <a:gd name="T5" fmla="*/ 0 h 299"/>
                  <a:gd name="T6" fmla="*/ 0 w 27"/>
                  <a:gd name="T7" fmla="*/ 0 h 299"/>
                  <a:gd name="T8" fmla="*/ 0 w 27"/>
                  <a:gd name="T9" fmla="*/ 0 h 299"/>
                  <a:gd name="T10" fmla="*/ 0 w 27"/>
                  <a:gd name="T11" fmla="*/ 0 h 299"/>
                  <a:gd name="T12" fmla="*/ 0 w 27"/>
                  <a:gd name="T13" fmla="*/ 0 h 299"/>
                  <a:gd name="T14" fmla="*/ 0 w 27"/>
                  <a:gd name="T15" fmla="*/ 0 h 299"/>
                  <a:gd name="T16" fmla="*/ 0 w 27"/>
                  <a:gd name="T17" fmla="*/ 0 h 299"/>
                  <a:gd name="T18" fmla="*/ 0 w 27"/>
                  <a:gd name="T19" fmla="*/ 0 h 299"/>
                  <a:gd name="T20" fmla="*/ 0 w 27"/>
                  <a:gd name="T21" fmla="*/ 0 h 299"/>
                  <a:gd name="T22" fmla="*/ 0 w 27"/>
                  <a:gd name="T23" fmla="*/ 0 h 299"/>
                  <a:gd name="T24" fmla="*/ 0 w 27"/>
                  <a:gd name="T25" fmla="*/ 0 h 299"/>
                  <a:gd name="T26" fmla="*/ 0 w 27"/>
                  <a:gd name="T27" fmla="*/ 0 h 299"/>
                  <a:gd name="T28" fmla="*/ 0 w 27"/>
                  <a:gd name="T29" fmla="*/ 0 h 299"/>
                  <a:gd name="T30" fmla="*/ 0 w 27"/>
                  <a:gd name="T31" fmla="*/ 0 h 299"/>
                  <a:gd name="T32" fmla="*/ 0 w 27"/>
                  <a:gd name="T33" fmla="*/ 0 h 299"/>
                  <a:gd name="T34" fmla="*/ 0 w 27"/>
                  <a:gd name="T35" fmla="*/ 0 h 299"/>
                  <a:gd name="T36" fmla="*/ 0 w 27"/>
                  <a:gd name="T37" fmla="*/ 0 h 29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299">
                    <a:moveTo>
                      <a:pt x="0" y="299"/>
                    </a:moveTo>
                    <a:lnTo>
                      <a:pt x="0" y="0"/>
                    </a:lnTo>
                    <a:lnTo>
                      <a:pt x="3" y="7"/>
                    </a:lnTo>
                    <a:lnTo>
                      <a:pt x="7" y="15"/>
                    </a:lnTo>
                    <a:lnTo>
                      <a:pt x="11" y="22"/>
                    </a:lnTo>
                    <a:lnTo>
                      <a:pt x="15" y="30"/>
                    </a:lnTo>
                    <a:lnTo>
                      <a:pt x="18" y="37"/>
                    </a:lnTo>
                    <a:lnTo>
                      <a:pt x="21" y="46"/>
                    </a:lnTo>
                    <a:lnTo>
                      <a:pt x="23" y="53"/>
                    </a:lnTo>
                    <a:lnTo>
                      <a:pt x="27" y="62"/>
                    </a:lnTo>
                    <a:lnTo>
                      <a:pt x="27" y="237"/>
                    </a:lnTo>
                    <a:lnTo>
                      <a:pt x="23" y="246"/>
                    </a:lnTo>
                    <a:lnTo>
                      <a:pt x="21" y="253"/>
                    </a:lnTo>
                    <a:lnTo>
                      <a:pt x="18" y="260"/>
                    </a:lnTo>
                    <a:lnTo>
                      <a:pt x="15" y="269"/>
                    </a:lnTo>
                    <a:lnTo>
                      <a:pt x="11" y="276"/>
                    </a:lnTo>
                    <a:lnTo>
                      <a:pt x="7" y="284"/>
                    </a:lnTo>
                    <a:lnTo>
                      <a:pt x="3" y="291"/>
                    </a:lnTo>
                    <a:lnTo>
                      <a:pt x="0" y="29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54" name="Freeform 4172"/>
              <p:cNvSpPr>
                <a:spLocks noChangeAspect="1"/>
              </p:cNvSpPr>
              <p:nvPr/>
            </p:nvSpPr>
            <p:spPr bwMode="auto">
              <a:xfrm>
                <a:off x="5495" y="1103"/>
                <a:ext cx="9" cy="82"/>
              </a:xfrm>
              <a:custGeom>
                <a:avLst/>
                <a:gdLst>
                  <a:gd name="T0" fmla="*/ 0 w 26"/>
                  <a:gd name="T1" fmla="*/ 0 h 245"/>
                  <a:gd name="T2" fmla="*/ 0 w 26"/>
                  <a:gd name="T3" fmla="*/ 0 h 245"/>
                  <a:gd name="T4" fmla="*/ 0 w 26"/>
                  <a:gd name="T5" fmla="*/ 0 h 245"/>
                  <a:gd name="T6" fmla="*/ 0 w 26"/>
                  <a:gd name="T7" fmla="*/ 0 h 245"/>
                  <a:gd name="T8" fmla="*/ 0 w 26"/>
                  <a:gd name="T9" fmla="*/ 0 h 245"/>
                  <a:gd name="T10" fmla="*/ 0 w 26"/>
                  <a:gd name="T11" fmla="*/ 0 h 245"/>
                  <a:gd name="T12" fmla="*/ 0 w 26"/>
                  <a:gd name="T13" fmla="*/ 0 h 245"/>
                  <a:gd name="T14" fmla="*/ 0 w 26"/>
                  <a:gd name="T15" fmla="*/ 0 h 245"/>
                  <a:gd name="T16" fmla="*/ 0 w 26"/>
                  <a:gd name="T17" fmla="*/ 0 h 245"/>
                  <a:gd name="T18" fmla="*/ 0 w 26"/>
                  <a:gd name="T19" fmla="*/ 0 h 245"/>
                  <a:gd name="T20" fmla="*/ 0 w 26"/>
                  <a:gd name="T21" fmla="*/ 0 h 245"/>
                  <a:gd name="T22" fmla="*/ 0 w 26"/>
                  <a:gd name="T23" fmla="*/ 0 h 245"/>
                  <a:gd name="T24" fmla="*/ 0 w 26"/>
                  <a:gd name="T25" fmla="*/ 0 h 245"/>
                  <a:gd name="T26" fmla="*/ 0 w 26"/>
                  <a:gd name="T27" fmla="*/ 0 h 245"/>
                  <a:gd name="T28" fmla="*/ 0 w 26"/>
                  <a:gd name="T29" fmla="*/ 0 h 245"/>
                  <a:gd name="T30" fmla="*/ 0 w 26"/>
                  <a:gd name="T31" fmla="*/ 0 h 245"/>
                  <a:gd name="T32" fmla="*/ 0 w 26"/>
                  <a:gd name="T33" fmla="*/ 0 h 245"/>
                  <a:gd name="T34" fmla="*/ 0 w 26"/>
                  <a:gd name="T35" fmla="*/ 0 h 245"/>
                  <a:gd name="T36" fmla="*/ 0 w 26"/>
                  <a:gd name="T37" fmla="*/ 0 h 24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245">
                    <a:moveTo>
                      <a:pt x="0" y="245"/>
                    </a:moveTo>
                    <a:lnTo>
                      <a:pt x="0" y="0"/>
                    </a:lnTo>
                    <a:lnTo>
                      <a:pt x="6" y="13"/>
                    </a:lnTo>
                    <a:lnTo>
                      <a:pt x="11" y="28"/>
                    </a:lnTo>
                    <a:lnTo>
                      <a:pt x="16" y="43"/>
                    </a:lnTo>
                    <a:lnTo>
                      <a:pt x="20" y="58"/>
                    </a:lnTo>
                    <a:lnTo>
                      <a:pt x="22" y="74"/>
                    </a:lnTo>
                    <a:lnTo>
                      <a:pt x="24" y="90"/>
                    </a:lnTo>
                    <a:lnTo>
                      <a:pt x="26" y="106"/>
                    </a:lnTo>
                    <a:lnTo>
                      <a:pt x="26" y="122"/>
                    </a:lnTo>
                    <a:lnTo>
                      <a:pt x="26" y="123"/>
                    </a:lnTo>
                    <a:lnTo>
                      <a:pt x="26" y="139"/>
                    </a:lnTo>
                    <a:lnTo>
                      <a:pt x="24" y="155"/>
                    </a:lnTo>
                    <a:lnTo>
                      <a:pt x="22" y="171"/>
                    </a:lnTo>
                    <a:lnTo>
                      <a:pt x="20" y="186"/>
                    </a:lnTo>
                    <a:lnTo>
                      <a:pt x="16" y="202"/>
                    </a:lnTo>
                    <a:lnTo>
                      <a:pt x="11" y="216"/>
                    </a:lnTo>
                    <a:lnTo>
                      <a:pt x="6" y="231"/>
                    </a:lnTo>
                    <a:lnTo>
                      <a:pt x="0" y="24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55" name="Freeform 4173"/>
              <p:cNvSpPr>
                <a:spLocks noChangeAspect="1"/>
              </p:cNvSpPr>
              <p:nvPr/>
            </p:nvSpPr>
            <p:spPr bwMode="auto">
              <a:xfrm>
                <a:off x="5500" y="1115"/>
                <a:ext cx="4" cy="58"/>
              </a:xfrm>
              <a:custGeom>
                <a:avLst/>
                <a:gdLst>
                  <a:gd name="T0" fmla="*/ 0 w 12"/>
                  <a:gd name="T1" fmla="*/ 0 h 175"/>
                  <a:gd name="T2" fmla="*/ 0 w 12"/>
                  <a:gd name="T3" fmla="*/ 0 h 175"/>
                  <a:gd name="T4" fmla="*/ 0 w 12"/>
                  <a:gd name="T5" fmla="*/ 0 h 175"/>
                  <a:gd name="T6" fmla="*/ 0 w 12"/>
                  <a:gd name="T7" fmla="*/ 0 h 175"/>
                  <a:gd name="T8" fmla="*/ 0 w 12"/>
                  <a:gd name="T9" fmla="*/ 0 h 175"/>
                  <a:gd name="T10" fmla="*/ 0 w 12"/>
                  <a:gd name="T11" fmla="*/ 0 h 175"/>
                  <a:gd name="T12" fmla="*/ 0 w 12"/>
                  <a:gd name="T13" fmla="*/ 0 h 175"/>
                  <a:gd name="T14" fmla="*/ 0 w 12"/>
                  <a:gd name="T15" fmla="*/ 0 h 175"/>
                  <a:gd name="T16" fmla="*/ 0 w 12"/>
                  <a:gd name="T17" fmla="*/ 0 h 175"/>
                  <a:gd name="T18" fmla="*/ 0 w 12"/>
                  <a:gd name="T19" fmla="*/ 0 h 175"/>
                  <a:gd name="T20" fmla="*/ 0 w 12"/>
                  <a:gd name="T21" fmla="*/ 0 h 175"/>
                  <a:gd name="T22" fmla="*/ 0 w 12"/>
                  <a:gd name="T23" fmla="*/ 0 h 175"/>
                  <a:gd name="T24" fmla="*/ 0 w 12"/>
                  <a:gd name="T25" fmla="*/ 0 h 175"/>
                  <a:gd name="T26" fmla="*/ 0 w 12"/>
                  <a:gd name="T27" fmla="*/ 0 h 175"/>
                  <a:gd name="T28" fmla="*/ 0 w 12"/>
                  <a:gd name="T29" fmla="*/ 0 h 175"/>
                  <a:gd name="T30" fmla="*/ 0 w 12"/>
                  <a:gd name="T31" fmla="*/ 0 h 175"/>
                  <a:gd name="T32" fmla="*/ 0 w 12"/>
                  <a:gd name="T33" fmla="*/ 0 h 175"/>
                  <a:gd name="T34" fmla="*/ 0 w 12"/>
                  <a:gd name="T35" fmla="*/ 0 h 1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2" h="175">
                    <a:moveTo>
                      <a:pt x="0" y="175"/>
                    </a:moveTo>
                    <a:lnTo>
                      <a:pt x="0" y="0"/>
                    </a:lnTo>
                    <a:lnTo>
                      <a:pt x="2" y="10"/>
                    </a:lnTo>
                    <a:lnTo>
                      <a:pt x="5" y="21"/>
                    </a:lnTo>
                    <a:lnTo>
                      <a:pt x="7" y="32"/>
                    </a:lnTo>
                    <a:lnTo>
                      <a:pt x="9" y="42"/>
                    </a:lnTo>
                    <a:lnTo>
                      <a:pt x="10" y="54"/>
                    </a:lnTo>
                    <a:lnTo>
                      <a:pt x="11" y="65"/>
                    </a:lnTo>
                    <a:lnTo>
                      <a:pt x="12" y="76"/>
                    </a:lnTo>
                    <a:lnTo>
                      <a:pt x="12" y="87"/>
                    </a:lnTo>
                    <a:lnTo>
                      <a:pt x="12" y="99"/>
                    </a:lnTo>
                    <a:lnTo>
                      <a:pt x="11" y="110"/>
                    </a:lnTo>
                    <a:lnTo>
                      <a:pt x="10" y="121"/>
                    </a:lnTo>
                    <a:lnTo>
                      <a:pt x="9" y="133"/>
                    </a:lnTo>
                    <a:lnTo>
                      <a:pt x="7" y="143"/>
                    </a:lnTo>
                    <a:lnTo>
                      <a:pt x="5" y="154"/>
                    </a:lnTo>
                    <a:lnTo>
                      <a:pt x="2" y="164"/>
                    </a:lnTo>
                    <a:lnTo>
                      <a:pt x="0" y="17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56" name="Freeform 4174"/>
              <p:cNvSpPr>
                <a:spLocks noChangeAspect="1"/>
              </p:cNvSpPr>
              <p:nvPr/>
            </p:nvSpPr>
            <p:spPr bwMode="auto">
              <a:xfrm>
                <a:off x="5504" y="1144"/>
                <a:ext cx="1" cy="1"/>
              </a:xfrm>
              <a:custGeom>
                <a:avLst/>
                <a:gdLst>
                  <a:gd name="T0" fmla="*/ 0 w 1"/>
                  <a:gd name="T1" fmla="*/ 1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1 h 1"/>
                  <a:gd name="T26" fmla="*/ 0 w 1"/>
                  <a:gd name="T27" fmla="*/ 1 h 1"/>
                  <a:gd name="T28" fmla="*/ 0 w 1"/>
                  <a:gd name="T29" fmla="*/ 1 h 1"/>
                  <a:gd name="T30" fmla="*/ 0 w 1"/>
                  <a:gd name="T31" fmla="*/ 1 h 1"/>
                  <a:gd name="T32" fmla="*/ 0 w 1"/>
                  <a:gd name="T33" fmla="*/ 1 h 1"/>
                  <a:gd name="T34" fmla="*/ 0 w 1"/>
                  <a:gd name="T35" fmla="*/ 1 h 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 h="1">
                    <a:moveTo>
                      <a:pt x="0" y="1"/>
                    </a:moveTo>
                    <a:lnTo>
                      <a:pt x="0" y="0"/>
                    </a:lnTo>
                    <a:lnTo>
                      <a:pt x="0" y="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57" name="Freeform 4175"/>
              <p:cNvSpPr>
                <a:spLocks noChangeAspect="1"/>
              </p:cNvSpPr>
              <p:nvPr/>
            </p:nvSpPr>
            <p:spPr bwMode="auto">
              <a:xfrm>
                <a:off x="5282" y="1039"/>
                <a:ext cx="222" cy="210"/>
              </a:xfrm>
              <a:custGeom>
                <a:avLst/>
                <a:gdLst>
                  <a:gd name="T0" fmla="*/ 0 w 664"/>
                  <a:gd name="T1" fmla="*/ 0 h 629"/>
                  <a:gd name="T2" fmla="*/ 0 w 664"/>
                  <a:gd name="T3" fmla="*/ 0 h 629"/>
                  <a:gd name="T4" fmla="*/ 0 w 664"/>
                  <a:gd name="T5" fmla="*/ 0 h 629"/>
                  <a:gd name="T6" fmla="*/ 0 w 664"/>
                  <a:gd name="T7" fmla="*/ 0 h 629"/>
                  <a:gd name="T8" fmla="*/ 0 w 664"/>
                  <a:gd name="T9" fmla="*/ 0 h 629"/>
                  <a:gd name="T10" fmla="*/ 0 w 664"/>
                  <a:gd name="T11" fmla="*/ 0 h 629"/>
                  <a:gd name="T12" fmla="*/ 0 w 664"/>
                  <a:gd name="T13" fmla="*/ 0 h 629"/>
                  <a:gd name="T14" fmla="*/ 0 w 664"/>
                  <a:gd name="T15" fmla="*/ 0 h 629"/>
                  <a:gd name="T16" fmla="*/ 0 w 664"/>
                  <a:gd name="T17" fmla="*/ 0 h 629"/>
                  <a:gd name="T18" fmla="*/ 0 w 664"/>
                  <a:gd name="T19" fmla="*/ 0 h 629"/>
                  <a:gd name="T20" fmla="*/ 0 w 664"/>
                  <a:gd name="T21" fmla="*/ 0 h 629"/>
                  <a:gd name="T22" fmla="*/ 0 w 664"/>
                  <a:gd name="T23" fmla="*/ 0 h 629"/>
                  <a:gd name="T24" fmla="*/ 0 w 664"/>
                  <a:gd name="T25" fmla="*/ 0 h 629"/>
                  <a:gd name="T26" fmla="*/ 0 w 664"/>
                  <a:gd name="T27" fmla="*/ 0 h 629"/>
                  <a:gd name="T28" fmla="*/ 0 w 664"/>
                  <a:gd name="T29" fmla="*/ 0 h 629"/>
                  <a:gd name="T30" fmla="*/ 0 w 664"/>
                  <a:gd name="T31" fmla="*/ 0 h 629"/>
                  <a:gd name="T32" fmla="*/ 0 w 664"/>
                  <a:gd name="T33" fmla="*/ 0 h 629"/>
                  <a:gd name="T34" fmla="*/ 0 w 664"/>
                  <a:gd name="T35" fmla="*/ 0 h 629"/>
                  <a:gd name="T36" fmla="*/ 0 w 664"/>
                  <a:gd name="T37" fmla="*/ 0 h 629"/>
                  <a:gd name="T38" fmla="*/ 0 w 664"/>
                  <a:gd name="T39" fmla="*/ 0 h 629"/>
                  <a:gd name="T40" fmla="*/ 0 w 664"/>
                  <a:gd name="T41" fmla="*/ 0 h 629"/>
                  <a:gd name="T42" fmla="*/ 0 w 664"/>
                  <a:gd name="T43" fmla="*/ 0 h 629"/>
                  <a:gd name="T44" fmla="*/ 0 w 664"/>
                  <a:gd name="T45" fmla="*/ 0 h 629"/>
                  <a:gd name="T46" fmla="*/ 0 w 664"/>
                  <a:gd name="T47" fmla="*/ 0 h 629"/>
                  <a:gd name="T48" fmla="*/ 0 w 664"/>
                  <a:gd name="T49" fmla="*/ 0 h 629"/>
                  <a:gd name="T50" fmla="*/ 0 w 664"/>
                  <a:gd name="T51" fmla="*/ 0 h 629"/>
                  <a:gd name="T52" fmla="*/ 0 w 664"/>
                  <a:gd name="T53" fmla="*/ 0 h 629"/>
                  <a:gd name="T54" fmla="*/ 0 w 664"/>
                  <a:gd name="T55" fmla="*/ 0 h 629"/>
                  <a:gd name="T56" fmla="*/ 0 w 664"/>
                  <a:gd name="T57" fmla="*/ 0 h 629"/>
                  <a:gd name="T58" fmla="*/ 0 w 664"/>
                  <a:gd name="T59" fmla="*/ 0 h 629"/>
                  <a:gd name="T60" fmla="*/ 0 w 664"/>
                  <a:gd name="T61" fmla="*/ 0 h 629"/>
                  <a:gd name="T62" fmla="*/ 0 w 664"/>
                  <a:gd name="T63" fmla="*/ 0 h 629"/>
                  <a:gd name="T64" fmla="*/ 0 w 664"/>
                  <a:gd name="T65" fmla="*/ 0 h 629"/>
                  <a:gd name="T66" fmla="*/ 0 w 664"/>
                  <a:gd name="T67" fmla="*/ 0 h 629"/>
                  <a:gd name="T68" fmla="*/ 0 w 664"/>
                  <a:gd name="T69" fmla="*/ 0 h 629"/>
                  <a:gd name="T70" fmla="*/ 0 w 664"/>
                  <a:gd name="T71" fmla="*/ 0 h 629"/>
                  <a:gd name="T72" fmla="*/ 0 w 664"/>
                  <a:gd name="T73" fmla="*/ 0 h 629"/>
                  <a:gd name="T74" fmla="*/ 0 w 664"/>
                  <a:gd name="T75" fmla="*/ 0 h 629"/>
                  <a:gd name="T76" fmla="*/ 0 w 664"/>
                  <a:gd name="T77" fmla="*/ 0 h 629"/>
                  <a:gd name="T78" fmla="*/ 0 w 664"/>
                  <a:gd name="T79" fmla="*/ 0 h 629"/>
                  <a:gd name="T80" fmla="*/ 0 w 664"/>
                  <a:gd name="T81" fmla="*/ 0 h 629"/>
                  <a:gd name="T82" fmla="*/ 0 w 664"/>
                  <a:gd name="T83" fmla="*/ 0 h 629"/>
                  <a:gd name="T84" fmla="*/ 0 w 664"/>
                  <a:gd name="T85" fmla="*/ 0 h 6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64" h="629">
                    <a:moveTo>
                      <a:pt x="332" y="629"/>
                    </a:moveTo>
                    <a:lnTo>
                      <a:pt x="349" y="629"/>
                    </a:lnTo>
                    <a:lnTo>
                      <a:pt x="366" y="627"/>
                    </a:lnTo>
                    <a:lnTo>
                      <a:pt x="383" y="625"/>
                    </a:lnTo>
                    <a:lnTo>
                      <a:pt x="399" y="622"/>
                    </a:lnTo>
                    <a:lnTo>
                      <a:pt x="415" y="619"/>
                    </a:lnTo>
                    <a:lnTo>
                      <a:pt x="431" y="615"/>
                    </a:lnTo>
                    <a:lnTo>
                      <a:pt x="446" y="609"/>
                    </a:lnTo>
                    <a:lnTo>
                      <a:pt x="461" y="604"/>
                    </a:lnTo>
                    <a:lnTo>
                      <a:pt x="476" y="598"/>
                    </a:lnTo>
                    <a:lnTo>
                      <a:pt x="491" y="590"/>
                    </a:lnTo>
                    <a:lnTo>
                      <a:pt x="505" y="583"/>
                    </a:lnTo>
                    <a:lnTo>
                      <a:pt x="517" y="574"/>
                    </a:lnTo>
                    <a:lnTo>
                      <a:pt x="531" y="566"/>
                    </a:lnTo>
                    <a:lnTo>
                      <a:pt x="543" y="556"/>
                    </a:lnTo>
                    <a:lnTo>
                      <a:pt x="556" y="547"/>
                    </a:lnTo>
                    <a:lnTo>
                      <a:pt x="567" y="536"/>
                    </a:lnTo>
                    <a:lnTo>
                      <a:pt x="578" y="525"/>
                    </a:lnTo>
                    <a:lnTo>
                      <a:pt x="589" y="514"/>
                    </a:lnTo>
                    <a:lnTo>
                      <a:pt x="598" y="502"/>
                    </a:lnTo>
                    <a:lnTo>
                      <a:pt x="608" y="489"/>
                    </a:lnTo>
                    <a:lnTo>
                      <a:pt x="616" y="478"/>
                    </a:lnTo>
                    <a:lnTo>
                      <a:pt x="624" y="464"/>
                    </a:lnTo>
                    <a:lnTo>
                      <a:pt x="631" y="450"/>
                    </a:lnTo>
                    <a:lnTo>
                      <a:pt x="638" y="436"/>
                    </a:lnTo>
                    <a:lnTo>
                      <a:pt x="644" y="422"/>
                    </a:lnTo>
                    <a:lnTo>
                      <a:pt x="649" y="407"/>
                    </a:lnTo>
                    <a:lnTo>
                      <a:pt x="654" y="393"/>
                    </a:lnTo>
                    <a:lnTo>
                      <a:pt x="658" y="378"/>
                    </a:lnTo>
                    <a:lnTo>
                      <a:pt x="660" y="362"/>
                    </a:lnTo>
                    <a:lnTo>
                      <a:pt x="662" y="347"/>
                    </a:lnTo>
                    <a:lnTo>
                      <a:pt x="664" y="331"/>
                    </a:lnTo>
                    <a:lnTo>
                      <a:pt x="664" y="314"/>
                    </a:lnTo>
                    <a:lnTo>
                      <a:pt x="664" y="298"/>
                    </a:lnTo>
                    <a:lnTo>
                      <a:pt x="662" y="282"/>
                    </a:lnTo>
                    <a:lnTo>
                      <a:pt x="660" y="266"/>
                    </a:lnTo>
                    <a:lnTo>
                      <a:pt x="658" y="251"/>
                    </a:lnTo>
                    <a:lnTo>
                      <a:pt x="654" y="236"/>
                    </a:lnTo>
                    <a:lnTo>
                      <a:pt x="649" y="221"/>
                    </a:lnTo>
                    <a:lnTo>
                      <a:pt x="644" y="206"/>
                    </a:lnTo>
                    <a:lnTo>
                      <a:pt x="638" y="192"/>
                    </a:lnTo>
                    <a:lnTo>
                      <a:pt x="631" y="178"/>
                    </a:lnTo>
                    <a:lnTo>
                      <a:pt x="624" y="165"/>
                    </a:lnTo>
                    <a:lnTo>
                      <a:pt x="616" y="151"/>
                    </a:lnTo>
                    <a:lnTo>
                      <a:pt x="608" y="138"/>
                    </a:lnTo>
                    <a:lnTo>
                      <a:pt x="598" y="127"/>
                    </a:lnTo>
                    <a:lnTo>
                      <a:pt x="589" y="115"/>
                    </a:lnTo>
                    <a:lnTo>
                      <a:pt x="578" y="103"/>
                    </a:lnTo>
                    <a:lnTo>
                      <a:pt x="567" y="92"/>
                    </a:lnTo>
                    <a:lnTo>
                      <a:pt x="556" y="82"/>
                    </a:lnTo>
                    <a:lnTo>
                      <a:pt x="543" y="71"/>
                    </a:lnTo>
                    <a:lnTo>
                      <a:pt x="531" y="63"/>
                    </a:lnTo>
                    <a:lnTo>
                      <a:pt x="517" y="53"/>
                    </a:lnTo>
                    <a:lnTo>
                      <a:pt x="505" y="46"/>
                    </a:lnTo>
                    <a:lnTo>
                      <a:pt x="491" y="39"/>
                    </a:lnTo>
                    <a:lnTo>
                      <a:pt x="476" y="31"/>
                    </a:lnTo>
                    <a:lnTo>
                      <a:pt x="461" y="25"/>
                    </a:lnTo>
                    <a:lnTo>
                      <a:pt x="446" y="19"/>
                    </a:lnTo>
                    <a:lnTo>
                      <a:pt x="431" y="14"/>
                    </a:lnTo>
                    <a:lnTo>
                      <a:pt x="415" y="10"/>
                    </a:lnTo>
                    <a:lnTo>
                      <a:pt x="399" y="7"/>
                    </a:lnTo>
                    <a:lnTo>
                      <a:pt x="383" y="3"/>
                    </a:lnTo>
                    <a:lnTo>
                      <a:pt x="366" y="1"/>
                    </a:lnTo>
                    <a:lnTo>
                      <a:pt x="349" y="0"/>
                    </a:lnTo>
                    <a:lnTo>
                      <a:pt x="332" y="0"/>
                    </a:lnTo>
                    <a:lnTo>
                      <a:pt x="315" y="0"/>
                    </a:lnTo>
                    <a:lnTo>
                      <a:pt x="298" y="1"/>
                    </a:lnTo>
                    <a:lnTo>
                      <a:pt x="282" y="3"/>
                    </a:lnTo>
                    <a:lnTo>
                      <a:pt x="265" y="7"/>
                    </a:lnTo>
                    <a:lnTo>
                      <a:pt x="249" y="10"/>
                    </a:lnTo>
                    <a:lnTo>
                      <a:pt x="234" y="14"/>
                    </a:lnTo>
                    <a:lnTo>
                      <a:pt x="218" y="19"/>
                    </a:lnTo>
                    <a:lnTo>
                      <a:pt x="203" y="25"/>
                    </a:lnTo>
                    <a:lnTo>
                      <a:pt x="189" y="31"/>
                    </a:lnTo>
                    <a:lnTo>
                      <a:pt x="175" y="39"/>
                    </a:lnTo>
                    <a:lnTo>
                      <a:pt x="161" y="46"/>
                    </a:lnTo>
                    <a:lnTo>
                      <a:pt x="147" y="53"/>
                    </a:lnTo>
                    <a:lnTo>
                      <a:pt x="134" y="63"/>
                    </a:lnTo>
                    <a:lnTo>
                      <a:pt x="122" y="71"/>
                    </a:lnTo>
                    <a:lnTo>
                      <a:pt x="110" y="82"/>
                    </a:lnTo>
                    <a:lnTo>
                      <a:pt x="98" y="92"/>
                    </a:lnTo>
                    <a:lnTo>
                      <a:pt x="87" y="103"/>
                    </a:lnTo>
                    <a:lnTo>
                      <a:pt x="77" y="115"/>
                    </a:lnTo>
                    <a:lnTo>
                      <a:pt x="66" y="127"/>
                    </a:lnTo>
                    <a:lnTo>
                      <a:pt x="58" y="138"/>
                    </a:lnTo>
                    <a:lnTo>
                      <a:pt x="49" y="151"/>
                    </a:lnTo>
                    <a:lnTo>
                      <a:pt x="41" y="165"/>
                    </a:lnTo>
                    <a:lnTo>
                      <a:pt x="33" y="178"/>
                    </a:lnTo>
                    <a:lnTo>
                      <a:pt x="27" y="192"/>
                    </a:lnTo>
                    <a:lnTo>
                      <a:pt x="20" y="206"/>
                    </a:lnTo>
                    <a:lnTo>
                      <a:pt x="15" y="221"/>
                    </a:lnTo>
                    <a:lnTo>
                      <a:pt x="11" y="236"/>
                    </a:lnTo>
                    <a:lnTo>
                      <a:pt x="8" y="251"/>
                    </a:lnTo>
                    <a:lnTo>
                      <a:pt x="4" y="266"/>
                    </a:lnTo>
                    <a:lnTo>
                      <a:pt x="2" y="282"/>
                    </a:lnTo>
                    <a:lnTo>
                      <a:pt x="1" y="298"/>
                    </a:lnTo>
                    <a:lnTo>
                      <a:pt x="0" y="314"/>
                    </a:lnTo>
                    <a:lnTo>
                      <a:pt x="1" y="331"/>
                    </a:lnTo>
                    <a:lnTo>
                      <a:pt x="2" y="347"/>
                    </a:lnTo>
                    <a:lnTo>
                      <a:pt x="4" y="362"/>
                    </a:lnTo>
                    <a:lnTo>
                      <a:pt x="8" y="378"/>
                    </a:lnTo>
                    <a:lnTo>
                      <a:pt x="11" y="393"/>
                    </a:lnTo>
                    <a:lnTo>
                      <a:pt x="15" y="407"/>
                    </a:lnTo>
                    <a:lnTo>
                      <a:pt x="20" y="422"/>
                    </a:lnTo>
                    <a:lnTo>
                      <a:pt x="27" y="436"/>
                    </a:lnTo>
                    <a:lnTo>
                      <a:pt x="33" y="450"/>
                    </a:lnTo>
                    <a:lnTo>
                      <a:pt x="41" y="464"/>
                    </a:lnTo>
                    <a:lnTo>
                      <a:pt x="49" y="478"/>
                    </a:lnTo>
                    <a:lnTo>
                      <a:pt x="58" y="489"/>
                    </a:lnTo>
                    <a:lnTo>
                      <a:pt x="66" y="502"/>
                    </a:lnTo>
                    <a:lnTo>
                      <a:pt x="77" y="514"/>
                    </a:lnTo>
                    <a:lnTo>
                      <a:pt x="87" y="525"/>
                    </a:lnTo>
                    <a:lnTo>
                      <a:pt x="98" y="536"/>
                    </a:lnTo>
                    <a:lnTo>
                      <a:pt x="110" y="547"/>
                    </a:lnTo>
                    <a:lnTo>
                      <a:pt x="122" y="556"/>
                    </a:lnTo>
                    <a:lnTo>
                      <a:pt x="134" y="566"/>
                    </a:lnTo>
                    <a:lnTo>
                      <a:pt x="147" y="574"/>
                    </a:lnTo>
                    <a:lnTo>
                      <a:pt x="161" y="583"/>
                    </a:lnTo>
                    <a:lnTo>
                      <a:pt x="175" y="590"/>
                    </a:lnTo>
                    <a:lnTo>
                      <a:pt x="189" y="598"/>
                    </a:lnTo>
                    <a:lnTo>
                      <a:pt x="203" y="604"/>
                    </a:lnTo>
                    <a:lnTo>
                      <a:pt x="218" y="609"/>
                    </a:lnTo>
                    <a:lnTo>
                      <a:pt x="234" y="615"/>
                    </a:lnTo>
                    <a:lnTo>
                      <a:pt x="249" y="619"/>
                    </a:lnTo>
                    <a:lnTo>
                      <a:pt x="265" y="622"/>
                    </a:lnTo>
                    <a:lnTo>
                      <a:pt x="282" y="625"/>
                    </a:lnTo>
                    <a:lnTo>
                      <a:pt x="298" y="627"/>
                    </a:lnTo>
                    <a:lnTo>
                      <a:pt x="315" y="629"/>
                    </a:lnTo>
                    <a:lnTo>
                      <a:pt x="332" y="629"/>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sp>
            <p:nvSpPr>
              <p:cNvPr id="387458" name="Freeform 4176"/>
              <p:cNvSpPr>
                <a:spLocks noChangeAspect="1"/>
              </p:cNvSpPr>
              <p:nvPr/>
            </p:nvSpPr>
            <p:spPr bwMode="auto">
              <a:xfrm>
                <a:off x="5208" y="1157"/>
                <a:ext cx="14" cy="14"/>
              </a:xfrm>
              <a:custGeom>
                <a:avLst/>
                <a:gdLst>
                  <a:gd name="T0" fmla="*/ 0 w 41"/>
                  <a:gd name="T1" fmla="*/ 0 h 42"/>
                  <a:gd name="T2" fmla="*/ 0 w 41"/>
                  <a:gd name="T3" fmla="*/ 0 h 42"/>
                  <a:gd name="T4" fmla="*/ 0 w 41"/>
                  <a:gd name="T5" fmla="*/ 0 h 42"/>
                  <a:gd name="T6" fmla="*/ 0 w 41"/>
                  <a:gd name="T7" fmla="*/ 0 h 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1" h="42">
                    <a:moveTo>
                      <a:pt x="41" y="0"/>
                    </a:moveTo>
                    <a:lnTo>
                      <a:pt x="0" y="42"/>
                    </a:lnTo>
                    <a:lnTo>
                      <a:pt x="0" y="0"/>
                    </a:lnTo>
                    <a:lnTo>
                      <a:pt x="41"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59" name="Freeform 4177"/>
              <p:cNvSpPr>
                <a:spLocks noChangeAspect="1"/>
              </p:cNvSpPr>
              <p:nvPr/>
            </p:nvSpPr>
            <p:spPr bwMode="auto">
              <a:xfrm>
                <a:off x="5208" y="1157"/>
                <a:ext cx="24" cy="23"/>
              </a:xfrm>
              <a:custGeom>
                <a:avLst/>
                <a:gdLst>
                  <a:gd name="T0" fmla="*/ 0 w 70"/>
                  <a:gd name="T1" fmla="*/ 0 h 71"/>
                  <a:gd name="T2" fmla="*/ 0 w 70"/>
                  <a:gd name="T3" fmla="*/ 0 h 71"/>
                  <a:gd name="T4" fmla="*/ 0 w 70"/>
                  <a:gd name="T5" fmla="*/ 0 h 71"/>
                  <a:gd name="T6" fmla="*/ 0 w 70"/>
                  <a:gd name="T7" fmla="*/ 0 h 71"/>
                  <a:gd name="T8" fmla="*/ 0 w 70"/>
                  <a:gd name="T9" fmla="*/ 0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71">
                    <a:moveTo>
                      <a:pt x="0" y="12"/>
                    </a:moveTo>
                    <a:lnTo>
                      <a:pt x="11" y="0"/>
                    </a:lnTo>
                    <a:lnTo>
                      <a:pt x="70" y="0"/>
                    </a:lnTo>
                    <a:lnTo>
                      <a:pt x="0" y="71"/>
                    </a:lnTo>
                    <a:lnTo>
                      <a:pt x="0" y="1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60" name="Freeform 4178"/>
              <p:cNvSpPr>
                <a:spLocks noChangeAspect="1"/>
              </p:cNvSpPr>
              <p:nvPr/>
            </p:nvSpPr>
            <p:spPr bwMode="auto">
              <a:xfrm>
                <a:off x="5208" y="1157"/>
                <a:ext cx="34" cy="33"/>
              </a:xfrm>
              <a:custGeom>
                <a:avLst/>
                <a:gdLst>
                  <a:gd name="T0" fmla="*/ 0 w 100"/>
                  <a:gd name="T1" fmla="*/ 0 h 100"/>
                  <a:gd name="T2" fmla="*/ 0 w 100"/>
                  <a:gd name="T3" fmla="*/ 0 h 100"/>
                  <a:gd name="T4" fmla="*/ 0 w 100"/>
                  <a:gd name="T5" fmla="*/ 0 h 100"/>
                  <a:gd name="T6" fmla="*/ 0 w 100"/>
                  <a:gd name="T7" fmla="*/ 0 h 100"/>
                  <a:gd name="T8" fmla="*/ 0 w 100"/>
                  <a:gd name="T9" fmla="*/ 0 h 100"/>
                  <a:gd name="T10" fmla="*/ 0 w 100"/>
                  <a:gd name="T11" fmla="*/ 0 h 1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100">
                    <a:moveTo>
                      <a:pt x="0" y="42"/>
                    </a:moveTo>
                    <a:lnTo>
                      <a:pt x="41" y="0"/>
                    </a:lnTo>
                    <a:lnTo>
                      <a:pt x="93" y="0"/>
                    </a:lnTo>
                    <a:lnTo>
                      <a:pt x="100" y="0"/>
                    </a:lnTo>
                    <a:lnTo>
                      <a:pt x="0" y="100"/>
                    </a:lnTo>
                    <a:lnTo>
                      <a:pt x="0" y="4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61" name="Freeform 4179"/>
              <p:cNvSpPr>
                <a:spLocks noChangeAspect="1"/>
              </p:cNvSpPr>
              <p:nvPr/>
            </p:nvSpPr>
            <p:spPr bwMode="auto">
              <a:xfrm>
                <a:off x="5208" y="1157"/>
                <a:ext cx="44" cy="43"/>
              </a:xfrm>
              <a:custGeom>
                <a:avLst/>
                <a:gdLst>
                  <a:gd name="T0" fmla="*/ 0 w 130"/>
                  <a:gd name="T1" fmla="*/ 0 h 130"/>
                  <a:gd name="T2" fmla="*/ 0 w 130"/>
                  <a:gd name="T3" fmla="*/ 0 h 130"/>
                  <a:gd name="T4" fmla="*/ 0 w 130"/>
                  <a:gd name="T5" fmla="*/ 0 h 130"/>
                  <a:gd name="T6" fmla="*/ 0 w 130"/>
                  <a:gd name="T7" fmla="*/ 0 h 130"/>
                  <a:gd name="T8" fmla="*/ 0 w 130"/>
                  <a:gd name="T9" fmla="*/ 0 h 130"/>
                  <a:gd name="T10" fmla="*/ 0 w 130"/>
                  <a:gd name="T11" fmla="*/ 0 h 1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0" h="130">
                    <a:moveTo>
                      <a:pt x="0" y="71"/>
                    </a:moveTo>
                    <a:lnTo>
                      <a:pt x="70" y="0"/>
                    </a:lnTo>
                    <a:lnTo>
                      <a:pt x="93" y="0"/>
                    </a:lnTo>
                    <a:lnTo>
                      <a:pt x="130" y="0"/>
                    </a:lnTo>
                    <a:lnTo>
                      <a:pt x="0" y="130"/>
                    </a:lnTo>
                    <a:lnTo>
                      <a:pt x="0" y="7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62" name="Freeform 4180"/>
              <p:cNvSpPr>
                <a:spLocks noChangeAspect="1"/>
              </p:cNvSpPr>
              <p:nvPr/>
            </p:nvSpPr>
            <p:spPr bwMode="auto">
              <a:xfrm>
                <a:off x="5208" y="1157"/>
                <a:ext cx="53" cy="53"/>
              </a:xfrm>
              <a:custGeom>
                <a:avLst/>
                <a:gdLst>
                  <a:gd name="T0" fmla="*/ 0 w 159"/>
                  <a:gd name="T1" fmla="*/ 0 h 160"/>
                  <a:gd name="T2" fmla="*/ 0 w 159"/>
                  <a:gd name="T3" fmla="*/ 0 h 160"/>
                  <a:gd name="T4" fmla="*/ 0 w 159"/>
                  <a:gd name="T5" fmla="*/ 0 h 160"/>
                  <a:gd name="T6" fmla="*/ 0 w 159"/>
                  <a:gd name="T7" fmla="*/ 0 h 160"/>
                  <a:gd name="T8" fmla="*/ 0 w 159"/>
                  <a:gd name="T9" fmla="*/ 0 h 1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 h="160">
                    <a:moveTo>
                      <a:pt x="0" y="100"/>
                    </a:moveTo>
                    <a:lnTo>
                      <a:pt x="100" y="0"/>
                    </a:lnTo>
                    <a:lnTo>
                      <a:pt x="159" y="0"/>
                    </a:lnTo>
                    <a:lnTo>
                      <a:pt x="0" y="160"/>
                    </a:lnTo>
                    <a:lnTo>
                      <a:pt x="0" y="1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63" name="Freeform 4181"/>
              <p:cNvSpPr>
                <a:spLocks noChangeAspect="1"/>
              </p:cNvSpPr>
              <p:nvPr/>
            </p:nvSpPr>
            <p:spPr bwMode="auto">
              <a:xfrm>
                <a:off x="5208" y="1157"/>
                <a:ext cx="63" cy="63"/>
              </a:xfrm>
              <a:custGeom>
                <a:avLst/>
                <a:gdLst>
                  <a:gd name="T0" fmla="*/ 0 w 189"/>
                  <a:gd name="T1" fmla="*/ 0 h 189"/>
                  <a:gd name="T2" fmla="*/ 0 w 189"/>
                  <a:gd name="T3" fmla="*/ 0 h 189"/>
                  <a:gd name="T4" fmla="*/ 0 w 189"/>
                  <a:gd name="T5" fmla="*/ 0 h 189"/>
                  <a:gd name="T6" fmla="*/ 0 w 189"/>
                  <a:gd name="T7" fmla="*/ 0 h 189"/>
                  <a:gd name="T8" fmla="*/ 0 w 189"/>
                  <a:gd name="T9" fmla="*/ 0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 h="189">
                    <a:moveTo>
                      <a:pt x="0" y="130"/>
                    </a:moveTo>
                    <a:lnTo>
                      <a:pt x="130" y="0"/>
                    </a:lnTo>
                    <a:lnTo>
                      <a:pt x="189" y="0"/>
                    </a:lnTo>
                    <a:lnTo>
                      <a:pt x="0" y="189"/>
                    </a:lnTo>
                    <a:lnTo>
                      <a:pt x="0" y="13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64" name="Freeform 4182"/>
              <p:cNvSpPr>
                <a:spLocks noChangeAspect="1"/>
              </p:cNvSpPr>
              <p:nvPr/>
            </p:nvSpPr>
            <p:spPr bwMode="auto">
              <a:xfrm>
                <a:off x="5208" y="1157"/>
                <a:ext cx="73" cy="73"/>
              </a:xfrm>
              <a:custGeom>
                <a:avLst/>
                <a:gdLst>
                  <a:gd name="T0" fmla="*/ 0 w 218"/>
                  <a:gd name="T1" fmla="*/ 0 h 219"/>
                  <a:gd name="T2" fmla="*/ 0 w 218"/>
                  <a:gd name="T3" fmla="*/ 0 h 219"/>
                  <a:gd name="T4" fmla="*/ 0 w 218"/>
                  <a:gd name="T5" fmla="*/ 0 h 219"/>
                  <a:gd name="T6" fmla="*/ 0 w 218"/>
                  <a:gd name="T7" fmla="*/ 0 h 219"/>
                  <a:gd name="T8" fmla="*/ 0 w 218"/>
                  <a:gd name="T9" fmla="*/ 0 h 2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 h="219">
                    <a:moveTo>
                      <a:pt x="0" y="160"/>
                    </a:moveTo>
                    <a:lnTo>
                      <a:pt x="159" y="0"/>
                    </a:lnTo>
                    <a:lnTo>
                      <a:pt x="218" y="0"/>
                    </a:lnTo>
                    <a:lnTo>
                      <a:pt x="0" y="219"/>
                    </a:lnTo>
                    <a:lnTo>
                      <a:pt x="0" y="16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65" name="Freeform 4183"/>
              <p:cNvSpPr>
                <a:spLocks noChangeAspect="1"/>
              </p:cNvSpPr>
              <p:nvPr/>
            </p:nvSpPr>
            <p:spPr bwMode="auto">
              <a:xfrm>
                <a:off x="5208" y="1157"/>
                <a:ext cx="83" cy="82"/>
              </a:xfrm>
              <a:custGeom>
                <a:avLst/>
                <a:gdLst>
                  <a:gd name="T0" fmla="*/ 0 w 248"/>
                  <a:gd name="T1" fmla="*/ 0 h 248"/>
                  <a:gd name="T2" fmla="*/ 0 w 248"/>
                  <a:gd name="T3" fmla="*/ 0 h 248"/>
                  <a:gd name="T4" fmla="*/ 0 w 248"/>
                  <a:gd name="T5" fmla="*/ 0 h 248"/>
                  <a:gd name="T6" fmla="*/ 0 w 248"/>
                  <a:gd name="T7" fmla="*/ 0 h 248"/>
                  <a:gd name="T8" fmla="*/ 0 w 248"/>
                  <a:gd name="T9" fmla="*/ 0 h 2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8" h="248">
                    <a:moveTo>
                      <a:pt x="0" y="189"/>
                    </a:moveTo>
                    <a:lnTo>
                      <a:pt x="189" y="0"/>
                    </a:lnTo>
                    <a:lnTo>
                      <a:pt x="248" y="0"/>
                    </a:lnTo>
                    <a:lnTo>
                      <a:pt x="0" y="248"/>
                    </a:lnTo>
                    <a:lnTo>
                      <a:pt x="0" y="1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66" name="Freeform 4184"/>
              <p:cNvSpPr>
                <a:spLocks noChangeAspect="1"/>
              </p:cNvSpPr>
              <p:nvPr/>
            </p:nvSpPr>
            <p:spPr bwMode="auto">
              <a:xfrm>
                <a:off x="5208" y="1157"/>
                <a:ext cx="93" cy="92"/>
              </a:xfrm>
              <a:custGeom>
                <a:avLst/>
                <a:gdLst>
                  <a:gd name="T0" fmla="*/ 0 w 278"/>
                  <a:gd name="T1" fmla="*/ 0 h 278"/>
                  <a:gd name="T2" fmla="*/ 0 w 278"/>
                  <a:gd name="T3" fmla="*/ 0 h 278"/>
                  <a:gd name="T4" fmla="*/ 0 w 278"/>
                  <a:gd name="T5" fmla="*/ 0 h 278"/>
                  <a:gd name="T6" fmla="*/ 0 w 278"/>
                  <a:gd name="T7" fmla="*/ 0 h 278"/>
                  <a:gd name="T8" fmla="*/ 0 w 278"/>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8" h="278">
                    <a:moveTo>
                      <a:pt x="0" y="219"/>
                    </a:moveTo>
                    <a:lnTo>
                      <a:pt x="218" y="0"/>
                    </a:lnTo>
                    <a:lnTo>
                      <a:pt x="278" y="0"/>
                    </a:lnTo>
                    <a:lnTo>
                      <a:pt x="0" y="278"/>
                    </a:lnTo>
                    <a:lnTo>
                      <a:pt x="0" y="21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67" name="Freeform 4185"/>
              <p:cNvSpPr>
                <a:spLocks noChangeAspect="1"/>
              </p:cNvSpPr>
              <p:nvPr/>
            </p:nvSpPr>
            <p:spPr bwMode="auto">
              <a:xfrm>
                <a:off x="5208" y="1157"/>
                <a:ext cx="103" cy="102"/>
              </a:xfrm>
              <a:custGeom>
                <a:avLst/>
                <a:gdLst>
                  <a:gd name="T0" fmla="*/ 0 w 307"/>
                  <a:gd name="T1" fmla="*/ 0 h 307"/>
                  <a:gd name="T2" fmla="*/ 0 w 307"/>
                  <a:gd name="T3" fmla="*/ 0 h 307"/>
                  <a:gd name="T4" fmla="*/ 0 w 307"/>
                  <a:gd name="T5" fmla="*/ 0 h 307"/>
                  <a:gd name="T6" fmla="*/ 0 w 307"/>
                  <a:gd name="T7" fmla="*/ 0 h 307"/>
                  <a:gd name="T8" fmla="*/ 0 w 307"/>
                  <a:gd name="T9" fmla="*/ 0 h 3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7" h="307">
                    <a:moveTo>
                      <a:pt x="0" y="248"/>
                    </a:moveTo>
                    <a:lnTo>
                      <a:pt x="248" y="0"/>
                    </a:lnTo>
                    <a:lnTo>
                      <a:pt x="307" y="0"/>
                    </a:lnTo>
                    <a:lnTo>
                      <a:pt x="0" y="307"/>
                    </a:lnTo>
                    <a:lnTo>
                      <a:pt x="0" y="2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68" name="Freeform 4186"/>
              <p:cNvSpPr>
                <a:spLocks noChangeAspect="1"/>
              </p:cNvSpPr>
              <p:nvPr/>
            </p:nvSpPr>
            <p:spPr bwMode="auto">
              <a:xfrm>
                <a:off x="5208" y="1157"/>
                <a:ext cx="113" cy="105"/>
              </a:xfrm>
              <a:custGeom>
                <a:avLst/>
                <a:gdLst>
                  <a:gd name="T0" fmla="*/ 0 w 337"/>
                  <a:gd name="T1" fmla="*/ 0 h 315"/>
                  <a:gd name="T2" fmla="*/ 0 w 337"/>
                  <a:gd name="T3" fmla="*/ 0 h 315"/>
                  <a:gd name="T4" fmla="*/ 0 w 337"/>
                  <a:gd name="T5" fmla="*/ 0 h 315"/>
                  <a:gd name="T6" fmla="*/ 0 w 337"/>
                  <a:gd name="T7" fmla="*/ 0 h 315"/>
                  <a:gd name="T8" fmla="*/ 0 w 337"/>
                  <a:gd name="T9" fmla="*/ 0 h 315"/>
                  <a:gd name="T10" fmla="*/ 0 w 337"/>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7" h="315">
                    <a:moveTo>
                      <a:pt x="0" y="278"/>
                    </a:moveTo>
                    <a:lnTo>
                      <a:pt x="278" y="0"/>
                    </a:lnTo>
                    <a:lnTo>
                      <a:pt x="337" y="0"/>
                    </a:lnTo>
                    <a:lnTo>
                      <a:pt x="22" y="315"/>
                    </a:lnTo>
                    <a:lnTo>
                      <a:pt x="0" y="315"/>
                    </a:lnTo>
                    <a:lnTo>
                      <a:pt x="0" y="27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69" name="Freeform 4187"/>
              <p:cNvSpPr>
                <a:spLocks noChangeAspect="1"/>
              </p:cNvSpPr>
              <p:nvPr/>
            </p:nvSpPr>
            <p:spPr bwMode="auto">
              <a:xfrm>
                <a:off x="5208" y="1157"/>
                <a:ext cx="122" cy="105"/>
              </a:xfrm>
              <a:custGeom>
                <a:avLst/>
                <a:gdLst>
                  <a:gd name="T0" fmla="*/ 0 w 366"/>
                  <a:gd name="T1" fmla="*/ 0 h 315"/>
                  <a:gd name="T2" fmla="*/ 0 w 366"/>
                  <a:gd name="T3" fmla="*/ 0 h 315"/>
                  <a:gd name="T4" fmla="*/ 0 w 366"/>
                  <a:gd name="T5" fmla="*/ 0 h 315"/>
                  <a:gd name="T6" fmla="*/ 0 w 366"/>
                  <a:gd name="T7" fmla="*/ 0 h 315"/>
                  <a:gd name="T8" fmla="*/ 0 w 366"/>
                  <a:gd name="T9" fmla="*/ 0 h 315"/>
                  <a:gd name="T10" fmla="*/ 0 w 366"/>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66" h="315">
                    <a:moveTo>
                      <a:pt x="0" y="307"/>
                    </a:moveTo>
                    <a:lnTo>
                      <a:pt x="307" y="0"/>
                    </a:lnTo>
                    <a:lnTo>
                      <a:pt x="366" y="0"/>
                    </a:lnTo>
                    <a:lnTo>
                      <a:pt x="52" y="315"/>
                    </a:lnTo>
                    <a:lnTo>
                      <a:pt x="0" y="315"/>
                    </a:lnTo>
                    <a:lnTo>
                      <a:pt x="0" y="3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70" name="Freeform 4188"/>
              <p:cNvSpPr>
                <a:spLocks noChangeAspect="1"/>
              </p:cNvSpPr>
              <p:nvPr/>
            </p:nvSpPr>
            <p:spPr bwMode="auto">
              <a:xfrm>
                <a:off x="5216" y="1157"/>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71" name="Freeform 4189"/>
              <p:cNvSpPr>
                <a:spLocks noChangeAspect="1"/>
              </p:cNvSpPr>
              <p:nvPr/>
            </p:nvSpPr>
            <p:spPr bwMode="auto">
              <a:xfrm>
                <a:off x="5226"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72" name="Freeform 4190"/>
              <p:cNvSpPr>
                <a:spLocks noChangeAspect="1"/>
              </p:cNvSpPr>
              <p:nvPr/>
            </p:nvSpPr>
            <p:spPr bwMode="auto">
              <a:xfrm>
                <a:off x="5236"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73" name="Freeform 4191"/>
              <p:cNvSpPr>
                <a:spLocks noChangeAspect="1"/>
              </p:cNvSpPr>
              <p:nvPr/>
            </p:nvSpPr>
            <p:spPr bwMode="auto">
              <a:xfrm>
                <a:off x="5245"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74" name="Freeform 4192"/>
              <p:cNvSpPr>
                <a:spLocks noChangeAspect="1"/>
              </p:cNvSpPr>
              <p:nvPr/>
            </p:nvSpPr>
            <p:spPr bwMode="auto">
              <a:xfrm>
                <a:off x="5255"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75" name="Freeform 4193"/>
              <p:cNvSpPr>
                <a:spLocks noChangeAspect="1"/>
              </p:cNvSpPr>
              <p:nvPr/>
            </p:nvSpPr>
            <p:spPr bwMode="auto">
              <a:xfrm>
                <a:off x="5265"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w 374"/>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74" h="315">
                    <a:moveTo>
                      <a:pt x="0" y="315"/>
                    </a:moveTo>
                    <a:lnTo>
                      <a:pt x="315" y="0"/>
                    </a:lnTo>
                    <a:lnTo>
                      <a:pt x="374" y="0"/>
                    </a:lnTo>
                    <a:lnTo>
                      <a:pt x="60" y="315"/>
                    </a:lnTo>
                    <a:lnTo>
                      <a:pt x="47"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76" name="Freeform 4194"/>
              <p:cNvSpPr>
                <a:spLocks noChangeAspect="1"/>
              </p:cNvSpPr>
              <p:nvPr/>
            </p:nvSpPr>
            <p:spPr bwMode="auto">
              <a:xfrm>
                <a:off x="5275"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w 373"/>
                  <a:gd name="T11" fmla="*/ 0 h 315"/>
                  <a:gd name="T12" fmla="*/ 0 w 373"/>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73" h="315">
                    <a:moveTo>
                      <a:pt x="0" y="315"/>
                    </a:moveTo>
                    <a:lnTo>
                      <a:pt x="314" y="0"/>
                    </a:lnTo>
                    <a:lnTo>
                      <a:pt x="361" y="0"/>
                    </a:lnTo>
                    <a:lnTo>
                      <a:pt x="373" y="0"/>
                    </a:lnTo>
                    <a:lnTo>
                      <a:pt x="58" y="315"/>
                    </a:lnTo>
                    <a:lnTo>
                      <a:pt x="17"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77" name="Freeform 4195"/>
              <p:cNvSpPr>
                <a:spLocks noChangeAspect="1"/>
              </p:cNvSpPr>
              <p:nvPr/>
            </p:nvSpPr>
            <p:spPr bwMode="auto">
              <a:xfrm>
                <a:off x="5285"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w 373"/>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73" h="315">
                    <a:moveTo>
                      <a:pt x="0" y="315"/>
                    </a:moveTo>
                    <a:lnTo>
                      <a:pt x="314" y="0"/>
                    </a:lnTo>
                    <a:lnTo>
                      <a:pt x="331"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78" name="Freeform 4196"/>
              <p:cNvSpPr>
                <a:spLocks noChangeAspect="1"/>
              </p:cNvSpPr>
              <p:nvPr/>
            </p:nvSpPr>
            <p:spPr bwMode="auto">
              <a:xfrm>
                <a:off x="5294"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79" name="Freeform 4197"/>
              <p:cNvSpPr>
                <a:spLocks noChangeAspect="1"/>
              </p:cNvSpPr>
              <p:nvPr/>
            </p:nvSpPr>
            <p:spPr bwMode="auto">
              <a:xfrm>
                <a:off x="5304"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80" name="Freeform 4198"/>
              <p:cNvSpPr>
                <a:spLocks noChangeAspect="1"/>
              </p:cNvSpPr>
              <p:nvPr/>
            </p:nvSpPr>
            <p:spPr bwMode="auto">
              <a:xfrm>
                <a:off x="5314" y="1157"/>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81" name="Freeform 4199"/>
              <p:cNvSpPr>
                <a:spLocks noChangeAspect="1"/>
              </p:cNvSpPr>
              <p:nvPr/>
            </p:nvSpPr>
            <p:spPr bwMode="auto">
              <a:xfrm>
                <a:off x="5324" y="1157"/>
                <a:ext cx="125"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82" name="Freeform 4200"/>
              <p:cNvSpPr>
                <a:spLocks noChangeAspect="1"/>
              </p:cNvSpPr>
              <p:nvPr/>
            </p:nvSpPr>
            <p:spPr bwMode="auto">
              <a:xfrm>
                <a:off x="5334" y="1157"/>
                <a:ext cx="125"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83" name="Freeform 4201"/>
              <p:cNvSpPr>
                <a:spLocks noChangeAspect="1"/>
              </p:cNvSpPr>
              <p:nvPr/>
            </p:nvSpPr>
            <p:spPr bwMode="auto">
              <a:xfrm>
                <a:off x="5344"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84" name="Freeform 4202"/>
              <p:cNvSpPr>
                <a:spLocks noChangeAspect="1"/>
              </p:cNvSpPr>
              <p:nvPr/>
            </p:nvSpPr>
            <p:spPr bwMode="auto">
              <a:xfrm>
                <a:off x="5354" y="1157"/>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85" name="Freeform 4203"/>
              <p:cNvSpPr>
                <a:spLocks noChangeAspect="1"/>
              </p:cNvSpPr>
              <p:nvPr/>
            </p:nvSpPr>
            <p:spPr bwMode="auto">
              <a:xfrm>
                <a:off x="5364"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5" y="0"/>
                    </a:lnTo>
                    <a:lnTo>
                      <a:pt x="373"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86" name="Freeform 4204"/>
              <p:cNvSpPr>
                <a:spLocks noChangeAspect="1"/>
              </p:cNvSpPr>
              <p:nvPr/>
            </p:nvSpPr>
            <p:spPr bwMode="auto">
              <a:xfrm>
                <a:off x="5374"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87" name="Freeform 4205"/>
              <p:cNvSpPr>
                <a:spLocks noChangeAspect="1"/>
              </p:cNvSpPr>
              <p:nvPr/>
            </p:nvSpPr>
            <p:spPr bwMode="auto">
              <a:xfrm>
                <a:off x="5384"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3"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88" name="Freeform 4206"/>
              <p:cNvSpPr>
                <a:spLocks noChangeAspect="1"/>
              </p:cNvSpPr>
              <p:nvPr/>
            </p:nvSpPr>
            <p:spPr bwMode="auto">
              <a:xfrm>
                <a:off x="5393"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89" name="Freeform 4207"/>
              <p:cNvSpPr>
                <a:spLocks noChangeAspect="1"/>
              </p:cNvSpPr>
              <p:nvPr/>
            </p:nvSpPr>
            <p:spPr bwMode="auto">
              <a:xfrm>
                <a:off x="5403"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90" name="Freeform 4208"/>
              <p:cNvSpPr>
                <a:spLocks noChangeAspect="1"/>
              </p:cNvSpPr>
              <p:nvPr/>
            </p:nvSpPr>
            <p:spPr bwMode="auto">
              <a:xfrm>
                <a:off x="5413"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5" y="0"/>
                    </a:lnTo>
                    <a:lnTo>
                      <a:pt x="373"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91" name="Freeform 4209"/>
              <p:cNvSpPr>
                <a:spLocks noChangeAspect="1"/>
              </p:cNvSpPr>
              <p:nvPr/>
            </p:nvSpPr>
            <p:spPr bwMode="auto">
              <a:xfrm>
                <a:off x="5423" y="1157"/>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5"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92" name="Freeform 4210"/>
              <p:cNvSpPr>
                <a:spLocks noChangeAspect="1"/>
              </p:cNvSpPr>
              <p:nvPr/>
            </p:nvSpPr>
            <p:spPr bwMode="auto">
              <a:xfrm>
                <a:off x="5433" y="1157"/>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4"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93" name="Freeform 4211"/>
              <p:cNvSpPr>
                <a:spLocks noChangeAspect="1"/>
              </p:cNvSpPr>
              <p:nvPr/>
            </p:nvSpPr>
            <p:spPr bwMode="auto">
              <a:xfrm>
                <a:off x="5442"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94" name="Freeform 4212"/>
              <p:cNvSpPr>
                <a:spLocks noChangeAspect="1"/>
              </p:cNvSpPr>
              <p:nvPr/>
            </p:nvSpPr>
            <p:spPr bwMode="auto">
              <a:xfrm>
                <a:off x="5452" y="1157"/>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95" name="Freeform 4213"/>
              <p:cNvSpPr>
                <a:spLocks noChangeAspect="1"/>
              </p:cNvSpPr>
              <p:nvPr/>
            </p:nvSpPr>
            <p:spPr bwMode="auto">
              <a:xfrm>
                <a:off x="5462" y="1157"/>
                <a:ext cx="122" cy="105"/>
              </a:xfrm>
              <a:custGeom>
                <a:avLst/>
                <a:gdLst>
                  <a:gd name="T0" fmla="*/ 0 w 366"/>
                  <a:gd name="T1" fmla="*/ 0 h 315"/>
                  <a:gd name="T2" fmla="*/ 0 w 366"/>
                  <a:gd name="T3" fmla="*/ 0 h 315"/>
                  <a:gd name="T4" fmla="*/ 0 w 366"/>
                  <a:gd name="T5" fmla="*/ 0 h 315"/>
                  <a:gd name="T6" fmla="*/ 0 w 366"/>
                  <a:gd name="T7" fmla="*/ 0 h 315"/>
                  <a:gd name="T8" fmla="*/ 0 w 366"/>
                  <a:gd name="T9" fmla="*/ 0 h 315"/>
                  <a:gd name="T10" fmla="*/ 0 w 366"/>
                  <a:gd name="T11" fmla="*/ 0 h 315"/>
                  <a:gd name="T12" fmla="*/ 0 w 366"/>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6" h="315">
                    <a:moveTo>
                      <a:pt x="0" y="315"/>
                    </a:moveTo>
                    <a:lnTo>
                      <a:pt x="315" y="0"/>
                    </a:lnTo>
                    <a:lnTo>
                      <a:pt x="366" y="0"/>
                    </a:lnTo>
                    <a:lnTo>
                      <a:pt x="366" y="9"/>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96" name="Freeform 4214"/>
              <p:cNvSpPr>
                <a:spLocks noChangeAspect="1"/>
              </p:cNvSpPr>
              <p:nvPr/>
            </p:nvSpPr>
            <p:spPr bwMode="auto">
              <a:xfrm>
                <a:off x="5472" y="1157"/>
                <a:ext cx="112" cy="105"/>
              </a:xfrm>
              <a:custGeom>
                <a:avLst/>
                <a:gdLst>
                  <a:gd name="T0" fmla="*/ 0 w 336"/>
                  <a:gd name="T1" fmla="*/ 0 h 315"/>
                  <a:gd name="T2" fmla="*/ 0 w 336"/>
                  <a:gd name="T3" fmla="*/ 0 h 315"/>
                  <a:gd name="T4" fmla="*/ 0 w 336"/>
                  <a:gd name="T5" fmla="*/ 0 h 315"/>
                  <a:gd name="T6" fmla="*/ 0 w 336"/>
                  <a:gd name="T7" fmla="*/ 0 h 315"/>
                  <a:gd name="T8" fmla="*/ 0 w 336"/>
                  <a:gd name="T9" fmla="*/ 0 h 315"/>
                  <a:gd name="T10" fmla="*/ 0 w 336"/>
                  <a:gd name="T11" fmla="*/ 0 h 315"/>
                  <a:gd name="T12" fmla="*/ 0 w 336"/>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15">
                    <a:moveTo>
                      <a:pt x="0" y="315"/>
                    </a:moveTo>
                    <a:lnTo>
                      <a:pt x="315" y="0"/>
                    </a:lnTo>
                    <a:lnTo>
                      <a:pt x="336" y="0"/>
                    </a:lnTo>
                    <a:lnTo>
                      <a:pt x="336" y="37"/>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97" name="Freeform 4215"/>
              <p:cNvSpPr>
                <a:spLocks noChangeAspect="1"/>
              </p:cNvSpPr>
              <p:nvPr/>
            </p:nvSpPr>
            <p:spPr bwMode="auto">
              <a:xfrm>
                <a:off x="5482" y="1160"/>
                <a:ext cx="102" cy="102"/>
              </a:xfrm>
              <a:custGeom>
                <a:avLst/>
                <a:gdLst>
                  <a:gd name="T0" fmla="*/ 0 w 307"/>
                  <a:gd name="T1" fmla="*/ 0 h 306"/>
                  <a:gd name="T2" fmla="*/ 0 w 307"/>
                  <a:gd name="T3" fmla="*/ 0 h 306"/>
                  <a:gd name="T4" fmla="*/ 0 w 307"/>
                  <a:gd name="T5" fmla="*/ 0 h 306"/>
                  <a:gd name="T6" fmla="*/ 0 w 307"/>
                  <a:gd name="T7" fmla="*/ 0 h 306"/>
                  <a:gd name="T8" fmla="*/ 0 w 307"/>
                  <a:gd name="T9" fmla="*/ 0 h 3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7" h="306">
                    <a:moveTo>
                      <a:pt x="0" y="306"/>
                    </a:moveTo>
                    <a:lnTo>
                      <a:pt x="307" y="0"/>
                    </a:lnTo>
                    <a:lnTo>
                      <a:pt x="307" y="58"/>
                    </a:lnTo>
                    <a:lnTo>
                      <a:pt x="59" y="306"/>
                    </a:lnTo>
                    <a:lnTo>
                      <a:pt x="0" y="30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98" name="Freeform 4216"/>
              <p:cNvSpPr>
                <a:spLocks noChangeAspect="1"/>
              </p:cNvSpPr>
              <p:nvPr/>
            </p:nvSpPr>
            <p:spPr bwMode="auto">
              <a:xfrm>
                <a:off x="5492" y="1169"/>
                <a:ext cx="92" cy="93"/>
              </a:xfrm>
              <a:custGeom>
                <a:avLst/>
                <a:gdLst>
                  <a:gd name="T0" fmla="*/ 0 w 277"/>
                  <a:gd name="T1" fmla="*/ 0 h 278"/>
                  <a:gd name="T2" fmla="*/ 0 w 277"/>
                  <a:gd name="T3" fmla="*/ 0 h 278"/>
                  <a:gd name="T4" fmla="*/ 0 w 277"/>
                  <a:gd name="T5" fmla="*/ 0 h 278"/>
                  <a:gd name="T6" fmla="*/ 0 w 277"/>
                  <a:gd name="T7" fmla="*/ 0 h 278"/>
                  <a:gd name="T8" fmla="*/ 0 w 277"/>
                  <a:gd name="T9" fmla="*/ 0 h 278"/>
                  <a:gd name="T10" fmla="*/ 0 w 277"/>
                  <a:gd name="T11" fmla="*/ 0 h 27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7" h="278">
                    <a:moveTo>
                      <a:pt x="0" y="278"/>
                    </a:moveTo>
                    <a:lnTo>
                      <a:pt x="277" y="0"/>
                    </a:lnTo>
                    <a:lnTo>
                      <a:pt x="277" y="60"/>
                    </a:lnTo>
                    <a:lnTo>
                      <a:pt x="59" y="278"/>
                    </a:lnTo>
                    <a:lnTo>
                      <a:pt x="37" y="278"/>
                    </a:lnTo>
                    <a:lnTo>
                      <a:pt x="0" y="27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99" name="Freeform 4217"/>
              <p:cNvSpPr>
                <a:spLocks noChangeAspect="1"/>
              </p:cNvSpPr>
              <p:nvPr/>
            </p:nvSpPr>
            <p:spPr bwMode="auto">
              <a:xfrm>
                <a:off x="5502" y="1179"/>
                <a:ext cx="82" cy="83"/>
              </a:xfrm>
              <a:custGeom>
                <a:avLst/>
                <a:gdLst>
                  <a:gd name="T0" fmla="*/ 0 w 248"/>
                  <a:gd name="T1" fmla="*/ 0 h 248"/>
                  <a:gd name="T2" fmla="*/ 0 w 248"/>
                  <a:gd name="T3" fmla="*/ 0 h 248"/>
                  <a:gd name="T4" fmla="*/ 0 w 248"/>
                  <a:gd name="T5" fmla="*/ 0 h 248"/>
                  <a:gd name="T6" fmla="*/ 0 w 248"/>
                  <a:gd name="T7" fmla="*/ 0 h 248"/>
                  <a:gd name="T8" fmla="*/ 0 w 248"/>
                  <a:gd name="T9" fmla="*/ 0 h 248"/>
                  <a:gd name="T10" fmla="*/ 0 w 248"/>
                  <a:gd name="T11" fmla="*/ 0 h 2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8" h="248">
                    <a:moveTo>
                      <a:pt x="0" y="248"/>
                    </a:moveTo>
                    <a:lnTo>
                      <a:pt x="248" y="0"/>
                    </a:lnTo>
                    <a:lnTo>
                      <a:pt x="248" y="60"/>
                    </a:lnTo>
                    <a:lnTo>
                      <a:pt x="59" y="248"/>
                    </a:lnTo>
                    <a:lnTo>
                      <a:pt x="8" y="248"/>
                    </a:lnTo>
                    <a:lnTo>
                      <a:pt x="0" y="2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00" name="Freeform 4218"/>
              <p:cNvSpPr>
                <a:spLocks noChangeAspect="1"/>
              </p:cNvSpPr>
              <p:nvPr/>
            </p:nvSpPr>
            <p:spPr bwMode="auto">
              <a:xfrm>
                <a:off x="5512" y="1189"/>
                <a:ext cx="72" cy="73"/>
              </a:xfrm>
              <a:custGeom>
                <a:avLst/>
                <a:gdLst>
                  <a:gd name="T0" fmla="*/ 0 w 218"/>
                  <a:gd name="T1" fmla="*/ 0 h 218"/>
                  <a:gd name="T2" fmla="*/ 0 w 218"/>
                  <a:gd name="T3" fmla="*/ 0 h 218"/>
                  <a:gd name="T4" fmla="*/ 0 w 218"/>
                  <a:gd name="T5" fmla="*/ 0 h 218"/>
                  <a:gd name="T6" fmla="*/ 0 w 218"/>
                  <a:gd name="T7" fmla="*/ 0 h 218"/>
                  <a:gd name="T8" fmla="*/ 0 w 218"/>
                  <a:gd name="T9" fmla="*/ 0 h 2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 h="218">
                    <a:moveTo>
                      <a:pt x="0" y="218"/>
                    </a:moveTo>
                    <a:lnTo>
                      <a:pt x="218" y="0"/>
                    </a:lnTo>
                    <a:lnTo>
                      <a:pt x="218" y="59"/>
                    </a:lnTo>
                    <a:lnTo>
                      <a:pt x="59" y="218"/>
                    </a:lnTo>
                    <a:lnTo>
                      <a:pt x="0" y="21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01" name="Freeform 4219"/>
              <p:cNvSpPr>
                <a:spLocks noChangeAspect="1"/>
              </p:cNvSpPr>
              <p:nvPr/>
            </p:nvSpPr>
            <p:spPr bwMode="auto">
              <a:xfrm>
                <a:off x="5521" y="1199"/>
                <a:ext cx="63" cy="63"/>
              </a:xfrm>
              <a:custGeom>
                <a:avLst/>
                <a:gdLst>
                  <a:gd name="T0" fmla="*/ 0 w 189"/>
                  <a:gd name="T1" fmla="*/ 0 h 188"/>
                  <a:gd name="T2" fmla="*/ 0 w 189"/>
                  <a:gd name="T3" fmla="*/ 0 h 188"/>
                  <a:gd name="T4" fmla="*/ 0 w 189"/>
                  <a:gd name="T5" fmla="*/ 0 h 188"/>
                  <a:gd name="T6" fmla="*/ 0 w 189"/>
                  <a:gd name="T7" fmla="*/ 0 h 188"/>
                  <a:gd name="T8" fmla="*/ 0 w 189"/>
                  <a:gd name="T9" fmla="*/ 0 h 1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 h="188">
                    <a:moveTo>
                      <a:pt x="0" y="188"/>
                    </a:moveTo>
                    <a:lnTo>
                      <a:pt x="189" y="0"/>
                    </a:lnTo>
                    <a:lnTo>
                      <a:pt x="189" y="58"/>
                    </a:lnTo>
                    <a:lnTo>
                      <a:pt x="60" y="188"/>
                    </a:lnTo>
                    <a:lnTo>
                      <a:pt x="0" y="18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02" name="Freeform 4220"/>
              <p:cNvSpPr>
                <a:spLocks noChangeAspect="1"/>
              </p:cNvSpPr>
              <p:nvPr/>
            </p:nvSpPr>
            <p:spPr bwMode="auto">
              <a:xfrm>
                <a:off x="5531" y="1209"/>
                <a:ext cx="53" cy="53"/>
              </a:xfrm>
              <a:custGeom>
                <a:avLst/>
                <a:gdLst>
                  <a:gd name="T0" fmla="*/ 0 w 159"/>
                  <a:gd name="T1" fmla="*/ 0 h 159"/>
                  <a:gd name="T2" fmla="*/ 0 w 159"/>
                  <a:gd name="T3" fmla="*/ 0 h 159"/>
                  <a:gd name="T4" fmla="*/ 0 w 159"/>
                  <a:gd name="T5" fmla="*/ 0 h 159"/>
                  <a:gd name="T6" fmla="*/ 0 w 159"/>
                  <a:gd name="T7" fmla="*/ 0 h 159"/>
                  <a:gd name="T8" fmla="*/ 0 w 159"/>
                  <a:gd name="T9" fmla="*/ 0 h 1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 h="159">
                    <a:moveTo>
                      <a:pt x="0" y="159"/>
                    </a:moveTo>
                    <a:lnTo>
                      <a:pt x="159" y="0"/>
                    </a:lnTo>
                    <a:lnTo>
                      <a:pt x="159" y="59"/>
                    </a:lnTo>
                    <a:lnTo>
                      <a:pt x="59" y="159"/>
                    </a:lnTo>
                    <a:lnTo>
                      <a:pt x="0" y="15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03" name="Freeform 4221"/>
              <p:cNvSpPr>
                <a:spLocks noChangeAspect="1"/>
              </p:cNvSpPr>
              <p:nvPr/>
            </p:nvSpPr>
            <p:spPr bwMode="auto">
              <a:xfrm>
                <a:off x="5541" y="1218"/>
                <a:ext cx="43" cy="44"/>
              </a:xfrm>
              <a:custGeom>
                <a:avLst/>
                <a:gdLst>
                  <a:gd name="T0" fmla="*/ 0 w 129"/>
                  <a:gd name="T1" fmla="*/ 0 h 130"/>
                  <a:gd name="T2" fmla="*/ 0 w 129"/>
                  <a:gd name="T3" fmla="*/ 0 h 130"/>
                  <a:gd name="T4" fmla="*/ 0 w 129"/>
                  <a:gd name="T5" fmla="*/ 0 h 130"/>
                  <a:gd name="T6" fmla="*/ 0 w 129"/>
                  <a:gd name="T7" fmla="*/ 0 h 130"/>
                  <a:gd name="T8" fmla="*/ 0 w 129"/>
                  <a:gd name="T9" fmla="*/ 0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9" h="130">
                    <a:moveTo>
                      <a:pt x="0" y="130"/>
                    </a:moveTo>
                    <a:lnTo>
                      <a:pt x="129" y="0"/>
                    </a:lnTo>
                    <a:lnTo>
                      <a:pt x="129" y="60"/>
                    </a:lnTo>
                    <a:lnTo>
                      <a:pt x="59" y="130"/>
                    </a:lnTo>
                    <a:lnTo>
                      <a:pt x="0" y="13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04" name="Freeform 4222"/>
              <p:cNvSpPr>
                <a:spLocks noChangeAspect="1"/>
              </p:cNvSpPr>
              <p:nvPr/>
            </p:nvSpPr>
            <p:spPr bwMode="auto">
              <a:xfrm>
                <a:off x="5551" y="1228"/>
                <a:ext cx="33" cy="34"/>
              </a:xfrm>
              <a:custGeom>
                <a:avLst/>
                <a:gdLst>
                  <a:gd name="T0" fmla="*/ 0 w 100"/>
                  <a:gd name="T1" fmla="*/ 0 h 100"/>
                  <a:gd name="T2" fmla="*/ 0 w 100"/>
                  <a:gd name="T3" fmla="*/ 0 h 100"/>
                  <a:gd name="T4" fmla="*/ 0 w 100"/>
                  <a:gd name="T5" fmla="*/ 0 h 100"/>
                  <a:gd name="T6" fmla="*/ 0 w 100"/>
                  <a:gd name="T7" fmla="*/ 0 h 100"/>
                  <a:gd name="T8" fmla="*/ 0 w 100"/>
                  <a:gd name="T9" fmla="*/ 0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 h="100">
                    <a:moveTo>
                      <a:pt x="0" y="100"/>
                    </a:moveTo>
                    <a:lnTo>
                      <a:pt x="100" y="0"/>
                    </a:lnTo>
                    <a:lnTo>
                      <a:pt x="100" y="59"/>
                    </a:lnTo>
                    <a:lnTo>
                      <a:pt x="59" y="100"/>
                    </a:lnTo>
                    <a:lnTo>
                      <a:pt x="0" y="1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05" name="Freeform 4223"/>
              <p:cNvSpPr>
                <a:spLocks noChangeAspect="1"/>
              </p:cNvSpPr>
              <p:nvPr/>
            </p:nvSpPr>
            <p:spPr bwMode="auto">
              <a:xfrm>
                <a:off x="5561" y="1238"/>
                <a:ext cx="23" cy="24"/>
              </a:xfrm>
              <a:custGeom>
                <a:avLst/>
                <a:gdLst>
                  <a:gd name="T0" fmla="*/ 0 w 70"/>
                  <a:gd name="T1" fmla="*/ 0 h 70"/>
                  <a:gd name="T2" fmla="*/ 0 w 70"/>
                  <a:gd name="T3" fmla="*/ 0 h 70"/>
                  <a:gd name="T4" fmla="*/ 0 w 70"/>
                  <a:gd name="T5" fmla="*/ 0 h 70"/>
                  <a:gd name="T6" fmla="*/ 0 w 70"/>
                  <a:gd name="T7" fmla="*/ 0 h 70"/>
                  <a:gd name="T8" fmla="*/ 0 w 70"/>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70">
                    <a:moveTo>
                      <a:pt x="0" y="70"/>
                    </a:moveTo>
                    <a:lnTo>
                      <a:pt x="70" y="0"/>
                    </a:lnTo>
                    <a:lnTo>
                      <a:pt x="70" y="59"/>
                    </a:lnTo>
                    <a:lnTo>
                      <a:pt x="59" y="70"/>
                    </a:lnTo>
                    <a:lnTo>
                      <a:pt x="0" y="7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06" name="Freeform 4224"/>
              <p:cNvSpPr>
                <a:spLocks noChangeAspect="1"/>
              </p:cNvSpPr>
              <p:nvPr/>
            </p:nvSpPr>
            <p:spPr bwMode="auto">
              <a:xfrm>
                <a:off x="5571" y="1248"/>
                <a:ext cx="13" cy="14"/>
              </a:xfrm>
              <a:custGeom>
                <a:avLst/>
                <a:gdLst>
                  <a:gd name="T0" fmla="*/ 0 w 41"/>
                  <a:gd name="T1" fmla="*/ 0 h 41"/>
                  <a:gd name="T2" fmla="*/ 0 w 41"/>
                  <a:gd name="T3" fmla="*/ 0 h 41"/>
                  <a:gd name="T4" fmla="*/ 0 w 41"/>
                  <a:gd name="T5" fmla="*/ 0 h 41"/>
                  <a:gd name="T6" fmla="*/ 0 w 41"/>
                  <a:gd name="T7" fmla="*/ 0 h 4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1" h="41">
                    <a:moveTo>
                      <a:pt x="0" y="41"/>
                    </a:moveTo>
                    <a:lnTo>
                      <a:pt x="41" y="0"/>
                    </a:lnTo>
                    <a:lnTo>
                      <a:pt x="41" y="41"/>
                    </a:lnTo>
                    <a:lnTo>
                      <a:pt x="0" y="4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07" name="Freeform 4225"/>
              <p:cNvSpPr>
                <a:spLocks noChangeAspect="1"/>
              </p:cNvSpPr>
              <p:nvPr/>
            </p:nvSpPr>
            <p:spPr bwMode="auto">
              <a:xfrm>
                <a:off x="5208" y="1157"/>
                <a:ext cx="376" cy="105"/>
              </a:xfrm>
              <a:custGeom>
                <a:avLst/>
                <a:gdLst>
                  <a:gd name="T0" fmla="*/ 0 w 1128"/>
                  <a:gd name="T1" fmla="*/ 0 h 315"/>
                  <a:gd name="T2" fmla="*/ 0 w 1128"/>
                  <a:gd name="T3" fmla="*/ 0 h 315"/>
                  <a:gd name="T4" fmla="*/ 0 w 1128"/>
                  <a:gd name="T5" fmla="*/ 0 h 315"/>
                  <a:gd name="T6" fmla="*/ 0 w 1128"/>
                  <a:gd name="T7" fmla="*/ 0 h 315"/>
                  <a:gd name="T8" fmla="*/ 0 w 1128"/>
                  <a:gd name="T9" fmla="*/ 0 h 315"/>
                  <a:gd name="T10" fmla="*/ 0 w 1128"/>
                  <a:gd name="T11" fmla="*/ 0 h 315"/>
                  <a:gd name="T12" fmla="*/ 0 w 1128"/>
                  <a:gd name="T13" fmla="*/ 0 h 315"/>
                  <a:gd name="T14" fmla="*/ 0 w 1128"/>
                  <a:gd name="T15" fmla="*/ 0 h 315"/>
                  <a:gd name="T16" fmla="*/ 0 w 1128"/>
                  <a:gd name="T17" fmla="*/ 0 h 3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28" h="315">
                    <a:moveTo>
                      <a:pt x="0" y="0"/>
                    </a:moveTo>
                    <a:lnTo>
                      <a:pt x="93" y="0"/>
                    </a:lnTo>
                    <a:lnTo>
                      <a:pt x="561" y="0"/>
                    </a:lnTo>
                    <a:lnTo>
                      <a:pt x="1128" y="0"/>
                    </a:lnTo>
                    <a:lnTo>
                      <a:pt x="1128" y="315"/>
                    </a:lnTo>
                    <a:lnTo>
                      <a:pt x="888" y="315"/>
                    </a:lnTo>
                    <a:lnTo>
                      <a:pt x="217" y="315"/>
                    </a:lnTo>
                    <a:lnTo>
                      <a:pt x="0" y="315"/>
                    </a:lnTo>
                    <a:lnTo>
                      <a:pt x="0" y="0"/>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grpSp>
        <p:grpSp>
          <p:nvGrpSpPr>
            <p:cNvPr id="386465" name="Group 4226"/>
            <p:cNvGrpSpPr>
              <a:grpSpLocks noChangeAspect="1"/>
            </p:cNvGrpSpPr>
            <p:nvPr/>
          </p:nvGrpSpPr>
          <p:grpSpPr bwMode="auto">
            <a:xfrm>
              <a:off x="2635" y="2391"/>
              <a:ext cx="331" cy="411"/>
              <a:chOff x="2673" y="2287"/>
              <a:chExt cx="386" cy="486"/>
            </a:xfrm>
          </p:grpSpPr>
          <p:grpSp>
            <p:nvGrpSpPr>
              <p:cNvPr id="387149" name="Group 4227"/>
              <p:cNvGrpSpPr>
                <a:grpSpLocks noChangeAspect="1"/>
              </p:cNvGrpSpPr>
              <p:nvPr/>
            </p:nvGrpSpPr>
            <p:grpSpPr bwMode="auto">
              <a:xfrm>
                <a:off x="2673" y="2287"/>
                <a:ext cx="105" cy="326"/>
                <a:chOff x="2673" y="2287"/>
                <a:chExt cx="105" cy="326"/>
              </a:xfrm>
            </p:grpSpPr>
            <p:sp>
              <p:nvSpPr>
                <p:cNvPr id="68740" name="Freeform 4228"/>
                <p:cNvSpPr>
                  <a:spLocks noChangeAspect="1"/>
                </p:cNvSpPr>
                <p:nvPr/>
              </p:nvSpPr>
              <p:spPr bwMode="auto">
                <a:xfrm>
                  <a:off x="2673" y="2287"/>
                  <a:ext cx="2" cy="13"/>
                </a:xfrm>
                <a:custGeom>
                  <a:avLst/>
                  <a:gdLst>
                    <a:gd name="T0" fmla="*/ 0 w 8"/>
                    <a:gd name="T1" fmla="*/ 0 h 46"/>
                    <a:gd name="T2" fmla="*/ 8 w 8"/>
                    <a:gd name="T3" fmla="*/ 0 h 46"/>
                    <a:gd name="T4" fmla="*/ 8 w 8"/>
                    <a:gd name="T5" fmla="*/ 46 h 46"/>
                    <a:gd name="T6" fmla="*/ 0 w 8"/>
                    <a:gd name="T7" fmla="*/ 0 h 46"/>
                  </a:gdLst>
                  <a:ahLst/>
                  <a:cxnLst>
                    <a:cxn ang="0">
                      <a:pos x="T0" y="T1"/>
                    </a:cxn>
                    <a:cxn ang="0">
                      <a:pos x="T2" y="T3"/>
                    </a:cxn>
                    <a:cxn ang="0">
                      <a:pos x="T4" y="T5"/>
                    </a:cxn>
                    <a:cxn ang="0">
                      <a:pos x="T6" y="T7"/>
                    </a:cxn>
                  </a:cxnLst>
                  <a:rect l="0" t="0" r="r" b="b"/>
                  <a:pathLst>
                    <a:path w="8" h="46">
                      <a:moveTo>
                        <a:pt x="0" y="0"/>
                      </a:moveTo>
                      <a:lnTo>
                        <a:pt x="8" y="0"/>
                      </a:lnTo>
                      <a:lnTo>
                        <a:pt x="8" y="46"/>
                      </a:lnTo>
                      <a:lnTo>
                        <a:pt x="0" y="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41" name="Freeform 4229"/>
                <p:cNvSpPr>
                  <a:spLocks noChangeAspect="1"/>
                </p:cNvSpPr>
                <p:nvPr/>
              </p:nvSpPr>
              <p:spPr bwMode="auto">
                <a:xfrm>
                  <a:off x="2673" y="2287"/>
                  <a:ext cx="3" cy="25"/>
                </a:xfrm>
                <a:custGeom>
                  <a:avLst/>
                  <a:gdLst>
                    <a:gd name="T0" fmla="*/ 0 w 15"/>
                    <a:gd name="T1" fmla="*/ 0 h 92"/>
                    <a:gd name="T2" fmla="*/ 15 w 15"/>
                    <a:gd name="T3" fmla="*/ 0 h 92"/>
                    <a:gd name="T4" fmla="*/ 15 w 15"/>
                    <a:gd name="T5" fmla="*/ 92 h 92"/>
                    <a:gd name="T6" fmla="*/ 0 w 15"/>
                    <a:gd name="T7" fmla="*/ 0 h 92"/>
                  </a:gdLst>
                  <a:ahLst/>
                  <a:cxnLst>
                    <a:cxn ang="0">
                      <a:pos x="T0" y="T1"/>
                    </a:cxn>
                    <a:cxn ang="0">
                      <a:pos x="T2" y="T3"/>
                    </a:cxn>
                    <a:cxn ang="0">
                      <a:pos x="T4" y="T5"/>
                    </a:cxn>
                    <a:cxn ang="0">
                      <a:pos x="T6" y="T7"/>
                    </a:cxn>
                  </a:cxnLst>
                  <a:rect l="0" t="0" r="r" b="b"/>
                  <a:pathLst>
                    <a:path w="15" h="92">
                      <a:moveTo>
                        <a:pt x="0" y="0"/>
                      </a:moveTo>
                      <a:lnTo>
                        <a:pt x="15" y="0"/>
                      </a:lnTo>
                      <a:lnTo>
                        <a:pt x="15" y="92"/>
                      </a:lnTo>
                      <a:lnTo>
                        <a:pt x="0" y="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42" name="Freeform 4230"/>
                <p:cNvSpPr>
                  <a:spLocks noChangeAspect="1"/>
                </p:cNvSpPr>
                <p:nvPr/>
              </p:nvSpPr>
              <p:spPr bwMode="auto">
                <a:xfrm>
                  <a:off x="2675" y="2287"/>
                  <a:ext cx="1" cy="35"/>
                </a:xfrm>
                <a:custGeom>
                  <a:avLst/>
                  <a:gdLst>
                    <a:gd name="T0" fmla="*/ 0 w 16"/>
                    <a:gd name="T1" fmla="*/ 46 h 137"/>
                    <a:gd name="T2" fmla="*/ 0 w 16"/>
                    <a:gd name="T3" fmla="*/ 0 h 137"/>
                    <a:gd name="T4" fmla="*/ 16 w 16"/>
                    <a:gd name="T5" fmla="*/ 0 h 137"/>
                    <a:gd name="T6" fmla="*/ 16 w 16"/>
                    <a:gd name="T7" fmla="*/ 137 h 137"/>
                    <a:gd name="T8" fmla="*/ 0 w 16"/>
                    <a:gd name="T9" fmla="*/ 46 h 137"/>
                  </a:gdLst>
                  <a:ahLst/>
                  <a:cxnLst>
                    <a:cxn ang="0">
                      <a:pos x="T0" y="T1"/>
                    </a:cxn>
                    <a:cxn ang="0">
                      <a:pos x="T2" y="T3"/>
                    </a:cxn>
                    <a:cxn ang="0">
                      <a:pos x="T4" y="T5"/>
                    </a:cxn>
                    <a:cxn ang="0">
                      <a:pos x="T6" y="T7"/>
                    </a:cxn>
                    <a:cxn ang="0">
                      <a:pos x="T8" y="T9"/>
                    </a:cxn>
                  </a:cxnLst>
                  <a:rect l="0" t="0" r="r" b="b"/>
                  <a:pathLst>
                    <a:path w="16" h="137">
                      <a:moveTo>
                        <a:pt x="0" y="46"/>
                      </a:moveTo>
                      <a:lnTo>
                        <a:pt x="0" y="0"/>
                      </a:lnTo>
                      <a:lnTo>
                        <a:pt x="16" y="0"/>
                      </a:lnTo>
                      <a:lnTo>
                        <a:pt x="16" y="137"/>
                      </a:lnTo>
                      <a:lnTo>
                        <a:pt x="0" y="4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43" name="Freeform 4231"/>
                <p:cNvSpPr>
                  <a:spLocks noChangeAspect="1"/>
                </p:cNvSpPr>
                <p:nvPr/>
              </p:nvSpPr>
              <p:spPr bwMode="auto">
                <a:xfrm>
                  <a:off x="2676" y="2287"/>
                  <a:ext cx="5" cy="48"/>
                </a:xfrm>
                <a:custGeom>
                  <a:avLst/>
                  <a:gdLst>
                    <a:gd name="T0" fmla="*/ 0 w 17"/>
                    <a:gd name="T1" fmla="*/ 92 h 183"/>
                    <a:gd name="T2" fmla="*/ 0 w 17"/>
                    <a:gd name="T3" fmla="*/ 0 h 183"/>
                    <a:gd name="T4" fmla="*/ 17 w 17"/>
                    <a:gd name="T5" fmla="*/ 0 h 183"/>
                    <a:gd name="T6" fmla="*/ 17 w 17"/>
                    <a:gd name="T7" fmla="*/ 183 h 183"/>
                    <a:gd name="T8" fmla="*/ 0 w 17"/>
                    <a:gd name="T9" fmla="*/ 92 h 183"/>
                  </a:gdLst>
                  <a:ahLst/>
                  <a:cxnLst>
                    <a:cxn ang="0">
                      <a:pos x="T0" y="T1"/>
                    </a:cxn>
                    <a:cxn ang="0">
                      <a:pos x="T2" y="T3"/>
                    </a:cxn>
                    <a:cxn ang="0">
                      <a:pos x="T4" y="T5"/>
                    </a:cxn>
                    <a:cxn ang="0">
                      <a:pos x="T6" y="T7"/>
                    </a:cxn>
                    <a:cxn ang="0">
                      <a:pos x="T8" y="T9"/>
                    </a:cxn>
                  </a:cxnLst>
                  <a:rect l="0" t="0" r="r" b="b"/>
                  <a:pathLst>
                    <a:path w="17" h="183">
                      <a:moveTo>
                        <a:pt x="0" y="92"/>
                      </a:moveTo>
                      <a:lnTo>
                        <a:pt x="0" y="0"/>
                      </a:lnTo>
                      <a:lnTo>
                        <a:pt x="17" y="0"/>
                      </a:lnTo>
                      <a:lnTo>
                        <a:pt x="17" y="183"/>
                      </a:lnTo>
                      <a:lnTo>
                        <a:pt x="0" y="9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44" name="Freeform 4232"/>
                <p:cNvSpPr>
                  <a:spLocks noChangeAspect="1"/>
                </p:cNvSpPr>
                <p:nvPr/>
              </p:nvSpPr>
              <p:spPr bwMode="auto">
                <a:xfrm>
                  <a:off x="2679" y="2287"/>
                  <a:ext cx="5" cy="60"/>
                </a:xfrm>
                <a:custGeom>
                  <a:avLst/>
                  <a:gdLst>
                    <a:gd name="T0" fmla="*/ 0 w 17"/>
                    <a:gd name="T1" fmla="*/ 137 h 228"/>
                    <a:gd name="T2" fmla="*/ 0 w 17"/>
                    <a:gd name="T3" fmla="*/ 0 h 228"/>
                    <a:gd name="T4" fmla="*/ 17 w 17"/>
                    <a:gd name="T5" fmla="*/ 0 h 228"/>
                    <a:gd name="T6" fmla="*/ 17 w 17"/>
                    <a:gd name="T7" fmla="*/ 228 h 228"/>
                    <a:gd name="T8" fmla="*/ 0 w 17"/>
                    <a:gd name="T9" fmla="*/ 137 h 228"/>
                  </a:gdLst>
                  <a:ahLst/>
                  <a:cxnLst>
                    <a:cxn ang="0">
                      <a:pos x="T0" y="T1"/>
                    </a:cxn>
                    <a:cxn ang="0">
                      <a:pos x="T2" y="T3"/>
                    </a:cxn>
                    <a:cxn ang="0">
                      <a:pos x="T4" y="T5"/>
                    </a:cxn>
                    <a:cxn ang="0">
                      <a:pos x="T6" y="T7"/>
                    </a:cxn>
                    <a:cxn ang="0">
                      <a:pos x="T8" y="T9"/>
                    </a:cxn>
                  </a:cxnLst>
                  <a:rect l="0" t="0" r="r" b="b"/>
                  <a:pathLst>
                    <a:path w="17" h="228">
                      <a:moveTo>
                        <a:pt x="0" y="137"/>
                      </a:moveTo>
                      <a:lnTo>
                        <a:pt x="0" y="0"/>
                      </a:lnTo>
                      <a:lnTo>
                        <a:pt x="17" y="0"/>
                      </a:lnTo>
                      <a:lnTo>
                        <a:pt x="17" y="228"/>
                      </a:lnTo>
                      <a:lnTo>
                        <a:pt x="0" y="13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45" name="Freeform 4233"/>
                <p:cNvSpPr>
                  <a:spLocks noChangeAspect="1"/>
                </p:cNvSpPr>
                <p:nvPr/>
              </p:nvSpPr>
              <p:spPr bwMode="auto">
                <a:xfrm>
                  <a:off x="2681" y="2287"/>
                  <a:ext cx="2" cy="73"/>
                </a:xfrm>
                <a:custGeom>
                  <a:avLst/>
                  <a:gdLst>
                    <a:gd name="T0" fmla="*/ 0 w 18"/>
                    <a:gd name="T1" fmla="*/ 183 h 274"/>
                    <a:gd name="T2" fmla="*/ 0 w 18"/>
                    <a:gd name="T3" fmla="*/ 0 h 274"/>
                    <a:gd name="T4" fmla="*/ 18 w 18"/>
                    <a:gd name="T5" fmla="*/ 0 h 274"/>
                    <a:gd name="T6" fmla="*/ 18 w 18"/>
                    <a:gd name="T7" fmla="*/ 274 h 274"/>
                    <a:gd name="T8" fmla="*/ 0 w 18"/>
                    <a:gd name="T9" fmla="*/ 183 h 274"/>
                  </a:gdLst>
                  <a:ahLst/>
                  <a:cxnLst>
                    <a:cxn ang="0">
                      <a:pos x="T0" y="T1"/>
                    </a:cxn>
                    <a:cxn ang="0">
                      <a:pos x="T2" y="T3"/>
                    </a:cxn>
                    <a:cxn ang="0">
                      <a:pos x="T4" y="T5"/>
                    </a:cxn>
                    <a:cxn ang="0">
                      <a:pos x="T6" y="T7"/>
                    </a:cxn>
                    <a:cxn ang="0">
                      <a:pos x="T8" y="T9"/>
                    </a:cxn>
                  </a:cxnLst>
                  <a:rect l="0" t="0" r="r" b="b"/>
                  <a:pathLst>
                    <a:path w="18" h="274">
                      <a:moveTo>
                        <a:pt x="0" y="183"/>
                      </a:moveTo>
                      <a:lnTo>
                        <a:pt x="0" y="0"/>
                      </a:lnTo>
                      <a:lnTo>
                        <a:pt x="18" y="0"/>
                      </a:lnTo>
                      <a:lnTo>
                        <a:pt x="18" y="274"/>
                      </a:lnTo>
                      <a:lnTo>
                        <a:pt x="0" y="183"/>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46" name="Freeform 4234"/>
                <p:cNvSpPr>
                  <a:spLocks noChangeAspect="1"/>
                </p:cNvSpPr>
                <p:nvPr/>
              </p:nvSpPr>
              <p:spPr bwMode="auto">
                <a:xfrm>
                  <a:off x="2683" y="2287"/>
                  <a:ext cx="0" cy="85"/>
                </a:xfrm>
                <a:custGeom>
                  <a:avLst/>
                  <a:gdLst>
                    <a:gd name="T0" fmla="*/ 0 w 17"/>
                    <a:gd name="T1" fmla="*/ 228 h 319"/>
                    <a:gd name="T2" fmla="*/ 0 w 17"/>
                    <a:gd name="T3" fmla="*/ 0 h 319"/>
                    <a:gd name="T4" fmla="*/ 17 w 17"/>
                    <a:gd name="T5" fmla="*/ 0 h 319"/>
                    <a:gd name="T6" fmla="*/ 17 w 17"/>
                    <a:gd name="T7" fmla="*/ 319 h 319"/>
                    <a:gd name="T8" fmla="*/ 0 w 17"/>
                    <a:gd name="T9" fmla="*/ 228 h 319"/>
                  </a:gdLst>
                  <a:ahLst/>
                  <a:cxnLst>
                    <a:cxn ang="0">
                      <a:pos x="T0" y="T1"/>
                    </a:cxn>
                    <a:cxn ang="0">
                      <a:pos x="T2" y="T3"/>
                    </a:cxn>
                    <a:cxn ang="0">
                      <a:pos x="T4" y="T5"/>
                    </a:cxn>
                    <a:cxn ang="0">
                      <a:pos x="T6" y="T7"/>
                    </a:cxn>
                    <a:cxn ang="0">
                      <a:pos x="T8" y="T9"/>
                    </a:cxn>
                  </a:cxnLst>
                  <a:rect l="0" t="0" r="r" b="b"/>
                  <a:pathLst>
                    <a:path w="17" h="319">
                      <a:moveTo>
                        <a:pt x="0" y="228"/>
                      </a:moveTo>
                      <a:lnTo>
                        <a:pt x="0" y="0"/>
                      </a:lnTo>
                      <a:lnTo>
                        <a:pt x="17" y="0"/>
                      </a:lnTo>
                      <a:lnTo>
                        <a:pt x="17" y="319"/>
                      </a:lnTo>
                      <a:lnTo>
                        <a:pt x="0" y="22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47" name="Freeform 4235"/>
                <p:cNvSpPr>
                  <a:spLocks noChangeAspect="1"/>
                </p:cNvSpPr>
                <p:nvPr/>
              </p:nvSpPr>
              <p:spPr bwMode="auto">
                <a:xfrm>
                  <a:off x="2685" y="2287"/>
                  <a:ext cx="6" cy="97"/>
                </a:xfrm>
                <a:custGeom>
                  <a:avLst/>
                  <a:gdLst>
                    <a:gd name="T0" fmla="*/ 0 w 15"/>
                    <a:gd name="T1" fmla="*/ 274 h 365"/>
                    <a:gd name="T2" fmla="*/ 0 w 15"/>
                    <a:gd name="T3" fmla="*/ 0 h 365"/>
                    <a:gd name="T4" fmla="*/ 15 w 15"/>
                    <a:gd name="T5" fmla="*/ 0 h 365"/>
                    <a:gd name="T6" fmla="*/ 15 w 15"/>
                    <a:gd name="T7" fmla="*/ 365 h 365"/>
                    <a:gd name="T8" fmla="*/ 0 w 15"/>
                    <a:gd name="T9" fmla="*/ 274 h 365"/>
                  </a:gdLst>
                  <a:ahLst/>
                  <a:cxnLst>
                    <a:cxn ang="0">
                      <a:pos x="T0" y="T1"/>
                    </a:cxn>
                    <a:cxn ang="0">
                      <a:pos x="T2" y="T3"/>
                    </a:cxn>
                    <a:cxn ang="0">
                      <a:pos x="T4" y="T5"/>
                    </a:cxn>
                    <a:cxn ang="0">
                      <a:pos x="T6" y="T7"/>
                    </a:cxn>
                    <a:cxn ang="0">
                      <a:pos x="T8" y="T9"/>
                    </a:cxn>
                  </a:cxnLst>
                  <a:rect l="0" t="0" r="r" b="b"/>
                  <a:pathLst>
                    <a:path w="15" h="365">
                      <a:moveTo>
                        <a:pt x="0" y="274"/>
                      </a:moveTo>
                      <a:lnTo>
                        <a:pt x="0" y="0"/>
                      </a:lnTo>
                      <a:lnTo>
                        <a:pt x="15" y="0"/>
                      </a:lnTo>
                      <a:lnTo>
                        <a:pt x="15" y="365"/>
                      </a:lnTo>
                      <a:lnTo>
                        <a:pt x="0" y="27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48" name="Freeform 4236"/>
                <p:cNvSpPr>
                  <a:spLocks noChangeAspect="1"/>
                </p:cNvSpPr>
                <p:nvPr/>
              </p:nvSpPr>
              <p:spPr bwMode="auto">
                <a:xfrm>
                  <a:off x="2687" y="2287"/>
                  <a:ext cx="3" cy="108"/>
                </a:xfrm>
                <a:custGeom>
                  <a:avLst/>
                  <a:gdLst>
                    <a:gd name="T0" fmla="*/ 0 w 16"/>
                    <a:gd name="T1" fmla="*/ 319 h 411"/>
                    <a:gd name="T2" fmla="*/ 0 w 16"/>
                    <a:gd name="T3" fmla="*/ 0 h 411"/>
                    <a:gd name="T4" fmla="*/ 16 w 16"/>
                    <a:gd name="T5" fmla="*/ 0 h 411"/>
                    <a:gd name="T6" fmla="*/ 16 w 16"/>
                    <a:gd name="T7" fmla="*/ 411 h 411"/>
                    <a:gd name="T8" fmla="*/ 0 w 16"/>
                    <a:gd name="T9" fmla="*/ 319 h 411"/>
                  </a:gdLst>
                  <a:ahLst/>
                  <a:cxnLst>
                    <a:cxn ang="0">
                      <a:pos x="T0" y="T1"/>
                    </a:cxn>
                    <a:cxn ang="0">
                      <a:pos x="T2" y="T3"/>
                    </a:cxn>
                    <a:cxn ang="0">
                      <a:pos x="T4" y="T5"/>
                    </a:cxn>
                    <a:cxn ang="0">
                      <a:pos x="T6" y="T7"/>
                    </a:cxn>
                    <a:cxn ang="0">
                      <a:pos x="T8" y="T9"/>
                    </a:cxn>
                  </a:cxnLst>
                  <a:rect l="0" t="0" r="r" b="b"/>
                  <a:pathLst>
                    <a:path w="16" h="411">
                      <a:moveTo>
                        <a:pt x="0" y="319"/>
                      </a:moveTo>
                      <a:lnTo>
                        <a:pt x="0" y="0"/>
                      </a:lnTo>
                      <a:lnTo>
                        <a:pt x="16" y="0"/>
                      </a:lnTo>
                      <a:lnTo>
                        <a:pt x="16" y="411"/>
                      </a:lnTo>
                      <a:lnTo>
                        <a:pt x="0" y="319"/>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49" name="Freeform 4237"/>
                <p:cNvSpPr>
                  <a:spLocks noChangeAspect="1"/>
                </p:cNvSpPr>
                <p:nvPr/>
              </p:nvSpPr>
              <p:spPr bwMode="auto">
                <a:xfrm>
                  <a:off x="2689" y="2287"/>
                  <a:ext cx="5" cy="121"/>
                </a:xfrm>
                <a:custGeom>
                  <a:avLst/>
                  <a:gdLst>
                    <a:gd name="T0" fmla="*/ 0 w 18"/>
                    <a:gd name="T1" fmla="*/ 365 h 456"/>
                    <a:gd name="T2" fmla="*/ 0 w 18"/>
                    <a:gd name="T3" fmla="*/ 0 h 456"/>
                    <a:gd name="T4" fmla="*/ 18 w 18"/>
                    <a:gd name="T5" fmla="*/ 0 h 456"/>
                    <a:gd name="T6" fmla="*/ 18 w 18"/>
                    <a:gd name="T7" fmla="*/ 456 h 456"/>
                    <a:gd name="T8" fmla="*/ 0 w 18"/>
                    <a:gd name="T9" fmla="*/ 365 h 456"/>
                  </a:gdLst>
                  <a:ahLst/>
                  <a:cxnLst>
                    <a:cxn ang="0">
                      <a:pos x="T0" y="T1"/>
                    </a:cxn>
                    <a:cxn ang="0">
                      <a:pos x="T2" y="T3"/>
                    </a:cxn>
                    <a:cxn ang="0">
                      <a:pos x="T4" y="T5"/>
                    </a:cxn>
                    <a:cxn ang="0">
                      <a:pos x="T6" y="T7"/>
                    </a:cxn>
                    <a:cxn ang="0">
                      <a:pos x="T8" y="T9"/>
                    </a:cxn>
                  </a:cxnLst>
                  <a:rect l="0" t="0" r="r" b="b"/>
                  <a:pathLst>
                    <a:path w="18" h="456">
                      <a:moveTo>
                        <a:pt x="0" y="365"/>
                      </a:moveTo>
                      <a:lnTo>
                        <a:pt x="0" y="0"/>
                      </a:lnTo>
                      <a:lnTo>
                        <a:pt x="18" y="0"/>
                      </a:lnTo>
                      <a:lnTo>
                        <a:pt x="18" y="456"/>
                      </a:lnTo>
                      <a:lnTo>
                        <a:pt x="0" y="365"/>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50" name="Freeform 4238"/>
                <p:cNvSpPr>
                  <a:spLocks noChangeAspect="1"/>
                </p:cNvSpPr>
                <p:nvPr/>
              </p:nvSpPr>
              <p:spPr bwMode="auto">
                <a:xfrm>
                  <a:off x="2690" y="2287"/>
                  <a:ext cx="6" cy="134"/>
                </a:xfrm>
                <a:custGeom>
                  <a:avLst/>
                  <a:gdLst>
                    <a:gd name="T0" fmla="*/ 0 w 17"/>
                    <a:gd name="T1" fmla="*/ 411 h 502"/>
                    <a:gd name="T2" fmla="*/ 0 w 17"/>
                    <a:gd name="T3" fmla="*/ 0 h 502"/>
                    <a:gd name="T4" fmla="*/ 17 w 17"/>
                    <a:gd name="T5" fmla="*/ 0 h 502"/>
                    <a:gd name="T6" fmla="*/ 17 w 17"/>
                    <a:gd name="T7" fmla="*/ 502 h 502"/>
                    <a:gd name="T8" fmla="*/ 0 w 17"/>
                    <a:gd name="T9" fmla="*/ 411 h 502"/>
                  </a:gdLst>
                  <a:ahLst/>
                  <a:cxnLst>
                    <a:cxn ang="0">
                      <a:pos x="T0" y="T1"/>
                    </a:cxn>
                    <a:cxn ang="0">
                      <a:pos x="T2" y="T3"/>
                    </a:cxn>
                    <a:cxn ang="0">
                      <a:pos x="T4" y="T5"/>
                    </a:cxn>
                    <a:cxn ang="0">
                      <a:pos x="T6" y="T7"/>
                    </a:cxn>
                    <a:cxn ang="0">
                      <a:pos x="T8" y="T9"/>
                    </a:cxn>
                  </a:cxnLst>
                  <a:rect l="0" t="0" r="r" b="b"/>
                  <a:pathLst>
                    <a:path w="17" h="502">
                      <a:moveTo>
                        <a:pt x="0" y="411"/>
                      </a:moveTo>
                      <a:lnTo>
                        <a:pt x="0" y="0"/>
                      </a:lnTo>
                      <a:lnTo>
                        <a:pt x="17" y="0"/>
                      </a:lnTo>
                      <a:lnTo>
                        <a:pt x="17" y="502"/>
                      </a:lnTo>
                      <a:lnTo>
                        <a:pt x="0" y="41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51" name="Freeform 4239"/>
                <p:cNvSpPr>
                  <a:spLocks noChangeAspect="1"/>
                </p:cNvSpPr>
                <p:nvPr/>
              </p:nvSpPr>
              <p:spPr bwMode="auto">
                <a:xfrm>
                  <a:off x="2694" y="2287"/>
                  <a:ext cx="3" cy="145"/>
                </a:xfrm>
                <a:custGeom>
                  <a:avLst/>
                  <a:gdLst>
                    <a:gd name="T0" fmla="*/ 0 w 17"/>
                    <a:gd name="T1" fmla="*/ 456 h 548"/>
                    <a:gd name="T2" fmla="*/ 0 w 17"/>
                    <a:gd name="T3" fmla="*/ 0 h 548"/>
                    <a:gd name="T4" fmla="*/ 17 w 17"/>
                    <a:gd name="T5" fmla="*/ 0 h 548"/>
                    <a:gd name="T6" fmla="*/ 17 w 17"/>
                    <a:gd name="T7" fmla="*/ 548 h 548"/>
                    <a:gd name="T8" fmla="*/ 0 w 17"/>
                    <a:gd name="T9" fmla="*/ 456 h 548"/>
                  </a:gdLst>
                  <a:ahLst/>
                  <a:cxnLst>
                    <a:cxn ang="0">
                      <a:pos x="T0" y="T1"/>
                    </a:cxn>
                    <a:cxn ang="0">
                      <a:pos x="T2" y="T3"/>
                    </a:cxn>
                    <a:cxn ang="0">
                      <a:pos x="T4" y="T5"/>
                    </a:cxn>
                    <a:cxn ang="0">
                      <a:pos x="T6" y="T7"/>
                    </a:cxn>
                    <a:cxn ang="0">
                      <a:pos x="T8" y="T9"/>
                    </a:cxn>
                  </a:cxnLst>
                  <a:rect l="0" t="0" r="r" b="b"/>
                  <a:pathLst>
                    <a:path w="17" h="548">
                      <a:moveTo>
                        <a:pt x="0" y="456"/>
                      </a:moveTo>
                      <a:lnTo>
                        <a:pt x="0" y="0"/>
                      </a:lnTo>
                      <a:lnTo>
                        <a:pt x="17" y="0"/>
                      </a:lnTo>
                      <a:lnTo>
                        <a:pt x="17" y="548"/>
                      </a:lnTo>
                      <a:lnTo>
                        <a:pt x="0" y="45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52" name="Freeform 4240"/>
                <p:cNvSpPr>
                  <a:spLocks noChangeAspect="1"/>
                </p:cNvSpPr>
                <p:nvPr/>
              </p:nvSpPr>
              <p:spPr bwMode="auto">
                <a:xfrm>
                  <a:off x="2696" y="2287"/>
                  <a:ext cx="1" cy="157"/>
                </a:xfrm>
                <a:custGeom>
                  <a:avLst/>
                  <a:gdLst>
                    <a:gd name="T0" fmla="*/ 0 w 17"/>
                    <a:gd name="T1" fmla="*/ 502 h 592"/>
                    <a:gd name="T2" fmla="*/ 0 w 17"/>
                    <a:gd name="T3" fmla="*/ 0 h 592"/>
                    <a:gd name="T4" fmla="*/ 17 w 17"/>
                    <a:gd name="T5" fmla="*/ 0 h 592"/>
                    <a:gd name="T6" fmla="*/ 17 w 17"/>
                    <a:gd name="T7" fmla="*/ 592 h 592"/>
                    <a:gd name="T8" fmla="*/ 0 w 17"/>
                    <a:gd name="T9" fmla="*/ 502 h 592"/>
                  </a:gdLst>
                  <a:ahLst/>
                  <a:cxnLst>
                    <a:cxn ang="0">
                      <a:pos x="T0" y="T1"/>
                    </a:cxn>
                    <a:cxn ang="0">
                      <a:pos x="T2" y="T3"/>
                    </a:cxn>
                    <a:cxn ang="0">
                      <a:pos x="T4" y="T5"/>
                    </a:cxn>
                    <a:cxn ang="0">
                      <a:pos x="T6" y="T7"/>
                    </a:cxn>
                    <a:cxn ang="0">
                      <a:pos x="T8" y="T9"/>
                    </a:cxn>
                  </a:cxnLst>
                  <a:rect l="0" t="0" r="r" b="b"/>
                  <a:pathLst>
                    <a:path w="17" h="592">
                      <a:moveTo>
                        <a:pt x="0" y="502"/>
                      </a:moveTo>
                      <a:lnTo>
                        <a:pt x="0" y="0"/>
                      </a:lnTo>
                      <a:lnTo>
                        <a:pt x="17" y="0"/>
                      </a:lnTo>
                      <a:lnTo>
                        <a:pt x="17" y="592"/>
                      </a:lnTo>
                      <a:lnTo>
                        <a:pt x="0" y="50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53" name="Freeform 4241"/>
                <p:cNvSpPr>
                  <a:spLocks noChangeAspect="1"/>
                </p:cNvSpPr>
                <p:nvPr/>
              </p:nvSpPr>
              <p:spPr bwMode="auto">
                <a:xfrm>
                  <a:off x="2697" y="2287"/>
                  <a:ext cx="5" cy="169"/>
                </a:xfrm>
                <a:custGeom>
                  <a:avLst/>
                  <a:gdLst>
                    <a:gd name="T0" fmla="*/ 0 w 16"/>
                    <a:gd name="T1" fmla="*/ 548 h 638"/>
                    <a:gd name="T2" fmla="*/ 0 w 16"/>
                    <a:gd name="T3" fmla="*/ 0 h 638"/>
                    <a:gd name="T4" fmla="*/ 16 w 16"/>
                    <a:gd name="T5" fmla="*/ 0 h 638"/>
                    <a:gd name="T6" fmla="*/ 16 w 16"/>
                    <a:gd name="T7" fmla="*/ 638 h 638"/>
                    <a:gd name="T8" fmla="*/ 0 w 16"/>
                    <a:gd name="T9" fmla="*/ 548 h 638"/>
                  </a:gdLst>
                  <a:ahLst/>
                  <a:cxnLst>
                    <a:cxn ang="0">
                      <a:pos x="T0" y="T1"/>
                    </a:cxn>
                    <a:cxn ang="0">
                      <a:pos x="T2" y="T3"/>
                    </a:cxn>
                    <a:cxn ang="0">
                      <a:pos x="T4" y="T5"/>
                    </a:cxn>
                    <a:cxn ang="0">
                      <a:pos x="T6" y="T7"/>
                    </a:cxn>
                    <a:cxn ang="0">
                      <a:pos x="T8" y="T9"/>
                    </a:cxn>
                  </a:cxnLst>
                  <a:rect l="0" t="0" r="r" b="b"/>
                  <a:pathLst>
                    <a:path w="16" h="638">
                      <a:moveTo>
                        <a:pt x="0" y="548"/>
                      </a:moveTo>
                      <a:lnTo>
                        <a:pt x="0" y="0"/>
                      </a:lnTo>
                      <a:lnTo>
                        <a:pt x="16" y="0"/>
                      </a:lnTo>
                      <a:lnTo>
                        <a:pt x="16" y="638"/>
                      </a:lnTo>
                      <a:lnTo>
                        <a:pt x="0" y="54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54" name="Freeform 4242"/>
                <p:cNvSpPr>
                  <a:spLocks noChangeAspect="1"/>
                </p:cNvSpPr>
                <p:nvPr/>
              </p:nvSpPr>
              <p:spPr bwMode="auto">
                <a:xfrm>
                  <a:off x="2700" y="2287"/>
                  <a:ext cx="5" cy="180"/>
                </a:xfrm>
                <a:custGeom>
                  <a:avLst/>
                  <a:gdLst>
                    <a:gd name="T0" fmla="*/ 0 w 16"/>
                    <a:gd name="T1" fmla="*/ 592 h 684"/>
                    <a:gd name="T2" fmla="*/ 0 w 16"/>
                    <a:gd name="T3" fmla="*/ 0 h 684"/>
                    <a:gd name="T4" fmla="*/ 16 w 16"/>
                    <a:gd name="T5" fmla="*/ 0 h 684"/>
                    <a:gd name="T6" fmla="*/ 16 w 16"/>
                    <a:gd name="T7" fmla="*/ 684 h 684"/>
                    <a:gd name="T8" fmla="*/ 0 w 16"/>
                    <a:gd name="T9" fmla="*/ 592 h 684"/>
                  </a:gdLst>
                  <a:ahLst/>
                  <a:cxnLst>
                    <a:cxn ang="0">
                      <a:pos x="T0" y="T1"/>
                    </a:cxn>
                    <a:cxn ang="0">
                      <a:pos x="T2" y="T3"/>
                    </a:cxn>
                    <a:cxn ang="0">
                      <a:pos x="T4" y="T5"/>
                    </a:cxn>
                    <a:cxn ang="0">
                      <a:pos x="T6" y="T7"/>
                    </a:cxn>
                    <a:cxn ang="0">
                      <a:pos x="T8" y="T9"/>
                    </a:cxn>
                  </a:cxnLst>
                  <a:rect l="0" t="0" r="r" b="b"/>
                  <a:pathLst>
                    <a:path w="16" h="684">
                      <a:moveTo>
                        <a:pt x="0" y="592"/>
                      </a:moveTo>
                      <a:lnTo>
                        <a:pt x="0" y="0"/>
                      </a:lnTo>
                      <a:lnTo>
                        <a:pt x="16" y="0"/>
                      </a:lnTo>
                      <a:lnTo>
                        <a:pt x="16" y="684"/>
                      </a:lnTo>
                      <a:lnTo>
                        <a:pt x="0" y="59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55" name="Freeform 4243"/>
                <p:cNvSpPr>
                  <a:spLocks noChangeAspect="1"/>
                </p:cNvSpPr>
                <p:nvPr/>
              </p:nvSpPr>
              <p:spPr bwMode="auto">
                <a:xfrm>
                  <a:off x="2702" y="2287"/>
                  <a:ext cx="2" cy="193"/>
                </a:xfrm>
                <a:custGeom>
                  <a:avLst/>
                  <a:gdLst>
                    <a:gd name="T0" fmla="*/ 0 w 17"/>
                    <a:gd name="T1" fmla="*/ 638 h 730"/>
                    <a:gd name="T2" fmla="*/ 0 w 17"/>
                    <a:gd name="T3" fmla="*/ 0 h 730"/>
                    <a:gd name="T4" fmla="*/ 17 w 17"/>
                    <a:gd name="T5" fmla="*/ 0 h 730"/>
                    <a:gd name="T6" fmla="*/ 17 w 17"/>
                    <a:gd name="T7" fmla="*/ 730 h 730"/>
                    <a:gd name="T8" fmla="*/ 0 w 17"/>
                    <a:gd name="T9" fmla="*/ 638 h 730"/>
                  </a:gdLst>
                  <a:ahLst/>
                  <a:cxnLst>
                    <a:cxn ang="0">
                      <a:pos x="T0" y="T1"/>
                    </a:cxn>
                    <a:cxn ang="0">
                      <a:pos x="T2" y="T3"/>
                    </a:cxn>
                    <a:cxn ang="0">
                      <a:pos x="T4" y="T5"/>
                    </a:cxn>
                    <a:cxn ang="0">
                      <a:pos x="T6" y="T7"/>
                    </a:cxn>
                    <a:cxn ang="0">
                      <a:pos x="T8" y="T9"/>
                    </a:cxn>
                  </a:cxnLst>
                  <a:rect l="0" t="0" r="r" b="b"/>
                  <a:pathLst>
                    <a:path w="17" h="730">
                      <a:moveTo>
                        <a:pt x="0" y="638"/>
                      </a:moveTo>
                      <a:lnTo>
                        <a:pt x="0" y="0"/>
                      </a:lnTo>
                      <a:lnTo>
                        <a:pt x="17" y="0"/>
                      </a:lnTo>
                      <a:lnTo>
                        <a:pt x="17" y="730"/>
                      </a:lnTo>
                      <a:lnTo>
                        <a:pt x="0" y="63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56" name="Freeform 4244"/>
                <p:cNvSpPr>
                  <a:spLocks noChangeAspect="1"/>
                </p:cNvSpPr>
                <p:nvPr/>
              </p:nvSpPr>
              <p:spPr bwMode="auto">
                <a:xfrm>
                  <a:off x="2704" y="2287"/>
                  <a:ext cx="5" cy="206"/>
                </a:xfrm>
                <a:custGeom>
                  <a:avLst/>
                  <a:gdLst>
                    <a:gd name="T0" fmla="*/ 0 w 17"/>
                    <a:gd name="T1" fmla="*/ 684 h 775"/>
                    <a:gd name="T2" fmla="*/ 0 w 17"/>
                    <a:gd name="T3" fmla="*/ 0 h 775"/>
                    <a:gd name="T4" fmla="*/ 17 w 17"/>
                    <a:gd name="T5" fmla="*/ 0 h 775"/>
                    <a:gd name="T6" fmla="*/ 17 w 17"/>
                    <a:gd name="T7" fmla="*/ 775 h 775"/>
                    <a:gd name="T8" fmla="*/ 0 w 17"/>
                    <a:gd name="T9" fmla="*/ 684 h 775"/>
                  </a:gdLst>
                  <a:ahLst/>
                  <a:cxnLst>
                    <a:cxn ang="0">
                      <a:pos x="T0" y="T1"/>
                    </a:cxn>
                    <a:cxn ang="0">
                      <a:pos x="T2" y="T3"/>
                    </a:cxn>
                    <a:cxn ang="0">
                      <a:pos x="T4" y="T5"/>
                    </a:cxn>
                    <a:cxn ang="0">
                      <a:pos x="T6" y="T7"/>
                    </a:cxn>
                    <a:cxn ang="0">
                      <a:pos x="T8" y="T9"/>
                    </a:cxn>
                  </a:cxnLst>
                  <a:rect l="0" t="0" r="r" b="b"/>
                  <a:pathLst>
                    <a:path w="17" h="775">
                      <a:moveTo>
                        <a:pt x="0" y="684"/>
                      </a:moveTo>
                      <a:lnTo>
                        <a:pt x="0" y="0"/>
                      </a:lnTo>
                      <a:lnTo>
                        <a:pt x="17" y="0"/>
                      </a:lnTo>
                      <a:lnTo>
                        <a:pt x="17" y="775"/>
                      </a:lnTo>
                      <a:lnTo>
                        <a:pt x="0" y="68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57" name="Freeform 4245"/>
                <p:cNvSpPr>
                  <a:spLocks noChangeAspect="1"/>
                </p:cNvSpPr>
                <p:nvPr/>
              </p:nvSpPr>
              <p:spPr bwMode="auto">
                <a:xfrm>
                  <a:off x="2706" y="2287"/>
                  <a:ext cx="6" cy="219"/>
                </a:xfrm>
                <a:custGeom>
                  <a:avLst/>
                  <a:gdLst>
                    <a:gd name="T0" fmla="*/ 0 w 17"/>
                    <a:gd name="T1" fmla="*/ 730 h 821"/>
                    <a:gd name="T2" fmla="*/ 0 w 17"/>
                    <a:gd name="T3" fmla="*/ 0 h 821"/>
                    <a:gd name="T4" fmla="*/ 17 w 17"/>
                    <a:gd name="T5" fmla="*/ 0 h 821"/>
                    <a:gd name="T6" fmla="*/ 17 w 17"/>
                    <a:gd name="T7" fmla="*/ 821 h 821"/>
                    <a:gd name="T8" fmla="*/ 0 w 17"/>
                    <a:gd name="T9" fmla="*/ 730 h 821"/>
                  </a:gdLst>
                  <a:ahLst/>
                  <a:cxnLst>
                    <a:cxn ang="0">
                      <a:pos x="T0" y="T1"/>
                    </a:cxn>
                    <a:cxn ang="0">
                      <a:pos x="T2" y="T3"/>
                    </a:cxn>
                    <a:cxn ang="0">
                      <a:pos x="T4" y="T5"/>
                    </a:cxn>
                    <a:cxn ang="0">
                      <a:pos x="T6" y="T7"/>
                    </a:cxn>
                    <a:cxn ang="0">
                      <a:pos x="T8" y="T9"/>
                    </a:cxn>
                  </a:cxnLst>
                  <a:rect l="0" t="0" r="r" b="b"/>
                  <a:pathLst>
                    <a:path w="17" h="821">
                      <a:moveTo>
                        <a:pt x="0" y="730"/>
                      </a:moveTo>
                      <a:lnTo>
                        <a:pt x="0" y="0"/>
                      </a:lnTo>
                      <a:lnTo>
                        <a:pt x="17" y="0"/>
                      </a:lnTo>
                      <a:lnTo>
                        <a:pt x="17" y="821"/>
                      </a:lnTo>
                      <a:lnTo>
                        <a:pt x="0" y="73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58" name="Freeform 4246"/>
                <p:cNvSpPr>
                  <a:spLocks noChangeAspect="1"/>
                </p:cNvSpPr>
                <p:nvPr/>
              </p:nvSpPr>
              <p:spPr bwMode="auto">
                <a:xfrm>
                  <a:off x="2709" y="2287"/>
                  <a:ext cx="2" cy="229"/>
                </a:xfrm>
                <a:custGeom>
                  <a:avLst/>
                  <a:gdLst>
                    <a:gd name="T0" fmla="*/ 0 w 16"/>
                    <a:gd name="T1" fmla="*/ 775 h 867"/>
                    <a:gd name="T2" fmla="*/ 0 w 16"/>
                    <a:gd name="T3" fmla="*/ 0 h 867"/>
                    <a:gd name="T4" fmla="*/ 16 w 16"/>
                    <a:gd name="T5" fmla="*/ 0 h 867"/>
                    <a:gd name="T6" fmla="*/ 16 w 16"/>
                    <a:gd name="T7" fmla="*/ 867 h 867"/>
                    <a:gd name="T8" fmla="*/ 0 w 16"/>
                    <a:gd name="T9" fmla="*/ 775 h 867"/>
                  </a:gdLst>
                  <a:ahLst/>
                  <a:cxnLst>
                    <a:cxn ang="0">
                      <a:pos x="T0" y="T1"/>
                    </a:cxn>
                    <a:cxn ang="0">
                      <a:pos x="T2" y="T3"/>
                    </a:cxn>
                    <a:cxn ang="0">
                      <a:pos x="T4" y="T5"/>
                    </a:cxn>
                    <a:cxn ang="0">
                      <a:pos x="T6" y="T7"/>
                    </a:cxn>
                    <a:cxn ang="0">
                      <a:pos x="T8" y="T9"/>
                    </a:cxn>
                  </a:cxnLst>
                  <a:rect l="0" t="0" r="r" b="b"/>
                  <a:pathLst>
                    <a:path w="16" h="867">
                      <a:moveTo>
                        <a:pt x="0" y="775"/>
                      </a:moveTo>
                      <a:lnTo>
                        <a:pt x="0" y="0"/>
                      </a:lnTo>
                      <a:lnTo>
                        <a:pt x="16" y="0"/>
                      </a:lnTo>
                      <a:lnTo>
                        <a:pt x="16" y="867"/>
                      </a:lnTo>
                      <a:lnTo>
                        <a:pt x="0" y="775"/>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59" name="Freeform 4247"/>
                <p:cNvSpPr>
                  <a:spLocks noChangeAspect="1"/>
                </p:cNvSpPr>
                <p:nvPr/>
              </p:nvSpPr>
              <p:spPr bwMode="auto">
                <a:xfrm>
                  <a:off x="2711" y="2287"/>
                  <a:ext cx="0" cy="241"/>
                </a:xfrm>
                <a:custGeom>
                  <a:avLst/>
                  <a:gdLst>
                    <a:gd name="T0" fmla="*/ 0 w 16"/>
                    <a:gd name="T1" fmla="*/ 821 h 913"/>
                    <a:gd name="T2" fmla="*/ 0 w 16"/>
                    <a:gd name="T3" fmla="*/ 0 h 913"/>
                    <a:gd name="T4" fmla="*/ 16 w 16"/>
                    <a:gd name="T5" fmla="*/ 0 h 913"/>
                    <a:gd name="T6" fmla="*/ 16 w 16"/>
                    <a:gd name="T7" fmla="*/ 913 h 913"/>
                    <a:gd name="T8" fmla="*/ 0 w 16"/>
                    <a:gd name="T9" fmla="*/ 821 h 913"/>
                  </a:gdLst>
                  <a:ahLst/>
                  <a:cxnLst>
                    <a:cxn ang="0">
                      <a:pos x="T0" y="T1"/>
                    </a:cxn>
                    <a:cxn ang="0">
                      <a:pos x="T2" y="T3"/>
                    </a:cxn>
                    <a:cxn ang="0">
                      <a:pos x="T4" y="T5"/>
                    </a:cxn>
                    <a:cxn ang="0">
                      <a:pos x="T6" y="T7"/>
                    </a:cxn>
                    <a:cxn ang="0">
                      <a:pos x="T8" y="T9"/>
                    </a:cxn>
                  </a:cxnLst>
                  <a:rect l="0" t="0" r="r" b="b"/>
                  <a:pathLst>
                    <a:path w="16" h="913">
                      <a:moveTo>
                        <a:pt x="0" y="821"/>
                      </a:moveTo>
                      <a:lnTo>
                        <a:pt x="0" y="0"/>
                      </a:lnTo>
                      <a:lnTo>
                        <a:pt x="16" y="0"/>
                      </a:lnTo>
                      <a:lnTo>
                        <a:pt x="16" y="913"/>
                      </a:lnTo>
                      <a:lnTo>
                        <a:pt x="0" y="82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60" name="Freeform 4248"/>
                <p:cNvSpPr>
                  <a:spLocks noChangeAspect="1"/>
                </p:cNvSpPr>
                <p:nvPr/>
              </p:nvSpPr>
              <p:spPr bwMode="auto">
                <a:xfrm>
                  <a:off x="2713" y="2287"/>
                  <a:ext cx="6" cy="252"/>
                </a:xfrm>
                <a:custGeom>
                  <a:avLst/>
                  <a:gdLst>
                    <a:gd name="T0" fmla="*/ 0 w 17"/>
                    <a:gd name="T1" fmla="*/ 867 h 957"/>
                    <a:gd name="T2" fmla="*/ 0 w 17"/>
                    <a:gd name="T3" fmla="*/ 0 h 957"/>
                    <a:gd name="T4" fmla="*/ 17 w 17"/>
                    <a:gd name="T5" fmla="*/ 0 h 957"/>
                    <a:gd name="T6" fmla="*/ 17 w 17"/>
                    <a:gd name="T7" fmla="*/ 957 h 957"/>
                    <a:gd name="T8" fmla="*/ 0 w 17"/>
                    <a:gd name="T9" fmla="*/ 867 h 957"/>
                  </a:gdLst>
                  <a:ahLst/>
                  <a:cxnLst>
                    <a:cxn ang="0">
                      <a:pos x="T0" y="T1"/>
                    </a:cxn>
                    <a:cxn ang="0">
                      <a:pos x="T2" y="T3"/>
                    </a:cxn>
                    <a:cxn ang="0">
                      <a:pos x="T4" y="T5"/>
                    </a:cxn>
                    <a:cxn ang="0">
                      <a:pos x="T6" y="T7"/>
                    </a:cxn>
                    <a:cxn ang="0">
                      <a:pos x="T8" y="T9"/>
                    </a:cxn>
                  </a:cxnLst>
                  <a:rect l="0" t="0" r="r" b="b"/>
                  <a:pathLst>
                    <a:path w="17" h="957">
                      <a:moveTo>
                        <a:pt x="0" y="867"/>
                      </a:moveTo>
                      <a:lnTo>
                        <a:pt x="0" y="0"/>
                      </a:lnTo>
                      <a:lnTo>
                        <a:pt x="17" y="0"/>
                      </a:lnTo>
                      <a:lnTo>
                        <a:pt x="17" y="957"/>
                      </a:lnTo>
                      <a:lnTo>
                        <a:pt x="0" y="86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61" name="Freeform 4249"/>
                <p:cNvSpPr>
                  <a:spLocks noChangeAspect="1"/>
                </p:cNvSpPr>
                <p:nvPr/>
              </p:nvSpPr>
              <p:spPr bwMode="auto">
                <a:xfrm>
                  <a:off x="2715" y="2287"/>
                  <a:ext cx="3" cy="265"/>
                </a:xfrm>
                <a:custGeom>
                  <a:avLst/>
                  <a:gdLst>
                    <a:gd name="T0" fmla="*/ 0 w 17"/>
                    <a:gd name="T1" fmla="*/ 913 h 1003"/>
                    <a:gd name="T2" fmla="*/ 0 w 17"/>
                    <a:gd name="T3" fmla="*/ 0 h 1003"/>
                    <a:gd name="T4" fmla="*/ 17 w 17"/>
                    <a:gd name="T5" fmla="*/ 0 h 1003"/>
                    <a:gd name="T6" fmla="*/ 17 w 17"/>
                    <a:gd name="T7" fmla="*/ 1003 h 1003"/>
                    <a:gd name="T8" fmla="*/ 0 w 17"/>
                    <a:gd name="T9" fmla="*/ 913 h 1003"/>
                  </a:gdLst>
                  <a:ahLst/>
                  <a:cxnLst>
                    <a:cxn ang="0">
                      <a:pos x="T0" y="T1"/>
                    </a:cxn>
                    <a:cxn ang="0">
                      <a:pos x="T2" y="T3"/>
                    </a:cxn>
                    <a:cxn ang="0">
                      <a:pos x="T4" y="T5"/>
                    </a:cxn>
                    <a:cxn ang="0">
                      <a:pos x="T6" y="T7"/>
                    </a:cxn>
                    <a:cxn ang="0">
                      <a:pos x="T8" y="T9"/>
                    </a:cxn>
                  </a:cxnLst>
                  <a:rect l="0" t="0" r="r" b="b"/>
                  <a:pathLst>
                    <a:path w="17" h="1003">
                      <a:moveTo>
                        <a:pt x="0" y="913"/>
                      </a:moveTo>
                      <a:lnTo>
                        <a:pt x="0" y="0"/>
                      </a:lnTo>
                      <a:lnTo>
                        <a:pt x="17" y="0"/>
                      </a:lnTo>
                      <a:lnTo>
                        <a:pt x="17" y="1003"/>
                      </a:lnTo>
                      <a:lnTo>
                        <a:pt x="0" y="913"/>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62" name="Freeform 4250"/>
                <p:cNvSpPr>
                  <a:spLocks noChangeAspect="1"/>
                </p:cNvSpPr>
                <p:nvPr/>
              </p:nvSpPr>
              <p:spPr bwMode="auto">
                <a:xfrm>
                  <a:off x="2717" y="2287"/>
                  <a:ext cx="1" cy="278"/>
                </a:xfrm>
                <a:custGeom>
                  <a:avLst/>
                  <a:gdLst>
                    <a:gd name="T0" fmla="*/ 0 w 17"/>
                    <a:gd name="T1" fmla="*/ 957 h 1049"/>
                    <a:gd name="T2" fmla="*/ 0 w 17"/>
                    <a:gd name="T3" fmla="*/ 0 h 1049"/>
                    <a:gd name="T4" fmla="*/ 17 w 17"/>
                    <a:gd name="T5" fmla="*/ 0 h 1049"/>
                    <a:gd name="T6" fmla="*/ 17 w 17"/>
                    <a:gd name="T7" fmla="*/ 1049 h 1049"/>
                    <a:gd name="T8" fmla="*/ 0 w 17"/>
                    <a:gd name="T9" fmla="*/ 957 h 1049"/>
                  </a:gdLst>
                  <a:ahLst/>
                  <a:cxnLst>
                    <a:cxn ang="0">
                      <a:pos x="T0" y="T1"/>
                    </a:cxn>
                    <a:cxn ang="0">
                      <a:pos x="T2" y="T3"/>
                    </a:cxn>
                    <a:cxn ang="0">
                      <a:pos x="T4" y="T5"/>
                    </a:cxn>
                    <a:cxn ang="0">
                      <a:pos x="T6" y="T7"/>
                    </a:cxn>
                    <a:cxn ang="0">
                      <a:pos x="T8" y="T9"/>
                    </a:cxn>
                  </a:cxnLst>
                  <a:rect l="0" t="0" r="r" b="b"/>
                  <a:pathLst>
                    <a:path w="17" h="1049">
                      <a:moveTo>
                        <a:pt x="0" y="957"/>
                      </a:moveTo>
                      <a:lnTo>
                        <a:pt x="0" y="0"/>
                      </a:lnTo>
                      <a:lnTo>
                        <a:pt x="17" y="0"/>
                      </a:lnTo>
                      <a:lnTo>
                        <a:pt x="17" y="1049"/>
                      </a:lnTo>
                      <a:lnTo>
                        <a:pt x="0" y="95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63" name="Freeform 4251"/>
                <p:cNvSpPr>
                  <a:spLocks noChangeAspect="1"/>
                </p:cNvSpPr>
                <p:nvPr/>
              </p:nvSpPr>
              <p:spPr bwMode="auto">
                <a:xfrm>
                  <a:off x="2718" y="2287"/>
                  <a:ext cx="5" cy="291"/>
                </a:xfrm>
                <a:custGeom>
                  <a:avLst/>
                  <a:gdLst>
                    <a:gd name="T0" fmla="*/ 0 w 17"/>
                    <a:gd name="T1" fmla="*/ 1003 h 1094"/>
                    <a:gd name="T2" fmla="*/ 0 w 17"/>
                    <a:gd name="T3" fmla="*/ 0 h 1094"/>
                    <a:gd name="T4" fmla="*/ 17 w 17"/>
                    <a:gd name="T5" fmla="*/ 0 h 1094"/>
                    <a:gd name="T6" fmla="*/ 17 w 17"/>
                    <a:gd name="T7" fmla="*/ 1094 h 1094"/>
                    <a:gd name="T8" fmla="*/ 0 w 17"/>
                    <a:gd name="T9" fmla="*/ 1003 h 1094"/>
                  </a:gdLst>
                  <a:ahLst/>
                  <a:cxnLst>
                    <a:cxn ang="0">
                      <a:pos x="T0" y="T1"/>
                    </a:cxn>
                    <a:cxn ang="0">
                      <a:pos x="T2" y="T3"/>
                    </a:cxn>
                    <a:cxn ang="0">
                      <a:pos x="T4" y="T5"/>
                    </a:cxn>
                    <a:cxn ang="0">
                      <a:pos x="T6" y="T7"/>
                    </a:cxn>
                    <a:cxn ang="0">
                      <a:pos x="T8" y="T9"/>
                    </a:cxn>
                  </a:cxnLst>
                  <a:rect l="0" t="0" r="r" b="b"/>
                  <a:pathLst>
                    <a:path w="17" h="1094">
                      <a:moveTo>
                        <a:pt x="0" y="1003"/>
                      </a:moveTo>
                      <a:lnTo>
                        <a:pt x="0" y="0"/>
                      </a:lnTo>
                      <a:lnTo>
                        <a:pt x="17" y="0"/>
                      </a:lnTo>
                      <a:lnTo>
                        <a:pt x="17" y="1094"/>
                      </a:lnTo>
                      <a:lnTo>
                        <a:pt x="0" y="1003"/>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64" name="Freeform 4252"/>
                <p:cNvSpPr>
                  <a:spLocks noChangeAspect="1"/>
                </p:cNvSpPr>
                <p:nvPr/>
              </p:nvSpPr>
              <p:spPr bwMode="auto">
                <a:xfrm>
                  <a:off x="2721" y="2287"/>
                  <a:ext cx="5" cy="304"/>
                </a:xfrm>
                <a:custGeom>
                  <a:avLst/>
                  <a:gdLst>
                    <a:gd name="T0" fmla="*/ 0 w 16"/>
                    <a:gd name="T1" fmla="*/ 1049 h 1140"/>
                    <a:gd name="T2" fmla="*/ 0 w 16"/>
                    <a:gd name="T3" fmla="*/ 0 h 1140"/>
                    <a:gd name="T4" fmla="*/ 16 w 16"/>
                    <a:gd name="T5" fmla="*/ 0 h 1140"/>
                    <a:gd name="T6" fmla="*/ 16 w 16"/>
                    <a:gd name="T7" fmla="*/ 1140 h 1140"/>
                    <a:gd name="T8" fmla="*/ 0 w 16"/>
                    <a:gd name="T9" fmla="*/ 1049 h 1140"/>
                  </a:gdLst>
                  <a:ahLst/>
                  <a:cxnLst>
                    <a:cxn ang="0">
                      <a:pos x="T0" y="T1"/>
                    </a:cxn>
                    <a:cxn ang="0">
                      <a:pos x="T2" y="T3"/>
                    </a:cxn>
                    <a:cxn ang="0">
                      <a:pos x="T4" y="T5"/>
                    </a:cxn>
                    <a:cxn ang="0">
                      <a:pos x="T6" y="T7"/>
                    </a:cxn>
                    <a:cxn ang="0">
                      <a:pos x="T8" y="T9"/>
                    </a:cxn>
                  </a:cxnLst>
                  <a:rect l="0" t="0" r="r" b="b"/>
                  <a:pathLst>
                    <a:path w="16" h="1140">
                      <a:moveTo>
                        <a:pt x="0" y="1049"/>
                      </a:moveTo>
                      <a:lnTo>
                        <a:pt x="0" y="0"/>
                      </a:lnTo>
                      <a:lnTo>
                        <a:pt x="16" y="0"/>
                      </a:lnTo>
                      <a:lnTo>
                        <a:pt x="16" y="1140"/>
                      </a:lnTo>
                      <a:lnTo>
                        <a:pt x="0" y="1049"/>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65" name="Freeform 4253"/>
                <p:cNvSpPr>
                  <a:spLocks noChangeAspect="1"/>
                </p:cNvSpPr>
                <p:nvPr/>
              </p:nvSpPr>
              <p:spPr bwMode="auto">
                <a:xfrm>
                  <a:off x="2723" y="2287"/>
                  <a:ext cx="5" cy="313"/>
                </a:xfrm>
                <a:custGeom>
                  <a:avLst/>
                  <a:gdLst>
                    <a:gd name="T0" fmla="*/ 0 w 16"/>
                    <a:gd name="T1" fmla="*/ 1094 h 1186"/>
                    <a:gd name="T2" fmla="*/ 0 w 16"/>
                    <a:gd name="T3" fmla="*/ 0 h 1186"/>
                    <a:gd name="T4" fmla="*/ 16 w 16"/>
                    <a:gd name="T5" fmla="*/ 0 h 1186"/>
                    <a:gd name="T6" fmla="*/ 16 w 16"/>
                    <a:gd name="T7" fmla="*/ 1186 h 1186"/>
                    <a:gd name="T8" fmla="*/ 0 w 16"/>
                    <a:gd name="T9" fmla="*/ 1094 h 1186"/>
                  </a:gdLst>
                  <a:ahLst/>
                  <a:cxnLst>
                    <a:cxn ang="0">
                      <a:pos x="T0" y="T1"/>
                    </a:cxn>
                    <a:cxn ang="0">
                      <a:pos x="T2" y="T3"/>
                    </a:cxn>
                    <a:cxn ang="0">
                      <a:pos x="T4" y="T5"/>
                    </a:cxn>
                    <a:cxn ang="0">
                      <a:pos x="T6" y="T7"/>
                    </a:cxn>
                    <a:cxn ang="0">
                      <a:pos x="T8" y="T9"/>
                    </a:cxn>
                  </a:cxnLst>
                  <a:rect l="0" t="0" r="r" b="b"/>
                  <a:pathLst>
                    <a:path w="16" h="1186">
                      <a:moveTo>
                        <a:pt x="0" y="1094"/>
                      </a:moveTo>
                      <a:lnTo>
                        <a:pt x="0" y="0"/>
                      </a:lnTo>
                      <a:lnTo>
                        <a:pt x="16" y="0"/>
                      </a:lnTo>
                      <a:lnTo>
                        <a:pt x="16" y="1186"/>
                      </a:lnTo>
                      <a:lnTo>
                        <a:pt x="0" y="109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66" name="Freeform 4254"/>
                <p:cNvSpPr>
                  <a:spLocks noChangeAspect="1"/>
                </p:cNvSpPr>
                <p:nvPr/>
              </p:nvSpPr>
              <p:spPr bwMode="auto">
                <a:xfrm>
                  <a:off x="2725" y="2287"/>
                  <a:ext cx="0" cy="325"/>
                </a:xfrm>
                <a:custGeom>
                  <a:avLst/>
                  <a:gdLst>
                    <a:gd name="T0" fmla="*/ 0 w 17"/>
                    <a:gd name="T1" fmla="*/ 1140 h 1231"/>
                    <a:gd name="T2" fmla="*/ 0 w 17"/>
                    <a:gd name="T3" fmla="*/ 0 h 1231"/>
                    <a:gd name="T4" fmla="*/ 17 w 17"/>
                    <a:gd name="T5" fmla="*/ 0 h 1231"/>
                    <a:gd name="T6" fmla="*/ 17 w 17"/>
                    <a:gd name="T7" fmla="*/ 1231 h 1231"/>
                    <a:gd name="T8" fmla="*/ 0 w 17"/>
                    <a:gd name="T9" fmla="*/ 1140 h 1231"/>
                  </a:gdLst>
                  <a:ahLst/>
                  <a:cxnLst>
                    <a:cxn ang="0">
                      <a:pos x="T0" y="T1"/>
                    </a:cxn>
                    <a:cxn ang="0">
                      <a:pos x="T2" y="T3"/>
                    </a:cxn>
                    <a:cxn ang="0">
                      <a:pos x="T4" y="T5"/>
                    </a:cxn>
                    <a:cxn ang="0">
                      <a:pos x="T6" y="T7"/>
                    </a:cxn>
                    <a:cxn ang="0">
                      <a:pos x="T8" y="T9"/>
                    </a:cxn>
                  </a:cxnLst>
                  <a:rect l="0" t="0" r="r" b="b"/>
                  <a:pathLst>
                    <a:path w="17" h="1231">
                      <a:moveTo>
                        <a:pt x="0" y="1140"/>
                      </a:moveTo>
                      <a:lnTo>
                        <a:pt x="0" y="0"/>
                      </a:lnTo>
                      <a:lnTo>
                        <a:pt x="17" y="0"/>
                      </a:lnTo>
                      <a:lnTo>
                        <a:pt x="17" y="1231"/>
                      </a:lnTo>
                      <a:lnTo>
                        <a:pt x="0" y="114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67" name="Freeform 4255"/>
                <p:cNvSpPr>
                  <a:spLocks noChangeAspect="1"/>
                </p:cNvSpPr>
                <p:nvPr/>
              </p:nvSpPr>
              <p:spPr bwMode="auto">
                <a:xfrm>
                  <a:off x="2728" y="2287"/>
                  <a:ext cx="3" cy="326"/>
                </a:xfrm>
                <a:custGeom>
                  <a:avLst/>
                  <a:gdLst>
                    <a:gd name="T0" fmla="*/ 0 w 17"/>
                    <a:gd name="T1" fmla="*/ 1186 h 1235"/>
                    <a:gd name="T2" fmla="*/ 0 w 17"/>
                    <a:gd name="T3" fmla="*/ 0 h 1235"/>
                    <a:gd name="T4" fmla="*/ 17 w 17"/>
                    <a:gd name="T5" fmla="*/ 0 h 1235"/>
                    <a:gd name="T6" fmla="*/ 17 w 17"/>
                    <a:gd name="T7" fmla="*/ 1186 h 1235"/>
                    <a:gd name="T8" fmla="*/ 9 w 17"/>
                    <a:gd name="T9" fmla="*/ 1235 h 1235"/>
                    <a:gd name="T10" fmla="*/ 0 w 17"/>
                    <a:gd name="T11" fmla="*/ 1186 h 1235"/>
                  </a:gdLst>
                  <a:ahLst/>
                  <a:cxnLst>
                    <a:cxn ang="0">
                      <a:pos x="T0" y="T1"/>
                    </a:cxn>
                    <a:cxn ang="0">
                      <a:pos x="T2" y="T3"/>
                    </a:cxn>
                    <a:cxn ang="0">
                      <a:pos x="T4" y="T5"/>
                    </a:cxn>
                    <a:cxn ang="0">
                      <a:pos x="T6" y="T7"/>
                    </a:cxn>
                    <a:cxn ang="0">
                      <a:pos x="T8" y="T9"/>
                    </a:cxn>
                    <a:cxn ang="0">
                      <a:pos x="T10" y="T11"/>
                    </a:cxn>
                  </a:cxnLst>
                  <a:rect l="0" t="0" r="r" b="b"/>
                  <a:pathLst>
                    <a:path w="17" h="1235">
                      <a:moveTo>
                        <a:pt x="0" y="1186"/>
                      </a:moveTo>
                      <a:lnTo>
                        <a:pt x="0" y="0"/>
                      </a:lnTo>
                      <a:lnTo>
                        <a:pt x="17" y="0"/>
                      </a:lnTo>
                      <a:lnTo>
                        <a:pt x="17" y="1186"/>
                      </a:lnTo>
                      <a:lnTo>
                        <a:pt x="9" y="1235"/>
                      </a:lnTo>
                      <a:lnTo>
                        <a:pt x="0" y="118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68" name="Freeform 4256"/>
                <p:cNvSpPr>
                  <a:spLocks noChangeAspect="1"/>
                </p:cNvSpPr>
                <p:nvPr/>
              </p:nvSpPr>
              <p:spPr bwMode="auto">
                <a:xfrm>
                  <a:off x="2729" y="2287"/>
                  <a:ext cx="5" cy="326"/>
                </a:xfrm>
                <a:custGeom>
                  <a:avLst/>
                  <a:gdLst>
                    <a:gd name="T0" fmla="*/ 0 w 17"/>
                    <a:gd name="T1" fmla="*/ 1231 h 1235"/>
                    <a:gd name="T2" fmla="*/ 0 w 17"/>
                    <a:gd name="T3" fmla="*/ 0 h 1235"/>
                    <a:gd name="T4" fmla="*/ 17 w 17"/>
                    <a:gd name="T5" fmla="*/ 0 h 1235"/>
                    <a:gd name="T6" fmla="*/ 17 w 17"/>
                    <a:gd name="T7" fmla="*/ 1132 h 1235"/>
                    <a:gd name="T8" fmla="*/ 1 w 17"/>
                    <a:gd name="T9" fmla="*/ 1235 h 1235"/>
                    <a:gd name="T10" fmla="*/ 0 w 17"/>
                    <a:gd name="T11" fmla="*/ 1231 h 1235"/>
                  </a:gdLst>
                  <a:ahLst/>
                  <a:cxnLst>
                    <a:cxn ang="0">
                      <a:pos x="T0" y="T1"/>
                    </a:cxn>
                    <a:cxn ang="0">
                      <a:pos x="T2" y="T3"/>
                    </a:cxn>
                    <a:cxn ang="0">
                      <a:pos x="T4" y="T5"/>
                    </a:cxn>
                    <a:cxn ang="0">
                      <a:pos x="T6" y="T7"/>
                    </a:cxn>
                    <a:cxn ang="0">
                      <a:pos x="T8" y="T9"/>
                    </a:cxn>
                    <a:cxn ang="0">
                      <a:pos x="T10" y="T11"/>
                    </a:cxn>
                  </a:cxnLst>
                  <a:rect l="0" t="0" r="r" b="b"/>
                  <a:pathLst>
                    <a:path w="17" h="1235">
                      <a:moveTo>
                        <a:pt x="0" y="1231"/>
                      </a:moveTo>
                      <a:lnTo>
                        <a:pt x="0" y="0"/>
                      </a:lnTo>
                      <a:lnTo>
                        <a:pt x="17" y="0"/>
                      </a:lnTo>
                      <a:lnTo>
                        <a:pt x="17" y="1132"/>
                      </a:lnTo>
                      <a:lnTo>
                        <a:pt x="1" y="1235"/>
                      </a:lnTo>
                      <a:lnTo>
                        <a:pt x="0" y="123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69" name="Freeform 4257"/>
                <p:cNvSpPr>
                  <a:spLocks noChangeAspect="1"/>
                </p:cNvSpPr>
                <p:nvPr/>
              </p:nvSpPr>
              <p:spPr bwMode="auto">
                <a:xfrm>
                  <a:off x="2731" y="2287"/>
                  <a:ext cx="5" cy="313"/>
                </a:xfrm>
                <a:custGeom>
                  <a:avLst/>
                  <a:gdLst>
                    <a:gd name="T0" fmla="*/ 0 w 17"/>
                    <a:gd name="T1" fmla="*/ 1186 h 1186"/>
                    <a:gd name="T2" fmla="*/ 0 w 17"/>
                    <a:gd name="T3" fmla="*/ 0 h 1186"/>
                    <a:gd name="T4" fmla="*/ 17 w 17"/>
                    <a:gd name="T5" fmla="*/ 0 h 1186"/>
                    <a:gd name="T6" fmla="*/ 17 w 17"/>
                    <a:gd name="T7" fmla="*/ 1077 h 1186"/>
                    <a:gd name="T8" fmla="*/ 0 w 17"/>
                    <a:gd name="T9" fmla="*/ 1186 h 1186"/>
                  </a:gdLst>
                  <a:ahLst/>
                  <a:cxnLst>
                    <a:cxn ang="0">
                      <a:pos x="T0" y="T1"/>
                    </a:cxn>
                    <a:cxn ang="0">
                      <a:pos x="T2" y="T3"/>
                    </a:cxn>
                    <a:cxn ang="0">
                      <a:pos x="T4" y="T5"/>
                    </a:cxn>
                    <a:cxn ang="0">
                      <a:pos x="T6" y="T7"/>
                    </a:cxn>
                    <a:cxn ang="0">
                      <a:pos x="T8" y="T9"/>
                    </a:cxn>
                  </a:cxnLst>
                  <a:rect l="0" t="0" r="r" b="b"/>
                  <a:pathLst>
                    <a:path w="17" h="1186">
                      <a:moveTo>
                        <a:pt x="0" y="1186"/>
                      </a:moveTo>
                      <a:lnTo>
                        <a:pt x="0" y="0"/>
                      </a:lnTo>
                      <a:lnTo>
                        <a:pt x="17" y="0"/>
                      </a:lnTo>
                      <a:lnTo>
                        <a:pt x="17" y="1077"/>
                      </a:lnTo>
                      <a:lnTo>
                        <a:pt x="0" y="118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70" name="Freeform 4258"/>
                <p:cNvSpPr>
                  <a:spLocks noChangeAspect="1"/>
                </p:cNvSpPr>
                <p:nvPr/>
              </p:nvSpPr>
              <p:spPr bwMode="auto">
                <a:xfrm>
                  <a:off x="2734" y="2287"/>
                  <a:ext cx="6" cy="299"/>
                </a:xfrm>
                <a:custGeom>
                  <a:avLst/>
                  <a:gdLst>
                    <a:gd name="T0" fmla="*/ 0 w 16"/>
                    <a:gd name="T1" fmla="*/ 1132 h 1132"/>
                    <a:gd name="T2" fmla="*/ 0 w 16"/>
                    <a:gd name="T3" fmla="*/ 0 h 1132"/>
                    <a:gd name="T4" fmla="*/ 16 w 16"/>
                    <a:gd name="T5" fmla="*/ 0 h 1132"/>
                    <a:gd name="T6" fmla="*/ 16 w 16"/>
                    <a:gd name="T7" fmla="*/ 1024 h 1132"/>
                    <a:gd name="T8" fmla="*/ 0 w 16"/>
                    <a:gd name="T9" fmla="*/ 1132 h 1132"/>
                  </a:gdLst>
                  <a:ahLst/>
                  <a:cxnLst>
                    <a:cxn ang="0">
                      <a:pos x="T0" y="T1"/>
                    </a:cxn>
                    <a:cxn ang="0">
                      <a:pos x="T2" y="T3"/>
                    </a:cxn>
                    <a:cxn ang="0">
                      <a:pos x="T4" y="T5"/>
                    </a:cxn>
                    <a:cxn ang="0">
                      <a:pos x="T6" y="T7"/>
                    </a:cxn>
                    <a:cxn ang="0">
                      <a:pos x="T8" y="T9"/>
                    </a:cxn>
                  </a:cxnLst>
                  <a:rect l="0" t="0" r="r" b="b"/>
                  <a:pathLst>
                    <a:path w="16" h="1132">
                      <a:moveTo>
                        <a:pt x="0" y="1132"/>
                      </a:moveTo>
                      <a:lnTo>
                        <a:pt x="0" y="0"/>
                      </a:lnTo>
                      <a:lnTo>
                        <a:pt x="16" y="0"/>
                      </a:lnTo>
                      <a:lnTo>
                        <a:pt x="16" y="1024"/>
                      </a:lnTo>
                      <a:lnTo>
                        <a:pt x="0" y="113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71" name="Freeform 4259"/>
                <p:cNvSpPr>
                  <a:spLocks noChangeAspect="1"/>
                </p:cNvSpPr>
                <p:nvPr/>
              </p:nvSpPr>
              <p:spPr bwMode="auto">
                <a:xfrm>
                  <a:off x="2736" y="2287"/>
                  <a:ext cx="3" cy="284"/>
                </a:xfrm>
                <a:custGeom>
                  <a:avLst/>
                  <a:gdLst>
                    <a:gd name="T0" fmla="*/ 0 w 16"/>
                    <a:gd name="T1" fmla="*/ 1077 h 1077"/>
                    <a:gd name="T2" fmla="*/ 0 w 16"/>
                    <a:gd name="T3" fmla="*/ 0 h 1077"/>
                    <a:gd name="T4" fmla="*/ 16 w 16"/>
                    <a:gd name="T5" fmla="*/ 0 h 1077"/>
                    <a:gd name="T6" fmla="*/ 16 w 16"/>
                    <a:gd name="T7" fmla="*/ 970 h 1077"/>
                    <a:gd name="T8" fmla="*/ 0 w 16"/>
                    <a:gd name="T9" fmla="*/ 1077 h 1077"/>
                  </a:gdLst>
                  <a:ahLst/>
                  <a:cxnLst>
                    <a:cxn ang="0">
                      <a:pos x="T0" y="T1"/>
                    </a:cxn>
                    <a:cxn ang="0">
                      <a:pos x="T2" y="T3"/>
                    </a:cxn>
                    <a:cxn ang="0">
                      <a:pos x="T4" y="T5"/>
                    </a:cxn>
                    <a:cxn ang="0">
                      <a:pos x="T6" y="T7"/>
                    </a:cxn>
                    <a:cxn ang="0">
                      <a:pos x="T8" y="T9"/>
                    </a:cxn>
                  </a:cxnLst>
                  <a:rect l="0" t="0" r="r" b="b"/>
                  <a:pathLst>
                    <a:path w="16" h="1077">
                      <a:moveTo>
                        <a:pt x="0" y="1077"/>
                      </a:moveTo>
                      <a:lnTo>
                        <a:pt x="0" y="0"/>
                      </a:lnTo>
                      <a:lnTo>
                        <a:pt x="16" y="0"/>
                      </a:lnTo>
                      <a:lnTo>
                        <a:pt x="16" y="970"/>
                      </a:lnTo>
                      <a:lnTo>
                        <a:pt x="0" y="107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72" name="Freeform 4260"/>
                <p:cNvSpPr>
                  <a:spLocks noChangeAspect="1"/>
                </p:cNvSpPr>
                <p:nvPr/>
              </p:nvSpPr>
              <p:spPr bwMode="auto">
                <a:xfrm>
                  <a:off x="2738" y="2287"/>
                  <a:ext cx="1" cy="271"/>
                </a:xfrm>
                <a:custGeom>
                  <a:avLst/>
                  <a:gdLst>
                    <a:gd name="T0" fmla="*/ 0 w 17"/>
                    <a:gd name="T1" fmla="*/ 1024 h 1024"/>
                    <a:gd name="T2" fmla="*/ 0 w 17"/>
                    <a:gd name="T3" fmla="*/ 0 h 1024"/>
                    <a:gd name="T4" fmla="*/ 17 w 17"/>
                    <a:gd name="T5" fmla="*/ 0 h 1024"/>
                    <a:gd name="T6" fmla="*/ 17 w 17"/>
                    <a:gd name="T7" fmla="*/ 916 h 1024"/>
                    <a:gd name="T8" fmla="*/ 0 w 17"/>
                    <a:gd name="T9" fmla="*/ 1024 h 1024"/>
                  </a:gdLst>
                  <a:ahLst/>
                  <a:cxnLst>
                    <a:cxn ang="0">
                      <a:pos x="T0" y="T1"/>
                    </a:cxn>
                    <a:cxn ang="0">
                      <a:pos x="T2" y="T3"/>
                    </a:cxn>
                    <a:cxn ang="0">
                      <a:pos x="T4" y="T5"/>
                    </a:cxn>
                    <a:cxn ang="0">
                      <a:pos x="T6" y="T7"/>
                    </a:cxn>
                    <a:cxn ang="0">
                      <a:pos x="T8" y="T9"/>
                    </a:cxn>
                  </a:cxnLst>
                  <a:rect l="0" t="0" r="r" b="b"/>
                  <a:pathLst>
                    <a:path w="17" h="1024">
                      <a:moveTo>
                        <a:pt x="0" y="1024"/>
                      </a:moveTo>
                      <a:lnTo>
                        <a:pt x="0" y="0"/>
                      </a:lnTo>
                      <a:lnTo>
                        <a:pt x="17" y="0"/>
                      </a:lnTo>
                      <a:lnTo>
                        <a:pt x="17" y="916"/>
                      </a:lnTo>
                      <a:lnTo>
                        <a:pt x="0" y="102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73" name="Freeform 4261"/>
                <p:cNvSpPr>
                  <a:spLocks noChangeAspect="1"/>
                </p:cNvSpPr>
                <p:nvPr/>
              </p:nvSpPr>
              <p:spPr bwMode="auto">
                <a:xfrm>
                  <a:off x="2739" y="2287"/>
                  <a:ext cx="5" cy="258"/>
                </a:xfrm>
                <a:custGeom>
                  <a:avLst/>
                  <a:gdLst>
                    <a:gd name="T0" fmla="*/ 0 w 17"/>
                    <a:gd name="T1" fmla="*/ 970 h 970"/>
                    <a:gd name="T2" fmla="*/ 0 w 17"/>
                    <a:gd name="T3" fmla="*/ 0 h 970"/>
                    <a:gd name="T4" fmla="*/ 17 w 17"/>
                    <a:gd name="T5" fmla="*/ 0 h 970"/>
                    <a:gd name="T6" fmla="*/ 17 w 17"/>
                    <a:gd name="T7" fmla="*/ 863 h 970"/>
                    <a:gd name="T8" fmla="*/ 0 w 17"/>
                    <a:gd name="T9" fmla="*/ 970 h 970"/>
                  </a:gdLst>
                  <a:ahLst/>
                  <a:cxnLst>
                    <a:cxn ang="0">
                      <a:pos x="T0" y="T1"/>
                    </a:cxn>
                    <a:cxn ang="0">
                      <a:pos x="T2" y="T3"/>
                    </a:cxn>
                    <a:cxn ang="0">
                      <a:pos x="T4" y="T5"/>
                    </a:cxn>
                    <a:cxn ang="0">
                      <a:pos x="T6" y="T7"/>
                    </a:cxn>
                    <a:cxn ang="0">
                      <a:pos x="T8" y="T9"/>
                    </a:cxn>
                  </a:cxnLst>
                  <a:rect l="0" t="0" r="r" b="b"/>
                  <a:pathLst>
                    <a:path w="17" h="970">
                      <a:moveTo>
                        <a:pt x="0" y="970"/>
                      </a:moveTo>
                      <a:lnTo>
                        <a:pt x="0" y="0"/>
                      </a:lnTo>
                      <a:lnTo>
                        <a:pt x="17" y="0"/>
                      </a:lnTo>
                      <a:lnTo>
                        <a:pt x="17" y="863"/>
                      </a:lnTo>
                      <a:lnTo>
                        <a:pt x="0" y="97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74" name="Freeform 4262"/>
                <p:cNvSpPr>
                  <a:spLocks noChangeAspect="1"/>
                </p:cNvSpPr>
                <p:nvPr/>
              </p:nvSpPr>
              <p:spPr bwMode="auto">
                <a:xfrm>
                  <a:off x="2742" y="2287"/>
                  <a:ext cx="5" cy="242"/>
                </a:xfrm>
                <a:custGeom>
                  <a:avLst/>
                  <a:gdLst>
                    <a:gd name="T0" fmla="*/ 0 w 17"/>
                    <a:gd name="T1" fmla="*/ 916 h 916"/>
                    <a:gd name="T2" fmla="*/ 0 w 17"/>
                    <a:gd name="T3" fmla="*/ 0 h 916"/>
                    <a:gd name="T4" fmla="*/ 17 w 17"/>
                    <a:gd name="T5" fmla="*/ 0 h 916"/>
                    <a:gd name="T6" fmla="*/ 17 w 17"/>
                    <a:gd name="T7" fmla="*/ 808 h 916"/>
                    <a:gd name="T8" fmla="*/ 0 w 17"/>
                    <a:gd name="T9" fmla="*/ 916 h 916"/>
                  </a:gdLst>
                  <a:ahLst/>
                  <a:cxnLst>
                    <a:cxn ang="0">
                      <a:pos x="T0" y="T1"/>
                    </a:cxn>
                    <a:cxn ang="0">
                      <a:pos x="T2" y="T3"/>
                    </a:cxn>
                    <a:cxn ang="0">
                      <a:pos x="T4" y="T5"/>
                    </a:cxn>
                    <a:cxn ang="0">
                      <a:pos x="T6" y="T7"/>
                    </a:cxn>
                    <a:cxn ang="0">
                      <a:pos x="T8" y="T9"/>
                    </a:cxn>
                  </a:cxnLst>
                  <a:rect l="0" t="0" r="r" b="b"/>
                  <a:pathLst>
                    <a:path w="17" h="916">
                      <a:moveTo>
                        <a:pt x="0" y="916"/>
                      </a:moveTo>
                      <a:lnTo>
                        <a:pt x="0" y="0"/>
                      </a:lnTo>
                      <a:lnTo>
                        <a:pt x="17" y="0"/>
                      </a:lnTo>
                      <a:lnTo>
                        <a:pt x="17" y="808"/>
                      </a:lnTo>
                      <a:lnTo>
                        <a:pt x="0" y="91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75" name="Freeform 4263"/>
                <p:cNvSpPr>
                  <a:spLocks noChangeAspect="1"/>
                </p:cNvSpPr>
                <p:nvPr/>
              </p:nvSpPr>
              <p:spPr bwMode="auto">
                <a:xfrm>
                  <a:off x="2744" y="2287"/>
                  <a:ext cx="2" cy="228"/>
                </a:xfrm>
                <a:custGeom>
                  <a:avLst/>
                  <a:gdLst>
                    <a:gd name="T0" fmla="*/ 0 w 16"/>
                    <a:gd name="T1" fmla="*/ 863 h 863"/>
                    <a:gd name="T2" fmla="*/ 0 w 16"/>
                    <a:gd name="T3" fmla="*/ 0 h 863"/>
                    <a:gd name="T4" fmla="*/ 16 w 16"/>
                    <a:gd name="T5" fmla="*/ 0 h 863"/>
                    <a:gd name="T6" fmla="*/ 16 w 16"/>
                    <a:gd name="T7" fmla="*/ 754 h 863"/>
                    <a:gd name="T8" fmla="*/ 0 w 16"/>
                    <a:gd name="T9" fmla="*/ 863 h 863"/>
                  </a:gdLst>
                  <a:ahLst/>
                  <a:cxnLst>
                    <a:cxn ang="0">
                      <a:pos x="T0" y="T1"/>
                    </a:cxn>
                    <a:cxn ang="0">
                      <a:pos x="T2" y="T3"/>
                    </a:cxn>
                    <a:cxn ang="0">
                      <a:pos x="T4" y="T5"/>
                    </a:cxn>
                    <a:cxn ang="0">
                      <a:pos x="T6" y="T7"/>
                    </a:cxn>
                    <a:cxn ang="0">
                      <a:pos x="T8" y="T9"/>
                    </a:cxn>
                  </a:cxnLst>
                  <a:rect l="0" t="0" r="r" b="b"/>
                  <a:pathLst>
                    <a:path w="16" h="863">
                      <a:moveTo>
                        <a:pt x="0" y="863"/>
                      </a:moveTo>
                      <a:lnTo>
                        <a:pt x="0" y="0"/>
                      </a:lnTo>
                      <a:lnTo>
                        <a:pt x="16" y="0"/>
                      </a:lnTo>
                      <a:lnTo>
                        <a:pt x="16" y="754"/>
                      </a:lnTo>
                      <a:lnTo>
                        <a:pt x="0" y="863"/>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76" name="Freeform 4264"/>
                <p:cNvSpPr>
                  <a:spLocks noChangeAspect="1"/>
                </p:cNvSpPr>
                <p:nvPr/>
              </p:nvSpPr>
              <p:spPr bwMode="auto">
                <a:xfrm>
                  <a:off x="2746" y="2287"/>
                  <a:ext cx="0" cy="214"/>
                </a:xfrm>
                <a:custGeom>
                  <a:avLst/>
                  <a:gdLst>
                    <a:gd name="T0" fmla="*/ 0 w 16"/>
                    <a:gd name="T1" fmla="*/ 808 h 808"/>
                    <a:gd name="T2" fmla="*/ 0 w 16"/>
                    <a:gd name="T3" fmla="*/ 0 h 808"/>
                    <a:gd name="T4" fmla="*/ 16 w 16"/>
                    <a:gd name="T5" fmla="*/ 0 h 808"/>
                    <a:gd name="T6" fmla="*/ 16 w 16"/>
                    <a:gd name="T7" fmla="*/ 701 h 808"/>
                    <a:gd name="T8" fmla="*/ 0 w 16"/>
                    <a:gd name="T9" fmla="*/ 808 h 808"/>
                  </a:gdLst>
                  <a:ahLst/>
                  <a:cxnLst>
                    <a:cxn ang="0">
                      <a:pos x="T0" y="T1"/>
                    </a:cxn>
                    <a:cxn ang="0">
                      <a:pos x="T2" y="T3"/>
                    </a:cxn>
                    <a:cxn ang="0">
                      <a:pos x="T4" y="T5"/>
                    </a:cxn>
                    <a:cxn ang="0">
                      <a:pos x="T6" y="T7"/>
                    </a:cxn>
                    <a:cxn ang="0">
                      <a:pos x="T8" y="T9"/>
                    </a:cxn>
                  </a:cxnLst>
                  <a:rect l="0" t="0" r="r" b="b"/>
                  <a:pathLst>
                    <a:path w="16" h="808">
                      <a:moveTo>
                        <a:pt x="0" y="808"/>
                      </a:moveTo>
                      <a:lnTo>
                        <a:pt x="0" y="0"/>
                      </a:lnTo>
                      <a:lnTo>
                        <a:pt x="16" y="0"/>
                      </a:lnTo>
                      <a:lnTo>
                        <a:pt x="16" y="701"/>
                      </a:lnTo>
                      <a:lnTo>
                        <a:pt x="0" y="80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77" name="Freeform 4265"/>
                <p:cNvSpPr>
                  <a:spLocks noChangeAspect="1"/>
                </p:cNvSpPr>
                <p:nvPr/>
              </p:nvSpPr>
              <p:spPr bwMode="auto">
                <a:xfrm>
                  <a:off x="2748" y="2287"/>
                  <a:ext cx="6" cy="199"/>
                </a:xfrm>
                <a:custGeom>
                  <a:avLst/>
                  <a:gdLst>
                    <a:gd name="T0" fmla="*/ 0 w 17"/>
                    <a:gd name="T1" fmla="*/ 754 h 754"/>
                    <a:gd name="T2" fmla="*/ 0 w 17"/>
                    <a:gd name="T3" fmla="*/ 0 h 754"/>
                    <a:gd name="T4" fmla="*/ 17 w 17"/>
                    <a:gd name="T5" fmla="*/ 0 h 754"/>
                    <a:gd name="T6" fmla="*/ 17 w 17"/>
                    <a:gd name="T7" fmla="*/ 647 h 754"/>
                    <a:gd name="T8" fmla="*/ 0 w 17"/>
                    <a:gd name="T9" fmla="*/ 754 h 754"/>
                  </a:gdLst>
                  <a:ahLst/>
                  <a:cxnLst>
                    <a:cxn ang="0">
                      <a:pos x="T0" y="T1"/>
                    </a:cxn>
                    <a:cxn ang="0">
                      <a:pos x="T2" y="T3"/>
                    </a:cxn>
                    <a:cxn ang="0">
                      <a:pos x="T4" y="T5"/>
                    </a:cxn>
                    <a:cxn ang="0">
                      <a:pos x="T6" y="T7"/>
                    </a:cxn>
                    <a:cxn ang="0">
                      <a:pos x="T8" y="T9"/>
                    </a:cxn>
                  </a:cxnLst>
                  <a:rect l="0" t="0" r="r" b="b"/>
                  <a:pathLst>
                    <a:path w="17" h="754">
                      <a:moveTo>
                        <a:pt x="0" y="754"/>
                      </a:moveTo>
                      <a:lnTo>
                        <a:pt x="0" y="0"/>
                      </a:lnTo>
                      <a:lnTo>
                        <a:pt x="17" y="0"/>
                      </a:lnTo>
                      <a:lnTo>
                        <a:pt x="17" y="647"/>
                      </a:lnTo>
                      <a:lnTo>
                        <a:pt x="0" y="75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78" name="Freeform 4266"/>
                <p:cNvSpPr>
                  <a:spLocks noChangeAspect="1"/>
                </p:cNvSpPr>
                <p:nvPr/>
              </p:nvSpPr>
              <p:spPr bwMode="auto">
                <a:xfrm>
                  <a:off x="2750" y="2287"/>
                  <a:ext cx="5" cy="186"/>
                </a:xfrm>
                <a:custGeom>
                  <a:avLst/>
                  <a:gdLst>
                    <a:gd name="T0" fmla="*/ 0 w 17"/>
                    <a:gd name="T1" fmla="*/ 701 h 701"/>
                    <a:gd name="T2" fmla="*/ 0 w 17"/>
                    <a:gd name="T3" fmla="*/ 0 h 701"/>
                    <a:gd name="T4" fmla="*/ 17 w 17"/>
                    <a:gd name="T5" fmla="*/ 0 h 701"/>
                    <a:gd name="T6" fmla="*/ 17 w 17"/>
                    <a:gd name="T7" fmla="*/ 592 h 701"/>
                    <a:gd name="T8" fmla="*/ 0 w 17"/>
                    <a:gd name="T9" fmla="*/ 701 h 701"/>
                  </a:gdLst>
                  <a:ahLst/>
                  <a:cxnLst>
                    <a:cxn ang="0">
                      <a:pos x="T0" y="T1"/>
                    </a:cxn>
                    <a:cxn ang="0">
                      <a:pos x="T2" y="T3"/>
                    </a:cxn>
                    <a:cxn ang="0">
                      <a:pos x="T4" y="T5"/>
                    </a:cxn>
                    <a:cxn ang="0">
                      <a:pos x="T6" y="T7"/>
                    </a:cxn>
                    <a:cxn ang="0">
                      <a:pos x="T8" y="T9"/>
                    </a:cxn>
                  </a:cxnLst>
                  <a:rect l="0" t="0" r="r" b="b"/>
                  <a:pathLst>
                    <a:path w="17" h="701">
                      <a:moveTo>
                        <a:pt x="0" y="701"/>
                      </a:moveTo>
                      <a:lnTo>
                        <a:pt x="0" y="0"/>
                      </a:lnTo>
                      <a:lnTo>
                        <a:pt x="17" y="0"/>
                      </a:lnTo>
                      <a:lnTo>
                        <a:pt x="17" y="592"/>
                      </a:lnTo>
                      <a:lnTo>
                        <a:pt x="0" y="70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79" name="Freeform 4267"/>
                <p:cNvSpPr>
                  <a:spLocks noChangeAspect="1"/>
                </p:cNvSpPr>
                <p:nvPr/>
              </p:nvSpPr>
              <p:spPr bwMode="auto">
                <a:xfrm>
                  <a:off x="2753" y="2287"/>
                  <a:ext cx="0" cy="171"/>
                </a:xfrm>
                <a:custGeom>
                  <a:avLst/>
                  <a:gdLst>
                    <a:gd name="T0" fmla="*/ 0 w 17"/>
                    <a:gd name="T1" fmla="*/ 647 h 647"/>
                    <a:gd name="T2" fmla="*/ 0 w 17"/>
                    <a:gd name="T3" fmla="*/ 0 h 647"/>
                    <a:gd name="T4" fmla="*/ 17 w 17"/>
                    <a:gd name="T5" fmla="*/ 0 h 647"/>
                    <a:gd name="T6" fmla="*/ 17 w 17"/>
                    <a:gd name="T7" fmla="*/ 539 h 647"/>
                    <a:gd name="T8" fmla="*/ 0 w 17"/>
                    <a:gd name="T9" fmla="*/ 647 h 647"/>
                  </a:gdLst>
                  <a:ahLst/>
                  <a:cxnLst>
                    <a:cxn ang="0">
                      <a:pos x="T0" y="T1"/>
                    </a:cxn>
                    <a:cxn ang="0">
                      <a:pos x="T2" y="T3"/>
                    </a:cxn>
                    <a:cxn ang="0">
                      <a:pos x="T4" y="T5"/>
                    </a:cxn>
                    <a:cxn ang="0">
                      <a:pos x="T6" y="T7"/>
                    </a:cxn>
                    <a:cxn ang="0">
                      <a:pos x="T8" y="T9"/>
                    </a:cxn>
                  </a:cxnLst>
                  <a:rect l="0" t="0" r="r" b="b"/>
                  <a:pathLst>
                    <a:path w="17" h="647">
                      <a:moveTo>
                        <a:pt x="0" y="647"/>
                      </a:moveTo>
                      <a:lnTo>
                        <a:pt x="0" y="0"/>
                      </a:lnTo>
                      <a:lnTo>
                        <a:pt x="17" y="0"/>
                      </a:lnTo>
                      <a:lnTo>
                        <a:pt x="17" y="539"/>
                      </a:lnTo>
                      <a:lnTo>
                        <a:pt x="0" y="64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80" name="Freeform 4268"/>
                <p:cNvSpPr>
                  <a:spLocks noChangeAspect="1"/>
                </p:cNvSpPr>
                <p:nvPr/>
              </p:nvSpPr>
              <p:spPr bwMode="auto">
                <a:xfrm>
                  <a:off x="2755" y="2287"/>
                  <a:ext cx="6" cy="157"/>
                </a:xfrm>
                <a:custGeom>
                  <a:avLst/>
                  <a:gdLst>
                    <a:gd name="T0" fmla="*/ 0 w 17"/>
                    <a:gd name="T1" fmla="*/ 592 h 592"/>
                    <a:gd name="T2" fmla="*/ 0 w 17"/>
                    <a:gd name="T3" fmla="*/ 0 h 592"/>
                    <a:gd name="T4" fmla="*/ 17 w 17"/>
                    <a:gd name="T5" fmla="*/ 0 h 592"/>
                    <a:gd name="T6" fmla="*/ 17 w 17"/>
                    <a:gd name="T7" fmla="*/ 485 h 592"/>
                    <a:gd name="T8" fmla="*/ 0 w 17"/>
                    <a:gd name="T9" fmla="*/ 592 h 592"/>
                  </a:gdLst>
                  <a:ahLst/>
                  <a:cxnLst>
                    <a:cxn ang="0">
                      <a:pos x="T0" y="T1"/>
                    </a:cxn>
                    <a:cxn ang="0">
                      <a:pos x="T2" y="T3"/>
                    </a:cxn>
                    <a:cxn ang="0">
                      <a:pos x="T4" y="T5"/>
                    </a:cxn>
                    <a:cxn ang="0">
                      <a:pos x="T6" y="T7"/>
                    </a:cxn>
                    <a:cxn ang="0">
                      <a:pos x="T8" y="T9"/>
                    </a:cxn>
                  </a:cxnLst>
                  <a:rect l="0" t="0" r="r" b="b"/>
                  <a:pathLst>
                    <a:path w="17" h="592">
                      <a:moveTo>
                        <a:pt x="0" y="592"/>
                      </a:moveTo>
                      <a:lnTo>
                        <a:pt x="0" y="0"/>
                      </a:lnTo>
                      <a:lnTo>
                        <a:pt x="17" y="0"/>
                      </a:lnTo>
                      <a:lnTo>
                        <a:pt x="17" y="485"/>
                      </a:lnTo>
                      <a:lnTo>
                        <a:pt x="0" y="59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81" name="Freeform 4269"/>
                <p:cNvSpPr>
                  <a:spLocks noChangeAspect="1"/>
                </p:cNvSpPr>
                <p:nvPr/>
              </p:nvSpPr>
              <p:spPr bwMode="auto">
                <a:xfrm>
                  <a:off x="2757" y="2287"/>
                  <a:ext cx="3" cy="142"/>
                </a:xfrm>
                <a:custGeom>
                  <a:avLst/>
                  <a:gdLst>
                    <a:gd name="T0" fmla="*/ 0 w 16"/>
                    <a:gd name="T1" fmla="*/ 539 h 539"/>
                    <a:gd name="T2" fmla="*/ 0 w 16"/>
                    <a:gd name="T3" fmla="*/ 0 h 539"/>
                    <a:gd name="T4" fmla="*/ 16 w 16"/>
                    <a:gd name="T5" fmla="*/ 0 h 539"/>
                    <a:gd name="T6" fmla="*/ 16 w 16"/>
                    <a:gd name="T7" fmla="*/ 431 h 539"/>
                    <a:gd name="T8" fmla="*/ 0 w 16"/>
                    <a:gd name="T9" fmla="*/ 539 h 539"/>
                  </a:gdLst>
                  <a:ahLst/>
                  <a:cxnLst>
                    <a:cxn ang="0">
                      <a:pos x="T0" y="T1"/>
                    </a:cxn>
                    <a:cxn ang="0">
                      <a:pos x="T2" y="T3"/>
                    </a:cxn>
                    <a:cxn ang="0">
                      <a:pos x="T4" y="T5"/>
                    </a:cxn>
                    <a:cxn ang="0">
                      <a:pos x="T6" y="T7"/>
                    </a:cxn>
                    <a:cxn ang="0">
                      <a:pos x="T8" y="T9"/>
                    </a:cxn>
                  </a:cxnLst>
                  <a:rect l="0" t="0" r="r" b="b"/>
                  <a:pathLst>
                    <a:path w="16" h="539">
                      <a:moveTo>
                        <a:pt x="0" y="539"/>
                      </a:moveTo>
                      <a:lnTo>
                        <a:pt x="0" y="0"/>
                      </a:lnTo>
                      <a:lnTo>
                        <a:pt x="16" y="0"/>
                      </a:lnTo>
                      <a:lnTo>
                        <a:pt x="16" y="431"/>
                      </a:lnTo>
                      <a:lnTo>
                        <a:pt x="0" y="539"/>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82" name="Freeform 4270"/>
                <p:cNvSpPr>
                  <a:spLocks noChangeAspect="1"/>
                </p:cNvSpPr>
                <p:nvPr/>
              </p:nvSpPr>
              <p:spPr bwMode="auto">
                <a:xfrm>
                  <a:off x="2759" y="2287"/>
                  <a:ext cx="1" cy="128"/>
                </a:xfrm>
                <a:custGeom>
                  <a:avLst/>
                  <a:gdLst>
                    <a:gd name="T0" fmla="*/ 0 w 16"/>
                    <a:gd name="T1" fmla="*/ 485 h 485"/>
                    <a:gd name="T2" fmla="*/ 0 w 16"/>
                    <a:gd name="T3" fmla="*/ 0 h 485"/>
                    <a:gd name="T4" fmla="*/ 16 w 16"/>
                    <a:gd name="T5" fmla="*/ 0 h 485"/>
                    <a:gd name="T6" fmla="*/ 16 w 16"/>
                    <a:gd name="T7" fmla="*/ 378 h 485"/>
                    <a:gd name="T8" fmla="*/ 0 w 16"/>
                    <a:gd name="T9" fmla="*/ 485 h 485"/>
                  </a:gdLst>
                  <a:ahLst/>
                  <a:cxnLst>
                    <a:cxn ang="0">
                      <a:pos x="T0" y="T1"/>
                    </a:cxn>
                    <a:cxn ang="0">
                      <a:pos x="T2" y="T3"/>
                    </a:cxn>
                    <a:cxn ang="0">
                      <a:pos x="T4" y="T5"/>
                    </a:cxn>
                    <a:cxn ang="0">
                      <a:pos x="T6" y="T7"/>
                    </a:cxn>
                    <a:cxn ang="0">
                      <a:pos x="T8" y="T9"/>
                    </a:cxn>
                  </a:cxnLst>
                  <a:rect l="0" t="0" r="r" b="b"/>
                  <a:pathLst>
                    <a:path w="16" h="485">
                      <a:moveTo>
                        <a:pt x="0" y="485"/>
                      </a:moveTo>
                      <a:lnTo>
                        <a:pt x="0" y="0"/>
                      </a:lnTo>
                      <a:lnTo>
                        <a:pt x="16" y="0"/>
                      </a:lnTo>
                      <a:lnTo>
                        <a:pt x="16" y="378"/>
                      </a:lnTo>
                      <a:lnTo>
                        <a:pt x="0" y="485"/>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83" name="Freeform 4271"/>
                <p:cNvSpPr>
                  <a:spLocks noChangeAspect="1"/>
                </p:cNvSpPr>
                <p:nvPr/>
              </p:nvSpPr>
              <p:spPr bwMode="auto">
                <a:xfrm>
                  <a:off x="2760" y="2287"/>
                  <a:ext cx="6" cy="115"/>
                </a:xfrm>
                <a:custGeom>
                  <a:avLst/>
                  <a:gdLst>
                    <a:gd name="T0" fmla="*/ 0 w 17"/>
                    <a:gd name="T1" fmla="*/ 431 h 431"/>
                    <a:gd name="T2" fmla="*/ 0 w 17"/>
                    <a:gd name="T3" fmla="*/ 0 h 431"/>
                    <a:gd name="T4" fmla="*/ 17 w 17"/>
                    <a:gd name="T5" fmla="*/ 0 h 431"/>
                    <a:gd name="T6" fmla="*/ 17 w 17"/>
                    <a:gd name="T7" fmla="*/ 324 h 431"/>
                    <a:gd name="T8" fmla="*/ 0 w 17"/>
                    <a:gd name="T9" fmla="*/ 431 h 431"/>
                  </a:gdLst>
                  <a:ahLst/>
                  <a:cxnLst>
                    <a:cxn ang="0">
                      <a:pos x="T0" y="T1"/>
                    </a:cxn>
                    <a:cxn ang="0">
                      <a:pos x="T2" y="T3"/>
                    </a:cxn>
                    <a:cxn ang="0">
                      <a:pos x="T4" y="T5"/>
                    </a:cxn>
                    <a:cxn ang="0">
                      <a:pos x="T6" y="T7"/>
                    </a:cxn>
                    <a:cxn ang="0">
                      <a:pos x="T8" y="T9"/>
                    </a:cxn>
                  </a:cxnLst>
                  <a:rect l="0" t="0" r="r" b="b"/>
                  <a:pathLst>
                    <a:path w="17" h="431">
                      <a:moveTo>
                        <a:pt x="0" y="431"/>
                      </a:moveTo>
                      <a:lnTo>
                        <a:pt x="0" y="0"/>
                      </a:lnTo>
                      <a:lnTo>
                        <a:pt x="17" y="0"/>
                      </a:lnTo>
                      <a:lnTo>
                        <a:pt x="17" y="324"/>
                      </a:lnTo>
                      <a:lnTo>
                        <a:pt x="0" y="43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84" name="Freeform 4272"/>
                <p:cNvSpPr>
                  <a:spLocks noChangeAspect="1"/>
                </p:cNvSpPr>
                <p:nvPr/>
              </p:nvSpPr>
              <p:spPr bwMode="auto">
                <a:xfrm>
                  <a:off x="2763" y="2287"/>
                  <a:ext cx="5" cy="102"/>
                </a:xfrm>
                <a:custGeom>
                  <a:avLst/>
                  <a:gdLst>
                    <a:gd name="T0" fmla="*/ 0 w 17"/>
                    <a:gd name="T1" fmla="*/ 378 h 378"/>
                    <a:gd name="T2" fmla="*/ 0 w 17"/>
                    <a:gd name="T3" fmla="*/ 0 h 378"/>
                    <a:gd name="T4" fmla="*/ 17 w 17"/>
                    <a:gd name="T5" fmla="*/ 0 h 378"/>
                    <a:gd name="T6" fmla="*/ 17 w 17"/>
                    <a:gd name="T7" fmla="*/ 269 h 378"/>
                    <a:gd name="T8" fmla="*/ 0 w 17"/>
                    <a:gd name="T9" fmla="*/ 378 h 378"/>
                  </a:gdLst>
                  <a:ahLst/>
                  <a:cxnLst>
                    <a:cxn ang="0">
                      <a:pos x="T0" y="T1"/>
                    </a:cxn>
                    <a:cxn ang="0">
                      <a:pos x="T2" y="T3"/>
                    </a:cxn>
                    <a:cxn ang="0">
                      <a:pos x="T4" y="T5"/>
                    </a:cxn>
                    <a:cxn ang="0">
                      <a:pos x="T6" y="T7"/>
                    </a:cxn>
                    <a:cxn ang="0">
                      <a:pos x="T8" y="T9"/>
                    </a:cxn>
                  </a:cxnLst>
                  <a:rect l="0" t="0" r="r" b="b"/>
                  <a:pathLst>
                    <a:path w="17" h="378">
                      <a:moveTo>
                        <a:pt x="0" y="378"/>
                      </a:moveTo>
                      <a:lnTo>
                        <a:pt x="0" y="0"/>
                      </a:lnTo>
                      <a:lnTo>
                        <a:pt x="17" y="0"/>
                      </a:lnTo>
                      <a:lnTo>
                        <a:pt x="17" y="269"/>
                      </a:lnTo>
                      <a:lnTo>
                        <a:pt x="0" y="37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85" name="Freeform 4273"/>
                <p:cNvSpPr>
                  <a:spLocks noChangeAspect="1"/>
                </p:cNvSpPr>
                <p:nvPr/>
              </p:nvSpPr>
              <p:spPr bwMode="auto">
                <a:xfrm>
                  <a:off x="2766" y="2287"/>
                  <a:ext cx="1" cy="85"/>
                </a:xfrm>
                <a:custGeom>
                  <a:avLst/>
                  <a:gdLst>
                    <a:gd name="T0" fmla="*/ 0 w 17"/>
                    <a:gd name="T1" fmla="*/ 324 h 324"/>
                    <a:gd name="T2" fmla="*/ 0 w 17"/>
                    <a:gd name="T3" fmla="*/ 0 h 324"/>
                    <a:gd name="T4" fmla="*/ 17 w 17"/>
                    <a:gd name="T5" fmla="*/ 0 h 324"/>
                    <a:gd name="T6" fmla="*/ 17 w 17"/>
                    <a:gd name="T7" fmla="*/ 216 h 324"/>
                    <a:gd name="T8" fmla="*/ 0 w 17"/>
                    <a:gd name="T9" fmla="*/ 324 h 324"/>
                  </a:gdLst>
                  <a:ahLst/>
                  <a:cxnLst>
                    <a:cxn ang="0">
                      <a:pos x="T0" y="T1"/>
                    </a:cxn>
                    <a:cxn ang="0">
                      <a:pos x="T2" y="T3"/>
                    </a:cxn>
                    <a:cxn ang="0">
                      <a:pos x="T4" y="T5"/>
                    </a:cxn>
                    <a:cxn ang="0">
                      <a:pos x="T6" y="T7"/>
                    </a:cxn>
                    <a:cxn ang="0">
                      <a:pos x="T8" y="T9"/>
                    </a:cxn>
                  </a:cxnLst>
                  <a:rect l="0" t="0" r="r" b="b"/>
                  <a:pathLst>
                    <a:path w="17" h="324">
                      <a:moveTo>
                        <a:pt x="0" y="324"/>
                      </a:moveTo>
                      <a:lnTo>
                        <a:pt x="0" y="0"/>
                      </a:lnTo>
                      <a:lnTo>
                        <a:pt x="17" y="0"/>
                      </a:lnTo>
                      <a:lnTo>
                        <a:pt x="17" y="216"/>
                      </a:lnTo>
                      <a:lnTo>
                        <a:pt x="0" y="32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86" name="Freeform 4274"/>
                <p:cNvSpPr>
                  <a:spLocks noChangeAspect="1"/>
                </p:cNvSpPr>
                <p:nvPr/>
              </p:nvSpPr>
              <p:spPr bwMode="auto">
                <a:xfrm>
                  <a:off x="2767" y="2287"/>
                  <a:ext cx="5" cy="71"/>
                </a:xfrm>
                <a:custGeom>
                  <a:avLst/>
                  <a:gdLst>
                    <a:gd name="T0" fmla="*/ 0 w 16"/>
                    <a:gd name="T1" fmla="*/ 269 h 269"/>
                    <a:gd name="T2" fmla="*/ 0 w 16"/>
                    <a:gd name="T3" fmla="*/ 0 h 269"/>
                    <a:gd name="T4" fmla="*/ 16 w 16"/>
                    <a:gd name="T5" fmla="*/ 0 h 269"/>
                    <a:gd name="T6" fmla="*/ 16 w 16"/>
                    <a:gd name="T7" fmla="*/ 162 h 269"/>
                    <a:gd name="T8" fmla="*/ 0 w 16"/>
                    <a:gd name="T9" fmla="*/ 269 h 269"/>
                  </a:gdLst>
                  <a:ahLst/>
                  <a:cxnLst>
                    <a:cxn ang="0">
                      <a:pos x="T0" y="T1"/>
                    </a:cxn>
                    <a:cxn ang="0">
                      <a:pos x="T2" y="T3"/>
                    </a:cxn>
                    <a:cxn ang="0">
                      <a:pos x="T4" y="T5"/>
                    </a:cxn>
                    <a:cxn ang="0">
                      <a:pos x="T6" y="T7"/>
                    </a:cxn>
                    <a:cxn ang="0">
                      <a:pos x="T8" y="T9"/>
                    </a:cxn>
                  </a:cxnLst>
                  <a:rect l="0" t="0" r="r" b="b"/>
                  <a:pathLst>
                    <a:path w="16" h="269">
                      <a:moveTo>
                        <a:pt x="0" y="269"/>
                      </a:moveTo>
                      <a:lnTo>
                        <a:pt x="0" y="0"/>
                      </a:lnTo>
                      <a:lnTo>
                        <a:pt x="16" y="0"/>
                      </a:lnTo>
                      <a:lnTo>
                        <a:pt x="16" y="162"/>
                      </a:lnTo>
                      <a:lnTo>
                        <a:pt x="0" y="269"/>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87" name="Freeform 4275"/>
                <p:cNvSpPr>
                  <a:spLocks noChangeAspect="1"/>
                </p:cNvSpPr>
                <p:nvPr/>
              </p:nvSpPr>
              <p:spPr bwMode="auto">
                <a:xfrm>
                  <a:off x="2769" y="2287"/>
                  <a:ext cx="6" cy="57"/>
                </a:xfrm>
                <a:custGeom>
                  <a:avLst/>
                  <a:gdLst>
                    <a:gd name="T0" fmla="*/ 0 w 16"/>
                    <a:gd name="T1" fmla="*/ 216 h 216"/>
                    <a:gd name="T2" fmla="*/ 0 w 16"/>
                    <a:gd name="T3" fmla="*/ 0 h 216"/>
                    <a:gd name="T4" fmla="*/ 16 w 16"/>
                    <a:gd name="T5" fmla="*/ 0 h 216"/>
                    <a:gd name="T6" fmla="*/ 16 w 16"/>
                    <a:gd name="T7" fmla="*/ 108 h 216"/>
                    <a:gd name="T8" fmla="*/ 0 w 16"/>
                    <a:gd name="T9" fmla="*/ 216 h 216"/>
                  </a:gdLst>
                  <a:ahLst/>
                  <a:cxnLst>
                    <a:cxn ang="0">
                      <a:pos x="T0" y="T1"/>
                    </a:cxn>
                    <a:cxn ang="0">
                      <a:pos x="T2" y="T3"/>
                    </a:cxn>
                    <a:cxn ang="0">
                      <a:pos x="T4" y="T5"/>
                    </a:cxn>
                    <a:cxn ang="0">
                      <a:pos x="T6" y="T7"/>
                    </a:cxn>
                    <a:cxn ang="0">
                      <a:pos x="T8" y="T9"/>
                    </a:cxn>
                  </a:cxnLst>
                  <a:rect l="0" t="0" r="r" b="b"/>
                  <a:pathLst>
                    <a:path w="16" h="216">
                      <a:moveTo>
                        <a:pt x="0" y="216"/>
                      </a:moveTo>
                      <a:lnTo>
                        <a:pt x="0" y="0"/>
                      </a:lnTo>
                      <a:lnTo>
                        <a:pt x="16" y="0"/>
                      </a:lnTo>
                      <a:lnTo>
                        <a:pt x="16" y="108"/>
                      </a:lnTo>
                      <a:lnTo>
                        <a:pt x="0" y="21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88" name="Freeform 4276"/>
                <p:cNvSpPr>
                  <a:spLocks noChangeAspect="1"/>
                </p:cNvSpPr>
                <p:nvPr/>
              </p:nvSpPr>
              <p:spPr bwMode="auto">
                <a:xfrm>
                  <a:off x="2772" y="2287"/>
                  <a:ext cx="2" cy="43"/>
                </a:xfrm>
                <a:custGeom>
                  <a:avLst/>
                  <a:gdLst>
                    <a:gd name="T0" fmla="*/ 0 w 17"/>
                    <a:gd name="T1" fmla="*/ 162 h 162"/>
                    <a:gd name="T2" fmla="*/ 0 w 17"/>
                    <a:gd name="T3" fmla="*/ 0 h 162"/>
                    <a:gd name="T4" fmla="*/ 17 w 17"/>
                    <a:gd name="T5" fmla="*/ 0 h 162"/>
                    <a:gd name="T6" fmla="*/ 17 w 17"/>
                    <a:gd name="T7" fmla="*/ 55 h 162"/>
                    <a:gd name="T8" fmla="*/ 0 w 17"/>
                    <a:gd name="T9" fmla="*/ 162 h 162"/>
                  </a:gdLst>
                  <a:ahLst/>
                  <a:cxnLst>
                    <a:cxn ang="0">
                      <a:pos x="T0" y="T1"/>
                    </a:cxn>
                    <a:cxn ang="0">
                      <a:pos x="T2" y="T3"/>
                    </a:cxn>
                    <a:cxn ang="0">
                      <a:pos x="T4" y="T5"/>
                    </a:cxn>
                    <a:cxn ang="0">
                      <a:pos x="T6" y="T7"/>
                    </a:cxn>
                    <a:cxn ang="0">
                      <a:pos x="T8" y="T9"/>
                    </a:cxn>
                  </a:cxnLst>
                  <a:rect l="0" t="0" r="r" b="b"/>
                  <a:pathLst>
                    <a:path w="17" h="162">
                      <a:moveTo>
                        <a:pt x="0" y="162"/>
                      </a:moveTo>
                      <a:lnTo>
                        <a:pt x="0" y="0"/>
                      </a:lnTo>
                      <a:lnTo>
                        <a:pt x="17" y="0"/>
                      </a:lnTo>
                      <a:lnTo>
                        <a:pt x="17" y="55"/>
                      </a:lnTo>
                      <a:lnTo>
                        <a:pt x="0" y="16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89" name="Freeform 4277"/>
                <p:cNvSpPr>
                  <a:spLocks noChangeAspect="1"/>
                </p:cNvSpPr>
                <p:nvPr/>
              </p:nvSpPr>
              <p:spPr bwMode="auto">
                <a:xfrm>
                  <a:off x="2673" y="2287"/>
                  <a:ext cx="105" cy="326"/>
                </a:xfrm>
                <a:custGeom>
                  <a:avLst/>
                  <a:gdLst>
                    <a:gd name="T0" fmla="*/ 0 w 416"/>
                    <a:gd name="T1" fmla="*/ 0 h 1235"/>
                    <a:gd name="T2" fmla="*/ 416 w 416"/>
                    <a:gd name="T3" fmla="*/ 0 h 1235"/>
                    <a:gd name="T4" fmla="*/ 225 w 416"/>
                    <a:gd name="T5" fmla="*/ 1235 h 1235"/>
                    <a:gd name="T6" fmla="*/ 0 w 416"/>
                    <a:gd name="T7" fmla="*/ 0 h 1235"/>
                  </a:gdLst>
                  <a:ahLst/>
                  <a:cxnLst>
                    <a:cxn ang="0">
                      <a:pos x="T0" y="T1"/>
                    </a:cxn>
                    <a:cxn ang="0">
                      <a:pos x="T2" y="T3"/>
                    </a:cxn>
                    <a:cxn ang="0">
                      <a:pos x="T4" y="T5"/>
                    </a:cxn>
                    <a:cxn ang="0">
                      <a:pos x="T6" y="T7"/>
                    </a:cxn>
                  </a:cxnLst>
                  <a:rect l="0" t="0" r="r" b="b"/>
                  <a:pathLst>
                    <a:path w="416" h="1235">
                      <a:moveTo>
                        <a:pt x="0" y="0"/>
                      </a:moveTo>
                      <a:lnTo>
                        <a:pt x="416" y="0"/>
                      </a:lnTo>
                      <a:lnTo>
                        <a:pt x="225" y="1235"/>
                      </a:lnTo>
                      <a:lnTo>
                        <a:pt x="0" y="0"/>
                      </a:lnTo>
                    </a:path>
                  </a:pathLst>
                </a:custGeom>
                <a:gradFill rotWithShape="0">
                  <a:gsLst>
                    <a:gs pos="0">
                      <a:schemeClr val="hlink"/>
                    </a:gs>
                    <a:gs pos="50000">
                      <a:schemeClr val="hlink">
                        <a:gamma/>
                        <a:tint val="30196"/>
                        <a:invGamma/>
                      </a:schemeClr>
                    </a:gs>
                    <a:gs pos="100000">
                      <a:schemeClr val="hlink"/>
                    </a:gs>
                  </a:gsLst>
                  <a:lin ang="0" scaled="1"/>
                </a:gradFill>
                <a:ln w="1588">
                  <a:solidFill>
                    <a:srgbClr val="1F1A17"/>
                  </a:solidFill>
                  <a:prstDash val="solid"/>
                  <a:round/>
                  <a:headEnd/>
                  <a:tailEnd/>
                </a:ln>
              </p:spPr>
              <p:txBody>
                <a:bodyPr/>
                <a:lstStyle/>
                <a:p>
                  <a:pPr>
                    <a:defRPr/>
                  </a:pPr>
                  <a:endParaRPr lang="en-US"/>
                </a:p>
              </p:txBody>
            </p:sp>
          </p:grpSp>
          <p:grpSp>
            <p:nvGrpSpPr>
              <p:cNvPr id="387150" name="Group 4278"/>
              <p:cNvGrpSpPr>
                <a:grpSpLocks noChangeAspect="1"/>
              </p:cNvGrpSpPr>
              <p:nvPr/>
            </p:nvGrpSpPr>
            <p:grpSpPr bwMode="auto">
              <a:xfrm>
                <a:off x="2769" y="2334"/>
                <a:ext cx="105" cy="326"/>
                <a:chOff x="2673" y="2287"/>
                <a:chExt cx="105" cy="326"/>
              </a:xfrm>
            </p:grpSpPr>
            <p:sp>
              <p:nvSpPr>
                <p:cNvPr id="68791" name="Freeform 4279"/>
                <p:cNvSpPr>
                  <a:spLocks noChangeAspect="1"/>
                </p:cNvSpPr>
                <p:nvPr/>
              </p:nvSpPr>
              <p:spPr bwMode="auto">
                <a:xfrm>
                  <a:off x="2673" y="2287"/>
                  <a:ext cx="2" cy="13"/>
                </a:xfrm>
                <a:custGeom>
                  <a:avLst/>
                  <a:gdLst>
                    <a:gd name="T0" fmla="*/ 0 w 8"/>
                    <a:gd name="T1" fmla="*/ 0 h 46"/>
                    <a:gd name="T2" fmla="*/ 8 w 8"/>
                    <a:gd name="T3" fmla="*/ 0 h 46"/>
                    <a:gd name="T4" fmla="*/ 8 w 8"/>
                    <a:gd name="T5" fmla="*/ 46 h 46"/>
                    <a:gd name="T6" fmla="*/ 0 w 8"/>
                    <a:gd name="T7" fmla="*/ 0 h 46"/>
                  </a:gdLst>
                  <a:ahLst/>
                  <a:cxnLst>
                    <a:cxn ang="0">
                      <a:pos x="T0" y="T1"/>
                    </a:cxn>
                    <a:cxn ang="0">
                      <a:pos x="T2" y="T3"/>
                    </a:cxn>
                    <a:cxn ang="0">
                      <a:pos x="T4" y="T5"/>
                    </a:cxn>
                    <a:cxn ang="0">
                      <a:pos x="T6" y="T7"/>
                    </a:cxn>
                  </a:cxnLst>
                  <a:rect l="0" t="0" r="r" b="b"/>
                  <a:pathLst>
                    <a:path w="8" h="46">
                      <a:moveTo>
                        <a:pt x="0" y="0"/>
                      </a:moveTo>
                      <a:lnTo>
                        <a:pt x="8" y="0"/>
                      </a:lnTo>
                      <a:lnTo>
                        <a:pt x="8" y="46"/>
                      </a:lnTo>
                      <a:lnTo>
                        <a:pt x="0" y="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92" name="Freeform 4280"/>
                <p:cNvSpPr>
                  <a:spLocks noChangeAspect="1"/>
                </p:cNvSpPr>
                <p:nvPr/>
              </p:nvSpPr>
              <p:spPr bwMode="auto">
                <a:xfrm>
                  <a:off x="2673" y="2287"/>
                  <a:ext cx="3" cy="25"/>
                </a:xfrm>
                <a:custGeom>
                  <a:avLst/>
                  <a:gdLst>
                    <a:gd name="T0" fmla="*/ 0 w 15"/>
                    <a:gd name="T1" fmla="*/ 0 h 92"/>
                    <a:gd name="T2" fmla="*/ 15 w 15"/>
                    <a:gd name="T3" fmla="*/ 0 h 92"/>
                    <a:gd name="T4" fmla="*/ 15 w 15"/>
                    <a:gd name="T5" fmla="*/ 92 h 92"/>
                    <a:gd name="T6" fmla="*/ 0 w 15"/>
                    <a:gd name="T7" fmla="*/ 0 h 92"/>
                  </a:gdLst>
                  <a:ahLst/>
                  <a:cxnLst>
                    <a:cxn ang="0">
                      <a:pos x="T0" y="T1"/>
                    </a:cxn>
                    <a:cxn ang="0">
                      <a:pos x="T2" y="T3"/>
                    </a:cxn>
                    <a:cxn ang="0">
                      <a:pos x="T4" y="T5"/>
                    </a:cxn>
                    <a:cxn ang="0">
                      <a:pos x="T6" y="T7"/>
                    </a:cxn>
                  </a:cxnLst>
                  <a:rect l="0" t="0" r="r" b="b"/>
                  <a:pathLst>
                    <a:path w="15" h="92">
                      <a:moveTo>
                        <a:pt x="0" y="0"/>
                      </a:moveTo>
                      <a:lnTo>
                        <a:pt x="15" y="0"/>
                      </a:lnTo>
                      <a:lnTo>
                        <a:pt x="15" y="92"/>
                      </a:lnTo>
                      <a:lnTo>
                        <a:pt x="0" y="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93" name="Freeform 4281"/>
                <p:cNvSpPr>
                  <a:spLocks noChangeAspect="1"/>
                </p:cNvSpPr>
                <p:nvPr/>
              </p:nvSpPr>
              <p:spPr bwMode="auto">
                <a:xfrm>
                  <a:off x="2675" y="2287"/>
                  <a:ext cx="1" cy="35"/>
                </a:xfrm>
                <a:custGeom>
                  <a:avLst/>
                  <a:gdLst>
                    <a:gd name="T0" fmla="*/ 0 w 16"/>
                    <a:gd name="T1" fmla="*/ 46 h 137"/>
                    <a:gd name="T2" fmla="*/ 0 w 16"/>
                    <a:gd name="T3" fmla="*/ 0 h 137"/>
                    <a:gd name="T4" fmla="*/ 16 w 16"/>
                    <a:gd name="T5" fmla="*/ 0 h 137"/>
                    <a:gd name="T6" fmla="*/ 16 w 16"/>
                    <a:gd name="T7" fmla="*/ 137 h 137"/>
                    <a:gd name="T8" fmla="*/ 0 w 16"/>
                    <a:gd name="T9" fmla="*/ 46 h 137"/>
                  </a:gdLst>
                  <a:ahLst/>
                  <a:cxnLst>
                    <a:cxn ang="0">
                      <a:pos x="T0" y="T1"/>
                    </a:cxn>
                    <a:cxn ang="0">
                      <a:pos x="T2" y="T3"/>
                    </a:cxn>
                    <a:cxn ang="0">
                      <a:pos x="T4" y="T5"/>
                    </a:cxn>
                    <a:cxn ang="0">
                      <a:pos x="T6" y="T7"/>
                    </a:cxn>
                    <a:cxn ang="0">
                      <a:pos x="T8" y="T9"/>
                    </a:cxn>
                  </a:cxnLst>
                  <a:rect l="0" t="0" r="r" b="b"/>
                  <a:pathLst>
                    <a:path w="16" h="137">
                      <a:moveTo>
                        <a:pt x="0" y="46"/>
                      </a:moveTo>
                      <a:lnTo>
                        <a:pt x="0" y="0"/>
                      </a:lnTo>
                      <a:lnTo>
                        <a:pt x="16" y="0"/>
                      </a:lnTo>
                      <a:lnTo>
                        <a:pt x="16" y="137"/>
                      </a:lnTo>
                      <a:lnTo>
                        <a:pt x="0" y="4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94" name="Freeform 4282"/>
                <p:cNvSpPr>
                  <a:spLocks noChangeAspect="1"/>
                </p:cNvSpPr>
                <p:nvPr/>
              </p:nvSpPr>
              <p:spPr bwMode="auto">
                <a:xfrm>
                  <a:off x="2676" y="2287"/>
                  <a:ext cx="5" cy="47"/>
                </a:xfrm>
                <a:custGeom>
                  <a:avLst/>
                  <a:gdLst>
                    <a:gd name="T0" fmla="*/ 0 w 17"/>
                    <a:gd name="T1" fmla="*/ 92 h 183"/>
                    <a:gd name="T2" fmla="*/ 0 w 17"/>
                    <a:gd name="T3" fmla="*/ 0 h 183"/>
                    <a:gd name="T4" fmla="*/ 17 w 17"/>
                    <a:gd name="T5" fmla="*/ 0 h 183"/>
                    <a:gd name="T6" fmla="*/ 17 w 17"/>
                    <a:gd name="T7" fmla="*/ 183 h 183"/>
                    <a:gd name="T8" fmla="*/ 0 w 17"/>
                    <a:gd name="T9" fmla="*/ 92 h 183"/>
                  </a:gdLst>
                  <a:ahLst/>
                  <a:cxnLst>
                    <a:cxn ang="0">
                      <a:pos x="T0" y="T1"/>
                    </a:cxn>
                    <a:cxn ang="0">
                      <a:pos x="T2" y="T3"/>
                    </a:cxn>
                    <a:cxn ang="0">
                      <a:pos x="T4" y="T5"/>
                    </a:cxn>
                    <a:cxn ang="0">
                      <a:pos x="T6" y="T7"/>
                    </a:cxn>
                    <a:cxn ang="0">
                      <a:pos x="T8" y="T9"/>
                    </a:cxn>
                  </a:cxnLst>
                  <a:rect l="0" t="0" r="r" b="b"/>
                  <a:pathLst>
                    <a:path w="17" h="183">
                      <a:moveTo>
                        <a:pt x="0" y="92"/>
                      </a:moveTo>
                      <a:lnTo>
                        <a:pt x="0" y="0"/>
                      </a:lnTo>
                      <a:lnTo>
                        <a:pt x="17" y="0"/>
                      </a:lnTo>
                      <a:lnTo>
                        <a:pt x="17" y="183"/>
                      </a:lnTo>
                      <a:lnTo>
                        <a:pt x="0" y="9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95" name="Freeform 4283"/>
                <p:cNvSpPr>
                  <a:spLocks noChangeAspect="1"/>
                </p:cNvSpPr>
                <p:nvPr/>
              </p:nvSpPr>
              <p:spPr bwMode="auto">
                <a:xfrm>
                  <a:off x="2676" y="2287"/>
                  <a:ext cx="7" cy="60"/>
                </a:xfrm>
                <a:custGeom>
                  <a:avLst/>
                  <a:gdLst>
                    <a:gd name="T0" fmla="*/ 0 w 17"/>
                    <a:gd name="T1" fmla="*/ 137 h 228"/>
                    <a:gd name="T2" fmla="*/ 0 w 17"/>
                    <a:gd name="T3" fmla="*/ 0 h 228"/>
                    <a:gd name="T4" fmla="*/ 17 w 17"/>
                    <a:gd name="T5" fmla="*/ 0 h 228"/>
                    <a:gd name="T6" fmla="*/ 17 w 17"/>
                    <a:gd name="T7" fmla="*/ 228 h 228"/>
                    <a:gd name="T8" fmla="*/ 0 w 17"/>
                    <a:gd name="T9" fmla="*/ 137 h 228"/>
                  </a:gdLst>
                  <a:ahLst/>
                  <a:cxnLst>
                    <a:cxn ang="0">
                      <a:pos x="T0" y="T1"/>
                    </a:cxn>
                    <a:cxn ang="0">
                      <a:pos x="T2" y="T3"/>
                    </a:cxn>
                    <a:cxn ang="0">
                      <a:pos x="T4" y="T5"/>
                    </a:cxn>
                    <a:cxn ang="0">
                      <a:pos x="T6" y="T7"/>
                    </a:cxn>
                    <a:cxn ang="0">
                      <a:pos x="T8" y="T9"/>
                    </a:cxn>
                  </a:cxnLst>
                  <a:rect l="0" t="0" r="r" b="b"/>
                  <a:pathLst>
                    <a:path w="17" h="228">
                      <a:moveTo>
                        <a:pt x="0" y="137"/>
                      </a:moveTo>
                      <a:lnTo>
                        <a:pt x="0" y="0"/>
                      </a:lnTo>
                      <a:lnTo>
                        <a:pt x="17" y="0"/>
                      </a:lnTo>
                      <a:lnTo>
                        <a:pt x="17" y="228"/>
                      </a:lnTo>
                      <a:lnTo>
                        <a:pt x="0" y="13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96" name="Freeform 4284"/>
                <p:cNvSpPr>
                  <a:spLocks noChangeAspect="1"/>
                </p:cNvSpPr>
                <p:nvPr/>
              </p:nvSpPr>
              <p:spPr bwMode="auto">
                <a:xfrm>
                  <a:off x="2681" y="2287"/>
                  <a:ext cx="2" cy="73"/>
                </a:xfrm>
                <a:custGeom>
                  <a:avLst/>
                  <a:gdLst>
                    <a:gd name="T0" fmla="*/ 0 w 18"/>
                    <a:gd name="T1" fmla="*/ 183 h 274"/>
                    <a:gd name="T2" fmla="*/ 0 w 18"/>
                    <a:gd name="T3" fmla="*/ 0 h 274"/>
                    <a:gd name="T4" fmla="*/ 18 w 18"/>
                    <a:gd name="T5" fmla="*/ 0 h 274"/>
                    <a:gd name="T6" fmla="*/ 18 w 18"/>
                    <a:gd name="T7" fmla="*/ 274 h 274"/>
                    <a:gd name="T8" fmla="*/ 0 w 18"/>
                    <a:gd name="T9" fmla="*/ 183 h 274"/>
                  </a:gdLst>
                  <a:ahLst/>
                  <a:cxnLst>
                    <a:cxn ang="0">
                      <a:pos x="T0" y="T1"/>
                    </a:cxn>
                    <a:cxn ang="0">
                      <a:pos x="T2" y="T3"/>
                    </a:cxn>
                    <a:cxn ang="0">
                      <a:pos x="T4" y="T5"/>
                    </a:cxn>
                    <a:cxn ang="0">
                      <a:pos x="T6" y="T7"/>
                    </a:cxn>
                    <a:cxn ang="0">
                      <a:pos x="T8" y="T9"/>
                    </a:cxn>
                  </a:cxnLst>
                  <a:rect l="0" t="0" r="r" b="b"/>
                  <a:pathLst>
                    <a:path w="18" h="274">
                      <a:moveTo>
                        <a:pt x="0" y="183"/>
                      </a:moveTo>
                      <a:lnTo>
                        <a:pt x="0" y="0"/>
                      </a:lnTo>
                      <a:lnTo>
                        <a:pt x="18" y="0"/>
                      </a:lnTo>
                      <a:lnTo>
                        <a:pt x="18" y="274"/>
                      </a:lnTo>
                      <a:lnTo>
                        <a:pt x="0" y="183"/>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97" name="Freeform 4285"/>
                <p:cNvSpPr>
                  <a:spLocks noChangeAspect="1"/>
                </p:cNvSpPr>
                <p:nvPr/>
              </p:nvSpPr>
              <p:spPr bwMode="auto">
                <a:xfrm>
                  <a:off x="2683" y="2287"/>
                  <a:ext cx="0" cy="85"/>
                </a:xfrm>
                <a:custGeom>
                  <a:avLst/>
                  <a:gdLst>
                    <a:gd name="T0" fmla="*/ 0 w 17"/>
                    <a:gd name="T1" fmla="*/ 228 h 319"/>
                    <a:gd name="T2" fmla="*/ 0 w 17"/>
                    <a:gd name="T3" fmla="*/ 0 h 319"/>
                    <a:gd name="T4" fmla="*/ 17 w 17"/>
                    <a:gd name="T5" fmla="*/ 0 h 319"/>
                    <a:gd name="T6" fmla="*/ 17 w 17"/>
                    <a:gd name="T7" fmla="*/ 319 h 319"/>
                    <a:gd name="T8" fmla="*/ 0 w 17"/>
                    <a:gd name="T9" fmla="*/ 228 h 319"/>
                  </a:gdLst>
                  <a:ahLst/>
                  <a:cxnLst>
                    <a:cxn ang="0">
                      <a:pos x="T0" y="T1"/>
                    </a:cxn>
                    <a:cxn ang="0">
                      <a:pos x="T2" y="T3"/>
                    </a:cxn>
                    <a:cxn ang="0">
                      <a:pos x="T4" y="T5"/>
                    </a:cxn>
                    <a:cxn ang="0">
                      <a:pos x="T6" y="T7"/>
                    </a:cxn>
                    <a:cxn ang="0">
                      <a:pos x="T8" y="T9"/>
                    </a:cxn>
                  </a:cxnLst>
                  <a:rect l="0" t="0" r="r" b="b"/>
                  <a:pathLst>
                    <a:path w="17" h="319">
                      <a:moveTo>
                        <a:pt x="0" y="228"/>
                      </a:moveTo>
                      <a:lnTo>
                        <a:pt x="0" y="0"/>
                      </a:lnTo>
                      <a:lnTo>
                        <a:pt x="17" y="0"/>
                      </a:lnTo>
                      <a:lnTo>
                        <a:pt x="17" y="319"/>
                      </a:lnTo>
                      <a:lnTo>
                        <a:pt x="0" y="22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98" name="Freeform 4286"/>
                <p:cNvSpPr>
                  <a:spLocks noChangeAspect="1"/>
                </p:cNvSpPr>
                <p:nvPr/>
              </p:nvSpPr>
              <p:spPr bwMode="auto">
                <a:xfrm>
                  <a:off x="2683" y="2287"/>
                  <a:ext cx="6" cy="97"/>
                </a:xfrm>
                <a:custGeom>
                  <a:avLst/>
                  <a:gdLst>
                    <a:gd name="T0" fmla="*/ 0 w 15"/>
                    <a:gd name="T1" fmla="*/ 274 h 365"/>
                    <a:gd name="T2" fmla="*/ 0 w 15"/>
                    <a:gd name="T3" fmla="*/ 0 h 365"/>
                    <a:gd name="T4" fmla="*/ 15 w 15"/>
                    <a:gd name="T5" fmla="*/ 0 h 365"/>
                    <a:gd name="T6" fmla="*/ 15 w 15"/>
                    <a:gd name="T7" fmla="*/ 365 h 365"/>
                    <a:gd name="T8" fmla="*/ 0 w 15"/>
                    <a:gd name="T9" fmla="*/ 274 h 365"/>
                  </a:gdLst>
                  <a:ahLst/>
                  <a:cxnLst>
                    <a:cxn ang="0">
                      <a:pos x="T0" y="T1"/>
                    </a:cxn>
                    <a:cxn ang="0">
                      <a:pos x="T2" y="T3"/>
                    </a:cxn>
                    <a:cxn ang="0">
                      <a:pos x="T4" y="T5"/>
                    </a:cxn>
                    <a:cxn ang="0">
                      <a:pos x="T6" y="T7"/>
                    </a:cxn>
                    <a:cxn ang="0">
                      <a:pos x="T8" y="T9"/>
                    </a:cxn>
                  </a:cxnLst>
                  <a:rect l="0" t="0" r="r" b="b"/>
                  <a:pathLst>
                    <a:path w="15" h="365">
                      <a:moveTo>
                        <a:pt x="0" y="274"/>
                      </a:moveTo>
                      <a:lnTo>
                        <a:pt x="0" y="0"/>
                      </a:lnTo>
                      <a:lnTo>
                        <a:pt x="15" y="0"/>
                      </a:lnTo>
                      <a:lnTo>
                        <a:pt x="15" y="365"/>
                      </a:lnTo>
                      <a:lnTo>
                        <a:pt x="0" y="27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799" name="Freeform 4287"/>
                <p:cNvSpPr>
                  <a:spLocks noChangeAspect="1"/>
                </p:cNvSpPr>
                <p:nvPr/>
              </p:nvSpPr>
              <p:spPr bwMode="auto">
                <a:xfrm>
                  <a:off x="2687" y="2287"/>
                  <a:ext cx="3" cy="108"/>
                </a:xfrm>
                <a:custGeom>
                  <a:avLst/>
                  <a:gdLst>
                    <a:gd name="T0" fmla="*/ 0 w 16"/>
                    <a:gd name="T1" fmla="*/ 319 h 411"/>
                    <a:gd name="T2" fmla="*/ 0 w 16"/>
                    <a:gd name="T3" fmla="*/ 0 h 411"/>
                    <a:gd name="T4" fmla="*/ 16 w 16"/>
                    <a:gd name="T5" fmla="*/ 0 h 411"/>
                    <a:gd name="T6" fmla="*/ 16 w 16"/>
                    <a:gd name="T7" fmla="*/ 411 h 411"/>
                    <a:gd name="T8" fmla="*/ 0 w 16"/>
                    <a:gd name="T9" fmla="*/ 319 h 411"/>
                  </a:gdLst>
                  <a:ahLst/>
                  <a:cxnLst>
                    <a:cxn ang="0">
                      <a:pos x="T0" y="T1"/>
                    </a:cxn>
                    <a:cxn ang="0">
                      <a:pos x="T2" y="T3"/>
                    </a:cxn>
                    <a:cxn ang="0">
                      <a:pos x="T4" y="T5"/>
                    </a:cxn>
                    <a:cxn ang="0">
                      <a:pos x="T6" y="T7"/>
                    </a:cxn>
                    <a:cxn ang="0">
                      <a:pos x="T8" y="T9"/>
                    </a:cxn>
                  </a:cxnLst>
                  <a:rect l="0" t="0" r="r" b="b"/>
                  <a:pathLst>
                    <a:path w="16" h="411">
                      <a:moveTo>
                        <a:pt x="0" y="319"/>
                      </a:moveTo>
                      <a:lnTo>
                        <a:pt x="0" y="0"/>
                      </a:lnTo>
                      <a:lnTo>
                        <a:pt x="16" y="0"/>
                      </a:lnTo>
                      <a:lnTo>
                        <a:pt x="16" y="411"/>
                      </a:lnTo>
                      <a:lnTo>
                        <a:pt x="0" y="319"/>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00" name="Freeform 4288"/>
                <p:cNvSpPr>
                  <a:spLocks noChangeAspect="1"/>
                </p:cNvSpPr>
                <p:nvPr/>
              </p:nvSpPr>
              <p:spPr bwMode="auto">
                <a:xfrm>
                  <a:off x="2689" y="2287"/>
                  <a:ext cx="5" cy="118"/>
                </a:xfrm>
                <a:custGeom>
                  <a:avLst/>
                  <a:gdLst>
                    <a:gd name="T0" fmla="*/ 0 w 18"/>
                    <a:gd name="T1" fmla="*/ 365 h 456"/>
                    <a:gd name="T2" fmla="*/ 0 w 18"/>
                    <a:gd name="T3" fmla="*/ 0 h 456"/>
                    <a:gd name="T4" fmla="*/ 18 w 18"/>
                    <a:gd name="T5" fmla="*/ 0 h 456"/>
                    <a:gd name="T6" fmla="*/ 18 w 18"/>
                    <a:gd name="T7" fmla="*/ 456 h 456"/>
                    <a:gd name="T8" fmla="*/ 0 w 18"/>
                    <a:gd name="T9" fmla="*/ 365 h 456"/>
                  </a:gdLst>
                  <a:ahLst/>
                  <a:cxnLst>
                    <a:cxn ang="0">
                      <a:pos x="T0" y="T1"/>
                    </a:cxn>
                    <a:cxn ang="0">
                      <a:pos x="T2" y="T3"/>
                    </a:cxn>
                    <a:cxn ang="0">
                      <a:pos x="T4" y="T5"/>
                    </a:cxn>
                    <a:cxn ang="0">
                      <a:pos x="T6" y="T7"/>
                    </a:cxn>
                    <a:cxn ang="0">
                      <a:pos x="T8" y="T9"/>
                    </a:cxn>
                  </a:cxnLst>
                  <a:rect l="0" t="0" r="r" b="b"/>
                  <a:pathLst>
                    <a:path w="18" h="456">
                      <a:moveTo>
                        <a:pt x="0" y="365"/>
                      </a:moveTo>
                      <a:lnTo>
                        <a:pt x="0" y="0"/>
                      </a:lnTo>
                      <a:lnTo>
                        <a:pt x="18" y="0"/>
                      </a:lnTo>
                      <a:lnTo>
                        <a:pt x="18" y="456"/>
                      </a:lnTo>
                      <a:lnTo>
                        <a:pt x="0" y="365"/>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01" name="Freeform 4289"/>
                <p:cNvSpPr>
                  <a:spLocks noChangeAspect="1"/>
                </p:cNvSpPr>
                <p:nvPr/>
              </p:nvSpPr>
              <p:spPr bwMode="auto">
                <a:xfrm>
                  <a:off x="2690" y="2287"/>
                  <a:ext cx="6" cy="131"/>
                </a:xfrm>
                <a:custGeom>
                  <a:avLst/>
                  <a:gdLst>
                    <a:gd name="T0" fmla="*/ 0 w 17"/>
                    <a:gd name="T1" fmla="*/ 411 h 502"/>
                    <a:gd name="T2" fmla="*/ 0 w 17"/>
                    <a:gd name="T3" fmla="*/ 0 h 502"/>
                    <a:gd name="T4" fmla="*/ 17 w 17"/>
                    <a:gd name="T5" fmla="*/ 0 h 502"/>
                    <a:gd name="T6" fmla="*/ 17 w 17"/>
                    <a:gd name="T7" fmla="*/ 502 h 502"/>
                    <a:gd name="T8" fmla="*/ 0 w 17"/>
                    <a:gd name="T9" fmla="*/ 411 h 502"/>
                  </a:gdLst>
                  <a:ahLst/>
                  <a:cxnLst>
                    <a:cxn ang="0">
                      <a:pos x="T0" y="T1"/>
                    </a:cxn>
                    <a:cxn ang="0">
                      <a:pos x="T2" y="T3"/>
                    </a:cxn>
                    <a:cxn ang="0">
                      <a:pos x="T4" y="T5"/>
                    </a:cxn>
                    <a:cxn ang="0">
                      <a:pos x="T6" y="T7"/>
                    </a:cxn>
                    <a:cxn ang="0">
                      <a:pos x="T8" y="T9"/>
                    </a:cxn>
                  </a:cxnLst>
                  <a:rect l="0" t="0" r="r" b="b"/>
                  <a:pathLst>
                    <a:path w="17" h="502">
                      <a:moveTo>
                        <a:pt x="0" y="411"/>
                      </a:moveTo>
                      <a:lnTo>
                        <a:pt x="0" y="0"/>
                      </a:lnTo>
                      <a:lnTo>
                        <a:pt x="17" y="0"/>
                      </a:lnTo>
                      <a:lnTo>
                        <a:pt x="17" y="502"/>
                      </a:lnTo>
                      <a:lnTo>
                        <a:pt x="0" y="41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02" name="Freeform 4290"/>
                <p:cNvSpPr>
                  <a:spLocks noChangeAspect="1"/>
                </p:cNvSpPr>
                <p:nvPr/>
              </p:nvSpPr>
              <p:spPr bwMode="auto">
                <a:xfrm>
                  <a:off x="2694" y="2287"/>
                  <a:ext cx="3" cy="143"/>
                </a:xfrm>
                <a:custGeom>
                  <a:avLst/>
                  <a:gdLst>
                    <a:gd name="T0" fmla="*/ 0 w 17"/>
                    <a:gd name="T1" fmla="*/ 456 h 548"/>
                    <a:gd name="T2" fmla="*/ 0 w 17"/>
                    <a:gd name="T3" fmla="*/ 0 h 548"/>
                    <a:gd name="T4" fmla="*/ 17 w 17"/>
                    <a:gd name="T5" fmla="*/ 0 h 548"/>
                    <a:gd name="T6" fmla="*/ 17 w 17"/>
                    <a:gd name="T7" fmla="*/ 548 h 548"/>
                    <a:gd name="T8" fmla="*/ 0 w 17"/>
                    <a:gd name="T9" fmla="*/ 456 h 548"/>
                  </a:gdLst>
                  <a:ahLst/>
                  <a:cxnLst>
                    <a:cxn ang="0">
                      <a:pos x="T0" y="T1"/>
                    </a:cxn>
                    <a:cxn ang="0">
                      <a:pos x="T2" y="T3"/>
                    </a:cxn>
                    <a:cxn ang="0">
                      <a:pos x="T4" y="T5"/>
                    </a:cxn>
                    <a:cxn ang="0">
                      <a:pos x="T6" y="T7"/>
                    </a:cxn>
                    <a:cxn ang="0">
                      <a:pos x="T8" y="T9"/>
                    </a:cxn>
                  </a:cxnLst>
                  <a:rect l="0" t="0" r="r" b="b"/>
                  <a:pathLst>
                    <a:path w="17" h="548">
                      <a:moveTo>
                        <a:pt x="0" y="456"/>
                      </a:moveTo>
                      <a:lnTo>
                        <a:pt x="0" y="0"/>
                      </a:lnTo>
                      <a:lnTo>
                        <a:pt x="17" y="0"/>
                      </a:lnTo>
                      <a:lnTo>
                        <a:pt x="17" y="548"/>
                      </a:lnTo>
                      <a:lnTo>
                        <a:pt x="0" y="45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03" name="Freeform 4291"/>
                <p:cNvSpPr>
                  <a:spLocks noChangeAspect="1"/>
                </p:cNvSpPr>
                <p:nvPr/>
              </p:nvSpPr>
              <p:spPr bwMode="auto">
                <a:xfrm>
                  <a:off x="2696" y="2287"/>
                  <a:ext cx="1" cy="156"/>
                </a:xfrm>
                <a:custGeom>
                  <a:avLst/>
                  <a:gdLst>
                    <a:gd name="T0" fmla="*/ 0 w 17"/>
                    <a:gd name="T1" fmla="*/ 502 h 592"/>
                    <a:gd name="T2" fmla="*/ 0 w 17"/>
                    <a:gd name="T3" fmla="*/ 0 h 592"/>
                    <a:gd name="T4" fmla="*/ 17 w 17"/>
                    <a:gd name="T5" fmla="*/ 0 h 592"/>
                    <a:gd name="T6" fmla="*/ 17 w 17"/>
                    <a:gd name="T7" fmla="*/ 592 h 592"/>
                    <a:gd name="T8" fmla="*/ 0 w 17"/>
                    <a:gd name="T9" fmla="*/ 502 h 592"/>
                  </a:gdLst>
                  <a:ahLst/>
                  <a:cxnLst>
                    <a:cxn ang="0">
                      <a:pos x="T0" y="T1"/>
                    </a:cxn>
                    <a:cxn ang="0">
                      <a:pos x="T2" y="T3"/>
                    </a:cxn>
                    <a:cxn ang="0">
                      <a:pos x="T4" y="T5"/>
                    </a:cxn>
                    <a:cxn ang="0">
                      <a:pos x="T6" y="T7"/>
                    </a:cxn>
                    <a:cxn ang="0">
                      <a:pos x="T8" y="T9"/>
                    </a:cxn>
                  </a:cxnLst>
                  <a:rect l="0" t="0" r="r" b="b"/>
                  <a:pathLst>
                    <a:path w="17" h="592">
                      <a:moveTo>
                        <a:pt x="0" y="502"/>
                      </a:moveTo>
                      <a:lnTo>
                        <a:pt x="0" y="0"/>
                      </a:lnTo>
                      <a:lnTo>
                        <a:pt x="17" y="0"/>
                      </a:lnTo>
                      <a:lnTo>
                        <a:pt x="17" y="592"/>
                      </a:lnTo>
                      <a:lnTo>
                        <a:pt x="0" y="50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04" name="Freeform 4292"/>
                <p:cNvSpPr>
                  <a:spLocks noChangeAspect="1"/>
                </p:cNvSpPr>
                <p:nvPr/>
              </p:nvSpPr>
              <p:spPr bwMode="auto">
                <a:xfrm>
                  <a:off x="2697" y="2287"/>
                  <a:ext cx="5" cy="169"/>
                </a:xfrm>
                <a:custGeom>
                  <a:avLst/>
                  <a:gdLst>
                    <a:gd name="T0" fmla="*/ 0 w 16"/>
                    <a:gd name="T1" fmla="*/ 548 h 638"/>
                    <a:gd name="T2" fmla="*/ 0 w 16"/>
                    <a:gd name="T3" fmla="*/ 0 h 638"/>
                    <a:gd name="T4" fmla="*/ 16 w 16"/>
                    <a:gd name="T5" fmla="*/ 0 h 638"/>
                    <a:gd name="T6" fmla="*/ 16 w 16"/>
                    <a:gd name="T7" fmla="*/ 638 h 638"/>
                    <a:gd name="T8" fmla="*/ 0 w 16"/>
                    <a:gd name="T9" fmla="*/ 548 h 638"/>
                  </a:gdLst>
                  <a:ahLst/>
                  <a:cxnLst>
                    <a:cxn ang="0">
                      <a:pos x="T0" y="T1"/>
                    </a:cxn>
                    <a:cxn ang="0">
                      <a:pos x="T2" y="T3"/>
                    </a:cxn>
                    <a:cxn ang="0">
                      <a:pos x="T4" y="T5"/>
                    </a:cxn>
                    <a:cxn ang="0">
                      <a:pos x="T6" y="T7"/>
                    </a:cxn>
                    <a:cxn ang="0">
                      <a:pos x="T8" y="T9"/>
                    </a:cxn>
                  </a:cxnLst>
                  <a:rect l="0" t="0" r="r" b="b"/>
                  <a:pathLst>
                    <a:path w="16" h="638">
                      <a:moveTo>
                        <a:pt x="0" y="548"/>
                      </a:moveTo>
                      <a:lnTo>
                        <a:pt x="0" y="0"/>
                      </a:lnTo>
                      <a:lnTo>
                        <a:pt x="16" y="0"/>
                      </a:lnTo>
                      <a:lnTo>
                        <a:pt x="16" y="638"/>
                      </a:lnTo>
                      <a:lnTo>
                        <a:pt x="0" y="54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05" name="Freeform 4293"/>
                <p:cNvSpPr>
                  <a:spLocks noChangeAspect="1"/>
                </p:cNvSpPr>
                <p:nvPr/>
              </p:nvSpPr>
              <p:spPr bwMode="auto">
                <a:xfrm>
                  <a:off x="2697" y="2287"/>
                  <a:ext cx="7" cy="180"/>
                </a:xfrm>
                <a:custGeom>
                  <a:avLst/>
                  <a:gdLst>
                    <a:gd name="T0" fmla="*/ 0 w 16"/>
                    <a:gd name="T1" fmla="*/ 592 h 684"/>
                    <a:gd name="T2" fmla="*/ 0 w 16"/>
                    <a:gd name="T3" fmla="*/ 0 h 684"/>
                    <a:gd name="T4" fmla="*/ 16 w 16"/>
                    <a:gd name="T5" fmla="*/ 0 h 684"/>
                    <a:gd name="T6" fmla="*/ 16 w 16"/>
                    <a:gd name="T7" fmla="*/ 684 h 684"/>
                    <a:gd name="T8" fmla="*/ 0 w 16"/>
                    <a:gd name="T9" fmla="*/ 592 h 684"/>
                  </a:gdLst>
                  <a:ahLst/>
                  <a:cxnLst>
                    <a:cxn ang="0">
                      <a:pos x="T0" y="T1"/>
                    </a:cxn>
                    <a:cxn ang="0">
                      <a:pos x="T2" y="T3"/>
                    </a:cxn>
                    <a:cxn ang="0">
                      <a:pos x="T4" y="T5"/>
                    </a:cxn>
                    <a:cxn ang="0">
                      <a:pos x="T6" y="T7"/>
                    </a:cxn>
                    <a:cxn ang="0">
                      <a:pos x="T8" y="T9"/>
                    </a:cxn>
                  </a:cxnLst>
                  <a:rect l="0" t="0" r="r" b="b"/>
                  <a:pathLst>
                    <a:path w="16" h="684">
                      <a:moveTo>
                        <a:pt x="0" y="592"/>
                      </a:moveTo>
                      <a:lnTo>
                        <a:pt x="0" y="0"/>
                      </a:lnTo>
                      <a:lnTo>
                        <a:pt x="16" y="0"/>
                      </a:lnTo>
                      <a:lnTo>
                        <a:pt x="16" y="684"/>
                      </a:lnTo>
                      <a:lnTo>
                        <a:pt x="0" y="59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06" name="Freeform 4294"/>
                <p:cNvSpPr>
                  <a:spLocks noChangeAspect="1"/>
                </p:cNvSpPr>
                <p:nvPr/>
              </p:nvSpPr>
              <p:spPr bwMode="auto">
                <a:xfrm>
                  <a:off x="2702" y="2287"/>
                  <a:ext cx="2" cy="193"/>
                </a:xfrm>
                <a:custGeom>
                  <a:avLst/>
                  <a:gdLst>
                    <a:gd name="T0" fmla="*/ 0 w 17"/>
                    <a:gd name="T1" fmla="*/ 638 h 730"/>
                    <a:gd name="T2" fmla="*/ 0 w 17"/>
                    <a:gd name="T3" fmla="*/ 0 h 730"/>
                    <a:gd name="T4" fmla="*/ 17 w 17"/>
                    <a:gd name="T5" fmla="*/ 0 h 730"/>
                    <a:gd name="T6" fmla="*/ 17 w 17"/>
                    <a:gd name="T7" fmla="*/ 730 h 730"/>
                    <a:gd name="T8" fmla="*/ 0 w 17"/>
                    <a:gd name="T9" fmla="*/ 638 h 730"/>
                  </a:gdLst>
                  <a:ahLst/>
                  <a:cxnLst>
                    <a:cxn ang="0">
                      <a:pos x="T0" y="T1"/>
                    </a:cxn>
                    <a:cxn ang="0">
                      <a:pos x="T2" y="T3"/>
                    </a:cxn>
                    <a:cxn ang="0">
                      <a:pos x="T4" y="T5"/>
                    </a:cxn>
                    <a:cxn ang="0">
                      <a:pos x="T6" y="T7"/>
                    </a:cxn>
                    <a:cxn ang="0">
                      <a:pos x="T8" y="T9"/>
                    </a:cxn>
                  </a:cxnLst>
                  <a:rect l="0" t="0" r="r" b="b"/>
                  <a:pathLst>
                    <a:path w="17" h="730">
                      <a:moveTo>
                        <a:pt x="0" y="638"/>
                      </a:moveTo>
                      <a:lnTo>
                        <a:pt x="0" y="0"/>
                      </a:lnTo>
                      <a:lnTo>
                        <a:pt x="17" y="0"/>
                      </a:lnTo>
                      <a:lnTo>
                        <a:pt x="17" y="730"/>
                      </a:lnTo>
                      <a:lnTo>
                        <a:pt x="0" y="63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07" name="Freeform 4295"/>
                <p:cNvSpPr>
                  <a:spLocks noChangeAspect="1"/>
                </p:cNvSpPr>
                <p:nvPr/>
              </p:nvSpPr>
              <p:spPr bwMode="auto">
                <a:xfrm>
                  <a:off x="2704" y="2287"/>
                  <a:ext cx="5" cy="205"/>
                </a:xfrm>
                <a:custGeom>
                  <a:avLst/>
                  <a:gdLst>
                    <a:gd name="T0" fmla="*/ 0 w 17"/>
                    <a:gd name="T1" fmla="*/ 684 h 775"/>
                    <a:gd name="T2" fmla="*/ 0 w 17"/>
                    <a:gd name="T3" fmla="*/ 0 h 775"/>
                    <a:gd name="T4" fmla="*/ 17 w 17"/>
                    <a:gd name="T5" fmla="*/ 0 h 775"/>
                    <a:gd name="T6" fmla="*/ 17 w 17"/>
                    <a:gd name="T7" fmla="*/ 775 h 775"/>
                    <a:gd name="T8" fmla="*/ 0 w 17"/>
                    <a:gd name="T9" fmla="*/ 684 h 775"/>
                  </a:gdLst>
                  <a:ahLst/>
                  <a:cxnLst>
                    <a:cxn ang="0">
                      <a:pos x="T0" y="T1"/>
                    </a:cxn>
                    <a:cxn ang="0">
                      <a:pos x="T2" y="T3"/>
                    </a:cxn>
                    <a:cxn ang="0">
                      <a:pos x="T4" y="T5"/>
                    </a:cxn>
                    <a:cxn ang="0">
                      <a:pos x="T6" y="T7"/>
                    </a:cxn>
                    <a:cxn ang="0">
                      <a:pos x="T8" y="T9"/>
                    </a:cxn>
                  </a:cxnLst>
                  <a:rect l="0" t="0" r="r" b="b"/>
                  <a:pathLst>
                    <a:path w="17" h="775">
                      <a:moveTo>
                        <a:pt x="0" y="684"/>
                      </a:moveTo>
                      <a:lnTo>
                        <a:pt x="0" y="0"/>
                      </a:lnTo>
                      <a:lnTo>
                        <a:pt x="17" y="0"/>
                      </a:lnTo>
                      <a:lnTo>
                        <a:pt x="17" y="775"/>
                      </a:lnTo>
                      <a:lnTo>
                        <a:pt x="0" y="68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08" name="Freeform 4296"/>
                <p:cNvSpPr>
                  <a:spLocks noChangeAspect="1"/>
                </p:cNvSpPr>
                <p:nvPr/>
              </p:nvSpPr>
              <p:spPr bwMode="auto">
                <a:xfrm>
                  <a:off x="2704" y="2287"/>
                  <a:ext cx="7" cy="214"/>
                </a:xfrm>
                <a:custGeom>
                  <a:avLst/>
                  <a:gdLst>
                    <a:gd name="T0" fmla="*/ 0 w 17"/>
                    <a:gd name="T1" fmla="*/ 730 h 821"/>
                    <a:gd name="T2" fmla="*/ 0 w 17"/>
                    <a:gd name="T3" fmla="*/ 0 h 821"/>
                    <a:gd name="T4" fmla="*/ 17 w 17"/>
                    <a:gd name="T5" fmla="*/ 0 h 821"/>
                    <a:gd name="T6" fmla="*/ 17 w 17"/>
                    <a:gd name="T7" fmla="*/ 821 h 821"/>
                    <a:gd name="T8" fmla="*/ 0 w 17"/>
                    <a:gd name="T9" fmla="*/ 730 h 821"/>
                  </a:gdLst>
                  <a:ahLst/>
                  <a:cxnLst>
                    <a:cxn ang="0">
                      <a:pos x="T0" y="T1"/>
                    </a:cxn>
                    <a:cxn ang="0">
                      <a:pos x="T2" y="T3"/>
                    </a:cxn>
                    <a:cxn ang="0">
                      <a:pos x="T4" y="T5"/>
                    </a:cxn>
                    <a:cxn ang="0">
                      <a:pos x="T6" y="T7"/>
                    </a:cxn>
                    <a:cxn ang="0">
                      <a:pos x="T8" y="T9"/>
                    </a:cxn>
                  </a:cxnLst>
                  <a:rect l="0" t="0" r="r" b="b"/>
                  <a:pathLst>
                    <a:path w="17" h="821">
                      <a:moveTo>
                        <a:pt x="0" y="730"/>
                      </a:moveTo>
                      <a:lnTo>
                        <a:pt x="0" y="0"/>
                      </a:lnTo>
                      <a:lnTo>
                        <a:pt x="17" y="0"/>
                      </a:lnTo>
                      <a:lnTo>
                        <a:pt x="17" y="821"/>
                      </a:lnTo>
                      <a:lnTo>
                        <a:pt x="0" y="73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09" name="Freeform 4297"/>
                <p:cNvSpPr>
                  <a:spLocks noChangeAspect="1"/>
                </p:cNvSpPr>
                <p:nvPr/>
              </p:nvSpPr>
              <p:spPr bwMode="auto">
                <a:xfrm>
                  <a:off x="2709" y="2287"/>
                  <a:ext cx="2" cy="226"/>
                </a:xfrm>
                <a:custGeom>
                  <a:avLst/>
                  <a:gdLst>
                    <a:gd name="T0" fmla="*/ 0 w 16"/>
                    <a:gd name="T1" fmla="*/ 775 h 867"/>
                    <a:gd name="T2" fmla="*/ 0 w 16"/>
                    <a:gd name="T3" fmla="*/ 0 h 867"/>
                    <a:gd name="T4" fmla="*/ 16 w 16"/>
                    <a:gd name="T5" fmla="*/ 0 h 867"/>
                    <a:gd name="T6" fmla="*/ 16 w 16"/>
                    <a:gd name="T7" fmla="*/ 867 h 867"/>
                    <a:gd name="T8" fmla="*/ 0 w 16"/>
                    <a:gd name="T9" fmla="*/ 775 h 867"/>
                  </a:gdLst>
                  <a:ahLst/>
                  <a:cxnLst>
                    <a:cxn ang="0">
                      <a:pos x="T0" y="T1"/>
                    </a:cxn>
                    <a:cxn ang="0">
                      <a:pos x="T2" y="T3"/>
                    </a:cxn>
                    <a:cxn ang="0">
                      <a:pos x="T4" y="T5"/>
                    </a:cxn>
                    <a:cxn ang="0">
                      <a:pos x="T6" y="T7"/>
                    </a:cxn>
                    <a:cxn ang="0">
                      <a:pos x="T8" y="T9"/>
                    </a:cxn>
                  </a:cxnLst>
                  <a:rect l="0" t="0" r="r" b="b"/>
                  <a:pathLst>
                    <a:path w="16" h="867">
                      <a:moveTo>
                        <a:pt x="0" y="775"/>
                      </a:moveTo>
                      <a:lnTo>
                        <a:pt x="0" y="0"/>
                      </a:lnTo>
                      <a:lnTo>
                        <a:pt x="16" y="0"/>
                      </a:lnTo>
                      <a:lnTo>
                        <a:pt x="16" y="867"/>
                      </a:lnTo>
                      <a:lnTo>
                        <a:pt x="0" y="775"/>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10" name="Freeform 4298"/>
                <p:cNvSpPr>
                  <a:spLocks noChangeAspect="1"/>
                </p:cNvSpPr>
                <p:nvPr/>
              </p:nvSpPr>
              <p:spPr bwMode="auto">
                <a:xfrm>
                  <a:off x="2711" y="2287"/>
                  <a:ext cx="0" cy="239"/>
                </a:xfrm>
                <a:custGeom>
                  <a:avLst/>
                  <a:gdLst>
                    <a:gd name="T0" fmla="*/ 0 w 16"/>
                    <a:gd name="T1" fmla="*/ 821 h 913"/>
                    <a:gd name="T2" fmla="*/ 0 w 16"/>
                    <a:gd name="T3" fmla="*/ 0 h 913"/>
                    <a:gd name="T4" fmla="*/ 16 w 16"/>
                    <a:gd name="T5" fmla="*/ 0 h 913"/>
                    <a:gd name="T6" fmla="*/ 16 w 16"/>
                    <a:gd name="T7" fmla="*/ 913 h 913"/>
                    <a:gd name="T8" fmla="*/ 0 w 16"/>
                    <a:gd name="T9" fmla="*/ 821 h 913"/>
                  </a:gdLst>
                  <a:ahLst/>
                  <a:cxnLst>
                    <a:cxn ang="0">
                      <a:pos x="T0" y="T1"/>
                    </a:cxn>
                    <a:cxn ang="0">
                      <a:pos x="T2" y="T3"/>
                    </a:cxn>
                    <a:cxn ang="0">
                      <a:pos x="T4" y="T5"/>
                    </a:cxn>
                    <a:cxn ang="0">
                      <a:pos x="T6" y="T7"/>
                    </a:cxn>
                    <a:cxn ang="0">
                      <a:pos x="T8" y="T9"/>
                    </a:cxn>
                  </a:cxnLst>
                  <a:rect l="0" t="0" r="r" b="b"/>
                  <a:pathLst>
                    <a:path w="16" h="913">
                      <a:moveTo>
                        <a:pt x="0" y="821"/>
                      </a:moveTo>
                      <a:lnTo>
                        <a:pt x="0" y="0"/>
                      </a:lnTo>
                      <a:lnTo>
                        <a:pt x="16" y="0"/>
                      </a:lnTo>
                      <a:lnTo>
                        <a:pt x="16" y="913"/>
                      </a:lnTo>
                      <a:lnTo>
                        <a:pt x="0" y="82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11" name="Freeform 4299"/>
                <p:cNvSpPr>
                  <a:spLocks noChangeAspect="1"/>
                </p:cNvSpPr>
                <p:nvPr/>
              </p:nvSpPr>
              <p:spPr bwMode="auto">
                <a:xfrm>
                  <a:off x="2711" y="2287"/>
                  <a:ext cx="6" cy="252"/>
                </a:xfrm>
                <a:custGeom>
                  <a:avLst/>
                  <a:gdLst>
                    <a:gd name="T0" fmla="*/ 0 w 17"/>
                    <a:gd name="T1" fmla="*/ 867 h 957"/>
                    <a:gd name="T2" fmla="*/ 0 w 17"/>
                    <a:gd name="T3" fmla="*/ 0 h 957"/>
                    <a:gd name="T4" fmla="*/ 17 w 17"/>
                    <a:gd name="T5" fmla="*/ 0 h 957"/>
                    <a:gd name="T6" fmla="*/ 17 w 17"/>
                    <a:gd name="T7" fmla="*/ 957 h 957"/>
                    <a:gd name="T8" fmla="*/ 0 w 17"/>
                    <a:gd name="T9" fmla="*/ 867 h 957"/>
                  </a:gdLst>
                  <a:ahLst/>
                  <a:cxnLst>
                    <a:cxn ang="0">
                      <a:pos x="T0" y="T1"/>
                    </a:cxn>
                    <a:cxn ang="0">
                      <a:pos x="T2" y="T3"/>
                    </a:cxn>
                    <a:cxn ang="0">
                      <a:pos x="T4" y="T5"/>
                    </a:cxn>
                    <a:cxn ang="0">
                      <a:pos x="T6" y="T7"/>
                    </a:cxn>
                    <a:cxn ang="0">
                      <a:pos x="T8" y="T9"/>
                    </a:cxn>
                  </a:cxnLst>
                  <a:rect l="0" t="0" r="r" b="b"/>
                  <a:pathLst>
                    <a:path w="17" h="957">
                      <a:moveTo>
                        <a:pt x="0" y="867"/>
                      </a:moveTo>
                      <a:lnTo>
                        <a:pt x="0" y="0"/>
                      </a:lnTo>
                      <a:lnTo>
                        <a:pt x="17" y="0"/>
                      </a:lnTo>
                      <a:lnTo>
                        <a:pt x="17" y="957"/>
                      </a:lnTo>
                      <a:lnTo>
                        <a:pt x="0" y="86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12" name="Freeform 4300"/>
                <p:cNvSpPr>
                  <a:spLocks noChangeAspect="1"/>
                </p:cNvSpPr>
                <p:nvPr/>
              </p:nvSpPr>
              <p:spPr bwMode="auto">
                <a:xfrm>
                  <a:off x="2715" y="2287"/>
                  <a:ext cx="3" cy="265"/>
                </a:xfrm>
                <a:custGeom>
                  <a:avLst/>
                  <a:gdLst>
                    <a:gd name="T0" fmla="*/ 0 w 17"/>
                    <a:gd name="T1" fmla="*/ 913 h 1003"/>
                    <a:gd name="T2" fmla="*/ 0 w 17"/>
                    <a:gd name="T3" fmla="*/ 0 h 1003"/>
                    <a:gd name="T4" fmla="*/ 17 w 17"/>
                    <a:gd name="T5" fmla="*/ 0 h 1003"/>
                    <a:gd name="T6" fmla="*/ 17 w 17"/>
                    <a:gd name="T7" fmla="*/ 1003 h 1003"/>
                    <a:gd name="T8" fmla="*/ 0 w 17"/>
                    <a:gd name="T9" fmla="*/ 913 h 1003"/>
                  </a:gdLst>
                  <a:ahLst/>
                  <a:cxnLst>
                    <a:cxn ang="0">
                      <a:pos x="T0" y="T1"/>
                    </a:cxn>
                    <a:cxn ang="0">
                      <a:pos x="T2" y="T3"/>
                    </a:cxn>
                    <a:cxn ang="0">
                      <a:pos x="T4" y="T5"/>
                    </a:cxn>
                    <a:cxn ang="0">
                      <a:pos x="T6" y="T7"/>
                    </a:cxn>
                    <a:cxn ang="0">
                      <a:pos x="T8" y="T9"/>
                    </a:cxn>
                  </a:cxnLst>
                  <a:rect l="0" t="0" r="r" b="b"/>
                  <a:pathLst>
                    <a:path w="17" h="1003">
                      <a:moveTo>
                        <a:pt x="0" y="913"/>
                      </a:moveTo>
                      <a:lnTo>
                        <a:pt x="0" y="0"/>
                      </a:lnTo>
                      <a:lnTo>
                        <a:pt x="17" y="0"/>
                      </a:lnTo>
                      <a:lnTo>
                        <a:pt x="17" y="1003"/>
                      </a:lnTo>
                      <a:lnTo>
                        <a:pt x="0" y="913"/>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13" name="Freeform 4301"/>
                <p:cNvSpPr>
                  <a:spLocks noChangeAspect="1"/>
                </p:cNvSpPr>
                <p:nvPr/>
              </p:nvSpPr>
              <p:spPr bwMode="auto">
                <a:xfrm>
                  <a:off x="2717" y="2287"/>
                  <a:ext cx="1" cy="277"/>
                </a:xfrm>
                <a:custGeom>
                  <a:avLst/>
                  <a:gdLst>
                    <a:gd name="T0" fmla="*/ 0 w 17"/>
                    <a:gd name="T1" fmla="*/ 957 h 1049"/>
                    <a:gd name="T2" fmla="*/ 0 w 17"/>
                    <a:gd name="T3" fmla="*/ 0 h 1049"/>
                    <a:gd name="T4" fmla="*/ 17 w 17"/>
                    <a:gd name="T5" fmla="*/ 0 h 1049"/>
                    <a:gd name="T6" fmla="*/ 17 w 17"/>
                    <a:gd name="T7" fmla="*/ 1049 h 1049"/>
                    <a:gd name="T8" fmla="*/ 0 w 17"/>
                    <a:gd name="T9" fmla="*/ 957 h 1049"/>
                  </a:gdLst>
                  <a:ahLst/>
                  <a:cxnLst>
                    <a:cxn ang="0">
                      <a:pos x="T0" y="T1"/>
                    </a:cxn>
                    <a:cxn ang="0">
                      <a:pos x="T2" y="T3"/>
                    </a:cxn>
                    <a:cxn ang="0">
                      <a:pos x="T4" y="T5"/>
                    </a:cxn>
                    <a:cxn ang="0">
                      <a:pos x="T6" y="T7"/>
                    </a:cxn>
                    <a:cxn ang="0">
                      <a:pos x="T8" y="T9"/>
                    </a:cxn>
                  </a:cxnLst>
                  <a:rect l="0" t="0" r="r" b="b"/>
                  <a:pathLst>
                    <a:path w="17" h="1049">
                      <a:moveTo>
                        <a:pt x="0" y="957"/>
                      </a:moveTo>
                      <a:lnTo>
                        <a:pt x="0" y="0"/>
                      </a:lnTo>
                      <a:lnTo>
                        <a:pt x="17" y="0"/>
                      </a:lnTo>
                      <a:lnTo>
                        <a:pt x="17" y="1049"/>
                      </a:lnTo>
                      <a:lnTo>
                        <a:pt x="0" y="95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14" name="Freeform 4302"/>
                <p:cNvSpPr>
                  <a:spLocks noChangeAspect="1"/>
                </p:cNvSpPr>
                <p:nvPr/>
              </p:nvSpPr>
              <p:spPr bwMode="auto">
                <a:xfrm>
                  <a:off x="2718" y="2287"/>
                  <a:ext cx="5" cy="289"/>
                </a:xfrm>
                <a:custGeom>
                  <a:avLst/>
                  <a:gdLst>
                    <a:gd name="T0" fmla="*/ 0 w 17"/>
                    <a:gd name="T1" fmla="*/ 1003 h 1094"/>
                    <a:gd name="T2" fmla="*/ 0 w 17"/>
                    <a:gd name="T3" fmla="*/ 0 h 1094"/>
                    <a:gd name="T4" fmla="*/ 17 w 17"/>
                    <a:gd name="T5" fmla="*/ 0 h 1094"/>
                    <a:gd name="T6" fmla="*/ 17 w 17"/>
                    <a:gd name="T7" fmla="*/ 1094 h 1094"/>
                    <a:gd name="T8" fmla="*/ 0 w 17"/>
                    <a:gd name="T9" fmla="*/ 1003 h 1094"/>
                  </a:gdLst>
                  <a:ahLst/>
                  <a:cxnLst>
                    <a:cxn ang="0">
                      <a:pos x="T0" y="T1"/>
                    </a:cxn>
                    <a:cxn ang="0">
                      <a:pos x="T2" y="T3"/>
                    </a:cxn>
                    <a:cxn ang="0">
                      <a:pos x="T4" y="T5"/>
                    </a:cxn>
                    <a:cxn ang="0">
                      <a:pos x="T6" y="T7"/>
                    </a:cxn>
                    <a:cxn ang="0">
                      <a:pos x="T8" y="T9"/>
                    </a:cxn>
                  </a:cxnLst>
                  <a:rect l="0" t="0" r="r" b="b"/>
                  <a:pathLst>
                    <a:path w="17" h="1094">
                      <a:moveTo>
                        <a:pt x="0" y="1003"/>
                      </a:moveTo>
                      <a:lnTo>
                        <a:pt x="0" y="0"/>
                      </a:lnTo>
                      <a:lnTo>
                        <a:pt x="17" y="0"/>
                      </a:lnTo>
                      <a:lnTo>
                        <a:pt x="17" y="1094"/>
                      </a:lnTo>
                      <a:lnTo>
                        <a:pt x="0" y="1003"/>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15" name="Freeform 4303"/>
                <p:cNvSpPr>
                  <a:spLocks noChangeAspect="1"/>
                </p:cNvSpPr>
                <p:nvPr/>
              </p:nvSpPr>
              <p:spPr bwMode="auto">
                <a:xfrm>
                  <a:off x="2718" y="2287"/>
                  <a:ext cx="7" cy="297"/>
                </a:xfrm>
                <a:custGeom>
                  <a:avLst/>
                  <a:gdLst>
                    <a:gd name="T0" fmla="*/ 0 w 16"/>
                    <a:gd name="T1" fmla="*/ 1049 h 1140"/>
                    <a:gd name="T2" fmla="*/ 0 w 16"/>
                    <a:gd name="T3" fmla="*/ 0 h 1140"/>
                    <a:gd name="T4" fmla="*/ 16 w 16"/>
                    <a:gd name="T5" fmla="*/ 0 h 1140"/>
                    <a:gd name="T6" fmla="*/ 16 w 16"/>
                    <a:gd name="T7" fmla="*/ 1140 h 1140"/>
                    <a:gd name="T8" fmla="*/ 0 w 16"/>
                    <a:gd name="T9" fmla="*/ 1049 h 1140"/>
                  </a:gdLst>
                  <a:ahLst/>
                  <a:cxnLst>
                    <a:cxn ang="0">
                      <a:pos x="T0" y="T1"/>
                    </a:cxn>
                    <a:cxn ang="0">
                      <a:pos x="T2" y="T3"/>
                    </a:cxn>
                    <a:cxn ang="0">
                      <a:pos x="T4" y="T5"/>
                    </a:cxn>
                    <a:cxn ang="0">
                      <a:pos x="T6" y="T7"/>
                    </a:cxn>
                    <a:cxn ang="0">
                      <a:pos x="T8" y="T9"/>
                    </a:cxn>
                  </a:cxnLst>
                  <a:rect l="0" t="0" r="r" b="b"/>
                  <a:pathLst>
                    <a:path w="16" h="1140">
                      <a:moveTo>
                        <a:pt x="0" y="1049"/>
                      </a:moveTo>
                      <a:lnTo>
                        <a:pt x="0" y="0"/>
                      </a:lnTo>
                      <a:lnTo>
                        <a:pt x="16" y="0"/>
                      </a:lnTo>
                      <a:lnTo>
                        <a:pt x="16" y="1140"/>
                      </a:lnTo>
                      <a:lnTo>
                        <a:pt x="0" y="1049"/>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16" name="Freeform 4304"/>
                <p:cNvSpPr>
                  <a:spLocks noChangeAspect="1"/>
                </p:cNvSpPr>
                <p:nvPr/>
              </p:nvSpPr>
              <p:spPr bwMode="auto">
                <a:xfrm>
                  <a:off x="2723" y="2287"/>
                  <a:ext cx="5" cy="310"/>
                </a:xfrm>
                <a:custGeom>
                  <a:avLst/>
                  <a:gdLst>
                    <a:gd name="T0" fmla="*/ 0 w 16"/>
                    <a:gd name="T1" fmla="*/ 1094 h 1186"/>
                    <a:gd name="T2" fmla="*/ 0 w 16"/>
                    <a:gd name="T3" fmla="*/ 0 h 1186"/>
                    <a:gd name="T4" fmla="*/ 16 w 16"/>
                    <a:gd name="T5" fmla="*/ 0 h 1186"/>
                    <a:gd name="T6" fmla="*/ 16 w 16"/>
                    <a:gd name="T7" fmla="*/ 1186 h 1186"/>
                    <a:gd name="T8" fmla="*/ 0 w 16"/>
                    <a:gd name="T9" fmla="*/ 1094 h 1186"/>
                  </a:gdLst>
                  <a:ahLst/>
                  <a:cxnLst>
                    <a:cxn ang="0">
                      <a:pos x="T0" y="T1"/>
                    </a:cxn>
                    <a:cxn ang="0">
                      <a:pos x="T2" y="T3"/>
                    </a:cxn>
                    <a:cxn ang="0">
                      <a:pos x="T4" y="T5"/>
                    </a:cxn>
                    <a:cxn ang="0">
                      <a:pos x="T6" y="T7"/>
                    </a:cxn>
                    <a:cxn ang="0">
                      <a:pos x="T8" y="T9"/>
                    </a:cxn>
                  </a:cxnLst>
                  <a:rect l="0" t="0" r="r" b="b"/>
                  <a:pathLst>
                    <a:path w="16" h="1186">
                      <a:moveTo>
                        <a:pt x="0" y="1094"/>
                      </a:moveTo>
                      <a:lnTo>
                        <a:pt x="0" y="0"/>
                      </a:lnTo>
                      <a:lnTo>
                        <a:pt x="16" y="0"/>
                      </a:lnTo>
                      <a:lnTo>
                        <a:pt x="16" y="1186"/>
                      </a:lnTo>
                      <a:lnTo>
                        <a:pt x="0" y="109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17" name="Freeform 4305"/>
                <p:cNvSpPr>
                  <a:spLocks noChangeAspect="1"/>
                </p:cNvSpPr>
                <p:nvPr/>
              </p:nvSpPr>
              <p:spPr bwMode="auto">
                <a:xfrm>
                  <a:off x="2725" y="2287"/>
                  <a:ext cx="0" cy="322"/>
                </a:xfrm>
                <a:custGeom>
                  <a:avLst/>
                  <a:gdLst>
                    <a:gd name="T0" fmla="*/ 0 w 17"/>
                    <a:gd name="T1" fmla="*/ 1140 h 1231"/>
                    <a:gd name="T2" fmla="*/ 0 w 17"/>
                    <a:gd name="T3" fmla="*/ 0 h 1231"/>
                    <a:gd name="T4" fmla="*/ 17 w 17"/>
                    <a:gd name="T5" fmla="*/ 0 h 1231"/>
                    <a:gd name="T6" fmla="*/ 17 w 17"/>
                    <a:gd name="T7" fmla="*/ 1231 h 1231"/>
                    <a:gd name="T8" fmla="*/ 0 w 17"/>
                    <a:gd name="T9" fmla="*/ 1140 h 1231"/>
                  </a:gdLst>
                  <a:ahLst/>
                  <a:cxnLst>
                    <a:cxn ang="0">
                      <a:pos x="T0" y="T1"/>
                    </a:cxn>
                    <a:cxn ang="0">
                      <a:pos x="T2" y="T3"/>
                    </a:cxn>
                    <a:cxn ang="0">
                      <a:pos x="T4" y="T5"/>
                    </a:cxn>
                    <a:cxn ang="0">
                      <a:pos x="T6" y="T7"/>
                    </a:cxn>
                    <a:cxn ang="0">
                      <a:pos x="T8" y="T9"/>
                    </a:cxn>
                  </a:cxnLst>
                  <a:rect l="0" t="0" r="r" b="b"/>
                  <a:pathLst>
                    <a:path w="17" h="1231">
                      <a:moveTo>
                        <a:pt x="0" y="1140"/>
                      </a:moveTo>
                      <a:lnTo>
                        <a:pt x="0" y="0"/>
                      </a:lnTo>
                      <a:lnTo>
                        <a:pt x="17" y="0"/>
                      </a:lnTo>
                      <a:lnTo>
                        <a:pt x="17" y="1231"/>
                      </a:lnTo>
                      <a:lnTo>
                        <a:pt x="0" y="114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18" name="Freeform 4306"/>
                <p:cNvSpPr>
                  <a:spLocks noChangeAspect="1"/>
                </p:cNvSpPr>
                <p:nvPr/>
              </p:nvSpPr>
              <p:spPr bwMode="auto">
                <a:xfrm>
                  <a:off x="2725" y="2287"/>
                  <a:ext cx="0" cy="322"/>
                </a:xfrm>
                <a:custGeom>
                  <a:avLst/>
                  <a:gdLst>
                    <a:gd name="T0" fmla="*/ 0 w 17"/>
                    <a:gd name="T1" fmla="*/ 1186 h 1235"/>
                    <a:gd name="T2" fmla="*/ 0 w 17"/>
                    <a:gd name="T3" fmla="*/ 0 h 1235"/>
                    <a:gd name="T4" fmla="*/ 17 w 17"/>
                    <a:gd name="T5" fmla="*/ 0 h 1235"/>
                    <a:gd name="T6" fmla="*/ 17 w 17"/>
                    <a:gd name="T7" fmla="*/ 1186 h 1235"/>
                    <a:gd name="T8" fmla="*/ 9 w 17"/>
                    <a:gd name="T9" fmla="*/ 1235 h 1235"/>
                    <a:gd name="T10" fmla="*/ 0 w 17"/>
                    <a:gd name="T11" fmla="*/ 1186 h 1235"/>
                  </a:gdLst>
                  <a:ahLst/>
                  <a:cxnLst>
                    <a:cxn ang="0">
                      <a:pos x="T0" y="T1"/>
                    </a:cxn>
                    <a:cxn ang="0">
                      <a:pos x="T2" y="T3"/>
                    </a:cxn>
                    <a:cxn ang="0">
                      <a:pos x="T4" y="T5"/>
                    </a:cxn>
                    <a:cxn ang="0">
                      <a:pos x="T6" y="T7"/>
                    </a:cxn>
                    <a:cxn ang="0">
                      <a:pos x="T8" y="T9"/>
                    </a:cxn>
                    <a:cxn ang="0">
                      <a:pos x="T10" y="T11"/>
                    </a:cxn>
                  </a:cxnLst>
                  <a:rect l="0" t="0" r="r" b="b"/>
                  <a:pathLst>
                    <a:path w="17" h="1235">
                      <a:moveTo>
                        <a:pt x="0" y="1186"/>
                      </a:moveTo>
                      <a:lnTo>
                        <a:pt x="0" y="0"/>
                      </a:lnTo>
                      <a:lnTo>
                        <a:pt x="17" y="0"/>
                      </a:lnTo>
                      <a:lnTo>
                        <a:pt x="17" y="1186"/>
                      </a:lnTo>
                      <a:lnTo>
                        <a:pt x="9" y="1235"/>
                      </a:lnTo>
                      <a:lnTo>
                        <a:pt x="0" y="118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19" name="Freeform 4307"/>
                <p:cNvSpPr>
                  <a:spLocks noChangeAspect="1"/>
                </p:cNvSpPr>
                <p:nvPr/>
              </p:nvSpPr>
              <p:spPr bwMode="auto">
                <a:xfrm>
                  <a:off x="2729" y="2287"/>
                  <a:ext cx="5" cy="322"/>
                </a:xfrm>
                <a:custGeom>
                  <a:avLst/>
                  <a:gdLst>
                    <a:gd name="T0" fmla="*/ 0 w 17"/>
                    <a:gd name="T1" fmla="*/ 1231 h 1235"/>
                    <a:gd name="T2" fmla="*/ 0 w 17"/>
                    <a:gd name="T3" fmla="*/ 0 h 1235"/>
                    <a:gd name="T4" fmla="*/ 17 w 17"/>
                    <a:gd name="T5" fmla="*/ 0 h 1235"/>
                    <a:gd name="T6" fmla="*/ 17 w 17"/>
                    <a:gd name="T7" fmla="*/ 1132 h 1235"/>
                    <a:gd name="T8" fmla="*/ 1 w 17"/>
                    <a:gd name="T9" fmla="*/ 1235 h 1235"/>
                    <a:gd name="T10" fmla="*/ 0 w 17"/>
                    <a:gd name="T11" fmla="*/ 1231 h 1235"/>
                  </a:gdLst>
                  <a:ahLst/>
                  <a:cxnLst>
                    <a:cxn ang="0">
                      <a:pos x="T0" y="T1"/>
                    </a:cxn>
                    <a:cxn ang="0">
                      <a:pos x="T2" y="T3"/>
                    </a:cxn>
                    <a:cxn ang="0">
                      <a:pos x="T4" y="T5"/>
                    </a:cxn>
                    <a:cxn ang="0">
                      <a:pos x="T6" y="T7"/>
                    </a:cxn>
                    <a:cxn ang="0">
                      <a:pos x="T8" y="T9"/>
                    </a:cxn>
                    <a:cxn ang="0">
                      <a:pos x="T10" y="T11"/>
                    </a:cxn>
                  </a:cxnLst>
                  <a:rect l="0" t="0" r="r" b="b"/>
                  <a:pathLst>
                    <a:path w="17" h="1235">
                      <a:moveTo>
                        <a:pt x="0" y="1231"/>
                      </a:moveTo>
                      <a:lnTo>
                        <a:pt x="0" y="0"/>
                      </a:lnTo>
                      <a:lnTo>
                        <a:pt x="17" y="0"/>
                      </a:lnTo>
                      <a:lnTo>
                        <a:pt x="17" y="1132"/>
                      </a:lnTo>
                      <a:lnTo>
                        <a:pt x="1" y="1235"/>
                      </a:lnTo>
                      <a:lnTo>
                        <a:pt x="0" y="123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20" name="Freeform 4308"/>
                <p:cNvSpPr>
                  <a:spLocks noChangeAspect="1"/>
                </p:cNvSpPr>
                <p:nvPr/>
              </p:nvSpPr>
              <p:spPr bwMode="auto">
                <a:xfrm>
                  <a:off x="2731" y="2287"/>
                  <a:ext cx="5" cy="310"/>
                </a:xfrm>
                <a:custGeom>
                  <a:avLst/>
                  <a:gdLst>
                    <a:gd name="T0" fmla="*/ 0 w 17"/>
                    <a:gd name="T1" fmla="*/ 1186 h 1186"/>
                    <a:gd name="T2" fmla="*/ 0 w 17"/>
                    <a:gd name="T3" fmla="*/ 0 h 1186"/>
                    <a:gd name="T4" fmla="*/ 17 w 17"/>
                    <a:gd name="T5" fmla="*/ 0 h 1186"/>
                    <a:gd name="T6" fmla="*/ 17 w 17"/>
                    <a:gd name="T7" fmla="*/ 1077 h 1186"/>
                    <a:gd name="T8" fmla="*/ 0 w 17"/>
                    <a:gd name="T9" fmla="*/ 1186 h 1186"/>
                  </a:gdLst>
                  <a:ahLst/>
                  <a:cxnLst>
                    <a:cxn ang="0">
                      <a:pos x="T0" y="T1"/>
                    </a:cxn>
                    <a:cxn ang="0">
                      <a:pos x="T2" y="T3"/>
                    </a:cxn>
                    <a:cxn ang="0">
                      <a:pos x="T4" y="T5"/>
                    </a:cxn>
                    <a:cxn ang="0">
                      <a:pos x="T6" y="T7"/>
                    </a:cxn>
                    <a:cxn ang="0">
                      <a:pos x="T8" y="T9"/>
                    </a:cxn>
                  </a:cxnLst>
                  <a:rect l="0" t="0" r="r" b="b"/>
                  <a:pathLst>
                    <a:path w="17" h="1186">
                      <a:moveTo>
                        <a:pt x="0" y="1186"/>
                      </a:moveTo>
                      <a:lnTo>
                        <a:pt x="0" y="0"/>
                      </a:lnTo>
                      <a:lnTo>
                        <a:pt x="17" y="0"/>
                      </a:lnTo>
                      <a:lnTo>
                        <a:pt x="17" y="1077"/>
                      </a:lnTo>
                      <a:lnTo>
                        <a:pt x="0" y="118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21" name="Freeform 4309"/>
                <p:cNvSpPr>
                  <a:spLocks noChangeAspect="1"/>
                </p:cNvSpPr>
                <p:nvPr/>
              </p:nvSpPr>
              <p:spPr bwMode="auto">
                <a:xfrm>
                  <a:off x="2732" y="2287"/>
                  <a:ext cx="6" cy="297"/>
                </a:xfrm>
                <a:custGeom>
                  <a:avLst/>
                  <a:gdLst>
                    <a:gd name="T0" fmla="*/ 0 w 16"/>
                    <a:gd name="T1" fmla="*/ 1132 h 1132"/>
                    <a:gd name="T2" fmla="*/ 0 w 16"/>
                    <a:gd name="T3" fmla="*/ 0 h 1132"/>
                    <a:gd name="T4" fmla="*/ 16 w 16"/>
                    <a:gd name="T5" fmla="*/ 0 h 1132"/>
                    <a:gd name="T6" fmla="*/ 16 w 16"/>
                    <a:gd name="T7" fmla="*/ 1024 h 1132"/>
                    <a:gd name="T8" fmla="*/ 0 w 16"/>
                    <a:gd name="T9" fmla="*/ 1132 h 1132"/>
                  </a:gdLst>
                  <a:ahLst/>
                  <a:cxnLst>
                    <a:cxn ang="0">
                      <a:pos x="T0" y="T1"/>
                    </a:cxn>
                    <a:cxn ang="0">
                      <a:pos x="T2" y="T3"/>
                    </a:cxn>
                    <a:cxn ang="0">
                      <a:pos x="T4" y="T5"/>
                    </a:cxn>
                    <a:cxn ang="0">
                      <a:pos x="T6" y="T7"/>
                    </a:cxn>
                    <a:cxn ang="0">
                      <a:pos x="T8" y="T9"/>
                    </a:cxn>
                  </a:cxnLst>
                  <a:rect l="0" t="0" r="r" b="b"/>
                  <a:pathLst>
                    <a:path w="16" h="1132">
                      <a:moveTo>
                        <a:pt x="0" y="1132"/>
                      </a:moveTo>
                      <a:lnTo>
                        <a:pt x="0" y="0"/>
                      </a:lnTo>
                      <a:lnTo>
                        <a:pt x="16" y="0"/>
                      </a:lnTo>
                      <a:lnTo>
                        <a:pt x="16" y="1024"/>
                      </a:lnTo>
                      <a:lnTo>
                        <a:pt x="0" y="113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22" name="Freeform 4310"/>
                <p:cNvSpPr>
                  <a:spLocks noChangeAspect="1"/>
                </p:cNvSpPr>
                <p:nvPr/>
              </p:nvSpPr>
              <p:spPr bwMode="auto">
                <a:xfrm>
                  <a:off x="2736" y="2287"/>
                  <a:ext cx="3" cy="284"/>
                </a:xfrm>
                <a:custGeom>
                  <a:avLst/>
                  <a:gdLst>
                    <a:gd name="T0" fmla="*/ 0 w 16"/>
                    <a:gd name="T1" fmla="*/ 1077 h 1077"/>
                    <a:gd name="T2" fmla="*/ 0 w 16"/>
                    <a:gd name="T3" fmla="*/ 0 h 1077"/>
                    <a:gd name="T4" fmla="*/ 16 w 16"/>
                    <a:gd name="T5" fmla="*/ 0 h 1077"/>
                    <a:gd name="T6" fmla="*/ 16 w 16"/>
                    <a:gd name="T7" fmla="*/ 970 h 1077"/>
                    <a:gd name="T8" fmla="*/ 0 w 16"/>
                    <a:gd name="T9" fmla="*/ 1077 h 1077"/>
                  </a:gdLst>
                  <a:ahLst/>
                  <a:cxnLst>
                    <a:cxn ang="0">
                      <a:pos x="T0" y="T1"/>
                    </a:cxn>
                    <a:cxn ang="0">
                      <a:pos x="T2" y="T3"/>
                    </a:cxn>
                    <a:cxn ang="0">
                      <a:pos x="T4" y="T5"/>
                    </a:cxn>
                    <a:cxn ang="0">
                      <a:pos x="T6" y="T7"/>
                    </a:cxn>
                    <a:cxn ang="0">
                      <a:pos x="T8" y="T9"/>
                    </a:cxn>
                  </a:cxnLst>
                  <a:rect l="0" t="0" r="r" b="b"/>
                  <a:pathLst>
                    <a:path w="16" h="1077">
                      <a:moveTo>
                        <a:pt x="0" y="1077"/>
                      </a:moveTo>
                      <a:lnTo>
                        <a:pt x="0" y="0"/>
                      </a:lnTo>
                      <a:lnTo>
                        <a:pt x="16" y="0"/>
                      </a:lnTo>
                      <a:lnTo>
                        <a:pt x="16" y="970"/>
                      </a:lnTo>
                      <a:lnTo>
                        <a:pt x="0" y="107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23" name="Freeform 4311"/>
                <p:cNvSpPr>
                  <a:spLocks noChangeAspect="1"/>
                </p:cNvSpPr>
                <p:nvPr/>
              </p:nvSpPr>
              <p:spPr bwMode="auto">
                <a:xfrm>
                  <a:off x="2738" y="2287"/>
                  <a:ext cx="1" cy="271"/>
                </a:xfrm>
                <a:custGeom>
                  <a:avLst/>
                  <a:gdLst>
                    <a:gd name="T0" fmla="*/ 0 w 17"/>
                    <a:gd name="T1" fmla="*/ 1024 h 1024"/>
                    <a:gd name="T2" fmla="*/ 0 w 17"/>
                    <a:gd name="T3" fmla="*/ 0 h 1024"/>
                    <a:gd name="T4" fmla="*/ 17 w 17"/>
                    <a:gd name="T5" fmla="*/ 0 h 1024"/>
                    <a:gd name="T6" fmla="*/ 17 w 17"/>
                    <a:gd name="T7" fmla="*/ 916 h 1024"/>
                    <a:gd name="T8" fmla="*/ 0 w 17"/>
                    <a:gd name="T9" fmla="*/ 1024 h 1024"/>
                  </a:gdLst>
                  <a:ahLst/>
                  <a:cxnLst>
                    <a:cxn ang="0">
                      <a:pos x="T0" y="T1"/>
                    </a:cxn>
                    <a:cxn ang="0">
                      <a:pos x="T2" y="T3"/>
                    </a:cxn>
                    <a:cxn ang="0">
                      <a:pos x="T4" y="T5"/>
                    </a:cxn>
                    <a:cxn ang="0">
                      <a:pos x="T6" y="T7"/>
                    </a:cxn>
                    <a:cxn ang="0">
                      <a:pos x="T8" y="T9"/>
                    </a:cxn>
                  </a:cxnLst>
                  <a:rect l="0" t="0" r="r" b="b"/>
                  <a:pathLst>
                    <a:path w="17" h="1024">
                      <a:moveTo>
                        <a:pt x="0" y="1024"/>
                      </a:moveTo>
                      <a:lnTo>
                        <a:pt x="0" y="0"/>
                      </a:lnTo>
                      <a:lnTo>
                        <a:pt x="17" y="0"/>
                      </a:lnTo>
                      <a:lnTo>
                        <a:pt x="17" y="916"/>
                      </a:lnTo>
                      <a:lnTo>
                        <a:pt x="0" y="102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24" name="Freeform 4312"/>
                <p:cNvSpPr>
                  <a:spLocks noChangeAspect="1"/>
                </p:cNvSpPr>
                <p:nvPr/>
              </p:nvSpPr>
              <p:spPr bwMode="auto">
                <a:xfrm>
                  <a:off x="2739" y="2287"/>
                  <a:ext cx="5" cy="252"/>
                </a:xfrm>
                <a:custGeom>
                  <a:avLst/>
                  <a:gdLst>
                    <a:gd name="T0" fmla="*/ 0 w 17"/>
                    <a:gd name="T1" fmla="*/ 970 h 970"/>
                    <a:gd name="T2" fmla="*/ 0 w 17"/>
                    <a:gd name="T3" fmla="*/ 0 h 970"/>
                    <a:gd name="T4" fmla="*/ 17 w 17"/>
                    <a:gd name="T5" fmla="*/ 0 h 970"/>
                    <a:gd name="T6" fmla="*/ 17 w 17"/>
                    <a:gd name="T7" fmla="*/ 863 h 970"/>
                    <a:gd name="T8" fmla="*/ 0 w 17"/>
                    <a:gd name="T9" fmla="*/ 970 h 970"/>
                  </a:gdLst>
                  <a:ahLst/>
                  <a:cxnLst>
                    <a:cxn ang="0">
                      <a:pos x="T0" y="T1"/>
                    </a:cxn>
                    <a:cxn ang="0">
                      <a:pos x="T2" y="T3"/>
                    </a:cxn>
                    <a:cxn ang="0">
                      <a:pos x="T4" y="T5"/>
                    </a:cxn>
                    <a:cxn ang="0">
                      <a:pos x="T6" y="T7"/>
                    </a:cxn>
                    <a:cxn ang="0">
                      <a:pos x="T8" y="T9"/>
                    </a:cxn>
                  </a:cxnLst>
                  <a:rect l="0" t="0" r="r" b="b"/>
                  <a:pathLst>
                    <a:path w="17" h="970">
                      <a:moveTo>
                        <a:pt x="0" y="970"/>
                      </a:moveTo>
                      <a:lnTo>
                        <a:pt x="0" y="0"/>
                      </a:lnTo>
                      <a:lnTo>
                        <a:pt x="17" y="0"/>
                      </a:lnTo>
                      <a:lnTo>
                        <a:pt x="17" y="863"/>
                      </a:lnTo>
                      <a:lnTo>
                        <a:pt x="0" y="97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25" name="Freeform 4313"/>
                <p:cNvSpPr>
                  <a:spLocks noChangeAspect="1"/>
                </p:cNvSpPr>
                <p:nvPr/>
              </p:nvSpPr>
              <p:spPr bwMode="auto">
                <a:xfrm>
                  <a:off x="2739" y="2287"/>
                  <a:ext cx="7" cy="239"/>
                </a:xfrm>
                <a:custGeom>
                  <a:avLst/>
                  <a:gdLst>
                    <a:gd name="T0" fmla="*/ 0 w 17"/>
                    <a:gd name="T1" fmla="*/ 916 h 916"/>
                    <a:gd name="T2" fmla="*/ 0 w 17"/>
                    <a:gd name="T3" fmla="*/ 0 h 916"/>
                    <a:gd name="T4" fmla="*/ 17 w 17"/>
                    <a:gd name="T5" fmla="*/ 0 h 916"/>
                    <a:gd name="T6" fmla="*/ 17 w 17"/>
                    <a:gd name="T7" fmla="*/ 808 h 916"/>
                    <a:gd name="T8" fmla="*/ 0 w 17"/>
                    <a:gd name="T9" fmla="*/ 916 h 916"/>
                  </a:gdLst>
                  <a:ahLst/>
                  <a:cxnLst>
                    <a:cxn ang="0">
                      <a:pos x="T0" y="T1"/>
                    </a:cxn>
                    <a:cxn ang="0">
                      <a:pos x="T2" y="T3"/>
                    </a:cxn>
                    <a:cxn ang="0">
                      <a:pos x="T4" y="T5"/>
                    </a:cxn>
                    <a:cxn ang="0">
                      <a:pos x="T6" y="T7"/>
                    </a:cxn>
                    <a:cxn ang="0">
                      <a:pos x="T8" y="T9"/>
                    </a:cxn>
                  </a:cxnLst>
                  <a:rect l="0" t="0" r="r" b="b"/>
                  <a:pathLst>
                    <a:path w="17" h="916">
                      <a:moveTo>
                        <a:pt x="0" y="916"/>
                      </a:moveTo>
                      <a:lnTo>
                        <a:pt x="0" y="0"/>
                      </a:lnTo>
                      <a:lnTo>
                        <a:pt x="17" y="0"/>
                      </a:lnTo>
                      <a:lnTo>
                        <a:pt x="17" y="808"/>
                      </a:lnTo>
                      <a:lnTo>
                        <a:pt x="0" y="91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26" name="Freeform 4314"/>
                <p:cNvSpPr>
                  <a:spLocks noChangeAspect="1"/>
                </p:cNvSpPr>
                <p:nvPr/>
              </p:nvSpPr>
              <p:spPr bwMode="auto">
                <a:xfrm>
                  <a:off x="2744" y="2287"/>
                  <a:ext cx="2" cy="226"/>
                </a:xfrm>
                <a:custGeom>
                  <a:avLst/>
                  <a:gdLst>
                    <a:gd name="T0" fmla="*/ 0 w 16"/>
                    <a:gd name="T1" fmla="*/ 863 h 863"/>
                    <a:gd name="T2" fmla="*/ 0 w 16"/>
                    <a:gd name="T3" fmla="*/ 0 h 863"/>
                    <a:gd name="T4" fmla="*/ 16 w 16"/>
                    <a:gd name="T5" fmla="*/ 0 h 863"/>
                    <a:gd name="T6" fmla="*/ 16 w 16"/>
                    <a:gd name="T7" fmla="*/ 754 h 863"/>
                    <a:gd name="T8" fmla="*/ 0 w 16"/>
                    <a:gd name="T9" fmla="*/ 863 h 863"/>
                  </a:gdLst>
                  <a:ahLst/>
                  <a:cxnLst>
                    <a:cxn ang="0">
                      <a:pos x="T0" y="T1"/>
                    </a:cxn>
                    <a:cxn ang="0">
                      <a:pos x="T2" y="T3"/>
                    </a:cxn>
                    <a:cxn ang="0">
                      <a:pos x="T4" y="T5"/>
                    </a:cxn>
                    <a:cxn ang="0">
                      <a:pos x="T6" y="T7"/>
                    </a:cxn>
                    <a:cxn ang="0">
                      <a:pos x="T8" y="T9"/>
                    </a:cxn>
                  </a:cxnLst>
                  <a:rect l="0" t="0" r="r" b="b"/>
                  <a:pathLst>
                    <a:path w="16" h="863">
                      <a:moveTo>
                        <a:pt x="0" y="863"/>
                      </a:moveTo>
                      <a:lnTo>
                        <a:pt x="0" y="0"/>
                      </a:lnTo>
                      <a:lnTo>
                        <a:pt x="16" y="0"/>
                      </a:lnTo>
                      <a:lnTo>
                        <a:pt x="16" y="754"/>
                      </a:lnTo>
                      <a:lnTo>
                        <a:pt x="0" y="863"/>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27" name="Freeform 4315"/>
                <p:cNvSpPr>
                  <a:spLocks noChangeAspect="1"/>
                </p:cNvSpPr>
                <p:nvPr/>
              </p:nvSpPr>
              <p:spPr bwMode="auto">
                <a:xfrm>
                  <a:off x="2746" y="2287"/>
                  <a:ext cx="0" cy="214"/>
                </a:xfrm>
                <a:custGeom>
                  <a:avLst/>
                  <a:gdLst>
                    <a:gd name="T0" fmla="*/ 0 w 16"/>
                    <a:gd name="T1" fmla="*/ 808 h 808"/>
                    <a:gd name="T2" fmla="*/ 0 w 16"/>
                    <a:gd name="T3" fmla="*/ 0 h 808"/>
                    <a:gd name="T4" fmla="*/ 16 w 16"/>
                    <a:gd name="T5" fmla="*/ 0 h 808"/>
                    <a:gd name="T6" fmla="*/ 16 w 16"/>
                    <a:gd name="T7" fmla="*/ 701 h 808"/>
                    <a:gd name="T8" fmla="*/ 0 w 16"/>
                    <a:gd name="T9" fmla="*/ 808 h 808"/>
                  </a:gdLst>
                  <a:ahLst/>
                  <a:cxnLst>
                    <a:cxn ang="0">
                      <a:pos x="T0" y="T1"/>
                    </a:cxn>
                    <a:cxn ang="0">
                      <a:pos x="T2" y="T3"/>
                    </a:cxn>
                    <a:cxn ang="0">
                      <a:pos x="T4" y="T5"/>
                    </a:cxn>
                    <a:cxn ang="0">
                      <a:pos x="T6" y="T7"/>
                    </a:cxn>
                    <a:cxn ang="0">
                      <a:pos x="T8" y="T9"/>
                    </a:cxn>
                  </a:cxnLst>
                  <a:rect l="0" t="0" r="r" b="b"/>
                  <a:pathLst>
                    <a:path w="16" h="808">
                      <a:moveTo>
                        <a:pt x="0" y="808"/>
                      </a:moveTo>
                      <a:lnTo>
                        <a:pt x="0" y="0"/>
                      </a:lnTo>
                      <a:lnTo>
                        <a:pt x="16" y="0"/>
                      </a:lnTo>
                      <a:lnTo>
                        <a:pt x="16" y="701"/>
                      </a:lnTo>
                      <a:lnTo>
                        <a:pt x="0" y="80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28" name="Freeform 4316"/>
                <p:cNvSpPr>
                  <a:spLocks noChangeAspect="1"/>
                </p:cNvSpPr>
                <p:nvPr/>
              </p:nvSpPr>
              <p:spPr bwMode="auto">
                <a:xfrm>
                  <a:off x="2746" y="2287"/>
                  <a:ext cx="7" cy="199"/>
                </a:xfrm>
                <a:custGeom>
                  <a:avLst/>
                  <a:gdLst>
                    <a:gd name="T0" fmla="*/ 0 w 17"/>
                    <a:gd name="T1" fmla="*/ 754 h 754"/>
                    <a:gd name="T2" fmla="*/ 0 w 17"/>
                    <a:gd name="T3" fmla="*/ 0 h 754"/>
                    <a:gd name="T4" fmla="*/ 17 w 17"/>
                    <a:gd name="T5" fmla="*/ 0 h 754"/>
                    <a:gd name="T6" fmla="*/ 17 w 17"/>
                    <a:gd name="T7" fmla="*/ 647 h 754"/>
                    <a:gd name="T8" fmla="*/ 0 w 17"/>
                    <a:gd name="T9" fmla="*/ 754 h 754"/>
                  </a:gdLst>
                  <a:ahLst/>
                  <a:cxnLst>
                    <a:cxn ang="0">
                      <a:pos x="T0" y="T1"/>
                    </a:cxn>
                    <a:cxn ang="0">
                      <a:pos x="T2" y="T3"/>
                    </a:cxn>
                    <a:cxn ang="0">
                      <a:pos x="T4" y="T5"/>
                    </a:cxn>
                    <a:cxn ang="0">
                      <a:pos x="T6" y="T7"/>
                    </a:cxn>
                    <a:cxn ang="0">
                      <a:pos x="T8" y="T9"/>
                    </a:cxn>
                  </a:cxnLst>
                  <a:rect l="0" t="0" r="r" b="b"/>
                  <a:pathLst>
                    <a:path w="17" h="754">
                      <a:moveTo>
                        <a:pt x="0" y="754"/>
                      </a:moveTo>
                      <a:lnTo>
                        <a:pt x="0" y="0"/>
                      </a:lnTo>
                      <a:lnTo>
                        <a:pt x="17" y="0"/>
                      </a:lnTo>
                      <a:lnTo>
                        <a:pt x="17" y="647"/>
                      </a:lnTo>
                      <a:lnTo>
                        <a:pt x="0" y="75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29" name="Freeform 4317"/>
                <p:cNvSpPr>
                  <a:spLocks noChangeAspect="1"/>
                </p:cNvSpPr>
                <p:nvPr/>
              </p:nvSpPr>
              <p:spPr bwMode="auto">
                <a:xfrm>
                  <a:off x="2750" y="2287"/>
                  <a:ext cx="5" cy="182"/>
                </a:xfrm>
                <a:custGeom>
                  <a:avLst/>
                  <a:gdLst>
                    <a:gd name="T0" fmla="*/ 0 w 17"/>
                    <a:gd name="T1" fmla="*/ 701 h 701"/>
                    <a:gd name="T2" fmla="*/ 0 w 17"/>
                    <a:gd name="T3" fmla="*/ 0 h 701"/>
                    <a:gd name="T4" fmla="*/ 17 w 17"/>
                    <a:gd name="T5" fmla="*/ 0 h 701"/>
                    <a:gd name="T6" fmla="*/ 17 w 17"/>
                    <a:gd name="T7" fmla="*/ 592 h 701"/>
                    <a:gd name="T8" fmla="*/ 0 w 17"/>
                    <a:gd name="T9" fmla="*/ 701 h 701"/>
                  </a:gdLst>
                  <a:ahLst/>
                  <a:cxnLst>
                    <a:cxn ang="0">
                      <a:pos x="T0" y="T1"/>
                    </a:cxn>
                    <a:cxn ang="0">
                      <a:pos x="T2" y="T3"/>
                    </a:cxn>
                    <a:cxn ang="0">
                      <a:pos x="T4" y="T5"/>
                    </a:cxn>
                    <a:cxn ang="0">
                      <a:pos x="T6" y="T7"/>
                    </a:cxn>
                    <a:cxn ang="0">
                      <a:pos x="T8" y="T9"/>
                    </a:cxn>
                  </a:cxnLst>
                  <a:rect l="0" t="0" r="r" b="b"/>
                  <a:pathLst>
                    <a:path w="17" h="701">
                      <a:moveTo>
                        <a:pt x="0" y="701"/>
                      </a:moveTo>
                      <a:lnTo>
                        <a:pt x="0" y="0"/>
                      </a:lnTo>
                      <a:lnTo>
                        <a:pt x="17" y="0"/>
                      </a:lnTo>
                      <a:lnTo>
                        <a:pt x="17" y="592"/>
                      </a:lnTo>
                      <a:lnTo>
                        <a:pt x="0" y="70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30" name="Freeform 4318"/>
                <p:cNvSpPr>
                  <a:spLocks noChangeAspect="1"/>
                </p:cNvSpPr>
                <p:nvPr/>
              </p:nvSpPr>
              <p:spPr bwMode="auto">
                <a:xfrm>
                  <a:off x="2753" y="2287"/>
                  <a:ext cx="0" cy="169"/>
                </a:xfrm>
                <a:custGeom>
                  <a:avLst/>
                  <a:gdLst>
                    <a:gd name="T0" fmla="*/ 0 w 17"/>
                    <a:gd name="T1" fmla="*/ 647 h 647"/>
                    <a:gd name="T2" fmla="*/ 0 w 17"/>
                    <a:gd name="T3" fmla="*/ 0 h 647"/>
                    <a:gd name="T4" fmla="*/ 17 w 17"/>
                    <a:gd name="T5" fmla="*/ 0 h 647"/>
                    <a:gd name="T6" fmla="*/ 17 w 17"/>
                    <a:gd name="T7" fmla="*/ 539 h 647"/>
                    <a:gd name="T8" fmla="*/ 0 w 17"/>
                    <a:gd name="T9" fmla="*/ 647 h 647"/>
                  </a:gdLst>
                  <a:ahLst/>
                  <a:cxnLst>
                    <a:cxn ang="0">
                      <a:pos x="T0" y="T1"/>
                    </a:cxn>
                    <a:cxn ang="0">
                      <a:pos x="T2" y="T3"/>
                    </a:cxn>
                    <a:cxn ang="0">
                      <a:pos x="T4" y="T5"/>
                    </a:cxn>
                    <a:cxn ang="0">
                      <a:pos x="T6" y="T7"/>
                    </a:cxn>
                    <a:cxn ang="0">
                      <a:pos x="T8" y="T9"/>
                    </a:cxn>
                  </a:cxnLst>
                  <a:rect l="0" t="0" r="r" b="b"/>
                  <a:pathLst>
                    <a:path w="17" h="647">
                      <a:moveTo>
                        <a:pt x="0" y="647"/>
                      </a:moveTo>
                      <a:lnTo>
                        <a:pt x="0" y="0"/>
                      </a:lnTo>
                      <a:lnTo>
                        <a:pt x="17" y="0"/>
                      </a:lnTo>
                      <a:lnTo>
                        <a:pt x="17" y="539"/>
                      </a:lnTo>
                      <a:lnTo>
                        <a:pt x="0" y="64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31" name="Freeform 4319"/>
                <p:cNvSpPr>
                  <a:spLocks noChangeAspect="1"/>
                </p:cNvSpPr>
                <p:nvPr/>
              </p:nvSpPr>
              <p:spPr bwMode="auto">
                <a:xfrm>
                  <a:off x="2753" y="2287"/>
                  <a:ext cx="6" cy="156"/>
                </a:xfrm>
                <a:custGeom>
                  <a:avLst/>
                  <a:gdLst>
                    <a:gd name="T0" fmla="*/ 0 w 17"/>
                    <a:gd name="T1" fmla="*/ 592 h 592"/>
                    <a:gd name="T2" fmla="*/ 0 w 17"/>
                    <a:gd name="T3" fmla="*/ 0 h 592"/>
                    <a:gd name="T4" fmla="*/ 17 w 17"/>
                    <a:gd name="T5" fmla="*/ 0 h 592"/>
                    <a:gd name="T6" fmla="*/ 17 w 17"/>
                    <a:gd name="T7" fmla="*/ 485 h 592"/>
                    <a:gd name="T8" fmla="*/ 0 w 17"/>
                    <a:gd name="T9" fmla="*/ 592 h 592"/>
                  </a:gdLst>
                  <a:ahLst/>
                  <a:cxnLst>
                    <a:cxn ang="0">
                      <a:pos x="T0" y="T1"/>
                    </a:cxn>
                    <a:cxn ang="0">
                      <a:pos x="T2" y="T3"/>
                    </a:cxn>
                    <a:cxn ang="0">
                      <a:pos x="T4" y="T5"/>
                    </a:cxn>
                    <a:cxn ang="0">
                      <a:pos x="T6" y="T7"/>
                    </a:cxn>
                    <a:cxn ang="0">
                      <a:pos x="T8" y="T9"/>
                    </a:cxn>
                  </a:cxnLst>
                  <a:rect l="0" t="0" r="r" b="b"/>
                  <a:pathLst>
                    <a:path w="17" h="592">
                      <a:moveTo>
                        <a:pt x="0" y="592"/>
                      </a:moveTo>
                      <a:lnTo>
                        <a:pt x="0" y="0"/>
                      </a:lnTo>
                      <a:lnTo>
                        <a:pt x="17" y="0"/>
                      </a:lnTo>
                      <a:lnTo>
                        <a:pt x="17" y="485"/>
                      </a:lnTo>
                      <a:lnTo>
                        <a:pt x="0" y="59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32" name="Freeform 4320"/>
                <p:cNvSpPr>
                  <a:spLocks noChangeAspect="1"/>
                </p:cNvSpPr>
                <p:nvPr/>
              </p:nvSpPr>
              <p:spPr bwMode="auto">
                <a:xfrm>
                  <a:off x="2757" y="2287"/>
                  <a:ext cx="3" cy="142"/>
                </a:xfrm>
                <a:custGeom>
                  <a:avLst/>
                  <a:gdLst>
                    <a:gd name="T0" fmla="*/ 0 w 16"/>
                    <a:gd name="T1" fmla="*/ 539 h 539"/>
                    <a:gd name="T2" fmla="*/ 0 w 16"/>
                    <a:gd name="T3" fmla="*/ 0 h 539"/>
                    <a:gd name="T4" fmla="*/ 16 w 16"/>
                    <a:gd name="T5" fmla="*/ 0 h 539"/>
                    <a:gd name="T6" fmla="*/ 16 w 16"/>
                    <a:gd name="T7" fmla="*/ 431 h 539"/>
                    <a:gd name="T8" fmla="*/ 0 w 16"/>
                    <a:gd name="T9" fmla="*/ 539 h 539"/>
                  </a:gdLst>
                  <a:ahLst/>
                  <a:cxnLst>
                    <a:cxn ang="0">
                      <a:pos x="T0" y="T1"/>
                    </a:cxn>
                    <a:cxn ang="0">
                      <a:pos x="T2" y="T3"/>
                    </a:cxn>
                    <a:cxn ang="0">
                      <a:pos x="T4" y="T5"/>
                    </a:cxn>
                    <a:cxn ang="0">
                      <a:pos x="T6" y="T7"/>
                    </a:cxn>
                    <a:cxn ang="0">
                      <a:pos x="T8" y="T9"/>
                    </a:cxn>
                  </a:cxnLst>
                  <a:rect l="0" t="0" r="r" b="b"/>
                  <a:pathLst>
                    <a:path w="16" h="539">
                      <a:moveTo>
                        <a:pt x="0" y="539"/>
                      </a:moveTo>
                      <a:lnTo>
                        <a:pt x="0" y="0"/>
                      </a:lnTo>
                      <a:lnTo>
                        <a:pt x="16" y="0"/>
                      </a:lnTo>
                      <a:lnTo>
                        <a:pt x="16" y="431"/>
                      </a:lnTo>
                      <a:lnTo>
                        <a:pt x="0" y="539"/>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33" name="Freeform 4321"/>
                <p:cNvSpPr>
                  <a:spLocks noChangeAspect="1"/>
                </p:cNvSpPr>
                <p:nvPr/>
              </p:nvSpPr>
              <p:spPr bwMode="auto">
                <a:xfrm>
                  <a:off x="2759" y="2287"/>
                  <a:ext cx="1" cy="128"/>
                </a:xfrm>
                <a:custGeom>
                  <a:avLst/>
                  <a:gdLst>
                    <a:gd name="T0" fmla="*/ 0 w 16"/>
                    <a:gd name="T1" fmla="*/ 485 h 485"/>
                    <a:gd name="T2" fmla="*/ 0 w 16"/>
                    <a:gd name="T3" fmla="*/ 0 h 485"/>
                    <a:gd name="T4" fmla="*/ 16 w 16"/>
                    <a:gd name="T5" fmla="*/ 0 h 485"/>
                    <a:gd name="T6" fmla="*/ 16 w 16"/>
                    <a:gd name="T7" fmla="*/ 378 h 485"/>
                    <a:gd name="T8" fmla="*/ 0 w 16"/>
                    <a:gd name="T9" fmla="*/ 485 h 485"/>
                  </a:gdLst>
                  <a:ahLst/>
                  <a:cxnLst>
                    <a:cxn ang="0">
                      <a:pos x="T0" y="T1"/>
                    </a:cxn>
                    <a:cxn ang="0">
                      <a:pos x="T2" y="T3"/>
                    </a:cxn>
                    <a:cxn ang="0">
                      <a:pos x="T4" y="T5"/>
                    </a:cxn>
                    <a:cxn ang="0">
                      <a:pos x="T6" y="T7"/>
                    </a:cxn>
                    <a:cxn ang="0">
                      <a:pos x="T8" y="T9"/>
                    </a:cxn>
                  </a:cxnLst>
                  <a:rect l="0" t="0" r="r" b="b"/>
                  <a:pathLst>
                    <a:path w="16" h="485">
                      <a:moveTo>
                        <a:pt x="0" y="485"/>
                      </a:moveTo>
                      <a:lnTo>
                        <a:pt x="0" y="0"/>
                      </a:lnTo>
                      <a:lnTo>
                        <a:pt x="16" y="0"/>
                      </a:lnTo>
                      <a:lnTo>
                        <a:pt x="16" y="378"/>
                      </a:lnTo>
                      <a:lnTo>
                        <a:pt x="0" y="485"/>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34" name="Freeform 4322"/>
                <p:cNvSpPr>
                  <a:spLocks noChangeAspect="1"/>
                </p:cNvSpPr>
                <p:nvPr/>
              </p:nvSpPr>
              <p:spPr bwMode="auto">
                <a:xfrm>
                  <a:off x="2760" y="2287"/>
                  <a:ext cx="6" cy="114"/>
                </a:xfrm>
                <a:custGeom>
                  <a:avLst/>
                  <a:gdLst>
                    <a:gd name="T0" fmla="*/ 0 w 17"/>
                    <a:gd name="T1" fmla="*/ 431 h 431"/>
                    <a:gd name="T2" fmla="*/ 0 w 17"/>
                    <a:gd name="T3" fmla="*/ 0 h 431"/>
                    <a:gd name="T4" fmla="*/ 17 w 17"/>
                    <a:gd name="T5" fmla="*/ 0 h 431"/>
                    <a:gd name="T6" fmla="*/ 17 w 17"/>
                    <a:gd name="T7" fmla="*/ 324 h 431"/>
                    <a:gd name="T8" fmla="*/ 0 w 17"/>
                    <a:gd name="T9" fmla="*/ 431 h 431"/>
                  </a:gdLst>
                  <a:ahLst/>
                  <a:cxnLst>
                    <a:cxn ang="0">
                      <a:pos x="T0" y="T1"/>
                    </a:cxn>
                    <a:cxn ang="0">
                      <a:pos x="T2" y="T3"/>
                    </a:cxn>
                    <a:cxn ang="0">
                      <a:pos x="T4" y="T5"/>
                    </a:cxn>
                    <a:cxn ang="0">
                      <a:pos x="T6" y="T7"/>
                    </a:cxn>
                    <a:cxn ang="0">
                      <a:pos x="T8" y="T9"/>
                    </a:cxn>
                  </a:cxnLst>
                  <a:rect l="0" t="0" r="r" b="b"/>
                  <a:pathLst>
                    <a:path w="17" h="431">
                      <a:moveTo>
                        <a:pt x="0" y="431"/>
                      </a:moveTo>
                      <a:lnTo>
                        <a:pt x="0" y="0"/>
                      </a:lnTo>
                      <a:lnTo>
                        <a:pt x="17" y="0"/>
                      </a:lnTo>
                      <a:lnTo>
                        <a:pt x="17" y="324"/>
                      </a:lnTo>
                      <a:lnTo>
                        <a:pt x="0" y="43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35" name="Freeform 4323"/>
                <p:cNvSpPr>
                  <a:spLocks noChangeAspect="1"/>
                </p:cNvSpPr>
                <p:nvPr/>
              </p:nvSpPr>
              <p:spPr bwMode="auto">
                <a:xfrm>
                  <a:off x="2760" y="2287"/>
                  <a:ext cx="7" cy="99"/>
                </a:xfrm>
                <a:custGeom>
                  <a:avLst/>
                  <a:gdLst>
                    <a:gd name="T0" fmla="*/ 0 w 17"/>
                    <a:gd name="T1" fmla="*/ 378 h 378"/>
                    <a:gd name="T2" fmla="*/ 0 w 17"/>
                    <a:gd name="T3" fmla="*/ 0 h 378"/>
                    <a:gd name="T4" fmla="*/ 17 w 17"/>
                    <a:gd name="T5" fmla="*/ 0 h 378"/>
                    <a:gd name="T6" fmla="*/ 17 w 17"/>
                    <a:gd name="T7" fmla="*/ 269 h 378"/>
                    <a:gd name="T8" fmla="*/ 0 w 17"/>
                    <a:gd name="T9" fmla="*/ 378 h 378"/>
                  </a:gdLst>
                  <a:ahLst/>
                  <a:cxnLst>
                    <a:cxn ang="0">
                      <a:pos x="T0" y="T1"/>
                    </a:cxn>
                    <a:cxn ang="0">
                      <a:pos x="T2" y="T3"/>
                    </a:cxn>
                    <a:cxn ang="0">
                      <a:pos x="T4" y="T5"/>
                    </a:cxn>
                    <a:cxn ang="0">
                      <a:pos x="T6" y="T7"/>
                    </a:cxn>
                    <a:cxn ang="0">
                      <a:pos x="T8" y="T9"/>
                    </a:cxn>
                  </a:cxnLst>
                  <a:rect l="0" t="0" r="r" b="b"/>
                  <a:pathLst>
                    <a:path w="17" h="378">
                      <a:moveTo>
                        <a:pt x="0" y="378"/>
                      </a:moveTo>
                      <a:lnTo>
                        <a:pt x="0" y="0"/>
                      </a:lnTo>
                      <a:lnTo>
                        <a:pt x="17" y="0"/>
                      </a:lnTo>
                      <a:lnTo>
                        <a:pt x="17" y="269"/>
                      </a:lnTo>
                      <a:lnTo>
                        <a:pt x="0" y="37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36" name="Freeform 4324"/>
                <p:cNvSpPr>
                  <a:spLocks noChangeAspect="1"/>
                </p:cNvSpPr>
                <p:nvPr/>
              </p:nvSpPr>
              <p:spPr bwMode="auto">
                <a:xfrm>
                  <a:off x="2766" y="2287"/>
                  <a:ext cx="1" cy="85"/>
                </a:xfrm>
                <a:custGeom>
                  <a:avLst/>
                  <a:gdLst>
                    <a:gd name="T0" fmla="*/ 0 w 17"/>
                    <a:gd name="T1" fmla="*/ 324 h 324"/>
                    <a:gd name="T2" fmla="*/ 0 w 17"/>
                    <a:gd name="T3" fmla="*/ 0 h 324"/>
                    <a:gd name="T4" fmla="*/ 17 w 17"/>
                    <a:gd name="T5" fmla="*/ 0 h 324"/>
                    <a:gd name="T6" fmla="*/ 17 w 17"/>
                    <a:gd name="T7" fmla="*/ 216 h 324"/>
                    <a:gd name="T8" fmla="*/ 0 w 17"/>
                    <a:gd name="T9" fmla="*/ 324 h 324"/>
                  </a:gdLst>
                  <a:ahLst/>
                  <a:cxnLst>
                    <a:cxn ang="0">
                      <a:pos x="T0" y="T1"/>
                    </a:cxn>
                    <a:cxn ang="0">
                      <a:pos x="T2" y="T3"/>
                    </a:cxn>
                    <a:cxn ang="0">
                      <a:pos x="T4" y="T5"/>
                    </a:cxn>
                    <a:cxn ang="0">
                      <a:pos x="T6" y="T7"/>
                    </a:cxn>
                    <a:cxn ang="0">
                      <a:pos x="T8" y="T9"/>
                    </a:cxn>
                  </a:cxnLst>
                  <a:rect l="0" t="0" r="r" b="b"/>
                  <a:pathLst>
                    <a:path w="17" h="324">
                      <a:moveTo>
                        <a:pt x="0" y="324"/>
                      </a:moveTo>
                      <a:lnTo>
                        <a:pt x="0" y="0"/>
                      </a:lnTo>
                      <a:lnTo>
                        <a:pt x="17" y="0"/>
                      </a:lnTo>
                      <a:lnTo>
                        <a:pt x="17" y="216"/>
                      </a:lnTo>
                      <a:lnTo>
                        <a:pt x="0" y="32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37" name="Freeform 4325"/>
                <p:cNvSpPr>
                  <a:spLocks noChangeAspect="1"/>
                </p:cNvSpPr>
                <p:nvPr/>
              </p:nvSpPr>
              <p:spPr bwMode="auto">
                <a:xfrm>
                  <a:off x="2767" y="2287"/>
                  <a:ext cx="5" cy="71"/>
                </a:xfrm>
                <a:custGeom>
                  <a:avLst/>
                  <a:gdLst>
                    <a:gd name="T0" fmla="*/ 0 w 16"/>
                    <a:gd name="T1" fmla="*/ 269 h 269"/>
                    <a:gd name="T2" fmla="*/ 0 w 16"/>
                    <a:gd name="T3" fmla="*/ 0 h 269"/>
                    <a:gd name="T4" fmla="*/ 16 w 16"/>
                    <a:gd name="T5" fmla="*/ 0 h 269"/>
                    <a:gd name="T6" fmla="*/ 16 w 16"/>
                    <a:gd name="T7" fmla="*/ 162 h 269"/>
                    <a:gd name="T8" fmla="*/ 0 w 16"/>
                    <a:gd name="T9" fmla="*/ 269 h 269"/>
                  </a:gdLst>
                  <a:ahLst/>
                  <a:cxnLst>
                    <a:cxn ang="0">
                      <a:pos x="T0" y="T1"/>
                    </a:cxn>
                    <a:cxn ang="0">
                      <a:pos x="T2" y="T3"/>
                    </a:cxn>
                    <a:cxn ang="0">
                      <a:pos x="T4" y="T5"/>
                    </a:cxn>
                    <a:cxn ang="0">
                      <a:pos x="T6" y="T7"/>
                    </a:cxn>
                    <a:cxn ang="0">
                      <a:pos x="T8" y="T9"/>
                    </a:cxn>
                  </a:cxnLst>
                  <a:rect l="0" t="0" r="r" b="b"/>
                  <a:pathLst>
                    <a:path w="16" h="269">
                      <a:moveTo>
                        <a:pt x="0" y="269"/>
                      </a:moveTo>
                      <a:lnTo>
                        <a:pt x="0" y="0"/>
                      </a:lnTo>
                      <a:lnTo>
                        <a:pt x="16" y="0"/>
                      </a:lnTo>
                      <a:lnTo>
                        <a:pt x="16" y="162"/>
                      </a:lnTo>
                      <a:lnTo>
                        <a:pt x="0" y="269"/>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38" name="Freeform 4326"/>
                <p:cNvSpPr>
                  <a:spLocks noChangeAspect="1"/>
                </p:cNvSpPr>
                <p:nvPr/>
              </p:nvSpPr>
              <p:spPr bwMode="auto">
                <a:xfrm>
                  <a:off x="2767" y="2287"/>
                  <a:ext cx="7" cy="57"/>
                </a:xfrm>
                <a:custGeom>
                  <a:avLst/>
                  <a:gdLst>
                    <a:gd name="T0" fmla="*/ 0 w 16"/>
                    <a:gd name="T1" fmla="*/ 216 h 216"/>
                    <a:gd name="T2" fmla="*/ 0 w 16"/>
                    <a:gd name="T3" fmla="*/ 0 h 216"/>
                    <a:gd name="T4" fmla="*/ 16 w 16"/>
                    <a:gd name="T5" fmla="*/ 0 h 216"/>
                    <a:gd name="T6" fmla="*/ 16 w 16"/>
                    <a:gd name="T7" fmla="*/ 108 h 216"/>
                    <a:gd name="T8" fmla="*/ 0 w 16"/>
                    <a:gd name="T9" fmla="*/ 216 h 216"/>
                  </a:gdLst>
                  <a:ahLst/>
                  <a:cxnLst>
                    <a:cxn ang="0">
                      <a:pos x="T0" y="T1"/>
                    </a:cxn>
                    <a:cxn ang="0">
                      <a:pos x="T2" y="T3"/>
                    </a:cxn>
                    <a:cxn ang="0">
                      <a:pos x="T4" y="T5"/>
                    </a:cxn>
                    <a:cxn ang="0">
                      <a:pos x="T6" y="T7"/>
                    </a:cxn>
                    <a:cxn ang="0">
                      <a:pos x="T8" y="T9"/>
                    </a:cxn>
                  </a:cxnLst>
                  <a:rect l="0" t="0" r="r" b="b"/>
                  <a:pathLst>
                    <a:path w="16" h="216">
                      <a:moveTo>
                        <a:pt x="0" y="216"/>
                      </a:moveTo>
                      <a:lnTo>
                        <a:pt x="0" y="0"/>
                      </a:lnTo>
                      <a:lnTo>
                        <a:pt x="16" y="0"/>
                      </a:lnTo>
                      <a:lnTo>
                        <a:pt x="16" y="108"/>
                      </a:lnTo>
                      <a:lnTo>
                        <a:pt x="0" y="21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39" name="Freeform 4327"/>
                <p:cNvSpPr>
                  <a:spLocks noChangeAspect="1"/>
                </p:cNvSpPr>
                <p:nvPr/>
              </p:nvSpPr>
              <p:spPr bwMode="auto">
                <a:xfrm>
                  <a:off x="2772" y="2287"/>
                  <a:ext cx="2" cy="43"/>
                </a:xfrm>
                <a:custGeom>
                  <a:avLst/>
                  <a:gdLst>
                    <a:gd name="T0" fmla="*/ 0 w 17"/>
                    <a:gd name="T1" fmla="*/ 162 h 162"/>
                    <a:gd name="T2" fmla="*/ 0 w 17"/>
                    <a:gd name="T3" fmla="*/ 0 h 162"/>
                    <a:gd name="T4" fmla="*/ 17 w 17"/>
                    <a:gd name="T5" fmla="*/ 0 h 162"/>
                    <a:gd name="T6" fmla="*/ 17 w 17"/>
                    <a:gd name="T7" fmla="*/ 55 h 162"/>
                    <a:gd name="T8" fmla="*/ 0 w 17"/>
                    <a:gd name="T9" fmla="*/ 162 h 162"/>
                  </a:gdLst>
                  <a:ahLst/>
                  <a:cxnLst>
                    <a:cxn ang="0">
                      <a:pos x="T0" y="T1"/>
                    </a:cxn>
                    <a:cxn ang="0">
                      <a:pos x="T2" y="T3"/>
                    </a:cxn>
                    <a:cxn ang="0">
                      <a:pos x="T4" y="T5"/>
                    </a:cxn>
                    <a:cxn ang="0">
                      <a:pos x="T6" y="T7"/>
                    </a:cxn>
                    <a:cxn ang="0">
                      <a:pos x="T8" y="T9"/>
                    </a:cxn>
                  </a:cxnLst>
                  <a:rect l="0" t="0" r="r" b="b"/>
                  <a:pathLst>
                    <a:path w="17" h="162">
                      <a:moveTo>
                        <a:pt x="0" y="162"/>
                      </a:moveTo>
                      <a:lnTo>
                        <a:pt x="0" y="0"/>
                      </a:lnTo>
                      <a:lnTo>
                        <a:pt x="17" y="0"/>
                      </a:lnTo>
                      <a:lnTo>
                        <a:pt x="17" y="55"/>
                      </a:lnTo>
                      <a:lnTo>
                        <a:pt x="0" y="16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40" name="Freeform 4328"/>
                <p:cNvSpPr>
                  <a:spLocks noChangeAspect="1"/>
                </p:cNvSpPr>
                <p:nvPr/>
              </p:nvSpPr>
              <p:spPr bwMode="auto">
                <a:xfrm>
                  <a:off x="2673" y="2287"/>
                  <a:ext cx="105" cy="322"/>
                </a:xfrm>
                <a:custGeom>
                  <a:avLst/>
                  <a:gdLst>
                    <a:gd name="T0" fmla="*/ 0 w 416"/>
                    <a:gd name="T1" fmla="*/ 0 h 1235"/>
                    <a:gd name="T2" fmla="*/ 416 w 416"/>
                    <a:gd name="T3" fmla="*/ 0 h 1235"/>
                    <a:gd name="T4" fmla="*/ 225 w 416"/>
                    <a:gd name="T5" fmla="*/ 1235 h 1235"/>
                    <a:gd name="T6" fmla="*/ 0 w 416"/>
                    <a:gd name="T7" fmla="*/ 0 h 1235"/>
                  </a:gdLst>
                  <a:ahLst/>
                  <a:cxnLst>
                    <a:cxn ang="0">
                      <a:pos x="T0" y="T1"/>
                    </a:cxn>
                    <a:cxn ang="0">
                      <a:pos x="T2" y="T3"/>
                    </a:cxn>
                    <a:cxn ang="0">
                      <a:pos x="T4" y="T5"/>
                    </a:cxn>
                    <a:cxn ang="0">
                      <a:pos x="T6" y="T7"/>
                    </a:cxn>
                  </a:cxnLst>
                  <a:rect l="0" t="0" r="r" b="b"/>
                  <a:pathLst>
                    <a:path w="416" h="1235">
                      <a:moveTo>
                        <a:pt x="0" y="0"/>
                      </a:moveTo>
                      <a:lnTo>
                        <a:pt x="416" y="0"/>
                      </a:lnTo>
                      <a:lnTo>
                        <a:pt x="225" y="1235"/>
                      </a:lnTo>
                      <a:lnTo>
                        <a:pt x="0" y="0"/>
                      </a:lnTo>
                    </a:path>
                  </a:pathLst>
                </a:custGeom>
                <a:gradFill rotWithShape="0">
                  <a:gsLst>
                    <a:gs pos="0">
                      <a:schemeClr val="hlink"/>
                    </a:gs>
                    <a:gs pos="50000">
                      <a:schemeClr val="hlink">
                        <a:gamma/>
                        <a:tint val="30196"/>
                        <a:invGamma/>
                      </a:schemeClr>
                    </a:gs>
                    <a:gs pos="100000">
                      <a:schemeClr val="hlink"/>
                    </a:gs>
                  </a:gsLst>
                  <a:lin ang="0" scaled="1"/>
                </a:gradFill>
                <a:ln w="1588">
                  <a:solidFill>
                    <a:srgbClr val="1F1A17"/>
                  </a:solidFill>
                  <a:prstDash val="solid"/>
                  <a:round/>
                  <a:headEnd/>
                  <a:tailEnd/>
                </a:ln>
              </p:spPr>
              <p:txBody>
                <a:bodyPr/>
                <a:lstStyle/>
                <a:p>
                  <a:pPr>
                    <a:defRPr/>
                  </a:pPr>
                  <a:endParaRPr lang="en-US"/>
                </a:p>
              </p:txBody>
            </p:sp>
          </p:grpSp>
          <p:grpSp>
            <p:nvGrpSpPr>
              <p:cNvPr id="387151" name="Group 4329"/>
              <p:cNvGrpSpPr>
                <a:grpSpLocks noChangeAspect="1"/>
              </p:cNvGrpSpPr>
              <p:nvPr/>
            </p:nvGrpSpPr>
            <p:grpSpPr bwMode="auto">
              <a:xfrm>
                <a:off x="2869" y="2390"/>
                <a:ext cx="105" cy="326"/>
                <a:chOff x="2673" y="2287"/>
                <a:chExt cx="105" cy="326"/>
              </a:xfrm>
            </p:grpSpPr>
            <p:sp>
              <p:nvSpPr>
                <p:cNvPr id="68842" name="Freeform 4330"/>
                <p:cNvSpPr>
                  <a:spLocks noChangeAspect="1"/>
                </p:cNvSpPr>
                <p:nvPr/>
              </p:nvSpPr>
              <p:spPr bwMode="auto">
                <a:xfrm>
                  <a:off x="2673" y="2287"/>
                  <a:ext cx="2" cy="13"/>
                </a:xfrm>
                <a:custGeom>
                  <a:avLst/>
                  <a:gdLst>
                    <a:gd name="T0" fmla="*/ 0 w 8"/>
                    <a:gd name="T1" fmla="*/ 0 h 46"/>
                    <a:gd name="T2" fmla="*/ 8 w 8"/>
                    <a:gd name="T3" fmla="*/ 0 h 46"/>
                    <a:gd name="T4" fmla="*/ 8 w 8"/>
                    <a:gd name="T5" fmla="*/ 46 h 46"/>
                    <a:gd name="T6" fmla="*/ 0 w 8"/>
                    <a:gd name="T7" fmla="*/ 0 h 46"/>
                  </a:gdLst>
                  <a:ahLst/>
                  <a:cxnLst>
                    <a:cxn ang="0">
                      <a:pos x="T0" y="T1"/>
                    </a:cxn>
                    <a:cxn ang="0">
                      <a:pos x="T2" y="T3"/>
                    </a:cxn>
                    <a:cxn ang="0">
                      <a:pos x="T4" y="T5"/>
                    </a:cxn>
                    <a:cxn ang="0">
                      <a:pos x="T6" y="T7"/>
                    </a:cxn>
                  </a:cxnLst>
                  <a:rect l="0" t="0" r="r" b="b"/>
                  <a:pathLst>
                    <a:path w="8" h="46">
                      <a:moveTo>
                        <a:pt x="0" y="0"/>
                      </a:moveTo>
                      <a:lnTo>
                        <a:pt x="8" y="0"/>
                      </a:lnTo>
                      <a:lnTo>
                        <a:pt x="8" y="46"/>
                      </a:lnTo>
                      <a:lnTo>
                        <a:pt x="0" y="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43" name="Freeform 4331"/>
                <p:cNvSpPr>
                  <a:spLocks noChangeAspect="1"/>
                </p:cNvSpPr>
                <p:nvPr/>
              </p:nvSpPr>
              <p:spPr bwMode="auto">
                <a:xfrm>
                  <a:off x="2673" y="2287"/>
                  <a:ext cx="3" cy="25"/>
                </a:xfrm>
                <a:custGeom>
                  <a:avLst/>
                  <a:gdLst>
                    <a:gd name="T0" fmla="*/ 0 w 15"/>
                    <a:gd name="T1" fmla="*/ 0 h 92"/>
                    <a:gd name="T2" fmla="*/ 15 w 15"/>
                    <a:gd name="T3" fmla="*/ 0 h 92"/>
                    <a:gd name="T4" fmla="*/ 15 w 15"/>
                    <a:gd name="T5" fmla="*/ 92 h 92"/>
                    <a:gd name="T6" fmla="*/ 0 w 15"/>
                    <a:gd name="T7" fmla="*/ 0 h 92"/>
                  </a:gdLst>
                  <a:ahLst/>
                  <a:cxnLst>
                    <a:cxn ang="0">
                      <a:pos x="T0" y="T1"/>
                    </a:cxn>
                    <a:cxn ang="0">
                      <a:pos x="T2" y="T3"/>
                    </a:cxn>
                    <a:cxn ang="0">
                      <a:pos x="T4" y="T5"/>
                    </a:cxn>
                    <a:cxn ang="0">
                      <a:pos x="T6" y="T7"/>
                    </a:cxn>
                  </a:cxnLst>
                  <a:rect l="0" t="0" r="r" b="b"/>
                  <a:pathLst>
                    <a:path w="15" h="92">
                      <a:moveTo>
                        <a:pt x="0" y="0"/>
                      </a:moveTo>
                      <a:lnTo>
                        <a:pt x="15" y="0"/>
                      </a:lnTo>
                      <a:lnTo>
                        <a:pt x="15" y="92"/>
                      </a:lnTo>
                      <a:lnTo>
                        <a:pt x="0" y="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44" name="Freeform 4332"/>
                <p:cNvSpPr>
                  <a:spLocks noChangeAspect="1"/>
                </p:cNvSpPr>
                <p:nvPr/>
              </p:nvSpPr>
              <p:spPr bwMode="auto">
                <a:xfrm>
                  <a:off x="2675" y="2287"/>
                  <a:ext cx="1" cy="35"/>
                </a:xfrm>
                <a:custGeom>
                  <a:avLst/>
                  <a:gdLst>
                    <a:gd name="T0" fmla="*/ 0 w 16"/>
                    <a:gd name="T1" fmla="*/ 46 h 137"/>
                    <a:gd name="T2" fmla="*/ 0 w 16"/>
                    <a:gd name="T3" fmla="*/ 0 h 137"/>
                    <a:gd name="T4" fmla="*/ 16 w 16"/>
                    <a:gd name="T5" fmla="*/ 0 h 137"/>
                    <a:gd name="T6" fmla="*/ 16 w 16"/>
                    <a:gd name="T7" fmla="*/ 137 h 137"/>
                    <a:gd name="T8" fmla="*/ 0 w 16"/>
                    <a:gd name="T9" fmla="*/ 46 h 137"/>
                  </a:gdLst>
                  <a:ahLst/>
                  <a:cxnLst>
                    <a:cxn ang="0">
                      <a:pos x="T0" y="T1"/>
                    </a:cxn>
                    <a:cxn ang="0">
                      <a:pos x="T2" y="T3"/>
                    </a:cxn>
                    <a:cxn ang="0">
                      <a:pos x="T4" y="T5"/>
                    </a:cxn>
                    <a:cxn ang="0">
                      <a:pos x="T6" y="T7"/>
                    </a:cxn>
                    <a:cxn ang="0">
                      <a:pos x="T8" y="T9"/>
                    </a:cxn>
                  </a:cxnLst>
                  <a:rect l="0" t="0" r="r" b="b"/>
                  <a:pathLst>
                    <a:path w="16" h="137">
                      <a:moveTo>
                        <a:pt x="0" y="46"/>
                      </a:moveTo>
                      <a:lnTo>
                        <a:pt x="0" y="0"/>
                      </a:lnTo>
                      <a:lnTo>
                        <a:pt x="16" y="0"/>
                      </a:lnTo>
                      <a:lnTo>
                        <a:pt x="16" y="137"/>
                      </a:lnTo>
                      <a:lnTo>
                        <a:pt x="0" y="4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45" name="Freeform 4333"/>
                <p:cNvSpPr>
                  <a:spLocks noChangeAspect="1"/>
                </p:cNvSpPr>
                <p:nvPr/>
              </p:nvSpPr>
              <p:spPr bwMode="auto">
                <a:xfrm>
                  <a:off x="2676" y="2287"/>
                  <a:ext cx="5" cy="48"/>
                </a:xfrm>
                <a:custGeom>
                  <a:avLst/>
                  <a:gdLst>
                    <a:gd name="T0" fmla="*/ 0 w 17"/>
                    <a:gd name="T1" fmla="*/ 92 h 183"/>
                    <a:gd name="T2" fmla="*/ 0 w 17"/>
                    <a:gd name="T3" fmla="*/ 0 h 183"/>
                    <a:gd name="T4" fmla="*/ 17 w 17"/>
                    <a:gd name="T5" fmla="*/ 0 h 183"/>
                    <a:gd name="T6" fmla="*/ 17 w 17"/>
                    <a:gd name="T7" fmla="*/ 183 h 183"/>
                    <a:gd name="T8" fmla="*/ 0 w 17"/>
                    <a:gd name="T9" fmla="*/ 92 h 183"/>
                  </a:gdLst>
                  <a:ahLst/>
                  <a:cxnLst>
                    <a:cxn ang="0">
                      <a:pos x="T0" y="T1"/>
                    </a:cxn>
                    <a:cxn ang="0">
                      <a:pos x="T2" y="T3"/>
                    </a:cxn>
                    <a:cxn ang="0">
                      <a:pos x="T4" y="T5"/>
                    </a:cxn>
                    <a:cxn ang="0">
                      <a:pos x="T6" y="T7"/>
                    </a:cxn>
                    <a:cxn ang="0">
                      <a:pos x="T8" y="T9"/>
                    </a:cxn>
                  </a:cxnLst>
                  <a:rect l="0" t="0" r="r" b="b"/>
                  <a:pathLst>
                    <a:path w="17" h="183">
                      <a:moveTo>
                        <a:pt x="0" y="92"/>
                      </a:moveTo>
                      <a:lnTo>
                        <a:pt x="0" y="0"/>
                      </a:lnTo>
                      <a:lnTo>
                        <a:pt x="17" y="0"/>
                      </a:lnTo>
                      <a:lnTo>
                        <a:pt x="17" y="183"/>
                      </a:lnTo>
                      <a:lnTo>
                        <a:pt x="0" y="9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46" name="Freeform 4334"/>
                <p:cNvSpPr>
                  <a:spLocks noChangeAspect="1"/>
                </p:cNvSpPr>
                <p:nvPr/>
              </p:nvSpPr>
              <p:spPr bwMode="auto">
                <a:xfrm>
                  <a:off x="2679" y="2287"/>
                  <a:ext cx="5" cy="60"/>
                </a:xfrm>
                <a:custGeom>
                  <a:avLst/>
                  <a:gdLst>
                    <a:gd name="T0" fmla="*/ 0 w 17"/>
                    <a:gd name="T1" fmla="*/ 137 h 228"/>
                    <a:gd name="T2" fmla="*/ 0 w 17"/>
                    <a:gd name="T3" fmla="*/ 0 h 228"/>
                    <a:gd name="T4" fmla="*/ 17 w 17"/>
                    <a:gd name="T5" fmla="*/ 0 h 228"/>
                    <a:gd name="T6" fmla="*/ 17 w 17"/>
                    <a:gd name="T7" fmla="*/ 228 h 228"/>
                    <a:gd name="T8" fmla="*/ 0 w 17"/>
                    <a:gd name="T9" fmla="*/ 137 h 228"/>
                  </a:gdLst>
                  <a:ahLst/>
                  <a:cxnLst>
                    <a:cxn ang="0">
                      <a:pos x="T0" y="T1"/>
                    </a:cxn>
                    <a:cxn ang="0">
                      <a:pos x="T2" y="T3"/>
                    </a:cxn>
                    <a:cxn ang="0">
                      <a:pos x="T4" y="T5"/>
                    </a:cxn>
                    <a:cxn ang="0">
                      <a:pos x="T6" y="T7"/>
                    </a:cxn>
                    <a:cxn ang="0">
                      <a:pos x="T8" y="T9"/>
                    </a:cxn>
                  </a:cxnLst>
                  <a:rect l="0" t="0" r="r" b="b"/>
                  <a:pathLst>
                    <a:path w="17" h="228">
                      <a:moveTo>
                        <a:pt x="0" y="137"/>
                      </a:moveTo>
                      <a:lnTo>
                        <a:pt x="0" y="0"/>
                      </a:lnTo>
                      <a:lnTo>
                        <a:pt x="17" y="0"/>
                      </a:lnTo>
                      <a:lnTo>
                        <a:pt x="17" y="228"/>
                      </a:lnTo>
                      <a:lnTo>
                        <a:pt x="0" y="13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47" name="Freeform 4335"/>
                <p:cNvSpPr>
                  <a:spLocks noChangeAspect="1"/>
                </p:cNvSpPr>
                <p:nvPr/>
              </p:nvSpPr>
              <p:spPr bwMode="auto">
                <a:xfrm>
                  <a:off x="2681" y="2287"/>
                  <a:ext cx="2" cy="73"/>
                </a:xfrm>
                <a:custGeom>
                  <a:avLst/>
                  <a:gdLst>
                    <a:gd name="T0" fmla="*/ 0 w 18"/>
                    <a:gd name="T1" fmla="*/ 183 h 274"/>
                    <a:gd name="T2" fmla="*/ 0 w 18"/>
                    <a:gd name="T3" fmla="*/ 0 h 274"/>
                    <a:gd name="T4" fmla="*/ 18 w 18"/>
                    <a:gd name="T5" fmla="*/ 0 h 274"/>
                    <a:gd name="T6" fmla="*/ 18 w 18"/>
                    <a:gd name="T7" fmla="*/ 274 h 274"/>
                    <a:gd name="T8" fmla="*/ 0 w 18"/>
                    <a:gd name="T9" fmla="*/ 183 h 274"/>
                  </a:gdLst>
                  <a:ahLst/>
                  <a:cxnLst>
                    <a:cxn ang="0">
                      <a:pos x="T0" y="T1"/>
                    </a:cxn>
                    <a:cxn ang="0">
                      <a:pos x="T2" y="T3"/>
                    </a:cxn>
                    <a:cxn ang="0">
                      <a:pos x="T4" y="T5"/>
                    </a:cxn>
                    <a:cxn ang="0">
                      <a:pos x="T6" y="T7"/>
                    </a:cxn>
                    <a:cxn ang="0">
                      <a:pos x="T8" y="T9"/>
                    </a:cxn>
                  </a:cxnLst>
                  <a:rect l="0" t="0" r="r" b="b"/>
                  <a:pathLst>
                    <a:path w="18" h="274">
                      <a:moveTo>
                        <a:pt x="0" y="183"/>
                      </a:moveTo>
                      <a:lnTo>
                        <a:pt x="0" y="0"/>
                      </a:lnTo>
                      <a:lnTo>
                        <a:pt x="18" y="0"/>
                      </a:lnTo>
                      <a:lnTo>
                        <a:pt x="18" y="274"/>
                      </a:lnTo>
                      <a:lnTo>
                        <a:pt x="0" y="183"/>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48" name="Freeform 4336"/>
                <p:cNvSpPr>
                  <a:spLocks noChangeAspect="1"/>
                </p:cNvSpPr>
                <p:nvPr/>
              </p:nvSpPr>
              <p:spPr bwMode="auto">
                <a:xfrm>
                  <a:off x="2683" y="2287"/>
                  <a:ext cx="0" cy="85"/>
                </a:xfrm>
                <a:custGeom>
                  <a:avLst/>
                  <a:gdLst>
                    <a:gd name="T0" fmla="*/ 0 w 17"/>
                    <a:gd name="T1" fmla="*/ 228 h 319"/>
                    <a:gd name="T2" fmla="*/ 0 w 17"/>
                    <a:gd name="T3" fmla="*/ 0 h 319"/>
                    <a:gd name="T4" fmla="*/ 17 w 17"/>
                    <a:gd name="T5" fmla="*/ 0 h 319"/>
                    <a:gd name="T6" fmla="*/ 17 w 17"/>
                    <a:gd name="T7" fmla="*/ 319 h 319"/>
                    <a:gd name="T8" fmla="*/ 0 w 17"/>
                    <a:gd name="T9" fmla="*/ 228 h 319"/>
                  </a:gdLst>
                  <a:ahLst/>
                  <a:cxnLst>
                    <a:cxn ang="0">
                      <a:pos x="T0" y="T1"/>
                    </a:cxn>
                    <a:cxn ang="0">
                      <a:pos x="T2" y="T3"/>
                    </a:cxn>
                    <a:cxn ang="0">
                      <a:pos x="T4" y="T5"/>
                    </a:cxn>
                    <a:cxn ang="0">
                      <a:pos x="T6" y="T7"/>
                    </a:cxn>
                    <a:cxn ang="0">
                      <a:pos x="T8" y="T9"/>
                    </a:cxn>
                  </a:cxnLst>
                  <a:rect l="0" t="0" r="r" b="b"/>
                  <a:pathLst>
                    <a:path w="17" h="319">
                      <a:moveTo>
                        <a:pt x="0" y="228"/>
                      </a:moveTo>
                      <a:lnTo>
                        <a:pt x="0" y="0"/>
                      </a:lnTo>
                      <a:lnTo>
                        <a:pt x="17" y="0"/>
                      </a:lnTo>
                      <a:lnTo>
                        <a:pt x="17" y="319"/>
                      </a:lnTo>
                      <a:lnTo>
                        <a:pt x="0" y="22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49" name="Freeform 4337"/>
                <p:cNvSpPr>
                  <a:spLocks noChangeAspect="1"/>
                </p:cNvSpPr>
                <p:nvPr/>
              </p:nvSpPr>
              <p:spPr bwMode="auto">
                <a:xfrm>
                  <a:off x="2685" y="2287"/>
                  <a:ext cx="6" cy="97"/>
                </a:xfrm>
                <a:custGeom>
                  <a:avLst/>
                  <a:gdLst>
                    <a:gd name="T0" fmla="*/ 0 w 15"/>
                    <a:gd name="T1" fmla="*/ 274 h 365"/>
                    <a:gd name="T2" fmla="*/ 0 w 15"/>
                    <a:gd name="T3" fmla="*/ 0 h 365"/>
                    <a:gd name="T4" fmla="*/ 15 w 15"/>
                    <a:gd name="T5" fmla="*/ 0 h 365"/>
                    <a:gd name="T6" fmla="*/ 15 w 15"/>
                    <a:gd name="T7" fmla="*/ 365 h 365"/>
                    <a:gd name="T8" fmla="*/ 0 w 15"/>
                    <a:gd name="T9" fmla="*/ 274 h 365"/>
                  </a:gdLst>
                  <a:ahLst/>
                  <a:cxnLst>
                    <a:cxn ang="0">
                      <a:pos x="T0" y="T1"/>
                    </a:cxn>
                    <a:cxn ang="0">
                      <a:pos x="T2" y="T3"/>
                    </a:cxn>
                    <a:cxn ang="0">
                      <a:pos x="T4" y="T5"/>
                    </a:cxn>
                    <a:cxn ang="0">
                      <a:pos x="T6" y="T7"/>
                    </a:cxn>
                    <a:cxn ang="0">
                      <a:pos x="T8" y="T9"/>
                    </a:cxn>
                  </a:cxnLst>
                  <a:rect l="0" t="0" r="r" b="b"/>
                  <a:pathLst>
                    <a:path w="15" h="365">
                      <a:moveTo>
                        <a:pt x="0" y="274"/>
                      </a:moveTo>
                      <a:lnTo>
                        <a:pt x="0" y="0"/>
                      </a:lnTo>
                      <a:lnTo>
                        <a:pt x="15" y="0"/>
                      </a:lnTo>
                      <a:lnTo>
                        <a:pt x="15" y="365"/>
                      </a:lnTo>
                      <a:lnTo>
                        <a:pt x="0" y="27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50" name="Freeform 4338"/>
                <p:cNvSpPr>
                  <a:spLocks noChangeAspect="1"/>
                </p:cNvSpPr>
                <p:nvPr/>
              </p:nvSpPr>
              <p:spPr bwMode="auto">
                <a:xfrm>
                  <a:off x="2687" y="2287"/>
                  <a:ext cx="3" cy="108"/>
                </a:xfrm>
                <a:custGeom>
                  <a:avLst/>
                  <a:gdLst>
                    <a:gd name="T0" fmla="*/ 0 w 16"/>
                    <a:gd name="T1" fmla="*/ 319 h 411"/>
                    <a:gd name="T2" fmla="*/ 0 w 16"/>
                    <a:gd name="T3" fmla="*/ 0 h 411"/>
                    <a:gd name="T4" fmla="*/ 16 w 16"/>
                    <a:gd name="T5" fmla="*/ 0 h 411"/>
                    <a:gd name="T6" fmla="*/ 16 w 16"/>
                    <a:gd name="T7" fmla="*/ 411 h 411"/>
                    <a:gd name="T8" fmla="*/ 0 w 16"/>
                    <a:gd name="T9" fmla="*/ 319 h 411"/>
                  </a:gdLst>
                  <a:ahLst/>
                  <a:cxnLst>
                    <a:cxn ang="0">
                      <a:pos x="T0" y="T1"/>
                    </a:cxn>
                    <a:cxn ang="0">
                      <a:pos x="T2" y="T3"/>
                    </a:cxn>
                    <a:cxn ang="0">
                      <a:pos x="T4" y="T5"/>
                    </a:cxn>
                    <a:cxn ang="0">
                      <a:pos x="T6" y="T7"/>
                    </a:cxn>
                    <a:cxn ang="0">
                      <a:pos x="T8" y="T9"/>
                    </a:cxn>
                  </a:cxnLst>
                  <a:rect l="0" t="0" r="r" b="b"/>
                  <a:pathLst>
                    <a:path w="16" h="411">
                      <a:moveTo>
                        <a:pt x="0" y="319"/>
                      </a:moveTo>
                      <a:lnTo>
                        <a:pt x="0" y="0"/>
                      </a:lnTo>
                      <a:lnTo>
                        <a:pt x="16" y="0"/>
                      </a:lnTo>
                      <a:lnTo>
                        <a:pt x="16" y="411"/>
                      </a:lnTo>
                      <a:lnTo>
                        <a:pt x="0" y="319"/>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51" name="Freeform 4339"/>
                <p:cNvSpPr>
                  <a:spLocks noChangeAspect="1"/>
                </p:cNvSpPr>
                <p:nvPr/>
              </p:nvSpPr>
              <p:spPr bwMode="auto">
                <a:xfrm>
                  <a:off x="2689" y="2287"/>
                  <a:ext cx="5" cy="121"/>
                </a:xfrm>
                <a:custGeom>
                  <a:avLst/>
                  <a:gdLst>
                    <a:gd name="T0" fmla="*/ 0 w 18"/>
                    <a:gd name="T1" fmla="*/ 365 h 456"/>
                    <a:gd name="T2" fmla="*/ 0 w 18"/>
                    <a:gd name="T3" fmla="*/ 0 h 456"/>
                    <a:gd name="T4" fmla="*/ 18 w 18"/>
                    <a:gd name="T5" fmla="*/ 0 h 456"/>
                    <a:gd name="T6" fmla="*/ 18 w 18"/>
                    <a:gd name="T7" fmla="*/ 456 h 456"/>
                    <a:gd name="T8" fmla="*/ 0 w 18"/>
                    <a:gd name="T9" fmla="*/ 365 h 456"/>
                  </a:gdLst>
                  <a:ahLst/>
                  <a:cxnLst>
                    <a:cxn ang="0">
                      <a:pos x="T0" y="T1"/>
                    </a:cxn>
                    <a:cxn ang="0">
                      <a:pos x="T2" y="T3"/>
                    </a:cxn>
                    <a:cxn ang="0">
                      <a:pos x="T4" y="T5"/>
                    </a:cxn>
                    <a:cxn ang="0">
                      <a:pos x="T6" y="T7"/>
                    </a:cxn>
                    <a:cxn ang="0">
                      <a:pos x="T8" y="T9"/>
                    </a:cxn>
                  </a:cxnLst>
                  <a:rect l="0" t="0" r="r" b="b"/>
                  <a:pathLst>
                    <a:path w="18" h="456">
                      <a:moveTo>
                        <a:pt x="0" y="365"/>
                      </a:moveTo>
                      <a:lnTo>
                        <a:pt x="0" y="0"/>
                      </a:lnTo>
                      <a:lnTo>
                        <a:pt x="18" y="0"/>
                      </a:lnTo>
                      <a:lnTo>
                        <a:pt x="18" y="456"/>
                      </a:lnTo>
                      <a:lnTo>
                        <a:pt x="0" y="365"/>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52" name="Freeform 4340"/>
                <p:cNvSpPr>
                  <a:spLocks noChangeAspect="1"/>
                </p:cNvSpPr>
                <p:nvPr/>
              </p:nvSpPr>
              <p:spPr bwMode="auto">
                <a:xfrm>
                  <a:off x="2690" y="2287"/>
                  <a:ext cx="6" cy="134"/>
                </a:xfrm>
                <a:custGeom>
                  <a:avLst/>
                  <a:gdLst>
                    <a:gd name="T0" fmla="*/ 0 w 17"/>
                    <a:gd name="T1" fmla="*/ 411 h 502"/>
                    <a:gd name="T2" fmla="*/ 0 w 17"/>
                    <a:gd name="T3" fmla="*/ 0 h 502"/>
                    <a:gd name="T4" fmla="*/ 17 w 17"/>
                    <a:gd name="T5" fmla="*/ 0 h 502"/>
                    <a:gd name="T6" fmla="*/ 17 w 17"/>
                    <a:gd name="T7" fmla="*/ 502 h 502"/>
                    <a:gd name="T8" fmla="*/ 0 w 17"/>
                    <a:gd name="T9" fmla="*/ 411 h 502"/>
                  </a:gdLst>
                  <a:ahLst/>
                  <a:cxnLst>
                    <a:cxn ang="0">
                      <a:pos x="T0" y="T1"/>
                    </a:cxn>
                    <a:cxn ang="0">
                      <a:pos x="T2" y="T3"/>
                    </a:cxn>
                    <a:cxn ang="0">
                      <a:pos x="T4" y="T5"/>
                    </a:cxn>
                    <a:cxn ang="0">
                      <a:pos x="T6" y="T7"/>
                    </a:cxn>
                    <a:cxn ang="0">
                      <a:pos x="T8" y="T9"/>
                    </a:cxn>
                  </a:cxnLst>
                  <a:rect l="0" t="0" r="r" b="b"/>
                  <a:pathLst>
                    <a:path w="17" h="502">
                      <a:moveTo>
                        <a:pt x="0" y="411"/>
                      </a:moveTo>
                      <a:lnTo>
                        <a:pt x="0" y="0"/>
                      </a:lnTo>
                      <a:lnTo>
                        <a:pt x="17" y="0"/>
                      </a:lnTo>
                      <a:lnTo>
                        <a:pt x="17" y="502"/>
                      </a:lnTo>
                      <a:lnTo>
                        <a:pt x="0" y="41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53" name="Freeform 4341"/>
                <p:cNvSpPr>
                  <a:spLocks noChangeAspect="1"/>
                </p:cNvSpPr>
                <p:nvPr/>
              </p:nvSpPr>
              <p:spPr bwMode="auto">
                <a:xfrm>
                  <a:off x="2694" y="2287"/>
                  <a:ext cx="3" cy="145"/>
                </a:xfrm>
                <a:custGeom>
                  <a:avLst/>
                  <a:gdLst>
                    <a:gd name="T0" fmla="*/ 0 w 17"/>
                    <a:gd name="T1" fmla="*/ 456 h 548"/>
                    <a:gd name="T2" fmla="*/ 0 w 17"/>
                    <a:gd name="T3" fmla="*/ 0 h 548"/>
                    <a:gd name="T4" fmla="*/ 17 w 17"/>
                    <a:gd name="T5" fmla="*/ 0 h 548"/>
                    <a:gd name="T6" fmla="*/ 17 w 17"/>
                    <a:gd name="T7" fmla="*/ 548 h 548"/>
                    <a:gd name="T8" fmla="*/ 0 w 17"/>
                    <a:gd name="T9" fmla="*/ 456 h 548"/>
                  </a:gdLst>
                  <a:ahLst/>
                  <a:cxnLst>
                    <a:cxn ang="0">
                      <a:pos x="T0" y="T1"/>
                    </a:cxn>
                    <a:cxn ang="0">
                      <a:pos x="T2" y="T3"/>
                    </a:cxn>
                    <a:cxn ang="0">
                      <a:pos x="T4" y="T5"/>
                    </a:cxn>
                    <a:cxn ang="0">
                      <a:pos x="T6" y="T7"/>
                    </a:cxn>
                    <a:cxn ang="0">
                      <a:pos x="T8" y="T9"/>
                    </a:cxn>
                  </a:cxnLst>
                  <a:rect l="0" t="0" r="r" b="b"/>
                  <a:pathLst>
                    <a:path w="17" h="548">
                      <a:moveTo>
                        <a:pt x="0" y="456"/>
                      </a:moveTo>
                      <a:lnTo>
                        <a:pt x="0" y="0"/>
                      </a:lnTo>
                      <a:lnTo>
                        <a:pt x="17" y="0"/>
                      </a:lnTo>
                      <a:lnTo>
                        <a:pt x="17" y="548"/>
                      </a:lnTo>
                      <a:lnTo>
                        <a:pt x="0" y="45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54" name="Freeform 4342"/>
                <p:cNvSpPr>
                  <a:spLocks noChangeAspect="1"/>
                </p:cNvSpPr>
                <p:nvPr/>
              </p:nvSpPr>
              <p:spPr bwMode="auto">
                <a:xfrm>
                  <a:off x="2696" y="2287"/>
                  <a:ext cx="1" cy="157"/>
                </a:xfrm>
                <a:custGeom>
                  <a:avLst/>
                  <a:gdLst>
                    <a:gd name="T0" fmla="*/ 0 w 17"/>
                    <a:gd name="T1" fmla="*/ 502 h 592"/>
                    <a:gd name="T2" fmla="*/ 0 w 17"/>
                    <a:gd name="T3" fmla="*/ 0 h 592"/>
                    <a:gd name="T4" fmla="*/ 17 w 17"/>
                    <a:gd name="T5" fmla="*/ 0 h 592"/>
                    <a:gd name="T6" fmla="*/ 17 w 17"/>
                    <a:gd name="T7" fmla="*/ 592 h 592"/>
                    <a:gd name="T8" fmla="*/ 0 w 17"/>
                    <a:gd name="T9" fmla="*/ 502 h 592"/>
                  </a:gdLst>
                  <a:ahLst/>
                  <a:cxnLst>
                    <a:cxn ang="0">
                      <a:pos x="T0" y="T1"/>
                    </a:cxn>
                    <a:cxn ang="0">
                      <a:pos x="T2" y="T3"/>
                    </a:cxn>
                    <a:cxn ang="0">
                      <a:pos x="T4" y="T5"/>
                    </a:cxn>
                    <a:cxn ang="0">
                      <a:pos x="T6" y="T7"/>
                    </a:cxn>
                    <a:cxn ang="0">
                      <a:pos x="T8" y="T9"/>
                    </a:cxn>
                  </a:cxnLst>
                  <a:rect l="0" t="0" r="r" b="b"/>
                  <a:pathLst>
                    <a:path w="17" h="592">
                      <a:moveTo>
                        <a:pt x="0" y="502"/>
                      </a:moveTo>
                      <a:lnTo>
                        <a:pt x="0" y="0"/>
                      </a:lnTo>
                      <a:lnTo>
                        <a:pt x="17" y="0"/>
                      </a:lnTo>
                      <a:lnTo>
                        <a:pt x="17" y="592"/>
                      </a:lnTo>
                      <a:lnTo>
                        <a:pt x="0" y="50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55" name="Freeform 4343"/>
                <p:cNvSpPr>
                  <a:spLocks noChangeAspect="1"/>
                </p:cNvSpPr>
                <p:nvPr/>
              </p:nvSpPr>
              <p:spPr bwMode="auto">
                <a:xfrm>
                  <a:off x="2697" y="2287"/>
                  <a:ext cx="5" cy="169"/>
                </a:xfrm>
                <a:custGeom>
                  <a:avLst/>
                  <a:gdLst>
                    <a:gd name="T0" fmla="*/ 0 w 16"/>
                    <a:gd name="T1" fmla="*/ 548 h 638"/>
                    <a:gd name="T2" fmla="*/ 0 w 16"/>
                    <a:gd name="T3" fmla="*/ 0 h 638"/>
                    <a:gd name="T4" fmla="*/ 16 w 16"/>
                    <a:gd name="T5" fmla="*/ 0 h 638"/>
                    <a:gd name="T6" fmla="*/ 16 w 16"/>
                    <a:gd name="T7" fmla="*/ 638 h 638"/>
                    <a:gd name="T8" fmla="*/ 0 w 16"/>
                    <a:gd name="T9" fmla="*/ 548 h 638"/>
                  </a:gdLst>
                  <a:ahLst/>
                  <a:cxnLst>
                    <a:cxn ang="0">
                      <a:pos x="T0" y="T1"/>
                    </a:cxn>
                    <a:cxn ang="0">
                      <a:pos x="T2" y="T3"/>
                    </a:cxn>
                    <a:cxn ang="0">
                      <a:pos x="T4" y="T5"/>
                    </a:cxn>
                    <a:cxn ang="0">
                      <a:pos x="T6" y="T7"/>
                    </a:cxn>
                    <a:cxn ang="0">
                      <a:pos x="T8" y="T9"/>
                    </a:cxn>
                  </a:cxnLst>
                  <a:rect l="0" t="0" r="r" b="b"/>
                  <a:pathLst>
                    <a:path w="16" h="638">
                      <a:moveTo>
                        <a:pt x="0" y="548"/>
                      </a:moveTo>
                      <a:lnTo>
                        <a:pt x="0" y="0"/>
                      </a:lnTo>
                      <a:lnTo>
                        <a:pt x="16" y="0"/>
                      </a:lnTo>
                      <a:lnTo>
                        <a:pt x="16" y="638"/>
                      </a:lnTo>
                      <a:lnTo>
                        <a:pt x="0" y="54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56" name="Freeform 4344"/>
                <p:cNvSpPr>
                  <a:spLocks noChangeAspect="1"/>
                </p:cNvSpPr>
                <p:nvPr/>
              </p:nvSpPr>
              <p:spPr bwMode="auto">
                <a:xfrm>
                  <a:off x="2700" y="2287"/>
                  <a:ext cx="5" cy="180"/>
                </a:xfrm>
                <a:custGeom>
                  <a:avLst/>
                  <a:gdLst>
                    <a:gd name="T0" fmla="*/ 0 w 16"/>
                    <a:gd name="T1" fmla="*/ 592 h 684"/>
                    <a:gd name="T2" fmla="*/ 0 w 16"/>
                    <a:gd name="T3" fmla="*/ 0 h 684"/>
                    <a:gd name="T4" fmla="*/ 16 w 16"/>
                    <a:gd name="T5" fmla="*/ 0 h 684"/>
                    <a:gd name="T6" fmla="*/ 16 w 16"/>
                    <a:gd name="T7" fmla="*/ 684 h 684"/>
                    <a:gd name="T8" fmla="*/ 0 w 16"/>
                    <a:gd name="T9" fmla="*/ 592 h 684"/>
                  </a:gdLst>
                  <a:ahLst/>
                  <a:cxnLst>
                    <a:cxn ang="0">
                      <a:pos x="T0" y="T1"/>
                    </a:cxn>
                    <a:cxn ang="0">
                      <a:pos x="T2" y="T3"/>
                    </a:cxn>
                    <a:cxn ang="0">
                      <a:pos x="T4" y="T5"/>
                    </a:cxn>
                    <a:cxn ang="0">
                      <a:pos x="T6" y="T7"/>
                    </a:cxn>
                    <a:cxn ang="0">
                      <a:pos x="T8" y="T9"/>
                    </a:cxn>
                  </a:cxnLst>
                  <a:rect l="0" t="0" r="r" b="b"/>
                  <a:pathLst>
                    <a:path w="16" h="684">
                      <a:moveTo>
                        <a:pt x="0" y="592"/>
                      </a:moveTo>
                      <a:lnTo>
                        <a:pt x="0" y="0"/>
                      </a:lnTo>
                      <a:lnTo>
                        <a:pt x="16" y="0"/>
                      </a:lnTo>
                      <a:lnTo>
                        <a:pt x="16" y="684"/>
                      </a:lnTo>
                      <a:lnTo>
                        <a:pt x="0" y="59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57" name="Freeform 4345"/>
                <p:cNvSpPr>
                  <a:spLocks noChangeAspect="1"/>
                </p:cNvSpPr>
                <p:nvPr/>
              </p:nvSpPr>
              <p:spPr bwMode="auto">
                <a:xfrm>
                  <a:off x="2702" y="2287"/>
                  <a:ext cx="2" cy="193"/>
                </a:xfrm>
                <a:custGeom>
                  <a:avLst/>
                  <a:gdLst>
                    <a:gd name="T0" fmla="*/ 0 w 17"/>
                    <a:gd name="T1" fmla="*/ 638 h 730"/>
                    <a:gd name="T2" fmla="*/ 0 w 17"/>
                    <a:gd name="T3" fmla="*/ 0 h 730"/>
                    <a:gd name="T4" fmla="*/ 17 w 17"/>
                    <a:gd name="T5" fmla="*/ 0 h 730"/>
                    <a:gd name="T6" fmla="*/ 17 w 17"/>
                    <a:gd name="T7" fmla="*/ 730 h 730"/>
                    <a:gd name="T8" fmla="*/ 0 w 17"/>
                    <a:gd name="T9" fmla="*/ 638 h 730"/>
                  </a:gdLst>
                  <a:ahLst/>
                  <a:cxnLst>
                    <a:cxn ang="0">
                      <a:pos x="T0" y="T1"/>
                    </a:cxn>
                    <a:cxn ang="0">
                      <a:pos x="T2" y="T3"/>
                    </a:cxn>
                    <a:cxn ang="0">
                      <a:pos x="T4" y="T5"/>
                    </a:cxn>
                    <a:cxn ang="0">
                      <a:pos x="T6" y="T7"/>
                    </a:cxn>
                    <a:cxn ang="0">
                      <a:pos x="T8" y="T9"/>
                    </a:cxn>
                  </a:cxnLst>
                  <a:rect l="0" t="0" r="r" b="b"/>
                  <a:pathLst>
                    <a:path w="17" h="730">
                      <a:moveTo>
                        <a:pt x="0" y="638"/>
                      </a:moveTo>
                      <a:lnTo>
                        <a:pt x="0" y="0"/>
                      </a:lnTo>
                      <a:lnTo>
                        <a:pt x="17" y="0"/>
                      </a:lnTo>
                      <a:lnTo>
                        <a:pt x="17" y="730"/>
                      </a:lnTo>
                      <a:lnTo>
                        <a:pt x="0" y="63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58" name="Freeform 4346"/>
                <p:cNvSpPr>
                  <a:spLocks noChangeAspect="1"/>
                </p:cNvSpPr>
                <p:nvPr/>
              </p:nvSpPr>
              <p:spPr bwMode="auto">
                <a:xfrm>
                  <a:off x="2704" y="2287"/>
                  <a:ext cx="5" cy="206"/>
                </a:xfrm>
                <a:custGeom>
                  <a:avLst/>
                  <a:gdLst>
                    <a:gd name="T0" fmla="*/ 0 w 17"/>
                    <a:gd name="T1" fmla="*/ 684 h 775"/>
                    <a:gd name="T2" fmla="*/ 0 w 17"/>
                    <a:gd name="T3" fmla="*/ 0 h 775"/>
                    <a:gd name="T4" fmla="*/ 17 w 17"/>
                    <a:gd name="T5" fmla="*/ 0 h 775"/>
                    <a:gd name="T6" fmla="*/ 17 w 17"/>
                    <a:gd name="T7" fmla="*/ 775 h 775"/>
                    <a:gd name="T8" fmla="*/ 0 w 17"/>
                    <a:gd name="T9" fmla="*/ 684 h 775"/>
                  </a:gdLst>
                  <a:ahLst/>
                  <a:cxnLst>
                    <a:cxn ang="0">
                      <a:pos x="T0" y="T1"/>
                    </a:cxn>
                    <a:cxn ang="0">
                      <a:pos x="T2" y="T3"/>
                    </a:cxn>
                    <a:cxn ang="0">
                      <a:pos x="T4" y="T5"/>
                    </a:cxn>
                    <a:cxn ang="0">
                      <a:pos x="T6" y="T7"/>
                    </a:cxn>
                    <a:cxn ang="0">
                      <a:pos x="T8" y="T9"/>
                    </a:cxn>
                  </a:cxnLst>
                  <a:rect l="0" t="0" r="r" b="b"/>
                  <a:pathLst>
                    <a:path w="17" h="775">
                      <a:moveTo>
                        <a:pt x="0" y="684"/>
                      </a:moveTo>
                      <a:lnTo>
                        <a:pt x="0" y="0"/>
                      </a:lnTo>
                      <a:lnTo>
                        <a:pt x="17" y="0"/>
                      </a:lnTo>
                      <a:lnTo>
                        <a:pt x="17" y="775"/>
                      </a:lnTo>
                      <a:lnTo>
                        <a:pt x="0" y="68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59" name="Freeform 4347"/>
                <p:cNvSpPr>
                  <a:spLocks noChangeAspect="1"/>
                </p:cNvSpPr>
                <p:nvPr/>
              </p:nvSpPr>
              <p:spPr bwMode="auto">
                <a:xfrm>
                  <a:off x="2706" y="2287"/>
                  <a:ext cx="6" cy="219"/>
                </a:xfrm>
                <a:custGeom>
                  <a:avLst/>
                  <a:gdLst>
                    <a:gd name="T0" fmla="*/ 0 w 17"/>
                    <a:gd name="T1" fmla="*/ 730 h 821"/>
                    <a:gd name="T2" fmla="*/ 0 w 17"/>
                    <a:gd name="T3" fmla="*/ 0 h 821"/>
                    <a:gd name="T4" fmla="*/ 17 w 17"/>
                    <a:gd name="T5" fmla="*/ 0 h 821"/>
                    <a:gd name="T6" fmla="*/ 17 w 17"/>
                    <a:gd name="T7" fmla="*/ 821 h 821"/>
                    <a:gd name="T8" fmla="*/ 0 w 17"/>
                    <a:gd name="T9" fmla="*/ 730 h 821"/>
                  </a:gdLst>
                  <a:ahLst/>
                  <a:cxnLst>
                    <a:cxn ang="0">
                      <a:pos x="T0" y="T1"/>
                    </a:cxn>
                    <a:cxn ang="0">
                      <a:pos x="T2" y="T3"/>
                    </a:cxn>
                    <a:cxn ang="0">
                      <a:pos x="T4" y="T5"/>
                    </a:cxn>
                    <a:cxn ang="0">
                      <a:pos x="T6" y="T7"/>
                    </a:cxn>
                    <a:cxn ang="0">
                      <a:pos x="T8" y="T9"/>
                    </a:cxn>
                  </a:cxnLst>
                  <a:rect l="0" t="0" r="r" b="b"/>
                  <a:pathLst>
                    <a:path w="17" h="821">
                      <a:moveTo>
                        <a:pt x="0" y="730"/>
                      </a:moveTo>
                      <a:lnTo>
                        <a:pt x="0" y="0"/>
                      </a:lnTo>
                      <a:lnTo>
                        <a:pt x="17" y="0"/>
                      </a:lnTo>
                      <a:lnTo>
                        <a:pt x="17" y="821"/>
                      </a:lnTo>
                      <a:lnTo>
                        <a:pt x="0" y="73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60" name="Freeform 4348"/>
                <p:cNvSpPr>
                  <a:spLocks noChangeAspect="1"/>
                </p:cNvSpPr>
                <p:nvPr/>
              </p:nvSpPr>
              <p:spPr bwMode="auto">
                <a:xfrm>
                  <a:off x="2709" y="2287"/>
                  <a:ext cx="2" cy="229"/>
                </a:xfrm>
                <a:custGeom>
                  <a:avLst/>
                  <a:gdLst>
                    <a:gd name="T0" fmla="*/ 0 w 16"/>
                    <a:gd name="T1" fmla="*/ 775 h 867"/>
                    <a:gd name="T2" fmla="*/ 0 w 16"/>
                    <a:gd name="T3" fmla="*/ 0 h 867"/>
                    <a:gd name="T4" fmla="*/ 16 w 16"/>
                    <a:gd name="T5" fmla="*/ 0 h 867"/>
                    <a:gd name="T6" fmla="*/ 16 w 16"/>
                    <a:gd name="T7" fmla="*/ 867 h 867"/>
                    <a:gd name="T8" fmla="*/ 0 w 16"/>
                    <a:gd name="T9" fmla="*/ 775 h 867"/>
                  </a:gdLst>
                  <a:ahLst/>
                  <a:cxnLst>
                    <a:cxn ang="0">
                      <a:pos x="T0" y="T1"/>
                    </a:cxn>
                    <a:cxn ang="0">
                      <a:pos x="T2" y="T3"/>
                    </a:cxn>
                    <a:cxn ang="0">
                      <a:pos x="T4" y="T5"/>
                    </a:cxn>
                    <a:cxn ang="0">
                      <a:pos x="T6" y="T7"/>
                    </a:cxn>
                    <a:cxn ang="0">
                      <a:pos x="T8" y="T9"/>
                    </a:cxn>
                  </a:cxnLst>
                  <a:rect l="0" t="0" r="r" b="b"/>
                  <a:pathLst>
                    <a:path w="16" h="867">
                      <a:moveTo>
                        <a:pt x="0" y="775"/>
                      </a:moveTo>
                      <a:lnTo>
                        <a:pt x="0" y="0"/>
                      </a:lnTo>
                      <a:lnTo>
                        <a:pt x="16" y="0"/>
                      </a:lnTo>
                      <a:lnTo>
                        <a:pt x="16" y="867"/>
                      </a:lnTo>
                      <a:lnTo>
                        <a:pt x="0" y="775"/>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61" name="Freeform 4349"/>
                <p:cNvSpPr>
                  <a:spLocks noChangeAspect="1"/>
                </p:cNvSpPr>
                <p:nvPr/>
              </p:nvSpPr>
              <p:spPr bwMode="auto">
                <a:xfrm>
                  <a:off x="2711" y="2287"/>
                  <a:ext cx="0" cy="241"/>
                </a:xfrm>
                <a:custGeom>
                  <a:avLst/>
                  <a:gdLst>
                    <a:gd name="T0" fmla="*/ 0 w 16"/>
                    <a:gd name="T1" fmla="*/ 821 h 913"/>
                    <a:gd name="T2" fmla="*/ 0 w 16"/>
                    <a:gd name="T3" fmla="*/ 0 h 913"/>
                    <a:gd name="T4" fmla="*/ 16 w 16"/>
                    <a:gd name="T5" fmla="*/ 0 h 913"/>
                    <a:gd name="T6" fmla="*/ 16 w 16"/>
                    <a:gd name="T7" fmla="*/ 913 h 913"/>
                    <a:gd name="T8" fmla="*/ 0 w 16"/>
                    <a:gd name="T9" fmla="*/ 821 h 913"/>
                  </a:gdLst>
                  <a:ahLst/>
                  <a:cxnLst>
                    <a:cxn ang="0">
                      <a:pos x="T0" y="T1"/>
                    </a:cxn>
                    <a:cxn ang="0">
                      <a:pos x="T2" y="T3"/>
                    </a:cxn>
                    <a:cxn ang="0">
                      <a:pos x="T4" y="T5"/>
                    </a:cxn>
                    <a:cxn ang="0">
                      <a:pos x="T6" y="T7"/>
                    </a:cxn>
                    <a:cxn ang="0">
                      <a:pos x="T8" y="T9"/>
                    </a:cxn>
                  </a:cxnLst>
                  <a:rect l="0" t="0" r="r" b="b"/>
                  <a:pathLst>
                    <a:path w="16" h="913">
                      <a:moveTo>
                        <a:pt x="0" y="821"/>
                      </a:moveTo>
                      <a:lnTo>
                        <a:pt x="0" y="0"/>
                      </a:lnTo>
                      <a:lnTo>
                        <a:pt x="16" y="0"/>
                      </a:lnTo>
                      <a:lnTo>
                        <a:pt x="16" y="913"/>
                      </a:lnTo>
                      <a:lnTo>
                        <a:pt x="0" y="82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62" name="Freeform 4350"/>
                <p:cNvSpPr>
                  <a:spLocks noChangeAspect="1"/>
                </p:cNvSpPr>
                <p:nvPr/>
              </p:nvSpPr>
              <p:spPr bwMode="auto">
                <a:xfrm>
                  <a:off x="2713" y="2287"/>
                  <a:ext cx="6" cy="252"/>
                </a:xfrm>
                <a:custGeom>
                  <a:avLst/>
                  <a:gdLst>
                    <a:gd name="T0" fmla="*/ 0 w 17"/>
                    <a:gd name="T1" fmla="*/ 867 h 957"/>
                    <a:gd name="T2" fmla="*/ 0 w 17"/>
                    <a:gd name="T3" fmla="*/ 0 h 957"/>
                    <a:gd name="T4" fmla="*/ 17 w 17"/>
                    <a:gd name="T5" fmla="*/ 0 h 957"/>
                    <a:gd name="T6" fmla="*/ 17 w 17"/>
                    <a:gd name="T7" fmla="*/ 957 h 957"/>
                    <a:gd name="T8" fmla="*/ 0 w 17"/>
                    <a:gd name="T9" fmla="*/ 867 h 957"/>
                  </a:gdLst>
                  <a:ahLst/>
                  <a:cxnLst>
                    <a:cxn ang="0">
                      <a:pos x="T0" y="T1"/>
                    </a:cxn>
                    <a:cxn ang="0">
                      <a:pos x="T2" y="T3"/>
                    </a:cxn>
                    <a:cxn ang="0">
                      <a:pos x="T4" y="T5"/>
                    </a:cxn>
                    <a:cxn ang="0">
                      <a:pos x="T6" y="T7"/>
                    </a:cxn>
                    <a:cxn ang="0">
                      <a:pos x="T8" y="T9"/>
                    </a:cxn>
                  </a:cxnLst>
                  <a:rect l="0" t="0" r="r" b="b"/>
                  <a:pathLst>
                    <a:path w="17" h="957">
                      <a:moveTo>
                        <a:pt x="0" y="867"/>
                      </a:moveTo>
                      <a:lnTo>
                        <a:pt x="0" y="0"/>
                      </a:lnTo>
                      <a:lnTo>
                        <a:pt x="17" y="0"/>
                      </a:lnTo>
                      <a:lnTo>
                        <a:pt x="17" y="957"/>
                      </a:lnTo>
                      <a:lnTo>
                        <a:pt x="0" y="86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63" name="Freeform 4351"/>
                <p:cNvSpPr>
                  <a:spLocks noChangeAspect="1"/>
                </p:cNvSpPr>
                <p:nvPr/>
              </p:nvSpPr>
              <p:spPr bwMode="auto">
                <a:xfrm>
                  <a:off x="2715" y="2287"/>
                  <a:ext cx="3" cy="265"/>
                </a:xfrm>
                <a:custGeom>
                  <a:avLst/>
                  <a:gdLst>
                    <a:gd name="T0" fmla="*/ 0 w 17"/>
                    <a:gd name="T1" fmla="*/ 913 h 1003"/>
                    <a:gd name="T2" fmla="*/ 0 w 17"/>
                    <a:gd name="T3" fmla="*/ 0 h 1003"/>
                    <a:gd name="T4" fmla="*/ 17 w 17"/>
                    <a:gd name="T5" fmla="*/ 0 h 1003"/>
                    <a:gd name="T6" fmla="*/ 17 w 17"/>
                    <a:gd name="T7" fmla="*/ 1003 h 1003"/>
                    <a:gd name="T8" fmla="*/ 0 w 17"/>
                    <a:gd name="T9" fmla="*/ 913 h 1003"/>
                  </a:gdLst>
                  <a:ahLst/>
                  <a:cxnLst>
                    <a:cxn ang="0">
                      <a:pos x="T0" y="T1"/>
                    </a:cxn>
                    <a:cxn ang="0">
                      <a:pos x="T2" y="T3"/>
                    </a:cxn>
                    <a:cxn ang="0">
                      <a:pos x="T4" y="T5"/>
                    </a:cxn>
                    <a:cxn ang="0">
                      <a:pos x="T6" y="T7"/>
                    </a:cxn>
                    <a:cxn ang="0">
                      <a:pos x="T8" y="T9"/>
                    </a:cxn>
                  </a:cxnLst>
                  <a:rect l="0" t="0" r="r" b="b"/>
                  <a:pathLst>
                    <a:path w="17" h="1003">
                      <a:moveTo>
                        <a:pt x="0" y="913"/>
                      </a:moveTo>
                      <a:lnTo>
                        <a:pt x="0" y="0"/>
                      </a:lnTo>
                      <a:lnTo>
                        <a:pt x="17" y="0"/>
                      </a:lnTo>
                      <a:lnTo>
                        <a:pt x="17" y="1003"/>
                      </a:lnTo>
                      <a:lnTo>
                        <a:pt x="0" y="913"/>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64" name="Freeform 4352"/>
                <p:cNvSpPr>
                  <a:spLocks noChangeAspect="1"/>
                </p:cNvSpPr>
                <p:nvPr/>
              </p:nvSpPr>
              <p:spPr bwMode="auto">
                <a:xfrm>
                  <a:off x="2717" y="2287"/>
                  <a:ext cx="1" cy="278"/>
                </a:xfrm>
                <a:custGeom>
                  <a:avLst/>
                  <a:gdLst>
                    <a:gd name="T0" fmla="*/ 0 w 17"/>
                    <a:gd name="T1" fmla="*/ 957 h 1049"/>
                    <a:gd name="T2" fmla="*/ 0 w 17"/>
                    <a:gd name="T3" fmla="*/ 0 h 1049"/>
                    <a:gd name="T4" fmla="*/ 17 w 17"/>
                    <a:gd name="T5" fmla="*/ 0 h 1049"/>
                    <a:gd name="T6" fmla="*/ 17 w 17"/>
                    <a:gd name="T7" fmla="*/ 1049 h 1049"/>
                    <a:gd name="T8" fmla="*/ 0 w 17"/>
                    <a:gd name="T9" fmla="*/ 957 h 1049"/>
                  </a:gdLst>
                  <a:ahLst/>
                  <a:cxnLst>
                    <a:cxn ang="0">
                      <a:pos x="T0" y="T1"/>
                    </a:cxn>
                    <a:cxn ang="0">
                      <a:pos x="T2" y="T3"/>
                    </a:cxn>
                    <a:cxn ang="0">
                      <a:pos x="T4" y="T5"/>
                    </a:cxn>
                    <a:cxn ang="0">
                      <a:pos x="T6" y="T7"/>
                    </a:cxn>
                    <a:cxn ang="0">
                      <a:pos x="T8" y="T9"/>
                    </a:cxn>
                  </a:cxnLst>
                  <a:rect l="0" t="0" r="r" b="b"/>
                  <a:pathLst>
                    <a:path w="17" h="1049">
                      <a:moveTo>
                        <a:pt x="0" y="957"/>
                      </a:moveTo>
                      <a:lnTo>
                        <a:pt x="0" y="0"/>
                      </a:lnTo>
                      <a:lnTo>
                        <a:pt x="17" y="0"/>
                      </a:lnTo>
                      <a:lnTo>
                        <a:pt x="17" y="1049"/>
                      </a:lnTo>
                      <a:lnTo>
                        <a:pt x="0" y="95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65" name="Freeform 4353"/>
                <p:cNvSpPr>
                  <a:spLocks noChangeAspect="1"/>
                </p:cNvSpPr>
                <p:nvPr/>
              </p:nvSpPr>
              <p:spPr bwMode="auto">
                <a:xfrm>
                  <a:off x="2718" y="2287"/>
                  <a:ext cx="5" cy="291"/>
                </a:xfrm>
                <a:custGeom>
                  <a:avLst/>
                  <a:gdLst>
                    <a:gd name="T0" fmla="*/ 0 w 17"/>
                    <a:gd name="T1" fmla="*/ 1003 h 1094"/>
                    <a:gd name="T2" fmla="*/ 0 w 17"/>
                    <a:gd name="T3" fmla="*/ 0 h 1094"/>
                    <a:gd name="T4" fmla="*/ 17 w 17"/>
                    <a:gd name="T5" fmla="*/ 0 h 1094"/>
                    <a:gd name="T6" fmla="*/ 17 w 17"/>
                    <a:gd name="T7" fmla="*/ 1094 h 1094"/>
                    <a:gd name="T8" fmla="*/ 0 w 17"/>
                    <a:gd name="T9" fmla="*/ 1003 h 1094"/>
                  </a:gdLst>
                  <a:ahLst/>
                  <a:cxnLst>
                    <a:cxn ang="0">
                      <a:pos x="T0" y="T1"/>
                    </a:cxn>
                    <a:cxn ang="0">
                      <a:pos x="T2" y="T3"/>
                    </a:cxn>
                    <a:cxn ang="0">
                      <a:pos x="T4" y="T5"/>
                    </a:cxn>
                    <a:cxn ang="0">
                      <a:pos x="T6" y="T7"/>
                    </a:cxn>
                    <a:cxn ang="0">
                      <a:pos x="T8" y="T9"/>
                    </a:cxn>
                  </a:cxnLst>
                  <a:rect l="0" t="0" r="r" b="b"/>
                  <a:pathLst>
                    <a:path w="17" h="1094">
                      <a:moveTo>
                        <a:pt x="0" y="1003"/>
                      </a:moveTo>
                      <a:lnTo>
                        <a:pt x="0" y="0"/>
                      </a:lnTo>
                      <a:lnTo>
                        <a:pt x="17" y="0"/>
                      </a:lnTo>
                      <a:lnTo>
                        <a:pt x="17" y="1094"/>
                      </a:lnTo>
                      <a:lnTo>
                        <a:pt x="0" y="1003"/>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66" name="Freeform 4354"/>
                <p:cNvSpPr>
                  <a:spLocks noChangeAspect="1"/>
                </p:cNvSpPr>
                <p:nvPr/>
              </p:nvSpPr>
              <p:spPr bwMode="auto">
                <a:xfrm>
                  <a:off x="2721" y="2287"/>
                  <a:ext cx="5" cy="304"/>
                </a:xfrm>
                <a:custGeom>
                  <a:avLst/>
                  <a:gdLst>
                    <a:gd name="T0" fmla="*/ 0 w 16"/>
                    <a:gd name="T1" fmla="*/ 1049 h 1140"/>
                    <a:gd name="T2" fmla="*/ 0 w 16"/>
                    <a:gd name="T3" fmla="*/ 0 h 1140"/>
                    <a:gd name="T4" fmla="*/ 16 w 16"/>
                    <a:gd name="T5" fmla="*/ 0 h 1140"/>
                    <a:gd name="T6" fmla="*/ 16 w 16"/>
                    <a:gd name="T7" fmla="*/ 1140 h 1140"/>
                    <a:gd name="T8" fmla="*/ 0 w 16"/>
                    <a:gd name="T9" fmla="*/ 1049 h 1140"/>
                  </a:gdLst>
                  <a:ahLst/>
                  <a:cxnLst>
                    <a:cxn ang="0">
                      <a:pos x="T0" y="T1"/>
                    </a:cxn>
                    <a:cxn ang="0">
                      <a:pos x="T2" y="T3"/>
                    </a:cxn>
                    <a:cxn ang="0">
                      <a:pos x="T4" y="T5"/>
                    </a:cxn>
                    <a:cxn ang="0">
                      <a:pos x="T6" y="T7"/>
                    </a:cxn>
                    <a:cxn ang="0">
                      <a:pos x="T8" y="T9"/>
                    </a:cxn>
                  </a:cxnLst>
                  <a:rect l="0" t="0" r="r" b="b"/>
                  <a:pathLst>
                    <a:path w="16" h="1140">
                      <a:moveTo>
                        <a:pt x="0" y="1049"/>
                      </a:moveTo>
                      <a:lnTo>
                        <a:pt x="0" y="0"/>
                      </a:lnTo>
                      <a:lnTo>
                        <a:pt x="16" y="0"/>
                      </a:lnTo>
                      <a:lnTo>
                        <a:pt x="16" y="1140"/>
                      </a:lnTo>
                      <a:lnTo>
                        <a:pt x="0" y="1049"/>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67" name="Freeform 4355"/>
                <p:cNvSpPr>
                  <a:spLocks noChangeAspect="1"/>
                </p:cNvSpPr>
                <p:nvPr/>
              </p:nvSpPr>
              <p:spPr bwMode="auto">
                <a:xfrm>
                  <a:off x="2723" y="2287"/>
                  <a:ext cx="5" cy="313"/>
                </a:xfrm>
                <a:custGeom>
                  <a:avLst/>
                  <a:gdLst>
                    <a:gd name="T0" fmla="*/ 0 w 16"/>
                    <a:gd name="T1" fmla="*/ 1094 h 1186"/>
                    <a:gd name="T2" fmla="*/ 0 w 16"/>
                    <a:gd name="T3" fmla="*/ 0 h 1186"/>
                    <a:gd name="T4" fmla="*/ 16 w 16"/>
                    <a:gd name="T5" fmla="*/ 0 h 1186"/>
                    <a:gd name="T6" fmla="*/ 16 w 16"/>
                    <a:gd name="T7" fmla="*/ 1186 h 1186"/>
                    <a:gd name="T8" fmla="*/ 0 w 16"/>
                    <a:gd name="T9" fmla="*/ 1094 h 1186"/>
                  </a:gdLst>
                  <a:ahLst/>
                  <a:cxnLst>
                    <a:cxn ang="0">
                      <a:pos x="T0" y="T1"/>
                    </a:cxn>
                    <a:cxn ang="0">
                      <a:pos x="T2" y="T3"/>
                    </a:cxn>
                    <a:cxn ang="0">
                      <a:pos x="T4" y="T5"/>
                    </a:cxn>
                    <a:cxn ang="0">
                      <a:pos x="T6" y="T7"/>
                    </a:cxn>
                    <a:cxn ang="0">
                      <a:pos x="T8" y="T9"/>
                    </a:cxn>
                  </a:cxnLst>
                  <a:rect l="0" t="0" r="r" b="b"/>
                  <a:pathLst>
                    <a:path w="16" h="1186">
                      <a:moveTo>
                        <a:pt x="0" y="1094"/>
                      </a:moveTo>
                      <a:lnTo>
                        <a:pt x="0" y="0"/>
                      </a:lnTo>
                      <a:lnTo>
                        <a:pt x="16" y="0"/>
                      </a:lnTo>
                      <a:lnTo>
                        <a:pt x="16" y="1186"/>
                      </a:lnTo>
                      <a:lnTo>
                        <a:pt x="0" y="109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68" name="Freeform 4356"/>
                <p:cNvSpPr>
                  <a:spLocks noChangeAspect="1"/>
                </p:cNvSpPr>
                <p:nvPr/>
              </p:nvSpPr>
              <p:spPr bwMode="auto">
                <a:xfrm>
                  <a:off x="2725" y="2287"/>
                  <a:ext cx="0" cy="325"/>
                </a:xfrm>
                <a:custGeom>
                  <a:avLst/>
                  <a:gdLst>
                    <a:gd name="T0" fmla="*/ 0 w 17"/>
                    <a:gd name="T1" fmla="*/ 1140 h 1231"/>
                    <a:gd name="T2" fmla="*/ 0 w 17"/>
                    <a:gd name="T3" fmla="*/ 0 h 1231"/>
                    <a:gd name="T4" fmla="*/ 17 w 17"/>
                    <a:gd name="T5" fmla="*/ 0 h 1231"/>
                    <a:gd name="T6" fmla="*/ 17 w 17"/>
                    <a:gd name="T7" fmla="*/ 1231 h 1231"/>
                    <a:gd name="T8" fmla="*/ 0 w 17"/>
                    <a:gd name="T9" fmla="*/ 1140 h 1231"/>
                  </a:gdLst>
                  <a:ahLst/>
                  <a:cxnLst>
                    <a:cxn ang="0">
                      <a:pos x="T0" y="T1"/>
                    </a:cxn>
                    <a:cxn ang="0">
                      <a:pos x="T2" y="T3"/>
                    </a:cxn>
                    <a:cxn ang="0">
                      <a:pos x="T4" y="T5"/>
                    </a:cxn>
                    <a:cxn ang="0">
                      <a:pos x="T6" y="T7"/>
                    </a:cxn>
                    <a:cxn ang="0">
                      <a:pos x="T8" y="T9"/>
                    </a:cxn>
                  </a:cxnLst>
                  <a:rect l="0" t="0" r="r" b="b"/>
                  <a:pathLst>
                    <a:path w="17" h="1231">
                      <a:moveTo>
                        <a:pt x="0" y="1140"/>
                      </a:moveTo>
                      <a:lnTo>
                        <a:pt x="0" y="0"/>
                      </a:lnTo>
                      <a:lnTo>
                        <a:pt x="17" y="0"/>
                      </a:lnTo>
                      <a:lnTo>
                        <a:pt x="17" y="1231"/>
                      </a:lnTo>
                      <a:lnTo>
                        <a:pt x="0" y="114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69" name="Freeform 4357"/>
                <p:cNvSpPr>
                  <a:spLocks noChangeAspect="1"/>
                </p:cNvSpPr>
                <p:nvPr/>
              </p:nvSpPr>
              <p:spPr bwMode="auto">
                <a:xfrm>
                  <a:off x="2728" y="2287"/>
                  <a:ext cx="3" cy="326"/>
                </a:xfrm>
                <a:custGeom>
                  <a:avLst/>
                  <a:gdLst>
                    <a:gd name="T0" fmla="*/ 0 w 17"/>
                    <a:gd name="T1" fmla="*/ 1186 h 1235"/>
                    <a:gd name="T2" fmla="*/ 0 w 17"/>
                    <a:gd name="T3" fmla="*/ 0 h 1235"/>
                    <a:gd name="T4" fmla="*/ 17 w 17"/>
                    <a:gd name="T5" fmla="*/ 0 h 1235"/>
                    <a:gd name="T6" fmla="*/ 17 w 17"/>
                    <a:gd name="T7" fmla="*/ 1186 h 1235"/>
                    <a:gd name="T8" fmla="*/ 9 w 17"/>
                    <a:gd name="T9" fmla="*/ 1235 h 1235"/>
                    <a:gd name="T10" fmla="*/ 0 w 17"/>
                    <a:gd name="T11" fmla="*/ 1186 h 1235"/>
                  </a:gdLst>
                  <a:ahLst/>
                  <a:cxnLst>
                    <a:cxn ang="0">
                      <a:pos x="T0" y="T1"/>
                    </a:cxn>
                    <a:cxn ang="0">
                      <a:pos x="T2" y="T3"/>
                    </a:cxn>
                    <a:cxn ang="0">
                      <a:pos x="T4" y="T5"/>
                    </a:cxn>
                    <a:cxn ang="0">
                      <a:pos x="T6" y="T7"/>
                    </a:cxn>
                    <a:cxn ang="0">
                      <a:pos x="T8" y="T9"/>
                    </a:cxn>
                    <a:cxn ang="0">
                      <a:pos x="T10" y="T11"/>
                    </a:cxn>
                  </a:cxnLst>
                  <a:rect l="0" t="0" r="r" b="b"/>
                  <a:pathLst>
                    <a:path w="17" h="1235">
                      <a:moveTo>
                        <a:pt x="0" y="1186"/>
                      </a:moveTo>
                      <a:lnTo>
                        <a:pt x="0" y="0"/>
                      </a:lnTo>
                      <a:lnTo>
                        <a:pt x="17" y="0"/>
                      </a:lnTo>
                      <a:lnTo>
                        <a:pt x="17" y="1186"/>
                      </a:lnTo>
                      <a:lnTo>
                        <a:pt x="9" y="1235"/>
                      </a:lnTo>
                      <a:lnTo>
                        <a:pt x="0" y="118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70" name="Freeform 4358"/>
                <p:cNvSpPr>
                  <a:spLocks noChangeAspect="1"/>
                </p:cNvSpPr>
                <p:nvPr/>
              </p:nvSpPr>
              <p:spPr bwMode="auto">
                <a:xfrm>
                  <a:off x="2729" y="2287"/>
                  <a:ext cx="5" cy="326"/>
                </a:xfrm>
                <a:custGeom>
                  <a:avLst/>
                  <a:gdLst>
                    <a:gd name="T0" fmla="*/ 0 w 17"/>
                    <a:gd name="T1" fmla="*/ 1231 h 1235"/>
                    <a:gd name="T2" fmla="*/ 0 w 17"/>
                    <a:gd name="T3" fmla="*/ 0 h 1235"/>
                    <a:gd name="T4" fmla="*/ 17 w 17"/>
                    <a:gd name="T5" fmla="*/ 0 h 1235"/>
                    <a:gd name="T6" fmla="*/ 17 w 17"/>
                    <a:gd name="T7" fmla="*/ 1132 h 1235"/>
                    <a:gd name="T8" fmla="*/ 1 w 17"/>
                    <a:gd name="T9" fmla="*/ 1235 h 1235"/>
                    <a:gd name="T10" fmla="*/ 0 w 17"/>
                    <a:gd name="T11" fmla="*/ 1231 h 1235"/>
                  </a:gdLst>
                  <a:ahLst/>
                  <a:cxnLst>
                    <a:cxn ang="0">
                      <a:pos x="T0" y="T1"/>
                    </a:cxn>
                    <a:cxn ang="0">
                      <a:pos x="T2" y="T3"/>
                    </a:cxn>
                    <a:cxn ang="0">
                      <a:pos x="T4" y="T5"/>
                    </a:cxn>
                    <a:cxn ang="0">
                      <a:pos x="T6" y="T7"/>
                    </a:cxn>
                    <a:cxn ang="0">
                      <a:pos x="T8" y="T9"/>
                    </a:cxn>
                    <a:cxn ang="0">
                      <a:pos x="T10" y="T11"/>
                    </a:cxn>
                  </a:cxnLst>
                  <a:rect l="0" t="0" r="r" b="b"/>
                  <a:pathLst>
                    <a:path w="17" h="1235">
                      <a:moveTo>
                        <a:pt x="0" y="1231"/>
                      </a:moveTo>
                      <a:lnTo>
                        <a:pt x="0" y="0"/>
                      </a:lnTo>
                      <a:lnTo>
                        <a:pt x="17" y="0"/>
                      </a:lnTo>
                      <a:lnTo>
                        <a:pt x="17" y="1132"/>
                      </a:lnTo>
                      <a:lnTo>
                        <a:pt x="1" y="1235"/>
                      </a:lnTo>
                      <a:lnTo>
                        <a:pt x="0" y="123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71" name="Freeform 4359"/>
                <p:cNvSpPr>
                  <a:spLocks noChangeAspect="1"/>
                </p:cNvSpPr>
                <p:nvPr/>
              </p:nvSpPr>
              <p:spPr bwMode="auto">
                <a:xfrm>
                  <a:off x="2731" y="2287"/>
                  <a:ext cx="5" cy="313"/>
                </a:xfrm>
                <a:custGeom>
                  <a:avLst/>
                  <a:gdLst>
                    <a:gd name="T0" fmla="*/ 0 w 17"/>
                    <a:gd name="T1" fmla="*/ 1186 h 1186"/>
                    <a:gd name="T2" fmla="*/ 0 w 17"/>
                    <a:gd name="T3" fmla="*/ 0 h 1186"/>
                    <a:gd name="T4" fmla="*/ 17 w 17"/>
                    <a:gd name="T5" fmla="*/ 0 h 1186"/>
                    <a:gd name="T6" fmla="*/ 17 w 17"/>
                    <a:gd name="T7" fmla="*/ 1077 h 1186"/>
                    <a:gd name="T8" fmla="*/ 0 w 17"/>
                    <a:gd name="T9" fmla="*/ 1186 h 1186"/>
                  </a:gdLst>
                  <a:ahLst/>
                  <a:cxnLst>
                    <a:cxn ang="0">
                      <a:pos x="T0" y="T1"/>
                    </a:cxn>
                    <a:cxn ang="0">
                      <a:pos x="T2" y="T3"/>
                    </a:cxn>
                    <a:cxn ang="0">
                      <a:pos x="T4" y="T5"/>
                    </a:cxn>
                    <a:cxn ang="0">
                      <a:pos x="T6" y="T7"/>
                    </a:cxn>
                    <a:cxn ang="0">
                      <a:pos x="T8" y="T9"/>
                    </a:cxn>
                  </a:cxnLst>
                  <a:rect l="0" t="0" r="r" b="b"/>
                  <a:pathLst>
                    <a:path w="17" h="1186">
                      <a:moveTo>
                        <a:pt x="0" y="1186"/>
                      </a:moveTo>
                      <a:lnTo>
                        <a:pt x="0" y="0"/>
                      </a:lnTo>
                      <a:lnTo>
                        <a:pt x="17" y="0"/>
                      </a:lnTo>
                      <a:lnTo>
                        <a:pt x="17" y="1077"/>
                      </a:lnTo>
                      <a:lnTo>
                        <a:pt x="0" y="118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72" name="Freeform 4360"/>
                <p:cNvSpPr>
                  <a:spLocks noChangeAspect="1"/>
                </p:cNvSpPr>
                <p:nvPr/>
              </p:nvSpPr>
              <p:spPr bwMode="auto">
                <a:xfrm>
                  <a:off x="2734" y="2287"/>
                  <a:ext cx="6" cy="299"/>
                </a:xfrm>
                <a:custGeom>
                  <a:avLst/>
                  <a:gdLst>
                    <a:gd name="T0" fmla="*/ 0 w 16"/>
                    <a:gd name="T1" fmla="*/ 1132 h 1132"/>
                    <a:gd name="T2" fmla="*/ 0 w 16"/>
                    <a:gd name="T3" fmla="*/ 0 h 1132"/>
                    <a:gd name="T4" fmla="*/ 16 w 16"/>
                    <a:gd name="T5" fmla="*/ 0 h 1132"/>
                    <a:gd name="T6" fmla="*/ 16 w 16"/>
                    <a:gd name="T7" fmla="*/ 1024 h 1132"/>
                    <a:gd name="T8" fmla="*/ 0 w 16"/>
                    <a:gd name="T9" fmla="*/ 1132 h 1132"/>
                  </a:gdLst>
                  <a:ahLst/>
                  <a:cxnLst>
                    <a:cxn ang="0">
                      <a:pos x="T0" y="T1"/>
                    </a:cxn>
                    <a:cxn ang="0">
                      <a:pos x="T2" y="T3"/>
                    </a:cxn>
                    <a:cxn ang="0">
                      <a:pos x="T4" y="T5"/>
                    </a:cxn>
                    <a:cxn ang="0">
                      <a:pos x="T6" y="T7"/>
                    </a:cxn>
                    <a:cxn ang="0">
                      <a:pos x="T8" y="T9"/>
                    </a:cxn>
                  </a:cxnLst>
                  <a:rect l="0" t="0" r="r" b="b"/>
                  <a:pathLst>
                    <a:path w="16" h="1132">
                      <a:moveTo>
                        <a:pt x="0" y="1132"/>
                      </a:moveTo>
                      <a:lnTo>
                        <a:pt x="0" y="0"/>
                      </a:lnTo>
                      <a:lnTo>
                        <a:pt x="16" y="0"/>
                      </a:lnTo>
                      <a:lnTo>
                        <a:pt x="16" y="1024"/>
                      </a:lnTo>
                      <a:lnTo>
                        <a:pt x="0" y="113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73" name="Freeform 4361"/>
                <p:cNvSpPr>
                  <a:spLocks noChangeAspect="1"/>
                </p:cNvSpPr>
                <p:nvPr/>
              </p:nvSpPr>
              <p:spPr bwMode="auto">
                <a:xfrm>
                  <a:off x="2736" y="2287"/>
                  <a:ext cx="3" cy="284"/>
                </a:xfrm>
                <a:custGeom>
                  <a:avLst/>
                  <a:gdLst>
                    <a:gd name="T0" fmla="*/ 0 w 16"/>
                    <a:gd name="T1" fmla="*/ 1077 h 1077"/>
                    <a:gd name="T2" fmla="*/ 0 w 16"/>
                    <a:gd name="T3" fmla="*/ 0 h 1077"/>
                    <a:gd name="T4" fmla="*/ 16 w 16"/>
                    <a:gd name="T5" fmla="*/ 0 h 1077"/>
                    <a:gd name="T6" fmla="*/ 16 w 16"/>
                    <a:gd name="T7" fmla="*/ 970 h 1077"/>
                    <a:gd name="T8" fmla="*/ 0 w 16"/>
                    <a:gd name="T9" fmla="*/ 1077 h 1077"/>
                  </a:gdLst>
                  <a:ahLst/>
                  <a:cxnLst>
                    <a:cxn ang="0">
                      <a:pos x="T0" y="T1"/>
                    </a:cxn>
                    <a:cxn ang="0">
                      <a:pos x="T2" y="T3"/>
                    </a:cxn>
                    <a:cxn ang="0">
                      <a:pos x="T4" y="T5"/>
                    </a:cxn>
                    <a:cxn ang="0">
                      <a:pos x="T6" y="T7"/>
                    </a:cxn>
                    <a:cxn ang="0">
                      <a:pos x="T8" y="T9"/>
                    </a:cxn>
                  </a:cxnLst>
                  <a:rect l="0" t="0" r="r" b="b"/>
                  <a:pathLst>
                    <a:path w="16" h="1077">
                      <a:moveTo>
                        <a:pt x="0" y="1077"/>
                      </a:moveTo>
                      <a:lnTo>
                        <a:pt x="0" y="0"/>
                      </a:lnTo>
                      <a:lnTo>
                        <a:pt x="16" y="0"/>
                      </a:lnTo>
                      <a:lnTo>
                        <a:pt x="16" y="970"/>
                      </a:lnTo>
                      <a:lnTo>
                        <a:pt x="0" y="107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74" name="Freeform 4362"/>
                <p:cNvSpPr>
                  <a:spLocks noChangeAspect="1"/>
                </p:cNvSpPr>
                <p:nvPr/>
              </p:nvSpPr>
              <p:spPr bwMode="auto">
                <a:xfrm>
                  <a:off x="2738" y="2287"/>
                  <a:ext cx="1" cy="271"/>
                </a:xfrm>
                <a:custGeom>
                  <a:avLst/>
                  <a:gdLst>
                    <a:gd name="T0" fmla="*/ 0 w 17"/>
                    <a:gd name="T1" fmla="*/ 1024 h 1024"/>
                    <a:gd name="T2" fmla="*/ 0 w 17"/>
                    <a:gd name="T3" fmla="*/ 0 h 1024"/>
                    <a:gd name="T4" fmla="*/ 17 w 17"/>
                    <a:gd name="T5" fmla="*/ 0 h 1024"/>
                    <a:gd name="T6" fmla="*/ 17 w 17"/>
                    <a:gd name="T7" fmla="*/ 916 h 1024"/>
                    <a:gd name="T8" fmla="*/ 0 w 17"/>
                    <a:gd name="T9" fmla="*/ 1024 h 1024"/>
                  </a:gdLst>
                  <a:ahLst/>
                  <a:cxnLst>
                    <a:cxn ang="0">
                      <a:pos x="T0" y="T1"/>
                    </a:cxn>
                    <a:cxn ang="0">
                      <a:pos x="T2" y="T3"/>
                    </a:cxn>
                    <a:cxn ang="0">
                      <a:pos x="T4" y="T5"/>
                    </a:cxn>
                    <a:cxn ang="0">
                      <a:pos x="T6" y="T7"/>
                    </a:cxn>
                    <a:cxn ang="0">
                      <a:pos x="T8" y="T9"/>
                    </a:cxn>
                  </a:cxnLst>
                  <a:rect l="0" t="0" r="r" b="b"/>
                  <a:pathLst>
                    <a:path w="17" h="1024">
                      <a:moveTo>
                        <a:pt x="0" y="1024"/>
                      </a:moveTo>
                      <a:lnTo>
                        <a:pt x="0" y="0"/>
                      </a:lnTo>
                      <a:lnTo>
                        <a:pt x="17" y="0"/>
                      </a:lnTo>
                      <a:lnTo>
                        <a:pt x="17" y="916"/>
                      </a:lnTo>
                      <a:lnTo>
                        <a:pt x="0" y="102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75" name="Freeform 4363"/>
                <p:cNvSpPr>
                  <a:spLocks noChangeAspect="1"/>
                </p:cNvSpPr>
                <p:nvPr/>
              </p:nvSpPr>
              <p:spPr bwMode="auto">
                <a:xfrm>
                  <a:off x="2739" y="2287"/>
                  <a:ext cx="5" cy="258"/>
                </a:xfrm>
                <a:custGeom>
                  <a:avLst/>
                  <a:gdLst>
                    <a:gd name="T0" fmla="*/ 0 w 17"/>
                    <a:gd name="T1" fmla="*/ 970 h 970"/>
                    <a:gd name="T2" fmla="*/ 0 w 17"/>
                    <a:gd name="T3" fmla="*/ 0 h 970"/>
                    <a:gd name="T4" fmla="*/ 17 w 17"/>
                    <a:gd name="T5" fmla="*/ 0 h 970"/>
                    <a:gd name="T6" fmla="*/ 17 w 17"/>
                    <a:gd name="T7" fmla="*/ 863 h 970"/>
                    <a:gd name="T8" fmla="*/ 0 w 17"/>
                    <a:gd name="T9" fmla="*/ 970 h 970"/>
                  </a:gdLst>
                  <a:ahLst/>
                  <a:cxnLst>
                    <a:cxn ang="0">
                      <a:pos x="T0" y="T1"/>
                    </a:cxn>
                    <a:cxn ang="0">
                      <a:pos x="T2" y="T3"/>
                    </a:cxn>
                    <a:cxn ang="0">
                      <a:pos x="T4" y="T5"/>
                    </a:cxn>
                    <a:cxn ang="0">
                      <a:pos x="T6" y="T7"/>
                    </a:cxn>
                    <a:cxn ang="0">
                      <a:pos x="T8" y="T9"/>
                    </a:cxn>
                  </a:cxnLst>
                  <a:rect l="0" t="0" r="r" b="b"/>
                  <a:pathLst>
                    <a:path w="17" h="970">
                      <a:moveTo>
                        <a:pt x="0" y="970"/>
                      </a:moveTo>
                      <a:lnTo>
                        <a:pt x="0" y="0"/>
                      </a:lnTo>
                      <a:lnTo>
                        <a:pt x="17" y="0"/>
                      </a:lnTo>
                      <a:lnTo>
                        <a:pt x="17" y="863"/>
                      </a:lnTo>
                      <a:lnTo>
                        <a:pt x="0" y="97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76" name="Freeform 4364"/>
                <p:cNvSpPr>
                  <a:spLocks noChangeAspect="1"/>
                </p:cNvSpPr>
                <p:nvPr/>
              </p:nvSpPr>
              <p:spPr bwMode="auto">
                <a:xfrm>
                  <a:off x="2742" y="2287"/>
                  <a:ext cx="5" cy="242"/>
                </a:xfrm>
                <a:custGeom>
                  <a:avLst/>
                  <a:gdLst>
                    <a:gd name="T0" fmla="*/ 0 w 17"/>
                    <a:gd name="T1" fmla="*/ 916 h 916"/>
                    <a:gd name="T2" fmla="*/ 0 w 17"/>
                    <a:gd name="T3" fmla="*/ 0 h 916"/>
                    <a:gd name="T4" fmla="*/ 17 w 17"/>
                    <a:gd name="T5" fmla="*/ 0 h 916"/>
                    <a:gd name="T6" fmla="*/ 17 w 17"/>
                    <a:gd name="T7" fmla="*/ 808 h 916"/>
                    <a:gd name="T8" fmla="*/ 0 w 17"/>
                    <a:gd name="T9" fmla="*/ 916 h 916"/>
                  </a:gdLst>
                  <a:ahLst/>
                  <a:cxnLst>
                    <a:cxn ang="0">
                      <a:pos x="T0" y="T1"/>
                    </a:cxn>
                    <a:cxn ang="0">
                      <a:pos x="T2" y="T3"/>
                    </a:cxn>
                    <a:cxn ang="0">
                      <a:pos x="T4" y="T5"/>
                    </a:cxn>
                    <a:cxn ang="0">
                      <a:pos x="T6" y="T7"/>
                    </a:cxn>
                    <a:cxn ang="0">
                      <a:pos x="T8" y="T9"/>
                    </a:cxn>
                  </a:cxnLst>
                  <a:rect l="0" t="0" r="r" b="b"/>
                  <a:pathLst>
                    <a:path w="17" h="916">
                      <a:moveTo>
                        <a:pt x="0" y="916"/>
                      </a:moveTo>
                      <a:lnTo>
                        <a:pt x="0" y="0"/>
                      </a:lnTo>
                      <a:lnTo>
                        <a:pt x="17" y="0"/>
                      </a:lnTo>
                      <a:lnTo>
                        <a:pt x="17" y="808"/>
                      </a:lnTo>
                      <a:lnTo>
                        <a:pt x="0" y="91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77" name="Freeform 4365"/>
                <p:cNvSpPr>
                  <a:spLocks noChangeAspect="1"/>
                </p:cNvSpPr>
                <p:nvPr/>
              </p:nvSpPr>
              <p:spPr bwMode="auto">
                <a:xfrm>
                  <a:off x="2744" y="2287"/>
                  <a:ext cx="2" cy="228"/>
                </a:xfrm>
                <a:custGeom>
                  <a:avLst/>
                  <a:gdLst>
                    <a:gd name="T0" fmla="*/ 0 w 16"/>
                    <a:gd name="T1" fmla="*/ 863 h 863"/>
                    <a:gd name="T2" fmla="*/ 0 w 16"/>
                    <a:gd name="T3" fmla="*/ 0 h 863"/>
                    <a:gd name="T4" fmla="*/ 16 w 16"/>
                    <a:gd name="T5" fmla="*/ 0 h 863"/>
                    <a:gd name="T6" fmla="*/ 16 w 16"/>
                    <a:gd name="T7" fmla="*/ 754 h 863"/>
                    <a:gd name="T8" fmla="*/ 0 w 16"/>
                    <a:gd name="T9" fmla="*/ 863 h 863"/>
                  </a:gdLst>
                  <a:ahLst/>
                  <a:cxnLst>
                    <a:cxn ang="0">
                      <a:pos x="T0" y="T1"/>
                    </a:cxn>
                    <a:cxn ang="0">
                      <a:pos x="T2" y="T3"/>
                    </a:cxn>
                    <a:cxn ang="0">
                      <a:pos x="T4" y="T5"/>
                    </a:cxn>
                    <a:cxn ang="0">
                      <a:pos x="T6" y="T7"/>
                    </a:cxn>
                    <a:cxn ang="0">
                      <a:pos x="T8" y="T9"/>
                    </a:cxn>
                  </a:cxnLst>
                  <a:rect l="0" t="0" r="r" b="b"/>
                  <a:pathLst>
                    <a:path w="16" h="863">
                      <a:moveTo>
                        <a:pt x="0" y="863"/>
                      </a:moveTo>
                      <a:lnTo>
                        <a:pt x="0" y="0"/>
                      </a:lnTo>
                      <a:lnTo>
                        <a:pt x="16" y="0"/>
                      </a:lnTo>
                      <a:lnTo>
                        <a:pt x="16" y="754"/>
                      </a:lnTo>
                      <a:lnTo>
                        <a:pt x="0" y="863"/>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78" name="Freeform 4366"/>
                <p:cNvSpPr>
                  <a:spLocks noChangeAspect="1"/>
                </p:cNvSpPr>
                <p:nvPr/>
              </p:nvSpPr>
              <p:spPr bwMode="auto">
                <a:xfrm>
                  <a:off x="2746" y="2287"/>
                  <a:ext cx="0" cy="214"/>
                </a:xfrm>
                <a:custGeom>
                  <a:avLst/>
                  <a:gdLst>
                    <a:gd name="T0" fmla="*/ 0 w 16"/>
                    <a:gd name="T1" fmla="*/ 808 h 808"/>
                    <a:gd name="T2" fmla="*/ 0 w 16"/>
                    <a:gd name="T3" fmla="*/ 0 h 808"/>
                    <a:gd name="T4" fmla="*/ 16 w 16"/>
                    <a:gd name="T5" fmla="*/ 0 h 808"/>
                    <a:gd name="T6" fmla="*/ 16 w 16"/>
                    <a:gd name="T7" fmla="*/ 701 h 808"/>
                    <a:gd name="T8" fmla="*/ 0 w 16"/>
                    <a:gd name="T9" fmla="*/ 808 h 808"/>
                  </a:gdLst>
                  <a:ahLst/>
                  <a:cxnLst>
                    <a:cxn ang="0">
                      <a:pos x="T0" y="T1"/>
                    </a:cxn>
                    <a:cxn ang="0">
                      <a:pos x="T2" y="T3"/>
                    </a:cxn>
                    <a:cxn ang="0">
                      <a:pos x="T4" y="T5"/>
                    </a:cxn>
                    <a:cxn ang="0">
                      <a:pos x="T6" y="T7"/>
                    </a:cxn>
                    <a:cxn ang="0">
                      <a:pos x="T8" y="T9"/>
                    </a:cxn>
                  </a:cxnLst>
                  <a:rect l="0" t="0" r="r" b="b"/>
                  <a:pathLst>
                    <a:path w="16" h="808">
                      <a:moveTo>
                        <a:pt x="0" y="808"/>
                      </a:moveTo>
                      <a:lnTo>
                        <a:pt x="0" y="0"/>
                      </a:lnTo>
                      <a:lnTo>
                        <a:pt x="16" y="0"/>
                      </a:lnTo>
                      <a:lnTo>
                        <a:pt x="16" y="701"/>
                      </a:lnTo>
                      <a:lnTo>
                        <a:pt x="0" y="80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79" name="Freeform 4367"/>
                <p:cNvSpPr>
                  <a:spLocks noChangeAspect="1"/>
                </p:cNvSpPr>
                <p:nvPr/>
              </p:nvSpPr>
              <p:spPr bwMode="auto">
                <a:xfrm>
                  <a:off x="2748" y="2287"/>
                  <a:ext cx="6" cy="199"/>
                </a:xfrm>
                <a:custGeom>
                  <a:avLst/>
                  <a:gdLst>
                    <a:gd name="T0" fmla="*/ 0 w 17"/>
                    <a:gd name="T1" fmla="*/ 754 h 754"/>
                    <a:gd name="T2" fmla="*/ 0 w 17"/>
                    <a:gd name="T3" fmla="*/ 0 h 754"/>
                    <a:gd name="T4" fmla="*/ 17 w 17"/>
                    <a:gd name="T5" fmla="*/ 0 h 754"/>
                    <a:gd name="T6" fmla="*/ 17 w 17"/>
                    <a:gd name="T7" fmla="*/ 647 h 754"/>
                    <a:gd name="T8" fmla="*/ 0 w 17"/>
                    <a:gd name="T9" fmla="*/ 754 h 754"/>
                  </a:gdLst>
                  <a:ahLst/>
                  <a:cxnLst>
                    <a:cxn ang="0">
                      <a:pos x="T0" y="T1"/>
                    </a:cxn>
                    <a:cxn ang="0">
                      <a:pos x="T2" y="T3"/>
                    </a:cxn>
                    <a:cxn ang="0">
                      <a:pos x="T4" y="T5"/>
                    </a:cxn>
                    <a:cxn ang="0">
                      <a:pos x="T6" y="T7"/>
                    </a:cxn>
                    <a:cxn ang="0">
                      <a:pos x="T8" y="T9"/>
                    </a:cxn>
                  </a:cxnLst>
                  <a:rect l="0" t="0" r="r" b="b"/>
                  <a:pathLst>
                    <a:path w="17" h="754">
                      <a:moveTo>
                        <a:pt x="0" y="754"/>
                      </a:moveTo>
                      <a:lnTo>
                        <a:pt x="0" y="0"/>
                      </a:lnTo>
                      <a:lnTo>
                        <a:pt x="17" y="0"/>
                      </a:lnTo>
                      <a:lnTo>
                        <a:pt x="17" y="647"/>
                      </a:lnTo>
                      <a:lnTo>
                        <a:pt x="0" y="75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80" name="Freeform 4368"/>
                <p:cNvSpPr>
                  <a:spLocks noChangeAspect="1"/>
                </p:cNvSpPr>
                <p:nvPr/>
              </p:nvSpPr>
              <p:spPr bwMode="auto">
                <a:xfrm>
                  <a:off x="2750" y="2287"/>
                  <a:ext cx="5" cy="186"/>
                </a:xfrm>
                <a:custGeom>
                  <a:avLst/>
                  <a:gdLst>
                    <a:gd name="T0" fmla="*/ 0 w 17"/>
                    <a:gd name="T1" fmla="*/ 701 h 701"/>
                    <a:gd name="T2" fmla="*/ 0 w 17"/>
                    <a:gd name="T3" fmla="*/ 0 h 701"/>
                    <a:gd name="T4" fmla="*/ 17 w 17"/>
                    <a:gd name="T5" fmla="*/ 0 h 701"/>
                    <a:gd name="T6" fmla="*/ 17 w 17"/>
                    <a:gd name="T7" fmla="*/ 592 h 701"/>
                    <a:gd name="T8" fmla="*/ 0 w 17"/>
                    <a:gd name="T9" fmla="*/ 701 h 701"/>
                  </a:gdLst>
                  <a:ahLst/>
                  <a:cxnLst>
                    <a:cxn ang="0">
                      <a:pos x="T0" y="T1"/>
                    </a:cxn>
                    <a:cxn ang="0">
                      <a:pos x="T2" y="T3"/>
                    </a:cxn>
                    <a:cxn ang="0">
                      <a:pos x="T4" y="T5"/>
                    </a:cxn>
                    <a:cxn ang="0">
                      <a:pos x="T6" y="T7"/>
                    </a:cxn>
                    <a:cxn ang="0">
                      <a:pos x="T8" y="T9"/>
                    </a:cxn>
                  </a:cxnLst>
                  <a:rect l="0" t="0" r="r" b="b"/>
                  <a:pathLst>
                    <a:path w="17" h="701">
                      <a:moveTo>
                        <a:pt x="0" y="701"/>
                      </a:moveTo>
                      <a:lnTo>
                        <a:pt x="0" y="0"/>
                      </a:lnTo>
                      <a:lnTo>
                        <a:pt x="17" y="0"/>
                      </a:lnTo>
                      <a:lnTo>
                        <a:pt x="17" y="592"/>
                      </a:lnTo>
                      <a:lnTo>
                        <a:pt x="0" y="70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81" name="Freeform 4369"/>
                <p:cNvSpPr>
                  <a:spLocks noChangeAspect="1"/>
                </p:cNvSpPr>
                <p:nvPr/>
              </p:nvSpPr>
              <p:spPr bwMode="auto">
                <a:xfrm>
                  <a:off x="2753" y="2287"/>
                  <a:ext cx="0" cy="171"/>
                </a:xfrm>
                <a:custGeom>
                  <a:avLst/>
                  <a:gdLst>
                    <a:gd name="T0" fmla="*/ 0 w 17"/>
                    <a:gd name="T1" fmla="*/ 647 h 647"/>
                    <a:gd name="T2" fmla="*/ 0 w 17"/>
                    <a:gd name="T3" fmla="*/ 0 h 647"/>
                    <a:gd name="T4" fmla="*/ 17 w 17"/>
                    <a:gd name="T5" fmla="*/ 0 h 647"/>
                    <a:gd name="T6" fmla="*/ 17 w 17"/>
                    <a:gd name="T7" fmla="*/ 539 h 647"/>
                    <a:gd name="T8" fmla="*/ 0 w 17"/>
                    <a:gd name="T9" fmla="*/ 647 h 647"/>
                  </a:gdLst>
                  <a:ahLst/>
                  <a:cxnLst>
                    <a:cxn ang="0">
                      <a:pos x="T0" y="T1"/>
                    </a:cxn>
                    <a:cxn ang="0">
                      <a:pos x="T2" y="T3"/>
                    </a:cxn>
                    <a:cxn ang="0">
                      <a:pos x="T4" y="T5"/>
                    </a:cxn>
                    <a:cxn ang="0">
                      <a:pos x="T6" y="T7"/>
                    </a:cxn>
                    <a:cxn ang="0">
                      <a:pos x="T8" y="T9"/>
                    </a:cxn>
                  </a:cxnLst>
                  <a:rect l="0" t="0" r="r" b="b"/>
                  <a:pathLst>
                    <a:path w="17" h="647">
                      <a:moveTo>
                        <a:pt x="0" y="647"/>
                      </a:moveTo>
                      <a:lnTo>
                        <a:pt x="0" y="0"/>
                      </a:lnTo>
                      <a:lnTo>
                        <a:pt x="17" y="0"/>
                      </a:lnTo>
                      <a:lnTo>
                        <a:pt x="17" y="539"/>
                      </a:lnTo>
                      <a:lnTo>
                        <a:pt x="0" y="64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82" name="Freeform 4370"/>
                <p:cNvSpPr>
                  <a:spLocks noChangeAspect="1"/>
                </p:cNvSpPr>
                <p:nvPr/>
              </p:nvSpPr>
              <p:spPr bwMode="auto">
                <a:xfrm>
                  <a:off x="2755" y="2287"/>
                  <a:ext cx="6" cy="157"/>
                </a:xfrm>
                <a:custGeom>
                  <a:avLst/>
                  <a:gdLst>
                    <a:gd name="T0" fmla="*/ 0 w 17"/>
                    <a:gd name="T1" fmla="*/ 592 h 592"/>
                    <a:gd name="T2" fmla="*/ 0 w 17"/>
                    <a:gd name="T3" fmla="*/ 0 h 592"/>
                    <a:gd name="T4" fmla="*/ 17 w 17"/>
                    <a:gd name="T5" fmla="*/ 0 h 592"/>
                    <a:gd name="T6" fmla="*/ 17 w 17"/>
                    <a:gd name="T7" fmla="*/ 485 h 592"/>
                    <a:gd name="T8" fmla="*/ 0 w 17"/>
                    <a:gd name="T9" fmla="*/ 592 h 592"/>
                  </a:gdLst>
                  <a:ahLst/>
                  <a:cxnLst>
                    <a:cxn ang="0">
                      <a:pos x="T0" y="T1"/>
                    </a:cxn>
                    <a:cxn ang="0">
                      <a:pos x="T2" y="T3"/>
                    </a:cxn>
                    <a:cxn ang="0">
                      <a:pos x="T4" y="T5"/>
                    </a:cxn>
                    <a:cxn ang="0">
                      <a:pos x="T6" y="T7"/>
                    </a:cxn>
                    <a:cxn ang="0">
                      <a:pos x="T8" y="T9"/>
                    </a:cxn>
                  </a:cxnLst>
                  <a:rect l="0" t="0" r="r" b="b"/>
                  <a:pathLst>
                    <a:path w="17" h="592">
                      <a:moveTo>
                        <a:pt x="0" y="592"/>
                      </a:moveTo>
                      <a:lnTo>
                        <a:pt x="0" y="0"/>
                      </a:lnTo>
                      <a:lnTo>
                        <a:pt x="17" y="0"/>
                      </a:lnTo>
                      <a:lnTo>
                        <a:pt x="17" y="485"/>
                      </a:lnTo>
                      <a:lnTo>
                        <a:pt x="0" y="59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83" name="Freeform 4371"/>
                <p:cNvSpPr>
                  <a:spLocks noChangeAspect="1"/>
                </p:cNvSpPr>
                <p:nvPr/>
              </p:nvSpPr>
              <p:spPr bwMode="auto">
                <a:xfrm>
                  <a:off x="2757" y="2287"/>
                  <a:ext cx="3" cy="142"/>
                </a:xfrm>
                <a:custGeom>
                  <a:avLst/>
                  <a:gdLst>
                    <a:gd name="T0" fmla="*/ 0 w 16"/>
                    <a:gd name="T1" fmla="*/ 539 h 539"/>
                    <a:gd name="T2" fmla="*/ 0 w 16"/>
                    <a:gd name="T3" fmla="*/ 0 h 539"/>
                    <a:gd name="T4" fmla="*/ 16 w 16"/>
                    <a:gd name="T5" fmla="*/ 0 h 539"/>
                    <a:gd name="T6" fmla="*/ 16 w 16"/>
                    <a:gd name="T7" fmla="*/ 431 h 539"/>
                    <a:gd name="T8" fmla="*/ 0 w 16"/>
                    <a:gd name="T9" fmla="*/ 539 h 539"/>
                  </a:gdLst>
                  <a:ahLst/>
                  <a:cxnLst>
                    <a:cxn ang="0">
                      <a:pos x="T0" y="T1"/>
                    </a:cxn>
                    <a:cxn ang="0">
                      <a:pos x="T2" y="T3"/>
                    </a:cxn>
                    <a:cxn ang="0">
                      <a:pos x="T4" y="T5"/>
                    </a:cxn>
                    <a:cxn ang="0">
                      <a:pos x="T6" y="T7"/>
                    </a:cxn>
                    <a:cxn ang="0">
                      <a:pos x="T8" y="T9"/>
                    </a:cxn>
                  </a:cxnLst>
                  <a:rect l="0" t="0" r="r" b="b"/>
                  <a:pathLst>
                    <a:path w="16" h="539">
                      <a:moveTo>
                        <a:pt x="0" y="539"/>
                      </a:moveTo>
                      <a:lnTo>
                        <a:pt x="0" y="0"/>
                      </a:lnTo>
                      <a:lnTo>
                        <a:pt x="16" y="0"/>
                      </a:lnTo>
                      <a:lnTo>
                        <a:pt x="16" y="431"/>
                      </a:lnTo>
                      <a:lnTo>
                        <a:pt x="0" y="539"/>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84" name="Freeform 4372"/>
                <p:cNvSpPr>
                  <a:spLocks noChangeAspect="1"/>
                </p:cNvSpPr>
                <p:nvPr/>
              </p:nvSpPr>
              <p:spPr bwMode="auto">
                <a:xfrm>
                  <a:off x="2759" y="2287"/>
                  <a:ext cx="1" cy="128"/>
                </a:xfrm>
                <a:custGeom>
                  <a:avLst/>
                  <a:gdLst>
                    <a:gd name="T0" fmla="*/ 0 w 16"/>
                    <a:gd name="T1" fmla="*/ 485 h 485"/>
                    <a:gd name="T2" fmla="*/ 0 w 16"/>
                    <a:gd name="T3" fmla="*/ 0 h 485"/>
                    <a:gd name="T4" fmla="*/ 16 w 16"/>
                    <a:gd name="T5" fmla="*/ 0 h 485"/>
                    <a:gd name="T6" fmla="*/ 16 w 16"/>
                    <a:gd name="T7" fmla="*/ 378 h 485"/>
                    <a:gd name="T8" fmla="*/ 0 w 16"/>
                    <a:gd name="T9" fmla="*/ 485 h 485"/>
                  </a:gdLst>
                  <a:ahLst/>
                  <a:cxnLst>
                    <a:cxn ang="0">
                      <a:pos x="T0" y="T1"/>
                    </a:cxn>
                    <a:cxn ang="0">
                      <a:pos x="T2" y="T3"/>
                    </a:cxn>
                    <a:cxn ang="0">
                      <a:pos x="T4" y="T5"/>
                    </a:cxn>
                    <a:cxn ang="0">
                      <a:pos x="T6" y="T7"/>
                    </a:cxn>
                    <a:cxn ang="0">
                      <a:pos x="T8" y="T9"/>
                    </a:cxn>
                  </a:cxnLst>
                  <a:rect l="0" t="0" r="r" b="b"/>
                  <a:pathLst>
                    <a:path w="16" h="485">
                      <a:moveTo>
                        <a:pt x="0" y="485"/>
                      </a:moveTo>
                      <a:lnTo>
                        <a:pt x="0" y="0"/>
                      </a:lnTo>
                      <a:lnTo>
                        <a:pt x="16" y="0"/>
                      </a:lnTo>
                      <a:lnTo>
                        <a:pt x="16" y="378"/>
                      </a:lnTo>
                      <a:lnTo>
                        <a:pt x="0" y="485"/>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85" name="Freeform 4373"/>
                <p:cNvSpPr>
                  <a:spLocks noChangeAspect="1"/>
                </p:cNvSpPr>
                <p:nvPr/>
              </p:nvSpPr>
              <p:spPr bwMode="auto">
                <a:xfrm>
                  <a:off x="2760" y="2287"/>
                  <a:ext cx="6" cy="115"/>
                </a:xfrm>
                <a:custGeom>
                  <a:avLst/>
                  <a:gdLst>
                    <a:gd name="T0" fmla="*/ 0 w 17"/>
                    <a:gd name="T1" fmla="*/ 431 h 431"/>
                    <a:gd name="T2" fmla="*/ 0 w 17"/>
                    <a:gd name="T3" fmla="*/ 0 h 431"/>
                    <a:gd name="T4" fmla="*/ 17 w 17"/>
                    <a:gd name="T5" fmla="*/ 0 h 431"/>
                    <a:gd name="T6" fmla="*/ 17 w 17"/>
                    <a:gd name="T7" fmla="*/ 324 h 431"/>
                    <a:gd name="T8" fmla="*/ 0 w 17"/>
                    <a:gd name="T9" fmla="*/ 431 h 431"/>
                  </a:gdLst>
                  <a:ahLst/>
                  <a:cxnLst>
                    <a:cxn ang="0">
                      <a:pos x="T0" y="T1"/>
                    </a:cxn>
                    <a:cxn ang="0">
                      <a:pos x="T2" y="T3"/>
                    </a:cxn>
                    <a:cxn ang="0">
                      <a:pos x="T4" y="T5"/>
                    </a:cxn>
                    <a:cxn ang="0">
                      <a:pos x="T6" y="T7"/>
                    </a:cxn>
                    <a:cxn ang="0">
                      <a:pos x="T8" y="T9"/>
                    </a:cxn>
                  </a:cxnLst>
                  <a:rect l="0" t="0" r="r" b="b"/>
                  <a:pathLst>
                    <a:path w="17" h="431">
                      <a:moveTo>
                        <a:pt x="0" y="431"/>
                      </a:moveTo>
                      <a:lnTo>
                        <a:pt x="0" y="0"/>
                      </a:lnTo>
                      <a:lnTo>
                        <a:pt x="17" y="0"/>
                      </a:lnTo>
                      <a:lnTo>
                        <a:pt x="17" y="324"/>
                      </a:lnTo>
                      <a:lnTo>
                        <a:pt x="0" y="43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86" name="Freeform 4374"/>
                <p:cNvSpPr>
                  <a:spLocks noChangeAspect="1"/>
                </p:cNvSpPr>
                <p:nvPr/>
              </p:nvSpPr>
              <p:spPr bwMode="auto">
                <a:xfrm>
                  <a:off x="2763" y="2287"/>
                  <a:ext cx="5" cy="102"/>
                </a:xfrm>
                <a:custGeom>
                  <a:avLst/>
                  <a:gdLst>
                    <a:gd name="T0" fmla="*/ 0 w 17"/>
                    <a:gd name="T1" fmla="*/ 378 h 378"/>
                    <a:gd name="T2" fmla="*/ 0 w 17"/>
                    <a:gd name="T3" fmla="*/ 0 h 378"/>
                    <a:gd name="T4" fmla="*/ 17 w 17"/>
                    <a:gd name="T5" fmla="*/ 0 h 378"/>
                    <a:gd name="T6" fmla="*/ 17 w 17"/>
                    <a:gd name="T7" fmla="*/ 269 h 378"/>
                    <a:gd name="T8" fmla="*/ 0 w 17"/>
                    <a:gd name="T9" fmla="*/ 378 h 378"/>
                  </a:gdLst>
                  <a:ahLst/>
                  <a:cxnLst>
                    <a:cxn ang="0">
                      <a:pos x="T0" y="T1"/>
                    </a:cxn>
                    <a:cxn ang="0">
                      <a:pos x="T2" y="T3"/>
                    </a:cxn>
                    <a:cxn ang="0">
                      <a:pos x="T4" y="T5"/>
                    </a:cxn>
                    <a:cxn ang="0">
                      <a:pos x="T6" y="T7"/>
                    </a:cxn>
                    <a:cxn ang="0">
                      <a:pos x="T8" y="T9"/>
                    </a:cxn>
                  </a:cxnLst>
                  <a:rect l="0" t="0" r="r" b="b"/>
                  <a:pathLst>
                    <a:path w="17" h="378">
                      <a:moveTo>
                        <a:pt x="0" y="378"/>
                      </a:moveTo>
                      <a:lnTo>
                        <a:pt x="0" y="0"/>
                      </a:lnTo>
                      <a:lnTo>
                        <a:pt x="17" y="0"/>
                      </a:lnTo>
                      <a:lnTo>
                        <a:pt x="17" y="269"/>
                      </a:lnTo>
                      <a:lnTo>
                        <a:pt x="0" y="37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87" name="Freeform 4375"/>
                <p:cNvSpPr>
                  <a:spLocks noChangeAspect="1"/>
                </p:cNvSpPr>
                <p:nvPr/>
              </p:nvSpPr>
              <p:spPr bwMode="auto">
                <a:xfrm>
                  <a:off x="2766" y="2287"/>
                  <a:ext cx="1" cy="85"/>
                </a:xfrm>
                <a:custGeom>
                  <a:avLst/>
                  <a:gdLst>
                    <a:gd name="T0" fmla="*/ 0 w 17"/>
                    <a:gd name="T1" fmla="*/ 324 h 324"/>
                    <a:gd name="T2" fmla="*/ 0 w 17"/>
                    <a:gd name="T3" fmla="*/ 0 h 324"/>
                    <a:gd name="T4" fmla="*/ 17 w 17"/>
                    <a:gd name="T5" fmla="*/ 0 h 324"/>
                    <a:gd name="T6" fmla="*/ 17 w 17"/>
                    <a:gd name="T7" fmla="*/ 216 h 324"/>
                    <a:gd name="T8" fmla="*/ 0 w 17"/>
                    <a:gd name="T9" fmla="*/ 324 h 324"/>
                  </a:gdLst>
                  <a:ahLst/>
                  <a:cxnLst>
                    <a:cxn ang="0">
                      <a:pos x="T0" y="T1"/>
                    </a:cxn>
                    <a:cxn ang="0">
                      <a:pos x="T2" y="T3"/>
                    </a:cxn>
                    <a:cxn ang="0">
                      <a:pos x="T4" y="T5"/>
                    </a:cxn>
                    <a:cxn ang="0">
                      <a:pos x="T6" y="T7"/>
                    </a:cxn>
                    <a:cxn ang="0">
                      <a:pos x="T8" y="T9"/>
                    </a:cxn>
                  </a:cxnLst>
                  <a:rect l="0" t="0" r="r" b="b"/>
                  <a:pathLst>
                    <a:path w="17" h="324">
                      <a:moveTo>
                        <a:pt x="0" y="324"/>
                      </a:moveTo>
                      <a:lnTo>
                        <a:pt x="0" y="0"/>
                      </a:lnTo>
                      <a:lnTo>
                        <a:pt x="17" y="0"/>
                      </a:lnTo>
                      <a:lnTo>
                        <a:pt x="17" y="216"/>
                      </a:lnTo>
                      <a:lnTo>
                        <a:pt x="0" y="32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88" name="Freeform 4376"/>
                <p:cNvSpPr>
                  <a:spLocks noChangeAspect="1"/>
                </p:cNvSpPr>
                <p:nvPr/>
              </p:nvSpPr>
              <p:spPr bwMode="auto">
                <a:xfrm>
                  <a:off x="2767" y="2287"/>
                  <a:ext cx="5" cy="71"/>
                </a:xfrm>
                <a:custGeom>
                  <a:avLst/>
                  <a:gdLst>
                    <a:gd name="T0" fmla="*/ 0 w 16"/>
                    <a:gd name="T1" fmla="*/ 269 h 269"/>
                    <a:gd name="T2" fmla="*/ 0 w 16"/>
                    <a:gd name="T3" fmla="*/ 0 h 269"/>
                    <a:gd name="T4" fmla="*/ 16 w 16"/>
                    <a:gd name="T5" fmla="*/ 0 h 269"/>
                    <a:gd name="T6" fmla="*/ 16 w 16"/>
                    <a:gd name="T7" fmla="*/ 162 h 269"/>
                    <a:gd name="T8" fmla="*/ 0 w 16"/>
                    <a:gd name="T9" fmla="*/ 269 h 269"/>
                  </a:gdLst>
                  <a:ahLst/>
                  <a:cxnLst>
                    <a:cxn ang="0">
                      <a:pos x="T0" y="T1"/>
                    </a:cxn>
                    <a:cxn ang="0">
                      <a:pos x="T2" y="T3"/>
                    </a:cxn>
                    <a:cxn ang="0">
                      <a:pos x="T4" y="T5"/>
                    </a:cxn>
                    <a:cxn ang="0">
                      <a:pos x="T6" y="T7"/>
                    </a:cxn>
                    <a:cxn ang="0">
                      <a:pos x="T8" y="T9"/>
                    </a:cxn>
                  </a:cxnLst>
                  <a:rect l="0" t="0" r="r" b="b"/>
                  <a:pathLst>
                    <a:path w="16" h="269">
                      <a:moveTo>
                        <a:pt x="0" y="269"/>
                      </a:moveTo>
                      <a:lnTo>
                        <a:pt x="0" y="0"/>
                      </a:lnTo>
                      <a:lnTo>
                        <a:pt x="16" y="0"/>
                      </a:lnTo>
                      <a:lnTo>
                        <a:pt x="16" y="162"/>
                      </a:lnTo>
                      <a:lnTo>
                        <a:pt x="0" y="269"/>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89" name="Freeform 4377"/>
                <p:cNvSpPr>
                  <a:spLocks noChangeAspect="1"/>
                </p:cNvSpPr>
                <p:nvPr/>
              </p:nvSpPr>
              <p:spPr bwMode="auto">
                <a:xfrm>
                  <a:off x="2769" y="2287"/>
                  <a:ext cx="6" cy="57"/>
                </a:xfrm>
                <a:custGeom>
                  <a:avLst/>
                  <a:gdLst>
                    <a:gd name="T0" fmla="*/ 0 w 16"/>
                    <a:gd name="T1" fmla="*/ 216 h 216"/>
                    <a:gd name="T2" fmla="*/ 0 w 16"/>
                    <a:gd name="T3" fmla="*/ 0 h 216"/>
                    <a:gd name="T4" fmla="*/ 16 w 16"/>
                    <a:gd name="T5" fmla="*/ 0 h 216"/>
                    <a:gd name="T6" fmla="*/ 16 w 16"/>
                    <a:gd name="T7" fmla="*/ 108 h 216"/>
                    <a:gd name="T8" fmla="*/ 0 w 16"/>
                    <a:gd name="T9" fmla="*/ 216 h 216"/>
                  </a:gdLst>
                  <a:ahLst/>
                  <a:cxnLst>
                    <a:cxn ang="0">
                      <a:pos x="T0" y="T1"/>
                    </a:cxn>
                    <a:cxn ang="0">
                      <a:pos x="T2" y="T3"/>
                    </a:cxn>
                    <a:cxn ang="0">
                      <a:pos x="T4" y="T5"/>
                    </a:cxn>
                    <a:cxn ang="0">
                      <a:pos x="T6" y="T7"/>
                    </a:cxn>
                    <a:cxn ang="0">
                      <a:pos x="T8" y="T9"/>
                    </a:cxn>
                  </a:cxnLst>
                  <a:rect l="0" t="0" r="r" b="b"/>
                  <a:pathLst>
                    <a:path w="16" h="216">
                      <a:moveTo>
                        <a:pt x="0" y="216"/>
                      </a:moveTo>
                      <a:lnTo>
                        <a:pt x="0" y="0"/>
                      </a:lnTo>
                      <a:lnTo>
                        <a:pt x="16" y="0"/>
                      </a:lnTo>
                      <a:lnTo>
                        <a:pt x="16" y="108"/>
                      </a:lnTo>
                      <a:lnTo>
                        <a:pt x="0" y="21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90" name="Freeform 4378"/>
                <p:cNvSpPr>
                  <a:spLocks noChangeAspect="1"/>
                </p:cNvSpPr>
                <p:nvPr/>
              </p:nvSpPr>
              <p:spPr bwMode="auto">
                <a:xfrm>
                  <a:off x="2772" y="2287"/>
                  <a:ext cx="2" cy="43"/>
                </a:xfrm>
                <a:custGeom>
                  <a:avLst/>
                  <a:gdLst>
                    <a:gd name="T0" fmla="*/ 0 w 17"/>
                    <a:gd name="T1" fmla="*/ 162 h 162"/>
                    <a:gd name="T2" fmla="*/ 0 w 17"/>
                    <a:gd name="T3" fmla="*/ 0 h 162"/>
                    <a:gd name="T4" fmla="*/ 17 w 17"/>
                    <a:gd name="T5" fmla="*/ 0 h 162"/>
                    <a:gd name="T6" fmla="*/ 17 w 17"/>
                    <a:gd name="T7" fmla="*/ 55 h 162"/>
                    <a:gd name="T8" fmla="*/ 0 w 17"/>
                    <a:gd name="T9" fmla="*/ 162 h 162"/>
                  </a:gdLst>
                  <a:ahLst/>
                  <a:cxnLst>
                    <a:cxn ang="0">
                      <a:pos x="T0" y="T1"/>
                    </a:cxn>
                    <a:cxn ang="0">
                      <a:pos x="T2" y="T3"/>
                    </a:cxn>
                    <a:cxn ang="0">
                      <a:pos x="T4" y="T5"/>
                    </a:cxn>
                    <a:cxn ang="0">
                      <a:pos x="T6" y="T7"/>
                    </a:cxn>
                    <a:cxn ang="0">
                      <a:pos x="T8" y="T9"/>
                    </a:cxn>
                  </a:cxnLst>
                  <a:rect l="0" t="0" r="r" b="b"/>
                  <a:pathLst>
                    <a:path w="17" h="162">
                      <a:moveTo>
                        <a:pt x="0" y="162"/>
                      </a:moveTo>
                      <a:lnTo>
                        <a:pt x="0" y="0"/>
                      </a:lnTo>
                      <a:lnTo>
                        <a:pt x="17" y="0"/>
                      </a:lnTo>
                      <a:lnTo>
                        <a:pt x="17" y="55"/>
                      </a:lnTo>
                      <a:lnTo>
                        <a:pt x="0" y="16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91" name="Freeform 4379"/>
                <p:cNvSpPr>
                  <a:spLocks noChangeAspect="1"/>
                </p:cNvSpPr>
                <p:nvPr/>
              </p:nvSpPr>
              <p:spPr bwMode="auto">
                <a:xfrm>
                  <a:off x="2673" y="2287"/>
                  <a:ext cx="105" cy="326"/>
                </a:xfrm>
                <a:custGeom>
                  <a:avLst/>
                  <a:gdLst>
                    <a:gd name="T0" fmla="*/ 0 w 416"/>
                    <a:gd name="T1" fmla="*/ 0 h 1235"/>
                    <a:gd name="T2" fmla="*/ 416 w 416"/>
                    <a:gd name="T3" fmla="*/ 0 h 1235"/>
                    <a:gd name="T4" fmla="*/ 225 w 416"/>
                    <a:gd name="T5" fmla="*/ 1235 h 1235"/>
                    <a:gd name="T6" fmla="*/ 0 w 416"/>
                    <a:gd name="T7" fmla="*/ 0 h 1235"/>
                  </a:gdLst>
                  <a:ahLst/>
                  <a:cxnLst>
                    <a:cxn ang="0">
                      <a:pos x="T0" y="T1"/>
                    </a:cxn>
                    <a:cxn ang="0">
                      <a:pos x="T2" y="T3"/>
                    </a:cxn>
                    <a:cxn ang="0">
                      <a:pos x="T4" y="T5"/>
                    </a:cxn>
                    <a:cxn ang="0">
                      <a:pos x="T6" y="T7"/>
                    </a:cxn>
                  </a:cxnLst>
                  <a:rect l="0" t="0" r="r" b="b"/>
                  <a:pathLst>
                    <a:path w="416" h="1235">
                      <a:moveTo>
                        <a:pt x="0" y="0"/>
                      </a:moveTo>
                      <a:lnTo>
                        <a:pt x="416" y="0"/>
                      </a:lnTo>
                      <a:lnTo>
                        <a:pt x="225" y="1235"/>
                      </a:lnTo>
                      <a:lnTo>
                        <a:pt x="0" y="0"/>
                      </a:lnTo>
                    </a:path>
                  </a:pathLst>
                </a:custGeom>
                <a:gradFill rotWithShape="0">
                  <a:gsLst>
                    <a:gs pos="0">
                      <a:schemeClr val="hlink"/>
                    </a:gs>
                    <a:gs pos="50000">
                      <a:schemeClr val="hlink">
                        <a:gamma/>
                        <a:tint val="30196"/>
                        <a:invGamma/>
                      </a:schemeClr>
                    </a:gs>
                    <a:gs pos="100000">
                      <a:schemeClr val="hlink"/>
                    </a:gs>
                  </a:gsLst>
                  <a:lin ang="0" scaled="1"/>
                </a:gradFill>
                <a:ln w="1588">
                  <a:solidFill>
                    <a:srgbClr val="1F1A17"/>
                  </a:solidFill>
                  <a:prstDash val="solid"/>
                  <a:round/>
                  <a:headEnd/>
                  <a:tailEnd/>
                </a:ln>
              </p:spPr>
              <p:txBody>
                <a:bodyPr/>
                <a:lstStyle/>
                <a:p>
                  <a:pPr>
                    <a:defRPr/>
                  </a:pPr>
                  <a:endParaRPr lang="en-US"/>
                </a:p>
              </p:txBody>
            </p:sp>
          </p:grpSp>
          <p:grpSp>
            <p:nvGrpSpPr>
              <p:cNvPr id="387152" name="Group 4380"/>
              <p:cNvGrpSpPr>
                <a:grpSpLocks noChangeAspect="1"/>
              </p:cNvGrpSpPr>
              <p:nvPr/>
            </p:nvGrpSpPr>
            <p:grpSpPr bwMode="auto">
              <a:xfrm>
                <a:off x="2954" y="2447"/>
                <a:ext cx="105" cy="326"/>
                <a:chOff x="2673" y="2287"/>
                <a:chExt cx="105" cy="326"/>
              </a:xfrm>
            </p:grpSpPr>
            <p:sp>
              <p:nvSpPr>
                <p:cNvPr id="68893" name="Freeform 4381"/>
                <p:cNvSpPr>
                  <a:spLocks noChangeAspect="1"/>
                </p:cNvSpPr>
                <p:nvPr/>
              </p:nvSpPr>
              <p:spPr bwMode="auto">
                <a:xfrm>
                  <a:off x="2673" y="2287"/>
                  <a:ext cx="2" cy="13"/>
                </a:xfrm>
                <a:custGeom>
                  <a:avLst/>
                  <a:gdLst>
                    <a:gd name="T0" fmla="*/ 0 w 8"/>
                    <a:gd name="T1" fmla="*/ 0 h 46"/>
                    <a:gd name="T2" fmla="*/ 8 w 8"/>
                    <a:gd name="T3" fmla="*/ 0 h 46"/>
                    <a:gd name="T4" fmla="*/ 8 w 8"/>
                    <a:gd name="T5" fmla="*/ 46 h 46"/>
                    <a:gd name="T6" fmla="*/ 0 w 8"/>
                    <a:gd name="T7" fmla="*/ 0 h 46"/>
                  </a:gdLst>
                  <a:ahLst/>
                  <a:cxnLst>
                    <a:cxn ang="0">
                      <a:pos x="T0" y="T1"/>
                    </a:cxn>
                    <a:cxn ang="0">
                      <a:pos x="T2" y="T3"/>
                    </a:cxn>
                    <a:cxn ang="0">
                      <a:pos x="T4" y="T5"/>
                    </a:cxn>
                    <a:cxn ang="0">
                      <a:pos x="T6" y="T7"/>
                    </a:cxn>
                  </a:cxnLst>
                  <a:rect l="0" t="0" r="r" b="b"/>
                  <a:pathLst>
                    <a:path w="8" h="46">
                      <a:moveTo>
                        <a:pt x="0" y="0"/>
                      </a:moveTo>
                      <a:lnTo>
                        <a:pt x="8" y="0"/>
                      </a:lnTo>
                      <a:lnTo>
                        <a:pt x="8" y="46"/>
                      </a:lnTo>
                      <a:lnTo>
                        <a:pt x="0" y="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94" name="Freeform 4382"/>
                <p:cNvSpPr>
                  <a:spLocks noChangeAspect="1"/>
                </p:cNvSpPr>
                <p:nvPr/>
              </p:nvSpPr>
              <p:spPr bwMode="auto">
                <a:xfrm>
                  <a:off x="2673" y="2287"/>
                  <a:ext cx="3" cy="25"/>
                </a:xfrm>
                <a:custGeom>
                  <a:avLst/>
                  <a:gdLst>
                    <a:gd name="T0" fmla="*/ 0 w 15"/>
                    <a:gd name="T1" fmla="*/ 0 h 92"/>
                    <a:gd name="T2" fmla="*/ 15 w 15"/>
                    <a:gd name="T3" fmla="*/ 0 h 92"/>
                    <a:gd name="T4" fmla="*/ 15 w 15"/>
                    <a:gd name="T5" fmla="*/ 92 h 92"/>
                    <a:gd name="T6" fmla="*/ 0 w 15"/>
                    <a:gd name="T7" fmla="*/ 0 h 92"/>
                  </a:gdLst>
                  <a:ahLst/>
                  <a:cxnLst>
                    <a:cxn ang="0">
                      <a:pos x="T0" y="T1"/>
                    </a:cxn>
                    <a:cxn ang="0">
                      <a:pos x="T2" y="T3"/>
                    </a:cxn>
                    <a:cxn ang="0">
                      <a:pos x="T4" y="T5"/>
                    </a:cxn>
                    <a:cxn ang="0">
                      <a:pos x="T6" y="T7"/>
                    </a:cxn>
                  </a:cxnLst>
                  <a:rect l="0" t="0" r="r" b="b"/>
                  <a:pathLst>
                    <a:path w="15" h="92">
                      <a:moveTo>
                        <a:pt x="0" y="0"/>
                      </a:moveTo>
                      <a:lnTo>
                        <a:pt x="15" y="0"/>
                      </a:lnTo>
                      <a:lnTo>
                        <a:pt x="15" y="92"/>
                      </a:lnTo>
                      <a:lnTo>
                        <a:pt x="0" y="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95" name="Freeform 4383"/>
                <p:cNvSpPr>
                  <a:spLocks noChangeAspect="1"/>
                </p:cNvSpPr>
                <p:nvPr/>
              </p:nvSpPr>
              <p:spPr bwMode="auto">
                <a:xfrm>
                  <a:off x="2675" y="2287"/>
                  <a:ext cx="1" cy="35"/>
                </a:xfrm>
                <a:custGeom>
                  <a:avLst/>
                  <a:gdLst>
                    <a:gd name="T0" fmla="*/ 0 w 16"/>
                    <a:gd name="T1" fmla="*/ 46 h 137"/>
                    <a:gd name="T2" fmla="*/ 0 w 16"/>
                    <a:gd name="T3" fmla="*/ 0 h 137"/>
                    <a:gd name="T4" fmla="*/ 16 w 16"/>
                    <a:gd name="T5" fmla="*/ 0 h 137"/>
                    <a:gd name="T6" fmla="*/ 16 w 16"/>
                    <a:gd name="T7" fmla="*/ 137 h 137"/>
                    <a:gd name="T8" fmla="*/ 0 w 16"/>
                    <a:gd name="T9" fmla="*/ 46 h 137"/>
                  </a:gdLst>
                  <a:ahLst/>
                  <a:cxnLst>
                    <a:cxn ang="0">
                      <a:pos x="T0" y="T1"/>
                    </a:cxn>
                    <a:cxn ang="0">
                      <a:pos x="T2" y="T3"/>
                    </a:cxn>
                    <a:cxn ang="0">
                      <a:pos x="T4" y="T5"/>
                    </a:cxn>
                    <a:cxn ang="0">
                      <a:pos x="T6" y="T7"/>
                    </a:cxn>
                    <a:cxn ang="0">
                      <a:pos x="T8" y="T9"/>
                    </a:cxn>
                  </a:cxnLst>
                  <a:rect l="0" t="0" r="r" b="b"/>
                  <a:pathLst>
                    <a:path w="16" h="137">
                      <a:moveTo>
                        <a:pt x="0" y="46"/>
                      </a:moveTo>
                      <a:lnTo>
                        <a:pt x="0" y="0"/>
                      </a:lnTo>
                      <a:lnTo>
                        <a:pt x="16" y="0"/>
                      </a:lnTo>
                      <a:lnTo>
                        <a:pt x="16" y="137"/>
                      </a:lnTo>
                      <a:lnTo>
                        <a:pt x="0" y="4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96" name="Freeform 4384"/>
                <p:cNvSpPr>
                  <a:spLocks noChangeAspect="1"/>
                </p:cNvSpPr>
                <p:nvPr/>
              </p:nvSpPr>
              <p:spPr bwMode="auto">
                <a:xfrm>
                  <a:off x="2677" y="2287"/>
                  <a:ext cx="7" cy="48"/>
                </a:xfrm>
                <a:custGeom>
                  <a:avLst/>
                  <a:gdLst>
                    <a:gd name="T0" fmla="*/ 0 w 17"/>
                    <a:gd name="T1" fmla="*/ 92 h 183"/>
                    <a:gd name="T2" fmla="*/ 0 w 17"/>
                    <a:gd name="T3" fmla="*/ 0 h 183"/>
                    <a:gd name="T4" fmla="*/ 17 w 17"/>
                    <a:gd name="T5" fmla="*/ 0 h 183"/>
                    <a:gd name="T6" fmla="*/ 17 w 17"/>
                    <a:gd name="T7" fmla="*/ 183 h 183"/>
                    <a:gd name="T8" fmla="*/ 0 w 17"/>
                    <a:gd name="T9" fmla="*/ 92 h 183"/>
                  </a:gdLst>
                  <a:ahLst/>
                  <a:cxnLst>
                    <a:cxn ang="0">
                      <a:pos x="T0" y="T1"/>
                    </a:cxn>
                    <a:cxn ang="0">
                      <a:pos x="T2" y="T3"/>
                    </a:cxn>
                    <a:cxn ang="0">
                      <a:pos x="T4" y="T5"/>
                    </a:cxn>
                    <a:cxn ang="0">
                      <a:pos x="T6" y="T7"/>
                    </a:cxn>
                    <a:cxn ang="0">
                      <a:pos x="T8" y="T9"/>
                    </a:cxn>
                  </a:cxnLst>
                  <a:rect l="0" t="0" r="r" b="b"/>
                  <a:pathLst>
                    <a:path w="17" h="183">
                      <a:moveTo>
                        <a:pt x="0" y="92"/>
                      </a:moveTo>
                      <a:lnTo>
                        <a:pt x="0" y="0"/>
                      </a:lnTo>
                      <a:lnTo>
                        <a:pt x="17" y="0"/>
                      </a:lnTo>
                      <a:lnTo>
                        <a:pt x="17" y="183"/>
                      </a:lnTo>
                      <a:lnTo>
                        <a:pt x="0" y="9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97" name="Freeform 4385"/>
                <p:cNvSpPr>
                  <a:spLocks noChangeAspect="1"/>
                </p:cNvSpPr>
                <p:nvPr/>
              </p:nvSpPr>
              <p:spPr bwMode="auto">
                <a:xfrm>
                  <a:off x="2679" y="2287"/>
                  <a:ext cx="5" cy="60"/>
                </a:xfrm>
                <a:custGeom>
                  <a:avLst/>
                  <a:gdLst>
                    <a:gd name="T0" fmla="*/ 0 w 17"/>
                    <a:gd name="T1" fmla="*/ 137 h 228"/>
                    <a:gd name="T2" fmla="*/ 0 w 17"/>
                    <a:gd name="T3" fmla="*/ 0 h 228"/>
                    <a:gd name="T4" fmla="*/ 17 w 17"/>
                    <a:gd name="T5" fmla="*/ 0 h 228"/>
                    <a:gd name="T6" fmla="*/ 17 w 17"/>
                    <a:gd name="T7" fmla="*/ 228 h 228"/>
                    <a:gd name="T8" fmla="*/ 0 w 17"/>
                    <a:gd name="T9" fmla="*/ 137 h 228"/>
                  </a:gdLst>
                  <a:ahLst/>
                  <a:cxnLst>
                    <a:cxn ang="0">
                      <a:pos x="T0" y="T1"/>
                    </a:cxn>
                    <a:cxn ang="0">
                      <a:pos x="T2" y="T3"/>
                    </a:cxn>
                    <a:cxn ang="0">
                      <a:pos x="T4" y="T5"/>
                    </a:cxn>
                    <a:cxn ang="0">
                      <a:pos x="T6" y="T7"/>
                    </a:cxn>
                    <a:cxn ang="0">
                      <a:pos x="T8" y="T9"/>
                    </a:cxn>
                  </a:cxnLst>
                  <a:rect l="0" t="0" r="r" b="b"/>
                  <a:pathLst>
                    <a:path w="17" h="228">
                      <a:moveTo>
                        <a:pt x="0" y="137"/>
                      </a:moveTo>
                      <a:lnTo>
                        <a:pt x="0" y="0"/>
                      </a:lnTo>
                      <a:lnTo>
                        <a:pt x="17" y="0"/>
                      </a:lnTo>
                      <a:lnTo>
                        <a:pt x="17" y="228"/>
                      </a:lnTo>
                      <a:lnTo>
                        <a:pt x="0" y="13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98" name="Freeform 4386"/>
                <p:cNvSpPr>
                  <a:spLocks noChangeAspect="1"/>
                </p:cNvSpPr>
                <p:nvPr/>
              </p:nvSpPr>
              <p:spPr bwMode="auto">
                <a:xfrm>
                  <a:off x="2681" y="2287"/>
                  <a:ext cx="2" cy="73"/>
                </a:xfrm>
                <a:custGeom>
                  <a:avLst/>
                  <a:gdLst>
                    <a:gd name="T0" fmla="*/ 0 w 18"/>
                    <a:gd name="T1" fmla="*/ 183 h 274"/>
                    <a:gd name="T2" fmla="*/ 0 w 18"/>
                    <a:gd name="T3" fmla="*/ 0 h 274"/>
                    <a:gd name="T4" fmla="*/ 18 w 18"/>
                    <a:gd name="T5" fmla="*/ 0 h 274"/>
                    <a:gd name="T6" fmla="*/ 18 w 18"/>
                    <a:gd name="T7" fmla="*/ 274 h 274"/>
                    <a:gd name="T8" fmla="*/ 0 w 18"/>
                    <a:gd name="T9" fmla="*/ 183 h 274"/>
                  </a:gdLst>
                  <a:ahLst/>
                  <a:cxnLst>
                    <a:cxn ang="0">
                      <a:pos x="T0" y="T1"/>
                    </a:cxn>
                    <a:cxn ang="0">
                      <a:pos x="T2" y="T3"/>
                    </a:cxn>
                    <a:cxn ang="0">
                      <a:pos x="T4" y="T5"/>
                    </a:cxn>
                    <a:cxn ang="0">
                      <a:pos x="T6" y="T7"/>
                    </a:cxn>
                    <a:cxn ang="0">
                      <a:pos x="T8" y="T9"/>
                    </a:cxn>
                  </a:cxnLst>
                  <a:rect l="0" t="0" r="r" b="b"/>
                  <a:pathLst>
                    <a:path w="18" h="274">
                      <a:moveTo>
                        <a:pt x="0" y="183"/>
                      </a:moveTo>
                      <a:lnTo>
                        <a:pt x="0" y="0"/>
                      </a:lnTo>
                      <a:lnTo>
                        <a:pt x="18" y="0"/>
                      </a:lnTo>
                      <a:lnTo>
                        <a:pt x="18" y="274"/>
                      </a:lnTo>
                      <a:lnTo>
                        <a:pt x="0" y="183"/>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899" name="Freeform 4387"/>
                <p:cNvSpPr>
                  <a:spLocks noChangeAspect="1"/>
                </p:cNvSpPr>
                <p:nvPr/>
              </p:nvSpPr>
              <p:spPr bwMode="auto">
                <a:xfrm>
                  <a:off x="2684" y="2287"/>
                  <a:ext cx="3" cy="85"/>
                </a:xfrm>
                <a:custGeom>
                  <a:avLst/>
                  <a:gdLst>
                    <a:gd name="T0" fmla="*/ 0 w 17"/>
                    <a:gd name="T1" fmla="*/ 228 h 319"/>
                    <a:gd name="T2" fmla="*/ 0 w 17"/>
                    <a:gd name="T3" fmla="*/ 0 h 319"/>
                    <a:gd name="T4" fmla="*/ 17 w 17"/>
                    <a:gd name="T5" fmla="*/ 0 h 319"/>
                    <a:gd name="T6" fmla="*/ 17 w 17"/>
                    <a:gd name="T7" fmla="*/ 319 h 319"/>
                    <a:gd name="T8" fmla="*/ 0 w 17"/>
                    <a:gd name="T9" fmla="*/ 228 h 319"/>
                  </a:gdLst>
                  <a:ahLst/>
                  <a:cxnLst>
                    <a:cxn ang="0">
                      <a:pos x="T0" y="T1"/>
                    </a:cxn>
                    <a:cxn ang="0">
                      <a:pos x="T2" y="T3"/>
                    </a:cxn>
                    <a:cxn ang="0">
                      <a:pos x="T4" y="T5"/>
                    </a:cxn>
                    <a:cxn ang="0">
                      <a:pos x="T6" y="T7"/>
                    </a:cxn>
                    <a:cxn ang="0">
                      <a:pos x="T8" y="T9"/>
                    </a:cxn>
                  </a:cxnLst>
                  <a:rect l="0" t="0" r="r" b="b"/>
                  <a:pathLst>
                    <a:path w="17" h="319">
                      <a:moveTo>
                        <a:pt x="0" y="228"/>
                      </a:moveTo>
                      <a:lnTo>
                        <a:pt x="0" y="0"/>
                      </a:lnTo>
                      <a:lnTo>
                        <a:pt x="17" y="0"/>
                      </a:lnTo>
                      <a:lnTo>
                        <a:pt x="17" y="319"/>
                      </a:lnTo>
                      <a:lnTo>
                        <a:pt x="0" y="22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00" name="Freeform 4388"/>
                <p:cNvSpPr>
                  <a:spLocks noChangeAspect="1"/>
                </p:cNvSpPr>
                <p:nvPr/>
              </p:nvSpPr>
              <p:spPr bwMode="auto">
                <a:xfrm>
                  <a:off x="2685" y="2287"/>
                  <a:ext cx="6" cy="97"/>
                </a:xfrm>
                <a:custGeom>
                  <a:avLst/>
                  <a:gdLst>
                    <a:gd name="T0" fmla="*/ 0 w 15"/>
                    <a:gd name="T1" fmla="*/ 274 h 365"/>
                    <a:gd name="T2" fmla="*/ 0 w 15"/>
                    <a:gd name="T3" fmla="*/ 0 h 365"/>
                    <a:gd name="T4" fmla="*/ 15 w 15"/>
                    <a:gd name="T5" fmla="*/ 0 h 365"/>
                    <a:gd name="T6" fmla="*/ 15 w 15"/>
                    <a:gd name="T7" fmla="*/ 365 h 365"/>
                    <a:gd name="T8" fmla="*/ 0 w 15"/>
                    <a:gd name="T9" fmla="*/ 274 h 365"/>
                  </a:gdLst>
                  <a:ahLst/>
                  <a:cxnLst>
                    <a:cxn ang="0">
                      <a:pos x="T0" y="T1"/>
                    </a:cxn>
                    <a:cxn ang="0">
                      <a:pos x="T2" y="T3"/>
                    </a:cxn>
                    <a:cxn ang="0">
                      <a:pos x="T4" y="T5"/>
                    </a:cxn>
                    <a:cxn ang="0">
                      <a:pos x="T6" y="T7"/>
                    </a:cxn>
                    <a:cxn ang="0">
                      <a:pos x="T8" y="T9"/>
                    </a:cxn>
                  </a:cxnLst>
                  <a:rect l="0" t="0" r="r" b="b"/>
                  <a:pathLst>
                    <a:path w="15" h="365">
                      <a:moveTo>
                        <a:pt x="0" y="274"/>
                      </a:moveTo>
                      <a:lnTo>
                        <a:pt x="0" y="0"/>
                      </a:lnTo>
                      <a:lnTo>
                        <a:pt x="15" y="0"/>
                      </a:lnTo>
                      <a:lnTo>
                        <a:pt x="15" y="365"/>
                      </a:lnTo>
                      <a:lnTo>
                        <a:pt x="0" y="27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01" name="Freeform 4389"/>
                <p:cNvSpPr>
                  <a:spLocks noChangeAspect="1"/>
                </p:cNvSpPr>
                <p:nvPr/>
              </p:nvSpPr>
              <p:spPr bwMode="auto">
                <a:xfrm>
                  <a:off x="2687" y="2287"/>
                  <a:ext cx="3" cy="108"/>
                </a:xfrm>
                <a:custGeom>
                  <a:avLst/>
                  <a:gdLst>
                    <a:gd name="T0" fmla="*/ 0 w 16"/>
                    <a:gd name="T1" fmla="*/ 319 h 411"/>
                    <a:gd name="T2" fmla="*/ 0 w 16"/>
                    <a:gd name="T3" fmla="*/ 0 h 411"/>
                    <a:gd name="T4" fmla="*/ 16 w 16"/>
                    <a:gd name="T5" fmla="*/ 0 h 411"/>
                    <a:gd name="T6" fmla="*/ 16 w 16"/>
                    <a:gd name="T7" fmla="*/ 411 h 411"/>
                    <a:gd name="T8" fmla="*/ 0 w 16"/>
                    <a:gd name="T9" fmla="*/ 319 h 411"/>
                  </a:gdLst>
                  <a:ahLst/>
                  <a:cxnLst>
                    <a:cxn ang="0">
                      <a:pos x="T0" y="T1"/>
                    </a:cxn>
                    <a:cxn ang="0">
                      <a:pos x="T2" y="T3"/>
                    </a:cxn>
                    <a:cxn ang="0">
                      <a:pos x="T4" y="T5"/>
                    </a:cxn>
                    <a:cxn ang="0">
                      <a:pos x="T6" y="T7"/>
                    </a:cxn>
                    <a:cxn ang="0">
                      <a:pos x="T8" y="T9"/>
                    </a:cxn>
                  </a:cxnLst>
                  <a:rect l="0" t="0" r="r" b="b"/>
                  <a:pathLst>
                    <a:path w="16" h="411">
                      <a:moveTo>
                        <a:pt x="0" y="319"/>
                      </a:moveTo>
                      <a:lnTo>
                        <a:pt x="0" y="0"/>
                      </a:lnTo>
                      <a:lnTo>
                        <a:pt x="16" y="0"/>
                      </a:lnTo>
                      <a:lnTo>
                        <a:pt x="16" y="411"/>
                      </a:lnTo>
                      <a:lnTo>
                        <a:pt x="0" y="319"/>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02" name="Freeform 4390"/>
                <p:cNvSpPr>
                  <a:spLocks noChangeAspect="1"/>
                </p:cNvSpPr>
                <p:nvPr/>
              </p:nvSpPr>
              <p:spPr bwMode="auto">
                <a:xfrm>
                  <a:off x="2689" y="2287"/>
                  <a:ext cx="5" cy="121"/>
                </a:xfrm>
                <a:custGeom>
                  <a:avLst/>
                  <a:gdLst>
                    <a:gd name="T0" fmla="*/ 0 w 18"/>
                    <a:gd name="T1" fmla="*/ 365 h 456"/>
                    <a:gd name="T2" fmla="*/ 0 w 18"/>
                    <a:gd name="T3" fmla="*/ 0 h 456"/>
                    <a:gd name="T4" fmla="*/ 18 w 18"/>
                    <a:gd name="T5" fmla="*/ 0 h 456"/>
                    <a:gd name="T6" fmla="*/ 18 w 18"/>
                    <a:gd name="T7" fmla="*/ 456 h 456"/>
                    <a:gd name="T8" fmla="*/ 0 w 18"/>
                    <a:gd name="T9" fmla="*/ 365 h 456"/>
                  </a:gdLst>
                  <a:ahLst/>
                  <a:cxnLst>
                    <a:cxn ang="0">
                      <a:pos x="T0" y="T1"/>
                    </a:cxn>
                    <a:cxn ang="0">
                      <a:pos x="T2" y="T3"/>
                    </a:cxn>
                    <a:cxn ang="0">
                      <a:pos x="T4" y="T5"/>
                    </a:cxn>
                    <a:cxn ang="0">
                      <a:pos x="T6" y="T7"/>
                    </a:cxn>
                    <a:cxn ang="0">
                      <a:pos x="T8" y="T9"/>
                    </a:cxn>
                  </a:cxnLst>
                  <a:rect l="0" t="0" r="r" b="b"/>
                  <a:pathLst>
                    <a:path w="18" h="456">
                      <a:moveTo>
                        <a:pt x="0" y="365"/>
                      </a:moveTo>
                      <a:lnTo>
                        <a:pt x="0" y="0"/>
                      </a:lnTo>
                      <a:lnTo>
                        <a:pt x="18" y="0"/>
                      </a:lnTo>
                      <a:lnTo>
                        <a:pt x="18" y="456"/>
                      </a:lnTo>
                      <a:lnTo>
                        <a:pt x="0" y="365"/>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03" name="Freeform 4391"/>
                <p:cNvSpPr>
                  <a:spLocks noChangeAspect="1"/>
                </p:cNvSpPr>
                <p:nvPr/>
              </p:nvSpPr>
              <p:spPr bwMode="auto">
                <a:xfrm>
                  <a:off x="2691" y="2287"/>
                  <a:ext cx="7" cy="134"/>
                </a:xfrm>
                <a:custGeom>
                  <a:avLst/>
                  <a:gdLst>
                    <a:gd name="T0" fmla="*/ 0 w 17"/>
                    <a:gd name="T1" fmla="*/ 411 h 502"/>
                    <a:gd name="T2" fmla="*/ 0 w 17"/>
                    <a:gd name="T3" fmla="*/ 0 h 502"/>
                    <a:gd name="T4" fmla="*/ 17 w 17"/>
                    <a:gd name="T5" fmla="*/ 0 h 502"/>
                    <a:gd name="T6" fmla="*/ 17 w 17"/>
                    <a:gd name="T7" fmla="*/ 502 h 502"/>
                    <a:gd name="T8" fmla="*/ 0 w 17"/>
                    <a:gd name="T9" fmla="*/ 411 h 502"/>
                  </a:gdLst>
                  <a:ahLst/>
                  <a:cxnLst>
                    <a:cxn ang="0">
                      <a:pos x="T0" y="T1"/>
                    </a:cxn>
                    <a:cxn ang="0">
                      <a:pos x="T2" y="T3"/>
                    </a:cxn>
                    <a:cxn ang="0">
                      <a:pos x="T4" y="T5"/>
                    </a:cxn>
                    <a:cxn ang="0">
                      <a:pos x="T6" y="T7"/>
                    </a:cxn>
                    <a:cxn ang="0">
                      <a:pos x="T8" y="T9"/>
                    </a:cxn>
                  </a:cxnLst>
                  <a:rect l="0" t="0" r="r" b="b"/>
                  <a:pathLst>
                    <a:path w="17" h="502">
                      <a:moveTo>
                        <a:pt x="0" y="411"/>
                      </a:moveTo>
                      <a:lnTo>
                        <a:pt x="0" y="0"/>
                      </a:lnTo>
                      <a:lnTo>
                        <a:pt x="17" y="0"/>
                      </a:lnTo>
                      <a:lnTo>
                        <a:pt x="17" y="502"/>
                      </a:lnTo>
                      <a:lnTo>
                        <a:pt x="0" y="41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04" name="Freeform 4392"/>
                <p:cNvSpPr>
                  <a:spLocks noChangeAspect="1"/>
                </p:cNvSpPr>
                <p:nvPr/>
              </p:nvSpPr>
              <p:spPr bwMode="auto">
                <a:xfrm>
                  <a:off x="2694" y="2287"/>
                  <a:ext cx="3" cy="145"/>
                </a:xfrm>
                <a:custGeom>
                  <a:avLst/>
                  <a:gdLst>
                    <a:gd name="T0" fmla="*/ 0 w 17"/>
                    <a:gd name="T1" fmla="*/ 456 h 548"/>
                    <a:gd name="T2" fmla="*/ 0 w 17"/>
                    <a:gd name="T3" fmla="*/ 0 h 548"/>
                    <a:gd name="T4" fmla="*/ 17 w 17"/>
                    <a:gd name="T5" fmla="*/ 0 h 548"/>
                    <a:gd name="T6" fmla="*/ 17 w 17"/>
                    <a:gd name="T7" fmla="*/ 548 h 548"/>
                    <a:gd name="T8" fmla="*/ 0 w 17"/>
                    <a:gd name="T9" fmla="*/ 456 h 548"/>
                  </a:gdLst>
                  <a:ahLst/>
                  <a:cxnLst>
                    <a:cxn ang="0">
                      <a:pos x="T0" y="T1"/>
                    </a:cxn>
                    <a:cxn ang="0">
                      <a:pos x="T2" y="T3"/>
                    </a:cxn>
                    <a:cxn ang="0">
                      <a:pos x="T4" y="T5"/>
                    </a:cxn>
                    <a:cxn ang="0">
                      <a:pos x="T6" y="T7"/>
                    </a:cxn>
                    <a:cxn ang="0">
                      <a:pos x="T8" y="T9"/>
                    </a:cxn>
                  </a:cxnLst>
                  <a:rect l="0" t="0" r="r" b="b"/>
                  <a:pathLst>
                    <a:path w="17" h="548">
                      <a:moveTo>
                        <a:pt x="0" y="456"/>
                      </a:moveTo>
                      <a:lnTo>
                        <a:pt x="0" y="0"/>
                      </a:lnTo>
                      <a:lnTo>
                        <a:pt x="17" y="0"/>
                      </a:lnTo>
                      <a:lnTo>
                        <a:pt x="17" y="548"/>
                      </a:lnTo>
                      <a:lnTo>
                        <a:pt x="0" y="45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05" name="Freeform 4393"/>
                <p:cNvSpPr>
                  <a:spLocks noChangeAspect="1"/>
                </p:cNvSpPr>
                <p:nvPr/>
              </p:nvSpPr>
              <p:spPr bwMode="auto">
                <a:xfrm>
                  <a:off x="2696" y="2287"/>
                  <a:ext cx="1" cy="157"/>
                </a:xfrm>
                <a:custGeom>
                  <a:avLst/>
                  <a:gdLst>
                    <a:gd name="T0" fmla="*/ 0 w 17"/>
                    <a:gd name="T1" fmla="*/ 502 h 592"/>
                    <a:gd name="T2" fmla="*/ 0 w 17"/>
                    <a:gd name="T3" fmla="*/ 0 h 592"/>
                    <a:gd name="T4" fmla="*/ 17 w 17"/>
                    <a:gd name="T5" fmla="*/ 0 h 592"/>
                    <a:gd name="T6" fmla="*/ 17 w 17"/>
                    <a:gd name="T7" fmla="*/ 592 h 592"/>
                    <a:gd name="T8" fmla="*/ 0 w 17"/>
                    <a:gd name="T9" fmla="*/ 502 h 592"/>
                  </a:gdLst>
                  <a:ahLst/>
                  <a:cxnLst>
                    <a:cxn ang="0">
                      <a:pos x="T0" y="T1"/>
                    </a:cxn>
                    <a:cxn ang="0">
                      <a:pos x="T2" y="T3"/>
                    </a:cxn>
                    <a:cxn ang="0">
                      <a:pos x="T4" y="T5"/>
                    </a:cxn>
                    <a:cxn ang="0">
                      <a:pos x="T6" y="T7"/>
                    </a:cxn>
                    <a:cxn ang="0">
                      <a:pos x="T8" y="T9"/>
                    </a:cxn>
                  </a:cxnLst>
                  <a:rect l="0" t="0" r="r" b="b"/>
                  <a:pathLst>
                    <a:path w="17" h="592">
                      <a:moveTo>
                        <a:pt x="0" y="502"/>
                      </a:moveTo>
                      <a:lnTo>
                        <a:pt x="0" y="0"/>
                      </a:lnTo>
                      <a:lnTo>
                        <a:pt x="17" y="0"/>
                      </a:lnTo>
                      <a:lnTo>
                        <a:pt x="17" y="592"/>
                      </a:lnTo>
                      <a:lnTo>
                        <a:pt x="0" y="50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06" name="Freeform 4394"/>
                <p:cNvSpPr>
                  <a:spLocks noChangeAspect="1"/>
                </p:cNvSpPr>
                <p:nvPr/>
              </p:nvSpPr>
              <p:spPr bwMode="auto">
                <a:xfrm>
                  <a:off x="2698" y="2287"/>
                  <a:ext cx="7" cy="169"/>
                </a:xfrm>
                <a:custGeom>
                  <a:avLst/>
                  <a:gdLst>
                    <a:gd name="T0" fmla="*/ 0 w 16"/>
                    <a:gd name="T1" fmla="*/ 548 h 638"/>
                    <a:gd name="T2" fmla="*/ 0 w 16"/>
                    <a:gd name="T3" fmla="*/ 0 h 638"/>
                    <a:gd name="T4" fmla="*/ 16 w 16"/>
                    <a:gd name="T5" fmla="*/ 0 h 638"/>
                    <a:gd name="T6" fmla="*/ 16 w 16"/>
                    <a:gd name="T7" fmla="*/ 638 h 638"/>
                    <a:gd name="T8" fmla="*/ 0 w 16"/>
                    <a:gd name="T9" fmla="*/ 548 h 638"/>
                  </a:gdLst>
                  <a:ahLst/>
                  <a:cxnLst>
                    <a:cxn ang="0">
                      <a:pos x="T0" y="T1"/>
                    </a:cxn>
                    <a:cxn ang="0">
                      <a:pos x="T2" y="T3"/>
                    </a:cxn>
                    <a:cxn ang="0">
                      <a:pos x="T4" y="T5"/>
                    </a:cxn>
                    <a:cxn ang="0">
                      <a:pos x="T6" y="T7"/>
                    </a:cxn>
                    <a:cxn ang="0">
                      <a:pos x="T8" y="T9"/>
                    </a:cxn>
                  </a:cxnLst>
                  <a:rect l="0" t="0" r="r" b="b"/>
                  <a:pathLst>
                    <a:path w="16" h="638">
                      <a:moveTo>
                        <a:pt x="0" y="548"/>
                      </a:moveTo>
                      <a:lnTo>
                        <a:pt x="0" y="0"/>
                      </a:lnTo>
                      <a:lnTo>
                        <a:pt x="16" y="0"/>
                      </a:lnTo>
                      <a:lnTo>
                        <a:pt x="16" y="638"/>
                      </a:lnTo>
                      <a:lnTo>
                        <a:pt x="0" y="54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07" name="Freeform 4395"/>
                <p:cNvSpPr>
                  <a:spLocks noChangeAspect="1"/>
                </p:cNvSpPr>
                <p:nvPr/>
              </p:nvSpPr>
              <p:spPr bwMode="auto">
                <a:xfrm>
                  <a:off x="2700" y="2287"/>
                  <a:ext cx="5" cy="180"/>
                </a:xfrm>
                <a:custGeom>
                  <a:avLst/>
                  <a:gdLst>
                    <a:gd name="T0" fmla="*/ 0 w 16"/>
                    <a:gd name="T1" fmla="*/ 592 h 684"/>
                    <a:gd name="T2" fmla="*/ 0 w 16"/>
                    <a:gd name="T3" fmla="*/ 0 h 684"/>
                    <a:gd name="T4" fmla="*/ 16 w 16"/>
                    <a:gd name="T5" fmla="*/ 0 h 684"/>
                    <a:gd name="T6" fmla="*/ 16 w 16"/>
                    <a:gd name="T7" fmla="*/ 684 h 684"/>
                    <a:gd name="T8" fmla="*/ 0 w 16"/>
                    <a:gd name="T9" fmla="*/ 592 h 684"/>
                  </a:gdLst>
                  <a:ahLst/>
                  <a:cxnLst>
                    <a:cxn ang="0">
                      <a:pos x="T0" y="T1"/>
                    </a:cxn>
                    <a:cxn ang="0">
                      <a:pos x="T2" y="T3"/>
                    </a:cxn>
                    <a:cxn ang="0">
                      <a:pos x="T4" y="T5"/>
                    </a:cxn>
                    <a:cxn ang="0">
                      <a:pos x="T6" y="T7"/>
                    </a:cxn>
                    <a:cxn ang="0">
                      <a:pos x="T8" y="T9"/>
                    </a:cxn>
                  </a:cxnLst>
                  <a:rect l="0" t="0" r="r" b="b"/>
                  <a:pathLst>
                    <a:path w="16" h="684">
                      <a:moveTo>
                        <a:pt x="0" y="592"/>
                      </a:moveTo>
                      <a:lnTo>
                        <a:pt x="0" y="0"/>
                      </a:lnTo>
                      <a:lnTo>
                        <a:pt x="16" y="0"/>
                      </a:lnTo>
                      <a:lnTo>
                        <a:pt x="16" y="684"/>
                      </a:lnTo>
                      <a:lnTo>
                        <a:pt x="0" y="59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08" name="Freeform 4396"/>
                <p:cNvSpPr>
                  <a:spLocks noChangeAspect="1"/>
                </p:cNvSpPr>
                <p:nvPr/>
              </p:nvSpPr>
              <p:spPr bwMode="auto">
                <a:xfrm>
                  <a:off x="2702" y="2287"/>
                  <a:ext cx="2" cy="193"/>
                </a:xfrm>
                <a:custGeom>
                  <a:avLst/>
                  <a:gdLst>
                    <a:gd name="T0" fmla="*/ 0 w 17"/>
                    <a:gd name="T1" fmla="*/ 638 h 730"/>
                    <a:gd name="T2" fmla="*/ 0 w 17"/>
                    <a:gd name="T3" fmla="*/ 0 h 730"/>
                    <a:gd name="T4" fmla="*/ 17 w 17"/>
                    <a:gd name="T5" fmla="*/ 0 h 730"/>
                    <a:gd name="T6" fmla="*/ 17 w 17"/>
                    <a:gd name="T7" fmla="*/ 730 h 730"/>
                    <a:gd name="T8" fmla="*/ 0 w 17"/>
                    <a:gd name="T9" fmla="*/ 638 h 730"/>
                  </a:gdLst>
                  <a:ahLst/>
                  <a:cxnLst>
                    <a:cxn ang="0">
                      <a:pos x="T0" y="T1"/>
                    </a:cxn>
                    <a:cxn ang="0">
                      <a:pos x="T2" y="T3"/>
                    </a:cxn>
                    <a:cxn ang="0">
                      <a:pos x="T4" y="T5"/>
                    </a:cxn>
                    <a:cxn ang="0">
                      <a:pos x="T6" y="T7"/>
                    </a:cxn>
                    <a:cxn ang="0">
                      <a:pos x="T8" y="T9"/>
                    </a:cxn>
                  </a:cxnLst>
                  <a:rect l="0" t="0" r="r" b="b"/>
                  <a:pathLst>
                    <a:path w="17" h="730">
                      <a:moveTo>
                        <a:pt x="0" y="638"/>
                      </a:moveTo>
                      <a:lnTo>
                        <a:pt x="0" y="0"/>
                      </a:lnTo>
                      <a:lnTo>
                        <a:pt x="17" y="0"/>
                      </a:lnTo>
                      <a:lnTo>
                        <a:pt x="17" y="730"/>
                      </a:lnTo>
                      <a:lnTo>
                        <a:pt x="0" y="63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09" name="Freeform 4397"/>
                <p:cNvSpPr>
                  <a:spLocks noChangeAspect="1"/>
                </p:cNvSpPr>
                <p:nvPr/>
              </p:nvSpPr>
              <p:spPr bwMode="auto">
                <a:xfrm>
                  <a:off x="2705" y="2287"/>
                  <a:ext cx="7" cy="206"/>
                </a:xfrm>
                <a:custGeom>
                  <a:avLst/>
                  <a:gdLst>
                    <a:gd name="T0" fmla="*/ 0 w 17"/>
                    <a:gd name="T1" fmla="*/ 684 h 775"/>
                    <a:gd name="T2" fmla="*/ 0 w 17"/>
                    <a:gd name="T3" fmla="*/ 0 h 775"/>
                    <a:gd name="T4" fmla="*/ 17 w 17"/>
                    <a:gd name="T5" fmla="*/ 0 h 775"/>
                    <a:gd name="T6" fmla="*/ 17 w 17"/>
                    <a:gd name="T7" fmla="*/ 775 h 775"/>
                    <a:gd name="T8" fmla="*/ 0 w 17"/>
                    <a:gd name="T9" fmla="*/ 684 h 775"/>
                  </a:gdLst>
                  <a:ahLst/>
                  <a:cxnLst>
                    <a:cxn ang="0">
                      <a:pos x="T0" y="T1"/>
                    </a:cxn>
                    <a:cxn ang="0">
                      <a:pos x="T2" y="T3"/>
                    </a:cxn>
                    <a:cxn ang="0">
                      <a:pos x="T4" y="T5"/>
                    </a:cxn>
                    <a:cxn ang="0">
                      <a:pos x="T6" y="T7"/>
                    </a:cxn>
                    <a:cxn ang="0">
                      <a:pos x="T8" y="T9"/>
                    </a:cxn>
                  </a:cxnLst>
                  <a:rect l="0" t="0" r="r" b="b"/>
                  <a:pathLst>
                    <a:path w="17" h="775">
                      <a:moveTo>
                        <a:pt x="0" y="684"/>
                      </a:moveTo>
                      <a:lnTo>
                        <a:pt x="0" y="0"/>
                      </a:lnTo>
                      <a:lnTo>
                        <a:pt x="17" y="0"/>
                      </a:lnTo>
                      <a:lnTo>
                        <a:pt x="17" y="775"/>
                      </a:lnTo>
                      <a:lnTo>
                        <a:pt x="0" y="68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10" name="Freeform 4398"/>
                <p:cNvSpPr>
                  <a:spLocks noChangeAspect="1"/>
                </p:cNvSpPr>
                <p:nvPr/>
              </p:nvSpPr>
              <p:spPr bwMode="auto">
                <a:xfrm>
                  <a:off x="2706" y="2287"/>
                  <a:ext cx="6" cy="219"/>
                </a:xfrm>
                <a:custGeom>
                  <a:avLst/>
                  <a:gdLst>
                    <a:gd name="T0" fmla="*/ 0 w 17"/>
                    <a:gd name="T1" fmla="*/ 730 h 821"/>
                    <a:gd name="T2" fmla="*/ 0 w 17"/>
                    <a:gd name="T3" fmla="*/ 0 h 821"/>
                    <a:gd name="T4" fmla="*/ 17 w 17"/>
                    <a:gd name="T5" fmla="*/ 0 h 821"/>
                    <a:gd name="T6" fmla="*/ 17 w 17"/>
                    <a:gd name="T7" fmla="*/ 821 h 821"/>
                    <a:gd name="T8" fmla="*/ 0 w 17"/>
                    <a:gd name="T9" fmla="*/ 730 h 821"/>
                  </a:gdLst>
                  <a:ahLst/>
                  <a:cxnLst>
                    <a:cxn ang="0">
                      <a:pos x="T0" y="T1"/>
                    </a:cxn>
                    <a:cxn ang="0">
                      <a:pos x="T2" y="T3"/>
                    </a:cxn>
                    <a:cxn ang="0">
                      <a:pos x="T4" y="T5"/>
                    </a:cxn>
                    <a:cxn ang="0">
                      <a:pos x="T6" y="T7"/>
                    </a:cxn>
                    <a:cxn ang="0">
                      <a:pos x="T8" y="T9"/>
                    </a:cxn>
                  </a:cxnLst>
                  <a:rect l="0" t="0" r="r" b="b"/>
                  <a:pathLst>
                    <a:path w="17" h="821">
                      <a:moveTo>
                        <a:pt x="0" y="730"/>
                      </a:moveTo>
                      <a:lnTo>
                        <a:pt x="0" y="0"/>
                      </a:lnTo>
                      <a:lnTo>
                        <a:pt x="17" y="0"/>
                      </a:lnTo>
                      <a:lnTo>
                        <a:pt x="17" y="821"/>
                      </a:lnTo>
                      <a:lnTo>
                        <a:pt x="0" y="73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11" name="Freeform 4399"/>
                <p:cNvSpPr>
                  <a:spLocks noChangeAspect="1"/>
                </p:cNvSpPr>
                <p:nvPr/>
              </p:nvSpPr>
              <p:spPr bwMode="auto">
                <a:xfrm>
                  <a:off x="2709" y="2287"/>
                  <a:ext cx="2" cy="229"/>
                </a:xfrm>
                <a:custGeom>
                  <a:avLst/>
                  <a:gdLst>
                    <a:gd name="T0" fmla="*/ 0 w 16"/>
                    <a:gd name="T1" fmla="*/ 775 h 867"/>
                    <a:gd name="T2" fmla="*/ 0 w 16"/>
                    <a:gd name="T3" fmla="*/ 0 h 867"/>
                    <a:gd name="T4" fmla="*/ 16 w 16"/>
                    <a:gd name="T5" fmla="*/ 0 h 867"/>
                    <a:gd name="T6" fmla="*/ 16 w 16"/>
                    <a:gd name="T7" fmla="*/ 867 h 867"/>
                    <a:gd name="T8" fmla="*/ 0 w 16"/>
                    <a:gd name="T9" fmla="*/ 775 h 867"/>
                  </a:gdLst>
                  <a:ahLst/>
                  <a:cxnLst>
                    <a:cxn ang="0">
                      <a:pos x="T0" y="T1"/>
                    </a:cxn>
                    <a:cxn ang="0">
                      <a:pos x="T2" y="T3"/>
                    </a:cxn>
                    <a:cxn ang="0">
                      <a:pos x="T4" y="T5"/>
                    </a:cxn>
                    <a:cxn ang="0">
                      <a:pos x="T6" y="T7"/>
                    </a:cxn>
                    <a:cxn ang="0">
                      <a:pos x="T8" y="T9"/>
                    </a:cxn>
                  </a:cxnLst>
                  <a:rect l="0" t="0" r="r" b="b"/>
                  <a:pathLst>
                    <a:path w="16" h="867">
                      <a:moveTo>
                        <a:pt x="0" y="775"/>
                      </a:moveTo>
                      <a:lnTo>
                        <a:pt x="0" y="0"/>
                      </a:lnTo>
                      <a:lnTo>
                        <a:pt x="16" y="0"/>
                      </a:lnTo>
                      <a:lnTo>
                        <a:pt x="16" y="867"/>
                      </a:lnTo>
                      <a:lnTo>
                        <a:pt x="0" y="775"/>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12" name="Freeform 4400"/>
                <p:cNvSpPr>
                  <a:spLocks noChangeAspect="1"/>
                </p:cNvSpPr>
                <p:nvPr/>
              </p:nvSpPr>
              <p:spPr bwMode="auto">
                <a:xfrm>
                  <a:off x="2712" y="2287"/>
                  <a:ext cx="3" cy="241"/>
                </a:xfrm>
                <a:custGeom>
                  <a:avLst/>
                  <a:gdLst>
                    <a:gd name="T0" fmla="*/ 0 w 16"/>
                    <a:gd name="T1" fmla="*/ 821 h 913"/>
                    <a:gd name="T2" fmla="*/ 0 w 16"/>
                    <a:gd name="T3" fmla="*/ 0 h 913"/>
                    <a:gd name="T4" fmla="*/ 16 w 16"/>
                    <a:gd name="T5" fmla="*/ 0 h 913"/>
                    <a:gd name="T6" fmla="*/ 16 w 16"/>
                    <a:gd name="T7" fmla="*/ 913 h 913"/>
                    <a:gd name="T8" fmla="*/ 0 w 16"/>
                    <a:gd name="T9" fmla="*/ 821 h 913"/>
                  </a:gdLst>
                  <a:ahLst/>
                  <a:cxnLst>
                    <a:cxn ang="0">
                      <a:pos x="T0" y="T1"/>
                    </a:cxn>
                    <a:cxn ang="0">
                      <a:pos x="T2" y="T3"/>
                    </a:cxn>
                    <a:cxn ang="0">
                      <a:pos x="T4" y="T5"/>
                    </a:cxn>
                    <a:cxn ang="0">
                      <a:pos x="T6" y="T7"/>
                    </a:cxn>
                    <a:cxn ang="0">
                      <a:pos x="T8" y="T9"/>
                    </a:cxn>
                  </a:cxnLst>
                  <a:rect l="0" t="0" r="r" b="b"/>
                  <a:pathLst>
                    <a:path w="16" h="913">
                      <a:moveTo>
                        <a:pt x="0" y="821"/>
                      </a:moveTo>
                      <a:lnTo>
                        <a:pt x="0" y="0"/>
                      </a:lnTo>
                      <a:lnTo>
                        <a:pt x="16" y="0"/>
                      </a:lnTo>
                      <a:lnTo>
                        <a:pt x="16" y="913"/>
                      </a:lnTo>
                      <a:lnTo>
                        <a:pt x="0" y="82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13" name="Freeform 4401"/>
                <p:cNvSpPr>
                  <a:spLocks noChangeAspect="1"/>
                </p:cNvSpPr>
                <p:nvPr/>
              </p:nvSpPr>
              <p:spPr bwMode="auto">
                <a:xfrm>
                  <a:off x="2713" y="2287"/>
                  <a:ext cx="6" cy="252"/>
                </a:xfrm>
                <a:custGeom>
                  <a:avLst/>
                  <a:gdLst>
                    <a:gd name="T0" fmla="*/ 0 w 17"/>
                    <a:gd name="T1" fmla="*/ 867 h 957"/>
                    <a:gd name="T2" fmla="*/ 0 w 17"/>
                    <a:gd name="T3" fmla="*/ 0 h 957"/>
                    <a:gd name="T4" fmla="*/ 17 w 17"/>
                    <a:gd name="T5" fmla="*/ 0 h 957"/>
                    <a:gd name="T6" fmla="*/ 17 w 17"/>
                    <a:gd name="T7" fmla="*/ 957 h 957"/>
                    <a:gd name="T8" fmla="*/ 0 w 17"/>
                    <a:gd name="T9" fmla="*/ 867 h 957"/>
                  </a:gdLst>
                  <a:ahLst/>
                  <a:cxnLst>
                    <a:cxn ang="0">
                      <a:pos x="T0" y="T1"/>
                    </a:cxn>
                    <a:cxn ang="0">
                      <a:pos x="T2" y="T3"/>
                    </a:cxn>
                    <a:cxn ang="0">
                      <a:pos x="T4" y="T5"/>
                    </a:cxn>
                    <a:cxn ang="0">
                      <a:pos x="T6" y="T7"/>
                    </a:cxn>
                    <a:cxn ang="0">
                      <a:pos x="T8" y="T9"/>
                    </a:cxn>
                  </a:cxnLst>
                  <a:rect l="0" t="0" r="r" b="b"/>
                  <a:pathLst>
                    <a:path w="17" h="957">
                      <a:moveTo>
                        <a:pt x="0" y="867"/>
                      </a:moveTo>
                      <a:lnTo>
                        <a:pt x="0" y="0"/>
                      </a:lnTo>
                      <a:lnTo>
                        <a:pt x="17" y="0"/>
                      </a:lnTo>
                      <a:lnTo>
                        <a:pt x="17" y="957"/>
                      </a:lnTo>
                      <a:lnTo>
                        <a:pt x="0" y="86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14" name="Freeform 4402"/>
                <p:cNvSpPr>
                  <a:spLocks noChangeAspect="1"/>
                </p:cNvSpPr>
                <p:nvPr/>
              </p:nvSpPr>
              <p:spPr bwMode="auto">
                <a:xfrm>
                  <a:off x="2715" y="2287"/>
                  <a:ext cx="3" cy="265"/>
                </a:xfrm>
                <a:custGeom>
                  <a:avLst/>
                  <a:gdLst>
                    <a:gd name="T0" fmla="*/ 0 w 17"/>
                    <a:gd name="T1" fmla="*/ 913 h 1003"/>
                    <a:gd name="T2" fmla="*/ 0 w 17"/>
                    <a:gd name="T3" fmla="*/ 0 h 1003"/>
                    <a:gd name="T4" fmla="*/ 17 w 17"/>
                    <a:gd name="T5" fmla="*/ 0 h 1003"/>
                    <a:gd name="T6" fmla="*/ 17 w 17"/>
                    <a:gd name="T7" fmla="*/ 1003 h 1003"/>
                    <a:gd name="T8" fmla="*/ 0 w 17"/>
                    <a:gd name="T9" fmla="*/ 913 h 1003"/>
                  </a:gdLst>
                  <a:ahLst/>
                  <a:cxnLst>
                    <a:cxn ang="0">
                      <a:pos x="T0" y="T1"/>
                    </a:cxn>
                    <a:cxn ang="0">
                      <a:pos x="T2" y="T3"/>
                    </a:cxn>
                    <a:cxn ang="0">
                      <a:pos x="T4" y="T5"/>
                    </a:cxn>
                    <a:cxn ang="0">
                      <a:pos x="T6" y="T7"/>
                    </a:cxn>
                    <a:cxn ang="0">
                      <a:pos x="T8" y="T9"/>
                    </a:cxn>
                  </a:cxnLst>
                  <a:rect l="0" t="0" r="r" b="b"/>
                  <a:pathLst>
                    <a:path w="17" h="1003">
                      <a:moveTo>
                        <a:pt x="0" y="913"/>
                      </a:moveTo>
                      <a:lnTo>
                        <a:pt x="0" y="0"/>
                      </a:lnTo>
                      <a:lnTo>
                        <a:pt x="17" y="0"/>
                      </a:lnTo>
                      <a:lnTo>
                        <a:pt x="17" y="1003"/>
                      </a:lnTo>
                      <a:lnTo>
                        <a:pt x="0" y="913"/>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15" name="Freeform 4403"/>
                <p:cNvSpPr>
                  <a:spLocks noChangeAspect="1"/>
                </p:cNvSpPr>
                <p:nvPr/>
              </p:nvSpPr>
              <p:spPr bwMode="auto">
                <a:xfrm>
                  <a:off x="2717" y="2287"/>
                  <a:ext cx="1" cy="278"/>
                </a:xfrm>
                <a:custGeom>
                  <a:avLst/>
                  <a:gdLst>
                    <a:gd name="T0" fmla="*/ 0 w 17"/>
                    <a:gd name="T1" fmla="*/ 957 h 1049"/>
                    <a:gd name="T2" fmla="*/ 0 w 17"/>
                    <a:gd name="T3" fmla="*/ 0 h 1049"/>
                    <a:gd name="T4" fmla="*/ 17 w 17"/>
                    <a:gd name="T5" fmla="*/ 0 h 1049"/>
                    <a:gd name="T6" fmla="*/ 17 w 17"/>
                    <a:gd name="T7" fmla="*/ 1049 h 1049"/>
                    <a:gd name="T8" fmla="*/ 0 w 17"/>
                    <a:gd name="T9" fmla="*/ 957 h 1049"/>
                  </a:gdLst>
                  <a:ahLst/>
                  <a:cxnLst>
                    <a:cxn ang="0">
                      <a:pos x="T0" y="T1"/>
                    </a:cxn>
                    <a:cxn ang="0">
                      <a:pos x="T2" y="T3"/>
                    </a:cxn>
                    <a:cxn ang="0">
                      <a:pos x="T4" y="T5"/>
                    </a:cxn>
                    <a:cxn ang="0">
                      <a:pos x="T6" y="T7"/>
                    </a:cxn>
                    <a:cxn ang="0">
                      <a:pos x="T8" y="T9"/>
                    </a:cxn>
                  </a:cxnLst>
                  <a:rect l="0" t="0" r="r" b="b"/>
                  <a:pathLst>
                    <a:path w="17" h="1049">
                      <a:moveTo>
                        <a:pt x="0" y="957"/>
                      </a:moveTo>
                      <a:lnTo>
                        <a:pt x="0" y="0"/>
                      </a:lnTo>
                      <a:lnTo>
                        <a:pt x="17" y="0"/>
                      </a:lnTo>
                      <a:lnTo>
                        <a:pt x="17" y="1049"/>
                      </a:lnTo>
                      <a:lnTo>
                        <a:pt x="0" y="95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16" name="Freeform 4404"/>
                <p:cNvSpPr>
                  <a:spLocks noChangeAspect="1"/>
                </p:cNvSpPr>
                <p:nvPr/>
              </p:nvSpPr>
              <p:spPr bwMode="auto">
                <a:xfrm>
                  <a:off x="2719" y="2287"/>
                  <a:ext cx="7" cy="291"/>
                </a:xfrm>
                <a:custGeom>
                  <a:avLst/>
                  <a:gdLst>
                    <a:gd name="T0" fmla="*/ 0 w 17"/>
                    <a:gd name="T1" fmla="*/ 1003 h 1094"/>
                    <a:gd name="T2" fmla="*/ 0 w 17"/>
                    <a:gd name="T3" fmla="*/ 0 h 1094"/>
                    <a:gd name="T4" fmla="*/ 17 w 17"/>
                    <a:gd name="T5" fmla="*/ 0 h 1094"/>
                    <a:gd name="T6" fmla="*/ 17 w 17"/>
                    <a:gd name="T7" fmla="*/ 1094 h 1094"/>
                    <a:gd name="T8" fmla="*/ 0 w 17"/>
                    <a:gd name="T9" fmla="*/ 1003 h 1094"/>
                  </a:gdLst>
                  <a:ahLst/>
                  <a:cxnLst>
                    <a:cxn ang="0">
                      <a:pos x="T0" y="T1"/>
                    </a:cxn>
                    <a:cxn ang="0">
                      <a:pos x="T2" y="T3"/>
                    </a:cxn>
                    <a:cxn ang="0">
                      <a:pos x="T4" y="T5"/>
                    </a:cxn>
                    <a:cxn ang="0">
                      <a:pos x="T6" y="T7"/>
                    </a:cxn>
                    <a:cxn ang="0">
                      <a:pos x="T8" y="T9"/>
                    </a:cxn>
                  </a:cxnLst>
                  <a:rect l="0" t="0" r="r" b="b"/>
                  <a:pathLst>
                    <a:path w="17" h="1094">
                      <a:moveTo>
                        <a:pt x="0" y="1003"/>
                      </a:moveTo>
                      <a:lnTo>
                        <a:pt x="0" y="0"/>
                      </a:lnTo>
                      <a:lnTo>
                        <a:pt x="17" y="0"/>
                      </a:lnTo>
                      <a:lnTo>
                        <a:pt x="17" y="1094"/>
                      </a:lnTo>
                      <a:lnTo>
                        <a:pt x="0" y="1003"/>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17" name="Freeform 4405"/>
                <p:cNvSpPr>
                  <a:spLocks noChangeAspect="1"/>
                </p:cNvSpPr>
                <p:nvPr/>
              </p:nvSpPr>
              <p:spPr bwMode="auto">
                <a:xfrm>
                  <a:off x="2721" y="2287"/>
                  <a:ext cx="5" cy="304"/>
                </a:xfrm>
                <a:custGeom>
                  <a:avLst/>
                  <a:gdLst>
                    <a:gd name="T0" fmla="*/ 0 w 16"/>
                    <a:gd name="T1" fmla="*/ 1049 h 1140"/>
                    <a:gd name="T2" fmla="*/ 0 w 16"/>
                    <a:gd name="T3" fmla="*/ 0 h 1140"/>
                    <a:gd name="T4" fmla="*/ 16 w 16"/>
                    <a:gd name="T5" fmla="*/ 0 h 1140"/>
                    <a:gd name="T6" fmla="*/ 16 w 16"/>
                    <a:gd name="T7" fmla="*/ 1140 h 1140"/>
                    <a:gd name="T8" fmla="*/ 0 w 16"/>
                    <a:gd name="T9" fmla="*/ 1049 h 1140"/>
                  </a:gdLst>
                  <a:ahLst/>
                  <a:cxnLst>
                    <a:cxn ang="0">
                      <a:pos x="T0" y="T1"/>
                    </a:cxn>
                    <a:cxn ang="0">
                      <a:pos x="T2" y="T3"/>
                    </a:cxn>
                    <a:cxn ang="0">
                      <a:pos x="T4" y="T5"/>
                    </a:cxn>
                    <a:cxn ang="0">
                      <a:pos x="T6" y="T7"/>
                    </a:cxn>
                    <a:cxn ang="0">
                      <a:pos x="T8" y="T9"/>
                    </a:cxn>
                  </a:cxnLst>
                  <a:rect l="0" t="0" r="r" b="b"/>
                  <a:pathLst>
                    <a:path w="16" h="1140">
                      <a:moveTo>
                        <a:pt x="0" y="1049"/>
                      </a:moveTo>
                      <a:lnTo>
                        <a:pt x="0" y="0"/>
                      </a:lnTo>
                      <a:lnTo>
                        <a:pt x="16" y="0"/>
                      </a:lnTo>
                      <a:lnTo>
                        <a:pt x="16" y="1140"/>
                      </a:lnTo>
                      <a:lnTo>
                        <a:pt x="0" y="1049"/>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18" name="Freeform 4406"/>
                <p:cNvSpPr>
                  <a:spLocks noChangeAspect="1"/>
                </p:cNvSpPr>
                <p:nvPr/>
              </p:nvSpPr>
              <p:spPr bwMode="auto">
                <a:xfrm>
                  <a:off x="2723" y="2287"/>
                  <a:ext cx="5" cy="313"/>
                </a:xfrm>
                <a:custGeom>
                  <a:avLst/>
                  <a:gdLst>
                    <a:gd name="T0" fmla="*/ 0 w 16"/>
                    <a:gd name="T1" fmla="*/ 1094 h 1186"/>
                    <a:gd name="T2" fmla="*/ 0 w 16"/>
                    <a:gd name="T3" fmla="*/ 0 h 1186"/>
                    <a:gd name="T4" fmla="*/ 16 w 16"/>
                    <a:gd name="T5" fmla="*/ 0 h 1186"/>
                    <a:gd name="T6" fmla="*/ 16 w 16"/>
                    <a:gd name="T7" fmla="*/ 1186 h 1186"/>
                    <a:gd name="T8" fmla="*/ 0 w 16"/>
                    <a:gd name="T9" fmla="*/ 1094 h 1186"/>
                  </a:gdLst>
                  <a:ahLst/>
                  <a:cxnLst>
                    <a:cxn ang="0">
                      <a:pos x="T0" y="T1"/>
                    </a:cxn>
                    <a:cxn ang="0">
                      <a:pos x="T2" y="T3"/>
                    </a:cxn>
                    <a:cxn ang="0">
                      <a:pos x="T4" y="T5"/>
                    </a:cxn>
                    <a:cxn ang="0">
                      <a:pos x="T6" y="T7"/>
                    </a:cxn>
                    <a:cxn ang="0">
                      <a:pos x="T8" y="T9"/>
                    </a:cxn>
                  </a:cxnLst>
                  <a:rect l="0" t="0" r="r" b="b"/>
                  <a:pathLst>
                    <a:path w="16" h="1186">
                      <a:moveTo>
                        <a:pt x="0" y="1094"/>
                      </a:moveTo>
                      <a:lnTo>
                        <a:pt x="0" y="0"/>
                      </a:lnTo>
                      <a:lnTo>
                        <a:pt x="16" y="0"/>
                      </a:lnTo>
                      <a:lnTo>
                        <a:pt x="16" y="1186"/>
                      </a:lnTo>
                      <a:lnTo>
                        <a:pt x="0" y="109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19" name="Freeform 4407"/>
                <p:cNvSpPr>
                  <a:spLocks noChangeAspect="1"/>
                </p:cNvSpPr>
                <p:nvPr/>
              </p:nvSpPr>
              <p:spPr bwMode="auto">
                <a:xfrm>
                  <a:off x="2726" y="2287"/>
                  <a:ext cx="3" cy="325"/>
                </a:xfrm>
                <a:custGeom>
                  <a:avLst/>
                  <a:gdLst>
                    <a:gd name="T0" fmla="*/ 0 w 17"/>
                    <a:gd name="T1" fmla="*/ 1140 h 1231"/>
                    <a:gd name="T2" fmla="*/ 0 w 17"/>
                    <a:gd name="T3" fmla="*/ 0 h 1231"/>
                    <a:gd name="T4" fmla="*/ 17 w 17"/>
                    <a:gd name="T5" fmla="*/ 0 h 1231"/>
                    <a:gd name="T6" fmla="*/ 17 w 17"/>
                    <a:gd name="T7" fmla="*/ 1231 h 1231"/>
                    <a:gd name="T8" fmla="*/ 0 w 17"/>
                    <a:gd name="T9" fmla="*/ 1140 h 1231"/>
                  </a:gdLst>
                  <a:ahLst/>
                  <a:cxnLst>
                    <a:cxn ang="0">
                      <a:pos x="T0" y="T1"/>
                    </a:cxn>
                    <a:cxn ang="0">
                      <a:pos x="T2" y="T3"/>
                    </a:cxn>
                    <a:cxn ang="0">
                      <a:pos x="T4" y="T5"/>
                    </a:cxn>
                    <a:cxn ang="0">
                      <a:pos x="T6" y="T7"/>
                    </a:cxn>
                    <a:cxn ang="0">
                      <a:pos x="T8" y="T9"/>
                    </a:cxn>
                  </a:cxnLst>
                  <a:rect l="0" t="0" r="r" b="b"/>
                  <a:pathLst>
                    <a:path w="17" h="1231">
                      <a:moveTo>
                        <a:pt x="0" y="1140"/>
                      </a:moveTo>
                      <a:lnTo>
                        <a:pt x="0" y="0"/>
                      </a:lnTo>
                      <a:lnTo>
                        <a:pt x="17" y="0"/>
                      </a:lnTo>
                      <a:lnTo>
                        <a:pt x="17" y="1231"/>
                      </a:lnTo>
                      <a:lnTo>
                        <a:pt x="0" y="114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20" name="Freeform 4408"/>
                <p:cNvSpPr>
                  <a:spLocks noChangeAspect="1"/>
                </p:cNvSpPr>
                <p:nvPr/>
              </p:nvSpPr>
              <p:spPr bwMode="auto">
                <a:xfrm>
                  <a:off x="2728" y="2287"/>
                  <a:ext cx="3" cy="326"/>
                </a:xfrm>
                <a:custGeom>
                  <a:avLst/>
                  <a:gdLst>
                    <a:gd name="T0" fmla="*/ 0 w 17"/>
                    <a:gd name="T1" fmla="*/ 1186 h 1235"/>
                    <a:gd name="T2" fmla="*/ 0 w 17"/>
                    <a:gd name="T3" fmla="*/ 0 h 1235"/>
                    <a:gd name="T4" fmla="*/ 17 w 17"/>
                    <a:gd name="T5" fmla="*/ 0 h 1235"/>
                    <a:gd name="T6" fmla="*/ 17 w 17"/>
                    <a:gd name="T7" fmla="*/ 1186 h 1235"/>
                    <a:gd name="T8" fmla="*/ 9 w 17"/>
                    <a:gd name="T9" fmla="*/ 1235 h 1235"/>
                    <a:gd name="T10" fmla="*/ 0 w 17"/>
                    <a:gd name="T11" fmla="*/ 1186 h 1235"/>
                  </a:gdLst>
                  <a:ahLst/>
                  <a:cxnLst>
                    <a:cxn ang="0">
                      <a:pos x="T0" y="T1"/>
                    </a:cxn>
                    <a:cxn ang="0">
                      <a:pos x="T2" y="T3"/>
                    </a:cxn>
                    <a:cxn ang="0">
                      <a:pos x="T4" y="T5"/>
                    </a:cxn>
                    <a:cxn ang="0">
                      <a:pos x="T6" y="T7"/>
                    </a:cxn>
                    <a:cxn ang="0">
                      <a:pos x="T8" y="T9"/>
                    </a:cxn>
                    <a:cxn ang="0">
                      <a:pos x="T10" y="T11"/>
                    </a:cxn>
                  </a:cxnLst>
                  <a:rect l="0" t="0" r="r" b="b"/>
                  <a:pathLst>
                    <a:path w="17" h="1235">
                      <a:moveTo>
                        <a:pt x="0" y="1186"/>
                      </a:moveTo>
                      <a:lnTo>
                        <a:pt x="0" y="0"/>
                      </a:lnTo>
                      <a:lnTo>
                        <a:pt x="17" y="0"/>
                      </a:lnTo>
                      <a:lnTo>
                        <a:pt x="17" y="1186"/>
                      </a:lnTo>
                      <a:lnTo>
                        <a:pt x="9" y="1235"/>
                      </a:lnTo>
                      <a:lnTo>
                        <a:pt x="0" y="118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21" name="Freeform 4409"/>
                <p:cNvSpPr>
                  <a:spLocks noChangeAspect="1"/>
                </p:cNvSpPr>
                <p:nvPr/>
              </p:nvSpPr>
              <p:spPr bwMode="auto">
                <a:xfrm>
                  <a:off x="2729" y="2287"/>
                  <a:ext cx="5" cy="326"/>
                </a:xfrm>
                <a:custGeom>
                  <a:avLst/>
                  <a:gdLst>
                    <a:gd name="T0" fmla="*/ 0 w 17"/>
                    <a:gd name="T1" fmla="*/ 1231 h 1235"/>
                    <a:gd name="T2" fmla="*/ 0 w 17"/>
                    <a:gd name="T3" fmla="*/ 0 h 1235"/>
                    <a:gd name="T4" fmla="*/ 17 w 17"/>
                    <a:gd name="T5" fmla="*/ 0 h 1235"/>
                    <a:gd name="T6" fmla="*/ 17 w 17"/>
                    <a:gd name="T7" fmla="*/ 1132 h 1235"/>
                    <a:gd name="T8" fmla="*/ 1 w 17"/>
                    <a:gd name="T9" fmla="*/ 1235 h 1235"/>
                    <a:gd name="T10" fmla="*/ 0 w 17"/>
                    <a:gd name="T11" fmla="*/ 1231 h 1235"/>
                  </a:gdLst>
                  <a:ahLst/>
                  <a:cxnLst>
                    <a:cxn ang="0">
                      <a:pos x="T0" y="T1"/>
                    </a:cxn>
                    <a:cxn ang="0">
                      <a:pos x="T2" y="T3"/>
                    </a:cxn>
                    <a:cxn ang="0">
                      <a:pos x="T4" y="T5"/>
                    </a:cxn>
                    <a:cxn ang="0">
                      <a:pos x="T6" y="T7"/>
                    </a:cxn>
                    <a:cxn ang="0">
                      <a:pos x="T8" y="T9"/>
                    </a:cxn>
                    <a:cxn ang="0">
                      <a:pos x="T10" y="T11"/>
                    </a:cxn>
                  </a:cxnLst>
                  <a:rect l="0" t="0" r="r" b="b"/>
                  <a:pathLst>
                    <a:path w="17" h="1235">
                      <a:moveTo>
                        <a:pt x="0" y="1231"/>
                      </a:moveTo>
                      <a:lnTo>
                        <a:pt x="0" y="0"/>
                      </a:lnTo>
                      <a:lnTo>
                        <a:pt x="17" y="0"/>
                      </a:lnTo>
                      <a:lnTo>
                        <a:pt x="17" y="1132"/>
                      </a:lnTo>
                      <a:lnTo>
                        <a:pt x="1" y="1235"/>
                      </a:lnTo>
                      <a:lnTo>
                        <a:pt x="0" y="123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22" name="Freeform 4410"/>
                <p:cNvSpPr>
                  <a:spLocks noChangeAspect="1"/>
                </p:cNvSpPr>
                <p:nvPr/>
              </p:nvSpPr>
              <p:spPr bwMode="auto">
                <a:xfrm>
                  <a:off x="2731" y="2287"/>
                  <a:ext cx="5" cy="313"/>
                </a:xfrm>
                <a:custGeom>
                  <a:avLst/>
                  <a:gdLst>
                    <a:gd name="T0" fmla="*/ 0 w 17"/>
                    <a:gd name="T1" fmla="*/ 1186 h 1186"/>
                    <a:gd name="T2" fmla="*/ 0 w 17"/>
                    <a:gd name="T3" fmla="*/ 0 h 1186"/>
                    <a:gd name="T4" fmla="*/ 17 w 17"/>
                    <a:gd name="T5" fmla="*/ 0 h 1186"/>
                    <a:gd name="T6" fmla="*/ 17 w 17"/>
                    <a:gd name="T7" fmla="*/ 1077 h 1186"/>
                    <a:gd name="T8" fmla="*/ 0 w 17"/>
                    <a:gd name="T9" fmla="*/ 1186 h 1186"/>
                  </a:gdLst>
                  <a:ahLst/>
                  <a:cxnLst>
                    <a:cxn ang="0">
                      <a:pos x="T0" y="T1"/>
                    </a:cxn>
                    <a:cxn ang="0">
                      <a:pos x="T2" y="T3"/>
                    </a:cxn>
                    <a:cxn ang="0">
                      <a:pos x="T4" y="T5"/>
                    </a:cxn>
                    <a:cxn ang="0">
                      <a:pos x="T6" y="T7"/>
                    </a:cxn>
                    <a:cxn ang="0">
                      <a:pos x="T8" y="T9"/>
                    </a:cxn>
                  </a:cxnLst>
                  <a:rect l="0" t="0" r="r" b="b"/>
                  <a:pathLst>
                    <a:path w="17" h="1186">
                      <a:moveTo>
                        <a:pt x="0" y="1186"/>
                      </a:moveTo>
                      <a:lnTo>
                        <a:pt x="0" y="0"/>
                      </a:lnTo>
                      <a:lnTo>
                        <a:pt x="17" y="0"/>
                      </a:lnTo>
                      <a:lnTo>
                        <a:pt x="17" y="1077"/>
                      </a:lnTo>
                      <a:lnTo>
                        <a:pt x="0" y="118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23" name="Freeform 4411"/>
                <p:cNvSpPr>
                  <a:spLocks noChangeAspect="1"/>
                </p:cNvSpPr>
                <p:nvPr/>
              </p:nvSpPr>
              <p:spPr bwMode="auto">
                <a:xfrm>
                  <a:off x="2734" y="2287"/>
                  <a:ext cx="6" cy="299"/>
                </a:xfrm>
                <a:custGeom>
                  <a:avLst/>
                  <a:gdLst>
                    <a:gd name="T0" fmla="*/ 0 w 16"/>
                    <a:gd name="T1" fmla="*/ 1132 h 1132"/>
                    <a:gd name="T2" fmla="*/ 0 w 16"/>
                    <a:gd name="T3" fmla="*/ 0 h 1132"/>
                    <a:gd name="T4" fmla="*/ 16 w 16"/>
                    <a:gd name="T5" fmla="*/ 0 h 1132"/>
                    <a:gd name="T6" fmla="*/ 16 w 16"/>
                    <a:gd name="T7" fmla="*/ 1024 h 1132"/>
                    <a:gd name="T8" fmla="*/ 0 w 16"/>
                    <a:gd name="T9" fmla="*/ 1132 h 1132"/>
                  </a:gdLst>
                  <a:ahLst/>
                  <a:cxnLst>
                    <a:cxn ang="0">
                      <a:pos x="T0" y="T1"/>
                    </a:cxn>
                    <a:cxn ang="0">
                      <a:pos x="T2" y="T3"/>
                    </a:cxn>
                    <a:cxn ang="0">
                      <a:pos x="T4" y="T5"/>
                    </a:cxn>
                    <a:cxn ang="0">
                      <a:pos x="T6" y="T7"/>
                    </a:cxn>
                    <a:cxn ang="0">
                      <a:pos x="T8" y="T9"/>
                    </a:cxn>
                  </a:cxnLst>
                  <a:rect l="0" t="0" r="r" b="b"/>
                  <a:pathLst>
                    <a:path w="16" h="1132">
                      <a:moveTo>
                        <a:pt x="0" y="1132"/>
                      </a:moveTo>
                      <a:lnTo>
                        <a:pt x="0" y="0"/>
                      </a:lnTo>
                      <a:lnTo>
                        <a:pt x="16" y="0"/>
                      </a:lnTo>
                      <a:lnTo>
                        <a:pt x="16" y="1024"/>
                      </a:lnTo>
                      <a:lnTo>
                        <a:pt x="0" y="113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24" name="Freeform 4412"/>
                <p:cNvSpPr>
                  <a:spLocks noChangeAspect="1"/>
                </p:cNvSpPr>
                <p:nvPr/>
              </p:nvSpPr>
              <p:spPr bwMode="auto">
                <a:xfrm>
                  <a:off x="2736" y="2287"/>
                  <a:ext cx="3" cy="284"/>
                </a:xfrm>
                <a:custGeom>
                  <a:avLst/>
                  <a:gdLst>
                    <a:gd name="T0" fmla="*/ 0 w 16"/>
                    <a:gd name="T1" fmla="*/ 1077 h 1077"/>
                    <a:gd name="T2" fmla="*/ 0 w 16"/>
                    <a:gd name="T3" fmla="*/ 0 h 1077"/>
                    <a:gd name="T4" fmla="*/ 16 w 16"/>
                    <a:gd name="T5" fmla="*/ 0 h 1077"/>
                    <a:gd name="T6" fmla="*/ 16 w 16"/>
                    <a:gd name="T7" fmla="*/ 970 h 1077"/>
                    <a:gd name="T8" fmla="*/ 0 w 16"/>
                    <a:gd name="T9" fmla="*/ 1077 h 1077"/>
                  </a:gdLst>
                  <a:ahLst/>
                  <a:cxnLst>
                    <a:cxn ang="0">
                      <a:pos x="T0" y="T1"/>
                    </a:cxn>
                    <a:cxn ang="0">
                      <a:pos x="T2" y="T3"/>
                    </a:cxn>
                    <a:cxn ang="0">
                      <a:pos x="T4" y="T5"/>
                    </a:cxn>
                    <a:cxn ang="0">
                      <a:pos x="T6" y="T7"/>
                    </a:cxn>
                    <a:cxn ang="0">
                      <a:pos x="T8" y="T9"/>
                    </a:cxn>
                  </a:cxnLst>
                  <a:rect l="0" t="0" r="r" b="b"/>
                  <a:pathLst>
                    <a:path w="16" h="1077">
                      <a:moveTo>
                        <a:pt x="0" y="1077"/>
                      </a:moveTo>
                      <a:lnTo>
                        <a:pt x="0" y="0"/>
                      </a:lnTo>
                      <a:lnTo>
                        <a:pt x="16" y="0"/>
                      </a:lnTo>
                      <a:lnTo>
                        <a:pt x="16" y="970"/>
                      </a:lnTo>
                      <a:lnTo>
                        <a:pt x="0" y="107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25" name="Freeform 4413"/>
                <p:cNvSpPr>
                  <a:spLocks noChangeAspect="1"/>
                </p:cNvSpPr>
                <p:nvPr/>
              </p:nvSpPr>
              <p:spPr bwMode="auto">
                <a:xfrm>
                  <a:off x="2738" y="2287"/>
                  <a:ext cx="1" cy="271"/>
                </a:xfrm>
                <a:custGeom>
                  <a:avLst/>
                  <a:gdLst>
                    <a:gd name="T0" fmla="*/ 0 w 17"/>
                    <a:gd name="T1" fmla="*/ 1024 h 1024"/>
                    <a:gd name="T2" fmla="*/ 0 w 17"/>
                    <a:gd name="T3" fmla="*/ 0 h 1024"/>
                    <a:gd name="T4" fmla="*/ 17 w 17"/>
                    <a:gd name="T5" fmla="*/ 0 h 1024"/>
                    <a:gd name="T6" fmla="*/ 17 w 17"/>
                    <a:gd name="T7" fmla="*/ 916 h 1024"/>
                    <a:gd name="T8" fmla="*/ 0 w 17"/>
                    <a:gd name="T9" fmla="*/ 1024 h 1024"/>
                  </a:gdLst>
                  <a:ahLst/>
                  <a:cxnLst>
                    <a:cxn ang="0">
                      <a:pos x="T0" y="T1"/>
                    </a:cxn>
                    <a:cxn ang="0">
                      <a:pos x="T2" y="T3"/>
                    </a:cxn>
                    <a:cxn ang="0">
                      <a:pos x="T4" y="T5"/>
                    </a:cxn>
                    <a:cxn ang="0">
                      <a:pos x="T6" y="T7"/>
                    </a:cxn>
                    <a:cxn ang="0">
                      <a:pos x="T8" y="T9"/>
                    </a:cxn>
                  </a:cxnLst>
                  <a:rect l="0" t="0" r="r" b="b"/>
                  <a:pathLst>
                    <a:path w="17" h="1024">
                      <a:moveTo>
                        <a:pt x="0" y="1024"/>
                      </a:moveTo>
                      <a:lnTo>
                        <a:pt x="0" y="0"/>
                      </a:lnTo>
                      <a:lnTo>
                        <a:pt x="17" y="0"/>
                      </a:lnTo>
                      <a:lnTo>
                        <a:pt x="17" y="916"/>
                      </a:lnTo>
                      <a:lnTo>
                        <a:pt x="0" y="102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26" name="Freeform 4414"/>
                <p:cNvSpPr>
                  <a:spLocks noChangeAspect="1"/>
                </p:cNvSpPr>
                <p:nvPr/>
              </p:nvSpPr>
              <p:spPr bwMode="auto">
                <a:xfrm>
                  <a:off x="2740" y="2287"/>
                  <a:ext cx="7" cy="258"/>
                </a:xfrm>
                <a:custGeom>
                  <a:avLst/>
                  <a:gdLst>
                    <a:gd name="T0" fmla="*/ 0 w 17"/>
                    <a:gd name="T1" fmla="*/ 970 h 970"/>
                    <a:gd name="T2" fmla="*/ 0 w 17"/>
                    <a:gd name="T3" fmla="*/ 0 h 970"/>
                    <a:gd name="T4" fmla="*/ 17 w 17"/>
                    <a:gd name="T5" fmla="*/ 0 h 970"/>
                    <a:gd name="T6" fmla="*/ 17 w 17"/>
                    <a:gd name="T7" fmla="*/ 863 h 970"/>
                    <a:gd name="T8" fmla="*/ 0 w 17"/>
                    <a:gd name="T9" fmla="*/ 970 h 970"/>
                  </a:gdLst>
                  <a:ahLst/>
                  <a:cxnLst>
                    <a:cxn ang="0">
                      <a:pos x="T0" y="T1"/>
                    </a:cxn>
                    <a:cxn ang="0">
                      <a:pos x="T2" y="T3"/>
                    </a:cxn>
                    <a:cxn ang="0">
                      <a:pos x="T4" y="T5"/>
                    </a:cxn>
                    <a:cxn ang="0">
                      <a:pos x="T6" y="T7"/>
                    </a:cxn>
                    <a:cxn ang="0">
                      <a:pos x="T8" y="T9"/>
                    </a:cxn>
                  </a:cxnLst>
                  <a:rect l="0" t="0" r="r" b="b"/>
                  <a:pathLst>
                    <a:path w="17" h="970">
                      <a:moveTo>
                        <a:pt x="0" y="970"/>
                      </a:moveTo>
                      <a:lnTo>
                        <a:pt x="0" y="0"/>
                      </a:lnTo>
                      <a:lnTo>
                        <a:pt x="17" y="0"/>
                      </a:lnTo>
                      <a:lnTo>
                        <a:pt x="17" y="863"/>
                      </a:lnTo>
                      <a:lnTo>
                        <a:pt x="0" y="970"/>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27" name="Freeform 4415"/>
                <p:cNvSpPr>
                  <a:spLocks noChangeAspect="1"/>
                </p:cNvSpPr>
                <p:nvPr/>
              </p:nvSpPr>
              <p:spPr bwMode="auto">
                <a:xfrm>
                  <a:off x="2742" y="2287"/>
                  <a:ext cx="5" cy="242"/>
                </a:xfrm>
                <a:custGeom>
                  <a:avLst/>
                  <a:gdLst>
                    <a:gd name="T0" fmla="*/ 0 w 17"/>
                    <a:gd name="T1" fmla="*/ 916 h 916"/>
                    <a:gd name="T2" fmla="*/ 0 w 17"/>
                    <a:gd name="T3" fmla="*/ 0 h 916"/>
                    <a:gd name="T4" fmla="*/ 17 w 17"/>
                    <a:gd name="T5" fmla="*/ 0 h 916"/>
                    <a:gd name="T6" fmla="*/ 17 w 17"/>
                    <a:gd name="T7" fmla="*/ 808 h 916"/>
                    <a:gd name="T8" fmla="*/ 0 w 17"/>
                    <a:gd name="T9" fmla="*/ 916 h 916"/>
                  </a:gdLst>
                  <a:ahLst/>
                  <a:cxnLst>
                    <a:cxn ang="0">
                      <a:pos x="T0" y="T1"/>
                    </a:cxn>
                    <a:cxn ang="0">
                      <a:pos x="T2" y="T3"/>
                    </a:cxn>
                    <a:cxn ang="0">
                      <a:pos x="T4" y="T5"/>
                    </a:cxn>
                    <a:cxn ang="0">
                      <a:pos x="T6" y="T7"/>
                    </a:cxn>
                    <a:cxn ang="0">
                      <a:pos x="T8" y="T9"/>
                    </a:cxn>
                  </a:cxnLst>
                  <a:rect l="0" t="0" r="r" b="b"/>
                  <a:pathLst>
                    <a:path w="17" h="916">
                      <a:moveTo>
                        <a:pt x="0" y="916"/>
                      </a:moveTo>
                      <a:lnTo>
                        <a:pt x="0" y="0"/>
                      </a:lnTo>
                      <a:lnTo>
                        <a:pt x="17" y="0"/>
                      </a:lnTo>
                      <a:lnTo>
                        <a:pt x="17" y="808"/>
                      </a:lnTo>
                      <a:lnTo>
                        <a:pt x="0" y="91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28" name="Freeform 4416"/>
                <p:cNvSpPr>
                  <a:spLocks noChangeAspect="1"/>
                </p:cNvSpPr>
                <p:nvPr/>
              </p:nvSpPr>
              <p:spPr bwMode="auto">
                <a:xfrm>
                  <a:off x="2744" y="2287"/>
                  <a:ext cx="2" cy="228"/>
                </a:xfrm>
                <a:custGeom>
                  <a:avLst/>
                  <a:gdLst>
                    <a:gd name="T0" fmla="*/ 0 w 16"/>
                    <a:gd name="T1" fmla="*/ 863 h 863"/>
                    <a:gd name="T2" fmla="*/ 0 w 16"/>
                    <a:gd name="T3" fmla="*/ 0 h 863"/>
                    <a:gd name="T4" fmla="*/ 16 w 16"/>
                    <a:gd name="T5" fmla="*/ 0 h 863"/>
                    <a:gd name="T6" fmla="*/ 16 w 16"/>
                    <a:gd name="T7" fmla="*/ 754 h 863"/>
                    <a:gd name="T8" fmla="*/ 0 w 16"/>
                    <a:gd name="T9" fmla="*/ 863 h 863"/>
                  </a:gdLst>
                  <a:ahLst/>
                  <a:cxnLst>
                    <a:cxn ang="0">
                      <a:pos x="T0" y="T1"/>
                    </a:cxn>
                    <a:cxn ang="0">
                      <a:pos x="T2" y="T3"/>
                    </a:cxn>
                    <a:cxn ang="0">
                      <a:pos x="T4" y="T5"/>
                    </a:cxn>
                    <a:cxn ang="0">
                      <a:pos x="T6" y="T7"/>
                    </a:cxn>
                    <a:cxn ang="0">
                      <a:pos x="T8" y="T9"/>
                    </a:cxn>
                  </a:cxnLst>
                  <a:rect l="0" t="0" r="r" b="b"/>
                  <a:pathLst>
                    <a:path w="16" h="863">
                      <a:moveTo>
                        <a:pt x="0" y="863"/>
                      </a:moveTo>
                      <a:lnTo>
                        <a:pt x="0" y="0"/>
                      </a:lnTo>
                      <a:lnTo>
                        <a:pt x="16" y="0"/>
                      </a:lnTo>
                      <a:lnTo>
                        <a:pt x="16" y="754"/>
                      </a:lnTo>
                      <a:lnTo>
                        <a:pt x="0" y="863"/>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29" name="Freeform 4417"/>
                <p:cNvSpPr>
                  <a:spLocks noChangeAspect="1"/>
                </p:cNvSpPr>
                <p:nvPr/>
              </p:nvSpPr>
              <p:spPr bwMode="auto">
                <a:xfrm>
                  <a:off x="2747" y="2287"/>
                  <a:ext cx="3" cy="214"/>
                </a:xfrm>
                <a:custGeom>
                  <a:avLst/>
                  <a:gdLst>
                    <a:gd name="T0" fmla="*/ 0 w 16"/>
                    <a:gd name="T1" fmla="*/ 808 h 808"/>
                    <a:gd name="T2" fmla="*/ 0 w 16"/>
                    <a:gd name="T3" fmla="*/ 0 h 808"/>
                    <a:gd name="T4" fmla="*/ 16 w 16"/>
                    <a:gd name="T5" fmla="*/ 0 h 808"/>
                    <a:gd name="T6" fmla="*/ 16 w 16"/>
                    <a:gd name="T7" fmla="*/ 701 h 808"/>
                    <a:gd name="T8" fmla="*/ 0 w 16"/>
                    <a:gd name="T9" fmla="*/ 808 h 808"/>
                  </a:gdLst>
                  <a:ahLst/>
                  <a:cxnLst>
                    <a:cxn ang="0">
                      <a:pos x="T0" y="T1"/>
                    </a:cxn>
                    <a:cxn ang="0">
                      <a:pos x="T2" y="T3"/>
                    </a:cxn>
                    <a:cxn ang="0">
                      <a:pos x="T4" y="T5"/>
                    </a:cxn>
                    <a:cxn ang="0">
                      <a:pos x="T6" y="T7"/>
                    </a:cxn>
                    <a:cxn ang="0">
                      <a:pos x="T8" y="T9"/>
                    </a:cxn>
                  </a:cxnLst>
                  <a:rect l="0" t="0" r="r" b="b"/>
                  <a:pathLst>
                    <a:path w="16" h="808">
                      <a:moveTo>
                        <a:pt x="0" y="808"/>
                      </a:moveTo>
                      <a:lnTo>
                        <a:pt x="0" y="0"/>
                      </a:lnTo>
                      <a:lnTo>
                        <a:pt x="16" y="0"/>
                      </a:lnTo>
                      <a:lnTo>
                        <a:pt x="16" y="701"/>
                      </a:lnTo>
                      <a:lnTo>
                        <a:pt x="0" y="80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30" name="Freeform 4418"/>
                <p:cNvSpPr>
                  <a:spLocks noChangeAspect="1"/>
                </p:cNvSpPr>
                <p:nvPr/>
              </p:nvSpPr>
              <p:spPr bwMode="auto">
                <a:xfrm>
                  <a:off x="2748" y="2287"/>
                  <a:ext cx="6" cy="199"/>
                </a:xfrm>
                <a:custGeom>
                  <a:avLst/>
                  <a:gdLst>
                    <a:gd name="T0" fmla="*/ 0 w 17"/>
                    <a:gd name="T1" fmla="*/ 754 h 754"/>
                    <a:gd name="T2" fmla="*/ 0 w 17"/>
                    <a:gd name="T3" fmla="*/ 0 h 754"/>
                    <a:gd name="T4" fmla="*/ 17 w 17"/>
                    <a:gd name="T5" fmla="*/ 0 h 754"/>
                    <a:gd name="T6" fmla="*/ 17 w 17"/>
                    <a:gd name="T7" fmla="*/ 647 h 754"/>
                    <a:gd name="T8" fmla="*/ 0 w 17"/>
                    <a:gd name="T9" fmla="*/ 754 h 754"/>
                  </a:gdLst>
                  <a:ahLst/>
                  <a:cxnLst>
                    <a:cxn ang="0">
                      <a:pos x="T0" y="T1"/>
                    </a:cxn>
                    <a:cxn ang="0">
                      <a:pos x="T2" y="T3"/>
                    </a:cxn>
                    <a:cxn ang="0">
                      <a:pos x="T4" y="T5"/>
                    </a:cxn>
                    <a:cxn ang="0">
                      <a:pos x="T6" y="T7"/>
                    </a:cxn>
                    <a:cxn ang="0">
                      <a:pos x="T8" y="T9"/>
                    </a:cxn>
                  </a:cxnLst>
                  <a:rect l="0" t="0" r="r" b="b"/>
                  <a:pathLst>
                    <a:path w="17" h="754">
                      <a:moveTo>
                        <a:pt x="0" y="754"/>
                      </a:moveTo>
                      <a:lnTo>
                        <a:pt x="0" y="0"/>
                      </a:lnTo>
                      <a:lnTo>
                        <a:pt x="17" y="0"/>
                      </a:lnTo>
                      <a:lnTo>
                        <a:pt x="17" y="647"/>
                      </a:lnTo>
                      <a:lnTo>
                        <a:pt x="0" y="75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31" name="Freeform 4419"/>
                <p:cNvSpPr>
                  <a:spLocks noChangeAspect="1"/>
                </p:cNvSpPr>
                <p:nvPr/>
              </p:nvSpPr>
              <p:spPr bwMode="auto">
                <a:xfrm>
                  <a:off x="2750" y="2287"/>
                  <a:ext cx="5" cy="186"/>
                </a:xfrm>
                <a:custGeom>
                  <a:avLst/>
                  <a:gdLst>
                    <a:gd name="T0" fmla="*/ 0 w 17"/>
                    <a:gd name="T1" fmla="*/ 701 h 701"/>
                    <a:gd name="T2" fmla="*/ 0 w 17"/>
                    <a:gd name="T3" fmla="*/ 0 h 701"/>
                    <a:gd name="T4" fmla="*/ 17 w 17"/>
                    <a:gd name="T5" fmla="*/ 0 h 701"/>
                    <a:gd name="T6" fmla="*/ 17 w 17"/>
                    <a:gd name="T7" fmla="*/ 592 h 701"/>
                    <a:gd name="T8" fmla="*/ 0 w 17"/>
                    <a:gd name="T9" fmla="*/ 701 h 701"/>
                  </a:gdLst>
                  <a:ahLst/>
                  <a:cxnLst>
                    <a:cxn ang="0">
                      <a:pos x="T0" y="T1"/>
                    </a:cxn>
                    <a:cxn ang="0">
                      <a:pos x="T2" y="T3"/>
                    </a:cxn>
                    <a:cxn ang="0">
                      <a:pos x="T4" y="T5"/>
                    </a:cxn>
                    <a:cxn ang="0">
                      <a:pos x="T6" y="T7"/>
                    </a:cxn>
                    <a:cxn ang="0">
                      <a:pos x="T8" y="T9"/>
                    </a:cxn>
                  </a:cxnLst>
                  <a:rect l="0" t="0" r="r" b="b"/>
                  <a:pathLst>
                    <a:path w="17" h="701">
                      <a:moveTo>
                        <a:pt x="0" y="701"/>
                      </a:moveTo>
                      <a:lnTo>
                        <a:pt x="0" y="0"/>
                      </a:lnTo>
                      <a:lnTo>
                        <a:pt x="17" y="0"/>
                      </a:lnTo>
                      <a:lnTo>
                        <a:pt x="17" y="592"/>
                      </a:lnTo>
                      <a:lnTo>
                        <a:pt x="0" y="70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32" name="Freeform 4420"/>
                <p:cNvSpPr>
                  <a:spLocks noChangeAspect="1"/>
                </p:cNvSpPr>
                <p:nvPr/>
              </p:nvSpPr>
              <p:spPr bwMode="auto">
                <a:xfrm>
                  <a:off x="2754" y="2287"/>
                  <a:ext cx="3" cy="171"/>
                </a:xfrm>
                <a:custGeom>
                  <a:avLst/>
                  <a:gdLst>
                    <a:gd name="T0" fmla="*/ 0 w 17"/>
                    <a:gd name="T1" fmla="*/ 647 h 647"/>
                    <a:gd name="T2" fmla="*/ 0 w 17"/>
                    <a:gd name="T3" fmla="*/ 0 h 647"/>
                    <a:gd name="T4" fmla="*/ 17 w 17"/>
                    <a:gd name="T5" fmla="*/ 0 h 647"/>
                    <a:gd name="T6" fmla="*/ 17 w 17"/>
                    <a:gd name="T7" fmla="*/ 539 h 647"/>
                    <a:gd name="T8" fmla="*/ 0 w 17"/>
                    <a:gd name="T9" fmla="*/ 647 h 647"/>
                  </a:gdLst>
                  <a:ahLst/>
                  <a:cxnLst>
                    <a:cxn ang="0">
                      <a:pos x="T0" y="T1"/>
                    </a:cxn>
                    <a:cxn ang="0">
                      <a:pos x="T2" y="T3"/>
                    </a:cxn>
                    <a:cxn ang="0">
                      <a:pos x="T4" y="T5"/>
                    </a:cxn>
                    <a:cxn ang="0">
                      <a:pos x="T6" y="T7"/>
                    </a:cxn>
                    <a:cxn ang="0">
                      <a:pos x="T8" y="T9"/>
                    </a:cxn>
                  </a:cxnLst>
                  <a:rect l="0" t="0" r="r" b="b"/>
                  <a:pathLst>
                    <a:path w="17" h="647">
                      <a:moveTo>
                        <a:pt x="0" y="647"/>
                      </a:moveTo>
                      <a:lnTo>
                        <a:pt x="0" y="0"/>
                      </a:lnTo>
                      <a:lnTo>
                        <a:pt x="17" y="0"/>
                      </a:lnTo>
                      <a:lnTo>
                        <a:pt x="17" y="539"/>
                      </a:lnTo>
                      <a:lnTo>
                        <a:pt x="0" y="647"/>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33" name="Freeform 4421"/>
                <p:cNvSpPr>
                  <a:spLocks noChangeAspect="1"/>
                </p:cNvSpPr>
                <p:nvPr/>
              </p:nvSpPr>
              <p:spPr bwMode="auto">
                <a:xfrm>
                  <a:off x="2755" y="2287"/>
                  <a:ext cx="6" cy="157"/>
                </a:xfrm>
                <a:custGeom>
                  <a:avLst/>
                  <a:gdLst>
                    <a:gd name="T0" fmla="*/ 0 w 17"/>
                    <a:gd name="T1" fmla="*/ 592 h 592"/>
                    <a:gd name="T2" fmla="*/ 0 w 17"/>
                    <a:gd name="T3" fmla="*/ 0 h 592"/>
                    <a:gd name="T4" fmla="*/ 17 w 17"/>
                    <a:gd name="T5" fmla="*/ 0 h 592"/>
                    <a:gd name="T6" fmla="*/ 17 w 17"/>
                    <a:gd name="T7" fmla="*/ 485 h 592"/>
                    <a:gd name="T8" fmla="*/ 0 w 17"/>
                    <a:gd name="T9" fmla="*/ 592 h 592"/>
                  </a:gdLst>
                  <a:ahLst/>
                  <a:cxnLst>
                    <a:cxn ang="0">
                      <a:pos x="T0" y="T1"/>
                    </a:cxn>
                    <a:cxn ang="0">
                      <a:pos x="T2" y="T3"/>
                    </a:cxn>
                    <a:cxn ang="0">
                      <a:pos x="T4" y="T5"/>
                    </a:cxn>
                    <a:cxn ang="0">
                      <a:pos x="T6" y="T7"/>
                    </a:cxn>
                    <a:cxn ang="0">
                      <a:pos x="T8" y="T9"/>
                    </a:cxn>
                  </a:cxnLst>
                  <a:rect l="0" t="0" r="r" b="b"/>
                  <a:pathLst>
                    <a:path w="17" h="592">
                      <a:moveTo>
                        <a:pt x="0" y="592"/>
                      </a:moveTo>
                      <a:lnTo>
                        <a:pt x="0" y="0"/>
                      </a:lnTo>
                      <a:lnTo>
                        <a:pt x="17" y="0"/>
                      </a:lnTo>
                      <a:lnTo>
                        <a:pt x="17" y="485"/>
                      </a:lnTo>
                      <a:lnTo>
                        <a:pt x="0" y="59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34" name="Freeform 4422"/>
                <p:cNvSpPr>
                  <a:spLocks noChangeAspect="1"/>
                </p:cNvSpPr>
                <p:nvPr/>
              </p:nvSpPr>
              <p:spPr bwMode="auto">
                <a:xfrm>
                  <a:off x="2757" y="2287"/>
                  <a:ext cx="3" cy="142"/>
                </a:xfrm>
                <a:custGeom>
                  <a:avLst/>
                  <a:gdLst>
                    <a:gd name="T0" fmla="*/ 0 w 16"/>
                    <a:gd name="T1" fmla="*/ 539 h 539"/>
                    <a:gd name="T2" fmla="*/ 0 w 16"/>
                    <a:gd name="T3" fmla="*/ 0 h 539"/>
                    <a:gd name="T4" fmla="*/ 16 w 16"/>
                    <a:gd name="T5" fmla="*/ 0 h 539"/>
                    <a:gd name="T6" fmla="*/ 16 w 16"/>
                    <a:gd name="T7" fmla="*/ 431 h 539"/>
                    <a:gd name="T8" fmla="*/ 0 w 16"/>
                    <a:gd name="T9" fmla="*/ 539 h 539"/>
                  </a:gdLst>
                  <a:ahLst/>
                  <a:cxnLst>
                    <a:cxn ang="0">
                      <a:pos x="T0" y="T1"/>
                    </a:cxn>
                    <a:cxn ang="0">
                      <a:pos x="T2" y="T3"/>
                    </a:cxn>
                    <a:cxn ang="0">
                      <a:pos x="T4" y="T5"/>
                    </a:cxn>
                    <a:cxn ang="0">
                      <a:pos x="T6" y="T7"/>
                    </a:cxn>
                    <a:cxn ang="0">
                      <a:pos x="T8" y="T9"/>
                    </a:cxn>
                  </a:cxnLst>
                  <a:rect l="0" t="0" r="r" b="b"/>
                  <a:pathLst>
                    <a:path w="16" h="539">
                      <a:moveTo>
                        <a:pt x="0" y="539"/>
                      </a:moveTo>
                      <a:lnTo>
                        <a:pt x="0" y="0"/>
                      </a:lnTo>
                      <a:lnTo>
                        <a:pt x="16" y="0"/>
                      </a:lnTo>
                      <a:lnTo>
                        <a:pt x="16" y="431"/>
                      </a:lnTo>
                      <a:lnTo>
                        <a:pt x="0" y="539"/>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35" name="Freeform 4423"/>
                <p:cNvSpPr>
                  <a:spLocks noChangeAspect="1"/>
                </p:cNvSpPr>
                <p:nvPr/>
              </p:nvSpPr>
              <p:spPr bwMode="auto">
                <a:xfrm>
                  <a:off x="2759" y="2287"/>
                  <a:ext cx="1" cy="128"/>
                </a:xfrm>
                <a:custGeom>
                  <a:avLst/>
                  <a:gdLst>
                    <a:gd name="T0" fmla="*/ 0 w 16"/>
                    <a:gd name="T1" fmla="*/ 485 h 485"/>
                    <a:gd name="T2" fmla="*/ 0 w 16"/>
                    <a:gd name="T3" fmla="*/ 0 h 485"/>
                    <a:gd name="T4" fmla="*/ 16 w 16"/>
                    <a:gd name="T5" fmla="*/ 0 h 485"/>
                    <a:gd name="T6" fmla="*/ 16 w 16"/>
                    <a:gd name="T7" fmla="*/ 378 h 485"/>
                    <a:gd name="T8" fmla="*/ 0 w 16"/>
                    <a:gd name="T9" fmla="*/ 485 h 485"/>
                  </a:gdLst>
                  <a:ahLst/>
                  <a:cxnLst>
                    <a:cxn ang="0">
                      <a:pos x="T0" y="T1"/>
                    </a:cxn>
                    <a:cxn ang="0">
                      <a:pos x="T2" y="T3"/>
                    </a:cxn>
                    <a:cxn ang="0">
                      <a:pos x="T4" y="T5"/>
                    </a:cxn>
                    <a:cxn ang="0">
                      <a:pos x="T6" y="T7"/>
                    </a:cxn>
                    <a:cxn ang="0">
                      <a:pos x="T8" y="T9"/>
                    </a:cxn>
                  </a:cxnLst>
                  <a:rect l="0" t="0" r="r" b="b"/>
                  <a:pathLst>
                    <a:path w="16" h="485">
                      <a:moveTo>
                        <a:pt x="0" y="485"/>
                      </a:moveTo>
                      <a:lnTo>
                        <a:pt x="0" y="0"/>
                      </a:lnTo>
                      <a:lnTo>
                        <a:pt x="16" y="0"/>
                      </a:lnTo>
                      <a:lnTo>
                        <a:pt x="16" y="378"/>
                      </a:lnTo>
                      <a:lnTo>
                        <a:pt x="0" y="485"/>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36" name="Freeform 4424"/>
                <p:cNvSpPr>
                  <a:spLocks noChangeAspect="1"/>
                </p:cNvSpPr>
                <p:nvPr/>
              </p:nvSpPr>
              <p:spPr bwMode="auto">
                <a:xfrm>
                  <a:off x="2761" y="2287"/>
                  <a:ext cx="7" cy="115"/>
                </a:xfrm>
                <a:custGeom>
                  <a:avLst/>
                  <a:gdLst>
                    <a:gd name="T0" fmla="*/ 0 w 17"/>
                    <a:gd name="T1" fmla="*/ 431 h 431"/>
                    <a:gd name="T2" fmla="*/ 0 w 17"/>
                    <a:gd name="T3" fmla="*/ 0 h 431"/>
                    <a:gd name="T4" fmla="*/ 17 w 17"/>
                    <a:gd name="T5" fmla="*/ 0 h 431"/>
                    <a:gd name="T6" fmla="*/ 17 w 17"/>
                    <a:gd name="T7" fmla="*/ 324 h 431"/>
                    <a:gd name="T8" fmla="*/ 0 w 17"/>
                    <a:gd name="T9" fmla="*/ 431 h 431"/>
                  </a:gdLst>
                  <a:ahLst/>
                  <a:cxnLst>
                    <a:cxn ang="0">
                      <a:pos x="T0" y="T1"/>
                    </a:cxn>
                    <a:cxn ang="0">
                      <a:pos x="T2" y="T3"/>
                    </a:cxn>
                    <a:cxn ang="0">
                      <a:pos x="T4" y="T5"/>
                    </a:cxn>
                    <a:cxn ang="0">
                      <a:pos x="T6" y="T7"/>
                    </a:cxn>
                    <a:cxn ang="0">
                      <a:pos x="T8" y="T9"/>
                    </a:cxn>
                  </a:cxnLst>
                  <a:rect l="0" t="0" r="r" b="b"/>
                  <a:pathLst>
                    <a:path w="17" h="431">
                      <a:moveTo>
                        <a:pt x="0" y="431"/>
                      </a:moveTo>
                      <a:lnTo>
                        <a:pt x="0" y="0"/>
                      </a:lnTo>
                      <a:lnTo>
                        <a:pt x="17" y="0"/>
                      </a:lnTo>
                      <a:lnTo>
                        <a:pt x="17" y="324"/>
                      </a:lnTo>
                      <a:lnTo>
                        <a:pt x="0" y="431"/>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37" name="Freeform 4425"/>
                <p:cNvSpPr>
                  <a:spLocks noChangeAspect="1"/>
                </p:cNvSpPr>
                <p:nvPr/>
              </p:nvSpPr>
              <p:spPr bwMode="auto">
                <a:xfrm>
                  <a:off x="2763" y="2287"/>
                  <a:ext cx="5" cy="102"/>
                </a:xfrm>
                <a:custGeom>
                  <a:avLst/>
                  <a:gdLst>
                    <a:gd name="T0" fmla="*/ 0 w 17"/>
                    <a:gd name="T1" fmla="*/ 378 h 378"/>
                    <a:gd name="T2" fmla="*/ 0 w 17"/>
                    <a:gd name="T3" fmla="*/ 0 h 378"/>
                    <a:gd name="T4" fmla="*/ 17 w 17"/>
                    <a:gd name="T5" fmla="*/ 0 h 378"/>
                    <a:gd name="T6" fmla="*/ 17 w 17"/>
                    <a:gd name="T7" fmla="*/ 269 h 378"/>
                    <a:gd name="T8" fmla="*/ 0 w 17"/>
                    <a:gd name="T9" fmla="*/ 378 h 378"/>
                  </a:gdLst>
                  <a:ahLst/>
                  <a:cxnLst>
                    <a:cxn ang="0">
                      <a:pos x="T0" y="T1"/>
                    </a:cxn>
                    <a:cxn ang="0">
                      <a:pos x="T2" y="T3"/>
                    </a:cxn>
                    <a:cxn ang="0">
                      <a:pos x="T4" y="T5"/>
                    </a:cxn>
                    <a:cxn ang="0">
                      <a:pos x="T6" y="T7"/>
                    </a:cxn>
                    <a:cxn ang="0">
                      <a:pos x="T8" y="T9"/>
                    </a:cxn>
                  </a:cxnLst>
                  <a:rect l="0" t="0" r="r" b="b"/>
                  <a:pathLst>
                    <a:path w="17" h="378">
                      <a:moveTo>
                        <a:pt x="0" y="378"/>
                      </a:moveTo>
                      <a:lnTo>
                        <a:pt x="0" y="0"/>
                      </a:lnTo>
                      <a:lnTo>
                        <a:pt x="17" y="0"/>
                      </a:lnTo>
                      <a:lnTo>
                        <a:pt x="17" y="269"/>
                      </a:lnTo>
                      <a:lnTo>
                        <a:pt x="0" y="378"/>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38" name="Freeform 4426"/>
                <p:cNvSpPr>
                  <a:spLocks noChangeAspect="1"/>
                </p:cNvSpPr>
                <p:nvPr/>
              </p:nvSpPr>
              <p:spPr bwMode="auto">
                <a:xfrm>
                  <a:off x="2766" y="2287"/>
                  <a:ext cx="1" cy="85"/>
                </a:xfrm>
                <a:custGeom>
                  <a:avLst/>
                  <a:gdLst>
                    <a:gd name="T0" fmla="*/ 0 w 17"/>
                    <a:gd name="T1" fmla="*/ 324 h 324"/>
                    <a:gd name="T2" fmla="*/ 0 w 17"/>
                    <a:gd name="T3" fmla="*/ 0 h 324"/>
                    <a:gd name="T4" fmla="*/ 17 w 17"/>
                    <a:gd name="T5" fmla="*/ 0 h 324"/>
                    <a:gd name="T6" fmla="*/ 17 w 17"/>
                    <a:gd name="T7" fmla="*/ 216 h 324"/>
                    <a:gd name="T8" fmla="*/ 0 w 17"/>
                    <a:gd name="T9" fmla="*/ 324 h 324"/>
                  </a:gdLst>
                  <a:ahLst/>
                  <a:cxnLst>
                    <a:cxn ang="0">
                      <a:pos x="T0" y="T1"/>
                    </a:cxn>
                    <a:cxn ang="0">
                      <a:pos x="T2" y="T3"/>
                    </a:cxn>
                    <a:cxn ang="0">
                      <a:pos x="T4" y="T5"/>
                    </a:cxn>
                    <a:cxn ang="0">
                      <a:pos x="T6" y="T7"/>
                    </a:cxn>
                    <a:cxn ang="0">
                      <a:pos x="T8" y="T9"/>
                    </a:cxn>
                  </a:cxnLst>
                  <a:rect l="0" t="0" r="r" b="b"/>
                  <a:pathLst>
                    <a:path w="17" h="324">
                      <a:moveTo>
                        <a:pt x="0" y="324"/>
                      </a:moveTo>
                      <a:lnTo>
                        <a:pt x="0" y="0"/>
                      </a:lnTo>
                      <a:lnTo>
                        <a:pt x="17" y="0"/>
                      </a:lnTo>
                      <a:lnTo>
                        <a:pt x="17" y="216"/>
                      </a:lnTo>
                      <a:lnTo>
                        <a:pt x="0" y="324"/>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39" name="Freeform 4427"/>
                <p:cNvSpPr>
                  <a:spLocks noChangeAspect="1"/>
                </p:cNvSpPr>
                <p:nvPr/>
              </p:nvSpPr>
              <p:spPr bwMode="auto">
                <a:xfrm>
                  <a:off x="2768" y="2287"/>
                  <a:ext cx="7" cy="71"/>
                </a:xfrm>
                <a:custGeom>
                  <a:avLst/>
                  <a:gdLst>
                    <a:gd name="T0" fmla="*/ 0 w 16"/>
                    <a:gd name="T1" fmla="*/ 269 h 269"/>
                    <a:gd name="T2" fmla="*/ 0 w 16"/>
                    <a:gd name="T3" fmla="*/ 0 h 269"/>
                    <a:gd name="T4" fmla="*/ 16 w 16"/>
                    <a:gd name="T5" fmla="*/ 0 h 269"/>
                    <a:gd name="T6" fmla="*/ 16 w 16"/>
                    <a:gd name="T7" fmla="*/ 162 h 269"/>
                    <a:gd name="T8" fmla="*/ 0 w 16"/>
                    <a:gd name="T9" fmla="*/ 269 h 269"/>
                  </a:gdLst>
                  <a:ahLst/>
                  <a:cxnLst>
                    <a:cxn ang="0">
                      <a:pos x="T0" y="T1"/>
                    </a:cxn>
                    <a:cxn ang="0">
                      <a:pos x="T2" y="T3"/>
                    </a:cxn>
                    <a:cxn ang="0">
                      <a:pos x="T4" y="T5"/>
                    </a:cxn>
                    <a:cxn ang="0">
                      <a:pos x="T6" y="T7"/>
                    </a:cxn>
                    <a:cxn ang="0">
                      <a:pos x="T8" y="T9"/>
                    </a:cxn>
                  </a:cxnLst>
                  <a:rect l="0" t="0" r="r" b="b"/>
                  <a:pathLst>
                    <a:path w="16" h="269">
                      <a:moveTo>
                        <a:pt x="0" y="269"/>
                      </a:moveTo>
                      <a:lnTo>
                        <a:pt x="0" y="0"/>
                      </a:lnTo>
                      <a:lnTo>
                        <a:pt x="16" y="0"/>
                      </a:lnTo>
                      <a:lnTo>
                        <a:pt x="16" y="162"/>
                      </a:lnTo>
                      <a:lnTo>
                        <a:pt x="0" y="269"/>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40" name="Freeform 4428"/>
                <p:cNvSpPr>
                  <a:spLocks noChangeAspect="1"/>
                </p:cNvSpPr>
                <p:nvPr/>
              </p:nvSpPr>
              <p:spPr bwMode="auto">
                <a:xfrm>
                  <a:off x="2769" y="2287"/>
                  <a:ext cx="6" cy="57"/>
                </a:xfrm>
                <a:custGeom>
                  <a:avLst/>
                  <a:gdLst>
                    <a:gd name="T0" fmla="*/ 0 w 16"/>
                    <a:gd name="T1" fmla="*/ 216 h 216"/>
                    <a:gd name="T2" fmla="*/ 0 w 16"/>
                    <a:gd name="T3" fmla="*/ 0 h 216"/>
                    <a:gd name="T4" fmla="*/ 16 w 16"/>
                    <a:gd name="T5" fmla="*/ 0 h 216"/>
                    <a:gd name="T6" fmla="*/ 16 w 16"/>
                    <a:gd name="T7" fmla="*/ 108 h 216"/>
                    <a:gd name="T8" fmla="*/ 0 w 16"/>
                    <a:gd name="T9" fmla="*/ 216 h 216"/>
                  </a:gdLst>
                  <a:ahLst/>
                  <a:cxnLst>
                    <a:cxn ang="0">
                      <a:pos x="T0" y="T1"/>
                    </a:cxn>
                    <a:cxn ang="0">
                      <a:pos x="T2" y="T3"/>
                    </a:cxn>
                    <a:cxn ang="0">
                      <a:pos x="T4" y="T5"/>
                    </a:cxn>
                    <a:cxn ang="0">
                      <a:pos x="T6" y="T7"/>
                    </a:cxn>
                    <a:cxn ang="0">
                      <a:pos x="T8" y="T9"/>
                    </a:cxn>
                  </a:cxnLst>
                  <a:rect l="0" t="0" r="r" b="b"/>
                  <a:pathLst>
                    <a:path w="16" h="216">
                      <a:moveTo>
                        <a:pt x="0" y="216"/>
                      </a:moveTo>
                      <a:lnTo>
                        <a:pt x="0" y="0"/>
                      </a:lnTo>
                      <a:lnTo>
                        <a:pt x="16" y="0"/>
                      </a:lnTo>
                      <a:lnTo>
                        <a:pt x="16" y="108"/>
                      </a:lnTo>
                      <a:lnTo>
                        <a:pt x="0" y="216"/>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41" name="Freeform 4429"/>
                <p:cNvSpPr>
                  <a:spLocks noChangeAspect="1"/>
                </p:cNvSpPr>
                <p:nvPr/>
              </p:nvSpPr>
              <p:spPr bwMode="auto">
                <a:xfrm>
                  <a:off x="2772" y="2287"/>
                  <a:ext cx="2" cy="43"/>
                </a:xfrm>
                <a:custGeom>
                  <a:avLst/>
                  <a:gdLst>
                    <a:gd name="T0" fmla="*/ 0 w 17"/>
                    <a:gd name="T1" fmla="*/ 162 h 162"/>
                    <a:gd name="T2" fmla="*/ 0 w 17"/>
                    <a:gd name="T3" fmla="*/ 0 h 162"/>
                    <a:gd name="T4" fmla="*/ 17 w 17"/>
                    <a:gd name="T5" fmla="*/ 0 h 162"/>
                    <a:gd name="T6" fmla="*/ 17 w 17"/>
                    <a:gd name="T7" fmla="*/ 55 h 162"/>
                    <a:gd name="T8" fmla="*/ 0 w 17"/>
                    <a:gd name="T9" fmla="*/ 162 h 162"/>
                  </a:gdLst>
                  <a:ahLst/>
                  <a:cxnLst>
                    <a:cxn ang="0">
                      <a:pos x="T0" y="T1"/>
                    </a:cxn>
                    <a:cxn ang="0">
                      <a:pos x="T2" y="T3"/>
                    </a:cxn>
                    <a:cxn ang="0">
                      <a:pos x="T4" y="T5"/>
                    </a:cxn>
                    <a:cxn ang="0">
                      <a:pos x="T6" y="T7"/>
                    </a:cxn>
                    <a:cxn ang="0">
                      <a:pos x="T8" y="T9"/>
                    </a:cxn>
                  </a:cxnLst>
                  <a:rect l="0" t="0" r="r" b="b"/>
                  <a:pathLst>
                    <a:path w="17" h="162">
                      <a:moveTo>
                        <a:pt x="0" y="162"/>
                      </a:moveTo>
                      <a:lnTo>
                        <a:pt x="0" y="0"/>
                      </a:lnTo>
                      <a:lnTo>
                        <a:pt x="17" y="0"/>
                      </a:lnTo>
                      <a:lnTo>
                        <a:pt x="17" y="55"/>
                      </a:lnTo>
                      <a:lnTo>
                        <a:pt x="0" y="162"/>
                      </a:lnTo>
                      <a:close/>
                    </a:path>
                  </a:pathLst>
                </a:custGeom>
                <a:gradFill rotWithShape="0">
                  <a:gsLst>
                    <a:gs pos="0">
                      <a:schemeClr val="hlink"/>
                    </a:gs>
                    <a:gs pos="50000">
                      <a:schemeClr val="hlink">
                        <a:gamma/>
                        <a:tint val="30196"/>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8942" name="Freeform 4430"/>
                <p:cNvSpPr>
                  <a:spLocks noChangeAspect="1"/>
                </p:cNvSpPr>
                <p:nvPr/>
              </p:nvSpPr>
              <p:spPr bwMode="auto">
                <a:xfrm>
                  <a:off x="2673" y="2287"/>
                  <a:ext cx="105" cy="326"/>
                </a:xfrm>
                <a:custGeom>
                  <a:avLst/>
                  <a:gdLst>
                    <a:gd name="T0" fmla="*/ 0 w 416"/>
                    <a:gd name="T1" fmla="*/ 0 h 1235"/>
                    <a:gd name="T2" fmla="*/ 416 w 416"/>
                    <a:gd name="T3" fmla="*/ 0 h 1235"/>
                    <a:gd name="T4" fmla="*/ 225 w 416"/>
                    <a:gd name="T5" fmla="*/ 1235 h 1235"/>
                    <a:gd name="T6" fmla="*/ 0 w 416"/>
                    <a:gd name="T7" fmla="*/ 0 h 1235"/>
                  </a:gdLst>
                  <a:ahLst/>
                  <a:cxnLst>
                    <a:cxn ang="0">
                      <a:pos x="T0" y="T1"/>
                    </a:cxn>
                    <a:cxn ang="0">
                      <a:pos x="T2" y="T3"/>
                    </a:cxn>
                    <a:cxn ang="0">
                      <a:pos x="T4" y="T5"/>
                    </a:cxn>
                    <a:cxn ang="0">
                      <a:pos x="T6" y="T7"/>
                    </a:cxn>
                  </a:cxnLst>
                  <a:rect l="0" t="0" r="r" b="b"/>
                  <a:pathLst>
                    <a:path w="416" h="1235">
                      <a:moveTo>
                        <a:pt x="0" y="0"/>
                      </a:moveTo>
                      <a:lnTo>
                        <a:pt x="416" y="0"/>
                      </a:lnTo>
                      <a:lnTo>
                        <a:pt x="225" y="1235"/>
                      </a:lnTo>
                      <a:lnTo>
                        <a:pt x="0" y="0"/>
                      </a:lnTo>
                    </a:path>
                  </a:pathLst>
                </a:custGeom>
                <a:gradFill rotWithShape="0">
                  <a:gsLst>
                    <a:gs pos="0">
                      <a:schemeClr val="hlink"/>
                    </a:gs>
                    <a:gs pos="50000">
                      <a:schemeClr val="hlink">
                        <a:gamma/>
                        <a:tint val="30196"/>
                        <a:invGamma/>
                      </a:schemeClr>
                    </a:gs>
                    <a:gs pos="100000">
                      <a:schemeClr val="hlink"/>
                    </a:gs>
                  </a:gsLst>
                  <a:lin ang="0" scaled="1"/>
                </a:gradFill>
                <a:ln w="1588">
                  <a:solidFill>
                    <a:srgbClr val="1F1A17"/>
                  </a:solidFill>
                  <a:prstDash val="solid"/>
                  <a:round/>
                  <a:headEnd/>
                  <a:tailEnd/>
                </a:ln>
              </p:spPr>
              <p:txBody>
                <a:bodyPr/>
                <a:lstStyle/>
                <a:p>
                  <a:pPr>
                    <a:defRPr/>
                  </a:pPr>
                  <a:endParaRPr lang="en-US"/>
                </a:p>
              </p:txBody>
            </p:sp>
          </p:grpSp>
        </p:grpSp>
        <p:grpSp>
          <p:nvGrpSpPr>
            <p:cNvPr id="386466" name="Group 4431"/>
            <p:cNvGrpSpPr>
              <a:grpSpLocks noChangeAspect="1"/>
            </p:cNvGrpSpPr>
            <p:nvPr/>
          </p:nvGrpSpPr>
          <p:grpSpPr bwMode="auto">
            <a:xfrm>
              <a:off x="3220" y="2231"/>
              <a:ext cx="221" cy="158"/>
              <a:chOff x="4212" y="970"/>
              <a:chExt cx="377" cy="258"/>
            </a:xfrm>
          </p:grpSpPr>
          <p:sp>
            <p:nvSpPr>
              <p:cNvPr id="386994" name="Freeform 4432"/>
              <p:cNvSpPr>
                <a:spLocks noChangeAspect="1"/>
              </p:cNvSpPr>
              <p:nvPr/>
            </p:nvSpPr>
            <p:spPr bwMode="auto">
              <a:xfrm>
                <a:off x="4241" y="1083"/>
                <a:ext cx="5" cy="53"/>
              </a:xfrm>
              <a:custGeom>
                <a:avLst/>
                <a:gdLst>
                  <a:gd name="T0" fmla="*/ 0 w 16"/>
                  <a:gd name="T1" fmla="*/ 0 h 158"/>
                  <a:gd name="T2" fmla="*/ 0 w 16"/>
                  <a:gd name="T3" fmla="*/ 0 h 158"/>
                  <a:gd name="T4" fmla="*/ 0 w 16"/>
                  <a:gd name="T5" fmla="*/ 0 h 158"/>
                  <a:gd name="T6" fmla="*/ 0 w 16"/>
                  <a:gd name="T7" fmla="*/ 0 h 158"/>
                  <a:gd name="T8" fmla="*/ 0 w 16"/>
                  <a:gd name="T9" fmla="*/ 0 h 158"/>
                  <a:gd name="T10" fmla="*/ 0 w 16"/>
                  <a:gd name="T11" fmla="*/ 0 h 158"/>
                  <a:gd name="T12" fmla="*/ 0 w 16"/>
                  <a:gd name="T13" fmla="*/ 0 h 158"/>
                  <a:gd name="T14" fmla="*/ 0 w 16"/>
                  <a:gd name="T15" fmla="*/ 0 h 158"/>
                  <a:gd name="T16" fmla="*/ 0 w 16"/>
                  <a:gd name="T17" fmla="*/ 0 h 158"/>
                  <a:gd name="T18" fmla="*/ 0 w 16"/>
                  <a:gd name="T19" fmla="*/ 0 h 158"/>
                  <a:gd name="T20" fmla="*/ 0 w 16"/>
                  <a:gd name="T21" fmla="*/ 0 h 158"/>
                  <a:gd name="T22" fmla="*/ 0 w 16"/>
                  <a:gd name="T23" fmla="*/ 0 h 158"/>
                  <a:gd name="T24" fmla="*/ 0 w 16"/>
                  <a:gd name="T25" fmla="*/ 0 h 158"/>
                  <a:gd name="T26" fmla="*/ 0 w 16"/>
                  <a:gd name="T27" fmla="*/ 0 h 158"/>
                  <a:gd name="T28" fmla="*/ 0 w 16"/>
                  <a:gd name="T29" fmla="*/ 0 h 158"/>
                  <a:gd name="T30" fmla="*/ 0 w 16"/>
                  <a:gd name="T31" fmla="*/ 0 h 158"/>
                  <a:gd name="T32" fmla="*/ 0 w 16"/>
                  <a:gd name="T33" fmla="*/ 0 h 158"/>
                  <a:gd name="T34" fmla="*/ 0 w 16"/>
                  <a:gd name="T35" fmla="*/ 0 h 158"/>
                  <a:gd name="T36" fmla="*/ 0 w 16"/>
                  <a:gd name="T37" fmla="*/ 0 h 158"/>
                  <a:gd name="T38" fmla="*/ 0 w 16"/>
                  <a:gd name="T39" fmla="*/ 0 h 1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6" h="158">
                    <a:moveTo>
                      <a:pt x="0" y="123"/>
                    </a:moveTo>
                    <a:lnTo>
                      <a:pt x="0" y="120"/>
                    </a:lnTo>
                    <a:lnTo>
                      <a:pt x="0" y="105"/>
                    </a:lnTo>
                    <a:lnTo>
                      <a:pt x="1" y="89"/>
                    </a:lnTo>
                    <a:lnTo>
                      <a:pt x="2" y="74"/>
                    </a:lnTo>
                    <a:lnTo>
                      <a:pt x="4" y="58"/>
                    </a:lnTo>
                    <a:lnTo>
                      <a:pt x="6" y="44"/>
                    </a:lnTo>
                    <a:lnTo>
                      <a:pt x="8" y="29"/>
                    </a:lnTo>
                    <a:lnTo>
                      <a:pt x="12" y="14"/>
                    </a:lnTo>
                    <a:lnTo>
                      <a:pt x="16" y="0"/>
                    </a:lnTo>
                    <a:lnTo>
                      <a:pt x="16" y="158"/>
                    </a:lnTo>
                    <a:lnTo>
                      <a:pt x="1" y="158"/>
                    </a:lnTo>
                    <a:lnTo>
                      <a:pt x="1" y="154"/>
                    </a:lnTo>
                    <a:lnTo>
                      <a:pt x="1" y="150"/>
                    </a:lnTo>
                    <a:lnTo>
                      <a:pt x="0" y="146"/>
                    </a:lnTo>
                    <a:lnTo>
                      <a:pt x="0" y="141"/>
                    </a:lnTo>
                    <a:lnTo>
                      <a:pt x="0" y="137"/>
                    </a:lnTo>
                    <a:lnTo>
                      <a:pt x="0" y="133"/>
                    </a:lnTo>
                    <a:lnTo>
                      <a:pt x="0" y="128"/>
                    </a:lnTo>
                    <a:lnTo>
                      <a:pt x="0" y="12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995" name="Freeform 4433"/>
              <p:cNvSpPr>
                <a:spLocks noChangeAspect="1"/>
              </p:cNvSpPr>
              <p:nvPr/>
            </p:nvSpPr>
            <p:spPr bwMode="auto">
              <a:xfrm>
                <a:off x="4241" y="1067"/>
                <a:ext cx="10" cy="69"/>
              </a:xfrm>
              <a:custGeom>
                <a:avLst/>
                <a:gdLst>
                  <a:gd name="T0" fmla="*/ 0 w 31"/>
                  <a:gd name="T1" fmla="*/ 0 h 207"/>
                  <a:gd name="T2" fmla="*/ 0 w 31"/>
                  <a:gd name="T3" fmla="*/ 0 h 207"/>
                  <a:gd name="T4" fmla="*/ 0 w 31"/>
                  <a:gd name="T5" fmla="*/ 0 h 207"/>
                  <a:gd name="T6" fmla="*/ 0 w 31"/>
                  <a:gd name="T7" fmla="*/ 0 h 207"/>
                  <a:gd name="T8" fmla="*/ 0 w 31"/>
                  <a:gd name="T9" fmla="*/ 0 h 207"/>
                  <a:gd name="T10" fmla="*/ 0 w 31"/>
                  <a:gd name="T11" fmla="*/ 0 h 207"/>
                  <a:gd name="T12" fmla="*/ 0 w 31"/>
                  <a:gd name="T13" fmla="*/ 0 h 207"/>
                  <a:gd name="T14" fmla="*/ 0 w 31"/>
                  <a:gd name="T15" fmla="*/ 0 h 207"/>
                  <a:gd name="T16" fmla="*/ 0 w 31"/>
                  <a:gd name="T17" fmla="*/ 0 h 207"/>
                  <a:gd name="T18" fmla="*/ 0 w 31"/>
                  <a:gd name="T19" fmla="*/ 0 h 207"/>
                  <a:gd name="T20" fmla="*/ 0 w 31"/>
                  <a:gd name="T21" fmla="*/ 0 h 207"/>
                  <a:gd name="T22" fmla="*/ 0 w 31"/>
                  <a:gd name="T23" fmla="*/ 0 h 207"/>
                  <a:gd name="T24" fmla="*/ 0 w 31"/>
                  <a:gd name="T25" fmla="*/ 0 h 207"/>
                  <a:gd name="T26" fmla="*/ 0 w 31"/>
                  <a:gd name="T27" fmla="*/ 0 h 207"/>
                  <a:gd name="T28" fmla="*/ 0 w 31"/>
                  <a:gd name="T29" fmla="*/ 0 h 207"/>
                  <a:gd name="T30" fmla="*/ 0 w 31"/>
                  <a:gd name="T31" fmla="*/ 0 h 207"/>
                  <a:gd name="T32" fmla="*/ 0 w 31"/>
                  <a:gd name="T33" fmla="*/ 0 h 207"/>
                  <a:gd name="T34" fmla="*/ 0 w 31"/>
                  <a:gd name="T35" fmla="*/ 0 h 207"/>
                  <a:gd name="T36" fmla="*/ 0 w 31"/>
                  <a:gd name="T37" fmla="*/ 0 h 207"/>
                  <a:gd name="T38" fmla="*/ 0 w 31"/>
                  <a:gd name="T39" fmla="*/ 0 h 2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 h="207">
                    <a:moveTo>
                      <a:pt x="0" y="172"/>
                    </a:moveTo>
                    <a:lnTo>
                      <a:pt x="0" y="169"/>
                    </a:lnTo>
                    <a:lnTo>
                      <a:pt x="0" y="147"/>
                    </a:lnTo>
                    <a:lnTo>
                      <a:pt x="2" y="126"/>
                    </a:lnTo>
                    <a:lnTo>
                      <a:pt x="4" y="103"/>
                    </a:lnTo>
                    <a:lnTo>
                      <a:pt x="8" y="82"/>
                    </a:lnTo>
                    <a:lnTo>
                      <a:pt x="12" y="61"/>
                    </a:lnTo>
                    <a:lnTo>
                      <a:pt x="18" y="40"/>
                    </a:lnTo>
                    <a:lnTo>
                      <a:pt x="24" y="20"/>
                    </a:lnTo>
                    <a:lnTo>
                      <a:pt x="31" y="0"/>
                    </a:lnTo>
                    <a:lnTo>
                      <a:pt x="31" y="207"/>
                    </a:lnTo>
                    <a:lnTo>
                      <a:pt x="1" y="207"/>
                    </a:lnTo>
                    <a:lnTo>
                      <a:pt x="1" y="203"/>
                    </a:lnTo>
                    <a:lnTo>
                      <a:pt x="1" y="199"/>
                    </a:lnTo>
                    <a:lnTo>
                      <a:pt x="0" y="195"/>
                    </a:lnTo>
                    <a:lnTo>
                      <a:pt x="0" y="190"/>
                    </a:lnTo>
                    <a:lnTo>
                      <a:pt x="0" y="186"/>
                    </a:lnTo>
                    <a:lnTo>
                      <a:pt x="0" y="182"/>
                    </a:lnTo>
                    <a:lnTo>
                      <a:pt x="0" y="177"/>
                    </a:lnTo>
                    <a:lnTo>
                      <a:pt x="0" y="17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996" name="Freeform 4434"/>
              <p:cNvSpPr>
                <a:spLocks noChangeAspect="1"/>
              </p:cNvSpPr>
              <p:nvPr/>
            </p:nvSpPr>
            <p:spPr bwMode="auto">
              <a:xfrm>
                <a:off x="4246" y="1055"/>
                <a:ext cx="11" cy="81"/>
              </a:xfrm>
              <a:custGeom>
                <a:avLst/>
                <a:gdLst>
                  <a:gd name="T0" fmla="*/ 0 w 31"/>
                  <a:gd name="T1" fmla="*/ 0 h 243"/>
                  <a:gd name="T2" fmla="*/ 0 w 31"/>
                  <a:gd name="T3" fmla="*/ 0 h 243"/>
                  <a:gd name="T4" fmla="*/ 0 w 31"/>
                  <a:gd name="T5" fmla="*/ 0 h 243"/>
                  <a:gd name="T6" fmla="*/ 0 w 31"/>
                  <a:gd name="T7" fmla="*/ 0 h 243"/>
                  <a:gd name="T8" fmla="*/ 0 w 31"/>
                  <a:gd name="T9" fmla="*/ 0 h 243"/>
                  <a:gd name="T10" fmla="*/ 0 w 31"/>
                  <a:gd name="T11" fmla="*/ 0 h 243"/>
                  <a:gd name="T12" fmla="*/ 0 w 31"/>
                  <a:gd name="T13" fmla="*/ 0 h 243"/>
                  <a:gd name="T14" fmla="*/ 0 w 31"/>
                  <a:gd name="T15" fmla="*/ 0 h 243"/>
                  <a:gd name="T16" fmla="*/ 0 w 31"/>
                  <a:gd name="T17" fmla="*/ 0 h 243"/>
                  <a:gd name="T18" fmla="*/ 0 w 31"/>
                  <a:gd name="T19" fmla="*/ 0 h 243"/>
                  <a:gd name="T20" fmla="*/ 0 w 31"/>
                  <a:gd name="T21" fmla="*/ 0 h 243"/>
                  <a:gd name="T22" fmla="*/ 0 w 31"/>
                  <a:gd name="T23" fmla="*/ 0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243">
                    <a:moveTo>
                      <a:pt x="0" y="243"/>
                    </a:moveTo>
                    <a:lnTo>
                      <a:pt x="0" y="85"/>
                    </a:lnTo>
                    <a:lnTo>
                      <a:pt x="3" y="73"/>
                    </a:lnTo>
                    <a:lnTo>
                      <a:pt x="6" y="63"/>
                    </a:lnTo>
                    <a:lnTo>
                      <a:pt x="10" y="52"/>
                    </a:lnTo>
                    <a:lnTo>
                      <a:pt x="13" y="41"/>
                    </a:lnTo>
                    <a:lnTo>
                      <a:pt x="18" y="31"/>
                    </a:lnTo>
                    <a:lnTo>
                      <a:pt x="22" y="21"/>
                    </a:lnTo>
                    <a:lnTo>
                      <a:pt x="27" y="11"/>
                    </a:lnTo>
                    <a:lnTo>
                      <a:pt x="31" y="0"/>
                    </a:lnTo>
                    <a:lnTo>
                      <a:pt x="31" y="243"/>
                    </a:lnTo>
                    <a:lnTo>
                      <a:pt x="0" y="24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997" name="Freeform 4435"/>
              <p:cNvSpPr>
                <a:spLocks noChangeAspect="1"/>
              </p:cNvSpPr>
              <p:nvPr/>
            </p:nvSpPr>
            <p:spPr bwMode="auto">
              <a:xfrm>
                <a:off x="4251" y="1045"/>
                <a:ext cx="11" cy="91"/>
              </a:xfrm>
              <a:custGeom>
                <a:avLst/>
                <a:gdLst>
                  <a:gd name="T0" fmla="*/ 0 w 33"/>
                  <a:gd name="T1" fmla="*/ 0 h 272"/>
                  <a:gd name="T2" fmla="*/ 0 w 33"/>
                  <a:gd name="T3" fmla="*/ 0 h 272"/>
                  <a:gd name="T4" fmla="*/ 0 w 33"/>
                  <a:gd name="T5" fmla="*/ 0 h 272"/>
                  <a:gd name="T6" fmla="*/ 0 w 33"/>
                  <a:gd name="T7" fmla="*/ 0 h 272"/>
                  <a:gd name="T8" fmla="*/ 0 w 33"/>
                  <a:gd name="T9" fmla="*/ 0 h 272"/>
                  <a:gd name="T10" fmla="*/ 0 w 33"/>
                  <a:gd name="T11" fmla="*/ 0 h 272"/>
                  <a:gd name="T12" fmla="*/ 0 w 33"/>
                  <a:gd name="T13" fmla="*/ 0 h 272"/>
                  <a:gd name="T14" fmla="*/ 0 w 33"/>
                  <a:gd name="T15" fmla="*/ 0 h 272"/>
                  <a:gd name="T16" fmla="*/ 0 w 33"/>
                  <a:gd name="T17" fmla="*/ 0 h 272"/>
                  <a:gd name="T18" fmla="*/ 0 w 33"/>
                  <a:gd name="T19" fmla="*/ 0 h 272"/>
                  <a:gd name="T20" fmla="*/ 0 w 33"/>
                  <a:gd name="T21" fmla="*/ 0 h 272"/>
                  <a:gd name="T22" fmla="*/ 0 w 33"/>
                  <a:gd name="T23" fmla="*/ 0 h 2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272">
                    <a:moveTo>
                      <a:pt x="0" y="272"/>
                    </a:moveTo>
                    <a:lnTo>
                      <a:pt x="0" y="65"/>
                    </a:lnTo>
                    <a:lnTo>
                      <a:pt x="4" y="57"/>
                    </a:lnTo>
                    <a:lnTo>
                      <a:pt x="8" y="48"/>
                    </a:lnTo>
                    <a:lnTo>
                      <a:pt x="11" y="41"/>
                    </a:lnTo>
                    <a:lnTo>
                      <a:pt x="15" y="32"/>
                    </a:lnTo>
                    <a:lnTo>
                      <a:pt x="20" y="24"/>
                    </a:lnTo>
                    <a:lnTo>
                      <a:pt x="24" y="16"/>
                    </a:lnTo>
                    <a:lnTo>
                      <a:pt x="28" y="8"/>
                    </a:lnTo>
                    <a:lnTo>
                      <a:pt x="33" y="0"/>
                    </a:lnTo>
                    <a:lnTo>
                      <a:pt x="33" y="272"/>
                    </a:lnTo>
                    <a:lnTo>
                      <a:pt x="0" y="27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998" name="Freeform 4436"/>
              <p:cNvSpPr>
                <a:spLocks noChangeAspect="1"/>
              </p:cNvSpPr>
              <p:nvPr/>
            </p:nvSpPr>
            <p:spPr bwMode="auto">
              <a:xfrm>
                <a:off x="4257" y="1037"/>
                <a:ext cx="11" cy="99"/>
              </a:xfrm>
              <a:custGeom>
                <a:avLst/>
                <a:gdLst>
                  <a:gd name="T0" fmla="*/ 0 w 33"/>
                  <a:gd name="T1" fmla="*/ 0 h 297"/>
                  <a:gd name="T2" fmla="*/ 0 w 33"/>
                  <a:gd name="T3" fmla="*/ 0 h 297"/>
                  <a:gd name="T4" fmla="*/ 0 w 33"/>
                  <a:gd name="T5" fmla="*/ 0 h 297"/>
                  <a:gd name="T6" fmla="*/ 0 w 33"/>
                  <a:gd name="T7" fmla="*/ 0 h 297"/>
                  <a:gd name="T8" fmla="*/ 0 w 33"/>
                  <a:gd name="T9" fmla="*/ 0 h 297"/>
                  <a:gd name="T10" fmla="*/ 0 w 33"/>
                  <a:gd name="T11" fmla="*/ 0 h 297"/>
                  <a:gd name="T12" fmla="*/ 0 w 33"/>
                  <a:gd name="T13" fmla="*/ 0 h 297"/>
                  <a:gd name="T14" fmla="*/ 0 w 33"/>
                  <a:gd name="T15" fmla="*/ 0 h 297"/>
                  <a:gd name="T16" fmla="*/ 0 w 33"/>
                  <a:gd name="T17" fmla="*/ 0 h 297"/>
                  <a:gd name="T18" fmla="*/ 0 w 33"/>
                  <a:gd name="T19" fmla="*/ 0 h 297"/>
                  <a:gd name="T20" fmla="*/ 0 w 33"/>
                  <a:gd name="T21" fmla="*/ 0 h 297"/>
                  <a:gd name="T22" fmla="*/ 0 w 33"/>
                  <a:gd name="T23" fmla="*/ 0 h 2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297">
                    <a:moveTo>
                      <a:pt x="0" y="297"/>
                    </a:moveTo>
                    <a:lnTo>
                      <a:pt x="0" y="54"/>
                    </a:lnTo>
                    <a:lnTo>
                      <a:pt x="5" y="48"/>
                    </a:lnTo>
                    <a:lnTo>
                      <a:pt x="8" y="40"/>
                    </a:lnTo>
                    <a:lnTo>
                      <a:pt x="12" y="34"/>
                    </a:lnTo>
                    <a:lnTo>
                      <a:pt x="16" y="26"/>
                    </a:lnTo>
                    <a:lnTo>
                      <a:pt x="21" y="20"/>
                    </a:lnTo>
                    <a:lnTo>
                      <a:pt x="25" y="12"/>
                    </a:lnTo>
                    <a:lnTo>
                      <a:pt x="29" y="6"/>
                    </a:lnTo>
                    <a:lnTo>
                      <a:pt x="33" y="0"/>
                    </a:lnTo>
                    <a:lnTo>
                      <a:pt x="33" y="297"/>
                    </a:lnTo>
                    <a:lnTo>
                      <a:pt x="0" y="2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999" name="Freeform 4437"/>
              <p:cNvSpPr>
                <a:spLocks noChangeAspect="1"/>
              </p:cNvSpPr>
              <p:nvPr/>
            </p:nvSpPr>
            <p:spPr bwMode="auto">
              <a:xfrm>
                <a:off x="4262" y="1029"/>
                <a:ext cx="11" cy="107"/>
              </a:xfrm>
              <a:custGeom>
                <a:avLst/>
                <a:gdLst>
                  <a:gd name="T0" fmla="*/ 0 w 32"/>
                  <a:gd name="T1" fmla="*/ 0 h 320"/>
                  <a:gd name="T2" fmla="*/ 0 w 32"/>
                  <a:gd name="T3" fmla="*/ 0 h 320"/>
                  <a:gd name="T4" fmla="*/ 0 w 32"/>
                  <a:gd name="T5" fmla="*/ 0 h 320"/>
                  <a:gd name="T6" fmla="*/ 0 w 32"/>
                  <a:gd name="T7" fmla="*/ 0 h 320"/>
                  <a:gd name="T8" fmla="*/ 0 w 32"/>
                  <a:gd name="T9" fmla="*/ 0 h 320"/>
                  <a:gd name="T10" fmla="*/ 0 w 32"/>
                  <a:gd name="T11" fmla="*/ 0 h 320"/>
                  <a:gd name="T12" fmla="*/ 0 w 32"/>
                  <a:gd name="T13" fmla="*/ 0 h 320"/>
                  <a:gd name="T14" fmla="*/ 0 w 32"/>
                  <a:gd name="T15" fmla="*/ 0 h 320"/>
                  <a:gd name="T16" fmla="*/ 0 w 32"/>
                  <a:gd name="T17" fmla="*/ 0 h 320"/>
                  <a:gd name="T18" fmla="*/ 0 w 32"/>
                  <a:gd name="T19" fmla="*/ 0 h 320"/>
                  <a:gd name="T20" fmla="*/ 0 w 32"/>
                  <a:gd name="T21" fmla="*/ 0 h 320"/>
                  <a:gd name="T22" fmla="*/ 0 w 32"/>
                  <a:gd name="T23" fmla="*/ 0 h 3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20">
                    <a:moveTo>
                      <a:pt x="0" y="320"/>
                    </a:moveTo>
                    <a:lnTo>
                      <a:pt x="0" y="48"/>
                    </a:lnTo>
                    <a:lnTo>
                      <a:pt x="4" y="42"/>
                    </a:lnTo>
                    <a:lnTo>
                      <a:pt x="8" y="35"/>
                    </a:lnTo>
                    <a:lnTo>
                      <a:pt x="11" y="30"/>
                    </a:lnTo>
                    <a:lnTo>
                      <a:pt x="15" y="24"/>
                    </a:lnTo>
                    <a:lnTo>
                      <a:pt x="20" y="17"/>
                    </a:lnTo>
                    <a:lnTo>
                      <a:pt x="24" y="12"/>
                    </a:lnTo>
                    <a:lnTo>
                      <a:pt x="28" y="7"/>
                    </a:lnTo>
                    <a:lnTo>
                      <a:pt x="32" y="0"/>
                    </a:lnTo>
                    <a:lnTo>
                      <a:pt x="32" y="320"/>
                    </a:lnTo>
                    <a:lnTo>
                      <a:pt x="0" y="3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00" name="Freeform 4438"/>
              <p:cNvSpPr>
                <a:spLocks noChangeAspect="1"/>
              </p:cNvSpPr>
              <p:nvPr/>
            </p:nvSpPr>
            <p:spPr bwMode="auto">
              <a:xfrm>
                <a:off x="4268" y="1023"/>
                <a:ext cx="10" cy="113"/>
              </a:xfrm>
              <a:custGeom>
                <a:avLst/>
                <a:gdLst>
                  <a:gd name="T0" fmla="*/ 0 w 32"/>
                  <a:gd name="T1" fmla="*/ 0 h 339"/>
                  <a:gd name="T2" fmla="*/ 0 w 32"/>
                  <a:gd name="T3" fmla="*/ 0 h 339"/>
                  <a:gd name="T4" fmla="*/ 0 w 32"/>
                  <a:gd name="T5" fmla="*/ 0 h 339"/>
                  <a:gd name="T6" fmla="*/ 0 w 32"/>
                  <a:gd name="T7" fmla="*/ 0 h 339"/>
                  <a:gd name="T8" fmla="*/ 0 w 32"/>
                  <a:gd name="T9" fmla="*/ 0 h 339"/>
                  <a:gd name="T10" fmla="*/ 0 w 32"/>
                  <a:gd name="T11" fmla="*/ 0 h 339"/>
                  <a:gd name="T12" fmla="*/ 0 w 32"/>
                  <a:gd name="T13" fmla="*/ 0 h 339"/>
                  <a:gd name="T14" fmla="*/ 0 w 32"/>
                  <a:gd name="T15" fmla="*/ 0 h 339"/>
                  <a:gd name="T16" fmla="*/ 0 w 32"/>
                  <a:gd name="T17" fmla="*/ 0 h 339"/>
                  <a:gd name="T18" fmla="*/ 0 w 32"/>
                  <a:gd name="T19" fmla="*/ 0 h 339"/>
                  <a:gd name="T20" fmla="*/ 0 w 32"/>
                  <a:gd name="T21" fmla="*/ 0 h 339"/>
                  <a:gd name="T22" fmla="*/ 0 w 32"/>
                  <a:gd name="T23" fmla="*/ 0 h 3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39">
                    <a:moveTo>
                      <a:pt x="0" y="339"/>
                    </a:moveTo>
                    <a:lnTo>
                      <a:pt x="0" y="42"/>
                    </a:lnTo>
                    <a:lnTo>
                      <a:pt x="4" y="36"/>
                    </a:lnTo>
                    <a:lnTo>
                      <a:pt x="8" y="31"/>
                    </a:lnTo>
                    <a:lnTo>
                      <a:pt x="12" y="26"/>
                    </a:lnTo>
                    <a:lnTo>
                      <a:pt x="15" y="20"/>
                    </a:lnTo>
                    <a:lnTo>
                      <a:pt x="20" y="15"/>
                    </a:lnTo>
                    <a:lnTo>
                      <a:pt x="24" y="10"/>
                    </a:lnTo>
                    <a:lnTo>
                      <a:pt x="28" y="5"/>
                    </a:lnTo>
                    <a:lnTo>
                      <a:pt x="32" y="0"/>
                    </a:lnTo>
                    <a:lnTo>
                      <a:pt x="32" y="339"/>
                    </a:lnTo>
                    <a:lnTo>
                      <a:pt x="0" y="33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01" name="Freeform 4439"/>
              <p:cNvSpPr>
                <a:spLocks noChangeAspect="1"/>
              </p:cNvSpPr>
              <p:nvPr/>
            </p:nvSpPr>
            <p:spPr bwMode="auto">
              <a:xfrm>
                <a:off x="4273" y="1017"/>
                <a:ext cx="11" cy="119"/>
              </a:xfrm>
              <a:custGeom>
                <a:avLst/>
                <a:gdLst>
                  <a:gd name="T0" fmla="*/ 0 w 32"/>
                  <a:gd name="T1" fmla="*/ 0 h 357"/>
                  <a:gd name="T2" fmla="*/ 0 w 32"/>
                  <a:gd name="T3" fmla="*/ 0 h 357"/>
                  <a:gd name="T4" fmla="*/ 0 w 32"/>
                  <a:gd name="T5" fmla="*/ 0 h 357"/>
                  <a:gd name="T6" fmla="*/ 0 w 32"/>
                  <a:gd name="T7" fmla="*/ 0 h 357"/>
                  <a:gd name="T8" fmla="*/ 0 w 32"/>
                  <a:gd name="T9" fmla="*/ 0 h 357"/>
                  <a:gd name="T10" fmla="*/ 0 w 32"/>
                  <a:gd name="T11" fmla="*/ 0 h 357"/>
                  <a:gd name="T12" fmla="*/ 0 w 32"/>
                  <a:gd name="T13" fmla="*/ 0 h 357"/>
                  <a:gd name="T14" fmla="*/ 0 w 32"/>
                  <a:gd name="T15" fmla="*/ 0 h 357"/>
                  <a:gd name="T16" fmla="*/ 0 w 32"/>
                  <a:gd name="T17" fmla="*/ 0 h 357"/>
                  <a:gd name="T18" fmla="*/ 0 w 32"/>
                  <a:gd name="T19" fmla="*/ 0 h 357"/>
                  <a:gd name="T20" fmla="*/ 0 w 32"/>
                  <a:gd name="T21" fmla="*/ 0 h 357"/>
                  <a:gd name="T22" fmla="*/ 0 w 32"/>
                  <a:gd name="T23" fmla="*/ 0 h 3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57">
                    <a:moveTo>
                      <a:pt x="0" y="357"/>
                    </a:moveTo>
                    <a:lnTo>
                      <a:pt x="0" y="37"/>
                    </a:lnTo>
                    <a:lnTo>
                      <a:pt x="5" y="33"/>
                    </a:lnTo>
                    <a:lnTo>
                      <a:pt x="8" y="28"/>
                    </a:lnTo>
                    <a:lnTo>
                      <a:pt x="12" y="24"/>
                    </a:lnTo>
                    <a:lnTo>
                      <a:pt x="16" y="18"/>
                    </a:lnTo>
                    <a:lnTo>
                      <a:pt x="20" y="14"/>
                    </a:lnTo>
                    <a:lnTo>
                      <a:pt x="24" y="10"/>
                    </a:lnTo>
                    <a:lnTo>
                      <a:pt x="28" y="4"/>
                    </a:lnTo>
                    <a:lnTo>
                      <a:pt x="32" y="0"/>
                    </a:lnTo>
                    <a:lnTo>
                      <a:pt x="32" y="357"/>
                    </a:lnTo>
                    <a:lnTo>
                      <a:pt x="0" y="35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02" name="Freeform 4440"/>
              <p:cNvSpPr>
                <a:spLocks noChangeAspect="1"/>
              </p:cNvSpPr>
              <p:nvPr/>
            </p:nvSpPr>
            <p:spPr bwMode="auto">
              <a:xfrm>
                <a:off x="4278" y="1011"/>
                <a:ext cx="11" cy="125"/>
              </a:xfrm>
              <a:custGeom>
                <a:avLst/>
                <a:gdLst>
                  <a:gd name="T0" fmla="*/ 0 w 32"/>
                  <a:gd name="T1" fmla="*/ 0 h 373"/>
                  <a:gd name="T2" fmla="*/ 0 w 32"/>
                  <a:gd name="T3" fmla="*/ 0 h 373"/>
                  <a:gd name="T4" fmla="*/ 0 w 32"/>
                  <a:gd name="T5" fmla="*/ 0 h 373"/>
                  <a:gd name="T6" fmla="*/ 0 w 32"/>
                  <a:gd name="T7" fmla="*/ 0 h 373"/>
                  <a:gd name="T8" fmla="*/ 0 w 32"/>
                  <a:gd name="T9" fmla="*/ 0 h 373"/>
                  <a:gd name="T10" fmla="*/ 0 w 32"/>
                  <a:gd name="T11" fmla="*/ 0 h 373"/>
                  <a:gd name="T12" fmla="*/ 0 w 32"/>
                  <a:gd name="T13" fmla="*/ 0 h 373"/>
                  <a:gd name="T14" fmla="*/ 0 w 32"/>
                  <a:gd name="T15" fmla="*/ 0 h 373"/>
                  <a:gd name="T16" fmla="*/ 0 w 32"/>
                  <a:gd name="T17" fmla="*/ 0 h 373"/>
                  <a:gd name="T18" fmla="*/ 0 w 32"/>
                  <a:gd name="T19" fmla="*/ 0 h 373"/>
                  <a:gd name="T20" fmla="*/ 0 w 32"/>
                  <a:gd name="T21" fmla="*/ 0 h 373"/>
                  <a:gd name="T22" fmla="*/ 0 w 32"/>
                  <a:gd name="T23" fmla="*/ 0 h 3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73">
                    <a:moveTo>
                      <a:pt x="0" y="373"/>
                    </a:moveTo>
                    <a:lnTo>
                      <a:pt x="0" y="34"/>
                    </a:lnTo>
                    <a:lnTo>
                      <a:pt x="5" y="30"/>
                    </a:lnTo>
                    <a:lnTo>
                      <a:pt x="8" y="26"/>
                    </a:lnTo>
                    <a:lnTo>
                      <a:pt x="12" y="22"/>
                    </a:lnTo>
                    <a:lnTo>
                      <a:pt x="16" y="17"/>
                    </a:lnTo>
                    <a:lnTo>
                      <a:pt x="21" y="13"/>
                    </a:lnTo>
                    <a:lnTo>
                      <a:pt x="25" y="9"/>
                    </a:lnTo>
                    <a:lnTo>
                      <a:pt x="29" y="4"/>
                    </a:lnTo>
                    <a:lnTo>
                      <a:pt x="32" y="0"/>
                    </a:lnTo>
                    <a:lnTo>
                      <a:pt x="32" y="373"/>
                    </a:lnTo>
                    <a:lnTo>
                      <a:pt x="0" y="37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03" name="Freeform 4441"/>
              <p:cNvSpPr>
                <a:spLocks noChangeAspect="1"/>
              </p:cNvSpPr>
              <p:nvPr/>
            </p:nvSpPr>
            <p:spPr bwMode="auto">
              <a:xfrm>
                <a:off x="4284" y="1007"/>
                <a:ext cx="11" cy="129"/>
              </a:xfrm>
              <a:custGeom>
                <a:avLst/>
                <a:gdLst>
                  <a:gd name="T0" fmla="*/ 0 w 33"/>
                  <a:gd name="T1" fmla="*/ 0 h 387"/>
                  <a:gd name="T2" fmla="*/ 0 w 33"/>
                  <a:gd name="T3" fmla="*/ 0 h 387"/>
                  <a:gd name="T4" fmla="*/ 0 w 33"/>
                  <a:gd name="T5" fmla="*/ 0 h 387"/>
                  <a:gd name="T6" fmla="*/ 0 w 33"/>
                  <a:gd name="T7" fmla="*/ 0 h 387"/>
                  <a:gd name="T8" fmla="*/ 0 w 33"/>
                  <a:gd name="T9" fmla="*/ 0 h 387"/>
                  <a:gd name="T10" fmla="*/ 0 w 33"/>
                  <a:gd name="T11" fmla="*/ 0 h 387"/>
                  <a:gd name="T12" fmla="*/ 0 w 33"/>
                  <a:gd name="T13" fmla="*/ 0 h 387"/>
                  <a:gd name="T14" fmla="*/ 0 w 33"/>
                  <a:gd name="T15" fmla="*/ 0 h 387"/>
                  <a:gd name="T16" fmla="*/ 0 w 33"/>
                  <a:gd name="T17" fmla="*/ 0 h 387"/>
                  <a:gd name="T18" fmla="*/ 0 w 33"/>
                  <a:gd name="T19" fmla="*/ 0 h 387"/>
                  <a:gd name="T20" fmla="*/ 0 w 33"/>
                  <a:gd name="T21" fmla="*/ 0 h 387"/>
                  <a:gd name="T22" fmla="*/ 0 w 33"/>
                  <a:gd name="T23" fmla="*/ 0 h 38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87">
                    <a:moveTo>
                      <a:pt x="0" y="387"/>
                    </a:moveTo>
                    <a:lnTo>
                      <a:pt x="0" y="30"/>
                    </a:lnTo>
                    <a:lnTo>
                      <a:pt x="5" y="26"/>
                    </a:lnTo>
                    <a:lnTo>
                      <a:pt x="9" y="23"/>
                    </a:lnTo>
                    <a:lnTo>
                      <a:pt x="12" y="18"/>
                    </a:lnTo>
                    <a:lnTo>
                      <a:pt x="16" y="15"/>
                    </a:lnTo>
                    <a:lnTo>
                      <a:pt x="21" y="11"/>
                    </a:lnTo>
                    <a:lnTo>
                      <a:pt x="25" y="7"/>
                    </a:lnTo>
                    <a:lnTo>
                      <a:pt x="29" y="4"/>
                    </a:lnTo>
                    <a:lnTo>
                      <a:pt x="33" y="0"/>
                    </a:lnTo>
                    <a:lnTo>
                      <a:pt x="33" y="387"/>
                    </a:lnTo>
                    <a:lnTo>
                      <a:pt x="0" y="38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04" name="Freeform 4442"/>
              <p:cNvSpPr>
                <a:spLocks noChangeAspect="1"/>
              </p:cNvSpPr>
              <p:nvPr/>
            </p:nvSpPr>
            <p:spPr bwMode="auto">
              <a:xfrm>
                <a:off x="4289" y="1002"/>
                <a:ext cx="11" cy="134"/>
              </a:xfrm>
              <a:custGeom>
                <a:avLst/>
                <a:gdLst>
                  <a:gd name="T0" fmla="*/ 0 w 33"/>
                  <a:gd name="T1" fmla="*/ 0 h 400"/>
                  <a:gd name="T2" fmla="*/ 0 w 33"/>
                  <a:gd name="T3" fmla="*/ 0 h 400"/>
                  <a:gd name="T4" fmla="*/ 0 w 33"/>
                  <a:gd name="T5" fmla="*/ 0 h 400"/>
                  <a:gd name="T6" fmla="*/ 0 w 33"/>
                  <a:gd name="T7" fmla="*/ 0 h 400"/>
                  <a:gd name="T8" fmla="*/ 0 w 33"/>
                  <a:gd name="T9" fmla="*/ 0 h 400"/>
                  <a:gd name="T10" fmla="*/ 0 w 33"/>
                  <a:gd name="T11" fmla="*/ 0 h 400"/>
                  <a:gd name="T12" fmla="*/ 0 w 33"/>
                  <a:gd name="T13" fmla="*/ 0 h 400"/>
                  <a:gd name="T14" fmla="*/ 0 w 33"/>
                  <a:gd name="T15" fmla="*/ 0 h 400"/>
                  <a:gd name="T16" fmla="*/ 0 w 33"/>
                  <a:gd name="T17" fmla="*/ 0 h 400"/>
                  <a:gd name="T18" fmla="*/ 0 w 33"/>
                  <a:gd name="T19" fmla="*/ 0 h 400"/>
                  <a:gd name="T20" fmla="*/ 0 w 33"/>
                  <a:gd name="T21" fmla="*/ 0 h 400"/>
                  <a:gd name="T22" fmla="*/ 0 w 33"/>
                  <a:gd name="T23" fmla="*/ 0 h 4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00">
                    <a:moveTo>
                      <a:pt x="0" y="400"/>
                    </a:moveTo>
                    <a:lnTo>
                      <a:pt x="0" y="27"/>
                    </a:lnTo>
                    <a:lnTo>
                      <a:pt x="5" y="24"/>
                    </a:lnTo>
                    <a:lnTo>
                      <a:pt x="9" y="20"/>
                    </a:lnTo>
                    <a:lnTo>
                      <a:pt x="13" y="17"/>
                    </a:lnTo>
                    <a:lnTo>
                      <a:pt x="16" y="13"/>
                    </a:lnTo>
                    <a:lnTo>
                      <a:pt x="21" y="10"/>
                    </a:lnTo>
                    <a:lnTo>
                      <a:pt x="25" y="6"/>
                    </a:lnTo>
                    <a:lnTo>
                      <a:pt x="29" y="3"/>
                    </a:lnTo>
                    <a:lnTo>
                      <a:pt x="33" y="0"/>
                    </a:lnTo>
                    <a:lnTo>
                      <a:pt x="33" y="400"/>
                    </a:lnTo>
                    <a:lnTo>
                      <a:pt x="0" y="4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05" name="Freeform 4443"/>
              <p:cNvSpPr>
                <a:spLocks noChangeAspect="1"/>
              </p:cNvSpPr>
              <p:nvPr/>
            </p:nvSpPr>
            <p:spPr bwMode="auto">
              <a:xfrm>
                <a:off x="4295" y="998"/>
                <a:ext cx="10" cy="138"/>
              </a:xfrm>
              <a:custGeom>
                <a:avLst/>
                <a:gdLst>
                  <a:gd name="T0" fmla="*/ 0 w 32"/>
                  <a:gd name="T1" fmla="*/ 0 h 412"/>
                  <a:gd name="T2" fmla="*/ 0 w 32"/>
                  <a:gd name="T3" fmla="*/ 0 h 412"/>
                  <a:gd name="T4" fmla="*/ 0 w 32"/>
                  <a:gd name="T5" fmla="*/ 0 h 412"/>
                  <a:gd name="T6" fmla="*/ 0 w 32"/>
                  <a:gd name="T7" fmla="*/ 0 h 412"/>
                  <a:gd name="T8" fmla="*/ 0 w 32"/>
                  <a:gd name="T9" fmla="*/ 0 h 412"/>
                  <a:gd name="T10" fmla="*/ 0 w 32"/>
                  <a:gd name="T11" fmla="*/ 0 h 412"/>
                  <a:gd name="T12" fmla="*/ 0 w 32"/>
                  <a:gd name="T13" fmla="*/ 0 h 412"/>
                  <a:gd name="T14" fmla="*/ 0 w 32"/>
                  <a:gd name="T15" fmla="*/ 0 h 412"/>
                  <a:gd name="T16" fmla="*/ 0 w 32"/>
                  <a:gd name="T17" fmla="*/ 0 h 412"/>
                  <a:gd name="T18" fmla="*/ 0 w 32"/>
                  <a:gd name="T19" fmla="*/ 0 h 412"/>
                  <a:gd name="T20" fmla="*/ 0 w 32"/>
                  <a:gd name="T21" fmla="*/ 0 h 412"/>
                  <a:gd name="T22" fmla="*/ 0 w 32"/>
                  <a:gd name="T23" fmla="*/ 0 h 4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12">
                    <a:moveTo>
                      <a:pt x="0" y="412"/>
                    </a:moveTo>
                    <a:lnTo>
                      <a:pt x="0" y="25"/>
                    </a:lnTo>
                    <a:lnTo>
                      <a:pt x="4" y="21"/>
                    </a:lnTo>
                    <a:lnTo>
                      <a:pt x="8" y="18"/>
                    </a:lnTo>
                    <a:lnTo>
                      <a:pt x="12" y="15"/>
                    </a:lnTo>
                    <a:lnTo>
                      <a:pt x="16" y="12"/>
                    </a:lnTo>
                    <a:lnTo>
                      <a:pt x="19" y="8"/>
                    </a:lnTo>
                    <a:lnTo>
                      <a:pt x="24" y="6"/>
                    </a:lnTo>
                    <a:lnTo>
                      <a:pt x="28" y="3"/>
                    </a:lnTo>
                    <a:lnTo>
                      <a:pt x="32" y="0"/>
                    </a:lnTo>
                    <a:lnTo>
                      <a:pt x="32" y="412"/>
                    </a:lnTo>
                    <a:lnTo>
                      <a:pt x="0" y="41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06" name="Freeform 4444"/>
              <p:cNvSpPr>
                <a:spLocks noChangeAspect="1"/>
              </p:cNvSpPr>
              <p:nvPr/>
            </p:nvSpPr>
            <p:spPr bwMode="auto">
              <a:xfrm>
                <a:off x="4300" y="994"/>
                <a:ext cx="11" cy="142"/>
              </a:xfrm>
              <a:custGeom>
                <a:avLst/>
                <a:gdLst>
                  <a:gd name="T0" fmla="*/ 0 w 32"/>
                  <a:gd name="T1" fmla="*/ 0 h 424"/>
                  <a:gd name="T2" fmla="*/ 0 w 32"/>
                  <a:gd name="T3" fmla="*/ 0 h 424"/>
                  <a:gd name="T4" fmla="*/ 0 w 32"/>
                  <a:gd name="T5" fmla="*/ 0 h 424"/>
                  <a:gd name="T6" fmla="*/ 0 w 32"/>
                  <a:gd name="T7" fmla="*/ 0 h 424"/>
                  <a:gd name="T8" fmla="*/ 0 w 32"/>
                  <a:gd name="T9" fmla="*/ 0 h 424"/>
                  <a:gd name="T10" fmla="*/ 0 w 32"/>
                  <a:gd name="T11" fmla="*/ 0 h 424"/>
                  <a:gd name="T12" fmla="*/ 0 w 32"/>
                  <a:gd name="T13" fmla="*/ 0 h 424"/>
                  <a:gd name="T14" fmla="*/ 0 w 32"/>
                  <a:gd name="T15" fmla="*/ 0 h 424"/>
                  <a:gd name="T16" fmla="*/ 0 w 32"/>
                  <a:gd name="T17" fmla="*/ 0 h 424"/>
                  <a:gd name="T18" fmla="*/ 0 w 32"/>
                  <a:gd name="T19" fmla="*/ 0 h 424"/>
                  <a:gd name="T20" fmla="*/ 0 w 32"/>
                  <a:gd name="T21" fmla="*/ 0 h 424"/>
                  <a:gd name="T22" fmla="*/ 0 w 32"/>
                  <a:gd name="T23" fmla="*/ 0 h 4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24">
                    <a:moveTo>
                      <a:pt x="0" y="424"/>
                    </a:moveTo>
                    <a:lnTo>
                      <a:pt x="0" y="24"/>
                    </a:lnTo>
                    <a:lnTo>
                      <a:pt x="5" y="20"/>
                    </a:lnTo>
                    <a:lnTo>
                      <a:pt x="8" y="18"/>
                    </a:lnTo>
                    <a:lnTo>
                      <a:pt x="12" y="15"/>
                    </a:lnTo>
                    <a:lnTo>
                      <a:pt x="16" y="12"/>
                    </a:lnTo>
                    <a:lnTo>
                      <a:pt x="21" y="9"/>
                    </a:lnTo>
                    <a:lnTo>
                      <a:pt x="24" y="7"/>
                    </a:lnTo>
                    <a:lnTo>
                      <a:pt x="28" y="3"/>
                    </a:lnTo>
                    <a:lnTo>
                      <a:pt x="32" y="0"/>
                    </a:lnTo>
                    <a:lnTo>
                      <a:pt x="32" y="424"/>
                    </a:lnTo>
                    <a:lnTo>
                      <a:pt x="0" y="42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07" name="Freeform 4445"/>
              <p:cNvSpPr>
                <a:spLocks noChangeAspect="1"/>
              </p:cNvSpPr>
              <p:nvPr/>
            </p:nvSpPr>
            <p:spPr bwMode="auto">
              <a:xfrm>
                <a:off x="4305" y="991"/>
                <a:ext cx="11" cy="145"/>
              </a:xfrm>
              <a:custGeom>
                <a:avLst/>
                <a:gdLst>
                  <a:gd name="T0" fmla="*/ 0 w 32"/>
                  <a:gd name="T1" fmla="*/ 0 h 433"/>
                  <a:gd name="T2" fmla="*/ 0 w 32"/>
                  <a:gd name="T3" fmla="*/ 0 h 433"/>
                  <a:gd name="T4" fmla="*/ 0 w 32"/>
                  <a:gd name="T5" fmla="*/ 0 h 433"/>
                  <a:gd name="T6" fmla="*/ 0 w 32"/>
                  <a:gd name="T7" fmla="*/ 0 h 433"/>
                  <a:gd name="T8" fmla="*/ 0 w 32"/>
                  <a:gd name="T9" fmla="*/ 0 h 433"/>
                  <a:gd name="T10" fmla="*/ 0 w 32"/>
                  <a:gd name="T11" fmla="*/ 0 h 433"/>
                  <a:gd name="T12" fmla="*/ 0 w 32"/>
                  <a:gd name="T13" fmla="*/ 0 h 433"/>
                  <a:gd name="T14" fmla="*/ 0 w 32"/>
                  <a:gd name="T15" fmla="*/ 0 h 433"/>
                  <a:gd name="T16" fmla="*/ 0 w 32"/>
                  <a:gd name="T17" fmla="*/ 0 h 433"/>
                  <a:gd name="T18" fmla="*/ 0 w 32"/>
                  <a:gd name="T19" fmla="*/ 0 h 433"/>
                  <a:gd name="T20" fmla="*/ 0 w 32"/>
                  <a:gd name="T21" fmla="*/ 0 h 433"/>
                  <a:gd name="T22" fmla="*/ 0 w 32"/>
                  <a:gd name="T23" fmla="*/ 0 h 4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33">
                    <a:moveTo>
                      <a:pt x="0" y="433"/>
                    </a:moveTo>
                    <a:lnTo>
                      <a:pt x="0" y="21"/>
                    </a:lnTo>
                    <a:lnTo>
                      <a:pt x="5" y="18"/>
                    </a:lnTo>
                    <a:lnTo>
                      <a:pt x="8" y="16"/>
                    </a:lnTo>
                    <a:lnTo>
                      <a:pt x="12" y="12"/>
                    </a:lnTo>
                    <a:lnTo>
                      <a:pt x="16" y="10"/>
                    </a:lnTo>
                    <a:lnTo>
                      <a:pt x="20" y="7"/>
                    </a:lnTo>
                    <a:lnTo>
                      <a:pt x="25" y="5"/>
                    </a:lnTo>
                    <a:lnTo>
                      <a:pt x="29" y="2"/>
                    </a:lnTo>
                    <a:lnTo>
                      <a:pt x="32" y="0"/>
                    </a:lnTo>
                    <a:lnTo>
                      <a:pt x="32" y="433"/>
                    </a:lnTo>
                    <a:lnTo>
                      <a:pt x="0" y="43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08" name="Freeform 4446"/>
              <p:cNvSpPr>
                <a:spLocks noChangeAspect="1"/>
              </p:cNvSpPr>
              <p:nvPr/>
            </p:nvSpPr>
            <p:spPr bwMode="auto">
              <a:xfrm>
                <a:off x="4311" y="988"/>
                <a:ext cx="11" cy="148"/>
              </a:xfrm>
              <a:custGeom>
                <a:avLst/>
                <a:gdLst>
                  <a:gd name="T0" fmla="*/ 0 w 33"/>
                  <a:gd name="T1" fmla="*/ 0 h 443"/>
                  <a:gd name="T2" fmla="*/ 0 w 33"/>
                  <a:gd name="T3" fmla="*/ 0 h 443"/>
                  <a:gd name="T4" fmla="*/ 0 w 33"/>
                  <a:gd name="T5" fmla="*/ 0 h 443"/>
                  <a:gd name="T6" fmla="*/ 0 w 33"/>
                  <a:gd name="T7" fmla="*/ 0 h 443"/>
                  <a:gd name="T8" fmla="*/ 0 w 33"/>
                  <a:gd name="T9" fmla="*/ 0 h 443"/>
                  <a:gd name="T10" fmla="*/ 0 w 33"/>
                  <a:gd name="T11" fmla="*/ 0 h 443"/>
                  <a:gd name="T12" fmla="*/ 0 w 33"/>
                  <a:gd name="T13" fmla="*/ 0 h 443"/>
                  <a:gd name="T14" fmla="*/ 0 w 33"/>
                  <a:gd name="T15" fmla="*/ 0 h 443"/>
                  <a:gd name="T16" fmla="*/ 0 w 33"/>
                  <a:gd name="T17" fmla="*/ 0 h 443"/>
                  <a:gd name="T18" fmla="*/ 0 w 33"/>
                  <a:gd name="T19" fmla="*/ 0 h 443"/>
                  <a:gd name="T20" fmla="*/ 0 w 33"/>
                  <a:gd name="T21" fmla="*/ 0 h 443"/>
                  <a:gd name="T22" fmla="*/ 0 w 33"/>
                  <a:gd name="T23" fmla="*/ 0 h 4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43">
                    <a:moveTo>
                      <a:pt x="0" y="443"/>
                    </a:moveTo>
                    <a:lnTo>
                      <a:pt x="0" y="19"/>
                    </a:lnTo>
                    <a:lnTo>
                      <a:pt x="4" y="17"/>
                    </a:lnTo>
                    <a:lnTo>
                      <a:pt x="9" y="15"/>
                    </a:lnTo>
                    <a:lnTo>
                      <a:pt x="12" y="12"/>
                    </a:lnTo>
                    <a:lnTo>
                      <a:pt x="16" y="10"/>
                    </a:lnTo>
                    <a:lnTo>
                      <a:pt x="20" y="8"/>
                    </a:lnTo>
                    <a:lnTo>
                      <a:pt x="25" y="5"/>
                    </a:lnTo>
                    <a:lnTo>
                      <a:pt x="29" y="3"/>
                    </a:lnTo>
                    <a:lnTo>
                      <a:pt x="33" y="0"/>
                    </a:lnTo>
                    <a:lnTo>
                      <a:pt x="33" y="443"/>
                    </a:lnTo>
                    <a:lnTo>
                      <a:pt x="0" y="44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09" name="Freeform 4447"/>
              <p:cNvSpPr>
                <a:spLocks noChangeAspect="1"/>
              </p:cNvSpPr>
              <p:nvPr/>
            </p:nvSpPr>
            <p:spPr bwMode="auto">
              <a:xfrm>
                <a:off x="4316" y="986"/>
                <a:ext cx="11" cy="150"/>
              </a:xfrm>
              <a:custGeom>
                <a:avLst/>
                <a:gdLst>
                  <a:gd name="T0" fmla="*/ 0 w 33"/>
                  <a:gd name="T1" fmla="*/ 0 h 450"/>
                  <a:gd name="T2" fmla="*/ 0 w 33"/>
                  <a:gd name="T3" fmla="*/ 0 h 450"/>
                  <a:gd name="T4" fmla="*/ 0 w 33"/>
                  <a:gd name="T5" fmla="*/ 0 h 450"/>
                  <a:gd name="T6" fmla="*/ 0 w 33"/>
                  <a:gd name="T7" fmla="*/ 0 h 450"/>
                  <a:gd name="T8" fmla="*/ 0 w 33"/>
                  <a:gd name="T9" fmla="*/ 0 h 450"/>
                  <a:gd name="T10" fmla="*/ 0 w 33"/>
                  <a:gd name="T11" fmla="*/ 0 h 450"/>
                  <a:gd name="T12" fmla="*/ 0 w 33"/>
                  <a:gd name="T13" fmla="*/ 0 h 450"/>
                  <a:gd name="T14" fmla="*/ 0 w 33"/>
                  <a:gd name="T15" fmla="*/ 0 h 450"/>
                  <a:gd name="T16" fmla="*/ 0 w 33"/>
                  <a:gd name="T17" fmla="*/ 0 h 450"/>
                  <a:gd name="T18" fmla="*/ 0 w 33"/>
                  <a:gd name="T19" fmla="*/ 0 h 450"/>
                  <a:gd name="T20" fmla="*/ 0 w 33"/>
                  <a:gd name="T21" fmla="*/ 0 h 450"/>
                  <a:gd name="T22" fmla="*/ 0 w 33"/>
                  <a:gd name="T23" fmla="*/ 0 h 4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50">
                    <a:moveTo>
                      <a:pt x="0" y="450"/>
                    </a:moveTo>
                    <a:lnTo>
                      <a:pt x="0" y="17"/>
                    </a:lnTo>
                    <a:lnTo>
                      <a:pt x="4" y="15"/>
                    </a:lnTo>
                    <a:lnTo>
                      <a:pt x="9" y="12"/>
                    </a:lnTo>
                    <a:lnTo>
                      <a:pt x="13" y="10"/>
                    </a:lnTo>
                    <a:lnTo>
                      <a:pt x="16" y="8"/>
                    </a:lnTo>
                    <a:lnTo>
                      <a:pt x="20" y="6"/>
                    </a:lnTo>
                    <a:lnTo>
                      <a:pt x="25" y="3"/>
                    </a:lnTo>
                    <a:lnTo>
                      <a:pt x="29" y="2"/>
                    </a:lnTo>
                    <a:lnTo>
                      <a:pt x="33" y="0"/>
                    </a:lnTo>
                    <a:lnTo>
                      <a:pt x="33" y="450"/>
                    </a:lnTo>
                    <a:lnTo>
                      <a:pt x="0" y="45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10" name="Freeform 4448"/>
              <p:cNvSpPr>
                <a:spLocks noChangeAspect="1"/>
              </p:cNvSpPr>
              <p:nvPr/>
            </p:nvSpPr>
            <p:spPr bwMode="auto">
              <a:xfrm>
                <a:off x="4322" y="983"/>
                <a:ext cx="10" cy="153"/>
              </a:xfrm>
              <a:custGeom>
                <a:avLst/>
                <a:gdLst>
                  <a:gd name="T0" fmla="*/ 0 w 32"/>
                  <a:gd name="T1" fmla="*/ 0 h 458"/>
                  <a:gd name="T2" fmla="*/ 0 w 32"/>
                  <a:gd name="T3" fmla="*/ 0 h 458"/>
                  <a:gd name="T4" fmla="*/ 0 w 32"/>
                  <a:gd name="T5" fmla="*/ 0 h 458"/>
                  <a:gd name="T6" fmla="*/ 0 w 32"/>
                  <a:gd name="T7" fmla="*/ 0 h 458"/>
                  <a:gd name="T8" fmla="*/ 0 w 32"/>
                  <a:gd name="T9" fmla="*/ 0 h 458"/>
                  <a:gd name="T10" fmla="*/ 0 w 32"/>
                  <a:gd name="T11" fmla="*/ 0 h 458"/>
                  <a:gd name="T12" fmla="*/ 0 w 32"/>
                  <a:gd name="T13" fmla="*/ 0 h 458"/>
                  <a:gd name="T14" fmla="*/ 0 w 32"/>
                  <a:gd name="T15" fmla="*/ 0 h 458"/>
                  <a:gd name="T16" fmla="*/ 0 w 32"/>
                  <a:gd name="T17" fmla="*/ 0 h 458"/>
                  <a:gd name="T18" fmla="*/ 0 w 32"/>
                  <a:gd name="T19" fmla="*/ 0 h 458"/>
                  <a:gd name="T20" fmla="*/ 0 w 32"/>
                  <a:gd name="T21" fmla="*/ 0 h 458"/>
                  <a:gd name="T22" fmla="*/ 0 w 32"/>
                  <a:gd name="T23" fmla="*/ 0 h 4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58">
                    <a:moveTo>
                      <a:pt x="0" y="458"/>
                    </a:moveTo>
                    <a:lnTo>
                      <a:pt x="0" y="15"/>
                    </a:lnTo>
                    <a:lnTo>
                      <a:pt x="3" y="13"/>
                    </a:lnTo>
                    <a:lnTo>
                      <a:pt x="8" y="11"/>
                    </a:lnTo>
                    <a:lnTo>
                      <a:pt x="12" y="10"/>
                    </a:lnTo>
                    <a:lnTo>
                      <a:pt x="16" y="8"/>
                    </a:lnTo>
                    <a:lnTo>
                      <a:pt x="19" y="6"/>
                    </a:lnTo>
                    <a:lnTo>
                      <a:pt x="24" y="3"/>
                    </a:lnTo>
                    <a:lnTo>
                      <a:pt x="28" y="1"/>
                    </a:lnTo>
                    <a:lnTo>
                      <a:pt x="32" y="0"/>
                    </a:lnTo>
                    <a:lnTo>
                      <a:pt x="32" y="458"/>
                    </a:lnTo>
                    <a:lnTo>
                      <a:pt x="0" y="45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11" name="Freeform 4449"/>
              <p:cNvSpPr>
                <a:spLocks noChangeAspect="1"/>
              </p:cNvSpPr>
              <p:nvPr/>
            </p:nvSpPr>
            <p:spPr bwMode="auto">
              <a:xfrm>
                <a:off x="4327" y="981"/>
                <a:ext cx="11" cy="155"/>
              </a:xfrm>
              <a:custGeom>
                <a:avLst/>
                <a:gdLst>
                  <a:gd name="T0" fmla="*/ 0 w 32"/>
                  <a:gd name="T1" fmla="*/ 0 h 465"/>
                  <a:gd name="T2" fmla="*/ 0 w 32"/>
                  <a:gd name="T3" fmla="*/ 0 h 465"/>
                  <a:gd name="T4" fmla="*/ 0 w 32"/>
                  <a:gd name="T5" fmla="*/ 0 h 465"/>
                  <a:gd name="T6" fmla="*/ 0 w 32"/>
                  <a:gd name="T7" fmla="*/ 0 h 465"/>
                  <a:gd name="T8" fmla="*/ 0 w 32"/>
                  <a:gd name="T9" fmla="*/ 0 h 465"/>
                  <a:gd name="T10" fmla="*/ 0 w 32"/>
                  <a:gd name="T11" fmla="*/ 0 h 465"/>
                  <a:gd name="T12" fmla="*/ 0 w 32"/>
                  <a:gd name="T13" fmla="*/ 0 h 465"/>
                  <a:gd name="T14" fmla="*/ 0 w 32"/>
                  <a:gd name="T15" fmla="*/ 0 h 465"/>
                  <a:gd name="T16" fmla="*/ 0 w 32"/>
                  <a:gd name="T17" fmla="*/ 0 h 465"/>
                  <a:gd name="T18" fmla="*/ 0 w 32"/>
                  <a:gd name="T19" fmla="*/ 0 h 465"/>
                  <a:gd name="T20" fmla="*/ 0 w 32"/>
                  <a:gd name="T21" fmla="*/ 0 h 465"/>
                  <a:gd name="T22" fmla="*/ 0 w 32"/>
                  <a:gd name="T23" fmla="*/ 0 h 4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65">
                    <a:moveTo>
                      <a:pt x="0" y="465"/>
                    </a:moveTo>
                    <a:lnTo>
                      <a:pt x="0" y="15"/>
                    </a:lnTo>
                    <a:lnTo>
                      <a:pt x="3" y="13"/>
                    </a:lnTo>
                    <a:lnTo>
                      <a:pt x="8" y="10"/>
                    </a:lnTo>
                    <a:lnTo>
                      <a:pt x="12" y="8"/>
                    </a:lnTo>
                    <a:lnTo>
                      <a:pt x="16" y="7"/>
                    </a:lnTo>
                    <a:lnTo>
                      <a:pt x="20" y="5"/>
                    </a:lnTo>
                    <a:lnTo>
                      <a:pt x="24" y="3"/>
                    </a:lnTo>
                    <a:lnTo>
                      <a:pt x="28" y="2"/>
                    </a:lnTo>
                    <a:lnTo>
                      <a:pt x="32" y="0"/>
                    </a:lnTo>
                    <a:lnTo>
                      <a:pt x="32" y="465"/>
                    </a:lnTo>
                    <a:lnTo>
                      <a:pt x="0" y="4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12" name="Freeform 4450"/>
              <p:cNvSpPr>
                <a:spLocks noChangeAspect="1"/>
              </p:cNvSpPr>
              <p:nvPr/>
            </p:nvSpPr>
            <p:spPr bwMode="auto">
              <a:xfrm>
                <a:off x="4332" y="978"/>
                <a:ext cx="11" cy="158"/>
              </a:xfrm>
              <a:custGeom>
                <a:avLst/>
                <a:gdLst>
                  <a:gd name="T0" fmla="*/ 0 w 32"/>
                  <a:gd name="T1" fmla="*/ 0 h 472"/>
                  <a:gd name="T2" fmla="*/ 0 w 32"/>
                  <a:gd name="T3" fmla="*/ 0 h 472"/>
                  <a:gd name="T4" fmla="*/ 0 w 32"/>
                  <a:gd name="T5" fmla="*/ 0 h 472"/>
                  <a:gd name="T6" fmla="*/ 0 w 32"/>
                  <a:gd name="T7" fmla="*/ 0 h 472"/>
                  <a:gd name="T8" fmla="*/ 0 w 32"/>
                  <a:gd name="T9" fmla="*/ 0 h 472"/>
                  <a:gd name="T10" fmla="*/ 0 w 32"/>
                  <a:gd name="T11" fmla="*/ 0 h 472"/>
                  <a:gd name="T12" fmla="*/ 0 w 32"/>
                  <a:gd name="T13" fmla="*/ 0 h 472"/>
                  <a:gd name="T14" fmla="*/ 0 w 32"/>
                  <a:gd name="T15" fmla="*/ 0 h 472"/>
                  <a:gd name="T16" fmla="*/ 0 w 32"/>
                  <a:gd name="T17" fmla="*/ 0 h 472"/>
                  <a:gd name="T18" fmla="*/ 0 w 32"/>
                  <a:gd name="T19" fmla="*/ 0 h 472"/>
                  <a:gd name="T20" fmla="*/ 0 w 32"/>
                  <a:gd name="T21" fmla="*/ 0 h 472"/>
                  <a:gd name="T22" fmla="*/ 0 w 32"/>
                  <a:gd name="T23" fmla="*/ 0 h 4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72">
                    <a:moveTo>
                      <a:pt x="0" y="472"/>
                    </a:moveTo>
                    <a:lnTo>
                      <a:pt x="0" y="14"/>
                    </a:lnTo>
                    <a:lnTo>
                      <a:pt x="4" y="12"/>
                    </a:lnTo>
                    <a:lnTo>
                      <a:pt x="8" y="10"/>
                    </a:lnTo>
                    <a:lnTo>
                      <a:pt x="12" y="9"/>
                    </a:lnTo>
                    <a:lnTo>
                      <a:pt x="16" y="7"/>
                    </a:lnTo>
                    <a:lnTo>
                      <a:pt x="20" y="6"/>
                    </a:lnTo>
                    <a:lnTo>
                      <a:pt x="25" y="4"/>
                    </a:lnTo>
                    <a:lnTo>
                      <a:pt x="28" y="2"/>
                    </a:lnTo>
                    <a:lnTo>
                      <a:pt x="32" y="0"/>
                    </a:lnTo>
                    <a:lnTo>
                      <a:pt x="32" y="472"/>
                    </a:lnTo>
                    <a:lnTo>
                      <a:pt x="0" y="47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13" name="Freeform 4451"/>
              <p:cNvSpPr>
                <a:spLocks noChangeAspect="1"/>
              </p:cNvSpPr>
              <p:nvPr/>
            </p:nvSpPr>
            <p:spPr bwMode="auto">
              <a:xfrm>
                <a:off x="4338" y="977"/>
                <a:ext cx="11" cy="159"/>
              </a:xfrm>
              <a:custGeom>
                <a:avLst/>
                <a:gdLst>
                  <a:gd name="T0" fmla="*/ 0 w 33"/>
                  <a:gd name="T1" fmla="*/ 0 h 477"/>
                  <a:gd name="T2" fmla="*/ 0 w 33"/>
                  <a:gd name="T3" fmla="*/ 0 h 477"/>
                  <a:gd name="T4" fmla="*/ 0 w 33"/>
                  <a:gd name="T5" fmla="*/ 0 h 477"/>
                  <a:gd name="T6" fmla="*/ 0 w 33"/>
                  <a:gd name="T7" fmla="*/ 0 h 477"/>
                  <a:gd name="T8" fmla="*/ 0 w 33"/>
                  <a:gd name="T9" fmla="*/ 0 h 477"/>
                  <a:gd name="T10" fmla="*/ 0 w 33"/>
                  <a:gd name="T11" fmla="*/ 0 h 477"/>
                  <a:gd name="T12" fmla="*/ 0 w 33"/>
                  <a:gd name="T13" fmla="*/ 0 h 477"/>
                  <a:gd name="T14" fmla="*/ 0 w 33"/>
                  <a:gd name="T15" fmla="*/ 0 h 477"/>
                  <a:gd name="T16" fmla="*/ 0 w 33"/>
                  <a:gd name="T17" fmla="*/ 0 h 477"/>
                  <a:gd name="T18" fmla="*/ 0 w 33"/>
                  <a:gd name="T19" fmla="*/ 0 h 477"/>
                  <a:gd name="T20" fmla="*/ 0 w 33"/>
                  <a:gd name="T21" fmla="*/ 0 h 477"/>
                  <a:gd name="T22" fmla="*/ 0 w 33"/>
                  <a:gd name="T23" fmla="*/ 0 h 4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77">
                    <a:moveTo>
                      <a:pt x="0" y="477"/>
                    </a:moveTo>
                    <a:lnTo>
                      <a:pt x="0" y="12"/>
                    </a:lnTo>
                    <a:lnTo>
                      <a:pt x="4" y="11"/>
                    </a:lnTo>
                    <a:lnTo>
                      <a:pt x="9" y="9"/>
                    </a:lnTo>
                    <a:lnTo>
                      <a:pt x="12" y="7"/>
                    </a:lnTo>
                    <a:lnTo>
                      <a:pt x="16" y="5"/>
                    </a:lnTo>
                    <a:lnTo>
                      <a:pt x="20" y="4"/>
                    </a:lnTo>
                    <a:lnTo>
                      <a:pt x="25" y="3"/>
                    </a:lnTo>
                    <a:lnTo>
                      <a:pt x="29" y="2"/>
                    </a:lnTo>
                    <a:lnTo>
                      <a:pt x="33" y="0"/>
                    </a:lnTo>
                    <a:lnTo>
                      <a:pt x="33" y="477"/>
                    </a:lnTo>
                    <a:lnTo>
                      <a:pt x="0" y="47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14" name="Freeform 4452"/>
              <p:cNvSpPr>
                <a:spLocks noChangeAspect="1"/>
              </p:cNvSpPr>
              <p:nvPr/>
            </p:nvSpPr>
            <p:spPr bwMode="auto">
              <a:xfrm>
                <a:off x="4343" y="975"/>
                <a:ext cx="11" cy="161"/>
              </a:xfrm>
              <a:custGeom>
                <a:avLst/>
                <a:gdLst>
                  <a:gd name="T0" fmla="*/ 0 w 33"/>
                  <a:gd name="T1" fmla="*/ 0 h 481"/>
                  <a:gd name="T2" fmla="*/ 0 w 33"/>
                  <a:gd name="T3" fmla="*/ 0 h 481"/>
                  <a:gd name="T4" fmla="*/ 0 w 33"/>
                  <a:gd name="T5" fmla="*/ 0 h 481"/>
                  <a:gd name="T6" fmla="*/ 0 w 33"/>
                  <a:gd name="T7" fmla="*/ 0 h 481"/>
                  <a:gd name="T8" fmla="*/ 0 w 33"/>
                  <a:gd name="T9" fmla="*/ 0 h 481"/>
                  <a:gd name="T10" fmla="*/ 0 w 33"/>
                  <a:gd name="T11" fmla="*/ 0 h 481"/>
                  <a:gd name="T12" fmla="*/ 0 w 33"/>
                  <a:gd name="T13" fmla="*/ 0 h 481"/>
                  <a:gd name="T14" fmla="*/ 0 w 33"/>
                  <a:gd name="T15" fmla="*/ 0 h 481"/>
                  <a:gd name="T16" fmla="*/ 0 w 33"/>
                  <a:gd name="T17" fmla="*/ 0 h 481"/>
                  <a:gd name="T18" fmla="*/ 0 w 33"/>
                  <a:gd name="T19" fmla="*/ 0 h 481"/>
                  <a:gd name="T20" fmla="*/ 0 w 33"/>
                  <a:gd name="T21" fmla="*/ 0 h 481"/>
                  <a:gd name="T22" fmla="*/ 0 w 33"/>
                  <a:gd name="T23" fmla="*/ 0 h 4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81">
                    <a:moveTo>
                      <a:pt x="0" y="481"/>
                    </a:moveTo>
                    <a:lnTo>
                      <a:pt x="0" y="9"/>
                    </a:lnTo>
                    <a:lnTo>
                      <a:pt x="4" y="8"/>
                    </a:lnTo>
                    <a:lnTo>
                      <a:pt x="9" y="7"/>
                    </a:lnTo>
                    <a:lnTo>
                      <a:pt x="13" y="6"/>
                    </a:lnTo>
                    <a:lnTo>
                      <a:pt x="16" y="4"/>
                    </a:lnTo>
                    <a:lnTo>
                      <a:pt x="20" y="3"/>
                    </a:lnTo>
                    <a:lnTo>
                      <a:pt x="25" y="2"/>
                    </a:lnTo>
                    <a:lnTo>
                      <a:pt x="29" y="1"/>
                    </a:lnTo>
                    <a:lnTo>
                      <a:pt x="33" y="0"/>
                    </a:lnTo>
                    <a:lnTo>
                      <a:pt x="33" y="481"/>
                    </a:lnTo>
                    <a:lnTo>
                      <a:pt x="0" y="4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15" name="Freeform 4453"/>
              <p:cNvSpPr>
                <a:spLocks noChangeAspect="1"/>
              </p:cNvSpPr>
              <p:nvPr/>
            </p:nvSpPr>
            <p:spPr bwMode="auto">
              <a:xfrm>
                <a:off x="4349" y="974"/>
                <a:ext cx="10" cy="162"/>
              </a:xfrm>
              <a:custGeom>
                <a:avLst/>
                <a:gdLst>
                  <a:gd name="T0" fmla="*/ 0 w 32"/>
                  <a:gd name="T1" fmla="*/ 0 h 485"/>
                  <a:gd name="T2" fmla="*/ 0 w 32"/>
                  <a:gd name="T3" fmla="*/ 0 h 485"/>
                  <a:gd name="T4" fmla="*/ 0 w 32"/>
                  <a:gd name="T5" fmla="*/ 0 h 485"/>
                  <a:gd name="T6" fmla="*/ 0 w 32"/>
                  <a:gd name="T7" fmla="*/ 0 h 485"/>
                  <a:gd name="T8" fmla="*/ 0 w 32"/>
                  <a:gd name="T9" fmla="*/ 0 h 485"/>
                  <a:gd name="T10" fmla="*/ 0 w 32"/>
                  <a:gd name="T11" fmla="*/ 0 h 485"/>
                  <a:gd name="T12" fmla="*/ 0 w 32"/>
                  <a:gd name="T13" fmla="*/ 0 h 485"/>
                  <a:gd name="T14" fmla="*/ 0 w 32"/>
                  <a:gd name="T15" fmla="*/ 0 h 485"/>
                  <a:gd name="T16" fmla="*/ 0 w 32"/>
                  <a:gd name="T17" fmla="*/ 0 h 485"/>
                  <a:gd name="T18" fmla="*/ 0 w 32"/>
                  <a:gd name="T19" fmla="*/ 0 h 485"/>
                  <a:gd name="T20" fmla="*/ 0 w 32"/>
                  <a:gd name="T21" fmla="*/ 0 h 485"/>
                  <a:gd name="T22" fmla="*/ 0 w 32"/>
                  <a:gd name="T23" fmla="*/ 0 h 4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85">
                    <a:moveTo>
                      <a:pt x="0" y="485"/>
                    </a:moveTo>
                    <a:lnTo>
                      <a:pt x="0" y="8"/>
                    </a:lnTo>
                    <a:lnTo>
                      <a:pt x="3" y="7"/>
                    </a:lnTo>
                    <a:lnTo>
                      <a:pt x="8" y="6"/>
                    </a:lnTo>
                    <a:lnTo>
                      <a:pt x="12" y="5"/>
                    </a:lnTo>
                    <a:lnTo>
                      <a:pt x="16" y="4"/>
                    </a:lnTo>
                    <a:lnTo>
                      <a:pt x="19" y="3"/>
                    </a:lnTo>
                    <a:lnTo>
                      <a:pt x="24" y="2"/>
                    </a:lnTo>
                    <a:lnTo>
                      <a:pt x="28" y="1"/>
                    </a:lnTo>
                    <a:lnTo>
                      <a:pt x="32" y="0"/>
                    </a:lnTo>
                    <a:lnTo>
                      <a:pt x="32" y="485"/>
                    </a:lnTo>
                    <a:lnTo>
                      <a:pt x="0" y="48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16" name="Freeform 4454"/>
              <p:cNvSpPr>
                <a:spLocks noChangeAspect="1"/>
              </p:cNvSpPr>
              <p:nvPr/>
            </p:nvSpPr>
            <p:spPr bwMode="auto">
              <a:xfrm>
                <a:off x="4354" y="973"/>
                <a:ext cx="11" cy="163"/>
              </a:xfrm>
              <a:custGeom>
                <a:avLst/>
                <a:gdLst>
                  <a:gd name="T0" fmla="*/ 0 w 32"/>
                  <a:gd name="T1" fmla="*/ 0 h 489"/>
                  <a:gd name="T2" fmla="*/ 0 w 32"/>
                  <a:gd name="T3" fmla="*/ 0 h 489"/>
                  <a:gd name="T4" fmla="*/ 0 w 32"/>
                  <a:gd name="T5" fmla="*/ 0 h 489"/>
                  <a:gd name="T6" fmla="*/ 0 w 32"/>
                  <a:gd name="T7" fmla="*/ 0 h 489"/>
                  <a:gd name="T8" fmla="*/ 0 w 32"/>
                  <a:gd name="T9" fmla="*/ 0 h 489"/>
                  <a:gd name="T10" fmla="*/ 0 w 32"/>
                  <a:gd name="T11" fmla="*/ 0 h 489"/>
                  <a:gd name="T12" fmla="*/ 0 w 32"/>
                  <a:gd name="T13" fmla="*/ 0 h 489"/>
                  <a:gd name="T14" fmla="*/ 0 w 32"/>
                  <a:gd name="T15" fmla="*/ 0 h 489"/>
                  <a:gd name="T16" fmla="*/ 0 w 32"/>
                  <a:gd name="T17" fmla="*/ 0 h 489"/>
                  <a:gd name="T18" fmla="*/ 0 w 32"/>
                  <a:gd name="T19" fmla="*/ 0 h 489"/>
                  <a:gd name="T20" fmla="*/ 0 w 32"/>
                  <a:gd name="T21" fmla="*/ 0 h 489"/>
                  <a:gd name="T22" fmla="*/ 0 w 32"/>
                  <a:gd name="T23" fmla="*/ 0 h 4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89">
                    <a:moveTo>
                      <a:pt x="0" y="489"/>
                    </a:moveTo>
                    <a:lnTo>
                      <a:pt x="0" y="8"/>
                    </a:lnTo>
                    <a:lnTo>
                      <a:pt x="3" y="7"/>
                    </a:lnTo>
                    <a:lnTo>
                      <a:pt x="8" y="6"/>
                    </a:lnTo>
                    <a:lnTo>
                      <a:pt x="12" y="5"/>
                    </a:lnTo>
                    <a:lnTo>
                      <a:pt x="16" y="4"/>
                    </a:lnTo>
                    <a:lnTo>
                      <a:pt x="20" y="2"/>
                    </a:lnTo>
                    <a:lnTo>
                      <a:pt x="23" y="1"/>
                    </a:lnTo>
                    <a:lnTo>
                      <a:pt x="28" y="1"/>
                    </a:lnTo>
                    <a:lnTo>
                      <a:pt x="32" y="0"/>
                    </a:lnTo>
                    <a:lnTo>
                      <a:pt x="32" y="489"/>
                    </a:lnTo>
                    <a:lnTo>
                      <a:pt x="0" y="4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17" name="Freeform 4455"/>
              <p:cNvSpPr>
                <a:spLocks noChangeAspect="1"/>
              </p:cNvSpPr>
              <p:nvPr/>
            </p:nvSpPr>
            <p:spPr bwMode="auto">
              <a:xfrm>
                <a:off x="4359" y="972"/>
                <a:ext cx="11" cy="164"/>
              </a:xfrm>
              <a:custGeom>
                <a:avLst/>
                <a:gdLst>
                  <a:gd name="T0" fmla="*/ 0 w 32"/>
                  <a:gd name="T1" fmla="*/ 0 h 492"/>
                  <a:gd name="T2" fmla="*/ 0 w 32"/>
                  <a:gd name="T3" fmla="*/ 0 h 492"/>
                  <a:gd name="T4" fmla="*/ 0 w 32"/>
                  <a:gd name="T5" fmla="*/ 0 h 492"/>
                  <a:gd name="T6" fmla="*/ 0 w 32"/>
                  <a:gd name="T7" fmla="*/ 0 h 492"/>
                  <a:gd name="T8" fmla="*/ 0 w 32"/>
                  <a:gd name="T9" fmla="*/ 0 h 492"/>
                  <a:gd name="T10" fmla="*/ 0 w 32"/>
                  <a:gd name="T11" fmla="*/ 0 h 492"/>
                  <a:gd name="T12" fmla="*/ 0 w 32"/>
                  <a:gd name="T13" fmla="*/ 0 h 492"/>
                  <a:gd name="T14" fmla="*/ 0 w 32"/>
                  <a:gd name="T15" fmla="*/ 0 h 492"/>
                  <a:gd name="T16" fmla="*/ 0 w 32"/>
                  <a:gd name="T17" fmla="*/ 0 h 492"/>
                  <a:gd name="T18" fmla="*/ 0 w 32"/>
                  <a:gd name="T19" fmla="*/ 0 h 492"/>
                  <a:gd name="T20" fmla="*/ 0 w 32"/>
                  <a:gd name="T21" fmla="*/ 0 h 492"/>
                  <a:gd name="T22" fmla="*/ 0 w 32"/>
                  <a:gd name="T23" fmla="*/ 0 h 4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2">
                    <a:moveTo>
                      <a:pt x="0" y="492"/>
                    </a:moveTo>
                    <a:lnTo>
                      <a:pt x="0" y="7"/>
                    </a:lnTo>
                    <a:lnTo>
                      <a:pt x="4" y="5"/>
                    </a:lnTo>
                    <a:lnTo>
                      <a:pt x="7" y="4"/>
                    </a:lnTo>
                    <a:lnTo>
                      <a:pt x="12" y="4"/>
                    </a:lnTo>
                    <a:lnTo>
                      <a:pt x="16" y="3"/>
                    </a:lnTo>
                    <a:lnTo>
                      <a:pt x="20" y="2"/>
                    </a:lnTo>
                    <a:lnTo>
                      <a:pt x="24" y="1"/>
                    </a:lnTo>
                    <a:lnTo>
                      <a:pt x="28" y="1"/>
                    </a:lnTo>
                    <a:lnTo>
                      <a:pt x="32" y="0"/>
                    </a:lnTo>
                    <a:lnTo>
                      <a:pt x="32" y="492"/>
                    </a:lnTo>
                    <a:lnTo>
                      <a:pt x="0" y="49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18" name="Freeform 4456"/>
              <p:cNvSpPr>
                <a:spLocks noChangeAspect="1"/>
              </p:cNvSpPr>
              <p:nvPr/>
            </p:nvSpPr>
            <p:spPr bwMode="auto">
              <a:xfrm>
                <a:off x="4365" y="971"/>
                <a:ext cx="10" cy="165"/>
              </a:xfrm>
              <a:custGeom>
                <a:avLst/>
                <a:gdLst>
                  <a:gd name="T0" fmla="*/ 0 w 32"/>
                  <a:gd name="T1" fmla="*/ 0 h 494"/>
                  <a:gd name="T2" fmla="*/ 0 w 32"/>
                  <a:gd name="T3" fmla="*/ 0 h 494"/>
                  <a:gd name="T4" fmla="*/ 0 w 32"/>
                  <a:gd name="T5" fmla="*/ 0 h 494"/>
                  <a:gd name="T6" fmla="*/ 0 w 32"/>
                  <a:gd name="T7" fmla="*/ 0 h 494"/>
                  <a:gd name="T8" fmla="*/ 0 w 32"/>
                  <a:gd name="T9" fmla="*/ 0 h 494"/>
                  <a:gd name="T10" fmla="*/ 0 w 32"/>
                  <a:gd name="T11" fmla="*/ 0 h 494"/>
                  <a:gd name="T12" fmla="*/ 0 w 32"/>
                  <a:gd name="T13" fmla="*/ 0 h 494"/>
                  <a:gd name="T14" fmla="*/ 0 w 32"/>
                  <a:gd name="T15" fmla="*/ 0 h 494"/>
                  <a:gd name="T16" fmla="*/ 0 w 32"/>
                  <a:gd name="T17" fmla="*/ 0 h 494"/>
                  <a:gd name="T18" fmla="*/ 0 w 32"/>
                  <a:gd name="T19" fmla="*/ 0 h 494"/>
                  <a:gd name="T20" fmla="*/ 0 w 32"/>
                  <a:gd name="T21" fmla="*/ 0 h 494"/>
                  <a:gd name="T22" fmla="*/ 0 w 32"/>
                  <a:gd name="T23" fmla="*/ 0 h 49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4">
                    <a:moveTo>
                      <a:pt x="0" y="494"/>
                    </a:moveTo>
                    <a:lnTo>
                      <a:pt x="0" y="5"/>
                    </a:lnTo>
                    <a:lnTo>
                      <a:pt x="4" y="4"/>
                    </a:lnTo>
                    <a:lnTo>
                      <a:pt x="8" y="3"/>
                    </a:lnTo>
                    <a:lnTo>
                      <a:pt x="12" y="3"/>
                    </a:lnTo>
                    <a:lnTo>
                      <a:pt x="16" y="2"/>
                    </a:lnTo>
                    <a:lnTo>
                      <a:pt x="20" y="1"/>
                    </a:lnTo>
                    <a:lnTo>
                      <a:pt x="24" y="1"/>
                    </a:lnTo>
                    <a:lnTo>
                      <a:pt x="29" y="0"/>
                    </a:lnTo>
                    <a:lnTo>
                      <a:pt x="32" y="0"/>
                    </a:lnTo>
                    <a:lnTo>
                      <a:pt x="32" y="494"/>
                    </a:lnTo>
                    <a:lnTo>
                      <a:pt x="0" y="49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19" name="Freeform 4457"/>
              <p:cNvSpPr>
                <a:spLocks noChangeAspect="1"/>
              </p:cNvSpPr>
              <p:nvPr/>
            </p:nvSpPr>
            <p:spPr bwMode="auto">
              <a:xfrm>
                <a:off x="4370" y="970"/>
                <a:ext cx="11" cy="166"/>
              </a:xfrm>
              <a:custGeom>
                <a:avLst/>
                <a:gdLst>
                  <a:gd name="T0" fmla="*/ 0 w 33"/>
                  <a:gd name="T1" fmla="*/ 0 h 496"/>
                  <a:gd name="T2" fmla="*/ 0 w 33"/>
                  <a:gd name="T3" fmla="*/ 0 h 496"/>
                  <a:gd name="T4" fmla="*/ 0 w 33"/>
                  <a:gd name="T5" fmla="*/ 0 h 496"/>
                  <a:gd name="T6" fmla="*/ 0 w 33"/>
                  <a:gd name="T7" fmla="*/ 0 h 496"/>
                  <a:gd name="T8" fmla="*/ 0 w 33"/>
                  <a:gd name="T9" fmla="*/ 0 h 496"/>
                  <a:gd name="T10" fmla="*/ 0 w 33"/>
                  <a:gd name="T11" fmla="*/ 0 h 496"/>
                  <a:gd name="T12" fmla="*/ 0 w 33"/>
                  <a:gd name="T13" fmla="*/ 0 h 496"/>
                  <a:gd name="T14" fmla="*/ 0 w 33"/>
                  <a:gd name="T15" fmla="*/ 0 h 496"/>
                  <a:gd name="T16" fmla="*/ 0 w 33"/>
                  <a:gd name="T17" fmla="*/ 0 h 496"/>
                  <a:gd name="T18" fmla="*/ 0 w 33"/>
                  <a:gd name="T19" fmla="*/ 0 h 496"/>
                  <a:gd name="T20" fmla="*/ 0 w 33"/>
                  <a:gd name="T21" fmla="*/ 0 h 496"/>
                  <a:gd name="T22" fmla="*/ 0 w 33"/>
                  <a:gd name="T23" fmla="*/ 0 h 49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96">
                    <a:moveTo>
                      <a:pt x="0" y="496"/>
                    </a:moveTo>
                    <a:lnTo>
                      <a:pt x="0" y="4"/>
                    </a:lnTo>
                    <a:lnTo>
                      <a:pt x="4" y="3"/>
                    </a:lnTo>
                    <a:lnTo>
                      <a:pt x="8" y="3"/>
                    </a:lnTo>
                    <a:lnTo>
                      <a:pt x="13" y="2"/>
                    </a:lnTo>
                    <a:lnTo>
                      <a:pt x="16" y="2"/>
                    </a:lnTo>
                    <a:lnTo>
                      <a:pt x="20" y="1"/>
                    </a:lnTo>
                    <a:lnTo>
                      <a:pt x="24" y="1"/>
                    </a:lnTo>
                    <a:lnTo>
                      <a:pt x="29" y="1"/>
                    </a:lnTo>
                    <a:lnTo>
                      <a:pt x="33" y="0"/>
                    </a:lnTo>
                    <a:lnTo>
                      <a:pt x="33" y="496"/>
                    </a:lnTo>
                    <a:lnTo>
                      <a:pt x="0" y="49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20" name="Freeform 4458"/>
              <p:cNvSpPr>
                <a:spLocks noChangeAspect="1"/>
              </p:cNvSpPr>
              <p:nvPr/>
            </p:nvSpPr>
            <p:spPr bwMode="auto">
              <a:xfrm>
                <a:off x="4375" y="970"/>
                <a:ext cx="11" cy="166"/>
              </a:xfrm>
              <a:custGeom>
                <a:avLst/>
                <a:gdLst>
                  <a:gd name="T0" fmla="*/ 0 w 33"/>
                  <a:gd name="T1" fmla="*/ 0 h 497"/>
                  <a:gd name="T2" fmla="*/ 0 w 33"/>
                  <a:gd name="T3" fmla="*/ 0 h 497"/>
                  <a:gd name="T4" fmla="*/ 0 w 33"/>
                  <a:gd name="T5" fmla="*/ 0 h 497"/>
                  <a:gd name="T6" fmla="*/ 0 w 33"/>
                  <a:gd name="T7" fmla="*/ 0 h 497"/>
                  <a:gd name="T8" fmla="*/ 0 w 33"/>
                  <a:gd name="T9" fmla="*/ 0 h 497"/>
                  <a:gd name="T10" fmla="*/ 0 w 33"/>
                  <a:gd name="T11" fmla="*/ 0 h 497"/>
                  <a:gd name="T12" fmla="*/ 0 w 33"/>
                  <a:gd name="T13" fmla="*/ 0 h 497"/>
                  <a:gd name="T14" fmla="*/ 0 w 33"/>
                  <a:gd name="T15" fmla="*/ 0 h 497"/>
                  <a:gd name="T16" fmla="*/ 0 w 33"/>
                  <a:gd name="T17" fmla="*/ 0 h 497"/>
                  <a:gd name="T18" fmla="*/ 0 w 33"/>
                  <a:gd name="T19" fmla="*/ 0 h 497"/>
                  <a:gd name="T20" fmla="*/ 0 w 33"/>
                  <a:gd name="T21" fmla="*/ 0 h 497"/>
                  <a:gd name="T22" fmla="*/ 0 w 33"/>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97">
                    <a:moveTo>
                      <a:pt x="0" y="497"/>
                    </a:moveTo>
                    <a:lnTo>
                      <a:pt x="0" y="3"/>
                    </a:lnTo>
                    <a:lnTo>
                      <a:pt x="4" y="2"/>
                    </a:lnTo>
                    <a:lnTo>
                      <a:pt x="8" y="2"/>
                    </a:lnTo>
                    <a:lnTo>
                      <a:pt x="13" y="2"/>
                    </a:lnTo>
                    <a:lnTo>
                      <a:pt x="17" y="1"/>
                    </a:lnTo>
                    <a:lnTo>
                      <a:pt x="20" y="1"/>
                    </a:lnTo>
                    <a:lnTo>
                      <a:pt x="24" y="1"/>
                    </a:lnTo>
                    <a:lnTo>
                      <a:pt x="29" y="0"/>
                    </a:lnTo>
                    <a:lnTo>
                      <a:pt x="33" y="0"/>
                    </a:lnTo>
                    <a:lnTo>
                      <a:pt x="33"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21" name="Freeform 4459"/>
              <p:cNvSpPr>
                <a:spLocks noChangeAspect="1"/>
              </p:cNvSpPr>
              <p:nvPr/>
            </p:nvSpPr>
            <p:spPr bwMode="auto">
              <a:xfrm>
                <a:off x="4381" y="970"/>
                <a:ext cx="11" cy="166"/>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97">
                    <a:moveTo>
                      <a:pt x="0" y="497"/>
                    </a:moveTo>
                    <a:lnTo>
                      <a:pt x="0" y="1"/>
                    </a:lnTo>
                    <a:lnTo>
                      <a:pt x="3" y="1"/>
                    </a:lnTo>
                    <a:lnTo>
                      <a:pt x="7" y="1"/>
                    </a:lnTo>
                    <a:lnTo>
                      <a:pt x="12" y="0"/>
                    </a:lnTo>
                    <a:lnTo>
                      <a:pt x="16" y="0"/>
                    </a:lnTo>
                    <a:lnTo>
                      <a:pt x="20" y="0"/>
                    </a:lnTo>
                    <a:lnTo>
                      <a:pt x="23" y="0"/>
                    </a:lnTo>
                    <a:lnTo>
                      <a:pt x="28" y="0"/>
                    </a:lnTo>
                    <a:lnTo>
                      <a:pt x="32" y="0"/>
                    </a:lnTo>
                    <a:lnTo>
                      <a:pt x="32"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22" name="Freeform 4460"/>
              <p:cNvSpPr>
                <a:spLocks noChangeAspect="1"/>
              </p:cNvSpPr>
              <p:nvPr/>
            </p:nvSpPr>
            <p:spPr bwMode="auto">
              <a:xfrm>
                <a:off x="4386" y="970"/>
                <a:ext cx="11" cy="166"/>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w 32"/>
                  <a:gd name="T25" fmla="*/ 0 h 497"/>
                  <a:gd name="T26" fmla="*/ 0 w 32"/>
                  <a:gd name="T27" fmla="*/ 0 h 497"/>
                  <a:gd name="T28" fmla="*/ 0 w 32"/>
                  <a:gd name="T29" fmla="*/ 0 h 497"/>
                  <a:gd name="T30" fmla="*/ 0 w 32"/>
                  <a:gd name="T31" fmla="*/ 0 h 497"/>
                  <a:gd name="T32" fmla="*/ 0 w 32"/>
                  <a:gd name="T33" fmla="*/ 0 h 497"/>
                  <a:gd name="T34" fmla="*/ 0 w 32"/>
                  <a:gd name="T35" fmla="*/ 0 h 497"/>
                  <a:gd name="T36" fmla="*/ 0 w 32"/>
                  <a:gd name="T37" fmla="*/ 0 h 497"/>
                  <a:gd name="T38" fmla="*/ 0 w 32"/>
                  <a:gd name="T39" fmla="*/ 0 h 497"/>
                  <a:gd name="T40" fmla="*/ 0 w 32"/>
                  <a:gd name="T41" fmla="*/ 0 h 49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 h="497">
                    <a:moveTo>
                      <a:pt x="0" y="497"/>
                    </a:moveTo>
                    <a:lnTo>
                      <a:pt x="0" y="0"/>
                    </a:lnTo>
                    <a:lnTo>
                      <a:pt x="3" y="0"/>
                    </a:lnTo>
                    <a:lnTo>
                      <a:pt x="5" y="0"/>
                    </a:lnTo>
                    <a:lnTo>
                      <a:pt x="8" y="0"/>
                    </a:lnTo>
                    <a:lnTo>
                      <a:pt x="12" y="0"/>
                    </a:lnTo>
                    <a:lnTo>
                      <a:pt x="15" y="0"/>
                    </a:lnTo>
                    <a:lnTo>
                      <a:pt x="18" y="0"/>
                    </a:lnTo>
                    <a:lnTo>
                      <a:pt x="21" y="0"/>
                    </a:lnTo>
                    <a:lnTo>
                      <a:pt x="23" y="0"/>
                    </a:lnTo>
                    <a:lnTo>
                      <a:pt x="24" y="0"/>
                    </a:lnTo>
                    <a:lnTo>
                      <a:pt x="25" y="0"/>
                    </a:lnTo>
                    <a:lnTo>
                      <a:pt x="27" y="0"/>
                    </a:lnTo>
                    <a:lnTo>
                      <a:pt x="28" y="0"/>
                    </a:lnTo>
                    <a:lnTo>
                      <a:pt x="29" y="0"/>
                    </a:lnTo>
                    <a:lnTo>
                      <a:pt x="30" y="0"/>
                    </a:lnTo>
                    <a:lnTo>
                      <a:pt x="31" y="0"/>
                    </a:lnTo>
                    <a:lnTo>
                      <a:pt x="32" y="0"/>
                    </a:lnTo>
                    <a:lnTo>
                      <a:pt x="32"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23" name="Freeform 4461"/>
              <p:cNvSpPr>
                <a:spLocks noChangeAspect="1"/>
              </p:cNvSpPr>
              <p:nvPr/>
            </p:nvSpPr>
            <p:spPr bwMode="auto">
              <a:xfrm>
                <a:off x="4392" y="970"/>
                <a:ext cx="10" cy="166"/>
              </a:xfrm>
              <a:custGeom>
                <a:avLst/>
                <a:gdLst>
                  <a:gd name="T0" fmla="*/ 0 w 32"/>
                  <a:gd name="T1" fmla="*/ 0 h 497"/>
                  <a:gd name="T2" fmla="*/ 0 w 32"/>
                  <a:gd name="T3" fmla="*/ 0 h 497"/>
                  <a:gd name="T4" fmla="*/ 0 w 32"/>
                  <a:gd name="T5" fmla="*/ 0 h 497"/>
                  <a:gd name="T6" fmla="*/ 0 w 32"/>
                  <a:gd name="T7" fmla="*/ 0 h 497"/>
                  <a:gd name="T8" fmla="*/ 0 w 32"/>
                  <a:gd name="T9" fmla="*/ 0 h 497"/>
                  <a:gd name="T10" fmla="*/ 0 w 32"/>
                  <a:gd name="T11" fmla="*/ 0 h 497"/>
                  <a:gd name="T12" fmla="*/ 0 w 32"/>
                  <a:gd name="T13" fmla="*/ 0 h 497"/>
                  <a:gd name="T14" fmla="*/ 0 w 32"/>
                  <a:gd name="T15" fmla="*/ 0 h 497"/>
                  <a:gd name="T16" fmla="*/ 0 w 32"/>
                  <a:gd name="T17" fmla="*/ 0 h 497"/>
                  <a:gd name="T18" fmla="*/ 0 w 32"/>
                  <a:gd name="T19" fmla="*/ 0 h 497"/>
                  <a:gd name="T20" fmla="*/ 0 w 32"/>
                  <a:gd name="T21" fmla="*/ 0 h 497"/>
                  <a:gd name="T22" fmla="*/ 0 w 32"/>
                  <a:gd name="T23" fmla="*/ 0 h 497"/>
                  <a:gd name="T24" fmla="*/ 0 w 32"/>
                  <a:gd name="T25" fmla="*/ 0 h 497"/>
                  <a:gd name="T26" fmla="*/ 0 w 32"/>
                  <a:gd name="T27" fmla="*/ 0 h 497"/>
                  <a:gd name="T28" fmla="*/ 0 w 32"/>
                  <a:gd name="T29" fmla="*/ 0 h 497"/>
                  <a:gd name="T30" fmla="*/ 0 w 32"/>
                  <a:gd name="T31" fmla="*/ 0 h 497"/>
                  <a:gd name="T32" fmla="*/ 0 w 32"/>
                  <a:gd name="T33" fmla="*/ 0 h 497"/>
                  <a:gd name="T34" fmla="*/ 0 w 32"/>
                  <a:gd name="T35" fmla="*/ 0 h 497"/>
                  <a:gd name="T36" fmla="*/ 0 w 32"/>
                  <a:gd name="T37" fmla="*/ 0 h 497"/>
                  <a:gd name="T38" fmla="*/ 0 w 32"/>
                  <a:gd name="T39" fmla="*/ 0 h 497"/>
                  <a:gd name="T40" fmla="*/ 0 w 32"/>
                  <a:gd name="T41" fmla="*/ 0 h 49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 h="497">
                    <a:moveTo>
                      <a:pt x="0" y="497"/>
                    </a:moveTo>
                    <a:lnTo>
                      <a:pt x="0" y="0"/>
                    </a:lnTo>
                    <a:lnTo>
                      <a:pt x="1" y="0"/>
                    </a:lnTo>
                    <a:lnTo>
                      <a:pt x="2" y="0"/>
                    </a:lnTo>
                    <a:lnTo>
                      <a:pt x="3" y="0"/>
                    </a:lnTo>
                    <a:lnTo>
                      <a:pt x="4" y="0"/>
                    </a:lnTo>
                    <a:lnTo>
                      <a:pt x="5" y="0"/>
                    </a:lnTo>
                    <a:lnTo>
                      <a:pt x="6" y="0"/>
                    </a:lnTo>
                    <a:lnTo>
                      <a:pt x="7" y="0"/>
                    </a:lnTo>
                    <a:lnTo>
                      <a:pt x="11" y="0"/>
                    </a:lnTo>
                    <a:lnTo>
                      <a:pt x="14" y="0"/>
                    </a:lnTo>
                    <a:lnTo>
                      <a:pt x="17" y="0"/>
                    </a:lnTo>
                    <a:lnTo>
                      <a:pt x="20" y="0"/>
                    </a:lnTo>
                    <a:lnTo>
                      <a:pt x="23" y="0"/>
                    </a:lnTo>
                    <a:lnTo>
                      <a:pt x="26" y="0"/>
                    </a:lnTo>
                    <a:lnTo>
                      <a:pt x="30" y="0"/>
                    </a:lnTo>
                    <a:lnTo>
                      <a:pt x="32" y="0"/>
                    </a:lnTo>
                    <a:lnTo>
                      <a:pt x="32" y="481"/>
                    </a:lnTo>
                    <a:lnTo>
                      <a:pt x="16" y="497"/>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24" name="Freeform 4462"/>
              <p:cNvSpPr>
                <a:spLocks noChangeAspect="1"/>
              </p:cNvSpPr>
              <p:nvPr/>
            </p:nvSpPr>
            <p:spPr bwMode="auto">
              <a:xfrm>
                <a:off x="4397" y="970"/>
                <a:ext cx="11" cy="166"/>
              </a:xfrm>
              <a:custGeom>
                <a:avLst/>
                <a:gdLst>
                  <a:gd name="T0" fmla="*/ 0 w 33"/>
                  <a:gd name="T1" fmla="*/ 0 h 497"/>
                  <a:gd name="T2" fmla="*/ 0 w 33"/>
                  <a:gd name="T3" fmla="*/ 0 h 497"/>
                  <a:gd name="T4" fmla="*/ 0 w 33"/>
                  <a:gd name="T5" fmla="*/ 0 h 497"/>
                  <a:gd name="T6" fmla="*/ 0 w 33"/>
                  <a:gd name="T7" fmla="*/ 0 h 497"/>
                  <a:gd name="T8" fmla="*/ 0 w 33"/>
                  <a:gd name="T9" fmla="*/ 0 h 497"/>
                  <a:gd name="T10" fmla="*/ 0 w 33"/>
                  <a:gd name="T11" fmla="*/ 0 h 497"/>
                  <a:gd name="T12" fmla="*/ 0 w 33"/>
                  <a:gd name="T13" fmla="*/ 0 h 497"/>
                  <a:gd name="T14" fmla="*/ 0 w 33"/>
                  <a:gd name="T15" fmla="*/ 0 h 497"/>
                  <a:gd name="T16" fmla="*/ 0 w 33"/>
                  <a:gd name="T17" fmla="*/ 0 h 497"/>
                  <a:gd name="T18" fmla="*/ 0 w 33"/>
                  <a:gd name="T19" fmla="*/ 0 h 497"/>
                  <a:gd name="T20" fmla="*/ 0 w 33"/>
                  <a:gd name="T21" fmla="*/ 0 h 497"/>
                  <a:gd name="T22" fmla="*/ 0 w 33"/>
                  <a:gd name="T23" fmla="*/ 0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97">
                    <a:moveTo>
                      <a:pt x="0" y="497"/>
                    </a:moveTo>
                    <a:lnTo>
                      <a:pt x="0" y="0"/>
                    </a:lnTo>
                    <a:lnTo>
                      <a:pt x="4" y="0"/>
                    </a:lnTo>
                    <a:lnTo>
                      <a:pt x="8" y="0"/>
                    </a:lnTo>
                    <a:lnTo>
                      <a:pt x="13" y="0"/>
                    </a:lnTo>
                    <a:lnTo>
                      <a:pt x="16" y="0"/>
                    </a:lnTo>
                    <a:lnTo>
                      <a:pt x="20" y="0"/>
                    </a:lnTo>
                    <a:lnTo>
                      <a:pt x="24" y="1"/>
                    </a:lnTo>
                    <a:lnTo>
                      <a:pt x="29" y="1"/>
                    </a:lnTo>
                    <a:lnTo>
                      <a:pt x="33" y="1"/>
                    </a:lnTo>
                    <a:lnTo>
                      <a:pt x="33" y="464"/>
                    </a:lnTo>
                    <a:lnTo>
                      <a:pt x="0" y="4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25" name="Freeform 4463"/>
              <p:cNvSpPr>
                <a:spLocks noChangeAspect="1"/>
              </p:cNvSpPr>
              <p:nvPr/>
            </p:nvSpPr>
            <p:spPr bwMode="auto">
              <a:xfrm>
                <a:off x="4402" y="970"/>
                <a:ext cx="11" cy="160"/>
              </a:xfrm>
              <a:custGeom>
                <a:avLst/>
                <a:gdLst>
                  <a:gd name="T0" fmla="*/ 0 w 33"/>
                  <a:gd name="T1" fmla="*/ 0 h 481"/>
                  <a:gd name="T2" fmla="*/ 0 w 33"/>
                  <a:gd name="T3" fmla="*/ 0 h 481"/>
                  <a:gd name="T4" fmla="*/ 0 w 33"/>
                  <a:gd name="T5" fmla="*/ 0 h 481"/>
                  <a:gd name="T6" fmla="*/ 0 w 33"/>
                  <a:gd name="T7" fmla="*/ 0 h 481"/>
                  <a:gd name="T8" fmla="*/ 0 w 33"/>
                  <a:gd name="T9" fmla="*/ 0 h 481"/>
                  <a:gd name="T10" fmla="*/ 0 w 33"/>
                  <a:gd name="T11" fmla="*/ 0 h 481"/>
                  <a:gd name="T12" fmla="*/ 0 w 33"/>
                  <a:gd name="T13" fmla="*/ 0 h 481"/>
                  <a:gd name="T14" fmla="*/ 0 w 33"/>
                  <a:gd name="T15" fmla="*/ 0 h 481"/>
                  <a:gd name="T16" fmla="*/ 0 w 33"/>
                  <a:gd name="T17" fmla="*/ 0 h 481"/>
                  <a:gd name="T18" fmla="*/ 0 w 33"/>
                  <a:gd name="T19" fmla="*/ 0 h 481"/>
                  <a:gd name="T20" fmla="*/ 0 w 33"/>
                  <a:gd name="T21" fmla="*/ 0 h 481"/>
                  <a:gd name="T22" fmla="*/ 0 w 33"/>
                  <a:gd name="T23" fmla="*/ 0 h 4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481">
                    <a:moveTo>
                      <a:pt x="0" y="481"/>
                    </a:moveTo>
                    <a:lnTo>
                      <a:pt x="0" y="0"/>
                    </a:lnTo>
                    <a:lnTo>
                      <a:pt x="4" y="0"/>
                    </a:lnTo>
                    <a:lnTo>
                      <a:pt x="8" y="1"/>
                    </a:lnTo>
                    <a:lnTo>
                      <a:pt x="13" y="1"/>
                    </a:lnTo>
                    <a:lnTo>
                      <a:pt x="17" y="1"/>
                    </a:lnTo>
                    <a:lnTo>
                      <a:pt x="20" y="2"/>
                    </a:lnTo>
                    <a:lnTo>
                      <a:pt x="24" y="2"/>
                    </a:lnTo>
                    <a:lnTo>
                      <a:pt x="29" y="2"/>
                    </a:lnTo>
                    <a:lnTo>
                      <a:pt x="33" y="3"/>
                    </a:lnTo>
                    <a:lnTo>
                      <a:pt x="33" y="449"/>
                    </a:lnTo>
                    <a:lnTo>
                      <a:pt x="0" y="4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26" name="Freeform 4464"/>
              <p:cNvSpPr>
                <a:spLocks noChangeAspect="1"/>
              </p:cNvSpPr>
              <p:nvPr/>
            </p:nvSpPr>
            <p:spPr bwMode="auto">
              <a:xfrm>
                <a:off x="4408" y="970"/>
                <a:ext cx="11" cy="155"/>
              </a:xfrm>
              <a:custGeom>
                <a:avLst/>
                <a:gdLst>
                  <a:gd name="T0" fmla="*/ 0 w 32"/>
                  <a:gd name="T1" fmla="*/ 0 h 463"/>
                  <a:gd name="T2" fmla="*/ 0 w 32"/>
                  <a:gd name="T3" fmla="*/ 0 h 463"/>
                  <a:gd name="T4" fmla="*/ 0 w 32"/>
                  <a:gd name="T5" fmla="*/ 0 h 463"/>
                  <a:gd name="T6" fmla="*/ 0 w 32"/>
                  <a:gd name="T7" fmla="*/ 0 h 463"/>
                  <a:gd name="T8" fmla="*/ 0 w 32"/>
                  <a:gd name="T9" fmla="*/ 0 h 463"/>
                  <a:gd name="T10" fmla="*/ 0 w 32"/>
                  <a:gd name="T11" fmla="*/ 0 h 463"/>
                  <a:gd name="T12" fmla="*/ 0 w 32"/>
                  <a:gd name="T13" fmla="*/ 0 h 463"/>
                  <a:gd name="T14" fmla="*/ 0 w 32"/>
                  <a:gd name="T15" fmla="*/ 0 h 463"/>
                  <a:gd name="T16" fmla="*/ 0 w 32"/>
                  <a:gd name="T17" fmla="*/ 0 h 463"/>
                  <a:gd name="T18" fmla="*/ 0 w 32"/>
                  <a:gd name="T19" fmla="*/ 0 h 463"/>
                  <a:gd name="T20" fmla="*/ 0 w 32"/>
                  <a:gd name="T21" fmla="*/ 0 h 463"/>
                  <a:gd name="T22" fmla="*/ 0 w 32"/>
                  <a:gd name="T23" fmla="*/ 0 h 46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63">
                    <a:moveTo>
                      <a:pt x="0" y="463"/>
                    </a:moveTo>
                    <a:lnTo>
                      <a:pt x="0" y="0"/>
                    </a:lnTo>
                    <a:lnTo>
                      <a:pt x="3" y="1"/>
                    </a:lnTo>
                    <a:lnTo>
                      <a:pt x="7" y="1"/>
                    </a:lnTo>
                    <a:lnTo>
                      <a:pt x="12" y="1"/>
                    </a:lnTo>
                    <a:lnTo>
                      <a:pt x="16" y="2"/>
                    </a:lnTo>
                    <a:lnTo>
                      <a:pt x="20" y="2"/>
                    </a:lnTo>
                    <a:lnTo>
                      <a:pt x="23" y="3"/>
                    </a:lnTo>
                    <a:lnTo>
                      <a:pt x="27" y="3"/>
                    </a:lnTo>
                    <a:lnTo>
                      <a:pt x="32" y="4"/>
                    </a:lnTo>
                    <a:lnTo>
                      <a:pt x="32" y="432"/>
                    </a:lnTo>
                    <a:lnTo>
                      <a:pt x="0" y="46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27" name="Freeform 4465"/>
              <p:cNvSpPr>
                <a:spLocks noChangeAspect="1"/>
              </p:cNvSpPr>
              <p:nvPr/>
            </p:nvSpPr>
            <p:spPr bwMode="auto">
              <a:xfrm>
                <a:off x="4413" y="971"/>
                <a:ext cx="11" cy="149"/>
              </a:xfrm>
              <a:custGeom>
                <a:avLst/>
                <a:gdLst>
                  <a:gd name="T0" fmla="*/ 0 w 32"/>
                  <a:gd name="T1" fmla="*/ 0 h 446"/>
                  <a:gd name="T2" fmla="*/ 0 w 32"/>
                  <a:gd name="T3" fmla="*/ 0 h 446"/>
                  <a:gd name="T4" fmla="*/ 0 w 32"/>
                  <a:gd name="T5" fmla="*/ 0 h 446"/>
                  <a:gd name="T6" fmla="*/ 0 w 32"/>
                  <a:gd name="T7" fmla="*/ 0 h 446"/>
                  <a:gd name="T8" fmla="*/ 0 w 32"/>
                  <a:gd name="T9" fmla="*/ 0 h 446"/>
                  <a:gd name="T10" fmla="*/ 0 w 32"/>
                  <a:gd name="T11" fmla="*/ 0 h 446"/>
                  <a:gd name="T12" fmla="*/ 0 w 32"/>
                  <a:gd name="T13" fmla="*/ 0 h 446"/>
                  <a:gd name="T14" fmla="*/ 0 w 32"/>
                  <a:gd name="T15" fmla="*/ 0 h 446"/>
                  <a:gd name="T16" fmla="*/ 0 w 32"/>
                  <a:gd name="T17" fmla="*/ 0 h 446"/>
                  <a:gd name="T18" fmla="*/ 0 w 32"/>
                  <a:gd name="T19" fmla="*/ 0 h 446"/>
                  <a:gd name="T20" fmla="*/ 0 w 32"/>
                  <a:gd name="T21" fmla="*/ 0 h 446"/>
                  <a:gd name="T22" fmla="*/ 0 w 32"/>
                  <a:gd name="T23" fmla="*/ 0 h 4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46">
                    <a:moveTo>
                      <a:pt x="0" y="446"/>
                    </a:moveTo>
                    <a:lnTo>
                      <a:pt x="0" y="0"/>
                    </a:lnTo>
                    <a:lnTo>
                      <a:pt x="4" y="0"/>
                    </a:lnTo>
                    <a:lnTo>
                      <a:pt x="7" y="1"/>
                    </a:lnTo>
                    <a:lnTo>
                      <a:pt x="11" y="1"/>
                    </a:lnTo>
                    <a:lnTo>
                      <a:pt x="16" y="2"/>
                    </a:lnTo>
                    <a:lnTo>
                      <a:pt x="20" y="3"/>
                    </a:lnTo>
                    <a:lnTo>
                      <a:pt x="24" y="3"/>
                    </a:lnTo>
                    <a:lnTo>
                      <a:pt x="27" y="4"/>
                    </a:lnTo>
                    <a:lnTo>
                      <a:pt x="32" y="5"/>
                    </a:lnTo>
                    <a:lnTo>
                      <a:pt x="32" y="414"/>
                    </a:lnTo>
                    <a:lnTo>
                      <a:pt x="0" y="44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28" name="Freeform 4466"/>
              <p:cNvSpPr>
                <a:spLocks noChangeAspect="1"/>
              </p:cNvSpPr>
              <p:nvPr/>
            </p:nvSpPr>
            <p:spPr bwMode="auto">
              <a:xfrm>
                <a:off x="4419" y="972"/>
                <a:ext cx="10" cy="142"/>
              </a:xfrm>
              <a:custGeom>
                <a:avLst/>
                <a:gdLst>
                  <a:gd name="T0" fmla="*/ 0 w 32"/>
                  <a:gd name="T1" fmla="*/ 0 h 428"/>
                  <a:gd name="T2" fmla="*/ 0 w 32"/>
                  <a:gd name="T3" fmla="*/ 0 h 428"/>
                  <a:gd name="T4" fmla="*/ 0 w 32"/>
                  <a:gd name="T5" fmla="*/ 0 h 428"/>
                  <a:gd name="T6" fmla="*/ 0 w 32"/>
                  <a:gd name="T7" fmla="*/ 0 h 428"/>
                  <a:gd name="T8" fmla="*/ 0 w 32"/>
                  <a:gd name="T9" fmla="*/ 0 h 428"/>
                  <a:gd name="T10" fmla="*/ 0 w 32"/>
                  <a:gd name="T11" fmla="*/ 0 h 428"/>
                  <a:gd name="T12" fmla="*/ 0 w 32"/>
                  <a:gd name="T13" fmla="*/ 0 h 428"/>
                  <a:gd name="T14" fmla="*/ 0 w 32"/>
                  <a:gd name="T15" fmla="*/ 0 h 428"/>
                  <a:gd name="T16" fmla="*/ 0 w 32"/>
                  <a:gd name="T17" fmla="*/ 0 h 428"/>
                  <a:gd name="T18" fmla="*/ 0 w 32"/>
                  <a:gd name="T19" fmla="*/ 0 h 428"/>
                  <a:gd name="T20" fmla="*/ 0 w 32"/>
                  <a:gd name="T21" fmla="*/ 0 h 428"/>
                  <a:gd name="T22" fmla="*/ 0 w 32"/>
                  <a:gd name="T23" fmla="*/ 0 h 4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28">
                    <a:moveTo>
                      <a:pt x="0" y="428"/>
                    </a:moveTo>
                    <a:lnTo>
                      <a:pt x="0" y="0"/>
                    </a:lnTo>
                    <a:lnTo>
                      <a:pt x="4" y="1"/>
                    </a:lnTo>
                    <a:lnTo>
                      <a:pt x="8" y="1"/>
                    </a:lnTo>
                    <a:lnTo>
                      <a:pt x="11" y="2"/>
                    </a:lnTo>
                    <a:lnTo>
                      <a:pt x="16" y="3"/>
                    </a:lnTo>
                    <a:lnTo>
                      <a:pt x="20" y="4"/>
                    </a:lnTo>
                    <a:lnTo>
                      <a:pt x="24" y="4"/>
                    </a:lnTo>
                    <a:lnTo>
                      <a:pt x="28" y="5"/>
                    </a:lnTo>
                    <a:lnTo>
                      <a:pt x="32" y="7"/>
                    </a:lnTo>
                    <a:lnTo>
                      <a:pt x="32" y="396"/>
                    </a:lnTo>
                    <a:lnTo>
                      <a:pt x="0" y="42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29" name="Freeform 4467"/>
              <p:cNvSpPr>
                <a:spLocks noChangeAspect="1"/>
              </p:cNvSpPr>
              <p:nvPr/>
            </p:nvSpPr>
            <p:spPr bwMode="auto">
              <a:xfrm>
                <a:off x="4424" y="973"/>
                <a:ext cx="11" cy="136"/>
              </a:xfrm>
              <a:custGeom>
                <a:avLst/>
                <a:gdLst>
                  <a:gd name="T0" fmla="*/ 0 w 32"/>
                  <a:gd name="T1" fmla="*/ 0 h 409"/>
                  <a:gd name="T2" fmla="*/ 0 w 32"/>
                  <a:gd name="T3" fmla="*/ 0 h 409"/>
                  <a:gd name="T4" fmla="*/ 0 w 32"/>
                  <a:gd name="T5" fmla="*/ 0 h 409"/>
                  <a:gd name="T6" fmla="*/ 0 w 32"/>
                  <a:gd name="T7" fmla="*/ 0 h 409"/>
                  <a:gd name="T8" fmla="*/ 0 w 32"/>
                  <a:gd name="T9" fmla="*/ 0 h 409"/>
                  <a:gd name="T10" fmla="*/ 0 w 32"/>
                  <a:gd name="T11" fmla="*/ 0 h 409"/>
                  <a:gd name="T12" fmla="*/ 0 w 32"/>
                  <a:gd name="T13" fmla="*/ 0 h 409"/>
                  <a:gd name="T14" fmla="*/ 0 w 32"/>
                  <a:gd name="T15" fmla="*/ 0 h 409"/>
                  <a:gd name="T16" fmla="*/ 0 w 32"/>
                  <a:gd name="T17" fmla="*/ 0 h 409"/>
                  <a:gd name="T18" fmla="*/ 0 w 32"/>
                  <a:gd name="T19" fmla="*/ 0 h 409"/>
                  <a:gd name="T20" fmla="*/ 0 w 32"/>
                  <a:gd name="T21" fmla="*/ 0 h 409"/>
                  <a:gd name="T22" fmla="*/ 0 w 32"/>
                  <a:gd name="T23" fmla="*/ 0 h 40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09">
                    <a:moveTo>
                      <a:pt x="0" y="409"/>
                    </a:moveTo>
                    <a:lnTo>
                      <a:pt x="0" y="0"/>
                    </a:lnTo>
                    <a:lnTo>
                      <a:pt x="4" y="1"/>
                    </a:lnTo>
                    <a:lnTo>
                      <a:pt x="8" y="1"/>
                    </a:lnTo>
                    <a:lnTo>
                      <a:pt x="12" y="2"/>
                    </a:lnTo>
                    <a:lnTo>
                      <a:pt x="16" y="4"/>
                    </a:lnTo>
                    <a:lnTo>
                      <a:pt x="20" y="5"/>
                    </a:lnTo>
                    <a:lnTo>
                      <a:pt x="24" y="6"/>
                    </a:lnTo>
                    <a:lnTo>
                      <a:pt x="28" y="7"/>
                    </a:lnTo>
                    <a:lnTo>
                      <a:pt x="32" y="8"/>
                    </a:lnTo>
                    <a:lnTo>
                      <a:pt x="32" y="377"/>
                    </a:lnTo>
                    <a:lnTo>
                      <a:pt x="0" y="40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30" name="Freeform 4468"/>
              <p:cNvSpPr>
                <a:spLocks noChangeAspect="1"/>
              </p:cNvSpPr>
              <p:nvPr/>
            </p:nvSpPr>
            <p:spPr bwMode="auto">
              <a:xfrm>
                <a:off x="4429" y="974"/>
                <a:ext cx="11" cy="130"/>
              </a:xfrm>
              <a:custGeom>
                <a:avLst/>
                <a:gdLst>
                  <a:gd name="T0" fmla="*/ 0 w 33"/>
                  <a:gd name="T1" fmla="*/ 0 h 389"/>
                  <a:gd name="T2" fmla="*/ 0 w 33"/>
                  <a:gd name="T3" fmla="*/ 0 h 389"/>
                  <a:gd name="T4" fmla="*/ 0 w 33"/>
                  <a:gd name="T5" fmla="*/ 0 h 389"/>
                  <a:gd name="T6" fmla="*/ 0 w 33"/>
                  <a:gd name="T7" fmla="*/ 0 h 389"/>
                  <a:gd name="T8" fmla="*/ 0 w 33"/>
                  <a:gd name="T9" fmla="*/ 0 h 389"/>
                  <a:gd name="T10" fmla="*/ 0 w 33"/>
                  <a:gd name="T11" fmla="*/ 0 h 389"/>
                  <a:gd name="T12" fmla="*/ 0 w 33"/>
                  <a:gd name="T13" fmla="*/ 0 h 389"/>
                  <a:gd name="T14" fmla="*/ 0 w 33"/>
                  <a:gd name="T15" fmla="*/ 0 h 389"/>
                  <a:gd name="T16" fmla="*/ 0 w 33"/>
                  <a:gd name="T17" fmla="*/ 0 h 389"/>
                  <a:gd name="T18" fmla="*/ 0 w 33"/>
                  <a:gd name="T19" fmla="*/ 0 h 389"/>
                  <a:gd name="T20" fmla="*/ 0 w 33"/>
                  <a:gd name="T21" fmla="*/ 0 h 389"/>
                  <a:gd name="T22" fmla="*/ 0 w 33"/>
                  <a:gd name="T23" fmla="*/ 0 h 3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89">
                    <a:moveTo>
                      <a:pt x="0" y="389"/>
                    </a:moveTo>
                    <a:lnTo>
                      <a:pt x="0" y="0"/>
                    </a:lnTo>
                    <a:lnTo>
                      <a:pt x="4" y="1"/>
                    </a:lnTo>
                    <a:lnTo>
                      <a:pt x="8" y="2"/>
                    </a:lnTo>
                    <a:lnTo>
                      <a:pt x="12" y="3"/>
                    </a:lnTo>
                    <a:lnTo>
                      <a:pt x="17" y="4"/>
                    </a:lnTo>
                    <a:lnTo>
                      <a:pt x="20" y="5"/>
                    </a:lnTo>
                    <a:lnTo>
                      <a:pt x="24" y="6"/>
                    </a:lnTo>
                    <a:lnTo>
                      <a:pt x="28" y="7"/>
                    </a:lnTo>
                    <a:lnTo>
                      <a:pt x="33" y="8"/>
                    </a:lnTo>
                    <a:lnTo>
                      <a:pt x="33" y="356"/>
                    </a:lnTo>
                    <a:lnTo>
                      <a:pt x="0" y="3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31" name="Freeform 4469"/>
              <p:cNvSpPr>
                <a:spLocks noChangeAspect="1"/>
              </p:cNvSpPr>
              <p:nvPr/>
            </p:nvSpPr>
            <p:spPr bwMode="auto">
              <a:xfrm>
                <a:off x="4435" y="975"/>
                <a:ext cx="11" cy="123"/>
              </a:xfrm>
              <a:custGeom>
                <a:avLst/>
                <a:gdLst>
                  <a:gd name="T0" fmla="*/ 0 w 33"/>
                  <a:gd name="T1" fmla="*/ 0 h 369"/>
                  <a:gd name="T2" fmla="*/ 0 w 33"/>
                  <a:gd name="T3" fmla="*/ 0 h 369"/>
                  <a:gd name="T4" fmla="*/ 0 w 33"/>
                  <a:gd name="T5" fmla="*/ 0 h 369"/>
                  <a:gd name="T6" fmla="*/ 0 w 33"/>
                  <a:gd name="T7" fmla="*/ 0 h 369"/>
                  <a:gd name="T8" fmla="*/ 0 w 33"/>
                  <a:gd name="T9" fmla="*/ 0 h 369"/>
                  <a:gd name="T10" fmla="*/ 0 w 33"/>
                  <a:gd name="T11" fmla="*/ 0 h 369"/>
                  <a:gd name="T12" fmla="*/ 0 w 33"/>
                  <a:gd name="T13" fmla="*/ 0 h 369"/>
                  <a:gd name="T14" fmla="*/ 0 w 33"/>
                  <a:gd name="T15" fmla="*/ 0 h 369"/>
                  <a:gd name="T16" fmla="*/ 0 w 33"/>
                  <a:gd name="T17" fmla="*/ 0 h 369"/>
                  <a:gd name="T18" fmla="*/ 0 w 33"/>
                  <a:gd name="T19" fmla="*/ 0 h 369"/>
                  <a:gd name="T20" fmla="*/ 0 w 33"/>
                  <a:gd name="T21" fmla="*/ 0 h 369"/>
                  <a:gd name="T22" fmla="*/ 0 w 33"/>
                  <a:gd name="T23" fmla="*/ 0 h 3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369">
                    <a:moveTo>
                      <a:pt x="0" y="369"/>
                    </a:moveTo>
                    <a:lnTo>
                      <a:pt x="0" y="0"/>
                    </a:lnTo>
                    <a:lnTo>
                      <a:pt x="4" y="1"/>
                    </a:lnTo>
                    <a:lnTo>
                      <a:pt x="8" y="2"/>
                    </a:lnTo>
                    <a:lnTo>
                      <a:pt x="12" y="3"/>
                    </a:lnTo>
                    <a:lnTo>
                      <a:pt x="17" y="4"/>
                    </a:lnTo>
                    <a:lnTo>
                      <a:pt x="21" y="6"/>
                    </a:lnTo>
                    <a:lnTo>
                      <a:pt x="24" y="7"/>
                    </a:lnTo>
                    <a:lnTo>
                      <a:pt x="28" y="8"/>
                    </a:lnTo>
                    <a:lnTo>
                      <a:pt x="33" y="9"/>
                    </a:lnTo>
                    <a:lnTo>
                      <a:pt x="33" y="336"/>
                    </a:lnTo>
                    <a:lnTo>
                      <a:pt x="0" y="36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32" name="Freeform 4470"/>
              <p:cNvSpPr>
                <a:spLocks noChangeAspect="1"/>
              </p:cNvSpPr>
              <p:nvPr/>
            </p:nvSpPr>
            <p:spPr bwMode="auto">
              <a:xfrm>
                <a:off x="4440" y="977"/>
                <a:ext cx="11" cy="116"/>
              </a:xfrm>
              <a:custGeom>
                <a:avLst/>
                <a:gdLst>
                  <a:gd name="T0" fmla="*/ 0 w 32"/>
                  <a:gd name="T1" fmla="*/ 0 h 348"/>
                  <a:gd name="T2" fmla="*/ 0 w 32"/>
                  <a:gd name="T3" fmla="*/ 0 h 348"/>
                  <a:gd name="T4" fmla="*/ 0 w 32"/>
                  <a:gd name="T5" fmla="*/ 0 h 348"/>
                  <a:gd name="T6" fmla="*/ 0 w 32"/>
                  <a:gd name="T7" fmla="*/ 0 h 348"/>
                  <a:gd name="T8" fmla="*/ 0 w 32"/>
                  <a:gd name="T9" fmla="*/ 0 h 348"/>
                  <a:gd name="T10" fmla="*/ 0 w 32"/>
                  <a:gd name="T11" fmla="*/ 0 h 348"/>
                  <a:gd name="T12" fmla="*/ 0 w 32"/>
                  <a:gd name="T13" fmla="*/ 0 h 348"/>
                  <a:gd name="T14" fmla="*/ 0 w 32"/>
                  <a:gd name="T15" fmla="*/ 0 h 348"/>
                  <a:gd name="T16" fmla="*/ 0 w 32"/>
                  <a:gd name="T17" fmla="*/ 0 h 348"/>
                  <a:gd name="T18" fmla="*/ 0 w 32"/>
                  <a:gd name="T19" fmla="*/ 0 h 348"/>
                  <a:gd name="T20" fmla="*/ 0 w 32"/>
                  <a:gd name="T21" fmla="*/ 0 h 348"/>
                  <a:gd name="T22" fmla="*/ 0 w 32"/>
                  <a:gd name="T23" fmla="*/ 0 h 3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48">
                    <a:moveTo>
                      <a:pt x="0" y="348"/>
                    </a:moveTo>
                    <a:lnTo>
                      <a:pt x="0" y="0"/>
                    </a:lnTo>
                    <a:lnTo>
                      <a:pt x="3" y="2"/>
                    </a:lnTo>
                    <a:lnTo>
                      <a:pt x="7" y="3"/>
                    </a:lnTo>
                    <a:lnTo>
                      <a:pt x="11" y="4"/>
                    </a:lnTo>
                    <a:lnTo>
                      <a:pt x="16" y="6"/>
                    </a:lnTo>
                    <a:lnTo>
                      <a:pt x="20" y="7"/>
                    </a:lnTo>
                    <a:lnTo>
                      <a:pt x="24" y="9"/>
                    </a:lnTo>
                    <a:lnTo>
                      <a:pt x="27" y="11"/>
                    </a:lnTo>
                    <a:lnTo>
                      <a:pt x="32" y="12"/>
                    </a:lnTo>
                    <a:lnTo>
                      <a:pt x="32" y="316"/>
                    </a:lnTo>
                    <a:lnTo>
                      <a:pt x="0" y="3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33" name="Freeform 4471"/>
              <p:cNvSpPr>
                <a:spLocks noChangeAspect="1"/>
              </p:cNvSpPr>
              <p:nvPr/>
            </p:nvSpPr>
            <p:spPr bwMode="auto">
              <a:xfrm>
                <a:off x="4446" y="978"/>
                <a:ext cx="10" cy="109"/>
              </a:xfrm>
              <a:custGeom>
                <a:avLst/>
                <a:gdLst>
                  <a:gd name="T0" fmla="*/ 0 w 32"/>
                  <a:gd name="T1" fmla="*/ 0 h 327"/>
                  <a:gd name="T2" fmla="*/ 0 w 32"/>
                  <a:gd name="T3" fmla="*/ 0 h 327"/>
                  <a:gd name="T4" fmla="*/ 0 w 32"/>
                  <a:gd name="T5" fmla="*/ 0 h 327"/>
                  <a:gd name="T6" fmla="*/ 0 w 32"/>
                  <a:gd name="T7" fmla="*/ 0 h 327"/>
                  <a:gd name="T8" fmla="*/ 0 w 32"/>
                  <a:gd name="T9" fmla="*/ 0 h 327"/>
                  <a:gd name="T10" fmla="*/ 0 w 32"/>
                  <a:gd name="T11" fmla="*/ 0 h 327"/>
                  <a:gd name="T12" fmla="*/ 0 w 32"/>
                  <a:gd name="T13" fmla="*/ 0 h 327"/>
                  <a:gd name="T14" fmla="*/ 0 w 32"/>
                  <a:gd name="T15" fmla="*/ 0 h 327"/>
                  <a:gd name="T16" fmla="*/ 0 w 32"/>
                  <a:gd name="T17" fmla="*/ 0 h 327"/>
                  <a:gd name="T18" fmla="*/ 0 w 32"/>
                  <a:gd name="T19" fmla="*/ 0 h 327"/>
                  <a:gd name="T20" fmla="*/ 0 w 32"/>
                  <a:gd name="T21" fmla="*/ 0 h 327"/>
                  <a:gd name="T22" fmla="*/ 0 w 32"/>
                  <a:gd name="T23" fmla="*/ 0 h 3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27">
                    <a:moveTo>
                      <a:pt x="0" y="327"/>
                    </a:moveTo>
                    <a:lnTo>
                      <a:pt x="0" y="0"/>
                    </a:lnTo>
                    <a:lnTo>
                      <a:pt x="4" y="2"/>
                    </a:lnTo>
                    <a:lnTo>
                      <a:pt x="8" y="4"/>
                    </a:lnTo>
                    <a:lnTo>
                      <a:pt x="11" y="6"/>
                    </a:lnTo>
                    <a:lnTo>
                      <a:pt x="16" y="7"/>
                    </a:lnTo>
                    <a:lnTo>
                      <a:pt x="20" y="9"/>
                    </a:lnTo>
                    <a:lnTo>
                      <a:pt x="24" y="10"/>
                    </a:lnTo>
                    <a:lnTo>
                      <a:pt x="27" y="12"/>
                    </a:lnTo>
                    <a:lnTo>
                      <a:pt x="32" y="14"/>
                    </a:lnTo>
                    <a:lnTo>
                      <a:pt x="32" y="295"/>
                    </a:lnTo>
                    <a:lnTo>
                      <a:pt x="0" y="32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34" name="Freeform 4472"/>
              <p:cNvSpPr>
                <a:spLocks noChangeAspect="1"/>
              </p:cNvSpPr>
              <p:nvPr/>
            </p:nvSpPr>
            <p:spPr bwMode="auto">
              <a:xfrm>
                <a:off x="4451" y="981"/>
                <a:ext cx="11" cy="101"/>
              </a:xfrm>
              <a:custGeom>
                <a:avLst/>
                <a:gdLst>
                  <a:gd name="T0" fmla="*/ 0 w 32"/>
                  <a:gd name="T1" fmla="*/ 0 h 304"/>
                  <a:gd name="T2" fmla="*/ 0 w 32"/>
                  <a:gd name="T3" fmla="*/ 0 h 304"/>
                  <a:gd name="T4" fmla="*/ 0 w 32"/>
                  <a:gd name="T5" fmla="*/ 0 h 304"/>
                  <a:gd name="T6" fmla="*/ 0 w 32"/>
                  <a:gd name="T7" fmla="*/ 0 h 304"/>
                  <a:gd name="T8" fmla="*/ 0 w 32"/>
                  <a:gd name="T9" fmla="*/ 0 h 304"/>
                  <a:gd name="T10" fmla="*/ 0 w 32"/>
                  <a:gd name="T11" fmla="*/ 0 h 304"/>
                  <a:gd name="T12" fmla="*/ 0 w 32"/>
                  <a:gd name="T13" fmla="*/ 0 h 304"/>
                  <a:gd name="T14" fmla="*/ 0 w 32"/>
                  <a:gd name="T15" fmla="*/ 0 h 304"/>
                  <a:gd name="T16" fmla="*/ 0 w 32"/>
                  <a:gd name="T17" fmla="*/ 0 h 304"/>
                  <a:gd name="T18" fmla="*/ 0 w 32"/>
                  <a:gd name="T19" fmla="*/ 0 h 304"/>
                  <a:gd name="T20" fmla="*/ 0 w 32"/>
                  <a:gd name="T21" fmla="*/ 0 h 304"/>
                  <a:gd name="T22" fmla="*/ 0 w 32"/>
                  <a:gd name="T23" fmla="*/ 0 h 30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304">
                    <a:moveTo>
                      <a:pt x="0" y="304"/>
                    </a:moveTo>
                    <a:lnTo>
                      <a:pt x="0" y="0"/>
                    </a:lnTo>
                    <a:lnTo>
                      <a:pt x="4" y="2"/>
                    </a:lnTo>
                    <a:lnTo>
                      <a:pt x="8" y="3"/>
                    </a:lnTo>
                    <a:lnTo>
                      <a:pt x="12" y="5"/>
                    </a:lnTo>
                    <a:lnTo>
                      <a:pt x="16" y="7"/>
                    </a:lnTo>
                    <a:lnTo>
                      <a:pt x="20" y="8"/>
                    </a:lnTo>
                    <a:lnTo>
                      <a:pt x="24" y="10"/>
                    </a:lnTo>
                    <a:lnTo>
                      <a:pt x="28" y="13"/>
                    </a:lnTo>
                    <a:lnTo>
                      <a:pt x="32" y="15"/>
                    </a:lnTo>
                    <a:lnTo>
                      <a:pt x="32" y="272"/>
                    </a:lnTo>
                    <a:lnTo>
                      <a:pt x="0" y="30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35" name="Freeform 4473"/>
              <p:cNvSpPr>
                <a:spLocks noChangeAspect="1"/>
              </p:cNvSpPr>
              <p:nvPr/>
            </p:nvSpPr>
            <p:spPr bwMode="auto">
              <a:xfrm>
                <a:off x="4456" y="983"/>
                <a:ext cx="11" cy="94"/>
              </a:xfrm>
              <a:custGeom>
                <a:avLst/>
                <a:gdLst>
                  <a:gd name="T0" fmla="*/ 0 w 33"/>
                  <a:gd name="T1" fmla="*/ 0 h 281"/>
                  <a:gd name="T2" fmla="*/ 0 w 33"/>
                  <a:gd name="T3" fmla="*/ 0 h 281"/>
                  <a:gd name="T4" fmla="*/ 0 w 33"/>
                  <a:gd name="T5" fmla="*/ 0 h 281"/>
                  <a:gd name="T6" fmla="*/ 0 w 33"/>
                  <a:gd name="T7" fmla="*/ 0 h 281"/>
                  <a:gd name="T8" fmla="*/ 0 w 33"/>
                  <a:gd name="T9" fmla="*/ 0 h 281"/>
                  <a:gd name="T10" fmla="*/ 0 w 33"/>
                  <a:gd name="T11" fmla="*/ 0 h 281"/>
                  <a:gd name="T12" fmla="*/ 0 w 33"/>
                  <a:gd name="T13" fmla="*/ 0 h 281"/>
                  <a:gd name="T14" fmla="*/ 0 w 33"/>
                  <a:gd name="T15" fmla="*/ 0 h 281"/>
                  <a:gd name="T16" fmla="*/ 0 w 33"/>
                  <a:gd name="T17" fmla="*/ 0 h 281"/>
                  <a:gd name="T18" fmla="*/ 0 w 33"/>
                  <a:gd name="T19" fmla="*/ 0 h 281"/>
                  <a:gd name="T20" fmla="*/ 0 w 33"/>
                  <a:gd name="T21" fmla="*/ 0 h 281"/>
                  <a:gd name="T22" fmla="*/ 0 w 33"/>
                  <a:gd name="T23" fmla="*/ 0 h 2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281">
                    <a:moveTo>
                      <a:pt x="0" y="281"/>
                    </a:moveTo>
                    <a:lnTo>
                      <a:pt x="0" y="0"/>
                    </a:lnTo>
                    <a:lnTo>
                      <a:pt x="4" y="1"/>
                    </a:lnTo>
                    <a:lnTo>
                      <a:pt x="8" y="3"/>
                    </a:lnTo>
                    <a:lnTo>
                      <a:pt x="12" y="6"/>
                    </a:lnTo>
                    <a:lnTo>
                      <a:pt x="17" y="8"/>
                    </a:lnTo>
                    <a:lnTo>
                      <a:pt x="20" y="10"/>
                    </a:lnTo>
                    <a:lnTo>
                      <a:pt x="24" y="12"/>
                    </a:lnTo>
                    <a:lnTo>
                      <a:pt x="28" y="14"/>
                    </a:lnTo>
                    <a:lnTo>
                      <a:pt x="33" y="16"/>
                    </a:lnTo>
                    <a:lnTo>
                      <a:pt x="33" y="248"/>
                    </a:lnTo>
                    <a:lnTo>
                      <a:pt x="0" y="2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36" name="Freeform 4474"/>
              <p:cNvSpPr>
                <a:spLocks noChangeAspect="1"/>
              </p:cNvSpPr>
              <p:nvPr/>
            </p:nvSpPr>
            <p:spPr bwMode="auto">
              <a:xfrm>
                <a:off x="4462" y="986"/>
                <a:ext cx="11" cy="85"/>
              </a:xfrm>
              <a:custGeom>
                <a:avLst/>
                <a:gdLst>
                  <a:gd name="T0" fmla="*/ 0 w 33"/>
                  <a:gd name="T1" fmla="*/ 0 h 257"/>
                  <a:gd name="T2" fmla="*/ 0 w 33"/>
                  <a:gd name="T3" fmla="*/ 0 h 257"/>
                  <a:gd name="T4" fmla="*/ 0 w 33"/>
                  <a:gd name="T5" fmla="*/ 0 h 257"/>
                  <a:gd name="T6" fmla="*/ 0 w 33"/>
                  <a:gd name="T7" fmla="*/ 0 h 257"/>
                  <a:gd name="T8" fmla="*/ 0 w 33"/>
                  <a:gd name="T9" fmla="*/ 0 h 257"/>
                  <a:gd name="T10" fmla="*/ 0 w 33"/>
                  <a:gd name="T11" fmla="*/ 0 h 257"/>
                  <a:gd name="T12" fmla="*/ 0 w 33"/>
                  <a:gd name="T13" fmla="*/ 0 h 257"/>
                  <a:gd name="T14" fmla="*/ 0 w 33"/>
                  <a:gd name="T15" fmla="*/ 0 h 257"/>
                  <a:gd name="T16" fmla="*/ 0 w 33"/>
                  <a:gd name="T17" fmla="*/ 0 h 257"/>
                  <a:gd name="T18" fmla="*/ 0 w 33"/>
                  <a:gd name="T19" fmla="*/ 0 h 257"/>
                  <a:gd name="T20" fmla="*/ 0 w 33"/>
                  <a:gd name="T21" fmla="*/ 0 h 257"/>
                  <a:gd name="T22" fmla="*/ 0 w 33"/>
                  <a:gd name="T23" fmla="*/ 0 h 2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257">
                    <a:moveTo>
                      <a:pt x="0" y="257"/>
                    </a:moveTo>
                    <a:lnTo>
                      <a:pt x="0" y="0"/>
                    </a:lnTo>
                    <a:lnTo>
                      <a:pt x="4" y="2"/>
                    </a:lnTo>
                    <a:lnTo>
                      <a:pt x="8" y="4"/>
                    </a:lnTo>
                    <a:lnTo>
                      <a:pt x="12" y="6"/>
                    </a:lnTo>
                    <a:lnTo>
                      <a:pt x="17" y="8"/>
                    </a:lnTo>
                    <a:lnTo>
                      <a:pt x="21" y="10"/>
                    </a:lnTo>
                    <a:lnTo>
                      <a:pt x="24" y="12"/>
                    </a:lnTo>
                    <a:lnTo>
                      <a:pt x="28" y="15"/>
                    </a:lnTo>
                    <a:lnTo>
                      <a:pt x="33" y="17"/>
                    </a:lnTo>
                    <a:lnTo>
                      <a:pt x="33" y="224"/>
                    </a:lnTo>
                    <a:lnTo>
                      <a:pt x="0" y="25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37" name="Freeform 4475"/>
              <p:cNvSpPr>
                <a:spLocks noChangeAspect="1"/>
              </p:cNvSpPr>
              <p:nvPr/>
            </p:nvSpPr>
            <p:spPr bwMode="auto">
              <a:xfrm>
                <a:off x="4467" y="988"/>
                <a:ext cx="11" cy="78"/>
              </a:xfrm>
              <a:custGeom>
                <a:avLst/>
                <a:gdLst>
                  <a:gd name="T0" fmla="*/ 0 w 31"/>
                  <a:gd name="T1" fmla="*/ 0 h 232"/>
                  <a:gd name="T2" fmla="*/ 0 w 31"/>
                  <a:gd name="T3" fmla="*/ 0 h 232"/>
                  <a:gd name="T4" fmla="*/ 0 w 31"/>
                  <a:gd name="T5" fmla="*/ 0 h 232"/>
                  <a:gd name="T6" fmla="*/ 0 w 31"/>
                  <a:gd name="T7" fmla="*/ 0 h 232"/>
                  <a:gd name="T8" fmla="*/ 0 w 31"/>
                  <a:gd name="T9" fmla="*/ 0 h 232"/>
                  <a:gd name="T10" fmla="*/ 0 w 31"/>
                  <a:gd name="T11" fmla="*/ 0 h 232"/>
                  <a:gd name="T12" fmla="*/ 0 w 31"/>
                  <a:gd name="T13" fmla="*/ 0 h 232"/>
                  <a:gd name="T14" fmla="*/ 0 w 31"/>
                  <a:gd name="T15" fmla="*/ 0 h 232"/>
                  <a:gd name="T16" fmla="*/ 0 w 31"/>
                  <a:gd name="T17" fmla="*/ 0 h 232"/>
                  <a:gd name="T18" fmla="*/ 0 w 31"/>
                  <a:gd name="T19" fmla="*/ 0 h 232"/>
                  <a:gd name="T20" fmla="*/ 0 w 31"/>
                  <a:gd name="T21" fmla="*/ 0 h 232"/>
                  <a:gd name="T22" fmla="*/ 0 w 31"/>
                  <a:gd name="T23" fmla="*/ 0 h 2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232">
                    <a:moveTo>
                      <a:pt x="0" y="232"/>
                    </a:moveTo>
                    <a:lnTo>
                      <a:pt x="0" y="0"/>
                    </a:lnTo>
                    <a:lnTo>
                      <a:pt x="3" y="2"/>
                    </a:lnTo>
                    <a:lnTo>
                      <a:pt x="7" y="4"/>
                    </a:lnTo>
                    <a:lnTo>
                      <a:pt x="11" y="7"/>
                    </a:lnTo>
                    <a:lnTo>
                      <a:pt x="16" y="9"/>
                    </a:lnTo>
                    <a:lnTo>
                      <a:pt x="20" y="12"/>
                    </a:lnTo>
                    <a:lnTo>
                      <a:pt x="23" y="14"/>
                    </a:lnTo>
                    <a:lnTo>
                      <a:pt x="27" y="16"/>
                    </a:lnTo>
                    <a:lnTo>
                      <a:pt x="31" y="19"/>
                    </a:lnTo>
                    <a:lnTo>
                      <a:pt x="31" y="200"/>
                    </a:lnTo>
                    <a:lnTo>
                      <a:pt x="0" y="23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38" name="Freeform 4476"/>
              <p:cNvSpPr>
                <a:spLocks noChangeAspect="1"/>
              </p:cNvSpPr>
              <p:nvPr/>
            </p:nvSpPr>
            <p:spPr bwMode="auto">
              <a:xfrm>
                <a:off x="4473" y="991"/>
                <a:ext cx="10" cy="69"/>
              </a:xfrm>
              <a:custGeom>
                <a:avLst/>
                <a:gdLst>
                  <a:gd name="T0" fmla="*/ 0 w 31"/>
                  <a:gd name="T1" fmla="*/ 0 h 207"/>
                  <a:gd name="T2" fmla="*/ 0 w 31"/>
                  <a:gd name="T3" fmla="*/ 0 h 207"/>
                  <a:gd name="T4" fmla="*/ 0 w 31"/>
                  <a:gd name="T5" fmla="*/ 0 h 207"/>
                  <a:gd name="T6" fmla="*/ 0 w 31"/>
                  <a:gd name="T7" fmla="*/ 0 h 207"/>
                  <a:gd name="T8" fmla="*/ 0 w 31"/>
                  <a:gd name="T9" fmla="*/ 0 h 207"/>
                  <a:gd name="T10" fmla="*/ 0 w 31"/>
                  <a:gd name="T11" fmla="*/ 0 h 207"/>
                  <a:gd name="T12" fmla="*/ 0 w 31"/>
                  <a:gd name="T13" fmla="*/ 0 h 207"/>
                  <a:gd name="T14" fmla="*/ 0 w 31"/>
                  <a:gd name="T15" fmla="*/ 0 h 207"/>
                  <a:gd name="T16" fmla="*/ 0 w 31"/>
                  <a:gd name="T17" fmla="*/ 0 h 207"/>
                  <a:gd name="T18" fmla="*/ 0 w 31"/>
                  <a:gd name="T19" fmla="*/ 0 h 207"/>
                  <a:gd name="T20" fmla="*/ 0 w 31"/>
                  <a:gd name="T21" fmla="*/ 0 h 207"/>
                  <a:gd name="T22" fmla="*/ 0 w 31"/>
                  <a:gd name="T23" fmla="*/ 0 h 2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207">
                    <a:moveTo>
                      <a:pt x="0" y="207"/>
                    </a:moveTo>
                    <a:lnTo>
                      <a:pt x="0" y="0"/>
                    </a:lnTo>
                    <a:lnTo>
                      <a:pt x="4" y="3"/>
                    </a:lnTo>
                    <a:lnTo>
                      <a:pt x="8" y="5"/>
                    </a:lnTo>
                    <a:lnTo>
                      <a:pt x="11" y="7"/>
                    </a:lnTo>
                    <a:lnTo>
                      <a:pt x="15" y="10"/>
                    </a:lnTo>
                    <a:lnTo>
                      <a:pt x="20" y="12"/>
                    </a:lnTo>
                    <a:lnTo>
                      <a:pt x="24" y="16"/>
                    </a:lnTo>
                    <a:lnTo>
                      <a:pt x="27" y="18"/>
                    </a:lnTo>
                    <a:lnTo>
                      <a:pt x="31" y="21"/>
                    </a:lnTo>
                    <a:lnTo>
                      <a:pt x="31" y="175"/>
                    </a:lnTo>
                    <a:lnTo>
                      <a:pt x="0" y="2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39" name="Freeform 4477"/>
              <p:cNvSpPr>
                <a:spLocks noChangeAspect="1"/>
              </p:cNvSpPr>
              <p:nvPr/>
            </p:nvSpPr>
            <p:spPr bwMode="auto">
              <a:xfrm>
                <a:off x="4478" y="995"/>
                <a:ext cx="10" cy="60"/>
              </a:xfrm>
              <a:custGeom>
                <a:avLst/>
                <a:gdLst>
                  <a:gd name="T0" fmla="*/ 0 w 32"/>
                  <a:gd name="T1" fmla="*/ 0 h 181"/>
                  <a:gd name="T2" fmla="*/ 0 w 32"/>
                  <a:gd name="T3" fmla="*/ 0 h 181"/>
                  <a:gd name="T4" fmla="*/ 0 w 32"/>
                  <a:gd name="T5" fmla="*/ 0 h 181"/>
                  <a:gd name="T6" fmla="*/ 0 w 32"/>
                  <a:gd name="T7" fmla="*/ 0 h 181"/>
                  <a:gd name="T8" fmla="*/ 0 w 32"/>
                  <a:gd name="T9" fmla="*/ 0 h 181"/>
                  <a:gd name="T10" fmla="*/ 0 w 32"/>
                  <a:gd name="T11" fmla="*/ 0 h 181"/>
                  <a:gd name="T12" fmla="*/ 0 w 32"/>
                  <a:gd name="T13" fmla="*/ 0 h 181"/>
                  <a:gd name="T14" fmla="*/ 0 w 32"/>
                  <a:gd name="T15" fmla="*/ 0 h 181"/>
                  <a:gd name="T16" fmla="*/ 0 w 32"/>
                  <a:gd name="T17" fmla="*/ 0 h 181"/>
                  <a:gd name="T18" fmla="*/ 0 w 32"/>
                  <a:gd name="T19" fmla="*/ 0 h 181"/>
                  <a:gd name="T20" fmla="*/ 0 w 32"/>
                  <a:gd name="T21" fmla="*/ 0 h 181"/>
                  <a:gd name="T22" fmla="*/ 0 w 32"/>
                  <a:gd name="T23" fmla="*/ 0 h 1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181">
                    <a:moveTo>
                      <a:pt x="0" y="181"/>
                    </a:moveTo>
                    <a:lnTo>
                      <a:pt x="0" y="0"/>
                    </a:lnTo>
                    <a:lnTo>
                      <a:pt x="5" y="2"/>
                    </a:lnTo>
                    <a:lnTo>
                      <a:pt x="9" y="6"/>
                    </a:lnTo>
                    <a:lnTo>
                      <a:pt x="13" y="8"/>
                    </a:lnTo>
                    <a:lnTo>
                      <a:pt x="16" y="11"/>
                    </a:lnTo>
                    <a:lnTo>
                      <a:pt x="21" y="14"/>
                    </a:lnTo>
                    <a:lnTo>
                      <a:pt x="25" y="17"/>
                    </a:lnTo>
                    <a:lnTo>
                      <a:pt x="29" y="19"/>
                    </a:lnTo>
                    <a:lnTo>
                      <a:pt x="32" y="23"/>
                    </a:lnTo>
                    <a:lnTo>
                      <a:pt x="32" y="149"/>
                    </a:lnTo>
                    <a:lnTo>
                      <a:pt x="0" y="18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40" name="Freeform 4478"/>
              <p:cNvSpPr>
                <a:spLocks noChangeAspect="1"/>
              </p:cNvSpPr>
              <p:nvPr/>
            </p:nvSpPr>
            <p:spPr bwMode="auto">
              <a:xfrm>
                <a:off x="4483" y="998"/>
                <a:ext cx="11" cy="52"/>
              </a:xfrm>
              <a:custGeom>
                <a:avLst/>
                <a:gdLst>
                  <a:gd name="T0" fmla="*/ 0 w 33"/>
                  <a:gd name="T1" fmla="*/ 0 h 154"/>
                  <a:gd name="T2" fmla="*/ 0 w 33"/>
                  <a:gd name="T3" fmla="*/ 0 h 154"/>
                  <a:gd name="T4" fmla="*/ 0 w 33"/>
                  <a:gd name="T5" fmla="*/ 0 h 154"/>
                  <a:gd name="T6" fmla="*/ 0 w 33"/>
                  <a:gd name="T7" fmla="*/ 0 h 154"/>
                  <a:gd name="T8" fmla="*/ 0 w 33"/>
                  <a:gd name="T9" fmla="*/ 0 h 154"/>
                  <a:gd name="T10" fmla="*/ 0 w 33"/>
                  <a:gd name="T11" fmla="*/ 0 h 154"/>
                  <a:gd name="T12" fmla="*/ 0 w 33"/>
                  <a:gd name="T13" fmla="*/ 0 h 154"/>
                  <a:gd name="T14" fmla="*/ 0 w 33"/>
                  <a:gd name="T15" fmla="*/ 0 h 154"/>
                  <a:gd name="T16" fmla="*/ 0 w 33"/>
                  <a:gd name="T17" fmla="*/ 0 h 154"/>
                  <a:gd name="T18" fmla="*/ 0 w 33"/>
                  <a:gd name="T19" fmla="*/ 0 h 154"/>
                  <a:gd name="T20" fmla="*/ 0 w 33"/>
                  <a:gd name="T21" fmla="*/ 0 h 154"/>
                  <a:gd name="T22" fmla="*/ 0 w 33"/>
                  <a:gd name="T23" fmla="*/ 0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154">
                    <a:moveTo>
                      <a:pt x="0" y="154"/>
                    </a:moveTo>
                    <a:lnTo>
                      <a:pt x="0" y="0"/>
                    </a:lnTo>
                    <a:lnTo>
                      <a:pt x="5" y="3"/>
                    </a:lnTo>
                    <a:lnTo>
                      <a:pt x="9" y="6"/>
                    </a:lnTo>
                    <a:lnTo>
                      <a:pt x="13" y="9"/>
                    </a:lnTo>
                    <a:lnTo>
                      <a:pt x="17" y="13"/>
                    </a:lnTo>
                    <a:lnTo>
                      <a:pt x="21" y="16"/>
                    </a:lnTo>
                    <a:lnTo>
                      <a:pt x="25" y="19"/>
                    </a:lnTo>
                    <a:lnTo>
                      <a:pt x="29" y="22"/>
                    </a:lnTo>
                    <a:lnTo>
                      <a:pt x="33" y="25"/>
                    </a:lnTo>
                    <a:lnTo>
                      <a:pt x="33" y="122"/>
                    </a:lnTo>
                    <a:lnTo>
                      <a:pt x="0" y="15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41" name="Freeform 4479"/>
              <p:cNvSpPr>
                <a:spLocks noChangeAspect="1"/>
              </p:cNvSpPr>
              <p:nvPr/>
            </p:nvSpPr>
            <p:spPr bwMode="auto">
              <a:xfrm>
                <a:off x="4488" y="1002"/>
                <a:ext cx="11" cy="42"/>
              </a:xfrm>
              <a:custGeom>
                <a:avLst/>
                <a:gdLst>
                  <a:gd name="T0" fmla="*/ 0 w 33"/>
                  <a:gd name="T1" fmla="*/ 0 h 126"/>
                  <a:gd name="T2" fmla="*/ 0 w 33"/>
                  <a:gd name="T3" fmla="*/ 0 h 126"/>
                  <a:gd name="T4" fmla="*/ 0 w 33"/>
                  <a:gd name="T5" fmla="*/ 0 h 126"/>
                  <a:gd name="T6" fmla="*/ 0 w 33"/>
                  <a:gd name="T7" fmla="*/ 0 h 126"/>
                  <a:gd name="T8" fmla="*/ 0 w 33"/>
                  <a:gd name="T9" fmla="*/ 0 h 126"/>
                  <a:gd name="T10" fmla="*/ 0 w 33"/>
                  <a:gd name="T11" fmla="*/ 0 h 126"/>
                  <a:gd name="T12" fmla="*/ 0 w 33"/>
                  <a:gd name="T13" fmla="*/ 0 h 126"/>
                  <a:gd name="T14" fmla="*/ 0 w 33"/>
                  <a:gd name="T15" fmla="*/ 0 h 126"/>
                  <a:gd name="T16" fmla="*/ 0 w 33"/>
                  <a:gd name="T17" fmla="*/ 0 h 126"/>
                  <a:gd name="T18" fmla="*/ 0 w 33"/>
                  <a:gd name="T19" fmla="*/ 0 h 126"/>
                  <a:gd name="T20" fmla="*/ 0 w 33"/>
                  <a:gd name="T21" fmla="*/ 0 h 126"/>
                  <a:gd name="T22" fmla="*/ 0 w 33"/>
                  <a:gd name="T23" fmla="*/ 0 h 1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126">
                    <a:moveTo>
                      <a:pt x="0" y="126"/>
                    </a:moveTo>
                    <a:lnTo>
                      <a:pt x="0" y="0"/>
                    </a:lnTo>
                    <a:lnTo>
                      <a:pt x="5" y="3"/>
                    </a:lnTo>
                    <a:lnTo>
                      <a:pt x="9" y="7"/>
                    </a:lnTo>
                    <a:lnTo>
                      <a:pt x="13" y="10"/>
                    </a:lnTo>
                    <a:lnTo>
                      <a:pt x="17" y="13"/>
                    </a:lnTo>
                    <a:lnTo>
                      <a:pt x="22" y="17"/>
                    </a:lnTo>
                    <a:lnTo>
                      <a:pt x="25" y="21"/>
                    </a:lnTo>
                    <a:lnTo>
                      <a:pt x="29" y="24"/>
                    </a:lnTo>
                    <a:lnTo>
                      <a:pt x="33" y="27"/>
                    </a:lnTo>
                    <a:lnTo>
                      <a:pt x="33" y="93"/>
                    </a:lnTo>
                    <a:lnTo>
                      <a:pt x="0" y="1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42" name="Freeform 4480"/>
              <p:cNvSpPr>
                <a:spLocks noChangeAspect="1"/>
              </p:cNvSpPr>
              <p:nvPr/>
            </p:nvSpPr>
            <p:spPr bwMode="auto">
              <a:xfrm>
                <a:off x="4494" y="1007"/>
                <a:ext cx="11" cy="32"/>
              </a:xfrm>
              <a:custGeom>
                <a:avLst/>
                <a:gdLst>
                  <a:gd name="T0" fmla="*/ 0 w 32"/>
                  <a:gd name="T1" fmla="*/ 0 h 97"/>
                  <a:gd name="T2" fmla="*/ 0 w 32"/>
                  <a:gd name="T3" fmla="*/ 0 h 97"/>
                  <a:gd name="T4" fmla="*/ 0 w 32"/>
                  <a:gd name="T5" fmla="*/ 0 h 97"/>
                  <a:gd name="T6" fmla="*/ 0 w 32"/>
                  <a:gd name="T7" fmla="*/ 0 h 97"/>
                  <a:gd name="T8" fmla="*/ 0 w 32"/>
                  <a:gd name="T9" fmla="*/ 0 h 97"/>
                  <a:gd name="T10" fmla="*/ 0 w 32"/>
                  <a:gd name="T11" fmla="*/ 0 h 97"/>
                  <a:gd name="T12" fmla="*/ 0 w 32"/>
                  <a:gd name="T13" fmla="*/ 0 h 97"/>
                  <a:gd name="T14" fmla="*/ 0 w 32"/>
                  <a:gd name="T15" fmla="*/ 0 h 97"/>
                  <a:gd name="T16" fmla="*/ 0 w 32"/>
                  <a:gd name="T17" fmla="*/ 0 h 97"/>
                  <a:gd name="T18" fmla="*/ 0 w 32"/>
                  <a:gd name="T19" fmla="*/ 0 h 97"/>
                  <a:gd name="T20" fmla="*/ 0 w 32"/>
                  <a:gd name="T21" fmla="*/ 0 h 97"/>
                  <a:gd name="T22" fmla="*/ 0 w 32"/>
                  <a:gd name="T23" fmla="*/ 0 h 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97">
                    <a:moveTo>
                      <a:pt x="0" y="97"/>
                    </a:moveTo>
                    <a:lnTo>
                      <a:pt x="0" y="0"/>
                    </a:lnTo>
                    <a:lnTo>
                      <a:pt x="4" y="4"/>
                    </a:lnTo>
                    <a:lnTo>
                      <a:pt x="8" y="8"/>
                    </a:lnTo>
                    <a:lnTo>
                      <a:pt x="12" y="11"/>
                    </a:lnTo>
                    <a:lnTo>
                      <a:pt x="16" y="15"/>
                    </a:lnTo>
                    <a:lnTo>
                      <a:pt x="21" y="18"/>
                    </a:lnTo>
                    <a:lnTo>
                      <a:pt x="25" y="23"/>
                    </a:lnTo>
                    <a:lnTo>
                      <a:pt x="28" y="27"/>
                    </a:lnTo>
                    <a:lnTo>
                      <a:pt x="32" y="30"/>
                    </a:lnTo>
                    <a:lnTo>
                      <a:pt x="32" y="64"/>
                    </a:lnTo>
                    <a:lnTo>
                      <a:pt x="0" y="9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43" name="Freeform 4481"/>
              <p:cNvSpPr>
                <a:spLocks noChangeAspect="1"/>
              </p:cNvSpPr>
              <p:nvPr/>
            </p:nvSpPr>
            <p:spPr bwMode="auto">
              <a:xfrm>
                <a:off x="4499" y="1011"/>
                <a:ext cx="11" cy="22"/>
              </a:xfrm>
              <a:custGeom>
                <a:avLst/>
                <a:gdLst>
                  <a:gd name="T0" fmla="*/ 0 w 32"/>
                  <a:gd name="T1" fmla="*/ 0 h 66"/>
                  <a:gd name="T2" fmla="*/ 0 w 32"/>
                  <a:gd name="T3" fmla="*/ 0 h 66"/>
                  <a:gd name="T4" fmla="*/ 0 w 32"/>
                  <a:gd name="T5" fmla="*/ 0 h 66"/>
                  <a:gd name="T6" fmla="*/ 0 w 32"/>
                  <a:gd name="T7" fmla="*/ 0 h 66"/>
                  <a:gd name="T8" fmla="*/ 0 w 32"/>
                  <a:gd name="T9" fmla="*/ 0 h 66"/>
                  <a:gd name="T10" fmla="*/ 0 w 32"/>
                  <a:gd name="T11" fmla="*/ 0 h 66"/>
                  <a:gd name="T12" fmla="*/ 0 w 32"/>
                  <a:gd name="T13" fmla="*/ 0 h 66"/>
                  <a:gd name="T14" fmla="*/ 0 w 32"/>
                  <a:gd name="T15" fmla="*/ 0 h 66"/>
                  <a:gd name="T16" fmla="*/ 0 w 32"/>
                  <a:gd name="T17" fmla="*/ 0 h 66"/>
                  <a:gd name="T18" fmla="*/ 0 w 32"/>
                  <a:gd name="T19" fmla="*/ 0 h 66"/>
                  <a:gd name="T20" fmla="*/ 0 w 32"/>
                  <a:gd name="T21" fmla="*/ 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2" h="66">
                    <a:moveTo>
                      <a:pt x="0" y="66"/>
                    </a:moveTo>
                    <a:lnTo>
                      <a:pt x="0" y="0"/>
                    </a:lnTo>
                    <a:lnTo>
                      <a:pt x="5" y="4"/>
                    </a:lnTo>
                    <a:lnTo>
                      <a:pt x="9" y="9"/>
                    </a:lnTo>
                    <a:lnTo>
                      <a:pt x="12" y="13"/>
                    </a:lnTo>
                    <a:lnTo>
                      <a:pt x="16" y="17"/>
                    </a:lnTo>
                    <a:lnTo>
                      <a:pt x="21" y="22"/>
                    </a:lnTo>
                    <a:lnTo>
                      <a:pt x="25" y="26"/>
                    </a:lnTo>
                    <a:lnTo>
                      <a:pt x="28" y="30"/>
                    </a:lnTo>
                    <a:lnTo>
                      <a:pt x="32" y="34"/>
                    </a:lnTo>
                    <a:lnTo>
                      <a:pt x="0" y="6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44" name="Freeform 4482"/>
              <p:cNvSpPr>
                <a:spLocks noChangeAspect="1"/>
              </p:cNvSpPr>
              <p:nvPr/>
            </p:nvSpPr>
            <p:spPr bwMode="auto">
              <a:xfrm>
                <a:off x="4505" y="1017"/>
                <a:ext cx="5" cy="11"/>
              </a:xfrm>
              <a:custGeom>
                <a:avLst/>
                <a:gdLst>
                  <a:gd name="T0" fmla="*/ 0 w 16"/>
                  <a:gd name="T1" fmla="*/ 0 h 34"/>
                  <a:gd name="T2" fmla="*/ 0 w 16"/>
                  <a:gd name="T3" fmla="*/ 0 h 34"/>
                  <a:gd name="T4" fmla="*/ 0 w 16"/>
                  <a:gd name="T5" fmla="*/ 0 h 34"/>
                  <a:gd name="T6" fmla="*/ 0 w 16"/>
                  <a:gd name="T7" fmla="*/ 0 h 34"/>
                  <a:gd name="T8" fmla="*/ 0 w 16"/>
                  <a:gd name="T9" fmla="*/ 0 h 34"/>
                  <a:gd name="T10" fmla="*/ 0 w 16"/>
                  <a:gd name="T11" fmla="*/ 0 h 34"/>
                  <a:gd name="T12" fmla="*/ 0 w 16"/>
                  <a:gd name="T13" fmla="*/ 0 h 34"/>
                  <a:gd name="T14" fmla="*/ 0 w 16"/>
                  <a:gd name="T15" fmla="*/ 0 h 34"/>
                  <a:gd name="T16" fmla="*/ 0 w 16"/>
                  <a:gd name="T17" fmla="*/ 0 h 34"/>
                  <a:gd name="T18" fmla="*/ 0 w 16"/>
                  <a:gd name="T19" fmla="*/ 0 h 34"/>
                  <a:gd name="T20" fmla="*/ 0 w 16"/>
                  <a:gd name="T21" fmla="*/ 0 h 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 h="34">
                    <a:moveTo>
                      <a:pt x="0" y="34"/>
                    </a:moveTo>
                    <a:lnTo>
                      <a:pt x="0" y="0"/>
                    </a:lnTo>
                    <a:lnTo>
                      <a:pt x="2" y="2"/>
                    </a:lnTo>
                    <a:lnTo>
                      <a:pt x="5" y="4"/>
                    </a:lnTo>
                    <a:lnTo>
                      <a:pt x="7" y="8"/>
                    </a:lnTo>
                    <a:lnTo>
                      <a:pt x="9" y="10"/>
                    </a:lnTo>
                    <a:lnTo>
                      <a:pt x="10" y="12"/>
                    </a:lnTo>
                    <a:lnTo>
                      <a:pt x="12" y="14"/>
                    </a:lnTo>
                    <a:lnTo>
                      <a:pt x="14" y="16"/>
                    </a:lnTo>
                    <a:lnTo>
                      <a:pt x="16" y="18"/>
                    </a:lnTo>
                    <a:lnTo>
                      <a:pt x="0" y="3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45" name="Freeform 4483"/>
              <p:cNvSpPr>
                <a:spLocks noChangeAspect="1"/>
              </p:cNvSpPr>
              <p:nvPr/>
            </p:nvSpPr>
            <p:spPr bwMode="auto">
              <a:xfrm>
                <a:off x="4241" y="970"/>
                <a:ext cx="269" cy="166"/>
              </a:xfrm>
              <a:custGeom>
                <a:avLst/>
                <a:gdLst>
                  <a:gd name="T0" fmla="*/ 0 w 807"/>
                  <a:gd name="T1" fmla="*/ 0 h 497"/>
                  <a:gd name="T2" fmla="*/ 0 w 807"/>
                  <a:gd name="T3" fmla="*/ 0 h 497"/>
                  <a:gd name="T4" fmla="*/ 0 w 807"/>
                  <a:gd name="T5" fmla="*/ 0 h 497"/>
                  <a:gd name="T6" fmla="*/ 0 w 807"/>
                  <a:gd name="T7" fmla="*/ 0 h 497"/>
                  <a:gd name="T8" fmla="*/ 0 w 807"/>
                  <a:gd name="T9" fmla="*/ 0 h 497"/>
                  <a:gd name="T10" fmla="*/ 0 w 807"/>
                  <a:gd name="T11" fmla="*/ 0 h 497"/>
                  <a:gd name="T12" fmla="*/ 0 w 807"/>
                  <a:gd name="T13" fmla="*/ 0 h 497"/>
                  <a:gd name="T14" fmla="*/ 0 w 807"/>
                  <a:gd name="T15" fmla="*/ 0 h 497"/>
                  <a:gd name="T16" fmla="*/ 0 w 807"/>
                  <a:gd name="T17" fmla="*/ 0 h 497"/>
                  <a:gd name="T18" fmla="*/ 0 w 807"/>
                  <a:gd name="T19" fmla="*/ 0 h 497"/>
                  <a:gd name="T20" fmla="*/ 0 w 807"/>
                  <a:gd name="T21" fmla="*/ 0 h 497"/>
                  <a:gd name="T22" fmla="*/ 0 w 807"/>
                  <a:gd name="T23" fmla="*/ 0 h 497"/>
                  <a:gd name="T24" fmla="*/ 0 w 807"/>
                  <a:gd name="T25" fmla="*/ 0 h 497"/>
                  <a:gd name="T26" fmla="*/ 0 w 807"/>
                  <a:gd name="T27" fmla="*/ 0 h 497"/>
                  <a:gd name="T28" fmla="*/ 0 w 807"/>
                  <a:gd name="T29" fmla="*/ 0 h 497"/>
                  <a:gd name="T30" fmla="*/ 0 w 807"/>
                  <a:gd name="T31" fmla="*/ 0 h 497"/>
                  <a:gd name="T32" fmla="*/ 0 w 807"/>
                  <a:gd name="T33" fmla="*/ 0 h 497"/>
                  <a:gd name="T34" fmla="*/ 0 w 807"/>
                  <a:gd name="T35" fmla="*/ 0 h 497"/>
                  <a:gd name="T36" fmla="*/ 0 w 807"/>
                  <a:gd name="T37" fmla="*/ 0 h 497"/>
                  <a:gd name="T38" fmla="*/ 0 w 807"/>
                  <a:gd name="T39" fmla="*/ 0 h 497"/>
                  <a:gd name="T40" fmla="*/ 0 w 807"/>
                  <a:gd name="T41" fmla="*/ 0 h 497"/>
                  <a:gd name="T42" fmla="*/ 0 w 807"/>
                  <a:gd name="T43" fmla="*/ 0 h 497"/>
                  <a:gd name="T44" fmla="*/ 0 w 807"/>
                  <a:gd name="T45" fmla="*/ 0 h 497"/>
                  <a:gd name="T46" fmla="*/ 0 w 807"/>
                  <a:gd name="T47" fmla="*/ 0 h 497"/>
                  <a:gd name="T48" fmla="*/ 0 w 807"/>
                  <a:gd name="T49" fmla="*/ 0 h 497"/>
                  <a:gd name="T50" fmla="*/ 0 w 807"/>
                  <a:gd name="T51" fmla="*/ 0 h 497"/>
                  <a:gd name="T52" fmla="*/ 0 w 807"/>
                  <a:gd name="T53" fmla="*/ 0 h 497"/>
                  <a:gd name="T54" fmla="*/ 0 w 807"/>
                  <a:gd name="T55" fmla="*/ 0 h 497"/>
                  <a:gd name="T56" fmla="*/ 0 w 807"/>
                  <a:gd name="T57" fmla="*/ 0 h 497"/>
                  <a:gd name="T58" fmla="*/ 0 w 807"/>
                  <a:gd name="T59" fmla="*/ 0 h 497"/>
                  <a:gd name="T60" fmla="*/ 0 w 807"/>
                  <a:gd name="T61" fmla="*/ 0 h 497"/>
                  <a:gd name="T62" fmla="*/ 0 w 807"/>
                  <a:gd name="T63" fmla="*/ 0 h 497"/>
                  <a:gd name="T64" fmla="*/ 0 w 807"/>
                  <a:gd name="T65" fmla="*/ 0 h 497"/>
                  <a:gd name="T66" fmla="*/ 0 w 807"/>
                  <a:gd name="T67" fmla="*/ 0 h 497"/>
                  <a:gd name="T68" fmla="*/ 0 w 807"/>
                  <a:gd name="T69" fmla="*/ 0 h 497"/>
                  <a:gd name="T70" fmla="*/ 0 w 807"/>
                  <a:gd name="T71" fmla="*/ 0 h 497"/>
                  <a:gd name="T72" fmla="*/ 0 w 807"/>
                  <a:gd name="T73" fmla="*/ 0 h 497"/>
                  <a:gd name="T74" fmla="*/ 0 w 807"/>
                  <a:gd name="T75" fmla="*/ 0 h 497"/>
                  <a:gd name="T76" fmla="*/ 0 w 807"/>
                  <a:gd name="T77" fmla="*/ 0 h 497"/>
                  <a:gd name="T78" fmla="*/ 0 w 807"/>
                  <a:gd name="T79" fmla="*/ 0 h 497"/>
                  <a:gd name="T80" fmla="*/ 0 w 807"/>
                  <a:gd name="T81" fmla="*/ 0 h 497"/>
                  <a:gd name="T82" fmla="*/ 0 w 807"/>
                  <a:gd name="T83" fmla="*/ 0 h 497"/>
                  <a:gd name="T84" fmla="*/ 0 w 807"/>
                  <a:gd name="T85" fmla="*/ 0 h 497"/>
                  <a:gd name="T86" fmla="*/ 0 w 807"/>
                  <a:gd name="T87" fmla="*/ 0 h 497"/>
                  <a:gd name="T88" fmla="*/ 0 w 807"/>
                  <a:gd name="T89" fmla="*/ 0 h 497"/>
                  <a:gd name="T90" fmla="*/ 0 w 807"/>
                  <a:gd name="T91" fmla="*/ 0 h 497"/>
                  <a:gd name="T92" fmla="*/ 0 w 807"/>
                  <a:gd name="T93" fmla="*/ 0 h 497"/>
                  <a:gd name="T94" fmla="*/ 0 w 807"/>
                  <a:gd name="T95" fmla="*/ 0 h 497"/>
                  <a:gd name="T96" fmla="*/ 0 w 807"/>
                  <a:gd name="T97" fmla="*/ 0 h 497"/>
                  <a:gd name="T98" fmla="*/ 0 w 807"/>
                  <a:gd name="T99" fmla="*/ 0 h 497"/>
                  <a:gd name="T100" fmla="*/ 0 w 807"/>
                  <a:gd name="T101" fmla="*/ 0 h 497"/>
                  <a:gd name="T102" fmla="*/ 0 w 807"/>
                  <a:gd name="T103" fmla="*/ 0 h 497"/>
                  <a:gd name="T104" fmla="*/ 0 w 807"/>
                  <a:gd name="T105" fmla="*/ 0 h 497"/>
                  <a:gd name="T106" fmla="*/ 0 w 807"/>
                  <a:gd name="T107" fmla="*/ 0 h 497"/>
                  <a:gd name="T108" fmla="*/ 0 w 807"/>
                  <a:gd name="T109" fmla="*/ 0 h 497"/>
                  <a:gd name="T110" fmla="*/ 0 w 807"/>
                  <a:gd name="T111" fmla="*/ 0 h 497"/>
                  <a:gd name="T112" fmla="*/ 0 w 807"/>
                  <a:gd name="T113" fmla="*/ 0 h 497"/>
                  <a:gd name="T114" fmla="*/ 0 w 807"/>
                  <a:gd name="T115" fmla="*/ 0 h 497"/>
                  <a:gd name="T116" fmla="*/ 0 w 807"/>
                  <a:gd name="T117" fmla="*/ 0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07" h="497">
                    <a:moveTo>
                      <a:pt x="459" y="0"/>
                    </a:moveTo>
                    <a:lnTo>
                      <a:pt x="486" y="0"/>
                    </a:lnTo>
                    <a:lnTo>
                      <a:pt x="511" y="2"/>
                    </a:lnTo>
                    <a:lnTo>
                      <a:pt x="536" y="6"/>
                    </a:lnTo>
                    <a:lnTo>
                      <a:pt x="560" y="10"/>
                    </a:lnTo>
                    <a:lnTo>
                      <a:pt x="585" y="17"/>
                    </a:lnTo>
                    <a:lnTo>
                      <a:pt x="608" y="24"/>
                    </a:lnTo>
                    <a:lnTo>
                      <a:pt x="632" y="33"/>
                    </a:lnTo>
                    <a:lnTo>
                      <a:pt x="654" y="42"/>
                    </a:lnTo>
                    <a:lnTo>
                      <a:pt x="675" y="53"/>
                    </a:lnTo>
                    <a:lnTo>
                      <a:pt x="697" y="66"/>
                    </a:lnTo>
                    <a:lnTo>
                      <a:pt x="717" y="79"/>
                    </a:lnTo>
                    <a:lnTo>
                      <a:pt x="737" y="92"/>
                    </a:lnTo>
                    <a:lnTo>
                      <a:pt x="756" y="107"/>
                    </a:lnTo>
                    <a:lnTo>
                      <a:pt x="774" y="123"/>
                    </a:lnTo>
                    <a:lnTo>
                      <a:pt x="791" y="140"/>
                    </a:lnTo>
                    <a:lnTo>
                      <a:pt x="807" y="158"/>
                    </a:lnTo>
                    <a:lnTo>
                      <a:pt x="468" y="497"/>
                    </a:lnTo>
                    <a:lnTo>
                      <a:pt x="1" y="497"/>
                    </a:lnTo>
                    <a:lnTo>
                      <a:pt x="1" y="493"/>
                    </a:lnTo>
                    <a:lnTo>
                      <a:pt x="1" y="488"/>
                    </a:lnTo>
                    <a:lnTo>
                      <a:pt x="0" y="484"/>
                    </a:lnTo>
                    <a:lnTo>
                      <a:pt x="0" y="478"/>
                    </a:lnTo>
                    <a:lnTo>
                      <a:pt x="0" y="474"/>
                    </a:lnTo>
                    <a:lnTo>
                      <a:pt x="0" y="469"/>
                    </a:lnTo>
                    <a:lnTo>
                      <a:pt x="0" y="464"/>
                    </a:lnTo>
                    <a:lnTo>
                      <a:pt x="0" y="459"/>
                    </a:lnTo>
                    <a:lnTo>
                      <a:pt x="0" y="436"/>
                    </a:lnTo>
                    <a:lnTo>
                      <a:pt x="2" y="412"/>
                    </a:lnTo>
                    <a:lnTo>
                      <a:pt x="5" y="390"/>
                    </a:lnTo>
                    <a:lnTo>
                      <a:pt x="9" y="367"/>
                    </a:lnTo>
                    <a:lnTo>
                      <a:pt x="13" y="344"/>
                    </a:lnTo>
                    <a:lnTo>
                      <a:pt x="20" y="323"/>
                    </a:lnTo>
                    <a:lnTo>
                      <a:pt x="27" y="302"/>
                    </a:lnTo>
                    <a:lnTo>
                      <a:pt x="36" y="281"/>
                    </a:lnTo>
                    <a:lnTo>
                      <a:pt x="45" y="260"/>
                    </a:lnTo>
                    <a:lnTo>
                      <a:pt x="55" y="240"/>
                    </a:lnTo>
                    <a:lnTo>
                      <a:pt x="67" y="221"/>
                    </a:lnTo>
                    <a:lnTo>
                      <a:pt x="78" y="203"/>
                    </a:lnTo>
                    <a:lnTo>
                      <a:pt x="91" y="185"/>
                    </a:lnTo>
                    <a:lnTo>
                      <a:pt x="105" y="167"/>
                    </a:lnTo>
                    <a:lnTo>
                      <a:pt x="119" y="151"/>
                    </a:lnTo>
                    <a:lnTo>
                      <a:pt x="135" y="135"/>
                    </a:lnTo>
                    <a:lnTo>
                      <a:pt x="151" y="119"/>
                    </a:lnTo>
                    <a:lnTo>
                      <a:pt x="168" y="105"/>
                    </a:lnTo>
                    <a:lnTo>
                      <a:pt x="185" y="91"/>
                    </a:lnTo>
                    <a:lnTo>
                      <a:pt x="203" y="79"/>
                    </a:lnTo>
                    <a:lnTo>
                      <a:pt x="221" y="66"/>
                    </a:lnTo>
                    <a:lnTo>
                      <a:pt x="241" y="55"/>
                    </a:lnTo>
                    <a:lnTo>
                      <a:pt x="260" y="45"/>
                    </a:lnTo>
                    <a:lnTo>
                      <a:pt x="281" y="36"/>
                    </a:lnTo>
                    <a:lnTo>
                      <a:pt x="302" y="27"/>
                    </a:lnTo>
                    <a:lnTo>
                      <a:pt x="323" y="20"/>
                    </a:lnTo>
                    <a:lnTo>
                      <a:pt x="345" y="14"/>
                    </a:lnTo>
                    <a:lnTo>
                      <a:pt x="367" y="8"/>
                    </a:lnTo>
                    <a:lnTo>
                      <a:pt x="390" y="5"/>
                    </a:lnTo>
                    <a:lnTo>
                      <a:pt x="412" y="2"/>
                    </a:lnTo>
                    <a:lnTo>
                      <a:pt x="436" y="0"/>
                    </a:lnTo>
                    <a:lnTo>
                      <a:pt x="459" y="0"/>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sp>
            <p:nvSpPr>
              <p:cNvPr id="387046" name="Freeform 4484"/>
              <p:cNvSpPr>
                <a:spLocks noChangeAspect="1"/>
              </p:cNvSpPr>
              <p:nvPr/>
            </p:nvSpPr>
            <p:spPr bwMode="auto">
              <a:xfrm>
                <a:off x="4287" y="1081"/>
                <a:ext cx="4" cy="59"/>
              </a:xfrm>
              <a:custGeom>
                <a:avLst/>
                <a:gdLst>
                  <a:gd name="T0" fmla="*/ 0 w 13"/>
                  <a:gd name="T1" fmla="*/ 0 h 176"/>
                  <a:gd name="T2" fmla="*/ 0 w 13"/>
                  <a:gd name="T3" fmla="*/ 0 h 176"/>
                  <a:gd name="T4" fmla="*/ 0 w 13"/>
                  <a:gd name="T5" fmla="*/ 0 h 176"/>
                  <a:gd name="T6" fmla="*/ 0 w 13"/>
                  <a:gd name="T7" fmla="*/ 0 h 176"/>
                  <a:gd name="T8" fmla="*/ 0 w 13"/>
                  <a:gd name="T9" fmla="*/ 0 h 176"/>
                  <a:gd name="T10" fmla="*/ 0 w 13"/>
                  <a:gd name="T11" fmla="*/ 0 h 176"/>
                  <a:gd name="T12" fmla="*/ 0 w 13"/>
                  <a:gd name="T13" fmla="*/ 0 h 176"/>
                  <a:gd name="T14" fmla="*/ 0 w 13"/>
                  <a:gd name="T15" fmla="*/ 0 h 176"/>
                  <a:gd name="T16" fmla="*/ 0 w 13"/>
                  <a:gd name="T17" fmla="*/ 0 h 176"/>
                  <a:gd name="T18" fmla="*/ 0 w 13"/>
                  <a:gd name="T19" fmla="*/ 0 h 176"/>
                  <a:gd name="T20" fmla="*/ 0 w 13"/>
                  <a:gd name="T21" fmla="*/ 0 h 176"/>
                  <a:gd name="T22" fmla="*/ 0 w 13"/>
                  <a:gd name="T23" fmla="*/ 0 h 176"/>
                  <a:gd name="T24" fmla="*/ 0 w 13"/>
                  <a:gd name="T25" fmla="*/ 0 h 176"/>
                  <a:gd name="T26" fmla="*/ 0 w 13"/>
                  <a:gd name="T27" fmla="*/ 0 h 176"/>
                  <a:gd name="T28" fmla="*/ 0 w 13"/>
                  <a:gd name="T29" fmla="*/ 0 h 176"/>
                  <a:gd name="T30" fmla="*/ 0 w 13"/>
                  <a:gd name="T31" fmla="*/ 0 h 176"/>
                  <a:gd name="T32" fmla="*/ 0 w 13"/>
                  <a:gd name="T33" fmla="*/ 0 h 176"/>
                  <a:gd name="T34" fmla="*/ 0 w 13"/>
                  <a:gd name="T35" fmla="*/ 0 h 17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3" h="176">
                    <a:moveTo>
                      <a:pt x="13" y="0"/>
                    </a:moveTo>
                    <a:lnTo>
                      <a:pt x="13" y="176"/>
                    </a:lnTo>
                    <a:lnTo>
                      <a:pt x="9" y="165"/>
                    </a:lnTo>
                    <a:lnTo>
                      <a:pt x="7" y="155"/>
                    </a:lnTo>
                    <a:lnTo>
                      <a:pt x="5" y="144"/>
                    </a:lnTo>
                    <a:lnTo>
                      <a:pt x="3" y="134"/>
                    </a:lnTo>
                    <a:lnTo>
                      <a:pt x="1" y="122"/>
                    </a:lnTo>
                    <a:lnTo>
                      <a:pt x="0" y="111"/>
                    </a:lnTo>
                    <a:lnTo>
                      <a:pt x="0" y="100"/>
                    </a:lnTo>
                    <a:lnTo>
                      <a:pt x="0" y="88"/>
                    </a:lnTo>
                    <a:lnTo>
                      <a:pt x="0" y="77"/>
                    </a:lnTo>
                    <a:lnTo>
                      <a:pt x="0" y="66"/>
                    </a:lnTo>
                    <a:lnTo>
                      <a:pt x="1" y="54"/>
                    </a:lnTo>
                    <a:lnTo>
                      <a:pt x="3" y="43"/>
                    </a:lnTo>
                    <a:lnTo>
                      <a:pt x="5" y="33"/>
                    </a:lnTo>
                    <a:lnTo>
                      <a:pt x="7" y="21"/>
                    </a:lnTo>
                    <a:lnTo>
                      <a:pt x="9" y="10"/>
                    </a:lnTo>
                    <a:lnTo>
                      <a:pt x="13"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47" name="Freeform 4485"/>
              <p:cNvSpPr>
                <a:spLocks noChangeAspect="1"/>
              </p:cNvSpPr>
              <p:nvPr/>
            </p:nvSpPr>
            <p:spPr bwMode="auto">
              <a:xfrm>
                <a:off x="4287" y="1070"/>
                <a:ext cx="9" cy="81"/>
              </a:xfrm>
              <a:custGeom>
                <a:avLst/>
                <a:gdLst>
                  <a:gd name="T0" fmla="*/ 0 w 27"/>
                  <a:gd name="T1" fmla="*/ 0 h 245"/>
                  <a:gd name="T2" fmla="*/ 0 w 27"/>
                  <a:gd name="T3" fmla="*/ 0 h 245"/>
                  <a:gd name="T4" fmla="*/ 0 w 27"/>
                  <a:gd name="T5" fmla="*/ 0 h 245"/>
                  <a:gd name="T6" fmla="*/ 0 w 27"/>
                  <a:gd name="T7" fmla="*/ 0 h 245"/>
                  <a:gd name="T8" fmla="*/ 0 w 27"/>
                  <a:gd name="T9" fmla="*/ 0 h 245"/>
                  <a:gd name="T10" fmla="*/ 0 w 27"/>
                  <a:gd name="T11" fmla="*/ 0 h 245"/>
                  <a:gd name="T12" fmla="*/ 0 w 27"/>
                  <a:gd name="T13" fmla="*/ 0 h 245"/>
                  <a:gd name="T14" fmla="*/ 0 w 27"/>
                  <a:gd name="T15" fmla="*/ 0 h 245"/>
                  <a:gd name="T16" fmla="*/ 0 w 27"/>
                  <a:gd name="T17" fmla="*/ 0 h 245"/>
                  <a:gd name="T18" fmla="*/ 0 w 27"/>
                  <a:gd name="T19" fmla="*/ 0 h 245"/>
                  <a:gd name="T20" fmla="*/ 0 w 27"/>
                  <a:gd name="T21" fmla="*/ 0 h 245"/>
                  <a:gd name="T22" fmla="*/ 0 w 27"/>
                  <a:gd name="T23" fmla="*/ 0 h 245"/>
                  <a:gd name="T24" fmla="*/ 0 w 27"/>
                  <a:gd name="T25" fmla="*/ 0 h 245"/>
                  <a:gd name="T26" fmla="*/ 0 w 27"/>
                  <a:gd name="T27" fmla="*/ 0 h 245"/>
                  <a:gd name="T28" fmla="*/ 0 w 27"/>
                  <a:gd name="T29" fmla="*/ 0 h 245"/>
                  <a:gd name="T30" fmla="*/ 0 w 27"/>
                  <a:gd name="T31" fmla="*/ 0 h 245"/>
                  <a:gd name="T32" fmla="*/ 0 w 27"/>
                  <a:gd name="T33" fmla="*/ 0 h 245"/>
                  <a:gd name="T34" fmla="*/ 0 w 27"/>
                  <a:gd name="T35" fmla="*/ 0 h 24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7" h="245">
                    <a:moveTo>
                      <a:pt x="27" y="0"/>
                    </a:moveTo>
                    <a:lnTo>
                      <a:pt x="27" y="245"/>
                    </a:lnTo>
                    <a:lnTo>
                      <a:pt x="20" y="230"/>
                    </a:lnTo>
                    <a:lnTo>
                      <a:pt x="15" y="216"/>
                    </a:lnTo>
                    <a:lnTo>
                      <a:pt x="11" y="202"/>
                    </a:lnTo>
                    <a:lnTo>
                      <a:pt x="6" y="186"/>
                    </a:lnTo>
                    <a:lnTo>
                      <a:pt x="3" y="170"/>
                    </a:lnTo>
                    <a:lnTo>
                      <a:pt x="1" y="155"/>
                    </a:lnTo>
                    <a:lnTo>
                      <a:pt x="0" y="139"/>
                    </a:lnTo>
                    <a:lnTo>
                      <a:pt x="0" y="122"/>
                    </a:lnTo>
                    <a:lnTo>
                      <a:pt x="0" y="106"/>
                    </a:lnTo>
                    <a:lnTo>
                      <a:pt x="1" y="90"/>
                    </a:lnTo>
                    <a:lnTo>
                      <a:pt x="3" y="74"/>
                    </a:lnTo>
                    <a:lnTo>
                      <a:pt x="6" y="58"/>
                    </a:lnTo>
                    <a:lnTo>
                      <a:pt x="11" y="43"/>
                    </a:lnTo>
                    <a:lnTo>
                      <a:pt x="15" y="28"/>
                    </a:lnTo>
                    <a:lnTo>
                      <a:pt x="20" y="13"/>
                    </a:lnTo>
                    <a:lnTo>
                      <a:pt x="27"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48" name="Freeform 4486"/>
              <p:cNvSpPr>
                <a:spLocks noChangeAspect="1"/>
              </p:cNvSpPr>
              <p:nvPr/>
            </p:nvSpPr>
            <p:spPr bwMode="auto">
              <a:xfrm>
                <a:off x="4291" y="1061"/>
                <a:ext cx="9" cy="99"/>
              </a:xfrm>
              <a:custGeom>
                <a:avLst/>
                <a:gdLst>
                  <a:gd name="T0" fmla="*/ 0 w 26"/>
                  <a:gd name="T1" fmla="*/ 0 h 298"/>
                  <a:gd name="T2" fmla="*/ 0 w 26"/>
                  <a:gd name="T3" fmla="*/ 0 h 298"/>
                  <a:gd name="T4" fmla="*/ 0 w 26"/>
                  <a:gd name="T5" fmla="*/ 0 h 298"/>
                  <a:gd name="T6" fmla="*/ 0 w 26"/>
                  <a:gd name="T7" fmla="*/ 0 h 298"/>
                  <a:gd name="T8" fmla="*/ 0 w 26"/>
                  <a:gd name="T9" fmla="*/ 0 h 298"/>
                  <a:gd name="T10" fmla="*/ 0 w 26"/>
                  <a:gd name="T11" fmla="*/ 0 h 298"/>
                  <a:gd name="T12" fmla="*/ 0 w 26"/>
                  <a:gd name="T13" fmla="*/ 0 h 298"/>
                  <a:gd name="T14" fmla="*/ 0 w 26"/>
                  <a:gd name="T15" fmla="*/ 0 h 298"/>
                  <a:gd name="T16" fmla="*/ 0 w 26"/>
                  <a:gd name="T17" fmla="*/ 0 h 298"/>
                  <a:gd name="T18" fmla="*/ 0 w 26"/>
                  <a:gd name="T19" fmla="*/ 0 h 298"/>
                  <a:gd name="T20" fmla="*/ 0 w 26"/>
                  <a:gd name="T21" fmla="*/ 0 h 298"/>
                  <a:gd name="T22" fmla="*/ 0 w 26"/>
                  <a:gd name="T23" fmla="*/ 0 h 298"/>
                  <a:gd name="T24" fmla="*/ 0 w 26"/>
                  <a:gd name="T25" fmla="*/ 0 h 298"/>
                  <a:gd name="T26" fmla="*/ 0 w 26"/>
                  <a:gd name="T27" fmla="*/ 0 h 298"/>
                  <a:gd name="T28" fmla="*/ 0 w 26"/>
                  <a:gd name="T29" fmla="*/ 0 h 298"/>
                  <a:gd name="T30" fmla="*/ 0 w 26"/>
                  <a:gd name="T31" fmla="*/ 0 h 298"/>
                  <a:gd name="T32" fmla="*/ 0 w 26"/>
                  <a:gd name="T33" fmla="*/ 0 h 298"/>
                  <a:gd name="T34" fmla="*/ 0 w 26"/>
                  <a:gd name="T35" fmla="*/ 0 h 298"/>
                  <a:gd name="T36" fmla="*/ 0 w 26"/>
                  <a:gd name="T37" fmla="*/ 0 h 29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298">
                    <a:moveTo>
                      <a:pt x="0" y="237"/>
                    </a:moveTo>
                    <a:lnTo>
                      <a:pt x="0" y="61"/>
                    </a:lnTo>
                    <a:lnTo>
                      <a:pt x="3" y="53"/>
                    </a:lnTo>
                    <a:lnTo>
                      <a:pt x="5" y="46"/>
                    </a:lnTo>
                    <a:lnTo>
                      <a:pt x="8" y="37"/>
                    </a:lnTo>
                    <a:lnTo>
                      <a:pt x="11" y="30"/>
                    </a:lnTo>
                    <a:lnTo>
                      <a:pt x="15" y="22"/>
                    </a:lnTo>
                    <a:lnTo>
                      <a:pt x="19" y="15"/>
                    </a:lnTo>
                    <a:lnTo>
                      <a:pt x="22" y="7"/>
                    </a:lnTo>
                    <a:lnTo>
                      <a:pt x="26" y="0"/>
                    </a:lnTo>
                    <a:lnTo>
                      <a:pt x="26" y="298"/>
                    </a:lnTo>
                    <a:lnTo>
                      <a:pt x="22" y="291"/>
                    </a:lnTo>
                    <a:lnTo>
                      <a:pt x="19" y="284"/>
                    </a:lnTo>
                    <a:lnTo>
                      <a:pt x="15" y="276"/>
                    </a:lnTo>
                    <a:lnTo>
                      <a:pt x="11" y="268"/>
                    </a:lnTo>
                    <a:lnTo>
                      <a:pt x="8" y="260"/>
                    </a:lnTo>
                    <a:lnTo>
                      <a:pt x="5" y="253"/>
                    </a:lnTo>
                    <a:lnTo>
                      <a:pt x="3" y="245"/>
                    </a:lnTo>
                    <a:lnTo>
                      <a:pt x="0" y="23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49" name="Freeform 4487"/>
              <p:cNvSpPr>
                <a:spLocks noChangeAspect="1"/>
              </p:cNvSpPr>
              <p:nvPr/>
            </p:nvSpPr>
            <p:spPr bwMode="auto">
              <a:xfrm>
                <a:off x="4296" y="1054"/>
                <a:ext cx="9" cy="113"/>
              </a:xfrm>
              <a:custGeom>
                <a:avLst/>
                <a:gdLst>
                  <a:gd name="T0" fmla="*/ 0 w 26"/>
                  <a:gd name="T1" fmla="*/ 0 h 340"/>
                  <a:gd name="T2" fmla="*/ 0 w 26"/>
                  <a:gd name="T3" fmla="*/ 0 h 340"/>
                  <a:gd name="T4" fmla="*/ 0 w 26"/>
                  <a:gd name="T5" fmla="*/ 0 h 340"/>
                  <a:gd name="T6" fmla="*/ 0 w 26"/>
                  <a:gd name="T7" fmla="*/ 0 h 340"/>
                  <a:gd name="T8" fmla="*/ 0 w 26"/>
                  <a:gd name="T9" fmla="*/ 0 h 340"/>
                  <a:gd name="T10" fmla="*/ 0 w 26"/>
                  <a:gd name="T11" fmla="*/ 0 h 340"/>
                  <a:gd name="T12" fmla="*/ 0 w 26"/>
                  <a:gd name="T13" fmla="*/ 0 h 340"/>
                  <a:gd name="T14" fmla="*/ 0 w 26"/>
                  <a:gd name="T15" fmla="*/ 0 h 340"/>
                  <a:gd name="T16" fmla="*/ 0 w 26"/>
                  <a:gd name="T17" fmla="*/ 0 h 340"/>
                  <a:gd name="T18" fmla="*/ 0 w 26"/>
                  <a:gd name="T19" fmla="*/ 0 h 340"/>
                  <a:gd name="T20" fmla="*/ 0 w 26"/>
                  <a:gd name="T21" fmla="*/ 0 h 340"/>
                  <a:gd name="T22" fmla="*/ 0 w 26"/>
                  <a:gd name="T23" fmla="*/ 0 h 340"/>
                  <a:gd name="T24" fmla="*/ 0 w 26"/>
                  <a:gd name="T25" fmla="*/ 0 h 340"/>
                  <a:gd name="T26" fmla="*/ 0 w 26"/>
                  <a:gd name="T27" fmla="*/ 0 h 340"/>
                  <a:gd name="T28" fmla="*/ 0 w 26"/>
                  <a:gd name="T29" fmla="*/ 0 h 340"/>
                  <a:gd name="T30" fmla="*/ 0 w 26"/>
                  <a:gd name="T31" fmla="*/ 0 h 340"/>
                  <a:gd name="T32" fmla="*/ 0 w 26"/>
                  <a:gd name="T33" fmla="*/ 0 h 340"/>
                  <a:gd name="T34" fmla="*/ 0 w 26"/>
                  <a:gd name="T35" fmla="*/ 0 h 340"/>
                  <a:gd name="T36" fmla="*/ 0 w 26"/>
                  <a:gd name="T37" fmla="*/ 0 h 3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340">
                    <a:moveTo>
                      <a:pt x="0" y="293"/>
                    </a:moveTo>
                    <a:lnTo>
                      <a:pt x="0" y="48"/>
                    </a:lnTo>
                    <a:lnTo>
                      <a:pt x="2" y="41"/>
                    </a:lnTo>
                    <a:lnTo>
                      <a:pt x="5" y="35"/>
                    </a:lnTo>
                    <a:lnTo>
                      <a:pt x="8" y="28"/>
                    </a:lnTo>
                    <a:lnTo>
                      <a:pt x="11" y="23"/>
                    </a:lnTo>
                    <a:lnTo>
                      <a:pt x="14" y="17"/>
                    </a:lnTo>
                    <a:lnTo>
                      <a:pt x="19" y="11"/>
                    </a:lnTo>
                    <a:lnTo>
                      <a:pt x="22" y="5"/>
                    </a:lnTo>
                    <a:lnTo>
                      <a:pt x="26" y="0"/>
                    </a:lnTo>
                    <a:lnTo>
                      <a:pt x="26" y="340"/>
                    </a:lnTo>
                    <a:lnTo>
                      <a:pt x="22" y="335"/>
                    </a:lnTo>
                    <a:lnTo>
                      <a:pt x="19" y="329"/>
                    </a:lnTo>
                    <a:lnTo>
                      <a:pt x="14" y="323"/>
                    </a:lnTo>
                    <a:lnTo>
                      <a:pt x="11" y="318"/>
                    </a:lnTo>
                    <a:lnTo>
                      <a:pt x="8" y="311"/>
                    </a:lnTo>
                    <a:lnTo>
                      <a:pt x="5" y="305"/>
                    </a:lnTo>
                    <a:lnTo>
                      <a:pt x="2" y="300"/>
                    </a:lnTo>
                    <a:lnTo>
                      <a:pt x="0" y="29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50" name="Freeform 4488"/>
              <p:cNvSpPr>
                <a:spLocks noChangeAspect="1"/>
              </p:cNvSpPr>
              <p:nvPr/>
            </p:nvSpPr>
            <p:spPr bwMode="auto">
              <a:xfrm>
                <a:off x="4300" y="1048"/>
                <a:ext cx="9" cy="125"/>
              </a:xfrm>
              <a:custGeom>
                <a:avLst/>
                <a:gdLst>
                  <a:gd name="T0" fmla="*/ 0 w 27"/>
                  <a:gd name="T1" fmla="*/ 0 h 376"/>
                  <a:gd name="T2" fmla="*/ 0 w 27"/>
                  <a:gd name="T3" fmla="*/ 0 h 376"/>
                  <a:gd name="T4" fmla="*/ 0 w 27"/>
                  <a:gd name="T5" fmla="*/ 0 h 376"/>
                  <a:gd name="T6" fmla="*/ 0 w 27"/>
                  <a:gd name="T7" fmla="*/ 0 h 376"/>
                  <a:gd name="T8" fmla="*/ 0 w 27"/>
                  <a:gd name="T9" fmla="*/ 0 h 376"/>
                  <a:gd name="T10" fmla="*/ 0 w 27"/>
                  <a:gd name="T11" fmla="*/ 0 h 376"/>
                  <a:gd name="T12" fmla="*/ 0 w 27"/>
                  <a:gd name="T13" fmla="*/ 0 h 376"/>
                  <a:gd name="T14" fmla="*/ 0 w 27"/>
                  <a:gd name="T15" fmla="*/ 0 h 376"/>
                  <a:gd name="T16" fmla="*/ 0 w 27"/>
                  <a:gd name="T17" fmla="*/ 0 h 376"/>
                  <a:gd name="T18" fmla="*/ 0 w 27"/>
                  <a:gd name="T19" fmla="*/ 0 h 376"/>
                  <a:gd name="T20" fmla="*/ 0 w 27"/>
                  <a:gd name="T21" fmla="*/ 0 h 376"/>
                  <a:gd name="T22" fmla="*/ 0 w 27"/>
                  <a:gd name="T23" fmla="*/ 0 h 376"/>
                  <a:gd name="T24" fmla="*/ 0 w 27"/>
                  <a:gd name="T25" fmla="*/ 0 h 376"/>
                  <a:gd name="T26" fmla="*/ 0 w 27"/>
                  <a:gd name="T27" fmla="*/ 0 h 376"/>
                  <a:gd name="T28" fmla="*/ 0 w 27"/>
                  <a:gd name="T29" fmla="*/ 0 h 376"/>
                  <a:gd name="T30" fmla="*/ 0 w 27"/>
                  <a:gd name="T31" fmla="*/ 0 h 376"/>
                  <a:gd name="T32" fmla="*/ 0 w 27"/>
                  <a:gd name="T33" fmla="*/ 0 h 376"/>
                  <a:gd name="T34" fmla="*/ 0 w 27"/>
                  <a:gd name="T35" fmla="*/ 0 h 376"/>
                  <a:gd name="T36" fmla="*/ 0 w 27"/>
                  <a:gd name="T37" fmla="*/ 0 h 3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376">
                    <a:moveTo>
                      <a:pt x="0" y="337"/>
                    </a:moveTo>
                    <a:lnTo>
                      <a:pt x="0" y="39"/>
                    </a:lnTo>
                    <a:lnTo>
                      <a:pt x="3" y="34"/>
                    </a:lnTo>
                    <a:lnTo>
                      <a:pt x="7" y="28"/>
                    </a:lnTo>
                    <a:lnTo>
                      <a:pt x="10" y="24"/>
                    </a:lnTo>
                    <a:lnTo>
                      <a:pt x="13" y="19"/>
                    </a:lnTo>
                    <a:lnTo>
                      <a:pt x="16" y="15"/>
                    </a:lnTo>
                    <a:lnTo>
                      <a:pt x="19" y="9"/>
                    </a:lnTo>
                    <a:lnTo>
                      <a:pt x="24" y="5"/>
                    </a:lnTo>
                    <a:lnTo>
                      <a:pt x="27" y="0"/>
                    </a:lnTo>
                    <a:lnTo>
                      <a:pt x="27" y="376"/>
                    </a:lnTo>
                    <a:lnTo>
                      <a:pt x="24" y="372"/>
                    </a:lnTo>
                    <a:lnTo>
                      <a:pt x="19" y="366"/>
                    </a:lnTo>
                    <a:lnTo>
                      <a:pt x="16" y="362"/>
                    </a:lnTo>
                    <a:lnTo>
                      <a:pt x="13" y="357"/>
                    </a:lnTo>
                    <a:lnTo>
                      <a:pt x="10" y="353"/>
                    </a:lnTo>
                    <a:lnTo>
                      <a:pt x="7" y="347"/>
                    </a:lnTo>
                    <a:lnTo>
                      <a:pt x="3" y="342"/>
                    </a:lnTo>
                    <a:lnTo>
                      <a:pt x="0" y="33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51" name="Freeform 4489"/>
              <p:cNvSpPr>
                <a:spLocks noChangeAspect="1"/>
              </p:cNvSpPr>
              <p:nvPr/>
            </p:nvSpPr>
            <p:spPr bwMode="auto">
              <a:xfrm>
                <a:off x="4305" y="1042"/>
                <a:ext cx="8" cy="136"/>
              </a:xfrm>
              <a:custGeom>
                <a:avLst/>
                <a:gdLst>
                  <a:gd name="T0" fmla="*/ 0 w 26"/>
                  <a:gd name="T1" fmla="*/ 0 h 408"/>
                  <a:gd name="T2" fmla="*/ 0 w 26"/>
                  <a:gd name="T3" fmla="*/ 0 h 408"/>
                  <a:gd name="T4" fmla="*/ 0 w 26"/>
                  <a:gd name="T5" fmla="*/ 0 h 408"/>
                  <a:gd name="T6" fmla="*/ 0 w 26"/>
                  <a:gd name="T7" fmla="*/ 0 h 408"/>
                  <a:gd name="T8" fmla="*/ 0 w 26"/>
                  <a:gd name="T9" fmla="*/ 0 h 408"/>
                  <a:gd name="T10" fmla="*/ 0 w 26"/>
                  <a:gd name="T11" fmla="*/ 0 h 408"/>
                  <a:gd name="T12" fmla="*/ 0 w 26"/>
                  <a:gd name="T13" fmla="*/ 0 h 408"/>
                  <a:gd name="T14" fmla="*/ 0 w 26"/>
                  <a:gd name="T15" fmla="*/ 0 h 408"/>
                  <a:gd name="T16" fmla="*/ 0 w 26"/>
                  <a:gd name="T17" fmla="*/ 0 h 408"/>
                  <a:gd name="T18" fmla="*/ 0 w 26"/>
                  <a:gd name="T19" fmla="*/ 0 h 408"/>
                  <a:gd name="T20" fmla="*/ 0 w 26"/>
                  <a:gd name="T21" fmla="*/ 0 h 408"/>
                  <a:gd name="T22" fmla="*/ 0 w 26"/>
                  <a:gd name="T23" fmla="*/ 0 h 408"/>
                  <a:gd name="T24" fmla="*/ 0 w 26"/>
                  <a:gd name="T25" fmla="*/ 0 h 408"/>
                  <a:gd name="T26" fmla="*/ 0 w 26"/>
                  <a:gd name="T27" fmla="*/ 0 h 408"/>
                  <a:gd name="T28" fmla="*/ 0 w 26"/>
                  <a:gd name="T29" fmla="*/ 0 h 408"/>
                  <a:gd name="T30" fmla="*/ 0 w 26"/>
                  <a:gd name="T31" fmla="*/ 0 h 408"/>
                  <a:gd name="T32" fmla="*/ 0 w 26"/>
                  <a:gd name="T33" fmla="*/ 0 h 408"/>
                  <a:gd name="T34" fmla="*/ 0 w 26"/>
                  <a:gd name="T35" fmla="*/ 0 h 408"/>
                  <a:gd name="T36" fmla="*/ 0 w 26"/>
                  <a:gd name="T37" fmla="*/ 0 h 40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08">
                    <a:moveTo>
                      <a:pt x="0" y="374"/>
                    </a:moveTo>
                    <a:lnTo>
                      <a:pt x="0" y="34"/>
                    </a:lnTo>
                    <a:lnTo>
                      <a:pt x="2" y="30"/>
                    </a:lnTo>
                    <a:lnTo>
                      <a:pt x="5" y="25"/>
                    </a:lnTo>
                    <a:lnTo>
                      <a:pt x="9" y="21"/>
                    </a:lnTo>
                    <a:lnTo>
                      <a:pt x="12" y="17"/>
                    </a:lnTo>
                    <a:lnTo>
                      <a:pt x="16" y="12"/>
                    </a:lnTo>
                    <a:lnTo>
                      <a:pt x="19" y="8"/>
                    </a:lnTo>
                    <a:lnTo>
                      <a:pt x="22" y="4"/>
                    </a:lnTo>
                    <a:lnTo>
                      <a:pt x="26" y="0"/>
                    </a:lnTo>
                    <a:lnTo>
                      <a:pt x="26" y="408"/>
                    </a:lnTo>
                    <a:lnTo>
                      <a:pt x="22" y="404"/>
                    </a:lnTo>
                    <a:lnTo>
                      <a:pt x="19" y="399"/>
                    </a:lnTo>
                    <a:lnTo>
                      <a:pt x="16" y="396"/>
                    </a:lnTo>
                    <a:lnTo>
                      <a:pt x="12" y="392"/>
                    </a:lnTo>
                    <a:lnTo>
                      <a:pt x="9" y="388"/>
                    </a:lnTo>
                    <a:lnTo>
                      <a:pt x="5" y="384"/>
                    </a:lnTo>
                    <a:lnTo>
                      <a:pt x="2" y="378"/>
                    </a:lnTo>
                    <a:lnTo>
                      <a:pt x="0" y="37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52" name="Freeform 4490"/>
              <p:cNvSpPr>
                <a:spLocks noChangeAspect="1"/>
              </p:cNvSpPr>
              <p:nvPr/>
            </p:nvSpPr>
            <p:spPr bwMode="auto">
              <a:xfrm>
                <a:off x="4309" y="1038"/>
                <a:ext cx="9" cy="145"/>
              </a:xfrm>
              <a:custGeom>
                <a:avLst/>
                <a:gdLst>
                  <a:gd name="T0" fmla="*/ 0 w 26"/>
                  <a:gd name="T1" fmla="*/ 0 h 436"/>
                  <a:gd name="T2" fmla="*/ 0 w 26"/>
                  <a:gd name="T3" fmla="*/ 0 h 436"/>
                  <a:gd name="T4" fmla="*/ 0 w 26"/>
                  <a:gd name="T5" fmla="*/ 0 h 436"/>
                  <a:gd name="T6" fmla="*/ 0 w 26"/>
                  <a:gd name="T7" fmla="*/ 0 h 436"/>
                  <a:gd name="T8" fmla="*/ 0 w 26"/>
                  <a:gd name="T9" fmla="*/ 0 h 436"/>
                  <a:gd name="T10" fmla="*/ 0 w 26"/>
                  <a:gd name="T11" fmla="*/ 0 h 436"/>
                  <a:gd name="T12" fmla="*/ 0 w 26"/>
                  <a:gd name="T13" fmla="*/ 0 h 436"/>
                  <a:gd name="T14" fmla="*/ 0 w 26"/>
                  <a:gd name="T15" fmla="*/ 0 h 436"/>
                  <a:gd name="T16" fmla="*/ 0 w 26"/>
                  <a:gd name="T17" fmla="*/ 0 h 436"/>
                  <a:gd name="T18" fmla="*/ 0 w 26"/>
                  <a:gd name="T19" fmla="*/ 0 h 436"/>
                  <a:gd name="T20" fmla="*/ 0 w 26"/>
                  <a:gd name="T21" fmla="*/ 0 h 436"/>
                  <a:gd name="T22" fmla="*/ 0 w 26"/>
                  <a:gd name="T23" fmla="*/ 0 h 436"/>
                  <a:gd name="T24" fmla="*/ 0 w 26"/>
                  <a:gd name="T25" fmla="*/ 0 h 436"/>
                  <a:gd name="T26" fmla="*/ 0 w 26"/>
                  <a:gd name="T27" fmla="*/ 0 h 436"/>
                  <a:gd name="T28" fmla="*/ 0 w 26"/>
                  <a:gd name="T29" fmla="*/ 0 h 436"/>
                  <a:gd name="T30" fmla="*/ 0 w 26"/>
                  <a:gd name="T31" fmla="*/ 0 h 436"/>
                  <a:gd name="T32" fmla="*/ 0 w 26"/>
                  <a:gd name="T33" fmla="*/ 0 h 436"/>
                  <a:gd name="T34" fmla="*/ 0 w 26"/>
                  <a:gd name="T35" fmla="*/ 0 h 436"/>
                  <a:gd name="T36" fmla="*/ 0 w 26"/>
                  <a:gd name="T37" fmla="*/ 0 h 4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36">
                    <a:moveTo>
                      <a:pt x="0" y="406"/>
                    </a:moveTo>
                    <a:lnTo>
                      <a:pt x="0" y="30"/>
                    </a:lnTo>
                    <a:lnTo>
                      <a:pt x="3" y="26"/>
                    </a:lnTo>
                    <a:lnTo>
                      <a:pt x="6" y="22"/>
                    </a:lnTo>
                    <a:lnTo>
                      <a:pt x="9" y="18"/>
                    </a:lnTo>
                    <a:lnTo>
                      <a:pt x="13" y="15"/>
                    </a:lnTo>
                    <a:lnTo>
                      <a:pt x="16" y="11"/>
                    </a:lnTo>
                    <a:lnTo>
                      <a:pt x="19" y="7"/>
                    </a:lnTo>
                    <a:lnTo>
                      <a:pt x="23" y="4"/>
                    </a:lnTo>
                    <a:lnTo>
                      <a:pt x="26" y="0"/>
                    </a:lnTo>
                    <a:lnTo>
                      <a:pt x="26" y="436"/>
                    </a:lnTo>
                    <a:lnTo>
                      <a:pt x="23" y="433"/>
                    </a:lnTo>
                    <a:lnTo>
                      <a:pt x="19" y="428"/>
                    </a:lnTo>
                    <a:lnTo>
                      <a:pt x="16" y="425"/>
                    </a:lnTo>
                    <a:lnTo>
                      <a:pt x="13" y="422"/>
                    </a:lnTo>
                    <a:lnTo>
                      <a:pt x="9" y="418"/>
                    </a:lnTo>
                    <a:lnTo>
                      <a:pt x="6" y="415"/>
                    </a:lnTo>
                    <a:lnTo>
                      <a:pt x="3" y="410"/>
                    </a:lnTo>
                    <a:lnTo>
                      <a:pt x="0" y="40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53" name="Freeform 4491"/>
              <p:cNvSpPr>
                <a:spLocks noChangeAspect="1"/>
              </p:cNvSpPr>
              <p:nvPr/>
            </p:nvSpPr>
            <p:spPr bwMode="auto">
              <a:xfrm>
                <a:off x="4313" y="1034"/>
                <a:ext cx="9" cy="153"/>
              </a:xfrm>
              <a:custGeom>
                <a:avLst/>
                <a:gdLst>
                  <a:gd name="T0" fmla="*/ 0 w 26"/>
                  <a:gd name="T1" fmla="*/ 0 h 461"/>
                  <a:gd name="T2" fmla="*/ 0 w 26"/>
                  <a:gd name="T3" fmla="*/ 0 h 461"/>
                  <a:gd name="T4" fmla="*/ 0 w 26"/>
                  <a:gd name="T5" fmla="*/ 0 h 461"/>
                  <a:gd name="T6" fmla="*/ 0 w 26"/>
                  <a:gd name="T7" fmla="*/ 0 h 461"/>
                  <a:gd name="T8" fmla="*/ 0 w 26"/>
                  <a:gd name="T9" fmla="*/ 0 h 461"/>
                  <a:gd name="T10" fmla="*/ 0 w 26"/>
                  <a:gd name="T11" fmla="*/ 0 h 461"/>
                  <a:gd name="T12" fmla="*/ 0 w 26"/>
                  <a:gd name="T13" fmla="*/ 0 h 461"/>
                  <a:gd name="T14" fmla="*/ 0 w 26"/>
                  <a:gd name="T15" fmla="*/ 0 h 461"/>
                  <a:gd name="T16" fmla="*/ 0 w 26"/>
                  <a:gd name="T17" fmla="*/ 0 h 461"/>
                  <a:gd name="T18" fmla="*/ 0 w 26"/>
                  <a:gd name="T19" fmla="*/ 0 h 461"/>
                  <a:gd name="T20" fmla="*/ 0 w 26"/>
                  <a:gd name="T21" fmla="*/ 0 h 461"/>
                  <a:gd name="T22" fmla="*/ 0 w 26"/>
                  <a:gd name="T23" fmla="*/ 0 h 461"/>
                  <a:gd name="T24" fmla="*/ 0 w 26"/>
                  <a:gd name="T25" fmla="*/ 0 h 461"/>
                  <a:gd name="T26" fmla="*/ 0 w 26"/>
                  <a:gd name="T27" fmla="*/ 0 h 461"/>
                  <a:gd name="T28" fmla="*/ 0 w 26"/>
                  <a:gd name="T29" fmla="*/ 0 h 461"/>
                  <a:gd name="T30" fmla="*/ 0 w 26"/>
                  <a:gd name="T31" fmla="*/ 0 h 461"/>
                  <a:gd name="T32" fmla="*/ 0 w 26"/>
                  <a:gd name="T33" fmla="*/ 0 h 461"/>
                  <a:gd name="T34" fmla="*/ 0 w 26"/>
                  <a:gd name="T35" fmla="*/ 0 h 461"/>
                  <a:gd name="T36" fmla="*/ 0 w 26"/>
                  <a:gd name="T37" fmla="*/ 0 h 4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61">
                    <a:moveTo>
                      <a:pt x="0" y="434"/>
                    </a:moveTo>
                    <a:lnTo>
                      <a:pt x="0" y="26"/>
                    </a:lnTo>
                    <a:lnTo>
                      <a:pt x="3" y="23"/>
                    </a:lnTo>
                    <a:lnTo>
                      <a:pt x="6" y="19"/>
                    </a:lnTo>
                    <a:lnTo>
                      <a:pt x="9" y="16"/>
                    </a:lnTo>
                    <a:lnTo>
                      <a:pt x="13" y="13"/>
                    </a:lnTo>
                    <a:lnTo>
                      <a:pt x="17" y="10"/>
                    </a:lnTo>
                    <a:lnTo>
                      <a:pt x="20" y="7"/>
                    </a:lnTo>
                    <a:lnTo>
                      <a:pt x="23" y="3"/>
                    </a:lnTo>
                    <a:lnTo>
                      <a:pt x="26" y="0"/>
                    </a:lnTo>
                    <a:lnTo>
                      <a:pt x="26" y="461"/>
                    </a:lnTo>
                    <a:lnTo>
                      <a:pt x="23" y="457"/>
                    </a:lnTo>
                    <a:lnTo>
                      <a:pt x="20" y="454"/>
                    </a:lnTo>
                    <a:lnTo>
                      <a:pt x="17" y="451"/>
                    </a:lnTo>
                    <a:lnTo>
                      <a:pt x="13" y="448"/>
                    </a:lnTo>
                    <a:lnTo>
                      <a:pt x="9" y="445"/>
                    </a:lnTo>
                    <a:lnTo>
                      <a:pt x="6" y="440"/>
                    </a:lnTo>
                    <a:lnTo>
                      <a:pt x="3" y="437"/>
                    </a:lnTo>
                    <a:lnTo>
                      <a:pt x="0" y="43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54" name="Freeform 4492"/>
              <p:cNvSpPr>
                <a:spLocks noChangeAspect="1"/>
              </p:cNvSpPr>
              <p:nvPr/>
            </p:nvSpPr>
            <p:spPr bwMode="auto">
              <a:xfrm>
                <a:off x="4318" y="1030"/>
                <a:ext cx="9" cy="161"/>
              </a:xfrm>
              <a:custGeom>
                <a:avLst/>
                <a:gdLst>
                  <a:gd name="T0" fmla="*/ 0 w 27"/>
                  <a:gd name="T1" fmla="*/ 0 h 482"/>
                  <a:gd name="T2" fmla="*/ 0 w 27"/>
                  <a:gd name="T3" fmla="*/ 0 h 482"/>
                  <a:gd name="T4" fmla="*/ 0 w 27"/>
                  <a:gd name="T5" fmla="*/ 0 h 482"/>
                  <a:gd name="T6" fmla="*/ 0 w 27"/>
                  <a:gd name="T7" fmla="*/ 0 h 482"/>
                  <a:gd name="T8" fmla="*/ 0 w 27"/>
                  <a:gd name="T9" fmla="*/ 0 h 482"/>
                  <a:gd name="T10" fmla="*/ 0 w 27"/>
                  <a:gd name="T11" fmla="*/ 0 h 482"/>
                  <a:gd name="T12" fmla="*/ 0 w 27"/>
                  <a:gd name="T13" fmla="*/ 0 h 482"/>
                  <a:gd name="T14" fmla="*/ 0 w 27"/>
                  <a:gd name="T15" fmla="*/ 0 h 482"/>
                  <a:gd name="T16" fmla="*/ 0 w 27"/>
                  <a:gd name="T17" fmla="*/ 0 h 482"/>
                  <a:gd name="T18" fmla="*/ 0 w 27"/>
                  <a:gd name="T19" fmla="*/ 0 h 482"/>
                  <a:gd name="T20" fmla="*/ 0 w 27"/>
                  <a:gd name="T21" fmla="*/ 0 h 482"/>
                  <a:gd name="T22" fmla="*/ 0 w 27"/>
                  <a:gd name="T23" fmla="*/ 0 h 482"/>
                  <a:gd name="T24" fmla="*/ 0 w 27"/>
                  <a:gd name="T25" fmla="*/ 0 h 482"/>
                  <a:gd name="T26" fmla="*/ 0 w 27"/>
                  <a:gd name="T27" fmla="*/ 0 h 482"/>
                  <a:gd name="T28" fmla="*/ 0 w 27"/>
                  <a:gd name="T29" fmla="*/ 0 h 482"/>
                  <a:gd name="T30" fmla="*/ 0 w 27"/>
                  <a:gd name="T31" fmla="*/ 0 h 482"/>
                  <a:gd name="T32" fmla="*/ 0 w 27"/>
                  <a:gd name="T33" fmla="*/ 0 h 482"/>
                  <a:gd name="T34" fmla="*/ 0 w 27"/>
                  <a:gd name="T35" fmla="*/ 0 h 482"/>
                  <a:gd name="T36" fmla="*/ 0 w 27"/>
                  <a:gd name="T37" fmla="*/ 0 h 48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82">
                    <a:moveTo>
                      <a:pt x="0" y="459"/>
                    </a:moveTo>
                    <a:lnTo>
                      <a:pt x="0" y="23"/>
                    </a:lnTo>
                    <a:lnTo>
                      <a:pt x="4" y="21"/>
                    </a:lnTo>
                    <a:lnTo>
                      <a:pt x="7" y="18"/>
                    </a:lnTo>
                    <a:lnTo>
                      <a:pt x="10" y="14"/>
                    </a:lnTo>
                    <a:lnTo>
                      <a:pt x="13" y="11"/>
                    </a:lnTo>
                    <a:lnTo>
                      <a:pt x="16" y="8"/>
                    </a:lnTo>
                    <a:lnTo>
                      <a:pt x="20" y="6"/>
                    </a:lnTo>
                    <a:lnTo>
                      <a:pt x="24" y="3"/>
                    </a:lnTo>
                    <a:lnTo>
                      <a:pt x="27" y="0"/>
                    </a:lnTo>
                    <a:lnTo>
                      <a:pt x="27" y="482"/>
                    </a:lnTo>
                    <a:lnTo>
                      <a:pt x="24" y="479"/>
                    </a:lnTo>
                    <a:lnTo>
                      <a:pt x="20" y="477"/>
                    </a:lnTo>
                    <a:lnTo>
                      <a:pt x="16" y="474"/>
                    </a:lnTo>
                    <a:lnTo>
                      <a:pt x="13" y="470"/>
                    </a:lnTo>
                    <a:lnTo>
                      <a:pt x="10" y="468"/>
                    </a:lnTo>
                    <a:lnTo>
                      <a:pt x="7" y="465"/>
                    </a:lnTo>
                    <a:lnTo>
                      <a:pt x="4" y="462"/>
                    </a:lnTo>
                    <a:lnTo>
                      <a:pt x="0" y="45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55" name="Freeform 4493"/>
              <p:cNvSpPr>
                <a:spLocks noChangeAspect="1"/>
              </p:cNvSpPr>
              <p:nvPr/>
            </p:nvSpPr>
            <p:spPr bwMode="auto">
              <a:xfrm>
                <a:off x="4322" y="1027"/>
                <a:ext cx="9" cy="167"/>
              </a:xfrm>
              <a:custGeom>
                <a:avLst/>
                <a:gdLst>
                  <a:gd name="T0" fmla="*/ 0 w 27"/>
                  <a:gd name="T1" fmla="*/ 0 h 503"/>
                  <a:gd name="T2" fmla="*/ 0 w 27"/>
                  <a:gd name="T3" fmla="*/ 0 h 503"/>
                  <a:gd name="T4" fmla="*/ 0 w 27"/>
                  <a:gd name="T5" fmla="*/ 0 h 503"/>
                  <a:gd name="T6" fmla="*/ 0 w 27"/>
                  <a:gd name="T7" fmla="*/ 0 h 503"/>
                  <a:gd name="T8" fmla="*/ 0 w 27"/>
                  <a:gd name="T9" fmla="*/ 0 h 503"/>
                  <a:gd name="T10" fmla="*/ 0 w 27"/>
                  <a:gd name="T11" fmla="*/ 0 h 503"/>
                  <a:gd name="T12" fmla="*/ 0 w 27"/>
                  <a:gd name="T13" fmla="*/ 0 h 503"/>
                  <a:gd name="T14" fmla="*/ 0 w 27"/>
                  <a:gd name="T15" fmla="*/ 0 h 503"/>
                  <a:gd name="T16" fmla="*/ 0 w 27"/>
                  <a:gd name="T17" fmla="*/ 0 h 503"/>
                  <a:gd name="T18" fmla="*/ 0 w 27"/>
                  <a:gd name="T19" fmla="*/ 0 h 503"/>
                  <a:gd name="T20" fmla="*/ 0 w 27"/>
                  <a:gd name="T21" fmla="*/ 0 h 503"/>
                  <a:gd name="T22" fmla="*/ 0 w 27"/>
                  <a:gd name="T23" fmla="*/ 0 h 503"/>
                  <a:gd name="T24" fmla="*/ 0 w 27"/>
                  <a:gd name="T25" fmla="*/ 0 h 503"/>
                  <a:gd name="T26" fmla="*/ 0 w 27"/>
                  <a:gd name="T27" fmla="*/ 0 h 503"/>
                  <a:gd name="T28" fmla="*/ 0 w 27"/>
                  <a:gd name="T29" fmla="*/ 0 h 503"/>
                  <a:gd name="T30" fmla="*/ 0 w 27"/>
                  <a:gd name="T31" fmla="*/ 0 h 503"/>
                  <a:gd name="T32" fmla="*/ 0 w 27"/>
                  <a:gd name="T33" fmla="*/ 0 h 503"/>
                  <a:gd name="T34" fmla="*/ 0 w 27"/>
                  <a:gd name="T35" fmla="*/ 0 h 503"/>
                  <a:gd name="T36" fmla="*/ 0 w 27"/>
                  <a:gd name="T37" fmla="*/ 0 h 5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03">
                    <a:moveTo>
                      <a:pt x="0" y="482"/>
                    </a:moveTo>
                    <a:lnTo>
                      <a:pt x="0" y="21"/>
                    </a:lnTo>
                    <a:lnTo>
                      <a:pt x="3" y="18"/>
                    </a:lnTo>
                    <a:lnTo>
                      <a:pt x="7" y="16"/>
                    </a:lnTo>
                    <a:lnTo>
                      <a:pt x="11" y="13"/>
                    </a:lnTo>
                    <a:lnTo>
                      <a:pt x="14" y="11"/>
                    </a:lnTo>
                    <a:lnTo>
                      <a:pt x="17" y="7"/>
                    </a:lnTo>
                    <a:lnTo>
                      <a:pt x="20" y="5"/>
                    </a:lnTo>
                    <a:lnTo>
                      <a:pt x="24" y="2"/>
                    </a:lnTo>
                    <a:lnTo>
                      <a:pt x="27" y="0"/>
                    </a:lnTo>
                    <a:lnTo>
                      <a:pt x="27" y="503"/>
                    </a:lnTo>
                    <a:lnTo>
                      <a:pt x="24" y="500"/>
                    </a:lnTo>
                    <a:lnTo>
                      <a:pt x="20" y="498"/>
                    </a:lnTo>
                    <a:lnTo>
                      <a:pt x="17" y="494"/>
                    </a:lnTo>
                    <a:lnTo>
                      <a:pt x="14" y="492"/>
                    </a:lnTo>
                    <a:lnTo>
                      <a:pt x="11" y="489"/>
                    </a:lnTo>
                    <a:lnTo>
                      <a:pt x="7" y="487"/>
                    </a:lnTo>
                    <a:lnTo>
                      <a:pt x="3" y="484"/>
                    </a:lnTo>
                    <a:lnTo>
                      <a:pt x="0" y="48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56" name="Freeform 4494"/>
              <p:cNvSpPr>
                <a:spLocks noChangeAspect="1"/>
              </p:cNvSpPr>
              <p:nvPr/>
            </p:nvSpPr>
            <p:spPr bwMode="auto">
              <a:xfrm>
                <a:off x="4327" y="1024"/>
                <a:ext cx="9" cy="173"/>
              </a:xfrm>
              <a:custGeom>
                <a:avLst/>
                <a:gdLst>
                  <a:gd name="T0" fmla="*/ 0 w 27"/>
                  <a:gd name="T1" fmla="*/ 0 h 520"/>
                  <a:gd name="T2" fmla="*/ 0 w 27"/>
                  <a:gd name="T3" fmla="*/ 0 h 520"/>
                  <a:gd name="T4" fmla="*/ 0 w 27"/>
                  <a:gd name="T5" fmla="*/ 0 h 520"/>
                  <a:gd name="T6" fmla="*/ 0 w 27"/>
                  <a:gd name="T7" fmla="*/ 0 h 520"/>
                  <a:gd name="T8" fmla="*/ 0 w 27"/>
                  <a:gd name="T9" fmla="*/ 0 h 520"/>
                  <a:gd name="T10" fmla="*/ 0 w 27"/>
                  <a:gd name="T11" fmla="*/ 0 h 520"/>
                  <a:gd name="T12" fmla="*/ 0 w 27"/>
                  <a:gd name="T13" fmla="*/ 0 h 520"/>
                  <a:gd name="T14" fmla="*/ 0 w 27"/>
                  <a:gd name="T15" fmla="*/ 0 h 520"/>
                  <a:gd name="T16" fmla="*/ 0 w 27"/>
                  <a:gd name="T17" fmla="*/ 0 h 520"/>
                  <a:gd name="T18" fmla="*/ 0 w 27"/>
                  <a:gd name="T19" fmla="*/ 0 h 520"/>
                  <a:gd name="T20" fmla="*/ 0 w 27"/>
                  <a:gd name="T21" fmla="*/ 0 h 520"/>
                  <a:gd name="T22" fmla="*/ 0 w 27"/>
                  <a:gd name="T23" fmla="*/ 0 h 520"/>
                  <a:gd name="T24" fmla="*/ 0 w 27"/>
                  <a:gd name="T25" fmla="*/ 0 h 520"/>
                  <a:gd name="T26" fmla="*/ 0 w 27"/>
                  <a:gd name="T27" fmla="*/ 0 h 520"/>
                  <a:gd name="T28" fmla="*/ 0 w 27"/>
                  <a:gd name="T29" fmla="*/ 0 h 520"/>
                  <a:gd name="T30" fmla="*/ 0 w 27"/>
                  <a:gd name="T31" fmla="*/ 0 h 520"/>
                  <a:gd name="T32" fmla="*/ 0 w 27"/>
                  <a:gd name="T33" fmla="*/ 0 h 520"/>
                  <a:gd name="T34" fmla="*/ 0 w 27"/>
                  <a:gd name="T35" fmla="*/ 0 h 520"/>
                  <a:gd name="T36" fmla="*/ 0 w 27"/>
                  <a:gd name="T37" fmla="*/ 0 h 5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20">
                    <a:moveTo>
                      <a:pt x="0" y="501"/>
                    </a:moveTo>
                    <a:lnTo>
                      <a:pt x="0" y="19"/>
                    </a:lnTo>
                    <a:lnTo>
                      <a:pt x="3" y="16"/>
                    </a:lnTo>
                    <a:lnTo>
                      <a:pt x="6" y="14"/>
                    </a:lnTo>
                    <a:lnTo>
                      <a:pt x="10" y="11"/>
                    </a:lnTo>
                    <a:lnTo>
                      <a:pt x="13" y="9"/>
                    </a:lnTo>
                    <a:lnTo>
                      <a:pt x="16" y="7"/>
                    </a:lnTo>
                    <a:lnTo>
                      <a:pt x="19" y="5"/>
                    </a:lnTo>
                    <a:lnTo>
                      <a:pt x="24" y="3"/>
                    </a:lnTo>
                    <a:lnTo>
                      <a:pt x="27" y="0"/>
                    </a:lnTo>
                    <a:lnTo>
                      <a:pt x="27" y="520"/>
                    </a:lnTo>
                    <a:lnTo>
                      <a:pt x="24" y="518"/>
                    </a:lnTo>
                    <a:lnTo>
                      <a:pt x="19" y="516"/>
                    </a:lnTo>
                    <a:lnTo>
                      <a:pt x="16" y="514"/>
                    </a:lnTo>
                    <a:lnTo>
                      <a:pt x="13" y="511"/>
                    </a:lnTo>
                    <a:lnTo>
                      <a:pt x="10" y="509"/>
                    </a:lnTo>
                    <a:lnTo>
                      <a:pt x="6" y="507"/>
                    </a:lnTo>
                    <a:lnTo>
                      <a:pt x="3" y="503"/>
                    </a:lnTo>
                    <a:lnTo>
                      <a:pt x="0" y="50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57" name="Freeform 4495"/>
              <p:cNvSpPr>
                <a:spLocks noChangeAspect="1"/>
              </p:cNvSpPr>
              <p:nvPr/>
            </p:nvSpPr>
            <p:spPr bwMode="auto">
              <a:xfrm>
                <a:off x="4331" y="1021"/>
                <a:ext cx="9" cy="179"/>
              </a:xfrm>
              <a:custGeom>
                <a:avLst/>
                <a:gdLst>
                  <a:gd name="T0" fmla="*/ 0 w 26"/>
                  <a:gd name="T1" fmla="*/ 0 h 537"/>
                  <a:gd name="T2" fmla="*/ 0 w 26"/>
                  <a:gd name="T3" fmla="*/ 0 h 537"/>
                  <a:gd name="T4" fmla="*/ 0 w 26"/>
                  <a:gd name="T5" fmla="*/ 0 h 537"/>
                  <a:gd name="T6" fmla="*/ 0 w 26"/>
                  <a:gd name="T7" fmla="*/ 0 h 537"/>
                  <a:gd name="T8" fmla="*/ 0 w 26"/>
                  <a:gd name="T9" fmla="*/ 0 h 537"/>
                  <a:gd name="T10" fmla="*/ 0 w 26"/>
                  <a:gd name="T11" fmla="*/ 0 h 537"/>
                  <a:gd name="T12" fmla="*/ 0 w 26"/>
                  <a:gd name="T13" fmla="*/ 0 h 537"/>
                  <a:gd name="T14" fmla="*/ 0 w 26"/>
                  <a:gd name="T15" fmla="*/ 0 h 537"/>
                  <a:gd name="T16" fmla="*/ 0 w 26"/>
                  <a:gd name="T17" fmla="*/ 0 h 537"/>
                  <a:gd name="T18" fmla="*/ 0 w 26"/>
                  <a:gd name="T19" fmla="*/ 0 h 537"/>
                  <a:gd name="T20" fmla="*/ 0 w 26"/>
                  <a:gd name="T21" fmla="*/ 0 h 537"/>
                  <a:gd name="T22" fmla="*/ 0 w 26"/>
                  <a:gd name="T23" fmla="*/ 0 h 537"/>
                  <a:gd name="T24" fmla="*/ 0 w 26"/>
                  <a:gd name="T25" fmla="*/ 0 h 537"/>
                  <a:gd name="T26" fmla="*/ 0 w 26"/>
                  <a:gd name="T27" fmla="*/ 0 h 537"/>
                  <a:gd name="T28" fmla="*/ 0 w 26"/>
                  <a:gd name="T29" fmla="*/ 0 h 537"/>
                  <a:gd name="T30" fmla="*/ 0 w 26"/>
                  <a:gd name="T31" fmla="*/ 0 h 537"/>
                  <a:gd name="T32" fmla="*/ 0 w 26"/>
                  <a:gd name="T33" fmla="*/ 0 h 537"/>
                  <a:gd name="T34" fmla="*/ 0 w 26"/>
                  <a:gd name="T35" fmla="*/ 0 h 537"/>
                  <a:gd name="T36" fmla="*/ 0 w 26"/>
                  <a:gd name="T37" fmla="*/ 0 h 5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37">
                    <a:moveTo>
                      <a:pt x="0" y="520"/>
                    </a:moveTo>
                    <a:lnTo>
                      <a:pt x="0" y="17"/>
                    </a:lnTo>
                    <a:lnTo>
                      <a:pt x="3" y="15"/>
                    </a:lnTo>
                    <a:lnTo>
                      <a:pt x="6" y="13"/>
                    </a:lnTo>
                    <a:lnTo>
                      <a:pt x="11" y="11"/>
                    </a:lnTo>
                    <a:lnTo>
                      <a:pt x="14" y="8"/>
                    </a:lnTo>
                    <a:lnTo>
                      <a:pt x="17" y="6"/>
                    </a:lnTo>
                    <a:lnTo>
                      <a:pt x="20" y="4"/>
                    </a:lnTo>
                    <a:lnTo>
                      <a:pt x="23" y="2"/>
                    </a:lnTo>
                    <a:lnTo>
                      <a:pt x="26" y="0"/>
                    </a:lnTo>
                    <a:lnTo>
                      <a:pt x="26" y="537"/>
                    </a:lnTo>
                    <a:lnTo>
                      <a:pt x="23" y="535"/>
                    </a:lnTo>
                    <a:lnTo>
                      <a:pt x="20" y="533"/>
                    </a:lnTo>
                    <a:lnTo>
                      <a:pt x="17" y="530"/>
                    </a:lnTo>
                    <a:lnTo>
                      <a:pt x="14" y="528"/>
                    </a:lnTo>
                    <a:lnTo>
                      <a:pt x="11" y="526"/>
                    </a:lnTo>
                    <a:lnTo>
                      <a:pt x="6" y="524"/>
                    </a:lnTo>
                    <a:lnTo>
                      <a:pt x="3" y="522"/>
                    </a:lnTo>
                    <a:lnTo>
                      <a:pt x="0" y="5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58" name="Freeform 4496"/>
              <p:cNvSpPr>
                <a:spLocks noChangeAspect="1"/>
              </p:cNvSpPr>
              <p:nvPr/>
            </p:nvSpPr>
            <p:spPr bwMode="auto">
              <a:xfrm>
                <a:off x="4336" y="1019"/>
                <a:ext cx="8" cy="183"/>
              </a:xfrm>
              <a:custGeom>
                <a:avLst/>
                <a:gdLst>
                  <a:gd name="T0" fmla="*/ 0 w 26"/>
                  <a:gd name="T1" fmla="*/ 0 h 550"/>
                  <a:gd name="T2" fmla="*/ 0 w 26"/>
                  <a:gd name="T3" fmla="*/ 0 h 550"/>
                  <a:gd name="T4" fmla="*/ 0 w 26"/>
                  <a:gd name="T5" fmla="*/ 0 h 550"/>
                  <a:gd name="T6" fmla="*/ 0 w 26"/>
                  <a:gd name="T7" fmla="*/ 0 h 550"/>
                  <a:gd name="T8" fmla="*/ 0 w 26"/>
                  <a:gd name="T9" fmla="*/ 0 h 550"/>
                  <a:gd name="T10" fmla="*/ 0 w 26"/>
                  <a:gd name="T11" fmla="*/ 0 h 550"/>
                  <a:gd name="T12" fmla="*/ 0 w 26"/>
                  <a:gd name="T13" fmla="*/ 0 h 550"/>
                  <a:gd name="T14" fmla="*/ 0 w 26"/>
                  <a:gd name="T15" fmla="*/ 0 h 550"/>
                  <a:gd name="T16" fmla="*/ 0 w 26"/>
                  <a:gd name="T17" fmla="*/ 0 h 550"/>
                  <a:gd name="T18" fmla="*/ 0 w 26"/>
                  <a:gd name="T19" fmla="*/ 0 h 550"/>
                  <a:gd name="T20" fmla="*/ 0 w 26"/>
                  <a:gd name="T21" fmla="*/ 0 h 550"/>
                  <a:gd name="T22" fmla="*/ 0 w 26"/>
                  <a:gd name="T23" fmla="*/ 0 h 550"/>
                  <a:gd name="T24" fmla="*/ 0 w 26"/>
                  <a:gd name="T25" fmla="*/ 0 h 550"/>
                  <a:gd name="T26" fmla="*/ 0 w 26"/>
                  <a:gd name="T27" fmla="*/ 0 h 550"/>
                  <a:gd name="T28" fmla="*/ 0 w 26"/>
                  <a:gd name="T29" fmla="*/ 0 h 550"/>
                  <a:gd name="T30" fmla="*/ 0 w 26"/>
                  <a:gd name="T31" fmla="*/ 0 h 550"/>
                  <a:gd name="T32" fmla="*/ 0 w 26"/>
                  <a:gd name="T33" fmla="*/ 0 h 550"/>
                  <a:gd name="T34" fmla="*/ 0 w 26"/>
                  <a:gd name="T35" fmla="*/ 0 h 550"/>
                  <a:gd name="T36" fmla="*/ 0 w 26"/>
                  <a:gd name="T37" fmla="*/ 0 h 5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50">
                    <a:moveTo>
                      <a:pt x="0" y="535"/>
                    </a:moveTo>
                    <a:lnTo>
                      <a:pt x="0" y="15"/>
                    </a:lnTo>
                    <a:lnTo>
                      <a:pt x="3" y="13"/>
                    </a:lnTo>
                    <a:lnTo>
                      <a:pt x="6" y="11"/>
                    </a:lnTo>
                    <a:lnTo>
                      <a:pt x="9" y="9"/>
                    </a:lnTo>
                    <a:lnTo>
                      <a:pt x="12" y="7"/>
                    </a:lnTo>
                    <a:lnTo>
                      <a:pt x="16" y="5"/>
                    </a:lnTo>
                    <a:lnTo>
                      <a:pt x="19" y="3"/>
                    </a:lnTo>
                    <a:lnTo>
                      <a:pt x="23" y="2"/>
                    </a:lnTo>
                    <a:lnTo>
                      <a:pt x="26" y="0"/>
                    </a:lnTo>
                    <a:lnTo>
                      <a:pt x="26" y="550"/>
                    </a:lnTo>
                    <a:lnTo>
                      <a:pt x="23" y="549"/>
                    </a:lnTo>
                    <a:lnTo>
                      <a:pt x="19" y="547"/>
                    </a:lnTo>
                    <a:lnTo>
                      <a:pt x="16" y="545"/>
                    </a:lnTo>
                    <a:lnTo>
                      <a:pt x="12" y="543"/>
                    </a:lnTo>
                    <a:lnTo>
                      <a:pt x="9" y="542"/>
                    </a:lnTo>
                    <a:lnTo>
                      <a:pt x="6" y="540"/>
                    </a:lnTo>
                    <a:lnTo>
                      <a:pt x="3" y="537"/>
                    </a:lnTo>
                    <a:lnTo>
                      <a:pt x="0" y="53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59" name="Freeform 4497"/>
              <p:cNvSpPr>
                <a:spLocks noChangeAspect="1"/>
              </p:cNvSpPr>
              <p:nvPr/>
            </p:nvSpPr>
            <p:spPr bwMode="auto">
              <a:xfrm>
                <a:off x="4340" y="1016"/>
                <a:ext cx="9" cy="189"/>
              </a:xfrm>
              <a:custGeom>
                <a:avLst/>
                <a:gdLst>
                  <a:gd name="T0" fmla="*/ 0 w 27"/>
                  <a:gd name="T1" fmla="*/ 0 h 565"/>
                  <a:gd name="T2" fmla="*/ 0 w 27"/>
                  <a:gd name="T3" fmla="*/ 0 h 565"/>
                  <a:gd name="T4" fmla="*/ 0 w 27"/>
                  <a:gd name="T5" fmla="*/ 0 h 565"/>
                  <a:gd name="T6" fmla="*/ 0 w 27"/>
                  <a:gd name="T7" fmla="*/ 0 h 565"/>
                  <a:gd name="T8" fmla="*/ 0 w 27"/>
                  <a:gd name="T9" fmla="*/ 0 h 565"/>
                  <a:gd name="T10" fmla="*/ 0 w 27"/>
                  <a:gd name="T11" fmla="*/ 0 h 565"/>
                  <a:gd name="T12" fmla="*/ 0 w 27"/>
                  <a:gd name="T13" fmla="*/ 0 h 565"/>
                  <a:gd name="T14" fmla="*/ 0 w 27"/>
                  <a:gd name="T15" fmla="*/ 0 h 565"/>
                  <a:gd name="T16" fmla="*/ 0 w 27"/>
                  <a:gd name="T17" fmla="*/ 0 h 565"/>
                  <a:gd name="T18" fmla="*/ 0 w 27"/>
                  <a:gd name="T19" fmla="*/ 0 h 565"/>
                  <a:gd name="T20" fmla="*/ 0 w 27"/>
                  <a:gd name="T21" fmla="*/ 0 h 565"/>
                  <a:gd name="T22" fmla="*/ 0 w 27"/>
                  <a:gd name="T23" fmla="*/ 0 h 565"/>
                  <a:gd name="T24" fmla="*/ 0 w 27"/>
                  <a:gd name="T25" fmla="*/ 0 h 565"/>
                  <a:gd name="T26" fmla="*/ 0 w 27"/>
                  <a:gd name="T27" fmla="*/ 0 h 565"/>
                  <a:gd name="T28" fmla="*/ 0 w 27"/>
                  <a:gd name="T29" fmla="*/ 0 h 565"/>
                  <a:gd name="T30" fmla="*/ 0 w 27"/>
                  <a:gd name="T31" fmla="*/ 0 h 565"/>
                  <a:gd name="T32" fmla="*/ 0 w 27"/>
                  <a:gd name="T33" fmla="*/ 0 h 565"/>
                  <a:gd name="T34" fmla="*/ 0 w 27"/>
                  <a:gd name="T35" fmla="*/ 0 h 565"/>
                  <a:gd name="T36" fmla="*/ 0 w 27"/>
                  <a:gd name="T37" fmla="*/ 0 h 5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65">
                    <a:moveTo>
                      <a:pt x="0" y="551"/>
                    </a:moveTo>
                    <a:lnTo>
                      <a:pt x="0" y="14"/>
                    </a:lnTo>
                    <a:lnTo>
                      <a:pt x="4" y="12"/>
                    </a:lnTo>
                    <a:lnTo>
                      <a:pt x="7" y="10"/>
                    </a:lnTo>
                    <a:lnTo>
                      <a:pt x="10" y="9"/>
                    </a:lnTo>
                    <a:lnTo>
                      <a:pt x="14" y="7"/>
                    </a:lnTo>
                    <a:lnTo>
                      <a:pt x="18" y="5"/>
                    </a:lnTo>
                    <a:lnTo>
                      <a:pt x="21" y="3"/>
                    </a:lnTo>
                    <a:lnTo>
                      <a:pt x="24" y="1"/>
                    </a:lnTo>
                    <a:lnTo>
                      <a:pt x="27" y="0"/>
                    </a:lnTo>
                    <a:lnTo>
                      <a:pt x="27" y="565"/>
                    </a:lnTo>
                    <a:lnTo>
                      <a:pt x="24" y="563"/>
                    </a:lnTo>
                    <a:lnTo>
                      <a:pt x="21" y="561"/>
                    </a:lnTo>
                    <a:lnTo>
                      <a:pt x="18" y="559"/>
                    </a:lnTo>
                    <a:lnTo>
                      <a:pt x="14" y="557"/>
                    </a:lnTo>
                    <a:lnTo>
                      <a:pt x="10" y="556"/>
                    </a:lnTo>
                    <a:lnTo>
                      <a:pt x="7" y="554"/>
                    </a:lnTo>
                    <a:lnTo>
                      <a:pt x="4" y="552"/>
                    </a:lnTo>
                    <a:lnTo>
                      <a:pt x="0" y="55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60" name="Freeform 4498"/>
              <p:cNvSpPr>
                <a:spLocks noChangeAspect="1"/>
              </p:cNvSpPr>
              <p:nvPr/>
            </p:nvSpPr>
            <p:spPr bwMode="auto">
              <a:xfrm>
                <a:off x="4344" y="1014"/>
                <a:ext cx="9" cy="192"/>
              </a:xfrm>
              <a:custGeom>
                <a:avLst/>
                <a:gdLst>
                  <a:gd name="T0" fmla="*/ 0 w 27"/>
                  <a:gd name="T1" fmla="*/ 0 h 576"/>
                  <a:gd name="T2" fmla="*/ 0 w 27"/>
                  <a:gd name="T3" fmla="*/ 0 h 576"/>
                  <a:gd name="T4" fmla="*/ 0 w 27"/>
                  <a:gd name="T5" fmla="*/ 0 h 576"/>
                  <a:gd name="T6" fmla="*/ 0 w 27"/>
                  <a:gd name="T7" fmla="*/ 0 h 576"/>
                  <a:gd name="T8" fmla="*/ 0 w 27"/>
                  <a:gd name="T9" fmla="*/ 0 h 576"/>
                  <a:gd name="T10" fmla="*/ 0 w 27"/>
                  <a:gd name="T11" fmla="*/ 0 h 576"/>
                  <a:gd name="T12" fmla="*/ 0 w 27"/>
                  <a:gd name="T13" fmla="*/ 0 h 576"/>
                  <a:gd name="T14" fmla="*/ 0 w 27"/>
                  <a:gd name="T15" fmla="*/ 0 h 576"/>
                  <a:gd name="T16" fmla="*/ 0 w 27"/>
                  <a:gd name="T17" fmla="*/ 0 h 576"/>
                  <a:gd name="T18" fmla="*/ 0 w 27"/>
                  <a:gd name="T19" fmla="*/ 0 h 576"/>
                  <a:gd name="T20" fmla="*/ 0 w 27"/>
                  <a:gd name="T21" fmla="*/ 0 h 576"/>
                  <a:gd name="T22" fmla="*/ 0 w 27"/>
                  <a:gd name="T23" fmla="*/ 0 h 576"/>
                  <a:gd name="T24" fmla="*/ 0 w 27"/>
                  <a:gd name="T25" fmla="*/ 0 h 576"/>
                  <a:gd name="T26" fmla="*/ 0 w 27"/>
                  <a:gd name="T27" fmla="*/ 0 h 576"/>
                  <a:gd name="T28" fmla="*/ 0 w 27"/>
                  <a:gd name="T29" fmla="*/ 0 h 576"/>
                  <a:gd name="T30" fmla="*/ 0 w 27"/>
                  <a:gd name="T31" fmla="*/ 0 h 576"/>
                  <a:gd name="T32" fmla="*/ 0 w 27"/>
                  <a:gd name="T33" fmla="*/ 0 h 576"/>
                  <a:gd name="T34" fmla="*/ 0 w 27"/>
                  <a:gd name="T35" fmla="*/ 0 h 576"/>
                  <a:gd name="T36" fmla="*/ 0 w 27"/>
                  <a:gd name="T37" fmla="*/ 0 h 5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76">
                    <a:moveTo>
                      <a:pt x="0" y="563"/>
                    </a:moveTo>
                    <a:lnTo>
                      <a:pt x="0" y="13"/>
                    </a:lnTo>
                    <a:lnTo>
                      <a:pt x="4" y="10"/>
                    </a:lnTo>
                    <a:lnTo>
                      <a:pt x="7" y="9"/>
                    </a:lnTo>
                    <a:lnTo>
                      <a:pt x="10" y="7"/>
                    </a:lnTo>
                    <a:lnTo>
                      <a:pt x="13" y="6"/>
                    </a:lnTo>
                    <a:lnTo>
                      <a:pt x="16" y="4"/>
                    </a:lnTo>
                    <a:lnTo>
                      <a:pt x="19" y="3"/>
                    </a:lnTo>
                    <a:lnTo>
                      <a:pt x="24" y="2"/>
                    </a:lnTo>
                    <a:lnTo>
                      <a:pt x="27" y="0"/>
                    </a:lnTo>
                    <a:lnTo>
                      <a:pt x="27" y="576"/>
                    </a:lnTo>
                    <a:lnTo>
                      <a:pt x="24" y="575"/>
                    </a:lnTo>
                    <a:lnTo>
                      <a:pt x="19" y="573"/>
                    </a:lnTo>
                    <a:lnTo>
                      <a:pt x="16" y="572"/>
                    </a:lnTo>
                    <a:lnTo>
                      <a:pt x="13" y="571"/>
                    </a:lnTo>
                    <a:lnTo>
                      <a:pt x="10" y="569"/>
                    </a:lnTo>
                    <a:lnTo>
                      <a:pt x="7" y="567"/>
                    </a:lnTo>
                    <a:lnTo>
                      <a:pt x="4" y="565"/>
                    </a:lnTo>
                    <a:lnTo>
                      <a:pt x="0" y="56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61" name="Freeform 4499"/>
              <p:cNvSpPr>
                <a:spLocks noChangeAspect="1"/>
              </p:cNvSpPr>
              <p:nvPr/>
            </p:nvSpPr>
            <p:spPr bwMode="auto">
              <a:xfrm>
                <a:off x="4349" y="1012"/>
                <a:ext cx="9" cy="196"/>
              </a:xfrm>
              <a:custGeom>
                <a:avLst/>
                <a:gdLst>
                  <a:gd name="T0" fmla="*/ 0 w 27"/>
                  <a:gd name="T1" fmla="*/ 0 h 587"/>
                  <a:gd name="T2" fmla="*/ 0 w 27"/>
                  <a:gd name="T3" fmla="*/ 0 h 587"/>
                  <a:gd name="T4" fmla="*/ 0 w 27"/>
                  <a:gd name="T5" fmla="*/ 0 h 587"/>
                  <a:gd name="T6" fmla="*/ 0 w 27"/>
                  <a:gd name="T7" fmla="*/ 0 h 587"/>
                  <a:gd name="T8" fmla="*/ 0 w 27"/>
                  <a:gd name="T9" fmla="*/ 0 h 587"/>
                  <a:gd name="T10" fmla="*/ 0 w 27"/>
                  <a:gd name="T11" fmla="*/ 0 h 587"/>
                  <a:gd name="T12" fmla="*/ 0 w 27"/>
                  <a:gd name="T13" fmla="*/ 0 h 587"/>
                  <a:gd name="T14" fmla="*/ 0 w 27"/>
                  <a:gd name="T15" fmla="*/ 0 h 587"/>
                  <a:gd name="T16" fmla="*/ 0 w 27"/>
                  <a:gd name="T17" fmla="*/ 0 h 587"/>
                  <a:gd name="T18" fmla="*/ 0 w 27"/>
                  <a:gd name="T19" fmla="*/ 0 h 587"/>
                  <a:gd name="T20" fmla="*/ 0 w 27"/>
                  <a:gd name="T21" fmla="*/ 0 h 587"/>
                  <a:gd name="T22" fmla="*/ 0 w 27"/>
                  <a:gd name="T23" fmla="*/ 0 h 587"/>
                  <a:gd name="T24" fmla="*/ 0 w 27"/>
                  <a:gd name="T25" fmla="*/ 0 h 587"/>
                  <a:gd name="T26" fmla="*/ 0 w 27"/>
                  <a:gd name="T27" fmla="*/ 0 h 587"/>
                  <a:gd name="T28" fmla="*/ 0 w 27"/>
                  <a:gd name="T29" fmla="*/ 0 h 587"/>
                  <a:gd name="T30" fmla="*/ 0 w 27"/>
                  <a:gd name="T31" fmla="*/ 0 h 587"/>
                  <a:gd name="T32" fmla="*/ 0 w 27"/>
                  <a:gd name="T33" fmla="*/ 0 h 587"/>
                  <a:gd name="T34" fmla="*/ 0 w 27"/>
                  <a:gd name="T35" fmla="*/ 0 h 587"/>
                  <a:gd name="T36" fmla="*/ 0 w 27"/>
                  <a:gd name="T37" fmla="*/ 0 h 58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87">
                    <a:moveTo>
                      <a:pt x="0" y="577"/>
                    </a:moveTo>
                    <a:lnTo>
                      <a:pt x="0" y="12"/>
                    </a:lnTo>
                    <a:lnTo>
                      <a:pt x="3" y="10"/>
                    </a:lnTo>
                    <a:lnTo>
                      <a:pt x="6" y="9"/>
                    </a:lnTo>
                    <a:lnTo>
                      <a:pt x="10" y="8"/>
                    </a:lnTo>
                    <a:lnTo>
                      <a:pt x="14" y="6"/>
                    </a:lnTo>
                    <a:lnTo>
                      <a:pt x="17" y="5"/>
                    </a:lnTo>
                    <a:lnTo>
                      <a:pt x="20" y="4"/>
                    </a:lnTo>
                    <a:lnTo>
                      <a:pt x="24" y="3"/>
                    </a:lnTo>
                    <a:lnTo>
                      <a:pt x="27" y="0"/>
                    </a:lnTo>
                    <a:lnTo>
                      <a:pt x="27" y="587"/>
                    </a:lnTo>
                    <a:lnTo>
                      <a:pt x="24" y="586"/>
                    </a:lnTo>
                    <a:lnTo>
                      <a:pt x="20" y="585"/>
                    </a:lnTo>
                    <a:lnTo>
                      <a:pt x="17" y="583"/>
                    </a:lnTo>
                    <a:lnTo>
                      <a:pt x="14" y="582"/>
                    </a:lnTo>
                    <a:lnTo>
                      <a:pt x="10" y="581"/>
                    </a:lnTo>
                    <a:lnTo>
                      <a:pt x="6" y="579"/>
                    </a:lnTo>
                    <a:lnTo>
                      <a:pt x="3" y="578"/>
                    </a:lnTo>
                    <a:lnTo>
                      <a:pt x="0" y="57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62" name="Freeform 4500"/>
              <p:cNvSpPr>
                <a:spLocks noChangeAspect="1"/>
              </p:cNvSpPr>
              <p:nvPr/>
            </p:nvSpPr>
            <p:spPr bwMode="auto">
              <a:xfrm>
                <a:off x="4353" y="1011"/>
                <a:ext cx="9" cy="199"/>
              </a:xfrm>
              <a:custGeom>
                <a:avLst/>
                <a:gdLst>
                  <a:gd name="T0" fmla="*/ 0 w 27"/>
                  <a:gd name="T1" fmla="*/ 0 h 596"/>
                  <a:gd name="T2" fmla="*/ 0 w 27"/>
                  <a:gd name="T3" fmla="*/ 0 h 596"/>
                  <a:gd name="T4" fmla="*/ 0 w 27"/>
                  <a:gd name="T5" fmla="*/ 0 h 596"/>
                  <a:gd name="T6" fmla="*/ 0 w 27"/>
                  <a:gd name="T7" fmla="*/ 0 h 596"/>
                  <a:gd name="T8" fmla="*/ 0 w 27"/>
                  <a:gd name="T9" fmla="*/ 0 h 596"/>
                  <a:gd name="T10" fmla="*/ 0 w 27"/>
                  <a:gd name="T11" fmla="*/ 0 h 596"/>
                  <a:gd name="T12" fmla="*/ 0 w 27"/>
                  <a:gd name="T13" fmla="*/ 0 h 596"/>
                  <a:gd name="T14" fmla="*/ 0 w 27"/>
                  <a:gd name="T15" fmla="*/ 0 h 596"/>
                  <a:gd name="T16" fmla="*/ 0 w 27"/>
                  <a:gd name="T17" fmla="*/ 0 h 596"/>
                  <a:gd name="T18" fmla="*/ 0 w 27"/>
                  <a:gd name="T19" fmla="*/ 0 h 596"/>
                  <a:gd name="T20" fmla="*/ 0 w 27"/>
                  <a:gd name="T21" fmla="*/ 0 h 596"/>
                  <a:gd name="T22" fmla="*/ 0 w 27"/>
                  <a:gd name="T23" fmla="*/ 0 h 596"/>
                  <a:gd name="T24" fmla="*/ 0 w 27"/>
                  <a:gd name="T25" fmla="*/ 0 h 596"/>
                  <a:gd name="T26" fmla="*/ 0 w 27"/>
                  <a:gd name="T27" fmla="*/ 0 h 596"/>
                  <a:gd name="T28" fmla="*/ 0 w 27"/>
                  <a:gd name="T29" fmla="*/ 0 h 596"/>
                  <a:gd name="T30" fmla="*/ 0 w 27"/>
                  <a:gd name="T31" fmla="*/ 0 h 596"/>
                  <a:gd name="T32" fmla="*/ 0 w 27"/>
                  <a:gd name="T33" fmla="*/ 0 h 596"/>
                  <a:gd name="T34" fmla="*/ 0 w 27"/>
                  <a:gd name="T35" fmla="*/ 0 h 596"/>
                  <a:gd name="T36" fmla="*/ 0 w 27"/>
                  <a:gd name="T37" fmla="*/ 0 h 59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96">
                    <a:moveTo>
                      <a:pt x="0" y="586"/>
                    </a:moveTo>
                    <a:lnTo>
                      <a:pt x="0" y="10"/>
                    </a:lnTo>
                    <a:lnTo>
                      <a:pt x="3" y="9"/>
                    </a:lnTo>
                    <a:lnTo>
                      <a:pt x="6" y="8"/>
                    </a:lnTo>
                    <a:lnTo>
                      <a:pt x="10" y="7"/>
                    </a:lnTo>
                    <a:lnTo>
                      <a:pt x="13" y="5"/>
                    </a:lnTo>
                    <a:lnTo>
                      <a:pt x="16" y="3"/>
                    </a:lnTo>
                    <a:lnTo>
                      <a:pt x="19" y="2"/>
                    </a:lnTo>
                    <a:lnTo>
                      <a:pt x="22" y="1"/>
                    </a:lnTo>
                    <a:lnTo>
                      <a:pt x="27" y="0"/>
                    </a:lnTo>
                    <a:lnTo>
                      <a:pt x="27" y="596"/>
                    </a:lnTo>
                    <a:lnTo>
                      <a:pt x="22" y="594"/>
                    </a:lnTo>
                    <a:lnTo>
                      <a:pt x="19" y="593"/>
                    </a:lnTo>
                    <a:lnTo>
                      <a:pt x="16" y="592"/>
                    </a:lnTo>
                    <a:lnTo>
                      <a:pt x="13" y="591"/>
                    </a:lnTo>
                    <a:lnTo>
                      <a:pt x="10" y="590"/>
                    </a:lnTo>
                    <a:lnTo>
                      <a:pt x="6" y="589"/>
                    </a:lnTo>
                    <a:lnTo>
                      <a:pt x="3" y="587"/>
                    </a:lnTo>
                    <a:lnTo>
                      <a:pt x="0" y="58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63" name="Freeform 4501"/>
              <p:cNvSpPr>
                <a:spLocks noChangeAspect="1"/>
              </p:cNvSpPr>
              <p:nvPr/>
            </p:nvSpPr>
            <p:spPr bwMode="auto">
              <a:xfrm>
                <a:off x="4358" y="1010"/>
                <a:ext cx="8" cy="201"/>
              </a:xfrm>
              <a:custGeom>
                <a:avLst/>
                <a:gdLst>
                  <a:gd name="T0" fmla="*/ 0 w 26"/>
                  <a:gd name="T1" fmla="*/ 0 h 604"/>
                  <a:gd name="T2" fmla="*/ 0 w 26"/>
                  <a:gd name="T3" fmla="*/ 0 h 604"/>
                  <a:gd name="T4" fmla="*/ 0 w 26"/>
                  <a:gd name="T5" fmla="*/ 0 h 604"/>
                  <a:gd name="T6" fmla="*/ 0 w 26"/>
                  <a:gd name="T7" fmla="*/ 0 h 604"/>
                  <a:gd name="T8" fmla="*/ 0 w 26"/>
                  <a:gd name="T9" fmla="*/ 0 h 604"/>
                  <a:gd name="T10" fmla="*/ 0 w 26"/>
                  <a:gd name="T11" fmla="*/ 0 h 604"/>
                  <a:gd name="T12" fmla="*/ 0 w 26"/>
                  <a:gd name="T13" fmla="*/ 0 h 604"/>
                  <a:gd name="T14" fmla="*/ 0 w 26"/>
                  <a:gd name="T15" fmla="*/ 0 h 604"/>
                  <a:gd name="T16" fmla="*/ 0 w 26"/>
                  <a:gd name="T17" fmla="*/ 0 h 604"/>
                  <a:gd name="T18" fmla="*/ 0 w 26"/>
                  <a:gd name="T19" fmla="*/ 0 h 604"/>
                  <a:gd name="T20" fmla="*/ 0 w 26"/>
                  <a:gd name="T21" fmla="*/ 0 h 604"/>
                  <a:gd name="T22" fmla="*/ 0 w 26"/>
                  <a:gd name="T23" fmla="*/ 0 h 604"/>
                  <a:gd name="T24" fmla="*/ 0 w 26"/>
                  <a:gd name="T25" fmla="*/ 0 h 604"/>
                  <a:gd name="T26" fmla="*/ 0 w 26"/>
                  <a:gd name="T27" fmla="*/ 0 h 604"/>
                  <a:gd name="T28" fmla="*/ 0 w 26"/>
                  <a:gd name="T29" fmla="*/ 0 h 604"/>
                  <a:gd name="T30" fmla="*/ 0 w 26"/>
                  <a:gd name="T31" fmla="*/ 0 h 604"/>
                  <a:gd name="T32" fmla="*/ 0 w 26"/>
                  <a:gd name="T33" fmla="*/ 0 h 604"/>
                  <a:gd name="T34" fmla="*/ 0 w 26"/>
                  <a:gd name="T35" fmla="*/ 0 h 604"/>
                  <a:gd name="T36" fmla="*/ 0 w 26"/>
                  <a:gd name="T37" fmla="*/ 0 h 60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04">
                    <a:moveTo>
                      <a:pt x="0" y="595"/>
                    </a:moveTo>
                    <a:lnTo>
                      <a:pt x="0" y="8"/>
                    </a:lnTo>
                    <a:lnTo>
                      <a:pt x="3" y="7"/>
                    </a:lnTo>
                    <a:lnTo>
                      <a:pt x="6" y="6"/>
                    </a:lnTo>
                    <a:lnTo>
                      <a:pt x="9" y="5"/>
                    </a:lnTo>
                    <a:lnTo>
                      <a:pt x="14" y="4"/>
                    </a:lnTo>
                    <a:lnTo>
                      <a:pt x="17" y="3"/>
                    </a:lnTo>
                    <a:lnTo>
                      <a:pt x="20" y="2"/>
                    </a:lnTo>
                    <a:lnTo>
                      <a:pt x="23" y="1"/>
                    </a:lnTo>
                    <a:lnTo>
                      <a:pt x="26" y="0"/>
                    </a:lnTo>
                    <a:lnTo>
                      <a:pt x="26" y="604"/>
                    </a:lnTo>
                    <a:lnTo>
                      <a:pt x="23" y="603"/>
                    </a:lnTo>
                    <a:lnTo>
                      <a:pt x="20" y="602"/>
                    </a:lnTo>
                    <a:lnTo>
                      <a:pt x="17" y="601"/>
                    </a:lnTo>
                    <a:lnTo>
                      <a:pt x="14" y="600"/>
                    </a:lnTo>
                    <a:lnTo>
                      <a:pt x="9" y="598"/>
                    </a:lnTo>
                    <a:lnTo>
                      <a:pt x="6" y="597"/>
                    </a:lnTo>
                    <a:lnTo>
                      <a:pt x="3" y="596"/>
                    </a:lnTo>
                    <a:lnTo>
                      <a:pt x="0" y="59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64" name="Freeform 4502"/>
              <p:cNvSpPr>
                <a:spLocks noChangeAspect="1"/>
              </p:cNvSpPr>
              <p:nvPr/>
            </p:nvSpPr>
            <p:spPr bwMode="auto">
              <a:xfrm>
                <a:off x="4362" y="1009"/>
                <a:ext cx="9" cy="203"/>
              </a:xfrm>
              <a:custGeom>
                <a:avLst/>
                <a:gdLst>
                  <a:gd name="T0" fmla="*/ 0 w 26"/>
                  <a:gd name="T1" fmla="*/ 0 h 610"/>
                  <a:gd name="T2" fmla="*/ 0 w 26"/>
                  <a:gd name="T3" fmla="*/ 0 h 610"/>
                  <a:gd name="T4" fmla="*/ 0 w 26"/>
                  <a:gd name="T5" fmla="*/ 0 h 610"/>
                  <a:gd name="T6" fmla="*/ 0 w 26"/>
                  <a:gd name="T7" fmla="*/ 0 h 610"/>
                  <a:gd name="T8" fmla="*/ 0 w 26"/>
                  <a:gd name="T9" fmla="*/ 0 h 610"/>
                  <a:gd name="T10" fmla="*/ 0 w 26"/>
                  <a:gd name="T11" fmla="*/ 0 h 610"/>
                  <a:gd name="T12" fmla="*/ 0 w 26"/>
                  <a:gd name="T13" fmla="*/ 0 h 610"/>
                  <a:gd name="T14" fmla="*/ 0 w 26"/>
                  <a:gd name="T15" fmla="*/ 0 h 610"/>
                  <a:gd name="T16" fmla="*/ 0 w 26"/>
                  <a:gd name="T17" fmla="*/ 0 h 610"/>
                  <a:gd name="T18" fmla="*/ 0 w 26"/>
                  <a:gd name="T19" fmla="*/ 0 h 610"/>
                  <a:gd name="T20" fmla="*/ 0 w 26"/>
                  <a:gd name="T21" fmla="*/ 0 h 610"/>
                  <a:gd name="T22" fmla="*/ 0 w 26"/>
                  <a:gd name="T23" fmla="*/ 0 h 610"/>
                  <a:gd name="T24" fmla="*/ 0 w 26"/>
                  <a:gd name="T25" fmla="*/ 0 h 610"/>
                  <a:gd name="T26" fmla="*/ 0 w 26"/>
                  <a:gd name="T27" fmla="*/ 0 h 610"/>
                  <a:gd name="T28" fmla="*/ 0 w 26"/>
                  <a:gd name="T29" fmla="*/ 0 h 610"/>
                  <a:gd name="T30" fmla="*/ 0 w 26"/>
                  <a:gd name="T31" fmla="*/ 0 h 610"/>
                  <a:gd name="T32" fmla="*/ 0 w 26"/>
                  <a:gd name="T33" fmla="*/ 0 h 610"/>
                  <a:gd name="T34" fmla="*/ 0 w 26"/>
                  <a:gd name="T35" fmla="*/ 0 h 610"/>
                  <a:gd name="T36" fmla="*/ 0 w 26"/>
                  <a:gd name="T37" fmla="*/ 0 h 6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10">
                    <a:moveTo>
                      <a:pt x="0" y="603"/>
                    </a:moveTo>
                    <a:lnTo>
                      <a:pt x="0" y="7"/>
                    </a:lnTo>
                    <a:lnTo>
                      <a:pt x="3" y="6"/>
                    </a:lnTo>
                    <a:lnTo>
                      <a:pt x="6" y="5"/>
                    </a:lnTo>
                    <a:lnTo>
                      <a:pt x="9" y="4"/>
                    </a:lnTo>
                    <a:lnTo>
                      <a:pt x="12" y="3"/>
                    </a:lnTo>
                    <a:lnTo>
                      <a:pt x="15" y="3"/>
                    </a:lnTo>
                    <a:lnTo>
                      <a:pt x="19" y="2"/>
                    </a:lnTo>
                    <a:lnTo>
                      <a:pt x="22" y="1"/>
                    </a:lnTo>
                    <a:lnTo>
                      <a:pt x="26" y="0"/>
                    </a:lnTo>
                    <a:lnTo>
                      <a:pt x="26" y="610"/>
                    </a:lnTo>
                    <a:lnTo>
                      <a:pt x="22" y="609"/>
                    </a:lnTo>
                    <a:lnTo>
                      <a:pt x="19" y="609"/>
                    </a:lnTo>
                    <a:lnTo>
                      <a:pt x="15" y="608"/>
                    </a:lnTo>
                    <a:lnTo>
                      <a:pt x="12" y="607"/>
                    </a:lnTo>
                    <a:lnTo>
                      <a:pt x="9" y="606"/>
                    </a:lnTo>
                    <a:lnTo>
                      <a:pt x="6" y="605"/>
                    </a:lnTo>
                    <a:lnTo>
                      <a:pt x="3" y="604"/>
                    </a:lnTo>
                    <a:lnTo>
                      <a:pt x="0" y="60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65" name="Freeform 4503"/>
              <p:cNvSpPr>
                <a:spLocks noChangeAspect="1"/>
              </p:cNvSpPr>
              <p:nvPr/>
            </p:nvSpPr>
            <p:spPr bwMode="auto">
              <a:xfrm>
                <a:off x="4366" y="1008"/>
                <a:ext cx="9" cy="205"/>
              </a:xfrm>
              <a:custGeom>
                <a:avLst/>
                <a:gdLst>
                  <a:gd name="T0" fmla="*/ 0 w 27"/>
                  <a:gd name="T1" fmla="*/ 0 h 615"/>
                  <a:gd name="T2" fmla="*/ 0 w 27"/>
                  <a:gd name="T3" fmla="*/ 0 h 615"/>
                  <a:gd name="T4" fmla="*/ 0 w 27"/>
                  <a:gd name="T5" fmla="*/ 0 h 615"/>
                  <a:gd name="T6" fmla="*/ 0 w 27"/>
                  <a:gd name="T7" fmla="*/ 0 h 615"/>
                  <a:gd name="T8" fmla="*/ 0 w 27"/>
                  <a:gd name="T9" fmla="*/ 0 h 615"/>
                  <a:gd name="T10" fmla="*/ 0 w 27"/>
                  <a:gd name="T11" fmla="*/ 0 h 615"/>
                  <a:gd name="T12" fmla="*/ 0 w 27"/>
                  <a:gd name="T13" fmla="*/ 0 h 615"/>
                  <a:gd name="T14" fmla="*/ 0 w 27"/>
                  <a:gd name="T15" fmla="*/ 0 h 615"/>
                  <a:gd name="T16" fmla="*/ 0 w 27"/>
                  <a:gd name="T17" fmla="*/ 0 h 615"/>
                  <a:gd name="T18" fmla="*/ 0 w 27"/>
                  <a:gd name="T19" fmla="*/ 0 h 615"/>
                  <a:gd name="T20" fmla="*/ 0 w 27"/>
                  <a:gd name="T21" fmla="*/ 0 h 615"/>
                  <a:gd name="T22" fmla="*/ 0 w 27"/>
                  <a:gd name="T23" fmla="*/ 0 h 615"/>
                  <a:gd name="T24" fmla="*/ 0 w 27"/>
                  <a:gd name="T25" fmla="*/ 0 h 615"/>
                  <a:gd name="T26" fmla="*/ 0 w 27"/>
                  <a:gd name="T27" fmla="*/ 0 h 615"/>
                  <a:gd name="T28" fmla="*/ 0 w 27"/>
                  <a:gd name="T29" fmla="*/ 0 h 615"/>
                  <a:gd name="T30" fmla="*/ 0 w 27"/>
                  <a:gd name="T31" fmla="*/ 0 h 615"/>
                  <a:gd name="T32" fmla="*/ 0 w 27"/>
                  <a:gd name="T33" fmla="*/ 0 h 615"/>
                  <a:gd name="T34" fmla="*/ 0 w 27"/>
                  <a:gd name="T35" fmla="*/ 0 h 615"/>
                  <a:gd name="T36" fmla="*/ 0 w 27"/>
                  <a:gd name="T37" fmla="*/ 0 h 6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15">
                    <a:moveTo>
                      <a:pt x="0" y="609"/>
                    </a:moveTo>
                    <a:lnTo>
                      <a:pt x="0" y="5"/>
                    </a:lnTo>
                    <a:lnTo>
                      <a:pt x="3" y="5"/>
                    </a:lnTo>
                    <a:lnTo>
                      <a:pt x="7" y="4"/>
                    </a:lnTo>
                    <a:lnTo>
                      <a:pt x="10" y="3"/>
                    </a:lnTo>
                    <a:lnTo>
                      <a:pt x="14" y="2"/>
                    </a:lnTo>
                    <a:lnTo>
                      <a:pt x="17" y="2"/>
                    </a:lnTo>
                    <a:lnTo>
                      <a:pt x="21" y="1"/>
                    </a:lnTo>
                    <a:lnTo>
                      <a:pt x="24" y="0"/>
                    </a:lnTo>
                    <a:lnTo>
                      <a:pt x="27" y="0"/>
                    </a:lnTo>
                    <a:lnTo>
                      <a:pt x="27" y="615"/>
                    </a:lnTo>
                    <a:lnTo>
                      <a:pt x="24" y="614"/>
                    </a:lnTo>
                    <a:lnTo>
                      <a:pt x="21" y="614"/>
                    </a:lnTo>
                    <a:lnTo>
                      <a:pt x="17" y="613"/>
                    </a:lnTo>
                    <a:lnTo>
                      <a:pt x="14" y="612"/>
                    </a:lnTo>
                    <a:lnTo>
                      <a:pt x="10" y="611"/>
                    </a:lnTo>
                    <a:lnTo>
                      <a:pt x="7" y="611"/>
                    </a:lnTo>
                    <a:lnTo>
                      <a:pt x="3" y="610"/>
                    </a:lnTo>
                    <a:lnTo>
                      <a:pt x="0" y="60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66" name="Freeform 4504"/>
              <p:cNvSpPr>
                <a:spLocks noChangeAspect="1"/>
              </p:cNvSpPr>
              <p:nvPr/>
            </p:nvSpPr>
            <p:spPr bwMode="auto">
              <a:xfrm>
                <a:off x="4371" y="1007"/>
                <a:ext cx="9" cy="207"/>
              </a:xfrm>
              <a:custGeom>
                <a:avLst/>
                <a:gdLst>
                  <a:gd name="T0" fmla="*/ 0 w 27"/>
                  <a:gd name="T1" fmla="*/ 0 h 621"/>
                  <a:gd name="T2" fmla="*/ 0 w 27"/>
                  <a:gd name="T3" fmla="*/ 0 h 621"/>
                  <a:gd name="T4" fmla="*/ 0 w 27"/>
                  <a:gd name="T5" fmla="*/ 0 h 621"/>
                  <a:gd name="T6" fmla="*/ 0 w 27"/>
                  <a:gd name="T7" fmla="*/ 0 h 621"/>
                  <a:gd name="T8" fmla="*/ 0 w 27"/>
                  <a:gd name="T9" fmla="*/ 0 h 621"/>
                  <a:gd name="T10" fmla="*/ 0 w 27"/>
                  <a:gd name="T11" fmla="*/ 0 h 621"/>
                  <a:gd name="T12" fmla="*/ 0 w 27"/>
                  <a:gd name="T13" fmla="*/ 0 h 621"/>
                  <a:gd name="T14" fmla="*/ 0 w 27"/>
                  <a:gd name="T15" fmla="*/ 0 h 621"/>
                  <a:gd name="T16" fmla="*/ 0 w 27"/>
                  <a:gd name="T17" fmla="*/ 0 h 621"/>
                  <a:gd name="T18" fmla="*/ 0 w 27"/>
                  <a:gd name="T19" fmla="*/ 0 h 621"/>
                  <a:gd name="T20" fmla="*/ 0 w 27"/>
                  <a:gd name="T21" fmla="*/ 0 h 621"/>
                  <a:gd name="T22" fmla="*/ 0 w 27"/>
                  <a:gd name="T23" fmla="*/ 0 h 621"/>
                  <a:gd name="T24" fmla="*/ 0 w 27"/>
                  <a:gd name="T25" fmla="*/ 0 h 621"/>
                  <a:gd name="T26" fmla="*/ 0 w 27"/>
                  <a:gd name="T27" fmla="*/ 0 h 621"/>
                  <a:gd name="T28" fmla="*/ 0 w 27"/>
                  <a:gd name="T29" fmla="*/ 0 h 621"/>
                  <a:gd name="T30" fmla="*/ 0 w 27"/>
                  <a:gd name="T31" fmla="*/ 0 h 621"/>
                  <a:gd name="T32" fmla="*/ 0 w 27"/>
                  <a:gd name="T33" fmla="*/ 0 h 621"/>
                  <a:gd name="T34" fmla="*/ 0 w 27"/>
                  <a:gd name="T35" fmla="*/ 0 h 621"/>
                  <a:gd name="T36" fmla="*/ 0 w 27"/>
                  <a:gd name="T37" fmla="*/ 0 h 62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1">
                    <a:moveTo>
                      <a:pt x="0" y="616"/>
                    </a:moveTo>
                    <a:lnTo>
                      <a:pt x="0" y="6"/>
                    </a:lnTo>
                    <a:lnTo>
                      <a:pt x="3" y="6"/>
                    </a:lnTo>
                    <a:lnTo>
                      <a:pt x="7" y="5"/>
                    </a:lnTo>
                    <a:lnTo>
                      <a:pt x="10" y="4"/>
                    </a:lnTo>
                    <a:lnTo>
                      <a:pt x="13" y="4"/>
                    </a:lnTo>
                    <a:lnTo>
                      <a:pt x="16" y="3"/>
                    </a:lnTo>
                    <a:lnTo>
                      <a:pt x="19" y="1"/>
                    </a:lnTo>
                    <a:lnTo>
                      <a:pt x="22" y="1"/>
                    </a:lnTo>
                    <a:lnTo>
                      <a:pt x="27" y="0"/>
                    </a:lnTo>
                    <a:lnTo>
                      <a:pt x="27" y="621"/>
                    </a:lnTo>
                    <a:lnTo>
                      <a:pt x="22" y="621"/>
                    </a:lnTo>
                    <a:lnTo>
                      <a:pt x="19" y="620"/>
                    </a:lnTo>
                    <a:lnTo>
                      <a:pt x="16" y="619"/>
                    </a:lnTo>
                    <a:lnTo>
                      <a:pt x="13" y="619"/>
                    </a:lnTo>
                    <a:lnTo>
                      <a:pt x="10" y="618"/>
                    </a:lnTo>
                    <a:lnTo>
                      <a:pt x="7" y="618"/>
                    </a:lnTo>
                    <a:lnTo>
                      <a:pt x="3" y="617"/>
                    </a:lnTo>
                    <a:lnTo>
                      <a:pt x="0" y="61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67" name="Freeform 4505"/>
              <p:cNvSpPr>
                <a:spLocks noChangeAspect="1"/>
              </p:cNvSpPr>
              <p:nvPr/>
            </p:nvSpPr>
            <p:spPr bwMode="auto">
              <a:xfrm>
                <a:off x="4375" y="1006"/>
                <a:ext cx="9" cy="208"/>
              </a:xfrm>
              <a:custGeom>
                <a:avLst/>
                <a:gdLst>
                  <a:gd name="T0" fmla="*/ 0 w 27"/>
                  <a:gd name="T1" fmla="*/ 0 h 624"/>
                  <a:gd name="T2" fmla="*/ 0 w 27"/>
                  <a:gd name="T3" fmla="*/ 0 h 624"/>
                  <a:gd name="T4" fmla="*/ 0 w 27"/>
                  <a:gd name="T5" fmla="*/ 0 h 624"/>
                  <a:gd name="T6" fmla="*/ 0 w 27"/>
                  <a:gd name="T7" fmla="*/ 0 h 624"/>
                  <a:gd name="T8" fmla="*/ 0 w 27"/>
                  <a:gd name="T9" fmla="*/ 0 h 624"/>
                  <a:gd name="T10" fmla="*/ 0 w 27"/>
                  <a:gd name="T11" fmla="*/ 0 h 624"/>
                  <a:gd name="T12" fmla="*/ 0 w 27"/>
                  <a:gd name="T13" fmla="*/ 0 h 624"/>
                  <a:gd name="T14" fmla="*/ 0 w 27"/>
                  <a:gd name="T15" fmla="*/ 0 h 624"/>
                  <a:gd name="T16" fmla="*/ 0 w 27"/>
                  <a:gd name="T17" fmla="*/ 0 h 624"/>
                  <a:gd name="T18" fmla="*/ 0 w 27"/>
                  <a:gd name="T19" fmla="*/ 0 h 624"/>
                  <a:gd name="T20" fmla="*/ 0 w 27"/>
                  <a:gd name="T21" fmla="*/ 0 h 624"/>
                  <a:gd name="T22" fmla="*/ 0 w 27"/>
                  <a:gd name="T23" fmla="*/ 0 h 624"/>
                  <a:gd name="T24" fmla="*/ 0 w 27"/>
                  <a:gd name="T25" fmla="*/ 0 h 624"/>
                  <a:gd name="T26" fmla="*/ 0 w 27"/>
                  <a:gd name="T27" fmla="*/ 0 h 624"/>
                  <a:gd name="T28" fmla="*/ 0 w 27"/>
                  <a:gd name="T29" fmla="*/ 0 h 624"/>
                  <a:gd name="T30" fmla="*/ 0 w 27"/>
                  <a:gd name="T31" fmla="*/ 0 h 624"/>
                  <a:gd name="T32" fmla="*/ 0 w 27"/>
                  <a:gd name="T33" fmla="*/ 0 h 624"/>
                  <a:gd name="T34" fmla="*/ 0 w 27"/>
                  <a:gd name="T35" fmla="*/ 0 h 624"/>
                  <a:gd name="T36" fmla="*/ 0 w 27"/>
                  <a:gd name="T37" fmla="*/ 0 h 6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4">
                    <a:moveTo>
                      <a:pt x="0" y="620"/>
                    </a:moveTo>
                    <a:lnTo>
                      <a:pt x="0" y="5"/>
                    </a:lnTo>
                    <a:lnTo>
                      <a:pt x="3" y="4"/>
                    </a:lnTo>
                    <a:lnTo>
                      <a:pt x="6" y="2"/>
                    </a:lnTo>
                    <a:lnTo>
                      <a:pt x="9" y="2"/>
                    </a:lnTo>
                    <a:lnTo>
                      <a:pt x="13" y="1"/>
                    </a:lnTo>
                    <a:lnTo>
                      <a:pt x="17" y="1"/>
                    </a:lnTo>
                    <a:lnTo>
                      <a:pt x="20" y="1"/>
                    </a:lnTo>
                    <a:lnTo>
                      <a:pt x="23" y="0"/>
                    </a:lnTo>
                    <a:lnTo>
                      <a:pt x="27" y="0"/>
                    </a:lnTo>
                    <a:lnTo>
                      <a:pt x="27" y="624"/>
                    </a:lnTo>
                    <a:lnTo>
                      <a:pt x="23" y="623"/>
                    </a:lnTo>
                    <a:lnTo>
                      <a:pt x="20" y="623"/>
                    </a:lnTo>
                    <a:lnTo>
                      <a:pt x="17" y="623"/>
                    </a:lnTo>
                    <a:lnTo>
                      <a:pt x="13" y="622"/>
                    </a:lnTo>
                    <a:lnTo>
                      <a:pt x="9" y="622"/>
                    </a:lnTo>
                    <a:lnTo>
                      <a:pt x="6" y="621"/>
                    </a:lnTo>
                    <a:lnTo>
                      <a:pt x="3" y="621"/>
                    </a:lnTo>
                    <a:lnTo>
                      <a:pt x="0" y="6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68" name="Freeform 4506"/>
              <p:cNvSpPr>
                <a:spLocks noChangeAspect="1"/>
              </p:cNvSpPr>
              <p:nvPr/>
            </p:nvSpPr>
            <p:spPr bwMode="auto">
              <a:xfrm>
                <a:off x="4380" y="1006"/>
                <a:ext cx="9" cy="209"/>
              </a:xfrm>
              <a:custGeom>
                <a:avLst/>
                <a:gdLst>
                  <a:gd name="T0" fmla="*/ 0 w 26"/>
                  <a:gd name="T1" fmla="*/ 0 h 626"/>
                  <a:gd name="T2" fmla="*/ 0 w 26"/>
                  <a:gd name="T3" fmla="*/ 0 h 626"/>
                  <a:gd name="T4" fmla="*/ 0 w 26"/>
                  <a:gd name="T5" fmla="*/ 0 h 626"/>
                  <a:gd name="T6" fmla="*/ 0 w 26"/>
                  <a:gd name="T7" fmla="*/ 0 h 626"/>
                  <a:gd name="T8" fmla="*/ 0 w 26"/>
                  <a:gd name="T9" fmla="*/ 0 h 626"/>
                  <a:gd name="T10" fmla="*/ 0 w 26"/>
                  <a:gd name="T11" fmla="*/ 0 h 626"/>
                  <a:gd name="T12" fmla="*/ 0 w 26"/>
                  <a:gd name="T13" fmla="*/ 0 h 626"/>
                  <a:gd name="T14" fmla="*/ 0 w 26"/>
                  <a:gd name="T15" fmla="*/ 0 h 626"/>
                  <a:gd name="T16" fmla="*/ 0 w 26"/>
                  <a:gd name="T17" fmla="*/ 0 h 626"/>
                  <a:gd name="T18" fmla="*/ 0 w 26"/>
                  <a:gd name="T19" fmla="*/ 0 h 626"/>
                  <a:gd name="T20" fmla="*/ 0 w 26"/>
                  <a:gd name="T21" fmla="*/ 0 h 626"/>
                  <a:gd name="T22" fmla="*/ 0 w 26"/>
                  <a:gd name="T23" fmla="*/ 0 h 626"/>
                  <a:gd name="T24" fmla="*/ 0 w 26"/>
                  <a:gd name="T25" fmla="*/ 0 h 626"/>
                  <a:gd name="T26" fmla="*/ 0 w 26"/>
                  <a:gd name="T27" fmla="*/ 0 h 626"/>
                  <a:gd name="T28" fmla="*/ 0 w 26"/>
                  <a:gd name="T29" fmla="*/ 0 h 626"/>
                  <a:gd name="T30" fmla="*/ 0 w 26"/>
                  <a:gd name="T31" fmla="*/ 0 h 626"/>
                  <a:gd name="T32" fmla="*/ 0 w 26"/>
                  <a:gd name="T33" fmla="*/ 0 h 626"/>
                  <a:gd name="T34" fmla="*/ 0 w 26"/>
                  <a:gd name="T35" fmla="*/ 0 h 626"/>
                  <a:gd name="T36" fmla="*/ 0 w 26"/>
                  <a:gd name="T37" fmla="*/ 0 h 6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6">
                    <a:moveTo>
                      <a:pt x="0" y="623"/>
                    </a:moveTo>
                    <a:lnTo>
                      <a:pt x="0" y="2"/>
                    </a:lnTo>
                    <a:lnTo>
                      <a:pt x="3" y="2"/>
                    </a:lnTo>
                    <a:lnTo>
                      <a:pt x="6" y="2"/>
                    </a:lnTo>
                    <a:lnTo>
                      <a:pt x="9" y="1"/>
                    </a:lnTo>
                    <a:lnTo>
                      <a:pt x="13" y="1"/>
                    </a:lnTo>
                    <a:lnTo>
                      <a:pt x="16" y="0"/>
                    </a:lnTo>
                    <a:lnTo>
                      <a:pt x="19" y="0"/>
                    </a:lnTo>
                    <a:lnTo>
                      <a:pt x="22" y="0"/>
                    </a:lnTo>
                    <a:lnTo>
                      <a:pt x="26" y="0"/>
                    </a:lnTo>
                    <a:lnTo>
                      <a:pt x="26" y="626"/>
                    </a:lnTo>
                    <a:lnTo>
                      <a:pt x="22" y="626"/>
                    </a:lnTo>
                    <a:lnTo>
                      <a:pt x="19" y="625"/>
                    </a:lnTo>
                    <a:lnTo>
                      <a:pt x="16" y="625"/>
                    </a:lnTo>
                    <a:lnTo>
                      <a:pt x="13" y="625"/>
                    </a:lnTo>
                    <a:lnTo>
                      <a:pt x="9" y="624"/>
                    </a:lnTo>
                    <a:lnTo>
                      <a:pt x="6" y="624"/>
                    </a:lnTo>
                    <a:lnTo>
                      <a:pt x="3" y="624"/>
                    </a:lnTo>
                    <a:lnTo>
                      <a:pt x="0" y="62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69" name="Freeform 4507"/>
              <p:cNvSpPr>
                <a:spLocks noChangeAspect="1"/>
              </p:cNvSpPr>
              <p:nvPr/>
            </p:nvSpPr>
            <p:spPr bwMode="auto">
              <a:xfrm>
                <a:off x="4384" y="1006"/>
                <a:ext cx="9" cy="209"/>
              </a:xfrm>
              <a:custGeom>
                <a:avLst/>
                <a:gdLst>
                  <a:gd name="T0" fmla="*/ 0 w 26"/>
                  <a:gd name="T1" fmla="*/ 0 h 629"/>
                  <a:gd name="T2" fmla="*/ 0 w 26"/>
                  <a:gd name="T3" fmla="*/ 0 h 629"/>
                  <a:gd name="T4" fmla="*/ 0 w 26"/>
                  <a:gd name="T5" fmla="*/ 0 h 629"/>
                  <a:gd name="T6" fmla="*/ 0 w 26"/>
                  <a:gd name="T7" fmla="*/ 0 h 629"/>
                  <a:gd name="T8" fmla="*/ 0 w 26"/>
                  <a:gd name="T9" fmla="*/ 0 h 629"/>
                  <a:gd name="T10" fmla="*/ 0 w 26"/>
                  <a:gd name="T11" fmla="*/ 0 h 629"/>
                  <a:gd name="T12" fmla="*/ 0 w 26"/>
                  <a:gd name="T13" fmla="*/ 0 h 629"/>
                  <a:gd name="T14" fmla="*/ 0 w 26"/>
                  <a:gd name="T15" fmla="*/ 0 h 629"/>
                  <a:gd name="T16" fmla="*/ 0 w 26"/>
                  <a:gd name="T17" fmla="*/ 0 h 629"/>
                  <a:gd name="T18" fmla="*/ 0 w 26"/>
                  <a:gd name="T19" fmla="*/ 0 h 629"/>
                  <a:gd name="T20" fmla="*/ 0 w 26"/>
                  <a:gd name="T21" fmla="*/ 0 h 629"/>
                  <a:gd name="T22" fmla="*/ 0 w 26"/>
                  <a:gd name="T23" fmla="*/ 0 h 629"/>
                  <a:gd name="T24" fmla="*/ 0 w 26"/>
                  <a:gd name="T25" fmla="*/ 0 h 629"/>
                  <a:gd name="T26" fmla="*/ 0 w 26"/>
                  <a:gd name="T27" fmla="*/ 0 h 629"/>
                  <a:gd name="T28" fmla="*/ 0 w 26"/>
                  <a:gd name="T29" fmla="*/ 0 h 629"/>
                  <a:gd name="T30" fmla="*/ 0 w 26"/>
                  <a:gd name="T31" fmla="*/ 0 h 629"/>
                  <a:gd name="T32" fmla="*/ 0 w 26"/>
                  <a:gd name="T33" fmla="*/ 0 h 629"/>
                  <a:gd name="T34" fmla="*/ 0 w 26"/>
                  <a:gd name="T35" fmla="*/ 0 h 629"/>
                  <a:gd name="T36" fmla="*/ 0 w 26"/>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9">
                    <a:moveTo>
                      <a:pt x="0" y="626"/>
                    </a:moveTo>
                    <a:lnTo>
                      <a:pt x="0" y="2"/>
                    </a:lnTo>
                    <a:lnTo>
                      <a:pt x="3" y="1"/>
                    </a:lnTo>
                    <a:lnTo>
                      <a:pt x="6" y="1"/>
                    </a:lnTo>
                    <a:lnTo>
                      <a:pt x="9" y="1"/>
                    </a:lnTo>
                    <a:lnTo>
                      <a:pt x="12" y="1"/>
                    </a:lnTo>
                    <a:lnTo>
                      <a:pt x="17" y="0"/>
                    </a:lnTo>
                    <a:lnTo>
                      <a:pt x="20" y="0"/>
                    </a:lnTo>
                    <a:lnTo>
                      <a:pt x="23" y="0"/>
                    </a:lnTo>
                    <a:lnTo>
                      <a:pt x="26" y="0"/>
                    </a:lnTo>
                    <a:lnTo>
                      <a:pt x="26" y="629"/>
                    </a:lnTo>
                    <a:lnTo>
                      <a:pt x="23" y="629"/>
                    </a:lnTo>
                    <a:lnTo>
                      <a:pt x="20" y="627"/>
                    </a:lnTo>
                    <a:lnTo>
                      <a:pt x="17" y="627"/>
                    </a:lnTo>
                    <a:lnTo>
                      <a:pt x="12" y="627"/>
                    </a:lnTo>
                    <a:lnTo>
                      <a:pt x="9" y="627"/>
                    </a:lnTo>
                    <a:lnTo>
                      <a:pt x="6" y="626"/>
                    </a:lnTo>
                    <a:lnTo>
                      <a:pt x="3" y="626"/>
                    </a:lnTo>
                    <a:lnTo>
                      <a:pt x="0" y="6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70" name="Freeform 4508"/>
              <p:cNvSpPr>
                <a:spLocks noChangeAspect="1"/>
              </p:cNvSpPr>
              <p:nvPr/>
            </p:nvSpPr>
            <p:spPr bwMode="auto">
              <a:xfrm>
                <a:off x="4389" y="1006"/>
                <a:ext cx="8" cy="209"/>
              </a:xfrm>
              <a:custGeom>
                <a:avLst/>
                <a:gdLst>
                  <a:gd name="T0" fmla="*/ 0 w 26"/>
                  <a:gd name="T1" fmla="*/ 0 h 629"/>
                  <a:gd name="T2" fmla="*/ 0 w 26"/>
                  <a:gd name="T3" fmla="*/ 0 h 629"/>
                  <a:gd name="T4" fmla="*/ 0 w 26"/>
                  <a:gd name="T5" fmla="*/ 0 h 629"/>
                  <a:gd name="T6" fmla="*/ 0 w 26"/>
                  <a:gd name="T7" fmla="*/ 0 h 629"/>
                  <a:gd name="T8" fmla="*/ 0 w 26"/>
                  <a:gd name="T9" fmla="*/ 0 h 629"/>
                  <a:gd name="T10" fmla="*/ 0 w 26"/>
                  <a:gd name="T11" fmla="*/ 0 h 629"/>
                  <a:gd name="T12" fmla="*/ 0 w 26"/>
                  <a:gd name="T13" fmla="*/ 0 h 629"/>
                  <a:gd name="T14" fmla="*/ 0 w 26"/>
                  <a:gd name="T15" fmla="*/ 0 h 629"/>
                  <a:gd name="T16" fmla="*/ 0 w 26"/>
                  <a:gd name="T17" fmla="*/ 0 h 629"/>
                  <a:gd name="T18" fmla="*/ 0 w 26"/>
                  <a:gd name="T19" fmla="*/ 0 h 629"/>
                  <a:gd name="T20" fmla="*/ 0 w 26"/>
                  <a:gd name="T21" fmla="*/ 0 h 629"/>
                  <a:gd name="T22" fmla="*/ 0 w 26"/>
                  <a:gd name="T23" fmla="*/ 0 h 629"/>
                  <a:gd name="T24" fmla="*/ 0 w 26"/>
                  <a:gd name="T25" fmla="*/ 0 h 629"/>
                  <a:gd name="T26" fmla="*/ 0 w 26"/>
                  <a:gd name="T27" fmla="*/ 0 h 629"/>
                  <a:gd name="T28" fmla="*/ 0 w 26"/>
                  <a:gd name="T29" fmla="*/ 0 h 629"/>
                  <a:gd name="T30" fmla="*/ 0 w 26"/>
                  <a:gd name="T31" fmla="*/ 0 h 629"/>
                  <a:gd name="T32" fmla="*/ 0 w 26"/>
                  <a:gd name="T33" fmla="*/ 0 h 629"/>
                  <a:gd name="T34" fmla="*/ 0 w 26"/>
                  <a:gd name="T35" fmla="*/ 0 h 629"/>
                  <a:gd name="T36" fmla="*/ 0 w 26"/>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9">
                    <a:moveTo>
                      <a:pt x="0" y="627"/>
                    </a:moveTo>
                    <a:lnTo>
                      <a:pt x="0" y="1"/>
                    </a:lnTo>
                    <a:lnTo>
                      <a:pt x="4" y="0"/>
                    </a:lnTo>
                    <a:lnTo>
                      <a:pt x="7" y="0"/>
                    </a:lnTo>
                    <a:lnTo>
                      <a:pt x="10" y="0"/>
                    </a:lnTo>
                    <a:lnTo>
                      <a:pt x="13" y="0"/>
                    </a:lnTo>
                    <a:lnTo>
                      <a:pt x="16" y="0"/>
                    </a:lnTo>
                    <a:lnTo>
                      <a:pt x="20" y="0"/>
                    </a:lnTo>
                    <a:lnTo>
                      <a:pt x="23" y="0"/>
                    </a:lnTo>
                    <a:lnTo>
                      <a:pt x="26" y="0"/>
                    </a:lnTo>
                    <a:lnTo>
                      <a:pt x="26" y="629"/>
                    </a:lnTo>
                    <a:lnTo>
                      <a:pt x="23" y="629"/>
                    </a:lnTo>
                    <a:lnTo>
                      <a:pt x="20" y="629"/>
                    </a:lnTo>
                    <a:lnTo>
                      <a:pt x="16" y="629"/>
                    </a:lnTo>
                    <a:lnTo>
                      <a:pt x="13" y="629"/>
                    </a:lnTo>
                    <a:lnTo>
                      <a:pt x="10" y="629"/>
                    </a:lnTo>
                    <a:lnTo>
                      <a:pt x="7" y="627"/>
                    </a:lnTo>
                    <a:lnTo>
                      <a:pt x="4" y="627"/>
                    </a:lnTo>
                    <a:lnTo>
                      <a:pt x="0" y="62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71" name="Freeform 4509"/>
              <p:cNvSpPr>
                <a:spLocks noChangeAspect="1"/>
              </p:cNvSpPr>
              <p:nvPr/>
            </p:nvSpPr>
            <p:spPr bwMode="auto">
              <a:xfrm>
                <a:off x="4393" y="1006"/>
                <a:ext cx="9" cy="209"/>
              </a:xfrm>
              <a:custGeom>
                <a:avLst/>
                <a:gdLst>
                  <a:gd name="T0" fmla="*/ 0 w 27"/>
                  <a:gd name="T1" fmla="*/ 0 h 629"/>
                  <a:gd name="T2" fmla="*/ 0 w 27"/>
                  <a:gd name="T3" fmla="*/ 0 h 629"/>
                  <a:gd name="T4" fmla="*/ 0 w 27"/>
                  <a:gd name="T5" fmla="*/ 0 h 629"/>
                  <a:gd name="T6" fmla="*/ 0 w 27"/>
                  <a:gd name="T7" fmla="*/ 0 h 629"/>
                  <a:gd name="T8" fmla="*/ 0 w 27"/>
                  <a:gd name="T9" fmla="*/ 0 h 629"/>
                  <a:gd name="T10" fmla="*/ 0 w 27"/>
                  <a:gd name="T11" fmla="*/ 0 h 629"/>
                  <a:gd name="T12" fmla="*/ 0 w 27"/>
                  <a:gd name="T13" fmla="*/ 0 h 629"/>
                  <a:gd name="T14" fmla="*/ 0 w 27"/>
                  <a:gd name="T15" fmla="*/ 0 h 629"/>
                  <a:gd name="T16" fmla="*/ 0 w 27"/>
                  <a:gd name="T17" fmla="*/ 0 h 629"/>
                  <a:gd name="T18" fmla="*/ 0 w 27"/>
                  <a:gd name="T19" fmla="*/ 0 h 629"/>
                  <a:gd name="T20" fmla="*/ 0 w 27"/>
                  <a:gd name="T21" fmla="*/ 0 h 629"/>
                  <a:gd name="T22" fmla="*/ 0 w 27"/>
                  <a:gd name="T23" fmla="*/ 0 h 629"/>
                  <a:gd name="T24" fmla="*/ 0 w 27"/>
                  <a:gd name="T25" fmla="*/ 0 h 629"/>
                  <a:gd name="T26" fmla="*/ 0 w 27"/>
                  <a:gd name="T27" fmla="*/ 0 h 629"/>
                  <a:gd name="T28" fmla="*/ 0 w 27"/>
                  <a:gd name="T29" fmla="*/ 0 h 629"/>
                  <a:gd name="T30" fmla="*/ 0 w 27"/>
                  <a:gd name="T31" fmla="*/ 0 h 629"/>
                  <a:gd name="T32" fmla="*/ 0 w 27"/>
                  <a:gd name="T33" fmla="*/ 0 h 629"/>
                  <a:gd name="T34" fmla="*/ 0 w 27"/>
                  <a:gd name="T35" fmla="*/ 0 h 629"/>
                  <a:gd name="T36" fmla="*/ 0 w 27"/>
                  <a:gd name="T37" fmla="*/ 0 h 629"/>
                  <a:gd name="T38" fmla="*/ 0 w 27"/>
                  <a:gd name="T39" fmla="*/ 0 h 629"/>
                  <a:gd name="T40" fmla="*/ 0 w 27"/>
                  <a:gd name="T41" fmla="*/ 0 h 629"/>
                  <a:gd name="T42" fmla="*/ 0 w 27"/>
                  <a:gd name="T43" fmla="*/ 0 h 629"/>
                  <a:gd name="T44" fmla="*/ 0 w 27"/>
                  <a:gd name="T45" fmla="*/ 0 h 629"/>
                  <a:gd name="T46" fmla="*/ 0 w 27"/>
                  <a:gd name="T47" fmla="*/ 0 h 629"/>
                  <a:gd name="T48" fmla="*/ 0 w 27"/>
                  <a:gd name="T49" fmla="*/ 0 h 629"/>
                  <a:gd name="T50" fmla="*/ 0 w 27"/>
                  <a:gd name="T51" fmla="*/ 0 h 629"/>
                  <a:gd name="T52" fmla="*/ 0 w 27"/>
                  <a:gd name="T53" fmla="*/ 0 h 629"/>
                  <a:gd name="T54" fmla="*/ 0 w 27"/>
                  <a:gd name="T55" fmla="*/ 0 h 629"/>
                  <a:gd name="T56" fmla="*/ 0 w 27"/>
                  <a:gd name="T57" fmla="*/ 0 h 629"/>
                  <a:gd name="T58" fmla="*/ 0 w 27"/>
                  <a:gd name="T59" fmla="*/ 0 h 629"/>
                  <a:gd name="T60" fmla="*/ 0 w 27"/>
                  <a:gd name="T61" fmla="*/ 0 h 629"/>
                  <a:gd name="T62" fmla="*/ 0 w 27"/>
                  <a:gd name="T63" fmla="*/ 0 h 629"/>
                  <a:gd name="T64" fmla="*/ 0 w 27"/>
                  <a:gd name="T65" fmla="*/ 0 h 629"/>
                  <a:gd name="T66" fmla="*/ 0 w 27"/>
                  <a:gd name="T67" fmla="*/ 0 h 629"/>
                  <a:gd name="T68" fmla="*/ 0 w 27"/>
                  <a:gd name="T69" fmla="*/ 0 h 6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7" h="629">
                    <a:moveTo>
                      <a:pt x="0" y="629"/>
                    </a:moveTo>
                    <a:lnTo>
                      <a:pt x="0" y="0"/>
                    </a:lnTo>
                    <a:lnTo>
                      <a:pt x="2" y="0"/>
                    </a:lnTo>
                    <a:lnTo>
                      <a:pt x="3" y="0"/>
                    </a:lnTo>
                    <a:lnTo>
                      <a:pt x="5" y="0"/>
                    </a:lnTo>
                    <a:lnTo>
                      <a:pt x="7" y="0"/>
                    </a:lnTo>
                    <a:lnTo>
                      <a:pt x="9" y="0"/>
                    </a:lnTo>
                    <a:lnTo>
                      <a:pt x="10" y="0"/>
                    </a:lnTo>
                    <a:lnTo>
                      <a:pt x="12" y="0"/>
                    </a:lnTo>
                    <a:lnTo>
                      <a:pt x="13" y="0"/>
                    </a:lnTo>
                    <a:lnTo>
                      <a:pt x="15" y="0"/>
                    </a:lnTo>
                    <a:lnTo>
                      <a:pt x="17" y="0"/>
                    </a:lnTo>
                    <a:lnTo>
                      <a:pt x="18" y="0"/>
                    </a:lnTo>
                    <a:lnTo>
                      <a:pt x="20" y="0"/>
                    </a:lnTo>
                    <a:lnTo>
                      <a:pt x="21" y="0"/>
                    </a:lnTo>
                    <a:lnTo>
                      <a:pt x="24" y="0"/>
                    </a:lnTo>
                    <a:lnTo>
                      <a:pt x="25" y="0"/>
                    </a:lnTo>
                    <a:lnTo>
                      <a:pt x="27" y="0"/>
                    </a:lnTo>
                    <a:lnTo>
                      <a:pt x="27" y="629"/>
                    </a:lnTo>
                    <a:lnTo>
                      <a:pt x="25" y="629"/>
                    </a:lnTo>
                    <a:lnTo>
                      <a:pt x="24" y="629"/>
                    </a:lnTo>
                    <a:lnTo>
                      <a:pt x="21" y="629"/>
                    </a:lnTo>
                    <a:lnTo>
                      <a:pt x="20" y="629"/>
                    </a:lnTo>
                    <a:lnTo>
                      <a:pt x="18" y="629"/>
                    </a:lnTo>
                    <a:lnTo>
                      <a:pt x="17" y="629"/>
                    </a:lnTo>
                    <a:lnTo>
                      <a:pt x="15" y="629"/>
                    </a:lnTo>
                    <a:lnTo>
                      <a:pt x="13" y="629"/>
                    </a:lnTo>
                    <a:lnTo>
                      <a:pt x="12" y="629"/>
                    </a:lnTo>
                    <a:lnTo>
                      <a:pt x="10" y="629"/>
                    </a:lnTo>
                    <a:lnTo>
                      <a:pt x="9" y="629"/>
                    </a:lnTo>
                    <a:lnTo>
                      <a:pt x="7" y="629"/>
                    </a:lnTo>
                    <a:lnTo>
                      <a:pt x="5" y="629"/>
                    </a:lnTo>
                    <a:lnTo>
                      <a:pt x="3" y="629"/>
                    </a:lnTo>
                    <a:lnTo>
                      <a:pt x="2"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72" name="Freeform 4510"/>
              <p:cNvSpPr>
                <a:spLocks noChangeAspect="1"/>
              </p:cNvSpPr>
              <p:nvPr/>
            </p:nvSpPr>
            <p:spPr bwMode="auto">
              <a:xfrm>
                <a:off x="4397" y="1006"/>
                <a:ext cx="9" cy="209"/>
              </a:xfrm>
              <a:custGeom>
                <a:avLst/>
                <a:gdLst>
                  <a:gd name="T0" fmla="*/ 0 w 26"/>
                  <a:gd name="T1" fmla="*/ 0 h 629"/>
                  <a:gd name="T2" fmla="*/ 0 w 26"/>
                  <a:gd name="T3" fmla="*/ 0 h 629"/>
                  <a:gd name="T4" fmla="*/ 0 w 26"/>
                  <a:gd name="T5" fmla="*/ 0 h 629"/>
                  <a:gd name="T6" fmla="*/ 0 w 26"/>
                  <a:gd name="T7" fmla="*/ 0 h 629"/>
                  <a:gd name="T8" fmla="*/ 0 w 26"/>
                  <a:gd name="T9" fmla="*/ 0 h 629"/>
                  <a:gd name="T10" fmla="*/ 0 w 26"/>
                  <a:gd name="T11" fmla="*/ 0 h 629"/>
                  <a:gd name="T12" fmla="*/ 0 w 26"/>
                  <a:gd name="T13" fmla="*/ 0 h 629"/>
                  <a:gd name="T14" fmla="*/ 0 w 26"/>
                  <a:gd name="T15" fmla="*/ 0 h 629"/>
                  <a:gd name="T16" fmla="*/ 0 w 26"/>
                  <a:gd name="T17" fmla="*/ 0 h 629"/>
                  <a:gd name="T18" fmla="*/ 0 w 26"/>
                  <a:gd name="T19" fmla="*/ 0 h 629"/>
                  <a:gd name="T20" fmla="*/ 0 w 26"/>
                  <a:gd name="T21" fmla="*/ 0 h 629"/>
                  <a:gd name="T22" fmla="*/ 0 w 26"/>
                  <a:gd name="T23" fmla="*/ 0 h 629"/>
                  <a:gd name="T24" fmla="*/ 0 w 26"/>
                  <a:gd name="T25" fmla="*/ 0 h 629"/>
                  <a:gd name="T26" fmla="*/ 0 w 26"/>
                  <a:gd name="T27" fmla="*/ 0 h 629"/>
                  <a:gd name="T28" fmla="*/ 0 w 26"/>
                  <a:gd name="T29" fmla="*/ 0 h 629"/>
                  <a:gd name="T30" fmla="*/ 0 w 26"/>
                  <a:gd name="T31" fmla="*/ 0 h 629"/>
                  <a:gd name="T32" fmla="*/ 0 w 26"/>
                  <a:gd name="T33" fmla="*/ 0 h 629"/>
                  <a:gd name="T34" fmla="*/ 0 w 26"/>
                  <a:gd name="T35" fmla="*/ 0 h 629"/>
                  <a:gd name="T36" fmla="*/ 0 w 26"/>
                  <a:gd name="T37" fmla="*/ 0 h 629"/>
                  <a:gd name="T38" fmla="*/ 0 w 26"/>
                  <a:gd name="T39" fmla="*/ 0 h 629"/>
                  <a:gd name="T40" fmla="*/ 0 w 26"/>
                  <a:gd name="T41" fmla="*/ 0 h 6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6" h="629">
                    <a:moveTo>
                      <a:pt x="0" y="629"/>
                    </a:moveTo>
                    <a:lnTo>
                      <a:pt x="0" y="0"/>
                    </a:lnTo>
                    <a:lnTo>
                      <a:pt x="4" y="0"/>
                    </a:lnTo>
                    <a:lnTo>
                      <a:pt x="7" y="0"/>
                    </a:lnTo>
                    <a:lnTo>
                      <a:pt x="11" y="0"/>
                    </a:lnTo>
                    <a:lnTo>
                      <a:pt x="14" y="0"/>
                    </a:lnTo>
                    <a:lnTo>
                      <a:pt x="17" y="0"/>
                    </a:lnTo>
                    <a:lnTo>
                      <a:pt x="20" y="0"/>
                    </a:lnTo>
                    <a:lnTo>
                      <a:pt x="23" y="0"/>
                    </a:lnTo>
                    <a:lnTo>
                      <a:pt x="26" y="1"/>
                    </a:lnTo>
                    <a:lnTo>
                      <a:pt x="26" y="627"/>
                    </a:lnTo>
                    <a:lnTo>
                      <a:pt x="23" y="627"/>
                    </a:lnTo>
                    <a:lnTo>
                      <a:pt x="20" y="627"/>
                    </a:lnTo>
                    <a:lnTo>
                      <a:pt x="17" y="629"/>
                    </a:lnTo>
                    <a:lnTo>
                      <a:pt x="14" y="629"/>
                    </a:lnTo>
                    <a:lnTo>
                      <a:pt x="11" y="629"/>
                    </a:lnTo>
                    <a:lnTo>
                      <a:pt x="7" y="629"/>
                    </a:lnTo>
                    <a:lnTo>
                      <a:pt x="4"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73" name="Freeform 4511"/>
              <p:cNvSpPr>
                <a:spLocks noChangeAspect="1"/>
              </p:cNvSpPr>
              <p:nvPr/>
            </p:nvSpPr>
            <p:spPr bwMode="auto">
              <a:xfrm>
                <a:off x="4402" y="1006"/>
                <a:ext cx="9" cy="209"/>
              </a:xfrm>
              <a:custGeom>
                <a:avLst/>
                <a:gdLst>
                  <a:gd name="T0" fmla="*/ 0 w 26"/>
                  <a:gd name="T1" fmla="*/ 0 h 629"/>
                  <a:gd name="T2" fmla="*/ 0 w 26"/>
                  <a:gd name="T3" fmla="*/ 0 h 629"/>
                  <a:gd name="T4" fmla="*/ 0 w 26"/>
                  <a:gd name="T5" fmla="*/ 0 h 629"/>
                  <a:gd name="T6" fmla="*/ 0 w 26"/>
                  <a:gd name="T7" fmla="*/ 0 h 629"/>
                  <a:gd name="T8" fmla="*/ 0 w 26"/>
                  <a:gd name="T9" fmla="*/ 0 h 629"/>
                  <a:gd name="T10" fmla="*/ 0 w 26"/>
                  <a:gd name="T11" fmla="*/ 0 h 629"/>
                  <a:gd name="T12" fmla="*/ 0 w 26"/>
                  <a:gd name="T13" fmla="*/ 0 h 629"/>
                  <a:gd name="T14" fmla="*/ 0 w 26"/>
                  <a:gd name="T15" fmla="*/ 0 h 629"/>
                  <a:gd name="T16" fmla="*/ 0 w 26"/>
                  <a:gd name="T17" fmla="*/ 0 h 629"/>
                  <a:gd name="T18" fmla="*/ 0 w 26"/>
                  <a:gd name="T19" fmla="*/ 0 h 629"/>
                  <a:gd name="T20" fmla="*/ 0 w 26"/>
                  <a:gd name="T21" fmla="*/ 0 h 629"/>
                  <a:gd name="T22" fmla="*/ 0 w 26"/>
                  <a:gd name="T23" fmla="*/ 0 h 629"/>
                  <a:gd name="T24" fmla="*/ 0 w 26"/>
                  <a:gd name="T25" fmla="*/ 0 h 629"/>
                  <a:gd name="T26" fmla="*/ 0 w 26"/>
                  <a:gd name="T27" fmla="*/ 0 h 629"/>
                  <a:gd name="T28" fmla="*/ 0 w 26"/>
                  <a:gd name="T29" fmla="*/ 0 h 629"/>
                  <a:gd name="T30" fmla="*/ 0 w 26"/>
                  <a:gd name="T31" fmla="*/ 0 h 629"/>
                  <a:gd name="T32" fmla="*/ 0 w 26"/>
                  <a:gd name="T33" fmla="*/ 0 h 629"/>
                  <a:gd name="T34" fmla="*/ 0 w 26"/>
                  <a:gd name="T35" fmla="*/ 0 h 629"/>
                  <a:gd name="T36" fmla="*/ 0 w 26"/>
                  <a:gd name="T37" fmla="*/ 0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29">
                    <a:moveTo>
                      <a:pt x="0" y="629"/>
                    </a:moveTo>
                    <a:lnTo>
                      <a:pt x="0" y="0"/>
                    </a:lnTo>
                    <a:lnTo>
                      <a:pt x="3" y="0"/>
                    </a:lnTo>
                    <a:lnTo>
                      <a:pt x="6" y="0"/>
                    </a:lnTo>
                    <a:lnTo>
                      <a:pt x="9" y="0"/>
                    </a:lnTo>
                    <a:lnTo>
                      <a:pt x="12" y="1"/>
                    </a:lnTo>
                    <a:lnTo>
                      <a:pt x="17" y="1"/>
                    </a:lnTo>
                    <a:lnTo>
                      <a:pt x="20" y="1"/>
                    </a:lnTo>
                    <a:lnTo>
                      <a:pt x="23" y="1"/>
                    </a:lnTo>
                    <a:lnTo>
                      <a:pt x="26" y="2"/>
                    </a:lnTo>
                    <a:lnTo>
                      <a:pt x="26" y="626"/>
                    </a:lnTo>
                    <a:lnTo>
                      <a:pt x="23" y="626"/>
                    </a:lnTo>
                    <a:lnTo>
                      <a:pt x="20" y="626"/>
                    </a:lnTo>
                    <a:lnTo>
                      <a:pt x="17" y="627"/>
                    </a:lnTo>
                    <a:lnTo>
                      <a:pt x="12" y="627"/>
                    </a:lnTo>
                    <a:lnTo>
                      <a:pt x="9" y="627"/>
                    </a:lnTo>
                    <a:lnTo>
                      <a:pt x="6" y="627"/>
                    </a:lnTo>
                    <a:lnTo>
                      <a:pt x="3" y="629"/>
                    </a:lnTo>
                    <a:lnTo>
                      <a:pt x="0" y="62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74" name="Freeform 4512"/>
              <p:cNvSpPr>
                <a:spLocks noChangeAspect="1"/>
              </p:cNvSpPr>
              <p:nvPr/>
            </p:nvSpPr>
            <p:spPr bwMode="auto">
              <a:xfrm>
                <a:off x="4406" y="1006"/>
                <a:ext cx="9" cy="209"/>
              </a:xfrm>
              <a:custGeom>
                <a:avLst/>
                <a:gdLst>
                  <a:gd name="T0" fmla="*/ 0 w 27"/>
                  <a:gd name="T1" fmla="*/ 0 h 626"/>
                  <a:gd name="T2" fmla="*/ 0 w 27"/>
                  <a:gd name="T3" fmla="*/ 0 h 626"/>
                  <a:gd name="T4" fmla="*/ 0 w 27"/>
                  <a:gd name="T5" fmla="*/ 0 h 626"/>
                  <a:gd name="T6" fmla="*/ 0 w 27"/>
                  <a:gd name="T7" fmla="*/ 0 h 626"/>
                  <a:gd name="T8" fmla="*/ 0 w 27"/>
                  <a:gd name="T9" fmla="*/ 0 h 626"/>
                  <a:gd name="T10" fmla="*/ 0 w 27"/>
                  <a:gd name="T11" fmla="*/ 0 h 626"/>
                  <a:gd name="T12" fmla="*/ 0 w 27"/>
                  <a:gd name="T13" fmla="*/ 0 h 626"/>
                  <a:gd name="T14" fmla="*/ 0 w 27"/>
                  <a:gd name="T15" fmla="*/ 0 h 626"/>
                  <a:gd name="T16" fmla="*/ 0 w 27"/>
                  <a:gd name="T17" fmla="*/ 0 h 626"/>
                  <a:gd name="T18" fmla="*/ 0 w 27"/>
                  <a:gd name="T19" fmla="*/ 0 h 626"/>
                  <a:gd name="T20" fmla="*/ 0 w 27"/>
                  <a:gd name="T21" fmla="*/ 0 h 626"/>
                  <a:gd name="T22" fmla="*/ 0 w 27"/>
                  <a:gd name="T23" fmla="*/ 0 h 626"/>
                  <a:gd name="T24" fmla="*/ 0 w 27"/>
                  <a:gd name="T25" fmla="*/ 0 h 626"/>
                  <a:gd name="T26" fmla="*/ 0 w 27"/>
                  <a:gd name="T27" fmla="*/ 0 h 626"/>
                  <a:gd name="T28" fmla="*/ 0 w 27"/>
                  <a:gd name="T29" fmla="*/ 0 h 626"/>
                  <a:gd name="T30" fmla="*/ 0 w 27"/>
                  <a:gd name="T31" fmla="*/ 0 h 626"/>
                  <a:gd name="T32" fmla="*/ 0 w 27"/>
                  <a:gd name="T33" fmla="*/ 0 h 626"/>
                  <a:gd name="T34" fmla="*/ 0 w 27"/>
                  <a:gd name="T35" fmla="*/ 0 h 626"/>
                  <a:gd name="T36" fmla="*/ 0 w 27"/>
                  <a:gd name="T37" fmla="*/ 0 h 6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6">
                    <a:moveTo>
                      <a:pt x="0" y="626"/>
                    </a:moveTo>
                    <a:lnTo>
                      <a:pt x="0" y="0"/>
                    </a:lnTo>
                    <a:lnTo>
                      <a:pt x="5" y="0"/>
                    </a:lnTo>
                    <a:lnTo>
                      <a:pt x="8" y="0"/>
                    </a:lnTo>
                    <a:lnTo>
                      <a:pt x="11" y="0"/>
                    </a:lnTo>
                    <a:lnTo>
                      <a:pt x="14" y="1"/>
                    </a:lnTo>
                    <a:lnTo>
                      <a:pt x="18" y="1"/>
                    </a:lnTo>
                    <a:lnTo>
                      <a:pt x="21" y="2"/>
                    </a:lnTo>
                    <a:lnTo>
                      <a:pt x="24" y="2"/>
                    </a:lnTo>
                    <a:lnTo>
                      <a:pt x="27" y="2"/>
                    </a:lnTo>
                    <a:lnTo>
                      <a:pt x="27" y="623"/>
                    </a:lnTo>
                    <a:lnTo>
                      <a:pt x="24" y="624"/>
                    </a:lnTo>
                    <a:lnTo>
                      <a:pt x="21" y="624"/>
                    </a:lnTo>
                    <a:lnTo>
                      <a:pt x="18" y="624"/>
                    </a:lnTo>
                    <a:lnTo>
                      <a:pt x="14" y="625"/>
                    </a:lnTo>
                    <a:lnTo>
                      <a:pt x="11" y="625"/>
                    </a:lnTo>
                    <a:lnTo>
                      <a:pt x="8" y="625"/>
                    </a:lnTo>
                    <a:lnTo>
                      <a:pt x="5" y="626"/>
                    </a:lnTo>
                    <a:lnTo>
                      <a:pt x="0" y="62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75" name="Freeform 4513"/>
              <p:cNvSpPr>
                <a:spLocks noChangeAspect="1"/>
              </p:cNvSpPr>
              <p:nvPr/>
            </p:nvSpPr>
            <p:spPr bwMode="auto">
              <a:xfrm>
                <a:off x="4411" y="1006"/>
                <a:ext cx="9" cy="208"/>
              </a:xfrm>
              <a:custGeom>
                <a:avLst/>
                <a:gdLst>
                  <a:gd name="T0" fmla="*/ 0 w 27"/>
                  <a:gd name="T1" fmla="*/ 0 h 624"/>
                  <a:gd name="T2" fmla="*/ 0 w 27"/>
                  <a:gd name="T3" fmla="*/ 0 h 624"/>
                  <a:gd name="T4" fmla="*/ 0 w 27"/>
                  <a:gd name="T5" fmla="*/ 0 h 624"/>
                  <a:gd name="T6" fmla="*/ 0 w 27"/>
                  <a:gd name="T7" fmla="*/ 0 h 624"/>
                  <a:gd name="T8" fmla="*/ 0 w 27"/>
                  <a:gd name="T9" fmla="*/ 0 h 624"/>
                  <a:gd name="T10" fmla="*/ 0 w 27"/>
                  <a:gd name="T11" fmla="*/ 0 h 624"/>
                  <a:gd name="T12" fmla="*/ 0 w 27"/>
                  <a:gd name="T13" fmla="*/ 0 h 624"/>
                  <a:gd name="T14" fmla="*/ 0 w 27"/>
                  <a:gd name="T15" fmla="*/ 0 h 624"/>
                  <a:gd name="T16" fmla="*/ 0 w 27"/>
                  <a:gd name="T17" fmla="*/ 0 h 624"/>
                  <a:gd name="T18" fmla="*/ 0 w 27"/>
                  <a:gd name="T19" fmla="*/ 0 h 624"/>
                  <a:gd name="T20" fmla="*/ 0 w 27"/>
                  <a:gd name="T21" fmla="*/ 0 h 624"/>
                  <a:gd name="T22" fmla="*/ 0 w 27"/>
                  <a:gd name="T23" fmla="*/ 0 h 624"/>
                  <a:gd name="T24" fmla="*/ 0 w 27"/>
                  <a:gd name="T25" fmla="*/ 0 h 624"/>
                  <a:gd name="T26" fmla="*/ 0 w 27"/>
                  <a:gd name="T27" fmla="*/ 0 h 624"/>
                  <a:gd name="T28" fmla="*/ 0 w 27"/>
                  <a:gd name="T29" fmla="*/ 0 h 624"/>
                  <a:gd name="T30" fmla="*/ 0 w 27"/>
                  <a:gd name="T31" fmla="*/ 0 h 624"/>
                  <a:gd name="T32" fmla="*/ 0 w 27"/>
                  <a:gd name="T33" fmla="*/ 0 h 624"/>
                  <a:gd name="T34" fmla="*/ 0 w 27"/>
                  <a:gd name="T35" fmla="*/ 0 h 624"/>
                  <a:gd name="T36" fmla="*/ 0 w 27"/>
                  <a:gd name="T37" fmla="*/ 0 h 6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4">
                    <a:moveTo>
                      <a:pt x="0" y="624"/>
                    </a:moveTo>
                    <a:lnTo>
                      <a:pt x="0" y="0"/>
                    </a:lnTo>
                    <a:lnTo>
                      <a:pt x="4" y="0"/>
                    </a:lnTo>
                    <a:lnTo>
                      <a:pt x="7" y="1"/>
                    </a:lnTo>
                    <a:lnTo>
                      <a:pt x="10" y="1"/>
                    </a:lnTo>
                    <a:lnTo>
                      <a:pt x="13" y="1"/>
                    </a:lnTo>
                    <a:lnTo>
                      <a:pt x="17" y="2"/>
                    </a:lnTo>
                    <a:lnTo>
                      <a:pt x="21" y="2"/>
                    </a:lnTo>
                    <a:lnTo>
                      <a:pt x="24" y="4"/>
                    </a:lnTo>
                    <a:lnTo>
                      <a:pt x="27" y="5"/>
                    </a:lnTo>
                    <a:lnTo>
                      <a:pt x="27" y="620"/>
                    </a:lnTo>
                    <a:lnTo>
                      <a:pt x="24" y="621"/>
                    </a:lnTo>
                    <a:lnTo>
                      <a:pt x="21" y="621"/>
                    </a:lnTo>
                    <a:lnTo>
                      <a:pt x="17" y="622"/>
                    </a:lnTo>
                    <a:lnTo>
                      <a:pt x="13" y="622"/>
                    </a:lnTo>
                    <a:lnTo>
                      <a:pt x="10" y="623"/>
                    </a:lnTo>
                    <a:lnTo>
                      <a:pt x="7" y="623"/>
                    </a:lnTo>
                    <a:lnTo>
                      <a:pt x="4" y="623"/>
                    </a:lnTo>
                    <a:lnTo>
                      <a:pt x="0" y="62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76" name="Freeform 4514"/>
              <p:cNvSpPr>
                <a:spLocks noChangeAspect="1"/>
              </p:cNvSpPr>
              <p:nvPr/>
            </p:nvSpPr>
            <p:spPr bwMode="auto">
              <a:xfrm>
                <a:off x="4415" y="1007"/>
                <a:ext cx="9" cy="207"/>
              </a:xfrm>
              <a:custGeom>
                <a:avLst/>
                <a:gdLst>
                  <a:gd name="T0" fmla="*/ 0 w 27"/>
                  <a:gd name="T1" fmla="*/ 0 h 621"/>
                  <a:gd name="T2" fmla="*/ 0 w 27"/>
                  <a:gd name="T3" fmla="*/ 0 h 621"/>
                  <a:gd name="T4" fmla="*/ 0 w 27"/>
                  <a:gd name="T5" fmla="*/ 0 h 621"/>
                  <a:gd name="T6" fmla="*/ 0 w 27"/>
                  <a:gd name="T7" fmla="*/ 0 h 621"/>
                  <a:gd name="T8" fmla="*/ 0 w 27"/>
                  <a:gd name="T9" fmla="*/ 0 h 621"/>
                  <a:gd name="T10" fmla="*/ 0 w 27"/>
                  <a:gd name="T11" fmla="*/ 0 h 621"/>
                  <a:gd name="T12" fmla="*/ 0 w 27"/>
                  <a:gd name="T13" fmla="*/ 0 h 621"/>
                  <a:gd name="T14" fmla="*/ 0 w 27"/>
                  <a:gd name="T15" fmla="*/ 0 h 621"/>
                  <a:gd name="T16" fmla="*/ 0 w 27"/>
                  <a:gd name="T17" fmla="*/ 0 h 621"/>
                  <a:gd name="T18" fmla="*/ 0 w 27"/>
                  <a:gd name="T19" fmla="*/ 0 h 621"/>
                  <a:gd name="T20" fmla="*/ 0 w 27"/>
                  <a:gd name="T21" fmla="*/ 0 h 621"/>
                  <a:gd name="T22" fmla="*/ 0 w 27"/>
                  <a:gd name="T23" fmla="*/ 0 h 621"/>
                  <a:gd name="T24" fmla="*/ 0 w 27"/>
                  <a:gd name="T25" fmla="*/ 0 h 621"/>
                  <a:gd name="T26" fmla="*/ 0 w 27"/>
                  <a:gd name="T27" fmla="*/ 0 h 621"/>
                  <a:gd name="T28" fmla="*/ 0 w 27"/>
                  <a:gd name="T29" fmla="*/ 0 h 621"/>
                  <a:gd name="T30" fmla="*/ 0 w 27"/>
                  <a:gd name="T31" fmla="*/ 0 h 621"/>
                  <a:gd name="T32" fmla="*/ 0 w 27"/>
                  <a:gd name="T33" fmla="*/ 0 h 621"/>
                  <a:gd name="T34" fmla="*/ 0 w 27"/>
                  <a:gd name="T35" fmla="*/ 0 h 621"/>
                  <a:gd name="T36" fmla="*/ 0 w 27"/>
                  <a:gd name="T37" fmla="*/ 0 h 62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21">
                    <a:moveTo>
                      <a:pt x="0" y="621"/>
                    </a:moveTo>
                    <a:lnTo>
                      <a:pt x="0" y="0"/>
                    </a:lnTo>
                    <a:lnTo>
                      <a:pt x="4" y="1"/>
                    </a:lnTo>
                    <a:lnTo>
                      <a:pt x="8" y="1"/>
                    </a:lnTo>
                    <a:lnTo>
                      <a:pt x="11" y="3"/>
                    </a:lnTo>
                    <a:lnTo>
                      <a:pt x="14" y="4"/>
                    </a:lnTo>
                    <a:lnTo>
                      <a:pt x="17" y="4"/>
                    </a:lnTo>
                    <a:lnTo>
                      <a:pt x="20" y="5"/>
                    </a:lnTo>
                    <a:lnTo>
                      <a:pt x="24" y="6"/>
                    </a:lnTo>
                    <a:lnTo>
                      <a:pt x="27" y="6"/>
                    </a:lnTo>
                    <a:lnTo>
                      <a:pt x="27" y="616"/>
                    </a:lnTo>
                    <a:lnTo>
                      <a:pt x="24" y="617"/>
                    </a:lnTo>
                    <a:lnTo>
                      <a:pt x="20" y="618"/>
                    </a:lnTo>
                    <a:lnTo>
                      <a:pt x="17" y="618"/>
                    </a:lnTo>
                    <a:lnTo>
                      <a:pt x="14" y="619"/>
                    </a:lnTo>
                    <a:lnTo>
                      <a:pt x="11" y="620"/>
                    </a:lnTo>
                    <a:lnTo>
                      <a:pt x="8" y="620"/>
                    </a:lnTo>
                    <a:lnTo>
                      <a:pt x="4" y="621"/>
                    </a:lnTo>
                    <a:lnTo>
                      <a:pt x="0" y="62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77" name="Freeform 4515"/>
              <p:cNvSpPr>
                <a:spLocks noChangeAspect="1"/>
              </p:cNvSpPr>
              <p:nvPr/>
            </p:nvSpPr>
            <p:spPr bwMode="auto">
              <a:xfrm>
                <a:off x="4420" y="1008"/>
                <a:ext cx="9" cy="205"/>
              </a:xfrm>
              <a:custGeom>
                <a:avLst/>
                <a:gdLst>
                  <a:gd name="T0" fmla="*/ 0 w 27"/>
                  <a:gd name="T1" fmla="*/ 0 h 615"/>
                  <a:gd name="T2" fmla="*/ 0 w 27"/>
                  <a:gd name="T3" fmla="*/ 0 h 615"/>
                  <a:gd name="T4" fmla="*/ 0 w 27"/>
                  <a:gd name="T5" fmla="*/ 0 h 615"/>
                  <a:gd name="T6" fmla="*/ 0 w 27"/>
                  <a:gd name="T7" fmla="*/ 0 h 615"/>
                  <a:gd name="T8" fmla="*/ 0 w 27"/>
                  <a:gd name="T9" fmla="*/ 0 h 615"/>
                  <a:gd name="T10" fmla="*/ 0 w 27"/>
                  <a:gd name="T11" fmla="*/ 0 h 615"/>
                  <a:gd name="T12" fmla="*/ 0 w 27"/>
                  <a:gd name="T13" fmla="*/ 0 h 615"/>
                  <a:gd name="T14" fmla="*/ 0 w 27"/>
                  <a:gd name="T15" fmla="*/ 0 h 615"/>
                  <a:gd name="T16" fmla="*/ 0 w 27"/>
                  <a:gd name="T17" fmla="*/ 0 h 615"/>
                  <a:gd name="T18" fmla="*/ 0 w 27"/>
                  <a:gd name="T19" fmla="*/ 0 h 615"/>
                  <a:gd name="T20" fmla="*/ 0 w 27"/>
                  <a:gd name="T21" fmla="*/ 0 h 615"/>
                  <a:gd name="T22" fmla="*/ 0 w 27"/>
                  <a:gd name="T23" fmla="*/ 0 h 615"/>
                  <a:gd name="T24" fmla="*/ 0 w 27"/>
                  <a:gd name="T25" fmla="*/ 0 h 615"/>
                  <a:gd name="T26" fmla="*/ 0 w 27"/>
                  <a:gd name="T27" fmla="*/ 0 h 615"/>
                  <a:gd name="T28" fmla="*/ 0 w 27"/>
                  <a:gd name="T29" fmla="*/ 0 h 615"/>
                  <a:gd name="T30" fmla="*/ 0 w 27"/>
                  <a:gd name="T31" fmla="*/ 0 h 615"/>
                  <a:gd name="T32" fmla="*/ 0 w 27"/>
                  <a:gd name="T33" fmla="*/ 0 h 615"/>
                  <a:gd name="T34" fmla="*/ 0 w 27"/>
                  <a:gd name="T35" fmla="*/ 0 h 615"/>
                  <a:gd name="T36" fmla="*/ 0 w 27"/>
                  <a:gd name="T37" fmla="*/ 0 h 6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615">
                    <a:moveTo>
                      <a:pt x="0" y="615"/>
                    </a:moveTo>
                    <a:lnTo>
                      <a:pt x="0" y="0"/>
                    </a:lnTo>
                    <a:lnTo>
                      <a:pt x="3" y="0"/>
                    </a:lnTo>
                    <a:lnTo>
                      <a:pt x="6" y="1"/>
                    </a:lnTo>
                    <a:lnTo>
                      <a:pt x="10" y="2"/>
                    </a:lnTo>
                    <a:lnTo>
                      <a:pt x="13" y="2"/>
                    </a:lnTo>
                    <a:lnTo>
                      <a:pt x="17" y="3"/>
                    </a:lnTo>
                    <a:lnTo>
                      <a:pt x="20" y="4"/>
                    </a:lnTo>
                    <a:lnTo>
                      <a:pt x="23" y="5"/>
                    </a:lnTo>
                    <a:lnTo>
                      <a:pt x="27" y="5"/>
                    </a:lnTo>
                    <a:lnTo>
                      <a:pt x="27" y="609"/>
                    </a:lnTo>
                    <a:lnTo>
                      <a:pt x="23" y="610"/>
                    </a:lnTo>
                    <a:lnTo>
                      <a:pt x="20" y="611"/>
                    </a:lnTo>
                    <a:lnTo>
                      <a:pt x="17" y="611"/>
                    </a:lnTo>
                    <a:lnTo>
                      <a:pt x="13" y="612"/>
                    </a:lnTo>
                    <a:lnTo>
                      <a:pt x="10" y="613"/>
                    </a:lnTo>
                    <a:lnTo>
                      <a:pt x="6" y="614"/>
                    </a:lnTo>
                    <a:lnTo>
                      <a:pt x="3" y="614"/>
                    </a:lnTo>
                    <a:lnTo>
                      <a:pt x="0" y="6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78" name="Freeform 4516"/>
              <p:cNvSpPr>
                <a:spLocks noChangeAspect="1"/>
              </p:cNvSpPr>
              <p:nvPr/>
            </p:nvSpPr>
            <p:spPr bwMode="auto">
              <a:xfrm>
                <a:off x="4424" y="1009"/>
                <a:ext cx="9" cy="203"/>
              </a:xfrm>
              <a:custGeom>
                <a:avLst/>
                <a:gdLst>
                  <a:gd name="T0" fmla="*/ 0 w 26"/>
                  <a:gd name="T1" fmla="*/ 0 h 610"/>
                  <a:gd name="T2" fmla="*/ 0 w 26"/>
                  <a:gd name="T3" fmla="*/ 0 h 610"/>
                  <a:gd name="T4" fmla="*/ 0 w 26"/>
                  <a:gd name="T5" fmla="*/ 0 h 610"/>
                  <a:gd name="T6" fmla="*/ 0 w 26"/>
                  <a:gd name="T7" fmla="*/ 0 h 610"/>
                  <a:gd name="T8" fmla="*/ 0 w 26"/>
                  <a:gd name="T9" fmla="*/ 0 h 610"/>
                  <a:gd name="T10" fmla="*/ 0 w 26"/>
                  <a:gd name="T11" fmla="*/ 0 h 610"/>
                  <a:gd name="T12" fmla="*/ 0 w 26"/>
                  <a:gd name="T13" fmla="*/ 0 h 610"/>
                  <a:gd name="T14" fmla="*/ 0 w 26"/>
                  <a:gd name="T15" fmla="*/ 0 h 610"/>
                  <a:gd name="T16" fmla="*/ 0 w 26"/>
                  <a:gd name="T17" fmla="*/ 0 h 610"/>
                  <a:gd name="T18" fmla="*/ 0 w 26"/>
                  <a:gd name="T19" fmla="*/ 0 h 610"/>
                  <a:gd name="T20" fmla="*/ 0 w 26"/>
                  <a:gd name="T21" fmla="*/ 0 h 610"/>
                  <a:gd name="T22" fmla="*/ 0 w 26"/>
                  <a:gd name="T23" fmla="*/ 0 h 610"/>
                  <a:gd name="T24" fmla="*/ 0 w 26"/>
                  <a:gd name="T25" fmla="*/ 0 h 610"/>
                  <a:gd name="T26" fmla="*/ 0 w 26"/>
                  <a:gd name="T27" fmla="*/ 0 h 610"/>
                  <a:gd name="T28" fmla="*/ 0 w 26"/>
                  <a:gd name="T29" fmla="*/ 0 h 610"/>
                  <a:gd name="T30" fmla="*/ 0 w 26"/>
                  <a:gd name="T31" fmla="*/ 0 h 610"/>
                  <a:gd name="T32" fmla="*/ 0 w 26"/>
                  <a:gd name="T33" fmla="*/ 0 h 610"/>
                  <a:gd name="T34" fmla="*/ 0 w 26"/>
                  <a:gd name="T35" fmla="*/ 0 h 610"/>
                  <a:gd name="T36" fmla="*/ 0 w 26"/>
                  <a:gd name="T37" fmla="*/ 0 h 6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10">
                    <a:moveTo>
                      <a:pt x="0" y="610"/>
                    </a:moveTo>
                    <a:lnTo>
                      <a:pt x="0" y="0"/>
                    </a:lnTo>
                    <a:lnTo>
                      <a:pt x="3" y="1"/>
                    </a:lnTo>
                    <a:lnTo>
                      <a:pt x="7" y="2"/>
                    </a:lnTo>
                    <a:lnTo>
                      <a:pt x="10" y="3"/>
                    </a:lnTo>
                    <a:lnTo>
                      <a:pt x="14" y="3"/>
                    </a:lnTo>
                    <a:lnTo>
                      <a:pt x="17" y="4"/>
                    </a:lnTo>
                    <a:lnTo>
                      <a:pt x="20" y="5"/>
                    </a:lnTo>
                    <a:lnTo>
                      <a:pt x="23" y="6"/>
                    </a:lnTo>
                    <a:lnTo>
                      <a:pt x="26" y="7"/>
                    </a:lnTo>
                    <a:lnTo>
                      <a:pt x="26" y="603"/>
                    </a:lnTo>
                    <a:lnTo>
                      <a:pt x="23" y="604"/>
                    </a:lnTo>
                    <a:lnTo>
                      <a:pt x="20" y="605"/>
                    </a:lnTo>
                    <a:lnTo>
                      <a:pt x="17" y="606"/>
                    </a:lnTo>
                    <a:lnTo>
                      <a:pt x="14" y="607"/>
                    </a:lnTo>
                    <a:lnTo>
                      <a:pt x="10" y="608"/>
                    </a:lnTo>
                    <a:lnTo>
                      <a:pt x="7" y="609"/>
                    </a:lnTo>
                    <a:lnTo>
                      <a:pt x="3" y="609"/>
                    </a:lnTo>
                    <a:lnTo>
                      <a:pt x="0" y="61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79" name="Freeform 4517"/>
              <p:cNvSpPr>
                <a:spLocks noChangeAspect="1"/>
              </p:cNvSpPr>
              <p:nvPr/>
            </p:nvSpPr>
            <p:spPr bwMode="auto">
              <a:xfrm>
                <a:off x="4429" y="1010"/>
                <a:ext cx="8" cy="201"/>
              </a:xfrm>
              <a:custGeom>
                <a:avLst/>
                <a:gdLst>
                  <a:gd name="T0" fmla="*/ 0 w 26"/>
                  <a:gd name="T1" fmla="*/ 0 h 604"/>
                  <a:gd name="T2" fmla="*/ 0 w 26"/>
                  <a:gd name="T3" fmla="*/ 0 h 604"/>
                  <a:gd name="T4" fmla="*/ 0 w 26"/>
                  <a:gd name="T5" fmla="*/ 0 h 604"/>
                  <a:gd name="T6" fmla="*/ 0 w 26"/>
                  <a:gd name="T7" fmla="*/ 0 h 604"/>
                  <a:gd name="T8" fmla="*/ 0 w 26"/>
                  <a:gd name="T9" fmla="*/ 0 h 604"/>
                  <a:gd name="T10" fmla="*/ 0 w 26"/>
                  <a:gd name="T11" fmla="*/ 0 h 604"/>
                  <a:gd name="T12" fmla="*/ 0 w 26"/>
                  <a:gd name="T13" fmla="*/ 0 h 604"/>
                  <a:gd name="T14" fmla="*/ 0 w 26"/>
                  <a:gd name="T15" fmla="*/ 0 h 604"/>
                  <a:gd name="T16" fmla="*/ 0 w 26"/>
                  <a:gd name="T17" fmla="*/ 0 h 604"/>
                  <a:gd name="T18" fmla="*/ 0 w 26"/>
                  <a:gd name="T19" fmla="*/ 0 h 604"/>
                  <a:gd name="T20" fmla="*/ 0 w 26"/>
                  <a:gd name="T21" fmla="*/ 0 h 604"/>
                  <a:gd name="T22" fmla="*/ 0 w 26"/>
                  <a:gd name="T23" fmla="*/ 0 h 604"/>
                  <a:gd name="T24" fmla="*/ 0 w 26"/>
                  <a:gd name="T25" fmla="*/ 0 h 604"/>
                  <a:gd name="T26" fmla="*/ 0 w 26"/>
                  <a:gd name="T27" fmla="*/ 0 h 604"/>
                  <a:gd name="T28" fmla="*/ 0 w 26"/>
                  <a:gd name="T29" fmla="*/ 0 h 604"/>
                  <a:gd name="T30" fmla="*/ 0 w 26"/>
                  <a:gd name="T31" fmla="*/ 0 h 604"/>
                  <a:gd name="T32" fmla="*/ 0 w 26"/>
                  <a:gd name="T33" fmla="*/ 0 h 604"/>
                  <a:gd name="T34" fmla="*/ 0 w 26"/>
                  <a:gd name="T35" fmla="*/ 0 h 604"/>
                  <a:gd name="T36" fmla="*/ 0 w 26"/>
                  <a:gd name="T37" fmla="*/ 0 h 60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604">
                    <a:moveTo>
                      <a:pt x="0" y="604"/>
                    </a:moveTo>
                    <a:lnTo>
                      <a:pt x="0" y="0"/>
                    </a:lnTo>
                    <a:lnTo>
                      <a:pt x="3" y="1"/>
                    </a:lnTo>
                    <a:lnTo>
                      <a:pt x="6" y="2"/>
                    </a:lnTo>
                    <a:lnTo>
                      <a:pt x="9" y="3"/>
                    </a:lnTo>
                    <a:lnTo>
                      <a:pt x="12" y="4"/>
                    </a:lnTo>
                    <a:lnTo>
                      <a:pt x="16" y="5"/>
                    </a:lnTo>
                    <a:lnTo>
                      <a:pt x="20" y="6"/>
                    </a:lnTo>
                    <a:lnTo>
                      <a:pt x="23" y="7"/>
                    </a:lnTo>
                    <a:lnTo>
                      <a:pt x="26" y="8"/>
                    </a:lnTo>
                    <a:lnTo>
                      <a:pt x="26" y="595"/>
                    </a:lnTo>
                    <a:lnTo>
                      <a:pt x="23" y="596"/>
                    </a:lnTo>
                    <a:lnTo>
                      <a:pt x="20" y="597"/>
                    </a:lnTo>
                    <a:lnTo>
                      <a:pt x="16" y="598"/>
                    </a:lnTo>
                    <a:lnTo>
                      <a:pt x="12" y="600"/>
                    </a:lnTo>
                    <a:lnTo>
                      <a:pt x="9" y="601"/>
                    </a:lnTo>
                    <a:lnTo>
                      <a:pt x="6" y="602"/>
                    </a:lnTo>
                    <a:lnTo>
                      <a:pt x="3" y="603"/>
                    </a:lnTo>
                    <a:lnTo>
                      <a:pt x="0" y="604"/>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80" name="Freeform 4518"/>
              <p:cNvSpPr>
                <a:spLocks noChangeAspect="1"/>
              </p:cNvSpPr>
              <p:nvPr/>
            </p:nvSpPr>
            <p:spPr bwMode="auto">
              <a:xfrm>
                <a:off x="4433" y="1011"/>
                <a:ext cx="9" cy="199"/>
              </a:xfrm>
              <a:custGeom>
                <a:avLst/>
                <a:gdLst>
                  <a:gd name="T0" fmla="*/ 0 w 27"/>
                  <a:gd name="T1" fmla="*/ 0 h 596"/>
                  <a:gd name="T2" fmla="*/ 0 w 27"/>
                  <a:gd name="T3" fmla="*/ 0 h 596"/>
                  <a:gd name="T4" fmla="*/ 0 w 27"/>
                  <a:gd name="T5" fmla="*/ 0 h 596"/>
                  <a:gd name="T6" fmla="*/ 0 w 27"/>
                  <a:gd name="T7" fmla="*/ 0 h 596"/>
                  <a:gd name="T8" fmla="*/ 0 w 27"/>
                  <a:gd name="T9" fmla="*/ 0 h 596"/>
                  <a:gd name="T10" fmla="*/ 0 w 27"/>
                  <a:gd name="T11" fmla="*/ 0 h 596"/>
                  <a:gd name="T12" fmla="*/ 0 w 27"/>
                  <a:gd name="T13" fmla="*/ 0 h 596"/>
                  <a:gd name="T14" fmla="*/ 0 w 27"/>
                  <a:gd name="T15" fmla="*/ 0 h 596"/>
                  <a:gd name="T16" fmla="*/ 0 w 27"/>
                  <a:gd name="T17" fmla="*/ 0 h 596"/>
                  <a:gd name="T18" fmla="*/ 0 w 27"/>
                  <a:gd name="T19" fmla="*/ 0 h 596"/>
                  <a:gd name="T20" fmla="*/ 0 w 27"/>
                  <a:gd name="T21" fmla="*/ 0 h 596"/>
                  <a:gd name="T22" fmla="*/ 0 w 27"/>
                  <a:gd name="T23" fmla="*/ 0 h 596"/>
                  <a:gd name="T24" fmla="*/ 0 w 27"/>
                  <a:gd name="T25" fmla="*/ 0 h 596"/>
                  <a:gd name="T26" fmla="*/ 0 w 27"/>
                  <a:gd name="T27" fmla="*/ 0 h 596"/>
                  <a:gd name="T28" fmla="*/ 0 w 27"/>
                  <a:gd name="T29" fmla="*/ 0 h 596"/>
                  <a:gd name="T30" fmla="*/ 0 w 27"/>
                  <a:gd name="T31" fmla="*/ 0 h 596"/>
                  <a:gd name="T32" fmla="*/ 0 w 27"/>
                  <a:gd name="T33" fmla="*/ 0 h 596"/>
                  <a:gd name="T34" fmla="*/ 0 w 27"/>
                  <a:gd name="T35" fmla="*/ 0 h 596"/>
                  <a:gd name="T36" fmla="*/ 0 w 27"/>
                  <a:gd name="T37" fmla="*/ 0 h 59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96">
                    <a:moveTo>
                      <a:pt x="0" y="596"/>
                    </a:moveTo>
                    <a:lnTo>
                      <a:pt x="0" y="0"/>
                    </a:lnTo>
                    <a:lnTo>
                      <a:pt x="4" y="1"/>
                    </a:lnTo>
                    <a:lnTo>
                      <a:pt x="8" y="2"/>
                    </a:lnTo>
                    <a:lnTo>
                      <a:pt x="11" y="3"/>
                    </a:lnTo>
                    <a:lnTo>
                      <a:pt x="14" y="5"/>
                    </a:lnTo>
                    <a:lnTo>
                      <a:pt x="17" y="7"/>
                    </a:lnTo>
                    <a:lnTo>
                      <a:pt x="21" y="8"/>
                    </a:lnTo>
                    <a:lnTo>
                      <a:pt x="24" y="9"/>
                    </a:lnTo>
                    <a:lnTo>
                      <a:pt x="27" y="10"/>
                    </a:lnTo>
                    <a:lnTo>
                      <a:pt x="27" y="586"/>
                    </a:lnTo>
                    <a:lnTo>
                      <a:pt x="24" y="587"/>
                    </a:lnTo>
                    <a:lnTo>
                      <a:pt x="21" y="589"/>
                    </a:lnTo>
                    <a:lnTo>
                      <a:pt x="17" y="590"/>
                    </a:lnTo>
                    <a:lnTo>
                      <a:pt x="14" y="591"/>
                    </a:lnTo>
                    <a:lnTo>
                      <a:pt x="11" y="592"/>
                    </a:lnTo>
                    <a:lnTo>
                      <a:pt x="8" y="593"/>
                    </a:lnTo>
                    <a:lnTo>
                      <a:pt x="4" y="594"/>
                    </a:lnTo>
                    <a:lnTo>
                      <a:pt x="0" y="59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81" name="Freeform 4519"/>
              <p:cNvSpPr>
                <a:spLocks noChangeAspect="1"/>
              </p:cNvSpPr>
              <p:nvPr/>
            </p:nvSpPr>
            <p:spPr bwMode="auto">
              <a:xfrm>
                <a:off x="4437" y="1012"/>
                <a:ext cx="9" cy="196"/>
              </a:xfrm>
              <a:custGeom>
                <a:avLst/>
                <a:gdLst>
                  <a:gd name="T0" fmla="*/ 0 w 27"/>
                  <a:gd name="T1" fmla="*/ 0 h 587"/>
                  <a:gd name="T2" fmla="*/ 0 w 27"/>
                  <a:gd name="T3" fmla="*/ 0 h 587"/>
                  <a:gd name="T4" fmla="*/ 0 w 27"/>
                  <a:gd name="T5" fmla="*/ 0 h 587"/>
                  <a:gd name="T6" fmla="*/ 0 w 27"/>
                  <a:gd name="T7" fmla="*/ 0 h 587"/>
                  <a:gd name="T8" fmla="*/ 0 w 27"/>
                  <a:gd name="T9" fmla="*/ 0 h 587"/>
                  <a:gd name="T10" fmla="*/ 0 w 27"/>
                  <a:gd name="T11" fmla="*/ 0 h 587"/>
                  <a:gd name="T12" fmla="*/ 0 w 27"/>
                  <a:gd name="T13" fmla="*/ 0 h 587"/>
                  <a:gd name="T14" fmla="*/ 0 w 27"/>
                  <a:gd name="T15" fmla="*/ 0 h 587"/>
                  <a:gd name="T16" fmla="*/ 0 w 27"/>
                  <a:gd name="T17" fmla="*/ 0 h 587"/>
                  <a:gd name="T18" fmla="*/ 0 w 27"/>
                  <a:gd name="T19" fmla="*/ 0 h 587"/>
                  <a:gd name="T20" fmla="*/ 0 w 27"/>
                  <a:gd name="T21" fmla="*/ 0 h 587"/>
                  <a:gd name="T22" fmla="*/ 0 w 27"/>
                  <a:gd name="T23" fmla="*/ 0 h 587"/>
                  <a:gd name="T24" fmla="*/ 0 w 27"/>
                  <a:gd name="T25" fmla="*/ 0 h 587"/>
                  <a:gd name="T26" fmla="*/ 0 w 27"/>
                  <a:gd name="T27" fmla="*/ 0 h 587"/>
                  <a:gd name="T28" fmla="*/ 0 w 27"/>
                  <a:gd name="T29" fmla="*/ 0 h 587"/>
                  <a:gd name="T30" fmla="*/ 0 w 27"/>
                  <a:gd name="T31" fmla="*/ 0 h 587"/>
                  <a:gd name="T32" fmla="*/ 0 w 27"/>
                  <a:gd name="T33" fmla="*/ 0 h 587"/>
                  <a:gd name="T34" fmla="*/ 0 w 27"/>
                  <a:gd name="T35" fmla="*/ 0 h 587"/>
                  <a:gd name="T36" fmla="*/ 0 w 27"/>
                  <a:gd name="T37" fmla="*/ 0 h 58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87">
                    <a:moveTo>
                      <a:pt x="0" y="587"/>
                    </a:moveTo>
                    <a:lnTo>
                      <a:pt x="0" y="0"/>
                    </a:lnTo>
                    <a:lnTo>
                      <a:pt x="3" y="3"/>
                    </a:lnTo>
                    <a:lnTo>
                      <a:pt x="7" y="4"/>
                    </a:lnTo>
                    <a:lnTo>
                      <a:pt x="10" y="5"/>
                    </a:lnTo>
                    <a:lnTo>
                      <a:pt x="13" y="6"/>
                    </a:lnTo>
                    <a:lnTo>
                      <a:pt x="16" y="8"/>
                    </a:lnTo>
                    <a:lnTo>
                      <a:pt x="20" y="9"/>
                    </a:lnTo>
                    <a:lnTo>
                      <a:pt x="24" y="10"/>
                    </a:lnTo>
                    <a:lnTo>
                      <a:pt x="27" y="12"/>
                    </a:lnTo>
                    <a:lnTo>
                      <a:pt x="27" y="577"/>
                    </a:lnTo>
                    <a:lnTo>
                      <a:pt x="24" y="578"/>
                    </a:lnTo>
                    <a:lnTo>
                      <a:pt x="20" y="579"/>
                    </a:lnTo>
                    <a:lnTo>
                      <a:pt x="16" y="581"/>
                    </a:lnTo>
                    <a:lnTo>
                      <a:pt x="13" y="582"/>
                    </a:lnTo>
                    <a:lnTo>
                      <a:pt x="10" y="583"/>
                    </a:lnTo>
                    <a:lnTo>
                      <a:pt x="7" y="585"/>
                    </a:lnTo>
                    <a:lnTo>
                      <a:pt x="3" y="586"/>
                    </a:lnTo>
                    <a:lnTo>
                      <a:pt x="0" y="58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82" name="Freeform 4520"/>
              <p:cNvSpPr>
                <a:spLocks noChangeAspect="1"/>
              </p:cNvSpPr>
              <p:nvPr/>
            </p:nvSpPr>
            <p:spPr bwMode="auto">
              <a:xfrm>
                <a:off x="4442" y="1014"/>
                <a:ext cx="9" cy="192"/>
              </a:xfrm>
              <a:custGeom>
                <a:avLst/>
                <a:gdLst>
                  <a:gd name="T0" fmla="*/ 0 w 27"/>
                  <a:gd name="T1" fmla="*/ 0 h 576"/>
                  <a:gd name="T2" fmla="*/ 0 w 27"/>
                  <a:gd name="T3" fmla="*/ 0 h 576"/>
                  <a:gd name="T4" fmla="*/ 0 w 27"/>
                  <a:gd name="T5" fmla="*/ 0 h 576"/>
                  <a:gd name="T6" fmla="*/ 0 w 27"/>
                  <a:gd name="T7" fmla="*/ 0 h 576"/>
                  <a:gd name="T8" fmla="*/ 0 w 27"/>
                  <a:gd name="T9" fmla="*/ 0 h 576"/>
                  <a:gd name="T10" fmla="*/ 0 w 27"/>
                  <a:gd name="T11" fmla="*/ 0 h 576"/>
                  <a:gd name="T12" fmla="*/ 0 w 27"/>
                  <a:gd name="T13" fmla="*/ 0 h 576"/>
                  <a:gd name="T14" fmla="*/ 0 w 27"/>
                  <a:gd name="T15" fmla="*/ 0 h 576"/>
                  <a:gd name="T16" fmla="*/ 0 w 27"/>
                  <a:gd name="T17" fmla="*/ 0 h 576"/>
                  <a:gd name="T18" fmla="*/ 0 w 27"/>
                  <a:gd name="T19" fmla="*/ 0 h 576"/>
                  <a:gd name="T20" fmla="*/ 0 w 27"/>
                  <a:gd name="T21" fmla="*/ 0 h 576"/>
                  <a:gd name="T22" fmla="*/ 0 w 27"/>
                  <a:gd name="T23" fmla="*/ 0 h 576"/>
                  <a:gd name="T24" fmla="*/ 0 w 27"/>
                  <a:gd name="T25" fmla="*/ 0 h 576"/>
                  <a:gd name="T26" fmla="*/ 0 w 27"/>
                  <a:gd name="T27" fmla="*/ 0 h 576"/>
                  <a:gd name="T28" fmla="*/ 0 w 27"/>
                  <a:gd name="T29" fmla="*/ 0 h 576"/>
                  <a:gd name="T30" fmla="*/ 0 w 27"/>
                  <a:gd name="T31" fmla="*/ 0 h 576"/>
                  <a:gd name="T32" fmla="*/ 0 w 27"/>
                  <a:gd name="T33" fmla="*/ 0 h 576"/>
                  <a:gd name="T34" fmla="*/ 0 w 27"/>
                  <a:gd name="T35" fmla="*/ 0 h 576"/>
                  <a:gd name="T36" fmla="*/ 0 w 27"/>
                  <a:gd name="T37" fmla="*/ 0 h 5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76">
                    <a:moveTo>
                      <a:pt x="0" y="576"/>
                    </a:moveTo>
                    <a:lnTo>
                      <a:pt x="0" y="0"/>
                    </a:lnTo>
                    <a:lnTo>
                      <a:pt x="3" y="2"/>
                    </a:lnTo>
                    <a:lnTo>
                      <a:pt x="7" y="3"/>
                    </a:lnTo>
                    <a:lnTo>
                      <a:pt x="11" y="4"/>
                    </a:lnTo>
                    <a:lnTo>
                      <a:pt x="14" y="6"/>
                    </a:lnTo>
                    <a:lnTo>
                      <a:pt x="17" y="7"/>
                    </a:lnTo>
                    <a:lnTo>
                      <a:pt x="20" y="9"/>
                    </a:lnTo>
                    <a:lnTo>
                      <a:pt x="23" y="10"/>
                    </a:lnTo>
                    <a:lnTo>
                      <a:pt x="27" y="13"/>
                    </a:lnTo>
                    <a:lnTo>
                      <a:pt x="27" y="563"/>
                    </a:lnTo>
                    <a:lnTo>
                      <a:pt x="23" y="565"/>
                    </a:lnTo>
                    <a:lnTo>
                      <a:pt x="20" y="567"/>
                    </a:lnTo>
                    <a:lnTo>
                      <a:pt x="17" y="569"/>
                    </a:lnTo>
                    <a:lnTo>
                      <a:pt x="14" y="571"/>
                    </a:lnTo>
                    <a:lnTo>
                      <a:pt x="11" y="572"/>
                    </a:lnTo>
                    <a:lnTo>
                      <a:pt x="7" y="573"/>
                    </a:lnTo>
                    <a:lnTo>
                      <a:pt x="3" y="575"/>
                    </a:lnTo>
                    <a:lnTo>
                      <a:pt x="0" y="57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83" name="Freeform 4521"/>
              <p:cNvSpPr>
                <a:spLocks noChangeAspect="1"/>
              </p:cNvSpPr>
              <p:nvPr/>
            </p:nvSpPr>
            <p:spPr bwMode="auto">
              <a:xfrm>
                <a:off x="4446" y="1016"/>
                <a:ext cx="9" cy="189"/>
              </a:xfrm>
              <a:custGeom>
                <a:avLst/>
                <a:gdLst>
                  <a:gd name="T0" fmla="*/ 0 w 26"/>
                  <a:gd name="T1" fmla="*/ 0 h 565"/>
                  <a:gd name="T2" fmla="*/ 0 w 26"/>
                  <a:gd name="T3" fmla="*/ 0 h 565"/>
                  <a:gd name="T4" fmla="*/ 0 w 26"/>
                  <a:gd name="T5" fmla="*/ 0 h 565"/>
                  <a:gd name="T6" fmla="*/ 0 w 26"/>
                  <a:gd name="T7" fmla="*/ 0 h 565"/>
                  <a:gd name="T8" fmla="*/ 0 w 26"/>
                  <a:gd name="T9" fmla="*/ 0 h 565"/>
                  <a:gd name="T10" fmla="*/ 0 w 26"/>
                  <a:gd name="T11" fmla="*/ 0 h 565"/>
                  <a:gd name="T12" fmla="*/ 0 w 26"/>
                  <a:gd name="T13" fmla="*/ 0 h 565"/>
                  <a:gd name="T14" fmla="*/ 0 w 26"/>
                  <a:gd name="T15" fmla="*/ 0 h 565"/>
                  <a:gd name="T16" fmla="*/ 0 w 26"/>
                  <a:gd name="T17" fmla="*/ 0 h 565"/>
                  <a:gd name="T18" fmla="*/ 0 w 26"/>
                  <a:gd name="T19" fmla="*/ 0 h 565"/>
                  <a:gd name="T20" fmla="*/ 0 w 26"/>
                  <a:gd name="T21" fmla="*/ 0 h 565"/>
                  <a:gd name="T22" fmla="*/ 0 w 26"/>
                  <a:gd name="T23" fmla="*/ 0 h 565"/>
                  <a:gd name="T24" fmla="*/ 0 w 26"/>
                  <a:gd name="T25" fmla="*/ 0 h 565"/>
                  <a:gd name="T26" fmla="*/ 0 w 26"/>
                  <a:gd name="T27" fmla="*/ 0 h 565"/>
                  <a:gd name="T28" fmla="*/ 0 w 26"/>
                  <a:gd name="T29" fmla="*/ 0 h 565"/>
                  <a:gd name="T30" fmla="*/ 0 w 26"/>
                  <a:gd name="T31" fmla="*/ 0 h 565"/>
                  <a:gd name="T32" fmla="*/ 0 w 26"/>
                  <a:gd name="T33" fmla="*/ 0 h 565"/>
                  <a:gd name="T34" fmla="*/ 0 w 26"/>
                  <a:gd name="T35" fmla="*/ 0 h 565"/>
                  <a:gd name="T36" fmla="*/ 0 w 26"/>
                  <a:gd name="T37" fmla="*/ 0 h 5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65">
                    <a:moveTo>
                      <a:pt x="0" y="565"/>
                    </a:moveTo>
                    <a:lnTo>
                      <a:pt x="0" y="0"/>
                    </a:lnTo>
                    <a:lnTo>
                      <a:pt x="3" y="1"/>
                    </a:lnTo>
                    <a:lnTo>
                      <a:pt x="6" y="3"/>
                    </a:lnTo>
                    <a:lnTo>
                      <a:pt x="9" y="5"/>
                    </a:lnTo>
                    <a:lnTo>
                      <a:pt x="13" y="7"/>
                    </a:lnTo>
                    <a:lnTo>
                      <a:pt x="16" y="9"/>
                    </a:lnTo>
                    <a:lnTo>
                      <a:pt x="20" y="10"/>
                    </a:lnTo>
                    <a:lnTo>
                      <a:pt x="23" y="12"/>
                    </a:lnTo>
                    <a:lnTo>
                      <a:pt x="26" y="14"/>
                    </a:lnTo>
                    <a:lnTo>
                      <a:pt x="26" y="551"/>
                    </a:lnTo>
                    <a:lnTo>
                      <a:pt x="23" y="552"/>
                    </a:lnTo>
                    <a:lnTo>
                      <a:pt x="20" y="554"/>
                    </a:lnTo>
                    <a:lnTo>
                      <a:pt x="16" y="556"/>
                    </a:lnTo>
                    <a:lnTo>
                      <a:pt x="13" y="557"/>
                    </a:lnTo>
                    <a:lnTo>
                      <a:pt x="9" y="559"/>
                    </a:lnTo>
                    <a:lnTo>
                      <a:pt x="6" y="561"/>
                    </a:lnTo>
                    <a:lnTo>
                      <a:pt x="3" y="563"/>
                    </a:lnTo>
                    <a:lnTo>
                      <a:pt x="0" y="56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84" name="Freeform 4522"/>
              <p:cNvSpPr>
                <a:spLocks noChangeAspect="1"/>
              </p:cNvSpPr>
              <p:nvPr/>
            </p:nvSpPr>
            <p:spPr bwMode="auto">
              <a:xfrm>
                <a:off x="4451" y="1019"/>
                <a:ext cx="8" cy="183"/>
              </a:xfrm>
              <a:custGeom>
                <a:avLst/>
                <a:gdLst>
                  <a:gd name="T0" fmla="*/ 0 w 26"/>
                  <a:gd name="T1" fmla="*/ 0 h 550"/>
                  <a:gd name="T2" fmla="*/ 0 w 26"/>
                  <a:gd name="T3" fmla="*/ 0 h 550"/>
                  <a:gd name="T4" fmla="*/ 0 w 26"/>
                  <a:gd name="T5" fmla="*/ 0 h 550"/>
                  <a:gd name="T6" fmla="*/ 0 w 26"/>
                  <a:gd name="T7" fmla="*/ 0 h 550"/>
                  <a:gd name="T8" fmla="*/ 0 w 26"/>
                  <a:gd name="T9" fmla="*/ 0 h 550"/>
                  <a:gd name="T10" fmla="*/ 0 w 26"/>
                  <a:gd name="T11" fmla="*/ 0 h 550"/>
                  <a:gd name="T12" fmla="*/ 0 w 26"/>
                  <a:gd name="T13" fmla="*/ 0 h 550"/>
                  <a:gd name="T14" fmla="*/ 0 w 26"/>
                  <a:gd name="T15" fmla="*/ 0 h 550"/>
                  <a:gd name="T16" fmla="*/ 0 w 26"/>
                  <a:gd name="T17" fmla="*/ 0 h 550"/>
                  <a:gd name="T18" fmla="*/ 0 w 26"/>
                  <a:gd name="T19" fmla="*/ 0 h 550"/>
                  <a:gd name="T20" fmla="*/ 0 w 26"/>
                  <a:gd name="T21" fmla="*/ 0 h 550"/>
                  <a:gd name="T22" fmla="*/ 0 w 26"/>
                  <a:gd name="T23" fmla="*/ 0 h 550"/>
                  <a:gd name="T24" fmla="*/ 0 w 26"/>
                  <a:gd name="T25" fmla="*/ 0 h 550"/>
                  <a:gd name="T26" fmla="*/ 0 w 26"/>
                  <a:gd name="T27" fmla="*/ 0 h 550"/>
                  <a:gd name="T28" fmla="*/ 0 w 26"/>
                  <a:gd name="T29" fmla="*/ 0 h 550"/>
                  <a:gd name="T30" fmla="*/ 0 w 26"/>
                  <a:gd name="T31" fmla="*/ 0 h 550"/>
                  <a:gd name="T32" fmla="*/ 0 w 26"/>
                  <a:gd name="T33" fmla="*/ 0 h 550"/>
                  <a:gd name="T34" fmla="*/ 0 w 26"/>
                  <a:gd name="T35" fmla="*/ 0 h 550"/>
                  <a:gd name="T36" fmla="*/ 0 w 26"/>
                  <a:gd name="T37" fmla="*/ 0 h 5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550">
                    <a:moveTo>
                      <a:pt x="0" y="550"/>
                    </a:moveTo>
                    <a:lnTo>
                      <a:pt x="0" y="0"/>
                    </a:lnTo>
                    <a:lnTo>
                      <a:pt x="3" y="2"/>
                    </a:lnTo>
                    <a:lnTo>
                      <a:pt x="7" y="3"/>
                    </a:lnTo>
                    <a:lnTo>
                      <a:pt x="10" y="5"/>
                    </a:lnTo>
                    <a:lnTo>
                      <a:pt x="13" y="7"/>
                    </a:lnTo>
                    <a:lnTo>
                      <a:pt x="17" y="9"/>
                    </a:lnTo>
                    <a:lnTo>
                      <a:pt x="20" y="11"/>
                    </a:lnTo>
                    <a:lnTo>
                      <a:pt x="23" y="13"/>
                    </a:lnTo>
                    <a:lnTo>
                      <a:pt x="26" y="15"/>
                    </a:lnTo>
                    <a:lnTo>
                      <a:pt x="26" y="535"/>
                    </a:lnTo>
                    <a:lnTo>
                      <a:pt x="23" y="537"/>
                    </a:lnTo>
                    <a:lnTo>
                      <a:pt x="20" y="540"/>
                    </a:lnTo>
                    <a:lnTo>
                      <a:pt x="17" y="542"/>
                    </a:lnTo>
                    <a:lnTo>
                      <a:pt x="13" y="543"/>
                    </a:lnTo>
                    <a:lnTo>
                      <a:pt x="10" y="545"/>
                    </a:lnTo>
                    <a:lnTo>
                      <a:pt x="7" y="547"/>
                    </a:lnTo>
                    <a:lnTo>
                      <a:pt x="3" y="549"/>
                    </a:lnTo>
                    <a:lnTo>
                      <a:pt x="0" y="55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85" name="Freeform 4523"/>
              <p:cNvSpPr>
                <a:spLocks noChangeAspect="1"/>
              </p:cNvSpPr>
              <p:nvPr/>
            </p:nvSpPr>
            <p:spPr bwMode="auto">
              <a:xfrm>
                <a:off x="4455" y="1021"/>
                <a:ext cx="9" cy="179"/>
              </a:xfrm>
              <a:custGeom>
                <a:avLst/>
                <a:gdLst>
                  <a:gd name="T0" fmla="*/ 0 w 27"/>
                  <a:gd name="T1" fmla="*/ 0 h 537"/>
                  <a:gd name="T2" fmla="*/ 0 w 27"/>
                  <a:gd name="T3" fmla="*/ 0 h 537"/>
                  <a:gd name="T4" fmla="*/ 0 w 27"/>
                  <a:gd name="T5" fmla="*/ 0 h 537"/>
                  <a:gd name="T6" fmla="*/ 0 w 27"/>
                  <a:gd name="T7" fmla="*/ 0 h 537"/>
                  <a:gd name="T8" fmla="*/ 0 w 27"/>
                  <a:gd name="T9" fmla="*/ 0 h 537"/>
                  <a:gd name="T10" fmla="*/ 0 w 27"/>
                  <a:gd name="T11" fmla="*/ 0 h 537"/>
                  <a:gd name="T12" fmla="*/ 0 w 27"/>
                  <a:gd name="T13" fmla="*/ 0 h 537"/>
                  <a:gd name="T14" fmla="*/ 0 w 27"/>
                  <a:gd name="T15" fmla="*/ 0 h 537"/>
                  <a:gd name="T16" fmla="*/ 0 w 27"/>
                  <a:gd name="T17" fmla="*/ 0 h 537"/>
                  <a:gd name="T18" fmla="*/ 0 w 27"/>
                  <a:gd name="T19" fmla="*/ 0 h 537"/>
                  <a:gd name="T20" fmla="*/ 0 w 27"/>
                  <a:gd name="T21" fmla="*/ 0 h 537"/>
                  <a:gd name="T22" fmla="*/ 0 w 27"/>
                  <a:gd name="T23" fmla="*/ 0 h 537"/>
                  <a:gd name="T24" fmla="*/ 0 w 27"/>
                  <a:gd name="T25" fmla="*/ 0 h 537"/>
                  <a:gd name="T26" fmla="*/ 0 w 27"/>
                  <a:gd name="T27" fmla="*/ 0 h 537"/>
                  <a:gd name="T28" fmla="*/ 0 w 27"/>
                  <a:gd name="T29" fmla="*/ 0 h 537"/>
                  <a:gd name="T30" fmla="*/ 0 w 27"/>
                  <a:gd name="T31" fmla="*/ 0 h 537"/>
                  <a:gd name="T32" fmla="*/ 0 w 27"/>
                  <a:gd name="T33" fmla="*/ 0 h 537"/>
                  <a:gd name="T34" fmla="*/ 0 w 27"/>
                  <a:gd name="T35" fmla="*/ 0 h 537"/>
                  <a:gd name="T36" fmla="*/ 0 w 27"/>
                  <a:gd name="T37" fmla="*/ 0 h 5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37">
                    <a:moveTo>
                      <a:pt x="0" y="537"/>
                    </a:moveTo>
                    <a:lnTo>
                      <a:pt x="0" y="0"/>
                    </a:lnTo>
                    <a:lnTo>
                      <a:pt x="4" y="2"/>
                    </a:lnTo>
                    <a:lnTo>
                      <a:pt x="7" y="4"/>
                    </a:lnTo>
                    <a:lnTo>
                      <a:pt x="10" y="6"/>
                    </a:lnTo>
                    <a:lnTo>
                      <a:pt x="13" y="8"/>
                    </a:lnTo>
                    <a:lnTo>
                      <a:pt x="16" y="11"/>
                    </a:lnTo>
                    <a:lnTo>
                      <a:pt x="21" y="13"/>
                    </a:lnTo>
                    <a:lnTo>
                      <a:pt x="24" y="15"/>
                    </a:lnTo>
                    <a:lnTo>
                      <a:pt x="27" y="17"/>
                    </a:lnTo>
                    <a:lnTo>
                      <a:pt x="27" y="520"/>
                    </a:lnTo>
                    <a:lnTo>
                      <a:pt x="24" y="522"/>
                    </a:lnTo>
                    <a:lnTo>
                      <a:pt x="21" y="524"/>
                    </a:lnTo>
                    <a:lnTo>
                      <a:pt x="16" y="526"/>
                    </a:lnTo>
                    <a:lnTo>
                      <a:pt x="13" y="528"/>
                    </a:lnTo>
                    <a:lnTo>
                      <a:pt x="10" y="530"/>
                    </a:lnTo>
                    <a:lnTo>
                      <a:pt x="7" y="533"/>
                    </a:lnTo>
                    <a:lnTo>
                      <a:pt x="4" y="535"/>
                    </a:lnTo>
                    <a:lnTo>
                      <a:pt x="0" y="53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86" name="Freeform 4524"/>
              <p:cNvSpPr>
                <a:spLocks noChangeAspect="1"/>
              </p:cNvSpPr>
              <p:nvPr/>
            </p:nvSpPr>
            <p:spPr bwMode="auto">
              <a:xfrm>
                <a:off x="4459" y="1024"/>
                <a:ext cx="9" cy="173"/>
              </a:xfrm>
              <a:custGeom>
                <a:avLst/>
                <a:gdLst>
                  <a:gd name="T0" fmla="*/ 0 w 27"/>
                  <a:gd name="T1" fmla="*/ 0 h 520"/>
                  <a:gd name="T2" fmla="*/ 0 w 27"/>
                  <a:gd name="T3" fmla="*/ 0 h 520"/>
                  <a:gd name="T4" fmla="*/ 0 w 27"/>
                  <a:gd name="T5" fmla="*/ 0 h 520"/>
                  <a:gd name="T6" fmla="*/ 0 w 27"/>
                  <a:gd name="T7" fmla="*/ 0 h 520"/>
                  <a:gd name="T8" fmla="*/ 0 w 27"/>
                  <a:gd name="T9" fmla="*/ 0 h 520"/>
                  <a:gd name="T10" fmla="*/ 0 w 27"/>
                  <a:gd name="T11" fmla="*/ 0 h 520"/>
                  <a:gd name="T12" fmla="*/ 0 w 27"/>
                  <a:gd name="T13" fmla="*/ 0 h 520"/>
                  <a:gd name="T14" fmla="*/ 0 w 27"/>
                  <a:gd name="T15" fmla="*/ 0 h 520"/>
                  <a:gd name="T16" fmla="*/ 0 w 27"/>
                  <a:gd name="T17" fmla="*/ 0 h 520"/>
                  <a:gd name="T18" fmla="*/ 0 w 27"/>
                  <a:gd name="T19" fmla="*/ 0 h 520"/>
                  <a:gd name="T20" fmla="*/ 0 w 27"/>
                  <a:gd name="T21" fmla="*/ 0 h 520"/>
                  <a:gd name="T22" fmla="*/ 0 w 27"/>
                  <a:gd name="T23" fmla="*/ 0 h 520"/>
                  <a:gd name="T24" fmla="*/ 0 w 27"/>
                  <a:gd name="T25" fmla="*/ 0 h 520"/>
                  <a:gd name="T26" fmla="*/ 0 w 27"/>
                  <a:gd name="T27" fmla="*/ 0 h 520"/>
                  <a:gd name="T28" fmla="*/ 0 w 27"/>
                  <a:gd name="T29" fmla="*/ 0 h 520"/>
                  <a:gd name="T30" fmla="*/ 0 w 27"/>
                  <a:gd name="T31" fmla="*/ 0 h 520"/>
                  <a:gd name="T32" fmla="*/ 0 w 27"/>
                  <a:gd name="T33" fmla="*/ 0 h 520"/>
                  <a:gd name="T34" fmla="*/ 0 w 27"/>
                  <a:gd name="T35" fmla="*/ 0 h 520"/>
                  <a:gd name="T36" fmla="*/ 0 w 27"/>
                  <a:gd name="T37" fmla="*/ 0 h 5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20">
                    <a:moveTo>
                      <a:pt x="0" y="520"/>
                    </a:moveTo>
                    <a:lnTo>
                      <a:pt x="0" y="0"/>
                    </a:lnTo>
                    <a:lnTo>
                      <a:pt x="3" y="3"/>
                    </a:lnTo>
                    <a:lnTo>
                      <a:pt x="8" y="5"/>
                    </a:lnTo>
                    <a:lnTo>
                      <a:pt x="11" y="7"/>
                    </a:lnTo>
                    <a:lnTo>
                      <a:pt x="14" y="9"/>
                    </a:lnTo>
                    <a:lnTo>
                      <a:pt x="17" y="11"/>
                    </a:lnTo>
                    <a:lnTo>
                      <a:pt x="20" y="14"/>
                    </a:lnTo>
                    <a:lnTo>
                      <a:pt x="24" y="16"/>
                    </a:lnTo>
                    <a:lnTo>
                      <a:pt x="27" y="19"/>
                    </a:lnTo>
                    <a:lnTo>
                      <a:pt x="27" y="501"/>
                    </a:lnTo>
                    <a:lnTo>
                      <a:pt x="24" y="503"/>
                    </a:lnTo>
                    <a:lnTo>
                      <a:pt x="20" y="507"/>
                    </a:lnTo>
                    <a:lnTo>
                      <a:pt x="17" y="509"/>
                    </a:lnTo>
                    <a:lnTo>
                      <a:pt x="14" y="511"/>
                    </a:lnTo>
                    <a:lnTo>
                      <a:pt x="11" y="514"/>
                    </a:lnTo>
                    <a:lnTo>
                      <a:pt x="8" y="516"/>
                    </a:lnTo>
                    <a:lnTo>
                      <a:pt x="3" y="518"/>
                    </a:lnTo>
                    <a:lnTo>
                      <a:pt x="0" y="52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87" name="Freeform 4525"/>
              <p:cNvSpPr>
                <a:spLocks noChangeAspect="1"/>
              </p:cNvSpPr>
              <p:nvPr/>
            </p:nvSpPr>
            <p:spPr bwMode="auto">
              <a:xfrm>
                <a:off x="4464" y="1027"/>
                <a:ext cx="9" cy="167"/>
              </a:xfrm>
              <a:custGeom>
                <a:avLst/>
                <a:gdLst>
                  <a:gd name="T0" fmla="*/ 0 w 27"/>
                  <a:gd name="T1" fmla="*/ 0 h 503"/>
                  <a:gd name="T2" fmla="*/ 0 w 27"/>
                  <a:gd name="T3" fmla="*/ 0 h 503"/>
                  <a:gd name="T4" fmla="*/ 0 w 27"/>
                  <a:gd name="T5" fmla="*/ 0 h 503"/>
                  <a:gd name="T6" fmla="*/ 0 w 27"/>
                  <a:gd name="T7" fmla="*/ 0 h 503"/>
                  <a:gd name="T8" fmla="*/ 0 w 27"/>
                  <a:gd name="T9" fmla="*/ 0 h 503"/>
                  <a:gd name="T10" fmla="*/ 0 w 27"/>
                  <a:gd name="T11" fmla="*/ 0 h 503"/>
                  <a:gd name="T12" fmla="*/ 0 w 27"/>
                  <a:gd name="T13" fmla="*/ 0 h 503"/>
                  <a:gd name="T14" fmla="*/ 0 w 27"/>
                  <a:gd name="T15" fmla="*/ 0 h 503"/>
                  <a:gd name="T16" fmla="*/ 0 w 27"/>
                  <a:gd name="T17" fmla="*/ 0 h 503"/>
                  <a:gd name="T18" fmla="*/ 0 w 27"/>
                  <a:gd name="T19" fmla="*/ 0 h 503"/>
                  <a:gd name="T20" fmla="*/ 0 w 27"/>
                  <a:gd name="T21" fmla="*/ 0 h 503"/>
                  <a:gd name="T22" fmla="*/ 0 w 27"/>
                  <a:gd name="T23" fmla="*/ 0 h 503"/>
                  <a:gd name="T24" fmla="*/ 0 w 27"/>
                  <a:gd name="T25" fmla="*/ 0 h 503"/>
                  <a:gd name="T26" fmla="*/ 0 w 27"/>
                  <a:gd name="T27" fmla="*/ 0 h 503"/>
                  <a:gd name="T28" fmla="*/ 0 w 27"/>
                  <a:gd name="T29" fmla="*/ 0 h 503"/>
                  <a:gd name="T30" fmla="*/ 0 w 27"/>
                  <a:gd name="T31" fmla="*/ 0 h 503"/>
                  <a:gd name="T32" fmla="*/ 0 w 27"/>
                  <a:gd name="T33" fmla="*/ 0 h 503"/>
                  <a:gd name="T34" fmla="*/ 0 w 27"/>
                  <a:gd name="T35" fmla="*/ 0 h 503"/>
                  <a:gd name="T36" fmla="*/ 0 w 27"/>
                  <a:gd name="T37" fmla="*/ 0 h 5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503">
                    <a:moveTo>
                      <a:pt x="0" y="503"/>
                    </a:moveTo>
                    <a:lnTo>
                      <a:pt x="0" y="0"/>
                    </a:lnTo>
                    <a:lnTo>
                      <a:pt x="3" y="2"/>
                    </a:lnTo>
                    <a:lnTo>
                      <a:pt x="6" y="5"/>
                    </a:lnTo>
                    <a:lnTo>
                      <a:pt x="10" y="7"/>
                    </a:lnTo>
                    <a:lnTo>
                      <a:pt x="13" y="11"/>
                    </a:lnTo>
                    <a:lnTo>
                      <a:pt x="16" y="13"/>
                    </a:lnTo>
                    <a:lnTo>
                      <a:pt x="19" y="16"/>
                    </a:lnTo>
                    <a:lnTo>
                      <a:pt x="23" y="18"/>
                    </a:lnTo>
                    <a:lnTo>
                      <a:pt x="27" y="21"/>
                    </a:lnTo>
                    <a:lnTo>
                      <a:pt x="27" y="482"/>
                    </a:lnTo>
                    <a:lnTo>
                      <a:pt x="23" y="484"/>
                    </a:lnTo>
                    <a:lnTo>
                      <a:pt x="19" y="487"/>
                    </a:lnTo>
                    <a:lnTo>
                      <a:pt x="16" y="489"/>
                    </a:lnTo>
                    <a:lnTo>
                      <a:pt x="13" y="492"/>
                    </a:lnTo>
                    <a:lnTo>
                      <a:pt x="10" y="494"/>
                    </a:lnTo>
                    <a:lnTo>
                      <a:pt x="6" y="498"/>
                    </a:lnTo>
                    <a:lnTo>
                      <a:pt x="3" y="500"/>
                    </a:lnTo>
                    <a:lnTo>
                      <a:pt x="0" y="503"/>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88" name="Freeform 4526"/>
              <p:cNvSpPr>
                <a:spLocks noChangeAspect="1"/>
              </p:cNvSpPr>
              <p:nvPr/>
            </p:nvSpPr>
            <p:spPr bwMode="auto">
              <a:xfrm>
                <a:off x="4468" y="1030"/>
                <a:ext cx="9" cy="161"/>
              </a:xfrm>
              <a:custGeom>
                <a:avLst/>
                <a:gdLst>
                  <a:gd name="T0" fmla="*/ 0 w 26"/>
                  <a:gd name="T1" fmla="*/ 0 h 482"/>
                  <a:gd name="T2" fmla="*/ 0 w 26"/>
                  <a:gd name="T3" fmla="*/ 0 h 482"/>
                  <a:gd name="T4" fmla="*/ 0 w 26"/>
                  <a:gd name="T5" fmla="*/ 0 h 482"/>
                  <a:gd name="T6" fmla="*/ 0 w 26"/>
                  <a:gd name="T7" fmla="*/ 0 h 482"/>
                  <a:gd name="T8" fmla="*/ 0 w 26"/>
                  <a:gd name="T9" fmla="*/ 0 h 482"/>
                  <a:gd name="T10" fmla="*/ 0 w 26"/>
                  <a:gd name="T11" fmla="*/ 0 h 482"/>
                  <a:gd name="T12" fmla="*/ 0 w 26"/>
                  <a:gd name="T13" fmla="*/ 0 h 482"/>
                  <a:gd name="T14" fmla="*/ 0 w 26"/>
                  <a:gd name="T15" fmla="*/ 0 h 482"/>
                  <a:gd name="T16" fmla="*/ 0 w 26"/>
                  <a:gd name="T17" fmla="*/ 0 h 482"/>
                  <a:gd name="T18" fmla="*/ 0 w 26"/>
                  <a:gd name="T19" fmla="*/ 0 h 482"/>
                  <a:gd name="T20" fmla="*/ 0 w 26"/>
                  <a:gd name="T21" fmla="*/ 0 h 482"/>
                  <a:gd name="T22" fmla="*/ 0 w 26"/>
                  <a:gd name="T23" fmla="*/ 0 h 482"/>
                  <a:gd name="T24" fmla="*/ 0 w 26"/>
                  <a:gd name="T25" fmla="*/ 0 h 482"/>
                  <a:gd name="T26" fmla="*/ 0 w 26"/>
                  <a:gd name="T27" fmla="*/ 0 h 482"/>
                  <a:gd name="T28" fmla="*/ 0 w 26"/>
                  <a:gd name="T29" fmla="*/ 0 h 482"/>
                  <a:gd name="T30" fmla="*/ 0 w 26"/>
                  <a:gd name="T31" fmla="*/ 0 h 482"/>
                  <a:gd name="T32" fmla="*/ 0 w 26"/>
                  <a:gd name="T33" fmla="*/ 0 h 482"/>
                  <a:gd name="T34" fmla="*/ 0 w 26"/>
                  <a:gd name="T35" fmla="*/ 0 h 482"/>
                  <a:gd name="T36" fmla="*/ 0 w 26"/>
                  <a:gd name="T37" fmla="*/ 0 h 48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482">
                    <a:moveTo>
                      <a:pt x="0" y="482"/>
                    </a:moveTo>
                    <a:lnTo>
                      <a:pt x="0" y="0"/>
                    </a:lnTo>
                    <a:lnTo>
                      <a:pt x="3" y="3"/>
                    </a:lnTo>
                    <a:lnTo>
                      <a:pt x="7" y="6"/>
                    </a:lnTo>
                    <a:lnTo>
                      <a:pt x="10" y="8"/>
                    </a:lnTo>
                    <a:lnTo>
                      <a:pt x="14" y="11"/>
                    </a:lnTo>
                    <a:lnTo>
                      <a:pt x="17" y="14"/>
                    </a:lnTo>
                    <a:lnTo>
                      <a:pt x="20" y="18"/>
                    </a:lnTo>
                    <a:lnTo>
                      <a:pt x="23" y="21"/>
                    </a:lnTo>
                    <a:lnTo>
                      <a:pt x="26" y="23"/>
                    </a:lnTo>
                    <a:lnTo>
                      <a:pt x="26" y="459"/>
                    </a:lnTo>
                    <a:lnTo>
                      <a:pt x="23" y="462"/>
                    </a:lnTo>
                    <a:lnTo>
                      <a:pt x="20" y="465"/>
                    </a:lnTo>
                    <a:lnTo>
                      <a:pt x="17" y="468"/>
                    </a:lnTo>
                    <a:lnTo>
                      <a:pt x="14" y="470"/>
                    </a:lnTo>
                    <a:lnTo>
                      <a:pt x="10" y="474"/>
                    </a:lnTo>
                    <a:lnTo>
                      <a:pt x="7" y="477"/>
                    </a:lnTo>
                    <a:lnTo>
                      <a:pt x="3" y="479"/>
                    </a:lnTo>
                    <a:lnTo>
                      <a:pt x="0" y="48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89" name="Freeform 4527"/>
              <p:cNvSpPr>
                <a:spLocks noChangeAspect="1"/>
              </p:cNvSpPr>
              <p:nvPr/>
            </p:nvSpPr>
            <p:spPr bwMode="auto">
              <a:xfrm>
                <a:off x="4473" y="1034"/>
                <a:ext cx="8" cy="153"/>
              </a:xfrm>
              <a:custGeom>
                <a:avLst/>
                <a:gdLst>
                  <a:gd name="T0" fmla="*/ 0 w 25"/>
                  <a:gd name="T1" fmla="*/ 0 h 461"/>
                  <a:gd name="T2" fmla="*/ 0 w 25"/>
                  <a:gd name="T3" fmla="*/ 0 h 461"/>
                  <a:gd name="T4" fmla="*/ 0 w 25"/>
                  <a:gd name="T5" fmla="*/ 0 h 461"/>
                  <a:gd name="T6" fmla="*/ 0 w 25"/>
                  <a:gd name="T7" fmla="*/ 0 h 461"/>
                  <a:gd name="T8" fmla="*/ 0 w 25"/>
                  <a:gd name="T9" fmla="*/ 0 h 461"/>
                  <a:gd name="T10" fmla="*/ 0 w 25"/>
                  <a:gd name="T11" fmla="*/ 0 h 461"/>
                  <a:gd name="T12" fmla="*/ 0 w 25"/>
                  <a:gd name="T13" fmla="*/ 0 h 461"/>
                  <a:gd name="T14" fmla="*/ 0 w 25"/>
                  <a:gd name="T15" fmla="*/ 0 h 461"/>
                  <a:gd name="T16" fmla="*/ 0 w 25"/>
                  <a:gd name="T17" fmla="*/ 0 h 461"/>
                  <a:gd name="T18" fmla="*/ 0 w 25"/>
                  <a:gd name="T19" fmla="*/ 0 h 461"/>
                  <a:gd name="T20" fmla="*/ 0 w 25"/>
                  <a:gd name="T21" fmla="*/ 0 h 461"/>
                  <a:gd name="T22" fmla="*/ 0 w 25"/>
                  <a:gd name="T23" fmla="*/ 0 h 461"/>
                  <a:gd name="T24" fmla="*/ 0 w 25"/>
                  <a:gd name="T25" fmla="*/ 0 h 461"/>
                  <a:gd name="T26" fmla="*/ 0 w 25"/>
                  <a:gd name="T27" fmla="*/ 0 h 461"/>
                  <a:gd name="T28" fmla="*/ 0 w 25"/>
                  <a:gd name="T29" fmla="*/ 0 h 461"/>
                  <a:gd name="T30" fmla="*/ 0 w 25"/>
                  <a:gd name="T31" fmla="*/ 0 h 461"/>
                  <a:gd name="T32" fmla="*/ 0 w 25"/>
                  <a:gd name="T33" fmla="*/ 0 h 461"/>
                  <a:gd name="T34" fmla="*/ 0 w 25"/>
                  <a:gd name="T35" fmla="*/ 0 h 461"/>
                  <a:gd name="T36" fmla="*/ 0 w 25"/>
                  <a:gd name="T37" fmla="*/ 0 h 4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5" h="461">
                    <a:moveTo>
                      <a:pt x="0" y="461"/>
                    </a:moveTo>
                    <a:lnTo>
                      <a:pt x="0" y="0"/>
                    </a:lnTo>
                    <a:lnTo>
                      <a:pt x="3" y="3"/>
                    </a:lnTo>
                    <a:lnTo>
                      <a:pt x="6" y="7"/>
                    </a:lnTo>
                    <a:lnTo>
                      <a:pt x="9" y="10"/>
                    </a:lnTo>
                    <a:lnTo>
                      <a:pt x="12" y="13"/>
                    </a:lnTo>
                    <a:lnTo>
                      <a:pt x="16" y="16"/>
                    </a:lnTo>
                    <a:lnTo>
                      <a:pt x="20" y="19"/>
                    </a:lnTo>
                    <a:lnTo>
                      <a:pt x="23" y="23"/>
                    </a:lnTo>
                    <a:lnTo>
                      <a:pt x="25" y="26"/>
                    </a:lnTo>
                    <a:lnTo>
                      <a:pt x="25" y="434"/>
                    </a:lnTo>
                    <a:lnTo>
                      <a:pt x="23" y="437"/>
                    </a:lnTo>
                    <a:lnTo>
                      <a:pt x="20" y="440"/>
                    </a:lnTo>
                    <a:lnTo>
                      <a:pt x="16" y="445"/>
                    </a:lnTo>
                    <a:lnTo>
                      <a:pt x="12" y="448"/>
                    </a:lnTo>
                    <a:lnTo>
                      <a:pt x="9" y="451"/>
                    </a:lnTo>
                    <a:lnTo>
                      <a:pt x="6" y="454"/>
                    </a:lnTo>
                    <a:lnTo>
                      <a:pt x="3" y="457"/>
                    </a:lnTo>
                    <a:lnTo>
                      <a:pt x="0" y="46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90" name="Freeform 4528"/>
              <p:cNvSpPr>
                <a:spLocks noChangeAspect="1"/>
              </p:cNvSpPr>
              <p:nvPr/>
            </p:nvSpPr>
            <p:spPr bwMode="auto">
              <a:xfrm>
                <a:off x="4477" y="1038"/>
                <a:ext cx="9" cy="145"/>
              </a:xfrm>
              <a:custGeom>
                <a:avLst/>
                <a:gdLst>
                  <a:gd name="T0" fmla="*/ 0 w 27"/>
                  <a:gd name="T1" fmla="*/ 0 h 436"/>
                  <a:gd name="T2" fmla="*/ 0 w 27"/>
                  <a:gd name="T3" fmla="*/ 0 h 436"/>
                  <a:gd name="T4" fmla="*/ 0 w 27"/>
                  <a:gd name="T5" fmla="*/ 0 h 436"/>
                  <a:gd name="T6" fmla="*/ 0 w 27"/>
                  <a:gd name="T7" fmla="*/ 0 h 436"/>
                  <a:gd name="T8" fmla="*/ 0 w 27"/>
                  <a:gd name="T9" fmla="*/ 0 h 436"/>
                  <a:gd name="T10" fmla="*/ 0 w 27"/>
                  <a:gd name="T11" fmla="*/ 0 h 436"/>
                  <a:gd name="T12" fmla="*/ 0 w 27"/>
                  <a:gd name="T13" fmla="*/ 0 h 436"/>
                  <a:gd name="T14" fmla="*/ 0 w 27"/>
                  <a:gd name="T15" fmla="*/ 0 h 436"/>
                  <a:gd name="T16" fmla="*/ 0 w 27"/>
                  <a:gd name="T17" fmla="*/ 0 h 436"/>
                  <a:gd name="T18" fmla="*/ 0 w 27"/>
                  <a:gd name="T19" fmla="*/ 0 h 436"/>
                  <a:gd name="T20" fmla="*/ 0 w 27"/>
                  <a:gd name="T21" fmla="*/ 0 h 436"/>
                  <a:gd name="T22" fmla="*/ 0 w 27"/>
                  <a:gd name="T23" fmla="*/ 0 h 436"/>
                  <a:gd name="T24" fmla="*/ 0 w 27"/>
                  <a:gd name="T25" fmla="*/ 0 h 436"/>
                  <a:gd name="T26" fmla="*/ 0 w 27"/>
                  <a:gd name="T27" fmla="*/ 0 h 436"/>
                  <a:gd name="T28" fmla="*/ 0 w 27"/>
                  <a:gd name="T29" fmla="*/ 0 h 436"/>
                  <a:gd name="T30" fmla="*/ 0 w 27"/>
                  <a:gd name="T31" fmla="*/ 0 h 436"/>
                  <a:gd name="T32" fmla="*/ 0 w 27"/>
                  <a:gd name="T33" fmla="*/ 0 h 436"/>
                  <a:gd name="T34" fmla="*/ 0 w 27"/>
                  <a:gd name="T35" fmla="*/ 0 h 436"/>
                  <a:gd name="T36" fmla="*/ 0 w 27"/>
                  <a:gd name="T37" fmla="*/ 0 h 4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36">
                    <a:moveTo>
                      <a:pt x="0" y="436"/>
                    </a:moveTo>
                    <a:lnTo>
                      <a:pt x="0" y="0"/>
                    </a:lnTo>
                    <a:lnTo>
                      <a:pt x="4" y="4"/>
                    </a:lnTo>
                    <a:lnTo>
                      <a:pt x="8" y="7"/>
                    </a:lnTo>
                    <a:lnTo>
                      <a:pt x="11" y="12"/>
                    </a:lnTo>
                    <a:lnTo>
                      <a:pt x="14" y="15"/>
                    </a:lnTo>
                    <a:lnTo>
                      <a:pt x="17" y="18"/>
                    </a:lnTo>
                    <a:lnTo>
                      <a:pt x="21" y="22"/>
                    </a:lnTo>
                    <a:lnTo>
                      <a:pt x="24" y="26"/>
                    </a:lnTo>
                    <a:lnTo>
                      <a:pt x="27" y="30"/>
                    </a:lnTo>
                    <a:lnTo>
                      <a:pt x="27" y="406"/>
                    </a:lnTo>
                    <a:lnTo>
                      <a:pt x="24" y="410"/>
                    </a:lnTo>
                    <a:lnTo>
                      <a:pt x="21" y="415"/>
                    </a:lnTo>
                    <a:lnTo>
                      <a:pt x="17" y="418"/>
                    </a:lnTo>
                    <a:lnTo>
                      <a:pt x="14" y="422"/>
                    </a:lnTo>
                    <a:lnTo>
                      <a:pt x="11" y="425"/>
                    </a:lnTo>
                    <a:lnTo>
                      <a:pt x="8" y="428"/>
                    </a:lnTo>
                    <a:lnTo>
                      <a:pt x="4" y="433"/>
                    </a:lnTo>
                    <a:lnTo>
                      <a:pt x="0" y="43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91" name="Freeform 4529"/>
              <p:cNvSpPr>
                <a:spLocks noChangeAspect="1"/>
              </p:cNvSpPr>
              <p:nvPr/>
            </p:nvSpPr>
            <p:spPr bwMode="auto">
              <a:xfrm>
                <a:off x="4481" y="1042"/>
                <a:ext cx="9" cy="136"/>
              </a:xfrm>
              <a:custGeom>
                <a:avLst/>
                <a:gdLst>
                  <a:gd name="T0" fmla="*/ 0 w 27"/>
                  <a:gd name="T1" fmla="*/ 0 h 408"/>
                  <a:gd name="T2" fmla="*/ 0 w 27"/>
                  <a:gd name="T3" fmla="*/ 0 h 408"/>
                  <a:gd name="T4" fmla="*/ 0 w 27"/>
                  <a:gd name="T5" fmla="*/ 0 h 408"/>
                  <a:gd name="T6" fmla="*/ 0 w 27"/>
                  <a:gd name="T7" fmla="*/ 0 h 408"/>
                  <a:gd name="T8" fmla="*/ 0 w 27"/>
                  <a:gd name="T9" fmla="*/ 0 h 408"/>
                  <a:gd name="T10" fmla="*/ 0 w 27"/>
                  <a:gd name="T11" fmla="*/ 0 h 408"/>
                  <a:gd name="T12" fmla="*/ 0 w 27"/>
                  <a:gd name="T13" fmla="*/ 0 h 408"/>
                  <a:gd name="T14" fmla="*/ 0 w 27"/>
                  <a:gd name="T15" fmla="*/ 0 h 408"/>
                  <a:gd name="T16" fmla="*/ 0 w 27"/>
                  <a:gd name="T17" fmla="*/ 0 h 408"/>
                  <a:gd name="T18" fmla="*/ 0 w 27"/>
                  <a:gd name="T19" fmla="*/ 0 h 408"/>
                  <a:gd name="T20" fmla="*/ 0 w 27"/>
                  <a:gd name="T21" fmla="*/ 0 h 408"/>
                  <a:gd name="T22" fmla="*/ 0 w 27"/>
                  <a:gd name="T23" fmla="*/ 0 h 408"/>
                  <a:gd name="T24" fmla="*/ 0 w 27"/>
                  <a:gd name="T25" fmla="*/ 0 h 408"/>
                  <a:gd name="T26" fmla="*/ 0 w 27"/>
                  <a:gd name="T27" fmla="*/ 0 h 408"/>
                  <a:gd name="T28" fmla="*/ 0 w 27"/>
                  <a:gd name="T29" fmla="*/ 0 h 408"/>
                  <a:gd name="T30" fmla="*/ 0 w 27"/>
                  <a:gd name="T31" fmla="*/ 0 h 408"/>
                  <a:gd name="T32" fmla="*/ 0 w 27"/>
                  <a:gd name="T33" fmla="*/ 0 h 408"/>
                  <a:gd name="T34" fmla="*/ 0 w 27"/>
                  <a:gd name="T35" fmla="*/ 0 h 408"/>
                  <a:gd name="T36" fmla="*/ 0 w 27"/>
                  <a:gd name="T37" fmla="*/ 0 h 40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08">
                    <a:moveTo>
                      <a:pt x="0" y="408"/>
                    </a:moveTo>
                    <a:lnTo>
                      <a:pt x="0" y="0"/>
                    </a:lnTo>
                    <a:lnTo>
                      <a:pt x="4" y="4"/>
                    </a:lnTo>
                    <a:lnTo>
                      <a:pt x="8" y="8"/>
                    </a:lnTo>
                    <a:lnTo>
                      <a:pt x="11" y="12"/>
                    </a:lnTo>
                    <a:lnTo>
                      <a:pt x="15" y="17"/>
                    </a:lnTo>
                    <a:lnTo>
                      <a:pt x="18" y="21"/>
                    </a:lnTo>
                    <a:lnTo>
                      <a:pt x="21" y="25"/>
                    </a:lnTo>
                    <a:lnTo>
                      <a:pt x="25" y="30"/>
                    </a:lnTo>
                    <a:lnTo>
                      <a:pt x="27" y="34"/>
                    </a:lnTo>
                    <a:lnTo>
                      <a:pt x="27" y="374"/>
                    </a:lnTo>
                    <a:lnTo>
                      <a:pt x="25" y="378"/>
                    </a:lnTo>
                    <a:lnTo>
                      <a:pt x="21" y="384"/>
                    </a:lnTo>
                    <a:lnTo>
                      <a:pt x="18" y="388"/>
                    </a:lnTo>
                    <a:lnTo>
                      <a:pt x="15" y="392"/>
                    </a:lnTo>
                    <a:lnTo>
                      <a:pt x="11" y="396"/>
                    </a:lnTo>
                    <a:lnTo>
                      <a:pt x="8" y="399"/>
                    </a:lnTo>
                    <a:lnTo>
                      <a:pt x="4" y="404"/>
                    </a:lnTo>
                    <a:lnTo>
                      <a:pt x="0" y="40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92" name="Freeform 4530"/>
              <p:cNvSpPr>
                <a:spLocks noChangeAspect="1"/>
              </p:cNvSpPr>
              <p:nvPr/>
            </p:nvSpPr>
            <p:spPr bwMode="auto">
              <a:xfrm>
                <a:off x="4486" y="1048"/>
                <a:ext cx="9" cy="125"/>
              </a:xfrm>
              <a:custGeom>
                <a:avLst/>
                <a:gdLst>
                  <a:gd name="T0" fmla="*/ 0 w 27"/>
                  <a:gd name="T1" fmla="*/ 0 h 376"/>
                  <a:gd name="T2" fmla="*/ 0 w 27"/>
                  <a:gd name="T3" fmla="*/ 0 h 376"/>
                  <a:gd name="T4" fmla="*/ 0 w 27"/>
                  <a:gd name="T5" fmla="*/ 0 h 376"/>
                  <a:gd name="T6" fmla="*/ 0 w 27"/>
                  <a:gd name="T7" fmla="*/ 0 h 376"/>
                  <a:gd name="T8" fmla="*/ 0 w 27"/>
                  <a:gd name="T9" fmla="*/ 0 h 376"/>
                  <a:gd name="T10" fmla="*/ 0 w 27"/>
                  <a:gd name="T11" fmla="*/ 0 h 376"/>
                  <a:gd name="T12" fmla="*/ 0 w 27"/>
                  <a:gd name="T13" fmla="*/ 0 h 376"/>
                  <a:gd name="T14" fmla="*/ 0 w 27"/>
                  <a:gd name="T15" fmla="*/ 0 h 376"/>
                  <a:gd name="T16" fmla="*/ 0 w 27"/>
                  <a:gd name="T17" fmla="*/ 0 h 376"/>
                  <a:gd name="T18" fmla="*/ 0 w 27"/>
                  <a:gd name="T19" fmla="*/ 0 h 376"/>
                  <a:gd name="T20" fmla="*/ 0 w 27"/>
                  <a:gd name="T21" fmla="*/ 0 h 376"/>
                  <a:gd name="T22" fmla="*/ 0 w 27"/>
                  <a:gd name="T23" fmla="*/ 0 h 376"/>
                  <a:gd name="T24" fmla="*/ 0 w 27"/>
                  <a:gd name="T25" fmla="*/ 0 h 376"/>
                  <a:gd name="T26" fmla="*/ 0 w 27"/>
                  <a:gd name="T27" fmla="*/ 0 h 376"/>
                  <a:gd name="T28" fmla="*/ 0 w 27"/>
                  <a:gd name="T29" fmla="*/ 0 h 376"/>
                  <a:gd name="T30" fmla="*/ 0 w 27"/>
                  <a:gd name="T31" fmla="*/ 0 h 376"/>
                  <a:gd name="T32" fmla="*/ 0 w 27"/>
                  <a:gd name="T33" fmla="*/ 0 h 376"/>
                  <a:gd name="T34" fmla="*/ 0 w 27"/>
                  <a:gd name="T35" fmla="*/ 0 h 376"/>
                  <a:gd name="T36" fmla="*/ 0 w 27"/>
                  <a:gd name="T37" fmla="*/ 0 h 3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376">
                    <a:moveTo>
                      <a:pt x="0" y="376"/>
                    </a:moveTo>
                    <a:lnTo>
                      <a:pt x="0" y="0"/>
                    </a:lnTo>
                    <a:lnTo>
                      <a:pt x="3" y="5"/>
                    </a:lnTo>
                    <a:lnTo>
                      <a:pt x="7" y="9"/>
                    </a:lnTo>
                    <a:lnTo>
                      <a:pt x="11" y="15"/>
                    </a:lnTo>
                    <a:lnTo>
                      <a:pt x="14" y="19"/>
                    </a:lnTo>
                    <a:lnTo>
                      <a:pt x="17" y="24"/>
                    </a:lnTo>
                    <a:lnTo>
                      <a:pt x="20" y="29"/>
                    </a:lnTo>
                    <a:lnTo>
                      <a:pt x="23" y="34"/>
                    </a:lnTo>
                    <a:lnTo>
                      <a:pt x="27" y="39"/>
                    </a:lnTo>
                    <a:lnTo>
                      <a:pt x="27" y="337"/>
                    </a:lnTo>
                    <a:lnTo>
                      <a:pt x="23" y="342"/>
                    </a:lnTo>
                    <a:lnTo>
                      <a:pt x="20" y="347"/>
                    </a:lnTo>
                    <a:lnTo>
                      <a:pt x="17" y="353"/>
                    </a:lnTo>
                    <a:lnTo>
                      <a:pt x="14" y="357"/>
                    </a:lnTo>
                    <a:lnTo>
                      <a:pt x="11" y="362"/>
                    </a:lnTo>
                    <a:lnTo>
                      <a:pt x="7" y="366"/>
                    </a:lnTo>
                    <a:lnTo>
                      <a:pt x="3" y="372"/>
                    </a:lnTo>
                    <a:lnTo>
                      <a:pt x="0" y="376"/>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93" name="Freeform 4531"/>
              <p:cNvSpPr>
                <a:spLocks noChangeAspect="1"/>
              </p:cNvSpPr>
              <p:nvPr/>
            </p:nvSpPr>
            <p:spPr bwMode="auto">
              <a:xfrm>
                <a:off x="4490" y="1054"/>
                <a:ext cx="9" cy="113"/>
              </a:xfrm>
              <a:custGeom>
                <a:avLst/>
                <a:gdLst>
                  <a:gd name="T0" fmla="*/ 0 w 26"/>
                  <a:gd name="T1" fmla="*/ 0 h 340"/>
                  <a:gd name="T2" fmla="*/ 0 w 26"/>
                  <a:gd name="T3" fmla="*/ 0 h 340"/>
                  <a:gd name="T4" fmla="*/ 0 w 26"/>
                  <a:gd name="T5" fmla="*/ 0 h 340"/>
                  <a:gd name="T6" fmla="*/ 0 w 26"/>
                  <a:gd name="T7" fmla="*/ 0 h 340"/>
                  <a:gd name="T8" fmla="*/ 0 w 26"/>
                  <a:gd name="T9" fmla="*/ 0 h 340"/>
                  <a:gd name="T10" fmla="*/ 0 w 26"/>
                  <a:gd name="T11" fmla="*/ 0 h 340"/>
                  <a:gd name="T12" fmla="*/ 0 w 26"/>
                  <a:gd name="T13" fmla="*/ 0 h 340"/>
                  <a:gd name="T14" fmla="*/ 0 w 26"/>
                  <a:gd name="T15" fmla="*/ 0 h 340"/>
                  <a:gd name="T16" fmla="*/ 0 w 26"/>
                  <a:gd name="T17" fmla="*/ 0 h 340"/>
                  <a:gd name="T18" fmla="*/ 0 w 26"/>
                  <a:gd name="T19" fmla="*/ 0 h 340"/>
                  <a:gd name="T20" fmla="*/ 0 w 26"/>
                  <a:gd name="T21" fmla="*/ 0 h 340"/>
                  <a:gd name="T22" fmla="*/ 0 w 26"/>
                  <a:gd name="T23" fmla="*/ 0 h 340"/>
                  <a:gd name="T24" fmla="*/ 0 w 26"/>
                  <a:gd name="T25" fmla="*/ 0 h 340"/>
                  <a:gd name="T26" fmla="*/ 0 w 26"/>
                  <a:gd name="T27" fmla="*/ 0 h 340"/>
                  <a:gd name="T28" fmla="*/ 0 w 26"/>
                  <a:gd name="T29" fmla="*/ 0 h 340"/>
                  <a:gd name="T30" fmla="*/ 0 w 26"/>
                  <a:gd name="T31" fmla="*/ 0 h 340"/>
                  <a:gd name="T32" fmla="*/ 0 w 26"/>
                  <a:gd name="T33" fmla="*/ 0 h 340"/>
                  <a:gd name="T34" fmla="*/ 0 w 26"/>
                  <a:gd name="T35" fmla="*/ 0 h 340"/>
                  <a:gd name="T36" fmla="*/ 0 w 26"/>
                  <a:gd name="T37" fmla="*/ 0 h 3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340">
                    <a:moveTo>
                      <a:pt x="0" y="340"/>
                    </a:moveTo>
                    <a:lnTo>
                      <a:pt x="0" y="0"/>
                    </a:lnTo>
                    <a:lnTo>
                      <a:pt x="4" y="5"/>
                    </a:lnTo>
                    <a:lnTo>
                      <a:pt x="7" y="11"/>
                    </a:lnTo>
                    <a:lnTo>
                      <a:pt x="11" y="17"/>
                    </a:lnTo>
                    <a:lnTo>
                      <a:pt x="15" y="23"/>
                    </a:lnTo>
                    <a:lnTo>
                      <a:pt x="18" y="28"/>
                    </a:lnTo>
                    <a:lnTo>
                      <a:pt x="21" y="35"/>
                    </a:lnTo>
                    <a:lnTo>
                      <a:pt x="24" y="41"/>
                    </a:lnTo>
                    <a:lnTo>
                      <a:pt x="26" y="48"/>
                    </a:lnTo>
                    <a:lnTo>
                      <a:pt x="26" y="293"/>
                    </a:lnTo>
                    <a:lnTo>
                      <a:pt x="24" y="300"/>
                    </a:lnTo>
                    <a:lnTo>
                      <a:pt x="21" y="305"/>
                    </a:lnTo>
                    <a:lnTo>
                      <a:pt x="18" y="311"/>
                    </a:lnTo>
                    <a:lnTo>
                      <a:pt x="15" y="318"/>
                    </a:lnTo>
                    <a:lnTo>
                      <a:pt x="11" y="323"/>
                    </a:lnTo>
                    <a:lnTo>
                      <a:pt x="7" y="329"/>
                    </a:lnTo>
                    <a:lnTo>
                      <a:pt x="4" y="335"/>
                    </a:lnTo>
                    <a:lnTo>
                      <a:pt x="0" y="34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94" name="Freeform 4532"/>
              <p:cNvSpPr>
                <a:spLocks noChangeAspect="1"/>
              </p:cNvSpPr>
              <p:nvPr/>
            </p:nvSpPr>
            <p:spPr bwMode="auto">
              <a:xfrm>
                <a:off x="4495" y="1061"/>
                <a:ext cx="9" cy="99"/>
              </a:xfrm>
              <a:custGeom>
                <a:avLst/>
                <a:gdLst>
                  <a:gd name="T0" fmla="*/ 0 w 26"/>
                  <a:gd name="T1" fmla="*/ 0 h 298"/>
                  <a:gd name="T2" fmla="*/ 0 w 26"/>
                  <a:gd name="T3" fmla="*/ 0 h 298"/>
                  <a:gd name="T4" fmla="*/ 0 w 26"/>
                  <a:gd name="T5" fmla="*/ 0 h 298"/>
                  <a:gd name="T6" fmla="*/ 0 w 26"/>
                  <a:gd name="T7" fmla="*/ 0 h 298"/>
                  <a:gd name="T8" fmla="*/ 0 w 26"/>
                  <a:gd name="T9" fmla="*/ 0 h 298"/>
                  <a:gd name="T10" fmla="*/ 0 w 26"/>
                  <a:gd name="T11" fmla="*/ 0 h 298"/>
                  <a:gd name="T12" fmla="*/ 0 w 26"/>
                  <a:gd name="T13" fmla="*/ 0 h 298"/>
                  <a:gd name="T14" fmla="*/ 0 w 26"/>
                  <a:gd name="T15" fmla="*/ 0 h 298"/>
                  <a:gd name="T16" fmla="*/ 0 w 26"/>
                  <a:gd name="T17" fmla="*/ 0 h 298"/>
                  <a:gd name="T18" fmla="*/ 0 w 26"/>
                  <a:gd name="T19" fmla="*/ 0 h 298"/>
                  <a:gd name="T20" fmla="*/ 0 w 26"/>
                  <a:gd name="T21" fmla="*/ 0 h 298"/>
                  <a:gd name="T22" fmla="*/ 0 w 26"/>
                  <a:gd name="T23" fmla="*/ 0 h 298"/>
                  <a:gd name="T24" fmla="*/ 0 w 26"/>
                  <a:gd name="T25" fmla="*/ 0 h 298"/>
                  <a:gd name="T26" fmla="*/ 0 w 26"/>
                  <a:gd name="T27" fmla="*/ 0 h 298"/>
                  <a:gd name="T28" fmla="*/ 0 w 26"/>
                  <a:gd name="T29" fmla="*/ 0 h 298"/>
                  <a:gd name="T30" fmla="*/ 0 w 26"/>
                  <a:gd name="T31" fmla="*/ 0 h 298"/>
                  <a:gd name="T32" fmla="*/ 0 w 26"/>
                  <a:gd name="T33" fmla="*/ 0 h 298"/>
                  <a:gd name="T34" fmla="*/ 0 w 26"/>
                  <a:gd name="T35" fmla="*/ 0 h 298"/>
                  <a:gd name="T36" fmla="*/ 0 w 26"/>
                  <a:gd name="T37" fmla="*/ 0 h 29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6" h="298">
                    <a:moveTo>
                      <a:pt x="0" y="298"/>
                    </a:moveTo>
                    <a:lnTo>
                      <a:pt x="0" y="0"/>
                    </a:lnTo>
                    <a:lnTo>
                      <a:pt x="4" y="7"/>
                    </a:lnTo>
                    <a:lnTo>
                      <a:pt x="7" y="15"/>
                    </a:lnTo>
                    <a:lnTo>
                      <a:pt x="11" y="22"/>
                    </a:lnTo>
                    <a:lnTo>
                      <a:pt x="14" y="30"/>
                    </a:lnTo>
                    <a:lnTo>
                      <a:pt x="18" y="37"/>
                    </a:lnTo>
                    <a:lnTo>
                      <a:pt x="21" y="46"/>
                    </a:lnTo>
                    <a:lnTo>
                      <a:pt x="23" y="53"/>
                    </a:lnTo>
                    <a:lnTo>
                      <a:pt x="26" y="62"/>
                    </a:lnTo>
                    <a:lnTo>
                      <a:pt x="26" y="237"/>
                    </a:lnTo>
                    <a:lnTo>
                      <a:pt x="23" y="245"/>
                    </a:lnTo>
                    <a:lnTo>
                      <a:pt x="21" y="253"/>
                    </a:lnTo>
                    <a:lnTo>
                      <a:pt x="18" y="260"/>
                    </a:lnTo>
                    <a:lnTo>
                      <a:pt x="14" y="268"/>
                    </a:lnTo>
                    <a:lnTo>
                      <a:pt x="11" y="276"/>
                    </a:lnTo>
                    <a:lnTo>
                      <a:pt x="7" y="284"/>
                    </a:lnTo>
                    <a:lnTo>
                      <a:pt x="4" y="291"/>
                    </a:lnTo>
                    <a:lnTo>
                      <a:pt x="0" y="29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95" name="Freeform 4533"/>
              <p:cNvSpPr>
                <a:spLocks noChangeAspect="1"/>
              </p:cNvSpPr>
              <p:nvPr/>
            </p:nvSpPr>
            <p:spPr bwMode="auto">
              <a:xfrm>
                <a:off x="4499" y="1070"/>
                <a:ext cx="9" cy="81"/>
              </a:xfrm>
              <a:custGeom>
                <a:avLst/>
                <a:gdLst>
                  <a:gd name="T0" fmla="*/ 0 w 27"/>
                  <a:gd name="T1" fmla="*/ 0 h 245"/>
                  <a:gd name="T2" fmla="*/ 0 w 27"/>
                  <a:gd name="T3" fmla="*/ 0 h 245"/>
                  <a:gd name="T4" fmla="*/ 0 w 27"/>
                  <a:gd name="T5" fmla="*/ 0 h 245"/>
                  <a:gd name="T6" fmla="*/ 0 w 27"/>
                  <a:gd name="T7" fmla="*/ 0 h 245"/>
                  <a:gd name="T8" fmla="*/ 0 w 27"/>
                  <a:gd name="T9" fmla="*/ 0 h 245"/>
                  <a:gd name="T10" fmla="*/ 0 w 27"/>
                  <a:gd name="T11" fmla="*/ 0 h 245"/>
                  <a:gd name="T12" fmla="*/ 0 w 27"/>
                  <a:gd name="T13" fmla="*/ 0 h 245"/>
                  <a:gd name="T14" fmla="*/ 0 w 27"/>
                  <a:gd name="T15" fmla="*/ 0 h 245"/>
                  <a:gd name="T16" fmla="*/ 0 w 27"/>
                  <a:gd name="T17" fmla="*/ 0 h 245"/>
                  <a:gd name="T18" fmla="*/ 0 w 27"/>
                  <a:gd name="T19" fmla="*/ 0 h 245"/>
                  <a:gd name="T20" fmla="*/ 0 w 27"/>
                  <a:gd name="T21" fmla="*/ 0 h 245"/>
                  <a:gd name="T22" fmla="*/ 0 w 27"/>
                  <a:gd name="T23" fmla="*/ 0 h 245"/>
                  <a:gd name="T24" fmla="*/ 0 w 27"/>
                  <a:gd name="T25" fmla="*/ 0 h 245"/>
                  <a:gd name="T26" fmla="*/ 0 w 27"/>
                  <a:gd name="T27" fmla="*/ 0 h 245"/>
                  <a:gd name="T28" fmla="*/ 0 w 27"/>
                  <a:gd name="T29" fmla="*/ 0 h 245"/>
                  <a:gd name="T30" fmla="*/ 0 w 27"/>
                  <a:gd name="T31" fmla="*/ 0 h 245"/>
                  <a:gd name="T32" fmla="*/ 0 w 27"/>
                  <a:gd name="T33" fmla="*/ 0 h 245"/>
                  <a:gd name="T34" fmla="*/ 0 w 27"/>
                  <a:gd name="T35" fmla="*/ 0 h 24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7" h="245">
                    <a:moveTo>
                      <a:pt x="0" y="245"/>
                    </a:moveTo>
                    <a:lnTo>
                      <a:pt x="0" y="0"/>
                    </a:lnTo>
                    <a:lnTo>
                      <a:pt x="7" y="13"/>
                    </a:lnTo>
                    <a:lnTo>
                      <a:pt x="12" y="28"/>
                    </a:lnTo>
                    <a:lnTo>
                      <a:pt x="16" y="43"/>
                    </a:lnTo>
                    <a:lnTo>
                      <a:pt x="21" y="58"/>
                    </a:lnTo>
                    <a:lnTo>
                      <a:pt x="24" y="74"/>
                    </a:lnTo>
                    <a:lnTo>
                      <a:pt x="26" y="90"/>
                    </a:lnTo>
                    <a:lnTo>
                      <a:pt x="27" y="106"/>
                    </a:lnTo>
                    <a:lnTo>
                      <a:pt x="27" y="122"/>
                    </a:lnTo>
                    <a:lnTo>
                      <a:pt x="27" y="139"/>
                    </a:lnTo>
                    <a:lnTo>
                      <a:pt x="26" y="155"/>
                    </a:lnTo>
                    <a:lnTo>
                      <a:pt x="24" y="170"/>
                    </a:lnTo>
                    <a:lnTo>
                      <a:pt x="21" y="186"/>
                    </a:lnTo>
                    <a:lnTo>
                      <a:pt x="16" y="202"/>
                    </a:lnTo>
                    <a:lnTo>
                      <a:pt x="12" y="216"/>
                    </a:lnTo>
                    <a:lnTo>
                      <a:pt x="7" y="230"/>
                    </a:lnTo>
                    <a:lnTo>
                      <a:pt x="0" y="24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96" name="Freeform 4534"/>
              <p:cNvSpPr>
                <a:spLocks noChangeAspect="1"/>
              </p:cNvSpPr>
              <p:nvPr/>
            </p:nvSpPr>
            <p:spPr bwMode="auto">
              <a:xfrm>
                <a:off x="4504" y="1081"/>
                <a:ext cx="4" cy="59"/>
              </a:xfrm>
              <a:custGeom>
                <a:avLst/>
                <a:gdLst>
                  <a:gd name="T0" fmla="*/ 0 w 13"/>
                  <a:gd name="T1" fmla="*/ 0 h 175"/>
                  <a:gd name="T2" fmla="*/ 0 w 13"/>
                  <a:gd name="T3" fmla="*/ 0 h 175"/>
                  <a:gd name="T4" fmla="*/ 0 w 13"/>
                  <a:gd name="T5" fmla="*/ 0 h 175"/>
                  <a:gd name="T6" fmla="*/ 0 w 13"/>
                  <a:gd name="T7" fmla="*/ 0 h 175"/>
                  <a:gd name="T8" fmla="*/ 0 w 13"/>
                  <a:gd name="T9" fmla="*/ 0 h 175"/>
                  <a:gd name="T10" fmla="*/ 0 w 13"/>
                  <a:gd name="T11" fmla="*/ 0 h 175"/>
                  <a:gd name="T12" fmla="*/ 0 w 13"/>
                  <a:gd name="T13" fmla="*/ 0 h 175"/>
                  <a:gd name="T14" fmla="*/ 0 w 13"/>
                  <a:gd name="T15" fmla="*/ 0 h 175"/>
                  <a:gd name="T16" fmla="*/ 0 w 13"/>
                  <a:gd name="T17" fmla="*/ 0 h 175"/>
                  <a:gd name="T18" fmla="*/ 0 w 13"/>
                  <a:gd name="T19" fmla="*/ 0 h 175"/>
                  <a:gd name="T20" fmla="*/ 0 w 13"/>
                  <a:gd name="T21" fmla="*/ 0 h 175"/>
                  <a:gd name="T22" fmla="*/ 0 w 13"/>
                  <a:gd name="T23" fmla="*/ 0 h 175"/>
                  <a:gd name="T24" fmla="*/ 0 w 13"/>
                  <a:gd name="T25" fmla="*/ 0 h 175"/>
                  <a:gd name="T26" fmla="*/ 0 w 13"/>
                  <a:gd name="T27" fmla="*/ 0 h 175"/>
                  <a:gd name="T28" fmla="*/ 0 w 13"/>
                  <a:gd name="T29" fmla="*/ 0 h 175"/>
                  <a:gd name="T30" fmla="*/ 0 w 13"/>
                  <a:gd name="T31" fmla="*/ 0 h 175"/>
                  <a:gd name="T32" fmla="*/ 0 w 13"/>
                  <a:gd name="T33" fmla="*/ 0 h 175"/>
                  <a:gd name="T34" fmla="*/ 0 w 13"/>
                  <a:gd name="T35" fmla="*/ 0 h 1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3" h="175">
                    <a:moveTo>
                      <a:pt x="0" y="175"/>
                    </a:moveTo>
                    <a:lnTo>
                      <a:pt x="0" y="0"/>
                    </a:lnTo>
                    <a:lnTo>
                      <a:pt x="3" y="9"/>
                    </a:lnTo>
                    <a:lnTo>
                      <a:pt x="5" y="21"/>
                    </a:lnTo>
                    <a:lnTo>
                      <a:pt x="8" y="32"/>
                    </a:lnTo>
                    <a:lnTo>
                      <a:pt x="10" y="42"/>
                    </a:lnTo>
                    <a:lnTo>
                      <a:pt x="12" y="53"/>
                    </a:lnTo>
                    <a:lnTo>
                      <a:pt x="13" y="65"/>
                    </a:lnTo>
                    <a:lnTo>
                      <a:pt x="13" y="76"/>
                    </a:lnTo>
                    <a:lnTo>
                      <a:pt x="13" y="87"/>
                    </a:lnTo>
                    <a:lnTo>
                      <a:pt x="13" y="99"/>
                    </a:lnTo>
                    <a:lnTo>
                      <a:pt x="13" y="110"/>
                    </a:lnTo>
                    <a:lnTo>
                      <a:pt x="12" y="121"/>
                    </a:lnTo>
                    <a:lnTo>
                      <a:pt x="10" y="132"/>
                    </a:lnTo>
                    <a:lnTo>
                      <a:pt x="8" y="143"/>
                    </a:lnTo>
                    <a:lnTo>
                      <a:pt x="5" y="154"/>
                    </a:lnTo>
                    <a:lnTo>
                      <a:pt x="3" y="164"/>
                    </a:lnTo>
                    <a:lnTo>
                      <a:pt x="0" y="17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97" name="Freeform 4535"/>
              <p:cNvSpPr>
                <a:spLocks noChangeAspect="1"/>
              </p:cNvSpPr>
              <p:nvPr/>
            </p:nvSpPr>
            <p:spPr bwMode="auto">
              <a:xfrm>
                <a:off x="4287" y="1006"/>
                <a:ext cx="221" cy="209"/>
              </a:xfrm>
              <a:custGeom>
                <a:avLst/>
                <a:gdLst>
                  <a:gd name="T0" fmla="*/ 0 w 663"/>
                  <a:gd name="T1" fmla="*/ 0 h 629"/>
                  <a:gd name="T2" fmla="*/ 0 w 663"/>
                  <a:gd name="T3" fmla="*/ 0 h 629"/>
                  <a:gd name="T4" fmla="*/ 0 w 663"/>
                  <a:gd name="T5" fmla="*/ 0 h 629"/>
                  <a:gd name="T6" fmla="*/ 0 w 663"/>
                  <a:gd name="T7" fmla="*/ 0 h 629"/>
                  <a:gd name="T8" fmla="*/ 0 w 663"/>
                  <a:gd name="T9" fmla="*/ 0 h 629"/>
                  <a:gd name="T10" fmla="*/ 0 w 663"/>
                  <a:gd name="T11" fmla="*/ 0 h 629"/>
                  <a:gd name="T12" fmla="*/ 0 w 663"/>
                  <a:gd name="T13" fmla="*/ 0 h 629"/>
                  <a:gd name="T14" fmla="*/ 0 w 663"/>
                  <a:gd name="T15" fmla="*/ 0 h 629"/>
                  <a:gd name="T16" fmla="*/ 0 w 663"/>
                  <a:gd name="T17" fmla="*/ 0 h 629"/>
                  <a:gd name="T18" fmla="*/ 0 w 663"/>
                  <a:gd name="T19" fmla="*/ 0 h 629"/>
                  <a:gd name="T20" fmla="*/ 0 w 663"/>
                  <a:gd name="T21" fmla="*/ 0 h 629"/>
                  <a:gd name="T22" fmla="*/ 0 w 663"/>
                  <a:gd name="T23" fmla="*/ 0 h 629"/>
                  <a:gd name="T24" fmla="*/ 0 w 663"/>
                  <a:gd name="T25" fmla="*/ 0 h 629"/>
                  <a:gd name="T26" fmla="*/ 0 w 663"/>
                  <a:gd name="T27" fmla="*/ 0 h 629"/>
                  <a:gd name="T28" fmla="*/ 0 w 663"/>
                  <a:gd name="T29" fmla="*/ 0 h 629"/>
                  <a:gd name="T30" fmla="*/ 0 w 663"/>
                  <a:gd name="T31" fmla="*/ 0 h 629"/>
                  <a:gd name="T32" fmla="*/ 0 w 663"/>
                  <a:gd name="T33" fmla="*/ 0 h 629"/>
                  <a:gd name="T34" fmla="*/ 0 w 663"/>
                  <a:gd name="T35" fmla="*/ 0 h 629"/>
                  <a:gd name="T36" fmla="*/ 0 w 663"/>
                  <a:gd name="T37" fmla="*/ 0 h 629"/>
                  <a:gd name="T38" fmla="*/ 0 w 663"/>
                  <a:gd name="T39" fmla="*/ 0 h 629"/>
                  <a:gd name="T40" fmla="*/ 0 w 663"/>
                  <a:gd name="T41" fmla="*/ 0 h 629"/>
                  <a:gd name="T42" fmla="*/ 0 w 663"/>
                  <a:gd name="T43" fmla="*/ 0 h 629"/>
                  <a:gd name="T44" fmla="*/ 0 w 663"/>
                  <a:gd name="T45" fmla="*/ 0 h 629"/>
                  <a:gd name="T46" fmla="*/ 0 w 663"/>
                  <a:gd name="T47" fmla="*/ 0 h 629"/>
                  <a:gd name="T48" fmla="*/ 0 w 663"/>
                  <a:gd name="T49" fmla="*/ 0 h 629"/>
                  <a:gd name="T50" fmla="*/ 0 w 663"/>
                  <a:gd name="T51" fmla="*/ 0 h 629"/>
                  <a:gd name="T52" fmla="*/ 0 w 663"/>
                  <a:gd name="T53" fmla="*/ 0 h 629"/>
                  <a:gd name="T54" fmla="*/ 0 w 663"/>
                  <a:gd name="T55" fmla="*/ 0 h 629"/>
                  <a:gd name="T56" fmla="*/ 0 w 663"/>
                  <a:gd name="T57" fmla="*/ 0 h 629"/>
                  <a:gd name="T58" fmla="*/ 0 w 663"/>
                  <a:gd name="T59" fmla="*/ 0 h 629"/>
                  <a:gd name="T60" fmla="*/ 0 w 663"/>
                  <a:gd name="T61" fmla="*/ 0 h 629"/>
                  <a:gd name="T62" fmla="*/ 0 w 663"/>
                  <a:gd name="T63" fmla="*/ 0 h 629"/>
                  <a:gd name="T64" fmla="*/ 0 w 663"/>
                  <a:gd name="T65" fmla="*/ 0 h 629"/>
                  <a:gd name="T66" fmla="*/ 0 w 663"/>
                  <a:gd name="T67" fmla="*/ 0 h 629"/>
                  <a:gd name="T68" fmla="*/ 0 w 663"/>
                  <a:gd name="T69" fmla="*/ 0 h 629"/>
                  <a:gd name="T70" fmla="*/ 0 w 663"/>
                  <a:gd name="T71" fmla="*/ 0 h 629"/>
                  <a:gd name="T72" fmla="*/ 0 w 663"/>
                  <a:gd name="T73" fmla="*/ 0 h 629"/>
                  <a:gd name="T74" fmla="*/ 0 w 663"/>
                  <a:gd name="T75" fmla="*/ 0 h 629"/>
                  <a:gd name="T76" fmla="*/ 0 w 663"/>
                  <a:gd name="T77" fmla="*/ 0 h 629"/>
                  <a:gd name="T78" fmla="*/ 0 w 663"/>
                  <a:gd name="T79" fmla="*/ 0 h 629"/>
                  <a:gd name="T80" fmla="*/ 0 w 663"/>
                  <a:gd name="T81" fmla="*/ 0 h 629"/>
                  <a:gd name="T82" fmla="*/ 0 w 663"/>
                  <a:gd name="T83" fmla="*/ 0 h 629"/>
                  <a:gd name="T84" fmla="*/ 0 w 663"/>
                  <a:gd name="T85" fmla="*/ 0 h 6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63" h="629">
                    <a:moveTo>
                      <a:pt x="331" y="629"/>
                    </a:moveTo>
                    <a:lnTo>
                      <a:pt x="348" y="629"/>
                    </a:lnTo>
                    <a:lnTo>
                      <a:pt x="365" y="626"/>
                    </a:lnTo>
                    <a:lnTo>
                      <a:pt x="382" y="624"/>
                    </a:lnTo>
                    <a:lnTo>
                      <a:pt x="398" y="622"/>
                    </a:lnTo>
                    <a:lnTo>
                      <a:pt x="414" y="619"/>
                    </a:lnTo>
                    <a:lnTo>
                      <a:pt x="430" y="615"/>
                    </a:lnTo>
                    <a:lnTo>
                      <a:pt x="446" y="609"/>
                    </a:lnTo>
                    <a:lnTo>
                      <a:pt x="461" y="604"/>
                    </a:lnTo>
                    <a:lnTo>
                      <a:pt x="475" y="598"/>
                    </a:lnTo>
                    <a:lnTo>
                      <a:pt x="489" y="590"/>
                    </a:lnTo>
                    <a:lnTo>
                      <a:pt x="503" y="583"/>
                    </a:lnTo>
                    <a:lnTo>
                      <a:pt x="517" y="574"/>
                    </a:lnTo>
                    <a:lnTo>
                      <a:pt x="530" y="566"/>
                    </a:lnTo>
                    <a:lnTo>
                      <a:pt x="543" y="556"/>
                    </a:lnTo>
                    <a:lnTo>
                      <a:pt x="554" y="547"/>
                    </a:lnTo>
                    <a:lnTo>
                      <a:pt x="566" y="536"/>
                    </a:lnTo>
                    <a:lnTo>
                      <a:pt x="577" y="525"/>
                    </a:lnTo>
                    <a:lnTo>
                      <a:pt x="587" y="514"/>
                    </a:lnTo>
                    <a:lnTo>
                      <a:pt x="597" y="502"/>
                    </a:lnTo>
                    <a:lnTo>
                      <a:pt x="607" y="489"/>
                    </a:lnTo>
                    <a:lnTo>
                      <a:pt x="615" y="477"/>
                    </a:lnTo>
                    <a:lnTo>
                      <a:pt x="624" y="464"/>
                    </a:lnTo>
                    <a:lnTo>
                      <a:pt x="630" y="450"/>
                    </a:lnTo>
                    <a:lnTo>
                      <a:pt x="637" y="436"/>
                    </a:lnTo>
                    <a:lnTo>
                      <a:pt x="643" y="422"/>
                    </a:lnTo>
                    <a:lnTo>
                      <a:pt x="648" y="407"/>
                    </a:lnTo>
                    <a:lnTo>
                      <a:pt x="652" y="393"/>
                    </a:lnTo>
                    <a:lnTo>
                      <a:pt x="657" y="378"/>
                    </a:lnTo>
                    <a:lnTo>
                      <a:pt x="660" y="362"/>
                    </a:lnTo>
                    <a:lnTo>
                      <a:pt x="662" y="346"/>
                    </a:lnTo>
                    <a:lnTo>
                      <a:pt x="663" y="330"/>
                    </a:lnTo>
                    <a:lnTo>
                      <a:pt x="663" y="314"/>
                    </a:lnTo>
                    <a:lnTo>
                      <a:pt x="663" y="298"/>
                    </a:lnTo>
                    <a:lnTo>
                      <a:pt x="662" y="282"/>
                    </a:lnTo>
                    <a:lnTo>
                      <a:pt x="660" y="266"/>
                    </a:lnTo>
                    <a:lnTo>
                      <a:pt x="657" y="251"/>
                    </a:lnTo>
                    <a:lnTo>
                      <a:pt x="652" y="235"/>
                    </a:lnTo>
                    <a:lnTo>
                      <a:pt x="648" y="220"/>
                    </a:lnTo>
                    <a:lnTo>
                      <a:pt x="643" y="206"/>
                    </a:lnTo>
                    <a:lnTo>
                      <a:pt x="637" y="192"/>
                    </a:lnTo>
                    <a:lnTo>
                      <a:pt x="630" y="178"/>
                    </a:lnTo>
                    <a:lnTo>
                      <a:pt x="624" y="165"/>
                    </a:lnTo>
                    <a:lnTo>
                      <a:pt x="615" y="151"/>
                    </a:lnTo>
                    <a:lnTo>
                      <a:pt x="607" y="138"/>
                    </a:lnTo>
                    <a:lnTo>
                      <a:pt x="597" y="127"/>
                    </a:lnTo>
                    <a:lnTo>
                      <a:pt x="587" y="114"/>
                    </a:lnTo>
                    <a:lnTo>
                      <a:pt x="577" y="103"/>
                    </a:lnTo>
                    <a:lnTo>
                      <a:pt x="566" y="92"/>
                    </a:lnTo>
                    <a:lnTo>
                      <a:pt x="554" y="82"/>
                    </a:lnTo>
                    <a:lnTo>
                      <a:pt x="543" y="71"/>
                    </a:lnTo>
                    <a:lnTo>
                      <a:pt x="530" y="62"/>
                    </a:lnTo>
                    <a:lnTo>
                      <a:pt x="517" y="53"/>
                    </a:lnTo>
                    <a:lnTo>
                      <a:pt x="503" y="45"/>
                    </a:lnTo>
                    <a:lnTo>
                      <a:pt x="489" y="37"/>
                    </a:lnTo>
                    <a:lnTo>
                      <a:pt x="475" y="31"/>
                    </a:lnTo>
                    <a:lnTo>
                      <a:pt x="461" y="25"/>
                    </a:lnTo>
                    <a:lnTo>
                      <a:pt x="446" y="19"/>
                    </a:lnTo>
                    <a:lnTo>
                      <a:pt x="430" y="14"/>
                    </a:lnTo>
                    <a:lnTo>
                      <a:pt x="414" y="10"/>
                    </a:lnTo>
                    <a:lnTo>
                      <a:pt x="398" y="7"/>
                    </a:lnTo>
                    <a:lnTo>
                      <a:pt x="382" y="3"/>
                    </a:lnTo>
                    <a:lnTo>
                      <a:pt x="365" y="1"/>
                    </a:lnTo>
                    <a:lnTo>
                      <a:pt x="348" y="0"/>
                    </a:lnTo>
                    <a:lnTo>
                      <a:pt x="331" y="0"/>
                    </a:lnTo>
                    <a:lnTo>
                      <a:pt x="314" y="0"/>
                    </a:lnTo>
                    <a:lnTo>
                      <a:pt x="298" y="1"/>
                    </a:lnTo>
                    <a:lnTo>
                      <a:pt x="281" y="3"/>
                    </a:lnTo>
                    <a:lnTo>
                      <a:pt x="265" y="7"/>
                    </a:lnTo>
                    <a:lnTo>
                      <a:pt x="249" y="10"/>
                    </a:lnTo>
                    <a:lnTo>
                      <a:pt x="233" y="14"/>
                    </a:lnTo>
                    <a:lnTo>
                      <a:pt x="217" y="19"/>
                    </a:lnTo>
                    <a:lnTo>
                      <a:pt x="202" y="25"/>
                    </a:lnTo>
                    <a:lnTo>
                      <a:pt x="187" y="31"/>
                    </a:lnTo>
                    <a:lnTo>
                      <a:pt x="173" y="37"/>
                    </a:lnTo>
                    <a:lnTo>
                      <a:pt x="160" y="45"/>
                    </a:lnTo>
                    <a:lnTo>
                      <a:pt x="146" y="53"/>
                    </a:lnTo>
                    <a:lnTo>
                      <a:pt x="133" y="62"/>
                    </a:lnTo>
                    <a:lnTo>
                      <a:pt x="120" y="71"/>
                    </a:lnTo>
                    <a:lnTo>
                      <a:pt x="108" y="82"/>
                    </a:lnTo>
                    <a:lnTo>
                      <a:pt x="97" y="92"/>
                    </a:lnTo>
                    <a:lnTo>
                      <a:pt x="86" y="103"/>
                    </a:lnTo>
                    <a:lnTo>
                      <a:pt x="75" y="114"/>
                    </a:lnTo>
                    <a:lnTo>
                      <a:pt x="66" y="127"/>
                    </a:lnTo>
                    <a:lnTo>
                      <a:pt x="56" y="138"/>
                    </a:lnTo>
                    <a:lnTo>
                      <a:pt x="48" y="151"/>
                    </a:lnTo>
                    <a:lnTo>
                      <a:pt x="39" y="165"/>
                    </a:lnTo>
                    <a:lnTo>
                      <a:pt x="32" y="178"/>
                    </a:lnTo>
                    <a:lnTo>
                      <a:pt x="25" y="192"/>
                    </a:lnTo>
                    <a:lnTo>
                      <a:pt x="20" y="206"/>
                    </a:lnTo>
                    <a:lnTo>
                      <a:pt x="15" y="220"/>
                    </a:lnTo>
                    <a:lnTo>
                      <a:pt x="9" y="235"/>
                    </a:lnTo>
                    <a:lnTo>
                      <a:pt x="6" y="251"/>
                    </a:lnTo>
                    <a:lnTo>
                      <a:pt x="3" y="266"/>
                    </a:lnTo>
                    <a:lnTo>
                      <a:pt x="1" y="282"/>
                    </a:lnTo>
                    <a:lnTo>
                      <a:pt x="0" y="298"/>
                    </a:lnTo>
                    <a:lnTo>
                      <a:pt x="0" y="314"/>
                    </a:lnTo>
                    <a:lnTo>
                      <a:pt x="0" y="330"/>
                    </a:lnTo>
                    <a:lnTo>
                      <a:pt x="1" y="346"/>
                    </a:lnTo>
                    <a:lnTo>
                      <a:pt x="3" y="362"/>
                    </a:lnTo>
                    <a:lnTo>
                      <a:pt x="6" y="378"/>
                    </a:lnTo>
                    <a:lnTo>
                      <a:pt x="9" y="393"/>
                    </a:lnTo>
                    <a:lnTo>
                      <a:pt x="15" y="407"/>
                    </a:lnTo>
                    <a:lnTo>
                      <a:pt x="20" y="422"/>
                    </a:lnTo>
                    <a:lnTo>
                      <a:pt x="25" y="436"/>
                    </a:lnTo>
                    <a:lnTo>
                      <a:pt x="32" y="450"/>
                    </a:lnTo>
                    <a:lnTo>
                      <a:pt x="39" y="464"/>
                    </a:lnTo>
                    <a:lnTo>
                      <a:pt x="48" y="477"/>
                    </a:lnTo>
                    <a:lnTo>
                      <a:pt x="56" y="489"/>
                    </a:lnTo>
                    <a:lnTo>
                      <a:pt x="66" y="502"/>
                    </a:lnTo>
                    <a:lnTo>
                      <a:pt x="75" y="514"/>
                    </a:lnTo>
                    <a:lnTo>
                      <a:pt x="86" y="525"/>
                    </a:lnTo>
                    <a:lnTo>
                      <a:pt x="97" y="536"/>
                    </a:lnTo>
                    <a:lnTo>
                      <a:pt x="108" y="547"/>
                    </a:lnTo>
                    <a:lnTo>
                      <a:pt x="120" y="556"/>
                    </a:lnTo>
                    <a:lnTo>
                      <a:pt x="133" y="566"/>
                    </a:lnTo>
                    <a:lnTo>
                      <a:pt x="146" y="574"/>
                    </a:lnTo>
                    <a:lnTo>
                      <a:pt x="160" y="583"/>
                    </a:lnTo>
                    <a:lnTo>
                      <a:pt x="173" y="590"/>
                    </a:lnTo>
                    <a:lnTo>
                      <a:pt x="187" y="598"/>
                    </a:lnTo>
                    <a:lnTo>
                      <a:pt x="202" y="604"/>
                    </a:lnTo>
                    <a:lnTo>
                      <a:pt x="217" y="609"/>
                    </a:lnTo>
                    <a:lnTo>
                      <a:pt x="233" y="615"/>
                    </a:lnTo>
                    <a:lnTo>
                      <a:pt x="249" y="619"/>
                    </a:lnTo>
                    <a:lnTo>
                      <a:pt x="265" y="622"/>
                    </a:lnTo>
                    <a:lnTo>
                      <a:pt x="281" y="624"/>
                    </a:lnTo>
                    <a:lnTo>
                      <a:pt x="298" y="626"/>
                    </a:lnTo>
                    <a:lnTo>
                      <a:pt x="314" y="629"/>
                    </a:lnTo>
                    <a:lnTo>
                      <a:pt x="331" y="629"/>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sp>
            <p:nvSpPr>
              <p:cNvPr id="387098" name="Freeform 4536"/>
              <p:cNvSpPr>
                <a:spLocks noChangeAspect="1"/>
              </p:cNvSpPr>
              <p:nvPr/>
            </p:nvSpPr>
            <p:spPr bwMode="auto">
              <a:xfrm>
                <a:off x="4212" y="1123"/>
                <a:ext cx="14" cy="14"/>
              </a:xfrm>
              <a:custGeom>
                <a:avLst/>
                <a:gdLst>
                  <a:gd name="T0" fmla="*/ 0 w 42"/>
                  <a:gd name="T1" fmla="*/ 0 h 42"/>
                  <a:gd name="T2" fmla="*/ 0 w 42"/>
                  <a:gd name="T3" fmla="*/ 0 h 42"/>
                  <a:gd name="T4" fmla="*/ 0 w 42"/>
                  <a:gd name="T5" fmla="*/ 0 h 42"/>
                  <a:gd name="T6" fmla="*/ 0 w 42"/>
                  <a:gd name="T7" fmla="*/ 0 h 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2" h="42">
                    <a:moveTo>
                      <a:pt x="42" y="0"/>
                    </a:moveTo>
                    <a:lnTo>
                      <a:pt x="0" y="42"/>
                    </a:lnTo>
                    <a:lnTo>
                      <a:pt x="0" y="0"/>
                    </a:lnTo>
                    <a:lnTo>
                      <a:pt x="42" y="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99" name="Freeform 4537"/>
              <p:cNvSpPr>
                <a:spLocks noChangeAspect="1"/>
              </p:cNvSpPr>
              <p:nvPr/>
            </p:nvSpPr>
            <p:spPr bwMode="auto">
              <a:xfrm>
                <a:off x="4212" y="1123"/>
                <a:ext cx="24" cy="23"/>
              </a:xfrm>
              <a:custGeom>
                <a:avLst/>
                <a:gdLst>
                  <a:gd name="T0" fmla="*/ 0 w 72"/>
                  <a:gd name="T1" fmla="*/ 0 h 70"/>
                  <a:gd name="T2" fmla="*/ 0 w 72"/>
                  <a:gd name="T3" fmla="*/ 0 h 70"/>
                  <a:gd name="T4" fmla="*/ 0 w 72"/>
                  <a:gd name="T5" fmla="*/ 0 h 70"/>
                  <a:gd name="T6" fmla="*/ 0 w 72"/>
                  <a:gd name="T7" fmla="*/ 0 h 70"/>
                  <a:gd name="T8" fmla="*/ 0 w 72"/>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 h="70">
                    <a:moveTo>
                      <a:pt x="0" y="12"/>
                    </a:moveTo>
                    <a:lnTo>
                      <a:pt x="12" y="0"/>
                    </a:lnTo>
                    <a:lnTo>
                      <a:pt x="72" y="0"/>
                    </a:lnTo>
                    <a:lnTo>
                      <a:pt x="0" y="70"/>
                    </a:lnTo>
                    <a:lnTo>
                      <a:pt x="0" y="1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00" name="Freeform 4538"/>
              <p:cNvSpPr>
                <a:spLocks noChangeAspect="1"/>
              </p:cNvSpPr>
              <p:nvPr/>
            </p:nvSpPr>
            <p:spPr bwMode="auto">
              <a:xfrm>
                <a:off x="4212" y="1123"/>
                <a:ext cx="34" cy="33"/>
              </a:xfrm>
              <a:custGeom>
                <a:avLst/>
                <a:gdLst>
                  <a:gd name="T0" fmla="*/ 0 w 100"/>
                  <a:gd name="T1" fmla="*/ 0 h 100"/>
                  <a:gd name="T2" fmla="*/ 0 w 100"/>
                  <a:gd name="T3" fmla="*/ 0 h 100"/>
                  <a:gd name="T4" fmla="*/ 0 w 100"/>
                  <a:gd name="T5" fmla="*/ 0 h 100"/>
                  <a:gd name="T6" fmla="*/ 0 w 100"/>
                  <a:gd name="T7" fmla="*/ 0 h 100"/>
                  <a:gd name="T8" fmla="*/ 0 w 100"/>
                  <a:gd name="T9" fmla="*/ 0 h 100"/>
                  <a:gd name="T10" fmla="*/ 0 w 100"/>
                  <a:gd name="T11" fmla="*/ 0 h 1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100">
                    <a:moveTo>
                      <a:pt x="0" y="42"/>
                    </a:moveTo>
                    <a:lnTo>
                      <a:pt x="42" y="0"/>
                    </a:lnTo>
                    <a:lnTo>
                      <a:pt x="95" y="0"/>
                    </a:lnTo>
                    <a:lnTo>
                      <a:pt x="100" y="0"/>
                    </a:lnTo>
                    <a:lnTo>
                      <a:pt x="0" y="100"/>
                    </a:lnTo>
                    <a:lnTo>
                      <a:pt x="0" y="4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01" name="Freeform 4539"/>
              <p:cNvSpPr>
                <a:spLocks noChangeAspect="1"/>
              </p:cNvSpPr>
              <p:nvPr/>
            </p:nvSpPr>
            <p:spPr bwMode="auto">
              <a:xfrm>
                <a:off x="4212" y="1123"/>
                <a:ext cx="44" cy="43"/>
              </a:xfrm>
              <a:custGeom>
                <a:avLst/>
                <a:gdLst>
                  <a:gd name="T0" fmla="*/ 0 w 130"/>
                  <a:gd name="T1" fmla="*/ 0 h 130"/>
                  <a:gd name="T2" fmla="*/ 0 w 130"/>
                  <a:gd name="T3" fmla="*/ 0 h 130"/>
                  <a:gd name="T4" fmla="*/ 0 w 130"/>
                  <a:gd name="T5" fmla="*/ 0 h 130"/>
                  <a:gd name="T6" fmla="*/ 0 w 130"/>
                  <a:gd name="T7" fmla="*/ 0 h 130"/>
                  <a:gd name="T8" fmla="*/ 0 w 130"/>
                  <a:gd name="T9" fmla="*/ 0 h 130"/>
                  <a:gd name="T10" fmla="*/ 0 w 130"/>
                  <a:gd name="T11" fmla="*/ 0 h 1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0" h="130">
                    <a:moveTo>
                      <a:pt x="0" y="70"/>
                    </a:moveTo>
                    <a:lnTo>
                      <a:pt x="72" y="0"/>
                    </a:lnTo>
                    <a:lnTo>
                      <a:pt x="95" y="0"/>
                    </a:lnTo>
                    <a:lnTo>
                      <a:pt x="130" y="0"/>
                    </a:lnTo>
                    <a:lnTo>
                      <a:pt x="0" y="130"/>
                    </a:lnTo>
                    <a:lnTo>
                      <a:pt x="0" y="7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02" name="Freeform 4540"/>
              <p:cNvSpPr>
                <a:spLocks noChangeAspect="1"/>
              </p:cNvSpPr>
              <p:nvPr/>
            </p:nvSpPr>
            <p:spPr bwMode="auto">
              <a:xfrm>
                <a:off x="4212" y="1123"/>
                <a:ext cx="54" cy="53"/>
              </a:xfrm>
              <a:custGeom>
                <a:avLst/>
                <a:gdLst>
                  <a:gd name="T0" fmla="*/ 0 w 160"/>
                  <a:gd name="T1" fmla="*/ 0 h 160"/>
                  <a:gd name="T2" fmla="*/ 0 w 160"/>
                  <a:gd name="T3" fmla="*/ 0 h 160"/>
                  <a:gd name="T4" fmla="*/ 0 w 160"/>
                  <a:gd name="T5" fmla="*/ 0 h 160"/>
                  <a:gd name="T6" fmla="*/ 0 w 160"/>
                  <a:gd name="T7" fmla="*/ 0 h 160"/>
                  <a:gd name="T8" fmla="*/ 0 w 160"/>
                  <a:gd name="T9" fmla="*/ 0 h 1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0" h="160">
                    <a:moveTo>
                      <a:pt x="0" y="100"/>
                    </a:moveTo>
                    <a:lnTo>
                      <a:pt x="100" y="0"/>
                    </a:lnTo>
                    <a:lnTo>
                      <a:pt x="160" y="0"/>
                    </a:lnTo>
                    <a:lnTo>
                      <a:pt x="0" y="160"/>
                    </a:lnTo>
                    <a:lnTo>
                      <a:pt x="0" y="1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03" name="Freeform 4541"/>
              <p:cNvSpPr>
                <a:spLocks noChangeAspect="1"/>
              </p:cNvSpPr>
              <p:nvPr/>
            </p:nvSpPr>
            <p:spPr bwMode="auto">
              <a:xfrm>
                <a:off x="4212" y="1123"/>
                <a:ext cx="64" cy="63"/>
              </a:xfrm>
              <a:custGeom>
                <a:avLst/>
                <a:gdLst>
                  <a:gd name="T0" fmla="*/ 0 w 190"/>
                  <a:gd name="T1" fmla="*/ 0 h 189"/>
                  <a:gd name="T2" fmla="*/ 0 w 190"/>
                  <a:gd name="T3" fmla="*/ 0 h 189"/>
                  <a:gd name="T4" fmla="*/ 0 w 190"/>
                  <a:gd name="T5" fmla="*/ 0 h 189"/>
                  <a:gd name="T6" fmla="*/ 0 w 190"/>
                  <a:gd name="T7" fmla="*/ 0 h 189"/>
                  <a:gd name="T8" fmla="*/ 0 w 190"/>
                  <a:gd name="T9" fmla="*/ 0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0" h="189">
                    <a:moveTo>
                      <a:pt x="0" y="130"/>
                    </a:moveTo>
                    <a:lnTo>
                      <a:pt x="130" y="0"/>
                    </a:lnTo>
                    <a:lnTo>
                      <a:pt x="190" y="0"/>
                    </a:lnTo>
                    <a:lnTo>
                      <a:pt x="0" y="189"/>
                    </a:lnTo>
                    <a:lnTo>
                      <a:pt x="0" y="13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04" name="Freeform 4542"/>
              <p:cNvSpPr>
                <a:spLocks noChangeAspect="1"/>
              </p:cNvSpPr>
              <p:nvPr/>
            </p:nvSpPr>
            <p:spPr bwMode="auto">
              <a:xfrm>
                <a:off x="4212" y="1123"/>
                <a:ext cx="74" cy="73"/>
              </a:xfrm>
              <a:custGeom>
                <a:avLst/>
                <a:gdLst>
                  <a:gd name="T0" fmla="*/ 0 w 220"/>
                  <a:gd name="T1" fmla="*/ 0 h 218"/>
                  <a:gd name="T2" fmla="*/ 0 w 220"/>
                  <a:gd name="T3" fmla="*/ 0 h 218"/>
                  <a:gd name="T4" fmla="*/ 0 w 220"/>
                  <a:gd name="T5" fmla="*/ 0 h 218"/>
                  <a:gd name="T6" fmla="*/ 0 w 220"/>
                  <a:gd name="T7" fmla="*/ 0 h 218"/>
                  <a:gd name="T8" fmla="*/ 0 w 220"/>
                  <a:gd name="T9" fmla="*/ 0 h 2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0" h="218">
                    <a:moveTo>
                      <a:pt x="0" y="160"/>
                    </a:moveTo>
                    <a:lnTo>
                      <a:pt x="160" y="0"/>
                    </a:lnTo>
                    <a:lnTo>
                      <a:pt x="220" y="0"/>
                    </a:lnTo>
                    <a:lnTo>
                      <a:pt x="0" y="218"/>
                    </a:lnTo>
                    <a:lnTo>
                      <a:pt x="0" y="16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05" name="Freeform 4543"/>
              <p:cNvSpPr>
                <a:spLocks noChangeAspect="1"/>
              </p:cNvSpPr>
              <p:nvPr/>
            </p:nvSpPr>
            <p:spPr bwMode="auto">
              <a:xfrm>
                <a:off x="4212" y="1123"/>
                <a:ext cx="83" cy="83"/>
              </a:xfrm>
              <a:custGeom>
                <a:avLst/>
                <a:gdLst>
                  <a:gd name="T0" fmla="*/ 0 w 248"/>
                  <a:gd name="T1" fmla="*/ 0 h 248"/>
                  <a:gd name="T2" fmla="*/ 0 w 248"/>
                  <a:gd name="T3" fmla="*/ 0 h 248"/>
                  <a:gd name="T4" fmla="*/ 0 w 248"/>
                  <a:gd name="T5" fmla="*/ 0 h 248"/>
                  <a:gd name="T6" fmla="*/ 0 w 248"/>
                  <a:gd name="T7" fmla="*/ 0 h 248"/>
                  <a:gd name="T8" fmla="*/ 0 w 248"/>
                  <a:gd name="T9" fmla="*/ 0 h 2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8" h="248">
                    <a:moveTo>
                      <a:pt x="0" y="189"/>
                    </a:moveTo>
                    <a:lnTo>
                      <a:pt x="190" y="0"/>
                    </a:lnTo>
                    <a:lnTo>
                      <a:pt x="248" y="0"/>
                    </a:lnTo>
                    <a:lnTo>
                      <a:pt x="0" y="248"/>
                    </a:lnTo>
                    <a:lnTo>
                      <a:pt x="0" y="189"/>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06" name="Freeform 4544"/>
              <p:cNvSpPr>
                <a:spLocks noChangeAspect="1"/>
              </p:cNvSpPr>
              <p:nvPr/>
            </p:nvSpPr>
            <p:spPr bwMode="auto">
              <a:xfrm>
                <a:off x="4212" y="1123"/>
                <a:ext cx="93" cy="93"/>
              </a:xfrm>
              <a:custGeom>
                <a:avLst/>
                <a:gdLst>
                  <a:gd name="T0" fmla="*/ 0 w 278"/>
                  <a:gd name="T1" fmla="*/ 0 h 278"/>
                  <a:gd name="T2" fmla="*/ 0 w 278"/>
                  <a:gd name="T3" fmla="*/ 0 h 278"/>
                  <a:gd name="T4" fmla="*/ 0 w 278"/>
                  <a:gd name="T5" fmla="*/ 0 h 278"/>
                  <a:gd name="T6" fmla="*/ 0 w 278"/>
                  <a:gd name="T7" fmla="*/ 0 h 278"/>
                  <a:gd name="T8" fmla="*/ 0 w 278"/>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8" h="278">
                    <a:moveTo>
                      <a:pt x="0" y="218"/>
                    </a:moveTo>
                    <a:lnTo>
                      <a:pt x="220" y="0"/>
                    </a:lnTo>
                    <a:lnTo>
                      <a:pt x="278" y="0"/>
                    </a:lnTo>
                    <a:lnTo>
                      <a:pt x="0" y="278"/>
                    </a:lnTo>
                    <a:lnTo>
                      <a:pt x="0" y="21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07" name="Freeform 4545"/>
              <p:cNvSpPr>
                <a:spLocks noChangeAspect="1"/>
              </p:cNvSpPr>
              <p:nvPr/>
            </p:nvSpPr>
            <p:spPr bwMode="auto">
              <a:xfrm>
                <a:off x="4212" y="1123"/>
                <a:ext cx="103" cy="102"/>
              </a:xfrm>
              <a:custGeom>
                <a:avLst/>
                <a:gdLst>
                  <a:gd name="T0" fmla="*/ 0 w 308"/>
                  <a:gd name="T1" fmla="*/ 0 h 307"/>
                  <a:gd name="T2" fmla="*/ 0 w 308"/>
                  <a:gd name="T3" fmla="*/ 0 h 307"/>
                  <a:gd name="T4" fmla="*/ 0 w 308"/>
                  <a:gd name="T5" fmla="*/ 0 h 307"/>
                  <a:gd name="T6" fmla="*/ 0 w 308"/>
                  <a:gd name="T7" fmla="*/ 0 h 307"/>
                  <a:gd name="T8" fmla="*/ 0 w 308"/>
                  <a:gd name="T9" fmla="*/ 0 h 3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307">
                    <a:moveTo>
                      <a:pt x="0" y="248"/>
                    </a:moveTo>
                    <a:lnTo>
                      <a:pt x="248" y="0"/>
                    </a:lnTo>
                    <a:lnTo>
                      <a:pt x="308" y="0"/>
                    </a:lnTo>
                    <a:lnTo>
                      <a:pt x="0" y="307"/>
                    </a:lnTo>
                    <a:lnTo>
                      <a:pt x="0" y="2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08" name="Freeform 4546"/>
              <p:cNvSpPr>
                <a:spLocks noChangeAspect="1"/>
              </p:cNvSpPr>
              <p:nvPr/>
            </p:nvSpPr>
            <p:spPr bwMode="auto">
              <a:xfrm>
                <a:off x="4212" y="1123"/>
                <a:ext cx="113" cy="105"/>
              </a:xfrm>
              <a:custGeom>
                <a:avLst/>
                <a:gdLst>
                  <a:gd name="T0" fmla="*/ 0 w 338"/>
                  <a:gd name="T1" fmla="*/ 0 h 315"/>
                  <a:gd name="T2" fmla="*/ 0 w 338"/>
                  <a:gd name="T3" fmla="*/ 0 h 315"/>
                  <a:gd name="T4" fmla="*/ 0 w 338"/>
                  <a:gd name="T5" fmla="*/ 0 h 315"/>
                  <a:gd name="T6" fmla="*/ 0 w 338"/>
                  <a:gd name="T7" fmla="*/ 0 h 315"/>
                  <a:gd name="T8" fmla="*/ 0 w 338"/>
                  <a:gd name="T9" fmla="*/ 0 h 315"/>
                  <a:gd name="T10" fmla="*/ 0 w 338"/>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8" h="315">
                    <a:moveTo>
                      <a:pt x="0" y="278"/>
                    </a:moveTo>
                    <a:lnTo>
                      <a:pt x="278" y="0"/>
                    </a:lnTo>
                    <a:lnTo>
                      <a:pt x="338" y="0"/>
                    </a:lnTo>
                    <a:lnTo>
                      <a:pt x="23" y="315"/>
                    </a:lnTo>
                    <a:lnTo>
                      <a:pt x="0" y="315"/>
                    </a:lnTo>
                    <a:lnTo>
                      <a:pt x="0" y="27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09" name="Freeform 4547"/>
              <p:cNvSpPr>
                <a:spLocks noChangeAspect="1"/>
              </p:cNvSpPr>
              <p:nvPr/>
            </p:nvSpPr>
            <p:spPr bwMode="auto">
              <a:xfrm>
                <a:off x="4212" y="1123"/>
                <a:ext cx="123" cy="105"/>
              </a:xfrm>
              <a:custGeom>
                <a:avLst/>
                <a:gdLst>
                  <a:gd name="T0" fmla="*/ 0 w 368"/>
                  <a:gd name="T1" fmla="*/ 0 h 315"/>
                  <a:gd name="T2" fmla="*/ 0 w 368"/>
                  <a:gd name="T3" fmla="*/ 0 h 315"/>
                  <a:gd name="T4" fmla="*/ 0 w 368"/>
                  <a:gd name="T5" fmla="*/ 0 h 315"/>
                  <a:gd name="T6" fmla="*/ 0 w 368"/>
                  <a:gd name="T7" fmla="*/ 0 h 315"/>
                  <a:gd name="T8" fmla="*/ 0 w 368"/>
                  <a:gd name="T9" fmla="*/ 0 h 315"/>
                  <a:gd name="T10" fmla="*/ 0 w 368"/>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68" h="315">
                    <a:moveTo>
                      <a:pt x="0" y="307"/>
                    </a:moveTo>
                    <a:lnTo>
                      <a:pt x="308" y="0"/>
                    </a:lnTo>
                    <a:lnTo>
                      <a:pt x="368" y="0"/>
                    </a:lnTo>
                    <a:lnTo>
                      <a:pt x="53" y="315"/>
                    </a:lnTo>
                    <a:lnTo>
                      <a:pt x="0" y="315"/>
                    </a:lnTo>
                    <a:lnTo>
                      <a:pt x="0" y="3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10" name="Freeform 4548"/>
              <p:cNvSpPr>
                <a:spLocks noChangeAspect="1"/>
              </p:cNvSpPr>
              <p:nvPr/>
            </p:nvSpPr>
            <p:spPr bwMode="auto">
              <a:xfrm>
                <a:off x="4220" y="1123"/>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5" y="0"/>
                    </a:lnTo>
                    <a:lnTo>
                      <a:pt x="373"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11" name="Freeform 4549"/>
              <p:cNvSpPr>
                <a:spLocks noChangeAspect="1"/>
              </p:cNvSpPr>
              <p:nvPr/>
            </p:nvSpPr>
            <p:spPr bwMode="auto">
              <a:xfrm>
                <a:off x="4230" y="1123"/>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5" y="0"/>
                    </a:lnTo>
                    <a:lnTo>
                      <a:pt x="373"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12" name="Freeform 4550"/>
              <p:cNvSpPr>
                <a:spLocks noChangeAspect="1"/>
              </p:cNvSpPr>
              <p:nvPr/>
            </p:nvSpPr>
            <p:spPr bwMode="auto">
              <a:xfrm>
                <a:off x="4240" y="1123"/>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4"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13" name="Freeform 4551"/>
              <p:cNvSpPr>
                <a:spLocks noChangeAspect="1"/>
              </p:cNvSpPr>
              <p:nvPr/>
            </p:nvSpPr>
            <p:spPr bwMode="auto">
              <a:xfrm>
                <a:off x="4250" y="1123"/>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4"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14" name="Freeform 4552"/>
              <p:cNvSpPr>
                <a:spLocks noChangeAspect="1"/>
              </p:cNvSpPr>
              <p:nvPr/>
            </p:nvSpPr>
            <p:spPr bwMode="auto">
              <a:xfrm>
                <a:off x="4259" y="1123"/>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5" y="0"/>
                    </a:lnTo>
                    <a:lnTo>
                      <a:pt x="375"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15" name="Freeform 4553"/>
              <p:cNvSpPr>
                <a:spLocks noChangeAspect="1"/>
              </p:cNvSpPr>
              <p:nvPr/>
            </p:nvSpPr>
            <p:spPr bwMode="auto">
              <a:xfrm>
                <a:off x="4269"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w 374"/>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74" h="315">
                    <a:moveTo>
                      <a:pt x="0" y="315"/>
                    </a:moveTo>
                    <a:lnTo>
                      <a:pt x="315" y="0"/>
                    </a:lnTo>
                    <a:lnTo>
                      <a:pt x="374" y="0"/>
                    </a:lnTo>
                    <a:lnTo>
                      <a:pt x="59" y="315"/>
                    </a:lnTo>
                    <a:lnTo>
                      <a:pt x="47"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16" name="Freeform 4554"/>
              <p:cNvSpPr>
                <a:spLocks noChangeAspect="1"/>
              </p:cNvSpPr>
              <p:nvPr/>
            </p:nvSpPr>
            <p:spPr bwMode="auto">
              <a:xfrm>
                <a:off x="4279"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w 374"/>
                  <a:gd name="T11" fmla="*/ 0 h 315"/>
                  <a:gd name="T12" fmla="*/ 0 w 374"/>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74" h="315">
                    <a:moveTo>
                      <a:pt x="0" y="315"/>
                    </a:moveTo>
                    <a:lnTo>
                      <a:pt x="316" y="0"/>
                    </a:lnTo>
                    <a:lnTo>
                      <a:pt x="361" y="0"/>
                    </a:lnTo>
                    <a:lnTo>
                      <a:pt x="374" y="0"/>
                    </a:lnTo>
                    <a:lnTo>
                      <a:pt x="60" y="315"/>
                    </a:lnTo>
                    <a:lnTo>
                      <a:pt x="1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17" name="Freeform 4555"/>
              <p:cNvSpPr>
                <a:spLocks noChangeAspect="1"/>
              </p:cNvSpPr>
              <p:nvPr/>
            </p:nvSpPr>
            <p:spPr bwMode="auto">
              <a:xfrm>
                <a:off x="4289"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w 374"/>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74" h="315">
                    <a:moveTo>
                      <a:pt x="0" y="315"/>
                    </a:moveTo>
                    <a:lnTo>
                      <a:pt x="315" y="0"/>
                    </a:lnTo>
                    <a:lnTo>
                      <a:pt x="331"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18" name="Freeform 4556"/>
              <p:cNvSpPr>
                <a:spLocks noChangeAspect="1"/>
              </p:cNvSpPr>
              <p:nvPr/>
            </p:nvSpPr>
            <p:spPr bwMode="auto">
              <a:xfrm>
                <a:off x="4299"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4"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19" name="Freeform 4557"/>
              <p:cNvSpPr>
                <a:spLocks noChangeAspect="1"/>
              </p:cNvSpPr>
              <p:nvPr/>
            </p:nvSpPr>
            <p:spPr bwMode="auto">
              <a:xfrm>
                <a:off x="4309" y="1123"/>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20" name="Freeform 4558"/>
              <p:cNvSpPr>
                <a:spLocks noChangeAspect="1"/>
              </p:cNvSpPr>
              <p:nvPr/>
            </p:nvSpPr>
            <p:spPr bwMode="auto">
              <a:xfrm>
                <a:off x="4319" y="1123"/>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21" name="Freeform 4559"/>
              <p:cNvSpPr>
                <a:spLocks noChangeAspect="1"/>
              </p:cNvSpPr>
              <p:nvPr/>
            </p:nvSpPr>
            <p:spPr bwMode="auto">
              <a:xfrm>
                <a:off x="4328"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22" name="Freeform 4560"/>
              <p:cNvSpPr>
                <a:spLocks noChangeAspect="1"/>
              </p:cNvSpPr>
              <p:nvPr/>
            </p:nvSpPr>
            <p:spPr bwMode="auto">
              <a:xfrm>
                <a:off x="4338"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23" name="Freeform 4561"/>
              <p:cNvSpPr>
                <a:spLocks noChangeAspect="1"/>
              </p:cNvSpPr>
              <p:nvPr/>
            </p:nvSpPr>
            <p:spPr bwMode="auto">
              <a:xfrm>
                <a:off x="4348"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4"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24" name="Freeform 4562"/>
              <p:cNvSpPr>
                <a:spLocks noChangeAspect="1"/>
              </p:cNvSpPr>
              <p:nvPr/>
            </p:nvSpPr>
            <p:spPr bwMode="auto">
              <a:xfrm>
                <a:off x="4358"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25" name="Freeform 4563"/>
              <p:cNvSpPr>
                <a:spLocks noChangeAspect="1"/>
              </p:cNvSpPr>
              <p:nvPr/>
            </p:nvSpPr>
            <p:spPr bwMode="auto">
              <a:xfrm>
                <a:off x="4368"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59"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26" name="Freeform 4564"/>
              <p:cNvSpPr>
                <a:spLocks noChangeAspect="1"/>
              </p:cNvSpPr>
              <p:nvPr/>
            </p:nvSpPr>
            <p:spPr bwMode="auto">
              <a:xfrm>
                <a:off x="4378" y="1123"/>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27" name="Freeform 4565"/>
              <p:cNvSpPr>
                <a:spLocks noChangeAspect="1"/>
              </p:cNvSpPr>
              <p:nvPr/>
            </p:nvSpPr>
            <p:spPr bwMode="auto">
              <a:xfrm>
                <a:off x="4388" y="1123"/>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28" name="Freeform 4566"/>
              <p:cNvSpPr>
                <a:spLocks noChangeAspect="1"/>
              </p:cNvSpPr>
              <p:nvPr/>
            </p:nvSpPr>
            <p:spPr bwMode="auto">
              <a:xfrm>
                <a:off x="4398" y="1123"/>
                <a:ext cx="124"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4" y="0"/>
                    </a:lnTo>
                    <a:lnTo>
                      <a:pt x="374"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29" name="Freeform 4567"/>
              <p:cNvSpPr>
                <a:spLocks noChangeAspect="1"/>
              </p:cNvSpPr>
              <p:nvPr/>
            </p:nvSpPr>
            <p:spPr bwMode="auto">
              <a:xfrm>
                <a:off x="4408" y="1123"/>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30" name="Freeform 4568"/>
              <p:cNvSpPr>
                <a:spLocks noChangeAspect="1"/>
              </p:cNvSpPr>
              <p:nvPr/>
            </p:nvSpPr>
            <p:spPr bwMode="auto">
              <a:xfrm>
                <a:off x="4417" y="1123"/>
                <a:ext cx="125" cy="105"/>
              </a:xfrm>
              <a:custGeom>
                <a:avLst/>
                <a:gdLst>
                  <a:gd name="T0" fmla="*/ 0 w 375"/>
                  <a:gd name="T1" fmla="*/ 0 h 315"/>
                  <a:gd name="T2" fmla="*/ 0 w 375"/>
                  <a:gd name="T3" fmla="*/ 0 h 315"/>
                  <a:gd name="T4" fmla="*/ 0 w 375"/>
                  <a:gd name="T5" fmla="*/ 0 h 315"/>
                  <a:gd name="T6" fmla="*/ 0 w 375"/>
                  <a:gd name="T7" fmla="*/ 0 h 315"/>
                  <a:gd name="T8" fmla="*/ 0 w 375"/>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5" h="315">
                    <a:moveTo>
                      <a:pt x="0" y="315"/>
                    </a:moveTo>
                    <a:lnTo>
                      <a:pt x="316" y="0"/>
                    </a:lnTo>
                    <a:lnTo>
                      <a:pt x="375"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31" name="Freeform 4569"/>
              <p:cNvSpPr>
                <a:spLocks noChangeAspect="1"/>
              </p:cNvSpPr>
              <p:nvPr/>
            </p:nvSpPr>
            <p:spPr bwMode="auto">
              <a:xfrm>
                <a:off x="4427"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32" name="Freeform 4570"/>
              <p:cNvSpPr>
                <a:spLocks noChangeAspect="1"/>
              </p:cNvSpPr>
              <p:nvPr/>
            </p:nvSpPr>
            <p:spPr bwMode="auto">
              <a:xfrm>
                <a:off x="4437" y="1123"/>
                <a:ext cx="125" cy="105"/>
              </a:xfrm>
              <a:custGeom>
                <a:avLst/>
                <a:gdLst>
                  <a:gd name="T0" fmla="*/ 0 w 374"/>
                  <a:gd name="T1" fmla="*/ 0 h 315"/>
                  <a:gd name="T2" fmla="*/ 0 w 374"/>
                  <a:gd name="T3" fmla="*/ 0 h 315"/>
                  <a:gd name="T4" fmla="*/ 0 w 374"/>
                  <a:gd name="T5" fmla="*/ 0 h 315"/>
                  <a:gd name="T6" fmla="*/ 0 w 374"/>
                  <a:gd name="T7" fmla="*/ 0 h 315"/>
                  <a:gd name="T8" fmla="*/ 0 w 374"/>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4" h="315">
                    <a:moveTo>
                      <a:pt x="0" y="315"/>
                    </a:moveTo>
                    <a:lnTo>
                      <a:pt x="315" y="0"/>
                    </a:lnTo>
                    <a:lnTo>
                      <a:pt x="374" y="0"/>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33" name="Freeform 4571"/>
              <p:cNvSpPr>
                <a:spLocks noChangeAspect="1"/>
              </p:cNvSpPr>
              <p:nvPr/>
            </p:nvSpPr>
            <p:spPr bwMode="auto">
              <a:xfrm>
                <a:off x="4447" y="1123"/>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34" name="Freeform 4572"/>
              <p:cNvSpPr>
                <a:spLocks noChangeAspect="1"/>
              </p:cNvSpPr>
              <p:nvPr/>
            </p:nvSpPr>
            <p:spPr bwMode="auto">
              <a:xfrm>
                <a:off x="4457" y="1123"/>
                <a:ext cx="124" cy="105"/>
              </a:xfrm>
              <a:custGeom>
                <a:avLst/>
                <a:gdLst>
                  <a:gd name="T0" fmla="*/ 0 w 373"/>
                  <a:gd name="T1" fmla="*/ 0 h 315"/>
                  <a:gd name="T2" fmla="*/ 0 w 373"/>
                  <a:gd name="T3" fmla="*/ 0 h 315"/>
                  <a:gd name="T4" fmla="*/ 0 w 373"/>
                  <a:gd name="T5" fmla="*/ 0 h 315"/>
                  <a:gd name="T6" fmla="*/ 0 w 373"/>
                  <a:gd name="T7" fmla="*/ 0 h 315"/>
                  <a:gd name="T8" fmla="*/ 0 w 373"/>
                  <a:gd name="T9" fmla="*/ 0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3" h="315">
                    <a:moveTo>
                      <a:pt x="0" y="315"/>
                    </a:moveTo>
                    <a:lnTo>
                      <a:pt x="314" y="0"/>
                    </a:lnTo>
                    <a:lnTo>
                      <a:pt x="373" y="0"/>
                    </a:lnTo>
                    <a:lnTo>
                      <a:pt x="58"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35" name="Freeform 4573"/>
              <p:cNvSpPr>
                <a:spLocks noChangeAspect="1"/>
              </p:cNvSpPr>
              <p:nvPr/>
            </p:nvSpPr>
            <p:spPr bwMode="auto">
              <a:xfrm>
                <a:off x="4466" y="1123"/>
                <a:ext cx="123" cy="105"/>
              </a:xfrm>
              <a:custGeom>
                <a:avLst/>
                <a:gdLst>
                  <a:gd name="T0" fmla="*/ 0 w 368"/>
                  <a:gd name="T1" fmla="*/ 0 h 315"/>
                  <a:gd name="T2" fmla="*/ 0 w 368"/>
                  <a:gd name="T3" fmla="*/ 0 h 315"/>
                  <a:gd name="T4" fmla="*/ 0 w 368"/>
                  <a:gd name="T5" fmla="*/ 0 h 315"/>
                  <a:gd name="T6" fmla="*/ 0 w 368"/>
                  <a:gd name="T7" fmla="*/ 0 h 315"/>
                  <a:gd name="T8" fmla="*/ 0 w 368"/>
                  <a:gd name="T9" fmla="*/ 0 h 315"/>
                  <a:gd name="T10" fmla="*/ 0 w 368"/>
                  <a:gd name="T11" fmla="*/ 0 h 315"/>
                  <a:gd name="T12" fmla="*/ 0 w 368"/>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8" h="315">
                    <a:moveTo>
                      <a:pt x="0" y="315"/>
                    </a:moveTo>
                    <a:lnTo>
                      <a:pt x="315" y="0"/>
                    </a:lnTo>
                    <a:lnTo>
                      <a:pt x="368" y="0"/>
                    </a:lnTo>
                    <a:lnTo>
                      <a:pt x="368" y="8"/>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36" name="Freeform 4574"/>
              <p:cNvSpPr>
                <a:spLocks noChangeAspect="1"/>
              </p:cNvSpPr>
              <p:nvPr/>
            </p:nvSpPr>
            <p:spPr bwMode="auto">
              <a:xfrm>
                <a:off x="4476" y="1123"/>
                <a:ext cx="113" cy="105"/>
              </a:xfrm>
              <a:custGeom>
                <a:avLst/>
                <a:gdLst>
                  <a:gd name="T0" fmla="*/ 0 w 338"/>
                  <a:gd name="T1" fmla="*/ 0 h 315"/>
                  <a:gd name="T2" fmla="*/ 0 w 338"/>
                  <a:gd name="T3" fmla="*/ 0 h 315"/>
                  <a:gd name="T4" fmla="*/ 0 w 338"/>
                  <a:gd name="T5" fmla="*/ 0 h 315"/>
                  <a:gd name="T6" fmla="*/ 0 w 338"/>
                  <a:gd name="T7" fmla="*/ 0 h 315"/>
                  <a:gd name="T8" fmla="*/ 0 w 338"/>
                  <a:gd name="T9" fmla="*/ 0 h 315"/>
                  <a:gd name="T10" fmla="*/ 0 w 338"/>
                  <a:gd name="T11" fmla="*/ 0 h 315"/>
                  <a:gd name="T12" fmla="*/ 0 w 338"/>
                  <a:gd name="T13" fmla="*/ 0 h 3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8" h="315">
                    <a:moveTo>
                      <a:pt x="0" y="315"/>
                    </a:moveTo>
                    <a:lnTo>
                      <a:pt x="315" y="0"/>
                    </a:lnTo>
                    <a:lnTo>
                      <a:pt x="338" y="0"/>
                    </a:lnTo>
                    <a:lnTo>
                      <a:pt x="338" y="37"/>
                    </a:lnTo>
                    <a:lnTo>
                      <a:pt x="60" y="315"/>
                    </a:lnTo>
                    <a:lnTo>
                      <a:pt x="0" y="315"/>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37" name="Freeform 4575"/>
              <p:cNvSpPr>
                <a:spLocks noChangeAspect="1"/>
              </p:cNvSpPr>
              <p:nvPr/>
            </p:nvSpPr>
            <p:spPr bwMode="auto">
              <a:xfrm>
                <a:off x="4486" y="1126"/>
                <a:ext cx="103" cy="102"/>
              </a:xfrm>
              <a:custGeom>
                <a:avLst/>
                <a:gdLst>
                  <a:gd name="T0" fmla="*/ 0 w 308"/>
                  <a:gd name="T1" fmla="*/ 0 h 307"/>
                  <a:gd name="T2" fmla="*/ 0 w 308"/>
                  <a:gd name="T3" fmla="*/ 0 h 307"/>
                  <a:gd name="T4" fmla="*/ 0 w 308"/>
                  <a:gd name="T5" fmla="*/ 0 h 307"/>
                  <a:gd name="T6" fmla="*/ 0 w 308"/>
                  <a:gd name="T7" fmla="*/ 0 h 307"/>
                  <a:gd name="T8" fmla="*/ 0 w 308"/>
                  <a:gd name="T9" fmla="*/ 0 h 3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307">
                    <a:moveTo>
                      <a:pt x="0" y="307"/>
                    </a:moveTo>
                    <a:lnTo>
                      <a:pt x="308" y="0"/>
                    </a:lnTo>
                    <a:lnTo>
                      <a:pt x="308" y="59"/>
                    </a:lnTo>
                    <a:lnTo>
                      <a:pt x="60" y="307"/>
                    </a:lnTo>
                    <a:lnTo>
                      <a:pt x="0" y="307"/>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38" name="Freeform 4576"/>
              <p:cNvSpPr>
                <a:spLocks noChangeAspect="1"/>
              </p:cNvSpPr>
              <p:nvPr/>
            </p:nvSpPr>
            <p:spPr bwMode="auto">
              <a:xfrm>
                <a:off x="4496" y="1135"/>
                <a:ext cx="93" cy="93"/>
              </a:xfrm>
              <a:custGeom>
                <a:avLst/>
                <a:gdLst>
                  <a:gd name="T0" fmla="*/ 0 w 278"/>
                  <a:gd name="T1" fmla="*/ 0 h 278"/>
                  <a:gd name="T2" fmla="*/ 0 w 278"/>
                  <a:gd name="T3" fmla="*/ 0 h 278"/>
                  <a:gd name="T4" fmla="*/ 0 w 278"/>
                  <a:gd name="T5" fmla="*/ 0 h 278"/>
                  <a:gd name="T6" fmla="*/ 0 w 278"/>
                  <a:gd name="T7" fmla="*/ 0 h 278"/>
                  <a:gd name="T8" fmla="*/ 0 w 278"/>
                  <a:gd name="T9" fmla="*/ 0 h 278"/>
                  <a:gd name="T10" fmla="*/ 0 w 278"/>
                  <a:gd name="T11" fmla="*/ 0 h 27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8" h="278">
                    <a:moveTo>
                      <a:pt x="0" y="278"/>
                    </a:moveTo>
                    <a:lnTo>
                      <a:pt x="278" y="0"/>
                    </a:lnTo>
                    <a:lnTo>
                      <a:pt x="278" y="60"/>
                    </a:lnTo>
                    <a:lnTo>
                      <a:pt x="58" y="278"/>
                    </a:lnTo>
                    <a:lnTo>
                      <a:pt x="37" y="278"/>
                    </a:lnTo>
                    <a:lnTo>
                      <a:pt x="0" y="27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39" name="Freeform 4577"/>
              <p:cNvSpPr>
                <a:spLocks noChangeAspect="1"/>
              </p:cNvSpPr>
              <p:nvPr/>
            </p:nvSpPr>
            <p:spPr bwMode="auto">
              <a:xfrm>
                <a:off x="4506" y="1145"/>
                <a:ext cx="83" cy="83"/>
              </a:xfrm>
              <a:custGeom>
                <a:avLst/>
                <a:gdLst>
                  <a:gd name="T0" fmla="*/ 0 w 248"/>
                  <a:gd name="T1" fmla="*/ 0 h 248"/>
                  <a:gd name="T2" fmla="*/ 0 w 248"/>
                  <a:gd name="T3" fmla="*/ 0 h 248"/>
                  <a:gd name="T4" fmla="*/ 0 w 248"/>
                  <a:gd name="T5" fmla="*/ 0 h 248"/>
                  <a:gd name="T6" fmla="*/ 0 w 248"/>
                  <a:gd name="T7" fmla="*/ 0 h 248"/>
                  <a:gd name="T8" fmla="*/ 0 w 248"/>
                  <a:gd name="T9" fmla="*/ 0 h 248"/>
                  <a:gd name="T10" fmla="*/ 0 w 248"/>
                  <a:gd name="T11" fmla="*/ 0 h 2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8" h="248">
                    <a:moveTo>
                      <a:pt x="0" y="248"/>
                    </a:moveTo>
                    <a:lnTo>
                      <a:pt x="248" y="0"/>
                    </a:lnTo>
                    <a:lnTo>
                      <a:pt x="248" y="60"/>
                    </a:lnTo>
                    <a:lnTo>
                      <a:pt x="58" y="248"/>
                    </a:lnTo>
                    <a:lnTo>
                      <a:pt x="7" y="248"/>
                    </a:lnTo>
                    <a:lnTo>
                      <a:pt x="0" y="24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40" name="Freeform 4578"/>
              <p:cNvSpPr>
                <a:spLocks noChangeAspect="1"/>
              </p:cNvSpPr>
              <p:nvPr/>
            </p:nvSpPr>
            <p:spPr bwMode="auto">
              <a:xfrm>
                <a:off x="4516" y="1155"/>
                <a:ext cx="73" cy="73"/>
              </a:xfrm>
              <a:custGeom>
                <a:avLst/>
                <a:gdLst>
                  <a:gd name="T0" fmla="*/ 0 w 220"/>
                  <a:gd name="T1" fmla="*/ 0 h 218"/>
                  <a:gd name="T2" fmla="*/ 0 w 220"/>
                  <a:gd name="T3" fmla="*/ 0 h 218"/>
                  <a:gd name="T4" fmla="*/ 0 w 220"/>
                  <a:gd name="T5" fmla="*/ 0 h 218"/>
                  <a:gd name="T6" fmla="*/ 0 w 220"/>
                  <a:gd name="T7" fmla="*/ 0 h 218"/>
                  <a:gd name="T8" fmla="*/ 0 w 220"/>
                  <a:gd name="T9" fmla="*/ 0 h 2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0" h="218">
                    <a:moveTo>
                      <a:pt x="0" y="218"/>
                    </a:moveTo>
                    <a:lnTo>
                      <a:pt x="220" y="0"/>
                    </a:lnTo>
                    <a:lnTo>
                      <a:pt x="220" y="58"/>
                    </a:lnTo>
                    <a:lnTo>
                      <a:pt x="60" y="218"/>
                    </a:lnTo>
                    <a:lnTo>
                      <a:pt x="0" y="21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41" name="Freeform 4579"/>
              <p:cNvSpPr>
                <a:spLocks noChangeAspect="1"/>
              </p:cNvSpPr>
              <p:nvPr/>
            </p:nvSpPr>
            <p:spPr bwMode="auto">
              <a:xfrm>
                <a:off x="4526" y="1165"/>
                <a:ext cx="63" cy="63"/>
              </a:xfrm>
              <a:custGeom>
                <a:avLst/>
                <a:gdLst>
                  <a:gd name="T0" fmla="*/ 0 w 190"/>
                  <a:gd name="T1" fmla="*/ 0 h 188"/>
                  <a:gd name="T2" fmla="*/ 0 w 190"/>
                  <a:gd name="T3" fmla="*/ 0 h 188"/>
                  <a:gd name="T4" fmla="*/ 0 w 190"/>
                  <a:gd name="T5" fmla="*/ 0 h 188"/>
                  <a:gd name="T6" fmla="*/ 0 w 190"/>
                  <a:gd name="T7" fmla="*/ 0 h 188"/>
                  <a:gd name="T8" fmla="*/ 0 w 190"/>
                  <a:gd name="T9" fmla="*/ 0 h 1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0" h="188">
                    <a:moveTo>
                      <a:pt x="0" y="188"/>
                    </a:moveTo>
                    <a:lnTo>
                      <a:pt x="190" y="0"/>
                    </a:lnTo>
                    <a:lnTo>
                      <a:pt x="190" y="58"/>
                    </a:lnTo>
                    <a:lnTo>
                      <a:pt x="60" y="188"/>
                    </a:lnTo>
                    <a:lnTo>
                      <a:pt x="0" y="188"/>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42" name="Freeform 4580"/>
              <p:cNvSpPr>
                <a:spLocks noChangeAspect="1"/>
              </p:cNvSpPr>
              <p:nvPr/>
            </p:nvSpPr>
            <p:spPr bwMode="auto">
              <a:xfrm>
                <a:off x="4536" y="1175"/>
                <a:ext cx="53" cy="53"/>
              </a:xfrm>
              <a:custGeom>
                <a:avLst/>
                <a:gdLst>
                  <a:gd name="T0" fmla="*/ 0 w 160"/>
                  <a:gd name="T1" fmla="*/ 0 h 160"/>
                  <a:gd name="T2" fmla="*/ 0 w 160"/>
                  <a:gd name="T3" fmla="*/ 0 h 160"/>
                  <a:gd name="T4" fmla="*/ 0 w 160"/>
                  <a:gd name="T5" fmla="*/ 0 h 160"/>
                  <a:gd name="T6" fmla="*/ 0 w 160"/>
                  <a:gd name="T7" fmla="*/ 0 h 160"/>
                  <a:gd name="T8" fmla="*/ 0 w 160"/>
                  <a:gd name="T9" fmla="*/ 0 h 1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0" h="160">
                    <a:moveTo>
                      <a:pt x="0" y="160"/>
                    </a:moveTo>
                    <a:lnTo>
                      <a:pt x="160" y="0"/>
                    </a:lnTo>
                    <a:lnTo>
                      <a:pt x="160" y="60"/>
                    </a:lnTo>
                    <a:lnTo>
                      <a:pt x="60" y="160"/>
                    </a:lnTo>
                    <a:lnTo>
                      <a:pt x="0" y="16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43" name="Freeform 4581"/>
              <p:cNvSpPr>
                <a:spLocks noChangeAspect="1"/>
              </p:cNvSpPr>
              <p:nvPr/>
            </p:nvSpPr>
            <p:spPr bwMode="auto">
              <a:xfrm>
                <a:off x="4546" y="1185"/>
                <a:ext cx="43" cy="43"/>
              </a:xfrm>
              <a:custGeom>
                <a:avLst/>
                <a:gdLst>
                  <a:gd name="T0" fmla="*/ 0 w 130"/>
                  <a:gd name="T1" fmla="*/ 0 h 130"/>
                  <a:gd name="T2" fmla="*/ 0 w 130"/>
                  <a:gd name="T3" fmla="*/ 0 h 130"/>
                  <a:gd name="T4" fmla="*/ 0 w 130"/>
                  <a:gd name="T5" fmla="*/ 0 h 130"/>
                  <a:gd name="T6" fmla="*/ 0 w 130"/>
                  <a:gd name="T7" fmla="*/ 0 h 130"/>
                  <a:gd name="T8" fmla="*/ 0 w 130"/>
                  <a:gd name="T9" fmla="*/ 0 h 1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0" h="130">
                    <a:moveTo>
                      <a:pt x="0" y="130"/>
                    </a:moveTo>
                    <a:lnTo>
                      <a:pt x="130" y="0"/>
                    </a:lnTo>
                    <a:lnTo>
                      <a:pt x="130" y="60"/>
                    </a:lnTo>
                    <a:lnTo>
                      <a:pt x="58" y="130"/>
                    </a:lnTo>
                    <a:lnTo>
                      <a:pt x="0" y="13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44" name="Freeform 4582"/>
              <p:cNvSpPr>
                <a:spLocks noChangeAspect="1"/>
              </p:cNvSpPr>
              <p:nvPr/>
            </p:nvSpPr>
            <p:spPr bwMode="auto">
              <a:xfrm>
                <a:off x="4556" y="1195"/>
                <a:ext cx="33" cy="33"/>
              </a:xfrm>
              <a:custGeom>
                <a:avLst/>
                <a:gdLst>
                  <a:gd name="T0" fmla="*/ 0 w 100"/>
                  <a:gd name="T1" fmla="*/ 0 h 100"/>
                  <a:gd name="T2" fmla="*/ 0 w 100"/>
                  <a:gd name="T3" fmla="*/ 0 h 100"/>
                  <a:gd name="T4" fmla="*/ 0 w 100"/>
                  <a:gd name="T5" fmla="*/ 0 h 100"/>
                  <a:gd name="T6" fmla="*/ 0 w 100"/>
                  <a:gd name="T7" fmla="*/ 0 h 100"/>
                  <a:gd name="T8" fmla="*/ 0 w 100"/>
                  <a:gd name="T9" fmla="*/ 0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 h="100">
                    <a:moveTo>
                      <a:pt x="0" y="100"/>
                    </a:moveTo>
                    <a:lnTo>
                      <a:pt x="100" y="0"/>
                    </a:lnTo>
                    <a:lnTo>
                      <a:pt x="100" y="59"/>
                    </a:lnTo>
                    <a:lnTo>
                      <a:pt x="58" y="100"/>
                    </a:lnTo>
                    <a:lnTo>
                      <a:pt x="0" y="10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45" name="Freeform 4583"/>
              <p:cNvSpPr>
                <a:spLocks noChangeAspect="1"/>
              </p:cNvSpPr>
              <p:nvPr/>
            </p:nvSpPr>
            <p:spPr bwMode="auto">
              <a:xfrm>
                <a:off x="4565" y="1205"/>
                <a:ext cx="24" cy="23"/>
              </a:xfrm>
              <a:custGeom>
                <a:avLst/>
                <a:gdLst>
                  <a:gd name="T0" fmla="*/ 0 w 72"/>
                  <a:gd name="T1" fmla="*/ 0 h 70"/>
                  <a:gd name="T2" fmla="*/ 0 w 72"/>
                  <a:gd name="T3" fmla="*/ 0 h 70"/>
                  <a:gd name="T4" fmla="*/ 0 w 72"/>
                  <a:gd name="T5" fmla="*/ 0 h 70"/>
                  <a:gd name="T6" fmla="*/ 0 w 72"/>
                  <a:gd name="T7" fmla="*/ 0 h 70"/>
                  <a:gd name="T8" fmla="*/ 0 w 72"/>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 h="70">
                    <a:moveTo>
                      <a:pt x="0" y="70"/>
                    </a:moveTo>
                    <a:lnTo>
                      <a:pt x="72" y="0"/>
                    </a:lnTo>
                    <a:lnTo>
                      <a:pt x="72" y="58"/>
                    </a:lnTo>
                    <a:lnTo>
                      <a:pt x="60" y="70"/>
                    </a:lnTo>
                    <a:lnTo>
                      <a:pt x="0" y="70"/>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46" name="Freeform 4584"/>
              <p:cNvSpPr>
                <a:spLocks noChangeAspect="1"/>
              </p:cNvSpPr>
              <p:nvPr/>
            </p:nvSpPr>
            <p:spPr bwMode="auto">
              <a:xfrm>
                <a:off x="4575" y="1214"/>
                <a:ext cx="14" cy="14"/>
              </a:xfrm>
              <a:custGeom>
                <a:avLst/>
                <a:gdLst>
                  <a:gd name="T0" fmla="*/ 0 w 42"/>
                  <a:gd name="T1" fmla="*/ 0 h 41"/>
                  <a:gd name="T2" fmla="*/ 0 w 42"/>
                  <a:gd name="T3" fmla="*/ 0 h 41"/>
                  <a:gd name="T4" fmla="*/ 0 w 42"/>
                  <a:gd name="T5" fmla="*/ 0 h 41"/>
                  <a:gd name="T6" fmla="*/ 0 w 42"/>
                  <a:gd name="T7" fmla="*/ 0 h 4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2" h="41">
                    <a:moveTo>
                      <a:pt x="0" y="41"/>
                    </a:moveTo>
                    <a:lnTo>
                      <a:pt x="42" y="0"/>
                    </a:lnTo>
                    <a:lnTo>
                      <a:pt x="42" y="41"/>
                    </a:lnTo>
                    <a:lnTo>
                      <a:pt x="0" y="41"/>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47" name="Freeform 4585"/>
              <p:cNvSpPr>
                <a:spLocks noChangeAspect="1"/>
              </p:cNvSpPr>
              <p:nvPr/>
            </p:nvSpPr>
            <p:spPr bwMode="auto">
              <a:xfrm>
                <a:off x="4585" y="1224"/>
                <a:ext cx="4" cy="4"/>
              </a:xfrm>
              <a:custGeom>
                <a:avLst/>
                <a:gdLst>
                  <a:gd name="T0" fmla="*/ 0 w 12"/>
                  <a:gd name="T1" fmla="*/ 0 h 12"/>
                  <a:gd name="T2" fmla="*/ 0 w 12"/>
                  <a:gd name="T3" fmla="*/ 0 h 12"/>
                  <a:gd name="T4" fmla="*/ 0 w 12"/>
                  <a:gd name="T5" fmla="*/ 0 h 12"/>
                  <a:gd name="T6" fmla="*/ 0 w 12"/>
                  <a:gd name="T7" fmla="*/ 0 h 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2">
                    <a:moveTo>
                      <a:pt x="0" y="12"/>
                    </a:moveTo>
                    <a:lnTo>
                      <a:pt x="12" y="0"/>
                    </a:lnTo>
                    <a:lnTo>
                      <a:pt x="12" y="12"/>
                    </a:lnTo>
                    <a:lnTo>
                      <a:pt x="0" y="12"/>
                    </a:lnTo>
                    <a:close/>
                  </a:path>
                </a:pathLst>
              </a:custGeom>
              <a:gradFill rotWithShape="0">
                <a:gsLst>
                  <a:gs pos="0">
                    <a:srgbClr val="FFE5BE"/>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48" name="Freeform 4586"/>
              <p:cNvSpPr>
                <a:spLocks noChangeAspect="1"/>
              </p:cNvSpPr>
              <p:nvPr/>
            </p:nvSpPr>
            <p:spPr bwMode="auto">
              <a:xfrm>
                <a:off x="4212" y="1123"/>
                <a:ext cx="377" cy="105"/>
              </a:xfrm>
              <a:custGeom>
                <a:avLst/>
                <a:gdLst>
                  <a:gd name="T0" fmla="*/ 0 w 1130"/>
                  <a:gd name="T1" fmla="*/ 0 h 315"/>
                  <a:gd name="T2" fmla="*/ 0 w 1130"/>
                  <a:gd name="T3" fmla="*/ 0 h 315"/>
                  <a:gd name="T4" fmla="*/ 0 w 1130"/>
                  <a:gd name="T5" fmla="*/ 0 h 315"/>
                  <a:gd name="T6" fmla="*/ 0 w 1130"/>
                  <a:gd name="T7" fmla="*/ 0 h 315"/>
                  <a:gd name="T8" fmla="*/ 0 w 1130"/>
                  <a:gd name="T9" fmla="*/ 0 h 315"/>
                  <a:gd name="T10" fmla="*/ 0 w 1130"/>
                  <a:gd name="T11" fmla="*/ 0 h 315"/>
                  <a:gd name="T12" fmla="*/ 0 w 1130"/>
                  <a:gd name="T13" fmla="*/ 0 h 315"/>
                  <a:gd name="T14" fmla="*/ 0 w 1130"/>
                  <a:gd name="T15" fmla="*/ 0 h 315"/>
                  <a:gd name="T16" fmla="*/ 0 w 1130"/>
                  <a:gd name="T17" fmla="*/ 0 h 3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0" h="315">
                    <a:moveTo>
                      <a:pt x="0" y="0"/>
                    </a:moveTo>
                    <a:lnTo>
                      <a:pt x="95" y="0"/>
                    </a:lnTo>
                    <a:lnTo>
                      <a:pt x="561" y="0"/>
                    </a:lnTo>
                    <a:lnTo>
                      <a:pt x="1130" y="0"/>
                    </a:lnTo>
                    <a:lnTo>
                      <a:pt x="1130" y="315"/>
                    </a:lnTo>
                    <a:lnTo>
                      <a:pt x="889" y="315"/>
                    </a:lnTo>
                    <a:lnTo>
                      <a:pt x="218" y="315"/>
                    </a:lnTo>
                    <a:lnTo>
                      <a:pt x="0" y="315"/>
                    </a:lnTo>
                    <a:lnTo>
                      <a:pt x="0" y="0"/>
                    </a:lnTo>
                  </a:path>
                </a:pathLst>
              </a:custGeom>
              <a:gradFill rotWithShape="0">
                <a:gsLst>
                  <a:gs pos="0">
                    <a:srgbClr val="FFE5BE"/>
                  </a:gs>
                  <a:gs pos="100000">
                    <a:srgbClr val="FF9900"/>
                  </a:gs>
                </a:gsLst>
                <a:lin ang="5400000" scaled="1"/>
              </a:gradFill>
              <a:ln w="1588">
                <a:solidFill>
                  <a:srgbClr val="1F1A17"/>
                </a:solidFill>
                <a:prstDash val="solid"/>
                <a:round/>
                <a:headEnd/>
                <a:tailEnd/>
              </a:ln>
            </p:spPr>
            <p:txBody>
              <a:bodyPr/>
              <a:lstStyle/>
              <a:p>
                <a:endParaRPr lang="en-US"/>
              </a:p>
            </p:txBody>
          </p:sp>
        </p:grpSp>
        <p:cxnSp>
          <p:nvCxnSpPr>
            <p:cNvPr id="386467" name="AutoShape 4587"/>
            <p:cNvCxnSpPr>
              <a:cxnSpLocks noChangeAspect="1" noChangeShapeType="1"/>
              <a:stCxn id="386404" idx="2"/>
            </p:cNvCxnSpPr>
            <p:nvPr/>
          </p:nvCxnSpPr>
          <p:spPr bwMode="auto">
            <a:xfrm rot="5400000">
              <a:off x="671" y="1352"/>
              <a:ext cx="222" cy="692"/>
            </a:xfrm>
            <a:prstGeom prst="bentConnector2">
              <a:avLst/>
            </a:prstGeom>
            <a:noFill/>
            <a:ln w="12700">
              <a:solidFill>
                <a:srgbClr val="FF99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86468" name="Group 4588"/>
            <p:cNvGrpSpPr>
              <a:grpSpLocks noChangeAspect="1"/>
            </p:cNvGrpSpPr>
            <p:nvPr/>
          </p:nvGrpSpPr>
          <p:grpSpPr bwMode="auto">
            <a:xfrm>
              <a:off x="680" y="1267"/>
              <a:ext cx="220" cy="115"/>
              <a:chOff x="398" y="960"/>
              <a:chExt cx="256" cy="135"/>
            </a:xfrm>
          </p:grpSpPr>
          <p:sp>
            <p:nvSpPr>
              <p:cNvPr id="386992" name="Line 4589"/>
              <p:cNvSpPr>
                <a:spLocks noChangeAspect="1" noChangeShapeType="1"/>
              </p:cNvSpPr>
              <p:nvPr/>
            </p:nvSpPr>
            <p:spPr bwMode="auto">
              <a:xfrm flipV="1">
                <a:off x="398" y="960"/>
                <a:ext cx="256" cy="135"/>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6993" name="Line 4590"/>
              <p:cNvSpPr>
                <a:spLocks noChangeAspect="1" noChangeShapeType="1"/>
              </p:cNvSpPr>
              <p:nvPr/>
            </p:nvSpPr>
            <p:spPr bwMode="auto">
              <a:xfrm>
                <a:off x="654" y="960"/>
                <a:ext cx="0" cy="135"/>
              </a:xfrm>
              <a:prstGeom prst="line">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86469" name="Line 4591"/>
            <p:cNvSpPr>
              <a:spLocks noChangeAspect="1" noChangeShapeType="1"/>
            </p:cNvSpPr>
            <p:nvPr/>
          </p:nvSpPr>
          <p:spPr bwMode="auto">
            <a:xfrm flipV="1">
              <a:off x="2159" y="1321"/>
              <a:ext cx="368" cy="247"/>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6470" name="Line 4592"/>
            <p:cNvSpPr>
              <a:spLocks noChangeAspect="1" noChangeShapeType="1"/>
            </p:cNvSpPr>
            <p:nvPr/>
          </p:nvSpPr>
          <p:spPr bwMode="auto">
            <a:xfrm>
              <a:off x="2526" y="1327"/>
              <a:ext cx="0" cy="91"/>
            </a:xfrm>
            <a:prstGeom prst="line">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cxnSp>
          <p:nvCxnSpPr>
            <p:cNvPr id="386471" name="AutoShape 4593"/>
            <p:cNvCxnSpPr>
              <a:cxnSpLocks noChangeAspect="1" noChangeShapeType="1"/>
              <a:stCxn id="391153" idx="4"/>
              <a:endCxn id="68214" idx="0"/>
            </p:cNvCxnSpPr>
            <p:nvPr/>
          </p:nvCxnSpPr>
          <p:spPr bwMode="auto">
            <a:xfrm rot="5400000">
              <a:off x="2401" y="-434"/>
              <a:ext cx="937" cy="4437"/>
            </a:xfrm>
            <a:prstGeom prst="bentConnector3">
              <a:avLst>
                <a:gd name="adj1" fmla="val 77648"/>
              </a:avLst>
            </a:prstGeom>
            <a:noFill/>
            <a:ln w="19050">
              <a:solidFill>
                <a:srgbClr val="FF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86472" name="Rectangle 4594"/>
            <p:cNvSpPr>
              <a:spLocks noChangeAspect="1" noChangeArrowheads="1"/>
            </p:cNvSpPr>
            <p:nvPr/>
          </p:nvSpPr>
          <p:spPr bwMode="auto">
            <a:xfrm>
              <a:off x="1657" y="1733"/>
              <a:ext cx="603"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CHIP STORAGE</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nvGrpSpPr>
            <p:cNvPr id="386473" name="Group 4595"/>
            <p:cNvGrpSpPr>
              <a:grpSpLocks noChangeAspect="1"/>
            </p:cNvGrpSpPr>
            <p:nvPr/>
          </p:nvGrpSpPr>
          <p:grpSpPr bwMode="auto">
            <a:xfrm>
              <a:off x="1685" y="1420"/>
              <a:ext cx="220" cy="114"/>
              <a:chOff x="398" y="960"/>
              <a:chExt cx="256" cy="135"/>
            </a:xfrm>
          </p:grpSpPr>
          <p:sp>
            <p:nvSpPr>
              <p:cNvPr id="386990" name="Line 4596"/>
              <p:cNvSpPr>
                <a:spLocks noChangeAspect="1" noChangeShapeType="1"/>
              </p:cNvSpPr>
              <p:nvPr/>
            </p:nvSpPr>
            <p:spPr bwMode="auto">
              <a:xfrm flipV="1">
                <a:off x="398" y="960"/>
                <a:ext cx="256" cy="135"/>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6991" name="Line 4597"/>
              <p:cNvSpPr>
                <a:spLocks noChangeAspect="1" noChangeShapeType="1"/>
              </p:cNvSpPr>
              <p:nvPr/>
            </p:nvSpPr>
            <p:spPr bwMode="auto">
              <a:xfrm>
                <a:off x="654" y="960"/>
                <a:ext cx="0" cy="135"/>
              </a:xfrm>
              <a:prstGeom prst="line">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86474" name="Group 4598"/>
            <p:cNvGrpSpPr>
              <a:grpSpLocks noChangeAspect="1"/>
            </p:cNvGrpSpPr>
            <p:nvPr/>
          </p:nvGrpSpPr>
          <p:grpSpPr bwMode="auto">
            <a:xfrm>
              <a:off x="1117" y="2121"/>
              <a:ext cx="99" cy="748"/>
              <a:chOff x="1892" y="1950"/>
              <a:chExt cx="115" cy="907"/>
            </a:xfrm>
          </p:grpSpPr>
          <p:sp>
            <p:nvSpPr>
              <p:cNvPr id="69111" name="Rectangle 4599"/>
              <p:cNvSpPr>
                <a:spLocks noChangeAspect="1" noChangeArrowheads="1"/>
              </p:cNvSpPr>
              <p:nvPr/>
            </p:nvSpPr>
            <p:spPr bwMode="auto">
              <a:xfrm>
                <a:off x="1907" y="1950"/>
                <a:ext cx="2"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12" name="Rectangle 4600"/>
              <p:cNvSpPr>
                <a:spLocks noChangeAspect="1" noChangeArrowheads="1"/>
              </p:cNvSpPr>
              <p:nvPr/>
            </p:nvSpPr>
            <p:spPr bwMode="auto">
              <a:xfrm>
                <a:off x="1909" y="1950"/>
                <a:ext cx="0"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13" name="Rectangle 4601"/>
              <p:cNvSpPr>
                <a:spLocks noChangeAspect="1" noChangeArrowheads="1"/>
              </p:cNvSpPr>
              <p:nvPr/>
            </p:nvSpPr>
            <p:spPr bwMode="auto">
              <a:xfrm>
                <a:off x="1914" y="1950"/>
                <a:ext cx="3"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14" name="Rectangle 4602"/>
              <p:cNvSpPr>
                <a:spLocks noChangeAspect="1" noChangeArrowheads="1"/>
              </p:cNvSpPr>
              <p:nvPr/>
            </p:nvSpPr>
            <p:spPr bwMode="auto">
              <a:xfrm>
                <a:off x="1916" y="1950"/>
                <a:ext cx="1"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15" name="Rectangle 4603"/>
              <p:cNvSpPr>
                <a:spLocks noChangeAspect="1" noChangeArrowheads="1"/>
              </p:cNvSpPr>
              <p:nvPr/>
            </p:nvSpPr>
            <p:spPr bwMode="auto">
              <a:xfrm>
                <a:off x="1921" y="1950"/>
                <a:ext cx="3"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16" name="Rectangle 4604"/>
              <p:cNvSpPr>
                <a:spLocks noChangeAspect="1" noChangeArrowheads="1"/>
              </p:cNvSpPr>
              <p:nvPr/>
            </p:nvSpPr>
            <p:spPr bwMode="auto">
              <a:xfrm>
                <a:off x="1923" y="1950"/>
                <a:ext cx="1"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17" name="Rectangle 4605"/>
              <p:cNvSpPr>
                <a:spLocks noChangeAspect="1" noChangeArrowheads="1"/>
              </p:cNvSpPr>
              <p:nvPr/>
            </p:nvSpPr>
            <p:spPr bwMode="auto">
              <a:xfrm>
                <a:off x="1928" y="1950"/>
                <a:ext cx="3"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18" name="Rectangle 4606"/>
              <p:cNvSpPr>
                <a:spLocks noChangeAspect="1" noChangeArrowheads="1"/>
              </p:cNvSpPr>
              <p:nvPr/>
            </p:nvSpPr>
            <p:spPr bwMode="auto">
              <a:xfrm>
                <a:off x="1930" y="1950"/>
                <a:ext cx="1"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19" name="Rectangle 4607"/>
              <p:cNvSpPr>
                <a:spLocks noChangeAspect="1" noChangeArrowheads="1"/>
              </p:cNvSpPr>
              <p:nvPr/>
            </p:nvSpPr>
            <p:spPr bwMode="auto">
              <a:xfrm>
                <a:off x="1935" y="1950"/>
                <a:ext cx="3"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20" name="Rectangle 4608"/>
              <p:cNvSpPr>
                <a:spLocks noChangeAspect="1" noChangeArrowheads="1"/>
              </p:cNvSpPr>
              <p:nvPr/>
            </p:nvSpPr>
            <p:spPr bwMode="auto">
              <a:xfrm>
                <a:off x="1937" y="1950"/>
                <a:ext cx="1"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21" name="Rectangle 4609"/>
              <p:cNvSpPr>
                <a:spLocks noChangeAspect="1" noChangeArrowheads="1"/>
              </p:cNvSpPr>
              <p:nvPr/>
            </p:nvSpPr>
            <p:spPr bwMode="auto">
              <a:xfrm>
                <a:off x="1942" y="1950"/>
                <a:ext cx="3"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22" name="Rectangle 4610"/>
              <p:cNvSpPr>
                <a:spLocks noChangeAspect="1" noChangeArrowheads="1"/>
              </p:cNvSpPr>
              <p:nvPr/>
            </p:nvSpPr>
            <p:spPr bwMode="auto">
              <a:xfrm>
                <a:off x="1943" y="1950"/>
                <a:ext cx="2"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23" name="Rectangle 4611"/>
              <p:cNvSpPr>
                <a:spLocks noChangeAspect="1" noChangeArrowheads="1"/>
              </p:cNvSpPr>
              <p:nvPr/>
            </p:nvSpPr>
            <p:spPr bwMode="auto">
              <a:xfrm>
                <a:off x="1949" y="1950"/>
                <a:ext cx="3"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24" name="Rectangle 4612"/>
              <p:cNvSpPr>
                <a:spLocks noChangeAspect="1" noChangeArrowheads="1"/>
              </p:cNvSpPr>
              <p:nvPr/>
            </p:nvSpPr>
            <p:spPr bwMode="auto">
              <a:xfrm>
                <a:off x="1951" y="1950"/>
                <a:ext cx="2"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25" name="Rectangle 4613"/>
              <p:cNvSpPr>
                <a:spLocks noChangeAspect="1" noChangeArrowheads="1"/>
              </p:cNvSpPr>
              <p:nvPr/>
            </p:nvSpPr>
            <p:spPr bwMode="auto">
              <a:xfrm>
                <a:off x="1952" y="1950"/>
                <a:ext cx="1"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26" name="Rectangle 4614"/>
              <p:cNvSpPr>
                <a:spLocks noChangeAspect="1" noChangeArrowheads="1"/>
              </p:cNvSpPr>
              <p:nvPr/>
            </p:nvSpPr>
            <p:spPr bwMode="auto">
              <a:xfrm>
                <a:off x="1957" y="1950"/>
                <a:ext cx="3"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27" name="Rectangle 4615"/>
              <p:cNvSpPr>
                <a:spLocks noChangeAspect="1" noChangeArrowheads="1"/>
              </p:cNvSpPr>
              <p:nvPr/>
            </p:nvSpPr>
            <p:spPr bwMode="auto">
              <a:xfrm>
                <a:off x="1959" y="1950"/>
                <a:ext cx="1"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28" name="Rectangle 4616"/>
              <p:cNvSpPr>
                <a:spLocks noChangeAspect="1" noChangeArrowheads="1"/>
              </p:cNvSpPr>
              <p:nvPr/>
            </p:nvSpPr>
            <p:spPr bwMode="auto">
              <a:xfrm>
                <a:off x="1964" y="1950"/>
                <a:ext cx="3"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29" name="Rectangle 4617"/>
              <p:cNvSpPr>
                <a:spLocks noChangeAspect="1" noChangeArrowheads="1"/>
              </p:cNvSpPr>
              <p:nvPr/>
            </p:nvSpPr>
            <p:spPr bwMode="auto">
              <a:xfrm>
                <a:off x="1966" y="1950"/>
                <a:ext cx="1"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30" name="Rectangle 4618"/>
              <p:cNvSpPr>
                <a:spLocks noChangeAspect="1" noChangeArrowheads="1"/>
              </p:cNvSpPr>
              <p:nvPr/>
            </p:nvSpPr>
            <p:spPr bwMode="auto">
              <a:xfrm>
                <a:off x="1971" y="1950"/>
                <a:ext cx="3"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31" name="Rectangle 4619"/>
              <p:cNvSpPr>
                <a:spLocks noChangeAspect="1" noChangeArrowheads="1"/>
              </p:cNvSpPr>
              <p:nvPr/>
            </p:nvSpPr>
            <p:spPr bwMode="auto">
              <a:xfrm>
                <a:off x="1973" y="1950"/>
                <a:ext cx="1"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32" name="Rectangle 4620"/>
              <p:cNvSpPr>
                <a:spLocks noChangeAspect="1" noChangeArrowheads="1"/>
              </p:cNvSpPr>
              <p:nvPr/>
            </p:nvSpPr>
            <p:spPr bwMode="auto">
              <a:xfrm>
                <a:off x="1978" y="1950"/>
                <a:ext cx="3"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33" name="Rectangle 4621"/>
              <p:cNvSpPr>
                <a:spLocks noChangeAspect="1" noChangeArrowheads="1"/>
              </p:cNvSpPr>
              <p:nvPr/>
            </p:nvSpPr>
            <p:spPr bwMode="auto">
              <a:xfrm>
                <a:off x="1980" y="1950"/>
                <a:ext cx="1"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34" name="Rectangle 4622"/>
              <p:cNvSpPr>
                <a:spLocks noChangeAspect="1" noChangeArrowheads="1"/>
              </p:cNvSpPr>
              <p:nvPr/>
            </p:nvSpPr>
            <p:spPr bwMode="auto">
              <a:xfrm>
                <a:off x="1985" y="1950"/>
                <a:ext cx="3"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35" name="Rectangle 4623"/>
              <p:cNvSpPr>
                <a:spLocks noChangeAspect="1" noChangeArrowheads="1"/>
              </p:cNvSpPr>
              <p:nvPr/>
            </p:nvSpPr>
            <p:spPr bwMode="auto">
              <a:xfrm>
                <a:off x="1987" y="1950"/>
                <a:ext cx="2" cy="761"/>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36" name="Rectangle 4624"/>
              <p:cNvSpPr>
                <a:spLocks noChangeAspect="1" noChangeArrowheads="1"/>
              </p:cNvSpPr>
              <p:nvPr/>
            </p:nvSpPr>
            <p:spPr bwMode="auto">
              <a:xfrm>
                <a:off x="1906" y="1950"/>
                <a:ext cx="86" cy="761"/>
              </a:xfrm>
              <a:prstGeom prst="rect">
                <a:avLst/>
              </a:prstGeom>
              <a:gradFill rotWithShape="0">
                <a:gsLst>
                  <a:gs pos="0">
                    <a:schemeClr val="hlink"/>
                  </a:gs>
                  <a:gs pos="50000">
                    <a:schemeClr val="hlink">
                      <a:gamma/>
                      <a:tint val="40000"/>
                      <a:invGamma/>
                    </a:schemeClr>
                  </a:gs>
                  <a:gs pos="100000">
                    <a:schemeClr val="hlink"/>
                  </a:gs>
                </a:gsLst>
                <a:lin ang="0" scaled="1"/>
              </a:gradFill>
              <a:ln w="1588">
                <a:solidFill>
                  <a:srgbClr val="1F1A17"/>
                </a:solidFill>
                <a:miter lim="800000"/>
                <a:headEnd/>
                <a:tailEnd/>
              </a:ln>
            </p:spPr>
            <p:txBody>
              <a:bodyPr/>
              <a:lstStyle/>
              <a:p>
                <a:pPr>
                  <a:defRPr/>
                </a:pPr>
                <a:endParaRPr lang="en-US"/>
              </a:p>
            </p:txBody>
          </p:sp>
          <p:sp>
            <p:nvSpPr>
              <p:cNvPr id="69137" name="Rectangle 4625"/>
              <p:cNvSpPr>
                <a:spLocks noChangeAspect="1" noChangeArrowheads="1"/>
              </p:cNvSpPr>
              <p:nvPr/>
            </p:nvSpPr>
            <p:spPr bwMode="auto">
              <a:xfrm>
                <a:off x="1892" y="2787"/>
                <a:ext cx="3"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38" name="Rectangle 4626"/>
              <p:cNvSpPr>
                <a:spLocks noChangeAspect="1" noChangeArrowheads="1"/>
              </p:cNvSpPr>
              <p:nvPr/>
            </p:nvSpPr>
            <p:spPr bwMode="auto">
              <a:xfrm>
                <a:off x="1894"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39" name="Rectangle 4627"/>
              <p:cNvSpPr>
                <a:spLocks noChangeAspect="1" noChangeArrowheads="1"/>
              </p:cNvSpPr>
              <p:nvPr/>
            </p:nvSpPr>
            <p:spPr bwMode="auto">
              <a:xfrm>
                <a:off x="1899" y="2787"/>
                <a:ext cx="3"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40" name="Rectangle 4628"/>
              <p:cNvSpPr>
                <a:spLocks noChangeAspect="1" noChangeArrowheads="1"/>
              </p:cNvSpPr>
              <p:nvPr/>
            </p:nvSpPr>
            <p:spPr bwMode="auto">
              <a:xfrm>
                <a:off x="1901"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41" name="Rectangle 4629"/>
              <p:cNvSpPr>
                <a:spLocks noChangeAspect="1" noChangeArrowheads="1"/>
              </p:cNvSpPr>
              <p:nvPr/>
            </p:nvSpPr>
            <p:spPr bwMode="auto">
              <a:xfrm>
                <a:off x="1906" y="2787"/>
                <a:ext cx="3"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42" name="Rectangle 4630"/>
              <p:cNvSpPr>
                <a:spLocks noChangeAspect="1" noChangeArrowheads="1"/>
              </p:cNvSpPr>
              <p:nvPr/>
            </p:nvSpPr>
            <p:spPr bwMode="auto">
              <a:xfrm>
                <a:off x="1908"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43" name="Rectangle 4631"/>
              <p:cNvSpPr>
                <a:spLocks noChangeAspect="1" noChangeArrowheads="1"/>
              </p:cNvSpPr>
              <p:nvPr/>
            </p:nvSpPr>
            <p:spPr bwMode="auto">
              <a:xfrm>
                <a:off x="1913"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44" name="Rectangle 4632"/>
              <p:cNvSpPr>
                <a:spLocks noChangeAspect="1" noChangeArrowheads="1"/>
              </p:cNvSpPr>
              <p:nvPr/>
            </p:nvSpPr>
            <p:spPr bwMode="auto">
              <a:xfrm>
                <a:off x="1915" y="2787"/>
                <a:ext cx="2"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45" name="Rectangle 4633"/>
              <p:cNvSpPr>
                <a:spLocks noChangeAspect="1" noChangeArrowheads="1"/>
              </p:cNvSpPr>
              <p:nvPr/>
            </p:nvSpPr>
            <p:spPr bwMode="auto">
              <a:xfrm>
                <a:off x="1919" y="2787"/>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46" name="Rectangle 4634"/>
              <p:cNvSpPr>
                <a:spLocks noChangeAspect="1" noChangeArrowheads="1"/>
              </p:cNvSpPr>
              <p:nvPr/>
            </p:nvSpPr>
            <p:spPr bwMode="auto">
              <a:xfrm>
                <a:off x="1922" y="2787"/>
                <a:ext cx="2"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47" name="Rectangle 4635"/>
              <p:cNvSpPr>
                <a:spLocks noChangeAspect="1" noChangeArrowheads="1"/>
              </p:cNvSpPr>
              <p:nvPr/>
            </p:nvSpPr>
            <p:spPr bwMode="auto">
              <a:xfrm>
                <a:off x="1926" y="2787"/>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48" name="Rectangle 4636"/>
              <p:cNvSpPr>
                <a:spLocks noChangeAspect="1" noChangeArrowheads="1"/>
              </p:cNvSpPr>
              <p:nvPr/>
            </p:nvSpPr>
            <p:spPr bwMode="auto">
              <a:xfrm>
                <a:off x="1929" y="2787"/>
                <a:ext cx="2"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49" name="Rectangle 4637"/>
              <p:cNvSpPr>
                <a:spLocks noChangeAspect="1" noChangeArrowheads="1"/>
              </p:cNvSpPr>
              <p:nvPr/>
            </p:nvSpPr>
            <p:spPr bwMode="auto">
              <a:xfrm>
                <a:off x="1933" y="2787"/>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50" name="Rectangle 4638"/>
              <p:cNvSpPr>
                <a:spLocks noChangeAspect="1" noChangeArrowheads="1"/>
              </p:cNvSpPr>
              <p:nvPr/>
            </p:nvSpPr>
            <p:spPr bwMode="auto">
              <a:xfrm>
                <a:off x="1936" y="2787"/>
                <a:ext cx="2"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51" name="Rectangle 4639"/>
              <p:cNvSpPr>
                <a:spLocks noChangeAspect="1" noChangeArrowheads="1"/>
              </p:cNvSpPr>
              <p:nvPr/>
            </p:nvSpPr>
            <p:spPr bwMode="auto">
              <a:xfrm>
                <a:off x="1940" y="2787"/>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52" name="Rectangle 4640"/>
              <p:cNvSpPr>
                <a:spLocks noChangeAspect="1" noChangeArrowheads="1"/>
              </p:cNvSpPr>
              <p:nvPr/>
            </p:nvSpPr>
            <p:spPr bwMode="auto">
              <a:xfrm>
                <a:off x="1942"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53" name="Rectangle 4641"/>
              <p:cNvSpPr>
                <a:spLocks noChangeAspect="1" noChangeArrowheads="1"/>
              </p:cNvSpPr>
              <p:nvPr/>
            </p:nvSpPr>
            <p:spPr bwMode="auto">
              <a:xfrm>
                <a:off x="1947" y="2787"/>
                <a:ext cx="7"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54" name="Rectangle 4642"/>
              <p:cNvSpPr>
                <a:spLocks noChangeAspect="1" noChangeArrowheads="1"/>
              </p:cNvSpPr>
              <p:nvPr/>
            </p:nvSpPr>
            <p:spPr bwMode="auto">
              <a:xfrm>
                <a:off x="1950" y="2787"/>
                <a:ext cx="3"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55" name="Rectangle 4643"/>
              <p:cNvSpPr>
                <a:spLocks noChangeAspect="1" noChangeArrowheads="1"/>
              </p:cNvSpPr>
              <p:nvPr/>
            </p:nvSpPr>
            <p:spPr bwMode="auto">
              <a:xfrm>
                <a:off x="1952"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56" name="Rectangle 4644"/>
              <p:cNvSpPr>
                <a:spLocks noChangeAspect="1" noChangeArrowheads="1"/>
              </p:cNvSpPr>
              <p:nvPr/>
            </p:nvSpPr>
            <p:spPr bwMode="auto">
              <a:xfrm>
                <a:off x="1957" y="2787"/>
                <a:ext cx="3"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57" name="Rectangle 4645"/>
              <p:cNvSpPr>
                <a:spLocks noChangeAspect="1" noChangeArrowheads="1"/>
              </p:cNvSpPr>
              <p:nvPr/>
            </p:nvSpPr>
            <p:spPr bwMode="auto">
              <a:xfrm>
                <a:off x="1959" y="2787"/>
                <a:ext cx="1"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58" name="Rectangle 4646"/>
              <p:cNvSpPr>
                <a:spLocks noChangeAspect="1" noChangeArrowheads="1"/>
              </p:cNvSpPr>
              <p:nvPr/>
            </p:nvSpPr>
            <p:spPr bwMode="auto">
              <a:xfrm>
                <a:off x="1963"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59" name="Rectangle 4647"/>
              <p:cNvSpPr>
                <a:spLocks noChangeAspect="1" noChangeArrowheads="1"/>
              </p:cNvSpPr>
              <p:nvPr/>
            </p:nvSpPr>
            <p:spPr bwMode="auto">
              <a:xfrm>
                <a:off x="1966" y="2787"/>
                <a:ext cx="1"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60" name="Rectangle 4648"/>
              <p:cNvSpPr>
                <a:spLocks noChangeAspect="1" noChangeArrowheads="1"/>
              </p:cNvSpPr>
              <p:nvPr/>
            </p:nvSpPr>
            <p:spPr bwMode="auto">
              <a:xfrm>
                <a:off x="1970"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61" name="Rectangle 4649"/>
              <p:cNvSpPr>
                <a:spLocks noChangeAspect="1" noChangeArrowheads="1"/>
              </p:cNvSpPr>
              <p:nvPr/>
            </p:nvSpPr>
            <p:spPr bwMode="auto">
              <a:xfrm>
                <a:off x="1973" y="2787"/>
                <a:ext cx="1"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62" name="Rectangle 4650"/>
              <p:cNvSpPr>
                <a:spLocks noChangeAspect="1" noChangeArrowheads="1"/>
              </p:cNvSpPr>
              <p:nvPr/>
            </p:nvSpPr>
            <p:spPr bwMode="auto">
              <a:xfrm>
                <a:off x="1977"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63" name="Rectangle 4651"/>
              <p:cNvSpPr>
                <a:spLocks noChangeAspect="1" noChangeArrowheads="1"/>
              </p:cNvSpPr>
              <p:nvPr/>
            </p:nvSpPr>
            <p:spPr bwMode="auto">
              <a:xfrm>
                <a:off x="1980" y="2787"/>
                <a:ext cx="1"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64" name="Rectangle 4652"/>
              <p:cNvSpPr>
                <a:spLocks noChangeAspect="1" noChangeArrowheads="1"/>
              </p:cNvSpPr>
              <p:nvPr/>
            </p:nvSpPr>
            <p:spPr bwMode="auto">
              <a:xfrm>
                <a:off x="1984" y="2787"/>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65" name="Rectangle 4653"/>
              <p:cNvSpPr>
                <a:spLocks noChangeAspect="1" noChangeArrowheads="1"/>
              </p:cNvSpPr>
              <p:nvPr/>
            </p:nvSpPr>
            <p:spPr bwMode="auto">
              <a:xfrm>
                <a:off x="1986"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66" name="Rectangle 4654"/>
              <p:cNvSpPr>
                <a:spLocks noChangeAspect="1" noChangeArrowheads="1"/>
              </p:cNvSpPr>
              <p:nvPr/>
            </p:nvSpPr>
            <p:spPr bwMode="auto">
              <a:xfrm>
                <a:off x="1991" y="2787"/>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67" name="Rectangle 4655"/>
              <p:cNvSpPr>
                <a:spLocks noChangeAspect="1" noChangeArrowheads="1"/>
              </p:cNvSpPr>
              <p:nvPr/>
            </p:nvSpPr>
            <p:spPr bwMode="auto">
              <a:xfrm>
                <a:off x="1994" y="2787"/>
                <a:ext cx="2"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68" name="Rectangle 4656"/>
              <p:cNvSpPr>
                <a:spLocks noChangeAspect="1" noChangeArrowheads="1"/>
              </p:cNvSpPr>
              <p:nvPr/>
            </p:nvSpPr>
            <p:spPr bwMode="auto">
              <a:xfrm>
                <a:off x="1998" y="2787"/>
                <a:ext cx="6"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69" name="Rectangle 4657"/>
              <p:cNvSpPr>
                <a:spLocks noChangeAspect="1" noChangeArrowheads="1"/>
              </p:cNvSpPr>
              <p:nvPr/>
            </p:nvSpPr>
            <p:spPr bwMode="auto">
              <a:xfrm>
                <a:off x="2000" y="2787"/>
                <a:ext cx="5" cy="70"/>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70" name="Rectangle 4658"/>
              <p:cNvSpPr>
                <a:spLocks noChangeAspect="1" noChangeArrowheads="1"/>
              </p:cNvSpPr>
              <p:nvPr/>
            </p:nvSpPr>
            <p:spPr bwMode="auto">
              <a:xfrm>
                <a:off x="1892" y="2787"/>
                <a:ext cx="115" cy="70"/>
              </a:xfrm>
              <a:prstGeom prst="rect">
                <a:avLst/>
              </a:prstGeom>
              <a:gradFill rotWithShape="0">
                <a:gsLst>
                  <a:gs pos="0">
                    <a:schemeClr val="hlink"/>
                  </a:gs>
                  <a:gs pos="50000">
                    <a:schemeClr val="hlink">
                      <a:gamma/>
                      <a:tint val="40000"/>
                      <a:invGamma/>
                    </a:schemeClr>
                  </a:gs>
                  <a:gs pos="100000">
                    <a:schemeClr val="hlink"/>
                  </a:gs>
                </a:gsLst>
                <a:lin ang="0" scaled="1"/>
              </a:gradFill>
              <a:ln w="1588">
                <a:solidFill>
                  <a:srgbClr val="1F1A17"/>
                </a:solidFill>
                <a:miter lim="800000"/>
                <a:headEnd/>
                <a:tailEnd/>
              </a:ln>
            </p:spPr>
            <p:txBody>
              <a:bodyPr/>
              <a:lstStyle/>
              <a:p>
                <a:pPr>
                  <a:defRPr/>
                </a:pPr>
                <a:endParaRPr lang="en-US"/>
              </a:p>
            </p:txBody>
          </p:sp>
          <p:sp>
            <p:nvSpPr>
              <p:cNvPr id="69171" name="Freeform 4659"/>
              <p:cNvSpPr>
                <a:spLocks noChangeAspect="1"/>
              </p:cNvSpPr>
              <p:nvPr/>
            </p:nvSpPr>
            <p:spPr bwMode="auto">
              <a:xfrm>
                <a:off x="1898" y="2736"/>
                <a:ext cx="5" cy="51"/>
              </a:xfrm>
              <a:custGeom>
                <a:avLst/>
                <a:gdLst>
                  <a:gd name="T0" fmla="*/ 0 w 13"/>
                  <a:gd name="T1" fmla="*/ 154 h 154"/>
                  <a:gd name="T2" fmla="*/ 0 w 13"/>
                  <a:gd name="T3" fmla="*/ 102 h 154"/>
                  <a:gd name="T4" fmla="*/ 13 w 13"/>
                  <a:gd name="T5" fmla="*/ 0 h 154"/>
                  <a:gd name="T6" fmla="*/ 13 w 13"/>
                  <a:gd name="T7" fmla="*/ 154 h 154"/>
                  <a:gd name="T8" fmla="*/ 0 w 13"/>
                  <a:gd name="T9" fmla="*/ 154 h 154"/>
                </a:gdLst>
                <a:ahLst/>
                <a:cxnLst>
                  <a:cxn ang="0">
                    <a:pos x="T0" y="T1"/>
                  </a:cxn>
                  <a:cxn ang="0">
                    <a:pos x="T2" y="T3"/>
                  </a:cxn>
                  <a:cxn ang="0">
                    <a:pos x="T4" y="T5"/>
                  </a:cxn>
                  <a:cxn ang="0">
                    <a:pos x="T6" y="T7"/>
                  </a:cxn>
                  <a:cxn ang="0">
                    <a:pos x="T8" y="T9"/>
                  </a:cxn>
                </a:cxnLst>
                <a:rect l="0" t="0" r="r" b="b"/>
                <a:pathLst>
                  <a:path w="13" h="154">
                    <a:moveTo>
                      <a:pt x="0" y="154"/>
                    </a:moveTo>
                    <a:lnTo>
                      <a:pt x="0" y="102"/>
                    </a:lnTo>
                    <a:lnTo>
                      <a:pt x="13" y="0"/>
                    </a:lnTo>
                    <a:lnTo>
                      <a:pt x="13" y="154"/>
                    </a:lnTo>
                    <a:lnTo>
                      <a:pt x="0" y="154"/>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172" name="Freeform 4660"/>
              <p:cNvSpPr>
                <a:spLocks noChangeAspect="1"/>
              </p:cNvSpPr>
              <p:nvPr/>
            </p:nvSpPr>
            <p:spPr bwMode="auto">
              <a:xfrm>
                <a:off x="1900" y="2719"/>
                <a:ext cx="2" cy="68"/>
              </a:xfrm>
              <a:custGeom>
                <a:avLst/>
                <a:gdLst>
                  <a:gd name="T0" fmla="*/ 0 w 12"/>
                  <a:gd name="T1" fmla="*/ 205 h 205"/>
                  <a:gd name="T2" fmla="*/ 0 w 12"/>
                  <a:gd name="T3" fmla="*/ 102 h 205"/>
                  <a:gd name="T4" fmla="*/ 12 w 12"/>
                  <a:gd name="T5" fmla="*/ 0 h 205"/>
                  <a:gd name="T6" fmla="*/ 12 w 12"/>
                  <a:gd name="T7" fmla="*/ 205 h 205"/>
                  <a:gd name="T8" fmla="*/ 0 w 12"/>
                  <a:gd name="T9" fmla="*/ 205 h 205"/>
                </a:gdLst>
                <a:ahLst/>
                <a:cxnLst>
                  <a:cxn ang="0">
                    <a:pos x="T0" y="T1"/>
                  </a:cxn>
                  <a:cxn ang="0">
                    <a:pos x="T2" y="T3"/>
                  </a:cxn>
                  <a:cxn ang="0">
                    <a:pos x="T4" y="T5"/>
                  </a:cxn>
                  <a:cxn ang="0">
                    <a:pos x="T6" y="T7"/>
                  </a:cxn>
                  <a:cxn ang="0">
                    <a:pos x="T8" y="T9"/>
                  </a:cxn>
                </a:cxnLst>
                <a:rect l="0" t="0" r="r" b="b"/>
                <a:pathLst>
                  <a:path w="12" h="205">
                    <a:moveTo>
                      <a:pt x="0" y="205"/>
                    </a:moveTo>
                    <a:lnTo>
                      <a:pt x="0" y="102"/>
                    </a:lnTo>
                    <a:lnTo>
                      <a:pt x="12" y="0"/>
                    </a:lnTo>
                    <a:lnTo>
                      <a:pt x="12" y="205"/>
                    </a:lnTo>
                    <a:lnTo>
                      <a:pt x="0" y="205"/>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173" name="Freeform 4661"/>
              <p:cNvSpPr>
                <a:spLocks noChangeAspect="1"/>
              </p:cNvSpPr>
              <p:nvPr/>
            </p:nvSpPr>
            <p:spPr bwMode="auto">
              <a:xfrm>
                <a:off x="1902" y="2711"/>
                <a:ext cx="5" cy="74"/>
              </a:xfrm>
              <a:custGeom>
                <a:avLst/>
                <a:gdLst>
                  <a:gd name="T0" fmla="*/ 0 w 13"/>
                  <a:gd name="T1" fmla="*/ 228 h 228"/>
                  <a:gd name="T2" fmla="*/ 0 w 13"/>
                  <a:gd name="T3" fmla="*/ 74 h 228"/>
                  <a:gd name="T4" fmla="*/ 9 w 13"/>
                  <a:gd name="T5" fmla="*/ 0 h 228"/>
                  <a:gd name="T6" fmla="*/ 13 w 13"/>
                  <a:gd name="T7" fmla="*/ 0 h 228"/>
                  <a:gd name="T8" fmla="*/ 13 w 13"/>
                  <a:gd name="T9" fmla="*/ 228 h 228"/>
                  <a:gd name="T10" fmla="*/ 0 w 13"/>
                  <a:gd name="T11" fmla="*/ 228 h 228"/>
                </a:gdLst>
                <a:ahLst/>
                <a:cxnLst>
                  <a:cxn ang="0">
                    <a:pos x="T0" y="T1"/>
                  </a:cxn>
                  <a:cxn ang="0">
                    <a:pos x="T2" y="T3"/>
                  </a:cxn>
                  <a:cxn ang="0">
                    <a:pos x="T4" y="T5"/>
                  </a:cxn>
                  <a:cxn ang="0">
                    <a:pos x="T6" y="T7"/>
                  </a:cxn>
                  <a:cxn ang="0">
                    <a:pos x="T8" y="T9"/>
                  </a:cxn>
                  <a:cxn ang="0">
                    <a:pos x="T10" y="T11"/>
                  </a:cxn>
                </a:cxnLst>
                <a:rect l="0" t="0" r="r" b="b"/>
                <a:pathLst>
                  <a:path w="13" h="228">
                    <a:moveTo>
                      <a:pt x="0" y="228"/>
                    </a:moveTo>
                    <a:lnTo>
                      <a:pt x="0" y="74"/>
                    </a:lnTo>
                    <a:lnTo>
                      <a:pt x="9" y="0"/>
                    </a:lnTo>
                    <a:lnTo>
                      <a:pt x="13" y="0"/>
                    </a:lnTo>
                    <a:lnTo>
                      <a:pt x="13" y="228"/>
                    </a:lnTo>
                    <a:lnTo>
                      <a:pt x="0" y="228"/>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174" name="Freeform 4662"/>
              <p:cNvSpPr>
                <a:spLocks noChangeAspect="1"/>
              </p:cNvSpPr>
              <p:nvPr/>
            </p:nvSpPr>
            <p:spPr bwMode="auto">
              <a:xfrm>
                <a:off x="1904" y="2711"/>
                <a:ext cx="6" cy="74"/>
              </a:xfrm>
              <a:custGeom>
                <a:avLst/>
                <a:gdLst>
                  <a:gd name="T0" fmla="*/ 0 w 13"/>
                  <a:gd name="T1" fmla="*/ 228 h 228"/>
                  <a:gd name="T2" fmla="*/ 0 w 13"/>
                  <a:gd name="T3" fmla="*/ 23 h 228"/>
                  <a:gd name="T4" fmla="*/ 3 w 13"/>
                  <a:gd name="T5" fmla="*/ 0 h 228"/>
                  <a:gd name="T6" fmla="*/ 13 w 13"/>
                  <a:gd name="T7" fmla="*/ 0 h 228"/>
                  <a:gd name="T8" fmla="*/ 13 w 13"/>
                  <a:gd name="T9" fmla="*/ 228 h 228"/>
                  <a:gd name="T10" fmla="*/ 0 w 13"/>
                  <a:gd name="T11" fmla="*/ 228 h 228"/>
                </a:gdLst>
                <a:ahLst/>
                <a:cxnLst>
                  <a:cxn ang="0">
                    <a:pos x="T0" y="T1"/>
                  </a:cxn>
                  <a:cxn ang="0">
                    <a:pos x="T2" y="T3"/>
                  </a:cxn>
                  <a:cxn ang="0">
                    <a:pos x="T4" y="T5"/>
                  </a:cxn>
                  <a:cxn ang="0">
                    <a:pos x="T6" y="T7"/>
                  </a:cxn>
                  <a:cxn ang="0">
                    <a:pos x="T8" y="T9"/>
                  </a:cxn>
                  <a:cxn ang="0">
                    <a:pos x="T10" y="T11"/>
                  </a:cxn>
                </a:cxnLst>
                <a:rect l="0" t="0" r="r" b="b"/>
                <a:pathLst>
                  <a:path w="13" h="228">
                    <a:moveTo>
                      <a:pt x="0" y="228"/>
                    </a:moveTo>
                    <a:lnTo>
                      <a:pt x="0" y="23"/>
                    </a:lnTo>
                    <a:lnTo>
                      <a:pt x="3" y="0"/>
                    </a:lnTo>
                    <a:lnTo>
                      <a:pt x="13" y="0"/>
                    </a:lnTo>
                    <a:lnTo>
                      <a:pt x="13" y="228"/>
                    </a:lnTo>
                    <a:lnTo>
                      <a:pt x="0" y="228"/>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175" name="Rectangle 4663"/>
              <p:cNvSpPr>
                <a:spLocks noChangeAspect="1" noChangeArrowheads="1"/>
              </p:cNvSpPr>
              <p:nvPr/>
            </p:nvSpPr>
            <p:spPr bwMode="auto">
              <a:xfrm>
                <a:off x="1907" y="2711"/>
                <a:ext cx="2"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76" name="Rectangle 4664"/>
              <p:cNvSpPr>
                <a:spLocks noChangeAspect="1" noChangeArrowheads="1"/>
              </p:cNvSpPr>
              <p:nvPr/>
            </p:nvSpPr>
            <p:spPr bwMode="auto">
              <a:xfrm>
                <a:off x="1909" y="2711"/>
                <a:ext cx="0"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77" name="Rectangle 4665"/>
              <p:cNvSpPr>
                <a:spLocks noChangeAspect="1" noChangeArrowheads="1"/>
              </p:cNvSpPr>
              <p:nvPr/>
            </p:nvSpPr>
            <p:spPr bwMode="auto">
              <a:xfrm>
                <a:off x="1913" y="2711"/>
                <a:ext cx="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78" name="Rectangle 4666"/>
              <p:cNvSpPr>
                <a:spLocks noChangeAspect="1" noChangeArrowheads="1"/>
              </p:cNvSpPr>
              <p:nvPr/>
            </p:nvSpPr>
            <p:spPr bwMode="auto">
              <a:xfrm>
                <a:off x="1915" y="2711"/>
                <a:ext cx="2"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79" name="Rectangle 4667"/>
              <p:cNvSpPr>
                <a:spLocks noChangeAspect="1" noChangeArrowheads="1"/>
              </p:cNvSpPr>
              <p:nvPr/>
            </p:nvSpPr>
            <p:spPr bwMode="auto">
              <a:xfrm>
                <a:off x="1919" y="2711"/>
                <a:ext cx="6"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80" name="Rectangle 4668"/>
              <p:cNvSpPr>
                <a:spLocks noChangeAspect="1" noChangeArrowheads="1"/>
              </p:cNvSpPr>
              <p:nvPr/>
            </p:nvSpPr>
            <p:spPr bwMode="auto">
              <a:xfrm>
                <a:off x="1921" y="2711"/>
                <a:ext cx="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81" name="Rectangle 4669"/>
              <p:cNvSpPr>
                <a:spLocks noChangeAspect="1" noChangeArrowheads="1"/>
              </p:cNvSpPr>
              <p:nvPr/>
            </p:nvSpPr>
            <p:spPr bwMode="auto">
              <a:xfrm>
                <a:off x="1928" y="2711"/>
                <a:ext cx="3"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82" name="Rectangle 4670"/>
              <p:cNvSpPr>
                <a:spLocks noChangeAspect="1" noChangeArrowheads="1"/>
              </p:cNvSpPr>
              <p:nvPr/>
            </p:nvSpPr>
            <p:spPr bwMode="auto">
              <a:xfrm>
                <a:off x="1930" y="2711"/>
                <a:ext cx="1"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83" name="Rectangle 4671"/>
              <p:cNvSpPr>
                <a:spLocks noChangeAspect="1" noChangeArrowheads="1"/>
              </p:cNvSpPr>
              <p:nvPr/>
            </p:nvSpPr>
            <p:spPr bwMode="auto">
              <a:xfrm>
                <a:off x="1934" y="2711"/>
                <a:ext cx="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84" name="Rectangle 4672"/>
              <p:cNvSpPr>
                <a:spLocks noChangeAspect="1" noChangeArrowheads="1"/>
              </p:cNvSpPr>
              <p:nvPr/>
            </p:nvSpPr>
            <p:spPr bwMode="auto">
              <a:xfrm>
                <a:off x="1936" y="2711"/>
                <a:ext cx="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85" name="Rectangle 4673"/>
              <p:cNvSpPr>
                <a:spLocks noChangeAspect="1" noChangeArrowheads="1"/>
              </p:cNvSpPr>
              <p:nvPr/>
            </p:nvSpPr>
            <p:spPr bwMode="auto">
              <a:xfrm>
                <a:off x="1941" y="2711"/>
                <a:ext cx="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86" name="Rectangle 4674"/>
              <p:cNvSpPr>
                <a:spLocks noChangeAspect="1" noChangeArrowheads="1"/>
              </p:cNvSpPr>
              <p:nvPr/>
            </p:nvSpPr>
            <p:spPr bwMode="auto">
              <a:xfrm>
                <a:off x="1943" y="2711"/>
                <a:ext cx="2"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87" name="Rectangle 4675"/>
              <p:cNvSpPr>
                <a:spLocks noChangeAspect="1" noChangeArrowheads="1"/>
              </p:cNvSpPr>
              <p:nvPr/>
            </p:nvSpPr>
            <p:spPr bwMode="auto">
              <a:xfrm>
                <a:off x="1947" y="2711"/>
                <a:ext cx="7"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88" name="Rectangle 4676"/>
              <p:cNvSpPr>
                <a:spLocks noChangeAspect="1" noChangeArrowheads="1"/>
              </p:cNvSpPr>
              <p:nvPr/>
            </p:nvSpPr>
            <p:spPr bwMode="auto">
              <a:xfrm>
                <a:off x="1950" y="2711"/>
                <a:ext cx="3"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89" name="Rectangle 4677"/>
              <p:cNvSpPr>
                <a:spLocks noChangeAspect="1" noChangeArrowheads="1"/>
              </p:cNvSpPr>
              <p:nvPr/>
            </p:nvSpPr>
            <p:spPr bwMode="auto">
              <a:xfrm>
                <a:off x="1952" y="2711"/>
                <a:ext cx="1"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90" name="Rectangle 4678"/>
              <p:cNvSpPr>
                <a:spLocks noChangeAspect="1" noChangeArrowheads="1"/>
              </p:cNvSpPr>
              <p:nvPr/>
            </p:nvSpPr>
            <p:spPr bwMode="auto">
              <a:xfrm>
                <a:off x="1956" y="2711"/>
                <a:ext cx="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91" name="Rectangle 4679"/>
              <p:cNvSpPr>
                <a:spLocks noChangeAspect="1" noChangeArrowheads="1"/>
              </p:cNvSpPr>
              <p:nvPr/>
            </p:nvSpPr>
            <p:spPr bwMode="auto">
              <a:xfrm>
                <a:off x="1958" y="2711"/>
                <a:ext cx="2"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92" name="Rectangle 4680"/>
              <p:cNvSpPr>
                <a:spLocks noChangeAspect="1" noChangeArrowheads="1"/>
              </p:cNvSpPr>
              <p:nvPr/>
            </p:nvSpPr>
            <p:spPr bwMode="auto">
              <a:xfrm>
                <a:off x="1962" y="2711"/>
                <a:ext cx="6"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93" name="Rectangle 4681"/>
              <p:cNvSpPr>
                <a:spLocks noChangeAspect="1" noChangeArrowheads="1"/>
              </p:cNvSpPr>
              <p:nvPr/>
            </p:nvSpPr>
            <p:spPr bwMode="auto">
              <a:xfrm>
                <a:off x="1964" y="2711"/>
                <a:ext cx="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94" name="Rectangle 4682"/>
              <p:cNvSpPr>
                <a:spLocks noChangeAspect="1" noChangeArrowheads="1"/>
              </p:cNvSpPr>
              <p:nvPr/>
            </p:nvSpPr>
            <p:spPr bwMode="auto">
              <a:xfrm>
                <a:off x="1971" y="2711"/>
                <a:ext cx="3"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95" name="Rectangle 4683"/>
              <p:cNvSpPr>
                <a:spLocks noChangeAspect="1" noChangeArrowheads="1"/>
              </p:cNvSpPr>
              <p:nvPr/>
            </p:nvSpPr>
            <p:spPr bwMode="auto">
              <a:xfrm>
                <a:off x="1973" y="2711"/>
                <a:ext cx="1"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96" name="Rectangle 4684"/>
              <p:cNvSpPr>
                <a:spLocks noChangeAspect="1" noChangeArrowheads="1"/>
              </p:cNvSpPr>
              <p:nvPr/>
            </p:nvSpPr>
            <p:spPr bwMode="auto">
              <a:xfrm>
                <a:off x="1977" y="2711"/>
                <a:ext cx="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97" name="Rectangle 4685"/>
              <p:cNvSpPr>
                <a:spLocks noChangeAspect="1" noChangeArrowheads="1"/>
              </p:cNvSpPr>
              <p:nvPr/>
            </p:nvSpPr>
            <p:spPr bwMode="auto">
              <a:xfrm>
                <a:off x="1979" y="2711"/>
                <a:ext cx="5"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98" name="Rectangle 4686"/>
              <p:cNvSpPr>
                <a:spLocks noChangeAspect="1" noChangeArrowheads="1"/>
              </p:cNvSpPr>
              <p:nvPr/>
            </p:nvSpPr>
            <p:spPr bwMode="auto">
              <a:xfrm>
                <a:off x="1984" y="2711"/>
                <a:ext cx="6"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199" name="Rectangle 4687"/>
              <p:cNvSpPr>
                <a:spLocks noChangeAspect="1" noChangeArrowheads="1"/>
              </p:cNvSpPr>
              <p:nvPr/>
            </p:nvSpPr>
            <p:spPr bwMode="auto">
              <a:xfrm>
                <a:off x="1986" y="2711"/>
                <a:ext cx="3" cy="74"/>
              </a:xfrm>
              <a:prstGeom prst="rect">
                <a:avLst/>
              </a:pr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a:p>
            </p:txBody>
          </p:sp>
          <p:sp>
            <p:nvSpPr>
              <p:cNvPr id="69200" name="Freeform 4688"/>
              <p:cNvSpPr>
                <a:spLocks noChangeAspect="1"/>
              </p:cNvSpPr>
              <p:nvPr/>
            </p:nvSpPr>
            <p:spPr bwMode="auto">
              <a:xfrm>
                <a:off x="1988" y="2711"/>
                <a:ext cx="1" cy="74"/>
              </a:xfrm>
              <a:custGeom>
                <a:avLst/>
                <a:gdLst>
                  <a:gd name="T0" fmla="*/ 0 w 12"/>
                  <a:gd name="T1" fmla="*/ 228 h 228"/>
                  <a:gd name="T2" fmla="*/ 0 w 12"/>
                  <a:gd name="T3" fmla="*/ 0 h 228"/>
                  <a:gd name="T4" fmla="*/ 11 w 12"/>
                  <a:gd name="T5" fmla="*/ 0 h 228"/>
                  <a:gd name="T6" fmla="*/ 12 w 12"/>
                  <a:gd name="T7" fmla="*/ 11 h 228"/>
                  <a:gd name="T8" fmla="*/ 12 w 12"/>
                  <a:gd name="T9" fmla="*/ 228 h 228"/>
                  <a:gd name="T10" fmla="*/ 0 w 12"/>
                  <a:gd name="T11" fmla="*/ 228 h 228"/>
                </a:gdLst>
                <a:ahLst/>
                <a:cxnLst>
                  <a:cxn ang="0">
                    <a:pos x="T0" y="T1"/>
                  </a:cxn>
                  <a:cxn ang="0">
                    <a:pos x="T2" y="T3"/>
                  </a:cxn>
                  <a:cxn ang="0">
                    <a:pos x="T4" y="T5"/>
                  </a:cxn>
                  <a:cxn ang="0">
                    <a:pos x="T6" y="T7"/>
                  </a:cxn>
                  <a:cxn ang="0">
                    <a:pos x="T8" y="T9"/>
                  </a:cxn>
                  <a:cxn ang="0">
                    <a:pos x="T10" y="T11"/>
                  </a:cxn>
                </a:cxnLst>
                <a:rect l="0" t="0" r="r" b="b"/>
                <a:pathLst>
                  <a:path w="12" h="228">
                    <a:moveTo>
                      <a:pt x="0" y="228"/>
                    </a:moveTo>
                    <a:lnTo>
                      <a:pt x="0" y="0"/>
                    </a:lnTo>
                    <a:lnTo>
                      <a:pt x="11" y="0"/>
                    </a:lnTo>
                    <a:lnTo>
                      <a:pt x="12" y="11"/>
                    </a:lnTo>
                    <a:lnTo>
                      <a:pt x="12" y="228"/>
                    </a:lnTo>
                    <a:lnTo>
                      <a:pt x="0" y="228"/>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01" name="Freeform 4689"/>
              <p:cNvSpPr>
                <a:spLocks noChangeAspect="1"/>
              </p:cNvSpPr>
              <p:nvPr/>
            </p:nvSpPr>
            <p:spPr bwMode="auto">
              <a:xfrm>
                <a:off x="1990" y="2711"/>
                <a:ext cx="7" cy="74"/>
              </a:xfrm>
              <a:custGeom>
                <a:avLst/>
                <a:gdLst>
                  <a:gd name="T0" fmla="*/ 0 w 13"/>
                  <a:gd name="T1" fmla="*/ 228 h 228"/>
                  <a:gd name="T2" fmla="*/ 0 w 13"/>
                  <a:gd name="T3" fmla="*/ 0 h 228"/>
                  <a:gd name="T4" fmla="*/ 5 w 13"/>
                  <a:gd name="T5" fmla="*/ 0 h 228"/>
                  <a:gd name="T6" fmla="*/ 13 w 13"/>
                  <a:gd name="T7" fmla="*/ 54 h 228"/>
                  <a:gd name="T8" fmla="*/ 13 w 13"/>
                  <a:gd name="T9" fmla="*/ 228 h 228"/>
                  <a:gd name="T10" fmla="*/ 0 w 13"/>
                  <a:gd name="T11" fmla="*/ 228 h 228"/>
                </a:gdLst>
                <a:ahLst/>
                <a:cxnLst>
                  <a:cxn ang="0">
                    <a:pos x="T0" y="T1"/>
                  </a:cxn>
                  <a:cxn ang="0">
                    <a:pos x="T2" y="T3"/>
                  </a:cxn>
                  <a:cxn ang="0">
                    <a:pos x="T4" y="T5"/>
                  </a:cxn>
                  <a:cxn ang="0">
                    <a:pos x="T6" y="T7"/>
                  </a:cxn>
                  <a:cxn ang="0">
                    <a:pos x="T8" y="T9"/>
                  </a:cxn>
                  <a:cxn ang="0">
                    <a:pos x="T10" y="T11"/>
                  </a:cxn>
                </a:cxnLst>
                <a:rect l="0" t="0" r="r" b="b"/>
                <a:pathLst>
                  <a:path w="13" h="228">
                    <a:moveTo>
                      <a:pt x="0" y="228"/>
                    </a:moveTo>
                    <a:lnTo>
                      <a:pt x="0" y="0"/>
                    </a:lnTo>
                    <a:lnTo>
                      <a:pt x="5" y="0"/>
                    </a:lnTo>
                    <a:lnTo>
                      <a:pt x="13" y="54"/>
                    </a:lnTo>
                    <a:lnTo>
                      <a:pt x="13" y="228"/>
                    </a:lnTo>
                    <a:lnTo>
                      <a:pt x="0" y="228"/>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02" name="Freeform 4690"/>
              <p:cNvSpPr>
                <a:spLocks noChangeAspect="1"/>
              </p:cNvSpPr>
              <p:nvPr/>
            </p:nvSpPr>
            <p:spPr bwMode="auto">
              <a:xfrm>
                <a:off x="1992" y="2715"/>
                <a:ext cx="5" cy="72"/>
              </a:xfrm>
              <a:custGeom>
                <a:avLst/>
                <a:gdLst>
                  <a:gd name="T0" fmla="*/ 0 w 14"/>
                  <a:gd name="T1" fmla="*/ 217 h 217"/>
                  <a:gd name="T2" fmla="*/ 0 w 14"/>
                  <a:gd name="T3" fmla="*/ 0 h 217"/>
                  <a:gd name="T4" fmla="*/ 14 w 14"/>
                  <a:gd name="T5" fmla="*/ 86 h 217"/>
                  <a:gd name="T6" fmla="*/ 14 w 14"/>
                  <a:gd name="T7" fmla="*/ 217 h 217"/>
                  <a:gd name="T8" fmla="*/ 0 w 14"/>
                  <a:gd name="T9" fmla="*/ 217 h 217"/>
                </a:gdLst>
                <a:ahLst/>
                <a:cxnLst>
                  <a:cxn ang="0">
                    <a:pos x="T0" y="T1"/>
                  </a:cxn>
                  <a:cxn ang="0">
                    <a:pos x="T2" y="T3"/>
                  </a:cxn>
                  <a:cxn ang="0">
                    <a:pos x="T4" y="T5"/>
                  </a:cxn>
                  <a:cxn ang="0">
                    <a:pos x="T6" y="T7"/>
                  </a:cxn>
                  <a:cxn ang="0">
                    <a:pos x="T8" y="T9"/>
                  </a:cxn>
                </a:cxnLst>
                <a:rect l="0" t="0" r="r" b="b"/>
                <a:pathLst>
                  <a:path w="14" h="217">
                    <a:moveTo>
                      <a:pt x="0" y="217"/>
                    </a:moveTo>
                    <a:lnTo>
                      <a:pt x="0" y="0"/>
                    </a:lnTo>
                    <a:lnTo>
                      <a:pt x="14" y="86"/>
                    </a:lnTo>
                    <a:lnTo>
                      <a:pt x="14" y="217"/>
                    </a:lnTo>
                    <a:lnTo>
                      <a:pt x="0" y="217"/>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03" name="Freeform 4691"/>
              <p:cNvSpPr>
                <a:spLocks noChangeAspect="1"/>
              </p:cNvSpPr>
              <p:nvPr/>
            </p:nvSpPr>
            <p:spPr bwMode="auto">
              <a:xfrm>
                <a:off x="1994" y="2728"/>
                <a:ext cx="5" cy="57"/>
              </a:xfrm>
              <a:custGeom>
                <a:avLst/>
                <a:gdLst>
                  <a:gd name="T0" fmla="*/ 0 w 13"/>
                  <a:gd name="T1" fmla="*/ 174 h 174"/>
                  <a:gd name="T2" fmla="*/ 0 w 13"/>
                  <a:gd name="T3" fmla="*/ 0 h 174"/>
                  <a:gd name="T4" fmla="*/ 13 w 13"/>
                  <a:gd name="T5" fmla="*/ 87 h 174"/>
                  <a:gd name="T6" fmla="*/ 13 w 13"/>
                  <a:gd name="T7" fmla="*/ 174 h 174"/>
                  <a:gd name="T8" fmla="*/ 0 w 13"/>
                  <a:gd name="T9" fmla="*/ 174 h 174"/>
                </a:gdLst>
                <a:ahLst/>
                <a:cxnLst>
                  <a:cxn ang="0">
                    <a:pos x="T0" y="T1"/>
                  </a:cxn>
                  <a:cxn ang="0">
                    <a:pos x="T2" y="T3"/>
                  </a:cxn>
                  <a:cxn ang="0">
                    <a:pos x="T4" y="T5"/>
                  </a:cxn>
                  <a:cxn ang="0">
                    <a:pos x="T6" y="T7"/>
                  </a:cxn>
                  <a:cxn ang="0">
                    <a:pos x="T8" y="T9"/>
                  </a:cxn>
                </a:cxnLst>
                <a:rect l="0" t="0" r="r" b="b"/>
                <a:pathLst>
                  <a:path w="13" h="174">
                    <a:moveTo>
                      <a:pt x="0" y="174"/>
                    </a:moveTo>
                    <a:lnTo>
                      <a:pt x="0" y="0"/>
                    </a:lnTo>
                    <a:lnTo>
                      <a:pt x="13" y="87"/>
                    </a:lnTo>
                    <a:lnTo>
                      <a:pt x="13" y="174"/>
                    </a:lnTo>
                    <a:lnTo>
                      <a:pt x="0" y="174"/>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04" name="Freeform 4692"/>
              <p:cNvSpPr>
                <a:spLocks noChangeAspect="1"/>
              </p:cNvSpPr>
              <p:nvPr/>
            </p:nvSpPr>
            <p:spPr bwMode="auto">
              <a:xfrm>
                <a:off x="1997" y="2744"/>
                <a:ext cx="7" cy="41"/>
              </a:xfrm>
              <a:custGeom>
                <a:avLst/>
                <a:gdLst>
                  <a:gd name="T0" fmla="*/ 0 w 13"/>
                  <a:gd name="T1" fmla="*/ 131 h 131"/>
                  <a:gd name="T2" fmla="*/ 0 w 13"/>
                  <a:gd name="T3" fmla="*/ 0 h 131"/>
                  <a:gd name="T4" fmla="*/ 13 w 13"/>
                  <a:gd name="T5" fmla="*/ 87 h 131"/>
                  <a:gd name="T6" fmla="*/ 13 w 13"/>
                  <a:gd name="T7" fmla="*/ 131 h 131"/>
                  <a:gd name="T8" fmla="*/ 0 w 13"/>
                  <a:gd name="T9" fmla="*/ 131 h 131"/>
                </a:gdLst>
                <a:ahLst/>
                <a:cxnLst>
                  <a:cxn ang="0">
                    <a:pos x="T0" y="T1"/>
                  </a:cxn>
                  <a:cxn ang="0">
                    <a:pos x="T2" y="T3"/>
                  </a:cxn>
                  <a:cxn ang="0">
                    <a:pos x="T4" y="T5"/>
                  </a:cxn>
                  <a:cxn ang="0">
                    <a:pos x="T6" y="T7"/>
                  </a:cxn>
                  <a:cxn ang="0">
                    <a:pos x="T8" y="T9"/>
                  </a:cxn>
                </a:cxnLst>
                <a:rect l="0" t="0" r="r" b="b"/>
                <a:pathLst>
                  <a:path w="13" h="131">
                    <a:moveTo>
                      <a:pt x="0" y="131"/>
                    </a:moveTo>
                    <a:lnTo>
                      <a:pt x="0" y="0"/>
                    </a:lnTo>
                    <a:lnTo>
                      <a:pt x="13" y="87"/>
                    </a:lnTo>
                    <a:lnTo>
                      <a:pt x="13" y="131"/>
                    </a:lnTo>
                    <a:lnTo>
                      <a:pt x="0" y="131"/>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05" name="Freeform 4693"/>
              <p:cNvSpPr>
                <a:spLocks noChangeAspect="1"/>
              </p:cNvSpPr>
              <p:nvPr/>
            </p:nvSpPr>
            <p:spPr bwMode="auto">
              <a:xfrm>
                <a:off x="1999" y="2758"/>
                <a:ext cx="5" cy="29"/>
              </a:xfrm>
              <a:custGeom>
                <a:avLst/>
                <a:gdLst>
                  <a:gd name="T0" fmla="*/ 0 w 13"/>
                  <a:gd name="T1" fmla="*/ 87 h 87"/>
                  <a:gd name="T2" fmla="*/ 0 w 13"/>
                  <a:gd name="T3" fmla="*/ 0 h 87"/>
                  <a:gd name="T4" fmla="*/ 13 w 13"/>
                  <a:gd name="T5" fmla="*/ 87 h 87"/>
                  <a:gd name="T6" fmla="*/ 0 w 13"/>
                  <a:gd name="T7" fmla="*/ 87 h 87"/>
                </a:gdLst>
                <a:ahLst/>
                <a:cxnLst>
                  <a:cxn ang="0">
                    <a:pos x="T0" y="T1"/>
                  </a:cxn>
                  <a:cxn ang="0">
                    <a:pos x="T2" y="T3"/>
                  </a:cxn>
                  <a:cxn ang="0">
                    <a:pos x="T4" y="T5"/>
                  </a:cxn>
                  <a:cxn ang="0">
                    <a:pos x="T6" y="T7"/>
                  </a:cxn>
                </a:cxnLst>
                <a:rect l="0" t="0" r="r" b="b"/>
                <a:pathLst>
                  <a:path w="13" h="87">
                    <a:moveTo>
                      <a:pt x="0" y="87"/>
                    </a:moveTo>
                    <a:lnTo>
                      <a:pt x="0" y="0"/>
                    </a:lnTo>
                    <a:lnTo>
                      <a:pt x="13" y="87"/>
                    </a:lnTo>
                    <a:lnTo>
                      <a:pt x="0" y="87"/>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06" name="Freeform 4694"/>
              <p:cNvSpPr>
                <a:spLocks noChangeAspect="1"/>
              </p:cNvSpPr>
              <p:nvPr/>
            </p:nvSpPr>
            <p:spPr bwMode="auto">
              <a:xfrm>
                <a:off x="2001" y="2773"/>
                <a:ext cx="2" cy="12"/>
              </a:xfrm>
              <a:custGeom>
                <a:avLst/>
                <a:gdLst>
                  <a:gd name="T0" fmla="*/ 0 w 6"/>
                  <a:gd name="T1" fmla="*/ 44 h 44"/>
                  <a:gd name="T2" fmla="*/ 0 w 6"/>
                  <a:gd name="T3" fmla="*/ 0 h 44"/>
                  <a:gd name="T4" fmla="*/ 6 w 6"/>
                  <a:gd name="T5" fmla="*/ 44 h 44"/>
                  <a:gd name="T6" fmla="*/ 0 w 6"/>
                  <a:gd name="T7" fmla="*/ 44 h 44"/>
                </a:gdLst>
                <a:ahLst/>
                <a:cxnLst>
                  <a:cxn ang="0">
                    <a:pos x="T0" y="T1"/>
                  </a:cxn>
                  <a:cxn ang="0">
                    <a:pos x="T2" y="T3"/>
                  </a:cxn>
                  <a:cxn ang="0">
                    <a:pos x="T4" y="T5"/>
                  </a:cxn>
                  <a:cxn ang="0">
                    <a:pos x="T6" y="T7"/>
                  </a:cxn>
                </a:cxnLst>
                <a:rect l="0" t="0" r="r" b="b"/>
                <a:pathLst>
                  <a:path w="6" h="44">
                    <a:moveTo>
                      <a:pt x="0" y="44"/>
                    </a:moveTo>
                    <a:lnTo>
                      <a:pt x="0" y="0"/>
                    </a:lnTo>
                    <a:lnTo>
                      <a:pt x="6" y="44"/>
                    </a:lnTo>
                    <a:lnTo>
                      <a:pt x="0" y="44"/>
                    </a:lnTo>
                    <a:close/>
                  </a:path>
                </a:pathLst>
              </a:custGeom>
              <a:gradFill rotWithShape="0">
                <a:gsLst>
                  <a:gs pos="0">
                    <a:schemeClr val="hlink"/>
                  </a:gs>
                  <a:gs pos="50000">
                    <a:schemeClr val="hlink">
                      <a:gamma/>
                      <a:tint val="40000"/>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07" name="Freeform 4695"/>
              <p:cNvSpPr>
                <a:spLocks noChangeAspect="1"/>
              </p:cNvSpPr>
              <p:nvPr/>
            </p:nvSpPr>
            <p:spPr bwMode="auto">
              <a:xfrm>
                <a:off x="1895" y="2711"/>
                <a:ext cx="108" cy="74"/>
              </a:xfrm>
              <a:custGeom>
                <a:avLst/>
                <a:gdLst>
                  <a:gd name="T0" fmla="*/ 29 w 322"/>
                  <a:gd name="T1" fmla="*/ 0 h 228"/>
                  <a:gd name="T2" fmla="*/ 0 w 322"/>
                  <a:gd name="T3" fmla="*/ 228 h 228"/>
                  <a:gd name="T4" fmla="*/ 322 w 322"/>
                  <a:gd name="T5" fmla="*/ 228 h 228"/>
                  <a:gd name="T6" fmla="*/ 288 w 322"/>
                  <a:gd name="T7" fmla="*/ 0 h 228"/>
                  <a:gd name="T8" fmla="*/ 29 w 322"/>
                  <a:gd name="T9" fmla="*/ 0 h 228"/>
                </a:gdLst>
                <a:ahLst/>
                <a:cxnLst>
                  <a:cxn ang="0">
                    <a:pos x="T0" y="T1"/>
                  </a:cxn>
                  <a:cxn ang="0">
                    <a:pos x="T2" y="T3"/>
                  </a:cxn>
                  <a:cxn ang="0">
                    <a:pos x="T4" y="T5"/>
                  </a:cxn>
                  <a:cxn ang="0">
                    <a:pos x="T6" y="T7"/>
                  </a:cxn>
                  <a:cxn ang="0">
                    <a:pos x="T8" y="T9"/>
                  </a:cxn>
                </a:cxnLst>
                <a:rect l="0" t="0" r="r" b="b"/>
                <a:pathLst>
                  <a:path w="322" h="228">
                    <a:moveTo>
                      <a:pt x="29" y="0"/>
                    </a:moveTo>
                    <a:lnTo>
                      <a:pt x="0" y="228"/>
                    </a:lnTo>
                    <a:lnTo>
                      <a:pt x="322" y="228"/>
                    </a:lnTo>
                    <a:lnTo>
                      <a:pt x="288" y="0"/>
                    </a:lnTo>
                    <a:lnTo>
                      <a:pt x="29" y="0"/>
                    </a:lnTo>
                  </a:path>
                </a:pathLst>
              </a:custGeom>
              <a:gradFill rotWithShape="0">
                <a:gsLst>
                  <a:gs pos="0">
                    <a:schemeClr val="hlink"/>
                  </a:gs>
                  <a:gs pos="50000">
                    <a:schemeClr val="hlink">
                      <a:gamma/>
                      <a:tint val="40000"/>
                      <a:invGamma/>
                    </a:schemeClr>
                  </a:gs>
                  <a:gs pos="100000">
                    <a:schemeClr val="hlink"/>
                  </a:gs>
                </a:gsLst>
                <a:lin ang="0" scaled="1"/>
              </a:gradFill>
              <a:ln w="1588">
                <a:solidFill>
                  <a:srgbClr val="1F1A17"/>
                </a:solidFill>
                <a:prstDash val="solid"/>
                <a:round/>
                <a:headEnd/>
                <a:tailEnd/>
              </a:ln>
            </p:spPr>
            <p:txBody>
              <a:bodyPr/>
              <a:lstStyle/>
              <a:p>
                <a:pPr>
                  <a:defRPr/>
                </a:pPr>
                <a:endParaRPr lang="en-US"/>
              </a:p>
            </p:txBody>
          </p:sp>
        </p:grpSp>
        <p:cxnSp>
          <p:nvCxnSpPr>
            <p:cNvPr id="386475" name="AutoShape 4696"/>
            <p:cNvCxnSpPr>
              <a:cxnSpLocks noChangeAspect="1" noChangeShapeType="1"/>
              <a:stCxn id="68161" idx="3"/>
            </p:cNvCxnSpPr>
            <p:nvPr/>
          </p:nvCxnSpPr>
          <p:spPr bwMode="auto">
            <a:xfrm flipV="1">
              <a:off x="769" y="2818"/>
              <a:ext cx="321" cy="1"/>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476" name="AutoShape 4697"/>
            <p:cNvCxnSpPr>
              <a:cxnSpLocks noChangeAspect="1" noChangeShapeType="1"/>
              <a:stCxn id="69136" idx="0"/>
              <a:endCxn id="387732" idx="3"/>
            </p:cNvCxnSpPr>
            <p:nvPr/>
          </p:nvCxnSpPr>
          <p:spPr bwMode="auto">
            <a:xfrm rot="5400000" flipV="1">
              <a:off x="1165" y="2122"/>
              <a:ext cx="148" cy="146"/>
            </a:xfrm>
            <a:prstGeom prst="bentConnector3">
              <a:avLst>
                <a:gd name="adj1" fmla="val -32144"/>
              </a:avLst>
            </a:prstGeom>
            <a:noFill/>
            <a:ln w="19050">
              <a:solidFill>
                <a:srgbClr val="FF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477" name="AutoShape 4698"/>
            <p:cNvCxnSpPr>
              <a:cxnSpLocks noChangeAspect="1" noChangeShapeType="1"/>
              <a:endCxn id="66301" idx="1"/>
            </p:cNvCxnSpPr>
            <p:nvPr/>
          </p:nvCxnSpPr>
          <p:spPr bwMode="auto">
            <a:xfrm rot="16200000" flipH="1">
              <a:off x="1204" y="2566"/>
              <a:ext cx="404" cy="82"/>
            </a:xfrm>
            <a:prstGeom prst="bentConnector2">
              <a:avLst/>
            </a:prstGeom>
            <a:noFill/>
            <a:ln w="19050">
              <a:solidFill>
                <a:srgbClr val="FF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478" name="AutoShape 4699"/>
            <p:cNvCxnSpPr>
              <a:cxnSpLocks noChangeAspect="1" noChangeShapeType="1"/>
              <a:stCxn id="66232" idx="0"/>
              <a:endCxn id="387559" idx="51"/>
            </p:cNvCxnSpPr>
            <p:nvPr/>
          </p:nvCxnSpPr>
          <p:spPr bwMode="auto">
            <a:xfrm rot="5400000" flipV="1">
              <a:off x="1492" y="2114"/>
              <a:ext cx="141" cy="140"/>
            </a:xfrm>
            <a:prstGeom prst="bentConnector3">
              <a:avLst>
                <a:gd name="adj1" fmla="val -25630"/>
              </a:avLst>
            </a:prstGeom>
            <a:noFill/>
            <a:ln w="19050">
              <a:solidFill>
                <a:srgbClr val="FF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479" name="AutoShape 4700"/>
            <p:cNvCxnSpPr>
              <a:cxnSpLocks noChangeAspect="1" noChangeShapeType="1"/>
              <a:endCxn id="66399" idx="1"/>
            </p:cNvCxnSpPr>
            <p:nvPr/>
          </p:nvCxnSpPr>
          <p:spPr bwMode="auto">
            <a:xfrm rot="16200000" flipH="1">
              <a:off x="1562" y="2560"/>
              <a:ext cx="395" cy="96"/>
            </a:xfrm>
            <a:prstGeom prst="bentConnector2">
              <a:avLst/>
            </a:prstGeom>
            <a:noFill/>
            <a:ln w="19050">
              <a:solidFill>
                <a:srgbClr val="FF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86480" name="Line 4701"/>
            <p:cNvSpPr>
              <a:spLocks noChangeAspect="1" noChangeShapeType="1"/>
            </p:cNvSpPr>
            <p:nvPr/>
          </p:nvSpPr>
          <p:spPr bwMode="auto">
            <a:xfrm>
              <a:off x="1890" y="2152"/>
              <a:ext cx="245" cy="0"/>
            </a:xfrm>
            <a:prstGeom prst="line">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6481" name="Line 4702"/>
            <p:cNvSpPr>
              <a:spLocks noChangeAspect="1" noChangeShapeType="1"/>
            </p:cNvSpPr>
            <p:nvPr/>
          </p:nvSpPr>
          <p:spPr bwMode="auto">
            <a:xfrm flipV="1">
              <a:off x="2300" y="2345"/>
              <a:ext cx="0" cy="457"/>
            </a:xfrm>
            <a:prstGeom prst="line">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6482" name="Line 4703"/>
            <p:cNvSpPr>
              <a:spLocks noChangeAspect="1" noChangeShapeType="1"/>
            </p:cNvSpPr>
            <p:nvPr/>
          </p:nvSpPr>
          <p:spPr bwMode="auto">
            <a:xfrm>
              <a:off x="2219" y="2802"/>
              <a:ext cx="81" cy="0"/>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cxnSp>
          <p:nvCxnSpPr>
            <p:cNvPr id="386483" name="AutoShape 4704"/>
            <p:cNvCxnSpPr>
              <a:cxnSpLocks noChangeAspect="1" noChangeShapeType="1"/>
              <a:stCxn id="387507" idx="5"/>
              <a:endCxn id="68750" idx="4"/>
            </p:cNvCxnSpPr>
            <p:nvPr/>
          </p:nvCxnSpPr>
          <p:spPr bwMode="auto">
            <a:xfrm>
              <a:off x="2425" y="2358"/>
              <a:ext cx="225" cy="125"/>
            </a:xfrm>
            <a:prstGeom prst="bentConnector4">
              <a:avLst>
                <a:gd name="adj1" fmla="val -759"/>
                <a:gd name="adj2" fmla="val 100000"/>
              </a:avLst>
            </a:prstGeom>
            <a:noFill/>
            <a:ln w="19050">
              <a:solidFill>
                <a:srgbClr val="FF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484" name="AutoShape 4705"/>
            <p:cNvCxnSpPr>
              <a:cxnSpLocks noChangeAspect="1" noChangeShapeType="1"/>
            </p:cNvCxnSpPr>
            <p:nvPr/>
          </p:nvCxnSpPr>
          <p:spPr bwMode="auto">
            <a:xfrm rot="-5400000">
              <a:off x="2914" y="2121"/>
              <a:ext cx="31" cy="509"/>
            </a:xfrm>
            <a:prstGeom prst="bentConnector2">
              <a:avLst/>
            </a:prstGeom>
            <a:noFill/>
            <a:ln w="19050">
              <a:solidFill>
                <a:srgbClr val="FF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485" name="AutoShape 4706"/>
            <p:cNvCxnSpPr>
              <a:cxnSpLocks noChangeAspect="1" noChangeShapeType="1"/>
              <a:endCxn id="65790" idx="0"/>
            </p:cNvCxnSpPr>
            <p:nvPr/>
          </p:nvCxnSpPr>
          <p:spPr bwMode="auto">
            <a:xfrm flipV="1">
              <a:off x="3501" y="2230"/>
              <a:ext cx="484" cy="126"/>
            </a:xfrm>
            <a:prstGeom prst="bentConnector4">
              <a:avLst>
                <a:gd name="adj1" fmla="val 33273"/>
                <a:gd name="adj2" fmla="val 197296"/>
              </a:avLst>
            </a:prstGeom>
            <a:noFill/>
            <a:ln w="19050">
              <a:solidFill>
                <a:srgbClr val="FF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486" name="AutoShape 4707"/>
            <p:cNvCxnSpPr>
              <a:cxnSpLocks noChangeAspect="1" noChangeShapeType="1"/>
              <a:stCxn id="65737" idx="3"/>
              <a:endCxn id="389015" idx="30"/>
            </p:cNvCxnSpPr>
            <p:nvPr/>
          </p:nvCxnSpPr>
          <p:spPr bwMode="auto">
            <a:xfrm flipV="1">
              <a:off x="4103" y="2416"/>
              <a:ext cx="233" cy="380"/>
            </a:xfrm>
            <a:prstGeom prst="bentConnector4">
              <a:avLst>
                <a:gd name="adj1" fmla="val 45222"/>
                <a:gd name="adj2" fmla="val 99764"/>
              </a:avLst>
            </a:prstGeom>
            <a:noFill/>
            <a:ln w="19050">
              <a:solidFill>
                <a:srgbClr val="FF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487" name="AutoShape 4708"/>
            <p:cNvCxnSpPr>
              <a:cxnSpLocks noChangeAspect="1" noChangeShapeType="1"/>
              <a:stCxn id="389053" idx="8"/>
            </p:cNvCxnSpPr>
            <p:nvPr/>
          </p:nvCxnSpPr>
          <p:spPr bwMode="auto">
            <a:xfrm>
              <a:off x="4913" y="2430"/>
              <a:ext cx="105" cy="229"/>
            </a:xfrm>
            <a:prstGeom prst="bentConnector2">
              <a:avLst/>
            </a:prstGeom>
            <a:noFill/>
            <a:ln w="19050">
              <a:solidFill>
                <a:srgbClr val="FF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86488" name="Group 4709"/>
            <p:cNvGrpSpPr>
              <a:grpSpLocks noChangeAspect="1"/>
            </p:cNvGrpSpPr>
            <p:nvPr/>
          </p:nvGrpSpPr>
          <p:grpSpPr bwMode="auto">
            <a:xfrm>
              <a:off x="723" y="3205"/>
              <a:ext cx="347" cy="585"/>
              <a:chOff x="448" y="3420"/>
              <a:chExt cx="405" cy="691"/>
            </a:xfrm>
          </p:grpSpPr>
          <p:sp>
            <p:nvSpPr>
              <p:cNvPr id="69222" name="AutoShape 4710"/>
              <p:cNvSpPr>
                <a:spLocks noChangeAspect="1" noChangeArrowheads="1"/>
              </p:cNvSpPr>
              <p:nvPr/>
            </p:nvSpPr>
            <p:spPr bwMode="auto">
              <a:xfrm>
                <a:off x="448" y="3420"/>
                <a:ext cx="149" cy="527"/>
              </a:xfrm>
              <a:prstGeom prst="roundRect">
                <a:avLst>
                  <a:gd name="adj" fmla="val 30870"/>
                </a:avLst>
              </a:prstGeom>
              <a:gradFill rotWithShape="0">
                <a:gsLst>
                  <a:gs pos="0">
                    <a:schemeClr val="hlink"/>
                  </a:gs>
                  <a:gs pos="50000">
                    <a:schemeClr val="hlink">
                      <a:gamma/>
                      <a:tint val="40000"/>
                      <a:invGamma/>
                    </a:schemeClr>
                  </a:gs>
                  <a:gs pos="100000">
                    <a:schemeClr val="hlink"/>
                  </a:gs>
                </a:gsLst>
                <a:lin ang="0" scaled="1"/>
              </a:gradFill>
              <a:ln w="9525">
                <a:solidFill>
                  <a:schemeClr val="bg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a:p>
            </p:txBody>
          </p:sp>
          <p:sp>
            <p:nvSpPr>
              <p:cNvPr id="69223" name="AutoShape 4711"/>
              <p:cNvSpPr>
                <a:spLocks noChangeAspect="1" noChangeArrowheads="1"/>
              </p:cNvSpPr>
              <p:nvPr/>
            </p:nvSpPr>
            <p:spPr bwMode="auto">
              <a:xfrm>
                <a:off x="509" y="3451"/>
                <a:ext cx="149" cy="527"/>
              </a:xfrm>
              <a:prstGeom prst="roundRect">
                <a:avLst>
                  <a:gd name="adj" fmla="val 30870"/>
                </a:avLst>
              </a:prstGeom>
              <a:gradFill rotWithShape="0">
                <a:gsLst>
                  <a:gs pos="0">
                    <a:schemeClr val="hlink"/>
                  </a:gs>
                  <a:gs pos="50000">
                    <a:schemeClr val="hlink">
                      <a:gamma/>
                      <a:tint val="40000"/>
                      <a:invGamma/>
                    </a:schemeClr>
                  </a:gs>
                  <a:gs pos="100000">
                    <a:schemeClr val="hlink"/>
                  </a:gs>
                </a:gsLst>
                <a:lin ang="0" scaled="1"/>
              </a:gradFill>
              <a:ln w="9525">
                <a:solidFill>
                  <a:schemeClr val="bg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a:p>
            </p:txBody>
          </p:sp>
          <p:sp>
            <p:nvSpPr>
              <p:cNvPr id="69224" name="AutoShape 4712"/>
              <p:cNvSpPr>
                <a:spLocks noChangeAspect="1" noChangeArrowheads="1"/>
              </p:cNvSpPr>
              <p:nvPr/>
            </p:nvSpPr>
            <p:spPr bwMode="auto">
              <a:xfrm>
                <a:off x="576" y="3498"/>
                <a:ext cx="147" cy="527"/>
              </a:xfrm>
              <a:prstGeom prst="roundRect">
                <a:avLst>
                  <a:gd name="adj" fmla="val 30870"/>
                </a:avLst>
              </a:prstGeom>
              <a:gradFill rotWithShape="0">
                <a:gsLst>
                  <a:gs pos="0">
                    <a:schemeClr val="hlink"/>
                  </a:gs>
                  <a:gs pos="50000">
                    <a:schemeClr val="hlink">
                      <a:gamma/>
                      <a:tint val="40000"/>
                      <a:invGamma/>
                    </a:schemeClr>
                  </a:gs>
                  <a:gs pos="100000">
                    <a:schemeClr val="hlink"/>
                  </a:gs>
                </a:gsLst>
                <a:lin ang="0" scaled="1"/>
              </a:gradFill>
              <a:ln w="9525">
                <a:solidFill>
                  <a:schemeClr val="bg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a:p>
            </p:txBody>
          </p:sp>
          <p:sp>
            <p:nvSpPr>
              <p:cNvPr id="69225" name="AutoShape 4713"/>
              <p:cNvSpPr>
                <a:spLocks noChangeAspect="1" noChangeArrowheads="1"/>
              </p:cNvSpPr>
              <p:nvPr/>
            </p:nvSpPr>
            <p:spPr bwMode="auto">
              <a:xfrm>
                <a:off x="637" y="3530"/>
                <a:ext cx="149" cy="527"/>
              </a:xfrm>
              <a:prstGeom prst="roundRect">
                <a:avLst>
                  <a:gd name="adj" fmla="val 30870"/>
                </a:avLst>
              </a:prstGeom>
              <a:gradFill rotWithShape="0">
                <a:gsLst>
                  <a:gs pos="0">
                    <a:schemeClr val="hlink"/>
                  </a:gs>
                  <a:gs pos="50000">
                    <a:schemeClr val="hlink">
                      <a:gamma/>
                      <a:tint val="40000"/>
                      <a:invGamma/>
                    </a:schemeClr>
                  </a:gs>
                  <a:gs pos="100000">
                    <a:schemeClr val="hlink"/>
                  </a:gs>
                </a:gsLst>
                <a:lin ang="0" scaled="1"/>
              </a:gradFill>
              <a:ln w="9525">
                <a:solidFill>
                  <a:schemeClr val="bg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a:p>
            </p:txBody>
          </p:sp>
          <p:sp>
            <p:nvSpPr>
              <p:cNvPr id="69226" name="AutoShape 4714"/>
              <p:cNvSpPr>
                <a:spLocks noChangeAspect="1" noChangeArrowheads="1"/>
              </p:cNvSpPr>
              <p:nvPr/>
            </p:nvSpPr>
            <p:spPr bwMode="auto">
              <a:xfrm>
                <a:off x="704" y="3584"/>
                <a:ext cx="149" cy="527"/>
              </a:xfrm>
              <a:prstGeom prst="roundRect">
                <a:avLst>
                  <a:gd name="adj" fmla="val 30870"/>
                </a:avLst>
              </a:prstGeom>
              <a:gradFill rotWithShape="0">
                <a:gsLst>
                  <a:gs pos="0">
                    <a:schemeClr val="hlink"/>
                  </a:gs>
                  <a:gs pos="50000">
                    <a:schemeClr val="hlink">
                      <a:gamma/>
                      <a:tint val="40000"/>
                      <a:invGamma/>
                    </a:schemeClr>
                  </a:gs>
                  <a:gs pos="100000">
                    <a:schemeClr val="hlink"/>
                  </a:gs>
                </a:gsLst>
                <a:lin ang="0" scaled="1"/>
              </a:gradFill>
              <a:ln w="9525">
                <a:solidFill>
                  <a:schemeClr val="bg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a:p>
            </p:txBody>
          </p:sp>
        </p:grpSp>
        <p:cxnSp>
          <p:nvCxnSpPr>
            <p:cNvPr id="386489" name="AutoShape 4715"/>
            <p:cNvCxnSpPr>
              <a:cxnSpLocks noChangeAspect="1" noChangeShapeType="1"/>
              <a:stCxn id="65383" idx="1"/>
            </p:cNvCxnSpPr>
            <p:nvPr/>
          </p:nvCxnSpPr>
          <p:spPr bwMode="auto">
            <a:xfrm rot="10800000" flipV="1">
              <a:off x="431" y="1451"/>
              <a:ext cx="2481" cy="521"/>
            </a:xfrm>
            <a:prstGeom prst="bentConnector3">
              <a:avLst>
                <a:gd name="adj1" fmla="val 3190"/>
              </a:avLst>
            </a:prstGeom>
            <a:noFill/>
            <a:ln w="19050">
              <a:solidFill>
                <a:srgbClr val="8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490" name="AutoShape 4716"/>
            <p:cNvCxnSpPr>
              <a:cxnSpLocks noChangeAspect="1" noChangeShapeType="1"/>
              <a:endCxn id="69224" idx="1"/>
            </p:cNvCxnSpPr>
            <p:nvPr/>
          </p:nvCxnSpPr>
          <p:spPr bwMode="auto">
            <a:xfrm rot="16200000" flipH="1">
              <a:off x="-127" y="2534"/>
              <a:ext cx="1517" cy="403"/>
            </a:xfrm>
            <a:prstGeom prst="bentConnector2">
              <a:avLst/>
            </a:prstGeom>
            <a:noFill/>
            <a:ln w="19050">
              <a:solidFill>
                <a:srgbClr val="9933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491" name="AutoShape 4717"/>
            <p:cNvCxnSpPr>
              <a:cxnSpLocks noChangeAspect="1" noChangeShapeType="1"/>
            </p:cNvCxnSpPr>
            <p:nvPr/>
          </p:nvCxnSpPr>
          <p:spPr bwMode="auto">
            <a:xfrm rot="-5400000" flipH="1" flipV="1">
              <a:off x="3525" y="1589"/>
              <a:ext cx="537" cy="176"/>
            </a:xfrm>
            <a:prstGeom prst="bentConnector3">
              <a:avLst>
                <a:gd name="adj1" fmla="val 100472"/>
              </a:avLst>
            </a:prstGeom>
            <a:noFill/>
            <a:ln w="12700">
              <a:solidFill>
                <a:srgbClr val="CC99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492" name="AutoShape 4718"/>
            <p:cNvCxnSpPr>
              <a:cxnSpLocks noChangeAspect="1" noChangeShapeType="1"/>
              <a:endCxn id="388028" idx="56"/>
            </p:cNvCxnSpPr>
            <p:nvPr/>
          </p:nvCxnSpPr>
          <p:spPr bwMode="auto">
            <a:xfrm rot="5400000" flipH="1">
              <a:off x="3317" y="1558"/>
              <a:ext cx="657" cy="127"/>
            </a:xfrm>
            <a:prstGeom prst="bentConnector3">
              <a:avLst>
                <a:gd name="adj1" fmla="val 118662"/>
              </a:avLst>
            </a:prstGeom>
            <a:noFill/>
            <a:ln w="12700">
              <a:solidFill>
                <a:srgbClr val="CC99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86493" name="Freeform 4719"/>
            <p:cNvSpPr>
              <a:spLocks noChangeAspect="1"/>
            </p:cNvSpPr>
            <p:nvPr/>
          </p:nvSpPr>
          <p:spPr bwMode="auto">
            <a:xfrm>
              <a:off x="1777" y="3123"/>
              <a:ext cx="133" cy="229"/>
            </a:xfrm>
            <a:custGeom>
              <a:avLst/>
              <a:gdLst>
                <a:gd name="T0" fmla="*/ 0 w 469"/>
                <a:gd name="T1" fmla="*/ 0 h 812"/>
                <a:gd name="T2" fmla="*/ 0 w 469"/>
                <a:gd name="T3" fmla="*/ 0 h 812"/>
                <a:gd name="T4" fmla="*/ 0 w 469"/>
                <a:gd name="T5" fmla="*/ 0 h 812"/>
                <a:gd name="T6" fmla="*/ 0 w 469"/>
                <a:gd name="T7" fmla="*/ 0 h 812"/>
                <a:gd name="T8" fmla="*/ 0 w 469"/>
                <a:gd name="T9" fmla="*/ 0 h 8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9" h="812">
                  <a:moveTo>
                    <a:pt x="0" y="238"/>
                  </a:moveTo>
                  <a:lnTo>
                    <a:pt x="0" y="572"/>
                  </a:lnTo>
                  <a:lnTo>
                    <a:pt x="469" y="812"/>
                  </a:lnTo>
                  <a:lnTo>
                    <a:pt x="469" y="0"/>
                  </a:lnTo>
                  <a:lnTo>
                    <a:pt x="0" y="238"/>
                  </a:lnTo>
                </a:path>
              </a:pathLst>
            </a:custGeom>
            <a:solidFill>
              <a:srgbClr val="FF9900"/>
            </a:solidFill>
            <a:ln w="6350">
              <a:solidFill>
                <a:srgbClr val="1F1A17"/>
              </a:solidFill>
              <a:prstDash val="solid"/>
              <a:round/>
              <a:headEnd/>
              <a:tailEnd/>
            </a:ln>
          </p:spPr>
          <p:txBody>
            <a:bodyPr/>
            <a:lstStyle/>
            <a:p>
              <a:endParaRPr lang="en-US"/>
            </a:p>
          </p:txBody>
        </p:sp>
        <p:sp>
          <p:nvSpPr>
            <p:cNvPr id="386494" name="Oval 4720"/>
            <p:cNvSpPr>
              <a:spLocks noChangeAspect="1" noChangeArrowheads="1"/>
            </p:cNvSpPr>
            <p:nvPr/>
          </p:nvSpPr>
          <p:spPr bwMode="auto">
            <a:xfrm>
              <a:off x="1979" y="3159"/>
              <a:ext cx="147" cy="150"/>
            </a:xfrm>
            <a:prstGeom prst="ellipse">
              <a:avLst/>
            </a:prstGeom>
            <a:solidFill>
              <a:srgbClr val="FF9900"/>
            </a:solidFill>
            <a:ln w="6350">
              <a:solidFill>
                <a:schemeClr val="bg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495" name="Line 4721"/>
            <p:cNvSpPr>
              <a:spLocks noChangeAspect="1" noChangeShapeType="1"/>
            </p:cNvSpPr>
            <p:nvPr/>
          </p:nvSpPr>
          <p:spPr bwMode="auto">
            <a:xfrm flipH="1">
              <a:off x="1961" y="3213"/>
              <a:ext cx="79" cy="11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6496" name="Line 4722"/>
            <p:cNvSpPr>
              <a:spLocks noChangeAspect="1" noChangeShapeType="1"/>
            </p:cNvSpPr>
            <p:nvPr/>
          </p:nvSpPr>
          <p:spPr bwMode="auto">
            <a:xfrm flipV="1">
              <a:off x="2040" y="3123"/>
              <a:ext cx="110" cy="156"/>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6497" name="Line 4723"/>
            <p:cNvSpPr>
              <a:spLocks noChangeAspect="1" noChangeShapeType="1"/>
            </p:cNvSpPr>
            <p:nvPr/>
          </p:nvSpPr>
          <p:spPr bwMode="auto">
            <a:xfrm>
              <a:off x="2040" y="3213"/>
              <a:ext cx="0" cy="6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6498" name="Freeform 4724"/>
            <p:cNvSpPr>
              <a:spLocks noChangeAspect="1"/>
            </p:cNvSpPr>
            <p:nvPr/>
          </p:nvSpPr>
          <p:spPr bwMode="auto">
            <a:xfrm>
              <a:off x="1333" y="2978"/>
              <a:ext cx="93" cy="162"/>
            </a:xfrm>
            <a:custGeom>
              <a:avLst/>
              <a:gdLst>
                <a:gd name="T0" fmla="*/ 6 w 108"/>
                <a:gd name="T1" fmla="*/ 110 h 169"/>
                <a:gd name="T2" fmla="*/ 16 w 108"/>
                <a:gd name="T3" fmla="*/ 24 h 169"/>
                <a:gd name="T4" fmla="*/ 16 w 108"/>
                <a:gd name="T5" fmla="*/ 5 h 169"/>
                <a:gd name="T6" fmla="*/ 19 w 108"/>
                <a:gd name="T7" fmla="*/ 29 h 169"/>
                <a:gd name="T8" fmla="*/ 28 w 108"/>
                <a:gd name="T9" fmla="*/ 66 h 169"/>
                <a:gd name="T10" fmla="*/ 19 w 108"/>
                <a:gd name="T11" fmla="*/ 116 h 169"/>
                <a:gd name="T12" fmla="*/ 6 w 108"/>
                <a:gd name="T13" fmla="*/ 11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8" h="169">
                  <a:moveTo>
                    <a:pt x="22" y="161"/>
                  </a:moveTo>
                  <a:cubicBezTo>
                    <a:pt x="0" y="96"/>
                    <a:pt x="12" y="82"/>
                    <a:pt x="58" y="33"/>
                  </a:cubicBezTo>
                  <a:cubicBezTo>
                    <a:pt x="60" y="24"/>
                    <a:pt x="57" y="0"/>
                    <a:pt x="65" y="5"/>
                  </a:cubicBezTo>
                  <a:cubicBezTo>
                    <a:pt x="76" y="11"/>
                    <a:pt x="69" y="29"/>
                    <a:pt x="72" y="41"/>
                  </a:cubicBezTo>
                  <a:cubicBezTo>
                    <a:pt x="78" y="65"/>
                    <a:pt x="94" y="77"/>
                    <a:pt x="108" y="97"/>
                  </a:cubicBezTo>
                  <a:cubicBezTo>
                    <a:pt x="88" y="158"/>
                    <a:pt x="93" y="124"/>
                    <a:pt x="72" y="169"/>
                  </a:cubicBezTo>
                  <a:lnTo>
                    <a:pt x="22" y="161"/>
                  </a:lnTo>
                  <a:close/>
                </a:path>
              </a:pathLst>
            </a:custGeom>
            <a:solidFill>
              <a:srgbClr val="FF0000"/>
            </a:solidFill>
            <a:ln w="12700" cap="flat" cmpd="sng">
              <a:solidFill>
                <a:srgbClr val="FF33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386499" name="Group 4725"/>
            <p:cNvGrpSpPr>
              <a:grpSpLocks noChangeAspect="1"/>
            </p:cNvGrpSpPr>
            <p:nvPr/>
          </p:nvGrpSpPr>
          <p:grpSpPr bwMode="auto">
            <a:xfrm>
              <a:off x="2147" y="2820"/>
              <a:ext cx="961" cy="986"/>
              <a:chOff x="2347" y="2773"/>
              <a:chExt cx="1118" cy="1165"/>
            </a:xfrm>
          </p:grpSpPr>
          <p:grpSp>
            <p:nvGrpSpPr>
              <p:cNvPr id="386582" name="Group 4726"/>
              <p:cNvGrpSpPr>
                <a:grpSpLocks noChangeAspect="1"/>
              </p:cNvGrpSpPr>
              <p:nvPr/>
            </p:nvGrpSpPr>
            <p:grpSpPr bwMode="auto">
              <a:xfrm>
                <a:off x="2347" y="3099"/>
                <a:ext cx="666" cy="839"/>
                <a:chOff x="3279" y="3333"/>
                <a:chExt cx="339" cy="598"/>
              </a:xfrm>
            </p:grpSpPr>
            <p:sp>
              <p:nvSpPr>
                <p:cNvPr id="69239" name="Freeform 4727"/>
                <p:cNvSpPr>
                  <a:spLocks noChangeAspect="1"/>
                </p:cNvSpPr>
                <p:nvPr/>
              </p:nvSpPr>
              <p:spPr bwMode="auto">
                <a:xfrm>
                  <a:off x="3279" y="3406"/>
                  <a:ext cx="23" cy="6"/>
                </a:xfrm>
                <a:custGeom>
                  <a:avLst/>
                  <a:gdLst>
                    <a:gd name="T0" fmla="*/ 70 w 70"/>
                    <a:gd name="T1" fmla="*/ 0 h 17"/>
                    <a:gd name="T2" fmla="*/ 24 w 70"/>
                    <a:gd name="T3" fmla="*/ 17 h 17"/>
                    <a:gd name="T4" fmla="*/ 0 w 70"/>
                    <a:gd name="T5" fmla="*/ 17 h 17"/>
                    <a:gd name="T6" fmla="*/ 70 w 70"/>
                    <a:gd name="T7" fmla="*/ 0 h 17"/>
                  </a:gdLst>
                  <a:ahLst/>
                  <a:cxnLst>
                    <a:cxn ang="0">
                      <a:pos x="T0" y="T1"/>
                    </a:cxn>
                    <a:cxn ang="0">
                      <a:pos x="T2" y="T3"/>
                    </a:cxn>
                    <a:cxn ang="0">
                      <a:pos x="T4" y="T5"/>
                    </a:cxn>
                    <a:cxn ang="0">
                      <a:pos x="T6" y="T7"/>
                    </a:cxn>
                  </a:cxnLst>
                  <a:rect l="0" t="0" r="r" b="b"/>
                  <a:pathLst>
                    <a:path w="70" h="17">
                      <a:moveTo>
                        <a:pt x="70" y="0"/>
                      </a:moveTo>
                      <a:lnTo>
                        <a:pt x="24" y="17"/>
                      </a:lnTo>
                      <a:lnTo>
                        <a:pt x="0" y="17"/>
                      </a:lnTo>
                      <a:lnTo>
                        <a:pt x="70" y="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40" name="Freeform 4728"/>
                <p:cNvSpPr>
                  <a:spLocks noChangeAspect="1"/>
                </p:cNvSpPr>
                <p:nvPr/>
              </p:nvSpPr>
              <p:spPr bwMode="auto">
                <a:xfrm>
                  <a:off x="3280" y="3401"/>
                  <a:ext cx="44" cy="11"/>
                </a:xfrm>
                <a:custGeom>
                  <a:avLst/>
                  <a:gdLst>
                    <a:gd name="T0" fmla="*/ 0 w 131"/>
                    <a:gd name="T1" fmla="*/ 33 h 33"/>
                    <a:gd name="T2" fmla="*/ 2 w 131"/>
                    <a:gd name="T3" fmla="*/ 32 h 33"/>
                    <a:gd name="T4" fmla="*/ 131 w 131"/>
                    <a:gd name="T5" fmla="*/ 0 h 33"/>
                    <a:gd name="T6" fmla="*/ 43 w 131"/>
                    <a:gd name="T7" fmla="*/ 33 h 33"/>
                    <a:gd name="T8" fmla="*/ 0 w 131"/>
                    <a:gd name="T9" fmla="*/ 33 h 33"/>
                  </a:gdLst>
                  <a:ahLst/>
                  <a:cxnLst>
                    <a:cxn ang="0">
                      <a:pos x="T0" y="T1"/>
                    </a:cxn>
                    <a:cxn ang="0">
                      <a:pos x="T2" y="T3"/>
                    </a:cxn>
                    <a:cxn ang="0">
                      <a:pos x="T4" y="T5"/>
                    </a:cxn>
                    <a:cxn ang="0">
                      <a:pos x="T6" y="T7"/>
                    </a:cxn>
                    <a:cxn ang="0">
                      <a:pos x="T8" y="T9"/>
                    </a:cxn>
                  </a:cxnLst>
                  <a:rect l="0" t="0" r="r" b="b"/>
                  <a:pathLst>
                    <a:path w="131" h="33">
                      <a:moveTo>
                        <a:pt x="0" y="33"/>
                      </a:moveTo>
                      <a:lnTo>
                        <a:pt x="2" y="32"/>
                      </a:lnTo>
                      <a:lnTo>
                        <a:pt x="131" y="0"/>
                      </a:lnTo>
                      <a:lnTo>
                        <a:pt x="43" y="33"/>
                      </a:lnTo>
                      <a:lnTo>
                        <a:pt x="0" y="3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41" name="Freeform 4729"/>
                <p:cNvSpPr>
                  <a:spLocks noChangeAspect="1"/>
                </p:cNvSpPr>
                <p:nvPr/>
              </p:nvSpPr>
              <p:spPr bwMode="auto">
                <a:xfrm>
                  <a:off x="3287" y="3396"/>
                  <a:ext cx="58" cy="16"/>
                </a:xfrm>
                <a:custGeom>
                  <a:avLst/>
                  <a:gdLst>
                    <a:gd name="T0" fmla="*/ 0 w 175"/>
                    <a:gd name="T1" fmla="*/ 48 h 48"/>
                    <a:gd name="T2" fmla="*/ 46 w 175"/>
                    <a:gd name="T3" fmla="*/ 31 h 48"/>
                    <a:gd name="T4" fmla="*/ 175 w 175"/>
                    <a:gd name="T5" fmla="*/ 0 h 48"/>
                    <a:gd name="T6" fmla="*/ 44 w 175"/>
                    <a:gd name="T7" fmla="*/ 48 h 48"/>
                    <a:gd name="T8" fmla="*/ 0 w 175"/>
                    <a:gd name="T9" fmla="*/ 48 h 48"/>
                  </a:gdLst>
                  <a:ahLst/>
                  <a:cxnLst>
                    <a:cxn ang="0">
                      <a:pos x="T0" y="T1"/>
                    </a:cxn>
                    <a:cxn ang="0">
                      <a:pos x="T2" y="T3"/>
                    </a:cxn>
                    <a:cxn ang="0">
                      <a:pos x="T4" y="T5"/>
                    </a:cxn>
                    <a:cxn ang="0">
                      <a:pos x="T6" y="T7"/>
                    </a:cxn>
                    <a:cxn ang="0">
                      <a:pos x="T8" y="T9"/>
                    </a:cxn>
                  </a:cxnLst>
                  <a:rect l="0" t="0" r="r" b="b"/>
                  <a:pathLst>
                    <a:path w="175" h="48">
                      <a:moveTo>
                        <a:pt x="0" y="48"/>
                      </a:moveTo>
                      <a:lnTo>
                        <a:pt x="46" y="31"/>
                      </a:lnTo>
                      <a:lnTo>
                        <a:pt x="175" y="0"/>
                      </a:lnTo>
                      <a:lnTo>
                        <a:pt x="44" y="48"/>
                      </a:lnTo>
                      <a:lnTo>
                        <a:pt x="0" y="4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42" name="Freeform 4730"/>
                <p:cNvSpPr>
                  <a:spLocks noChangeAspect="1"/>
                </p:cNvSpPr>
                <p:nvPr/>
              </p:nvSpPr>
              <p:spPr bwMode="auto">
                <a:xfrm>
                  <a:off x="3294" y="3391"/>
                  <a:ext cx="73" cy="21"/>
                </a:xfrm>
                <a:custGeom>
                  <a:avLst/>
                  <a:gdLst>
                    <a:gd name="T0" fmla="*/ 0 w 218"/>
                    <a:gd name="T1" fmla="*/ 64 h 64"/>
                    <a:gd name="T2" fmla="*/ 88 w 218"/>
                    <a:gd name="T3" fmla="*/ 31 h 64"/>
                    <a:gd name="T4" fmla="*/ 218 w 218"/>
                    <a:gd name="T5" fmla="*/ 0 h 64"/>
                    <a:gd name="T6" fmla="*/ 44 w 218"/>
                    <a:gd name="T7" fmla="*/ 64 h 64"/>
                    <a:gd name="T8" fmla="*/ 0 w 218"/>
                    <a:gd name="T9" fmla="*/ 64 h 64"/>
                  </a:gdLst>
                  <a:ahLst/>
                  <a:cxnLst>
                    <a:cxn ang="0">
                      <a:pos x="T0" y="T1"/>
                    </a:cxn>
                    <a:cxn ang="0">
                      <a:pos x="T2" y="T3"/>
                    </a:cxn>
                    <a:cxn ang="0">
                      <a:pos x="T4" y="T5"/>
                    </a:cxn>
                    <a:cxn ang="0">
                      <a:pos x="T6" y="T7"/>
                    </a:cxn>
                    <a:cxn ang="0">
                      <a:pos x="T8" y="T9"/>
                    </a:cxn>
                  </a:cxnLst>
                  <a:rect l="0" t="0" r="r" b="b"/>
                  <a:pathLst>
                    <a:path w="218" h="64">
                      <a:moveTo>
                        <a:pt x="0" y="64"/>
                      </a:moveTo>
                      <a:lnTo>
                        <a:pt x="88" y="31"/>
                      </a:lnTo>
                      <a:lnTo>
                        <a:pt x="218" y="0"/>
                      </a:lnTo>
                      <a:lnTo>
                        <a:pt x="44" y="64"/>
                      </a:lnTo>
                      <a:lnTo>
                        <a:pt x="0" y="6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43" name="Freeform 4731"/>
                <p:cNvSpPr>
                  <a:spLocks noChangeAspect="1"/>
                </p:cNvSpPr>
                <p:nvPr/>
              </p:nvSpPr>
              <p:spPr bwMode="auto">
                <a:xfrm>
                  <a:off x="3302" y="3385"/>
                  <a:ext cx="87" cy="27"/>
                </a:xfrm>
                <a:custGeom>
                  <a:avLst/>
                  <a:gdLst>
                    <a:gd name="T0" fmla="*/ 0 w 261"/>
                    <a:gd name="T1" fmla="*/ 80 h 80"/>
                    <a:gd name="T2" fmla="*/ 131 w 261"/>
                    <a:gd name="T3" fmla="*/ 32 h 80"/>
                    <a:gd name="T4" fmla="*/ 261 w 261"/>
                    <a:gd name="T5" fmla="*/ 0 h 80"/>
                    <a:gd name="T6" fmla="*/ 44 w 261"/>
                    <a:gd name="T7" fmla="*/ 80 h 80"/>
                    <a:gd name="T8" fmla="*/ 0 w 261"/>
                    <a:gd name="T9" fmla="*/ 80 h 80"/>
                  </a:gdLst>
                  <a:ahLst/>
                  <a:cxnLst>
                    <a:cxn ang="0">
                      <a:pos x="T0" y="T1"/>
                    </a:cxn>
                    <a:cxn ang="0">
                      <a:pos x="T2" y="T3"/>
                    </a:cxn>
                    <a:cxn ang="0">
                      <a:pos x="T4" y="T5"/>
                    </a:cxn>
                    <a:cxn ang="0">
                      <a:pos x="T6" y="T7"/>
                    </a:cxn>
                    <a:cxn ang="0">
                      <a:pos x="T8" y="T9"/>
                    </a:cxn>
                  </a:cxnLst>
                  <a:rect l="0" t="0" r="r" b="b"/>
                  <a:pathLst>
                    <a:path w="261" h="80">
                      <a:moveTo>
                        <a:pt x="0" y="80"/>
                      </a:moveTo>
                      <a:lnTo>
                        <a:pt x="131" y="32"/>
                      </a:lnTo>
                      <a:lnTo>
                        <a:pt x="261" y="0"/>
                      </a:lnTo>
                      <a:lnTo>
                        <a:pt x="44" y="80"/>
                      </a:lnTo>
                      <a:lnTo>
                        <a:pt x="0" y="8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44" name="Freeform 4732"/>
                <p:cNvSpPr>
                  <a:spLocks noChangeAspect="1"/>
                </p:cNvSpPr>
                <p:nvPr/>
              </p:nvSpPr>
              <p:spPr bwMode="auto">
                <a:xfrm>
                  <a:off x="3309" y="3380"/>
                  <a:ext cx="101" cy="32"/>
                </a:xfrm>
                <a:custGeom>
                  <a:avLst/>
                  <a:gdLst>
                    <a:gd name="T0" fmla="*/ 0 w 304"/>
                    <a:gd name="T1" fmla="*/ 95 h 95"/>
                    <a:gd name="T2" fmla="*/ 174 w 304"/>
                    <a:gd name="T3" fmla="*/ 31 h 95"/>
                    <a:gd name="T4" fmla="*/ 304 w 304"/>
                    <a:gd name="T5" fmla="*/ 0 h 95"/>
                    <a:gd name="T6" fmla="*/ 44 w 304"/>
                    <a:gd name="T7" fmla="*/ 95 h 95"/>
                    <a:gd name="T8" fmla="*/ 0 w 304"/>
                    <a:gd name="T9" fmla="*/ 95 h 95"/>
                  </a:gdLst>
                  <a:ahLst/>
                  <a:cxnLst>
                    <a:cxn ang="0">
                      <a:pos x="T0" y="T1"/>
                    </a:cxn>
                    <a:cxn ang="0">
                      <a:pos x="T2" y="T3"/>
                    </a:cxn>
                    <a:cxn ang="0">
                      <a:pos x="T4" y="T5"/>
                    </a:cxn>
                    <a:cxn ang="0">
                      <a:pos x="T6" y="T7"/>
                    </a:cxn>
                    <a:cxn ang="0">
                      <a:pos x="T8" y="T9"/>
                    </a:cxn>
                  </a:cxnLst>
                  <a:rect l="0" t="0" r="r" b="b"/>
                  <a:pathLst>
                    <a:path w="304" h="95">
                      <a:moveTo>
                        <a:pt x="0" y="95"/>
                      </a:moveTo>
                      <a:lnTo>
                        <a:pt x="174" y="31"/>
                      </a:lnTo>
                      <a:lnTo>
                        <a:pt x="304" y="0"/>
                      </a:lnTo>
                      <a:lnTo>
                        <a:pt x="44" y="95"/>
                      </a:lnTo>
                      <a:lnTo>
                        <a:pt x="0" y="9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45" name="Freeform 4733"/>
                <p:cNvSpPr>
                  <a:spLocks noChangeAspect="1"/>
                </p:cNvSpPr>
                <p:nvPr/>
              </p:nvSpPr>
              <p:spPr bwMode="auto">
                <a:xfrm>
                  <a:off x="3316" y="3375"/>
                  <a:ext cx="116" cy="37"/>
                </a:xfrm>
                <a:custGeom>
                  <a:avLst/>
                  <a:gdLst>
                    <a:gd name="T0" fmla="*/ 0 w 347"/>
                    <a:gd name="T1" fmla="*/ 111 h 111"/>
                    <a:gd name="T2" fmla="*/ 217 w 347"/>
                    <a:gd name="T3" fmla="*/ 31 h 111"/>
                    <a:gd name="T4" fmla="*/ 347 w 347"/>
                    <a:gd name="T5" fmla="*/ 0 h 111"/>
                    <a:gd name="T6" fmla="*/ 45 w 347"/>
                    <a:gd name="T7" fmla="*/ 111 h 111"/>
                    <a:gd name="T8" fmla="*/ 0 w 347"/>
                    <a:gd name="T9" fmla="*/ 111 h 111"/>
                  </a:gdLst>
                  <a:ahLst/>
                  <a:cxnLst>
                    <a:cxn ang="0">
                      <a:pos x="T0" y="T1"/>
                    </a:cxn>
                    <a:cxn ang="0">
                      <a:pos x="T2" y="T3"/>
                    </a:cxn>
                    <a:cxn ang="0">
                      <a:pos x="T4" y="T5"/>
                    </a:cxn>
                    <a:cxn ang="0">
                      <a:pos x="T6" y="T7"/>
                    </a:cxn>
                    <a:cxn ang="0">
                      <a:pos x="T8" y="T9"/>
                    </a:cxn>
                  </a:cxnLst>
                  <a:rect l="0" t="0" r="r" b="b"/>
                  <a:pathLst>
                    <a:path w="347" h="111">
                      <a:moveTo>
                        <a:pt x="0" y="111"/>
                      </a:moveTo>
                      <a:lnTo>
                        <a:pt x="217" y="31"/>
                      </a:lnTo>
                      <a:lnTo>
                        <a:pt x="347" y="0"/>
                      </a:lnTo>
                      <a:lnTo>
                        <a:pt x="45" y="111"/>
                      </a:lnTo>
                      <a:lnTo>
                        <a:pt x="0" y="11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46" name="Freeform 4734"/>
                <p:cNvSpPr>
                  <a:spLocks noChangeAspect="1"/>
                </p:cNvSpPr>
                <p:nvPr/>
              </p:nvSpPr>
              <p:spPr bwMode="auto">
                <a:xfrm>
                  <a:off x="3324" y="3370"/>
                  <a:ext cx="130" cy="42"/>
                </a:xfrm>
                <a:custGeom>
                  <a:avLst/>
                  <a:gdLst>
                    <a:gd name="T0" fmla="*/ 0 w 391"/>
                    <a:gd name="T1" fmla="*/ 126 h 126"/>
                    <a:gd name="T2" fmla="*/ 260 w 391"/>
                    <a:gd name="T3" fmla="*/ 31 h 126"/>
                    <a:gd name="T4" fmla="*/ 391 w 391"/>
                    <a:gd name="T5" fmla="*/ 0 h 126"/>
                    <a:gd name="T6" fmla="*/ 44 w 391"/>
                    <a:gd name="T7" fmla="*/ 126 h 126"/>
                    <a:gd name="T8" fmla="*/ 0 w 391"/>
                    <a:gd name="T9" fmla="*/ 126 h 126"/>
                  </a:gdLst>
                  <a:ahLst/>
                  <a:cxnLst>
                    <a:cxn ang="0">
                      <a:pos x="T0" y="T1"/>
                    </a:cxn>
                    <a:cxn ang="0">
                      <a:pos x="T2" y="T3"/>
                    </a:cxn>
                    <a:cxn ang="0">
                      <a:pos x="T4" y="T5"/>
                    </a:cxn>
                    <a:cxn ang="0">
                      <a:pos x="T6" y="T7"/>
                    </a:cxn>
                    <a:cxn ang="0">
                      <a:pos x="T8" y="T9"/>
                    </a:cxn>
                  </a:cxnLst>
                  <a:rect l="0" t="0" r="r" b="b"/>
                  <a:pathLst>
                    <a:path w="391" h="126">
                      <a:moveTo>
                        <a:pt x="0" y="126"/>
                      </a:moveTo>
                      <a:lnTo>
                        <a:pt x="260" y="31"/>
                      </a:lnTo>
                      <a:lnTo>
                        <a:pt x="391" y="0"/>
                      </a:lnTo>
                      <a:lnTo>
                        <a:pt x="44" y="126"/>
                      </a:lnTo>
                      <a:lnTo>
                        <a:pt x="0" y="12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47" name="Freeform 4735"/>
                <p:cNvSpPr>
                  <a:spLocks noChangeAspect="1"/>
                </p:cNvSpPr>
                <p:nvPr/>
              </p:nvSpPr>
              <p:spPr bwMode="auto">
                <a:xfrm>
                  <a:off x="3331" y="3365"/>
                  <a:ext cx="144" cy="47"/>
                </a:xfrm>
                <a:custGeom>
                  <a:avLst/>
                  <a:gdLst>
                    <a:gd name="T0" fmla="*/ 0 w 433"/>
                    <a:gd name="T1" fmla="*/ 142 h 142"/>
                    <a:gd name="T2" fmla="*/ 302 w 433"/>
                    <a:gd name="T3" fmla="*/ 31 h 142"/>
                    <a:gd name="T4" fmla="*/ 433 w 433"/>
                    <a:gd name="T5" fmla="*/ 0 h 142"/>
                    <a:gd name="T6" fmla="*/ 43 w 433"/>
                    <a:gd name="T7" fmla="*/ 142 h 142"/>
                    <a:gd name="T8" fmla="*/ 0 w 433"/>
                    <a:gd name="T9" fmla="*/ 142 h 142"/>
                  </a:gdLst>
                  <a:ahLst/>
                  <a:cxnLst>
                    <a:cxn ang="0">
                      <a:pos x="T0" y="T1"/>
                    </a:cxn>
                    <a:cxn ang="0">
                      <a:pos x="T2" y="T3"/>
                    </a:cxn>
                    <a:cxn ang="0">
                      <a:pos x="T4" y="T5"/>
                    </a:cxn>
                    <a:cxn ang="0">
                      <a:pos x="T6" y="T7"/>
                    </a:cxn>
                    <a:cxn ang="0">
                      <a:pos x="T8" y="T9"/>
                    </a:cxn>
                  </a:cxnLst>
                  <a:rect l="0" t="0" r="r" b="b"/>
                  <a:pathLst>
                    <a:path w="433" h="142">
                      <a:moveTo>
                        <a:pt x="0" y="142"/>
                      </a:moveTo>
                      <a:lnTo>
                        <a:pt x="302" y="31"/>
                      </a:lnTo>
                      <a:lnTo>
                        <a:pt x="433" y="0"/>
                      </a:lnTo>
                      <a:lnTo>
                        <a:pt x="43" y="142"/>
                      </a:lnTo>
                      <a:lnTo>
                        <a:pt x="0" y="14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48" name="Freeform 4736"/>
                <p:cNvSpPr>
                  <a:spLocks noChangeAspect="1"/>
                </p:cNvSpPr>
                <p:nvPr/>
              </p:nvSpPr>
              <p:spPr bwMode="auto">
                <a:xfrm>
                  <a:off x="3338" y="3360"/>
                  <a:ext cx="159" cy="52"/>
                </a:xfrm>
                <a:custGeom>
                  <a:avLst/>
                  <a:gdLst>
                    <a:gd name="T0" fmla="*/ 0 w 477"/>
                    <a:gd name="T1" fmla="*/ 157 h 157"/>
                    <a:gd name="T2" fmla="*/ 347 w 477"/>
                    <a:gd name="T3" fmla="*/ 31 h 157"/>
                    <a:gd name="T4" fmla="*/ 477 w 477"/>
                    <a:gd name="T5" fmla="*/ 0 h 157"/>
                    <a:gd name="T6" fmla="*/ 45 w 477"/>
                    <a:gd name="T7" fmla="*/ 157 h 157"/>
                    <a:gd name="T8" fmla="*/ 0 w 477"/>
                    <a:gd name="T9" fmla="*/ 157 h 157"/>
                  </a:gdLst>
                  <a:ahLst/>
                  <a:cxnLst>
                    <a:cxn ang="0">
                      <a:pos x="T0" y="T1"/>
                    </a:cxn>
                    <a:cxn ang="0">
                      <a:pos x="T2" y="T3"/>
                    </a:cxn>
                    <a:cxn ang="0">
                      <a:pos x="T4" y="T5"/>
                    </a:cxn>
                    <a:cxn ang="0">
                      <a:pos x="T6" y="T7"/>
                    </a:cxn>
                    <a:cxn ang="0">
                      <a:pos x="T8" y="T9"/>
                    </a:cxn>
                  </a:cxnLst>
                  <a:rect l="0" t="0" r="r" b="b"/>
                  <a:pathLst>
                    <a:path w="477" h="157">
                      <a:moveTo>
                        <a:pt x="0" y="157"/>
                      </a:moveTo>
                      <a:lnTo>
                        <a:pt x="347" y="31"/>
                      </a:lnTo>
                      <a:lnTo>
                        <a:pt x="477" y="0"/>
                      </a:lnTo>
                      <a:lnTo>
                        <a:pt x="45" y="157"/>
                      </a:lnTo>
                      <a:lnTo>
                        <a:pt x="0" y="15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49" name="Freeform 4737"/>
                <p:cNvSpPr>
                  <a:spLocks noChangeAspect="1"/>
                </p:cNvSpPr>
                <p:nvPr/>
              </p:nvSpPr>
              <p:spPr bwMode="auto">
                <a:xfrm>
                  <a:off x="3346" y="3359"/>
                  <a:ext cx="152" cy="53"/>
                </a:xfrm>
                <a:custGeom>
                  <a:avLst/>
                  <a:gdLst>
                    <a:gd name="T0" fmla="*/ 0 w 458"/>
                    <a:gd name="T1" fmla="*/ 158 h 158"/>
                    <a:gd name="T2" fmla="*/ 390 w 458"/>
                    <a:gd name="T3" fmla="*/ 16 h 158"/>
                    <a:gd name="T4" fmla="*/ 458 w 458"/>
                    <a:gd name="T5" fmla="*/ 0 h 158"/>
                    <a:gd name="T6" fmla="*/ 458 w 458"/>
                    <a:gd name="T7" fmla="*/ 0 h 158"/>
                    <a:gd name="T8" fmla="*/ 449 w 458"/>
                    <a:gd name="T9" fmla="*/ 10 h 158"/>
                    <a:gd name="T10" fmla="*/ 44 w 458"/>
                    <a:gd name="T11" fmla="*/ 158 h 158"/>
                    <a:gd name="T12" fmla="*/ 0 w 458"/>
                    <a:gd name="T13" fmla="*/ 158 h 158"/>
                  </a:gdLst>
                  <a:ahLst/>
                  <a:cxnLst>
                    <a:cxn ang="0">
                      <a:pos x="T0" y="T1"/>
                    </a:cxn>
                    <a:cxn ang="0">
                      <a:pos x="T2" y="T3"/>
                    </a:cxn>
                    <a:cxn ang="0">
                      <a:pos x="T4" y="T5"/>
                    </a:cxn>
                    <a:cxn ang="0">
                      <a:pos x="T6" y="T7"/>
                    </a:cxn>
                    <a:cxn ang="0">
                      <a:pos x="T8" y="T9"/>
                    </a:cxn>
                    <a:cxn ang="0">
                      <a:pos x="T10" y="T11"/>
                    </a:cxn>
                    <a:cxn ang="0">
                      <a:pos x="T12" y="T13"/>
                    </a:cxn>
                  </a:cxnLst>
                  <a:rect l="0" t="0" r="r" b="b"/>
                  <a:pathLst>
                    <a:path w="458" h="158">
                      <a:moveTo>
                        <a:pt x="0" y="158"/>
                      </a:moveTo>
                      <a:lnTo>
                        <a:pt x="390" y="16"/>
                      </a:lnTo>
                      <a:lnTo>
                        <a:pt x="458" y="0"/>
                      </a:lnTo>
                      <a:lnTo>
                        <a:pt x="458" y="0"/>
                      </a:lnTo>
                      <a:lnTo>
                        <a:pt x="449" y="10"/>
                      </a:lnTo>
                      <a:lnTo>
                        <a:pt x="44" y="158"/>
                      </a:lnTo>
                      <a:lnTo>
                        <a:pt x="0" y="15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50" name="Freeform 4738"/>
                <p:cNvSpPr>
                  <a:spLocks noChangeAspect="1"/>
                </p:cNvSpPr>
                <p:nvPr/>
              </p:nvSpPr>
              <p:spPr bwMode="auto">
                <a:xfrm>
                  <a:off x="3353" y="3359"/>
                  <a:ext cx="145" cy="53"/>
                </a:xfrm>
                <a:custGeom>
                  <a:avLst/>
                  <a:gdLst>
                    <a:gd name="T0" fmla="*/ 0 w 435"/>
                    <a:gd name="T1" fmla="*/ 158 h 158"/>
                    <a:gd name="T2" fmla="*/ 432 w 435"/>
                    <a:gd name="T3" fmla="*/ 1 h 158"/>
                    <a:gd name="T4" fmla="*/ 435 w 435"/>
                    <a:gd name="T5" fmla="*/ 0 h 158"/>
                    <a:gd name="T6" fmla="*/ 435 w 435"/>
                    <a:gd name="T7" fmla="*/ 0 h 158"/>
                    <a:gd name="T8" fmla="*/ 416 w 435"/>
                    <a:gd name="T9" fmla="*/ 22 h 158"/>
                    <a:gd name="T10" fmla="*/ 43 w 435"/>
                    <a:gd name="T11" fmla="*/ 158 h 158"/>
                    <a:gd name="T12" fmla="*/ 0 w 435"/>
                    <a:gd name="T13" fmla="*/ 158 h 158"/>
                  </a:gdLst>
                  <a:ahLst/>
                  <a:cxnLst>
                    <a:cxn ang="0">
                      <a:pos x="T0" y="T1"/>
                    </a:cxn>
                    <a:cxn ang="0">
                      <a:pos x="T2" y="T3"/>
                    </a:cxn>
                    <a:cxn ang="0">
                      <a:pos x="T4" y="T5"/>
                    </a:cxn>
                    <a:cxn ang="0">
                      <a:pos x="T6" y="T7"/>
                    </a:cxn>
                    <a:cxn ang="0">
                      <a:pos x="T8" y="T9"/>
                    </a:cxn>
                    <a:cxn ang="0">
                      <a:pos x="T10" y="T11"/>
                    </a:cxn>
                    <a:cxn ang="0">
                      <a:pos x="T12" y="T13"/>
                    </a:cxn>
                  </a:cxnLst>
                  <a:rect l="0" t="0" r="r" b="b"/>
                  <a:pathLst>
                    <a:path w="435" h="158">
                      <a:moveTo>
                        <a:pt x="0" y="158"/>
                      </a:moveTo>
                      <a:lnTo>
                        <a:pt x="432" y="1"/>
                      </a:lnTo>
                      <a:lnTo>
                        <a:pt x="435" y="0"/>
                      </a:lnTo>
                      <a:lnTo>
                        <a:pt x="435" y="0"/>
                      </a:lnTo>
                      <a:lnTo>
                        <a:pt x="416" y="22"/>
                      </a:lnTo>
                      <a:lnTo>
                        <a:pt x="43" y="158"/>
                      </a:lnTo>
                      <a:lnTo>
                        <a:pt x="0" y="15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51" name="Freeform 4739"/>
                <p:cNvSpPr>
                  <a:spLocks noChangeAspect="1"/>
                </p:cNvSpPr>
                <p:nvPr/>
              </p:nvSpPr>
              <p:spPr bwMode="auto">
                <a:xfrm>
                  <a:off x="3360" y="3363"/>
                  <a:ext cx="134" cy="49"/>
                </a:xfrm>
                <a:custGeom>
                  <a:avLst/>
                  <a:gdLst>
                    <a:gd name="T0" fmla="*/ 0 w 405"/>
                    <a:gd name="T1" fmla="*/ 148 h 148"/>
                    <a:gd name="T2" fmla="*/ 405 w 405"/>
                    <a:gd name="T3" fmla="*/ 0 h 148"/>
                    <a:gd name="T4" fmla="*/ 385 w 405"/>
                    <a:gd name="T5" fmla="*/ 24 h 148"/>
                    <a:gd name="T6" fmla="*/ 45 w 405"/>
                    <a:gd name="T7" fmla="*/ 148 h 148"/>
                    <a:gd name="T8" fmla="*/ 0 w 405"/>
                    <a:gd name="T9" fmla="*/ 148 h 148"/>
                  </a:gdLst>
                  <a:ahLst/>
                  <a:cxnLst>
                    <a:cxn ang="0">
                      <a:pos x="T0" y="T1"/>
                    </a:cxn>
                    <a:cxn ang="0">
                      <a:pos x="T2" y="T3"/>
                    </a:cxn>
                    <a:cxn ang="0">
                      <a:pos x="T4" y="T5"/>
                    </a:cxn>
                    <a:cxn ang="0">
                      <a:pos x="T6" y="T7"/>
                    </a:cxn>
                    <a:cxn ang="0">
                      <a:pos x="T8" y="T9"/>
                    </a:cxn>
                  </a:cxnLst>
                  <a:rect l="0" t="0" r="r" b="b"/>
                  <a:pathLst>
                    <a:path w="405" h="148">
                      <a:moveTo>
                        <a:pt x="0" y="148"/>
                      </a:moveTo>
                      <a:lnTo>
                        <a:pt x="405" y="0"/>
                      </a:lnTo>
                      <a:lnTo>
                        <a:pt x="385" y="24"/>
                      </a:lnTo>
                      <a:lnTo>
                        <a:pt x="45" y="148"/>
                      </a:lnTo>
                      <a:lnTo>
                        <a:pt x="0" y="14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52" name="Freeform 4740"/>
                <p:cNvSpPr>
                  <a:spLocks noChangeAspect="1"/>
                </p:cNvSpPr>
                <p:nvPr/>
              </p:nvSpPr>
              <p:spPr bwMode="auto">
                <a:xfrm>
                  <a:off x="3368" y="3367"/>
                  <a:ext cx="124" cy="45"/>
                </a:xfrm>
                <a:custGeom>
                  <a:avLst/>
                  <a:gdLst>
                    <a:gd name="T0" fmla="*/ 0 w 373"/>
                    <a:gd name="T1" fmla="*/ 136 h 136"/>
                    <a:gd name="T2" fmla="*/ 373 w 373"/>
                    <a:gd name="T3" fmla="*/ 0 h 136"/>
                    <a:gd name="T4" fmla="*/ 354 w 373"/>
                    <a:gd name="T5" fmla="*/ 23 h 136"/>
                    <a:gd name="T6" fmla="*/ 45 w 373"/>
                    <a:gd name="T7" fmla="*/ 136 h 136"/>
                    <a:gd name="T8" fmla="*/ 0 w 373"/>
                    <a:gd name="T9" fmla="*/ 136 h 136"/>
                  </a:gdLst>
                  <a:ahLst/>
                  <a:cxnLst>
                    <a:cxn ang="0">
                      <a:pos x="T0" y="T1"/>
                    </a:cxn>
                    <a:cxn ang="0">
                      <a:pos x="T2" y="T3"/>
                    </a:cxn>
                    <a:cxn ang="0">
                      <a:pos x="T4" y="T5"/>
                    </a:cxn>
                    <a:cxn ang="0">
                      <a:pos x="T6" y="T7"/>
                    </a:cxn>
                    <a:cxn ang="0">
                      <a:pos x="T8" y="T9"/>
                    </a:cxn>
                  </a:cxnLst>
                  <a:rect l="0" t="0" r="r" b="b"/>
                  <a:pathLst>
                    <a:path w="373" h="136">
                      <a:moveTo>
                        <a:pt x="0" y="136"/>
                      </a:moveTo>
                      <a:lnTo>
                        <a:pt x="373" y="0"/>
                      </a:lnTo>
                      <a:lnTo>
                        <a:pt x="354" y="23"/>
                      </a:lnTo>
                      <a:lnTo>
                        <a:pt x="45" y="136"/>
                      </a:lnTo>
                      <a:lnTo>
                        <a:pt x="0" y="13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53" name="Freeform 4741"/>
                <p:cNvSpPr>
                  <a:spLocks noChangeAspect="1"/>
                </p:cNvSpPr>
                <p:nvPr/>
              </p:nvSpPr>
              <p:spPr bwMode="auto">
                <a:xfrm>
                  <a:off x="3375" y="3371"/>
                  <a:ext cx="114" cy="41"/>
                </a:xfrm>
                <a:custGeom>
                  <a:avLst/>
                  <a:gdLst>
                    <a:gd name="T0" fmla="*/ 0 w 340"/>
                    <a:gd name="T1" fmla="*/ 124 h 124"/>
                    <a:gd name="T2" fmla="*/ 340 w 340"/>
                    <a:gd name="T3" fmla="*/ 0 h 124"/>
                    <a:gd name="T4" fmla="*/ 321 w 340"/>
                    <a:gd name="T5" fmla="*/ 23 h 124"/>
                    <a:gd name="T6" fmla="*/ 43 w 340"/>
                    <a:gd name="T7" fmla="*/ 124 h 124"/>
                    <a:gd name="T8" fmla="*/ 0 w 340"/>
                    <a:gd name="T9" fmla="*/ 124 h 124"/>
                  </a:gdLst>
                  <a:ahLst/>
                  <a:cxnLst>
                    <a:cxn ang="0">
                      <a:pos x="T0" y="T1"/>
                    </a:cxn>
                    <a:cxn ang="0">
                      <a:pos x="T2" y="T3"/>
                    </a:cxn>
                    <a:cxn ang="0">
                      <a:pos x="T4" y="T5"/>
                    </a:cxn>
                    <a:cxn ang="0">
                      <a:pos x="T6" y="T7"/>
                    </a:cxn>
                    <a:cxn ang="0">
                      <a:pos x="T8" y="T9"/>
                    </a:cxn>
                  </a:cxnLst>
                  <a:rect l="0" t="0" r="r" b="b"/>
                  <a:pathLst>
                    <a:path w="340" h="124">
                      <a:moveTo>
                        <a:pt x="0" y="124"/>
                      </a:moveTo>
                      <a:lnTo>
                        <a:pt x="340" y="0"/>
                      </a:lnTo>
                      <a:lnTo>
                        <a:pt x="321" y="23"/>
                      </a:lnTo>
                      <a:lnTo>
                        <a:pt x="43" y="124"/>
                      </a:lnTo>
                      <a:lnTo>
                        <a:pt x="0" y="12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54" name="Freeform 4742"/>
                <p:cNvSpPr>
                  <a:spLocks noChangeAspect="1"/>
                </p:cNvSpPr>
                <p:nvPr/>
              </p:nvSpPr>
              <p:spPr bwMode="auto">
                <a:xfrm>
                  <a:off x="3383" y="3374"/>
                  <a:ext cx="103" cy="38"/>
                </a:xfrm>
                <a:custGeom>
                  <a:avLst/>
                  <a:gdLst>
                    <a:gd name="T0" fmla="*/ 0 w 309"/>
                    <a:gd name="T1" fmla="*/ 113 h 113"/>
                    <a:gd name="T2" fmla="*/ 309 w 309"/>
                    <a:gd name="T3" fmla="*/ 0 h 113"/>
                    <a:gd name="T4" fmla="*/ 289 w 309"/>
                    <a:gd name="T5" fmla="*/ 24 h 113"/>
                    <a:gd name="T6" fmla="*/ 44 w 309"/>
                    <a:gd name="T7" fmla="*/ 113 h 113"/>
                    <a:gd name="T8" fmla="*/ 0 w 309"/>
                    <a:gd name="T9" fmla="*/ 113 h 113"/>
                  </a:gdLst>
                  <a:ahLst/>
                  <a:cxnLst>
                    <a:cxn ang="0">
                      <a:pos x="T0" y="T1"/>
                    </a:cxn>
                    <a:cxn ang="0">
                      <a:pos x="T2" y="T3"/>
                    </a:cxn>
                    <a:cxn ang="0">
                      <a:pos x="T4" y="T5"/>
                    </a:cxn>
                    <a:cxn ang="0">
                      <a:pos x="T6" y="T7"/>
                    </a:cxn>
                    <a:cxn ang="0">
                      <a:pos x="T8" y="T9"/>
                    </a:cxn>
                  </a:cxnLst>
                  <a:rect l="0" t="0" r="r" b="b"/>
                  <a:pathLst>
                    <a:path w="309" h="113">
                      <a:moveTo>
                        <a:pt x="0" y="113"/>
                      </a:moveTo>
                      <a:lnTo>
                        <a:pt x="309" y="0"/>
                      </a:lnTo>
                      <a:lnTo>
                        <a:pt x="289" y="24"/>
                      </a:lnTo>
                      <a:lnTo>
                        <a:pt x="44" y="113"/>
                      </a:lnTo>
                      <a:lnTo>
                        <a:pt x="0" y="11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55" name="Freeform 4743"/>
                <p:cNvSpPr>
                  <a:spLocks noChangeAspect="1"/>
                </p:cNvSpPr>
                <p:nvPr/>
              </p:nvSpPr>
              <p:spPr bwMode="auto">
                <a:xfrm>
                  <a:off x="3390" y="3378"/>
                  <a:ext cx="92" cy="35"/>
                </a:xfrm>
                <a:custGeom>
                  <a:avLst/>
                  <a:gdLst>
                    <a:gd name="T0" fmla="*/ 0 w 278"/>
                    <a:gd name="T1" fmla="*/ 101 h 101"/>
                    <a:gd name="T2" fmla="*/ 278 w 278"/>
                    <a:gd name="T3" fmla="*/ 0 h 101"/>
                    <a:gd name="T4" fmla="*/ 258 w 278"/>
                    <a:gd name="T5" fmla="*/ 23 h 101"/>
                    <a:gd name="T6" fmla="*/ 45 w 278"/>
                    <a:gd name="T7" fmla="*/ 101 h 101"/>
                    <a:gd name="T8" fmla="*/ 0 w 278"/>
                    <a:gd name="T9" fmla="*/ 101 h 101"/>
                  </a:gdLst>
                  <a:ahLst/>
                  <a:cxnLst>
                    <a:cxn ang="0">
                      <a:pos x="T0" y="T1"/>
                    </a:cxn>
                    <a:cxn ang="0">
                      <a:pos x="T2" y="T3"/>
                    </a:cxn>
                    <a:cxn ang="0">
                      <a:pos x="T4" y="T5"/>
                    </a:cxn>
                    <a:cxn ang="0">
                      <a:pos x="T6" y="T7"/>
                    </a:cxn>
                    <a:cxn ang="0">
                      <a:pos x="T8" y="T9"/>
                    </a:cxn>
                  </a:cxnLst>
                  <a:rect l="0" t="0" r="r" b="b"/>
                  <a:pathLst>
                    <a:path w="278" h="101">
                      <a:moveTo>
                        <a:pt x="0" y="101"/>
                      </a:moveTo>
                      <a:lnTo>
                        <a:pt x="278" y="0"/>
                      </a:lnTo>
                      <a:lnTo>
                        <a:pt x="258" y="23"/>
                      </a:lnTo>
                      <a:lnTo>
                        <a:pt x="45" y="101"/>
                      </a:lnTo>
                      <a:lnTo>
                        <a:pt x="0" y="10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56" name="Freeform 4744"/>
                <p:cNvSpPr>
                  <a:spLocks noChangeAspect="1"/>
                </p:cNvSpPr>
                <p:nvPr/>
              </p:nvSpPr>
              <p:spPr bwMode="auto">
                <a:xfrm>
                  <a:off x="3397" y="3382"/>
                  <a:ext cx="82" cy="30"/>
                </a:xfrm>
                <a:custGeom>
                  <a:avLst/>
                  <a:gdLst>
                    <a:gd name="T0" fmla="*/ 0 w 245"/>
                    <a:gd name="T1" fmla="*/ 89 h 89"/>
                    <a:gd name="T2" fmla="*/ 245 w 245"/>
                    <a:gd name="T3" fmla="*/ 0 h 89"/>
                    <a:gd name="T4" fmla="*/ 225 w 245"/>
                    <a:gd name="T5" fmla="*/ 22 h 89"/>
                    <a:gd name="T6" fmla="*/ 43 w 245"/>
                    <a:gd name="T7" fmla="*/ 89 h 89"/>
                    <a:gd name="T8" fmla="*/ 0 w 245"/>
                    <a:gd name="T9" fmla="*/ 89 h 89"/>
                  </a:gdLst>
                  <a:ahLst/>
                  <a:cxnLst>
                    <a:cxn ang="0">
                      <a:pos x="T0" y="T1"/>
                    </a:cxn>
                    <a:cxn ang="0">
                      <a:pos x="T2" y="T3"/>
                    </a:cxn>
                    <a:cxn ang="0">
                      <a:pos x="T4" y="T5"/>
                    </a:cxn>
                    <a:cxn ang="0">
                      <a:pos x="T6" y="T7"/>
                    </a:cxn>
                    <a:cxn ang="0">
                      <a:pos x="T8" y="T9"/>
                    </a:cxn>
                  </a:cxnLst>
                  <a:rect l="0" t="0" r="r" b="b"/>
                  <a:pathLst>
                    <a:path w="245" h="89">
                      <a:moveTo>
                        <a:pt x="0" y="89"/>
                      </a:moveTo>
                      <a:lnTo>
                        <a:pt x="245" y="0"/>
                      </a:lnTo>
                      <a:lnTo>
                        <a:pt x="225" y="22"/>
                      </a:lnTo>
                      <a:lnTo>
                        <a:pt x="43" y="89"/>
                      </a:lnTo>
                      <a:lnTo>
                        <a:pt x="0" y="8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57" name="Freeform 4745"/>
                <p:cNvSpPr>
                  <a:spLocks noChangeAspect="1"/>
                </p:cNvSpPr>
                <p:nvPr/>
              </p:nvSpPr>
              <p:spPr bwMode="auto">
                <a:xfrm>
                  <a:off x="3405" y="3386"/>
                  <a:ext cx="70" cy="26"/>
                </a:xfrm>
                <a:custGeom>
                  <a:avLst/>
                  <a:gdLst>
                    <a:gd name="T0" fmla="*/ 0 w 213"/>
                    <a:gd name="T1" fmla="*/ 78 h 78"/>
                    <a:gd name="T2" fmla="*/ 213 w 213"/>
                    <a:gd name="T3" fmla="*/ 0 h 78"/>
                    <a:gd name="T4" fmla="*/ 194 w 213"/>
                    <a:gd name="T5" fmla="*/ 23 h 78"/>
                    <a:gd name="T6" fmla="*/ 44 w 213"/>
                    <a:gd name="T7" fmla="*/ 78 h 78"/>
                    <a:gd name="T8" fmla="*/ 0 w 213"/>
                    <a:gd name="T9" fmla="*/ 78 h 78"/>
                  </a:gdLst>
                  <a:ahLst/>
                  <a:cxnLst>
                    <a:cxn ang="0">
                      <a:pos x="T0" y="T1"/>
                    </a:cxn>
                    <a:cxn ang="0">
                      <a:pos x="T2" y="T3"/>
                    </a:cxn>
                    <a:cxn ang="0">
                      <a:pos x="T4" y="T5"/>
                    </a:cxn>
                    <a:cxn ang="0">
                      <a:pos x="T6" y="T7"/>
                    </a:cxn>
                    <a:cxn ang="0">
                      <a:pos x="T8" y="T9"/>
                    </a:cxn>
                  </a:cxnLst>
                  <a:rect l="0" t="0" r="r" b="b"/>
                  <a:pathLst>
                    <a:path w="213" h="78">
                      <a:moveTo>
                        <a:pt x="0" y="78"/>
                      </a:moveTo>
                      <a:lnTo>
                        <a:pt x="213" y="0"/>
                      </a:lnTo>
                      <a:lnTo>
                        <a:pt x="194" y="23"/>
                      </a:lnTo>
                      <a:lnTo>
                        <a:pt x="44" y="78"/>
                      </a:lnTo>
                      <a:lnTo>
                        <a:pt x="0" y="7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58" name="Freeform 4746"/>
                <p:cNvSpPr>
                  <a:spLocks noChangeAspect="1"/>
                </p:cNvSpPr>
                <p:nvPr/>
              </p:nvSpPr>
              <p:spPr bwMode="auto">
                <a:xfrm>
                  <a:off x="3412" y="3390"/>
                  <a:ext cx="60" cy="22"/>
                </a:xfrm>
                <a:custGeom>
                  <a:avLst/>
                  <a:gdLst>
                    <a:gd name="T0" fmla="*/ 0 w 182"/>
                    <a:gd name="T1" fmla="*/ 67 h 67"/>
                    <a:gd name="T2" fmla="*/ 182 w 182"/>
                    <a:gd name="T3" fmla="*/ 0 h 67"/>
                    <a:gd name="T4" fmla="*/ 163 w 182"/>
                    <a:gd name="T5" fmla="*/ 23 h 67"/>
                    <a:gd name="T6" fmla="*/ 45 w 182"/>
                    <a:gd name="T7" fmla="*/ 67 h 67"/>
                    <a:gd name="T8" fmla="*/ 0 w 182"/>
                    <a:gd name="T9" fmla="*/ 67 h 67"/>
                  </a:gdLst>
                  <a:ahLst/>
                  <a:cxnLst>
                    <a:cxn ang="0">
                      <a:pos x="T0" y="T1"/>
                    </a:cxn>
                    <a:cxn ang="0">
                      <a:pos x="T2" y="T3"/>
                    </a:cxn>
                    <a:cxn ang="0">
                      <a:pos x="T4" y="T5"/>
                    </a:cxn>
                    <a:cxn ang="0">
                      <a:pos x="T6" y="T7"/>
                    </a:cxn>
                    <a:cxn ang="0">
                      <a:pos x="T8" y="T9"/>
                    </a:cxn>
                  </a:cxnLst>
                  <a:rect l="0" t="0" r="r" b="b"/>
                  <a:pathLst>
                    <a:path w="182" h="67">
                      <a:moveTo>
                        <a:pt x="0" y="67"/>
                      </a:moveTo>
                      <a:lnTo>
                        <a:pt x="182" y="0"/>
                      </a:lnTo>
                      <a:lnTo>
                        <a:pt x="163" y="23"/>
                      </a:lnTo>
                      <a:lnTo>
                        <a:pt x="45" y="67"/>
                      </a:lnTo>
                      <a:lnTo>
                        <a:pt x="0" y="6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59" name="Freeform 4747"/>
                <p:cNvSpPr>
                  <a:spLocks noChangeAspect="1"/>
                </p:cNvSpPr>
                <p:nvPr/>
              </p:nvSpPr>
              <p:spPr bwMode="auto">
                <a:xfrm>
                  <a:off x="3419" y="3394"/>
                  <a:ext cx="50" cy="19"/>
                </a:xfrm>
                <a:custGeom>
                  <a:avLst/>
                  <a:gdLst>
                    <a:gd name="T0" fmla="*/ 0 w 150"/>
                    <a:gd name="T1" fmla="*/ 55 h 55"/>
                    <a:gd name="T2" fmla="*/ 150 w 150"/>
                    <a:gd name="T3" fmla="*/ 0 h 55"/>
                    <a:gd name="T4" fmla="*/ 131 w 150"/>
                    <a:gd name="T5" fmla="*/ 23 h 55"/>
                    <a:gd name="T6" fmla="*/ 44 w 150"/>
                    <a:gd name="T7" fmla="*/ 55 h 55"/>
                    <a:gd name="T8" fmla="*/ 0 w 150"/>
                    <a:gd name="T9" fmla="*/ 55 h 55"/>
                  </a:gdLst>
                  <a:ahLst/>
                  <a:cxnLst>
                    <a:cxn ang="0">
                      <a:pos x="T0" y="T1"/>
                    </a:cxn>
                    <a:cxn ang="0">
                      <a:pos x="T2" y="T3"/>
                    </a:cxn>
                    <a:cxn ang="0">
                      <a:pos x="T4" y="T5"/>
                    </a:cxn>
                    <a:cxn ang="0">
                      <a:pos x="T6" y="T7"/>
                    </a:cxn>
                    <a:cxn ang="0">
                      <a:pos x="T8" y="T9"/>
                    </a:cxn>
                  </a:cxnLst>
                  <a:rect l="0" t="0" r="r" b="b"/>
                  <a:pathLst>
                    <a:path w="150" h="55">
                      <a:moveTo>
                        <a:pt x="0" y="55"/>
                      </a:moveTo>
                      <a:lnTo>
                        <a:pt x="150" y="0"/>
                      </a:lnTo>
                      <a:lnTo>
                        <a:pt x="131" y="23"/>
                      </a:lnTo>
                      <a:lnTo>
                        <a:pt x="44" y="55"/>
                      </a:lnTo>
                      <a:lnTo>
                        <a:pt x="0" y="5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60" name="Freeform 4748"/>
                <p:cNvSpPr>
                  <a:spLocks noChangeAspect="1"/>
                </p:cNvSpPr>
                <p:nvPr/>
              </p:nvSpPr>
              <p:spPr bwMode="auto">
                <a:xfrm>
                  <a:off x="3427" y="3397"/>
                  <a:ext cx="39" cy="15"/>
                </a:xfrm>
                <a:custGeom>
                  <a:avLst/>
                  <a:gdLst>
                    <a:gd name="T0" fmla="*/ 0 w 118"/>
                    <a:gd name="T1" fmla="*/ 44 h 44"/>
                    <a:gd name="T2" fmla="*/ 118 w 118"/>
                    <a:gd name="T3" fmla="*/ 0 h 44"/>
                    <a:gd name="T4" fmla="*/ 98 w 118"/>
                    <a:gd name="T5" fmla="*/ 24 h 44"/>
                    <a:gd name="T6" fmla="*/ 44 w 118"/>
                    <a:gd name="T7" fmla="*/ 44 h 44"/>
                    <a:gd name="T8" fmla="*/ 0 w 118"/>
                    <a:gd name="T9" fmla="*/ 44 h 44"/>
                  </a:gdLst>
                  <a:ahLst/>
                  <a:cxnLst>
                    <a:cxn ang="0">
                      <a:pos x="T0" y="T1"/>
                    </a:cxn>
                    <a:cxn ang="0">
                      <a:pos x="T2" y="T3"/>
                    </a:cxn>
                    <a:cxn ang="0">
                      <a:pos x="T4" y="T5"/>
                    </a:cxn>
                    <a:cxn ang="0">
                      <a:pos x="T6" y="T7"/>
                    </a:cxn>
                    <a:cxn ang="0">
                      <a:pos x="T8" y="T9"/>
                    </a:cxn>
                  </a:cxnLst>
                  <a:rect l="0" t="0" r="r" b="b"/>
                  <a:pathLst>
                    <a:path w="118" h="44">
                      <a:moveTo>
                        <a:pt x="0" y="44"/>
                      </a:moveTo>
                      <a:lnTo>
                        <a:pt x="118" y="0"/>
                      </a:lnTo>
                      <a:lnTo>
                        <a:pt x="98" y="24"/>
                      </a:lnTo>
                      <a:lnTo>
                        <a:pt x="44" y="44"/>
                      </a:lnTo>
                      <a:lnTo>
                        <a:pt x="0" y="4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61" name="Freeform 4749"/>
                <p:cNvSpPr>
                  <a:spLocks noChangeAspect="1"/>
                </p:cNvSpPr>
                <p:nvPr/>
              </p:nvSpPr>
              <p:spPr bwMode="auto">
                <a:xfrm>
                  <a:off x="3434" y="3401"/>
                  <a:ext cx="28" cy="11"/>
                </a:xfrm>
                <a:custGeom>
                  <a:avLst/>
                  <a:gdLst>
                    <a:gd name="T0" fmla="*/ 0 w 87"/>
                    <a:gd name="T1" fmla="*/ 32 h 32"/>
                    <a:gd name="T2" fmla="*/ 87 w 87"/>
                    <a:gd name="T3" fmla="*/ 0 h 32"/>
                    <a:gd name="T4" fmla="*/ 66 w 87"/>
                    <a:gd name="T5" fmla="*/ 24 h 32"/>
                    <a:gd name="T6" fmla="*/ 44 w 87"/>
                    <a:gd name="T7" fmla="*/ 32 h 32"/>
                    <a:gd name="T8" fmla="*/ 0 w 87"/>
                    <a:gd name="T9" fmla="*/ 32 h 32"/>
                  </a:gdLst>
                  <a:ahLst/>
                  <a:cxnLst>
                    <a:cxn ang="0">
                      <a:pos x="T0" y="T1"/>
                    </a:cxn>
                    <a:cxn ang="0">
                      <a:pos x="T2" y="T3"/>
                    </a:cxn>
                    <a:cxn ang="0">
                      <a:pos x="T4" y="T5"/>
                    </a:cxn>
                    <a:cxn ang="0">
                      <a:pos x="T6" y="T7"/>
                    </a:cxn>
                    <a:cxn ang="0">
                      <a:pos x="T8" y="T9"/>
                    </a:cxn>
                  </a:cxnLst>
                  <a:rect l="0" t="0" r="r" b="b"/>
                  <a:pathLst>
                    <a:path w="87" h="32">
                      <a:moveTo>
                        <a:pt x="0" y="32"/>
                      </a:moveTo>
                      <a:lnTo>
                        <a:pt x="87" y="0"/>
                      </a:lnTo>
                      <a:lnTo>
                        <a:pt x="66" y="24"/>
                      </a:lnTo>
                      <a:lnTo>
                        <a:pt x="44" y="32"/>
                      </a:lnTo>
                      <a:lnTo>
                        <a:pt x="0" y="3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62" name="Freeform 4750"/>
                <p:cNvSpPr>
                  <a:spLocks noChangeAspect="1"/>
                </p:cNvSpPr>
                <p:nvPr/>
              </p:nvSpPr>
              <p:spPr bwMode="auto">
                <a:xfrm>
                  <a:off x="3441" y="3405"/>
                  <a:ext cx="18" cy="8"/>
                </a:xfrm>
                <a:custGeom>
                  <a:avLst/>
                  <a:gdLst>
                    <a:gd name="T0" fmla="*/ 0 w 54"/>
                    <a:gd name="T1" fmla="*/ 20 h 20"/>
                    <a:gd name="T2" fmla="*/ 54 w 54"/>
                    <a:gd name="T3" fmla="*/ 0 h 20"/>
                    <a:gd name="T4" fmla="*/ 38 w 54"/>
                    <a:gd name="T5" fmla="*/ 20 h 20"/>
                    <a:gd name="T6" fmla="*/ 0 w 54"/>
                    <a:gd name="T7" fmla="*/ 20 h 20"/>
                  </a:gdLst>
                  <a:ahLst/>
                  <a:cxnLst>
                    <a:cxn ang="0">
                      <a:pos x="T0" y="T1"/>
                    </a:cxn>
                    <a:cxn ang="0">
                      <a:pos x="T2" y="T3"/>
                    </a:cxn>
                    <a:cxn ang="0">
                      <a:pos x="T4" y="T5"/>
                    </a:cxn>
                    <a:cxn ang="0">
                      <a:pos x="T6" y="T7"/>
                    </a:cxn>
                  </a:cxnLst>
                  <a:rect l="0" t="0" r="r" b="b"/>
                  <a:pathLst>
                    <a:path w="54" h="20">
                      <a:moveTo>
                        <a:pt x="0" y="20"/>
                      </a:moveTo>
                      <a:lnTo>
                        <a:pt x="54" y="0"/>
                      </a:lnTo>
                      <a:lnTo>
                        <a:pt x="38" y="20"/>
                      </a:lnTo>
                      <a:lnTo>
                        <a:pt x="0" y="2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63" name="Freeform 4751"/>
                <p:cNvSpPr>
                  <a:spLocks noChangeAspect="1"/>
                </p:cNvSpPr>
                <p:nvPr/>
              </p:nvSpPr>
              <p:spPr bwMode="auto">
                <a:xfrm>
                  <a:off x="3449" y="3409"/>
                  <a:ext cx="7" cy="3"/>
                </a:xfrm>
                <a:custGeom>
                  <a:avLst/>
                  <a:gdLst>
                    <a:gd name="T0" fmla="*/ 0 w 22"/>
                    <a:gd name="T1" fmla="*/ 8 h 8"/>
                    <a:gd name="T2" fmla="*/ 22 w 22"/>
                    <a:gd name="T3" fmla="*/ 0 h 8"/>
                    <a:gd name="T4" fmla="*/ 16 w 22"/>
                    <a:gd name="T5" fmla="*/ 8 h 8"/>
                    <a:gd name="T6" fmla="*/ 0 w 22"/>
                    <a:gd name="T7" fmla="*/ 8 h 8"/>
                  </a:gdLst>
                  <a:ahLst/>
                  <a:cxnLst>
                    <a:cxn ang="0">
                      <a:pos x="T0" y="T1"/>
                    </a:cxn>
                    <a:cxn ang="0">
                      <a:pos x="T2" y="T3"/>
                    </a:cxn>
                    <a:cxn ang="0">
                      <a:pos x="T4" y="T5"/>
                    </a:cxn>
                    <a:cxn ang="0">
                      <a:pos x="T6" y="T7"/>
                    </a:cxn>
                  </a:cxnLst>
                  <a:rect l="0" t="0" r="r" b="b"/>
                  <a:pathLst>
                    <a:path w="22" h="8">
                      <a:moveTo>
                        <a:pt x="0" y="8"/>
                      </a:moveTo>
                      <a:lnTo>
                        <a:pt x="22" y="0"/>
                      </a:lnTo>
                      <a:lnTo>
                        <a:pt x="16" y="8"/>
                      </a:lnTo>
                      <a:lnTo>
                        <a:pt x="0" y="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64" name="Freeform 4752"/>
                <p:cNvSpPr>
                  <a:spLocks noChangeAspect="1"/>
                </p:cNvSpPr>
                <p:nvPr/>
              </p:nvSpPr>
              <p:spPr bwMode="auto">
                <a:xfrm>
                  <a:off x="3279" y="3359"/>
                  <a:ext cx="219" cy="53"/>
                </a:xfrm>
                <a:custGeom>
                  <a:avLst/>
                  <a:gdLst>
                    <a:gd name="T0" fmla="*/ 0 w 658"/>
                    <a:gd name="T1" fmla="*/ 158 h 158"/>
                    <a:gd name="T2" fmla="*/ 658 w 658"/>
                    <a:gd name="T3" fmla="*/ 0 h 158"/>
                    <a:gd name="T4" fmla="*/ 525 w 658"/>
                    <a:gd name="T5" fmla="*/ 158 h 158"/>
                    <a:gd name="T6" fmla="*/ 0 w 658"/>
                    <a:gd name="T7" fmla="*/ 158 h 158"/>
                  </a:gdLst>
                  <a:ahLst/>
                  <a:cxnLst>
                    <a:cxn ang="0">
                      <a:pos x="T0" y="T1"/>
                    </a:cxn>
                    <a:cxn ang="0">
                      <a:pos x="T2" y="T3"/>
                    </a:cxn>
                    <a:cxn ang="0">
                      <a:pos x="T4" y="T5"/>
                    </a:cxn>
                    <a:cxn ang="0">
                      <a:pos x="T6" y="T7"/>
                    </a:cxn>
                  </a:cxnLst>
                  <a:rect l="0" t="0" r="r" b="b"/>
                  <a:pathLst>
                    <a:path w="658" h="158">
                      <a:moveTo>
                        <a:pt x="0" y="158"/>
                      </a:moveTo>
                      <a:lnTo>
                        <a:pt x="658" y="0"/>
                      </a:lnTo>
                      <a:lnTo>
                        <a:pt x="525" y="158"/>
                      </a:lnTo>
                      <a:lnTo>
                        <a:pt x="0" y="158"/>
                      </a:lnTo>
                    </a:path>
                  </a:pathLst>
                </a:custGeom>
                <a:gradFill rotWithShape="0">
                  <a:gsLst>
                    <a:gs pos="0">
                      <a:schemeClr val="hlink"/>
                    </a:gs>
                    <a:gs pos="100000">
                      <a:schemeClr val="hlink">
                        <a:gamma/>
                        <a:tint val="40000"/>
                        <a:invGamma/>
                      </a:schemeClr>
                    </a:gs>
                  </a:gsLst>
                  <a:lin ang="0" scaled="1"/>
                </a:gradFill>
                <a:ln w="1588">
                  <a:solidFill>
                    <a:srgbClr val="1F1A17"/>
                  </a:solidFill>
                  <a:prstDash val="solid"/>
                  <a:round/>
                  <a:headEnd/>
                  <a:tailEnd/>
                </a:ln>
              </p:spPr>
              <p:txBody>
                <a:bodyPr/>
                <a:lstStyle/>
                <a:p>
                  <a:pPr>
                    <a:defRPr/>
                  </a:pPr>
                  <a:endParaRPr lang="en-US"/>
                </a:p>
              </p:txBody>
            </p:sp>
            <p:sp>
              <p:nvSpPr>
                <p:cNvPr id="69265" name="Freeform 4753"/>
                <p:cNvSpPr>
                  <a:spLocks noChangeAspect="1"/>
                </p:cNvSpPr>
                <p:nvPr/>
              </p:nvSpPr>
              <p:spPr bwMode="auto">
                <a:xfrm>
                  <a:off x="3279" y="3878"/>
                  <a:ext cx="7" cy="1"/>
                </a:xfrm>
                <a:custGeom>
                  <a:avLst/>
                  <a:gdLst>
                    <a:gd name="T0" fmla="*/ 16 w 21"/>
                    <a:gd name="T1" fmla="*/ 0 h 5"/>
                    <a:gd name="T2" fmla="*/ 21 w 21"/>
                    <a:gd name="T3" fmla="*/ 5 h 5"/>
                    <a:gd name="T4" fmla="*/ 0 w 21"/>
                    <a:gd name="T5" fmla="*/ 0 h 5"/>
                    <a:gd name="T6" fmla="*/ 16 w 21"/>
                    <a:gd name="T7" fmla="*/ 0 h 5"/>
                  </a:gdLst>
                  <a:ahLst/>
                  <a:cxnLst>
                    <a:cxn ang="0">
                      <a:pos x="T0" y="T1"/>
                    </a:cxn>
                    <a:cxn ang="0">
                      <a:pos x="T2" y="T3"/>
                    </a:cxn>
                    <a:cxn ang="0">
                      <a:pos x="T4" y="T5"/>
                    </a:cxn>
                    <a:cxn ang="0">
                      <a:pos x="T6" y="T7"/>
                    </a:cxn>
                  </a:cxnLst>
                  <a:rect l="0" t="0" r="r" b="b"/>
                  <a:pathLst>
                    <a:path w="21" h="5">
                      <a:moveTo>
                        <a:pt x="16" y="0"/>
                      </a:moveTo>
                      <a:lnTo>
                        <a:pt x="21" y="5"/>
                      </a:lnTo>
                      <a:lnTo>
                        <a:pt x="0" y="0"/>
                      </a:lnTo>
                      <a:lnTo>
                        <a:pt x="16" y="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66" name="Freeform 4754"/>
                <p:cNvSpPr>
                  <a:spLocks noChangeAspect="1"/>
                </p:cNvSpPr>
                <p:nvPr/>
              </p:nvSpPr>
              <p:spPr bwMode="auto">
                <a:xfrm>
                  <a:off x="3281" y="3878"/>
                  <a:ext cx="10" cy="3"/>
                </a:xfrm>
                <a:custGeom>
                  <a:avLst/>
                  <a:gdLst>
                    <a:gd name="T0" fmla="*/ 1 w 32"/>
                    <a:gd name="T1" fmla="*/ 1 h 11"/>
                    <a:gd name="T2" fmla="*/ 0 w 32"/>
                    <a:gd name="T3" fmla="*/ 0 h 11"/>
                    <a:gd name="T4" fmla="*/ 25 w 32"/>
                    <a:gd name="T5" fmla="*/ 0 h 11"/>
                    <a:gd name="T6" fmla="*/ 32 w 32"/>
                    <a:gd name="T7" fmla="*/ 11 h 11"/>
                    <a:gd name="T8" fmla="*/ 1 w 32"/>
                    <a:gd name="T9" fmla="*/ 1 h 11"/>
                  </a:gdLst>
                  <a:ahLst/>
                  <a:cxnLst>
                    <a:cxn ang="0">
                      <a:pos x="T0" y="T1"/>
                    </a:cxn>
                    <a:cxn ang="0">
                      <a:pos x="T2" y="T3"/>
                    </a:cxn>
                    <a:cxn ang="0">
                      <a:pos x="T4" y="T5"/>
                    </a:cxn>
                    <a:cxn ang="0">
                      <a:pos x="T6" y="T7"/>
                    </a:cxn>
                    <a:cxn ang="0">
                      <a:pos x="T8" y="T9"/>
                    </a:cxn>
                  </a:cxnLst>
                  <a:rect l="0" t="0" r="r" b="b"/>
                  <a:pathLst>
                    <a:path w="32" h="11">
                      <a:moveTo>
                        <a:pt x="1" y="1"/>
                      </a:moveTo>
                      <a:lnTo>
                        <a:pt x="0" y="0"/>
                      </a:lnTo>
                      <a:lnTo>
                        <a:pt x="25" y="0"/>
                      </a:lnTo>
                      <a:lnTo>
                        <a:pt x="32" y="11"/>
                      </a:lnTo>
                      <a:lnTo>
                        <a:pt x="1" y="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67" name="Freeform 4755"/>
                <p:cNvSpPr>
                  <a:spLocks noChangeAspect="1"/>
                </p:cNvSpPr>
                <p:nvPr/>
              </p:nvSpPr>
              <p:spPr bwMode="auto">
                <a:xfrm>
                  <a:off x="3285" y="3878"/>
                  <a:ext cx="11" cy="5"/>
                </a:xfrm>
                <a:custGeom>
                  <a:avLst/>
                  <a:gdLst>
                    <a:gd name="T0" fmla="*/ 5 w 34"/>
                    <a:gd name="T1" fmla="*/ 5 h 15"/>
                    <a:gd name="T2" fmla="*/ 0 w 34"/>
                    <a:gd name="T3" fmla="*/ 0 h 15"/>
                    <a:gd name="T4" fmla="*/ 26 w 34"/>
                    <a:gd name="T5" fmla="*/ 0 h 15"/>
                    <a:gd name="T6" fmla="*/ 34 w 34"/>
                    <a:gd name="T7" fmla="*/ 15 h 15"/>
                    <a:gd name="T8" fmla="*/ 5 w 34"/>
                    <a:gd name="T9" fmla="*/ 5 h 15"/>
                  </a:gdLst>
                  <a:ahLst/>
                  <a:cxnLst>
                    <a:cxn ang="0">
                      <a:pos x="T0" y="T1"/>
                    </a:cxn>
                    <a:cxn ang="0">
                      <a:pos x="T2" y="T3"/>
                    </a:cxn>
                    <a:cxn ang="0">
                      <a:pos x="T4" y="T5"/>
                    </a:cxn>
                    <a:cxn ang="0">
                      <a:pos x="T6" y="T7"/>
                    </a:cxn>
                    <a:cxn ang="0">
                      <a:pos x="T8" y="T9"/>
                    </a:cxn>
                  </a:cxnLst>
                  <a:rect l="0" t="0" r="r" b="b"/>
                  <a:pathLst>
                    <a:path w="34" h="15">
                      <a:moveTo>
                        <a:pt x="5" y="5"/>
                      </a:moveTo>
                      <a:lnTo>
                        <a:pt x="0" y="0"/>
                      </a:lnTo>
                      <a:lnTo>
                        <a:pt x="26" y="0"/>
                      </a:lnTo>
                      <a:lnTo>
                        <a:pt x="34" y="15"/>
                      </a:lnTo>
                      <a:lnTo>
                        <a:pt x="5" y="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68" name="Freeform 4756"/>
                <p:cNvSpPr>
                  <a:spLocks noChangeAspect="1"/>
                </p:cNvSpPr>
                <p:nvPr/>
              </p:nvSpPr>
              <p:spPr bwMode="auto">
                <a:xfrm>
                  <a:off x="3289" y="3878"/>
                  <a:ext cx="12" cy="6"/>
                </a:xfrm>
                <a:custGeom>
                  <a:avLst/>
                  <a:gdLst>
                    <a:gd name="T0" fmla="*/ 7 w 36"/>
                    <a:gd name="T1" fmla="*/ 11 h 20"/>
                    <a:gd name="T2" fmla="*/ 0 w 36"/>
                    <a:gd name="T3" fmla="*/ 0 h 20"/>
                    <a:gd name="T4" fmla="*/ 26 w 36"/>
                    <a:gd name="T5" fmla="*/ 0 h 20"/>
                    <a:gd name="T6" fmla="*/ 36 w 36"/>
                    <a:gd name="T7" fmla="*/ 20 h 20"/>
                    <a:gd name="T8" fmla="*/ 7 w 36"/>
                    <a:gd name="T9" fmla="*/ 11 h 20"/>
                  </a:gdLst>
                  <a:ahLst/>
                  <a:cxnLst>
                    <a:cxn ang="0">
                      <a:pos x="T0" y="T1"/>
                    </a:cxn>
                    <a:cxn ang="0">
                      <a:pos x="T2" y="T3"/>
                    </a:cxn>
                    <a:cxn ang="0">
                      <a:pos x="T4" y="T5"/>
                    </a:cxn>
                    <a:cxn ang="0">
                      <a:pos x="T6" y="T7"/>
                    </a:cxn>
                    <a:cxn ang="0">
                      <a:pos x="T8" y="T9"/>
                    </a:cxn>
                  </a:cxnLst>
                  <a:rect l="0" t="0" r="r" b="b"/>
                  <a:pathLst>
                    <a:path w="36" h="20">
                      <a:moveTo>
                        <a:pt x="7" y="11"/>
                      </a:moveTo>
                      <a:lnTo>
                        <a:pt x="0" y="0"/>
                      </a:lnTo>
                      <a:lnTo>
                        <a:pt x="26" y="0"/>
                      </a:lnTo>
                      <a:lnTo>
                        <a:pt x="36" y="20"/>
                      </a:lnTo>
                      <a:lnTo>
                        <a:pt x="7" y="1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69" name="Freeform 4757"/>
                <p:cNvSpPr>
                  <a:spLocks noChangeAspect="1"/>
                </p:cNvSpPr>
                <p:nvPr/>
              </p:nvSpPr>
              <p:spPr bwMode="auto">
                <a:xfrm>
                  <a:off x="3293" y="3878"/>
                  <a:ext cx="13" cy="8"/>
                </a:xfrm>
                <a:custGeom>
                  <a:avLst/>
                  <a:gdLst>
                    <a:gd name="T0" fmla="*/ 8 w 39"/>
                    <a:gd name="T1" fmla="*/ 15 h 24"/>
                    <a:gd name="T2" fmla="*/ 0 w 39"/>
                    <a:gd name="T3" fmla="*/ 0 h 24"/>
                    <a:gd name="T4" fmla="*/ 24 w 39"/>
                    <a:gd name="T5" fmla="*/ 0 h 24"/>
                    <a:gd name="T6" fmla="*/ 39 w 39"/>
                    <a:gd name="T7" fmla="*/ 24 h 24"/>
                    <a:gd name="T8" fmla="*/ 8 w 39"/>
                    <a:gd name="T9" fmla="*/ 15 h 24"/>
                  </a:gdLst>
                  <a:ahLst/>
                  <a:cxnLst>
                    <a:cxn ang="0">
                      <a:pos x="T0" y="T1"/>
                    </a:cxn>
                    <a:cxn ang="0">
                      <a:pos x="T2" y="T3"/>
                    </a:cxn>
                    <a:cxn ang="0">
                      <a:pos x="T4" y="T5"/>
                    </a:cxn>
                    <a:cxn ang="0">
                      <a:pos x="T6" y="T7"/>
                    </a:cxn>
                    <a:cxn ang="0">
                      <a:pos x="T8" y="T9"/>
                    </a:cxn>
                  </a:cxnLst>
                  <a:rect l="0" t="0" r="r" b="b"/>
                  <a:pathLst>
                    <a:path w="39" h="24">
                      <a:moveTo>
                        <a:pt x="8" y="15"/>
                      </a:moveTo>
                      <a:lnTo>
                        <a:pt x="0" y="0"/>
                      </a:lnTo>
                      <a:lnTo>
                        <a:pt x="24" y="0"/>
                      </a:lnTo>
                      <a:lnTo>
                        <a:pt x="39" y="24"/>
                      </a:lnTo>
                      <a:lnTo>
                        <a:pt x="8" y="1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70" name="Freeform 4758"/>
                <p:cNvSpPr>
                  <a:spLocks noChangeAspect="1"/>
                </p:cNvSpPr>
                <p:nvPr/>
              </p:nvSpPr>
              <p:spPr bwMode="auto">
                <a:xfrm>
                  <a:off x="3298" y="3878"/>
                  <a:ext cx="13" cy="9"/>
                </a:xfrm>
                <a:custGeom>
                  <a:avLst/>
                  <a:gdLst>
                    <a:gd name="T0" fmla="*/ 10 w 41"/>
                    <a:gd name="T1" fmla="*/ 20 h 29"/>
                    <a:gd name="T2" fmla="*/ 0 w 41"/>
                    <a:gd name="T3" fmla="*/ 0 h 29"/>
                    <a:gd name="T4" fmla="*/ 24 w 41"/>
                    <a:gd name="T5" fmla="*/ 0 h 29"/>
                    <a:gd name="T6" fmla="*/ 41 w 41"/>
                    <a:gd name="T7" fmla="*/ 29 h 29"/>
                    <a:gd name="T8" fmla="*/ 10 w 41"/>
                    <a:gd name="T9" fmla="*/ 20 h 29"/>
                  </a:gdLst>
                  <a:ahLst/>
                  <a:cxnLst>
                    <a:cxn ang="0">
                      <a:pos x="T0" y="T1"/>
                    </a:cxn>
                    <a:cxn ang="0">
                      <a:pos x="T2" y="T3"/>
                    </a:cxn>
                    <a:cxn ang="0">
                      <a:pos x="T4" y="T5"/>
                    </a:cxn>
                    <a:cxn ang="0">
                      <a:pos x="T6" y="T7"/>
                    </a:cxn>
                    <a:cxn ang="0">
                      <a:pos x="T8" y="T9"/>
                    </a:cxn>
                  </a:cxnLst>
                  <a:rect l="0" t="0" r="r" b="b"/>
                  <a:pathLst>
                    <a:path w="41" h="29">
                      <a:moveTo>
                        <a:pt x="10" y="20"/>
                      </a:moveTo>
                      <a:lnTo>
                        <a:pt x="0" y="0"/>
                      </a:lnTo>
                      <a:lnTo>
                        <a:pt x="24" y="0"/>
                      </a:lnTo>
                      <a:lnTo>
                        <a:pt x="41" y="29"/>
                      </a:lnTo>
                      <a:lnTo>
                        <a:pt x="10" y="2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71" name="Freeform 4759"/>
                <p:cNvSpPr>
                  <a:spLocks noChangeAspect="1"/>
                </p:cNvSpPr>
                <p:nvPr/>
              </p:nvSpPr>
              <p:spPr bwMode="auto">
                <a:xfrm>
                  <a:off x="3301" y="3878"/>
                  <a:ext cx="15" cy="11"/>
                </a:xfrm>
                <a:custGeom>
                  <a:avLst/>
                  <a:gdLst>
                    <a:gd name="T0" fmla="*/ 15 w 45"/>
                    <a:gd name="T1" fmla="*/ 24 h 34"/>
                    <a:gd name="T2" fmla="*/ 0 w 45"/>
                    <a:gd name="T3" fmla="*/ 0 h 34"/>
                    <a:gd name="T4" fmla="*/ 26 w 45"/>
                    <a:gd name="T5" fmla="*/ 0 h 34"/>
                    <a:gd name="T6" fmla="*/ 45 w 45"/>
                    <a:gd name="T7" fmla="*/ 34 h 34"/>
                    <a:gd name="T8" fmla="*/ 15 w 45"/>
                    <a:gd name="T9" fmla="*/ 24 h 34"/>
                  </a:gdLst>
                  <a:ahLst/>
                  <a:cxnLst>
                    <a:cxn ang="0">
                      <a:pos x="T0" y="T1"/>
                    </a:cxn>
                    <a:cxn ang="0">
                      <a:pos x="T2" y="T3"/>
                    </a:cxn>
                    <a:cxn ang="0">
                      <a:pos x="T4" y="T5"/>
                    </a:cxn>
                    <a:cxn ang="0">
                      <a:pos x="T6" y="T7"/>
                    </a:cxn>
                    <a:cxn ang="0">
                      <a:pos x="T8" y="T9"/>
                    </a:cxn>
                  </a:cxnLst>
                  <a:rect l="0" t="0" r="r" b="b"/>
                  <a:pathLst>
                    <a:path w="45" h="34">
                      <a:moveTo>
                        <a:pt x="15" y="24"/>
                      </a:moveTo>
                      <a:lnTo>
                        <a:pt x="0" y="0"/>
                      </a:lnTo>
                      <a:lnTo>
                        <a:pt x="26" y="0"/>
                      </a:lnTo>
                      <a:lnTo>
                        <a:pt x="45" y="34"/>
                      </a:lnTo>
                      <a:lnTo>
                        <a:pt x="15" y="2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72" name="Freeform 4760"/>
                <p:cNvSpPr>
                  <a:spLocks noChangeAspect="1"/>
                </p:cNvSpPr>
                <p:nvPr/>
              </p:nvSpPr>
              <p:spPr bwMode="auto">
                <a:xfrm>
                  <a:off x="3306" y="3878"/>
                  <a:ext cx="16" cy="12"/>
                </a:xfrm>
                <a:custGeom>
                  <a:avLst/>
                  <a:gdLst>
                    <a:gd name="T0" fmla="*/ 17 w 48"/>
                    <a:gd name="T1" fmla="*/ 29 h 38"/>
                    <a:gd name="T2" fmla="*/ 0 w 48"/>
                    <a:gd name="T3" fmla="*/ 0 h 38"/>
                    <a:gd name="T4" fmla="*/ 26 w 48"/>
                    <a:gd name="T5" fmla="*/ 0 h 38"/>
                    <a:gd name="T6" fmla="*/ 48 w 48"/>
                    <a:gd name="T7" fmla="*/ 38 h 38"/>
                    <a:gd name="T8" fmla="*/ 17 w 48"/>
                    <a:gd name="T9" fmla="*/ 29 h 38"/>
                  </a:gdLst>
                  <a:ahLst/>
                  <a:cxnLst>
                    <a:cxn ang="0">
                      <a:pos x="T0" y="T1"/>
                    </a:cxn>
                    <a:cxn ang="0">
                      <a:pos x="T2" y="T3"/>
                    </a:cxn>
                    <a:cxn ang="0">
                      <a:pos x="T4" y="T5"/>
                    </a:cxn>
                    <a:cxn ang="0">
                      <a:pos x="T6" y="T7"/>
                    </a:cxn>
                    <a:cxn ang="0">
                      <a:pos x="T8" y="T9"/>
                    </a:cxn>
                  </a:cxnLst>
                  <a:rect l="0" t="0" r="r" b="b"/>
                  <a:pathLst>
                    <a:path w="48" h="38">
                      <a:moveTo>
                        <a:pt x="17" y="29"/>
                      </a:moveTo>
                      <a:lnTo>
                        <a:pt x="0" y="0"/>
                      </a:lnTo>
                      <a:lnTo>
                        <a:pt x="26" y="0"/>
                      </a:lnTo>
                      <a:lnTo>
                        <a:pt x="48" y="38"/>
                      </a:lnTo>
                      <a:lnTo>
                        <a:pt x="17" y="2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73" name="Freeform 4761"/>
                <p:cNvSpPr>
                  <a:spLocks noChangeAspect="1"/>
                </p:cNvSpPr>
                <p:nvPr/>
              </p:nvSpPr>
              <p:spPr bwMode="auto">
                <a:xfrm>
                  <a:off x="3310" y="3878"/>
                  <a:ext cx="17" cy="14"/>
                </a:xfrm>
                <a:custGeom>
                  <a:avLst/>
                  <a:gdLst>
                    <a:gd name="T0" fmla="*/ 19 w 50"/>
                    <a:gd name="T1" fmla="*/ 34 h 43"/>
                    <a:gd name="T2" fmla="*/ 0 w 50"/>
                    <a:gd name="T3" fmla="*/ 0 h 43"/>
                    <a:gd name="T4" fmla="*/ 26 w 50"/>
                    <a:gd name="T5" fmla="*/ 0 h 43"/>
                    <a:gd name="T6" fmla="*/ 50 w 50"/>
                    <a:gd name="T7" fmla="*/ 43 h 43"/>
                    <a:gd name="T8" fmla="*/ 19 w 50"/>
                    <a:gd name="T9" fmla="*/ 34 h 43"/>
                  </a:gdLst>
                  <a:ahLst/>
                  <a:cxnLst>
                    <a:cxn ang="0">
                      <a:pos x="T0" y="T1"/>
                    </a:cxn>
                    <a:cxn ang="0">
                      <a:pos x="T2" y="T3"/>
                    </a:cxn>
                    <a:cxn ang="0">
                      <a:pos x="T4" y="T5"/>
                    </a:cxn>
                    <a:cxn ang="0">
                      <a:pos x="T6" y="T7"/>
                    </a:cxn>
                    <a:cxn ang="0">
                      <a:pos x="T8" y="T9"/>
                    </a:cxn>
                  </a:cxnLst>
                  <a:rect l="0" t="0" r="r" b="b"/>
                  <a:pathLst>
                    <a:path w="50" h="43">
                      <a:moveTo>
                        <a:pt x="19" y="34"/>
                      </a:moveTo>
                      <a:lnTo>
                        <a:pt x="0" y="0"/>
                      </a:lnTo>
                      <a:lnTo>
                        <a:pt x="26" y="0"/>
                      </a:lnTo>
                      <a:lnTo>
                        <a:pt x="50" y="43"/>
                      </a:lnTo>
                      <a:lnTo>
                        <a:pt x="19" y="3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74" name="Freeform 4762"/>
                <p:cNvSpPr>
                  <a:spLocks noChangeAspect="1"/>
                </p:cNvSpPr>
                <p:nvPr/>
              </p:nvSpPr>
              <p:spPr bwMode="auto">
                <a:xfrm>
                  <a:off x="3314" y="3878"/>
                  <a:ext cx="18" cy="16"/>
                </a:xfrm>
                <a:custGeom>
                  <a:avLst/>
                  <a:gdLst>
                    <a:gd name="T0" fmla="*/ 22 w 52"/>
                    <a:gd name="T1" fmla="*/ 38 h 48"/>
                    <a:gd name="T2" fmla="*/ 0 w 52"/>
                    <a:gd name="T3" fmla="*/ 0 h 48"/>
                    <a:gd name="T4" fmla="*/ 24 w 52"/>
                    <a:gd name="T5" fmla="*/ 0 h 48"/>
                    <a:gd name="T6" fmla="*/ 52 w 52"/>
                    <a:gd name="T7" fmla="*/ 48 h 48"/>
                    <a:gd name="T8" fmla="*/ 22 w 52"/>
                    <a:gd name="T9" fmla="*/ 38 h 48"/>
                  </a:gdLst>
                  <a:ahLst/>
                  <a:cxnLst>
                    <a:cxn ang="0">
                      <a:pos x="T0" y="T1"/>
                    </a:cxn>
                    <a:cxn ang="0">
                      <a:pos x="T2" y="T3"/>
                    </a:cxn>
                    <a:cxn ang="0">
                      <a:pos x="T4" y="T5"/>
                    </a:cxn>
                    <a:cxn ang="0">
                      <a:pos x="T6" y="T7"/>
                    </a:cxn>
                    <a:cxn ang="0">
                      <a:pos x="T8" y="T9"/>
                    </a:cxn>
                  </a:cxnLst>
                  <a:rect l="0" t="0" r="r" b="b"/>
                  <a:pathLst>
                    <a:path w="52" h="48">
                      <a:moveTo>
                        <a:pt x="22" y="38"/>
                      </a:moveTo>
                      <a:lnTo>
                        <a:pt x="0" y="0"/>
                      </a:lnTo>
                      <a:lnTo>
                        <a:pt x="24" y="0"/>
                      </a:lnTo>
                      <a:lnTo>
                        <a:pt x="52" y="48"/>
                      </a:lnTo>
                      <a:lnTo>
                        <a:pt x="22" y="3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75" name="Freeform 4763"/>
                <p:cNvSpPr>
                  <a:spLocks noChangeAspect="1"/>
                </p:cNvSpPr>
                <p:nvPr/>
              </p:nvSpPr>
              <p:spPr bwMode="auto">
                <a:xfrm>
                  <a:off x="3319" y="3878"/>
                  <a:ext cx="18" cy="17"/>
                </a:xfrm>
                <a:custGeom>
                  <a:avLst/>
                  <a:gdLst>
                    <a:gd name="T0" fmla="*/ 24 w 55"/>
                    <a:gd name="T1" fmla="*/ 43 h 52"/>
                    <a:gd name="T2" fmla="*/ 0 w 55"/>
                    <a:gd name="T3" fmla="*/ 0 h 52"/>
                    <a:gd name="T4" fmla="*/ 24 w 55"/>
                    <a:gd name="T5" fmla="*/ 0 h 52"/>
                    <a:gd name="T6" fmla="*/ 55 w 55"/>
                    <a:gd name="T7" fmla="*/ 52 h 52"/>
                    <a:gd name="T8" fmla="*/ 24 w 55"/>
                    <a:gd name="T9" fmla="*/ 43 h 52"/>
                  </a:gdLst>
                  <a:ahLst/>
                  <a:cxnLst>
                    <a:cxn ang="0">
                      <a:pos x="T0" y="T1"/>
                    </a:cxn>
                    <a:cxn ang="0">
                      <a:pos x="T2" y="T3"/>
                    </a:cxn>
                    <a:cxn ang="0">
                      <a:pos x="T4" y="T5"/>
                    </a:cxn>
                    <a:cxn ang="0">
                      <a:pos x="T6" y="T7"/>
                    </a:cxn>
                    <a:cxn ang="0">
                      <a:pos x="T8" y="T9"/>
                    </a:cxn>
                  </a:cxnLst>
                  <a:rect l="0" t="0" r="r" b="b"/>
                  <a:pathLst>
                    <a:path w="55" h="52">
                      <a:moveTo>
                        <a:pt x="24" y="43"/>
                      </a:moveTo>
                      <a:lnTo>
                        <a:pt x="0" y="0"/>
                      </a:lnTo>
                      <a:lnTo>
                        <a:pt x="24" y="0"/>
                      </a:lnTo>
                      <a:lnTo>
                        <a:pt x="55" y="52"/>
                      </a:lnTo>
                      <a:lnTo>
                        <a:pt x="24" y="4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76" name="Freeform 4764"/>
                <p:cNvSpPr>
                  <a:spLocks noChangeAspect="1"/>
                </p:cNvSpPr>
                <p:nvPr/>
              </p:nvSpPr>
              <p:spPr bwMode="auto">
                <a:xfrm>
                  <a:off x="3322" y="3878"/>
                  <a:ext cx="20" cy="18"/>
                </a:xfrm>
                <a:custGeom>
                  <a:avLst/>
                  <a:gdLst>
                    <a:gd name="T0" fmla="*/ 28 w 59"/>
                    <a:gd name="T1" fmla="*/ 48 h 56"/>
                    <a:gd name="T2" fmla="*/ 0 w 59"/>
                    <a:gd name="T3" fmla="*/ 0 h 56"/>
                    <a:gd name="T4" fmla="*/ 26 w 59"/>
                    <a:gd name="T5" fmla="*/ 0 h 56"/>
                    <a:gd name="T6" fmla="*/ 59 w 59"/>
                    <a:gd name="T7" fmla="*/ 56 h 56"/>
                    <a:gd name="T8" fmla="*/ 28 w 59"/>
                    <a:gd name="T9" fmla="*/ 48 h 56"/>
                  </a:gdLst>
                  <a:ahLst/>
                  <a:cxnLst>
                    <a:cxn ang="0">
                      <a:pos x="T0" y="T1"/>
                    </a:cxn>
                    <a:cxn ang="0">
                      <a:pos x="T2" y="T3"/>
                    </a:cxn>
                    <a:cxn ang="0">
                      <a:pos x="T4" y="T5"/>
                    </a:cxn>
                    <a:cxn ang="0">
                      <a:pos x="T6" y="T7"/>
                    </a:cxn>
                    <a:cxn ang="0">
                      <a:pos x="T8" y="T9"/>
                    </a:cxn>
                  </a:cxnLst>
                  <a:rect l="0" t="0" r="r" b="b"/>
                  <a:pathLst>
                    <a:path w="59" h="56">
                      <a:moveTo>
                        <a:pt x="28" y="48"/>
                      </a:moveTo>
                      <a:lnTo>
                        <a:pt x="0" y="0"/>
                      </a:lnTo>
                      <a:lnTo>
                        <a:pt x="26" y="0"/>
                      </a:lnTo>
                      <a:lnTo>
                        <a:pt x="59" y="56"/>
                      </a:lnTo>
                      <a:lnTo>
                        <a:pt x="28" y="4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77" name="Freeform 4765"/>
                <p:cNvSpPr>
                  <a:spLocks noChangeAspect="1"/>
                </p:cNvSpPr>
                <p:nvPr/>
              </p:nvSpPr>
              <p:spPr bwMode="auto">
                <a:xfrm>
                  <a:off x="3327" y="3878"/>
                  <a:ext cx="20" cy="20"/>
                </a:xfrm>
                <a:custGeom>
                  <a:avLst/>
                  <a:gdLst>
                    <a:gd name="T0" fmla="*/ 31 w 61"/>
                    <a:gd name="T1" fmla="*/ 52 h 62"/>
                    <a:gd name="T2" fmla="*/ 0 w 61"/>
                    <a:gd name="T3" fmla="*/ 0 h 62"/>
                    <a:gd name="T4" fmla="*/ 26 w 61"/>
                    <a:gd name="T5" fmla="*/ 0 h 62"/>
                    <a:gd name="T6" fmla="*/ 61 w 61"/>
                    <a:gd name="T7" fmla="*/ 62 h 62"/>
                    <a:gd name="T8" fmla="*/ 31 w 61"/>
                    <a:gd name="T9" fmla="*/ 52 h 62"/>
                  </a:gdLst>
                  <a:ahLst/>
                  <a:cxnLst>
                    <a:cxn ang="0">
                      <a:pos x="T0" y="T1"/>
                    </a:cxn>
                    <a:cxn ang="0">
                      <a:pos x="T2" y="T3"/>
                    </a:cxn>
                    <a:cxn ang="0">
                      <a:pos x="T4" y="T5"/>
                    </a:cxn>
                    <a:cxn ang="0">
                      <a:pos x="T6" y="T7"/>
                    </a:cxn>
                    <a:cxn ang="0">
                      <a:pos x="T8" y="T9"/>
                    </a:cxn>
                  </a:cxnLst>
                  <a:rect l="0" t="0" r="r" b="b"/>
                  <a:pathLst>
                    <a:path w="61" h="62">
                      <a:moveTo>
                        <a:pt x="31" y="52"/>
                      </a:moveTo>
                      <a:lnTo>
                        <a:pt x="0" y="0"/>
                      </a:lnTo>
                      <a:lnTo>
                        <a:pt x="26" y="0"/>
                      </a:lnTo>
                      <a:lnTo>
                        <a:pt x="61" y="62"/>
                      </a:lnTo>
                      <a:lnTo>
                        <a:pt x="31" y="5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78" name="Freeform 4766"/>
                <p:cNvSpPr>
                  <a:spLocks noChangeAspect="1"/>
                </p:cNvSpPr>
                <p:nvPr/>
              </p:nvSpPr>
              <p:spPr bwMode="auto">
                <a:xfrm>
                  <a:off x="3331" y="3878"/>
                  <a:ext cx="21" cy="22"/>
                </a:xfrm>
                <a:custGeom>
                  <a:avLst/>
                  <a:gdLst>
                    <a:gd name="T0" fmla="*/ 33 w 64"/>
                    <a:gd name="T1" fmla="*/ 56 h 66"/>
                    <a:gd name="T2" fmla="*/ 0 w 64"/>
                    <a:gd name="T3" fmla="*/ 0 h 66"/>
                    <a:gd name="T4" fmla="*/ 25 w 64"/>
                    <a:gd name="T5" fmla="*/ 0 h 66"/>
                    <a:gd name="T6" fmla="*/ 64 w 64"/>
                    <a:gd name="T7" fmla="*/ 66 h 66"/>
                    <a:gd name="T8" fmla="*/ 33 w 64"/>
                    <a:gd name="T9" fmla="*/ 56 h 66"/>
                  </a:gdLst>
                  <a:ahLst/>
                  <a:cxnLst>
                    <a:cxn ang="0">
                      <a:pos x="T0" y="T1"/>
                    </a:cxn>
                    <a:cxn ang="0">
                      <a:pos x="T2" y="T3"/>
                    </a:cxn>
                    <a:cxn ang="0">
                      <a:pos x="T4" y="T5"/>
                    </a:cxn>
                    <a:cxn ang="0">
                      <a:pos x="T6" y="T7"/>
                    </a:cxn>
                    <a:cxn ang="0">
                      <a:pos x="T8" y="T9"/>
                    </a:cxn>
                  </a:cxnLst>
                  <a:rect l="0" t="0" r="r" b="b"/>
                  <a:pathLst>
                    <a:path w="64" h="66">
                      <a:moveTo>
                        <a:pt x="33" y="56"/>
                      </a:moveTo>
                      <a:lnTo>
                        <a:pt x="0" y="0"/>
                      </a:lnTo>
                      <a:lnTo>
                        <a:pt x="25" y="0"/>
                      </a:lnTo>
                      <a:lnTo>
                        <a:pt x="64" y="66"/>
                      </a:lnTo>
                      <a:lnTo>
                        <a:pt x="33" y="5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79" name="Freeform 4767"/>
                <p:cNvSpPr>
                  <a:spLocks noChangeAspect="1"/>
                </p:cNvSpPr>
                <p:nvPr/>
              </p:nvSpPr>
              <p:spPr bwMode="auto">
                <a:xfrm>
                  <a:off x="3335" y="3878"/>
                  <a:ext cx="23" cy="23"/>
                </a:xfrm>
                <a:custGeom>
                  <a:avLst/>
                  <a:gdLst>
                    <a:gd name="T0" fmla="*/ 35 w 66"/>
                    <a:gd name="T1" fmla="*/ 62 h 70"/>
                    <a:gd name="T2" fmla="*/ 0 w 66"/>
                    <a:gd name="T3" fmla="*/ 0 h 70"/>
                    <a:gd name="T4" fmla="*/ 24 w 66"/>
                    <a:gd name="T5" fmla="*/ 0 h 70"/>
                    <a:gd name="T6" fmla="*/ 66 w 66"/>
                    <a:gd name="T7" fmla="*/ 70 h 70"/>
                    <a:gd name="T8" fmla="*/ 35 w 66"/>
                    <a:gd name="T9" fmla="*/ 62 h 70"/>
                  </a:gdLst>
                  <a:ahLst/>
                  <a:cxnLst>
                    <a:cxn ang="0">
                      <a:pos x="T0" y="T1"/>
                    </a:cxn>
                    <a:cxn ang="0">
                      <a:pos x="T2" y="T3"/>
                    </a:cxn>
                    <a:cxn ang="0">
                      <a:pos x="T4" y="T5"/>
                    </a:cxn>
                    <a:cxn ang="0">
                      <a:pos x="T6" y="T7"/>
                    </a:cxn>
                    <a:cxn ang="0">
                      <a:pos x="T8" y="T9"/>
                    </a:cxn>
                  </a:cxnLst>
                  <a:rect l="0" t="0" r="r" b="b"/>
                  <a:pathLst>
                    <a:path w="66" h="70">
                      <a:moveTo>
                        <a:pt x="35" y="62"/>
                      </a:moveTo>
                      <a:lnTo>
                        <a:pt x="0" y="0"/>
                      </a:lnTo>
                      <a:lnTo>
                        <a:pt x="24" y="0"/>
                      </a:lnTo>
                      <a:lnTo>
                        <a:pt x="66" y="70"/>
                      </a:lnTo>
                      <a:lnTo>
                        <a:pt x="35" y="6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80" name="Freeform 4768"/>
                <p:cNvSpPr>
                  <a:spLocks noChangeAspect="1"/>
                </p:cNvSpPr>
                <p:nvPr/>
              </p:nvSpPr>
              <p:spPr bwMode="auto">
                <a:xfrm>
                  <a:off x="3339" y="3878"/>
                  <a:ext cx="23" cy="25"/>
                </a:xfrm>
                <a:custGeom>
                  <a:avLst/>
                  <a:gdLst>
                    <a:gd name="T0" fmla="*/ 39 w 68"/>
                    <a:gd name="T1" fmla="*/ 66 h 76"/>
                    <a:gd name="T2" fmla="*/ 0 w 68"/>
                    <a:gd name="T3" fmla="*/ 0 h 76"/>
                    <a:gd name="T4" fmla="*/ 25 w 68"/>
                    <a:gd name="T5" fmla="*/ 0 h 76"/>
                    <a:gd name="T6" fmla="*/ 68 w 68"/>
                    <a:gd name="T7" fmla="*/ 76 h 76"/>
                    <a:gd name="T8" fmla="*/ 39 w 68"/>
                    <a:gd name="T9" fmla="*/ 66 h 76"/>
                  </a:gdLst>
                  <a:ahLst/>
                  <a:cxnLst>
                    <a:cxn ang="0">
                      <a:pos x="T0" y="T1"/>
                    </a:cxn>
                    <a:cxn ang="0">
                      <a:pos x="T2" y="T3"/>
                    </a:cxn>
                    <a:cxn ang="0">
                      <a:pos x="T4" y="T5"/>
                    </a:cxn>
                    <a:cxn ang="0">
                      <a:pos x="T6" y="T7"/>
                    </a:cxn>
                    <a:cxn ang="0">
                      <a:pos x="T8" y="T9"/>
                    </a:cxn>
                  </a:cxnLst>
                  <a:rect l="0" t="0" r="r" b="b"/>
                  <a:pathLst>
                    <a:path w="68" h="76">
                      <a:moveTo>
                        <a:pt x="39" y="66"/>
                      </a:moveTo>
                      <a:lnTo>
                        <a:pt x="0" y="0"/>
                      </a:lnTo>
                      <a:lnTo>
                        <a:pt x="25" y="0"/>
                      </a:lnTo>
                      <a:lnTo>
                        <a:pt x="68" y="76"/>
                      </a:lnTo>
                      <a:lnTo>
                        <a:pt x="39" y="6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81" name="Freeform 4769"/>
                <p:cNvSpPr>
                  <a:spLocks noChangeAspect="1"/>
                </p:cNvSpPr>
                <p:nvPr/>
              </p:nvSpPr>
              <p:spPr bwMode="auto">
                <a:xfrm>
                  <a:off x="3343" y="3878"/>
                  <a:ext cx="24" cy="26"/>
                </a:xfrm>
                <a:custGeom>
                  <a:avLst/>
                  <a:gdLst>
                    <a:gd name="T0" fmla="*/ 42 w 72"/>
                    <a:gd name="T1" fmla="*/ 70 h 80"/>
                    <a:gd name="T2" fmla="*/ 0 w 72"/>
                    <a:gd name="T3" fmla="*/ 0 h 80"/>
                    <a:gd name="T4" fmla="*/ 26 w 72"/>
                    <a:gd name="T5" fmla="*/ 0 h 80"/>
                    <a:gd name="T6" fmla="*/ 72 w 72"/>
                    <a:gd name="T7" fmla="*/ 80 h 80"/>
                    <a:gd name="T8" fmla="*/ 42 w 72"/>
                    <a:gd name="T9" fmla="*/ 70 h 80"/>
                  </a:gdLst>
                  <a:ahLst/>
                  <a:cxnLst>
                    <a:cxn ang="0">
                      <a:pos x="T0" y="T1"/>
                    </a:cxn>
                    <a:cxn ang="0">
                      <a:pos x="T2" y="T3"/>
                    </a:cxn>
                    <a:cxn ang="0">
                      <a:pos x="T4" y="T5"/>
                    </a:cxn>
                    <a:cxn ang="0">
                      <a:pos x="T6" y="T7"/>
                    </a:cxn>
                    <a:cxn ang="0">
                      <a:pos x="T8" y="T9"/>
                    </a:cxn>
                  </a:cxnLst>
                  <a:rect l="0" t="0" r="r" b="b"/>
                  <a:pathLst>
                    <a:path w="72" h="80">
                      <a:moveTo>
                        <a:pt x="42" y="70"/>
                      </a:moveTo>
                      <a:lnTo>
                        <a:pt x="0" y="0"/>
                      </a:lnTo>
                      <a:lnTo>
                        <a:pt x="26" y="0"/>
                      </a:lnTo>
                      <a:lnTo>
                        <a:pt x="72" y="80"/>
                      </a:lnTo>
                      <a:lnTo>
                        <a:pt x="42" y="7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82" name="Freeform 4770"/>
                <p:cNvSpPr>
                  <a:spLocks noChangeAspect="1"/>
                </p:cNvSpPr>
                <p:nvPr/>
              </p:nvSpPr>
              <p:spPr bwMode="auto">
                <a:xfrm>
                  <a:off x="3348" y="3878"/>
                  <a:ext cx="24" cy="28"/>
                </a:xfrm>
                <a:custGeom>
                  <a:avLst/>
                  <a:gdLst>
                    <a:gd name="T0" fmla="*/ 43 w 74"/>
                    <a:gd name="T1" fmla="*/ 76 h 85"/>
                    <a:gd name="T2" fmla="*/ 0 w 74"/>
                    <a:gd name="T3" fmla="*/ 0 h 85"/>
                    <a:gd name="T4" fmla="*/ 25 w 74"/>
                    <a:gd name="T5" fmla="*/ 0 h 85"/>
                    <a:gd name="T6" fmla="*/ 74 w 74"/>
                    <a:gd name="T7" fmla="*/ 85 h 85"/>
                    <a:gd name="T8" fmla="*/ 43 w 74"/>
                    <a:gd name="T9" fmla="*/ 76 h 85"/>
                  </a:gdLst>
                  <a:ahLst/>
                  <a:cxnLst>
                    <a:cxn ang="0">
                      <a:pos x="T0" y="T1"/>
                    </a:cxn>
                    <a:cxn ang="0">
                      <a:pos x="T2" y="T3"/>
                    </a:cxn>
                    <a:cxn ang="0">
                      <a:pos x="T4" y="T5"/>
                    </a:cxn>
                    <a:cxn ang="0">
                      <a:pos x="T6" y="T7"/>
                    </a:cxn>
                    <a:cxn ang="0">
                      <a:pos x="T8" y="T9"/>
                    </a:cxn>
                  </a:cxnLst>
                  <a:rect l="0" t="0" r="r" b="b"/>
                  <a:pathLst>
                    <a:path w="74" h="85">
                      <a:moveTo>
                        <a:pt x="43" y="76"/>
                      </a:moveTo>
                      <a:lnTo>
                        <a:pt x="0" y="0"/>
                      </a:lnTo>
                      <a:lnTo>
                        <a:pt x="25" y="0"/>
                      </a:lnTo>
                      <a:lnTo>
                        <a:pt x="74" y="85"/>
                      </a:lnTo>
                      <a:lnTo>
                        <a:pt x="43" y="7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83" name="Freeform 4771"/>
                <p:cNvSpPr>
                  <a:spLocks noChangeAspect="1"/>
                </p:cNvSpPr>
                <p:nvPr/>
              </p:nvSpPr>
              <p:spPr bwMode="auto">
                <a:xfrm>
                  <a:off x="3352" y="3878"/>
                  <a:ext cx="25" cy="29"/>
                </a:xfrm>
                <a:custGeom>
                  <a:avLst/>
                  <a:gdLst>
                    <a:gd name="T0" fmla="*/ 46 w 76"/>
                    <a:gd name="T1" fmla="*/ 80 h 89"/>
                    <a:gd name="T2" fmla="*/ 0 w 76"/>
                    <a:gd name="T3" fmla="*/ 0 h 89"/>
                    <a:gd name="T4" fmla="*/ 25 w 76"/>
                    <a:gd name="T5" fmla="*/ 0 h 89"/>
                    <a:gd name="T6" fmla="*/ 76 w 76"/>
                    <a:gd name="T7" fmla="*/ 89 h 89"/>
                    <a:gd name="T8" fmla="*/ 46 w 76"/>
                    <a:gd name="T9" fmla="*/ 80 h 89"/>
                  </a:gdLst>
                  <a:ahLst/>
                  <a:cxnLst>
                    <a:cxn ang="0">
                      <a:pos x="T0" y="T1"/>
                    </a:cxn>
                    <a:cxn ang="0">
                      <a:pos x="T2" y="T3"/>
                    </a:cxn>
                    <a:cxn ang="0">
                      <a:pos x="T4" y="T5"/>
                    </a:cxn>
                    <a:cxn ang="0">
                      <a:pos x="T6" y="T7"/>
                    </a:cxn>
                    <a:cxn ang="0">
                      <a:pos x="T8" y="T9"/>
                    </a:cxn>
                  </a:cxnLst>
                  <a:rect l="0" t="0" r="r" b="b"/>
                  <a:pathLst>
                    <a:path w="76" h="89">
                      <a:moveTo>
                        <a:pt x="46" y="80"/>
                      </a:moveTo>
                      <a:lnTo>
                        <a:pt x="0" y="0"/>
                      </a:lnTo>
                      <a:lnTo>
                        <a:pt x="25" y="0"/>
                      </a:lnTo>
                      <a:lnTo>
                        <a:pt x="76" y="89"/>
                      </a:lnTo>
                      <a:lnTo>
                        <a:pt x="46" y="8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84" name="Freeform 4772"/>
                <p:cNvSpPr>
                  <a:spLocks noChangeAspect="1"/>
                </p:cNvSpPr>
                <p:nvPr/>
              </p:nvSpPr>
              <p:spPr bwMode="auto">
                <a:xfrm>
                  <a:off x="3356" y="3878"/>
                  <a:ext cx="26" cy="31"/>
                </a:xfrm>
                <a:custGeom>
                  <a:avLst/>
                  <a:gdLst>
                    <a:gd name="T0" fmla="*/ 49 w 79"/>
                    <a:gd name="T1" fmla="*/ 85 h 94"/>
                    <a:gd name="T2" fmla="*/ 0 w 79"/>
                    <a:gd name="T3" fmla="*/ 0 h 94"/>
                    <a:gd name="T4" fmla="*/ 25 w 79"/>
                    <a:gd name="T5" fmla="*/ 0 h 94"/>
                    <a:gd name="T6" fmla="*/ 79 w 79"/>
                    <a:gd name="T7" fmla="*/ 94 h 94"/>
                    <a:gd name="T8" fmla="*/ 49 w 79"/>
                    <a:gd name="T9" fmla="*/ 85 h 94"/>
                  </a:gdLst>
                  <a:ahLst/>
                  <a:cxnLst>
                    <a:cxn ang="0">
                      <a:pos x="T0" y="T1"/>
                    </a:cxn>
                    <a:cxn ang="0">
                      <a:pos x="T2" y="T3"/>
                    </a:cxn>
                    <a:cxn ang="0">
                      <a:pos x="T4" y="T5"/>
                    </a:cxn>
                    <a:cxn ang="0">
                      <a:pos x="T6" y="T7"/>
                    </a:cxn>
                    <a:cxn ang="0">
                      <a:pos x="T8" y="T9"/>
                    </a:cxn>
                  </a:cxnLst>
                  <a:rect l="0" t="0" r="r" b="b"/>
                  <a:pathLst>
                    <a:path w="79" h="94">
                      <a:moveTo>
                        <a:pt x="49" y="85"/>
                      </a:moveTo>
                      <a:lnTo>
                        <a:pt x="0" y="0"/>
                      </a:lnTo>
                      <a:lnTo>
                        <a:pt x="25" y="0"/>
                      </a:lnTo>
                      <a:lnTo>
                        <a:pt x="79" y="94"/>
                      </a:lnTo>
                      <a:lnTo>
                        <a:pt x="49" y="8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85" name="Freeform 4773"/>
                <p:cNvSpPr>
                  <a:spLocks noChangeAspect="1"/>
                </p:cNvSpPr>
                <p:nvPr/>
              </p:nvSpPr>
              <p:spPr bwMode="auto">
                <a:xfrm>
                  <a:off x="3360" y="3878"/>
                  <a:ext cx="28" cy="33"/>
                </a:xfrm>
                <a:custGeom>
                  <a:avLst/>
                  <a:gdLst>
                    <a:gd name="T0" fmla="*/ 51 w 82"/>
                    <a:gd name="T1" fmla="*/ 89 h 99"/>
                    <a:gd name="T2" fmla="*/ 0 w 82"/>
                    <a:gd name="T3" fmla="*/ 0 h 99"/>
                    <a:gd name="T4" fmla="*/ 25 w 82"/>
                    <a:gd name="T5" fmla="*/ 0 h 99"/>
                    <a:gd name="T6" fmla="*/ 82 w 82"/>
                    <a:gd name="T7" fmla="*/ 99 h 99"/>
                    <a:gd name="T8" fmla="*/ 51 w 82"/>
                    <a:gd name="T9" fmla="*/ 89 h 99"/>
                  </a:gdLst>
                  <a:ahLst/>
                  <a:cxnLst>
                    <a:cxn ang="0">
                      <a:pos x="T0" y="T1"/>
                    </a:cxn>
                    <a:cxn ang="0">
                      <a:pos x="T2" y="T3"/>
                    </a:cxn>
                    <a:cxn ang="0">
                      <a:pos x="T4" y="T5"/>
                    </a:cxn>
                    <a:cxn ang="0">
                      <a:pos x="T6" y="T7"/>
                    </a:cxn>
                    <a:cxn ang="0">
                      <a:pos x="T8" y="T9"/>
                    </a:cxn>
                  </a:cxnLst>
                  <a:rect l="0" t="0" r="r" b="b"/>
                  <a:pathLst>
                    <a:path w="82" h="99">
                      <a:moveTo>
                        <a:pt x="51" y="89"/>
                      </a:moveTo>
                      <a:lnTo>
                        <a:pt x="0" y="0"/>
                      </a:lnTo>
                      <a:lnTo>
                        <a:pt x="25" y="0"/>
                      </a:lnTo>
                      <a:lnTo>
                        <a:pt x="82" y="99"/>
                      </a:lnTo>
                      <a:lnTo>
                        <a:pt x="51" y="8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86" name="Freeform 4774"/>
                <p:cNvSpPr>
                  <a:spLocks noChangeAspect="1"/>
                </p:cNvSpPr>
                <p:nvPr/>
              </p:nvSpPr>
              <p:spPr bwMode="auto">
                <a:xfrm>
                  <a:off x="3364" y="3878"/>
                  <a:ext cx="29" cy="34"/>
                </a:xfrm>
                <a:custGeom>
                  <a:avLst/>
                  <a:gdLst>
                    <a:gd name="T0" fmla="*/ 54 w 85"/>
                    <a:gd name="T1" fmla="*/ 94 h 103"/>
                    <a:gd name="T2" fmla="*/ 0 w 85"/>
                    <a:gd name="T3" fmla="*/ 0 h 103"/>
                    <a:gd name="T4" fmla="*/ 25 w 85"/>
                    <a:gd name="T5" fmla="*/ 0 h 103"/>
                    <a:gd name="T6" fmla="*/ 85 w 85"/>
                    <a:gd name="T7" fmla="*/ 103 h 103"/>
                    <a:gd name="T8" fmla="*/ 54 w 85"/>
                    <a:gd name="T9" fmla="*/ 94 h 103"/>
                  </a:gdLst>
                  <a:ahLst/>
                  <a:cxnLst>
                    <a:cxn ang="0">
                      <a:pos x="T0" y="T1"/>
                    </a:cxn>
                    <a:cxn ang="0">
                      <a:pos x="T2" y="T3"/>
                    </a:cxn>
                    <a:cxn ang="0">
                      <a:pos x="T4" y="T5"/>
                    </a:cxn>
                    <a:cxn ang="0">
                      <a:pos x="T6" y="T7"/>
                    </a:cxn>
                    <a:cxn ang="0">
                      <a:pos x="T8" y="T9"/>
                    </a:cxn>
                  </a:cxnLst>
                  <a:rect l="0" t="0" r="r" b="b"/>
                  <a:pathLst>
                    <a:path w="85" h="103">
                      <a:moveTo>
                        <a:pt x="54" y="94"/>
                      </a:moveTo>
                      <a:lnTo>
                        <a:pt x="0" y="0"/>
                      </a:lnTo>
                      <a:lnTo>
                        <a:pt x="25" y="0"/>
                      </a:lnTo>
                      <a:lnTo>
                        <a:pt x="85" y="103"/>
                      </a:lnTo>
                      <a:lnTo>
                        <a:pt x="54" y="9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87" name="Freeform 4775"/>
                <p:cNvSpPr>
                  <a:spLocks noChangeAspect="1"/>
                </p:cNvSpPr>
                <p:nvPr/>
              </p:nvSpPr>
              <p:spPr bwMode="auto">
                <a:xfrm>
                  <a:off x="3369" y="3878"/>
                  <a:ext cx="29" cy="35"/>
                </a:xfrm>
                <a:custGeom>
                  <a:avLst/>
                  <a:gdLst>
                    <a:gd name="T0" fmla="*/ 57 w 87"/>
                    <a:gd name="T1" fmla="*/ 99 h 107"/>
                    <a:gd name="T2" fmla="*/ 0 w 87"/>
                    <a:gd name="T3" fmla="*/ 0 h 107"/>
                    <a:gd name="T4" fmla="*/ 25 w 87"/>
                    <a:gd name="T5" fmla="*/ 0 h 107"/>
                    <a:gd name="T6" fmla="*/ 87 w 87"/>
                    <a:gd name="T7" fmla="*/ 107 h 107"/>
                    <a:gd name="T8" fmla="*/ 57 w 87"/>
                    <a:gd name="T9" fmla="*/ 99 h 107"/>
                  </a:gdLst>
                  <a:ahLst/>
                  <a:cxnLst>
                    <a:cxn ang="0">
                      <a:pos x="T0" y="T1"/>
                    </a:cxn>
                    <a:cxn ang="0">
                      <a:pos x="T2" y="T3"/>
                    </a:cxn>
                    <a:cxn ang="0">
                      <a:pos x="T4" y="T5"/>
                    </a:cxn>
                    <a:cxn ang="0">
                      <a:pos x="T6" y="T7"/>
                    </a:cxn>
                    <a:cxn ang="0">
                      <a:pos x="T8" y="T9"/>
                    </a:cxn>
                  </a:cxnLst>
                  <a:rect l="0" t="0" r="r" b="b"/>
                  <a:pathLst>
                    <a:path w="87" h="107">
                      <a:moveTo>
                        <a:pt x="57" y="99"/>
                      </a:moveTo>
                      <a:lnTo>
                        <a:pt x="0" y="0"/>
                      </a:lnTo>
                      <a:lnTo>
                        <a:pt x="25" y="0"/>
                      </a:lnTo>
                      <a:lnTo>
                        <a:pt x="87" y="107"/>
                      </a:lnTo>
                      <a:lnTo>
                        <a:pt x="57" y="9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88" name="Freeform 4776"/>
                <p:cNvSpPr>
                  <a:spLocks noChangeAspect="1"/>
                </p:cNvSpPr>
                <p:nvPr/>
              </p:nvSpPr>
              <p:spPr bwMode="auto">
                <a:xfrm>
                  <a:off x="3373" y="3878"/>
                  <a:ext cx="30" cy="37"/>
                </a:xfrm>
                <a:custGeom>
                  <a:avLst/>
                  <a:gdLst>
                    <a:gd name="T0" fmla="*/ 60 w 91"/>
                    <a:gd name="T1" fmla="*/ 103 h 113"/>
                    <a:gd name="T2" fmla="*/ 0 w 91"/>
                    <a:gd name="T3" fmla="*/ 0 h 113"/>
                    <a:gd name="T4" fmla="*/ 26 w 91"/>
                    <a:gd name="T5" fmla="*/ 0 h 113"/>
                    <a:gd name="T6" fmla="*/ 91 w 91"/>
                    <a:gd name="T7" fmla="*/ 113 h 113"/>
                    <a:gd name="T8" fmla="*/ 60 w 91"/>
                    <a:gd name="T9" fmla="*/ 103 h 113"/>
                  </a:gdLst>
                  <a:ahLst/>
                  <a:cxnLst>
                    <a:cxn ang="0">
                      <a:pos x="T0" y="T1"/>
                    </a:cxn>
                    <a:cxn ang="0">
                      <a:pos x="T2" y="T3"/>
                    </a:cxn>
                    <a:cxn ang="0">
                      <a:pos x="T4" y="T5"/>
                    </a:cxn>
                    <a:cxn ang="0">
                      <a:pos x="T6" y="T7"/>
                    </a:cxn>
                    <a:cxn ang="0">
                      <a:pos x="T8" y="T9"/>
                    </a:cxn>
                  </a:cxnLst>
                  <a:rect l="0" t="0" r="r" b="b"/>
                  <a:pathLst>
                    <a:path w="91" h="113">
                      <a:moveTo>
                        <a:pt x="60" y="103"/>
                      </a:moveTo>
                      <a:lnTo>
                        <a:pt x="0" y="0"/>
                      </a:lnTo>
                      <a:lnTo>
                        <a:pt x="26" y="0"/>
                      </a:lnTo>
                      <a:lnTo>
                        <a:pt x="91" y="113"/>
                      </a:lnTo>
                      <a:lnTo>
                        <a:pt x="60" y="10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89" name="Freeform 4777"/>
                <p:cNvSpPr>
                  <a:spLocks noChangeAspect="1"/>
                </p:cNvSpPr>
                <p:nvPr/>
              </p:nvSpPr>
              <p:spPr bwMode="auto">
                <a:xfrm>
                  <a:off x="3377" y="3878"/>
                  <a:ext cx="31" cy="39"/>
                </a:xfrm>
                <a:custGeom>
                  <a:avLst/>
                  <a:gdLst>
                    <a:gd name="T0" fmla="*/ 62 w 93"/>
                    <a:gd name="T1" fmla="*/ 107 h 117"/>
                    <a:gd name="T2" fmla="*/ 0 w 93"/>
                    <a:gd name="T3" fmla="*/ 0 h 117"/>
                    <a:gd name="T4" fmla="*/ 25 w 93"/>
                    <a:gd name="T5" fmla="*/ 0 h 117"/>
                    <a:gd name="T6" fmla="*/ 93 w 93"/>
                    <a:gd name="T7" fmla="*/ 117 h 117"/>
                    <a:gd name="T8" fmla="*/ 62 w 93"/>
                    <a:gd name="T9" fmla="*/ 107 h 117"/>
                  </a:gdLst>
                  <a:ahLst/>
                  <a:cxnLst>
                    <a:cxn ang="0">
                      <a:pos x="T0" y="T1"/>
                    </a:cxn>
                    <a:cxn ang="0">
                      <a:pos x="T2" y="T3"/>
                    </a:cxn>
                    <a:cxn ang="0">
                      <a:pos x="T4" y="T5"/>
                    </a:cxn>
                    <a:cxn ang="0">
                      <a:pos x="T6" y="T7"/>
                    </a:cxn>
                    <a:cxn ang="0">
                      <a:pos x="T8" y="T9"/>
                    </a:cxn>
                  </a:cxnLst>
                  <a:rect l="0" t="0" r="r" b="b"/>
                  <a:pathLst>
                    <a:path w="93" h="117">
                      <a:moveTo>
                        <a:pt x="62" y="107"/>
                      </a:moveTo>
                      <a:lnTo>
                        <a:pt x="0" y="0"/>
                      </a:lnTo>
                      <a:lnTo>
                        <a:pt x="25" y="0"/>
                      </a:lnTo>
                      <a:lnTo>
                        <a:pt x="93" y="117"/>
                      </a:lnTo>
                      <a:lnTo>
                        <a:pt x="62" y="10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90" name="Freeform 4778"/>
                <p:cNvSpPr>
                  <a:spLocks noChangeAspect="1"/>
                </p:cNvSpPr>
                <p:nvPr/>
              </p:nvSpPr>
              <p:spPr bwMode="auto">
                <a:xfrm>
                  <a:off x="3381" y="3878"/>
                  <a:ext cx="32" cy="40"/>
                </a:xfrm>
                <a:custGeom>
                  <a:avLst/>
                  <a:gdLst>
                    <a:gd name="T0" fmla="*/ 65 w 95"/>
                    <a:gd name="T1" fmla="*/ 113 h 121"/>
                    <a:gd name="T2" fmla="*/ 0 w 95"/>
                    <a:gd name="T3" fmla="*/ 0 h 121"/>
                    <a:gd name="T4" fmla="*/ 24 w 95"/>
                    <a:gd name="T5" fmla="*/ 0 h 121"/>
                    <a:gd name="T6" fmla="*/ 95 w 95"/>
                    <a:gd name="T7" fmla="*/ 121 h 121"/>
                    <a:gd name="T8" fmla="*/ 65 w 95"/>
                    <a:gd name="T9" fmla="*/ 113 h 121"/>
                  </a:gdLst>
                  <a:ahLst/>
                  <a:cxnLst>
                    <a:cxn ang="0">
                      <a:pos x="T0" y="T1"/>
                    </a:cxn>
                    <a:cxn ang="0">
                      <a:pos x="T2" y="T3"/>
                    </a:cxn>
                    <a:cxn ang="0">
                      <a:pos x="T4" y="T5"/>
                    </a:cxn>
                    <a:cxn ang="0">
                      <a:pos x="T6" y="T7"/>
                    </a:cxn>
                    <a:cxn ang="0">
                      <a:pos x="T8" y="T9"/>
                    </a:cxn>
                  </a:cxnLst>
                  <a:rect l="0" t="0" r="r" b="b"/>
                  <a:pathLst>
                    <a:path w="95" h="121">
                      <a:moveTo>
                        <a:pt x="65" y="113"/>
                      </a:moveTo>
                      <a:lnTo>
                        <a:pt x="0" y="0"/>
                      </a:lnTo>
                      <a:lnTo>
                        <a:pt x="24" y="0"/>
                      </a:lnTo>
                      <a:lnTo>
                        <a:pt x="95" y="121"/>
                      </a:lnTo>
                      <a:lnTo>
                        <a:pt x="65" y="11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91" name="Freeform 4779"/>
                <p:cNvSpPr>
                  <a:spLocks noChangeAspect="1"/>
                </p:cNvSpPr>
                <p:nvPr/>
              </p:nvSpPr>
              <p:spPr bwMode="auto">
                <a:xfrm>
                  <a:off x="3385" y="3878"/>
                  <a:ext cx="33" cy="42"/>
                </a:xfrm>
                <a:custGeom>
                  <a:avLst/>
                  <a:gdLst>
                    <a:gd name="T0" fmla="*/ 68 w 99"/>
                    <a:gd name="T1" fmla="*/ 117 h 127"/>
                    <a:gd name="T2" fmla="*/ 0 w 99"/>
                    <a:gd name="T3" fmla="*/ 0 h 127"/>
                    <a:gd name="T4" fmla="*/ 25 w 99"/>
                    <a:gd name="T5" fmla="*/ 0 h 127"/>
                    <a:gd name="T6" fmla="*/ 99 w 99"/>
                    <a:gd name="T7" fmla="*/ 127 h 127"/>
                    <a:gd name="T8" fmla="*/ 68 w 99"/>
                    <a:gd name="T9" fmla="*/ 117 h 127"/>
                  </a:gdLst>
                  <a:ahLst/>
                  <a:cxnLst>
                    <a:cxn ang="0">
                      <a:pos x="T0" y="T1"/>
                    </a:cxn>
                    <a:cxn ang="0">
                      <a:pos x="T2" y="T3"/>
                    </a:cxn>
                    <a:cxn ang="0">
                      <a:pos x="T4" y="T5"/>
                    </a:cxn>
                    <a:cxn ang="0">
                      <a:pos x="T6" y="T7"/>
                    </a:cxn>
                    <a:cxn ang="0">
                      <a:pos x="T8" y="T9"/>
                    </a:cxn>
                  </a:cxnLst>
                  <a:rect l="0" t="0" r="r" b="b"/>
                  <a:pathLst>
                    <a:path w="99" h="127">
                      <a:moveTo>
                        <a:pt x="68" y="117"/>
                      </a:moveTo>
                      <a:lnTo>
                        <a:pt x="0" y="0"/>
                      </a:lnTo>
                      <a:lnTo>
                        <a:pt x="25" y="0"/>
                      </a:lnTo>
                      <a:lnTo>
                        <a:pt x="99" y="127"/>
                      </a:lnTo>
                      <a:lnTo>
                        <a:pt x="68" y="11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92" name="Freeform 4780"/>
                <p:cNvSpPr>
                  <a:spLocks noChangeAspect="1"/>
                </p:cNvSpPr>
                <p:nvPr/>
              </p:nvSpPr>
              <p:spPr bwMode="auto">
                <a:xfrm>
                  <a:off x="3389" y="3878"/>
                  <a:ext cx="34" cy="43"/>
                </a:xfrm>
                <a:custGeom>
                  <a:avLst/>
                  <a:gdLst>
                    <a:gd name="T0" fmla="*/ 71 w 101"/>
                    <a:gd name="T1" fmla="*/ 121 h 131"/>
                    <a:gd name="T2" fmla="*/ 0 w 101"/>
                    <a:gd name="T3" fmla="*/ 0 h 131"/>
                    <a:gd name="T4" fmla="*/ 26 w 101"/>
                    <a:gd name="T5" fmla="*/ 0 h 131"/>
                    <a:gd name="T6" fmla="*/ 101 w 101"/>
                    <a:gd name="T7" fmla="*/ 131 h 131"/>
                    <a:gd name="T8" fmla="*/ 71 w 101"/>
                    <a:gd name="T9" fmla="*/ 121 h 131"/>
                  </a:gdLst>
                  <a:ahLst/>
                  <a:cxnLst>
                    <a:cxn ang="0">
                      <a:pos x="T0" y="T1"/>
                    </a:cxn>
                    <a:cxn ang="0">
                      <a:pos x="T2" y="T3"/>
                    </a:cxn>
                    <a:cxn ang="0">
                      <a:pos x="T4" y="T5"/>
                    </a:cxn>
                    <a:cxn ang="0">
                      <a:pos x="T6" y="T7"/>
                    </a:cxn>
                    <a:cxn ang="0">
                      <a:pos x="T8" y="T9"/>
                    </a:cxn>
                  </a:cxnLst>
                  <a:rect l="0" t="0" r="r" b="b"/>
                  <a:pathLst>
                    <a:path w="101" h="131">
                      <a:moveTo>
                        <a:pt x="71" y="121"/>
                      </a:moveTo>
                      <a:lnTo>
                        <a:pt x="0" y="0"/>
                      </a:lnTo>
                      <a:lnTo>
                        <a:pt x="26" y="0"/>
                      </a:lnTo>
                      <a:lnTo>
                        <a:pt x="101" y="131"/>
                      </a:lnTo>
                      <a:lnTo>
                        <a:pt x="71" y="12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93" name="Freeform 4781"/>
                <p:cNvSpPr>
                  <a:spLocks noChangeAspect="1"/>
                </p:cNvSpPr>
                <p:nvPr/>
              </p:nvSpPr>
              <p:spPr bwMode="auto">
                <a:xfrm>
                  <a:off x="3394" y="3878"/>
                  <a:ext cx="34" cy="45"/>
                </a:xfrm>
                <a:custGeom>
                  <a:avLst/>
                  <a:gdLst>
                    <a:gd name="T0" fmla="*/ 74 w 103"/>
                    <a:gd name="T1" fmla="*/ 127 h 135"/>
                    <a:gd name="T2" fmla="*/ 0 w 103"/>
                    <a:gd name="T3" fmla="*/ 0 h 135"/>
                    <a:gd name="T4" fmla="*/ 26 w 103"/>
                    <a:gd name="T5" fmla="*/ 0 h 135"/>
                    <a:gd name="T6" fmla="*/ 103 w 103"/>
                    <a:gd name="T7" fmla="*/ 135 h 135"/>
                    <a:gd name="T8" fmla="*/ 74 w 103"/>
                    <a:gd name="T9" fmla="*/ 127 h 135"/>
                  </a:gdLst>
                  <a:ahLst/>
                  <a:cxnLst>
                    <a:cxn ang="0">
                      <a:pos x="T0" y="T1"/>
                    </a:cxn>
                    <a:cxn ang="0">
                      <a:pos x="T2" y="T3"/>
                    </a:cxn>
                    <a:cxn ang="0">
                      <a:pos x="T4" y="T5"/>
                    </a:cxn>
                    <a:cxn ang="0">
                      <a:pos x="T6" y="T7"/>
                    </a:cxn>
                    <a:cxn ang="0">
                      <a:pos x="T8" y="T9"/>
                    </a:cxn>
                  </a:cxnLst>
                  <a:rect l="0" t="0" r="r" b="b"/>
                  <a:pathLst>
                    <a:path w="103" h="135">
                      <a:moveTo>
                        <a:pt x="74" y="127"/>
                      </a:moveTo>
                      <a:lnTo>
                        <a:pt x="0" y="0"/>
                      </a:lnTo>
                      <a:lnTo>
                        <a:pt x="26" y="0"/>
                      </a:lnTo>
                      <a:lnTo>
                        <a:pt x="103" y="135"/>
                      </a:lnTo>
                      <a:lnTo>
                        <a:pt x="74" y="12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94" name="Freeform 4782"/>
                <p:cNvSpPr>
                  <a:spLocks noChangeAspect="1"/>
                </p:cNvSpPr>
                <p:nvPr/>
              </p:nvSpPr>
              <p:spPr bwMode="auto">
                <a:xfrm>
                  <a:off x="3398" y="3878"/>
                  <a:ext cx="35" cy="46"/>
                </a:xfrm>
                <a:custGeom>
                  <a:avLst/>
                  <a:gdLst>
                    <a:gd name="T0" fmla="*/ 75 w 106"/>
                    <a:gd name="T1" fmla="*/ 131 h 140"/>
                    <a:gd name="T2" fmla="*/ 0 w 106"/>
                    <a:gd name="T3" fmla="*/ 0 h 140"/>
                    <a:gd name="T4" fmla="*/ 24 w 106"/>
                    <a:gd name="T5" fmla="*/ 0 h 140"/>
                    <a:gd name="T6" fmla="*/ 106 w 106"/>
                    <a:gd name="T7" fmla="*/ 140 h 140"/>
                    <a:gd name="T8" fmla="*/ 75 w 106"/>
                    <a:gd name="T9" fmla="*/ 131 h 140"/>
                  </a:gdLst>
                  <a:ahLst/>
                  <a:cxnLst>
                    <a:cxn ang="0">
                      <a:pos x="T0" y="T1"/>
                    </a:cxn>
                    <a:cxn ang="0">
                      <a:pos x="T2" y="T3"/>
                    </a:cxn>
                    <a:cxn ang="0">
                      <a:pos x="T4" y="T5"/>
                    </a:cxn>
                    <a:cxn ang="0">
                      <a:pos x="T6" y="T7"/>
                    </a:cxn>
                    <a:cxn ang="0">
                      <a:pos x="T8" y="T9"/>
                    </a:cxn>
                  </a:cxnLst>
                  <a:rect l="0" t="0" r="r" b="b"/>
                  <a:pathLst>
                    <a:path w="106" h="140">
                      <a:moveTo>
                        <a:pt x="75" y="131"/>
                      </a:moveTo>
                      <a:lnTo>
                        <a:pt x="0" y="0"/>
                      </a:lnTo>
                      <a:lnTo>
                        <a:pt x="24" y="0"/>
                      </a:lnTo>
                      <a:lnTo>
                        <a:pt x="106" y="140"/>
                      </a:lnTo>
                      <a:lnTo>
                        <a:pt x="75" y="13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95" name="Freeform 4783"/>
                <p:cNvSpPr>
                  <a:spLocks noChangeAspect="1"/>
                </p:cNvSpPr>
                <p:nvPr/>
              </p:nvSpPr>
              <p:spPr bwMode="auto">
                <a:xfrm>
                  <a:off x="3402" y="3878"/>
                  <a:ext cx="36" cy="48"/>
                </a:xfrm>
                <a:custGeom>
                  <a:avLst/>
                  <a:gdLst>
                    <a:gd name="T0" fmla="*/ 77 w 108"/>
                    <a:gd name="T1" fmla="*/ 135 h 145"/>
                    <a:gd name="T2" fmla="*/ 0 w 108"/>
                    <a:gd name="T3" fmla="*/ 0 h 145"/>
                    <a:gd name="T4" fmla="*/ 24 w 108"/>
                    <a:gd name="T5" fmla="*/ 0 h 145"/>
                    <a:gd name="T6" fmla="*/ 108 w 108"/>
                    <a:gd name="T7" fmla="*/ 145 h 145"/>
                    <a:gd name="T8" fmla="*/ 77 w 108"/>
                    <a:gd name="T9" fmla="*/ 135 h 145"/>
                  </a:gdLst>
                  <a:ahLst/>
                  <a:cxnLst>
                    <a:cxn ang="0">
                      <a:pos x="T0" y="T1"/>
                    </a:cxn>
                    <a:cxn ang="0">
                      <a:pos x="T2" y="T3"/>
                    </a:cxn>
                    <a:cxn ang="0">
                      <a:pos x="T4" y="T5"/>
                    </a:cxn>
                    <a:cxn ang="0">
                      <a:pos x="T6" y="T7"/>
                    </a:cxn>
                    <a:cxn ang="0">
                      <a:pos x="T8" y="T9"/>
                    </a:cxn>
                  </a:cxnLst>
                  <a:rect l="0" t="0" r="r" b="b"/>
                  <a:pathLst>
                    <a:path w="108" h="145">
                      <a:moveTo>
                        <a:pt x="77" y="135"/>
                      </a:moveTo>
                      <a:lnTo>
                        <a:pt x="0" y="0"/>
                      </a:lnTo>
                      <a:lnTo>
                        <a:pt x="24" y="0"/>
                      </a:lnTo>
                      <a:lnTo>
                        <a:pt x="108" y="145"/>
                      </a:lnTo>
                      <a:lnTo>
                        <a:pt x="77" y="13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96" name="Freeform 4784"/>
                <p:cNvSpPr>
                  <a:spLocks noChangeAspect="1"/>
                </p:cNvSpPr>
                <p:nvPr/>
              </p:nvSpPr>
              <p:spPr bwMode="auto">
                <a:xfrm>
                  <a:off x="3406" y="3878"/>
                  <a:ext cx="37" cy="50"/>
                </a:xfrm>
                <a:custGeom>
                  <a:avLst/>
                  <a:gdLst>
                    <a:gd name="T0" fmla="*/ 82 w 112"/>
                    <a:gd name="T1" fmla="*/ 140 h 150"/>
                    <a:gd name="T2" fmla="*/ 0 w 112"/>
                    <a:gd name="T3" fmla="*/ 0 h 150"/>
                    <a:gd name="T4" fmla="*/ 26 w 112"/>
                    <a:gd name="T5" fmla="*/ 0 h 150"/>
                    <a:gd name="T6" fmla="*/ 112 w 112"/>
                    <a:gd name="T7" fmla="*/ 150 h 150"/>
                    <a:gd name="T8" fmla="*/ 82 w 112"/>
                    <a:gd name="T9" fmla="*/ 140 h 150"/>
                  </a:gdLst>
                  <a:ahLst/>
                  <a:cxnLst>
                    <a:cxn ang="0">
                      <a:pos x="T0" y="T1"/>
                    </a:cxn>
                    <a:cxn ang="0">
                      <a:pos x="T2" y="T3"/>
                    </a:cxn>
                    <a:cxn ang="0">
                      <a:pos x="T4" y="T5"/>
                    </a:cxn>
                    <a:cxn ang="0">
                      <a:pos x="T6" y="T7"/>
                    </a:cxn>
                    <a:cxn ang="0">
                      <a:pos x="T8" y="T9"/>
                    </a:cxn>
                  </a:cxnLst>
                  <a:rect l="0" t="0" r="r" b="b"/>
                  <a:pathLst>
                    <a:path w="112" h="150">
                      <a:moveTo>
                        <a:pt x="82" y="140"/>
                      </a:moveTo>
                      <a:lnTo>
                        <a:pt x="0" y="0"/>
                      </a:lnTo>
                      <a:lnTo>
                        <a:pt x="26" y="0"/>
                      </a:lnTo>
                      <a:lnTo>
                        <a:pt x="112" y="150"/>
                      </a:lnTo>
                      <a:lnTo>
                        <a:pt x="82" y="14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97" name="Freeform 4785"/>
                <p:cNvSpPr>
                  <a:spLocks noChangeAspect="1"/>
                </p:cNvSpPr>
                <p:nvPr/>
              </p:nvSpPr>
              <p:spPr bwMode="auto">
                <a:xfrm>
                  <a:off x="3410" y="3878"/>
                  <a:ext cx="38" cy="51"/>
                </a:xfrm>
                <a:custGeom>
                  <a:avLst/>
                  <a:gdLst>
                    <a:gd name="T0" fmla="*/ 84 w 114"/>
                    <a:gd name="T1" fmla="*/ 145 h 154"/>
                    <a:gd name="T2" fmla="*/ 0 w 114"/>
                    <a:gd name="T3" fmla="*/ 0 h 154"/>
                    <a:gd name="T4" fmla="*/ 26 w 114"/>
                    <a:gd name="T5" fmla="*/ 0 h 154"/>
                    <a:gd name="T6" fmla="*/ 114 w 114"/>
                    <a:gd name="T7" fmla="*/ 154 h 154"/>
                    <a:gd name="T8" fmla="*/ 84 w 114"/>
                    <a:gd name="T9" fmla="*/ 145 h 154"/>
                  </a:gdLst>
                  <a:ahLst/>
                  <a:cxnLst>
                    <a:cxn ang="0">
                      <a:pos x="T0" y="T1"/>
                    </a:cxn>
                    <a:cxn ang="0">
                      <a:pos x="T2" y="T3"/>
                    </a:cxn>
                    <a:cxn ang="0">
                      <a:pos x="T4" y="T5"/>
                    </a:cxn>
                    <a:cxn ang="0">
                      <a:pos x="T6" y="T7"/>
                    </a:cxn>
                    <a:cxn ang="0">
                      <a:pos x="T8" y="T9"/>
                    </a:cxn>
                  </a:cxnLst>
                  <a:rect l="0" t="0" r="r" b="b"/>
                  <a:pathLst>
                    <a:path w="114" h="154">
                      <a:moveTo>
                        <a:pt x="84" y="145"/>
                      </a:moveTo>
                      <a:lnTo>
                        <a:pt x="0" y="0"/>
                      </a:lnTo>
                      <a:lnTo>
                        <a:pt x="26" y="0"/>
                      </a:lnTo>
                      <a:lnTo>
                        <a:pt x="114" y="154"/>
                      </a:lnTo>
                      <a:lnTo>
                        <a:pt x="84" y="14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98" name="Freeform 4786"/>
                <p:cNvSpPr>
                  <a:spLocks noChangeAspect="1"/>
                </p:cNvSpPr>
                <p:nvPr/>
              </p:nvSpPr>
              <p:spPr bwMode="auto">
                <a:xfrm>
                  <a:off x="3415" y="3878"/>
                  <a:ext cx="39" cy="52"/>
                </a:xfrm>
                <a:custGeom>
                  <a:avLst/>
                  <a:gdLst>
                    <a:gd name="T0" fmla="*/ 86 w 117"/>
                    <a:gd name="T1" fmla="*/ 150 h 158"/>
                    <a:gd name="T2" fmla="*/ 0 w 117"/>
                    <a:gd name="T3" fmla="*/ 0 h 158"/>
                    <a:gd name="T4" fmla="*/ 25 w 117"/>
                    <a:gd name="T5" fmla="*/ 0 h 158"/>
                    <a:gd name="T6" fmla="*/ 117 w 117"/>
                    <a:gd name="T7" fmla="*/ 158 h 158"/>
                    <a:gd name="T8" fmla="*/ 86 w 117"/>
                    <a:gd name="T9" fmla="*/ 150 h 158"/>
                  </a:gdLst>
                  <a:ahLst/>
                  <a:cxnLst>
                    <a:cxn ang="0">
                      <a:pos x="T0" y="T1"/>
                    </a:cxn>
                    <a:cxn ang="0">
                      <a:pos x="T2" y="T3"/>
                    </a:cxn>
                    <a:cxn ang="0">
                      <a:pos x="T4" y="T5"/>
                    </a:cxn>
                    <a:cxn ang="0">
                      <a:pos x="T6" y="T7"/>
                    </a:cxn>
                    <a:cxn ang="0">
                      <a:pos x="T8" y="T9"/>
                    </a:cxn>
                  </a:cxnLst>
                  <a:rect l="0" t="0" r="r" b="b"/>
                  <a:pathLst>
                    <a:path w="117" h="158">
                      <a:moveTo>
                        <a:pt x="86" y="150"/>
                      </a:moveTo>
                      <a:lnTo>
                        <a:pt x="0" y="0"/>
                      </a:lnTo>
                      <a:lnTo>
                        <a:pt x="25" y="0"/>
                      </a:lnTo>
                      <a:lnTo>
                        <a:pt x="117" y="158"/>
                      </a:lnTo>
                      <a:lnTo>
                        <a:pt x="86" y="15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299" name="Freeform 4787"/>
                <p:cNvSpPr>
                  <a:spLocks noChangeAspect="1"/>
                </p:cNvSpPr>
                <p:nvPr/>
              </p:nvSpPr>
              <p:spPr bwMode="auto">
                <a:xfrm>
                  <a:off x="3419" y="3878"/>
                  <a:ext cx="36" cy="53"/>
                </a:xfrm>
                <a:custGeom>
                  <a:avLst/>
                  <a:gdLst>
                    <a:gd name="T0" fmla="*/ 88 w 108"/>
                    <a:gd name="T1" fmla="*/ 154 h 161"/>
                    <a:gd name="T2" fmla="*/ 0 w 108"/>
                    <a:gd name="T3" fmla="*/ 0 h 161"/>
                    <a:gd name="T4" fmla="*/ 24 w 108"/>
                    <a:gd name="T5" fmla="*/ 0 h 161"/>
                    <a:gd name="T6" fmla="*/ 108 w 108"/>
                    <a:gd name="T7" fmla="*/ 146 h 161"/>
                    <a:gd name="T8" fmla="*/ 108 w 108"/>
                    <a:gd name="T9" fmla="*/ 161 h 161"/>
                    <a:gd name="T10" fmla="*/ 108 w 108"/>
                    <a:gd name="T11" fmla="*/ 161 h 161"/>
                    <a:gd name="T12" fmla="*/ 88 w 108"/>
                    <a:gd name="T13" fmla="*/ 154 h 161"/>
                  </a:gdLst>
                  <a:ahLst/>
                  <a:cxnLst>
                    <a:cxn ang="0">
                      <a:pos x="T0" y="T1"/>
                    </a:cxn>
                    <a:cxn ang="0">
                      <a:pos x="T2" y="T3"/>
                    </a:cxn>
                    <a:cxn ang="0">
                      <a:pos x="T4" y="T5"/>
                    </a:cxn>
                    <a:cxn ang="0">
                      <a:pos x="T6" y="T7"/>
                    </a:cxn>
                    <a:cxn ang="0">
                      <a:pos x="T8" y="T9"/>
                    </a:cxn>
                    <a:cxn ang="0">
                      <a:pos x="T10" y="T11"/>
                    </a:cxn>
                    <a:cxn ang="0">
                      <a:pos x="T12" y="T13"/>
                    </a:cxn>
                  </a:cxnLst>
                  <a:rect l="0" t="0" r="r" b="b"/>
                  <a:pathLst>
                    <a:path w="108" h="161">
                      <a:moveTo>
                        <a:pt x="88" y="154"/>
                      </a:moveTo>
                      <a:lnTo>
                        <a:pt x="0" y="0"/>
                      </a:lnTo>
                      <a:lnTo>
                        <a:pt x="24" y="0"/>
                      </a:lnTo>
                      <a:lnTo>
                        <a:pt x="108" y="146"/>
                      </a:lnTo>
                      <a:lnTo>
                        <a:pt x="108" y="161"/>
                      </a:lnTo>
                      <a:lnTo>
                        <a:pt x="108" y="161"/>
                      </a:lnTo>
                      <a:lnTo>
                        <a:pt x="88" y="15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00" name="Freeform 4788"/>
                <p:cNvSpPr>
                  <a:spLocks noChangeAspect="1"/>
                </p:cNvSpPr>
                <p:nvPr/>
              </p:nvSpPr>
              <p:spPr bwMode="auto">
                <a:xfrm>
                  <a:off x="3423" y="3878"/>
                  <a:ext cx="32" cy="53"/>
                </a:xfrm>
                <a:custGeom>
                  <a:avLst/>
                  <a:gdLst>
                    <a:gd name="T0" fmla="*/ 92 w 96"/>
                    <a:gd name="T1" fmla="*/ 158 h 161"/>
                    <a:gd name="T2" fmla="*/ 0 w 96"/>
                    <a:gd name="T3" fmla="*/ 0 h 161"/>
                    <a:gd name="T4" fmla="*/ 25 w 96"/>
                    <a:gd name="T5" fmla="*/ 0 h 161"/>
                    <a:gd name="T6" fmla="*/ 96 w 96"/>
                    <a:gd name="T7" fmla="*/ 123 h 161"/>
                    <a:gd name="T8" fmla="*/ 96 w 96"/>
                    <a:gd name="T9" fmla="*/ 161 h 161"/>
                    <a:gd name="T10" fmla="*/ 96 w 96"/>
                    <a:gd name="T11" fmla="*/ 161 h 161"/>
                    <a:gd name="T12" fmla="*/ 92 w 96"/>
                    <a:gd name="T13" fmla="*/ 158 h 161"/>
                  </a:gdLst>
                  <a:ahLst/>
                  <a:cxnLst>
                    <a:cxn ang="0">
                      <a:pos x="T0" y="T1"/>
                    </a:cxn>
                    <a:cxn ang="0">
                      <a:pos x="T2" y="T3"/>
                    </a:cxn>
                    <a:cxn ang="0">
                      <a:pos x="T4" y="T5"/>
                    </a:cxn>
                    <a:cxn ang="0">
                      <a:pos x="T6" y="T7"/>
                    </a:cxn>
                    <a:cxn ang="0">
                      <a:pos x="T8" y="T9"/>
                    </a:cxn>
                    <a:cxn ang="0">
                      <a:pos x="T10" y="T11"/>
                    </a:cxn>
                    <a:cxn ang="0">
                      <a:pos x="T12" y="T13"/>
                    </a:cxn>
                  </a:cxnLst>
                  <a:rect l="0" t="0" r="r" b="b"/>
                  <a:pathLst>
                    <a:path w="96" h="161">
                      <a:moveTo>
                        <a:pt x="92" y="158"/>
                      </a:moveTo>
                      <a:lnTo>
                        <a:pt x="0" y="0"/>
                      </a:lnTo>
                      <a:lnTo>
                        <a:pt x="25" y="0"/>
                      </a:lnTo>
                      <a:lnTo>
                        <a:pt x="96" y="123"/>
                      </a:lnTo>
                      <a:lnTo>
                        <a:pt x="96" y="161"/>
                      </a:lnTo>
                      <a:lnTo>
                        <a:pt x="96" y="161"/>
                      </a:lnTo>
                      <a:lnTo>
                        <a:pt x="92" y="15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01" name="Freeform 4789"/>
                <p:cNvSpPr>
                  <a:spLocks noChangeAspect="1"/>
                </p:cNvSpPr>
                <p:nvPr/>
              </p:nvSpPr>
              <p:spPr bwMode="auto">
                <a:xfrm>
                  <a:off x="3427" y="3878"/>
                  <a:ext cx="28" cy="48"/>
                </a:xfrm>
                <a:custGeom>
                  <a:avLst/>
                  <a:gdLst>
                    <a:gd name="T0" fmla="*/ 84 w 84"/>
                    <a:gd name="T1" fmla="*/ 146 h 146"/>
                    <a:gd name="T2" fmla="*/ 0 w 84"/>
                    <a:gd name="T3" fmla="*/ 0 h 146"/>
                    <a:gd name="T4" fmla="*/ 26 w 84"/>
                    <a:gd name="T5" fmla="*/ 0 h 146"/>
                    <a:gd name="T6" fmla="*/ 84 w 84"/>
                    <a:gd name="T7" fmla="*/ 102 h 146"/>
                    <a:gd name="T8" fmla="*/ 84 w 84"/>
                    <a:gd name="T9" fmla="*/ 146 h 146"/>
                  </a:gdLst>
                  <a:ahLst/>
                  <a:cxnLst>
                    <a:cxn ang="0">
                      <a:pos x="T0" y="T1"/>
                    </a:cxn>
                    <a:cxn ang="0">
                      <a:pos x="T2" y="T3"/>
                    </a:cxn>
                    <a:cxn ang="0">
                      <a:pos x="T4" y="T5"/>
                    </a:cxn>
                    <a:cxn ang="0">
                      <a:pos x="T6" y="T7"/>
                    </a:cxn>
                    <a:cxn ang="0">
                      <a:pos x="T8" y="T9"/>
                    </a:cxn>
                  </a:cxnLst>
                  <a:rect l="0" t="0" r="r" b="b"/>
                  <a:pathLst>
                    <a:path w="84" h="146">
                      <a:moveTo>
                        <a:pt x="84" y="146"/>
                      </a:moveTo>
                      <a:lnTo>
                        <a:pt x="0" y="0"/>
                      </a:lnTo>
                      <a:lnTo>
                        <a:pt x="26" y="0"/>
                      </a:lnTo>
                      <a:lnTo>
                        <a:pt x="84" y="102"/>
                      </a:lnTo>
                      <a:lnTo>
                        <a:pt x="84" y="14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02" name="Freeform 4790"/>
                <p:cNvSpPr>
                  <a:spLocks noChangeAspect="1"/>
                </p:cNvSpPr>
                <p:nvPr/>
              </p:nvSpPr>
              <p:spPr bwMode="auto">
                <a:xfrm>
                  <a:off x="3431" y="3878"/>
                  <a:ext cx="24" cy="41"/>
                </a:xfrm>
                <a:custGeom>
                  <a:avLst/>
                  <a:gdLst>
                    <a:gd name="T0" fmla="*/ 71 w 71"/>
                    <a:gd name="T1" fmla="*/ 123 h 123"/>
                    <a:gd name="T2" fmla="*/ 0 w 71"/>
                    <a:gd name="T3" fmla="*/ 0 h 123"/>
                    <a:gd name="T4" fmla="*/ 25 w 71"/>
                    <a:gd name="T5" fmla="*/ 0 h 123"/>
                    <a:gd name="T6" fmla="*/ 71 w 71"/>
                    <a:gd name="T7" fmla="*/ 80 h 123"/>
                    <a:gd name="T8" fmla="*/ 71 w 71"/>
                    <a:gd name="T9" fmla="*/ 123 h 123"/>
                  </a:gdLst>
                  <a:ahLst/>
                  <a:cxnLst>
                    <a:cxn ang="0">
                      <a:pos x="T0" y="T1"/>
                    </a:cxn>
                    <a:cxn ang="0">
                      <a:pos x="T2" y="T3"/>
                    </a:cxn>
                    <a:cxn ang="0">
                      <a:pos x="T4" y="T5"/>
                    </a:cxn>
                    <a:cxn ang="0">
                      <a:pos x="T6" y="T7"/>
                    </a:cxn>
                    <a:cxn ang="0">
                      <a:pos x="T8" y="T9"/>
                    </a:cxn>
                  </a:cxnLst>
                  <a:rect l="0" t="0" r="r" b="b"/>
                  <a:pathLst>
                    <a:path w="71" h="123">
                      <a:moveTo>
                        <a:pt x="71" y="123"/>
                      </a:moveTo>
                      <a:lnTo>
                        <a:pt x="0" y="0"/>
                      </a:lnTo>
                      <a:lnTo>
                        <a:pt x="25" y="0"/>
                      </a:lnTo>
                      <a:lnTo>
                        <a:pt x="71" y="80"/>
                      </a:lnTo>
                      <a:lnTo>
                        <a:pt x="71" y="12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03" name="Freeform 4791"/>
                <p:cNvSpPr>
                  <a:spLocks noChangeAspect="1"/>
                </p:cNvSpPr>
                <p:nvPr/>
              </p:nvSpPr>
              <p:spPr bwMode="auto">
                <a:xfrm>
                  <a:off x="3436" y="3878"/>
                  <a:ext cx="19" cy="34"/>
                </a:xfrm>
                <a:custGeom>
                  <a:avLst/>
                  <a:gdLst>
                    <a:gd name="T0" fmla="*/ 58 w 58"/>
                    <a:gd name="T1" fmla="*/ 102 h 102"/>
                    <a:gd name="T2" fmla="*/ 0 w 58"/>
                    <a:gd name="T3" fmla="*/ 0 h 102"/>
                    <a:gd name="T4" fmla="*/ 24 w 58"/>
                    <a:gd name="T5" fmla="*/ 0 h 102"/>
                    <a:gd name="T6" fmla="*/ 58 w 58"/>
                    <a:gd name="T7" fmla="*/ 59 h 102"/>
                    <a:gd name="T8" fmla="*/ 58 w 58"/>
                    <a:gd name="T9" fmla="*/ 102 h 102"/>
                  </a:gdLst>
                  <a:ahLst/>
                  <a:cxnLst>
                    <a:cxn ang="0">
                      <a:pos x="T0" y="T1"/>
                    </a:cxn>
                    <a:cxn ang="0">
                      <a:pos x="T2" y="T3"/>
                    </a:cxn>
                    <a:cxn ang="0">
                      <a:pos x="T4" y="T5"/>
                    </a:cxn>
                    <a:cxn ang="0">
                      <a:pos x="T6" y="T7"/>
                    </a:cxn>
                    <a:cxn ang="0">
                      <a:pos x="T8" y="T9"/>
                    </a:cxn>
                  </a:cxnLst>
                  <a:rect l="0" t="0" r="r" b="b"/>
                  <a:pathLst>
                    <a:path w="58" h="102">
                      <a:moveTo>
                        <a:pt x="58" y="102"/>
                      </a:moveTo>
                      <a:lnTo>
                        <a:pt x="0" y="0"/>
                      </a:lnTo>
                      <a:lnTo>
                        <a:pt x="24" y="0"/>
                      </a:lnTo>
                      <a:lnTo>
                        <a:pt x="58" y="59"/>
                      </a:lnTo>
                      <a:lnTo>
                        <a:pt x="58" y="10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04" name="Freeform 4792"/>
                <p:cNvSpPr>
                  <a:spLocks noChangeAspect="1"/>
                </p:cNvSpPr>
                <p:nvPr/>
              </p:nvSpPr>
              <p:spPr bwMode="auto">
                <a:xfrm>
                  <a:off x="3440" y="3878"/>
                  <a:ext cx="15" cy="26"/>
                </a:xfrm>
                <a:custGeom>
                  <a:avLst/>
                  <a:gdLst>
                    <a:gd name="T0" fmla="*/ 46 w 46"/>
                    <a:gd name="T1" fmla="*/ 80 h 80"/>
                    <a:gd name="T2" fmla="*/ 0 w 46"/>
                    <a:gd name="T3" fmla="*/ 0 h 80"/>
                    <a:gd name="T4" fmla="*/ 25 w 46"/>
                    <a:gd name="T5" fmla="*/ 0 h 80"/>
                    <a:gd name="T6" fmla="*/ 46 w 46"/>
                    <a:gd name="T7" fmla="*/ 36 h 80"/>
                    <a:gd name="T8" fmla="*/ 46 w 46"/>
                    <a:gd name="T9" fmla="*/ 80 h 80"/>
                  </a:gdLst>
                  <a:ahLst/>
                  <a:cxnLst>
                    <a:cxn ang="0">
                      <a:pos x="T0" y="T1"/>
                    </a:cxn>
                    <a:cxn ang="0">
                      <a:pos x="T2" y="T3"/>
                    </a:cxn>
                    <a:cxn ang="0">
                      <a:pos x="T4" y="T5"/>
                    </a:cxn>
                    <a:cxn ang="0">
                      <a:pos x="T6" y="T7"/>
                    </a:cxn>
                    <a:cxn ang="0">
                      <a:pos x="T8" y="T9"/>
                    </a:cxn>
                  </a:cxnLst>
                  <a:rect l="0" t="0" r="r" b="b"/>
                  <a:pathLst>
                    <a:path w="46" h="80">
                      <a:moveTo>
                        <a:pt x="46" y="80"/>
                      </a:moveTo>
                      <a:lnTo>
                        <a:pt x="0" y="0"/>
                      </a:lnTo>
                      <a:lnTo>
                        <a:pt x="25" y="0"/>
                      </a:lnTo>
                      <a:lnTo>
                        <a:pt x="46" y="36"/>
                      </a:lnTo>
                      <a:lnTo>
                        <a:pt x="46" y="8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05" name="Freeform 4793"/>
                <p:cNvSpPr>
                  <a:spLocks noChangeAspect="1"/>
                </p:cNvSpPr>
                <p:nvPr/>
              </p:nvSpPr>
              <p:spPr bwMode="auto">
                <a:xfrm>
                  <a:off x="3444" y="3878"/>
                  <a:ext cx="11" cy="19"/>
                </a:xfrm>
                <a:custGeom>
                  <a:avLst/>
                  <a:gdLst>
                    <a:gd name="T0" fmla="*/ 34 w 34"/>
                    <a:gd name="T1" fmla="*/ 59 h 59"/>
                    <a:gd name="T2" fmla="*/ 0 w 34"/>
                    <a:gd name="T3" fmla="*/ 0 h 59"/>
                    <a:gd name="T4" fmla="*/ 26 w 34"/>
                    <a:gd name="T5" fmla="*/ 0 h 59"/>
                    <a:gd name="T6" fmla="*/ 34 w 34"/>
                    <a:gd name="T7" fmla="*/ 15 h 59"/>
                    <a:gd name="T8" fmla="*/ 34 w 34"/>
                    <a:gd name="T9" fmla="*/ 59 h 59"/>
                  </a:gdLst>
                  <a:ahLst/>
                  <a:cxnLst>
                    <a:cxn ang="0">
                      <a:pos x="T0" y="T1"/>
                    </a:cxn>
                    <a:cxn ang="0">
                      <a:pos x="T2" y="T3"/>
                    </a:cxn>
                    <a:cxn ang="0">
                      <a:pos x="T4" y="T5"/>
                    </a:cxn>
                    <a:cxn ang="0">
                      <a:pos x="T6" y="T7"/>
                    </a:cxn>
                    <a:cxn ang="0">
                      <a:pos x="T8" y="T9"/>
                    </a:cxn>
                  </a:cxnLst>
                  <a:rect l="0" t="0" r="r" b="b"/>
                  <a:pathLst>
                    <a:path w="34" h="59">
                      <a:moveTo>
                        <a:pt x="34" y="59"/>
                      </a:moveTo>
                      <a:lnTo>
                        <a:pt x="0" y="0"/>
                      </a:lnTo>
                      <a:lnTo>
                        <a:pt x="26" y="0"/>
                      </a:lnTo>
                      <a:lnTo>
                        <a:pt x="34" y="15"/>
                      </a:lnTo>
                      <a:lnTo>
                        <a:pt x="34" y="5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06" name="Freeform 4794"/>
                <p:cNvSpPr>
                  <a:spLocks noChangeAspect="1"/>
                </p:cNvSpPr>
                <p:nvPr/>
              </p:nvSpPr>
              <p:spPr bwMode="auto">
                <a:xfrm>
                  <a:off x="3448" y="3878"/>
                  <a:ext cx="7" cy="12"/>
                </a:xfrm>
                <a:custGeom>
                  <a:avLst/>
                  <a:gdLst>
                    <a:gd name="T0" fmla="*/ 21 w 21"/>
                    <a:gd name="T1" fmla="*/ 36 h 36"/>
                    <a:gd name="T2" fmla="*/ 0 w 21"/>
                    <a:gd name="T3" fmla="*/ 0 h 36"/>
                    <a:gd name="T4" fmla="*/ 21 w 21"/>
                    <a:gd name="T5" fmla="*/ 0 h 36"/>
                    <a:gd name="T6" fmla="*/ 21 w 21"/>
                    <a:gd name="T7" fmla="*/ 36 h 36"/>
                  </a:gdLst>
                  <a:ahLst/>
                  <a:cxnLst>
                    <a:cxn ang="0">
                      <a:pos x="T0" y="T1"/>
                    </a:cxn>
                    <a:cxn ang="0">
                      <a:pos x="T2" y="T3"/>
                    </a:cxn>
                    <a:cxn ang="0">
                      <a:pos x="T4" y="T5"/>
                    </a:cxn>
                    <a:cxn ang="0">
                      <a:pos x="T6" y="T7"/>
                    </a:cxn>
                  </a:cxnLst>
                  <a:rect l="0" t="0" r="r" b="b"/>
                  <a:pathLst>
                    <a:path w="21" h="36">
                      <a:moveTo>
                        <a:pt x="21" y="36"/>
                      </a:moveTo>
                      <a:lnTo>
                        <a:pt x="0" y="0"/>
                      </a:lnTo>
                      <a:lnTo>
                        <a:pt x="21" y="0"/>
                      </a:lnTo>
                      <a:lnTo>
                        <a:pt x="21" y="3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07" name="Freeform 4795"/>
                <p:cNvSpPr>
                  <a:spLocks noChangeAspect="1"/>
                </p:cNvSpPr>
                <p:nvPr/>
              </p:nvSpPr>
              <p:spPr bwMode="auto">
                <a:xfrm>
                  <a:off x="3452" y="3878"/>
                  <a:ext cx="3" cy="5"/>
                </a:xfrm>
                <a:custGeom>
                  <a:avLst/>
                  <a:gdLst>
                    <a:gd name="T0" fmla="*/ 8 w 8"/>
                    <a:gd name="T1" fmla="*/ 15 h 15"/>
                    <a:gd name="T2" fmla="*/ 0 w 8"/>
                    <a:gd name="T3" fmla="*/ 0 h 15"/>
                    <a:gd name="T4" fmla="*/ 8 w 8"/>
                    <a:gd name="T5" fmla="*/ 0 h 15"/>
                    <a:gd name="T6" fmla="*/ 8 w 8"/>
                    <a:gd name="T7" fmla="*/ 15 h 15"/>
                  </a:gdLst>
                  <a:ahLst/>
                  <a:cxnLst>
                    <a:cxn ang="0">
                      <a:pos x="T0" y="T1"/>
                    </a:cxn>
                    <a:cxn ang="0">
                      <a:pos x="T2" y="T3"/>
                    </a:cxn>
                    <a:cxn ang="0">
                      <a:pos x="T4" y="T5"/>
                    </a:cxn>
                    <a:cxn ang="0">
                      <a:pos x="T6" y="T7"/>
                    </a:cxn>
                  </a:cxnLst>
                  <a:rect l="0" t="0" r="r" b="b"/>
                  <a:pathLst>
                    <a:path w="8" h="15">
                      <a:moveTo>
                        <a:pt x="8" y="15"/>
                      </a:moveTo>
                      <a:lnTo>
                        <a:pt x="0" y="0"/>
                      </a:lnTo>
                      <a:lnTo>
                        <a:pt x="8" y="0"/>
                      </a:lnTo>
                      <a:lnTo>
                        <a:pt x="8" y="1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08" name="Freeform 4796"/>
                <p:cNvSpPr>
                  <a:spLocks noChangeAspect="1"/>
                </p:cNvSpPr>
                <p:nvPr/>
              </p:nvSpPr>
              <p:spPr bwMode="auto">
                <a:xfrm>
                  <a:off x="3279" y="3878"/>
                  <a:ext cx="176" cy="53"/>
                </a:xfrm>
                <a:custGeom>
                  <a:avLst/>
                  <a:gdLst>
                    <a:gd name="T0" fmla="*/ 0 w 527"/>
                    <a:gd name="T1" fmla="*/ 0 h 161"/>
                    <a:gd name="T2" fmla="*/ 527 w 527"/>
                    <a:gd name="T3" fmla="*/ 161 h 161"/>
                    <a:gd name="T4" fmla="*/ 527 w 527"/>
                    <a:gd name="T5" fmla="*/ 0 h 161"/>
                    <a:gd name="T6" fmla="*/ 0 w 527"/>
                    <a:gd name="T7" fmla="*/ 0 h 161"/>
                  </a:gdLst>
                  <a:ahLst/>
                  <a:cxnLst>
                    <a:cxn ang="0">
                      <a:pos x="T0" y="T1"/>
                    </a:cxn>
                    <a:cxn ang="0">
                      <a:pos x="T2" y="T3"/>
                    </a:cxn>
                    <a:cxn ang="0">
                      <a:pos x="T4" y="T5"/>
                    </a:cxn>
                    <a:cxn ang="0">
                      <a:pos x="T6" y="T7"/>
                    </a:cxn>
                  </a:cxnLst>
                  <a:rect l="0" t="0" r="r" b="b"/>
                  <a:pathLst>
                    <a:path w="527" h="161">
                      <a:moveTo>
                        <a:pt x="0" y="0"/>
                      </a:moveTo>
                      <a:lnTo>
                        <a:pt x="527" y="161"/>
                      </a:lnTo>
                      <a:lnTo>
                        <a:pt x="527" y="0"/>
                      </a:lnTo>
                      <a:lnTo>
                        <a:pt x="0" y="0"/>
                      </a:lnTo>
                    </a:path>
                  </a:pathLst>
                </a:custGeom>
                <a:gradFill rotWithShape="0">
                  <a:gsLst>
                    <a:gs pos="0">
                      <a:schemeClr val="hlink"/>
                    </a:gs>
                    <a:gs pos="100000">
                      <a:schemeClr val="hlink">
                        <a:gamma/>
                        <a:tint val="40000"/>
                        <a:invGamma/>
                      </a:schemeClr>
                    </a:gs>
                  </a:gsLst>
                  <a:lin ang="0" scaled="1"/>
                </a:gradFill>
                <a:ln w="1588">
                  <a:solidFill>
                    <a:srgbClr val="1F1A17"/>
                  </a:solidFill>
                  <a:prstDash val="solid"/>
                  <a:round/>
                  <a:headEnd/>
                  <a:tailEnd/>
                </a:ln>
              </p:spPr>
              <p:txBody>
                <a:bodyPr/>
                <a:lstStyle/>
                <a:p>
                  <a:pPr>
                    <a:defRPr/>
                  </a:pPr>
                  <a:endParaRPr lang="en-US"/>
                </a:p>
              </p:txBody>
            </p:sp>
            <p:sp>
              <p:nvSpPr>
                <p:cNvPr id="69309" name="Freeform 4797"/>
                <p:cNvSpPr>
                  <a:spLocks noChangeAspect="1" noEditPoints="1"/>
                </p:cNvSpPr>
                <p:nvPr/>
              </p:nvSpPr>
              <p:spPr bwMode="auto">
                <a:xfrm>
                  <a:off x="3498" y="3333"/>
                  <a:ext cx="49" cy="48"/>
                </a:xfrm>
                <a:custGeom>
                  <a:avLst/>
                  <a:gdLst>
                    <a:gd name="T0" fmla="*/ 87 w 145"/>
                    <a:gd name="T1" fmla="*/ 1 h 145"/>
                    <a:gd name="T2" fmla="*/ 108 w 145"/>
                    <a:gd name="T3" fmla="*/ 8 h 145"/>
                    <a:gd name="T4" fmla="*/ 124 w 145"/>
                    <a:gd name="T5" fmla="*/ 21 h 145"/>
                    <a:gd name="T6" fmla="*/ 136 w 145"/>
                    <a:gd name="T7" fmla="*/ 38 h 145"/>
                    <a:gd name="T8" fmla="*/ 144 w 145"/>
                    <a:gd name="T9" fmla="*/ 58 h 145"/>
                    <a:gd name="T10" fmla="*/ 145 w 145"/>
                    <a:gd name="T11" fmla="*/ 80 h 145"/>
                    <a:gd name="T12" fmla="*/ 139 w 145"/>
                    <a:gd name="T13" fmla="*/ 101 h 145"/>
                    <a:gd name="T14" fmla="*/ 129 w 145"/>
                    <a:gd name="T15" fmla="*/ 119 h 145"/>
                    <a:gd name="T16" fmla="*/ 113 w 145"/>
                    <a:gd name="T17" fmla="*/ 133 h 145"/>
                    <a:gd name="T18" fmla="*/ 94 w 145"/>
                    <a:gd name="T19" fmla="*/ 141 h 145"/>
                    <a:gd name="T20" fmla="*/ 72 w 145"/>
                    <a:gd name="T21" fmla="*/ 145 h 145"/>
                    <a:gd name="T22" fmla="*/ 51 w 145"/>
                    <a:gd name="T23" fmla="*/ 141 h 145"/>
                    <a:gd name="T24" fmla="*/ 32 w 145"/>
                    <a:gd name="T25" fmla="*/ 133 h 145"/>
                    <a:gd name="T26" fmla="*/ 17 w 145"/>
                    <a:gd name="T27" fmla="*/ 119 h 145"/>
                    <a:gd name="T28" fmla="*/ 5 w 145"/>
                    <a:gd name="T29" fmla="*/ 101 h 145"/>
                    <a:gd name="T30" fmla="*/ 0 w 145"/>
                    <a:gd name="T31" fmla="*/ 80 h 145"/>
                    <a:gd name="T32" fmla="*/ 1 w 145"/>
                    <a:gd name="T33" fmla="*/ 58 h 145"/>
                    <a:gd name="T34" fmla="*/ 9 w 145"/>
                    <a:gd name="T35" fmla="*/ 38 h 145"/>
                    <a:gd name="T36" fmla="*/ 21 w 145"/>
                    <a:gd name="T37" fmla="*/ 21 h 145"/>
                    <a:gd name="T38" fmla="*/ 38 w 145"/>
                    <a:gd name="T39" fmla="*/ 8 h 145"/>
                    <a:gd name="T40" fmla="*/ 58 w 145"/>
                    <a:gd name="T41" fmla="*/ 1 h 145"/>
                    <a:gd name="T42" fmla="*/ 145 w 145"/>
                    <a:gd name="T43" fmla="*/ 72 h 145"/>
                    <a:gd name="T44" fmla="*/ 142 w 145"/>
                    <a:gd name="T45" fmla="*/ 94 h 145"/>
                    <a:gd name="T46" fmla="*/ 132 w 145"/>
                    <a:gd name="T47" fmla="*/ 113 h 145"/>
                    <a:gd name="T48" fmla="*/ 118 w 145"/>
                    <a:gd name="T49" fmla="*/ 128 h 145"/>
                    <a:gd name="T50" fmla="*/ 100 w 145"/>
                    <a:gd name="T51" fmla="*/ 138 h 145"/>
                    <a:gd name="T52" fmla="*/ 80 w 145"/>
                    <a:gd name="T53" fmla="*/ 143 h 145"/>
                    <a:gd name="T54" fmla="*/ 59 w 145"/>
                    <a:gd name="T55" fmla="*/ 142 h 145"/>
                    <a:gd name="T56" fmla="*/ 38 w 145"/>
                    <a:gd name="T57" fmla="*/ 136 h 145"/>
                    <a:gd name="T58" fmla="*/ 21 w 145"/>
                    <a:gd name="T59" fmla="*/ 123 h 145"/>
                    <a:gd name="T60" fmla="*/ 10 w 145"/>
                    <a:gd name="T61" fmla="*/ 106 h 145"/>
                    <a:gd name="T62" fmla="*/ 2 w 145"/>
                    <a:gd name="T63" fmla="*/ 87 h 145"/>
                    <a:gd name="T64" fmla="*/ 1 w 145"/>
                    <a:gd name="T65" fmla="*/ 65 h 145"/>
                    <a:gd name="T66" fmla="*/ 6 w 145"/>
                    <a:gd name="T67" fmla="*/ 45 h 145"/>
                    <a:gd name="T68" fmla="*/ 17 w 145"/>
                    <a:gd name="T69" fmla="*/ 27 h 145"/>
                    <a:gd name="T70" fmla="*/ 32 w 145"/>
                    <a:gd name="T71" fmla="*/ 13 h 145"/>
                    <a:gd name="T72" fmla="*/ 51 w 145"/>
                    <a:gd name="T73" fmla="*/ 4 h 145"/>
                    <a:gd name="T74" fmla="*/ 72 w 145"/>
                    <a:gd name="T75" fmla="*/ 1 h 145"/>
                    <a:gd name="T76" fmla="*/ 94 w 145"/>
                    <a:gd name="T77" fmla="*/ 4 h 145"/>
                    <a:gd name="T78" fmla="*/ 113 w 145"/>
                    <a:gd name="T79" fmla="*/ 13 h 145"/>
                    <a:gd name="T80" fmla="*/ 128 w 145"/>
                    <a:gd name="T81" fmla="*/ 27 h 145"/>
                    <a:gd name="T82" fmla="*/ 138 w 145"/>
                    <a:gd name="T83" fmla="*/ 45 h 145"/>
                    <a:gd name="T84" fmla="*/ 144 w 145"/>
                    <a:gd name="T85" fmla="*/ 6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5" h="145">
                      <a:moveTo>
                        <a:pt x="72" y="0"/>
                      </a:moveTo>
                      <a:lnTo>
                        <a:pt x="80" y="0"/>
                      </a:lnTo>
                      <a:lnTo>
                        <a:pt x="87" y="1"/>
                      </a:lnTo>
                      <a:lnTo>
                        <a:pt x="94" y="3"/>
                      </a:lnTo>
                      <a:lnTo>
                        <a:pt x="101" y="5"/>
                      </a:lnTo>
                      <a:lnTo>
                        <a:pt x="108" y="8"/>
                      </a:lnTo>
                      <a:lnTo>
                        <a:pt x="113" y="13"/>
                      </a:lnTo>
                      <a:lnTo>
                        <a:pt x="119" y="17"/>
                      </a:lnTo>
                      <a:lnTo>
                        <a:pt x="124" y="21"/>
                      </a:lnTo>
                      <a:lnTo>
                        <a:pt x="129" y="27"/>
                      </a:lnTo>
                      <a:lnTo>
                        <a:pt x="133" y="32"/>
                      </a:lnTo>
                      <a:lnTo>
                        <a:pt x="136" y="38"/>
                      </a:lnTo>
                      <a:lnTo>
                        <a:pt x="139" y="45"/>
                      </a:lnTo>
                      <a:lnTo>
                        <a:pt x="142" y="51"/>
                      </a:lnTo>
                      <a:lnTo>
                        <a:pt x="144" y="58"/>
                      </a:lnTo>
                      <a:lnTo>
                        <a:pt x="145" y="65"/>
                      </a:lnTo>
                      <a:lnTo>
                        <a:pt x="145" y="72"/>
                      </a:lnTo>
                      <a:lnTo>
                        <a:pt x="145" y="80"/>
                      </a:lnTo>
                      <a:lnTo>
                        <a:pt x="144" y="87"/>
                      </a:lnTo>
                      <a:lnTo>
                        <a:pt x="142" y="94"/>
                      </a:lnTo>
                      <a:lnTo>
                        <a:pt x="139" y="101"/>
                      </a:lnTo>
                      <a:lnTo>
                        <a:pt x="136" y="107"/>
                      </a:lnTo>
                      <a:lnTo>
                        <a:pt x="133" y="113"/>
                      </a:lnTo>
                      <a:lnTo>
                        <a:pt x="129" y="119"/>
                      </a:lnTo>
                      <a:lnTo>
                        <a:pt x="124" y="123"/>
                      </a:lnTo>
                      <a:lnTo>
                        <a:pt x="119" y="129"/>
                      </a:lnTo>
                      <a:lnTo>
                        <a:pt x="113" y="133"/>
                      </a:lnTo>
                      <a:lnTo>
                        <a:pt x="108" y="136"/>
                      </a:lnTo>
                      <a:lnTo>
                        <a:pt x="101" y="139"/>
                      </a:lnTo>
                      <a:lnTo>
                        <a:pt x="94" y="141"/>
                      </a:lnTo>
                      <a:lnTo>
                        <a:pt x="87" y="143"/>
                      </a:lnTo>
                      <a:lnTo>
                        <a:pt x="80" y="145"/>
                      </a:lnTo>
                      <a:lnTo>
                        <a:pt x="72" y="145"/>
                      </a:lnTo>
                      <a:lnTo>
                        <a:pt x="65" y="145"/>
                      </a:lnTo>
                      <a:lnTo>
                        <a:pt x="58" y="143"/>
                      </a:lnTo>
                      <a:lnTo>
                        <a:pt x="51" y="141"/>
                      </a:lnTo>
                      <a:lnTo>
                        <a:pt x="45" y="139"/>
                      </a:lnTo>
                      <a:lnTo>
                        <a:pt x="38" y="136"/>
                      </a:lnTo>
                      <a:lnTo>
                        <a:pt x="32" y="133"/>
                      </a:lnTo>
                      <a:lnTo>
                        <a:pt x="27" y="129"/>
                      </a:lnTo>
                      <a:lnTo>
                        <a:pt x="21" y="123"/>
                      </a:lnTo>
                      <a:lnTo>
                        <a:pt x="17" y="119"/>
                      </a:lnTo>
                      <a:lnTo>
                        <a:pt x="13" y="113"/>
                      </a:lnTo>
                      <a:lnTo>
                        <a:pt x="9" y="107"/>
                      </a:lnTo>
                      <a:lnTo>
                        <a:pt x="5" y="101"/>
                      </a:lnTo>
                      <a:lnTo>
                        <a:pt x="3" y="94"/>
                      </a:lnTo>
                      <a:lnTo>
                        <a:pt x="1" y="87"/>
                      </a:lnTo>
                      <a:lnTo>
                        <a:pt x="0" y="80"/>
                      </a:lnTo>
                      <a:lnTo>
                        <a:pt x="0" y="72"/>
                      </a:lnTo>
                      <a:lnTo>
                        <a:pt x="0" y="65"/>
                      </a:lnTo>
                      <a:lnTo>
                        <a:pt x="1" y="58"/>
                      </a:lnTo>
                      <a:lnTo>
                        <a:pt x="3" y="51"/>
                      </a:lnTo>
                      <a:lnTo>
                        <a:pt x="5" y="45"/>
                      </a:lnTo>
                      <a:lnTo>
                        <a:pt x="9" y="38"/>
                      </a:lnTo>
                      <a:lnTo>
                        <a:pt x="13" y="32"/>
                      </a:lnTo>
                      <a:lnTo>
                        <a:pt x="17" y="27"/>
                      </a:lnTo>
                      <a:lnTo>
                        <a:pt x="21" y="21"/>
                      </a:lnTo>
                      <a:lnTo>
                        <a:pt x="27" y="17"/>
                      </a:lnTo>
                      <a:lnTo>
                        <a:pt x="32" y="13"/>
                      </a:lnTo>
                      <a:lnTo>
                        <a:pt x="38" y="8"/>
                      </a:lnTo>
                      <a:lnTo>
                        <a:pt x="45" y="5"/>
                      </a:lnTo>
                      <a:lnTo>
                        <a:pt x="51" y="3"/>
                      </a:lnTo>
                      <a:lnTo>
                        <a:pt x="58" y="1"/>
                      </a:lnTo>
                      <a:lnTo>
                        <a:pt x="65" y="0"/>
                      </a:lnTo>
                      <a:lnTo>
                        <a:pt x="72" y="0"/>
                      </a:lnTo>
                      <a:close/>
                      <a:moveTo>
                        <a:pt x="145" y="72"/>
                      </a:moveTo>
                      <a:lnTo>
                        <a:pt x="144" y="80"/>
                      </a:lnTo>
                      <a:lnTo>
                        <a:pt x="143" y="87"/>
                      </a:lnTo>
                      <a:lnTo>
                        <a:pt x="142" y="94"/>
                      </a:lnTo>
                      <a:lnTo>
                        <a:pt x="138" y="100"/>
                      </a:lnTo>
                      <a:lnTo>
                        <a:pt x="136" y="106"/>
                      </a:lnTo>
                      <a:lnTo>
                        <a:pt x="132" y="113"/>
                      </a:lnTo>
                      <a:lnTo>
                        <a:pt x="128" y="118"/>
                      </a:lnTo>
                      <a:lnTo>
                        <a:pt x="124" y="123"/>
                      </a:lnTo>
                      <a:lnTo>
                        <a:pt x="118" y="128"/>
                      </a:lnTo>
                      <a:lnTo>
                        <a:pt x="113" y="132"/>
                      </a:lnTo>
                      <a:lnTo>
                        <a:pt x="107" y="136"/>
                      </a:lnTo>
                      <a:lnTo>
                        <a:pt x="100" y="138"/>
                      </a:lnTo>
                      <a:lnTo>
                        <a:pt x="94" y="141"/>
                      </a:lnTo>
                      <a:lnTo>
                        <a:pt x="87" y="142"/>
                      </a:lnTo>
                      <a:lnTo>
                        <a:pt x="80" y="143"/>
                      </a:lnTo>
                      <a:lnTo>
                        <a:pt x="72" y="145"/>
                      </a:lnTo>
                      <a:lnTo>
                        <a:pt x="65" y="143"/>
                      </a:lnTo>
                      <a:lnTo>
                        <a:pt x="59" y="142"/>
                      </a:lnTo>
                      <a:lnTo>
                        <a:pt x="51" y="141"/>
                      </a:lnTo>
                      <a:lnTo>
                        <a:pt x="45" y="138"/>
                      </a:lnTo>
                      <a:lnTo>
                        <a:pt x="38" y="136"/>
                      </a:lnTo>
                      <a:lnTo>
                        <a:pt x="32" y="132"/>
                      </a:lnTo>
                      <a:lnTo>
                        <a:pt x="27" y="128"/>
                      </a:lnTo>
                      <a:lnTo>
                        <a:pt x="21" y="123"/>
                      </a:lnTo>
                      <a:lnTo>
                        <a:pt x="17" y="118"/>
                      </a:lnTo>
                      <a:lnTo>
                        <a:pt x="13" y="113"/>
                      </a:lnTo>
                      <a:lnTo>
                        <a:pt x="10" y="106"/>
                      </a:lnTo>
                      <a:lnTo>
                        <a:pt x="6" y="100"/>
                      </a:lnTo>
                      <a:lnTo>
                        <a:pt x="4" y="94"/>
                      </a:lnTo>
                      <a:lnTo>
                        <a:pt x="2" y="87"/>
                      </a:lnTo>
                      <a:lnTo>
                        <a:pt x="1" y="80"/>
                      </a:lnTo>
                      <a:lnTo>
                        <a:pt x="1" y="72"/>
                      </a:lnTo>
                      <a:lnTo>
                        <a:pt x="1" y="65"/>
                      </a:lnTo>
                      <a:lnTo>
                        <a:pt x="2" y="58"/>
                      </a:lnTo>
                      <a:lnTo>
                        <a:pt x="4" y="51"/>
                      </a:lnTo>
                      <a:lnTo>
                        <a:pt x="6" y="45"/>
                      </a:lnTo>
                      <a:lnTo>
                        <a:pt x="10" y="38"/>
                      </a:lnTo>
                      <a:lnTo>
                        <a:pt x="13" y="32"/>
                      </a:lnTo>
                      <a:lnTo>
                        <a:pt x="17" y="27"/>
                      </a:lnTo>
                      <a:lnTo>
                        <a:pt x="21" y="21"/>
                      </a:lnTo>
                      <a:lnTo>
                        <a:pt x="27" y="17"/>
                      </a:lnTo>
                      <a:lnTo>
                        <a:pt x="32" y="13"/>
                      </a:lnTo>
                      <a:lnTo>
                        <a:pt x="38" y="10"/>
                      </a:lnTo>
                      <a:lnTo>
                        <a:pt x="45" y="6"/>
                      </a:lnTo>
                      <a:lnTo>
                        <a:pt x="51" y="4"/>
                      </a:lnTo>
                      <a:lnTo>
                        <a:pt x="59" y="2"/>
                      </a:lnTo>
                      <a:lnTo>
                        <a:pt x="65" y="1"/>
                      </a:lnTo>
                      <a:lnTo>
                        <a:pt x="72" y="1"/>
                      </a:lnTo>
                      <a:lnTo>
                        <a:pt x="80" y="1"/>
                      </a:lnTo>
                      <a:lnTo>
                        <a:pt x="87" y="2"/>
                      </a:lnTo>
                      <a:lnTo>
                        <a:pt x="94" y="4"/>
                      </a:lnTo>
                      <a:lnTo>
                        <a:pt x="100" y="6"/>
                      </a:lnTo>
                      <a:lnTo>
                        <a:pt x="107" y="10"/>
                      </a:lnTo>
                      <a:lnTo>
                        <a:pt x="113" y="13"/>
                      </a:lnTo>
                      <a:lnTo>
                        <a:pt x="118" y="17"/>
                      </a:lnTo>
                      <a:lnTo>
                        <a:pt x="124" y="21"/>
                      </a:lnTo>
                      <a:lnTo>
                        <a:pt x="128" y="27"/>
                      </a:lnTo>
                      <a:lnTo>
                        <a:pt x="132" y="32"/>
                      </a:lnTo>
                      <a:lnTo>
                        <a:pt x="136" y="38"/>
                      </a:lnTo>
                      <a:lnTo>
                        <a:pt x="138" y="45"/>
                      </a:lnTo>
                      <a:lnTo>
                        <a:pt x="142" y="51"/>
                      </a:lnTo>
                      <a:lnTo>
                        <a:pt x="143" y="58"/>
                      </a:lnTo>
                      <a:lnTo>
                        <a:pt x="144" y="65"/>
                      </a:lnTo>
                      <a:lnTo>
                        <a:pt x="145" y="7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10" name="Freeform 4798"/>
                <p:cNvSpPr>
                  <a:spLocks noChangeAspect="1" noEditPoints="1"/>
                </p:cNvSpPr>
                <p:nvPr/>
              </p:nvSpPr>
              <p:spPr bwMode="auto">
                <a:xfrm>
                  <a:off x="3498" y="3333"/>
                  <a:ext cx="49" cy="48"/>
                </a:xfrm>
                <a:custGeom>
                  <a:avLst/>
                  <a:gdLst>
                    <a:gd name="T0" fmla="*/ 87 w 145"/>
                    <a:gd name="T1" fmla="*/ 1 h 145"/>
                    <a:gd name="T2" fmla="*/ 108 w 145"/>
                    <a:gd name="T3" fmla="*/ 8 h 145"/>
                    <a:gd name="T4" fmla="*/ 124 w 145"/>
                    <a:gd name="T5" fmla="*/ 21 h 145"/>
                    <a:gd name="T6" fmla="*/ 136 w 145"/>
                    <a:gd name="T7" fmla="*/ 38 h 145"/>
                    <a:gd name="T8" fmla="*/ 144 w 145"/>
                    <a:gd name="T9" fmla="*/ 58 h 145"/>
                    <a:gd name="T10" fmla="*/ 145 w 145"/>
                    <a:gd name="T11" fmla="*/ 80 h 145"/>
                    <a:gd name="T12" fmla="*/ 139 w 145"/>
                    <a:gd name="T13" fmla="*/ 101 h 145"/>
                    <a:gd name="T14" fmla="*/ 129 w 145"/>
                    <a:gd name="T15" fmla="*/ 119 h 145"/>
                    <a:gd name="T16" fmla="*/ 113 w 145"/>
                    <a:gd name="T17" fmla="*/ 133 h 145"/>
                    <a:gd name="T18" fmla="*/ 94 w 145"/>
                    <a:gd name="T19" fmla="*/ 141 h 145"/>
                    <a:gd name="T20" fmla="*/ 72 w 145"/>
                    <a:gd name="T21" fmla="*/ 145 h 145"/>
                    <a:gd name="T22" fmla="*/ 51 w 145"/>
                    <a:gd name="T23" fmla="*/ 141 h 145"/>
                    <a:gd name="T24" fmla="*/ 32 w 145"/>
                    <a:gd name="T25" fmla="*/ 133 h 145"/>
                    <a:gd name="T26" fmla="*/ 17 w 145"/>
                    <a:gd name="T27" fmla="*/ 119 h 145"/>
                    <a:gd name="T28" fmla="*/ 5 w 145"/>
                    <a:gd name="T29" fmla="*/ 101 h 145"/>
                    <a:gd name="T30" fmla="*/ 0 w 145"/>
                    <a:gd name="T31" fmla="*/ 80 h 145"/>
                    <a:gd name="T32" fmla="*/ 1 w 145"/>
                    <a:gd name="T33" fmla="*/ 58 h 145"/>
                    <a:gd name="T34" fmla="*/ 9 w 145"/>
                    <a:gd name="T35" fmla="*/ 38 h 145"/>
                    <a:gd name="T36" fmla="*/ 21 w 145"/>
                    <a:gd name="T37" fmla="*/ 21 h 145"/>
                    <a:gd name="T38" fmla="*/ 38 w 145"/>
                    <a:gd name="T39" fmla="*/ 8 h 145"/>
                    <a:gd name="T40" fmla="*/ 58 w 145"/>
                    <a:gd name="T41" fmla="*/ 1 h 145"/>
                    <a:gd name="T42" fmla="*/ 143 w 145"/>
                    <a:gd name="T43" fmla="*/ 72 h 145"/>
                    <a:gd name="T44" fmla="*/ 139 w 145"/>
                    <a:gd name="T45" fmla="*/ 94 h 145"/>
                    <a:gd name="T46" fmla="*/ 131 w 145"/>
                    <a:gd name="T47" fmla="*/ 112 h 145"/>
                    <a:gd name="T48" fmla="*/ 117 w 145"/>
                    <a:gd name="T49" fmla="*/ 126 h 145"/>
                    <a:gd name="T50" fmla="*/ 100 w 145"/>
                    <a:gd name="T51" fmla="*/ 137 h 145"/>
                    <a:gd name="T52" fmla="*/ 80 w 145"/>
                    <a:gd name="T53" fmla="*/ 141 h 145"/>
                    <a:gd name="T54" fmla="*/ 59 w 145"/>
                    <a:gd name="T55" fmla="*/ 140 h 145"/>
                    <a:gd name="T56" fmla="*/ 39 w 145"/>
                    <a:gd name="T57" fmla="*/ 134 h 145"/>
                    <a:gd name="T58" fmla="*/ 23 w 145"/>
                    <a:gd name="T59" fmla="*/ 122 h 145"/>
                    <a:gd name="T60" fmla="*/ 12 w 145"/>
                    <a:gd name="T61" fmla="*/ 105 h 145"/>
                    <a:gd name="T62" fmla="*/ 4 w 145"/>
                    <a:gd name="T63" fmla="*/ 86 h 145"/>
                    <a:gd name="T64" fmla="*/ 3 w 145"/>
                    <a:gd name="T65" fmla="*/ 66 h 145"/>
                    <a:gd name="T66" fmla="*/ 9 w 145"/>
                    <a:gd name="T67" fmla="*/ 46 h 145"/>
                    <a:gd name="T68" fmla="*/ 19 w 145"/>
                    <a:gd name="T69" fmla="*/ 28 h 145"/>
                    <a:gd name="T70" fmla="*/ 34 w 145"/>
                    <a:gd name="T71" fmla="*/ 15 h 145"/>
                    <a:gd name="T72" fmla="*/ 52 w 145"/>
                    <a:gd name="T73" fmla="*/ 6 h 145"/>
                    <a:gd name="T74" fmla="*/ 72 w 145"/>
                    <a:gd name="T75" fmla="*/ 3 h 145"/>
                    <a:gd name="T76" fmla="*/ 94 w 145"/>
                    <a:gd name="T77" fmla="*/ 6 h 145"/>
                    <a:gd name="T78" fmla="*/ 112 w 145"/>
                    <a:gd name="T79" fmla="*/ 15 h 145"/>
                    <a:gd name="T80" fmla="*/ 127 w 145"/>
                    <a:gd name="T81" fmla="*/ 28 h 145"/>
                    <a:gd name="T82" fmla="*/ 137 w 145"/>
                    <a:gd name="T83" fmla="*/ 46 h 145"/>
                    <a:gd name="T84" fmla="*/ 142 w 145"/>
                    <a:gd name="T85" fmla="*/ 66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5" h="145">
                      <a:moveTo>
                        <a:pt x="72" y="0"/>
                      </a:moveTo>
                      <a:lnTo>
                        <a:pt x="80" y="0"/>
                      </a:lnTo>
                      <a:lnTo>
                        <a:pt x="87" y="1"/>
                      </a:lnTo>
                      <a:lnTo>
                        <a:pt x="94" y="3"/>
                      </a:lnTo>
                      <a:lnTo>
                        <a:pt x="101" y="5"/>
                      </a:lnTo>
                      <a:lnTo>
                        <a:pt x="108" y="8"/>
                      </a:lnTo>
                      <a:lnTo>
                        <a:pt x="113" y="13"/>
                      </a:lnTo>
                      <a:lnTo>
                        <a:pt x="119" y="17"/>
                      </a:lnTo>
                      <a:lnTo>
                        <a:pt x="124" y="21"/>
                      </a:lnTo>
                      <a:lnTo>
                        <a:pt x="129" y="27"/>
                      </a:lnTo>
                      <a:lnTo>
                        <a:pt x="133" y="32"/>
                      </a:lnTo>
                      <a:lnTo>
                        <a:pt x="136" y="38"/>
                      </a:lnTo>
                      <a:lnTo>
                        <a:pt x="139" y="45"/>
                      </a:lnTo>
                      <a:lnTo>
                        <a:pt x="142" y="51"/>
                      </a:lnTo>
                      <a:lnTo>
                        <a:pt x="144" y="58"/>
                      </a:lnTo>
                      <a:lnTo>
                        <a:pt x="145" y="65"/>
                      </a:lnTo>
                      <a:lnTo>
                        <a:pt x="145" y="72"/>
                      </a:lnTo>
                      <a:lnTo>
                        <a:pt x="145" y="80"/>
                      </a:lnTo>
                      <a:lnTo>
                        <a:pt x="144" y="87"/>
                      </a:lnTo>
                      <a:lnTo>
                        <a:pt x="142" y="94"/>
                      </a:lnTo>
                      <a:lnTo>
                        <a:pt x="139" y="101"/>
                      </a:lnTo>
                      <a:lnTo>
                        <a:pt x="136" y="107"/>
                      </a:lnTo>
                      <a:lnTo>
                        <a:pt x="133" y="113"/>
                      </a:lnTo>
                      <a:lnTo>
                        <a:pt x="129" y="119"/>
                      </a:lnTo>
                      <a:lnTo>
                        <a:pt x="124" y="123"/>
                      </a:lnTo>
                      <a:lnTo>
                        <a:pt x="119" y="129"/>
                      </a:lnTo>
                      <a:lnTo>
                        <a:pt x="113" y="133"/>
                      </a:lnTo>
                      <a:lnTo>
                        <a:pt x="108" y="136"/>
                      </a:lnTo>
                      <a:lnTo>
                        <a:pt x="101" y="139"/>
                      </a:lnTo>
                      <a:lnTo>
                        <a:pt x="94" y="141"/>
                      </a:lnTo>
                      <a:lnTo>
                        <a:pt x="87" y="143"/>
                      </a:lnTo>
                      <a:lnTo>
                        <a:pt x="80" y="145"/>
                      </a:lnTo>
                      <a:lnTo>
                        <a:pt x="72" y="145"/>
                      </a:lnTo>
                      <a:lnTo>
                        <a:pt x="65" y="145"/>
                      </a:lnTo>
                      <a:lnTo>
                        <a:pt x="58" y="143"/>
                      </a:lnTo>
                      <a:lnTo>
                        <a:pt x="51" y="141"/>
                      </a:lnTo>
                      <a:lnTo>
                        <a:pt x="45" y="139"/>
                      </a:lnTo>
                      <a:lnTo>
                        <a:pt x="38" y="136"/>
                      </a:lnTo>
                      <a:lnTo>
                        <a:pt x="32" y="133"/>
                      </a:lnTo>
                      <a:lnTo>
                        <a:pt x="27" y="129"/>
                      </a:lnTo>
                      <a:lnTo>
                        <a:pt x="21" y="123"/>
                      </a:lnTo>
                      <a:lnTo>
                        <a:pt x="17" y="119"/>
                      </a:lnTo>
                      <a:lnTo>
                        <a:pt x="13" y="113"/>
                      </a:lnTo>
                      <a:lnTo>
                        <a:pt x="9" y="107"/>
                      </a:lnTo>
                      <a:lnTo>
                        <a:pt x="5" y="101"/>
                      </a:lnTo>
                      <a:lnTo>
                        <a:pt x="3" y="94"/>
                      </a:lnTo>
                      <a:lnTo>
                        <a:pt x="1" y="87"/>
                      </a:lnTo>
                      <a:lnTo>
                        <a:pt x="0" y="80"/>
                      </a:lnTo>
                      <a:lnTo>
                        <a:pt x="0" y="72"/>
                      </a:lnTo>
                      <a:lnTo>
                        <a:pt x="0" y="65"/>
                      </a:lnTo>
                      <a:lnTo>
                        <a:pt x="1" y="58"/>
                      </a:lnTo>
                      <a:lnTo>
                        <a:pt x="3" y="51"/>
                      </a:lnTo>
                      <a:lnTo>
                        <a:pt x="5" y="45"/>
                      </a:lnTo>
                      <a:lnTo>
                        <a:pt x="9" y="38"/>
                      </a:lnTo>
                      <a:lnTo>
                        <a:pt x="13" y="32"/>
                      </a:lnTo>
                      <a:lnTo>
                        <a:pt x="17" y="27"/>
                      </a:lnTo>
                      <a:lnTo>
                        <a:pt x="21" y="21"/>
                      </a:lnTo>
                      <a:lnTo>
                        <a:pt x="27" y="17"/>
                      </a:lnTo>
                      <a:lnTo>
                        <a:pt x="32" y="13"/>
                      </a:lnTo>
                      <a:lnTo>
                        <a:pt x="38" y="8"/>
                      </a:lnTo>
                      <a:lnTo>
                        <a:pt x="45" y="5"/>
                      </a:lnTo>
                      <a:lnTo>
                        <a:pt x="51" y="3"/>
                      </a:lnTo>
                      <a:lnTo>
                        <a:pt x="58" y="1"/>
                      </a:lnTo>
                      <a:lnTo>
                        <a:pt x="65" y="0"/>
                      </a:lnTo>
                      <a:lnTo>
                        <a:pt x="72" y="0"/>
                      </a:lnTo>
                      <a:close/>
                      <a:moveTo>
                        <a:pt x="143" y="72"/>
                      </a:moveTo>
                      <a:lnTo>
                        <a:pt x="142" y="80"/>
                      </a:lnTo>
                      <a:lnTo>
                        <a:pt x="141" y="86"/>
                      </a:lnTo>
                      <a:lnTo>
                        <a:pt x="139" y="94"/>
                      </a:lnTo>
                      <a:lnTo>
                        <a:pt x="137" y="100"/>
                      </a:lnTo>
                      <a:lnTo>
                        <a:pt x="134" y="105"/>
                      </a:lnTo>
                      <a:lnTo>
                        <a:pt x="131" y="112"/>
                      </a:lnTo>
                      <a:lnTo>
                        <a:pt x="127" y="117"/>
                      </a:lnTo>
                      <a:lnTo>
                        <a:pt x="122" y="122"/>
                      </a:lnTo>
                      <a:lnTo>
                        <a:pt x="117" y="126"/>
                      </a:lnTo>
                      <a:lnTo>
                        <a:pt x="112" y="131"/>
                      </a:lnTo>
                      <a:lnTo>
                        <a:pt x="105" y="134"/>
                      </a:lnTo>
                      <a:lnTo>
                        <a:pt x="100" y="137"/>
                      </a:lnTo>
                      <a:lnTo>
                        <a:pt x="94" y="139"/>
                      </a:lnTo>
                      <a:lnTo>
                        <a:pt x="86" y="140"/>
                      </a:lnTo>
                      <a:lnTo>
                        <a:pt x="80" y="141"/>
                      </a:lnTo>
                      <a:lnTo>
                        <a:pt x="72" y="142"/>
                      </a:lnTo>
                      <a:lnTo>
                        <a:pt x="65" y="141"/>
                      </a:lnTo>
                      <a:lnTo>
                        <a:pt x="59" y="140"/>
                      </a:lnTo>
                      <a:lnTo>
                        <a:pt x="52" y="139"/>
                      </a:lnTo>
                      <a:lnTo>
                        <a:pt x="46" y="137"/>
                      </a:lnTo>
                      <a:lnTo>
                        <a:pt x="39" y="134"/>
                      </a:lnTo>
                      <a:lnTo>
                        <a:pt x="34" y="131"/>
                      </a:lnTo>
                      <a:lnTo>
                        <a:pt x="28" y="126"/>
                      </a:lnTo>
                      <a:lnTo>
                        <a:pt x="23" y="122"/>
                      </a:lnTo>
                      <a:lnTo>
                        <a:pt x="19" y="117"/>
                      </a:lnTo>
                      <a:lnTo>
                        <a:pt x="15" y="112"/>
                      </a:lnTo>
                      <a:lnTo>
                        <a:pt x="12" y="105"/>
                      </a:lnTo>
                      <a:lnTo>
                        <a:pt x="9" y="100"/>
                      </a:lnTo>
                      <a:lnTo>
                        <a:pt x="6" y="94"/>
                      </a:lnTo>
                      <a:lnTo>
                        <a:pt x="4" y="86"/>
                      </a:lnTo>
                      <a:lnTo>
                        <a:pt x="3" y="80"/>
                      </a:lnTo>
                      <a:lnTo>
                        <a:pt x="3" y="72"/>
                      </a:lnTo>
                      <a:lnTo>
                        <a:pt x="3" y="66"/>
                      </a:lnTo>
                      <a:lnTo>
                        <a:pt x="4" y="58"/>
                      </a:lnTo>
                      <a:lnTo>
                        <a:pt x="6" y="52"/>
                      </a:lnTo>
                      <a:lnTo>
                        <a:pt x="9" y="46"/>
                      </a:lnTo>
                      <a:lnTo>
                        <a:pt x="12" y="39"/>
                      </a:lnTo>
                      <a:lnTo>
                        <a:pt x="15" y="34"/>
                      </a:lnTo>
                      <a:lnTo>
                        <a:pt x="19" y="28"/>
                      </a:lnTo>
                      <a:lnTo>
                        <a:pt x="23" y="23"/>
                      </a:lnTo>
                      <a:lnTo>
                        <a:pt x="28" y="19"/>
                      </a:lnTo>
                      <a:lnTo>
                        <a:pt x="34" y="15"/>
                      </a:lnTo>
                      <a:lnTo>
                        <a:pt x="39" y="12"/>
                      </a:lnTo>
                      <a:lnTo>
                        <a:pt x="46" y="8"/>
                      </a:lnTo>
                      <a:lnTo>
                        <a:pt x="52" y="6"/>
                      </a:lnTo>
                      <a:lnTo>
                        <a:pt x="59" y="4"/>
                      </a:lnTo>
                      <a:lnTo>
                        <a:pt x="65" y="3"/>
                      </a:lnTo>
                      <a:lnTo>
                        <a:pt x="72" y="3"/>
                      </a:lnTo>
                      <a:lnTo>
                        <a:pt x="80" y="3"/>
                      </a:lnTo>
                      <a:lnTo>
                        <a:pt x="86" y="4"/>
                      </a:lnTo>
                      <a:lnTo>
                        <a:pt x="94" y="6"/>
                      </a:lnTo>
                      <a:lnTo>
                        <a:pt x="100" y="8"/>
                      </a:lnTo>
                      <a:lnTo>
                        <a:pt x="105" y="12"/>
                      </a:lnTo>
                      <a:lnTo>
                        <a:pt x="112" y="15"/>
                      </a:lnTo>
                      <a:lnTo>
                        <a:pt x="117" y="19"/>
                      </a:lnTo>
                      <a:lnTo>
                        <a:pt x="122" y="23"/>
                      </a:lnTo>
                      <a:lnTo>
                        <a:pt x="127" y="28"/>
                      </a:lnTo>
                      <a:lnTo>
                        <a:pt x="131" y="34"/>
                      </a:lnTo>
                      <a:lnTo>
                        <a:pt x="134" y="39"/>
                      </a:lnTo>
                      <a:lnTo>
                        <a:pt x="137" y="46"/>
                      </a:lnTo>
                      <a:lnTo>
                        <a:pt x="139" y="52"/>
                      </a:lnTo>
                      <a:lnTo>
                        <a:pt x="141" y="58"/>
                      </a:lnTo>
                      <a:lnTo>
                        <a:pt x="142" y="66"/>
                      </a:lnTo>
                      <a:lnTo>
                        <a:pt x="143" y="7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11" name="Freeform 4799"/>
                <p:cNvSpPr>
                  <a:spLocks noChangeAspect="1" noEditPoints="1"/>
                </p:cNvSpPr>
                <p:nvPr/>
              </p:nvSpPr>
              <p:spPr bwMode="auto">
                <a:xfrm>
                  <a:off x="3499" y="3333"/>
                  <a:ext cx="48" cy="48"/>
                </a:xfrm>
                <a:custGeom>
                  <a:avLst/>
                  <a:gdLst>
                    <a:gd name="T0" fmla="*/ 142 w 144"/>
                    <a:gd name="T1" fmla="*/ 57 h 144"/>
                    <a:gd name="T2" fmla="*/ 135 w 144"/>
                    <a:gd name="T3" fmla="*/ 37 h 144"/>
                    <a:gd name="T4" fmla="*/ 123 w 144"/>
                    <a:gd name="T5" fmla="*/ 20 h 144"/>
                    <a:gd name="T6" fmla="*/ 106 w 144"/>
                    <a:gd name="T7" fmla="*/ 9 h 144"/>
                    <a:gd name="T8" fmla="*/ 86 w 144"/>
                    <a:gd name="T9" fmla="*/ 1 h 144"/>
                    <a:gd name="T10" fmla="*/ 64 w 144"/>
                    <a:gd name="T11" fmla="*/ 0 h 144"/>
                    <a:gd name="T12" fmla="*/ 44 w 144"/>
                    <a:gd name="T13" fmla="*/ 5 h 144"/>
                    <a:gd name="T14" fmla="*/ 26 w 144"/>
                    <a:gd name="T15" fmla="*/ 16 h 144"/>
                    <a:gd name="T16" fmla="*/ 12 w 144"/>
                    <a:gd name="T17" fmla="*/ 31 h 144"/>
                    <a:gd name="T18" fmla="*/ 3 w 144"/>
                    <a:gd name="T19" fmla="*/ 50 h 144"/>
                    <a:gd name="T20" fmla="*/ 0 w 144"/>
                    <a:gd name="T21" fmla="*/ 71 h 144"/>
                    <a:gd name="T22" fmla="*/ 3 w 144"/>
                    <a:gd name="T23" fmla="*/ 93 h 144"/>
                    <a:gd name="T24" fmla="*/ 12 w 144"/>
                    <a:gd name="T25" fmla="*/ 112 h 144"/>
                    <a:gd name="T26" fmla="*/ 26 w 144"/>
                    <a:gd name="T27" fmla="*/ 127 h 144"/>
                    <a:gd name="T28" fmla="*/ 44 w 144"/>
                    <a:gd name="T29" fmla="*/ 137 h 144"/>
                    <a:gd name="T30" fmla="*/ 64 w 144"/>
                    <a:gd name="T31" fmla="*/ 142 h 144"/>
                    <a:gd name="T32" fmla="*/ 86 w 144"/>
                    <a:gd name="T33" fmla="*/ 141 h 144"/>
                    <a:gd name="T34" fmla="*/ 106 w 144"/>
                    <a:gd name="T35" fmla="*/ 135 h 144"/>
                    <a:gd name="T36" fmla="*/ 123 w 144"/>
                    <a:gd name="T37" fmla="*/ 122 h 144"/>
                    <a:gd name="T38" fmla="*/ 135 w 144"/>
                    <a:gd name="T39" fmla="*/ 105 h 144"/>
                    <a:gd name="T40" fmla="*/ 142 w 144"/>
                    <a:gd name="T41" fmla="*/ 86 h 144"/>
                    <a:gd name="T42" fmla="*/ 140 w 144"/>
                    <a:gd name="T43" fmla="*/ 71 h 144"/>
                    <a:gd name="T44" fmla="*/ 136 w 144"/>
                    <a:gd name="T45" fmla="*/ 91 h 144"/>
                    <a:gd name="T46" fmla="*/ 128 w 144"/>
                    <a:gd name="T47" fmla="*/ 110 h 144"/>
                    <a:gd name="T48" fmla="*/ 115 w 144"/>
                    <a:gd name="T49" fmla="*/ 123 h 144"/>
                    <a:gd name="T50" fmla="*/ 98 w 144"/>
                    <a:gd name="T51" fmla="*/ 134 h 144"/>
                    <a:gd name="T52" fmla="*/ 79 w 144"/>
                    <a:gd name="T53" fmla="*/ 139 h 144"/>
                    <a:gd name="T54" fmla="*/ 58 w 144"/>
                    <a:gd name="T55" fmla="*/ 138 h 144"/>
                    <a:gd name="T56" fmla="*/ 40 w 144"/>
                    <a:gd name="T57" fmla="*/ 131 h 144"/>
                    <a:gd name="T58" fmla="*/ 24 w 144"/>
                    <a:gd name="T59" fmla="*/ 119 h 144"/>
                    <a:gd name="T60" fmla="*/ 12 w 144"/>
                    <a:gd name="T61" fmla="*/ 104 h 144"/>
                    <a:gd name="T62" fmla="*/ 5 w 144"/>
                    <a:gd name="T63" fmla="*/ 85 h 144"/>
                    <a:gd name="T64" fmla="*/ 4 w 144"/>
                    <a:gd name="T65" fmla="*/ 65 h 144"/>
                    <a:gd name="T66" fmla="*/ 10 w 144"/>
                    <a:gd name="T67" fmla="*/ 45 h 144"/>
                    <a:gd name="T68" fmla="*/ 19 w 144"/>
                    <a:gd name="T69" fmla="*/ 29 h 144"/>
                    <a:gd name="T70" fmla="*/ 34 w 144"/>
                    <a:gd name="T71" fmla="*/ 15 h 144"/>
                    <a:gd name="T72" fmla="*/ 51 w 144"/>
                    <a:gd name="T73" fmla="*/ 6 h 144"/>
                    <a:gd name="T74" fmla="*/ 71 w 144"/>
                    <a:gd name="T75" fmla="*/ 4 h 144"/>
                    <a:gd name="T76" fmla="*/ 92 w 144"/>
                    <a:gd name="T77" fmla="*/ 6 h 144"/>
                    <a:gd name="T78" fmla="*/ 110 w 144"/>
                    <a:gd name="T79" fmla="*/ 15 h 144"/>
                    <a:gd name="T80" fmla="*/ 124 w 144"/>
                    <a:gd name="T81" fmla="*/ 29 h 144"/>
                    <a:gd name="T82" fmla="*/ 134 w 144"/>
                    <a:gd name="T83" fmla="*/ 45 h 144"/>
                    <a:gd name="T84" fmla="*/ 140 w 144"/>
                    <a:gd name="T85" fmla="*/ 65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144">
                      <a:moveTo>
                        <a:pt x="144" y="71"/>
                      </a:moveTo>
                      <a:lnTo>
                        <a:pt x="143" y="64"/>
                      </a:lnTo>
                      <a:lnTo>
                        <a:pt x="142" y="57"/>
                      </a:lnTo>
                      <a:lnTo>
                        <a:pt x="141" y="50"/>
                      </a:lnTo>
                      <a:lnTo>
                        <a:pt x="137" y="44"/>
                      </a:lnTo>
                      <a:lnTo>
                        <a:pt x="135" y="37"/>
                      </a:lnTo>
                      <a:lnTo>
                        <a:pt x="131" y="31"/>
                      </a:lnTo>
                      <a:lnTo>
                        <a:pt x="127" y="26"/>
                      </a:lnTo>
                      <a:lnTo>
                        <a:pt x="123" y="20"/>
                      </a:lnTo>
                      <a:lnTo>
                        <a:pt x="117" y="16"/>
                      </a:lnTo>
                      <a:lnTo>
                        <a:pt x="112" y="12"/>
                      </a:lnTo>
                      <a:lnTo>
                        <a:pt x="106" y="9"/>
                      </a:lnTo>
                      <a:lnTo>
                        <a:pt x="99" y="5"/>
                      </a:lnTo>
                      <a:lnTo>
                        <a:pt x="93" y="3"/>
                      </a:lnTo>
                      <a:lnTo>
                        <a:pt x="86" y="1"/>
                      </a:lnTo>
                      <a:lnTo>
                        <a:pt x="79" y="0"/>
                      </a:lnTo>
                      <a:lnTo>
                        <a:pt x="71" y="0"/>
                      </a:lnTo>
                      <a:lnTo>
                        <a:pt x="64" y="0"/>
                      </a:lnTo>
                      <a:lnTo>
                        <a:pt x="58" y="1"/>
                      </a:lnTo>
                      <a:lnTo>
                        <a:pt x="50" y="3"/>
                      </a:lnTo>
                      <a:lnTo>
                        <a:pt x="44" y="5"/>
                      </a:lnTo>
                      <a:lnTo>
                        <a:pt x="37" y="9"/>
                      </a:lnTo>
                      <a:lnTo>
                        <a:pt x="31" y="12"/>
                      </a:lnTo>
                      <a:lnTo>
                        <a:pt x="26" y="16"/>
                      </a:lnTo>
                      <a:lnTo>
                        <a:pt x="20" y="20"/>
                      </a:lnTo>
                      <a:lnTo>
                        <a:pt x="16" y="26"/>
                      </a:lnTo>
                      <a:lnTo>
                        <a:pt x="12" y="31"/>
                      </a:lnTo>
                      <a:lnTo>
                        <a:pt x="9" y="37"/>
                      </a:lnTo>
                      <a:lnTo>
                        <a:pt x="5" y="44"/>
                      </a:lnTo>
                      <a:lnTo>
                        <a:pt x="3" y="50"/>
                      </a:lnTo>
                      <a:lnTo>
                        <a:pt x="1" y="57"/>
                      </a:lnTo>
                      <a:lnTo>
                        <a:pt x="0" y="64"/>
                      </a:lnTo>
                      <a:lnTo>
                        <a:pt x="0" y="71"/>
                      </a:lnTo>
                      <a:lnTo>
                        <a:pt x="0" y="79"/>
                      </a:lnTo>
                      <a:lnTo>
                        <a:pt x="1" y="86"/>
                      </a:lnTo>
                      <a:lnTo>
                        <a:pt x="3" y="93"/>
                      </a:lnTo>
                      <a:lnTo>
                        <a:pt x="5" y="99"/>
                      </a:lnTo>
                      <a:lnTo>
                        <a:pt x="9" y="105"/>
                      </a:lnTo>
                      <a:lnTo>
                        <a:pt x="12" y="112"/>
                      </a:lnTo>
                      <a:lnTo>
                        <a:pt x="16" y="117"/>
                      </a:lnTo>
                      <a:lnTo>
                        <a:pt x="20" y="122"/>
                      </a:lnTo>
                      <a:lnTo>
                        <a:pt x="26" y="127"/>
                      </a:lnTo>
                      <a:lnTo>
                        <a:pt x="31" y="131"/>
                      </a:lnTo>
                      <a:lnTo>
                        <a:pt x="37" y="135"/>
                      </a:lnTo>
                      <a:lnTo>
                        <a:pt x="44" y="137"/>
                      </a:lnTo>
                      <a:lnTo>
                        <a:pt x="50" y="140"/>
                      </a:lnTo>
                      <a:lnTo>
                        <a:pt x="58" y="141"/>
                      </a:lnTo>
                      <a:lnTo>
                        <a:pt x="64" y="142"/>
                      </a:lnTo>
                      <a:lnTo>
                        <a:pt x="71" y="144"/>
                      </a:lnTo>
                      <a:lnTo>
                        <a:pt x="79" y="142"/>
                      </a:lnTo>
                      <a:lnTo>
                        <a:pt x="86" y="141"/>
                      </a:lnTo>
                      <a:lnTo>
                        <a:pt x="93" y="140"/>
                      </a:lnTo>
                      <a:lnTo>
                        <a:pt x="99" y="137"/>
                      </a:lnTo>
                      <a:lnTo>
                        <a:pt x="106" y="135"/>
                      </a:lnTo>
                      <a:lnTo>
                        <a:pt x="112" y="131"/>
                      </a:lnTo>
                      <a:lnTo>
                        <a:pt x="117" y="127"/>
                      </a:lnTo>
                      <a:lnTo>
                        <a:pt x="123" y="122"/>
                      </a:lnTo>
                      <a:lnTo>
                        <a:pt x="127" y="117"/>
                      </a:lnTo>
                      <a:lnTo>
                        <a:pt x="131" y="112"/>
                      </a:lnTo>
                      <a:lnTo>
                        <a:pt x="135" y="105"/>
                      </a:lnTo>
                      <a:lnTo>
                        <a:pt x="137" y="99"/>
                      </a:lnTo>
                      <a:lnTo>
                        <a:pt x="141" y="93"/>
                      </a:lnTo>
                      <a:lnTo>
                        <a:pt x="142" y="86"/>
                      </a:lnTo>
                      <a:lnTo>
                        <a:pt x="143" y="79"/>
                      </a:lnTo>
                      <a:lnTo>
                        <a:pt x="144" y="71"/>
                      </a:lnTo>
                      <a:close/>
                      <a:moveTo>
                        <a:pt x="140" y="71"/>
                      </a:moveTo>
                      <a:lnTo>
                        <a:pt x="140" y="79"/>
                      </a:lnTo>
                      <a:lnTo>
                        <a:pt x="138" y="85"/>
                      </a:lnTo>
                      <a:lnTo>
                        <a:pt x="136" y="91"/>
                      </a:lnTo>
                      <a:lnTo>
                        <a:pt x="134" y="98"/>
                      </a:lnTo>
                      <a:lnTo>
                        <a:pt x="131" y="104"/>
                      </a:lnTo>
                      <a:lnTo>
                        <a:pt x="128" y="110"/>
                      </a:lnTo>
                      <a:lnTo>
                        <a:pt x="124" y="115"/>
                      </a:lnTo>
                      <a:lnTo>
                        <a:pt x="119" y="119"/>
                      </a:lnTo>
                      <a:lnTo>
                        <a:pt x="115" y="123"/>
                      </a:lnTo>
                      <a:lnTo>
                        <a:pt x="110" y="128"/>
                      </a:lnTo>
                      <a:lnTo>
                        <a:pt x="104" y="131"/>
                      </a:lnTo>
                      <a:lnTo>
                        <a:pt x="98" y="134"/>
                      </a:lnTo>
                      <a:lnTo>
                        <a:pt x="92" y="136"/>
                      </a:lnTo>
                      <a:lnTo>
                        <a:pt x="85" y="138"/>
                      </a:lnTo>
                      <a:lnTo>
                        <a:pt x="79" y="139"/>
                      </a:lnTo>
                      <a:lnTo>
                        <a:pt x="71" y="139"/>
                      </a:lnTo>
                      <a:lnTo>
                        <a:pt x="65" y="139"/>
                      </a:lnTo>
                      <a:lnTo>
                        <a:pt x="58" y="138"/>
                      </a:lnTo>
                      <a:lnTo>
                        <a:pt x="51" y="136"/>
                      </a:lnTo>
                      <a:lnTo>
                        <a:pt x="45" y="134"/>
                      </a:lnTo>
                      <a:lnTo>
                        <a:pt x="40" y="131"/>
                      </a:lnTo>
                      <a:lnTo>
                        <a:pt x="34" y="128"/>
                      </a:lnTo>
                      <a:lnTo>
                        <a:pt x="29" y="123"/>
                      </a:lnTo>
                      <a:lnTo>
                        <a:pt x="24" y="119"/>
                      </a:lnTo>
                      <a:lnTo>
                        <a:pt x="19" y="115"/>
                      </a:lnTo>
                      <a:lnTo>
                        <a:pt x="15" y="110"/>
                      </a:lnTo>
                      <a:lnTo>
                        <a:pt x="12" y="104"/>
                      </a:lnTo>
                      <a:lnTo>
                        <a:pt x="10" y="98"/>
                      </a:lnTo>
                      <a:lnTo>
                        <a:pt x="7" y="91"/>
                      </a:lnTo>
                      <a:lnTo>
                        <a:pt x="5" y="85"/>
                      </a:lnTo>
                      <a:lnTo>
                        <a:pt x="4" y="79"/>
                      </a:lnTo>
                      <a:lnTo>
                        <a:pt x="4" y="71"/>
                      </a:lnTo>
                      <a:lnTo>
                        <a:pt x="4" y="65"/>
                      </a:lnTo>
                      <a:lnTo>
                        <a:pt x="5" y="57"/>
                      </a:lnTo>
                      <a:lnTo>
                        <a:pt x="7" y="51"/>
                      </a:lnTo>
                      <a:lnTo>
                        <a:pt x="10" y="45"/>
                      </a:lnTo>
                      <a:lnTo>
                        <a:pt x="12" y="39"/>
                      </a:lnTo>
                      <a:lnTo>
                        <a:pt x="15" y="34"/>
                      </a:lnTo>
                      <a:lnTo>
                        <a:pt x="19" y="29"/>
                      </a:lnTo>
                      <a:lnTo>
                        <a:pt x="24" y="23"/>
                      </a:lnTo>
                      <a:lnTo>
                        <a:pt x="29" y="19"/>
                      </a:lnTo>
                      <a:lnTo>
                        <a:pt x="34" y="15"/>
                      </a:lnTo>
                      <a:lnTo>
                        <a:pt x="40" y="12"/>
                      </a:lnTo>
                      <a:lnTo>
                        <a:pt x="45" y="10"/>
                      </a:lnTo>
                      <a:lnTo>
                        <a:pt x="51" y="6"/>
                      </a:lnTo>
                      <a:lnTo>
                        <a:pt x="58" y="5"/>
                      </a:lnTo>
                      <a:lnTo>
                        <a:pt x="65" y="4"/>
                      </a:lnTo>
                      <a:lnTo>
                        <a:pt x="71" y="4"/>
                      </a:lnTo>
                      <a:lnTo>
                        <a:pt x="79" y="4"/>
                      </a:lnTo>
                      <a:lnTo>
                        <a:pt x="85" y="5"/>
                      </a:lnTo>
                      <a:lnTo>
                        <a:pt x="92" y="6"/>
                      </a:lnTo>
                      <a:lnTo>
                        <a:pt x="98" y="10"/>
                      </a:lnTo>
                      <a:lnTo>
                        <a:pt x="104" y="12"/>
                      </a:lnTo>
                      <a:lnTo>
                        <a:pt x="110" y="15"/>
                      </a:lnTo>
                      <a:lnTo>
                        <a:pt x="115" y="19"/>
                      </a:lnTo>
                      <a:lnTo>
                        <a:pt x="119" y="23"/>
                      </a:lnTo>
                      <a:lnTo>
                        <a:pt x="124" y="29"/>
                      </a:lnTo>
                      <a:lnTo>
                        <a:pt x="128" y="34"/>
                      </a:lnTo>
                      <a:lnTo>
                        <a:pt x="131" y="39"/>
                      </a:lnTo>
                      <a:lnTo>
                        <a:pt x="134" y="45"/>
                      </a:lnTo>
                      <a:lnTo>
                        <a:pt x="136" y="51"/>
                      </a:lnTo>
                      <a:lnTo>
                        <a:pt x="138" y="57"/>
                      </a:lnTo>
                      <a:lnTo>
                        <a:pt x="140" y="65"/>
                      </a:lnTo>
                      <a:lnTo>
                        <a:pt x="140" y="7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12" name="Freeform 4800"/>
                <p:cNvSpPr>
                  <a:spLocks noChangeAspect="1" noEditPoints="1"/>
                </p:cNvSpPr>
                <p:nvPr/>
              </p:nvSpPr>
              <p:spPr bwMode="auto">
                <a:xfrm>
                  <a:off x="3499" y="3334"/>
                  <a:ext cx="47" cy="46"/>
                </a:xfrm>
                <a:custGeom>
                  <a:avLst/>
                  <a:gdLst>
                    <a:gd name="T0" fmla="*/ 138 w 140"/>
                    <a:gd name="T1" fmla="*/ 55 h 139"/>
                    <a:gd name="T2" fmla="*/ 131 w 140"/>
                    <a:gd name="T3" fmla="*/ 36 h 139"/>
                    <a:gd name="T4" fmla="*/ 119 w 140"/>
                    <a:gd name="T5" fmla="*/ 20 h 139"/>
                    <a:gd name="T6" fmla="*/ 102 w 140"/>
                    <a:gd name="T7" fmla="*/ 9 h 139"/>
                    <a:gd name="T8" fmla="*/ 83 w 140"/>
                    <a:gd name="T9" fmla="*/ 1 h 139"/>
                    <a:gd name="T10" fmla="*/ 62 w 140"/>
                    <a:gd name="T11" fmla="*/ 0 h 139"/>
                    <a:gd name="T12" fmla="*/ 43 w 140"/>
                    <a:gd name="T13" fmla="*/ 5 h 139"/>
                    <a:gd name="T14" fmla="*/ 25 w 140"/>
                    <a:gd name="T15" fmla="*/ 16 h 139"/>
                    <a:gd name="T16" fmla="*/ 12 w 140"/>
                    <a:gd name="T17" fmla="*/ 31 h 139"/>
                    <a:gd name="T18" fmla="*/ 3 w 140"/>
                    <a:gd name="T19" fmla="*/ 49 h 139"/>
                    <a:gd name="T20" fmla="*/ 0 w 140"/>
                    <a:gd name="T21" fmla="*/ 69 h 139"/>
                    <a:gd name="T22" fmla="*/ 3 w 140"/>
                    <a:gd name="T23" fmla="*/ 91 h 139"/>
                    <a:gd name="T24" fmla="*/ 12 w 140"/>
                    <a:gd name="T25" fmla="*/ 109 h 139"/>
                    <a:gd name="T26" fmla="*/ 25 w 140"/>
                    <a:gd name="T27" fmla="*/ 123 h 139"/>
                    <a:gd name="T28" fmla="*/ 43 w 140"/>
                    <a:gd name="T29" fmla="*/ 134 h 139"/>
                    <a:gd name="T30" fmla="*/ 62 w 140"/>
                    <a:gd name="T31" fmla="*/ 138 h 139"/>
                    <a:gd name="T32" fmla="*/ 83 w 140"/>
                    <a:gd name="T33" fmla="*/ 137 h 139"/>
                    <a:gd name="T34" fmla="*/ 102 w 140"/>
                    <a:gd name="T35" fmla="*/ 131 h 139"/>
                    <a:gd name="T36" fmla="*/ 119 w 140"/>
                    <a:gd name="T37" fmla="*/ 119 h 139"/>
                    <a:gd name="T38" fmla="*/ 131 w 140"/>
                    <a:gd name="T39" fmla="*/ 102 h 139"/>
                    <a:gd name="T40" fmla="*/ 138 w 140"/>
                    <a:gd name="T41" fmla="*/ 83 h 139"/>
                    <a:gd name="T42" fmla="*/ 135 w 140"/>
                    <a:gd name="T43" fmla="*/ 69 h 139"/>
                    <a:gd name="T44" fmla="*/ 132 w 140"/>
                    <a:gd name="T45" fmla="*/ 89 h 139"/>
                    <a:gd name="T46" fmla="*/ 124 w 140"/>
                    <a:gd name="T47" fmla="*/ 106 h 139"/>
                    <a:gd name="T48" fmla="*/ 111 w 140"/>
                    <a:gd name="T49" fmla="*/ 120 h 139"/>
                    <a:gd name="T50" fmla="*/ 95 w 140"/>
                    <a:gd name="T51" fmla="*/ 130 h 139"/>
                    <a:gd name="T52" fmla="*/ 77 w 140"/>
                    <a:gd name="T53" fmla="*/ 135 h 139"/>
                    <a:gd name="T54" fmla="*/ 57 w 140"/>
                    <a:gd name="T55" fmla="*/ 134 h 139"/>
                    <a:gd name="T56" fmla="*/ 39 w 140"/>
                    <a:gd name="T57" fmla="*/ 127 h 139"/>
                    <a:gd name="T58" fmla="*/ 24 w 140"/>
                    <a:gd name="T59" fmla="*/ 116 h 139"/>
                    <a:gd name="T60" fmla="*/ 12 w 140"/>
                    <a:gd name="T61" fmla="*/ 101 h 139"/>
                    <a:gd name="T62" fmla="*/ 6 w 140"/>
                    <a:gd name="T63" fmla="*/ 83 h 139"/>
                    <a:gd name="T64" fmla="*/ 5 w 140"/>
                    <a:gd name="T65" fmla="*/ 63 h 139"/>
                    <a:gd name="T66" fmla="*/ 9 w 140"/>
                    <a:gd name="T67" fmla="*/ 44 h 139"/>
                    <a:gd name="T68" fmla="*/ 19 w 140"/>
                    <a:gd name="T69" fmla="*/ 28 h 139"/>
                    <a:gd name="T70" fmla="*/ 33 w 140"/>
                    <a:gd name="T71" fmla="*/ 15 h 139"/>
                    <a:gd name="T72" fmla="*/ 50 w 140"/>
                    <a:gd name="T73" fmla="*/ 7 h 139"/>
                    <a:gd name="T74" fmla="*/ 69 w 140"/>
                    <a:gd name="T75" fmla="*/ 3 h 139"/>
                    <a:gd name="T76" fmla="*/ 90 w 140"/>
                    <a:gd name="T77" fmla="*/ 7 h 139"/>
                    <a:gd name="T78" fmla="*/ 107 w 140"/>
                    <a:gd name="T79" fmla="*/ 15 h 139"/>
                    <a:gd name="T80" fmla="*/ 121 w 140"/>
                    <a:gd name="T81" fmla="*/ 28 h 139"/>
                    <a:gd name="T82" fmla="*/ 130 w 140"/>
                    <a:gd name="T83" fmla="*/ 44 h 139"/>
                    <a:gd name="T84" fmla="*/ 135 w 140"/>
                    <a:gd name="T85" fmla="*/ 6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0" h="139">
                      <a:moveTo>
                        <a:pt x="140" y="69"/>
                      </a:moveTo>
                      <a:lnTo>
                        <a:pt x="139" y="63"/>
                      </a:lnTo>
                      <a:lnTo>
                        <a:pt x="138" y="55"/>
                      </a:lnTo>
                      <a:lnTo>
                        <a:pt x="136" y="49"/>
                      </a:lnTo>
                      <a:lnTo>
                        <a:pt x="134" y="43"/>
                      </a:lnTo>
                      <a:lnTo>
                        <a:pt x="131" y="36"/>
                      </a:lnTo>
                      <a:lnTo>
                        <a:pt x="128" y="31"/>
                      </a:lnTo>
                      <a:lnTo>
                        <a:pt x="124" y="25"/>
                      </a:lnTo>
                      <a:lnTo>
                        <a:pt x="119" y="20"/>
                      </a:lnTo>
                      <a:lnTo>
                        <a:pt x="114" y="16"/>
                      </a:lnTo>
                      <a:lnTo>
                        <a:pt x="109" y="12"/>
                      </a:lnTo>
                      <a:lnTo>
                        <a:pt x="102" y="9"/>
                      </a:lnTo>
                      <a:lnTo>
                        <a:pt x="97" y="5"/>
                      </a:lnTo>
                      <a:lnTo>
                        <a:pt x="91" y="3"/>
                      </a:lnTo>
                      <a:lnTo>
                        <a:pt x="83" y="1"/>
                      </a:lnTo>
                      <a:lnTo>
                        <a:pt x="77" y="0"/>
                      </a:lnTo>
                      <a:lnTo>
                        <a:pt x="69" y="0"/>
                      </a:lnTo>
                      <a:lnTo>
                        <a:pt x="62" y="0"/>
                      </a:lnTo>
                      <a:lnTo>
                        <a:pt x="56" y="1"/>
                      </a:lnTo>
                      <a:lnTo>
                        <a:pt x="49" y="3"/>
                      </a:lnTo>
                      <a:lnTo>
                        <a:pt x="43" y="5"/>
                      </a:lnTo>
                      <a:lnTo>
                        <a:pt x="36" y="9"/>
                      </a:lnTo>
                      <a:lnTo>
                        <a:pt x="31" y="12"/>
                      </a:lnTo>
                      <a:lnTo>
                        <a:pt x="25" y="16"/>
                      </a:lnTo>
                      <a:lnTo>
                        <a:pt x="20" y="20"/>
                      </a:lnTo>
                      <a:lnTo>
                        <a:pt x="16" y="25"/>
                      </a:lnTo>
                      <a:lnTo>
                        <a:pt x="12" y="31"/>
                      </a:lnTo>
                      <a:lnTo>
                        <a:pt x="9" y="36"/>
                      </a:lnTo>
                      <a:lnTo>
                        <a:pt x="6" y="43"/>
                      </a:lnTo>
                      <a:lnTo>
                        <a:pt x="3" y="49"/>
                      </a:lnTo>
                      <a:lnTo>
                        <a:pt x="1" y="55"/>
                      </a:lnTo>
                      <a:lnTo>
                        <a:pt x="0" y="63"/>
                      </a:lnTo>
                      <a:lnTo>
                        <a:pt x="0" y="69"/>
                      </a:lnTo>
                      <a:lnTo>
                        <a:pt x="0" y="77"/>
                      </a:lnTo>
                      <a:lnTo>
                        <a:pt x="1" y="83"/>
                      </a:lnTo>
                      <a:lnTo>
                        <a:pt x="3" y="91"/>
                      </a:lnTo>
                      <a:lnTo>
                        <a:pt x="6" y="97"/>
                      </a:lnTo>
                      <a:lnTo>
                        <a:pt x="9" y="102"/>
                      </a:lnTo>
                      <a:lnTo>
                        <a:pt x="12" y="109"/>
                      </a:lnTo>
                      <a:lnTo>
                        <a:pt x="16" y="114"/>
                      </a:lnTo>
                      <a:lnTo>
                        <a:pt x="20" y="119"/>
                      </a:lnTo>
                      <a:lnTo>
                        <a:pt x="25" y="123"/>
                      </a:lnTo>
                      <a:lnTo>
                        <a:pt x="31" y="128"/>
                      </a:lnTo>
                      <a:lnTo>
                        <a:pt x="36" y="131"/>
                      </a:lnTo>
                      <a:lnTo>
                        <a:pt x="43" y="134"/>
                      </a:lnTo>
                      <a:lnTo>
                        <a:pt x="49" y="136"/>
                      </a:lnTo>
                      <a:lnTo>
                        <a:pt x="56" y="137"/>
                      </a:lnTo>
                      <a:lnTo>
                        <a:pt x="62" y="138"/>
                      </a:lnTo>
                      <a:lnTo>
                        <a:pt x="69" y="139"/>
                      </a:lnTo>
                      <a:lnTo>
                        <a:pt x="77" y="138"/>
                      </a:lnTo>
                      <a:lnTo>
                        <a:pt x="83" y="137"/>
                      </a:lnTo>
                      <a:lnTo>
                        <a:pt x="91" y="136"/>
                      </a:lnTo>
                      <a:lnTo>
                        <a:pt x="97" y="134"/>
                      </a:lnTo>
                      <a:lnTo>
                        <a:pt x="102" y="131"/>
                      </a:lnTo>
                      <a:lnTo>
                        <a:pt x="109" y="128"/>
                      </a:lnTo>
                      <a:lnTo>
                        <a:pt x="114" y="123"/>
                      </a:lnTo>
                      <a:lnTo>
                        <a:pt x="119" y="119"/>
                      </a:lnTo>
                      <a:lnTo>
                        <a:pt x="124" y="114"/>
                      </a:lnTo>
                      <a:lnTo>
                        <a:pt x="128" y="109"/>
                      </a:lnTo>
                      <a:lnTo>
                        <a:pt x="131" y="102"/>
                      </a:lnTo>
                      <a:lnTo>
                        <a:pt x="134" y="97"/>
                      </a:lnTo>
                      <a:lnTo>
                        <a:pt x="136" y="91"/>
                      </a:lnTo>
                      <a:lnTo>
                        <a:pt x="138" y="83"/>
                      </a:lnTo>
                      <a:lnTo>
                        <a:pt x="139" y="77"/>
                      </a:lnTo>
                      <a:lnTo>
                        <a:pt x="140" y="69"/>
                      </a:lnTo>
                      <a:close/>
                      <a:moveTo>
                        <a:pt x="135" y="69"/>
                      </a:moveTo>
                      <a:lnTo>
                        <a:pt x="135" y="77"/>
                      </a:lnTo>
                      <a:lnTo>
                        <a:pt x="134" y="83"/>
                      </a:lnTo>
                      <a:lnTo>
                        <a:pt x="132" y="89"/>
                      </a:lnTo>
                      <a:lnTo>
                        <a:pt x="130" y="95"/>
                      </a:lnTo>
                      <a:lnTo>
                        <a:pt x="127" y="101"/>
                      </a:lnTo>
                      <a:lnTo>
                        <a:pt x="124" y="106"/>
                      </a:lnTo>
                      <a:lnTo>
                        <a:pt x="121" y="111"/>
                      </a:lnTo>
                      <a:lnTo>
                        <a:pt x="116" y="116"/>
                      </a:lnTo>
                      <a:lnTo>
                        <a:pt x="111" y="120"/>
                      </a:lnTo>
                      <a:lnTo>
                        <a:pt x="107" y="123"/>
                      </a:lnTo>
                      <a:lnTo>
                        <a:pt x="101" y="127"/>
                      </a:lnTo>
                      <a:lnTo>
                        <a:pt x="95" y="130"/>
                      </a:lnTo>
                      <a:lnTo>
                        <a:pt x="90" y="132"/>
                      </a:lnTo>
                      <a:lnTo>
                        <a:pt x="83" y="134"/>
                      </a:lnTo>
                      <a:lnTo>
                        <a:pt x="77" y="135"/>
                      </a:lnTo>
                      <a:lnTo>
                        <a:pt x="69" y="135"/>
                      </a:lnTo>
                      <a:lnTo>
                        <a:pt x="63" y="135"/>
                      </a:lnTo>
                      <a:lnTo>
                        <a:pt x="57" y="134"/>
                      </a:lnTo>
                      <a:lnTo>
                        <a:pt x="50" y="132"/>
                      </a:lnTo>
                      <a:lnTo>
                        <a:pt x="44" y="130"/>
                      </a:lnTo>
                      <a:lnTo>
                        <a:pt x="39" y="127"/>
                      </a:lnTo>
                      <a:lnTo>
                        <a:pt x="33" y="123"/>
                      </a:lnTo>
                      <a:lnTo>
                        <a:pt x="28" y="120"/>
                      </a:lnTo>
                      <a:lnTo>
                        <a:pt x="24" y="116"/>
                      </a:lnTo>
                      <a:lnTo>
                        <a:pt x="19" y="111"/>
                      </a:lnTo>
                      <a:lnTo>
                        <a:pt x="15" y="106"/>
                      </a:lnTo>
                      <a:lnTo>
                        <a:pt x="12" y="101"/>
                      </a:lnTo>
                      <a:lnTo>
                        <a:pt x="9" y="95"/>
                      </a:lnTo>
                      <a:lnTo>
                        <a:pt x="7" y="89"/>
                      </a:lnTo>
                      <a:lnTo>
                        <a:pt x="6" y="83"/>
                      </a:lnTo>
                      <a:lnTo>
                        <a:pt x="5" y="77"/>
                      </a:lnTo>
                      <a:lnTo>
                        <a:pt x="3" y="69"/>
                      </a:lnTo>
                      <a:lnTo>
                        <a:pt x="5" y="63"/>
                      </a:lnTo>
                      <a:lnTo>
                        <a:pt x="6" y="57"/>
                      </a:lnTo>
                      <a:lnTo>
                        <a:pt x="7" y="50"/>
                      </a:lnTo>
                      <a:lnTo>
                        <a:pt x="9" y="44"/>
                      </a:lnTo>
                      <a:lnTo>
                        <a:pt x="12" y="38"/>
                      </a:lnTo>
                      <a:lnTo>
                        <a:pt x="15" y="33"/>
                      </a:lnTo>
                      <a:lnTo>
                        <a:pt x="19" y="28"/>
                      </a:lnTo>
                      <a:lnTo>
                        <a:pt x="24" y="24"/>
                      </a:lnTo>
                      <a:lnTo>
                        <a:pt x="28" y="19"/>
                      </a:lnTo>
                      <a:lnTo>
                        <a:pt x="33" y="15"/>
                      </a:lnTo>
                      <a:lnTo>
                        <a:pt x="39" y="12"/>
                      </a:lnTo>
                      <a:lnTo>
                        <a:pt x="44" y="9"/>
                      </a:lnTo>
                      <a:lnTo>
                        <a:pt x="50" y="7"/>
                      </a:lnTo>
                      <a:lnTo>
                        <a:pt x="57" y="5"/>
                      </a:lnTo>
                      <a:lnTo>
                        <a:pt x="63" y="4"/>
                      </a:lnTo>
                      <a:lnTo>
                        <a:pt x="69" y="3"/>
                      </a:lnTo>
                      <a:lnTo>
                        <a:pt x="77" y="4"/>
                      </a:lnTo>
                      <a:lnTo>
                        <a:pt x="83" y="5"/>
                      </a:lnTo>
                      <a:lnTo>
                        <a:pt x="90" y="7"/>
                      </a:lnTo>
                      <a:lnTo>
                        <a:pt x="95" y="9"/>
                      </a:lnTo>
                      <a:lnTo>
                        <a:pt x="101" y="12"/>
                      </a:lnTo>
                      <a:lnTo>
                        <a:pt x="107" y="15"/>
                      </a:lnTo>
                      <a:lnTo>
                        <a:pt x="111" y="19"/>
                      </a:lnTo>
                      <a:lnTo>
                        <a:pt x="116" y="24"/>
                      </a:lnTo>
                      <a:lnTo>
                        <a:pt x="121" y="28"/>
                      </a:lnTo>
                      <a:lnTo>
                        <a:pt x="124" y="33"/>
                      </a:lnTo>
                      <a:lnTo>
                        <a:pt x="127" y="38"/>
                      </a:lnTo>
                      <a:lnTo>
                        <a:pt x="130" y="44"/>
                      </a:lnTo>
                      <a:lnTo>
                        <a:pt x="132" y="50"/>
                      </a:lnTo>
                      <a:lnTo>
                        <a:pt x="134" y="57"/>
                      </a:lnTo>
                      <a:lnTo>
                        <a:pt x="135" y="63"/>
                      </a:lnTo>
                      <a:lnTo>
                        <a:pt x="135" y="6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13" name="Freeform 4801"/>
                <p:cNvSpPr>
                  <a:spLocks noChangeAspect="1" noEditPoints="1"/>
                </p:cNvSpPr>
                <p:nvPr/>
              </p:nvSpPr>
              <p:spPr bwMode="auto">
                <a:xfrm>
                  <a:off x="3500" y="3335"/>
                  <a:ext cx="45" cy="45"/>
                </a:xfrm>
                <a:custGeom>
                  <a:avLst/>
                  <a:gdLst>
                    <a:gd name="T0" fmla="*/ 134 w 136"/>
                    <a:gd name="T1" fmla="*/ 53 h 135"/>
                    <a:gd name="T2" fmla="*/ 127 w 136"/>
                    <a:gd name="T3" fmla="*/ 35 h 135"/>
                    <a:gd name="T4" fmla="*/ 115 w 136"/>
                    <a:gd name="T5" fmla="*/ 19 h 135"/>
                    <a:gd name="T6" fmla="*/ 100 w 136"/>
                    <a:gd name="T7" fmla="*/ 8 h 135"/>
                    <a:gd name="T8" fmla="*/ 81 w 136"/>
                    <a:gd name="T9" fmla="*/ 1 h 135"/>
                    <a:gd name="T10" fmla="*/ 61 w 136"/>
                    <a:gd name="T11" fmla="*/ 0 h 135"/>
                    <a:gd name="T12" fmla="*/ 41 w 136"/>
                    <a:gd name="T13" fmla="*/ 6 h 135"/>
                    <a:gd name="T14" fmla="*/ 25 w 136"/>
                    <a:gd name="T15" fmla="*/ 15 h 135"/>
                    <a:gd name="T16" fmla="*/ 11 w 136"/>
                    <a:gd name="T17" fmla="*/ 30 h 135"/>
                    <a:gd name="T18" fmla="*/ 3 w 136"/>
                    <a:gd name="T19" fmla="*/ 47 h 135"/>
                    <a:gd name="T20" fmla="*/ 0 w 136"/>
                    <a:gd name="T21" fmla="*/ 67 h 135"/>
                    <a:gd name="T22" fmla="*/ 3 w 136"/>
                    <a:gd name="T23" fmla="*/ 87 h 135"/>
                    <a:gd name="T24" fmla="*/ 11 w 136"/>
                    <a:gd name="T25" fmla="*/ 106 h 135"/>
                    <a:gd name="T26" fmla="*/ 25 w 136"/>
                    <a:gd name="T27" fmla="*/ 119 h 135"/>
                    <a:gd name="T28" fmla="*/ 41 w 136"/>
                    <a:gd name="T29" fmla="*/ 130 h 135"/>
                    <a:gd name="T30" fmla="*/ 61 w 136"/>
                    <a:gd name="T31" fmla="*/ 135 h 135"/>
                    <a:gd name="T32" fmla="*/ 81 w 136"/>
                    <a:gd name="T33" fmla="*/ 134 h 135"/>
                    <a:gd name="T34" fmla="*/ 100 w 136"/>
                    <a:gd name="T35" fmla="*/ 127 h 135"/>
                    <a:gd name="T36" fmla="*/ 115 w 136"/>
                    <a:gd name="T37" fmla="*/ 115 h 135"/>
                    <a:gd name="T38" fmla="*/ 127 w 136"/>
                    <a:gd name="T39" fmla="*/ 100 h 135"/>
                    <a:gd name="T40" fmla="*/ 134 w 136"/>
                    <a:gd name="T41" fmla="*/ 81 h 135"/>
                    <a:gd name="T42" fmla="*/ 131 w 136"/>
                    <a:gd name="T43" fmla="*/ 67 h 135"/>
                    <a:gd name="T44" fmla="*/ 128 w 136"/>
                    <a:gd name="T45" fmla="*/ 86 h 135"/>
                    <a:gd name="T46" fmla="*/ 121 w 136"/>
                    <a:gd name="T47" fmla="*/ 103 h 135"/>
                    <a:gd name="T48" fmla="*/ 108 w 136"/>
                    <a:gd name="T49" fmla="*/ 116 h 135"/>
                    <a:gd name="T50" fmla="*/ 92 w 136"/>
                    <a:gd name="T51" fmla="*/ 126 h 135"/>
                    <a:gd name="T52" fmla="*/ 74 w 136"/>
                    <a:gd name="T53" fmla="*/ 131 h 135"/>
                    <a:gd name="T54" fmla="*/ 55 w 136"/>
                    <a:gd name="T55" fmla="*/ 130 h 135"/>
                    <a:gd name="T56" fmla="*/ 38 w 136"/>
                    <a:gd name="T57" fmla="*/ 124 h 135"/>
                    <a:gd name="T58" fmla="*/ 23 w 136"/>
                    <a:gd name="T59" fmla="*/ 113 h 135"/>
                    <a:gd name="T60" fmla="*/ 12 w 136"/>
                    <a:gd name="T61" fmla="*/ 98 h 135"/>
                    <a:gd name="T62" fmla="*/ 6 w 136"/>
                    <a:gd name="T63" fmla="*/ 80 h 135"/>
                    <a:gd name="T64" fmla="*/ 5 w 136"/>
                    <a:gd name="T65" fmla="*/ 61 h 135"/>
                    <a:gd name="T66" fmla="*/ 9 w 136"/>
                    <a:gd name="T67" fmla="*/ 43 h 135"/>
                    <a:gd name="T68" fmla="*/ 18 w 136"/>
                    <a:gd name="T69" fmla="*/ 27 h 135"/>
                    <a:gd name="T70" fmla="*/ 32 w 136"/>
                    <a:gd name="T71" fmla="*/ 15 h 135"/>
                    <a:gd name="T72" fmla="*/ 48 w 136"/>
                    <a:gd name="T73" fmla="*/ 7 h 135"/>
                    <a:gd name="T74" fmla="*/ 67 w 136"/>
                    <a:gd name="T75" fmla="*/ 3 h 135"/>
                    <a:gd name="T76" fmla="*/ 87 w 136"/>
                    <a:gd name="T77" fmla="*/ 7 h 135"/>
                    <a:gd name="T78" fmla="*/ 104 w 136"/>
                    <a:gd name="T79" fmla="*/ 15 h 135"/>
                    <a:gd name="T80" fmla="*/ 116 w 136"/>
                    <a:gd name="T81" fmla="*/ 27 h 135"/>
                    <a:gd name="T82" fmla="*/ 126 w 136"/>
                    <a:gd name="T83" fmla="*/ 43 h 135"/>
                    <a:gd name="T84" fmla="*/ 131 w 136"/>
                    <a:gd name="T85" fmla="*/ 6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6" h="135">
                      <a:moveTo>
                        <a:pt x="136" y="67"/>
                      </a:moveTo>
                      <a:lnTo>
                        <a:pt x="136" y="61"/>
                      </a:lnTo>
                      <a:lnTo>
                        <a:pt x="134" y="53"/>
                      </a:lnTo>
                      <a:lnTo>
                        <a:pt x="132" y="47"/>
                      </a:lnTo>
                      <a:lnTo>
                        <a:pt x="130" y="41"/>
                      </a:lnTo>
                      <a:lnTo>
                        <a:pt x="127" y="35"/>
                      </a:lnTo>
                      <a:lnTo>
                        <a:pt x="124" y="30"/>
                      </a:lnTo>
                      <a:lnTo>
                        <a:pt x="120" y="25"/>
                      </a:lnTo>
                      <a:lnTo>
                        <a:pt x="115" y="19"/>
                      </a:lnTo>
                      <a:lnTo>
                        <a:pt x="111" y="15"/>
                      </a:lnTo>
                      <a:lnTo>
                        <a:pt x="106" y="11"/>
                      </a:lnTo>
                      <a:lnTo>
                        <a:pt x="100" y="8"/>
                      </a:lnTo>
                      <a:lnTo>
                        <a:pt x="94" y="6"/>
                      </a:lnTo>
                      <a:lnTo>
                        <a:pt x="88" y="2"/>
                      </a:lnTo>
                      <a:lnTo>
                        <a:pt x="81" y="1"/>
                      </a:lnTo>
                      <a:lnTo>
                        <a:pt x="75" y="0"/>
                      </a:lnTo>
                      <a:lnTo>
                        <a:pt x="67" y="0"/>
                      </a:lnTo>
                      <a:lnTo>
                        <a:pt x="61" y="0"/>
                      </a:lnTo>
                      <a:lnTo>
                        <a:pt x="54" y="1"/>
                      </a:lnTo>
                      <a:lnTo>
                        <a:pt x="47" y="2"/>
                      </a:lnTo>
                      <a:lnTo>
                        <a:pt x="41" y="6"/>
                      </a:lnTo>
                      <a:lnTo>
                        <a:pt x="36" y="8"/>
                      </a:lnTo>
                      <a:lnTo>
                        <a:pt x="30" y="11"/>
                      </a:lnTo>
                      <a:lnTo>
                        <a:pt x="25" y="15"/>
                      </a:lnTo>
                      <a:lnTo>
                        <a:pt x="20" y="19"/>
                      </a:lnTo>
                      <a:lnTo>
                        <a:pt x="15" y="25"/>
                      </a:lnTo>
                      <a:lnTo>
                        <a:pt x="11" y="30"/>
                      </a:lnTo>
                      <a:lnTo>
                        <a:pt x="8" y="35"/>
                      </a:lnTo>
                      <a:lnTo>
                        <a:pt x="6" y="41"/>
                      </a:lnTo>
                      <a:lnTo>
                        <a:pt x="3" y="47"/>
                      </a:lnTo>
                      <a:lnTo>
                        <a:pt x="1" y="53"/>
                      </a:lnTo>
                      <a:lnTo>
                        <a:pt x="0" y="61"/>
                      </a:lnTo>
                      <a:lnTo>
                        <a:pt x="0" y="67"/>
                      </a:lnTo>
                      <a:lnTo>
                        <a:pt x="0" y="75"/>
                      </a:lnTo>
                      <a:lnTo>
                        <a:pt x="1" y="81"/>
                      </a:lnTo>
                      <a:lnTo>
                        <a:pt x="3" y="87"/>
                      </a:lnTo>
                      <a:lnTo>
                        <a:pt x="6" y="94"/>
                      </a:lnTo>
                      <a:lnTo>
                        <a:pt x="8" y="100"/>
                      </a:lnTo>
                      <a:lnTo>
                        <a:pt x="11" y="106"/>
                      </a:lnTo>
                      <a:lnTo>
                        <a:pt x="15" y="111"/>
                      </a:lnTo>
                      <a:lnTo>
                        <a:pt x="20" y="115"/>
                      </a:lnTo>
                      <a:lnTo>
                        <a:pt x="25" y="119"/>
                      </a:lnTo>
                      <a:lnTo>
                        <a:pt x="30" y="124"/>
                      </a:lnTo>
                      <a:lnTo>
                        <a:pt x="36" y="127"/>
                      </a:lnTo>
                      <a:lnTo>
                        <a:pt x="41" y="130"/>
                      </a:lnTo>
                      <a:lnTo>
                        <a:pt x="47" y="132"/>
                      </a:lnTo>
                      <a:lnTo>
                        <a:pt x="54" y="134"/>
                      </a:lnTo>
                      <a:lnTo>
                        <a:pt x="61" y="135"/>
                      </a:lnTo>
                      <a:lnTo>
                        <a:pt x="67" y="135"/>
                      </a:lnTo>
                      <a:lnTo>
                        <a:pt x="75" y="135"/>
                      </a:lnTo>
                      <a:lnTo>
                        <a:pt x="81" y="134"/>
                      </a:lnTo>
                      <a:lnTo>
                        <a:pt x="88" y="132"/>
                      </a:lnTo>
                      <a:lnTo>
                        <a:pt x="94" y="130"/>
                      </a:lnTo>
                      <a:lnTo>
                        <a:pt x="100" y="127"/>
                      </a:lnTo>
                      <a:lnTo>
                        <a:pt x="106" y="124"/>
                      </a:lnTo>
                      <a:lnTo>
                        <a:pt x="111" y="119"/>
                      </a:lnTo>
                      <a:lnTo>
                        <a:pt x="115" y="115"/>
                      </a:lnTo>
                      <a:lnTo>
                        <a:pt x="120" y="111"/>
                      </a:lnTo>
                      <a:lnTo>
                        <a:pt x="124" y="106"/>
                      </a:lnTo>
                      <a:lnTo>
                        <a:pt x="127" y="100"/>
                      </a:lnTo>
                      <a:lnTo>
                        <a:pt x="130" y="94"/>
                      </a:lnTo>
                      <a:lnTo>
                        <a:pt x="132" y="87"/>
                      </a:lnTo>
                      <a:lnTo>
                        <a:pt x="134" y="81"/>
                      </a:lnTo>
                      <a:lnTo>
                        <a:pt x="136" y="75"/>
                      </a:lnTo>
                      <a:lnTo>
                        <a:pt x="136" y="67"/>
                      </a:lnTo>
                      <a:close/>
                      <a:moveTo>
                        <a:pt x="131" y="67"/>
                      </a:moveTo>
                      <a:lnTo>
                        <a:pt x="131" y="74"/>
                      </a:lnTo>
                      <a:lnTo>
                        <a:pt x="130" y="80"/>
                      </a:lnTo>
                      <a:lnTo>
                        <a:pt x="128" y="86"/>
                      </a:lnTo>
                      <a:lnTo>
                        <a:pt x="126" y="92"/>
                      </a:lnTo>
                      <a:lnTo>
                        <a:pt x="124" y="98"/>
                      </a:lnTo>
                      <a:lnTo>
                        <a:pt x="121" y="103"/>
                      </a:lnTo>
                      <a:lnTo>
                        <a:pt x="116" y="108"/>
                      </a:lnTo>
                      <a:lnTo>
                        <a:pt x="112" y="113"/>
                      </a:lnTo>
                      <a:lnTo>
                        <a:pt x="108" y="116"/>
                      </a:lnTo>
                      <a:lnTo>
                        <a:pt x="104" y="120"/>
                      </a:lnTo>
                      <a:lnTo>
                        <a:pt x="98" y="124"/>
                      </a:lnTo>
                      <a:lnTo>
                        <a:pt x="92" y="126"/>
                      </a:lnTo>
                      <a:lnTo>
                        <a:pt x="87" y="128"/>
                      </a:lnTo>
                      <a:lnTo>
                        <a:pt x="80" y="130"/>
                      </a:lnTo>
                      <a:lnTo>
                        <a:pt x="74" y="131"/>
                      </a:lnTo>
                      <a:lnTo>
                        <a:pt x="67" y="131"/>
                      </a:lnTo>
                      <a:lnTo>
                        <a:pt x="61" y="131"/>
                      </a:lnTo>
                      <a:lnTo>
                        <a:pt x="55" y="130"/>
                      </a:lnTo>
                      <a:lnTo>
                        <a:pt x="48" y="128"/>
                      </a:lnTo>
                      <a:lnTo>
                        <a:pt x="43" y="126"/>
                      </a:lnTo>
                      <a:lnTo>
                        <a:pt x="38" y="124"/>
                      </a:lnTo>
                      <a:lnTo>
                        <a:pt x="32" y="120"/>
                      </a:lnTo>
                      <a:lnTo>
                        <a:pt x="27" y="116"/>
                      </a:lnTo>
                      <a:lnTo>
                        <a:pt x="23" y="113"/>
                      </a:lnTo>
                      <a:lnTo>
                        <a:pt x="18" y="108"/>
                      </a:lnTo>
                      <a:lnTo>
                        <a:pt x="15" y="103"/>
                      </a:lnTo>
                      <a:lnTo>
                        <a:pt x="12" y="98"/>
                      </a:lnTo>
                      <a:lnTo>
                        <a:pt x="9" y="92"/>
                      </a:lnTo>
                      <a:lnTo>
                        <a:pt x="7" y="86"/>
                      </a:lnTo>
                      <a:lnTo>
                        <a:pt x="6" y="80"/>
                      </a:lnTo>
                      <a:lnTo>
                        <a:pt x="5" y="74"/>
                      </a:lnTo>
                      <a:lnTo>
                        <a:pt x="4" y="67"/>
                      </a:lnTo>
                      <a:lnTo>
                        <a:pt x="5" y="61"/>
                      </a:lnTo>
                      <a:lnTo>
                        <a:pt x="6" y="55"/>
                      </a:lnTo>
                      <a:lnTo>
                        <a:pt x="7" y="48"/>
                      </a:lnTo>
                      <a:lnTo>
                        <a:pt x="9" y="43"/>
                      </a:lnTo>
                      <a:lnTo>
                        <a:pt x="12" y="37"/>
                      </a:lnTo>
                      <a:lnTo>
                        <a:pt x="15" y="32"/>
                      </a:lnTo>
                      <a:lnTo>
                        <a:pt x="18" y="27"/>
                      </a:lnTo>
                      <a:lnTo>
                        <a:pt x="23" y="23"/>
                      </a:lnTo>
                      <a:lnTo>
                        <a:pt x="27" y="18"/>
                      </a:lnTo>
                      <a:lnTo>
                        <a:pt x="32" y="15"/>
                      </a:lnTo>
                      <a:lnTo>
                        <a:pt x="38" y="12"/>
                      </a:lnTo>
                      <a:lnTo>
                        <a:pt x="43" y="9"/>
                      </a:lnTo>
                      <a:lnTo>
                        <a:pt x="48" y="7"/>
                      </a:lnTo>
                      <a:lnTo>
                        <a:pt x="55" y="6"/>
                      </a:lnTo>
                      <a:lnTo>
                        <a:pt x="61" y="5"/>
                      </a:lnTo>
                      <a:lnTo>
                        <a:pt x="67" y="3"/>
                      </a:lnTo>
                      <a:lnTo>
                        <a:pt x="74" y="5"/>
                      </a:lnTo>
                      <a:lnTo>
                        <a:pt x="80" y="6"/>
                      </a:lnTo>
                      <a:lnTo>
                        <a:pt x="87" y="7"/>
                      </a:lnTo>
                      <a:lnTo>
                        <a:pt x="92" y="9"/>
                      </a:lnTo>
                      <a:lnTo>
                        <a:pt x="98" y="12"/>
                      </a:lnTo>
                      <a:lnTo>
                        <a:pt x="104" y="15"/>
                      </a:lnTo>
                      <a:lnTo>
                        <a:pt x="108" y="18"/>
                      </a:lnTo>
                      <a:lnTo>
                        <a:pt x="112" y="23"/>
                      </a:lnTo>
                      <a:lnTo>
                        <a:pt x="116" y="27"/>
                      </a:lnTo>
                      <a:lnTo>
                        <a:pt x="121" y="32"/>
                      </a:lnTo>
                      <a:lnTo>
                        <a:pt x="124" y="37"/>
                      </a:lnTo>
                      <a:lnTo>
                        <a:pt x="126" y="43"/>
                      </a:lnTo>
                      <a:lnTo>
                        <a:pt x="128" y="48"/>
                      </a:lnTo>
                      <a:lnTo>
                        <a:pt x="130" y="55"/>
                      </a:lnTo>
                      <a:lnTo>
                        <a:pt x="131" y="61"/>
                      </a:lnTo>
                      <a:lnTo>
                        <a:pt x="131" y="6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14" name="Freeform 4802"/>
                <p:cNvSpPr>
                  <a:spLocks noChangeAspect="1" noEditPoints="1"/>
                </p:cNvSpPr>
                <p:nvPr/>
              </p:nvSpPr>
              <p:spPr bwMode="auto">
                <a:xfrm>
                  <a:off x="3500" y="3335"/>
                  <a:ext cx="44" cy="45"/>
                </a:xfrm>
                <a:custGeom>
                  <a:avLst/>
                  <a:gdLst>
                    <a:gd name="T0" fmla="*/ 131 w 132"/>
                    <a:gd name="T1" fmla="*/ 54 h 132"/>
                    <a:gd name="T2" fmla="*/ 124 w 132"/>
                    <a:gd name="T3" fmla="*/ 35 h 132"/>
                    <a:gd name="T4" fmla="*/ 113 w 132"/>
                    <a:gd name="T5" fmla="*/ 21 h 132"/>
                    <a:gd name="T6" fmla="*/ 98 w 132"/>
                    <a:gd name="T7" fmla="*/ 9 h 132"/>
                    <a:gd name="T8" fmla="*/ 80 w 132"/>
                    <a:gd name="T9" fmla="*/ 2 h 132"/>
                    <a:gd name="T10" fmla="*/ 60 w 132"/>
                    <a:gd name="T11" fmla="*/ 1 h 132"/>
                    <a:gd name="T12" fmla="*/ 41 w 132"/>
                    <a:gd name="T13" fmla="*/ 6 h 132"/>
                    <a:gd name="T14" fmla="*/ 25 w 132"/>
                    <a:gd name="T15" fmla="*/ 16 h 132"/>
                    <a:gd name="T16" fmla="*/ 12 w 132"/>
                    <a:gd name="T17" fmla="*/ 30 h 132"/>
                    <a:gd name="T18" fmla="*/ 4 w 132"/>
                    <a:gd name="T19" fmla="*/ 47 h 132"/>
                    <a:gd name="T20" fmla="*/ 0 w 132"/>
                    <a:gd name="T21" fmla="*/ 66 h 132"/>
                    <a:gd name="T22" fmla="*/ 4 w 132"/>
                    <a:gd name="T23" fmla="*/ 86 h 132"/>
                    <a:gd name="T24" fmla="*/ 12 w 132"/>
                    <a:gd name="T25" fmla="*/ 103 h 132"/>
                    <a:gd name="T26" fmla="*/ 25 w 132"/>
                    <a:gd name="T27" fmla="*/ 117 h 132"/>
                    <a:gd name="T28" fmla="*/ 41 w 132"/>
                    <a:gd name="T29" fmla="*/ 127 h 132"/>
                    <a:gd name="T30" fmla="*/ 60 w 132"/>
                    <a:gd name="T31" fmla="*/ 132 h 132"/>
                    <a:gd name="T32" fmla="*/ 80 w 132"/>
                    <a:gd name="T33" fmla="*/ 131 h 132"/>
                    <a:gd name="T34" fmla="*/ 98 w 132"/>
                    <a:gd name="T35" fmla="*/ 124 h 132"/>
                    <a:gd name="T36" fmla="*/ 113 w 132"/>
                    <a:gd name="T37" fmla="*/ 113 h 132"/>
                    <a:gd name="T38" fmla="*/ 124 w 132"/>
                    <a:gd name="T39" fmla="*/ 98 h 132"/>
                    <a:gd name="T40" fmla="*/ 131 w 132"/>
                    <a:gd name="T41" fmla="*/ 80 h 132"/>
                    <a:gd name="T42" fmla="*/ 128 w 132"/>
                    <a:gd name="T43" fmla="*/ 66 h 132"/>
                    <a:gd name="T44" fmla="*/ 125 w 132"/>
                    <a:gd name="T45" fmla="*/ 84 h 132"/>
                    <a:gd name="T46" fmla="*/ 118 w 132"/>
                    <a:gd name="T47" fmla="*/ 101 h 132"/>
                    <a:gd name="T48" fmla="*/ 106 w 132"/>
                    <a:gd name="T49" fmla="*/ 114 h 132"/>
                    <a:gd name="T50" fmla="*/ 91 w 132"/>
                    <a:gd name="T51" fmla="*/ 124 h 132"/>
                    <a:gd name="T52" fmla="*/ 73 w 132"/>
                    <a:gd name="T53" fmla="*/ 128 h 132"/>
                    <a:gd name="T54" fmla="*/ 55 w 132"/>
                    <a:gd name="T55" fmla="*/ 127 h 132"/>
                    <a:gd name="T56" fmla="*/ 38 w 132"/>
                    <a:gd name="T57" fmla="*/ 120 h 132"/>
                    <a:gd name="T58" fmla="*/ 23 w 132"/>
                    <a:gd name="T59" fmla="*/ 110 h 132"/>
                    <a:gd name="T60" fmla="*/ 12 w 132"/>
                    <a:gd name="T61" fmla="*/ 96 h 132"/>
                    <a:gd name="T62" fmla="*/ 7 w 132"/>
                    <a:gd name="T63" fmla="*/ 79 h 132"/>
                    <a:gd name="T64" fmla="*/ 6 w 132"/>
                    <a:gd name="T65" fmla="*/ 60 h 132"/>
                    <a:gd name="T66" fmla="*/ 10 w 132"/>
                    <a:gd name="T67" fmla="*/ 43 h 132"/>
                    <a:gd name="T68" fmla="*/ 20 w 132"/>
                    <a:gd name="T69" fmla="*/ 27 h 132"/>
                    <a:gd name="T70" fmla="*/ 32 w 132"/>
                    <a:gd name="T71" fmla="*/ 15 h 132"/>
                    <a:gd name="T72" fmla="*/ 48 w 132"/>
                    <a:gd name="T73" fmla="*/ 8 h 132"/>
                    <a:gd name="T74" fmla="*/ 66 w 132"/>
                    <a:gd name="T75" fmla="*/ 5 h 132"/>
                    <a:gd name="T76" fmla="*/ 85 w 132"/>
                    <a:gd name="T77" fmla="*/ 8 h 132"/>
                    <a:gd name="T78" fmla="*/ 102 w 132"/>
                    <a:gd name="T79" fmla="*/ 15 h 132"/>
                    <a:gd name="T80" fmla="*/ 114 w 132"/>
                    <a:gd name="T81" fmla="*/ 27 h 132"/>
                    <a:gd name="T82" fmla="*/ 124 w 132"/>
                    <a:gd name="T83" fmla="*/ 43 h 132"/>
                    <a:gd name="T84" fmla="*/ 128 w 132"/>
                    <a:gd name="T85" fmla="*/ 6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 h="132">
                      <a:moveTo>
                        <a:pt x="132" y="66"/>
                      </a:moveTo>
                      <a:lnTo>
                        <a:pt x="132" y="60"/>
                      </a:lnTo>
                      <a:lnTo>
                        <a:pt x="131" y="54"/>
                      </a:lnTo>
                      <a:lnTo>
                        <a:pt x="129" y="47"/>
                      </a:lnTo>
                      <a:lnTo>
                        <a:pt x="127" y="41"/>
                      </a:lnTo>
                      <a:lnTo>
                        <a:pt x="124" y="35"/>
                      </a:lnTo>
                      <a:lnTo>
                        <a:pt x="121" y="30"/>
                      </a:lnTo>
                      <a:lnTo>
                        <a:pt x="118" y="25"/>
                      </a:lnTo>
                      <a:lnTo>
                        <a:pt x="113" y="21"/>
                      </a:lnTo>
                      <a:lnTo>
                        <a:pt x="108" y="16"/>
                      </a:lnTo>
                      <a:lnTo>
                        <a:pt x="104" y="12"/>
                      </a:lnTo>
                      <a:lnTo>
                        <a:pt x="98" y="9"/>
                      </a:lnTo>
                      <a:lnTo>
                        <a:pt x="92" y="6"/>
                      </a:lnTo>
                      <a:lnTo>
                        <a:pt x="87" y="4"/>
                      </a:lnTo>
                      <a:lnTo>
                        <a:pt x="80" y="2"/>
                      </a:lnTo>
                      <a:lnTo>
                        <a:pt x="74" y="1"/>
                      </a:lnTo>
                      <a:lnTo>
                        <a:pt x="66" y="0"/>
                      </a:lnTo>
                      <a:lnTo>
                        <a:pt x="60" y="1"/>
                      </a:lnTo>
                      <a:lnTo>
                        <a:pt x="54" y="2"/>
                      </a:lnTo>
                      <a:lnTo>
                        <a:pt x="47" y="4"/>
                      </a:lnTo>
                      <a:lnTo>
                        <a:pt x="41" y="6"/>
                      </a:lnTo>
                      <a:lnTo>
                        <a:pt x="36" y="9"/>
                      </a:lnTo>
                      <a:lnTo>
                        <a:pt x="30" y="12"/>
                      </a:lnTo>
                      <a:lnTo>
                        <a:pt x="25" y="16"/>
                      </a:lnTo>
                      <a:lnTo>
                        <a:pt x="21" y="21"/>
                      </a:lnTo>
                      <a:lnTo>
                        <a:pt x="16" y="25"/>
                      </a:lnTo>
                      <a:lnTo>
                        <a:pt x="12" y="30"/>
                      </a:lnTo>
                      <a:lnTo>
                        <a:pt x="9" y="35"/>
                      </a:lnTo>
                      <a:lnTo>
                        <a:pt x="6" y="41"/>
                      </a:lnTo>
                      <a:lnTo>
                        <a:pt x="4" y="47"/>
                      </a:lnTo>
                      <a:lnTo>
                        <a:pt x="3" y="54"/>
                      </a:lnTo>
                      <a:lnTo>
                        <a:pt x="2" y="60"/>
                      </a:lnTo>
                      <a:lnTo>
                        <a:pt x="0" y="66"/>
                      </a:lnTo>
                      <a:lnTo>
                        <a:pt x="2" y="74"/>
                      </a:lnTo>
                      <a:lnTo>
                        <a:pt x="3" y="80"/>
                      </a:lnTo>
                      <a:lnTo>
                        <a:pt x="4" y="86"/>
                      </a:lnTo>
                      <a:lnTo>
                        <a:pt x="6" y="92"/>
                      </a:lnTo>
                      <a:lnTo>
                        <a:pt x="9" y="98"/>
                      </a:lnTo>
                      <a:lnTo>
                        <a:pt x="12" y="103"/>
                      </a:lnTo>
                      <a:lnTo>
                        <a:pt x="16" y="108"/>
                      </a:lnTo>
                      <a:lnTo>
                        <a:pt x="21" y="113"/>
                      </a:lnTo>
                      <a:lnTo>
                        <a:pt x="25" y="117"/>
                      </a:lnTo>
                      <a:lnTo>
                        <a:pt x="30" y="120"/>
                      </a:lnTo>
                      <a:lnTo>
                        <a:pt x="36" y="124"/>
                      </a:lnTo>
                      <a:lnTo>
                        <a:pt x="41" y="127"/>
                      </a:lnTo>
                      <a:lnTo>
                        <a:pt x="47" y="129"/>
                      </a:lnTo>
                      <a:lnTo>
                        <a:pt x="54" y="131"/>
                      </a:lnTo>
                      <a:lnTo>
                        <a:pt x="60" y="132"/>
                      </a:lnTo>
                      <a:lnTo>
                        <a:pt x="66" y="132"/>
                      </a:lnTo>
                      <a:lnTo>
                        <a:pt x="74" y="132"/>
                      </a:lnTo>
                      <a:lnTo>
                        <a:pt x="80" y="131"/>
                      </a:lnTo>
                      <a:lnTo>
                        <a:pt x="87" y="129"/>
                      </a:lnTo>
                      <a:lnTo>
                        <a:pt x="92" y="127"/>
                      </a:lnTo>
                      <a:lnTo>
                        <a:pt x="98" y="124"/>
                      </a:lnTo>
                      <a:lnTo>
                        <a:pt x="104" y="120"/>
                      </a:lnTo>
                      <a:lnTo>
                        <a:pt x="108" y="117"/>
                      </a:lnTo>
                      <a:lnTo>
                        <a:pt x="113" y="113"/>
                      </a:lnTo>
                      <a:lnTo>
                        <a:pt x="118" y="108"/>
                      </a:lnTo>
                      <a:lnTo>
                        <a:pt x="121" y="103"/>
                      </a:lnTo>
                      <a:lnTo>
                        <a:pt x="124" y="98"/>
                      </a:lnTo>
                      <a:lnTo>
                        <a:pt x="127" y="92"/>
                      </a:lnTo>
                      <a:lnTo>
                        <a:pt x="129" y="86"/>
                      </a:lnTo>
                      <a:lnTo>
                        <a:pt x="131" y="80"/>
                      </a:lnTo>
                      <a:lnTo>
                        <a:pt x="132" y="74"/>
                      </a:lnTo>
                      <a:lnTo>
                        <a:pt x="132" y="66"/>
                      </a:lnTo>
                      <a:close/>
                      <a:moveTo>
                        <a:pt x="128" y="66"/>
                      </a:moveTo>
                      <a:lnTo>
                        <a:pt x="128" y="73"/>
                      </a:lnTo>
                      <a:lnTo>
                        <a:pt x="127" y="79"/>
                      </a:lnTo>
                      <a:lnTo>
                        <a:pt x="125" y="84"/>
                      </a:lnTo>
                      <a:lnTo>
                        <a:pt x="124" y="91"/>
                      </a:lnTo>
                      <a:lnTo>
                        <a:pt x="121" y="96"/>
                      </a:lnTo>
                      <a:lnTo>
                        <a:pt x="118" y="101"/>
                      </a:lnTo>
                      <a:lnTo>
                        <a:pt x="114" y="106"/>
                      </a:lnTo>
                      <a:lnTo>
                        <a:pt x="110" y="110"/>
                      </a:lnTo>
                      <a:lnTo>
                        <a:pt x="106" y="114"/>
                      </a:lnTo>
                      <a:lnTo>
                        <a:pt x="102" y="117"/>
                      </a:lnTo>
                      <a:lnTo>
                        <a:pt x="96" y="120"/>
                      </a:lnTo>
                      <a:lnTo>
                        <a:pt x="91" y="124"/>
                      </a:lnTo>
                      <a:lnTo>
                        <a:pt x="85" y="125"/>
                      </a:lnTo>
                      <a:lnTo>
                        <a:pt x="79" y="127"/>
                      </a:lnTo>
                      <a:lnTo>
                        <a:pt x="73" y="128"/>
                      </a:lnTo>
                      <a:lnTo>
                        <a:pt x="66" y="128"/>
                      </a:lnTo>
                      <a:lnTo>
                        <a:pt x="60" y="128"/>
                      </a:lnTo>
                      <a:lnTo>
                        <a:pt x="55" y="127"/>
                      </a:lnTo>
                      <a:lnTo>
                        <a:pt x="48" y="125"/>
                      </a:lnTo>
                      <a:lnTo>
                        <a:pt x="43" y="124"/>
                      </a:lnTo>
                      <a:lnTo>
                        <a:pt x="38" y="120"/>
                      </a:lnTo>
                      <a:lnTo>
                        <a:pt x="32" y="117"/>
                      </a:lnTo>
                      <a:lnTo>
                        <a:pt x="27" y="114"/>
                      </a:lnTo>
                      <a:lnTo>
                        <a:pt x="23" y="110"/>
                      </a:lnTo>
                      <a:lnTo>
                        <a:pt x="20" y="106"/>
                      </a:lnTo>
                      <a:lnTo>
                        <a:pt x="15" y="101"/>
                      </a:lnTo>
                      <a:lnTo>
                        <a:pt x="12" y="96"/>
                      </a:lnTo>
                      <a:lnTo>
                        <a:pt x="10" y="91"/>
                      </a:lnTo>
                      <a:lnTo>
                        <a:pt x="8" y="84"/>
                      </a:lnTo>
                      <a:lnTo>
                        <a:pt x="7" y="79"/>
                      </a:lnTo>
                      <a:lnTo>
                        <a:pt x="6" y="73"/>
                      </a:lnTo>
                      <a:lnTo>
                        <a:pt x="5" y="66"/>
                      </a:lnTo>
                      <a:lnTo>
                        <a:pt x="6" y="60"/>
                      </a:lnTo>
                      <a:lnTo>
                        <a:pt x="7" y="55"/>
                      </a:lnTo>
                      <a:lnTo>
                        <a:pt x="8" y="48"/>
                      </a:lnTo>
                      <a:lnTo>
                        <a:pt x="10" y="43"/>
                      </a:lnTo>
                      <a:lnTo>
                        <a:pt x="12" y="38"/>
                      </a:lnTo>
                      <a:lnTo>
                        <a:pt x="15" y="32"/>
                      </a:lnTo>
                      <a:lnTo>
                        <a:pt x="20" y="27"/>
                      </a:lnTo>
                      <a:lnTo>
                        <a:pt x="23" y="23"/>
                      </a:lnTo>
                      <a:lnTo>
                        <a:pt x="27" y="19"/>
                      </a:lnTo>
                      <a:lnTo>
                        <a:pt x="32" y="15"/>
                      </a:lnTo>
                      <a:lnTo>
                        <a:pt x="38" y="12"/>
                      </a:lnTo>
                      <a:lnTo>
                        <a:pt x="43" y="10"/>
                      </a:lnTo>
                      <a:lnTo>
                        <a:pt x="48" y="8"/>
                      </a:lnTo>
                      <a:lnTo>
                        <a:pt x="55" y="7"/>
                      </a:lnTo>
                      <a:lnTo>
                        <a:pt x="60" y="6"/>
                      </a:lnTo>
                      <a:lnTo>
                        <a:pt x="66" y="5"/>
                      </a:lnTo>
                      <a:lnTo>
                        <a:pt x="73" y="6"/>
                      </a:lnTo>
                      <a:lnTo>
                        <a:pt x="79" y="7"/>
                      </a:lnTo>
                      <a:lnTo>
                        <a:pt x="85" y="8"/>
                      </a:lnTo>
                      <a:lnTo>
                        <a:pt x="91" y="10"/>
                      </a:lnTo>
                      <a:lnTo>
                        <a:pt x="96" y="12"/>
                      </a:lnTo>
                      <a:lnTo>
                        <a:pt x="102" y="15"/>
                      </a:lnTo>
                      <a:lnTo>
                        <a:pt x="106" y="19"/>
                      </a:lnTo>
                      <a:lnTo>
                        <a:pt x="110" y="23"/>
                      </a:lnTo>
                      <a:lnTo>
                        <a:pt x="114" y="27"/>
                      </a:lnTo>
                      <a:lnTo>
                        <a:pt x="118" y="32"/>
                      </a:lnTo>
                      <a:lnTo>
                        <a:pt x="121" y="38"/>
                      </a:lnTo>
                      <a:lnTo>
                        <a:pt x="124" y="43"/>
                      </a:lnTo>
                      <a:lnTo>
                        <a:pt x="125" y="48"/>
                      </a:lnTo>
                      <a:lnTo>
                        <a:pt x="127" y="55"/>
                      </a:lnTo>
                      <a:lnTo>
                        <a:pt x="128" y="60"/>
                      </a:lnTo>
                      <a:lnTo>
                        <a:pt x="128" y="6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15" name="Freeform 4803"/>
                <p:cNvSpPr>
                  <a:spLocks noChangeAspect="1" noEditPoints="1"/>
                </p:cNvSpPr>
                <p:nvPr/>
              </p:nvSpPr>
              <p:spPr bwMode="auto">
                <a:xfrm>
                  <a:off x="3501" y="3336"/>
                  <a:ext cx="43" cy="40"/>
                </a:xfrm>
                <a:custGeom>
                  <a:avLst/>
                  <a:gdLst>
                    <a:gd name="T0" fmla="*/ 126 w 127"/>
                    <a:gd name="T1" fmla="*/ 52 h 128"/>
                    <a:gd name="T2" fmla="*/ 120 w 127"/>
                    <a:gd name="T3" fmla="*/ 34 h 128"/>
                    <a:gd name="T4" fmla="*/ 108 w 127"/>
                    <a:gd name="T5" fmla="*/ 20 h 128"/>
                    <a:gd name="T6" fmla="*/ 94 w 127"/>
                    <a:gd name="T7" fmla="*/ 9 h 128"/>
                    <a:gd name="T8" fmla="*/ 76 w 127"/>
                    <a:gd name="T9" fmla="*/ 3 h 128"/>
                    <a:gd name="T10" fmla="*/ 57 w 127"/>
                    <a:gd name="T11" fmla="*/ 2 h 128"/>
                    <a:gd name="T12" fmla="*/ 39 w 127"/>
                    <a:gd name="T13" fmla="*/ 6 h 128"/>
                    <a:gd name="T14" fmla="*/ 23 w 127"/>
                    <a:gd name="T15" fmla="*/ 15 h 128"/>
                    <a:gd name="T16" fmla="*/ 11 w 127"/>
                    <a:gd name="T17" fmla="*/ 29 h 128"/>
                    <a:gd name="T18" fmla="*/ 3 w 127"/>
                    <a:gd name="T19" fmla="*/ 45 h 128"/>
                    <a:gd name="T20" fmla="*/ 0 w 127"/>
                    <a:gd name="T21" fmla="*/ 64 h 128"/>
                    <a:gd name="T22" fmla="*/ 3 w 127"/>
                    <a:gd name="T23" fmla="*/ 83 h 128"/>
                    <a:gd name="T24" fmla="*/ 11 w 127"/>
                    <a:gd name="T25" fmla="*/ 100 h 128"/>
                    <a:gd name="T26" fmla="*/ 23 w 127"/>
                    <a:gd name="T27" fmla="*/ 113 h 128"/>
                    <a:gd name="T28" fmla="*/ 39 w 127"/>
                    <a:gd name="T29" fmla="*/ 123 h 128"/>
                    <a:gd name="T30" fmla="*/ 57 w 127"/>
                    <a:gd name="T31" fmla="*/ 128 h 128"/>
                    <a:gd name="T32" fmla="*/ 76 w 127"/>
                    <a:gd name="T33" fmla="*/ 127 h 128"/>
                    <a:gd name="T34" fmla="*/ 94 w 127"/>
                    <a:gd name="T35" fmla="*/ 121 h 128"/>
                    <a:gd name="T36" fmla="*/ 108 w 127"/>
                    <a:gd name="T37" fmla="*/ 109 h 128"/>
                    <a:gd name="T38" fmla="*/ 120 w 127"/>
                    <a:gd name="T39" fmla="*/ 95 h 128"/>
                    <a:gd name="T40" fmla="*/ 126 w 127"/>
                    <a:gd name="T41" fmla="*/ 77 h 128"/>
                    <a:gd name="T42" fmla="*/ 123 w 127"/>
                    <a:gd name="T43" fmla="*/ 64 h 128"/>
                    <a:gd name="T44" fmla="*/ 121 w 127"/>
                    <a:gd name="T45" fmla="*/ 82 h 128"/>
                    <a:gd name="T46" fmla="*/ 113 w 127"/>
                    <a:gd name="T47" fmla="*/ 97 h 128"/>
                    <a:gd name="T48" fmla="*/ 102 w 127"/>
                    <a:gd name="T49" fmla="*/ 110 h 128"/>
                    <a:gd name="T50" fmla="*/ 87 w 127"/>
                    <a:gd name="T51" fmla="*/ 120 h 128"/>
                    <a:gd name="T52" fmla="*/ 70 w 127"/>
                    <a:gd name="T53" fmla="*/ 124 h 128"/>
                    <a:gd name="T54" fmla="*/ 52 w 127"/>
                    <a:gd name="T55" fmla="*/ 123 h 128"/>
                    <a:gd name="T56" fmla="*/ 36 w 127"/>
                    <a:gd name="T57" fmla="*/ 116 h 128"/>
                    <a:gd name="T58" fmla="*/ 22 w 127"/>
                    <a:gd name="T59" fmla="*/ 107 h 128"/>
                    <a:gd name="T60" fmla="*/ 11 w 127"/>
                    <a:gd name="T61" fmla="*/ 93 h 128"/>
                    <a:gd name="T62" fmla="*/ 5 w 127"/>
                    <a:gd name="T63" fmla="*/ 76 h 128"/>
                    <a:gd name="T64" fmla="*/ 5 w 127"/>
                    <a:gd name="T65" fmla="*/ 58 h 128"/>
                    <a:gd name="T66" fmla="*/ 9 w 127"/>
                    <a:gd name="T67" fmla="*/ 41 h 128"/>
                    <a:gd name="T68" fmla="*/ 18 w 127"/>
                    <a:gd name="T69" fmla="*/ 27 h 128"/>
                    <a:gd name="T70" fmla="*/ 30 w 127"/>
                    <a:gd name="T71" fmla="*/ 15 h 128"/>
                    <a:gd name="T72" fmla="*/ 46 w 127"/>
                    <a:gd name="T73" fmla="*/ 8 h 128"/>
                    <a:gd name="T74" fmla="*/ 63 w 127"/>
                    <a:gd name="T75" fmla="*/ 5 h 128"/>
                    <a:gd name="T76" fmla="*/ 82 w 127"/>
                    <a:gd name="T77" fmla="*/ 8 h 128"/>
                    <a:gd name="T78" fmla="*/ 96 w 127"/>
                    <a:gd name="T79" fmla="*/ 15 h 128"/>
                    <a:gd name="T80" fmla="*/ 109 w 127"/>
                    <a:gd name="T81" fmla="*/ 27 h 128"/>
                    <a:gd name="T82" fmla="*/ 119 w 127"/>
                    <a:gd name="T83" fmla="*/ 41 h 128"/>
                    <a:gd name="T84" fmla="*/ 123 w 127"/>
                    <a:gd name="T85" fmla="*/ 5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7" h="128">
                      <a:moveTo>
                        <a:pt x="127" y="64"/>
                      </a:moveTo>
                      <a:lnTo>
                        <a:pt x="127" y="58"/>
                      </a:lnTo>
                      <a:lnTo>
                        <a:pt x="126" y="52"/>
                      </a:lnTo>
                      <a:lnTo>
                        <a:pt x="124" y="45"/>
                      </a:lnTo>
                      <a:lnTo>
                        <a:pt x="122" y="40"/>
                      </a:lnTo>
                      <a:lnTo>
                        <a:pt x="120" y="34"/>
                      </a:lnTo>
                      <a:lnTo>
                        <a:pt x="117" y="29"/>
                      </a:lnTo>
                      <a:lnTo>
                        <a:pt x="112" y="24"/>
                      </a:lnTo>
                      <a:lnTo>
                        <a:pt x="108" y="20"/>
                      </a:lnTo>
                      <a:lnTo>
                        <a:pt x="104" y="15"/>
                      </a:lnTo>
                      <a:lnTo>
                        <a:pt x="100" y="12"/>
                      </a:lnTo>
                      <a:lnTo>
                        <a:pt x="94" y="9"/>
                      </a:lnTo>
                      <a:lnTo>
                        <a:pt x="88" y="6"/>
                      </a:lnTo>
                      <a:lnTo>
                        <a:pt x="83" y="4"/>
                      </a:lnTo>
                      <a:lnTo>
                        <a:pt x="76" y="3"/>
                      </a:lnTo>
                      <a:lnTo>
                        <a:pt x="70" y="2"/>
                      </a:lnTo>
                      <a:lnTo>
                        <a:pt x="63" y="0"/>
                      </a:lnTo>
                      <a:lnTo>
                        <a:pt x="57" y="2"/>
                      </a:lnTo>
                      <a:lnTo>
                        <a:pt x="51" y="3"/>
                      </a:lnTo>
                      <a:lnTo>
                        <a:pt x="44" y="4"/>
                      </a:lnTo>
                      <a:lnTo>
                        <a:pt x="39" y="6"/>
                      </a:lnTo>
                      <a:lnTo>
                        <a:pt x="34" y="9"/>
                      </a:lnTo>
                      <a:lnTo>
                        <a:pt x="28" y="12"/>
                      </a:lnTo>
                      <a:lnTo>
                        <a:pt x="23" y="15"/>
                      </a:lnTo>
                      <a:lnTo>
                        <a:pt x="19" y="20"/>
                      </a:lnTo>
                      <a:lnTo>
                        <a:pt x="14" y="24"/>
                      </a:lnTo>
                      <a:lnTo>
                        <a:pt x="11" y="29"/>
                      </a:lnTo>
                      <a:lnTo>
                        <a:pt x="8" y="34"/>
                      </a:lnTo>
                      <a:lnTo>
                        <a:pt x="5" y="40"/>
                      </a:lnTo>
                      <a:lnTo>
                        <a:pt x="3" y="45"/>
                      </a:lnTo>
                      <a:lnTo>
                        <a:pt x="2" y="52"/>
                      </a:lnTo>
                      <a:lnTo>
                        <a:pt x="1" y="58"/>
                      </a:lnTo>
                      <a:lnTo>
                        <a:pt x="0" y="64"/>
                      </a:lnTo>
                      <a:lnTo>
                        <a:pt x="1" y="71"/>
                      </a:lnTo>
                      <a:lnTo>
                        <a:pt x="2" y="77"/>
                      </a:lnTo>
                      <a:lnTo>
                        <a:pt x="3" y="83"/>
                      </a:lnTo>
                      <a:lnTo>
                        <a:pt x="5" y="89"/>
                      </a:lnTo>
                      <a:lnTo>
                        <a:pt x="8" y="95"/>
                      </a:lnTo>
                      <a:lnTo>
                        <a:pt x="11" y="100"/>
                      </a:lnTo>
                      <a:lnTo>
                        <a:pt x="14" y="105"/>
                      </a:lnTo>
                      <a:lnTo>
                        <a:pt x="19" y="109"/>
                      </a:lnTo>
                      <a:lnTo>
                        <a:pt x="23" y="113"/>
                      </a:lnTo>
                      <a:lnTo>
                        <a:pt x="28" y="117"/>
                      </a:lnTo>
                      <a:lnTo>
                        <a:pt x="34" y="121"/>
                      </a:lnTo>
                      <a:lnTo>
                        <a:pt x="39" y="123"/>
                      </a:lnTo>
                      <a:lnTo>
                        <a:pt x="44" y="125"/>
                      </a:lnTo>
                      <a:lnTo>
                        <a:pt x="51" y="127"/>
                      </a:lnTo>
                      <a:lnTo>
                        <a:pt x="57" y="128"/>
                      </a:lnTo>
                      <a:lnTo>
                        <a:pt x="63" y="128"/>
                      </a:lnTo>
                      <a:lnTo>
                        <a:pt x="70" y="128"/>
                      </a:lnTo>
                      <a:lnTo>
                        <a:pt x="76" y="127"/>
                      </a:lnTo>
                      <a:lnTo>
                        <a:pt x="83" y="125"/>
                      </a:lnTo>
                      <a:lnTo>
                        <a:pt x="88" y="123"/>
                      </a:lnTo>
                      <a:lnTo>
                        <a:pt x="94" y="121"/>
                      </a:lnTo>
                      <a:lnTo>
                        <a:pt x="100" y="117"/>
                      </a:lnTo>
                      <a:lnTo>
                        <a:pt x="104" y="113"/>
                      </a:lnTo>
                      <a:lnTo>
                        <a:pt x="108" y="109"/>
                      </a:lnTo>
                      <a:lnTo>
                        <a:pt x="112" y="105"/>
                      </a:lnTo>
                      <a:lnTo>
                        <a:pt x="117" y="100"/>
                      </a:lnTo>
                      <a:lnTo>
                        <a:pt x="120" y="95"/>
                      </a:lnTo>
                      <a:lnTo>
                        <a:pt x="122" y="89"/>
                      </a:lnTo>
                      <a:lnTo>
                        <a:pt x="124" y="83"/>
                      </a:lnTo>
                      <a:lnTo>
                        <a:pt x="126" y="77"/>
                      </a:lnTo>
                      <a:lnTo>
                        <a:pt x="127" y="71"/>
                      </a:lnTo>
                      <a:lnTo>
                        <a:pt x="127" y="64"/>
                      </a:lnTo>
                      <a:close/>
                      <a:moveTo>
                        <a:pt x="123" y="64"/>
                      </a:moveTo>
                      <a:lnTo>
                        <a:pt x="123" y="71"/>
                      </a:lnTo>
                      <a:lnTo>
                        <a:pt x="122" y="76"/>
                      </a:lnTo>
                      <a:lnTo>
                        <a:pt x="121" y="82"/>
                      </a:lnTo>
                      <a:lnTo>
                        <a:pt x="119" y="88"/>
                      </a:lnTo>
                      <a:lnTo>
                        <a:pt x="116" y="93"/>
                      </a:lnTo>
                      <a:lnTo>
                        <a:pt x="113" y="97"/>
                      </a:lnTo>
                      <a:lnTo>
                        <a:pt x="109" y="103"/>
                      </a:lnTo>
                      <a:lnTo>
                        <a:pt x="106" y="107"/>
                      </a:lnTo>
                      <a:lnTo>
                        <a:pt x="102" y="110"/>
                      </a:lnTo>
                      <a:lnTo>
                        <a:pt x="96" y="114"/>
                      </a:lnTo>
                      <a:lnTo>
                        <a:pt x="92" y="116"/>
                      </a:lnTo>
                      <a:lnTo>
                        <a:pt x="87" y="120"/>
                      </a:lnTo>
                      <a:lnTo>
                        <a:pt x="82" y="122"/>
                      </a:lnTo>
                      <a:lnTo>
                        <a:pt x="75" y="123"/>
                      </a:lnTo>
                      <a:lnTo>
                        <a:pt x="70" y="124"/>
                      </a:lnTo>
                      <a:lnTo>
                        <a:pt x="63" y="124"/>
                      </a:lnTo>
                      <a:lnTo>
                        <a:pt x="57" y="124"/>
                      </a:lnTo>
                      <a:lnTo>
                        <a:pt x="52" y="123"/>
                      </a:lnTo>
                      <a:lnTo>
                        <a:pt x="46" y="122"/>
                      </a:lnTo>
                      <a:lnTo>
                        <a:pt x="40" y="120"/>
                      </a:lnTo>
                      <a:lnTo>
                        <a:pt x="36" y="116"/>
                      </a:lnTo>
                      <a:lnTo>
                        <a:pt x="30" y="114"/>
                      </a:lnTo>
                      <a:lnTo>
                        <a:pt x="26" y="110"/>
                      </a:lnTo>
                      <a:lnTo>
                        <a:pt x="22" y="107"/>
                      </a:lnTo>
                      <a:lnTo>
                        <a:pt x="18" y="103"/>
                      </a:lnTo>
                      <a:lnTo>
                        <a:pt x="14" y="97"/>
                      </a:lnTo>
                      <a:lnTo>
                        <a:pt x="11" y="93"/>
                      </a:lnTo>
                      <a:lnTo>
                        <a:pt x="9" y="88"/>
                      </a:lnTo>
                      <a:lnTo>
                        <a:pt x="7" y="82"/>
                      </a:lnTo>
                      <a:lnTo>
                        <a:pt x="5" y="76"/>
                      </a:lnTo>
                      <a:lnTo>
                        <a:pt x="5" y="71"/>
                      </a:lnTo>
                      <a:lnTo>
                        <a:pt x="4" y="64"/>
                      </a:lnTo>
                      <a:lnTo>
                        <a:pt x="5" y="58"/>
                      </a:lnTo>
                      <a:lnTo>
                        <a:pt x="5" y="53"/>
                      </a:lnTo>
                      <a:lnTo>
                        <a:pt x="7" y="47"/>
                      </a:lnTo>
                      <a:lnTo>
                        <a:pt x="9" y="41"/>
                      </a:lnTo>
                      <a:lnTo>
                        <a:pt x="11" y="37"/>
                      </a:lnTo>
                      <a:lnTo>
                        <a:pt x="14" y="31"/>
                      </a:lnTo>
                      <a:lnTo>
                        <a:pt x="18" y="27"/>
                      </a:lnTo>
                      <a:lnTo>
                        <a:pt x="22" y="23"/>
                      </a:lnTo>
                      <a:lnTo>
                        <a:pt x="26" y="19"/>
                      </a:lnTo>
                      <a:lnTo>
                        <a:pt x="30" y="15"/>
                      </a:lnTo>
                      <a:lnTo>
                        <a:pt x="36" y="12"/>
                      </a:lnTo>
                      <a:lnTo>
                        <a:pt x="40" y="10"/>
                      </a:lnTo>
                      <a:lnTo>
                        <a:pt x="46" y="8"/>
                      </a:lnTo>
                      <a:lnTo>
                        <a:pt x="52" y="6"/>
                      </a:lnTo>
                      <a:lnTo>
                        <a:pt x="57" y="6"/>
                      </a:lnTo>
                      <a:lnTo>
                        <a:pt x="63" y="5"/>
                      </a:lnTo>
                      <a:lnTo>
                        <a:pt x="70" y="6"/>
                      </a:lnTo>
                      <a:lnTo>
                        <a:pt x="75" y="6"/>
                      </a:lnTo>
                      <a:lnTo>
                        <a:pt x="82" y="8"/>
                      </a:lnTo>
                      <a:lnTo>
                        <a:pt x="87" y="10"/>
                      </a:lnTo>
                      <a:lnTo>
                        <a:pt x="92" y="12"/>
                      </a:lnTo>
                      <a:lnTo>
                        <a:pt x="96" y="15"/>
                      </a:lnTo>
                      <a:lnTo>
                        <a:pt x="102" y="19"/>
                      </a:lnTo>
                      <a:lnTo>
                        <a:pt x="106" y="23"/>
                      </a:lnTo>
                      <a:lnTo>
                        <a:pt x="109" y="27"/>
                      </a:lnTo>
                      <a:lnTo>
                        <a:pt x="113" y="31"/>
                      </a:lnTo>
                      <a:lnTo>
                        <a:pt x="116" y="37"/>
                      </a:lnTo>
                      <a:lnTo>
                        <a:pt x="119" y="41"/>
                      </a:lnTo>
                      <a:lnTo>
                        <a:pt x="121" y="47"/>
                      </a:lnTo>
                      <a:lnTo>
                        <a:pt x="122" y="53"/>
                      </a:lnTo>
                      <a:lnTo>
                        <a:pt x="123" y="58"/>
                      </a:lnTo>
                      <a:lnTo>
                        <a:pt x="123" y="6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16" name="Freeform 4804"/>
                <p:cNvSpPr>
                  <a:spLocks noChangeAspect="1" noEditPoints="1"/>
                </p:cNvSpPr>
                <p:nvPr/>
              </p:nvSpPr>
              <p:spPr bwMode="auto">
                <a:xfrm>
                  <a:off x="3502" y="3337"/>
                  <a:ext cx="41" cy="40"/>
                </a:xfrm>
                <a:custGeom>
                  <a:avLst/>
                  <a:gdLst>
                    <a:gd name="T0" fmla="*/ 123 w 123"/>
                    <a:gd name="T1" fmla="*/ 55 h 123"/>
                    <a:gd name="T2" fmla="*/ 120 w 123"/>
                    <a:gd name="T3" fmla="*/ 43 h 123"/>
                    <a:gd name="T4" fmla="*/ 116 w 123"/>
                    <a:gd name="T5" fmla="*/ 33 h 123"/>
                    <a:gd name="T6" fmla="*/ 109 w 123"/>
                    <a:gd name="T7" fmla="*/ 22 h 123"/>
                    <a:gd name="T8" fmla="*/ 101 w 123"/>
                    <a:gd name="T9" fmla="*/ 14 h 123"/>
                    <a:gd name="T10" fmla="*/ 91 w 123"/>
                    <a:gd name="T11" fmla="*/ 7 h 123"/>
                    <a:gd name="T12" fmla="*/ 80 w 123"/>
                    <a:gd name="T13" fmla="*/ 3 h 123"/>
                    <a:gd name="T14" fmla="*/ 68 w 123"/>
                    <a:gd name="T15" fmla="*/ 1 h 123"/>
                    <a:gd name="T16" fmla="*/ 55 w 123"/>
                    <a:gd name="T17" fmla="*/ 1 h 123"/>
                    <a:gd name="T18" fmla="*/ 43 w 123"/>
                    <a:gd name="T19" fmla="*/ 3 h 123"/>
                    <a:gd name="T20" fmla="*/ 33 w 123"/>
                    <a:gd name="T21" fmla="*/ 7 h 123"/>
                    <a:gd name="T22" fmla="*/ 22 w 123"/>
                    <a:gd name="T23" fmla="*/ 14 h 123"/>
                    <a:gd name="T24" fmla="*/ 15 w 123"/>
                    <a:gd name="T25" fmla="*/ 22 h 123"/>
                    <a:gd name="T26" fmla="*/ 7 w 123"/>
                    <a:gd name="T27" fmla="*/ 33 h 123"/>
                    <a:gd name="T28" fmla="*/ 3 w 123"/>
                    <a:gd name="T29" fmla="*/ 43 h 123"/>
                    <a:gd name="T30" fmla="*/ 1 w 123"/>
                    <a:gd name="T31" fmla="*/ 55 h 123"/>
                    <a:gd name="T32" fmla="*/ 1 w 123"/>
                    <a:gd name="T33" fmla="*/ 68 h 123"/>
                    <a:gd name="T34" fmla="*/ 3 w 123"/>
                    <a:gd name="T35" fmla="*/ 79 h 123"/>
                    <a:gd name="T36" fmla="*/ 7 w 123"/>
                    <a:gd name="T37" fmla="*/ 91 h 123"/>
                    <a:gd name="T38" fmla="*/ 15 w 123"/>
                    <a:gd name="T39" fmla="*/ 101 h 123"/>
                    <a:gd name="T40" fmla="*/ 22 w 123"/>
                    <a:gd name="T41" fmla="*/ 109 h 123"/>
                    <a:gd name="T42" fmla="*/ 33 w 123"/>
                    <a:gd name="T43" fmla="*/ 115 h 123"/>
                    <a:gd name="T44" fmla="*/ 43 w 123"/>
                    <a:gd name="T45" fmla="*/ 120 h 123"/>
                    <a:gd name="T46" fmla="*/ 55 w 123"/>
                    <a:gd name="T47" fmla="*/ 123 h 123"/>
                    <a:gd name="T48" fmla="*/ 68 w 123"/>
                    <a:gd name="T49" fmla="*/ 123 h 123"/>
                    <a:gd name="T50" fmla="*/ 80 w 123"/>
                    <a:gd name="T51" fmla="*/ 120 h 123"/>
                    <a:gd name="T52" fmla="*/ 91 w 123"/>
                    <a:gd name="T53" fmla="*/ 115 h 123"/>
                    <a:gd name="T54" fmla="*/ 101 w 123"/>
                    <a:gd name="T55" fmla="*/ 109 h 123"/>
                    <a:gd name="T56" fmla="*/ 109 w 123"/>
                    <a:gd name="T57" fmla="*/ 101 h 123"/>
                    <a:gd name="T58" fmla="*/ 116 w 123"/>
                    <a:gd name="T59" fmla="*/ 91 h 123"/>
                    <a:gd name="T60" fmla="*/ 120 w 123"/>
                    <a:gd name="T61" fmla="*/ 79 h 123"/>
                    <a:gd name="T62" fmla="*/ 123 w 123"/>
                    <a:gd name="T63" fmla="*/ 68 h 123"/>
                    <a:gd name="T64" fmla="*/ 119 w 123"/>
                    <a:gd name="T65" fmla="*/ 61 h 123"/>
                    <a:gd name="T66" fmla="*/ 118 w 123"/>
                    <a:gd name="T67" fmla="*/ 73 h 123"/>
                    <a:gd name="T68" fmla="*/ 115 w 123"/>
                    <a:gd name="T69" fmla="*/ 84 h 123"/>
                    <a:gd name="T70" fmla="*/ 102 w 123"/>
                    <a:gd name="T71" fmla="*/ 102 h 123"/>
                    <a:gd name="T72" fmla="*/ 93 w 123"/>
                    <a:gd name="T73" fmla="*/ 109 h 123"/>
                    <a:gd name="T74" fmla="*/ 84 w 123"/>
                    <a:gd name="T75" fmla="*/ 114 h 123"/>
                    <a:gd name="T76" fmla="*/ 73 w 123"/>
                    <a:gd name="T77" fmla="*/ 118 h 123"/>
                    <a:gd name="T78" fmla="*/ 61 w 123"/>
                    <a:gd name="T79" fmla="*/ 119 h 123"/>
                    <a:gd name="T80" fmla="*/ 50 w 123"/>
                    <a:gd name="T81" fmla="*/ 118 h 123"/>
                    <a:gd name="T82" fmla="*/ 39 w 123"/>
                    <a:gd name="T83" fmla="*/ 114 h 123"/>
                    <a:gd name="T84" fmla="*/ 30 w 123"/>
                    <a:gd name="T85" fmla="*/ 109 h 123"/>
                    <a:gd name="T86" fmla="*/ 21 w 123"/>
                    <a:gd name="T87" fmla="*/ 102 h 123"/>
                    <a:gd name="T88" fmla="*/ 14 w 123"/>
                    <a:gd name="T89" fmla="*/ 93 h 123"/>
                    <a:gd name="T90" fmla="*/ 8 w 123"/>
                    <a:gd name="T91" fmla="*/ 84 h 123"/>
                    <a:gd name="T92" fmla="*/ 5 w 123"/>
                    <a:gd name="T93" fmla="*/ 73 h 123"/>
                    <a:gd name="T94" fmla="*/ 4 w 123"/>
                    <a:gd name="T95" fmla="*/ 61 h 123"/>
                    <a:gd name="T96" fmla="*/ 5 w 123"/>
                    <a:gd name="T97" fmla="*/ 50 h 123"/>
                    <a:gd name="T98" fmla="*/ 8 w 123"/>
                    <a:gd name="T99" fmla="*/ 39 h 123"/>
                    <a:gd name="T100" fmla="*/ 14 w 123"/>
                    <a:gd name="T101" fmla="*/ 29 h 123"/>
                    <a:gd name="T102" fmla="*/ 21 w 123"/>
                    <a:gd name="T103" fmla="*/ 21 h 123"/>
                    <a:gd name="T104" fmla="*/ 39 w 123"/>
                    <a:gd name="T105" fmla="*/ 8 h 123"/>
                    <a:gd name="T106" fmla="*/ 50 w 123"/>
                    <a:gd name="T107" fmla="*/ 5 h 123"/>
                    <a:gd name="T108" fmla="*/ 61 w 123"/>
                    <a:gd name="T109" fmla="*/ 4 h 123"/>
                    <a:gd name="T110" fmla="*/ 73 w 123"/>
                    <a:gd name="T111" fmla="*/ 5 h 123"/>
                    <a:gd name="T112" fmla="*/ 84 w 123"/>
                    <a:gd name="T113" fmla="*/ 8 h 123"/>
                    <a:gd name="T114" fmla="*/ 102 w 123"/>
                    <a:gd name="T115" fmla="*/ 21 h 123"/>
                    <a:gd name="T116" fmla="*/ 115 w 123"/>
                    <a:gd name="T117" fmla="*/ 39 h 123"/>
                    <a:gd name="T118" fmla="*/ 118 w 123"/>
                    <a:gd name="T119" fmla="*/ 50 h 123"/>
                    <a:gd name="T120" fmla="*/ 119 w 123"/>
                    <a:gd name="T121" fmla="*/ 6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23">
                      <a:moveTo>
                        <a:pt x="123" y="61"/>
                      </a:moveTo>
                      <a:lnTo>
                        <a:pt x="123" y="55"/>
                      </a:lnTo>
                      <a:lnTo>
                        <a:pt x="122" y="50"/>
                      </a:lnTo>
                      <a:lnTo>
                        <a:pt x="120" y="43"/>
                      </a:lnTo>
                      <a:lnTo>
                        <a:pt x="119" y="38"/>
                      </a:lnTo>
                      <a:lnTo>
                        <a:pt x="116" y="33"/>
                      </a:lnTo>
                      <a:lnTo>
                        <a:pt x="113" y="27"/>
                      </a:lnTo>
                      <a:lnTo>
                        <a:pt x="109" y="22"/>
                      </a:lnTo>
                      <a:lnTo>
                        <a:pt x="105" y="18"/>
                      </a:lnTo>
                      <a:lnTo>
                        <a:pt x="101" y="14"/>
                      </a:lnTo>
                      <a:lnTo>
                        <a:pt x="97" y="10"/>
                      </a:lnTo>
                      <a:lnTo>
                        <a:pt x="91" y="7"/>
                      </a:lnTo>
                      <a:lnTo>
                        <a:pt x="86" y="5"/>
                      </a:lnTo>
                      <a:lnTo>
                        <a:pt x="80" y="3"/>
                      </a:lnTo>
                      <a:lnTo>
                        <a:pt x="74" y="2"/>
                      </a:lnTo>
                      <a:lnTo>
                        <a:pt x="68" y="1"/>
                      </a:lnTo>
                      <a:lnTo>
                        <a:pt x="61" y="0"/>
                      </a:lnTo>
                      <a:lnTo>
                        <a:pt x="55" y="1"/>
                      </a:lnTo>
                      <a:lnTo>
                        <a:pt x="50" y="2"/>
                      </a:lnTo>
                      <a:lnTo>
                        <a:pt x="43" y="3"/>
                      </a:lnTo>
                      <a:lnTo>
                        <a:pt x="38" y="5"/>
                      </a:lnTo>
                      <a:lnTo>
                        <a:pt x="33" y="7"/>
                      </a:lnTo>
                      <a:lnTo>
                        <a:pt x="27" y="10"/>
                      </a:lnTo>
                      <a:lnTo>
                        <a:pt x="22" y="14"/>
                      </a:lnTo>
                      <a:lnTo>
                        <a:pt x="18" y="18"/>
                      </a:lnTo>
                      <a:lnTo>
                        <a:pt x="15" y="22"/>
                      </a:lnTo>
                      <a:lnTo>
                        <a:pt x="10" y="27"/>
                      </a:lnTo>
                      <a:lnTo>
                        <a:pt x="7" y="33"/>
                      </a:lnTo>
                      <a:lnTo>
                        <a:pt x="5" y="38"/>
                      </a:lnTo>
                      <a:lnTo>
                        <a:pt x="3" y="43"/>
                      </a:lnTo>
                      <a:lnTo>
                        <a:pt x="1" y="50"/>
                      </a:lnTo>
                      <a:lnTo>
                        <a:pt x="1" y="55"/>
                      </a:lnTo>
                      <a:lnTo>
                        <a:pt x="0" y="61"/>
                      </a:lnTo>
                      <a:lnTo>
                        <a:pt x="1" y="68"/>
                      </a:lnTo>
                      <a:lnTo>
                        <a:pt x="1" y="74"/>
                      </a:lnTo>
                      <a:lnTo>
                        <a:pt x="3" y="79"/>
                      </a:lnTo>
                      <a:lnTo>
                        <a:pt x="5" y="86"/>
                      </a:lnTo>
                      <a:lnTo>
                        <a:pt x="7" y="91"/>
                      </a:lnTo>
                      <a:lnTo>
                        <a:pt x="10" y="96"/>
                      </a:lnTo>
                      <a:lnTo>
                        <a:pt x="15" y="101"/>
                      </a:lnTo>
                      <a:lnTo>
                        <a:pt x="18" y="105"/>
                      </a:lnTo>
                      <a:lnTo>
                        <a:pt x="22" y="109"/>
                      </a:lnTo>
                      <a:lnTo>
                        <a:pt x="27" y="112"/>
                      </a:lnTo>
                      <a:lnTo>
                        <a:pt x="33" y="115"/>
                      </a:lnTo>
                      <a:lnTo>
                        <a:pt x="38" y="119"/>
                      </a:lnTo>
                      <a:lnTo>
                        <a:pt x="43" y="120"/>
                      </a:lnTo>
                      <a:lnTo>
                        <a:pt x="50" y="122"/>
                      </a:lnTo>
                      <a:lnTo>
                        <a:pt x="55" y="123"/>
                      </a:lnTo>
                      <a:lnTo>
                        <a:pt x="61" y="123"/>
                      </a:lnTo>
                      <a:lnTo>
                        <a:pt x="68" y="123"/>
                      </a:lnTo>
                      <a:lnTo>
                        <a:pt x="74" y="122"/>
                      </a:lnTo>
                      <a:lnTo>
                        <a:pt x="80" y="120"/>
                      </a:lnTo>
                      <a:lnTo>
                        <a:pt x="86" y="119"/>
                      </a:lnTo>
                      <a:lnTo>
                        <a:pt x="91" y="115"/>
                      </a:lnTo>
                      <a:lnTo>
                        <a:pt x="97" y="112"/>
                      </a:lnTo>
                      <a:lnTo>
                        <a:pt x="101" y="109"/>
                      </a:lnTo>
                      <a:lnTo>
                        <a:pt x="105" y="105"/>
                      </a:lnTo>
                      <a:lnTo>
                        <a:pt x="109" y="101"/>
                      </a:lnTo>
                      <a:lnTo>
                        <a:pt x="113" y="96"/>
                      </a:lnTo>
                      <a:lnTo>
                        <a:pt x="116" y="91"/>
                      </a:lnTo>
                      <a:lnTo>
                        <a:pt x="119" y="86"/>
                      </a:lnTo>
                      <a:lnTo>
                        <a:pt x="120" y="79"/>
                      </a:lnTo>
                      <a:lnTo>
                        <a:pt x="122" y="74"/>
                      </a:lnTo>
                      <a:lnTo>
                        <a:pt x="123" y="68"/>
                      </a:lnTo>
                      <a:lnTo>
                        <a:pt x="123" y="61"/>
                      </a:lnTo>
                      <a:close/>
                      <a:moveTo>
                        <a:pt x="119" y="61"/>
                      </a:moveTo>
                      <a:lnTo>
                        <a:pt x="119" y="68"/>
                      </a:lnTo>
                      <a:lnTo>
                        <a:pt x="118" y="73"/>
                      </a:lnTo>
                      <a:lnTo>
                        <a:pt x="117" y="78"/>
                      </a:lnTo>
                      <a:lnTo>
                        <a:pt x="115" y="84"/>
                      </a:lnTo>
                      <a:lnTo>
                        <a:pt x="109" y="93"/>
                      </a:lnTo>
                      <a:lnTo>
                        <a:pt x="102" y="102"/>
                      </a:lnTo>
                      <a:lnTo>
                        <a:pt x="99" y="106"/>
                      </a:lnTo>
                      <a:lnTo>
                        <a:pt x="93" y="109"/>
                      </a:lnTo>
                      <a:lnTo>
                        <a:pt x="89" y="112"/>
                      </a:lnTo>
                      <a:lnTo>
                        <a:pt x="84" y="114"/>
                      </a:lnTo>
                      <a:lnTo>
                        <a:pt x="78" y="117"/>
                      </a:lnTo>
                      <a:lnTo>
                        <a:pt x="73" y="118"/>
                      </a:lnTo>
                      <a:lnTo>
                        <a:pt x="68" y="119"/>
                      </a:lnTo>
                      <a:lnTo>
                        <a:pt x="61" y="119"/>
                      </a:lnTo>
                      <a:lnTo>
                        <a:pt x="56" y="119"/>
                      </a:lnTo>
                      <a:lnTo>
                        <a:pt x="50" y="118"/>
                      </a:lnTo>
                      <a:lnTo>
                        <a:pt x="44" y="117"/>
                      </a:lnTo>
                      <a:lnTo>
                        <a:pt x="39" y="114"/>
                      </a:lnTo>
                      <a:lnTo>
                        <a:pt x="34" y="112"/>
                      </a:lnTo>
                      <a:lnTo>
                        <a:pt x="30" y="109"/>
                      </a:lnTo>
                      <a:lnTo>
                        <a:pt x="25" y="106"/>
                      </a:lnTo>
                      <a:lnTo>
                        <a:pt x="21" y="102"/>
                      </a:lnTo>
                      <a:lnTo>
                        <a:pt x="18" y="98"/>
                      </a:lnTo>
                      <a:lnTo>
                        <a:pt x="14" y="93"/>
                      </a:lnTo>
                      <a:lnTo>
                        <a:pt x="11" y="89"/>
                      </a:lnTo>
                      <a:lnTo>
                        <a:pt x="8" y="84"/>
                      </a:lnTo>
                      <a:lnTo>
                        <a:pt x="7" y="78"/>
                      </a:lnTo>
                      <a:lnTo>
                        <a:pt x="5" y="73"/>
                      </a:lnTo>
                      <a:lnTo>
                        <a:pt x="4" y="68"/>
                      </a:lnTo>
                      <a:lnTo>
                        <a:pt x="4" y="61"/>
                      </a:lnTo>
                      <a:lnTo>
                        <a:pt x="4" y="56"/>
                      </a:lnTo>
                      <a:lnTo>
                        <a:pt x="5" y="50"/>
                      </a:lnTo>
                      <a:lnTo>
                        <a:pt x="7" y="44"/>
                      </a:lnTo>
                      <a:lnTo>
                        <a:pt x="8" y="39"/>
                      </a:lnTo>
                      <a:lnTo>
                        <a:pt x="11" y="34"/>
                      </a:lnTo>
                      <a:lnTo>
                        <a:pt x="14" y="29"/>
                      </a:lnTo>
                      <a:lnTo>
                        <a:pt x="18" y="25"/>
                      </a:lnTo>
                      <a:lnTo>
                        <a:pt x="21" y="21"/>
                      </a:lnTo>
                      <a:lnTo>
                        <a:pt x="30" y="13"/>
                      </a:lnTo>
                      <a:lnTo>
                        <a:pt x="39" y="8"/>
                      </a:lnTo>
                      <a:lnTo>
                        <a:pt x="44" y="7"/>
                      </a:lnTo>
                      <a:lnTo>
                        <a:pt x="50" y="5"/>
                      </a:lnTo>
                      <a:lnTo>
                        <a:pt x="56" y="4"/>
                      </a:lnTo>
                      <a:lnTo>
                        <a:pt x="61" y="4"/>
                      </a:lnTo>
                      <a:lnTo>
                        <a:pt x="68" y="4"/>
                      </a:lnTo>
                      <a:lnTo>
                        <a:pt x="73" y="5"/>
                      </a:lnTo>
                      <a:lnTo>
                        <a:pt x="78" y="7"/>
                      </a:lnTo>
                      <a:lnTo>
                        <a:pt x="84" y="8"/>
                      </a:lnTo>
                      <a:lnTo>
                        <a:pt x="93" y="13"/>
                      </a:lnTo>
                      <a:lnTo>
                        <a:pt x="102" y="21"/>
                      </a:lnTo>
                      <a:lnTo>
                        <a:pt x="109" y="29"/>
                      </a:lnTo>
                      <a:lnTo>
                        <a:pt x="115" y="39"/>
                      </a:lnTo>
                      <a:lnTo>
                        <a:pt x="117" y="44"/>
                      </a:lnTo>
                      <a:lnTo>
                        <a:pt x="118" y="50"/>
                      </a:lnTo>
                      <a:lnTo>
                        <a:pt x="119" y="56"/>
                      </a:lnTo>
                      <a:lnTo>
                        <a:pt x="119" y="6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17" name="Freeform 4805"/>
                <p:cNvSpPr>
                  <a:spLocks noChangeAspect="1" noEditPoints="1"/>
                </p:cNvSpPr>
                <p:nvPr/>
              </p:nvSpPr>
              <p:spPr bwMode="auto">
                <a:xfrm>
                  <a:off x="3503" y="3337"/>
                  <a:ext cx="39" cy="40"/>
                </a:xfrm>
                <a:custGeom>
                  <a:avLst/>
                  <a:gdLst>
                    <a:gd name="T0" fmla="*/ 119 w 119"/>
                    <a:gd name="T1" fmla="*/ 53 h 119"/>
                    <a:gd name="T2" fmla="*/ 117 w 119"/>
                    <a:gd name="T3" fmla="*/ 42 h 119"/>
                    <a:gd name="T4" fmla="*/ 112 w 119"/>
                    <a:gd name="T5" fmla="*/ 32 h 119"/>
                    <a:gd name="T6" fmla="*/ 105 w 119"/>
                    <a:gd name="T7" fmla="*/ 22 h 119"/>
                    <a:gd name="T8" fmla="*/ 98 w 119"/>
                    <a:gd name="T9" fmla="*/ 14 h 119"/>
                    <a:gd name="T10" fmla="*/ 88 w 119"/>
                    <a:gd name="T11" fmla="*/ 7 h 119"/>
                    <a:gd name="T12" fmla="*/ 78 w 119"/>
                    <a:gd name="T13" fmla="*/ 3 h 119"/>
                    <a:gd name="T14" fmla="*/ 66 w 119"/>
                    <a:gd name="T15" fmla="*/ 1 h 119"/>
                    <a:gd name="T16" fmla="*/ 53 w 119"/>
                    <a:gd name="T17" fmla="*/ 1 h 119"/>
                    <a:gd name="T18" fmla="*/ 42 w 119"/>
                    <a:gd name="T19" fmla="*/ 3 h 119"/>
                    <a:gd name="T20" fmla="*/ 32 w 119"/>
                    <a:gd name="T21" fmla="*/ 7 h 119"/>
                    <a:gd name="T22" fmla="*/ 22 w 119"/>
                    <a:gd name="T23" fmla="*/ 14 h 119"/>
                    <a:gd name="T24" fmla="*/ 14 w 119"/>
                    <a:gd name="T25" fmla="*/ 22 h 119"/>
                    <a:gd name="T26" fmla="*/ 7 w 119"/>
                    <a:gd name="T27" fmla="*/ 32 h 119"/>
                    <a:gd name="T28" fmla="*/ 3 w 119"/>
                    <a:gd name="T29" fmla="*/ 42 h 119"/>
                    <a:gd name="T30" fmla="*/ 1 w 119"/>
                    <a:gd name="T31" fmla="*/ 53 h 119"/>
                    <a:gd name="T32" fmla="*/ 1 w 119"/>
                    <a:gd name="T33" fmla="*/ 66 h 119"/>
                    <a:gd name="T34" fmla="*/ 3 w 119"/>
                    <a:gd name="T35" fmla="*/ 77 h 119"/>
                    <a:gd name="T36" fmla="*/ 7 w 119"/>
                    <a:gd name="T37" fmla="*/ 88 h 119"/>
                    <a:gd name="T38" fmla="*/ 14 w 119"/>
                    <a:gd name="T39" fmla="*/ 98 h 119"/>
                    <a:gd name="T40" fmla="*/ 22 w 119"/>
                    <a:gd name="T41" fmla="*/ 105 h 119"/>
                    <a:gd name="T42" fmla="*/ 32 w 119"/>
                    <a:gd name="T43" fmla="*/ 111 h 119"/>
                    <a:gd name="T44" fmla="*/ 42 w 119"/>
                    <a:gd name="T45" fmla="*/ 117 h 119"/>
                    <a:gd name="T46" fmla="*/ 53 w 119"/>
                    <a:gd name="T47" fmla="*/ 119 h 119"/>
                    <a:gd name="T48" fmla="*/ 66 w 119"/>
                    <a:gd name="T49" fmla="*/ 119 h 119"/>
                    <a:gd name="T50" fmla="*/ 78 w 119"/>
                    <a:gd name="T51" fmla="*/ 117 h 119"/>
                    <a:gd name="T52" fmla="*/ 88 w 119"/>
                    <a:gd name="T53" fmla="*/ 111 h 119"/>
                    <a:gd name="T54" fmla="*/ 98 w 119"/>
                    <a:gd name="T55" fmla="*/ 105 h 119"/>
                    <a:gd name="T56" fmla="*/ 105 w 119"/>
                    <a:gd name="T57" fmla="*/ 98 h 119"/>
                    <a:gd name="T58" fmla="*/ 112 w 119"/>
                    <a:gd name="T59" fmla="*/ 88 h 119"/>
                    <a:gd name="T60" fmla="*/ 117 w 119"/>
                    <a:gd name="T61" fmla="*/ 77 h 119"/>
                    <a:gd name="T62" fmla="*/ 119 w 119"/>
                    <a:gd name="T63" fmla="*/ 66 h 119"/>
                    <a:gd name="T64" fmla="*/ 115 w 119"/>
                    <a:gd name="T65" fmla="*/ 59 h 119"/>
                    <a:gd name="T66" fmla="*/ 114 w 119"/>
                    <a:gd name="T67" fmla="*/ 71 h 119"/>
                    <a:gd name="T68" fmla="*/ 111 w 119"/>
                    <a:gd name="T69" fmla="*/ 81 h 119"/>
                    <a:gd name="T70" fmla="*/ 99 w 119"/>
                    <a:gd name="T71" fmla="*/ 99 h 119"/>
                    <a:gd name="T72" fmla="*/ 81 w 119"/>
                    <a:gd name="T73" fmla="*/ 110 h 119"/>
                    <a:gd name="T74" fmla="*/ 71 w 119"/>
                    <a:gd name="T75" fmla="*/ 113 h 119"/>
                    <a:gd name="T76" fmla="*/ 59 w 119"/>
                    <a:gd name="T77" fmla="*/ 115 h 119"/>
                    <a:gd name="T78" fmla="*/ 49 w 119"/>
                    <a:gd name="T79" fmla="*/ 113 h 119"/>
                    <a:gd name="T80" fmla="*/ 38 w 119"/>
                    <a:gd name="T81" fmla="*/ 110 h 119"/>
                    <a:gd name="T82" fmla="*/ 20 w 119"/>
                    <a:gd name="T83" fmla="*/ 99 h 119"/>
                    <a:gd name="T84" fmla="*/ 8 w 119"/>
                    <a:gd name="T85" fmla="*/ 81 h 119"/>
                    <a:gd name="T86" fmla="*/ 5 w 119"/>
                    <a:gd name="T87" fmla="*/ 71 h 119"/>
                    <a:gd name="T88" fmla="*/ 4 w 119"/>
                    <a:gd name="T89" fmla="*/ 59 h 119"/>
                    <a:gd name="T90" fmla="*/ 5 w 119"/>
                    <a:gd name="T91" fmla="*/ 49 h 119"/>
                    <a:gd name="T92" fmla="*/ 8 w 119"/>
                    <a:gd name="T93" fmla="*/ 38 h 119"/>
                    <a:gd name="T94" fmla="*/ 20 w 119"/>
                    <a:gd name="T95" fmla="*/ 20 h 119"/>
                    <a:gd name="T96" fmla="*/ 38 w 119"/>
                    <a:gd name="T97" fmla="*/ 8 h 119"/>
                    <a:gd name="T98" fmla="*/ 49 w 119"/>
                    <a:gd name="T99" fmla="*/ 5 h 119"/>
                    <a:gd name="T100" fmla="*/ 59 w 119"/>
                    <a:gd name="T101" fmla="*/ 4 h 119"/>
                    <a:gd name="T102" fmla="*/ 71 w 119"/>
                    <a:gd name="T103" fmla="*/ 5 h 119"/>
                    <a:gd name="T104" fmla="*/ 81 w 119"/>
                    <a:gd name="T105" fmla="*/ 8 h 119"/>
                    <a:gd name="T106" fmla="*/ 99 w 119"/>
                    <a:gd name="T107" fmla="*/ 20 h 119"/>
                    <a:gd name="T108" fmla="*/ 111 w 119"/>
                    <a:gd name="T109" fmla="*/ 38 h 119"/>
                    <a:gd name="T110" fmla="*/ 114 w 119"/>
                    <a:gd name="T111" fmla="*/ 49 h 119"/>
                    <a:gd name="T112" fmla="*/ 115 w 119"/>
                    <a:gd name="T113" fmla="*/ 5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9" h="119">
                      <a:moveTo>
                        <a:pt x="119" y="59"/>
                      </a:moveTo>
                      <a:lnTo>
                        <a:pt x="119" y="53"/>
                      </a:lnTo>
                      <a:lnTo>
                        <a:pt x="118" y="48"/>
                      </a:lnTo>
                      <a:lnTo>
                        <a:pt x="117" y="42"/>
                      </a:lnTo>
                      <a:lnTo>
                        <a:pt x="115" y="36"/>
                      </a:lnTo>
                      <a:lnTo>
                        <a:pt x="112" y="32"/>
                      </a:lnTo>
                      <a:lnTo>
                        <a:pt x="109" y="26"/>
                      </a:lnTo>
                      <a:lnTo>
                        <a:pt x="105" y="22"/>
                      </a:lnTo>
                      <a:lnTo>
                        <a:pt x="102" y="18"/>
                      </a:lnTo>
                      <a:lnTo>
                        <a:pt x="98" y="14"/>
                      </a:lnTo>
                      <a:lnTo>
                        <a:pt x="92" y="10"/>
                      </a:lnTo>
                      <a:lnTo>
                        <a:pt x="88" y="7"/>
                      </a:lnTo>
                      <a:lnTo>
                        <a:pt x="83" y="5"/>
                      </a:lnTo>
                      <a:lnTo>
                        <a:pt x="78" y="3"/>
                      </a:lnTo>
                      <a:lnTo>
                        <a:pt x="71" y="1"/>
                      </a:lnTo>
                      <a:lnTo>
                        <a:pt x="66" y="1"/>
                      </a:lnTo>
                      <a:lnTo>
                        <a:pt x="59" y="0"/>
                      </a:lnTo>
                      <a:lnTo>
                        <a:pt x="53" y="1"/>
                      </a:lnTo>
                      <a:lnTo>
                        <a:pt x="48" y="1"/>
                      </a:lnTo>
                      <a:lnTo>
                        <a:pt x="42" y="3"/>
                      </a:lnTo>
                      <a:lnTo>
                        <a:pt x="36" y="5"/>
                      </a:lnTo>
                      <a:lnTo>
                        <a:pt x="32" y="7"/>
                      </a:lnTo>
                      <a:lnTo>
                        <a:pt x="26" y="10"/>
                      </a:lnTo>
                      <a:lnTo>
                        <a:pt x="22" y="14"/>
                      </a:lnTo>
                      <a:lnTo>
                        <a:pt x="18" y="18"/>
                      </a:lnTo>
                      <a:lnTo>
                        <a:pt x="14" y="22"/>
                      </a:lnTo>
                      <a:lnTo>
                        <a:pt x="10" y="26"/>
                      </a:lnTo>
                      <a:lnTo>
                        <a:pt x="7" y="32"/>
                      </a:lnTo>
                      <a:lnTo>
                        <a:pt x="5" y="36"/>
                      </a:lnTo>
                      <a:lnTo>
                        <a:pt x="3" y="42"/>
                      </a:lnTo>
                      <a:lnTo>
                        <a:pt x="1" y="48"/>
                      </a:lnTo>
                      <a:lnTo>
                        <a:pt x="1" y="53"/>
                      </a:lnTo>
                      <a:lnTo>
                        <a:pt x="0" y="59"/>
                      </a:lnTo>
                      <a:lnTo>
                        <a:pt x="1" y="66"/>
                      </a:lnTo>
                      <a:lnTo>
                        <a:pt x="1" y="71"/>
                      </a:lnTo>
                      <a:lnTo>
                        <a:pt x="3" y="77"/>
                      </a:lnTo>
                      <a:lnTo>
                        <a:pt x="5" y="83"/>
                      </a:lnTo>
                      <a:lnTo>
                        <a:pt x="7" y="88"/>
                      </a:lnTo>
                      <a:lnTo>
                        <a:pt x="10" y="92"/>
                      </a:lnTo>
                      <a:lnTo>
                        <a:pt x="14" y="98"/>
                      </a:lnTo>
                      <a:lnTo>
                        <a:pt x="18" y="102"/>
                      </a:lnTo>
                      <a:lnTo>
                        <a:pt x="22" y="105"/>
                      </a:lnTo>
                      <a:lnTo>
                        <a:pt x="26" y="109"/>
                      </a:lnTo>
                      <a:lnTo>
                        <a:pt x="32" y="111"/>
                      </a:lnTo>
                      <a:lnTo>
                        <a:pt x="36" y="115"/>
                      </a:lnTo>
                      <a:lnTo>
                        <a:pt x="42" y="117"/>
                      </a:lnTo>
                      <a:lnTo>
                        <a:pt x="48" y="118"/>
                      </a:lnTo>
                      <a:lnTo>
                        <a:pt x="53" y="119"/>
                      </a:lnTo>
                      <a:lnTo>
                        <a:pt x="59" y="119"/>
                      </a:lnTo>
                      <a:lnTo>
                        <a:pt x="66" y="119"/>
                      </a:lnTo>
                      <a:lnTo>
                        <a:pt x="71" y="118"/>
                      </a:lnTo>
                      <a:lnTo>
                        <a:pt x="78" y="117"/>
                      </a:lnTo>
                      <a:lnTo>
                        <a:pt x="83" y="115"/>
                      </a:lnTo>
                      <a:lnTo>
                        <a:pt x="88" y="111"/>
                      </a:lnTo>
                      <a:lnTo>
                        <a:pt x="92" y="109"/>
                      </a:lnTo>
                      <a:lnTo>
                        <a:pt x="98" y="105"/>
                      </a:lnTo>
                      <a:lnTo>
                        <a:pt x="102" y="102"/>
                      </a:lnTo>
                      <a:lnTo>
                        <a:pt x="105" y="98"/>
                      </a:lnTo>
                      <a:lnTo>
                        <a:pt x="109" y="92"/>
                      </a:lnTo>
                      <a:lnTo>
                        <a:pt x="112" y="88"/>
                      </a:lnTo>
                      <a:lnTo>
                        <a:pt x="115" y="83"/>
                      </a:lnTo>
                      <a:lnTo>
                        <a:pt x="117" y="77"/>
                      </a:lnTo>
                      <a:lnTo>
                        <a:pt x="118" y="71"/>
                      </a:lnTo>
                      <a:lnTo>
                        <a:pt x="119" y="66"/>
                      </a:lnTo>
                      <a:lnTo>
                        <a:pt x="119" y="59"/>
                      </a:lnTo>
                      <a:close/>
                      <a:moveTo>
                        <a:pt x="115" y="59"/>
                      </a:moveTo>
                      <a:lnTo>
                        <a:pt x="115" y="66"/>
                      </a:lnTo>
                      <a:lnTo>
                        <a:pt x="114" y="71"/>
                      </a:lnTo>
                      <a:lnTo>
                        <a:pt x="113" y="76"/>
                      </a:lnTo>
                      <a:lnTo>
                        <a:pt x="111" y="81"/>
                      </a:lnTo>
                      <a:lnTo>
                        <a:pt x="105" y="90"/>
                      </a:lnTo>
                      <a:lnTo>
                        <a:pt x="99" y="99"/>
                      </a:lnTo>
                      <a:lnTo>
                        <a:pt x="90" y="105"/>
                      </a:lnTo>
                      <a:lnTo>
                        <a:pt x="81" y="110"/>
                      </a:lnTo>
                      <a:lnTo>
                        <a:pt x="76" y="112"/>
                      </a:lnTo>
                      <a:lnTo>
                        <a:pt x="71" y="113"/>
                      </a:lnTo>
                      <a:lnTo>
                        <a:pt x="66" y="115"/>
                      </a:lnTo>
                      <a:lnTo>
                        <a:pt x="59" y="115"/>
                      </a:lnTo>
                      <a:lnTo>
                        <a:pt x="54" y="115"/>
                      </a:lnTo>
                      <a:lnTo>
                        <a:pt x="49" y="113"/>
                      </a:lnTo>
                      <a:lnTo>
                        <a:pt x="43" y="112"/>
                      </a:lnTo>
                      <a:lnTo>
                        <a:pt x="38" y="110"/>
                      </a:lnTo>
                      <a:lnTo>
                        <a:pt x="29" y="105"/>
                      </a:lnTo>
                      <a:lnTo>
                        <a:pt x="20" y="99"/>
                      </a:lnTo>
                      <a:lnTo>
                        <a:pt x="14" y="90"/>
                      </a:lnTo>
                      <a:lnTo>
                        <a:pt x="8" y="81"/>
                      </a:lnTo>
                      <a:lnTo>
                        <a:pt x="6" y="76"/>
                      </a:lnTo>
                      <a:lnTo>
                        <a:pt x="5" y="71"/>
                      </a:lnTo>
                      <a:lnTo>
                        <a:pt x="4" y="66"/>
                      </a:lnTo>
                      <a:lnTo>
                        <a:pt x="4" y="59"/>
                      </a:lnTo>
                      <a:lnTo>
                        <a:pt x="4" y="54"/>
                      </a:lnTo>
                      <a:lnTo>
                        <a:pt x="5" y="49"/>
                      </a:lnTo>
                      <a:lnTo>
                        <a:pt x="6" y="43"/>
                      </a:lnTo>
                      <a:lnTo>
                        <a:pt x="8" y="38"/>
                      </a:lnTo>
                      <a:lnTo>
                        <a:pt x="14" y="28"/>
                      </a:lnTo>
                      <a:lnTo>
                        <a:pt x="20" y="20"/>
                      </a:lnTo>
                      <a:lnTo>
                        <a:pt x="29" y="14"/>
                      </a:lnTo>
                      <a:lnTo>
                        <a:pt x="38" y="8"/>
                      </a:lnTo>
                      <a:lnTo>
                        <a:pt x="43" y="6"/>
                      </a:lnTo>
                      <a:lnTo>
                        <a:pt x="49" y="5"/>
                      </a:lnTo>
                      <a:lnTo>
                        <a:pt x="54" y="4"/>
                      </a:lnTo>
                      <a:lnTo>
                        <a:pt x="59" y="4"/>
                      </a:lnTo>
                      <a:lnTo>
                        <a:pt x="66" y="4"/>
                      </a:lnTo>
                      <a:lnTo>
                        <a:pt x="71" y="5"/>
                      </a:lnTo>
                      <a:lnTo>
                        <a:pt x="76" y="6"/>
                      </a:lnTo>
                      <a:lnTo>
                        <a:pt x="81" y="8"/>
                      </a:lnTo>
                      <a:lnTo>
                        <a:pt x="90" y="14"/>
                      </a:lnTo>
                      <a:lnTo>
                        <a:pt x="99" y="20"/>
                      </a:lnTo>
                      <a:lnTo>
                        <a:pt x="105" y="28"/>
                      </a:lnTo>
                      <a:lnTo>
                        <a:pt x="111" y="38"/>
                      </a:lnTo>
                      <a:lnTo>
                        <a:pt x="113" y="43"/>
                      </a:lnTo>
                      <a:lnTo>
                        <a:pt x="114" y="49"/>
                      </a:lnTo>
                      <a:lnTo>
                        <a:pt x="115" y="54"/>
                      </a:lnTo>
                      <a:lnTo>
                        <a:pt x="115" y="5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18" name="Freeform 4806"/>
                <p:cNvSpPr>
                  <a:spLocks noChangeAspect="1" noEditPoints="1"/>
                </p:cNvSpPr>
                <p:nvPr/>
              </p:nvSpPr>
              <p:spPr bwMode="auto">
                <a:xfrm>
                  <a:off x="3503" y="3338"/>
                  <a:ext cx="39" cy="38"/>
                </a:xfrm>
                <a:custGeom>
                  <a:avLst/>
                  <a:gdLst>
                    <a:gd name="T0" fmla="*/ 115 w 115"/>
                    <a:gd name="T1" fmla="*/ 52 h 115"/>
                    <a:gd name="T2" fmla="*/ 113 w 115"/>
                    <a:gd name="T3" fmla="*/ 40 h 115"/>
                    <a:gd name="T4" fmla="*/ 105 w 115"/>
                    <a:gd name="T5" fmla="*/ 25 h 115"/>
                    <a:gd name="T6" fmla="*/ 89 w 115"/>
                    <a:gd name="T7" fmla="*/ 9 h 115"/>
                    <a:gd name="T8" fmla="*/ 74 w 115"/>
                    <a:gd name="T9" fmla="*/ 3 h 115"/>
                    <a:gd name="T10" fmla="*/ 64 w 115"/>
                    <a:gd name="T11" fmla="*/ 0 h 115"/>
                    <a:gd name="T12" fmla="*/ 52 w 115"/>
                    <a:gd name="T13" fmla="*/ 0 h 115"/>
                    <a:gd name="T14" fmla="*/ 40 w 115"/>
                    <a:gd name="T15" fmla="*/ 3 h 115"/>
                    <a:gd name="T16" fmla="*/ 26 w 115"/>
                    <a:gd name="T17" fmla="*/ 9 h 115"/>
                    <a:gd name="T18" fmla="*/ 10 w 115"/>
                    <a:gd name="T19" fmla="*/ 25 h 115"/>
                    <a:gd name="T20" fmla="*/ 3 w 115"/>
                    <a:gd name="T21" fmla="*/ 40 h 115"/>
                    <a:gd name="T22" fmla="*/ 0 w 115"/>
                    <a:gd name="T23" fmla="*/ 52 h 115"/>
                    <a:gd name="T24" fmla="*/ 0 w 115"/>
                    <a:gd name="T25" fmla="*/ 64 h 115"/>
                    <a:gd name="T26" fmla="*/ 3 w 115"/>
                    <a:gd name="T27" fmla="*/ 74 h 115"/>
                    <a:gd name="T28" fmla="*/ 7 w 115"/>
                    <a:gd name="T29" fmla="*/ 85 h 115"/>
                    <a:gd name="T30" fmla="*/ 14 w 115"/>
                    <a:gd name="T31" fmla="*/ 94 h 115"/>
                    <a:gd name="T32" fmla="*/ 21 w 115"/>
                    <a:gd name="T33" fmla="*/ 102 h 115"/>
                    <a:gd name="T34" fmla="*/ 30 w 115"/>
                    <a:gd name="T35" fmla="*/ 108 h 115"/>
                    <a:gd name="T36" fmla="*/ 40 w 115"/>
                    <a:gd name="T37" fmla="*/ 113 h 115"/>
                    <a:gd name="T38" fmla="*/ 52 w 115"/>
                    <a:gd name="T39" fmla="*/ 115 h 115"/>
                    <a:gd name="T40" fmla="*/ 64 w 115"/>
                    <a:gd name="T41" fmla="*/ 115 h 115"/>
                    <a:gd name="T42" fmla="*/ 74 w 115"/>
                    <a:gd name="T43" fmla="*/ 113 h 115"/>
                    <a:gd name="T44" fmla="*/ 89 w 115"/>
                    <a:gd name="T45" fmla="*/ 105 h 115"/>
                    <a:gd name="T46" fmla="*/ 105 w 115"/>
                    <a:gd name="T47" fmla="*/ 89 h 115"/>
                    <a:gd name="T48" fmla="*/ 113 w 115"/>
                    <a:gd name="T49" fmla="*/ 74 h 115"/>
                    <a:gd name="T50" fmla="*/ 115 w 115"/>
                    <a:gd name="T51" fmla="*/ 64 h 115"/>
                    <a:gd name="T52" fmla="*/ 111 w 115"/>
                    <a:gd name="T53" fmla="*/ 57 h 115"/>
                    <a:gd name="T54" fmla="*/ 106 w 115"/>
                    <a:gd name="T55" fmla="*/ 79 h 115"/>
                    <a:gd name="T56" fmla="*/ 96 w 115"/>
                    <a:gd name="T57" fmla="*/ 96 h 115"/>
                    <a:gd name="T58" fmla="*/ 79 w 115"/>
                    <a:gd name="T59" fmla="*/ 106 h 115"/>
                    <a:gd name="T60" fmla="*/ 68 w 115"/>
                    <a:gd name="T61" fmla="*/ 109 h 115"/>
                    <a:gd name="T62" fmla="*/ 57 w 115"/>
                    <a:gd name="T63" fmla="*/ 110 h 115"/>
                    <a:gd name="T64" fmla="*/ 47 w 115"/>
                    <a:gd name="T65" fmla="*/ 109 h 115"/>
                    <a:gd name="T66" fmla="*/ 37 w 115"/>
                    <a:gd name="T67" fmla="*/ 106 h 115"/>
                    <a:gd name="T68" fmla="*/ 20 w 115"/>
                    <a:gd name="T69" fmla="*/ 96 h 115"/>
                    <a:gd name="T70" fmla="*/ 8 w 115"/>
                    <a:gd name="T71" fmla="*/ 79 h 115"/>
                    <a:gd name="T72" fmla="*/ 5 w 115"/>
                    <a:gd name="T73" fmla="*/ 68 h 115"/>
                    <a:gd name="T74" fmla="*/ 4 w 115"/>
                    <a:gd name="T75" fmla="*/ 57 h 115"/>
                    <a:gd name="T76" fmla="*/ 5 w 115"/>
                    <a:gd name="T77" fmla="*/ 47 h 115"/>
                    <a:gd name="T78" fmla="*/ 8 w 115"/>
                    <a:gd name="T79" fmla="*/ 37 h 115"/>
                    <a:gd name="T80" fmla="*/ 20 w 115"/>
                    <a:gd name="T81" fmla="*/ 20 h 115"/>
                    <a:gd name="T82" fmla="*/ 37 w 115"/>
                    <a:gd name="T83" fmla="*/ 8 h 115"/>
                    <a:gd name="T84" fmla="*/ 57 w 115"/>
                    <a:gd name="T85" fmla="*/ 4 h 115"/>
                    <a:gd name="T86" fmla="*/ 79 w 115"/>
                    <a:gd name="T87" fmla="*/ 8 h 115"/>
                    <a:gd name="T88" fmla="*/ 96 w 115"/>
                    <a:gd name="T89" fmla="*/ 20 h 115"/>
                    <a:gd name="T90" fmla="*/ 106 w 115"/>
                    <a:gd name="T91" fmla="*/ 37 h 115"/>
                    <a:gd name="T92" fmla="*/ 111 w 115"/>
                    <a:gd name="T93" fmla="*/ 5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5" h="115">
                      <a:moveTo>
                        <a:pt x="115" y="57"/>
                      </a:moveTo>
                      <a:lnTo>
                        <a:pt x="115" y="52"/>
                      </a:lnTo>
                      <a:lnTo>
                        <a:pt x="114" y="46"/>
                      </a:lnTo>
                      <a:lnTo>
                        <a:pt x="113" y="40"/>
                      </a:lnTo>
                      <a:lnTo>
                        <a:pt x="111" y="35"/>
                      </a:lnTo>
                      <a:lnTo>
                        <a:pt x="105" y="25"/>
                      </a:lnTo>
                      <a:lnTo>
                        <a:pt x="98" y="17"/>
                      </a:lnTo>
                      <a:lnTo>
                        <a:pt x="89" y="9"/>
                      </a:lnTo>
                      <a:lnTo>
                        <a:pt x="80" y="4"/>
                      </a:lnTo>
                      <a:lnTo>
                        <a:pt x="74" y="3"/>
                      </a:lnTo>
                      <a:lnTo>
                        <a:pt x="69" y="1"/>
                      </a:lnTo>
                      <a:lnTo>
                        <a:pt x="64" y="0"/>
                      </a:lnTo>
                      <a:lnTo>
                        <a:pt x="57" y="0"/>
                      </a:lnTo>
                      <a:lnTo>
                        <a:pt x="52" y="0"/>
                      </a:lnTo>
                      <a:lnTo>
                        <a:pt x="46" y="1"/>
                      </a:lnTo>
                      <a:lnTo>
                        <a:pt x="40" y="3"/>
                      </a:lnTo>
                      <a:lnTo>
                        <a:pt x="35" y="4"/>
                      </a:lnTo>
                      <a:lnTo>
                        <a:pt x="26" y="9"/>
                      </a:lnTo>
                      <a:lnTo>
                        <a:pt x="17" y="17"/>
                      </a:lnTo>
                      <a:lnTo>
                        <a:pt x="10" y="25"/>
                      </a:lnTo>
                      <a:lnTo>
                        <a:pt x="4" y="35"/>
                      </a:lnTo>
                      <a:lnTo>
                        <a:pt x="3" y="40"/>
                      </a:lnTo>
                      <a:lnTo>
                        <a:pt x="1" y="46"/>
                      </a:lnTo>
                      <a:lnTo>
                        <a:pt x="0" y="52"/>
                      </a:lnTo>
                      <a:lnTo>
                        <a:pt x="0" y="57"/>
                      </a:lnTo>
                      <a:lnTo>
                        <a:pt x="0" y="64"/>
                      </a:lnTo>
                      <a:lnTo>
                        <a:pt x="1" y="69"/>
                      </a:lnTo>
                      <a:lnTo>
                        <a:pt x="3" y="74"/>
                      </a:lnTo>
                      <a:lnTo>
                        <a:pt x="4" y="80"/>
                      </a:lnTo>
                      <a:lnTo>
                        <a:pt x="7" y="85"/>
                      </a:lnTo>
                      <a:lnTo>
                        <a:pt x="10" y="89"/>
                      </a:lnTo>
                      <a:lnTo>
                        <a:pt x="14" y="94"/>
                      </a:lnTo>
                      <a:lnTo>
                        <a:pt x="17" y="98"/>
                      </a:lnTo>
                      <a:lnTo>
                        <a:pt x="21" y="102"/>
                      </a:lnTo>
                      <a:lnTo>
                        <a:pt x="26" y="105"/>
                      </a:lnTo>
                      <a:lnTo>
                        <a:pt x="30" y="108"/>
                      </a:lnTo>
                      <a:lnTo>
                        <a:pt x="35" y="110"/>
                      </a:lnTo>
                      <a:lnTo>
                        <a:pt x="40" y="113"/>
                      </a:lnTo>
                      <a:lnTo>
                        <a:pt x="46" y="114"/>
                      </a:lnTo>
                      <a:lnTo>
                        <a:pt x="52" y="115"/>
                      </a:lnTo>
                      <a:lnTo>
                        <a:pt x="57" y="115"/>
                      </a:lnTo>
                      <a:lnTo>
                        <a:pt x="64" y="115"/>
                      </a:lnTo>
                      <a:lnTo>
                        <a:pt x="69" y="114"/>
                      </a:lnTo>
                      <a:lnTo>
                        <a:pt x="74" y="113"/>
                      </a:lnTo>
                      <a:lnTo>
                        <a:pt x="80" y="110"/>
                      </a:lnTo>
                      <a:lnTo>
                        <a:pt x="89" y="105"/>
                      </a:lnTo>
                      <a:lnTo>
                        <a:pt x="98" y="98"/>
                      </a:lnTo>
                      <a:lnTo>
                        <a:pt x="105" y="89"/>
                      </a:lnTo>
                      <a:lnTo>
                        <a:pt x="111" y="80"/>
                      </a:lnTo>
                      <a:lnTo>
                        <a:pt x="113" y="74"/>
                      </a:lnTo>
                      <a:lnTo>
                        <a:pt x="114" y="69"/>
                      </a:lnTo>
                      <a:lnTo>
                        <a:pt x="115" y="64"/>
                      </a:lnTo>
                      <a:lnTo>
                        <a:pt x="115" y="57"/>
                      </a:lnTo>
                      <a:close/>
                      <a:moveTo>
                        <a:pt x="111" y="57"/>
                      </a:moveTo>
                      <a:lnTo>
                        <a:pt x="110" y="68"/>
                      </a:lnTo>
                      <a:lnTo>
                        <a:pt x="106" y="79"/>
                      </a:lnTo>
                      <a:lnTo>
                        <a:pt x="102" y="87"/>
                      </a:lnTo>
                      <a:lnTo>
                        <a:pt x="96" y="96"/>
                      </a:lnTo>
                      <a:lnTo>
                        <a:pt x="87" y="102"/>
                      </a:lnTo>
                      <a:lnTo>
                        <a:pt x="79" y="106"/>
                      </a:lnTo>
                      <a:lnTo>
                        <a:pt x="73" y="108"/>
                      </a:lnTo>
                      <a:lnTo>
                        <a:pt x="68" y="109"/>
                      </a:lnTo>
                      <a:lnTo>
                        <a:pt x="63" y="110"/>
                      </a:lnTo>
                      <a:lnTo>
                        <a:pt x="57" y="110"/>
                      </a:lnTo>
                      <a:lnTo>
                        <a:pt x="52" y="110"/>
                      </a:lnTo>
                      <a:lnTo>
                        <a:pt x="47" y="109"/>
                      </a:lnTo>
                      <a:lnTo>
                        <a:pt x="41" y="108"/>
                      </a:lnTo>
                      <a:lnTo>
                        <a:pt x="37" y="106"/>
                      </a:lnTo>
                      <a:lnTo>
                        <a:pt x="28" y="102"/>
                      </a:lnTo>
                      <a:lnTo>
                        <a:pt x="20" y="96"/>
                      </a:lnTo>
                      <a:lnTo>
                        <a:pt x="14" y="87"/>
                      </a:lnTo>
                      <a:lnTo>
                        <a:pt x="8" y="79"/>
                      </a:lnTo>
                      <a:lnTo>
                        <a:pt x="6" y="73"/>
                      </a:lnTo>
                      <a:lnTo>
                        <a:pt x="5" y="68"/>
                      </a:lnTo>
                      <a:lnTo>
                        <a:pt x="4" y="63"/>
                      </a:lnTo>
                      <a:lnTo>
                        <a:pt x="4" y="57"/>
                      </a:lnTo>
                      <a:lnTo>
                        <a:pt x="4" y="52"/>
                      </a:lnTo>
                      <a:lnTo>
                        <a:pt x="5" y="47"/>
                      </a:lnTo>
                      <a:lnTo>
                        <a:pt x="6" y="41"/>
                      </a:lnTo>
                      <a:lnTo>
                        <a:pt x="8" y="37"/>
                      </a:lnTo>
                      <a:lnTo>
                        <a:pt x="14" y="27"/>
                      </a:lnTo>
                      <a:lnTo>
                        <a:pt x="20" y="20"/>
                      </a:lnTo>
                      <a:lnTo>
                        <a:pt x="28" y="14"/>
                      </a:lnTo>
                      <a:lnTo>
                        <a:pt x="37" y="8"/>
                      </a:lnTo>
                      <a:lnTo>
                        <a:pt x="47" y="5"/>
                      </a:lnTo>
                      <a:lnTo>
                        <a:pt x="57" y="4"/>
                      </a:lnTo>
                      <a:lnTo>
                        <a:pt x="68" y="5"/>
                      </a:lnTo>
                      <a:lnTo>
                        <a:pt x="79" y="8"/>
                      </a:lnTo>
                      <a:lnTo>
                        <a:pt x="87" y="14"/>
                      </a:lnTo>
                      <a:lnTo>
                        <a:pt x="96" y="20"/>
                      </a:lnTo>
                      <a:lnTo>
                        <a:pt x="102" y="27"/>
                      </a:lnTo>
                      <a:lnTo>
                        <a:pt x="106" y="37"/>
                      </a:lnTo>
                      <a:lnTo>
                        <a:pt x="110" y="47"/>
                      </a:lnTo>
                      <a:lnTo>
                        <a:pt x="111" y="5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19" name="Freeform 4807"/>
                <p:cNvSpPr>
                  <a:spLocks noChangeAspect="1" noEditPoints="1"/>
                </p:cNvSpPr>
                <p:nvPr/>
              </p:nvSpPr>
              <p:spPr bwMode="auto">
                <a:xfrm>
                  <a:off x="3504" y="3339"/>
                  <a:ext cx="37" cy="37"/>
                </a:xfrm>
                <a:custGeom>
                  <a:avLst/>
                  <a:gdLst>
                    <a:gd name="T0" fmla="*/ 111 w 111"/>
                    <a:gd name="T1" fmla="*/ 50 h 111"/>
                    <a:gd name="T2" fmla="*/ 109 w 111"/>
                    <a:gd name="T3" fmla="*/ 39 h 111"/>
                    <a:gd name="T4" fmla="*/ 101 w 111"/>
                    <a:gd name="T5" fmla="*/ 24 h 111"/>
                    <a:gd name="T6" fmla="*/ 86 w 111"/>
                    <a:gd name="T7" fmla="*/ 10 h 111"/>
                    <a:gd name="T8" fmla="*/ 72 w 111"/>
                    <a:gd name="T9" fmla="*/ 2 h 111"/>
                    <a:gd name="T10" fmla="*/ 62 w 111"/>
                    <a:gd name="T11" fmla="*/ 0 h 111"/>
                    <a:gd name="T12" fmla="*/ 50 w 111"/>
                    <a:gd name="T13" fmla="*/ 0 h 111"/>
                    <a:gd name="T14" fmla="*/ 39 w 111"/>
                    <a:gd name="T15" fmla="*/ 2 h 111"/>
                    <a:gd name="T16" fmla="*/ 25 w 111"/>
                    <a:gd name="T17" fmla="*/ 10 h 111"/>
                    <a:gd name="T18" fmla="*/ 10 w 111"/>
                    <a:gd name="T19" fmla="*/ 24 h 111"/>
                    <a:gd name="T20" fmla="*/ 2 w 111"/>
                    <a:gd name="T21" fmla="*/ 39 h 111"/>
                    <a:gd name="T22" fmla="*/ 0 w 111"/>
                    <a:gd name="T23" fmla="*/ 50 h 111"/>
                    <a:gd name="T24" fmla="*/ 0 w 111"/>
                    <a:gd name="T25" fmla="*/ 62 h 111"/>
                    <a:gd name="T26" fmla="*/ 2 w 111"/>
                    <a:gd name="T27" fmla="*/ 72 h 111"/>
                    <a:gd name="T28" fmla="*/ 10 w 111"/>
                    <a:gd name="T29" fmla="*/ 86 h 111"/>
                    <a:gd name="T30" fmla="*/ 25 w 111"/>
                    <a:gd name="T31" fmla="*/ 101 h 111"/>
                    <a:gd name="T32" fmla="*/ 39 w 111"/>
                    <a:gd name="T33" fmla="*/ 108 h 111"/>
                    <a:gd name="T34" fmla="*/ 50 w 111"/>
                    <a:gd name="T35" fmla="*/ 111 h 111"/>
                    <a:gd name="T36" fmla="*/ 62 w 111"/>
                    <a:gd name="T37" fmla="*/ 111 h 111"/>
                    <a:gd name="T38" fmla="*/ 72 w 111"/>
                    <a:gd name="T39" fmla="*/ 108 h 111"/>
                    <a:gd name="T40" fmla="*/ 86 w 111"/>
                    <a:gd name="T41" fmla="*/ 101 h 111"/>
                    <a:gd name="T42" fmla="*/ 101 w 111"/>
                    <a:gd name="T43" fmla="*/ 86 h 111"/>
                    <a:gd name="T44" fmla="*/ 109 w 111"/>
                    <a:gd name="T45" fmla="*/ 72 h 111"/>
                    <a:gd name="T46" fmla="*/ 111 w 111"/>
                    <a:gd name="T47" fmla="*/ 62 h 111"/>
                    <a:gd name="T48" fmla="*/ 107 w 111"/>
                    <a:gd name="T49" fmla="*/ 55 h 111"/>
                    <a:gd name="T50" fmla="*/ 103 w 111"/>
                    <a:gd name="T51" fmla="*/ 75 h 111"/>
                    <a:gd name="T52" fmla="*/ 92 w 111"/>
                    <a:gd name="T53" fmla="*/ 91 h 111"/>
                    <a:gd name="T54" fmla="*/ 76 w 111"/>
                    <a:gd name="T55" fmla="*/ 103 h 111"/>
                    <a:gd name="T56" fmla="*/ 55 w 111"/>
                    <a:gd name="T57" fmla="*/ 106 h 111"/>
                    <a:gd name="T58" fmla="*/ 35 w 111"/>
                    <a:gd name="T59" fmla="*/ 103 h 111"/>
                    <a:gd name="T60" fmla="*/ 19 w 111"/>
                    <a:gd name="T61" fmla="*/ 91 h 111"/>
                    <a:gd name="T62" fmla="*/ 9 w 111"/>
                    <a:gd name="T63" fmla="*/ 75 h 111"/>
                    <a:gd name="T64" fmla="*/ 4 w 111"/>
                    <a:gd name="T65" fmla="*/ 55 h 111"/>
                    <a:gd name="T66" fmla="*/ 9 w 111"/>
                    <a:gd name="T67" fmla="*/ 35 h 111"/>
                    <a:gd name="T68" fmla="*/ 19 w 111"/>
                    <a:gd name="T69" fmla="*/ 19 h 111"/>
                    <a:gd name="T70" fmla="*/ 35 w 111"/>
                    <a:gd name="T71" fmla="*/ 8 h 111"/>
                    <a:gd name="T72" fmla="*/ 55 w 111"/>
                    <a:gd name="T73" fmla="*/ 4 h 111"/>
                    <a:gd name="T74" fmla="*/ 76 w 111"/>
                    <a:gd name="T75" fmla="*/ 8 h 111"/>
                    <a:gd name="T76" fmla="*/ 92 w 111"/>
                    <a:gd name="T77" fmla="*/ 19 h 111"/>
                    <a:gd name="T78" fmla="*/ 103 w 111"/>
                    <a:gd name="T79" fmla="*/ 35 h 111"/>
                    <a:gd name="T80" fmla="*/ 107 w 111"/>
                    <a:gd name="T81" fmla="*/ 5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1" h="111">
                      <a:moveTo>
                        <a:pt x="111" y="55"/>
                      </a:moveTo>
                      <a:lnTo>
                        <a:pt x="111" y="50"/>
                      </a:lnTo>
                      <a:lnTo>
                        <a:pt x="110" y="45"/>
                      </a:lnTo>
                      <a:lnTo>
                        <a:pt x="109" y="39"/>
                      </a:lnTo>
                      <a:lnTo>
                        <a:pt x="107" y="34"/>
                      </a:lnTo>
                      <a:lnTo>
                        <a:pt x="101" y="24"/>
                      </a:lnTo>
                      <a:lnTo>
                        <a:pt x="95" y="16"/>
                      </a:lnTo>
                      <a:lnTo>
                        <a:pt x="86" y="10"/>
                      </a:lnTo>
                      <a:lnTo>
                        <a:pt x="77" y="4"/>
                      </a:lnTo>
                      <a:lnTo>
                        <a:pt x="72" y="2"/>
                      </a:lnTo>
                      <a:lnTo>
                        <a:pt x="67" y="1"/>
                      </a:lnTo>
                      <a:lnTo>
                        <a:pt x="62" y="0"/>
                      </a:lnTo>
                      <a:lnTo>
                        <a:pt x="55" y="0"/>
                      </a:lnTo>
                      <a:lnTo>
                        <a:pt x="50" y="0"/>
                      </a:lnTo>
                      <a:lnTo>
                        <a:pt x="45" y="1"/>
                      </a:lnTo>
                      <a:lnTo>
                        <a:pt x="39" y="2"/>
                      </a:lnTo>
                      <a:lnTo>
                        <a:pt x="34" y="4"/>
                      </a:lnTo>
                      <a:lnTo>
                        <a:pt x="25" y="10"/>
                      </a:lnTo>
                      <a:lnTo>
                        <a:pt x="16" y="16"/>
                      </a:lnTo>
                      <a:lnTo>
                        <a:pt x="10" y="24"/>
                      </a:lnTo>
                      <a:lnTo>
                        <a:pt x="4" y="34"/>
                      </a:lnTo>
                      <a:lnTo>
                        <a:pt x="2" y="39"/>
                      </a:lnTo>
                      <a:lnTo>
                        <a:pt x="1" y="45"/>
                      </a:lnTo>
                      <a:lnTo>
                        <a:pt x="0" y="50"/>
                      </a:lnTo>
                      <a:lnTo>
                        <a:pt x="0" y="55"/>
                      </a:lnTo>
                      <a:lnTo>
                        <a:pt x="0" y="62"/>
                      </a:lnTo>
                      <a:lnTo>
                        <a:pt x="1" y="67"/>
                      </a:lnTo>
                      <a:lnTo>
                        <a:pt x="2" y="72"/>
                      </a:lnTo>
                      <a:lnTo>
                        <a:pt x="4" y="77"/>
                      </a:lnTo>
                      <a:lnTo>
                        <a:pt x="10" y="86"/>
                      </a:lnTo>
                      <a:lnTo>
                        <a:pt x="16" y="95"/>
                      </a:lnTo>
                      <a:lnTo>
                        <a:pt x="25" y="101"/>
                      </a:lnTo>
                      <a:lnTo>
                        <a:pt x="34" y="106"/>
                      </a:lnTo>
                      <a:lnTo>
                        <a:pt x="39" y="108"/>
                      </a:lnTo>
                      <a:lnTo>
                        <a:pt x="45" y="109"/>
                      </a:lnTo>
                      <a:lnTo>
                        <a:pt x="50" y="111"/>
                      </a:lnTo>
                      <a:lnTo>
                        <a:pt x="55" y="111"/>
                      </a:lnTo>
                      <a:lnTo>
                        <a:pt x="62" y="111"/>
                      </a:lnTo>
                      <a:lnTo>
                        <a:pt x="67" y="109"/>
                      </a:lnTo>
                      <a:lnTo>
                        <a:pt x="72" y="108"/>
                      </a:lnTo>
                      <a:lnTo>
                        <a:pt x="77" y="106"/>
                      </a:lnTo>
                      <a:lnTo>
                        <a:pt x="86" y="101"/>
                      </a:lnTo>
                      <a:lnTo>
                        <a:pt x="95" y="95"/>
                      </a:lnTo>
                      <a:lnTo>
                        <a:pt x="101" y="86"/>
                      </a:lnTo>
                      <a:lnTo>
                        <a:pt x="107" y="77"/>
                      </a:lnTo>
                      <a:lnTo>
                        <a:pt x="109" y="72"/>
                      </a:lnTo>
                      <a:lnTo>
                        <a:pt x="110" y="67"/>
                      </a:lnTo>
                      <a:lnTo>
                        <a:pt x="111" y="62"/>
                      </a:lnTo>
                      <a:lnTo>
                        <a:pt x="111" y="55"/>
                      </a:lnTo>
                      <a:close/>
                      <a:moveTo>
                        <a:pt x="107" y="55"/>
                      </a:moveTo>
                      <a:lnTo>
                        <a:pt x="105" y="66"/>
                      </a:lnTo>
                      <a:lnTo>
                        <a:pt x="103" y="75"/>
                      </a:lnTo>
                      <a:lnTo>
                        <a:pt x="98" y="84"/>
                      </a:lnTo>
                      <a:lnTo>
                        <a:pt x="92" y="91"/>
                      </a:lnTo>
                      <a:lnTo>
                        <a:pt x="84" y="98"/>
                      </a:lnTo>
                      <a:lnTo>
                        <a:pt x="76" y="103"/>
                      </a:lnTo>
                      <a:lnTo>
                        <a:pt x="66" y="105"/>
                      </a:lnTo>
                      <a:lnTo>
                        <a:pt x="55" y="106"/>
                      </a:lnTo>
                      <a:lnTo>
                        <a:pt x="45" y="105"/>
                      </a:lnTo>
                      <a:lnTo>
                        <a:pt x="35" y="103"/>
                      </a:lnTo>
                      <a:lnTo>
                        <a:pt x="27" y="98"/>
                      </a:lnTo>
                      <a:lnTo>
                        <a:pt x="19" y="91"/>
                      </a:lnTo>
                      <a:lnTo>
                        <a:pt x="13" y="84"/>
                      </a:lnTo>
                      <a:lnTo>
                        <a:pt x="9" y="75"/>
                      </a:lnTo>
                      <a:lnTo>
                        <a:pt x="5" y="66"/>
                      </a:lnTo>
                      <a:lnTo>
                        <a:pt x="4" y="55"/>
                      </a:lnTo>
                      <a:lnTo>
                        <a:pt x="5" y="46"/>
                      </a:lnTo>
                      <a:lnTo>
                        <a:pt x="9" y="35"/>
                      </a:lnTo>
                      <a:lnTo>
                        <a:pt x="13" y="27"/>
                      </a:lnTo>
                      <a:lnTo>
                        <a:pt x="19" y="19"/>
                      </a:lnTo>
                      <a:lnTo>
                        <a:pt x="27" y="13"/>
                      </a:lnTo>
                      <a:lnTo>
                        <a:pt x="35" y="8"/>
                      </a:lnTo>
                      <a:lnTo>
                        <a:pt x="45" y="5"/>
                      </a:lnTo>
                      <a:lnTo>
                        <a:pt x="55" y="4"/>
                      </a:lnTo>
                      <a:lnTo>
                        <a:pt x="66" y="5"/>
                      </a:lnTo>
                      <a:lnTo>
                        <a:pt x="76" y="8"/>
                      </a:lnTo>
                      <a:lnTo>
                        <a:pt x="84" y="13"/>
                      </a:lnTo>
                      <a:lnTo>
                        <a:pt x="92" y="19"/>
                      </a:lnTo>
                      <a:lnTo>
                        <a:pt x="98" y="27"/>
                      </a:lnTo>
                      <a:lnTo>
                        <a:pt x="103" y="35"/>
                      </a:lnTo>
                      <a:lnTo>
                        <a:pt x="105" y="46"/>
                      </a:lnTo>
                      <a:lnTo>
                        <a:pt x="107" y="5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20" name="Freeform 4808"/>
                <p:cNvSpPr>
                  <a:spLocks noChangeAspect="1" noEditPoints="1"/>
                </p:cNvSpPr>
                <p:nvPr/>
              </p:nvSpPr>
              <p:spPr bwMode="auto">
                <a:xfrm>
                  <a:off x="3505" y="3339"/>
                  <a:ext cx="35" cy="36"/>
                </a:xfrm>
                <a:custGeom>
                  <a:avLst/>
                  <a:gdLst>
                    <a:gd name="T0" fmla="*/ 106 w 107"/>
                    <a:gd name="T1" fmla="*/ 43 h 106"/>
                    <a:gd name="T2" fmla="*/ 98 w 107"/>
                    <a:gd name="T3" fmla="*/ 23 h 106"/>
                    <a:gd name="T4" fmla="*/ 83 w 107"/>
                    <a:gd name="T5" fmla="*/ 10 h 106"/>
                    <a:gd name="T6" fmla="*/ 64 w 107"/>
                    <a:gd name="T7" fmla="*/ 1 h 106"/>
                    <a:gd name="T8" fmla="*/ 43 w 107"/>
                    <a:gd name="T9" fmla="*/ 1 h 106"/>
                    <a:gd name="T10" fmla="*/ 24 w 107"/>
                    <a:gd name="T11" fmla="*/ 10 h 106"/>
                    <a:gd name="T12" fmla="*/ 10 w 107"/>
                    <a:gd name="T13" fmla="*/ 23 h 106"/>
                    <a:gd name="T14" fmla="*/ 2 w 107"/>
                    <a:gd name="T15" fmla="*/ 37 h 106"/>
                    <a:gd name="T16" fmla="*/ 0 w 107"/>
                    <a:gd name="T17" fmla="*/ 48 h 106"/>
                    <a:gd name="T18" fmla="*/ 0 w 107"/>
                    <a:gd name="T19" fmla="*/ 59 h 106"/>
                    <a:gd name="T20" fmla="*/ 2 w 107"/>
                    <a:gd name="T21" fmla="*/ 69 h 106"/>
                    <a:gd name="T22" fmla="*/ 10 w 107"/>
                    <a:gd name="T23" fmla="*/ 83 h 106"/>
                    <a:gd name="T24" fmla="*/ 24 w 107"/>
                    <a:gd name="T25" fmla="*/ 98 h 106"/>
                    <a:gd name="T26" fmla="*/ 37 w 107"/>
                    <a:gd name="T27" fmla="*/ 104 h 106"/>
                    <a:gd name="T28" fmla="*/ 48 w 107"/>
                    <a:gd name="T29" fmla="*/ 106 h 106"/>
                    <a:gd name="T30" fmla="*/ 59 w 107"/>
                    <a:gd name="T31" fmla="*/ 106 h 106"/>
                    <a:gd name="T32" fmla="*/ 69 w 107"/>
                    <a:gd name="T33" fmla="*/ 104 h 106"/>
                    <a:gd name="T34" fmla="*/ 83 w 107"/>
                    <a:gd name="T35" fmla="*/ 98 h 106"/>
                    <a:gd name="T36" fmla="*/ 98 w 107"/>
                    <a:gd name="T37" fmla="*/ 83 h 106"/>
                    <a:gd name="T38" fmla="*/ 106 w 107"/>
                    <a:gd name="T39" fmla="*/ 64 h 106"/>
                    <a:gd name="T40" fmla="*/ 103 w 107"/>
                    <a:gd name="T41" fmla="*/ 53 h 106"/>
                    <a:gd name="T42" fmla="*/ 99 w 107"/>
                    <a:gd name="T43" fmla="*/ 72 h 106"/>
                    <a:gd name="T44" fmla="*/ 89 w 107"/>
                    <a:gd name="T45" fmla="*/ 88 h 106"/>
                    <a:gd name="T46" fmla="*/ 73 w 107"/>
                    <a:gd name="T47" fmla="*/ 99 h 106"/>
                    <a:gd name="T48" fmla="*/ 53 w 107"/>
                    <a:gd name="T49" fmla="*/ 103 h 106"/>
                    <a:gd name="T50" fmla="*/ 34 w 107"/>
                    <a:gd name="T51" fmla="*/ 99 h 106"/>
                    <a:gd name="T52" fmla="*/ 18 w 107"/>
                    <a:gd name="T53" fmla="*/ 88 h 106"/>
                    <a:gd name="T54" fmla="*/ 9 w 107"/>
                    <a:gd name="T55" fmla="*/ 72 h 106"/>
                    <a:gd name="T56" fmla="*/ 4 w 107"/>
                    <a:gd name="T57" fmla="*/ 53 h 106"/>
                    <a:gd name="T58" fmla="*/ 9 w 107"/>
                    <a:gd name="T59" fmla="*/ 34 h 106"/>
                    <a:gd name="T60" fmla="*/ 18 w 107"/>
                    <a:gd name="T61" fmla="*/ 18 h 106"/>
                    <a:gd name="T62" fmla="*/ 34 w 107"/>
                    <a:gd name="T63" fmla="*/ 9 h 106"/>
                    <a:gd name="T64" fmla="*/ 53 w 107"/>
                    <a:gd name="T65" fmla="*/ 4 h 106"/>
                    <a:gd name="T66" fmla="*/ 73 w 107"/>
                    <a:gd name="T67" fmla="*/ 9 h 106"/>
                    <a:gd name="T68" fmla="*/ 89 w 107"/>
                    <a:gd name="T69" fmla="*/ 18 h 106"/>
                    <a:gd name="T70" fmla="*/ 99 w 107"/>
                    <a:gd name="T71" fmla="*/ 34 h 106"/>
                    <a:gd name="T72" fmla="*/ 103 w 107"/>
                    <a:gd name="T73"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106">
                      <a:moveTo>
                        <a:pt x="107" y="53"/>
                      </a:moveTo>
                      <a:lnTo>
                        <a:pt x="106" y="43"/>
                      </a:lnTo>
                      <a:lnTo>
                        <a:pt x="102" y="33"/>
                      </a:lnTo>
                      <a:lnTo>
                        <a:pt x="98" y="23"/>
                      </a:lnTo>
                      <a:lnTo>
                        <a:pt x="92" y="16"/>
                      </a:lnTo>
                      <a:lnTo>
                        <a:pt x="83" y="10"/>
                      </a:lnTo>
                      <a:lnTo>
                        <a:pt x="75" y="4"/>
                      </a:lnTo>
                      <a:lnTo>
                        <a:pt x="64" y="1"/>
                      </a:lnTo>
                      <a:lnTo>
                        <a:pt x="53" y="0"/>
                      </a:lnTo>
                      <a:lnTo>
                        <a:pt x="43" y="1"/>
                      </a:lnTo>
                      <a:lnTo>
                        <a:pt x="33" y="4"/>
                      </a:lnTo>
                      <a:lnTo>
                        <a:pt x="24" y="10"/>
                      </a:lnTo>
                      <a:lnTo>
                        <a:pt x="16" y="16"/>
                      </a:lnTo>
                      <a:lnTo>
                        <a:pt x="10" y="23"/>
                      </a:lnTo>
                      <a:lnTo>
                        <a:pt x="4" y="33"/>
                      </a:lnTo>
                      <a:lnTo>
                        <a:pt x="2" y="37"/>
                      </a:lnTo>
                      <a:lnTo>
                        <a:pt x="1" y="43"/>
                      </a:lnTo>
                      <a:lnTo>
                        <a:pt x="0" y="48"/>
                      </a:lnTo>
                      <a:lnTo>
                        <a:pt x="0" y="53"/>
                      </a:lnTo>
                      <a:lnTo>
                        <a:pt x="0" y="59"/>
                      </a:lnTo>
                      <a:lnTo>
                        <a:pt x="1" y="64"/>
                      </a:lnTo>
                      <a:lnTo>
                        <a:pt x="2" y="69"/>
                      </a:lnTo>
                      <a:lnTo>
                        <a:pt x="4" y="75"/>
                      </a:lnTo>
                      <a:lnTo>
                        <a:pt x="10" y="83"/>
                      </a:lnTo>
                      <a:lnTo>
                        <a:pt x="16" y="92"/>
                      </a:lnTo>
                      <a:lnTo>
                        <a:pt x="24" y="98"/>
                      </a:lnTo>
                      <a:lnTo>
                        <a:pt x="33" y="102"/>
                      </a:lnTo>
                      <a:lnTo>
                        <a:pt x="37" y="104"/>
                      </a:lnTo>
                      <a:lnTo>
                        <a:pt x="43" y="105"/>
                      </a:lnTo>
                      <a:lnTo>
                        <a:pt x="48" y="106"/>
                      </a:lnTo>
                      <a:lnTo>
                        <a:pt x="53" y="106"/>
                      </a:lnTo>
                      <a:lnTo>
                        <a:pt x="59" y="106"/>
                      </a:lnTo>
                      <a:lnTo>
                        <a:pt x="64" y="105"/>
                      </a:lnTo>
                      <a:lnTo>
                        <a:pt x="69" y="104"/>
                      </a:lnTo>
                      <a:lnTo>
                        <a:pt x="75" y="102"/>
                      </a:lnTo>
                      <a:lnTo>
                        <a:pt x="83" y="98"/>
                      </a:lnTo>
                      <a:lnTo>
                        <a:pt x="92" y="92"/>
                      </a:lnTo>
                      <a:lnTo>
                        <a:pt x="98" y="83"/>
                      </a:lnTo>
                      <a:lnTo>
                        <a:pt x="102" y="75"/>
                      </a:lnTo>
                      <a:lnTo>
                        <a:pt x="106" y="64"/>
                      </a:lnTo>
                      <a:lnTo>
                        <a:pt x="107" y="53"/>
                      </a:lnTo>
                      <a:close/>
                      <a:moveTo>
                        <a:pt x="103" y="53"/>
                      </a:moveTo>
                      <a:lnTo>
                        <a:pt x="102" y="64"/>
                      </a:lnTo>
                      <a:lnTo>
                        <a:pt x="99" y="72"/>
                      </a:lnTo>
                      <a:lnTo>
                        <a:pt x="95" y="81"/>
                      </a:lnTo>
                      <a:lnTo>
                        <a:pt x="89" y="88"/>
                      </a:lnTo>
                      <a:lnTo>
                        <a:pt x="81" y="95"/>
                      </a:lnTo>
                      <a:lnTo>
                        <a:pt x="73" y="99"/>
                      </a:lnTo>
                      <a:lnTo>
                        <a:pt x="64" y="102"/>
                      </a:lnTo>
                      <a:lnTo>
                        <a:pt x="53" y="103"/>
                      </a:lnTo>
                      <a:lnTo>
                        <a:pt x="44" y="102"/>
                      </a:lnTo>
                      <a:lnTo>
                        <a:pt x="34" y="99"/>
                      </a:lnTo>
                      <a:lnTo>
                        <a:pt x="26" y="95"/>
                      </a:lnTo>
                      <a:lnTo>
                        <a:pt x="18" y="88"/>
                      </a:lnTo>
                      <a:lnTo>
                        <a:pt x="13" y="81"/>
                      </a:lnTo>
                      <a:lnTo>
                        <a:pt x="9" y="72"/>
                      </a:lnTo>
                      <a:lnTo>
                        <a:pt x="6" y="64"/>
                      </a:lnTo>
                      <a:lnTo>
                        <a:pt x="4" y="53"/>
                      </a:lnTo>
                      <a:lnTo>
                        <a:pt x="6" y="44"/>
                      </a:lnTo>
                      <a:lnTo>
                        <a:pt x="9" y="34"/>
                      </a:lnTo>
                      <a:lnTo>
                        <a:pt x="13" y="26"/>
                      </a:lnTo>
                      <a:lnTo>
                        <a:pt x="18" y="18"/>
                      </a:lnTo>
                      <a:lnTo>
                        <a:pt x="26" y="13"/>
                      </a:lnTo>
                      <a:lnTo>
                        <a:pt x="34" y="9"/>
                      </a:lnTo>
                      <a:lnTo>
                        <a:pt x="44" y="5"/>
                      </a:lnTo>
                      <a:lnTo>
                        <a:pt x="53" y="4"/>
                      </a:lnTo>
                      <a:lnTo>
                        <a:pt x="64" y="5"/>
                      </a:lnTo>
                      <a:lnTo>
                        <a:pt x="73" y="9"/>
                      </a:lnTo>
                      <a:lnTo>
                        <a:pt x="81" y="13"/>
                      </a:lnTo>
                      <a:lnTo>
                        <a:pt x="89" y="18"/>
                      </a:lnTo>
                      <a:lnTo>
                        <a:pt x="95" y="26"/>
                      </a:lnTo>
                      <a:lnTo>
                        <a:pt x="99" y="34"/>
                      </a:lnTo>
                      <a:lnTo>
                        <a:pt x="102" y="44"/>
                      </a:lnTo>
                      <a:lnTo>
                        <a:pt x="103" y="5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21" name="Freeform 4809"/>
                <p:cNvSpPr>
                  <a:spLocks noChangeAspect="1" noEditPoints="1"/>
                </p:cNvSpPr>
                <p:nvPr/>
              </p:nvSpPr>
              <p:spPr bwMode="auto">
                <a:xfrm>
                  <a:off x="3505" y="3340"/>
                  <a:ext cx="35" cy="35"/>
                </a:xfrm>
                <a:custGeom>
                  <a:avLst/>
                  <a:gdLst>
                    <a:gd name="T0" fmla="*/ 101 w 103"/>
                    <a:gd name="T1" fmla="*/ 41 h 102"/>
                    <a:gd name="T2" fmla="*/ 94 w 103"/>
                    <a:gd name="T3" fmla="*/ 23 h 102"/>
                    <a:gd name="T4" fmla="*/ 80 w 103"/>
                    <a:gd name="T5" fmla="*/ 9 h 102"/>
                    <a:gd name="T6" fmla="*/ 62 w 103"/>
                    <a:gd name="T7" fmla="*/ 1 h 102"/>
                    <a:gd name="T8" fmla="*/ 41 w 103"/>
                    <a:gd name="T9" fmla="*/ 1 h 102"/>
                    <a:gd name="T10" fmla="*/ 23 w 103"/>
                    <a:gd name="T11" fmla="*/ 9 h 102"/>
                    <a:gd name="T12" fmla="*/ 9 w 103"/>
                    <a:gd name="T13" fmla="*/ 23 h 102"/>
                    <a:gd name="T14" fmla="*/ 1 w 103"/>
                    <a:gd name="T15" fmla="*/ 41 h 102"/>
                    <a:gd name="T16" fmla="*/ 1 w 103"/>
                    <a:gd name="T17" fmla="*/ 62 h 102"/>
                    <a:gd name="T18" fmla="*/ 9 w 103"/>
                    <a:gd name="T19" fmla="*/ 80 h 102"/>
                    <a:gd name="T20" fmla="*/ 23 w 103"/>
                    <a:gd name="T21" fmla="*/ 94 h 102"/>
                    <a:gd name="T22" fmla="*/ 41 w 103"/>
                    <a:gd name="T23" fmla="*/ 101 h 102"/>
                    <a:gd name="T24" fmla="*/ 62 w 103"/>
                    <a:gd name="T25" fmla="*/ 101 h 102"/>
                    <a:gd name="T26" fmla="*/ 80 w 103"/>
                    <a:gd name="T27" fmla="*/ 94 h 102"/>
                    <a:gd name="T28" fmla="*/ 94 w 103"/>
                    <a:gd name="T29" fmla="*/ 80 h 102"/>
                    <a:gd name="T30" fmla="*/ 101 w 103"/>
                    <a:gd name="T31" fmla="*/ 62 h 102"/>
                    <a:gd name="T32" fmla="*/ 99 w 103"/>
                    <a:gd name="T33" fmla="*/ 51 h 102"/>
                    <a:gd name="T34" fmla="*/ 95 w 103"/>
                    <a:gd name="T35" fmla="*/ 69 h 102"/>
                    <a:gd name="T36" fmla="*/ 86 w 103"/>
                    <a:gd name="T37" fmla="*/ 85 h 102"/>
                    <a:gd name="T38" fmla="*/ 70 w 103"/>
                    <a:gd name="T39" fmla="*/ 95 h 102"/>
                    <a:gd name="T40" fmla="*/ 51 w 103"/>
                    <a:gd name="T41" fmla="*/ 99 h 102"/>
                    <a:gd name="T42" fmla="*/ 33 w 103"/>
                    <a:gd name="T43" fmla="*/ 95 h 102"/>
                    <a:gd name="T44" fmla="*/ 18 w 103"/>
                    <a:gd name="T45" fmla="*/ 85 h 102"/>
                    <a:gd name="T46" fmla="*/ 8 w 103"/>
                    <a:gd name="T47" fmla="*/ 69 h 102"/>
                    <a:gd name="T48" fmla="*/ 5 w 103"/>
                    <a:gd name="T49" fmla="*/ 51 h 102"/>
                    <a:gd name="T50" fmla="*/ 8 w 103"/>
                    <a:gd name="T51" fmla="*/ 33 h 102"/>
                    <a:gd name="T52" fmla="*/ 18 w 103"/>
                    <a:gd name="T53" fmla="*/ 18 h 102"/>
                    <a:gd name="T54" fmla="*/ 33 w 103"/>
                    <a:gd name="T55" fmla="*/ 8 h 102"/>
                    <a:gd name="T56" fmla="*/ 51 w 103"/>
                    <a:gd name="T57" fmla="*/ 4 h 102"/>
                    <a:gd name="T58" fmla="*/ 70 w 103"/>
                    <a:gd name="T59" fmla="*/ 8 h 102"/>
                    <a:gd name="T60" fmla="*/ 86 w 103"/>
                    <a:gd name="T61" fmla="*/ 18 h 102"/>
                    <a:gd name="T62" fmla="*/ 95 w 103"/>
                    <a:gd name="T63" fmla="*/ 33 h 102"/>
                    <a:gd name="T64" fmla="*/ 99 w 103"/>
                    <a:gd name="T65" fmla="*/ 5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102">
                      <a:moveTo>
                        <a:pt x="103" y="51"/>
                      </a:moveTo>
                      <a:lnTo>
                        <a:pt x="101" y="41"/>
                      </a:lnTo>
                      <a:lnTo>
                        <a:pt x="99" y="31"/>
                      </a:lnTo>
                      <a:lnTo>
                        <a:pt x="94" y="23"/>
                      </a:lnTo>
                      <a:lnTo>
                        <a:pt x="88" y="15"/>
                      </a:lnTo>
                      <a:lnTo>
                        <a:pt x="80" y="9"/>
                      </a:lnTo>
                      <a:lnTo>
                        <a:pt x="72" y="4"/>
                      </a:lnTo>
                      <a:lnTo>
                        <a:pt x="62" y="1"/>
                      </a:lnTo>
                      <a:lnTo>
                        <a:pt x="51" y="0"/>
                      </a:lnTo>
                      <a:lnTo>
                        <a:pt x="41" y="1"/>
                      </a:lnTo>
                      <a:lnTo>
                        <a:pt x="31" y="4"/>
                      </a:lnTo>
                      <a:lnTo>
                        <a:pt x="23" y="9"/>
                      </a:lnTo>
                      <a:lnTo>
                        <a:pt x="15" y="15"/>
                      </a:lnTo>
                      <a:lnTo>
                        <a:pt x="9" y="23"/>
                      </a:lnTo>
                      <a:lnTo>
                        <a:pt x="5" y="31"/>
                      </a:lnTo>
                      <a:lnTo>
                        <a:pt x="1" y="41"/>
                      </a:lnTo>
                      <a:lnTo>
                        <a:pt x="0" y="51"/>
                      </a:lnTo>
                      <a:lnTo>
                        <a:pt x="1" y="62"/>
                      </a:lnTo>
                      <a:lnTo>
                        <a:pt x="5" y="71"/>
                      </a:lnTo>
                      <a:lnTo>
                        <a:pt x="9" y="80"/>
                      </a:lnTo>
                      <a:lnTo>
                        <a:pt x="15" y="87"/>
                      </a:lnTo>
                      <a:lnTo>
                        <a:pt x="23" y="94"/>
                      </a:lnTo>
                      <a:lnTo>
                        <a:pt x="31" y="99"/>
                      </a:lnTo>
                      <a:lnTo>
                        <a:pt x="41" y="101"/>
                      </a:lnTo>
                      <a:lnTo>
                        <a:pt x="51" y="102"/>
                      </a:lnTo>
                      <a:lnTo>
                        <a:pt x="62" y="101"/>
                      </a:lnTo>
                      <a:lnTo>
                        <a:pt x="72" y="99"/>
                      </a:lnTo>
                      <a:lnTo>
                        <a:pt x="80" y="94"/>
                      </a:lnTo>
                      <a:lnTo>
                        <a:pt x="88" y="87"/>
                      </a:lnTo>
                      <a:lnTo>
                        <a:pt x="94" y="80"/>
                      </a:lnTo>
                      <a:lnTo>
                        <a:pt x="99" y="71"/>
                      </a:lnTo>
                      <a:lnTo>
                        <a:pt x="101" y="62"/>
                      </a:lnTo>
                      <a:lnTo>
                        <a:pt x="103" y="51"/>
                      </a:lnTo>
                      <a:close/>
                      <a:moveTo>
                        <a:pt x="99" y="51"/>
                      </a:moveTo>
                      <a:lnTo>
                        <a:pt x="98" y="61"/>
                      </a:lnTo>
                      <a:lnTo>
                        <a:pt x="95" y="69"/>
                      </a:lnTo>
                      <a:lnTo>
                        <a:pt x="91" y="78"/>
                      </a:lnTo>
                      <a:lnTo>
                        <a:pt x="86" y="85"/>
                      </a:lnTo>
                      <a:lnTo>
                        <a:pt x="78" y="91"/>
                      </a:lnTo>
                      <a:lnTo>
                        <a:pt x="70" y="95"/>
                      </a:lnTo>
                      <a:lnTo>
                        <a:pt x="61" y="98"/>
                      </a:lnTo>
                      <a:lnTo>
                        <a:pt x="51" y="99"/>
                      </a:lnTo>
                      <a:lnTo>
                        <a:pt x="42" y="98"/>
                      </a:lnTo>
                      <a:lnTo>
                        <a:pt x="33" y="95"/>
                      </a:lnTo>
                      <a:lnTo>
                        <a:pt x="25" y="91"/>
                      </a:lnTo>
                      <a:lnTo>
                        <a:pt x="18" y="85"/>
                      </a:lnTo>
                      <a:lnTo>
                        <a:pt x="12" y="78"/>
                      </a:lnTo>
                      <a:lnTo>
                        <a:pt x="8" y="69"/>
                      </a:lnTo>
                      <a:lnTo>
                        <a:pt x="6" y="61"/>
                      </a:lnTo>
                      <a:lnTo>
                        <a:pt x="5" y="51"/>
                      </a:lnTo>
                      <a:lnTo>
                        <a:pt x="6" y="42"/>
                      </a:lnTo>
                      <a:lnTo>
                        <a:pt x="8" y="33"/>
                      </a:lnTo>
                      <a:lnTo>
                        <a:pt x="12" y="25"/>
                      </a:lnTo>
                      <a:lnTo>
                        <a:pt x="18" y="18"/>
                      </a:lnTo>
                      <a:lnTo>
                        <a:pt x="25" y="12"/>
                      </a:lnTo>
                      <a:lnTo>
                        <a:pt x="33" y="8"/>
                      </a:lnTo>
                      <a:lnTo>
                        <a:pt x="42" y="6"/>
                      </a:lnTo>
                      <a:lnTo>
                        <a:pt x="51" y="4"/>
                      </a:lnTo>
                      <a:lnTo>
                        <a:pt x="61" y="6"/>
                      </a:lnTo>
                      <a:lnTo>
                        <a:pt x="70" y="8"/>
                      </a:lnTo>
                      <a:lnTo>
                        <a:pt x="78" y="12"/>
                      </a:lnTo>
                      <a:lnTo>
                        <a:pt x="86" y="18"/>
                      </a:lnTo>
                      <a:lnTo>
                        <a:pt x="91" y="25"/>
                      </a:lnTo>
                      <a:lnTo>
                        <a:pt x="95" y="33"/>
                      </a:lnTo>
                      <a:lnTo>
                        <a:pt x="98" y="42"/>
                      </a:lnTo>
                      <a:lnTo>
                        <a:pt x="99" y="5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22" name="Freeform 4810"/>
                <p:cNvSpPr>
                  <a:spLocks noChangeAspect="1" noEditPoints="1"/>
                </p:cNvSpPr>
                <p:nvPr/>
              </p:nvSpPr>
              <p:spPr bwMode="auto">
                <a:xfrm>
                  <a:off x="3506" y="3341"/>
                  <a:ext cx="33" cy="35"/>
                </a:xfrm>
                <a:custGeom>
                  <a:avLst/>
                  <a:gdLst>
                    <a:gd name="T0" fmla="*/ 98 w 99"/>
                    <a:gd name="T1" fmla="*/ 40 h 99"/>
                    <a:gd name="T2" fmla="*/ 91 w 99"/>
                    <a:gd name="T3" fmla="*/ 22 h 99"/>
                    <a:gd name="T4" fmla="*/ 77 w 99"/>
                    <a:gd name="T5" fmla="*/ 9 h 99"/>
                    <a:gd name="T6" fmla="*/ 60 w 99"/>
                    <a:gd name="T7" fmla="*/ 1 h 99"/>
                    <a:gd name="T8" fmla="*/ 40 w 99"/>
                    <a:gd name="T9" fmla="*/ 1 h 99"/>
                    <a:gd name="T10" fmla="*/ 22 w 99"/>
                    <a:gd name="T11" fmla="*/ 9 h 99"/>
                    <a:gd name="T12" fmla="*/ 9 w 99"/>
                    <a:gd name="T13" fmla="*/ 22 h 99"/>
                    <a:gd name="T14" fmla="*/ 2 w 99"/>
                    <a:gd name="T15" fmla="*/ 40 h 99"/>
                    <a:gd name="T16" fmla="*/ 2 w 99"/>
                    <a:gd name="T17" fmla="*/ 60 h 99"/>
                    <a:gd name="T18" fmla="*/ 9 w 99"/>
                    <a:gd name="T19" fmla="*/ 77 h 99"/>
                    <a:gd name="T20" fmla="*/ 22 w 99"/>
                    <a:gd name="T21" fmla="*/ 91 h 99"/>
                    <a:gd name="T22" fmla="*/ 40 w 99"/>
                    <a:gd name="T23" fmla="*/ 98 h 99"/>
                    <a:gd name="T24" fmla="*/ 60 w 99"/>
                    <a:gd name="T25" fmla="*/ 98 h 99"/>
                    <a:gd name="T26" fmla="*/ 77 w 99"/>
                    <a:gd name="T27" fmla="*/ 91 h 99"/>
                    <a:gd name="T28" fmla="*/ 91 w 99"/>
                    <a:gd name="T29" fmla="*/ 77 h 99"/>
                    <a:gd name="T30" fmla="*/ 98 w 99"/>
                    <a:gd name="T31" fmla="*/ 60 h 99"/>
                    <a:gd name="T32" fmla="*/ 95 w 99"/>
                    <a:gd name="T33" fmla="*/ 49 h 99"/>
                    <a:gd name="T34" fmla="*/ 91 w 99"/>
                    <a:gd name="T35" fmla="*/ 67 h 99"/>
                    <a:gd name="T36" fmla="*/ 81 w 99"/>
                    <a:gd name="T37" fmla="*/ 81 h 99"/>
                    <a:gd name="T38" fmla="*/ 68 w 99"/>
                    <a:gd name="T39" fmla="*/ 91 h 99"/>
                    <a:gd name="T40" fmla="*/ 49 w 99"/>
                    <a:gd name="T41" fmla="*/ 95 h 99"/>
                    <a:gd name="T42" fmla="*/ 32 w 99"/>
                    <a:gd name="T43" fmla="*/ 91 h 99"/>
                    <a:gd name="T44" fmla="*/ 18 w 99"/>
                    <a:gd name="T45" fmla="*/ 81 h 99"/>
                    <a:gd name="T46" fmla="*/ 8 w 99"/>
                    <a:gd name="T47" fmla="*/ 67 h 99"/>
                    <a:gd name="T48" fmla="*/ 5 w 99"/>
                    <a:gd name="T49" fmla="*/ 49 h 99"/>
                    <a:gd name="T50" fmla="*/ 8 w 99"/>
                    <a:gd name="T51" fmla="*/ 32 h 99"/>
                    <a:gd name="T52" fmla="*/ 18 w 99"/>
                    <a:gd name="T53" fmla="*/ 17 h 99"/>
                    <a:gd name="T54" fmla="*/ 32 w 99"/>
                    <a:gd name="T55" fmla="*/ 8 h 99"/>
                    <a:gd name="T56" fmla="*/ 49 w 99"/>
                    <a:gd name="T57" fmla="*/ 5 h 99"/>
                    <a:gd name="T58" fmla="*/ 68 w 99"/>
                    <a:gd name="T59" fmla="*/ 8 h 99"/>
                    <a:gd name="T60" fmla="*/ 81 w 99"/>
                    <a:gd name="T61" fmla="*/ 17 h 99"/>
                    <a:gd name="T62" fmla="*/ 91 w 99"/>
                    <a:gd name="T63" fmla="*/ 32 h 99"/>
                    <a:gd name="T64" fmla="*/ 95 w 99"/>
                    <a:gd name="T65" fmla="*/ 4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99">
                      <a:moveTo>
                        <a:pt x="99" y="49"/>
                      </a:moveTo>
                      <a:lnTo>
                        <a:pt x="98" y="40"/>
                      </a:lnTo>
                      <a:lnTo>
                        <a:pt x="95" y="30"/>
                      </a:lnTo>
                      <a:lnTo>
                        <a:pt x="91" y="22"/>
                      </a:lnTo>
                      <a:lnTo>
                        <a:pt x="85" y="14"/>
                      </a:lnTo>
                      <a:lnTo>
                        <a:pt x="77" y="9"/>
                      </a:lnTo>
                      <a:lnTo>
                        <a:pt x="69" y="5"/>
                      </a:lnTo>
                      <a:lnTo>
                        <a:pt x="60" y="1"/>
                      </a:lnTo>
                      <a:lnTo>
                        <a:pt x="49" y="0"/>
                      </a:lnTo>
                      <a:lnTo>
                        <a:pt x="40" y="1"/>
                      </a:lnTo>
                      <a:lnTo>
                        <a:pt x="30" y="5"/>
                      </a:lnTo>
                      <a:lnTo>
                        <a:pt x="22" y="9"/>
                      </a:lnTo>
                      <a:lnTo>
                        <a:pt x="14" y="14"/>
                      </a:lnTo>
                      <a:lnTo>
                        <a:pt x="9" y="22"/>
                      </a:lnTo>
                      <a:lnTo>
                        <a:pt x="5" y="30"/>
                      </a:lnTo>
                      <a:lnTo>
                        <a:pt x="2" y="40"/>
                      </a:lnTo>
                      <a:lnTo>
                        <a:pt x="0" y="49"/>
                      </a:lnTo>
                      <a:lnTo>
                        <a:pt x="2" y="60"/>
                      </a:lnTo>
                      <a:lnTo>
                        <a:pt x="5" y="68"/>
                      </a:lnTo>
                      <a:lnTo>
                        <a:pt x="9" y="77"/>
                      </a:lnTo>
                      <a:lnTo>
                        <a:pt x="14" y="84"/>
                      </a:lnTo>
                      <a:lnTo>
                        <a:pt x="22" y="91"/>
                      </a:lnTo>
                      <a:lnTo>
                        <a:pt x="30" y="95"/>
                      </a:lnTo>
                      <a:lnTo>
                        <a:pt x="40" y="98"/>
                      </a:lnTo>
                      <a:lnTo>
                        <a:pt x="49" y="99"/>
                      </a:lnTo>
                      <a:lnTo>
                        <a:pt x="60" y="98"/>
                      </a:lnTo>
                      <a:lnTo>
                        <a:pt x="69" y="95"/>
                      </a:lnTo>
                      <a:lnTo>
                        <a:pt x="77" y="91"/>
                      </a:lnTo>
                      <a:lnTo>
                        <a:pt x="85" y="84"/>
                      </a:lnTo>
                      <a:lnTo>
                        <a:pt x="91" y="77"/>
                      </a:lnTo>
                      <a:lnTo>
                        <a:pt x="95" y="68"/>
                      </a:lnTo>
                      <a:lnTo>
                        <a:pt x="98" y="60"/>
                      </a:lnTo>
                      <a:lnTo>
                        <a:pt x="99" y="49"/>
                      </a:lnTo>
                      <a:close/>
                      <a:moveTo>
                        <a:pt x="95" y="49"/>
                      </a:moveTo>
                      <a:lnTo>
                        <a:pt x="94" y="59"/>
                      </a:lnTo>
                      <a:lnTo>
                        <a:pt x="91" y="67"/>
                      </a:lnTo>
                      <a:lnTo>
                        <a:pt x="87" y="75"/>
                      </a:lnTo>
                      <a:lnTo>
                        <a:pt x="81" y="81"/>
                      </a:lnTo>
                      <a:lnTo>
                        <a:pt x="75" y="86"/>
                      </a:lnTo>
                      <a:lnTo>
                        <a:pt x="68" y="91"/>
                      </a:lnTo>
                      <a:lnTo>
                        <a:pt x="59" y="94"/>
                      </a:lnTo>
                      <a:lnTo>
                        <a:pt x="49" y="95"/>
                      </a:lnTo>
                      <a:lnTo>
                        <a:pt x="41" y="94"/>
                      </a:lnTo>
                      <a:lnTo>
                        <a:pt x="32" y="91"/>
                      </a:lnTo>
                      <a:lnTo>
                        <a:pt x="24" y="86"/>
                      </a:lnTo>
                      <a:lnTo>
                        <a:pt x="18" y="81"/>
                      </a:lnTo>
                      <a:lnTo>
                        <a:pt x="12" y="75"/>
                      </a:lnTo>
                      <a:lnTo>
                        <a:pt x="8" y="67"/>
                      </a:lnTo>
                      <a:lnTo>
                        <a:pt x="6" y="59"/>
                      </a:lnTo>
                      <a:lnTo>
                        <a:pt x="5" y="49"/>
                      </a:lnTo>
                      <a:lnTo>
                        <a:pt x="6" y="41"/>
                      </a:lnTo>
                      <a:lnTo>
                        <a:pt x="8" y="32"/>
                      </a:lnTo>
                      <a:lnTo>
                        <a:pt x="12" y="24"/>
                      </a:lnTo>
                      <a:lnTo>
                        <a:pt x="18" y="17"/>
                      </a:lnTo>
                      <a:lnTo>
                        <a:pt x="24" y="12"/>
                      </a:lnTo>
                      <a:lnTo>
                        <a:pt x="32" y="8"/>
                      </a:lnTo>
                      <a:lnTo>
                        <a:pt x="41" y="6"/>
                      </a:lnTo>
                      <a:lnTo>
                        <a:pt x="49" y="5"/>
                      </a:lnTo>
                      <a:lnTo>
                        <a:pt x="59" y="6"/>
                      </a:lnTo>
                      <a:lnTo>
                        <a:pt x="68" y="8"/>
                      </a:lnTo>
                      <a:lnTo>
                        <a:pt x="75" y="12"/>
                      </a:lnTo>
                      <a:lnTo>
                        <a:pt x="81" y="17"/>
                      </a:lnTo>
                      <a:lnTo>
                        <a:pt x="87" y="24"/>
                      </a:lnTo>
                      <a:lnTo>
                        <a:pt x="91" y="32"/>
                      </a:lnTo>
                      <a:lnTo>
                        <a:pt x="94" y="41"/>
                      </a:lnTo>
                      <a:lnTo>
                        <a:pt x="95" y="4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23" name="Freeform 4811"/>
                <p:cNvSpPr>
                  <a:spLocks noChangeAspect="1" noEditPoints="1"/>
                </p:cNvSpPr>
                <p:nvPr/>
              </p:nvSpPr>
              <p:spPr bwMode="auto">
                <a:xfrm>
                  <a:off x="3507" y="3341"/>
                  <a:ext cx="31" cy="32"/>
                </a:xfrm>
                <a:custGeom>
                  <a:avLst/>
                  <a:gdLst>
                    <a:gd name="T0" fmla="*/ 93 w 94"/>
                    <a:gd name="T1" fmla="*/ 38 h 95"/>
                    <a:gd name="T2" fmla="*/ 86 w 94"/>
                    <a:gd name="T3" fmla="*/ 21 h 95"/>
                    <a:gd name="T4" fmla="*/ 73 w 94"/>
                    <a:gd name="T5" fmla="*/ 8 h 95"/>
                    <a:gd name="T6" fmla="*/ 56 w 94"/>
                    <a:gd name="T7" fmla="*/ 2 h 95"/>
                    <a:gd name="T8" fmla="*/ 37 w 94"/>
                    <a:gd name="T9" fmla="*/ 2 h 95"/>
                    <a:gd name="T10" fmla="*/ 20 w 94"/>
                    <a:gd name="T11" fmla="*/ 8 h 95"/>
                    <a:gd name="T12" fmla="*/ 7 w 94"/>
                    <a:gd name="T13" fmla="*/ 21 h 95"/>
                    <a:gd name="T14" fmla="*/ 1 w 94"/>
                    <a:gd name="T15" fmla="*/ 38 h 95"/>
                    <a:gd name="T16" fmla="*/ 1 w 94"/>
                    <a:gd name="T17" fmla="*/ 57 h 95"/>
                    <a:gd name="T18" fmla="*/ 7 w 94"/>
                    <a:gd name="T19" fmla="*/ 74 h 95"/>
                    <a:gd name="T20" fmla="*/ 20 w 94"/>
                    <a:gd name="T21" fmla="*/ 87 h 95"/>
                    <a:gd name="T22" fmla="*/ 37 w 94"/>
                    <a:gd name="T23" fmla="*/ 94 h 95"/>
                    <a:gd name="T24" fmla="*/ 56 w 94"/>
                    <a:gd name="T25" fmla="*/ 94 h 95"/>
                    <a:gd name="T26" fmla="*/ 73 w 94"/>
                    <a:gd name="T27" fmla="*/ 87 h 95"/>
                    <a:gd name="T28" fmla="*/ 86 w 94"/>
                    <a:gd name="T29" fmla="*/ 74 h 95"/>
                    <a:gd name="T30" fmla="*/ 93 w 94"/>
                    <a:gd name="T31" fmla="*/ 57 h 95"/>
                    <a:gd name="T32" fmla="*/ 90 w 94"/>
                    <a:gd name="T33" fmla="*/ 47 h 95"/>
                    <a:gd name="T34" fmla="*/ 87 w 94"/>
                    <a:gd name="T35" fmla="*/ 64 h 95"/>
                    <a:gd name="T36" fmla="*/ 77 w 94"/>
                    <a:gd name="T37" fmla="*/ 78 h 95"/>
                    <a:gd name="T38" fmla="*/ 63 w 94"/>
                    <a:gd name="T39" fmla="*/ 88 h 95"/>
                    <a:gd name="T40" fmla="*/ 46 w 94"/>
                    <a:gd name="T41" fmla="*/ 91 h 95"/>
                    <a:gd name="T42" fmla="*/ 29 w 94"/>
                    <a:gd name="T43" fmla="*/ 88 h 95"/>
                    <a:gd name="T44" fmla="*/ 17 w 94"/>
                    <a:gd name="T45" fmla="*/ 78 h 95"/>
                    <a:gd name="T46" fmla="*/ 7 w 94"/>
                    <a:gd name="T47" fmla="*/ 64 h 95"/>
                    <a:gd name="T48" fmla="*/ 4 w 94"/>
                    <a:gd name="T49" fmla="*/ 47 h 95"/>
                    <a:gd name="T50" fmla="*/ 7 w 94"/>
                    <a:gd name="T51" fmla="*/ 30 h 95"/>
                    <a:gd name="T52" fmla="*/ 17 w 94"/>
                    <a:gd name="T53" fmla="*/ 17 h 95"/>
                    <a:gd name="T54" fmla="*/ 29 w 94"/>
                    <a:gd name="T55" fmla="*/ 8 h 95"/>
                    <a:gd name="T56" fmla="*/ 46 w 94"/>
                    <a:gd name="T57" fmla="*/ 5 h 95"/>
                    <a:gd name="T58" fmla="*/ 63 w 94"/>
                    <a:gd name="T59" fmla="*/ 8 h 95"/>
                    <a:gd name="T60" fmla="*/ 77 w 94"/>
                    <a:gd name="T61" fmla="*/ 17 h 95"/>
                    <a:gd name="T62" fmla="*/ 87 w 94"/>
                    <a:gd name="T63" fmla="*/ 30 h 95"/>
                    <a:gd name="T64" fmla="*/ 90 w 94"/>
                    <a:gd name="T65" fmla="*/ 4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4" h="95">
                      <a:moveTo>
                        <a:pt x="94" y="47"/>
                      </a:moveTo>
                      <a:lnTo>
                        <a:pt x="93" y="38"/>
                      </a:lnTo>
                      <a:lnTo>
                        <a:pt x="90" y="29"/>
                      </a:lnTo>
                      <a:lnTo>
                        <a:pt x="86" y="21"/>
                      </a:lnTo>
                      <a:lnTo>
                        <a:pt x="81" y="14"/>
                      </a:lnTo>
                      <a:lnTo>
                        <a:pt x="73" y="8"/>
                      </a:lnTo>
                      <a:lnTo>
                        <a:pt x="65" y="4"/>
                      </a:lnTo>
                      <a:lnTo>
                        <a:pt x="56" y="2"/>
                      </a:lnTo>
                      <a:lnTo>
                        <a:pt x="46" y="0"/>
                      </a:lnTo>
                      <a:lnTo>
                        <a:pt x="37" y="2"/>
                      </a:lnTo>
                      <a:lnTo>
                        <a:pt x="28" y="4"/>
                      </a:lnTo>
                      <a:lnTo>
                        <a:pt x="20" y="8"/>
                      </a:lnTo>
                      <a:lnTo>
                        <a:pt x="13" y="14"/>
                      </a:lnTo>
                      <a:lnTo>
                        <a:pt x="7" y="21"/>
                      </a:lnTo>
                      <a:lnTo>
                        <a:pt x="3" y="29"/>
                      </a:lnTo>
                      <a:lnTo>
                        <a:pt x="1" y="38"/>
                      </a:lnTo>
                      <a:lnTo>
                        <a:pt x="0" y="47"/>
                      </a:lnTo>
                      <a:lnTo>
                        <a:pt x="1" y="57"/>
                      </a:lnTo>
                      <a:lnTo>
                        <a:pt x="3" y="65"/>
                      </a:lnTo>
                      <a:lnTo>
                        <a:pt x="7" y="74"/>
                      </a:lnTo>
                      <a:lnTo>
                        <a:pt x="13" y="81"/>
                      </a:lnTo>
                      <a:lnTo>
                        <a:pt x="20" y="87"/>
                      </a:lnTo>
                      <a:lnTo>
                        <a:pt x="28" y="91"/>
                      </a:lnTo>
                      <a:lnTo>
                        <a:pt x="37" y="94"/>
                      </a:lnTo>
                      <a:lnTo>
                        <a:pt x="46" y="95"/>
                      </a:lnTo>
                      <a:lnTo>
                        <a:pt x="56" y="94"/>
                      </a:lnTo>
                      <a:lnTo>
                        <a:pt x="65" y="91"/>
                      </a:lnTo>
                      <a:lnTo>
                        <a:pt x="73" y="87"/>
                      </a:lnTo>
                      <a:lnTo>
                        <a:pt x="81" y="81"/>
                      </a:lnTo>
                      <a:lnTo>
                        <a:pt x="86" y="74"/>
                      </a:lnTo>
                      <a:lnTo>
                        <a:pt x="90" y="65"/>
                      </a:lnTo>
                      <a:lnTo>
                        <a:pt x="93" y="57"/>
                      </a:lnTo>
                      <a:lnTo>
                        <a:pt x="94" y="47"/>
                      </a:lnTo>
                      <a:close/>
                      <a:moveTo>
                        <a:pt x="90" y="47"/>
                      </a:moveTo>
                      <a:lnTo>
                        <a:pt x="89" y="56"/>
                      </a:lnTo>
                      <a:lnTo>
                        <a:pt x="87" y="64"/>
                      </a:lnTo>
                      <a:lnTo>
                        <a:pt x="83" y="72"/>
                      </a:lnTo>
                      <a:lnTo>
                        <a:pt x="77" y="78"/>
                      </a:lnTo>
                      <a:lnTo>
                        <a:pt x="71" y="83"/>
                      </a:lnTo>
                      <a:lnTo>
                        <a:pt x="63" y="88"/>
                      </a:lnTo>
                      <a:lnTo>
                        <a:pt x="55" y="90"/>
                      </a:lnTo>
                      <a:lnTo>
                        <a:pt x="46" y="91"/>
                      </a:lnTo>
                      <a:lnTo>
                        <a:pt x="38" y="90"/>
                      </a:lnTo>
                      <a:lnTo>
                        <a:pt x="29" y="88"/>
                      </a:lnTo>
                      <a:lnTo>
                        <a:pt x="23" y="83"/>
                      </a:lnTo>
                      <a:lnTo>
                        <a:pt x="17" y="78"/>
                      </a:lnTo>
                      <a:lnTo>
                        <a:pt x="11" y="72"/>
                      </a:lnTo>
                      <a:lnTo>
                        <a:pt x="7" y="64"/>
                      </a:lnTo>
                      <a:lnTo>
                        <a:pt x="4" y="56"/>
                      </a:lnTo>
                      <a:lnTo>
                        <a:pt x="4" y="47"/>
                      </a:lnTo>
                      <a:lnTo>
                        <a:pt x="4" y="39"/>
                      </a:lnTo>
                      <a:lnTo>
                        <a:pt x="7" y="30"/>
                      </a:lnTo>
                      <a:lnTo>
                        <a:pt x="11" y="24"/>
                      </a:lnTo>
                      <a:lnTo>
                        <a:pt x="17" y="17"/>
                      </a:lnTo>
                      <a:lnTo>
                        <a:pt x="23" y="12"/>
                      </a:lnTo>
                      <a:lnTo>
                        <a:pt x="29" y="8"/>
                      </a:lnTo>
                      <a:lnTo>
                        <a:pt x="38" y="6"/>
                      </a:lnTo>
                      <a:lnTo>
                        <a:pt x="46" y="5"/>
                      </a:lnTo>
                      <a:lnTo>
                        <a:pt x="55" y="6"/>
                      </a:lnTo>
                      <a:lnTo>
                        <a:pt x="63" y="8"/>
                      </a:lnTo>
                      <a:lnTo>
                        <a:pt x="71" y="12"/>
                      </a:lnTo>
                      <a:lnTo>
                        <a:pt x="77" y="17"/>
                      </a:lnTo>
                      <a:lnTo>
                        <a:pt x="83" y="24"/>
                      </a:lnTo>
                      <a:lnTo>
                        <a:pt x="87" y="30"/>
                      </a:lnTo>
                      <a:lnTo>
                        <a:pt x="89" y="39"/>
                      </a:lnTo>
                      <a:lnTo>
                        <a:pt x="90" y="4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24" name="Freeform 4812"/>
                <p:cNvSpPr>
                  <a:spLocks noChangeAspect="1" noEditPoints="1"/>
                </p:cNvSpPr>
                <p:nvPr/>
              </p:nvSpPr>
              <p:spPr bwMode="auto">
                <a:xfrm>
                  <a:off x="3508" y="3342"/>
                  <a:ext cx="30" cy="29"/>
                </a:xfrm>
                <a:custGeom>
                  <a:avLst/>
                  <a:gdLst>
                    <a:gd name="T0" fmla="*/ 89 w 90"/>
                    <a:gd name="T1" fmla="*/ 36 h 90"/>
                    <a:gd name="T2" fmla="*/ 82 w 90"/>
                    <a:gd name="T3" fmla="*/ 19 h 90"/>
                    <a:gd name="T4" fmla="*/ 70 w 90"/>
                    <a:gd name="T5" fmla="*/ 7 h 90"/>
                    <a:gd name="T6" fmla="*/ 54 w 90"/>
                    <a:gd name="T7" fmla="*/ 1 h 90"/>
                    <a:gd name="T8" fmla="*/ 36 w 90"/>
                    <a:gd name="T9" fmla="*/ 1 h 90"/>
                    <a:gd name="T10" fmla="*/ 19 w 90"/>
                    <a:gd name="T11" fmla="*/ 7 h 90"/>
                    <a:gd name="T12" fmla="*/ 7 w 90"/>
                    <a:gd name="T13" fmla="*/ 19 h 90"/>
                    <a:gd name="T14" fmla="*/ 1 w 90"/>
                    <a:gd name="T15" fmla="*/ 36 h 90"/>
                    <a:gd name="T16" fmla="*/ 1 w 90"/>
                    <a:gd name="T17" fmla="*/ 54 h 90"/>
                    <a:gd name="T18" fmla="*/ 7 w 90"/>
                    <a:gd name="T19" fmla="*/ 70 h 90"/>
                    <a:gd name="T20" fmla="*/ 19 w 90"/>
                    <a:gd name="T21" fmla="*/ 81 h 90"/>
                    <a:gd name="T22" fmla="*/ 36 w 90"/>
                    <a:gd name="T23" fmla="*/ 89 h 90"/>
                    <a:gd name="T24" fmla="*/ 54 w 90"/>
                    <a:gd name="T25" fmla="*/ 89 h 90"/>
                    <a:gd name="T26" fmla="*/ 70 w 90"/>
                    <a:gd name="T27" fmla="*/ 81 h 90"/>
                    <a:gd name="T28" fmla="*/ 82 w 90"/>
                    <a:gd name="T29" fmla="*/ 70 h 90"/>
                    <a:gd name="T30" fmla="*/ 89 w 90"/>
                    <a:gd name="T31" fmla="*/ 54 h 90"/>
                    <a:gd name="T32" fmla="*/ 86 w 90"/>
                    <a:gd name="T33" fmla="*/ 44 h 90"/>
                    <a:gd name="T34" fmla="*/ 83 w 90"/>
                    <a:gd name="T35" fmla="*/ 60 h 90"/>
                    <a:gd name="T36" fmla="*/ 73 w 90"/>
                    <a:gd name="T37" fmla="*/ 73 h 90"/>
                    <a:gd name="T38" fmla="*/ 60 w 90"/>
                    <a:gd name="T39" fmla="*/ 83 h 90"/>
                    <a:gd name="T40" fmla="*/ 44 w 90"/>
                    <a:gd name="T41" fmla="*/ 86 h 90"/>
                    <a:gd name="T42" fmla="*/ 28 w 90"/>
                    <a:gd name="T43" fmla="*/ 83 h 90"/>
                    <a:gd name="T44" fmla="*/ 16 w 90"/>
                    <a:gd name="T45" fmla="*/ 73 h 90"/>
                    <a:gd name="T46" fmla="*/ 7 w 90"/>
                    <a:gd name="T47" fmla="*/ 60 h 90"/>
                    <a:gd name="T48" fmla="*/ 4 w 90"/>
                    <a:gd name="T49" fmla="*/ 44 h 90"/>
                    <a:gd name="T50" fmla="*/ 7 w 90"/>
                    <a:gd name="T51" fmla="*/ 28 h 90"/>
                    <a:gd name="T52" fmla="*/ 16 w 90"/>
                    <a:gd name="T53" fmla="*/ 16 h 90"/>
                    <a:gd name="T54" fmla="*/ 28 w 90"/>
                    <a:gd name="T55" fmla="*/ 7 h 90"/>
                    <a:gd name="T56" fmla="*/ 44 w 90"/>
                    <a:gd name="T57" fmla="*/ 4 h 90"/>
                    <a:gd name="T58" fmla="*/ 60 w 90"/>
                    <a:gd name="T59" fmla="*/ 7 h 90"/>
                    <a:gd name="T60" fmla="*/ 73 w 90"/>
                    <a:gd name="T61" fmla="*/ 16 h 90"/>
                    <a:gd name="T62" fmla="*/ 83 w 90"/>
                    <a:gd name="T63" fmla="*/ 28 h 90"/>
                    <a:gd name="T64" fmla="*/ 86 w 90"/>
                    <a:gd name="T65" fmla="*/ 4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90">
                      <a:moveTo>
                        <a:pt x="90" y="44"/>
                      </a:moveTo>
                      <a:lnTo>
                        <a:pt x="89" y="36"/>
                      </a:lnTo>
                      <a:lnTo>
                        <a:pt x="86" y="27"/>
                      </a:lnTo>
                      <a:lnTo>
                        <a:pt x="82" y="19"/>
                      </a:lnTo>
                      <a:lnTo>
                        <a:pt x="76" y="12"/>
                      </a:lnTo>
                      <a:lnTo>
                        <a:pt x="70" y="7"/>
                      </a:lnTo>
                      <a:lnTo>
                        <a:pt x="63" y="3"/>
                      </a:lnTo>
                      <a:lnTo>
                        <a:pt x="54" y="1"/>
                      </a:lnTo>
                      <a:lnTo>
                        <a:pt x="44" y="0"/>
                      </a:lnTo>
                      <a:lnTo>
                        <a:pt x="36" y="1"/>
                      </a:lnTo>
                      <a:lnTo>
                        <a:pt x="27" y="3"/>
                      </a:lnTo>
                      <a:lnTo>
                        <a:pt x="19" y="7"/>
                      </a:lnTo>
                      <a:lnTo>
                        <a:pt x="13" y="12"/>
                      </a:lnTo>
                      <a:lnTo>
                        <a:pt x="7" y="19"/>
                      </a:lnTo>
                      <a:lnTo>
                        <a:pt x="3" y="27"/>
                      </a:lnTo>
                      <a:lnTo>
                        <a:pt x="1" y="36"/>
                      </a:lnTo>
                      <a:lnTo>
                        <a:pt x="0" y="44"/>
                      </a:lnTo>
                      <a:lnTo>
                        <a:pt x="1" y="54"/>
                      </a:lnTo>
                      <a:lnTo>
                        <a:pt x="3" y="62"/>
                      </a:lnTo>
                      <a:lnTo>
                        <a:pt x="7" y="70"/>
                      </a:lnTo>
                      <a:lnTo>
                        <a:pt x="13" y="76"/>
                      </a:lnTo>
                      <a:lnTo>
                        <a:pt x="19" y="81"/>
                      </a:lnTo>
                      <a:lnTo>
                        <a:pt x="27" y="86"/>
                      </a:lnTo>
                      <a:lnTo>
                        <a:pt x="36" y="89"/>
                      </a:lnTo>
                      <a:lnTo>
                        <a:pt x="44" y="90"/>
                      </a:lnTo>
                      <a:lnTo>
                        <a:pt x="54" y="89"/>
                      </a:lnTo>
                      <a:lnTo>
                        <a:pt x="63" y="86"/>
                      </a:lnTo>
                      <a:lnTo>
                        <a:pt x="70" y="81"/>
                      </a:lnTo>
                      <a:lnTo>
                        <a:pt x="76" y="76"/>
                      </a:lnTo>
                      <a:lnTo>
                        <a:pt x="82" y="70"/>
                      </a:lnTo>
                      <a:lnTo>
                        <a:pt x="86" y="62"/>
                      </a:lnTo>
                      <a:lnTo>
                        <a:pt x="89" y="54"/>
                      </a:lnTo>
                      <a:lnTo>
                        <a:pt x="90" y="44"/>
                      </a:lnTo>
                      <a:close/>
                      <a:moveTo>
                        <a:pt x="86" y="44"/>
                      </a:moveTo>
                      <a:lnTo>
                        <a:pt x="85" y="53"/>
                      </a:lnTo>
                      <a:lnTo>
                        <a:pt x="83" y="60"/>
                      </a:lnTo>
                      <a:lnTo>
                        <a:pt x="79" y="68"/>
                      </a:lnTo>
                      <a:lnTo>
                        <a:pt x="73" y="73"/>
                      </a:lnTo>
                      <a:lnTo>
                        <a:pt x="68" y="78"/>
                      </a:lnTo>
                      <a:lnTo>
                        <a:pt x="60" y="83"/>
                      </a:lnTo>
                      <a:lnTo>
                        <a:pt x="53" y="85"/>
                      </a:lnTo>
                      <a:lnTo>
                        <a:pt x="44" y="86"/>
                      </a:lnTo>
                      <a:lnTo>
                        <a:pt x="36" y="85"/>
                      </a:lnTo>
                      <a:lnTo>
                        <a:pt x="28" y="83"/>
                      </a:lnTo>
                      <a:lnTo>
                        <a:pt x="22" y="78"/>
                      </a:lnTo>
                      <a:lnTo>
                        <a:pt x="16" y="73"/>
                      </a:lnTo>
                      <a:lnTo>
                        <a:pt x="10" y="68"/>
                      </a:lnTo>
                      <a:lnTo>
                        <a:pt x="7" y="60"/>
                      </a:lnTo>
                      <a:lnTo>
                        <a:pt x="4" y="53"/>
                      </a:lnTo>
                      <a:lnTo>
                        <a:pt x="4" y="44"/>
                      </a:lnTo>
                      <a:lnTo>
                        <a:pt x="4" y="36"/>
                      </a:lnTo>
                      <a:lnTo>
                        <a:pt x="7" y="28"/>
                      </a:lnTo>
                      <a:lnTo>
                        <a:pt x="10" y="22"/>
                      </a:lnTo>
                      <a:lnTo>
                        <a:pt x="16" y="16"/>
                      </a:lnTo>
                      <a:lnTo>
                        <a:pt x="22" y="10"/>
                      </a:lnTo>
                      <a:lnTo>
                        <a:pt x="28" y="7"/>
                      </a:lnTo>
                      <a:lnTo>
                        <a:pt x="36" y="4"/>
                      </a:lnTo>
                      <a:lnTo>
                        <a:pt x="44" y="4"/>
                      </a:lnTo>
                      <a:lnTo>
                        <a:pt x="53" y="4"/>
                      </a:lnTo>
                      <a:lnTo>
                        <a:pt x="60" y="7"/>
                      </a:lnTo>
                      <a:lnTo>
                        <a:pt x="68" y="10"/>
                      </a:lnTo>
                      <a:lnTo>
                        <a:pt x="73" y="16"/>
                      </a:lnTo>
                      <a:lnTo>
                        <a:pt x="79" y="22"/>
                      </a:lnTo>
                      <a:lnTo>
                        <a:pt x="83" y="28"/>
                      </a:lnTo>
                      <a:lnTo>
                        <a:pt x="85" y="36"/>
                      </a:lnTo>
                      <a:lnTo>
                        <a:pt x="86" y="4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25" name="Freeform 4813"/>
                <p:cNvSpPr>
                  <a:spLocks noChangeAspect="1" noEditPoints="1"/>
                </p:cNvSpPr>
                <p:nvPr/>
              </p:nvSpPr>
              <p:spPr bwMode="auto">
                <a:xfrm>
                  <a:off x="3508" y="3343"/>
                  <a:ext cx="29" cy="29"/>
                </a:xfrm>
                <a:custGeom>
                  <a:avLst/>
                  <a:gdLst>
                    <a:gd name="T0" fmla="*/ 85 w 86"/>
                    <a:gd name="T1" fmla="*/ 34 h 86"/>
                    <a:gd name="T2" fmla="*/ 79 w 86"/>
                    <a:gd name="T3" fmla="*/ 19 h 86"/>
                    <a:gd name="T4" fmla="*/ 67 w 86"/>
                    <a:gd name="T5" fmla="*/ 7 h 86"/>
                    <a:gd name="T6" fmla="*/ 51 w 86"/>
                    <a:gd name="T7" fmla="*/ 1 h 86"/>
                    <a:gd name="T8" fmla="*/ 34 w 86"/>
                    <a:gd name="T9" fmla="*/ 1 h 86"/>
                    <a:gd name="T10" fmla="*/ 19 w 86"/>
                    <a:gd name="T11" fmla="*/ 7 h 86"/>
                    <a:gd name="T12" fmla="*/ 7 w 86"/>
                    <a:gd name="T13" fmla="*/ 19 h 86"/>
                    <a:gd name="T14" fmla="*/ 1 w 86"/>
                    <a:gd name="T15" fmla="*/ 34 h 86"/>
                    <a:gd name="T16" fmla="*/ 1 w 86"/>
                    <a:gd name="T17" fmla="*/ 51 h 86"/>
                    <a:gd name="T18" fmla="*/ 7 w 86"/>
                    <a:gd name="T19" fmla="*/ 67 h 86"/>
                    <a:gd name="T20" fmla="*/ 19 w 86"/>
                    <a:gd name="T21" fmla="*/ 78 h 86"/>
                    <a:gd name="T22" fmla="*/ 34 w 86"/>
                    <a:gd name="T23" fmla="*/ 85 h 86"/>
                    <a:gd name="T24" fmla="*/ 51 w 86"/>
                    <a:gd name="T25" fmla="*/ 85 h 86"/>
                    <a:gd name="T26" fmla="*/ 67 w 86"/>
                    <a:gd name="T27" fmla="*/ 78 h 86"/>
                    <a:gd name="T28" fmla="*/ 79 w 86"/>
                    <a:gd name="T29" fmla="*/ 67 h 86"/>
                    <a:gd name="T30" fmla="*/ 85 w 86"/>
                    <a:gd name="T31" fmla="*/ 51 h 86"/>
                    <a:gd name="T32" fmla="*/ 82 w 86"/>
                    <a:gd name="T33" fmla="*/ 42 h 86"/>
                    <a:gd name="T34" fmla="*/ 79 w 86"/>
                    <a:gd name="T35" fmla="*/ 57 h 86"/>
                    <a:gd name="T36" fmla="*/ 70 w 86"/>
                    <a:gd name="T37" fmla="*/ 70 h 86"/>
                    <a:gd name="T38" fmla="*/ 57 w 86"/>
                    <a:gd name="T39" fmla="*/ 78 h 86"/>
                    <a:gd name="T40" fmla="*/ 42 w 86"/>
                    <a:gd name="T41" fmla="*/ 82 h 86"/>
                    <a:gd name="T42" fmla="*/ 28 w 86"/>
                    <a:gd name="T43" fmla="*/ 78 h 86"/>
                    <a:gd name="T44" fmla="*/ 15 w 86"/>
                    <a:gd name="T45" fmla="*/ 70 h 86"/>
                    <a:gd name="T46" fmla="*/ 6 w 86"/>
                    <a:gd name="T47" fmla="*/ 57 h 86"/>
                    <a:gd name="T48" fmla="*/ 4 w 86"/>
                    <a:gd name="T49" fmla="*/ 42 h 86"/>
                    <a:gd name="T50" fmla="*/ 6 w 86"/>
                    <a:gd name="T51" fmla="*/ 27 h 86"/>
                    <a:gd name="T52" fmla="*/ 15 w 86"/>
                    <a:gd name="T53" fmla="*/ 15 h 86"/>
                    <a:gd name="T54" fmla="*/ 28 w 86"/>
                    <a:gd name="T55" fmla="*/ 6 h 86"/>
                    <a:gd name="T56" fmla="*/ 42 w 86"/>
                    <a:gd name="T57" fmla="*/ 4 h 86"/>
                    <a:gd name="T58" fmla="*/ 57 w 86"/>
                    <a:gd name="T59" fmla="*/ 6 h 86"/>
                    <a:gd name="T60" fmla="*/ 70 w 86"/>
                    <a:gd name="T61" fmla="*/ 15 h 86"/>
                    <a:gd name="T62" fmla="*/ 79 w 86"/>
                    <a:gd name="T63" fmla="*/ 27 h 86"/>
                    <a:gd name="T64" fmla="*/ 82 w 86"/>
                    <a:gd name="T65" fmla="*/ 4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6" h="86">
                      <a:moveTo>
                        <a:pt x="86" y="42"/>
                      </a:moveTo>
                      <a:lnTo>
                        <a:pt x="85" y="34"/>
                      </a:lnTo>
                      <a:lnTo>
                        <a:pt x="83" y="25"/>
                      </a:lnTo>
                      <a:lnTo>
                        <a:pt x="79" y="19"/>
                      </a:lnTo>
                      <a:lnTo>
                        <a:pt x="73" y="12"/>
                      </a:lnTo>
                      <a:lnTo>
                        <a:pt x="67" y="7"/>
                      </a:lnTo>
                      <a:lnTo>
                        <a:pt x="59" y="3"/>
                      </a:lnTo>
                      <a:lnTo>
                        <a:pt x="51" y="1"/>
                      </a:lnTo>
                      <a:lnTo>
                        <a:pt x="42" y="0"/>
                      </a:lnTo>
                      <a:lnTo>
                        <a:pt x="34" y="1"/>
                      </a:lnTo>
                      <a:lnTo>
                        <a:pt x="25" y="3"/>
                      </a:lnTo>
                      <a:lnTo>
                        <a:pt x="19" y="7"/>
                      </a:lnTo>
                      <a:lnTo>
                        <a:pt x="13" y="12"/>
                      </a:lnTo>
                      <a:lnTo>
                        <a:pt x="7" y="19"/>
                      </a:lnTo>
                      <a:lnTo>
                        <a:pt x="3" y="25"/>
                      </a:lnTo>
                      <a:lnTo>
                        <a:pt x="1" y="34"/>
                      </a:lnTo>
                      <a:lnTo>
                        <a:pt x="0" y="42"/>
                      </a:lnTo>
                      <a:lnTo>
                        <a:pt x="1" y="51"/>
                      </a:lnTo>
                      <a:lnTo>
                        <a:pt x="3" y="59"/>
                      </a:lnTo>
                      <a:lnTo>
                        <a:pt x="7" y="67"/>
                      </a:lnTo>
                      <a:lnTo>
                        <a:pt x="13" y="73"/>
                      </a:lnTo>
                      <a:lnTo>
                        <a:pt x="19" y="78"/>
                      </a:lnTo>
                      <a:lnTo>
                        <a:pt x="25" y="83"/>
                      </a:lnTo>
                      <a:lnTo>
                        <a:pt x="34" y="85"/>
                      </a:lnTo>
                      <a:lnTo>
                        <a:pt x="42" y="86"/>
                      </a:lnTo>
                      <a:lnTo>
                        <a:pt x="51" y="85"/>
                      </a:lnTo>
                      <a:lnTo>
                        <a:pt x="59" y="83"/>
                      </a:lnTo>
                      <a:lnTo>
                        <a:pt x="67" y="78"/>
                      </a:lnTo>
                      <a:lnTo>
                        <a:pt x="73" y="73"/>
                      </a:lnTo>
                      <a:lnTo>
                        <a:pt x="79" y="67"/>
                      </a:lnTo>
                      <a:lnTo>
                        <a:pt x="83" y="59"/>
                      </a:lnTo>
                      <a:lnTo>
                        <a:pt x="85" y="51"/>
                      </a:lnTo>
                      <a:lnTo>
                        <a:pt x="86" y="42"/>
                      </a:lnTo>
                      <a:close/>
                      <a:moveTo>
                        <a:pt x="82" y="42"/>
                      </a:moveTo>
                      <a:lnTo>
                        <a:pt x="81" y="51"/>
                      </a:lnTo>
                      <a:lnTo>
                        <a:pt x="79" y="57"/>
                      </a:lnTo>
                      <a:lnTo>
                        <a:pt x="75" y="65"/>
                      </a:lnTo>
                      <a:lnTo>
                        <a:pt x="70" y="70"/>
                      </a:lnTo>
                      <a:lnTo>
                        <a:pt x="65" y="75"/>
                      </a:lnTo>
                      <a:lnTo>
                        <a:pt x="57" y="78"/>
                      </a:lnTo>
                      <a:lnTo>
                        <a:pt x="51" y="81"/>
                      </a:lnTo>
                      <a:lnTo>
                        <a:pt x="42" y="82"/>
                      </a:lnTo>
                      <a:lnTo>
                        <a:pt x="35" y="81"/>
                      </a:lnTo>
                      <a:lnTo>
                        <a:pt x="28" y="78"/>
                      </a:lnTo>
                      <a:lnTo>
                        <a:pt x="21" y="75"/>
                      </a:lnTo>
                      <a:lnTo>
                        <a:pt x="15" y="70"/>
                      </a:lnTo>
                      <a:lnTo>
                        <a:pt x="11" y="65"/>
                      </a:lnTo>
                      <a:lnTo>
                        <a:pt x="6" y="57"/>
                      </a:lnTo>
                      <a:lnTo>
                        <a:pt x="4" y="51"/>
                      </a:lnTo>
                      <a:lnTo>
                        <a:pt x="4" y="42"/>
                      </a:lnTo>
                      <a:lnTo>
                        <a:pt x="4" y="35"/>
                      </a:lnTo>
                      <a:lnTo>
                        <a:pt x="6" y="27"/>
                      </a:lnTo>
                      <a:lnTo>
                        <a:pt x="11" y="21"/>
                      </a:lnTo>
                      <a:lnTo>
                        <a:pt x="15" y="15"/>
                      </a:lnTo>
                      <a:lnTo>
                        <a:pt x="21" y="10"/>
                      </a:lnTo>
                      <a:lnTo>
                        <a:pt x="28" y="6"/>
                      </a:lnTo>
                      <a:lnTo>
                        <a:pt x="35" y="4"/>
                      </a:lnTo>
                      <a:lnTo>
                        <a:pt x="42" y="4"/>
                      </a:lnTo>
                      <a:lnTo>
                        <a:pt x="51" y="4"/>
                      </a:lnTo>
                      <a:lnTo>
                        <a:pt x="57" y="6"/>
                      </a:lnTo>
                      <a:lnTo>
                        <a:pt x="65" y="10"/>
                      </a:lnTo>
                      <a:lnTo>
                        <a:pt x="70" y="15"/>
                      </a:lnTo>
                      <a:lnTo>
                        <a:pt x="75" y="21"/>
                      </a:lnTo>
                      <a:lnTo>
                        <a:pt x="79" y="27"/>
                      </a:lnTo>
                      <a:lnTo>
                        <a:pt x="81" y="35"/>
                      </a:lnTo>
                      <a:lnTo>
                        <a:pt x="82" y="4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26" name="Freeform 4814"/>
                <p:cNvSpPr>
                  <a:spLocks noChangeAspect="1" noEditPoints="1"/>
                </p:cNvSpPr>
                <p:nvPr/>
              </p:nvSpPr>
              <p:spPr bwMode="auto">
                <a:xfrm>
                  <a:off x="3509" y="3344"/>
                  <a:ext cx="27" cy="27"/>
                </a:xfrm>
                <a:custGeom>
                  <a:avLst/>
                  <a:gdLst>
                    <a:gd name="T0" fmla="*/ 81 w 82"/>
                    <a:gd name="T1" fmla="*/ 32 h 82"/>
                    <a:gd name="T2" fmla="*/ 75 w 82"/>
                    <a:gd name="T3" fmla="*/ 18 h 82"/>
                    <a:gd name="T4" fmla="*/ 64 w 82"/>
                    <a:gd name="T5" fmla="*/ 6 h 82"/>
                    <a:gd name="T6" fmla="*/ 49 w 82"/>
                    <a:gd name="T7" fmla="*/ 0 h 82"/>
                    <a:gd name="T8" fmla="*/ 32 w 82"/>
                    <a:gd name="T9" fmla="*/ 0 h 82"/>
                    <a:gd name="T10" fmla="*/ 18 w 82"/>
                    <a:gd name="T11" fmla="*/ 6 h 82"/>
                    <a:gd name="T12" fmla="*/ 6 w 82"/>
                    <a:gd name="T13" fmla="*/ 18 h 82"/>
                    <a:gd name="T14" fmla="*/ 0 w 82"/>
                    <a:gd name="T15" fmla="*/ 32 h 82"/>
                    <a:gd name="T16" fmla="*/ 0 w 82"/>
                    <a:gd name="T17" fmla="*/ 49 h 82"/>
                    <a:gd name="T18" fmla="*/ 6 w 82"/>
                    <a:gd name="T19" fmla="*/ 64 h 82"/>
                    <a:gd name="T20" fmla="*/ 18 w 82"/>
                    <a:gd name="T21" fmla="*/ 74 h 82"/>
                    <a:gd name="T22" fmla="*/ 32 w 82"/>
                    <a:gd name="T23" fmla="*/ 81 h 82"/>
                    <a:gd name="T24" fmla="*/ 49 w 82"/>
                    <a:gd name="T25" fmla="*/ 81 h 82"/>
                    <a:gd name="T26" fmla="*/ 64 w 82"/>
                    <a:gd name="T27" fmla="*/ 74 h 82"/>
                    <a:gd name="T28" fmla="*/ 75 w 82"/>
                    <a:gd name="T29" fmla="*/ 64 h 82"/>
                    <a:gd name="T30" fmla="*/ 81 w 82"/>
                    <a:gd name="T31" fmla="*/ 49 h 82"/>
                    <a:gd name="T32" fmla="*/ 78 w 82"/>
                    <a:gd name="T33" fmla="*/ 40 h 82"/>
                    <a:gd name="T34" fmla="*/ 75 w 82"/>
                    <a:gd name="T35" fmla="*/ 55 h 82"/>
                    <a:gd name="T36" fmla="*/ 67 w 82"/>
                    <a:gd name="T37" fmla="*/ 67 h 82"/>
                    <a:gd name="T38" fmla="*/ 55 w 82"/>
                    <a:gd name="T39" fmla="*/ 74 h 82"/>
                    <a:gd name="T40" fmla="*/ 40 w 82"/>
                    <a:gd name="T41" fmla="*/ 77 h 82"/>
                    <a:gd name="T42" fmla="*/ 27 w 82"/>
                    <a:gd name="T43" fmla="*/ 74 h 82"/>
                    <a:gd name="T44" fmla="*/ 15 w 82"/>
                    <a:gd name="T45" fmla="*/ 67 h 82"/>
                    <a:gd name="T46" fmla="*/ 6 w 82"/>
                    <a:gd name="T47" fmla="*/ 55 h 82"/>
                    <a:gd name="T48" fmla="*/ 3 w 82"/>
                    <a:gd name="T49" fmla="*/ 40 h 82"/>
                    <a:gd name="T50" fmla="*/ 6 w 82"/>
                    <a:gd name="T51" fmla="*/ 26 h 82"/>
                    <a:gd name="T52" fmla="*/ 15 w 82"/>
                    <a:gd name="T53" fmla="*/ 15 h 82"/>
                    <a:gd name="T54" fmla="*/ 27 w 82"/>
                    <a:gd name="T55" fmla="*/ 6 h 82"/>
                    <a:gd name="T56" fmla="*/ 40 w 82"/>
                    <a:gd name="T57" fmla="*/ 3 h 82"/>
                    <a:gd name="T58" fmla="*/ 55 w 82"/>
                    <a:gd name="T59" fmla="*/ 6 h 82"/>
                    <a:gd name="T60" fmla="*/ 67 w 82"/>
                    <a:gd name="T61" fmla="*/ 15 h 82"/>
                    <a:gd name="T62" fmla="*/ 75 w 82"/>
                    <a:gd name="T63" fmla="*/ 26 h 82"/>
                    <a:gd name="T64" fmla="*/ 78 w 82"/>
                    <a:gd name="T65" fmla="*/ 4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2" h="82">
                      <a:moveTo>
                        <a:pt x="82" y="40"/>
                      </a:moveTo>
                      <a:lnTo>
                        <a:pt x="81" y="32"/>
                      </a:lnTo>
                      <a:lnTo>
                        <a:pt x="79" y="24"/>
                      </a:lnTo>
                      <a:lnTo>
                        <a:pt x="75" y="18"/>
                      </a:lnTo>
                      <a:lnTo>
                        <a:pt x="69" y="12"/>
                      </a:lnTo>
                      <a:lnTo>
                        <a:pt x="64" y="6"/>
                      </a:lnTo>
                      <a:lnTo>
                        <a:pt x="56" y="3"/>
                      </a:lnTo>
                      <a:lnTo>
                        <a:pt x="49" y="0"/>
                      </a:lnTo>
                      <a:lnTo>
                        <a:pt x="40" y="0"/>
                      </a:lnTo>
                      <a:lnTo>
                        <a:pt x="32" y="0"/>
                      </a:lnTo>
                      <a:lnTo>
                        <a:pt x="24" y="3"/>
                      </a:lnTo>
                      <a:lnTo>
                        <a:pt x="18" y="6"/>
                      </a:lnTo>
                      <a:lnTo>
                        <a:pt x="12" y="12"/>
                      </a:lnTo>
                      <a:lnTo>
                        <a:pt x="6" y="18"/>
                      </a:lnTo>
                      <a:lnTo>
                        <a:pt x="3" y="24"/>
                      </a:lnTo>
                      <a:lnTo>
                        <a:pt x="0" y="32"/>
                      </a:lnTo>
                      <a:lnTo>
                        <a:pt x="0" y="40"/>
                      </a:lnTo>
                      <a:lnTo>
                        <a:pt x="0" y="49"/>
                      </a:lnTo>
                      <a:lnTo>
                        <a:pt x="3" y="56"/>
                      </a:lnTo>
                      <a:lnTo>
                        <a:pt x="6" y="64"/>
                      </a:lnTo>
                      <a:lnTo>
                        <a:pt x="12" y="69"/>
                      </a:lnTo>
                      <a:lnTo>
                        <a:pt x="18" y="74"/>
                      </a:lnTo>
                      <a:lnTo>
                        <a:pt x="24" y="79"/>
                      </a:lnTo>
                      <a:lnTo>
                        <a:pt x="32" y="81"/>
                      </a:lnTo>
                      <a:lnTo>
                        <a:pt x="40" y="82"/>
                      </a:lnTo>
                      <a:lnTo>
                        <a:pt x="49" y="81"/>
                      </a:lnTo>
                      <a:lnTo>
                        <a:pt x="56" y="79"/>
                      </a:lnTo>
                      <a:lnTo>
                        <a:pt x="64" y="74"/>
                      </a:lnTo>
                      <a:lnTo>
                        <a:pt x="69" y="69"/>
                      </a:lnTo>
                      <a:lnTo>
                        <a:pt x="75" y="64"/>
                      </a:lnTo>
                      <a:lnTo>
                        <a:pt x="79" y="56"/>
                      </a:lnTo>
                      <a:lnTo>
                        <a:pt x="81" y="49"/>
                      </a:lnTo>
                      <a:lnTo>
                        <a:pt x="82" y="40"/>
                      </a:lnTo>
                      <a:close/>
                      <a:moveTo>
                        <a:pt x="78" y="40"/>
                      </a:moveTo>
                      <a:lnTo>
                        <a:pt x="77" y="48"/>
                      </a:lnTo>
                      <a:lnTo>
                        <a:pt x="75" y="55"/>
                      </a:lnTo>
                      <a:lnTo>
                        <a:pt x="71" y="62"/>
                      </a:lnTo>
                      <a:lnTo>
                        <a:pt x="67" y="67"/>
                      </a:lnTo>
                      <a:lnTo>
                        <a:pt x="62" y="71"/>
                      </a:lnTo>
                      <a:lnTo>
                        <a:pt x="55" y="74"/>
                      </a:lnTo>
                      <a:lnTo>
                        <a:pt x="48" y="76"/>
                      </a:lnTo>
                      <a:lnTo>
                        <a:pt x="40" y="77"/>
                      </a:lnTo>
                      <a:lnTo>
                        <a:pt x="33" y="76"/>
                      </a:lnTo>
                      <a:lnTo>
                        <a:pt x="27" y="74"/>
                      </a:lnTo>
                      <a:lnTo>
                        <a:pt x="20" y="71"/>
                      </a:lnTo>
                      <a:lnTo>
                        <a:pt x="15" y="67"/>
                      </a:lnTo>
                      <a:lnTo>
                        <a:pt x="10" y="62"/>
                      </a:lnTo>
                      <a:lnTo>
                        <a:pt x="6" y="55"/>
                      </a:lnTo>
                      <a:lnTo>
                        <a:pt x="4" y="48"/>
                      </a:lnTo>
                      <a:lnTo>
                        <a:pt x="3" y="40"/>
                      </a:lnTo>
                      <a:lnTo>
                        <a:pt x="4" y="33"/>
                      </a:lnTo>
                      <a:lnTo>
                        <a:pt x="6" y="26"/>
                      </a:lnTo>
                      <a:lnTo>
                        <a:pt x="10" y="20"/>
                      </a:lnTo>
                      <a:lnTo>
                        <a:pt x="15" y="15"/>
                      </a:lnTo>
                      <a:lnTo>
                        <a:pt x="20" y="9"/>
                      </a:lnTo>
                      <a:lnTo>
                        <a:pt x="27" y="6"/>
                      </a:lnTo>
                      <a:lnTo>
                        <a:pt x="33" y="4"/>
                      </a:lnTo>
                      <a:lnTo>
                        <a:pt x="40" y="3"/>
                      </a:lnTo>
                      <a:lnTo>
                        <a:pt x="48" y="4"/>
                      </a:lnTo>
                      <a:lnTo>
                        <a:pt x="55" y="6"/>
                      </a:lnTo>
                      <a:lnTo>
                        <a:pt x="62" y="9"/>
                      </a:lnTo>
                      <a:lnTo>
                        <a:pt x="67" y="15"/>
                      </a:lnTo>
                      <a:lnTo>
                        <a:pt x="71" y="20"/>
                      </a:lnTo>
                      <a:lnTo>
                        <a:pt x="75" y="26"/>
                      </a:lnTo>
                      <a:lnTo>
                        <a:pt x="77" y="33"/>
                      </a:lnTo>
                      <a:lnTo>
                        <a:pt x="78" y="4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27" name="Freeform 4815"/>
                <p:cNvSpPr>
                  <a:spLocks noChangeAspect="1" noEditPoints="1"/>
                </p:cNvSpPr>
                <p:nvPr/>
              </p:nvSpPr>
              <p:spPr bwMode="auto">
                <a:xfrm>
                  <a:off x="3510" y="3344"/>
                  <a:ext cx="26" cy="26"/>
                </a:xfrm>
                <a:custGeom>
                  <a:avLst/>
                  <a:gdLst>
                    <a:gd name="T0" fmla="*/ 77 w 78"/>
                    <a:gd name="T1" fmla="*/ 31 h 78"/>
                    <a:gd name="T2" fmla="*/ 71 w 78"/>
                    <a:gd name="T3" fmla="*/ 17 h 78"/>
                    <a:gd name="T4" fmla="*/ 61 w 78"/>
                    <a:gd name="T5" fmla="*/ 6 h 78"/>
                    <a:gd name="T6" fmla="*/ 47 w 78"/>
                    <a:gd name="T7" fmla="*/ 0 h 78"/>
                    <a:gd name="T8" fmla="*/ 31 w 78"/>
                    <a:gd name="T9" fmla="*/ 0 h 78"/>
                    <a:gd name="T10" fmla="*/ 17 w 78"/>
                    <a:gd name="T11" fmla="*/ 6 h 78"/>
                    <a:gd name="T12" fmla="*/ 7 w 78"/>
                    <a:gd name="T13" fmla="*/ 17 h 78"/>
                    <a:gd name="T14" fmla="*/ 0 w 78"/>
                    <a:gd name="T15" fmla="*/ 31 h 78"/>
                    <a:gd name="T16" fmla="*/ 0 w 78"/>
                    <a:gd name="T17" fmla="*/ 47 h 78"/>
                    <a:gd name="T18" fmla="*/ 7 w 78"/>
                    <a:gd name="T19" fmla="*/ 61 h 78"/>
                    <a:gd name="T20" fmla="*/ 17 w 78"/>
                    <a:gd name="T21" fmla="*/ 71 h 78"/>
                    <a:gd name="T22" fmla="*/ 31 w 78"/>
                    <a:gd name="T23" fmla="*/ 77 h 78"/>
                    <a:gd name="T24" fmla="*/ 47 w 78"/>
                    <a:gd name="T25" fmla="*/ 77 h 78"/>
                    <a:gd name="T26" fmla="*/ 61 w 78"/>
                    <a:gd name="T27" fmla="*/ 71 h 78"/>
                    <a:gd name="T28" fmla="*/ 71 w 78"/>
                    <a:gd name="T29" fmla="*/ 61 h 78"/>
                    <a:gd name="T30" fmla="*/ 77 w 78"/>
                    <a:gd name="T31" fmla="*/ 47 h 78"/>
                    <a:gd name="T32" fmla="*/ 74 w 78"/>
                    <a:gd name="T33" fmla="*/ 38 h 78"/>
                    <a:gd name="T34" fmla="*/ 70 w 78"/>
                    <a:gd name="T35" fmla="*/ 52 h 78"/>
                    <a:gd name="T36" fmla="*/ 63 w 78"/>
                    <a:gd name="T37" fmla="*/ 63 h 78"/>
                    <a:gd name="T38" fmla="*/ 52 w 78"/>
                    <a:gd name="T39" fmla="*/ 70 h 78"/>
                    <a:gd name="T40" fmla="*/ 38 w 78"/>
                    <a:gd name="T41" fmla="*/ 73 h 78"/>
                    <a:gd name="T42" fmla="*/ 25 w 78"/>
                    <a:gd name="T43" fmla="*/ 70 h 78"/>
                    <a:gd name="T44" fmla="*/ 14 w 78"/>
                    <a:gd name="T45" fmla="*/ 63 h 78"/>
                    <a:gd name="T46" fmla="*/ 7 w 78"/>
                    <a:gd name="T47" fmla="*/ 52 h 78"/>
                    <a:gd name="T48" fmla="*/ 3 w 78"/>
                    <a:gd name="T49" fmla="*/ 38 h 78"/>
                    <a:gd name="T50" fmla="*/ 7 w 78"/>
                    <a:gd name="T51" fmla="*/ 24 h 78"/>
                    <a:gd name="T52" fmla="*/ 14 w 78"/>
                    <a:gd name="T53" fmla="*/ 14 h 78"/>
                    <a:gd name="T54" fmla="*/ 25 w 78"/>
                    <a:gd name="T55" fmla="*/ 6 h 78"/>
                    <a:gd name="T56" fmla="*/ 38 w 78"/>
                    <a:gd name="T57" fmla="*/ 3 h 78"/>
                    <a:gd name="T58" fmla="*/ 52 w 78"/>
                    <a:gd name="T59" fmla="*/ 6 h 78"/>
                    <a:gd name="T60" fmla="*/ 63 w 78"/>
                    <a:gd name="T61" fmla="*/ 14 h 78"/>
                    <a:gd name="T62" fmla="*/ 70 w 78"/>
                    <a:gd name="T63" fmla="*/ 24 h 78"/>
                    <a:gd name="T64" fmla="*/ 74 w 78"/>
                    <a:gd name="T65" fmla="*/ 3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78">
                      <a:moveTo>
                        <a:pt x="78" y="38"/>
                      </a:moveTo>
                      <a:lnTo>
                        <a:pt x="77" y="31"/>
                      </a:lnTo>
                      <a:lnTo>
                        <a:pt x="75" y="23"/>
                      </a:lnTo>
                      <a:lnTo>
                        <a:pt x="71" y="17"/>
                      </a:lnTo>
                      <a:lnTo>
                        <a:pt x="66" y="11"/>
                      </a:lnTo>
                      <a:lnTo>
                        <a:pt x="61" y="6"/>
                      </a:lnTo>
                      <a:lnTo>
                        <a:pt x="53" y="2"/>
                      </a:lnTo>
                      <a:lnTo>
                        <a:pt x="47" y="0"/>
                      </a:lnTo>
                      <a:lnTo>
                        <a:pt x="38" y="0"/>
                      </a:lnTo>
                      <a:lnTo>
                        <a:pt x="31" y="0"/>
                      </a:lnTo>
                      <a:lnTo>
                        <a:pt x="24" y="2"/>
                      </a:lnTo>
                      <a:lnTo>
                        <a:pt x="17" y="6"/>
                      </a:lnTo>
                      <a:lnTo>
                        <a:pt x="11" y="11"/>
                      </a:lnTo>
                      <a:lnTo>
                        <a:pt x="7" y="17"/>
                      </a:lnTo>
                      <a:lnTo>
                        <a:pt x="2" y="23"/>
                      </a:lnTo>
                      <a:lnTo>
                        <a:pt x="0" y="31"/>
                      </a:lnTo>
                      <a:lnTo>
                        <a:pt x="0" y="38"/>
                      </a:lnTo>
                      <a:lnTo>
                        <a:pt x="0" y="47"/>
                      </a:lnTo>
                      <a:lnTo>
                        <a:pt x="2" y="53"/>
                      </a:lnTo>
                      <a:lnTo>
                        <a:pt x="7" y="61"/>
                      </a:lnTo>
                      <a:lnTo>
                        <a:pt x="11" y="66"/>
                      </a:lnTo>
                      <a:lnTo>
                        <a:pt x="17" y="71"/>
                      </a:lnTo>
                      <a:lnTo>
                        <a:pt x="24" y="74"/>
                      </a:lnTo>
                      <a:lnTo>
                        <a:pt x="31" y="77"/>
                      </a:lnTo>
                      <a:lnTo>
                        <a:pt x="38" y="78"/>
                      </a:lnTo>
                      <a:lnTo>
                        <a:pt x="47" y="77"/>
                      </a:lnTo>
                      <a:lnTo>
                        <a:pt x="53" y="74"/>
                      </a:lnTo>
                      <a:lnTo>
                        <a:pt x="61" y="71"/>
                      </a:lnTo>
                      <a:lnTo>
                        <a:pt x="66" y="66"/>
                      </a:lnTo>
                      <a:lnTo>
                        <a:pt x="71" y="61"/>
                      </a:lnTo>
                      <a:lnTo>
                        <a:pt x="75" y="53"/>
                      </a:lnTo>
                      <a:lnTo>
                        <a:pt x="77" y="47"/>
                      </a:lnTo>
                      <a:lnTo>
                        <a:pt x="78" y="38"/>
                      </a:lnTo>
                      <a:close/>
                      <a:moveTo>
                        <a:pt x="74" y="38"/>
                      </a:moveTo>
                      <a:lnTo>
                        <a:pt x="73" y="46"/>
                      </a:lnTo>
                      <a:lnTo>
                        <a:pt x="70" y="52"/>
                      </a:lnTo>
                      <a:lnTo>
                        <a:pt x="67" y="58"/>
                      </a:lnTo>
                      <a:lnTo>
                        <a:pt x="63" y="63"/>
                      </a:lnTo>
                      <a:lnTo>
                        <a:pt x="59" y="67"/>
                      </a:lnTo>
                      <a:lnTo>
                        <a:pt x="52" y="70"/>
                      </a:lnTo>
                      <a:lnTo>
                        <a:pt x="46" y="72"/>
                      </a:lnTo>
                      <a:lnTo>
                        <a:pt x="38" y="73"/>
                      </a:lnTo>
                      <a:lnTo>
                        <a:pt x="32" y="72"/>
                      </a:lnTo>
                      <a:lnTo>
                        <a:pt x="25" y="70"/>
                      </a:lnTo>
                      <a:lnTo>
                        <a:pt x="19" y="67"/>
                      </a:lnTo>
                      <a:lnTo>
                        <a:pt x="14" y="63"/>
                      </a:lnTo>
                      <a:lnTo>
                        <a:pt x="10" y="58"/>
                      </a:lnTo>
                      <a:lnTo>
                        <a:pt x="7" y="52"/>
                      </a:lnTo>
                      <a:lnTo>
                        <a:pt x="4" y="46"/>
                      </a:lnTo>
                      <a:lnTo>
                        <a:pt x="3" y="38"/>
                      </a:lnTo>
                      <a:lnTo>
                        <a:pt x="4" y="32"/>
                      </a:lnTo>
                      <a:lnTo>
                        <a:pt x="7" y="24"/>
                      </a:lnTo>
                      <a:lnTo>
                        <a:pt x="10" y="19"/>
                      </a:lnTo>
                      <a:lnTo>
                        <a:pt x="14" y="14"/>
                      </a:lnTo>
                      <a:lnTo>
                        <a:pt x="19" y="10"/>
                      </a:lnTo>
                      <a:lnTo>
                        <a:pt x="25" y="6"/>
                      </a:lnTo>
                      <a:lnTo>
                        <a:pt x="32" y="4"/>
                      </a:lnTo>
                      <a:lnTo>
                        <a:pt x="38" y="3"/>
                      </a:lnTo>
                      <a:lnTo>
                        <a:pt x="46" y="4"/>
                      </a:lnTo>
                      <a:lnTo>
                        <a:pt x="52" y="6"/>
                      </a:lnTo>
                      <a:lnTo>
                        <a:pt x="59" y="10"/>
                      </a:lnTo>
                      <a:lnTo>
                        <a:pt x="63" y="14"/>
                      </a:lnTo>
                      <a:lnTo>
                        <a:pt x="67" y="19"/>
                      </a:lnTo>
                      <a:lnTo>
                        <a:pt x="70" y="24"/>
                      </a:lnTo>
                      <a:lnTo>
                        <a:pt x="73" y="32"/>
                      </a:lnTo>
                      <a:lnTo>
                        <a:pt x="74" y="3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28" name="Freeform 4816"/>
                <p:cNvSpPr>
                  <a:spLocks noChangeAspect="1" noEditPoints="1"/>
                </p:cNvSpPr>
                <p:nvPr/>
              </p:nvSpPr>
              <p:spPr bwMode="auto">
                <a:xfrm>
                  <a:off x="3510" y="3345"/>
                  <a:ext cx="25" cy="24"/>
                </a:xfrm>
                <a:custGeom>
                  <a:avLst/>
                  <a:gdLst>
                    <a:gd name="T0" fmla="*/ 74 w 75"/>
                    <a:gd name="T1" fmla="*/ 30 h 74"/>
                    <a:gd name="T2" fmla="*/ 68 w 75"/>
                    <a:gd name="T3" fmla="*/ 17 h 74"/>
                    <a:gd name="T4" fmla="*/ 59 w 75"/>
                    <a:gd name="T5" fmla="*/ 6 h 74"/>
                    <a:gd name="T6" fmla="*/ 45 w 75"/>
                    <a:gd name="T7" fmla="*/ 1 h 74"/>
                    <a:gd name="T8" fmla="*/ 30 w 75"/>
                    <a:gd name="T9" fmla="*/ 1 h 74"/>
                    <a:gd name="T10" fmla="*/ 17 w 75"/>
                    <a:gd name="T11" fmla="*/ 6 h 74"/>
                    <a:gd name="T12" fmla="*/ 7 w 75"/>
                    <a:gd name="T13" fmla="*/ 17 h 74"/>
                    <a:gd name="T14" fmla="*/ 1 w 75"/>
                    <a:gd name="T15" fmla="*/ 30 h 74"/>
                    <a:gd name="T16" fmla="*/ 1 w 75"/>
                    <a:gd name="T17" fmla="*/ 45 h 74"/>
                    <a:gd name="T18" fmla="*/ 7 w 75"/>
                    <a:gd name="T19" fmla="*/ 59 h 74"/>
                    <a:gd name="T20" fmla="*/ 17 w 75"/>
                    <a:gd name="T21" fmla="*/ 68 h 74"/>
                    <a:gd name="T22" fmla="*/ 30 w 75"/>
                    <a:gd name="T23" fmla="*/ 73 h 74"/>
                    <a:gd name="T24" fmla="*/ 45 w 75"/>
                    <a:gd name="T25" fmla="*/ 73 h 74"/>
                    <a:gd name="T26" fmla="*/ 59 w 75"/>
                    <a:gd name="T27" fmla="*/ 68 h 74"/>
                    <a:gd name="T28" fmla="*/ 68 w 75"/>
                    <a:gd name="T29" fmla="*/ 59 h 74"/>
                    <a:gd name="T30" fmla="*/ 74 w 75"/>
                    <a:gd name="T31" fmla="*/ 45 h 74"/>
                    <a:gd name="T32" fmla="*/ 70 w 75"/>
                    <a:gd name="T33" fmla="*/ 37 h 74"/>
                    <a:gd name="T34" fmla="*/ 68 w 75"/>
                    <a:gd name="T35" fmla="*/ 50 h 74"/>
                    <a:gd name="T36" fmla="*/ 61 w 75"/>
                    <a:gd name="T37" fmla="*/ 61 h 74"/>
                    <a:gd name="T38" fmla="*/ 50 w 75"/>
                    <a:gd name="T39" fmla="*/ 68 h 74"/>
                    <a:gd name="T40" fmla="*/ 37 w 75"/>
                    <a:gd name="T41" fmla="*/ 70 h 74"/>
                    <a:gd name="T42" fmla="*/ 25 w 75"/>
                    <a:gd name="T43" fmla="*/ 68 h 74"/>
                    <a:gd name="T44" fmla="*/ 14 w 75"/>
                    <a:gd name="T45" fmla="*/ 61 h 74"/>
                    <a:gd name="T46" fmla="*/ 8 w 75"/>
                    <a:gd name="T47" fmla="*/ 50 h 74"/>
                    <a:gd name="T48" fmla="*/ 4 w 75"/>
                    <a:gd name="T49" fmla="*/ 37 h 74"/>
                    <a:gd name="T50" fmla="*/ 8 w 75"/>
                    <a:gd name="T51" fmla="*/ 25 h 74"/>
                    <a:gd name="T52" fmla="*/ 14 w 75"/>
                    <a:gd name="T53" fmla="*/ 14 h 74"/>
                    <a:gd name="T54" fmla="*/ 25 w 75"/>
                    <a:gd name="T55" fmla="*/ 7 h 74"/>
                    <a:gd name="T56" fmla="*/ 37 w 75"/>
                    <a:gd name="T57" fmla="*/ 4 h 74"/>
                    <a:gd name="T58" fmla="*/ 50 w 75"/>
                    <a:gd name="T59" fmla="*/ 7 h 74"/>
                    <a:gd name="T60" fmla="*/ 61 w 75"/>
                    <a:gd name="T61" fmla="*/ 14 h 74"/>
                    <a:gd name="T62" fmla="*/ 68 w 75"/>
                    <a:gd name="T63" fmla="*/ 25 h 74"/>
                    <a:gd name="T64" fmla="*/ 70 w 75"/>
                    <a:gd name="T65" fmla="*/ 3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74">
                      <a:moveTo>
                        <a:pt x="75" y="37"/>
                      </a:moveTo>
                      <a:lnTo>
                        <a:pt x="74" y="30"/>
                      </a:lnTo>
                      <a:lnTo>
                        <a:pt x="72" y="23"/>
                      </a:lnTo>
                      <a:lnTo>
                        <a:pt x="68" y="17"/>
                      </a:lnTo>
                      <a:lnTo>
                        <a:pt x="64" y="12"/>
                      </a:lnTo>
                      <a:lnTo>
                        <a:pt x="59" y="6"/>
                      </a:lnTo>
                      <a:lnTo>
                        <a:pt x="52" y="3"/>
                      </a:lnTo>
                      <a:lnTo>
                        <a:pt x="45" y="1"/>
                      </a:lnTo>
                      <a:lnTo>
                        <a:pt x="37" y="0"/>
                      </a:lnTo>
                      <a:lnTo>
                        <a:pt x="30" y="1"/>
                      </a:lnTo>
                      <a:lnTo>
                        <a:pt x="24" y="3"/>
                      </a:lnTo>
                      <a:lnTo>
                        <a:pt x="17" y="6"/>
                      </a:lnTo>
                      <a:lnTo>
                        <a:pt x="12" y="12"/>
                      </a:lnTo>
                      <a:lnTo>
                        <a:pt x="7" y="17"/>
                      </a:lnTo>
                      <a:lnTo>
                        <a:pt x="3" y="23"/>
                      </a:lnTo>
                      <a:lnTo>
                        <a:pt x="1" y="30"/>
                      </a:lnTo>
                      <a:lnTo>
                        <a:pt x="0" y="37"/>
                      </a:lnTo>
                      <a:lnTo>
                        <a:pt x="1" y="45"/>
                      </a:lnTo>
                      <a:lnTo>
                        <a:pt x="3" y="52"/>
                      </a:lnTo>
                      <a:lnTo>
                        <a:pt x="7" y="59"/>
                      </a:lnTo>
                      <a:lnTo>
                        <a:pt x="12" y="64"/>
                      </a:lnTo>
                      <a:lnTo>
                        <a:pt x="17" y="68"/>
                      </a:lnTo>
                      <a:lnTo>
                        <a:pt x="24" y="71"/>
                      </a:lnTo>
                      <a:lnTo>
                        <a:pt x="30" y="73"/>
                      </a:lnTo>
                      <a:lnTo>
                        <a:pt x="37" y="74"/>
                      </a:lnTo>
                      <a:lnTo>
                        <a:pt x="45" y="73"/>
                      </a:lnTo>
                      <a:lnTo>
                        <a:pt x="52" y="71"/>
                      </a:lnTo>
                      <a:lnTo>
                        <a:pt x="59" y="68"/>
                      </a:lnTo>
                      <a:lnTo>
                        <a:pt x="64" y="64"/>
                      </a:lnTo>
                      <a:lnTo>
                        <a:pt x="68" y="59"/>
                      </a:lnTo>
                      <a:lnTo>
                        <a:pt x="72" y="52"/>
                      </a:lnTo>
                      <a:lnTo>
                        <a:pt x="74" y="45"/>
                      </a:lnTo>
                      <a:lnTo>
                        <a:pt x="75" y="37"/>
                      </a:lnTo>
                      <a:close/>
                      <a:moveTo>
                        <a:pt x="70" y="37"/>
                      </a:moveTo>
                      <a:lnTo>
                        <a:pt x="69" y="44"/>
                      </a:lnTo>
                      <a:lnTo>
                        <a:pt x="68" y="50"/>
                      </a:lnTo>
                      <a:lnTo>
                        <a:pt x="65" y="55"/>
                      </a:lnTo>
                      <a:lnTo>
                        <a:pt x="61" y="61"/>
                      </a:lnTo>
                      <a:lnTo>
                        <a:pt x="56" y="65"/>
                      </a:lnTo>
                      <a:lnTo>
                        <a:pt x="50" y="68"/>
                      </a:lnTo>
                      <a:lnTo>
                        <a:pt x="44" y="69"/>
                      </a:lnTo>
                      <a:lnTo>
                        <a:pt x="37" y="70"/>
                      </a:lnTo>
                      <a:lnTo>
                        <a:pt x="31" y="69"/>
                      </a:lnTo>
                      <a:lnTo>
                        <a:pt x="25" y="68"/>
                      </a:lnTo>
                      <a:lnTo>
                        <a:pt x="19" y="65"/>
                      </a:lnTo>
                      <a:lnTo>
                        <a:pt x="14" y="61"/>
                      </a:lnTo>
                      <a:lnTo>
                        <a:pt x="11" y="55"/>
                      </a:lnTo>
                      <a:lnTo>
                        <a:pt x="8" y="50"/>
                      </a:lnTo>
                      <a:lnTo>
                        <a:pt x="6" y="44"/>
                      </a:lnTo>
                      <a:lnTo>
                        <a:pt x="4" y="37"/>
                      </a:lnTo>
                      <a:lnTo>
                        <a:pt x="6" y="31"/>
                      </a:lnTo>
                      <a:lnTo>
                        <a:pt x="8" y="25"/>
                      </a:lnTo>
                      <a:lnTo>
                        <a:pt x="11" y="19"/>
                      </a:lnTo>
                      <a:lnTo>
                        <a:pt x="14" y="14"/>
                      </a:lnTo>
                      <a:lnTo>
                        <a:pt x="19" y="11"/>
                      </a:lnTo>
                      <a:lnTo>
                        <a:pt x="25" y="7"/>
                      </a:lnTo>
                      <a:lnTo>
                        <a:pt x="31" y="5"/>
                      </a:lnTo>
                      <a:lnTo>
                        <a:pt x="37" y="4"/>
                      </a:lnTo>
                      <a:lnTo>
                        <a:pt x="44" y="5"/>
                      </a:lnTo>
                      <a:lnTo>
                        <a:pt x="50" y="7"/>
                      </a:lnTo>
                      <a:lnTo>
                        <a:pt x="56" y="11"/>
                      </a:lnTo>
                      <a:lnTo>
                        <a:pt x="61" y="14"/>
                      </a:lnTo>
                      <a:lnTo>
                        <a:pt x="65" y="19"/>
                      </a:lnTo>
                      <a:lnTo>
                        <a:pt x="68" y="25"/>
                      </a:lnTo>
                      <a:lnTo>
                        <a:pt x="69" y="31"/>
                      </a:lnTo>
                      <a:lnTo>
                        <a:pt x="70" y="3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29" name="Freeform 4817"/>
                <p:cNvSpPr>
                  <a:spLocks noChangeAspect="1" noEditPoints="1"/>
                </p:cNvSpPr>
                <p:nvPr/>
              </p:nvSpPr>
              <p:spPr bwMode="auto">
                <a:xfrm>
                  <a:off x="3511" y="3345"/>
                  <a:ext cx="23" cy="24"/>
                </a:xfrm>
                <a:custGeom>
                  <a:avLst/>
                  <a:gdLst>
                    <a:gd name="T0" fmla="*/ 70 w 71"/>
                    <a:gd name="T1" fmla="*/ 29 h 70"/>
                    <a:gd name="T2" fmla="*/ 64 w 71"/>
                    <a:gd name="T3" fmla="*/ 16 h 70"/>
                    <a:gd name="T4" fmla="*/ 56 w 71"/>
                    <a:gd name="T5" fmla="*/ 7 h 70"/>
                    <a:gd name="T6" fmla="*/ 43 w 71"/>
                    <a:gd name="T7" fmla="*/ 1 h 70"/>
                    <a:gd name="T8" fmla="*/ 29 w 71"/>
                    <a:gd name="T9" fmla="*/ 1 h 70"/>
                    <a:gd name="T10" fmla="*/ 16 w 71"/>
                    <a:gd name="T11" fmla="*/ 7 h 70"/>
                    <a:gd name="T12" fmla="*/ 7 w 71"/>
                    <a:gd name="T13" fmla="*/ 16 h 70"/>
                    <a:gd name="T14" fmla="*/ 1 w 71"/>
                    <a:gd name="T15" fmla="*/ 29 h 70"/>
                    <a:gd name="T16" fmla="*/ 1 w 71"/>
                    <a:gd name="T17" fmla="*/ 43 h 70"/>
                    <a:gd name="T18" fmla="*/ 7 w 71"/>
                    <a:gd name="T19" fmla="*/ 55 h 70"/>
                    <a:gd name="T20" fmla="*/ 16 w 71"/>
                    <a:gd name="T21" fmla="*/ 64 h 70"/>
                    <a:gd name="T22" fmla="*/ 29 w 71"/>
                    <a:gd name="T23" fmla="*/ 69 h 70"/>
                    <a:gd name="T24" fmla="*/ 43 w 71"/>
                    <a:gd name="T25" fmla="*/ 69 h 70"/>
                    <a:gd name="T26" fmla="*/ 56 w 71"/>
                    <a:gd name="T27" fmla="*/ 64 h 70"/>
                    <a:gd name="T28" fmla="*/ 64 w 71"/>
                    <a:gd name="T29" fmla="*/ 55 h 70"/>
                    <a:gd name="T30" fmla="*/ 70 w 71"/>
                    <a:gd name="T31" fmla="*/ 43 h 70"/>
                    <a:gd name="T32" fmla="*/ 66 w 71"/>
                    <a:gd name="T33" fmla="*/ 35 h 70"/>
                    <a:gd name="T34" fmla="*/ 64 w 71"/>
                    <a:gd name="T35" fmla="*/ 47 h 70"/>
                    <a:gd name="T36" fmla="*/ 58 w 71"/>
                    <a:gd name="T37" fmla="*/ 58 h 70"/>
                    <a:gd name="T38" fmla="*/ 47 w 71"/>
                    <a:gd name="T39" fmla="*/ 64 h 70"/>
                    <a:gd name="T40" fmla="*/ 35 w 71"/>
                    <a:gd name="T41" fmla="*/ 66 h 70"/>
                    <a:gd name="T42" fmla="*/ 24 w 71"/>
                    <a:gd name="T43" fmla="*/ 64 h 70"/>
                    <a:gd name="T44" fmla="*/ 14 w 71"/>
                    <a:gd name="T45" fmla="*/ 58 h 70"/>
                    <a:gd name="T46" fmla="*/ 8 w 71"/>
                    <a:gd name="T47" fmla="*/ 47 h 70"/>
                    <a:gd name="T48" fmla="*/ 5 w 71"/>
                    <a:gd name="T49" fmla="*/ 35 h 70"/>
                    <a:gd name="T50" fmla="*/ 8 w 71"/>
                    <a:gd name="T51" fmla="*/ 24 h 70"/>
                    <a:gd name="T52" fmla="*/ 14 w 71"/>
                    <a:gd name="T53" fmla="*/ 14 h 70"/>
                    <a:gd name="T54" fmla="*/ 24 w 71"/>
                    <a:gd name="T55" fmla="*/ 8 h 70"/>
                    <a:gd name="T56" fmla="*/ 35 w 71"/>
                    <a:gd name="T57" fmla="*/ 4 h 70"/>
                    <a:gd name="T58" fmla="*/ 47 w 71"/>
                    <a:gd name="T59" fmla="*/ 8 h 70"/>
                    <a:gd name="T60" fmla="*/ 58 w 71"/>
                    <a:gd name="T61" fmla="*/ 14 h 70"/>
                    <a:gd name="T62" fmla="*/ 64 w 71"/>
                    <a:gd name="T63" fmla="*/ 24 h 70"/>
                    <a:gd name="T64" fmla="*/ 66 w 71"/>
                    <a:gd name="T6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 h="70">
                      <a:moveTo>
                        <a:pt x="71" y="35"/>
                      </a:moveTo>
                      <a:lnTo>
                        <a:pt x="70" y="29"/>
                      </a:lnTo>
                      <a:lnTo>
                        <a:pt x="67" y="21"/>
                      </a:lnTo>
                      <a:lnTo>
                        <a:pt x="64" y="16"/>
                      </a:lnTo>
                      <a:lnTo>
                        <a:pt x="60" y="11"/>
                      </a:lnTo>
                      <a:lnTo>
                        <a:pt x="56" y="7"/>
                      </a:lnTo>
                      <a:lnTo>
                        <a:pt x="49" y="3"/>
                      </a:lnTo>
                      <a:lnTo>
                        <a:pt x="43" y="1"/>
                      </a:lnTo>
                      <a:lnTo>
                        <a:pt x="35" y="0"/>
                      </a:lnTo>
                      <a:lnTo>
                        <a:pt x="29" y="1"/>
                      </a:lnTo>
                      <a:lnTo>
                        <a:pt x="22" y="3"/>
                      </a:lnTo>
                      <a:lnTo>
                        <a:pt x="16" y="7"/>
                      </a:lnTo>
                      <a:lnTo>
                        <a:pt x="11" y="11"/>
                      </a:lnTo>
                      <a:lnTo>
                        <a:pt x="7" y="16"/>
                      </a:lnTo>
                      <a:lnTo>
                        <a:pt x="4" y="21"/>
                      </a:lnTo>
                      <a:lnTo>
                        <a:pt x="1" y="29"/>
                      </a:lnTo>
                      <a:lnTo>
                        <a:pt x="0" y="35"/>
                      </a:lnTo>
                      <a:lnTo>
                        <a:pt x="1" y="43"/>
                      </a:lnTo>
                      <a:lnTo>
                        <a:pt x="4" y="49"/>
                      </a:lnTo>
                      <a:lnTo>
                        <a:pt x="7" y="55"/>
                      </a:lnTo>
                      <a:lnTo>
                        <a:pt x="11" y="60"/>
                      </a:lnTo>
                      <a:lnTo>
                        <a:pt x="16" y="64"/>
                      </a:lnTo>
                      <a:lnTo>
                        <a:pt x="22" y="67"/>
                      </a:lnTo>
                      <a:lnTo>
                        <a:pt x="29" y="69"/>
                      </a:lnTo>
                      <a:lnTo>
                        <a:pt x="35" y="70"/>
                      </a:lnTo>
                      <a:lnTo>
                        <a:pt x="43" y="69"/>
                      </a:lnTo>
                      <a:lnTo>
                        <a:pt x="49" y="67"/>
                      </a:lnTo>
                      <a:lnTo>
                        <a:pt x="56" y="64"/>
                      </a:lnTo>
                      <a:lnTo>
                        <a:pt x="60" y="60"/>
                      </a:lnTo>
                      <a:lnTo>
                        <a:pt x="64" y="55"/>
                      </a:lnTo>
                      <a:lnTo>
                        <a:pt x="67" y="49"/>
                      </a:lnTo>
                      <a:lnTo>
                        <a:pt x="70" y="43"/>
                      </a:lnTo>
                      <a:lnTo>
                        <a:pt x="71" y="35"/>
                      </a:lnTo>
                      <a:close/>
                      <a:moveTo>
                        <a:pt x="66" y="35"/>
                      </a:moveTo>
                      <a:lnTo>
                        <a:pt x="66" y="42"/>
                      </a:lnTo>
                      <a:lnTo>
                        <a:pt x="64" y="47"/>
                      </a:lnTo>
                      <a:lnTo>
                        <a:pt x="61" y="52"/>
                      </a:lnTo>
                      <a:lnTo>
                        <a:pt x="58" y="58"/>
                      </a:lnTo>
                      <a:lnTo>
                        <a:pt x="52" y="61"/>
                      </a:lnTo>
                      <a:lnTo>
                        <a:pt x="47" y="64"/>
                      </a:lnTo>
                      <a:lnTo>
                        <a:pt x="42" y="66"/>
                      </a:lnTo>
                      <a:lnTo>
                        <a:pt x="35" y="66"/>
                      </a:lnTo>
                      <a:lnTo>
                        <a:pt x="29" y="66"/>
                      </a:lnTo>
                      <a:lnTo>
                        <a:pt x="24" y="64"/>
                      </a:lnTo>
                      <a:lnTo>
                        <a:pt x="18" y="61"/>
                      </a:lnTo>
                      <a:lnTo>
                        <a:pt x="14" y="58"/>
                      </a:lnTo>
                      <a:lnTo>
                        <a:pt x="10" y="52"/>
                      </a:lnTo>
                      <a:lnTo>
                        <a:pt x="8" y="47"/>
                      </a:lnTo>
                      <a:lnTo>
                        <a:pt x="6" y="42"/>
                      </a:lnTo>
                      <a:lnTo>
                        <a:pt x="5" y="35"/>
                      </a:lnTo>
                      <a:lnTo>
                        <a:pt x="6" y="29"/>
                      </a:lnTo>
                      <a:lnTo>
                        <a:pt x="8" y="24"/>
                      </a:lnTo>
                      <a:lnTo>
                        <a:pt x="10" y="18"/>
                      </a:lnTo>
                      <a:lnTo>
                        <a:pt x="14" y="14"/>
                      </a:lnTo>
                      <a:lnTo>
                        <a:pt x="18" y="10"/>
                      </a:lnTo>
                      <a:lnTo>
                        <a:pt x="24" y="8"/>
                      </a:lnTo>
                      <a:lnTo>
                        <a:pt x="29" y="5"/>
                      </a:lnTo>
                      <a:lnTo>
                        <a:pt x="35" y="4"/>
                      </a:lnTo>
                      <a:lnTo>
                        <a:pt x="42" y="5"/>
                      </a:lnTo>
                      <a:lnTo>
                        <a:pt x="47" y="8"/>
                      </a:lnTo>
                      <a:lnTo>
                        <a:pt x="52" y="10"/>
                      </a:lnTo>
                      <a:lnTo>
                        <a:pt x="58" y="14"/>
                      </a:lnTo>
                      <a:lnTo>
                        <a:pt x="61" y="18"/>
                      </a:lnTo>
                      <a:lnTo>
                        <a:pt x="64" y="24"/>
                      </a:lnTo>
                      <a:lnTo>
                        <a:pt x="66" y="29"/>
                      </a:lnTo>
                      <a:lnTo>
                        <a:pt x="66" y="3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30" name="Freeform 4818"/>
                <p:cNvSpPr>
                  <a:spLocks noChangeAspect="1" noEditPoints="1"/>
                </p:cNvSpPr>
                <p:nvPr/>
              </p:nvSpPr>
              <p:spPr bwMode="auto">
                <a:xfrm>
                  <a:off x="3511" y="3346"/>
                  <a:ext cx="23" cy="24"/>
                </a:xfrm>
                <a:custGeom>
                  <a:avLst/>
                  <a:gdLst>
                    <a:gd name="T0" fmla="*/ 65 w 66"/>
                    <a:gd name="T1" fmla="*/ 27 h 66"/>
                    <a:gd name="T2" fmla="*/ 61 w 66"/>
                    <a:gd name="T3" fmla="*/ 15 h 66"/>
                    <a:gd name="T4" fmla="*/ 52 w 66"/>
                    <a:gd name="T5" fmla="*/ 7 h 66"/>
                    <a:gd name="T6" fmla="*/ 40 w 66"/>
                    <a:gd name="T7" fmla="*/ 1 h 66"/>
                    <a:gd name="T8" fmla="*/ 27 w 66"/>
                    <a:gd name="T9" fmla="*/ 1 h 66"/>
                    <a:gd name="T10" fmla="*/ 15 w 66"/>
                    <a:gd name="T11" fmla="*/ 7 h 66"/>
                    <a:gd name="T12" fmla="*/ 7 w 66"/>
                    <a:gd name="T13" fmla="*/ 15 h 66"/>
                    <a:gd name="T14" fmla="*/ 2 w 66"/>
                    <a:gd name="T15" fmla="*/ 27 h 66"/>
                    <a:gd name="T16" fmla="*/ 2 w 66"/>
                    <a:gd name="T17" fmla="*/ 40 h 66"/>
                    <a:gd name="T18" fmla="*/ 7 w 66"/>
                    <a:gd name="T19" fmla="*/ 51 h 66"/>
                    <a:gd name="T20" fmla="*/ 15 w 66"/>
                    <a:gd name="T21" fmla="*/ 61 h 66"/>
                    <a:gd name="T22" fmla="*/ 27 w 66"/>
                    <a:gd name="T23" fmla="*/ 65 h 66"/>
                    <a:gd name="T24" fmla="*/ 40 w 66"/>
                    <a:gd name="T25" fmla="*/ 65 h 66"/>
                    <a:gd name="T26" fmla="*/ 52 w 66"/>
                    <a:gd name="T27" fmla="*/ 61 h 66"/>
                    <a:gd name="T28" fmla="*/ 61 w 66"/>
                    <a:gd name="T29" fmla="*/ 51 h 66"/>
                    <a:gd name="T30" fmla="*/ 65 w 66"/>
                    <a:gd name="T31" fmla="*/ 40 h 66"/>
                    <a:gd name="T32" fmla="*/ 62 w 66"/>
                    <a:gd name="T33" fmla="*/ 33 h 66"/>
                    <a:gd name="T34" fmla="*/ 60 w 66"/>
                    <a:gd name="T35" fmla="*/ 45 h 66"/>
                    <a:gd name="T36" fmla="*/ 54 w 66"/>
                    <a:gd name="T37" fmla="*/ 53 h 66"/>
                    <a:gd name="T38" fmla="*/ 45 w 66"/>
                    <a:gd name="T39" fmla="*/ 60 h 66"/>
                    <a:gd name="T40" fmla="*/ 33 w 66"/>
                    <a:gd name="T41" fmla="*/ 62 h 66"/>
                    <a:gd name="T42" fmla="*/ 23 w 66"/>
                    <a:gd name="T43" fmla="*/ 60 h 66"/>
                    <a:gd name="T44" fmla="*/ 13 w 66"/>
                    <a:gd name="T45" fmla="*/ 53 h 66"/>
                    <a:gd name="T46" fmla="*/ 7 w 66"/>
                    <a:gd name="T47" fmla="*/ 45 h 66"/>
                    <a:gd name="T48" fmla="*/ 5 w 66"/>
                    <a:gd name="T49" fmla="*/ 33 h 66"/>
                    <a:gd name="T50" fmla="*/ 7 w 66"/>
                    <a:gd name="T51" fmla="*/ 23 h 66"/>
                    <a:gd name="T52" fmla="*/ 13 w 66"/>
                    <a:gd name="T53" fmla="*/ 13 h 66"/>
                    <a:gd name="T54" fmla="*/ 23 w 66"/>
                    <a:gd name="T55" fmla="*/ 7 h 66"/>
                    <a:gd name="T56" fmla="*/ 33 w 66"/>
                    <a:gd name="T57" fmla="*/ 5 h 66"/>
                    <a:gd name="T58" fmla="*/ 45 w 66"/>
                    <a:gd name="T59" fmla="*/ 7 h 66"/>
                    <a:gd name="T60" fmla="*/ 54 w 66"/>
                    <a:gd name="T61" fmla="*/ 13 h 66"/>
                    <a:gd name="T62" fmla="*/ 60 w 66"/>
                    <a:gd name="T63" fmla="*/ 23 h 66"/>
                    <a:gd name="T64" fmla="*/ 62 w 66"/>
                    <a:gd name="T65"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 h="66">
                      <a:moveTo>
                        <a:pt x="66" y="33"/>
                      </a:moveTo>
                      <a:lnTo>
                        <a:pt x="65" y="27"/>
                      </a:lnTo>
                      <a:lnTo>
                        <a:pt x="64" y="21"/>
                      </a:lnTo>
                      <a:lnTo>
                        <a:pt x="61" y="15"/>
                      </a:lnTo>
                      <a:lnTo>
                        <a:pt x="57" y="10"/>
                      </a:lnTo>
                      <a:lnTo>
                        <a:pt x="52" y="7"/>
                      </a:lnTo>
                      <a:lnTo>
                        <a:pt x="46" y="3"/>
                      </a:lnTo>
                      <a:lnTo>
                        <a:pt x="40" y="1"/>
                      </a:lnTo>
                      <a:lnTo>
                        <a:pt x="33" y="0"/>
                      </a:lnTo>
                      <a:lnTo>
                        <a:pt x="27" y="1"/>
                      </a:lnTo>
                      <a:lnTo>
                        <a:pt x="21" y="3"/>
                      </a:lnTo>
                      <a:lnTo>
                        <a:pt x="15" y="7"/>
                      </a:lnTo>
                      <a:lnTo>
                        <a:pt x="10" y="10"/>
                      </a:lnTo>
                      <a:lnTo>
                        <a:pt x="7" y="15"/>
                      </a:lnTo>
                      <a:lnTo>
                        <a:pt x="4" y="21"/>
                      </a:lnTo>
                      <a:lnTo>
                        <a:pt x="2" y="27"/>
                      </a:lnTo>
                      <a:lnTo>
                        <a:pt x="0" y="33"/>
                      </a:lnTo>
                      <a:lnTo>
                        <a:pt x="2" y="40"/>
                      </a:lnTo>
                      <a:lnTo>
                        <a:pt x="4" y="46"/>
                      </a:lnTo>
                      <a:lnTo>
                        <a:pt x="7" y="51"/>
                      </a:lnTo>
                      <a:lnTo>
                        <a:pt x="10" y="57"/>
                      </a:lnTo>
                      <a:lnTo>
                        <a:pt x="15" y="61"/>
                      </a:lnTo>
                      <a:lnTo>
                        <a:pt x="21" y="64"/>
                      </a:lnTo>
                      <a:lnTo>
                        <a:pt x="27" y="65"/>
                      </a:lnTo>
                      <a:lnTo>
                        <a:pt x="33" y="66"/>
                      </a:lnTo>
                      <a:lnTo>
                        <a:pt x="40" y="65"/>
                      </a:lnTo>
                      <a:lnTo>
                        <a:pt x="46" y="64"/>
                      </a:lnTo>
                      <a:lnTo>
                        <a:pt x="52" y="61"/>
                      </a:lnTo>
                      <a:lnTo>
                        <a:pt x="57" y="57"/>
                      </a:lnTo>
                      <a:lnTo>
                        <a:pt x="61" y="51"/>
                      </a:lnTo>
                      <a:lnTo>
                        <a:pt x="64" y="46"/>
                      </a:lnTo>
                      <a:lnTo>
                        <a:pt x="65" y="40"/>
                      </a:lnTo>
                      <a:lnTo>
                        <a:pt x="66" y="33"/>
                      </a:lnTo>
                      <a:close/>
                      <a:moveTo>
                        <a:pt x="62" y="33"/>
                      </a:moveTo>
                      <a:lnTo>
                        <a:pt x="62" y="40"/>
                      </a:lnTo>
                      <a:lnTo>
                        <a:pt x="60" y="45"/>
                      </a:lnTo>
                      <a:lnTo>
                        <a:pt x="58" y="49"/>
                      </a:lnTo>
                      <a:lnTo>
                        <a:pt x="54" y="53"/>
                      </a:lnTo>
                      <a:lnTo>
                        <a:pt x="49" y="58"/>
                      </a:lnTo>
                      <a:lnTo>
                        <a:pt x="45" y="60"/>
                      </a:lnTo>
                      <a:lnTo>
                        <a:pt x="40" y="62"/>
                      </a:lnTo>
                      <a:lnTo>
                        <a:pt x="33" y="62"/>
                      </a:lnTo>
                      <a:lnTo>
                        <a:pt x="28" y="62"/>
                      </a:lnTo>
                      <a:lnTo>
                        <a:pt x="23" y="60"/>
                      </a:lnTo>
                      <a:lnTo>
                        <a:pt x="17" y="58"/>
                      </a:lnTo>
                      <a:lnTo>
                        <a:pt x="13" y="53"/>
                      </a:lnTo>
                      <a:lnTo>
                        <a:pt x="10" y="49"/>
                      </a:lnTo>
                      <a:lnTo>
                        <a:pt x="7" y="45"/>
                      </a:lnTo>
                      <a:lnTo>
                        <a:pt x="6" y="40"/>
                      </a:lnTo>
                      <a:lnTo>
                        <a:pt x="5" y="33"/>
                      </a:lnTo>
                      <a:lnTo>
                        <a:pt x="6" y="28"/>
                      </a:lnTo>
                      <a:lnTo>
                        <a:pt x="7" y="23"/>
                      </a:lnTo>
                      <a:lnTo>
                        <a:pt x="10" y="17"/>
                      </a:lnTo>
                      <a:lnTo>
                        <a:pt x="13" y="13"/>
                      </a:lnTo>
                      <a:lnTo>
                        <a:pt x="17" y="10"/>
                      </a:lnTo>
                      <a:lnTo>
                        <a:pt x="23" y="7"/>
                      </a:lnTo>
                      <a:lnTo>
                        <a:pt x="28" y="6"/>
                      </a:lnTo>
                      <a:lnTo>
                        <a:pt x="33" y="5"/>
                      </a:lnTo>
                      <a:lnTo>
                        <a:pt x="40" y="6"/>
                      </a:lnTo>
                      <a:lnTo>
                        <a:pt x="45" y="7"/>
                      </a:lnTo>
                      <a:lnTo>
                        <a:pt x="49" y="10"/>
                      </a:lnTo>
                      <a:lnTo>
                        <a:pt x="54" y="13"/>
                      </a:lnTo>
                      <a:lnTo>
                        <a:pt x="58" y="17"/>
                      </a:lnTo>
                      <a:lnTo>
                        <a:pt x="60" y="23"/>
                      </a:lnTo>
                      <a:lnTo>
                        <a:pt x="62" y="28"/>
                      </a:lnTo>
                      <a:lnTo>
                        <a:pt x="62" y="3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31" name="Freeform 4819"/>
                <p:cNvSpPr>
                  <a:spLocks noChangeAspect="1" noEditPoints="1"/>
                </p:cNvSpPr>
                <p:nvPr/>
              </p:nvSpPr>
              <p:spPr bwMode="auto">
                <a:xfrm>
                  <a:off x="3512" y="3347"/>
                  <a:ext cx="21" cy="19"/>
                </a:xfrm>
                <a:custGeom>
                  <a:avLst/>
                  <a:gdLst>
                    <a:gd name="T0" fmla="*/ 61 w 61"/>
                    <a:gd name="T1" fmla="*/ 25 h 62"/>
                    <a:gd name="T2" fmla="*/ 56 w 61"/>
                    <a:gd name="T3" fmla="*/ 14 h 62"/>
                    <a:gd name="T4" fmla="*/ 47 w 61"/>
                    <a:gd name="T5" fmla="*/ 6 h 62"/>
                    <a:gd name="T6" fmla="*/ 37 w 61"/>
                    <a:gd name="T7" fmla="*/ 1 h 62"/>
                    <a:gd name="T8" fmla="*/ 24 w 61"/>
                    <a:gd name="T9" fmla="*/ 1 h 62"/>
                    <a:gd name="T10" fmla="*/ 13 w 61"/>
                    <a:gd name="T11" fmla="*/ 6 h 62"/>
                    <a:gd name="T12" fmla="*/ 5 w 61"/>
                    <a:gd name="T13" fmla="*/ 14 h 62"/>
                    <a:gd name="T14" fmla="*/ 1 w 61"/>
                    <a:gd name="T15" fmla="*/ 25 h 62"/>
                    <a:gd name="T16" fmla="*/ 1 w 61"/>
                    <a:gd name="T17" fmla="*/ 38 h 62"/>
                    <a:gd name="T18" fmla="*/ 5 w 61"/>
                    <a:gd name="T19" fmla="*/ 48 h 62"/>
                    <a:gd name="T20" fmla="*/ 13 w 61"/>
                    <a:gd name="T21" fmla="*/ 57 h 62"/>
                    <a:gd name="T22" fmla="*/ 24 w 61"/>
                    <a:gd name="T23" fmla="*/ 62 h 62"/>
                    <a:gd name="T24" fmla="*/ 37 w 61"/>
                    <a:gd name="T25" fmla="*/ 62 h 62"/>
                    <a:gd name="T26" fmla="*/ 47 w 61"/>
                    <a:gd name="T27" fmla="*/ 57 h 62"/>
                    <a:gd name="T28" fmla="*/ 56 w 61"/>
                    <a:gd name="T29" fmla="*/ 48 h 62"/>
                    <a:gd name="T30" fmla="*/ 61 w 61"/>
                    <a:gd name="T31" fmla="*/ 38 h 62"/>
                    <a:gd name="T32" fmla="*/ 57 w 61"/>
                    <a:gd name="T33" fmla="*/ 31 h 62"/>
                    <a:gd name="T34" fmla="*/ 55 w 61"/>
                    <a:gd name="T35" fmla="*/ 42 h 62"/>
                    <a:gd name="T36" fmla="*/ 50 w 61"/>
                    <a:gd name="T37" fmla="*/ 50 h 62"/>
                    <a:gd name="T38" fmla="*/ 41 w 61"/>
                    <a:gd name="T39" fmla="*/ 56 h 62"/>
                    <a:gd name="T40" fmla="*/ 30 w 61"/>
                    <a:gd name="T41" fmla="*/ 58 h 62"/>
                    <a:gd name="T42" fmla="*/ 20 w 61"/>
                    <a:gd name="T43" fmla="*/ 56 h 62"/>
                    <a:gd name="T44" fmla="*/ 11 w 61"/>
                    <a:gd name="T45" fmla="*/ 50 h 62"/>
                    <a:gd name="T46" fmla="*/ 6 w 61"/>
                    <a:gd name="T47" fmla="*/ 42 h 62"/>
                    <a:gd name="T48" fmla="*/ 4 w 61"/>
                    <a:gd name="T49" fmla="*/ 31 h 62"/>
                    <a:gd name="T50" fmla="*/ 6 w 61"/>
                    <a:gd name="T51" fmla="*/ 21 h 62"/>
                    <a:gd name="T52" fmla="*/ 11 w 61"/>
                    <a:gd name="T53" fmla="*/ 12 h 62"/>
                    <a:gd name="T54" fmla="*/ 20 w 61"/>
                    <a:gd name="T55" fmla="*/ 7 h 62"/>
                    <a:gd name="T56" fmla="*/ 30 w 61"/>
                    <a:gd name="T57" fmla="*/ 5 h 62"/>
                    <a:gd name="T58" fmla="*/ 41 w 61"/>
                    <a:gd name="T59" fmla="*/ 7 h 62"/>
                    <a:gd name="T60" fmla="*/ 50 w 61"/>
                    <a:gd name="T61" fmla="*/ 12 h 62"/>
                    <a:gd name="T62" fmla="*/ 55 w 61"/>
                    <a:gd name="T63" fmla="*/ 21 h 62"/>
                    <a:gd name="T64" fmla="*/ 57 w 61"/>
                    <a:gd name="T65" fmla="*/ 3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1" h="62">
                      <a:moveTo>
                        <a:pt x="61" y="31"/>
                      </a:moveTo>
                      <a:lnTo>
                        <a:pt x="61" y="25"/>
                      </a:lnTo>
                      <a:lnTo>
                        <a:pt x="59" y="20"/>
                      </a:lnTo>
                      <a:lnTo>
                        <a:pt x="56" y="14"/>
                      </a:lnTo>
                      <a:lnTo>
                        <a:pt x="53" y="10"/>
                      </a:lnTo>
                      <a:lnTo>
                        <a:pt x="47" y="6"/>
                      </a:lnTo>
                      <a:lnTo>
                        <a:pt x="42" y="4"/>
                      </a:lnTo>
                      <a:lnTo>
                        <a:pt x="37" y="1"/>
                      </a:lnTo>
                      <a:lnTo>
                        <a:pt x="30" y="0"/>
                      </a:lnTo>
                      <a:lnTo>
                        <a:pt x="24" y="1"/>
                      </a:lnTo>
                      <a:lnTo>
                        <a:pt x="19" y="4"/>
                      </a:lnTo>
                      <a:lnTo>
                        <a:pt x="13" y="6"/>
                      </a:lnTo>
                      <a:lnTo>
                        <a:pt x="9" y="10"/>
                      </a:lnTo>
                      <a:lnTo>
                        <a:pt x="5" y="14"/>
                      </a:lnTo>
                      <a:lnTo>
                        <a:pt x="3" y="20"/>
                      </a:lnTo>
                      <a:lnTo>
                        <a:pt x="1" y="25"/>
                      </a:lnTo>
                      <a:lnTo>
                        <a:pt x="0" y="31"/>
                      </a:lnTo>
                      <a:lnTo>
                        <a:pt x="1" y="38"/>
                      </a:lnTo>
                      <a:lnTo>
                        <a:pt x="3" y="43"/>
                      </a:lnTo>
                      <a:lnTo>
                        <a:pt x="5" y="48"/>
                      </a:lnTo>
                      <a:lnTo>
                        <a:pt x="9" y="54"/>
                      </a:lnTo>
                      <a:lnTo>
                        <a:pt x="13" y="57"/>
                      </a:lnTo>
                      <a:lnTo>
                        <a:pt x="19" y="60"/>
                      </a:lnTo>
                      <a:lnTo>
                        <a:pt x="24" y="62"/>
                      </a:lnTo>
                      <a:lnTo>
                        <a:pt x="30" y="62"/>
                      </a:lnTo>
                      <a:lnTo>
                        <a:pt x="37" y="62"/>
                      </a:lnTo>
                      <a:lnTo>
                        <a:pt x="42" y="60"/>
                      </a:lnTo>
                      <a:lnTo>
                        <a:pt x="47" y="57"/>
                      </a:lnTo>
                      <a:lnTo>
                        <a:pt x="53" y="54"/>
                      </a:lnTo>
                      <a:lnTo>
                        <a:pt x="56" y="48"/>
                      </a:lnTo>
                      <a:lnTo>
                        <a:pt x="59" y="43"/>
                      </a:lnTo>
                      <a:lnTo>
                        <a:pt x="61" y="38"/>
                      </a:lnTo>
                      <a:lnTo>
                        <a:pt x="61" y="31"/>
                      </a:lnTo>
                      <a:close/>
                      <a:moveTo>
                        <a:pt x="57" y="31"/>
                      </a:moveTo>
                      <a:lnTo>
                        <a:pt x="57" y="37"/>
                      </a:lnTo>
                      <a:lnTo>
                        <a:pt x="55" y="42"/>
                      </a:lnTo>
                      <a:lnTo>
                        <a:pt x="53" y="46"/>
                      </a:lnTo>
                      <a:lnTo>
                        <a:pt x="50" y="50"/>
                      </a:lnTo>
                      <a:lnTo>
                        <a:pt x="45" y="54"/>
                      </a:lnTo>
                      <a:lnTo>
                        <a:pt x="41" y="56"/>
                      </a:lnTo>
                      <a:lnTo>
                        <a:pt x="36" y="58"/>
                      </a:lnTo>
                      <a:lnTo>
                        <a:pt x="30" y="58"/>
                      </a:lnTo>
                      <a:lnTo>
                        <a:pt x="25" y="58"/>
                      </a:lnTo>
                      <a:lnTo>
                        <a:pt x="20" y="56"/>
                      </a:lnTo>
                      <a:lnTo>
                        <a:pt x="16" y="54"/>
                      </a:lnTo>
                      <a:lnTo>
                        <a:pt x="11" y="50"/>
                      </a:lnTo>
                      <a:lnTo>
                        <a:pt x="8" y="46"/>
                      </a:lnTo>
                      <a:lnTo>
                        <a:pt x="6" y="42"/>
                      </a:lnTo>
                      <a:lnTo>
                        <a:pt x="5" y="37"/>
                      </a:lnTo>
                      <a:lnTo>
                        <a:pt x="4" y="31"/>
                      </a:lnTo>
                      <a:lnTo>
                        <a:pt x="5" y="26"/>
                      </a:lnTo>
                      <a:lnTo>
                        <a:pt x="6" y="21"/>
                      </a:lnTo>
                      <a:lnTo>
                        <a:pt x="8" y="16"/>
                      </a:lnTo>
                      <a:lnTo>
                        <a:pt x="11" y="12"/>
                      </a:lnTo>
                      <a:lnTo>
                        <a:pt x="16" y="9"/>
                      </a:lnTo>
                      <a:lnTo>
                        <a:pt x="20" y="7"/>
                      </a:lnTo>
                      <a:lnTo>
                        <a:pt x="25" y="6"/>
                      </a:lnTo>
                      <a:lnTo>
                        <a:pt x="30" y="5"/>
                      </a:lnTo>
                      <a:lnTo>
                        <a:pt x="36" y="6"/>
                      </a:lnTo>
                      <a:lnTo>
                        <a:pt x="41" y="7"/>
                      </a:lnTo>
                      <a:lnTo>
                        <a:pt x="45" y="9"/>
                      </a:lnTo>
                      <a:lnTo>
                        <a:pt x="50" y="12"/>
                      </a:lnTo>
                      <a:lnTo>
                        <a:pt x="53" y="16"/>
                      </a:lnTo>
                      <a:lnTo>
                        <a:pt x="55" y="21"/>
                      </a:lnTo>
                      <a:lnTo>
                        <a:pt x="57" y="26"/>
                      </a:lnTo>
                      <a:lnTo>
                        <a:pt x="57" y="3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32" name="Freeform 4820"/>
                <p:cNvSpPr>
                  <a:spLocks noChangeAspect="1" noEditPoints="1"/>
                </p:cNvSpPr>
                <p:nvPr/>
              </p:nvSpPr>
              <p:spPr bwMode="auto">
                <a:xfrm>
                  <a:off x="3513" y="3348"/>
                  <a:ext cx="19" cy="19"/>
                </a:xfrm>
                <a:custGeom>
                  <a:avLst/>
                  <a:gdLst>
                    <a:gd name="T0" fmla="*/ 57 w 57"/>
                    <a:gd name="T1" fmla="*/ 23 h 57"/>
                    <a:gd name="T2" fmla="*/ 53 w 57"/>
                    <a:gd name="T3" fmla="*/ 12 h 57"/>
                    <a:gd name="T4" fmla="*/ 44 w 57"/>
                    <a:gd name="T5" fmla="*/ 5 h 57"/>
                    <a:gd name="T6" fmla="*/ 35 w 57"/>
                    <a:gd name="T7" fmla="*/ 1 h 57"/>
                    <a:gd name="T8" fmla="*/ 23 w 57"/>
                    <a:gd name="T9" fmla="*/ 1 h 57"/>
                    <a:gd name="T10" fmla="*/ 12 w 57"/>
                    <a:gd name="T11" fmla="*/ 5 h 57"/>
                    <a:gd name="T12" fmla="*/ 5 w 57"/>
                    <a:gd name="T13" fmla="*/ 12 h 57"/>
                    <a:gd name="T14" fmla="*/ 1 w 57"/>
                    <a:gd name="T15" fmla="*/ 23 h 57"/>
                    <a:gd name="T16" fmla="*/ 1 w 57"/>
                    <a:gd name="T17" fmla="*/ 35 h 57"/>
                    <a:gd name="T18" fmla="*/ 5 w 57"/>
                    <a:gd name="T19" fmla="*/ 44 h 57"/>
                    <a:gd name="T20" fmla="*/ 12 w 57"/>
                    <a:gd name="T21" fmla="*/ 53 h 57"/>
                    <a:gd name="T22" fmla="*/ 23 w 57"/>
                    <a:gd name="T23" fmla="*/ 57 h 57"/>
                    <a:gd name="T24" fmla="*/ 35 w 57"/>
                    <a:gd name="T25" fmla="*/ 57 h 57"/>
                    <a:gd name="T26" fmla="*/ 44 w 57"/>
                    <a:gd name="T27" fmla="*/ 53 h 57"/>
                    <a:gd name="T28" fmla="*/ 53 w 57"/>
                    <a:gd name="T29" fmla="*/ 44 h 57"/>
                    <a:gd name="T30" fmla="*/ 57 w 57"/>
                    <a:gd name="T31" fmla="*/ 35 h 57"/>
                    <a:gd name="T32" fmla="*/ 53 w 57"/>
                    <a:gd name="T33" fmla="*/ 28 h 57"/>
                    <a:gd name="T34" fmla="*/ 52 w 57"/>
                    <a:gd name="T35" fmla="*/ 38 h 57"/>
                    <a:gd name="T36" fmla="*/ 47 w 57"/>
                    <a:gd name="T37" fmla="*/ 46 h 57"/>
                    <a:gd name="T38" fmla="*/ 38 w 57"/>
                    <a:gd name="T39" fmla="*/ 52 h 57"/>
                    <a:gd name="T40" fmla="*/ 28 w 57"/>
                    <a:gd name="T41" fmla="*/ 53 h 57"/>
                    <a:gd name="T42" fmla="*/ 19 w 57"/>
                    <a:gd name="T43" fmla="*/ 52 h 57"/>
                    <a:gd name="T44" fmla="*/ 11 w 57"/>
                    <a:gd name="T45" fmla="*/ 46 h 57"/>
                    <a:gd name="T46" fmla="*/ 6 w 57"/>
                    <a:gd name="T47" fmla="*/ 38 h 57"/>
                    <a:gd name="T48" fmla="*/ 4 w 57"/>
                    <a:gd name="T49" fmla="*/ 28 h 57"/>
                    <a:gd name="T50" fmla="*/ 6 w 57"/>
                    <a:gd name="T51" fmla="*/ 19 h 57"/>
                    <a:gd name="T52" fmla="*/ 11 w 57"/>
                    <a:gd name="T53" fmla="*/ 11 h 57"/>
                    <a:gd name="T54" fmla="*/ 19 w 57"/>
                    <a:gd name="T55" fmla="*/ 6 h 57"/>
                    <a:gd name="T56" fmla="*/ 28 w 57"/>
                    <a:gd name="T57" fmla="*/ 4 h 57"/>
                    <a:gd name="T58" fmla="*/ 38 w 57"/>
                    <a:gd name="T59" fmla="*/ 6 h 57"/>
                    <a:gd name="T60" fmla="*/ 47 w 57"/>
                    <a:gd name="T61" fmla="*/ 11 h 57"/>
                    <a:gd name="T62" fmla="*/ 52 w 57"/>
                    <a:gd name="T63" fmla="*/ 19 h 57"/>
                    <a:gd name="T64" fmla="*/ 53 w 57"/>
                    <a:gd name="T65" fmla="*/ 2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 h="57">
                      <a:moveTo>
                        <a:pt x="57" y="28"/>
                      </a:moveTo>
                      <a:lnTo>
                        <a:pt x="57" y="23"/>
                      </a:lnTo>
                      <a:lnTo>
                        <a:pt x="55" y="18"/>
                      </a:lnTo>
                      <a:lnTo>
                        <a:pt x="53" y="12"/>
                      </a:lnTo>
                      <a:lnTo>
                        <a:pt x="49" y="8"/>
                      </a:lnTo>
                      <a:lnTo>
                        <a:pt x="44" y="5"/>
                      </a:lnTo>
                      <a:lnTo>
                        <a:pt x="40" y="2"/>
                      </a:lnTo>
                      <a:lnTo>
                        <a:pt x="35" y="1"/>
                      </a:lnTo>
                      <a:lnTo>
                        <a:pt x="28" y="0"/>
                      </a:lnTo>
                      <a:lnTo>
                        <a:pt x="23" y="1"/>
                      </a:lnTo>
                      <a:lnTo>
                        <a:pt x="18" y="2"/>
                      </a:lnTo>
                      <a:lnTo>
                        <a:pt x="12" y="5"/>
                      </a:lnTo>
                      <a:lnTo>
                        <a:pt x="8" y="8"/>
                      </a:lnTo>
                      <a:lnTo>
                        <a:pt x="5" y="12"/>
                      </a:lnTo>
                      <a:lnTo>
                        <a:pt x="2" y="18"/>
                      </a:lnTo>
                      <a:lnTo>
                        <a:pt x="1" y="23"/>
                      </a:lnTo>
                      <a:lnTo>
                        <a:pt x="0" y="28"/>
                      </a:lnTo>
                      <a:lnTo>
                        <a:pt x="1" y="35"/>
                      </a:lnTo>
                      <a:lnTo>
                        <a:pt x="2" y="40"/>
                      </a:lnTo>
                      <a:lnTo>
                        <a:pt x="5" y="44"/>
                      </a:lnTo>
                      <a:lnTo>
                        <a:pt x="8" y="48"/>
                      </a:lnTo>
                      <a:lnTo>
                        <a:pt x="12" y="53"/>
                      </a:lnTo>
                      <a:lnTo>
                        <a:pt x="18" y="55"/>
                      </a:lnTo>
                      <a:lnTo>
                        <a:pt x="23" y="57"/>
                      </a:lnTo>
                      <a:lnTo>
                        <a:pt x="28" y="57"/>
                      </a:lnTo>
                      <a:lnTo>
                        <a:pt x="35" y="57"/>
                      </a:lnTo>
                      <a:lnTo>
                        <a:pt x="40" y="55"/>
                      </a:lnTo>
                      <a:lnTo>
                        <a:pt x="44" y="53"/>
                      </a:lnTo>
                      <a:lnTo>
                        <a:pt x="49" y="48"/>
                      </a:lnTo>
                      <a:lnTo>
                        <a:pt x="53" y="44"/>
                      </a:lnTo>
                      <a:lnTo>
                        <a:pt x="55" y="40"/>
                      </a:lnTo>
                      <a:lnTo>
                        <a:pt x="57" y="35"/>
                      </a:lnTo>
                      <a:lnTo>
                        <a:pt x="57" y="28"/>
                      </a:lnTo>
                      <a:close/>
                      <a:moveTo>
                        <a:pt x="53" y="28"/>
                      </a:moveTo>
                      <a:lnTo>
                        <a:pt x="53" y="34"/>
                      </a:lnTo>
                      <a:lnTo>
                        <a:pt x="52" y="38"/>
                      </a:lnTo>
                      <a:lnTo>
                        <a:pt x="49" y="42"/>
                      </a:lnTo>
                      <a:lnTo>
                        <a:pt x="47" y="46"/>
                      </a:lnTo>
                      <a:lnTo>
                        <a:pt x="42" y="48"/>
                      </a:lnTo>
                      <a:lnTo>
                        <a:pt x="38" y="52"/>
                      </a:lnTo>
                      <a:lnTo>
                        <a:pt x="34" y="53"/>
                      </a:lnTo>
                      <a:lnTo>
                        <a:pt x="28" y="53"/>
                      </a:lnTo>
                      <a:lnTo>
                        <a:pt x="24" y="53"/>
                      </a:lnTo>
                      <a:lnTo>
                        <a:pt x="19" y="52"/>
                      </a:lnTo>
                      <a:lnTo>
                        <a:pt x="15" y="48"/>
                      </a:lnTo>
                      <a:lnTo>
                        <a:pt x="11" y="46"/>
                      </a:lnTo>
                      <a:lnTo>
                        <a:pt x="8" y="42"/>
                      </a:lnTo>
                      <a:lnTo>
                        <a:pt x="6" y="38"/>
                      </a:lnTo>
                      <a:lnTo>
                        <a:pt x="5" y="34"/>
                      </a:lnTo>
                      <a:lnTo>
                        <a:pt x="4" y="28"/>
                      </a:lnTo>
                      <a:lnTo>
                        <a:pt x="5" y="24"/>
                      </a:lnTo>
                      <a:lnTo>
                        <a:pt x="6" y="19"/>
                      </a:lnTo>
                      <a:lnTo>
                        <a:pt x="8" y="14"/>
                      </a:lnTo>
                      <a:lnTo>
                        <a:pt x="11" y="11"/>
                      </a:lnTo>
                      <a:lnTo>
                        <a:pt x="15" y="8"/>
                      </a:lnTo>
                      <a:lnTo>
                        <a:pt x="19" y="6"/>
                      </a:lnTo>
                      <a:lnTo>
                        <a:pt x="24" y="5"/>
                      </a:lnTo>
                      <a:lnTo>
                        <a:pt x="28" y="4"/>
                      </a:lnTo>
                      <a:lnTo>
                        <a:pt x="34" y="5"/>
                      </a:lnTo>
                      <a:lnTo>
                        <a:pt x="38" y="6"/>
                      </a:lnTo>
                      <a:lnTo>
                        <a:pt x="42" y="8"/>
                      </a:lnTo>
                      <a:lnTo>
                        <a:pt x="47" y="11"/>
                      </a:lnTo>
                      <a:lnTo>
                        <a:pt x="49" y="14"/>
                      </a:lnTo>
                      <a:lnTo>
                        <a:pt x="52" y="19"/>
                      </a:lnTo>
                      <a:lnTo>
                        <a:pt x="53" y="24"/>
                      </a:lnTo>
                      <a:lnTo>
                        <a:pt x="53" y="2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33" name="Freeform 4821"/>
                <p:cNvSpPr>
                  <a:spLocks noChangeAspect="1" noEditPoints="1"/>
                </p:cNvSpPr>
                <p:nvPr/>
              </p:nvSpPr>
              <p:spPr bwMode="auto">
                <a:xfrm>
                  <a:off x="3514" y="3348"/>
                  <a:ext cx="17" cy="18"/>
                </a:xfrm>
                <a:custGeom>
                  <a:avLst/>
                  <a:gdLst>
                    <a:gd name="T0" fmla="*/ 53 w 53"/>
                    <a:gd name="T1" fmla="*/ 21 h 53"/>
                    <a:gd name="T2" fmla="*/ 49 w 53"/>
                    <a:gd name="T3" fmla="*/ 11 h 53"/>
                    <a:gd name="T4" fmla="*/ 41 w 53"/>
                    <a:gd name="T5" fmla="*/ 4 h 53"/>
                    <a:gd name="T6" fmla="*/ 32 w 53"/>
                    <a:gd name="T7" fmla="*/ 1 h 53"/>
                    <a:gd name="T8" fmla="*/ 21 w 53"/>
                    <a:gd name="T9" fmla="*/ 1 h 53"/>
                    <a:gd name="T10" fmla="*/ 12 w 53"/>
                    <a:gd name="T11" fmla="*/ 4 h 53"/>
                    <a:gd name="T12" fmla="*/ 4 w 53"/>
                    <a:gd name="T13" fmla="*/ 11 h 53"/>
                    <a:gd name="T14" fmla="*/ 1 w 53"/>
                    <a:gd name="T15" fmla="*/ 21 h 53"/>
                    <a:gd name="T16" fmla="*/ 1 w 53"/>
                    <a:gd name="T17" fmla="*/ 32 h 53"/>
                    <a:gd name="T18" fmla="*/ 4 w 53"/>
                    <a:gd name="T19" fmla="*/ 41 h 53"/>
                    <a:gd name="T20" fmla="*/ 12 w 53"/>
                    <a:gd name="T21" fmla="*/ 49 h 53"/>
                    <a:gd name="T22" fmla="*/ 21 w 53"/>
                    <a:gd name="T23" fmla="*/ 53 h 53"/>
                    <a:gd name="T24" fmla="*/ 32 w 53"/>
                    <a:gd name="T25" fmla="*/ 53 h 53"/>
                    <a:gd name="T26" fmla="*/ 41 w 53"/>
                    <a:gd name="T27" fmla="*/ 49 h 53"/>
                    <a:gd name="T28" fmla="*/ 49 w 53"/>
                    <a:gd name="T29" fmla="*/ 41 h 53"/>
                    <a:gd name="T30" fmla="*/ 53 w 53"/>
                    <a:gd name="T31" fmla="*/ 32 h 53"/>
                    <a:gd name="T32" fmla="*/ 49 w 53"/>
                    <a:gd name="T33" fmla="*/ 26 h 53"/>
                    <a:gd name="T34" fmla="*/ 48 w 53"/>
                    <a:gd name="T35" fmla="*/ 35 h 53"/>
                    <a:gd name="T36" fmla="*/ 42 w 53"/>
                    <a:gd name="T37" fmla="*/ 42 h 53"/>
                    <a:gd name="T38" fmla="*/ 35 w 53"/>
                    <a:gd name="T39" fmla="*/ 48 h 53"/>
                    <a:gd name="T40" fmla="*/ 26 w 53"/>
                    <a:gd name="T41" fmla="*/ 49 h 53"/>
                    <a:gd name="T42" fmla="*/ 18 w 53"/>
                    <a:gd name="T43" fmla="*/ 48 h 53"/>
                    <a:gd name="T44" fmla="*/ 10 w 53"/>
                    <a:gd name="T45" fmla="*/ 42 h 53"/>
                    <a:gd name="T46" fmla="*/ 6 w 53"/>
                    <a:gd name="T47" fmla="*/ 35 h 53"/>
                    <a:gd name="T48" fmla="*/ 4 w 53"/>
                    <a:gd name="T49" fmla="*/ 26 h 53"/>
                    <a:gd name="T50" fmla="*/ 6 w 53"/>
                    <a:gd name="T51" fmla="*/ 18 h 53"/>
                    <a:gd name="T52" fmla="*/ 10 w 53"/>
                    <a:gd name="T53" fmla="*/ 10 h 53"/>
                    <a:gd name="T54" fmla="*/ 18 w 53"/>
                    <a:gd name="T55" fmla="*/ 6 h 53"/>
                    <a:gd name="T56" fmla="*/ 26 w 53"/>
                    <a:gd name="T57" fmla="*/ 4 h 53"/>
                    <a:gd name="T58" fmla="*/ 35 w 53"/>
                    <a:gd name="T59" fmla="*/ 6 h 53"/>
                    <a:gd name="T60" fmla="*/ 42 w 53"/>
                    <a:gd name="T61" fmla="*/ 10 h 53"/>
                    <a:gd name="T62" fmla="*/ 48 w 53"/>
                    <a:gd name="T63" fmla="*/ 18 h 53"/>
                    <a:gd name="T64" fmla="*/ 49 w 53"/>
                    <a:gd name="T65"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3" h="53">
                      <a:moveTo>
                        <a:pt x="53" y="26"/>
                      </a:moveTo>
                      <a:lnTo>
                        <a:pt x="53" y="21"/>
                      </a:lnTo>
                      <a:lnTo>
                        <a:pt x="51" y="16"/>
                      </a:lnTo>
                      <a:lnTo>
                        <a:pt x="49" y="11"/>
                      </a:lnTo>
                      <a:lnTo>
                        <a:pt x="46" y="7"/>
                      </a:lnTo>
                      <a:lnTo>
                        <a:pt x="41" y="4"/>
                      </a:lnTo>
                      <a:lnTo>
                        <a:pt x="37" y="2"/>
                      </a:lnTo>
                      <a:lnTo>
                        <a:pt x="32" y="1"/>
                      </a:lnTo>
                      <a:lnTo>
                        <a:pt x="26" y="0"/>
                      </a:lnTo>
                      <a:lnTo>
                        <a:pt x="21" y="1"/>
                      </a:lnTo>
                      <a:lnTo>
                        <a:pt x="16" y="2"/>
                      </a:lnTo>
                      <a:lnTo>
                        <a:pt x="12" y="4"/>
                      </a:lnTo>
                      <a:lnTo>
                        <a:pt x="7" y="7"/>
                      </a:lnTo>
                      <a:lnTo>
                        <a:pt x="4" y="11"/>
                      </a:lnTo>
                      <a:lnTo>
                        <a:pt x="2" y="16"/>
                      </a:lnTo>
                      <a:lnTo>
                        <a:pt x="1" y="21"/>
                      </a:lnTo>
                      <a:lnTo>
                        <a:pt x="0" y="26"/>
                      </a:lnTo>
                      <a:lnTo>
                        <a:pt x="1" y="32"/>
                      </a:lnTo>
                      <a:lnTo>
                        <a:pt x="2" y="37"/>
                      </a:lnTo>
                      <a:lnTo>
                        <a:pt x="4" y="41"/>
                      </a:lnTo>
                      <a:lnTo>
                        <a:pt x="7" y="45"/>
                      </a:lnTo>
                      <a:lnTo>
                        <a:pt x="12" y="49"/>
                      </a:lnTo>
                      <a:lnTo>
                        <a:pt x="16" y="51"/>
                      </a:lnTo>
                      <a:lnTo>
                        <a:pt x="21" y="53"/>
                      </a:lnTo>
                      <a:lnTo>
                        <a:pt x="26" y="53"/>
                      </a:lnTo>
                      <a:lnTo>
                        <a:pt x="32" y="53"/>
                      </a:lnTo>
                      <a:lnTo>
                        <a:pt x="37" y="51"/>
                      </a:lnTo>
                      <a:lnTo>
                        <a:pt x="41" y="49"/>
                      </a:lnTo>
                      <a:lnTo>
                        <a:pt x="46" y="45"/>
                      </a:lnTo>
                      <a:lnTo>
                        <a:pt x="49" y="41"/>
                      </a:lnTo>
                      <a:lnTo>
                        <a:pt x="51" y="37"/>
                      </a:lnTo>
                      <a:lnTo>
                        <a:pt x="53" y="32"/>
                      </a:lnTo>
                      <a:lnTo>
                        <a:pt x="53" y="26"/>
                      </a:lnTo>
                      <a:close/>
                      <a:moveTo>
                        <a:pt x="49" y="26"/>
                      </a:moveTo>
                      <a:lnTo>
                        <a:pt x="49" y="31"/>
                      </a:lnTo>
                      <a:lnTo>
                        <a:pt x="48" y="35"/>
                      </a:lnTo>
                      <a:lnTo>
                        <a:pt x="46" y="39"/>
                      </a:lnTo>
                      <a:lnTo>
                        <a:pt x="42" y="42"/>
                      </a:lnTo>
                      <a:lnTo>
                        <a:pt x="39" y="45"/>
                      </a:lnTo>
                      <a:lnTo>
                        <a:pt x="35" y="48"/>
                      </a:lnTo>
                      <a:lnTo>
                        <a:pt x="31" y="49"/>
                      </a:lnTo>
                      <a:lnTo>
                        <a:pt x="26" y="49"/>
                      </a:lnTo>
                      <a:lnTo>
                        <a:pt x="22" y="49"/>
                      </a:lnTo>
                      <a:lnTo>
                        <a:pt x="18" y="48"/>
                      </a:lnTo>
                      <a:lnTo>
                        <a:pt x="14" y="45"/>
                      </a:lnTo>
                      <a:lnTo>
                        <a:pt x="10" y="42"/>
                      </a:lnTo>
                      <a:lnTo>
                        <a:pt x="8" y="39"/>
                      </a:lnTo>
                      <a:lnTo>
                        <a:pt x="6" y="35"/>
                      </a:lnTo>
                      <a:lnTo>
                        <a:pt x="4" y="31"/>
                      </a:lnTo>
                      <a:lnTo>
                        <a:pt x="4" y="26"/>
                      </a:lnTo>
                      <a:lnTo>
                        <a:pt x="4" y="22"/>
                      </a:lnTo>
                      <a:lnTo>
                        <a:pt x="6" y="18"/>
                      </a:lnTo>
                      <a:lnTo>
                        <a:pt x="8" y="14"/>
                      </a:lnTo>
                      <a:lnTo>
                        <a:pt x="10" y="10"/>
                      </a:lnTo>
                      <a:lnTo>
                        <a:pt x="14" y="8"/>
                      </a:lnTo>
                      <a:lnTo>
                        <a:pt x="18" y="6"/>
                      </a:lnTo>
                      <a:lnTo>
                        <a:pt x="22" y="4"/>
                      </a:lnTo>
                      <a:lnTo>
                        <a:pt x="26" y="4"/>
                      </a:lnTo>
                      <a:lnTo>
                        <a:pt x="31" y="4"/>
                      </a:lnTo>
                      <a:lnTo>
                        <a:pt x="35" y="6"/>
                      </a:lnTo>
                      <a:lnTo>
                        <a:pt x="39" y="8"/>
                      </a:lnTo>
                      <a:lnTo>
                        <a:pt x="42" y="10"/>
                      </a:lnTo>
                      <a:lnTo>
                        <a:pt x="46" y="14"/>
                      </a:lnTo>
                      <a:lnTo>
                        <a:pt x="48" y="18"/>
                      </a:lnTo>
                      <a:lnTo>
                        <a:pt x="49" y="22"/>
                      </a:lnTo>
                      <a:lnTo>
                        <a:pt x="49" y="2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34" name="Freeform 4822"/>
                <p:cNvSpPr>
                  <a:spLocks noChangeAspect="1" noEditPoints="1"/>
                </p:cNvSpPr>
                <p:nvPr/>
              </p:nvSpPr>
              <p:spPr bwMode="auto">
                <a:xfrm>
                  <a:off x="3514" y="3349"/>
                  <a:ext cx="17" cy="16"/>
                </a:xfrm>
                <a:custGeom>
                  <a:avLst/>
                  <a:gdLst>
                    <a:gd name="T0" fmla="*/ 49 w 49"/>
                    <a:gd name="T1" fmla="*/ 20 h 49"/>
                    <a:gd name="T2" fmla="*/ 45 w 49"/>
                    <a:gd name="T3" fmla="*/ 10 h 49"/>
                    <a:gd name="T4" fmla="*/ 38 w 49"/>
                    <a:gd name="T5" fmla="*/ 4 h 49"/>
                    <a:gd name="T6" fmla="*/ 30 w 49"/>
                    <a:gd name="T7" fmla="*/ 1 h 49"/>
                    <a:gd name="T8" fmla="*/ 20 w 49"/>
                    <a:gd name="T9" fmla="*/ 1 h 49"/>
                    <a:gd name="T10" fmla="*/ 11 w 49"/>
                    <a:gd name="T11" fmla="*/ 4 h 49"/>
                    <a:gd name="T12" fmla="*/ 4 w 49"/>
                    <a:gd name="T13" fmla="*/ 10 h 49"/>
                    <a:gd name="T14" fmla="*/ 1 w 49"/>
                    <a:gd name="T15" fmla="*/ 20 h 49"/>
                    <a:gd name="T16" fmla="*/ 1 w 49"/>
                    <a:gd name="T17" fmla="*/ 30 h 49"/>
                    <a:gd name="T18" fmla="*/ 4 w 49"/>
                    <a:gd name="T19" fmla="*/ 38 h 49"/>
                    <a:gd name="T20" fmla="*/ 11 w 49"/>
                    <a:gd name="T21" fmla="*/ 44 h 49"/>
                    <a:gd name="T22" fmla="*/ 20 w 49"/>
                    <a:gd name="T23" fmla="*/ 49 h 49"/>
                    <a:gd name="T24" fmla="*/ 30 w 49"/>
                    <a:gd name="T25" fmla="*/ 49 h 49"/>
                    <a:gd name="T26" fmla="*/ 38 w 49"/>
                    <a:gd name="T27" fmla="*/ 44 h 49"/>
                    <a:gd name="T28" fmla="*/ 45 w 49"/>
                    <a:gd name="T29" fmla="*/ 38 h 49"/>
                    <a:gd name="T30" fmla="*/ 49 w 49"/>
                    <a:gd name="T31" fmla="*/ 30 h 49"/>
                    <a:gd name="T32" fmla="*/ 45 w 49"/>
                    <a:gd name="T33" fmla="*/ 24 h 49"/>
                    <a:gd name="T34" fmla="*/ 44 w 49"/>
                    <a:gd name="T35" fmla="*/ 33 h 49"/>
                    <a:gd name="T36" fmla="*/ 39 w 49"/>
                    <a:gd name="T37" fmla="*/ 39 h 49"/>
                    <a:gd name="T38" fmla="*/ 33 w 49"/>
                    <a:gd name="T39" fmla="*/ 43 h 49"/>
                    <a:gd name="T40" fmla="*/ 24 w 49"/>
                    <a:gd name="T41" fmla="*/ 46 h 49"/>
                    <a:gd name="T42" fmla="*/ 17 w 49"/>
                    <a:gd name="T43" fmla="*/ 43 h 49"/>
                    <a:gd name="T44" fmla="*/ 11 w 49"/>
                    <a:gd name="T45" fmla="*/ 39 h 49"/>
                    <a:gd name="T46" fmla="*/ 5 w 49"/>
                    <a:gd name="T47" fmla="*/ 33 h 49"/>
                    <a:gd name="T48" fmla="*/ 4 w 49"/>
                    <a:gd name="T49" fmla="*/ 24 h 49"/>
                    <a:gd name="T50" fmla="*/ 5 w 49"/>
                    <a:gd name="T51" fmla="*/ 17 h 49"/>
                    <a:gd name="T52" fmla="*/ 11 w 49"/>
                    <a:gd name="T53" fmla="*/ 10 h 49"/>
                    <a:gd name="T54" fmla="*/ 17 w 49"/>
                    <a:gd name="T55" fmla="*/ 5 h 49"/>
                    <a:gd name="T56" fmla="*/ 24 w 49"/>
                    <a:gd name="T57" fmla="*/ 4 h 49"/>
                    <a:gd name="T58" fmla="*/ 33 w 49"/>
                    <a:gd name="T59" fmla="*/ 5 h 49"/>
                    <a:gd name="T60" fmla="*/ 39 w 49"/>
                    <a:gd name="T61" fmla="*/ 10 h 49"/>
                    <a:gd name="T62" fmla="*/ 44 w 49"/>
                    <a:gd name="T63" fmla="*/ 17 h 49"/>
                    <a:gd name="T64" fmla="*/ 45 w 49"/>
                    <a:gd name="T65"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9" h="49">
                      <a:moveTo>
                        <a:pt x="49" y="24"/>
                      </a:moveTo>
                      <a:lnTo>
                        <a:pt x="49" y="20"/>
                      </a:lnTo>
                      <a:lnTo>
                        <a:pt x="48" y="15"/>
                      </a:lnTo>
                      <a:lnTo>
                        <a:pt x="45" y="10"/>
                      </a:lnTo>
                      <a:lnTo>
                        <a:pt x="43" y="7"/>
                      </a:lnTo>
                      <a:lnTo>
                        <a:pt x="38" y="4"/>
                      </a:lnTo>
                      <a:lnTo>
                        <a:pt x="34" y="2"/>
                      </a:lnTo>
                      <a:lnTo>
                        <a:pt x="30" y="1"/>
                      </a:lnTo>
                      <a:lnTo>
                        <a:pt x="24" y="0"/>
                      </a:lnTo>
                      <a:lnTo>
                        <a:pt x="20" y="1"/>
                      </a:lnTo>
                      <a:lnTo>
                        <a:pt x="15" y="2"/>
                      </a:lnTo>
                      <a:lnTo>
                        <a:pt x="11" y="4"/>
                      </a:lnTo>
                      <a:lnTo>
                        <a:pt x="7" y="7"/>
                      </a:lnTo>
                      <a:lnTo>
                        <a:pt x="4" y="10"/>
                      </a:lnTo>
                      <a:lnTo>
                        <a:pt x="2" y="15"/>
                      </a:lnTo>
                      <a:lnTo>
                        <a:pt x="1" y="20"/>
                      </a:lnTo>
                      <a:lnTo>
                        <a:pt x="0" y="24"/>
                      </a:lnTo>
                      <a:lnTo>
                        <a:pt x="1" y="30"/>
                      </a:lnTo>
                      <a:lnTo>
                        <a:pt x="2" y="34"/>
                      </a:lnTo>
                      <a:lnTo>
                        <a:pt x="4" y="38"/>
                      </a:lnTo>
                      <a:lnTo>
                        <a:pt x="7" y="42"/>
                      </a:lnTo>
                      <a:lnTo>
                        <a:pt x="11" y="44"/>
                      </a:lnTo>
                      <a:lnTo>
                        <a:pt x="15" y="48"/>
                      </a:lnTo>
                      <a:lnTo>
                        <a:pt x="20" y="49"/>
                      </a:lnTo>
                      <a:lnTo>
                        <a:pt x="24" y="49"/>
                      </a:lnTo>
                      <a:lnTo>
                        <a:pt x="30" y="49"/>
                      </a:lnTo>
                      <a:lnTo>
                        <a:pt x="34" y="48"/>
                      </a:lnTo>
                      <a:lnTo>
                        <a:pt x="38" y="44"/>
                      </a:lnTo>
                      <a:lnTo>
                        <a:pt x="43" y="42"/>
                      </a:lnTo>
                      <a:lnTo>
                        <a:pt x="45" y="38"/>
                      </a:lnTo>
                      <a:lnTo>
                        <a:pt x="48" y="34"/>
                      </a:lnTo>
                      <a:lnTo>
                        <a:pt x="49" y="30"/>
                      </a:lnTo>
                      <a:lnTo>
                        <a:pt x="49" y="24"/>
                      </a:lnTo>
                      <a:close/>
                      <a:moveTo>
                        <a:pt x="45" y="24"/>
                      </a:moveTo>
                      <a:lnTo>
                        <a:pt x="45" y="29"/>
                      </a:lnTo>
                      <a:lnTo>
                        <a:pt x="44" y="33"/>
                      </a:lnTo>
                      <a:lnTo>
                        <a:pt x="41" y="36"/>
                      </a:lnTo>
                      <a:lnTo>
                        <a:pt x="39" y="39"/>
                      </a:lnTo>
                      <a:lnTo>
                        <a:pt x="36" y="41"/>
                      </a:lnTo>
                      <a:lnTo>
                        <a:pt x="33" y="43"/>
                      </a:lnTo>
                      <a:lnTo>
                        <a:pt x="29" y="44"/>
                      </a:lnTo>
                      <a:lnTo>
                        <a:pt x="24" y="46"/>
                      </a:lnTo>
                      <a:lnTo>
                        <a:pt x="20" y="44"/>
                      </a:lnTo>
                      <a:lnTo>
                        <a:pt x="17" y="43"/>
                      </a:lnTo>
                      <a:lnTo>
                        <a:pt x="13" y="41"/>
                      </a:lnTo>
                      <a:lnTo>
                        <a:pt x="11" y="39"/>
                      </a:lnTo>
                      <a:lnTo>
                        <a:pt x="7" y="36"/>
                      </a:lnTo>
                      <a:lnTo>
                        <a:pt x="5" y="33"/>
                      </a:lnTo>
                      <a:lnTo>
                        <a:pt x="4" y="29"/>
                      </a:lnTo>
                      <a:lnTo>
                        <a:pt x="4" y="24"/>
                      </a:lnTo>
                      <a:lnTo>
                        <a:pt x="4" y="20"/>
                      </a:lnTo>
                      <a:lnTo>
                        <a:pt x="5" y="17"/>
                      </a:lnTo>
                      <a:lnTo>
                        <a:pt x="7" y="13"/>
                      </a:lnTo>
                      <a:lnTo>
                        <a:pt x="11" y="10"/>
                      </a:lnTo>
                      <a:lnTo>
                        <a:pt x="13" y="7"/>
                      </a:lnTo>
                      <a:lnTo>
                        <a:pt x="17" y="5"/>
                      </a:lnTo>
                      <a:lnTo>
                        <a:pt x="20" y="4"/>
                      </a:lnTo>
                      <a:lnTo>
                        <a:pt x="24" y="4"/>
                      </a:lnTo>
                      <a:lnTo>
                        <a:pt x="29" y="4"/>
                      </a:lnTo>
                      <a:lnTo>
                        <a:pt x="33" y="5"/>
                      </a:lnTo>
                      <a:lnTo>
                        <a:pt x="36" y="7"/>
                      </a:lnTo>
                      <a:lnTo>
                        <a:pt x="39" y="10"/>
                      </a:lnTo>
                      <a:lnTo>
                        <a:pt x="41" y="13"/>
                      </a:lnTo>
                      <a:lnTo>
                        <a:pt x="44" y="17"/>
                      </a:lnTo>
                      <a:lnTo>
                        <a:pt x="45" y="20"/>
                      </a:lnTo>
                      <a:lnTo>
                        <a:pt x="45" y="2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35" name="Freeform 4823"/>
                <p:cNvSpPr>
                  <a:spLocks noChangeAspect="1" noEditPoints="1"/>
                </p:cNvSpPr>
                <p:nvPr/>
              </p:nvSpPr>
              <p:spPr bwMode="auto">
                <a:xfrm>
                  <a:off x="3515" y="3350"/>
                  <a:ext cx="15" cy="15"/>
                </a:xfrm>
                <a:custGeom>
                  <a:avLst/>
                  <a:gdLst>
                    <a:gd name="T0" fmla="*/ 45 w 45"/>
                    <a:gd name="T1" fmla="*/ 18 h 45"/>
                    <a:gd name="T2" fmla="*/ 42 w 45"/>
                    <a:gd name="T3" fmla="*/ 10 h 45"/>
                    <a:gd name="T4" fmla="*/ 35 w 45"/>
                    <a:gd name="T5" fmla="*/ 4 h 45"/>
                    <a:gd name="T6" fmla="*/ 27 w 45"/>
                    <a:gd name="T7" fmla="*/ 0 h 45"/>
                    <a:gd name="T8" fmla="*/ 18 w 45"/>
                    <a:gd name="T9" fmla="*/ 0 h 45"/>
                    <a:gd name="T10" fmla="*/ 10 w 45"/>
                    <a:gd name="T11" fmla="*/ 4 h 45"/>
                    <a:gd name="T12" fmla="*/ 4 w 45"/>
                    <a:gd name="T13" fmla="*/ 10 h 45"/>
                    <a:gd name="T14" fmla="*/ 0 w 45"/>
                    <a:gd name="T15" fmla="*/ 18 h 45"/>
                    <a:gd name="T16" fmla="*/ 0 w 45"/>
                    <a:gd name="T17" fmla="*/ 27 h 45"/>
                    <a:gd name="T18" fmla="*/ 4 w 45"/>
                    <a:gd name="T19" fmla="*/ 35 h 45"/>
                    <a:gd name="T20" fmla="*/ 10 w 45"/>
                    <a:gd name="T21" fmla="*/ 41 h 45"/>
                    <a:gd name="T22" fmla="*/ 18 w 45"/>
                    <a:gd name="T23" fmla="*/ 45 h 45"/>
                    <a:gd name="T24" fmla="*/ 27 w 45"/>
                    <a:gd name="T25" fmla="*/ 45 h 45"/>
                    <a:gd name="T26" fmla="*/ 35 w 45"/>
                    <a:gd name="T27" fmla="*/ 41 h 45"/>
                    <a:gd name="T28" fmla="*/ 42 w 45"/>
                    <a:gd name="T29" fmla="*/ 35 h 45"/>
                    <a:gd name="T30" fmla="*/ 45 w 45"/>
                    <a:gd name="T31" fmla="*/ 27 h 45"/>
                    <a:gd name="T32" fmla="*/ 42 w 45"/>
                    <a:gd name="T33" fmla="*/ 22 h 45"/>
                    <a:gd name="T34" fmla="*/ 39 w 45"/>
                    <a:gd name="T35" fmla="*/ 30 h 45"/>
                    <a:gd name="T36" fmla="*/ 35 w 45"/>
                    <a:gd name="T37" fmla="*/ 35 h 45"/>
                    <a:gd name="T38" fmla="*/ 30 w 45"/>
                    <a:gd name="T39" fmla="*/ 39 h 45"/>
                    <a:gd name="T40" fmla="*/ 22 w 45"/>
                    <a:gd name="T41" fmla="*/ 41 h 45"/>
                    <a:gd name="T42" fmla="*/ 15 w 45"/>
                    <a:gd name="T43" fmla="*/ 39 h 45"/>
                    <a:gd name="T44" fmla="*/ 10 w 45"/>
                    <a:gd name="T45" fmla="*/ 35 h 45"/>
                    <a:gd name="T46" fmla="*/ 5 w 45"/>
                    <a:gd name="T47" fmla="*/ 30 h 45"/>
                    <a:gd name="T48" fmla="*/ 4 w 45"/>
                    <a:gd name="T49" fmla="*/ 22 h 45"/>
                    <a:gd name="T50" fmla="*/ 5 w 45"/>
                    <a:gd name="T51" fmla="*/ 15 h 45"/>
                    <a:gd name="T52" fmla="*/ 10 w 45"/>
                    <a:gd name="T53" fmla="*/ 10 h 45"/>
                    <a:gd name="T54" fmla="*/ 15 w 45"/>
                    <a:gd name="T55" fmla="*/ 5 h 45"/>
                    <a:gd name="T56" fmla="*/ 22 w 45"/>
                    <a:gd name="T57" fmla="*/ 4 h 45"/>
                    <a:gd name="T58" fmla="*/ 30 w 45"/>
                    <a:gd name="T59" fmla="*/ 5 h 45"/>
                    <a:gd name="T60" fmla="*/ 35 w 45"/>
                    <a:gd name="T61" fmla="*/ 10 h 45"/>
                    <a:gd name="T62" fmla="*/ 39 w 45"/>
                    <a:gd name="T63" fmla="*/ 15 h 45"/>
                    <a:gd name="T64" fmla="*/ 42 w 45"/>
                    <a:gd name="T65"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5" h="45">
                      <a:moveTo>
                        <a:pt x="45" y="22"/>
                      </a:moveTo>
                      <a:lnTo>
                        <a:pt x="45" y="18"/>
                      </a:lnTo>
                      <a:lnTo>
                        <a:pt x="44" y="14"/>
                      </a:lnTo>
                      <a:lnTo>
                        <a:pt x="42" y="10"/>
                      </a:lnTo>
                      <a:lnTo>
                        <a:pt x="38" y="6"/>
                      </a:lnTo>
                      <a:lnTo>
                        <a:pt x="35" y="4"/>
                      </a:lnTo>
                      <a:lnTo>
                        <a:pt x="31" y="2"/>
                      </a:lnTo>
                      <a:lnTo>
                        <a:pt x="27" y="0"/>
                      </a:lnTo>
                      <a:lnTo>
                        <a:pt x="22" y="0"/>
                      </a:lnTo>
                      <a:lnTo>
                        <a:pt x="18" y="0"/>
                      </a:lnTo>
                      <a:lnTo>
                        <a:pt x="14" y="2"/>
                      </a:lnTo>
                      <a:lnTo>
                        <a:pt x="10" y="4"/>
                      </a:lnTo>
                      <a:lnTo>
                        <a:pt x="6" y="6"/>
                      </a:lnTo>
                      <a:lnTo>
                        <a:pt x="4" y="10"/>
                      </a:lnTo>
                      <a:lnTo>
                        <a:pt x="2" y="14"/>
                      </a:lnTo>
                      <a:lnTo>
                        <a:pt x="0" y="18"/>
                      </a:lnTo>
                      <a:lnTo>
                        <a:pt x="0" y="22"/>
                      </a:lnTo>
                      <a:lnTo>
                        <a:pt x="0" y="27"/>
                      </a:lnTo>
                      <a:lnTo>
                        <a:pt x="2" y="31"/>
                      </a:lnTo>
                      <a:lnTo>
                        <a:pt x="4" y="35"/>
                      </a:lnTo>
                      <a:lnTo>
                        <a:pt x="6" y="38"/>
                      </a:lnTo>
                      <a:lnTo>
                        <a:pt x="10" y="41"/>
                      </a:lnTo>
                      <a:lnTo>
                        <a:pt x="14" y="44"/>
                      </a:lnTo>
                      <a:lnTo>
                        <a:pt x="18" y="45"/>
                      </a:lnTo>
                      <a:lnTo>
                        <a:pt x="22" y="45"/>
                      </a:lnTo>
                      <a:lnTo>
                        <a:pt x="27" y="45"/>
                      </a:lnTo>
                      <a:lnTo>
                        <a:pt x="31" y="44"/>
                      </a:lnTo>
                      <a:lnTo>
                        <a:pt x="35" y="41"/>
                      </a:lnTo>
                      <a:lnTo>
                        <a:pt x="38" y="38"/>
                      </a:lnTo>
                      <a:lnTo>
                        <a:pt x="42" y="35"/>
                      </a:lnTo>
                      <a:lnTo>
                        <a:pt x="44" y="31"/>
                      </a:lnTo>
                      <a:lnTo>
                        <a:pt x="45" y="27"/>
                      </a:lnTo>
                      <a:lnTo>
                        <a:pt x="45" y="22"/>
                      </a:lnTo>
                      <a:close/>
                      <a:moveTo>
                        <a:pt x="42" y="22"/>
                      </a:moveTo>
                      <a:lnTo>
                        <a:pt x="41" y="27"/>
                      </a:lnTo>
                      <a:lnTo>
                        <a:pt x="39" y="30"/>
                      </a:lnTo>
                      <a:lnTo>
                        <a:pt x="38" y="33"/>
                      </a:lnTo>
                      <a:lnTo>
                        <a:pt x="35" y="35"/>
                      </a:lnTo>
                      <a:lnTo>
                        <a:pt x="33" y="38"/>
                      </a:lnTo>
                      <a:lnTo>
                        <a:pt x="30" y="39"/>
                      </a:lnTo>
                      <a:lnTo>
                        <a:pt x="27" y="40"/>
                      </a:lnTo>
                      <a:lnTo>
                        <a:pt x="22" y="41"/>
                      </a:lnTo>
                      <a:lnTo>
                        <a:pt x="19" y="40"/>
                      </a:lnTo>
                      <a:lnTo>
                        <a:pt x="15" y="39"/>
                      </a:lnTo>
                      <a:lnTo>
                        <a:pt x="12" y="38"/>
                      </a:lnTo>
                      <a:lnTo>
                        <a:pt x="10" y="35"/>
                      </a:lnTo>
                      <a:lnTo>
                        <a:pt x="8" y="33"/>
                      </a:lnTo>
                      <a:lnTo>
                        <a:pt x="5" y="30"/>
                      </a:lnTo>
                      <a:lnTo>
                        <a:pt x="4" y="27"/>
                      </a:lnTo>
                      <a:lnTo>
                        <a:pt x="4" y="22"/>
                      </a:lnTo>
                      <a:lnTo>
                        <a:pt x="4" y="19"/>
                      </a:lnTo>
                      <a:lnTo>
                        <a:pt x="5" y="15"/>
                      </a:lnTo>
                      <a:lnTo>
                        <a:pt x="8" y="13"/>
                      </a:lnTo>
                      <a:lnTo>
                        <a:pt x="10" y="10"/>
                      </a:lnTo>
                      <a:lnTo>
                        <a:pt x="12" y="7"/>
                      </a:lnTo>
                      <a:lnTo>
                        <a:pt x="15" y="5"/>
                      </a:lnTo>
                      <a:lnTo>
                        <a:pt x="19" y="4"/>
                      </a:lnTo>
                      <a:lnTo>
                        <a:pt x="22" y="4"/>
                      </a:lnTo>
                      <a:lnTo>
                        <a:pt x="27" y="4"/>
                      </a:lnTo>
                      <a:lnTo>
                        <a:pt x="30" y="5"/>
                      </a:lnTo>
                      <a:lnTo>
                        <a:pt x="33" y="7"/>
                      </a:lnTo>
                      <a:lnTo>
                        <a:pt x="35" y="10"/>
                      </a:lnTo>
                      <a:lnTo>
                        <a:pt x="38" y="13"/>
                      </a:lnTo>
                      <a:lnTo>
                        <a:pt x="39" y="15"/>
                      </a:lnTo>
                      <a:lnTo>
                        <a:pt x="41" y="19"/>
                      </a:lnTo>
                      <a:lnTo>
                        <a:pt x="42" y="2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36" name="Freeform 4824"/>
                <p:cNvSpPr>
                  <a:spLocks noChangeAspect="1" noEditPoints="1"/>
                </p:cNvSpPr>
                <p:nvPr/>
              </p:nvSpPr>
              <p:spPr bwMode="auto">
                <a:xfrm>
                  <a:off x="3516" y="3350"/>
                  <a:ext cx="13" cy="14"/>
                </a:xfrm>
                <a:custGeom>
                  <a:avLst/>
                  <a:gdLst>
                    <a:gd name="T0" fmla="*/ 41 w 41"/>
                    <a:gd name="T1" fmla="*/ 16 h 40"/>
                    <a:gd name="T2" fmla="*/ 37 w 41"/>
                    <a:gd name="T3" fmla="*/ 9 h 40"/>
                    <a:gd name="T4" fmla="*/ 32 w 41"/>
                    <a:gd name="T5" fmla="*/ 3 h 40"/>
                    <a:gd name="T6" fmla="*/ 25 w 41"/>
                    <a:gd name="T7" fmla="*/ 0 h 40"/>
                    <a:gd name="T8" fmla="*/ 16 w 41"/>
                    <a:gd name="T9" fmla="*/ 0 h 40"/>
                    <a:gd name="T10" fmla="*/ 9 w 41"/>
                    <a:gd name="T11" fmla="*/ 3 h 40"/>
                    <a:gd name="T12" fmla="*/ 3 w 41"/>
                    <a:gd name="T13" fmla="*/ 9 h 40"/>
                    <a:gd name="T14" fmla="*/ 0 w 41"/>
                    <a:gd name="T15" fmla="*/ 16 h 40"/>
                    <a:gd name="T16" fmla="*/ 0 w 41"/>
                    <a:gd name="T17" fmla="*/ 25 h 40"/>
                    <a:gd name="T18" fmla="*/ 3 w 41"/>
                    <a:gd name="T19" fmla="*/ 32 h 40"/>
                    <a:gd name="T20" fmla="*/ 9 w 41"/>
                    <a:gd name="T21" fmla="*/ 37 h 40"/>
                    <a:gd name="T22" fmla="*/ 16 w 41"/>
                    <a:gd name="T23" fmla="*/ 40 h 40"/>
                    <a:gd name="T24" fmla="*/ 25 w 41"/>
                    <a:gd name="T25" fmla="*/ 40 h 40"/>
                    <a:gd name="T26" fmla="*/ 32 w 41"/>
                    <a:gd name="T27" fmla="*/ 37 h 40"/>
                    <a:gd name="T28" fmla="*/ 37 w 41"/>
                    <a:gd name="T29" fmla="*/ 32 h 40"/>
                    <a:gd name="T30" fmla="*/ 41 w 41"/>
                    <a:gd name="T31" fmla="*/ 25 h 40"/>
                    <a:gd name="T32" fmla="*/ 37 w 41"/>
                    <a:gd name="T33" fmla="*/ 20 h 40"/>
                    <a:gd name="T34" fmla="*/ 35 w 41"/>
                    <a:gd name="T35" fmla="*/ 27 h 40"/>
                    <a:gd name="T36" fmla="*/ 32 w 41"/>
                    <a:gd name="T37" fmla="*/ 32 h 40"/>
                    <a:gd name="T38" fmla="*/ 27 w 41"/>
                    <a:gd name="T39" fmla="*/ 35 h 40"/>
                    <a:gd name="T40" fmla="*/ 20 w 41"/>
                    <a:gd name="T41" fmla="*/ 37 h 40"/>
                    <a:gd name="T42" fmla="*/ 14 w 41"/>
                    <a:gd name="T43" fmla="*/ 35 h 40"/>
                    <a:gd name="T44" fmla="*/ 9 w 41"/>
                    <a:gd name="T45" fmla="*/ 32 h 40"/>
                    <a:gd name="T46" fmla="*/ 6 w 41"/>
                    <a:gd name="T47" fmla="*/ 27 h 40"/>
                    <a:gd name="T48" fmla="*/ 4 w 41"/>
                    <a:gd name="T49" fmla="*/ 20 h 40"/>
                    <a:gd name="T50" fmla="*/ 6 w 41"/>
                    <a:gd name="T51" fmla="*/ 14 h 40"/>
                    <a:gd name="T52" fmla="*/ 9 w 41"/>
                    <a:gd name="T53" fmla="*/ 9 h 40"/>
                    <a:gd name="T54" fmla="*/ 14 w 41"/>
                    <a:gd name="T55" fmla="*/ 5 h 40"/>
                    <a:gd name="T56" fmla="*/ 20 w 41"/>
                    <a:gd name="T57" fmla="*/ 4 h 40"/>
                    <a:gd name="T58" fmla="*/ 27 w 41"/>
                    <a:gd name="T59" fmla="*/ 5 h 40"/>
                    <a:gd name="T60" fmla="*/ 32 w 41"/>
                    <a:gd name="T61" fmla="*/ 9 h 40"/>
                    <a:gd name="T62" fmla="*/ 35 w 41"/>
                    <a:gd name="T63" fmla="*/ 14 h 40"/>
                    <a:gd name="T64" fmla="*/ 37 w 41"/>
                    <a:gd name="T65"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 h="40">
                      <a:moveTo>
                        <a:pt x="41" y="20"/>
                      </a:moveTo>
                      <a:lnTo>
                        <a:pt x="41" y="16"/>
                      </a:lnTo>
                      <a:lnTo>
                        <a:pt x="40" y="13"/>
                      </a:lnTo>
                      <a:lnTo>
                        <a:pt x="37" y="9"/>
                      </a:lnTo>
                      <a:lnTo>
                        <a:pt x="35" y="6"/>
                      </a:lnTo>
                      <a:lnTo>
                        <a:pt x="32" y="3"/>
                      </a:lnTo>
                      <a:lnTo>
                        <a:pt x="29" y="1"/>
                      </a:lnTo>
                      <a:lnTo>
                        <a:pt x="25" y="0"/>
                      </a:lnTo>
                      <a:lnTo>
                        <a:pt x="20" y="0"/>
                      </a:lnTo>
                      <a:lnTo>
                        <a:pt x="16" y="0"/>
                      </a:lnTo>
                      <a:lnTo>
                        <a:pt x="13" y="1"/>
                      </a:lnTo>
                      <a:lnTo>
                        <a:pt x="9" y="3"/>
                      </a:lnTo>
                      <a:lnTo>
                        <a:pt x="7" y="6"/>
                      </a:lnTo>
                      <a:lnTo>
                        <a:pt x="3" y="9"/>
                      </a:lnTo>
                      <a:lnTo>
                        <a:pt x="1" y="13"/>
                      </a:lnTo>
                      <a:lnTo>
                        <a:pt x="0" y="16"/>
                      </a:lnTo>
                      <a:lnTo>
                        <a:pt x="0" y="20"/>
                      </a:lnTo>
                      <a:lnTo>
                        <a:pt x="0" y="25"/>
                      </a:lnTo>
                      <a:lnTo>
                        <a:pt x="1" y="29"/>
                      </a:lnTo>
                      <a:lnTo>
                        <a:pt x="3" y="32"/>
                      </a:lnTo>
                      <a:lnTo>
                        <a:pt x="7" y="35"/>
                      </a:lnTo>
                      <a:lnTo>
                        <a:pt x="9" y="37"/>
                      </a:lnTo>
                      <a:lnTo>
                        <a:pt x="13" y="39"/>
                      </a:lnTo>
                      <a:lnTo>
                        <a:pt x="16" y="40"/>
                      </a:lnTo>
                      <a:lnTo>
                        <a:pt x="20" y="40"/>
                      </a:lnTo>
                      <a:lnTo>
                        <a:pt x="25" y="40"/>
                      </a:lnTo>
                      <a:lnTo>
                        <a:pt x="29" y="39"/>
                      </a:lnTo>
                      <a:lnTo>
                        <a:pt x="32" y="37"/>
                      </a:lnTo>
                      <a:lnTo>
                        <a:pt x="35" y="35"/>
                      </a:lnTo>
                      <a:lnTo>
                        <a:pt x="37" y="32"/>
                      </a:lnTo>
                      <a:lnTo>
                        <a:pt x="40" y="29"/>
                      </a:lnTo>
                      <a:lnTo>
                        <a:pt x="41" y="25"/>
                      </a:lnTo>
                      <a:lnTo>
                        <a:pt x="41" y="20"/>
                      </a:lnTo>
                      <a:close/>
                      <a:moveTo>
                        <a:pt x="37" y="20"/>
                      </a:moveTo>
                      <a:lnTo>
                        <a:pt x="36" y="23"/>
                      </a:lnTo>
                      <a:lnTo>
                        <a:pt x="35" y="27"/>
                      </a:lnTo>
                      <a:lnTo>
                        <a:pt x="34" y="30"/>
                      </a:lnTo>
                      <a:lnTo>
                        <a:pt x="32" y="32"/>
                      </a:lnTo>
                      <a:lnTo>
                        <a:pt x="30" y="34"/>
                      </a:lnTo>
                      <a:lnTo>
                        <a:pt x="27" y="35"/>
                      </a:lnTo>
                      <a:lnTo>
                        <a:pt x="24" y="36"/>
                      </a:lnTo>
                      <a:lnTo>
                        <a:pt x="20" y="37"/>
                      </a:lnTo>
                      <a:lnTo>
                        <a:pt x="17" y="36"/>
                      </a:lnTo>
                      <a:lnTo>
                        <a:pt x="14" y="35"/>
                      </a:lnTo>
                      <a:lnTo>
                        <a:pt x="12" y="34"/>
                      </a:lnTo>
                      <a:lnTo>
                        <a:pt x="9" y="32"/>
                      </a:lnTo>
                      <a:lnTo>
                        <a:pt x="7" y="30"/>
                      </a:lnTo>
                      <a:lnTo>
                        <a:pt x="6" y="27"/>
                      </a:lnTo>
                      <a:lnTo>
                        <a:pt x="4" y="23"/>
                      </a:lnTo>
                      <a:lnTo>
                        <a:pt x="4" y="20"/>
                      </a:lnTo>
                      <a:lnTo>
                        <a:pt x="4" y="17"/>
                      </a:lnTo>
                      <a:lnTo>
                        <a:pt x="6" y="14"/>
                      </a:lnTo>
                      <a:lnTo>
                        <a:pt x="7" y="12"/>
                      </a:lnTo>
                      <a:lnTo>
                        <a:pt x="9" y="9"/>
                      </a:lnTo>
                      <a:lnTo>
                        <a:pt x="12" y="6"/>
                      </a:lnTo>
                      <a:lnTo>
                        <a:pt x="14" y="5"/>
                      </a:lnTo>
                      <a:lnTo>
                        <a:pt x="17" y="4"/>
                      </a:lnTo>
                      <a:lnTo>
                        <a:pt x="20" y="4"/>
                      </a:lnTo>
                      <a:lnTo>
                        <a:pt x="24" y="4"/>
                      </a:lnTo>
                      <a:lnTo>
                        <a:pt x="27" y="5"/>
                      </a:lnTo>
                      <a:lnTo>
                        <a:pt x="30" y="6"/>
                      </a:lnTo>
                      <a:lnTo>
                        <a:pt x="32" y="9"/>
                      </a:lnTo>
                      <a:lnTo>
                        <a:pt x="34" y="12"/>
                      </a:lnTo>
                      <a:lnTo>
                        <a:pt x="35" y="14"/>
                      </a:lnTo>
                      <a:lnTo>
                        <a:pt x="36" y="17"/>
                      </a:lnTo>
                      <a:lnTo>
                        <a:pt x="37" y="2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37" name="Freeform 4825"/>
                <p:cNvSpPr>
                  <a:spLocks noChangeAspect="1" noEditPoints="1"/>
                </p:cNvSpPr>
                <p:nvPr/>
              </p:nvSpPr>
              <p:spPr bwMode="auto">
                <a:xfrm>
                  <a:off x="3516" y="3351"/>
                  <a:ext cx="13" cy="13"/>
                </a:xfrm>
                <a:custGeom>
                  <a:avLst/>
                  <a:gdLst>
                    <a:gd name="T0" fmla="*/ 37 w 38"/>
                    <a:gd name="T1" fmla="*/ 15 h 37"/>
                    <a:gd name="T2" fmla="*/ 34 w 38"/>
                    <a:gd name="T3" fmla="*/ 9 h 37"/>
                    <a:gd name="T4" fmla="*/ 29 w 38"/>
                    <a:gd name="T5" fmla="*/ 3 h 37"/>
                    <a:gd name="T6" fmla="*/ 23 w 38"/>
                    <a:gd name="T7" fmla="*/ 0 h 37"/>
                    <a:gd name="T8" fmla="*/ 15 w 38"/>
                    <a:gd name="T9" fmla="*/ 0 h 37"/>
                    <a:gd name="T10" fmla="*/ 8 w 38"/>
                    <a:gd name="T11" fmla="*/ 3 h 37"/>
                    <a:gd name="T12" fmla="*/ 4 w 38"/>
                    <a:gd name="T13" fmla="*/ 9 h 37"/>
                    <a:gd name="T14" fmla="*/ 0 w 38"/>
                    <a:gd name="T15" fmla="*/ 15 h 37"/>
                    <a:gd name="T16" fmla="*/ 0 w 38"/>
                    <a:gd name="T17" fmla="*/ 23 h 37"/>
                    <a:gd name="T18" fmla="*/ 4 w 38"/>
                    <a:gd name="T19" fmla="*/ 29 h 37"/>
                    <a:gd name="T20" fmla="*/ 8 w 38"/>
                    <a:gd name="T21" fmla="*/ 34 h 37"/>
                    <a:gd name="T22" fmla="*/ 15 w 38"/>
                    <a:gd name="T23" fmla="*/ 36 h 37"/>
                    <a:gd name="T24" fmla="*/ 23 w 38"/>
                    <a:gd name="T25" fmla="*/ 36 h 37"/>
                    <a:gd name="T26" fmla="*/ 29 w 38"/>
                    <a:gd name="T27" fmla="*/ 34 h 37"/>
                    <a:gd name="T28" fmla="*/ 34 w 38"/>
                    <a:gd name="T29" fmla="*/ 29 h 37"/>
                    <a:gd name="T30" fmla="*/ 37 w 38"/>
                    <a:gd name="T31" fmla="*/ 23 h 37"/>
                    <a:gd name="T32" fmla="*/ 33 w 38"/>
                    <a:gd name="T33" fmla="*/ 18 h 37"/>
                    <a:gd name="T34" fmla="*/ 32 w 38"/>
                    <a:gd name="T35" fmla="*/ 24 h 37"/>
                    <a:gd name="T36" fmla="*/ 29 w 38"/>
                    <a:gd name="T37" fmla="*/ 29 h 37"/>
                    <a:gd name="T38" fmla="*/ 24 w 38"/>
                    <a:gd name="T39" fmla="*/ 32 h 37"/>
                    <a:gd name="T40" fmla="*/ 18 w 38"/>
                    <a:gd name="T41" fmla="*/ 33 h 37"/>
                    <a:gd name="T42" fmla="*/ 13 w 38"/>
                    <a:gd name="T43" fmla="*/ 32 h 37"/>
                    <a:gd name="T44" fmla="*/ 9 w 38"/>
                    <a:gd name="T45" fmla="*/ 29 h 37"/>
                    <a:gd name="T46" fmla="*/ 6 w 38"/>
                    <a:gd name="T47" fmla="*/ 24 h 37"/>
                    <a:gd name="T48" fmla="*/ 5 w 38"/>
                    <a:gd name="T49" fmla="*/ 18 h 37"/>
                    <a:gd name="T50" fmla="*/ 6 w 38"/>
                    <a:gd name="T51" fmla="*/ 13 h 37"/>
                    <a:gd name="T52" fmla="*/ 9 w 38"/>
                    <a:gd name="T53" fmla="*/ 9 h 37"/>
                    <a:gd name="T54" fmla="*/ 13 w 38"/>
                    <a:gd name="T55" fmla="*/ 6 h 37"/>
                    <a:gd name="T56" fmla="*/ 18 w 38"/>
                    <a:gd name="T57" fmla="*/ 4 h 37"/>
                    <a:gd name="T58" fmla="*/ 24 w 38"/>
                    <a:gd name="T59" fmla="*/ 6 h 37"/>
                    <a:gd name="T60" fmla="*/ 29 w 38"/>
                    <a:gd name="T61" fmla="*/ 9 h 37"/>
                    <a:gd name="T62" fmla="*/ 32 w 38"/>
                    <a:gd name="T63" fmla="*/ 13 h 37"/>
                    <a:gd name="T64" fmla="*/ 33 w 38"/>
                    <a:gd name="T65" fmla="*/ 1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 h="37">
                      <a:moveTo>
                        <a:pt x="38" y="18"/>
                      </a:moveTo>
                      <a:lnTo>
                        <a:pt x="37" y="15"/>
                      </a:lnTo>
                      <a:lnTo>
                        <a:pt x="35" y="11"/>
                      </a:lnTo>
                      <a:lnTo>
                        <a:pt x="34" y="9"/>
                      </a:lnTo>
                      <a:lnTo>
                        <a:pt x="31" y="6"/>
                      </a:lnTo>
                      <a:lnTo>
                        <a:pt x="29" y="3"/>
                      </a:lnTo>
                      <a:lnTo>
                        <a:pt x="26" y="1"/>
                      </a:lnTo>
                      <a:lnTo>
                        <a:pt x="23" y="0"/>
                      </a:lnTo>
                      <a:lnTo>
                        <a:pt x="18" y="0"/>
                      </a:lnTo>
                      <a:lnTo>
                        <a:pt x="15" y="0"/>
                      </a:lnTo>
                      <a:lnTo>
                        <a:pt x="11" y="1"/>
                      </a:lnTo>
                      <a:lnTo>
                        <a:pt x="8" y="3"/>
                      </a:lnTo>
                      <a:lnTo>
                        <a:pt x="6" y="6"/>
                      </a:lnTo>
                      <a:lnTo>
                        <a:pt x="4" y="9"/>
                      </a:lnTo>
                      <a:lnTo>
                        <a:pt x="1" y="11"/>
                      </a:lnTo>
                      <a:lnTo>
                        <a:pt x="0" y="15"/>
                      </a:lnTo>
                      <a:lnTo>
                        <a:pt x="0" y="18"/>
                      </a:lnTo>
                      <a:lnTo>
                        <a:pt x="0" y="23"/>
                      </a:lnTo>
                      <a:lnTo>
                        <a:pt x="1" y="26"/>
                      </a:lnTo>
                      <a:lnTo>
                        <a:pt x="4" y="29"/>
                      </a:lnTo>
                      <a:lnTo>
                        <a:pt x="6" y="31"/>
                      </a:lnTo>
                      <a:lnTo>
                        <a:pt x="8" y="34"/>
                      </a:lnTo>
                      <a:lnTo>
                        <a:pt x="11" y="35"/>
                      </a:lnTo>
                      <a:lnTo>
                        <a:pt x="15" y="36"/>
                      </a:lnTo>
                      <a:lnTo>
                        <a:pt x="18" y="37"/>
                      </a:lnTo>
                      <a:lnTo>
                        <a:pt x="23" y="36"/>
                      </a:lnTo>
                      <a:lnTo>
                        <a:pt x="26" y="35"/>
                      </a:lnTo>
                      <a:lnTo>
                        <a:pt x="29" y="34"/>
                      </a:lnTo>
                      <a:lnTo>
                        <a:pt x="31" y="31"/>
                      </a:lnTo>
                      <a:lnTo>
                        <a:pt x="34" y="29"/>
                      </a:lnTo>
                      <a:lnTo>
                        <a:pt x="35" y="26"/>
                      </a:lnTo>
                      <a:lnTo>
                        <a:pt x="37" y="23"/>
                      </a:lnTo>
                      <a:lnTo>
                        <a:pt x="38" y="18"/>
                      </a:lnTo>
                      <a:close/>
                      <a:moveTo>
                        <a:pt x="33" y="18"/>
                      </a:moveTo>
                      <a:lnTo>
                        <a:pt x="32" y="21"/>
                      </a:lnTo>
                      <a:lnTo>
                        <a:pt x="32" y="24"/>
                      </a:lnTo>
                      <a:lnTo>
                        <a:pt x="30" y="27"/>
                      </a:lnTo>
                      <a:lnTo>
                        <a:pt x="29" y="29"/>
                      </a:lnTo>
                      <a:lnTo>
                        <a:pt x="27" y="30"/>
                      </a:lnTo>
                      <a:lnTo>
                        <a:pt x="24" y="32"/>
                      </a:lnTo>
                      <a:lnTo>
                        <a:pt x="22" y="32"/>
                      </a:lnTo>
                      <a:lnTo>
                        <a:pt x="18" y="33"/>
                      </a:lnTo>
                      <a:lnTo>
                        <a:pt x="15" y="32"/>
                      </a:lnTo>
                      <a:lnTo>
                        <a:pt x="13" y="32"/>
                      </a:lnTo>
                      <a:lnTo>
                        <a:pt x="11" y="30"/>
                      </a:lnTo>
                      <a:lnTo>
                        <a:pt x="9" y="29"/>
                      </a:lnTo>
                      <a:lnTo>
                        <a:pt x="7" y="27"/>
                      </a:lnTo>
                      <a:lnTo>
                        <a:pt x="6" y="24"/>
                      </a:lnTo>
                      <a:lnTo>
                        <a:pt x="5" y="21"/>
                      </a:lnTo>
                      <a:lnTo>
                        <a:pt x="5" y="18"/>
                      </a:lnTo>
                      <a:lnTo>
                        <a:pt x="5" y="15"/>
                      </a:lnTo>
                      <a:lnTo>
                        <a:pt x="6" y="13"/>
                      </a:lnTo>
                      <a:lnTo>
                        <a:pt x="7" y="11"/>
                      </a:lnTo>
                      <a:lnTo>
                        <a:pt x="9" y="9"/>
                      </a:lnTo>
                      <a:lnTo>
                        <a:pt x="11" y="7"/>
                      </a:lnTo>
                      <a:lnTo>
                        <a:pt x="13" y="6"/>
                      </a:lnTo>
                      <a:lnTo>
                        <a:pt x="15" y="4"/>
                      </a:lnTo>
                      <a:lnTo>
                        <a:pt x="18" y="4"/>
                      </a:lnTo>
                      <a:lnTo>
                        <a:pt x="22" y="4"/>
                      </a:lnTo>
                      <a:lnTo>
                        <a:pt x="24" y="6"/>
                      </a:lnTo>
                      <a:lnTo>
                        <a:pt x="27" y="7"/>
                      </a:lnTo>
                      <a:lnTo>
                        <a:pt x="29" y="9"/>
                      </a:lnTo>
                      <a:lnTo>
                        <a:pt x="30" y="11"/>
                      </a:lnTo>
                      <a:lnTo>
                        <a:pt x="32" y="13"/>
                      </a:lnTo>
                      <a:lnTo>
                        <a:pt x="32" y="15"/>
                      </a:lnTo>
                      <a:lnTo>
                        <a:pt x="33" y="1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38" name="Freeform 4826"/>
                <p:cNvSpPr>
                  <a:spLocks noChangeAspect="1" noEditPoints="1"/>
                </p:cNvSpPr>
                <p:nvPr/>
              </p:nvSpPr>
              <p:spPr bwMode="auto">
                <a:xfrm>
                  <a:off x="3517" y="3352"/>
                  <a:ext cx="11" cy="11"/>
                </a:xfrm>
                <a:custGeom>
                  <a:avLst/>
                  <a:gdLst>
                    <a:gd name="T0" fmla="*/ 32 w 33"/>
                    <a:gd name="T1" fmla="*/ 13 h 33"/>
                    <a:gd name="T2" fmla="*/ 30 w 33"/>
                    <a:gd name="T3" fmla="*/ 8 h 33"/>
                    <a:gd name="T4" fmla="*/ 26 w 33"/>
                    <a:gd name="T5" fmla="*/ 2 h 33"/>
                    <a:gd name="T6" fmla="*/ 20 w 33"/>
                    <a:gd name="T7" fmla="*/ 0 h 33"/>
                    <a:gd name="T8" fmla="*/ 13 w 33"/>
                    <a:gd name="T9" fmla="*/ 0 h 33"/>
                    <a:gd name="T10" fmla="*/ 8 w 33"/>
                    <a:gd name="T11" fmla="*/ 2 h 33"/>
                    <a:gd name="T12" fmla="*/ 3 w 33"/>
                    <a:gd name="T13" fmla="*/ 8 h 33"/>
                    <a:gd name="T14" fmla="*/ 0 w 33"/>
                    <a:gd name="T15" fmla="*/ 13 h 33"/>
                    <a:gd name="T16" fmla="*/ 0 w 33"/>
                    <a:gd name="T17" fmla="*/ 19 h 33"/>
                    <a:gd name="T18" fmla="*/ 3 w 33"/>
                    <a:gd name="T19" fmla="*/ 26 h 33"/>
                    <a:gd name="T20" fmla="*/ 8 w 33"/>
                    <a:gd name="T21" fmla="*/ 30 h 33"/>
                    <a:gd name="T22" fmla="*/ 13 w 33"/>
                    <a:gd name="T23" fmla="*/ 32 h 33"/>
                    <a:gd name="T24" fmla="*/ 20 w 33"/>
                    <a:gd name="T25" fmla="*/ 32 h 33"/>
                    <a:gd name="T26" fmla="*/ 26 w 33"/>
                    <a:gd name="T27" fmla="*/ 30 h 33"/>
                    <a:gd name="T28" fmla="*/ 30 w 33"/>
                    <a:gd name="T29" fmla="*/ 26 h 33"/>
                    <a:gd name="T30" fmla="*/ 32 w 33"/>
                    <a:gd name="T31" fmla="*/ 19 h 33"/>
                    <a:gd name="T32" fmla="*/ 29 w 33"/>
                    <a:gd name="T33" fmla="*/ 16 h 33"/>
                    <a:gd name="T34" fmla="*/ 28 w 33"/>
                    <a:gd name="T35" fmla="*/ 22 h 33"/>
                    <a:gd name="T36" fmla="*/ 25 w 33"/>
                    <a:gd name="T37" fmla="*/ 25 h 33"/>
                    <a:gd name="T38" fmla="*/ 22 w 33"/>
                    <a:gd name="T39" fmla="*/ 28 h 33"/>
                    <a:gd name="T40" fmla="*/ 16 w 33"/>
                    <a:gd name="T41" fmla="*/ 29 h 33"/>
                    <a:gd name="T42" fmla="*/ 12 w 33"/>
                    <a:gd name="T43" fmla="*/ 28 h 33"/>
                    <a:gd name="T44" fmla="*/ 8 w 33"/>
                    <a:gd name="T45" fmla="*/ 25 h 33"/>
                    <a:gd name="T46" fmla="*/ 6 w 33"/>
                    <a:gd name="T47" fmla="*/ 22 h 33"/>
                    <a:gd name="T48" fmla="*/ 5 w 33"/>
                    <a:gd name="T49" fmla="*/ 16 h 33"/>
                    <a:gd name="T50" fmla="*/ 6 w 33"/>
                    <a:gd name="T51" fmla="*/ 12 h 33"/>
                    <a:gd name="T52" fmla="*/ 8 w 33"/>
                    <a:gd name="T53" fmla="*/ 8 h 33"/>
                    <a:gd name="T54" fmla="*/ 12 w 33"/>
                    <a:gd name="T55" fmla="*/ 6 h 33"/>
                    <a:gd name="T56" fmla="*/ 16 w 33"/>
                    <a:gd name="T57" fmla="*/ 5 h 33"/>
                    <a:gd name="T58" fmla="*/ 22 w 33"/>
                    <a:gd name="T59" fmla="*/ 6 h 33"/>
                    <a:gd name="T60" fmla="*/ 25 w 33"/>
                    <a:gd name="T61" fmla="*/ 8 h 33"/>
                    <a:gd name="T62" fmla="*/ 28 w 33"/>
                    <a:gd name="T63" fmla="*/ 12 h 33"/>
                    <a:gd name="T64" fmla="*/ 29 w 33"/>
                    <a:gd name="T65" fmla="*/ 1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 h="33">
                      <a:moveTo>
                        <a:pt x="33" y="16"/>
                      </a:moveTo>
                      <a:lnTo>
                        <a:pt x="32" y="13"/>
                      </a:lnTo>
                      <a:lnTo>
                        <a:pt x="31" y="10"/>
                      </a:lnTo>
                      <a:lnTo>
                        <a:pt x="30" y="8"/>
                      </a:lnTo>
                      <a:lnTo>
                        <a:pt x="28" y="5"/>
                      </a:lnTo>
                      <a:lnTo>
                        <a:pt x="26" y="2"/>
                      </a:lnTo>
                      <a:lnTo>
                        <a:pt x="23" y="1"/>
                      </a:lnTo>
                      <a:lnTo>
                        <a:pt x="20" y="0"/>
                      </a:lnTo>
                      <a:lnTo>
                        <a:pt x="16" y="0"/>
                      </a:lnTo>
                      <a:lnTo>
                        <a:pt x="13" y="0"/>
                      </a:lnTo>
                      <a:lnTo>
                        <a:pt x="10" y="1"/>
                      </a:lnTo>
                      <a:lnTo>
                        <a:pt x="8" y="2"/>
                      </a:lnTo>
                      <a:lnTo>
                        <a:pt x="5" y="5"/>
                      </a:lnTo>
                      <a:lnTo>
                        <a:pt x="3" y="8"/>
                      </a:lnTo>
                      <a:lnTo>
                        <a:pt x="2" y="10"/>
                      </a:lnTo>
                      <a:lnTo>
                        <a:pt x="0" y="13"/>
                      </a:lnTo>
                      <a:lnTo>
                        <a:pt x="0" y="16"/>
                      </a:lnTo>
                      <a:lnTo>
                        <a:pt x="0" y="19"/>
                      </a:lnTo>
                      <a:lnTo>
                        <a:pt x="2" y="23"/>
                      </a:lnTo>
                      <a:lnTo>
                        <a:pt x="3" y="26"/>
                      </a:lnTo>
                      <a:lnTo>
                        <a:pt x="5" y="28"/>
                      </a:lnTo>
                      <a:lnTo>
                        <a:pt x="8" y="30"/>
                      </a:lnTo>
                      <a:lnTo>
                        <a:pt x="10" y="31"/>
                      </a:lnTo>
                      <a:lnTo>
                        <a:pt x="13" y="32"/>
                      </a:lnTo>
                      <a:lnTo>
                        <a:pt x="16" y="33"/>
                      </a:lnTo>
                      <a:lnTo>
                        <a:pt x="20" y="32"/>
                      </a:lnTo>
                      <a:lnTo>
                        <a:pt x="23" y="31"/>
                      </a:lnTo>
                      <a:lnTo>
                        <a:pt x="26" y="30"/>
                      </a:lnTo>
                      <a:lnTo>
                        <a:pt x="28" y="28"/>
                      </a:lnTo>
                      <a:lnTo>
                        <a:pt x="30" y="26"/>
                      </a:lnTo>
                      <a:lnTo>
                        <a:pt x="31" y="23"/>
                      </a:lnTo>
                      <a:lnTo>
                        <a:pt x="32" y="19"/>
                      </a:lnTo>
                      <a:lnTo>
                        <a:pt x="33" y="16"/>
                      </a:lnTo>
                      <a:close/>
                      <a:moveTo>
                        <a:pt x="29" y="16"/>
                      </a:moveTo>
                      <a:lnTo>
                        <a:pt x="29" y="19"/>
                      </a:lnTo>
                      <a:lnTo>
                        <a:pt x="28" y="22"/>
                      </a:lnTo>
                      <a:lnTo>
                        <a:pt x="27" y="24"/>
                      </a:lnTo>
                      <a:lnTo>
                        <a:pt x="25" y="25"/>
                      </a:lnTo>
                      <a:lnTo>
                        <a:pt x="24" y="27"/>
                      </a:lnTo>
                      <a:lnTo>
                        <a:pt x="22" y="28"/>
                      </a:lnTo>
                      <a:lnTo>
                        <a:pt x="20" y="29"/>
                      </a:lnTo>
                      <a:lnTo>
                        <a:pt x="16" y="29"/>
                      </a:lnTo>
                      <a:lnTo>
                        <a:pt x="14" y="29"/>
                      </a:lnTo>
                      <a:lnTo>
                        <a:pt x="12" y="28"/>
                      </a:lnTo>
                      <a:lnTo>
                        <a:pt x="10" y="27"/>
                      </a:lnTo>
                      <a:lnTo>
                        <a:pt x="8" y="25"/>
                      </a:lnTo>
                      <a:lnTo>
                        <a:pt x="7" y="24"/>
                      </a:lnTo>
                      <a:lnTo>
                        <a:pt x="6" y="22"/>
                      </a:lnTo>
                      <a:lnTo>
                        <a:pt x="5" y="19"/>
                      </a:lnTo>
                      <a:lnTo>
                        <a:pt x="5" y="16"/>
                      </a:lnTo>
                      <a:lnTo>
                        <a:pt x="5" y="14"/>
                      </a:lnTo>
                      <a:lnTo>
                        <a:pt x="6" y="12"/>
                      </a:lnTo>
                      <a:lnTo>
                        <a:pt x="7" y="10"/>
                      </a:lnTo>
                      <a:lnTo>
                        <a:pt x="8" y="8"/>
                      </a:lnTo>
                      <a:lnTo>
                        <a:pt x="10" y="7"/>
                      </a:lnTo>
                      <a:lnTo>
                        <a:pt x="12" y="6"/>
                      </a:lnTo>
                      <a:lnTo>
                        <a:pt x="14" y="5"/>
                      </a:lnTo>
                      <a:lnTo>
                        <a:pt x="16" y="5"/>
                      </a:lnTo>
                      <a:lnTo>
                        <a:pt x="20" y="5"/>
                      </a:lnTo>
                      <a:lnTo>
                        <a:pt x="22" y="6"/>
                      </a:lnTo>
                      <a:lnTo>
                        <a:pt x="24" y="7"/>
                      </a:lnTo>
                      <a:lnTo>
                        <a:pt x="25" y="8"/>
                      </a:lnTo>
                      <a:lnTo>
                        <a:pt x="27" y="10"/>
                      </a:lnTo>
                      <a:lnTo>
                        <a:pt x="28" y="12"/>
                      </a:lnTo>
                      <a:lnTo>
                        <a:pt x="29" y="14"/>
                      </a:lnTo>
                      <a:lnTo>
                        <a:pt x="29" y="1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39" name="Freeform 4827"/>
                <p:cNvSpPr>
                  <a:spLocks noChangeAspect="1" noEditPoints="1"/>
                </p:cNvSpPr>
                <p:nvPr/>
              </p:nvSpPr>
              <p:spPr bwMode="auto">
                <a:xfrm>
                  <a:off x="3518" y="3352"/>
                  <a:ext cx="9" cy="8"/>
                </a:xfrm>
                <a:custGeom>
                  <a:avLst/>
                  <a:gdLst>
                    <a:gd name="T0" fmla="*/ 27 w 28"/>
                    <a:gd name="T1" fmla="*/ 11 h 29"/>
                    <a:gd name="T2" fmla="*/ 25 w 28"/>
                    <a:gd name="T3" fmla="*/ 7 h 29"/>
                    <a:gd name="T4" fmla="*/ 22 w 28"/>
                    <a:gd name="T5" fmla="*/ 3 h 29"/>
                    <a:gd name="T6" fmla="*/ 17 w 28"/>
                    <a:gd name="T7" fmla="*/ 0 h 29"/>
                    <a:gd name="T8" fmla="*/ 10 w 28"/>
                    <a:gd name="T9" fmla="*/ 0 h 29"/>
                    <a:gd name="T10" fmla="*/ 6 w 28"/>
                    <a:gd name="T11" fmla="*/ 3 h 29"/>
                    <a:gd name="T12" fmla="*/ 2 w 28"/>
                    <a:gd name="T13" fmla="*/ 7 h 29"/>
                    <a:gd name="T14" fmla="*/ 0 w 28"/>
                    <a:gd name="T15" fmla="*/ 11 h 29"/>
                    <a:gd name="T16" fmla="*/ 0 w 28"/>
                    <a:gd name="T17" fmla="*/ 17 h 29"/>
                    <a:gd name="T18" fmla="*/ 2 w 28"/>
                    <a:gd name="T19" fmla="*/ 23 h 29"/>
                    <a:gd name="T20" fmla="*/ 6 w 28"/>
                    <a:gd name="T21" fmla="*/ 26 h 29"/>
                    <a:gd name="T22" fmla="*/ 10 w 28"/>
                    <a:gd name="T23" fmla="*/ 28 h 29"/>
                    <a:gd name="T24" fmla="*/ 17 w 28"/>
                    <a:gd name="T25" fmla="*/ 28 h 29"/>
                    <a:gd name="T26" fmla="*/ 22 w 28"/>
                    <a:gd name="T27" fmla="*/ 26 h 29"/>
                    <a:gd name="T28" fmla="*/ 25 w 28"/>
                    <a:gd name="T29" fmla="*/ 23 h 29"/>
                    <a:gd name="T30" fmla="*/ 27 w 28"/>
                    <a:gd name="T31" fmla="*/ 17 h 29"/>
                    <a:gd name="T32" fmla="*/ 24 w 28"/>
                    <a:gd name="T33" fmla="*/ 14 h 29"/>
                    <a:gd name="T34" fmla="*/ 23 w 28"/>
                    <a:gd name="T35" fmla="*/ 19 h 29"/>
                    <a:gd name="T36" fmla="*/ 21 w 28"/>
                    <a:gd name="T37" fmla="*/ 22 h 29"/>
                    <a:gd name="T38" fmla="*/ 18 w 28"/>
                    <a:gd name="T39" fmla="*/ 24 h 29"/>
                    <a:gd name="T40" fmla="*/ 13 w 28"/>
                    <a:gd name="T41" fmla="*/ 25 h 29"/>
                    <a:gd name="T42" fmla="*/ 9 w 28"/>
                    <a:gd name="T43" fmla="*/ 24 h 29"/>
                    <a:gd name="T44" fmla="*/ 6 w 28"/>
                    <a:gd name="T45" fmla="*/ 22 h 29"/>
                    <a:gd name="T46" fmla="*/ 4 w 28"/>
                    <a:gd name="T47" fmla="*/ 19 h 29"/>
                    <a:gd name="T48" fmla="*/ 4 w 28"/>
                    <a:gd name="T49" fmla="*/ 14 h 29"/>
                    <a:gd name="T50" fmla="*/ 4 w 28"/>
                    <a:gd name="T51" fmla="*/ 10 h 29"/>
                    <a:gd name="T52" fmla="*/ 6 w 28"/>
                    <a:gd name="T53" fmla="*/ 7 h 29"/>
                    <a:gd name="T54" fmla="*/ 9 w 28"/>
                    <a:gd name="T55" fmla="*/ 5 h 29"/>
                    <a:gd name="T56" fmla="*/ 13 w 28"/>
                    <a:gd name="T57" fmla="*/ 5 h 29"/>
                    <a:gd name="T58" fmla="*/ 18 w 28"/>
                    <a:gd name="T59" fmla="*/ 5 h 29"/>
                    <a:gd name="T60" fmla="*/ 21 w 28"/>
                    <a:gd name="T61" fmla="*/ 7 h 29"/>
                    <a:gd name="T62" fmla="*/ 23 w 28"/>
                    <a:gd name="T63" fmla="*/ 10 h 29"/>
                    <a:gd name="T64" fmla="*/ 24 w 28"/>
                    <a:gd name="T65"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29">
                      <a:moveTo>
                        <a:pt x="28" y="14"/>
                      </a:moveTo>
                      <a:lnTo>
                        <a:pt x="27" y="11"/>
                      </a:lnTo>
                      <a:lnTo>
                        <a:pt x="27" y="9"/>
                      </a:lnTo>
                      <a:lnTo>
                        <a:pt x="25" y="7"/>
                      </a:lnTo>
                      <a:lnTo>
                        <a:pt x="24" y="5"/>
                      </a:lnTo>
                      <a:lnTo>
                        <a:pt x="22" y="3"/>
                      </a:lnTo>
                      <a:lnTo>
                        <a:pt x="19" y="2"/>
                      </a:lnTo>
                      <a:lnTo>
                        <a:pt x="17" y="0"/>
                      </a:lnTo>
                      <a:lnTo>
                        <a:pt x="13" y="0"/>
                      </a:lnTo>
                      <a:lnTo>
                        <a:pt x="10" y="0"/>
                      </a:lnTo>
                      <a:lnTo>
                        <a:pt x="8" y="2"/>
                      </a:lnTo>
                      <a:lnTo>
                        <a:pt x="6" y="3"/>
                      </a:lnTo>
                      <a:lnTo>
                        <a:pt x="4" y="5"/>
                      </a:lnTo>
                      <a:lnTo>
                        <a:pt x="2" y="7"/>
                      </a:lnTo>
                      <a:lnTo>
                        <a:pt x="1" y="9"/>
                      </a:lnTo>
                      <a:lnTo>
                        <a:pt x="0" y="11"/>
                      </a:lnTo>
                      <a:lnTo>
                        <a:pt x="0" y="14"/>
                      </a:lnTo>
                      <a:lnTo>
                        <a:pt x="0" y="17"/>
                      </a:lnTo>
                      <a:lnTo>
                        <a:pt x="1" y="20"/>
                      </a:lnTo>
                      <a:lnTo>
                        <a:pt x="2" y="23"/>
                      </a:lnTo>
                      <a:lnTo>
                        <a:pt x="4" y="25"/>
                      </a:lnTo>
                      <a:lnTo>
                        <a:pt x="6" y="26"/>
                      </a:lnTo>
                      <a:lnTo>
                        <a:pt x="8" y="28"/>
                      </a:lnTo>
                      <a:lnTo>
                        <a:pt x="10" y="28"/>
                      </a:lnTo>
                      <a:lnTo>
                        <a:pt x="13" y="29"/>
                      </a:lnTo>
                      <a:lnTo>
                        <a:pt x="17" y="28"/>
                      </a:lnTo>
                      <a:lnTo>
                        <a:pt x="19" y="28"/>
                      </a:lnTo>
                      <a:lnTo>
                        <a:pt x="22" y="26"/>
                      </a:lnTo>
                      <a:lnTo>
                        <a:pt x="24" y="25"/>
                      </a:lnTo>
                      <a:lnTo>
                        <a:pt x="25" y="23"/>
                      </a:lnTo>
                      <a:lnTo>
                        <a:pt x="27" y="20"/>
                      </a:lnTo>
                      <a:lnTo>
                        <a:pt x="27" y="17"/>
                      </a:lnTo>
                      <a:lnTo>
                        <a:pt x="28" y="14"/>
                      </a:lnTo>
                      <a:close/>
                      <a:moveTo>
                        <a:pt x="24" y="14"/>
                      </a:moveTo>
                      <a:lnTo>
                        <a:pt x="24" y="16"/>
                      </a:lnTo>
                      <a:lnTo>
                        <a:pt x="23" y="19"/>
                      </a:lnTo>
                      <a:lnTo>
                        <a:pt x="22" y="21"/>
                      </a:lnTo>
                      <a:lnTo>
                        <a:pt x="21" y="22"/>
                      </a:lnTo>
                      <a:lnTo>
                        <a:pt x="20" y="23"/>
                      </a:lnTo>
                      <a:lnTo>
                        <a:pt x="18" y="24"/>
                      </a:lnTo>
                      <a:lnTo>
                        <a:pt x="16" y="25"/>
                      </a:lnTo>
                      <a:lnTo>
                        <a:pt x="13" y="25"/>
                      </a:lnTo>
                      <a:lnTo>
                        <a:pt x="11" y="25"/>
                      </a:lnTo>
                      <a:lnTo>
                        <a:pt x="9" y="24"/>
                      </a:lnTo>
                      <a:lnTo>
                        <a:pt x="8" y="23"/>
                      </a:lnTo>
                      <a:lnTo>
                        <a:pt x="6" y="22"/>
                      </a:lnTo>
                      <a:lnTo>
                        <a:pt x="5" y="21"/>
                      </a:lnTo>
                      <a:lnTo>
                        <a:pt x="4" y="19"/>
                      </a:lnTo>
                      <a:lnTo>
                        <a:pt x="4" y="16"/>
                      </a:lnTo>
                      <a:lnTo>
                        <a:pt x="4" y="14"/>
                      </a:lnTo>
                      <a:lnTo>
                        <a:pt x="4" y="12"/>
                      </a:lnTo>
                      <a:lnTo>
                        <a:pt x="4" y="10"/>
                      </a:lnTo>
                      <a:lnTo>
                        <a:pt x="5" y="9"/>
                      </a:lnTo>
                      <a:lnTo>
                        <a:pt x="6" y="7"/>
                      </a:lnTo>
                      <a:lnTo>
                        <a:pt x="8" y="6"/>
                      </a:lnTo>
                      <a:lnTo>
                        <a:pt x="9" y="5"/>
                      </a:lnTo>
                      <a:lnTo>
                        <a:pt x="11" y="5"/>
                      </a:lnTo>
                      <a:lnTo>
                        <a:pt x="13" y="5"/>
                      </a:lnTo>
                      <a:lnTo>
                        <a:pt x="16" y="5"/>
                      </a:lnTo>
                      <a:lnTo>
                        <a:pt x="18" y="5"/>
                      </a:lnTo>
                      <a:lnTo>
                        <a:pt x="20" y="6"/>
                      </a:lnTo>
                      <a:lnTo>
                        <a:pt x="21" y="7"/>
                      </a:lnTo>
                      <a:lnTo>
                        <a:pt x="22" y="9"/>
                      </a:lnTo>
                      <a:lnTo>
                        <a:pt x="23" y="10"/>
                      </a:lnTo>
                      <a:lnTo>
                        <a:pt x="24" y="12"/>
                      </a:lnTo>
                      <a:lnTo>
                        <a:pt x="24" y="1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40" name="Freeform 4828"/>
                <p:cNvSpPr>
                  <a:spLocks noChangeAspect="1" noEditPoints="1"/>
                </p:cNvSpPr>
                <p:nvPr/>
              </p:nvSpPr>
              <p:spPr bwMode="auto">
                <a:xfrm>
                  <a:off x="3519" y="3353"/>
                  <a:ext cx="8" cy="8"/>
                </a:xfrm>
                <a:custGeom>
                  <a:avLst/>
                  <a:gdLst>
                    <a:gd name="T0" fmla="*/ 24 w 24"/>
                    <a:gd name="T1" fmla="*/ 9 h 24"/>
                    <a:gd name="T2" fmla="*/ 22 w 24"/>
                    <a:gd name="T3" fmla="*/ 5 h 24"/>
                    <a:gd name="T4" fmla="*/ 19 w 24"/>
                    <a:gd name="T5" fmla="*/ 2 h 24"/>
                    <a:gd name="T6" fmla="*/ 15 w 24"/>
                    <a:gd name="T7" fmla="*/ 0 h 24"/>
                    <a:gd name="T8" fmla="*/ 9 w 24"/>
                    <a:gd name="T9" fmla="*/ 0 h 24"/>
                    <a:gd name="T10" fmla="*/ 5 w 24"/>
                    <a:gd name="T11" fmla="*/ 2 h 24"/>
                    <a:gd name="T12" fmla="*/ 2 w 24"/>
                    <a:gd name="T13" fmla="*/ 5 h 24"/>
                    <a:gd name="T14" fmla="*/ 0 w 24"/>
                    <a:gd name="T15" fmla="*/ 9 h 24"/>
                    <a:gd name="T16" fmla="*/ 0 w 24"/>
                    <a:gd name="T17" fmla="*/ 14 h 24"/>
                    <a:gd name="T18" fmla="*/ 2 w 24"/>
                    <a:gd name="T19" fmla="*/ 19 h 24"/>
                    <a:gd name="T20" fmla="*/ 5 w 24"/>
                    <a:gd name="T21" fmla="*/ 22 h 24"/>
                    <a:gd name="T22" fmla="*/ 9 w 24"/>
                    <a:gd name="T23" fmla="*/ 24 h 24"/>
                    <a:gd name="T24" fmla="*/ 15 w 24"/>
                    <a:gd name="T25" fmla="*/ 24 h 24"/>
                    <a:gd name="T26" fmla="*/ 19 w 24"/>
                    <a:gd name="T27" fmla="*/ 22 h 24"/>
                    <a:gd name="T28" fmla="*/ 22 w 24"/>
                    <a:gd name="T29" fmla="*/ 19 h 24"/>
                    <a:gd name="T30" fmla="*/ 24 w 24"/>
                    <a:gd name="T31" fmla="*/ 14 h 24"/>
                    <a:gd name="T32" fmla="*/ 20 w 24"/>
                    <a:gd name="T33" fmla="*/ 11 h 24"/>
                    <a:gd name="T34" fmla="*/ 19 w 24"/>
                    <a:gd name="T35" fmla="*/ 14 h 24"/>
                    <a:gd name="T36" fmla="*/ 18 w 24"/>
                    <a:gd name="T37" fmla="*/ 18 h 24"/>
                    <a:gd name="T38" fmla="*/ 15 w 24"/>
                    <a:gd name="T39" fmla="*/ 19 h 24"/>
                    <a:gd name="T40" fmla="*/ 11 w 24"/>
                    <a:gd name="T41" fmla="*/ 20 h 24"/>
                    <a:gd name="T42" fmla="*/ 8 w 24"/>
                    <a:gd name="T43" fmla="*/ 19 h 24"/>
                    <a:gd name="T44" fmla="*/ 6 w 24"/>
                    <a:gd name="T45" fmla="*/ 18 h 24"/>
                    <a:gd name="T46" fmla="*/ 4 w 24"/>
                    <a:gd name="T47" fmla="*/ 14 h 24"/>
                    <a:gd name="T48" fmla="*/ 3 w 24"/>
                    <a:gd name="T49" fmla="*/ 11 h 24"/>
                    <a:gd name="T50" fmla="*/ 4 w 24"/>
                    <a:gd name="T51" fmla="*/ 8 h 24"/>
                    <a:gd name="T52" fmla="*/ 6 w 24"/>
                    <a:gd name="T53" fmla="*/ 6 h 24"/>
                    <a:gd name="T54" fmla="*/ 8 w 24"/>
                    <a:gd name="T55" fmla="*/ 4 h 24"/>
                    <a:gd name="T56" fmla="*/ 11 w 24"/>
                    <a:gd name="T57" fmla="*/ 4 h 24"/>
                    <a:gd name="T58" fmla="*/ 15 w 24"/>
                    <a:gd name="T59" fmla="*/ 4 h 24"/>
                    <a:gd name="T60" fmla="*/ 18 w 24"/>
                    <a:gd name="T61" fmla="*/ 6 h 24"/>
                    <a:gd name="T62" fmla="*/ 19 w 24"/>
                    <a:gd name="T63" fmla="*/ 8 h 24"/>
                    <a:gd name="T64" fmla="*/ 20 w 24"/>
                    <a:gd name="T65"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24">
                      <a:moveTo>
                        <a:pt x="24" y="11"/>
                      </a:moveTo>
                      <a:lnTo>
                        <a:pt x="24" y="9"/>
                      </a:lnTo>
                      <a:lnTo>
                        <a:pt x="23" y="7"/>
                      </a:lnTo>
                      <a:lnTo>
                        <a:pt x="22" y="5"/>
                      </a:lnTo>
                      <a:lnTo>
                        <a:pt x="20" y="3"/>
                      </a:lnTo>
                      <a:lnTo>
                        <a:pt x="19" y="2"/>
                      </a:lnTo>
                      <a:lnTo>
                        <a:pt x="17" y="1"/>
                      </a:lnTo>
                      <a:lnTo>
                        <a:pt x="15" y="0"/>
                      </a:lnTo>
                      <a:lnTo>
                        <a:pt x="11" y="0"/>
                      </a:lnTo>
                      <a:lnTo>
                        <a:pt x="9" y="0"/>
                      </a:lnTo>
                      <a:lnTo>
                        <a:pt x="7" y="1"/>
                      </a:lnTo>
                      <a:lnTo>
                        <a:pt x="5" y="2"/>
                      </a:lnTo>
                      <a:lnTo>
                        <a:pt x="3" y="3"/>
                      </a:lnTo>
                      <a:lnTo>
                        <a:pt x="2" y="5"/>
                      </a:lnTo>
                      <a:lnTo>
                        <a:pt x="1" y="7"/>
                      </a:lnTo>
                      <a:lnTo>
                        <a:pt x="0" y="9"/>
                      </a:lnTo>
                      <a:lnTo>
                        <a:pt x="0" y="11"/>
                      </a:lnTo>
                      <a:lnTo>
                        <a:pt x="0" y="14"/>
                      </a:lnTo>
                      <a:lnTo>
                        <a:pt x="1" y="17"/>
                      </a:lnTo>
                      <a:lnTo>
                        <a:pt x="2" y="19"/>
                      </a:lnTo>
                      <a:lnTo>
                        <a:pt x="3" y="20"/>
                      </a:lnTo>
                      <a:lnTo>
                        <a:pt x="5" y="22"/>
                      </a:lnTo>
                      <a:lnTo>
                        <a:pt x="7" y="23"/>
                      </a:lnTo>
                      <a:lnTo>
                        <a:pt x="9" y="24"/>
                      </a:lnTo>
                      <a:lnTo>
                        <a:pt x="11" y="24"/>
                      </a:lnTo>
                      <a:lnTo>
                        <a:pt x="15" y="24"/>
                      </a:lnTo>
                      <a:lnTo>
                        <a:pt x="17" y="23"/>
                      </a:lnTo>
                      <a:lnTo>
                        <a:pt x="19" y="22"/>
                      </a:lnTo>
                      <a:lnTo>
                        <a:pt x="20" y="20"/>
                      </a:lnTo>
                      <a:lnTo>
                        <a:pt x="22" y="19"/>
                      </a:lnTo>
                      <a:lnTo>
                        <a:pt x="23" y="17"/>
                      </a:lnTo>
                      <a:lnTo>
                        <a:pt x="24" y="14"/>
                      </a:lnTo>
                      <a:lnTo>
                        <a:pt x="24" y="11"/>
                      </a:lnTo>
                      <a:close/>
                      <a:moveTo>
                        <a:pt x="20" y="11"/>
                      </a:moveTo>
                      <a:lnTo>
                        <a:pt x="20" y="13"/>
                      </a:lnTo>
                      <a:lnTo>
                        <a:pt x="19" y="14"/>
                      </a:lnTo>
                      <a:lnTo>
                        <a:pt x="19" y="17"/>
                      </a:lnTo>
                      <a:lnTo>
                        <a:pt x="18" y="18"/>
                      </a:lnTo>
                      <a:lnTo>
                        <a:pt x="16" y="19"/>
                      </a:lnTo>
                      <a:lnTo>
                        <a:pt x="15" y="19"/>
                      </a:lnTo>
                      <a:lnTo>
                        <a:pt x="14" y="20"/>
                      </a:lnTo>
                      <a:lnTo>
                        <a:pt x="11" y="20"/>
                      </a:lnTo>
                      <a:lnTo>
                        <a:pt x="10" y="20"/>
                      </a:lnTo>
                      <a:lnTo>
                        <a:pt x="8" y="19"/>
                      </a:lnTo>
                      <a:lnTo>
                        <a:pt x="7" y="19"/>
                      </a:lnTo>
                      <a:lnTo>
                        <a:pt x="6" y="18"/>
                      </a:lnTo>
                      <a:lnTo>
                        <a:pt x="5" y="17"/>
                      </a:lnTo>
                      <a:lnTo>
                        <a:pt x="4" y="14"/>
                      </a:lnTo>
                      <a:lnTo>
                        <a:pt x="4" y="13"/>
                      </a:lnTo>
                      <a:lnTo>
                        <a:pt x="3" y="11"/>
                      </a:lnTo>
                      <a:lnTo>
                        <a:pt x="4" y="10"/>
                      </a:lnTo>
                      <a:lnTo>
                        <a:pt x="4" y="8"/>
                      </a:lnTo>
                      <a:lnTo>
                        <a:pt x="5" y="7"/>
                      </a:lnTo>
                      <a:lnTo>
                        <a:pt x="6" y="6"/>
                      </a:lnTo>
                      <a:lnTo>
                        <a:pt x="7" y="5"/>
                      </a:lnTo>
                      <a:lnTo>
                        <a:pt x="8" y="4"/>
                      </a:lnTo>
                      <a:lnTo>
                        <a:pt x="10" y="4"/>
                      </a:lnTo>
                      <a:lnTo>
                        <a:pt x="11" y="4"/>
                      </a:lnTo>
                      <a:lnTo>
                        <a:pt x="14" y="4"/>
                      </a:lnTo>
                      <a:lnTo>
                        <a:pt x="15" y="4"/>
                      </a:lnTo>
                      <a:lnTo>
                        <a:pt x="16" y="5"/>
                      </a:lnTo>
                      <a:lnTo>
                        <a:pt x="18" y="6"/>
                      </a:lnTo>
                      <a:lnTo>
                        <a:pt x="19" y="7"/>
                      </a:lnTo>
                      <a:lnTo>
                        <a:pt x="19" y="8"/>
                      </a:lnTo>
                      <a:lnTo>
                        <a:pt x="20" y="10"/>
                      </a:lnTo>
                      <a:lnTo>
                        <a:pt x="20" y="1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41" name="Freeform 4829"/>
                <p:cNvSpPr>
                  <a:spLocks noChangeAspect="1" noEditPoints="1"/>
                </p:cNvSpPr>
                <p:nvPr/>
              </p:nvSpPr>
              <p:spPr bwMode="auto">
                <a:xfrm>
                  <a:off x="3519" y="3354"/>
                  <a:ext cx="7" cy="7"/>
                </a:xfrm>
                <a:custGeom>
                  <a:avLst/>
                  <a:gdLst>
                    <a:gd name="T0" fmla="*/ 20 w 20"/>
                    <a:gd name="T1" fmla="*/ 7 h 20"/>
                    <a:gd name="T2" fmla="*/ 18 w 20"/>
                    <a:gd name="T3" fmla="*/ 4 h 20"/>
                    <a:gd name="T4" fmla="*/ 16 w 20"/>
                    <a:gd name="T5" fmla="*/ 1 h 20"/>
                    <a:gd name="T6" fmla="*/ 12 w 20"/>
                    <a:gd name="T7" fmla="*/ 0 h 20"/>
                    <a:gd name="T8" fmla="*/ 7 w 20"/>
                    <a:gd name="T9" fmla="*/ 0 h 20"/>
                    <a:gd name="T10" fmla="*/ 4 w 20"/>
                    <a:gd name="T11" fmla="*/ 1 h 20"/>
                    <a:gd name="T12" fmla="*/ 1 w 20"/>
                    <a:gd name="T13" fmla="*/ 4 h 20"/>
                    <a:gd name="T14" fmla="*/ 0 w 20"/>
                    <a:gd name="T15" fmla="*/ 7 h 20"/>
                    <a:gd name="T16" fmla="*/ 0 w 20"/>
                    <a:gd name="T17" fmla="*/ 11 h 20"/>
                    <a:gd name="T18" fmla="*/ 1 w 20"/>
                    <a:gd name="T19" fmla="*/ 16 h 20"/>
                    <a:gd name="T20" fmla="*/ 4 w 20"/>
                    <a:gd name="T21" fmla="*/ 18 h 20"/>
                    <a:gd name="T22" fmla="*/ 7 w 20"/>
                    <a:gd name="T23" fmla="*/ 20 h 20"/>
                    <a:gd name="T24" fmla="*/ 12 w 20"/>
                    <a:gd name="T25" fmla="*/ 20 h 20"/>
                    <a:gd name="T26" fmla="*/ 16 w 20"/>
                    <a:gd name="T27" fmla="*/ 18 h 20"/>
                    <a:gd name="T28" fmla="*/ 18 w 20"/>
                    <a:gd name="T29" fmla="*/ 16 h 20"/>
                    <a:gd name="T30" fmla="*/ 20 w 20"/>
                    <a:gd name="T31" fmla="*/ 11 h 20"/>
                    <a:gd name="T32" fmla="*/ 16 w 20"/>
                    <a:gd name="T33" fmla="*/ 9 h 20"/>
                    <a:gd name="T34" fmla="*/ 16 w 20"/>
                    <a:gd name="T35" fmla="*/ 11 h 20"/>
                    <a:gd name="T36" fmla="*/ 14 w 20"/>
                    <a:gd name="T37" fmla="*/ 14 h 20"/>
                    <a:gd name="T38" fmla="*/ 12 w 20"/>
                    <a:gd name="T39" fmla="*/ 16 h 20"/>
                    <a:gd name="T40" fmla="*/ 9 w 20"/>
                    <a:gd name="T41" fmla="*/ 16 h 20"/>
                    <a:gd name="T42" fmla="*/ 7 w 20"/>
                    <a:gd name="T43" fmla="*/ 16 h 20"/>
                    <a:gd name="T44" fmla="*/ 5 w 20"/>
                    <a:gd name="T45" fmla="*/ 14 h 20"/>
                    <a:gd name="T46" fmla="*/ 4 w 20"/>
                    <a:gd name="T47" fmla="*/ 11 h 20"/>
                    <a:gd name="T48" fmla="*/ 3 w 20"/>
                    <a:gd name="T49" fmla="*/ 9 h 20"/>
                    <a:gd name="T50" fmla="*/ 4 w 20"/>
                    <a:gd name="T51" fmla="*/ 7 h 20"/>
                    <a:gd name="T52" fmla="*/ 5 w 20"/>
                    <a:gd name="T53" fmla="*/ 5 h 20"/>
                    <a:gd name="T54" fmla="*/ 7 w 20"/>
                    <a:gd name="T55" fmla="*/ 4 h 20"/>
                    <a:gd name="T56" fmla="*/ 9 w 20"/>
                    <a:gd name="T57" fmla="*/ 3 h 20"/>
                    <a:gd name="T58" fmla="*/ 12 w 20"/>
                    <a:gd name="T59" fmla="*/ 4 h 20"/>
                    <a:gd name="T60" fmla="*/ 14 w 20"/>
                    <a:gd name="T61" fmla="*/ 5 h 20"/>
                    <a:gd name="T62" fmla="*/ 16 w 20"/>
                    <a:gd name="T63" fmla="*/ 7 h 20"/>
                    <a:gd name="T64" fmla="*/ 16 w 20"/>
                    <a:gd name="T65"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20">
                      <a:moveTo>
                        <a:pt x="20" y="9"/>
                      </a:moveTo>
                      <a:lnTo>
                        <a:pt x="20" y="7"/>
                      </a:lnTo>
                      <a:lnTo>
                        <a:pt x="19" y="5"/>
                      </a:lnTo>
                      <a:lnTo>
                        <a:pt x="18" y="4"/>
                      </a:lnTo>
                      <a:lnTo>
                        <a:pt x="17" y="2"/>
                      </a:lnTo>
                      <a:lnTo>
                        <a:pt x="16" y="1"/>
                      </a:lnTo>
                      <a:lnTo>
                        <a:pt x="14" y="0"/>
                      </a:lnTo>
                      <a:lnTo>
                        <a:pt x="12" y="0"/>
                      </a:lnTo>
                      <a:lnTo>
                        <a:pt x="9" y="0"/>
                      </a:lnTo>
                      <a:lnTo>
                        <a:pt x="7" y="0"/>
                      </a:lnTo>
                      <a:lnTo>
                        <a:pt x="5" y="0"/>
                      </a:lnTo>
                      <a:lnTo>
                        <a:pt x="4" y="1"/>
                      </a:lnTo>
                      <a:lnTo>
                        <a:pt x="2" y="2"/>
                      </a:lnTo>
                      <a:lnTo>
                        <a:pt x="1" y="4"/>
                      </a:lnTo>
                      <a:lnTo>
                        <a:pt x="0" y="5"/>
                      </a:lnTo>
                      <a:lnTo>
                        <a:pt x="0" y="7"/>
                      </a:lnTo>
                      <a:lnTo>
                        <a:pt x="0" y="9"/>
                      </a:lnTo>
                      <a:lnTo>
                        <a:pt x="0" y="11"/>
                      </a:lnTo>
                      <a:lnTo>
                        <a:pt x="0" y="14"/>
                      </a:lnTo>
                      <a:lnTo>
                        <a:pt x="1" y="16"/>
                      </a:lnTo>
                      <a:lnTo>
                        <a:pt x="2" y="17"/>
                      </a:lnTo>
                      <a:lnTo>
                        <a:pt x="4" y="18"/>
                      </a:lnTo>
                      <a:lnTo>
                        <a:pt x="5" y="19"/>
                      </a:lnTo>
                      <a:lnTo>
                        <a:pt x="7" y="20"/>
                      </a:lnTo>
                      <a:lnTo>
                        <a:pt x="9" y="20"/>
                      </a:lnTo>
                      <a:lnTo>
                        <a:pt x="12" y="20"/>
                      </a:lnTo>
                      <a:lnTo>
                        <a:pt x="14" y="19"/>
                      </a:lnTo>
                      <a:lnTo>
                        <a:pt x="16" y="18"/>
                      </a:lnTo>
                      <a:lnTo>
                        <a:pt x="17" y="17"/>
                      </a:lnTo>
                      <a:lnTo>
                        <a:pt x="18" y="16"/>
                      </a:lnTo>
                      <a:lnTo>
                        <a:pt x="19" y="14"/>
                      </a:lnTo>
                      <a:lnTo>
                        <a:pt x="20" y="11"/>
                      </a:lnTo>
                      <a:lnTo>
                        <a:pt x="20" y="9"/>
                      </a:lnTo>
                      <a:close/>
                      <a:moveTo>
                        <a:pt x="16" y="9"/>
                      </a:moveTo>
                      <a:lnTo>
                        <a:pt x="16" y="10"/>
                      </a:lnTo>
                      <a:lnTo>
                        <a:pt x="16" y="11"/>
                      </a:lnTo>
                      <a:lnTo>
                        <a:pt x="15" y="12"/>
                      </a:lnTo>
                      <a:lnTo>
                        <a:pt x="14" y="14"/>
                      </a:lnTo>
                      <a:lnTo>
                        <a:pt x="13" y="15"/>
                      </a:lnTo>
                      <a:lnTo>
                        <a:pt x="12" y="16"/>
                      </a:lnTo>
                      <a:lnTo>
                        <a:pt x="11" y="16"/>
                      </a:lnTo>
                      <a:lnTo>
                        <a:pt x="9" y="16"/>
                      </a:lnTo>
                      <a:lnTo>
                        <a:pt x="8" y="16"/>
                      </a:lnTo>
                      <a:lnTo>
                        <a:pt x="7" y="16"/>
                      </a:lnTo>
                      <a:lnTo>
                        <a:pt x="6" y="15"/>
                      </a:lnTo>
                      <a:lnTo>
                        <a:pt x="5" y="14"/>
                      </a:lnTo>
                      <a:lnTo>
                        <a:pt x="4" y="12"/>
                      </a:lnTo>
                      <a:lnTo>
                        <a:pt x="4" y="11"/>
                      </a:lnTo>
                      <a:lnTo>
                        <a:pt x="4" y="10"/>
                      </a:lnTo>
                      <a:lnTo>
                        <a:pt x="3" y="9"/>
                      </a:lnTo>
                      <a:lnTo>
                        <a:pt x="4" y="8"/>
                      </a:lnTo>
                      <a:lnTo>
                        <a:pt x="4" y="7"/>
                      </a:lnTo>
                      <a:lnTo>
                        <a:pt x="4" y="6"/>
                      </a:lnTo>
                      <a:lnTo>
                        <a:pt x="5" y="5"/>
                      </a:lnTo>
                      <a:lnTo>
                        <a:pt x="6" y="4"/>
                      </a:lnTo>
                      <a:lnTo>
                        <a:pt x="7" y="4"/>
                      </a:lnTo>
                      <a:lnTo>
                        <a:pt x="8" y="4"/>
                      </a:lnTo>
                      <a:lnTo>
                        <a:pt x="9" y="3"/>
                      </a:lnTo>
                      <a:lnTo>
                        <a:pt x="11" y="4"/>
                      </a:lnTo>
                      <a:lnTo>
                        <a:pt x="12" y="4"/>
                      </a:lnTo>
                      <a:lnTo>
                        <a:pt x="13" y="4"/>
                      </a:lnTo>
                      <a:lnTo>
                        <a:pt x="14" y="5"/>
                      </a:lnTo>
                      <a:lnTo>
                        <a:pt x="15" y="6"/>
                      </a:lnTo>
                      <a:lnTo>
                        <a:pt x="16" y="7"/>
                      </a:lnTo>
                      <a:lnTo>
                        <a:pt x="16" y="8"/>
                      </a:lnTo>
                      <a:lnTo>
                        <a:pt x="16" y="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42" name="Freeform 4830"/>
                <p:cNvSpPr>
                  <a:spLocks noChangeAspect="1" noEditPoints="1"/>
                </p:cNvSpPr>
                <p:nvPr/>
              </p:nvSpPr>
              <p:spPr bwMode="auto">
                <a:xfrm>
                  <a:off x="3520" y="3354"/>
                  <a:ext cx="5" cy="6"/>
                </a:xfrm>
                <a:custGeom>
                  <a:avLst/>
                  <a:gdLst>
                    <a:gd name="T0" fmla="*/ 17 w 17"/>
                    <a:gd name="T1" fmla="*/ 7 h 17"/>
                    <a:gd name="T2" fmla="*/ 16 w 17"/>
                    <a:gd name="T3" fmla="*/ 4 h 17"/>
                    <a:gd name="T4" fmla="*/ 14 w 17"/>
                    <a:gd name="T5" fmla="*/ 2 h 17"/>
                    <a:gd name="T6" fmla="*/ 11 w 17"/>
                    <a:gd name="T7" fmla="*/ 1 h 17"/>
                    <a:gd name="T8" fmla="*/ 7 w 17"/>
                    <a:gd name="T9" fmla="*/ 1 h 17"/>
                    <a:gd name="T10" fmla="*/ 4 w 17"/>
                    <a:gd name="T11" fmla="*/ 2 h 17"/>
                    <a:gd name="T12" fmla="*/ 2 w 17"/>
                    <a:gd name="T13" fmla="*/ 4 h 17"/>
                    <a:gd name="T14" fmla="*/ 1 w 17"/>
                    <a:gd name="T15" fmla="*/ 7 h 17"/>
                    <a:gd name="T16" fmla="*/ 1 w 17"/>
                    <a:gd name="T17" fmla="*/ 10 h 17"/>
                    <a:gd name="T18" fmla="*/ 2 w 17"/>
                    <a:gd name="T19" fmla="*/ 14 h 17"/>
                    <a:gd name="T20" fmla="*/ 4 w 17"/>
                    <a:gd name="T21" fmla="*/ 16 h 17"/>
                    <a:gd name="T22" fmla="*/ 7 w 17"/>
                    <a:gd name="T23" fmla="*/ 17 h 17"/>
                    <a:gd name="T24" fmla="*/ 11 w 17"/>
                    <a:gd name="T25" fmla="*/ 17 h 17"/>
                    <a:gd name="T26" fmla="*/ 14 w 17"/>
                    <a:gd name="T27" fmla="*/ 16 h 17"/>
                    <a:gd name="T28" fmla="*/ 16 w 17"/>
                    <a:gd name="T29" fmla="*/ 14 h 17"/>
                    <a:gd name="T30" fmla="*/ 17 w 17"/>
                    <a:gd name="T31" fmla="*/ 10 h 17"/>
                    <a:gd name="T32" fmla="*/ 13 w 17"/>
                    <a:gd name="T33" fmla="*/ 8 h 17"/>
                    <a:gd name="T34" fmla="*/ 13 w 17"/>
                    <a:gd name="T35" fmla="*/ 10 h 17"/>
                    <a:gd name="T36" fmla="*/ 12 w 17"/>
                    <a:gd name="T37" fmla="*/ 11 h 17"/>
                    <a:gd name="T38" fmla="*/ 11 w 17"/>
                    <a:gd name="T39" fmla="*/ 13 h 17"/>
                    <a:gd name="T40" fmla="*/ 8 w 17"/>
                    <a:gd name="T41" fmla="*/ 13 h 17"/>
                    <a:gd name="T42" fmla="*/ 7 w 17"/>
                    <a:gd name="T43" fmla="*/ 13 h 17"/>
                    <a:gd name="T44" fmla="*/ 5 w 17"/>
                    <a:gd name="T45" fmla="*/ 11 h 17"/>
                    <a:gd name="T46" fmla="*/ 5 w 17"/>
                    <a:gd name="T47" fmla="*/ 10 h 17"/>
                    <a:gd name="T48" fmla="*/ 4 w 17"/>
                    <a:gd name="T49" fmla="*/ 8 h 17"/>
                    <a:gd name="T50" fmla="*/ 5 w 17"/>
                    <a:gd name="T51" fmla="*/ 7 h 17"/>
                    <a:gd name="T52" fmla="*/ 5 w 17"/>
                    <a:gd name="T53" fmla="*/ 5 h 17"/>
                    <a:gd name="T54" fmla="*/ 7 w 17"/>
                    <a:gd name="T55" fmla="*/ 5 h 17"/>
                    <a:gd name="T56" fmla="*/ 8 w 17"/>
                    <a:gd name="T57" fmla="*/ 4 h 17"/>
                    <a:gd name="T58" fmla="*/ 11 w 17"/>
                    <a:gd name="T59" fmla="*/ 5 h 17"/>
                    <a:gd name="T60" fmla="*/ 12 w 17"/>
                    <a:gd name="T61" fmla="*/ 5 h 17"/>
                    <a:gd name="T62" fmla="*/ 13 w 17"/>
                    <a:gd name="T63" fmla="*/ 7 h 17"/>
                    <a:gd name="T64" fmla="*/ 13 w 17"/>
                    <a:gd name="T65"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 h="17">
                      <a:moveTo>
                        <a:pt x="17" y="8"/>
                      </a:moveTo>
                      <a:lnTo>
                        <a:pt x="17" y="7"/>
                      </a:lnTo>
                      <a:lnTo>
                        <a:pt x="16" y="5"/>
                      </a:lnTo>
                      <a:lnTo>
                        <a:pt x="16" y="4"/>
                      </a:lnTo>
                      <a:lnTo>
                        <a:pt x="15" y="3"/>
                      </a:lnTo>
                      <a:lnTo>
                        <a:pt x="14" y="2"/>
                      </a:lnTo>
                      <a:lnTo>
                        <a:pt x="12" y="1"/>
                      </a:lnTo>
                      <a:lnTo>
                        <a:pt x="11" y="1"/>
                      </a:lnTo>
                      <a:lnTo>
                        <a:pt x="8" y="0"/>
                      </a:lnTo>
                      <a:lnTo>
                        <a:pt x="7" y="1"/>
                      </a:lnTo>
                      <a:lnTo>
                        <a:pt x="5" y="1"/>
                      </a:lnTo>
                      <a:lnTo>
                        <a:pt x="4" y="2"/>
                      </a:lnTo>
                      <a:lnTo>
                        <a:pt x="3" y="3"/>
                      </a:lnTo>
                      <a:lnTo>
                        <a:pt x="2" y="4"/>
                      </a:lnTo>
                      <a:lnTo>
                        <a:pt x="1" y="5"/>
                      </a:lnTo>
                      <a:lnTo>
                        <a:pt x="1" y="7"/>
                      </a:lnTo>
                      <a:lnTo>
                        <a:pt x="0" y="8"/>
                      </a:lnTo>
                      <a:lnTo>
                        <a:pt x="1" y="10"/>
                      </a:lnTo>
                      <a:lnTo>
                        <a:pt x="1" y="11"/>
                      </a:lnTo>
                      <a:lnTo>
                        <a:pt x="2" y="14"/>
                      </a:lnTo>
                      <a:lnTo>
                        <a:pt x="3" y="15"/>
                      </a:lnTo>
                      <a:lnTo>
                        <a:pt x="4" y="16"/>
                      </a:lnTo>
                      <a:lnTo>
                        <a:pt x="5" y="16"/>
                      </a:lnTo>
                      <a:lnTo>
                        <a:pt x="7" y="17"/>
                      </a:lnTo>
                      <a:lnTo>
                        <a:pt x="8" y="17"/>
                      </a:lnTo>
                      <a:lnTo>
                        <a:pt x="11" y="17"/>
                      </a:lnTo>
                      <a:lnTo>
                        <a:pt x="12" y="16"/>
                      </a:lnTo>
                      <a:lnTo>
                        <a:pt x="14" y="16"/>
                      </a:lnTo>
                      <a:lnTo>
                        <a:pt x="15" y="15"/>
                      </a:lnTo>
                      <a:lnTo>
                        <a:pt x="16" y="14"/>
                      </a:lnTo>
                      <a:lnTo>
                        <a:pt x="16" y="11"/>
                      </a:lnTo>
                      <a:lnTo>
                        <a:pt x="17" y="10"/>
                      </a:lnTo>
                      <a:lnTo>
                        <a:pt x="17" y="8"/>
                      </a:lnTo>
                      <a:close/>
                      <a:moveTo>
                        <a:pt x="13" y="8"/>
                      </a:moveTo>
                      <a:lnTo>
                        <a:pt x="13" y="9"/>
                      </a:lnTo>
                      <a:lnTo>
                        <a:pt x="13" y="10"/>
                      </a:lnTo>
                      <a:lnTo>
                        <a:pt x="12" y="10"/>
                      </a:lnTo>
                      <a:lnTo>
                        <a:pt x="12" y="11"/>
                      </a:lnTo>
                      <a:lnTo>
                        <a:pt x="11" y="11"/>
                      </a:lnTo>
                      <a:lnTo>
                        <a:pt x="11" y="13"/>
                      </a:lnTo>
                      <a:lnTo>
                        <a:pt x="10" y="13"/>
                      </a:lnTo>
                      <a:lnTo>
                        <a:pt x="8" y="13"/>
                      </a:lnTo>
                      <a:lnTo>
                        <a:pt x="7" y="13"/>
                      </a:lnTo>
                      <a:lnTo>
                        <a:pt x="7" y="13"/>
                      </a:lnTo>
                      <a:lnTo>
                        <a:pt x="6" y="11"/>
                      </a:lnTo>
                      <a:lnTo>
                        <a:pt x="5" y="11"/>
                      </a:lnTo>
                      <a:lnTo>
                        <a:pt x="5" y="10"/>
                      </a:lnTo>
                      <a:lnTo>
                        <a:pt x="5" y="10"/>
                      </a:lnTo>
                      <a:lnTo>
                        <a:pt x="4" y="9"/>
                      </a:lnTo>
                      <a:lnTo>
                        <a:pt x="4" y="8"/>
                      </a:lnTo>
                      <a:lnTo>
                        <a:pt x="4" y="7"/>
                      </a:lnTo>
                      <a:lnTo>
                        <a:pt x="5" y="7"/>
                      </a:lnTo>
                      <a:lnTo>
                        <a:pt x="5" y="6"/>
                      </a:lnTo>
                      <a:lnTo>
                        <a:pt x="5" y="5"/>
                      </a:lnTo>
                      <a:lnTo>
                        <a:pt x="6" y="5"/>
                      </a:lnTo>
                      <a:lnTo>
                        <a:pt x="7" y="5"/>
                      </a:lnTo>
                      <a:lnTo>
                        <a:pt x="7" y="4"/>
                      </a:lnTo>
                      <a:lnTo>
                        <a:pt x="8" y="4"/>
                      </a:lnTo>
                      <a:lnTo>
                        <a:pt x="10" y="4"/>
                      </a:lnTo>
                      <a:lnTo>
                        <a:pt x="11" y="5"/>
                      </a:lnTo>
                      <a:lnTo>
                        <a:pt x="11" y="5"/>
                      </a:lnTo>
                      <a:lnTo>
                        <a:pt x="12" y="5"/>
                      </a:lnTo>
                      <a:lnTo>
                        <a:pt x="12" y="6"/>
                      </a:lnTo>
                      <a:lnTo>
                        <a:pt x="13" y="7"/>
                      </a:lnTo>
                      <a:lnTo>
                        <a:pt x="13" y="7"/>
                      </a:lnTo>
                      <a:lnTo>
                        <a:pt x="13" y="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43" name="Freeform 4831"/>
                <p:cNvSpPr>
                  <a:spLocks noChangeAspect="1"/>
                </p:cNvSpPr>
                <p:nvPr/>
              </p:nvSpPr>
              <p:spPr bwMode="auto">
                <a:xfrm>
                  <a:off x="3520" y="3355"/>
                  <a:ext cx="5" cy="4"/>
                </a:xfrm>
                <a:custGeom>
                  <a:avLst/>
                  <a:gdLst>
                    <a:gd name="T0" fmla="*/ 13 w 13"/>
                    <a:gd name="T1" fmla="*/ 6 h 13"/>
                    <a:gd name="T2" fmla="*/ 13 w 13"/>
                    <a:gd name="T3" fmla="*/ 5 h 13"/>
                    <a:gd name="T4" fmla="*/ 13 w 13"/>
                    <a:gd name="T5" fmla="*/ 4 h 13"/>
                    <a:gd name="T6" fmla="*/ 12 w 13"/>
                    <a:gd name="T7" fmla="*/ 3 h 13"/>
                    <a:gd name="T8" fmla="*/ 11 w 13"/>
                    <a:gd name="T9" fmla="*/ 2 h 13"/>
                    <a:gd name="T10" fmla="*/ 10 w 13"/>
                    <a:gd name="T11" fmla="*/ 1 h 13"/>
                    <a:gd name="T12" fmla="*/ 9 w 13"/>
                    <a:gd name="T13" fmla="*/ 1 h 13"/>
                    <a:gd name="T14" fmla="*/ 8 w 13"/>
                    <a:gd name="T15" fmla="*/ 1 h 13"/>
                    <a:gd name="T16" fmla="*/ 6 w 13"/>
                    <a:gd name="T17" fmla="*/ 0 h 13"/>
                    <a:gd name="T18" fmla="*/ 5 w 13"/>
                    <a:gd name="T19" fmla="*/ 1 h 13"/>
                    <a:gd name="T20" fmla="*/ 4 w 13"/>
                    <a:gd name="T21" fmla="*/ 1 h 13"/>
                    <a:gd name="T22" fmla="*/ 3 w 13"/>
                    <a:gd name="T23" fmla="*/ 1 h 13"/>
                    <a:gd name="T24" fmla="*/ 2 w 13"/>
                    <a:gd name="T25" fmla="*/ 2 h 13"/>
                    <a:gd name="T26" fmla="*/ 1 w 13"/>
                    <a:gd name="T27" fmla="*/ 3 h 13"/>
                    <a:gd name="T28" fmla="*/ 1 w 13"/>
                    <a:gd name="T29" fmla="*/ 4 h 13"/>
                    <a:gd name="T30" fmla="*/ 1 w 13"/>
                    <a:gd name="T31" fmla="*/ 5 h 13"/>
                    <a:gd name="T32" fmla="*/ 0 w 13"/>
                    <a:gd name="T33" fmla="*/ 6 h 13"/>
                    <a:gd name="T34" fmla="*/ 1 w 13"/>
                    <a:gd name="T35" fmla="*/ 7 h 13"/>
                    <a:gd name="T36" fmla="*/ 1 w 13"/>
                    <a:gd name="T37" fmla="*/ 8 h 13"/>
                    <a:gd name="T38" fmla="*/ 1 w 13"/>
                    <a:gd name="T39" fmla="*/ 9 h 13"/>
                    <a:gd name="T40" fmla="*/ 2 w 13"/>
                    <a:gd name="T41" fmla="*/ 11 h 13"/>
                    <a:gd name="T42" fmla="*/ 3 w 13"/>
                    <a:gd name="T43" fmla="*/ 12 h 13"/>
                    <a:gd name="T44" fmla="*/ 4 w 13"/>
                    <a:gd name="T45" fmla="*/ 13 h 13"/>
                    <a:gd name="T46" fmla="*/ 5 w 13"/>
                    <a:gd name="T47" fmla="*/ 13 h 13"/>
                    <a:gd name="T48" fmla="*/ 6 w 13"/>
                    <a:gd name="T49" fmla="*/ 13 h 13"/>
                    <a:gd name="T50" fmla="*/ 8 w 13"/>
                    <a:gd name="T51" fmla="*/ 13 h 13"/>
                    <a:gd name="T52" fmla="*/ 9 w 13"/>
                    <a:gd name="T53" fmla="*/ 13 h 13"/>
                    <a:gd name="T54" fmla="*/ 10 w 13"/>
                    <a:gd name="T55" fmla="*/ 12 h 13"/>
                    <a:gd name="T56" fmla="*/ 11 w 13"/>
                    <a:gd name="T57" fmla="*/ 11 h 13"/>
                    <a:gd name="T58" fmla="*/ 12 w 13"/>
                    <a:gd name="T59" fmla="*/ 9 h 13"/>
                    <a:gd name="T60" fmla="*/ 13 w 13"/>
                    <a:gd name="T61" fmla="*/ 8 h 13"/>
                    <a:gd name="T62" fmla="*/ 13 w 13"/>
                    <a:gd name="T63" fmla="*/ 7 h 13"/>
                    <a:gd name="T64" fmla="*/ 13 w 13"/>
                    <a:gd name="T65"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 h="13">
                      <a:moveTo>
                        <a:pt x="13" y="6"/>
                      </a:moveTo>
                      <a:lnTo>
                        <a:pt x="13" y="5"/>
                      </a:lnTo>
                      <a:lnTo>
                        <a:pt x="13" y="4"/>
                      </a:lnTo>
                      <a:lnTo>
                        <a:pt x="12" y="3"/>
                      </a:lnTo>
                      <a:lnTo>
                        <a:pt x="11" y="2"/>
                      </a:lnTo>
                      <a:lnTo>
                        <a:pt x="10" y="1"/>
                      </a:lnTo>
                      <a:lnTo>
                        <a:pt x="9" y="1"/>
                      </a:lnTo>
                      <a:lnTo>
                        <a:pt x="8" y="1"/>
                      </a:lnTo>
                      <a:lnTo>
                        <a:pt x="6" y="0"/>
                      </a:lnTo>
                      <a:lnTo>
                        <a:pt x="5" y="1"/>
                      </a:lnTo>
                      <a:lnTo>
                        <a:pt x="4" y="1"/>
                      </a:lnTo>
                      <a:lnTo>
                        <a:pt x="3" y="1"/>
                      </a:lnTo>
                      <a:lnTo>
                        <a:pt x="2" y="2"/>
                      </a:lnTo>
                      <a:lnTo>
                        <a:pt x="1" y="3"/>
                      </a:lnTo>
                      <a:lnTo>
                        <a:pt x="1" y="4"/>
                      </a:lnTo>
                      <a:lnTo>
                        <a:pt x="1" y="5"/>
                      </a:lnTo>
                      <a:lnTo>
                        <a:pt x="0" y="6"/>
                      </a:lnTo>
                      <a:lnTo>
                        <a:pt x="1" y="7"/>
                      </a:lnTo>
                      <a:lnTo>
                        <a:pt x="1" y="8"/>
                      </a:lnTo>
                      <a:lnTo>
                        <a:pt x="1" y="9"/>
                      </a:lnTo>
                      <a:lnTo>
                        <a:pt x="2" y="11"/>
                      </a:lnTo>
                      <a:lnTo>
                        <a:pt x="3" y="12"/>
                      </a:lnTo>
                      <a:lnTo>
                        <a:pt x="4" y="13"/>
                      </a:lnTo>
                      <a:lnTo>
                        <a:pt x="5" y="13"/>
                      </a:lnTo>
                      <a:lnTo>
                        <a:pt x="6" y="13"/>
                      </a:lnTo>
                      <a:lnTo>
                        <a:pt x="8" y="13"/>
                      </a:lnTo>
                      <a:lnTo>
                        <a:pt x="9" y="13"/>
                      </a:lnTo>
                      <a:lnTo>
                        <a:pt x="10" y="12"/>
                      </a:lnTo>
                      <a:lnTo>
                        <a:pt x="11" y="11"/>
                      </a:lnTo>
                      <a:lnTo>
                        <a:pt x="12" y="9"/>
                      </a:lnTo>
                      <a:lnTo>
                        <a:pt x="13" y="8"/>
                      </a:lnTo>
                      <a:lnTo>
                        <a:pt x="13" y="7"/>
                      </a:lnTo>
                      <a:lnTo>
                        <a:pt x="13" y="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44" name="Freeform 4832"/>
                <p:cNvSpPr>
                  <a:spLocks noChangeAspect="1"/>
                </p:cNvSpPr>
                <p:nvPr/>
              </p:nvSpPr>
              <p:spPr bwMode="auto">
                <a:xfrm>
                  <a:off x="3521" y="3356"/>
                  <a:ext cx="3" cy="3"/>
                </a:xfrm>
                <a:custGeom>
                  <a:avLst/>
                  <a:gdLst>
                    <a:gd name="T0" fmla="*/ 9 w 9"/>
                    <a:gd name="T1" fmla="*/ 4 h 9"/>
                    <a:gd name="T2" fmla="*/ 9 w 9"/>
                    <a:gd name="T3" fmla="*/ 3 h 9"/>
                    <a:gd name="T4" fmla="*/ 9 w 9"/>
                    <a:gd name="T5" fmla="*/ 3 h 9"/>
                    <a:gd name="T6" fmla="*/ 8 w 9"/>
                    <a:gd name="T7" fmla="*/ 2 h 9"/>
                    <a:gd name="T8" fmla="*/ 8 w 9"/>
                    <a:gd name="T9" fmla="*/ 1 h 9"/>
                    <a:gd name="T10" fmla="*/ 7 w 9"/>
                    <a:gd name="T11" fmla="*/ 1 h 9"/>
                    <a:gd name="T12" fmla="*/ 7 w 9"/>
                    <a:gd name="T13" fmla="*/ 1 h 9"/>
                    <a:gd name="T14" fmla="*/ 6 w 9"/>
                    <a:gd name="T15" fmla="*/ 0 h 9"/>
                    <a:gd name="T16" fmla="*/ 4 w 9"/>
                    <a:gd name="T17" fmla="*/ 0 h 9"/>
                    <a:gd name="T18" fmla="*/ 3 w 9"/>
                    <a:gd name="T19" fmla="*/ 0 h 9"/>
                    <a:gd name="T20" fmla="*/ 3 w 9"/>
                    <a:gd name="T21" fmla="*/ 1 h 9"/>
                    <a:gd name="T22" fmla="*/ 2 w 9"/>
                    <a:gd name="T23" fmla="*/ 1 h 9"/>
                    <a:gd name="T24" fmla="*/ 1 w 9"/>
                    <a:gd name="T25" fmla="*/ 1 h 9"/>
                    <a:gd name="T26" fmla="*/ 1 w 9"/>
                    <a:gd name="T27" fmla="*/ 2 h 9"/>
                    <a:gd name="T28" fmla="*/ 1 w 9"/>
                    <a:gd name="T29" fmla="*/ 3 h 9"/>
                    <a:gd name="T30" fmla="*/ 0 w 9"/>
                    <a:gd name="T31" fmla="*/ 3 h 9"/>
                    <a:gd name="T32" fmla="*/ 0 w 9"/>
                    <a:gd name="T33" fmla="*/ 4 h 9"/>
                    <a:gd name="T34" fmla="*/ 0 w 9"/>
                    <a:gd name="T35" fmla="*/ 5 h 9"/>
                    <a:gd name="T36" fmla="*/ 1 w 9"/>
                    <a:gd name="T37" fmla="*/ 6 h 9"/>
                    <a:gd name="T38" fmla="*/ 1 w 9"/>
                    <a:gd name="T39" fmla="*/ 6 h 9"/>
                    <a:gd name="T40" fmla="*/ 1 w 9"/>
                    <a:gd name="T41" fmla="*/ 7 h 9"/>
                    <a:gd name="T42" fmla="*/ 2 w 9"/>
                    <a:gd name="T43" fmla="*/ 7 h 9"/>
                    <a:gd name="T44" fmla="*/ 3 w 9"/>
                    <a:gd name="T45" fmla="*/ 9 h 9"/>
                    <a:gd name="T46" fmla="*/ 3 w 9"/>
                    <a:gd name="T47" fmla="*/ 9 h 9"/>
                    <a:gd name="T48" fmla="*/ 4 w 9"/>
                    <a:gd name="T49" fmla="*/ 9 h 9"/>
                    <a:gd name="T50" fmla="*/ 6 w 9"/>
                    <a:gd name="T51" fmla="*/ 9 h 9"/>
                    <a:gd name="T52" fmla="*/ 7 w 9"/>
                    <a:gd name="T53" fmla="*/ 9 h 9"/>
                    <a:gd name="T54" fmla="*/ 7 w 9"/>
                    <a:gd name="T55" fmla="*/ 7 h 9"/>
                    <a:gd name="T56" fmla="*/ 8 w 9"/>
                    <a:gd name="T57" fmla="*/ 7 h 9"/>
                    <a:gd name="T58" fmla="*/ 8 w 9"/>
                    <a:gd name="T59" fmla="*/ 6 h 9"/>
                    <a:gd name="T60" fmla="*/ 9 w 9"/>
                    <a:gd name="T61" fmla="*/ 6 h 9"/>
                    <a:gd name="T62" fmla="*/ 9 w 9"/>
                    <a:gd name="T63" fmla="*/ 5 h 9"/>
                    <a:gd name="T64" fmla="*/ 9 w 9"/>
                    <a:gd name="T65"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 h="9">
                      <a:moveTo>
                        <a:pt x="9" y="4"/>
                      </a:moveTo>
                      <a:lnTo>
                        <a:pt x="9" y="3"/>
                      </a:lnTo>
                      <a:lnTo>
                        <a:pt x="9" y="3"/>
                      </a:lnTo>
                      <a:lnTo>
                        <a:pt x="8" y="2"/>
                      </a:lnTo>
                      <a:lnTo>
                        <a:pt x="8" y="1"/>
                      </a:lnTo>
                      <a:lnTo>
                        <a:pt x="7" y="1"/>
                      </a:lnTo>
                      <a:lnTo>
                        <a:pt x="7" y="1"/>
                      </a:lnTo>
                      <a:lnTo>
                        <a:pt x="6" y="0"/>
                      </a:lnTo>
                      <a:lnTo>
                        <a:pt x="4" y="0"/>
                      </a:lnTo>
                      <a:lnTo>
                        <a:pt x="3" y="0"/>
                      </a:lnTo>
                      <a:lnTo>
                        <a:pt x="3" y="1"/>
                      </a:lnTo>
                      <a:lnTo>
                        <a:pt x="2" y="1"/>
                      </a:lnTo>
                      <a:lnTo>
                        <a:pt x="1" y="1"/>
                      </a:lnTo>
                      <a:lnTo>
                        <a:pt x="1" y="2"/>
                      </a:lnTo>
                      <a:lnTo>
                        <a:pt x="1" y="3"/>
                      </a:lnTo>
                      <a:lnTo>
                        <a:pt x="0" y="3"/>
                      </a:lnTo>
                      <a:lnTo>
                        <a:pt x="0" y="4"/>
                      </a:lnTo>
                      <a:lnTo>
                        <a:pt x="0" y="5"/>
                      </a:lnTo>
                      <a:lnTo>
                        <a:pt x="1" y="6"/>
                      </a:lnTo>
                      <a:lnTo>
                        <a:pt x="1" y="6"/>
                      </a:lnTo>
                      <a:lnTo>
                        <a:pt x="1" y="7"/>
                      </a:lnTo>
                      <a:lnTo>
                        <a:pt x="2" y="7"/>
                      </a:lnTo>
                      <a:lnTo>
                        <a:pt x="3" y="9"/>
                      </a:lnTo>
                      <a:lnTo>
                        <a:pt x="3" y="9"/>
                      </a:lnTo>
                      <a:lnTo>
                        <a:pt x="4" y="9"/>
                      </a:lnTo>
                      <a:lnTo>
                        <a:pt x="6" y="9"/>
                      </a:lnTo>
                      <a:lnTo>
                        <a:pt x="7" y="9"/>
                      </a:lnTo>
                      <a:lnTo>
                        <a:pt x="7" y="7"/>
                      </a:lnTo>
                      <a:lnTo>
                        <a:pt x="8" y="7"/>
                      </a:lnTo>
                      <a:lnTo>
                        <a:pt x="8" y="6"/>
                      </a:lnTo>
                      <a:lnTo>
                        <a:pt x="9" y="6"/>
                      </a:lnTo>
                      <a:lnTo>
                        <a:pt x="9" y="5"/>
                      </a:lnTo>
                      <a:lnTo>
                        <a:pt x="9" y="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45" name="Freeform 4833"/>
                <p:cNvSpPr>
                  <a:spLocks noChangeAspect="1"/>
                </p:cNvSpPr>
                <p:nvPr/>
              </p:nvSpPr>
              <p:spPr bwMode="auto">
                <a:xfrm>
                  <a:off x="3522" y="3356"/>
                  <a:ext cx="1" cy="3"/>
                </a:xfrm>
                <a:custGeom>
                  <a:avLst/>
                  <a:gdLst>
                    <a:gd name="T0" fmla="*/ 5 w 5"/>
                    <a:gd name="T1" fmla="*/ 2 h 4"/>
                    <a:gd name="T2" fmla="*/ 5 w 5"/>
                    <a:gd name="T3" fmla="*/ 2 h 4"/>
                    <a:gd name="T4" fmla="*/ 5 w 5"/>
                    <a:gd name="T5" fmla="*/ 1 h 4"/>
                    <a:gd name="T6" fmla="*/ 5 w 5"/>
                    <a:gd name="T7" fmla="*/ 1 h 4"/>
                    <a:gd name="T8" fmla="*/ 5 w 5"/>
                    <a:gd name="T9" fmla="*/ 1 h 4"/>
                    <a:gd name="T10" fmla="*/ 4 w 5"/>
                    <a:gd name="T11" fmla="*/ 1 h 4"/>
                    <a:gd name="T12" fmla="*/ 4 w 5"/>
                    <a:gd name="T13" fmla="*/ 0 h 4"/>
                    <a:gd name="T14" fmla="*/ 4 w 5"/>
                    <a:gd name="T15" fmla="*/ 0 h 4"/>
                    <a:gd name="T16" fmla="*/ 2 w 5"/>
                    <a:gd name="T17" fmla="*/ 0 h 4"/>
                    <a:gd name="T18" fmla="*/ 2 w 5"/>
                    <a:gd name="T19" fmla="*/ 0 h 4"/>
                    <a:gd name="T20" fmla="*/ 1 w 5"/>
                    <a:gd name="T21" fmla="*/ 0 h 4"/>
                    <a:gd name="T22" fmla="*/ 1 w 5"/>
                    <a:gd name="T23" fmla="*/ 1 h 4"/>
                    <a:gd name="T24" fmla="*/ 1 w 5"/>
                    <a:gd name="T25" fmla="*/ 1 h 4"/>
                    <a:gd name="T26" fmla="*/ 1 w 5"/>
                    <a:gd name="T27" fmla="*/ 1 h 4"/>
                    <a:gd name="T28" fmla="*/ 0 w 5"/>
                    <a:gd name="T29" fmla="*/ 1 h 4"/>
                    <a:gd name="T30" fmla="*/ 0 w 5"/>
                    <a:gd name="T31" fmla="*/ 2 h 4"/>
                    <a:gd name="T32" fmla="*/ 0 w 5"/>
                    <a:gd name="T33" fmla="*/ 2 h 4"/>
                    <a:gd name="T34" fmla="*/ 0 w 5"/>
                    <a:gd name="T35" fmla="*/ 3 h 4"/>
                    <a:gd name="T36" fmla="*/ 0 w 5"/>
                    <a:gd name="T37" fmla="*/ 3 h 4"/>
                    <a:gd name="T38" fmla="*/ 1 w 5"/>
                    <a:gd name="T39" fmla="*/ 3 h 4"/>
                    <a:gd name="T40" fmla="*/ 1 w 5"/>
                    <a:gd name="T41" fmla="*/ 4 h 4"/>
                    <a:gd name="T42" fmla="*/ 1 w 5"/>
                    <a:gd name="T43" fmla="*/ 4 h 4"/>
                    <a:gd name="T44" fmla="*/ 1 w 5"/>
                    <a:gd name="T45" fmla="*/ 4 h 4"/>
                    <a:gd name="T46" fmla="*/ 2 w 5"/>
                    <a:gd name="T47" fmla="*/ 4 h 4"/>
                    <a:gd name="T48" fmla="*/ 2 w 5"/>
                    <a:gd name="T49" fmla="*/ 4 h 4"/>
                    <a:gd name="T50" fmla="*/ 4 w 5"/>
                    <a:gd name="T51" fmla="*/ 4 h 4"/>
                    <a:gd name="T52" fmla="*/ 4 w 5"/>
                    <a:gd name="T53" fmla="*/ 4 h 4"/>
                    <a:gd name="T54" fmla="*/ 4 w 5"/>
                    <a:gd name="T55" fmla="*/ 4 h 4"/>
                    <a:gd name="T56" fmla="*/ 5 w 5"/>
                    <a:gd name="T57" fmla="*/ 4 h 4"/>
                    <a:gd name="T58" fmla="*/ 5 w 5"/>
                    <a:gd name="T59" fmla="*/ 3 h 4"/>
                    <a:gd name="T60" fmla="*/ 5 w 5"/>
                    <a:gd name="T61" fmla="*/ 3 h 4"/>
                    <a:gd name="T62" fmla="*/ 5 w 5"/>
                    <a:gd name="T63" fmla="*/ 3 h 4"/>
                    <a:gd name="T64" fmla="*/ 5 w 5"/>
                    <a:gd name="T6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 h="4">
                      <a:moveTo>
                        <a:pt x="5" y="2"/>
                      </a:moveTo>
                      <a:lnTo>
                        <a:pt x="5" y="2"/>
                      </a:lnTo>
                      <a:lnTo>
                        <a:pt x="5" y="1"/>
                      </a:lnTo>
                      <a:lnTo>
                        <a:pt x="5" y="1"/>
                      </a:lnTo>
                      <a:lnTo>
                        <a:pt x="5" y="1"/>
                      </a:lnTo>
                      <a:lnTo>
                        <a:pt x="4" y="1"/>
                      </a:lnTo>
                      <a:lnTo>
                        <a:pt x="4" y="0"/>
                      </a:lnTo>
                      <a:lnTo>
                        <a:pt x="4" y="0"/>
                      </a:lnTo>
                      <a:lnTo>
                        <a:pt x="2" y="0"/>
                      </a:lnTo>
                      <a:lnTo>
                        <a:pt x="2" y="0"/>
                      </a:lnTo>
                      <a:lnTo>
                        <a:pt x="1" y="0"/>
                      </a:lnTo>
                      <a:lnTo>
                        <a:pt x="1" y="1"/>
                      </a:lnTo>
                      <a:lnTo>
                        <a:pt x="1" y="1"/>
                      </a:lnTo>
                      <a:lnTo>
                        <a:pt x="1" y="1"/>
                      </a:lnTo>
                      <a:lnTo>
                        <a:pt x="0" y="1"/>
                      </a:lnTo>
                      <a:lnTo>
                        <a:pt x="0" y="2"/>
                      </a:lnTo>
                      <a:lnTo>
                        <a:pt x="0" y="2"/>
                      </a:lnTo>
                      <a:lnTo>
                        <a:pt x="0" y="3"/>
                      </a:lnTo>
                      <a:lnTo>
                        <a:pt x="0" y="3"/>
                      </a:lnTo>
                      <a:lnTo>
                        <a:pt x="1" y="3"/>
                      </a:lnTo>
                      <a:lnTo>
                        <a:pt x="1" y="4"/>
                      </a:lnTo>
                      <a:lnTo>
                        <a:pt x="1" y="4"/>
                      </a:lnTo>
                      <a:lnTo>
                        <a:pt x="1" y="4"/>
                      </a:lnTo>
                      <a:lnTo>
                        <a:pt x="2" y="4"/>
                      </a:lnTo>
                      <a:lnTo>
                        <a:pt x="2" y="4"/>
                      </a:lnTo>
                      <a:lnTo>
                        <a:pt x="4" y="4"/>
                      </a:lnTo>
                      <a:lnTo>
                        <a:pt x="4" y="4"/>
                      </a:lnTo>
                      <a:lnTo>
                        <a:pt x="4" y="4"/>
                      </a:lnTo>
                      <a:lnTo>
                        <a:pt x="5" y="4"/>
                      </a:lnTo>
                      <a:lnTo>
                        <a:pt x="5" y="3"/>
                      </a:lnTo>
                      <a:lnTo>
                        <a:pt x="5" y="3"/>
                      </a:lnTo>
                      <a:lnTo>
                        <a:pt x="5" y="3"/>
                      </a:lnTo>
                      <a:lnTo>
                        <a:pt x="5" y="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46" name="Freeform 4834"/>
                <p:cNvSpPr>
                  <a:spLocks noChangeAspect="1"/>
                </p:cNvSpPr>
                <p:nvPr/>
              </p:nvSpPr>
              <p:spPr bwMode="auto">
                <a:xfrm>
                  <a:off x="3498" y="3333"/>
                  <a:ext cx="49" cy="48"/>
                </a:xfrm>
                <a:custGeom>
                  <a:avLst/>
                  <a:gdLst>
                    <a:gd name="T0" fmla="*/ 80 w 145"/>
                    <a:gd name="T1" fmla="*/ 0 h 145"/>
                    <a:gd name="T2" fmla="*/ 94 w 145"/>
                    <a:gd name="T3" fmla="*/ 3 h 145"/>
                    <a:gd name="T4" fmla="*/ 108 w 145"/>
                    <a:gd name="T5" fmla="*/ 8 h 145"/>
                    <a:gd name="T6" fmla="*/ 119 w 145"/>
                    <a:gd name="T7" fmla="*/ 17 h 145"/>
                    <a:gd name="T8" fmla="*/ 129 w 145"/>
                    <a:gd name="T9" fmla="*/ 27 h 145"/>
                    <a:gd name="T10" fmla="*/ 136 w 145"/>
                    <a:gd name="T11" fmla="*/ 38 h 145"/>
                    <a:gd name="T12" fmla="*/ 142 w 145"/>
                    <a:gd name="T13" fmla="*/ 51 h 145"/>
                    <a:gd name="T14" fmla="*/ 145 w 145"/>
                    <a:gd name="T15" fmla="*/ 65 h 145"/>
                    <a:gd name="T16" fmla="*/ 145 w 145"/>
                    <a:gd name="T17" fmla="*/ 80 h 145"/>
                    <a:gd name="T18" fmla="*/ 142 w 145"/>
                    <a:gd name="T19" fmla="*/ 94 h 145"/>
                    <a:gd name="T20" fmla="*/ 136 w 145"/>
                    <a:gd name="T21" fmla="*/ 107 h 145"/>
                    <a:gd name="T22" fmla="*/ 129 w 145"/>
                    <a:gd name="T23" fmla="*/ 119 h 145"/>
                    <a:gd name="T24" fmla="*/ 119 w 145"/>
                    <a:gd name="T25" fmla="*/ 129 h 145"/>
                    <a:gd name="T26" fmla="*/ 108 w 145"/>
                    <a:gd name="T27" fmla="*/ 136 h 145"/>
                    <a:gd name="T28" fmla="*/ 94 w 145"/>
                    <a:gd name="T29" fmla="*/ 141 h 145"/>
                    <a:gd name="T30" fmla="*/ 80 w 145"/>
                    <a:gd name="T31" fmla="*/ 145 h 145"/>
                    <a:gd name="T32" fmla="*/ 65 w 145"/>
                    <a:gd name="T33" fmla="*/ 145 h 145"/>
                    <a:gd name="T34" fmla="*/ 51 w 145"/>
                    <a:gd name="T35" fmla="*/ 141 h 145"/>
                    <a:gd name="T36" fmla="*/ 38 w 145"/>
                    <a:gd name="T37" fmla="*/ 136 h 145"/>
                    <a:gd name="T38" fmla="*/ 27 w 145"/>
                    <a:gd name="T39" fmla="*/ 129 h 145"/>
                    <a:gd name="T40" fmla="*/ 17 w 145"/>
                    <a:gd name="T41" fmla="*/ 119 h 145"/>
                    <a:gd name="T42" fmla="*/ 9 w 145"/>
                    <a:gd name="T43" fmla="*/ 107 h 145"/>
                    <a:gd name="T44" fmla="*/ 3 w 145"/>
                    <a:gd name="T45" fmla="*/ 94 h 145"/>
                    <a:gd name="T46" fmla="*/ 0 w 145"/>
                    <a:gd name="T47" fmla="*/ 80 h 145"/>
                    <a:gd name="T48" fmla="*/ 0 w 145"/>
                    <a:gd name="T49" fmla="*/ 65 h 145"/>
                    <a:gd name="T50" fmla="*/ 3 w 145"/>
                    <a:gd name="T51" fmla="*/ 51 h 145"/>
                    <a:gd name="T52" fmla="*/ 9 w 145"/>
                    <a:gd name="T53" fmla="*/ 38 h 145"/>
                    <a:gd name="T54" fmla="*/ 17 w 145"/>
                    <a:gd name="T55" fmla="*/ 27 h 145"/>
                    <a:gd name="T56" fmla="*/ 27 w 145"/>
                    <a:gd name="T57" fmla="*/ 17 h 145"/>
                    <a:gd name="T58" fmla="*/ 38 w 145"/>
                    <a:gd name="T59" fmla="*/ 8 h 145"/>
                    <a:gd name="T60" fmla="*/ 51 w 145"/>
                    <a:gd name="T61" fmla="*/ 3 h 145"/>
                    <a:gd name="T62" fmla="*/ 65 w 145"/>
                    <a:gd name="T6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5" h="145">
                      <a:moveTo>
                        <a:pt x="72" y="0"/>
                      </a:moveTo>
                      <a:lnTo>
                        <a:pt x="80" y="0"/>
                      </a:lnTo>
                      <a:lnTo>
                        <a:pt x="87" y="1"/>
                      </a:lnTo>
                      <a:lnTo>
                        <a:pt x="94" y="3"/>
                      </a:lnTo>
                      <a:lnTo>
                        <a:pt x="101" y="5"/>
                      </a:lnTo>
                      <a:lnTo>
                        <a:pt x="108" y="8"/>
                      </a:lnTo>
                      <a:lnTo>
                        <a:pt x="113" y="13"/>
                      </a:lnTo>
                      <a:lnTo>
                        <a:pt x="119" y="17"/>
                      </a:lnTo>
                      <a:lnTo>
                        <a:pt x="124" y="21"/>
                      </a:lnTo>
                      <a:lnTo>
                        <a:pt x="129" y="27"/>
                      </a:lnTo>
                      <a:lnTo>
                        <a:pt x="133" y="32"/>
                      </a:lnTo>
                      <a:lnTo>
                        <a:pt x="136" y="38"/>
                      </a:lnTo>
                      <a:lnTo>
                        <a:pt x="139" y="45"/>
                      </a:lnTo>
                      <a:lnTo>
                        <a:pt x="142" y="51"/>
                      </a:lnTo>
                      <a:lnTo>
                        <a:pt x="144" y="58"/>
                      </a:lnTo>
                      <a:lnTo>
                        <a:pt x="145" y="65"/>
                      </a:lnTo>
                      <a:lnTo>
                        <a:pt x="145" y="72"/>
                      </a:lnTo>
                      <a:lnTo>
                        <a:pt x="145" y="80"/>
                      </a:lnTo>
                      <a:lnTo>
                        <a:pt x="144" y="87"/>
                      </a:lnTo>
                      <a:lnTo>
                        <a:pt x="142" y="94"/>
                      </a:lnTo>
                      <a:lnTo>
                        <a:pt x="139" y="101"/>
                      </a:lnTo>
                      <a:lnTo>
                        <a:pt x="136" y="107"/>
                      </a:lnTo>
                      <a:lnTo>
                        <a:pt x="133" y="113"/>
                      </a:lnTo>
                      <a:lnTo>
                        <a:pt x="129" y="119"/>
                      </a:lnTo>
                      <a:lnTo>
                        <a:pt x="124" y="123"/>
                      </a:lnTo>
                      <a:lnTo>
                        <a:pt x="119" y="129"/>
                      </a:lnTo>
                      <a:lnTo>
                        <a:pt x="113" y="133"/>
                      </a:lnTo>
                      <a:lnTo>
                        <a:pt x="108" y="136"/>
                      </a:lnTo>
                      <a:lnTo>
                        <a:pt x="101" y="139"/>
                      </a:lnTo>
                      <a:lnTo>
                        <a:pt x="94" y="141"/>
                      </a:lnTo>
                      <a:lnTo>
                        <a:pt x="87" y="143"/>
                      </a:lnTo>
                      <a:lnTo>
                        <a:pt x="80" y="145"/>
                      </a:lnTo>
                      <a:lnTo>
                        <a:pt x="72" y="145"/>
                      </a:lnTo>
                      <a:lnTo>
                        <a:pt x="65" y="145"/>
                      </a:lnTo>
                      <a:lnTo>
                        <a:pt x="58" y="143"/>
                      </a:lnTo>
                      <a:lnTo>
                        <a:pt x="51" y="141"/>
                      </a:lnTo>
                      <a:lnTo>
                        <a:pt x="45" y="139"/>
                      </a:lnTo>
                      <a:lnTo>
                        <a:pt x="38" y="136"/>
                      </a:lnTo>
                      <a:lnTo>
                        <a:pt x="32" y="133"/>
                      </a:lnTo>
                      <a:lnTo>
                        <a:pt x="27" y="129"/>
                      </a:lnTo>
                      <a:lnTo>
                        <a:pt x="21" y="123"/>
                      </a:lnTo>
                      <a:lnTo>
                        <a:pt x="17" y="119"/>
                      </a:lnTo>
                      <a:lnTo>
                        <a:pt x="13" y="113"/>
                      </a:lnTo>
                      <a:lnTo>
                        <a:pt x="9" y="107"/>
                      </a:lnTo>
                      <a:lnTo>
                        <a:pt x="5" y="101"/>
                      </a:lnTo>
                      <a:lnTo>
                        <a:pt x="3" y="94"/>
                      </a:lnTo>
                      <a:lnTo>
                        <a:pt x="1" y="87"/>
                      </a:lnTo>
                      <a:lnTo>
                        <a:pt x="0" y="80"/>
                      </a:lnTo>
                      <a:lnTo>
                        <a:pt x="0" y="72"/>
                      </a:lnTo>
                      <a:lnTo>
                        <a:pt x="0" y="65"/>
                      </a:lnTo>
                      <a:lnTo>
                        <a:pt x="1" y="58"/>
                      </a:lnTo>
                      <a:lnTo>
                        <a:pt x="3" y="51"/>
                      </a:lnTo>
                      <a:lnTo>
                        <a:pt x="5" y="45"/>
                      </a:lnTo>
                      <a:lnTo>
                        <a:pt x="9" y="38"/>
                      </a:lnTo>
                      <a:lnTo>
                        <a:pt x="13" y="32"/>
                      </a:lnTo>
                      <a:lnTo>
                        <a:pt x="17" y="27"/>
                      </a:lnTo>
                      <a:lnTo>
                        <a:pt x="21" y="21"/>
                      </a:lnTo>
                      <a:lnTo>
                        <a:pt x="27" y="17"/>
                      </a:lnTo>
                      <a:lnTo>
                        <a:pt x="32" y="13"/>
                      </a:lnTo>
                      <a:lnTo>
                        <a:pt x="38" y="8"/>
                      </a:lnTo>
                      <a:lnTo>
                        <a:pt x="45" y="5"/>
                      </a:lnTo>
                      <a:lnTo>
                        <a:pt x="51" y="3"/>
                      </a:lnTo>
                      <a:lnTo>
                        <a:pt x="58" y="1"/>
                      </a:lnTo>
                      <a:lnTo>
                        <a:pt x="65" y="0"/>
                      </a:lnTo>
                      <a:lnTo>
                        <a:pt x="72" y="0"/>
                      </a:lnTo>
                    </a:path>
                  </a:pathLst>
                </a:custGeom>
                <a:gradFill rotWithShape="0">
                  <a:gsLst>
                    <a:gs pos="0">
                      <a:schemeClr val="hlink"/>
                    </a:gs>
                    <a:gs pos="100000">
                      <a:schemeClr val="hlink">
                        <a:gamma/>
                        <a:tint val="40000"/>
                        <a:invGamma/>
                      </a:schemeClr>
                    </a:gs>
                  </a:gsLst>
                  <a:lin ang="0" scaled="1"/>
                </a:gradFill>
                <a:ln w="1588">
                  <a:solidFill>
                    <a:srgbClr val="1F1A17"/>
                  </a:solidFill>
                  <a:prstDash val="solid"/>
                  <a:round/>
                  <a:headEnd/>
                  <a:tailEnd/>
                </a:ln>
              </p:spPr>
              <p:txBody>
                <a:bodyPr/>
                <a:lstStyle/>
                <a:p>
                  <a:pPr>
                    <a:defRPr/>
                  </a:pPr>
                  <a:endParaRPr lang="en-US"/>
                </a:p>
              </p:txBody>
            </p:sp>
            <p:sp>
              <p:nvSpPr>
                <p:cNvPr id="69347" name="Freeform 4835"/>
                <p:cNvSpPr>
                  <a:spLocks noChangeAspect="1"/>
                </p:cNvSpPr>
                <p:nvPr/>
              </p:nvSpPr>
              <p:spPr bwMode="auto">
                <a:xfrm>
                  <a:off x="3447" y="3509"/>
                  <a:ext cx="5" cy="8"/>
                </a:xfrm>
                <a:custGeom>
                  <a:avLst/>
                  <a:gdLst>
                    <a:gd name="T0" fmla="*/ 13 w 13"/>
                    <a:gd name="T1" fmla="*/ 5 h 24"/>
                    <a:gd name="T2" fmla="*/ 4 w 13"/>
                    <a:gd name="T3" fmla="*/ 24 h 24"/>
                    <a:gd name="T4" fmla="*/ 0 w 13"/>
                    <a:gd name="T5" fmla="*/ 20 h 24"/>
                    <a:gd name="T6" fmla="*/ 5 w 13"/>
                    <a:gd name="T7" fmla="*/ 0 h 24"/>
                    <a:gd name="T8" fmla="*/ 13 w 13"/>
                    <a:gd name="T9" fmla="*/ 5 h 24"/>
                  </a:gdLst>
                  <a:ahLst/>
                  <a:cxnLst>
                    <a:cxn ang="0">
                      <a:pos x="T0" y="T1"/>
                    </a:cxn>
                    <a:cxn ang="0">
                      <a:pos x="T2" y="T3"/>
                    </a:cxn>
                    <a:cxn ang="0">
                      <a:pos x="T4" y="T5"/>
                    </a:cxn>
                    <a:cxn ang="0">
                      <a:pos x="T6" y="T7"/>
                    </a:cxn>
                    <a:cxn ang="0">
                      <a:pos x="T8" y="T9"/>
                    </a:cxn>
                  </a:cxnLst>
                  <a:rect l="0" t="0" r="r" b="b"/>
                  <a:pathLst>
                    <a:path w="13" h="24">
                      <a:moveTo>
                        <a:pt x="13" y="5"/>
                      </a:moveTo>
                      <a:lnTo>
                        <a:pt x="4" y="24"/>
                      </a:lnTo>
                      <a:lnTo>
                        <a:pt x="0" y="20"/>
                      </a:lnTo>
                      <a:lnTo>
                        <a:pt x="5" y="0"/>
                      </a:lnTo>
                      <a:lnTo>
                        <a:pt x="13" y="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48" name="Freeform 4836"/>
                <p:cNvSpPr>
                  <a:spLocks noChangeAspect="1"/>
                </p:cNvSpPr>
                <p:nvPr/>
              </p:nvSpPr>
              <p:spPr bwMode="auto">
                <a:xfrm>
                  <a:off x="3447" y="3509"/>
                  <a:ext cx="7" cy="8"/>
                </a:xfrm>
                <a:custGeom>
                  <a:avLst/>
                  <a:gdLst>
                    <a:gd name="T0" fmla="*/ 1 w 17"/>
                    <a:gd name="T1" fmla="*/ 16 h 25"/>
                    <a:gd name="T2" fmla="*/ 8 w 17"/>
                    <a:gd name="T3" fmla="*/ 0 h 25"/>
                    <a:gd name="T4" fmla="*/ 17 w 17"/>
                    <a:gd name="T5" fmla="*/ 6 h 25"/>
                    <a:gd name="T6" fmla="*/ 8 w 17"/>
                    <a:gd name="T7" fmla="*/ 25 h 25"/>
                    <a:gd name="T8" fmla="*/ 0 w 17"/>
                    <a:gd name="T9" fmla="*/ 19 h 25"/>
                    <a:gd name="T10" fmla="*/ 1 w 17"/>
                    <a:gd name="T11" fmla="*/ 16 h 25"/>
                  </a:gdLst>
                  <a:ahLst/>
                  <a:cxnLst>
                    <a:cxn ang="0">
                      <a:pos x="T0" y="T1"/>
                    </a:cxn>
                    <a:cxn ang="0">
                      <a:pos x="T2" y="T3"/>
                    </a:cxn>
                    <a:cxn ang="0">
                      <a:pos x="T4" y="T5"/>
                    </a:cxn>
                    <a:cxn ang="0">
                      <a:pos x="T6" y="T7"/>
                    </a:cxn>
                    <a:cxn ang="0">
                      <a:pos x="T8" y="T9"/>
                    </a:cxn>
                    <a:cxn ang="0">
                      <a:pos x="T10" y="T11"/>
                    </a:cxn>
                  </a:cxnLst>
                  <a:rect l="0" t="0" r="r" b="b"/>
                  <a:pathLst>
                    <a:path w="17" h="25">
                      <a:moveTo>
                        <a:pt x="1" y="16"/>
                      </a:moveTo>
                      <a:lnTo>
                        <a:pt x="8" y="0"/>
                      </a:lnTo>
                      <a:lnTo>
                        <a:pt x="17" y="6"/>
                      </a:lnTo>
                      <a:lnTo>
                        <a:pt x="8" y="25"/>
                      </a:lnTo>
                      <a:lnTo>
                        <a:pt x="0" y="19"/>
                      </a:lnTo>
                      <a:lnTo>
                        <a:pt x="1" y="1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49" name="Freeform 4837"/>
                <p:cNvSpPr>
                  <a:spLocks noChangeAspect="1"/>
                </p:cNvSpPr>
                <p:nvPr/>
              </p:nvSpPr>
              <p:spPr bwMode="auto">
                <a:xfrm>
                  <a:off x="3449" y="3510"/>
                  <a:ext cx="5" cy="8"/>
                </a:xfrm>
                <a:custGeom>
                  <a:avLst/>
                  <a:gdLst>
                    <a:gd name="T0" fmla="*/ 0 w 17"/>
                    <a:gd name="T1" fmla="*/ 19 h 24"/>
                    <a:gd name="T2" fmla="*/ 9 w 17"/>
                    <a:gd name="T3" fmla="*/ 0 h 24"/>
                    <a:gd name="T4" fmla="*/ 17 w 17"/>
                    <a:gd name="T5" fmla="*/ 5 h 24"/>
                    <a:gd name="T6" fmla="*/ 9 w 17"/>
                    <a:gd name="T7" fmla="*/ 24 h 24"/>
                    <a:gd name="T8" fmla="*/ 0 w 17"/>
                    <a:gd name="T9" fmla="*/ 19 h 24"/>
                  </a:gdLst>
                  <a:ahLst/>
                  <a:cxnLst>
                    <a:cxn ang="0">
                      <a:pos x="T0" y="T1"/>
                    </a:cxn>
                    <a:cxn ang="0">
                      <a:pos x="T2" y="T3"/>
                    </a:cxn>
                    <a:cxn ang="0">
                      <a:pos x="T4" y="T5"/>
                    </a:cxn>
                    <a:cxn ang="0">
                      <a:pos x="T6" y="T7"/>
                    </a:cxn>
                    <a:cxn ang="0">
                      <a:pos x="T8" y="T9"/>
                    </a:cxn>
                  </a:cxnLst>
                  <a:rect l="0" t="0" r="r" b="b"/>
                  <a:pathLst>
                    <a:path w="17" h="24">
                      <a:moveTo>
                        <a:pt x="0" y="19"/>
                      </a:moveTo>
                      <a:lnTo>
                        <a:pt x="9" y="0"/>
                      </a:lnTo>
                      <a:lnTo>
                        <a:pt x="17" y="5"/>
                      </a:lnTo>
                      <a:lnTo>
                        <a:pt x="9" y="24"/>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50" name="Freeform 4838"/>
                <p:cNvSpPr>
                  <a:spLocks noChangeAspect="1"/>
                </p:cNvSpPr>
                <p:nvPr/>
              </p:nvSpPr>
              <p:spPr bwMode="auto">
                <a:xfrm>
                  <a:off x="3450" y="3511"/>
                  <a:ext cx="6" cy="8"/>
                </a:xfrm>
                <a:custGeom>
                  <a:avLst/>
                  <a:gdLst>
                    <a:gd name="T0" fmla="*/ 0 w 17"/>
                    <a:gd name="T1" fmla="*/ 19 h 24"/>
                    <a:gd name="T2" fmla="*/ 9 w 17"/>
                    <a:gd name="T3" fmla="*/ 0 h 24"/>
                    <a:gd name="T4" fmla="*/ 17 w 17"/>
                    <a:gd name="T5" fmla="*/ 5 h 24"/>
                    <a:gd name="T6" fmla="*/ 9 w 17"/>
                    <a:gd name="T7" fmla="*/ 24 h 24"/>
                    <a:gd name="T8" fmla="*/ 0 w 17"/>
                    <a:gd name="T9" fmla="*/ 19 h 24"/>
                  </a:gdLst>
                  <a:ahLst/>
                  <a:cxnLst>
                    <a:cxn ang="0">
                      <a:pos x="T0" y="T1"/>
                    </a:cxn>
                    <a:cxn ang="0">
                      <a:pos x="T2" y="T3"/>
                    </a:cxn>
                    <a:cxn ang="0">
                      <a:pos x="T4" y="T5"/>
                    </a:cxn>
                    <a:cxn ang="0">
                      <a:pos x="T6" y="T7"/>
                    </a:cxn>
                    <a:cxn ang="0">
                      <a:pos x="T8" y="T9"/>
                    </a:cxn>
                  </a:cxnLst>
                  <a:rect l="0" t="0" r="r" b="b"/>
                  <a:pathLst>
                    <a:path w="17" h="24">
                      <a:moveTo>
                        <a:pt x="0" y="19"/>
                      </a:moveTo>
                      <a:lnTo>
                        <a:pt x="9" y="0"/>
                      </a:lnTo>
                      <a:lnTo>
                        <a:pt x="17" y="5"/>
                      </a:lnTo>
                      <a:lnTo>
                        <a:pt x="9" y="24"/>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51" name="Freeform 4839"/>
                <p:cNvSpPr>
                  <a:spLocks noChangeAspect="1"/>
                </p:cNvSpPr>
                <p:nvPr/>
              </p:nvSpPr>
              <p:spPr bwMode="auto">
                <a:xfrm>
                  <a:off x="3452" y="3512"/>
                  <a:ext cx="5" cy="8"/>
                </a:xfrm>
                <a:custGeom>
                  <a:avLst/>
                  <a:gdLst>
                    <a:gd name="T0" fmla="*/ 0 w 17"/>
                    <a:gd name="T1" fmla="*/ 19 h 24"/>
                    <a:gd name="T2" fmla="*/ 8 w 17"/>
                    <a:gd name="T3" fmla="*/ 0 h 24"/>
                    <a:gd name="T4" fmla="*/ 17 w 17"/>
                    <a:gd name="T5" fmla="*/ 5 h 24"/>
                    <a:gd name="T6" fmla="*/ 9 w 17"/>
                    <a:gd name="T7" fmla="*/ 24 h 24"/>
                    <a:gd name="T8" fmla="*/ 0 w 17"/>
                    <a:gd name="T9" fmla="*/ 19 h 24"/>
                  </a:gdLst>
                  <a:ahLst/>
                  <a:cxnLst>
                    <a:cxn ang="0">
                      <a:pos x="T0" y="T1"/>
                    </a:cxn>
                    <a:cxn ang="0">
                      <a:pos x="T2" y="T3"/>
                    </a:cxn>
                    <a:cxn ang="0">
                      <a:pos x="T4" y="T5"/>
                    </a:cxn>
                    <a:cxn ang="0">
                      <a:pos x="T6" y="T7"/>
                    </a:cxn>
                    <a:cxn ang="0">
                      <a:pos x="T8" y="T9"/>
                    </a:cxn>
                  </a:cxnLst>
                  <a:rect l="0" t="0" r="r" b="b"/>
                  <a:pathLst>
                    <a:path w="17" h="24">
                      <a:moveTo>
                        <a:pt x="0" y="19"/>
                      </a:moveTo>
                      <a:lnTo>
                        <a:pt x="8" y="0"/>
                      </a:lnTo>
                      <a:lnTo>
                        <a:pt x="17" y="5"/>
                      </a:lnTo>
                      <a:lnTo>
                        <a:pt x="9" y="24"/>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52" name="Freeform 4840"/>
                <p:cNvSpPr>
                  <a:spLocks noChangeAspect="1"/>
                </p:cNvSpPr>
                <p:nvPr/>
              </p:nvSpPr>
              <p:spPr bwMode="auto">
                <a:xfrm>
                  <a:off x="3453" y="3513"/>
                  <a:ext cx="6" cy="8"/>
                </a:xfrm>
                <a:custGeom>
                  <a:avLst/>
                  <a:gdLst>
                    <a:gd name="T0" fmla="*/ 0 w 18"/>
                    <a:gd name="T1" fmla="*/ 19 h 24"/>
                    <a:gd name="T2" fmla="*/ 8 w 18"/>
                    <a:gd name="T3" fmla="*/ 0 h 24"/>
                    <a:gd name="T4" fmla="*/ 18 w 18"/>
                    <a:gd name="T5" fmla="*/ 5 h 24"/>
                    <a:gd name="T6" fmla="*/ 9 w 18"/>
                    <a:gd name="T7" fmla="*/ 24 h 24"/>
                    <a:gd name="T8" fmla="*/ 0 w 18"/>
                    <a:gd name="T9" fmla="*/ 19 h 24"/>
                  </a:gdLst>
                  <a:ahLst/>
                  <a:cxnLst>
                    <a:cxn ang="0">
                      <a:pos x="T0" y="T1"/>
                    </a:cxn>
                    <a:cxn ang="0">
                      <a:pos x="T2" y="T3"/>
                    </a:cxn>
                    <a:cxn ang="0">
                      <a:pos x="T4" y="T5"/>
                    </a:cxn>
                    <a:cxn ang="0">
                      <a:pos x="T6" y="T7"/>
                    </a:cxn>
                    <a:cxn ang="0">
                      <a:pos x="T8" y="T9"/>
                    </a:cxn>
                  </a:cxnLst>
                  <a:rect l="0" t="0" r="r" b="b"/>
                  <a:pathLst>
                    <a:path w="18" h="24">
                      <a:moveTo>
                        <a:pt x="0" y="19"/>
                      </a:moveTo>
                      <a:lnTo>
                        <a:pt x="8" y="0"/>
                      </a:lnTo>
                      <a:lnTo>
                        <a:pt x="18" y="5"/>
                      </a:lnTo>
                      <a:lnTo>
                        <a:pt x="9" y="24"/>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53" name="Freeform 4841"/>
                <p:cNvSpPr>
                  <a:spLocks noChangeAspect="1"/>
                </p:cNvSpPr>
                <p:nvPr/>
              </p:nvSpPr>
              <p:spPr bwMode="auto">
                <a:xfrm>
                  <a:off x="3455" y="3514"/>
                  <a:ext cx="5" cy="8"/>
                </a:xfrm>
                <a:custGeom>
                  <a:avLst/>
                  <a:gdLst>
                    <a:gd name="T0" fmla="*/ 0 w 17"/>
                    <a:gd name="T1" fmla="*/ 19 h 25"/>
                    <a:gd name="T2" fmla="*/ 8 w 17"/>
                    <a:gd name="T3" fmla="*/ 0 h 25"/>
                    <a:gd name="T4" fmla="*/ 17 w 17"/>
                    <a:gd name="T5" fmla="*/ 5 h 25"/>
                    <a:gd name="T6" fmla="*/ 9 w 17"/>
                    <a:gd name="T7" fmla="*/ 25 h 25"/>
                    <a:gd name="T8" fmla="*/ 0 w 17"/>
                    <a:gd name="T9" fmla="*/ 19 h 25"/>
                  </a:gdLst>
                  <a:ahLst/>
                  <a:cxnLst>
                    <a:cxn ang="0">
                      <a:pos x="T0" y="T1"/>
                    </a:cxn>
                    <a:cxn ang="0">
                      <a:pos x="T2" y="T3"/>
                    </a:cxn>
                    <a:cxn ang="0">
                      <a:pos x="T4" y="T5"/>
                    </a:cxn>
                    <a:cxn ang="0">
                      <a:pos x="T6" y="T7"/>
                    </a:cxn>
                    <a:cxn ang="0">
                      <a:pos x="T8" y="T9"/>
                    </a:cxn>
                  </a:cxnLst>
                  <a:rect l="0" t="0" r="r" b="b"/>
                  <a:pathLst>
                    <a:path w="17" h="25">
                      <a:moveTo>
                        <a:pt x="0" y="19"/>
                      </a:moveTo>
                      <a:lnTo>
                        <a:pt x="8" y="0"/>
                      </a:lnTo>
                      <a:lnTo>
                        <a:pt x="17" y="5"/>
                      </a:lnTo>
                      <a:lnTo>
                        <a:pt x="9" y="25"/>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54" name="Freeform 4842"/>
                <p:cNvSpPr>
                  <a:spLocks noChangeAspect="1"/>
                </p:cNvSpPr>
                <p:nvPr/>
              </p:nvSpPr>
              <p:spPr bwMode="auto">
                <a:xfrm>
                  <a:off x="3456" y="3514"/>
                  <a:ext cx="6" cy="9"/>
                </a:xfrm>
                <a:custGeom>
                  <a:avLst/>
                  <a:gdLst>
                    <a:gd name="T0" fmla="*/ 0 w 17"/>
                    <a:gd name="T1" fmla="*/ 19 h 25"/>
                    <a:gd name="T2" fmla="*/ 9 w 17"/>
                    <a:gd name="T3" fmla="*/ 0 h 25"/>
                    <a:gd name="T4" fmla="*/ 17 w 17"/>
                    <a:gd name="T5" fmla="*/ 6 h 25"/>
                    <a:gd name="T6" fmla="*/ 9 w 17"/>
                    <a:gd name="T7" fmla="*/ 25 h 25"/>
                    <a:gd name="T8" fmla="*/ 0 w 17"/>
                    <a:gd name="T9" fmla="*/ 19 h 25"/>
                  </a:gdLst>
                  <a:ahLst/>
                  <a:cxnLst>
                    <a:cxn ang="0">
                      <a:pos x="T0" y="T1"/>
                    </a:cxn>
                    <a:cxn ang="0">
                      <a:pos x="T2" y="T3"/>
                    </a:cxn>
                    <a:cxn ang="0">
                      <a:pos x="T4" y="T5"/>
                    </a:cxn>
                    <a:cxn ang="0">
                      <a:pos x="T6" y="T7"/>
                    </a:cxn>
                    <a:cxn ang="0">
                      <a:pos x="T8" y="T9"/>
                    </a:cxn>
                  </a:cxnLst>
                  <a:rect l="0" t="0" r="r" b="b"/>
                  <a:pathLst>
                    <a:path w="17" h="25">
                      <a:moveTo>
                        <a:pt x="0" y="19"/>
                      </a:moveTo>
                      <a:lnTo>
                        <a:pt x="9" y="0"/>
                      </a:lnTo>
                      <a:lnTo>
                        <a:pt x="17" y="6"/>
                      </a:lnTo>
                      <a:lnTo>
                        <a:pt x="9" y="25"/>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55" name="Freeform 4843"/>
                <p:cNvSpPr>
                  <a:spLocks noChangeAspect="1"/>
                </p:cNvSpPr>
                <p:nvPr/>
              </p:nvSpPr>
              <p:spPr bwMode="auto">
                <a:xfrm>
                  <a:off x="3458" y="3515"/>
                  <a:ext cx="5" cy="9"/>
                </a:xfrm>
                <a:custGeom>
                  <a:avLst/>
                  <a:gdLst>
                    <a:gd name="T0" fmla="*/ 0 w 17"/>
                    <a:gd name="T1" fmla="*/ 20 h 25"/>
                    <a:gd name="T2" fmla="*/ 8 w 17"/>
                    <a:gd name="T3" fmla="*/ 0 h 25"/>
                    <a:gd name="T4" fmla="*/ 17 w 17"/>
                    <a:gd name="T5" fmla="*/ 6 h 25"/>
                    <a:gd name="T6" fmla="*/ 8 w 17"/>
                    <a:gd name="T7" fmla="*/ 25 h 25"/>
                    <a:gd name="T8" fmla="*/ 0 w 17"/>
                    <a:gd name="T9" fmla="*/ 20 h 25"/>
                  </a:gdLst>
                  <a:ahLst/>
                  <a:cxnLst>
                    <a:cxn ang="0">
                      <a:pos x="T0" y="T1"/>
                    </a:cxn>
                    <a:cxn ang="0">
                      <a:pos x="T2" y="T3"/>
                    </a:cxn>
                    <a:cxn ang="0">
                      <a:pos x="T4" y="T5"/>
                    </a:cxn>
                    <a:cxn ang="0">
                      <a:pos x="T6" y="T7"/>
                    </a:cxn>
                    <a:cxn ang="0">
                      <a:pos x="T8" y="T9"/>
                    </a:cxn>
                  </a:cxnLst>
                  <a:rect l="0" t="0" r="r" b="b"/>
                  <a:pathLst>
                    <a:path w="17" h="25">
                      <a:moveTo>
                        <a:pt x="0" y="20"/>
                      </a:moveTo>
                      <a:lnTo>
                        <a:pt x="8" y="0"/>
                      </a:lnTo>
                      <a:lnTo>
                        <a:pt x="17" y="6"/>
                      </a:lnTo>
                      <a:lnTo>
                        <a:pt x="8" y="25"/>
                      </a:lnTo>
                      <a:lnTo>
                        <a:pt x="0" y="2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56" name="Freeform 4844"/>
                <p:cNvSpPr>
                  <a:spLocks noChangeAspect="1"/>
                </p:cNvSpPr>
                <p:nvPr/>
              </p:nvSpPr>
              <p:spPr bwMode="auto">
                <a:xfrm>
                  <a:off x="3459" y="3516"/>
                  <a:ext cx="6" cy="8"/>
                </a:xfrm>
                <a:custGeom>
                  <a:avLst/>
                  <a:gdLst>
                    <a:gd name="T0" fmla="*/ 0 w 17"/>
                    <a:gd name="T1" fmla="*/ 19 h 24"/>
                    <a:gd name="T2" fmla="*/ 8 w 17"/>
                    <a:gd name="T3" fmla="*/ 0 h 24"/>
                    <a:gd name="T4" fmla="*/ 17 w 17"/>
                    <a:gd name="T5" fmla="*/ 5 h 24"/>
                    <a:gd name="T6" fmla="*/ 8 w 17"/>
                    <a:gd name="T7" fmla="*/ 24 h 24"/>
                    <a:gd name="T8" fmla="*/ 0 w 17"/>
                    <a:gd name="T9" fmla="*/ 19 h 24"/>
                  </a:gdLst>
                  <a:ahLst/>
                  <a:cxnLst>
                    <a:cxn ang="0">
                      <a:pos x="T0" y="T1"/>
                    </a:cxn>
                    <a:cxn ang="0">
                      <a:pos x="T2" y="T3"/>
                    </a:cxn>
                    <a:cxn ang="0">
                      <a:pos x="T4" y="T5"/>
                    </a:cxn>
                    <a:cxn ang="0">
                      <a:pos x="T6" y="T7"/>
                    </a:cxn>
                    <a:cxn ang="0">
                      <a:pos x="T8" y="T9"/>
                    </a:cxn>
                  </a:cxnLst>
                  <a:rect l="0" t="0" r="r" b="b"/>
                  <a:pathLst>
                    <a:path w="17" h="24">
                      <a:moveTo>
                        <a:pt x="0" y="19"/>
                      </a:moveTo>
                      <a:lnTo>
                        <a:pt x="8" y="0"/>
                      </a:lnTo>
                      <a:lnTo>
                        <a:pt x="17" y="5"/>
                      </a:lnTo>
                      <a:lnTo>
                        <a:pt x="8" y="24"/>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57" name="Freeform 4845"/>
                <p:cNvSpPr>
                  <a:spLocks noChangeAspect="1"/>
                </p:cNvSpPr>
                <p:nvPr/>
              </p:nvSpPr>
              <p:spPr bwMode="auto">
                <a:xfrm>
                  <a:off x="3460" y="3517"/>
                  <a:ext cx="7" cy="8"/>
                </a:xfrm>
                <a:custGeom>
                  <a:avLst/>
                  <a:gdLst>
                    <a:gd name="T0" fmla="*/ 0 w 17"/>
                    <a:gd name="T1" fmla="*/ 19 h 24"/>
                    <a:gd name="T2" fmla="*/ 9 w 17"/>
                    <a:gd name="T3" fmla="*/ 0 h 24"/>
                    <a:gd name="T4" fmla="*/ 17 w 17"/>
                    <a:gd name="T5" fmla="*/ 5 h 24"/>
                    <a:gd name="T6" fmla="*/ 9 w 17"/>
                    <a:gd name="T7" fmla="*/ 24 h 24"/>
                    <a:gd name="T8" fmla="*/ 0 w 17"/>
                    <a:gd name="T9" fmla="*/ 19 h 24"/>
                  </a:gdLst>
                  <a:ahLst/>
                  <a:cxnLst>
                    <a:cxn ang="0">
                      <a:pos x="T0" y="T1"/>
                    </a:cxn>
                    <a:cxn ang="0">
                      <a:pos x="T2" y="T3"/>
                    </a:cxn>
                    <a:cxn ang="0">
                      <a:pos x="T4" y="T5"/>
                    </a:cxn>
                    <a:cxn ang="0">
                      <a:pos x="T6" y="T7"/>
                    </a:cxn>
                    <a:cxn ang="0">
                      <a:pos x="T8" y="T9"/>
                    </a:cxn>
                  </a:cxnLst>
                  <a:rect l="0" t="0" r="r" b="b"/>
                  <a:pathLst>
                    <a:path w="17" h="24">
                      <a:moveTo>
                        <a:pt x="0" y="19"/>
                      </a:moveTo>
                      <a:lnTo>
                        <a:pt x="9" y="0"/>
                      </a:lnTo>
                      <a:lnTo>
                        <a:pt x="17" y="5"/>
                      </a:lnTo>
                      <a:lnTo>
                        <a:pt x="9" y="24"/>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58" name="Freeform 4846"/>
                <p:cNvSpPr>
                  <a:spLocks noChangeAspect="1"/>
                </p:cNvSpPr>
                <p:nvPr/>
              </p:nvSpPr>
              <p:spPr bwMode="auto">
                <a:xfrm>
                  <a:off x="3462" y="3518"/>
                  <a:ext cx="6" cy="8"/>
                </a:xfrm>
                <a:custGeom>
                  <a:avLst/>
                  <a:gdLst>
                    <a:gd name="T0" fmla="*/ 0 w 19"/>
                    <a:gd name="T1" fmla="*/ 19 h 24"/>
                    <a:gd name="T2" fmla="*/ 9 w 19"/>
                    <a:gd name="T3" fmla="*/ 0 h 24"/>
                    <a:gd name="T4" fmla="*/ 19 w 19"/>
                    <a:gd name="T5" fmla="*/ 5 h 24"/>
                    <a:gd name="T6" fmla="*/ 10 w 19"/>
                    <a:gd name="T7" fmla="*/ 24 h 24"/>
                    <a:gd name="T8" fmla="*/ 0 w 19"/>
                    <a:gd name="T9" fmla="*/ 19 h 24"/>
                  </a:gdLst>
                  <a:ahLst/>
                  <a:cxnLst>
                    <a:cxn ang="0">
                      <a:pos x="T0" y="T1"/>
                    </a:cxn>
                    <a:cxn ang="0">
                      <a:pos x="T2" y="T3"/>
                    </a:cxn>
                    <a:cxn ang="0">
                      <a:pos x="T4" y="T5"/>
                    </a:cxn>
                    <a:cxn ang="0">
                      <a:pos x="T6" y="T7"/>
                    </a:cxn>
                    <a:cxn ang="0">
                      <a:pos x="T8" y="T9"/>
                    </a:cxn>
                  </a:cxnLst>
                  <a:rect l="0" t="0" r="r" b="b"/>
                  <a:pathLst>
                    <a:path w="19" h="24">
                      <a:moveTo>
                        <a:pt x="0" y="19"/>
                      </a:moveTo>
                      <a:lnTo>
                        <a:pt x="9" y="0"/>
                      </a:lnTo>
                      <a:lnTo>
                        <a:pt x="19" y="5"/>
                      </a:lnTo>
                      <a:lnTo>
                        <a:pt x="10" y="24"/>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59" name="Freeform 4847"/>
                <p:cNvSpPr>
                  <a:spLocks noChangeAspect="1"/>
                </p:cNvSpPr>
                <p:nvPr/>
              </p:nvSpPr>
              <p:spPr bwMode="auto">
                <a:xfrm>
                  <a:off x="3463" y="3519"/>
                  <a:ext cx="7" cy="8"/>
                </a:xfrm>
                <a:custGeom>
                  <a:avLst/>
                  <a:gdLst>
                    <a:gd name="T0" fmla="*/ 0 w 18"/>
                    <a:gd name="T1" fmla="*/ 19 h 25"/>
                    <a:gd name="T2" fmla="*/ 8 w 18"/>
                    <a:gd name="T3" fmla="*/ 0 h 25"/>
                    <a:gd name="T4" fmla="*/ 18 w 18"/>
                    <a:gd name="T5" fmla="*/ 5 h 25"/>
                    <a:gd name="T6" fmla="*/ 9 w 18"/>
                    <a:gd name="T7" fmla="*/ 25 h 25"/>
                    <a:gd name="T8" fmla="*/ 0 w 18"/>
                    <a:gd name="T9" fmla="*/ 19 h 25"/>
                  </a:gdLst>
                  <a:ahLst/>
                  <a:cxnLst>
                    <a:cxn ang="0">
                      <a:pos x="T0" y="T1"/>
                    </a:cxn>
                    <a:cxn ang="0">
                      <a:pos x="T2" y="T3"/>
                    </a:cxn>
                    <a:cxn ang="0">
                      <a:pos x="T4" y="T5"/>
                    </a:cxn>
                    <a:cxn ang="0">
                      <a:pos x="T6" y="T7"/>
                    </a:cxn>
                    <a:cxn ang="0">
                      <a:pos x="T8" y="T9"/>
                    </a:cxn>
                  </a:cxnLst>
                  <a:rect l="0" t="0" r="r" b="b"/>
                  <a:pathLst>
                    <a:path w="18" h="25">
                      <a:moveTo>
                        <a:pt x="0" y="19"/>
                      </a:moveTo>
                      <a:lnTo>
                        <a:pt x="8" y="0"/>
                      </a:lnTo>
                      <a:lnTo>
                        <a:pt x="18" y="5"/>
                      </a:lnTo>
                      <a:lnTo>
                        <a:pt x="9" y="25"/>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60" name="Freeform 4848"/>
                <p:cNvSpPr>
                  <a:spLocks noChangeAspect="1"/>
                </p:cNvSpPr>
                <p:nvPr/>
              </p:nvSpPr>
              <p:spPr bwMode="auto">
                <a:xfrm>
                  <a:off x="3465" y="3520"/>
                  <a:ext cx="6" cy="8"/>
                </a:xfrm>
                <a:custGeom>
                  <a:avLst/>
                  <a:gdLst>
                    <a:gd name="T0" fmla="*/ 0 w 17"/>
                    <a:gd name="T1" fmla="*/ 19 h 25"/>
                    <a:gd name="T2" fmla="*/ 9 w 17"/>
                    <a:gd name="T3" fmla="*/ 0 h 25"/>
                    <a:gd name="T4" fmla="*/ 17 w 17"/>
                    <a:gd name="T5" fmla="*/ 7 h 25"/>
                    <a:gd name="T6" fmla="*/ 9 w 17"/>
                    <a:gd name="T7" fmla="*/ 25 h 25"/>
                    <a:gd name="T8" fmla="*/ 0 w 17"/>
                    <a:gd name="T9" fmla="*/ 19 h 25"/>
                  </a:gdLst>
                  <a:ahLst/>
                  <a:cxnLst>
                    <a:cxn ang="0">
                      <a:pos x="T0" y="T1"/>
                    </a:cxn>
                    <a:cxn ang="0">
                      <a:pos x="T2" y="T3"/>
                    </a:cxn>
                    <a:cxn ang="0">
                      <a:pos x="T4" y="T5"/>
                    </a:cxn>
                    <a:cxn ang="0">
                      <a:pos x="T6" y="T7"/>
                    </a:cxn>
                    <a:cxn ang="0">
                      <a:pos x="T8" y="T9"/>
                    </a:cxn>
                  </a:cxnLst>
                  <a:rect l="0" t="0" r="r" b="b"/>
                  <a:pathLst>
                    <a:path w="17" h="25">
                      <a:moveTo>
                        <a:pt x="0" y="19"/>
                      </a:moveTo>
                      <a:lnTo>
                        <a:pt x="9" y="0"/>
                      </a:lnTo>
                      <a:lnTo>
                        <a:pt x="17" y="7"/>
                      </a:lnTo>
                      <a:lnTo>
                        <a:pt x="9" y="25"/>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61" name="Freeform 4849"/>
                <p:cNvSpPr>
                  <a:spLocks noChangeAspect="1"/>
                </p:cNvSpPr>
                <p:nvPr/>
              </p:nvSpPr>
              <p:spPr bwMode="auto">
                <a:xfrm>
                  <a:off x="3466" y="3521"/>
                  <a:ext cx="6" cy="8"/>
                </a:xfrm>
                <a:custGeom>
                  <a:avLst/>
                  <a:gdLst>
                    <a:gd name="T0" fmla="*/ 0 w 17"/>
                    <a:gd name="T1" fmla="*/ 20 h 25"/>
                    <a:gd name="T2" fmla="*/ 9 w 17"/>
                    <a:gd name="T3" fmla="*/ 0 h 25"/>
                    <a:gd name="T4" fmla="*/ 17 w 17"/>
                    <a:gd name="T5" fmla="*/ 6 h 25"/>
                    <a:gd name="T6" fmla="*/ 9 w 17"/>
                    <a:gd name="T7" fmla="*/ 25 h 25"/>
                    <a:gd name="T8" fmla="*/ 0 w 17"/>
                    <a:gd name="T9" fmla="*/ 20 h 25"/>
                  </a:gdLst>
                  <a:ahLst/>
                  <a:cxnLst>
                    <a:cxn ang="0">
                      <a:pos x="T0" y="T1"/>
                    </a:cxn>
                    <a:cxn ang="0">
                      <a:pos x="T2" y="T3"/>
                    </a:cxn>
                    <a:cxn ang="0">
                      <a:pos x="T4" y="T5"/>
                    </a:cxn>
                    <a:cxn ang="0">
                      <a:pos x="T6" y="T7"/>
                    </a:cxn>
                    <a:cxn ang="0">
                      <a:pos x="T8" y="T9"/>
                    </a:cxn>
                  </a:cxnLst>
                  <a:rect l="0" t="0" r="r" b="b"/>
                  <a:pathLst>
                    <a:path w="17" h="25">
                      <a:moveTo>
                        <a:pt x="0" y="20"/>
                      </a:moveTo>
                      <a:lnTo>
                        <a:pt x="9" y="0"/>
                      </a:lnTo>
                      <a:lnTo>
                        <a:pt x="17" y="6"/>
                      </a:lnTo>
                      <a:lnTo>
                        <a:pt x="9" y="25"/>
                      </a:lnTo>
                      <a:lnTo>
                        <a:pt x="0" y="2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62" name="Freeform 4850"/>
                <p:cNvSpPr>
                  <a:spLocks noChangeAspect="1"/>
                </p:cNvSpPr>
                <p:nvPr/>
              </p:nvSpPr>
              <p:spPr bwMode="auto">
                <a:xfrm>
                  <a:off x="3468" y="3522"/>
                  <a:ext cx="6" cy="8"/>
                </a:xfrm>
                <a:custGeom>
                  <a:avLst/>
                  <a:gdLst>
                    <a:gd name="T0" fmla="*/ 0 w 17"/>
                    <a:gd name="T1" fmla="*/ 18 h 23"/>
                    <a:gd name="T2" fmla="*/ 8 w 17"/>
                    <a:gd name="T3" fmla="*/ 0 h 23"/>
                    <a:gd name="T4" fmla="*/ 17 w 17"/>
                    <a:gd name="T5" fmla="*/ 5 h 23"/>
                    <a:gd name="T6" fmla="*/ 8 w 17"/>
                    <a:gd name="T7" fmla="*/ 23 h 23"/>
                    <a:gd name="T8" fmla="*/ 0 w 17"/>
                    <a:gd name="T9" fmla="*/ 18 h 23"/>
                  </a:gdLst>
                  <a:ahLst/>
                  <a:cxnLst>
                    <a:cxn ang="0">
                      <a:pos x="T0" y="T1"/>
                    </a:cxn>
                    <a:cxn ang="0">
                      <a:pos x="T2" y="T3"/>
                    </a:cxn>
                    <a:cxn ang="0">
                      <a:pos x="T4" y="T5"/>
                    </a:cxn>
                    <a:cxn ang="0">
                      <a:pos x="T6" y="T7"/>
                    </a:cxn>
                    <a:cxn ang="0">
                      <a:pos x="T8" y="T9"/>
                    </a:cxn>
                  </a:cxnLst>
                  <a:rect l="0" t="0" r="r" b="b"/>
                  <a:pathLst>
                    <a:path w="17" h="23">
                      <a:moveTo>
                        <a:pt x="0" y="18"/>
                      </a:moveTo>
                      <a:lnTo>
                        <a:pt x="8" y="0"/>
                      </a:lnTo>
                      <a:lnTo>
                        <a:pt x="17" y="5"/>
                      </a:lnTo>
                      <a:lnTo>
                        <a:pt x="8" y="23"/>
                      </a:lnTo>
                      <a:lnTo>
                        <a:pt x="0" y="1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63" name="Freeform 4851"/>
                <p:cNvSpPr>
                  <a:spLocks noChangeAspect="1"/>
                </p:cNvSpPr>
                <p:nvPr/>
              </p:nvSpPr>
              <p:spPr bwMode="auto">
                <a:xfrm>
                  <a:off x="3469" y="3523"/>
                  <a:ext cx="6" cy="8"/>
                </a:xfrm>
                <a:custGeom>
                  <a:avLst/>
                  <a:gdLst>
                    <a:gd name="T0" fmla="*/ 0 w 17"/>
                    <a:gd name="T1" fmla="*/ 19 h 24"/>
                    <a:gd name="T2" fmla="*/ 8 w 17"/>
                    <a:gd name="T3" fmla="*/ 0 h 24"/>
                    <a:gd name="T4" fmla="*/ 17 w 17"/>
                    <a:gd name="T5" fmla="*/ 5 h 24"/>
                    <a:gd name="T6" fmla="*/ 8 w 17"/>
                    <a:gd name="T7" fmla="*/ 24 h 24"/>
                    <a:gd name="T8" fmla="*/ 0 w 17"/>
                    <a:gd name="T9" fmla="*/ 19 h 24"/>
                  </a:gdLst>
                  <a:ahLst/>
                  <a:cxnLst>
                    <a:cxn ang="0">
                      <a:pos x="T0" y="T1"/>
                    </a:cxn>
                    <a:cxn ang="0">
                      <a:pos x="T2" y="T3"/>
                    </a:cxn>
                    <a:cxn ang="0">
                      <a:pos x="T4" y="T5"/>
                    </a:cxn>
                    <a:cxn ang="0">
                      <a:pos x="T6" y="T7"/>
                    </a:cxn>
                    <a:cxn ang="0">
                      <a:pos x="T8" y="T9"/>
                    </a:cxn>
                  </a:cxnLst>
                  <a:rect l="0" t="0" r="r" b="b"/>
                  <a:pathLst>
                    <a:path w="17" h="24">
                      <a:moveTo>
                        <a:pt x="0" y="19"/>
                      </a:moveTo>
                      <a:lnTo>
                        <a:pt x="8" y="0"/>
                      </a:lnTo>
                      <a:lnTo>
                        <a:pt x="17" y="5"/>
                      </a:lnTo>
                      <a:lnTo>
                        <a:pt x="8" y="24"/>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64" name="Freeform 4852"/>
                <p:cNvSpPr>
                  <a:spLocks noChangeAspect="1"/>
                </p:cNvSpPr>
                <p:nvPr/>
              </p:nvSpPr>
              <p:spPr bwMode="auto">
                <a:xfrm>
                  <a:off x="3471" y="3524"/>
                  <a:ext cx="5" cy="7"/>
                </a:xfrm>
                <a:custGeom>
                  <a:avLst/>
                  <a:gdLst>
                    <a:gd name="T0" fmla="*/ 0 w 17"/>
                    <a:gd name="T1" fmla="*/ 18 h 23"/>
                    <a:gd name="T2" fmla="*/ 9 w 17"/>
                    <a:gd name="T3" fmla="*/ 0 h 23"/>
                    <a:gd name="T4" fmla="*/ 17 w 17"/>
                    <a:gd name="T5" fmla="*/ 5 h 23"/>
                    <a:gd name="T6" fmla="*/ 9 w 17"/>
                    <a:gd name="T7" fmla="*/ 23 h 23"/>
                    <a:gd name="T8" fmla="*/ 0 w 17"/>
                    <a:gd name="T9" fmla="*/ 18 h 23"/>
                  </a:gdLst>
                  <a:ahLst/>
                  <a:cxnLst>
                    <a:cxn ang="0">
                      <a:pos x="T0" y="T1"/>
                    </a:cxn>
                    <a:cxn ang="0">
                      <a:pos x="T2" y="T3"/>
                    </a:cxn>
                    <a:cxn ang="0">
                      <a:pos x="T4" y="T5"/>
                    </a:cxn>
                    <a:cxn ang="0">
                      <a:pos x="T6" y="T7"/>
                    </a:cxn>
                    <a:cxn ang="0">
                      <a:pos x="T8" y="T9"/>
                    </a:cxn>
                  </a:cxnLst>
                  <a:rect l="0" t="0" r="r" b="b"/>
                  <a:pathLst>
                    <a:path w="17" h="23">
                      <a:moveTo>
                        <a:pt x="0" y="18"/>
                      </a:moveTo>
                      <a:lnTo>
                        <a:pt x="9" y="0"/>
                      </a:lnTo>
                      <a:lnTo>
                        <a:pt x="17" y="5"/>
                      </a:lnTo>
                      <a:lnTo>
                        <a:pt x="9" y="23"/>
                      </a:lnTo>
                      <a:lnTo>
                        <a:pt x="0" y="1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65" name="Freeform 4853"/>
                <p:cNvSpPr>
                  <a:spLocks noChangeAspect="1"/>
                </p:cNvSpPr>
                <p:nvPr/>
              </p:nvSpPr>
              <p:spPr bwMode="auto">
                <a:xfrm>
                  <a:off x="3472" y="3524"/>
                  <a:ext cx="6" cy="8"/>
                </a:xfrm>
                <a:custGeom>
                  <a:avLst/>
                  <a:gdLst>
                    <a:gd name="T0" fmla="*/ 0 w 18"/>
                    <a:gd name="T1" fmla="*/ 19 h 25"/>
                    <a:gd name="T2" fmla="*/ 9 w 18"/>
                    <a:gd name="T3" fmla="*/ 0 h 25"/>
                    <a:gd name="T4" fmla="*/ 18 w 18"/>
                    <a:gd name="T5" fmla="*/ 5 h 25"/>
                    <a:gd name="T6" fmla="*/ 10 w 18"/>
                    <a:gd name="T7" fmla="*/ 25 h 25"/>
                    <a:gd name="T8" fmla="*/ 0 w 18"/>
                    <a:gd name="T9" fmla="*/ 19 h 25"/>
                  </a:gdLst>
                  <a:ahLst/>
                  <a:cxnLst>
                    <a:cxn ang="0">
                      <a:pos x="T0" y="T1"/>
                    </a:cxn>
                    <a:cxn ang="0">
                      <a:pos x="T2" y="T3"/>
                    </a:cxn>
                    <a:cxn ang="0">
                      <a:pos x="T4" y="T5"/>
                    </a:cxn>
                    <a:cxn ang="0">
                      <a:pos x="T6" y="T7"/>
                    </a:cxn>
                    <a:cxn ang="0">
                      <a:pos x="T8" y="T9"/>
                    </a:cxn>
                  </a:cxnLst>
                  <a:rect l="0" t="0" r="r" b="b"/>
                  <a:pathLst>
                    <a:path w="18" h="25">
                      <a:moveTo>
                        <a:pt x="0" y="19"/>
                      </a:moveTo>
                      <a:lnTo>
                        <a:pt x="9" y="0"/>
                      </a:lnTo>
                      <a:lnTo>
                        <a:pt x="18" y="5"/>
                      </a:lnTo>
                      <a:lnTo>
                        <a:pt x="10" y="25"/>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66" name="Freeform 4854"/>
                <p:cNvSpPr>
                  <a:spLocks noChangeAspect="1"/>
                </p:cNvSpPr>
                <p:nvPr/>
              </p:nvSpPr>
              <p:spPr bwMode="auto">
                <a:xfrm>
                  <a:off x="3474" y="3525"/>
                  <a:ext cx="6" cy="8"/>
                </a:xfrm>
                <a:custGeom>
                  <a:avLst/>
                  <a:gdLst>
                    <a:gd name="T0" fmla="*/ 0 w 18"/>
                    <a:gd name="T1" fmla="*/ 18 h 24"/>
                    <a:gd name="T2" fmla="*/ 8 w 18"/>
                    <a:gd name="T3" fmla="*/ 0 h 24"/>
                    <a:gd name="T4" fmla="*/ 18 w 18"/>
                    <a:gd name="T5" fmla="*/ 6 h 24"/>
                    <a:gd name="T6" fmla="*/ 9 w 18"/>
                    <a:gd name="T7" fmla="*/ 24 h 24"/>
                    <a:gd name="T8" fmla="*/ 0 w 18"/>
                    <a:gd name="T9" fmla="*/ 18 h 24"/>
                  </a:gdLst>
                  <a:ahLst/>
                  <a:cxnLst>
                    <a:cxn ang="0">
                      <a:pos x="T0" y="T1"/>
                    </a:cxn>
                    <a:cxn ang="0">
                      <a:pos x="T2" y="T3"/>
                    </a:cxn>
                    <a:cxn ang="0">
                      <a:pos x="T4" y="T5"/>
                    </a:cxn>
                    <a:cxn ang="0">
                      <a:pos x="T6" y="T7"/>
                    </a:cxn>
                    <a:cxn ang="0">
                      <a:pos x="T8" y="T9"/>
                    </a:cxn>
                  </a:cxnLst>
                  <a:rect l="0" t="0" r="r" b="b"/>
                  <a:pathLst>
                    <a:path w="18" h="24">
                      <a:moveTo>
                        <a:pt x="0" y="18"/>
                      </a:moveTo>
                      <a:lnTo>
                        <a:pt x="8" y="0"/>
                      </a:lnTo>
                      <a:lnTo>
                        <a:pt x="18" y="6"/>
                      </a:lnTo>
                      <a:lnTo>
                        <a:pt x="9" y="24"/>
                      </a:lnTo>
                      <a:lnTo>
                        <a:pt x="0" y="1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67" name="Freeform 4855"/>
                <p:cNvSpPr>
                  <a:spLocks noChangeAspect="1"/>
                </p:cNvSpPr>
                <p:nvPr/>
              </p:nvSpPr>
              <p:spPr bwMode="auto">
                <a:xfrm>
                  <a:off x="3475" y="3526"/>
                  <a:ext cx="6" cy="8"/>
                </a:xfrm>
                <a:custGeom>
                  <a:avLst/>
                  <a:gdLst>
                    <a:gd name="T0" fmla="*/ 0 w 17"/>
                    <a:gd name="T1" fmla="*/ 20 h 25"/>
                    <a:gd name="T2" fmla="*/ 8 w 17"/>
                    <a:gd name="T3" fmla="*/ 0 h 25"/>
                    <a:gd name="T4" fmla="*/ 17 w 17"/>
                    <a:gd name="T5" fmla="*/ 6 h 25"/>
                    <a:gd name="T6" fmla="*/ 8 w 17"/>
                    <a:gd name="T7" fmla="*/ 25 h 25"/>
                    <a:gd name="T8" fmla="*/ 0 w 17"/>
                    <a:gd name="T9" fmla="*/ 20 h 25"/>
                  </a:gdLst>
                  <a:ahLst/>
                  <a:cxnLst>
                    <a:cxn ang="0">
                      <a:pos x="T0" y="T1"/>
                    </a:cxn>
                    <a:cxn ang="0">
                      <a:pos x="T2" y="T3"/>
                    </a:cxn>
                    <a:cxn ang="0">
                      <a:pos x="T4" y="T5"/>
                    </a:cxn>
                    <a:cxn ang="0">
                      <a:pos x="T6" y="T7"/>
                    </a:cxn>
                    <a:cxn ang="0">
                      <a:pos x="T8" y="T9"/>
                    </a:cxn>
                  </a:cxnLst>
                  <a:rect l="0" t="0" r="r" b="b"/>
                  <a:pathLst>
                    <a:path w="17" h="25">
                      <a:moveTo>
                        <a:pt x="0" y="20"/>
                      </a:moveTo>
                      <a:lnTo>
                        <a:pt x="8" y="0"/>
                      </a:lnTo>
                      <a:lnTo>
                        <a:pt x="17" y="6"/>
                      </a:lnTo>
                      <a:lnTo>
                        <a:pt x="8" y="25"/>
                      </a:lnTo>
                      <a:lnTo>
                        <a:pt x="0" y="2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68" name="Freeform 4856"/>
                <p:cNvSpPr>
                  <a:spLocks noChangeAspect="1"/>
                </p:cNvSpPr>
                <p:nvPr/>
              </p:nvSpPr>
              <p:spPr bwMode="auto">
                <a:xfrm>
                  <a:off x="3477" y="3527"/>
                  <a:ext cx="5" cy="8"/>
                </a:xfrm>
                <a:custGeom>
                  <a:avLst/>
                  <a:gdLst>
                    <a:gd name="T0" fmla="*/ 0 w 17"/>
                    <a:gd name="T1" fmla="*/ 18 h 24"/>
                    <a:gd name="T2" fmla="*/ 9 w 17"/>
                    <a:gd name="T3" fmla="*/ 0 h 24"/>
                    <a:gd name="T4" fmla="*/ 17 w 17"/>
                    <a:gd name="T5" fmla="*/ 5 h 24"/>
                    <a:gd name="T6" fmla="*/ 9 w 17"/>
                    <a:gd name="T7" fmla="*/ 24 h 24"/>
                    <a:gd name="T8" fmla="*/ 0 w 17"/>
                    <a:gd name="T9" fmla="*/ 18 h 24"/>
                  </a:gdLst>
                  <a:ahLst/>
                  <a:cxnLst>
                    <a:cxn ang="0">
                      <a:pos x="T0" y="T1"/>
                    </a:cxn>
                    <a:cxn ang="0">
                      <a:pos x="T2" y="T3"/>
                    </a:cxn>
                    <a:cxn ang="0">
                      <a:pos x="T4" y="T5"/>
                    </a:cxn>
                    <a:cxn ang="0">
                      <a:pos x="T6" y="T7"/>
                    </a:cxn>
                    <a:cxn ang="0">
                      <a:pos x="T8" y="T9"/>
                    </a:cxn>
                  </a:cxnLst>
                  <a:rect l="0" t="0" r="r" b="b"/>
                  <a:pathLst>
                    <a:path w="17" h="24">
                      <a:moveTo>
                        <a:pt x="0" y="18"/>
                      </a:moveTo>
                      <a:lnTo>
                        <a:pt x="9" y="0"/>
                      </a:lnTo>
                      <a:lnTo>
                        <a:pt x="17" y="5"/>
                      </a:lnTo>
                      <a:lnTo>
                        <a:pt x="9" y="24"/>
                      </a:lnTo>
                      <a:lnTo>
                        <a:pt x="0" y="1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69" name="Freeform 4857"/>
                <p:cNvSpPr>
                  <a:spLocks noChangeAspect="1"/>
                </p:cNvSpPr>
                <p:nvPr/>
              </p:nvSpPr>
              <p:spPr bwMode="auto">
                <a:xfrm>
                  <a:off x="3478" y="3528"/>
                  <a:ext cx="6" cy="8"/>
                </a:xfrm>
                <a:custGeom>
                  <a:avLst/>
                  <a:gdLst>
                    <a:gd name="T0" fmla="*/ 0 w 17"/>
                    <a:gd name="T1" fmla="*/ 19 h 24"/>
                    <a:gd name="T2" fmla="*/ 9 w 17"/>
                    <a:gd name="T3" fmla="*/ 0 h 24"/>
                    <a:gd name="T4" fmla="*/ 17 w 17"/>
                    <a:gd name="T5" fmla="*/ 5 h 24"/>
                    <a:gd name="T6" fmla="*/ 9 w 17"/>
                    <a:gd name="T7" fmla="*/ 24 h 24"/>
                    <a:gd name="T8" fmla="*/ 0 w 17"/>
                    <a:gd name="T9" fmla="*/ 19 h 24"/>
                  </a:gdLst>
                  <a:ahLst/>
                  <a:cxnLst>
                    <a:cxn ang="0">
                      <a:pos x="T0" y="T1"/>
                    </a:cxn>
                    <a:cxn ang="0">
                      <a:pos x="T2" y="T3"/>
                    </a:cxn>
                    <a:cxn ang="0">
                      <a:pos x="T4" y="T5"/>
                    </a:cxn>
                    <a:cxn ang="0">
                      <a:pos x="T6" y="T7"/>
                    </a:cxn>
                    <a:cxn ang="0">
                      <a:pos x="T8" y="T9"/>
                    </a:cxn>
                  </a:cxnLst>
                  <a:rect l="0" t="0" r="r" b="b"/>
                  <a:pathLst>
                    <a:path w="17" h="24">
                      <a:moveTo>
                        <a:pt x="0" y="19"/>
                      </a:moveTo>
                      <a:lnTo>
                        <a:pt x="9" y="0"/>
                      </a:lnTo>
                      <a:lnTo>
                        <a:pt x="17" y="5"/>
                      </a:lnTo>
                      <a:lnTo>
                        <a:pt x="9" y="24"/>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70" name="Freeform 4858"/>
                <p:cNvSpPr>
                  <a:spLocks noChangeAspect="1"/>
                </p:cNvSpPr>
                <p:nvPr/>
              </p:nvSpPr>
              <p:spPr bwMode="auto">
                <a:xfrm>
                  <a:off x="3480" y="3529"/>
                  <a:ext cx="5" cy="8"/>
                </a:xfrm>
                <a:custGeom>
                  <a:avLst/>
                  <a:gdLst>
                    <a:gd name="T0" fmla="*/ 0 w 17"/>
                    <a:gd name="T1" fmla="*/ 19 h 24"/>
                    <a:gd name="T2" fmla="*/ 8 w 17"/>
                    <a:gd name="T3" fmla="*/ 0 h 24"/>
                    <a:gd name="T4" fmla="*/ 17 w 17"/>
                    <a:gd name="T5" fmla="*/ 5 h 24"/>
                    <a:gd name="T6" fmla="*/ 8 w 17"/>
                    <a:gd name="T7" fmla="*/ 24 h 24"/>
                    <a:gd name="T8" fmla="*/ 0 w 17"/>
                    <a:gd name="T9" fmla="*/ 19 h 24"/>
                  </a:gdLst>
                  <a:ahLst/>
                  <a:cxnLst>
                    <a:cxn ang="0">
                      <a:pos x="T0" y="T1"/>
                    </a:cxn>
                    <a:cxn ang="0">
                      <a:pos x="T2" y="T3"/>
                    </a:cxn>
                    <a:cxn ang="0">
                      <a:pos x="T4" y="T5"/>
                    </a:cxn>
                    <a:cxn ang="0">
                      <a:pos x="T6" y="T7"/>
                    </a:cxn>
                    <a:cxn ang="0">
                      <a:pos x="T8" y="T9"/>
                    </a:cxn>
                  </a:cxnLst>
                  <a:rect l="0" t="0" r="r" b="b"/>
                  <a:pathLst>
                    <a:path w="17" h="24">
                      <a:moveTo>
                        <a:pt x="0" y="19"/>
                      </a:moveTo>
                      <a:lnTo>
                        <a:pt x="8" y="0"/>
                      </a:lnTo>
                      <a:lnTo>
                        <a:pt x="17" y="5"/>
                      </a:lnTo>
                      <a:lnTo>
                        <a:pt x="8" y="24"/>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71" name="Freeform 4859"/>
                <p:cNvSpPr>
                  <a:spLocks noChangeAspect="1"/>
                </p:cNvSpPr>
                <p:nvPr/>
              </p:nvSpPr>
              <p:spPr bwMode="auto">
                <a:xfrm>
                  <a:off x="3481" y="3530"/>
                  <a:ext cx="6" cy="8"/>
                </a:xfrm>
                <a:custGeom>
                  <a:avLst/>
                  <a:gdLst>
                    <a:gd name="T0" fmla="*/ 0 w 17"/>
                    <a:gd name="T1" fmla="*/ 19 h 24"/>
                    <a:gd name="T2" fmla="*/ 8 w 17"/>
                    <a:gd name="T3" fmla="*/ 0 h 24"/>
                    <a:gd name="T4" fmla="*/ 17 w 17"/>
                    <a:gd name="T5" fmla="*/ 5 h 24"/>
                    <a:gd name="T6" fmla="*/ 8 w 17"/>
                    <a:gd name="T7" fmla="*/ 24 h 24"/>
                    <a:gd name="T8" fmla="*/ 0 w 17"/>
                    <a:gd name="T9" fmla="*/ 19 h 24"/>
                  </a:gdLst>
                  <a:ahLst/>
                  <a:cxnLst>
                    <a:cxn ang="0">
                      <a:pos x="T0" y="T1"/>
                    </a:cxn>
                    <a:cxn ang="0">
                      <a:pos x="T2" y="T3"/>
                    </a:cxn>
                    <a:cxn ang="0">
                      <a:pos x="T4" y="T5"/>
                    </a:cxn>
                    <a:cxn ang="0">
                      <a:pos x="T6" y="T7"/>
                    </a:cxn>
                    <a:cxn ang="0">
                      <a:pos x="T8" y="T9"/>
                    </a:cxn>
                  </a:cxnLst>
                  <a:rect l="0" t="0" r="r" b="b"/>
                  <a:pathLst>
                    <a:path w="17" h="24">
                      <a:moveTo>
                        <a:pt x="0" y="19"/>
                      </a:moveTo>
                      <a:lnTo>
                        <a:pt x="8" y="0"/>
                      </a:lnTo>
                      <a:lnTo>
                        <a:pt x="17" y="5"/>
                      </a:lnTo>
                      <a:lnTo>
                        <a:pt x="8" y="24"/>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72" name="Freeform 4860"/>
                <p:cNvSpPr>
                  <a:spLocks noChangeAspect="1"/>
                </p:cNvSpPr>
                <p:nvPr/>
              </p:nvSpPr>
              <p:spPr bwMode="auto">
                <a:xfrm>
                  <a:off x="3482" y="3531"/>
                  <a:ext cx="6" cy="8"/>
                </a:xfrm>
                <a:custGeom>
                  <a:avLst/>
                  <a:gdLst>
                    <a:gd name="T0" fmla="*/ 0 w 18"/>
                    <a:gd name="T1" fmla="*/ 19 h 25"/>
                    <a:gd name="T2" fmla="*/ 9 w 18"/>
                    <a:gd name="T3" fmla="*/ 0 h 25"/>
                    <a:gd name="T4" fmla="*/ 18 w 18"/>
                    <a:gd name="T5" fmla="*/ 6 h 25"/>
                    <a:gd name="T6" fmla="*/ 10 w 18"/>
                    <a:gd name="T7" fmla="*/ 25 h 25"/>
                    <a:gd name="T8" fmla="*/ 0 w 18"/>
                    <a:gd name="T9" fmla="*/ 19 h 25"/>
                  </a:gdLst>
                  <a:ahLst/>
                  <a:cxnLst>
                    <a:cxn ang="0">
                      <a:pos x="T0" y="T1"/>
                    </a:cxn>
                    <a:cxn ang="0">
                      <a:pos x="T2" y="T3"/>
                    </a:cxn>
                    <a:cxn ang="0">
                      <a:pos x="T4" y="T5"/>
                    </a:cxn>
                    <a:cxn ang="0">
                      <a:pos x="T6" y="T7"/>
                    </a:cxn>
                    <a:cxn ang="0">
                      <a:pos x="T8" y="T9"/>
                    </a:cxn>
                  </a:cxnLst>
                  <a:rect l="0" t="0" r="r" b="b"/>
                  <a:pathLst>
                    <a:path w="18" h="25">
                      <a:moveTo>
                        <a:pt x="0" y="19"/>
                      </a:moveTo>
                      <a:lnTo>
                        <a:pt x="9" y="0"/>
                      </a:lnTo>
                      <a:lnTo>
                        <a:pt x="18" y="6"/>
                      </a:lnTo>
                      <a:lnTo>
                        <a:pt x="10" y="25"/>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73" name="Freeform 4861"/>
                <p:cNvSpPr>
                  <a:spLocks noChangeAspect="1"/>
                </p:cNvSpPr>
                <p:nvPr/>
              </p:nvSpPr>
              <p:spPr bwMode="auto">
                <a:xfrm>
                  <a:off x="3484" y="3531"/>
                  <a:ext cx="6" cy="9"/>
                </a:xfrm>
                <a:custGeom>
                  <a:avLst/>
                  <a:gdLst>
                    <a:gd name="T0" fmla="*/ 0 w 19"/>
                    <a:gd name="T1" fmla="*/ 19 h 25"/>
                    <a:gd name="T2" fmla="*/ 9 w 19"/>
                    <a:gd name="T3" fmla="*/ 0 h 25"/>
                    <a:gd name="T4" fmla="*/ 19 w 19"/>
                    <a:gd name="T5" fmla="*/ 6 h 25"/>
                    <a:gd name="T6" fmla="*/ 10 w 19"/>
                    <a:gd name="T7" fmla="*/ 25 h 25"/>
                    <a:gd name="T8" fmla="*/ 0 w 19"/>
                    <a:gd name="T9" fmla="*/ 19 h 25"/>
                  </a:gdLst>
                  <a:ahLst/>
                  <a:cxnLst>
                    <a:cxn ang="0">
                      <a:pos x="T0" y="T1"/>
                    </a:cxn>
                    <a:cxn ang="0">
                      <a:pos x="T2" y="T3"/>
                    </a:cxn>
                    <a:cxn ang="0">
                      <a:pos x="T4" y="T5"/>
                    </a:cxn>
                    <a:cxn ang="0">
                      <a:pos x="T6" y="T7"/>
                    </a:cxn>
                    <a:cxn ang="0">
                      <a:pos x="T8" y="T9"/>
                    </a:cxn>
                  </a:cxnLst>
                  <a:rect l="0" t="0" r="r" b="b"/>
                  <a:pathLst>
                    <a:path w="19" h="25">
                      <a:moveTo>
                        <a:pt x="0" y="19"/>
                      </a:moveTo>
                      <a:lnTo>
                        <a:pt x="9" y="0"/>
                      </a:lnTo>
                      <a:lnTo>
                        <a:pt x="19" y="6"/>
                      </a:lnTo>
                      <a:lnTo>
                        <a:pt x="10" y="25"/>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74" name="Freeform 4862"/>
                <p:cNvSpPr>
                  <a:spLocks noChangeAspect="1"/>
                </p:cNvSpPr>
                <p:nvPr/>
              </p:nvSpPr>
              <p:spPr bwMode="auto">
                <a:xfrm>
                  <a:off x="3486" y="3533"/>
                  <a:ext cx="5" cy="8"/>
                </a:xfrm>
                <a:custGeom>
                  <a:avLst/>
                  <a:gdLst>
                    <a:gd name="T0" fmla="*/ 0 w 17"/>
                    <a:gd name="T1" fmla="*/ 19 h 24"/>
                    <a:gd name="T2" fmla="*/ 8 w 17"/>
                    <a:gd name="T3" fmla="*/ 0 h 24"/>
                    <a:gd name="T4" fmla="*/ 17 w 17"/>
                    <a:gd name="T5" fmla="*/ 5 h 24"/>
                    <a:gd name="T6" fmla="*/ 8 w 17"/>
                    <a:gd name="T7" fmla="*/ 24 h 24"/>
                    <a:gd name="T8" fmla="*/ 0 w 17"/>
                    <a:gd name="T9" fmla="*/ 19 h 24"/>
                  </a:gdLst>
                  <a:ahLst/>
                  <a:cxnLst>
                    <a:cxn ang="0">
                      <a:pos x="T0" y="T1"/>
                    </a:cxn>
                    <a:cxn ang="0">
                      <a:pos x="T2" y="T3"/>
                    </a:cxn>
                    <a:cxn ang="0">
                      <a:pos x="T4" y="T5"/>
                    </a:cxn>
                    <a:cxn ang="0">
                      <a:pos x="T6" y="T7"/>
                    </a:cxn>
                    <a:cxn ang="0">
                      <a:pos x="T8" y="T9"/>
                    </a:cxn>
                  </a:cxnLst>
                  <a:rect l="0" t="0" r="r" b="b"/>
                  <a:pathLst>
                    <a:path w="17" h="24">
                      <a:moveTo>
                        <a:pt x="0" y="19"/>
                      </a:moveTo>
                      <a:lnTo>
                        <a:pt x="8" y="0"/>
                      </a:lnTo>
                      <a:lnTo>
                        <a:pt x="17" y="5"/>
                      </a:lnTo>
                      <a:lnTo>
                        <a:pt x="8" y="24"/>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75" name="Freeform 4863"/>
                <p:cNvSpPr>
                  <a:spLocks noChangeAspect="1"/>
                </p:cNvSpPr>
                <p:nvPr/>
              </p:nvSpPr>
              <p:spPr bwMode="auto">
                <a:xfrm>
                  <a:off x="3487" y="3533"/>
                  <a:ext cx="6" cy="8"/>
                </a:xfrm>
                <a:custGeom>
                  <a:avLst/>
                  <a:gdLst>
                    <a:gd name="T0" fmla="*/ 0 w 17"/>
                    <a:gd name="T1" fmla="*/ 19 h 24"/>
                    <a:gd name="T2" fmla="*/ 9 w 17"/>
                    <a:gd name="T3" fmla="*/ 0 h 24"/>
                    <a:gd name="T4" fmla="*/ 17 w 17"/>
                    <a:gd name="T5" fmla="*/ 5 h 24"/>
                    <a:gd name="T6" fmla="*/ 9 w 17"/>
                    <a:gd name="T7" fmla="*/ 24 h 24"/>
                    <a:gd name="T8" fmla="*/ 0 w 17"/>
                    <a:gd name="T9" fmla="*/ 19 h 24"/>
                  </a:gdLst>
                  <a:ahLst/>
                  <a:cxnLst>
                    <a:cxn ang="0">
                      <a:pos x="T0" y="T1"/>
                    </a:cxn>
                    <a:cxn ang="0">
                      <a:pos x="T2" y="T3"/>
                    </a:cxn>
                    <a:cxn ang="0">
                      <a:pos x="T4" y="T5"/>
                    </a:cxn>
                    <a:cxn ang="0">
                      <a:pos x="T6" y="T7"/>
                    </a:cxn>
                    <a:cxn ang="0">
                      <a:pos x="T8" y="T9"/>
                    </a:cxn>
                  </a:cxnLst>
                  <a:rect l="0" t="0" r="r" b="b"/>
                  <a:pathLst>
                    <a:path w="17" h="24">
                      <a:moveTo>
                        <a:pt x="0" y="19"/>
                      </a:moveTo>
                      <a:lnTo>
                        <a:pt x="9" y="0"/>
                      </a:lnTo>
                      <a:lnTo>
                        <a:pt x="17" y="5"/>
                      </a:lnTo>
                      <a:lnTo>
                        <a:pt x="9" y="24"/>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76" name="Freeform 4864"/>
                <p:cNvSpPr>
                  <a:spLocks noChangeAspect="1"/>
                </p:cNvSpPr>
                <p:nvPr/>
              </p:nvSpPr>
              <p:spPr bwMode="auto">
                <a:xfrm>
                  <a:off x="3488" y="3534"/>
                  <a:ext cx="6" cy="8"/>
                </a:xfrm>
                <a:custGeom>
                  <a:avLst/>
                  <a:gdLst>
                    <a:gd name="T0" fmla="*/ 0 w 17"/>
                    <a:gd name="T1" fmla="*/ 19 h 24"/>
                    <a:gd name="T2" fmla="*/ 9 w 17"/>
                    <a:gd name="T3" fmla="*/ 0 h 24"/>
                    <a:gd name="T4" fmla="*/ 17 w 17"/>
                    <a:gd name="T5" fmla="*/ 5 h 24"/>
                    <a:gd name="T6" fmla="*/ 9 w 17"/>
                    <a:gd name="T7" fmla="*/ 24 h 24"/>
                    <a:gd name="T8" fmla="*/ 0 w 17"/>
                    <a:gd name="T9" fmla="*/ 19 h 24"/>
                  </a:gdLst>
                  <a:ahLst/>
                  <a:cxnLst>
                    <a:cxn ang="0">
                      <a:pos x="T0" y="T1"/>
                    </a:cxn>
                    <a:cxn ang="0">
                      <a:pos x="T2" y="T3"/>
                    </a:cxn>
                    <a:cxn ang="0">
                      <a:pos x="T4" y="T5"/>
                    </a:cxn>
                    <a:cxn ang="0">
                      <a:pos x="T6" y="T7"/>
                    </a:cxn>
                    <a:cxn ang="0">
                      <a:pos x="T8" y="T9"/>
                    </a:cxn>
                  </a:cxnLst>
                  <a:rect l="0" t="0" r="r" b="b"/>
                  <a:pathLst>
                    <a:path w="17" h="24">
                      <a:moveTo>
                        <a:pt x="0" y="19"/>
                      </a:moveTo>
                      <a:lnTo>
                        <a:pt x="9" y="0"/>
                      </a:lnTo>
                      <a:lnTo>
                        <a:pt x="17" y="5"/>
                      </a:lnTo>
                      <a:lnTo>
                        <a:pt x="9" y="24"/>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77" name="Freeform 4865"/>
                <p:cNvSpPr>
                  <a:spLocks noChangeAspect="1"/>
                </p:cNvSpPr>
                <p:nvPr/>
              </p:nvSpPr>
              <p:spPr bwMode="auto">
                <a:xfrm>
                  <a:off x="3490" y="3535"/>
                  <a:ext cx="6" cy="8"/>
                </a:xfrm>
                <a:custGeom>
                  <a:avLst/>
                  <a:gdLst>
                    <a:gd name="T0" fmla="*/ 0 w 17"/>
                    <a:gd name="T1" fmla="*/ 19 h 24"/>
                    <a:gd name="T2" fmla="*/ 8 w 17"/>
                    <a:gd name="T3" fmla="*/ 0 h 24"/>
                    <a:gd name="T4" fmla="*/ 17 w 17"/>
                    <a:gd name="T5" fmla="*/ 5 h 24"/>
                    <a:gd name="T6" fmla="*/ 8 w 17"/>
                    <a:gd name="T7" fmla="*/ 24 h 24"/>
                    <a:gd name="T8" fmla="*/ 0 w 17"/>
                    <a:gd name="T9" fmla="*/ 19 h 24"/>
                  </a:gdLst>
                  <a:ahLst/>
                  <a:cxnLst>
                    <a:cxn ang="0">
                      <a:pos x="T0" y="T1"/>
                    </a:cxn>
                    <a:cxn ang="0">
                      <a:pos x="T2" y="T3"/>
                    </a:cxn>
                    <a:cxn ang="0">
                      <a:pos x="T4" y="T5"/>
                    </a:cxn>
                    <a:cxn ang="0">
                      <a:pos x="T6" y="T7"/>
                    </a:cxn>
                    <a:cxn ang="0">
                      <a:pos x="T8" y="T9"/>
                    </a:cxn>
                  </a:cxnLst>
                  <a:rect l="0" t="0" r="r" b="b"/>
                  <a:pathLst>
                    <a:path w="17" h="24">
                      <a:moveTo>
                        <a:pt x="0" y="19"/>
                      </a:moveTo>
                      <a:lnTo>
                        <a:pt x="8" y="0"/>
                      </a:lnTo>
                      <a:lnTo>
                        <a:pt x="17" y="5"/>
                      </a:lnTo>
                      <a:lnTo>
                        <a:pt x="8" y="24"/>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78" name="Freeform 4866"/>
                <p:cNvSpPr>
                  <a:spLocks noChangeAspect="1"/>
                </p:cNvSpPr>
                <p:nvPr/>
              </p:nvSpPr>
              <p:spPr bwMode="auto">
                <a:xfrm>
                  <a:off x="3491" y="3536"/>
                  <a:ext cx="6" cy="8"/>
                </a:xfrm>
                <a:custGeom>
                  <a:avLst/>
                  <a:gdLst>
                    <a:gd name="T0" fmla="*/ 0 w 18"/>
                    <a:gd name="T1" fmla="*/ 19 h 25"/>
                    <a:gd name="T2" fmla="*/ 8 w 18"/>
                    <a:gd name="T3" fmla="*/ 0 h 25"/>
                    <a:gd name="T4" fmla="*/ 18 w 18"/>
                    <a:gd name="T5" fmla="*/ 5 h 25"/>
                    <a:gd name="T6" fmla="*/ 9 w 18"/>
                    <a:gd name="T7" fmla="*/ 25 h 25"/>
                    <a:gd name="T8" fmla="*/ 0 w 18"/>
                    <a:gd name="T9" fmla="*/ 19 h 25"/>
                  </a:gdLst>
                  <a:ahLst/>
                  <a:cxnLst>
                    <a:cxn ang="0">
                      <a:pos x="T0" y="T1"/>
                    </a:cxn>
                    <a:cxn ang="0">
                      <a:pos x="T2" y="T3"/>
                    </a:cxn>
                    <a:cxn ang="0">
                      <a:pos x="T4" y="T5"/>
                    </a:cxn>
                    <a:cxn ang="0">
                      <a:pos x="T6" y="T7"/>
                    </a:cxn>
                    <a:cxn ang="0">
                      <a:pos x="T8" y="T9"/>
                    </a:cxn>
                  </a:cxnLst>
                  <a:rect l="0" t="0" r="r" b="b"/>
                  <a:pathLst>
                    <a:path w="18" h="25">
                      <a:moveTo>
                        <a:pt x="0" y="19"/>
                      </a:moveTo>
                      <a:lnTo>
                        <a:pt x="8" y="0"/>
                      </a:lnTo>
                      <a:lnTo>
                        <a:pt x="18" y="5"/>
                      </a:lnTo>
                      <a:lnTo>
                        <a:pt x="9" y="25"/>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79" name="Freeform 4867"/>
                <p:cNvSpPr>
                  <a:spLocks noChangeAspect="1"/>
                </p:cNvSpPr>
                <p:nvPr/>
              </p:nvSpPr>
              <p:spPr bwMode="auto">
                <a:xfrm>
                  <a:off x="3493" y="3537"/>
                  <a:ext cx="6" cy="8"/>
                </a:xfrm>
                <a:custGeom>
                  <a:avLst/>
                  <a:gdLst>
                    <a:gd name="T0" fmla="*/ 0 w 18"/>
                    <a:gd name="T1" fmla="*/ 19 h 25"/>
                    <a:gd name="T2" fmla="*/ 9 w 18"/>
                    <a:gd name="T3" fmla="*/ 0 h 25"/>
                    <a:gd name="T4" fmla="*/ 18 w 18"/>
                    <a:gd name="T5" fmla="*/ 6 h 25"/>
                    <a:gd name="T6" fmla="*/ 10 w 18"/>
                    <a:gd name="T7" fmla="*/ 25 h 25"/>
                    <a:gd name="T8" fmla="*/ 0 w 18"/>
                    <a:gd name="T9" fmla="*/ 19 h 25"/>
                  </a:gdLst>
                  <a:ahLst/>
                  <a:cxnLst>
                    <a:cxn ang="0">
                      <a:pos x="T0" y="T1"/>
                    </a:cxn>
                    <a:cxn ang="0">
                      <a:pos x="T2" y="T3"/>
                    </a:cxn>
                    <a:cxn ang="0">
                      <a:pos x="T4" y="T5"/>
                    </a:cxn>
                    <a:cxn ang="0">
                      <a:pos x="T6" y="T7"/>
                    </a:cxn>
                    <a:cxn ang="0">
                      <a:pos x="T8" y="T9"/>
                    </a:cxn>
                  </a:cxnLst>
                  <a:rect l="0" t="0" r="r" b="b"/>
                  <a:pathLst>
                    <a:path w="18" h="25">
                      <a:moveTo>
                        <a:pt x="0" y="19"/>
                      </a:moveTo>
                      <a:lnTo>
                        <a:pt x="9" y="0"/>
                      </a:lnTo>
                      <a:lnTo>
                        <a:pt x="18" y="6"/>
                      </a:lnTo>
                      <a:lnTo>
                        <a:pt x="10" y="25"/>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80" name="Freeform 4868"/>
                <p:cNvSpPr>
                  <a:spLocks noChangeAspect="1"/>
                </p:cNvSpPr>
                <p:nvPr/>
              </p:nvSpPr>
              <p:spPr bwMode="auto">
                <a:xfrm>
                  <a:off x="3494" y="3538"/>
                  <a:ext cx="6" cy="8"/>
                </a:xfrm>
                <a:custGeom>
                  <a:avLst/>
                  <a:gdLst>
                    <a:gd name="T0" fmla="*/ 0 w 17"/>
                    <a:gd name="T1" fmla="*/ 20 h 25"/>
                    <a:gd name="T2" fmla="*/ 9 w 17"/>
                    <a:gd name="T3" fmla="*/ 0 h 25"/>
                    <a:gd name="T4" fmla="*/ 17 w 17"/>
                    <a:gd name="T5" fmla="*/ 6 h 25"/>
                    <a:gd name="T6" fmla="*/ 9 w 17"/>
                    <a:gd name="T7" fmla="*/ 25 h 25"/>
                    <a:gd name="T8" fmla="*/ 0 w 17"/>
                    <a:gd name="T9" fmla="*/ 20 h 25"/>
                  </a:gdLst>
                  <a:ahLst/>
                  <a:cxnLst>
                    <a:cxn ang="0">
                      <a:pos x="T0" y="T1"/>
                    </a:cxn>
                    <a:cxn ang="0">
                      <a:pos x="T2" y="T3"/>
                    </a:cxn>
                    <a:cxn ang="0">
                      <a:pos x="T4" y="T5"/>
                    </a:cxn>
                    <a:cxn ang="0">
                      <a:pos x="T6" y="T7"/>
                    </a:cxn>
                    <a:cxn ang="0">
                      <a:pos x="T8" y="T9"/>
                    </a:cxn>
                  </a:cxnLst>
                  <a:rect l="0" t="0" r="r" b="b"/>
                  <a:pathLst>
                    <a:path w="17" h="25">
                      <a:moveTo>
                        <a:pt x="0" y="20"/>
                      </a:moveTo>
                      <a:lnTo>
                        <a:pt x="9" y="0"/>
                      </a:lnTo>
                      <a:lnTo>
                        <a:pt x="17" y="6"/>
                      </a:lnTo>
                      <a:lnTo>
                        <a:pt x="9" y="25"/>
                      </a:lnTo>
                      <a:lnTo>
                        <a:pt x="0" y="2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81" name="Freeform 4869"/>
                <p:cNvSpPr>
                  <a:spLocks noChangeAspect="1"/>
                </p:cNvSpPr>
                <p:nvPr/>
              </p:nvSpPr>
              <p:spPr bwMode="auto">
                <a:xfrm>
                  <a:off x="3496" y="3539"/>
                  <a:ext cx="6" cy="8"/>
                </a:xfrm>
                <a:custGeom>
                  <a:avLst/>
                  <a:gdLst>
                    <a:gd name="T0" fmla="*/ 0 w 17"/>
                    <a:gd name="T1" fmla="*/ 19 h 24"/>
                    <a:gd name="T2" fmla="*/ 8 w 17"/>
                    <a:gd name="T3" fmla="*/ 0 h 24"/>
                    <a:gd name="T4" fmla="*/ 17 w 17"/>
                    <a:gd name="T5" fmla="*/ 5 h 24"/>
                    <a:gd name="T6" fmla="*/ 8 w 17"/>
                    <a:gd name="T7" fmla="*/ 24 h 24"/>
                    <a:gd name="T8" fmla="*/ 0 w 17"/>
                    <a:gd name="T9" fmla="*/ 19 h 24"/>
                  </a:gdLst>
                  <a:ahLst/>
                  <a:cxnLst>
                    <a:cxn ang="0">
                      <a:pos x="T0" y="T1"/>
                    </a:cxn>
                    <a:cxn ang="0">
                      <a:pos x="T2" y="T3"/>
                    </a:cxn>
                    <a:cxn ang="0">
                      <a:pos x="T4" y="T5"/>
                    </a:cxn>
                    <a:cxn ang="0">
                      <a:pos x="T6" y="T7"/>
                    </a:cxn>
                    <a:cxn ang="0">
                      <a:pos x="T8" y="T9"/>
                    </a:cxn>
                  </a:cxnLst>
                  <a:rect l="0" t="0" r="r" b="b"/>
                  <a:pathLst>
                    <a:path w="17" h="24">
                      <a:moveTo>
                        <a:pt x="0" y="19"/>
                      </a:moveTo>
                      <a:lnTo>
                        <a:pt x="8" y="0"/>
                      </a:lnTo>
                      <a:lnTo>
                        <a:pt x="17" y="5"/>
                      </a:lnTo>
                      <a:lnTo>
                        <a:pt x="8" y="24"/>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82" name="Freeform 4870"/>
                <p:cNvSpPr>
                  <a:spLocks noChangeAspect="1"/>
                </p:cNvSpPr>
                <p:nvPr/>
              </p:nvSpPr>
              <p:spPr bwMode="auto">
                <a:xfrm>
                  <a:off x="3497" y="3540"/>
                  <a:ext cx="6" cy="8"/>
                </a:xfrm>
                <a:custGeom>
                  <a:avLst/>
                  <a:gdLst>
                    <a:gd name="T0" fmla="*/ 0 w 17"/>
                    <a:gd name="T1" fmla="*/ 19 h 24"/>
                    <a:gd name="T2" fmla="*/ 8 w 17"/>
                    <a:gd name="T3" fmla="*/ 0 h 24"/>
                    <a:gd name="T4" fmla="*/ 17 w 17"/>
                    <a:gd name="T5" fmla="*/ 5 h 24"/>
                    <a:gd name="T6" fmla="*/ 8 w 17"/>
                    <a:gd name="T7" fmla="*/ 24 h 24"/>
                    <a:gd name="T8" fmla="*/ 0 w 17"/>
                    <a:gd name="T9" fmla="*/ 19 h 24"/>
                  </a:gdLst>
                  <a:ahLst/>
                  <a:cxnLst>
                    <a:cxn ang="0">
                      <a:pos x="T0" y="T1"/>
                    </a:cxn>
                    <a:cxn ang="0">
                      <a:pos x="T2" y="T3"/>
                    </a:cxn>
                    <a:cxn ang="0">
                      <a:pos x="T4" y="T5"/>
                    </a:cxn>
                    <a:cxn ang="0">
                      <a:pos x="T6" y="T7"/>
                    </a:cxn>
                    <a:cxn ang="0">
                      <a:pos x="T8" y="T9"/>
                    </a:cxn>
                  </a:cxnLst>
                  <a:rect l="0" t="0" r="r" b="b"/>
                  <a:pathLst>
                    <a:path w="17" h="24">
                      <a:moveTo>
                        <a:pt x="0" y="19"/>
                      </a:moveTo>
                      <a:lnTo>
                        <a:pt x="8" y="0"/>
                      </a:lnTo>
                      <a:lnTo>
                        <a:pt x="17" y="5"/>
                      </a:lnTo>
                      <a:lnTo>
                        <a:pt x="8" y="24"/>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83" name="Freeform 4871"/>
                <p:cNvSpPr>
                  <a:spLocks noChangeAspect="1"/>
                </p:cNvSpPr>
                <p:nvPr/>
              </p:nvSpPr>
              <p:spPr bwMode="auto">
                <a:xfrm>
                  <a:off x="3499" y="3540"/>
                  <a:ext cx="5" cy="8"/>
                </a:xfrm>
                <a:custGeom>
                  <a:avLst/>
                  <a:gdLst>
                    <a:gd name="T0" fmla="*/ 0 w 17"/>
                    <a:gd name="T1" fmla="*/ 19 h 24"/>
                    <a:gd name="T2" fmla="*/ 9 w 17"/>
                    <a:gd name="T3" fmla="*/ 0 h 24"/>
                    <a:gd name="T4" fmla="*/ 17 w 17"/>
                    <a:gd name="T5" fmla="*/ 5 h 24"/>
                    <a:gd name="T6" fmla="*/ 9 w 17"/>
                    <a:gd name="T7" fmla="*/ 24 h 24"/>
                    <a:gd name="T8" fmla="*/ 0 w 17"/>
                    <a:gd name="T9" fmla="*/ 19 h 24"/>
                  </a:gdLst>
                  <a:ahLst/>
                  <a:cxnLst>
                    <a:cxn ang="0">
                      <a:pos x="T0" y="T1"/>
                    </a:cxn>
                    <a:cxn ang="0">
                      <a:pos x="T2" y="T3"/>
                    </a:cxn>
                    <a:cxn ang="0">
                      <a:pos x="T4" y="T5"/>
                    </a:cxn>
                    <a:cxn ang="0">
                      <a:pos x="T6" y="T7"/>
                    </a:cxn>
                    <a:cxn ang="0">
                      <a:pos x="T8" y="T9"/>
                    </a:cxn>
                  </a:cxnLst>
                  <a:rect l="0" t="0" r="r" b="b"/>
                  <a:pathLst>
                    <a:path w="17" h="24">
                      <a:moveTo>
                        <a:pt x="0" y="19"/>
                      </a:moveTo>
                      <a:lnTo>
                        <a:pt x="9" y="0"/>
                      </a:lnTo>
                      <a:lnTo>
                        <a:pt x="17" y="5"/>
                      </a:lnTo>
                      <a:lnTo>
                        <a:pt x="9" y="24"/>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84" name="Freeform 4872"/>
                <p:cNvSpPr>
                  <a:spLocks noChangeAspect="1"/>
                </p:cNvSpPr>
                <p:nvPr/>
              </p:nvSpPr>
              <p:spPr bwMode="auto">
                <a:xfrm>
                  <a:off x="3500" y="3541"/>
                  <a:ext cx="6" cy="9"/>
                </a:xfrm>
                <a:custGeom>
                  <a:avLst/>
                  <a:gdLst>
                    <a:gd name="T0" fmla="*/ 0 w 17"/>
                    <a:gd name="T1" fmla="*/ 19 h 25"/>
                    <a:gd name="T2" fmla="*/ 9 w 17"/>
                    <a:gd name="T3" fmla="*/ 0 h 25"/>
                    <a:gd name="T4" fmla="*/ 17 w 17"/>
                    <a:gd name="T5" fmla="*/ 5 h 25"/>
                    <a:gd name="T6" fmla="*/ 9 w 17"/>
                    <a:gd name="T7" fmla="*/ 25 h 25"/>
                    <a:gd name="T8" fmla="*/ 0 w 17"/>
                    <a:gd name="T9" fmla="*/ 19 h 25"/>
                  </a:gdLst>
                  <a:ahLst/>
                  <a:cxnLst>
                    <a:cxn ang="0">
                      <a:pos x="T0" y="T1"/>
                    </a:cxn>
                    <a:cxn ang="0">
                      <a:pos x="T2" y="T3"/>
                    </a:cxn>
                    <a:cxn ang="0">
                      <a:pos x="T4" y="T5"/>
                    </a:cxn>
                    <a:cxn ang="0">
                      <a:pos x="T6" y="T7"/>
                    </a:cxn>
                    <a:cxn ang="0">
                      <a:pos x="T8" y="T9"/>
                    </a:cxn>
                  </a:cxnLst>
                  <a:rect l="0" t="0" r="r" b="b"/>
                  <a:pathLst>
                    <a:path w="17" h="25">
                      <a:moveTo>
                        <a:pt x="0" y="19"/>
                      </a:moveTo>
                      <a:lnTo>
                        <a:pt x="9" y="0"/>
                      </a:lnTo>
                      <a:lnTo>
                        <a:pt x="17" y="5"/>
                      </a:lnTo>
                      <a:lnTo>
                        <a:pt x="9" y="25"/>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85" name="Freeform 4873"/>
                <p:cNvSpPr>
                  <a:spLocks noChangeAspect="1"/>
                </p:cNvSpPr>
                <p:nvPr/>
              </p:nvSpPr>
              <p:spPr bwMode="auto">
                <a:xfrm>
                  <a:off x="3502" y="3542"/>
                  <a:ext cx="6" cy="8"/>
                </a:xfrm>
                <a:custGeom>
                  <a:avLst/>
                  <a:gdLst>
                    <a:gd name="T0" fmla="*/ 0 w 18"/>
                    <a:gd name="T1" fmla="*/ 19 h 25"/>
                    <a:gd name="T2" fmla="*/ 8 w 18"/>
                    <a:gd name="T3" fmla="*/ 0 h 25"/>
                    <a:gd name="T4" fmla="*/ 18 w 18"/>
                    <a:gd name="T5" fmla="*/ 7 h 25"/>
                    <a:gd name="T6" fmla="*/ 9 w 18"/>
                    <a:gd name="T7" fmla="*/ 25 h 25"/>
                    <a:gd name="T8" fmla="*/ 0 w 18"/>
                    <a:gd name="T9" fmla="*/ 19 h 25"/>
                  </a:gdLst>
                  <a:ahLst/>
                  <a:cxnLst>
                    <a:cxn ang="0">
                      <a:pos x="T0" y="T1"/>
                    </a:cxn>
                    <a:cxn ang="0">
                      <a:pos x="T2" y="T3"/>
                    </a:cxn>
                    <a:cxn ang="0">
                      <a:pos x="T4" y="T5"/>
                    </a:cxn>
                    <a:cxn ang="0">
                      <a:pos x="T6" y="T7"/>
                    </a:cxn>
                    <a:cxn ang="0">
                      <a:pos x="T8" y="T9"/>
                    </a:cxn>
                  </a:cxnLst>
                  <a:rect l="0" t="0" r="r" b="b"/>
                  <a:pathLst>
                    <a:path w="18" h="25">
                      <a:moveTo>
                        <a:pt x="0" y="19"/>
                      </a:moveTo>
                      <a:lnTo>
                        <a:pt x="8" y="0"/>
                      </a:lnTo>
                      <a:lnTo>
                        <a:pt x="18" y="7"/>
                      </a:lnTo>
                      <a:lnTo>
                        <a:pt x="9" y="25"/>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86" name="Freeform 4874"/>
                <p:cNvSpPr>
                  <a:spLocks noChangeAspect="1"/>
                </p:cNvSpPr>
                <p:nvPr/>
              </p:nvSpPr>
              <p:spPr bwMode="auto">
                <a:xfrm>
                  <a:off x="3503" y="3543"/>
                  <a:ext cx="6" cy="8"/>
                </a:xfrm>
                <a:custGeom>
                  <a:avLst/>
                  <a:gdLst>
                    <a:gd name="T0" fmla="*/ 0 w 18"/>
                    <a:gd name="T1" fmla="*/ 20 h 25"/>
                    <a:gd name="T2" fmla="*/ 8 w 18"/>
                    <a:gd name="T3" fmla="*/ 0 h 25"/>
                    <a:gd name="T4" fmla="*/ 18 w 18"/>
                    <a:gd name="T5" fmla="*/ 6 h 25"/>
                    <a:gd name="T6" fmla="*/ 9 w 18"/>
                    <a:gd name="T7" fmla="*/ 25 h 25"/>
                    <a:gd name="T8" fmla="*/ 0 w 18"/>
                    <a:gd name="T9" fmla="*/ 20 h 25"/>
                  </a:gdLst>
                  <a:ahLst/>
                  <a:cxnLst>
                    <a:cxn ang="0">
                      <a:pos x="T0" y="T1"/>
                    </a:cxn>
                    <a:cxn ang="0">
                      <a:pos x="T2" y="T3"/>
                    </a:cxn>
                    <a:cxn ang="0">
                      <a:pos x="T4" y="T5"/>
                    </a:cxn>
                    <a:cxn ang="0">
                      <a:pos x="T6" y="T7"/>
                    </a:cxn>
                    <a:cxn ang="0">
                      <a:pos x="T8" y="T9"/>
                    </a:cxn>
                  </a:cxnLst>
                  <a:rect l="0" t="0" r="r" b="b"/>
                  <a:pathLst>
                    <a:path w="18" h="25">
                      <a:moveTo>
                        <a:pt x="0" y="20"/>
                      </a:moveTo>
                      <a:lnTo>
                        <a:pt x="8" y="0"/>
                      </a:lnTo>
                      <a:lnTo>
                        <a:pt x="18" y="6"/>
                      </a:lnTo>
                      <a:lnTo>
                        <a:pt x="9" y="25"/>
                      </a:lnTo>
                      <a:lnTo>
                        <a:pt x="0" y="2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87" name="Freeform 4875"/>
                <p:cNvSpPr>
                  <a:spLocks noChangeAspect="1"/>
                </p:cNvSpPr>
                <p:nvPr/>
              </p:nvSpPr>
              <p:spPr bwMode="auto">
                <a:xfrm>
                  <a:off x="3505" y="3544"/>
                  <a:ext cx="5" cy="8"/>
                </a:xfrm>
                <a:custGeom>
                  <a:avLst/>
                  <a:gdLst>
                    <a:gd name="T0" fmla="*/ 0 w 17"/>
                    <a:gd name="T1" fmla="*/ 18 h 23"/>
                    <a:gd name="T2" fmla="*/ 9 w 17"/>
                    <a:gd name="T3" fmla="*/ 0 h 23"/>
                    <a:gd name="T4" fmla="*/ 17 w 17"/>
                    <a:gd name="T5" fmla="*/ 5 h 23"/>
                    <a:gd name="T6" fmla="*/ 9 w 17"/>
                    <a:gd name="T7" fmla="*/ 23 h 23"/>
                    <a:gd name="T8" fmla="*/ 0 w 17"/>
                    <a:gd name="T9" fmla="*/ 18 h 23"/>
                  </a:gdLst>
                  <a:ahLst/>
                  <a:cxnLst>
                    <a:cxn ang="0">
                      <a:pos x="T0" y="T1"/>
                    </a:cxn>
                    <a:cxn ang="0">
                      <a:pos x="T2" y="T3"/>
                    </a:cxn>
                    <a:cxn ang="0">
                      <a:pos x="T4" y="T5"/>
                    </a:cxn>
                    <a:cxn ang="0">
                      <a:pos x="T6" y="T7"/>
                    </a:cxn>
                    <a:cxn ang="0">
                      <a:pos x="T8" y="T9"/>
                    </a:cxn>
                  </a:cxnLst>
                  <a:rect l="0" t="0" r="r" b="b"/>
                  <a:pathLst>
                    <a:path w="17" h="23">
                      <a:moveTo>
                        <a:pt x="0" y="18"/>
                      </a:moveTo>
                      <a:lnTo>
                        <a:pt x="9" y="0"/>
                      </a:lnTo>
                      <a:lnTo>
                        <a:pt x="17" y="5"/>
                      </a:lnTo>
                      <a:lnTo>
                        <a:pt x="9" y="23"/>
                      </a:lnTo>
                      <a:lnTo>
                        <a:pt x="0" y="1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88" name="Freeform 4876"/>
                <p:cNvSpPr>
                  <a:spLocks noChangeAspect="1"/>
                </p:cNvSpPr>
                <p:nvPr/>
              </p:nvSpPr>
              <p:spPr bwMode="auto">
                <a:xfrm>
                  <a:off x="3506" y="3545"/>
                  <a:ext cx="6" cy="8"/>
                </a:xfrm>
                <a:custGeom>
                  <a:avLst/>
                  <a:gdLst>
                    <a:gd name="T0" fmla="*/ 0 w 18"/>
                    <a:gd name="T1" fmla="*/ 19 h 24"/>
                    <a:gd name="T2" fmla="*/ 9 w 18"/>
                    <a:gd name="T3" fmla="*/ 0 h 24"/>
                    <a:gd name="T4" fmla="*/ 18 w 18"/>
                    <a:gd name="T5" fmla="*/ 5 h 24"/>
                    <a:gd name="T6" fmla="*/ 9 w 18"/>
                    <a:gd name="T7" fmla="*/ 24 h 24"/>
                    <a:gd name="T8" fmla="*/ 0 w 18"/>
                    <a:gd name="T9" fmla="*/ 19 h 24"/>
                  </a:gdLst>
                  <a:ahLst/>
                  <a:cxnLst>
                    <a:cxn ang="0">
                      <a:pos x="T0" y="T1"/>
                    </a:cxn>
                    <a:cxn ang="0">
                      <a:pos x="T2" y="T3"/>
                    </a:cxn>
                    <a:cxn ang="0">
                      <a:pos x="T4" y="T5"/>
                    </a:cxn>
                    <a:cxn ang="0">
                      <a:pos x="T6" y="T7"/>
                    </a:cxn>
                    <a:cxn ang="0">
                      <a:pos x="T8" y="T9"/>
                    </a:cxn>
                  </a:cxnLst>
                  <a:rect l="0" t="0" r="r" b="b"/>
                  <a:pathLst>
                    <a:path w="18" h="24">
                      <a:moveTo>
                        <a:pt x="0" y="19"/>
                      </a:moveTo>
                      <a:lnTo>
                        <a:pt x="9" y="0"/>
                      </a:lnTo>
                      <a:lnTo>
                        <a:pt x="18" y="5"/>
                      </a:lnTo>
                      <a:lnTo>
                        <a:pt x="9" y="24"/>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89" name="Freeform 4877"/>
                <p:cNvSpPr>
                  <a:spLocks noChangeAspect="1"/>
                </p:cNvSpPr>
                <p:nvPr/>
              </p:nvSpPr>
              <p:spPr bwMode="auto">
                <a:xfrm>
                  <a:off x="3508" y="3546"/>
                  <a:ext cx="5" cy="8"/>
                </a:xfrm>
                <a:custGeom>
                  <a:avLst/>
                  <a:gdLst>
                    <a:gd name="T0" fmla="*/ 0 w 17"/>
                    <a:gd name="T1" fmla="*/ 18 h 23"/>
                    <a:gd name="T2" fmla="*/ 8 w 17"/>
                    <a:gd name="T3" fmla="*/ 0 h 23"/>
                    <a:gd name="T4" fmla="*/ 17 w 17"/>
                    <a:gd name="T5" fmla="*/ 5 h 23"/>
                    <a:gd name="T6" fmla="*/ 8 w 17"/>
                    <a:gd name="T7" fmla="*/ 23 h 23"/>
                    <a:gd name="T8" fmla="*/ 0 w 17"/>
                    <a:gd name="T9" fmla="*/ 18 h 23"/>
                  </a:gdLst>
                  <a:ahLst/>
                  <a:cxnLst>
                    <a:cxn ang="0">
                      <a:pos x="T0" y="T1"/>
                    </a:cxn>
                    <a:cxn ang="0">
                      <a:pos x="T2" y="T3"/>
                    </a:cxn>
                    <a:cxn ang="0">
                      <a:pos x="T4" y="T5"/>
                    </a:cxn>
                    <a:cxn ang="0">
                      <a:pos x="T6" y="T7"/>
                    </a:cxn>
                    <a:cxn ang="0">
                      <a:pos x="T8" y="T9"/>
                    </a:cxn>
                  </a:cxnLst>
                  <a:rect l="0" t="0" r="r" b="b"/>
                  <a:pathLst>
                    <a:path w="17" h="23">
                      <a:moveTo>
                        <a:pt x="0" y="18"/>
                      </a:moveTo>
                      <a:lnTo>
                        <a:pt x="8" y="0"/>
                      </a:lnTo>
                      <a:lnTo>
                        <a:pt x="17" y="5"/>
                      </a:lnTo>
                      <a:lnTo>
                        <a:pt x="8" y="23"/>
                      </a:lnTo>
                      <a:lnTo>
                        <a:pt x="0" y="1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90" name="Freeform 4878"/>
                <p:cNvSpPr>
                  <a:spLocks noChangeAspect="1"/>
                </p:cNvSpPr>
                <p:nvPr/>
              </p:nvSpPr>
              <p:spPr bwMode="auto">
                <a:xfrm>
                  <a:off x="3509" y="3547"/>
                  <a:ext cx="6" cy="8"/>
                </a:xfrm>
                <a:custGeom>
                  <a:avLst/>
                  <a:gdLst>
                    <a:gd name="T0" fmla="*/ 0 w 17"/>
                    <a:gd name="T1" fmla="*/ 19 h 25"/>
                    <a:gd name="T2" fmla="*/ 9 w 17"/>
                    <a:gd name="T3" fmla="*/ 0 h 25"/>
                    <a:gd name="T4" fmla="*/ 17 w 17"/>
                    <a:gd name="T5" fmla="*/ 5 h 25"/>
                    <a:gd name="T6" fmla="*/ 9 w 17"/>
                    <a:gd name="T7" fmla="*/ 25 h 25"/>
                    <a:gd name="T8" fmla="*/ 0 w 17"/>
                    <a:gd name="T9" fmla="*/ 19 h 25"/>
                  </a:gdLst>
                  <a:ahLst/>
                  <a:cxnLst>
                    <a:cxn ang="0">
                      <a:pos x="T0" y="T1"/>
                    </a:cxn>
                    <a:cxn ang="0">
                      <a:pos x="T2" y="T3"/>
                    </a:cxn>
                    <a:cxn ang="0">
                      <a:pos x="T4" y="T5"/>
                    </a:cxn>
                    <a:cxn ang="0">
                      <a:pos x="T6" y="T7"/>
                    </a:cxn>
                    <a:cxn ang="0">
                      <a:pos x="T8" y="T9"/>
                    </a:cxn>
                  </a:cxnLst>
                  <a:rect l="0" t="0" r="r" b="b"/>
                  <a:pathLst>
                    <a:path w="17" h="25">
                      <a:moveTo>
                        <a:pt x="0" y="19"/>
                      </a:moveTo>
                      <a:lnTo>
                        <a:pt x="9" y="0"/>
                      </a:lnTo>
                      <a:lnTo>
                        <a:pt x="17" y="5"/>
                      </a:lnTo>
                      <a:lnTo>
                        <a:pt x="9" y="25"/>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91" name="Freeform 4879"/>
                <p:cNvSpPr>
                  <a:spLocks noChangeAspect="1"/>
                </p:cNvSpPr>
                <p:nvPr/>
              </p:nvSpPr>
              <p:spPr bwMode="auto">
                <a:xfrm>
                  <a:off x="3510" y="3548"/>
                  <a:ext cx="6" cy="8"/>
                </a:xfrm>
                <a:custGeom>
                  <a:avLst/>
                  <a:gdLst>
                    <a:gd name="T0" fmla="*/ 0 w 17"/>
                    <a:gd name="T1" fmla="*/ 18 h 24"/>
                    <a:gd name="T2" fmla="*/ 9 w 17"/>
                    <a:gd name="T3" fmla="*/ 0 h 24"/>
                    <a:gd name="T4" fmla="*/ 17 w 17"/>
                    <a:gd name="T5" fmla="*/ 6 h 24"/>
                    <a:gd name="T6" fmla="*/ 11 w 17"/>
                    <a:gd name="T7" fmla="*/ 20 h 24"/>
                    <a:gd name="T8" fmla="*/ 8 w 17"/>
                    <a:gd name="T9" fmla="*/ 24 h 24"/>
                    <a:gd name="T10" fmla="*/ 8 w 17"/>
                    <a:gd name="T11" fmla="*/ 24 h 24"/>
                    <a:gd name="T12" fmla="*/ 0 w 17"/>
                    <a:gd name="T13" fmla="*/ 18 h 24"/>
                  </a:gdLst>
                  <a:ahLst/>
                  <a:cxnLst>
                    <a:cxn ang="0">
                      <a:pos x="T0" y="T1"/>
                    </a:cxn>
                    <a:cxn ang="0">
                      <a:pos x="T2" y="T3"/>
                    </a:cxn>
                    <a:cxn ang="0">
                      <a:pos x="T4" y="T5"/>
                    </a:cxn>
                    <a:cxn ang="0">
                      <a:pos x="T6" y="T7"/>
                    </a:cxn>
                    <a:cxn ang="0">
                      <a:pos x="T8" y="T9"/>
                    </a:cxn>
                    <a:cxn ang="0">
                      <a:pos x="T10" y="T11"/>
                    </a:cxn>
                    <a:cxn ang="0">
                      <a:pos x="T12" y="T13"/>
                    </a:cxn>
                  </a:cxnLst>
                  <a:rect l="0" t="0" r="r" b="b"/>
                  <a:pathLst>
                    <a:path w="17" h="24">
                      <a:moveTo>
                        <a:pt x="0" y="18"/>
                      </a:moveTo>
                      <a:lnTo>
                        <a:pt x="9" y="0"/>
                      </a:lnTo>
                      <a:lnTo>
                        <a:pt x="17" y="6"/>
                      </a:lnTo>
                      <a:lnTo>
                        <a:pt x="11" y="20"/>
                      </a:lnTo>
                      <a:lnTo>
                        <a:pt x="8" y="24"/>
                      </a:lnTo>
                      <a:lnTo>
                        <a:pt x="8" y="24"/>
                      </a:lnTo>
                      <a:lnTo>
                        <a:pt x="0" y="1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92" name="Freeform 4880"/>
                <p:cNvSpPr>
                  <a:spLocks noChangeAspect="1"/>
                </p:cNvSpPr>
                <p:nvPr/>
              </p:nvSpPr>
              <p:spPr bwMode="auto">
                <a:xfrm>
                  <a:off x="3512" y="3548"/>
                  <a:ext cx="6" cy="8"/>
                </a:xfrm>
                <a:custGeom>
                  <a:avLst/>
                  <a:gdLst>
                    <a:gd name="T0" fmla="*/ 0 w 18"/>
                    <a:gd name="T1" fmla="*/ 20 h 22"/>
                    <a:gd name="T2" fmla="*/ 8 w 18"/>
                    <a:gd name="T3" fmla="*/ 0 h 22"/>
                    <a:gd name="T4" fmla="*/ 18 w 18"/>
                    <a:gd name="T5" fmla="*/ 6 h 22"/>
                    <a:gd name="T6" fmla="*/ 15 w 18"/>
                    <a:gd name="T7" fmla="*/ 10 h 22"/>
                    <a:gd name="T8" fmla="*/ 3 w 18"/>
                    <a:gd name="T9" fmla="*/ 22 h 22"/>
                    <a:gd name="T10" fmla="*/ 3 w 18"/>
                    <a:gd name="T11" fmla="*/ 22 h 22"/>
                    <a:gd name="T12" fmla="*/ 0 w 18"/>
                    <a:gd name="T13" fmla="*/ 20 h 22"/>
                  </a:gdLst>
                  <a:ahLst/>
                  <a:cxnLst>
                    <a:cxn ang="0">
                      <a:pos x="T0" y="T1"/>
                    </a:cxn>
                    <a:cxn ang="0">
                      <a:pos x="T2" y="T3"/>
                    </a:cxn>
                    <a:cxn ang="0">
                      <a:pos x="T4" y="T5"/>
                    </a:cxn>
                    <a:cxn ang="0">
                      <a:pos x="T6" y="T7"/>
                    </a:cxn>
                    <a:cxn ang="0">
                      <a:pos x="T8" y="T9"/>
                    </a:cxn>
                    <a:cxn ang="0">
                      <a:pos x="T10" y="T11"/>
                    </a:cxn>
                    <a:cxn ang="0">
                      <a:pos x="T12" y="T13"/>
                    </a:cxn>
                  </a:cxnLst>
                  <a:rect l="0" t="0" r="r" b="b"/>
                  <a:pathLst>
                    <a:path w="18" h="22">
                      <a:moveTo>
                        <a:pt x="0" y="20"/>
                      </a:moveTo>
                      <a:lnTo>
                        <a:pt x="8" y="0"/>
                      </a:lnTo>
                      <a:lnTo>
                        <a:pt x="18" y="6"/>
                      </a:lnTo>
                      <a:lnTo>
                        <a:pt x="15" y="10"/>
                      </a:lnTo>
                      <a:lnTo>
                        <a:pt x="3" y="22"/>
                      </a:lnTo>
                      <a:lnTo>
                        <a:pt x="3" y="22"/>
                      </a:lnTo>
                      <a:lnTo>
                        <a:pt x="0" y="2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93" name="Freeform 4881"/>
                <p:cNvSpPr>
                  <a:spLocks noChangeAspect="1"/>
                </p:cNvSpPr>
                <p:nvPr/>
              </p:nvSpPr>
              <p:spPr bwMode="auto">
                <a:xfrm>
                  <a:off x="3514" y="3550"/>
                  <a:ext cx="4" cy="3"/>
                </a:xfrm>
                <a:custGeom>
                  <a:avLst/>
                  <a:gdLst>
                    <a:gd name="T0" fmla="*/ 0 w 13"/>
                    <a:gd name="T1" fmla="*/ 14 h 14"/>
                    <a:gd name="T2" fmla="*/ 6 w 13"/>
                    <a:gd name="T3" fmla="*/ 0 h 14"/>
                    <a:gd name="T4" fmla="*/ 13 w 13"/>
                    <a:gd name="T5" fmla="*/ 3 h 14"/>
                    <a:gd name="T6" fmla="*/ 0 w 13"/>
                    <a:gd name="T7" fmla="*/ 14 h 14"/>
                  </a:gdLst>
                  <a:ahLst/>
                  <a:cxnLst>
                    <a:cxn ang="0">
                      <a:pos x="T0" y="T1"/>
                    </a:cxn>
                    <a:cxn ang="0">
                      <a:pos x="T2" y="T3"/>
                    </a:cxn>
                    <a:cxn ang="0">
                      <a:pos x="T4" y="T5"/>
                    </a:cxn>
                    <a:cxn ang="0">
                      <a:pos x="T6" y="T7"/>
                    </a:cxn>
                  </a:cxnLst>
                  <a:rect l="0" t="0" r="r" b="b"/>
                  <a:pathLst>
                    <a:path w="13" h="14">
                      <a:moveTo>
                        <a:pt x="0" y="14"/>
                      </a:moveTo>
                      <a:lnTo>
                        <a:pt x="6" y="0"/>
                      </a:lnTo>
                      <a:lnTo>
                        <a:pt x="13" y="3"/>
                      </a:lnTo>
                      <a:lnTo>
                        <a:pt x="0" y="1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94" name="Freeform 4882"/>
                <p:cNvSpPr>
                  <a:spLocks noChangeAspect="1"/>
                </p:cNvSpPr>
                <p:nvPr/>
              </p:nvSpPr>
              <p:spPr bwMode="auto">
                <a:xfrm>
                  <a:off x="3447" y="3509"/>
                  <a:ext cx="71" cy="47"/>
                </a:xfrm>
                <a:custGeom>
                  <a:avLst/>
                  <a:gdLst>
                    <a:gd name="T0" fmla="*/ 5 w 213"/>
                    <a:gd name="T1" fmla="*/ 0 h 141"/>
                    <a:gd name="T2" fmla="*/ 213 w 213"/>
                    <a:gd name="T3" fmla="*/ 126 h 141"/>
                    <a:gd name="T4" fmla="*/ 197 w 213"/>
                    <a:gd name="T5" fmla="*/ 141 h 141"/>
                    <a:gd name="T6" fmla="*/ 0 w 213"/>
                    <a:gd name="T7" fmla="*/ 20 h 141"/>
                    <a:gd name="T8" fmla="*/ 5 w 213"/>
                    <a:gd name="T9" fmla="*/ 0 h 141"/>
                  </a:gdLst>
                  <a:ahLst/>
                  <a:cxnLst>
                    <a:cxn ang="0">
                      <a:pos x="T0" y="T1"/>
                    </a:cxn>
                    <a:cxn ang="0">
                      <a:pos x="T2" y="T3"/>
                    </a:cxn>
                    <a:cxn ang="0">
                      <a:pos x="T4" y="T5"/>
                    </a:cxn>
                    <a:cxn ang="0">
                      <a:pos x="T6" y="T7"/>
                    </a:cxn>
                    <a:cxn ang="0">
                      <a:pos x="T8" y="T9"/>
                    </a:cxn>
                  </a:cxnLst>
                  <a:rect l="0" t="0" r="r" b="b"/>
                  <a:pathLst>
                    <a:path w="213" h="141">
                      <a:moveTo>
                        <a:pt x="5" y="0"/>
                      </a:moveTo>
                      <a:lnTo>
                        <a:pt x="213" y="126"/>
                      </a:lnTo>
                      <a:lnTo>
                        <a:pt x="197" y="141"/>
                      </a:lnTo>
                      <a:lnTo>
                        <a:pt x="0" y="20"/>
                      </a:lnTo>
                      <a:lnTo>
                        <a:pt x="5" y="0"/>
                      </a:lnTo>
                    </a:path>
                  </a:pathLst>
                </a:custGeom>
                <a:gradFill rotWithShape="0">
                  <a:gsLst>
                    <a:gs pos="0">
                      <a:schemeClr val="hlink"/>
                    </a:gs>
                    <a:gs pos="100000">
                      <a:schemeClr val="hlink">
                        <a:gamma/>
                        <a:tint val="40000"/>
                        <a:invGamma/>
                      </a:schemeClr>
                    </a:gs>
                  </a:gsLst>
                  <a:lin ang="0" scaled="1"/>
                </a:gradFill>
                <a:ln w="1588">
                  <a:solidFill>
                    <a:srgbClr val="1F1A17"/>
                  </a:solidFill>
                  <a:prstDash val="solid"/>
                  <a:round/>
                  <a:headEnd/>
                  <a:tailEnd/>
                </a:ln>
              </p:spPr>
              <p:txBody>
                <a:bodyPr/>
                <a:lstStyle/>
                <a:p>
                  <a:pPr>
                    <a:defRPr/>
                  </a:pPr>
                  <a:endParaRPr lang="en-US"/>
                </a:p>
              </p:txBody>
            </p:sp>
            <p:sp>
              <p:nvSpPr>
                <p:cNvPr id="69395" name="Freeform 4883"/>
                <p:cNvSpPr>
                  <a:spLocks noChangeAspect="1"/>
                </p:cNvSpPr>
                <p:nvPr/>
              </p:nvSpPr>
              <p:spPr bwMode="auto">
                <a:xfrm>
                  <a:off x="3543" y="3545"/>
                  <a:ext cx="4" cy="2"/>
                </a:xfrm>
                <a:custGeom>
                  <a:avLst/>
                  <a:gdLst>
                    <a:gd name="T0" fmla="*/ 9 w 9"/>
                    <a:gd name="T1" fmla="*/ 0 h 5"/>
                    <a:gd name="T2" fmla="*/ 9 w 9"/>
                    <a:gd name="T3" fmla="*/ 2 h 5"/>
                    <a:gd name="T4" fmla="*/ 0 w 9"/>
                    <a:gd name="T5" fmla="*/ 5 h 5"/>
                    <a:gd name="T6" fmla="*/ 9 w 9"/>
                    <a:gd name="T7" fmla="*/ 0 h 5"/>
                  </a:gdLst>
                  <a:ahLst/>
                  <a:cxnLst>
                    <a:cxn ang="0">
                      <a:pos x="T0" y="T1"/>
                    </a:cxn>
                    <a:cxn ang="0">
                      <a:pos x="T2" y="T3"/>
                    </a:cxn>
                    <a:cxn ang="0">
                      <a:pos x="T4" y="T5"/>
                    </a:cxn>
                    <a:cxn ang="0">
                      <a:pos x="T6" y="T7"/>
                    </a:cxn>
                  </a:cxnLst>
                  <a:rect l="0" t="0" r="r" b="b"/>
                  <a:pathLst>
                    <a:path w="9" h="5">
                      <a:moveTo>
                        <a:pt x="9" y="0"/>
                      </a:moveTo>
                      <a:lnTo>
                        <a:pt x="9" y="2"/>
                      </a:lnTo>
                      <a:lnTo>
                        <a:pt x="0" y="5"/>
                      </a:lnTo>
                      <a:lnTo>
                        <a:pt x="9" y="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96" name="Freeform 4884"/>
                <p:cNvSpPr>
                  <a:spLocks noChangeAspect="1" noEditPoints="1"/>
                </p:cNvSpPr>
                <p:nvPr/>
              </p:nvSpPr>
              <p:spPr bwMode="auto">
                <a:xfrm>
                  <a:off x="3544" y="3359"/>
                  <a:ext cx="3" cy="187"/>
                </a:xfrm>
                <a:custGeom>
                  <a:avLst/>
                  <a:gdLst>
                    <a:gd name="T0" fmla="*/ 0 w 10"/>
                    <a:gd name="T1" fmla="*/ 563 h 563"/>
                    <a:gd name="T2" fmla="*/ 0 w 10"/>
                    <a:gd name="T3" fmla="*/ 562 h 563"/>
                    <a:gd name="T4" fmla="*/ 10 w 10"/>
                    <a:gd name="T5" fmla="*/ 556 h 563"/>
                    <a:gd name="T6" fmla="*/ 10 w 10"/>
                    <a:gd name="T7" fmla="*/ 560 h 563"/>
                    <a:gd name="T8" fmla="*/ 0 w 10"/>
                    <a:gd name="T9" fmla="*/ 563 h 563"/>
                    <a:gd name="T10" fmla="*/ 10 w 10"/>
                    <a:gd name="T11" fmla="*/ 1 h 563"/>
                    <a:gd name="T12" fmla="*/ 10 w 10"/>
                    <a:gd name="T13" fmla="*/ 2 h 563"/>
                    <a:gd name="T14" fmla="*/ 8 w 10"/>
                    <a:gd name="T15" fmla="*/ 0 h 563"/>
                    <a:gd name="T16" fmla="*/ 10 w 10"/>
                    <a:gd name="T17" fmla="*/ 1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563">
                      <a:moveTo>
                        <a:pt x="0" y="563"/>
                      </a:moveTo>
                      <a:lnTo>
                        <a:pt x="0" y="562"/>
                      </a:lnTo>
                      <a:lnTo>
                        <a:pt x="10" y="556"/>
                      </a:lnTo>
                      <a:lnTo>
                        <a:pt x="10" y="560"/>
                      </a:lnTo>
                      <a:lnTo>
                        <a:pt x="0" y="563"/>
                      </a:lnTo>
                      <a:close/>
                      <a:moveTo>
                        <a:pt x="10" y="1"/>
                      </a:moveTo>
                      <a:lnTo>
                        <a:pt x="10" y="2"/>
                      </a:lnTo>
                      <a:lnTo>
                        <a:pt x="8" y="0"/>
                      </a:lnTo>
                      <a:lnTo>
                        <a:pt x="10" y="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97" name="Freeform 4885"/>
                <p:cNvSpPr>
                  <a:spLocks noChangeAspect="1" noEditPoints="1"/>
                </p:cNvSpPr>
                <p:nvPr/>
              </p:nvSpPr>
              <p:spPr bwMode="auto">
                <a:xfrm>
                  <a:off x="3546" y="3359"/>
                  <a:ext cx="3" cy="187"/>
                </a:xfrm>
                <a:custGeom>
                  <a:avLst/>
                  <a:gdLst>
                    <a:gd name="T0" fmla="*/ 0 w 9"/>
                    <a:gd name="T1" fmla="*/ 561 h 561"/>
                    <a:gd name="T2" fmla="*/ 0 w 9"/>
                    <a:gd name="T3" fmla="*/ 559 h 561"/>
                    <a:gd name="T4" fmla="*/ 9 w 9"/>
                    <a:gd name="T5" fmla="*/ 553 h 561"/>
                    <a:gd name="T6" fmla="*/ 9 w 9"/>
                    <a:gd name="T7" fmla="*/ 558 h 561"/>
                    <a:gd name="T8" fmla="*/ 0 w 9"/>
                    <a:gd name="T9" fmla="*/ 561 h 561"/>
                    <a:gd name="T10" fmla="*/ 9 w 9"/>
                    <a:gd name="T11" fmla="*/ 3 h 561"/>
                    <a:gd name="T12" fmla="*/ 9 w 9"/>
                    <a:gd name="T13" fmla="*/ 7 h 561"/>
                    <a:gd name="T14" fmla="*/ 3 w 9"/>
                    <a:gd name="T15" fmla="*/ 0 h 561"/>
                    <a:gd name="T16" fmla="*/ 9 w 9"/>
                    <a:gd name="T17" fmla="*/ 3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61">
                      <a:moveTo>
                        <a:pt x="0" y="561"/>
                      </a:moveTo>
                      <a:lnTo>
                        <a:pt x="0" y="559"/>
                      </a:lnTo>
                      <a:lnTo>
                        <a:pt x="9" y="553"/>
                      </a:lnTo>
                      <a:lnTo>
                        <a:pt x="9" y="558"/>
                      </a:lnTo>
                      <a:lnTo>
                        <a:pt x="0" y="561"/>
                      </a:lnTo>
                      <a:close/>
                      <a:moveTo>
                        <a:pt x="9" y="3"/>
                      </a:moveTo>
                      <a:lnTo>
                        <a:pt x="9" y="7"/>
                      </a:lnTo>
                      <a:lnTo>
                        <a:pt x="3" y="0"/>
                      </a:lnTo>
                      <a:lnTo>
                        <a:pt x="9" y="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98" name="Freeform 4886"/>
                <p:cNvSpPr>
                  <a:spLocks noChangeAspect="1" noEditPoints="1"/>
                </p:cNvSpPr>
                <p:nvPr/>
              </p:nvSpPr>
              <p:spPr bwMode="auto">
                <a:xfrm>
                  <a:off x="3547" y="3359"/>
                  <a:ext cx="3" cy="186"/>
                </a:xfrm>
                <a:custGeom>
                  <a:avLst/>
                  <a:gdLst>
                    <a:gd name="T0" fmla="*/ 0 w 8"/>
                    <a:gd name="T1" fmla="*/ 559 h 559"/>
                    <a:gd name="T2" fmla="*/ 0 w 8"/>
                    <a:gd name="T3" fmla="*/ 555 h 559"/>
                    <a:gd name="T4" fmla="*/ 8 w 8"/>
                    <a:gd name="T5" fmla="*/ 549 h 559"/>
                    <a:gd name="T6" fmla="*/ 8 w 8"/>
                    <a:gd name="T7" fmla="*/ 556 h 559"/>
                    <a:gd name="T8" fmla="*/ 0 w 8"/>
                    <a:gd name="T9" fmla="*/ 559 h 559"/>
                    <a:gd name="T10" fmla="*/ 0 w 8"/>
                    <a:gd name="T11" fmla="*/ 1 h 559"/>
                    <a:gd name="T12" fmla="*/ 0 w 8"/>
                    <a:gd name="T13" fmla="*/ 0 h 559"/>
                    <a:gd name="T14" fmla="*/ 8 w 8"/>
                    <a:gd name="T15" fmla="*/ 5 h 559"/>
                    <a:gd name="T16" fmla="*/ 8 w 8"/>
                    <a:gd name="T17" fmla="*/ 12 h 559"/>
                    <a:gd name="T18" fmla="*/ 0 w 8"/>
                    <a:gd name="T19" fmla="*/ 1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559">
                      <a:moveTo>
                        <a:pt x="0" y="559"/>
                      </a:moveTo>
                      <a:lnTo>
                        <a:pt x="0" y="555"/>
                      </a:lnTo>
                      <a:lnTo>
                        <a:pt x="8" y="549"/>
                      </a:lnTo>
                      <a:lnTo>
                        <a:pt x="8" y="556"/>
                      </a:lnTo>
                      <a:lnTo>
                        <a:pt x="0" y="559"/>
                      </a:lnTo>
                      <a:close/>
                      <a:moveTo>
                        <a:pt x="0" y="1"/>
                      </a:moveTo>
                      <a:lnTo>
                        <a:pt x="0" y="0"/>
                      </a:lnTo>
                      <a:lnTo>
                        <a:pt x="8" y="5"/>
                      </a:lnTo>
                      <a:lnTo>
                        <a:pt x="8" y="12"/>
                      </a:lnTo>
                      <a:lnTo>
                        <a:pt x="0" y="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399" name="Freeform 4887"/>
                <p:cNvSpPr>
                  <a:spLocks noChangeAspect="1" noEditPoints="1"/>
                </p:cNvSpPr>
                <p:nvPr/>
              </p:nvSpPr>
              <p:spPr bwMode="auto">
                <a:xfrm>
                  <a:off x="3549" y="3360"/>
                  <a:ext cx="3" cy="185"/>
                </a:xfrm>
                <a:custGeom>
                  <a:avLst/>
                  <a:gdLst>
                    <a:gd name="T0" fmla="*/ 0 w 9"/>
                    <a:gd name="T1" fmla="*/ 555 h 555"/>
                    <a:gd name="T2" fmla="*/ 0 w 9"/>
                    <a:gd name="T3" fmla="*/ 550 h 555"/>
                    <a:gd name="T4" fmla="*/ 9 w 9"/>
                    <a:gd name="T5" fmla="*/ 544 h 555"/>
                    <a:gd name="T6" fmla="*/ 9 w 9"/>
                    <a:gd name="T7" fmla="*/ 551 h 555"/>
                    <a:gd name="T8" fmla="*/ 0 w 9"/>
                    <a:gd name="T9" fmla="*/ 555 h 555"/>
                    <a:gd name="T10" fmla="*/ 0 w 9"/>
                    <a:gd name="T11" fmla="*/ 4 h 555"/>
                    <a:gd name="T12" fmla="*/ 0 w 9"/>
                    <a:gd name="T13" fmla="*/ 0 h 555"/>
                    <a:gd name="T14" fmla="*/ 9 w 9"/>
                    <a:gd name="T15" fmla="*/ 5 h 555"/>
                    <a:gd name="T16" fmla="*/ 9 w 9"/>
                    <a:gd name="T17" fmla="*/ 16 h 555"/>
                    <a:gd name="T18" fmla="*/ 0 w 9"/>
                    <a:gd name="T19" fmla="*/ 4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555">
                      <a:moveTo>
                        <a:pt x="0" y="555"/>
                      </a:moveTo>
                      <a:lnTo>
                        <a:pt x="0" y="550"/>
                      </a:lnTo>
                      <a:lnTo>
                        <a:pt x="9" y="544"/>
                      </a:lnTo>
                      <a:lnTo>
                        <a:pt x="9" y="551"/>
                      </a:lnTo>
                      <a:lnTo>
                        <a:pt x="0" y="555"/>
                      </a:lnTo>
                      <a:close/>
                      <a:moveTo>
                        <a:pt x="0" y="4"/>
                      </a:moveTo>
                      <a:lnTo>
                        <a:pt x="0" y="0"/>
                      </a:lnTo>
                      <a:lnTo>
                        <a:pt x="9" y="5"/>
                      </a:lnTo>
                      <a:lnTo>
                        <a:pt x="9" y="16"/>
                      </a:lnTo>
                      <a:lnTo>
                        <a:pt x="0" y="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00" name="Freeform 4888"/>
                <p:cNvSpPr>
                  <a:spLocks noChangeAspect="1" noEditPoints="1"/>
                </p:cNvSpPr>
                <p:nvPr/>
              </p:nvSpPr>
              <p:spPr bwMode="auto">
                <a:xfrm>
                  <a:off x="3550" y="3361"/>
                  <a:ext cx="3" cy="184"/>
                </a:xfrm>
                <a:custGeom>
                  <a:avLst/>
                  <a:gdLst>
                    <a:gd name="T0" fmla="*/ 0 w 10"/>
                    <a:gd name="T1" fmla="*/ 551 h 551"/>
                    <a:gd name="T2" fmla="*/ 0 w 10"/>
                    <a:gd name="T3" fmla="*/ 544 h 551"/>
                    <a:gd name="T4" fmla="*/ 10 w 10"/>
                    <a:gd name="T5" fmla="*/ 539 h 551"/>
                    <a:gd name="T6" fmla="*/ 10 w 10"/>
                    <a:gd name="T7" fmla="*/ 547 h 551"/>
                    <a:gd name="T8" fmla="*/ 0 w 10"/>
                    <a:gd name="T9" fmla="*/ 551 h 551"/>
                    <a:gd name="T10" fmla="*/ 0 w 10"/>
                    <a:gd name="T11" fmla="*/ 7 h 551"/>
                    <a:gd name="T12" fmla="*/ 0 w 10"/>
                    <a:gd name="T13" fmla="*/ 0 h 551"/>
                    <a:gd name="T14" fmla="*/ 10 w 10"/>
                    <a:gd name="T15" fmla="*/ 5 h 551"/>
                    <a:gd name="T16" fmla="*/ 10 w 10"/>
                    <a:gd name="T17" fmla="*/ 18 h 551"/>
                    <a:gd name="T18" fmla="*/ 0 w 10"/>
                    <a:gd name="T19" fmla="*/ 7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551">
                      <a:moveTo>
                        <a:pt x="0" y="551"/>
                      </a:moveTo>
                      <a:lnTo>
                        <a:pt x="0" y="544"/>
                      </a:lnTo>
                      <a:lnTo>
                        <a:pt x="10" y="539"/>
                      </a:lnTo>
                      <a:lnTo>
                        <a:pt x="10" y="547"/>
                      </a:lnTo>
                      <a:lnTo>
                        <a:pt x="0" y="551"/>
                      </a:lnTo>
                      <a:close/>
                      <a:moveTo>
                        <a:pt x="0" y="7"/>
                      </a:moveTo>
                      <a:lnTo>
                        <a:pt x="0" y="0"/>
                      </a:lnTo>
                      <a:lnTo>
                        <a:pt x="10" y="5"/>
                      </a:lnTo>
                      <a:lnTo>
                        <a:pt x="10" y="18"/>
                      </a:lnTo>
                      <a:lnTo>
                        <a:pt x="0" y="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01" name="Freeform 4889"/>
                <p:cNvSpPr>
                  <a:spLocks noChangeAspect="1" noEditPoints="1"/>
                </p:cNvSpPr>
                <p:nvPr/>
              </p:nvSpPr>
              <p:spPr bwMode="auto">
                <a:xfrm>
                  <a:off x="3552" y="3361"/>
                  <a:ext cx="3" cy="182"/>
                </a:xfrm>
                <a:custGeom>
                  <a:avLst/>
                  <a:gdLst>
                    <a:gd name="T0" fmla="*/ 0 w 9"/>
                    <a:gd name="T1" fmla="*/ 546 h 546"/>
                    <a:gd name="T2" fmla="*/ 0 w 9"/>
                    <a:gd name="T3" fmla="*/ 539 h 546"/>
                    <a:gd name="T4" fmla="*/ 9 w 9"/>
                    <a:gd name="T5" fmla="*/ 534 h 546"/>
                    <a:gd name="T6" fmla="*/ 9 w 9"/>
                    <a:gd name="T7" fmla="*/ 543 h 546"/>
                    <a:gd name="T8" fmla="*/ 0 w 9"/>
                    <a:gd name="T9" fmla="*/ 546 h 546"/>
                    <a:gd name="T10" fmla="*/ 0 w 9"/>
                    <a:gd name="T11" fmla="*/ 11 h 546"/>
                    <a:gd name="T12" fmla="*/ 0 w 9"/>
                    <a:gd name="T13" fmla="*/ 0 h 546"/>
                    <a:gd name="T14" fmla="*/ 9 w 9"/>
                    <a:gd name="T15" fmla="*/ 5 h 546"/>
                    <a:gd name="T16" fmla="*/ 9 w 9"/>
                    <a:gd name="T17" fmla="*/ 22 h 546"/>
                    <a:gd name="T18" fmla="*/ 0 w 9"/>
                    <a:gd name="T19" fmla="*/ 11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546">
                      <a:moveTo>
                        <a:pt x="0" y="546"/>
                      </a:moveTo>
                      <a:lnTo>
                        <a:pt x="0" y="539"/>
                      </a:lnTo>
                      <a:lnTo>
                        <a:pt x="9" y="534"/>
                      </a:lnTo>
                      <a:lnTo>
                        <a:pt x="9" y="543"/>
                      </a:lnTo>
                      <a:lnTo>
                        <a:pt x="0" y="546"/>
                      </a:lnTo>
                      <a:close/>
                      <a:moveTo>
                        <a:pt x="0" y="11"/>
                      </a:moveTo>
                      <a:lnTo>
                        <a:pt x="0" y="0"/>
                      </a:lnTo>
                      <a:lnTo>
                        <a:pt x="9" y="5"/>
                      </a:lnTo>
                      <a:lnTo>
                        <a:pt x="9" y="22"/>
                      </a:lnTo>
                      <a:lnTo>
                        <a:pt x="0" y="1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02" name="Freeform 4890"/>
                <p:cNvSpPr>
                  <a:spLocks noChangeAspect="1" noEditPoints="1"/>
                </p:cNvSpPr>
                <p:nvPr/>
              </p:nvSpPr>
              <p:spPr bwMode="auto">
                <a:xfrm>
                  <a:off x="3553" y="3362"/>
                  <a:ext cx="3" cy="181"/>
                </a:xfrm>
                <a:custGeom>
                  <a:avLst/>
                  <a:gdLst>
                    <a:gd name="T0" fmla="*/ 0 w 9"/>
                    <a:gd name="T1" fmla="*/ 542 h 542"/>
                    <a:gd name="T2" fmla="*/ 0 w 9"/>
                    <a:gd name="T3" fmla="*/ 534 h 542"/>
                    <a:gd name="T4" fmla="*/ 9 w 9"/>
                    <a:gd name="T5" fmla="*/ 529 h 542"/>
                    <a:gd name="T6" fmla="*/ 9 w 9"/>
                    <a:gd name="T7" fmla="*/ 539 h 542"/>
                    <a:gd name="T8" fmla="*/ 0 w 9"/>
                    <a:gd name="T9" fmla="*/ 542 h 542"/>
                    <a:gd name="T10" fmla="*/ 0 w 9"/>
                    <a:gd name="T11" fmla="*/ 13 h 542"/>
                    <a:gd name="T12" fmla="*/ 0 w 9"/>
                    <a:gd name="T13" fmla="*/ 0 h 542"/>
                    <a:gd name="T14" fmla="*/ 9 w 9"/>
                    <a:gd name="T15" fmla="*/ 6 h 542"/>
                    <a:gd name="T16" fmla="*/ 9 w 9"/>
                    <a:gd name="T17" fmla="*/ 25 h 542"/>
                    <a:gd name="T18" fmla="*/ 0 w 9"/>
                    <a:gd name="T19" fmla="*/ 13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542">
                      <a:moveTo>
                        <a:pt x="0" y="542"/>
                      </a:moveTo>
                      <a:lnTo>
                        <a:pt x="0" y="534"/>
                      </a:lnTo>
                      <a:lnTo>
                        <a:pt x="9" y="529"/>
                      </a:lnTo>
                      <a:lnTo>
                        <a:pt x="9" y="539"/>
                      </a:lnTo>
                      <a:lnTo>
                        <a:pt x="0" y="542"/>
                      </a:lnTo>
                      <a:close/>
                      <a:moveTo>
                        <a:pt x="0" y="13"/>
                      </a:moveTo>
                      <a:lnTo>
                        <a:pt x="0" y="0"/>
                      </a:lnTo>
                      <a:lnTo>
                        <a:pt x="9" y="6"/>
                      </a:lnTo>
                      <a:lnTo>
                        <a:pt x="9" y="25"/>
                      </a:lnTo>
                      <a:lnTo>
                        <a:pt x="0" y="1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03" name="Freeform 4891"/>
                <p:cNvSpPr>
                  <a:spLocks noChangeAspect="1" noEditPoints="1"/>
                </p:cNvSpPr>
                <p:nvPr/>
              </p:nvSpPr>
              <p:spPr bwMode="auto">
                <a:xfrm>
                  <a:off x="3555" y="3363"/>
                  <a:ext cx="3" cy="179"/>
                </a:xfrm>
                <a:custGeom>
                  <a:avLst/>
                  <a:gdLst>
                    <a:gd name="T0" fmla="*/ 0 w 10"/>
                    <a:gd name="T1" fmla="*/ 538 h 538"/>
                    <a:gd name="T2" fmla="*/ 0 w 10"/>
                    <a:gd name="T3" fmla="*/ 529 h 538"/>
                    <a:gd name="T4" fmla="*/ 10 w 10"/>
                    <a:gd name="T5" fmla="*/ 523 h 538"/>
                    <a:gd name="T6" fmla="*/ 10 w 10"/>
                    <a:gd name="T7" fmla="*/ 536 h 538"/>
                    <a:gd name="T8" fmla="*/ 0 w 10"/>
                    <a:gd name="T9" fmla="*/ 538 h 538"/>
                    <a:gd name="T10" fmla="*/ 0 w 10"/>
                    <a:gd name="T11" fmla="*/ 17 h 538"/>
                    <a:gd name="T12" fmla="*/ 0 w 10"/>
                    <a:gd name="T13" fmla="*/ 0 h 538"/>
                    <a:gd name="T14" fmla="*/ 10 w 10"/>
                    <a:gd name="T15" fmla="*/ 6 h 538"/>
                    <a:gd name="T16" fmla="*/ 10 w 10"/>
                    <a:gd name="T17" fmla="*/ 28 h 538"/>
                    <a:gd name="T18" fmla="*/ 0 w 10"/>
                    <a:gd name="T19" fmla="*/ 1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538">
                      <a:moveTo>
                        <a:pt x="0" y="538"/>
                      </a:moveTo>
                      <a:lnTo>
                        <a:pt x="0" y="529"/>
                      </a:lnTo>
                      <a:lnTo>
                        <a:pt x="10" y="523"/>
                      </a:lnTo>
                      <a:lnTo>
                        <a:pt x="10" y="536"/>
                      </a:lnTo>
                      <a:lnTo>
                        <a:pt x="0" y="538"/>
                      </a:lnTo>
                      <a:close/>
                      <a:moveTo>
                        <a:pt x="0" y="17"/>
                      </a:moveTo>
                      <a:lnTo>
                        <a:pt x="0" y="0"/>
                      </a:lnTo>
                      <a:lnTo>
                        <a:pt x="10" y="6"/>
                      </a:lnTo>
                      <a:lnTo>
                        <a:pt x="10" y="28"/>
                      </a:lnTo>
                      <a:lnTo>
                        <a:pt x="0" y="1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04" name="Freeform 4892"/>
                <p:cNvSpPr>
                  <a:spLocks noChangeAspect="1" noEditPoints="1"/>
                </p:cNvSpPr>
                <p:nvPr/>
              </p:nvSpPr>
              <p:spPr bwMode="auto">
                <a:xfrm>
                  <a:off x="3556" y="3364"/>
                  <a:ext cx="3" cy="178"/>
                </a:xfrm>
                <a:custGeom>
                  <a:avLst/>
                  <a:gdLst>
                    <a:gd name="T0" fmla="*/ 0 w 9"/>
                    <a:gd name="T1" fmla="*/ 533 h 533"/>
                    <a:gd name="T2" fmla="*/ 0 w 9"/>
                    <a:gd name="T3" fmla="*/ 523 h 533"/>
                    <a:gd name="T4" fmla="*/ 9 w 9"/>
                    <a:gd name="T5" fmla="*/ 516 h 533"/>
                    <a:gd name="T6" fmla="*/ 9 w 9"/>
                    <a:gd name="T7" fmla="*/ 530 h 533"/>
                    <a:gd name="T8" fmla="*/ 0 w 9"/>
                    <a:gd name="T9" fmla="*/ 533 h 533"/>
                    <a:gd name="T10" fmla="*/ 0 w 9"/>
                    <a:gd name="T11" fmla="*/ 19 h 533"/>
                    <a:gd name="T12" fmla="*/ 0 w 9"/>
                    <a:gd name="T13" fmla="*/ 0 h 533"/>
                    <a:gd name="T14" fmla="*/ 9 w 9"/>
                    <a:gd name="T15" fmla="*/ 5 h 533"/>
                    <a:gd name="T16" fmla="*/ 9 w 9"/>
                    <a:gd name="T17" fmla="*/ 30 h 533"/>
                    <a:gd name="T18" fmla="*/ 0 w 9"/>
                    <a:gd name="T19" fmla="*/ 19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533">
                      <a:moveTo>
                        <a:pt x="0" y="533"/>
                      </a:moveTo>
                      <a:lnTo>
                        <a:pt x="0" y="523"/>
                      </a:lnTo>
                      <a:lnTo>
                        <a:pt x="9" y="516"/>
                      </a:lnTo>
                      <a:lnTo>
                        <a:pt x="9" y="530"/>
                      </a:lnTo>
                      <a:lnTo>
                        <a:pt x="0" y="533"/>
                      </a:lnTo>
                      <a:close/>
                      <a:moveTo>
                        <a:pt x="0" y="19"/>
                      </a:moveTo>
                      <a:lnTo>
                        <a:pt x="0" y="0"/>
                      </a:lnTo>
                      <a:lnTo>
                        <a:pt x="9" y="5"/>
                      </a:lnTo>
                      <a:lnTo>
                        <a:pt x="9" y="30"/>
                      </a:lnTo>
                      <a:lnTo>
                        <a:pt x="0" y="1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05" name="Freeform 4893"/>
                <p:cNvSpPr>
                  <a:spLocks noChangeAspect="1" noEditPoints="1"/>
                </p:cNvSpPr>
                <p:nvPr/>
              </p:nvSpPr>
              <p:spPr bwMode="auto">
                <a:xfrm>
                  <a:off x="3558" y="3365"/>
                  <a:ext cx="3" cy="177"/>
                </a:xfrm>
                <a:custGeom>
                  <a:avLst/>
                  <a:gdLst>
                    <a:gd name="T0" fmla="*/ 0 w 8"/>
                    <a:gd name="T1" fmla="*/ 530 h 530"/>
                    <a:gd name="T2" fmla="*/ 0 w 8"/>
                    <a:gd name="T3" fmla="*/ 517 h 530"/>
                    <a:gd name="T4" fmla="*/ 8 w 8"/>
                    <a:gd name="T5" fmla="*/ 512 h 530"/>
                    <a:gd name="T6" fmla="*/ 8 w 8"/>
                    <a:gd name="T7" fmla="*/ 527 h 530"/>
                    <a:gd name="T8" fmla="*/ 0 w 8"/>
                    <a:gd name="T9" fmla="*/ 530 h 530"/>
                    <a:gd name="T10" fmla="*/ 0 w 8"/>
                    <a:gd name="T11" fmla="*/ 22 h 530"/>
                    <a:gd name="T12" fmla="*/ 0 w 8"/>
                    <a:gd name="T13" fmla="*/ 0 h 530"/>
                    <a:gd name="T14" fmla="*/ 8 w 8"/>
                    <a:gd name="T15" fmla="*/ 5 h 530"/>
                    <a:gd name="T16" fmla="*/ 8 w 8"/>
                    <a:gd name="T17" fmla="*/ 34 h 530"/>
                    <a:gd name="T18" fmla="*/ 0 w 8"/>
                    <a:gd name="T19" fmla="*/ 22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530">
                      <a:moveTo>
                        <a:pt x="0" y="530"/>
                      </a:moveTo>
                      <a:lnTo>
                        <a:pt x="0" y="517"/>
                      </a:lnTo>
                      <a:lnTo>
                        <a:pt x="8" y="512"/>
                      </a:lnTo>
                      <a:lnTo>
                        <a:pt x="8" y="527"/>
                      </a:lnTo>
                      <a:lnTo>
                        <a:pt x="0" y="530"/>
                      </a:lnTo>
                      <a:close/>
                      <a:moveTo>
                        <a:pt x="0" y="22"/>
                      </a:moveTo>
                      <a:lnTo>
                        <a:pt x="0" y="0"/>
                      </a:lnTo>
                      <a:lnTo>
                        <a:pt x="8" y="5"/>
                      </a:lnTo>
                      <a:lnTo>
                        <a:pt x="8" y="34"/>
                      </a:lnTo>
                      <a:lnTo>
                        <a:pt x="0" y="2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06" name="Freeform 4894"/>
                <p:cNvSpPr>
                  <a:spLocks noChangeAspect="1" noEditPoints="1"/>
                </p:cNvSpPr>
                <p:nvPr/>
              </p:nvSpPr>
              <p:spPr bwMode="auto">
                <a:xfrm>
                  <a:off x="3559" y="3366"/>
                  <a:ext cx="4" cy="175"/>
                </a:xfrm>
                <a:custGeom>
                  <a:avLst/>
                  <a:gdLst>
                    <a:gd name="T0" fmla="*/ 0 w 9"/>
                    <a:gd name="T1" fmla="*/ 525 h 525"/>
                    <a:gd name="T2" fmla="*/ 0 w 9"/>
                    <a:gd name="T3" fmla="*/ 511 h 525"/>
                    <a:gd name="T4" fmla="*/ 9 w 9"/>
                    <a:gd name="T5" fmla="*/ 506 h 525"/>
                    <a:gd name="T6" fmla="*/ 9 w 9"/>
                    <a:gd name="T7" fmla="*/ 522 h 525"/>
                    <a:gd name="T8" fmla="*/ 0 w 9"/>
                    <a:gd name="T9" fmla="*/ 525 h 525"/>
                    <a:gd name="T10" fmla="*/ 0 w 9"/>
                    <a:gd name="T11" fmla="*/ 25 h 525"/>
                    <a:gd name="T12" fmla="*/ 0 w 9"/>
                    <a:gd name="T13" fmla="*/ 0 h 525"/>
                    <a:gd name="T14" fmla="*/ 9 w 9"/>
                    <a:gd name="T15" fmla="*/ 4 h 525"/>
                    <a:gd name="T16" fmla="*/ 9 w 9"/>
                    <a:gd name="T17" fmla="*/ 36 h 525"/>
                    <a:gd name="T18" fmla="*/ 0 w 9"/>
                    <a:gd name="T19" fmla="*/ 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525">
                      <a:moveTo>
                        <a:pt x="0" y="525"/>
                      </a:moveTo>
                      <a:lnTo>
                        <a:pt x="0" y="511"/>
                      </a:lnTo>
                      <a:lnTo>
                        <a:pt x="9" y="506"/>
                      </a:lnTo>
                      <a:lnTo>
                        <a:pt x="9" y="522"/>
                      </a:lnTo>
                      <a:lnTo>
                        <a:pt x="0" y="525"/>
                      </a:lnTo>
                      <a:close/>
                      <a:moveTo>
                        <a:pt x="0" y="25"/>
                      </a:moveTo>
                      <a:lnTo>
                        <a:pt x="0" y="0"/>
                      </a:lnTo>
                      <a:lnTo>
                        <a:pt x="9" y="4"/>
                      </a:lnTo>
                      <a:lnTo>
                        <a:pt x="9" y="36"/>
                      </a:lnTo>
                      <a:lnTo>
                        <a:pt x="0" y="2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07" name="Freeform 4895"/>
                <p:cNvSpPr>
                  <a:spLocks noChangeAspect="1" noEditPoints="1"/>
                </p:cNvSpPr>
                <p:nvPr/>
              </p:nvSpPr>
              <p:spPr bwMode="auto">
                <a:xfrm>
                  <a:off x="3561" y="3367"/>
                  <a:ext cx="3" cy="174"/>
                </a:xfrm>
                <a:custGeom>
                  <a:avLst/>
                  <a:gdLst>
                    <a:gd name="T0" fmla="*/ 0 w 10"/>
                    <a:gd name="T1" fmla="*/ 522 h 522"/>
                    <a:gd name="T2" fmla="*/ 0 w 10"/>
                    <a:gd name="T3" fmla="*/ 507 h 522"/>
                    <a:gd name="T4" fmla="*/ 10 w 10"/>
                    <a:gd name="T5" fmla="*/ 501 h 522"/>
                    <a:gd name="T6" fmla="*/ 10 w 10"/>
                    <a:gd name="T7" fmla="*/ 519 h 522"/>
                    <a:gd name="T8" fmla="*/ 0 w 10"/>
                    <a:gd name="T9" fmla="*/ 522 h 522"/>
                    <a:gd name="T10" fmla="*/ 0 w 10"/>
                    <a:gd name="T11" fmla="*/ 29 h 522"/>
                    <a:gd name="T12" fmla="*/ 0 w 10"/>
                    <a:gd name="T13" fmla="*/ 0 h 522"/>
                    <a:gd name="T14" fmla="*/ 10 w 10"/>
                    <a:gd name="T15" fmla="*/ 5 h 522"/>
                    <a:gd name="T16" fmla="*/ 10 w 10"/>
                    <a:gd name="T17" fmla="*/ 40 h 522"/>
                    <a:gd name="T18" fmla="*/ 0 w 10"/>
                    <a:gd name="T19" fmla="*/ 29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522">
                      <a:moveTo>
                        <a:pt x="0" y="522"/>
                      </a:moveTo>
                      <a:lnTo>
                        <a:pt x="0" y="507"/>
                      </a:lnTo>
                      <a:lnTo>
                        <a:pt x="10" y="501"/>
                      </a:lnTo>
                      <a:lnTo>
                        <a:pt x="10" y="519"/>
                      </a:lnTo>
                      <a:lnTo>
                        <a:pt x="0" y="522"/>
                      </a:lnTo>
                      <a:close/>
                      <a:moveTo>
                        <a:pt x="0" y="29"/>
                      </a:moveTo>
                      <a:lnTo>
                        <a:pt x="0" y="0"/>
                      </a:lnTo>
                      <a:lnTo>
                        <a:pt x="10" y="5"/>
                      </a:lnTo>
                      <a:lnTo>
                        <a:pt x="10" y="40"/>
                      </a:lnTo>
                      <a:lnTo>
                        <a:pt x="0" y="2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08" name="Freeform 4896"/>
                <p:cNvSpPr>
                  <a:spLocks noChangeAspect="1" noEditPoints="1"/>
                </p:cNvSpPr>
                <p:nvPr/>
              </p:nvSpPr>
              <p:spPr bwMode="auto">
                <a:xfrm>
                  <a:off x="3562" y="3367"/>
                  <a:ext cx="3" cy="173"/>
                </a:xfrm>
                <a:custGeom>
                  <a:avLst/>
                  <a:gdLst>
                    <a:gd name="T0" fmla="*/ 0 w 9"/>
                    <a:gd name="T1" fmla="*/ 518 h 518"/>
                    <a:gd name="T2" fmla="*/ 0 w 9"/>
                    <a:gd name="T3" fmla="*/ 502 h 518"/>
                    <a:gd name="T4" fmla="*/ 9 w 9"/>
                    <a:gd name="T5" fmla="*/ 497 h 518"/>
                    <a:gd name="T6" fmla="*/ 9 w 9"/>
                    <a:gd name="T7" fmla="*/ 515 h 518"/>
                    <a:gd name="T8" fmla="*/ 0 w 9"/>
                    <a:gd name="T9" fmla="*/ 518 h 518"/>
                    <a:gd name="T10" fmla="*/ 0 w 9"/>
                    <a:gd name="T11" fmla="*/ 32 h 518"/>
                    <a:gd name="T12" fmla="*/ 0 w 9"/>
                    <a:gd name="T13" fmla="*/ 0 h 518"/>
                    <a:gd name="T14" fmla="*/ 9 w 9"/>
                    <a:gd name="T15" fmla="*/ 5 h 518"/>
                    <a:gd name="T16" fmla="*/ 9 w 9"/>
                    <a:gd name="T17" fmla="*/ 44 h 518"/>
                    <a:gd name="T18" fmla="*/ 0 w 9"/>
                    <a:gd name="T19" fmla="*/ 32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518">
                      <a:moveTo>
                        <a:pt x="0" y="518"/>
                      </a:moveTo>
                      <a:lnTo>
                        <a:pt x="0" y="502"/>
                      </a:lnTo>
                      <a:lnTo>
                        <a:pt x="9" y="497"/>
                      </a:lnTo>
                      <a:lnTo>
                        <a:pt x="9" y="515"/>
                      </a:lnTo>
                      <a:lnTo>
                        <a:pt x="0" y="518"/>
                      </a:lnTo>
                      <a:close/>
                      <a:moveTo>
                        <a:pt x="0" y="32"/>
                      </a:moveTo>
                      <a:lnTo>
                        <a:pt x="0" y="0"/>
                      </a:lnTo>
                      <a:lnTo>
                        <a:pt x="9" y="5"/>
                      </a:lnTo>
                      <a:lnTo>
                        <a:pt x="9" y="44"/>
                      </a:lnTo>
                      <a:lnTo>
                        <a:pt x="0" y="3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09" name="Freeform 4897"/>
                <p:cNvSpPr>
                  <a:spLocks noChangeAspect="1" noEditPoints="1"/>
                </p:cNvSpPr>
                <p:nvPr/>
              </p:nvSpPr>
              <p:spPr bwMode="auto">
                <a:xfrm>
                  <a:off x="3564" y="3368"/>
                  <a:ext cx="3" cy="172"/>
                </a:xfrm>
                <a:custGeom>
                  <a:avLst/>
                  <a:gdLst>
                    <a:gd name="T0" fmla="*/ 0 w 8"/>
                    <a:gd name="T1" fmla="*/ 514 h 514"/>
                    <a:gd name="T2" fmla="*/ 0 w 8"/>
                    <a:gd name="T3" fmla="*/ 496 h 514"/>
                    <a:gd name="T4" fmla="*/ 8 w 8"/>
                    <a:gd name="T5" fmla="*/ 490 h 514"/>
                    <a:gd name="T6" fmla="*/ 8 w 8"/>
                    <a:gd name="T7" fmla="*/ 511 h 514"/>
                    <a:gd name="T8" fmla="*/ 0 w 8"/>
                    <a:gd name="T9" fmla="*/ 514 h 514"/>
                    <a:gd name="T10" fmla="*/ 0 w 8"/>
                    <a:gd name="T11" fmla="*/ 35 h 514"/>
                    <a:gd name="T12" fmla="*/ 0 w 8"/>
                    <a:gd name="T13" fmla="*/ 0 h 514"/>
                    <a:gd name="T14" fmla="*/ 8 w 8"/>
                    <a:gd name="T15" fmla="*/ 6 h 514"/>
                    <a:gd name="T16" fmla="*/ 8 w 8"/>
                    <a:gd name="T17" fmla="*/ 47 h 514"/>
                    <a:gd name="T18" fmla="*/ 0 w 8"/>
                    <a:gd name="T19" fmla="*/ 35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514">
                      <a:moveTo>
                        <a:pt x="0" y="514"/>
                      </a:moveTo>
                      <a:lnTo>
                        <a:pt x="0" y="496"/>
                      </a:lnTo>
                      <a:lnTo>
                        <a:pt x="8" y="490"/>
                      </a:lnTo>
                      <a:lnTo>
                        <a:pt x="8" y="511"/>
                      </a:lnTo>
                      <a:lnTo>
                        <a:pt x="0" y="514"/>
                      </a:lnTo>
                      <a:close/>
                      <a:moveTo>
                        <a:pt x="0" y="35"/>
                      </a:moveTo>
                      <a:lnTo>
                        <a:pt x="0" y="0"/>
                      </a:lnTo>
                      <a:lnTo>
                        <a:pt x="8" y="6"/>
                      </a:lnTo>
                      <a:lnTo>
                        <a:pt x="8" y="47"/>
                      </a:lnTo>
                      <a:lnTo>
                        <a:pt x="0" y="3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10" name="Freeform 4898"/>
                <p:cNvSpPr>
                  <a:spLocks noChangeAspect="1" noEditPoints="1"/>
                </p:cNvSpPr>
                <p:nvPr/>
              </p:nvSpPr>
              <p:spPr bwMode="auto">
                <a:xfrm>
                  <a:off x="3565" y="3369"/>
                  <a:ext cx="3" cy="170"/>
                </a:xfrm>
                <a:custGeom>
                  <a:avLst/>
                  <a:gdLst>
                    <a:gd name="T0" fmla="*/ 0 w 9"/>
                    <a:gd name="T1" fmla="*/ 510 h 510"/>
                    <a:gd name="T2" fmla="*/ 0 w 9"/>
                    <a:gd name="T3" fmla="*/ 492 h 510"/>
                    <a:gd name="T4" fmla="*/ 9 w 9"/>
                    <a:gd name="T5" fmla="*/ 486 h 510"/>
                    <a:gd name="T6" fmla="*/ 9 w 9"/>
                    <a:gd name="T7" fmla="*/ 506 h 510"/>
                    <a:gd name="T8" fmla="*/ 0 w 9"/>
                    <a:gd name="T9" fmla="*/ 510 h 510"/>
                    <a:gd name="T10" fmla="*/ 0 w 9"/>
                    <a:gd name="T11" fmla="*/ 39 h 510"/>
                    <a:gd name="T12" fmla="*/ 0 w 9"/>
                    <a:gd name="T13" fmla="*/ 0 h 510"/>
                    <a:gd name="T14" fmla="*/ 9 w 9"/>
                    <a:gd name="T15" fmla="*/ 6 h 510"/>
                    <a:gd name="T16" fmla="*/ 9 w 9"/>
                    <a:gd name="T17" fmla="*/ 50 h 510"/>
                    <a:gd name="T18" fmla="*/ 0 w 9"/>
                    <a:gd name="T19" fmla="*/ 39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510">
                      <a:moveTo>
                        <a:pt x="0" y="510"/>
                      </a:moveTo>
                      <a:lnTo>
                        <a:pt x="0" y="492"/>
                      </a:lnTo>
                      <a:lnTo>
                        <a:pt x="9" y="486"/>
                      </a:lnTo>
                      <a:lnTo>
                        <a:pt x="9" y="506"/>
                      </a:lnTo>
                      <a:lnTo>
                        <a:pt x="0" y="510"/>
                      </a:lnTo>
                      <a:close/>
                      <a:moveTo>
                        <a:pt x="0" y="39"/>
                      </a:moveTo>
                      <a:lnTo>
                        <a:pt x="0" y="0"/>
                      </a:lnTo>
                      <a:lnTo>
                        <a:pt x="9" y="6"/>
                      </a:lnTo>
                      <a:lnTo>
                        <a:pt x="9" y="50"/>
                      </a:lnTo>
                      <a:lnTo>
                        <a:pt x="0" y="3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11" name="Freeform 4899"/>
                <p:cNvSpPr>
                  <a:spLocks noChangeAspect="1" noEditPoints="1"/>
                </p:cNvSpPr>
                <p:nvPr/>
              </p:nvSpPr>
              <p:spPr bwMode="auto">
                <a:xfrm>
                  <a:off x="3567" y="3370"/>
                  <a:ext cx="3" cy="169"/>
                </a:xfrm>
                <a:custGeom>
                  <a:avLst/>
                  <a:gdLst>
                    <a:gd name="T0" fmla="*/ 0 w 10"/>
                    <a:gd name="T1" fmla="*/ 505 h 505"/>
                    <a:gd name="T2" fmla="*/ 0 w 10"/>
                    <a:gd name="T3" fmla="*/ 484 h 505"/>
                    <a:gd name="T4" fmla="*/ 10 w 10"/>
                    <a:gd name="T5" fmla="*/ 479 h 505"/>
                    <a:gd name="T6" fmla="*/ 10 w 10"/>
                    <a:gd name="T7" fmla="*/ 501 h 505"/>
                    <a:gd name="T8" fmla="*/ 0 w 10"/>
                    <a:gd name="T9" fmla="*/ 505 h 505"/>
                    <a:gd name="T10" fmla="*/ 0 w 10"/>
                    <a:gd name="T11" fmla="*/ 41 h 505"/>
                    <a:gd name="T12" fmla="*/ 0 w 10"/>
                    <a:gd name="T13" fmla="*/ 0 h 505"/>
                    <a:gd name="T14" fmla="*/ 10 w 10"/>
                    <a:gd name="T15" fmla="*/ 5 h 505"/>
                    <a:gd name="T16" fmla="*/ 10 w 10"/>
                    <a:gd name="T17" fmla="*/ 52 h 505"/>
                    <a:gd name="T18" fmla="*/ 0 w 10"/>
                    <a:gd name="T19" fmla="*/ 41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505">
                      <a:moveTo>
                        <a:pt x="0" y="505"/>
                      </a:moveTo>
                      <a:lnTo>
                        <a:pt x="0" y="484"/>
                      </a:lnTo>
                      <a:lnTo>
                        <a:pt x="10" y="479"/>
                      </a:lnTo>
                      <a:lnTo>
                        <a:pt x="10" y="501"/>
                      </a:lnTo>
                      <a:lnTo>
                        <a:pt x="0" y="505"/>
                      </a:lnTo>
                      <a:close/>
                      <a:moveTo>
                        <a:pt x="0" y="41"/>
                      </a:moveTo>
                      <a:lnTo>
                        <a:pt x="0" y="0"/>
                      </a:lnTo>
                      <a:lnTo>
                        <a:pt x="10" y="5"/>
                      </a:lnTo>
                      <a:lnTo>
                        <a:pt x="10" y="52"/>
                      </a:lnTo>
                      <a:lnTo>
                        <a:pt x="0" y="4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12" name="Freeform 4900"/>
                <p:cNvSpPr>
                  <a:spLocks noChangeAspect="1" noEditPoints="1"/>
                </p:cNvSpPr>
                <p:nvPr/>
              </p:nvSpPr>
              <p:spPr bwMode="auto">
                <a:xfrm>
                  <a:off x="3568" y="3371"/>
                  <a:ext cx="3" cy="167"/>
                </a:xfrm>
                <a:custGeom>
                  <a:avLst/>
                  <a:gdLst>
                    <a:gd name="T0" fmla="*/ 0 w 9"/>
                    <a:gd name="T1" fmla="*/ 500 h 500"/>
                    <a:gd name="T2" fmla="*/ 0 w 9"/>
                    <a:gd name="T3" fmla="*/ 480 h 500"/>
                    <a:gd name="T4" fmla="*/ 9 w 9"/>
                    <a:gd name="T5" fmla="*/ 474 h 500"/>
                    <a:gd name="T6" fmla="*/ 9 w 9"/>
                    <a:gd name="T7" fmla="*/ 497 h 500"/>
                    <a:gd name="T8" fmla="*/ 0 w 9"/>
                    <a:gd name="T9" fmla="*/ 500 h 500"/>
                    <a:gd name="T10" fmla="*/ 0 w 9"/>
                    <a:gd name="T11" fmla="*/ 44 h 500"/>
                    <a:gd name="T12" fmla="*/ 0 w 9"/>
                    <a:gd name="T13" fmla="*/ 0 h 500"/>
                    <a:gd name="T14" fmla="*/ 9 w 9"/>
                    <a:gd name="T15" fmla="*/ 5 h 500"/>
                    <a:gd name="T16" fmla="*/ 9 w 9"/>
                    <a:gd name="T17" fmla="*/ 56 h 500"/>
                    <a:gd name="T18" fmla="*/ 0 w 9"/>
                    <a:gd name="T19" fmla="*/ 44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500">
                      <a:moveTo>
                        <a:pt x="0" y="500"/>
                      </a:moveTo>
                      <a:lnTo>
                        <a:pt x="0" y="480"/>
                      </a:lnTo>
                      <a:lnTo>
                        <a:pt x="9" y="474"/>
                      </a:lnTo>
                      <a:lnTo>
                        <a:pt x="9" y="497"/>
                      </a:lnTo>
                      <a:lnTo>
                        <a:pt x="0" y="500"/>
                      </a:lnTo>
                      <a:close/>
                      <a:moveTo>
                        <a:pt x="0" y="44"/>
                      </a:moveTo>
                      <a:lnTo>
                        <a:pt x="0" y="0"/>
                      </a:lnTo>
                      <a:lnTo>
                        <a:pt x="9" y="5"/>
                      </a:lnTo>
                      <a:lnTo>
                        <a:pt x="9" y="56"/>
                      </a:lnTo>
                      <a:lnTo>
                        <a:pt x="0" y="4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13" name="Freeform 4901"/>
                <p:cNvSpPr>
                  <a:spLocks noChangeAspect="1" noEditPoints="1"/>
                </p:cNvSpPr>
                <p:nvPr/>
              </p:nvSpPr>
              <p:spPr bwMode="auto">
                <a:xfrm>
                  <a:off x="3570" y="3372"/>
                  <a:ext cx="3" cy="165"/>
                </a:xfrm>
                <a:custGeom>
                  <a:avLst/>
                  <a:gdLst>
                    <a:gd name="T0" fmla="*/ 0 w 9"/>
                    <a:gd name="T1" fmla="*/ 496 h 496"/>
                    <a:gd name="T2" fmla="*/ 0 w 9"/>
                    <a:gd name="T3" fmla="*/ 474 h 496"/>
                    <a:gd name="T4" fmla="*/ 9 w 9"/>
                    <a:gd name="T5" fmla="*/ 469 h 496"/>
                    <a:gd name="T6" fmla="*/ 9 w 9"/>
                    <a:gd name="T7" fmla="*/ 493 h 496"/>
                    <a:gd name="T8" fmla="*/ 0 w 9"/>
                    <a:gd name="T9" fmla="*/ 496 h 496"/>
                    <a:gd name="T10" fmla="*/ 0 w 9"/>
                    <a:gd name="T11" fmla="*/ 47 h 496"/>
                    <a:gd name="T12" fmla="*/ 0 w 9"/>
                    <a:gd name="T13" fmla="*/ 0 h 496"/>
                    <a:gd name="T14" fmla="*/ 9 w 9"/>
                    <a:gd name="T15" fmla="*/ 4 h 496"/>
                    <a:gd name="T16" fmla="*/ 9 w 9"/>
                    <a:gd name="T17" fmla="*/ 58 h 496"/>
                    <a:gd name="T18" fmla="*/ 0 w 9"/>
                    <a:gd name="T19" fmla="*/ 47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496">
                      <a:moveTo>
                        <a:pt x="0" y="496"/>
                      </a:moveTo>
                      <a:lnTo>
                        <a:pt x="0" y="474"/>
                      </a:lnTo>
                      <a:lnTo>
                        <a:pt x="9" y="469"/>
                      </a:lnTo>
                      <a:lnTo>
                        <a:pt x="9" y="493"/>
                      </a:lnTo>
                      <a:lnTo>
                        <a:pt x="0" y="496"/>
                      </a:lnTo>
                      <a:close/>
                      <a:moveTo>
                        <a:pt x="0" y="47"/>
                      </a:moveTo>
                      <a:lnTo>
                        <a:pt x="0" y="0"/>
                      </a:lnTo>
                      <a:lnTo>
                        <a:pt x="9" y="4"/>
                      </a:lnTo>
                      <a:lnTo>
                        <a:pt x="9" y="58"/>
                      </a:lnTo>
                      <a:lnTo>
                        <a:pt x="0" y="4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14" name="Freeform 4902"/>
                <p:cNvSpPr>
                  <a:spLocks noChangeAspect="1" noEditPoints="1"/>
                </p:cNvSpPr>
                <p:nvPr/>
              </p:nvSpPr>
              <p:spPr bwMode="auto">
                <a:xfrm>
                  <a:off x="3571" y="3373"/>
                  <a:ext cx="4" cy="164"/>
                </a:xfrm>
                <a:custGeom>
                  <a:avLst/>
                  <a:gdLst>
                    <a:gd name="T0" fmla="*/ 0 w 10"/>
                    <a:gd name="T1" fmla="*/ 492 h 492"/>
                    <a:gd name="T2" fmla="*/ 0 w 10"/>
                    <a:gd name="T3" fmla="*/ 469 h 492"/>
                    <a:gd name="T4" fmla="*/ 10 w 10"/>
                    <a:gd name="T5" fmla="*/ 464 h 492"/>
                    <a:gd name="T6" fmla="*/ 10 w 10"/>
                    <a:gd name="T7" fmla="*/ 489 h 492"/>
                    <a:gd name="T8" fmla="*/ 0 w 10"/>
                    <a:gd name="T9" fmla="*/ 492 h 492"/>
                    <a:gd name="T10" fmla="*/ 0 w 10"/>
                    <a:gd name="T11" fmla="*/ 51 h 492"/>
                    <a:gd name="T12" fmla="*/ 0 w 10"/>
                    <a:gd name="T13" fmla="*/ 0 h 492"/>
                    <a:gd name="T14" fmla="*/ 10 w 10"/>
                    <a:gd name="T15" fmla="*/ 5 h 492"/>
                    <a:gd name="T16" fmla="*/ 10 w 10"/>
                    <a:gd name="T17" fmla="*/ 62 h 492"/>
                    <a:gd name="T18" fmla="*/ 0 w 10"/>
                    <a:gd name="T19" fmla="*/ 51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492">
                      <a:moveTo>
                        <a:pt x="0" y="492"/>
                      </a:moveTo>
                      <a:lnTo>
                        <a:pt x="0" y="469"/>
                      </a:lnTo>
                      <a:lnTo>
                        <a:pt x="10" y="464"/>
                      </a:lnTo>
                      <a:lnTo>
                        <a:pt x="10" y="489"/>
                      </a:lnTo>
                      <a:lnTo>
                        <a:pt x="0" y="492"/>
                      </a:lnTo>
                      <a:close/>
                      <a:moveTo>
                        <a:pt x="0" y="51"/>
                      </a:moveTo>
                      <a:lnTo>
                        <a:pt x="0" y="0"/>
                      </a:lnTo>
                      <a:lnTo>
                        <a:pt x="10" y="5"/>
                      </a:lnTo>
                      <a:lnTo>
                        <a:pt x="10" y="62"/>
                      </a:lnTo>
                      <a:lnTo>
                        <a:pt x="0" y="5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15" name="Freeform 4903"/>
                <p:cNvSpPr>
                  <a:spLocks noChangeAspect="1" noEditPoints="1"/>
                </p:cNvSpPr>
                <p:nvPr/>
              </p:nvSpPr>
              <p:spPr bwMode="auto">
                <a:xfrm>
                  <a:off x="3573" y="3373"/>
                  <a:ext cx="3" cy="163"/>
                </a:xfrm>
                <a:custGeom>
                  <a:avLst/>
                  <a:gdLst>
                    <a:gd name="T0" fmla="*/ 0 w 9"/>
                    <a:gd name="T1" fmla="*/ 489 h 489"/>
                    <a:gd name="T2" fmla="*/ 0 w 9"/>
                    <a:gd name="T3" fmla="*/ 465 h 489"/>
                    <a:gd name="T4" fmla="*/ 9 w 9"/>
                    <a:gd name="T5" fmla="*/ 459 h 489"/>
                    <a:gd name="T6" fmla="*/ 9 w 9"/>
                    <a:gd name="T7" fmla="*/ 486 h 489"/>
                    <a:gd name="T8" fmla="*/ 0 w 9"/>
                    <a:gd name="T9" fmla="*/ 489 h 489"/>
                    <a:gd name="T10" fmla="*/ 0 w 9"/>
                    <a:gd name="T11" fmla="*/ 54 h 489"/>
                    <a:gd name="T12" fmla="*/ 0 w 9"/>
                    <a:gd name="T13" fmla="*/ 0 h 489"/>
                    <a:gd name="T14" fmla="*/ 9 w 9"/>
                    <a:gd name="T15" fmla="*/ 5 h 489"/>
                    <a:gd name="T16" fmla="*/ 9 w 9"/>
                    <a:gd name="T17" fmla="*/ 66 h 489"/>
                    <a:gd name="T18" fmla="*/ 0 w 9"/>
                    <a:gd name="T19" fmla="*/ 5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489">
                      <a:moveTo>
                        <a:pt x="0" y="489"/>
                      </a:moveTo>
                      <a:lnTo>
                        <a:pt x="0" y="465"/>
                      </a:lnTo>
                      <a:lnTo>
                        <a:pt x="9" y="459"/>
                      </a:lnTo>
                      <a:lnTo>
                        <a:pt x="9" y="486"/>
                      </a:lnTo>
                      <a:lnTo>
                        <a:pt x="0" y="489"/>
                      </a:lnTo>
                      <a:close/>
                      <a:moveTo>
                        <a:pt x="0" y="54"/>
                      </a:moveTo>
                      <a:lnTo>
                        <a:pt x="0" y="0"/>
                      </a:lnTo>
                      <a:lnTo>
                        <a:pt x="9" y="5"/>
                      </a:lnTo>
                      <a:lnTo>
                        <a:pt x="9" y="66"/>
                      </a:lnTo>
                      <a:lnTo>
                        <a:pt x="0" y="5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16" name="Freeform 4904"/>
                <p:cNvSpPr>
                  <a:spLocks noChangeAspect="1" noEditPoints="1"/>
                </p:cNvSpPr>
                <p:nvPr/>
              </p:nvSpPr>
              <p:spPr bwMode="auto">
                <a:xfrm>
                  <a:off x="3574" y="3374"/>
                  <a:ext cx="2" cy="162"/>
                </a:xfrm>
                <a:custGeom>
                  <a:avLst/>
                  <a:gdLst>
                    <a:gd name="T0" fmla="*/ 0 w 8"/>
                    <a:gd name="T1" fmla="*/ 484 h 484"/>
                    <a:gd name="T2" fmla="*/ 0 w 8"/>
                    <a:gd name="T3" fmla="*/ 459 h 484"/>
                    <a:gd name="T4" fmla="*/ 8 w 8"/>
                    <a:gd name="T5" fmla="*/ 453 h 484"/>
                    <a:gd name="T6" fmla="*/ 8 w 8"/>
                    <a:gd name="T7" fmla="*/ 482 h 484"/>
                    <a:gd name="T8" fmla="*/ 0 w 8"/>
                    <a:gd name="T9" fmla="*/ 484 h 484"/>
                    <a:gd name="T10" fmla="*/ 0 w 8"/>
                    <a:gd name="T11" fmla="*/ 57 h 484"/>
                    <a:gd name="T12" fmla="*/ 0 w 8"/>
                    <a:gd name="T13" fmla="*/ 0 h 484"/>
                    <a:gd name="T14" fmla="*/ 8 w 8"/>
                    <a:gd name="T15" fmla="*/ 6 h 484"/>
                    <a:gd name="T16" fmla="*/ 8 w 8"/>
                    <a:gd name="T17" fmla="*/ 68 h 484"/>
                    <a:gd name="T18" fmla="*/ 0 w 8"/>
                    <a:gd name="T19" fmla="*/ 57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484">
                      <a:moveTo>
                        <a:pt x="0" y="484"/>
                      </a:moveTo>
                      <a:lnTo>
                        <a:pt x="0" y="459"/>
                      </a:lnTo>
                      <a:lnTo>
                        <a:pt x="8" y="453"/>
                      </a:lnTo>
                      <a:lnTo>
                        <a:pt x="8" y="482"/>
                      </a:lnTo>
                      <a:lnTo>
                        <a:pt x="0" y="484"/>
                      </a:lnTo>
                      <a:close/>
                      <a:moveTo>
                        <a:pt x="0" y="57"/>
                      </a:moveTo>
                      <a:lnTo>
                        <a:pt x="0" y="0"/>
                      </a:lnTo>
                      <a:lnTo>
                        <a:pt x="8" y="6"/>
                      </a:lnTo>
                      <a:lnTo>
                        <a:pt x="8" y="68"/>
                      </a:lnTo>
                      <a:lnTo>
                        <a:pt x="0" y="5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17" name="Freeform 4905"/>
                <p:cNvSpPr>
                  <a:spLocks noChangeAspect="1" noEditPoints="1"/>
                </p:cNvSpPr>
                <p:nvPr/>
              </p:nvSpPr>
              <p:spPr bwMode="auto">
                <a:xfrm>
                  <a:off x="3576" y="3375"/>
                  <a:ext cx="3" cy="160"/>
                </a:xfrm>
                <a:custGeom>
                  <a:avLst/>
                  <a:gdLst>
                    <a:gd name="T0" fmla="*/ 0 w 9"/>
                    <a:gd name="T1" fmla="*/ 481 h 481"/>
                    <a:gd name="T2" fmla="*/ 0 w 9"/>
                    <a:gd name="T3" fmla="*/ 454 h 481"/>
                    <a:gd name="T4" fmla="*/ 9 w 9"/>
                    <a:gd name="T5" fmla="*/ 448 h 481"/>
                    <a:gd name="T6" fmla="*/ 9 w 9"/>
                    <a:gd name="T7" fmla="*/ 478 h 481"/>
                    <a:gd name="T8" fmla="*/ 0 w 9"/>
                    <a:gd name="T9" fmla="*/ 481 h 481"/>
                    <a:gd name="T10" fmla="*/ 0 w 9"/>
                    <a:gd name="T11" fmla="*/ 61 h 481"/>
                    <a:gd name="T12" fmla="*/ 0 w 9"/>
                    <a:gd name="T13" fmla="*/ 0 h 481"/>
                    <a:gd name="T14" fmla="*/ 9 w 9"/>
                    <a:gd name="T15" fmla="*/ 6 h 481"/>
                    <a:gd name="T16" fmla="*/ 9 w 9"/>
                    <a:gd name="T17" fmla="*/ 72 h 481"/>
                    <a:gd name="T18" fmla="*/ 0 w 9"/>
                    <a:gd name="T19" fmla="*/ 6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481">
                      <a:moveTo>
                        <a:pt x="0" y="481"/>
                      </a:moveTo>
                      <a:lnTo>
                        <a:pt x="0" y="454"/>
                      </a:lnTo>
                      <a:lnTo>
                        <a:pt x="9" y="448"/>
                      </a:lnTo>
                      <a:lnTo>
                        <a:pt x="9" y="478"/>
                      </a:lnTo>
                      <a:lnTo>
                        <a:pt x="0" y="481"/>
                      </a:lnTo>
                      <a:close/>
                      <a:moveTo>
                        <a:pt x="0" y="61"/>
                      </a:moveTo>
                      <a:lnTo>
                        <a:pt x="0" y="0"/>
                      </a:lnTo>
                      <a:lnTo>
                        <a:pt x="9" y="6"/>
                      </a:lnTo>
                      <a:lnTo>
                        <a:pt x="9" y="72"/>
                      </a:lnTo>
                      <a:lnTo>
                        <a:pt x="0" y="6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18" name="Freeform 4906"/>
                <p:cNvSpPr>
                  <a:spLocks noChangeAspect="1" noEditPoints="1"/>
                </p:cNvSpPr>
                <p:nvPr/>
              </p:nvSpPr>
              <p:spPr bwMode="auto">
                <a:xfrm>
                  <a:off x="3577" y="3376"/>
                  <a:ext cx="4" cy="159"/>
                </a:xfrm>
                <a:custGeom>
                  <a:avLst/>
                  <a:gdLst>
                    <a:gd name="T0" fmla="*/ 0 w 10"/>
                    <a:gd name="T1" fmla="*/ 476 h 476"/>
                    <a:gd name="T2" fmla="*/ 0 w 10"/>
                    <a:gd name="T3" fmla="*/ 447 h 476"/>
                    <a:gd name="T4" fmla="*/ 10 w 10"/>
                    <a:gd name="T5" fmla="*/ 442 h 476"/>
                    <a:gd name="T6" fmla="*/ 10 w 10"/>
                    <a:gd name="T7" fmla="*/ 473 h 476"/>
                    <a:gd name="T8" fmla="*/ 0 w 10"/>
                    <a:gd name="T9" fmla="*/ 476 h 476"/>
                    <a:gd name="T10" fmla="*/ 0 w 10"/>
                    <a:gd name="T11" fmla="*/ 62 h 476"/>
                    <a:gd name="T12" fmla="*/ 0 w 10"/>
                    <a:gd name="T13" fmla="*/ 0 h 476"/>
                    <a:gd name="T14" fmla="*/ 10 w 10"/>
                    <a:gd name="T15" fmla="*/ 5 h 476"/>
                    <a:gd name="T16" fmla="*/ 10 w 10"/>
                    <a:gd name="T17" fmla="*/ 74 h 476"/>
                    <a:gd name="T18" fmla="*/ 0 w 10"/>
                    <a:gd name="T19" fmla="*/ 62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476">
                      <a:moveTo>
                        <a:pt x="0" y="476"/>
                      </a:moveTo>
                      <a:lnTo>
                        <a:pt x="0" y="447"/>
                      </a:lnTo>
                      <a:lnTo>
                        <a:pt x="10" y="442"/>
                      </a:lnTo>
                      <a:lnTo>
                        <a:pt x="10" y="473"/>
                      </a:lnTo>
                      <a:lnTo>
                        <a:pt x="0" y="476"/>
                      </a:lnTo>
                      <a:close/>
                      <a:moveTo>
                        <a:pt x="0" y="62"/>
                      </a:moveTo>
                      <a:lnTo>
                        <a:pt x="0" y="0"/>
                      </a:lnTo>
                      <a:lnTo>
                        <a:pt x="10" y="5"/>
                      </a:lnTo>
                      <a:lnTo>
                        <a:pt x="10" y="74"/>
                      </a:lnTo>
                      <a:lnTo>
                        <a:pt x="0" y="6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19" name="Freeform 4907"/>
                <p:cNvSpPr>
                  <a:spLocks noChangeAspect="1" noEditPoints="1"/>
                </p:cNvSpPr>
                <p:nvPr/>
              </p:nvSpPr>
              <p:spPr bwMode="auto">
                <a:xfrm>
                  <a:off x="3579" y="3377"/>
                  <a:ext cx="3" cy="157"/>
                </a:xfrm>
                <a:custGeom>
                  <a:avLst/>
                  <a:gdLst>
                    <a:gd name="T0" fmla="*/ 0 w 9"/>
                    <a:gd name="T1" fmla="*/ 472 h 472"/>
                    <a:gd name="T2" fmla="*/ 0 w 9"/>
                    <a:gd name="T3" fmla="*/ 442 h 472"/>
                    <a:gd name="T4" fmla="*/ 9 w 9"/>
                    <a:gd name="T5" fmla="*/ 437 h 472"/>
                    <a:gd name="T6" fmla="*/ 9 w 9"/>
                    <a:gd name="T7" fmla="*/ 469 h 472"/>
                    <a:gd name="T8" fmla="*/ 0 w 9"/>
                    <a:gd name="T9" fmla="*/ 472 h 472"/>
                    <a:gd name="T10" fmla="*/ 0 w 9"/>
                    <a:gd name="T11" fmla="*/ 66 h 472"/>
                    <a:gd name="T12" fmla="*/ 0 w 9"/>
                    <a:gd name="T13" fmla="*/ 0 h 472"/>
                    <a:gd name="T14" fmla="*/ 9 w 9"/>
                    <a:gd name="T15" fmla="*/ 5 h 472"/>
                    <a:gd name="T16" fmla="*/ 9 w 9"/>
                    <a:gd name="T17" fmla="*/ 77 h 472"/>
                    <a:gd name="T18" fmla="*/ 0 w 9"/>
                    <a:gd name="T19" fmla="*/ 6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472">
                      <a:moveTo>
                        <a:pt x="0" y="472"/>
                      </a:moveTo>
                      <a:lnTo>
                        <a:pt x="0" y="442"/>
                      </a:lnTo>
                      <a:lnTo>
                        <a:pt x="9" y="437"/>
                      </a:lnTo>
                      <a:lnTo>
                        <a:pt x="9" y="469"/>
                      </a:lnTo>
                      <a:lnTo>
                        <a:pt x="0" y="472"/>
                      </a:lnTo>
                      <a:close/>
                      <a:moveTo>
                        <a:pt x="0" y="66"/>
                      </a:moveTo>
                      <a:lnTo>
                        <a:pt x="0" y="0"/>
                      </a:lnTo>
                      <a:lnTo>
                        <a:pt x="9" y="5"/>
                      </a:lnTo>
                      <a:lnTo>
                        <a:pt x="9" y="77"/>
                      </a:lnTo>
                      <a:lnTo>
                        <a:pt x="0" y="6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20" name="Freeform 4908"/>
                <p:cNvSpPr>
                  <a:spLocks noChangeAspect="1" noEditPoints="1"/>
                </p:cNvSpPr>
                <p:nvPr/>
              </p:nvSpPr>
              <p:spPr bwMode="auto">
                <a:xfrm>
                  <a:off x="3581" y="3378"/>
                  <a:ext cx="3" cy="157"/>
                </a:xfrm>
                <a:custGeom>
                  <a:avLst/>
                  <a:gdLst>
                    <a:gd name="T0" fmla="*/ 0 w 9"/>
                    <a:gd name="T1" fmla="*/ 468 h 468"/>
                    <a:gd name="T2" fmla="*/ 0 w 9"/>
                    <a:gd name="T3" fmla="*/ 437 h 468"/>
                    <a:gd name="T4" fmla="*/ 9 w 9"/>
                    <a:gd name="T5" fmla="*/ 431 h 468"/>
                    <a:gd name="T6" fmla="*/ 9 w 9"/>
                    <a:gd name="T7" fmla="*/ 465 h 468"/>
                    <a:gd name="T8" fmla="*/ 0 w 9"/>
                    <a:gd name="T9" fmla="*/ 468 h 468"/>
                    <a:gd name="T10" fmla="*/ 0 w 9"/>
                    <a:gd name="T11" fmla="*/ 69 h 468"/>
                    <a:gd name="T12" fmla="*/ 0 w 9"/>
                    <a:gd name="T13" fmla="*/ 0 h 468"/>
                    <a:gd name="T14" fmla="*/ 9 w 9"/>
                    <a:gd name="T15" fmla="*/ 4 h 468"/>
                    <a:gd name="T16" fmla="*/ 9 w 9"/>
                    <a:gd name="T17" fmla="*/ 80 h 468"/>
                    <a:gd name="T18" fmla="*/ 0 w 9"/>
                    <a:gd name="T19" fmla="*/ 69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468">
                      <a:moveTo>
                        <a:pt x="0" y="468"/>
                      </a:moveTo>
                      <a:lnTo>
                        <a:pt x="0" y="437"/>
                      </a:lnTo>
                      <a:lnTo>
                        <a:pt x="9" y="431"/>
                      </a:lnTo>
                      <a:lnTo>
                        <a:pt x="9" y="465"/>
                      </a:lnTo>
                      <a:lnTo>
                        <a:pt x="0" y="468"/>
                      </a:lnTo>
                      <a:close/>
                      <a:moveTo>
                        <a:pt x="0" y="69"/>
                      </a:moveTo>
                      <a:lnTo>
                        <a:pt x="0" y="0"/>
                      </a:lnTo>
                      <a:lnTo>
                        <a:pt x="9" y="4"/>
                      </a:lnTo>
                      <a:lnTo>
                        <a:pt x="9" y="80"/>
                      </a:lnTo>
                      <a:lnTo>
                        <a:pt x="0" y="6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21" name="Freeform 4909"/>
                <p:cNvSpPr>
                  <a:spLocks noChangeAspect="1" noEditPoints="1"/>
                </p:cNvSpPr>
                <p:nvPr/>
              </p:nvSpPr>
              <p:spPr bwMode="auto">
                <a:xfrm>
                  <a:off x="3582" y="3379"/>
                  <a:ext cx="3" cy="152"/>
                </a:xfrm>
                <a:custGeom>
                  <a:avLst/>
                  <a:gdLst>
                    <a:gd name="T0" fmla="*/ 0 w 9"/>
                    <a:gd name="T1" fmla="*/ 464 h 464"/>
                    <a:gd name="T2" fmla="*/ 0 w 9"/>
                    <a:gd name="T3" fmla="*/ 432 h 464"/>
                    <a:gd name="T4" fmla="*/ 9 w 9"/>
                    <a:gd name="T5" fmla="*/ 426 h 464"/>
                    <a:gd name="T6" fmla="*/ 9 w 9"/>
                    <a:gd name="T7" fmla="*/ 460 h 464"/>
                    <a:gd name="T8" fmla="*/ 0 w 9"/>
                    <a:gd name="T9" fmla="*/ 464 h 464"/>
                    <a:gd name="T10" fmla="*/ 0 w 9"/>
                    <a:gd name="T11" fmla="*/ 72 h 464"/>
                    <a:gd name="T12" fmla="*/ 0 w 9"/>
                    <a:gd name="T13" fmla="*/ 0 h 464"/>
                    <a:gd name="T14" fmla="*/ 9 w 9"/>
                    <a:gd name="T15" fmla="*/ 5 h 464"/>
                    <a:gd name="T16" fmla="*/ 9 w 9"/>
                    <a:gd name="T17" fmla="*/ 84 h 464"/>
                    <a:gd name="T18" fmla="*/ 0 w 9"/>
                    <a:gd name="T19" fmla="*/ 72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464">
                      <a:moveTo>
                        <a:pt x="0" y="464"/>
                      </a:moveTo>
                      <a:lnTo>
                        <a:pt x="0" y="432"/>
                      </a:lnTo>
                      <a:lnTo>
                        <a:pt x="9" y="426"/>
                      </a:lnTo>
                      <a:lnTo>
                        <a:pt x="9" y="460"/>
                      </a:lnTo>
                      <a:lnTo>
                        <a:pt x="0" y="464"/>
                      </a:lnTo>
                      <a:close/>
                      <a:moveTo>
                        <a:pt x="0" y="72"/>
                      </a:moveTo>
                      <a:lnTo>
                        <a:pt x="0" y="0"/>
                      </a:lnTo>
                      <a:lnTo>
                        <a:pt x="9" y="5"/>
                      </a:lnTo>
                      <a:lnTo>
                        <a:pt x="9" y="84"/>
                      </a:lnTo>
                      <a:lnTo>
                        <a:pt x="0" y="7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22" name="Freeform 4910"/>
                <p:cNvSpPr>
                  <a:spLocks noChangeAspect="1"/>
                </p:cNvSpPr>
                <p:nvPr/>
              </p:nvSpPr>
              <p:spPr bwMode="auto">
                <a:xfrm>
                  <a:off x="3584" y="3379"/>
                  <a:ext cx="3" cy="152"/>
                </a:xfrm>
                <a:custGeom>
                  <a:avLst/>
                  <a:gdLst>
                    <a:gd name="T0" fmla="*/ 0 w 9"/>
                    <a:gd name="T1" fmla="*/ 461 h 461"/>
                    <a:gd name="T2" fmla="*/ 0 w 9"/>
                    <a:gd name="T3" fmla="*/ 427 h 461"/>
                    <a:gd name="T4" fmla="*/ 8 w 9"/>
                    <a:gd name="T5" fmla="*/ 421 h 461"/>
                    <a:gd name="T6" fmla="*/ 8 w 9"/>
                    <a:gd name="T7" fmla="*/ 87 h 461"/>
                    <a:gd name="T8" fmla="*/ 0 w 9"/>
                    <a:gd name="T9" fmla="*/ 76 h 461"/>
                    <a:gd name="T10" fmla="*/ 0 w 9"/>
                    <a:gd name="T11" fmla="*/ 0 h 461"/>
                    <a:gd name="T12" fmla="*/ 9 w 9"/>
                    <a:gd name="T13" fmla="*/ 6 h 461"/>
                    <a:gd name="T14" fmla="*/ 9 w 9"/>
                    <a:gd name="T15" fmla="*/ 457 h 461"/>
                    <a:gd name="T16" fmla="*/ 0 w 9"/>
                    <a:gd name="T17" fmla="*/ 461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61">
                      <a:moveTo>
                        <a:pt x="0" y="461"/>
                      </a:moveTo>
                      <a:lnTo>
                        <a:pt x="0" y="427"/>
                      </a:lnTo>
                      <a:lnTo>
                        <a:pt x="8" y="421"/>
                      </a:lnTo>
                      <a:lnTo>
                        <a:pt x="8" y="87"/>
                      </a:lnTo>
                      <a:lnTo>
                        <a:pt x="0" y="76"/>
                      </a:lnTo>
                      <a:lnTo>
                        <a:pt x="0" y="0"/>
                      </a:lnTo>
                      <a:lnTo>
                        <a:pt x="9" y="6"/>
                      </a:lnTo>
                      <a:lnTo>
                        <a:pt x="9" y="457"/>
                      </a:lnTo>
                      <a:lnTo>
                        <a:pt x="0" y="46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23" name="Freeform 4911"/>
                <p:cNvSpPr>
                  <a:spLocks noChangeAspect="1"/>
                </p:cNvSpPr>
                <p:nvPr/>
              </p:nvSpPr>
              <p:spPr bwMode="auto">
                <a:xfrm>
                  <a:off x="3585" y="3380"/>
                  <a:ext cx="3" cy="152"/>
                </a:xfrm>
                <a:custGeom>
                  <a:avLst/>
                  <a:gdLst>
                    <a:gd name="T0" fmla="*/ 0 w 9"/>
                    <a:gd name="T1" fmla="*/ 455 h 455"/>
                    <a:gd name="T2" fmla="*/ 0 w 9"/>
                    <a:gd name="T3" fmla="*/ 421 h 455"/>
                    <a:gd name="T4" fmla="*/ 4 w 9"/>
                    <a:gd name="T5" fmla="*/ 418 h 455"/>
                    <a:gd name="T6" fmla="*/ 4 w 9"/>
                    <a:gd name="T7" fmla="*/ 84 h 455"/>
                    <a:gd name="T8" fmla="*/ 0 w 9"/>
                    <a:gd name="T9" fmla="*/ 79 h 455"/>
                    <a:gd name="T10" fmla="*/ 0 w 9"/>
                    <a:gd name="T11" fmla="*/ 0 h 455"/>
                    <a:gd name="T12" fmla="*/ 9 w 9"/>
                    <a:gd name="T13" fmla="*/ 6 h 455"/>
                    <a:gd name="T14" fmla="*/ 9 w 9"/>
                    <a:gd name="T15" fmla="*/ 452 h 455"/>
                    <a:gd name="T16" fmla="*/ 0 w 9"/>
                    <a:gd name="T17" fmla="*/ 455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55">
                      <a:moveTo>
                        <a:pt x="0" y="455"/>
                      </a:moveTo>
                      <a:lnTo>
                        <a:pt x="0" y="421"/>
                      </a:lnTo>
                      <a:lnTo>
                        <a:pt x="4" y="418"/>
                      </a:lnTo>
                      <a:lnTo>
                        <a:pt x="4" y="84"/>
                      </a:lnTo>
                      <a:lnTo>
                        <a:pt x="0" y="79"/>
                      </a:lnTo>
                      <a:lnTo>
                        <a:pt x="0" y="0"/>
                      </a:lnTo>
                      <a:lnTo>
                        <a:pt x="9" y="6"/>
                      </a:lnTo>
                      <a:lnTo>
                        <a:pt x="9" y="452"/>
                      </a:lnTo>
                      <a:lnTo>
                        <a:pt x="0" y="45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24" name="Freeform 4912"/>
                <p:cNvSpPr>
                  <a:spLocks noChangeAspect="1"/>
                </p:cNvSpPr>
                <p:nvPr/>
              </p:nvSpPr>
              <p:spPr bwMode="auto">
                <a:xfrm>
                  <a:off x="3587" y="3381"/>
                  <a:ext cx="3" cy="151"/>
                </a:xfrm>
                <a:custGeom>
                  <a:avLst/>
                  <a:gdLst>
                    <a:gd name="T0" fmla="*/ 0 w 9"/>
                    <a:gd name="T1" fmla="*/ 451 h 451"/>
                    <a:gd name="T2" fmla="*/ 0 w 9"/>
                    <a:gd name="T3" fmla="*/ 0 h 451"/>
                    <a:gd name="T4" fmla="*/ 9 w 9"/>
                    <a:gd name="T5" fmla="*/ 5 h 451"/>
                    <a:gd name="T6" fmla="*/ 9 w 9"/>
                    <a:gd name="T7" fmla="*/ 448 h 451"/>
                    <a:gd name="T8" fmla="*/ 0 w 9"/>
                    <a:gd name="T9" fmla="*/ 451 h 451"/>
                  </a:gdLst>
                  <a:ahLst/>
                  <a:cxnLst>
                    <a:cxn ang="0">
                      <a:pos x="T0" y="T1"/>
                    </a:cxn>
                    <a:cxn ang="0">
                      <a:pos x="T2" y="T3"/>
                    </a:cxn>
                    <a:cxn ang="0">
                      <a:pos x="T4" y="T5"/>
                    </a:cxn>
                    <a:cxn ang="0">
                      <a:pos x="T6" y="T7"/>
                    </a:cxn>
                    <a:cxn ang="0">
                      <a:pos x="T8" y="T9"/>
                    </a:cxn>
                  </a:cxnLst>
                  <a:rect l="0" t="0" r="r" b="b"/>
                  <a:pathLst>
                    <a:path w="9" h="451">
                      <a:moveTo>
                        <a:pt x="0" y="451"/>
                      </a:moveTo>
                      <a:lnTo>
                        <a:pt x="0" y="0"/>
                      </a:lnTo>
                      <a:lnTo>
                        <a:pt x="9" y="5"/>
                      </a:lnTo>
                      <a:lnTo>
                        <a:pt x="9" y="448"/>
                      </a:lnTo>
                      <a:lnTo>
                        <a:pt x="0" y="45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25" name="Freeform 4913"/>
                <p:cNvSpPr>
                  <a:spLocks noChangeAspect="1"/>
                </p:cNvSpPr>
                <p:nvPr/>
              </p:nvSpPr>
              <p:spPr bwMode="auto">
                <a:xfrm>
                  <a:off x="3588" y="3382"/>
                  <a:ext cx="3" cy="149"/>
                </a:xfrm>
                <a:custGeom>
                  <a:avLst/>
                  <a:gdLst>
                    <a:gd name="T0" fmla="*/ 0 w 10"/>
                    <a:gd name="T1" fmla="*/ 446 h 446"/>
                    <a:gd name="T2" fmla="*/ 0 w 10"/>
                    <a:gd name="T3" fmla="*/ 0 h 446"/>
                    <a:gd name="T4" fmla="*/ 10 w 10"/>
                    <a:gd name="T5" fmla="*/ 5 h 446"/>
                    <a:gd name="T6" fmla="*/ 10 w 10"/>
                    <a:gd name="T7" fmla="*/ 443 h 446"/>
                    <a:gd name="T8" fmla="*/ 0 w 10"/>
                    <a:gd name="T9" fmla="*/ 446 h 446"/>
                  </a:gdLst>
                  <a:ahLst/>
                  <a:cxnLst>
                    <a:cxn ang="0">
                      <a:pos x="T0" y="T1"/>
                    </a:cxn>
                    <a:cxn ang="0">
                      <a:pos x="T2" y="T3"/>
                    </a:cxn>
                    <a:cxn ang="0">
                      <a:pos x="T4" y="T5"/>
                    </a:cxn>
                    <a:cxn ang="0">
                      <a:pos x="T6" y="T7"/>
                    </a:cxn>
                    <a:cxn ang="0">
                      <a:pos x="T8" y="T9"/>
                    </a:cxn>
                  </a:cxnLst>
                  <a:rect l="0" t="0" r="r" b="b"/>
                  <a:pathLst>
                    <a:path w="10" h="446">
                      <a:moveTo>
                        <a:pt x="0" y="446"/>
                      </a:moveTo>
                      <a:lnTo>
                        <a:pt x="0" y="0"/>
                      </a:lnTo>
                      <a:lnTo>
                        <a:pt x="10" y="5"/>
                      </a:lnTo>
                      <a:lnTo>
                        <a:pt x="10" y="443"/>
                      </a:lnTo>
                      <a:lnTo>
                        <a:pt x="0" y="44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26" name="Freeform 4914"/>
                <p:cNvSpPr>
                  <a:spLocks noChangeAspect="1"/>
                </p:cNvSpPr>
                <p:nvPr/>
              </p:nvSpPr>
              <p:spPr bwMode="auto">
                <a:xfrm>
                  <a:off x="3590" y="3383"/>
                  <a:ext cx="3" cy="148"/>
                </a:xfrm>
                <a:custGeom>
                  <a:avLst/>
                  <a:gdLst>
                    <a:gd name="T0" fmla="*/ 0 w 9"/>
                    <a:gd name="T1" fmla="*/ 443 h 443"/>
                    <a:gd name="T2" fmla="*/ 0 w 9"/>
                    <a:gd name="T3" fmla="*/ 0 h 443"/>
                    <a:gd name="T4" fmla="*/ 9 w 9"/>
                    <a:gd name="T5" fmla="*/ 5 h 443"/>
                    <a:gd name="T6" fmla="*/ 9 w 9"/>
                    <a:gd name="T7" fmla="*/ 440 h 443"/>
                    <a:gd name="T8" fmla="*/ 0 w 9"/>
                    <a:gd name="T9" fmla="*/ 443 h 443"/>
                  </a:gdLst>
                  <a:ahLst/>
                  <a:cxnLst>
                    <a:cxn ang="0">
                      <a:pos x="T0" y="T1"/>
                    </a:cxn>
                    <a:cxn ang="0">
                      <a:pos x="T2" y="T3"/>
                    </a:cxn>
                    <a:cxn ang="0">
                      <a:pos x="T4" y="T5"/>
                    </a:cxn>
                    <a:cxn ang="0">
                      <a:pos x="T6" y="T7"/>
                    </a:cxn>
                    <a:cxn ang="0">
                      <a:pos x="T8" y="T9"/>
                    </a:cxn>
                  </a:cxnLst>
                  <a:rect l="0" t="0" r="r" b="b"/>
                  <a:pathLst>
                    <a:path w="9" h="443">
                      <a:moveTo>
                        <a:pt x="0" y="443"/>
                      </a:moveTo>
                      <a:lnTo>
                        <a:pt x="0" y="0"/>
                      </a:lnTo>
                      <a:lnTo>
                        <a:pt x="9" y="5"/>
                      </a:lnTo>
                      <a:lnTo>
                        <a:pt x="9" y="440"/>
                      </a:lnTo>
                      <a:lnTo>
                        <a:pt x="0" y="44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27" name="Freeform 4915"/>
                <p:cNvSpPr>
                  <a:spLocks noChangeAspect="1"/>
                </p:cNvSpPr>
                <p:nvPr/>
              </p:nvSpPr>
              <p:spPr bwMode="auto">
                <a:xfrm>
                  <a:off x="3590" y="3384"/>
                  <a:ext cx="4" cy="146"/>
                </a:xfrm>
                <a:custGeom>
                  <a:avLst/>
                  <a:gdLst>
                    <a:gd name="T0" fmla="*/ 0 w 8"/>
                    <a:gd name="T1" fmla="*/ 438 h 438"/>
                    <a:gd name="T2" fmla="*/ 0 w 8"/>
                    <a:gd name="T3" fmla="*/ 0 h 438"/>
                    <a:gd name="T4" fmla="*/ 8 w 8"/>
                    <a:gd name="T5" fmla="*/ 4 h 438"/>
                    <a:gd name="T6" fmla="*/ 8 w 8"/>
                    <a:gd name="T7" fmla="*/ 435 h 438"/>
                    <a:gd name="T8" fmla="*/ 0 w 8"/>
                    <a:gd name="T9" fmla="*/ 438 h 438"/>
                  </a:gdLst>
                  <a:ahLst/>
                  <a:cxnLst>
                    <a:cxn ang="0">
                      <a:pos x="T0" y="T1"/>
                    </a:cxn>
                    <a:cxn ang="0">
                      <a:pos x="T2" y="T3"/>
                    </a:cxn>
                    <a:cxn ang="0">
                      <a:pos x="T4" y="T5"/>
                    </a:cxn>
                    <a:cxn ang="0">
                      <a:pos x="T6" y="T7"/>
                    </a:cxn>
                    <a:cxn ang="0">
                      <a:pos x="T8" y="T9"/>
                    </a:cxn>
                  </a:cxnLst>
                  <a:rect l="0" t="0" r="r" b="b"/>
                  <a:pathLst>
                    <a:path w="8" h="438">
                      <a:moveTo>
                        <a:pt x="0" y="438"/>
                      </a:moveTo>
                      <a:lnTo>
                        <a:pt x="0" y="0"/>
                      </a:lnTo>
                      <a:lnTo>
                        <a:pt x="8" y="4"/>
                      </a:lnTo>
                      <a:lnTo>
                        <a:pt x="8" y="435"/>
                      </a:lnTo>
                      <a:lnTo>
                        <a:pt x="0" y="43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28" name="Freeform 4916"/>
                <p:cNvSpPr>
                  <a:spLocks noChangeAspect="1"/>
                </p:cNvSpPr>
                <p:nvPr/>
              </p:nvSpPr>
              <p:spPr bwMode="auto">
                <a:xfrm>
                  <a:off x="3593" y="3385"/>
                  <a:ext cx="3" cy="145"/>
                </a:xfrm>
                <a:custGeom>
                  <a:avLst/>
                  <a:gdLst>
                    <a:gd name="T0" fmla="*/ 0 w 9"/>
                    <a:gd name="T1" fmla="*/ 435 h 435"/>
                    <a:gd name="T2" fmla="*/ 0 w 9"/>
                    <a:gd name="T3" fmla="*/ 0 h 435"/>
                    <a:gd name="T4" fmla="*/ 9 w 9"/>
                    <a:gd name="T5" fmla="*/ 6 h 435"/>
                    <a:gd name="T6" fmla="*/ 9 w 9"/>
                    <a:gd name="T7" fmla="*/ 432 h 435"/>
                    <a:gd name="T8" fmla="*/ 0 w 9"/>
                    <a:gd name="T9" fmla="*/ 435 h 435"/>
                  </a:gdLst>
                  <a:ahLst/>
                  <a:cxnLst>
                    <a:cxn ang="0">
                      <a:pos x="T0" y="T1"/>
                    </a:cxn>
                    <a:cxn ang="0">
                      <a:pos x="T2" y="T3"/>
                    </a:cxn>
                    <a:cxn ang="0">
                      <a:pos x="T4" y="T5"/>
                    </a:cxn>
                    <a:cxn ang="0">
                      <a:pos x="T6" y="T7"/>
                    </a:cxn>
                    <a:cxn ang="0">
                      <a:pos x="T8" y="T9"/>
                    </a:cxn>
                  </a:cxnLst>
                  <a:rect l="0" t="0" r="r" b="b"/>
                  <a:pathLst>
                    <a:path w="9" h="435">
                      <a:moveTo>
                        <a:pt x="0" y="435"/>
                      </a:moveTo>
                      <a:lnTo>
                        <a:pt x="0" y="0"/>
                      </a:lnTo>
                      <a:lnTo>
                        <a:pt x="9" y="6"/>
                      </a:lnTo>
                      <a:lnTo>
                        <a:pt x="9" y="432"/>
                      </a:lnTo>
                      <a:lnTo>
                        <a:pt x="0" y="43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29" name="Freeform 4917"/>
                <p:cNvSpPr>
                  <a:spLocks noChangeAspect="1"/>
                </p:cNvSpPr>
                <p:nvPr/>
              </p:nvSpPr>
              <p:spPr bwMode="auto">
                <a:xfrm>
                  <a:off x="3594" y="3385"/>
                  <a:ext cx="3" cy="144"/>
                </a:xfrm>
                <a:custGeom>
                  <a:avLst/>
                  <a:gdLst>
                    <a:gd name="T0" fmla="*/ 0 w 10"/>
                    <a:gd name="T1" fmla="*/ 431 h 431"/>
                    <a:gd name="T2" fmla="*/ 0 w 10"/>
                    <a:gd name="T3" fmla="*/ 0 h 431"/>
                    <a:gd name="T4" fmla="*/ 10 w 10"/>
                    <a:gd name="T5" fmla="*/ 6 h 431"/>
                    <a:gd name="T6" fmla="*/ 10 w 10"/>
                    <a:gd name="T7" fmla="*/ 429 h 431"/>
                    <a:gd name="T8" fmla="*/ 0 w 10"/>
                    <a:gd name="T9" fmla="*/ 431 h 431"/>
                  </a:gdLst>
                  <a:ahLst/>
                  <a:cxnLst>
                    <a:cxn ang="0">
                      <a:pos x="T0" y="T1"/>
                    </a:cxn>
                    <a:cxn ang="0">
                      <a:pos x="T2" y="T3"/>
                    </a:cxn>
                    <a:cxn ang="0">
                      <a:pos x="T4" y="T5"/>
                    </a:cxn>
                    <a:cxn ang="0">
                      <a:pos x="T6" y="T7"/>
                    </a:cxn>
                    <a:cxn ang="0">
                      <a:pos x="T8" y="T9"/>
                    </a:cxn>
                  </a:cxnLst>
                  <a:rect l="0" t="0" r="r" b="b"/>
                  <a:pathLst>
                    <a:path w="10" h="431">
                      <a:moveTo>
                        <a:pt x="0" y="431"/>
                      </a:moveTo>
                      <a:lnTo>
                        <a:pt x="0" y="0"/>
                      </a:lnTo>
                      <a:lnTo>
                        <a:pt x="10" y="6"/>
                      </a:lnTo>
                      <a:lnTo>
                        <a:pt x="10" y="429"/>
                      </a:lnTo>
                      <a:lnTo>
                        <a:pt x="0" y="43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30" name="Freeform 4918"/>
                <p:cNvSpPr>
                  <a:spLocks noChangeAspect="1"/>
                </p:cNvSpPr>
                <p:nvPr/>
              </p:nvSpPr>
              <p:spPr bwMode="auto">
                <a:xfrm>
                  <a:off x="3596" y="3387"/>
                  <a:ext cx="3" cy="142"/>
                </a:xfrm>
                <a:custGeom>
                  <a:avLst/>
                  <a:gdLst>
                    <a:gd name="T0" fmla="*/ 0 w 9"/>
                    <a:gd name="T1" fmla="*/ 426 h 426"/>
                    <a:gd name="T2" fmla="*/ 0 w 9"/>
                    <a:gd name="T3" fmla="*/ 0 h 426"/>
                    <a:gd name="T4" fmla="*/ 9 w 9"/>
                    <a:gd name="T5" fmla="*/ 5 h 426"/>
                    <a:gd name="T6" fmla="*/ 9 w 9"/>
                    <a:gd name="T7" fmla="*/ 423 h 426"/>
                    <a:gd name="T8" fmla="*/ 0 w 9"/>
                    <a:gd name="T9" fmla="*/ 426 h 426"/>
                  </a:gdLst>
                  <a:ahLst/>
                  <a:cxnLst>
                    <a:cxn ang="0">
                      <a:pos x="T0" y="T1"/>
                    </a:cxn>
                    <a:cxn ang="0">
                      <a:pos x="T2" y="T3"/>
                    </a:cxn>
                    <a:cxn ang="0">
                      <a:pos x="T4" y="T5"/>
                    </a:cxn>
                    <a:cxn ang="0">
                      <a:pos x="T6" y="T7"/>
                    </a:cxn>
                    <a:cxn ang="0">
                      <a:pos x="T8" y="T9"/>
                    </a:cxn>
                  </a:cxnLst>
                  <a:rect l="0" t="0" r="r" b="b"/>
                  <a:pathLst>
                    <a:path w="9" h="426">
                      <a:moveTo>
                        <a:pt x="0" y="426"/>
                      </a:moveTo>
                      <a:lnTo>
                        <a:pt x="0" y="0"/>
                      </a:lnTo>
                      <a:lnTo>
                        <a:pt x="9" y="5"/>
                      </a:lnTo>
                      <a:lnTo>
                        <a:pt x="9" y="423"/>
                      </a:lnTo>
                      <a:lnTo>
                        <a:pt x="0" y="42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31" name="Freeform 4919"/>
                <p:cNvSpPr>
                  <a:spLocks noChangeAspect="1"/>
                </p:cNvSpPr>
                <p:nvPr/>
              </p:nvSpPr>
              <p:spPr bwMode="auto">
                <a:xfrm>
                  <a:off x="3597" y="3387"/>
                  <a:ext cx="3" cy="141"/>
                </a:xfrm>
                <a:custGeom>
                  <a:avLst/>
                  <a:gdLst>
                    <a:gd name="T0" fmla="*/ 0 w 9"/>
                    <a:gd name="T1" fmla="*/ 423 h 423"/>
                    <a:gd name="T2" fmla="*/ 0 w 9"/>
                    <a:gd name="T3" fmla="*/ 0 h 423"/>
                    <a:gd name="T4" fmla="*/ 9 w 9"/>
                    <a:gd name="T5" fmla="*/ 5 h 423"/>
                    <a:gd name="T6" fmla="*/ 9 w 9"/>
                    <a:gd name="T7" fmla="*/ 420 h 423"/>
                    <a:gd name="T8" fmla="*/ 0 w 9"/>
                    <a:gd name="T9" fmla="*/ 423 h 423"/>
                  </a:gdLst>
                  <a:ahLst/>
                  <a:cxnLst>
                    <a:cxn ang="0">
                      <a:pos x="T0" y="T1"/>
                    </a:cxn>
                    <a:cxn ang="0">
                      <a:pos x="T2" y="T3"/>
                    </a:cxn>
                    <a:cxn ang="0">
                      <a:pos x="T4" y="T5"/>
                    </a:cxn>
                    <a:cxn ang="0">
                      <a:pos x="T6" y="T7"/>
                    </a:cxn>
                    <a:cxn ang="0">
                      <a:pos x="T8" y="T9"/>
                    </a:cxn>
                  </a:cxnLst>
                  <a:rect l="0" t="0" r="r" b="b"/>
                  <a:pathLst>
                    <a:path w="9" h="423">
                      <a:moveTo>
                        <a:pt x="0" y="423"/>
                      </a:moveTo>
                      <a:lnTo>
                        <a:pt x="0" y="0"/>
                      </a:lnTo>
                      <a:lnTo>
                        <a:pt x="9" y="5"/>
                      </a:lnTo>
                      <a:lnTo>
                        <a:pt x="9" y="420"/>
                      </a:lnTo>
                      <a:lnTo>
                        <a:pt x="0" y="42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32" name="Freeform 4920"/>
                <p:cNvSpPr>
                  <a:spLocks noChangeAspect="1"/>
                </p:cNvSpPr>
                <p:nvPr/>
              </p:nvSpPr>
              <p:spPr bwMode="auto">
                <a:xfrm>
                  <a:off x="3599" y="3388"/>
                  <a:ext cx="3" cy="141"/>
                </a:xfrm>
                <a:custGeom>
                  <a:avLst/>
                  <a:gdLst>
                    <a:gd name="T0" fmla="*/ 0 w 9"/>
                    <a:gd name="T1" fmla="*/ 418 h 418"/>
                    <a:gd name="T2" fmla="*/ 0 w 9"/>
                    <a:gd name="T3" fmla="*/ 0 h 418"/>
                    <a:gd name="T4" fmla="*/ 9 w 9"/>
                    <a:gd name="T5" fmla="*/ 5 h 418"/>
                    <a:gd name="T6" fmla="*/ 9 w 9"/>
                    <a:gd name="T7" fmla="*/ 414 h 418"/>
                    <a:gd name="T8" fmla="*/ 0 w 9"/>
                    <a:gd name="T9" fmla="*/ 418 h 418"/>
                  </a:gdLst>
                  <a:ahLst/>
                  <a:cxnLst>
                    <a:cxn ang="0">
                      <a:pos x="T0" y="T1"/>
                    </a:cxn>
                    <a:cxn ang="0">
                      <a:pos x="T2" y="T3"/>
                    </a:cxn>
                    <a:cxn ang="0">
                      <a:pos x="T4" y="T5"/>
                    </a:cxn>
                    <a:cxn ang="0">
                      <a:pos x="T6" y="T7"/>
                    </a:cxn>
                    <a:cxn ang="0">
                      <a:pos x="T8" y="T9"/>
                    </a:cxn>
                  </a:cxnLst>
                  <a:rect l="0" t="0" r="r" b="b"/>
                  <a:pathLst>
                    <a:path w="9" h="418">
                      <a:moveTo>
                        <a:pt x="0" y="418"/>
                      </a:moveTo>
                      <a:lnTo>
                        <a:pt x="0" y="0"/>
                      </a:lnTo>
                      <a:lnTo>
                        <a:pt x="9" y="5"/>
                      </a:lnTo>
                      <a:lnTo>
                        <a:pt x="9" y="414"/>
                      </a:lnTo>
                      <a:lnTo>
                        <a:pt x="0" y="41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33" name="Freeform 4921"/>
                <p:cNvSpPr>
                  <a:spLocks noChangeAspect="1"/>
                </p:cNvSpPr>
                <p:nvPr/>
              </p:nvSpPr>
              <p:spPr bwMode="auto">
                <a:xfrm>
                  <a:off x="3600" y="3389"/>
                  <a:ext cx="3" cy="138"/>
                </a:xfrm>
                <a:custGeom>
                  <a:avLst/>
                  <a:gdLst>
                    <a:gd name="T0" fmla="*/ 0 w 9"/>
                    <a:gd name="T1" fmla="*/ 415 h 415"/>
                    <a:gd name="T2" fmla="*/ 0 w 9"/>
                    <a:gd name="T3" fmla="*/ 0 h 415"/>
                    <a:gd name="T4" fmla="*/ 9 w 9"/>
                    <a:gd name="T5" fmla="*/ 5 h 415"/>
                    <a:gd name="T6" fmla="*/ 9 w 9"/>
                    <a:gd name="T7" fmla="*/ 411 h 415"/>
                    <a:gd name="T8" fmla="*/ 0 w 9"/>
                    <a:gd name="T9" fmla="*/ 415 h 415"/>
                  </a:gdLst>
                  <a:ahLst/>
                  <a:cxnLst>
                    <a:cxn ang="0">
                      <a:pos x="T0" y="T1"/>
                    </a:cxn>
                    <a:cxn ang="0">
                      <a:pos x="T2" y="T3"/>
                    </a:cxn>
                    <a:cxn ang="0">
                      <a:pos x="T4" y="T5"/>
                    </a:cxn>
                    <a:cxn ang="0">
                      <a:pos x="T6" y="T7"/>
                    </a:cxn>
                    <a:cxn ang="0">
                      <a:pos x="T8" y="T9"/>
                    </a:cxn>
                  </a:cxnLst>
                  <a:rect l="0" t="0" r="r" b="b"/>
                  <a:pathLst>
                    <a:path w="9" h="415">
                      <a:moveTo>
                        <a:pt x="0" y="415"/>
                      </a:moveTo>
                      <a:lnTo>
                        <a:pt x="0" y="0"/>
                      </a:lnTo>
                      <a:lnTo>
                        <a:pt x="9" y="5"/>
                      </a:lnTo>
                      <a:lnTo>
                        <a:pt x="9" y="411"/>
                      </a:lnTo>
                      <a:lnTo>
                        <a:pt x="0" y="41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34" name="Freeform 4922"/>
                <p:cNvSpPr>
                  <a:spLocks noChangeAspect="1"/>
                </p:cNvSpPr>
                <p:nvPr/>
              </p:nvSpPr>
              <p:spPr bwMode="auto">
                <a:xfrm>
                  <a:off x="3602" y="3390"/>
                  <a:ext cx="3" cy="136"/>
                </a:xfrm>
                <a:custGeom>
                  <a:avLst/>
                  <a:gdLst>
                    <a:gd name="T0" fmla="*/ 0 w 9"/>
                    <a:gd name="T1" fmla="*/ 409 h 409"/>
                    <a:gd name="T2" fmla="*/ 0 w 9"/>
                    <a:gd name="T3" fmla="*/ 0 h 409"/>
                    <a:gd name="T4" fmla="*/ 9 w 9"/>
                    <a:gd name="T5" fmla="*/ 4 h 409"/>
                    <a:gd name="T6" fmla="*/ 9 w 9"/>
                    <a:gd name="T7" fmla="*/ 406 h 409"/>
                    <a:gd name="T8" fmla="*/ 0 w 9"/>
                    <a:gd name="T9" fmla="*/ 409 h 409"/>
                  </a:gdLst>
                  <a:ahLst/>
                  <a:cxnLst>
                    <a:cxn ang="0">
                      <a:pos x="T0" y="T1"/>
                    </a:cxn>
                    <a:cxn ang="0">
                      <a:pos x="T2" y="T3"/>
                    </a:cxn>
                    <a:cxn ang="0">
                      <a:pos x="T4" y="T5"/>
                    </a:cxn>
                    <a:cxn ang="0">
                      <a:pos x="T6" y="T7"/>
                    </a:cxn>
                    <a:cxn ang="0">
                      <a:pos x="T8" y="T9"/>
                    </a:cxn>
                  </a:cxnLst>
                  <a:rect l="0" t="0" r="r" b="b"/>
                  <a:pathLst>
                    <a:path w="9" h="409">
                      <a:moveTo>
                        <a:pt x="0" y="409"/>
                      </a:moveTo>
                      <a:lnTo>
                        <a:pt x="0" y="0"/>
                      </a:lnTo>
                      <a:lnTo>
                        <a:pt x="9" y="4"/>
                      </a:lnTo>
                      <a:lnTo>
                        <a:pt x="9" y="406"/>
                      </a:lnTo>
                      <a:lnTo>
                        <a:pt x="0" y="40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35" name="Freeform 4923"/>
                <p:cNvSpPr>
                  <a:spLocks noChangeAspect="1"/>
                </p:cNvSpPr>
                <p:nvPr/>
              </p:nvSpPr>
              <p:spPr bwMode="auto">
                <a:xfrm>
                  <a:off x="3603" y="3391"/>
                  <a:ext cx="3" cy="135"/>
                </a:xfrm>
                <a:custGeom>
                  <a:avLst/>
                  <a:gdLst>
                    <a:gd name="T0" fmla="*/ 0 w 9"/>
                    <a:gd name="T1" fmla="*/ 406 h 406"/>
                    <a:gd name="T2" fmla="*/ 0 w 9"/>
                    <a:gd name="T3" fmla="*/ 0 h 406"/>
                    <a:gd name="T4" fmla="*/ 9 w 9"/>
                    <a:gd name="T5" fmla="*/ 6 h 406"/>
                    <a:gd name="T6" fmla="*/ 9 w 9"/>
                    <a:gd name="T7" fmla="*/ 403 h 406"/>
                    <a:gd name="T8" fmla="*/ 0 w 9"/>
                    <a:gd name="T9" fmla="*/ 406 h 406"/>
                  </a:gdLst>
                  <a:ahLst/>
                  <a:cxnLst>
                    <a:cxn ang="0">
                      <a:pos x="T0" y="T1"/>
                    </a:cxn>
                    <a:cxn ang="0">
                      <a:pos x="T2" y="T3"/>
                    </a:cxn>
                    <a:cxn ang="0">
                      <a:pos x="T4" y="T5"/>
                    </a:cxn>
                    <a:cxn ang="0">
                      <a:pos x="T6" y="T7"/>
                    </a:cxn>
                    <a:cxn ang="0">
                      <a:pos x="T8" y="T9"/>
                    </a:cxn>
                  </a:cxnLst>
                  <a:rect l="0" t="0" r="r" b="b"/>
                  <a:pathLst>
                    <a:path w="9" h="406">
                      <a:moveTo>
                        <a:pt x="0" y="406"/>
                      </a:moveTo>
                      <a:lnTo>
                        <a:pt x="0" y="0"/>
                      </a:lnTo>
                      <a:lnTo>
                        <a:pt x="9" y="6"/>
                      </a:lnTo>
                      <a:lnTo>
                        <a:pt x="9" y="403"/>
                      </a:lnTo>
                      <a:lnTo>
                        <a:pt x="0" y="40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36" name="Freeform 4924"/>
                <p:cNvSpPr>
                  <a:spLocks noChangeAspect="1"/>
                </p:cNvSpPr>
                <p:nvPr/>
              </p:nvSpPr>
              <p:spPr bwMode="auto">
                <a:xfrm>
                  <a:off x="3605" y="3391"/>
                  <a:ext cx="3" cy="134"/>
                </a:xfrm>
                <a:custGeom>
                  <a:avLst/>
                  <a:gdLst>
                    <a:gd name="T0" fmla="*/ 0 w 9"/>
                    <a:gd name="T1" fmla="*/ 402 h 402"/>
                    <a:gd name="T2" fmla="*/ 0 w 9"/>
                    <a:gd name="T3" fmla="*/ 0 h 402"/>
                    <a:gd name="T4" fmla="*/ 9 w 9"/>
                    <a:gd name="T5" fmla="*/ 6 h 402"/>
                    <a:gd name="T6" fmla="*/ 9 w 9"/>
                    <a:gd name="T7" fmla="*/ 399 h 402"/>
                    <a:gd name="T8" fmla="*/ 0 w 9"/>
                    <a:gd name="T9" fmla="*/ 402 h 402"/>
                  </a:gdLst>
                  <a:ahLst/>
                  <a:cxnLst>
                    <a:cxn ang="0">
                      <a:pos x="T0" y="T1"/>
                    </a:cxn>
                    <a:cxn ang="0">
                      <a:pos x="T2" y="T3"/>
                    </a:cxn>
                    <a:cxn ang="0">
                      <a:pos x="T4" y="T5"/>
                    </a:cxn>
                    <a:cxn ang="0">
                      <a:pos x="T6" y="T7"/>
                    </a:cxn>
                    <a:cxn ang="0">
                      <a:pos x="T8" y="T9"/>
                    </a:cxn>
                  </a:cxnLst>
                  <a:rect l="0" t="0" r="r" b="b"/>
                  <a:pathLst>
                    <a:path w="9" h="402">
                      <a:moveTo>
                        <a:pt x="0" y="402"/>
                      </a:moveTo>
                      <a:lnTo>
                        <a:pt x="0" y="0"/>
                      </a:lnTo>
                      <a:lnTo>
                        <a:pt x="9" y="6"/>
                      </a:lnTo>
                      <a:lnTo>
                        <a:pt x="9" y="399"/>
                      </a:lnTo>
                      <a:lnTo>
                        <a:pt x="0" y="40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37" name="Freeform 4925"/>
                <p:cNvSpPr>
                  <a:spLocks noChangeAspect="1"/>
                </p:cNvSpPr>
                <p:nvPr/>
              </p:nvSpPr>
              <p:spPr bwMode="auto">
                <a:xfrm>
                  <a:off x="3606" y="3393"/>
                  <a:ext cx="3" cy="132"/>
                </a:xfrm>
                <a:custGeom>
                  <a:avLst/>
                  <a:gdLst>
                    <a:gd name="T0" fmla="*/ 0 w 9"/>
                    <a:gd name="T1" fmla="*/ 397 h 397"/>
                    <a:gd name="T2" fmla="*/ 0 w 9"/>
                    <a:gd name="T3" fmla="*/ 0 h 397"/>
                    <a:gd name="T4" fmla="*/ 9 w 9"/>
                    <a:gd name="T5" fmla="*/ 5 h 397"/>
                    <a:gd name="T6" fmla="*/ 9 w 9"/>
                    <a:gd name="T7" fmla="*/ 394 h 397"/>
                    <a:gd name="T8" fmla="*/ 0 w 9"/>
                    <a:gd name="T9" fmla="*/ 397 h 397"/>
                  </a:gdLst>
                  <a:ahLst/>
                  <a:cxnLst>
                    <a:cxn ang="0">
                      <a:pos x="T0" y="T1"/>
                    </a:cxn>
                    <a:cxn ang="0">
                      <a:pos x="T2" y="T3"/>
                    </a:cxn>
                    <a:cxn ang="0">
                      <a:pos x="T4" y="T5"/>
                    </a:cxn>
                    <a:cxn ang="0">
                      <a:pos x="T6" y="T7"/>
                    </a:cxn>
                    <a:cxn ang="0">
                      <a:pos x="T8" y="T9"/>
                    </a:cxn>
                  </a:cxnLst>
                  <a:rect l="0" t="0" r="r" b="b"/>
                  <a:pathLst>
                    <a:path w="9" h="397">
                      <a:moveTo>
                        <a:pt x="0" y="397"/>
                      </a:moveTo>
                      <a:lnTo>
                        <a:pt x="0" y="0"/>
                      </a:lnTo>
                      <a:lnTo>
                        <a:pt x="9" y="5"/>
                      </a:lnTo>
                      <a:lnTo>
                        <a:pt x="9" y="394"/>
                      </a:lnTo>
                      <a:lnTo>
                        <a:pt x="0" y="39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38" name="Freeform 4926"/>
                <p:cNvSpPr>
                  <a:spLocks noChangeAspect="1"/>
                </p:cNvSpPr>
                <p:nvPr/>
              </p:nvSpPr>
              <p:spPr bwMode="auto">
                <a:xfrm>
                  <a:off x="3608" y="3393"/>
                  <a:ext cx="3" cy="131"/>
                </a:xfrm>
                <a:custGeom>
                  <a:avLst/>
                  <a:gdLst>
                    <a:gd name="T0" fmla="*/ 0 w 9"/>
                    <a:gd name="T1" fmla="*/ 393 h 393"/>
                    <a:gd name="T2" fmla="*/ 0 w 9"/>
                    <a:gd name="T3" fmla="*/ 0 h 393"/>
                    <a:gd name="T4" fmla="*/ 9 w 9"/>
                    <a:gd name="T5" fmla="*/ 5 h 393"/>
                    <a:gd name="T6" fmla="*/ 9 w 9"/>
                    <a:gd name="T7" fmla="*/ 390 h 393"/>
                    <a:gd name="T8" fmla="*/ 0 w 9"/>
                    <a:gd name="T9" fmla="*/ 393 h 393"/>
                  </a:gdLst>
                  <a:ahLst/>
                  <a:cxnLst>
                    <a:cxn ang="0">
                      <a:pos x="T0" y="T1"/>
                    </a:cxn>
                    <a:cxn ang="0">
                      <a:pos x="T2" y="T3"/>
                    </a:cxn>
                    <a:cxn ang="0">
                      <a:pos x="T4" y="T5"/>
                    </a:cxn>
                    <a:cxn ang="0">
                      <a:pos x="T6" y="T7"/>
                    </a:cxn>
                    <a:cxn ang="0">
                      <a:pos x="T8" y="T9"/>
                    </a:cxn>
                  </a:cxnLst>
                  <a:rect l="0" t="0" r="r" b="b"/>
                  <a:pathLst>
                    <a:path w="9" h="393">
                      <a:moveTo>
                        <a:pt x="0" y="393"/>
                      </a:moveTo>
                      <a:lnTo>
                        <a:pt x="0" y="0"/>
                      </a:lnTo>
                      <a:lnTo>
                        <a:pt x="9" y="5"/>
                      </a:lnTo>
                      <a:lnTo>
                        <a:pt x="9" y="390"/>
                      </a:lnTo>
                      <a:lnTo>
                        <a:pt x="0" y="39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39" name="Freeform 4927"/>
                <p:cNvSpPr>
                  <a:spLocks noChangeAspect="1"/>
                </p:cNvSpPr>
                <p:nvPr/>
              </p:nvSpPr>
              <p:spPr bwMode="auto">
                <a:xfrm>
                  <a:off x="3609" y="3394"/>
                  <a:ext cx="3" cy="131"/>
                </a:xfrm>
                <a:custGeom>
                  <a:avLst/>
                  <a:gdLst>
                    <a:gd name="T0" fmla="*/ 0 w 9"/>
                    <a:gd name="T1" fmla="*/ 389 h 389"/>
                    <a:gd name="T2" fmla="*/ 0 w 9"/>
                    <a:gd name="T3" fmla="*/ 0 h 389"/>
                    <a:gd name="T4" fmla="*/ 9 w 9"/>
                    <a:gd name="T5" fmla="*/ 5 h 389"/>
                    <a:gd name="T6" fmla="*/ 9 w 9"/>
                    <a:gd name="T7" fmla="*/ 386 h 389"/>
                    <a:gd name="T8" fmla="*/ 0 w 9"/>
                    <a:gd name="T9" fmla="*/ 389 h 389"/>
                  </a:gdLst>
                  <a:ahLst/>
                  <a:cxnLst>
                    <a:cxn ang="0">
                      <a:pos x="T0" y="T1"/>
                    </a:cxn>
                    <a:cxn ang="0">
                      <a:pos x="T2" y="T3"/>
                    </a:cxn>
                    <a:cxn ang="0">
                      <a:pos x="T4" y="T5"/>
                    </a:cxn>
                    <a:cxn ang="0">
                      <a:pos x="T6" y="T7"/>
                    </a:cxn>
                    <a:cxn ang="0">
                      <a:pos x="T8" y="T9"/>
                    </a:cxn>
                  </a:cxnLst>
                  <a:rect l="0" t="0" r="r" b="b"/>
                  <a:pathLst>
                    <a:path w="9" h="389">
                      <a:moveTo>
                        <a:pt x="0" y="389"/>
                      </a:moveTo>
                      <a:lnTo>
                        <a:pt x="0" y="0"/>
                      </a:lnTo>
                      <a:lnTo>
                        <a:pt x="9" y="5"/>
                      </a:lnTo>
                      <a:lnTo>
                        <a:pt x="9" y="386"/>
                      </a:lnTo>
                      <a:lnTo>
                        <a:pt x="0" y="38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40" name="Freeform 4928"/>
                <p:cNvSpPr>
                  <a:spLocks noChangeAspect="1"/>
                </p:cNvSpPr>
                <p:nvPr/>
              </p:nvSpPr>
              <p:spPr bwMode="auto">
                <a:xfrm>
                  <a:off x="3611" y="3395"/>
                  <a:ext cx="3" cy="128"/>
                </a:xfrm>
                <a:custGeom>
                  <a:avLst/>
                  <a:gdLst>
                    <a:gd name="T0" fmla="*/ 0 w 10"/>
                    <a:gd name="T1" fmla="*/ 385 h 385"/>
                    <a:gd name="T2" fmla="*/ 0 w 10"/>
                    <a:gd name="T3" fmla="*/ 0 h 385"/>
                    <a:gd name="T4" fmla="*/ 10 w 10"/>
                    <a:gd name="T5" fmla="*/ 5 h 385"/>
                    <a:gd name="T6" fmla="*/ 10 w 10"/>
                    <a:gd name="T7" fmla="*/ 382 h 385"/>
                    <a:gd name="T8" fmla="*/ 0 w 10"/>
                    <a:gd name="T9" fmla="*/ 385 h 385"/>
                  </a:gdLst>
                  <a:ahLst/>
                  <a:cxnLst>
                    <a:cxn ang="0">
                      <a:pos x="T0" y="T1"/>
                    </a:cxn>
                    <a:cxn ang="0">
                      <a:pos x="T2" y="T3"/>
                    </a:cxn>
                    <a:cxn ang="0">
                      <a:pos x="T4" y="T5"/>
                    </a:cxn>
                    <a:cxn ang="0">
                      <a:pos x="T6" y="T7"/>
                    </a:cxn>
                    <a:cxn ang="0">
                      <a:pos x="T8" y="T9"/>
                    </a:cxn>
                  </a:cxnLst>
                  <a:rect l="0" t="0" r="r" b="b"/>
                  <a:pathLst>
                    <a:path w="10" h="385">
                      <a:moveTo>
                        <a:pt x="0" y="385"/>
                      </a:moveTo>
                      <a:lnTo>
                        <a:pt x="0" y="0"/>
                      </a:lnTo>
                      <a:lnTo>
                        <a:pt x="10" y="5"/>
                      </a:lnTo>
                      <a:lnTo>
                        <a:pt x="10" y="382"/>
                      </a:lnTo>
                      <a:lnTo>
                        <a:pt x="0" y="38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41" name="Freeform 4929"/>
                <p:cNvSpPr>
                  <a:spLocks noChangeAspect="1"/>
                </p:cNvSpPr>
                <p:nvPr/>
              </p:nvSpPr>
              <p:spPr bwMode="auto">
                <a:xfrm>
                  <a:off x="3612" y="3396"/>
                  <a:ext cx="3" cy="127"/>
                </a:xfrm>
                <a:custGeom>
                  <a:avLst/>
                  <a:gdLst>
                    <a:gd name="T0" fmla="*/ 0 w 9"/>
                    <a:gd name="T1" fmla="*/ 381 h 381"/>
                    <a:gd name="T2" fmla="*/ 0 w 9"/>
                    <a:gd name="T3" fmla="*/ 0 h 381"/>
                    <a:gd name="T4" fmla="*/ 9 w 9"/>
                    <a:gd name="T5" fmla="*/ 4 h 381"/>
                    <a:gd name="T6" fmla="*/ 9 w 9"/>
                    <a:gd name="T7" fmla="*/ 378 h 381"/>
                    <a:gd name="T8" fmla="*/ 0 w 9"/>
                    <a:gd name="T9" fmla="*/ 381 h 381"/>
                  </a:gdLst>
                  <a:ahLst/>
                  <a:cxnLst>
                    <a:cxn ang="0">
                      <a:pos x="T0" y="T1"/>
                    </a:cxn>
                    <a:cxn ang="0">
                      <a:pos x="T2" y="T3"/>
                    </a:cxn>
                    <a:cxn ang="0">
                      <a:pos x="T4" y="T5"/>
                    </a:cxn>
                    <a:cxn ang="0">
                      <a:pos x="T6" y="T7"/>
                    </a:cxn>
                    <a:cxn ang="0">
                      <a:pos x="T8" y="T9"/>
                    </a:cxn>
                  </a:cxnLst>
                  <a:rect l="0" t="0" r="r" b="b"/>
                  <a:pathLst>
                    <a:path w="9" h="381">
                      <a:moveTo>
                        <a:pt x="0" y="381"/>
                      </a:moveTo>
                      <a:lnTo>
                        <a:pt x="0" y="0"/>
                      </a:lnTo>
                      <a:lnTo>
                        <a:pt x="9" y="4"/>
                      </a:lnTo>
                      <a:lnTo>
                        <a:pt x="9" y="378"/>
                      </a:lnTo>
                      <a:lnTo>
                        <a:pt x="0" y="38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42" name="Freeform 4930"/>
                <p:cNvSpPr>
                  <a:spLocks noChangeAspect="1"/>
                </p:cNvSpPr>
                <p:nvPr/>
              </p:nvSpPr>
              <p:spPr bwMode="auto">
                <a:xfrm>
                  <a:off x="3614" y="3397"/>
                  <a:ext cx="3" cy="125"/>
                </a:xfrm>
                <a:custGeom>
                  <a:avLst/>
                  <a:gdLst>
                    <a:gd name="T0" fmla="*/ 0 w 9"/>
                    <a:gd name="T1" fmla="*/ 377 h 377"/>
                    <a:gd name="T2" fmla="*/ 0 w 9"/>
                    <a:gd name="T3" fmla="*/ 0 h 377"/>
                    <a:gd name="T4" fmla="*/ 9 w 9"/>
                    <a:gd name="T5" fmla="*/ 6 h 377"/>
                    <a:gd name="T6" fmla="*/ 9 w 9"/>
                    <a:gd name="T7" fmla="*/ 375 h 377"/>
                    <a:gd name="T8" fmla="*/ 0 w 9"/>
                    <a:gd name="T9" fmla="*/ 377 h 377"/>
                  </a:gdLst>
                  <a:ahLst/>
                  <a:cxnLst>
                    <a:cxn ang="0">
                      <a:pos x="T0" y="T1"/>
                    </a:cxn>
                    <a:cxn ang="0">
                      <a:pos x="T2" y="T3"/>
                    </a:cxn>
                    <a:cxn ang="0">
                      <a:pos x="T4" y="T5"/>
                    </a:cxn>
                    <a:cxn ang="0">
                      <a:pos x="T6" y="T7"/>
                    </a:cxn>
                    <a:cxn ang="0">
                      <a:pos x="T8" y="T9"/>
                    </a:cxn>
                  </a:cxnLst>
                  <a:rect l="0" t="0" r="r" b="b"/>
                  <a:pathLst>
                    <a:path w="9" h="377">
                      <a:moveTo>
                        <a:pt x="0" y="377"/>
                      </a:moveTo>
                      <a:lnTo>
                        <a:pt x="0" y="0"/>
                      </a:lnTo>
                      <a:lnTo>
                        <a:pt x="9" y="6"/>
                      </a:lnTo>
                      <a:lnTo>
                        <a:pt x="9" y="375"/>
                      </a:lnTo>
                      <a:lnTo>
                        <a:pt x="0" y="37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43" name="Freeform 4931"/>
                <p:cNvSpPr>
                  <a:spLocks noChangeAspect="1"/>
                </p:cNvSpPr>
                <p:nvPr/>
              </p:nvSpPr>
              <p:spPr bwMode="auto">
                <a:xfrm>
                  <a:off x="3615" y="3397"/>
                  <a:ext cx="3" cy="125"/>
                </a:xfrm>
                <a:custGeom>
                  <a:avLst/>
                  <a:gdLst>
                    <a:gd name="T0" fmla="*/ 0 w 9"/>
                    <a:gd name="T1" fmla="*/ 374 h 374"/>
                    <a:gd name="T2" fmla="*/ 0 w 9"/>
                    <a:gd name="T3" fmla="*/ 0 h 374"/>
                    <a:gd name="T4" fmla="*/ 9 w 9"/>
                    <a:gd name="T5" fmla="*/ 6 h 374"/>
                    <a:gd name="T6" fmla="*/ 9 w 9"/>
                    <a:gd name="T7" fmla="*/ 370 h 374"/>
                    <a:gd name="T8" fmla="*/ 0 w 9"/>
                    <a:gd name="T9" fmla="*/ 374 h 374"/>
                  </a:gdLst>
                  <a:ahLst/>
                  <a:cxnLst>
                    <a:cxn ang="0">
                      <a:pos x="T0" y="T1"/>
                    </a:cxn>
                    <a:cxn ang="0">
                      <a:pos x="T2" y="T3"/>
                    </a:cxn>
                    <a:cxn ang="0">
                      <a:pos x="T4" y="T5"/>
                    </a:cxn>
                    <a:cxn ang="0">
                      <a:pos x="T6" y="T7"/>
                    </a:cxn>
                    <a:cxn ang="0">
                      <a:pos x="T8" y="T9"/>
                    </a:cxn>
                  </a:cxnLst>
                  <a:rect l="0" t="0" r="r" b="b"/>
                  <a:pathLst>
                    <a:path w="9" h="374">
                      <a:moveTo>
                        <a:pt x="0" y="374"/>
                      </a:moveTo>
                      <a:lnTo>
                        <a:pt x="0" y="0"/>
                      </a:lnTo>
                      <a:lnTo>
                        <a:pt x="9" y="6"/>
                      </a:lnTo>
                      <a:lnTo>
                        <a:pt x="9" y="370"/>
                      </a:lnTo>
                      <a:lnTo>
                        <a:pt x="0" y="37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44" name="Freeform 4932"/>
                <p:cNvSpPr>
                  <a:spLocks noChangeAspect="1"/>
                </p:cNvSpPr>
                <p:nvPr/>
              </p:nvSpPr>
              <p:spPr bwMode="auto">
                <a:xfrm>
                  <a:off x="3617" y="3399"/>
                  <a:ext cx="1" cy="123"/>
                </a:xfrm>
                <a:custGeom>
                  <a:avLst/>
                  <a:gdLst>
                    <a:gd name="T0" fmla="*/ 0 w 4"/>
                    <a:gd name="T1" fmla="*/ 369 h 369"/>
                    <a:gd name="T2" fmla="*/ 0 w 4"/>
                    <a:gd name="T3" fmla="*/ 0 h 369"/>
                    <a:gd name="T4" fmla="*/ 4 w 4"/>
                    <a:gd name="T5" fmla="*/ 2 h 369"/>
                    <a:gd name="T6" fmla="*/ 4 w 4"/>
                    <a:gd name="T7" fmla="*/ 366 h 369"/>
                    <a:gd name="T8" fmla="*/ 0 w 4"/>
                    <a:gd name="T9" fmla="*/ 369 h 369"/>
                  </a:gdLst>
                  <a:ahLst/>
                  <a:cxnLst>
                    <a:cxn ang="0">
                      <a:pos x="T0" y="T1"/>
                    </a:cxn>
                    <a:cxn ang="0">
                      <a:pos x="T2" y="T3"/>
                    </a:cxn>
                    <a:cxn ang="0">
                      <a:pos x="T4" y="T5"/>
                    </a:cxn>
                    <a:cxn ang="0">
                      <a:pos x="T6" y="T7"/>
                    </a:cxn>
                    <a:cxn ang="0">
                      <a:pos x="T8" y="T9"/>
                    </a:cxn>
                  </a:cxnLst>
                  <a:rect l="0" t="0" r="r" b="b"/>
                  <a:pathLst>
                    <a:path w="4" h="369">
                      <a:moveTo>
                        <a:pt x="0" y="369"/>
                      </a:moveTo>
                      <a:lnTo>
                        <a:pt x="0" y="0"/>
                      </a:lnTo>
                      <a:lnTo>
                        <a:pt x="4" y="2"/>
                      </a:lnTo>
                      <a:lnTo>
                        <a:pt x="4" y="366"/>
                      </a:lnTo>
                      <a:lnTo>
                        <a:pt x="0" y="36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45" name="Freeform 4933"/>
                <p:cNvSpPr>
                  <a:spLocks noChangeAspect="1"/>
                </p:cNvSpPr>
                <p:nvPr/>
              </p:nvSpPr>
              <p:spPr bwMode="auto">
                <a:xfrm>
                  <a:off x="3543" y="3359"/>
                  <a:ext cx="75" cy="188"/>
                </a:xfrm>
                <a:custGeom>
                  <a:avLst/>
                  <a:gdLst>
                    <a:gd name="T0" fmla="*/ 12 w 227"/>
                    <a:gd name="T1" fmla="*/ 0 h 564"/>
                    <a:gd name="T2" fmla="*/ 131 w 227"/>
                    <a:gd name="T3" fmla="*/ 149 h 564"/>
                    <a:gd name="T4" fmla="*/ 131 w 227"/>
                    <a:gd name="T5" fmla="*/ 483 h 564"/>
                    <a:gd name="T6" fmla="*/ 0 w 227"/>
                    <a:gd name="T7" fmla="*/ 564 h 564"/>
                    <a:gd name="T8" fmla="*/ 227 w 227"/>
                    <a:gd name="T9" fmla="*/ 486 h 564"/>
                    <a:gd name="T10" fmla="*/ 227 w 227"/>
                    <a:gd name="T11" fmla="*/ 122 h 564"/>
                    <a:gd name="T12" fmla="*/ 12 w 227"/>
                    <a:gd name="T13" fmla="*/ 0 h 564"/>
                  </a:gdLst>
                  <a:ahLst/>
                  <a:cxnLst>
                    <a:cxn ang="0">
                      <a:pos x="T0" y="T1"/>
                    </a:cxn>
                    <a:cxn ang="0">
                      <a:pos x="T2" y="T3"/>
                    </a:cxn>
                    <a:cxn ang="0">
                      <a:pos x="T4" y="T5"/>
                    </a:cxn>
                    <a:cxn ang="0">
                      <a:pos x="T6" y="T7"/>
                    </a:cxn>
                    <a:cxn ang="0">
                      <a:pos x="T8" y="T9"/>
                    </a:cxn>
                    <a:cxn ang="0">
                      <a:pos x="T10" y="T11"/>
                    </a:cxn>
                    <a:cxn ang="0">
                      <a:pos x="T12" y="T13"/>
                    </a:cxn>
                  </a:cxnLst>
                  <a:rect l="0" t="0" r="r" b="b"/>
                  <a:pathLst>
                    <a:path w="227" h="564">
                      <a:moveTo>
                        <a:pt x="12" y="0"/>
                      </a:moveTo>
                      <a:lnTo>
                        <a:pt x="131" y="149"/>
                      </a:lnTo>
                      <a:lnTo>
                        <a:pt x="131" y="483"/>
                      </a:lnTo>
                      <a:lnTo>
                        <a:pt x="0" y="564"/>
                      </a:lnTo>
                      <a:lnTo>
                        <a:pt x="227" y="486"/>
                      </a:lnTo>
                      <a:lnTo>
                        <a:pt x="227" y="122"/>
                      </a:lnTo>
                      <a:lnTo>
                        <a:pt x="12" y="0"/>
                      </a:lnTo>
                    </a:path>
                  </a:pathLst>
                </a:custGeom>
                <a:gradFill rotWithShape="0">
                  <a:gsLst>
                    <a:gs pos="0">
                      <a:schemeClr val="hlink"/>
                    </a:gs>
                    <a:gs pos="100000">
                      <a:schemeClr val="hlink">
                        <a:gamma/>
                        <a:tint val="40000"/>
                        <a:invGamma/>
                      </a:schemeClr>
                    </a:gs>
                  </a:gsLst>
                  <a:lin ang="0" scaled="1"/>
                </a:gradFill>
                <a:ln w="1588">
                  <a:solidFill>
                    <a:srgbClr val="1F1A17"/>
                  </a:solidFill>
                  <a:prstDash val="solid"/>
                  <a:round/>
                  <a:headEnd/>
                  <a:tailEnd/>
                </a:ln>
              </p:spPr>
              <p:txBody>
                <a:bodyPr/>
                <a:lstStyle/>
                <a:p>
                  <a:pPr>
                    <a:defRPr/>
                  </a:pPr>
                  <a:endParaRPr lang="en-US"/>
                </a:p>
              </p:txBody>
            </p:sp>
            <p:sp>
              <p:nvSpPr>
                <p:cNvPr id="69446" name="Freeform 4934"/>
                <p:cNvSpPr>
                  <a:spLocks noChangeAspect="1" noEditPoints="1"/>
                </p:cNvSpPr>
                <p:nvPr/>
              </p:nvSpPr>
              <p:spPr bwMode="auto">
                <a:xfrm>
                  <a:off x="3498" y="3526"/>
                  <a:ext cx="49" cy="49"/>
                </a:xfrm>
                <a:custGeom>
                  <a:avLst/>
                  <a:gdLst>
                    <a:gd name="T0" fmla="*/ 87 w 145"/>
                    <a:gd name="T1" fmla="*/ 2 h 145"/>
                    <a:gd name="T2" fmla="*/ 108 w 145"/>
                    <a:gd name="T3" fmla="*/ 9 h 145"/>
                    <a:gd name="T4" fmla="*/ 124 w 145"/>
                    <a:gd name="T5" fmla="*/ 22 h 145"/>
                    <a:gd name="T6" fmla="*/ 136 w 145"/>
                    <a:gd name="T7" fmla="*/ 38 h 145"/>
                    <a:gd name="T8" fmla="*/ 144 w 145"/>
                    <a:gd name="T9" fmla="*/ 58 h 145"/>
                    <a:gd name="T10" fmla="*/ 145 w 145"/>
                    <a:gd name="T11" fmla="*/ 80 h 145"/>
                    <a:gd name="T12" fmla="*/ 139 w 145"/>
                    <a:gd name="T13" fmla="*/ 100 h 145"/>
                    <a:gd name="T14" fmla="*/ 129 w 145"/>
                    <a:gd name="T15" fmla="*/ 118 h 145"/>
                    <a:gd name="T16" fmla="*/ 113 w 145"/>
                    <a:gd name="T17" fmla="*/ 132 h 145"/>
                    <a:gd name="T18" fmla="*/ 94 w 145"/>
                    <a:gd name="T19" fmla="*/ 142 h 145"/>
                    <a:gd name="T20" fmla="*/ 72 w 145"/>
                    <a:gd name="T21" fmla="*/ 145 h 145"/>
                    <a:gd name="T22" fmla="*/ 51 w 145"/>
                    <a:gd name="T23" fmla="*/ 142 h 145"/>
                    <a:gd name="T24" fmla="*/ 32 w 145"/>
                    <a:gd name="T25" fmla="*/ 132 h 145"/>
                    <a:gd name="T26" fmla="*/ 17 w 145"/>
                    <a:gd name="T27" fmla="*/ 118 h 145"/>
                    <a:gd name="T28" fmla="*/ 5 w 145"/>
                    <a:gd name="T29" fmla="*/ 100 h 145"/>
                    <a:gd name="T30" fmla="*/ 0 w 145"/>
                    <a:gd name="T31" fmla="*/ 80 h 145"/>
                    <a:gd name="T32" fmla="*/ 1 w 145"/>
                    <a:gd name="T33" fmla="*/ 58 h 145"/>
                    <a:gd name="T34" fmla="*/ 9 w 145"/>
                    <a:gd name="T35" fmla="*/ 38 h 145"/>
                    <a:gd name="T36" fmla="*/ 21 w 145"/>
                    <a:gd name="T37" fmla="*/ 22 h 145"/>
                    <a:gd name="T38" fmla="*/ 38 w 145"/>
                    <a:gd name="T39" fmla="*/ 9 h 145"/>
                    <a:gd name="T40" fmla="*/ 58 w 145"/>
                    <a:gd name="T41" fmla="*/ 2 h 145"/>
                    <a:gd name="T42" fmla="*/ 145 w 145"/>
                    <a:gd name="T43" fmla="*/ 73 h 145"/>
                    <a:gd name="T44" fmla="*/ 142 w 145"/>
                    <a:gd name="T45" fmla="*/ 94 h 145"/>
                    <a:gd name="T46" fmla="*/ 132 w 145"/>
                    <a:gd name="T47" fmla="*/ 113 h 145"/>
                    <a:gd name="T48" fmla="*/ 118 w 145"/>
                    <a:gd name="T49" fmla="*/ 128 h 145"/>
                    <a:gd name="T50" fmla="*/ 100 w 145"/>
                    <a:gd name="T51" fmla="*/ 139 h 145"/>
                    <a:gd name="T52" fmla="*/ 80 w 145"/>
                    <a:gd name="T53" fmla="*/ 144 h 145"/>
                    <a:gd name="T54" fmla="*/ 59 w 145"/>
                    <a:gd name="T55" fmla="*/ 143 h 145"/>
                    <a:gd name="T56" fmla="*/ 38 w 145"/>
                    <a:gd name="T57" fmla="*/ 135 h 145"/>
                    <a:gd name="T58" fmla="*/ 21 w 145"/>
                    <a:gd name="T59" fmla="*/ 124 h 145"/>
                    <a:gd name="T60" fmla="*/ 10 w 145"/>
                    <a:gd name="T61" fmla="*/ 107 h 145"/>
                    <a:gd name="T62" fmla="*/ 2 w 145"/>
                    <a:gd name="T63" fmla="*/ 88 h 145"/>
                    <a:gd name="T64" fmla="*/ 1 w 145"/>
                    <a:gd name="T65" fmla="*/ 65 h 145"/>
                    <a:gd name="T66" fmla="*/ 6 w 145"/>
                    <a:gd name="T67" fmla="*/ 45 h 145"/>
                    <a:gd name="T68" fmla="*/ 17 w 145"/>
                    <a:gd name="T69" fmla="*/ 27 h 145"/>
                    <a:gd name="T70" fmla="*/ 32 w 145"/>
                    <a:gd name="T71" fmla="*/ 13 h 145"/>
                    <a:gd name="T72" fmla="*/ 51 w 145"/>
                    <a:gd name="T73" fmla="*/ 4 h 145"/>
                    <a:gd name="T74" fmla="*/ 72 w 145"/>
                    <a:gd name="T75" fmla="*/ 0 h 145"/>
                    <a:gd name="T76" fmla="*/ 94 w 145"/>
                    <a:gd name="T77" fmla="*/ 4 h 145"/>
                    <a:gd name="T78" fmla="*/ 113 w 145"/>
                    <a:gd name="T79" fmla="*/ 13 h 145"/>
                    <a:gd name="T80" fmla="*/ 128 w 145"/>
                    <a:gd name="T81" fmla="*/ 27 h 145"/>
                    <a:gd name="T82" fmla="*/ 138 w 145"/>
                    <a:gd name="T83" fmla="*/ 45 h 145"/>
                    <a:gd name="T84" fmla="*/ 144 w 145"/>
                    <a:gd name="T85" fmla="*/ 6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5" h="145">
                      <a:moveTo>
                        <a:pt x="72" y="0"/>
                      </a:moveTo>
                      <a:lnTo>
                        <a:pt x="80" y="0"/>
                      </a:lnTo>
                      <a:lnTo>
                        <a:pt x="87" y="2"/>
                      </a:lnTo>
                      <a:lnTo>
                        <a:pt x="94" y="4"/>
                      </a:lnTo>
                      <a:lnTo>
                        <a:pt x="101" y="6"/>
                      </a:lnTo>
                      <a:lnTo>
                        <a:pt x="108" y="9"/>
                      </a:lnTo>
                      <a:lnTo>
                        <a:pt x="113" y="12"/>
                      </a:lnTo>
                      <a:lnTo>
                        <a:pt x="119" y="16"/>
                      </a:lnTo>
                      <a:lnTo>
                        <a:pt x="124" y="22"/>
                      </a:lnTo>
                      <a:lnTo>
                        <a:pt x="129" y="27"/>
                      </a:lnTo>
                      <a:lnTo>
                        <a:pt x="133" y="32"/>
                      </a:lnTo>
                      <a:lnTo>
                        <a:pt x="136" y="38"/>
                      </a:lnTo>
                      <a:lnTo>
                        <a:pt x="139" y="44"/>
                      </a:lnTo>
                      <a:lnTo>
                        <a:pt x="142" y="51"/>
                      </a:lnTo>
                      <a:lnTo>
                        <a:pt x="144" y="58"/>
                      </a:lnTo>
                      <a:lnTo>
                        <a:pt x="145" y="65"/>
                      </a:lnTo>
                      <a:lnTo>
                        <a:pt x="145" y="73"/>
                      </a:lnTo>
                      <a:lnTo>
                        <a:pt x="145" y="80"/>
                      </a:lnTo>
                      <a:lnTo>
                        <a:pt x="144" y="88"/>
                      </a:lnTo>
                      <a:lnTo>
                        <a:pt x="142" y="94"/>
                      </a:lnTo>
                      <a:lnTo>
                        <a:pt x="139" y="100"/>
                      </a:lnTo>
                      <a:lnTo>
                        <a:pt x="136" y="107"/>
                      </a:lnTo>
                      <a:lnTo>
                        <a:pt x="133" y="113"/>
                      </a:lnTo>
                      <a:lnTo>
                        <a:pt x="129" y="118"/>
                      </a:lnTo>
                      <a:lnTo>
                        <a:pt x="124" y="124"/>
                      </a:lnTo>
                      <a:lnTo>
                        <a:pt x="119" y="129"/>
                      </a:lnTo>
                      <a:lnTo>
                        <a:pt x="113" y="132"/>
                      </a:lnTo>
                      <a:lnTo>
                        <a:pt x="108" y="137"/>
                      </a:lnTo>
                      <a:lnTo>
                        <a:pt x="101" y="140"/>
                      </a:lnTo>
                      <a:lnTo>
                        <a:pt x="94" y="142"/>
                      </a:lnTo>
                      <a:lnTo>
                        <a:pt x="87" y="144"/>
                      </a:lnTo>
                      <a:lnTo>
                        <a:pt x="80" y="145"/>
                      </a:lnTo>
                      <a:lnTo>
                        <a:pt x="72" y="145"/>
                      </a:lnTo>
                      <a:lnTo>
                        <a:pt x="65" y="145"/>
                      </a:lnTo>
                      <a:lnTo>
                        <a:pt x="58" y="144"/>
                      </a:lnTo>
                      <a:lnTo>
                        <a:pt x="51" y="142"/>
                      </a:lnTo>
                      <a:lnTo>
                        <a:pt x="45" y="140"/>
                      </a:lnTo>
                      <a:lnTo>
                        <a:pt x="38" y="137"/>
                      </a:lnTo>
                      <a:lnTo>
                        <a:pt x="32" y="132"/>
                      </a:lnTo>
                      <a:lnTo>
                        <a:pt x="27" y="129"/>
                      </a:lnTo>
                      <a:lnTo>
                        <a:pt x="21" y="124"/>
                      </a:lnTo>
                      <a:lnTo>
                        <a:pt x="17" y="118"/>
                      </a:lnTo>
                      <a:lnTo>
                        <a:pt x="13" y="113"/>
                      </a:lnTo>
                      <a:lnTo>
                        <a:pt x="9" y="107"/>
                      </a:lnTo>
                      <a:lnTo>
                        <a:pt x="5" y="100"/>
                      </a:lnTo>
                      <a:lnTo>
                        <a:pt x="3" y="94"/>
                      </a:lnTo>
                      <a:lnTo>
                        <a:pt x="1" y="88"/>
                      </a:lnTo>
                      <a:lnTo>
                        <a:pt x="0" y="80"/>
                      </a:lnTo>
                      <a:lnTo>
                        <a:pt x="0" y="73"/>
                      </a:lnTo>
                      <a:lnTo>
                        <a:pt x="0" y="65"/>
                      </a:lnTo>
                      <a:lnTo>
                        <a:pt x="1" y="58"/>
                      </a:lnTo>
                      <a:lnTo>
                        <a:pt x="3" y="51"/>
                      </a:lnTo>
                      <a:lnTo>
                        <a:pt x="5" y="44"/>
                      </a:lnTo>
                      <a:lnTo>
                        <a:pt x="9" y="38"/>
                      </a:lnTo>
                      <a:lnTo>
                        <a:pt x="13" y="32"/>
                      </a:lnTo>
                      <a:lnTo>
                        <a:pt x="17" y="27"/>
                      </a:lnTo>
                      <a:lnTo>
                        <a:pt x="21" y="22"/>
                      </a:lnTo>
                      <a:lnTo>
                        <a:pt x="27" y="16"/>
                      </a:lnTo>
                      <a:lnTo>
                        <a:pt x="32" y="12"/>
                      </a:lnTo>
                      <a:lnTo>
                        <a:pt x="38" y="9"/>
                      </a:lnTo>
                      <a:lnTo>
                        <a:pt x="45" y="6"/>
                      </a:lnTo>
                      <a:lnTo>
                        <a:pt x="51" y="4"/>
                      </a:lnTo>
                      <a:lnTo>
                        <a:pt x="58" y="2"/>
                      </a:lnTo>
                      <a:lnTo>
                        <a:pt x="65" y="0"/>
                      </a:lnTo>
                      <a:lnTo>
                        <a:pt x="72" y="0"/>
                      </a:lnTo>
                      <a:close/>
                      <a:moveTo>
                        <a:pt x="145" y="73"/>
                      </a:moveTo>
                      <a:lnTo>
                        <a:pt x="144" y="80"/>
                      </a:lnTo>
                      <a:lnTo>
                        <a:pt x="143" y="88"/>
                      </a:lnTo>
                      <a:lnTo>
                        <a:pt x="142" y="94"/>
                      </a:lnTo>
                      <a:lnTo>
                        <a:pt x="138" y="100"/>
                      </a:lnTo>
                      <a:lnTo>
                        <a:pt x="136" y="107"/>
                      </a:lnTo>
                      <a:lnTo>
                        <a:pt x="132" y="113"/>
                      </a:lnTo>
                      <a:lnTo>
                        <a:pt x="128" y="118"/>
                      </a:lnTo>
                      <a:lnTo>
                        <a:pt x="124" y="124"/>
                      </a:lnTo>
                      <a:lnTo>
                        <a:pt x="118" y="128"/>
                      </a:lnTo>
                      <a:lnTo>
                        <a:pt x="113" y="132"/>
                      </a:lnTo>
                      <a:lnTo>
                        <a:pt x="107" y="135"/>
                      </a:lnTo>
                      <a:lnTo>
                        <a:pt x="100" y="139"/>
                      </a:lnTo>
                      <a:lnTo>
                        <a:pt x="94" y="141"/>
                      </a:lnTo>
                      <a:lnTo>
                        <a:pt x="87" y="143"/>
                      </a:lnTo>
                      <a:lnTo>
                        <a:pt x="80" y="144"/>
                      </a:lnTo>
                      <a:lnTo>
                        <a:pt x="72" y="144"/>
                      </a:lnTo>
                      <a:lnTo>
                        <a:pt x="65" y="144"/>
                      </a:lnTo>
                      <a:lnTo>
                        <a:pt x="59" y="143"/>
                      </a:lnTo>
                      <a:lnTo>
                        <a:pt x="51" y="141"/>
                      </a:lnTo>
                      <a:lnTo>
                        <a:pt x="45" y="139"/>
                      </a:lnTo>
                      <a:lnTo>
                        <a:pt x="38" y="135"/>
                      </a:lnTo>
                      <a:lnTo>
                        <a:pt x="32" y="132"/>
                      </a:lnTo>
                      <a:lnTo>
                        <a:pt x="27" y="128"/>
                      </a:lnTo>
                      <a:lnTo>
                        <a:pt x="21" y="124"/>
                      </a:lnTo>
                      <a:lnTo>
                        <a:pt x="17" y="118"/>
                      </a:lnTo>
                      <a:lnTo>
                        <a:pt x="13" y="113"/>
                      </a:lnTo>
                      <a:lnTo>
                        <a:pt x="10" y="107"/>
                      </a:lnTo>
                      <a:lnTo>
                        <a:pt x="6" y="100"/>
                      </a:lnTo>
                      <a:lnTo>
                        <a:pt x="4" y="94"/>
                      </a:lnTo>
                      <a:lnTo>
                        <a:pt x="2" y="88"/>
                      </a:lnTo>
                      <a:lnTo>
                        <a:pt x="1" y="80"/>
                      </a:lnTo>
                      <a:lnTo>
                        <a:pt x="1" y="73"/>
                      </a:lnTo>
                      <a:lnTo>
                        <a:pt x="1" y="65"/>
                      </a:lnTo>
                      <a:lnTo>
                        <a:pt x="2" y="58"/>
                      </a:lnTo>
                      <a:lnTo>
                        <a:pt x="4" y="51"/>
                      </a:lnTo>
                      <a:lnTo>
                        <a:pt x="6" y="45"/>
                      </a:lnTo>
                      <a:lnTo>
                        <a:pt x="10" y="39"/>
                      </a:lnTo>
                      <a:lnTo>
                        <a:pt x="13" y="32"/>
                      </a:lnTo>
                      <a:lnTo>
                        <a:pt x="17" y="27"/>
                      </a:lnTo>
                      <a:lnTo>
                        <a:pt x="21" y="22"/>
                      </a:lnTo>
                      <a:lnTo>
                        <a:pt x="27" y="17"/>
                      </a:lnTo>
                      <a:lnTo>
                        <a:pt x="32" y="13"/>
                      </a:lnTo>
                      <a:lnTo>
                        <a:pt x="38" y="10"/>
                      </a:lnTo>
                      <a:lnTo>
                        <a:pt x="45" y="7"/>
                      </a:lnTo>
                      <a:lnTo>
                        <a:pt x="51" y="4"/>
                      </a:lnTo>
                      <a:lnTo>
                        <a:pt x="59" y="3"/>
                      </a:lnTo>
                      <a:lnTo>
                        <a:pt x="65" y="2"/>
                      </a:lnTo>
                      <a:lnTo>
                        <a:pt x="72" y="0"/>
                      </a:lnTo>
                      <a:lnTo>
                        <a:pt x="80" y="2"/>
                      </a:lnTo>
                      <a:lnTo>
                        <a:pt x="87" y="3"/>
                      </a:lnTo>
                      <a:lnTo>
                        <a:pt x="94" y="4"/>
                      </a:lnTo>
                      <a:lnTo>
                        <a:pt x="100" y="7"/>
                      </a:lnTo>
                      <a:lnTo>
                        <a:pt x="107" y="10"/>
                      </a:lnTo>
                      <a:lnTo>
                        <a:pt x="113" y="13"/>
                      </a:lnTo>
                      <a:lnTo>
                        <a:pt x="118" y="17"/>
                      </a:lnTo>
                      <a:lnTo>
                        <a:pt x="124" y="22"/>
                      </a:lnTo>
                      <a:lnTo>
                        <a:pt x="128" y="27"/>
                      </a:lnTo>
                      <a:lnTo>
                        <a:pt x="132" y="32"/>
                      </a:lnTo>
                      <a:lnTo>
                        <a:pt x="136" y="39"/>
                      </a:lnTo>
                      <a:lnTo>
                        <a:pt x="138" y="45"/>
                      </a:lnTo>
                      <a:lnTo>
                        <a:pt x="142" y="51"/>
                      </a:lnTo>
                      <a:lnTo>
                        <a:pt x="143" y="58"/>
                      </a:lnTo>
                      <a:lnTo>
                        <a:pt x="144" y="65"/>
                      </a:lnTo>
                      <a:lnTo>
                        <a:pt x="145" y="7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47" name="Freeform 4935"/>
                <p:cNvSpPr>
                  <a:spLocks noChangeAspect="1" noEditPoints="1"/>
                </p:cNvSpPr>
                <p:nvPr/>
              </p:nvSpPr>
              <p:spPr bwMode="auto">
                <a:xfrm>
                  <a:off x="3498" y="3526"/>
                  <a:ext cx="49" cy="49"/>
                </a:xfrm>
                <a:custGeom>
                  <a:avLst/>
                  <a:gdLst>
                    <a:gd name="T0" fmla="*/ 87 w 145"/>
                    <a:gd name="T1" fmla="*/ 2 h 145"/>
                    <a:gd name="T2" fmla="*/ 108 w 145"/>
                    <a:gd name="T3" fmla="*/ 9 h 145"/>
                    <a:gd name="T4" fmla="*/ 124 w 145"/>
                    <a:gd name="T5" fmla="*/ 22 h 145"/>
                    <a:gd name="T6" fmla="*/ 136 w 145"/>
                    <a:gd name="T7" fmla="*/ 38 h 145"/>
                    <a:gd name="T8" fmla="*/ 144 w 145"/>
                    <a:gd name="T9" fmla="*/ 58 h 145"/>
                    <a:gd name="T10" fmla="*/ 145 w 145"/>
                    <a:gd name="T11" fmla="*/ 80 h 145"/>
                    <a:gd name="T12" fmla="*/ 139 w 145"/>
                    <a:gd name="T13" fmla="*/ 100 h 145"/>
                    <a:gd name="T14" fmla="*/ 129 w 145"/>
                    <a:gd name="T15" fmla="*/ 118 h 145"/>
                    <a:gd name="T16" fmla="*/ 113 w 145"/>
                    <a:gd name="T17" fmla="*/ 132 h 145"/>
                    <a:gd name="T18" fmla="*/ 94 w 145"/>
                    <a:gd name="T19" fmla="*/ 142 h 145"/>
                    <a:gd name="T20" fmla="*/ 72 w 145"/>
                    <a:gd name="T21" fmla="*/ 145 h 145"/>
                    <a:gd name="T22" fmla="*/ 51 w 145"/>
                    <a:gd name="T23" fmla="*/ 142 h 145"/>
                    <a:gd name="T24" fmla="*/ 32 w 145"/>
                    <a:gd name="T25" fmla="*/ 132 h 145"/>
                    <a:gd name="T26" fmla="*/ 17 w 145"/>
                    <a:gd name="T27" fmla="*/ 118 h 145"/>
                    <a:gd name="T28" fmla="*/ 5 w 145"/>
                    <a:gd name="T29" fmla="*/ 100 h 145"/>
                    <a:gd name="T30" fmla="*/ 0 w 145"/>
                    <a:gd name="T31" fmla="*/ 80 h 145"/>
                    <a:gd name="T32" fmla="*/ 1 w 145"/>
                    <a:gd name="T33" fmla="*/ 58 h 145"/>
                    <a:gd name="T34" fmla="*/ 9 w 145"/>
                    <a:gd name="T35" fmla="*/ 38 h 145"/>
                    <a:gd name="T36" fmla="*/ 21 w 145"/>
                    <a:gd name="T37" fmla="*/ 22 h 145"/>
                    <a:gd name="T38" fmla="*/ 38 w 145"/>
                    <a:gd name="T39" fmla="*/ 9 h 145"/>
                    <a:gd name="T40" fmla="*/ 58 w 145"/>
                    <a:gd name="T41" fmla="*/ 2 h 145"/>
                    <a:gd name="T42" fmla="*/ 143 w 145"/>
                    <a:gd name="T43" fmla="*/ 73 h 145"/>
                    <a:gd name="T44" fmla="*/ 139 w 145"/>
                    <a:gd name="T45" fmla="*/ 93 h 145"/>
                    <a:gd name="T46" fmla="*/ 131 w 145"/>
                    <a:gd name="T47" fmla="*/ 112 h 145"/>
                    <a:gd name="T48" fmla="*/ 117 w 145"/>
                    <a:gd name="T49" fmla="*/ 127 h 145"/>
                    <a:gd name="T50" fmla="*/ 100 w 145"/>
                    <a:gd name="T51" fmla="*/ 137 h 145"/>
                    <a:gd name="T52" fmla="*/ 80 w 145"/>
                    <a:gd name="T53" fmla="*/ 142 h 145"/>
                    <a:gd name="T54" fmla="*/ 59 w 145"/>
                    <a:gd name="T55" fmla="*/ 141 h 145"/>
                    <a:gd name="T56" fmla="*/ 39 w 145"/>
                    <a:gd name="T57" fmla="*/ 134 h 145"/>
                    <a:gd name="T58" fmla="*/ 23 w 145"/>
                    <a:gd name="T59" fmla="*/ 122 h 145"/>
                    <a:gd name="T60" fmla="*/ 12 w 145"/>
                    <a:gd name="T61" fmla="*/ 106 h 145"/>
                    <a:gd name="T62" fmla="*/ 4 w 145"/>
                    <a:gd name="T63" fmla="*/ 87 h 145"/>
                    <a:gd name="T64" fmla="*/ 3 w 145"/>
                    <a:gd name="T65" fmla="*/ 65 h 145"/>
                    <a:gd name="T66" fmla="*/ 9 w 145"/>
                    <a:gd name="T67" fmla="*/ 45 h 145"/>
                    <a:gd name="T68" fmla="*/ 19 w 145"/>
                    <a:gd name="T69" fmla="*/ 28 h 145"/>
                    <a:gd name="T70" fmla="*/ 34 w 145"/>
                    <a:gd name="T71" fmla="*/ 15 h 145"/>
                    <a:gd name="T72" fmla="*/ 52 w 145"/>
                    <a:gd name="T73" fmla="*/ 6 h 145"/>
                    <a:gd name="T74" fmla="*/ 72 w 145"/>
                    <a:gd name="T75" fmla="*/ 3 h 145"/>
                    <a:gd name="T76" fmla="*/ 94 w 145"/>
                    <a:gd name="T77" fmla="*/ 6 h 145"/>
                    <a:gd name="T78" fmla="*/ 112 w 145"/>
                    <a:gd name="T79" fmla="*/ 15 h 145"/>
                    <a:gd name="T80" fmla="*/ 127 w 145"/>
                    <a:gd name="T81" fmla="*/ 28 h 145"/>
                    <a:gd name="T82" fmla="*/ 137 w 145"/>
                    <a:gd name="T83" fmla="*/ 45 h 145"/>
                    <a:gd name="T84" fmla="*/ 142 w 145"/>
                    <a:gd name="T85" fmla="*/ 6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5" h="145">
                      <a:moveTo>
                        <a:pt x="72" y="0"/>
                      </a:moveTo>
                      <a:lnTo>
                        <a:pt x="80" y="0"/>
                      </a:lnTo>
                      <a:lnTo>
                        <a:pt x="87" y="2"/>
                      </a:lnTo>
                      <a:lnTo>
                        <a:pt x="94" y="4"/>
                      </a:lnTo>
                      <a:lnTo>
                        <a:pt x="101" y="6"/>
                      </a:lnTo>
                      <a:lnTo>
                        <a:pt x="108" y="9"/>
                      </a:lnTo>
                      <a:lnTo>
                        <a:pt x="113" y="12"/>
                      </a:lnTo>
                      <a:lnTo>
                        <a:pt x="119" y="16"/>
                      </a:lnTo>
                      <a:lnTo>
                        <a:pt x="124" y="22"/>
                      </a:lnTo>
                      <a:lnTo>
                        <a:pt x="129" y="27"/>
                      </a:lnTo>
                      <a:lnTo>
                        <a:pt x="133" y="32"/>
                      </a:lnTo>
                      <a:lnTo>
                        <a:pt x="136" y="38"/>
                      </a:lnTo>
                      <a:lnTo>
                        <a:pt x="139" y="44"/>
                      </a:lnTo>
                      <a:lnTo>
                        <a:pt x="142" y="51"/>
                      </a:lnTo>
                      <a:lnTo>
                        <a:pt x="144" y="58"/>
                      </a:lnTo>
                      <a:lnTo>
                        <a:pt x="145" y="65"/>
                      </a:lnTo>
                      <a:lnTo>
                        <a:pt x="145" y="73"/>
                      </a:lnTo>
                      <a:lnTo>
                        <a:pt x="145" y="80"/>
                      </a:lnTo>
                      <a:lnTo>
                        <a:pt x="144" y="88"/>
                      </a:lnTo>
                      <a:lnTo>
                        <a:pt x="142" y="94"/>
                      </a:lnTo>
                      <a:lnTo>
                        <a:pt x="139" y="100"/>
                      </a:lnTo>
                      <a:lnTo>
                        <a:pt x="136" y="107"/>
                      </a:lnTo>
                      <a:lnTo>
                        <a:pt x="133" y="113"/>
                      </a:lnTo>
                      <a:lnTo>
                        <a:pt x="129" y="118"/>
                      </a:lnTo>
                      <a:lnTo>
                        <a:pt x="124" y="124"/>
                      </a:lnTo>
                      <a:lnTo>
                        <a:pt x="119" y="129"/>
                      </a:lnTo>
                      <a:lnTo>
                        <a:pt x="113" y="132"/>
                      </a:lnTo>
                      <a:lnTo>
                        <a:pt x="108" y="137"/>
                      </a:lnTo>
                      <a:lnTo>
                        <a:pt x="101" y="140"/>
                      </a:lnTo>
                      <a:lnTo>
                        <a:pt x="94" y="142"/>
                      </a:lnTo>
                      <a:lnTo>
                        <a:pt x="87" y="144"/>
                      </a:lnTo>
                      <a:lnTo>
                        <a:pt x="80" y="145"/>
                      </a:lnTo>
                      <a:lnTo>
                        <a:pt x="72" y="145"/>
                      </a:lnTo>
                      <a:lnTo>
                        <a:pt x="65" y="145"/>
                      </a:lnTo>
                      <a:lnTo>
                        <a:pt x="58" y="144"/>
                      </a:lnTo>
                      <a:lnTo>
                        <a:pt x="51" y="142"/>
                      </a:lnTo>
                      <a:lnTo>
                        <a:pt x="45" y="140"/>
                      </a:lnTo>
                      <a:lnTo>
                        <a:pt x="38" y="137"/>
                      </a:lnTo>
                      <a:lnTo>
                        <a:pt x="32" y="132"/>
                      </a:lnTo>
                      <a:lnTo>
                        <a:pt x="27" y="129"/>
                      </a:lnTo>
                      <a:lnTo>
                        <a:pt x="21" y="124"/>
                      </a:lnTo>
                      <a:lnTo>
                        <a:pt x="17" y="118"/>
                      </a:lnTo>
                      <a:lnTo>
                        <a:pt x="13" y="113"/>
                      </a:lnTo>
                      <a:lnTo>
                        <a:pt x="9" y="107"/>
                      </a:lnTo>
                      <a:lnTo>
                        <a:pt x="5" y="100"/>
                      </a:lnTo>
                      <a:lnTo>
                        <a:pt x="3" y="94"/>
                      </a:lnTo>
                      <a:lnTo>
                        <a:pt x="1" y="88"/>
                      </a:lnTo>
                      <a:lnTo>
                        <a:pt x="0" y="80"/>
                      </a:lnTo>
                      <a:lnTo>
                        <a:pt x="0" y="73"/>
                      </a:lnTo>
                      <a:lnTo>
                        <a:pt x="0" y="65"/>
                      </a:lnTo>
                      <a:lnTo>
                        <a:pt x="1" y="58"/>
                      </a:lnTo>
                      <a:lnTo>
                        <a:pt x="3" y="51"/>
                      </a:lnTo>
                      <a:lnTo>
                        <a:pt x="5" y="44"/>
                      </a:lnTo>
                      <a:lnTo>
                        <a:pt x="9" y="38"/>
                      </a:lnTo>
                      <a:lnTo>
                        <a:pt x="13" y="32"/>
                      </a:lnTo>
                      <a:lnTo>
                        <a:pt x="17" y="27"/>
                      </a:lnTo>
                      <a:lnTo>
                        <a:pt x="21" y="22"/>
                      </a:lnTo>
                      <a:lnTo>
                        <a:pt x="27" y="16"/>
                      </a:lnTo>
                      <a:lnTo>
                        <a:pt x="32" y="12"/>
                      </a:lnTo>
                      <a:lnTo>
                        <a:pt x="38" y="9"/>
                      </a:lnTo>
                      <a:lnTo>
                        <a:pt x="45" y="6"/>
                      </a:lnTo>
                      <a:lnTo>
                        <a:pt x="51" y="4"/>
                      </a:lnTo>
                      <a:lnTo>
                        <a:pt x="58" y="2"/>
                      </a:lnTo>
                      <a:lnTo>
                        <a:pt x="65" y="0"/>
                      </a:lnTo>
                      <a:lnTo>
                        <a:pt x="72" y="0"/>
                      </a:lnTo>
                      <a:close/>
                      <a:moveTo>
                        <a:pt x="143" y="73"/>
                      </a:moveTo>
                      <a:lnTo>
                        <a:pt x="142" y="80"/>
                      </a:lnTo>
                      <a:lnTo>
                        <a:pt x="141" y="87"/>
                      </a:lnTo>
                      <a:lnTo>
                        <a:pt x="139" y="93"/>
                      </a:lnTo>
                      <a:lnTo>
                        <a:pt x="137" y="99"/>
                      </a:lnTo>
                      <a:lnTo>
                        <a:pt x="134" y="106"/>
                      </a:lnTo>
                      <a:lnTo>
                        <a:pt x="131" y="112"/>
                      </a:lnTo>
                      <a:lnTo>
                        <a:pt x="127" y="117"/>
                      </a:lnTo>
                      <a:lnTo>
                        <a:pt x="122" y="122"/>
                      </a:lnTo>
                      <a:lnTo>
                        <a:pt x="117" y="127"/>
                      </a:lnTo>
                      <a:lnTo>
                        <a:pt x="112" y="130"/>
                      </a:lnTo>
                      <a:lnTo>
                        <a:pt x="105" y="134"/>
                      </a:lnTo>
                      <a:lnTo>
                        <a:pt x="100" y="137"/>
                      </a:lnTo>
                      <a:lnTo>
                        <a:pt x="94" y="140"/>
                      </a:lnTo>
                      <a:lnTo>
                        <a:pt x="86" y="141"/>
                      </a:lnTo>
                      <a:lnTo>
                        <a:pt x="80" y="142"/>
                      </a:lnTo>
                      <a:lnTo>
                        <a:pt x="72" y="143"/>
                      </a:lnTo>
                      <a:lnTo>
                        <a:pt x="65" y="142"/>
                      </a:lnTo>
                      <a:lnTo>
                        <a:pt x="59" y="141"/>
                      </a:lnTo>
                      <a:lnTo>
                        <a:pt x="52" y="140"/>
                      </a:lnTo>
                      <a:lnTo>
                        <a:pt x="46" y="137"/>
                      </a:lnTo>
                      <a:lnTo>
                        <a:pt x="39" y="134"/>
                      </a:lnTo>
                      <a:lnTo>
                        <a:pt x="34" y="130"/>
                      </a:lnTo>
                      <a:lnTo>
                        <a:pt x="28" y="127"/>
                      </a:lnTo>
                      <a:lnTo>
                        <a:pt x="23" y="122"/>
                      </a:lnTo>
                      <a:lnTo>
                        <a:pt x="19" y="117"/>
                      </a:lnTo>
                      <a:lnTo>
                        <a:pt x="15" y="112"/>
                      </a:lnTo>
                      <a:lnTo>
                        <a:pt x="12" y="106"/>
                      </a:lnTo>
                      <a:lnTo>
                        <a:pt x="9" y="99"/>
                      </a:lnTo>
                      <a:lnTo>
                        <a:pt x="6" y="93"/>
                      </a:lnTo>
                      <a:lnTo>
                        <a:pt x="4" y="87"/>
                      </a:lnTo>
                      <a:lnTo>
                        <a:pt x="3" y="80"/>
                      </a:lnTo>
                      <a:lnTo>
                        <a:pt x="3" y="73"/>
                      </a:lnTo>
                      <a:lnTo>
                        <a:pt x="3" y="65"/>
                      </a:lnTo>
                      <a:lnTo>
                        <a:pt x="4" y="59"/>
                      </a:lnTo>
                      <a:lnTo>
                        <a:pt x="6" y="51"/>
                      </a:lnTo>
                      <a:lnTo>
                        <a:pt x="9" y="45"/>
                      </a:lnTo>
                      <a:lnTo>
                        <a:pt x="12" y="40"/>
                      </a:lnTo>
                      <a:lnTo>
                        <a:pt x="15" y="33"/>
                      </a:lnTo>
                      <a:lnTo>
                        <a:pt x="19" y="28"/>
                      </a:lnTo>
                      <a:lnTo>
                        <a:pt x="23" y="24"/>
                      </a:lnTo>
                      <a:lnTo>
                        <a:pt x="28" y="19"/>
                      </a:lnTo>
                      <a:lnTo>
                        <a:pt x="34" y="15"/>
                      </a:lnTo>
                      <a:lnTo>
                        <a:pt x="39" y="11"/>
                      </a:lnTo>
                      <a:lnTo>
                        <a:pt x="46" y="8"/>
                      </a:lnTo>
                      <a:lnTo>
                        <a:pt x="52" y="6"/>
                      </a:lnTo>
                      <a:lnTo>
                        <a:pt x="59" y="5"/>
                      </a:lnTo>
                      <a:lnTo>
                        <a:pt x="65" y="4"/>
                      </a:lnTo>
                      <a:lnTo>
                        <a:pt x="72" y="3"/>
                      </a:lnTo>
                      <a:lnTo>
                        <a:pt x="80" y="4"/>
                      </a:lnTo>
                      <a:lnTo>
                        <a:pt x="86" y="5"/>
                      </a:lnTo>
                      <a:lnTo>
                        <a:pt x="94" y="6"/>
                      </a:lnTo>
                      <a:lnTo>
                        <a:pt x="100" y="8"/>
                      </a:lnTo>
                      <a:lnTo>
                        <a:pt x="105" y="11"/>
                      </a:lnTo>
                      <a:lnTo>
                        <a:pt x="112" y="15"/>
                      </a:lnTo>
                      <a:lnTo>
                        <a:pt x="117" y="19"/>
                      </a:lnTo>
                      <a:lnTo>
                        <a:pt x="122" y="24"/>
                      </a:lnTo>
                      <a:lnTo>
                        <a:pt x="127" y="28"/>
                      </a:lnTo>
                      <a:lnTo>
                        <a:pt x="131" y="33"/>
                      </a:lnTo>
                      <a:lnTo>
                        <a:pt x="134" y="40"/>
                      </a:lnTo>
                      <a:lnTo>
                        <a:pt x="137" y="45"/>
                      </a:lnTo>
                      <a:lnTo>
                        <a:pt x="139" y="51"/>
                      </a:lnTo>
                      <a:lnTo>
                        <a:pt x="141" y="59"/>
                      </a:lnTo>
                      <a:lnTo>
                        <a:pt x="142" y="65"/>
                      </a:lnTo>
                      <a:lnTo>
                        <a:pt x="143" y="7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48" name="Freeform 4936"/>
                <p:cNvSpPr>
                  <a:spLocks noChangeAspect="1" noEditPoints="1"/>
                </p:cNvSpPr>
                <p:nvPr/>
              </p:nvSpPr>
              <p:spPr bwMode="auto">
                <a:xfrm>
                  <a:off x="3499" y="3526"/>
                  <a:ext cx="48" cy="48"/>
                </a:xfrm>
                <a:custGeom>
                  <a:avLst/>
                  <a:gdLst>
                    <a:gd name="T0" fmla="*/ 142 w 144"/>
                    <a:gd name="T1" fmla="*/ 58 h 144"/>
                    <a:gd name="T2" fmla="*/ 135 w 144"/>
                    <a:gd name="T3" fmla="*/ 39 h 144"/>
                    <a:gd name="T4" fmla="*/ 123 w 144"/>
                    <a:gd name="T5" fmla="*/ 22 h 144"/>
                    <a:gd name="T6" fmla="*/ 106 w 144"/>
                    <a:gd name="T7" fmla="*/ 10 h 144"/>
                    <a:gd name="T8" fmla="*/ 86 w 144"/>
                    <a:gd name="T9" fmla="*/ 3 h 144"/>
                    <a:gd name="T10" fmla="*/ 64 w 144"/>
                    <a:gd name="T11" fmla="*/ 2 h 144"/>
                    <a:gd name="T12" fmla="*/ 44 w 144"/>
                    <a:gd name="T13" fmla="*/ 7 h 144"/>
                    <a:gd name="T14" fmla="*/ 26 w 144"/>
                    <a:gd name="T15" fmla="*/ 17 h 144"/>
                    <a:gd name="T16" fmla="*/ 12 w 144"/>
                    <a:gd name="T17" fmla="*/ 32 h 144"/>
                    <a:gd name="T18" fmla="*/ 3 w 144"/>
                    <a:gd name="T19" fmla="*/ 51 h 144"/>
                    <a:gd name="T20" fmla="*/ 0 w 144"/>
                    <a:gd name="T21" fmla="*/ 73 h 144"/>
                    <a:gd name="T22" fmla="*/ 3 w 144"/>
                    <a:gd name="T23" fmla="*/ 94 h 144"/>
                    <a:gd name="T24" fmla="*/ 12 w 144"/>
                    <a:gd name="T25" fmla="*/ 113 h 144"/>
                    <a:gd name="T26" fmla="*/ 26 w 144"/>
                    <a:gd name="T27" fmla="*/ 128 h 144"/>
                    <a:gd name="T28" fmla="*/ 44 w 144"/>
                    <a:gd name="T29" fmla="*/ 139 h 144"/>
                    <a:gd name="T30" fmla="*/ 64 w 144"/>
                    <a:gd name="T31" fmla="*/ 144 h 144"/>
                    <a:gd name="T32" fmla="*/ 86 w 144"/>
                    <a:gd name="T33" fmla="*/ 143 h 144"/>
                    <a:gd name="T34" fmla="*/ 106 w 144"/>
                    <a:gd name="T35" fmla="*/ 135 h 144"/>
                    <a:gd name="T36" fmla="*/ 123 w 144"/>
                    <a:gd name="T37" fmla="*/ 124 h 144"/>
                    <a:gd name="T38" fmla="*/ 135 w 144"/>
                    <a:gd name="T39" fmla="*/ 107 h 144"/>
                    <a:gd name="T40" fmla="*/ 142 w 144"/>
                    <a:gd name="T41" fmla="*/ 88 h 144"/>
                    <a:gd name="T42" fmla="*/ 140 w 144"/>
                    <a:gd name="T43" fmla="*/ 73 h 144"/>
                    <a:gd name="T44" fmla="*/ 136 w 144"/>
                    <a:gd name="T45" fmla="*/ 93 h 144"/>
                    <a:gd name="T46" fmla="*/ 128 w 144"/>
                    <a:gd name="T47" fmla="*/ 111 h 144"/>
                    <a:gd name="T48" fmla="*/ 115 w 144"/>
                    <a:gd name="T49" fmla="*/ 125 h 144"/>
                    <a:gd name="T50" fmla="*/ 98 w 144"/>
                    <a:gd name="T51" fmla="*/ 135 h 144"/>
                    <a:gd name="T52" fmla="*/ 79 w 144"/>
                    <a:gd name="T53" fmla="*/ 140 h 144"/>
                    <a:gd name="T54" fmla="*/ 58 w 144"/>
                    <a:gd name="T55" fmla="*/ 139 h 144"/>
                    <a:gd name="T56" fmla="*/ 40 w 144"/>
                    <a:gd name="T57" fmla="*/ 132 h 144"/>
                    <a:gd name="T58" fmla="*/ 24 w 144"/>
                    <a:gd name="T59" fmla="*/ 121 h 144"/>
                    <a:gd name="T60" fmla="*/ 12 w 144"/>
                    <a:gd name="T61" fmla="*/ 105 h 144"/>
                    <a:gd name="T62" fmla="*/ 5 w 144"/>
                    <a:gd name="T63" fmla="*/ 87 h 144"/>
                    <a:gd name="T64" fmla="*/ 4 w 144"/>
                    <a:gd name="T65" fmla="*/ 65 h 144"/>
                    <a:gd name="T66" fmla="*/ 10 w 144"/>
                    <a:gd name="T67" fmla="*/ 46 h 144"/>
                    <a:gd name="T68" fmla="*/ 19 w 144"/>
                    <a:gd name="T69" fmla="*/ 29 h 144"/>
                    <a:gd name="T70" fmla="*/ 34 w 144"/>
                    <a:gd name="T71" fmla="*/ 16 h 144"/>
                    <a:gd name="T72" fmla="*/ 51 w 144"/>
                    <a:gd name="T73" fmla="*/ 8 h 144"/>
                    <a:gd name="T74" fmla="*/ 71 w 144"/>
                    <a:gd name="T75" fmla="*/ 5 h 144"/>
                    <a:gd name="T76" fmla="*/ 92 w 144"/>
                    <a:gd name="T77" fmla="*/ 8 h 144"/>
                    <a:gd name="T78" fmla="*/ 110 w 144"/>
                    <a:gd name="T79" fmla="*/ 16 h 144"/>
                    <a:gd name="T80" fmla="*/ 124 w 144"/>
                    <a:gd name="T81" fmla="*/ 29 h 144"/>
                    <a:gd name="T82" fmla="*/ 134 w 144"/>
                    <a:gd name="T83" fmla="*/ 46 h 144"/>
                    <a:gd name="T84" fmla="*/ 140 w 144"/>
                    <a:gd name="T85" fmla="*/ 65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144">
                      <a:moveTo>
                        <a:pt x="144" y="73"/>
                      </a:moveTo>
                      <a:lnTo>
                        <a:pt x="143" y="65"/>
                      </a:lnTo>
                      <a:lnTo>
                        <a:pt x="142" y="58"/>
                      </a:lnTo>
                      <a:lnTo>
                        <a:pt x="141" y="51"/>
                      </a:lnTo>
                      <a:lnTo>
                        <a:pt x="137" y="45"/>
                      </a:lnTo>
                      <a:lnTo>
                        <a:pt x="135" y="39"/>
                      </a:lnTo>
                      <a:lnTo>
                        <a:pt x="131" y="32"/>
                      </a:lnTo>
                      <a:lnTo>
                        <a:pt x="127" y="27"/>
                      </a:lnTo>
                      <a:lnTo>
                        <a:pt x="123" y="22"/>
                      </a:lnTo>
                      <a:lnTo>
                        <a:pt x="117" y="17"/>
                      </a:lnTo>
                      <a:lnTo>
                        <a:pt x="112" y="13"/>
                      </a:lnTo>
                      <a:lnTo>
                        <a:pt x="106" y="10"/>
                      </a:lnTo>
                      <a:lnTo>
                        <a:pt x="99" y="7"/>
                      </a:lnTo>
                      <a:lnTo>
                        <a:pt x="93" y="4"/>
                      </a:lnTo>
                      <a:lnTo>
                        <a:pt x="86" y="3"/>
                      </a:lnTo>
                      <a:lnTo>
                        <a:pt x="79" y="2"/>
                      </a:lnTo>
                      <a:lnTo>
                        <a:pt x="71" y="0"/>
                      </a:lnTo>
                      <a:lnTo>
                        <a:pt x="64" y="2"/>
                      </a:lnTo>
                      <a:lnTo>
                        <a:pt x="58" y="3"/>
                      </a:lnTo>
                      <a:lnTo>
                        <a:pt x="50" y="4"/>
                      </a:lnTo>
                      <a:lnTo>
                        <a:pt x="44" y="7"/>
                      </a:lnTo>
                      <a:lnTo>
                        <a:pt x="37" y="10"/>
                      </a:lnTo>
                      <a:lnTo>
                        <a:pt x="31" y="13"/>
                      </a:lnTo>
                      <a:lnTo>
                        <a:pt x="26" y="17"/>
                      </a:lnTo>
                      <a:lnTo>
                        <a:pt x="20" y="22"/>
                      </a:lnTo>
                      <a:lnTo>
                        <a:pt x="16" y="27"/>
                      </a:lnTo>
                      <a:lnTo>
                        <a:pt x="12" y="32"/>
                      </a:lnTo>
                      <a:lnTo>
                        <a:pt x="9" y="39"/>
                      </a:lnTo>
                      <a:lnTo>
                        <a:pt x="5" y="45"/>
                      </a:lnTo>
                      <a:lnTo>
                        <a:pt x="3" y="51"/>
                      </a:lnTo>
                      <a:lnTo>
                        <a:pt x="1" y="58"/>
                      </a:lnTo>
                      <a:lnTo>
                        <a:pt x="0" y="65"/>
                      </a:lnTo>
                      <a:lnTo>
                        <a:pt x="0" y="73"/>
                      </a:lnTo>
                      <a:lnTo>
                        <a:pt x="0" y="80"/>
                      </a:lnTo>
                      <a:lnTo>
                        <a:pt x="1" y="88"/>
                      </a:lnTo>
                      <a:lnTo>
                        <a:pt x="3" y="94"/>
                      </a:lnTo>
                      <a:lnTo>
                        <a:pt x="5" y="100"/>
                      </a:lnTo>
                      <a:lnTo>
                        <a:pt x="9" y="107"/>
                      </a:lnTo>
                      <a:lnTo>
                        <a:pt x="12" y="113"/>
                      </a:lnTo>
                      <a:lnTo>
                        <a:pt x="16" y="118"/>
                      </a:lnTo>
                      <a:lnTo>
                        <a:pt x="20" y="124"/>
                      </a:lnTo>
                      <a:lnTo>
                        <a:pt x="26" y="128"/>
                      </a:lnTo>
                      <a:lnTo>
                        <a:pt x="31" y="132"/>
                      </a:lnTo>
                      <a:lnTo>
                        <a:pt x="37" y="135"/>
                      </a:lnTo>
                      <a:lnTo>
                        <a:pt x="44" y="139"/>
                      </a:lnTo>
                      <a:lnTo>
                        <a:pt x="50" y="141"/>
                      </a:lnTo>
                      <a:lnTo>
                        <a:pt x="58" y="143"/>
                      </a:lnTo>
                      <a:lnTo>
                        <a:pt x="64" y="144"/>
                      </a:lnTo>
                      <a:lnTo>
                        <a:pt x="71" y="144"/>
                      </a:lnTo>
                      <a:lnTo>
                        <a:pt x="79" y="144"/>
                      </a:lnTo>
                      <a:lnTo>
                        <a:pt x="86" y="143"/>
                      </a:lnTo>
                      <a:lnTo>
                        <a:pt x="93" y="141"/>
                      </a:lnTo>
                      <a:lnTo>
                        <a:pt x="99" y="139"/>
                      </a:lnTo>
                      <a:lnTo>
                        <a:pt x="106" y="135"/>
                      </a:lnTo>
                      <a:lnTo>
                        <a:pt x="112" y="132"/>
                      </a:lnTo>
                      <a:lnTo>
                        <a:pt x="117" y="128"/>
                      </a:lnTo>
                      <a:lnTo>
                        <a:pt x="123" y="124"/>
                      </a:lnTo>
                      <a:lnTo>
                        <a:pt x="127" y="118"/>
                      </a:lnTo>
                      <a:lnTo>
                        <a:pt x="131" y="113"/>
                      </a:lnTo>
                      <a:lnTo>
                        <a:pt x="135" y="107"/>
                      </a:lnTo>
                      <a:lnTo>
                        <a:pt x="137" y="100"/>
                      </a:lnTo>
                      <a:lnTo>
                        <a:pt x="141" y="94"/>
                      </a:lnTo>
                      <a:lnTo>
                        <a:pt x="142" y="88"/>
                      </a:lnTo>
                      <a:lnTo>
                        <a:pt x="143" y="80"/>
                      </a:lnTo>
                      <a:lnTo>
                        <a:pt x="144" y="73"/>
                      </a:lnTo>
                      <a:close/>
                      <a:moveTo>
                        <a:pt x="140" y="73"/>
                      </a:moveTo>
                      <a:lnTo>
                        <a:pt x="140" y="79"/>
                      </a:lnTo>
                      <a:lnTo>
                        <a:pt x="138" y="87"/>
                      </a:lnTo>
                      <a:lnTo>
                        <a:pt x="136" y="93"/>
                      </a:lnTo>
                      <a:lnTo>
                        <a:pt x="134" y="99"/>
                      </a:lnTo>
                      <a:lnTo>
                        <a:pt x="131" y="105"/>
                      </a:lnTo>
                      <a:lnTo>
                        <a:pt x="128" y="111"/>
                      </a:lnTo>
                      <a:lnTo>
                        <a:pt x="124" y="115"/>
                      </a:lnTo>
                      <a:lnTo>
                        <a:pt x="119" y="121"/>
                      </a:lnTo>
                      <a:lnTo>
                        <a:pt x="115" y="125"/>
                      </a:lnTo>
                      <a:lnTo>
                        <a:pt x="110" y="129"/>
                      </a:lnTo>
                      <a:lnTo>
                        <a:pt x="104" y="132"/>
                      </a:lnTo>
                      <a:lnTo>
                        <a:pt x="98" y="135"/>
                      </a:lnTo>
                      <a:lnTo>
                        <a:pt x="92" y="138"/>
                      </a:lnTo>
                      <a:lnTo>
                        <a:pt x="85" y="139"/>
                      </a:lnTo>
                      <a:lnTo>
                        <a:pt x="79" y="140"/>
                      </a:lnTo>
                      <a:lnTo>
                        <a:pt x="71" y="141"/>
                      </a:lnTo>
                      <a:lnTo>
                        <a:pt x="65" y="140"/>
                      </a:lnTo>
                      <a:lnTo>
                        <a:pt x="58" y="139"/>
                      </a:lnTo>
                      <a:lnTo>
                        <a:pt x="51" y="138"/>
                      </a:lnTo>
                      <a:lnTo>
                        <a:pt x="45" y="135"/>
                      </a:lnTo>
                      <a:lnTo>
                        <a:pt x="40" y="132"/>
                      </a:lnTo>
                      <a:lnTo>
                        <a:pt x="34" y="129"/>
                      </a:lnTo>
                      <a:lnTo>
                        <a:pt x="29" y="125"/>
                      </a:lnTo>
                      <a:lnTo>
                        <a:pt x="24" y="121"/>
                      </a:lnTo>
                      <a:lnTo>
                        <a:pt x="19" y="115"/>
                      </a:lnTo>
                      <a:lnTo>
                        <a:pt x="15" y="111"/>
                      </a:lnTo>
                      <a:lnTo>
                        <a:pt x="12" y="105"/>
                      </a:lnTo>
                      <a:lnTo>
                        <a:pt x="10" y="99"/>
                      </a:lnTo>
                      <a:lnTo>
                        <a:pt x="7" y="93"/>
                      </a:lnTo>
                      <a:lnTo>
                        <a:pt x="5" y="87"/>
                      </a:lnTo>
                      <a:lnTo>
                        <a:pt x="4" y="79"/>
                      </a:lnTo>
                      <a:lnTo>
                        <a:pt x="4" y="73"/>
                      </a:lnTo>
                      <a:lnTo>
                        <a:pt x="4" y="65"/>
                      </a:lnTo>
                      <a:lnTo>
                        <a:pt x="5" y="59"/>
                      </a:lnTo>
                      <a:lnTo>
                        <a:pt x="7" y="53"/>
                      </a:lnTo>
                      <a:lnTo>
                        <a:pt x="10" y="46"/>
                      </a:lnTo>
                      <a:lnTo>
                        <a:pt x="12" y="41"/>
                      </a:lnTo>
                      <a:lnTo>
                        <a:pt x="15" y="34"/>
                      </a:lnTo>
                      <a:lnTo>
                        <a:pt x="19" y="29"/>
                      </a:lnTo>
                      <a:lnTo>
                        <a:pt x="24" y="25"/>
                      </a:lnTo>
                      <a:lnTo>
                        <a:pt x="29" y="21"/>
                      </a:lnTo>
                      <a:lnTo>
                        <a:pt x="34" y="16"/>
                      </a:lnTo>
                      <a:lnTo>
                        <a:pt x="40" y="13"/>
                      </a:lnTo>
                      <a:lnTo>
                        <a:pt x="45" y="10"/>
                      </a:lnTo>
                      <a:lnTo>
                        <a:pt x="51" y="8"/>
                      </a:lnTo>
                      <a:lnTo>
                        <a:pt x="58" y="7"/>
                      </a:lnTo>
                      <a:lnTo>
                        <a:pt x="65" y="6"/>
                      </a:lnTo>
                      <a:lnTo>
                        <a:pt x="71" y="5"/>
                      </a:lnTo>
                      <a:lnTo>
                        <a:pt x="79" y="6"/>
                      </a:lnTo>
                      <a:lnTo>
                        <a:pt x="85" y="7"/>
                      </a:lnTo>
                      <a:lnTo>
                        <a:pt x="92" y="8"/>
                      </a:lnTo>
                      <a:lnTo>
                        <a:pt x="98" y="10"/>
                      </a:lnTo>
                      <a:lnTo>
                        <a:pt x="104" y="13"/>
                      </a:lnTo>
                      <a:lnTo>
                        <a:pt x="110" y="16"/>
                      </a:lnTo>
                      <a:lnTo>
                        <a:pt x="115" y="21"/>
                      </a:lnTo>
                      <a:lnTo>
                        <a:pt x="119" y="25"/>
                      </a:lnTo>
                      <a:lnTo>
                        <a:pt x="124" y="29"/>
                      </a:lnTo>
                      <a:lnTo>
                        <a:pt x="128" y="34"/>
                      </a:lnTo>
                      <a:lnTo>
                        <a:pt x="131" y="41"/>
                      </a:lnTo>
                      <a:lnTo>
                        <a:pt x="134" y="46"/>
                      </a:lnTo>
                      <a:lnTo>
                        <a:pt x="136" y="53"/>
                      </a:lnTo>
                      <a:lnTo>
                        <a:pt x="138" y="59"/>
                      </a:lnTo>
                      <a:lnTo>
                        <a:pt x="140" y="65"/>
                      </a:lnTo>
                      <a:lnTo>
                        <a:pt x="140" y="7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49" name="Freeform 4937"/>
                <p:cNvSpPr>
                  <a:spLocks noChangeAspect="1" noEditPoints="1"/>
                </p:cNvSpPr>
                <p:nvPr/>
              </p:nvSpPr>
              <p:spPr bwMode="auto">
                <a:xfrm>
                  <a:off x="3499" y="3527"/>
                  <a:ext cx="47" cy="47"/>
                </a:xfrm>
                <a:custGeom>
                  <a:avLst/>
                  <a:gdLst>
                    <a:gd name="T0" fmla="*/ 138 w 140"/>
                    <a:gd name="T1" fmla="*/ 56 h 140"/>
                    <a:gd name="T2" fmla="*/ 131 w 140"/>
                    <a:gd name="T3" fmla="*/ 37 h 140"/>
                    <a:gd name="T4" fmla="*/ 119 w 140"/>
                    <a:gd name="T5" fmla="*/ 21 h 140"/>
                    <a:gd name="T6" fmla="*/ 102 w 140"/>
                    <a:gd name="T7" fmla="*/ 8 h 140"/>
                    <a:gd name="T8" fmla="*/ 83 w 140"/>
                    <a:gd name="T9" fmla="*/ 2 h 140"/>
                    <a:gd name="T10" fmla="*/ 62 w 140"/>
                    <a:gd name="T11" fmla="*/ 1 h 140"/>
                    <a:gd name="T12" fmla="*/ 43 w 140"/>
                    <a:gd name="T13" fmla="*/ 5 h 140"/>
                    <a:gd name="T14" fmla="*/ 25 w 140"/>
                    <a:gd name="T15" fmla="*/ 16 h 140"/>
                    <a:gd name="T16" fmla="*/ 12 w 140"/>
                    <a:gd name="T17" fmla="*/ 30 h 140"/>
                    <a:gd name="T18" fmla="*/ 3 w 140"/>
                    <a:gd name="T19" fmla="*/ 48 h 140"/>
                    <a:gd name="T20" fmla="*/ 0 w 140"/>
                    <a:gd name="T21" fmla="*/ 70 h 140"/>
                    <a:gd name="T22" fmla="*/ 3 w 140"/>
                    <a:gd name="T23" fmla="*/ 90 h 140"/>
                    <a:gd name="T24" fmla="*/ 12 w 140"/>
                    <a:gd name="T25" fmla="*/ 109 h 140"/>
                    <a:gd name="T26" fmla="*/ 25 w 140"/>
                    <a:gd name="T27" fmla="*/ 124 h 140"/>
                    <a:gd name="T28" fmla="*/ 43 w 140"/>
                    <a:gd name="T29" fmla="*/ 134 h 140"/>
                    <a:gd name="T30" fmla="*/ 62 w 140"/>
                    <a:gd name="T31" fmla="*/ 139 h 140"/>
                    <a:gd name="T32" fmla="*/ 83 w 140"/>
                    <a:gd name="T33" fmla="*/ 138 h 140"/>
                    <a:gd name="T34" fmla="*/ 102 w 140"/>
                    <a:gd name="T35" fmla="*/ 131 h 140"/>
                    <a:gd name="T36" fmla="*/ 119 w 140"/>
                    <a:gd name="T37" fmla="*/ 119 h 140"/>
                    <a:gd name="T38" fmla="*/ 131 w 140"/>
                    <a:gd name="T39" fmla="*/ 103 h 140"/>
                    <a:gd name="T40" fmla="*/ 138 w 140"/>
                    <a:gd name="T41" fmla="*/ 84 h 140"/>
                    <a:gd name="T42" fmla="*/ 135 w 140"/>
                    <a:gd name="T43" fmla="*/ 70 h 140"/>
                    <a:gd name="T44" fmla="*/ 132 w 140"/>
                    <a:gd name="T45" fmla="*/ 89 h 140"/>
                    <a:gd name="T46" fmla="*/ 124 w 140"/>
                    <a:gd name="T47" fmla="*/ 106 h 140"/>
                    <a:gd name="T48" fmla="*/ 111 w 140"/>
                    <a:gd name="T49" fmla="*/ 121 h 140"/>
                    <a:gd name="T50" fmla="*/ 95 w 140"/>
                    <a:gd name="T51" fmla="*/ 130 h 140"/>
                    <a:gd name="T52" fmla="*/ 77 w 140"/>
                    <a:gd name="T53" fmla="*/ 135 h 140"/>
                    <a:gd name="T54" fmla="*/ 57 w 140"/>
                    <a:gd name="T55" fmla="*/ 134 h 140"/>
                    <a:gd name="T56" fmla="*/ 39 w 140"/>
                    <a:gd name="T57" fmla="*/ 127 h 140"/>
                    <a:gd name="T58" fmla="*/ 24 w 140"/>
                    <a:gd name="T59" fmla="*/ 117 h 140"/>
                    <a:gd name="T60" fmla="*/ 12 w 140"/>
                    <a:gd name="T61" fmla="*/ 101 h 140"/>
                    <a:gd name="T62" fmla="*/ 6 w 140"/>
                    <a:gd name="T63" fmla="*/ 83 h 140"/>
                    <a:gd name="T64" fmla="*/ 5 w 140"/>
                    <a:gd name="T65" fmla="*/ 63 h 140"/>
                    <a:gd name="T66" fmla="*/ 9 w 140"/>
                    <a:gd name="T67" fmla="*/ 44 h 140"/>
                    <a:gd name="T68" fmla="*/ 19 w 140"/>
                    <a:gd name="T69" fmla="*/ 28 h 140"/>
                    <a:gd name="T70" fmla="*/ 33 w 140"/>
                    <a:gd name="T71" fmla="*/ 16 h 140"/>
                    <a:gd name="T72" fmla="*/ 50 w 140"/>
                    <a:gd name="T73" fmla="*/ 7 h 140"/>
                    <a:gd name="T74" fmla="*/ 69 w 140"/>
                    <a:gd name="T75" fmla="*/ 4 h 140"/>
                    <a:gd name="T76" fmla="*/ 90 w 140"/>
                    <a:gd name="T77" fmla="*/ 7 h 140"/>
                    <a:gd name="T78" fmla="*/ 107 w 140"/>
                    <a:gd name="T79" fmla="*/ 16 h 140"/>
                    <a:gd name="T80" fmla="*/ 121 w 140"/>
                    <a:gd name="T81" fmla="*/ 28 h 140"/>
                    <a:gd name="T82" fmla="*/ 130 w 140"/>
                    <a:gd name="T83" fmla="*/ 44 h 140"/>
                    <a:gd name="T84" fmla="*/ 135 w 140"/>
                    <a:gd name="T85" fmla="*/ 6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0" h="140">
                      <a:moveTo>
                        <a:pt x="140" y="70"/>
                      </a:moveTo>
                      <a:lnTo>
                        <a:pt x="139" y="62"/>
                      </a:lnTo>
                      <a:lnTo>
                        <a:pt x="138" y="56"/>
                      </a:lnTo>
                      <a:lnTo>
                        <a:pt x="136" y="48"/>
                      </a:lnTo>
                      <a:lnTo>
                        <a:pt x="134" y="42"/>
                      </a:lnTo>
                      <a:lnTo>
                        <a:pt x="131" y="37"/>
                      </a:lnTo>
                      <a:lnTo>
                        <a:pt x="128" y="30"/>
                      </a:lnTo>
                      <a:lnTo>
                        <a:pt x="124" y="25"/>
                      </a:lnTo>
                      <a:lnTo>
                        <a:pt x="119" y="21"/>
                      </a:lnTo>
                      <a:lnTo>
                        <a:pt x="114" y="16"/>
                      </a:lnTo>
                      <a:lnTo>
                        <a:pt x="109" y="12"/>
                      </a:lnTo>
                      <a:lnTo>
                        <a:pt x="102" y="8"/>
                      </a:lnTo>
                      <a:lnTo>
                        <a:pt x="97" y="5"/>
                      </a:lnTo>
                      <a:lnTo>
                        <a:pt x="91" y="3"/>
                      </a:lnTo>
                      <a:lnTo>
                        <a:pt x="83" y="2"/>
                      </a:lnTo>
                      <a:lnTo>
                        <a:pt x="77" y="1"/>
                      </a:lnTo>
                      <a:lnTo>
                        <a:pt x="69" y="0"/>
                      </a:lnTo>
                      <a:lnTo>
                        <a:pt x="62" y="1"/>
                      </a:lnTo>
                      <a:lnTo>
                        <a:pt x="56" y="2"/>
                      </a:lnTo>
                      <a:lnTo>
                        <a:pt x="49" y="3"/>
                      </a:lnTo>
                      <a:lnTo>
                        <a:pt x="43" y="5"/>
                      </a:lnTo>
                      <a:lnTo>
                        <a:pt x="36" y="8"/>
                      </a:lnTo>
                      <a:lnTo>
                        <a:pt x="31" y="12"/>
                      </a:lnTo>
                      <a:lnTo>
                        <a:pt x="25" y="16"/>
                      </a:lnTo>
                      <a:lnTo>
                        <a:pt x="20" y="21"/>
                      </a:lnTo>
                      <a:lnTo>
                        <a:pt x="16" y="25"/>
                      </a:lnTo>
                      <a:lnTo>
                        <a:pt x="12" y="30"/>
                      </a:lnTo>
                      <a:lnTo>
                        <a:pt x="9" y="37"/>
                      </a:lnTo>
                      <a:lnTo>
                        <a:pt x="6" y="42"/>
                      </a:lnTo>
                      <a:lnTo>
                        <a:pt x="3" y="48"/>
                      </a:lnTo>
                      <a:lnTo>
                        <a:pt x="1" y="56"/>
                      </a:lnTo>
                      <a:lnTo>
                        <a:pt x="0" y="62"/>
                      </a:lnTo>
                      <a:lnTo>
                        <a:pt x="0" y="70"/>
                      </a:lnTo>
                      <a:lnTo>
                        <a:pt x="0" y="77"/>
                      </a:lnTo>
                      <a:lnTo>
                        <a:pt x="1" y="84"/>
                      </a:lnTo>
                      <a:lnTo>
                        <a:pt x="3" y="90"/>
                      </a:lnTo>
                      <a:lnTo>
                        <a:pt x="6" y="96"/>
                      </a:lnTo>
                      <a:lnTo>
                        <a:pt x="9" y="103"/>
                      </a:lnTo>
                      <a:lnTo>
                        <a:pt x="12" y="109"/>
                      </a:lnTo>
                      <a:lnTo>
                        <a:pt x="16" y="114"/>
                      </a:lnTo>
                      <a:lnTo>
                        <a:pt x="20" y="119"/>
                      </a:lnTo>
                      <a:lnTo>
                        <a:pt x="25" y="124"/>
                      </a:lnTo>
                      <a:lnTo>
                        <a:pt x="31" y="127"/>
                      </a:lnTo>
                      <a:lnTo>
                        <a:pt x="36" y="131"/>
                      </a:lnTo>
                      <a:lnTo>
                        <a:pt x="43" y="134"/>
                      </a:lnTo>
                      <a:lnTo>
                        <a:pt x="49" y="137"/>
                      </a:lnTo>
                      <a:lnTo>
                        <a:pt x="56" y="138"/>
                      </a:lnTo>
                      <a:lnTo>
                        <a:pt x="62" y="139"/>
                      </a:lnTo>
                      <a:lnTo>
                        <a:pt x="69" y="140"/>
                      </a:lnTo>
                      <a:lnTo>
                        <a:pt x="77" y="139"/>
                      </a:lnTo>
                      <a:lnTo>
                        <a:pt x="83" y="138"/>
                      </a:lnTo>
                      <a:lnTo>
                        <a:pt x="91" y="137"/>
                      </a:lnTo>
                      <a:lnTo>
                        <a:pt x="97" y="134"/>
                      </a:lnTo>
                      <a:lnTo>
                        <a:pt x="102" y="131"/>
                      </a:lnTo>
                      <a:lnTo>
                        <a:pt x="109" y="127"/>
                      </a:lnTo>
                      <a:lnTo>
                        <a:pt x="114" y="124"/>
                      </a:lnTo>
                      <a:lnTo>
                        <a:pt x="119" y="119"/>
                      </a:lnTo>
                      <a:lnTo>
                        <a:pt x="124" y="114"/>
                      </a:lnTo>
                      <a:lnTo>
                        <a:pt x="128" y="109"/>
                      </a:lnTo>
                      <a:lnTo>
                        <a:pt x="131" y="103"/>
                      </a:lnTo>
                      <a:lnTo>
                        <a:pt x="134" y="96"/>
                      </a:lnTo>
                      <a:lnTo>
                        <a:pt x="136" y="90"/>
                      </a:lnTo>
                      <a:lnTo>
                        <a:pt x="138" y="84"/>
                      </a:lnTo>
                      <a:lnTo>
                        <a:pt x="139" y="77"/>
                      </a:lnTo>
                      <a:lnTo>
                        <a:pt x="140" y="70"/>
                      </a:lnTo>
                      <a:close/>
                      <a:moveTo>
                        <a:pt x="135" y="70"/>
                      </a:moveTo>
                      <a:lnTo>
                        <a:pt x="135" y="76"/>
                      </a:lnTo>
                      <a:lnTo>
                        <a:pt x="134" y="83"/>
                      </a:lnTo>
                      <a:lnTo>
                        <a:pt x="132" y="89"/>
                      </a:lnTo>
                      <a:lnTo>
                        <a:pt x="130" y="95"/>
                      </a:lnTo>
                      <a:lnTo>
                        <a:pt x="127" y="101"/>
                      </a:lnTo>
                      <a:lnTo>
                        <a:pt x="124" y="106"/>
                      </a:lnTo>
                      <a:lnTo>
                        <a:pt x="121" y="111"/>
                      </a:lnTo>
                      <a:lnTo>
                        <a:pt x="116" y="117"/>
                      </a:lnTo>
                      <a:lnTo>
                        <a:pt x="111" y="121"/>
                      </a:lnTo>
                      <a:lnTo>
                        <a:pt x="107" y="124"/>
                      </a:lnTo>
                      <a:lnTo>
                        <a:pt x="101" y="127"/>
                      </a:lnTo>
                      <a:lnTo>
                        <a:pt x="95" y="130"/>
                      </a:lnTo>
                      <a:lnTo>
                        <a:pt x="90" y="132"/>
                      </a:lnTo>
                      <a:lnTo>
                        <a:pt x="83" y="134"/>
                      </a:lnTo>
                      <a:lnTo>
                        <a:pt x="77" y="135"/>
                      </a:lnTo>
                      <a:lnTo>
                        <a:pt x="69" y="136"/>
                      </a:lnTo>
                      <a:lnTo>
                        <a:pt x="63" y="135"/>
                      </a:lnTo>
                      <a:lnTo>
                        <a:pt x="57" y="134"/>
                      </a:lnTo>
                      <a:lnTo>
                        <a:pt x="50" y="132"/>
                      </a:lnTo>
                      <a:lnTo>
                        <a:pt x="44" y="130"/>
                      </a:lnTo>
                      <a:lnTo>
                        <a:pt x="39" y="127"/>
                      </a:lnTo>
                      <a:lnTo>
                        <a:pt x="33" y="124"/>
                      </a:lnTo>
                      <a:lnTo>
                        <a:pt x="28" y="121"/>
                      </a:lnTo>
                      <a:lnTo>
                        <a:pt x="24" y="117"/>
                      </a:lnTo>
                      <a:lnTo>
                        <a:pt x="19" y="111"/>
                      </a:lnTo>
                      <a:lnTo>
                        <a:pt x="15" y="106"/>
                      </a:lnTo>
                      <a:lnTo>
                        <a:pt x="12" y="101"/>
                      </a:lnTo>
                      <a:lnTo>
                        <a:pt x="9" y="95"/>
                      </a:lnTo>
                      <a:lnTo>
                        <a:pt x="7" y="89"/>
                      </a:lnTo>
                      <a:lnTo>
                        <a:pt x="6" y="83"/>
                      </a:lnTo>
                      <a:lnTo>
                        <a:pt x="5" y="76"/>
                      </a:lnTo>
                      <a:lnTo>
                        <a:pt x="3" y="70"/>
                      </a:lnTo>
                      <a:lnTo>
                        <a:pt x="5" y="63"/>
                      </a:lnTo>
                      <a:lnTo>
                        <a:pt x="6" y="56"/>
                      </a:lnTo>
                      <a:lnTo>
                        <a:pt x="7" y="51"/>
                      </a:lnTo>
                      <a:lnTo>
                        <a:pt x="9" y="44"/>
                      </a:lnTo>
                      <a:lnTo>
                        <a:pt x="12" y="39"/>
                      </a:lnTo>
                      <a:lnTo>
                        <a:pt x="15" y="33"/>
                      </a:lnTo>
                      <a:lnTo>
                        <a:pt x="19" y="28"/>
                      </a:lnTo>
                      <a:lnTo>
                        <a:pt x="24" y="23"/>
                      </a:lnTo>
                      <a:lnTo>
                        <a:pt x="28" y="19"/>
                      </a:lnTo>
                      <a:lnTo>
                        <a:pt x="33" y="16"/>
                      </a:lnTo>
                      <a:lnTo>
                        <a:pt x="39" y="12"/>
                      </a:lnTo>
                      <a:lnTo>
                        <a:pt x="44" y="9"/>
                      </a:lnTo>
                      <a:lnTo>
                        <a:pt x="50" y="7"/>
                      </a:lnTo>
                      <a:lnTo>
                        <a:pt x="57" y="5"/>
                      </a:lnTo>
                      <a:lnTo>
                        <a:pt x="63" y="5"/>
                      </a:lnTo>
                      <a:lnTo>
                        <a:pt x="69" y="4"/>
                      </a:lnTo>
                      <a:lnTo>
                        <a:pt x="77" y="5"/>
                      </a:lnTo>
                      <a:lnTo>
                        <a:pt x="83" y="5"/>
                      </a:lnTo>
                      <a:lnTo>
                        <a:pt x="90" y="7"/>
                      </a:lnTo>
                      <a:lnTo>
                        <a:pt x="95" y="9"/>
                      </a:lnTo>
                      <a:lnTo>
                        <a:pt x="101" y="12"/>
                      </a:lnTo>
                      <a:lnTo>
                        <a:pt x="107" y="16"/>
                      </a:lnTo>
                      <a:lnTo>
                        <a:pt x="111" y="19"/>
                      </a:lnTo>
                      <a:lnTo>
                        <a:pt x="116" y="23"/>
                      </a:lnTo>
                      <a:lnTo>
                        <a:pt x="121" y="28"/>
                      </a:lnTo>
                      <a:lnTo>
                        <a:pt x="124" y="33"/>
                      </a:lnTo>
                      <a:lnTo>
                        <a:pt x="127" y="39"/>
                      </a:lnTo>
                      <a:lnTo>
                        <a:pt x="130" y="44"/>
                      </a:lnTo>
                      <a:lnTo>
                        <a:pt x="132" y="51"/>
                      </a:lnTo>
                      <a:lnTo>
                        <a:pt x="134" y="56"/>
                      </a:lnTo>
                      <a:lnTo>
                        <a:pt x="135" y="63"/>
                      </a:lnTo>
                      <a:lnTo>
                        <a:pt x="135" y="7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50" name="Freeform 4938"/>
                <p:cNvSpPr>
                  <a:spLocks noChangeAspect="1" noEditPoints="1"/>
                </p:cNvSpPr>
                <p:nvPr/>
              </p:nvSpPr>
              <p:spPr bwMode="auto">
                <a:xfrm>
                  <a:off x="3500" y="3528"/>
                  <a:ext cx="45" cy="45"/>
                </a:xfrm>
                <a:custGeom>
                  <a:avLst/>
                  <a:gdLst>
                    <a:gd name="T0" fmla="*/ 134 w 136"/>
                    <a:gd name="T1" fmla="*/ 54 h 136"/>
                    <a:gd name="T2" fmla="*/ 127 w 136"/>
                    <a:gd name="T3" fmla="*/ 36 h 136"/>
                    <a:gd name="T4" fmla="*/ 115 w 136"/>
                    <a:gd name="T5" fmla="*/ 20 h 136"/>
                    <a:gd name="T6" fmla="*/ 100 w 136"/>
                    <a:gd name="T7" fmla="*/ 8 h 136"/>
                    <a:gd name="T8" fmla="*/ 81 w 136"/>
                    <a:gd name="T9" fmla="*/ 2 h 136"/>
                    <a:gd name="T10" fmla="*/ 61 w 136"/>
                    <a:gd name="T11" fmla="*/ 1 h 136"/>
                    <a:gd name="T12" fmla="*/ 41 w 136"/>
                    <a:gd name="T13" fmla="*/ 5 h 136"/>
                    <a:gd name="T14" fmla="*/ 25 w 136"/>
                    <a:gd name="T15" fmla="*/ 16 h 136"/>
                    <a:gd name="T16" fmla="*/ 11 w 136"/>
                    <a:gd name="T17" fmla="*/ 29 h 136"/>
                    <a:gd name="T18" fmla="*/ 3 w 136"/>
                    <a:gd name="T19" fmla="*/ 48 h 136"/>
                    <a:gd name="T20" fmla="*/ 0 w 136"/>
                    <a:gd name="T21" fmla="*/ 68 h 136"/>
                    <a:gd name="T22" fmla="*/ 3 w 136"/>
                    <a:gd name="T23" fmla="*/ 88 h 136"/>
                    <a:gd name="T24" fmla="*/ 11 w 136"/>
                    <a:gd name="T25" fmla="*/ 106 h 136"/>
                    <a:gd name="T26" fmla="*/ 25 w 136"/>
                    <a:gd name="T27" fmla="*/ 120 h 136"/>
                    <a:gd name="T28" fmla="*/ 41 w 136"/>
                    <a:gd name="T29" fmla="*/ 130 h 136"/>
                    <a:gd name="T30" fmla="*/ 61 w 136"/>
                    <a:gd name="T31" fmla="*/ 135 h 136"/>
                    <a:gd name="T32" fmla="*/ 81 w 136"/>
                    <a:gd name="T33" fmla="*/ 134 h 136"/>
                    <a:gd name="T34" fmla="*/ 100 w 136"/>
                    <a:gd name="T35" fmla="*/ 127 h 136"/>
                    <a:gd name="T36" fmla="*/ 115 w 136"/>
                    <a:gd name="T37" fmla="*/ 116 h 136"/>
                    <a:gd name="T38" fmla="*/ 127 w 136"/>
                    <a:gd name="T39" fmla="*/ 100 h 136"/>
                    <a:gd name="T40" fmla="*/ 134 w 136"/>
                    <a:gd name="T41" fmla="*/ 82 h 136"/>
                    <a:gd name="T42" fmla="*/ 131 w 136"/>
                    <a:gd name="T43" fmla="*/ 68 h 136"/>
                    <a:gd name="T44" fmla="*/ 128 w 136"/>
                    <a:gd name="T45" fmla="*/ 87 h 136"/>
                    <a:gd name="T46" fmla="*/ 121 w 136"/>
                    <a:gd name="T47" fmla="*/ 103 h 136"/>
                    <a:gd name="T48" fmla="*/ 108 w 136"/>
                    <a:gd name="T49" fmla="*/ 117 h 136"/>
                    <a:gd name="T50" fmla="*/ 92 w 136"/>
                    <a:gd name="T51" fmla="*/ 126 h 136"/>
                    <a:gd name="T52" fmla="*/ 74 w 136"/>
                    <a:gd name="T53" fmla="*/ 130 h 136"/>
                    <a:gd name="T54" fmla="*/ 55 w 136"/>
                    <a:gd name="T55" fmla="*/ 130 h 136"/>
                    <a:gd name="T56" fmla="*/ 38 w 136"/>
                    <a:gd name="T57" fmla="*/ 124 h 136"/>
                    <a:gd name="T58" fmla="*/ 23 w 136"/>
                    <a:gd name="T59" fmla="*/ 112 h 136"/>
                    <a:gd name="T60" fmla="*/ 12 w 136"/>
                    <a:gd name="T61" fmla="*/ 98 h 136"/>
                    <a:gd name="T62" fmla="*/ 6 w 136"/>
                    <a:gd name="T63" fmla="*/ 81 h 136"/>
                    <a:gd name="T64" fmla="*/ 5 w 136"/>
                    <a:gd name="T65" fmla="*/ 61 h 136"/>
                    <a:gd name="T66" fmla="*/ 9 w 136"/>
                    <a:gd name="T67" fmla="*/ 43 h 136"/>
                    <a:gd name="T68" fmla="*/ 18 w 136"/>
                    <a:gd name="T69" fmla="*/ 27 h 136"/>
                    <a:gd name="T70" fmla="*/ 32 w 136"/>
                    <a:gd name="T71" fmla="*/ 15 h 136"/>
                    <a:gd name="T72" fmla="*/ 48 w 136"/>
                    <a:gd name="T73" fmla="*/ 7 h 136"/>
                    <a:gd name="T74" fmla="*/ 67 w 136"/>
                    <a:gd name="T75" fmla="*/ 4 h 136"/>
                    <a:gd name="T76" fmla="*/ 87 w 136"/>
                    <a:gd name="T77" fmla="*/ 7 h 136"/>
                    <a:gd name="T78" fmla="*/ 104 w 136"/>
                    <a:gd name="T79" fmla="*/ 15 h 136"/>
                    <a:gd name="T80" fmla="*/ 116 w 136"/>
                    <a:gd name="T81" fmla="*/ 27 h 136"/>
                    <a:gd name="T82" fmla="*/ 126 w 136"/>
                    <a:gd name="T83" fmla="*/ 43 h 136"/>
                    <a:gd name="T84" fmla="*/ 131 w 136"/>
                    <a:gd name="T8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6" h="136">
                      <a:moveTo>
                        <a:pt x="136" y="68"/>
                      </a:moveTo>
                      <a:lnTo>
                        <a:pt x="136" y="60"/>
                      </a:lnTo>
                      <a:lnTo>
                        <a:pt x="134" y="54"/>
                      </a:lnTo>
                      <a:lnTo>
                        <a:pt x="132" y="48"/>
                      </a:lnTo>
                      <a:lnTo>
                        <a:pt x="130" y="41"/>
                      </a:lnTo>
                      <a:lnTo>
                        <a:pt x="127" y="36"/>
                      </a:lnTo>
                      <a:lnTo>
                        <a:pt x="124" y="29"/>
                      </a:lnTo>
                      <a:lnTo>
                        <a:pt x="120" y="24"/>
                      </a:lnTo>
                      <a:lnTo>
                        <a:pt x="115" y="20"/>
                      </a:lnTo>
                      <a:lnTo>
                        <a:pt x="111" y="16"/>
                      </a:lnTo>
                      <a:lnTo>
                        <a:pt x="106" y="11"/>
                      </a:lnTo>
                      <a:lnTo>
                        <a:pt x="100" y="8"/>
                      </a:lnTo>
                      <a:lnTo>
                        <a:pt x="94" y="5"/>
                      </a:lnTo>
                      <a:lnTo>
                        <a:pt x="88" y="3"/>
                      </a:lnTo>
                      <a:lnTo>
                        <a:pt x="81" y="2"/>
                      </a:lnTo>
                      <a:lnTo>
                        <a:pt x="75" y="1"/>
                      </a:lnTo>
                      <a:lnTo>
                        <a:pt x="67" y="0"/>
                      </a:lnTo>
                      <a:lnTo>
                        <a:pt x="61" y="1"/>
                      </a:lnTo>
                      <a:lnTo>
                        <a:pt x="54" y="2"/>
                      </a:lnTo>
                      <a:lnTo>
                        <a:pt x="47" y="3"/>
                      </a:lnTo>
                      <a:lnTo>
                        <a:pt x="41" y="5"/>
                      </a:lnTo>
                      <a:lnTo>
                        <a:pt x="36" y="8"/>
                      </a:lnTo>
                      <a:lnTo>
                        <a:pt x="30" y="11"/>
                      </a:lnTo>
                      <a:lnTo>
                        <a:pt x="25" y="16"/>
                      </a:lnTo>
                      <a:lnTo>
                        <a:pt x="20" y="20"/>
                      </a:lnTo>
                      <a:lnTo>
                        <a:pt x="15" y="24"/>
                      </a:lnTo>
                      <a:lnTo>
                        <a:pt x="11" y="29"/>
                      </a:lnTo>
                      <a:lnTo>
                        <a:pt x="8" y="36"/>
                      </a:lnTo>
                      <a:lnTo>
                        <a:pt x="6" y="41"/>
                      </a:lnTo>
                      <a:lnTo>
                        <a:pt x="3" y="48"/>
                      </a:lnTo>
                      <a:lnTo>
                        <a:pt x="1" y="54"/>
                      </a:lnTo>
                      <a:lnTo>
                        <a:pt x="0" y="60"/>
                      </a:lnTo>
                      <a:lnTo>
                        <a:pt x="0" y="68"/>
                      </a:lnTo>
                      <a:lnTo>
                        <a:pt x="0" y="74"/>
                      </a:lnTo>
                      <a:lnTo>
                        <a:pt x="1" y="82"/>
                      </a:lnTo>
                      <a:lnTo>
                        <a:pt x="3" y="88"/>
                      </a:lnTo>
                      <a:lnTo>
                        <a:pt x="6" y="94"/>
                      </a:lnTo>
                      <a:lnTo>
                        <a:pt x="8" y="100"/>
                      </a:lnTo>
                      <a:lnTo>
                        <a:pt x="11" y="106"/>
                      </a:lnTo>
                      <a:lnTo>
                        <a:pt x="15" y="110"/>
                      </a:lnTo>
                      <a:lnTo>
                        <a:pt x="20" y="116"/>
                      </a:lnTo>
                      <a:lnTo>
                        <a:pt x="25" y="120"/>
                      </a:lnTo>
                      <a:lnTo>
                        <a:pt x="30" y="124"/>
                      </a:lnTo>
                      <a:lnTo>
                        <a:pt x="36" y="127"/>
                      </a:lnTo>
                      <a:lnTo>
                        <a:pt x="41" y="130"/>
                      </a:lnTo>
                      <a:lnTo>
                        <a:pt x="47" y="133"/>
                      </a:lnTo>
                      <a:lnTo>
                        <a:pt x="54" y="134"/>
                      </a:lnTo>
                      <a:lnTo>
                        <a:pt x="61" y="135"/>
                      </a:lnTo>
                      <a:lnTo>
                        <a:pt x="67" y="136"/>
                      </a:lnTo>
                      <a:lnTo>
                        <a:pt x="75" y="135"/>
                      </a:lnTo>
                      <a:lnTo>
                        <a:pt x="81" y="134"/>
                      </a:lnTo>
                      <a:lnTo>
                        <a:pt x="88" y="133"/>
                      </a:lnTo>
                      <a:lnTo>
                        <a:pt x="94" y="130"/>
                      </a:lnTo>
                      <a:lnTo>
                        <a:pt x="100" y="127"/>
                      </a:lnTo>
                      <a:lnTo>
                        <a:pt x="106" y="124"/>
                      </a:lnTo>
                      <a:lnTo>
                        <a:pt x="111" y="120"/>
                      </a:lnTo>
                      <a:lnTo>
                        <a:pt x="115" y="116"/>
                      </a:lnTo>
                      <a:lnTo>
                        <a:pt x="120" y="110"/>
                      </a:lnTo>
                      <a:lnTo>
                        <a:pt x="124" y="106"/>
                      </a:lnTo>
                      <a:lnTo>
                        <a:pt x="127" y="100"/>
                      </a:lnTo>
                      <a:lnTo>
                        <a:pt x="130" y="94"/>
                      </a:lnTo>
                      <a:lnTo>
                        <a:pt x="132" y="88"/>
                      </a:lnTo>
                      <a:lnTo>
                        <a:pt x="134" y="82"/>
                      </a:lnTo>
                      <a:lnTo>
                        <a:pt x="136" y="74"/>
                      </a:lnTo>
                      <a:lnTo>
                        <a:pt x="136" y="68"/>
                      </a:lnTo>
                      <a:close/>
                      <a:moveTo>
                        <a:pt x="131" y="68"/>
                      </a:moveTo>
                      <a:lnTo>
                        <a:pt x="131" y="74"/>
                      </a:lnTo>
                      <a:lnTo>
                        <a:pt x="130" y="81"/>
                      </a:lnTo>
                      <a:lnTo>
                        <a:pt x="128" y="87"/>
                      </a:lnTo>
                      <a:lnTo>
                        <a:pt x="126" y="92"/>
                      </a:lnTo>
                      <a:lnTo>
                        <a:pt x="124" y="98"/>
                      </a:lnTo>
                      <a:lnTo>
                        <a:pt x="121" y="103"/>
                      </a:lnTo>
                      <a:lnTo>
                        <a:pt x="116" y="108"/>
                      </a:lnTo>
                      <a:lnTo>
                        <a:pt x="112" y="112"/>
                      </a:lnTo>
                      <a:lnTo>
                        <a:pt x="108" y="117"/>
                      </a:lnTo>
                      <a:lnTo>
                        <a:pt x="104" y="121"/>
                      </a:lnTo>
                      <a:lnTo>
                        <a:pt x="98" y="124"/>
                      </a:lnTo>
                      <a:lnTo>
                        <a:pt x="92" y="126"/>
                      </a:lnTo>
                      <a:lnTo>
                        <a:pt x="87" y="128"/>
                      </a:lnTo>
                      <a:lnTo>
                        <a:pt x="80" y="130"/>
                      </a:lnTo>
                      <a:lnTo>
                        <a:pt x="74" y="130"/>
                      </a:lnTo>
                      <a:lnTo>
                        <a:pt x="67" y="132"/>
                      </a:lnTo>
                      <a:lnTo>
                        <a:pt x="61" y="130"/>
                      </a:lnTo>
                      <a:lnTo>
                        <a:pt x="55" y="130"/>
                      </a:lnTo>
                      <a:lnTo>
                        <a:pt x="48" y="128"/>
                      </a:lnTo>
                      <a:lnTo>
                        <a:pt x="43" y="126"/>
                      </a:lnTo>
                      <a:lnTo>
                        <a:pt x="38" y="124"/>
                      </a:lnTo>
                      <a:lnTo>
                        <a:pt x="32" y="121"/>
                      </a:lnTo>
                      <a:lnTo>
                        <a:pt x="27" y="117"/>
                      </a:lnTo>
                      <a:lnTo>
                        <a:pt x="23" y="112"/>
                      </a:lnTo>
                      <a:lnTo>
                        <a:pt x="18" y="108"/>
                      </a:lnTo>
                      <a:lnTo>
                        <a:pt x="15" y="103"/>
                      </a:lnTo>
                      <a:lnTo>
                        <a:pt x="12" y="98"/>
                      </a:lnTo>
                      <a:lnTo>
                        <a:pt x="9" y="92"/>
                      </a:lnTo>
                      <a:lnTo>
                        <a:pt x="7" y="87"/>
                      </a:lnTo>
                      <a:lnTo>
                        <a:pt x="6" y="81"/>
                      </a:lnTo>
                      <a:lnTo>
                        <a:pt x="5" y="74"/>
                      </a:lnTo>
                      <a:lnTo>
                        <a:pt x="4" y="68"/>
                      </a:lnTo>
                      <a:lnTo>
                        <a:pt x="5" y="61"/>
                      </a:lnTo>
                      <a:lnTo>
                        <a:pt x="6" y="55"/>
                      </a:lnTo>
                      <a:lnTo>
                        <a:pt x="7" y="49"/>
                      </a:lnTo>
                      <a:lnTo>
                        <a:pt x="9" y="43"/>
                      </a:lnTo>
                      <a:lnTo>
                        <a:pt x="12" y="37"/>
                      </a:lnTo>
                      <a:lnTo>
                        <a:pt x="15" y="33"/>
                      </a:lnTo>
                      <a:lnTo>
                        <a:pt x="18" y="27"/>
                      </a:lnTo>
                      <a:lnTo>
                        <a:pt x="23" y="23"/>
                      </a:lnTo>
                      <a:lnTo>
                        <a:pt x="27" y="19"/>
                      </a:lnTo>
                      <a:lnTo>
                        <a:pt x="32" y="15"/>
                      </a:lnTo>
                      <a:lnTo>
                        <a:pt x="38" y="11"/>
                      </a:lnTo>
                      <a:lnTo>
                        <a:pt x="43" y="9"/>
                      </a:lnTo>
                      <a:lnTo>
                        <a:pt x="48" y="7"/>
                      </a:lnTo>
                      <a:lnTo>
                        <a:pt x="55" y="5"/>
                      </a:lnTo>
                      <a:lnTo>
                        <a:pt x="61" y="4"/>
                      </a:lnTo>
                      <a:lnTo>
                        <a:pt x="67" y="4"/>
                      </a:lnTo>
                      <a:lnTo>
                        <a:pt x="74" y="4"/>
                      </a:lnTo>
                      <a:lnTo>
                        <a:pt x="80" y="5"/>
                      </a:lnTo>
                      <a:lnTo>
                        <a:pt x="87" y="7"/>
                      </a:lnTo>
                      <a:lnTo>
                        <a:pt x="92" y="9"/>
                      </a:lnTo>
                      <a:lnTo>
                        <a:pt x="98" y="11"/>
                      </a:lnTo>
                      <a:lnTo>
                        <a:pt x="104" y="15"/>
                      </a:lnTo>
                      <a:lnTo>
                        <a:pt x="108" y="19"/>
                      </a:lnTo>
                      <a:lnTo>
                        <a:pt x="112" y="23"/>
                      </a:lnTo>
                      <a:lnTo>
                        <a:pt x="116" y="27"/>
                      </a:lnTo>
                      <a:lnTo>
                        <a:pt x="121" y="33"/>
                      </a:lnTo>
                      <a:lnTo>
                        <a:pt x="124" y="37"/>
                      </a:lnTo>
                      <a:lnTo>
                        <a:pt x="126" y="43"/>
                      </a:lnTo>
                      <a:lnTo>
                        <a:pt x="128" y="49"/>
                      </a:lnTo>
                      <a:lnTo>
                        <a:pt x="130" y="55"/>
                      </a:lnTo>
                      <a:lnTo>
                        <a:pt x="131" y="61"/>
                      </a:lnTo>
                      <a:lnTo>
                        <a:pt x="131" y="6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51" name="Freeform 4939"/>
                <p:cNvSpPr>
                  <a:spLocks noChangeAspect="1" noEditPoints="1"/>
                </p:cNvSpPr>
                <p:nvPr/>
              </p:nvSpPr>
              <p:spPr bwMode="auto">
                <a:xfrm>
                  <a:off x="3500" y="3529"/>
                  <a:ext cx="44" cy="44"/>
                </a:xfrm>
                <a:custGeom>
                  <a:avLst/>
                  <a:gdLst>
                    <a:gd name="T0" fmla="*/ 131 w 132"/>
                    <a:gd name="T1" fmla="*/ 52 h 132"/>
                    <a:gd name="T2" fmla="*/ 124 w 132"/>
                    <a:gd name="T3" fmla="*/ 35 h 132"/>
                    <a:gd name="T4" fmla="*/ 113 w 132"/>
                    <a:gd name="T5" fmla="*/ 19 h 132"/>
                    <a:gd name="T6" fmla="*/ 98 w 132"/>
                    <a:gd name="T7" fmla="*/ 8 h 132"/>
                    <a:gd name="T8" fmla="*/ 80 w 132"/>
                    <a:gd name="T9" fmla="*/ 1 h 132"/>
                    <a:gd name="T10" fmla="*/ 60 w 132"/>
                    <a:gd name="T11" fmla="*/ 1 h 132"/>
                    <a:gd name="T12" fmla="*/ 41 w 132"/>
                    <a:gd name="T13" fmla="*/ 5 h 132"/>
                    <a:gd name="T14" fmla="*/ 25 w 132"/>
                    <a:gd name="T15" fmla="*/ 15 h 132"/>
                    <a:gd name="T16" fmla="*/ 12 w 132"/>
                    <a:gd name="T17" fmla="*/ 29 h 132"/>
                    <a:gd name="T18" fmla="*/ 4 w 132"/>
                    <a:gd name="T19" fmla="*/ 47 h 132"/>
                    <a:gd name="T20" fmla="*/ 0 w 132"/>
                    <a:gd name="T21" fmla="*/ 66 h 132"/>
                    <a:gd name="T22" fmla="*/ 4 w 132"/>
                    <a:gd name="T23" fmla="*/ 85 h 132"/>
                    <a:gd name="T24" fmla="*/ 12 w 132"/>
                    <a:gd name="T25" fmla="*/ 102 h 132"/>
                    <a:gd name="T26" fmla="*/ 25 w 132"/>
                    <a:gd name="T27" fmla="*/ 117 h 132"/>
                    <a:gd name="T28" fmla="*/ 41 w 132"/>
                    <a:gd name="T29" fmla="*/ 126 h 132"/>
                    <a:gd name="T30" fmla="*/ 60 w 132"/>
                    <a:gd name="T31" fmla="*/ 131 h 132"/>
                    <a:gd name="T32" fmla="*/ 80 w 132"/>
                    <a:gd name="T33" fmla="*/ 130 h 132"/>
                    <a:gd name="T34" fmla="*/ 98 w 132"/>
                    <a:gd name="T35" fmla="*/ 123 h 132"/>
                    <a:gd name="T36" fmla="*/ 113 w 132"/>
                    <a:gd name="T37" fmla="*/ 113 h 132"/>
                    <a:gd name="T38" fmla="*/ 124 w 132"/>
                    <a:gd name="T39" fmla="*/ 97 h 132"/>
                    <a:gd name="T40" fmla="*/ 131 w 132"/>
                    <a:gd name="T41" fmla="*/ 79 h 132"/>
                    <a:gd name="T42" fmla="*/ 128 w 132"/>
                    <a:gd name="T43" fmla="*/ 66 h 132"/>
                    <a:gd name="T44" fmla="*/ 125 w 132"/>
                    <a:gd name="T45" fmla="*/ 84 h 132"/>
                    <a:gd name="T46" fmla="*/ 118 w 132"/>
                    <a:gd name="T47" fmla="*/ 100 h 132"/>
                    <a:gd name="T48" fmla="*/ 106 w 132"/>
                    <a:gd name="T49" fmla="*/ 114 h 132"/>
                    <a:gd name="T50" fmla="*/ 91 w 132"/>
                    <a:gd name="T51" fmla="*/ 122 h 132"/>
                    <a:gd name="T52" fmla="*/ 73 w 132"/>
                    <a:gd name="T53" fmla="*/ 127 h 132"/>
                    <a:gd name="T54" fmla="*/ 55 w 132"/>
                    <a:gd name="T55" fmla="*/ 126 h 132"/>
                    <a:gd name="T56" fmla="*/ 38 w 132"/>
                    <a:gd name="T57" fmla="*/ 120 h 132"/>
                    <a:gd name="T58" fmla="*/ 23 w 132"/>
                    <a:gd name="T59" fmla="*/ 109 h 132"/>
                    <a:gd name="T60" fmla="*/ 12 w 132"/>
                    <a:gd name="T61" fmla="*/ 96 h 132"/>
                    <a:gd name="T62" fmla="*/ 6 w 132"/>
                    <a:gd name="T63" fmla="*/ 79 h 132"/>
                    <a:gd name="T64" fmla="*/ 6 w 132"/>
                    <a:gd name="T65" fmla="*/ 59 h 132"/>
                    <a:gd name="T66" fmla="*/ 10 w 132"/>
                    <a:gd name="T67" fmla="*/ 41 h 132"/>
                    <a:gd name="T68" fmla="*/ 20 w 132"/>
                    <a:gd name="T69" fmla="*/ 26 h 132"/>
                    <a:gd name="T70" fmla="*/ 32 w 132"/>
                    <a:gd name="T71" fmla="*/ 15 h 132"/>
                    <a:gd name="T72" fmla="*/ 48 w 132"/>
                    <a:gd name="T73" fmla="*/ 7 h 132"/>
                    <a:gd name="T74" fmla="*/ 66 w 132"/>
                    <a:gd name="T75" fmla="*/ 4 h 132"/>
                    <a:gd name="T76" fmla="*/ 85 w 132"/>
                    <a:gd name="T77" fmla="*/ 7 h 132"/>
                    <a:gd name="T78" fmla="*/ 102 w 132"/>
                    <a:gd name="T79" fmla="*/ 15 h 132"/>
                    <a:gd name="T80" fmla="*/ 114 w 132"/>
                    <a:gd name="T81" fmla="*/ 26 h 132"/>
                    <a:gd name="T82" fmla="*/ 124 w 132"/>
                    <a:gd name="T83" fmla="*/ 41 h 132"/>
                    <a:gd name="T84" fmla="*/ 128 w 132"/>
                    <a:gd name="T85" fmla="*/ 5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 h="132">
                      <a:moveTo>
                        <a:pt x="132" y="66"/>
                      </a:moveTo>
                      <a:lnTo>
                        <a:pt x="132" y="59"/>
                      </a:lnTo>
                      <a:lnTo>
                        <a:pt x="131" y="52"/>
                      </a:lnTo>
                      <a:lnTo>
                        <a:pt x="129" y="47"/>
                      </a:lnTo>
                      <a:lnTo>
                        <a:pt x="127" y="40"/>
                      </a:lnTo>
                      <a:lnTo>
                        <a:pt x="124" y="35"/>
                      </a:lnTo>
                      <a:lnTo>
                        <a:pt x="121" y="29"/>
                      </a:lnTo>
                      <a:lnTo>
                        <a:pt x="118" y="24"/>
                      </a:lnTo>
                      <a:lnTo>
                        <a:pt x="113" y="19"/>
                      </a:lnTo>
                      <a:lnTo>
                        <a:pt x="108" y="15"/>
                      </a:lnTo>
                      <a:lnTo>
                        <a:pt x="104" y="12"/>
                      </a:lnTo>
                      <a:lnTo>
                        <a:pt x="98" y="8"/>
                      </a:lnTo>
                      <a:lnTo>
                        <a:pt x="92" y="5"/>
                      </a:lnTo>
                      <a:lnTo>
                        <a:pt x="87" y="3"/>
                      </a:lnTo>
                      <a:lnTo>
                        <a:pt x="80" y="1"/>
                      </a:lnTo>
                      <a:lnTo>
                        <a:pt x="74" y="1"/>
                      </a:lnTo>
                      <a:lnTo>
                        <a:pt x="66" y="0"/>
                      </a:lnTo>
                      <a:lnTo>
                        <a:pt x="60" y="1"/>
                      </a:lnTo>
                      <a:lnTo>
                        <a:pt x="54" y="1"/>
                      </a:lnTo>
                      <a:lnTo>
                        <a:pt x="47" y="3"/>
                      </a:lnTo>
                      <a:lnTo>
                        <a:pt x="41" y="5"/>
                      </a:lnTo>
                      <a:lnTo>
                        <a:pt x="36" y="8"/>
                      </a:lnTo>
                      <a:lnTo>
                        <a:pt x="30" y="12"/>
                      </a:lnTo>
                      <a:lnTo>
                        <a:pt x="25" y="15"/>
                      </a:lnTo>
                      <a:lnTo>
                        <a:pt x="21" y="19"/>
                      </a:lnTo>
                      <a:lnTo>
                        <a:pt x="16" y="24"/>
                      </a:lnTo>
                      <a:lnTo>
                        <a:pt x="12" y="29"/>
                      </a:lnTo>
                      <a:lnTo>
                        <a:pt x="9" y="35"/>
                      </a:lnTo>
                      <a:lnTo>
                        <a:pt x="6" y="40"/>
                      </a:lnTo>
                      <a:lnTo>
                        <a:pt x="4" y="47"/>
                      </a:lnTo>
                      <a:lnTo>
                        <a:pt x="3" y="52"/>
                      </a:lnTo>
                      <a:lnTo>
                        <a:pt x="2" y="59"/>
                      </a:lnTo>
                      <a:lnTo>
                        <a:pt x="0" y="66"/>
                      </a:lnTo>
                      <a:lnTo>
                        <a:pt x="2" y="72"/>
                      </a:lnTo>
                      <a:lnTo>
                        <a:pt x="3" y="79"/>
                      </a:lnTo>
                      <a:lnTo>
                        <a:pt x="4" y="85"/>
                      </a:lnTo>
                      <a:lnTo>
                        <a:pt x="6" y="91"/>
                      </a:lnTo>
                      <a:lnTo>
                        <a:pt x="9" y="97"/>
                      </a:lnTo>
                      <a:lnTo>
                        <a:pt x="12" y="102"/>
                      </a:lnTo>
                      <a:lnTo>
                        <a:pt x="16" y="107"/>
                      </a:lnTo>
                      <a:lnTo>
                        <a:pt x="21" y="113"/>
                      </a:lnTo>
                      <a:lnTo>
                        <a:pt x="25" y="117"/>
                      </a:lnTo>
                      <a:lnTo>
                        <a:pt x="30" y="120"/>
                      </a:lnTo>
                      <a:lnTo>
                        <a:pt x="36" y="123"/>
                      </a:lnTo>
                      <a:lnTo>
                        <a:pt x="41" y="126"/>
                      </a:lnTo>
                      <a:lnTo>
                        <a:pt x="47" y="128"/>
                      </a:lnTo>
                      <a:lnTo>
                        <a:pt x="54" y="130"/>
                      </a:lnTo>
                      <a:lnTo>
                        <a:pt x="60" y="131"/>
                      </a:lnTo>
                      <a:lnTo>
                        <a:pt x="66" y="132"/>
                      </a:lnTo>
                      <a:lnTo>
                        <a:pt x="74" y="131"/>
                      </a:lnTo>
                      <a:lnTo>
                        <a:pt x="80" y="130"/>
                      </a:lnTo>
                      <a:lnTo>
                        <a:pt x="87" y="128"/>
                      </a:lnTo>
                      <a:lnTo>
                        <a:pt x="92" y="126"/>
                      </a:lnTo>
                      <a:lnTo>
                        <a:pt x="98" y="123"/>
                      </a:lnTo>
                      <a:lnTo>
                        <a:pt x="104" y="120"/>
                      </a:lnTo>
                      <a:lnTo>
                        <a:pt x="108" y="117"/>
                      </a:lnTo>
                      <a:lnTo>
                        <a:pt x="113" y="113"/>
                      </a:lnTo>
                      <a:lnTo>
                        <a:pt x="118" y="107"/>
                      </a:lnTo>
                      <a:lnTo>
                        <a:pt x="121" y="102"/>
                      </a:lnTo>
                      <a:lnTo>
                        <a:pt x="124" y="97"/>
                      </a:lnTo>
                      <a:lnTo>
                        <a:pt x="127" y="91"/>
                      </a:lnTo>
                      <a:lnTo>
                        <a:pt x="129" y="85"/>
                      </a:lnTo>
                      <a:lnTo>
                        <a:pt x="131" y="79"/>
                      </a:lnTo>
                      <a:lnTo>
                        <a:pt x="132" y="72"/>
                      </a:lnTo>
                      <a:lnTo>
                        <a:pt x="132" y="66"/>
                      </a:lnTo>
                      <a:close/>
                      <a:moveTo>
                        <a:pt x="128" y="66"/>
                      </a:moveTo>
                      <a:lnTo>
                        <a:pt x="128" y="72"/>
                      </a:lnTo>
                      <a:lnTo>
                        <a:pt x="127" y="79"/>
                      </a:lnTo>
                      <a:lnTo>
                        <a:pt x="125" y="84"/>
                      </a:lnTo>
                      <a:lnTo>
                        <a:pt x="124" y="89"/>
                      </a:lnTo>
                      <a:lnTo>
                        <a:pt x="121" y="96"/>
                      </a:lnTo>
                      <a:lnTo>
                        <a:pt x="118" y="100"/>
                      </a:lnTo>
                      <a:lnTo>
                        <a:pt x="114" y="105"/>
                      </a:lnTo>
                      <a:lnTo>
                        <a:pt x="110" y="109"/>
                      </a:lnTo>
                      <a:lnTo>
                        <a:pt x="106" y="114"/>
                      </a:lnTo>
                      <a:lnTo>
                        <a:pt x="102" y="117"/>
                      </a:lnTo>
                      <a:lnTo>
                        <a:pt x="96" y="120"/>
                      </a:lnTo>
                      <a:lnTo>
                        <a:pt x="91" y="122"/>
                      </a:lnTo>
                      <a:lnTo>
                        <a:pt x="85" y="124"/>
                      </a:lnTo>
                      <a:lnTo>
                        <a:pt x="79" y="126"/>
                      </a:lnTo>
                      <a:lnTo>
                        <a:pt x="73" y="127"/>
                      </a:lnTo>
                      <a:lnTo>
                        <a:pt x="66" y="127"/>
                      </a:lnTo>
                      <a:lnTo>
                        <a:pt x="60" y="127"/>
                      </a:lnTo>
                      <a:lnTo>
                        <a:pt x="55" y="126"/>
                      </a:lnTo>
                      <a:lnTo>
                        <a:pt x="48" y="124"/>
                      </a:lnTo>
                      <a:lnTo>
                        <a:pt x="43" y="122"/>
                      </a:lnTo>
                      <a:lnTo>
                        <a:pt x="38" y="120"/>
                      </a:lnTo>
                      <a:lnTo>
                        <a:pt x="32" y="117"/>
                      </a:lnTo>
                      <a:lnTo>
                        <a:pt x="27" y="114"/>
                      </a:lnTo>
                      <a:lnTo>
                        <a:pt x="23" y="109"/>
                      </a:lnTo>
                      <a:lnTo>
                        <a:pt x="20" y="105"/>
                      </a:lnTo>
                      <a:lnTo>
                        <a:pt x="15" y="100"/>
                      </a:lnTo>
                      <a:lnTo>
                        <a:pt x="12" y="96"/>
                      </a:lnTo>
                      <a:lnTo>
                        <a:pt x="10" y="89"/>
                      </a:lnTo>
                      <a:lnTo>
                        <a:pt x="8" y="84"/>
                      </a:lnTo>
                      <a:lnTo>
                        <a:pt x="6" y="79"/>
                      </a:lnTo>
                      <a:lnTo>
                        <a:pt x="6" y="72"/>
                      </a:lnTo>
                      <a:lnTo>
                        <a:pt x="5" y="66"/>
                      </a:lnTo>
                      <a:lnTo>
                        <a:pt x="6" y="59"/>
                      </a:lnTo>
                      <a:lnTo>
                        <a:pt x="6" y="53"/>
                      </a:lnTo>
                      <a:lnTo>
                        <a:pt x="8" y="48"/>
                      </a:lnTo>
                      <a:lnTo>
                        <a:pt x="10" y="41"/>
                      </a:lnTo>
                      <a:lnTo>
                        <a:pt x="12" y="36"/>
                      </a:lnTo>
                      <a:lnTo>
                        <a:pt x="15" y="32"/>
                      </a:lnTo>
                      <a:lnTo>
                        <a:pt x="20" y="26"/>
                      </a:lnTo>
                      <a:lnTo>
                        <a:pt x="23" y="22"/>
                      </a:lnTo>
                      <a:lnTo>
                        <a:pt x="27" y="18"/>
                      </a:lnTo>
                      <a:lnTo>
                        <a:pt x="32" y="15"/>
                      </a:lnTo>
                      <a:lnTo>
                        <a:pt x="38" y="12"/>
                      </a:lnTo>
                      <a:lnTo>
                        <a:pt x="43" y="9"/>
                      </a:lnTo>
                      <a:lnTo>
                        <a:pt x="48" y="7"/>
                      </a:lnTo>
                      <a:lnTo>
                        <a:pt x="55" y="5"/>
                      </a:lnTo>
                      <a:lnTo>
                        <a:pt x="60" y="4"/>
                      </a:lnTo>
                      <a:lnTo>
                        <a:pt x="66" y="4"/>
                      </a:lnTo>
                      <a:lnTo>
                        <a:pt x="73" y="4"/>
                      </a:lnTo>
                      <a:lnTo>
                        <a:pt x="79" y="5"/>
                      </a:lnTo>
                      <a:lnTo>
                        <a:pt x="85" y="7"/>
                      </a:lnTo>
                      <a:lnTo>
                        <a:pt x="91" y="9"/>
                      </a:lnTo>
                      <a:lnTo>
                        <a:pt x="96" y="12"/>
                      </a:lnTo>
                      <a:lnTo>
                        <a:pt x="102" y="15"/>
                      </a:lnTo>
                      <a:lnTo>
                        <a:pt x="106" y="18"/>
                      </a:lnTo>
                      <a:lnTo>
                        <a:pt x="110" y="22"/>
                      </a:lnTo>
                      <a:lnTo>
                        <a:pt x="114" y="26"/>
                      </a:lnTo>
                      <a:lnTo>
                        <a:pt x="118" y="32"/>
                      </a:lnTo>
                      <a:lnTo>
                        <a:pt x="121" y="36"/>
                      </a:lnTo>
                      <a:lnTo>
                        <a:pt x="124" y="41"/>
                      </a:lnTo>
                      <a:lnTo>
                        <a:pt x="125" y="48"/>
                      </a:lnTo>
                      <a:lnTo>
                        <a:pt x="127" y="53"/>
                      </a:lnTo>
                      <a:lnTo>
                        <a:pt x="128" y="59"/>
                      </a:lnTo>
                      <a:lnTo>
                        <a:pt x="128" y="6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52" name="Freeform 4940"/>
                <p:cNvSpPr>
                  <a:spLocks noChangeAspect="1" noEditPoints="1"/>
                </p:cNvSpPr>
                <p:nvPr/>
              </p:nvSpPr>
              <p:spPr bwMode="auto">
                <a:xfrm>
                  <a:off x="3501" y="3529"/>
                  <a:ext cx="43" cy="43"/>
                </a:xfrm>
                <a:custGeom>
                  <a:avLst/>
                  <a:gdLst>
                    <a:gd name="T0" fmla="*/ 126 w 127"/>
                    <a:gd name="T1" fmla="*/ 51 h 128"/>
                    <a:gd name="T2" fmla="*/ 120 w 127"/>
                    <a:gd name="T3" fmla="*/ 33 h 128"/>
                    <a:gd name="T4" fmla="*/ 108 w 127"/>
                    <a:gd name="T5" fmla="*/ 19 h 128"/>
                    <a:gd name="T6" fmla="*/ 94 w 127"/>
                    <a:gd name="T7" fmla="*/ 7 h 128"/>
                    <a:gd name="T8" fmla="*/ 76 w 127"/>
                    <a:gd name="T9" fmla="*/ 1 h 128"/>
                    <a:gd name="T10" fmla="*/ 57 w 127"/>
                    <a:gd name="T11" fmla="*/ 0 h 128"/>
                    <a:gd name="T12" fmla="*/ 39 w 127"/>
                    <a:gd name="T13" fmla="*/ 5 h 128"/>
                    <a:gd name="T14" fmla="*/ 23 w 127"/>
                    <a:gd name="T15" fmla="*/ 15 h 128"/>
                    <a:gd name="T16" fmla="*/ 11 w 127"/>
                    <a:gd name="T17" fmla="*/ 29 h 128"/>
                    <a:gd name="T18" fmla="*/ 3 w 127"/>
                    <a:gd name="T19" fmla="*/ 45 h 128"/>
                    <a:gd name="T20" fmla="*/ 0 w 127"/>
                    <a:gd name="T21" fmla="*/ 64 h 128"/>
                    <a:gd name="T22" fmla="*/ 3 w 127"/>
                    <a:gd name="T23" fmla="*/ 83 h 128"/>
                    <a:gd name="T24" fmla="*/ 11 w 127"/>
                    <a:gd name="T25" fmla="*/ 99 h 128"/>
                    <a:gd name="T26" fmla="*/ 23 w 127"/>
                    <a:gd name="T27" fmla="*/ 113 h 128"/>
                    <a:gd name="T28" fmla="*/ 39 w 127"/>
                    <a:gd name="T29" fmla="*/ 122 h 128"/>
                    <a:gd name="T30" fmla="*/ 57 w 127"/>
                    <a:gd name="T31" fmla="*/ 126 h 128"/>
                    <a:gd name="T32" fmla="*/ 76 w 127"/>
                    <a:gd name="T33" fmla="*/ 126 h 128"/>
                    <a:gd name="T34" fmla="*/ 94 w 127"/>
                    <a:gd name="T35" fmla="*/ 120 h 128"/>
                    <a:gd name="T36" fmla="*/ 108 w 127"/>
                    <a:gd name="T37" fmla="*/ 108 h 128"/>
                    <a:gd name="T38" fmla="*/ 120 w 127"/>
                    <a:gd name="T39" fmla="*/ 94 h 128"/>
                    <a:gd name="T40" fmla="*/ 126 w 127"/>
                    <a:gd name="T41" fmla="*/ 77 h 128"/>
                    <a:gd name="T42" fmla="*/ 123 w 127"/>
                    <a:gd name="T43" fmla="*/ 64 h 128"/>
                    <a:gd name="T44" fmla="*/ 121 w 127"/>
                    <a:gd name="T45" fmla="*/ 82 h 128"/>
                    <a:gd name="T46" fmla="*/ 113 w 127"/>
                    <a:gd name="T47" fmla="*/ 97 h 128"/>
                    <a:gd name="T48" fmla="*/ 102 w 127"/>
                    <a:gd name="T49" fmla="*/ 109 h 128"/>
                    <a:gd name="T50" fmla="*/ 87 w 127"/>
                    <a:gd name="T51" fmla="*/ 118 h 128"/>
                    <a:gd name="T52" fmla="*/ 70 w 127"/>
                    <a:gd name="T53" fmla="*/ 123 h 128"/>
                    <a:gd name="T54" fmla="*/ 52 w 127"/>
                    <a:gd name="T55" fmla="*/ 122 h 128"/>
                    <a:gd name="T56" fmla="*/ 36 w 127"/>
                    <a:gd name="T57" fmla="*/ 116 h 128"/>
                    <a:gd name="T58" fmla="*/ 22 w 127"/>
                    <a:gd name="T59" fmla="*/ 105 h 128"/>
                    <a:gd name="T60" fmla="*/ 11 w 127"/>
                    <a:gd name="T61" fmla="*/ 92 h 128"/>
                    <a:gd name="T62" fmla="*/ 5 w 127"/>
                    <a:gd name="T63" fmla="*/ 75 h 128"/>
                    <a:gd name="T64" fmla="*/ 5 w 127"/>
                    <a:gd name="T65" fmla="*/ 57 h 128"/>
                    <a:gd name="T66" fmla="*/ 9 w 127"/>
                    <a:gd name="T67" fmla="*/ 40 h 128"/>
                    <a:gd name="T68" fmla="*/ 18 w 127"/>
                    <a:gd name="T69" fmla="*/ 25 h 128"/>
                    <a:gd name="T70" fmla="*/ 30 w 127"/>
                    <a:gd name="T71" fmla="*/ 15 h 128"/>
                    <a:gd name="T72" fmla="*/ 46 w 127"/>
                    <a:gd name="T73" fmla="*/ 7 h 128"/>
                    <a:gd name="T74" fmla="*/ 63 w 127"/>
                    <a:gd name="T75" fmla="*/ 4 h 128"/>
                    <a:gd name="T76" fmla="*/ 82 w 127"/>
                    <a:gd name="T77" fmla="*/ 7 h 128"/>
                    <a:gd name="T78" fmla="*/ 96 w 127"/>
                    <a:gd name="T79" fmla="*/ 15 h 128"/>
                    <a:gd name="T80" fmla="*/ 109 w 127"/>
                    <a:gd name="T81" fmla="*/ 25 h 128"/>
                    <a:gd name="T82" fmla="*/ 119 w 127"/>
                    <a:gd name="T83" fmla="*/ 40 h 128"/>
                    <a:gd name="T84" fmla="*/ 123 w 127"/>
                    <a:gd name="T85" fmla="*/ 5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7" h="128">
                      <a:moveTo>
                        <a:pt x="127" y="64"/>
                      </a:moveTo>
                      <a:lnTo>
                        <a:pt x="127" y="57"/>
                      </a:lnTo>
                      <a:lnTo>
                        <a:pt x="126" y="51"/>
                      </a:lnTo>
                      <a:lnTo>
                        <a:pt x="124" y="45"/>
                      </a:lnTo>
                      <a:lnTo>
                        <a:pt x="122" y="39"/>
                      </a:lnTo>
                      <a:lnTo>
                        <a:pt x="120" y="33"/>
                      </a:lnTo>
                      <a:lnTo>
                        <a:pt x="117" y="29"/>
                      </a:lnTo>
                      <a:lnTo>
                        <a:pt x="112" y="23"/>
                      </a:lnTo>
                      <a:lnTo>
                        <a:pt x="108" y="19"/>
                      </a:lnTo>
                      <a:lnTo>
                        <a:pt x="104" y="15"/>
                      </a:lnTo>
                      <a:lnTo>
                        <a:pt x="100" y="11"/>
                      </a:lnTo>
                      <a:lnTo>
                        <a:pt x="94" y="7"/>
                      </a:lnTo>
                      <a:lnTo>
                        <a:pt x="88" y="5"/>
                      </a:lnTo>
                      <a:lnTo>
                        <a:pt x="83" y="3"/>
                      </a:lnTo>
                      <a:lnTo>
                        <a:pt x="76" y="1"/>
                      </a:lnTo>
                      <a:lnTo>
                        <a:pt x="70" y="0"/>
                      </a:lnTo>
                      <a:lnTo>
                        <a:pt x="63" y="0"/>
                      </a:lnTo>
                      <a:lnTo>
                        <a:pt x="57" y="0"/>
                      </a:lnTo>
                      <a:lnTo>
                        <a:pt x="51" y="1"/>
                      </a:lnTo>
                      <a:lnTo>
                        <a:pt x="44" y="3"/>
                      </a:lnTo>
                      <a:lnTo>
                        <a:pt x="39" y="5"/>
                      </a:lnTo>
                      <a:lnTo>
                        <a:pt x="34" y="7"/>
                      </a:lnTo>
                      <a:lnTo>
                        <a:pt x="28" y="11"/>
                      </a:lnTo>
                      <a:lnTo>
                        <a:pt x="23" y="15"/>
                      </a:lnTo>
                      <a:lnTo>
                        <a:pt x="19" y="19"/>
                      </a:lnTo>
                      <a:lnTo>
                        <a:pt x="14" y="23"/>
                      </a:lnTo>
                      <a:lnTo>
                        <a:pt x="11" y="29"/>
                      </a:lnTo>
                      <a:lnTo>
                        <a:pt x="8" y="33"/>
                      </a:lnTo>
                      <a:lnTo>
                        <a:pt x="5" y="39"/>
                      </a:lnTo>
                      <a:lnTo>
                        <a:pt x="3" y="45"/>
                      </a:lnTo>
                      <a:lnTo>
                        <a:pt x="2" y="51"/>
                      </a:lnTo>
                      <a:lnTo>
                        <a:pt x="1" y="57"/>
                      </a:lnTo>
                      <a:lnTo>
                        <a:pt x="0" y="64"/>
                      </a:lnTo>
                      <a:lnTo>
                        <a:pt x="1" y="70"/>
                      </a:lnTo>
                      <a:lnTo>
                        <a:pt x="2" y="77"/>
                      </a:lnTo>
                      <a:lnTo>
                        <a:pt x="3" y="83"/>
                      </a:lnTo>
                      <a:lnTo>
                        <a:pt x="5" y="88"/>
                      </a:lnTo>
                      <a:lnTo>
                        <a:pt x="8" y="94"/>
                      </a:lnTo>
                      <a:lnTo>
                        <a:pt x="11" y="99"/>
                      </a:lnTo>
                      <a:lnTo>
                        <a:pt x="14" y="104"/>
                      </a:lnTo>
                      <a:lnTo>
                        <a:pt x="19" y="108"/>
                      </a:lnTo>
                      <a:lnTo>
                        <a:pt x="23" y="113"/>
                      </a:lnTo>
                      <a:lnTo>
                        <a:pt x="28" y="117"/>
                      </a:lnTo>
                      <a:lnTo>
                        <a:pt x="34" y="120"/>
                      </a:lnTo>
                      <a:lnTo>
                        <a:pt x="39" y="122"/>
                      </a:lnTo>
                      <a:lnTo>
                        <a:pt x="44" y="124"/>
                      </a:lnTo>
                      <a:lnTo>
                        <a:pt x="51" y="126"/>
                      </a:lnTo>
                      <a:lnTo>
                        <a:pt x="57" y="126"/>
                      </a:lnTo>
                      <a:lnTo>
                        <a:pt x="63" y="128"/>
                      </a:lnTo>
                      <a:lnTo>
                        <a:pt x="70" y="126"/>
                      </a:lnTo>
                      <a:lnTo>
                        <a:pt x="76" y="126"/>
                      </a:lnTo>
                      <a:lnTo>
                        <a:pt x="83" y="124"/>
                      </a:lnTo>
                      <a:lnTo>
                        <a:pt x="88" y="122"/>
                      </a:lnTo>
                      <a:lnTo>
                        <a:pt x="94" y="120"/>
                      </a:lnTo>
                      <a:lnTo>
                        <a:pt x="100" y="117"/>
                      </a:lnTo>
                      <a:lnTo>
                        <a:pt x="104" y="113"/>
                      </a:lnTo>
                      <a:lnTo>
                        <a:pt x="108" y="108"/>
                      </a:lnTo>
                      <a:lnTo>
                        <a:pt x="112" y="104"/>
                      </a:lnTo>
                      <a:lnTo>
                        <a:pt x="117" y="99"/>
                      </a:lnTo>
                      <a:lnTo>
                        <a:pt x="120" y="94"/>
                      </a:lnTo>
                      <a:lnTo>
                        <a:pt x="122" y="88"/>
                      </a:lnTo>
                      <a:lnTo>
                        <a:pt x="124" y="83"/>
                      </a:lnTo>
                      <a:lnTo>
                        <a:pt x="126" y="77"/>
                      </a:lnTo>
                      <a:lnTo>
                        <a:pt x="127" y="70"/>
                      </a:lnTo>
                      <a:lnTo>
                        <a:pt x="127" y="64"/>
                      </a:lnTo>
                      <a:close/>
                      <a:moveTo>
                        <a:pt x="123" y="64"/>
                      </a:moveTo>
                      <a:lnTo>
                        <a:pt x="123" y="70"/>
                      </a:lnTo>
                      <a:lnTo>
                        <a:pt x="122" y="75"/>
                      </a:lnTo>
                      <a:lnTo>
                        <a:pt x="121" y="82"/>
                      </a:lnTo>
                      <a:lnTo>
                        <a:pt x="119" y="87"/>
                      </a:lnTo>
                      <a:lnTo>
                        <a:pt x="116" y="92"/>
                      </a:lnTo>
                      <a:lnTo>
                        <a:pt x="113" y="97"/>
                      </a:lnTo>
                      <a:lnTo>
                        <a:pt x="109" y="102"/>
                      </a:lnTo>
                      <a:lnTo>
                        <a:pt x="106" y="105"/>
                      </a:lnTo>
                      <a:lnTo>
                        <a:pt x="102" y="109"/>
                      </a:lnTo>
                      <a:lnTo>
                        <a:pt x="96" y="113"/>
                      </a:lnTo>
                      <a:lnTo>
                        <a:pt x="92" y="116"/>
                      </a:lnTo>
                      <a:lnTo>
                        <a:pt x="87" y="118"/>
                      </a:lnTo>
                      <a:lnTo>
                        <a:pt x="82" y="120"/>
                      </a:lnTo>
                      <a:lnTo>
                        <a:pt x="75" y="122"/>
                      </a:lnTo>
                      <a:lnTo>
                        <a:pt x="70" y="123"/>
                      </a:lnTo>
                      <a:lnTo>
                        <a:pt x="63" y="123"/>
                      </a:lnTo>
                      <a:lnTo>
                        <a:pt x="57" y="123"/>
                      </a:lnTo>
                      <a:lnTo>
                        <a:pt x="52" y="122"/>
                      </a:lnTo>
                      <a:lnTo>
                        <a:pt x="46" y="120"/>
                      </a:lnTo>
                      <a:lnTo>
                        <a:pt x="40" y="118"/>
                      </a:lnTo>
                      <a:lnTo>
                        <a:pt x="36" y="116"/>
                      </a:lnTo>
                      <a:lnTo>
                        <a:pt x="30" y="113"/>
                      </a:lnTo>
                      <a:lnTo>
                        <a:pt x="26" y="109"/>
                      </a:lnTo>
                      <a:lnTo>
                        <a:pt x="22" y="105"/>
                      </a:lnTo>
                      <a:lnTo>
                        <a:pt x="18" y="102"/>
                      </a:lnTo>
                      <a:lnTo>
                        <a:pt x="14" y="97"/>
                      </a:lnTo>
                      <a:lnTo>
                        <a:pt x="11" y="92"/>
                      </a:lnTo>
                      <a:lnTo>
                        <a:pt x="9" y="87"/>
                      </a:lnTo>
                      <a:lnTo>
                        <a:pt x="7" y="82"/>
                      </a:lnTo>
                      <a:lnTo>
                        <a:pt x="5" y="75"/>
                      </a:lnTo>
                      <a:lnTo>
                        <a:pt x="5" y="70"/>
                      </a:lnTo>
                      <a:lnTo>
                        <a:pt x="4" y="64"/>
                      </a:lnTo>
                      <a:lnTo>
                        <a:pt x="5" y="57"/>
                      </a:lnTo>
                      <a:lnTo>
                        <a:pt x="5" y="52"/>
                      </a:lnTo>
                      <a:lnTo>
                        <a:pt x="7" y="46"/>
                      </a:lnTo>
                      <a:lnTo>
                        <a:pt x="9" y="40"/>
                      </a:lnTo>
                      <a:lnTo>
                        <a:pt x="11" y="35"/>
                      </a:lnTo>
                      <a:lnTo>
                        <a:pt x="14" y="31"/>
                      </a:lnTo>
                      <a:lnTo>
                        <a:pt x="18" y="25"/>
                      </a:lnTo>
                      <a:lnTo>
                        <a:pt x="22" y="21"/>
                      </a:lnTo>
                      <a:lnTo>
                        <a:pt x="26" y="18"/>
                      </a:lnTo>
                      <a:lnTo>
                        <a:pt x="30" y="15"/>
                      </a:lnTo>
                      <a:lnTo>
                        <a:pt x="36" y="12"/>
                      </a:lnTo>
                      <a:lnTo>
                        <a:pt x="40" y="8"/>
                      </a:lnTo>
                      <a:lnTo>
                        <a:pt x="46" y="7"/>
                      </a:lnTo>
                      <a:lnTo>
                        <a:pt x="52" y="5"/>
                      </a:lnTo>
                      <a:lnTo>
                        <a:pt x="57" y="4"/>
                      </a:lnTo>
                      <a:lnTo>
                        <a:pt x="63" y="4"/>
                      </a:lnTo>
                      <a:lnTo>
                        <a:pt x="70" y="4"/>
                      </a:lnTo>
                      <a:lnTo>
                        <a:pt x="75" y="5"/>
                      </a:lnTo>
                      <a:lnTo>
                        <a:pt x="82" y="7"/>
                      </a:lnTo>
                      <a:lnTo>
                        <a:pt x="87" y="8"/>
                      </a:lnTo>
                      <a:lnTo>
                        <a:pt x="92" y="12"/>
                      </a:lnTo>
                      <a:lnTo>
                        <a:pt x="96" y="15"/>
                      </a:lnTo>
                      <a:lnTo>
                        <a:pt x="102" y="18"/>
                      </a:lnTo>
                      <a:lnTo>
                        <a:pt x="106" y="21"/>
                      </a:lnTo>
                      <a:lnTo>
                        <a:pt x="109" y="25"/>
                      </a:lnTo>
                      <a:lnTo>
                        <a:pt x="113" y="31"/>
                      </a:lnTo>
                      <a:lnTo>
                        <a:pt x="116" y="35"/>
                      </a:lnTo>
                      <a:lnTo>
                        <a:pt x="119" y="40"/>
                      </a:lnTo>
                      <a:lnTo>
                        <a:pt x="121" y="46"/>
                      </a:lnTo>
                      <a:lnTo>
                        <a:pt x="122" y="52"/>
                      </a:lnTo>
                      <a:lnTo>
                        <a:pt x="123" y="57"/>
                      </a:lnTo>
                      <a:lnTo>
                        <a:pt x="123" y="6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53" name="Freeform 4941"/>
                <p:cNvSpPr>
                  <a:spLocks noChangeAspect="1" noEditPoints="1"/>
                </p:cNvSpPr>
                <p:nvPr/>
              </p:nvSpPr>
              <p:spPr bwMode="auto">
                <a:xfrm>
                  <a:off x="3502" y="3530"/>
                  <a:ext cx="41" cy="41"/>
                </a:xfrm>
                <a:custGeom>
                  <a:avLst/>
                  <a:gdLst>
                    <a:gd name="T0" fmla="*/ 123 w 123"/>
                    <a:gd name="T1" fmla="*/ 55 h 123"/>
                    <a:gd name="T2" fmla="*/ 120 w 123"/>
                    <a:gd name="T3" fmla="*/ 44 h 123"/>
                    <a:gd name="T4" fmla="*/ 116 w 123"/>
                    <a:gd name="T5" fmla="*/ 32 h 123"/>
                    <a:gd name="T6" fmla="*/ 109 w 123"/>
                    <a:gd name="T7" fmla="*/ 22 h 123"/>
                    <a:gd name="T8" fmla="*/ 101 w 123"/>
                    <a:gd name="T9" fmla="*/ 14 h 123"/>
                    <a:gd name="T10" fmla="*/ 91 w 123"/>
                    <a:gd name="T11" fmla="*/ 8 h 123"/>
                    <a:gd name="T12" fmla="*/ 80 w 123"/>
                    <a:gd name="T13" fmla="*/ 3 h 123"/>
                    <a:gd name="T14" fmla="*/ 68 w 123"/>
                    <a:gd name="T15" fmla="*/ 0 h 123"/>
                    <a:gd name="T16" fmla="*/ 55 w 123"/>
                    <a:gd name="T17" fmla="*/ 0 h 123"/>
                    <a:gd name="T18" fmla="*/ 43 w 123"/>
                    <a:gd name="T19" fmla="*/ 3 h 123"/>
                    <a:gd name="T20" fmla="*/ 33 w 123"/>
                    <a:gd name="T21" fmla="*/ 8 h 123"/>
                    <a:gd name="T22" fmla="*/ 22 w 123"/>
                    <a:gd name="T23" fmla="*/ 14 h 123"/>
                    <a:gd name="T24" fmla="*/ 15 w 123"/>
                    <a:gd name="T25" fmla="*/ 22 h 123"/>
                    <a:gd name="T26" fmla="*/ 7 w 123"/>
                    <a:gd name="T27" fmla="*/ 32 h 123"/>
                    <a:gd name="T28" fmla="*/ 3 w 123"/>
                    <a:gd name="T29" fmla="*/ 44 h 123"/>
                    <a:gd name="T30" fmla="*/ 1 w 123"/>
                    <a:gd name="T31" fmla="*/ 55 h 123"/>
                    <a:gd name="T32" fmla="*/ 1 w 123"/>
                    <a:gd name="T33" fmla="*/ 68 h 123"/>
                    <a:gd name="T34" fmla="*/ 3 w 123"/>
                    <a:gd name="T35" fmla="*/ 80 h 123"/>
                    <a:gd name="T36" fmla="*/ 7 w 123"/>
                    <a:gd name="T37" fmla="*/ 92 h 123"/>
                    <a:gd name="T38" fmla="*/ 15 w 123"/>
                    <a:gd name="T39" fmla="*/ 101 h 123"/>
                    <a:gd name="T40" fmla="*/ 22 w 123"/>
                    <a:gd name="T41" fmla="*/ 110 h 123"/>
                    <a:gd name="T42" fmla="*/ 33 w 123"/>
                    <a:gd name="T43" fmla="*/ 116 h 123"/>
                    <a:gd name="T44" fmla="*/ 43 w 123"/>
                    <a:gd name="T45" fmla="*/ 120 h 123"/>
                    <a:gd name="T46" fmla="*/ 55 w 123"/>
                    <a:gd name="T47" fmla="*/ 123 h 123"/>
                    <a:gd name="T48" fmla="*/ 68 w 123"/>
                    <a:gd name="T49" fmla="*/ 123 h 123"/>
                    <a:gd name="T50" fmla="*/ 80 w 123"/>
                    <a:gd name="T51" fmla="*/ 120 h 123"/>
                    <a:gd name="T52" fmla="*/ 91 w 123"/>
                    <a:gd name="T53" fmla="*/ 116 h 123"/>
                    <a:gd name="T54" fmla="*/ 101 w 123"/>
                    <a:gd name="T55" fmla="*/ 110 h 123"/>
                    <a:gd name="T56" fmla="*/ 109 w 123"/>
                    <a:gd name="T57" fmla="*/ 101 h 123"/>
                    <a:gd name="T58" fmla="*/ 116 w 123"/>
                    <a:gd name="T59" fmla="*/ 92 h 123"/>
                    <a:gd name="T60" fmla="*/ 120 w 123"/>
                    <a:gd name="T61" fmla="*/ 80 h 123"/>
                    <a:gd name="T62" fmla="*/ 123 w 123"/>
                    <a:gd name="T63" fmla="*/ 68 h 123"/>
                    <a:gd name="T64" fmla="*/ 119 w 123"/>
                    <a:gd name="T65" fmla="*/ 62 h 123"/>
                    <a:gd name="T66" fmla="*/ 118 w 123"/>
                    <a:gd name="T67" fmla="*/ 73 h 123"/>
                    <a:gd name="T68" fmla="*/ 115 w 123"/>
                    <a:gd name="T69" fmla="*/ 84 h 123"/>
                    <a:gd name="T70" fmla="*/ 102 w 123"/>
                    <a:gd name="T71" fmla="*/ 102 h 123"/>
                    <a:gd name="T72" fmla="*/ 84 w 123"/>
                    <a:gd name="T73" fmla="*/ 115 h 123"/>
                    <a:gd name="T74" fmla="*/ 73 w 123"/>
                    <a:gd name="T75" fmla="*/ 118 h 123"/>
                    <a:gd name="T76" fmla="*/ 61 w 123"/>
                    <a:gd name="T77" fmla="*/ 119 h 123"/>
                    <a:gd name="T78" fmla="*/ 50 w 123"/>
                    <a:gd name="T79" fmla="*/ 118 h 123"/>
                    <a:gd name="T80" fmla="*/ 39 w 123"/>
                    <a:gd name="T81" fmla="*/ 115 h 123"/>
                    <a:gd name="T82" fmla="*/ 30 w 123"/>
                    <a:gd name="T83" fmla="*/ 110 h 123"/>
                    <a:gd name="T84" fmla="*/ 21 w 123"/>
                    <a:gd name="T85" fmla="*/ 102 h 123"/>
                    <a:gd name="T86" fmla="*/ 14 w 123"/>
                    <a:gd name="T87" fmla="*/ 94 h 123"/>
                    <a:gd name="T88" fmla="*/ 8 w 123"/>
                    <a:gd name="T89" fmla="*/ 84 h 123"/>
                    <a:gd name="T90" fmla="*/ 5 w 123"/>
                    <a:gd name="T91" fmla="*/ 73 h 123"/>
                    <a:gd name="T92" fmla="*/ 4 w 123"/>
                    <a:gd name="T93" fmla="*/ 62 h 123"/>
                    <a:gd name="T94" fmla="*/ 5 w 123"/>
                    <a:gd name="T95" fmla="*/ 50 h 123"/>
                    <a:gd name="T96" fmla="*/ 8 w 123"/>
                    <a:gd name="T97" fmla="*/ 39 h 123"/>
                    <a:gd name="T98" fmla="*/ 21 w 123"/>
                    <a:gd name="T99" fmla="*/ 21 h 123"/>
                    <a:gd name="T100" fmla="*/ 39 w 123"/>
                    <a:gd name="T101" fmla="*/ 9 h 123"/>
                    <a:gd name="T102" fmla="*/ 50 w 123"/>
                    <a:gd name="T103" fmla="*/ 5 h 123"/>
                    <a:gd name="T104" fmla="*/ 61 w 123"/>
                    <a:gd name="T105" fmla="*/ 4 h 123"/>
                    <a:gd name="T106" fmla="*/ 73 w 123"/>
                    <a:gd name="T107" fmla="*/ 5 h 123"/>
                    <a:gd name="T108" fmla="*/ 84 w 123"/>
                    <a:gd name="T109" fmla="*/ 9 h 123"/>
                    <a:gd name="T110" fmla="*/ 102 w 123"/>
                    <a:gd name="T111" fmla="*/ 21 h 123"/>
                    <a:gd name="T112" fmla="*/ 115 w 123"/>
                    <a:gd name="T113" fmla="*/ 39 h 123"/>
                    <a:gd name="T114" fmla="*/ 118 w 123"/>
                    <a:gd name="T115" fmla="*/ 50 h 123"/>
                    <a:gd name="T116" fmla="*/ 119 w 123"/>
                    <a:gd name="T117" fmla="*/ 6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 h="123">
                      <a:moveTo>
                        <a:pt x="123" y="62"/>
                      </a:moveTo>
                      <a:lnTo>
                        <a:pt x="123" y="55"/>
                      </a:lnTo>
                      <a:lnTo>
                        <a:pt x="122" y="49"/>
                      </a:lnTo>
                      <a:lnTo>
                        <a:pt x="120" y="44"/>
                      </a:lnTo>
                      <a:lnTo>
                        <a:pt x="119" y="37"/>
                      </a:lnTo>
                      <a:lnTo>
                        <a:pt x="116" y="32"/>
                      </a:lnTo>
                      <a:lnTo>
                        <a:pt x="113" y="28"/>
                      </a:lnTo>
                      <a:lnTo>
                        <a:pt x="109" y="22"/>
                      </a:lnTo>
                      <a:lnTo>
                        <a:pt x="105" y="18"/>
                      </a:lnTo>
                      <a:lnTo>
                        <a:pt x="101" y="14"/>
                      </a:lnTo>
                      <a:lnTo>
                        <a:pt x="97" y="11"/>
                      </a:lnTo>
                      <a:lnTo>
                        <a:pt x="91" y="8"/>
                      </a:lnTo>
                      <a:lnTo>
                        <a:pt x="86" y="5"/>
                      </a:lnTo>
                      <a:lnTo>
                        <a:pt x="80" y="3"/>
                      </a:lnTo>
                      <a:lnTo>
                        <a:pt x="74" y="1"/>
                      </a:lnTo>
                      <a:lnTo>
                        <a:pt x="68" y="0"/>
                      </a:lnTo>
                      <a:lnTo>
                        <a:pt x="61" y="0"/>
                      </a:lnTo>
                      <a:lnTo>
                        <a:pt x="55" y="0"/>
                      </a:lnTo>
                      <a:lnTo>
                        <a:pt x="50" y="1"/>
                      </a:lnTo>
                      <a:lnTo>
                        <a:pt x="43" y="3"/>
                      </a:lnTo>
                      <a:lnTo>
                        <a:pt x="38" y="5"/>
                      </a:lnTo>
                      <a:lnTo>
                        <a:pt x="33" y="8"/>
                      </a:lnTo>
                      <a:lnTo>
                        <a:pt x="27" y="11"/>
                      </a:lnTo>
                      <a:lnTo>
                        <a:pt x="22" y="14"/>
                      </a:lnTo>
                      <a:lnTo>
                        <a:pt x="18" y="18"/>
                      </a:lnTo>
                      <a:lnTo>
                        <a:pt x="15" y="22"/>
                      </a:lnTo>
                      <a:lnTo>
                        <a:pt x="10" y="28"/>
                      </a:lnTo>
                      <a:lnTo>
                        <a:pt x="7" y="32"/>
                      </a:lnTo>
                      <a:lnTo>
                        <a:pt x="5" y="37"/>
                      </a:lnTo>
                      <a:lnTo>
                        <a:pt x="3" y="44"/>
                      </a:lnTo>
                      <a:lnTo>
                        <a:pt x="1" y="49"/>
                      </a:lnTo>
                      <a:lnTo>
                        <a:pt x="1" y="55"/>
                      </a:lnTo>
                      <a:lnTo>
                        <a:pt x="0" y="62"/>
                      </a:lnTo>
                      <a:lnTo>
                        <a:pt x="1" y="68"/>
                      </a:lnTo>
                      <a:lnTo>
                        <a:pt x="1" y="75"/>
                      </a:lnTo>
                      <a:lnTo>
                        <a:pt x="3" y="80"/>
                      </a:lnTo>
                      <a:lnTo>
                        <a:pt x="5" y="85"/>
                      </a:lnTo>
                      <a:lnTo>
                        <a:pt x="7" y="92"/>
                      </a:lnTo>
                      <a:lnTo>
                        <a:pt x="10" y="96"/>
                      </a:lnTo>
                      <a:lnTo>
                        <a:pt x="15" y="101"/>
                      </a:lnTo>
                      <a:lnTo>
                        <a:pt x="18" y="105"/>
                      </a:lnTo>
                      <a:lnTo>
                        <a:pt x="22" y="110"/>
                      </a:lnTo>
                      <a:lnTo>
                        <a:pt x="27" y="113"/>
                      </a:lnTo>
                      <a:lnTo>
                        <a:pt x="33" y="116"/>
                      </a:lnTo>
                      <a:lnTo>
                        <a:pt x="38" y="118"/>
                      </a:lnTo>
                      <a:lnTo>
                        <a:pt x="43" y="120"/>
                      </a:lnTo>
                      <a:lnTo>
                        <a:pt x="50" y="122"/>
                      </a:lnTo>
                      <a:lnTo>
                        <a:pt x="55" y="123"/>
                      </a:lnTo>
                      <a:lnTo>
                        <a:pt x="61" y="123"/>
                      </a:lnTo>
                      <a:lnTo>
                        <a:pt x="68" y="123"/>
                      </a:lnTo>
                      <a:lnTo>
                        <a:pt x="74" y="122"/>
                      </a:lnTo>
                      <a:lnTo>
                        <a:pt x="80" y="120"/>
                      </a:lnTo>
                      <a:lnTo>
                        <a:pt x="86" y="118"/>
                      </a:lnTo>
                      <a:lnTo>
                        <a:pt x="91" y="116"/>
                      </a:lnTo>
                      <a:lnTo>
                        <a:pt x="97" y="113"/>
                      </a:lnTo>
                      <a:lnTo>
                        <a:pt x="101" y="110"/>
                      </a:lnTo>
                      <a:lnTo>
                        <a:pt x="105" y="105"/>
                      </a:lnTo>
                      <a:lnTo>
                        <a:pt x="109" y="101"/>
                      </a:lnTo>
                      <a:lnTo>
                        <a:pt x="113" y="96"/>
                      </a:lnTo>
                      <a:lnTo>
                        <a:pt x="116" y="92"/>
                      </a:lnTo>
                      <a:lnTo>
                        <a:pt x="119" y="85"/>
                      </a:lnTo>
                      <a:lnTo>
                        <a:pt x="120" y="80"/>
                      </a:lnTo>
                      <a:lnTo>
                        <a:pt x="122" y="75"/>
                      </a:lnTo>
                      <a:lnTo>
                        <a:pt x="123" y="68"/>
                      </a:lnTo>
                      <a:lnTo>
                        <a:pt x="123" y="62"/>
                      </a:lnTo>
                      <a:close/>
                      <a:moveTo>
                        <a:pt x="119" y="62"/>
                      </a:moveTo>
                      <a:lnTo>
                        <a:pt x="119" y="67"/>
                      </a:lnTo>
                      <a:lnTo>
                        <a:pt x="118" y="73"/>
                      </a:lnTo>
                      <a:lnTo>
                        <a:pt x="117" y="79"/>
                      </a:lnTo>
                      <a:lnTo>
                        <a:pt x="115" y="84"/>
                      </a:lnTo>
                      <a:lnTo>
                        <a:pt x="109" y="94"/>
                      </a:lnTo>
                      <a:lnTo>
                        <a:pt x="102" y="102"/>
                      </a:lnTo>
                      <a:lnTo>
                        <a:pt x="93" y="110"/>
                      </a:lnTo>
                      <a:lnTo>
                        <a:pt x="84" y="115"/>
                      </a:lnTo>
                      <a:lnTo>
                        <a:pt x="78" y="117"/>
                      </a:lnTo>
                      <a:lnTo>
                        <a:pt x="73" y="118"/>
                      </a:lnTo>
                      <a:lnTo>
                        <a:pt x="68" y="119"/>
                      </a:lnTo>
                      <a:lnTo>
                        <a:pt x="61" y="119"/>
                      </a:lnTo>
                      <a:lnTo>
                        <a:pt x="56" y="119"/>
                      </a:lnTo>
                      <a:lnTo>
                        <a:pt x="50" y="118"/>
                      </a:lnTo>
                      <a:lnTo>
                        <a:pt x="44" y="117"/>
                      </a:lnTo>
                      <a:lnTo>
                        <a:pt x="39" y="115"/>
                      </a:lnTo>
                      <a:lnTo>
                        <a:pt x="34" y="112"/>
                      </a:lnTo>
                      <a:lnTo>
                        <a:pt x="30" y="110"/>
                      </a:lnTo>
                      <a:lnTo>
                        <a:pt x="25" y="106"/>
                      </a:lnTo>
                      <a:lnTo>
                        <a:pt x="21" y="102"/>
                      </a:lnTo>
                      <a:lnTo>
                        <a:pt x="18" y="98"/>
                      </a:lnTo>
                      <a:lnTo>
                        <a:pt x="14" y="94"/>
                      </a:lnTo>
                      <a:lnTo>
                        <a:pt x="11" y="89"/>
                      </a:lnTo>
                      <a:lnTo>
                        <a:pt x="8" y="84"/>
                      </a:lnTo>
                      <a:lnTo>
                        <a:pt x="7" y="79"/>
                      </a:lnTo>
                      <a:lnTo>
                        <a:pt x="5" y="73"/>
                      </a:lnTo>
                      <a:lnTo>
                        <a:pt x="4" y="67"/>
                      </a:lnTo>
                      <a:lnTo>
                        <a:pt x="4" y="62"/>
                      </a:lnTo>
                      <a:lnTo>
                        <a:pt x="4" y="55"/>
                      </a:lnTo>
                      <a:lnTo>
                        <a:pt x="5" y="50"/>
                      </a:lnTo>
                      <a:lnTo>
                        <a:pt x="7" y="45"/>
                      </a:lnTo>
                      <a:lnTo>
                        <a:pt x="8" y="39"/>
                      </a:lnTo>
                      <a:lnTo>
                        <a:pt x="14" y="30"/>
                      </a:lnTo>
                      <a:lnTo>
                        <a:pt x="21" y="21"/>
                      </a:lnTo>
                      <a:lnTo>
                        <a:pt x="30" y="14"/>
                      </a:lnTo>
                      <a:lnTo>
                        <a:pt x="39" y="9"/>
                      </a:lnTo>
                      <a:lnTo>
                        <a:pt x="44" y="6"/>
                      </a:lnTo>
                      <a:lnTo>
                        <a:pt x="50" y="5"/>
                      </a:lnTo>
                      <a:lnTo>
                        <a:pt x="56" y="4"/>
                      </a:lnTo>
                      <a:lnTo>
                        <a:pt x="61" y="4"/>
                      </a:lnTo>
                      <a:lnTo>
                        <a:pt x="68" y="4"/>
                      </a:lnTo>
                      <a:lnTo>
                        <a:pt x="73" y="5"/>
                      </a:lnTo>
                      <a:lnTo>
                        <a:pt x="78" y="6"/>
                      </a:lnTo>
                      <a:lnTo>
                        <a:pt x="84" y="9"/>
                      </a:lnTo>
                      <a:lnTo>
                        <a:pt x="93" y="14"/>
                      </a:lnTo>
                      <a:lnTo>
                        <a:pt x="102" y="21"/>
                      </a:lnTo>
                      <a:lnTo>
                        <a:pt x="109" y="30"/>
                      </a:lnTo>
                      <a:lnTo>
                        <a:pt x="115" y="39"/>
                      </a:lnTo>
                      <a:lnTo>
                        <a:pt x="117" y="45"/>
                      </a:lnTo>
                      <a:lnTo>
                        <a:pt x="118" y="50"/>
                      </a:lnTo>
                      <a:lnTo>
                        <a:pt x="119" y="55"/>
                      </a:lnTo>
                      <a:lnTo>
                        <a:pt x="119" y="6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54" name="Freeform 4942"/>
                <p:cNvSpPr>
                  <a:spLocks noChangeAspect="1" noEditPoints="1"/>
                </p:cNvSpPr>
                <p:nvPr/>
              </p:nvSpPr>
              <p:spPr bwMode="auto">
                <a:xfrm>
                  <a:off x="3503" y="3531"/>
                  <a:ext cx="39" cy="39"/>
                </a:xfrm>
                <a:custGeom>
                  <a:avLst/>
                  <a:gdLst>
                    <a:gd name="T0" fmla="*/ 119 w 119"/>
                    <a:gd name="T1" fmla="*/ 53 h 119"/>
                    <a:gd name="T2" fmla="*/ 117 w 119"/>
                    <a:gd name="T3" fmla="*/ 42 h 119"/>
                    <a:gd name="T4" fmla="*/ 112 w 119"/>
                    <a:gd name="T5" fmla="*/ 31 h 119"/>
                    <a:gd name="T6" fmla="*/ 105 w 119"/>
                    <a:gd name="T7" fmla="*/ 21 h 119"/>
                    <a:gd name="T8" fmla="*/ 98 w 119"/>
                    <a:gd name="T9" fmla="*/ 14 h 119"/>
                    <a:gd name="T10" fmla="*/ 88 w 119"/>
                    <a:gd name="T11" fmla="*/ 8 h 119"/>
                    <a:gd name="T12" fmla="*/ 78 w 119"/>
                    <a:gd name="T13" fmla="*/ 3 h 119"/>
                    <a:gd name="T14" fmla="*/ 66 w 119"/>
                    <a:gd name="T15" fmla="*/ 0 h 119"/>
                    <a:gd name="T16" fmla="*/ 53 w 119"/>
                    <a:gd name="T17" fmla="*/ 0 h 119"/>
                    <a:gd name="T18" fmla="*/ 42 w 119"/>
                    <a:gd name="T19" fmla="*/ 3 h 119"/>
                    <a:gd name="T20" fmla="*/ 32 w 119"/>
                    <a:gd name="T21" fmla="*/ 8 h 119"/>
                    <a:gd name="T22" fmla="*/ 22 w 119"/>
                    <a:gd name="T23" fmla="*/ 14 h 119"/>
                    <a:gd name="T24" fmla="*/ 14 w 119"/>
                    <a:gd name="T25" fmla="*/ 21 h 119"/>
                    <a:gd name="T26" fmla="*/ 7 w 119"/>
                    <a:gd name="T27" fmla="*/ 31 h 119"/>
                    <a:gd name="T28" fmla="*/ 3 w 119"/>
                    <a:gd name="T29" fmla="*/ 42 h 119"/>
                    <a:gd name="T30" fmla="*/ 1 w 119"/>
                    <a:gd name="T31" fmla="*/ 53 h 119"/>
                    <a:gd name="T32" fmla="*/ 1 w 119"/>
                    <a:gd name="T33" fmla="*/ 66 h 119"/>
                    <a:gd name="T34" fmla="*/ 3 w 119"/>
                    <a:gd name="T35" fmla="*/ 78 h 119"/>
                    <a:gd name="T36" fmla="*/ 7 w 119"/>
                    <a:gd name="T37" fmla="*/ 88 h 119"/>
                    <a:gd name="T38" fmla="*/ 14 w 119"/>
                    <a:gd name="T39" fmla="*/ 98 h 119"/>
                    <a:gd name="T40" fmla="*/ 22 w 119"/>
                    <a:gd name="T41" fmla="*/ 105 h 119"/>
                    <a:gd name="T42" fmla="*/ 32 w 119"/>
                    <a:gd name="T43" fmla="*/ 112 h 119"/>
                    <a:gd name="T44" fmla="*/ 42 w 119"/>
                    <a:gd name="T45" fmla="*/ 116 h 119"/>
                    <a:gd name="T46" fmla="*/ 53 w 119"/>
                    <a:gd name="T47" fmla="*/ 119 h 119"/>
                    <a:gd name="T48" fmla="*/ 66 w 119"/>
                    <a:gd name="T49" fmla="*/ 119 h 119"/>
                    <a:gd name="T50" fmla="*/ 78 w 119"/>
                    <a:gd name="T51" fmla="*/ 116 h 119"/>
                    <a:gd name="T52" fmla="*/ 88 w 119"/>
                    <a:gd name="T53" fmla="*/ 112 h 119"/>
                    <a:gd name="T54" fmla="*/ 98 w 119"/>
                    <a:gd name="T55" fmla="*/ 105 h 119"/>
                    <a:gd name="T56" fmla="*/ 105 w 119"/>
                    <a:gd name="T57" fmla="*/ 98 h 119"/>
                    <a:gd name="T58" fmla="*/ 112 w 119"/>
                    <a:gd name="T59" fmla="*/ 88 h 119"/>
                    <a:gd name="T60" fmla="*/ 117 w 119"/>
                    <a:gd name="T61" fmla="*/ 78 h 119"/>
                    <a:gd name="T62" fmla="*/ 119 w 119"/>
                    <a:gd name="T63" fmla="*/ 66 h 119"/>
                    <a:gd name="T64" fmla="*/ 115 w 119"/>
                    <a:gd name="T65" fmla="*/ 60 h 119"/>
                    <a:gd name="T66" fmla="*/ 114 w 119"/>
                    <a:gd name="T67" fmla="*/ 70 h 119"/>
                    <a:gd name="T68" fmla="*/ 111 w 119"/>
                    <a:gd name="T69" fmla="*/ 81 h 119"/>
                    <a:gd name="T70" fmla="*/ 99 w 119"/>
                    <a:gd name="T71" fmla="*/ 99 h 119"/>
                    <a:gd name="T72" fmla="*/ 81 w 119"/>
                    <a:gd name="T73" fmla="*/ 111 h 119"/>
                    <a:gd name="T74" fmla="*/ 71 w 119"/>
                    <a:gd name="T75" fmla="*/ 114 h 119"/>
                    <a:gd name="T76" fmla="*/ 59 w 119"/>
                    <a:gd name="T77" fmla="*/ 115 h 119"/>
                    <a:gd name="T78" fmla="*/ 49 w 119"/>
                    <a:gd name="T79" fmla="*/ 114 h 119"/>
                    <a:gd name="T80" fmla="*/ 38 w 119"/>
                    <a:gd name="T81" fmla="*/ 111 h 119"/>
                    <a:gd name="T82" fmla="*/ 20 w 119"/>
                    <a:gd name="T83" fmla="*/ 99 h 119"/>
                    <a:gd name="T84" fmla="*/ 8 w 119"/>
                    <a:gd name="T85" fmla="*/ 81 h 119"/>
                    <a:gd name="T86" fmla="*/ 5 w 119"/>
                    <a:gd name="T87" fmla="*/ 70 h 119"/>
                    <a:gd name="T88" fmla="*/ 4 w 119"/>
                    <a:gd name="T89" fmla="*/ 60 h 119"/>
                    <a:gd name="T90" fmla="*/ 5 w 119"/>
                    <a:gd name="T91" fmla="*/ 48 h 119"/>
                    <a:gd name="T92" fmla="*/ 8 w 119"/>
                    <a:gd name="T93" fmla="*/ 38 h 119"/>
                    <a:gd name="T94" fmla="*/ 20 w 119"/>
                    <a:gd name="T95" fmla="*/ 20 h 119"/>
                    <a:gd name="T96" fmla="*/ 38 w 119"/>
                    <a:gd name="T97" fmla="*/ 9 h 119"/>
                    <a:gd name="T98" fmla="*/ 49 w 119"/>
                    <a:gd name="T99" fmla="*/ 6 h 119"/>
                    <a:gd name="T100" fmla="*/ 59 w 119"/>
                    <a:gd name="T101" fmla="*/ 4 h 119"/>
                    <a:gd name="T102" fmla="*/ 71 w 119"/>
                    <a:gd name="T103" fmla="*/ 6 h 119"/>
                    <a:gd name="T104" fmla="*/ 81 w 119"/>
                    <a:gd name="T105" fmla="*/ 9 h 119"/>
                    <a:gd name="T106" fmla="*/ 99 w 119"/>
                    <a:gd name="T107" fmla="*/ 20 h 119"/>
                    <a:gd name="T108" fmla="*/ 111 w 119"/>
                    <a:gd name="T109" fmla="*/ 38 h 119"/>
                    <a:gd name="T110" fmla="*/ 114 w 119"/>
                    <a:gd name="T111" fmla="*/ 48 h 119"/>
                    <a:gd name="T112" fmla="*/ 115 w 119"/>
                    <a:gd name="T113" fmla="*/ 6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9" h="119">
                      <a:moveTo>
                        <a:pt x="119" y="60"/>
                      </a:moveTo>
                      <a:lnTo>
                        <a:pt x="119" y="53"/>
                      </a:lnTo>
                      <a:lnTo>
                        <a:pt x="118" y="48"/>
                      </a:lnTo>
                      <a:lnTo>
                        <a:pt x="117" y="42"/>
                      </a:lnTo>
                      <a:lnTo>
                        <a:pt x="115" y="36"/>
                      </a:lnTo>
                      <a:lnTo>
                        <a:pt x="112" y="31"/>
                      </a:lnTo>
                      <a:lnTo>
                        <a:pt x="109" y="27"/>
                      </a:lnTo>
                      <a:lnTo>
                        <a:pt x="105" y="21"/>
                      </a:lnTo>
                      <a:lnTo>
                        <a:pt x="102" y="17"/>
                      </a:lnTo>
                      <a:lnTo>
                        <a:pt x="98" y="14"/>
                      </a:lnTo>
                      <a:lnTo>
                        <a:pt x="92" y="11"/>
                      </a:lnTo>
                      <a:lnTo>
                        <a:pt x="88" y="8"/>
                      </a:lnTo>
                      <a:lnTo>
                        <a:pt x="83" y="4"/>
                      </a:lnTo>
                      <a:lnTo>
                        <a:pt x="78" y="3"/>
                      </a:lnTo>
                      <a:lnTo>
                        <a:pt x="71" y="1"/>
                      </a:lnTo>
                      <a:lnTo>
                        <a:pt x="66" y="0"/>
                      </a:lnTo>
                      <a:lnTo>
                        <a:pt x="59" y="0"/>
                      </a:lnTo>
                      <a:lnTo>
                        <a:pt x="53" y="0"/>
                      </a:lnTo>
                      <a:lnTo>
                        <a:pt x="48" y="1"/>
                      </a:lnTo>
                      <a:lnTo>
                        <a:pt x="42" y="3"/>
                      </a:lnTo>
                      <a:lnTo>
                        <a:pt x="36" y="4"/>
                      </a:lnTo>
                      <a:lnTo>
                        <a:pt x="32" y="8"/>
                      </a:lnTo>
                      <a:lnTo>
                        <a:pt x="26" y="11"/>
                      </a:lnTo>
                      <a:lnTo>
                        <a:pt x="22" y="14"/>
                      </a:lnTo>
                      <a:lnTo>
                        <a:pt x="18" y="17"/>
                      </a:lnTo>
                      <a:lnTo>
                        <a:pt x="14" y="21"/>
                      </a:lnTo>
                      <a:lnTo>
                        <a:pt x="10" y="27"/>
                      </a:lnTo>
                      <a:lnTo>
                        <a:pt x="7" y="31"/>
                      </a:lnTo>
                      <a:lnTo>
                        <a:pt x="5" y="36"/>
                      </a:lnTo>
                      <a:lnTo>
                        <a:pt x="3" y="42"/>
                      </a:lnTo>
                      <a:lnTo>
                        <a:pt x="1" y="48"/>
                      </a:lnTo>
                      <a:lnTo>
                        <a:pt x="1" y="53"/>
                      </a:lnTo>
                      <a:lnTo>
                        <a:pt x="0" y="60"/>
                      </a:lnTo>
                      <a:lnTo>
                        <a:pt x="1" y="66"/>
                      </a:lnTo>
                      <a:lnTo>
                        <a:pt x="1" y="71"/>
                      </a:lnTo>
                      <a:lnTo>
                        <a:pt x="3" y="78"/>
                      </a:lnTo>
                      <a:lnTo>
                        <a:pt x="5" y="83"/>
                      </a:lnTo>
                      <a:lnTo>
                        <a:pt x="7" y="88"/>
                      </a:lnTo>
                      <a:lnTo>
                        <a:pt x="10" y="93"/>
                      </a:lnTo>
                      <a:lnTo>
                        <a:pt x="14" y="98"/>
                      </a:lnTo>
                      <a:lnTo>
                        <a:pt x="18" y="101"/>
                      </a:lnTo>
                      <a:lnTo>
                        <a:pt x="22" y="105"/>
                      </a:lnTo>
                      <a:lnTo>
                        <a:pt x="26" y="109"/>
                      </a:lnTo>
                      <a:lnTo>
                        <a:pt x="32" y="112"/>
                      </a:lnTo>
                      <a:lnTo>
                        <a:pt x="36" y="114"/>
                      </a:lnTo>
                      <a:lnTo>
                        <a:pt x="42" y="116"/>
                      </a:lnTo>
                      <a:lnTo>
                        <a:pt x="48" y="118"/>
                      </a:lnTo>
                      <a:lnTo>
                        <a:pt x="53" y="119"/>
                      </a:lnTo>
                      <a:lnTo>
                        <a:pt x="59" y="119"/>
                      </a:lnTo>
                      <a:lnTo>
                        <a:pt x="66" y="119"/>
                      </a:lnTo>
                      <a:lnTo>
                        <a:pt x="71" y="118"/>
                      </a:lnTo>
                      <a:lnTo>
                        <a:pt x="78" y="116"/>
                      </a:lnTo>
                      <a:lnTo>
                        <a:pt x="83" y="114"/>
                      </a:lnTo>
                      <a:lnTo>
                        <a:pt x="88" y="112"/>
                      </a:lnTo>
                      <a:lnTo>
                        <a:pt x="92" y="109"/>
                      </a:lnTo>
                      <a:lnTo>
                        <a:pt x="98" y="105"/>
                      </a:lnTo>
                      <a:lnTo>
                        <a:pt x="102" y="101"/>
                      </a:lnTo>
                      <a:lnTo>
                        <a:pt x="105" y="98"/>
                      </a:lnTo>
                      <a:lnTo>
                        <a:pt x="109" y="93"/>
                      </a:lnTo>
                      <a:lnTo>
                        <a:pt x="112" y="88"/>
                      </a:lnTo>
                      <a:lnTo>
                        <a:pt x="115" y="83"/>
                      </a:lnTo>
                      <a:lnTo>
                        <a:pt x="117" y="78"/>
                      </a:lnTo>
                      <a:lnTo>
                        <a:pt x="118" y="71"/>
                      </a:lnTo>
                      <a:lnTo>
                        <a:pt x="119" y="66"/>
                      </a:lnTo>
                      <a:lnTo>
                        <a:pt x="119" y="60"/>
                      </a:lnTo>
                      <a:close/>
                      <a:moveTo>
                        <a:pt x="115" y="60"/>
                      </a:moveTo>
                      <a:lnTo>
                        <a:pt x="115" y="65"/>
                      </a:lnTo>
                      <a:lnTo>
                        <a:pt x="114" y="70"/>
                      </a:lnTo>
                      <a:lnTo>
                        <a:pt x="113" y="76"/>
                      </a:lnTo>
                      <a:lnTo>
                        <a:pt x="111" y="81"/>
                      </a:lnTo>
                      <a:lnTo>
                        <a:pt x="105" y="91"/>
                      </a:lnTo>
                      <a:lnTo>
                        <a:pt x="99" y="99"/>
                      </a:lnTo>
                      <a:lnTo>
                        <a:pt x="90" y="105"/>
                      </a:lnTo>
                      <a:lnTo>
                        <a:pt x="81" y="111"/>
                      </a:lnTo>
                      <a:lnTo>
                        <a:pt x="76" y="113"/>
                      </a:lnTo>
                      <a:lnTo>
                        <a:pt x="71" y="114"/>
                      </a:lnTo>
                      <a:lnTo>
                        <a:pt x="66" y="115"/>
                      </a:lnTo>
                      <a:lnTo>
                        <a:pt x="59" y="115"/>
                      </a:lnTo>
                      <a:lnTo>
                        <a:pt x="54" y="115"/>
                      </a:lnTo>
                      <a:lnTo>
                        <a:pt x="49" y="114"/>
                      </a:lnTo>
                      <a:lnTo>
                        <a:pt x="43" y="113"/>
                      </a:lnTo>
                      <a:lnTo>
                        <a:pt x="38" y="111"/>
                      </a:lnTo>
                      <a:lnTo>
                        <a:pt x="29" y="105"/>
                      </a:lnTo>
                      <a:lnTo>
                        <a:pt x="20" y="99"/>
                      </a:lnTo>
                      <a:lnTo>
                        <a:pt x="14" y="91"/>
                      </a:lnTo>
                      <a:lnTo>
                        <a:pt x="8" y="81"/>
                      </a:lnTo>
                      <a:lnTo>
                        <a:pt x="6" y="76"/>
                      </a:lnTo>
                      <a:lnTo>
                        <a:pt x="5" y="70"/>
                      </a:lnTo>
                      <a:lnTo>
                        <a:pt x="4" y="65"/>
                      </a:lnTo>
                      <a:lnTo>
                        <a:pt x="4" y="60"/>
                      </a:lnTo>
                      <a:lnTo>
                        <a:pt x="4" y="54"/>
                      </a:lnTo>
                      <a:lnTo>
                        <a:pt x="5" y="48"/>
                      </a:lnTo>
                      <a:lnTo>
                        <a:pt x="6" y="43"/>
                      </a:lnTo>
                      <a:lnTo>
                        <a:pt x="8" y="38"/>
                      </a:lnTo>
                      <a:lnTo>
                        <a:pt x="14" y="29"/>
                      </a:lnTo>
                      <a:lnTo>
                        <a:pt x="20" y="20"/>
                      </a:lnTo>
                      <a:lnTo>
                        <a:pt x="29" y="14"/>
                      </a:lnTo>
                      <a:lnTo>
                        <a:pt x="38" y="9"/>
                      </a:lnTo>
                      <a:lnTo>
                        <a:pt x="43" y="7"/>
                      </a:lnTo>
                      <a:lnTo>
                        <a:pt x="49" y="6"/>
                      </a:lnTo>
                      <a:lnTo>
                        <a:pt x="54" y="4"/>
                      </a:lnTo>
                      <a:lnTo>
                        <a:pt x="59" y="4"/>
                      </a:lnTo>
                      <a:lnTo>
                        <a:pt x="66" y="4"/>
                      </a:lnTo>
                      <a:lnTo>
                        <a:pt x="71" y="6"/>
                      </a:lnTo>
                      <a:lnTo>
                        <a:pt x="76" y="7"/>
                      </a:lnTo>
                      <a:lnTo>
                        <a:pt x="81" y="9"/>
                      </a:lnTo>
                      <a:lnTo>
                        <a:pt x="90" y="14"/>
                      </a:lnTo>
                      <a:lnTo>
                        <a:pt x="99" y="20"/>
                      </a:lnTo>
                      <a:lnTo>
                        <a:pt x="105" y="29"/>
                      </a:lnTo>
                      <a:lnTo>
                        <a:pt x="111" y="38"/>
                      </a:lnTo>
                      <a:lnTo>
                        <a:pt x="113" y="43"/>
                      </a:lnTo>
                      <a:lnTo>
                        <a:pt x="114" y="48"/>
                      </a:lnTo>
                      <a:lnTo>
                        <a:pt x="115" y="54"/>
                      </a:lnTo>
                      <a:lnTo>
                        <a:pt x="115" y="6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55" name="Freeform 4943"/>
                <p:cNvSpPr>
                  <a:spLocks noChangeAspect="1" noEditPoints="1"/>
                </p:cNvSpPr>
                <p:nvPr/>
              </p:nvSpPr>
              <p:spPr bwMode="auto">
                <a:xfrm>
                  <a:off x="3503" y="3531"/>
                  <a:ext cx="39" cy="39"/>
                </a:xfrm>
                <a:custGeom>
                  <a:avLst/>
                  <a:gdLst>
                    <a:gd name="T0" fmla="*/ 115 w 115"/>
                    <a:gd name="T1" fmla="*/ 51 h 115"/>
                    <a:gd name="T2" fmla="*/ 113 w 115"/>
                    <a:gd name="T3" fmla="*/ 41 h 115"/>
                    <a:gd name="T4" fmla="*/ 105 w 115"/>
                    <a:gd name="T5" fmla="*/ 26 h 115"/>
                    <a:gd name="T6" fmla="*/ 89 w 115"/>
                    <a:gd name="T7" fmla="*/ 10 h 115"/>
                    <a:gd name="T8" fmla="*/ 74 w 115"/>
                    <a:gd name="T9" fmla="*/ 2 h 115"/>
                    <a:gd name="T10" fmla="*/ 64 w 115"/>
                    <a:gd name="T11" fmla="*/ 0 h 115"/>
                    <a:gd name="T12" fmla="*/ 52 w 115"/>
                    <a:gd name="T13" fmla="*/ 0 h 115"/>
                    <a:gd name="T14" fmla="*/ 40 w 115"/>
                    <a:gd name="T15" fmla="*/ 2 h 115"/>
                    <a:gd name="T16" fmla="*/ 26 w 115"/>
                    <a:gd name="T17" fmla="*/ 10 h 115"/>
                    <a:gd name="T18" fmla="*/ 14 w 115"/>
                    <a:gd name="T19" fmla="*/ 22 h 115"/>
                    <a:gd name="T20" fmla="*/ 7 w 115"/>
                    <a:gd name="T21" fmla="*/ 30 h 115"/>
                    <a:gd name="T22" fmla="*/ 3 w 115"/>
                    <a:gd name="T23" fmla="*/ 41 h 115"/>
                    <a:gd name="T24" fmla="*/ 0 w 115"/>
                    <a:gd name="T25" fmla="*/ 51 h 115"/>
                    <a:gd name="T26" fmla="*/ 0 w 115"/>
                    <a:gd name="T27" fmla="*/ 63 h 115"/>
                    <a:gd name="T28" fmla="*/ 3 w 115"/>
                    <a:gd name="T29" fmla="*/ 75 h 115"/>
                    <a:gd name="T30" fmla="*/ 7 w 115"/>
                    <a:gd name="T31" fmla="*/ 85 h 115"/>
                    <a:gd name="T32" fmla="*/ 14 w 115"/>
                    <a:gd name="T33" fmla="*/ 94 h 115"/>
                    <a:gd name="T34" fmla="*/ 21 w 115"/>
                    <a:gd name="T35" fmla="*/ 102 h 115"/>
                    <a:gd name="T36" fmla="*/ 30 w 115"/>
                    <a:gd name="T37" fmla="*/ 108 h 115"/>
                    <a:gd name="T38" fmla="*/ 40 w 115"/>
                    <a:gd name="T39" fmla="*/ 113 h 115"/>
                    <a:gd name="T40" fmla="*/ 52 w 115"/>
                    <a:gd name="T41" fmla="*/ 115 h 115"/>
                    <a:gd name="T42" fmla="*/ 64 w 115"/>
                    <a:gd name="T43" fmla="*/ 115 h 115"/>
                    <a:gd name="T44" fmla="*/ 74 w 115"/>
                    <a:gd name="T45" fmla="*/ 113 h 115"/>
                    <a:gd name="T46" fmla="*/ 85 w 115"/>
                    <a:gd name="T47" fmla="*/ 108 h 115"/>
                    <a:gd name="T48" fmla="*/ 95 w 115"/>
                    <a:gd name="T49" fmla="*/ 102 h 115"/>
                    <a:gd name="T50" fmla="*/ 105 w 115"/>
                    <a:gd name="T51" fmla="*/ 90 h 115"/>
                    <a:gd name="T52" fmla="*/ 113 w 115"/>
                    <a:gd name="T53" fmla="*/ 75 h 115"/>
                    <a:gd name="T54" fmla="*/ 115 w 115"/>
                    <a:gd name="T55" fmla="*/ 63 h 115"/>
                    <a:gd name="T56" fmla="*/ 111 w 115"/>
                    <a:gd name="T57" fmla="*/ 58 h 115"/>
                    <a:gd name="T58" fmla="*/ 106 w 115"/>
                    <a:gd name="T59" fmla="*/ 78 h 115"/>
                    <a:gd name="T60" fmla="*/ 96 w 115"/>
                    <a:gd name="T61" fmla="*/ 95 h 115"/>
                    <a:gd name="T62" fmla="*/ 79 w 115"/>
                    <a:gd name="T63" fmla="*/ 107 h 115"/>
                    <a:gd name="T64" fmla="*/ 68 w 115"/>
                    <a:gd name="T65" fmla="*/ 110 h 115"/>
                    <a:gd name="T66" fmla="*/ 57 w 115"/>
                    <a:gd name="T67" fmla="*/ 111 h 115"/>
                    <a:gd name="T68" fmla="*/ 47 w 115"/>
                    <a:gd name="T69" fmla="*/ 110 h 115"/>
                    <a:gd name="T70" fmla="*/ 37 w 115"/>
                    <a:gd name="T71" fmla="*/ 107 h 115"/>
                    <a:gd name="T72" fmla="*/ 20 w 115"/>
                    <a:gd name="T73" fmla="*/ 95 h 115"/>
                    <a:gd name="T74" fmla="*/ 8 w 115"/>
                    <a:gd name="T75" fmla="*/ 78 h 115"/>
                    <a:gd name="T76" fmla="*/ 5 w 115"/>
                    <a:gd name="T77" fmla="*/ 68 h 115"/>
                    <a:gd name="T78" fmla="*/ 4 w 115"/>
                    <a:gd name="T79" fmla="*/ 58 h 115"/>
                    <a:gd name="T80" fmla="*/ 5 w 115"/>
                    <a:gd name="T81" fmla="*/ 47 h 115"/>
                    <a:gd name="T82" fmla="*/ 8 w 115"/>
                    <a:gd name="T83" fmla="*/ 36 h 115"/>
                    <a:gd name="T84" fmla="*/ 20 w 115"/>
                    <a:gd name="T85" fmla="*/ 19 h 115"/>
                    <a:gd name="T86" fmla="*/ 37 w 115"/>
                    <a:gd name="T87" fmla="*/ 9 h 115"/>
                    <a:gd name="T88" fmla="*/ 57 w 115"/>
                    <a:gd name="T89" fmla="*/ 5 h 115"/>
                    <a:gd name="T90" fmla="*/ 79 w 115"/>
                    <a:gd name="T91" fmla="*/ 9 h 115"/>
                    <a:gd name="T92" fmla="*/ 96 w 115"/>
                    <a:gd name="T93" fmla="*/ 19 h 115"/>
                    <a:gd name="T94" fmla="*/ 106 w 115"/>
                    <a:gd name="T95" fmla="*/ 36 h 115"/>
                    <a:gd name="T96" fmla="*/ 111 w 115"/>
                    <a:gd name="T97" fmla="*/ 5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5" h="115">
                      <a:moveTo>
                        <a:pt x="115" y="58"/>
                      </a:moveTo>
                      <a:lnTo>
                        <a:pt x="115" y="51"/>
                      </a:lnTo>
                      <a:lnTo>
                        <a:pt x="114" y="46"/>
                      </a:lnTo>
                      <a:lnTo>
                        <a:pt x="113" y="41"/>
                      </a:lnTo>
                      <a:lnTo>
                        <a:pt x="111" y="35"/>
                      </a:lnTo>
                      <a:lnTo>
                        <a:pt x="105" y="26"/>
                      </a:lnTo>
                      <a:lnTo>
                        <a:pt x="98" y="17"/>
                      </a:lnTo>
                      <a:lnTo>
                        <a:pt x="89" y="10"/>
                      </a:lnTo>
                      <a:lnTo>
                        <a:pt x="80" y="5"/>
                      </a:lnTo>
                      <a:lnTo>
                        <a:pt x="74" y="2"/>
                      </a:lnTo>
                      <a:lnTo>
                        <a:pt x="69" y="1"/>
                      </a:lnTo>
                      <a:lnTo>
                        <a:pt x="64" y="0"/>
                      </a:lnTo>
                      <a:lnTo>
                        <a:pt x="57" y="0"/>
                      </a:lnTo>
                      <a:lnTo>
                        <a:pt x="52" y="0"/>
                      </a:lnTo>
                      <a:lnTo>
                        <a:pt x="46" y="1"/>
                      </a:lnTo>
                      <a:lnTo>
                        <a:pt x="40" y="2"/>
                      </a:lnTo>
                      <a:lnTo>
                        <a:pt x="35" y="5"/>
                      </a:lnTo>
                      <a:lnTo>
                        <a:pt x="26" y="10"/>
                      </a:lnTo>
                      <a:lnTo>
                        <a:pt x="17" y="17"/>
                      </a:lnTo>
                      <a:lnTo>
                        <a:pt x="14" y="22"/>
                      </a:lnTo>
                      <a:lnTo>
                        <a:pt x="10" y="26"/>
                      </a:lnTo>
                      <a:lnTo>
                        <a:pt x="7" y="30"/>
                      </a:lnTo>
                      <a:lnTo>
                        <a:pt x="4" y="35"/>
                      </a:lnTo>
                      <a:lnTo>
                        <a:pt x="3" y="41"/>
                      </a:lnTo>
                      <a:lnTo>
                        <a:pt x="1" y="46"/>
                      </a:lnTo>
                      <a:lnTo>
                        <a:pt x="0" y="51"/>
                      </a:lnTo>
                      <a:lnTo>
                        <a:pt x="0" y="58"/>
                      </a:lnTo>
                      <a:lnTo>
                        <a:pt x="0" y="63"/>
                      </a:lnTo>
                      <a:lnTo>
                        <a:pt x="1" y="69"/>
                      </a:lnTo>
                      <a:lnTo>
                        <a:pt x="3" y="75"/>
                      </a:lnTo>
                      <a:lnTo>
                        <a:pt x="4" y="80"/>
                      </a:lnTo>
                      <a:lnTo>
                        <a:pt x="7" y="85"/>
                      </a:lnTo>
                      <a:lnTo>
                        <a:pt x="10" y="90"/>
                      </a:lnTo>
                      <a:lnTo>
                        <a:pt x="14" y="94"/>
                      </a:lnTo>
                      <a:lnTo>
                        <a:pt x="17" y="98"/>
                      </a:lnTo>
                      <a:lnTo>
                        <a:pt x="21" y="102"/>
                      </a:lnTo>
                      <a:lnTo>
                        <a:pt x="26" y="106"/>
                      </a:lnTo>
                      <a:lnTo>
                        <a:pt x="30" y="108"/>
                      </a:lnTo>
                      <a:lnTo>
                        <a:pt x="35" y="111"/>
                      </a:lnTo>
                      <a:lnTo>
                        <a:pt x="40" y="113"/>
                      </a:lnTo>
                      <a:lnTo>
                        <a:pt x="46" y="114"/>
                      </a:lnTo>
                      <a:lnTo>
                        <a:pt x="52" y="115"/>
                      </a:lnTo>
                      <a:lnTo>
                        <a:pt x="57" y="115"/>
                      </a:lnTo>
                      <a:lnTo>
                        <a:pt x="64" y="115"/>
                      </a:lnTo>
                      <a:lnTo>
                        <a:pt x="69" y="114"/>
                      </a:lnTo>
                      <a:lnTo>
                        <a:pt x="74" y="113"/>
                      </a:lnTo>
                      <a:lnTo>
                        <a:pt x="80" y="111"/>
                      </a:lnTo>
                      <a:lnTo>
                        <a:pt x="85" y="108"/>
                      </a:lnTo>
                      <a:lnTo>
                        <a:pt x="89" y="106"/>
                      </a:lnTo>
                      <a:lnTo>
                        <a:pt x="95" y="102"/>
                      </a:lnTo>
                      <a:lnTo>
                        <a:pt x="98" y="98"/>
                      </a:lnTo>
                      <a:lnTo>
                        <a:pt x="105" y="90"/>
                      </a:lnTo>
                      <a:lnTo>
                        <a:pt x="111" y="80"/>
                      </a:lnTo>
                      <a:lnTo>
                        <a:pt x="113" y="75"/>
                      </a:lnTo>
                      <a:lnTo>
                        <a:pt x="114" y="69"/>
                      </a:lnTo>
                      <a:lnTo>
                        <a:pt x="115" y="63"/>
                      </a:lnTo>
                      <a:lnTo>
                        <a:pt x="115" y="58"/>
                      </a:lnTo>
                      <a:close/>
                      <a:moveTo>
                        <a:pt x="111" y="58"/>
                      </a:moveTo>
                      <a:lnTo>
                        <a:pt x="110" y="68"/>
                      </a:lnTo>
                      <a:lnTo>
                        <a:pt x="106" y="78"/>
                      </a:lnTo>
                      <a:lnTo>
                        <a:pt x="102" y="88"/>
                      </a:lnTo>
                      <a:lnTo>
                        <a:pt x="96" y="95"/>
                      </a:lnTo>
                      <a:lnTo>
                        <a:pt x="87" y="102"/>
                      </a:lnTo>
                      <a:lnTo>
                        <a:pt x="79" y="107"/>
                      </a:lnTo>
                      <a:lnTo>
                        <a:pt x="73" y="109"/>
                      </a:lnTo>
                      <a:lnTo>
                        <a:pt x="68" y="110"/>
                      </a:lnTo>
                      <a:lnTo>
                        <a:pt x="63" y="111"/>
                      </a:lnTo>
                      <a:lnTo>
                        <a:pt x="57" y="111"/>
                      </a:lnTo>
                      <a:lnTo>
                        <a:pt x="52" y="111"/>
                      </a:lnTo>
                      <a:lnTo>
                        <a:pt x="47" y="110"/>
                      </a:lnTo>
                      <a:lnTo>
                        <a:pt x="41" y="109"/>
                      </a:lnTo>
                      <a:lnTo>
                        <a:pt x="37" y="107"/>
                      </a:lnTo>
                      <a:lnTo>
                        <a:pt x="28" y="102"/>
                      </a:lnTo>
                      <a:lnTo>
                        <a:pt x="20" y="95"/>
                      </a:lnTo>
                      <a:lnTo>
                        <a:pt x="14" y="88"/>
                      </a:lnTo>
                      <a:lnTo>
                        <a:pt x="8" y="78"/>
                      </a:lnTo>
                      <a:lnTo>
                        <a:pt x="6" y="74"/>
                      </a:lnTo>
                      <a:lnTo>
                        <a:pt x="5" y="68"/>
                      </a:lnTo>
                      <a:lnTo>
                        <a:pt x="4" y="63"/>
                      </a:lnTo>
                      <a:lnTo>
                        <a:pt x="4" y="58"/>
                      </a:lnTo>
                      <a:lnTo>
                        <a:pt x="4" y="52"/>
                      </a:lnTo>
                      <a:lnTo>
                        <a:pt x="5" y="47"/>
                      </a:lnTo>
                      <a:lnTo>
                        <a:pt x="6" y="42"/>
                      </a:lnTo>
                      <a:lnTo>
                        <a:pt x="8" y="36"/>
                      </a:lnTo>
                      <a:lnTo>
                        <a:pt x="14" y="28"/>
                      </a:lnTo>
                      <a:lnTo>
                        <a:pt x="20" y="19"/>
                      </a:lnTo>
                      <a:lnTo>
                        <a:pt x="28" y="13"/>
                      </a:lnTo>
                      <a:lnTo>
                        <a:pt x="37" y="9"/>
                      </a:lnTo>
                      <a:lnTo>
                        <a:pt x="47" y="6"/>
                      </a:lnTo>
                      <a:lnTo>
                        <a:pt x="57" y="5"/>
                      </a:lnTo>
                      <a:lnTo>
                        <a:pt x="68" y="6"/>
                      </a:lnTo>
                      <a:lnTo>
                        <a:pt x="79" y="9"/>
                      </a:lnTo>
                      <a:lnTo>
                        <a:pt x="87" y="13"/>
                      </a:lnTo>
                      <a:lnTo>
                        <a:pt x="96" y="19"/>
                      </a:lnTo>
                      <a:lnTo>
                        <a:pt x="102" y="28"/>
                      </a:lnTo>
                      <a:lnTo>
                        <a:pt x="106" y="36"/>
                      </a:lnTo>
                      <a:lnTo>
                        <a:pt x="110" y="47"/>
                      </a:lnTo>
                      <a:lnTo>
                        <a:pt x="111" y="5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56" name="Freeform 4944"/>
                <p:cNvSpPr>
                  <a:spLocks noChangeAspect="1" noEditPoints="1"/>
                </p:cNvSpPr>
                <p:nvPr/>
              </p:nvSpPr>
              <p:spPr bwMode="auto">
                <a:xfrm>
                  <a:off x="3504" y="3532"/>
                  <a:ext cx="37" cy="37"/>
                </a:xfrm>
                <a:custGeom>
                  <a:avLst/>
                  <a:gdLst>
                    <a:gd name="T0" fmla="*/ 111 w 111"/>
                    <a:gd name="T1" fmla="*/ 50 h 111"/>
                    <a:gd name="T2" fmla="*/ 109 w 111"/>
                    <a:gd name="T3" fmla="*/ 39 h 111"/>
                    <a:gd name="T4" fmla="*/ 101 w 111"/>
                    <a:gd name="T5" fmla="*/ 25 h 111"/>
                    <a:gd name="T6" fmla="*/ 86 w 111"/>
                    <a:gd name="T7" fmla="*/ 10 h 111"/>
                    <a:gd name="T8" fmla="*/ 72 w 111"/>
                    <a:gd name="T9" fmla="*/ 3 h 111"/>
                    <a:gd name="T10" fmla="*/ 62 w 111"/>
                    <a:gd name="T11" fmla="*/ 0 h 111"/>
                    <a:gd name="T12" fmla="*/ 50 w 111"/>
                    <a:gd name="T13" fmla="*/ 0 h 111"/>
                    <a:gd name="T14" fmla="*/ 39 w 111"/>
                    <a:gd name="T15" fmla="*/ 3 h 111"/>
                    <a:gd name="T16" fmla="*/ 25 w 111"/>
                    <a:gd name="T17" fmla="*/ 10 h 111"/>
                    <a:gd name="T18" fmla="*/ 10 w 111"/>
                    <a:gd name="T19" fmla="*/ 25 h 111"/>
                    <a:gd name="T20" fmla="*/ 2 w 111"/>
                    <a:gd name="T21" fmla="*/ 39 h 111"/>
                    <a:gd name="T22" fmla="*/ 0 w 111"/>
                    <a:gd name="T23" fmla="*/ 50 h 111"/>
                    <a:gd name="T24" fmla="*/ 0 w 111"/>
                    <a:gd name="T25" fmla="*/ 61 h 111"/>
                    <a:gd name="T26" fmla="*/ 2 w 111"/>
                    <a:gd name="T27" fmla="*/ 72 h 111"/>
                    <a:gd name="T28" fmla="*/ 10 w 111"/>
                    <a:gd name="T29" fmla="*/ 87 h 111"/>
                    <a:gd name="T30" fmla="*/ 25 w 111"/>
                    <a:gd name="T31" fmla="*/ 101 h 111"/>
                    <a:gd name="T32" fmla="*/ 39 w 111"/>
                    <a:gd name="T33" fmla="*/ 109 h 111"/>
                    <a:gd name="T34" fmla="*/ 50 w 111"/>
                    <a:gd name="T35" fmla="*/ 111 h 111"/>
                    <a:gd name="T36" fmla="*/ 62 w 111"/>
                    <a:gd name="T37" fmla="*/ 111 h 111"/>
                    <a:gd name="T38" fmla="*/ 72 w 111"/>
                    <a:gd name="T39" fmla="*/ 109 h 111"/>
                    <a:gd name="T40" fmla="*/ 86 w 111"/>
                    <a:gd name="T41" fmla="*/ 101 h 111"/>
                    <a:gd name="T42" fmla="*/ 101 w 111"/>
                    <a:gd name="T43" fmla="*/ 87 h 111"/>
                    <a:gd name="T44" fmla="*/ 109 w 111"/>
                    <a:gd name="T45" fmla="*/ 72 h 111"/>
                    <a:gd name="T46" fmla="*/ 111 w 111"/>
                    <a:gd name="T47" fmla="*/ 61 h 111"/>
                    <a:gd name="T48" fmla="*/ 107 w 111"/>
                    <a:gd name="T49" fmla="*/ 56 h 111"/>
                    <a:gd name="T50" fmla="*/ 103 w 111"/>
                    <a:gd name="T51" fmla="*/ 76 h 111"/>
                    <a:gd name="T52" fmla="*/ 92 w 111"/>
                    <a:gd name="T53" fmla="*/ 92 h 111"/>
                    <a:gd name="T54" fmla="*/ 76 w 111"/>
                    <a:gd name="T55" fmla="*/ 103 h 111"/>
                    <a:gd name="T56" fmla="*/ 55 w 111"/>
                    <a:gd name="T57" fmla="*/ 107 h 111"/>
                    <a:gd name="T58" fmla="*/ 35 w 111"/>
                    <a:gd name="T59" fmla="*/ 103 h 111"/>
                    <a:gd name="T60" fmla="*/ 19 w 111"/>
                    <a:gd name="T61" fmla="*/ 92 h 111"/>
                    <a:gd name="T62" fmla="*/ 9 w 111"/>
                    <a:gd name="T63" fmla="*/ 76 h 111"/>
                    <a:gd name="T64" fmla="*/ 4 w 111"/>
                    <a:gd name="T65" fmla="*/ 56 h 111"/>
                    <a:gd name="T66" fmla="*/ 9 w 111"/>
                    <a:gd name="T67" fmla="*/ 36 h 111"/>
                    <a:gd name="T68" fmla="*/ 19 w 111"/>
                    <a:gd name="T69" fmla="*/ 20 h 111"/>
                    <a:gd name="T70" fmla="*/ 35 w 111"/>
                    <a:gd name="T71" fmla="*/ 8 h 111"/>
                    <a:gd name="T72" fmla="*/ 55 w 111"/>
                    <a:gd name="T73" fmla="*/ 5 h 111"/>
                    <a:gd name="T74" fmla="*/ 76 w 111"/>
                    <a:gd name="T75" fmla="*/ 8 h 111"/>
                    <a:gd name="T76" fmla="*/ 92 w 111"/>
                    <a:gd name="T77" fmla="*/ 20 h 111"/>
                    <a:gd name="T78" fmla="*/ 103 w 111"/>
                    <a:gd name="T79" fmla="*/ 36 h 111"/>
                    <a:gd name="T80" fmla="*/ 107 w 111"/>
                    <a:gd name="T81" fmla="*/ 5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1" h="111">
                      <a:moveTo>
                        <a:pt x="111" y="56"/>
                      </a:moveTo>
                      <a:lnTo>
                        <a:pt x="111" y="50"/>
                      </a:lnTo>
                      <a:lnTo>
                        <a:pt x="110" y="44"/>
                      </a:lnTo>
                      <a:lnTo>
                        <a:pt x="109" y="39"/>
                      </a:lnTo>
                      <a:lnTo>
                        <a:pt x="107" y="34"/>
                      </a:lnTo>
                      <a:lnTo>
                        <a:pt x="101" y="25"/>
                      </a:lnTo>
                      <a:lnTo>
                        <a:pt x="95" y="16"/>
                      </a:lnTo>
                      <a:lnTo>
                        <a:pt x="86" y="10"/>
                      </a:lnTo>
                      <a:lnTo>
                        <a:pt x="77" y="5"/>
                      </a:lnTo>
                      <a:lnTo>
                        <a:pt x="72" y="3"/>
                      </a:lnTo>
                      <a:lnTo>
                        <a:pt x="67" y="2"/>
                      </a:lnTo>
                      <a:lnTo>
                        <a:pt x="62" y="0"/>
                      </a:lnTo>
                      <a:lnTo>
                        <a:pt x="55" y="0"/>
                      </a:lnTo>
                      <a:lnTo>
                        <a:pt x="50" y="0"/>
                      </a:lnTo>
                      <a:lnTo>
                        <a:pt x="45" y="2"/>
                      </a:lnTo>
                      <a:lnTo>
                        <a:pt x="39" y="3"/>
                      </a:lnTo>
                      <a:lnTo>
                        <a:pt x="34" y="5"/>
                      </a:lnTo>
                      <a:lnTo>
                        <a:pt x="25" y="10"/>
                      </a:lnTo>
                      <a:lnTo>
                        <a:pt x="16" y="16"/>
                      </a:lnTo>
                      <a:lnTo>
                        <a:pt x="10" y="25"/>
                      </a:lnTo>
                      <a:lnTo>
                        <a:pt x="4" y="34"/>
                      </a:lnTo>
                      <a:lnTo>
                        <a:pt x="2" y="39"/>
                      </a:lnTo>
                      <a:lnTo>
                        <a:pt x="1" y="44"/>
                      </a:lnTo>
                      <a:lnTo>
                        <a:pt x="0" y="50"/>
                      </a:lnTo>
                      <a:lnTo>
                        <a:pt x="0" y="56"/>
                      </a:lnTo>
                      <a:lnTo>
                        <a:pt x="0" y="61"/>
                      </a:lnTo>
                      <a:lnTo>
                        <a:pt x="1" y="66"/>
                      </a:lnTo>
                      <a:lnTo>
                        <a:pt x="2" y="72"/>
                      </a:lnTo>
                      <a:lnTo>
                        <a:pt x="4" y="77"/>
                      </a:lnTo>
                      <a:lnTo>
                        <a:pt x="10" y="87"/>
                      </a:lnTo>
                      <a:lnTo>
                        <a:pt x="16" y="95"/>
                      </a:lnTo>
                      <a:lnTo>
                        <a:pt x="25" y="101"/>
                      </a:lnTo>
                      <a:lnTo>
                        <a:pt x="34" y="107"/>
                      </a:lnTo>
                      <a:lnTo>
                        <a:pt x="39" y="109"/>
                      </a:lnTo>
                      <a:lnTo>
                        <a:pt x="45" y="110"/>
                      </a:lnTo>
                      <a:lnTo>
                        <a:pt x="50" y="111"/>
                      </a:lnTo>
                      <a:lnTo>
                        <a:pt x="55" y="111"/>
                      </a:lnTo>
                      <a:lnTo>
                        <a:pt x="62" y="111"/>
                      </a:lnTo>
                      <a:lnTo>
                        <a:pt x="67" y="110"/>
                      </a:lnTo>
                      <a:lnTo>
                        <a:pt x="72" y="109"/>
                      </a:lnTo>
                      <a:lnTo>
                        <a:pt x="77" y="107"/>
                      </a:lnTo>
                      <a:lnTo>
                        <a:pt x="86" y="101"/>
                      </a:lnTo>
                      <a:lnTo>
                        <a:pt x="95" y="95"/>
                      </a:lnTo>
                      <a:lnTo>
                        <a:pt x="101" y="87"/>
                      </a:lnTo>
                      <a:lnTo>
                        <a:pt x="107" y="77"/>
                      </a:lnTo>
                      <a:lnTo>
                        <a:pt x="109" y="72"/>
                      </a:lnTo>
                      <a:lnTo>
                        <a:pt x="110" y="66"/>
                      </a:lnTo>
                      <a:lnTo>
                        <a:pt x="111" y="61"/>
                      </a:lnTo>
                      <a:lnTo>
                        <a:pt x="111" y="56"/>
                      </a:lnTo>
                      <a:close/>
                      <a:moveTo>
                        <a:pt x="107" y="56"/>
                      </a:moveTo>
                      <a:lnTo>
                        <a:pt x="105" y="66"/>
                      </a:lnTo>
                      <a:lnTo>
                        <a:pt x="103" y="76"/>
                      </a:lnTo>
                      <a:lnTo>
                        <a:pt x="98" y="84"/>
                      </a:lnTo>
                      <a:lnTo>
                        <a:pt x="92" y="92"/>
                      </a:lnTo>
                      <a:lnTo>
                        <a:pt x="84" y="98"/>
                      </a:lnTo>
                      <a:lnTo>
                        <a:pt x="76" y="103"/>
                      </a:lnTo>
                      <a:lnTo>
                        <a:pt x="66" y="106"/>
                      </a:lnTo>
                      <a:lnTo>
                        <a:pt x="55" y="107"/>
                      </a:lnTo>
                      <a:lnTo>
                        <a:pt x="45" y="106"/>
                      </a:lnTo>
                      <a:lnTo>
                        <a:pt x="35" y="103"/>
                      </a:lnTo>
                      <a:lnTo>
                        <a:pt x="27" y="98"/>
                      </a:lnTo>
                      <a:lnTo>
                        <a:pt x="19" y="92"/>
                      </a:lnTo>
                      <a:lnTo>
                        <a:pt x="13" y="84"/>
                      </a:lnTo>
                      <a:lnTo>
                        <a:pt x="9" y="76"/>
                      </a:lnTo>
                      <a:lnTo>
                        <a:pt x="5" y="66"/>
                      </a:lnTo>
                      <a:lnTo>
                        <a:pt x="4" y="56"/>
                      </a:lnTo>
                      <a:lnTo>
                        <a:pt x="5" y="45"/>
                      </a:lnTo>
                      <a:lnTo>
                        <a:pt x="9" y="36"/>
                      </a:lnTo>
                      <a:lnTo>
                        <a:pt x="13" y="27"/>
                      </a:lnTo>
                      <a:lnTo>
                        <a:pt x="19" y="20"/>
                      </a:lnTo>
                      <a:lnTo>
                        <a:pt x="27" y="13"/>
                      </a:lnTo>
                      <a:lnTo>
                        <a:pt x="35" y="8"/>
                      </a:lnTo>
                      <a:lnTo>
                        <a:pt x="45" y="6"/>
                      </a:lnTo>
                      <a:lnTo>
                        <a:pt x="55" y="5"/>
                      </a:lnTo>
                      <a:lnTo>
                        <a:pt x="66" y="6"/>
                      </a:lnTo>
                      <a:lnTo>
                        <a:pt x="76" y="8"/>
                      </a:lnTo>
                      <a:lnTo>
                        <a:pt x="84" y="13"/>
                      </a:lnTo>
                      <a:lnTo>
                        <a:pt x="92" y="20"/>
                      </a:lnTo>
                      <a:lnTo>
                        <a:pt x="98" y="27"/>
                      </a:lnTo>
                      <a:lnTo>
                        <a:pt x="103" y="36"/>
                      </a:lnTo>
                      <a:lnTo>
                        <a:pt x="105" y="45"/>
                      </a:lnTo>
                      <a:lnTo>
                        <a:pt x="107" y="5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57" name="Freeform 4945"/>
                <p:cNvSpPr>
                  <a:spLocks noChangeAspect="1" noEditPoints="1"/>
                </p:cNvSpPr>
                <p:nvPr/>
              </p:nvSpPr>
              <p:spPr bwMode="auto">
                <a:xfrm>
                  <a:off x="3505" y="3533"/>
                  <a:ext cx="35" cy="35"/>
                </a:xfrm>
                <a:custGeom>
                  <a:avLst/>
                  <a:gdLst>
                    <a:gd name="T0" fmla="*/ 106 w 107"/>
                    <a:gd name="T1" fmla="*/ 42 h 106"/>
                    <a:gd name="T2" fmla="*/ 98 w 107"/>
                    <a:gd name="T3" fmla="*/ 23 h 106"/>
                    <a:gd name="T4" fmla="*/ 83 w 107"/>
                    <a:gd name="T5" fmla="*/ 8 h 106"/>
                    <a:gd name="T6" fmla="*/ 64 w 107"/>
                    <a:gd name="T7" fmla="*/ 1 h 106"/>
                    <a:gd name="T8" fmla="*/ 43 w 107"/>
                    <a:gd name="T9" fmla="*/ 1 h 106"/>
                    <a:gd name="T10" fmla="*/ 24 w 107"/>
                    <a:gd name="T11" fmla="*/ 8 h 106"/>
                    <a:gd name="T12" fmla="*/ 10 w 107"/>
                    <a:gd name="T13" fmla="*/ 23 h 106"/>
                    <a:gd name="T14" fmla="*/ 2 w 107"/>
                    <a:gd name="T15" fmla="*/ 37 h 106"/>
                    <a:gd name="T16" fmla="*/ 0 w 107"/>
                    <a:gd name="T17" fmla="*/ 47 h 106"/>
                    <a:gd name="T18" fmla="*/ 0 w 107"/>
                    <a:gd name="T19" fmla="*/ 58 h 106"/>
                    <a:gd name="T20" fmla="*/ 2 w 107"/>
                    <a:gd name="T21" fmla="*/ 69 h 106"/>
                    <a:gd name="T22" fmla="*/ 10 w 107"/>
                    <a:gd name="T23" fmla="*/ 83 h 106"/>
                    <a:gd name="T24" fmla="*/ 24 w 107"/>
                    <a:gd name="T25" fmla="*/ 97 h 106"/>
                    <a:gd name="T26" fmla="*/ 37 w 107"/>
                    <a:gd name="T27" fmla="*/ 104 h 106"/>
                    <a:gd name="T28" fmla="*/ 48 w 107"/>
                    <a:gd name="T29" fmla="*/ 106 h 106"/>
                    <a:gd name="T30" fmla="*/ 59 w 107"/>
                    <a:gd name="T31" fmla="*/ 106 h 106"/>
                    <a:gd name="T32" fmla="*/ 69 w 107"/>
                    <a:gd name="T33" fmla="*/ 104 h 106"/>
                    <a:gd name="T34" fmla="*/ 83 w 107"/>
                    <a:gd name="T35" fmla="*/ 97 h 106"/>
                    <a:gd name="T36" fmla="*/ 98 w 107"/>
                    <a:gd name="T37" fmla="*/ 83 h 106"/>
                    <a:gd name="T38" fmla="*/ 106 w 107"/>
                    <a:gd name="T39" fmla="*/ 63 h 106"/>
                    <a:gd name="T40" fmla="*/ 103 w 107"/>
                    <a:gd name="T41" fmla="*/ 53 h 106"/>
                    <a:gd name="T42" fmla="*/ 99 w 107"/>
                    <a:gd name="T43" fmla="*/ 72 h 106"/>
                    <a:gd name="T44" fmla="*/ 89 w 107"/>
                    <a:gd name="T45" fmla="*/ 88 h 106"/>
                    <a:gd name="T46" fmla="*/ 73 w 107"/>
                    <a:gd name="T47" fmla="*/ 98 h 106"/>
                    <a:gd name="T48" fmla="*/ 53 w 107"/>
                    <a:gd name="T49" fmla="*/ 102 h 106"/>
                    <a:gd name="T50" fmla="*/ 34 w 107"/>
                    <a:gd name="T51" fmla="*/ 98 h 106"/>
                    <a:gd name="T52" fmla="*/ 18 w 107"/>
                    <a:gd name="T53" fmla="*/ 88 h 106"/>
                    <a:gd name="T54" fmla="*/ 9 w 107"/>
                    <a:gd name="T55" fmla="*/ 72 h 106"/>
                    <a:gd name="T56" fmla="*/ 4 w 107"/>
                    <a:gd name="T57" fmla="*/ 53 h 106"/>
                    <a:gd name="T58" fmla="*/ 9 w 107"/>
                    <a:gd name="T59" fmla="*/ 34 h 106"/>
                    <a:gd name="T60" fmla="*/ 18 w 107"/>
                    <a:gd name="T61" fmla="*/ 18 h 106"/>
                    <a:gd name="T62" fmla="*/ 34 w 107"/>
                    <a:gd name="T63" fmla="*/ 7 h 106"/>
                    <a:gd name="T64" fmla="*/ 53 w 107"/>
                    <a:gd name="T65" fmla="*/ 4 h 106"/>
                    <a:gd name="T66" fmla="*/ 73 w 107"/>
                    <a:gd name="T67" fmla="*/ 7 h 106"/>
                    <a:gd name="T68" fmla="*/ 89 w 107"/>
                    <a:gd name="T69" fmla="*/ 18 h 106"/>
                    <a:gd name="T70" fmla="*/ 99 w 107"/>
                    <a:gd name="T71" fmla="*/ 34 h 106"/>
                    <a:gd name="T72" fmla="*/ 103 w 107"/>
                    <a:gd name="T73"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106">
                      <a:moveTo>
                        <a:pt x="107" y="53"/>
                      </a:moveTo>
                      <a:lnTo>
                        <a:pt x="106" y="42"/>
                      </a:lnTo>
                      <a:lnTo>
                        <a:pt x="102" y="31"/>
                      </a:lnTo>
                      <a:lnTo>
                        <a:pt x="98" y="23"/>
                      </a:lnTo>
                      <a:lnTo>
                        <a:pt x="92" y="14"/>
                      </a:lnTo>
                      <a:lnTo>
                        <a:pt x="83" y="8"/>
                      </a:lnTo>
                      <a:lnTo>
                        <a:pt x="75" y="4"/>
                      </a:lnTo>
                      <a:lnTo>
                        <a:pt x="64" y="1"/>
                      </a:lnTo>
                      <a:lnTo>
                        <a:pt x="53" y="0"/>
                      </a:lnTo>
                      <a:lnTo>
                        <a:pt x="43" y="1"/>
                      </a:lnTo>
                      <a:lnTo>
                        <a:pt x="33" y="4"/>
                      </a:lnTo>
                      <a:lnTo>
                        <a:pt x="24" y="8"/>
                      </a:lnTo>
                      <a:lnTo>
                        <a:pt x="16" y="14"/>
                      </a:lnTo>
                      <a:lnTo>
                        <a:pt x="10" y="23"/>
                      </a:lnTo>
                      <a:lnTo>
                        <a:pt x="4" y="31"/>
                      </a:lnTo>
                      <a:lnTo>
                        <a:pt x="2" y="37"/>
                      </a:lnTo>
                      <a:lnTo>
                        <a:pt x="1" y="42"/>
                      </a:lnTo>
                      <a:lnTo>
                        <a:pt x="0" y="47"/>
                      </a:lnTo>
                      <a:lnTo>
                        <a:pt x="0" y="53"/>
                      </a:lnTo>
                      <a:lnTo>
                        <a:pt x="0" y="58"/>
                      </a:lnTo>
                      <a:lnTo>
                        <a:pt x="1" y="63"/>
                      </a:lnTo>
                      <a:lnTo>
                        <a:pt x="2" y="69"/>
                      </a:lnTo>
                      <a:lnTo>
                        <a:pt x="4" y="73"/>
                      </a:lnTo>
                      <a:lnTo>
                        <a:pt x="10" y="83"/>
                      </a:lnTo>
                      <a:lnTo>
                        <a:pt x="16" y="90"/>
                      </a:lnTo>
                      <a:lnTo>
                        <a:pt x="24" y="97"/>
                      </a:lnTo>
                      <a:lnTo>
                        <a:pt x="33" y="102"/>
                      </a:lnTo>
                      <a:lnTo>
                        <a:pt x="37" y="104"/>
                      </a:lnTo>
                      <a:lnTo>
                        <a:pt x="43" y="105"/>
                      </a:lnTo>
                      <a:lnTo>
                        <a:pt x="48" y="106"/>
                      </a:lnTo>
                      <a:lnTo>
                        <a:pt x="53" y="106"/>
                      </a:lnTo>
                      <a:lnTo>
                        <a:pt x="59" y="106"/>
                      </a:lnTo>
                      <a:lnTo>
                        <a:pt x="64" y="105"/>
                      </a:lnTo>
                      <a:lnTo>
                        <a:pt x="69" y="104"/>
                      </a:lnTo>
                      <a:lnTo>
                        <a:pt x="75" y="102"/>
                      </a:lnTo>
                      <a:lnTo>
                        <a:pt x="83" y="97"/>
                      </a:lnTo>
                      <a:lnTo>
                        <a:pt x="92" y="90"/>
                      </a:lnTo>
                      <a:lnTo>
                        <a:pt x="98" y="83"/>
                      </a:lnTo>
                      <a:lnTo>
                        <a:pt x="102" y="73"/>
                      </a:lnTo>
                      <a:lnTo>
                        <a:pt x="106" y="63"/>
                      </a:lnTo>
                      <a:lnTo>
                        <a:pt x="107" y="53"/>
                      </a:lnTo>
                      <a:close/>
                      <a:moveTo>
                        <a:pt x="103" y="53"/>
                      </a:moveTo>
                      <a:lnTo>
                        <a:pt x="102" y="62"/>
                      </a:lnTo>
                      <a:lnTo>
                        <a:pt x="99" y="72"/>
                      </a:lnTo>
                      <a:lnTo>
                        <a:pt x="95" y="80"/>
                      </a:lnTo>
                      <a:lnTo>
                        <a:pt x="89" y="88"/>
                      </a:lnTo>
                      <a:lnTo>
                        <a:pt x="81" y="93"/>
                      </a:lnTo>
                      <a:lnTo>
                        <a:pt x="73" y="98"/>
                      </a:lnTo>
                      <a:lnTo>
                        <a:pt x="64" y="101"/>
                      </a:lnTo>
                      <a:lnTo>
                        <a:pt x="53" y="102"/>
                      </a:lnTo>
                      <a:lnTo>
                        <a:pt x="44" y="101"/>
                      </a:lnTo>
                      <a:lnTo>
                        <a:pt x="34" y="98"/>
                      </a:lnTo>
                      <a:lnTo>
                        <a:pt x="26" y="93"/>
                      </a:lnTo>
                      <a:lnTo>
                        <a:pt x="18" y="88"/>
                      </a:lnTo>
                      <a:lnTo>
                        <a:pt x="13" y="80"/>
                      </a:lnTo>
                      <a:lnTo>
                        <a:pt x="9" y="72"/>
                      </a:lnTo>
                      <a:lnTo>
                        <a:pt x="6" y="62"/>
                      </a:lnTo>
                      <a:lnTo>
                        <a:pt x="4" y="53"/>
                      </a:lnTo>
                      <a:lnTo>
                        <a:pt x="6" y="43"/>
                      </a:lnTo>
                      <a:lnTo>
                        <a:pt x="9" y="34"/>
                      </a:lnTo>
                      <a:lnTo>
                        <a:pt x="13" y="25"/>
                      </a:lnTo>
                      <a:lnTo>
                        <a:pt x="18" y="18"/>
                      </a:lnTo>
                      <a:lnTo>
                        <a:pt x="26" y="12"/>
                      </a:lnTo>
                      <a:lnTo>
                        <a:pt x="34" y="7"/>
                      </a:lnTo>
                      <a:lnTo>
                        <a:pt x="44" y="5"/>
                      </a:lnTo>
                      <a:lnTo>
                        <a:pt x="53" y="4"/>
                      </a:lnTo>
                      <a:lnTo>
                        <a:pt x="64" y="5"/>
                      </a:lnTo>
                      <a:lnTo>
                        <a:pt x="73" y="7"/>
                      </a:lnTo>
                      <a:lnTo>
                        <a:pt x="81" y="12"/>
                      </a:lnTo>
                      <a:lnTo>
                        <a:pt x="89" y="18"/>
                      </a:lnTo>
                      <a:lnTo>
                        <a:pt x="95" y="25"/>
                      </a:lnTo>
                      <a:lnTo>
                        <a:pt x="99" y="34"/>
                      </a:lnTo>
                      <a:lnTo>
                        <a:pt x="102" y="43"/>
                      </a:lnTo>
                      <a:lnTo>
                        <a:pt x="103" y="5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58" name="Freeform 4946"/>
                <p:cNvSpPr>
                  <a:spLocks noChangeAspect="1" noEditPoints="1"/>
                </p:cNvSpPr>
                <p:nvPr/>
              </p:nvSpPr>
              <p:spPr bwMode="auto">
                <a:xfrm>
                  <a:off x="3505" y="3534"/>
                  <a:ext cx="35" cy="34"/>
                </a:xfrm>
                <a:custGeom>
                  <a:avLst/>
                  <a:gdLst>
                    <a:gd name="T0" fmla="*/ 101 w 103"/>
                    <a:gd name="T1" fmla="*/ 40 h 102"/>
                    <a:gd name="T2" fmla="*/ 94 w 103"/>
                    <a:gd name="T3" fmla="*/ 22 h 102"/>
                    <a:gd name="T4" fmla="*/ 80 w 103"/>
                    <a:gd name="T5" fmla="*/ 8 h 102"/>
                    <a:gd name="T6" fmla="*/ 62 w 103"/>
                    <a:gd name="T7" fmla="*/ 1 h 102"/>
                    <a:gd name="T8" fmla="*/ 41 w 103"/>
                    <a:gd name="T9" fmla="*/ 1 h 102"/>
                    <a:gd name="T10" fmla="*/ 23 w 103"/>
                    <a:gd name="T11" fmla="*/ 8 h 102"/>
                    <a:gd name="T12" fmla="*/ 9 w 103"/>
                    <a:gd name="T13" fmla="*/ 22 h 102"/>
                    <a:gd name="T14" fmla="*/ 1 w 103"/>
                    <a:gd name="T15" fmla="*/ 40 h 102"/>
                    <a:gd name="T16" fmla="*/ 1 w 103"/>
                    <a:gd name="T17" fmla="*/ 61 h 102"/>
                    <a:gd name="T18" fmla="*/ 9 w 103"/>
                    <a:gd name="T19" fmla="*/ 79 h 102"/>
                    <a:gd name="T20" fmla="*/ 23 w 103"/>
                    <a:gd name="T21" fmla="*/ 93 h 102"/>
                    <a:gd name="T22" fmla="*/ 41 w 103"/>
                    <a:gd name="T23" fmla="*/ 101 h 102"/>
                    <a:gd name="T24" fmla="*/ 62 w 103"/>
                    <a:gd name="T25" fmla="*/ 101 h 102"/>
                    <a:gd name="T26" fmla="*/ 80 w 103"/>
                    <a:gd name="T27" fmla="*/ 93 h 102"/>
                    <a:gd name="T28" fmla="*/ 94 w 103"/>
                    <a:gd name="T29" fmla="*/ 79 h 102"/>
                    <a:gd name="T30" fmla="*/ 101 w 103"/>
                    <a:gd name="T31" fmla="*/ 61 h 102"/>
                    <a:gd name="T32" fmla="*/ 99 w 103"/>
                    <a:gd name="T33" fmla="*/ 51 h 102"/>
                    <a:gd name="T34" fmla="*/ 95 w 103"/>
                    <a:gd name="T35" fmla="*/ 69 h 102"/>
                    <a:gd name="T36" fmla="*/ 86 w 103"/>
                    <a:gd name="T37" fmla="*/ 84 h 102"/>
                    <a:gd name="T38" fmla="*/ 70 w 103"/>
                    <a:gd name="T39" fmla="*/ 94 h 102"/>
                    <a:gd name="T40" fmla="*/ 51 w 103"/>
                    <a:gd name="T41" fmla="*/ 98 h 102"/>
                    <a:gd name="T42" fmla="*/ 33 w 103"/>
                    <a:gd name="T43" fmla="*/ 94 h 102"/>
                    <a:gd name="T44" fmla="*/ 18 w 103"/>
                    <a:gd name="T45" fmla="*/ 84 h 102"/>
                    <a:gd name="T46" fmla="*/ 8 w 103"/>
                    <a:gd name="T47" fmla="*/ 69 h 102"/>
                    <a:gd name="T48" fmla="*/ 5 w 103"/>
                    <a:gd name="T49" fmla="*/ 51 h 102"/>
                    <a:gd name="T50" fmla="*/ 8 w 103"/>
                    <a:gd name="T51" fmla="*/ 33 h 102"/>
                    <a:gd name="T52" fmla="*/ 18 w 103"/>
                    <a:gd name="T53" fmla="*/ 18 h 102"/>
                    <a:gd name="T54" fmla="*/ 33 w 103"/>
                    <a:gd name="T55" fmla="*/ 7 h 102"/>
                    <a:gd name="T56" fmla="*/ 51 w 103"/>
                    <a:gd name="T57" fmla="*/ 4 h 102"/>
                    <a:gd name="T58" fmla="*/ 70 w 103"/>
                    <a:gd name="T59" fmla="*/ 7 h 102"/>
                    <a:gd name="T60" fmla="*/ 86 w 103"/>
                    <a:gd name="T61" fmla="*/ 18 h 102"/>
                    <a:gd name="T62" fmla="*/ 95 w 103"/>
                    <a:gd name="T63" fmla="*/ 33 h 102"/>
                    <a:gd name="T64" fmla="*/ 99 w 103"/>
                    <a:gd name="T65" fmla="*/ 5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102">
                      <a:moveTo>
                        <a:pt x="103" y="51"/>
                      </a:moveTo>
                      <a:lnTo>
                        <a:pt x="101" y="40"/>
                      </a:lnTo>
                      <a:lnTo>
                        <a:pt x="99" y="31"/>
                      </a:lnTo>
                      <a:lnTo>
                        <a:pt x="94" y="22"/>
                      </a:lnTo>
                      <a:lnTo>
                        <a:pt x="88" y="15"/>
                      </a:lnTo>
                      <a:lnTo>
                        <a:pt x="80" y="8"/>
                      </a:lnTo>
                      <a:lnTo>
                        <a:pt x="72" y="3"/>
                      </a:lnTo>
                      <a:lnTo>
                        <a:pt x="62" y="1"/>
                      </a:lnTo>
                      <a:lnTo>
                        <a:pt x="51" y="0"/>
                      </a:lnTo>
                      <a:lnTo>
                        <a:pt x="41" y="1"/>
                      </a:lnTo>
                      <a:lnTo>
                        <a:pt x="31" y="3"/>
                      </a:lnTo>
                      <a:lnTo>
                        <a:pt x="23" y="8"/>
                      </a:lnTo>
                      <a:lnTo>
                        <a:pt x="15" y="15"/>
                      </a:lnTo>
                      <a:lnTo>
                        <a:pt x="9" y="22"/>
                      </a:lnTo>
                      <a:lnTo>
                        <a:pt x="5" y="31"/>
                      </a:lnTo>
                      <a:lnTo>
                        <a:pt x="1" y="40"/>
                      </a:lnTo>
                      <a:lnTo>
                        <a:pt x="0" y="51"/>
                      </a:lnTo>
                      <a:lnTo>
                        <a:pt x="1" y="61"/>
                      </a:lnTo>
                      <a:lnTo>
                        <a:pt x="5" y="71"/>
                      </a:lnTo>
                      <a:lnTo>
                        <a:pt x="9" y="79"/>
                      </a:lnTo>
                      <a:lnTo>
                        <a:pt x="15" y="87"/>
                      </a:lnTo>
                      <a:lnTo>
                        <a:pt x="23" y="93"/>
                      </a:lnTo>
                      <a:lnTo>
                        <a:pt x="31" y="98"/>
                      </a:lnTo>
                      <a:lnTo>
                        <a:pt x="41" y="101"/>
                      </a:lnTo>
                      <a:lnTo>
                        <a:pt x="51" y="102"/>
                      </a:lnTo>
                      <a:lnTo>
                        <a:pt x="62" y="101"/>
                      </a:lnTo>
                      <a:lnTo>
                        <a:pt x="72" y="98"/>
                      </a:lnTo>
                      <a:lnTo>
                        <a:pt x="80" y="93"/>
                      </a:lnTo>
                      <a:lnTo>
                        <a:pt x="88" y="87"/>
                      </a:lnTo>
                      <a:lnTo>
                        <a:pt x="94" y="79"/>
                      </a:lnTo>
                      <a:lnTo>
                        <a:pt x="99" y="71"/>
                      </a:lnTo>
                      <a:lnTo>
                        <a:pt x="101" y="61"/>
                      </a:lnTo>
                      <a:lnTo>
                        <a:pt x="103" y="51"/>
                      </a:lnTo>
                      <a:close/>
                      <a:moveTo>
                        <a:pt x="99" y="51"/>
                      </a:moveTo>
                      <a:lnTo>
                        <a:pt x="98" y="60"/>
                      </a:lnTo>
                      <a:lnTo>
                        <a:pt x="95" y="69"/>
                      </a:lnTo>
                      <a:lnTo>
                        <a:pt x="91" y="77"/>
                      </a:lnTo>
                      <a:lnTo>
                        <a:pt x="86" y="84"/>
                      </a:lnTo>
                      <a:lnTo>
                        <a:pt x="78" y="90"/>
                      </a:lnTo>
                      <a:lnTo>
                        <a:pt x="70" y="94"/>
                      </a:lnTo>
                      <a:lnTo>
                        <a:pt x="61" y="96"/>
                      </a:lnTo>
                      <a:lnTo>
                        <a:pt x="51" y="98"/>
                      </a:lnTo>
                      <a:lnTo>
                        <a:pt x="42" y="96"/>
                      </a:lnTo>
                      <a:lnTo>
                        <a:pt x="33" y="94"/>
                      </a:lnTo>
                      <a:lnTo>
                        <a:pt x="25" y="90"/>
                      </a:lnTo>
                      <a:lnTo>
                        <a:pt x="18" y="84"/>
                      </a:lnTo>
                      <a:lnTo>
                        <a:pt x="12" y="77"/>
                      </a:lnTo>
                      <a:lnTo>
                        <a:pt x="8" y="69"/>
                      </a:lnTo>
                      <a:lnTo>
                        <a:pt x="6" y="60"/>
                      </a:lnTo>
                      <a:lnTo>
                        <a:pt x="5" y="51"/>
                      </a:lnTo>
                      <a:lnTo>
                        <a:pt x="6" y="41"/>
                      </a:lnTo>
                      <a:lnTo>
                        <a:pt x="8" y="33"/>
                      </a:lnTo>
                      <a:lnTo>
                        <a:pt x="12" y="24"/>
                      </a:lnTo>
                      <a:lnTo>
                        <a:pt x="18" y="18"/>
                      </a:lnTo>
                      <a:lnTo>
                        <a:pt x="25" y="11"/>
                      </a:lnTo>
                      <a:lnTo>
                        <a:pt x="33" y="7"/>
                      </a:lnTo>
                      <a:lnTo>
                        <a:pt x="42" y="4"/>
                      </a:lnTo>
                      <a:lnTo>
                        <a:pt x="51" y="4"/>
                      </a:lnTo>
                      <a:lnTo>
                        <a:pt x="61" y="4"/>
                      </a:lnTo>
                      <a:lnTo>
                        <a:pt x="70" y="7"/>
                      </a:lnTo>
                      <a:lnTo>
                        <a:pt x="78" y="11"/>
                      </a:lnTo>
                      <a:lnTo>
                        <a:pt x="86" y="18"/>
                      </a:lnTo>
                      <a:lnTo>
                        <a:pt x="91" y="24"/>
                      </a:lnTo>
                      <a:lnTo>
                        <a:pt x="95" y="33"/>
                      </a:lnTo>
                      <a:lnTo>
                        <a:pt x="98" y="41"/>
                      </a:lnTo>
                      <a:lnTo>
                        <a:pt x="99" y="5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59" name="Freeform 4947"/>
                <p:cNvSpPr>
                  <a:spLocks noChangeAspect="1" noEditPoints="1"/>
                </p:cNvSpPr>
                <p:nvPr/>
              </p:nvSpPr>
              <p:spPr bwMode="auto">
                <a:xfrm>
                  <a:off x="3506" y="3534"/>
                  <a:ext cx="33" cy="33"/>
                </a:xfrm>
                <a:custGeom>
                  <a:avLst/>
                  <a:gdLst>
                    <a:gd name="T0" fmla="*/ 98 w 99"/>
                    <a:gd name="T1" fmla="*/ 39 h 98"/>
                    <a:gd name="T2" fmla="*/ 91 w 99"/>
                    <a:gd name="T3" fmla="*/ 21 h 98"/>
                    <a:gd name="T4" fmla="*/ 77 w 99"/>
                    <a:gd name="T5" fmla="*/ 8 h 98"/>
                    <a:gd name="T6" fmla="*/ 60 w 99"/>
                    <a:gd name="T7" fmla="*/ 1 h 98"/>
                    <a:gd name="T8" fmla="*/ 40 w 99"/>
                    <a:gd name="T9" fmla="*/ 1 h 98"/>
                    <a:gd name="T10" fmla="*/ 22 w 99"/>
                    <a:gd name="T11" fmla="*/ 8 h 98"/>
                    <a:gd name="T12" fmla="*/ 9 w 99"/>
                    <a:gd name="T13" fmla="*/ 21 h 98"/>
                    <a:gd name="T14" fmla="*/ 2 w 99"/>
                    <a:gd name="T15" fmla="*/ 39 h 98"/>
                    <a:gd name="T16" fmla="*/ 2 w 99"/>
                    <a:gd name="T17" fmla="*/ 58 h 98"/>
                    <a:gd name="T18" fmla="*/ 9 w 99"/>
                    <a:gd name="T19" fmla="*/ 76 h 98"/>
                    <a:gd name="T20" fmla="*/ 22 w 99"/>
                    <a:gd name="T21" fmla="*/ 89 h 98"/>
                    <a:gd name="T22" fmla="*/ 40 w 99"/>
                    <a:gd name="T23" fmla="*/ 97 h 98"/>
                    <a:gd name="T24" fmla="*/ 60 w 99"/>
                    <a:gd name="T25" fmla="*/ 97 h 98"/>
                    <a:gd name="T26" fmla="*/ 77 w 99"/>
                    <a:gd name="T27" fmla="*/ 89 h 98"/>
                    <a:gd name="T28" fmla="*/ 91 w 99"/>
                    <a:gd name="T29" fmla="*/ 76 h 98"/>
                    <a:gd name="T30" fmla="*/ 98 w 99"/>
                    <a:gd name="T31" fmla="*/ 58 h 98"/>
                    <a:gd name="T32" fmla="*/ 95 w 99"/>
                    <a:gd name="T33" fmla="*/ 49 h 98"/>
                    <a:gd name="T34" fmla="*/ 91 w 99"/>
                    <a:gd name="T35" fmla="*/ 66 h 98"/>
                    <a:gd name="T36" fmla="*/ 81 w 99"/>
                    <a:gd name="T37" fmla="*/ 81 h 98"/>
                    <a:gd name="T38" fmla="*/ 68 w 99"/>
                    <a:gd name="T39" fmla="*/ 90 h 98"/>
                    <a:gd name="T40" fmla="*/ 49 w 99"/>
                    <a:gd name="T41" fmla="*/ 93 h 98"/>
                    <a:gd name="T42" fmla="*/ 32 w 99"/>
                    <a:gd name="T43" fmla="*/ 90 h 98"/>
                    <a:gd name="T44" fmla="*/ 18 w 99"/>
                    <a:gd name="T45" fmla="*/ 81 h 98"/>
                    <a:gd name="T46" fmla="*/ 8 w 99"/>
                    <a:gd name="T47" fmla="*/ 66 h 98"/>
                    <a:gd name="T48" fmla="*/ 5 w 99"/>
                    <a:gd name="T49" fmla="*/ 49 h 98"/>
                    <a:gd name="T50" fmla="*/ 8 w 99"/>
                    <a:gd name="T51" fmla="*/ 31 h 98"/>
                    <a:gd name="T52" fmla="*/ 18 w 99"/>
                    <a:gd name="T53" fmla="*/ 17 h 98"/>
                    <a:gd name="T54" fmla="*/ 32 w 99"/>
                    <a:gd name="T55" fmla="*/ 7 h 98"/>
                    <a:gd name="T56" fmla="*/ 49 w 99"/>
                    <a:gd name="T57" fmla="*/ 3 h 98"/>
                    <a:gd name="T58" fmla="*/ 68 w 99"/>
                    <a:gd name="T59" fmla="*/ 7 h 98"/>
                    <a:gd name="T60" fmla="*/ 81 w 99"/>
                    <a:gd name="T61" fmla="*/ 17 h 98"/>
                    <a:gd name="T62" fmla="*/ 91 w 99"/>
                    <a:gd name="T63" fmla="*/ 31 h 98"/>
                    <a:gd name="T64" fmla="*/ 95 w 99"/>
                    <a:gd name="T65" fmla="*/ 4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98">
                      <a:moveTo>
                        <a:pt x="99" y="49"/>
                      </a:moveTo>
                      <a:lnTo>
                        <a:pt x="98" y="39"/>
                      </a:lnTo>
                      <a:lnTo>
                        <a:pt x="95" y="30"/>
                      </a:lnTo>
                      <a:lnTo>
                        <a:pt x="91" y="21"/>
                      </a:lnTo>
                      <a:lnTo>
                        <a:pt x="85" y="14"/>
                      </a:lnTo>
                      <a:lnTo>
                        <a:pt x="77" y="8"/>
                      </a:lnTo>
                      <a:lnTo>
                        <a:pt x="69" y="3"/>
                      </a:lnTo>
                      <a:lnTo>
                        <a:pt x="60" y="1"/>
                      </a:lnTo>
                      <a:lnTo>
                        <a:pt x="49" y="0"/>
                      </a:lnTo>
                      <a:lnTo>
                        <a:pt x="40" y="1"/>
                      </a:lnTo>
                      <a:lnTo>
                        <a:pt x="30" y="3"/>
                      </a:lnTo>
                      <a:lnTo>
                        <a:pt x="22" y="8"/>
                      </a:lnTo>
                      <a:lnTo>
                        <a:pt x="14" y="14"/>
                      </a:lnTo>
                      <a:lnTo>
                        <a:pt x="9" y="21"/>
                      </a:lnTo>
                      <a:lnTo>
                        <a:pt x="5" y="30"/>
                      </a:lnTo>
                      <a:lnTo>
                        <a:pt x="2" y="39"/>
                      </a:lnTo>
                      <a:lnTo>
                        <a:pt x="0" y="49"/>
                      </a:lnTo>
                      <a:lnTo>
                        <a:pt x="2" y="58"/>
                      </a:lnTo>
                      <a:lnTo>
                        <a:pt x="5" y="68"/>
                      </a:lnTo>
                      <a:lnTo>
                        <a:pt x="9" y="76"/>
                      </a:lnTo>
                      <a:lnTo>
                        <a:pt x="14" y="84"/>
                      </a:lnTo>
                      <a:lnTo>
                        <a:pt x="22" y="89"/>
                      </a:lnTo>
                      <a:lnTo>
                        <a:pt x="30" y="94"/>
                      </a:lnTo>
                      <a:lnTo>
                        <a:pt x="40" y="97"/>
                      </a:lnTo>
                      <a:lnTo>
                        <a:pt x="49" y="98"/>
                      </a:lnTo>
                      <a:lnTo>
                        <a:pt x="60" y="97"/>
                      </a:lnTo>
                      <a:lnTo>
                        <a:pt x="69" y="94"/>
                      </a:lnTo>
                      <a:lnTo>
                        <a:pt x="77" y="89"/>
                      </a:lnTo>
                      <a:lnTo>
                        <a:pt x="85" y="84"/>
                      </a:lnTo>
                      <a:lnTo>
                        <a:pt x="91" y="76"/>
                      </a:lnTo>
                      <a:lnTo>
                        <a:pt x="95" y="68"/>
                      </a:lnTo>
                      <a:lnTo>
                        <a:pt x="98" y="58"/>
                      </a:lnTo>
                      <a:lnTo>
                        <a:pt x="99" y="49"/>
                      </a:lnTo>
                      <a:close/>
                      <a:moveTo>
                        <a:pt x="95" y="49"/>
                      </a:moveTo>
                      <a:lnTo>
                        <a:pt x="94" y="57"/>
                      </a:lnTo>
                      <a:lnTo>
                        <a:pt x="91" y="66"/>
                      </a:lnTo>
                      <a:lnTo>
                        <a:pt x="87" y="74"/>
                      </a:lnTo>
                      <a:lnTo>
                        <a:pt x="81" y="81"/>
                      </a:lnTo>
                      <a:lnTo>
                        <a:pt x="75" y="86"/>
                      </a:lnTo>
                      <a:lnTo>
                        <a:pt x="68" y="90"/>
                      </a:lnTo>
                      <a:lnTo>
                        <a:pt x="59" y="93"/>
                      </a:lnTo>
                      <a:lnTo>
                        <a:pt x="49" y="93"/>
                      </a:lnTo>
                      <a:lnTo>
                        <a:pt x="41" y="93"/>
                      </a:lnTo>
                      <a:lnTo>
                        <a:pt x="32" y="90"/>
                      </a:lnTo>
                      <a:lnTo>
                        <a:pt x="24" y="86"/>
                      </a:lnTo>
                      <a:lnTo>
                        <a:pt x="18" y="81"/>
                      </a:lnTo>
                      <a:lnTo>
                        <a:pt x="12" y="74"/>
                      </a:lnTo>
                      <a:lnTo>
                        <a:pt x="8" y="66"/>
                      </a:lnTo>
                      <a:lnTo>
                        <a:pt x="6" y="57"/>
                      </a:lnTo>
                      <a:lnTo>
                        <a:pt x="5" y="49"/>
                      </a:lnTo>
                      <a:lnTo>
                        <a:pt x="6" y="39"/>
                      </a:lnTo>
                      <a:lnTo>
                        <a:pt x="8" y="31"/>
                      </a:lnTo>
                      <a:lnTo>
                        <a:pt x="12" y="23"/>
                      </a:lnTo>
                      <a:lnTo>
                        <a:pt x="18" y="17"/>
                      </a:lnTo>
                      <a:lnTo>
                        <a:pt x="24" y="12"/>
                      </a:lnTo>
                      <a:lnTo>
                        <a:pt x="32" y="7"/>
                      </a:lnTo>
                      <a:lnTo>
                        <a:pt x="41" y="4"/>
                      </a:lnTo>
                      <a:lnTo>
                        <a:pt x="49" y="3"/>
                      </a:lnTo>
                      <a:lnTo>
                        <a:pt x="59" y="4"/>
                      </a:lnTo>
                      <a:lnTo>
                        <a:pt x="68" y="7"/>
                      </a:lnTo>
                      <a:lnTo>
                        <a:pt x="75" y="12"/>
                      </a:lnTo>
                      <a:lnTo>
                        <a:pt x="81" y="17"/>
                      </a:lnTo>
                      <a:lnTo>
                        <a:pt x="87" y="23"/>
                      </a:lnTo>
                      <a:lnTo>
                        <a:pt x="91" y="31"/>
                      </a:lnTo>
                      <a:lnTo>
                        <a:pt x="94" y="39"/>
                      </a:lnTo>
                      <a:lnTo>
                        <a:pt x="95" y="4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60" name="Freeform 4948"/>
                <p:cNvSpPr>
                  <a:spLocks noChangeAspect="1" noEditPoints="1"/>
                </p:cNvSpPr>
                <p:nvPr/>
              </p:nvSpPr>
              <p:spPr bwMode="auto">
                <a:xfrm>
                  <a:off x="3507" y="3535"/>
                  <a:ext cx="31" cy="31"/>
                </a:xfrm>
                <a:custGeom>
                  <a:avLst/>
                  <a:gdLst>
                    <a:gd name="T0" fmla="*/ 93 w 94"/>
                    <a:gd name="T1" fmla="*/ 37 h 94"/>
                    <a:gd name="T2" fmla="*/ 86 w 94"/>
                    <a:gd name="T3" fmla="*/ 20 h 94"/>
                    <a:gd name="T4" fmla="*/ 73 w 94"/>
                    <a:gd name="T5" fmla="*/ 7 h 94"/>
                    <a:gd name="T6" fmla="*/ 56 w 94"/>
                    <a:gd name="T7" fmla="*/ 0 h 94"/>
                    <a:gd name="T8" fmla="*/ 37 w 94"/>
                    <a:gd name="T9" fmla="*/ 0 h 94"/>
                    <a:gd name="T10" fmla="*/ 20 w 94"/>
                    <a:gd name="T11" fmla="*/ 7 h 94"/>
                    <a:gd name="T12" fmla="*/ 7 w 94"/>
                    <a:gd name="T13" fmla="*/ 20 h 94"/>
                    <a:gd name="T14" fmla="*/ 1 w 94"/>
                    <a:gd name="T15" fmla="*/ 37 h 94"/>
                    <a:gd name="T16" fmla="*/ 1 w 94"/>
                    <a:gd name="T17" fmla="*/ 56 h 94"/>
                    <a:gd name="T18" fmla="*/ 7 w 94"/>
                    <a:gd name="T19" fmla="*/ 73 h 94"/>
                    <a:gd name="T20" fmla="*/ 20 w 94"/>
                    <a:gd name="T21" fmla="*/ 86 h 94"/>
                    <a:gd name="T22" fmla="*/ 37 w 94"/>
                    <a:gd name="T23" fmla="*/ 92 h 94"/>
                    <a:gd name="T24" fmla="*/ 56 w 94"/>
                    <a:gd name="T25" fmla="*/ 92 h 94"/>
                    <a:gd name="T26" fmla="*/ 73 w 94"/>
                    <a:gd name="T27" fmla="*/ 86 h 94"/>
                    <a:gd name="T28" fmla="*/ 86 w 94"/>
                    <a:gd name="T29" fmla="*/ 73 h 94"/>
                    <a:gd name="T30" fmla="*/ 93 w 94"/>
                    <a:gd name="T31" fmla="*/ 56 h 94"/>
                    <a:gd name="T32" fmla="*/ 90 w 94"/>
                    <a:gd name="T33" fmla="*/ 47 h 94"/>
                    <a:gd name="T34" fmla="*/ 87 w 94"/>
                    <a:gd name="T35" fmla="*/ 64 h 94"/>
                    <a:gd name="T36" fmla="*/ 77 w 94"/>
                    <a:gd name="T37" fmla="*/ 78 h 94"/>
                    <a:gd name="T38" fmla="*/ 63 w 94"/>
                    <a:gd name="T39" fmla="*/ 86 h 94"/>
                    <a:gd name="T40" fmla="*/ 46 w 94"/>
                    <a:gd name="T41" fmla="*/ 89 h 94"/>
                    <a:gd name="T42" fmla="*/ 29 w 94"/>
                    <a:gd name="T43" fmla="*/ 86 h 94"/>
                    <a:gd name="T44" fmla="*/ 17 w 94"/>
                    <a:gd name="T45" fmla="*/ 78 h 94"/>
                    <a:gd name="T46" fmla="*/ 7 w 94"/>
                    <a:gd name="T47" fmla="*/ 64 h 94"/>
                    <a:gd name="T48" fmla="*/ 4 w 94"/>
                    <a:gd name="T49" fmla="*/ 47 h 94"/>
                    <a:gd name="T50" fmla="*/ 7 w 94"/>
                    <a:gd name="T51" fmla="*/ 30 h 94"/>
                    <a:gd name="T52" fmla="*/ 17 w 94"/>
                    <a:gd name="T53" fmla="*/ 16 h 94"/>
                    <a:gd name="T54" fmla="*/ 29 w 94"/>
                    <a:gd name="T55" fmla="*/ 7 h 94"/>
                    <a:gd name="T56" fmla="*/ 46 w 94"/>
                    <a:gd name="T57" fmla="*/ 3 h 94"/>
                    <a:gd name="T58" fmla="*/ 63 w 94"/>
                    <a:gd name="T59" fmla="*/ 7 h 94"/>
                    <a:gd name="T60" fmla="*/ 77 w 94"/>
                    <a:gd name="T61" fmla="*/ 16 h 94"/>
                    <a:gd name="T62" fmla="*/ 87 w 94"/>
                    <a:gd name="T63" fmla="*/ 30 h 94"/>
                    <a:gd name="T64" fmla="*/ 90 w 94"/>
                    <a:gd name="T65" fmla="*/ 4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4" h="94">
                      <a:moveTo>
                        <a:pt x="94" y="47"/>
                      </a:moveTo>
                      <a:lnTo>
                        <a:pt x="93" y="37"/>
                      </a:lnTo>
                      <a:lnTo>
                        <a:pt x="90" y="29"/>
                      </a:lnTo>
                      <a:lnTo>
                        <a:pt x="86" y="20"/>
                      </a:lnTo>
                      <a:lnTo>
                        <a:pt x="81" y="14"/>
                      </a:lnTo>
                      <a:lnTo>
                        <a:pt x="73" y="7"/>
                      </a:lnTo>
                      <a:lnTo>
                        <a:pt x="65" y="3"/>
                      </a:lnTo>
                      <a:lnTo>
                        <a:pt x="56" y="0"/>
                      </a:lnTo>
                      <a:lnTo>
                        <a:pt x="46" y="0"/>
                      </a:lnTo>
                      <a:lnTo>
                        <a:pt x="37" y="0"/>
                      </a:lnTo>
                      <a:lnTo>
                        <a:pt x="28" y="3"/>
                      </a:lnTo>
                      <a:lnTo>
                        <a:pt x="20" y="7"/>
                      </a:lnTo>
                      <a:lnTo>
                        <a:pt x="13" y="14"/>
                      </a:lnTo>
                      <a:lnTo>
                        <a:pt x="7" y="20"/>
                      </a:lnTo>
                      <a:lnTo>
                        <a:pt x="3" y="29"/>
                      </a:lnTo>
                      <a:lnTo>
                        <a:pt x="1" y="37"/>
                      </a:lnTo>
                      <a:lnTo>
                        <a:pt x="0" y="47"/>
                      </a:lnTo>
                      <a:lnTo>
                        <a:pt x="1" y="56"/>
                      </a:lnTo>
                      <a:lnTo>
                        <a:pt x="3" y="65"/>
                      </a:lnTo>
                      <a:lnTo>
                        <a:pt x="7" y="73"/>
                      </a:lnTo>
                      <a:lnTo>
                        <a:pt x="13" y="80"/>
                      </a:lnTo>
                      <a:lnTo>
                        <a:pt x="20" y="86"/>
                      </a:lnTo>
                      <a:lnTo>
                        <a:pt x="28" y="90"/>
                      </a:lnTo>
                      <a:lnTo>
                        <a:pt x="37" y="92"/>
                      </a:lnTo>
                      <a:lnTo>
                        <a:pt x="46" y="94"/>
                      </a:lnTo>
                      <a:lnTo>
                        <a:pt x="56" y="92"/>
                      </a:lnTo>
                      <a:lnTo>
                        <a:pt x="65" y="90"/>
                      </a:lnTo>
                      <a:lnTo>
                        <a:pt x="73" y="86"/>
                      </a:lnTo>
                      <a:lnTo>
                        <a:pt x="81" y="80"/>
                      </a:lnTo>
                      <a:lnTo>
                        <a:pt x="86" y="73"/>
                      </a:lnTo>
                      <a:lnTo>
                        <a:pt x="90" y="65"/>
                      </a:lnTo>
                      <a:lnTo>
                        <a:pt x="93" y="56"/>
                      </a:lnTo>
                      <a:lnTo>
                        <a:pt x="94" y="47"/>
                      </a:lnTo>
                      <a:close/>
                      <a:moveTo>
                        <a:pt x="90" y="47"/>
                      </a:moveTo>
                      <a:lnTo>
                        <a:pt x="89" y="55"/>
                      </a:lnTo>
                      <a:lnTo>
                        <a:pt x="87" y="64"/>
                      </a:lnTo>
                      <a:lnTo>
                        <a:pt x="83" y="71"/>
                      </a:lnTo>
                      <a:lnTo>
                        <a:pt x="77" y="78"/>
                      </a:lnTo>
                      <a:lnTo>
                        <a:pt x="71" y="83"/>
                      </a:lnTo>
                      <a:lnTo>
                        <a:pt x="63" y="86"/>
                      </a:lnTo>
                      <a:lnTo>
                        <a:pt x="55" y="89"/>
                      </a:lnTo>
                      <a:lnTo>
                        <a:pt x="46" y="89"/>
                      </a:lnTo>
                      <a:lnTo>
                        <a:pt x="38" y="89"/>
                      </a:lnTo>
                      <a:lnTo>
                        <a:pt x="29" y="86"/>
                      </a:lnTo>
                      <a:lnTo>
                        <a:pt x="23" y="83"/>
                      </a:lnTo>
                      <a:lnTo>
                        <a:pt x="17" y="78"/>
                      </a:lnTo>
                      <a:lnTo>
                        <a:pt x="11" y="71"/>
                      </a:lnTo>
                      <a:lnTo>
                        <a:pt x="7" y="64"/>
                      </a:lnTo>
                      <a:lnTo>
                        <a:pt x="5" y="55"/>
                      </a:lnTo>
                      <a:lnTo>
                        <a:pt x="4" y="47"/>
                      </a:lnTo>
                      <a:lnTo>
                        <a:pt x="5" y="38"/>
                      </a:lnTo>
                      <a:lnTo>
                        <a:pt x="7" y="30"/>
                      </a:lnTo>
                      <a:lnTo>
                        <a:pt x="11" y="22"/>
                      </a:lnTo>
                      <a:lnTo>
                        <a:pt x="17" y="16"/>
                      </a:lnTo>
                      <a:lnTo>
                        <a:pt x="23" y="11"/>
                      </a:lnTo>
                      <a:lnTo>
                        <a:pt x="29" y="7"/>
                      </a:lnTo>
                      <a:lnTo>
                        <a:pt x="38" y="4"/>
                      </a:lnTo>
                      <a:lnTo>
                        <a:pt x="46" y="3"/>
                      </a:lnTo>
                      <a:lnTo>
                        <a:pt x="55" y="4"/>
                      </a:lnTo>
                      <a:lnTo>
                        <a:pt x="63" y="7"/>
                      </a:lnTo>
                      <a:lnTo>
                        <a:pt x="71" y="11"/>
                      </a:lnTo>
                      <a:lnTo>
                        <a:pt x="77" y="16"/>
                      </a:lnTo>
                      <a:lnTo>
                        <a:pt x="83" y="22"/>
                      </a:lnTo>
                      <a:lnTo>
                        <a:pt x="87" y="30"/>
                      </a:lnTo>
                      <a:lnTo>
                        <a:pt x="89" y="38"/>
                      </a:lnTo>
                      <a:lnTo>
                        <a:pt x="90" y="4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61" name="Freeform 4949"/>
                <p:cNvSpPr>
                  <a:spLocks noChangeAspect="1" noEditPoints="1"/>
                </p:cNvSpPr>
                <p:nvPr/>
              </p:nvSpPr>
              <p:spPr bwMode="auto">
                <a:xfrm>
                  <a:off x="3508" y="3535"/>
                  <a:ext cx="30" cy="29"/>
                </a:xfrm>
                <a:custGeom>
                  <a:avLst/>
                  <a:gdLst>
                    <a:gd name="T0" fmla="*/ 89 w 90"/>
                    <a:gd name="T1" fmla="*/ 36 h 90"/>
                    <a:gd name="T2" fmla="*/ 82 w 90"/>
                    <a:gd name="T3" fmla="*/ 20 h 90"/>
                    <a:gd name="T4" fmla="*/ 70 w 90"/>
                    <a:gd name="T5" fmla="*/ 9 h 90"/>
                    <a:gd name="T6" fmla="*/ 54 w 90"/>
                    <a:gd name="T7" fmla="*/ 1 h 90"/>
                    <a:gd name="T8" fmla="*/ 36 w 90"/>
                    <a:gd name="T9" fmla="*/ 1 h 90"/>
                    <a:gd name="T10" fmla="*/ 19 w 90"/>
                    <a:gd name="T11" fmla="*/ 9 h 90"/>
                    <a:gd name="T12" fmla="*/ 7 w 90"/>
                    <a:gd name="T13" fmla="*/ 20 h 90"/>
                    <a:gd name="T14" fmla="*/ 1 w 90"/>
                    <a:gd name="T15" fmla="*/ 36 h 90"/>
                    <a:gd name="T16" fmla="*/ 1 w 90"/>
                    <a:gd name="T17" fmla="*/ 54 h 90"/>
                    <a:gd name="T18" fmla="*/ 7 w 90"/>
                    <a:gd name="T19" fmla="*/ 71 h 90"/>
                    <a:gd name="T20" fmla="*/ 19 w 90"/>
                    <a:gd name="T21" fmla="*/ 83 h 90"/>
                    <a:gd name="T22" fmla="*/ 36 w 90"/>
                    <a:gd name="T23" fmla="*/ 90 h 90"/>
                    <a:gd name="T24" fmla="*/ 54 w 90"/>
                    <a:gd name="T25" fmla="*/ 90 h 90"/>
                    <a:gd name="T26" fmla="*/ 70 w 90"/>
                    <a:gd name="T27" fmla="*/ 83 h 90"/>
                    <a:gd name="T28" fmla="*/ 82 w 90"/>
                    <a:gd name="T29" fmla="*/ 71 h 90"/>
                    <a:gd name="T30" fmla="*/ 89 w 90"/>
                    <a:gd name="T31" fmla="*/ 54 h 90"/>
                    <a:gd name="T32" fmla="*/ 86 w 90"/>
                    <a:gd name="T33" fmla="*/ 46 h 90"/>
                    <a:gd name="T34" fmla="*/ 83 w 90"/>
                    <a:gd name="T35" fmla="*/ 62 h 90"/>
                    <a:gd name="T36" fmla="*/ 73 w 90"/>
                    <a:gd name="T37" fmla="*/ 74 h 90"/>
                    <a:gd name="T38" fmla="*/ 60 w 90"/>
                    <a:gd name="T39" fmla="*/ 83 h 90"/>
                    <a:gd name="T40" fmla="*/ 44 w 90"/>
                    <a:gd name="T41" fmla="*/ 87 h 90"/>
                    <a:gd name="T42" fmla="*/ 28 w 90"/>
                    <a:gd name="T43" fmla="*/ 83 h 90"/>
                    <a:gd name="T44" fmla="*/ 16 w 90"/>
                    <a:gd name="T45" fmla="*/ 74 h 90"/>
                    <a:gd name="T46" fmla="*/ 7 w 90"/>
                    <a:gd name="T47" fmla="*/ 62 h 90"/>
                    <a:gd name="T48" fmla="*/ 4 w 90"/>
                    <a:gd name="T49" fmla="*/ 46 h 90"/>
                    <a:gd name="T50" fmla="*/ 7 w 90"/>
                    <a:gd name="T51" fmla="*/ 30 h 90"/>
                    <a:gd name="T52" fmla="*/ 16 w 90"/>
                    <a:gd name="T53" fmla="*/ 17 h 90"/>
                    <a:gd name="T54" fmla="*/ 28 w 90"/>
                    <a:gd name="T55" fmla="*/ 7 h 90"/>
                    <a:gd name="T56" fmla="*/ 44 w 90"/>
                    <a:gd name="T57" fmla="*/ 4 h 90"/>
                    <a:gd name="T58" fmla="*/ 60 w 90"/>
                    <a:gd name="T59" fmla="*/ 7 h 90"/>
                    <a:gd name="T60" fmla="*/ 73 w 90"/>
                    <a:gd name="T61" fmla="*/ 17 h 90"/>
                    <a:gd name="T62" fmla="*/ 83 w 90"/>
                    <a:gd name="T63" fmla="*/ 30 h 90"/>
                    <a:gd name="T64" fmla="*/ 86 w 90"/>
                    <a:gd name="T65" fmla="*/ 4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90">
                      <a:moveTo>
                        <a:pt x="90" y="46"/>
                      </a:moveTo>
                      <a:lnTo>
                        <a:pt x="89" y="36"/>
                      </a:lnTo>
                      <a:lnTo>
                        <a:pt x="86" y="28"/>
                      </a:lnTo>
                      <a:lnTo>
                        <a:pt x="82" y="20"/>
                      </a:lnTo>
                      <a:lnTo>
                        <a:pt x="76" y="14"/>
                      </a:lnTo>
                      <a:lnTo>
                        <a:pt x="70" y="9"/>
                      </a:lnTo>
                      <a:lnTo>
                        <a:pt x="63" y="4"/>
                      </a:lnTo>
                      <a:lnTo>
                        <a:pt x="54" y="1"/>
                      </a:lnTo>
                      <a:lnTo>
                        <a:pt x="44" y="0"/>
                      </a:lnTo>
                      <a:lnTo>
                        <a:pt x="36" y="1"/>
                      </a:lnTo>
                      <a:lnTo>
                        <a:pt x="27" y="4"/>
                      </a:lnTo>
                      <a:lnTo>
                        <a:pt x="19" y="9"/>
                      </a:lnTo>
                      <a:lnTo>
                        <a:pt x="13" y="14"/>
                      </a:lnTo>
                      <a:lnTo>
                        <a:pt x="7" y="20"/>
                      </a:lnTo>
                      <a:lnTo>
                        <a:pt x="3" y="28"/>
                      </a:lnTo>
                      <a:lnTo>
                        <a:pt x="1" y="36"/>
                      </a:lnTo>
                      <a:lnTo>
                        <a:pt x="0" y="46"/>
                      </a:lnTo>
                      <a:lnTo>
                        <a:pt x="1" y="54"/>
                      </a:lnTo>
                      <a:lnTo>
                        <a:pt x="3" y="63"/>
                      </a:lnTo>
                      <a:lnTo>
                        <a:pt x="7" y="71"/>
                      </a:lnTo>
                      <a:lnTo>
                        <a:pt x="13" y="78"/>
                      </a:lnTo>
                      <a:lnTo>
                        <a:pt x="19" y="83"/>
                      </a:lnTo>
                      <a:lnTo>
                        <a:pt x="27" y="87"/>
                      </a:lnTo>
                      <a:lnTo>
                        <a:pt x="36" y="90"/>
                      </a:lnTo>
                      <a:lnTo>
                        <a:pt x="44" y="90"/>
                      </a:lnTo>
                      <a:lnTo>
                        <a:pt x="54" y="90"/>
                      </a:lnTo>
                      <a:lnTo>
                        <a:pt x="63" y="87"/>
                      </a:lnTo>
                      <a:lnTo>
                        <a:pt x="70" y="83"/>
                      </a:lnTo>
                      <a:lnTo>
                        <a:pt x="76" y="78"/>
                      </a:lnTo>
                      <a:lnTo>
                        <a:pt x="82" y="71"/>
                      </a:lnTo>
                      <a:lnTo>
                        <a:pt x="86" y="63"/>
                      </a:lnTo>
                      <a:lnTo>
                        <a:pt x="89" y="54"/>
                      </a:lnTo>
                      <a:lnTo>
                        <a:pt x="90" y="46"/>
                      </a:lnTo>
                      <a:close/>
                      <a:moveTo>
                        <a:pt x="86" y="46"/>
                      </a:moveTo>
                      <a:lnTo>
                        <a:pt x="85" y="54"/>
                      </a:lnTo>
                      <a:lnTo>
                        <a:pt x="83" y="62"/>
                      </a:lnTo>
                      <a:lnTo>
                        <a:pt x="79" y="69"/>
                      </a:lnTo>
                      <a:lnTo>
                        <a:pt x="73" y="74"/>
                      </a:lnTo>
                      <a:lnTo>
                        <a:pt x="68" y="80"/>
                      </a:lnTo>
                      <a:lnTo>
                        <a:pt x="60" y="83"/>
                      </a:lnTo>
                      <a:lnTo>
                        <a:pt x="53" y="86"/>
                      </a:lnTo>
                      <a:lnTo>
                        <a:pt x="44" y="87"/>
                      </a:lnTo>
                      <a:lnTo>
                        <a:pt x="36" y="86"/>
                      </a:lnTo>
                      <a:lnTo>
                        <a:pt x="28" y="83"/>
                      </a:lnTo>
                      <a:lnTo>
                        <a:pt x="22" y="80"/>
                      </a:lnTo>
                      <a:lnTo>
                        <a:pt x="16" y="74"/>
                      </a:lnTo>
                      <a:lnTo>
                        <a:pt x="10" y="69"/>
                      </a:lnTo>
                      <a:lnTo>
                        <a:pt x="7" y="62"/>
                      </a:lnTo>
                      <a:lnTo>
                        <a:pt x="4" y="54"/>
                      </a:lnTo>
                      <a:lnTo>
                        <a:pt x="4" y="46"/>
                      </a:lnTo>
                      <a:lnTo>
                        <a:pt x="4" y="37"/>
                      </a:lnTo>
                      <a:lnTo>
                        <a:pt x="7" y="30"/>
                      </a:lnTo>
                      <a:lnTo>
                        <a:pt x="10" y="22"/>
                      </a:lnTo>
                      <a:lnTo>
                        <a:pt x="16" y="17"/>
                      </a:lnTo>
                      <a:lnTo>
                        <a:pt x="22" y="12"/>
                      </a:lnTo>
                      <a:lnTo>
                        <a:pt x="28" y="7"/>
                      </a:lnTo>
                      <a:lnTo>
                        <a:pt x="36" y="5"/>
                      </a:lnTo>
                      <a:lnTo>
                        <a:pt x="44" y="4"/>
                      </a:lnTo>
                      <a:lnTo>
                        <a:pt x="53" y="5"/>
                      </a:lnTo>
                      <a:lnTo>
                        <a:pt x="60" y="7"/>
                      </a:lnTo>
                      <a:lnTo>
                        <a:pt x="68" y="12"/>
                      </a:lnTo>
                      <a:lnTo>
                        <a:pt x="73" y="17"/>
                      </a:lnTo>
                      <a:lnTo>
                        <a:pt x="79" y="22"/>
                      </a:lnTo>
                      <a:lnTo>
                        <a:pt x="83" y="30"/>
                      </a:lnTo>
                      <a:lnTo>
                        <a:pt x="85" y="37"/>
                      </a:lnTo>
                      <a:lnTo>
                        <a:pt x="86" y="4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62" name="Freeform 4950"/>
                <p:cNvSpPr>
                  <a:spLocks noChangeAspect="1" noEditPoints="1"/>
                </p:cNvSpPr>
                <p:nvPr/>
              </p:nvSpPr>
              <p:spPr bwMode="auto">
                <a:xfrm>
                  <a:off x="3508" y="3536"/>
                  <a:ext cx="29" cy="29"/>
                </a:xfrm>
                <a:custGeom>
                  <a:avLst/>
                  <a:gdLst>
                    <a:gd name="T0" fmla="*/ 85 w 86"/>
                    <a:gd name="T1" fmla="*/ 35 h 86"/>
                    <a:gd name="T2" fmla="*/ 79 w 86"/>
                    <a:gd name="T3" fmla="*/ 19 h 86"/>
                    <a:gd name="T4" fmla="*/ 67 w 86"/>
                    <a:gd name="T5" fmla="*/ 8 h 86"/>
                    <a:gd name="T6" fmla="*/ 51 w 86"/>
                    <a:gd name="T7" fmla="*/ 1 h 86"/>
                    <a:gd name="T8" fmla="*/ 34 w 86"/>
                    <a:gd name="T9" fmla="*/ 1 h 86"/>
                    <a:gd name="T10" fmla="*/ 19 w 86"/>
                    <a:gd name="T11" fmla="*/ 8 h 86"/>
                    <a:gd name="T12" fmla="*/ 7 w 86"/>
                    <a:gd name="T13" fmla="*/ 19 h 86"/>
                    <a:gd name="T14" fmla="*/ 0 w 86"/>
                    <a:gd name="T15" fmla="*/ 35 h 86"/>
                    <a:gd name="T16" fmla="*/ 0 w 86"/>
                    <a:gd name="T17" fmla="*/ 52 h 86"/>
                    <a:gd name="T18" fmla="*/ 7 w 86"/>
                    <a:gd name="T19" fmla="*/ 68 h 86"/>
                    <a:gd name="T20" fmla="*/ 19 w 86"/>
                    <a:gd name="T21" fmla="*/ 80 h 86"/>
                    <a:gd name="T22" fmla="*/ 34 w 86"/>
                    <a:gd name="T23" fmla="*/ 86 h 86"/>
                    <a:gd name="T24" fmla="*/ 51 w 86"/>
                    <a:gd name="T25" fmla="*/ 86 h 86"/>
                    <a:gd name="T26" fmla="*/ 67 w 86"/>
                    <a:gd name="T27" fmla="*/ 80 h 86"/>
                    <a:gd name="T28" fmla="*/ 79 w 86"/>
                    <a:gd name="T29" fmla="*/ 68 h 86"/>
                    <a:gd name="T30" fmla="*/ 85 w 86"/>
                    <a:gd name="T31" fmla="*/ 52 h 86"/>
                    <a:gd name="T32" fmla="*/ 82 w 86"/>
                    <a:gd name="T33" fmla="*/ 44 h 86"/>
                    <a:gd name="T34" fmla="*/ 79 w 86"/>
                    <a:gd name="T35" fmla="*/ 59 h 86"/>
                    <a:gd name="T36" fmla="*/ 70 w 86"/>
                    <a:gd name="T37" fmla="*/ 71 h 86"/>
                    <a:gd name="T38" fmla="*/ 57 w 86"/>
                    <a:gd name="T39" fmla="*/ 80 h 86"/>
                    <a:gd name="T40" fmla="*/ 42 w 86"/>
                    <a:gd name="T41" fmla="*/ 83 h 86"/>
                    <a:gd name="T42" fmla="*/ 28 w 86"/>
                    <a:gd name="T43" fmla="*/ 80 h 86"/>
                    <a:gd name="T44" fmla="*/ 15 w 86"/>
                    <a:gd name="T45" fmla="*/ 71 h 86"/>
                    <a:gd name="T46" fmla="*/ 6 w 86"/>
                    <a:gd name="T47" fmla="*/ 59 h 86"/>
                    <a:gd name="T48" fmla="*/ 4 w 86"/>
                    <a:gd name="T49" fmla="*/ 44 h 86"/>
                    <a:gd name="T50" fmla="*/ 6 w 86"/>
                    <a:gd name="T51" fmla="*/ 29 h 86"/>
                    <a:gd name="T52" fmla="*/ 15 w 86"/>
                    <a:gd name="T53" fmla="*/ 16 h 86"/>
                    <a:gd name="T54" fmla="*/ 28 w 86"/>
                    <a:gd name="T55" fmla="*/ 8 h 86"/>
                    <a:gd name="T56" fmla="*/ 42 w 86"/>
                    <a:gd name="T57" fmla="*/ 4 h 86"/>
                    <a:gd name="T58" fmla="*/ 57 w 86"/>
                    <a:gd name="T59" fmla="*/ 8 h 86"/>
                    <a:gd name="T60" fmla="*/ 70 w 86"/>
                    <a:gd name="T61" fmla="*/ 16 h 86"/>
                    <a:gd name="T62" fmla="*/ 79 w 86"/>
                    <a:gd name="T63" fmla="*/ 29 h 86"/>
                    <a:gd name="T64" fmla="*/ 82 w 86"/>
                    <a:gd name="T65" fmla="*/ 4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6" h="86">
                      <a:moveTo>
                        <a:pt x="86" y="44"/>
                      </a:moveTo>
                      <a:lnTo>
                        <a:pt x="85" y="35"/>
                      </a:lnTo>
                      <a:lnTo>
                        <a:pt x="83" y="27"/>
                      </a:lnTo>
                      <a:lnTo>
                        <a:pt x="79" y="19"/>
                      </a:lnTo>
                      <a:lnTo>
                        <a:pt x="73" y="13"/>
                      </a:lnTo>
                      <a:lnTo>
                        <a:pt x="67" y="8"/>
                      </a:lnTo>
                      <a:lnTo>
                        <a:pt x="59" y="4"/>
                      </a:lnTo>
                      <a:lnTo>
                        <a:pt x="51" y="1"/>
                      </a:lnTo>
                      <a:lnTo>
                        <a:pt x="42" y="0"/>
                      </a:lnTo>
                      <a:lnTo>
                        <a:pt x="34" y="1"/>
                      </a:lnTo>
                      <a:lnTo>
                        <a:pt x="25" y="4"/>
                      </a:lnTo>
                      <a:lnTo>
                        <a:pt x="19" y="8"/>
                      </a:lnTo>
                      <a:lnTo>
                        <a:pt x="13" y="13"/>
                      </a:lnTo>
                      <a:lnTo>
                        <a:pt x="7" y="19"/>
                      </a:lnTo>
                      <a:lnTo>
                        <a:pt x="3" y="27"/>
                      </a:lnTo>
                      <a:lnTo>
                        <a:pt x="0" y="35"/>
                      </a:lnTo>
                      <a:lnTo>
                        <a:pt x="0" y="44"/>
                      </a:lnTo>
                      <a:lnTo>
                        <a:pt x="0" y="52"/>
                      </a:lnTo>
                      <a:lnTo>
                        <a:pt x="3" y="61"/>
                      </a:lnTo>
                      <a:lnTo>
                        <a:pt x="7" y="68"/>
                      </a:lnTo>
                      <a:lnTo>
                        <a:pt x="13" y="75"/>
                      </a:lnTo>
                      <a:lnTo>
                        <a:pt x="19" y="80"/>
                      </a:lnTo>
                      <a:lnTo>
                        <a:pt x="25" y="83"/>
                      </a:lnTo>
                      <a:lnTo>
                        <a:pt x="34" y="86"/>
                      </a:lnTo>
                      <a:lnTo>
                        <a:pt x="42" y="86"/>
                      </a:lnTo>
                      <a:lnTo>
                        <a:pt x="51" y="86"/>
                      </a:lnTo>
                      <a:lnTo>
                        <a:pt x="59" y="83"/>
                      </a:lnTo>
                      <a:lnTo>
                        <a:pt x="67" y="80"/>
                      </a:lnTo>
                      <a:lnTo>
                        <a:pt x="73" y="75"/>
                      </a:lnTo>
                      <a:lnTo>
                        <a:pt x="79" y="68"/>
                      </a:lnTo>
                      <a:lnTo>
                        <a:pt x="83" y="61"/>
                      </a:lnTo>
                      <a:lnTo>
                        <a:pt x="85" y="52"/>
                      </a:lnTo>
                      <a:lnTo>
                        <a:pt x="86" y="44"/>
                      </a:lnTo>
                      <a:close/>
                      <a:moveTo>
                        <a:pt x="82" y="44"/>
                      </a:moveTo>
                      <a:lnTo>
                        <a:pt x="81" y="51"/>
                      </a:lnTo>
                      <a:lnTo>
                        <a:pt x="79" y="59"/>
                      </a:lnTo>
                      <a:lnTo>
                        <a:pt x="75" y="65"/>
                      </a:lnTo>
                      <a:lnTo>
                        <a:pt x="70" y="71"/>
                      </a:lnTo>
                      <a:lnTo>
                        <a:pt x="65" y="76"/>
                      </a:lnTo>
                      <a:lnTo>
                        <a:pt x="57" y="80"/>
                      </a:lnTo>
                      <a:lnTo>
                        <a:pt x="51" y="82"/>
                      </a:lnTo>
                      <a:lnTo>
                        <a:pt x="42" y="83"/>
                      </a:lnTo>
                      <a:lnTo>
                        <a:pt x="35" y="82"/>
                      </a:lnTo>
                      <a:lnTo>
                        <a:pt x="28" y="80"/>
                      </a:lnTo>
                      <a:lnTo>
                        <a:pt x="21" y="76"/>
                      </a:lnTo>
                      <a:lnTo>
                        <a:pt x="15" y="71"/>
                      </a:lnTo>
                      <a:lnTo>
                        <a:pt x="11" y="65"/>
                      </a:lnTo>
                      <a:lnTo>
                        <a:pt x="6" y="59"/>
                      </a:lnTo>
                      <a:lnTo>
                        <a:pt x="4" y="51"/>
                      </a:lnTo>
                      <a:lnTo>
                        <a:pt x="4" y="44"/>
                      </a:lnTo>
                      <a:lnTo>
                        <a:pt x="4" y="36"/>
                      </a:lnTo>
                      <a:lnTo>
                        <a:pt x="6" y="29"/>
                      </a:lnTo>
                      <a:lnTo>
                        <a:pt x="11" y="21"/>
                      </a:lnTo>
                      <a:lnTo>
                        <a:pt x="15" y="16"/>
                      </a:lnTo>
                      <a:lnTo>
                        <a:pt x="21" y="12"/>
                      </a:lnTo>
                      <a:lnTo>
                        <a:pt x="28" y="8"/>
                      </a:lnTo>
                      <a:lnTo>
                        <a:pt x="35" y="5"/>
                      </a:lnTo>
                      <a:lnTo>
                        <a:pt x="42" y="4"/>
                      </a:lnTo>
                      <a:lnTo>
                        <a:pt x="51" y="5"/>
                      </a:lnTo>
                      <a:lnTo>
                        <a:pt x="57" y="8"/>
                      </a:lnTo>
                      <a:lnTo>
                        <a:pt x="65" y="12"/>
                      </a:lnTo>
                      <a:lnTo>
                        <a:pt x="70" y="16"/>
                      </a:lnTo>
                      <a:lnTo>
                        <a:pt x="75" y="21"/>
                      </a:lnTo>
                      <a:lnTo>
                        <a:pt x="79" y="29"/>
                      </a:lnTo>
                      <a:lnTo>
                        <a:pt x="81" y="36"/>
                      </a:lnTo>
                      <a:lnTo>
                        <a:pt x="82" y="4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63" name="Freeform 4951"/>
                <p:cNvSpPr>
                  <a:spLocks noChangeAspect="1" noEditPoints="1"/>
                </p:cNvSpPr>
                <p:nvPr/>
              </p:nvSpPr>
              <p:spPr bwMode="auto">
                <a:xfrm>
                  <a:off x="3509" y="3537"/>
                  <a:ext cx="27" cy="27"/>
                </a:xfrm>
                <a:custGeom>
                  <a:avLst/>
                  <a:gdLst>
                    <a:gd name="T0" fmla="*/ 81 w 82"/>
                    <a:gd name="T1" fmla="*/ 33 h 83"/>
                    <a:gd name="T2" fmla="*/ 75 w 82"/>
                    <a:gd name="T3" fmla="*/ 18 h 83"/>
                    <a:gd name="T4" fmla="*/ 64 w 82"/>
                    <a:gd name="T5" fmla="*/ 8 h 83"/>
                    <a:gd name="T6" fmla="*/ 49 w 82"/>
                    <a:gd name="T7" fmla="*/ 1 h 83"/>
                    <a:gd name="T8" fmla="*/ 32 w 82"/>
                    <a:gd name="T9" fmla="*/ 1 h 83"/>
                    <a:gd name="T10" fmla="*/ 18 w 82"/>
                    <a:gd name="T11" fmla="*/ 8 h 83"/>
                    <a:gd name="T12" fmla="*/ 6 w 82"/>
                    <a:gd name="T13" fmla="*/ 18 h 83"/>
                    <a:gd name="T14" fmla="*/ 0 w 82"/>
                    <a:gd name="T15" fmla="*/ 33 h 83"/>
                    <a:gd name="T16" fmla="*/ 0 w 82"/>
                    <a:gd name="T17" fmla="*/ 50 h 83"/>
                    <a:gd name="T18" fmla="*/ 6 w 82"/>
                    <a:gd name="T19" fmla="*/ 65 h 83"/>
                    <a:gd name="T20" fmla="*/ 18 w 82"/>
                    <a:gd name="T21" fmla="*/ 76 h 83"/>
                    <a:gd name="T22" fmla="*/ 32 w 82"/>
                    <a:gd name="T23" fmla="*/ 82 h 83"/>
                    <a:gd name="T24" fmla="*/ 49 w 82"/>
                    <a:gd name="T25" fmla="*/ 82 h 83"/>
                    <a:gd name="T26" fmla="*/ 64 w 82"/>
                    <a:gd name="T27" fmla="*/ 76 h 83"/>
                    <a:gd name="T28" fmla="*/ 75 w 82"/>
                    <a:gd name="T29" fmla="*/ 65 h 83"/>
                    <a:gd name="T30" fmla="*/ 81 w 82"/>
                    <a:gd name="T31" fmla="*/ 50 h 83"/>
                    <a:gd name="T32" fmla="*/ 78 w 82"/>
                    <a:gd name="T33" fmla="*/ 42 h 83"/>
                    <a:gd name="T34" fmla="*/ 75 w 82"/>
                    <a:gd name="T35" fmla="*/ 56 h 83"/>
                    <a:gd name="T36" fmla="*/ 67 w 82"/>
                    <a:gd name="T37" fmla="*/ 67 h 83"/>
                    <a:gd name="T38" fmla="*/ 55 w 82"/>
                    <a:gd name="T39" fmla="*/ 76 h 83"/>
                    <a:gd name="T40" fmla="*/ 40 w 82"/>
                    <a:gd name="T41" fmla="*/ 79 h 83"/>
                    <a:gd name="T42" fmla="*/ 27 w 82"/>
                    <a:gd name="T43" fmla="*/ 76 h 83"/>
                    <a:gd name="T44" fmla="*/ 15 w 82"/>
                    <a:gd name="T45" fmla="*/ 67 h 83"/>
                    <a:gd name="T46" fmla="*/ 6 w 82"/>
                    <a:gd name="T47" fmla="*/ 56 h 83"/>
                    <a:gd name="T48" fmla="*/ 3 w 82"/>
                    <a:gd name="T49" fmla="*/ 42 h 83"/>
                    <a:gd name="T50" fmla="*/ 6 w 82"/>
                    <a:gd name="T51" fmla="*/ 27 h 83"/>
                    <a:gd name="T52" fmla="*/ 15 w 82"/>
                    <a:gd name="T53" fmla="*/ 15 h 83"/>
                    <a:gd name="T54" fmla="*/ 27 w 82"/>
                    <a:gd name="T55" fmla="*/ 8 h 83"/>
                    <a:gd name="T56" fmla="*/ 40 w 82"/>
                    <a:gd name="T57" fmla="*/ 5 h 83"/>
                    <a:gd name="T58" fmla="*/ 55 w 82"/>
                    <a:gd name="T59" fmla="*/ 8 h 83"/>
                    <a:gd name="T60" fmla="*/ 67 w 82"/>
                    <a:gd name="T61" fmla="*/ 15 h 83"/>
                    <a:gd name="T62" fmla="*/ 75 w 82"/>
                    <a:gd name="T63" fmla="*/ 27 h 83"/>
                    <a:gd name="T64" fmla="*/ 78 w 82"/>
                    <a:gd name="T65" fmla="*/ 4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2" h="83">
                      <a:moveTo>
                        <a:pt x="82" y="42"/>
                      </a:moveTo>
                      <a:lnTo>
                        <a:pt x="81" y="33"/>
                      </a:lnTo>
                      <a:lnTo>
                        <a:pt x="79" y="26"/>
                      </a:lnTo>
                      <a:lnTo>
                        <a:pt x="75" y="18"/>
                      </a:lnTo>
                      <a:lnTo>
                        <a:pt x="69" y="13"/>
                      </a:lnTo>
                      <a:lnTo>
                        <a:pt x="64" y="8"/>
                      </a:lnTo>
                      <a:lnTo>
                        <a:pt x="56" y="3"/>
                      </a:lnTo>
                      <a:lnTo>
                        <a:pt x="49" y="1"/>
                      </a:lnTo>
                      <a:lnTo>
                        <a:pt x="40" y="0"/>
                      </a:lnTo>
                      <a:lnTo>
                        <a:pt x="32" y="1"/>
                      </a:lnTo>
                      <a:lnTo>
                        <a:pt x="24" y="3"/>
                      </a:lnTo>
                      <a:lnTo>
                        <a:pt x="18" y="8"/>
                      </a:lnTo>
                      <a:lnTo>
                        <a:pt x="12" y="13"/>
                      </a:lnTo>
                      <a:lnTo>
                        <a:pt x="6" y="18"/>
                      </a:lnTo>
                      <a:lnTo>
                        <a:pt x="3" y="26"/>
                      </a:lnTo>
                      <a:lnTo>
                        <a:pt x="0" y="33"/>
                      </a:lnTo>
                      <a:lnTo>
                        <a:pt x="0" y="42"/>
                      </a:lnTo>
                      <a:lnTo>
                        <a:pt x="0" y="50"/>
                      </a:lnTo>
                      <a:lnTo>
                        <a:pt x="3" y="58"/>
                      </a:lnTo>
                      <a:lnTo>
                        <a:pt x="6" y="65"/>
                      </a:lnTo>
                      <a:lnTo>
                        <a:pt x="12" y="70"/>
                      </a:lnTo>
                      <a:lnTo>
                        <a:pt x="18" y="76"/>
                      </a:lnTo>
                      <a:lnTo>
                        <a:pt x="24" y="79"/>
                      </a:lnTo>
                      <a:lnTo>
                        <a:pt x="32" y="82"/>
                      </a:lnTo>
                      <a:lnTo>
                        <a:pt x="40" y="83"/>
                      </a:lnTo>
                      <a:lnTo>
                        <a:pt x="49" y="82"/>
                      </a:lnTo>
                      <a:lnTo>
                        <a:pt x="56" y="79"/>
                      </a:lnTo>
                      <a:lnTo>
                        <a:pt x="64" y="76"/>
                      </a:lnTo>
                      <a:lnTo>
                        <a:pt x="69" y="70"/>
                      </a:lnTo>
                      <a:lnTo>
                        <a:pt x="75" y="65"/>
                      </a:lnTo>
                      <a:lnTo>
                        <a:pt x="79" y="58"/>
                      </a:lnTo>
                      <a:lnTo>
                        <a:pt x="81" y="50"/>
                      </a:lnTo>
                      <a:lnTo>
                        <a:pt x="82" y="42"/>
                      </a:lnTo>
                      <a:close/>
                      <a:moveTo>
                        <a:pt x="78" y="42"/>
                      </a:moveTo>
                      <a:lnTo>
                        <a:pt x="77" y="49"/>
                      </a:lnTo>
                      <a:lnTo>
                        <a:pt x="75" y="56"/>
                      </a:lnTo>
                      <a:lnTo>
                        <a:pt x="71" y="62"/>
                      </a:lnTo>
                      <a:lnTo>
                        <a:pt x="67" y="67"/>
                      </a:lnTo>
                      <a:lnTo>
                        <a:pt x="62" y="73"/>
                      </a:lnTo>
                      <a:lnTo>
                        <a:pt x="55" y="76"/>
                      </a:lnTo>
                      <a:lnTo>
                        <a:pt x="48" y="78"/>
                      </a:lnTo>
                      <a:lnTo>
                        <a:pt x="40" y="79"/>
                      </a:lnTo>
                      <a:lnTo>
                        <a:pt x="33" y="78"/>
                      </a:lnTo>
                      <a:lnTo>
                        <a:pt x="27" y="76"/>
                      </a:lnTo>
                      <a:lnTo>
                        <a:pt x="20" y="73"/>
                      </a:lnTo>
                      <a:lnTo>
                        <a:pt x="15" y="67"/>
                      </a:lnTo>
                      <a:lnTo>
                        <a:pt x="10" y="62"/>
                      </a:lnTo>
                      <a:lnTo>
                        <a:pt x="6" y="56"/>
                      </a:lnTo>
                      <a:lnTo>
                        <a:pt x="4" y="49"/>
                      </a:lnTo>
                      <a:lnTo>
                        <a:pt x="3" y="42"/>
                      </a:lnTo>
                      <a:lnTo>
                        <a:pt x="4" y="34"/>
                      </a:lnTo>
                      <a:lnTo>
                        <a:pt x="6" y="27"/>
                      </a:lnTo>
                      <a:lnTo>
                        <a:pt x="10" y="22"/>
                      </a:lnTo>
                      <a:lnTo>
                        <a:pt x="15" y="15"/>
                      </a:lnTo>
                      <a:lnTo>
                        <a:pt x="20" y="11"/>
                      </a:lnTo>
                      <a:lnTo>
                        <a:pt x="27" y="8"/>
                      </a:lnTo>
                      <a:lnTo>
                        <a:pt x="33" y="6"/>
                      </a:lnTo>
                      <a:lnTo>
                        <a:pt x="40" y="5"/>
                      </a:lnTo>
                      <a:lnTo>
                        <a:pt x="48" y="6"/>
                      </a:lnTo>
                      <a:lnTo>
                        <a:pt x="55" y="8"/>
                      </a:lnTo>
                      <a:lnTo>
                        <a:pt x="62" y="11"/>
                      </a:lnTo>
                      <a:lnTo>
                        <a:pt x="67" y="15"/>
                      </a:lnTo>
                      <a:lnTo>
                        <a:pt x="71" y="22"/>
                      </a:lnTo>
                      <a:lnTo>
                        <a:pt x="75" y="27"/>
                      </a:lnTo>
                      <a:lnTo>
                        <a:pt x="77" y="34"/>
                      </a:lnTo>
                      <a:lnTo>
                        <a:pt x="78" y="4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64" name="Freeform 4952"/>
                <p:cNvSpPr>
                  <a:spLocks noChangeAspect="1" noEditPoints="1"/>
                </p:cNvSpPr>
                <p:nvPr/>
              </p:nvSpPr>
              <p:spPr bwMode="auto">
                <a:xfrm>
                  <a:off x="3510" y="3537"/>
                  <a:ext cx="26" cy="27"/>
                </a:xfrm>
                <a:custGeom>
                  <a:avLst/>
                  <a:gdLst>
                    <a:gd name="T0" fmla="*/ 77 w 78"/>
                    <a:gd name="T1" fmla="*/ 32 h 79"/>
                    <a:gd name="T2" fmla="*/ 71 w 78"/>
                    <a:gd name="T3" fmla="*/ 17 h 79"/>
                    <a:gd name="T4" fmla="*/ 61 w 78"/>
                    <a:gd name="T5" fmla="*/ 8 h 79"/>
                    <a:gd name="T6" fmla="*/ 47 w 78"/>
                    <a:gd name="T7" fmla="*/ 1 h 79"/>
                    <a:gd name="T8" fmla="*/ 31 w 78"/>
                    <a:gd name="T9" fmla="*/ 1 h 79"/>
                    <a:gd name="T10" fmla="*/ 17 w 78"/>
                    <a:gd name="T11" fmla="*/ 8 h 79"/>
                    <a:gd name="T12" fmla="*/ 7 w 78"/>
                    <a:gd name="T13" fmla="*/ 17 h 79"/>
                    <a:gd name="T14" fmla="*/ 0 w 78"/>
                    <a:gd name="T15" fmla="*/ 32 h 79"/>
                    <a:gd name="T16" fmla="*/ 0 w 78"/>
                    <a:gd name="T17" fmla="*/ 47 h 79"/>
                    <a:gd name="T18" fmla="*/ 7 w 78"/>
                    <a:gd name="T19" fmla="*/ 61 h 79"/>
                    <a:gd name="T20" fmla="*/ 17 w 78"/>
                    <a:gd name="T21" fmla="*/ 72 h 79"/>
                    <a:gd name="T22" fmla="*/ 31 w 78"/>
                    <a:gd name="T23" fmla="*/ 78 h 79"/>
                    <a:gd name="T24" fmla="*/ 47 w 78"/>
                    <a:gd name="T25" fmla="*/ 78 h 79"/>
                    <a:gd name="T26" fmla="*/ 61 w 78"/>
                    <a:gd name="T27" fmla="*/ 72 h 79"/>
                    <a:gd name="T28" fmla="*/ 71 w 78"/>
                    <a:gd name="T29" fmla="*/ 61 h 79"/>
                    <a:gd name="T30" fmla="*/ 77 w 78"/>
                    <a:gd name="T31" fmla="*/ 47 h 79"/>
                    <a:gd name="T32" fmla="*/ 74 w 78"/>
                    <a:gd name="T33" fmla="*/ 40 h 79"/>
                    <a:gd name="T34" fmla="*/ 70 w 78"/>
                    <a:gd name="T35" fmla="*/ 54 h 79"/>
                    <a:gd name="T36" fmla="*/ 63 w 78"/>
                    <a:gd name="T37" fmla="*/ 64 h 79"/>
                    <a:gd name="T38" fmla="*/ 52 w 78"/>
                    <a:gd name="T39" fmla="*/ 72 h 79"/>
                    <a:gd name="T40" fmla="*/ 38 w 78"/>
                    <a:gd name="T41" fmla="*/ 75 h 79"/>
                    <a:gd name="T42" fmla="*/ 25 w 78"/>
                    <a:gd name="T43" fmla="*/ 72 h 79"/>
                    <a:gd name="T44" fmla="*/ 14 w 78"/>
                    <a:gd name="T45" fmla="*/ 64 h 79"/>
                    <a:gd name="T46" fmla="*/ 7 w 78"/>
                    <a:gd name="T47" fmla="*/ 54 h 79"/>
                    <a:gd name="T48" fmla="*/ 3 w 78"/>
                    <a:gd name="T49" fmla="*/ 40 h 79"/>
                    <a:gd name="T50" fmla="*/ 7 w 78"/>
                    <a:gd name="T51" fmla="*/ 26 h 79"/>
                    <a:gd name="T52" fmla="*/ 14 w 78"/>
                    <a:gd name="T53" fmla="*/ 15 h 79"/>
                    <a:gd name="T54" fmla="*/ 25 w 78"/>
                    <a:gd name="T55" fmla="*/ 8 h 79"/>
                    <a:gd name="T56" fmla="*/ 38 w 78"/>
                    <a:gd name="T57" fmla="*/ 5 h 79"/>
                    <a:gd name="T58" fmla="*/ 52 w 78"/>
                    <a:gd name="T59" fmla="*/ 8 h 79"/>
                    <a:gd name="T60" fmla="*/ 63 w 78"/>
                    <a:gd name="T61" fmla="*/ 15 h 79"/>
                    <a:gd name="T62" fmla="*/ 70 w 78"/>
                    <a:gd name="T63" fmla="*/ 26 h 79"/>
                    <a:gd name="T64" fmla="*/ 74 w 78"/>
                    <a:gd name="T65" fmla="*/ 4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79">
                      <a:moveTo>
                        <a:pt x="78" y="40"/>
                      </a:moveTo>
                      <a:lnTo>
                        <a:pt x="77" y="32"/>
                      </a:lnTo>
                      <a:lnTo>
                        <a:pt x="75" y="25"/>
                      </a:lnTo>
                      <a:lnTo>
                        <a:pt x="71" y="17"/>
                      </a:lnTo>
                      <a:lnTo>
                        <a:pt x="66" y="12"/>
                      </a:lnTo>
                      <a:lnTo>
                        <a:pt x="61" y="8"/>
                      </a:lnTo>
                      <a:lnTo>
                        <a:pt x="53" y="4"/>
                      </a:lnTo>
                      <a:lnTo>
                        <a:pt x="47" y="1"/>
                      </a:lnTo>
                      <a:lnTo>
                        <a:pt x="38" y="0"/>
                      </a:lnTo>
                      <a:lnTo>
                        <a:pt x="31" y="1"/>
                      </a:lnTo>
                      <a:lnTo>
                        <a:pt x="24" y="4"/>
                      </a:lnTo>
                      <a:lnTo>
                        <a:pt x="17" y="8"/>
                      </a:lnTo>
                      <a:lnTo>
                        <a:pt x="11" y="12"/>
                      </a:lnTo>
                      <a:lnTo>
                        <a:pt x="7" y="17"/>
                      </a:lnTo>
                      <a:lnTo>
                        <a:pt x="2" y="25"/>
                      </a:lnTo>
                      <a:lnTo>
                        <a:pt x="0" y="32"/>
                      </a:lnTo>
                      <a:lnTo>
                        <a:pt x="0" y="40"/>
                      </a:lnTo>
                      <a:lnTo>
                        <a:pt x="0" y="47"/>
                      </a:lnTo>
                      <a:lnTo>
                        <a:pt x="2" y="55"/>
                      </a:lnTo>
                      <a:lnTo>
                        <a:pt x="7" y="61"/>
                      </a:lnTo>
                      <a:lnTo>
                        <a:pt x="11" y="67"/>
                      </a:lnTo>
                      <a:lnTo>
                        <a:pt x="17" y="72"/>
                      </a:lnTo>
                      <a:lnTo>
                        <a:pt x="24" y="76"/>
                      </a:lnTo>
                      <a:lnTo>
                        <a:pt x="31" y="78"/>
                      </a:lnTo>
                      <a:lnTo>
                        <a:pt x="38" y="79"/>
                      </a:lnTo>
                      <a:lnTo>
                        <a:pt x="47" y="78"/>
                      </a:lnTo>
                      <a:lnTo>
                        <a:pt x="53" y="76"/>
                      </a:lnTo>
                      <a:lnTo>
                        <a:pt x="61" y="72"/>
                      </a:lnTo>
                      <a:lnTo>
                        <a:pt x="66" y="67"/>
                      </a:lnTo>
                      <a:lnTo>
                        <a:pt x="71" y="61"/>
                      </a:lnTo>
                      <a:lnTo>
                        <a:pt x="75" y="55"/>
                      </a:lnTo>
                      <a:lnTo>
                        <a:pt x="77" y="47"/>
                      </a:lnTo>
                      <a:lnTo>
                        <a:pt x="78" y="40"/>
                      </a:lnTo>
                      <a:close/>
                      <a:moveTo>
                        <a:pt x="74" y="40"/>
                      </a:moveTo>
                      <a:lnTo>
                        <a:pt x="73" y="47"/>
                      </a:lnTo>
                      <a:lnTo>
                        <a:pt x="70" y="54"/>
                      </a:lnTo>
                      <a:lnTo>
                        <a:pt x="67" y="59"/>
                      </a:lnTo>
                      <a:lnTo>
                        <a:pt x="63" y="64"/>
                      </a:lnTo>
                      <a:lnTo>
                        <a:pt x="59" y="68"/>
                      </a:lnTo>
                      <a:lnTo>
                        <a:pt x="52" y="72"/>
                      </a:lnTo>
                      <a:lnTo>
                        <a:pt x="46" y="74"/>
                      </a:lnTo>
                      <a:lnTo>
                        <a:pt x="38" y="75"/>
                      </a:lnTo>
                      <a:lnTo>
                        <a:pt x="32" y="74"/>
                      </a:lnTo>
                      <a:lnTo>
                        <a:pt x="25" y="72"/>
                      </a:lnTo>
                      <a:lnTo>
                        <a:pt x="19" y="68"/>
                      </a:lnTo>
                      <a:lnTo>
                        <a:pt x="14" y="64"/>
                      </a:lnTo>
                      <a:lnTo>
                        <a:pt x="10" y="59"/>
                      </a:lnTo>
                      <a:lnTo>
                        <a:pt x="7" y="54"/>
                      </a:lnTo>
                      <a:lnTo>
                        <a:pt x="4" y="47"/>
                      </a:lnTo>
                      <a:lnTo>
                        <a:pt x="3" y="40"/>
                      </a:lnTo>
                      <a:lnTo>
                        <a:pt x="4" y="32"/>
                      </a:lnTo>
                      <a:lnTo>
                        <a:pt x="7" y="26"/>
                      </a:lnTo>
                      <a:lnTo>
                        <a:pt x="10" y="21"/>
                      </a:lnTo>
                      <a:lnTo>
                        <a:pt x="14" y="15"/>
                      </a:lnTo>
                      <a:lnTo>
                        <a:pt x="19" y="11"/>
                      </a:lnTo>
                      <a:lnTo>
                        <a:pt x="25" y="8"/>
                      </a:lnTo>
                      <a:lnTo>
                        <a:pt x="32" y="6"/>
                      </a:lnTo>
                      <a:lnTo>
                        <a:pt x="38" y="5"/>
                      </a:lnTo>
                      <a:lnTo>
                        <a:pt x="46" y="6"/>
                      </a:lnTo>
                      <a:lnTo>
                        <a:pt x="52" y="8"/>
                      </a:lnTo>
                      <a:lnTo>
                        <a:pt x="59" y="11"/>
                      </a:lnTo>
                      <a:lnTo>
                        <a:pt x="63" y="15"/>
                      </a:lnTo>
                      <a:lnTo>
                        <a:pt x="67" y="21"/>
                      </a:lnTo>
                      <a:lnTo>
                        <a:pt x="70" y="26"/>
                      </a:lnTo>
                      <a:lnTo>
                        <a:pt x="73" y="32"/>
                      </a:lnTo>
                      <a:lnTo>
                        <a:pt x="74" y="4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65" name="Freeform 4953"/>
                <p:cNvSpPr>
                  <a:spLocks noChangeAspect="1" noEditPoints="1"/>
                </p:cNvSpPr>
                <p:nvPr/>
              </p:nvSpPr>
              <p:spPr bwMode="auto">
                <a:xfrm>
                  <a:off x="3510" y="3538"/>
                  <a:ext cx="25" cy="25"/>
                </a:xfrm>
                <a:custGeom>
                  <a:avLst/>
                  <a:gdLst>
                    <a:gd name="T0" fmla="*/ 74 w 75"/>
                    <a:gd name="T1" fmla="*/ 29 h 74"/>
                    <a:gd name="T2" fmla="*/ 68 w 75"/>
                    <a:gd name="T3" fmla="*/ 17 h 74"/>
                    <a:gd name="T4" fmla="*/ 59 w 75"/>
                    <a:gd name="T5" fmla="*/ 6 h 74"/>
                    <a:gd name="T6" fmla="*/ 45 w 75"/>
                    <a:gd name="T7" fmla="*/ 1 h 74"/>
                    <a:gd name="T8" fmla="*/ 30 w 75"/>
                    <a:gd name="T9" fmla="*/ 1 h 74"/>
                    <a:gd name="T10" fmla="*/ 17 w 75"/>
                    <a:gd name="T11" fmla="*/ 6 h 74"/>
                    <a:gd name="T12" fmla="*/ 7 w 75"/>
                    <a:gd name="T13" fmla="*/ 17 h 74"/>
                    <a:gd name="T14" fmla="*/ 1 w 75"/>
                    <a:gd name="T15" fmla="*/ 29 h 74"/>
                    <a:gd name="T16" fmla="*/ 1 w 75"/>
                    <a:gd name="T17" fmla="*/ 44 h 74"/>
                    <a:gd name="T18" fmla="*/ 7 w 75"/>
                    <a:gd name="T19" fmla="*/ 57 h 74"/>
                    <a:gd name="T20" fmla="*/ 17 w 75"/>
                    <a:gd name="T21" fmla="*/ 68 h 74"/>
                    <a:gd name="T22" fmla="*/ 30 w 75"/>
                    <a:gd name="T23" fmla="*/ 73 h 74"/>
                    <a:gd name="T24" fmla="*/ 45 w 75"/>
                    <a:gd name="T25" fmla="*/ 73 h 74"/>
                    <a:gd name="T26" fmla="*/ 59 w 75"/>
                    <a:gd name="T27" fmla="*/ 68 h 74"/>
                    <a:gd name="T28" fmla="*/ 68 w 75"/>
                    <a:gd name="T29" fmla="*/ 57 h 74"/>
                    <a:gd name="T30" fmla="*/ 74 w 75"/>
                    <a:gd name="T31" fmla="*/ 44 h 74"/>
                    <a:gd name="T32" fmla="*/ 70 w 75"/>
                    <a:gd name="T33" fmla="*/ 37 h 74"/>
                    <a:gd name="T34" fmla="*/ 68 w 75"/>
                    <a:gd name="T35" fmla="*/ 50 h 74"/>
                    <a:gd name="T36" fmla="*/ 61 w 75"/>
                    <a:gd name="T37" fmla="*/ 60 h 74"/>
                    <a:gd name="T38" fmla="*/ 50 w 75"/>
                    <a:gd name="T39" fmla="*/ 67 h 74"/>
                    <a:gd name="T40" fmla="*/ 37 w 75"/>
                    <a:gd name="T41" fmla="*/ 70 h 74"/>
                    <a:gd name="T42" fmla="*/ 25 w 75"/>
                    <a:gd name="T43" fmla="*/ 67 h 74"/>
                    <a:gd name="T44" fmla="*/ 14 w 75"/>
                    <a:gd name="T45" fmla="*/ 60 h 74"/>
                    <a:gd name="T46" fmla="*/ 8 w 75"/>
                    <a:gd name="T47" fmla="*/ 50 h 74"/>
                    <a:gd name="T48" fmla="*/ 4 w 75"/>
                    <a:gd name="T49" fmla="*/ 37 h 74"/>
                    <a:gd name="T50" fmla="*/ 8 w 75"/>
                    <a:gd name="T51" fmla="*/ 24 h 74"/>
                    <a:gd name="T52" fmla="*/ 14 w 75"/>
                    <a:gd name="T53" fmla="*/ 13 h 74"/>
                    <a:gd name="T54" fmla="*/ 25 w 75"/>
                    <a:gd name="T55" fmla="*/ 7 h 74"/>
                    <a:gd name="T56" fmla="*/ 37 w 75"/>
                    <a:gd name="T57" fmla="*/ 4 h 74"/>
                    <a:gd name="T58" fmla="*/ 50 w 75"/>
                    <a:gd name="T59" fmla="*/ 7 h 74"/>
                    <a:gd name="T60" fmla="*/ 61 w 75"/>
                    <a:gd name="T61" fmla="*/ 13 h 74"/>
                    <a:gd name="T62" fmla="*/ 68 w 75"/>
                    <a:gd name="T63" fmla="*/ 24 h 74"/>
                    <a:gd name="T64" fmla="*/ 70 w 75"/>
                    <a:gd name="T65" fmla="*/ 3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74">
                      <a:moveTo>
                        <a:pt x="75" y="37"/>
                      </a:moveTo>
                      <a:lnTo>
                        <a:pt x="74" y="29"/>
                      </a:lnTo>
                      <a:lnTo>
                        <a:pt x="72" y="22"/>
                      </a:lnTo>
                      <a:lnTo>
                        <a:pt x="68" y="17"/>
                      </a:lnTo>
                      <a:lnTo>
                        <a:pt x="64" y="10"/>
                      </a:lnTo>
                      <a:lnTo>
                        <a:pt x="59" y="6"/>
                      </a:lnTo>
                      <a:lnTo>
                        <a:pt x="52" y="3"/>
                      </a:lnTo>
                      <a:lnTo>
                        <a:pt x="45" y="1"/>
                      </a:lnTo>
                      <a:lnTo>
                        <a:pt x="37" y="0"/>
                      </a:lnTo>
                      <a:lnTo>
                        <a:pt x="30" y="1"/>
                      </a:lnTo>
                      <a:lnTo>
                        <a:pt x="24" y="3"/>
                      </a:lnTo>
                      <a:lnTo>
                        <a:pt x="17" y="6"/>
                      </a:lnTo>
                      <a:lnTo>
                        <a:pt x="12" y="10"/>
                      </a:lnTo>
                      <a:lnTo>
                        <a:pt x="7" y="17"/>
                      </a:lnTo>
                      <a:lnTo>
                        <a:pt x="3" y="22"/>
                      </a:lnTo>
                      <a:lnTo>
                        <a:pt x="1" y="29"/>
                      </a:lnTo>
                      <a:lnTo>
                        <a:pt x="0" y="37"/>
                      </a:lnTo>
                      <a:lnTo>
                        <a:pt x="1" y="44"/>
                      </a:lnTo>
                      <a:lnTo>
                        <a:pt x="3" y="51"/>
                      </a:lnTo>
                      <a:lnTo>
                        <a:pt x="7" y="57"/>
                      </a:lnTo>
                      <a:lnTo>
                        <a:pt x="12" y="62"/>
                      </a:lnTo>
                      <a:lnTo>
                        <a:pt x="17" y="68"/>
                      </a:lnTo>
                      <a:lnTo>
                        <a:pt x="24" y="71"/>
                      </a:lnTo>
                      <a:lnTo>
                        <a:pt x="30" y="73"/>
                      </a:lnTo>
                      <a:lnTo>
                        <a:pt x="37" y="74"/>
                      </a:lnTo>
                      <a:lnTo>
                        <a:pt x="45" y="73"/>
                      </a:lnTo>
                      <a:lnTo>
                        <a:pt x="52" y="71"/>
                      </a:lnTo>
                      <a:lnTo>
                        <a:pt x="59" y="68"/>
                      </a:lnTo>
                      <a:lnTo>
                        <a:pt x="64" y="62"/>
                      </a:lnTo>
                      <a:lnTo>
                        <a:pt x="68" y="57"/>
                      </a:lnTo>
                      <a:lnTo>
                        <a:pt x="72" y="51"/>
                      </a:lnTo>
                      <a:lnTo>
                        <a:pt x="74" y="44"/>
                      </a:lnTo>
                      <a:lnTo>
                        <a:pt x="75" y="37"/>
                      </a:lnTo>
                      <a:close/>
                      <a:moveTo>
                        <a:pt x="70" y="37"/>
                      </a:moveTo>
                      <a:lnTo>
                        <a:pt x="69" y="43"/>
                      </a:lnTo>
                      <a:lnTo>
                        <a:pt x="68" y="50"/>
                      </a:lnTo>
                      <a:lnTo>
                        <a:pt x="65" y="55"/>
                      </a:lnTo>
                      <a:lnTo>
                        <a:pt x="61" y="60"/>
                      </a:lnTo>
                      <a:lnTo>
                        <a:pt x="56" y="64"/>
                      </a:lnTo>
                      <a:lnTo>
                        <a:pt x="50" y="67"/>
                      </a:lnTo>
                      <a:lnTo>
                        <a:pt x="44" y="69"/>
                      </a:lnTo>
                      <a:lnTo>
                        <a:pt x="37" y="70"/>
                      </a:lnTo>
                      <a:lnTo>
                        <a:pt x="31" y="69"/>
                      </a:lnTo>
                      <a:lnTo>
                        <a:pt x="25" y="67"/>
                      </a:lnTo>
                      <a:lnTo>
                        <a:pt x="19" y="64"/>
                      </a:lnTo>
                      <a:lnTo>
                        <a:pt x="14" y="60"/>
                      </a:lnTo>
                      <a:lnTo>
                        <a:pt x="11" y="55"/>
                      </a:lnTo>
                      <a:lnTo>
                        <a:pt x="8" y="50"/>
                      </a:lnTo>
                      <a:lnTo>
                        <a:pt x="6" y="43"/>
                      </a:lnTo>
                      <a:lnTo>
                        <a:pt x="4" y="37"/>
                      </a:lnTo>
                      <a:lnTo>
                        <a:pt x="6" y="30"/>
                      </a:lnTo>
                      <a:lnTo>
                        <a:pt x="8" y="24"/>
                      </a:lnTo>
                      <a:lnTo>
                        <a:pt x="11" y="19"/>
                      </a:lnTo>
                      <a:lnTo>
                        <a:pt x="14" y="13"/>
                      </a:lnTo>
                      <a:lnTo>
                        <a:pt x="19" y="9"/>
                      </a:lnTo>
                      <a:lnTo>
                        <a:pt x="25" y="7"/>
                      </a:lnTo>
                      <a:lnTo>
                        <a:pt x="31" y="5"/>
                      </a:lnTo>
                      <a:lnTo>
                        <a:pt x="37" y="4"/>
                      </a:lnTo>
                      <a:lnTo>
                        <a:pt x="44" y="5"/>
                      </a:lnTo>
                      <a:lnTo>
                        <a:pt x="50" y="7"/>
                      </a:lnTo>
                      <a:lnTo>
                        <a:pt x="56" y="9"/>
                      </a:lnTo>
                      <a:lnTo>
                        <a:pt x="61" y="13"/>
                      </a:lnTo>
                      <a:lnTo>
                        <a:pt x="65" y="19"/>
                      </a:lnTo>
                      <a:lnTo>
                        <a:pt x="68" y="24"/>
                      </a:lnTo>
                      <a:lnTo>
                        <a:pt x="69" y="30"/>
                      </a:lnTo>
                      <a:lnTo>
                        <a:pt x="70" y="3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66" name="Freeform 4954"/>
                <p:cNvSpPr>
                  <a:spLocks noChangeAspect="1" noEditPoints="1"/>
                </p:cNvSpPr>
                <p:nvPr/>
              </p:nvSpPr>
              <p:spPr bwMode="auto">
                <a:xfrm>
                  <a:off x="3511" y="3539"/>
                  <a:ext cx="23" cy="23"/>
                </a:xfrm>
                <a:custGeom>
                  <a:avLst/>
                  <a:gdLst>
                    <a:gd name="T0" fmla="*/ 70 w 71"/>
                    <a:gd name="T1" fmla="*/ 27 h 70"/>
                    <a:gd name="T2" fmla="*/ 64 w 71"/>
                    <a:gd name="T3" fmla="*/ 16 h 70"/>
                    <a:gd name="T4" fmla="*/ 56 w 71"/>
                    <a:gd name="T5" fmla="*/ 6 h 70"/>
                    <a:gd name="T6" fmla="*/ 43 w 71"/>
                    <a:gd name="T7" fmla="*/ 1 h 70"/>
                    <a:gd name="T8" fmla="*/ 29 w 71"/>
                    <a:gd name="T9" fmla="*/ 1 h 70"/>
                    <a:gd name="T10" fmla="*/ 16 w 71"/>
                    <a:gd name="T11" fmla="*/ 6 h 70"/>
                    <a:gd name="T12" fmla="*/ 7 w 71"/>
                    <a:gd name="T13" fmla="*/ 16 h 70"/>
                    <a:gd name="T14" fmla="*/ 1 w 71"/>
                    <a:gd name="T15" fmla="*/ 27 h 70"/>
                    <a:gd name="T16" fmla="*/ 1 w 71"/>
                    <a:gd name="T17" fmla="*/ 42 h 70"/>
                    <a:gd name="T18" fmla="*/ 7 w 71"/>
                    <a:gd name="T19" fmla="*/ 54 h 70"/>
                    <a:gd name="T20" fmla="*/ 16 w 71"/>
                    <a:gd name="T21" fmla="*/ 63 h 70"/>
                    <a:gd name="T22" fmla="*/ 29 w 71"/>
                    <a:gd name="T23" fmla="*/ 69 h 70"/>
                    <a:gd name="T24" fmla="*/ 43 w 71"/>
                    <a:gd name="T25" fmla="*/ 69 h 70"/>
                    <a:gd name="T26" fmla="*/ 56 w 71"/>
                    <a:gd name="T27" fmla="*/ 63 h 70"/>
                    <a:gd name="T28" fmla="*/ 64 w 71"/>
                    <a:gd name="T29" fmla="*/ 54 h 70"/>
                    <a:gd name="T30" fmla="*/ 70 w 71"/>
                    <a:gd name="T31" fmla="*/ 42 h 70"/>
                    <a:gd name="T32" fmla="*/ 66 w 71"/>
                    <a:gd name="T33" fmla="*/ 35 h 70"/>
                    <a:gd name="T34" fmla="*/ 64 w 71"/>
                    <a:gd name="T35" fmla="*/ 46 h 70"/>
                    <a:gd name="T36" fmla="*/ 58 w 71"/>
                    <a:gd name="T37" fmla="*/ 56 h 70"/>
                    <a:gd name="T38" fmla="*/ 47 w 71"/>
                    <a:gd name="T39" fmla="*/ 63 h 70"/>
                    <a:gd name="T40" fmla="*/ 35 w 71"/>
                    <a:gd name="T41" fmla="*/ 66 h 70"/>
                    <a:gd name="T42" fmla="*/ 24 w 71"/>
                    <a:gd name="T43" fmla="*/ 63 h 70"/>
                    <a:gd name="T44" fmla="*/ 14 w 71"/>
                    <a:gd name="T45" fmla="*/ 56 h 70"/>
                    <a:gd name="T46" fmla="*/ 8 w 71"/>
                    <a:gd name="T47" fmla="*/ 46 h 70"/>
                    <a:gd name="T48" fmla="*/ 5 w 71"/>
                    <a:gd name="T49" fmla="*/ 35 h 70"/>
                    <a:gd name="T50" fmla="*/ 8 w 71"/>
                    <a:gd name="T51" fmla="*/ 23 h 70"/>
                    <a:gd name="T52" fmla="*/ 14 w 71"/>
                    <a:gd name="T53" fmla="*/ 12 h 70"/>
                    <a:gd name="T54" fmla="*/ 24 w 71"/>
                    <a:gd name="T55" fmla="*/ 6 h 70"/>
                    <a:gd name="T56" fmla="*/ 35 w 71"/>
                    <a:gd name="T57" fmla="*/ 4 h 70"/>
                    <a:gd name="T58" fmla="*/ 47 w 71"/>
                    <a:gd name="T59" fmla="*/ 6 h 70"/>
                    <a:gd name="T60" fmla="*/ 58 w 71"/>
                    <a:gd name="T61" fmla="*/ 12 h 70"/>
                    <a:gd name="T62" fmla="*/ 64 w 71"/>
                    <a:gd name="T63" fmla="*/ 23 h 70"/>
                    <a:gd name="T64" fmla="*/ 66 w 71"/>
                    <a:gd name="T6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 h="70">
                      <a:moveTo>
                        <a:pt x="71" y="35"/>
                      </a:moveTo>
                      <a:lnTo>
                        <a:pt x="70" y="27"/>
                      </a:lnTo>
                      <a:lnTo>
                        <a:pt x="67" y="21"/>
                      </a:lnTo>
                      <a:lnTo>
                        <a:pt x="64" y="16"/>
                      </a:lnTo>
                      <a:lnTo>
                        <a:pt x="60" y="10"/>
                      </a:lnTo>
                      <a:lnTo>
                        <a:pt x="56" y="6"/>
                      </a:lnTo>
                      <a:lnTo>
                        <a:pt x="49" y="3"/>
                      </a:lnTo>
                      <a:lnTo>
                        <a:pt x="43" y="1"/>
                      </a:lnTo>
                      <a:lnTo>
                        <a:pt x="35" y="0"/>
                      </a:lnTo>
                      <a:lnTo>
                        <a:pt x="29" y="1"/>
                      </a:lnTo>
                      <a:lnTo>
                        <a:pt x="22" y="3"/>
                      </a:lnTo>
                      <a:lnTo>
                        <a:pt x="16" y="6"/>
                      </a:lnTo>
                      <a:lnTo>
                        <a:pt x="11" y="10"/>
                      </a:lnTo>
                      <a:lnTo>
                        <a:pt x="7" y="16"/>
                      </a:lnTo>
                      <a:lnTo>
                        <a:pt x="4" y="21"/>
                      </a:lnTo>
                      <a:lnTo>
                        <a:pt x="1" y="27"/>
                      </a:lnTo>
                      <a:lnTo>
                        <a:pt x="0" y="35"/>
                      </a:lnTo>
                      <a:lnTo>
                        <a:pt x="1" y="42"/>
                      </a:lnTo>
                      <a:lnTo>
                        <a:pt x="4" y="49"/>
                      </a:lnTo>
                      <a:lnTo>
                        <a:pt x="7" y="54"/>
                      </a:lnTo>
                      <a:lnTo>
                        <a:pt x="11" y="59"/>
                      </a:lnTo>
                      <a:lnTo>
                        <a:pt x="16" y="63"/>
                      </a:lnTo>
                      <a:lnTo>
                        <a:pt x="22" y="67"/>
                      </a:lnTo>
                      <a:lnTo>
                        <a:pt x="29" y="69"/>
                      </a:lnTo>
                      <a:lnTo>
                        <a:pt x="35" y="70"/>
                      </a:lnTo>
                      <a:lnTo>
                        <a:pt x="43" y="69"/>
                      </a:lnTo>
                      <a:lnTo>
                        <a:pt x="49" y="67"/>
                      </a:lnTo>
                      <a:lnTo>
                        <a:pt x="56" y="63"/>
                      </a:lnTo>
                      <a:lnTo>
                        <a:pt x="60" y="59"/>
                      </a:lnTo>
                      <a:lnTo>
                        <a:pt x="64" y="54"/>
                      </a:lnTo>
                      <a:lnTo>
                        <a:pt x="67" y="49"/>
                      </a:lnTo>
                      <a:lnTo>
                        <a:pt x="70" y="42"/>
                      </a:lnTo>
                      <a:lnTo>
                        <a:pt x="71" y="35"/>
                      </a:lnTo>
                      <a:close/>
                      <a:moveTo>
                        <a:pt x="66" y="35"/>
                      </a:moveTo>
                      <a:lnTo>
                        <a:pt x="66" y="41"/>
                      </a:lnTo>
                      <a:lnTo>
                        <a:pt x="64" y="46"/>
                      </a:lnTo>
                      <a:lnTo>
                        <a:pt x="61" y="52"/>
                      </a:lnTo>
                      <a:lnTo>
                        <a:pt x="58" y="56"/>
                      </a:lnTo>
                      <a:lnTo>
                        <a:pt x="52" y="60"/>
                      </a:lnTo>
                      <a:lnTo>
                        <a:pt x="47" y="63"/>
                      </a:lnTo>
                      <a:lnTo>
                        <a:pt x="42" y="65"/>
                      </a:lnTo>
                      <a:lnTo>
                        <a:pt x="35" y="66"/>
                      </a:lnTo>
                      <a:lnTo>
                        <a:pt x="29" y="65"/>
                      </a:lnTo>
                      <a:lnTo>
                        <a:pt x="24" y="63"/>
                      </a:lnTo>
                      <a:lnTo>
                        <a:pt x="18" y="60"/>
                      </a:lnTo>
                      <a:lnTo>
                        <a:pt x="14" y="56"/>
                      </a:lnTo>
                      <a:lnTo>
                        <a:pt x="10" y="52"/>
                      </a:lnTo>
                      <a:lnTo>
                        <a:pt x="8" y="46"/>
                      </a:lnTo>
                      <a:lnTo>
                        <a:pt x="6" y="41"/>
                      </a:lnTo>
                      <a:lnTo>
                        <a:pt x="5" y="35"/>
                      </a:lnTo>
                      <a:lnTo>
                        <a:pt x="6" y="28"/>
                      </a:lnTo>
                      <a:lnTo>
                        <a:pt x="8" y="23"/>
                      </a:lnTo>
                      <a:lnTo>
                        <a:pt x="10" y="18"/>
                      </a:lnTo>
                      <a:lnTo>
                        <a:pt x="14" y="12"/>
                      </a:lnTo>
                      <a:lnTo>
                        <a:pt x="18" y="9"/>
                      </a:lnTo>
                      <a:lnTo>
                        <a:pt x="24" y="6"/>
                      </a:lnTo>
                      <a:lnTo>
                        <a:pt x="29" y="5"/>
                      </a:lnTo>
                      <a:lnTo>
                        <a:pt x="35" y="4"/>
                      </a:lnTo>
                      <a:lnTo>
                        <a:pt x="42" y="5"/>
                      </a:lnTo>
                      <a:lnTo>
                        <a:pt x="47" y="6"/>
                      </a:lnTo>
                      <a:lnTo>
                        <a:pt x="52" y="9"/>
                      </a:lnTo>
                      <a:lnTo>
                        <a:pt x="58" y="12"/>
                      </a:lnTo>
                      <a:lnTo>
                        <a:pt x="61" y="18"/>
                      </a:lnTo>
                      <a:lnTo>
                        <a:pt x="64" y="23"/>
                      </a:lnTo>
                      <a:lnTo>
                        <a:pt x="66" y="28"/>
                      </a:lnTo>
                      <a:lnTo>
                        <a:pt x="66" y="3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67" name="Freeform 4955"/>
                <p:cNvSpPr>
                  <a:spLocks noChangeAspect="1" noEditPoints="1"/>
                </p:cNvSpPr>
                <p:nvPr/>
              </p:nvSpPr>
              <p:spPr bwMode="auto">
                <a:xfrm>
                  <a:off x="3511" y="3540"/>
                  <a:ext cx="23" cy="22"/>
                </a:xfrm>
                <a:custGeom>
                  <a:avLst/>
                  <a:gdLst>
                    <a:gd name="T0" fmla="*/ 65 w 66"/>
                    <a:gd name="T1" fmla="*/ 26 h 66"/>
                    <a:gd name="T2" fmla="*/ 61 w 66"/>
                    <a:gd name="T3" fmla="*/ 15 h 66"/>
                    <a:gd name="T4" fmla="*/ 52 w 66"/>
                    <a:gd name="T5" fmla="*/ 5 h 66"/>
                    <a:gd name="T6" fmla="*/ 40 w 66"/>
                    <a:gd name="T7" fmla="*/ 1 h 66"/>
                    <a:gd name="T8" fmla="*/ 27 w 66"/>
                    <a:gd name="T9" fmla="*/ 1 h 66"/>
                    <a:gd name="T10" fmla="*/ 15 w 66"/>
                    <a:gd name="T11" fmla="*/ 5 h 66"/>
                    <a:gd name="T12" fmla="*/ 7 w 66"/>
                    <a:gd name="T13" fmla="*/ 15 h 66"/>
                    <a:gd name="T14" fmla="*/ 2 w 66"/>
                    <a:gd name="T15" fmla="*/ 26 h 66"/>
                    <a:gd name="T16" fmla="*/ 2 w 66"/>
                    <a:gd name="T17" fmla="*/ 39 h 66"/>
                    <a:gd name="T18" fmla="*/ 7 w 66"/>
                    <a:gd name="T19" fmla="*/ 51 h 66"/>
                    <a:gd name="T20" fmla="*/ 15 w 66"/>
                    <a:gd name="T21" fmla="*/ 60 h 66"/>
                    <a:gd name="T22" fmla="*/ 27 w 66"/>
                    <a:gd name="T23" fmla="*/ 65 h 66"/>
                    <a:gd name="T24" fmla="*/ 40 w 66"/>
                    <a:gd name="T25" fmla="*/ 65 h 66"/>
                    <a:gd name="T26" fmla="*/ 52 w 66"/>
                    <a:gd name="T27" fmla="*/ 60 h 66"/>
                    <a:gd name="T28" fmla="*/ 61 w 66"/>
                    <a:gd name="T29" fmla="*/ 51 h 66"/>
                    <a:gd name="T30" fmla="*/ 65 w 66"/>
                    <a:gd name="T31" fmla="*/ 39 h 66"/>
                    <a:gd name="T32" fmla="*/ 62 w 66"/>
                    <a:gd name="T33" fmla="*/ 33 h 66"/>
                    <a:gd name="T34" fmla="*/ 60 w 66"/>
                    <a:gd name="T35" fmla="*/ 43 h 66"/>
                    <a:gd name="T36" fmla="*/ 54 w 66"/>
                    <a:gd name="T37" fmla="*/ 53 h 66"/>
                    <a:gd name="T38" fmla="*/ 45 w 66"/>
                    <a:gd name="T39" fmla="*/ 59 h 66"/>
                    <a:gd name="T40" fmla="*/ 33 w 66"/>
                    <a:gd name="T41" fmla="*/ 61 h 66"/>
                    <a:gd name="T42" fmla="*/ 23 w 66"/>
                    <a:gd name="T43" fmla="*/ 59 h 66"/>
                    <a:gd name="T44" fmla="*/ 13 w 66"/>
                    <a:gd name="T45" fmla="*/ 53 h 66"/>
                    <a:gd name="T46" fmla="*/ 7 w 66"/>
                    <a:gd name="T47" fmla="*/ 43 h 66"/>
                    <a:gd name="T48" fmla="*/ 5 w 66"/>
                    <a:gd name="T49" fmla="*/ 33 h 66"/>
                    <a:gd name="T50" fmla="*/ 7 w 66"/>
                    <a:gd name="T51" fmla="*/ 21 h 66"/>
                    <a:gd name="T52" fmla="*/ 13 w 66"/>
                    <a:gd name="T53" fmla="*/ 13 h 66"/>
                    <a:gd name="T54" fmla="*/ 23 w 66"/>
                    <a:gd name="T55" fmla="*/ 6 h 66"/>
                    <a:gd name="T56" fmla="*/ 33 w 66"/>
                    <a:gd name="T57" fmla="*/ 4 h 66"/>
                    <a:gd name="T58" fmla="*/ 45 w 66"/>
                    <a:gd name="T59" fmla="*/ 6 h 66"/>
                    <a:gd name="T60" fmla="*/ 54 w 66"/>
                    <a:gd name="T61" fmla="*/ 13 h 66"/>
                    <a:gd name="T62" fmla="*/ 60 w 66"/>
                    <a:gd name="T63" fmla="*/ 21 h 66"/>
                    <a:gd name="T64" fmla="*/ 62 w 66"/>
                    <a:gd name="T65"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 h="66">
                      <a:moveTo>
                        <a:pt x="66" y="33"/>
                      </a:moveTo>
                      <a:lnTo>
                        <a:pt x="65" y="26"/>
                      </a:lnTo>
                      <a:lnTo>
                        <a:pt x="64" y="20"/>
                      </a:lnTo>
                      <a:lnTo>
                        <a:pt x="61" y="15"/>
                      </a:lnTo>
                      <a:lnTo>
                        <a:pt x="57" y="9"/>
                      </a:lnTo>
                      <a:lnTo>
                        <a:pt x="52" y="5"/>
                      </a:lnTo>
                      <a:lnTo>
                        <a:pt x="46" y="2"/>
                      </a:lnTo>
                      <a:lnTo>
                        <a:pt x="40" y="1"/>
                      </a:lnTo>
                      <a:lnTo>
                        <a:pt x="33" y="0"/>
                      </a:lnTo>
                      <a:lnTo>
                        <a:pt x="27" y="1"/>
                      </a:lnTo>
                      <a:lnTo>
                        <a:pt x="21" y="2"/>
                      </a:lnTo>
                      <a:lnTo>
                        <a:pt x="15" y="5"/>
                      </a:lnTo>
                      <a:lnTo>
                        <a:pt x="10" y="9"/>
                      </a:lnTo>
                      <a:lnTo>
                        <a:pt x="7" y="15"/>
                      </a:lnTo>
                      <a:lnTo>
                        <a:pt x="4" y="20"/>
                      </a:lnTo>
                      <a:lnTo>
                        <a:pt x="2" y="26"/>
                      </a:lnTo>
                      <a:lnTo>
                        <a:pt x="0" y="33"/>
                      </a:lnTo>
                      <a:lnTo>
                        <a:pt x="2" y="39"/>
                      </a:lnTo>
                      <a:lnTo>
                        <a:pt x="4" y="46"/>
                      </a:lnTo>
                      <a:lnTo>
                        <a:pt x="7" y="51"/>
                      </a:lnTo>
                      <a:lnTo>
                        <a:pt x="10" y="56"/>
                      </a:lnTo>
                      <a:lnTo>
                        <a:pt x="15" y="60"/>
                      </a:lnTo>
                      <a:lnTo>
                        <a:pt x="21" y="63"/>
                      </a:lnTo>
                      <a:lnTo>
                        <a:pt x="27" y="65"/>
                      </a:lnTo>
                      <a:lnTo>
                        <a:pt x="33" y="66"/>
                      </a:lnTo>
                      <a:lnTo>
                        <a:pt x="40" y="65"/>
                      </a:lnTo>
                      <a:lnTo>
                        <a:pt x="46" y="63"/>
                      </a:lnTo>
                      <a:lnTo>
                        <a:pt x="52" y="60"/>
                      </a:lnTo>
                      <a:lnTo>
                        <a:pt x="57" y="56"/>
                      </a:lnTo>
                      <a:lnTo>
                        <a:pt x="61" y="51"/>
                      </a:lnTo>
                      <a:lnTo>
                        <a:pt x="64" y="46"/>
                      </a:lnTo>
                      <a:lnTo>
                        <a:pt x="65" y="39"/>
                      </a:lnTo>
                      <a:lnTo>
                        <a:pt x="66" y="33"/>
                      </a:lnTo>
                      <a:close/>
                      <a:moveTo>
                        <a:pt x="62" y="33"/>
                      </a:moveTo>
                      <a:lnTo>
                        <a:pt x="62" y="38"/>
                      </a:lnTo>
                      <a:lnTo>
                        <a:pt x="60" y="43"/>
                      </a:lnTo>
                      <a:lnTo>
                        <a:pt x="58" y="49"/>
                      </a:lnTo>
                      <a:lnTo>
                        <a:pt x="54" y="53"/>
                      </a:lnTo>
                      <a:lnTo>
                        <a:pt x="49" y="56"/>
                      </a:lnTo>
                      <a:lnTo>
                        <a:pt x="45" y="59"/>
                      </a:lnTo>
                      <a:lnTo>
                        <a:pt x="40" y="60"/>
                      </a:lnTo>
                      <a:lnTo>
                        <a:pt x="33" y="61"/>
                      </a:lnTo>
                      <a:lnTo>
                        <a:pt x="28" y="60"/>
                      </a:lnTo>
                      <a:lnTo>
                        <a:pt x="23" y="59"/>
                      </a:lnTo>
                      <a:lnTo>
                        <a:pt x="17" y="56"/>
                      </a:lnTo>
                      <a:lnTo>
                        <a:pt x="13" y="53"/>
                      </a:lnTo>
                      <a:lnTo>
                        <a:pt x="10" y="49"/>
                      </a:lnTo>
                      <a:lnTo>
                        <a:pt x="7" y="43"/>
                      </a:lnTo>
                      <a:lnTo>
                        <a:pt x="6" y="38"/>
                      </a:lnTo>
                      <a:lnTo>
                        <a:pt x="5" y="33"/>
                      </a:lnTo>
                      <a:lnTo>
                        <a:pt x="6" y="26"/>
                      </a:lnTo>
                      <a:lnTo>
                        <a:pt x="7" y="21"/>
                      </a:lnTo>
                      <a:lnTo>
                        <a:pt x="10" y="17"/>
                      </a:lnTo>
                      <a:lnTo>
                        <a:pt x="13" y="13"/>
                      </a:lnTo>
                      <a:lnTo>
                        <a:pt x="17" y="9"/>
                      </a:lnTo>
                      <a:lnTo>
                        <a:pt x="23" y="6"/>
                      </a:lnTo>
                      <a:lnTo>
                        <a:pt x="28" y="4"/>
                      </a:lnTo>
                      <a:lnTo>
                        <a:pt x="33" y="4"/>
                      </a:lnTo>
                      <a:lnTo>
                        <a:pt x="40" y="4"/>
                      </a:lnTo>
                      <a:lnTo>
                        <a:pt x="45" y="6"/>
                      </a:lnTo>
                      <a:lnTo>
                        <a:pt x="49" y="9"/>
                      </a:lnTo>
                      <a:lnTo>
                        <a:pt x="54" y="13"/>
                      </a:lnTo>
                      <a:lnTo>
                        <a:pt x="58" y="17"/>
                      </a:lnTo>
                      <a:lnTo>
                        <a:pt x="60" y="21"/>
                      </a:lnTo>
                      <a:lnTo>
                        <a:pt x="62" y="26"/>
                      </a:lnTo>
                      <a:lnTo>
                        <a:pt x="62" y="3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68" name="Freeform 4956"/>
                <p:cNvSpPr>
                  <a:spLocks noChangeAspect="1" noEditPoints="1"/>
                </p:cNvSpPr>
                <p:nvPr/>
              </p:nvSpPr>
              <p:spPr bwMode="auto">
                <a:xfrm>
                  <a:off x="3512" y="3540"/>
                  <a:ext cx="21" cy="21"/>
                </a:xfrm>
                <a:custGeom>
                  <a:avLst/>
                  <a:gdLst>
                    <a:gd name="T0" fmla="*/ 61 w 61"/>
                    <a:gd name="T1" fmla="*/ 24 h 62"/>
                    <a:gd name="T2" fmla="*/ 56 w 61"/>
                    <a:gd name="T3" fmla="*/ 14 h 62"/>
                    <a:gd name="T4" fmla="*/ 47 w 61"/>
                    <a:gd name="T5" fmla="*/ 5 h 62"/>
                    <a:gd name="T6" fmla="*/ 37 w 61"/>
                    <a:gd name="T7" fmla="*/ 1 h 62"/>
                    <a:gd name="T8" fmla="*/ 24 w 61"/>
                    <a:gd name="T9" fmla="*/ 1 h 62"/>
                    <a:gd name="T10" fmla="*/ 13 w 61"/>
                    <a:gd name="T11" fmla="*/ 5 h 62"/>
                    <a:gd name="T12" fmla="*/ 5 w 61"/>
                    <a:gd name="T13" fmla="*/ 14 h 62"/>
                    <a:gd name="T14" fmla="*/ 1 w 61"/>
                    <a:gd name="T15" fmla="*/ 24 h 62"/>
                    <a:gd name="T16" fmla="*/ 1 w 61"/>
                    <a:gd name="T17" fmla="*/ 37 h 62"/>
                    <a:gd name="T18" fmla="*/ 5 w 61"/>
                    <a:gd name="T19" fmla="*/ 48 h 62"/>
                    <a:gd name="T20" fmla="*/ 13 w 61"/>
                    <a:gd name="T21" fmla="*/ 56 h 62"/>
                    <a:gd name="T22" fmla="*/ 24 w 61"/>
                    <a:gd name="T23" fmla="*/ 61 h 62"/>
                    <a:gd name="T24" fmla="*/ 37 w 61"/>
                    <a:gd name="T25" fmla="*/ 61 h 62"/>
                    <a:gd name="T26" fmla="*/ 47 w 61"/>
                    <a:gd name="T27" fmla="*/ 56 h 62"/>
                    <a:gd name="T28" fmla="*/ 56 w 61"/>
                    <a:gd name="T29" fmla="*/ 48 h 62"/>
                    <a:gd name="T30" fmla="*/ 61 w 61"/>
                    <a:gd name="T31" fmla="*/ 37 h 62"/>
                    <a:gd name="T32" fmla="*/ 57 w 61"/>
                    <a:gd name="T33" fmla="*/ 31 h 62"/>
                    <a:gd name="T34" fmla="*/ 55 w 61"/>
                    <a:gd name="T35" fmla="*/ 41 h 62"/>
                    <a:gd name="T36" fmla="*/ 50 w 61"/>
                    <a:gd name="T37" fmla="*/ 50 h 62"/>
                    <a:gd name="T38" fmla="*/ 41 w 61"/>
                    <a:gd name="T39" fmla="*/ 55 h 62"/>
                    <a:gd name="T40" fmla="*/ 30 w 61"/>
                    <a:gd name="T41" fmla="*/ 57 h 62"/>
                    <a:gd name="T42" fmla="*/ 20 w 61"/>
                    <a:gd name="T43" fmla="*/ 55 h 62"/>
                    <a:gd name="T44" fmla="*/ 11 w 61"/>
                    <a:gd name="T45" fmla="*/ 50 h 62"/>
                    <a:gd name="T46" fmla="*/ 6 w 61"/>
                    <a:gd name="T47" fmla="*/ 41 h 62"/>
                    <a:gd name="T48" fmla="*/ 4 w 61"/>
                    <a:gd name="T49" fmla="*/ 31 h 62"/>
                    <a:gd name="T50" fmla="*/ 6 w 61"/>
                    <a:gd name="T51" fmla="*/ 20 h 62"/>
                    <a:gd name="T52" fmla="*/ 11 w 61"/>
                    <a:gd name="T53" fmla="*/ 12 h 62"/>
                    <a:gd name="T54" fmla="*/ 20 w 61"/>
                    <a:gd name="T55" fmla="*/ 6 h 62"/>
                    <a:gd name="T56" fmla="*/ 30 w 61"/>
                    <a:gd name="T57" fmla="*/ 4 h 62"/>
                    <a:gd name="T58" fmla="*/ 41 w 61"/>
                    <a:gd name="T59" fmla="*/ 6 h 62"/>
                    <a:gd name="T60" fmla="*/ 50 w 61"/>
                    <a:gd name="T61" fmla="*/ 12 h 62"/>
                    <a:gd name="T62" fmla="*/ 55 w 61"/>
                    <a:gd name="T63" fmla="*/ 20 h 62"/>
                    <a:gd name="T64" fmla="*/ 57 w 61"/>
                    <a:gd name="T65" fmla="*/ 3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1" h="62">
                      <a:moveTo>
                        <a:pt x="61" y="31"/>
                      </a:moveTo>
                      <a:lnTo>
                        <a:pt x="61" y="24"/>
                      </a:lnTo>
                      <a:lnTo>
                        <a:pt x="59" y="19"/>
                      </a:lnTo>
                      <a:lnTo>
                        <a:pt x="56" y="14"/>
                      </a:lnTo>
                      <a:lnTo>
                        <a:pt x="53" y="8"/>
                      </a:lnTo>
                      <a:lnTo>
                        <a:pt x="47" y="5"/>
                      </a:lnTo>
                      <a:lnTo>
                        <a:pt x="42" y="2"/>
                      </a:lnTo>
                      <a:lnTo>
                        <a:pt x="37" y="1"/>
                      </a:lnTo>
                      <a:lnTo>
                        <a:pt x="30" y="0"/>
                      </a:lnTo>
                      <a:lnTo>
                        <a:pt x="24" y="1"/>
                      </a:lnTo>
                      <a:lnTo>
                        <a:pt x="19" y="2"/>
                      </a:lnTo>
                      <a:lnTo>
                        <a:pt x="13" y="5"/>
                      </a:lnTo>
                      <a:lnTo>
                        <a:pt x="9" y="8"/>
                      </a:lnTo>
                      <a:lnTo>
                        <a:pt x="5" y="14"/>
                      </a:lnTo>
                      <a:lnTo>
                        <a:pt x="3" y="19"/>
                      </a:lnTo>
                      <a:lnTo>
                        <a:pt x="1" y="24"/>
                      </a:lnTo>
                      <a:lnTo>
                        <a:pt x="0" y="31"/>
                      </a:lnTo>
                      <a:lnTo>
                        <a:pt x="1" y="37"/>
                      </a:lnTo>
                      <a:lnTo>
                        <a:pt x="3" y="42"/>
                      </a:lnTo>
                      <a:lnTo>
                        <a:pt x="5" y="48"/>
                      </a:lnTo>
                      <a:lnTo>
                        <a:pt x="9" y="52"/>
                      </a:lnTo>
                      <a:lnTo>
                        <a:pt x="13" y="56"/>
                      </a:lnTo>
                      <a:lnTo>
                        <a:pt x="19" y="59"/>
                      </a:lnTo>
                      <a:lnTo>
                        <a:pt x="24" y="61"/>
                      </a:lnTo>
                      <a:lnTo>
                        <a:pt x="30" y="62"/>
                      </a:lnTo>
                      <a:lnTo>
                        <a:pt x="37" y="61"/>
                      </a:lnTo>
                      <a:lnTo>
                        <a:pt x="42" y="59"/>
                      </a:lnTo>
                      <a:lnTo>
                        <a:pt x="47" y="56"/>
                      </a:lnTo>
                      <a:lnTo>
                        <a:pt x="53" y="52"/>
                      </a:lnTo>
                      <a:lnTo>
                        <a:pt x="56" y="48"/>
                      </a:lnTo>
                      <a:lnTo>
                        <a:pt x="59" y="42"/>
                      </a:lnTo>
                      <a:lnTo>
                        <a:pt x="61" y="37"/>
                      </a:lnTo>
                      <a:lnTo>
                        <a:pt x="61" y="31"/>
                      </a:lnTo>
                      <a:close/>
                      <a:moveTo>
                        <a:pt x="57" y="31"/>
                      </a:moveTo>
                      <a:lnTo>
                        <a:pt x="57" y="36"/>
                      </a:lnTo>
                      <a:lnTo>
                        <a:pt x="55" y="41"/>
                      </a:lnTo>
                      <a:lnTo>
                        <a:pt x="53" y="46"/>
                      </a:lnTo>
                      <a:lnTo>
                        <a:pt x="50" y="50"/>
                      </a:lnTo>
                      <a:lnTo>
                        <a:pt x="45" y="53"/>
                      </a:lnTo>
                      <a:lnTo>
                        <a:pt x="41" y="55"/>
                      </a:lnTo>
                      <a:lnTo>
                        <a:pt x="36" y="57"/>
                      </a:lnTo>
                      <a:lnTo>
                        <a:pt x="30" y="57"/>
                      </a:lnTo>
                      <a:lnTo>
                        <a:pt x="25" y="57"/>
                      </a:lnTo>
                      <a:lnTo>
                        <a:pt x="20" y="55"/>
                      </a:lnTo>
                      <a:lnTo>
                        <a:pt x="16" y="53"/>
                      </a:lnTo>
                      <a:lnTo>
                        <a:pt x="11" y="50"/>
                      </a:lnTo>
                      <a:lnTo>
                        <a:pt x="8" y="46"/>
                      </a:lnTo>
                      <a:lnTo>
                        <a:pt x="6" y="41"/>
                      </a:lnTo>
                      <a:lnTo>
                        <a:pt x="5" y="36"/>
                      </a:lnTo>
                      <a:lnTo>
                        <a:pt x="4" y="31"/>
                      </a:lnTo>
                      <a:lnTo>
                        <a:pt x="5" y="25"/>
                      </a:lnTo>
                      <a:lnTo>
                        <a:pt x="6" y="20"/>
                      </a:lnTo>
                      <a:lnTo>
                        <a:pt x="8" y="16"/>
                      </a:lnTo>
                      <a:lnTo>
                        <a:pt x="11" y="12"/>
                      </a:lnTo>
                      <a:lnTo>
                        <a:pt x="16" y="8"/>
                      </a:lnTo>
                      <a:lnTo>
                        <a:pt x="20" y="6"/>
                      </a:lnTo>
                      <a:lnTo>
                        <a:pt x="25" y="4"/>
                      </a:lnTo>
                      <a:lnTo>
                        <a:pt x="30" y="4"/>
                      </a:lnTo>
                      <a:lnTo>
                        <a:pt x="36" y="4"/>
                      </a:lnTo>
                      <a:lnTo>
                        <a:pt x="41" y="6"/>
                      </a:lnTo>
                      <a:lnTo>
                        <a:pt x="45" y="8"/>
                      </a:lnTo>
                      <a:lnTo>
                        <a:pt x="50" y="12"/>
                      </a:lnTo>
                      <a:lnTo>
                        <a:pt x="53" y="16"/>
                      </a:lnTo>
                      <a:lnTo>
                        <a:pt x="55" y="20"/>
                      </a:lnTo>
                      <a:lnTo>
                        <a:pt x="57" y="25"/>
                      </a:lnTo>
                      <a:lnTo>
                        <a:pt x="57" y="3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69" name="Freeform 4957"/>
                <p:cNvSpPr>
                  <a:spLocks noChangeAspect="1" noEditPoints="1"/>
                </p:cNvSpPr>
                <p:nvPr/>
              </p:nvSpPr>
              <p:spPr bwMode="auto">
                <a:xfrm>
                  <a:off x="3513" y="3541"/>
                  <a:ext cx="19" cy="19"/>
                </a:xfrm>
                <a:custGeom>
                  <a:avLst/>
                  <a:gdLst>
                    <a:gd name="T0" fmla="*/ 57 w 57"/>
                    <a:gd name="T1" fmla="*/ 23 h 57"/>
                    <a:gd name="T2" fmla="*/ 53 w 57"/>
                    <a:gd name="T3" fmla="*/ 13 h 57"/>
                    <a:gd name="T4" fmla="*/ 44 w 57"/>
                    <a:gd name="T5" fmla="*/ 5 h 57"/>
                    <a:gd name="T6" fmla="*/ 35 w 57"/>
                    <a:gd name="T7" fmla="*/ 0 h 57"/>
                    <a:gd name="T8" fmla="*/ 23 w 57"/>
                    <a:gd name="T9" fmla="*/ 0 h 57"/>
                    <a:gd name="T10" fmla="*/ 12 w 57"/>
                    <a:gd name="T11" fmla="*/ 5 h 57"/>
                    <a:gd name="T12" fmla="*/ 5 w 57"/>
                    <a:gd name="T13" fmla="*/ 13 h 57"/>
                    <a:gd name="T14" fmla="*/ 1 w 57"/>
                    <a:gd name="T15" fmla="*/ 23 h 57"/>
                    <a:gd name="T16" fmla="*/ 1 w 57"/>
                    <a:gd name="T17" fmla="*/ 34 h 57"/>
                    <a:gd name="T18" fmla="*/ 5 w 57"/>
                    <a:gd name="T19" fmla="*/ 45 h 57"/>
                    <a:gd name="T20" fmla="*/ 12 w 57"/>
                    <a:gd name="T21" fmla="*/ 52 h 57"/>
                    <a:gd name="T22" fmla="*/ 23 w 57"/>
                    <a:gd name="T23" fmla="*/ 56 h 57"/>
                    <a:gd name="T24" fmla="*/ 35 w 57"/>
                    <a:gd name="T25" fmla="*/ 56 h 57"/>
                    <a:gd name="T26" fmla="*/ 44 w 57"/>
                    <a:gd name="T27" fmla="*/ 52 h 57"/>
                    <a:gd name="T28" fmla="*/ 53 w 57"/>
                    <a:gd name="T29" fmla="*/ 45 h 57"/>
                    <a:gd name="T30" fmla="*/ 57 w 57"/>
                    <a:gd name="T31" fmla="*/ 34 h 57"/>
                    <a:gd name="T32" fmla="*/ 53 w 57"/>
                    <a:gd name="T33" fmla="*/ 29 h 57"/>
                    <a:gd name="T34" fmla="*/ 52 w 57"/>
                    <a:gd name="T35" fmla="*/ 38 h 57"/>
                    <a:gd name="T36" fmla="*/ 47 w 57"/>
                    <a:gd name="T37" fmla="*/ 46 h 57"/>
                    <a:gd name="T38" fmla="*/ 38 w 57"/>
                    <a:gd name="T39" fmla="*/ 51 h 57"/>
                    <a:gd name="T40" fmla="*/ 28 w 57"/>
                    <a:gd name="T41" fmla="*/ 53 h 57"/>
                    <a:gd name="T42" fmla="*/ 19 w 57"/>
                    <a:gd name="T43" fmla="*/ 51 h 57"/>
                    <a:gd name="T44" fmla="*/ 11 w 57"/>
                    <a:gd name="T45" fmla="*/ 46 h 57"/>
                    <a:gd name="T46" fmla="*/ 6 w 57"/>
                    <a:gd name="T47" fmla="*/ 38 h 57"/>
                    <a:gd name="T48" fmla="*/ 4 w 57"/>
                    <a:gd name="T49" fmla="*/ 29 h 57"/>
                    <a:gd name="T50" fmla="*/ 6 w 57"/>
                    <a:gd name="T51" fmla="*/ 19 h 57"/>
                    <a:gd name="T52" fmla="*/ 11 w 57"/>
                    <a:gd name="T53" fmla="*/ 12 h 57"/>
                    <a:gd name="T54" fmla="*/ 19 w 57"/>
                    <a:gd name="T55" fmla="*/ 6 h 57"/>
                    <a:gd name="T56" fmla="*/ 28 w 57"/>
                    <a:gd name="T57" fmla="*/ 4 h 57"/>
                    <a:gd name="T58" fmla="*/ 38 w 57"/>
                    <a:gd name="T59" fmla="*/ 6 h 57"/>
                    <a:gd name="T60" fmla="*/ 47 w 57"/>
                    <a:gd name="T61" fmla="*/ 12 h 57"/>
                    <a:gd name="T62" fmla="*/ 52 w 57"/>
                    <a:gd name="T63" fmla="*/ 19 h 57"/>
                    <a:gd name="T64" fmla="*/ 53 w 57"/>
                    <a:gd name="T65" fmla="*/ 2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 h="57">
                      <a:moveTo>
                        <a:pt x="57" y="29"/>
                      </a:moveTo>
                      <a:lnTo>
                        <a:pt x="57" y="23"/>
                      </a:lnTo>
                      <a:lnTo>
                        <a:pt x="55" y="17"/>
                      </a:lnTo>
                      <a:lnTo>
                        <a:pt x="53" y="13"/>
                      </a:lnTo>
                      <a:lnTo>
                        <a:pt x="49" y="9"/>
                      </a:lnTo>
                      <a:lnTo>
                        <a:pt x="44" y="5"/>
                      </a:lnTo>
                      <a:lnTo>
                        <a:pt x="40" y="2"/>
                      </a:lnTo>
                      <a:lnTo>
                        <a:pt x="35" y="0"/>
                      </a:lnTo>
                      <a:lnTo>
                        <a:pt x="28" y="0"/>
                      </a:lnTo>
                      <a:lnTo>
                        <a:pt x="23" y="0"/>
                      </a:lnTo>
                      <a:lnTo>
                        <a:pt x="18" y="2"/>
                      </a:lnTo>
                      <a:lnTo>
                        <a:pt x="12" y="5"/>
                      </a:lnTo>
                      <a:lnTo>
                        <a:pt x="8" y="9"/>
                      </a:lnTo>
                      <a:lnTo>
                        <a:pt x="5" y="13"/>
                      </a:lnTo>
                      <a:lnTo>
                        <a:pt x="2" y="17"/>
                      </a:lnTo>
                      <a:lnTo>
                        <a:pt x="1" y="23"/>
                      </a:lnTo>
                      <a:lnTo>
                        <a:pt x="0" y="29"/>
                      </a:lnTo>
                      <a:lnTo>
                        <a:pt x="1" y="34"/>
                      </a:lnTo>
                      <a:lnTo>
                        <a:pt x="2" y="39"/>
                      </a:lnTo>
                      <a:lnTo>
                        <a:pt x="5" y="45"/>
                      </a:lnTo>
                      <a:lnTo>
                        <a:pt x="8" y="49"/>
                      </a:lnTo>
                      <a:lnTo>
                        <a:pt x="12" y="52"/>
                      </a:lnTo>
                      <a:lnTo>
                        <a:pt x="18" y="55"/>
                      </a:lnTo>
                      <a:lnTo>
                        <a:pt x="23" y="56"/>
                      </a:lnTo>
                      <a:lnTo>
                        <a:pt x="28" y="57"/>
                      </a:lnTo>
                      <a:lnTo>
                        <a:pt x="35" y="56"/>
                      </a:lnTo>
                      <a:lnTo>
                        <a:pt x="40" y="55"/>
                      </a:lnTo>
                      <a:lnTo>
                        <a:pt x="44" y="52"/>
                      </a:lnTo>
                      <a:lnTo>
                        <a:pt x="49" y="49"/>
                      </a:lnTo>
                      <a:lnTo>
                        <a:pt x="53" y="45"/>
                      </a:lnTo>
                      <a:lnTo>
                        <a:pt x="55" y="39"/>
                      </a:lnTo>
                      <a:lnTo>
                        <a:pt x="57" y="34"/>
                      </a:lnTo>
                      <a:lnTo>
                        <a:pt x="57" y="29"/>
                      </a:lnTo>
                      <a:close/>
                      <a:moveTo>
                        <a:pt x="53" y="29"/>
                      </a:moveTo>
                      <a:lnTo>
                        <a:pt x="53" y="34"/>
                      </a:lnTo>
                      <a:lnTo>
                        <a:pt x="52" y="38"/>
                      </a:lnTo>
                      <a:lnTo>
                        <a:pt x="49" y="43"/>
                      </a:lnTo>
                      <a:lnTo>
                        <a:pt x="47" y="46"/>
                      </a:lnTo>
                      <a:lnTo>
                        <a:pt x="42" y="49"/>
                      </a:lnTo>
                      <a:lnTo>
                        <a:pt x="38" y="51"/>
                      </a:lnTo>
                      <a:lnTo>
                        <a:pt x="34" y="53"/>
                      </a:lnTo>
                      <a:lnTo>
                        <a:pt x="28" y="53"/>
                      </a:lnTo>
                      <a:lnTo>
                        <a:pt x="24" y="53"/>
                      </a:lnTo>
                      <a:lnTo>
                        <a:pt x="19" y="51"/>
                      </a:lnTo>
                      <a:lnTo>
                        <a:pt x="15" y="49"/>
                      </a:lnTo>
                      <a:lnTo>
                        <a:pt x="11" y="46"/>
                      </a:lnTo>
                      <a:lnTo>
                        <a:pt x="8" y="43"/>
                      </a:lnTo>
                      <a:lnTo>
                        <a:pt x="6" y="38"/>
                      </a:lnTo>
                      <a:lnTo>
                        <a:pt x="5" y="34"/>
                      </a:lnTo>
                      <a:lnTo>
                        <a:pt x="4" y="29"/>
                      </a:lnTo>
                      <a:lnTo>
                        <a:pt x="5" y="23"/>
                      </a:lnTo>
                      <a:lnTo>
                        <a:pt x="6" y="19"/>
                      </a:lnTo>
                      <a:lnTo>
                        <a:pt x="8" y="15"/>
                      </a:lnTo>
                      <a:lnTo>
                        <a:pt x="11" y="12"/>
                      </a:lnTo>
                      <a:lnTo>
                        <a:pt x="15" y="9"/>
                      </a:lnTo>
                      <a:lnTo>
                        <a:pt x="19" y="6"/>
                      </a:lnTo>
                      <a:lnTo>
                        <a:pt x="24" y="4"/>
                      </a:lnTo>
                      <a:lnTo>
                        <a:pt x="28" y="4"/>
                      </a:lnTo>
                      <a:lnTo>
                        <a:pt x="34" y="4"/>
                      </a:lnTo>
                      <a:lnTo>
                        <a:pt x="38" y="6"/>
                      </a:lnTo>
                      <a:lnTo>
                        <a:pt x="42" y="9"/>
                      </a:lnTo>
                      <a:lnTo>
                        <a:pt x="47" y="12"/>
                      </a:lnTo>
                      <a:lnTo>
                        <a:pt x="49" y="15"/>
                      </a:lnTo>
                      <a:lnTo>
                        <a:pt x="52" y="19"/>
                      </a:lnTo>
                      <a:lnTo>
                        <a:pt x="53" y="23"/>
                      </a:lnTo>
                      <a:lnTo>
                        <a:pt x="53" y="2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70" name="Freeform 4958"/>
                <p:cNvSpPr>
                  <a:spLocks noChangeAspect="1" noEditPoints="1"/>
                </p:cNvSpPr>
                <p:nvPr/>
              </p:nvSpPr>
              <p:spPr bwMode="auto">
                <a:xfrm>
                  <a:off x="3514" y="3542"/>
                  <a:ext cx="17" cy="17"/>
                </a:xfrm>
                <a:custGeom>
                  <a:avLst/>
                  <a:gdLst>
                    <a:gd name="T0" fmla="*/ 53 w 53"/>
                    <a:gd name="T1" fmla="*/ 21 h 53"/>
                    <a:gd name="T2" fmla="*/ 49 w 53"/>
                    <a:gd name="T3" fmla="*/ 12 h 53"/>
                    <a:gd name="T4" fmla="*/ 41 w 53"/>
                    <a:gd name="T5" fmla="*/ 4 h 53"/>
                    <a:gd name="T6" fmla="*/ 32 w 53"/>
                    <a:gd name="T7" fmla="*/ 0 h 53"/>
                    <a:gd name="T8" fmla="*/ 21 w 53"/>
                    <a:gd name="T9" fmla="*/ 0 h 53"/>
                    <a:gd name="T10" fmla="*/ 12 w 53"/>
                    <a:gd name="T11" fmla="*/ 4 h 53"/>
                    <a:gd name="T12" fmla="*/ 4 w 53"/>
                    <a:gd name="T13" fmla="*/ 12 h 53"/>
                    <a:gd name="T14" fmla="*/ 1 w 53"/>
                    <a:gd name="T15" fmla="*/ 21 h 53"/>
                    <a:gd name="T16" fmla="*/ 1 w 53"/>
                    <a:gd name="T17" fmla="*/ 32 h 53"/>
                    <a:gd name="T18" fmla="*/ 4 w 53"/>
                    <a:gd name="T19" fmla="*/ 42 h 53"/>
                    <a:gd name="T20" fmla="*/ 12 w 53"/>
                    <a:gd name="T21" fmla="*/ 49 h 53"/>
                    <a:gd name="T22" fmla="*/ 21 w 53"/>
                    <a:gd name="T23" fmla="*/ 53 h 53"/>
                    <a:gd name="T24" fmla="*/ 32 w 53"/>
                    <a:gd name="T25" fmla="*/ 53 h 53"/>
                    <a:gd name="T26" fmla="*/ 41 w 53"/>
                    <a:gd name="T27" fmla="*/ 49 h 53"/>
                    <a:gd name="T28" fmla="*/ 49 w 53"/>
                    <a:gd name="T29" fmla="*/ 42 h 53"/>
                    <a:gd name="T30" fmla="*/ 53 w 53"/>
                    <a:gd name="T31" fmla="*/ 32 h 53"/>
                    <a:gd name="T32" fmla="*/ 49 w 53"/>
                    <a:gd name="T33" fmla="*/ 27 h 53"/>
                    <a:gd name="T34" fmla="*/ 48 w 53"/>
                    <a:gd name="T35" fmla="*/ 35 h 53"/>
                    <a:gd name="T36" fmla="*/ 42 w 53"/>
                    <a:gd name="T37" fmla="*/ 43 h 53"/>
                    <a:gd name="T38" fmla="*/ 35 w 53"/>
                    <a:gd name="T39" fmla="*/ 47 h 53"/>
                    <a:gd name="T40" fmla="*/ 26 w 53"/>
                    <a:gd name="T41" fmla="*/ 49 h 53"/>
                    <a:gd name="T42" fmla="*/ 18 w 53"/>
                    <a:gd name="T43" fmla="*/ 47 h 53"/>
                    <a:gd name="T44" fmla="*/ 10 w 53"/>
                    <a:gd name="T45" fmla="*/ 43 h 53"/>
                    <a:gd name="T46" fmla="*/ 6 w 53"/>
                    <a:gd name="T47" fmla="*/ 35 h 53"/>
                    <a:gd name="T48" fmla="*/ 4 w 53"/>
                    <a:gd name="T49" fmla="*/ 27 h 53"/>
                    <a:gd name="T50" fmla="*/ 6 w 53"/>
                    <a:gd name="T51" fmla="*/ 18 h 53"/>
                    <a:gd name="T52" fmla="*/ 10 w 53"/>
                    <a:gd name="T53" fmla="*/ 11 h 53"/>
                    <a:gd name="T54" fmla="*/ 18 w 53"/>
                    <a:gd name="T55" fmla="*/ 5 h 53"/>
                    <a:gd name="T56" fmla="*/ 26 w 53"/>
                    <a:gd name="T57" fmla="*/ 4 h 53"/>
                    <a:gd name="T58" fmla="*/ 35 w 53"/>
                    <a:gd name="T59" fmla="*/ 5 h 53"/>
                    <a:gd name="T60" fmla="*/ 42 w 53"/>
                    <a:gd name="T61" fmla="*/ 11 h 53"/>
                    <a:gd name="T62" fmla="*/ 48 w 53"/>
                    <a:gd name="T63" fmla="*/ 18 h 53"/>
                    <a:gd name="T64" fmla="*/ 49 w 53"/>
                    <a:gd name="T65"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3" h="53">
                      <a:moveTo>
                        <a:pt x="53" y="27"/>
                      </a:moveTo>
                      <a:lnTo>
                        <a:pt x="53" y="21"/>
                      </a:lnTo>
                      <a:lnTo>
                        <a:pt x="51" y="16"/>
                      </a:lnTo>
                      <a:lnTo>
                        <a:pt x="49" y="12"/>
                      </a:lnTo>
                      <a:lnTo>
                        <a:pt x="46" y="8"/>
                      </a:lnTo>
                      <a:lnTo>
                        <a:pt x="41" y="4"/>
                      </a:lnTo>
                      <a:lnTo>
                        <a:pt x="37" y="2"/>
                      </a:lnTo>
                      <a:lnTo>
                        <a:pt x="32" y="0"/>
                      </a:lnTo>
                      <a:lnTo>
                        <a:pt x="26" y="0"/>
                      </a:lnTo>
                      <a:lnTo>
                        <a:pt x="21" y="0"/>
                      </a:lnTo>
                      <a:lnTo>
                        <a:pt x="16" y="2"/>
                      </a:lnTo>
                      <a:lnTo>
                        <a:pt x="12" y="4"/>
                      </a:lnTo>
                      <a:lnTo>
                        <a:pt x="7" y="8"/>
                      </a:lnTo>
                      <a:lnTo>
                        <a:pt x="4" y="12"/>
                      </a:lnTo>
                      <a:lnTo>
                        <a:pt x="2" y="16"/>
                      </a:lnTo>
                      <a:lnTo>
                        <a:pt x="1" y="21"/>
                      </a:lnTo>
                      <a:lnTo>
                        <a:pt x="0" y="27"/>
                      </a:lnTo>
                      <a:lnTo>
                        <a:pt x="1" y="32"/>
                      </a:lnTo>
                      <a:lnTo>
                        <a:pt x="2" y="37"/>
                      </a:lnTo>
                      <a:lnTo>
                        <a:pt x="4" y="42"/>
                      </a:lnTo>
                      <a:lnTo>
                        <a:pt x="7" y="46"/>
                      </a:lnTo>
                      <a:lnTo>
                        <a:pt x="12" y="49"/>
                      </a:lnTo>
                      <a:lnTo>
                        <a:pt x="16" y="51"/>
                      </a:lnTo>
                      <a:lnTo>
                        <a:pt x="21" y="53"/>
                      </a:lnTo>
                      <a:lnTo>
                        <a:pt x="26" y="53"/>
                      </a:lnTo>
                      <a:lnTo>
                        <a:pt x="32" y="53"/>
                      </a:lnTo>
                      <a:lnTo>
                        <a:pt x="37" y="51"/>
                      </a:lnTo>
                      <a:lnTo>
                        <a:pt x="41" y="49"/>
                      </a:lnTo>
                      <a:lnTo>
                        <a:pt x="46" y="46"/>
                      </a:lnTo>
                      <a:lnTo>
                        <a:pt x="49" y="42"/>
                      </a:lnTo>
                      <a:lnTo>
                        <a:pt x="51" y="37"/>
                      </a:lnTo>
                      <a:lnTo>
                        <a:pt x="53" y="32"/>
                      </a:lnTo>
                      <a:lnTo>
                        <a:pt x="53" y="27"/>
                      </a:lnTo>
                      <a:close/>
                      <a:moveTo>
                        <a:pt x="49" y="27"/>
                      </a:moveTo>
                      <a:lnTo>
                        <a:pt x="49" y="31"/>
                      </a:lnTo>
                      <a:lnTo>
                        <a:pt x="48" y="35"/>
                      </a:lnTo>
                      <a:lnTo>
                        <a:pt x="46" y="40"/>
                      </a:lnTo>
                      <a:lnTo>
                        <a:pt x="42" y="43"/>
                      </a:lnTo>
                      <a:lnTo>
                        <a:pt x="39" y="46"/>
                      </a:lnTo>
                      <a:lnTo>
                        <a:pt x="35" y="47"/>
                      </a:lnTo>
                      <a:lnTo>
                        <a:pt x="31" y="49"/>
                      </a:lnTo>
                      <a:lnTo>
                        <a:pt x="26" y="49"/>
                      </a:lnTo>
                      <a:lnTo>
                        <a:pt x="22" y="49"/>
                      </a:lnTo>
                      <a:lnTo>
                        <a:pt x="18" y="47"/>
                      </a:lnTo>
                      <a:lnTo>
                        <a:pt x="14" y="46"/>
                      </a:lnTo>
                      <a:lnTo>
                        <a:pt x="10" y="43"/>
                      </a:lnTo>
                      <a:lnTo>
                        <a:pt x="8" y="40"/>
                      </a:lnTo>
                      <a:lnTo>
                        <a:pt x="6" y="35"/>
                      </a:lnTo>
                      <a:lnTo>
                        <a:pt x="4" y="31"/>
                      </a:lnTo>
                      <a:lnTo>
                        <a:pt x="4" y="27"/>
                      </a:lnTo>
                      <a:lnTo>
                        <a:pt x="4" y="22"/>
                      </a:lnTo>
                      <a:lnTo>
                        <a:pt x="6" y="18"/>
                      </a:lnTo>
                      <a:lnTo>
                        <a:pt x="8" y="14"/>
                      </a:lnTo>
                      <a:lnTo>
                        <a:pt x="10" y="11"/>
                      </a:lnTo>
                      <a:lnTo>
                        <a:pt x="14" y="8"/>
                      </a:lnTo>
                      <a:lnTo>
                        <a:pt x="18" y="5"/>
                      </a:lnTo>
                      <a:lnTo>
                        <a:pt x="22" y="4"/>
                      </a:lnTo>
                      <a:lnTo>
                        <a:pt x="26" y="4"/>
                      </a:lnTo>
                      <a:lnTo>
                        <a:pt x="31" y="4"/>
                      </a:lnTo>
                      <a:lnTo>
                        <a:pt x="35" y="5"/>
                      </a:lnTo>
                      <a:lnTo>
                        <a:pt x="39" y="8"/>
                      </a:lnTo>
                      <a:lnTo>
                        <a:pt x="42" y="11"/>
                      </a:lnTo>
                      <a:lnTo>
                        <a:pt x="46" y="14"/>
                      </a:lnTo>
                      <a:lnTo>
                        <a:pt x="48" y="18"/>
                      </a:lnTo>
                      <a:lnTo>
                        <a:pt x="49" y="22"/>
                      </a:lnTo>
                      <a:lnTo>
                        <a:pt x="49" y="2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71" name="Freeform 4959"/>
                <p:cNvSpPr>
                  <a:spLocks noChangeAspect="1" noEditPoints="1"/>
                </p:cNvSpPr>
                <p:nvPr/>
              </p:nvSpPr>
              <p:spPr bwMode="auto">
                <a:xfrm>
                  <a:off x="3514" y="3542"/>
                  <a:ext cx="17" cy="17"/>
                </a:xfrm>
                <a:custGeom>
                  <a:avLst/>
                  <a:gdLst>
                    <a:gd name="T0" fmla="*/ 49 w 49"/>
                    <a:gd name="T1" fmla="*/ 19 h 49"/>
                    <a:gd name="T2" fmla="*/ 45 w 49"/>
                    <a:gd name="T3" fmla="*/ 11 h 49"/>
                    <a:gd name="T4" fmla="*/ 38 w 49"/>
                    <a:gd name="T5" fmla="*/ 5 h 49"/>
                    <a:gd name="T6" fmla="*/ 30 w 49"/>
                    <a:gd name="T7" fmla="*/ 0 h 49"/>
                    <a:gd name="T8" fmla="*/ 20 w 49"/>
                    <a:gd name="T9" fmla="*/ 0 h 49"/>
                    <a:gd name="T10" fmla="*/ 11 w 49"/>
                    <a:gd name="T11" fmla="*/ 5 h 49"/>
                    <a:gd name="T12" fmla="*/ 4 w 49"/>
                    <a:gd name="T13" fmla="*/ 11 h 49"/>
                    <a:gd name="T14" fmla="*/ 1 w 49"/>
                    <a:gd name="T15" fmla="*/ 19 h 49"/>
                    <a:gd name="T16" fmla="*/ 1 w 49"/>
                    <a:gd name="T17" fmla="*/ 30 h 49"/>
                    <a:gd name="T18" fmla="*/ 4 w 49"/>
                    <a:gd name="T19" fmla="*/ 39 h 49"/>
                    <a:gd name="T20" fmla="*/ 11 w 49"/>
                    <a:gd name="T21" fmla="*/ 45 h 49"/>
                    <a:gd name="T22" fmla="*/ 20 w 49"/>
                    <a:gd name="T23" fmla="*/ 49 h 49"/>
                    <a:gd name="T24" fmla="*/ 30 w 49"/>
                    <a:gd name="T25" fmla="*/ 49 h 49"/>
                    <a:gd name="T26" fmla="*/ 38 w 49"/>
                    <a:gd name="T27" fmla="*/ 45 h 49"/>
                    <a:gd name="T28" fmla="*/ 45 w 49"/>
                    <a:gd name="T29" fmla="*/ 39 h 49"/>
                    <a:gd name="T30" fmla="*/ 49 w 49"/>
                    <a:gd name="T31" fmla="*/ 30 h 49"/>
                    <a:gd name="T32" fmla="*/ 45 w 49"/>
                    <a:gd name="T33" fmla="*/ 25 h 49"/>
                    <a:gd name="T34" fmla="*/ 44 w 49"/>
                    <a:gd name="T35" fmla="*/ 32 h 49"/>
                    <a:gd name="T36" fmla="*/ 39 w 49"/>
                    <a:gd name="T37" fmla="*/ 40 h 49"/>
                    <a:gd name="T38" fmla="*/ 33 w 49"/>
                    <a:gd name="T39" fmla="*/ 44 h 49"/>
                    <a:gd name="T40" fmla="*/ 24 w 49"/>
                    <a:gd name="T41" fmla="*/ 45 h 49"/>
                    <a:gd name="T42" fmla="*/ 17 w 49"/>
                    <a:gd name="T43" fmla="*/ 44 h 49"/>
                    <a:gd name="T44" fmla="*/ 11 w 49"/>
                    <a:gd name="T45" fmla="*/ 40 h 49"/>
                    <a:gd name="T46" fmla="*/ 5 w 49"/>
                    <a:gd name="T47" fmla="*/ 32 h 49"/>
                    <a:gd name="T48" fmla="*/ 4 w 49"/>
                    <a:gd name="T49" fmla="*/ 25 h 49"/>
                    <a:gd name="T50" fmla="*/ 5 w 49"/>
                    <a:gd name="T51" fmla="*/ 16 h 49"/>
                    <a:gd name="T52" fmla="*/ 11 w 49"/>
                    <a:gd name="T53" fmla="*/ 10 h 49"/>
                    <a:gd name="T54" fmla="*/ 17 w 49"/>
                    <a:gd name="T55" fmla="*/ 6 h 49"/>
                    <a:gd name="T56" fmla="*/ 24 w 49"/>
                    <a:gd name="T57" fmla="*/ 5 h 49"/>
                    <a:gd name="T58" fmla="*/ 33 w 49"/>
                    <a:gd name="T59" fmla="*/ 6 h 49"/>
                    <a:gd name="T60" fmla="*/ 39 w 49"/>
                    <a:gd name="T61" fmla="*/ 10 h 49"/>
                    <a:gd name="T62" fmla="*/ 44 w 49"/>
                    <a:gd name="T63" fmla="*/ 16 h 49"/>
                    <a:gd name="T64" fmla="*/ 45 w 49"/>
                    <a:gd name="T65" fmla="*/ 2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9" h="49">
                      <a:moveTo>
                        <a:pt x="49" y="25"/>
                      </a:moveTo>
                      <a:lnTo>
                        <a:pt x="49" y="19"/>
                      </a:lnTo>
                      <a:lnTo>
                        <a:pt x="48" y="15"/>
                      </a:lnTo>
                      <a:lnTo>
                        <a:pt x="45" y="11"/>
                      </a:lnTo>
                      <a:lnTo>
                        <a:pt x="43" y="8"/>
                      </a:lnTo>
                      <a:lnTo>
                        <a:pt x="38" y="5"/>
                      </a:lnTo>
                      <a:lnTo>
                        <a:pt x="34" y="2"/>
                      </a:lnTo>
                      <a:lnTo>
                        <a:pt x="30" y="0"/>
                      </a:lnTo>
                      <a:lnTo>
                        <a:pt x="24" y="0"/>
                      </a:lnTo>
                      <a:lnTo>
                        <a:pt x="20" y="0"/>
                      </a:lnTo>
                      <a:lnTo>
                        <a:pt x="15" y="2"/>
                      </a:lnTo>
                      <a:lnTo>
                        <a:pt x="11" y="5"/>
                      </a:lnTo>
                      <a:lnTo>
                        <a:pt x="7" y="8"/>
                      </a:lnTo>
                      <a:lnTo>
                        <a:pt x="4" y="11"/>
                      </a:lnTo>
                      <a:lnTo>
                        <a:pt x="2" y="15"/>
                      </a:lnTo>
                      <a:lnTo>
                        <a:pt x="1" y="19"/>
                      </a:lnTo>
                      <a:lnTo>
                        <a:pt x="0" y="25"/>
                      </a:lnTo>
                      <a:lnTo>
                        <a:pt x="1" y="30"/>
                      </a:lnTo>
                      <a:lnTo>
                        <a:pt x="2" y="34"/>
                      </a:lnTo>
                      <a:lnTo>
                        <a:pt x="4" y="39"/>
                      </a:lnTo>
                      <a:lnTo>
                        <a:pt x="7" y="42"/>
                      </a:lnTo>
                      <a:lnTo>
                        <a:pt x="11" y="45"/>
                      </a:lnTo>
                      <a:lnTo>
                        <a:pt x="15" y="47"/>
                      </a:lnTo>
                      <a:lnTo>
                        <a:pt x="20" y="49"/>
                      </a:lnTo>
                      <a:lnTo>
                        <a:pt x="24" y="49"/>
                      </a:lnTo>
                      <a:lnTo>
                        <a:pt x="30" y="49"/>
                      </a:lnTo>
                      <a:lnTo>
                        <a:pt x="34" y="47"/>
                      </a:lnTo>
                      <a:lnTo>
                        <a:pt x="38" y="45"/>
                      </a:lnTo>
                      <a:lnTo>
                        <a:pt x="43" y="42"/>
                      </a:lnTo>
                      <a:lnTo>
                        <a:pt x="45" y="39"/>
                      </a:lnTo>
                      <a:lnTo>
                        <a:pt x="48" y="34"/>
                      </a:lnTo>
                      <a:lnTo>
                        <a:pt x="49" y="30"/>
                      </a:lnTo>
                      <a:lnTo>
                        <a:pt x="49" y="25"/>
                      </a:lnTo>
                      <a:close/>
                      <a:moveTo>
                        <a:pt x="45" y="25"/>
                      </a:moveTo>
                      <a:lnTo>
                        <a:pt x="45" y="29"/>
                      </a:lnTo>
                      <a:lnTo>
                        <a:pt x="44" y="32"/>
                      </a:lnTo>
                      <a:lnTo>
                        <a:pt x="41" y="36"/>
                      </a:lnTo>
                      <a:lnTo>
                        <a:pt x="39" y="40"/>
                      </a:lnTo>
                      <a:lnTo>
                        <a:pt x="36" y="42"/>
                      </a:lnTo>
                      <a:lnTo>
                        <a:pt x="33" y="44"/>
                      </a:lnTo>
                      <a:lnTo>
                        <a:pt x="29" y="45"/>
                      </a:lnTo>
                      <a:lnTo>
                        <a:pt x="24" y="45"/>
                      </a:lnTo>
                      <a:lnTo>
                        <a:pt x="20" y="45"/>
                      </a:lnTo>
                      <a:lnTo>
                        <a:pt x="17" y="44"/>
                      </a:lnTo>
                      <a:lnTo>
                        <a:pt x="13" y="42"/>
                      </a:lnTo>
                      <a:lnTo>
                        <a:pt x="11" y="40"/>
                      </a:lnTo>
                      <a:lnTo>
                        <a:pt x="7" y="36"/>
                      </a:lnTo>
                      <a:lnTo>
                        <a:pt x="5" y="32"/>
                      </a:lnTo>
                      <a:lnTo>
                        <a:pt x="4" y="29"/>
                      </a:lnTo>
                      <a:lnTo>
                        <a:pt x="4" y="25"/>
                      </a:lnTo>
                      <a:lnTo>
                        <a:pt x="4" y="20"/>
                      </a:lnTo>
                      <a:lnTo>
                        <a:pt x="5" y="16"/>
                      </a:lnTo>
                      <a:lnTo>
                        <a:pt x="7" y="13"/>
                      </a:lnTo>
                      <a:lnTo>
                        <a:pt x="11" y="10"/>
                      </a:lnTo>
                      <a:lnTo>
                        <a:pt x="13" y="8"/>
                      </a:lnTo>
                      <a:lnTo>
                        <a:pt x="17" y="6"/>
                      </a:lnTo>
                      <a:lnTo>
                        <a:pt x="20" y="5"/>
                      </a:lnTo>
                      <a:lnTo>
                        <a:pt x="24" y="5"/>
                      </a:lnTo>
                      <a:lnTo>
                        <a:pt x="29" y="5"/>
                      </a:lnTo>
                      <a:lnTo>
                        <a:pt x="33" y="6"/>
                      </a:lnTo>
                      <a:lnTo>
                        <a:pt x="36" y="8"/>
                      </a:lnTo>
                      <a:lnTo>
                        <a:pt x="39" y="10"/>
                      </a:lnTo>
                      <a:lnTo>
                        <a:pt x="41" y="13"/>
                      </a:lnTo>
                      <a:lnTo>
                        <a:pt x="44" y="16"/>
                      </a:lnTo>
                      <a:lnTo>
                        <a:pt x="45" y="20"/>
                      </a:lnTo>
                      <a:lnTo>
                        <a:pt x="45" y="2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72" name="Freeform 4960"/>
                <p:cNvSpPr>
                  <a:spLocks noChangeAspect="1" noEditPoints="1"/>
                </p:cNvSpPr>
                <p:nvPr/>
              </p:nvSpPr>
              <p:spPr bwMode="auto">
                <a:xfrm>
                  <a:off x="3515" y="3543"/>
                  <a:ext cx="15" cy="15"/>
                </a:xfrm>
                <a:custGeom>
                  <a:avLst/>
                  <a:gdLst>
                    <a:gd name="T0" fmla="*/ 45 w 45"/>
                    <a:gd name="T1" fmla="*/ 18 h 45"/>
                    <a:gd name="T2" fmla="*/ 42 w 45"/>
                    <a:gd name="T3" fmla="*/ 10 h 45"/>
                    <a:gd name="T4" fmla="*/ 35 w 45"/>
                    <a:gd name="T5" fmla="*/ 4 h 45"/>
                    <a:gd name="T6" fmla="*/ 27 w 45"/>
                    <a:gd name="T7" fmla="*/ 0 h 45"/>
                    <a:gd name="T8" fmla="*/ 18 w 45"/>
                    <a:gd name="T9" fmla="*/ 0 h 45"/>
                    <a:gd name="T10" fmla="*/ 10 w 45"/>
                    <a:gd name="T11" fmla="*/ 4 h 45"/>
                    <a:gd name="T12" fmla="*/ 4 w 45"/>
                    <a:gd name="T13" fmla="*/ 10 h 45"/>
                    <a:gd name="T14" fmla="*/ 0 w 45"/>
                    <a:gd name="T15" fmla="*/ 18 h 45"/>
                    <a:gd name="T16" fmla="*/ 0 w 45"/>
                    <a:gd name="T17" fmla="*/ 27 h 45"/>
                    <a:gd name="T18" fmla="*/ 4 w 45"/>
                    <a:gd name="T19" fmla="*/ 36 h 45"/>
                    <a:gd name="T20" fmla="*/ 10 w 45"/>
                    <a:gd name="T21" fmla="*/ 42 h 45"/>
                    <a:gd name="T22" fmla="*/ 18 w 45"/>
                    <a:gd name="T23" fmla="*/ 45 h 45"/>
                    <a:gd name="T24" fmla="*/ 27 w 45"/>
                    <a:gd name="T25" fmla="*/ 45 h 45"/>
                    <a:gd name="T26" fmla="*/ 35 w 45"/>
                    <a:gd name="T27" fmla="*/ 42 h 45"/>
                    <a:gd name="T28" fmla="*/ 42 w 45"/>
                    <a:gd name="T29" fmla="*/ 36 h 45"/>
                    <a:gd name="T30" fmla="*/ 45 w 45"/>
                    <a:gd name="T31" fmla="*/ 27 h 45"/>
                    <a:gd name="T32" fmla="*/ 42 w 45"/>
                    <a:gd name="T33" fmla="*/ 23 h 45"/>
                    <a:gd name="T34" fmla="*/ 39 w 45"/>
                    <a:gd name="T35" fmla="*/ 30 h 45"/>
                    <a:gd name="T36" fmla="*/ 35 w 45"/>
                    <a:gd name="T37" fmla="*/ 36 h 45"/>
                    <a:gd name="T38" fmla="*/ 30 w 45"/>
                    <a:gd name="T39" fmla="*/ 40 h 45"/>
                    <a:gd name="T40" fmla="*/ 22 w 45"/>
                    <a:gd name="T41" fmla="*/ 41 h 45"/>
                    <a:gd name="T42" fmla="*/ 15 w 45"/>
                    <a:gd name="T43" fmla="*/ 40 h 45"/>
                    <a:gd name="T44" fmla="*/ 10 w 45"/>
                    <a:gd name="T45" fmla="*/ 36 h 45"/>
                    <a:gd name="T46" fmla="*/ 5 w 45"/>
                    <a:gd name="T47" fmla="*/ 30 h 45"/>
                    <a:gd name="T48" fmla="*/ 4 w 45"/>
                    <a:gd name="T49" fmla="*/ 23 h 45"/>
                    <a:gd name="T50" fmla="*/ 5 w 45"/>
                    <a:gd name="T51" fmla="*/ 15 h 45"/>
                    <a:gd name="T52" fmla="*/ 10 w 45"/>
                    <a:gd name="T53" fmla="*/ 10 h 45"/>
                    <a:gd name="T54" fmla="*/ 15 w 45"/>
                    <a:gd name="T55" fmla="*/ 6 h 45"/>
                    <a:gd name="T56" fmla="*/ 22 w 45"/>
                    <a:gd name="T57" fmla="*/ 5 h 45"/>
                    <a:gd name="T58" fmla="*/ 30 w 45"/>
                    <a:gd name="T59" fmla="*/ 6 h 45"/>
                    <a:gd name="T60" fmla="*/ 35 w 45"/>
                    <a:gd name="T61" fmla="*/ 10 h 45"/>
                    <a:gd name="T62" fmla="*/ 39 w 45"/>
                    <a:gd name="T63" fmla="*/ 15 h 45"/>
                    <a:gd name="T64" fmla="*/ 42 w 45"/>
                    <a:gd name="T65"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5" h="45">
                      <a:moveTo>
                        <a:pt x="45" y="23"/>
                      </a:moveTo>
                      <a:lnTo>
                        <a:pt x="45" y="18"/>
                      </a:lnTo>
                      <a:lnTo>
                        <a:pt x="44" y="14"/>
                      </a:lnTo>
                      <a:lnTo>
                        <a:pt x="42" y="10"/>
                      </a:lnTo>
                      <a:lnTo>
                        <a:pt x="38" y="7"/>
                      </a:lnTo>
                      <a:lnTo>
                        <a:pt x="35" y="4"/>
                      </a:lnTo>
                      <a:lnTo>
                        <a:pt x="31" y="1"/>
                      </a:lnTo>
                      <a:lnTo>
                        <a:pt x="27" y="0"/>
                      </a:lnTo>
                      <a:lnTo>
                        <a:pt x="22" y="0"/>
                      </a:lnTo>
                      <a:lnTo>
                        <a:pt x="18" y="0"/>
                      </a:lnTo>
                      <a:lnTo>
                        <a:pt x="14" y="1"/>
                      </a:lnTo>
                      <a:lnTo>
                        <a:pt x="10" y="4"/>
                      </a:lnTo>
                      <a:lnTo>
                        <a:pt x="6" y="7"/>
                      </a:lnTo>
                      <a:lnTo>
                        <a:pt x="4" y="10"/>
                      </a:lnTo>
                      <a:lnTo>
                        <a:pt x="2" y="14"/>
                      </a:lnTo>
                      <a:lnTo>
                        <a:pt x="0" y="18"/>
                      </a:lnTo>
                      <a:lnTo>
                        <a:pt x="0" y="23"/>
                      </a:lnTo>
                      <a:lnTo>
                        <a:pt x="0" y="27"/>
                      </a:lnTo>
                      <a:lnTo>
                        <a:pt x="2" y="31"/>
                      </a:lnTo>
                      <a:lnTo>
                        <a:pt x="4" y="36"/>
                      </a:lnTo>
                      <a:lnTo>
                        <a:pt x="6" y="39"/>
                      </a:lnTo>
                      <a:lnTo>
                        <a:pt x="10" y="42"/>
                      </a:lnTo>
                      <a:lnTo>
                        <a:pt x="14" y="43"/>
                      </a:lnTo>
                      <a:lnTo>
                        <a:pt x="18" y="45"/>
                      </a:lnTo>
                      <a:lnTo>
                        <a:pt x="22" y="45"/>
                      </a:lnTo>
                      <a:lnTo>
                        <a:pt x="27" y="45"/>
                      </a:lnTo>
                      <a:lnTo>
                        <a:pt x="31" y="43"/>
                      </a:lnTo>
                      <a:lnTo>
                        <a:pt x="35" y="42"/>
                      </a:lnTo>
                      <a:lnTo>
                        <a:pt x="38" y="39"/>
                      </a:lnTo>
                      <a:lnTo>
                        <a:pt x="42" y="36"/>
                      </a:lnTo>
                      <a:lnTo>
                        <a:pt x="44" y="31"/>
                      </a:lnTo>
                      <a:lnTo>
                        <a:pt x="45" y="27"/>
                      </a:lnTo>
                      <a:lnTo>
                        <a:pt x="45" y="23"/>
                      </a:lnTo>
                      <a:close/>
                      <a:moveTo>
                        <a:pt x="42" y="23"/>
                      </a:moveTo>
                      <a:lnTo>
                        <a:pt x="41" y="26"/>
                      </a:lnTo>
                      <a:lnTo>
                        <a:pt x="39" y="30"/>
                      </a:lnTo>
                      <a:lnTo>
                        <a:pt x="38" y="33"/>
                      </a:lnTo>
                      <a:lnTo>
                        <a:pt x="35" y="36"/>
                      </a:lnTo>
                      <a:lnTo>
                        <a:pt x="33" y="38"/>
                      </a:lnTo>
                      <a:lnTo>
                        <a:pt x="30" y="40"/>
                      </a:lnTo>
                      <a:lnTo>
                        <a:pt x="27" y="41"/>
                      </a:lnTo>
                      <a:lnTo>
                        <a:pt x="22" y="41"/>
                      </a:lnTo>
                      <a:lnTo>
                        <a:pt x="19" y="41"/>
                      </a:lnTo>
                      <a:lnTo>
                        <a:pt x="15" y="40"/>
                      </a:lnTo>
                      <a:lnTo>
                        <a:pt x="12" y="38"/>
                      </a:lnTo>
                      <a:lnTo>
                        <a:pt x="10" y="36"/>
                      </a:lnTo>
                      <a:lnTo>
                        <a:pt x="8" y="33"/>
                      </a:lnTo>
                      <a:lnTo>
                        <a:pt x="5" y="30"/>
                      </a:lnTo>
                      <a:lnTo>
                        <a:pt x="4" y="26"/>
                      </a:lnTo>
                      <a:lnTo>
                        <a:pt x="4" y="23"/>
                      </a:lnTo>
                      <a:lnTo>
                        <a:pt x="4" y="18"/>
                      </a:lnTo>
                      <a:lnTo>
                        <a:pt x="5" y="15"/>
                      </a:lnTo>
                      <a:lnTo>
                        <a:pt x="8" y="12"/>
                      </a:lnTo>
                      <a:lnTo>
                        <a:pt x="10" y="10"/>
                      </a:lnTo>
                      <a:lnTo>
                        <a:pt x="12" y="8"/>
                      </a:lnTo>
                      <a:lnTo>
                        <a:pt x="15" y="6"/>
                      </a:lnTo>
                      <a:lnTo>
                        <a:pt x="19" y="5"/>
                      </a:lnTo>
                      <a:lnTo>
                        <a:pt x="22" y="5"/>
                      </a:lnTo>
                      <a:lnTo>
                        <a:pt x="27" y="5"/>
                      </a:lnTo>
                      <a:lnTo>
                        <a:pt x="30" y="6"/>
                      </a:lnTo>
                      <a:lnTo>
                        <a:pt x="33" y="8"/>
                      </a:lnTo>
                      <a:lnTo>
                        <a:pt x="35" y="10"/>
                      </a:lnTo>
                      <a:lnTo>
                        <a:pt x="38" y="12"/>
                      </a:lnTo>
                      <a:lnTo>
                        <a:pt x="39" y="15"/>
                      </a:lnTo>
                      <a:lnTo>
                        <a:pt x="41" y="18"/>
                      </a:lnTo>
                      <a:lnTo>
                        <a:pt x="42" y="2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73" name="Freeform 4961"/>
                <p:cNvSpPr>
                  <a:spLocks noChangeAspect="1" noEditPoints="1"/>
                </p:cNvSpPr>
                <p:nvPr/>
              </p:nvSpPr>
              <p:spPr bwMode="auto">
                <a:xfrm>
                  <a:off x="3516" y="3544"/>
                  <a:ext cx="13" cy="13"/>
                </a:xfrm>
                <a:custGeom>
                  <a:avLst/>
                  <a:gdLst>
                    <a:gd name="T0" fmla="*/ 41 w 41"/>
                    <a:gd name="T1" fmla="*/ 15 h 40"/>
                    <a:gd name="T2" fmla="*/ 37 w 41"/>
                    <a:gd name="T3" fmla="*/ 8 h 40"/>
                    <a:gd name="T4" fmla="*/ 32 w 41"/>
                    <a:gd name="T5" fmla="*/ 3 h 40"/>
                    <a:gd name="T6" fmla="*/ 25 w 41"/>
                    <a:gd name="T7" fmla="*/ 0 h 40"/>
                    <a:gd name="T8" fmla="*/ 16 w 41"/>
                    <a:gd name="T9" fmla="*/ 0 h 40"/>
                    <a:gd name="T10" fmla="*/ 9 w 41"/>
                    <a:gd name="T11" fmla="*/ 3 h 40"/>
                    <a:gd name="T12" fmla="*/ 3 w 41"/>
                    <a:gd name="T13" fmla="*/ 8 h 40"/>
                    <a:gd name="T14" fmla="*/ 0 w 41"/>
                    <a:gd name="T15" fmla="*/ 15 h 40"/>
                    <a:gd name="T16" fmla="*/ 0 w 41"/>
                    <a:gd name="T17" fmla="*/ 24 h 40"/>
                    <a:gd name="T18" fmla="*/ 3 w 41"/>
                    <a:gd name="T19" fmla="*/ 31 h 40"/>
                    <a:gd name="T20" fmla="*/ 9 w 41"/>
                    <a:gd name="T21" fmla="*/ 37 h 40"/>
                    <a:gd name="T22" fmla="*/ 16 w 41"/>
                    <a:gd name="T23" fmla="*/ 40 h 40"/>
                    <a:gd name="T24" fmla="*/ 25 w 41"/>
                    <a:gd name="T25" fmla="*/ 40 h 40"/>
                    <a:gd name="T26" fmla="*/ 32 w 41"/>
                    <a:gd name="T27" fmla="*/ 37 h 40"/>
                    <a:gd name="T28" fmla="*/ 37 w 41"/>
                    <a:gd name="T29" fmla="*/ 31 h 40"/>
                    <a:gd name="T30" fmla="*/ 41 w 41"/>
                    <a:gd name="T31" fmla="*/ 24 h 40"/>
                    <a:gd name="T32" fmla="*/ 37 w 41"/>
                    <a:gd name="T33" fmla="*/ 20 h 40"/>
                    <a:gd name="T34" fmla="*/ 35 w 41"/>
                    <a:gd name="T35" fmla="*/ 26 h 40"/>
                    <a:gd name="T36" fmla="*/ 32 w 41"/>
                    <a:gd name="T37" fmla="*/ 31 h 40"/>
                    <a:gd name="T38" fmla="*/ 27 w 41"/>
                    <a:gd name="T39" fmla="*/ 35 h 40"/>
                    <a:gd name="T40" fmla="*/ 20 w 41"/>
                    <a:gd name="T41" fmla="*/ 36 h 40"/>
                    <a:gd name="T42" fmla="*/ 14 w 41"/>
                    <a:gd name="T43" fmla="*/ 35 h 40"/>
                    <a:gd name="T44" fmla="*/ 9 w 41"/>
                    <a:gd name="T45" fmla="*/ 31 h 40"/>
                    <a:gd name="T46" fmla="*/ 6 w 41"/>
                    <a:gd name="T47" fmla="*/ 26 h 40"/>
                    <a:gd name="T48" fmla="*/ 4 w 41"/>
                    <a:gd name="T49" fmla="*/ 20 h 40"/>
                    <a:gd name="T50" fmla="*/ 6 w 41"/>
                    <a:gd name="T51" fmla="*/ 13 h 40"/>
                    <a:gd name="T52" fmla="*/ 9 w 41"/>
                    <a:gd name="T53" fmla="*/ 8 h 40"/>
                    <a:gd name="T54" fmla="*/ 14 w 41"/>
                    <a:gd name="T55" fmla="*/ 5 h 40"/>
                    <a:gd name="T56" fmla="*/ 20 w 41"/>
                    <a:gd name="T57" fmla="*/ 4 h 40"/>
                    <a:gd name="T58" fmla="*/ 27 w 41"/>
                    <a:gd name="T59" fmla="*/ 5 h 40"/>
                    <a:gd name="T60" fmla="*/ 32 w 41"/>
                    <a:gd name="T61" fmla="*/ 8 h 40"/>
                    <a:gd name="T62" fmla="*/ 35 w 41"/>
                    <a:gd name="T63" fmla="*/ 13 h 40"/>
                    <a:gd name="T64" fmla="*/ 37 w 41"/>
                    <a:gd name="T65"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 h="40">
                      <a:moveTo>
                        <a:pt x="41" y="20"/>
                      </a:moveTo>
                      <a:lnTo>
                        <a:pt x="41" y="15"/>
                      </a:lnTo>
                      <a:lnTo>
                        <a:pt x="40" y="11"/>
                      </a:lnTo>
                      <a:lnTo>
                        <a:pt x="37" y="8"/>
                      </a:lnTo>
                      <a:lnTo>
                        <a:pt x="35" y="5"/>
                      </a:lnTo>
                      <a:lnTo>
                        <a:pt x="32" y="3"/>
                      </a:lnTo>
                      <a:lnTo>
                        <a:pt x="29" y="1"/>
                      </a:lnTo>
                      <a:lnTo>
                        <a:pt x="25" y="0"/>
                      </a:lnTo>
                      <a:lnTo>
                        <a:pt x="20" y="0"/>
                      </a:lnTo>
                      <a:lnTo>
                        <a:pt x="16" y="0"/>
                      </a:lnTo>
                      <a:lnTo>
                        <a:pt x="13" y="1"/>
                      </a:lnTo>
                      <a:lnTo>
                        <a:pt x="9" y="3"/>
                      </a:lnTo>
                      <a:lnTo>
                        <a:pt x="7" y="5"/>
                      </a:lnTo>
                      <a:lnTo>
                        <a:pt x="3" y="8"/>
                      </a:lnTo>
                      <a:lnTo>
                        <a:pt x="1" y="11"/>
                      </a:lnTo>
                      <a:lnTo>
                        <a:pt x="0" y="15"/>
                      </a:lnTo>
                      <a:lnTo>
                        <a:pt x="0" y="20"/>
                      </a:lnTo>
                      <a:lnTo>
                        <a:pt x="0" y="24"/>
                      </a:lnTo>
                      <a:lnTo>
                        <a:pt x="1" y="27"/>
                      </a:lnTo>
                      <a:lnTo>
                        <a:pt x="3" y="31"/>
                      </a:lnTo>
                      <a:lnTo>
                        <a:pt x="7" y="35"/>
                      </a:lnTo>
                      <a:lnTo>
                        <a:pt x="9" y="37"/>
                      </a:lnTo>
                      <a:lnTo>
                        <a:pt x="13" y="39"/>
                      </a:lnTo>
                      <a:lnTo>
                        <a:pt x="16" y="40"/>
                      </a:lnTo>
                      <a:lnTo>
                        <a:pt x="20" y="40"/>
                      </a:lnTo>
                      <a:lnTo>
                        <a:pt x="25" y="40"/>
                      </a:lnTo>
                      <a:lnTo>
                        <a:pt x="29" y="39"/>
                      </a:lnTo>
                      <a:lnTo>
                        <a:pt x="32" y="37"/>
                      </a:lnTo>
                      <a:lnTo>
                        <a:pt x="35" y="35"/>
                      </a:lnTo>
                      <a:lnTo>
                        <a:pt x="37" y="31"/>
                      </a:lnTo>
                      <a:lnTo>
                        <a:pt x="40" y="27"/>
                      </a:lnTo>
                      <a:lnTo>
                        <a:pt x="41" y="24"/>
                      </a:lnTo>
                      <a:lnTo>
                        <a:pt x="41" y="20"/>
                      </a:lnTo>
                      <a:close/>
                      <a:moveTo>
                        <a:pt x="37" y="20"/>
                      </a:moveTo>
                      <a:lnTo>
                        <a:pt x="36" y="23"/>
                      </a:lnTo>
                      <a:lnTo>
                        <a:pt x="35" y="26"/>
                      </a:lnTo>
                      <a:lnTo>
                        <a:pt x="34" y="29"/>
                      </a:lnTo>
                      <a:lnTo>
                        <a:pt x="32" y="31"/>
                      </a:lnTo>
                      <a:lnTo>
                        <a:pt x="30" y="34"/>
                      </a:lnTo>
                      <a:lnTo>
                        <a:pt x="27" y="35"/>
                      </a:lnTo>
                      <a:lnTo>
                        <a:pt x="24" y="36"/>
                      </a:lnTo>
                      <a:lnTo>
                        <a:pt x="20" y="36"/>
                      </a:lnTo>
                      <a:lnTo>
                        <a:pt x="17" y="36"/>
                      </a:lnTo>
                      <a:lnTo>
                        <a:pt x="14" y="35"/>
                      </a:lnTo>
                      <a:lnTo>
                        <a:pt x="12" y="34"/>
                      </a:lnTo>
                      <a:lnTo>
                        <a:pt x="9" y="31"/>
                      </a:lnTo>
                      <a:lnTo>
                        <a:pt x="7" y="29"/>
                      </a:lnTo>
                      <a:lnTo>
                        <a:pt x="6" y="26"/>
                      </a:lnTo>
                      <a:lnTo>
                        <a:pt x="4" y="23"/>
                      </a:lnTo>
                      <a:lnTo>
                        <a:pt x="4" y="20"/>
                      </a:lnTo>
                      <a:lnTo>
                        <a:pt x="4" y="17"/>
                      </a:lnTo>
                      <a:lnTo>
                        <a:pt x="6" y="13"/>
                      </a:lnTo>
                      <a:lnTo>
                        <a:pt x="7" y="10"/>
                      </a:lnTo>
                      <a:lnTo>
                        <a:pt x="9" y="8"/>
                      </a:lnTo>
                      <a:lnTo>
                        <a:pt x="12" y="6"/>
                      </a:lnTo>
                      <a:lnTo>
                        <a:pt x="14" y="5"/>
                      </a:lnTo>
                      <a:lnTo>
                        <a:pt x="17" y="4"/>
                      </a:lnTo>
                      <a:lnTo>
                        <a:pt x="20" y="4"/>
                      </a:lnTo>
                      <a:lnTo>
                        <a:pt x="24" y="4"/>
                      </a:lnTo>
                      <a:lnTo>
                        <a:pt x="27" y="5"/>
                      </a:lnTo>
                      <a:lnTo>
                        <a:pt x="30" y="6"/>
                      </a:lnTo>
                      <a:lnTo>
                        <a:pt x="32" y="8"/>
                      </a:lnTo>
                      <a:lnTo>
                        <a:pt x="34" y="10"/>
                      </a:lnTo>
                      <a:lnTo>
                        <a:pt x="35" y="13"/>
                      </a:lnTo>
                      <a:lnTo>
                        <a:pt x="36" y="17"/>
                      </a:lnTo>
                      <a:lnTo>
                        <a:pt x="37" y="2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74" name="Freeform 4962"/>
                <p:cNvSpPr>
                  <a:spLocks noChangeAspect="1" noEditPoints="1"/>
                </p:cNvSpPr>
                <p:nvPr/>
              </p:nvSpPr>
              <p:spPr bwMode="auto">
                <a:xfrm>
                  <a:off x="3516" y="3545"/>
                  <a:ext cx="13" cy="12"/>
                </a:xfrm>
                <a:custGeom>
                  <a:avLst/>
                  <a:gdLst>
                    <a:gd name="T0" fmla="*/ 37 w 38"/>
                    <a:gd name="T1" fmla="*/ 13 h 36"/>
                    <a:gd name="T2" fmla="*/ 34 w 38"/>
                    <a:gd name="T3" fmla="*/ 7 h 36"/>
                    <a:gd name="T4" fmla="*/ 29 w 38"/>
                    <a:gd name="T5" fmla="*/ 3 h 36"/>
                    <a:gd name="T6" fmla="*/ 23 w 38"/>
                    <a:gd name="T7" fmla="*/ 0 h 36"/>
                    <a:gd name="T8" fmla="*/ 15 w 38"/>
                    <a:gd name="T9" fmla="*/ 0 h 36"/>
                    <a:gd name="T10" fmla="*/ 8 w 38"/>
                    <a:gd name="T11" fmla="*/ 3 h 36"/>
                    <a:gd name="T12" fmla="*/ 4 w 38"/>
                    <a:gd name="T13" fmla="*/ 7 h 36"/>
                    <a:gd name="T14" fmla="*/ 0 w 38"/>
                    <a:gd name="T15" fmla="*/ 13 h 36"/>
                    <a:gd name="T16" fmla="*/ 0 w 38"/>
                    <a:gd name="T17" fmla="*/ 21 h 36"/>
                    <a:gd name="T18" fmla="*/ 4 w 38"/>
                    <a:gd name="T19" fmla="*/ 28 h 36"/>
                    <a:gd name="T20" fmla="*/ 8 w 38"/>
                    <a:gd name="T21" fmla="*/ 33 h 36"/>
                    <a:gd name="T22" fmla="*/ 15 w 38"/>
                    <a:gd name="T23" fmla="*/ 36 h 36"/>
                    <a:gd name="T24" fmla="*/ 23 w 38"/>
                    <a:gd name="T25" fmla="*/ 36 h 36"/>
                    <a:gd name="T26" fmla="*/ 29 w 38"/>
                    <a:gd name="T27" fmla="*/ 33 h 36"/>
                    <a:gd name="T28" fmla="*/ 34 w 38"/>
                    <a:gd name="T29" fmla="*/ 28 h 36"/>
                    <a:gd name="T30" fmla="*/ 37 w 38"/>
                    <a:gd name="T31" fmla="*/ 21 h 36"/>
                    <a:gd name="T32" fmla="*/ 33 w 38"/>
                    <a:gd name="T33" fmla="*/ 18 h 36"/>
                    <a:gd name="T34" fmla="*/ 32 w 38"/>
                    <a:gd name="T35" fmla="*/ 23 h 36"/>
                    <a:gd name="T36" fmla="*/ 29 w 38"/>
                    <a:gd name="T37" fmla="*/ 27 h 36"/>
                    <a:gd name="T38" fmla="*/ 24 w 38"/>
                    <a:gd name="T39" fmla="*/ 31 h 36"/>
                    <a:gd name="T40" fmla="*/ 18 w 38"/>
                    <a:gd name="T41" fmla="*/ 32 h 36"/>
                    <a:gd name="T42" fmla="*/ 13 w 38"/>
                    <a:gd name="T43" fmla="*/ 31 h 36"/>
                    <a:gd name="T44" fmla="*/ 9 w 38"/>
                    <a:gd name="T45" fmla="*/ 27 h 36"/>
                    <a:gd name="T46" fmla="*/ 6 w 38"/>
                    <a:gd name="T47" fmla="*/ 23 h 36"/>
                    <a:gd name="T48" fmla="*/ 5 w 38"/>
                    <a:gd name="T49" fmla="*/ 18 h 36"/>
                    <a:gd name="T50" fmla="*/ 6 w 38"/>
                    <a:gd name="T51" fmla="*/ 12 h 36"/>
                    <a:gd name="T52" fmla="*/ 9 w 38"/>
                    <a:gd name="T53" fmla="*/ 7 h 36"/>
                    <a:gd name="T54" fmla="*/ 13 w 38"/>
                    <a:gd name="T55" fmla="*/ 4 h 36"/>
                    <a:gd name="T56" fmla="*/ 18 w 38"/>
                    <a:gd name="T57" fmla="*/ 3 h 36"/>
                    <a:gd name="T58" fmla="*/ 24 w 38"/>
                    <a:gd name="T59" fmla="*/ 4 h 36"/>
                    <a:gd name="T60" fmla="*/ 29 w 38"/>
                    <a:gd name="T61" fmla="*/ 7 h 36"/>
                    <a:gd name="T62" fmla="*/ 32 w 38"/>
                    <a:gd name="T63" fmla="*/ 12 h 36"/>
                    <a:gd name="T64" fmla="*/ 33 w 38"/>
                    <a:gd name="T65"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 h="36">
                      <a:moveTo>
                        <a:pt x="38" y="18"/>
                      </a:moveTo>
                      <a:lnTo>
                        <a:pt x="37" y="13"/>
                      </a:lnTo>
                      <a:lnTo>
                        <a:pt x="35" y="10"/>
                      </a:lnTo>
                      <a:lnTo>
                        <a:pt x="34" y="7"/>
                      </a:lnTo>
                      <a:lnTo>
                        <a:pt x="31" y="5"/>
                      </a:lnTo>
                      <a:lnTo>
                        <a:pt x="29" y="3"/>
                      </a:lnTo>
                      <a:lnTo>
                        <a:pt x="26" y="1"/>
                      </a:lnTo>
                      <a:lnTo>
                        <a:pt x="23" y="0"/>
                      </a:lnTo>
                      <a:lnTo>
                        <a:pt x="18" y="0"/>
                      </a:lnTo>
                      <a:lnTo>
                        <a:pt x="15" y="0"/>
                      </a:lnTo>
                      <a:lnTo>
                        <a:pt x="11" y="1"/>
                      </a:lnTo>
                      <a:lnTo>
                        <a:pt x="8" y="3"/>
                      </a:lnTo>
                      <a:lnTo>
                        <a:pt x="6" y="5"/>
                      </a:lnTo>
                      <a:lnTo>
                        <a:pt x="4" y="7"/>
                      </a:lnTo>
                      <a:lnTo>
                        <a:pt x="1" y="10"/>
                      </a:lnTo>
                      <a:lnTo>
                        <a:pt x="0" y="13"/>
                      </a:lnTo>
                      <a:lnTo>
                        <a:pt x="0" y="18"/>
                      </a:lnTo>
                      <a:lnTo>
                        <a:pt x="0" y="21"/>
                      </a:lnTo>
                      <a:lnTo>
                        <a:pt x="1" y="25"/>
                      </a:lnTo>
                      <a:lnTo>
                        <a:pt x="4" y="28"/>
                      </a:lnTo>
                      <a:lnTo>
                        <a:pt x="6" y="31"/>
                      </a:lnTo>
                      <a:lnTo>
                        <a:pt x="8" y="33"/>
                      </a:lnTo>
                      <a:lnTo>
                        <a:pt x="11" y="35"/>
                      </a:lnTo>
                      <a:lnTo>
                        <a:pt x="15" y="36"/>
                      </a:lnTo>
                      <a:lnTo>
                        <a:pt x="18" y="36"/>
                      </a:lnTo>
                      <a:lnTo>
                        <a:pt x="23" y="36"/>
                      </a:lnTo>
                      <a:lnTo>
                        <a:pt x="26" y="35"/>
                      </a:lnTo>
                      <a:lnTo>
                        <a:pt x="29" y="33"/>
                      </a:lnTo>
                      <a:lnTo>
                        <a:pt x="31" y="31"/>
                      </a:lnTo>
                      <a:lnTo>
                        <a:pt x="34" y="28"/>
                      </a:lnTo>
                      <a:lnTo>
                        <a:pt x="35" y="25"/>
                      </a:lnTo>
                      <a:lnTo>
                        <a:pt x="37" y="21"/>
                      </a:lnTo>
                      <a:lnTo>
                        <a:pt x="38" y="18"/>
                      </a:lnTo>
                      <a:close/>
                      <a:moveTo>
                        <a:pt x="33" y="18"/>
                      </a:moveTo>
                      <a:lnTo>
                        <a:pt x="32" y="21"/>
                      </a:lnTo>
                      <a:lnTo>
                        <a:pt x="32" y="23"/>
                      </a:lnTo>
                      <a:lnTo>
                        <a:pt x="30" y="25"/>
                      </a:lnTo>
                      <a:lnTo>
                        <a:pt x="29" y="27"/>
                      </a:lnTo>
                      <a:lnTo>
                        <a:pt x="27" y="29"/>
                      </a:lnTo>
                      <a:lnTo>
                        <a:pt x="24" y="31"/>
                      </a:lnTo>
                      <a:lnTo>
                        <a:pt x="22" y="32"/>
                      </a:lnTo>
                      <a:lnTo>
                        <a:pt x="18" y="32"/>
                      </a:lnTo>
                      <a:lnTo>
                        <a:pt x="15" y="32"/>
                      </a:lnTo>
                      <a:lnTo>
                        <a:pt x="13" y="31"/>
                      </a:lnTo>
                      <a:lnTo>
                        <a:pt x="11" y="29"/>
                      </a:lnTo>
                      <a:lnTo>
                        <a:pt x="9" y="27"/>
                      </a:lnTo>
                      <a:lnTo>
                        <a:pt x="7" y="25"/>
                      </a:lnTo>
                      <a:lnTo>
                        <a:pt x="6" y="23"/>
                      </a:lnTo>
                      <a:lnTo>
                        <a:pt x="5" y="21"/>
                      </a:lnTo>
                      <a:lnTo>
                        <a:pt x="5" y="18"/>
                      </a:lnTo>
                      <a:lnTo>
                        <a:pt x="5" y="15"/>
                      </a:lnTo>
                      <a:lnTo>
                        <a:pt x="6" y="12"/>
                      </a:lnTo>
                      <a:lnTo>
                        <a:pt x="7" y="9"/>
                      </a:lnTo>
                      <a:lnTo>
                        <a:pt x="9" y="7"/>
                      </a:lnTo>
                      <a:lnTo>
                        <a:pt x="11" y="6"/>
                      </a:lnTo>
                      <a:lnTo>
                        <a:pt x="13" y="4"/>
                      </a:lnTo>
                      <a:lnTo>
                        <a:pt x="15" y="4"/>
                      </a:lnTo>
                      <a:lnTo>
                        <a:pt x="18" y="3"/>
                      </a:lnTo>
                      <a:lnTo>
                        <a:pt x="22" y="4"/>
                      </a:lnTo>
                      <a:lnTo>
                        <a:pt x="24" y="4"/>
                      </a:lnTo>
                      <a:lnTo>
                        <a:pt x="27" y="6"/>
                      </a:lnTo>
                      <a:lnTo>
                        <a:pt x="29" y="7"/>
                      </a:lnTo>
                      <a:lnTo>
                        <a:pt x="30" y="9"/>
                      </a:lnTo>
                      <a:lnTo>
                        <a:pt x="32" y="12"/>
                      </a:lnTo>
                      <a:lnTo>
                        <a:pt x="32" y="15"/>
                      </a:lnTo>
                      <a:lnTo>
                        <a:pt x="33" y="1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75" name="Freeform 4963"/>
                <p:cNvSpPr>
                  <a:spLocks noChangeAspect="1" noEditPoints="1"/>
                </p:cNvSpPr>
                <p:nvPr/>
              </p:nvSpPr>
              <p:spPr bwMode="auto">
                <a:xfrm>
                  <a:off x="3517" y="3545"/>
                  <a:ext cx="11" cy="11"/>
                </a:xfrm>
                <a:custGeom>
                  <a:avLst/>
                  <a:gdLst>
                    <a:gd name="T0" fmla="*/ 32 w 33"/>
                    <a:gd name="T1" fmla="*/ 13 h 32"/>
                    <a:gd name="T2" fmla="*/ 30 w 33"/>
                    <a:gd name="T3" fmla="*/ 6 h 32"/>
                    <a:gd name="T4" fmla="*/ 26 w 33"/>
                    <a:gd name="T5" fmla="*/ 2 h 32"/>
                    <a:gd name="T6" fmla="*/ 20 w 33"/>
                    <a:gd name="T7" fmla="*/ 0 h 32"/>
                    <a:gd name="T8" fmla="*/ 13 w 33"/>
                    <a:gd name="T9" fmla="*/ 0 h 32"/>
                    <a:gd name="T10" fmla="*/ 8 w 33"/>
                    <a:gd name="T11" fmla="*/ 2 h 32"/>
                    <a:gd name="T12" fmla="*/ 3 w 33"/>
                    <a:gd name="T13" fmla="*/ 6 h 32"/>
                    <a:gd name="T14" fmla="*/ 0 w 33"/>
                    <a:gd name="T15" fmla="*/ 13 h 32"/>
                    <a:gd name="T16" fmla="*/ 0 w 33"/>
                    <a:gd name="T17" fmla="*/ 19 h 32"/>
                    <a:gd name="T18" fmla="*/ 3 w 33"/>
                    <a:gd name="T19" fmla="*/ 25 h 32"/>
                    <a:gd name="T20" fmla="*/ 8 w 33"/>
                    <a:gd name="T21" fmla="*/ 30 h 32"/>
                    <a:gd name="T22" fmla="*/ 13 w 33"/>
                    <a:gd name="T23" fmla="*/ 32 h 32"/>
                    <a:gd name="T24" fmla="*/ 20 w 33"/>
                    <a:gd name="T25" fmla="*/ 32 h 32"/>
                    <a:gd name="T26" fmla="*/ 26 w 33"/>
                    <a:gd name="T27" fmla="*/ 30 h 32"/>
                    <a:gd name="T28" fmla="*/ 30 w 33"/>
                    <a:gd name="T29" fmla="*/ 25 h 32"/>
                    <a:gd name="T30" fmla="*/ 32 w 33"/>
                    <a:gd name="T31" fmla="*/ 19 h 32"/>
                    <a:gd name="T32" fmla="*/ 29 w 33"/>
                    <a:gd name="T33" fmla="*/ 16 h 32"/>
                    <a:gd name="T34" fmla="*/ 28 w 33"/>
                    <a:gd name="T35" fmla="*/ 20 h 32"/>
                    <a:gd name="T36" fmla="*/ 25 w 33"/>
                    <a:gd name="T37" fmla="*/ 24 h 32"/>
                    <a:gd name="T38" fmla="*/ 22 w 33"/>
                    <a:gd name="T39" fmla="*/ 27 h 32"/>
                    <a:gd name="T40" fmla="*/ 16 w 33"/>
                    <a:gd name="T41" fmla="*/ 29 h 32"/>
                    <a:gd name="T42" fmla="*/ 12 w 33"/>
                    <a:gd name="T43" fmla="*/ 27 h 32"/>
                    <a:gd name="T44" fmla="*/ 8 w 33"/>
                    <a:gd name="T45" fmla="*/ 24 h 32"/>
                    <a:gd name="T46" fmla="*/ 6 w 33"/>
                    <a:gd name="T47" fmla="*/ 20 h 32"/>
                    <a:gd name="T48" fmla="*/ 5 w 33"/>
                    <a:gd name="T49" fmla="*/ 16 h 32"/>
                    <a:gd name="T50" fmla="*/ 6 w 33"/>
                    <a:gd name="T51" fmla="*/ 10 h 32"/>
                    <a:gd name="T52" fmla="*/ 8 w 33"/>
                    <a:gd name="T53" fmla="*/ 7 h 32"/>
                    <a:gd name="T54" fmla="*/ 12 w 33"/>
                    <a:gd name="T55" fmla="*/ 4 h 32"/>
                    <a:gd name="T56" fmla="*/ 16 w 33"/>
                    <a:gd name="T57" fmla="*/ 3 h 32"/>
                    <a:gd name="T58" fmla="*/ 22 w 33"/>
                    <a:gd name="T59" fmla="*/ 4 h 32"/>
                    <a:gd name="T60" fmla="*/ 25 w 33"/>
                    <a:gd name="T61" fmla="*/ 7 h 32"/>
                    <a:gd name="T62" fmla="*/ 28 w 33"/>
                    <a:gd name="T63" fmla="*/ 10 h 32"/>
                    <a:gd name="T64" fmla="*/ 29 w 33"/>
                    <a:gd name="T65" fmla="*/ 1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 h="32">
                      <a:moveTo>
                        <a:pt x="33" y="16"/>
                      </a:moveTo>
                      <a:lnTo>
                        <a:pt x="32" y="13"/>
                      </a:lnTo>
                      <a:lnTo>
                        <a:pt x="31" y="9"/>
                      </a:lnTo>
                      <a:lnTo>
                        <a:pt x="30" y="6"/>
                      </a:lnTo>
                      <a:lnTo>
                        <a:pt x="28" y="4"/>
                      </a:lnTo>
                      <a:lnTo>
                        <a:pt x="26" y="2"/>
                      </a:lnTo>
                      <a:lnTo>
                        <a:pt x="23" y="1"/>
                      </a:lnTo>
                      <a:lnTo>
                        <a:pt x="20" y="0"/>
                      </a:lnTo>
                      <a:lnTo>
                        <a:pt x="16" y="0"/>
                      </a:lnTo>
                      <a:lnTo>
                        <a:pt x="13" y="0"/>
                      </a:lnTo>
                      <a:lnTo>
                        <a:pt x="10" y="1"/>
                      </a:lnTo>
                      <a:lnTo>
                        <a:pt x="8" y="2"/>
                      </a:lnTo>
                      <a:lnTo>
                        <a:pt x="5" y="4"/>
                      </a:lnTo>
                      <a:lnTo>
                        <a:pt x="3" y="6"/>
                      </a:lnTo>
                      <a:lnTo>
                        <a:pt x="2" y="9"/>
                      </a:lnTo>
                      <a:lnTo>
                        <a:pt x="0" y="13"/>
                      </a:lnTo>
                      <a:lnTo>
                        <a:pt x="0" y="16"/>
                      </a:lnTo>
                      <a:lnTo>
                        <a:pt x="0" y="19"/>
                      </a:lnTo>
                      <a:lnTo>
                        <a:pt x="2" y="22"/>
                      </a:lnTo>
                      <a:lnTo>
                        <a:pt x="3" y="25"/>
                      </a:lnTo>
                      <a:lnTo>
                        <a:pt x="5" y="27"/>
                      </a:lnTo>
                      <a:lnTo>
                        <a:pt x="8" y="30"/>
                      </a:lnTo>
                      <a:lnTo>
                        <a:pt x="10" y="31"/>
                      </a:lnTo>
                      <a:lnTo>
                        <a:pt x="13" y="32"/>
                      </a:lnTo>
                      <a:lnTo>
                        <a:pt x="16" y="32"/>
                      </a:lnTo>
                      <a:lnTo>
                        <a:pt x="20" y="32"/>
                      </a:lnTo>
                      <a:lnTo>
                        <a:pt x="23" y="31"/>
                      </a:lnTo>
                      <a:lnTo>
                        <a:pt x="26" y="30"/>
                      </a:lnTo>
                      <a:lnTo>
                        <a:pt x="28" y="27"/>
                      </a:lnTo>
                      <a:lnTo>
                        <a:pt x="30" y="25"/>
                      </a:lnTo>
                      <a:lnTo>
                        <a:pt x="31" y="22"/>
                      </a:lnTo>
                      <a:lnTo>
                        <a:pt x="32" y="19"/>
                      </a:lnTo>
                      <a:lnTo>
                        <a:pt x="33" y="16"/>
                      </a:lnTo>
                      <a:close/>
                      <a:moveTo>
                        <a:pt x="29" y="16"/>
                      </a:moveTo>
                      <a:lnTo>
                        <a:pt x="29" y="18"/>
                      </a:lnTo>
                      <a:lnTo>
                        <a:pt x="28" y="20"/>
                      </a:lnTo>
                      <a:lnTo>
                        <a:pt x="27" y="22"/>
                      </a:lnTo>
                      <a:lnTo>
                        <a:pt x="25" y="24"/>
                      </a:lnTo>
                      <a:lnTo>
                        <a:pt x="24" y="26"/>
                      </a:lnTo>
                      <a:lnTo>
                        <a:pt x="22" y="27"/>
                      </a:lnTo>
                      <a:lnTo>
                        <a:pt x="20" y="27"/>
                      </a:lnTo>
                      <a:lnTo>
                        <a:pt x="16" y="29"/>
                      </a:lnTo>
                      <a:lnTo>
                        <a:pt x="14" y="27"/>
                      </a:lnTo>
                      <a:lnTo>
                        <a:pt x="12" y="27"/>
                      </a:lnTo>
                      <a:lnTo>
                        <a:pt x="10" y="26"/>
                      </a:lnTo>
                      <a:lnTo>
                        <a:pt x="8" y="24"/>
                      </a:lnTo>
                      <a:lnTo>
                        <a:pt x="7" y="22"/>
                      </a:lnTo>
                      <a:lnTo>
                        <a:pt x="6" y="20"/>
                      </a:lnTo>
                      <a:lnTo>
                        <a:pt x="5" y="18"/>
                      </a:lnTo>
                      <a:lnTo>
                        <a:pt x="5" y="16"/>
                      </a:lnTo>
                      <a:lnTo>
                        <a:pt x="5" y="14"/>
                      </a:lnTo>
                      <a:lnTo>
                        <a:pt x="6" y="10"/>
                      </a:lnTo>
                      <a:lnTo>
                        <a:pt x="7" y="8"/>
                      </a:lnTo>
                      <a:lnTo>
                        <a:pt x="8" y="7"/>
                      </a:lnTo>
                      <a:lnTo>
                        <a:pt x="10" y="5"/>
                      </a:lnTo>
                      <a:lnTo>
                        <a:pt x="12" y="4"/>
                      </a:lnTo>
                      <a:lnTo>
                        <a:pt x="14" y="4"/>
                      </a:lnTo>
                      <a:lnTo>
                        <a:pt x="16" y="3"/>
                      </a:lnTo>
                      <a:lnTo>
                        <a:pt x="20" y="4"/>
                      </a:lnTo>
                      <a:lnTo>
                        <a:pt x="22" y="4"/>
                      </a:lnTo>
                      <a:lnTo>
                        <a:pt x="24" y="5"/>
                      </a:lnTo>
                      <a:lnTo>
                        <a:pt x="25" y="7"/>
                      </a:lnTo>
                      <a:lnTo>
                        <a:pt x="27" y="8"/>
                      </a:lnTo>
                      <a:lnTo>
                        <a:pt x="28" y="10"/>
                      </a:lnTo>
                      <a:lnTo>
                        <a:pt x="29" y="14"/>
                      </a:lnTo>
                      <a:lnTo>
                        <a:pt x="29" y="1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76" name="Freeform 4964"/>
                <p:cNvSpPr>
                  <a:spLocks noChangeAspect="1" noEditPoints="1"/>
                </p:cNvSpPr>
                <p:nvPr/>
              </p:nvSpPr>
              <p:spPr bwMode="auto">
                <a:xfrm>
                  <a:off x="3518" y="3546"/>
                  <a:ext cx="9" cy="9"/>
                </a:xfrm>
                <a:custGeom>
                  <a:avLst/>
                  <a:gdLst>
                    <a:gd name="T0" fmla="*/ 27 w 28"/>
                    <a:gd name="T1" fmla="*/ 12 h 29"/>
                    <a:gd name="T2" fmla="*/ 25 w 28"/>
                    <a:gd name="T3" fmla="*/ 6 h 29"/>
                    <a:gd name="T4" fmla="*/ 22 w 28"/>
                    <a:gd name="T5" fmla="*/ 3 h 29"/>
                    <a:gd name="T6" fmla="*/ 17 w 28"/>
                    <a:gd name="T7" fmla="*/ 1 h 29"/>
                    <a:gd name="T8" fmla="*/ 10 w 28"/>
                    <a:gd name="T9" fmla="*/ 1 h 29"/>
                    <a:gd name="T10" fmla="*/ 6 w 28"/>
                    <a:gd name="T11" fmla="*/ 3 h 29"/>
                    <a:gd name="T12" fmla="*/ 2 w 28"/>
                    <a:gd name="T13" fmla="*/ 6 h 29"/>
                    <a:gd name="T14" fmla="*/ 0 w 28"/>
                    <a:gd name="T15" fmla="*/ 12 h 29"/>
                    <a:gd name="T16" fmla="*/ 0 w 28"/>
                    <a:gd name="T17" fmla="*/ 18 h 29"/>
                    <a:gd name="T18" fmla="*/ 2 w 28"/>
                    <a:gd name="T19" fmla="*/ 22 h 29"/>
                    <a:gd name="T20" fmla="*/ 6 w 28"/>
                    <a:gd name="T21" fmla="*/ 26 h 29"/>
                    <a:gd name="T22" fmla="*/ 10 w 28"/>
                    <a:gd name="T23" fmla="*/ 29 h 29"/>
                    <a:gd name="T24" fmla="*/ 17 w 28"/>
                    <a:gd name="T25" fmla="*/ 29 h 29"/>
                    <a:gd name="T26" fmla="*/ 22 w 28"/>
                    <a:gd name="T27" fmla="*/ 26 h 29"/>
                    <a:gd name="T28" fmla="*/ 25 w 28"/>
                    <a:gd name="T29" fmla="*/ 22 h 29"/>
                    <a:gd name="T30" fmla="*/ 27 w 28"/>
                    <a:gd name="T31" fmla="*/ 18 h 29"/>
                    <a:gd name="T32" fmla="*/ 24 w 28"/>
                    <a:gd name="T33" fmla="*/ 15 h 29"/>
                    <a:gd name="T34" fmla="*/ 23 w 28"/>
                    <a:gd name="T35" fmla="*/ 19 h 29"/>
                    <a:gd name="T36" fmla="*/ 21 w 28"/>
                    <a:gd name="T37" fmla="*/ 22 h 29"/>
                    <a:gd name="T38" fmla="*/ 18 w 28"/>
                    <a:gd name="T39" fmla="*/ 24 h 29"/>
                    <a:gd name="T40" fmla="*/ 13 w 28"/>
                    <a:gd name="T41" fmla="*/ 25 h 29"/>
                    <a:gd name="T42" fmla="*/ 9 w 28"/>
                    <a:gd name="T43" fmla="*/ 24 h 29"/>
                    <a:gd name="T44" fmla="*/ 6 w 28"/>
                    <a:gd name="T45" fmla="*/ 22 h 29"/>
                    <a:gd name="T46" fmla="*/ 4 w 28"/>
                    <a:gd name="T47" fmla="*/ 19 h 29"/>
                    <a:gd name="T48" fmla="*/ 4 w 28"/>
                    <a:gd name="T49" fmla="*/ 15 h 29"/>
                    <a:gd name="T50" fmla="*/ 4 w 28"/>
                    <a:gd name="T51" fmla="*/ 10 h 29"/>
                    <a:gd name="T52" fmla="*/ 6 w 28"/>
                    <a:gd name="T53" fmla="*/ 7 h 29"/>
                    <a:gd name="T54" fmla="*/ 9 w 28"/>
                    <a:gd name="T55" fmla="*/ 5 h 29"/>
                    <a:gd name="T56" fmla="*/ 13 w 28"/>
                    <a:gd name="T57" fmla="*/ 4 h 29"/>
                    <a:gd name="T58" fmla="*/ 18 w 28"/>
                    <a:gd name="T59" fmla="*/ 5 h 29"/>
                    <a:gd name="T60" fmla="*/ 21 w 28"/>
                    <a:gd name="T61" fmla="*/ 7 h 29"/>
                    <a:gd name="T62" fmla="*/ 23 w 28"/>
                    <a:gd name="T63" fmla="*/ 10 h 29"/>
                    <a:gd name="T64" fmla="*/ 24 w 28"/>
                    <a:gd name="T65" fmla="*/ 1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29">
                      <a:moveTo>
                        <a:pt x="28" y="15"/>
                      </a:moveTo>
                      <a:lnTo>
                        <a:pt x="27" y="12"/>
                      </a:lnTo>
                      <a:lnTo>
                        <a:pt x="27" y="9"/>
                      </a:lnTo>
                      <a:lnTo>
                        <a:pt x="25" y="6"/>
                      </a:lnTo>
                      <a:lnTo>
                        <a:pt x="24" y="4"/>
                      </a:lnTo>
                      <a:lnTo>
                        <a:pt x="22" y="3"/>
                      </a:lnTo>
                      <a:lnTo>
                        <a:pt x="19" y="1"/>
                      </a:lnTo>
                      <a:lnTo>
                        <a:pt x="17" y="1"/>
                      </a:lnTo>
                      <a:lnTo>
                        <a:pt x="13" y="0"/>
                      </a:lnTo>
                      <a:lnTo>
                        <a:pt x="10" y="1"/>
                      </a:lnTo>
                      <a:lnTo>
                        <a:pt x="8" y="1"/>
                      </a:lnTo>
                      <a:lnTo>
                        <a:pt x="6" y="3"/>
                      </a:lnTo>
                      <a:lnTo>
                        <a:pt x="4" y="4"/>
                      </a:lnTo>
                      <a:lnTo>
                        <a:pt x="2" y="6"/>
                      </a:lnTo>
                      <a:lnTo>
                        <a:pt x="1" y="9"/>
                      </a:lnTo>
                      <a:lnTo>
                        <a:pt x="0" y="12"/>
                      </a:lnTo>
                      <a:lnTo>
                        <a:pt x="0" y="15"/>
                      </a:lnTo>
                      <a:lnTo>
                        <a:pt x="0" y="18"/>
                      </a:lnTo>
                      <a:lnTo>
                        <a:pt x="1" y="20"/>
                      </a:lnTo>
                      <a:lnTo>
                        <a:pt x="2" y="22"/>
                      </a:lnTo>
                      <a:lnTo>
                        <a:pt x="4" y="24"/>
                      </a:lnTo>
                      <a:lnTo>
                        <a:pt x="6" y="26"/>
                      </a:lnTo>
                      <a:lnTo>
                        <a:pt x="8" y="28"/>
                      </a:lnTo>
                      <a:lnTo>
                        <a:pt x="10" y="29"/>
                      </a:lnTo>
                      <a:lnTo>
                        <a:pt x="13" y="29"/>
                      </a:lnTo>
                      <a:lnTo>
                        <a:pt x="17" y="29"/>
                      </a:lnTo>
                      <a:lnTo>
                        <a:pt x="19" y="28"/>
                      </a:lnTo>
                      <a:lnTo>
                        <a:pt x="22" y="26"/>
                      </a:lnTo>
                      <a:lnTo>
                        <a:pt x="24" y="24"/>
                      </a:lnTo>
                      <a:lnTo>
                        <a:pt x="25" y="22"/>
                      </a:lnTo>
                      <a:lnTo>
                        <a:pt x="27" y="20"/>
                      </a:lnTo>
                      <a:lnTo>
                        <a:pt x="27" y="18"/>
                      </a:lnTo>
                      <a:lnTo>
                        <a:pt x="28" y="15"/>
                      </a:lnTo>
                      <a:close/>
                      <a:moveTo>
                        <a:pt x="24" y="15"/>
                      </a:moveTo>
                      <a:lnTo>
                        <a:pt x="24" y="17"/>
                      </a:lnTo>
                      <a:lnTo>
                        <a:pt x="23" y="19"/>
                      </a:lnTo>
                      <a:lnTo>
                        <a:pt x="22" y="20"/>
                      </a:lnTo>
                      <a:lnTo>
                        <a:pt x="21" y="22"/>
                      </a:lnTo>
                      <a:lnTo>
                        <a:pt x="20" y="23"/>
                      </a:lnTo>
                      <a:lnTo>
                        <a:pt x="18" y="24"/>
                      </a:lnTo>
                      <a:lnTo>
                        <a:pt x="16" y="24"/>
                      </a:lnTo>
                      <a:lnTo>
                        <a:pt x="13" y="25"/>
                      </a:lnTo>
                      <a:lnTo>
                        <a:pt x="11" y="24"/>
                      </a:lnTo>
                      <a:lnTo>
                        <a:pt x="9" y="24"/>
                      </a:lnTo>
                      <a:lnTo>
                        <a:pt x="8" y="23"/>
                      </a:lnTo>
                      <a:lnTo>
                        <a:pt x="6" y="22"/>
                      </a:lnTo>
                      <a:lnTo>
                        <a:pt x="5" y="20"/>
                      </a:lnTo>
                      <a:lnTo>
                        <a:pt x="4" y="19"/>
                      </a:lnTo>
                      <a:lnTo>
                        <a:pt x="4" y="17"/>
                      </a:lnTo>
                      <a:lnTo>
                        <a:pt x="4" y="15"/>
                      </a:lnTo>
                      <a:lnTo>
                        <a:pt x="4" y="13"/>
                      </a:lnTo>
                      <a:lnTo>
                        <a:pt x="4" y="10"/>
                      </a:lnTo>
                      <a:lnTo>
                        <a:pt x="5" y="9"/>
                      </a:lnTo>
                      <a:lnTo>
                        <a:pt x="6" y="7"/>
                      </a:lnTo>
                      <a:lnTo>
                        <a:pt x="8" y="6"/>
                      </a:lnTo>
                      <a:lnTo>
                        <a:pt x="9" y="5"/>
                      </a:lnTo>
                      <a:lnTo>
                        <a:pt x="11" y="4"/>
                      </a:lnTo>
                      <a:lnTo>
                        <a:pt x="13" y="4"/>
                      </a:lnTo>
                      <a:lnTo>
                        <a:pt x="16" y="4"/>
                      </a:lnTo>
                      <a:lnTo>
                        <a:pt x="18" y="5"/>
                      </a:lnTo>
                      <a:lnTo>
                        <a:pt x="20" y="6"/>
                      </a:lnTo>
                      <a:lnTo>
                        <a:pt x="21" y="7"/>
                      </a:lnTo>
                      <a:lnTo>
                        <a:pt x="22" y="9"/>
                      </a:lnTo>
                      <a:lnTo>
                        <a:pt x="23" y="10"/>
                      </a:lnTo>
                      <a:lnTo>
                        <a:pt x="24" y="13"/>
                      </a:lnTo>
                      <a:lnTo>
                        <a:pt x="24" y="1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77" name="Freeform 4965"/>
                <p:cNvSpPr>
                  <a:spLocks noChangeAspect="1" noEditPoints="1"/>
                </p:cNvSpPr>
                <p:nvPr/>
              </p:nvSpPr>
              <p:spPr bwMode="auto">
                <a:xfrm>
                  <a:off x="3519" y="3546"/>
                  <a:ext cx="8" cy="9"/>
                </a:xfrm>
                <a:custGeom>
                  <a:avLst/>
                  <a:gdLst>
                    <a:gd name="T0" fmla="*/ 24 w 24"/>
                    <a:gd name="T1" fmla="*/ 11 h 26"/>
                    <a:gd name="T2" fmla="*/ 22 w 24"/>
                    <a:gd name="T3" fmla="*/ 5 h 26"/>
                    <a:gd name="T4" fmla="*/ 19 w 24"/>
                    <a:gd name="T5" fmla="*/ 2 h 26"/>
                    <a:gd name="T6" fmla="*/ 15 w 24"/>
                    <a:gd name="T7" fmla="*/ 1 h 26"/>
                    <a:gd name="T8" fmla="*/ 9 w 24"/>
                    <a:gd name="T9" fmla="*/ 1 h 26"/>
                    <a:gd name="T10" fmla="*/ 5 w 24"/>
                    <a:gd name="T11" fmla="*/ 2 h 26"/>
                    <a:gd name="T12" fmla="*/ 2 w 24"/>
                    <a:gd name="T13" fmla="*/ 5 h 26"/>
                    <a:gd name="T14" fmla="*/ 0 w 24"/>
                    <a:gd name="T15" fmla="*/ 11 h 26"/>
                    <a:gd name="T16" fmla="*/ 0 w 24"/>
                    <a:gd name="T17" fmla="*/ 15 h 26"/>
                    <a:gd name="T18" fmla="*/ 2 w 24"/>
                    <a:gd name="T19" fmla="*/ 19 h 26"/>
                    <a:gd name="T20" fmla="*/ 5 w 24"/>
                    <a:gd name="T21" fmla="*/ 23 h 26"/>
                    <a:gd name="T22" fmla="*/ 9 w 24"/>
                    <a:gd name="T23" fmla="*/ 24 h 26"/>
                    <a:gd name="T24" fmla="*/ 15 w 24"/>
                    <a:gd name="T25" fmla="*/ 24 h 26"/>
                    <a:gd name="T26" fmla="*/ 19 w 24"/>
                    <a:gd name="T27" fmla="*/ 23 h 26"/>
                    <a:gd name="T28" fmla="*/ 22 w 24"/>
                    <a:gd name="T29" fmla="*/ 19 h 26"/>
                    <a:gd name="T30" fmla="*/ 24 w 24"/>
                    <a:gd name="T31" fmla="*/ 15 h 26"/>
                    <a:gd name="T32" fmla="*/ 20 w 24"/>
                    <a:gd name="T33" fmla="*/ 13 h 26"/>
                    <a:gd name="T34" fmla="*/ 19 w 24"/>
                    <a:gd name="T35" fmla="*/ 16 h 26"/>
                    <a:gd name="T36" fmla="*/ 18 w 24"/>
                    <a:gd name="T37" fmla="*/ 18 h 26"/>
                    <a:gd name="T38" fmla="*/ 15 w 24"/>
                    <a:gd name="T39" fmla="*/ 20 h 26"/>
                    <a:gd name="T40" fmla="*/ 11 w 24"/>
                    <a:gd name="T41" fmla="*/ 21 h 26"/>
                    <a:gd name="T42" fmla="*/ 8 w 24"/>
                    <a:gd name="T43" fmla="*/ 20 h 26"/>
                    <a:gd name="T44" fmla="*/ 6 w 24"/>
                    <a:gd name="T45" fmla="*/ 18 h 26"/>
                    <a:gd name="T46" fmla="*/ 4 w 24"/>
                    <a:gd name="T47" fmla="*/ 16 h 26"/>
                    <a:gd name="T48" fmla="*/ 3 w 24"/>
                    <a:gd name="T49" fmla="*/ 13 h 26"/>
                    <a:gd name="T50" fmla="*/ 4 w 24"/>
                    <a:gd name="T51" fmla="*/ 10 h 26"/>
                    <a:gd name="T52" fmla="*/ 6 w 24"/>
                    <a:gd name="T53" fmla="*/ 6 h 26"/>
                    <a:gd name="T54" fmla="*/ 8 w 24"/>
                    <a:gd name="T55" fmla="*/ 5 h 26"/>
                    <a:gd name="T56" fmla="*/ 11 w 24"/>
                    <a:gd name="T57" fmla="*/ 4 h 26"/>
                    <a:gd name="T58" fmla="*/ 15 w 24"/>
                    <a:gd name="T59" fmla="*/ 5 h 26"/>
                    <a:gd name="T60" fmla="*/ 18 w 24"/>
                    <a:gd name="T61" fmla="*/ 6 h 26"/>
                    <a:gd name="T62" fmla="*/ 19 w 24"/>
                    <a:gd name="T63" fmla="*/ 10 h 26"/>
                    <a:gd name="T64" fmla="*/ 20 w 24"/>
                    <a:gd name="T65"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26">
                      <a:moveTo>
                        <a:pt x="24" y="13"/>
                      </a:moveTo>
                      <a:lnTo>
                        <a:pt x="24" y="11"/>
                      </a:lnTo>
                      <a:lnTo>
                        <a:pt x="23" y="7"/>
                      </a:lnTo>
                      <a:lnTo>
                        <a:pt x="22" y="5"/>
                      </a:lnTo>
                      <a:lnTo>
                        <a:pt x="20" y="4"/>
                      </a:lnTo>
                      <a:lnTo>
                        <a:pt x="19" y="2"/>
                      </a:lnTo>
                      <a:lnTo>
                        <a:pt x="17" y="1"/>
                      </a:lnTo>
                      <a:lnTo>
                        <a:pt x="15" y="1"/>
                      </a:lnTo>
                      <a:lnTo>
                        <a:pt x="11" y="0"/>
                      </a:lnTo>
                      <a:lnTo>
                        <a:pt x="9" y="1"/>
                      </a:lnTo>
                      <a:lnTo>
                        <a:pt x="7" y="1"/>
                      </a:lnTo>
                      <a:lnTo>
                        <a:pt x="5" y="2"/>
                      </a:lnTo>
                      <a:lnTo>
                        <a:pt x="3" y="4"/>
                      </a:lnTo>
                      <a:lnTo>
                        <a:pt x="2" y="5"/>
                      </a:lnTo>
                      <a:lnTo>
                        <a:pt x="1" y="7"/>
                      </a:lnTo>
                      <a:lnTo>
                        <a:pt x="0" y="11"/>
                      </a:lnTo>
                      <a:lnTo>
                        <a:pt x="0" y="13"/>
                      </a:lnTo>
                      <a:lnTo>
                        <a:pt x="0" y="15"/>
                      </a:lnTo>
                      <a:lnTo>
                        <a:pt x="1" y="17"/>
                      </a:lnTo>
                      <a:lnTo>
                        <a:pt x="2" y="19"/>
                      </a:lnTo>
                      <a:lnTo>
                        <a:pt x="3" y="21"/>
                      </a:lnTo>
                      <a:lnTo>
                        <a:pt x="5" y="23"/>
                      </a:lnTo>
                      <a:lnTo>
                        <a:pt x="7" y="24"/>
                      </a:lnTo>
                      <a:lnTo>
                        <a:pt x="9" y="24"/>
                      </a:lnTo>
                      <a:lnTo>
                        <a:pt x="11" y="26"/>
                      </a:lnTo>
                      <a:lnTo>
                        <a:pt x="15" y="24"/>
                      </a:lnTo>
                      <a:lnTo>
                        <a:pt x="17" y="24"/>
                      </a:lnTo>
                      <a:lnTo>
                        <a:pt x="19" y="23"/>
                      </a:lnTo>
                      <a:lnTo>
                        <a:pt x="20" y="21"/>
                      </a:lnTo>
                      <a:lnTo>
                        <a:pt x="22" y="19"/>
                      </a:lnTo>
                      <a:lnTo>
                        <a:pt x="23" y="17"/>
                      </a:lnTo>
                      <a:lnTo>
                        <a:pt x="24" y="15"/>
                      </a:lnTo>
                      <a:lnTo>
                        <a:pt x="24" y="13"/>
                      </a:lnTo>
                      <a:close/>
                      <a:moveTo>
                        <a:pt x="20" y="13"/>
                      </a:moveTo>
                      <a:lnTo>
                        <a:pt x="20" y="14"/>
                      </a:lnTo>
                      <a:lnTo>
                        <a:pt x="19" y="16"/>
                      </a:lnTo>
                      <a:lnTo>
                        <a:pt x="19" y="17"/>
                      </a:lnTo>
                      <a:lnTo>
                        <a:pt x="18" y="18"/>
                      </a:lnTo>
                      <a:lnTo>
                        <a:pt x="17" y="19"/>
                      </a:lnTo>
                      <a:lnTo>
                        <a:pt x="15" y="20"/>
                      </a:lnTo>
                      <a:lnTo>
                        <a:pt x="14" y="21"/>
                      </a:lnTo>
                      <a:lnTo>
                        <a:pt x="11" y="21"/>
                      </a:lnTo>
                      <a:lnTo>
                        <a:pt x="10" y="21"/>
                      </a:lnTo>
                      <a:lnTo>
                        <a:pt x="8" y="20"/>
                      </a:lnTo>
                      <a:lnTo>
                        <a:pt x="7" y="19"/>
                      </a:lnTo>
                      <a:lnTo>
                        <a:pt x="6" y="18"/>
                      </a:lnTo>
                      <a:lnTo>
                        <a:pt x="5" y="17"/>
                      </a:lnTo>
                      <a:lnTo>
                        <a:pt x="4" y="16"/>
                      </a:lnTo>
                      <a:lnTo>
                        <a:pt x="4" y="14"/>
                      </a:lnTo>
                      <a:lnTo>
                        <a:pt x="3" y="13"/>
                      </a:lnTo>
                      <a:lnTo>
                        <a:pt x="4" y="11"/>
                      </a:lnTo>
                      <a:lnTo>
                        <a:pt x="4" y="10"/>
                      </a:lnTo>
                      <a:lnTo>
                        <a:pt x="5" y="8"/>
                      </a:lnTo>
                      <a:lnTo>
                        <a:pt x="6" y="6"/>
                      </a:lnTo>
                      <a:lnTo>
                        <a:pt x="7" y="6"/>
                      </a:lnTo>
                      <a:lnTo>
                        <a:pt x="8" y="5"/>
                      </a:lnTo>
                      <a:lnTo>
                        <a:pt x="10" y="4"/>
                      </a:lnTo>
                      <a:lnTo>
                        <a:pt x="11" y="4"/>
                      </a:lnTo>
                      <a:lnTo>
                        <a:pt x="14" y="4"/>
                      </a:lnTo>
                      <a:lnTo>
                        <a:pt x="15" y="5"/>
                      </a:lnTo>
                      <a:lnTo>
                        <a:pt x="17" y="6"/>
                      </a:lnTo>
                      <a:lnTo>
                        <a:pt x="18" y="6"/>
                      </a:lnTo>
                      <a:lnTo>
                        <a:pt x="19" y="8"/>
                      </a:lnTo>
                      <a:lnTo>
                        <a:pt x="19" y="10"/>
                      </a:lnTo>
                      <a:lnTo>
                        <a:pt x="20" y="11"/>
                      </a:lnTo>
                      <a:lnTo>
                        <a:pt x="20" y="1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78" name="Freeform 4966"/>
                <p:cNvSpPr>
                  <a:spLocks noChangeAspect="1" noEditPoints="1"/>
                </p:cNvSpPr>
                <p:nvPr/>
              </p:nvSpPr>
              <p:spPr bwMode="auto">
                <a:xfrm>
                  <a:off x="3519" y="3547"/>
                  <a:ext cx="7" cy="7"/>
                </a:xfrm>
                <a:custGeom>
                  <a:avLst/>
                  <a:gdLst>
                    <a:gd name="T0" fmla="*/ 20 w 20"/>
                    <a:gd name="T1" fmla="*/ 9 h 21"/>
                    <a:gd name="T2" fmla="*/ 18 w 20"/>
                    <a:gd name="T3" fmla="*/ 5 h 21"/>
                    <a:gd name="T4" fmla="*/ 16 w 20"/>
                    <a:gd name="T5" fmla="*/ 2 h 21"/>
                    <a:gd name="T6" fmla="*/ 12 w 20"/>
                    <a:gd name="T7" fmla="*/ 0 h 21"/>
                    <a:gd name="T8" fmla="*/ 7 w 20"/>
                    <a:gd name="T9" fmla="*/ 0 h 21"/>
                    <a:gd name="T10" fmla="*/ 4 w 20"/>
                    <a:gd name="T11" fmla="*/ 2 h 21"/>
                    <a:gd name="T12" fmla="*/ 1 w 20"/>
                    <a:gd name="T13" fmla="*/ 5 h 21"/>
                    <a:gd name="T14" fmla="*/ 0 w 20"/>
                    <a:gd name="T15" fmla="*/ 9 h 21"/>
                    <a:gd name="T16" fmla="*/ 0 w 20"/>
                    <a:gd name="T17" fmla="*/ 13 h 21"/>
                    <a:gd name="T18" fmla="*/ 1 w 20"/>
                    <a:gd name="T19" fmla="*/ 16 h 21"/>
                    <a:gd name="T20" fmla="*/ 4 w 20"/>
                    <a:gd name="T21" fmla="*/ 19 h 21"/>
                    <a:gd name="T22" fmla="*/ 7 w 20"/>
                    <a:gd name="T23" fmla="*/ 20 h 21"/>
                    <a:gd name="T24" fmla="*/ 12 w 20"/>
                    <a:gd name="T25" fmla="*/ 20 h 21"/>
                    <a:gd name="T26" fmla="*/ 16 w 20"/>
                    <a:gd name="T27" fmla="*/ 19 h 21"/>
                    <a:gd name="T28" fmla="*/ 18 w 20"/>
                    <a:gd name="T29" fmla="*/ 16 h 21"/>
                    <a:gd name="T30" fmla="*/ 20 w 20"/>
                    <a:gd name="T31" fmla="*/ 13 h 21"/>
                    <a:gd name="T32" fmla="*/ 16 w 20"/>
                    <a:gd name="T33" fmla="*/ 11 h 21"/>
                    <a:gd name="T34" fmla="*/ 16 w 20"/>
                    <a:gd name="T35" fmla="*/ 13 h 21"/>
                    <a:gd name="T36" fmla="*/ 14 w 20"/>
                    <a:gd name="T37" fmla="*/ 15 h 21"/>
                    <a:gd name="T38" fmla="*/ 12 w 20"/>
                    <a:gd name="T39" fmla="*/ 16 h 21"/>
                    <a:gd name="T40" fmla="*/ 9 w 20"/>
                    <a:gd name="T41" fmla="*/ 17 h 21"/>
                    <a:gd name="T42" fmla="*/ 7 w 20"/>
                    <a:gd name="T43" fmla="*/ 16 h 21"/>
                    <a:gd name="T44" fmla="*/ 5 w 20"/>
                    <a:gd name="T45" fmla="*/ 15 h 21"/>
                    <a:gd name="T46" fmla="*/ 4 w 20"/>
                    <a:gd name="T47" fmla="*/ 13 h 21"/>
                    <a:gd name="T48" fmla="*/ 3 w 20"/>
                    <a:gd name="T49" fmla="*/ 11 h 21"/>
                    <a:gd name="T50" fmla="*/ 4 w 20"/>
                    <a:gd name="T51" fmla="*/ 9 h 21"/>
                    <a:gd name="T52" fmla="*/ 5 w 20"/>
                    <a:gd name="T53" fmla="*/ 6 h 21"/>
                    <a:gd name="T54" fmla="*/ 7 w 20"/>
                    <a:gd name="T55" fmla="*/ 5 h 21"/>
                    <a:gd name="T56" fmla="*/ 9 w 20"/>
                    <a:gd name="T57" fmla="*/ 4 h 21"/>
                    <a:gd name="T58" fmla="*/ 12 w 20"/>
                    <a:gd name="T59" fmla="*/ 5 h 21"/>
                    <a:gd name="T60" fmla="*/ 14 w 20"/>
                    <a:gd name="T61" fmla="*/ 6 h 21"/>
                    <a:gd name="T62" fmla="*/ 16 w 20"/>
                    <a:gd name="T63" fmla="*/ 9 h 21"/>
                    <a:gd name="T64" fmla="*/ 16 w 20"/>
                    <a:gd name="T65"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21">
                      <a:moveTo>
                        <a:pt x="20" y="11"/>
                      </a:moveTo>
                      <a:lnTo>
                        <a:pt x="20" y="9"/>
                      </a:lnTo>
                      <a:lnTo>
                        <a:pt x="19" y="6"/>
                      </a:lnTo>
                      <a:lnTo>
                        <a:pt x="18" y="5"/>
                      </a:lnTo>
                      <a:lnTo>
                        <a:pt x="17" y="3"/>
                      </a:lnTo>
                      <a:lnTo>
                        <a:pt x="16" y="2"/>
                      </a:lnTo>
                      <a:lnTo>
                        <a:pt x="14" y="1"/>
                      </a:lnTo>
                      <a:lnTo>
                        <a:pt x="12" y="0"/>
                      </a:lnTo>
                      <a:lnTo>
                        <a:pt x="9" y="0"/>
                      </a:lnTo>
                      <a:lnTo>
                        <a:pt x="7" y="0"/>
                      </a:lnTo>
                      <a:lnTo>
                        <a:pt x="5" y="1"/>
                      </a:lnTo>
                      <a:lnTo>
                        <a:pt x="4" y="2"/>
                      </a:lnTo>
                      <a:lnTo>
                        <a:pt x="2" y="3"/>
                      </a:lnTo>
                      <a:lnTo>
                        <a:pt x="1" y="5"/>
                      </a:lnTo>
                      <a:lnTo>
                        <a:pt x="0" y="6"/>
                      </a:lnTo>
                      <a:lnTo>
                        <a:pt x="0" y="9"/>
                      </a:lnTo>
                      <a:lnTo>
                        <a:pt x="0" y="11"/>
                      </a:lnTo>
                      <a:lnTo>
                        <a:pt x="0" y="13"/>
                      </a:lnTo>
                      <a:lnTo>
                        <a:pt x="0" y="15"/>
                      </a:lnTo>
                      <a:lnTo>
                        <a:pt x="1" y="16"/>
                      </a:lnTo>
                      <a:lnTo>
                        <a:pt x="2" y="18"/>
                      </a:lnTo>
                      <a:lnTo>
                        <a:pt x="4" y="19"/>
                      </a:lnTo>
                      <a:lnTo>
                        <a:pt x="5" y="20"/>
                      </a:lnTo>
                      <a:lnTo>
                        <a:pt x="7" y="20"/>
                      </a:lnTo>
                      <a:lnTo>
                        <a:pt x="9" y="21"/>
                      </a:lnTo>
                      <a:lnTo>
                        <a:pt x="12" y="20"/>
                      </a:lnTo>
                      <a:lnTo>
                        <a:pt x="14" y="20"/>
                      </a:lnTo>
                      <a:lnTo>
                        <a:pt x="16" y="19"/>
                      </a:lnTo>
                      <a:lnTo>
                        <a:pt x="17" y="18"/>
                      </a:lnTo>
                      <a:lnTo>
                        <a:pt x="18" y="16"/>
                      </a:lnTo>
                      <a:lnTo>
                        <a:pt x="19" y="15"/>
                      </a:lnTo>
                      <a:lnTo>
                        <a:pt x="20" y="13"/>
                      </a:lnTo>
                      <a:lnTo>
                        <a:pt x="20" y="11"/>
                      </a:lnTo>
                      <a:close/>
                      <a:moveTo>
                        <a:pt x="16" y="11"/>
                      </a:moveTo>
                      <a:lnTo>
                        <a:pt x="16" y="12"/>
                      </a:lnTo>
                      <a:lnTo>
                        <a:pt x="16" y="13"/>
                      </a:lnTo>
                      <a:lnTo>
                        <a:pt x="15" y="14"/>
                      </a:lnTo>
                      <a:lnTo>
                        <a:pt x="14" y="15"/>
                      </a:lnTo>
                      <a:lnTo>
                        <a:pt x="13" y="16"/>
                      </a:lnTo>
                      <a:lnTo>
                        <a:pt x="12" y="16"/>
                      </a:lnTo>
                      <a:lnTo>
                        <a:pt x="11" y="17"/>
                      </a:lnTo>
                      <a:lnTo>
                        <a:pt x="9" y="17"/>
                      </a:lnTo>
                      <a:lnTo>
                        <a:pt x="8" y="17"/>
                      </a:lnTo>
                      <a:lnTo>
                        <a:pt x="7" y="16"/>
                      </a:lnTo>
                      <a:lnTo>
                        <a:pt x="6" y="16"/>
                      </a:lnTo>
                      <a:lnTo>
                        <a:pt x="5" y="15"/>
                      </a:lnTo>
                      <a:lnTo>
                        <a:pt x="4" y="14"/>
                      </a:lnTo>
                      <a:lnTo>
                        <a:pt x="4" y="13"/>
                      </a:lnTo>
                      <a:lnTo>
                        <a:pt x="4" y="12"/>
                      </a:lnTo>
                      <a:lnTo>
                        <a:pt x="3" y="11"/>
                      </a:lnTo>
                      <a:lnTo>
                        <a:pt x="4" y="10"/>
                      </a:lnTo>
                      <a:lnTo>
                        <a:pt x="4" y="9"/>
                      </a:lnTo>
                      <a:lnTo>
                        <a:pt x="4" y="8"/>
                      </a:lnTo>
                      <a:lnTo>
                        <a:pt x="5" y="6"/>
                      </a:lnTo>
                      <a:lnTo>
                        <a:pt x="6" y="5"/>
                      </a:lnTo>
                      <a:lnTo>
                        <a:pt x="7" y="5"/>
                      </a:lnTo>
                      <a:lnTo>
                        <a:pt x="8" y="4"/>
                      </a:lnTo>
                      <a:lnTo>
                        <a:pt x="9" y="4"/>
                      </a:lnTo>
                      <a:lnTo>
                        <a:pt x="11" y="4"/>
                      </a:lnTo>
                      <a:lnTo>
                        <a:pt x="12" y="5"/>
                      </a:lnTo>
                      <a:lnTo>
                        <a:pt x="13" y="5"/>
                      </a:lnTo>
                      <a:lnTo>
                        <a:pt x="14" y="6"/>
                      </a:lnTo>
                      <a:lnTo>
                        <a:pt x="15" y="8"/>
                      </a:lnTo>
                      <a:lnTo>
                        <a:pt x="16" y="9"/>
                      </a:lnTo>
                      <a:lnTo>
                        <a:pt x="16" y="10"/>
                      </a:lnTo>
                      <a:lnTo>
                        <a:pt x="16" y="1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79" name="Freeform 4967"/>
                <p:cNvSpPr>
                  <a:spLocks noChangeAspect="1" noEditPoints="1"/>
                </p:cNvSpPr>
                <p:nvPr/>
              </p:nvSpPr>
              <p:spPr bwMode="auto">
                <a:xfrm>
                  <a:off x="3520" y="3548"/>
                  <a:ext cx="5" cy="5"/>
                </a:xfrm>
                <a:custGeom>
                  <a:avLst/>
                  <a:gdLst>
                    <a:gd name="T0" fmla="*/ 17 w 17"/>
                    <a:gd name="T1" fmla="*/ 7 h 17"/>
                    <a:gd name="T2" fmla="*/ 16 w 17"/>
                    <a:gd name="T3" fmla="*/ 4 h 17"/>
                    <a:gd name="T4" fmla="*/ 14 w 17"/>
                    <a:gd name="T5" fmla="*/ 2 h 17"/>
                    <a:gd name="T6" fmla="*/ 11 w 17"/>
                    <a:gd name="T7" fmla="*/ 0 h 17"/>
                    <a:gd name="T8" fmla="*/ 7 w 17"/>
                    <a:gd name="T9" fmla="*/ 0 h 17"/>
                    <a:gd name="T10" fmla="*/ 4 w 17"/>
                    <a:gd name="T11" fmla="*/ 2 h 17"/>
                    <a:gd name="T12" fmla="*/ 2 w 17"/>
                    <a:gd name="T13" fmla="*/ 4 h 17"/>
                    <a:gd name="T14" fmla="*/ 1 w 17"/>
                    <a:gd name="T15" fmla="*/ 7 h 17"/>
                    <a:gd name="T16" fmla="*/ 1 w 17"/>
                    <a:gd name="T17" fmla="*/ 10 h 17"/>
                    <a:gd name="T18" fmla="*/ 2 w 17"/>
                    <a:gd name="T19" fmla="*/ 13 h 17"/>
                    <a:gd name="T20" fmla="*/ 4 w 17"/>
                    <a:gd name="T21" fmla="*/ 15 h 17"/>
                    <a:gd name="T22" fmla="*/ 7 w 17"/>
                    <a:gd name="T23" fmla="*/ 17 h 17"/>
                    <a:gd name="T24" fmla="*/ 11 w 17"/>
                    <a:gd name="T25" fmla="*/ 17 h 17"/>
                    <a:gd name="T26" fmla="*/ 14 w 17"/>
                    <a:gd name="T27" fmla="*/ 15 h 17"/>
                    <a:gd name="T28" fmla="*/ 16 w 17"/>
                    <a:gd name="T29" fmla="*/ 13 h 17"/>
                    <a:gd name="T30" fmla="*/ 17 w 17"/>
                    <a:gd name="T31" fmla="*/ 10 h 17"/>
                    <a:gd name="T32" fmla="*/ 13 w 17"/>
                    <a:gd name="T33" fmla="*/ 9 h 17"/>
                    <a:gd name="T34" fmla="*/ 13 w 17"/>
                    <a:gd name="T35" fmla="*/ 10 h 17"/>
                    <a:gd name="T36" fmla="*/ 12 w 17"/>
                    <a:gd name="T37" fmla="*/ 12 h 17"/>
                    <a:gd name="T38" fmla="*/ 11 w 17"/>
                    <a:gd name="T39" fmla="*/ 12 h 17"/>
                    <a:gd name="T40" fmla="*/ 8 w 17"/>
                    <a:gd name="T41" fmla="*/ 13 h 17"/>
                    <a:gd name="T42" fmla="*/ 7 w 17"/>
                    <a:gd name="T43" fmla="*/ 12 h 17"/>
                    <a:gd name="T44" fmla="*/ 5 w 17"/>
                    <a:gd name="T45" fmla="*/ 12 h 17"/>
                    <a:gd name="T46" fmla="*/ 5 w 17"/>
                    <a:gd name="T47" fmla="*/ 10 h 17"/>
                    <a:gd name="T48" fmla="*/ 4 w 17"/>
                    <a:gd name="T49" fmla="*/ 9 h 17"/>
                    <a:gd name="T50" fmla="*/ 5 w 17"/>
                    <a:gd name="T51" fmla="*/ 7 h 17"/>
                    <a:gd name="T52" fmla="*/ 5 w 17"/>
                    <a:gd name="T53" fmla="*/ 6 h 17"/>
                    <a:gd name="T54" fmla="*/ 7 w 17"/>
                    <a:gd name="T55" fmla="*/ 4 h 17"/>
                    <a:gd name="T56" fmla="*/ 8 w 17"/>
                    <a:gd name="T57" fmla="*/ 4 h 17"/>
                    <a:gd name="T58" fmla="*/ 11 w 17"/>
                    <a:gd name="T59" fmla="*/ 4 h 17"/>
                    <a:gd name="T60" fmla="*/ 12 w 17"/>
                    <a:gd name="T61" fmla="*/ 6 h 17"/>
                    <a:gd name="T62" fmla="*/ 13 w 17"/>
                    <a:gd name="T63" fmla="*/ 7 h 17"/>
                    <a:gd name="T64" fmla="*/ 13 w 17"/>
                    <a:gd name="T65"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 h="17">
                      <a:moveTo>
                        <a:pt x="17" y="9"/>
                      </a:moveTo>
                      <a:lnTo>
                        <a:pt x="17" y="7"/>
                      </a:lnTo>
                      <a:lnTo>
                        <a:pt x="16" y="6"/>
                      </a:lnTo>
                      <a:lnTo>
                        <a:pt x="16" y="4"/>
                      </a:lnTo>
                      <a:lnTo>
                        <a:pt x="15" y="2"/>
                      </a:lnTo>
                      <a:lnTo>
                        <a:pt x="14" y="2"/>
                      </a:lnTo>
                      <a:lnTo>
                        <a:pt x="12" y="1"/>
                      </a:lnTo>
                      <a:lnTo>
                        <a:pt x="11" y="0"/>
                      </a:lnTo>
                      <a:lnTo>
                        <a:pt x="8" y="0"/>
                      </a:lnTo>
                      <a:lnTo>
                        <a:pt x="7" y="0"/>
                      </a:lnTo>
                      <a:lnTo>
                        <a:pt x="5" y="1"/>
                      </a:lnTo>
                      <a:lnTo>
                        <a:pt x="4" y="2"/>
                      </a:lnTo>
                      <a:lnTo>
                        <a:pt x="3" y="2"/>
                      </a:lnTo>
                      <a:lnTo>
                        <a:pt x="2" y="4"/>
                      </a:lnTo>
                      <a:lnTo>
                        <a:pt x="1" y="6"/>
                      </a:lnTo>
                      <a:lnTo>
                        <a:pt x="1" y="7"/>
                      </a:lnTo>
                      <a:lnTo>
                        <a:pt x="0" y="9"/>
                      </a:lnTo>
                      <a:lnTo>
                        <a:pt x="1" y="10"/>
                      </a:lnTo>
                      <a:lnTo>
                        <a:pt x="1" y="12"/>
                      </a:lnTo>
                      <a:lnTo>
                        <a:pt x="2" y="13"/>
                      </a:lnTo>
                      <a:lnTo>
                        <a:pt x="3" y="14"/>
                      </a:lnTo>
                      <a:lnTo>
                        <a:pt x="4" y="15"/>
                      </a:lnTo>
                      <a:lnTo>
                        <a:pt x="5" y="16"/>
                      </a:lnTo>
                      <a:lnTo>
                        <a:pt x="7" y="17"/>
                      </a:lnTo>
                      <a:lnTo>
                        <a:pt x="8" y="17"/>
                      </a:lnTo>
                      <a:lnTo>
                        <a:pt x="11" y="17"/>
                      </a:lnTo>
                      <a:lnTo>
                        <a:pt x="12" y="16"/>
                      </a:lnTo>
                      <a:lnTo>
                        <a:pt x="14" y="15"/>
                      </a:lnTo>
                      <a:lnTo>
                        <a:pt x="15" y="14"/>
                      </a:lnTo>
                      <a:lnTo>
                        <a:pt x="16" y="13"/>
                      </a:lnTo>
                      <a:lnTo>
                        <a:pt x="16" y="12"/>
                      </a:lnTo>
                      <a:lnTo>
                        <a:pt x="17" y="10"/>
                      </a:lnTo>
                      <a:lnTo>
                        <a:pt x="17" y="9"/>
                      </a:lnTo>
                      <a:close/>
                      <a:moveTo>
                        <a:pt x="13" y="9"/>
                      </a:moveTo>
                      <a:lnTo>
                        <a:pt x="13" y="10"/>
                      </a:lnTo>
                      <a:lnTo>
                        <a:pt x="13" y="10"/>
                      </a:lnTo>
                      <a:lnTo>
                        <a:pt x="12" y="11"/>
                      </a:lnTo>
                      <a:lnTo>
                        <a:pt x="12" y="12"/>
                      </a:lnTo>
                      <a:lnTo>
                        <a:pt x="11" y="12"/>
                      </a:lnTo>
                      <a:lnTo>
                        <a:pt x="11" y="12"/>
                      </a:lnTo>
                      <a:lnTo>
                        <a:pt x="10" y="13"/>
                      </a:lnTo>
                      <a:lnTo>
                        <a:pt x="8" y="13"/>
                      </a:lnTo>
                      <a:lnTo>
                        <a:pt x="7" y="13"/>
                      </a:lnTo>
                      <a:lnTo>
                        <a:pt x="7" y="12"/>
                      </a:lnTo>
                      <a:lnTo>
                        <a:pt x="6" y="12"/>
                      </a:lnTo>
                      <a:lnTo>
                        <a:pt x="5" y="12"/>
                      </a:lnTo>
                      <a:lnTo>
                        <a:pt x="5" y="11"/>
                      </a:lnTo>
                      <a:lnTo>
                        <a:pt x="5" y="10"/>
                      </a:lnTo>
                      <a:lnTo>
                        <a:pt x="4" y="10"/>
                      </a:lnTo>
                      <a:lnTo>
                        <a:pt x="4" y="9"/>
                      </a:lnTo>
                      <a:lnTo>
                        <a:pt x="4" y="8"/>
                      </a:lnTo>
                      <a:lnTo>
                        <a:pt x="5" y="7"/>
                      </a:lnTo>
                      <a:lnTo>
                        <a:pt x="5" y="7"/>
                      </a:lnTo>
                      <a:lnTo>
                        <a:pt x="5" y="6"/>
                      </a:lnTo>
                      <a:lnTo>
                        <a:pt x="6" y="6"/>
                      </a:lnTo>
                      <a:lnTo>
                        <a:pt x="7" y="4"/>
                      </a:lnTo>
                      <a:lnTo>
                        <a:pt x="7" y="4"/>
                      </a:lnTo>
                      <a:lnTo>
                        <a:pt x="8" y="4"/>
                      </a:lnTo>
                      <a:lnTo>
                        <a:pt x="10" y="4"/>
                      </a:lnTo>
                      <a:lnTo>
                        <a:pt x="11" y="4"/>
                      </a:lnTo>
                      <a:lnTo>
                        <a:pt x="11" y="6"/>
                      </a:lnTo>
                      <a:lnTo>
                        <a:pt x="12" y="6"/>
                      </a:lnTo>
                      <a:lnTo>
                        <a:pt x="12" y="7"/>
                      </a:lnTo>
                      <a:lnTo>
                        <a:pt x="13" y="7"/>
                      </a:lnTo>
                      <a:lnTo>
                        <a:pt x="13" y="8"/>
                      </a:lnTo>
                      <a:lnTo>
                        <a:pt x="13" y="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80" name="Freeform 4968"/>
                <p:cNvSpPr>
                  <a:spLocks noChangeAspect="1"/>
                </p:cNvSpPr>
                <p:nvPr/>
              </p:nvSpPr>
              <p:spPr bwMode="auto">
                <a:xfrm>
                  <a:off x="3520" y="3548"/>
                  <a:ext cx="5" cy="5"/>
                </a:xfrm>
                <a:custGeom>
                  <a:avLst/>
                  <a:gdLst>
                    <a:gd name="T0" fmla="*/ 13 w 13"/>
                    <a:gd name="T1" fmla="*/ 7 h 13"/>
                    <a:gd name="T2" fmla="*/ 13 w 13"/>
                    <a:gd name="T3" fmla="*/ 6 h 13"/>
                    <a:gd name="T4" fmla="*/ 13 w 13"/>
                    <a:gd name="T5" fmla="*/ 5 h 13"/>
                    <a:gd name="T6" fmla="*/ 12 w 13"/>
                    <a:gd name="T7" fmla="*/ 4 h 13"/>
                    <a:gd name="T8" fmla="*/ 11 w 13"/>
                    <a:gd name="T9" fmla="*/ 2 h 13"/>
                    <a:gd name="T10" fmla="*/ 10 w 13"/>
                    <a:gd name="T11" fmla="*/ 1 h 13"/>
                    <a:gd name="T12" fmla="*/ 9 w 13"/>
                    <a:gd name="T13" fmla="*/ 1 h 13"/>
                    <a:gd name="T14" fmla="*/ 8 w 13"/>
                    <a:gd name="T15" fmla="*/ 0 h 13"/>
                    <a:gd name="T16" fmla="*/ 6 w 13"/>
                    <a:gd name="T17" fmla="*/ 0 h 13"/>
                    <a:gd name="T18" fmla="*/ 5 w 13"/>
                    <a:gd name="T19" fmla="*/ 0 h 13"/>
                    <a:gd name="T20" fmla="*/ 4 w 13"/>
                    <a:gd name="T21" fmla="*/ 1 h 13"/>
                    <a:gd name="T22" fmla="*/ 3 w 13"/>
                    <a:gd name="T23" fmla="*/ 1 h 13"/>
                    <a:gd name="T24" fmla="*/ 2 w 13"/>
                    <a:gd name="T25" fmla="*/ 2 h 13"/>
                    <a:gd name="T26" fmla="*/ 1 w 13"/>
                    <a:gd name="T27" fmla="*/ 4 h 13"/>
                    <a:gd name="T28" fmla="*/ 1 w 13"/>
                    <a:gd name="T29" fmla="*/ 5 h 13"/>
                    <a:gd name="T30" fmla="*/ 1 w 13"/>
                    <a:gd name="T31" fmla="*/ 6 h 13"/>
                    <a:gd name="T32" fmla="*/ 0 w 13"/>
                    <a:gd name="T33" fmla="*/ 7 h 13"/>
                    <a:gd name="T34" fmla="*/ 1 w 13"/>
                    <a:gd name="T35" fmla="*/ 8 h 13"/>
                    <a:gd name="T36" fmla="*/ 1 w 13"/>
                    <a:gd name="T37" fmla="*/ 9 h 13"/>
                    <a:gd name="T38" fmla="*/ 1 w 13"/>
                    <a:gd name="T39" fmla="*/ 10 h 13"/>
                    <a:gd name="T40" fmla="*/ 2 w 13"/>
                    <a:gd name="T41" fmla="*/ 11 h 13"/>
                    <a:gd name="T42" fmla="*/ 3 w 13"/>
                    <a:gd name="T43" fmla="*/ 12 h 13"/>
                    <a:gd name="T44" fmla="*/ 4 w 13"/>
                    <a:gd name="T45" fmla="*/ 12 h 13"/>
                    <a:gd name="T46" fmla="*/ 5 w 13"/>
                    <a:gd name="T47" fmla="*/ 13 h 13"/>
                    <a:gd name="T48" fmla="*/ 6 w 13"/>
                    <a:gd name="T49" fmla="*/ 13 h 13"/>
                    <a:gd name="T50" fmla="*/ 8 w 13"/>
                    <a:gd name="T51" fmla="*/ 13 h 13"/>
                    <a:gd name="T52" fmla="*/ 9 w 13"/>
                    <a:gd name="T53" fmla="*/ 12 h 13"/>
                    <a:gd name="T54" fmla="*/ 10 w 13"/>
                    <a:gd name="T55" fmla="*/ 12 h 13"/>
                    <a:gd name="T56" fmla="*/ 11 w 13"/>
                    <a:gd name="T57" fmla="*/ 11 h 13"/>
                    <a:gd name="T58" fmla="*/ 12 w 13"/>
                    <a:gd name="T59" fmla="*/ 10 h 13"/>
                    <a:gd name="T60" fmla="*/ 13 w 13"/>
                    <a:gd name="T61" fmla="*/ 9 h 13"/>
                    <a:gd name="T62" fmla="*/ 13 w 13"/>
                    <a:gd name="T63" fmla="*/ 8 h 13"/>
                    <a:gd name="T64" fmla="*/ 13 w 13"/>
                    <a:gd name="T65"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 h="13">
                      <a:moveTo>
                        <a:pt x="13" y="7"/>
                      </a:moveTo>
                      <a:lnTo>
                        <a:pt x="13" y="6"/>
                      </a:lnTo>
                      <a:lnTo>
                        <a:pt x="13" y="5"/>
                      </a:lnTo>
                      <a:lnTo>
                        <a:pt x="12" y="4"/>
                      </a:lnTo>
                      <a:lnTo>
                        <a:pt x="11" y="2"/>
                      </a:lnTo>
                      <a:lnTo>
                        <a:pt x="10" y="1"/>
                      </a:lnTo>
                      <a:lnTo>
                        <a:pt x="9" y="1"/>
                      </a:lnTo>
                      <a:lnTo>
                        <a:pt x="8" y="0"/>
                      </a:lnTo>
                      <a:lnTo>
                        <a:pt x="6" y="0"/>
                      </a:lnTo>
                      <a:lnTo>
                        <a:pt x="5" y="0"/>
                      </a:lnTo>
                      <a:lnTo>
                        <a:pt x="4" y="1"/>
                      </a:lnTo>
                      <a:lnTo>
                        <a:pt x="3" y="1"/>
                      </a:lnTo>
                      <a:lnTo>
                        <a:pt x="2" y="2"/>
                      </a:lnTo>
                      <a:lnTo>
                        <a:pt x="1" y="4"/>
                      </a:lnTo>
                      <a:lnTo>
                        <a:pt x="1" y="5"/>
                      </a:lnTo>
                      <a:lnTo>
                        <a:pt x="1" y="6"/>
                      </a:lnTo>
                      <a:lnTo>
                        <a:pt x="0" y="7"/>
                      </a:lnTo>
                      <a:lnTo>
                        <a:pt x="1" y="8"/>
                      </a:lnTo>
                      <a:lnTo>
                        <a:pt x="1" y="9"/>
                      </a:lnTo>
                      <a:lnTo>
                        <a:pt x="1" y="10"/>
                      </a:lnTo>
                      <a:lnTo>
                        <a:pt x="2" y="11"/>
                      </a:lnTo>
                      <a:lnTo>
                        <a:pt x="3" y="12"/>
                      </a:lnTo>
                      <a:lnTo>
                        <a:pt x="4" y="12"/>
                      </a:lnTo>
                      <a:lnTo>
                        <a:pt x="5" y="13"/>
                      </a:lnTo>
                      <a:lnTo>
                        <a:pt x="6" y="13"/>
                      </a:lnTo>
                      <a:lnTo>
                        <a:pt x="8" y="13"/>
                      </a:lnTo>
                      <a:lnTo>
                        <a:pt x="9" y="12"/>
                      </a:lnTo>
                      <a:lnTo>
                        <a:pt x="10" y="12"/>
                      </a:lnTo>
                      <a:lnTo>
                        <a:pt x="11" y="11"/>
                      </a:lnTo>
                      <a:lnTo>
                        <a:pt x="12" y="10"/>
                      </a:lnTo>
                      <a:lnTo>
                        <a:pt x="13" y="9"/>
                      </a:lnTo>
                      <a:lnTo>
                        <a:pt x="13" y="8"/>
                      </a:lnTo>
                      <a:lnTo>
                        <a:pt x="13" y="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81" name="Freeform 4969"/>
                <p:cNvSpPr>
                  <a:spLocks noChangeAspect="1"/>
                </p:cNvSpPr>
                <p:nvPr/>
              </p:nvSpPr>
              <p:spPr bwMode="auto">
                <a:xfrm>
                  <a:off x="3521" y="3549"/>
                  <a:ext cx="3" cy="3"/>
                </a:xfrm>
                <a:custGeom>
                  <a:avLst/>
                  <a:gdLst>
                    <a:gd name="T0" fmla="*/ 9 w 9"/>
                    <a:gd name="T1" fmla="*/ 5 h 9"/>
                    <a:gd name="T2" fmla="*/ 9 w 9"/>
                    <a:gd name="T3" fmla="*/ 4 h 9"/>
                    <a:gd name="T4" fmla="*/ 9 w 9"/>
                    <a:gd name="T5" fmla="*/ 3 h 9"/>
                    <a:gd name="T6" fmla="*/ 8 w 9"/>
                    <a:gd name="T7" fmla="*/ 3 h 9"/>
                    <a:gd name="T8" fmla="*/ 8 w 9"/>
                    <a:gd name="T9" fmla="*/ 2 h 9"/>
                    <a:gd name="T10" fmla="*/ 7 w 9"/>
                    <a:gd name="T11" fmla="*/ 2 h 9"/>
                    <a:gd name="T12" fmla="*/ 7 w 9"/>
                    <a:gd name="T13" fmla="*/ 0 h 9"/>
                    <a:gd name="T14" fmla="*/ 6 w 9"/>
                    <a:gd name="T15" fmla="*/ 0 h 9"/>
                    <a:gd name="T16" fmla="*/ 4 w 9"/>
                    <a:gd name="T17" fmla="*/ 0 h 9"/>
                    <a:gd name="T18" fmla="*/ 3 w 9"/>
                    <a:gd name="T19" fmla="*/ 0 h 9"/>
                    <a:gd name="T20" fmla="*/ 3 w 9"/>
                    <a:gd name="T21" fmla="*/ 0 h 9"/>
                    <a:gd name="T22" fmla="*/ 2 w 9"/>
                    <a:gd name="T23" fmla="*/ 2 h 9"/>
                    <a:gd name="T24" fmla="*/ 1 w 9"/>
                    <a:gd name="T25" fmla="*/ 2 h 9"/>
                    <a:gd name="T26" fmla="*/ 1 w 9"/>
                    <a:gd name="T27" fmla="*/ 3 h 9"/>
                    <a:gd name="T28" fmla="*/ 1 w 9"/>
                    <a:gd name="T29" fmla="*/ 3 h 9"/>
                    <a:gd name="T30" fmla="*/ 0 w 9"/>
                    <a:gd name="T31" fmla="*/ 4 h 9"/>
                    <a:gd name="T32" fmla="*/ 0 w 9"/>
                    <a:gd name="T33" fmla="*/ 5 h 9"/>
                    <a:gd name="T34" fmla="*/ 0 w 9"/>
                    <a:gd name="T35" fmla="*/ 6 h 9"/>
                    <a:gd name="T36" fmla="*/ 1 w 9"/>
                    <a:gd name="T37" fmla="*/ 6 h 9"/>
                    <a:gd name="T38" fmla="*/ 1 w 9"/>
                    <a:gd name="T39" fmla="*/ 7 h 9"/>
                    <a:gd name="T40" fmla="*/ 1 w 9"/>
                    <a:gd name="T41" fmla="*/ 8 h 9"/>
                    <a:gd name="T42" fmla="*/ 2 w 9"/>
                    <a:gd name="T43" fmla="*/ 8 h 9"/>
                    <a:gd name="T44" fmla="*/ 3 w 9"/>
                    <a:gd name="T45" fmla="*/ 8 h 9"/>
                    <a:gd name="T46" fmla="*/ 3 w 9"/>
                    <a:gd name="T47" fmla="*/ 9 h 9"/>
                    <a:gd name="T48" fmla="*/ 4 w 9"/>
                    <a:gd name="T49" fmla="*/ 9 h 9"/>
                    <a:gd name="T50" fmla="*/ 6 w 9"/>
                    <a:gd name="T51" fmla="*/ 9 h 9"/>
                    <a:gd name="T52" fmla="*/ 7 w 9"/>
                    <a:gd name="T53" fmla="*/ 8 h 9"/>
                    <a:gd name="T54" fmla="*/ 7 w 9"/>
                    <a:gd name="T55" fmla="*/ 8 h 9"/>
                    <a:gd name="T56" fmla="*/ 8 w 9"/>
                    <a:gd name="T57" fmla="*/ 8 h 9"/>
                    <a:gd name="T58" fmla="*/ 8 w 9"/>
                    <a:gd name="T59" fmla="*/ 7 h 9"/>
                    <a:gd name="T60" fmla="*/ 9 w 9"/>
                    <a:gd name="T61" fmla="*/ 6 h 9"/>
                    <a:gd name="T62" fmla="*/ 9 w 9"/>
                    <a:gd name="T63" fmla="*/ 6 h 9"/>
                    <a:gd name="T64" fmla="*/ 9 w 9"/>
                    <a:gd name="T6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 h="9">
                      <a:moveTo>
                        <a:pt x="9" y="5"/>
                      </a:moveTo>
                      <a:lnTo>
                        <a:pt x="9" y="4"/>
                      </a:lnTo>
                      <a:lnTo>
                        <a:pt x="9" y="3"/>
                      </a:lnTo>
                      <a:lnTo>
                        <a:pt x="8" y="3"/>
                      </a:lnTo>
                      <a:lnTo>
                        <a:pt x="8" y="2"/>
                      </a:lnTo>
                      <a:lnTo>
                        <a:pt x="7" y="2"/>
                      </a:lnTo>
                      <a:lnTo>
                        <a:pt x="7" y="0"/>
                      </a:lnTo>
                      <a:lnTo>
                        <a:pt x="6" y="0"/>
                      </a:lnTo>
                      <a:lnTo>
                        <a:pt x="4" y="0"/>
                      </a:lnTo>
                      <a:lnTo>
                        <a:pt x="3" y="0"/>
                      </a:lnTo>
                      <a:lnTo>
                        <a:pt x="3" y="0"/>
                      </a:lnTo>
                      <a:lnTo>
                        <a:pt x="2" y="2"/>
                      </a:lnTo>
                      <a:lnTo>
                        <a:pt x="1" y="2"/>
                      </a:lnTo>
                      <a:lnTo>
                        <a:pt x="1" y="3"/>
                      </a:lnTo>
                      <a:lnTo>
                        <a:pt x="1" y="3"/>
                      </a:lnTo>
                      <a:lnTo>
                        <a:pt x="0" y="4"/>
                      </a:lnTo>
                      <a:lnTo>
                        <a:pt x="0" y="5"/>
                      </a:lnTo>
                      <a:lnTo>
                        <a:pt x="0" y="6"/>
                      </a:lnTo>
                      <a:lnTo>
                        <a:pt x="1" y="6"/>
                      </a:lnTo>
                      <a:lnTo>
                        <a:pt x="1" y="7"/>
                      </a:lnTo>
                      <a:lnTo>
                        <a:pt x="1" y="8"/>
                      </a:lnTo>
                      <a:lnTo>
                        <a:pt x="2" y="8"/>
                      </a:lnTo>
                      <a:lnTo>
                        <a:pt x="3" y="8"/>
                      </a:lnTo>
                      <a:lnTo>
                        <a:pt x="3" y="9"/>
                      </a:lnTo>
                      <a:lnTo>
                        <a:pt x="4" y="9"/>
                      </a:lnTo>
                      <a:lnTo>
                        <a:pt x="6" y="9"/>
                      </a:lnTo>
                      <a:lnTo>
                        <a:pt x="7" y="8"/>
                      </a:lnTo>
                      <a:lnTo>
                        <a:pt x="7" y="8"/>
                      </a:lnTo>
                      <a:lnTo>
                        <a:pt x="8" y="8"/>
                      </a:lnTo>
                      <a:lnTo>
                        <a:pt x="8" y="7"/>
                      </a:lnTo>
                      <a:lnTo>
                        <a:pt x="9" y="6"/>
                      </a:lnTo>
                      <a:lnTo>
                        <a:pt x="9" y="6"/>
                      </a:lnTo>
                      <a:lnTo>
                        <a:pt x="9" y="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82" name="Freeform 4970"/>
                <p:cNvSpPr>
                  <a:spLocks noChangeAspect="1"/>
                </p:cNvSpPr>
                <p:nvPr/>
              </p:nvSpPr>
              <p:spPr bwMode="auto">
                <a:xfrm>
                  <a:off x="3522" y="3550"/>
                  <a:ext cx="1" cy="1"/>
                </a:xfrm>
                <a:custGeom>
                  <a:avLst/>
                  <a:gdLst>
                    <a:gd name="T0" fmla="*/ 5 w 5"/>
                    <a:gd name="T1" fmla="*/ 2 h 4"/>
                    <a:gd name="T2" fmla="*/ 5 w 5"/>
                    <a:gd name="T3" fmla="*/ 2 h 4"/>
                    <a:gd name="T4" fmla="*/ 5 w 5"/>
                    <a:gd name="T5" fmla="*/ 1 h 4"/>
                    <a:gd name="T6" fmla="*/ 5 w 5"/>
                    <a:gd name="T7" fmla="*/ 1 h 4"/>
                    <a:gd name="T8" fmla="*/ 5 w 5"/>
                    <a:gd name="T9" fmla="*/ 1 h 4"/>
                    <a:gd name="T10" fmla="*/ 4 w 5"/>
                    <a:gd name="T11" fmla="*/ 0 h 4"/>
                    <a:gd name="T12" fmla="*/ 4 w 5"/>
                    <a:gd name="T13" fmla="*/ 0 h 4"/>
                    <a:gd name="T14" fmla="*/ 4 w 5"/>
                    <a:gd name="T15" fmla="*/ 0 h 4"/>
                    <a:gd name="T16" fmla="*/ 2 w 5"/>
                    <a:gd name="T17" fmla="*/ 0 h 4"/>
                    <a:gd name="T18" fmla="*/ 2 w 5"/>
                    <a:gd name="T19" fmla="*/ 0 h 4"/>
                    <a:gd name="T20" fmla="*/ 1 w 5"/>
                    <a:gd name="T21" fmla="*/ 0 h 4"/>
                    <a:gd name="T22" fmla="*/ 1 w 5"/>
                    <a:gd name="T23" fmla="*/ 0 h 4"/>
                    <a:gd name="T24" fmla="*/ 1 w 5"/>
                    <a:gd name="T25" fmla="*/ 1 h 4"/>
                    <a:gd name="T26" fmla="*/ 1 w 5"/>
                    <a:gd name="T27" fmla="*/ 1 h 4"/>
                    <a:gd name="T28" fmla="*/ 0 w 5"/>
                    <a:gd name="T29" fmla="*/ 1 h 4"/>
                    <a:gd name="T30" fmla="*/ 0 w 5"/>
                    <a:gd name="T31" fmla="*/ 2 h 4"/>
                    <a:gd name="T32" fmla="*/ 0 w 5"/>
                    <a:gd name="T33" fmla="*/ 2 h 4"/>
                    <a:gd name="T34" fmla="*/ 0 w 5"/>
                    <a:gd name="T35" fmla="*/ 2 h 4"/>
                    <a:gd name="T36" fmla="*/ 0 w 5"/>
                    <a:gd name="T37" fmla="*/ 3 h 4"/>
                    <a:gd name="T38" fmla="*/ 1 w 5"/>
                    <a:gd name="T39" fmla="*/ 3 h 4"/>
                    <a:gd name="T40" fmla="*/ 1 w 5"/>
                    <a:gd name="T41" fmla="*/ 3 h 4"/>
                    <a:gd name="T42" fmla="*/ 1 w 5"/>
                    <a:gd name="T43" fmla="*/ 4 h 4"/>
                    <a:gd name="T44" fmla="*/ 1 w 5"/>
                    <a:gd name="T45" fmla="*/ 4 h 4"/>
                    <a:gd name="T46" fmla="*/ 2 w 5"/>
                    <a:gd name="T47" fmla="*/ 4 h 4"/>
                    <a:gd name="T48" fmla="*/ 2 w 5"/>
                    <a:gd name="T49" fmla="*/ 4 h 4"/>
                    <a:gd name="T50" fmla="*/ 4 w 5"/>
                    <a:gd name="T51" fmla="*/ 4 h 4"/>
                    <a:gd name="T52" fmla="*/ 4 w 5"/>
                    <a:gd name="T53" fmla="*/ 4 h 4"/>
                    <a:gd name="T54" fmla="*/ 4 w 5"/>
                    <a:gd name="T55" fmla="*/ 4 h 4"/>
                    <a:gd name="T56" fmla="*/ 5 w 5"/>
                    <a:gd name="T57" fmla="*/ 3 h 4"/>
                    <a:gd name="T58" fmla="*/ 5 w 5"/>
                    <a:gd name="T59" fmla="*/ 3 h 4"/>
                    <a:gd name="T60" fmla="*/ 5 w 5"/>
                    <a:gd name="T61" fmla="*/ 3 h 4"/>
                    <a:gd name="T62" fmla="*/ 5 w 5"/>
                    <a:gd name="T63" fmla="*/ 2 h 4"/>
                    <a:gd name="T64" fmla="*/ 5 w 5"/>
                    <a:gd name="T6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 h="4">
                      <a:moveTo>
                        <a:pt x="5" y="2"/>
                      </a:moveTo>
                      <a:lnTo>
                        <a:pt x="5" y="2"/>
                      </a:lnTo>
                      <a:lnTo>
                        <a:pt x="5" y="1"/>
                      </a:lnTo>
                      <a:lnTo>
                        <a:pt x="5" y="1"/>
                      </a:lnTo>
                      <a:lnTo>
                        <a:pt x="5" y="1"/>
                      </a:lnTo>
                      <a:lnTo>
                        <a:pt x="4" y="0"/>
                      </a:lnTo>
                      <a:lnTo>
                        <a:pt x="4" y="0"/>
                      </a:lnTo>
                      <a:lnTo>
                        <a:pt x="4" y="0"/>
                      </a:lnTo>
                      <a:lnTo>
                        <a:pt x="2" y="0"/>
                      </a:lnTo>
                      <a:lnTo>
                        <a:pt x="2" y="0"/>
                      </a:lnTo>
                      <a:lnTo>
                        <a:pt x="1" y="0"/>
                      </a:lnTo>
                      <a:lnTo>
                        <a:pt x="1" y="0"/>
                      </a:lnTo>
                      <a:lnTo>
                        <a:pt x="1" y="1"/>
                      </a:lnTo>
                      <a:lnTo>
                        <a:pt x="1" y="1"/>
                      </a:lnTo>
                      <a:lnTo>
                        <a:pt x="0" y="1"/>
                      </a:lnTo>
                      <a:lnTo>
                        <a:pt x="0" y="2"/>
                      </a:lnTo>
                      <a:lnTo>
                        <a:pt x="0" y="2"/>
                      </a:lnTo>
                      <a:lnTo>
                        <a:pt x="0" y="2"/>
                      </a:lnTo>
                      <a:lnTo>
                        <a:pt x="0" y="3"/>
                      </a:lnTo>
                      <a:lnTo>
                        <a:pt x="1" y="3"/>
                      </a:lnTo>
                      <a:lnTo>
                        <a:pt x="1" y="3"/>
                      </a:lnTo>
                      <a:lnTo>
                        <a:pt x="1" y="4"/>
                      </a:lnTo>
                      <a:lnTo>
                        <a:pt x="1" y="4"/>
                      </a:lnTo>
                      <a:lnTo>
                        <a:pt x="2" y="4"/>
                      </a:lnTo>
                      <a:lnTo>
                        <a:pt x="2" y="4"/>
                      </a:lnTo>
                      <a:lnTo>
                        <a:pt x="4" y="4"/>
                      </a:lnTo>
                      <a:lnTo>
                        <a:pt x="4" y="4"/>
                      </a:lnTo>
                      <a:lnTo>
                        <a:pt x="4" y="4"/>
                      </a:lnTo>
                      <a:lnTo>
                        <a:pt x="5" y="3"/>
                      </a:lnTo>
                      <a:lnTo>
                        <a:pt x="5" y="3"/>
                      </a:lnTo>
                      <a:lnTo>
                        <a:pt x="5" y="3"/>
                      </a:lnTo>
                      <a:lnTo>
                        <a:pt x="5" y="2"/>
                      </a:lnTo>
                      <a:lnTo>
                        <a:pt x="5" y="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83" name="Freeform 4971"/>
                <p:cNvSpPr>
                  <a:spLocks noChangeAspect="1"/>
                </p:cNvSpPr>
                <p:nvPr/>
              </p:nvSpPr>
              <p:spPr bwMode="auto">
                <a:xfrm>
                  <a:off x="3498" y="3526"/>
                  <a:ext cx="49" cy="49"/>
                </a:xfrm>
                <a:custGeom>
                  <a:avLst/>
                  <a:gdLst>
                    <a:gd name="T0" fmla="*/ 80 w 145"/>
                    <a:gd name="T1" fmla="*/ 0 h 145"/>
                    <a:gd name="T2" fmla="*/ 94 w 145"/>
                    <a:gd name="T3" fmla="*/ 4 h 145"/>
                    <a:gd name="T4" fmla="*/ 108 w 145"/>
                    <a:gd name="T5" fmla="*/ 9 h 145"/>
                    <a:gd name="T6" fmla="*/ 119 w 145"/>
                    <a:gd name="T7" fmla="*/ 16 h 145"/>
                    <a:gd name="T8" fmla="*/ 129 w 145"/>
                    <a:gd name="T9" fmla="*/ 27 h 145"/>
                    <a:gd name="T10" fmla="*/ 136 w 145"/>
                    <a:gd name="T11" fmla="*/ 38 h 145"/>
                    <a:gd name="T12" fmla="*/ 142 w 145"/>
                    <a:gd name="T13" fmla="*/ 51 h 145"/>
                    <a:gd name="T14" fmla="*/ 145 w 145"/>
                    <a:gd name="T15" fmla="*/ 65 h 145"/>
                    <a:gd name="T16" fmla="*/ 145 w 145"/>
                    <a:gd name="T17" fmla="*/ 80 h 145"/>
                    <a:gd name="T18" fmla="*/ 142 w 145"/>
                    <a:gd name="T19" fmla="*/ 94 h 145"/>
                    <a:gd name="T20" fmla="*/ 136 w 145"/>
                    <a:gd name="T21" fmla="*/ 107 h 145"/>
                    <a:gd name="T22" fmla="*/ 129 w 145"/>
                    <a:gd name="T23" fmla="*/ 118 h 145"/>
                    <a:gd name="T24" fmla="*/ 119 w 145"/>
                    <a:gd name="T25" fmla="*/ 129 h 145"/>
                    <a:gd name="T26" fmla="*/ 108 w 145"/>
                    <a:gd name="T27" fmla="*/ 137 h 145"/>
                    <a:gd name="T28" fmla="*/ 94 w 145"/>
                    <a:gd name="T29" fmla="*/ 142 h 145"/>
                    <a:gd name="T30" fmla="*/ 80 w 145"/>
                    <a:gd name="T31" fmla="*/ 145 h 145"/>
                    <a:gd name="T32" fmla="*/ 65 w 145"/>
                    <a:gd name="T33" fmla="*/ 145 h 145"/>
                    <a:gd name="T34" fmla="*/ 51 w 145"/>
                    <a:gd name="T35" fmla="*/ 142 h 145"/>
                    <a:gd name="T36" fmla="*/ 38 w 145"/>
                    <a:gd name="T37" fmla="*/ 137 h 145"/>
                    <a:gd name="T38" fmla="*/ 27 w 145"/>
                    <a:gd name="T39" fmla="*/ 129 h 145"/>
                    <a:gd name="T40" fmla="*/ 17 w 145"/>
                    <a:gd name="T41" fmla="*/ 118 h 145"/>
                    <a:gd name="T42" fmla="*/ 9 w 145"/>
                    <a:gd name="T43" fmla="*/ 107 h 145"/>
                    <a:gd name="T44" fmla="*/ 3 w 145"/>
                    <a:gd name="T45" fmla="*/ 94 h 145"/>
                    <a:gd name="T46" fmla="*/ 0 w 145"/>
                    <a:gd name="T47" fmla="*/ 80 h 145"/>
                    <a:gd name="T48" fmla="*/ 0 w 145"/>
                    <a:gd name="T49" fmla="*/ 65 h 145"/>
                    <a:gd name="T50" fmla="*/ 3 w 145"/>
                    <a:gd name="T51" fmla="*/ 51 h 145"/>
                    <a:gd name="T52" fmla="*/ 9 w 145"/>
                    <a:gd name="T53" fmla="*/ 38 h 145"/>
                    <a:gd name="T54" fmla="*/ 17 w 145"/>
                    <a:gd name="T55" fmla="*/ 27 h 145"/>
                    <a:gd name="T56" fmla="*/ 27 w 145"/>
                    <a:gd name="T57" fmla="*/ 16 h 145"/>
                    <a:gd name="T58" fmla="*/ 38 w 145"/>
                    <a:gd name="T59" fmla="*/ 9 h 145"/>
                    <a:gd name="T60" fmla="*/ 51 w 145"/>
                    <a:gd name="T61" fmla="*/ 4 h 145"/>
                    <a:gd name="T62" fmla="*/ 65 w 145"/>
                    <a:gd name="T6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5" h="145">
                      <a:moveTo>
                        <a:pt x="72" y="0"/>
                      </a:moveTo>
                      <a:lnTo>
                        <a:pt x="80" y="0"/>
                      </a:lnTo>
                      <a:lnTo>
                        <a:pt x="87" y="2"/>
                      </a:lnTo>
                      <a:lnTo>
                        <a:pt x="94" y="4"/>
                      </a:lnTo>
                      <a:lnTo>
                        <a:pt x="101" y="6"/>
                      </a:lnTo>
                      <a:lnTo>
                        <a:pt x="108" y="9"/>
                      </a:lnTo>
                      <a:lnTo>
                        <a:pt x="113" y="12"/>
                      </a:lnTo>
                      <a:lnTo>
                        <a:pt x="119" y="16"/>
                      </a:lnTo>
                      <a:lnTo>
                        <a:pt x="124" y="22"/>
                      </a:lnTo>
                      <a:lnTo>
                        <a:pt x="129" y="27"/>
                      </a:lnTo>
                      <a:lnTo>
                        <a:pt x="133" y="32"/>
                      </a:lnTo>
                      <a:lnTo>
                        <a:pt x="136" y="38"/>
                      </a:lnTo>
                      <a:lnTo>
                        <a:pt x="139" y="44"/>
                      </a:lnTo>
                      <a:lnTo>
                        <a:pt x="142" y="51"/>
                      </a:lnTo>
                      <a:lnTo>
                        <a:pt x="144" y="58"/>
                      </a:lnTo>
                      <a:lnTo>
                        <a:pt x="145" y="65"/>
                      </a:lnTo>
                      <a:lnTo>
                        <a:pt x="145" y="73"/>
                      </a:lnTo>
                      <a:lnTo>
                        <a:pt x="145" y="80"/>
                      </a:lnTo>
                      <a:lnTo>
                        <a:pt x="144" y="88"/>
                      </a:lnTo>
                      <a:lnTo>
                        <a:pt x="142" y="94"/>
                      </a:lnTo>
                      <a:lnTo>
                        <a:pt x="139" y="100"/>
                      </a:lnTo>
                      <a:lnTo>
                        <a:pt x="136" y="107"/>
                      </a:lnTo>
                      <a:lnTo>
                        <a:pt x="133" y="113"/>
                      </a:lnTo>
                      <a:lnTo>
                        <a:pt x="129" y="118"/>
                      </a:lnTo>
                      <a:lnTo>
                        <a:pt x="124" y="124"/>
                      </a:lnTo>
                      <a:lnTo>
                        <a:pt x="119" y="129"/>
                      </a:lnTo>
                      <a:lnTo>
                        <a:pt x="113" y="132"/>
                      </a:lnTo>
                      <a:lnTo>
                        <a:pt x="108" y="137"/>
                      </a:lnTo>
                      <a:lnTo>
                        <a:pt x="101" y="140"/>
                      </a:lnTo>
                      <a:lnTo>
                        <a:pt x="94" y="142"/>
                      </a:lnTo>
                      <a:lnTo>
                        <a:pt x="87" y="144"/>
                      </a:lnTo>
                      <a:lnTo>
                        <a:pt x="80" y="145"/>
                      </a:lnTo>
                      <a:lnTo>
                        <a:pt x="72" y="145"/>
                      </a:lnTo>
                      <a:lnTo>
                        <a:pt x="65" y="145"/>
                      </a:lnTo>
                      <a:lnTo>
                        <a:pt x="58" y="144"/>
                      </a:lnTo>
                      <a:lnTo>
                        <a:pt x="51" y="142"/>
                      </a:lnTo>
                      <a:lnTo>
                        <a:pt x="45" y="140"/>
                      </a:lnTo>
                      <a:lnTo>
                        <a:pt x="38" y="137"/>
                      </a:lnTo>
                      <a:lnTo>
                        <a:pt x="32" y="132"/>
                      </a:lnTo>
                      <a:lnTo>
                        <a:pt x="27" y="129"/>
                      </a:lnTo>
                      <a:lnTo>
                        <a:pt x="21" y="124"/>
                      </a:lnTo>
                      <a:lnTo>
                        <a:pt x="17" y="118"/>
                      </a:lnTo>
                      <a:lnTo>
                        <a:pt x="13" y="113"/>
                      </a:lnTo>
                      <a:lnTo>
                        <a:pt x="9" y="107"/>
                      </a:lnTo>
                      <a:lnTo>
                        <a:pt x="5" y="100"/>
                      </a:lnTo>
                      <a:lnTo>
                        <a:pt x="3" y="94"/>
                      </a:lnTo>
                      <a:lnTo>
                        <a:pt x="1" y="88"/>
                      </a:lnTo>
                      <a:lnTo>
                        <a:pt x="0" y="80"/>
                      </a:lnTo>
                      <a:lnTo>
                        <a:pt x="0" y="73"/>
                      </a:lnTo>
                      <a:lnTo>
                        <a:pt x="0" y="65"/>
                      </a:lnTo>
                      <a:lnTo>
                        <a:pt x="1" y="58"/>
                      </a:lnTo>
                      <a:lnTo>
                        <a:pt x="3" y="51"/>
                      </a:lnTo>
                      <a:lnTo>
                        <a:pt x="5" y="44"/>
                      </a:lnTo>
                      <a:lnTo>
                        <a:pt x="9" y="38"/>
                      </a:lnTo>
                      <a:lnTo>
                        <a:pt x="13" y="32"/>
                      </a:lnTo>
                      <a:lnTo>
                        <a:pt x="17" y="27"/>
                      </a:lnTo>
                      <a:lnTo>
                        <a:pt x="21" y="22"/>
                      </a:lnTo>
                      <a:lnTo>
                        <a:pt x="27" y="16"/>
                      </a:lnTo>
                      <a:lnTo>
                        <a:pt x="32" y="12"/>
                      </a:lnTo>
                      <a:lnTo>
                        <a:pt x="38" y="9"/>
                      </a:lnTo>
                      <a:lnTo>
                        <a:pt x="45" y="6"/>
                      </a:lnTo>
                      <a:lnTo>
                        <a:pt x="51" y="4"/>
                      </a:lnTo>
                      <a:lnTo>
                        <a:pt x="58" y="2"/>
                      </a:lnTo>
                      <a:lnTo>
                        <a:pt x="65" y="0"/>
                      </a:lnTo>
                      <a:lnTo>
                        <a:pt x="72" y="0"/>
                      </a:lnTo>
                    </a:path>
                  </a:pathLst>
                </a:custGeom>
                <a:gradFill rotWithShape="0">
                  <a:gsLst>
                    <a:gs pos="0">
                      <a:schemeClr val="hlink"/>
                    </a:gs>
                    <a:gs pos="100000">
                      <a:schemeClr val="hlink">
                        <a:gamma/>
                        <a:tint val="40000"/>
                        <a:invGamma/>
                      </a:schemeClr>
                    </a:gs>
                  </a:gsLst>
                  <a:lin ang="0" scaled="1"/>
                </a:gradFill>
                <a:ln w="1588">
                  <a:solidFill>
                    <a:srgbClr val="1F1A17"/>
                  </a:solidFill>
                  <a:prstDash val="solid"/>
                  <a:round/>
                  <a:headEnd/>
                  <a:tailEnd/>
                </a:ln>
              </p:spPr>
              <p:txBody>
                <a:bodyPr/>
                <a:lstStyle/>
                <a:p>
                  <a:pPr>
                    <a:defRPr/>
                  </a:pPr>
                  <a:endParaRPr lang="en-US"/>
                </a:p>
              </p:txBody>
            </p:sp>
            <p:sp>
              <p:nvSpPr>
                <p:cNvPr id="69484" name="Freeform 4972"/>
                <p:cNvSpPr>
                  <a:spLocks noChangeAspect="1"/>
                </p:cNvSpPr>
                <p:nvPr/>
              </p:nvSpPr>
              <p:spPr bwMode="auto">
                <a:xfrm>
                  <a:off x="3279" y="3412"/>
                  <a:ext cx="9" cy="15"/>
                </a:xfrm>
                <a:custGeom>
                  <a:avLst/>
                  <a:gdLst>
                    <a:gd name="T0" fmla="*/ 28 w 28"/>
                    <a:gd name="T1" fmla="*/ 0 h 46"/>
                    <a:gd name="T2" fmla="*/ 0 w 28"/>
                    <a:gd name="T3" fmla="*/ 46 h 46"/>
                    <a:gd name="T4" fmla="*/ 0 w 28"/>
                    <a:gd name="T5" fmla="*/ 0 h 46"/>
                    <a:gd name="T6" fmla="*/ 28 w 28"/>
                    <a:gd name="T7" fmla="*/ 0 h 46"/>
                  </a:gdLst>
                  <a:ahLst/>
                  <a:cxnLst>
                    <a:cxn ang="0">
                      <a:pos x="T0" y="T1"/>
                    </a:cxn>
                    <a:cxn ang="0">
                      <a:pos x="T2" y="T3"/>
                    </a:cxn>
                    <a:cxn ang="0">
                      <a:pos x="T4" y="T5"/>
                    </a:cxn>
                    <a:cxn ang="0">
                      <a:pos x="T6" y="T7"/>
                    </a:cxn>
                  </a:cxnLst>
                  <a:rect l="0" t="0" r="r" b="b"/>
                  <a:pathLst>
                    <a:path w="28" h="46">
                      <a:moveTo>
                        <a:pt x="28" y="0"/>
                      </a:moveTo>
                      <a:lnTo>
                        <a:pt x="0" y="46"/>
                      </a:lnTo>
                      <a:lnTo>
                        <a:pt x="0" y="0"/>
                      </a:lnTo>
                      <a:lnTo>
                        <a:pt x="28" y="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85" name="Freeform 4973"/>
                <p:cNvSpPr>
                  <a:spLocks noChangeAspect="1"/>
                </p:cNvSpPr>
                <p:nvPr/>
              </p:nvSpPr>
              <p:spPr bwMode="auto">
                <a:xfrm>
                  <a:off x="3279" y="3412"/>
                  <a:ext cx="18" cy="29"/>
                </a:xfrm>
                <a:custGeom>
                  <a:avLst/>
                  <a:gdLst>
                    <a:gd name="T0" fmla="*/ 55 w 55"/>
                    <a:gd name="T1" fmla="*/ 0 h 91"/>
                    <a:gd name="T2" fmla="*/ 0 w 55"/>
                    <a:gd name="T3" fmla="*/ 91 h 91"/>
                    <a:gd name="T4" fmla="*/ 0 w 55"/>
                    <a:gd name="T5" fmla="*/ 0 h 91"/>
                    <a:gd name="T6" fmla="*/ 55 w 55"/>
                    <a:gd name="T7" fmla="*/ 0 h 91"/>
                  </a:gdLst>
                  <a:ahLst/>
                  <a:cxnLst>
                    <a:cxn ang="0">
                      <a:pos x="T0" y="T1"/>
                    </a:cxn>
                    <a:cxn ang="0">
                      <a:pos x="T2" y="T3"/>
                    </a:cxn>
                    <a:cxn ang="0">
                      <a:pos x="T4" y="T5"/>
                    </a:cxn>
                    <a:cxn ang="0">
                      <a:pos x="T6" y="T7"/>
                    </a:cxn>
                  </a:cxnLst>
                  <a:rect l="0" t="0" r="r" b="b"/>
                  <a:pathLst>
                    <a:path w="55" h="91">
                      <a:moveTo>
                        <a:pt x="55" y="0"/>
                      </a:moveTo>
                      <a:lnTo>
                        <a:pt x="0" y="91"/>
                      </a:lnTo>
                      <a:lnTo>
                        <a:pt x="0" y="0"/>
                      </a:lnTo>
                      <a:lnTo>
                        <a:pt x="55" y="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86" name="Freeform 4974"/>
                <p:cNvSpPr>
                  <a:spLocks noChangeAspect="1"/>
                </p:cNvSpPr>
                <p:nvPr/>
              </p:nvSpPr>
              <p:spPr bwMode="auto">
                <a:xfrm>
                  <a:off x="3279" y="3412"/>
                  <a:ext cx="27" cy="45"/>
                </a:xfrm>
                <a:custGeom>
                  <a:avLst/>
                  <a:gdLst>
                    <a:gd name="T0" fmla="*/ 0 w 81"/>
                    <a:gd name="T1" fmla="*/ 46 h 138"/>
                    <a:gd name="T2" fmla="*/ 28 w 81"/>
                    <a:gd name="T3" fmla="*/ 0 h 138"/>
                    <a:gd name="T4" fmla="*/ 81 w 81"/>
                    <a:gd name="T5" fmla="*/ 0 h 138"/>
                    <a:gd name="T6" fmla="*/ 0 w 81"/>
                    <a:gd name="T7" fmla="*/ 138 h 138"/>
                    <a:gd name="T8" fmla="*/ 0 w 81"/>
                    <a:gd name="T9" fmla="*/ 46 h 138"/>
                  </a:gdLst>
                  <a:ahLst/>
                  <a:cxnLst>
                    <a:cxn ang="0">
                      <a:pos x="T0" y="T1"/>
                    </a:cxn>
                    <a:cxn ang="0">
                      <a:pos x="T2" y="T3"/>
                    </a:cxn>
                    <a:cxn ang="0">
                      <a:pos x="T4" y="T5"/>
                    </a:cxn>
                    <a:cxn ang="0">
                      <a:pos x="T6" y="T7"/>
                    </a:cxn>
                    <a:cxn ang="0">
                      <a:pos x="T8" y="T9"/>
                    </a:cxn>
                  </a:cxnLst>
                  <a:rect l="0" t="0" r="r" b="b"/>
                  <a:pathLst>
                    <a:path w="81" h="138">
                      <a:moveTo>
                        <a:pt x="0" y="46"/>
                      </a:moveTo>
                      <a:lnTo>
                        <a:pt x="28" y="0"/>
                      </a:lnTo>
                      <a:lnTo>
                        <a:pt x="81" y="0"/>
                      </a:lnTo>
                      <a:lnTo>
                        <a:pt x="0" y="138"/>
                      </a:lnTo>
                      <a:lnTo>
                        <a:pt x="0" y="4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87" name="Freeform 4975"/>
                <p:cNvSpPr>
                  <a:spLocks noChangeAspect="1"/>
                </p:cNvSpPr>
                <p:nvPr/>
              </p:nvSpPr>
              <p:spPr bwMode="auto">
                <a:xfrm>
                  <a:off x="3279" y="3412"/>
                  <a:ext cx="36" cy="61"/>
                </a:xfrm>
                <a:custGeom>
                  <a:avLst/>
                  <a:gdLst>
                    <a:gd name="T0" fmla="*/ 0 w 108"/>
                    <a:gd name="T1" fmla="*/ 91 h 184"/>
                    <a:gd name="T2" fmla="*/ 55 w 108"/>
                    <a:gd name="T3" fmla="*/ 0 h 184"/>
                    <a:gd name="T4" fmla="*/ 108 w 108"/>
                    <a:gd name="T5" fmla="*/ 0 h 184"/>
                    <a:gd name="T6" fmla="*/ 0 w 108"/>
                    <a:gd name="T7" fmla="*/ 184 h 184"/>
                    <a:gd name="T8" fmla="*/ 0 w 108"/>
                    <a:gd name="T9" fmla="*/ 91 h 184"/>
                  </a:gdLst>
                  <a:ahLst/>
                  <a:cxnLst>
                    <a:cxn ang="0">
                      <a:pos x="T0" y="T1"/>
                    </a:cxn>
                    <a:cxn ang="0">
                      <a:pos x="T2" y="T3"/>
                    </a:cxn>
                    <a:cxn ang="0">
                      <a:pos x="T4" y="T5"/>
                    </a:cxn>
                    <a:cxn ang="0">
                      <a:pos x="T6" y="T7"/>
                    </a:cxn>
                    <a:cxn ang="0">
                      <a:pos x="T8" y="T9"/>
                    </a:cxn>
                  </a:cxnLst>
                  <a:rect l="0" t="0" r="r" b="b"/>
                  <a:pathLst>
                    <a:path w="108" h="184">
                      <a:moveTo>
                        <a:pt x="0" y="91"/>
                      </a:moveTo>
                      <a:lnTo>
                        <a:pt x="55" y="0"/>
                      </a:lnTo>
                      <a:lnTo>
                        <a:pt x="108" y="0"/>
                      </a:lnTo>
                      <a:lnTo>
                        <a:pt x="0" y="184"/>
                      </a:lnTo>
                      <a:lnTo>
                        <a:pt x="0" y="9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88" name="Freeform 4976"/>
                <p:cNvSpPr>
                  <a:spLocks noChangeAspect="1"/>
                </p:cNvSpPr>
                <p:nvPr/>
              </p:nvSpPr>
              <p:spPr bwMode="auto">
                <a:xfrm>
                  <a:off x="3279" y="3412"/>
                  <a:ext cx="45" cy="77"/>
                </a:xfrm>
                <a:custGeom>
                  <a:avLst/>
                  <a:gdLst>
                    <a:gd name="T0" fmla="*/ 0 w 134"/>
                    <a:gd name="T1" fmla="*/ 138 h 231"/>
                    <a:gd name="T2" fmla="*/ 81 w 134"/>
                    <a:gd name="T3" fmla="*/ 0 h 231"/>
                    <a:gd name="T4" fmla="*/ 134 w 134"/>
                    <a:gd name="T5" fmla="*/ 0 h 231"/>
                    <a:gd name="T6" fmla="*/ 0 w 134"/>
                    <a:gd name="T7" fmla="*/ 231 h 231"/>
                    <a:gd name="T8" fmla="*/ 0 w 134"/>
                    <a:gd name="T9" fmla="*/ 138 h 231"/>
                  </a:gdLst>
                  <a:ahLst/>
                  <a:cxnLst>
                    <a:cxn ang="0">
                      <a:pos x="T0" y="T1"/>
                    </a:cxn>
                    <a:cxn ang="0">
                      <a:pos x="T2" y="T3"/>
                    </a:cxn>
                    <a:cxn ang="0">
                      <a:pos x="T4" y="T5"/>
                    </a:cxn>
                    <a:cxn ang="0">
                      <a:pos x="T6" y="T7"/>
                    </a:cxn>
                    <a:cxn ang="0">
                      <a:pos x="T8" y="T9"/>
                    </a:cxn>
                  </a:cxnLst>
                  <a:rect l="0" t="0" r="r" b="b"/>
                  <a:pathLst>
                    <a:path w="134" h="231">
                      <a:moveTo>
                        <a:pt x="0" y="138"/>
                      </a:moveTo>
                      <a:lnTo>
                        <a:pt x="81" y="0"/>
                      </a:lnTo>
                      <a:lnTo>
                        <a:pt x="134" y="0"/>
                      </a:lnTo>
                      <a:lnTo>
                        <a:pt x="0" y="231"/>
                      </a:lnTo>
                      <a:lnTo>
                        <a:pt x="0" y="13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89" name="Freeform 4977"/>
                <p:cNvSpPr>
                  <a:spLocks noChangeAspect="1"/>
                </p:cNvSpPr>
                <p:nvPr/>
              </p:nvSpPr>
              <p:spPr bwMode="auto">
                <a:xfrm>
                  <a:off x="3279" y="3412"/>
                  <a:ext cx="54" cy="92"/>
                </a:xfrm>
                <a:custGeom>
                  <a:avLst/>
                  <a:gdLst>
                    <a:gd name="T0" fmla="*/ 0 w 161"/>
                    <a:gd name="T1" fmla="*/ 184 h 276"/>
                    <a:gd name="T2" fmla="*/ 108 w 161"/>
                    <a:gd name="T3" fmla="*/ 0 h 276"/>
                    <a:gd name="T4" fmla="*/ 161 w 161"/>
                    <a:gd name="T5" fmla="*/ 0 h 276"/>
                    <a:gd name="T6" fmla="*/ 0 w 161"/>
                    <a:gd name="T7" fmla="*/ 276 h 276"/>
                    <a:gd name="T8" fmla="*/ 0 w 161"/>
                    <a:gd name="T9" fmla="*/ 184 h 276"/>
                  </a:gdLst>
                  <a:ahLst/>
                  <a:cxnLst>
                    <a:cxn ang="0">
                      <a:pos x="T0" y="T1"/>
                    </a:cxn>
                    <a:cxn ang="0">
                      <a:pos x="T2" y="T3"/>
                    </a:cxn>
                    <a:cxn ang="0">
                      <a:pos x="T4" y="T5"/>
                    </a:cxn>
                    <a:cxn ang="0">
                      <a:pos x="T6" y="T7"/>
                    </a:cxn>
                    <a:cxn ang="0">
                      <a:pos x="T8" y="T9"/>
                    </a:cxn>
                  </a:cxnLst>
                  <a:rect l="0" t="0" r="r" b="b"/>
                  <a:pathLst>
                    <a:path w="161" h="276">
                      <a:moveTo>
                        <a:pt x="0" y="184"/>
                      </a:moveTo>
                      <a:lnTo>
                        <a:pt x="108" y="0"/>
                      </a:lnTo>
                      <a:lnTo>
                        <a:pt x="161" y="0"/>
                      </a:lnTo>
                      <a:lnTo>
                        <a:pt x="0" y="276"/>
                      </a:lnTo>
                      <a:lnTo>
                        <a:pt x="0" y="18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90" name="Freeform 4978"/>
                <p:cNvSpPr>
                  <a:spLocks noChangeAspect="1"/>
                </p:cNvSpPr>
                <p:nvPr/>
              </p:nvSpPr>
              <p:spPr bwMode="auto">
                <a:xfrm>
                  <a:off x="3279" y="3412"/>
                  <a:ext cx="63" cy="108"/>
                </a:xfrm>
                <a:custGeom>
                  <a:avLst/>
                  <a:gdLst>
                    <a:gd name="T0" fmla="*/ 0 w 188"/>
                    <a:gd name="T1" fmla="*/ 231 h 323"/>
                    <a:gd name="T2" fmla="*/ 134 w 188"/>
                    <a:gd name="T3" fmla="*/ 0 h 323"/>
                    <a:gd name="T4" fmla="*/ 188 w 188"/>
                    <a:gd name="T5" fmla="*/ 0 h 323"/>
                    <a:gd name="T6" fmla="*/ 0 w 188"/>
                    <a:gd name="T7" fmla="*/ 323 h 323"/>
                    <a:gd name="T8" fmla="*/ 0 w 188"/>
                    <a:gd name="T9" fmla="*/ 231 h 323"/>
                  </a:gdLst>
                  <a:ahLst/>
                  <a:cxnLst>
                    <a:cxn ang="0">
                      <a:pos x="T0" y="T1"/>
                    </a:cxn>
                    <a:cxn ang="0">
                      <a:pos x="T2" y="T3"/>
                    </a:cxn>
                    <a:cxn ang="0">
                      <a:pos x="T4" y="T5"/>
                    </a:cxn>
                    <a:cxn ang="0">
                      <a:pos x="T6" y="T7"/>
                    </a:cxn>
                    <a:cxn ang="0">
                      <a:pos x="T8" y="T9"/>
                    </a:cxn>
                  </a:cxnLst>
                  <a:rect l="0" t="0" r="r" b="b"/>
                  <a:pathLst>
                    <a:path w="188" h="323">
                      <a:moveTo>
                        <a:pt x="0" y="231"/>
                      </a:moveTo>
                      <a:lnTo>
                        <a:pt x="134" y="0"/>
                      </a:lnTo>
                      <a:lnTo>
                        <a:pt x="188" y="0"/>
                      </a:lnTo>
                      <a:lnTo>
                        <a:pt x="0" y="323"/>
                      </a:lnTo>
                      <a:lnTo>
                        <a:pt x="0" y="23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91" name="Freeform 4979"/>
                <p:cNvSpPr>
                  <a:spLocks noChangeAspect="1"/>
                </p:cNvSpPr>
                <p:nvPr/>
              </p:nvSpPr>
              <p:spPr bwMode="auto">
                <a:xfrm>
                  <a:off x="3279" y="3412"/>
                  <a:ext cx="71" cy="123"/>
                </a:xfrm>
                <a:custGeom>
                  <a:avLst/>
                  <a:gdLst>
                    <a:gd name="T0" fmla="*/ 0 w 214"/>
                    <a:gd name="T1" fmla="*/ 276 h 369"/>
                    <a:gd name="T2" fmla="*/ 161 w 214"/>
                    <a:gd name="T3" fmla="*/ 0 h 369"/>
                    <a:gd name="T4" fmla="*/ 214 w 214"/>
                    <a:gd name="T5" fmla="*/ 0 h 369"/>
                    <a:gd name="T6" fmla="*/ 0 w 214"/>
                    <a:gd name="T7" fmla="*/ 369 h 369"/>
                    <a:gd name="T8" fmla="*/ 0 w 214"/>
                    <a:gd name="T9" fmla="*/ 276 h 369"/>
                  </a:gdLst>
                  <a:ahLst/>
                  <a:cxnLst>
                    <a:cxn ang="0">
                      <a:pos x="T0" y="T1"/>
                    </a:cxn>
                    <a:cxn ang="0">
                      <a:pos x="T2" y="T3"/>
                    </a:cxn>
                    <a:cxn ang="0">
                      <a:pos x="T4" y="T5"/>
                    </a:cxn>
                    <a:cxn ang="0">
                      <a:pos x="T6" y="T7"/>
                    </a:cxn>
                    <a:cxn ang="0">
                      <a:pos x="T8" y="T9"/>
                    </a:cxn>
                  </a:cxnLst>
                  <a:rect l="0" t="0" r="r" b="b"/>
                  <a:pathLst>
                    <a:path w="214" h="369">
                      <a:moveTo>
                        <a:pt x="0" y="276"/>
                      </a:moveTo>
                      <a:lnTo>
                        <a:pt x="161" y="0"/>
                      </a:lnTo>
                      <a:lnTo>
                        <a:pt x="214" y="0"/>
                      </a:lnTo>
                      <a:lnTo>
                        <a:pt x="0" y="369"/>
                      </a:lnTo>
                      <a:lnTo>
                        <a:pt x="0" y="27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92" name="Freeform 4980"/>
                <p:cNvSpPr>
                  <a:spLocks noChangeAspect="1"/>
                </p:cNvSpPr>
                <p:nvPr/>
              </p:nvSpPr>
              <p:spPr bwMode="auto">
                <a:xfrm>
                  <a:off x="3279" y="3412"/>
                  <a:ext cx="80" cy="139"/>
                </a:xfrm>
                <a:custGeom>
                  <a:avLst/>
                  <a:gdLst>
                    <a:gd name="T0" fmla="*/ 0 w 241"/>
                    <a:gd name="T1" fmla="*/ 323 h 416"/>
                    <a:gd name="T2" fmla="*/ 188 w 241"/>
                    <a:gd name="T3" fmla="*/ 0 h 416"/>
                    <a:gd name="T4" fmla="*/ 241 w 241"/>
                    <a:gd name="T5" fmla="*/ 0 h 416"/>
                    <a:gd name="T6" fmla="*/ 0 w 241"/>
                    <a:gd name="T7" fmla="*/ 416 h 416"/>
                    <a:gd name="T8" fmla="*/ 0 w 241"/>
                    <a:gd name="T9" fmla="*/ 323 h 416"/>
                  </a:gdLst>
                  <a:ahLst/>
                  <a:cxnLst>
                    <a:cxn ang="0">
                      <a:pos x="T0" y="T1"/>
                    </a:cxn>
                    <a:cxn ang="0">
                      <a:pos x="T2" y="T3"/>
                    </a:cxn>
                    <a:cxn ang="0">
                      <a:pos x="T4" y="T5"/>
                    </a:cxn>
                    <a:cxn ang="0">
                      <a:pos x="T6" y="T7"/>
                    </a:cxn>
                    <a:cxn ang="0">
                      <a:pos x="T8" y="T9"/>
                    </a:cxn>
                  </a:cxnLst>
                  <a:rect l="0" t="0" r="r" b="b"/>
                  <a:pathLst>
                    <a:path w="241" h="416">
                      <a:moveTo>
                        <a:pt x="0" y="323"/>
                      </a:moveTo>
                      <a:lnTo>
                        <a:pt x="188" y="0"/>
                      </a:lnTo>
                      <a:lnTo>
                        <a:pt x="241" y="0"/>
                      </a:lnTo>
                      <a:lnTo>
                        <a:pt x="0" y="416"/>
                      </a:lnTo>
                      <a:lnTo>
                        <a:pt x="0" y="32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93" name="Freeform 4981"/>
                <p:cNvSpPr>
                  <a:spLocks noChangeAspect="1"/>
                </p:cNvSpPr>
                <p:nvPr/>
              </p:nvSpPr>
              <p:spPr bwMode="auto">
                <a:xfrm>
                  <a:off x="3279" y="3412"/>
                  <a:ext cx="89" cy="154"/>
                </a:xfrm>
                <a:custGeom>
                  <a:avLst/>
                  <a:gdLst>
                    <a:gd name="T0" fmla="*/ 0 w 268"/>
                    <a:gd name="T1" fmla="*/ 369 h 461"/>
                    <a:gd name="T2" fmla="*/ 214 w 268"/>
                    <a:gd name="T3" fmla="*/ 0 h 461"/>
                    <a:gd name="T4" fmla="*/ 268 w 268"/>
                    <a:gd name="T5" fmla="*/ 0 h 461"/>
                    <a:gd name="T6" fmla="*/ 0 w 268"/>
                    <a:gd name="T7" fmla="*/ 461 h 461"/>
                    <a:gd name="T8" fmla="*/ 0 w 268"/>
                    <a:gd name="T9" fmla="*/ 369 h 461"/>
                  </a:gdLst>
                  <a:ahLst/>
                  <a:cxnLst>
                    <a:cxn ang="0">
                      <a:pos x="T0" y="T1"/>
                    </a:cxn>
                    <a:cxn ang="0">
                      <a:pos x="T2" y="T3"/>
                    </a:cxn>
                    <a:cxn ang="0">
                      <a:pos x="T4" y="T5"/>
                    </a:cxn>
                    <a:cxn ang="0">
                      <a:pos x="T6" y="T7"/>
                    </a:cxn>
                    <a:cxn ang="0">
                      <a:pos x="T8" y="T9"/>
                    </a:cxn>
                  </a:cxnLst>
                  <a:rect l="0" t="0" r="r" b="b"/>
                  <a:pathLst>
                    <a:path w="268" h="461">
                      <a:moveTo>
                        <a:pt x="0" y="369"/>
                      </a:moveTo>
                      <a:lnTo>
                        <a:pt x="214" y="0"/>
                      </a:lnTo>
                      <a:lnTo>
                        <a:pt x="268" y="0"/>
                      </a:lnTo>
                      <a:lnTo>
                        <a:pt x="0" y="461"/>
                      </a:lnTo>
                      <a:lnTo>
                        <a:pt x="0" y="36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94" name="Freeform 4982"/>
                <p:cNvSpPr>
                  <a:spLocks noChangeAspect="1"/>
                </p:cNvSpPr>
                <p:nvPr/>
              </p:nvSpPr>
              <p:spPr bwMode="auto">
                <a:xfrm>
                  <a:off x="3279" y="3412"/>
                  <a:ext cx="98" cy="168"/>
                </a:xfrm>
                <a:custGeom>
                  <a:avLst/>
                  <a:gdLst>
                    <a:gd name="T0" fmla="*/ 0 w 294"/>
                    <a:gd name="T1" fmla="*/ 416 h 507"/>
                    <a:gd name="T2" fmla="*/ 241 w 294"/>
                    <a:gd name="T3" fmla="*/ 0 h 507"/>
                    <a:gd name="T4" fmla="*/ 294 w 294"/>
                    <a:gd name="T5" fmla="*/ 0 h 507"/>
                    <a:gd name="T6" fmla="*/ 0 w 294"/>
                    <a:gd name="T7" fmla="*/ 507 h 507"/>
                    <a:gd name="T8" fmla="*/ 0 w 294"/>
                    <a:gd name="T9" fmla="*/ 416 h 507"/>
                  </a:gdLst>
                  <a:ahLst/>
                  <a:cxnLst>
                    <a:cxn ang="0">
                      <a:pos x="T0" y="T1"/>
                    </a:cxn>
                    <a:cxn ang="0">
                      <a:pos x="T2" y="T3"/>
                    </a:cxn>
                    <a:cxn ang="0">
                      <a:pos x="T4" y="T5"/>
                    </a:cxn>
                    <a:cxn ang="0">
                      <a:pos x="T6" y="T7"/>
                    </a:cxn>
                    <a:cxn ang="0">
                      <a:pos x="T8" y="T9"/>
                    </a:cxn>
                  </a:cxnLst>
                  <a:rect l="0" t="0" r="r" b="b"/>
                  <a:pathLst>
                    <a:path w="294" h="507">
                      <a:moveTo>
                        <a:pt x="0" y="416"/>
                      </a:moveTo>
                      <a:lnTo>
                        <a:pt x="241" y="0"/>
                      </a:lnTo>
                      <a:lnTo>
                        <a:pt x="294" y="0"/>
                      </a:lnTo>
                      <a:lnTo>
                        <a:pt x="0" y="507"/>
                      </a:lnTo>
                      <a:lnTo>
                        <a:pt x="0" y="41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95" name="Freeform 4983"/>
                <p:cNvSpPr>
                  <a:spLocks noChangeAspect="1"/>
                </p:cNvSpPr>
                <p:nvPr/>
              </p:nvSpPr>
              <p:spPr bwMode="auto">
                <a:xfrm>
                  <a:off x="3279" y="3412"/>
                  <a:ext cx="107" cy="184"/>
                </a:xfrm>
                <a:custGeom>
                  <a:avLst/>
                  <a:gdLst>
                    <a:gd name="T0" fmla="*/ 0 w 321"/>
                    <a:gd name="T1" fmla="*/ 461 h 554"/>
                    <a:gd name="T2" fmla="*/ 268 w 321"/>
                    <a:gd name="T3" fmla="*/ 0 h 554"/>
                    <a:gd name="T4" fmla="*/ 321 w 321"/>
                    <a:gd name="T5" fmla="*/ 0 h 554"/>
                    <a:gd name="T6" fmla="*/ 0 w 321"/>
                    <a:gd name="T7" fmla="*/ 554 h 554"/>
                    <a:gd name="T8" fmla="*/ 0 w 321"/>
                    <a:gd name="T9" fmla="*/ 461 h 554"/>
                  </a:gdLst>
                  <a:ahLst/>
                  <a:cxnLst>
                    <a:cxn ang="0">
                      <a:pos x="T0" y="T1"/>
                    </a:cxn>
                    <a:cxn ang="0">
                      <a:pos x="T2" y="T3"/>
                    </a:cxn>
                    <a:cxn ang="0">
                      <a:pos x="T4" y="T5"/>
                    </a:cxn>
                    <a:cxn ang="0">
                      <a:pos x="T6" y="T7"/>
                    </a:cxn>
                    <a:cxn ang="0">
                      <a:pos x="T8" y="T9"/>
                    </a:cxn>
                  </a:cxnLst>
                  <a:rect l="0" t="0" r="r" b="b"/>
                  <a:pathLst>
                    <a:path w="321" h="554">
                      <a:moveTo>
                        <a:pt x="0" y="461"/>
                      </a:moveTo>
                      <a:lnTo>
                        <a:pt x="268" y="0"/>
                      </a:lnTo>
                      <a:lnTo>
                        <a:pt x="321" y="0"/>
                      </a:lnTo>
                      <a:lnTo>
                        <a:pt x="0" y="554"/>
                      </a:lnTo>
                      <a:lnTo>
                        <a:pt x="0" y="46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96" name="Freeform 4984"/>
                <p:cNvSpPr>
                  <a:spLocks noChangeAspect="1"/>
                </p:cNvSpPr>
                <p:nvPr/>
              </p:nvSpPr>
              <p:spPr bwMode="auto">
                <a:xfrm>
                  <a:off x="3279" y="3412"/>
                  <a:ext cx="116" cy="200"/>
                </a:xfrm>
                <a:custGeom>
                  <a:avLst/>
                  <a:gdLst>
                    <a:gd name="T0" fmla="*/ 0 w 348"/>
                    <a:gd name="T1" fmla="*/ 507 h 600"/>
                    <a:gd name="T2" fmla="*/ 294 w 348"/>
                    <a:gd name="T3" fmla="*/ 0 h 600"/>
                    <a:gd name="T4" fmla="*/ 348 w 348"/>
                    <a:gd name="T5" fmla="*/ 0 h 600"/>
                    <a:gd name="T6" fmla="*/ 0 w 348"/>
                    <a:gd name="T7" fmla="*/ 600 h 600"/>
                    <a:gd name="T8" fmla="*/ 0 w 348"/>
                    <a:gd name="T9" fmla="*/ 507 h 600"/>
                  </a:gdLst>
                  <a:ahLst/>
                  <a:cxnLst>
                    <a:cxn ang="0">
                      <a:pos x="T0" y="T1"/>
                    </a:cxn>
                    <a:cxn ang="0">
                      <a:pos x="T2" y="T3"/>
                    </a:cxn>
                    <a:cxn ang="0">
                      <a:pos x="T4" y="T5"/>
                    </a:cxn>
                    <a:cxn ang="0">
                      <a:pos x="T6" y="T7"/>
                    </a:cxn>
                    <a:cxn ang="0">
                      <a:pos x="T8" y="T9"/>
                    </a:cxn>
                  </a:cxnLst>
                  <a:rect l="0" t="0" r="r" b="b"/>
                  <a:pathLst>
                    <a:path w="348" h="600">
                      <a:moveTo>
                        <a:pt x="0" y="507"/>
                      </a:moveTo>
                      <a:lnTo>
                        <a:pt x="294" y="0"/>
                      </a:lnTo>
                      <a:lnTo>
                        <a:pt x="348" y="0"/>
                      </a:lnTo>
                      <a:lnTo>
                        <a:pt x="0" y="600"/>
                      </a:lnTo>
                      <a:lnTo>
                        <a:pt x="0" y="50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97" name="Freeform 4985"/>
                <p:cNvSpPr>
                  <a:spLocks noChangeAspect="1"/>
                </p:cNvSpPr>
                <p:nvPr/>
              </p:nvSpPr>
              <p:spPr bwMode="auto">
                <a:xfrm>
                  <a:off x="3279" y="3412"/>
                  <a:ext cx="125" cy="215"/>
                </a:xfrm>
                <a:custGeom>
                  <a:avLst/>
                  <a:gdLst>
                    <a:gd name="T0" fmla="*/ 0 w 375"/>
                    <a:gd name="T1" fmla="*/ 554 h 646"/>
                    <a:gd name="T2" fmla="*/ 321 w 375"/>
                    <a:gd name="T3" fmla="*/ 0 h 646"/>
                    <a:gd name="T4" fmla="*/ 375 w 375"/>
                    <a:gd name="T5" fmla="*/ 0 h 646"/>
                    <a:gd name="T6" fmla="*/ 0 w 375"/>
                    <a:gd name="T7" fmla="*/ 646 h 646"/>
                    <a:gd name="T8" fmla="*/ 0 w 375"/>
                    <a:gd name="T9" fmla="*/ 554 h 646"/>
                  </a:gdLst>
                  <a:ahLst/>
                  <a:cxnLst>
                    <a:cxn ang="0">
                      <a:pos x="T0" y="T1"/>
                    </a:cxn>
                    <a:cxn ang="0">
                      <a:pos x="T2" y="T3"/>
                    </a:cxn>
                    <a:cxn ang="0">
                      <a:pos x="T4" y="T5"/>
                    </a:cxn>
                    <a:cxn ang="0">
                      <a:pos x="T6" y="T7"/>
                    </a:cxn>
                    <a:cxn ang="0">
                      <a:pos x="T8" y="T9"/>
                    </a:cxn>
                  </a:cxnLst>
                  <a:rect l="0" t="0" r="r" b="b"/>
                  <a:pathLst>
                    <a:path w="375" h="646">
                      <a:moveTo>
                        <a:pt x="0" y="554"/>
                      </a:moveTo>
                      <a:lnTo>
                        <a:pt x="321" y="0"/>
                      </a:lnTo>
                      <a:lnTo>
                        <a:pt x="375" y="0"/>
                      </a:lnTo>
                      <a:lnTo>
                        <a:pt x="0" y="646"/>
                      </a:lnTo>
                      <a:lnTo>
                        <a:pt x="0" y="554"/>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98" name="Freeform 4986"/>
                <p:cNvSpPr>
                  <a:spLocks noChangeAspect="1"/>
                </p:cNvSpPr>
                <p:nvPr/>
              </p:nvSpPr>
              <p:spPr bwMode="auto">
                <a:xfrm>
                  <a:off x="3279" y="3412"/>
                  <a:ext cx="134" cy="231"/>
                </a:xfrm>
                <a:custGeom>
                  <a:avLst/>
                  <a:gdLst>
                    <a:gd name="T0" fmla="*/ 0 w 402"/>
                    <a:gd name="T1" fmla="*/ 600 h 692"/>
                    <a:gd name="T2" fmla="*/ 348 w 402"/>
                    <a:gd name="T3" fmla="*/ 0 h 692"/>
                    <a:gd name="T4" fmla="*/ 402 w 402"/>
                    <a:gd name="T5" fmla="*/ 0 h 692"/>
                    <a:gd name="T6" fmla="*/ 0 w 402"/>
                    <a:gd name="T7" fmla="*/ 692 h 692"/>
                    <a:gd name="T8" fmla="*/ 0 w 402"/>
                    <a:gd name="T9" fmla="*/ 600 h 692"/>
                  </a:gdLst>
                  <a:ahLst/>
                  <a:cxnLst>
                    <a:cxn ang="0">
                      <a:pos x="T0" y="T1"/>
                    </a:cxn>
                    <a:cxn ang="0">
                      <a:pos x="T2" y="T3"/>
                    </a:cxn>
                    <a:cxn ang="0">
                      <a:pos x="T4" y="T5"/>
                    </a:cxn>
                    <a:cxn ang="0">
                      <a:pos x="T6" y="T7"/>
                    </a:cxn>
                    <a:cxn ang="0">
                      <a:pos x="T8" y="T9"/>
                    </a:cxn>
                  </a:cxnLst>
                  <a:rect l="0" t="0" r="r" b="b"/>
                  <a:pathLst>
                    <a:path w="402" h="692">
                      <a:moveTo>
                        <a:pt x="0" y="600"/>
                      </a:moveTo>
                      <a:lnTo>
                        <a:pt x="348" y="0"/>
                      </a:lnTo>
                      <a:lnTo>
                        <a:pt x="402" y="0"/>
                      </a:lnTo>
                      <a:lnTo>
                        <a:pt x="0" y="692"/>
                      </a:lnTo>
                      <a:lnTo>
                        <a:pt x="0" y="60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499" name="Freeform 4987"/>
                <p:cNvSpPr>
                  <a:spLocks noChangeAspect="1"/>
                </p:cNvSpPr>
                <p:nvPr/>
              </p:nvSpPr>
              <p:spPr bwMode="auto">
                <a:xfrm>
                  <a:off x="3279" y="3412"/>
                  <a:ext cx="143" cy="246"/>
                </a:xfrm>
                <a:custGeom>
                  <a:avLst/>
                  <a:gdLst>
                    <a:gd name="T0" fmla="*/ 0 w 428"/>
                    <a:gd name="T1" fmla="*/ 646 h 739"/>
                    <a:gd name="T2" fmla="*/ 375 w 428"/>
                    <a:gd name="T3" fmla="*/ 0 h 739"/>
                    <a:gd name="T4" fmla="*/ 428 w 428"/>
                    <a:gd name="T5" fmla="*/ 0 h 739"/>
                    <a:gd name="T6" fmla="*/ 0 w 428"/>
                    <a:gd name="T7" fmla="*/ 739 h 739"/>
                    <a:gd name="T8" fmla="*/ 0 w 428"/>
                    <a:gd name="T9" fmla="*/ 646 h 739"/>
                  </a:gdLst>
                  <a:ahLst/>
                  <a:cxnLst>
                    <a:cxn ang="0">
                      <a:pos x="T0" y="T1"/>
                    </a:cxn>
                    <a:cxn ang="0">
                      <a:pos x="T2" y="T3"/>
                    </a:cxn>
                    <a:cxn ang="0">
                      <a:pos x="T4" y="T5"/>
                    </a:cxn>
                    <a:cxn ang="0">
                      <a:pos x="T6" y="T7"/>
                    </a:cxn>
                    <a:cxn ang="0">
                      <a:pos x="T8" y="T9"/>
                    </a:cxn>
                  </a:cxnLst>
                  <a:rect l="0" t="0" r="r" b="b"/>
                  <a:pathLst>
                    <a:path w="428" h="739">
                      <a:moveTo>
                        <a:pt x="0" y="646"/>
                      </a:moveTo>
                      <a:lnTo>
                        <a:pt x="375" y="0"/>
                      </a:lnTo>
                      <a:lnTo>
                        <a:pt x="428" y="0"/>
                      </a:lnTo>
                      <a:lnTo>
                        <a:pt x="0" y="739"/>
                      </a:lnTo>
                      <a:lnTo>
                        <a:pt x="0" y="64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00" name="Freeform 4988"/>
                <p:cNvSpPr>
                  <a:spLocks noChangeAspect="1"/>
                </p:cNvSpPr>
                <p:nvPr/>
              </p:nvSpPr>
              <p:spPr bwMode="auto">
                <a:xfrm>
                  <a:off x="3279" y="3412"/>
                  <a:ext cx="152" cy="262"/>
                </a:xfrm>
                <a:custGeom>
                  <a:avLst/>
                  <a:gdLst>
                    <a:gd name="T0" fmla="*/ 0 w 455"/>
                    <a:gd name="T1" fmla="*/ 692 h 785"/>
                    <a:gd name="T2" fmla="*/ 402 w 455"/>
                    <a:gd name="T3" fmla="*/ 0 h 785"/>
                    <a:gd name="T4" fmla="*/ 455 w 455"/>
                    <a:gd name="T5" fmla="*/ 0 h 785"/>
                    <a:gd name="T6" fmla="*/ 0 w 455"/>
                    <a:gd name="T7" fmla="*/ 785 h 785"/>
                    <a:gd name="T8" fmla="*/ 0 w 455"/>
                    <a:gd name="T9" fmla="*/ 692 h 785"/>
                  </a:gdLst>
                  <a:ahLst/>
                  <a:cxnLst>
                    <a:cxn ang="0">
                      <a:pos x="T0" y="T1"/>
                    </a:cxn>
                    <a:cxn ang="0">
                      <a:pos x="T2" y="T3"/>
                    </a:cxn>
                    <a:cxn ang="0">
                      <a:pos x="T4" y="T5"/>
                    </a:cxn>
                    <a:cxn ang="0">
                      <a:pos x="T6" y="T7"/>
                    </a:cxn>
                    <a:cxn ang="0">
                      <a:pos x="T8" y="T9"/>
                    </a:cxn>
                  </a:cxnLst>
                  <a:rect l="0" t="0" r="r" b="b"/>
                  <a:pathLst>
                    <a:path w="455" h="785">
                      <a:moveTo>
                        <a:pt x="0" y="692"/>
                      </a:moveTo>
                      <a:lnTo>
                        <a:pt x="402" y="0"/>
                      </a:lnTo>
                      <a:lnTo>
                        <a:pt x="455" y="0"/>
                      </a:lnTo>
                      <a:lnTo>
                        <a:pt x="0" y="785"/>
                      </a:lnTo>
                      <a:lnTo>
                        <a:pt x="0" y="69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01" name="Freeform 4989"/>
                <p:cNvSpPr>
                  <a:spLocks noChangeAspect="1"/>
                </p:cNvSpPr>
                <p:nvPr/>
              </p:nvSpPr>
              <p:spPr bwMode="auto">
                <a:xfrm>
                  <a:off x="3279" y="3412"/>
                  <a:ext cx="160" cy="277"/>
                </a:xfrm>
                <a:custGeom>
                  <a:avLst/>
                  <a:gdLst>
                    <a:gd name="T0" fmla="*/ 0 w 481"/>
                    <a:gd name="T1" fmla="*/ 739 h 831"/>
                    <a:gd name="T2" fmla="*/ 428 w 481"/>
                    <a:gd name="T3" fmla="*/ 0 h 831"/>
                    <a:gd name="T4" fmla="*/ 481 w 481"/>
                    <a:gd name="T5" fmla="*/ 0 h 831"/>
                    <a:gd name="T6" fmla="*/ 0 w 481"/>
                    <a:gd name="T7" fmla="*/ 831 h 831"/>
                    <a:gd name="T8" fmla="*/ 0 w 481"/>
                    <a:gd name="T9" fmla="*/ 739 h 831"/>
                  </a:gdLst>
                  <a:ahLst/>
                  <a:cxnLst>
                    <a:cxn ang="0">
                      <a:pos x="T0" y="T1"/>
                    </a:cxn>
                    <a:cxn ang="0">
                      <a:pos x="T2" y="T3"/>
                    </a:cxn>
                    <a:cxn ang="0">
                      <a:pos x="T4" y="T5"/>
                    </a:cxn>
                    <a:cxn ang="0">
                      <a:pos x="T6" y="T7"/>
                    </a:cxn>
                    <a:cxn ang="0">
                      <a:pos x="T8" y="T9"/>
                    </a:cxn>
                  </a:cxnLst>
                  <a:rect l="0" t="0" r="r" b="b"/>
                  <a:pathLst>
                    <a:path w="481" h="831">
                      <a:moveTo>
                        <a:pt x="0" y="739"/>
                      </a:moveTo>
                      <a:lnTo>
                        <a:pt x="428" y="0"/>
                      </a:lnTo>
                      <a:lnTo>
                        <a:pt x="481" y="0"/>
                      </a:lnTo>
                      <a:lnTo>
                        <a:pt x="0" y="831"/>
                      </a:lnTo>
                      <a:lnTo>
                        <a:pt x="0" y="73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02" name="Freeform 4990"/>
                <p:cNvSpPr>
                  <a:spLocks noChangeAspect="1"/>
                </p:cNvSpPr>
                <p:nvPr/>
              </p:nvSpPr>
              <p:spPr bwMode="auto">
                <a:xfrm>
                  <a:off x="3279" y="3412"/>
                  <a:ext cx="169" cy="291"/>
                </a:xfrm>
                <a:custGeom>
                  <a:avLst/>
                  <a:gdLst>
                    <a:gd name="T0" fmla="*/ 0 w 508"/>
                    <a:gd name="T1" fmla="*/ 785 h 877"/>
                    <a:gd name="T2" fmla="*/ 455 w 508"/>
                    <a:gd name="T3" fmla="*/ 0 h 877"/>
                    <a:gd name="T4" fmla="*/ 508 w 508"/>
                    <a:gd name="T5" fmla="*/ 0 h 877"/>
                    <a:gd name="T6" fmla="*/ 0 w 508"/>
                    <a:gd name="T7" fmla="*/ 877 h 877"/>
                    <a:gd name="T8" fmla="*/ 0 w 508"/>
                    <a:gd name="T9" fmla="*/ 785 h 877"/>
                  </a:gdLst>
                  <a:ahLst/>
                  <a:cxnLst>
                    <a:cxn ang="0">
                      <a:pos x="T0" y="T1"/>
                    </a:cxn>
                    <a:cxn ang="0">
                      <a:pos x="T2" y="T3"/>
                    </a:cxn>
                    <a:cxn ang="0">
                      <a:pos x="T4" y="T5"/>
                    </a:cxn>
                    <a:cxn ang="0">
                      <a:pos x="T6" y="T7"/>
                    </a:cxn>
                    <a:cxn ang="0">
                      <a:pos x="T8" y="T9"/>
                    </a:cxn>
                  </a:cxnLst>
                  <a:rect l="0" t="0" r="r" b="b"/>
                  <a:pathLst>
                    <a:path w="508" h="877">
                      <a:moveTo>
                        <a:pt x="0" y="785"/>
                      </a:moveTo>
                      <a:lnTo>
                        <a:pt x="455" y="0"/>
                      </a:lnTo>
                      <a:lnTo>
                        <a:pt x="508" y="0"/>
                      </a:lnTo>
                      <a:lnTo>
                        <a:pt x="0" y="877"/>
                      </a:lnTo>
                      <a:lnTo>
                        <a:pt x="0" y="78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03" name="Freeform 4991"/>
                <p:cNvSpPr>
                  <a:spLocks noChangeAspect="1"/>
                </p:cNvSpPr>
                <p:nvPr/>
              </p:nvSpPr>
              <p:spPr bwMode="auto">
                <a:xfrm>
                  <a:off x="3279" y="3412"/>
                  <a:ext cx="176" cy="307"/>
                </a:xfrm>
                <a:custGeom>
                  <a:avLst/>
                  <a:gdLst>
                    <a:gd name="T0" fmla="*/ 0 w 528"/>
                    <a:gd name="T1" fmla="*/ 831 h 923"/>
                    <a:gd name="T2" fmla="*/ 481 w 528"/>
                    <a:gd name="T3" fmla="*/ 0 h 923"/>
                    <a:gd name="T4" fmla="*/ 528 w 528"/>
                    <a:gd name="T5" fmla="*/ 0 h 923"/>
                    <a:gd name="T6" fmla="*/ 528 w 528"/>
                    <a:gd name="T7" fmla="*/ 11 h 923"/>
                    <a:gd name="T8" fmla="*/ 0 w 528"/>
                    <a:gd name="T9" fmla="*/ 923 h 923"/>
                    <a:gd name="T10" fmla="*/ 0 w 528"/>
                    <a:gd name="T11" fmla="*/ 831 h 923"/>
                  </a:gdLst>
                  <a:ahLst/>
                  <a:cxnLst>
                    <a:cxn ang="0">
                      <a:pos x="T0" y="T1"/>
                    </a:cxn>
                    <a:cxn ang="0">
                      <a:pos x="T2" y="T3"/>
                    </a:cxn>
                    <a:cxn ang="0">
                      <a:pos x="T4" y="T5"/>
                    </a:cxn>
                    <a:cxn ang="0">
                      <a:pos x="T6" y="T7"/>
                    </a:cxn>
                    <a:cxn ang="0">
                      <a:pos x="T8" y="T9"/>
                    </a:cxn>
                    <a:cxn ang="0">
                      <a:pos x="T10" y="T11"/>
                    </a:cxn>
                  </a:cxnLst>
                  <a:rect l="0" t="0" r="r" b="b"/>
                  <a:pathLst>
                    <a:path w="528" h="923">
                      <a:moveTo>
                        <a:pt x="0" y="831"/>
                      </a:moveTo>
                      <a:lnTo>
                        <a:pt x="481" y="0"/>
                      </a:lnTo>
                      <a:lnTo>
                        <a:pt x="528" y="0"/>
                      </a:lnTo>
                      <a:lnTo>
                        <a:pt x="528" y="11"/>
                      </a:lnTo>
                      <a:lnTo>
                        <a:pt x="0" y="923"/>
                      </a:lnTo>
                      <a:lnTo>
                        <a:pt x="0" y="83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04" name="Freeform 4992"/>
                <p:cNvSpPr>
                  <a:spLocks noChangeAspect="1"/>
                </p:cNvSpPr>
                <p:nvPr/>
              </p:nvSpPr>
              <p:spPr bwMode="auto">
                <a:xfrm>
                  <a:off x="3279" y="3412"/>
                  <a:ext cx="176" cy="323"/>
                </a:xfrm>
                <a:custGeom>
                  <a:avLst/>
                  <a:gdLst>
                    <a:gd name="T0" fmla="*/ 0 w 528"/>
                    <a:gd name="T1" fmla="*/ 877 h 970"/>
                    <a:gd name="T2" fmla="*/ 508 w 528"/>
                    <a:gd name="T3" fmla="*/ 0 h 970"/>
                    <a:gd name="T4" fmla="*/ 528 w 528"/>
                    <a:gd name="T5" fmla="*/ 0 h 970"/>
                    <a:gd name="T6" fmla="*/ 528 w 528"/>
                    <a:gd name="T7" fmla="*/ 57 h 970"/>
                    <a:gd name="T8" fmla="*/ 0 w 528"/>
                    <a:gd name="T9" fmla="*/ 970 h 970"/>
                    <a:gd name="T10" fmla="*/ 0 w 528"/>
                    <a:gd name="T11" fmla="*/ 877 h 970"/>
                  </a:gdLst>
                  <a:ahLst/>
                  <a:cxnLst>
                    <a:cxn ang="0">
                      <a:pos x="T0" y="T1"/>
                    </a:cxn>
                    <a:cxn ang="0">
                      <a:pos x="T2" y="T3"/>
                    </a:cxn>
                    <a:cxn ang="0">
                      <a:pos x="T4" y="T5"/>
                    </a:cxn>
                    <a:cxn ang="0">
                      <a:pos x="T6" y="T7"/>
                    </a:cxn>
                    <a:cxn ang="0">
                      <a:pos x="T8" y="T9"/>
                    </a:cxn>
                    <a:cxn ang="0">
                      <a:pos x="T10" y="T11"/>
                    </a:cxn>
                  </a:cxnLst>
                  <a:rect l="0" t="0" r="r" b="b"/>
                  <a:pathLst>
                    <a:path w="528" h="970">
                      <a:moveTo>
                        <a:pt x="0" y="877"/>
                      </a:moveTo>
                      <a:lnTo>
                        <a:pt x="508" y="0"/>
                      </a:lnTo>
                      <a:lnTo>
                        <a:pt x="528" y="0"/>
                      </a:lnTo>
                      <a:lnTo>
                        <a:pt x="528" y="57"/>
                      </a:lnTo>
                      <a:lnTo>
                        <a:pt x="0" y="970"/>
                      </a:lnTo>
                      <a:lnTo>
                        <a:pt x="0" y="87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05" name="Freeform 4993"/>
                <p:cNvSpPr>
                  <a:spLocks noChangeAspect="1"/>
                </p:cNvSpPr>
                <p:nvPr/>
              </p:nvSpPr>
              <p:spPr bwMode="auto">
                <a:xfrm>
                  <a:off x="3279" y="3416"/>
                  <a:ext cx="176" cy="333"/>
                </a:xfrm>
                <a:custGeom>
                  <a:avLst/>
                  <a:gdLst>
                    <a:gd name="T0" fmla="*/ 0 w 528"/>
                    <a:gd name="T1" fmla="*/ 912 h 1004"/>
                    <a:gd name="T2" fmla="*/ 528 w 528"/>
                    <a:gd name="T3" fmla="*/ 0 h 1004"/>
                    <a:gd name="T4" fmla="*/ 528 w 528"/>
                    <a:gd name="T5" fmla="*/ 92 h 1004"/>
                    <a:gd name="T6" fmla="*/ 0 w 528"/>
                    <a:gd name="T7" fmla="*/ 1004 h 1004"/>
                    <a:gd name="T8" fmla="*/ 0 w 528"/>
                    <a:gd name="T9" fmla="*/ 912 h 1004"/>
                  </a:gdLst>
                  <a:ahLst/>
                  <a:cxnLst>
                    <a:cxn ang="0">
                      <a:pos x="T0" y="T1"/>
                    </a:cxn>
                    <a:cxn ang="0">
                      <a:pos x="T2" y="T3"/>
                    </a:cxn>
                    <a:cxn ang="0">
                      <a:pos x="T4" y="T5"/>
                    </a:cxn>
                    <a:cxn ang="0">
                      <a:pos x="T6" y="T7"/>
                    </a:cxn>
                    <a:cxn ang="0">
                      <a:pos x="T8" y="T9"/>
                    </a:cxn>
                  </a:cxnLst>
                  <a:rect l="0" t="0" r="r" b="b"/>
                  <a:pathLst>
                    <a:path w="528" h="1004">
                      <a:moveTo>
                        <a:pt x="0" y="912"/>
                      </a:moveTo>
                      <a:lnTo>
                        <a:pt x="528" y="0"/>
                      </a:lnTo>
                      <a:lnTo>
                        <a:pt x="528" y="92"/>
                      </a:lnTo>
                      <a:lnTo>
                        <a:pt x="0" y="1004"/>
                      </a:lnTo>
                      <a:lnTo>
                        <a:pt x="0" y="91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06" name="Freeform 4994"/>
                <p:cNvSpPr>
                  <a:spLocks noChangeAspect="1"/>
                </p:cNvSpPr>
                <p:nvPr/>
              </p:nvSpPr>
              <p:spPr bwMode="auto">
                <a:xfrm>
                  <a:off x="3279" y="3431"/>
                  <a:ext cx="176" cy="335"/>
                </a:xfrm>
                <a:custGeom>
                  <a:avLst/>
                  <a:gdLst>
                    <a:gd name="T0" fmla="*/ 0 w 528"/>
                    <a:gd name="T1" fmla="*/ 913 h 1005"/>
                    <a:gd name="T2" fmla="*/ 528 w 528"/>
                    <a:gd name="T3" fmla="*/ 0 h 1005"/>
                    <a:gd name="T4" fmla="*/ 528 w 528"/>
                    <a:gd name="T5" fmla="*/ 93 h 1005"/>
                    <a:gd name="T6" fmla="*/ 0 w 528"/>
                    <a:gd name="T7" fmla="*/ 1005 h 1005"/>
                    <a:gd name="T8" fmla="*/ 0 w 528"/>
                    <a:gd name="T9" fmla="*/ 913 h 1005"/>
                  </a:gdLst>
                  <a:ahLst/>
                  <a:cxnLst>
                    <a:cxn ang="0">
                      <a:pos x="T0" y="T1"/>
                    </a:cxn>
                    <a:cxn ang="0">
                      <a:pos x="T2" y="T3"/>
                    </a:cxn>
                    <a:cxn ang="0">
                      <a:pos x="T4" y="T5"/>
                    </a:cxn>
                    <a:cxn ang="0">
                      <a:pos x="T6" y="T7"/>
                    </a:cxn>
                    <a:cxn ang="0">
                      <a:pos x="T8" y="T9"/>
                    </a:cxn>
                  </a:cxnLst>
                  <a:rect l="0" t="0" r="r" b="b"/>
                  <a:pathLst>
                    <a:path w="528" h="1005">
                      <a:moveTo>
                        <a:pt x="0" y="913"/>
                      </a:moveTo>
                      <a:lnTo>
                        <a:pt x="528" y="0"/>
                      </a:lnTo>
                      <a:lnTo>
                        <a:pt x="528" y="93"/>
                      </a:lnTo>
                      <a:lnTo>
                        <a:pt x="0" y="1005"/>
                      </a:lnTo>
                      <a:lnTo>
                        <a:pt x="0" y="91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07" name="Freeform 4995"/>
                <p:cNvSpPr>
                  <a:spLocks noChangeAspect="1"/>
                </p:cNvSpPr>
                <p:nvPr/>
              </p:nvSpPr>
              <p:spPr bwMode="auto">
                <a:xfrm>
                  <a:off x="3279" y="3446"/>
                  <a:ext cx="176" cy="335"/>
                </a:xfrm>
                <a:custGeom>
                  <a:avLst/>
                  <a:gdLst>
                    <a:gd name="T0" fmla="*/ 0 w 528"/>
                    <a:gd name="T1" fmla="*/ 912 h 1005"/>
                    <a:gd name="T2" fmla="*/ 528 w 528"/>
                    <a:gd name="T3" fmla="*/ 0 h 1005"/>
                    <a:gd name="T4" fmla="*/ 528 w 528"/>
                    <a:gd name="T5" fmla="*/ 93 h 1005"/>
                    <a:gd name="T6" fmla="*/ 0 w 528"/>
                    <a:gd name="T7" fmla="*/ 1005 h 1005"/>
                    <a:gd name="T8" fmla="*/ 0 w 528"/>
                    <a:gd name="T9" fmla="*/ 912 h 1005"/>
                  </a:gdLst>
                  <a:ahLst/>
                  <a:cxnLst>
                    <a:cxn ang="0">
                      <a:pos x="T0" y="T1"/>
                    </a:cxn>
                    <a:cxn ang="0">
                      <a:pos x="T2" y="T3"/>
                    </a:cxn>
                    <a:cxn ang="0">
                      <a:pos x="T4" y="T5"/>
                    </a:cxn>
                    <a:cxn ang="0">
                      <a:pos x="T6" y="T7"/>
                    </a:cxn>
                    <a:cxn ang="0">
                      <a:pos x="T8" y="T9"/>
                    </a:cxn>
                  </a:cxnLst>
                  <a:rect l="0" t="0" r="r" b="b"/>
                  <a:pathLst>
                    <a:path w="528" h="1005">
                      <a:moveTo>
                        <a:pt x="0" y="912"/>
                      </a:moveTo>
                      <a:lnTo>
                        <a:pt x="528" y="0"/>
                      </a:lnTo>
                      <a:lnTo>
                        <a:pt x="528" y="93"/>
                      </a:lnTo>
                      <a:lnTo>
                        <a:pt x="0" y="1005"/>
                      </a:lnTo>
                      <a:lnTo>
                        <a:pt x="0" y="91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08" name="Freeform 4996"/>
                <p:cNvSpPr>
                  <a:spLocks noChangeAspect="1"/>
                </p:cNvSpPr>
                <p:nvPr/>
              </p:nvSpPr>
              <p:spPr bwMode="auto">
                <a:xfrm>
                  <a:off x="3279" y="3462"/>
                  <a:ext cx="176" cy="335"/>
                </a:xfrm>
                <a:custGeom>
                  <a:avLst/>
                  <a:gdLst>
                    <a:gd name="T0" fmla="*/ 0 w 528"/>
                    <a:gd name="T1" fmla="*/ 912 h 1005"/>
                    <a:gd name="T2" fmla="*/ 528 w 528"/>
                    <a:gd name="T3" fmla="*/ 0 h 1005"/>
                    <a:gd name="T4" fmla="*/ 528 w 528"/>
                    <a:gd name="T5" fmla="*/ 92 h 1005"/>
                    <a:gd name="T6" fmla="*/ 0 w 528"/>
                    <a:gd name="T7" fmla="*/ 1005 h 1005"/>
                    <a:gd name="T8" fmla="*/ 0 w 528"/>
                    <a:gd name="T9" fmla="*/ 912 h 1005"/>
                  </a:gdLst>
                  <a:ahLst/>
                  <a:cxnLst>
                    <a:cxn ang="0">
                      <a:pos x="T0" y="T1"/>
                    </a:cxn>
                    <a:cxn ang="0">
                      <a:pos x="T2" y="T3"/>
                    </a:cxn>
                    <a:cxn ang="0">
                      <a:pos x="T4" y="T5"/>
                    </a:cxn>
                    <a:cxn ang="0">
                      <a:pos x="T6" y="T7"/>
                    </a:cxn>
                    <a:cxn ang="0">
                      <a:pos x="T8" y="T9"/>
                    </a:cxn>
                  </a:cxnLst>
                  <a:rect l="0" t="0" r="r" b="b"/>
                  <a:pathLst>
                    <a:path w="528" h="1005">
                      <a:moveTo>
                        <a:pt x="0" y="912"/>
                      </a:moveTo>
                      <a:lnTo>
                        <a:pt x="528" y="0"/>
                      </a:lnTo>
                      <a:lnTo>
                        <a:pt x="528" y="92"/>
                      </a:lnTo>
                      <a:lnTo>
                        <a:pt x="0" y="1005"/>
                      </a:lnTo>
                      <a:lnTo>
                        <a:pt x="0" y="91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09" name="Freeform 4997"/>
                <p:cNvSpPr>
                  <a:spLocks noChangeAspect="1"/>
                </p:cNvSpPr>
                <p:nvPr/>
              </p:nvSpPr>
              <p:spPr bwMode="auto">
                <a:xfrm>
                  <a:off x="3279" y="3477"/>
                  <a:ext cx="176" cy="335"/>
                </a:xfrm>
                <a:custGeom>
                  <a:avLst/>
                  <a:gdLst>
                    <a:gd name="T0" fmla="*/ 0 w 528"/>
                    <a:gd name="T1" fmla="*/ 912 h 1004"/>
                    <a:gd name="T2" fmla="*/ 528 w 528"/>
                    <a:gd name="T3" fmla="*/ 0 h 1004"/>
                    <a:gd name="T4" fmla="*/ 528 w 528"/>
                    <a:gd name="T5" fmla="*/ 92 h 1004"/>
                    <a:gd name="T6" fmla="*/ 0 w 528"/>
                    <a:gd name="T7" fmla="*/ 1004 h 1004"/>
                    <a:gd name="T8" fmla="*/ 0 w 528"/>
                    <a:gd name="T9" fmla="*/ 912 h 1004"/>
                  </a:gdLst>
                  <a:ahLst/>
                  <a:cxnLst>
                    <a:cxn ang="0">
                      <a:pos x="T0" y="T1"/>
                    </a:cxn>
                    <a:cxn ang="0">
                      <a:pos x="T2" y="T3"/>
                    </a:cxn>
                    <a:cxn ang="0">
                      <a:pos x="T4" y="T5"/>
                    </a:cxn>
                    <a:cxn ang="0">
                      <a:pos x="T6" y="T7"/>
                    </a:cxn>
                    <a:cxn ang="0">
                      <a:pos x="T8" y="T9"/>
                    </a:cxn>
                  </a:cxnLst>
                  <a:rect l="0" t="0" r="r" b="b"/>
                  <a:pathLst>
                    <a:path w="528" h="1004">
                      <a:moveTo>
                        <a:pt x="0" y="912"/>
                      </a:moveTo>
                      <a:lnTo>
                        <a:pt x="528" y="0"/>
                      </a:lnTo>
                      <a:lnTo>
                        <a:pt x="528" y="92"/>
                      </a:lnTo>
                      <a:lnTo>
                        <a:pt x="0" y="1004"/>
                      </a:lnTo>
                      <a:lnTo>
                        <a:pt x="0" y="91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10" name="Freeform 4998"/>
                <p:cNvSpPr>
                  <a:spLocks noChangeAspect="1"/>
                </p:cNvSpPr>
                <p:nvPr/>
              </p:nvSpPr>
              <p:spPr bwMode="auto">
                <a:xfrm>
                  <a:off x="3279" y="3493"/>
                  <a:ext cx="176" cy="335"/>
                </a:xfrm>
                <a:custGeom>
                  <a:avLst/>
                  <a:gdLst>
                    <a:gd name="T0" fmla="*/ 0 w 528"/>
                    <a:gd name="T1" fmla="*/ 913 h 1005"/>
                    <a:gd name="T2" fmla="*/ 528 w 528"/>
                    <a:gd name="T3" fmla="*/ 0 h 1005"/>
                    <a:gd name="T4" fmla="*/ 528 w 528"/>
                    <a:gd name="T5" fmla="*/ 92 h 1005"/>
                    <a:gd name="T6" fmla="*/ 0 w 528"/>
                    <a:gd name="T7" fmla="*/ 1005 h 1005"/>
                    <a:gd name="T8" fmla="*/ 0 w 528"/>
                    <a:gd name="T9" fmla="*/ 913 h 1005"/>
                  </a:gdLst>
                  <a:ahLst/>
                  <a:cxnLst>
                    <a:cxn ang="0">
                      <a:pos x="T0" y="T1"/>
                    </a:cxn>
                    <a:cxn ang="0">
                      <a:pos x="T2" y="T3"/>
                    </a:cxn>
                    <a:cxn ang="0">
                      <a:pos x="T4" y="T5"/>
                    </a:cxn>
                    <a:cxn ang="0">
                      <a:pos x="T6" y="T7"/>
                    </a:cxn>
                    <a:cxn ang="0">
                      <a:pos x="T8" y="T9"/>
                    </a:cxn>
                  </a:cxnLst>
                  <a:rect l="0" t="0" r="r" b="b"/>
                  <a:pathLst>
                    <a:path w="528" h="1005">
                      <a:moveTo>
                        <a:pt x="0" y="913"/>
                      </a:moveTo>
                      <a:lnTo>
                        <a:pt x="528" y="0"/>
                      </a:lnTo>
                      <a:lnTo>
                        <a:pt x="528" y="92"/>
                      </a:lnTo>
                      <a:lnTo>
                        <a:pt x="0" y="1005"/>
                      </a:lnTo>
                      <a:lnTo>
                        <a:pt x="0" y="91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11" name="Freeform 4999"/>
                <p:cNvSpPr>
                  <a:spLocks noChangeAspect="1"/>
                </p:cNvSpPr>
                <p:nvPr/>
              </p:nvSpPr>
              <p:spPr bwMode="auto">
                <a:xfrm>
                  <a:off x="3279" y="3508"/>
                  <a:ext cx="176" cy="335"/>
                </a:xfrm>
                <a:custGeom>
                  <a:avLst/>
                  <a:gdLst>
                    <a:gd name="T0" fmla="*/ 0 w 528"/>
                    <a:gd name="T1" fmla="*/ 912 h 1005"/>
                    <a:gd name="T2" fmla="*/ 528 w 528"/>
                    <a:gd name="T3" fmla="*/ 0 h 1005"/>
                    <a:gd name="T4" fmla="*/ 528 w 528"/>
                    <a:gd name="T5" fmla="*/ 93 h 1005"/>
                    <a:gd name="T6" fmla="*/ 0 w 528"/>
                    <a:gd name="T7" fmla="*/ 1005 h 1005"/>
                    <a:gd name="T8" fmla="*/ 0 w 528"/>
                    <a:gd name="T9" fmla="*/ 912 h 1005"/>
                  </a:gdLst>
                  <a:ahLst/>
                  <a:cxnLst>
                    <a:cxn ang="0">
                      <a:pos x="T0" y="T1"/>
                    </a:cxn>
                    <a:cxn ang="0">
                      <a:pos x="T2" y="T3"/>
                    </a:cxn>
                    <a:cxn ang="0">
                      <a:pos x="T4" y="T5"/>
                    </a:cxn>
                    <a:cxn ang="0">
                      <a:pos x="T6" y="T7"/>
                    </a:cxn>
                    <a:cxn ang="0">
                      <a:pos x="T8" y="T9"/>
                    </a:cxn>
                  </a:cxnLst>
                  <a:rect l="0" t="0" r="r" b="b"/>
                  <a:pathLst>
                    <a:path w="528" h="1005">
                      <a:moveTo>
                        <a:pt x="0" y="912"/>
                      </a:moveTo>
                      <a:lnTo>
                        <a:pt x="528" y="0"/>
                      </a:lnTo>
                      <a:lnTo>
                        <a:pt x="528" y="93"/>
                      </a:lnTo>
                      <a:lnTo>
                        <a:pt x="0" y="1005"/>
                      </a:lnTo>
                      <a:lnTo>
                        <a:pt x="0" y="91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12" name="Freeform 5000"/>
                <p:cNvSpPr>
                  <a:spLocks noChangeAspect="1"/>
                </p:cNvSpPr>
                <p:nvPr/>
              </p:nvSpPr>
              <p:spPr bwMode="auto">
                <a:xfrm>
                  <a:off x="3279" y="3523"/>
                  <a:ext cx="176" cy="333"/>
                </a:xfrm>
                <a:custGeom>
                  <a:avLst/>
                  <a:gdLst>
                    <a:gd name="T0" fmla="*/ 0 w 528"/>
                    <a:gd name="T1" fmla="*/ 913 h 1005"/>
                    <a:gd name="T2" fmla="*/ 528 w 528"/>
                    <a:gd name="T3" fmla="*/ 0 h 1005"/>
                    <a:gd name="T4" fmla="*/ 528 w 528"/>
                    <a:gd name="T5" fmla="*/ 92 h 1005"/>
                    <a:gd name="T6" fmla="*/ 0 w 528"/>
                    <a:gd name="T7" fmla="*/ 1005 h 1005"/>
                    <a:gd name="T8" fmla="*/ 0 w 528"/>
                    <a:gd name="T9" fmla="*/ 913 h 1005"/>
                  </a:gdLst>
                  <a:ahLst/>
                  <a:cxnLst>
                    <a:cxn ang="0">
                      <a:pos x="T0" y="T1"/>
                    </a:cxn>
                    <a:cxn ang="0">
                      <a:pos x="T2" y="T3"/>
                    </a:cxn>
                    <a:cxn ang="0">
                      <a:pos x="T4" y="T5"/>
                    </a:cxn>
                    <a:cxn ang="0">
                      <a:pos x="T6" y="T7"/>
                    </a:cxn>
                    <a:cxn ang="0">
                      <a:pos x="T8" y="T9"/>
                    </a:cxn>
                  </a:cxnLst>
                  <a:rect l="0" t="0" r="r" b="b"/>
                  <a:pathLst>
                    <a:path w="528" h="1005">
                      <a:moveTo>
                        <a:pt x="0" y="913"/>
                      </a:moveTo>
                      <a:lnTo>
                        <a:pt x="528" y="0"/>
                      </a:lnTo>
                      <a:lnTo>
                        <a:pt x="528" y="92"/>
                      </a:lnTo>
                      <a:lnTo>
                        <a:pt x="0" y="1005"/>
                      </a:lnTo>
                      <a:lnTo>
                        <a:pt x="0" y="91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13" name="Freeform 5001"/>
                <p:cNvSpPr>
                  <a:spLocks noChangeAspect="1"/>
                </p:cNvSpPr>
                <p:nvPr/>
              </p:nvSpPr>
              <p:spPr bwMode="auto">
                <a:xfrm>
                  <a:off x="3279" y="3539"/>
                  <a:ext cx="176" cy="333"/>
                </a:xfrm>
                <a:custGeom>
                  <a:avLst/>
                  <a:gdLst>
                    <a:gd name="T0" fmla="*/ 0 w 528"/>
                    <a:gd name="T1" fmla="*/ 912 h 1004"/>
                    <a:gd name="T2" fmla="*/ 528 w 528"/>
                    <a:gd name="T3" fmla="*/ 0 h 1004"/>
                    <a:gd name="T4" fmla="*/ 528 w 528"/>
                    <a:gd name="T5" fmla="*/ 92 h 1004"/>
                    <a:gd name="T6" fmla="*/ 0 w 528"/>
                    <a:gd name="T7" fmla="*/ 1004 h 1004"/>
                    <a:gd name="T8" fmla="*/ 0 w 528"/>
                    <a:gd name="T9" fmla="*/ 912 h 1004"/>
                  </a:gdLst>
                  <a:ahLst/>
                  <a:cxnLst>
                    <a:cxn ang="0">
                      <a:pos x="T0" y="T1"/>
                    </a:cxn>
                    <a:cxn ang="0">
                      <a:pos x="T2" y="T3"/>
                    </a:cxn>
                    <a:cxn ang="0">
                      <a:pos x="T4" y="T5"/>
                    </a:cxn>
                    <a:cxn ang="0">
                      <a:pos x="T6" y="T7"/>
                    </a:cxn>
                    <a:cxn ang="0">
                      <a:pos x="T8" y="T9"/>
                    </a:cxn>
                  </a:cxnLst>
                  <a:rect l="0" t="0" r="r" b="b"/>
                  <a:pathLst>
                    <a:path w="528" h="1004">
                      <a:moveTo>
                        <a:pt x="0" y="912"/>
                      </a:moveTo>
                      <a:lnTo>
                        <a:pt x="528" y="0"/>
                      </a:lnTo>
                      <a:lnTo>
                        <a:pt x="528" y="92"/>
                      </a:lnTo>
                      <a:lnTo>
                        <a:pt x="0" y="1004"/>
                      </a:lnTo>
                      <a:lnTo>
                        <a:pt x="0" y="91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14" name="Freeform 5002"/>
                <p:cNvSpPr>
                  <a:spLocks noChangeAspect="1"/>
                </p:cNvSpPr>
                <p:nvPr/>
              </p:nvSpPr>
              <p:spPr bwMode="auto">
                <a:xfrm>
                  <a:off x="3279" y="3554"/>
                  <a:ext cx="176" cy="324"/>
                </a:xfrm>
                <a:custGeom>
                  <a:avLst/>
                  <a:gdLst>
                    <a:gd name="T0" fmla="*/ 0 w 528"/>
                    <a:gd name="T1" fmla="*/ 913 h 971"/>
                    <a:gd name="T2" fmla="*/ 528 w 528"/>
                    <a:gd name="T3" fmla="*/ 0 h 971"/>
                    <a:gd name="T4" fmla="*/ 528 w 528"/>
                    <a:gd name="T5" fmla="*/ 93 h 971"/>
                    <a:gd name="T6" fmla="*/ 21 w 528"/>
                    <a:gd name="T7" fmla="*/ 971 h 971"/>
                    <a:gd name="T8" fmla="*/ 0 w 528"/>
                    <a:gd name="T9" fmla="*/ 971 h 971"/>
                    <a:gd name="T10" fmla="*/ 0 w 528"/>
                    <a:gd name="T11" fmla="*/ 913 h 971"/>
                  </a:gdLst>
                  <a:ahLst/>
                  <a:cxnLst>
                    <a:cxn ang="0">
                      <a:pos x="T0" y="T1"/>
                    </a:cxn>
                    <a:cxn ang="0">
                      <a:pos x="T2" y="T3"/>
                    </a:cxn>
                    <a:cxn ang="0">
                      <a:pos x="T4" y="T5"/>
                    </a:cxn>
                    <a:cxn ang="0">
                      <a:pos x="T6" y="T7"/>
                    </a:cxn>
                    <a:cxn ang="0">
                      <a:pos x="T8" y="T9"/>
                    </a:cxn>
                    <a:cxn ang="0">
                      <a:pos x="T10" y="T11"/>
                    </a:cxn>
                  </a:cxnLst>
                  <a:rect l="0" t="0" r="r" b="b"/>
                  <a:pathLst>
                    <a:path w="528" h="971">
                      <a:moveTo>
                        <a:pt x="0" y="913"/>
                      </a:moveTo>
                      <a:lnTo>
                        <a:pt x="528" y="0"/>
                      </a:lnTo>
                      <a:lnTo>
                        <a:pt x="528" y="93"/>
                      </a:lnTo>
                      <a:lnTo>
                        <a:pt x="21" y="971"/>
                      </a:lnTo>
                      <a:lnTo>
                        <a:pt x="0" y="971"/>
                      </a:lnTo>
                      <a:lnTo>
                        <a:pt x="0" y="91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15" name="Freeform 5003"/>
                <p:cNvSpPr>
                  <a:spLocks noChangeAspect="1"/>
                </p:cNvSpPr>
                <p:nvPr/>
              </p:nvSpPr>
              <p:spPr bwMode="auto">
                <a:xfrm>
                  <a:off x="3279" y="3570"/>
                  <a:ext cx="176" cy="308"/>
                </a:xfrm>
                <a:custGeom>
                  <a:avLst/>
                  <a:gdLst>
                    <a:gd name="T0" fmla="*/ 0 w 528"/>
                    <a:gd name="T1" fmla="*/ 912 h 924"/>
                    <a:gd name="T2" fmla="*/ 528 w 528"/>
                    <a:gd name="T3" fmla="*/ 0 h 924"/>
                    <a:gd name="T4" fmla="*/ 528 w 528"/>
                    <a:gd name="T5" fmla="*/ 93 h 924"/>
                    <a:gd name="T6" fmla="*/ 47 w 528"/>
                    <a:gd name="T7" fmla="*/ 924 h 924"/>
                    <a:gd name="T8" fmla="*/ 0 w 528"/>
                    <a:gd name="T9" fmla="*/ 924 h 924"/>
                    <a:gd name="T10" fmla="*/ 0 w 528"/>
                    <a:gd name="T11" fmla="*/ 912 h 924"/>
                  </a:gdLst>
                  <a:ahLst/>
                  <a:cxnLst>
                    <a:cxn ang="0">
                      <a:pos x="T0" y="T1"/>
                    </a:cxn>
                    <a:cxn ang="0">
                      <a:pos x="T2" y="T3"/>
                    </a:cxn>
                    <a:cxn ang="0">
                      <a:pos x="T4" y="T5"/>
                    </a:cxn>
                    <a:cxn ang="0">
                      <a:pos x="T6" y="T7"/>
                    </a:cxn>
                    <a:cxn ang="0">
                      <a:pos x="T8" y="T9"/>
                    </a:cxn>
                    <a:cxn ang="0">
                      <a:pos x="T10" y="T11"/>
                    </a:cxn>
                  </a:cxnLst>
                  <a:rect l="0" t="0" r="r" b="b"/>
                  <a:pathLst>
                    <a:path w="528" h="924">
                      <a:moveTo>
                        <a:pt x="0" y="912"/>
                      </a:moveTo>
                      <a:lnTo>
                        <a:pt x="528" y="0"/>
                      </a:lnTo>
                      <a:lnTo>
                        <a:pt x="528" y="93"/>
                      </a:lnTo>
                      <a:lnTo>
                        <a:pt x="47" y="924"/>
                      </a:lnTo>
                      <a:lnTo>
                        <a:pt x="0" y="924"/>
                      </a:lnTo>
                      <a:lnTo>
                        <a:pt x="0" y="91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16" name="Freeform 5004"/>
                <p:cNvSpPr>
                  <a:spLocks noChangeAspect="1"/>
                </p:cNvSpPr>
                <p:nvPr/>
              </p:nvSpPr>
              <p:spPr bwMode="auto">
                <a:xfrm>
                  <a:off x="3286" y="3585"/>
                  <a:ext cx="169" cy="293"/>
                </a:xfrm>
                <a:custGeom>
                  <a:avLst/>
                  <a:gdLst>
                    <a:gd name="T0" fmla="*/ 0 w 507"/>
                    <a:gd name="T1" fmla="*/ 878 h 878"/>
                    <a:gd name="T2" fmla="*/ 507 w 507"/>
                    <a:gd name="T3" fmla="*/ 0 h 878"/>
                    <a:gd name="T4" fmla="*/ 507 w 507"/>
                    <a:gd name="T5" fmla="*/ 92 h 878"/>
                    <a:gd name="T6" fmla="*/ 54 w 507"/>
                    <a:gd name="T7" fmla="*/ 878 h 878"/>
                    <a:gd name="T8" fmla="*/ 0 w 507"/>
                    <a:gd name="T9" fmla="*/ 878 h 878"/>
                  </a:gdLst>
                  <a:ahLst/>
                  <a:cxnLst>
                    <a:cxn ang="0">
                      <a:pos x="T0" y="T1"/>
                    </a:cxn>
                    <a:cxn ang="0">
                      <a:pos x="T2" y="T3"/>
                    </a:cxn>
                    <a:cxn ang="0">
                      <a:pos x="T4" y="T5"/>
                    </a:cxn>
                    <a:cxn ang="0">
                      <a:pos x="T6" y="T7"/>
                    </a:cxn>
                    <a:cxn ang="0">
                      <a:pos x="T8" y="T9"/>
                    </a:cxn>
                  </a:cxnLst>
                  <a:rect l="0" t="0" r="r" b="b"/>
                  <a:pathLst>
                    <a:path w="507" h="878">
                      <a:moveTo>
                        <a:pt x="0" y="878"/>
                      </a:moveTo>
                      <a:lnTo>
                        <a:pt x="507" y="0"/>
                      </a:lnTo>
                      <a:lnTo>
                        <a:pt x="507" y="92"/>
                      </a:lnTo>
                      <a:lnTo>
                        <a:pt x="54" y="878"/>
                      </a:lnTo>
                      <a:lnTo>
                        <a:pt x="0" y="87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17" name="Freeform 5005"/>
                <p:cNvSpPr>
                  <a:spLocks noChangeAspect="1"/>
                </p:cNvSpPr>
                <p:nvPr/>
              </p:nvSpPr>
              <p:spPr bwMode="auto">
                <a:xfrm>
                  <a:off x="3295" y="3601"/>
                  <a:ext cx="160" cy="277"/>
                </a:xfrm>
                <a:custGeom>
                  <a:avLst/>
                  <a:gdLst>
                    <a:gd name="T0" fmla="*/ 0 w 481"/>
                    <a:gd name="T1" fmla="*/ 831 h 831"/>
                    <a:gd name="T2" fmla="*/ 481 w 481"/>
                    <a:gd name="T3" fmla="*/ 0 h 831"/>
                    <a:gd name="T4" fmla="*/ 481 w 481"/>
                    <a:gd name="T5" fmla="*/ 92 h 831"/>
                    <a:gd name="T6" fmla="*/ 54 w 481"/>
                    <a:gd name="T7" fmla="*/ 831 h 831"/>
                    <a:gd name="T8" fmla="*/ 0 w 481"/>
                    <a:gd name="T9" fmla="*/ 831 h 831"/>
                  </a:gdLst>
                  <a:ahLst/>
                  <a:cxnLst>
                    <a:cxn ang="0">
                      <a:pos x="T0" y="T1"/>
                    </a:cxn>
                    <a:cxn ang="0">
                      <a:pos x="T2" y="T3"/>
                    </a:cxn>
                    <a:cxn ang="0">
                      <a:pos x="T4" y="T5"/>
                    </a:cxn>
                    <a:cxn ang="0">
                      <a:pos x="T6" y="T7"/>
                    </a:cxn>
                    <a:cxn ang="0">
                      <a:pos x="T8" y="T9"/>
                    </a:cxn>
                  </a:cxnLst>
                  <a:rect l="0" t="0" r="r" b="b"/>
                  <a:pathLst>
                    <a:path w="481" h="831">
                      <a:moveTo>
                        <a:pt x="0" y="831"/>
                      </a:moveTo>
                      <a:lnTo>
                        <a:pt x="481" y="0"/>
                      </a:lnTo>
                      <a:lnTo>
                        <a:pt x="481" y="92"/>
                      </a:lnTo>
                      <a:lnTo>
                        <a:pt x="54" y="831"/>
                      </a:lnTo>
                      <a:lnTo>
                        <a:pt x="0" y="83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18" name="Freeform 5006"/>
                <p:cNvSpPr>
                  <a:spLocks noChangeAspect="1"/>
                </p:cNvSpPr>
                <p:nvPr/>
              </p:nvSpPr>
              <p:spPr bwMode="auto">
                <a:xfrm>
                  <a:off x="3304" y="3616"/>
                  <a:ext cx="151" cy="262"/>
                </a:xfrm>
                <a:custGeom>
                  <a:avLst/>
                  <a:gdLst>
                    <a:gd name="T0" fmla="*/ 0 w 453"/>
                    <a:gd name="T1" fmla="*/ 786 h 786"/>
                    <a:gd name="T2" fmla="*/ 453 w 453"/>
                    <a:gd name="T3" fmla="*/ 0 h 786"/>
                    <a:gd name="T4" fmla="*/ 453 w 453"/>
                    <a:gd name="T5" fmla="*/ 93 h 786"/>
                    <a:gd name="T6" fmla="*/ 53 w 453"/>
                    <a:gd name="T7" fmla="*/ 786 h 786"/>
                    <a:gd name="T8" fmla="*/ 0 w 453"/>
                    <a:gd name="T9" fmla="*/ 786 h 786"/>
                  </a:gdLst>
                  <a:ahLst/>
                  <a:cxnLst>
                    <a:cxn ang="0">
                      <a:pos x="T0" y="T1"/>
                    </a:cxn>
                    <a:cxn ang="0">
                      <a:pos x="T2" y="T3"/>
                    </a:cxn>
                    <a:cxn ang="0">
                      <a:pos x="T4" y="T5"/>
                    </a:cxn>
                    <a:cxn ang="0">
                      <a:pos x="T6" y="T7"/>
                    </a:cxn>
                    <a:cxn ang="0">
                      <a:pos x="T8" y="T9"/>
                    </a:cxn>
                  </a:cxnLst>
                  <a:rect l="0" t="0" r="r" b="b"/>
                  <a:pathLst>
                    <a:path w="453" h="786">
                      <a:moveTo>
                        <a:pt x="0" y="786"/>
                      </a:moveTo>
                      <a:lnTo>
                        <a:pt x="453" y="0"/>
                      </a:lnTo>
                      <a:lnTo>
                        <a:pt x="453" y="93"/>
                      </a:lnTo>
                      <a:lnTo>
                        <a:pt x="53" y="786"/>
                      </a:lnTo>
                      <a:lnTo>
                        <a:pt x="0" y="78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19" name="Freeform 5007"/>
                <p:cNvSpPr>
                  <a:spLocks noChangeAspect="1"/>
                </p:cNvSpPr>
                <p:nvPr/>
              </p:nvSpPr>
              <p:spPr bwMode="auto">
                <a:xfrm>
                  <a:off x="3313" y="3631"/>
                  <a:ext cx="142" cy="247"/>
                </a:xfrm>
                <a:custGeom>
                  <a:avLst/>
                  <a:gdLst>
                    <a:gd name="T0" fmla="*/ 0 w 427"/>
                    <a:gd name="T1" fmla="*/ 739 h 739"/>
                    <a:gd name="T2" fmla="*/ 427 w 427"/>
                    <a:gd name="T3" fmla="*/ 0 h 739"/>
                    <a:gd name="T4" fmla="*/ 427 w 427"/>
                    <a:gd name="T5" fmla="*/ 92 h 739"/>
                    <a:gd name="T6" fmla="*/ 54 w 427"/>
                    <a:gd name="T7" fmla="*/ 739 h 739"/>
                    <a:gd name="T8" fmla="*/ 0 w 427"/>
                    <a:gd name="T9" fmla="*/ 739 h 739"/>
                  </a:gdLst>
                  <a:ahLst/>
                  <a:cxnLst>
                    <a:cxn ang="0">
                      <a:pos x="T0" y="T1"/>
                    </a:cxn>
                    <a:cxn ang="0">
                      <a:pos x="T2" y="T3"/>
                    </a:cxn>
                    <a:cxn ang="0">
                      <a:pos x="T4" y="T5"/>
                    </a:cxn>
                    <a:cxn ang="0">
                      <a:pos x="T6" y="T7"/>
                    </a:cxn>
                    <a:cxn ang="0">
                      <a:pos x="T8" y="T9"/>
                    </a:cxn>
                  </a:cxnLst>
                  <a:rect l="0" t="0" r="r" b="b"/>
                  <a:pathLst>
                    <a:path w="427" h="739">
                      <a:moveTo>
                        <a:pt x="0" y="739"/>
                      </a:moveTo>
                      <a:lnTo>
                        <a:pt x="427" y="0"/>
                      </a:lnTo>
                      <a:lnTo>
                        <a:pt x="427" y="92"/>
                      </a:lnTo>
                      <a:lnTo>
                        <a:pt x="54" y="739"/>
                      </a:lnTo>
                      <a:lnTo>
                        <a:pt x="0" y="73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20" name="Freeform 5008"/>
                <p:cNvSpPr>
                  <a:spLocks noChangeAspect="1"/>
                </p:cNvSpPr>
                <p:nvPr/>
              </p:nvSpPr>
              <p:spPr bwMode="auto">
                <a:xfrm>
                  <a:off x="3322" y="3647"/>
                  <a:ext cx="133" cy="231"/>
                </a:xfrm>
                <a:custGeom>
                  <a:avLst/>
                  <a:gdLst>
                    <a:gd name="T0" fmla="*/ 0 w 400"/>
                    <a:gd name="T1" fmla="*/ 693 h 693"/>
                    <a:gd name="T2" fmla="*/ 400 w 400"/>
                    <a:gd name="T3" fmla="*/ 0 h 693"/>
                    <a:gd name="T4" fmla="*/ 400 w 400"/>
                    <a:gd name="T5" fmla="*/ 92 h 693"/>
                    <a:gd name="T6" fmla="*/ 53 w 400"/>
                    <a:gd name="T7" fmla="*/ 693 h 693"/>
                    <a:gd name="T8" fmla="*/ 0 w 400"/>
                    <a:gd name="T9" fmla="*/ 693 h 693"/>
                  </a:gdLst>
                  <a:ahLst/>
                  <a:cxnLst>
                    <a:cxn ang="0">
                      <a:pos x="T0" y="T1"/>
                    </a:cxn>
                    <a:cxn ang="0">
                      <a:pos x="T2" y="T3"/>
                    </a:cxn>
                    <a:cxn ang="0">
                      <a:pos x="T4" y="T5"/>
                    </a:cxn>
                    <a:cxn ang="0">
                      <a:pos x="T6" y="T7"/>
                    </a:cxn>
                    <a:cxn ang="0">
                      <a:pos x="T8" y="T9"/>
                    </a:cxn>
                  </a:cxnLst>
                  <a:rect l="0" t="0" r="r" b="b"/>
                  <a:pathLst>
                    <a:path w="400" h="693">
                      <a:moveTo>
                        <a:pt x="0" y="693"/>
                      </a:moveTo>
                      <a:lnTo>
                        <a:pt x="400" y="0"/>
                      </a:lnTo>
                      <a:lnTo>
                        <a:pt x="400" y="92"/>
                      </a:lnTo>
                      <a:lnTo>
                        <a:pt x="53" y="693"/>
                      </a:lnTo>
                      <a:lnTo>
                        <a:pt x="0" y="69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21" name="Freeform 5009"/>
                <p:cNvSpPr>
                  <a:spLocks noChangeAspect="1"/>
                </p:cNvSpPr>
                <p:nvPr/>
              </p:nvSpPr>
              <p:spPr bwMode="auto">
                <a:xfrm>
                  <a:off x="3331" y="3662"/>
                  <a:ext cx="124" cy="216"/>
                </a:xfrm>
                <a:custGeom>
                  <a:avLst/>
                  <a:gdLst>
                    <a:gd name="T0" fmla="*/ 0 w 373"/>
                    <a:gd name="T1" fmla="*/ 647 h 647"/>
                    <a:gd name="T2" fmla="*/ 373 w 373"/>
                    <a:gd name="T3" fmla="*/ 0 h 647"/>
                    <a:gd name="T4" fmla="*/ 373 w 373"/>
                    <a:gd name="T5" fmla="*/ 92 h 647"/>
                    <a:gd name="T6" fmla="*/ 53 w 373"/>
                    <a:gd name="T7" fmla="*/ 647 h 647"/>
                    <a:gd name="T8" fmla="*/ 0 w 373"/>
                    <a:gd name="T9" fmla="*/ 647 h 647"/>
                  </a:gdLst>
                  <a:ahLst/>
                  <a:cxnLst>
                    <a:cxn ang="0">
                      <a:pos x="T0" y="T1"/>
                    </a:cxn>
                    <a:cxn ang="0">
                      <a:pos x="T2" y="T3"/>
                    </a:cxn>
                    <a:cxn ang="0">
                      <a:pos x="T4" y="T5"/>
                    </a:cxn>
                    <a:cxn ang="0">
                      <a:pos x="T6" y="T7"/>
                    </a:cxn>
                    <a:cxn ang="0">
                      <a:pos x="T8" y="T9"/>
                    </a:cxn>
                  </a:cxnLst>
                  <a:rect l="0" t="0" r="r" b="b"/>
                  <a:pathLst>
                    <a:path w="373" h="647">
                      <a:moveTo>
                        <a:pt x="0" y="647"/>
                      </a:moveTo>
                      <a:lnTo>
                        <a:pt x="373" y="0"/>
                      </a:lnTo>
                      <a:lnTo>
                        <a:pt x="373" y="92"/>
                      </a:lnTo>
                      <a:lnTo>
                        <a:pt x="53" y="647"/>
                      </a:lnTo>
                      <a:lnTo>
                        <a:pt x="0" y="64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22" name="Freeform 5010"/>
                <p:cNvSpPr>
                  <a:spLocks noChangeAspect="1"/>
                </p:cNvSpPr>
                <p:nvPr/>
              </p:nvSpPr>
              <p:spPr bwMode="auto">
                <a:xfrm>
                  <a:off x="3339" y="3677"/>
                  <a:ext cx="116" cy="201"/>
                </a:xfrm>
                <a:custGeom>
                  <a:avLst/>
                  <a:gdLst>
                    <a:gd name="T0" fmla="*/ 0 w 347"/>
                    <a:gd name="T1" fmla="*/ 601 h 601"/>
                    <a:gd name="T2" fmla="*/ 347 w 347"/>
                    <a:gd name="T3" fmla="*/ 0 h 601"/>
                    <a:gd name="T4" fmla="*/ 347 w 347"/>
                    <a:gd name="T5" fmla="*/ 93 h 601"/>
                    <a:gd name="T6" fmla="*/ 54 w 347"/>
                    <a:gd name="T7" fmla="*/ 601 h 601"/>
                    <a:gd name="T8" fmla="*/ 0 w 347"/>
                    <a:gd name="T9" fmla="*/ 601 h 601"/>
                  </a:gdLst>
                  <a:ahLst/>
                  <a:cxnLst>
                    <a:cxn ang="0">
                      <a:pos x="T0" y="T1"/>
                    </a:cxn>
                    <a:cxn ang="0">
                      <a:pos x="T2" y="T3"/>
                    </a:cxn>
                    <a:cxn ang="0">
                      <a:pos x="T4" y="T5"/>
                    </a:cxn>
                    <a:cxn ang="0">
                      <a:pos x="T6" y="T7"/>
                    </a:cxn>
                    <a:cxn ang="0">
                      <a:pos x="T8" y="T9"/>
                    </a:cxn>
                  </a:cxnLst>
                  <a:rect l="0" t="0" r="r" b="b"/>
                  <a:pathLst>
                    <a:path w="347" h="601">
                      <a:moveTo>
                        <a:pt x="0" y="601"/>
                      </a:moveTo>
                      <a:lnTo>
                        <a:pt x="347" y="0"/>
                      </a:lnTo>
                      <a:lnTo>
                        <a:pt x="347" y="93"/>
                      </a:lnTo>
                      <a:lnTo>
                        <a:pt x="54" y="601"/>
                      </a:lnTo>
                      <a:lnTo>
                        <a:pt x="0" y="601"/>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23" name="Freeform 5011"/>
                <p:cNvSpPr>
                  <a:spLocks noChangeAspect="1"/>
                </p:cNvSpPr>
                <p:nvPr/>
              </p:nvSpPr>
              <p:spPr bwMode="auto">
                <a:xfrm>
                  <a:off x="3348" y="3693"/>
                  <a:ext cx="107" cy="185"/>
                </a:xfrm>
                <a:custGeom>
                  <a:avLst/>
                  <a:gdLst>
                    <a:gd name="T0" fmla="*/ 0 w 320"/>
                    <a:gd name="T1" fmla="*/ 555 h 555"/>
                    <a:gd name="T2" fmla="*/ 320 w 320"/>
                    <a:gd name="T3" fmla="*/ 0 h 555"/>
                    <a:gd name="T4" fmla="*/ 320 w 320"/>
                    <a:gd name="T5" fmla="*/ 93 h 555"/>
                    <a:gd name="T6" fmla="*/ 53 w 320"/>
                    <a:gd name="T7" fmla="*/ 555 h 555"/>
                    <a:gd name="T8" fmla="*/ 0 w 320"/>
                    <a:gd name="T9" fmla="*/ 555 h 555"/>
                  </a:gdLst>
                  <a:ahLst/>
                  <a:cxnLst>
                    <a:cxn ang="0">
                      <a:pos x="T0" y="T1"/>
                    </a:cxn>
                    <a:cxn ang="0">
                      <a:pos x="T2" y="T3"/>
                    </a:cxn>
                    <a:cxn ang="0">
                      <a:pos x="T4" y="T5"/>
                    </a:cxn>
                    <a:cxn ang="0">
                      <a:pos x="T6" y="T7"/>
                    </a:cxn>
                    <a:cxn ang="0">
                      <a:pos x="T8" y="T9"/>
                    </a:cxn>
                  </a:cxnLst>
                  <a:rect l="0" t="0" r="r" b="b"/>
                  <a:pathLst>
                    <a:path w="320" h="555">
                      <a:moveTo>
                        <a:pt x="0" y="555"/>
                      </a:moveTo>
                      <a:lnTo>
                        <a:pt x="320" y="0"/>
                      </a:lnTo>
                      <a:lnTo>
                        <a:pt x="320" y="93"/>
                      </a:lnTo>
                      <a:lnTo>
                        <a:pt x="53" y="555"/>
                      </a:lnTo>
                      <a:lnTo>
                        <a:pt x="0" y="55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24" name="Freeform 5012"/>
                <p:cNvSpPr>
                  <a:spLocks noChangeAspect="1"/>
                </p:cNvSpPr>
                <p:nvPr/>
              </p:nvSpPr>
              <p:spPr bwMode="auto">
                <a:xfrm>
                  <a:off x="3357" y="3708"/>
                  <a:ext cx="98" cy="170"/>
                </a:xfrm>
                <a:custGeom>
                  <a:avLst/>
                  <a:gdLst>
                    <a:gd name="T0" fmla="*/ 0 w 293"/>
                    <a:gd name="T1" fmla="*/ 508 h 508"/>
                    <a:gd name="T2" fmla="*/ 293 w 293"/>
                    <a:gd name="T3" fmla="*/ 0 h 508"/>
                    <a:gd name="T4" fmla="*/ 293 w 293"/>
                    <a:gd name="T5" fmla="*/ 92 h 508"/>
                    <a:gd name="T6" fmla="*/ 53 w 293"/>
                    <a:gd name="T7" fmla="*/ 508 h 508"/>
                    <a:gd name="T8" fmla="*/ 0 w 293"/>
                    <a:gd name="T9" fmla="*/ 508 h 508"/>
                  </a:gdLst>
                  <a:ahLst/>
                  <a:cxnLst>
                    <a:cxn ang="0">
                      <a:pos x="T0" y="T1"/>
                    </a:cxn>
                    <a:cxn ang="0">
                      <a:pos x="T2" y="T3"/>
                    </a:cxn>
                    <a:cxn ang="0">
                      <a:pos x="T4" y="T5"/>
                    </a:cxn>
                    <a:cxn ang="0">
                      <a:pos x="T6" y="T7"/>
                    </a:cxn>
                    <a:cxn ang="0">
                      <a:pos x="T8" y="T9"/>
                    </a:cxn>
                  </a:cxnLst>
                  <a:rect l="0" t="0" r="r" b="b"/>
                  <a:pathLst>
                    <a:path w="293" h="508">
                      <a:moveTo>
                        <a:pt x="0" y="508"/>
                      </a:moveTo>
                      <a:lnTo>
                        <a:pt x="293" y="0"/>
                      </a:lnTo>
                      <a:lnTo>
                        <a:pt x="293" y="92"/>
                      </a:lnTo>
                      <a:lnTo>
                        <a:pt x="53" y="508"/>
                      </a:lnTo>
                      <a:lnTo>
                        <a:pt x="0" y="508"/>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25" name="Freeform 5013"/>
                <p:cNvSpPr>
                  <a:spLocks noChangeAspect="1"/>
                </p:cNvSpPr>
                <p:nvPr/>
              </p:nvSpPr>
              <p:spPr bwMode="auto">
                <a:xfrm>
                  <a:off x="3366" y="3724"/>
                  <a:ext cx="89" cy="154"/>
                </a:xfrm>
                <a:custGeom>
                  <a:avLst/>
                  <a:gdLst>
                    <a:gd name="T0" fmla="*/ 0 w 267"/>
                    <a:gd name="T1" fmla="*/ 462 h 462"/>
                    <a:gd name="T2" fmla="*/ 267 w 267"/>
                    <a:gd name="T3" fmla="*/ 0 h 462"/>
                    <a:gd name="T4" fmla="*/ 267 w 267"/>
                    <a:gd name="T5" fmla="*/ 92 h 462"/>
                    <a:gd name="T6" fmla="*/ 53 w 267"/>
                    <a:gd name="T7" fmla="*/ 462 h 462"/>
                    <a:gd name="T8" fmla="*/ 0 w 267"/>
                    <a:gd name="T9" fmla="*/ 462 h 462"/>
                  </a:gdLst>
                  <a:ahLst/>
                  <a:cxnLst>
                    <a:cxn ang="0">
                      <a:pos x="T0" y="T1"/>
                    </a:cxn>
                    <a:cxn ang="0">
                      <a:pos x="T2" y="T3"/>
                    </a:cxn>
                    <a:cxn ang="0">
                      <a:pos x="T4" y="T5"/>
                    </a:cxn>
                    <a:cxn ang="0">
                      <a:pos x="T6" y="T7"/>
                    </a:cxn>
                    <a:cxn ang="0">
                      <a:pos x="T8" y="T9"/>
                    </a:cxn>
                  </a:cxnLst>
                  <a:rect l="0" t="0" r="r" b="b"/>
                  <a:pathLst>
                    <a:path w="267" h="462">
                      <a:moveTo>
                        <a:pt x="0" y="462"/>
                      </a:moveTo>
                      <a:lnTo>
                        <a:pt x="267" y="0"/>
                      </a:lnTo>
                      <a:lnTo>
                        <a:pt x="267" y="92"/>
                      </a:lnTo>
                      <a:lnTo>
                        <a:pt x="53" y="462"/>
                      </a:lnTo>
                      <a:lnTo>
                        <a:pt x="0" y="46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26" name="Freeform 5014"/>
                <p:cNvSpPr>
                  <a:spLocks noChangeAspect="1"/>
                </p:cNvSpPr>
                <p:nvPr/>
              </p:nvSpPr>
              <p:spPr bwMode="auto">
                <a:xfrm>
                  <a:off x="3375" y="3739"/>
                  <a:ext cx="80" cy="139"/>
                </a:xfrm>
                <a:custGeom>
                  <a:avLst/>
                  <a:gdLst>
                    <a:gd name="T0" fmla="*/ 0 w 240"/>
                    <a:gd name="T1" fmla="*/ 416 h 416"/>
                    <a:gd name="T2" fmla="*/ 240 w 240"/>
                    <a:gd name="T3" fmla="*/ 0 h 416"/>
                    <a:gd name="T4" fmla="*/ 240 w 240"/>
                    <a:gd name="T5" fmla="*/ 93 h 416"/>
                    <a:gd name="T6" fmla="*/ 53 w 240"/>
                    <a:gd name="T7" fmla="*/ 416 h 416"/>
                    <a:gd name="T8" fmla="*/ 0 w 240"/>
                    <a:gd name="T9" fmla="*/ 416 h 416"/>
                  </a:gdLst>
                  <a:ahLst/>
                  <a:cxnLst>
                    <a:cxn ang="0">
                      <a:pos x="T0" y="T1"/>
                    </a:cxn>
                    <a:cxn ang="0">
                      <a:pos x="T2" y="T3"/>
                    </a:cxn>
                    <a:cxn ang="0">
                      <a:pos x="T4" y="T5"/>
                    </a:cxn>
                    <a:cxn ang="0">
                      <a:pos x="T6" y="T7"/>
                    </a:cxn>
                    <a:cxn ang="0">
                      <a:pos x="T8" y="T9"/>
                    </a:cxn>
                  </a:cxnLst>
                  <a:rect l="0" t="0" r="r" b="b"/>
                  <a:pathLst>
                    <a:path w="240" h="416">
                      <a:moveTo>
                        <a:pt x="0" y="416"/>
                      </a:moveTo>
                      <a:lnTo>
                        <a:pt x="240" y="0"/>
                      </a:lnTo>
                      <a:lnTo>
                        <a:pt x="240" y="93"/>
                      </a:lnTo>
                      <a:lnTo>
                        <a:pt x="53" y="416"/>
                      </a:lnTo>
                      <a:lnTo>
                        <a:pt x="0" y="416"/>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27" name="Freeform 5015"/>
                <p:cNvSpPr>
                  <a:spLocks noChangeAspect="1"/>
                </p:cNvSpPr>
                <p:nvPr/>
              </p:nvSpPr>
              <p:spPr bwMode="auto">
                <a:xfrm>
                  <a:off x="3384" y="3754"/>
                  <a:ext cx="71" cy="124"/>
                </a:xfrm>
                <a:custGeom>
                  <a:avLst/>
                  <a:gdLst>
                    <a:gd name="T0" fmla="*/ 0 w 214"/>
                    <a:gd name="T1" fmla="*/ 370 h 370"/>
                    <a:gd name="T2" fmla="*/ 214 w 214"/>
                    <a:gd name="T3" fmla="*/ 0 h 370"/>
                    <a:gd name="T4" fmla="*/ 214 w 214"/>
                    <a:gd name="T5" fmla="*/ 93 h 370"/>
                    <a:gd name="T6" fmla="*/ 54 w 214"/>
                    <a:gd name="T7" fmla="*/ 370 h 370"/>
                    <a:gd name="T8" fmla="*/ 0 w 214"/>
                    <a:gd name="T9" fmla="*/ 370 h 370"/>
                  </a:gdLst>
                  <a:ahLst/>
                  <a:cxnLst>
                    <a:cxn ang="0">
                      <a:pos x="T0" y="T1"/>
                    </a:cxn>
                    <a:cxn ang="0">
                      <a:pos x="T2" y="T3"/>
                    </a:cxn>
                    <a:cxn ang="0">
                      <a:pos x="T4" y="T5"/>
                    </a:cxn>
                    <a:cxn ang="0">
                      <a:pos x="T6" y="T7"/>
                    </a:cxn>
                    <a:cxn ang="0">
                      <a:pos x="T8" y="T9"/>
                    </a:cxn>
                  </a:cxnLst>
                  <a:rect l="0" t="0" r="r" b="b"/>
                  <a:pathLst>
                    <a:path w="214" h="370">
                      <a:moveTo>
                        <a:pt x="0" y="370"/>
                      </a:moveTo>
                      <a:lnTo>
                        <a:pt x="214" y="0"/>
                      </a:lnTo>
                      <a:lnTo>
                        <a:pt x="214" y="93"/>
                      </a:lnTo>
                      <a:lnTo>
                        <a:pt x="54" y="370"/>
                      </a:lnTo>
                      <a:lnTo>
                        <a:pt x="0" y="370"/>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28" name="Freeform 5016"/>
                <p:cNvSpPr>
                  <a:spLocks noChangeAspect="1"/>
                </p:cNvSpPr>
                <p:nvPr/>
              </p:nvSpPr>
              <p:spPr bwMode="auto">
                <a:xfrm>
                  <a:off x="3393" y="3770"/>
                  <a:ext cx="62" cy="108"/>
                </a:xfrm>
                <a:custGeom>
                  <a:avLst/>
                  <a:gdLst>
                    <a:gd name="T0" fmla="*/ 0 w 187"/>
                    <a:gd name="T1" fmla="*/ 323 h 323"/>
                    <a:gd name="T2" fmla="*/ 187 w 187"/>
                    <a:gd name="T3" fmla="*/ 0 h 323"/>
                    <a:gd name="T4" fmla="*/ 187 w 187"/>
                    <a:gd name="T5" fmla="*/ 91 h 323"/>
                    <a:gd name="T6" fmla="*/ 54 w 187"/>
                    <a:gd name="T7" fmla="*/ 323 h 323"/>
                    <a:gd name="T8" fmla="*/ 0 w 187"/>
                    <a:gd name="T9" fmla="*/ 323 h 323"/>
                  </a:gdLst>
                  <a:ahLst/>
                  <a:cxnLst>
                    <a:cxn ang="0">
                      <a:pos x="T0" y="T1"/>
                    </a:cxn>
                    <a:cxn ang="0">
                      <a:pos x="T2" y="T3"/>
                    </a:cxn>
                    <a:cxn ang="0">
                      <a:pos x="T4" y="T5"/>
                    </a:cxn>
                    <a:cxn ang="0">
                      <a:pos x="T6" y="T7"/>
                    </a:cxn>
                    <a:cxn ang="0">
                      <a:pos x="T8" y="T9"/>
                    </a:cxn>
                  </a:cxnLst>
                  <a:rect l="0" t="0" r="r" b="b"/>
                  <a:pathLst>
                    <a:path w="187" h="323">
                      <a:moveTo>
                        <a:pt x="0" y="323"/>
                      </a:moveTo>
                      <a:lnTo>
                        <a:pt x="187" y="0"/>
                      </a:lnTo>
                      <a:lnTo>
                        <a:pt x="187" y="91"/>
                      </a:lnTo>
                      <a:lnTo>
                        <a:pt x="54" y="323"/>
                      </a:lnTo>
                      <a:lnTo>
                        <a:pt x="0" y="323"/>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29" name="Freeform 5017"/>
                <p:cNvSpPr>
                  <a:spLocks noChangeAspect="1"/>
                </p:cNvSpPr>
                <p:nvPr/>
              </p:nvSpPr>
              <p:spPr bwMode="auto">
                <a:xfrm>
                  <a:off x="3402" y="3785"/>
                  <a:ext cx="53" cy="93"/>
                </a:xfrm>
                <a:custGeom>
                  <a:avLst/>
                  <a:gdLst>
                    <a:gd name="T0" fmla="*/ 0 w 160"/>
                    <a:gd name="T1" fmla="*/ 277 h 277"/>
                    <a:gd name="T2" fmla="*/ 160 w 160"/>
                    <a:gd name="T3" fmla="*/ 0 h 277"/>
                    <a:gd name="T4" fmla="*/ 160 w 160"/>
                    <a:gd name="T5" fmla="*/ 92 h 277"/>
                    <a:gd name="T6" fmla="*/ 54 w 160"/>
                    <a:gd name="T7" fmla="*/ 277 h 277"/>
                    <a:gd name="T8" fmla="*/ 0 w 160"/>
                    <a:gd name="T9" fmla="*/ 277 h 277"/>
                  </a:gdLst>
                  <a:ahLst/>
                  <a:cxnLst>
                    <a:cxn ang="0">
                      <a:pos x="T0" y="T1"/>
                    </a:cxn>
                    <a:cxn ang="0">
                      <a:pos x="T2" y="T3"/>
                    </a:cxn>
                    <a:cxn ang="0">
                      <a:pos x="T4" y="T5"/>
                    </a:cxn>
                    <a:cxn ang="0">
                      <a:pos x="T6" y="T7"/>
                    </a:cxn>
                    <a:cxn ang="0">
                      <a:pos x="T8" y="T9"/>
                    </a:cxn>
                  </a:cxnLst>
                  <a:rect l="0" t="0" r="r" b="b"/>
                  <a:pathLst>
                    <a:path w="160" h="277">
                      <a:moveTo>
                        <a:pt x="0" y="277"/>
                      </a:moveTo>
                      <a:lnTo>
                        <a:pt x="160" y="0"/>
                      </a:lnTo>
                      <a:lnTo>
                        <a:pt x="160" y="92"/>
                      </a:lnTo>
                      <a:lnTo>
                        <a:pt x="54" y="277"/>
                      </a:lnTo>
                      <a:lnTo>
                        <a:pt x="0" y="27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30" name="Freeform 5018"/>
                <p:cNvSpPr>
                  <a:spLocks noChangeAspect="1"/>
                </p:cNvSpPr>
                <p:nvPr/>
              </p:nvSpPr>
              <p:spPr bwMode="auto">
                <a:xfrm>
                  <a:off x="3411" y="3800"/>
                  <a:ext cx="44" cy="78"/>
                </a:xfrm>
                <a:custGeom>
                  <a:avLst/>
                  <a:gdLst>
                    <a:gd name="T0" fmla="*/ 0 w 133"/>
                    <a:gd name="T1" fmla="*/ 232 h 232"/>
                    <a:gd name="T2" fmla="*/ 133 w 133"/>
                    <a:gd name="T3" fmla="*/ 0 h 232"/>
                    <a:gd name="T4" fmla="*/ 133 w 133"/>
                    <a:gd name="T5" fmla="*/ 93 h 232"/>
                    <a:gd name="T6" fmla="*/ 53 w 133"/>
                    <a:gd name="T7" fmla="*/ 232 h 232"/>
                    <a:gd name="T8" fmla="*/ 0 w 133"/>
                    <a:gd name="T9" fmla="*/ 232 h 232"/>
                  </a:gdLst>
                  <a:ahLst/>
                  <a:cxnLst>
                    <a:cxn ang="0">
                      <a:pos x="T0" y="T1"/>
                    </a:cxn>
                    <a:cxn ang="0">
                      <a:pos x="T2" y="T3"/>
                    </a:cxn>
                    <a:cxn ang="0">
                      <a:pos x="T4" y="T5"/>
                    </a:cxn>
                    <a:cxn ang="0">
                      <a:pos x="T6" y="T7"/>
                    </a:cxn>
                    <a:cxn ang="0">
                      <a:pos x="T8" y="T9"/>
                    </a:cxn>
                  </a:cxnLst>
                  <a:rect l="0" t="0" r="r" b="b"/>
                  <a:pathLst>
                    <a:path w="133" h="232">
                      <a:moveTo>
                        <a:pt x="0" y="232"/>
                      </a:moveTo>
                      <a:lnTo>
                        <a:pt x="133" y="0"/>
                      </a:lnTo>
                      <a:lnTo>
                        <a:pt x="133" y="93"/>
                      </a:lnTo>
                      <a:lnTo>
                        <a:pt x="53" y="232"/>
                      </a:lnTo>
                      <a:lnTo>
                        <a:pt x="0" y="23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31" name="Freeform 5019"/>
                <p:cNvSpPr>
                  <a:spLocks noChangeAspect="1"/>
                </p:cNvSpPr>
                <p:nvPr/>
              </p:nvSpPr>
              <p:spPr bwMode="auto">
                <a:xfrm>
                  <a:off x="3420" y="3816"/>
                  <a:ext cx="35" cy="62"/>
                </a:xfrm>
                <a:custGeom>
                  <a:avLst/>
                  <a:gdLst>
                    <a:gd name="T0" fmla="*/ 0 w 106"/>
                    <a:gd name="T1" fmla="*/ 185 h 185"/>
                    <a:gd name="T2" fmla="*/ 106 w 106"/>
                    <a:gd name="T3" fmla="*/ 0 h 185"/>
                    <a:gd name="T4" fmla="*/ 106 w 106"/>
                    <a:gd name="T5" fmla="*/ 93 h 185"/>
                    <a:gd name="T6" fmla="*/ 53 w 106"/>
                    <a:gd name="T7" fmla="*/ 185 h 185"/>
                    <a:gd name="T8" fmla="*/ 0 w 106"/>
                    <a:gd name="T9" fmla="*/ 185 h 185"/>
                  </a:gdLst>
                  <a:ahLst/>
                  <a:cxnLst>
                    <a:cxn ang="0">
                      <a:pos x="T0" y="T1"/>
                    </a:cxn>
                    <a:cxn ang="0">
                      <a:pos x="T2" y="T3"/>
                    </a:cxn>
                    <a:cxn ang="0">
                      <a:pos x="T4" y="T5"/>
                    </a:cxn>
                    <a:cxn ang="0">
                      <a:pos x="T6" y="T7"/>
                    </a:cxn>
                    <a:cxn ang="0">
                      <a:pos x="T8" y="T9"/>
                    </a:cxn>
                  </a:cxnLst>
                  <a:rect l="0" t="0" r="r" b="b"/>
                  <a:pathLst>
                    <a:path w="106" h="185">
                      <a:moveTo>
                        <a:pt x="0" y="185"/>
                      </a:moveTo>
                      <a:lnTo>
                        <a:pt x="106" y="0"/>
                      </a:lnTo>
                      <a:lnTo>
                        <a:pt x="106" y="93"/>
                      </a:lnTo>
                      <a:lnTo>
                        <a:pt x="53" y="185"/>
                      </a:lnTo>
                      <a:lnTo>
                        <a:pt x="0" y="185"/>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32" name="Freeform 5020"/>
                <p:cNvSpPr>
                  <a:spLocks noChangeAspect="1"/>
                </p:cNvSpPr>
                <p:nvPr/>
              </p:nvSpPr>
              <p:spPr bwMode="auto">
                <a:xfrm>
                  <a:off x="3428" y="3831"/>
                  <a:ext cx="27" cy="47"/>
                </a:xfrm>
                <a:custGeom>
                  <a:avLst/>
                  <a:gdLst>
                    <a:gd name="T0" fmla="*/ 0 w 80"/>
                    <a:gd name="T1" fmla="*/ 139 h 139"/>
                    <a:gd name="T2" fmla="*/ 80 w 80"/>
                    <a:gd name="T3" fmla="*/ 0 h 139"/>
                    <a:gd name="T4" fmla="*/ 80 w 80"/>
                    <a:gd name="T5" fmla="*/ 92 h 139"/>
                    <a:gd name="T6" fmla="*/ 54 w 80"/>
                    <a:gd name="T7" fmla="*/ 139 h 139"/>
                    <a:gd name="T8" fmla="*/ 0 w 80"/>
                    <a:gd name="T9" fmla="*/ 139 h 139"/>
                  </a:gdLst>
                  <a:ahLst/>
                  <a:cxnLst>
                    <a:cxn ang="0">
                      <a:pos x="T0" y="T1"/>
                    </a:cxn>
                    <a:cxn ang="0">
                      <a:pos x="T2" y="T3"/>
                    </a:cxn>
                    <a:cxn ang="0">
                      <a:pos x="T4" y="T5"/>
                    </a:cxn>
                    <a:cxn ang="0">
                      <a:pos x="T6" y="T7"/>
                    </a:cxn>
                    <a:cxn ang="0">
                      <a:pos x="T8" y="T9"/>
                    </a:cxn>
                  </a:cxnLst>
                  <a:rect l="0" t="0" r="r" b="b"/>
                  <a:pathLst>
                    <a:path w="80" h="139">
                      <a:moveTo>
                        <a:pt x="0" y="139"/>
                      </a:moveTo>
                      <a:lnTo>
                        <a:pt x="80" y="0"/>
                      </a:lnTo>
                      <a:lnTo>
                        <a:pt x="80" y="92"/>
                      </a:lnTo>
                      <a:lnTo>
                        <a:pt x="54" y="139"/>
                      </a:lnTo>
                      <a:lnTo>
                        <a:pt x="0" y="139"/>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33" name="Freeform 5021"/>
                <p:cNvSpPr>
                  <a:spLocks noChangeAspect="1"/>
                </p:cNvSpPr>
                <p:nvPr/>
              </p:nvSpPr>
              <p:spPr bwMode="auto">
                <a:xfrm>
                  <a:off x="3437" y="3847"/>
                  <a:ext cx="18" cy="31"/>
                </a:xfrm>
                <a:custGeom>
                  <a:avLst/>
                  <a:gdLst>
                    <a:gd name="T0" fmla="*/ 0 w 53"/>
                    <a:gd name="T1" fmla="*/ 92 h 92"/>
                    <a:gd name="T2" fmla="*/ 53 w 53"/>
                    <a:gd name="T3" fmla="*/ 0 h 92"/>
                    <a:gd name="T4" fmla="*/ 53 w 53"/>
                    <a:gd name="T5" fmla="*/ 92 h 92"/>
                    <a:gd name="T6" fmla="*/ 53 w 53"/>
                    <a:gd name="T7" fmla="*/ 92 h 92"/>
                    <a:gd name="T8" fmla="*/ 0 w 53"/>
                    <a:gd name="T9" fmla="*/ 92 h 92"/>
                  </a:gdLst>
                  <a:ahLst/>
                  <a:cxnLst>
                    <a:cxn ang="0">
                      <a:pos x="T0" y="T1"/>
                    </a:cxn>
                    <a:cxn ang="0">
                      <a:pos x="T2" y="T3"/>
                    </a:cxn>
                    <a:cxn ang="0">
                      <a:pos x="T4" y="T5"/>
                    </a:cxn>
                    <a:cxn ang="0">
                      <a:pos x="T6" y="T7"/>
                    </a:cxn>
                    <a:cxn ang="0">
                      <a:pos x="T8" y="T9"/>
                    </a:cxn>
                  </a:cxnLst>
                  <a:rect l="0" t="0" r="r" b="b"/>
                  <a:pathLst>
                    <a:path w="53" h="92">
                      <a:moveTo>
                        <a:pt x="0" y="92"/>
                      </a:moveTo>
                      <a:lnTo>
                        <a:pt x="53" y="0"/>
                      </a:lnTo>
                      <a:lnTo>
                        <a:pt x="53" y="92"/>
                      </a:lnTo>
                      <a:lnTo>
                        <a:pt x="53" y="92"/>
                      </a:lnTo>
                      <a:lnTo>
                        <a:pt x="0" y="92"/>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34" name="Freeform 5022"/>
                <p:cNvSpPr>
                  <a:spLocks noChangeAspect="1"/>
                </p:cNvSpPr>
                <p:nvPr/>
              </p:nvSpPr>
              <p:spPr bwMode="auto">
                <a:xfrm>
                  <a:off x="3446" y="3862"/>
                  <a:ext cx="9" cy="16"/>
                </a:xfrm>
                <a:custGeom>
                  <a:avLst/>
                  <a:gdLst>
                    <a:gd name="T0" fmla="*/ 0 w 26"/>
                    <a:gd name="T1" fmla="*/ 47 h 47"/>
                    <a:gd name="T2" fmla="*/ 26 w 26"/>
                    <a:gd name="T3" fmla="*/ 0 h 47"/>
                    <a:gd name="T4" fmla="*/ 26 w 26"/>
                    <a:gd name="T5" fmla="*/ 47 h 47"/>
                    <a:gd name="T6" fmla="*/ 0 w 26"/>
                    <a:gd name="T7" fmla="*/ 47 h 47"/>
                  </a:gdLst>
                  <a:ahLst/>
                  <a:cxnLst>
                    <a:cxn ang="0">
                      <a:pos x="T0" y="T1"/>
                    </a:cxn>
                    <a:cxn ang="0">
                      <a:pos x="T2" y="T3"/>
                    </a:cxn>
                    <a:cxn ang="0">
                      <a:pos x="T4" y="T5"/>
                    </a:cxn>
                    <a:cxn ang="0">
                      <a:pos x="T6" y="T7"/>
                    </a:cxn>
                  </a:cxnLst>
                  <a:rect l="0" t="0" r="r" b="b"/>
                  <a:pathLst>
                    <a:path w="26" h="47">
                      <a:moveTo>
                        <a:pt x="0" y="47"/>
                      </a:moveTo>
                      <a:lnTo>
                        <a:pt x="26" y="0"/>
                      </a:lnTo>
                      <a:lnTo>
                        <a:pt x="26" y="47"/>
                      </a:lnTo>
                      <a:lnTo>
                        <a:pt x="0" y="47"/>
                      </a:lnTo>
                      <a:close/>
                    </a:path>
                  </a:pathLst>
                </a:custGeom>
                <a:gradFill rotWithShape="0">
                  <a:gsLst>
                    <a:gs pos="0">
                      <a:schemeClr val="hlink"/>
                    </a:gs>
                    <a:gs pos="100000">
                      <a:schemeClr val="hlink">
                        <a:gamma/>
                        <a:tint val="4000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35" name="Rectangle 5023"/>
                <p:cNvSpPr>
                  <a:spLocks noChangeAspect="1" noChangeArrowheads="1"/>
                </p:cNvSpPr>
                <p:nvPr/>
              </p:nvSpPr>
              <p:spPr bwMode="auto">
                <a:xfrm>
                  <a:off x="3279" y="3412"/>
                  <a:ext cx="176" cy="466"/>
                </a:xfrm>
                <a:prstGeom prst="rect">
                  <a:avLst/>
                </a:prstGeom>
                <a:gradFill rotWithShape="0">
                  <a:gsLst>
                    <a:gs pos="0">
                      <a:schemeClr val="hlink"/>
                    </a:gs>
                    <a:gs pos="100000">
                      <a:schemeClr val="hlink">
                        <a:gamma/>
                        <a:tint val="40000"/>
                        <a:invGamma/>
                      </a:schemeClr>
                    </a:gs>
                  </a:gsLst>
                  <a:lin ang="0" scaled="1"/>
                </a:gradFill>
                <a:ln w="1588">
                  <a:solidFill>
                    <a:srgbClr val="1F1A17"/>
                  </a:solidFill>
                  <a:miter lim="800000"/>
                  <a:headEnd/>
                  <a:tailEnd/>
                </a:ln>
              </p:spPr>
              <p:txBody>
                <a:bodyPr/>
                <a:lstStyle/>
                <a:p>
                  <a:pPr>
                    <a:defRPr/>
                  </a:pPr>
                  <a:endParaRPr lang="en-US"/>
                </a:p>
              </p:txBody>
            </p:sp>
          </p:grpSp>
          <p:sp>
            <p:nvSpPr>
              <p:cNvPr id="386583" name="Rectangle 5024"/>
              <p:cNvSpPr>
                <a:spLocks noChangeAspect="1" noChangeArrowheads="1"/>
              </p:cNvSpPr>
              <p:nvPr/>
            </p:nvSpPr>
            <p:spPr bwMode="auto">
              <a:xfrm>
                <a:off x="3356" y="2773"/>
                <a:ext cx="106" cy="1131"/>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endParaRPr lang="en-US" altLang="en-US" sz="2000" b="1">
                  <a:solidFill>
                    <a:schemeClr val="bg2"/>
                  </a:solidFill>
                  <a:cs typeface="Arial" panose="020B0604020202020204" pitchFamily="34" charset="0"/>
                </a:endParaRPr>
              </a:p>
            </p:txBody>
          </p:sp>
          <p:sp>
            <p:nvSpPr>
              <p:cNvPr id="386584" name="Rectangle 5025"/>
              <p:cNvSpPr>
                <a:spLocks noChangeAspect="1" noChangeArrowheads="1"/>
              </p:cNvSpPr>
              <p:nvPr/>
            </p:nvSpPr>
            <p:spPr bwMode="auto">
              <a:xfrm>
                <a:off x="3355" y="2773"/>
                <a:ext cx="110" cy="85"/>
              </a:xfrm>
              <a:prstGeom prst="rect">
                <a:avLst/>
              </a:prstGeom>
              <a:solidFill>
                <a:srgbClr val="FF0000"/>
              </a:solidFill>
              <a:ln w="1270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585" name="Rectangle 5026"/>
              <p:cNvSpPr>
                <a:spLocks noChangeAspect="1" noChangeArrowheads="1"/>
              </p:cNvSpPr>
              <p:nvPr/>
            </p:nvSpPr>
            <p:spPr bwMode="auto">
              <a:xfrm>
                <a:off x="3355" y="2941"/>
                <a:ext cx="110" cy="85"/>
              </a:xfrm>
              <a:prstGeom prst="rect">
                <a:avLst/>
              </a:prstGeom>
              <a:solidFill>
                <a:srgbClr val="FF0000"/>
              </a:solidFill>
              <a:ln w="1270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586" name="Rectangle 5027"/>
              <p:cNvSpPr>
                <a:spLocks noChangeAspect="1" noChangeArrowheads="1"/>
              </p:cNvSpPr>
              <p:nvPr/>
            </p:nvSpPr>
            <p:spPr bwMode="auto">
              <a:xfrm>
                <a:off x="3355" y="3109"/>
                <a:ext cx="107" cy="91"/>
              </a:xfrm>
              <a:prstGeom prst="rect">
                <a:avLst/>
              </a:prstGeom>
              <a:solidFill>
                <a:srgbClr val="FF0000"/>
              </a:solidFill>
              <a:ln w="1270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386587" name="Rectangle 5028"/>
              <p:cNvSpPr>
                <a:spLocks noChangeAspect="1" noChangeArrowheads="1"/>
              </p:cNvSpPr>
              <p:nvPr/>
            </p:nvSpPr>
            <p:spPr bwMode="auto">
              <a:xfrm>
                <a:off x="3355" y="3271"/>
                <a:ext cx="107" cy="88"/>
              </a:xfrm>
              <a:prstGeom prst="rect">
                <a:avLst/>
              </a:prstGeom>
              <a:solidFill>
                <a:srgbClr val="FF0000"/>
              </a:solidFill>
              <a:ln w="1270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69541" name="Rectangle 5029"/>
              <p:cNvSpPr>
                <a:spLocks noChangeAspect="1" noChangeArrowheads="1"/>
              </p:cNvSpPr>
              <p:nvPr/>
            </p:nvSpPr>
            <p:spPr bwMode="auto">
              <a:xfrm>
                <a:off x="3065" y="3555"/>
                <a:ext cx="213" cy="349"/>
              </a:xfrm>
              <a:prstGeom prst="rect">
                <a:avLst/>
              </a:prstGeom>
              <a:gradFill rotWithShape="0">
                <a:gsLst>
                  <a:gs pos="0">
                    <a:schemeClr val="hlink"/>
                  </a:gs>
                  <a:gs pos="50000">
                    <a:schemeClr val="hlink">
                      <a:gamma/>
                      <a:tint val="53725"/>
                      <a:invGamma/>
                    </a:schemeClr>
                  </a:gs>
                  <a:gs pos="100000">
                    <a:schemeClr val="hlink"/>
                  </a:gs>
                </a:gsLst>
                <a:lin ang="18900000" scaled="1"/>
              </a:gradFill>
              <a:ln w="12700">
                <a:solidFill>
                  <a:schemeClr val="bg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a:p>
            </p:txBody>
          </p:sp>
          <p:sp>
            <p:nvSpPr>
              <p:cNvPr id="69542" name="Rectangle 5030"/>
              <p:cNvSpPr>
                <a:spLocks noChangeAspect="1" noChangeArrowheads="1"/>
              </p:cNvSpPr>
              <p:nvPr/>
            </p:nvSpPr>
            <p:spPr bwMode="auto">
              <a:xfrm>
                <a:off x="3278" y="3676"/>
                <a:ext cx="71" cy="164"/>
              </a:xfrm>
              <a:prstGeom prst="rect">
                <a:avLst/>
              </a:prstGeom>
              <a:gradFill rotWithShape="0">
                <a:gsLst>
                  <a:gs pos="0">
                    <a:schemeClr val="hlink"/>
                  </a:gs>
                  <a:gs pos="50000">
                    <a:schemeClr val="hlink">
                      <a:gamma/>
                      <a:tint val="53725"/>
                      <a:invGamma/>
                    </a:schemeClr>
                  </a:gs>
                  <a:gs pos="100000">
                    <a:schemeClr val="hlink"/>
                  </a:gs>
                </a:gsLst>
                <a:lin ang="18900000" scaled="1"/>
              </a:gradFill>
              <a:ln w="12700">
                <a:solidFill>
                  <a:schemeClr val="bg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a:p>
            </p:txBody>
          </p:sp>
          <p:sp>
            <p:nvSpPr>
              <p:cNvPr id="69543" name="Rectangle 5031"/>
              <p:cNvSpPr>
                <a:spLocks noChangeAspect="1" noChangeArrowheads="1"/>
              </p:cNvSpPr>
              <p:nvPr/>
            </p:nvSpPr>
            <p:spPr bwMode="auto">
              <a:xfrm>
                <a:off x="2965" y="3200"/>
                <a:ext cx="100" cy="494"/>
              </a:xfrm>
              <a:prstGeom prst="rect">
                <a:avLst/>
              </a:prstGeom>
              <a:gradFill rotWithShape="0">
                <a:gsLst>
                  <a:gs pos="0">
                    <a:schemeClr val="hlink"/>
                  </a:gs>
                  <a:gs pos="50000">
                    <a:schemeClr val="hlink">
                      <a:gamma/>
                      <a:tint val="53725"/>
                      <a:invGamma/>
                    </a:schemeClr>
                  </a:gs>
                  <a:gs pos="100000">
                    <a:schemeClr val="hlink"/>
                  </a:gs>
                </a:gsLst>
                <a:lin ang="18900000" scaled="1"/>
              </a:gradFill>
              <a:ln w="12700">
                <a:solidFill>
                  <a:schemeClr val="bg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a:p>
            </p:txBody>
          </p:sp>
        </p:grpSp>
        <p:cxnSp>
          <p:nvCxnSpPr>
            <p:cNvPr id="386500" name="AutoShape 5032"/>
            <p:cNvCxnSpPr>
              <a:cxnSpLocks noChangeAspect="1" noChangeShapeType="1"/>
            </p:cNvCxnSpPr>
            <p:nvPr/>
          </p:nvCxnSpPr>
          <p:spPr bwMode="auto">
            <a:xfrm flipV="1">
              <a:off x="1070" y="3638"/>
              <a:ext cx="1230" cy="0"/>
            </a:xfrm>
            <a:prstGeom prst="straightConnector1">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501" name="AutoShape 5033"/>
            <p:cNvCxnSpPr>
              <a:cxnSpLocks noChangeAspect="1" noChangeShapeType="1"/>
              <a:stCxn id="69308" idx="1"/>
              <a:endCxn id="66549" idx="1"/>
            </p:cNvCxnSpPr>
            <p:nvPr/>
          </p:nvCxnSpPr>
          <p:spPr bwMode="auto">
            <a:xfrm flipV="1">
              <a:off x="2444" y="3614"/>
              <a:ext cx="1101" cy="192"/>
            </a:xfrm>
            <a:prstGeom prst="bentConnector3">
              <a:avLst>
                <a:gd name="adj1" fmla="val 78833"/>
              </a:avLst>
            </a:prstGeom>
            <a:noFill/>
            <a:ln w="19050">
              <a:solidFill>
                <a:srgbClr val="FF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502" name="AutoShape 5034"/>
            <p:cNvCxnSpPr>
              <a:cxnSpLocks noChangeAspect="1" noChangeShapeType="1"/>
              <a:stCxn id="66689" idx="3"/>
            </p:cNvCxnSpPr>
            <p:nvPr/>
          </p:nvCxnSpPr>
          <p:spPr bwMode="auto">
            <a:xfrm>
              <a:off x="4542" y="3614"/>
              <a:ext cx="614" cy="0"/>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503" name="AutoShape 5035"/>
            <p:cNvCxnSpPr>
              <a:cxnSpLocks noChangeAspect="1" noChangeShapeType="1"/>
              <a:stCxn id="66689" idx="2"/>
            </p:cNvCxnSpPr>
            <p:nvPr/>
          </p:nvCxnSpPr>
          <p:spPr bwMode="auto">
            <a:xfrm rot="16200000" flipH="1">
              <a:off x="4664" y="3439"/>
              <a:ext cx="212" cy="767"/>
            </a:xfrm>
            <a:prstGeom prst="bentConnector2">
              <a:avLst/>
            </a:prstGeom>
            <a:noFill/>
            <a:ln w="19050">
              <a:solidFill>
                <a:srgbClr val="FF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86504" name="Rectangle 5036"/>
            <p:cNvSpPr>
              <a:spLocks noChangeAspect="1" noChangeArrowheads="1"/>
            </p:cNvSpPr>
            <p:nvPr/>
          </p:nvSpPr>
          <p:spPr bwMode="auto">
            <a:xfrm>
              <a:off x="1135" y="2539"/>
              <a:ext cx="69"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200">
                  <a:cs typeface="Arial" panose="020B0604020202020204" pitchFamily="34" charset="0"/>
                </a:rPr>
                <a:t>C</a:t>
              </a:r>
            </a:p>
          </p:txBody>
        </p:sp>
        <p:sp>
          <p:nvSpPr>
            <p:cNvPr id="386505" name="Line 5037"/>
            <p:cNvSpPr>
              <a:spLocks noChangeAspect="1" noChangeShapeType="1"/>
            </p:cNvSpPr>
            <p:nvPr/>
          </p:nvSpPr>
          <p:spPr bwMode="auto">
            <a:xfrm>
              <a:off x="1906" y="3238"/>
              <a:ext cx="7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cxnSp>
          <p:nvCxnSpPr>
            <p:cNvPr id="386506" name="AutoShape 5038"/>
            <p:cNvCxnSpPr>
              <a:cxnSpLocks noChangeAspect="1" noChangeShapeType="1"/>
              <a:stCxn id="69398" idx="9"/>
              <a:endCxn id="386493" idx="4"/>
            </p:cNvCxnSpPr>
            <p:nvPr/>
          </p:nvCxnSpPr>
          <p:spPr bwMode="auto">
            <a:xfrm rot="-5400000" flipH="1" flipV="1">
              <a:off x="2157" y="2746"/>
              <a:ext cx="64" cy="823"/>
            </a:xfrm>
            <a:prstGeom prst="bentConnector4">
              <a:avLst>
                <a:gd name="adj1" fmla="val -201370"/>
                <a:gd name="adj2" fmla="val 115403"/>
              </a:avLst>
            </a:prstGeom>
            <a:noFill/>
            <a:ln w="12700">
              <a:solidFill>
                <a:srgbClr val="FF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86507" name="Rectangle 5039"/>
            <p:cNvSpPr>
              <a:spLocks noChangeAspect="1" noChangeArrowheads="1"/>
            </p:cNvSpPr>
            <p:nvPr/>
          </p:nvSpPr>
          <p:spPr bwMode="auto">
            <a:xfrm>
              <a:off x="3154" y="1796"/>
              <a:ext cx="48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80000"/>
                </a:lnSpc>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KNOTTING &amp;</a:t>
              </a:r>
            </a:p>
            <a:p>
              <a:pPr>
                <a:lnSpc>
                  <a:spcPct val="80000"/>
                </a:lnSpc>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SCREENING</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508" name="Rectangle 5040"/>
            <p:cNvSpPr>
              <a:spLocks noChangeAspect="1" noChangeArrowheads="1"/>
            </p:cNvSpPr>
            <p:nvPr/>
          </p:nvSpPr>
          <p:spPr bwMode="auto">
            <a:xfrm>
              <a:off x="3612" y="1570"/>
              <a:ext cx="524"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80000"/>
                </a:lnSpc>
                <a:spcBef>
                  <a:spcPct val="50000"/>
                </a:spcBef>
                <a:buFontTx/>
                <a:buNone/>
              </a:pPr>
              <a:r>
                <a:rPr lang="en-US" altLang="en-US" sz="900">
                  <a:latin typeface="Arial Unicode MS" panose="020B0604020202020204" pitchFamily="34" charset="-128"/>
                  <a:ea typeface="Arial Unicode MS" panose="020B0604020202020204" pitchFamily="34" charset="-128"/>
                  <a:cs typeface="Arial Unicode MS" panose="020B0604020202020204" pitchFamily="34" charset="-128"/>
                </a:rPr>
                <a:t>BROWNSTOCK</a:t>
              </a:r>
            </a:p>
            <a:p>
              <a:pPr>
                <a:lnSpc>
                  <a:spcPct val="80000"/>
                </a:lnSpc>
                <a:spcBef>
                  <a:spcPct val="50000"/>
                </a:spcBef>
                <a:buFontTx/>
                <a:buNone/>
              </a:pPr>
              <a:r>
                <a:rPr lang="en-US" altLang="en-US" sz="900">
                  <a:latin typeface="Arial Unicode MS" panose="020B0604020202020204" pitchFamily="34" charset="-128"/>
                  <a:ea typeface="Arial Unicode MS" panose="020B0604020202020204" pitchFamily="34" charset="-128"/>
                  <a:cs typeface="Arial Unicode MS" panose="020B0604020202020204" pitchFamily="34" charset="-128"/>
                </a:rPr>
                <a:t>   WASHING</a:t>
              </a:r>
              <a:endParaRPr lang="en-US" altLang="en-US" sz="14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509" name="Rectangle 5041"/>
            <p:cNvSpPr>
              <a:spLocks noChangeAspect="1" noChangeArrowheads="1"/>
            </p:cNvSpPr>
            <p:nvPr/>
          </p:nvSpPr>
          <p:spPr bwMode="auto">
            <a:xfrm>
              <a:off x="1355" y="3648"/>
              <a:ext cx="953"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STRONG BLACK LIQUOR</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510" name="Rectangle 5042"/>
            <p:cNvSpPr>
              <a:spLocks noChangeAspect="1" noChangeArrowheads="1"/>
            </p:cNvSpPr>
            <p:nvPr/>
          </p:nvSpPr>
          <p:spPr bwMode="auto">
            <a:xfrm>
              <a:off x="2661" y="3696"/>
              <a:ext cx="62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80000"/>
                </a:lnSpc>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GREEN LIQUOR</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386511" name="Rectangle 5043"/>
            <p:cNvSpPr>
              <a:spLocks noChangeAspect="1" noChangeArrowheads="1"/>
            </p:cNvSpPr>
            <p:nvPr/>
          </p:nvSpPr>
          <p:spPr bwMode="auto">
            <a:xfrm>
              <a:off x="3169" y="2488"/>
              <a:ext cx="463"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THICKENER</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cxnSp>
          <p:nvCxnSpPr>
            <p:cNvPr id="386512" name="AutoShape 5044"/>
            <p:cNvCxnSpPr>
              <a:cxnSpLocks noChangeAspect="1" noChangeShapeType="1"/>
              <a:stCxn id="390551" idx="3"/>
              <a:endCxn id="65580" idx="1"/>
            </p:cNvCxnSpPr>
            <p:nvPr/>
          </p:nvCxnSpPr>
          <p:spPr bwMode="auto">
            <a:xfrm flipV="1">
              <a:off x="2649" y="1049"/>
              <a:ext cx="298" cy="645"/>
            </a:xfrm>
            <a:prstGeom prst="bentConnector3">
              <a:avLst>
                <a:gd name="adj1" fmla="val 47931"/>
              </a:avLst>
            </a:prstGeom>
            <a:noFill/>
            <a:ln w="12700">
              <a:solidFill>
                <a:srgbClr val="FF33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513" name="AutoShape 5045"/>
            <p:cNvCxnSpPr>
              <a:cxnSpLocks noChangeAspect="1" noChangeShapeType="1"/>
              <a:stCxn id="69226" idx="0"/>
              <a:endCxn id="67203" idx="1"/>
            </p:cNvCxnSpPr>
            <p:nvPr/>
          </p:nvCxnSpPr>
          <p:spPr bwMode="auto">
            <a:xfrm rot="-5400000">
              <a:off x="1114" y="3140"/>
              <a:ext cx="97" cy="312"/>
            </a:xfrm>
            <a:prstGeom prst="bentConnector2">
              <a:avLst/>
            </a:prstGeom>
            <a:noFill/>
            <a:ln w="12700">
              <a:solidFill>
                <a:srgbClr val="FF99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86514" name="Line 5046"/>
            <p:cNvSpPr>
              <a:spLocks noChangeAspect="1" noChangeShapeType="1"/>
            </p:cNvSpPr>
            <p:nvPr/>
          </p:nvSpPr>
          <p:spPr bwMode="auto">
            <a:xfrm>
              <a:off x="3391" y="3315"/>
              <a:ext cx="0" cy="287"/>
            </a:xfrm>
            <a:prstGeom prst="line">
              <a:avLst/>
            </a:prstGeom>
            <a:noFill/>
            <a:ln w="12700">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6515" name="Rectangle 5047"/>
            <p:cNvSpPr>
              <a:spLocks noChangeAspect="1" noChangeArrowheads="1"/>
            </p:cNvSpPr>
            <p:nvPr/>
          </p:nvSpPr>
          <p:spPr bwMode="auto">
            <a:xfrm>
              <a:off x="3380" y="3209"/>
              <a:ext cx="621"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80000"/>
                </a:lnSpc>
                <a:spcBef>
                  <a:spcPct val="50000"/>
                </a:spcBef>
                <a:buFontTx/>
                <a:buNone/>
              </a:pPr>
              <a:r>
                <a:rPr lang="en-US" altLang="en-US" sz="1000">
                  <a:latin typeface="Arial Unicode MS" panose="020B0604020202020204" pitchFamily="34" charset="-128"/>
                  <a:ea typeface="Arial Unicode MS" panose="020B0604020202020204" pitchFamily="34" charset="-128"/>
                  <a:cs typeface="Arial Unicode MS" panose="020B0604020202020204" pitchFamily="34" charset="-128"/>
                </a:rPr>
                <a:t>QUICK LIME</a:t>
              </a:r>
              <a:endParaRPr lang="en-US" altLang="en-US" sz="16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nvGrpSpPr>
            <p:cNvPr id="386516" name="Group 5048"/>
            <p:cNvGrpSpPr>
              <a:grpSpLocks noChangeAspect="1"/>
            </p:cNvGrpSpPr>
            <p:nvPr/>
          </p:nvGrpSpPr>
          <p:grpSpPr bwMode="auto">
            <a:xfrm>
              <a:off x="4341" y="1046"/>
              <a:ext cx="135" cy="817"/>
              <a:chOff x="4795" y="746"/>
              <a:chExt cx="159" cy="960"/>
            </a:xfrm>
          </p:grpSpPr>
          <p:sp>
            <p:nvSpPr>
              <p:cNvPr id="69561" name="Freeform 5049"/>
              <p:cNvSpPr>
                <a:spLocks noChangeAspect="1"/>
              </p:cNvSpPr>
              <p:nvPr/>
            </p:nvSpPr>
            <p:spPr bwMode="auto">
              <a:xfrm>
                <a:off x="4795" y="805"/>
                <a:ext cx="4" cy="846"/>
              </a:xfrm>
              <a:custGeom>
                <a:avLst/>
                <a:gdLst>
                  <a:gd name="T0" fmla="*/ 9 w 9"/>
                  <a:gd name="T1" fmla="*/ 0 h 2538"/>
                  <a:gd name="T2" fmla="*/ 9 w 9"/>
                  <a:gd name="T3" fmla="*/ 2538 h 2538"/>
                  <a:gd name="T4" fmla="*/ 7 w 9"/>
                  <a:gd name="T5" fmla="*/ 2530 h 2538"/>
                  <a:gd name="T6" fmla="*/ 5 w 9"/>
                  <a:gd name="T7" fmla="*/ 2522 h 2538"/>
                  <a:gd name="T8" fmla="*/ 3 w 9"/>
                  <a:gd name="T9" fmla="*/ 2514 h 2538"/>
                  <a:gd name="T10" fmla="*/ 2 w 9"/>
                  <a:gd name="T11" fmla="*/ 2506 h 2538"/>
                  <a:gd name="T12" fmla="*/ 1 w 9"/>
                  <a:gd name="T13" fmla="*/ 2498 h 2538"/>
                  <a:gd name="T14" fmla="*/ 0 w 9"/>
                  <a:gd name="T15" fmla="*/ 2489 h 2538"/>
                  <a:gd name="T16" fmla="*/ 0 w 9"/>
                  <a:gd name="T17" fmla="*/ 2481 h 2538"/>
                  <a:gd name="T18" fmla="*/ 0 w 9"/>
                  <a:gd name="T19" fmla="*/ 2473 h 2538"/>
                  <a:gd name="T20" fmla="*/ 0 w 9"/>
                  <a:gd name="T21" fmla="*/ 2470 h 2538"/>
                  <a:gd name="T22" fmla="*/ 0 w 9"/>
                  <a:gd name="T23" fmla="*/ 2468 h 2538"/>
                  <a:gd name="T24" fmla="*/ 0 w 9"/>
                  <a:gd name="T25" fmla="*/ 2465 h 2538"/>
                  <a:gd name="T26" fmla="*/ 0 w 9"/>
                  <a:gd name="T27" fmla="*/ 2463 h 2538"/>
                  <a:gd name="T28" fmla="*/ 0 w 9"/>
                  <a:gd name="T29" fmla="*/ 2461 h 2538"/>
                  <a:gd name="T30" fmla="*/ 0 w 9"/>
                  <a:gd name="T31" fmla="*/ 2457 h 2538"/>
                  <a:gd name="T32" fmla="*/ 0 w 9"/>
                  <a:gd name="T33" fmla="*/ 2455 h 2538"/>
                  <a:gd name="T34" fmla="*/ 1 w 9"/>
                  <a:gd name="T35" fmla="*/ 2452 h 2538"/>
                  <a:gd name="T36" fmla="*/ 1 w 9"/>
                  <a:gd name="T37" fmla="*/ 71 h 2538"/>
                  <a:gd name="T38" fmla="*/ 1 w 9"/>
                  <a:gd name="T39" fmla="*/ 71 h 2538"/>
                  <a:gd name="T40" fmla="*/ 1 w 9"/>
                  <a:gd name="T41" fmla="*/ 70 h 2538"/>
                  <a:gd name="T42" fmla="*/ 1 w 9"/>
                  <a:gd name="T43" fmla="*/ 70 h 2538"/>
                  <a:gd name="T44" fmla="*/ 1 w 9"/>
                  <a:gd name="T45" fmla="*/ 68 h 2538"/>
                  <a:gd name="T46" fmla="*/ 1 w 9"/>
                  <a:gd name="T47" fmla="*/ 67 h 2538"/>
                  <a:gd name="T48" fmla="*/ 1 w 9"/>
                  <a:gd name="T49" fmla="*/ 66 h 2538"/>
                  <a:gd name="T50" fmla="*/ 1 w 9"/>
                  <a:gd name="T51" fmla="*/ 65 h 2538"/>
                  <a:gd name="T52" fmla="*/ 1 w 9"/>
                  <a:gd name="T53" fmla="*/ 64 h 2538"/>
                  <a:gd name="T54" fmla="*/ 1 w 9"/>
                  <a:gd name="T55" fmla="*/ 64 h 2538"/>
                  <a:gd name="T56" fmla="*/ 1 w 9"/>
                  <a:gd name="T57" fmla="*/ 56 h 2538"/>
                  <a:gd name="T58" fmla="*/ 1 w 9"/>
                  <a:gd name="T59" fmla="*/ 47 h 2538"/>
                  <a:gd name="T60" fmla="*/ 2 w 9"/>
                  <a:gd name="T61" fmla="*/ 40 h 2538"/>
                  <a:gd name="T62" fmla="*/ 3 w 9"/>
                  <a:gd name="T63" fmla="*/ 31 h 2538"/>
                  <a:gd name="T64" fmla="*/ 4 w 9"/>
                  <a:gd name="T65" fmla="*/ 23 h 2538"/>
                  <a:gd name="T66" fmla="*/ 5 w 9"/>
                  <a:gd name="T67" fmla="*/ 15 h 2538"/>
                  <a:gd name="T68" fmla="*/ 7 w 9"/>
                  <a:gd name="T69" fmla="*/ 8 h 2538"/>
                  <a:gd name="T70" fmla="*/ 9 w 9"/>
                  <a:gd name="T71" fmla="*/ 0 h 2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2538">
                    <a:moveTo>
                      <a:pt x="9" y="0"/>
                    </a:moveTo>
                    <a:lnTo>
                      <a:pt x="9" y="2538"/>
                    </a:lnTo>
                    <a:lnTo>
                      <a:pt x="7" y="2530"/>
                    </a:lnTo>
                    <a:lnTo>
                      <a:pt x="5" y="2522"/>
                    </a:lnTo>
                    <a:lnTo>
                      <a:pt x="3" y="2514"/>
                    </a:lnTo>
                    <a:lnTo>
                      <a:pt x="2" y="2506"/>
                    </a:lnTo>
                    <a:lnTo>
                      <a:pt x="1" y="2498"/>
                    </a:lnTo>
                    <a:lnTo>
                      <a:pt x="0" y="2489"/>
                    </a:lnTo>
                    <a:lnTo>
                      <a:pt x="0" y="2481"/>
                    </a:lnTo>
                    <a:lnTo>
                      <a:pt x="0" y="2473"/>
                    </a:lnTo>
                    <a:lnTo>
                      <a:pt x="0" y="2470"/>
                    </a:lnTo>
                    <a:lnTo>
                      <a:pt x="0" y="2468"/>
                    </a:lnTo>
                    <a:lnTo>
                      <a:pt x="0" y="2465"/>
                    </a:lnTo>
                    <a:lnTo>
                      <a:pt x="0" y="2463"/>
                    </a:lnTo>
                    <a:lnTo>
                      <a:pt x="0" y="2461"/>
                    </a:lnTo>
                    <a:lnTo>
                      <a:pt x="0" y="2457"/>
                    </a:lnTo>
                    <a:lnTo>
                      <a:pt x="0" y="2455"/>
                    </a:lnTo>
                    <a:lnTo>
                      <a:pt x="1" y="2452"/>
                    </a:lnTo>
                    <a:lnTo>
                      <a:pt x="1" y="71"/>
                    </a:lnTo>
                    <a:lnTo>
                      <a:pt x="1" y="71"/>
                    </a:lnTo>
                    <a:lnTo>
                      <a:pt x="1" y="70"/>
                    </a:lnTo>
                    <a:lnTo>
                      <a:pt x="1" y="70"/>
                    </a:lnTo>
                    <a:lnTo>
                      <a:pt x="1" y="68"/>
                    </a:lnTo>
                    <a:lnTo>
                      <a:pt x="1" y="67"/>
                    </a:lnTo>
                    <a:lnTo>
                      <a:pt x="1" y="66"/>
                    </a:lnTo>
                    <a:lnTo>
                      <a:pt x="1" y="65"/>
                    </a:lnTo>
                    <a:lnTo>
                      <a:pt x="1" y="64"/>
                    </a:lnTo>
                    <a:lnTo>
                      <a:pt x="1" y="64"/>
                    </a:lnTo>
                    <a:lnTo>
                      <a:pt x="1" y="56"/>
                    </a:lnTo>
                    <a:lnTo>
                      <a:pt x="1" y="47"/>
                    </a:lnTo>
                    <a:lnTo>
                      <a:pt x="2" y="40"/>
                    </a:lnTo>
                    <a:lnTo>
                      <a:pt x="3" y="31"/>
                    </a:lnTo>
                    <a:lnTo>
                      <a:pt x="4" y="23"/>
                    </a:lnTo>
                    <a:lnTo>
                      <a:pt x="5" y="15"/>
                    </a:lnTo>
                    <a:lnTo>
                      <a:pt x="7" y="8"/>
                    </a:lnTo>
                    <a:lnTo>
                      <a:pt x="9" y="0"/>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62" name="Freeform 5050"/>
              <p:cNvSpPr>
                <a:spLocks noChangeAspect="1"/>
              </p:cNvSpPr>
              <p:nvPr/>
            </p:nvSpPr>
            <p:spPr bwMode="auto">
              <a:xfrm>
                <a:off x="4795" y="795"/>
                <a:ext cx="6" cy="864"/>
              </a:xfrm>
              <a:custGeom>
                <a:avLst/>
                <a:gdLst>
                  <a:gd name="T0" fmla="*/ 19 w 19"/>
                  <a:gd name="T1" fmla="*/ 0 h 2592"/>
                  <a:gd name="T2" fmla="*/ 19 w 19"/>
                  <a:gd name="T3" fmla="*/ 2592 h 2592"/>
                  <a:gd name="T4" fmla="*/ 15 w 19"/>
                  <a:gd name="T5" fmla="*/ 2581 h 2592"/>
                  <a:gd name="T6" fmla="*/ 10 w 19"/>
                  <a:gd name="T7" fmla="*/ 2570 h 2592"/>
                  <a:gd name="T8" fmla="*/ 7 w 19"/>
                  <a:gd name="T9" fmla="*/ 2559 h 2592"/>
                  <a:gd name="T10" fmla="*/ 4 w 19"/>
                  <a:gd name="T11" fmla="*/ 2548 h 2592"/>
                  <a:gd name="T12" fmla="*/ 2 w 19"/>
                  <a:gd name="T13" fmla="*/ 2536 h 2592"/>
                  <a:gd name="T14" fmla="*/ 1 w 19"/>
                  <a:gd name="T15" fmla="*/ 2525 h 2592"/>
                  <a:gd name="T16" fmla="*/ 0 w 19"/>
                  <a:gd name="T17" fmla="*/ 2513 h 2592"/>
                  <a:gd name="T18" fmla="*/ 0 w 19"/>
                  <a:gd name="T19" fmla="*/ 2501 h 2592"/>
                  <a:gd name="T20" fmla="*/ 0 w 19"/>
                  <a:gd name="T21" fmla="*/ 2498 h 2592"/>
                  <a:gd name="T22" fmla="*/ 0 w 19"/>
                  <a:gd name="T23" fmla="*/ 2496 h 2592"/>
                  <a:gd name="T24" fmla="*/ 0 w 19"/>
                  <a:gd name="T25" fmla="*/ 2493 h 2592"/>
                  <a:gd name="T26" fmla="*/ 0 w 19"/>
                  <a:gd name="T27" fmla="*/ 2491 h 2592"/>
                  <a:gd name="T28" fmla="*/ 0 w 19"/>
                  <a:gd name="T29" fmla="*/ 2489 h 2592"/>
                  <a:gd name="T30" fmla="*/ 0 w 19"/>
                  <a:gd name="T31" fmla="*/ 2485 h 2592"/>
                  <a:gd name="T32" fmla="*/ 0 w 19"/>
                  <a:gd name="T33" fmla="*/ 2483 h 2592"/>
                  <a:gd name="T34" fmla="*/ 1 w 19"/>
                  <a:gd name="T35" fmla="*/ 2480 h 2592"/>
                  <a:gd name="T36" fmla="*/ 1 w 19"/>
                  <a:gd name="T37" fmla="*/ 99 h 2592"/>
                  <a:gd name="T38" fmla="*/ 1 w 19"/>
                  <a:gd name="T39" fmla="*/ 99 h 2592"/>
                  <a:gd name="T40" fmla="*/ 1 w 19"/>
                  <a:gd name="T41" fmla="*/ 98 h 2592"/>
                  <a:gd name="T42" fmla="*/ 1 w 19"/>
                  <a:gd name="T43" fmla="*/ 98 h 2592"/>
                  <a:gd name="T44" fmla="*/ 1 w 19"/>
                  <a:gd name="T45" fmla="*/ 96 h 2592"/>
                  <a:gd name="T46" fmla="*/ 1 w 19"/>
                  <a:gd name="T47" fmla="*/ 95 h 2592"/>
                  <a:gd name="T48" fmla="*/ 1 w 19"/>
                  <a:gd name="T49" fmla="*/ 94 h 2592"/>
                  <a:gd name="T50" fmla="*/ 1 w 19"/>
                  <a:gd name="T51" fmla="*/ 93 h 2592"/>
                  <a:gd name="T52" fmla="*/ 1 w 19"/>
                  <a:gd name="T53" fmla="*/ 92 h 2592"/>
                  <a:gd name="T54" fmla="*/ 1 w 19"/>
                  <a:gd name="T55" fmla="*/ 92 h 2592"/>
                  <a:gd name="T56" fmla="*/ 1 w 19"/>
                  <a:gd name="T57" fmla="*/ 79 h 2592"/>
                  <a:gd name="T58" fmla="*/ 2 w 19"/>
                  <a:gd name="T59" fmla="*/ 68 h 2592"/>
                  <a:gd name="T60" fmla="*/ 3 w 19"/>
                  <a:gd name="T61" fmla="*/ 56 h 2592"/>
                  <a:gd name="T62" fmla="*/ 5 w 19"/>
                  <a:gd name="T63" fmla="*/ 44 h 2592"/>
                  <a:gd name="T64" fmla="*/ 8 w 19"/>
                  <a:gd name="T65" fmla="*/ 33 h 2592"/>
                  <a:gd name="T66" fmla="*/ 10 w 19"/>
                  <a:gd name="T67" fmla="*/ 22 h 2592"/>
                  <a:gd name="T68" fmla="*/ 15 w 19"/>
                  <a:gd name="T69" fmla="*/ 10 h 2592"/>
                  <a:gd name="T70" fmla="*/ 19 w 19"/>
                  <a:gd name="T71" fmla="*/ 0 h 2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 h="2592">
                    <a:moveTo>
                      <a:pt x="19" y="0"/>
                    </a:moveTo>
                    <a:lnTo>
                      <a:pt x="19" y="2592"/>
                    </a:lnTo>
                    <a:lnTo>
                      <a:pt x="15" y="2581"/>
                    </a:lnTo>
                    <a:lnTo>
                      <a:pt x="10" y="2570"/>
                    </a:lnTo>
                    <a:lnTo>
                      <a:pt x="7" y="2559"/>
                    </a:lnTo>
                    <a:lnTo>
                      <a:pt x="4" y="2548"/>
                    </a:lnTo>
                    <a:lnTo>
                      <a:pt x="2" y="2536"/>
                    </a:lnTo>
                    <a:lnTo>
                      <a:pt x="1" y="2525"/>
                    </a:lnTo>
                    <a:lnTo>
                      <a:pt x="0" y="2513"/>
                    </a:lnTo>
                    <a:lnTo>
                      <a:pt x="0" y="2501"/>
                    </a:lnTo>
                    <a:lnTo>
                      <a:pt x="0" y="2498"/>
                    </a:lnTo>
                    <a:lnTo>
                      <a:pt x="0" y="2496"/>
                    </a:lnTo>
                    <a:lnTo>
                      <a:pt x="0" y="2493"/>
                    </a:lnTo>
                    <a:lnTo>
                      <a:pt x="0" y="2491"/>
                    </a:lnTo>
                    <a:lnTo>
                      <a:pt x="0" y="2489"/>
                    </a:lnTo>
                    <a:lnTo>
                      <a:pt x="0" y="2485"/>
                    </a:lnTo>
                    <a:lnTo>
                      <a:pt x="0" y="2483"/>
                    </a:lnTo>
                    <a:lnTo>
                      <a:pt x="1" y="2480"/>
                    </a:lnTo>
                    <a:lnTo>
                      <a:pt x="1" y="99"/>
                    </a:lnTo>
                    <a:lnTo>
                      <a:pt x="1" y="99"/>
                    </a:lnTo>
                    <a:lnTo>
                      <a:pt x="1" y="98"/>
                    </a:lnTo>
                    <a:lnTo>
                      <a:pt x="1" y="98"/>
                    </a:lnTo>
                    <a:lnTo>
                      <a:pt x="1" y="96"/>
                    </a:lnTo>
                    <a:lnTo>
                      <a:pt x="1" y="95"/>
                    </a:lnTo>
                    <a:lnTo>
                      <a:pt x="1" y="94"/>
                    </a:lnTo>
                    <a:lnTo>
                      <a:pt x="1" y="93"/>
                    </a:lnTo>
                    <a:lnTo>
                      <a:pt x="1" y="92"/>
                    </a:lnTo>
                    <a:lnTo>
                      <a:pt x="1" y="92"/>
                    </a:lnTo>
                    <a:lnTo>
                      <a:pt x="1" y="79"/>
                    </a:lnTo>
                    <a:lnTo>
                      <a:pt x="2" y="68"/>
                    </a:lnTo>
                    <a:lnTo>
                      <a:pt x="3" y="56"/>
                    </a:lnTo>
                    <a:lnTo>
                      <a:pt x="5" y="44"/>
                    </a:lnTo>
                    <a:lnTo>
                      <a:pt x="8" y="33"/>
                    </a:lnTo>
                    <a:lnTo>
                      <a:pt x="10" y="22"/>
                    </a:lnTo>
                    <a:lnTo>
                      <a:pt x="15" y="10"/>
                    </a:lnTo>
                    <a:lnTo>
                      <a:pt x="19" y="0"/>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63" name="Freeform 5051"/>
              <p:cNvSpPr>
                <a:spLocks noChangeAspect="1"/>
              </p:cNvSpPr>
              <p:nvPr/>
            </p:nvSpPr>
            <p:spPr bwMode="auto">
              <a:xfrm>
                <a:off x="4799" y="789"/>
                <a:ext cx="6" cy="877"/>
              </a:xfrm>
              <a:custGeom>
                <a:avLst/>
                <a:gdLst>
                  <a:gd name="T0" fmla="*/ 0 w 20"/>
                  <a:gd name="T1" fmla="*/ 2586 h 2631"/>
                  <a:gd name="T2" fmla="*/ 0 w 20"/>
                  <a:gd name="T3" fmla="*/ 48 h 2631"/>
                  <a:gd name="T4" fmla="*/ 1 w 20"/>
                  <a:gd name="T5" fmla="*/ 42 h 2631"/>
                  <a:gd name="T6" fmla="*/ 4 w 20"/>
                  <a:gd name="T7" fmla="*/ 36 h 2631"/>
                  <a:gd name="T8" fmla="*/ 6 w 20"/>
                  <a:gd name="T9" fmla="*/ 29 h 2631"/>
                  <a:gd name="T10" fmla="*/ 9 w 20"/>
                  <a:gd name="T11" fmla="*/ 23 h 2631"/>
                  <a:gd name="T12" fmla="*/ 11 w 20"/>
                  <a:gd name="T13" fmla="*/ 18 h 2631"/>
                  <a:gd name="T14" fmla="*/ 13 w 20"/>
                  <a:gd name="T15" fmla="*/ 11 h 2631"/>
                  <a:gd name="T16" fmla="*/ 16 w 20"/>
                  <a:gd name="T17" fmla="*/ 6 h 2631"/>
                  <a:gd name="T18" fmla="*/ 20 w 20"/>
                  <a:gd name="T19" fmla="*/ 0 h 2631"/>
                  <a:gd name="T20" fmla="*/ 20 w 20"/>
                  <a:gd name="T21" fmla="*/ 2631 h 2631"/>
                  <a:gd name="T22" fmla="*/ 16 w 20"/>
                  <a:gd name="T23" fmla="*/ 2626 h 2631"/>
                  <a:gd name="T24" fmla="*/ 13 w 20"/>
                  <a:gd name="T25" fmla="*/ 2620 h 2631"/>
                  <a:gd name="T26" fmla="*/ 11 w 20"/>
                  <a:gd name="T27" fmla="*/ 2615 h 2631"/>
                  <a:gd name="T28" fmla="*/ 9 w 20"/>
                  <a:gd name="T29" fmla="*/ 2608 h 2631"/>
                  <a:gd name="T30" fmla="*/ 6 w 20"/>
                  <a:gd name="T31" fmla="*/ 2603 h 2631"/>
                  <a:gd name="T32" fmla="*/ 4 w 20"/>
                  <a:gd name="T33" fmla="*/ 2598 h 2631"/>
                  <a:gd name="T34" fmla="*/ 3 w 20"/>
                  <a:gd name="T35" fmla="*/ 2591 h 2631"/>
                  <a:gd name="T36" fmla="*/ 0 w 20"/>
                  <a:gd name="T37" fmla="*/ 2586 h 2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2631">
                    <a:moveTo>
                      <a:pt x="0" y="2586"/>
                    </a:moveTo>
                    <a:lnTo>
                      <a:pt x="0" y="48"/>
                    </a:lnTo>
                    <a:lnTo>
                      <a:pt x="1" y="42"/>
                    </a:lnTo>
                    <a:lnTo>
                      <a:pt x="4" y="36"/>
                    </a:lnTo>
                    <a:lnTo>
                      <a:pt x="6" y="29"/>
                    </a:lnTo>
                    <a:lnTo>
                      <a:pt x="9" y="23"/>
                    </a:lnTo>
                    <a:lnTo>
                      <a:pt x="11" y="18"/>
                    </a:lnTo>
                    <a:lnTo>
                      <a:pt x="13" y="11"/>
                    </a:lnTo>
                    <a:lnTo>
                      <a:pt x="16" y="6"/>
                    </a:lnTo>
                    <a:lnTo>
                      <a:pt x="20" y="0"/>
                    </a:lnTo>
                    <a:lnTo>
                      <a:pt x="20" y="2631"/>
                    </a:lnTo>
                    <a:lnTo>
                      <a:pt x="16" y="2626"/>
                    </a:lnTo>
                    <a:lnTo>
                      <a:pt x="13" y="2620"/>
                    </a:lnTo>
                    <a:lnTo>
                      <a:pt x="11" y="2615"/>
                    </a:lnTo>
                    <a:lnTo>
                      <a:pt x="9" y="2608"/>
                    </a:lnTo>
                    <a:lnTo>
                      <a:pt x="6" y="2603"/>
                    </a:lnTo>
                    <a:lnTo>
                      <a:pt x="4" y="2598"/>
                    </a:lnTo>
                    <a:lnTo>
                      <a:pt x="3" y="2591"/>
                    </a:lnTo>
                    <a:lnTo>
                      <a:pt x="0" y="2586"/>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64" name="Freeform 5052"/>
              <p:cNvSpPr>
                <a:spLocks noChangeAspect="1"/>
              </p:cNvSpPr>
              <p:nvPr/>
            </p:nvSpPr>
            <p:spPr bwMode="auto">
              <a:xfrm>
                <a:off x="4801" y="782"/>
                <a:ext cx="6" cy="887"/>
              </a:xfrm>
              <a:custGeom>
                <a:avLst/>
                <a:gdLst>
                  <a:gd name="T0" fmla="*/ 0 w 19"/>
                  <a:gd name="T1" fmla="*/ 2628 h 2663"/>
                  <a:gd name="T2" fmla="*/ 0 w 19"/>
                  <a:gd name="T3" fmla="*/ 36 h 2663"/>
                  <a:gd name="T4" fmla="*/ 2 w 19"/>
                  <a:gd name="T5" fmla="*/ 31 h 2663"/>
                  <a:gd name="T6" fmla="*/ 4 w 19"/>
                  <a:gd name="T7" fmla="*/ 26 h 2663"/>
                  <a:gd name="T8" fmla="*/ 6 w 19"/>
                  <a:gd name="T9" fmla="*/ 22 h 2663"/>
                  <a:gd name="T10" fmla="*/ 9 w 19"/>
                  <a:gd name="T11" fmla="*/ 18 h 2663"/>
                  <a:gd name="T12" fmla="*/ 11 w 19"/>
                  <a:gd name="T13" fmla="*/ 12 h 2663"/>
                  <a:gd name="T14" fmla="*/ 14 w 19"/>
                  <a:gd name="T15" fmla="*/ 8 h 2663"/>
                  <a:gd name="T16" fmla="*/ 16 w 19"/>
                  <a:gd name="T17" fmla="*/ 4 h 2663"/>
                  <a:gd name="T18" fmla="*/ 19 w 19"/>
                  <a:gd name="T19" fmla="*/ 0 h 2663"/>
                  <a:gd name="T20" fmla="*/ 19 w 19"/>
                  <a:gd name="T21" fmla="*/ 2663 h 2663"/>
                  <a:gd name="T22" fmla="*/ 16 w 19"/>
                  <a:gd name="T23" fmla="*/ 2659 h 2663"/>
                  <a:gd name="T24" fmla="*/ 14 w 19"/>
                  <a:gd name="T25" fmla="*/ 2654 h 2663"/>
                  <a:gd name="T26" fmla="*/ 11 w 19"/>
                  <a:gd name="T27" fmla="*/ 2650 h 2663"/>
                  <a:gd name="T28" fmla="*/ 9 w 19"/>
                  <a:gd name="T29" fmla="*/ 2646 h 2663"/>
                  <a:gd name="T30" fmla="*/ 6 w 19"/>
                  <a:gd name="T31" fmla="*/ 2642 h 2663"/>
                  <a:gd name="T32" fmla="*/ 4 w 19"/>
                  <a:gd name="T33" fmla="*/ 2636 h 2663"/>
                  <a:gd name="T34" fmla="*/ 2 w 19"/>
                  <a:gd name="T35" fmla="*/ 2632 h 2663"/>
                  <a:gd name="T36" fmla="*/ 0 w 19"/>
                  <a:gd name="T37" fmla="*/ 2628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663">
                    <a:moveTo>
                      <a:pt x="0" y="2628"/>
                    </a:moveTo>
                    <a:lnTo>
                      <a:pt x="0" y="36"/>
                    </a:lnTo>
                    <a:lnTo>
                      <a:pt x="2" y="31"/>
                    </a:lnTo>
                    <a:lnTo>
                      <a:pt x="4" y="26"/>
                    </a:lnTo>
                    <a:lnTo>
                      <a:pt x="6" y="22"/>
                    </a:lnTo>
                    <a:lnTo>
                      <a:pt x="9" y="18"/>
                    </a:lnTo>
                    <a:lnTo>
                      <a:pt x="11" y="12"/>
                    </a:lnTo>
                    <a:lnTo>
                      <a:pt x="14" y="8"/>
                    </a:lnTo>
                    <a:lnTo>
                      <a:pt x="16" y="4"/>
                    </a:lnTo>
                    <a:lnTo>
                      <a:pt x="19" y="0"/>
                    </a:lnTo>
                    <a:lnTo>
                      <a:pt x="19" y="2663"/>
                    </a:lnTo>
                    <a:lnTo>
                      <a:pt x="16" y="2659"/>
                    </a:lnTo>
                    <a:lnTo>
                      <a:pt x="14" y="2654"/>
                    </a:lnTo>
                    <a:lnTo>
                      <a:pt x="11" y="2650"/>
                    </a:lnTo>
                    <a:lnTo>
                      <a:pt x="9" y="2646"/>
                    </a:lnTo>
                    <a:lnTo>
                      <a:pt x="6" y="2642"/>
                    </a:lnTo>
                    <a:lnTo>
                      <a:pt x="4" y="2636"/>
                    </a:lnTo>
                    <a:lnTo>
                      <a:pt x="2" y="2632"/>
                    </a:lnTo>
                    <a:lnTo>
                      <a:pt x="0" y="2628"/>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65" name="Freeform 5053"/>
              <p:cNvSpPr>
                <a:spLocks noChangeAspect="1"/>
              </p:cNvSpPr>
              <p:nvPr/>
            </p:nvSpPr>
            <p:spPr bwMode="auto">
              <a:xfrm>
                <a:off x="4804" y="779"/>
                <a:ext cx="7" cy="897"/>
              </a:xfrm>
              <a:custGeom>
                <a:avLst/>
                <a:gdLst>
                  <a:gd name="T0" fmla="*/ 0 w 19"/>
                  <a:gd name="T1" fmla="*/ 2661 h 2690"/>
                  <a:gd name="T2" fmla="*/ 0 w 19"/>
                  <a:gd name="T3" fmla="*/ 30 h 2690"/>
                  <a:gd name="T4" fmla="*/ 2 w 19"/>
                  <a:gd name="T5" fmla="*/ 26 h 2690"/>
                  <a:gd name="T6" fmla="*/ 4 w 19"/>
                  <a:gd name="T7" fmla="*/ 22 h 2690"/>
                  <a:gd name="T8" fmla="*/ 6 w 19"/>
                  <a:gd name="T9" fmla="*/ 18 h 2690"/>
                  <a:gd name="T10" fmla="*/ 8 w 19"/>
                  <a:gd name="T11" fmla="*/ 15 h 2690"/>
                  <a:gd name="T12" fmla="*/ 10 w 19"/>
                  <a:gd name="T13" fmla="*/ 10 h 2690"/>
                  <a:gd name="T14" fmla="*/ 13 w 19"/>
                  <a:gd name="T15" fmla="*/ 7 h 2690"/>
                  <a:gd name="T16" fmla="*/ 16 w 19"/>
                  <a:gd name="T17" fmla="*/ 3 h 2690"/>
                  <a:gd name="T18" fmla="*/ 19 w 19"/>
                  <a:gd name="T19" fmla="*/ 0 h 2690"/>
                  <a:gd name="T20" fmla="*/ 19 w 19"/>
                  <a:gd name="T21" fmla="*/ 2690 h 2690"/>
                  <a:gd name="T22" fmla="*/ 16 w 19"/>
                  <a:gd name="T23" fmla="*/ 2686 h 2690"/>
                  <a:gd name="T24" fmla="*/ 13 w 19"/>
                  <a:gd name="T25" fmla="*/ 2683 h 2690"/>
                  <a:gd name="T26" fmla="*/ 10 w 19"/>
                  <a:gd name="T27" fmla="*/ 2679 h 2690"/>
                  <a:gd name="T28" fmla="*/ 8 w 19"/>
                  <a:gd name="T29" fmla="*/ 2676 h 2690"/>
                  <a:gd name="T30" fmla="*/ 6 w 19"/>
                  <a:gd name="T31" fmla="*/ 2673 h 2690"/>
                  <a:gd name="T32" fmla="*/ 4 w 19"/>
                  <a:gd name="T33" fmla="*/ 2668 h 2690"/>
                  <a:gd name="T34" fmla="*/ 2 w 19"/>
                  <a:gd name="T35" fmla="*/ 2665 h 2690"/>
                  <a:gd name="T36" fmla="*/ 0 w 19"/>
                  <a:gd name="T37" fmla="*/ 2661 h 2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690">
                    <a:moveTo>
                      <a:pt x="0" y="2661"/>
                    </a:moveTo>
                    <a:lnTo>
                      <a:pt x="0" y="30"/>
                    </a:lnTo>
                    <a:lnTo>
                      <a:pt x="2" y="26"/>
                    </a:lnTo>
                    <a:lnTo>
                      <a:pt x="4" y="22"/>
                    </a:lnTo>
                    <a:lnTo>
                      <a:pt x="6" y="18"/>
                    </a:lnTo>
                    <a:lnTo>
                      <a:pt x="8" y="15"/>
                    </a:lnTo>
                    <a:lnTo>
                      <a:pt x="10" y="10"/>
                    </a:lnTo>
                    <a:lnTo>
                      <a:pt x="13" y="7"/>
                    </a:lnTo>
                    <a:lnTo>
                      <a:pt x="16" y="3"/>
                    </a:lnTo>
                    <a:lnTo>
                      <a:pt x="19" y="0"/>
                    </a:lnTo>
                    <a:lnTo>
                      <a:pt x="19" y="2690"/>
                    </a:lnTo>
                    <a:lnTo>
                      <a:pt x="16" y="2686"/>
                    </a:lnTo>
                    <a:lnTo>
                      <a:pt x="13" y="2683"/>
                    </a:lnTo>
                    <a:lnTo>
                      <a:pt x="10" y="2679"/>
                    </a:lnTo>
                    <a:lnTo>
                      <a:pt x="8" y="2676"/>
                    </a:lnTo>
                    <a:lnTo>
                      <a:pt x="6" y="2673"/>
                    </a:lnTo>
                    <a:lnTo>
                      <a:pt x="4" y="2668"/>
                    </a:lnTo>
                    <a:lnTo>
                      <a:pt x="2" y="2665"/>
                    </a:lnTo>
                    <a:lnTo>
                      <a:pt x="0" y="2661"/>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66" name="Freeform 5054"/>
              <p:cNvSpPr>
                <a:spLocks noChangeAspect="1"/>
              </p:cNvSpPr>
              <p:nvPr/>
            </p:nvSpPr>
            <p:spPr bwMode="auto">
              <a:xfrm>
                <a:off x="4807" y="774"/>
                <a:ext cx="7" cy="905"/>
              </a:xfrm>
              <a:custGeom>
                <a:avLst/>
                <a:gdLst>
                  <a:gd name="T0" fmla="*/ 0 w 19"/>
                  <a:gd name="T1" fmla="*/ 2690 h 2714"/>
                  <a:gd name="T2" fmla="*/ 0 w 19"/>
                  <a:gd name="T3" fmla="*/ 27 h 2714"/>
                  <a:gd name="T4" fmla="*/ 2 w 19"/>
                  <a:gd name="T5" fmla="*/ 23 h 2714"/>
                  <a:gd name="T6" fmla="*/ 4 w 19"/>
                  <a:gd name="T7" fmla="*/ 19 h 2714"/>
                  <a:gd name="T8" fmla="*/ 7 w 19"/>
                  <a:gd name="T9" fmla="*/ 16 h 2714"/>
                  <a:gd name="T10" fmla="*/ 9 w 19"/>
                  <a:gd name="T11" fmla="*/ 13 h 2714"/>
                  <a:gd name="T12" fmla="*/ 12 w 19"/>
                  <a:gd name="T13" fmla="*/ 10 h 2714"/>
                  <a:gd name="T14" fmla="*/ 14 w 19"/>
                  <a:gd name="T15" fmla="*/ 6 h 2714"/>
                  <a:gd name="T16" fmla="*/ 16 w 19"/>
                  <a:gd name="T17" fmla="*/ 3 h 2714"/>
                  <a:gd name="T18" fmla="*/ 19 w 19"/>
                  <a:gd name="T19" fmla="*/ 0 h 2714"/>
                  <a:gd name="T20" fmla="*/ 19 w 19"/>
                  <a:gd name="T21" fmla="*/ 2714 h 2714"/>
                  <a:gd name="T22" fmla="*/ 16 w 19"/>
                  <a:gd name="T23" fmla="*/ 2711 h 2714"/>
                  <a:gd name="T24" fmla="*/ 14 w 19"/>
                  <a:gd name="T25" fmla="*/ 2709 h 2714"/>
                  <a:gd name="T26" fmla="*/ 12 w 19"/>
                  <a:gd name="T27" fmla="*/ 2706 h 2714"/>
                  <a:gd name="T28" fmla="*/ 9 w 19"/>
                  <a:gd name="T29" fmla="*/ 2703 h 2714"/>
                  <a:gd name="T30" fmla="*/ 7 w 19"/>
                  <a:gd name="T31" fmla="*/ 2699 h 2714"/>
                  <a:gd name="T32" fmla="*/ 4 w 19"/>
                  <a:gd name="T33" fmla="*/ 2696 h 2714"/>
                  <a:gd name="T34" fmla="*/ 2 w 19"/>
                  <a:gd name="T35" fmla="*/ 2693 h 2714"/>
                  <a:gd name="T36" fmla="*/ 0 w 19"/>
                  <a:gd name="T37" fmla="*/ 2690 h 2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714">
                    <a:moveTo>
                      <a:pt x="0" y="2690"/>
                    </a:moveTo>
                    <a:lnTo>
                      <a:pt x="0" y="27"/>
                    </a:lnTo>
                    <a:lnTo>
                      <a:pt x="2" y="23"/>
                    </a:lnTo>
                    <a:lnTo>
                      <a:pt x="4" y="19"/>
                    </a:lnTo>
                    <a:lnTo>
                      <a:pt x="7" y="16"/>
                    </a:lnTo>
                    <a:lnTo>
                      <a:pt x="9" y="13"/>
                    </a:lnTo>
                    <a:lnTo>
                      <a:pt x="12" y="10"/>
                    </a:lnTo>
                    <a:lnTo>
                      <a:pt x="14" y="6"/>
                    </a:lnTo>
                    <a:lnTo>
                      <a:pt x="16" y="3"/>
                    </a:lnTo>
                    <a:lnTo>
                      <a:pt x="19" y="0"/>
                    </a:lnTo>
                    <a:lnTo>
                      <a:pt x="19" y="2714"/>
                    </a:lnTo>
                    <a:lnTo>
                      <a:pt x="16" y="2711"/>
                    </a:lnTo>
                    <a:lnTo>
                      <a:pt x="14" y="2709"/>
                    </a:lnTo>
                    <a:lnTo>
                      <a:pt x="12" y="2706"/>
                    </a:lnTo>
                    <a:lnTo>
                      <a:pt x="9" y="2703"/>
                    </a:lnTo>
                    <a:lnTo>
                      <a:pt x="7" y="2699"/>
                    </a:lnTo>
                    <a:lnTo>
                      <a:pt x="4" y="2696"/>
                    </a:lnTo>
                    <a:lnTo>
                      <a:pt x="2" y="2693"/>
                    </a:lnTo>
                    <a:lnTo>
                      <a:pt x="0" y="2690"/>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67" name="Freeform 5055"/>
              <p:cNvSpPr>
                <a:spLocks noChangeAspect="1"/>
              </p:cNvSpPr>
              <p:nvPr/>
            </p:nvSpPr>
            <p:spPr bwMode="auto">
              <a:xfrm>
                <a:off x="4811" y="771"/>
                <a:ext cx="6" cy="912"/>
              </a:xfrm>
              <a:custGeom>
                <a:avLst/>
                <a:gdLst>
                  <a:gd name="T0" fmla="*/ 0 w 19"/>
                  <a:gd name="T1" fmla="*/ 2714 h 2736"/>
                  <a:gd name="T2" fmla="*/ 0 w 19"/>
                  <a:gd name="T3" fmla="*/ 24 h 2736"/>
                  <a:gd name="T4" fmla="*/ 2 w 19"/>
                  <a:gd name="T5" fmla="*/ 21 h 2736"/>
                  <a:gd name="T6" fmla="*/ 4 w 19"/>
                  <a:gd name="T7" fmla="*/ 17 h 2736"/>
                  <a:gd name="T8" fmla="*/ 6 w 19"/>
                  <a:gd name="T9" fmla="*/ 14 h 2736"/>
                  <a:gd name="T10" fmla="*/ 8 w 19"/>
                  <a:gd name="T11" fmla="*/ 12 h 2736"/>
                  <a:gd name="T12" fmla="*/ 11 w 19"/>
                  <a:gd name="T13" fmla="*/ 9 h 2736"/>
                  <a:gd name="T14" fmla="*/ 14 w 19"/>
                  <a:gd name="T15" fmla="*/ 6 h 2736"/>
                  <a:gd name="T16" fmla="*/ 16 w 19"/>
                  <a:gd name="T17" fmla="*/ 4 h 2736"/>
                  <a:gd name="T18" fmla="*/ 19 w 19"/>
                  <a:gd name="T19" fmla="*/ 0 h 2736"/>
                  <a:gd name="T20" fmla="*/ 19 w 19"/>
                  <a:gd name="T21" fmla="*/ 2736 h 2736"/>
                  <a:gd name="T22" fmla="*/ 16 w 19"/>
                  <a:gd name="T23" fmla="*/ 2733 h 2736"/>
                  <a:gd name="T24" fmla="*/ 14 w 19"/>
                  <a:gd name="T25" fmla="*/ 2731 h 2736"/>
                  <a:gd name="T26" fmla="*/ 11 w 19"/>
                  <a:gd name="T27" fmla="*/ 2727 h 2736"/>
                  <a:gd name="T28" fmla="*/ 8 w 19"/>
                  <a:gd name="T29" fmla="*/ 2725 h 2736"/>
                  <a:gd name="T30" fmla="*/ 6 w 19"/>
                  <a:gd name="T31" fmla="*/ 2722 h 2736"/>
                  <a:gd name="T32" fmla="*/ 4 w 19"/>
                  <a:gd name="T33" fmla="*/ 2720 h 2736"/>
                  <a:gd name="T34" fmla="*/ 2 w 19"/>
                  <a:gd name="T35" fmla="*/ 2717 h 2736"/>
                  <a:gd name="T36" fmla="*/ 0 w 19"/>
                  <a:gd name="T37" fmla="*/ 2714 h 2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736">
                    <a:moveTo>
                      <a:pt x="0" y="2714"/>
                    </a:moveTo>
                    <a:lnTo>
                      <a:pt x="0" y="24"/>
                    </a:lnTo>
                    <a:lnTo>
                      <a:pt x="2" y="21"/>
                    </a:lnTo>
                    <a:lnTo>
                      <a:pt x="4" y="17"/>
                    </a:lnTo>
                    <a:lnTo>
                      <a:pt x="6" y="14"/>
                    </a:lnTo>
                    <a:lnTo>
                      <a:pt x="8" y="12"/>
                    </a:lnTo>
                    <a:lnTo>
                      <a:pt x="11" y="9"/>
                    </a:lnTo>
                    <a:lnTo>
                      <a:pt x="14" y="6"/>
                    </a:lnTo>
                    <a:lnTo>
                      <a:pt x="16" y="4"/>
                    </a:lnTo>
                    <a:lnTo>
                      <a:pt x="19" y="0"/>
                    </a:lnTo>
                    <a:lnTo>
                      <a:pt x="19" y="2736"/>
                    </a:lnTo>
                    <a:lnTo>
                      <a:pt x="16" y="2733"/>
                    </a:lnTo>
                    <a:lnTo>
                      <a:pt x="14" y="2731"/>
                    </a:lnTo>
                    <a:lnTo>
                      <a:pt x="11" y="2727"/>
                    </a:lnTo>
                    <a:lnTo>
                      <a:pt x="8" y="2725"/>
                    </a:lnTo>
                    <a:lnTo>
                      <a:pt x="6" y="2722"/>
                    </a:lnTo>
                    <a:lnTo>
                      <a:pt x="4" y="2720"/>
                    </a:lnTo>
                    <a:lnTo>
                      <a:pt x="2" y="2717"/>
                    </a:lnTo>
                    <a:lnTo>
                      <a:pt x="0" y="2714"/>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68" name="Freeform 5056"/>
              <p:cNvSpPr>
                <a:spLocks noChangeAspect="1"/>
              </p:cNvSpPr>
              <p:nvPr/>
            </p:nvSpPr>
            <p:spPr bwMode="auto">
              <a:xfrm>
                <a:off x="4814" y="768"/>
                <a:ext cx="6" cy="917"/>
              </a:xfrm>
              <a:custGeom>
                <a:avLst/>
                <a:gdLst>
                  <a:gd name="T0" fmla="*/ 0 w 19"/>
                  <a:gd name="T1" fmla="*/ 2734 h 2753"/>
                  <a:gd name="T2" fmla="*/ 0 w 19"/>
                  <a:gd name="T3" fmla="*/ 20 h 2753"/>
                  <a:gd name="T4" fmla="*/ 2 w 19"/>
                  <a:gd name="T5" fmla="*/ 18 h 2753"/>
                  <a:gd name="T6" fmla="*/ 5 w 19"/>
                  <a:gd name="T7" fmla="*/ 15 h 2753"/>
                  <a:gd name="T8" fmla="*/ 7 w 19"/>
                  <a:gd name="T9" fmla="*/ 13 h 2753"/>
                  <a:gd name="T10" fmla="*/ 9 w 19"/>
                  <a:gd name="T11" fmla="*/ 9 h 2753"/>
                  <a:gd name="T12" fmla="*/ 12 w 19"/>
                  <a:gd name="T13" fmla="*/ 7 h 2753"/>
                  <a:gd name="T14" fmla="*/ 14 w 19"/>
                  <a:gd name="T15" fmla="*/ 5 h 2753"/>
                  <a:gd name="T16" fmla="*/ 16 w 19"/>
                  <a:gd name="T17" fmla="*/ 3 h 2753"/>
                  <a:gd name="T18" fmla="*/ 19 w 19"/>
                  <a:gd name="T19" fmla="*/ 0 h 2753"/>
                  <a:gd name="T20" fmla="*/ 19 w 19"/>
                  <a:gd name="T21" fmla="*/ 2753 h 2753"/>
                  <a:gd name="T22" fmla="*/ 16 w 19"/>
                  <a:gd name="T23" fmla="*/ 2751 h 2753"/>
                  <a:gd name="T24" fmla="*/ 14 w 19"/>
                  <a:gd name="T25" fmla="*/ 2749 h 2753"/>
                  <a:gd name="T26" fmla="*/ 12 w 19"/>
                  <a:gd name="T27" fmla="*/ 2747 h 2753"/>
                  <a:gd name="T28" fmla="*/ 9 w 19"/>
                  <a:gd name="T29" fmla="*/ 2745 h 2753"/>
                  <a:gd name="T30" fmla="*/ 7 w 19"/>
                  <a:gd name="T31" fmla="*/ 2742 h 2753"/>
                  <a:gd name="T32" fmla="*/ 5 w 19"/>
                  <a:gd name="T33" fmla="*/ 2740 h 2753"/>
                  <a:gd name="T34" fmla="*/ 2 w 19"/>
                  <a:gd name="T35" fmla="*/ 2737 h 2753"/>
                  <a:gd name="T36" fmla="*/ 0 w 19"/>
                  <a:gd name="T37" fmla="*/ 2734 h 2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753">
                    <a:moveTo>
                      <a:pt x="0" y="2734"/>
                    </a:moveTo>
                    <a:lnTo>
                      <a:pt x="0" y="20"/>
                    </a:lnTo>
                    <a:lnTo>
                      <a:pt x="2" y="18"/>
                    </a:lnTo>
                    <a:lnTo>
                      <a:pt x="5" y="15"/>
                    </a:lnTo>
                    <a:lnTo>
                      <a:pt x="7" y="13"/>
                    </a:lnTo>
                    <a:lnTo>
                      <a:pt x="9" y="9"/>
                    </a:lnTo>
                    <a:lnTo>
                      <a:pt x="12" y="7"/>
                    </a:lnTo>
                    <a:lnTo>
                      <a:pt x="14" y="5"/>
                    </a:lnTo>
                    <a:lnTo>
                      <a:pt x="16" y="3"/>
                    </a:lnTo>
                    <a:lnTo>
                      <a:pt x="19" y="0"/>
                    </a:lnTo>
                    <a:lnTo>
                      <a:pt x="19" y="2753"/>
                    </a:lnTo>
                    <a:lnTo>
                      <a:pt x="16" y="2751"/>
                    </a:lnTo>
                    <a:lnTo>
                      <a:pt x="14" y="2749"/>
                    </a:lnTo>
                    <a:lnTo>
                      <a:pt x="12" y="2747"/>
                    </a:lnTo>
                    <a:lnTo>
                      <a:pt x="9" y="2745"/>
                    </a:lnTo>
                    <a:lnTo>
                      <a:pt x="7" y="2742"/>
                    </a:lnTo>
                    <a:lnTo>
                      <a:pt x="5" y="2740"/>
                    </a:lnTo>
                    <a:lnTo>
                      <a:pt x="2" y="2737"/>
                    </a:lnTo>
                    <a:lnTo>
                      <a:pt x="0" y="2734"/>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69" name="Freeform 5057"/>
              <p:cNvSpPr>
                <a:spLocks noChangeAspect="1"/>
              </p:cNvSpPr>
              <p:nvPr/>
            </p:nvSpPr>
            <p:spPr bwMode="auto">
              <a:xfrm>
                <a:off x="4817" y="765"/>
                <a:ext cx="6" cy="925"/>
              </a:xfrm>
              <a:custGeom>
                <a:avLst/>
                <a:gdLst>
                  <a:gd name="T0" fmla="*/ 0 w 19"/>
                  <a:gd name="T1" fmla="*/ 2754 h 2771"/>
                  <a:gd name="T2" fmla="*/ 0 w 19"/>
                  <a:gd name="T3" fmla="*/ 18 h 2771"/>
                  <a:gd name="T4" fmla="*/ 2 w 19"/>
                  <a:gd name="T5" fmla="*/ 16 h 2771"/>
                  <a:gd name="T6" fmla="*/ 4 w 19"/>
                  <a:gd name="T7" fmla="*/ 14 h 2771"/>
                  <a:gd name="T8" fmla="*/ 6 w 19"/>
                  <a:gd name="T9" fmla="*/ 12 h 2771"/>
                  <a:gd name="T10" fmla="*/ 8 w 19"/>
                  <a:gd name="T11" fmla="*/ 9 h 2771"/>
                  <a:gd name="T12" fmla="*/ 12 w 19"/>
                  <a:gd name="T13" fmla="*/ 7 h 2771"/>
                  <a:gd name="T14" fmla="*/ 14 w 19"/>
                  <a:gd name="T15" fmla="*/ 5 h 2771"/>
                  <a:gd name="T16" fmla="*/ 16 w 19"/>
                  <a:gd name="T17" fmla="*/ 2 h 2771"/>
                  <a:gd name="T18" fmla="*/ 19 w 19"/>
                  <a:gd name="T19" fmla="*/ 0 h 2771"/>
                  <a:gd name="T20" fmla="*/ 19 w 19"/>
                  <a:gd name="T21" fmla="*/ 2771 h 2771"/>
                  <a:gd name="T22" fmla="*/ 16 w 19"/>
                  <a:gd name="T23" fmla="*/ 2769 h 2771"/>
                  <a:gd name="T24" fmla="*/ 14 w 19"/>
                  <a:gd name="T25" fmla="*/ 2767 h 2771"/>
                  <a:gd name="T26" fmla="*/ 12 w 19"/>
                  <a:gd name="T27" fmla="*/ 2764 h 2771"/>
                  <a:gd name="T28" fmla="*/ 8 w 19"/>
                  <a:gd name="T29" fmla="*/ 2762 h 2771"/>
                  <a:gd name="T30" fmla="*/ 6 w 19"/>
                  <a:gd name="T31" fmla="*/ 2760 h 2771"/>
                  <a:gd name="T32" fmla="*/ 4 w 19"/>
                  <a:gd name="T33" fmla="*/ 2758 h 2771"/>
                  <a:gd name="T34" fmla="*/ 2 w 19"/>
                  <a:gd name="T35" fmla="*/ 2756 h 2771"/>
                  <a:gd name="T36" fmla="*/ 0 w 19"/>
                  <a:gd name="T37" fmla="*/ 2754 h 2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771">
                    <a:moveTo>
                      <a:pt x="0" y="2754"/>
                    </a:moveTo>
                    <a:lnTo>
                      <a:pt x="0" y="18"/>
                    </a:lnTo>
                    <a:lnTo>
                      <a:pt x="2" y="16"/>
                    </a:lnTo>
                    <a:lnTo>
                      <a:pt x="4" y="14"/>
                    </a:lnTo>
                    <a:lnTo>
                      <a:pt x="6" y="12"/>
                    </a:lnTo>
                    <a:lnTo>
                      <a:pt x="8" y="9"/>
                    </a:lnTo>
                    <a:lnTo>
                      <a:pt x="12" y="7"/>
                    </a:lnTo>
                    <a:lnTo>
                      <a:pt x="14" y="5"/>
                    </a:lnTo>
                    <a:lnTo>
                      <a:pt x="16" y="2"/>
                    </a:lnTo>
                    <a:lnTo>
                      <a:pt x="19" y="0"/>
                    </a:lnTo>
                    <a:lnTo>
                      <a:pt x="19" y="2771"/>
                    </a:lnTo>
                    <a:lnTo>
                      <a:pt x="16" y="2769"/>
                    </a:lnTo>
                    <a:lnTo>
                      <a:pt x="14" y="2767"/>
                    </a:lnTo>
                    <a:lnTo>
                      <a:pt x="12" y="2764"/>
                    </a:lnTo>
                    <a:lnTo>
                      <a:pt x="8" y="2762"/>
                    </a:lnTo>
                    <a:lnTo>
                      <a:pt x="6" y="2760"/>
                    </a:lnTo>
                    <a:lnTo>
                      <a:pt x="4" y="2758"/>
                    </a:lnTo>
                    <a:lnTo>
                      <a:pt x="2" y="2756"/>
                    </a:lnTo>
                    <a:lnTo>
                      <a:pt x="0" y="2754"/>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70" name="Freeform 5058"/>
              <p:cNvSpPr>
                <a:spLocks noChangeAspect="1"/>
              </p:cNvSpPr>
              <p:nvPr/>
            </p:nvSpPr>
            <p:spPr bwMode="auto">
              <a:xfrm>
                <a:off x="4820" y="762"/>
                <a:ext cx="7" cy="927"/>
              </a:xfrm>
              <a:custGeom>
                <a:avLst/>
                <a:gdLst>
                  <a:gd name="T0" fmla="*/ 0 w 20"/>
                  <a:gd name="T1" fmla="*/ 2769 h 2785"/>
                  <a:gd name="T2" fmla="*/ 0 w 20"/>
                  <a:gd name="T3" fmla="*/ 16 h 2785"/>
                  <a:gd name="T4" fmla="*/ 3 w 20"/>
                  <a:gd name="T5" fmla="*/ 14 h 2785"/>
                  <a:gd name="T6" fmla="*/ 5 w 20"/>
                  <a:gd name="T7" fmla="*/ 12 h 2785"/>
                  <a:gd name="T8" fmla="*/ 7 w 20"/>
                  <a:gd name="T9" fmla="*/ 9 h 2785"/>
                  <a:gd name="T10" fmla="*/ 9 w 20"/>
                  <a:gd name="T11" fmla="*/ 7 h 2785"/>
                  <a:gd name="T12" fmla="*/ 12 w 20"/>
                  <a:gd name="T13" fmla="*/ 5 h 2785"/>
                  <a:gd name="T14" fmla="*/ 14 w 20"/>
                  <a:gd name="T15" fmla="*/ 4 h 2785"/>
                  <a:gd name="T16" fmla="*/ 16 w 20"/>
                  <a:gd name="T17" fmla="*/ 2 h 2785"/>
                  <a:gd name="T18" fmla="*/ 20 w 20"/>
                  <a:gd name="T19" fmla="*/ 0 h 2785"/>
                  <a:gd name="T20" fmla="*/ 20 w 20"/>
                  <a:gd name="T21" fmla="*/ 2785 h 2785"/>
                  <a:gd name="T22" fmla="*/ 16 w 20"/>
                  <a:gd name="T23" fmla="*/ 2783 h 2785"/>
                  <a:gd name="T24" fmla="*/ 14 w 20"/>
                  <a:gd name="T25" fmla="*/ 2781 h 2785"/>
                  <a:gd name="T26" fmla="*/ 12 w 20"/>
                  <a:gd name="T27" fmla="*/ 2780 h 2785"/>
                  <a:gd name="T28" fmla="*/ 9 w 20"/>
                  <a:gd name="T29" fmla="*/ 2778 h 2785"/>
                  <a:gd name="T30" fmla="*/ 7 w 20"/>
                  <a:gd name="T31" fmla="*/ 2776 h 2785"/>
                  <a:gd name="T32" fmla="*/ 5 w 20"/>
                  <a:gd name="T33" fmla="*/ 2774 h 2785"/>
                  <a:gd name="T34" fmla="*/ 3 w 20"/>
                  <a:gd name="T35" fmla="*/ 2771 h 2785"/>
                  <a:gd name="T36" fmla="*/ 0 w 20"/>
                  <a:gd name="T37" fmla="*/ 2769 h 2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2785">
                    <a:moveTo>
                      <a:pt x="0" y="2769"/>
                    </a:moveTo>
                    <a:lnTo>
                      <a:pt x="0" y="16"/>
                    </a:lnTo>
                    <a:lnTo>
                      <a:pt x="3" y="14"/>
                    </a:lnTo>
                    <a:lnTo>
                      <a:pt x="5" y="12"/>
                    </a:lnTo>
                    <a:lnTo>
                      <a:pt x="7" y="9"/>
                    </a:lnTo>
                    <a:lnTo>
                      <a:pt x="9" y="7"/>
                    </a:lnTo>
                    <a:lnTo>
                      <a:pt x="12" y="5"/>
                    </a:lnTo>
                    <a:lnTo>
                      <a:pt x="14" y="4"/>
                    </a:lnTo>
                    <a:lnTo>
                      <a:pt x="16" y="2"/>
                    </a:lnTo>
                    <a:lnTo>
                      <a:pt x="20" y="0"/>
                    </a:lnTo>
                    <a:lnTo>
                      <a:pt x="20" y="2785"/>
                    </a:lnTo>
                    <a:lnTo>
                      <a:pt x="16" y="2783"/>
                    </a:lnTo>
                    <a:lnTo>
                      <a:pt x="14" y="2781"/>
                    </a:lnTo>
                    <a:lnTo>
                      <a:pt x="12" y="2780"/>
                    </a:lnTo>
                    <a:lnTo>
                      <a:pt x="9" y="2778"/>
                    </a:lnTo>
                    <a:lnTo>
                      <a:pt x="7" y="2776"/>
                    </a:lnTo>
                    <a:lnTo>
                      <a:pt x="5" y="2774"/>
                    </a:lnTo>
                    <a:lnTo>
                      <a:pt x="3" y="2771"/>
                    </a:lnTo>
                    <a:lnTo>
                      <a:pt x="0" y="2769"/>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71" name="Freeform 5059"/>
              <p:cNvSpPr>
                <a:spLocks noChangeAspect="1"/>
              </p:cNvSpPr>
              <p:nvPr/>
            </p:nvSpPr>
            <p:spPr bwMode="auto">
              <a:xfrm>
                <a:off x="4823" y="760"/>
                <a:ext cx="7" cy="933"/>
              </a:xfrm>
              <a:custGeom>
                <a:avLst/>
                <a:gdLst>
                  <a:gd name="T0" fmla="*/ 0 w 19"/>
                  <a:gd name="T1" fmla="*/ 2786 h 2800"/>
                  <a:gd name="T2" fmla="*/ 0 w 19"/>
                  <a:gd name="T3" fmla="*/ 15 h 2800"/>
                  <a:gd name="T4" fmla="*/ 2 w 19"/>
                  <a:gd name="T5" fmla="*/ 13 h 2800"/>
                  <a:gd name="T6" fmla="*/ 4 w 19"/>
                  <a:gd name="T7" fmla="*/ 12 h 2800"/>
                  <a:gd name="T8" fmla="*/ 6 w 19"/>
                  <a:gd name="T9" fmla="*/ 10 h 2800"/>
                  <a:gd name="T10" fmla="*/ 9 w 19"/>
                  <a:gd name="T11" fmla="*/ 8 h 2800"/>
                  <a:gd name="T12" fmla="*/ 12 w 19"/>
                  <a:gd name="T13" fmla="*/ 6 h 2800"/>
                  <a:gd name="T14" fmla="*/ 14 w 19"/>
                  <a:gd name="T15" fmla="*/ 5 h 2800"/>
                  <a:gd name="T16" fmla="*/ 16 w 19"/>
                  <a:gd name="T17" fmla="*/ 3 h 2800"/>
                  <a:gd name="T18" fmla="*/ 19 w 19"/>
                  <a:gd name="T19" fmla="*/ 0 h 2800"/>
                  <a:gd name="T20" fmla="*/ 19 w 19"/>
                  <a:gd name="T21" fmla="*/ 2800 h 2800"/>
                  <a:gd name="T22" fmla="*/ 16 w 19"/>
                  <a:gd name="T23" fmla="*/ 2799 h 2800"/>
                  <a:gd name="T24" fmla="*/ 14 w 19"/>
                  <a:gd name="T25" fmla="*/ 2796 h 2800"/>
                  <a:gd name="T26" fmla="*/ 12 w 19"/>
                  <a:gd name="T27" fmla="*/ 2794 h 2800"/>
                  <a:gd name="T28" fmla="*/ 9 w 19"/>
                  <a:gd name="T29" fmla="*/ 2793 h 2800"/>
                  <a:gd name="T30" fmla="*/ 6 w 19"/>
                  <a:gd name="T31" fmla="*/ 2791 h 2800"/>
                  <a:gd name="T32" fmla="*/ 4 w 19"/>
                  <a:gd name="T33" fmla="*/ 2789 h 2800"/>
                  <a:gd name="T34" fmla="*/ 2 w 19"/>
                  <a:gd name="T35" fmla="*/ 2788 h 2800"/>
                  <a:gd name="T36" fmla="*/ 0 w 19"/>
                  <a:gd name="T37" fmla="*/ 2786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00">
                    <a:moveTo>
                      <a:pt x="0" y="2786"/>
                    </a:moveTo>
                    <a:lnTo>
                      <a:pt x="0" y="15"/>
                    </a:lnTo>
                    <a:lnTo>
                      <a:pt x="2" y="13"/>
                    </a:lnTo>
                    <a:lnTo>
                      <a:pt x="4" y="12"/>
                    </a:lnTo>
                    <a:lnTo>
                      <a:pt x="6" y="10"/>
                    </a:lnTo>
                    <a:lnTo>
                      <a:pt x="9" y="8"/>
                    </a:lnTo>
                    <a:lnTo>
                      <a:pt x="12" y="6"/>
                    </a:lnTo>
                    <a:lnTo>
                      <a:pt x="14" y="5"/>
                    </a:lnTo>
                    <a:lnTo>
                      <a:pt x="16" y="3"/>
                    </a:lnTo>
                    <a:lnTo>
                      <a:pt x="19" y="0"/>
                    </a:lnTo>
                    <a:lnTo>
                      <a:pt x="19" y="2800"/>
                    </a:lnTo>
                    <a:lnTo>
                      <a:pt x="16" y="2799"/>
                    </a:lnTo>
                    <a:lnTo>
                      <a:pt x="14" y="2796"/>
                    </a:lnTo>
                    <a:lnTo>
                      <a:pt x="12" y="2794"/>
                    </a:lnTo>
                    <a:lnTo>
                      <a:pt x="9" y="2793"/>
                    </a:lnTo>
                    <a:lnTo>
                      <a:pt x="6" y="2791"/>
                    </a:lnTo>
                    <a:lnTo>
                      <a:pt x="4" y="2789"/>
                    </a:lnTo>
                    <a:lnTo>
                      <a:pt x="2" y="2788"/>
                    </a:lnTo>
                    <a:lnTo>
                      <a:pt x="0" y="2786"/>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72" name="Freeform 5060"/>
              <p:cNvSpPr>
                <a:spLocks noChangeAspect="1"/>
              </p:cNvSpPr>
              <p:nvPr/>
            </p:nvSpPr>
            <p:spPr bwMode="auto">
              <a:xfrm>
                <a:off x="4827" y="758"/>
                <a:ext cx="6" cy="938"/>
              </a:xfrm>
              <a:custGeom>
                <a:avLst/>
                <a:gdLst>
                  <a:gd name="T0" fmla="*/ 0 w 18"/>
                  <a:gd name="T1" fmla="*/ 2798 h 2811"/>
                  <a:gd name="T2" fmla="*/ 0 w 18"/>
                  <a:gd name="T3" fmla="*/ 13 h 2811"/>
                  <a:gd name="T4" fmla="*/ 2 w 18"/>
                  <a:gd name="T5" fmla="*/ 11 h 2811"/>
                  <a:gd name="T6" fmla="*/ 4 w 18"/>
                  <a:gd name="T7" fmla="*/ 10 h 2811"/>
                  <a:gd name="T8" fmla="*/ 6 w 18"/>
                  <a:gd name="T9" fmla="*/ 8 h 2811"/>
                  <a:gd name="T10" fmla="*/ 8 w 18"/>
                  <a:gd name="T11" fmla="*/ 6 h 2811"/>
                  <a:gd name="T12" fmla="*/ 11 w 18"/>
                  <a:gd name="T13" fmla="*/ 4 h 2811"/>
                  <a:gd name="T14" fmla="*/ 13 w 18"/>
                  <a:gd name="T15" fmla="*/ 3 h 2811"/>
                  <a:gd name="T16" fmla="*/ 16 w 18"/>
                  <a:gd name="T17" fmla="*/ 1 h 2811"/>
                  <a:gd name="T18" fmla="*/ 18 w 18"/>
                  <a:gd name="T19" fmla="*/ 0 h 2811"/>
                  <a:gd name="T20" fmla="*/ 18 w 18"/>
                  <a:gd name="T21" fmla="*/ 2811 h 2811"/>
                  <a:gd name="T22" fmla="*/ 16 w 18"/>
                  <a:gd name="T23" fmla="*/ 2809 h 2811"/>
                  <a:gd name="T24" fmla="*/ 13 w 18"/>
                  <a:gd name="T25" fmla="*/ 2808 h 2811"/>
                  <a:gd name="T26" fmla="*/ 11 w 18"/>
                  <a:gd name="T27" fmla="*/ 2807 h 2811"/>
                  <a:gd name="T28" fmla="*/ 8 w 18"/>
                  <a:gd name="T29" fmla="*/ 2805 h 2811"/>
                  <a:gd name="T30" fmla="*/ 6 w 18"/>
                  <a:gd name="T31" fmla="*/ 2804 h 2811"/>
                  <a:gd name="T32" fmla="*/ 4 w 18"/>
                  <a:gd name="T33" fmla="*/ 2801 h 2811"/>
                  <a:gd name="T34" fmla="*/ 2 w 18"/>
                  <a:gd name="T35" fmla="*/ 2800 h 2811"/>
                  <a:gd name="T36" fmla="*/ 0 w 18"/>
                  <a:gd name="T37" fmla="*/ 2798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2811">
                    <a:moveTo>
                      <a:pt x="0" y="2798"/>
                    </a:moveTo>
                    <a:lnTo>
                      <a:pt x="0" y="13"/>
                    </a:lnTo>
                    <a:lnTo>
                      <a:pt x="2" y="11"/>
                    </a:lnTo>
                    <a:lnTo>
                      <a:pt x="4" y="10"/>
                    </a:lnTo>
                    <a:lnTo>
                      <a:pt x="6" y="8"/>
                    </a:lnTo>
                    <a:lnTo>
                      <a:pt x="8" y="6"/>
                    </a:lnTo>
                    <a:lnTo>
                      <a:pt x="11" y="4"/>
                    </a:lnTo>
                    <a:lnTo>
                      <a:pt x="13" y="3"/>
                    </a:lnTo>
                    <a:lnTo>
                      <a:pt x="16" y="1"/>
                    </a:lnTo>
                    <a:lnTo>
                      <a:pt x="18" y="0"/>
                    </a:lnTo>
                    <a:lnTo>
                      <a:pt x="18" y="2811"/>
                    </a:lnTo>
                    <a:lnTo>
                      <a:pt x="16" y="2809"/>
                    </a:lnTo>
                    <a:lnTo>
                      <a:pt x="13" y="2808"/>
                    </a:lnTo>
                    <a:lnTo>
                      <a:pt x="11" y="2807"/>
                    </a:lnTo>
                    <a:lnTo>
                      <a:pt x="8" y="2805"/>
                    </a:lnTo>
                    <a:lnTo>
                      <a:pt x="6" y="2804"/>
                    </a:lnTo>
                    <a:lnTo>
                      <a:pt x="4" y="2801"/>
                    </a:lnTo>
                    <a:lnTo>
                      <a:pt x="2" y="2800"/>
                    </a:lnTo>
                    <a:lnTo>
                      <a:pt x="0" y="2798"/>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73" name="Freeform 5061"/>
              <p:cNvSpPr>
                <a:spLocks noChangeAspect="1"/>
              </p:cNvSpPr>
              <p:nvPr/>
            </p:nvSpPr>
            <p:spPr bwMode="auto">
              <a:xfrm>
                <a:off x="4830" y="757"/>
                <a:ext cx="6" cy="940"/>
              </a:xfrm>
              <a:custGeom>
                <a:avLst/>
                <a:gdLst>
                  <a:gd name="T0" fmla="*/ 0 w 18"/>
                  <a:gd name="T1" fmla="*/ 2811 h 2822"/>
                  <a:gd name="T2" fmla="*/ 0 w 18"/>
                  <a:gd name="T3" fmla="*/ 11 h 2822"/>
                  <a:gd name="T4" fmla="*/ 2 w 18"/>
                  <a:gd name="T5" fmla="*/ 10 h 2822"/>
                  <a:gd name="T6" fmla="*/ 4 w 18"/>
                  <a:gd name="T7" fmla="*/ 9 h 2822"/>
                  <a:gd name="T8" fmla="*/ 7 w 18"/>
                  <a:gd name="T9" fmla="*/ 7 h 2822"/>
                  <a:gd name="T10" fmla="*/ 9 w 18"/>
                  <a:gd name="T11" fmla="*/ 6 h 2822"/>
                  <a:gd name="T12" fmla="*/ 12 w 18"/>
                  <a:gd name="T13" fmla="*/ 4 h 2822"/>
                  <a:gd name="T14" fmla="*/ 14 w 18"/>
                  <a:gd name="T15" fmla="*/ 3 h 2822"/>
                  <a:gd name="T16" fmla="*/ 16 w 18"/>
                  <a:gd name="T17" fmla="*/ 2 h 2822"/>
                  <a:gd name="T18" fmla="*/ 18 w 18"/>
                  <a:gd name="T19" fmla="*/ 0 h 2822"/>
                  <a:gd name="T20" fmla="*/ 18 w 18"/>
                  <a:gd name="T21" fmla="*/ 2822 h 2822"/>
                  <a:gd name="T22" fmla="*/ 16 w 18"/>
                  <a:gd name="T23" fmla="*/ 2821 h 2822"/>
                  <a:gd name="T24" fmla="*/ 14 w 18"/>
                  <a:gd name="T25" fmla="*/ 2819 h 2822"/>
                  <a:gd name="T26" fmla="*/ 12 w 18"/>
                  <a:gd name="T27" fmla="*/ 2818 h 2822"/>
                  <a:gd name="T28" fmla="*/ 9 w 18"/>
                  <a:gd name="T29" fmla="*/ 2817 h 2822"/>
                  <a:gd name="T30" fmla="*/ 7 w 18"/>
                  <a:gd name="T31" fmla="*/ 2815 h 2822"/>
                  <a:gd name="T32" fmla="*/ 4 w 18"/>
                  <a:gd name="T33" fmla="*/ 2814 h 2822"/>
                  <a:gd name="T34" fmla="*/ 2 w 18"/>
                  <a:gd name="T35" fmla="*/ 2813 h 2822"/>
                  <a:gd name="T36" fmla="*/ 0 w 18"/>
                  <a:gd name="T37" fmla="*/ 2811 h 2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2822">
                    <a:moveTo>
                      <a:pt x="0" y="2811"/>
                    </a:moveTo>
                    <a:lnTo>
                      <a:pt x="0" y="11"/>
                    </a:lnTo>
                    <a:lnTo>
                      <a:pt x="2" y="10"/>
                    </a:lnTo>
                    <a:lnTo>
                      <a:pt x="4" y="9"/>
                    </a:lnTo>
                    <a:lnTo>
                      <a:pt x="7" y="7"/>
                    </a:lnTo>
                    <a:lnTo>
                      <a:pt x="9" y="6"/>
                    </a:lnTo>
                    <a:lnTo>
                      <a:pt x="12" y="4"/>
                    </a:lnTo>
                    <a:lnTo>
                      <a:pt x="14" y="3"/>
                    </a:lnTo>
                    <a:lnTo>
                      <a:pt x="16" y="2"/>
                    </a:lnTo>
                    <a:lnTo>
                      <a:pt x="18" y="0"/>
                    </a:lnTo>
                    <a:lnTo>
                      <a:pt x="18" y="2822"/>
                    </a:lnTo>
                    <a:lnTo>
                      <a:pt x="16" y="2821"/>
                    </a:lnTo>
                    <a:lnTo>
                      <a:pt x="14" y="2819"/>
                    </a:lnTo>
                    <a:lnTo>
                      <a:pt x="12" y="2818"/>
                    </a:lnTo>
                    <a:lnTo>
                      <a:pt x="9" y="2817"/>
                    </a:lnTo>
                    <a:lnTo>
                      <a:pt x="7" y="2815"/>
                    </a:lnTo>
                    <a:lnTo>
                      <a:pt x="4" y="2814"/>
                    </a:lnTo>
                    <a:lnTo>
                      <a:pt x="2" y="2813"/>
                    </a:lnTo>
                    <a:lnTo>
                      <a:pt x="0" y="2811"/>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74" name="Freeform 5062"/>
              <p:cNvSpPr>
                <a:spLocks noChangeAspect="1"/>
              </p:cNvSpPr>
              <p:nvPr/>
            </p:nvSpPr>
            <p:spPr bwMode="auto">
              <a:xfrm>
                <a:off x="4833" y="754"/>
                <a:ext cx="6" cy="944"/>
              </a:xfrm>
              <a:custGeom>
                <a:avLst/>
                <a:gdLst>
                  <a:gd name="T0" fmla="*/ 0 w 19"/>
                  <a:gd name="T1" fmla="*/ 2822 h 2832"/>
                  <a:gd name="T2" fmla="*/ 0 w 19"/>
                  <a:gd name="T3" fmla="*/ 11 h 2832"/>
                  <a:gd name="T4" fmla="*/ 3 w 19"/>
                  <a:gd name="T5" fmla="*/ 9 h 2832"/>
                  <a:gd name="T6" fmla="*/ 5 w 19"/>
                  <a:gd name="T7" fmla="*/ 8 h 2832"/>
                  <a:gd name="T8" fmla="*/ 7 w 19"/>
                  <a:gd name="T9" fmla="*/ 7 h 2832"/>
                  <a:gd name="T10" fmla="*/ 9 w 19"/>
                  <a:gd name="T11" fmla="*/ 5 h 2832"/>
                  <a:gd name="T12" fmla="*/ 12 w 19"/>
                  <a:gd name="T13" fmla="*/ 4 h 2832"/>
                  <a:gd name="T14" fmla="*/ 15 w 19"/>
                  <a:gd name="T15" fmla="*/ 3 h 2832"/>
                  <a:gd name="T16" fmla="*/ 17 w 19"/>
                  <a:gd name="T17" fmla="*/ 2 h 2832"/>
                  <a:gd name="T18" fmla="*/ 19 w 19"/>
                  <a:gd name="T19" fmla="*/ 0 h 2832"/>
                  <a:gd name="T20" fmla="*/ 19 w 19"/>
                  <a:gd name="T21" fmla="*/ 2832 h 2832"/>
                  <a:gd name="T22" fmla="*/ 17 w 19"/>
                  <a:gd name="T23" fmla="*/ 2831 h 2832"/>
                  <a:gd name="T24" fmla="*/ 15 w 19"/>
                  <a:gd name="T25" fmla="*/ 2830 h 2832"/>
                  <a:gd name="T26" fmla="*/ 12 w 19"/>
                  <a:gd name="T27" fmla="*/ 2828 h 2832"/>
                  <a:gd name="T28" fmla="*/ 9 w 19"/>
                  <a:gd name="T29" fmla="*/ 2827 h 2832"/>
                  <a:gd name="T30" fmla="*/ 7 w 19"/>
                  <a:gd name="T31" fmla="*/ 2826 h 2832"/>
                  <a:gd name="T32" fmla="*/ 5 w 19"/>
                  <a:gd name="T33" fmla="*/ 2824 h 2832"/>
                  <a:gd name="T34" fmla="*/ 3 w 19"/>
                  <a:gd name="T35" fmla="*/ 2823 h 2832"/>
                  <a:gd name="T36" fmla="*/ 0 w 19"/>
                  <a:gd name="T37" fmla="*/ 2822 h 2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32">
                    <a:moveTo>
                      <a:pt x="0" y="2822"/>
                    </a:moveTo>
                    <a:lnTo>
                      <a:pt x="0" y="11"/>
                    </a:lnTo>
                    <a:lnTo>
                      <a:pt x="3" y="9"/>
                    </a:lnTo>
                    <a:lnTo>
                      <a:pt x="5" y="8"/>
                    </a:lnTo>
                    <a:lnTo>
                      <a:pt x="7" y="7"/>
                    </a:lnTo>
                    <a:lnTo>
                      <a:pt x="9" y="5"/>
                    </a:lnTo>
                    <a:lnTo>
                      <a:pt x="12" y="4"/>
                    </a:lnTo>
                    <a:lnTo>
                      <a:pt x="15" y="3"/>
                    </a:lnTo>
                    <a:lnTo>
                      <a:pt x="17" y="2"/>
                    </a:lnTo>
                    <a:lnTo>
                      <a:pt x="19" y="0"/>
                    </a:lnTo>
                    <a:lnTo>
                      <a:pt x="19" y="2832"/>
                    </a:lnTo>
                    <a:lnTo>
                      <a:pt x="17" y="2831"/>
                    </a:lnTo>
                    <a:lnTo>
                      <a:pt x="15" y="2830"/>
                    </a:lnTo>
                    <a:lnTo>
                      <a:pt x="12" y="2828"/>
                    </a:lnTo>
                    <a:lnTo>
                      <a:pt x="9" y="2827"/>
                    </a:lnTo>
                    <a:lnTo>
                      <a:pt x="7" y="2826"/>
                    </a:lnTo>
                    <a:lnTo>
                      <a:pt x="5" y="2824"/>
                    </a:lnTo>
                    <a:lnTo>
                      <a:pt x="3" y="2823"/>
                    </a:lnTo>
                    <a:lnTo>
                      <a:pt x="0" y="2822"/>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75" name="Freeform 5063"/>
              <p:cNvSpPr>
                <a:spLocks noChangeAspect="1"/>
              </p:cNvSpPr>
              <p:nvPr/>
            </p:nvSpPr>
            <p:spPr bwMode="auto">
              <a:xfrm>
                <a:off x="4836" y="753"/>
                <a:ext cx="6" cy="947"/>
              </a:xfrm>
              <a:custGeom>
                <a:avLst/>
                <a:gdLst>
                  <a:gd name="T0" fmla="*/ 0 w 19"/>
                  <a:gd name="T1" fmla="*/ 2832 h 2841"/>
                  <a:gd name="T2" fmla="*/ 0 w 19"/>
                  <a:gd name="T3" fmla="*/ 10 h 2841"/>
                  <a:gd name="T4" fmla="*/ 3 w 19"/>
                  <a:gd name="T5" fmla="*/ 9 h 2841"/>
                  <a:gd name="T6" fmla="*/ 6 w 19"/>
                  <a:gd name="T7" fmla="*/ 8 h 2841"/>
                  <a:gd name="T8" fmla="*/ 8 w 19"/>
                  <a:gd name="T9" fmla="*/ 7 h 2841"/>
                  <a:gd name="T10" fmla="*/ 10 w 19"/>
                  <a:gd name="T11" fmla="*/ 5 h 2841"/>
                  <a:gd name="T12" fmla="*/ 13 w 19"/>
                  <a:gd name="T13" fmla="*/ 4 h 2841"/>
                  <a:gd name="T14" fmla="*/ 15 w 19"/>
                  <a:gd name="T15" fmla="*/ 2 h 2841"/>
                  <a:gd name="T16" fmla="*/ 17 w 19"/>
                  <a:gd name="T17" fmla="*/ 1 h 2841"/>
                  <a:gd name="T18" fmla="*/ 19 w 19"/>
                  <a:gd name="T19" fmla="*/ 0 h 2841"/>
                  <a:gd name="T20" fmla="*/ 19 w 19"/>
                  <a:gd name="T21" fmla="*/ 2841 h 2841"/>
                  <a:gd name="T22" fmla="*/ 17 w 19"/>
                  <a:gd name="T23" fmla="*/ 2840 h 2841"/>
                  <a:gd name="T24" fmla="*/ 15 w 19"/>
                  <a:gd name="T25" fmla="*/ 2839 h 2841"/>
                  <a:gd name="T26" fmla="*/ 13 w 19"/>
                  <a:gd name="T27" fmla="*/ 2838 h 2841"/>
                  <a:gd name="T28" fmla="*/ 10 w 19"/>
                  <a:gd name="T29" fmla="*/ 2837 h 2841"/>
                  <a:gd name="T30" fmla="*/ 8 w 19"/>
                  <a:gd name="T31" fmla="*/ 2836 h 2841"/>
                  <a:gd name="T32" fmla="*/ 6 w 19"/>
                  <a:gd name="T33" fmla="*/ 2835 h 2841"/>
                  <a:gd name="T34" fmla="*/ 3 w 19"/>
                  <a:gd name="T35" fmla="*/ 2833 h 2841"/>
                  <a:gd name="T36" fmla="*/ 0 w 19"/>
                  <a:gd name="T37" fmla="*/ 2832 h 2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41">
                    <a:moveTo>
                      <a:pt x="0" y="2832"/>
                    </a:moveTo>
                    <a:lnTo>
                      <a:pt x="0" y="10"/>
                    </a:lnTo>
                    <a:lnTo>
                      <a:pt x="3" y="9"/>
                    </a:lnTo>
                    <a:lnTo>
                      <a:pt x="6" y="8"/>
                    </a:lnTo>
                    <a:lnTo>
                      <a:pt x="8" y="7"/>
                    </a:lnTo>
                    <a:lnTo>
                      <a:pt x="10" y="5"/>
                    </a:lnTo>
                    <a:lnTo>
                      <a:pt x="13" y="4"/>
                    </a:lnTo>
                    <a:lnTo>
                      <a:pt x="15" y="2"/>
                    </a:lnTo>
                    <a:lnTo>
                      <a:pt x="17" y="1"/>
                    </a:lnTo>
                    <a:lnTo>
                      <a:pt x="19" y="0"/>
                    </a:lnTo>
                    <a:lnTo>
                      <a:pt x="19" y="2841"/>
                    </a:lnTo>
                    <a:lnTo>
                      <a:pt x="17" y="2840"/>
                    </a:lnTo>
                    <a:lnTo>
                      <a:pt x="15" y="2839"/>
                    </a:lnTo>
                    <a:lnTo>
                      <a:pt x="13" y="2838"/>
                    </a:lnTo>
                    <a:lnTo>
                      <a:pt x="10" y="2837"/>
                    </a:lnTo>
                    <a:lnTo>
                      <a:pt x="8" y="2836"/>
                    </a:lnTo>
                    <a:lnTo>
                      <a:pt x="6" y="2835"/>
                    </a:lnTo>
                    <a:lnTo>
                      <a:pt x="3" y="2833"/>
                    </a:lnTo>
                    <a:lnTo>
                      <a:pt x="0" y="2832"/>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76" name="Freeform 5064"/>
              <p:cNvSpPr>
                <a:spLocks noChangeAspect="1"/>
              </p:cNvSpPr>
              <p:nvPr/>
            </p:nvSpPr>
            <p:spPr bwMode="auto">
              <a:xfrm>
                <a:off x="4839" y="752"/>
                <a:ext cx="6" cy="949"/>
              </a:xfrm>
              <a:custGeom>
                <a:avLst/>
                <a:gdLst>
                  <a:gd name="T0" fmla="*/ 0 w 19"/>
                  <a:gd name="T1" fmla="*/ 2840 h 2848"/>
                  <a:gd name="T2" fmla="*/ 0 w 19"/>
                  <a:gd name="T3" fmla="*/ 8 h 2848"/>
                  <a:gd name="T4" fmla="*/ 3 w 19"/>
                  <a:gd name="T5" fmla="*/ 6 h 2848"/>
                  <a:gd name="T6" fmla="*/ 5 w 19"/>
                  <a:gd name="T7" fmla="*/ 5 h 2848"/>
                  <a:gd name="T8" fmla="*/ 7 w 19"/>
                  <a:gd name="T9" fmla="*/ 4 h 2848"/>
                  <a:gd name="T10" fmla="*/ 9 w 19"/>
                  <a:gd name="T11" fmla="*/ 3 h 2848"/>
                  <a:gd name="T12" fmla="*/ 13 w 19"/>
                  <a:gd name="T13" fmla="*/ 2 h 2848"/>
                  <a:gd name="T14" fmla="*/ 15 w 19"/>
                  <a:gd name="T15" fmla="*/ 1 h 2848"/>
                  <a:gd name="T16" fmla="*/ 17 w 19"/>
                  <a:gd name="T17" fmla="*/ 0 h 2848"/>
                  <a:gd name="T18" fmla="*/ 19 w 19"/>
                  <a:gd name="T19" fmla="*/ 0 h 2848"/>
                  <a:gd name="T20" fmla="*/ 19 w 19"/>
                  <a:gd name="T21" fmla="*/ 2848 h 2848"/>
                  <a:gd name="T22" fmla="*/ 17 w 19"/>
                  <a:gd name="T23" fmla="*/ 2847 h 2848"/>
                  <a:gd name="T24" fmla="*/ 15 w 19"/>
                  <a:gd name="T25" fmla="*/ 2846 h 2848"/>
                  <a:gd name="T26" fmla="*/ 13 w 19"/>
                  <a:gd name="T27" fmla="*/ 2845 h 2848"/>
                  <a:gd name="T28" fmla="*/ 9 w 19"/>
                  <a:gd name="T29" fmla="*/ 2844 h 2848"/>
                  <a:gd name="T30" fmla="*/ 7 w 19"/>
                  <a:gd name="T31" fmla="*/ 2843 h 2848"/>
                  <a:gd name="T32" fmla="*/ 5 w 19"/>
                  <a:gd name="T33" fmla="*/ 2842 h 2848"/>
                  <a:gd name="T34" fmla="*/ 3 w 19"/>
                  <a:gd name="T35" fmla="*/ 2841 h 2848"/>
                  <a:gd name="T36" fmla="*/ 0 w 19"/>
                  <a:gd name="T37" fmla="*/ 2840 h 2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48">
                    <a:moveTo>
                      <a:pt x="0" y="2840"/>
                    </a:moveTo>
                    <a:lnTo>
                      <a:pt x="0" y="8"/>
                    </a:lnTo>
                    <a:lnTo>
                      <a:pt x="3" y="6"/>
                    </a:lnTo>
                    <a:lnTo>
                      <a:pt x="5" y="5"/>
                    </a:lnTo>
                    <a:lnTo>
                      <a:pt x="7" y="4"/>
                    </a:lnTo>
                    <a:lnTo>
                      <a:pt x="9" y="3"/>
                    </a:lnTo>
                    <a:lnTo>
                      <a:pt x="13" y="2"/>
                    </a:lnTo>
                    <a:lnTo>
                      <a:pt x="15" y="1"/>
                    </a:lnTo>
                    <a:lnTo>
                      <a:pt x="17" y="0"/>
                    </a:lnTo>
                    <a:lnTo>
                      <a:pt x="19" y="0"/>
                    </a:lnTo>
                    <a:lnTo>
                      <a:pt x="19" y="2848"/>
                    </a:lnTo>
                    <a:lnTo>
                      <a:pt x="17" y="2847"/>
                    </a:lnTo>
                    <a:lnTo>
                      <a:pt x="15" y="2846"/>
                    </a:lnTo>
                    <a:lnTo>
                      <a:pt x="13" y="2845"/>
                    </a:lnTo>
                    <a:lnTo>
                      <a:pt x="9" y="2844"/>
                    </a:lnTo>
                    <a:lnTo>
                      <a:pt x="7" y="2843"/>
                    </a:lnTo>
                    <a:lnTo>
                      <a:pt x="5" y="2842"/>
                    </a:lnTo>
                    <a:lnTo>
                      <a:pt x="3" y="2841"/>
                    </a:lnTo>
                    <a:lnTo>
                      <a:pt x="0" y="2840"/>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77" name="Freeform 5065"/>
              <p:cNvSpPr>
                <a:spLocks noChangeAspect="1"/>
              </p:cNvSpPr>
              <p:nvPr/>
            </p:nvSpPr>
            <p:spPr bwMode="auto">
              <a:xfrm>
                <a:off x="4842" y="750"/>
                <a:ext cx="7" cy="953"/>
              </a:xfrm>
              <a:custGeom>
                <a:avLst/>
                <a:gdLst>
                  <a:gd name="T0" fmla="*/ 0 w 20"/>
                  <a:gd name="T1" fmla="*/ 2848 h 2855"/>
                  <a:gd name="T2" fmla="*/ 0 w 20"/>
                  <a:gd name="T3" fmla="*/ 7 h 2855"/>
                  <a:gd name="T4" fmla="*/ 4 w 20"/>
                  <a:gd name="T5" fmla="*/ 6 h 2855"/>
                  <a:gd name="T6" fmla="*/ 6 w 20"/>
                  <a:gd name="T7" fmla="*/ 5 h 2855"/>
                  <a:gd name="T8" fmla="*/ 8 w 20"/>
                  <a:gd name="T9" fmla="*/ 4 h 2855"/>
                  <a:gd name="T10" fmla="*/ 10 w 20"/>
                  <a:gd name="T11" fmla="*/ 4 h 2855"/>
                  <a:gd name="T12" fmla="*/ 13 w 20"/>
                  <a:gd name="T13" fmla="*/ 3 h 2855"/>
                  <a:gd name="T14" fmla="*/ 15 w 20"/>
                  <a:gd name="T15" fmla="*/ 2 h 2855"/>
                  <a:gd name="T16" fmla="*/ 17 w 20"/>
                  <a:gd name="T17" fmla="*/ 1 h 2855"/>
                  <a:gd name="T18" fmla="*/ 20 w 20"/>
                  <a:gd name="T19" fmla="*/ 0 h 2855"/>
                  <a:gd name="T20" fmla="*/ 20 w 20"/>
                  <a:gd name="T21" fmla="*/ 2855 h 2855"/>
                  <a:gd name="T22" fmla="*/ 17 w 20"/>
                  <a:gd name="T23" fmla="*/ 2854 h 2855"/>
                  <a:gd name="T24" fmla="*/ 15 w 20"/>
                  <a:gd name="T25" fmla="*/ 2854 h 2855"/>
                  <a:gd name="T26" fmla="*/ 13 w 20"/>
                  <a:gd name="T27" fmla="*/ 2853 h 2855"/>
                  <a:gd name="T28" fmla="*/ 10 w 20"/>
                  <a:gd name="T29" fmla="*/ 2852 h 2855"/>
                  <a:gd name="T30" fmla="*/ 8 w 20"/>
                  <a:gd name="T31" fmla="*/ 2851 h 2855"/>
                  <a:gd name="T32" fmla="*/ 6 w 20"/>
                  <a:gd name="T33" fmla="*/ 2850 h 2855"/>
                  <a:gd name="T34" fmla="*/ 4 w 20"/>
                  <a:gd name="T35" fmla="*/ 2849 h 2855"/>
                  <a:gd name="T36" fmla="*/ 0 w 20"/>
                  <a:gd name="T37" fmla="*/ 2848 h 2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2855">
                    <a:moveTo>
                      <a:pt x="0" y="2848"/>
                    </a:moveTo>
                    <a:lnTo>
                      <a:pt x="0" y="7"/>
                    </a:lnTo>
                    <a:lnTo>
                      <a:pt x="4" y="6"/>
                    </a:lnTo>
                    <a:lnTo>
                      <a:pt x="6" y="5"/>
                    </a:lnTo>
                    <a:lnTo>
                      <a:pt x="8" y="4"/>
                    </a:lnTo>
                    <a:lnTo>
                      <a:pt x="10" y="4"/>
                    </a:lnTo>
                    <a:lnTo>
                      <a:pt x="13" y="3"/>
                    </a:lnTo>
                    <a:lnTo>
                      <a:pt x="15" y="2"/>
                    </a:lnTo>
                    <a:lnTo>
                      <a:pt x="17" y="1"/>
                    </a:lnTo>
                    <a:lnTo>
                      <a:pt x="20" y="0"/>
                    </a:lnTo>
                    <a:lnTo>
                      <a:pt x="20" y="2855"/>
                    </a:lnTo>
                    <a:lnTo>
                      <a:pt x="17" y="2854"/>
                    </a:lnTo>
                    <a:lnTo>
                      <a:pt x="15" y="2854"/>
                    </a:lnTo>
                    <a:lnTo>
                      <a:pt x="13" y="2853"/>
                    </a:lnTo>
                    <a:lnTo>
                      <a:pt x="10" y="2852"/>
                    </a:lnTo>
                    <a:lnTo>
                      <a:pt x="8" y="2851"/>
                    </a:lnTo>
                    <a:lnTo>
                      <a:pt x="6" y="2850"/>
                    </a:lnTo>
                    <a:lnTo>
                      <a:pt x="4" y="2849"/>
                    </a:lnTo>
                    <a:lnTo>
                      <a:pt x="0" y="2848"/>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78" name="Freeform 5066"/>
              <p:cNvSpPr>
                <a:spLocks noChangeAspect="1"/>
              </p:cNvSpPr>
              <p:nvPr/>
            </p:nvSpPr>
            <p:spPr bwMode="auto">
              <a:xfrm>
                <a:off x="4844" y="750"/>
                <a:ext cx="7" cy="953"/>
              </a:xfrm>
              <a:custGeom>
                <a:avLst/>
                <a:gdLst>
                  <a:gd name="T0" fmla="*/ 0 w 19"/>
                  <a:gd name="T1" fmla="*/ 2855 h 2862"/>
                  <a:gd name="T2" fmla="*/ 0 w 19"/>
                  <a:gd name="T3" fmla="*/ 7 h 2862"/>
                  <a:gd name="T4" fmla="*/ 3 w 19"/>
                  <a:gd name="T5" fmla="*/ 6 h 2862"/>
                  <a:gd name="T6" fmla="*/ 5 w 19"/>
                  <a:gd name="T7" fmla="*/ 5 h 2862"/>
                  <a:gd name="T8" fmla="*/ 7 w 19"/>
                  <a:gd name="T9" fmla="*/ 4 h 2862"/>
                  <a:gd name="T10" fmla="*/ 10 w 19"/>
                  <a:gd name="T11" fmla="*/ 3 h 2862"/>
                  <a:gd name="T12" fmla="*/ 13 w 19"/>
                  <a:gd name="T13" fmla="*/ 3 h 2862"/>
                  <a:gd name="T14" fmla="*/ 15 w 19"/>
                  <a:gd name="T15" fmla="*/ 2 h 2862"/>
                  <a:gd name="T16" fmla="*/ 17 w 19"/>
                  <a:gd name="T17" fmla="*/ 1 h 2862"/>
                  <a:gd name="T18" fmla="*/ 19 w 19"/>
                  <a:gd name="T19" fmla="*/ 0 h 2862"/>
                  <a:gd name="T20" fmla="*/ 19 w 19"/>
                  <a:gd name="T21" fmla="*/ 2862 h 2862"/>
                  <a:gd name="T22" fmla="*/ 17 w 19"/>
                  <a:gd name="T23" fmla="*/ 2860 h 2862"/>
                  <a:gd name="T24" fmla="*/ 15 w 19"/>
                  <a:gd name="T25" fmla="*/ 2860 h 2862"/>
                  <a:gd name="T26" fmla="*/ 13 w 19"/>
                  <a:gd name="T27" fmla="*/ 2859 h 2862"/>
                  <a:gd name="T28" fmla="*/ 10 w 19"/>
                  <a:gd name="T29" fmla="*/ 2858 h 2862"/>
                  <a:gd name="T30" fmla="*/ 7 w 19"/>
                  <a:gd name="T31" fmla="*/ 2857 h 2862"/>
                  <a:gd name="T32" fmla="*/ 5 w 19"/>
                  <a:gd name="T33" fmla="*/ 2857 h 2862"/>
                  <a:gd name="T34" fmla="*/ 3 w 19"/>
                  <a:gd name="T35" fmla="*/ 2856 h 2862"/>
                  <a:gd name="T36" fmla="*/ 0 w 19"/>
                  <a:gd name="T37" fmla="*/ 2855 h 2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62">
                    <a:moveTo>
                      <a:pt x="0" y="2855"/>
                    </a:moveTo>
                    <a:lnTo>
                      <a:pt x="0" y="7"/>
                    </a:lnTo>
                    <a:lnTo>
                      <a:pt x="3" y="6"/>
                    </a:lnTo>
                    <a:lnTo>
                      <a:pt x="5" y="5"/>
                    </a:lnTo>
                    <a:lnTo>
                      <a:pt x="7" y="4"/>
                    </a:lnTo>
                    <a:lnTo>
                      <a:pt x="10" y="3"/>
                    </a:lnTo>
                    <a:lnTo>
                      <a:pt x="13" y="3"/>
                    </a:lnTo>
                    <a:lnTo>
                      <a:pt x="15" y="2"/>
                    </a:lnTo>
                    <a:lnTo>
                      <a:pt x="17" y="1"/>
                    </a:lnTo>
                    <a:lnTo>
                      <a:pt x="19" y="0"/>
                    </a:lnTo>
                    <a:lnTo>
                      <a:pt x="19" y="2862"/>
                    </a:lnTo>
                    <a:lnTo>
                      <a:pt x="17" y="2860"/>
                    </a:lnTo>
                    <a:lnTo>
                      <a:pt x="15" y="2860"/>
                    </a:lnTo>
                    <a:lnTo>
                      <a:pt x="13" y="2859"/>
                    </a:lnTo>
                    <a:lnTo>
                      <a:pt x="10" y="2858"/>
                    </a:lnTo>
                    <a:lnTo>
                      <a:pt x="7" y="2857"/>
                    </a:lnTo>
                    <a:lnTo>
                      <a:pt x="5" y="2857"/>
                    </a:lnTo>
                    <a:lnTo>
                      <a:pt x="3" y="2856"/>
                    </a:lnTo>
                    <a:lnTo>
                      <a:pt x="0" y="2855"/>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79" name="Freeform 5067"/>
              <p:cNvSpPr>
                <a:spLocks noChangeAspect="1"/>
              </p:cNvSpPr>
              <p:nvPr/>
            </p:nvSpPr>
            <p:spPr bwMode="auto">
              <a:xfrm>
                <a:off x="4849" y="748"/>
                <a:ext cx="6" cy="954"/>
              </a:xfrm>
              <a:custGeom>
                <a:avLst/>
                <a:gdLst>
                  <a:gd name="T0" fmla="*/ 0 w 19"/>
                  <a:gd name="T1" fmla="*/ 2861 h 2867"/>
                  <a:gd name="T2" fmla="*/ 0 w 19"/>
                  <a:gd name="T3" fmla="*/ 6 h 2867"/>
                  <a:gd name="T4" fmla="*/ 3 w 19"/>
                  <a:gd name="T5" fmla="*/ 5 h 2867"/>
                  <a:gd name="T6" fmla="*/ 5 w 19"/>
                  <a:gd name="T7" fmla="*/ 5 h 2867"/>
                  <a:gd name="T8" fmla="*/ 7 w 19"/>
                  <a:gd name="T9" fmla="*/ 4 h 2867"/>
                  <a:gd name="T10" fmla="*/ 9 w 19"/>
                  <a:gd name="T11" fmla="*/ 3 h 2867"/>
                  <a:gd name="T12" fmla="*/ 11 w 19"/>
                  <a:gd name="T13" fmla="*/ 3 h 2867"/>
                  <a:gd name="T14" fmla="*/ 15 w 19"/>
                  <a:gd name="T15" fmla="*/ 1 h 2867"/>
                  <a:gd name="T16" fmla="*/ 17 w 19"/>
                  <a:gd name="T17" fmla="*/ 0 h 2867"/>
                  <a:gd name="T18" fmla="*/ 19 w 19"/>
                  <a:gd name="T19" fmla="*/ 0 h 2867"/>
                  <a:gd name="T20" fmla="*/ 19 w 19"/>
                  <a:gd name="T21" fmla="*/ 2867 h 2867"/>
                  <a:gd name="T22" fmla="*/ 17 w 19"/>
                  <a:gd name="T23" fmla="*/ 2867 h 2867"/>
                  <a:gd name="T24" fmla="*/ 15 w 19"/>
                  <a:gd name="T25" fmla="*/ 2866 h 2867"/>
                  <a:gd name="T26" fmla="*/ 11 w 19"/>
                  <a:gd name="T27" fmla="*/ 2866 h 2867"/>
                  <a:gd name="T28" fmla="*/ 9 w 19"/>
                  <a:gd name="T29" fmla="*/ 2865 h 2867"/>
                  <a:gd name="T30" fmla="*/ 7 w 19"/>
                  <a:gd name="T31" fmla="*/ 2863 h 2867"/>
                  <a:gd name="T32" fmla="*/ 5 w 19"/>
                  <a:gd name="T33" fmla="*/ 2863 h 2867"/>
                  <a:gd name="T34" fmla="*/ 3 w 19"/>
                  <a:gd name="T35" fmla="*/ 2862 h 2867"/>
                  <a:gd name="T36" fmla="*/ 0 w 19"/>
                  <a:gd name="T37" fmla="*/ 2861 h 2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67">
                    <a:moveTo>
                      <a:pt x="0" y="2861"/>
                    </a:moveTo>
                    <a:lnTo>
                      <a:pt x="0" y="6"/>
                    </a:lnTo>
                    <a:lnTo>
                      <a:pt x="3" y="5"/>
                    </a:lnTo>
                    <a:lnTo>
                      <a:pt x="5" y="5"/>
                    </a:lnTo>
                    <a:lnTo>
                      <a:pt x="7" y="4"/>
                    </a:lnTo>
                    <a:lnTo>
                      <a:pt x="9" y="3"/>
                    </a:lnTo>
                    <a:lnTo>
                      <a:pt x="11" y="3"/>
                    </a:lnTo>
                    <a:lnTo>
                      <a:pt x="15" y="1"/>
                    </a:lnTo>
                    <a:lnTo>
                      <a:pt x="17" y="0"/>
                    </a:lnTo>
                    <a:lnTo>
                      <a:pt x="19" y="0"/>
                    </a:lnTo>
                    <a:lnTo>
                      <a:pt x="19" y="2867"/>
                    </a:lnTo>
                    <a:lnTo>
                      <a:pt x="17" y="2867"/>
                    </a:lnTo>
                    <a:lnTo>
                      <a:pt x="15" y="2866"/>
                    </a:lnTo>
                    <a:lnTo>
                      <a:pt x="11" y="2866"/>
                    </a:lnTo>
                    <a:lnTo>
                      <a:pt x="9" y="2865"/>
                    </a:lnTo>
                    <a:lnTo>
                      <a:pt x="7" y="2863"/>
                    </a:lnTo>
                    <a:lnTo>
                      <a:pt x="5" y="2863"/>
                    </a:lnTo>
                    <a:lnTo>
                      <a:pt x="3" y="2862"/>
                    </a:lnTo>
                    <a:lnTo>
                      <a:pt x="0" y="2861"/>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80" name="Freeform 5068"/>
              <p:cNvSpPr>
                <a:spLocks noChangeAspect="1"/>
              </p:cNvSpPr>
              <p:nvPr/>
            </p:nvSpPr>
            <p:spPr bwMode="auto">
              <a:xfrm>
                <a:off x="4852" y="748"/>
                <a:ext cx="6" cy="954"/>
              </a:xfrm>
              <a:custGeom>
                <a:avLst/>
                <a:gdLst>
                  <a:gd name="T0" fmla="*/ 0 w 19"/>
                  <a:gd name="T1" fmla="*/ 2867 h 2871"/>
                  <a:gd name="T2" fmla="*/ 0 w 19"/>
                  <a:gd name="T3" fmla="*/ 5 h 2871"/>
                  <a:gd name="T4" fmla="*/ 3 w 19"/>
                  <a:gd name="T5" fmla="*/ 5 h 2871"/>
                  <a:gd name="T6" fmla="*/ 6 w 19"/>
                  <a:gd name="T7" fmla="*/ 3 h 2871"/>
                  <a:gd name="T8" fmla="*/ 8 w 19"/>
                  <a:gd name="T9" fmla="*/ 2 h 2871"/>
                  <a:gd name="T10" fmla="*/ 10 w 19"/>
                  <a:gd name="T11" fmla="*/ 2 h 2871"/>
                  <a:gd name="T12" fmla="*/ 12 w 19"/>
                  <a:gd name="T13" fmla="*/ 1 h 2871"/>
                  <a:gd name="T14" fmla="*/ 15 w 19"/>
                  <a:gd name="T15" fmla="*/ 1 h 2871"/>
                  <a:gd name="T16" fmla="*/ 17 w 19"/>
                  <a:gd name="T17" fmla="*/ 0 h 2871"/>
                  <a:gd name="T18" fmla="*/ 19 w 19"/>
                  <a:gd name="T19" fmla="*/ 0 h 2871"/>
                  <a:gd name="T20" fmla="*/ 19 w 19"/>
                  <a:gd name="T21" fmla="*/ 2871 h 2871"/>
                  <a:gd name="T22" fmla="*/ 17 w 19"/>
                  <a:gd name="T23" fmla="*/ 2871 h 2871"/>
                  <a:gd name="T24" fmla="*/ 15 w 19"/>
                  <a:gd name="T25" fmla="*/ 2870 h 2871"/>
                  <a:gd name="T26" fmla="*/ 12 w 19"/>
                  <a:gd name="T27" fmla="*/ 2870 h 2871"/>
                  <a:gd name="T28" fmla="*/ 10 w 19"/>
                  <a:gd name="T29" fmla="*/ 2869 h 2871"/>
                  <a:gd name="T30" fmla="*/ 8 w 19"/>
                  <a:gd name="T31" fmla="*/ 2869 h 2871"/>
                  <a:gd name="T32" fmla="*/ 6 w 19"/>
                  <a:gd name="T33" fmla="*/ 2868 h 2871"/>
                  <a:gd name="T34" fmla="*/ 3 w 19"/>
                  <a:gd name="T35" fmla="*/ 2868 h 2871"/>
                  <a:gd name="T36" fmla="*/ 0 w 19"/>
                  <a:gd name="T37" fmla="*/ 2867 h 2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71">
                    <a:moveTo>
                      <a:pt x="0" y="2867"/>
                    </a:moveTo>
                    <a:lnTo>
                      <a:pt x="0" y="5"/>
                    </a:lnTo>
                    <a:lnTo>
                      <a:pt x="3" y="5"/>
                    </a:lnTo>
                    <a:lnTo>
                      <a:pt x="6" y="3"/>
                    </a:lnTo>
                    <a:lnTo>
                      <a:pt x="8" y="2"/>
                    </a:lnTo>
                    <a:lnTo>
                      <a:pt x="10" y="2"/>
                    </a:lnTo>
                    <a:lnTo>
                      <a:pt x="12" y="1"/>
                    </a:lnTo>
                    <a:lnTo>
                      <a:pt x="15" y="1"/>
                    </a:lnTo>
                    <a:lnTo>
                      <a:pt x="17" y="0"/>
                    </a:lnTo>
                    <a:lnTo>
                      <a:pt x="19" y="0"/>
                    </a:lnTo>
                    <a:lnTo>
                      <a:pt x="19" y="2871"/>
                    </a:lnTo>
                    <a:lnTo>
                      <a:pt x="17" y="2871"/>
                    </a:lnTo>
                    <a:lnTo>
                      <a:pt x="15" y="2870"/>
                    </a:lnTo>
                    <a:lnTo>
                      <a:pt x="12" y="2870"/>
                    </a:lnTo>
                    <a:lnTo>
                      <a:pt x="10" y="2869"/>
                    </a:lnTo>
                    <a:lnTo>
                      <a:pt x="8" y="2869"/>
                    </a:lnTo>
                    <a:lnTo>
                      <a:pt x="6" y="2868"/>
                    </a:lnTo>
                    <a:lnTo>
                      <a:pt x="3" y="2868"/>
                    </a:lnTo>
                    <a:lnTo>
                      <a:pt x="0" y="2867"/>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81" name="Freeform 5069"/>
              <p:cNvSpPr>
                <a:spLocks noChangeAspect="1"/>
              </p:cNvSpPr>
              <p:nvPr/>
            </p:nvSpPr>
            <p:spPr bwMode="auto">
              <a:xfrm>
                <a:off x="4855" y="747"/>
                <a:ext cx="6" cy="958"/>
              </a:xfrm>
              <a:custGeom>
                <a:avLst/>
                <a:gdLst>
                  <a:gd name="T0" fmla="*/ 0 w 19"/>
                  <a:gd name="T1" fmla="*/ 2871 h 2875"/>
                  <a:gd name="T2" fmla="*/ 0 w 19"/>
                  <a:gd name="T3" fmla="*/ 4 h 2875"/>
                  <a:gd name="T4" fmla="*/ 3 w 19"/>
                  <a:gd name="T5" fmla="*/ 3 h 2875"/>
                  <a:gd name="T6" fmla="*/ 5 w 19"/>
                  <a:gd name="T7" fmla="*/ 3 h 2875"/>
                  <a:gd name="T8" fmla="*/ 7 w 19"/>
                  <a:gd name="T9" fmla="*/ 2 h 2875"/>
                  <a:gd name="T10" fmla="*/ 9 w 19"/>
                  <a:gd name="T11" fmla="*/ 2 h 2875"/>
                  <a:gd name="T12" fmla="*/ 11 w 19"/>
                  <a:gd name="T13" fmla="*/ 1 h 2875"/>
                  <a:gd name="T14" fmla="*/ 15 w 19"/>
                  <a:gd name="T15" fmla="*/ 1 h 2875"/>
                  <a:gd name="T16" fmla="*/ 17 w 19"/>
                  <a:gd name="T17" fmla="*/ 1 h 2875"/>
                  <a:gd name="T18" fmla="*/ 19 w 19"/>
                  <a:gd name="T19" fmla="*/ 0 h 2875"/>
                  <a:gd name="T20" fmla="*/ 19 w 19"/>
                  <a:gd name="T21" fmla="*/ 2875 h 2875"/>
                  <a:gd name="T22" fmla="*/ 17 w 19"/>
                  <a:gd name="T23" fmla="*/ 2874 h 2875"/>
                  <a:gd name="T24" fmla="*/ 15 w 19"/>
                  <a:gd name="T25" fmla="*/ 2874 h 2875"/>
                  <a:gd name="T26" fmla="*/ 11 w 19"/>
                  <a:gd name="T27" fmla="*/ 2874 h 2875"/>
                  <a:gd name="T28" fmla="*/ 9 w 19"/>
                  <a:gd name="T29" fmla="*/ 2873 h 2875"/>
                  <a:gd name="T30" fmla="*/ 7 w 19"/>
                  <a:gd name="T31" fmla="*/ 2873 h 2875"/>
                  <a:gd name="T32" fmla="*/ 5 w 19"/>
                  <a:gd name="T33" fmla="*/ 2872 h 2875"/>
                  <a:gd name="T34" fmla="*/ 3 w 19"/>
                  <a:gd name="T35" fmla="*/ 2872 h 2875"/>
                  <a:gd name="T36" fmla="*/ 0 w 19"/>
                  <a:gd name="T37" fmla="*/ 2871 h 2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75">
                    <a:moveTo>
                      <a:pt x="0" y="2871"/>
                    </a:moveTo>
                    <a:lnTo>
                      <a:pt x="0" y="4"/>
                    </a:lnTo>
                    <a:lnTo>
                      <a:pt x="3" y="3"/>
                    </a:lnTo>
                    <a:lnTo>
                      <a:pt x="5" y="3"/>
                    </a:lnTo>
                    <a:lnTo>
                      <a:pt x="7" y="2"/>
                    </a:lnTo>
                    <a:lnTo>
                      <a:pt x="9" y="2"/>
                    </a:lnTo>
                    <a:lnTo>
                      <a:pt x="11" y="1"/>
                    </a:lnTo>
                    <a:lnTo>
                      <a:pt x="15" y="1"/>
                    </a:lnTo>
                    <a:lnTo>
                      <a:pt x="17" y="1"/>
                    </a:lnTo>
                    <a:lnTo>
                      <a:pt x="19" y="0"/>
                    </a:lnTo>
                    <a:lnTo>
                      <a:pt x="19" y="2875"/>
                    </a:lnTo>
                    <a:lnTo>
                      <a:pt x="17" y="2874"/>
                    </a:lnTo>
                    <a:lnTo>
                      <a:pt x="15" y="2874"/>
                    </a:lnTo>
                    <a:lnTo>
                      <a:pt x="11" y="2874"/>
                    </a:lnTo>
                    <a:lnTo>
                      <a:pt x="9" y="2873"/>
                    </a:lnTo>
                    <a:lnTo>
                      <a:pt x="7" y="2873"/>
                    </a:lnTo>
                    <a:lnTo>
                      <a:pt x="5" y="2872"/>
                    </a:lnTo>
                    <a:lnTo>
                      <a:pt x="3" y="2872"/>
                    </a:lnTo>
                    <a:lnTo>
                      <a:pt x="0" y="2871"/>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82" name="Freeform 5070"/>
              <p:cNvSpPr>
                <a:spLocks noChangeAspect="1"/>
              </p:cNvSpPr>
              <p:nvPr/>
            </p:nvSpPr>
            <p:spPr bwMode="auto">
              <a:xfrm>
                <a:off x="4857" y="747"/>
                <a:ext cx="7" cy="959"/>
              </a:xfrm>
              <a:custGeom>
                <a:avLst/>
                <a:gdLst>
                  <a:gd name="T0" fmla="*/ 0 w 20"/>
                  <a:gd name="T1" fmla="*/ 2874 h 2877"/>
                  <a:gd name="T2" fmla="*/ 0 w 20"/>
                  <a:gd name="T3" fmla="*/ 3 h 2877"/>
                  <a:gd name="T4" fmla="*/ 2 w 20"/>
                  <a:gd name="T5" fmla="*/ 2 h 2877"/>
                  <a:gd name="T6" fmla="*/ 6 w 20"/>
                  <a:gd name="T7" fmla="*/ 2 h 2877"/>
                  <a:gd name="T8" fmla="*/ 8 w 20"/>
                  <a:gd name="T9" fmla="*/ 2 h 2877"/>
                  <a:gd name="T10" fmla="*/ 10 w 20"/>
                  <a:gd name="T11" fmla="*/ 1 h 2877"/>
                  <a:gd name="T12" fmla="*/ 12 w 20"/>
                  <a:gd name="T13" fmla="*/ 1 h 2877"/>
                  <a:gd name="T14" fmla="*/ 15 w 20"/>
                  <a:gd name="T15" fmla="*/ 0 h 2877"/>
                  <a:gd name="T16" fmla="*/ 17 w 20"/>
                  <a:gd name="T17" fmla="*/ 0 h 2877"/>
                  <a:gd name="T18" fmla="*/ 20 w 20"/>
                  <a:gd name="T19" fmla="*/ 0 h 2877"/>
                  <a:gd name="T20" fmla="*/ 20 w 20"/>
                  <a:gd name="T21" fmla="*/ 2877 h 2877"/>
                  <a:gd name="T22" fmla="*/ 17 w 20"/>
                  <a:gd name="T23" fmla="*/ 2877 h 2877"/>
                  <a:gd name="T24" fmla="*/ 15 w 20"/>
                  <a:gd name="T25" fmla="*/ 2876 h 2877"/>
                  <a:gd name="T26" fmla="*/ 12 w 20"/>
                  <a:gd name="T27" fmla="*/ 2876 h 2877"/>
                  <a:gd name="T28" fmla="*/ 10 w 20"/>
                  <a:gd name="T29" fmla="*/ 2876 h 2877"/>
                  <a:gd name="T30" fmla="*/ 8 w 20"/>
                  <a:gd name="T31" fmla="*/ 2875 h 2877"/>
                  <a:gd name="T32" fmla="*/ 6 w 20"/>
                  <a:gd name="T33" fmla="*/ 2875 h 2877"/>
                  <a:gd name="T34" fmla="*/ 2 w 20"/>
                  <a:gd name="T35" fmla="*/ 2875 h 2877"/>
                  <a:gd name="T36" fmla="*/ 0 w 20"/>
                  <a:gd name="T37" fmla="*/ 2874 h 2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2877">
                    <a:moveTo>
                      <a:pt x="0" y="2874"/>
                    </a:moveTo>
                    <a:lnTo>
                      <a:pt x="0" y="3"/>
                    </a:lnTo>
                    <a:lnTo>
                      <a:pt x="2" y="2"/>
                    </a:lnTo>
                    <a:lnTo>
                      <a:pt x="6" y="2"/>
                    </a:lnTo>
                    <a:lnTo>
                      <a:pt x="8" y="2"/>
                    </a:lnTo>
                    <a:lnTo>
                      <a:pt x="10" y="1"/>
                    </a:lnTo>
                    <a:lnTo>
                      <a:pt x="12" y="1"/>
                    </a:lnTo>
                    <a:lnTo>
                      <a:pt x="15" y="0"/>
                    </a:lnTo>
                    <a:lnTo>
                      <a:pt x="17" y="0"/>
                    </a:lnTo>
                    <a:lnTo>
                      <a:pt x="20" y="0"/>
                    </a:lnTo>
                    <a:lnTo>
                      <a:pt x="20" y="2877"/>
                    </a:lnTo>
                    <a:lnTo>
                      <a:pt x="17" y="2877"/>
                    </a:lnTo>
                    <a:lnTo>
                      <a:pt x="15" y="2876"/>
                    </a:lnTo>
                    <a:lnTo>
                      <a:pt x="12" y="2876"/>
                    </a:lnTo>
                    <a:lnTo>
                      <a:pt x="10" y="2876"/>
                    </a:lnTo>
                    <a:lnTo>
                      <a:pt x="8" y="2875"/>
                    </a:lnTo>
                    <a:lnTo>
                      <a:pt x="6" y="2875"/>
                    </a:lnTo>
                    <a:lnTo>
                      <a:pt x="2" y="2875"/>
                    </a:lnTo>
                    <a:lnTo>
                      <a:pt x="0" y="2874"/>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83" name="Freeform 5071"/>
              <p:cNvSpPr>
                <a:spLocks noChangeAspect="1"/>
              </p:cNvSpPr>
              <p:nvPr/>
            </p:nvSpPr>
            <p:spPr bwMode="auto">
              <a:xfrm>
                <a:off x="4861" y="746"/>
                <a:ext cx="7" cy="960"/>
              </a:xfrm>
              <a:custGeom>
                <a:avLst/>
                <a:gdLst>
                  <a:gd name="T0" fmla="*/ 0 w 19"/>
                  <a:gd name="T1" fmla="*/ 2877 h 2879"/>
                  <a:gd name="T2" fmla="*/ 0 w 19"/>
                  <a:gd name="T3" fmla="*/ 2 h 2879"/>
                  <a:gd name="T4" fmla="*/ 2 w 19"/>
                  <a:gd name="T5" fmla="*/ 2 h 2879"/>
                  <a:gd name="T6" fmla="*/ 5 w 19"/>
                  <a:gd name="T7" fmla="*/ 1 h 2879"/>
                  <a:gd name="T8" fmla="*/ 7 w 19"/>
                  <a:gd name="T9" fmla="*/ 1 h 2879"/>
                  <a:gd name="T10" fmla="*/ 10 w 19"/>
                  <a:gd name="T11" fmla="*/ 1 h 2879"/>
                  <a:gd name="T12" fmla="*/ 12 w 19"/>
                  <a:gd name="T13" fmla="*/ 1 h 2879"/>
                  <a:gd name="T14" fmla="*/ 15 w 19"/>
                  <a:gd name="T15" fmla="*/ 0 h 2879"/>
                  <a:gd name="T16" fmla="*/ 17 w 19"/>
                  <a:gd name="T17" fmla="*/ 0 h 2879"/>
                  <a:gd name="T18" fmla="*/ 19 w 19"/>
                  <a:gd name="T19" fmla="*/ 0 h 2879"/>
                  <a:gd name="T20" fmla="*/ 19 w 19"/>
                  <a:gd name="T21" fmla="*/ 2879 h 2879"/>
                  <a:gd name="T22" fmla="*/ 17 w 19"/>
                  <a:gd name="T23" fmla="*/ 2879 h 2879"/>
                  <a:gd name="T24" fmla="*/ 15 w 19"/>
                  <a:gd name="T25" fmla="*/ 2878 h 2879"/>
                  <a:gd name="T26" fmla="*/ 12 w 19"/>
                  <a:gd name="T27" fmla="*/ 2878 h 2879"/>
                  <a:gd name="T28" fmla="*/ 10 w 19"/>
                  <a:gd name="T29" fmla="*/ 2878 h 2879"/>
                  <a:gd name="T30" fmla="*/ 7 w 19"/>
                  <a:gd name="T31" fmla="*/ 2878 h 2879"/>
                  <a:gd name="T32" fmla="*/ 5 w 19"/>
                  <a:gd name="T33" fmla="*/ 2877 h 2879"/>
                  <a:gd name="T34" fmla="*/ 2 w 19"/>
                  <a:gd name="T35" fmla="*/ 2877 h 2879"/>
                  <a:gd name="T36" fmla="*/ 0 w 19"/>
                  <a:gd name="T37" fmla="*/ 2877 h 2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79">
                    <a:moveTo>
                      <a:pt x="0" y="2877"/>
                    </a:moveTo>
                    <a:lnTo>
                      <a:pt x="0" y="2"/>
                    </a:lnTo>
                    <a:lnTo>
                      <a:pt x="2" y="2"/>
                    </a:lnTo>
                    <a:lnTo>
                      <a:pt x="5" y="1"/>
                    </a:lnTo>
                    <a:lnTo>
                      <a:pt x="7" y="1"/>
                    </a:lnTo>
                    <a:lnTo>
                      <a:pt x="10" y="1"/>
                    </a:lnTo>
                    <a:lnTo>
                      <a:pt x="12" y="1"/>
                    </a:lnTo>
                    <a:lnTo>
                      <a:pt x="15" y="0"/>
                    </a:lnTo>
                    <a:lnTo>
                      <a:pt x="17" y="0"/>
                    </a:lnTo>
                    <a:lnTo>
                      <a:pt x="19" y="0"/>
                    </a:lnTo>
                    <a:lnTo>
                      <a:pt x="19" y="2879"/>
                    </a:lnTo>
                    <a:lnTo>
                      <a:pt x="17" y="2879"/>
                    </a:lnTo>
                    <a:lnTo>
                      <a:pt x="15" y="2878"/>
                    </a:lnTo>
                    <a:lnTo>
                      <a:pt x="12" y="2878"/>
                    </a:lnTo>
                    <a:lnTo>
                      <a:pt x="10" y="2878"/>
                    </a:lnTo>
                    <a:lnTo>
                      <a:pt x="7" y="2878"/>
                    </a:lnTo>
                    <a:lnTo>
                      <a:pt x="5" y="2877"/>
                    </a:lnTo>
                    <a:lnTo>
                      <a:pt x="2" y="2877"/>
                    </a:lnTo>
                    <a:lnTo>
                      <a:pt x="0" y="2877"/>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84" name="Freeform 5072"/>
              <p:cNvSpPr>
                <a:spLocks noChangeAspect="1"/>
              </p:cNvSpPr>
              <p:nvPr/>
            </p:nvSpPr>
            <p:spPr bwMode="auto">
              <a:xfrm>
                <a:off x="4864" y="746"/>
                <a:ext cx="7" cy="960"/>
              </a:xfrm>
              <a:custGeom>
                <a:avLst/>
                <a:gdLst>
                  <a:gd name="T0" fmla="*/ 0 w 19"/>
                  <a:gd name="T1" fmla="*/ 2879 h 2880"/>
                  <a:gd name="T2" fmla="*/ 0 w 19"/>
                  <a:gd name="T3" fmla="*/ 2 h 2880"/>
                  <a:gd name="T4" fmla="*/ 2 w 19"/>
                  <a:gd name="T5" fmla="*/ 2 h 2880"/>
                  <a:gd name="T6" fmla="*/ 5 w 19"/>
                  <a:gd name="T7" fmla="*/ 1 h 2880"/>
                  <a:gd name="T8" fmla="*/ 7 w 19"/>
                  <a:gd name="T9" fmla="*/ 1 h 2880"/>
                  <a:gd name="T10" fmla="*/ 9 w 19"/>
                  <a:gd name="T11" fmla="*/ 1 h 2880"/>
                  <a:gd name="T12" fmla="*/ 11 w 19"/>
                  <a:gd name="T13" fmla="*/ 1 h 2880"/>
                  <a:gd name="T14" fmla="*/ 14 w 19"/>
                  <a:gd name="T15" fmla="*/ 1 h 2880"/>
                  <a:gd name="T16" fmla="*/ 17 w 19"/>
                  <a:gd name="T17" fmla="*/ 0 h 2880"/>
                  <a:gd name="T18" fmla="*/ 19 w 19"/>
                  <a:gd name="T19" fmla="*/ 0 h 2880"/>
                  <a:gd name="T20" fmla="*/ 19 w 19"/>
                  <a:gd name="T21" fmla="*/ 2880 h 2880"/>
                  <a:gd name="T22" fmla="*/ 17 w 19"/>
                  <a:gd name="T23" fmla="*/ 2880 h 2880"/>
                  <a:gd name="T24" fmla="*/ 14 w 19"/>
                  <a:gd name="T25" fmla="*/ 2880 h 2880"/>
                  <a:gd name="T26" fmla="*/ 11 w 19"/>
                  <a:gd name="T27" fmla="*/ 2880 h 2880"/>
                  <a:gd name="T28" fmla="*/ 9 w 19"/>
                  <a:gd name="T29" fmla="*/ 2880 h 2880"/>
                  <a:gd name="T30" fmla="*/ 7 w 19"/>
                  <a:gd name="T31" fmla="*/ 2880 h 2880"/>
                  <a:gd name="T32" fmla="*/ 5 w 19"/>
                  <a:gd name="T33" fmla="*/ 2879 h 2880"/>
                  <a:gd name="T34" fmla="*/ 2 w 19"/>
                  <a:gd name="T35" fmla="*/ 2879 h 2880"/>
                  <a:gd name="T36" fmla="*/ 0 w 19"/>
                  <a:gd name="T37" fmla="*/ 2879 h 2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80">
                    <a:moveTo>
                      <a:pt x="0" y="2879"/>
                    </a:moveTo>
                    <a:lnTo>
                      <a:pt x="0" y="2"/>
                    </a:lnTo>
                    <a:lnTo>
                      <a:pt x="2" y="2"/>
                    </a:lnTo>
                    <a:lnTo>
                      <a:pt x="5" y="1"/>
                    </a:lnTo>
                    <a:lnTo>
                      <a:pt x="7" y="1"/>
                    </a:lnTo>
                    <a:lnTo>
                      <a:pt x="9" y="1"/>
                    </a:lnTo>
                    <a:lnTo>
                      <a:pt x="11" y="1"/>
                    </a:lnTo>
                    <a:lnTo>
                      <a:pt x="14" y="1"/>
                    </a:lnTo>
                    <a:lnTo>
                      <a:pt x="17" y="0"/>
                    </a:lnTo>
                    <a:lnTo>
                      <a:pt x="19" y="0"/>
                    </a:lnTo>
                    <a:lnTo>
                      <a:pt x="19" y="2880"/>
                    </a:lnTo>
                    <a:lnTo>
                      <a:pt x="17" y="2880"/>
                    </a:lnTo>
                    <a:lnTo>
                      <a:pt x="14" y="2880"/>
                    </a:lnTo>
                    <a:lnTo>
                      <a:pt x="11" y="2880"/>
                    </a:lnTo>
                    <a:lnTo>
                      <a:pt x="9" y="2880"/>
                    </a:lnTo>
                    <a:lnTo>
                      <a:pt x="7" y="2880"/>
                    </a:lnTo>
                    <a:lnTo>
                      <a:pt x="5" y="2879"/>
                    </a:lnTo>
                    <a:lnTo>
                      <a:pt x="2" y="2879"/>
                    </a:lnTo>
                    <a:lnTo>
                      <a:pt x="0" y="2879"/>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85" name="Freeform 5073"/>
              <p:cNvSpPr>
                <a:spLocks noChangeAspect="1"/>
              </p:cNvSpPr>
              <p:nvPr/>
            </p:nvSpPr>
            <p:spPr bwMode="auto">
              <a:xfrm>
                <a:off x="4868" y="746"/>
                <a:ext cx="6" cy="960"/>
              </a:xfrm>
              <a:custGeom>
                <a:avLst/>
                <a:gdLst>
                  <a:gd name="T0" fmla="*/ 0 w 19"/>
                  <a:gd name="T1" fmla="*/ 2880 h 2881"/>
                  <a:gd name="T2" fmla="*/ 0 w 19"/>
                  <a:gd name="T3" fmla="*/ 1 h 2881"/>
                  <a:gd name="T4" fmla="*/ 2 w 19"/>
                  <a:gd name="T5" fmla="*/ 1 h 2881"/>
                  <a:gd name="T6" fmla="*/ 5 w 19"/>
                  <a:gd name="T7" fmla="*/ 1 h 2881"/>
                  <a:gd name="T8" fmla="*/ 8 w 19"/>
                  <a:gd name="T9" fmla="*/ 0 h 2881"/>
                  <a:gd name="T10" fmla="*/ 10 w 19"/>
                  <a:gd name="T11" fmla="*/ 0 h 2881"/>
                  <a:gd name="T12" fmla="*/ 12 w 19"/>
                  <a:gd name="T13" fmla="*/ 0 h 2881"/>
                  <a:gd name="T14" fmla="*/ 15 w 19"/>
                  <a:gd name="T15" fmla="*/ 0 h 2881"/>
                  <a:gd name="T16" fmla="*/ 17 w 19"/>
                  <a:gd name="T17" fmla="*/ 0 h 2881"/>
                  <a:gd name="T18" fmla="*/ 19 w 19"/>
                  <a:gd name="T19" fmla="*/ 0 h 2881"/>
                  <a:gd name="T20" fmla="*/ 19 w 19"/>
                  <a:gd name="T21" fmla="*/ 2881 h 2881"/>
                  <a:gd name="T22" fmla="*/ 19 w 19"/>
                  <a:gd name="T23" fmla="*/ 2881 h 2881"/>
                  <a:gd name="T24" fmla="*/ 19 w 19"/>
                  <a:gd name="T25" fmla="*/ 2881 h 2881"/>
                  <a:gd name="T26" fmla="*/ 19 w 19"/>
                  <a:gd name="T27" fmla="*/ 2881 h 2881"/>
                  <a:gd name="T28" fmla="*/ 19 w 19"/>
                  <a:gd name="T29" fmla="*/ 2881 h 2881"/>
                  <a:gd name="T30" fmla="*/ 19 w 19"/>
                  <a:gd name="T31" fmla="*/ 2881 h 2881"/>
                  <a:gd name="T32" fmla="*/ 19 w 19"/>
                  <a:gd name="T33" fmla="*/ 2881 h 2881"/>
                  <a:gd name="T34" fmla="*/ 18 w 19"/>
                  <a:gd name="T35" fmla="*/ 2881 h 2881"/>
                  <a:gd name="T36" fmla="*/ 18 w 19"/>
                  <a:gd name="T37" fmla="*/ 2881 h 2881"/>
                  <a:gd name="T38" fmla="*/ 16 w 19"/>
                  <a:gd name="T39" fmla="*/ 2881 h 2881"/>
                  <a:gd name="T40" fmla="*/ 14 w 19"/>
                  <a:gd name="T41" fmla="*/ 2880 h 2881"/>
                  <a:gd name="T42" fmla="*/ 12 w 19"/>
                  <a:gd name="T43" fmla="*/ 2880 h 2881"/>
                  <a:gd name="T44" fmla="*/ 10 w 19"/>
                  <a:gd name="T45" fmla="*/ 2880 h 2881"/>
                  <a:gd name="T46" fmla="*/ 8 w 19"/>
                  <a:gd name="T47" fmla="*/ 2880 h 2881"/>
                  <a:gd name="T48" fmla="*/ 4 w 19"/>
                  <a:gd name="T49" fmla="*/ 2880 h 2881"/>
                  <a:gd name="T50" fmla="*/ 2 w 19"/>
                  <a:gd name="T51" fmla="*/ 2880 h 2881"/>
                  <a:gd name="T52" fmla="*/ 0 w 19"/>
                  <a:gd name="T53" fmla="*/ 2880 h 2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2881">
                    <a:moveTo>
                      <a:pt x="0" y="2880"/>
                    </a:moveTo>
                    <a:lnTo>
                      <a:pt x="0" y="1"/>
                    </a:lnTo>
                    <a:lnTo>
                      <a:pt x="2" y="1"/>
                    </a:lnTo>
                    <a:lnTo>
                      <a:pt x="5" y="1"/>
                    </a:lnTo>
                    <a:lnTo>
                      <a:pt x="8" y="0"/>
                    </a:lnTo>
                    <a:lnTo>
                      <a:pt x="10" y="0"/>
                    </a:lnTo>
                    <a:lnTo>
                      <a:pt x="12" y="0"/>
                    </a:lnTo>
                    <a:lnTo>
                      <a:pt x="15" y="0"/>
                    </a:lnTo>
                    <a:lnTo>
                      <a:pt x="17" y="0"/>
                    </a:lnTo>
                    <a:lnTo>
                      <a:pt x="19" y="0"/>
                    </a:lnTo>
                    <a:lnTo>
                      <a:pt x="19" y="2881"/>
                    </a:lnTo>
                    <a:lnTo>
                      <a:pt x="19" y="2881"/>
                    </a:lnTo>
                    <a:lnTo>
                      <a:pt x="19" y="2881"/>
                    </a:lnTo>
                    <a:lnTo>
                      <a:pt x="19" y="2881"/>
                    </a:lnTo>
                    <a:lnTo>
                      <a:pt x="19" y="2881"/>
                    </a:lnTo>
                    <a:lnTo>
                      <a:pt x="19" y="2881"/>
                    </a:lnTo>
                    <a:lnTo>
                      <a:pt x="19" y="2881"/>
                    </a:lnTo>
                    <a:lnTo>
                      <a:pt x="18" y="2881"/>
                    </a:lnTo>
                    <a:lnTo>
                      <a:pt x="18" y="2881"/>
                    </a:lnTo>
                    <a:lnTo>
                      <a:pt x="16" y="2881"/>
                    </a:lnTo>
                    <a:lnTo>
                      <a:pt x="14" y="2880"/>
                    </a:lnTo>
                    <a:lnTo>
                      <a:pt x="12" y="2880"/>
                    </a:lnTo>
                    <a:lnTo>
                      <a:pt x="10" y="2880"/>
                    </a:lnTo>
                    <a:lnTo>
                      <a:pt x="8" y="2880"/>
                    </a:lnTo>
                    <a:lnTo>
                      <a:pt x="4" y="2880"/>
                    </a:lnTo>
                    <a:lnTo>
                      <a:pt x="2" y="2880"/>
                    </a:lnTo>
                    <a:lnTo>
                      <a:pt x="0" y="2880"/>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86" name="Freeform 5074"/>
              <p:cNvSpPr>
                <a:spLocks noChangeAspect="1"/>
              </p:cNvSpPr>
              <p:nvPr/>
            </p:nvSpPr>
            <p:spPr bwMode="auto">
              <a:xfrm>
                <a:off x="4872" y="746"/>
                <a:ext cx="6" cy="960"/>
              </a:xfrm>
              <a:custGeom>
                <a:avLst/>
                <a:gdLst>
                  <a:gd name="T0" fmla="*/ 0 w 19"/>
                  <a:gd name="T1" fmla="*/ 2880 h 2881"/>
                  <a:gd name="T2" fmla="*/ 0 w 19"/>
                  <a:gd name="T3" fmla="*/ 0 h 2881"/>
                  <a:gd name="T4" fmla="*/ 1 w 19"/>
                  <a:gd name="T5" fmla="*/ 0 h 2881"/>
                  <a:gd name="T6" fmla="*/ 3 w 19"/>
                  <a:gd name="T7" fmla="*/ 0 h 2881"/>
                  <a:gd name="T8" fmla="*/ 4 w 19"/>
                  <a:gd name="T9" fmla="*/ 0 h 2881"/>
                  <a:gd name="T10" fmla="*/ 5 w 19"/>
                  <a:gd name="T11" fmla="*/ 0 h 2881"/>
                  <a:gd name="T12" fmla="*/ 6 w 19"/>
                  <a:gd name="T13" fmla="*/ 0 h 2881"/>
                  <a:gd name="T14" fmla="*/ 7 w 19"/>
                  <a:gd name="T15" fmla="*/ 0 h 2881"/>
                  <a:gd name="T16" fmla="*/ 8 w 19"/>
                  <a:gd name="T17" fmla="*/ 0 h 2881"/>
                  <a:gd name="T18" fmla="*/ 10 w 19"/>
                  <a:gd name="T19" fmla="*/ 0 h 2881"/>
                  <a:gd name="T20" fmla="*/ 11 w 19"/>
                  <a:gd name="T21" fmla="*/ 0 h 2881"/>
                  <a:gd name="T22" fmla="*/ 12 w 19"/>
                  <a:gd name="T23" fmla="*/ 0 h 2881"/>
                  <a:gd name="T24" fmla="*/ 13 w 19"/>
                  <a:gd name="T25" fmla="*/ 0 h 2881"/>
                  <a:gd name="T26" fmla="*/ 15 w 19"/>
                  <a:gd name="T27" fmla="*/ 0 h 2881"/>
                  <a:gd name="T28" fmla="*/ 16 w 19"/>
                  <a:gd name="T29" fmla="*/ 0 h 2881"/>
                  <a:gd name="T30" fmla="*/ 17 w 19"/>
                  <a:gd name="T31" fmla="*/ 0 h 2881"/>
                  <a:gd name="T32" fmla="*/ 18 w 19"/>
                  <a:gd name="T33" fmla="*/ 0 h 2881"/>
                  <a:gd name="T34" fmla="*/ 19 w 19"/>
                  <a:gd name="T35" fmla="*/ 0 h 2881"/>
                  <a:gd name="T36" fmla="*/ 19 w 19"/>
                  <a:gd name="T37" fmla="*/ 2880 h 2881"/>
                  <a:gd name="T38" fmla="*/ 18 w 19"/>
                  <a:gd name="T39" fmla="*/ 2880 h 2881"/>
                  <a:gd name="T40" fmla="*/ 17 w 19"/>
                  <a:gd name="T41" fmla="*/ 2880 h 2881"/>
                  <a:gd name="T42" fmla="*/ 15 w 19"/>
                  <a:gd name="T43" fmla="*/ 2880 h 2881"/>
                  <a:gd name="T44" fmla="*/ 13 w 19"/>
                  <a:gd name="T45" fmla="*/ 2880 h 2881"/>
                  <a:gd name="T46" fmla="*/ 12 w 19"/>
                  <a:gd name="T47" fmla="*/ 2880 h 2881"/>
                  <a:gd name="T48" fmla="*/ 11 w 19"/>
                  <a:gd name="T49" fmla="*/ 2881 h 2881"/>
                  <a:gd name="T50" fmla="*/ 10 w 19"/>
                  <a:gd name="T51" fmla="*/ 2881 h 2881"/>
                  <a:gd name="T52" fmla="*/ 8 w 19"/>
                  <a:gd name="T53" fmla="*/ 2881 h 2881"/>
                  <a:gd name="T54" fmla="*/ 7 w 19"/>
                  <a:gd name="T55" fmla="*/ 2881 h 2881"/>
                  <a:gd name="T56" fmla="*/ 6 w 19"/>
                  <a:gd name="T57" fmla="*/ 2881 h 2881"/>
                  <a:gd name="T58" fmla="*/ 5 w 19"/>
                  <a:gd name="T59" fmla="*/ 2880 h 2881"/>
                  <a:gd name="T60" fmla="*/ 4 w 19"/>
                  <a:gd name="T61" fmla="*/ 2880 h 2881"/>
                  <a:gd name="T62" fmla="*/ 3 w 19"/>
                  <a:gd name="T63" fmla="*/ 2880 h 2881"/>
                  <a:gd name="T64" fmla="*/ 2 w 19"/>
                  <a:gd name="T65" fmla="*/ 2880 h 2881"/>
                  <a:gd name="T66" fmla="*/ 1 w 19"/>
                  <a:gd name="T67" fmla="*/ 2880 h 2881"/>
                  <a:gd name="T68" fmla="*/ 0 w 19"/>
                  <a:gd name="T69" fmla="*/ 2880 h 2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 h="2881">
                    <a:moveTo>
                      <a:pt x="0" y="2880"/>
                    </a:moveTo>
                    <a:lnTo>
                      <a:pt x="0" y="0"/>
                    </a:lnTo>
                    <a:lnTo>
                      <a:pt x="1" y="0"/>
                    </a:lnTo>
                    <a:lnTo>
                      <a:pt x="3" y="0"/>
                    </a:lnTo>
                    <a:lnTo>
                      <a:pt x="4" y="0"/>
                    </a:lnTo>
                    <a:lnTo>
                      <a:pt x="5" y="0"/>
                    </a:lnTo>
                    <a:lnTo>
                      <a:pt x="6" y="0"/>
                    </a:lnTo>
                    <a:lnTo>
                      <a:pt x="7" y="0"/>
                    </a:lnTo>
                    <a:lnTo>
                      <a:pt x="8" y="0"/>
                    </a:lnTo>
                    <a:lnTo>
                      <a:pt x="10" y="0"/>
                    </a:lnTo>
                    <a:lnTo>
                      <a:pt x="11" y="0"/>
                    </a:lnTo>
                    <a:lnTo>
                      <a:pt x="12" y="0"/>
                    </a:lnTo>
                    <a:lnTo>
                      <a:pt x="13" y="0"/>
                    </a:lnTo>
                    <a:lnTo>
                      <a:pt x="15" y="0"/>
                    </a:lnTo>
                    <a:lnTo>
                      <a:pt x="16" y="0"/>
                    </a:lnTo>
                    <a:lnTo>
                      <a:pt x="17" y="0"/>
                    </a:lnTo>
                    <a:lnTo>
                      <a:pt x="18" y="0"/>
                    </a:lnTo>
                    <a:lnTo>
                      <a:pt x="19" y="0"/>
                    </a:lnTo>
                    <a:lnTo>
                      <a:pt x="19" y="2880"/>
                    </a:lnTo>
                    <a:lnTo>
                      <a:pt x="18" y="2880"/>
                    </a:lnTo>
                    <a:lnTo>
                      <a:pt x="17" y="2880"/>
                    </a:lnTo>
                    <a:lnTo>
                      <a:pt x="15" y="2880"/>
                    </a:lnTo>
                    <a:lnTo>
                      <a:pt x="13" y="2880"/>
                    </a:lnTo>
                    <a:lnTo>
                      <a:pt x="12" y="2880"/>
                    </a:lnTo>
                    <a:lnTo>
                      <a:pt x="11" y="2881"/>
                    </a:lnTo>
                    <a:lnTo>
                      <a:pt x="10" y="2881"/>
                    </a:lnTo>
                    <a:lnTo>
                      <a:pt x="8" y="2881"/>
                    </a:lnTo>
                    <a:lnTo>
                      <a:pt x="7" y="2881"/>
                    </a:lnTo>
                    <a:lnTo>
                      <a:pt x="6" y="2881"/>
                    </a:lnTo>
                    <a:lnTo>
                      <a:pt x="5" y="2880"/>
                    </a:lnTo>
                    <a:lnTo>
                      <a:pt x="4" y="2880"/>
                    </a:lnTo>
                    <a:lnTo>
                      <a:pt x="3" y="2880"/>
                    </a:lnTo>
                    <a:lnTo>
                      <a:pt x="2" y="2880"/>
                    </a:lnTo>
                    <a:lnTo>
                      <a:pt x="1" y="2880"/>
                    </a:lnTo>
                    <a:lnTo>
                      <a:pt x="0" y="2880"/>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87" name="Freeform 5075"/>
              <p:cNvSpPr>
                <a:spLocks noChangeAspect="1"/>
              </p:cNvSpPr>
              <p:nvPr/>
            </p:nvSpPr>
            <p:spPr bwMode="auto">
              <a:xfrm>
                <a:off x="4877" y="746"/>
                <a:ext cx="7" cy="960"/>
              </a:xfrm>
              <a:custGeom>
                <a:avLst/>
                <a:gdLst>
                  <a:gd name="T0" fmla="*/ 0 w 19"/>
                  <a:gd name="T1" fmla="*/ 2880 h 2880"/>
                  <a:gd name="T2" fmla="*/ 0 w 19"/>
                  <a:gd name="T3" fmla="*/ 0 h 2880"/>
                  <a:gd name="T4" fmla="*/ 2 w 19"/>
                  <a:gd name="T5" fmla="*/ 0 h 2880"/>
                  <a:gd name="T6" fmla="*/ 5 w 19"/>
                  <a:gd name="T7" fmla="*/ 1 h 2880"/>
                  <a:gd name="T8" fmla="*/ 7 w 19"/>
                  <a:gd name="T9" fmla="*/ 1 h 2880"/>
                  <a:gd name="T10" fmla="*/ 9 w 19"/>
                  <a:gd name="T11" fmla="*/ 1 h 2880"/>
                  <a:gd name="T12" fmla="*/ 12 w 19"/>
                  <a:gd name="T13" fmla="*/ 1 h 2880"/>
                  <a:gd name="T14" fmla="*/ 15 w 19"/>
                  <a:gd name="T15" fmla="*/ 1 h 2880"/>
                  <a:gd name="T16" fmla="*/ 17 w 19"/>
                  <a:gd name="T17" fmla="*/ 2 h 2880"/>
                  <a:gd name="T18" fmla="*/ 19 w 19"/>
                  <a:gd name="T19" fmla="*/ 2 h 2880"/>
                  <a:gd name="T20" fmla="*/ 19 w 19"/>
                  <a:gd name="T21" fmla="*/ 2879 h 2880"/>
                  <a:gd name="T22" fmla="*/ 17 w 19"/>
                  <a:gd name="T23" fmla="*/ 2879 h 2880"/>
                  <a:gd name="T24" fmla="*/ 15 w 19"/>
                  <a:gd name="T25" fmla="*/ 2879 h 2880"/>
                  <a:gd name="T26" fmla="*/ 12 w 19"/>
                  <a:gd name="T27" fmla="*/ 2880 h 2880"/>
                  <a:gd name="T28" fmla="*/ 9 w 19"/>
                  <a:gd name="T29" fmla="*/ 2880 h 2880"/>
                  <a:gd name="T30" fmla="*/ 7 w 19"/>
                  <a:gd name="T31" fmla="*/ 2880 h 2880"/>
                  <a:gd name="T32" fmla="*/ 5 w 19"/>
                  <a:gd name="T33" fmla="*/ 2880 h 2880"/>
                  <a:gd name="T34" fmla="*/ 2 w 19"/>
                  <a:gd name="T35" fmla="*/ 2880 h 2880"/>
                  <a:gd name="T36" fmla="*/ 0 w 19"/>
                  <a:gd name="T37" fmla="*/ 2880 h 2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80">
                    <a:moveTo>
                      <a:pt x="0" y="2880"/>
                    </a:moveTo>
                    <a:lnTo>
                      <a:pt x="0" y="0"/>
                    </a:lnTo>
                    <a:lnTo>
                      <a:pt x="2" y="0"/>
                    </a:lnTo>
                    <a:lnTo>
                      <a:pt x="5" y="1"/>
                    </a:lnTo>
                    <a:lnTo>
                      <a:pt x="7" y="1"/>
                    </a:lnTo>
                    <a:lnTo>
                      <a:pt x="9" y="1"/>
                    </a:lnTo>
                    <a:lnTo>
                      <a:pt x="12" y="1"/>
                    </a:lnTo>
                    <a:lnTo>
                      <a:pt x="15" y="1"/>
                    </a:lnTo>
                    <a:lnTo>
                      <a:pt x="17" y="2"/>
                    </a:lnTo>
                    <a:lnTo>
                      <a:pt x="19" y="2"/>
                    </a:lnTo>
                    <a:lnTo>
                      <a:pt x="19" y="2879"/>
                    </a:lnTo>
                    <a:lnTo>
                      <a:pt x="17" y="2879"/>
                    </a:lnTo>
                    <a:lnTo>
                      <a:pt x="15" y="2879"/>
                    </a:lnTo>
                    <a:lnTo>
                      <a:pt x="12" y="2880"/>
                    </a:lnTo>
                    <a:lnTo>
                      <a:pt x="9" y="2880"/>
                    </a:lnTo>
                    <a:lnTo>
                      <a:pt x="7" y="2880"/>
                    </a:lnTo>
                    <a:lnTo>
                      <a:pt x="5" y="2880"/>
                    </a:lnTo>
                    <a:lnTo>
                      <a:pt x="2" y="2880"/>
                    </a:lnTo>
                    <a:lnTo>
                      <a:pt x="0" y="2880"/>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88" name="Freeform 5076"/>
              <p:cNvSpPr>
                <a:spLocks noChangeAspect="1"/>
              </p:cNvSpPr>
              <p:nvPr/>
            </p:nvSpPr>
            <p:spPr bwMode="auto">
              <a:xfrm>
                <a:off x="4880" y="746"/>
                <a:ext cx="7" cy="960"/>
              </a:xfrm>
              <a:custGeom>
                <a:avLst/>
                <a:gdLst>
                  <a:gd name="T0" fmla="*/ 0 w 20"/>
                  <a:gd name="T1" fmla="*/ 2879 h 2879"/>
                  <a:gd name="T2" fmla="*/ 0 w 20"/>
                  <a:gd name="T3" fmla="*/ 0 h 2879"/>
                  <a:gd name="T4" fmla="*/ 3 w 20"/>
                  <a:gd name="T5" fmla="*/ 0 h 2879"/>
                  <a:gd name="T6" fmla="*/ 6 w 20"/>
                  <a:gd name="T7" fmla="*/ 0 h 2879"/>
                  <a:gd name="T8" fmla="*/ 8 w 20"/>
                  <a:gd name="T9" fmla="*/ 1 h 2879"/>
                  <a:gd name="T10" fmla="*/ 10 w 20"/>
                  <a:gd name="T11" fmla="*/ 1 h 2879"/>
                  <a:gd name="T12" fmla="*/ 12 w 20"/>
                  <a:gd name="T13" fmla="*/ 1 h 2879"/>
                  <a:gd name="T14" fmla="*/ 15 w 20"/>
                  <a:gd name="T15" fmla="*/ 1 h 2879"/>
                  <a:gd name="T16" fmla="*/ 17 w 20"/>
                  <a:gd name="T17" fmla="*/ 2 h 2879"/>
                  <a:gd name="T18" fmla="*/ 20 w 20"/>
                  <a:gd name="T19" fmla="*/ 2 h 2879"/>
                  <a:gd name="T20" fmla="*/ 20 w 20"/>
                  <a:gd name="T21" fmla="*/ 2877 h 2879"/>
                  <a:gd name="T22" fmla="*/ 17 w 20"/>
                  <a:gd name="T23" fmla="*/ 2877 h 2879"/>
                  <a:gd name="T24" fmla="*/ 15 w 20"/>
                  <a:gd name="T25" fmla="*/ 2877 h 2879"/>
                  <a:gd name="T26" fmla="*/ 12 w 20"/>
                  <a:gd name="T27" fmla="*/ 2878 h 2879"/>
                  <a:gd name="T28" fmla="*/ 10 w 20"/>
                  <a:gd name="T29" fmla="*/ 2878 h 2879"/>
                  <a:gd name="T30" fmla="*/ 8 w 20"/>
                  <a:gd name="T31" fmla="*/ 2878 h 2879"/>
                  <a:gd name="T32" fmla="*/ 6 w 20"/>
                  <a:gd name="T33" fmla="*/ 2878 h 2879"/>
                  <a:gd name="T34" fmla="*/ 3 w 20"/>
                  <a:gd name="T35" fmla="*/ 2879 h 2879"/>
                  <a:gd name="T36" fmla="*/ 0 w 20"/>
                  <a:gd name="T37" fmla="*/ 2879 h 2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2879">
                    <a:moveTo>
                      <a:pt x="0" y="2879"/>
                    </a:moveTo>
                    <a:lnTo>
                      <a:pt x="0" y="0"/>
                    </a:lnTo>
                    <a:lnTo>
                      <a:pt x="3" y="0"/>
                    </a:lnTo>
                    <a:lnTo>
                      <a:pt x="6" y="0"/>
                    </a:lnTo>
                    <a:lnTo>
                      <a:pt x="8" y="1"/>
                    </a:lnTo>
                    <a:lnTo>
                      <a:pt x="10" y="1"/>
                    </a:lnTo>
                    <a:lnTo>
                      <a:pt x="12" y="1"/>
                    </a:lnTo>
                    <a:lnTo>
                      <a:pt x="15" y="1"/>
                    </a:lnTo>
                    <a:lnTo>
                      <a:pt x="17" y="2"/>
                    </a:lnTo>
                    <a:lnTo>
                      <a:pt x="20" y="2"/>
                    </a:lnTo>
                    <a:lnTo>
                      <a:pt x="20" y="2877"/>
                    </a:lnTo>
                    <a:lnTo>
                      <a:pt x="17" y="2877"/>
                    </a:lnTo>
                    <a:lnTo>
                      <a:pt x="15" y="2877"/>
                    </a:lnTo>
                    <a:lnTo>
                      <a:pt x="12" y="2878"/>
                    </a:lnTo>
                    <a:lnTo>
                      <a:pt x="10" y="2878"/>
                    </a:lnTo>
                    <a:lnTo>
                      <a:pt x="8" y="2878"/>
                    </a:lnTo>
                    <a:lnTo>
                      <a:pt x="6" y="2878"/>
                    </a:lnTo>
                    <a:lnTo>
                      <a:pt x="3" y="2879"/>
                    </a:lnTo>
                    <a:lnTo>
                      <a:pt x="0" y="2879"/>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89" name="Freeform 5077"/>
              <p:cNvSpPr>
                <a:spLocks noChangeAspect="1"/>
              </p:cNvSpPr>
              <p:nvPr/>
            </p:nvSpPr>
            <p:spPr bwMode="auto">
              <a:xfrm>
                <a:off x="4885" y="747"/>
                <a:ext cx="7" cy="959"/>
              </a:xfrm>
              <a:custGeom>
                <a:avLst/>
                <a:gdLst>
                  <a:gd name="T0" fmla="*/ 0 w 19"/>
                  <a:gd name="T1" fmla="*/ 2877 h 2877"/>
                  <a:gd name="T2" fmla="*/ 0 w 19"/>
                  <a:gd name="T3" fmla="*/ 0 h 2877"/>
                  <a:gd name="T4" fmla="*/ 2 w 19"/>
                  <a:gd name="T5" fmla="*/ 0 h 2877"/>
                  <a:gd name="T6" fmla="*/ 5 w 19"/>
                  <a:gd name="T7" fmla="*/ 0 h 2877"/>
                  <a:gd name="T8" fmla="*/ 7 w 19"/>
                  <a:gd name="T9" fmla="*/ 1 h 2877"/>
                  <a:gd name="T10" fmla="*/ 10 w 19"/>
                  <a:gd name="T11" fmla="*/ 1 h 2877"/>
                  <a:gd name="T12" fmla="*/ 12 w 19"/>
                  <a:gd name="T13" fmla="*/ 1 h 2877"/>
                  <a:gd name="T14" fmla="*/ 15 w 19"/>
                  <a:gd name="T15" fmla="*/ 2 h 2877"/>
                  <a:gd name="T16" fmla="*/ 17 w 19"/>
                  <a:gd name="T17" fmla="*/ 2 h 2877"/>
                  <a:gd name="T18" fmla="*/ 19 w 19"/>
                  <a:gd name="T19" fmla="*/ 3 h 2877"/>
                  <a:gd name="T20" fmla="*/ 19 w 19"/>
                  <a:gd name="T21" fmla="*/ 2874 h 2877"/>
                  <a:gd name="T22" fmla="*/ 17 w 19"/>
                  <a:gd name="T23" fmla="*/ 2874 h 2877"/>
                  <a:gd name="T24" fmla="*/ 15 w 19"/>
                  <a:gd name="T25" fmla="*/ 2875 h 2877"/>
                  <a:gd name="T26" fmla="*/ 12 w 19"/>
                  <a:gd name="T27" fmla="*/ 2875 h 2877"/>
                  <a:gd name="T28" fmla="*/ 10 w 19"/>
                  <a:gd name="T29" fmla="*/ 2876 h 2877"/>
                  <a:gd name="T30" fmla="*/ 7 w 19"/>
                  <a:gd name="T31" fmla="*/ 2876 h 2877"/>
                  <a:gd name="T32" fmla="*/ 5 w 19"/>
                  <a:gd name="T33" fmla="*/ 2876 h 2877"/>
                  <a:gd name="T34" fmla="*/ 2 w 19"/>
                  <a:gd name="T35" fmla="*/ 2877 h 2877"/>
                  <a:gd name="T36" fmla="*/ 0 w 19"/>
                  <a:gd name="T37" fmla="*/ 2877 h 2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77">
                    <a:moveTo>
                      <a:pt x="0" y="2877"/>
                    </a:moveTo>
                    <a:lnTo>
                      <a:pt x="0" y="0"/>
                    </a:lnTo>
                    <a:lnTo>
                      <a:pt x="2" y="0"/>
                    </a:lnTo>
                    <a:lnTo>
                      <a:pt x="5" y="0"/>
                    </a:lnTo>
                    <a:lnTo>
                      <a:pt x="7" y="1"/>
                    </a:lnTo>
                    <a:lnTo>
                      <a:pt x="10" y="1"/>
                    </a:lnTo>
                    <a:lnTo>
                      <a:pt x="12" y="1"/>
                    </a:lnTo>
                    <a:lnTo>
                      <a:pt x="15" y="2"/>
                    </a:lnTo>
                    <a:lnTo>
                      <a:pt x="17" y="2"/>
                    </a:lnTo>
                    <a:lnTo>
                      <a:pt x="19" y="3"/>
                    </a:lnTo>
                    <a:lnTo>
                      <a:pt x="19" y="2874"/>
                    </a:lnTo>
                    <a:lnTo>
                      <a:pt x="17" y="2874"/>
                    </a:lnTo>
                    <a:lnTo>
                      <a:pt x="15" y="2875"/>
                    </a:lnTo>
                    <a:lnTo>
                      <a:pt x="12" y="2875"/>
                    </a:lnTo>
                    <a:lnTo>
                      <a:pt x="10" y="2876"/>
                    </a:lnTo>
                    <a:lnTo>
                      <a:pt x="7" y="2876"/>
                    </a:lnTo>
                    <a:lnTo>
                      <a:pt x="5" y="2876"/>
                    </a:lnTo>
                    <a:lnTo>
                      <a:pt x="2" y="2877"/>
                    </a:lnTo>
                    <a:lnTo>
                      <a:pt x="0" y="2877"/>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90" name="Freeform 5078"/>
              <p:cNvSpPr>
                <a:spLocks noChangeAspect="1"/>
              </p:cNvSpPr>
              <p:nvPr/>
            </p:nvSpPr>
            <p:spPr bwMode="auto">
              <a:xfrm>
                <a:off x="4890" y="748"/>
                <a:ext cx="6" cy="954"/>
              </a:xfrm>
              <a:custGeom>
                <a:avLst/>
                <a:gdLst>
                  <a:gd name="T0" fmla="*/ 0 w 19"/>
                  <a:gd name="T1" fmla="*/ 2871 h 2871"/>
                  <a:gd name="T2" fmla="*/ 0 w 19"/>
                  <a:gd name="T3" fmla="*/ 0 h 2871"/>
                  <a:gd name="T4" fmla="*/ 2 w 19"/>
                  <a:gd name="T5" fmla="*/ 0 h 2871"/>
                  <a:gd name="T6" fmla="*/ 5 w 19"/>
                  <a:gd name="T7" fmla="*/ 1 h 2871"/>
                  <a:gd name="T8" fmla="*/ 8 w 19"/>
                  <a:gd name="T9" fmla="*/ 1 h 2871"/>
                  <a:gd name="T10" fmla="*/ 10 w 19"/>
                  <a:gd name="T11" fmla="*/ 2 h 2871"/>
                  <a:gd name="T12" fmla="*/ 12 w 19"/>
                  <a:gd name="T13" fmla="*/ 2 h 2871"/>
                  <a:gd name="T14" fmla="*/ 15 w 19"/>
                  <a:gd name="T15" fmla="*/ 3 h 2871"/>
                  <a:gd name="T16" fmla="*/ 17 w 19"/>
                  <a:gd name="T17" fmla="*/ 3 h 2871"/>
                  <a:gd name="T18" fmla="*/ 19 w 19"/>
                  <a:gd name="T19" fmla="*/ 5 h 2871"/>
                  <a:gd name="T20" fmla="*/ 19 w 19"/>
                  <a:gd name="T21" fmla="*/ 2867 h 2871"/>
                  <a:gd name="T22" fmla="*/ 17 w 19"/>
                  <a:gd name="T23" fmla="*/ 2867 h 2871"/>
                  <a:gd name="T24" fmla="*/ 15 w 19"/>
                  <a:gd name="T25" fmla="*/ 2868 h 2871"/>
                  <a:gd name="T26" fmla="*/ 12 w 19"/>
                  <a:gd name="T27" fmla="*/ 2868 h 2871"/>
                  <a:gd name="T28" fmla="*/ 10 w 19"/>
                  <a:gd name="T29" fmla="*/ 2869 h 2871"/>
                  <a:gd name="T30" fmla="*/ 8 w 19"/>
                  <a:gd name="T31" fmla="*/ 2869 h 2871"/>
                  <a:gd name="T32" fmla="*/ 5 w 19"/>
                  <a:gd name="T33" fmla="*/ 2870 h 2871"/>
                  <a:gd name="T34" fmla="*/ 2 w 19"/>
                  <a:gd name="T35" fmla="*/ 2870 h 2871"/>
                  <a:gd name="T36" fmla="*/ 0 w 19"/>
                  <a:gd name="T37" fmla="*/ 2871 h 2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71">
                    <a:moveTo>
                      <a:pt x="0" y="2871"/>
                    </a:moveTo>
                    <a:lnTo>
                      <a:pt x="0" y="0"/>
                    </a:lnTo>
                    <a:lnTo>
                      <a:pt x="2" y="0"/>
                    </a:lnTo>
                    <a:lnTo>
                      <a:pt x="5" y="1"/>
                    </a:lnTo>
                    <a:lnTo>
                      <a:pt x="8" y="1"/>
                    </a:lnTo>
                    <a:lnTo>
                      <a:pt x="10" y="2"/>
                    </a:lnTo>
                    <a:lnTo>
                      <a:pt x="12" y="2"/>
                    </a:lnTo>
                    <a:lnTo>
                      <a:pt x="15" y="3"/>
                    </a:lnTo>
                    <a:lnTo>
                      <a:pt x="17" y="3"/>
                    </a:lnTo>
                    <a:lnTo>
                      <a:pt x="19" y="5"/>
                    </a:lnTo>
                    <a:lnTo>
                      <a:pt x="19" y="2867"/>
                    </a:lnTo>
                    <a:lnTo>
                      <a:pt x="17" y="2867"/>
                    </a:lnTo>
                    <a:lnTo>
                      <a:pt x="15" y="2868"/>
                    </a:lnTo>
                    <a:lnTo>
                      <a:pt x="12" y="2868"/>
                    </a:lnTo>
                    <a:lnTo>
                      <a:pt x="10" y="2869"/>
                    </a:lnTo>
                    <a:lnTo>
                      <a:pt x="8" y="2869"/>
                    </a:lnTo>
                    <a:lnTo>
                      <a:pt x="5" y="2870"/>
                    </a:lnTo>
                    <a:lnTo>
                      <a:pt x="2" y="2870"/>
                    </a:lnTo>
                    <a:lnTo>
                      <a:pt x="0" y="2871"/>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91" name="Freeform 5079"/>
              <p:cNvSpPr>
                <a:spLocks noChangeAspect="1"/>
              </p:cNvSpPr>
              <p:nvPr/>
            </p:nvSpPr>
            <p:spPr bwMode="auto">
              <a:xfrm>
                <a:off x="4893" y="748"/>
                <a:ext cx="7" cy="954"/>
              </a:xfrm>
              <a:custGeom>
                <a:avLst/>
                <a:gdLst>
                  <a:gd name="T0" fmla="*/ 0 w 19"/>
                  <a:gd name="T1" fmla="*/ 2867 h 2867"/>
                  <a:gd name="T2" fmla="*/ 0 w 19"/>
                  <a:gd name="T3" fmla="*/ 0 h 2867"/>
                  <a:gd name="T4" fmla="*/ 2 w 19"/>
                  <a:gd name="T5" fmla="*/ 0 h 2867"/>
                  <a:gd name="T6" fmla="*/ 5 w 19"/>
                  <a:gd name="T7" fmla="*/ 1 h 2867"/>
                  <a:gd name="T8" fmla="*/ 7 w 19"/>
                  <a:gd name="T9" fmla="*/ 1 h 2867"/>
                  <a:gd name="T10" fmla="*/ 9 w 19"/>
                  <a:gd name="T11" fmla="*/ 3 h 2867"/>
                  <a:gd name="T12" fmla="*/ 11 w 19"/>
                  <a:gd name="T13" fmla="*/ 4 h 2867"/>
                  <a:gd name="T14" fmla="*/ 14 w 19"/>
                  <a:gd name="T15" fmla="*/ 4 h 2867"/>
                  <a:gd name="T16" fmla="*/ 17 w 19"/>
                  <a:gd name="T17" fmla="*/ 5 h 2867"/>
                  <a:gd name="T18" fmla="*/ 19 w 19"/>
                  <a:gd name="T19" fmla="*/ 6 h 2867"/>
                  <a:gd name="T20" fmla="*/ 19 w 19"/>
                  <a:gd name="T21" fmla="*/ 2861 h 2867"/>
                  <a:gd name="T22" fmla="*/ 17 w 19"/>
                  <a:gd name="T23" fmla="*/ 2861 h 2867"/>
                  <a:gd name="T24" fmla="*/ 14 w 19"/>
                  <a:gd name="T25" fmla="*/ 2862 h 2867"/>
                  <a:gd name="T26" fmla="*/ 11 w 19"/>
                  <a:gd name="T27" fmla="*/ 2863 h 2867"/>
                  <a:gd name="T28" fmla="*/ 9 w 19"/>
                  <a:gd name="T29" fmla="*/ 2863 h 2867"/>
                  <a:gd name="T30" fmla="*/ 7 w 19"/>
                  <a:gd name="T31" fmla="*/ 2865 h 2867"/>
                  <a:gd name="T32" fmla="*/ 5 w 19"/>
                  <a:gd name="T33" fmla="*/ 2866 h 2867"/>
                  <a:gd name="T34" fmla="*/ 2 w 19"/>
                  <a:gd name="T35" fmla="*/ 2866 h 2867"/>
                  <a:gd name="T36" fmla="*/ 0 w 19"/>
                  <a:gd name="T37" fmla="*/ 2867 h 2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67">
                    <a:moveTo>
                      <a:pt x="0" y="2867"/>
                    </a:moveTo>
                    <a:lnTo>
                      <a:pt x="0" y="0"/>
                    </a:lnTo>
                    <a:lnTo>
                      <a:pt x="2" y="0"/>
                    </a:lnTo>
                    <a:lnTo>
                      <a:pt x="5" y="1"/>
                    </a:lnTo>
                    <a:lnTo>
                      <a:pt x="7" y="1"/>
                    </a:lnTo>
                    <a:lnTo>
                      <a:pt x="9" y="3"/>
                    </a:lnTo>
                    <a:lnTo>
                      <a:pt x="11" y="4"/>
                    </a:lnTo>
                    <a:lnTo>
                      <a:pt x="14" y="4"/>
                    </a:lnTo>
                    <a:lnTo>
                      <a:pt x="17" y="5"/>
                    </a:lnTo>
                    <a:lnTo>
                      <a:pt x="19" y="6"/>
                    </a:lnTo>
                    <a:lnTo>
                      <a:pt x="19" y="2861"/>
                    </a:lnTo>
                    <a:lnTo>
                      <a:pt x="17" y="2861"/>
                    </a:lnTo>
                    <a:lnTo>
                      <a:pt x="14" y="2862"/>
                    </a:lnTo>
                    <a:lnTo>
                      <a:pt x="11" y="2863"/>
                    </a:lnTo>
                    <a:lnTo>
                      <a:pt x="9" y="2863"/>
                    </a:lnTo>
                    <a:lnTo>
                      <a:pt x="7" y="2865"/>
                    </a:lnTo>
                    <a:lnTo>
                      <a:pt x="5" y="2866"/>
                    </a:lnTo>
                    <a:lnTo>
                      <a:pt x="2" y="2866"/>
                    </a:lnTo>
                    <a:lnTo>
                      <a:pt x="0" y="2867"/>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92" name="Freeform 5080"/>
              <p:cNvSpPr>
                <a:spLocks noChangeAspect="1"/>
              </p:cNvSpPr>
              <p:nvPr/>
            </p:nvSpPr>
            <p:spPr bwMode="auto">
              <a:xfrm>
                <a:off x="4896" y="750"/>
                <a:ext cx="7" cy="953"/>
              </a:xfrm>
              <a:custGeom>
                <a:avLst/>
                <a:gdLst>
                  <a:gd name="T0" fmla="*/ 0 w 19"/>
                  <a:gd name="T1" fmla="*/ 2862 h 2862"/>
                  <a:gd name="T2" fmla="*/ 0 w 19"/>
                  <a:gd name="T3" fmla="*/ 0 h 2862"/>
                  <a:gd name="T4" fmla="*/ 2 w 19"/>
                  <a:gd name="T5" fmla="*/ 1 h 2862"/>
                  <a:gd name="T6" fmla="*/ 5 w 19"/>
                  <a:gd name="T7" fmla="*/ 1 h 2862"/>
                  <a:gd name="T8" fmla="*/ 8 w 19"/>
                  <a:gd name="T9" fmla="*/ 2 h 2862"/>
                  <a:gd name="T10" fmla="*/ 10 w 19"/>
                  <a:gd name="T11" fmla="*/ 3 h 2862"/>
                  <a:gd name="T12" fmla="*/ 12 w 19"/>
                  <a:gd name="T13" fmla="*/ 4 h 2862"/>
                  <a:gd name="T14" fmla="*/ 14 w 19"/>
                  <a:gd name="T15" fmla="*/ 5 h 2862"/>
                  <a:gd name="T16" fmla="*/ 17 w 19"/>
                  <a:gd name="T17" fmla="*/ 5 h 2862"/>
                  <a:gd name="T18" fmla="*/ 19 w 19"/>
                  <a:gd name="T19" fmla="*/ 6 h 2862"/>
                  <a:gd name="T20" fmla="*/ 19 w 19"/>
                  <a:gd name="T21" fmla="*/ 2854 h 2862"/>
                  <a:gd name="T22" fmla="*/ 17 w 19"/>
                  <a:gd name="T23" fmla="*/ 2855 h 2862"/>
                  <a:gd name="T24" fmla="*/ 14 w 19"/>
                  <a:gd name="T25" fmla="*/ 2856 h 2862"/>
                  <a:gd name="T26" fmla="*/ 12 w 19"/>
                  <a:gd name="T27" fmla="*/ 2857 h 2862"/>
                  <a:gd name="T28" fmla="*/ 10 w 19"/>
                  <a:gd name="T29" fmla="*/ 2858 h 2862"/>
                  <a:gd name="T30" fmla="*/ 8 w 19"/>
                  <a:gd name="T31" fmla="*/ 2858 h 2862"/>
                  <a:gd name="T32" fmla="*/ 5 w 19"/>
                  <a:gd name="T33" fmla="*/ 2859 h 2862"/>
                  <a:gd name="T34" fmla="*/ 2 w 19"/>
                  <a:gd name="T35" fmla="*/ 2860 h 2862"/>
                  <a:gd name="T36" fmla="*/ 0 w 19"/>
                  <a:gd name="T37" fmla="*/ 2862 h 2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62">
                    <a:moveTo>
                      <a:pt x="0" y="2862"/>
                    </a:moveTo>
                    <a:lnTo>
                      <a:pt x="0" y="0"/>
                    </a:lnTo>
                    <a:lnTo>
                      <a:pt x="2" y="1"/>
                    </a:lnTo>
                    <a:lnTo>
                      <a:pt x="5" y="1"/>
                    </a:lnTo>
                    <a:lnTo>
                      <a:pt x="8" y="2"/>
                    </a:lnTo>
                    <a:lnTo>
                      <a:pt x="10" y="3"/>
                    </a:lnTo>
                    <a:lnTo>
                      <a:pt x="12" y="4"/>
                    </a:lnTo>
                    <a:lnTo>
                      <a:pt x="14" y="5"/>
                    </a:lnTo>
                    <a:lnTo>
                      <a:pt x="17" y="5"/>
                    </a:lnTo>
                    <a:lnTo>
                      <a:pt x="19" y="6"/>
                    </a:lnTo>
                    <a:lnTo>
                      <a:pt x="19" y="2854"/>
                    </a:lnTo>
                    <a:lnTo>
                      <a:pt x="17" y="2855"/>
                    </a:lnTo>
                    <a:lnTo>
                      <a:pt x="14" y="2856"/>
                    </a:lnTo>
                    <a:lnTo>
                      <a:pt x="12" y="2857"/>
                    </a:lnTo>
                    <a:lnTo>
                      <a:pt x="10" y="2858"/>
                    </a:lnTo>
                    <a:lnTo>
                      <a:pt x="8" y="2858"/>
                    </a:lnTo>
                    <a:lnTo>
                      <a:pt x="5" y="2859"/>
                    </a:lnTo>
                    <a:lnTo>
                      <a:pt x="2" y="2860"/>
                    </a:lnTo>
                    <a:lnTo>
                      <a:pt x="0" y="2862"/>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93" name="Freeform 5081"/>
              <p:cNvSpPr>
                <a:spLocks noChangeAspect="1"/>
              </p:cNvSpPr>
              <p:nvPr/>
            </p:nvSpPr>
            <p:spPr bwMode="auto">
              <a:xfrm>
                <a:off x="4900" y="750"/>
                <a:ext cx="6" cy="953"/>
              </a:xfrm>
              <a:custGeom>
                <a:avLst/>
                <a:gdLst>
                  <a:gd name="T0" fmla="*/ 0 w 19"/>
                  <a:gd name="T1" fmla="*/ 2855 h 2855"/>
                  <a:gd name="T2" fmla="*/ 0 w 19"/>
                  <a:gd name="T3" fmla="*/ 0 h 2855"/>
                  <a:gd name="T4" fmla="*/ 2 w 19"/>
                  <a:gd name="T5" fmla="*/ 1 h 2855"/>
                  <a:gd name="T6" fmla="*/ 4 w 19"/>
                  <a:gd name="T7" fmla="*/ 2 h 2855"/>
                  <a:gd name="T8" fmla="*/ 7 w 19"/>
                  <a:gd name="T9" fmla="*/ 2 h 2855"/>
                  <a:gd name="T10" fmla="*/ 9 w 19"/>
                  <a:gd name="T11" fmla="*/ 3 h 2855"/>
                  <a:gd name="T12" fmla="*/ 12 w 19"/>
                  <a:gd name="T13" fmla="*/ 4 h 2855"/>
                  <a:gd name="T14" fmla="*/ 14 w 19"/>
                  <a:gd name="T15" fmla="*/ 5 h 2855"/>
                  <a:gd name="T16" fmla="*/ 17 w 19"/>
                  <a:gd name="T17" fmla="*/ 6 h 2855"/>
                  <a:gd name="T18" fmla="*/ 19 w 19"/>
                  <a:gd name="T19" fmla="*/ 7 h 2855"/>
                  <a:gd name="T20" fmla="*/ 19 w 19"/>
                  <a:gd name="T21" fmla="*/ 2848 h 2855"/>
                  <a:gd name="T22" fmla="*/ 17 w 19"/>
                  <a:gd name="T23" fmla="*/ 2849 h 2855"/>
                  <a:gd name="T24" fmla="*/ 14 w 19"/>
                  <a:gd name="T25" fmla="*/ 2850 h 2855"/>
                  <a:gd name="T26" fmla="*/ 12 w 19"/>
                  <a:gd name="T27" fmla="*/ 2851 h 2855"/>
                  <a:gd name="T28" fmla="*/ 9 w 19"/>
                  <a:gd name="T29" fmla="*/ 2851 h 2855"/>
                  <a:gd name="T30" fmla="*/ 7 w 19"/>
                  <a:gd name="T31" fmla="*/ 2852 h 2855"/>
                  <a:gd name="T32" fmla="*/ 4 w 19"/>
                  <a:gd name="T33" fmla="*/ 2853 h 2855"/>
                  <a:gd name="T34" fmla="*/ 2 w 19"/>
                  <a:gd name="T35" fmla="*/ 2854 h 2855"/>
                  <a:gd name="T36" fmla="*/ 0 w 19"/>
                  <a:gd name="T37" fmla="*/ 2855 h 2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55">
                    <a:moveTo>
                      <a:pt x="0" y="2855"/>
                    </a:moveTo>
                    <a:lnTo>
                      <a:pt x="0" y="0"/>
                    </a:lnTo>
                    <a:lnTo>
                      <a:pt x="2" y="1"/>
                    </a:lnTo>
                    <a:lnTo>
                      <a:pt x="4" y="2"/>
                    </a:lnTo>
                    <a:lnTo>
                      <a:pt x="7" y="2"/>
                    </a:lnTo>
                    <a:lnTo>
                      <a:pt x="9" y="3"/>
                    </a:lnTo>
                    <a:lnTo>
                      <a:pt x="12" y="4"/>
                    </a:lnTo>
                    <a:lnTo>
                      <a:pt x="14" y="5"/>
                    </a:lnTo>
                    <a:lnTo>
                      <a:pt x="17" y="6"/>
                    </a:lnTo>
                    <a:lnTo>
                      <a:pt x="19" y="7"/>
                    </a:lnTo>
                    <a:lnTo>
                      <a:pt x="19" y="2848"/>
                    </a:lnTo>
                    <a:lnTo>
                      <a:pt x="17" y="2849"/>
                    </a:lnTo>
                    <a:lnTo>
                      <a:pt x="14" y="2850"/>
                    </a:lnTo>
                    <a:lnTo>
                      <a:pt x="12" y="2851"/>
                    </a:lnTo>
                    <a:lnTo>
                      <a:pt x="9" y="2851"/>
                    </a:lnTo>
                    <a:lnTo>
                      <a:pt x="7" y="2852"/>
                    </a:lnTo>
                    <a:lnTo>
                      <a:pt x="4" y="2853"/>
                    </a:lnTo>
                    <a:lnTo>
                      <a:pt x="2" y="2854"/>
                    </a:lnTo>
                    <a:lnTo>
                      <a:pt x="0" y="2855"/>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94" name="Freeform 5082"/>
              <p:cNvSpPr>
                <a:spLocks noChangeAspect="1"/>
              </p:cNvSpPr>
              <p:nvPr/>
            </p:nvSpPr>
            <p:spPr bwMode="auto">
              <a:xfrm>
                <a:off x="4903" y="751"/>
                <a:ext cx="6" cy="952"/>
              </a:xfrm>
              <a:custGeom>
                <a:avLst/>
                <a:gdLst>
                  <a:gd name="T0" fmla="*/ 0 w 20"/>
                  <a:gd name="T1" fmla="*/ 2848 h 2848"/>
                  <a:gd name="T2" fmla="*/ 0 w 20"/>
                  <a:gd name="T3" fmla="*/ 0 h 2848"/>
                  <a:gd name="T4" fmla="*/ 3 w 20"/>
                  <a:gd name="T5" fmla="*/ 1 h 2848"/>
                  <a:gd name="T6" fmla="*/ 5 w 20"/>
                  <a:gd name="T7" fmla="*/ 2 h 2848"/>
                  <a:gd name="T8" fmla="*/ 8 w 20"/>
                  <a:gd name="T9" fmla="*/ 3 h 2848"/>
                  <a:gd name="T10" fmla="*/ 10 w 20"/>
                  <a:gd name="T11" fmla="*/ 4 h 2848"/>
                  <a:gd name="T12" fmla="*/ 12 w 20"/>
                  <a:gd name="T13" fmla="*/ 5 h 2848"/>
                  <a:gd name="T14" fmla="*/ 14 w 20"/>
                  <a:gd name="T15" fmla="*/ 6 h 2848"/>
                  <a:gd name="T16" fmla="*/ 17 w 20"/>
                  <a:gd name="T17" fmla="*/ 7 h 2848"/>
                  <a:gd name="T18" fmla="*/ 20 w 20"/>
                  <a:gd name="T19" fmla="*/ 8 h 2848"/>
                  <a:gd name="T20" fmla="*/ 20 w 20"/>
                  <a:gd name="T21" fmla="*/ 2841 h 2848"/>
                  <a:gd name="T22" fmla="*/ 17 w 20"/>
                  <a:gd name="T23" fmla="*/ 2842 h 2848"/>
                  <a:gd name="T24" fmla="*/ 14 w 20"/>
                  <a:gd name="T25" fmla="*/ 2843 h 2848"/>
                  <a:gd name="T26" fmla="*/ 12 w 20"/>
                  <a:gd name="T27" fmla="*/ 2844 h 2848"/>
                  <a:gd name="T28" fmla="*/ 10 w 20"/>
                  <a:gd name="T29" fmla="*/ 2845 h 2848"/>
                  <a:gd name="T30" fmla="*/ 8 w 20"/>
                  <a:gd name="T31" fmla="*/ 2846 h 2848"/>
                  <a:gd name="T32" fmla="*/ 5 w 20"/>
                  <a:gd name="T33" fmla="*/ 2847 h 2848"/>
                  <a:gd name="T34" fmla="*/ 3 w 20"/>
                  <a:gd name="T35" fmla="*/ 2848 h 2848"/>
                  <a:gd name="T36" fmla="*/ 0 w 20"/>
                  <a:gd name="T37" fmla="*/ 2848 h 2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2848">
                    <a:moveTo>
                      <a:pt x="0" y="2848"/>
                    </a:moveTo>
                    <a:lnTo>
                      <a:pt x="0" y="0"/>
                    </a:lnTo>
                    <a:lnTo>
                      <a:pt x="3" y="1"/>
                    </a:lnTo>
                    <a:lnTo>
                      <a:pt x="5" y="2"/>
                    </a:lnTo>
                    <a:lnTo>
                      <a:pt x="8" y="3"/>
                    </a:lnTo>
                    <a:lnTo>
                      <a:pt x="10" y="4"/>
                    </a:lnTo>
                    <a:lnTo>
                      <a:pt x="12" y="5"/>
                    </a:lnTo>
                    <a:lnTo>
                      <a:pt x="14" y="6"/>
                    </a:lnTo>
                    <a:lnTo>
                      <a:pt x="17" y="7"/>
                    </a:lnTo>
                    <a:lnTo>
                      <a:pt x="20" y="8"/>
                    </a:lnTo>
                    <a:lnTo>
                      <a:pt x="20" y="2841"/>
                    </a:lnTo>
                    <a:lnTo>
                      <a:pt x="17" y="2842"/>
                    </a:lnTo>
                    <a:lnTo>
                      <a:pt x="14" y="2843"/>
                    </a:lnTo>
                    <a:lnTo>
                      <a:pt x="12" y="2844"/>
                    </a:lnTo>
                    <a:lnTo>
                      <a:pt x="10" y="2845"/>
                    </a:lnTo>
                    <a:lnTo>
                      <a:pt x="8" y="2846"/>
                    </a:lnTo>
                    <a:lnTo>
                      <a:pt x="5" y="2847"/>
                    </a:lnTo>
                    <a:lnTo>
                      <a:pt x="3" y="2848"/>
                    </a:lnTo>
                    <a:lnTo>
                      <a:pt x="0" y="2848"/>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95" name="Freeform 5083"/>
              <p:cNvSpPr>
                <a:spLocks noChangeAspect="1"/>
              </p:cNvSpPr>
              <p:nvPr/>
            </p:nvSpPr>
            <p:spPr bwMode="auto">
              <a:xfrm>
                <a:off x="4906" y="753"/>
                <a:ext cx="6" cy="947"/>
              </a:xfrm>
              <a:custGeom>
                <a:avLst/>
                <a:gdLst>
                  <a:gd name="T0" fmla="*/ 0 w 19"/>
                  <a:gd name="T1" fmla="*/ 2841 h 2841"/>
                  <a:gd name="T2" fmla="*/ 0 w 19"/>
                  <a:gd name="T3" fmla="*/ 0 h 2841"/>
                  <a:gd name="T4" fmla="*/ 2 w 19"/>
                  <a:gd name="T5" fmla="*/ 1 h 2841"/>
                  <a:gd name="T6" fmla="*/ 4 w 19"/>
                  <a:gd name="T7" fmla="*/ 2 h 2841"/>
                  <a:gd name="T8" fmla="*/ 7 w 19"/>
                  <a:gd name="T9" fmla="*/ 3 h 2841"/>
                  <a:gd name="T10" fmla="*/ 10 w 19"/>
                  <a:gd name="T11" fmla="*/ 4 h 2841"/>
                  <a:gd name="T12" fmla="*/ 12 w 19"/>
                  <a:gd name="T13" fmla="*/ 5 h 2841"/>
                  <a:gd name="T14" fmla="*/ 14 w 19"/>
                  <a:gd name="T15" fmla="*/ 7 h 2841"/>
                  <a:gd name="T16" fmla="*/ 17 w 19"/>
                  <a:gd name="T17" fmla="*/ 9 h 2841"/>
                  <a:gd name="T18" fmla="*/ 19 w 19"/>
                  <a:gd name="T19" fmla="*/ 10 h 2841"/>
                  <a:gd name="T20" fmla="*/ 19 w 19"/>
                  <a:gd name="T21" fmla="*/ 2831 h 2841"/>
                  <a:gd name="T22" fmla="*/ 17 w 19"/>
                  <a:gd name="T23" fmla="*/ 2832 h 2841"/>
                  <a:gd name="T24" fmla="*/ 14 w 19"/>
                  <a:gd name="T25" fmla="*/ 2833 h 2841"/>
                  <a:gd name="T26" fmla="*/ 12 w 19"/>
                  <a:gd name="T27" fmla="*/ 2836 h 2841"/>
                  <a:gd name="T28" fmla="*/ 10 w 19"/>
                  <a:gd name="T29" fmla="*/ 2837 h 2841"/>
                  <a:gd name="T30" fmla="*/ 7 w 19"/>
                  <a:gd name="T31" fmla="*/ 2838 h 2841"/>
                  <a:gd name="T32" fmla="*/ 4 w 19"/>
                  <a:gd name="T33" fmla="*/ 2839 h 2841"/>
                  <a:gd name="T34" fmla="*/ 2 w 19"/>
                  <a:gd name="T35" fmla="*/ 2840 h 2841"/>
                  <a:gd name="T36" fmla="*/ 0 w 19"/>
                  <a:gd name="T37" fmla="*/ 2841 h 2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41">
                    <a:moveTo>
                      <a:pt x="0" y="2841"/>
                    </a:moveTo>
                    <a:lnTo>
                      <a:pt x="0" y="0"/>
                    </a:lnTo>
                    <a:lnTo>
                      <a:pt x="2" y="1"/>
                    </a:lnTo>
                    <a:lnTo>
                      <a:pt x="4" y="2"/>
                    </a:lnTo>
                    <a:lnTo>
                      <a:pt x="7" y="3"/>
                    </a:lnTo>
                    <a:lnTo>
                      <a:pt x="10" y="4"/>
                    </a:lnTo>
                    <a:lnTo>
                      <a:pt x="12" y="5"/>
                    </a:lnTo>
                    <a:lnTo>
                      <a:pt x="14" y="7"/>
                    </a:lnTo>
                    <a:lnTo>
                      <a:pt x="17" y="9"/>
                    </a:lnTo>
                    <a:lnTo>
                      <a:pt x="19" y="10"/>
                    </a:lnTo>
                    <a:lnTo>
                      <a:pt x="19" y="2831"/>
                    </a:lnTo>
                    <a:lnTo>
                      <a:pt x="17" y="2832"/>
                    </a:lnTo>
                    <a:lnTo>
                      <a:pt x="14" y="2833"/>
                    </a:lnTo>
                    <a:lnTo>
                      <a:pt x="12" y="2836"/>
                    </a:lnTo>
                    <a:lnTo>
                      <a:pt x="10" y="2837"/>
                    </a:lnTo>
                    <a:lnTo>
                      <a:pt x="7" y="2838"/>
                    </a:lnTo>
                    <a:lnTo>
                      <a:pt x="4" y="2839"/>
                    </a:lnTo>
                    <a:lnTo>
                      <a:pt x="2" y="2840"/>
                    </a:lnTo>
                    <a:lnTo>
                      <a:pt x="0" y="2841"/>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96" name="Freeform 5084"/>
              <p:cNvSpPr>
                <a:spLocks noChangeAspect="1"/>
              </p:cNvSpPr>
              <p:nvPr/>
            </p:nvSpPr>
            <p:spPr bwMode="auto">
              <a:xfrm>
                <a:off x="4909" y="754"/>
                <a:ext cx="7" cy="944"/>
              </a:xfrm>
              <a:custGeom>
                <a:avLst/>
                <a:gdLst>
                  <a:gd name="T0" fmla="*/ 0 w 19"/>
                  <a:gd name="T1" fmla="*/ 2833 h 2833"/>
                  <a:gd name="T2" fmla="*/ 0 w 19"/>
                  <a:gd name="T3" fmla="*/ 0 h 2833"/>
                  <a:gd name="T4" fmla="*/ 2 w 19"/>
                  <a:gd name="T5" fmla="*/ 1 h 2833"/>
                  <a:gd name="T6" fmla="*/ 4 w 19"/>
                  <a:gd name="T7" fmla="*/ 3 h 2833"/>
                  <a:gd name="T8" fmla="*/ 7 w 19"/>
                  <a:gd name="T9" fmla="*/ 5 h 2833"/>
                  <a:gd name="T10" fmla="*/ 9 w 19"/>
                  <a:gd name="T11" fmla="*/ 6 h 2833"/>
                  <a:gd name="T12" fmla="*/ 11 w 19"/>
                  <a:gd name="T13" fmla="*/ 7 h 2833"/>
                  <a:gd name="T14" fmla="*/ 13 w 19"/>
                  <a:gd name="T15" fmla="*/ 8 h 2833"/>
                  <a:gd name="T16" fmla="*/ 17 w 19"/>
                  <a:gd name="T17" fmla="*/ 10 h 2833"/>
                  <a:gd name="T18" fmla="*/ 19 w 19"/>
                  <a:gd name="T19" fmla="*/ 11 h 2833"/>
                  <a:gd name="T20" fmla="*/ 19 w 19"/>
                  <a:gd name="T21" fmla="*/ 2822 h 2833"/>
                  <a:gd name="T22" fmla="*/ 17 w 19"/>
                  <a:gd name="T23" fmla="*/ 2823 h 2833"/>
                  <a:gd name="T24" fmla="*/ 13 w 19"/>
                  <a:gd name="T25" fmla="*/ 2825 h 2833"/>
                  <a:gd name="T26" fmla="*/ 11 w 19"/>
                  <a:gd name="T27" fmla="*/ 2826 h 2833"/>
                  <a:gd name="T28" fmla="*/ 9 w 19"/>
                  <a:gd name="T29" fmla="*/ 2827 h 2833"/>
                  <a:gd name="T30" fmla="*/ 7 w 19"/>
                  <a:gd name="T31" fmla="*/ 2828 h 2833"/>
                  <a:gd name="T32" fmla="*/ 4 w 19"/>
                  <a:gd name="T33" fmla="*/ 2829 h 2833"/>
                  <a:gd name="T34" fmla="*/ 2 w 19"/>
                  <a:gd name="T35" fmla="*/ 2832 h 2833"/>
                  <a:gd name="T36" fmla="*/ 0 w 19"/>
                  <a:gd name="T37" fmla="*/ 2833 h 2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33">
                    <a:moveTo>
                      <a:pt x="0" y="2833"/>
                    </a:moveTo>
                    <a:lnTo>
                      <a:pt x="0" y="0"/>
                    </a:lnTo>
                    <a:lnTo>
                      <a:pt x="2" y="1"/>
                    </a:lnTo>
                    <a:lnTo>
                      <a:pt x="4" y="3"/>
                    </a:lnTo>
                    <a:lnTo>
                      <a:pt x="7" y="5"/>
                    </a:lnTo>
                    <a:lnTo>
                      <a:pt x="9" y="6"/>
                    </a:lnTo>
                    <a:lnTo>
                      <a:pt x="11" y="7"/>
                    </a:lnTo>
                    <a:lnTo>
                      <a:pt x="13" y="8"/>
                    </a:lnTo>
                    <a:lnTo>
                      <a:pt x="17" y="10"/>
                    </a:lnTo>
                    <a:lnTo>
                      <a:pt x="19" y="11"/>
                    </a:lnTo>
                    <a:lnTo>
                      <a:pt x="19" y="2822"/>
                    </a:lnTo>
                    <a:lnTo>
                      <a:pt x="17" y="2823"/>
                    </a:lnTo>
                    <a:lnTo>
                      <a:pt x="13" y="2825"/>
                    </a:lnTo>
                    <a:lnTo>
                      <a:pt x="11" y="2826"/>
                    </a:lnTo>
                    <a:lnTo>
                      <a:pt x="9" y="2827"/>
                    </a:lnTo>
                    <a:lnTo>
                      <a:pt x="7" y="2828"/>
                    </a:lnTo>
                    <a:lnTo>
                      <a:pt x="4" y="2829"/>
                    </a:lnTo>
                    <a:lnTo>
                      <a:pt x="2" y="2832"/>
                    </a:lnTo>
                    <a:lnTo>
                      <a:pt x="0" y="2833"/>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97" name="Freeform 5085"/>
              <p:cNvSpPr>
                <a:spLocks noChangeAspect="1"/>
              </p:cNvSpPr>
              <p:nvPr/>
            </p:nvSpPr>
            <p:spPr bwMode="auto">
              <a:xfrm>
                <a:off x="4912" y="757"/>
                <a:ext cx="7" cy="939"/>
              </a:xfrm>
              <a:custGeom>
                <a:avLst/>
                <a:gdLst>
                  <a:gd name="T0" fmla="*/ 0 w 19"/>
                  <a:gd name="T1" fmla="*/ 2821 h 2821"/>
                  <a:gd name="T2" fmla="*/ 0 w 19"/>
                  <a:gd name="T3" fmla="*/ 0 h 2821"/>
                  <a:gd name="T4" fmla="*/ 2 w 19"/>
                  <a:gd name="T5" fmla="*/ 1 h 2821"/>
                  <a:gd name="T6" fmla="*/ 4 w 19"/>
                  <a:gd name="T7" fmla="*/ 2 h 2821"/>
                  <a:gd name="T8" fmla="*/ 8 w 19"/>
                  <a:gd name="T9" fmla="*/ 4 h 2821"/>
                  <a:gd name="T10" fmla="*/ 10 w 19"/>
                  <a:gd name="T11" fmla="*/ 5 h 2821"/>
                  <a:gd name="T12" fmla="*/ 12 w 19"/>
                  <a:gd name="T13" fmla="*/ 7 h 2821"/>
                  <a:gd name="T14" fmla="*/ 14 w 19"/>
                  <a:gd name="T15" fmla="*/ 8 h 2821"/>
                  <a:gd name="T16" fmla="*/ 17 w 19"/>
                  <a:gd name="T17" fmla="*/ 9 h 2821"/>
                  <a:gd name="T18" fmla="*/ 19 w 19"/>
                  <a:gd name="T19" fmla="*/ 11 h 2821"/>
                  <a:gd name="T20" fmla="*/ 19 w 19"/>
                  <a:gd name="T21" fmla="*/ 2810 h 2821"/>
                  <a:gd name="T22" fmla="*/ 17 w 19"/>
                  <a:gd name="T23" fmla="*/ 2812 h 2821"/>
                  <a:gd name="T24" fmla="*/ 14 w 19"/>
                  <a:gd name="T25" fmla="*/ 2813 h 2821"/>
                  <a:gd name="T26" fmla="*/ 12 w 19"/>
                  <a:gd name="T27" fmla="*/ 2814 h 2821"/>
                  <a:gd name="T28" fmla="*/ 10 w 19"/>
                  <a:gd name="T29" fmla="*/ 2816 h 2821"/>
                  <a:gd name="T30" fmla="*/ 8 w 19"/>
                  <a:gd name="T31" fmla="*/ 2817 h 2821"/>
                  <a:gd name="T32" fmla="*/ 4 w 19"/>
                  <a:gd name="T33" fmla="*/ 2818 h 2821"/>
                  <a:gd name="T34" fmla="*/ 2 w 19"/>
                  <a:gd name="T35" fmla="*/ 2820 h 2821"/>
                  <a:gd name="T36" fmla="*/ 0 w 19"/>
                  <a:gd name="T37" fmla="*/ 2821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21">
                    <a:moveTo>
                      <a:pt x="0" y="2821"/>
                    </a:moveTo>
                    <a:lnTo>
                      <a:pt x="0" y="0"/>
                    </a:lnTo>
                    <a:lnTo>
                      <a:pt x="2" y="1"/>
                    </a:lnTo>
                    <a:lnTo>
                      <a:pt x="4" y="2"/>
                    </a:lnTo>
                    <a:lnTo>
                      <a:pt x="8" y="4"/>
                    </a:lnTo>
                    <a:lnTo>
                      <a:pt x="10" y="5"/>
                    </a:lnTo>
                    <a:lnTo>
                      <a:pt x="12" y="7"/>
                    </a:lnTo>
                    <a:lnTo>
                      <a:pt x="14" y="8"/>
                    </a:lnTo>
                    <a:lnTo>
                      <a:pt x="17" y="9"/>
                    </a:lnTo>
                    <a:lnTo>
                      <a:pt x="19" y="11"/>
                    </a:lnTo>
                    <a:lnTo>
                      <a:pt x="19" y="2810"/>
                    </a:lnTo>
                    <a:lnTo>
                      <a:pt x="17" y="2812"/>
                    </a:lnTo>
                    <a:lnTo>
                      <a:pt x="14" y="2813"/>
                    </a:lnTo>
                    <a:lnTo>
                      <a:pt x="12" y="2814"/>
                    </a:lnTo>
                    <a:lnTo>
                      <a:pt x="10" y="2816"/>
                    </a:lnTo>
                    <a:lnTo>
                      <a:pt x="8" y="2817"/>
                    </a:lnTo>
                    <a:lnTo>
                      <a:pt x="4" y="2818"/>
                    </a:lnTo>
                    <a:lnTo>
                      <a:pt x="2" y="2820"/>
                    </a:lnTo>
                    <a:lnTo>
                      <a:pt x="0" y="2821"/>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98" name="Freeform 5086"/>
              <p:cNvSpPr>
                <a:spLocks noChangeAspect="1"/>
              </p:cNvSpPr>
              <p:nvPr/>
            </p:nvSpPr>
            <p:spPr bwMode="auto">
              <a:xfrm>
                <a:off x="4916" y="758"/>
                <a:ext cx="6" cy="938"/>
              </a:xfrm>
              <a:custGeom>
                <a:avLst/>
                <a:gdLst>
                  <a:gd name="T0" fmla="*/ 0 w 19"/>
                  <a:gd name="T1" fmla="*/ 2811 h 2811"/>
                  <a:gd name="T2" fmla="*/ 0 w 19"/>
                  <a:gd name="T3" fmla="*/ 0 h 2811"/>
                  <a:gd name="T4" fmla="*/ 2 w 19"/>
                  <a:gd name="T5" fmla="*/ 2 h 2811"/>
                  <a:gd name="T6" fmla="*/ 4 w 19"/>
                  <a:gd name="T7" fmla="*/ 3 h 2811"/>
                  <a:gd name="T8" fmla="*/ 7 w 19"/>
                  <a:gd name="T9" fmla="*/ 4 h 2811"/>
                  <a:gd name="T10" fmla="*/ 9 w 19"/>
                  <a:gd name="T11" fmla="*/ 6 h 2811"/>
                  <a:gd name="T12" fmla="*/ 11 w 19"/>
                  <a:gd name="T13" fmla="*/ 9 h 2811"/>
                  <a:gd name="T14" fmla="*/ 14 w 19"/>
                  <a:gd name="T15" fmla="*/ 10 h 2811"/>
                  <a:gd name="T16" fmla="*/ 17 w 19"/>
                  <a:gd name="T17" fmla="*/ 12 h 2811"/>
                  <a:gd name="T18" fmla="*/ 19 w 19"/>
                  <a:gd name="T19" fmla="*/ 13 h 2811"/>
                  <a:gd name="T20" fmla="*/ 19 w 19"/>
                  <a:gd name="T21" fmla="*/ 2798 h 2811"/>
                  <a:gd name="T22" fmla="*/ 17 w 19"/>
                  <a:gd name="T23" fmla="*/ 2799 h 2811"/>
                  <a:gd name="T24" fmla="*/ 14 w 19"/>
                  <a:gd name="T25" fmla="*/ 2801 h 2811"/>
                  <a:gd name="T26" fmla="*/ 11 w 19"/>
                  <a:gd name="T27" fmla="*/ 2804 h 2811"/>
                  <a:gd name="T28" fmla="*/ 9 w 19"/>
                  <a:gd name="T29" fmla="*/ 2805 h 2811"/>
                  <a:gd name="T30" fmla="*/ 7 w 19"/>
                  <a:gd name="T31" fmla="*/ 2807 h 2811"/>
                  <a:gd name="T32" fmla="*/ 4 w 19"/>
                  <a:gd name="T33" fmla="*/ 2808 h 2811"/>
                  <a:gd name="T34" fmla="*/ 2 w 19"/>
                  <a:gd name="T35" fmla="*/ 2809 h 2811"/>
                  <a:gd name="T36" fmla="*/ 0 w 19"/>
                  <a:gd name="T37" fmla="*/ 2811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811">
                    <a:moveTo>
                      <a:pt x="0" y="2811"/>
                    </a:moveTo>
                    <a:lnTo>
                      <a:pt x="0" y="0"/>
                    </a:lnTo>
                    <a:lnTo>
                      <a:pt x="2" y="2"/>
                    </a:lnTo>
                    <a:lnTo>
                      <a:pt x="4" y="3"/>
                    </a:lnTo>
                    <a:lnTo>
                      <a:pt x="7" y="4"/>
                    </a:lnTo>
                    <a:lnTo>
                      <a:pt x="9" y="6"/>
                    </a:lnTo>
                    <a:lnTo>
                      <a:pt x="11" y="9"/>
                    </a:lnTo>
                    <a:lnTo>
                      <a:pt x="14" y="10"/>
                    </a:lnTo>
                    <a:lnTo>
                      <a:pt x="17" y="12"/>
                    </a:lnTo>
                    <a:lnTo>
                      <a:pt x="19" y="13"/>
                    </a:lnTo>
                    <a:lnTo>
                      <a:pt x="19" y="2798"/>
                    </a:lnTo>
                    <a:lnTo>
                      <a:pt x="17" y="2799"/>
                    </a:lnTo>
                    <a:lnTo>
                      <a:pt x="14" y="2801"/>
                    </a:lnTo>
                    <a:lnTo>
                      <a:pt x="11" y="2804"/>
                    </a:lnTo>
                    <a:lnTo>
                      <a:pt x="9" y="2805"/>
                    </a:lnTo>
                    <a:lnTo>
                      <a:pt x="7" y="2807"/>
                    </a:lnTo>
                    <a:lnTo>
                      <a:pt x="4" y="2808"/>
                    </a:lnTo>
                    <a:lnTo>
                      <a:pt x="2" y="2809"/>
                    </a:lnTo>
                    <a:lnTo>
                      <a:pt x="0" y="2811"/>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599" name="Freeform 5087"/>
              <p:cNvSpPr>
                <a:spLocks noChangeAspect="1"/>
              </p:cNvSpPr>
              <p:nvPr/>
            </p:nvSpPr>
            <p:spPr bwMode="auto">
              <a:xfrm>
                <a:off x="4919" y="760"/>
                <a:ext cx="6" cy="933"/>
              </a:xfrm>
              <a:custGeom>
                <a:avLst/>
                <a:gdLst>
                  <a:gd name="T0" fmla="*/ 0 w 19"/>
                  <a:gd name="T1" fmla="*/ 2799 h 2799"/>
                  <a:gd name="T2" fmla="*/ 0 w 19"/>
                  <a:gd name="T3" fmla="*/ 0 h 2799"/>
                  <a:gd name="T4" fmla="*/ 2 w 19"/>
                  <a:gd name="T5" fmla="*/ 1 h 2799"/>
                  <a:gd name="T6" fmla="*/ 5 w 19"/>
                  <a:gd name="T7" fmla="*/ 4 h 2799"/>
                  <a:gd name="T8" fmla="*/ 8 w 19"/>
                  <a:gd name="T9" fmla="*/ 6 h 2799"/>
                  <a:gd name="T10" fmla="*/ 10 w 19"/>
                  <a:gd name="T11" fmla="*/ 7 h 2799"/>
                  <a:gd name="T12" fmla="*/ 12 w 19"/>
                  <a:gd name="T13" fmla="*/ 9 h 2799"/>
                  <a:gd name="T14" fmla="*/ 14 w 19"/>
                  <a:gd name="T15" fmla="*/ 11 h 2799"/>
                  <a:gd name="T16" fmla="*/ 17 w 19"/>
                  <a:gd name="T17" fmla="*/ 13 h 2799"/>
                  <a:gd name="T18" fmla="*/ 19 w 19"/>
                  <a:gd name="T19" fmla="*/ 14 h 2799"/>
                  <a:gd name="T20" fmla="*/ 19 w 19"/>
                  <a:gd name="T21" fmla="*/ 2785 h 2799"/>
                  <a:gd name="T22" fmla="*/ 17 w 19"/>
                  <a:gd name="T23" fmla="*/ 2787 h 2799"/>
                  <a:gd name="T24" fmla="*/ 14 w 19"/>
                  <a:gd name="T25" fmla="*/ 2788 h 2799"/>
                  <a:gd name="T26" fmla="*/ 12 w 19"/>
                  <a:gd name="T27" fmla="*/ 2790 h 2799"/>
                  <a:gd name="T28" fmla="*/ 10 w 19"/>
                  <a:gd name="T29" fmla="*/ 2792 h 2799"/>
                  <a:gd name="T30" fmla="*/ 8 w 19"/>
                  <a:gd name="T31" fmla="*/ 2793 h 2799"/>
                  <a:gd name="T32" fmla="*/ 5 w 19"/>
                  <a:gd name="T33" fmla="*/ 2795 h 2799"/>
                  <a:gd name="T34" fmla="*/ 2 w 19"/>
                  <a:gd name="T35" fmla="*/ 2798 h 2799"/>
                  <a:gd name="T36" fmla="*/ 0 w 19"/>
                  <a:gd name="T37" fmla="*/ 2799 h 2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799">
                    <a:moveTo>
                      <a:pt x="0" y="2799"/>
                    </a:moveTo>
                    <a:lnTo>
                      <a:pt x="0" y="0"/>
                    </a:lnTo>
                    <a:lnTo>
                      <a:pt x="2" y="1"/>
                    </a:lnTo>
                    <a:lnTo>
                      <a:pt x="5" y="4"/>
                    </a:lnTo>
                    <a:lnTo>
                      <a:pt x="8" y="6"/>
                    </a:lnTo>
                    <a:lnTo>
                      <a:pt x="10" y="7"/>
                    </a:lnTo>
                    <a:lnTo>
                      <a:pt x="12" y="9"/>
                    </a:lnTo>
                    <a:lnTo>
                      <a:pt x="14" y="11"/>
                    </a:lnTo>
                    <a:lnTo>
                      <a:pt x="17" y="13"/>
                    </a:lnTo>
                    <a:lnTo>
                      <a:pt x="19" y="14"/>
                    </a:lnTo>
                    <a:lnTo>
                      <a:pt x="19" y="2785"/>
                    </a:lnTo>
                    <a:lnTo>
                      <a:pt x="17" y="2787"/>
                    </a:lnTo>
                    <a:lnTo>
                      <a:pt x="14" y="2788"/>
                    </a:lnTo>
                    <a:lnTo>
                      <a:pt x="12" y="2790"/>
                    </a:lnTo>
                    <a:lnTo>
                      <a:pt x="10" y="2792"/>
                    </a:lnTo>
                    <a:lnTo>
                      <a:pt x="8" y="2793"/>
                    </a:lnTo>
                    <a:lnTo>
                      <a:pt x="5" y="2795"/>
                    </a:lnTo>
                    <a:lnTo>
                      <a:pt x="2" y="2798"/>
                    </a:lnTo>
                    <a:lnTo>
                      <a:pt x="0" y="2799"/>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600" name="Freeform 5088"/>
              <p:cNvSpPr>
                <a:spLocks noChangeAspect="1"/>
              </p:cNvSpPr>
              <p:nvPr/>
            </p:nvSpPr>
            <p:spPr bwMode="auto">
              <a:xfrm>
                <a:off x="4922" y="762"/>
                <a:ext cx="6" cy="927"/>
              </a:xfrm>
              <a:custGeom>
                <a:avLst/>
                <a:gdLst>
                  <a:gd name="T0" fmla="*/ 0 w 19"/>
                  <a:gd name="T1" fmla="*/ 2785 h 2785"/>
                  <a:gd name="T2" fmla="*/ 0 w 19"/>
                  <a:gd name="T3" fmla="*/ 0 h 2785"/>
                  <a:gd name="T4" fmla="*/ 2 w 19"/>
                  <a:gd name="T5" fmla="*/ 2 h 2785"/>
                  <a:gd name="T6" fmla="*/ 4 w 19"/>
                  <a:gd name="T7" fmla="*/ 4 h 2785"/>
                  <a:gd name="T8" fmla="*/ 7 w 19"/>
                  <a:gd name="T9" fmla="*/ 6 h 2785"/>
                  <a:gd name="T10" fmla="*/ 9 w 19"/>
                  <a:gd name="T11" fmla="*/ 8 h 2785"/>
                  <a:gd name="T12" fmla="*/ 12 w 19"/>
                  <a:gd name="T13" fmla="*/ 10 h 2785"/>
                  <a:gd name="T14" fmla="*/ 14 w 19"/>
                  <a:gd name="T15" fmla="*/ 11 h 2785"/>
                  <a:gd name="T16" fmla="*/ 17 w 19"/>
                  <a:gd name="T17" fmla="*/ 14 h 2785"/>
                  <a:gd name="T18" fmla="*/ 19 w 19"/>
                  <a:gd name="T19" fmla="*/ 16 h 2785"/>
                  <a:gd name="T20" fmla="*/ 19 w 19"/>
                  <a:gd name="T21" fmla="*/ 2769 h 2785"/>
                  <a:gd name="T22" fmla="*/ 17 w 19"/>
                  <a:gd name="T23" fmla="*/ 2771 h 2785"/>
                  <a:gd name="T24" fmla="*/ 14 w 19"/>
                  <a:gd name="T25" fmla="*/ 2774 h 2785"/>
                  <a:gd name="T26" fmla="*/ 12 w 19"/>
                  <a:gd name="T27" fmla="*/ 2776 h 2785"/>
                  <a:gd name="T28" fmla="*/ 9 w 19"/>
                  <a:gd name="T29" fmla="*/ 2778 h 2785"/>
                  <a:gd name="T30" fmla="*/ 7 w 19"/>
                  <a:gd name="T31" fmla="*/ 2779 h 2785"/>
                  <a:gd name="T32" fmla="*/ 4 w 19"/>
                  <a:gd name="T33" fmla="*/ 2781 h 2785"/>
                  <a:gd name="T34" fmla="*/ 2 w 19"/>
                  <a:gd name="T35" fmla="*/ 2783 h 2785"/>
                  <a:gd name="T36" fmla="*/ 0 w 19"/>
                  <a:gd name="T37" fmla="*/ 2785 h 2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785">
                    <a:moveTo>
                      <a:pt x="0" y="2785"/>
                    </a:moveTo>
                    <a:lnTo>
                      <a:pt x="0" y="0"/>
                    </a:lnTo>
                    <a:lnTo>
                      <a:pt x="2" y="2"/>
                    </a:lnTo>
                    <a:lnTo>
                      <a:pt x="4" y="4"/>
                    </a:lnTo>
                    <a:lnTo>
                      <a:pt x="7" y="6"/>
                    </a:lnTo>
                    <a:lnTo>
                      <a:pt x="9" y="8"/>
                    </a:lnTo>
                    <a:lnTo>
                      <a:pt x="12" y="10"/>
                    </a:lnTo>
                    <a:lnTo>
                      <a:pt x="14" y="11"/>
                    </a:lnTo>
                    <a:lnTo>
                      <a:pt x="17" y="14"/>
                    </a:lnTo>
                    <a:lnTo>
                      <a:pt x="19" y="16"/>
                    </a:lnTo>
                    <a:lnTo>
                      <a:pt x="19" y="2769"/>
                    </a:lnTo>
                    <a:lnTo>
                      <a:pt x="17" y="2771"/>
                    </a:lnTo>
                    <a:lnTo>
                      <a:pt x="14" y="2774"/>
                    </a:lnTo>
                    <a:lnTo>
                      <a:pt x="12" y="2776"/>
                    </a:lnTo>
                    <a:lnTo>
                      <a:pt x="9" y="2778"/>
                    </a:lnTo>
                    <a:lnTo>
                      <a:pt x="7" y="2779"/>
                    </a:lnTo>
                    <a:lnTo>
                      <a:pt x="4" y="2781"/>
                    </a:lnTo>
                    <a:lnTo>
                      <a:pt x="2" y="2783"/>
                    </a:lnTo>
                    <a:lnTo>
                      <a:pt x="0" y="2785"/>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601" name="Freeform 5089"/>
              <p:cNvSpPr>
                <a:spLocks noChangeAspect="1"/>
              </p:cNvSpPr>
              <p:nvPr/>
            </p:nvSpPr>
            <p:spPr bwMode="auto">
              <a:xfrm>
                <a:off x="4925" y="764"/>
                <a:ext cx="7" cy="926"/>
              </a:xfrm>
              <a:custGeom>
                <a:avLst/>
                <a:gdLst>
                  <a:gd name="T0" fmla="*/ 0 w 20"/>
                  <a:gd name="T1" fmla="*/ 2771 h 2771"/>
                  <a:gd name="T2" fmla="*/ 0 w 20"/>
                  <a:gd name="T3" fmla="*/ 0 h 2771"/>
                  <a:gd name="T4" fmla="*/ 3 w 20"/>
                  <a:gd name="T5" fmla="*/ 2 h 2771"/>
                  <a:gd name="T6" fmla="*/ 5 w 20"/>
                  <a:gd name="T7" fmla="*/ 6 h 2771"/>
                  <a:gd name="T8" fmla="*/ 8 w 20"/>
                  <a:gd name="T9" fmla="*/ 8 h 2771"/>
                  <a:gd name="T10" fmla="*/ 10 w 20"/>
                  <a:gd name="T11" fmla="*/ 10 h 2771"/>
                  <a:gd name="T12" fmla="*/ 12 w 20"/>
                  <a:gd name="T13" fmla="*/ 12 h 2771"/>
                  <a:gd name="T14" fmla="*/ 14 w 20"/>
                  <a:gd name="T15" fmla="*/ 14 h 2771"/>
                  <a:gd name="T16" fmla="*/ 16 w 20"/>
                  <a:gd name="T17" fmla="*/ 16 h 2771"/>
                  <a:gd name="T18" fmla="*/ 20 w 20"/>
                  <a:gd name="T19" fmla="*/ 18 h 2771"/>
                  <a:gd name="T20" fmla="*/ 20 w 20"/>
                  <a:gd name="T21" fmla="*/ 2753 h 2771"/>
                  <a:gd name="T22" fmla="*/ 16 w 20"/>
                  <a:gd name="T23" fmla="*/ 2755 h 2771"/>
                  <a:gd name="T24" fmla="*/ 14 w 20"/>
                  <a:gd name="T25" fmla="*/ 2758 h 2771"/>
                  <a:gd name="T26" fmla="*/ 12 w 20"/>
                  <a:gd name="T27" fmla="*/ 2760 h 2771"/>
                  <a:gd name="T28" fmla="*/ 10 w 20"/>
                  <a:gd name="T29" fmla="*/ 2762 h 2771"/>
                  <a:gd name="T30" fmla="*/ 8 w 20"/>
                  <a:gd name="T31" fmla="*/ 2764 h 2771"/>
                  <a:gd name="T32" fmla="*/ 5 w 20"/>
                  <a:gd name="T33" fmla="*/ 2767 h 2771"/>
                  <a:gd name="T34" fmla="*/ 3 w 20"/>
                  <a:gd name="T35" fmla="*/ 2769 h 2771"/>
                  <a:gd name="T36" fmla="*/ 0 w 20"/>
                  <a:gd name="T37" fmla="*/ 2771 h 2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2771">
                    <a:moveTo>
                      <a:pt x="0" y="2771"/>
                    </a:moveTo>
                    <a:lnTo>
                      <a:pt x="0" y="0"/>
                    </a:lnTo>
                    <a:lnTo>
                      <a:pt x="3" y="2"/>
                    </a:lnTo>
                    <a:lnTo>
                      <a:pt x="5" y="6"/>
                    </a:lnTo>
                    <a:lnTo>
                      <a:pt x="8" y="8"/>
                    </a:lnTo>
                    <a:lnTo>
                      <a:pt x="10" y="10"/>
                    </a:lnTo>
                    <a:lnTo>
                      <a:pt x="12" y="12"/>
                    </a:lnTo>
                    <a:lnTo>
                      <a:pt x="14" y="14"/>
                    </a:lnTo>
                    <a:lnTo>
                      <a:pt x="16" y="16"/>
                    </a:lnTo>
                    <a:lnTo>
                      <a:pt x="20" y="18"/>
                    </a:lnTo>
                    <a:lnTo>
                      <a:pt x="20" y="2753"/>
                    </a:lnTo>
                    <a:lnTo>
                      <a:pt x="16" y="2755"/>
                    </a:lnTo>
                    <a:lnTo>
                      <a:pt x="14" y="2758"/>
                    </a:lnTo>
                    <a:lnTo>
                      <a:pt x="12" y="2760"/>
                    </a:lnTo>
                    <a:lnTo>
                      <a:pt x="10" y="2762"/>
                    </a:lnTo>
                    <a:lnTo>
                      <a:pt x="8" y="2764"/>
                    </a:lnTo>
                    <a:lnTo>
                      <a:pt x="5" y="2767"/>
                    </a:lnTo>
                    <a:lnTo>
                      <a:pt x="3" y="2769"/>
                    </a:lnTo>
                    <a:lnTo>
                      <a:pt x="0" y="2771"/>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602" name="Freeform 5090"/>
              <p:cNvSpPr>
                <a:spLocks noChangeAspect="1"/>
              </p:cNvSpPr>
              <p:nvPr/>
            </p:nvSpPr>
            <p:spPr bwMode="auto">
              <a:xfrm>
                <a:off x="4928" y="767"/>
                <a:ext cx="7" cy="918"/>
              </a:xfrm>
              <a:custGeom>
                <a:avLst/>
                <a:gdLst>
                  <a:gd name="T0" fmla="*/ 0 w 19"/>
                  <a:gd name="T1" fmla="*/ 2753 h 2753"/>
                  <a:gd name="T2" fmla="*/ 0 w 19"/>
                  <a:gd name="T3" fmla="*/ 0 h 2753"/>
                  <a:gd name="T4" fmla="*/ 2 w 19"/>
                  <a:gd name="T5" fmla="*/ 3 h 2753"/>
                  <a:gd name="T6" fmla="*/ 4 w 19"/>
                  <a:gd name="T7" fmla="*/ 5 h 2753"/>
                  <a:gd name="T8" fmla="*/ 8 w 19"/>
                  <a:gd name="T9" fmla="*/ 7 h 2753"/>
                  <a:gd name="T10" fmla="*/ 10 w 19"/>
                  <a:gd name="T11" fmla="*/ 10 h 2753"/>
                  <a:gd name="T12" fmla="*/ 12 w 19"/>
                  <a:gd name="T13" fmla="*/ 12 h 2753"/>
                  <a:gd name="T14" fmla="*/ 14 w 19"/>
                  <a:gd name="T15" fmla="*/ 15 h 2753"/>
                  <a:gd name="T16" fmla="*/ 16 w 19"/>
                  <a:gd name="T17" fmla="*/ 18 h 2753"/>
                  <a:gd name="T18" fmla="*/ 19 w 19"/>
                  <a:gd name="T19" fmla="*/ 20 h 2753"/>
                  <a:gd name="T20" fmla="*/ 19 w 19"/>
                  <a:gd name="T21" fmla="*/ 2733 h 2753"/>
                  <a:gd name="T22" fmla="*/ 16 w 19"/>
                  <a:gd name="T23" fmla="*/ 2736 h 2753"/>
                  <a:gd name="T24" fmla="*/ 14 w 19"/>
                  <a:gd name="T25" fmla="*/ 2738 h 2753"/>
                  <a:gd name="T26" fmla="*/ 12 w 19"/>
                  <a:gd name="T27" fmla="*/ 2742 h 2753"/>
                  <a:gd name="T28" fmla="*/ 10 w 19"/>
                  <a:gd name="T29" fmla="*/ 2744 h 2753"/>
                  <a:gd name="T30" fmla="*/ 8 w 19"/>
                  <a:gd name="T31" fmla="*/ 2746 h 2753"/>
                  <a:gd name="T32" fmla="*/ 4 w 19"/>
                  <a:gd name="T33" fmla="*/ 2749 h 2753"/>
                  <a:gd name="T34" fmla="*/ 2 w 19"/>
                  <a:gd name="T35" fmla="*/ 2751 h 2753"/>
                  <a:gd name="T36" fmla="*/ 0 w 19"/>
                  <a:gd name="T37" fmla="*/ 2753 h 2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753">
                    <a:moveTo>
                      <a:pt x="0" y="2753"/>
                    </a:moveTo>
                    <a:lnTo>
                      <a:pt x="0" y="0"/>
                    </a:lnTo>
                    <a:lnTo>
                      <a:pt x="2" y="3"/>
                    </a:lnTo>
                    <a:lnTo>
                      <a:pt x="4" y="5"/>
                    </a:lnTo>
                    <a:lnTo>
                      <a:pt x="8" y="7"/>
                    </a:lnTo>
                    <a:lnTo>
                      <a:pt x="10" y="10"/>
                    </a:lnTo>
                    <a:lnTo>
                      <a:pt x="12" y="12"/>
                    </a:lnTo>
                    <a:lnTo>
                      <a:pt x="14" y="15"/>
                    </a:lnTo>
                    <a:lnTo>
                      <a:pt x="16" y="18"/>
                    </a:lnTo>
                    <a:lnTo>
                      <a:pt x="19" y="20"/>
                    </a:lnTo>
                    <a:lnTo>
                      <a:pt x="19" y="2733"/>
                    </a:lnTo>
                    <a:lnTo>
                      <a:pt x="16" y="2736"/>
                    </a:lnTo>
                    <a:lnTo>
                      <a:pt x="14" y="2738"/>
                    </a:lnTo>
                    <a:lnTo>
                      <a:pt x="12" y="2742"/>
                    </a:lnTo>
                    <a:lnTo>
                      <a:pt x="10" y="2744"/>
                    </a:lnTo>
                    <a:lnTo>
                      <a:pt x="8" y="2746"/>
                    </a:lnTo>
                    <a:lnTo>
                      <a:pt x="4" y="2749"/>
                    </a:lnTo>
                    <a:lnTo>
                      <a:pt x="2" y="2751"/>
                    </a:lnTo>
                    <a:lnTo>
                      <a:pt x="0" y="2753"/>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603" name="Freeform 5091"/>
              <p:cNvSpPr>
                <a:spLocks noChangeAspect="1"/>
              </p:cNvSpPr>
              <p:nvPr/>
            </p:nvSpPr>
            <p:spPr bwMode="auto">
              <a:xfrm>
                <a:off x="4932" y="770"/>
                <a:ext cx="6" cy="913"/>
              </a:xfrm>
              <a:custGeom>
                <a:avLst/>
                <a:gdLst>
                  <a:gd name="T0" fmla="*/ 0 w 19"/>
                  <a:gd name="T1" fmla="*/ 2735 h 2735"/>
                  <a:gd name="T2" fmla="*/ 0 w 19"/>
                  <a:gd name="T3" fmla="*/ 0 h 2735"/>
                  <a:gd name="T4" fmla="*/ 2 w 19"/>
                  <a:gd name="T5" fmla="*/ 3 h 2735"/>
                  <a:gd name="T6" fmla="*/ 4 w 19"/>
                  <a:gd name="T7" fmla="*/ 6 h 2735"/>
                  <a:gd name="T8" fmla="*/ 7 w 19"/>
                  <a:gd name="T9" fmla="*/ 9 h 2735"/>
                  <a:gd name="T10" fmla="*/ 9 w 19"/>
                  <a:gd name="T11" fmla="*/ 12 h 2735"/>
                  <a:gd name="T12" fmla="*/ 11 w 19"/>
                  <a:gd name="T13" fmla="*/ 14 h 2735"/>
                  <a:gd name="T14" fmla="*/ 13 w 19"/>
                  <a:gd name="T15" fmla="*/ 17 h 2735"/>
                  <a:gd name="T16" fmla="*/ 16 w 19"/>
                  <a:gd name="T17" fmla="*/ 20 h 2735"/>
                  <a:gd name="T18" fmla="*/ 19 w 19"/>
                  <a:gd name="T19" fmla="*/ 24 h 2735"/>
                  <a:gd name="T20" fmla="*/ 19 w 19"/>
                  <a:gd name="T21" fmla="*/ 2712 h 2735"/>
                  <a:gd name="T22" fmla="*/ 16 w 19"/>
                  <a:gd name="T23" fmla="*/ 2716 h 2735"/>
                  <a:gd name="T24" fmla="*/ 13 w 19"/>
                  <a:gd name="T25" fmla="*/ 2719 h 2735"/>
                  <a:gd name="T26" fmla="*/ 11 w 19"/>
                  <a:gd name="T27" fmla="*/ 2721 h 2735"/>
                  <a:gd name="T28" fmla="*/ 9 w 19"/>
                  <a:gd name="T29" fmla="*/ 2724 h 2735"/>
                  <a:gd name="T30" fmla="*/ 7 w 19"/>
                  <a:gd name="T31" fmla="*/ 2727 h 2735"/>
                  <a:gd name="T32" fmla="*/ 4 w 19"/>
                  <a:gd name="T33" fmla="*/ 2729 h 2735"/>
                  <a:gd name="T34" fmla="*/ 2 w 19"/>
                  <a:gd name="T35" fmla="*/ 2733 h 2735"/>
                  <a:gd name="T36" fmla="*/ 0 w 19"/>
                  <a:gd name="T37" fmla="*/ 2735 h 2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735">
                    <a:moveTo>
                      <a:pt x="0" y="2735"/>
                    </a:moveTo>
                    <a:lnTo>
                      <a:pt x="0" y="0"/>
                    </a:lnTo>
                    <a:lnTo>
                      <a:pt x="2" y="3"/>
                    </a:lnTo>
                    <a:lnTo>
                      <a:pt x="4" y="6"/>
                    </a:lnTo>
                    <a:lnTo>
                      <a:pt x="7" y="9"/>
                    </a:lnTo>
                    <a:lnTo>
                      <a:pt x="9" y="12"/>
                    </a:lnTo>
                    <a:lnTo>
                      <a:pt x="11" y="14"/>
                    </a:lnTo>
                    <a:lnTo>
                      <a:pt x="13" y="17"/>
                    </a:lnTo>
                    <a:lnTo>
                      <a:pt x="16" y="20"/>
                    </a:lnTo>
                    <a:lnTo>
                      <a:pt x="19" y="24"/>
                    </a:lnTo>
                    <a:lnTo>
                      <a:pt x="19" y="2712"/>
                    </a:lnTo>
                    <a:lnTo>
                      <a:pt x="16" y="2716"/>
                    </a:lnTo>
                    <a:lnTo>
                      <a:pt x="13" y="2719"/>
                    </a:lnTo>
                    <a:lnTo>
                      <a:pt x="11" y="2721"/>
                    </a:lnTo>
                    <a:lnTo>
                      <a:pt x="9" y="2724"/>
                    </a:lnTo>
                    <a:lnTo>
                      <a:pt x="7" y="2727"/>
                    </a:lnTo>
                    <a:lnTo>
                      <a:pt x="4" y="2729"/>
                    </a:lnTo>
                    <a:lnTo>
                      <a:pt x="2" y="2733"/>
                    </a:lnTo>
                    <a:lnTo>
                      <a:pt x="0" y="2735"/>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604" name="Freeform 5092"/>
              <p:cNvSpPr>
                <a:spLocks noChangeAspect="1"/>
              </p:cNvSpPr>
              <p:nvPr/>
            </p:nvSpPr>
            <p:spPr bwMode="auto">
              <a:xfrm>
                <a:off x="4935" y="774"/>
                <a:ext cx="6" cy="904"/>
              </a:xfrm>
              <a:custGeom>
                <a:avLst/>
                <a:gdLst>
                  <a:gd name="T0" fmla="*/ 0 w 19"/>
                  <a:gd name="T1" fmla="*/ 2713 h 2713"/>
                  <a:gd name="T2" fmla="*/ 0 w 19"/>
                  <a:gd name="T3" fmla="*/ 0 h 2713"/>
                  <a:gd name="T4" fmla="*/ 2 w 19"/>
                  <a:gd name="T5" fmla="*/ 3 h 2713"/>
                  <a:gd name="T6" fmla="*/ 4 w 19"/>
                  <a:gd name="T7" fmla="*/ 6 h 2713"/>
                  <a:gd name="T8" fmla="*/ 8 w 19"/>
                  <a:gd name="T9" fmla="*/ 9 h 2713"/>
                  <a:gd name="T10" fmla="*/ 10 w 19"/>
                  <a:gd name="T11" fmla="*/ 13 h 2713"/>
                  <a:gd name="T12" fmla="*/ 12 w 19"/>
                  <a:gd name="T13" fmla="*/ 16 h 2713"/>
                  <a:gd name="T14" fmla="*/ 14 w 19"/>
                  <a:gd name="T15" fmla="*/ 19 h 2713"/>
                  <a:gd name="T16" fmla="*/ 16 w 19"/>
                  <a:gd name="T17" fmla="*/ 22 h 2713"/>
                  <a:gd name="T18" fmla="*/ 19 w 19"/>
                  <a:gd name="T19" fmla="*/ 25 h 2713"/>
                  <a:gd name="T20" fmla="*/ 19 w 19"/>
                  <a:gd name="T21" fmla="*/ 2688 h 2713"/>
                  <a:gd name="T22" fmla="*/ 16 w 19"/>
                  <a:gd name="T23" fmla="*/ 2692 h 2713"/>
                  <a:gd name="T24" fmla="*/ 14 w 19"/>
                  <a:gd name="T25" fmla="*/ 2695 h 2713"/>
                  <a:gd name="T26" fmla="*/ 12 w 19"/>
                  <a:gd name="T27" fmla="*/ 2698 h 2713"/>
                  <a:gd name="T28" fmla="*/ 10 w 19"/>
                  <a:gd name="T29" fmla="*/ 2701 h 2713"/>
                  <a:gd name="T30" fmla="*/ 8 w 19"/>
                  <a:gd name="T31" fmla="*/ 2705 h 2713"/>
                  <a:gd name="T32" fmla="*/ 4 w 19"/>
                  <a:gd name="T33" fmla="*/ 2708 h 2713"/>
                  <a:gd name="T34" fmla="*/ 2 w 19"/>
                  <a:gd name="T35" fmla="*/ 2711 h 2713"/>
                  <a:gd name="T36" fmla="*/ 0 w 19"/>
                  <a:gd name="T37" fmla="*/ 2713 h 2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713">
                    <a:moveTo>
                      <a:pt x="0" y="2713"/>
                    </a:moveTo>
                    <a:lnTo>
                      <a:pt x="0" y="0"/>
                    </a:lnTo>
                    <a:lnTo>
                      <a:pt x="2" y="3"/>
                    </a:lnTo>
                    <a:lnTo>
                      <a:pt x="4" y="6"/>
                    </a:lnTo>
                    <a:lnTo>
                      <a:pt x="8" y="9"/>
                    </a:lnTo>
                    <a:lnTo>
                      <a:pt x="10" y="13"/>
                    </a:lnTo>
                    <a:lnTo>
                      <a:pt x="12" y="16"/>
                    </a:lnTo>
                    <a:lnTo>
                      <a:pt x="14" y="19"/>
                    </a:lnTo>
                    <a:lnTo>
                      <a:pt x="16" y="22"/>
                    </a:lnTo>
                    <a:lnTo>
                      <a:pt x="19" y="25"/>
                    </a:lnTo>
                    <a:lnTo>
                      <a:pt x="19" y="2688"/>
                    </a:lnTo>
                    <a:lnTo>
                      <a:pt x="16" y="2692"/>
                    </a:lnTo>
                    <a:lnTo>
                      <a:pt x="14" y="2695"/>
                    </a:lnTo>
                    <a:lnTo>
                      <a:pt x="12" y="2698"/>
                    </a:lnTo>
                    <a:lnTo>
                      <a:pt x="10" y="2701"/>
                    </a:lnTo>
                    <a:lnTo>
                      <a:pt x="8" y="2705"/>
                    </a:lnTo>
                    <a:lnTo>
                      <a:pt x="4" y="2708"/>
                    </a:lnTo>
                    <a:lnTo>
                      <a:pt x="2" y="2711"/>
                    </a:lnTo>
                    <a:lnTo>
                      <a:pt x="0" y="2713"/>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605" name="Freeform 5093"/>
              <p:cNvSpPr>
                <a:spLocks noChangeAspect="1"/>
              </p:cNvSpPr>
              <p:nvPr/>
            </p:nvSpPr>
            <p:spPr bwMode="auto">
              <a:xfrm>
                <a:off x="4938" y="778"/>
                <a:ext cx="7" cy="898"/>
              </a:xfrm>
              <a:custGeom>
                <a:avLst/>
                <a:gdLst>
                  <a:gd name="T0" fmla="*/ 0 w 19"/>
                  <a:gd name="T1" fmla="*/ 2688 h 2688"/>
                  <a:gd name="T2" fmla="*/ 0 w 19"/>
                  <a:gd name="T3" fmla="*/ 0 h 2688"/>
                  <a:gd name="T4" fmla="*/ 2 w 19"/>
                  <a:gd name="T5" fmla="*/ 3 h 2688"/>
                  <a:gd name="T6" fmla="*/ 4 w 19"/>
                  <a:gd name="T7" fmla="*/ 6 h 2688"/>
                  <a:gd name="T8" fmla="*/ 7 w 19"/>
                  <a:gd name="T9" fmla="*/ 10 h 2688"/>
                  <a:gd name="T10" fmla="*/ 9 w 19"/>
                  <a:gd name="T11" fmla="*/ 14 h 2688"/>
                  <a:gd name="T12" fmla="*/ 12 w 19"/>
                  <a:gd name="T13" fmla="*/ 18 h 2688"/>
                  <a:gd name="T14" fmla="*/ 14 w 19"/>
                  <a:gd name="T15" fmla="*/ 21 h 2688"/>
                  <a:gd name="T16" fmla="*/ 17 w 19"/>
                  <a:gd name="T17" fmla="*/ 25 h 2688"/>
                  <a:gd name="T18" fmla="*/ 19 w 19"/>
                  <a:gd name="T19" fmla="*/ 29 h 2688"/>
                  <a:gd name="T20" fmla="*/ 19 w 19"/>
                  <a:gd name="T21" fmla="*/ 2659 h 2688"/>
                  <a:gd name="T22" fmla="*/ 17 w 19"/>
                  <a:gd name="T23" fmla="*/ 2663 h 2688"/>
                  <a:gd name="T24" fmla="*/ 14 w 19"/>
                  <a:gd name="T25" fmla="*/ 2667 h 2688"/>
                  <a:gd name="T26" fmla="*/ 12 w 19"/>
                  <a:gd name="T27" fmla="*/ 2670 h 2688"/>
                  <a:gd name="T28" fmla="*/ 9 w 19"/>
                  <a:gd name="T29" fmla="*/ 2675 h 2688"/>
                  <a:gd name="T30" fmla="*/ 7 w 19"/>
                  <a:gd name="T31" fmla="*/ 2678 h 2688"/>
                  <a:gd name="T32" fmla="*/ 4 w 19"/>
                  <a:gd name="T33" fmla="*/ 2682 h 2688"/>
                  <a:gd name="T34" fmla="*/ 2 w 19"/>
                  <a:gd name="T35" fmla="*/ 2685 h 2688"/>
                  <a:gd name="T36" fmla="*/ 0 w 19"/>
                  <a:gd name="T37" fmla="*/ 2688 h 2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688">
                    <a:moveTo>
                      <a:pt x="0" y="2688"/>
                    </a:moveTo>
                    <a:lnTo>
                      <a:pt x="0" y="0"/>
                    </a:lnTo>
                    <a:lnTo>
                      <a:pt x="2" y="3"/>
                    </a:lnTo>
                    <a:lnTo>
                      <a:pt x="4" y="6"/>
                    </a:lnTo>
                    <a:lnTo>
                      <a:pt x="7" y="10"/>
                    </a:lnTo>
                    <a:lnTo>
                      <a:pt x="9" y="14"/>
                    </a:lnTo>
                    <a:lnTo>
                      <a:pt x="12" y="18"/>
                    </a:lnTo>
                    <a:lnTo>
                      <a:pt x="14" y="21"/>
                    </a:lnTo>
                    <a:lnTo>
                      <a:pt x="17" y="25"/>
                    </a:lnTo>
                    <a:lnTo>
                      <a:pt x="19" y="29"/>
                    </a:lnTo>
                    <a:lnTo>
                      <a:pt x="19" y="2659"/>
                    </a:lnTo>
                    <a:lnTo>
                      <a:pt x="17" y="2663"/>
                    </a:lnTo>
                    <a:lnTo>
                      <a:pt x="14" y="2667"/>
                    </a:lnTo>
                    <a:lnTo>
                      <a:pt x="12" y="2670"/>
                    </a:lnTo>
                    <a:lnTo>
                      <a:pt x="9" y="2675"/>
                    </a:lnTo>
                    <a:lnTo>
                      <a:pt x="7" y="2678"/>
                    </a:lnTo>
                    <a:lnTo>
                      <a:pt x="4" y="2682"/>
                    </a:lnTo>
                    <a:lnTo>
                      <a:pt x="2" y="2685"/>
                    </a:lnTo>
                    <a:lnTo>
                      <a:pt x="0" y="2688"/>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606" name="Freeform 5094"/>
              <p:cNvSpPr>
                <a:spLocks noChangeAspect="1"/>
              </p:cNvSpPr>
              <p:nvPr/>
            </p:nvSpPr>
            <p:spPr bwMode="auto">
              <a:xfrm>
                <a:off x="4941" y="782"/>
                <a:ext cx="7" cy="887"/>
              </a:xfrm>
              <a:custGeom>
                <a:avLst/>
                <a:gdLst>
                  <a:gd name="T0" fmla="*/ 0 w 20"/>
                  <a:gd name="T1" fmla="*/ 2663 h 2663"/>
                  <a:gd name="T2" fmla="*/ 0 w 20"/>
                  <a:gd name="T3" fmla="*/ 0 h 2663"/>
                  <a:gd name="T4" fmla="*/ 3 w 20"/>
                  <a:gd name="T5" fmla="*/ 5 h 2663"/>
                  <a:gd name="T6" fmla="*/ 6 w 20"/>
                  <a:gd name="T7" fmla="*/ 10 h 2663"/>
                  <a:gd name="T8" fmla="*/ 8 w 20"/>
                  <a:gd name="T9" fmla="*/ 14 h 2663"/>
                  <a:gd name="T10" fmla="*/ 10 w 20"/>
                  <a:gd name="T11" fmla="*/ 19 h 2663"/>
                  <a:gd name="T12" fmla="*/ 12 w 20"/>
                  <a:gd name="T13" fmla="*/ 23 h 2663"/>
                  <a:gd name="T14" fmla="*/ 15 w 20"/>
                  <a:gd name="T15" fmla="*/ 28 h 2663"/>
                  <a:gd name="T16" fmla="*/ 17 w 20"/>
                  <a:gd name="T17" fmla="*/ 32 h 2663"/>
                  <a:gd name="T18" fmla="*/ 20 w 20"/>
                  <a:gd name="T19" fmla="*/ 37 h 2663"/>
                  <a:gd name="T20" fmla="*/ 20 w 20"/>
                  <a:gd name="T21" fmla="*/ 2626 h 2663"/>
                  <a:gd name="T22" fmla="*/ 17 w 20"/>
                  <a:gd name="T23" fmla="*/ 2632 h 2663"/>
                  <a:gd name="T24" fmla="*/ 15 w 20"/>
                  <a:gd name="T25" fmla="*/ 2636 h 2663"/>
                  <a:gd name="T26" fmla="*/ 12 w 20"/>
                  <a:gd name="T27" fmla="*/ 2641 h 2663"/>
                  <a:gd name="T28" fmla="*/ 10 w 20"/>
                  <a:gd name="T29" fmla="*/ 2646 h 2663"/>
                  <a:gd name="T30" fmla="*/ 8 w 20"/>
                  <a:gd name="T31" fmla="*/ 2650 h 2663"/>
                  <a:gd name="T32" fmla="*/ 6 w 20"/>
                  <a:gd name="T33" fmla="*/ 2654 h 2663"/>
                  <a:gd name="T34" fmla="*/ 3 w 20"/>
                  <a:gd name="T35" fmla="*/ 2658 h 2663"/>
                  <a:gd name="T36" fmla="*/ 0 w 20"/>
                  <a:gd name="T37" fmla="*/ 2663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2663">
                    <a:moveTo>
                      <a:pt x="0" y="2663"/>
                    </a:moveTo>
                    <a:lnTo>
                      <a:pt x="0" y="0"/>
                    </a:lnTo>
                    <a:lnTo>
                      <a:pt x="3" y="5"/>
                    </a:lnTo>
                    <a:lnTo>
                      <a:pt x="6" y="10"/>
                    </a:lnTo>
                    <a:lnTo>
                      <a:pt x="8" y="14"/>
                    </a:lnTo>
                    <a:lnTo>
                      <a:pt x="10" y="19"/>
                    </a:lnTo>
                    <a:lnTo>
                      <a:pt x="12" y="23"/>
                    </a:lnTo>
                    <a:lnTo>
                      <a:pt x="15" y="28"/>
                    </a:lnTo>
                    <a:lnTo>
                      <a:pt x="17" y="32"/>
                    </a:lnTo>
                    <a:lnTo>
                      <a:pt x="20" y="37"/>
                    </a:lnTo>
                    <a:lnTo>
                      <a:pt x="20" y="2626"/>
                    </a:lnTo>
                    <a:lnTo>
                      <a:pt x="17" y="2632"/>
                    </a:lnTo>
                    <a:lnTo>
                      <a:pt x="15" y="2636"/>
                    </a:lnTo>
                    <a:lnTo>
                      <a:pt x="12" y="2641"/>
                    </a:lnTo>
                    <a:lnTo>
                      <a:pt x="10" y="2646"/>
                    </a:lnTo>
                    <a:lnTo>
                      <a:pt x="8" y="2650"/>
                    </a:lnTo>
                    <a:lnTo>
                      <a:pt x="6" y="2654"/>
                    </a:lnTo>
                    <a:lnTo>
                      <a:pt x="3" y="2658"/>
                    </a:lnTo>
                    <a:lnTo>
                      <a:pt x="0" y="2663"/>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607" name="Freeform 5095"/>
              <p:cNvSpPr>
                <a:spLocks noChangeAspect="1"/>
              </p:cNvSpPr>
              <p:nvPr/>
            </p:nvSpPr>
            <p:spPr bwMode="auto">
              <a:xfrm>
                <a:off x="4945" y="788"/>
                <a:ext cx="6" cy="877"/>
              </a:xfrm>
              <a:custGeom>
                <a:avLst/>
                <a:gdLst>
                  <a:gd name="T0" fmla="*/ 0 w 18"/>
                  <a:gd name="T1" fmla="*/ 2630 h 2630"/>
                  <a:gd name="T2" fmla="*/ 0 w 18"/>
                  <a:gd name="T3" fmla="*/ 0 h 2630"/>
                  <a:gd name="T4" fmla="*/ 2 w 18"/>
                  <a:gd name="T5" fmla="*/ 6 h 2630"/>
                  <a:gd name="T6" fmla="*/ 5 w 18"/>
                  <a:gd name="T7" fmla="*/ 11 h 2630"/>
                  <a:gd name="T8" fmla="*/ 7 w 18"/>
                  <a:gd name="T9" fmla="*/ 17 h 2630"/>
                  <a:gd name="T10" fmla="*/ 11 w 18"/>
                  <a:gd name="T11" fmla="*/ 23 h 2630"/>
                  <a:gd name="T12" fmla="*/ 13 w 18"/>
                  <a:gd name="T13" fmla="*/ 29 h 2630"/>
                  <a:gd name="T14" fmla="*/ 15 w 18"/>
                  <a:gd name="T15" fmla="*/ 34 h 2630"/>
                  <a:gd name="T16" fmla="*/ 17 w 18"/>
                  <a:gd name="T17" fmla="*/ 41 h 2630"/>
                  <a:gd name="T18" fmla="*/ 18 w 18"/>
                  <a:gd name="T19" fmla="*/ 46 h 2630"/>
                  <a:gd name="T20" fmla="*/ 18 w 18"/>
                  <a:gd name="T21" fmla="*/ 2582 h 2630"/>
                  <a:gd name="T22" fmla="*/ 17 w 18"/>
                  <a:gd name="T23" fmla="*/ 2588 h 2630"/>
                  <a:gd name="T24" fmla="*/ 15 w 18"/>
                  <a:gd name="T25" fmla="*/ 2595 h 2630"/>
                  <a:gd name="T26" fmla="*/ 13 w 18"/>
                  <a:gd name="T27" fmla="*/ 2601 h 2630"/>
                  <a:gd name="T28" fmla="*/ 11 w 18"/>
                  <a:gd name="T29" fmla="*/ 2606 h 2630"/>
                  <a:gd name="T30" fmla="*/ 7 w 18"/>
                  <a:gd name="T31" fmla="*/ 2613 h 2630"/>
                  <a:gd name="T32" fmla="*/ 5 w 18"/>
                  <a:gd name="T33" fmla="*/ 2619 h 2630"/>
                  <a:gd name="T34" fmla="*/ 2 w 18"/>
                  <a:gd name="T35" fmla="*/ 2624 h 2630"/>
                  <a:gd name="T36" fmla="*/ 0 w 18"/>
                  <a:gd name="T37" fmla="*/ 2630 h 2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2630">
                    <a:moveTo>
                      <a:pt x="0" y="2630"/>
                    </a:moveTo>
                    <a:lnTo>
                      <a:pt x="0" y="0"/>
                    </a:lnTo>
                    <a:lnTo>
                      <a:pt x="2" y="6"/>
                    </a:lnTo>
                    <a:lnTo>
                      <a:pt x="5" y="11"/>
                    </a:lnTo>
                    <a:lnTo>
                      <a:pt x="7" y="17"/>
                    </a:lnTo>
                    <a:lnTo>
                      <a:pt x="11" y="23"/>
                    </a:lnTo>
                    <a:lnTo>
                      <a:pt x="13" y="29"/>
                    </a:lnTo>
                    <a:lnTo>
                      <a:pt x="15" y="34"/>
                    </a:lnTo>
                    <a:lnTo>
                      <a:pt x="17" y="41"/>
                    </a:lnTo>
                    <a:lnTo>
                      <a:pt x="18" y="46"/>
                    </a:lnTo>
                    <a:lnTo>
                      <a:pt x="18" y="2582"/>
                    </a:lnTo>
                    <a:lnTo>
                      <a:pt x="17" y="2588"/>
                    </a:lnTo>
                    <a:lnTo>
                      <a:pt x="15" y="2595"/>
                    </a:lnTo>
                    <a:lnTo>
                      <a:pt x="13" y="2601"/>
                    </a:lnTo>
                    <a:lnTo>
                      <a:pt x="11" y="2606"/>
                    </a:lnTo>
                    <a:lnTo>
                      <a:pt x="7" y="2613"/>
                    </a:lnTo>
                    <a:lnTo>
                      <a:pt x="5" y="2619"/>
                    </a:lnTo>
                    <a:lnTo>
                      <a:pt x="2" y="2624"/>
                    </a:lnTo>
                    <a:lnTo>
                      <a:pt x="0" y="2630"/>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608" name="Freeform 5096"/>
              <p:cNvSpPr>
                <a:spLocks noChangeAspect="1"/>
              </p:cNvSpPr>
              <p:nvPr/>
            </p:nvSpPr>
            <p:spPr bwMode="auto">
              <a:xfrm>
                <a:off x="4948" y="795"/>
                <a:ext cx="6" cy="860"/>
              </a:xfrm>
              <a:custGeom>
                <a:avLst/>
                <a:gdLst>
                  <a:gd name="T0" fmla="*/ 0 w 18"/>
                  <a:gd name="T1" fmla="*/ 2589 h 2589"/>
                  <a:gd name="T2" fmla="*/ 0 w 18"/>
                  <a:gd name="T3" fmla="*/ 0 h 2589"/>
                  <a:gd name="T4" fmla="*/ 4 w 18"/>
                  <a:gd name="T5" fmla="*/ 11 h 2589"/>
                  <a:gd name="T6" fmla="*/ 7 w 18"/>
                  <a:gd name="T7" fmla="*/ 22 h 2589"/>
                  <a:gd name="T8" fmla="*/ 10 w 18"/>
                  <a:gd name="T9" fmla="*/ 34 h 2589"/>
                  <a:gd name="T10" fmla="*/ 13 w 18"/>
                  <a:gd name="T11" fmla="*/ 45 h 2589"/>
                  <a:gd name="T12" fmla="*/ 16 w 18"/>
                  <a:gd name="T13" fmla="*/ 57 h 2589"/>
                  <a:gd name="T14" fmla="*/ 17 w 18"/>
                  <a:gd name="T15" fmla="*/ 69 h 2589"/>
                  <a:gd name="T16" fmla="*/ 18 w 18"/>
                  <a:gd name="T17" fmla="*/ 81 h 2589"/>
                  <a:gd name="T18" fmla="*/ 18 w 18"/>
                  <a:gd name="T19" fmla="*/ 94 h 2589"/>
                  <a:gd name="T20" fmla="*/ 18 w 18"/>
                  <a:gd name="T21" fmla="*/ 94 h 2589"/>
                  <a:gd name="T22" fmla="*/ 18 w 18"/>
                  <a:gd name="T23" fmla="*/ 95 h 2589"/>
                  <a:gd name="T24" fmla="*/ 18 w 18"/>
                  <a:gd name="T25" fmla="*/ 96 h 2589"/>
                  <a:gd name="T26" fmla="*/ 18 w 18"/>
                  <a:gd name="T27" fmla="*/ 97 h 2589"/>
                  <a:gd name="T28" fmla="*/ 18 w 18"/>
                  <a:gd name="T29" fmla="*/ 98 h 2589"/>
                  <a:gd name="T30" fmla="*/ 18 w 18"/>
                  <a:gd name="T31" fmla="*/ 100 h 2589"/>
                  <a:gd name="T32" fmla="*/ 18 w 18"/>
                  <a:gd name="T33" fmla="*/ 100 h 2589"/>
                  <a:gd name="T34" fmla="*/ 18 w 18"/>
                  <a:gd name="T35" fmla="*/ 101 h 2589"/>
                  <a:gd name="T36" fmla="*/ 18 w 18"/>
                  <a:gd name="T37" fmla="*/ 101 h 2589"/>
                  <a:gd name="T38" fmla="*/ 18 w 18"/>
                  <a:gd name="T39" fmla="*/ 2497 h 2589"/>
                  <a:gd name="T40" fmla="*/ 17 w 18"/>
                  <a:gd name="T41" fmla="*/ 2497 h 2589"/>
                  <a:gd name="T42" fmla="*/ 17 w 18"/>
                  <a:gd name="T43" fmla="*/ 2498 h 2589"/>
                  <a:gd name="T44" fmla="*/ 17 w 18"/>
                  <a:gd name="T45" fmla="*/ 2499 h 2589"/>
                  <a:gd name="T46" fmla="*/ 17 w 18"/>
                  <a:gd name="T47" fmla="*/ 2499 h 2589"/>
                  <a:gd name="T48" fmla="*/ 17 w 18"/>
                  <a:gd name="T49" fmla="*/ 2500 h 2589"/>
                  <a:gd name="T50" fmla="*/ 17 w 18"/>
                  <a:gd name="T51" fmla="*/ 2501 h 2589"/>
                  <a:gd name="T52" fmla="*/ 17 w 18"/>
                  <a:gd name="T53" fmla="*/ 2501 h 2589"/>
                  <a:gd name="T54" fmla="*/ 17 w 18"/>
                  <a:gd name="T55" fmla="*/ 2502 h 2589"/>
                  <a:gd name="T56" fmla="*/ 17 w 18"/>
                  <a:gd name="T57" fmla="*/ 2503 h 2589"/>
                  <a:gd name="T58" fmla="*/ 17 w 18"/>
                  <a:gd name="T59" fmla="*/ 2514 h 2589"/>
                  <a:gd name="T60" fmla="*/ 16 w 18"/>
                  <a:gd name="T61" fmla="*/ 2526 h 2589"/>
                  <a:gd name="T62" fmla="*/ 14 w 18"/>
                  <a:gd name="T63" fmla="*/ 2537 h 2589"/>
                  <a:gd name="T64" fmla="*/ 12 w 18"/>
                  <a:gd name="T65" fmla="*/ 2548 h 2589"/>
                  <a:gd name="T66" fmla="*/ 9 w 18"/>
                  <a:gd name="T67" fmla="*/ 2559 h 2589"/>
                  <a:gd name="T68" fmla="*/ 7 w 18"/>
                  <a:gd name="T69" fmla="*/ 2569 h 2589"/>
                  <a:gd name="T70" fmla="*/ 3 w 18"/>
                  <a:gd name="T71" fmla="*/ 2580 h 2589"/>
                  <a:gd name="T72" fmla="*/ 0 w 18"/>
                  <a:gd name="T73" fmla="*/ 2589 h 2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 h="2589">
                    <a:moveTo>
                      <a:pt x="0" y="2589"/>
                    </a:moveTo>
                    <a:lnTo>
                      <a:pt x="0" y="0"/>
                    </a:lnTo>
                    <a:lnTo>
                      <a:pt x="4" y="11"/>
                    </a:lnTo>
                    <a:lnTo>
                      <a:pt x="7" y="22"/>
                    </a:lnTo>
                    <a:lnTo>
                      <a:pt x="10" y="34"/>
                    </a:lnTo>
                    <a:lnTo>
                      <a:pt x="13" y="45"/>
                    </a:lnTo>
                    <a:lnTo>
                      <a:pt x="16" y="57"/>
                    </a:lnTo>
                    <a:lnTo>
                      <a:pt x="17" y="69"/>
                    </a:lnTo>
                    <a:lnTo>
                      <a:pt x="18" y="81"/>
                    </a:lnTo>
                    <a:lnTo>
                      <a:pt x="18" y="94"/>
                    </a:lnTo>
                    <a:lnTo>
                      <a:pt x="18" y="94"/>
                    </a:lnTo>
                    <a:lnTo>
                      <a:pt x="18" y="95"/>
                    </a:lnTo>
                    <a:lnTo>
                      <a:pt x="18" y="96"/>
                    </a:lnTo>
                    <a:lnTo>
                      <a:pt x="18" y="97"/>
                    </a:lnTo>
                    <a:lnTo>
                      <a:pt x="18" y="98"/>
                    </a:lnTo>
                    <a:lnTo>
                      <a:pt x="18" y="100"/>
                    </a:lnTo>
                    <a:lnTo>
                      <a:pt x="18" y="100"/>
                    </a:lnTo>
                    <a:lnTo>
                      <a:pt x="18" y="101"/>
                    </a:lnTo>
                    <a:lnTo>
                      <a:pt x="18" y="101"/>
                    </a:lnTo>
                    <a:lnTo>
                      <a:pt x="18" y="2497"/>
                    </a:lnTo>
                    <a:lnTo>
                      <a:pt x="17" y="2497"/>
                    </a:lnTo>
                    <a:lnTo>
                      <a:pt x="17" y="2498"/>
                    </a:lnTo>
                    <a:lnTo>
                      <a:pt x="17" y="2499"/>
                    </a:lnTo>
                    <a:lnTo>
                      <a:pt x="17" y="2499"/>
                    </a:lnTo>
                    <a:lnTo>
                      <a:pt x="17" y="2500"/>
                    </a:lnTo>
                    <a:lnTo>
                      <a:pt x="17" y="2501"/>
                    </a:lnTo>
                    <a:lnTo>
                      <a:pt x="17" y="2501"/>
                    </a:lnTo>
                    <a:lnTo>
                      <a:pt x="17" y="2502"/>
                    </a:lnTo>
                    <a:lnTo>
                      <a:pt x="17" y="2503"/>
                    </a:lnTo>
                    <a:lnTo>
                      <a:pt x="17" y="2514"/>
                    </a:lnTo>
                    <a:lnTo>
                      <a:pt x="16" y="2526"/>
                    </a:lnTo>
                    <a:lnTo>
                      <a:pt x="14" y="2537"/>
                    </a:lnTo>
                    <a:lnTo>
                      <a:pt x="12" y="2548"/>
                    </a:lnTo>
                    <a:lnTo>
                      <a:pt x="9" y="2559"/>
                    </a:lnTo>
                    <a:lnTo>
                      <a:pt x="7" y="2569"/>
                    </a:lnTo>
                    <a:lnTo>
                      <a:pt x="3" y="2580"/>
                    </a:lnTo>
                    <a:lnTo>
                      <a:pt x="0" y="2589"/>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609" name="Freeform 5097"/>
              <p:cNvSpPr>
                <a:spLocks noChangeAspect="1"/>
              </p:cNvSpPr>
              <p:nvPr/>
            </p:nvSpPr>
            <p:spPr bwMode="auto">
              <a:xfrm>
                <a:off x="4950" y="804"/>
                <a:ext cx="4" cy="845"/>
              </a:xfrm>
              <a:custGeom>
                <a:avLst/>
                <a:gdLst>
                  <a:gd name="T0" fmla="*/ 0 w 10"/>
                  <a:gd name="T1" fmla="*/ 2536 h 2536"/>
                  <a:gd name="T2" fmla="*/ 0 w 10"/>
                  <a:gd name="T3" fmla="*/ 0 h 2536"/>
                  <a:gd name="T4" fmla="*/ 3 w 10"/>
                  <a:gd name="T5" fmla="*/ 9 h 2536"/>
                  <a:gd name="T6" fmla="*/ 4 w 10"/>
                  <a:gd name="T7" fmla="*/ 17 h 2536"/>
                  <a:gd name="T8" fmla="*/ 6 w 10"/>
                  <a:gd name="T9" fmla="*/ 26 h 2536"/>
                  <a:gd name="T10" fmla="*/ 8 w 10"/>
                  <a:gd name="T11" fmla="*/ 33 h 2536"/>
                  <a:gd name="T12" fmla="*/ 9 w 10"/>
                  <a:gd name="T13" fmla="*/ 42 h 2536"/>
                  <a:gd name="T14" fmla="*/ 10 w 10"/>
                  <a:gd name="T15" fmla="*/ 50 h 2536"/>
                  <a:gd name="T16" fmla="*/ 10 w 10"/>
                  <a:gd name="T17" fmla="*/ 59 h 2536"/>
                  <a:gd name="T18" fmla="*/ 10 w 10"/>
                  <a:gd name="T19" fmla="*/ 68 h 2536"/>
                  <a:gd name="T20" fmla="*/ 10 w 10"/>
                  <a:gd name="T21" fmla="*/ 68 h 2536"/>
                  <a:gd name="T22" fmla="*/ 10 w 10"/>
                  <a:gd name="T23" fmla="*/ 69 h 2536"/>
                  <a:gd name="T24" fmla="*/ 10 w 10"/>
                  <a:gd name="T25" fmla="*/ 70 h 2536"/>
                  <a:gd name="T26" fmla="*/ 10 w 10"/>
                  <a:gd name="T27" fmla="*/ 71 h 2536"/>
                  <a:gd name="T28" fmla="*/ 10 w 10"/>
                  <a:gd name="T29" fmla="*/ 72 h 2536"/>
                  <a:gd name="T30" fmla="*/ 10 w 10"/>
                  <a:gd name="T31" fmla="*/ 74 h 2536"/>
                  <a:gd name="T32" fmla="*/ 10 w 10"/>
                  <a:gd name="T33" fmla="*/ 74 h 2536"/>
                  <a:gd name="T34" fmla="*/ 10 w 10"/>
                  <a:gd name="T35" fmla="*/ 75 h 2536"/>
                  <a:gd name="T36" fmla="*/ 10 w 10"/>
                  <a:gd name="T37" fmla="*/ 75 h 2536"/>
                  <a:gd name="T38" fmla="*/ 10 w 10"/>
                  <a:gd name="T39" fmla="*/ 2471 h 2536"/>
                  <a:gd name="T40" fmla="*/ 9 w 10"/>
                  <a:gd name="T41" fmla="*/ 2471 h 2536"/>
                  <a:gd name="T42" fmla="*/ 9 w 10"/>
                  <a:gd name="T43" fmla="*/ 2472 h 2536"/>
                  <a:gd name="T44" fmla="*/ 9 w 10"/>
                  <a:gd name="T45" fmla="*/ 2473 h 2536"/>
                  <a:gd name="T46" fmla="*/ 9 w 10"/>
                  <a:gd name="T47" fmla="*/ 2473 h 2536"/>
                  <a:gd name="T48" fmla="*/ 9 w 10"/>
                  <a:gd name="T49" fmla="*/ 2474 h 2536"/>
                  <a:gd name="T50" fmla="*/ 9 w 10"/>
                  <a:gd name="T51" fmla="*/ 2475 h 2536"/>
                  <a:gd name="T52" fmla="*/ 9 w 10"/>
                  <a:gd name="T53" fmla="*/ 2475 h 2536"/>
                  <a:gd name="T54" fmla="*/ 9 w 10"/>
                  <a:gd name="T55" fmla="*/ 2476 h 2536"/>
                  <a:gd name="T56" fmla="*/ 9 w 10"/>
                  <a:gd name="T57" fmla="*/ 2477 h 2536"/>
                  <a:gd name="T58" fmla="*/ 9 w 10"/>
                  <a:gd name="T59" fmla="*/ 2485 h 2536"/>
                  <a:gd name="T60" fmla="*/ 8 w 10"/>
                  <a:gd name="T61" fmla="*/ 2492 h 2536"/>
                  <a:gd name="T62" fmla="*/ 8 w 10"/>
                  <a:gd name="T63" fmla="*/ 2500 h 2536"/>
                  <a:gd name="T64" fmla="*/ 6 w 10"/>
                  <a:gd name="T65" fmla="*/ 2507 h 2536"/>
                  <a:gd name="T66" fmla="*/ 5 w 10"/>
                  <a:gd name="T67" fmla="*/ 2515 h 2536"/>
                  <a:gd name="T68" fmla="*/ 4 w 10"/>
                  <a:gd name="T69" fmla="*/ 2522 h 2536"/>
                  <a:gd name="T70" fmla="*/ 2 w 10"/>
                  <a:gd name="T71" fmla="*/ 2529 h 2536"/>
                  <a:gd name="T72" fmla="*/ 0 w 10"/>
                  <a:gd name="T73" fmla="*/ 2536 h 2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2536">
                    <a:moveTo>
                      <a:pt x="0" y="2536"/>
                    </a:moveTo>
                    <a:lnTo>
                      <a:pt x="0" y="0"/>
                    </a:lnTo>
                    <a:lnTo>
                      <a:pt x="3" y="9"/>
                    </a:lnTo>
                    <a:lnTo>
                      <a:pt x="4" y="17"/>
                    </a:lnTo>
                    <a:lnTo>
                      <a:pt x="6" y="26"/>
                    </a:lnTo>
                    <a:lnTo>
                      <a:pt x="8" y="33"/>
                    </a:lnTo>
                    <a:lnTo>
                      <a:pt x="9" y="42"/>
                    </a:lnTo>
                    <a:lnTo>
                      <a:pt x="10" y="50"/>
                    </a:lnTo>
                    <a:lnTo>
                      <a:pt x="10" y="59"/>
                    </a:lnTo>
                    <a:lnTo>
                      <a:pt x="10" y="68"/>
                    </a:lnTo>
                    <a:lnTo>
                      <a:pt x="10" y="68"/>
                    </a:lnTo>
                    <a:lnTo>
                      <a:pt x="10" y="69"/>
                    </a:lnTo>
                    <a:lnTo>
                      <a:pt x="10" y="70"/>
                    </a:lnTo>
                    <a:lnTo>
                      <a:pt x="10" y="71"/>
                    </a:lnTo>
                    <a:lnTo>
                      <a:pt x="10" y="72"/>
                    </a:lnTo>
                    <a:lnTo>
                      <a:pt x="10" y="74"/>
                    </a:lnTo>
                    <a:lnTo>
                      <a:pt x="10" y="74"/>
                    </a:lnTo>
                    <a:lnTo>
                      <a:pt x="10" y="75"/>
                    </a:lnTo>
                    <a:lnTo>
                      <a:pt x="10" y="75"/>
                    </a:lnTo>
                    <a:lnTo>
                      <a:pt x="10" y="2471"/>
                    </a:lnTo>
                    <a:lnTo>
                      <a:pt x="9" y="2471"/>
                    </a:lnTo>
                    <a:lnTo>
                      <a:pt x="9" y="2472"/>
                    </a:lnTo>
                    <a:lnTo>
                      <a:pt x="9" y="2473"/>
                    </a:lnTo>
                    <a:lnTo>
                      <a:pt x="9" y="2473"/>
                    </a:lnTo>
                    <a:lnTo>
                      <a:pt x="9" y="2474"/>
                    </a:lnTo>
                    <a:lnTo>
                      <a:pt x="9" y="2475"/>
                    </a:lnTo>
                    <a:lnTo>
                      <a:pt x="9" y="2475"/>
                    </a:lnTo>
                    <a:lnTo>
                      <a:pt x="9" y="2476"/>
                    </a:lnTo>
                    <a:lnTo>
                      <a:pt x="9" y="2477"/>
                    </a:lnTo>
                    <a:lnTo>
                      <a:pt x="9" y="2485"/>
                    </a:lnTo>
                    <a:lnTo>
                      <a:pt x="8" y="2492"/>
                    </a:lnTo>
                    <a:lnTo>
                      <a:pt x="8" y="2500"/>
                    </a:lnTo>
                    <a:lnTo>
                      <a:pt x="6" y="2507"/>
                    </a:lnTo>
                    <a:lnTo>
                      <a:pt x="5" y="2515"/>
                    </a:lnTo>
                    <a:lnTo>
                      <a:pt x="4" y="2522"/>
                    </a:lnTo>
                    <a:lnTo>
                      <a:pt x="2" y="2529"/>
                    </a:lnTo>
                    <a:lnTo>
                      <a:pt x="0" y="2536"/>
                    </a:lnTo>
                    <a:close/>
                  </a:path>
                </a:pathLst>
              </a:custGeom>
              <a:gradFill rotWithShape="0">
                <a:gsLst>
                  <a:gs pos="0">
                    <a:schemeClr val="hlink"/>
                  </a:gs>
                  <a:gs pos="50000">
                    <a:schemeClr val="hlink">
                      <a:gamma/>
                      <a:tint val="33725"/>
                      <a:invGamma/>
                    </a:schemeClr>
                  </a:gs>
                  <a:gs pos="100000">
                    <a:schemeClr val="hlink"/>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a:p>
            </p:txBody>
          </p:sp>
          <p:sp>
            <p:nvSpPr>
              <p:cNvPr id="69610" name="Freeform 5098"/>
              <p:cNvSpPr>
                <a:spLocks noChangeAspect="1"/>
              </p:cNvSpPr>
              <p:nvPr/>
            </p:nvSpPr>
            <p:spPr bwMode="auto">
              <a:xfrm>
                <a:off x="4795" y="746"/>
                <a:ext cx="159" cy="960"/>
              </a:xfrm>
              <a:custGeom>
                <a:avLst/>
                <a:gdLst>
                  <a:gd name="T0" fmla="*/ 1 w 477"/>
                  <a:gd name="T1" fmla="*/ 246 h 2881"/>
                  <a:gd name="T2" fmla="*/ 1 w 477"/>
                  <a:gd name="T3" fmla="*/ 243 h 2881"/>
                  <a:gd name="T4" fmla="*/ 1 w 477"/>
                  <a:gd name="T5" fmla="*/ 240 h 2881"/>
                  <a:gd name="T6" fmla="*/ 2 w 477"/>
                  <a:gd name="T7" fmla="*/ 216 h 2881"/>
                  <a:gd name="T8" fmla="*/ 8 w 477"/>
                  <a:gd name="T9" fmla="*/ 180 h 2881"/>
                  <a:gd name="T10" fmla="*/ 19 w 477"/>
                  <a:gd name="T11" fmla="*/ 147 h 2881"/>
                  <a:gd name="T12" fmla="*/ 35 w 477"/>
                  <a:gd name="T13" fmla="*/ 116 h 2881"/>
                  <a:gd name="T14" fmla="*/ 55 w 477"/>
                  <a:gd name="T15" fmla="*/ 87 h 2881"/>
                  <a:gd name="T16" fmla="*/ 79 w 477"/>
                  <a:gd name="T17" fmla="*/ 63 h 2881"/>
                  <a:gd name="T18" fmla="*/ 106 w 477"/>
                  <a:gd name="T19" fmla="*/ 41 h 2881"/>
                  <a:gd name="T20" fmla="*/ 136 w 477"/>
                  <a:gd name="T21" fmla="*/ 23 h 2881"/>
                  <a:gd name="T22" fmla="*/ 168 w 477"/>
                  <a:gd name="T23" fmla="*/ 11 h 2881"/>
                  <a:gd name="T24" fmla="*/ 203 w 477"/>
                  <a:gd name="T25" fmla="*/ 3 h 2881"/>
                  <a:gd name="T26" fmla="*/ 239 w 477"/>
                  <a:gd name="T27" fmla="*/ 0 h 2881"/>
                  <a:gd name="T28" fmla="*/ 275 w 477"/>
                  <a:gd name="T29" fmla="*/ 3 h 2881"/>
                  <a:gd name="T30" fmla="*/ 310 w 477"/>
                  <a:gd name="T31" fmla="*/ 11 h 2881"/>
                  <a:gd name="T32" fmla="*/ 341 w 477"/>
                  <a:gd name="T33" fmla="*/ 23 h 2881"/>
                  <a:gd name="T34" fmla="*/ 372 w 477"/>
                  <a:gd name="T35" fmla="*/ 41 h 2881"/>
                  <a:gd name="T36" fmla="*/ 399 w 477"/>
                  <a:gd name="T37" fmla="*/ 63 h 2881"/>
                  <a:gd name="T38" fmla="*/ 422 w 477"/>
                  <a:gd name="T39" fmla="*/ 87 h 2881"/>
                  <a:gd name="T40" fmla="*/ 443 w 477"/>
                  <a:gd name="T41" fmla="*/ 116 h 2881"/>
                  <a:gd name="T42" fmla="*/ 459 w 477"/>
                  <a:gd name="T43" fmla="*/ 147 h 2881"/>
                  <a:gd name="T44" fmla="*/ 469 w 477"/>
                  <a:gd name="T45" fmla="*/ 180 h 2881"/>
                  <a:gd name="T46" fmla="*/ 476 w 477"/>
                  <a:gd name="T47" fmla="*/ 216 h 2881"/>
                  <a:gd name="T48" fmla="*/ 477 w 477"/>
                  <a:gd name="T49" fmla="*/ 240 h 2881"/>
                  <a:gd name="T50" fmla="*/ 477 w 477"/>
                  <a:gd name="T51" fmla="*/ 243 h 2881"/>
                  <a:gd name="T52" fmla="*/ 477 w 477"/>
                  <a:gd name="T53" fmla="*/ 246 h 2881"/>
                  <a:gd name="T54" fmla="*/ 477 w 477"/>
                  <a:gd name="T55" fmla="*/ 2643 h 2881"/>
                  <a:gd name="T56" fmla="*/ 476 w 477"/>
                  <a:gd name="T57" fmla="*/ 2645 h 2881"/>
                  <a:gd name="T58" fmla="*/ 476 w 477"/>
                  <a:gd name="T59" fmla="*/ 2647 h 2881"/>
                  <a:gd name="T60" fmla="*/ 476 w 477"/>
                  <a:gd name="T61" fmla="*/ 2649 h 2881"/>
                  <a:gd name="T62" fmla="*/ 472 w 477"/>
                  <a:gd name="T63" fmla="*/ 2684 h 2881"/>
                  <a:gd name="T64" fmla="*/ 465 w 477"/>
                  <a:gd name="T65" fmla="*/ 2717 h 2881"/>
                  <a:gd name="T66" fmla="*/ 452 w 477"/>
                  <a:gd name="T67" fmla="*/ 2749 h 2881"/>
                  <a:gd name="T68" fmla="*/ 435 w 477"/>
                  <a:gd name="T69" fmla="*/ 2778 h 2881"/>
                  <a:gd name="T70" fmla="*/ 414 w 477"/>
                  <a:gd name="T71" fmla="*/ 2805 h 2881"/>
                  <a:gd name="T72" fmla="*/ 388 w 477"/>
                  <a:gd name="T73" fmla="*/ 2828 h 2881"/>
                  <a:gd name="T74" fmla="*/ 361 w 477"/>
                  <a:gd name="T75" fmla="*/ 2847 h 2881"/>
                  <a:gd name="T76" fmla="*/ 330 w 477"/>
                  <a:gd name="T77" fmla="*/ 2862 h 2881"/>
                  <a:gd name="T78" fmla="*/ 297 w 477"/>
                  <a:gd name="T79" fmla="*/ 2874 h 2881"/>
                  <a:gd name="T80" fmla="*/ 262 w 477"/>
                  <a:gd name="T81" fmla="*/ 2879 h 2881"/>
                  <a:gd name="T82" fmla="*/ 225 w 477"/>
                  <a:gd name="T83" fmla="*/ 2880 h 2881"/>
                  <a:gd name="T84" fmla="*/ 189 w 477"/>
                  <a:gd name="T85" fmla="*/ 2876 h 2881"/>
                  <a:gd name="T86" fmla="*/ 156 w 477"/>
                  <a:gd name="T87" fmla="*/ 2866 h 2881"/>
                  <a:gd name="T88" fmla="*/ 124 w 477"/>
                  <a:gd name="T89" fmla="*/ 2852 h 2881"/>
                  <a:gd name="T90" fmla="*/ 96 w 477"/>
                  <a:gd name="T91" fmla="*/ 2834 h 2881"/>
                  <a:gd name="T92" fmla="*/ 69 w 477"/>
                  <a:gd name="T93" fmla="*/ 2813 h 2881"/>
                  <a:gd name="T94" fmla="*/ 47 w 477"/>
                  <a:gd name="T95" fmla="*/ 2788 h 2881"/>
                  <a:gd name="T96" fmla="*/ 29 w 477"/>
                  <a:gd name="T97" fmla="*/ 2759 h 2881"/>
                  <a:gd name="T98" fmla="*/ 14 w 477"/>
                  <a:gd name="T99" fmla="*/ 2728 h 2881"/>
                  <a:gd name="T100" fmla="*/ 4 w 477"/>
                  <a:gd name="T101" fmla="*/ 2695 h 2881"/>
                  <a:gd name="T102" fmla="*/ 0 w 477"/>
                  <a:gd name="T103" fmla="*/ 2661 h 2881"/>
                  <a:gd name="T104" fmla="*/ 0 w 477"/>
                  <a:gd name="T105" fmla="*/ 2644 h 2881"/>
                  <a:gd name="T106" fmla="*/ 0 w 477"/>
                  <a:gd name="T107" fmla="*/ 2637 h 2881"/>
                  <a:gd name="T108" fmla="*/ 1 w 477"/>
                  <a:gd name="T109" fmla="*/ 2628 h 2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77" h="2881">
                    <a:moveTo>
                      <a:pt x="1" y="247"/>
                    </a:moveTo>
                    <a:lnTo>
                      <a:pt x="1" y="247"/>
                    </a:lnTo>
                    <a:lnTo>
                      <a:pt x="1" y="246"/>
                    </a:lnTo>
                    <a:lnTo>
                      <a:pt x="1" y="246"/>
                    </a:lnTo>
                    <a:lnTo>
                      <a:pt x="1" y="244"/>
                    </a:lnTo>
                    <a:lnTo>
                      <a:pt x="1" y="243"/>
                    </a:lnTo>
                    <a:lnTo>
                      <a:pt x="1" y="242"/>
                    </a:lnTo>
                    <a:lnTo>
                      <a:pt x="1" y="241"/>
                    </a:lnTo>
                    <a:lnTo>
                      <a:pt x="1" y="240"/>
                    </a:lnTo>
                    <a:lnTo>
                      <a:pt x="1" y="240"/>
                    </a:lnTo>
                    <a:lnTo>
                      <a:pt x="1" y="227"/>
                    </a:lnTo>
                    <a:lnTo>
                      <a:pt x="2" y="216"/>
                    </a:lnTo>
                    <a:lnTo>
                      <a:pt x="3" y="203"/>
                    </a:lnTo>
                    <a:lnTo>
                      <a:pt x="5" y="191"/>
                    </a:lnTo>
                    <a:lnTo>
                      <a:pt x="8" y="180"/>
                    </a:lnTo>
                    <a:lnTo>
                      <a:pt x="12" y="169"/>
                    </a:lnTo>
                    <a:lnTo>
                      <a:pt x="15" y="157"/>
                    </a:lnTo>
                    <a:lnTo>
                      <a:pt x="19" y="147"/>
                    </a:lnTo>
                    <a:lnTo>
                      <a:pt x="24" y="136"/>
                    </a:lnTo>
                    <a:lnTo>
                      <a:pt x="30" y="125"/>
                    </a:lnTo>
                    <a:lnTo>
                      <a:pt x="35" y="116"/>
                    </a:lnTo>
                    <a:lnTo>
                      <a:pt x="41" y="106"/>
                    </a:lnTo>
                    <a:lnTo>
                      <a:pt x="48" y="97"/>
                    </a:lnTo>
                    <a:lnTo>
                      <a:pt x="55" y="87"/>
                    </a:lnTo>
                    <a:lnTo>
                      <a:pt x="63" y="79"/>
                    </a:lnTo>
                    <a:lnTo>
                      <a:pt x="70" y="70"/>
                    </a:lnTo>
                    <a:lnTo>
                      <a:pt x="79" y="63"/>
                    </a:lnTo>
                    <a:lnTo>
                      <a:pt x="87" y="55"/>
                    </a:lnTo>
                    <a:lnTo>
                      <a:pt x="97" y="48"/>
                    </a:lnTo>
                    <a:lnTo>
                      <a:pt x="106" y="41"/>
                    </a:lnTo>
                    <a:lnTo>
                      <a:pt x="116" y="35"/>
                    </a:lnTo>
                    <a:lnTo>
                      <a:pt x="125" y="29"/>
                    </a:lnTo>
                    <a:lnTo>
                      <a:pt x="136" y="23"/>
                    </a:lnTo>
                    <a:lnTo>
                      <a:pt x="147" y="19"/>
                    </a:lnTo>
                    <a:lnTo>
                      <a:pt x="157" y="15"/>
                    </a:lnTo>
                    <a:lnTo>
                      <a:pt x="168" y="11"/>
                    </a:lnTo>
                    <a:lnTo>
                      <a:pt x="180" y="7"/>
                    </a:lnTo>
                    <a:lnTo>
                      <a:pt x="191" y="5"/>
                    </a:lnTo>
                    <a:lnTo>
                      <a:pt x="203" y="3"/>
                    </a:lnTo>
                    <a:lnTo>
                      <a:pt x="215" y="1"/>
                    </a:lnTo>
                    <a:lnTo>
                      <a:pt x="227" y="0"/>
                    </a:lnTo>
                    <a:lnTo>
                      <a:pt x="239" y="0"/>
                    </a:lnTo>
                    <a:lnTo>
                      <a:pt x="251" y="0"/>
                    </a:lnTo>
                    <a:lnTo>
                      <a:pt x="263" y="1"/>
                    </a:lnTo>
                    <a:lnTo>
                      <a:pt x="275" y="3"/>
                    </a:lnTo>
                    <a:lnTo>
                      <a:pt x="287" y="5"/>
                    </a:lnTo>
                    <a:lnTo>
                      <a:pt x="298" y="7"/>
                    </a:lnTo>
                    <a:lnTo>
                      <a:pt x="310" y="11"/>
                    </a:lnTo>
                    <a:lnTo>
                      <a:pt x="320" y="15"/>
                    </a:lnTo>
                    <a:lnTo>
                      <a:pt x="332" y="19"/>
                    </a:lnTo>
                    <a:lnTo>
                      <a:pt x="341" y="23"/>
                    </a:lnTo>
                    <a:lnTo>
                      <a:pt x="352" y="29"/>
                    </a:lnTo>
                    <a:lnTo>
                      <a:pt x="363" y="35"/>
                    </a:lnTo>
                    <a:lnTo>
                      <a:pt x="372" y="41"/>
                    </a:lnTo>
                    <a:lnTo>
                      <a:pt x="381" y="48"/>
                    </a:lnTo>
                    <a:lnTo>
                      <a:pt x="390" y="55"/>
                    </a:lnTo>
                    <a:lnTo>
                      <a:pt x="399" y="63"/>
                    </a:lnTo>
                    <a:lnTo>
                      <a:pt x="407" y="70"/>
                    </a:lnTo>
                    <a:lnTo>
                      <a:pt x="415" y="79"/>
                    </a:lnTo>
                    <a:lnTo>
                      <a:pt x="422" y="87"/>
                    </a:lnTo>
                    <a:lnTo>
                      <a:pt x="430" y="97"/>
                    </a:lnTo>
                    <a:lnTo>
                      <a:pt x="436" y="106"/>
                    </a:lnTo>
                    <a:lnTo>
                      <a:pt x="443" y="116"/>
                    </a:lnTo>
                    <a:lnTo>
                      <a:pt x="448" y="125"/>
                    </a:lnTo>
                    <a:lnTo>
                      <a:pt x="453" y="136"/>
                    </a:lnTo>
                    <a:lnTo>
                      <a:pt x="459" y="147"/>
                    </a:lnTo>
                    <a:lnTo>
                      <a:pt x="463" y="157"/>
                    </a:lnTo>
                    <a:lnTo>
                      <a:pt x="466" y="169"/>
                    </a:lnTo>
                    <a:lnTo>
                      <a:pt x="469" y="180"/>
                    </a:lnTo>
                    <a:lnTo>
                      <a:pt x="472" y="191"/>
                    </a:lnTo>
                    <a:lnTo>
                      <a:pt x="475" y="203"/>
                    </a:lnTo>
                    <a:lnTo>
                      <a:pt x="476" y="216"/>
                    </a:lnTo>
                    <a:lnTo>
                      <a:pt x="477" y="227"/>
                    </a:lnTo>
                    <a:lnTo>
                      <a:pt x="477" y="240"/>
                    </a:lnTo>
                    <a:lnTo>
                      <a:pt x="477" y="240"/>
                    </a:lnTo>
                    <a:lnTo>
                      <a:pt x="477" y="241"/>
                    </a:lnTo>
                    <a:lnTo>
                      <a:pt x="477" y="242"/>
                    </a:lnTo>
                    <a:lnTo>
                      <a:pt x="477" y="243"/>
                    </a:lnTo>
                    <a:lnTo>
                      <a:pt x="477" y="244"/>
                    </a:lnTo>
                    <a:lnTo>
                      <a:pt x="477" y="246"/>
                    </a:lnTo>
                    <a:lnTo>
                      <a:pt x="477" y="246"/>
                    </a:lnTo>
                    <a:lnTo>
                      <a:pt x="477" y="247"/>
                    </a:lnTo>
                    <a:lnTo>
                      <a:pt x="477" y="247"/>
                    </a:lnTo>
                    <a:lnTo>
                      <a:pt x="477" y="2643"/>
                    </a:lnTo>
                    <a:lnTo>
                      <a:pt x="476" y="2643"/>
                    </a:lnTo>
                    <a:lnTo>
                      <a:pt x="476" y="2644"/>
                    </a:lnTo>
                    <a:lnTo>
                      <a:pt x="476" y="2645"/>
                    </a:lnTo>
                    <a:lnTo>
                      <a:pt x="476" y="2645"/>
                    </a:lnTo>
                    <a:lnTo>
                      <a:pt x="476" y="2646"/>
                    </a:lnTo>
                    <a:lnTo>
                      <a:pt x="476" y="2647"/>
                    </a:lnTo>
                    <a:lnTo>
                      <a:pt x="476" y="2647"/>
                    </a:lnTo>
                    <a:lnTo>
                      <a:pt x="476" y="2648"/>
                    </a:lnTo>
                    <a:lnTo>
                      <a:pt x="476" y="2649"/>
                    </a:lnTo>
                    <a:lnTo>
                      <a:pt x="476" y="2661"/>
                    </a:lnTo>
                    <a:lnTo>
                      <a:pt x="475" y="2673"/>
                    </a:lnTo>
                    <a:lnTo>
                      <a:pt x="472" y="2684"/>
                    </a:lnTo>
                    <a:lnTo>
                      <a:pt x="470" y="2695"/>
                    </a:lnTo>
                    <a:lnTo>
                      <a:pt x="468" y="2707"/>
                    </a:lnTo>
                    <a:lnTo>
                      <a:pt x="465" y="2717"/>
                    </a:lnTo>
                    <a:lnTo>
                      <a:pt x="461" y="2728"/>
                    </a:lnTo>
                    <a:lnTo>
                      <a:pt x="456" y="2739"/>
                    </a:lnTo>
                    <a:lnTo>
                      <a:pt x="452" y="2749"/>
                    </a:lnTo>
                    <a:lnTo>
                      <a:pt x="447" y="2759"/>
                    </a:lnTo>
                    <a:lnTo>
                      <a:pt x="440" y="2768"/>
                    </a:lnTo>
                    <a:lnTo>
                      <a:pt x="435" y="2778"/>
                    </a:lnTo>
                    <a:lnTo>
                      <a:pt x="428" y="2788"/>
                    </a:lnTo>
                    <a:lnTo>
                      <a:pt x="421" y="2796"/>
                    </a:lnTo>
                    <a:lnTo>
                      <a:pt x="414" y="2805"/>
                    </a:lnTo>
                    <a:lnTo>
                      <a:pt x="405" y="2813"/>
                    </a:lnTo>
                    <a:lnTo>
                      <a:pt x="398" y="2820"/>
                    </a:lnTo>
                    <a:lnTo>
                      <a:pt x="388" y="2828"/>
                    </a:lnTo>
                    <a:lnTo>
                      <a:pt x="380" y="2834"/>
                    </a:lnTo>
                    <a:lnTo>
                      <a:pt x="370" y="2841"/>
                    </a:lnTo>
                    <a:lnTo>
                      <a:pt x="361" y="2847"/>
                    </a:lnTo>
                    <a:lnTo>
                      <a:pt x="351" y="2852"/>
                    </a:lnTo>
                    <a:lnTo>
                      <a:pt x="340" y="2858"/>
                    </a:lnTo>
                    <a:lnTo>
                      <a:pt x="330" y="2862"/>
                    </a:lnTo>
                    <a:lnTo>
                      <a:pt x="319" y="2866"/>
                    </a:lnTo>
                    <a:lnTo>
                      <a:pt x="308" y="2870"/>
                    </a:lnTo>
                    <a:lnTo>
                      <a:pt x="297" y="2874"/>
                    </a:lnTo>
                    <a:lnTo>
                      <a:pt x="285" y="2876"/>
                    </a:lnTo>
                    <a:lnTo>
                      <a:pt x="273" y="2878"/>
                    </a:lnTo>
                    <a:lnTo>
                      <a:pt x="262" y="2879"/>
                    </a:lnTo>
                    <a:lnTo>
                      <a:pt x="250" y="2880"/>
                    </a:lnTo>
                    <a:lnTo>
                      <a:pt x="237" y="2881"/>
                    </a:lnTo>
                    <a:lnTo>
                      <a:pt x="225" y="2880"/>
                    </a:lnTo>
                    <a:lnTo>
                      <a:pt x="214" y="2879"/>
                    </a:lnTo>
                    <a:lnTo>
                      <a:pt x="201" y="2878"/>
                    </a:lnTo>
                    <a:lnTo>
                      <a:pt x="189" y="2876"/>
                    </a:lnTo>
                    <a:lnTo>
                      <a:pt x="179" y="2874"/>
                    </a:lnTo>
                    <a:lnTo>
                      <a:pt x="167" y="2870"/>
                    </a:lnTo>
                    <a:lnTo>
                      <a:pt x="156" y="2866"/>
                    </a:lnTo>
                    <a:lnTo>
                      <a:pt x="146" y="2862"/>
                    </a:lnTo>
                    <a:lnTo>
                      <a:pt x="135" y="2858"/>
                    </a:lnTo>
                    <a:lnTo>
                      <a:pt x="124" y="2852"/>
                    </a:lnTo>
                    <a:lnTo>
                      <a:pt x="115" y="2847"/>
                    </a:lnTo>
                    <a:lnTo>
                      <a:pt x="105" y="2841"/>
                    </a:lnTo>
                    <a:lnTo>
                      <a:pt x="96" y="2834"/>
                    </a:lnTo>
                    <a:lnTo>
                      <a:pt x="86" y="2828"/>
                    </a:lnTo>
                    <a:lnTo>
                      <a:pt x="78" y="2820"/>
                    </a:lnTo>
                    <a:lnTo>
                      <a:pt x="69" y="2813"/>
                    </a:lnTo>
                    <a:lnTo>
                      <a:pt x="62" y="2805"/>
                    </a:lnTo>
                    <a:lnTo>
                      <a:pt x="54" y="2796"/>
                    </a:lnTo>
                    <a:lnTo>
                      <a:pt x="47" y="2788"/>
                    </a:lnTo>
                    <a:lnTo>
                      <a:pt x="40" y="2778"/>
                    </a:lnTo>
                    <a:lnTo>
                      <a:pt x="34" y="2768"/>
                    </a:lnTo>
                    <a:lnTo>
                      <a:pt x="29" y="2759"/>
                    </a:lnTo>
                    <a:lnTo>
                      <a:pt x="23" y="2749"/>
                    </a:lnTo>
                    <a:lnTo>
                      <a:pt x="18" y="2739"/>
                    </a:lnTo>
                    <a:lnTo>
                      <a:pt x="14" y="2728"/>
                    </a:lnTo>
                    <a:lnTo>
                      <a:pt x="10" y="2717"/>
                    </a:lnTo>
                    <a:lnTo>
                      <a:pt x="7" y="2707"/>
                    </a:lnTo>
                    <a:lnTo>
                      <a:pt x="4" y="2695"/>
                    </a:lnTo>
                    <a:lnTo>
                      <a:pt x="2" y="2684"/>
                    </a:lnTo>
                    <a:lnTo>
                      <a:pt x="1" y="2673"/>
                    </a:lnTo>
                    <a:lnTo>
                      <a:pt x="0" y="2661"/>
                    </a:lnTo>
                    <a:lnTo>
                      <a:pt x="0" y="2649"/>
                    </a:lnTo>
                    <a:lnTo>
                      <a:pt x="0" y="2646"/>
                    </a:lnTo>
                    <a:lnTo>
                      <a:pt x="0" y="2644"/>
                    </a:lnTo>
                    <a:lnTo>
                      <a:pt x="0" y="2641"/>
                    </a:lnTo>
                    <a:lnTo>
                      <a:pt x="0" y="2639"/>
                    </a:lnTo>
                    <a:lnTo>
                      <a:pt x="0" y="2637"/>
                    </a:lnTo>
                    <a:lnTo>
                      <a:pt x="0" y="2633"/>
                    </a:lnTo>
                    <a:lnTo>
                      <a:pt x="0" y="2631"/>
                    </a:lnTo>
                    <a:lnTo>
                      <a:pt x="1" y="2628"/>
                    </a:lnTo>
                    <a:lnTo>
                      <a:pt x="1" y="247"/>
                    </a:lnTo>
                  </a:path>
                </a:pathLst>
              </a:custGeom>
              <a:gradFill rotWithShape="0">
                <a:gsLst>
                  <a:gs pos="0">
                    <a:schemeClr val="hlink"/>
                  </a:gs>
                  <a:gs pos="50000">
                    <a:schemeClr val="hlink">
                      <a:gamma/>
                      <a:tint val="33725"/>
                      <a:invGamma/>
                    </a:schemeClr>
                  </a:gs>
                  <a:gs pos="100000">
                    <a:schemeClr val="hlink"/>
                  </a:gs>
                </a:gsLst>
                <a:lin ang="0" scaled="1"/>
              </a:gradFill>
              <a:ln w="1588">
                <a:solidFill>
                  <a:srgbClr val="1F1A17"/>
                </a:solidFill>
                <a:prstDash val="solid"/>
                <a:round/>
                <a:headEnd/>
                <a:tailEnd/>
              </a:ln>
            </p:spPr>
            <p:txBody>
              <a:bodyPr/>
              <a:lstStyle/>
              <a:p>
                <a:pPr>
                  <a:defRPr/>
                </a:pPr>
                <a:endParaRPr lang="en-US"/>
              </a:p>
            </p:txBody>
          </p:sp>
        </p:grpSp>
        <p:sp>
          <p:nvSpPr>
            <p:cNvPr id="386517" name="Rectangle 5099"/>
            <p:cNvSpPr>
              <a:spLocks noChangeAspect="1" noChangeArrowheads="1"/>
            </p:cNvSpPr>
            <p:nvPr/>
          </p:nvSpPr>
          <p:spPr bwMode="auto">
            <a:xfrm>
              <a:off x="4519" y="1511"/>
              <a:ext cx="401"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900">
                  <a:latin typeface="Arial Unicode MS" panose="020B0604020202020204" pitchFamily="34" charset="-128"/>
                  <a:ea typeface="Arial Unicode MS" panose="020B0604020202020204" pitchFamily="34" charset="-128"/>
                  <a:cs typeface="Arial Unicode MS" panose="020B0604020202020204" pitchFamily="34" charset="-128"/>
                </a:rPr>
                <a:t>O</a:t>
              </a:r>
              <a:r>
                <a:rPr lang="en-US" altLang="en-US" sz="900" baseline="-25000">
                  <a:latin typeface="Arial Unicode MS" panose="020B0604020202020204" pitchFamily="34" charset="-128"/>
                  <a:ea typeface="Arial Unicode MS" panose="020B0604020202020204" pitchFamily="34" charset="-128"/>
                  <a:cs typeface="Arial Unicode MS" panose="020B0604020202020204" pitchFamily="34" charset="-128"/>
                </a:rPr>
                <a:t>2</a:t>
              </a:r>
              <a:r>
                <a:rPr lang="en-US" altLang="en-US" sz="900">
                  <a:latin typeface="Arial Unicode MS" panose="020B0604020202020204" pitchFamily="34" charset="-128"/>
                  <a:ea typeface="Arial Unicode MS" panose="020B0604020202020204" pitchFamily="34" charset="-128"/>
                  <a:cs typeface="Arial Unicode MS" panose="020B0604020202020204" pitchFamily="34" charset="-128"/>
                </a:rPr>
                <a:t>  WASHER</a:t>
              </a:r>
              <a:endParaRPr lang="en-US" altLang="en-US" sz="1400" b="1">
                <a:latin typeface="Arial Unicode MS" panose="020B0604020202020204" pitchFamily="34" charset="-128"/>
                <a:ea typeface="Arial Unicode MS" panose="020B0604020202020204" pitchFamily="34" charset="-128"/>
                <a:cs typeface="Arial Unicode MS" panose="020B0604020202020204" pitchFamily="34" charset="-128"/>
              </a:endParaRPr>
            </a:p>
          </p:txBody>
        </p:sp>
        <p:cxnSp>
          <p:nvCxnSpPr>
            <p:cNvPr id="386518" name="AutoShape 5100"/>
            <p:cNvCxnSpPr>
              <a:cxnSpLocks noChangeAspect="1" noChangeShapeType="1"/>
              <a:endCxn id="391151" idx="4"/>
            </p:cNvCxnSpPr>
            <p:nvPr/>
          </p:nvCxnSpPr>
          <p:spPr bwMode="auto">
            <a:xfrm rot="5400000">
              <a:off x="5103" y="1274"/>
              <a:ext cx="255" cy="73"/>
            </a:xfrm>
            <a:prstGeom prst="bentConnector2">
              <a:avLst/>
            </a:prstGeom>
            <a:noFill/>
            <a:ln w="12700">
              <a:solidFill>
                <a:schemeClr val="tx2"/>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86519" name="Text Box 5101"/>
            <p:cNvSpPr txBox="1">
              <a:spLocks noChangeAspect="1" noChangeArrowheads="1"/>
            </p:cNvSpPr>
            <p:nvPr/>
          </p:nvSpPr>
          <p:spPr bwMode="auto">
            <a:xfrm>
              <a:off x="4070" y="1358"/>
              <a:ext cx="261" cy="17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200" b="1">
                  <a:ea typeface="Arial Unicode MS" panose="020B0604020202020204" pitchFamily="34" charset="-128"/>
                  <a:cs typeface="Arial Unicode MS" panose="020B0604020202020204" pitchFamily="34" charset="-128"/>
                </a:rPr>
                <a:t>1</a:t>
              </a:r>
              <a:r>
                <a:rPr lang="en-US" altLang="en-US" sz="1200" b="1" baseline="30000">
                  <a:ea typeface="Arial Unicode MS" panose="020B0604020202020204" pitchFamily="34" charset="-128"/>
                  <a:cs typeface="Arial Unicode MS" panose="020B0604020202020204" pitchFamily="34" charset="-128"/>
                </a:rPr>
                <a:t>st</a:t>
              </a:r>
              <a:endParaRPr lang="th-TH" altLang="en-US" sz="1200" b="1" baseline="30000">
                <a:ea typeface="Arial Unicode MS" panose="020B0604020202020204" pitchFamily="34" charset="-128"/>
                <a:cs typeface="Arial Unicode MS" panose="020B0604020202020204" pitchFamily="34" charset="-128"/>
              </a:endParaRPr>
            </a:p>
          </p:txBody>
        </p:sp>
        <p:sp>
          <p:nvSpPr>
            <p:cNvPr id="386520" name="Text Box 5102"/>
            <p:cNvSpPr txBox="1">
              <a:spLocks noChangeAspect="1" noChangeArrowheads="1"/>
            </p:cNvSpPr>
            <p:nvPr/>
          </p:nvSpPr>
          <p:spPr bwMode="auto">
            <a:xfrm>
              <a:off x="4288" y="1363"/>
              <a:ext cx="261" cy="17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200" b="1">
                  <a:ea typeface="Arial Unicode MS" panose="020B0604020202020204" pitchFamily="34" charset="-128"/>
                  <a:cs typeface="Arial Unicode MS" panose="020B0604020202020204" pitchFamily="34" charset="-128"/>
                </a:rPr>
                <a:t>2</a:t>
              </a:r>
              <a:r>
                <a:rPr lang="en-US" altLang="en-US" sz="1200" b="1" baseline="30000">
                  <a:ea typeface="Arial Unicode MS" panose="020B0604020202020204" pitchFamily="34" charset="-128"/>
                  <a:cs typeface="Arial Unicode MS" panose="020B0604020202020204" pitchFamily="34" charset="-128"/>
                </a:rPr>
                <a:t>nd</a:t>
              </a:r>
              <a:endParaRPr lang="th-TH" altLang="en-US" sz="1200" b="1" baseline="30000">
                <a:ea typeface="Arial Unicode MS" panose="020B0604020202020204" pitchFamily="34" charset="-128"/>
                <a:cs typeface="Arial Unicode MS" panose="020B0604020202020204" pitchFamily="34" charset="-128"/>
              </a:endParaRPr>
            </a:p>
          </p:txBody>
        </p:sp>
        <p:cxnSp>
          <p:nvCxnSpPr>
            <p:cNvPr id="386521" name="AutoShape 5103"/>
            <p:cNvCxnSpPr>
              <a:cxnSpLocks noChangeAspect="1" noChangeShapeType="1"/>
              <a:stCxn id="389740" idx="5"/>
              <a:endCxn id="66050" idx="42"/>
            </p:cNvCxnSpPr>
            <p:nvPr/>
          </p:nvCxnSpPr>
          <p:spPr bwMode="auto">
            <a:xfrm>
              <a:off x="3962" y="1471"/>
              <a:ext cx="217" cy="365"/>
            </a:xfrm>
            <a:prstGeom prst="bentConnector4">
              <a:avLst>
                <a:gd name="adj1" fmla="val -2431"/>
                <a:gd name="adj2" fmla="val 118796"/>
              </a:avLst>
            </a:prstGeom>
            <a:noFill/>
            <a:ln w="19050">
              <a:solidFill>
                <a:srgbClr val="FF33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522" name="AutoShape 5104"/>
            <p:cNvCxnSpPr>
              <a:cxnSpLocks noChangeAspect="1" noChangeShapeType="1"/>
              <a:stCxn id="66050" idx="13"/>
              <a:endCxn id="69610" idx="41"/>
            </p:cNvCxnSpPr>
            <p:nvPr/>
          </p:nvCxnSpPr>
          <p:spPr bwMode="auto">
            <a:xfrm rot="5400000" flipV="1">
              <a:off x="3901" y="1358"/>
              <a:ext cx="796" cy="213"/>
            </a:xfrm>
            <a:prstGeom prst="bentConnector5">
              <a:avLst>
                <a:gd name="adj1" fmla="val -6315"/>
                <a:gd name="adj2" fmla="val 49380"/>
                <a:gd name="adj3" fmla="val 108412"/>
              </a:avLst>
            </a:prstGeom>
            <a:noFill/>
            <a:ln w="19050">
              <a:solidFill>
                <a:srgbClr val="FF33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523" name="AutoShape 5105"/>
            <p:cNvCxnSpPr>
              <a:cxnSpLocks noChangeAspect="1" noChangeShapeType="1"/>
              <a:stCxn id="69610" idx="13"/>
              <a:endCxn id="389945" idx="7"/>
            </p:cNvCxnSpPr>
            <p:nvPr/>
          </p:nvCxnSpPr>
          <p:spPr bwMode="auto">
            <a:xfrm rot="5400000" flipV="1">
              <a:off x="4296" y="1159"/>
              <a:ext cx="406" cy="179"/>
            </a:xfrm>
            <a:prstGeom prst="bentConnector4">
              <a:avLst>
                <a:gd name="adj1" fmla="val -9329"/>
                <a:gd name="adj2" fmla="val 68472"/>
              </a:avLst>
            </a:prstGeom>
            <a:noFill/>
            <a:ln w="19050">
              <a:solidFill>
                <a:srgbClr val="FF33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524" name="AutoShape 5106"/>
            <p:cNvCxnSpPr>
              <a:cxnSpLocks noChangeAspect="1" noChangeShapeType="1"/>
              <a:stCxn id="389945" idx="5"/>
            </p:cNvCxnSpPr>
            <p:nvPr/>
          </p:nvCxnSpPr>
          <p:spPr bwMode="auto">
            <a:xfrm>
              <a:off x="4792" y="1452"/>
              <a:ext cx="1" cy="430"/>
            </a:xfrm>
            <a:prstGeom prst="straightConnector1">
              <a:avLst/>
            </a:prstGeom>
            <a:noFill/>
            <a:ln w="1905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525" name="AutoShape 5107"/>
            <p:cNvCxnSpPr>
              <a:cxnSpLocks noChangeAspect="1" noChangeShapeType="1"/>
            </p:cNvCxnSpPr>
            <p:nvPr/>
          </p:nvCxnSpPr>
          <p:spPr bwMode="auto">
            <a:xfrm rot="-5400000">
              <a:off x="4649" y="1548"/>
              <a:ext cx="472" cy="186"/>
            </a:xfrm>
            <a:prstGeom prst="bentConnector3">
              <a:avLst>
                <a:gd name="adj1" fmla="val -375"/>
              </a:avLst>
            </a:prstGeom>
            <a:noFill/>
            <a:ln w="19050">
              <a:solidFill>
                <a:srgbClr val="FF33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526" name="AutoShape 5108"/>
            <p:cNvCxnSpPr>
              <a:cxnSpLocks noChangeAspect="1" noChangeShapeType="1"/>
              <a:endCxn id="389842" idx="1"/>
            </p:cNvCxnSpPr>
            <p:nvPr/>
          </p:nvCxnSpPr>
          <p:spPr bwMode="auto">
            <a:xfrm rot="5400000" flipH="1">
              <a:off x="4466" y="1529"/>
              <a:ext cx="707" cy="201"/>
            </a:xfrm>
            <a:prstGeom prst="bentConnector3">
              <a:avLst>
                <a:gd name="adj1" fmla="val 117931"/>
              </a:avLst>
            </a:prstGeom>
            <a:noFill/>
            <a:ln w="12700">
              <a:solidFill>
                <a:schemeClr val="tx2"/>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527" name="AutoShape 5109"/>
            <p:cNvCxnSpPr>
              <a:cxnSpLocks noChangeAspect="1" noChangeShapeType="1"/>
              <a:endCxn id="391150" idx="3"/>
            </p:cNvCxnSpPr>
            <p:nvPr/>
          </p:nvCxnSpPr>
          <p:spPr bwMode="auto">
            <a:xfrm rot="-5400000">
              <a:off x="4723" y="1646"/>
              <a:ext cx="534" cy="139"/>
            </a:xfrm>
            <a:prstGeom prst="bentConnector3">
              <a:avLst>
                <a:gd name="adj1" fmla="val -662"/>
              </a:avLst>
            </a:prstGeom>
            <a:noFill/>
            <a:ln w="12700">
              <a:solidFill>
                <a:schemeClr val="tx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528" name="AutoShape 5110"/>
            <p:cNvCxnSpPr>
              <a:cxnSpLocks noChangeAspect="1" noChangeShapeType="1"/>
              <a:stCxn id="386517" idx="2"/>
              <a:endCxn id="389637" idx="5"/>
            </p:cNvCxnSpPr>
            <p:nvPr/>
          </p:nvCxnSpPr>
          <p:spPr bwMode="auto">
            <a:xfrm rot="16200000" flipV="1">
              <a:off x="4165" y="1032"/>
              <a:ext cx="298" cy="812"/>
            </a:xfrm>
            <a:prstGeom prst="bentConnector5">
              <a:avLst>
                <a:gd name="adj1" fmla="val -144676"/>
                <a:gd name="adj2" fmla="val 81884"/>
                <a:gd name="adj3" fmla="val 144083"/>
              </a:avLst>
            </a:prstGeom>
            <a:noFill/>
            <a:ln w="12700">
              <a:solidFill>
                <a:srgbClr val="FF99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529" name="AutoShape 5111"/>
            <p:cNvCxnSpPr>
              <a:cxnSpLocks noChangeAspect="1" noChangeShapeType="1"/>
              <a:stCxn id="386517" idx="2"/>
              <a:endCxn id="389945" idx="2"/>
            </p:cNvCxnSpPr>
            <p:nvPr/>
          </p:nvCxnSpPr>
          <p:spPr bwMode="auto">
            <a:xfrm flipH="1" flipV="1">
              <a:off x="4716" y="1381"/>
              <a:ext cx="4" cy="206"/>
            </a:xfrm>
            <a:prstGeom prst="straightConnector1">
              <a:avLst/>
            </a:prstGeom>
            <a:noFill/>
            <a:ln w="127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530" name="AutoShape 5112"/>
            <p:cNvCxnSpPr>
              <a:cxnSpLocks noChangeAspect="1" noChangeShapeType="1"/>
              <a:stCxn id="388131" idx="2"/>
              <a:endCxn id="65632" idx="20"/>
            </p:cNvCxnSpPr>
            <p:nvPr/>
          </p:nvCxnSpPr>
          <p:spPr bwMode="auto">
            <a:xfrm rot="-5400000" flipH="1" flipV="1">
              <a:off x="3038" y="1340"/>
              <a:ext cx="501" cy="617"/>
            </a:xfrm>
            <a:prstGeom prst="bentConnector5">
              <a:avLst>
                <a:gd name="adj1" fmla="val 120000"/>
                <a:gd name="adj2" fmla="val 52926"/>
                <a:gd name="adj3" fmla="val 120523"/>
              </a:avLst>
            </a:prstGeom>
            <a:noFill/>
            <a:ln w="12700">
              <a:solidFill>
                <a:srgbClr val="996633"/>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531" name="AutoShape 5113"/>
            <p:cNvCxnSpPr>
              <a:cxnSpLocks noChangeAspect="1" noChangeShapeType="1"/>
              <a:stCxn id="67896" idx="3"/>
              <a:endCxn id="388131" idx="7"/>
            </p:cNvCxnSpPr>
            <p:nvPr/>
          </p:nvCxnSpPr>
          <p:spPr bwMode="auto">
            <a:xfrm flipV="1">
              <a:off x="3378" y="1470"/>
              <a:ext cx="83" cy="157"/>
            </a:xfrm>
            <a:prstGeom prst="bentConnector3">
              <a:avLst>
                <a:gd name="adj1" fmla="val 34042"/>
              </a:avLst>
            </a:prstGeom>
            <a:noFill/>
            <a:ln w="19050">
              <a:solidFill>
                <a:srgbClr val="FF33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86051" name="Text Box 5125"/>
          <p:cNvSpPr txBox="1">
            <a:spLocks noChangeArrowheads="1"/>
          </p:cNvSpPr>
          <p:nvPr/>
        </p:nvSpPr>
        <p:spPr bwMode="auto">
          <a:xfrm>
            <a:off x="447675" y="211138"/>
            <a:ext cx="7488238" cy="893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b="1"/>
              <a:t>Process Flow Diagram – SCL (Double Stage)</a:t>
            </a:r>
            <a:endParaRPr lang="en-US" altLang="en-US" sz="2400" b="1"/>
          </a:p>
          <a:p>
            <a:pPr>
              <a:spcBef>
                <a:spcPct val="0"/>
              </a:spcBef>
              <a:buFontTx/>
              <a:buNone/>
            </a:pPr>
            <a:r>
              <a:rPr lang="en-US" altLang="en-US" sz="2400" b="1"/>
              <a:t>(2006 – present)</a:t>
            </a:r>
            <a:endParaRPr lang="th-TH" altLang="en-US" sz="2800" b="1"/>
          </a:p>
        </p:txBody>
      </p:sp>
    </p:spTree>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1170" name="Text Box 2"/>
          <p:cNvSpPr txBox="1">
            <a:spLocks noChangeArrowheads="1"/>
          </p:cNvSpPr>
          <p:nvPr/>
        </p:nvSpPr>
        <p:spPr bwMode="auto">
          <a:xfrm>
            <a:off x="647700" y="536575"/>
            <a:ext cx="5372100"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Oxygen Delignification Outline</a:t>
            </a:r>
            <a:endParaRPr lang="th-TH" altLang="en-US" b="1"/>
          </a:p>
        </p:txBody>
      </p:sp>
      <p:sp>
        <p:nvSpPr>
          <p:cNvPr id="391171" name="Text Box 3"/>
          <p:cNvSpPr txBox="1">
            <a:spLocks noChangeArrowheads="1"/>
          </p:cNvSpPr>
          <p:nvPr/>
        </p:nvSpPr>
        <p:spPr bwMode="auto">
          <a:xfrm>
            <a:off x="574675" y="1473200"/>
            <a:ext cx="6426200" cy="3743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Char char="•"/>
            </a:pPr>
            <a:r>
              <a:rPr lang="en-US" altLang="en-US" sz="2400">
                <a:solidFill>
                  <a:srgbClr val="DDDDDD"/>
                </a:solidFill>
              </a:rPr>
              <a:t> Objective of Oxygen Delignification &amp; Benefit</a:t>
            </a:r>
          </a:p>
          <a:p>
            <a:pPr>
              <a:spcBef>
                <a:spcPct val="0"/>
              </a:spcBef>
              <a:buFontTx/>
              <a:buNone/>
            </a:pPr>
            <a:endParaRPr lang="en-US" altLang="en-US" sz="2400">
              <a:solidFill>
                <a:srgbClr val="DDDDDD"/>
              </a:solidFill>
            </a:endParaRPr>
          </a:p>
          <a:p>
            <a:pPr>
              <a:spcBef>
                <a:spcPct val="0"/>
              </a:spcBef>
              <a:buFontTx/>
              <a:buChar char="•"/>
            </a:pPr>
            <a:r>
              <a:rPr lang="en-US" altLang="en-US" sz="2400">
                <a:solidFill>
                  <a:srgbClr val="DDDDDD"/>
                </a:solidFill>
              </a:rPr>
              <a:t> Oxygen Delignification Process</a:t>
            </a:r>
          </a:p>
          <a:p>
            <a:pPr>
              <a:spcBef>
                <a:spcPct val="0"/>
              </a:spcBef>
              <a:buFontTx/>
              <a:buNone/>
            </a:pPr>
            <a:endParaRPr lang="en-US" altLang="en-US" sz="2400">
              <a:solidFill>
                <a:srgbClr val="DDDDDD"/>
              </a:solidFill>
            </a:endParaRPr>
          </a:p>
          <a:p>
            <a:pPr>
              <a:spcBef>
                <a:spcPct val="0"/>
              </a:spcBef>
              <a:buFontTx/>
              <a:buChar char="•"/>
            </a:pPr>
            <a:r>
              <a:rPr lang="en-US" altLang="en-US" sz="2400"/>
              <a:t> Double Stage Delignification</a:t>
            </a:r>
          </a:p>
          <a:p>
            <a:pPr>
              <a:spcBef>
                <a:spcPct val="0"/>
              </a:spcBef>
              <a:buFontTx/>
              <a:buChar char="•"/>
            </a:pPr>
            <a:endParaRPr lang="en-US" altLang="en-US" sz="2400"/>
          </a:p>
          <a:p>
            <a:pPr>
              <a:spcBef>
                <a:spcPct val="0"/>
              </a:spcBef>
              <a:buFontTx/>
              <a:buChar char="•"/>
            </a:pPr>
            <a:r>
              <a:rPr lang="en-US" altLang="en-US" sz="2400">
                <a:solidFill>
                  <a:srgbClr val="DDDDDD"/>
                </a:solidFill>
              </a:rPr>
              <a:t> Operation and Control</a:t>
            </a:r>
          </a:p>
          <a:p>
            <a:pPr>
              <a:spcBef>
                <a:spcPct val="0"/>
              </a:spcBef>
              <a:buFontTx/>
              <a:buChar char="•"/>
            </a:pPr>
            <a:endParaRPr lang="en-US" altLang="en-US" sz="2400">
              <a:solidFill>
                <a:srgbClr val="DDDDDD"/>
              </a:solidFill>
            </a:endParaRPr>
          </a:p>
          <a:p>
            <a:pPr>
              <a:spcBef>
                <a:spcPct val="0"/>
              </a:spcBef>
              <a:buFontTx/>
              <a:buChar char="•"/>
            </a:pPr>
            <a:endParaRPr lang="th-TH" altLang="en-US" sz="2400"/>
          </a:p>
          <a:p>
            <a:pPr>
              <a:spcBef>
                <a:spcPct val="0"/>
              </a:spcBef>
              <a:buFontTx/>
              <a:buChar char="-"/>
            </a:pPr>
            <a:endParaRPr lang="th-TH" altLang="en-US" sz="2400"/>
          </a:p>
        </p:txBody>
      </p:sp>
    </p:spTree>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2194" name="Text Box 5"/>
          <p:cNvSpPr txBox="1">
            <a:spLocks noChangeArrowheads="1"/>
          </p:cNvSpPr>
          <p:nvPr/>
        </p:nvSpPr>
        <p:spPr bwMode="auto">
          <a:xfrm>
            <a:off x="611188" y="654050"/>
            <a:ext cx="6354762" cy="585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Double Stage Oxygen Delignification</a:t>
            </a:r>
            <a:endParaRPr lang="th-TH" altLang="en-US" b="1"/>
          </a:p>
        </p:txBody>
      </p:sp>
      <p:pic>
        <p:nvPicPr>
          <p:cNvPr id="392195" name="Picture 4" descr="IL1906"/>
          <p:cNvPicPr>
            <a:picLocks noChangeAspect="1" noChangeArrowheads="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t="13666" b="22568"/>
          <a:stretch>
            <a:fillRect/>
          </a:stretch>
        </p:blipFill>
        <p:spPr bwMode="auto">
          <a:xfrm>
            <a:off x="444500" y="1933575"/>
            <a:ext cx="8208963" cy="3551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3218" name="Text Box 6"/>
          <p:cNvSpPr txBox="1">
            <a:spLocks noChangeArrowheads="1"/>
          </p:cNvSpPr>
          <p:nvPr/>
        </p:nvSpPr>
        <p:spPr bwMode="auto">
          <a:xfrm>
            <a:off x="355600" y="1895475"/>
            <a:ext cx="35258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a:t>Single Stage Delignification</a:t>
            </a:r>
            <a:endParaRPr lang="th-TH" altLang="en-US" sz="2000" b="1"/>
          </a:p>
        </p:txBody>
      </p:sp>
      <p:sp>
        <p:nvSpPr>
          <p:cNvPr id="393219" name="Text Box 7"/>
          <p:cNvSpPr txBox="1">
            <a:spLocks noChangeArrowheads="1"/>
          </p:cNvSpPr>
          <p:nvPr/>
        </p:nvSpPr>
        <p:spPr bwMode="auto">
          <a:xfrm>
            <a:off x="425450" y="4183063"/>
            <a:ext cx="19319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a:t>Double Stage </a:t>
            </a:r>
          </a:p>
          <a:p>
            <a:pPr>
              <a:spcBef>
                <a:spcPct val="0"/>
              </a:spcBef>
              <a:buFontTx/>
              <a:buNone/>
            </a:pPr>
            <a:r>
              <a:rPr lang="en-US" altLang="en-US" sz="2000" b="1"/>
              <a:t>Delignification</a:t>
            </a:r>
            <a:endParaRPr lang="th-TH" altLang="en-US" sz="2000" b="1"/>
          </a:p>
        </p:txBody>
      </p:sp>
      <p:sp>
        <p:nvSpPr>
          <p:cNvPr id="393220" name="Text Box 9"/>
          <p:cNvSpPr txBox="1">
            <a:spLocks noChangeArrowheads="1"/>
          </p:cNvSpPr>
          <p:nvPr/>
        </p:nvSpPr>
        <p:spPr bwMode="auto">
          <a:xfrm>
            <a:off x="511175" y="488950"/>
            <a:ext cx="7316788"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What Different compare with Single Stage</a:t>
            </a:r>
            <a:endParaRPr lang="th-TH" altLang="en-US" b="1"/>
          </a:p>
        </p:txBody>
      </p:sp>
      <p:grpSp>
        <p:nvGrpSpPr>
          <p:cNvPr id="393221" name="Group 2"/>
          <p:cNvGrpSpPr>
            <a:grpSpLocks/>
          </p:cNvGrpSpPr>
          <p:nvPr/>
        </p:nvGrpSpPr>
        <p:grpSpPr bwMode="auto">
          <a:xfrm>
            <a:off x="4140200" y="1628775"/>
            <a:ext cx="4159250" cy="2160588"/>
            <a:chOff x="431" y="346"/>
            <a:chExt cx="3345" cy="1996"/>
          </a:xfrm>
        </p:grpSpPr>
        <p:pic>
          <p:nvPicPr>
            <p:cNvPr id="393224" name="Picture 3" descr="IL1906"/>
            <p:cNvPicPr>
              <a:picLocks noChangeAspect="1" noChangeArrowheads="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t="15062" r="67551" b="23041"/>
            <a:stretch>
              <a:fillRect/>
            </a:stretch>
          </p:blipFill>
          <p:spPr bwMode="auto">
            <a:xfrm>
              <a:off x="431" y="346"/>
              <a:ext cx="1542" cy="19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93225" name="Picture 4" descr="IL1906"/>
            <p:cNvPicPr>
              <a:picLocks noChangeAspect="1" noChangeArrowheads="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l="62057" t="15062" b="23041"/>
            <a:stretch>
              <a:fillRect/>
            </a:stretch>
          </p:blipFill>
          <p:spPr bwMode="auto">
            <a:xfrm>
              <a:off x="1973" y="346"/>
              <a:ext cx="1803" cy="19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pic>
        <p:nvPicPr>
          <p:cNvPr id="393222" name="Picture 5" descr="IL1906"/>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t="13666" b="22568"/>
          <a:stretch>
            <a:fillRect/>
          </a:stretch>
        </p:blipFill>
        <p:spPr bwMode="auto">
          <a:xfrm>
            <a:off x="2562225" y="3716338"/>
            <a:ext cx="5826125" cy="2520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93223" name="Text Box 8"/>
          <p:cNvSpPr txBox="1">
            <a:spLocks noChangeArrowheads="1"/>
          </p:cNvSpPr>
          <p:nvPr/>
        </p:nvSpPr>
        <p:spPr bwMode="auto">
          <a:xfrm>
            <a:off x="6227763" y="2205038"/>
            <a:ext cx="244475" cy="304800"/>
          </a:xfrm>
          <a:prstGeom prst="rect">
            <a:avLst/>
          </a:prstGeom>
          <a:gradFill rotWithShape="1">
            <a:gsLst>
              <a:gs pos="0">
                <a:srgbClr val="B2B2B2"/>
              </a:gs>
              <a:gs pos="50000">
                <a:srgbClr val="EAEAEA"/>
              </a:gs>
              <a:gs pos="100000">
                <a:srgbClr val="B2B2B2"/>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1"/>
              <a:t>I</a:t>
            </a:r>
            <a:endParaRPr lang="th-TH" altLang="en-US" sz="1400" b="1"/>
          </a:p>
        </p:txBody>
      </p:sp>
    </p:spTree>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4242" name="Picture 2"/>
          <p:cNvPicPr>
            <a:picLocks noChangeAspect="1" noChangeArrowheads="1"/>
          </p:cNvPicPr>
          <p:nvPr/>
        </p:nvPicPr>
        <p:blipFill>
          <a:blip r:embed="rId2">
            <a:extLst>
              <a:ext uri="{28A0092B-C50C-407E-A947-70E740481C1C}">
                <a14:useLocalDpi xmlns:a14="http://schemas.microsoft.com/office/drawing/2010/main" val="0"/>
              </a:ext>
            </a:extLst>
          </a:blip>
          <a:srcRect t="19211"/>
          <a:stretch>
            <a:fillRect/>
          </a:stretch>
        </p:blipFill>
        <p:spPr bwMode="auto">
          <a:xfrm>
            <a:off x="684213" y="1393825"/>
            <a:ext cx="7416800" cy="4264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94243" name="Text Box 3"/>
          <p:cNvSpPr txBox="1">
            <a:spLocks noChangeArrowheads="1"/>
          </p:cNvSpPr>
          <p:nvPr/>
        </p:nvSpPr>
        <p:spPr bwMode="auto">
          <a:xfrm>
            <a:off x="611188" y="285750"/>
            <a:ext cx="6427787" cy="1076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Two Stage the 3</a:t>
            </a:r>
            <a:r>
              <a:rPr lang="en-US" altLang="en-US" b="1" baseline="30000"/>
              <a:t>rd</a:t>
            </a:r>
            <a:r>
              <a:rPr lang="en-US" altLang="en-US" b="1"/>
              <a:t> generation Oxygen</a:t>
            </a:r>
          </a:p>
          <a:p>
            <a:pPr>
              <a:spcBef>
                <a:spcPct val="0"/>
              </a:spcBef>
              <a:buFontTx/>
              <a:buNone/>
            </a:pPr>
            <a:r>
              <a:rPr lang="en-US" altLang="en-US" b="1"/>
              <a:t>Delignification technology</a:t>
            </a:r>
            <a:endParaRPr lang="th-TH" altLang="en-US" b="1"/>
          </a:p>
        </p:txBody>
      </p:sp>
    </p:spTree>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266" name="Text Box 5"/>
          <p:cNvSpPr txBox="1">
            <a:spLocks noChangeArrowheads="1"/>
          </p:cNvSpPr>
          <p:nvPr/>
        </p:nvSpPr>
        <p:spPr bwMode="auto">
          <a:xfrm>
            <a:off x="611188" y="261938"/>
            <a:ext cx="5711825"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Kinetic of Oxygen Delignification</a:t>
            </a:r>
            <a:endParaRPr lang="th-TH" altLang="en-US" b="1"/>
          </a:p>
        </p:txBody>
      </p:sp>
      <p:pic>
        <p:nvPicPr>
          <p:cNvPr id="395267"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48263" y="1054100"/>
            <a:ext cx="3143250" cy="399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95268" name="Picture 4" descr="KE000101A"/>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l="33577" t="22060" r="17155" b="5270"/>
          <a:stretch>
            <a:fillRect/>
          </a:stretch>
        </p:blipFill>
        <p:spPr bwMode="auto">
          <a:xfrm>
            <a:off x="457200" y="846138"/>
            <a:ext cx="4176713" cy="306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95269" name="Picture 6" descr="KE000103A"/>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l="13692" t="25299" r="12965" b="12332"/>
          <a:stretch>
            <a:fillRect/>
          </a:stretch>
        </p:blipFill>
        <p:spPr bwMode="auto">
          <a:xfrm>
            <a:off x="96838" y="3690938"/>
            <a:ext cx="5051425" cy="2628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629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6763" y="1382713"/>
            <a:ext cx="8197850" cy="288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96291" name="Text Box 5"/>
          <p:cNvSpPr txBox="1">
            <a:spLocks noChangeArrowheads="1"/>
          </p:cNvSpPr>
          <p:nvPr/>
        </p:nvSpPr>
        <p:spPr bwMode="auto">
          <a:xfrm>
            <a:off x="287338" y="449263"/>
            <a:ext cx="8110537"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Double Stage Oxygen Delignification Condition</a:t>
            </a:r>
            <a:endParaRPr lang="th-TH" altLang="en-US" b="1"/>
          </a:p>
        </p:txBody>
      </p:sp>
      <p:sp>
        <p:nvSpPr>
          <p:cNvPr id="396292" name="Text Box 6"/>
          <p:cNvSpPr txBox="1">
            <a:spLocks noChangeArrowheads="1"/>
          </p:cNvSpPr>
          <p:nvPr/>
        </p:nvSpPr>
        <p:spPr bwMode="auto">
          <a:xfrm>
            <a:off x="0" y="4454525"/>
            <a:ext cx="4449763" cy="1200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t>Reactor                                    </a:t>
            </a:r>
            <a:r>
              <a:rPr lang="th-TH" altLang="en-US" sz="1800"/>
              <a:t>      </a:t>
            </a:r>
            <a:r>
              <a:rPr lang="en-US" altLang="en-US" sz="1800"/>
              <a:t> 1              2</a:t>
            </a:r>
          </a:p>
          <a:p>
            <a:pPr>
              <a:spcBef>
                <a:spcPct val="0"/>
              </a:spcBef>
              <a:buFontTx/>
              <a:buNone/>
            </a:pPr>
            <a:r>
              <a:rPr lang="en-US" altLang="en-US" sz="1800"/>
              <a:t>Time, min                                </a:t>
            </a:r>
            <a:r>
              <a:rPr lang="th-TH" altLang="en-US" sz="1800"/>
              <a:t>    </a:t>
            </a:r>
            <a:r>
              <a:rPr lang="en-US" altLang="en-US" sz="1800"/>
              <a:t>  30           60</a:t>
            </a:r>
          </a:p>
          <a:p>
            <a:pPr>
              <a:spcBef>
                <a:spcPct val="0"/>
              </a:spcBef>
              <a:buFontTx/>
              <a:buNone/>
            </a:pPr>
            <a:r>
              <a:rPr lang="en-US" altLang="en-US" sz="1800"/>
              <a:t>Pressure top</a:t>
            </a:r>
            <a:r>
              <a:rPr lang="th-TH" altLang="en-US" sz="1800"/>
              <a:t> </a:t>
            </a:r>
            <a:r>
              <a:rPr lang="en-US" altLang="en-US" sz="1800"/>
              <a:t>of reactor, bar</a:t>
            </a:r>
            <a:r>
              <a:rPr lang="th-TH" altLang="en-US" sz="1800"/>
              <a:t>     </a:t>
            </a:r>
            <a:r>
              <a:rPr lang="en-US" altLang="en-US" sz="1800"/>
              <a:t>8 – 10      3 – 5</a:t>
            </a:r>
          </a:p>
          <a:p>
            <a:pPr>
              <a:spcBef>
                <a:spcPct val="0"/>
              </a:spcBef>
              <a:buFontTx/>
              <a:buNone/>
            </a:pPr>
            <a:r>
              <a:rPr lang="en-US" altLang="en-US" sz="1800"/>
              <a:t>Temperature, </a:t>
            </a:r>
            <a:r>
              <a:rPr lang="en-US" altLang="en-US" sz="1800" baseline="30000"/>
              <a:t>o</a:t>
            </a:r>
            <a:r>
              <a:rPr lang="en-US" altLang="en-US" sz="1800"/>
              <a:t>C </a:t>
            </a:r>
            <a:r>
              <a:rPr lang="th-TH" altLang="en-US" sz="1800"/>
              <a:t>                           </a:t>
            </a:r>
            <a:r>
              <a:rPr lang="en-US" altLang="en-US" sz="1800"/>
              <a:t>80 – 85    90-100 </a:t>
            </a:r>
            <a:endParaRPr lang="th-TH" altLang="en-US" sz="1800"/>
          </a:p>
        </p:txBody>
      </p:sp>
    </p:spTree>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7314" name="Text Box 4"/>
          <p:cNvSpPr txBox="1">
            <a:spLocks noChangeArrowheads="1"/>
          </p:cNvSpPr>
          <p:nvPr/>
        </p:nvSpPr>
        <p:spPr bwMode="auto">
          <a:xfrm>
            <a:off x="306388" y="1127125"/>
            <a:ext cx="5514975" cy="5116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200" b="1"/>
              <a:t>Major Benefits</a:t>
            </a:r>
          </a:p>
          <a:p>
            <a:pPr>
              <a:spcBef>
                <a:spcPct val="0"/>
              </a:spcBef>
              <a:buFontTx/>
              <a:buChar char="•"/>
            </a:pPr>
            <a:r>
              <a:rPr lang="en-US" altLang="en-US" sz="2200"/>
              <a:t> Enhanced delignification without</a:t>
            </a:r>
          </a:p>
          <a:p>
            <a:pPr>
              <a:spcBef>
                <a:spcPct val="0"/>
              </a:spcBef>
              <a:buFontTx/>
              <a:buNone/>
            </a:pPr>
            <a:r>
              <a:rPr lang="en-US" altLang="en-US" sz="2200"/>
              <a:t>  sacrificing fiber quality</a:t>
            </a:r>
          </a:p>
          <a:p>
            <a:pPr>
              <a:spcBef>
                <a:spcPct val="0"/>
              </a:spcBef>
              <a:buFontTx/>
              <a:buChar char="•"/>
            </a:pPr>
            <a:r>
              <a:rPr lang="en-US" altLang="en-US" sz="2200"/>
              <a:t> Preserve yield</a:t>
            </a:r>
          </a:p>
          <a:p>
            <a:pPr>
              <a:spcBef>
                <a:spcPct val="0"/>
              </a:spcBef>
              <a:buFontTx/>
              <a:buChar char="•"/>
            </a:pPr>
            <a:r>
              <a:rPr lang="en-US" altLang="en-US" sz="2200"/>
              <a:t> Decrease the effluent load (the amount of</a:t>
            </a:r>
          </a:p>
          <a:p>
            <a:pPr>
              <a:spcBef>
                <a:spcPct val="0"/>
              </a:spcBef>
              <a:buFontTx/>
              <a:buNone/>
            </a:pPr>
            <a:r>
              <a:rPr lang="en-US" altLang="en-US" sz="2200"/>
              <a:t>  pollutants that are discharged to the </a:t>
            </a:r>
          </a:p>
          <a:p>
            <a:pPr>
              <a:spcBef>
                <a:spcPct val="0"/>
              </a:spcBef>
              <a:buFontTx/>
              <a:buNone/>
            </a:pPr>
            <a:r>
              <a:rPr lang="en-US" altLang="en-US" sz="2200"/>
              <a:t>  receiving water)</a:t>
            </a:r>
          </a:p>
          <a:p>
            <a:pPr>
              <a:spcBef>
                <a:spcPct val="0"/>
              </a:spcBef>
              <a:buFontTx/>
              <a:buChar char="•"/>
            </a:pPr>
            <a:r>
              <a:rPr lang="en-US" altLang="en-US" sz="2200"/>
              <a:t> High Kappa reduction </a:t>
            </a:r>
            <a:r>
              <a:rPr lang="en-US" altLang="en-US" sz="1800"/>
              <a:t>(Delignification Degree)</a:t>
            </a:r>
          </a:p>
          <a:p>
            <a:pPr>
              <a:spcBef>
                <a:spcPct val="0"/>
              </a:spcBef>
              <a:buFontTx/>
              <a:buNone/>
            </a:pPr>
            <a:r>
              <a:rPr lang="en-US" altLang="en-US" sz="2200"/>
              <a:t>   - Softwoods up to 70%</a:t>
            </a:r>
          </a:p>
          <a:p>
            <a:pPr>
              <a:spcBef>
                <a:spcPct val="0"/>
              </a:spcBef>
              <a:buFontTx/>
              <a:buNone/>
            </a:pPr>
            <a:r>
              <a:rPr lang="en-US" altLang="en-US" sz="2200"/>
              <a:t>   - Hardwoods up to 50%</a:t>
            </a:r>
          </a:p>
          <a:p>
            <a:pPr>
              <a:spcBef>
                <a:spcPct val="0"/>
              </a:spcBef>
              <a:buFontTx/>
              <a:buChar char="•"/>
            </a:pPr>
            <a:r>
              <a:rPr lang="en-US" altLang="en-US" sz="2200"/>
              <a:t> Achieve higher pulp brightness</a:t>
            </a:r>
          </a:p>
          <a:p>
            <a:pPr>
              <a:spcBef>
                <a:spcPct val="0"/>
              </a:spcBef>
              <a:buFontTx/>
              <a:buChar char="•"/>
            </a:pPr>
            <a:r>
              <a:rPr lang="en-US" altLang="en-US" sz="2200"/>
              <a:t> Decrease the chemical demand in the </a:t>
            </a:r>
          </a:p>
          <a:p>
            <a:pPr>
              <a:spcBef>
                <a:spcPct val="0"/>
              </a:spcBef>
              <a:buFontTx/>
              <a:buNone/>
            </a:pPr>
            <a:r>
              <a:rPr lang="en-US" altLang="en-US" sz="2200"/>
              <a:t>  bleaching area</a:t>
            </a:r>
          </a:p>
          <a:p>
            <a:pPr>
              <a:spcBef>
                <a:spcPct val="0"/>
              </a:spcBef>
              <a:buFontTx/>
              <a:buChar char="•"/>
            </a:pPr>
            <a:r>
              <a:rPr lang="en-US" altLang="en-US" sz="2200"/>
              <a:t> Improve pulp strength</a:t>
            </a:r>
          </a:p>
          <a:p>
            <a:pPr>
              <a:spcBef>
                <a:spcPct val="0"/>
              </a:spcBef>
              <a:buFontTx/>
              <a:buNone/>
            </a:pPr>
            <a:r>
              <a:rPr lang="en-US" altLang="en-US" sz="2200"/>
              <a:t>  </a:t>
            </a:r>
            <a:endParaRPr lang="th-TH" altLang="en-US" sz="2200"/>
          </a:p>
        </p:txBody>
      </p:sp>
      <p:sp>
        <p:nvSpPr>
          <p:cNvPr id="397315" name="Text Box 5"/>
          <p:cNvSpPr txBox="1">
            <a:spLocks noChangeArrowheads="1"/>
          </p:cNvSpPr>
          <p:nvPr/>
        </p:nvSpPr>
        <p:spPr bwMode="auto">
          <a:xfrm>
            <a:off x="522288" y="346075"/>
            <a:ext cx="6657975"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Double Oxygen Delignification Benefit</a:t>
            </a:r>
            <a:endParaRPr lang="th-TH" altLang="en-US" b="1"/>
          </a:p>
        </p:txBody>
      </p:sp>
      <p:pic>
        <p:nvPicPr>
          <p:cNvPr id="39731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22963" y="1631950"/>
            <a:ext cx="2703512" cy="2951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8338" name="Text Box 4"/>
          <p:cNvSpPr txBox="1">
            <a:spLocks noChangeArrowheads="1"/>
          </p:cNvSpPr>
          <p:nvPr/>
        </p:nvSpPr>
        <p:spPr bwMode="auto">
          <a:xfrm>
            <a:off x="611188" y="379413"/>
            <a:ext cx="7848600"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Oxygen Delignification Yield Single Vs Double</a:t>
            </a:r>
            <a:endParaRPr lang="th-TH" altLang="en-US" b="1"/>
          </a:p>
        </p:txBody>
      </p:sp>
      <p:pic>
        <p:nvPicPr>
          <p:cNvPr id="398339" name="Picture 3" descr="KE000149"/>
          <p:cNvPicPr>
            <a:picLocks noChangeAspect="1" noChangeArrowheads="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l="6967" t="10606" r="17725"/>
          <a:stretch>
            <a:fillRect/>
          </a:stretch>
        </p:blipFill>
        <p:spPr bwMode="auto">
          <a:xfrm>
            <a:off x="611188" y="1165225"/>
            <a:ext cx="7696200" cy="449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362"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650" y="1179513"/>
            <a:ext cx="7561263" cy="4456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99363" name="Text Box 4"/>
          <p:cNvSpPr txBox="1">
            <a:spLocks noChangeArrowheads="1"/>
          </p:cNvSpPr>
          <p:nvPr/>
        </p:nvSpPr>
        <p:spPr bwMode="auto">
          <a:xfrm>
            <a:off x="611188" y="379413"/>
            <a:ext cx="6621462"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Double Stage Compare to Single stage</a:t>
            </a:r>
            <a:endParaRPr lang="th-TH" altLang="en-US" b="1"/>
          </a:p>
        </p:txBody>
      </p:sp>
    </p:spTree>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038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650" y="1169988"/>
            <a:ext cx="7129463" cy="4749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0387" name="Text Box 6"/>
          <p:cNvSpPr txBox="1">
            <a:spLocks noChangeArrowheads="1"/>
          </p:cNvSpPr>
          <p:nvPr/>
        </p:nvSpPr>
        <p:spPr bwMode="auto">
          <a:xfrm>
            <a:off x="611188" y="306388"/>
            <a:ext cx="6621462"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Double Stage Compare to Single stage</a:t>
            </a:r>
            <a:endParaRPr lang="th-TH" altLang="en-US" b="1"/>
          </a:p>
        </p:txBody>
      </p:sp>
    </p:spTree>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1410"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5800" y="1119188"/>
            <a:ext cx="7353300" cy="4257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1411" name="Text Box 6"/>
          <p:cNvSpPr txBox="1">
            <a:spLocks noChangeArrowheads="1"/>
          </p:cNvSpPr>
          <p:nvPr/>
        </p:nvSpPr>
        <p:spPr bwMode="auto">
          <a:xfrm>
            <a:off x="538163" y="334963"/>
            <a:ext cx="6619875"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Double Stage Compare to Single stage</a:t>
            </a:r>
            <a:endParaRPr lang="th-TH" altLang="en-US" b="1"/>
          </a:p>
        </p:txBody>
      </p:sp>
    </p:spTree>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434" name="Text Box 5"/>
          <p:cNvSpPr txBox="1">
            <a:spLocks noChangeArrowheads="1"/>
          </p:cNvSpPr>
          <p:nvPr/>
        </p:nvSpPr>
        <p:spPr bwMode="auto">
          <a:xfrm>
            <a:off x="538163" y="349250"/>
            <a:ext cx="5803900" cy="585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Kinetic of Oxygen Delignification </a:t>
            </a:r>
            <a:endParaRPr lang="th-TH" altLang="en-US" b="1"/>
          </a:p>
        </p:txBody>
      </p:sp>
      <p:pic>
        <p:nvPicPr>
          <p:cNvPr id="402435" name="Picture 4" descr="KE000102A"/>
          <p:cNvPicPr>
            <a:picLocks noChangeAspect="1" noChangeArrowheads="1"/>
          </p:cNvPicPr>
          <p:nvPr/>
        </p:nvPicPr>
        <p:blipFill>
          <a:blip r:embed="rId2">
            <a:extLst>
              <a:ext uri="{28A0092B-C50C-407E-A947-70E740481C1C}">
                <a14:useLocalDpi xmlns:a14="http://schemas.microsoft.com/office/drawing/2010/main" val="0"/>
              </a:ext>
            </a:extLst>
          </a:blip>
          <a:srcRect l="11658" t="26370" r="10922" b="15862"/>
          <a:stretch>
            <a:fillRect/>
          </a:stretch>
        </p:blipFill>
        <p:spPr bwMode="auto">
          <a:xfrm>
            <a:off x="538163" y="1227138"/>
            <a:ext cx="8154987" cy="4157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458" name="AutoShape 31"/>
          <p:cNvSpPr>
            <a:spLocks noChangeArrowheads="1"/>
          </p:cNvSpPr>
          <p:nvPr/>
        </p:nvSpPr>
        <p:spPr bwMode="auto">
          <a:xfrm>
            <a:off x="236538" y="2806700"/>
            <a:ext cx="8713787" cy="2808288"/>
          </a:xfrm>
          <a:prstGeom prst="roundRect">
            <a:avLst>
              <a:gd name="adj" fmla="val 16667"/>
            </a:avLst>
          </a:prstGeom>
          <a:solidFill>
            <a:srgbClr val="993366">
              <a:alpha val="4196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pic>
        <p:nvPicPr>
          <p:cNvPr id="403459"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5463" y="3222625"/>
            <a:ext cx="8172450" cy="2320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03460" name="Group 27"/>
          <p:cNvGrpSpPr>
            <a:grpSpLocks noChangeAspect="1"/>
          </p:cNvGrpSpPr>
          <p:nvPr/>
        </p:nvGrpSpPr>
        <p:grpSpPr bwMode="auto">
          <a:xfrm>
            <a:off x="781050" y="1077913"/>
            <a:ext cx="5556250" cy="1571625"/>
            <a:chOff x="501" y="1398"/>
            <a:chExt cx="3332" cy="943"/>
          </a:xfrm>
        </p:grpSpPr>
        <p:pic>
          <p:nvPicPr>
            <p:cNvPr id="403464" name="Picture 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00" y="1630"/>
              <a:ext cx="212" cy="707"/>
            </a:xfrm>
            <a:prstGeom prst="rect">
              <a:avLst/>
            </a:prstGeom>
            <a:noFill/>
            <a:ln>
              <a:noFill/>
            </a:ln>
            <a:effectLst/>
            <a:extLst>
              <a:ext uri="{909E8E84-426E-40DD-AFC4-6F175D3DCCD1}">
                <a14:hiddenFill xmlns:a14="http://schemas.microsoft.com/office/drawing/2010/main">
                  <a:solidFill>
                    <a:srgbClr val="000000"/>
                  </a:solidFill>
                </a14:hiddenFill>
              </a:ext>
              <a:ext uri="{91240B29-F687-4F45-9708-019B960494DF}">
                <a14:hiddenLine xmlns:a14="http://schemas.microsoft.com/office/drawing/2010/main" w="1">
                  <a:solidFill>
                    <a:srgbClr val="FFFFFF"/>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403465" name="Picture 6"/>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94" y="1730"/>
              <a:ext cx="781" cy="292"/>
            </a:xfrm>
            <a:prstGeom prst="rect">
              <a:avLst/>
            </a:prstGeom>
            <a:noFill/>
            <a:ln>
              <a:noFill/>
            </a:ln>
            <a:effectLst/>
            <a:extLst>
              <a:ext uri="{909E8E84-426E-40DD-AFC4-6F175D3DCCD1}">
                <a14:hiddenFill xmlns:a14="http://schemas.microsoft.com/office/drawing/2010/main">
                  <a:solidFill>
                    <a:srgbClr val="000000"/>
                  </a:solidFill>
                </a14:hiddenFill>
              </a:ext>
              <a:ext uri="{91240B29-F687-4F45-9708-019B960494DF}">
                <a14:hiddenLine xmlns:a14="http://schemas.microsoft.com/office/drawing/2010/main" w="1">
                  <a:solidFill>
                    <a:srgbClr val="FFFFFF"/>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403466" name="Picture 7" descr="Untitled-2 copy"/>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1" y="1765"/>
              <a:ext cx="343"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346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291" y="1398"/>
              <a:ext cx="142" cy="943"/>
            </a:xfrm>
            <a:prstGeom prst="rect">
              <a:avLst/>
            </a:prstGeom>
            <a:noFill/>
            <a:ln>
              <a:noFill/>
            </a:ln>
            <a:effectLst/>
            <a:extLst>
              <a:ext uri="{909E8E84-426E-40DD-AFC4-6F175D3DCCD1}">
                <a14:hiddenFill xmlns:a14="http://schemas.microsoft.com/office/drawing/2010/main">
                  <a:solidFill>
                    <a:srgbClr val="000000"/>
                  </a:solidFill>
                </a14:hiddenFill>
              </a:ext>
              <a:ext uri="{91240B29-F687-4F45-9708-019B960494DF}">
                <a14:hiddenLine xmlns:a14="http://schemas.microsoft.com/office/drawing/2010/main" w="1">
                  <a:solidFill>
                    <a:srgbClr val="FFFFFF"/>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cxnSp>
          <p:nvCxnSpPr>
            <p:cNvPr id="403468" name="AutoShape 11"/>
            <p:cNvCxnSpPr>
              <a:cxnSpLocks noChangeAspect="1" noChangeShapeType="1"/>
            </p:cNvCxnSpPr>
            <p:nvPr/>
          </p:nvCxnSpPr>
          <p:spPr bwMode="auto">
            <a:xfrm>
              <a:off x="853" y="1953"/>
              <a:ext cx="485" cy="302"/>
            </a:xfrm>
            <a:prstGeom prst="bentConnector3">
              <a:avLst>
                <a:gd name="adj1" fmla="val 49685"/>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cxnSp>
        <p:cxnSp>
          <p:nvCxnSpPr>
            <p:cNvPr id="403469" name="AutoShape 13"/>
            <p:cNvCxnSpPr>
              <a:cxnSpLocks noChangeAspect="1" noChangeShapeType="1"/>
            </p:cNvCxnSpPr>
            <p:nvPr/>
          </p:nvCxnSpPr>
          <p:spPr bwMode="auto">
            <a:xfrm rot="5400000" flipV="1">
              <a:off x="1448" y="1403"/>
              <a:ext cx="312" cy="393"/>
            </a:xfrm>
            <a:prstGeom prst="bentConnector4">
              <a:avLst>
                <a:gd name="adj1" fmla="val -38708"/>
                <a:gd name="adj2" fmla="val 62819"/>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cxnSp>
        <p:cxnSp>
          <p:nvCxnSpPr>
            <p:cNvPr id="403470" name="AutoShape 14"/>
            <p:cNvCxnSpPr>
              <a:cxnSpLocks noChangeAspect="1" noChangeShapeType="1"/>
            </p:cNvCxnSpPr>
            <p:nvPr/>
          </p:nvCxnSpPr>
          <p:spPr bwMode="auto">
            <a:xfrm flipV="1">
              <a:off x="1997" y="2024"/>
              <a:ext cx="645" cy="288"/>
            </a:xfrm>
            <a:prstGeom prst="bentConnector3">
              <a:avLst>
                <a:gd name="adj1" fmla="val 49764"/>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cxnSp>
        <p:sp>
          <p:nvSpPr>
            <p:cNvPr id="403471" name="Line 15"/>
            <p:cNvSpPr>
              <a:spLocks noChangeAspect="1" noChangeShapeType="1"/>
            </p:cNvSpPr>
            <p:nvPr/>
          </p:nvSpPr>
          <p:spPr bwMode="auto">
            <a:xfrm flipV="1">
              <a:off x="3354" y="1969"/>
              <a:ext cx="479" cy="5"/>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sp>
        <p:nvSpPr>
          <p:cNvPr id="106524" name="Text Box 28"/>
          <p:cNvSpPr txBox="1">
            <a:spLocks noChangeArrowheads="1"/>
          </p:cNvSpPr>
          <p:nvPr/>
        </p:nvSpPr>
        <p:spPr bwMode="auto">
          <a:xfrm>
            <a:off x="6357938" y="1820863"/>
            <a:ext cx="22875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sz="2000" b="1" i="1">
                <a:solidFill>
                  <a:srgbClr val="0000FF"/>
                </a:solidFill>
                <a:effectLst>
                  <a:outerShdw blurRad="38100" dist="38100" dir="2700000" algn="tl">
                    <a:srgbClr val="C0C0C0"/>
                  </a:outerShdw>
                </a:effectLst>
              </a:rPr>
              <a:t>SCL Single Stage</a:t>
            </a:r>
            <a:endParaRPr lang="th-TH" altLang="en-US" sz="2000" b="1" i="1">
              <a:solidFill>
                <a:srgbClr val="0000FF"/>
              </a:solidFill>
              <a:effectLst>
                <a:outerShdw blurRad="38100" dist="38100" dir="2700000" algn="tl">
                  <a:srgbClr val="C0C0C0"/>
                </a:outerShdw>
              </a:effectLst>
            </a:endParaRPr>
          </a:p>
        </p:txBody>
      </p:sp>
      <p:sp>
        <p:nvSpPr>
          <p:cNvPr id="106526" name="Text Box 30"/>
          <p:cNvSpPr txBox="1">
            <a:spLocks noChangeArrowheads="1"/>
          </p:cNvSpPr>
          <p:nvPr/>
        </p:nvSpPr>
        <p:spPr bwMode="auto">
          <a:xfrm>
            <a:off x="6357938" y="2841625"/>
            <a:ext cx="2387600" cy="396875"/>
          </a:xfrm>
          <a:prstGeom prst="rect">
            <a:avLst/>
          </a:prstGeom>
          <a:solidFill>
            <a:schemeClr val="bg1">
              <a:alpha val="7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sz="2000" b="1" i="1">
                <a:solidFill>
                  <a:srgbClr val="FF0000"/>
                </a:solidFill>
                <a:effectLst>
                  <a:outerShdw blurRad="38100" dist="38100" dir="2700000" algn="tl">
                    <a:srgbClr val="C0C0C0"/>
                  </a:outerShdw>
                </a:effectLst>
              </a:rPr>
              <a:t>SCL Double Stage</a:t>
            </a:r>
            <a:endParaRPr lang="th-TH" altLang="en-US" sz="2000" b="1" i="1">
              <a:solidFill>
                <a:srgbClr val="FF0000"/>
              </a:solidFill>
              <a:effectLst>
                <a:outerShdw blurRad="38100" dist="38100" dir="2700000" algn="tl">
                  <a:srgbClr val="C0C0C0"/>
                </a:outerShdw>
              </a:effectLst>
            </a:endParaRPr>
          </a:p>
        </p:txBody>
      </p:sp>
      <p:sp>
        <p:nvSpPr>
          <p:cNvPr id="403463" name="Text Box 32"/>
          <p:cNvSpPr txBox="1">
            <a:spLocks noChangeArrowheads="1"/>
          </p:cNvSpPr>
          <p:nvPr/>
        </p:nvSpPr>
        <p:spPr bwMode="auto">
          <a:xfrm>
            <a:off x="596900" y="285750"/>
            <a:ext cx="7032625"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SCL Double Stage Oxygen Delignification</a:t>
            </a:r>
          </a:p>
        </p:txBody>
      </p:sp>
    </p:spTree>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4482"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77838" y="1522413"/>
            <a:ext cx="8343900" cy="3244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4483" name="Text Box 4"/>
          <p:cNvSpPr txBox="1">
            <a:spLocks noChangeArrowheads="1"/>
          </p:cNvSpPr>
          <p:nvPr/>
        </p:nvSpPr>
        <p:spPr bwMode="auto">
          <a:xfrm>
            <a:off x="468313" y="958850"/>
            <a:ext cx="21336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3600" b="1" u="sng">
                <a:latin typeface="Cordia New" panose="020B0304020202020204" pitchFamily="34" charset="-34"/>
                <a:cs typeface="Cordia New" panose="020B0304020202020204" pitchFamily="34" charset="-34"/>
              </a:rPr>
              <a:t>Cost reduction</a:t>
            </a:r>
            <a:endParaRPr lang="th-TH" altLang="en-US" sz="3600" b="1" u="sng">
              <a:latin typeface="Cordia New" panose="020B0304020202020204" pitchFamily="34" charset="-34"/>
            </a:endParaRPr>
          </a:p>
        </p:txBody>
      </p:sp>
      <p:sp>
        <p:nvSpPr>
          <p:cNvPr id="108549" name="Text Box 5"/>
          <p:cNvSpPr txBox="1">
            <a:spLocks noChangeArrowheads="1"/>
          </p:cNvSpPr>
          <p:nvPr/>
        </p:nvSpPr>
        <p:spPr bwMode="auto">
          <a:xfrm>
            <a:off x="1368425" y="4732338"/>
            <a:ext cx="67818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defRPr/>
            </a:pPr>
            <a:r>
              <a:rPr lang="en-US" altLang="en-US" sz="2400" b="1">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Totally saving	= 555</a:t>
            </a:r>
            <a:r>
              <a:rPr lang="en-US" altLang="en-US" sz="2400" b="1">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Baht/ADT</a:t>
            </a:r>
          </a:p>
          <a:p>
            <a:pPr>
              <a:defRPr/>
            </a:pPr>
            <a:r>
              <a:rPr lang="en-US" altLang="en-US" sz="2400" b="1">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			= </a:t>
            </a:r>
            <a:r>
              <a:rPr lang="en-US" altLang="en-US" sz="2400" b="1">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47.7MB/Y</a:t>
            </a:r>
            <a:r>
              <a:rPr lang="en-US" altLang="en-US" sz="2400" b="1">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 @86,000ADT</a:t>
            </a:r>
            <a:endParaRPr lang="th-TH" altLang="en-US" sz="2400" b="1">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p:txBody>
      </p:sp>
      <p:sp>
        <p:nvSpPr>
          <p:cNvPr id="404485" name="Text Box 6"/>
          <p:cNvSpPr txBox="1">
            <a:spLocks noChangeArrowheads="1"/>
          </p:cNvSpPr>
          <p:nvPr/>
        </p:nvSpPr>
        <p:spPr bwMode="auto">
          <a:xfrm>
            <a:off x="684213" y="374650"/>
            <a:ext cx="6119812"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Benefit of Double Stage ODL at SCL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8549"/>
                                        </p:tgtEl>
                                        <p:attrNameLst>
                                          <p:attrName>style.visibility</p:attrName>
                                        </p:attrNameLst>
                                      </p:cBhvr>
                                      <p:to>
                                        <p:strVal val="visible"/>
                                      </p:to>
                                    </p:set>
                                    <p:animEffect transition="in" filter="dissolve">
                                      <p:cBhvr>
                                        <p:cTn id="7" dur="500"/>
                                        <p:tgtEl>
                                          <p:spTgt spid="1085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549"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571" name="Group 3"/>
          <p:cNvGraphicFramePr>
            <a:graphicFrameLocks noGrp="1"/>
          </p:cNvGraphicFramePr>
          <p:nvPr/>
        </p:nvGraphicFramePr>
        <p:xfrm>
          <a:off x="644525" y="1747838"/>
          <a:ext cx="7251700" cy="2784477"/>
        </p:xfrm>
        <a:graphic>
          <a:graphicData uri="http://schemas.openxmlformats.org/drawingml/2006/table">
            <a:tbl>
              <a:tblPr/>
              <a:tblGrid>
                <a:gridCol w="2744788"/>
                <a:gridCol w="628650"/>
                <a:gridCol w="779462"/>
                <a:gridCol w="692150"/>
                <a:gridCol w="893763"/>
                <a:gridCol w="1512887"/>
              </a:tblGrid>
              <a:tr h="761999">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Waste water parameter</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marL="90000" marR="90000" marT="46800" marB="4680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400" b="1" i="0" u="none" strike="noStrike" cap="none" normalizeH="0" baseline="0" smtClean="0">
                          <a:ln>
                            <a:noFill/>
                          </a:ln>
                          <a:solidFill>
                            <a:schemeClr val="tx1"/>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Unit</a:t>
                      </a:r>
                      <a:endParaRPr kumimoji="0" lang="th-TH" altLang="en-US" sz="1400" b="1" i="0" u="none" strike="noStrike" cap="none" normalizeH="0" baseline="0" smtClean="0">
                        <a:ln>
                          <a:noFill/>
                        </a:ln>
                        <a:solidFill>
                          <a:schemeClr val="tx1"/>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marL="90000" marR="90000" marT="46800" marB="468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Before</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marL="90000" marR="90000" marT="46800" marB="468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8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After</a:t>
                      </a:r>
                      <a:endParaRPr kumimoji="0" lang="th-TH" altLang="en-US" sz="1600" b="1" i="0" u="none" strike="noStrike" cap="none" normalizeH="0" baseline="0" smtClean="0">
                        <a:ln>
                          <a:noFill/>
                        </a:ln>
                        <a:solidFill>
                          <a:srgbClr val="008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marL="90000" marR="90000" marT="46800" marB="468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Diff</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a:t>
                      </a:r>
                      <a:endParaRPr kumimoji="0" lang="th-TH"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Cost saving</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(Baht/Y)</a:t>
                      </a:r>
                      <a:endParaRPr kumimoji="0" lang="th-TH" altLang="en-US" sz="20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500063">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Color waste water discharge</a:t>
                      </a:r>
                      <a:endParaRPr kumimoji="0" lang="th-TH"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400" b="1" i="0" u="none" strike="noStrike" cap="none" normalizeH="0" baseline="0" smtClean="0">
                          <a:ln>
                            <a:noFill/>
                          </a:ln>
                          <a:solidFill>
                            <a:schemeClr val="tx1"/>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ADMI</a:t>
                      </a:r>
                      <a:endParaRPr kumimoji="0" lang="th-TH" altLang="en-US" sz="1400" b="1" i="0" u="none" strike="noStrike" cap="none" normalizeH="0" baseline="0" smtClean="0">
                        <a:ln>
                          <a:noFill/>
                        </a:ln>
                        <a:solidFill>
                          <a:schemeClr val="tx1"/>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2,512</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8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1,390</a:t>
                      </a:r>
                      <a:endParaRPr kumimoji="0" lang="th-TH" altLang="en-US" sz="1600" b="1" i="0" u="none" strike="noStrike" cap="none" normalizeH="0" baseline="0" smtClean="0">
                        <a:ln>
                          <a:noFill/>
                        </a:ln>
                        <a:solidFill>
                          <a:srgbClr val="008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45%</a:t>
                      </a:r>
                      <a:endParaRPr kumimoji="0" lang="th-TH"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20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a:t>
                      </a:r>
                      <a:endParaRPr kumimoji="0" lang="th-TH" altLang="en-US" sz="20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509588">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Color PG8 SCL</a:t>
                      </a:r>
                      <a:endParaRPr kumimoji="0" lang="th-TH"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400" b="1" i="0" u="none" strike="noStrike" cap="none" normalizeH="0" baseline="0" smtClean="0">
                          <a:ln>
                            <a:noFill/>
                          </a:ln>
                          <a:solidFill>
                            <a:schemeClr val="tx1"/>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ADMI</a:t>
                      </a:r>
                      <a:endParaRPr kumimoji="0" lang="th-TH" altLang="en-US" sz="1400" b="1" i="0" u="none" strike="noStrike" cap="none" normalizeH="0" baseline="0" smtClean="0">
                        <a:ln>
                          <a:noFill/>
                        </a:ln>
                        <a:solidFill>
                          <a:schemeClr val="tx1"/>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1,225</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8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857</a:t>
                      </a:r>
                      <a:endParaRPr kumimoji="0" lang="th-TH" altLang="en-US" sz="1600" b="1" i="0" u="none" strike="noStrike" cap="none" normalizeH="0" baseline="0" smtClean="0">
                        <a:ln>
                          <a:noFill/>
                        </a:ln>
                        <a:solidFill>
                          <a:srgbClr val="008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30%</a:t>
                      </a:r>
                      <a:endParaRPr kumimoji="0" lang="th-TH"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20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a:t>
                      </a:r>
                      <a:endParaRPr kumimoji="0" lang="th-TH" altLang="en-US" sz="20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509588">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COD</a:t>
                      </a:r>
                      <a:endParaRPr kumimoji="0" lang="th-TH"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400" b="1" i="0" u="none" strike="noStrike" cap="none" normalizeH="0" baseline="0" smtClean="0">
                          <a:ln>
                            <a:noFill/>
                          </a:ln>
                          <a:solidFill>
                            <a:schemeClr val="tx1"/>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mg/l</a:t>
                      </a:r>
                      <a:endParaRPr kumimoji="0" lang="th-TH" altLang="en-US" sz="1400" b="1" i="0" u="none" strike="noStrike" cap="none" normalizeH="0" baseline="0" smtClean="0">
                        <a:ln>
                          <a:noFill/>
                        </a:ln>
                        <a:solidFill>
                          <a:schemeClr val="tx1"/>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2,153</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8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1,493</a:t>
                      </a:r>
                      <a:endParaRPr kumimoji="0" lang="th-TH" altLang="en-US" sz="1600" b="1" i="0" u="none" strike="noStrike" cap="none" normalizeH="0" baseline="0" smtClean="0">
                        <a:ln>
                          <a:noFill/>
                        </a:ln>
                        <a:solidFill>
                          <a:srgbClr val="008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31%</a:t>
                      </a:r>
                      <a:endParaRPr kumimoji="0" lang="th-TH"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20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a:t>
                      </a:r>
                      <a:endParaRPr kumimoji="0" lang="th-TH" altLang="en-US" sz="20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503238">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Alum</a:t>
                      </a:r>
                      <a:endParaRPr kumimoji="0" lang="th-TH" altLang="en-US" sz="1600" b="1" i="0" u="none" strike="noStrike" cap="none" normalizeH="0" baseline="-2500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400" b="1" i="0" u="none" strike="noStrike" cap="none" normalizeH="0" baseline="0" smtClean="0">
                          <a:ln>
                            <a:noFill/>
                          </a:ln>
                          <a:solidFill>
                            <a:schemeClr val="tx1"/>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mg/l</a:t>
                      </a:r>
                      <a:endParaRPr kumimoji="0" lang="th-TH" altLang="en-US" sz="1400" b="1" i="0" u="none" strike="noStrike" cap="none" normalizeH="0" baseline="0" smtClean="0">
                        <a:ln>
                          <a:noFill/>
                        </a:ln>
                        <a:solidFill>
                          <a:schemeClr val="tx1"/>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975</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8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641</a:t>
                      </a:r>
                      <a:endParaRPr kumimoji="0" lang="th-TH" altLang="en-US" sz="1600" b="1" i="0" u="none" strike="noStrike" cap="none" normalizeH="0" baseline="0" smtClean="0">
                        <a:ln>
                          <a:noFill/>
                        </a:ln>
                        <a:solidFill>
                          <a:srgbClr val="008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34%</a:t>
                      </a:r>
                      <a:endParaRPr kumimoji="0" lang="th-TH"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20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7.2</a:t>
                      </a:r>
                      <a:endParaRPr kumimoji="0" lang="th-TH" altLang="en-US" sz="20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r>
            </a:tbl>
          </a:graphicData>
        </a:graphic>
      </p:graphicFrame>
      <p:sp>
        <p:nvSpPr>
          <p:cNvPr id="405550" name="AutoShape 47"/>
          <p:cNvSpPr>
            <a:spLocks noChangeArrowheads="1"/>
          </p:cNvSpPr>
          <p:nvPr/>
        </p:nvSpPr>
        <p:spPr bwMode="auto">
          <a:xfrm>
            <a:off x="5610225" y="2611438"/>
            <a:ext cx="215900" cy="215900"/>
          </a:xfrm>
          <a:prstGeom prst="downArrow">
            <a:avLst>
              <a:gd name="adj1" fmla="val 50000"/>
              <a:gd name="adj2" fmla="val 25000"/>
            </a:avLst>
          </a:prstGeom>
          <a:solidFill>
            <a:srgbClr val="FF0000"/>
          </a:solid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05551" name="AutoShape 48"/>
          <p:cNvSpPr>
            <a:spLocks noChangeArrowheads="1"/>
          </p:cNvSpPr>
          <p:nvPr/>
        </p:nvSpPr>
        <p:spPr bwMode="auto">
          <a:xfrm>
            <a:off x="5610225" y="3114675"/>
            <a:ext cx="215900" cy="215900"/>
          </a:xfrm>
          <a:prstGeom prst="downArrow">
            <a:avLst>
              <a:gd name="adj1" fmla="val 50000"/>
              <a:gd name="adj2" fmla="val 25000"/>
            </a:avLst>
          </a:prstGeom>
          <a:solidFill>
            <a:srgbClr val="FF0000"/>
          </a:solid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05552" name="AutoShape 49"/>
          <p:cNvSpPr>
            <a:spLocks noChangeArrowheads="1"/>
          </p:cNvSpPr>
          <p:nvPr/>
        </p:nvSpPr>
        <p:spPr bwMode="auto">
          <a:xfrm>
            <a:off x="5610225" y="3619500"/>
            <a:ext cx="215900" cy="215900"/>
          </a:xfrm>
          <a:prstGeom prst="downArrow">
            <a:avLst>
              <a:gd name="adj1" fmla="val 50000"/>
              <a:gd name="adj2" fmla="val 25000"/>
            </a:avLst>
          </a:prstGeom>
          <a:solidFill>
            <a:srgbClr val="FF0000"/>
          </a:solid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05553" name="AutoShape 50"/>
          <p:cNvSpPr>
            <a:spLocks noChangeArrowheads="1"/>
          </p:cNvSpPr>
          <p:nvPr/>
        </p:nvSpPr>
        <p:spPr bwMode="auto">
          <a:xfrm>
            <a:off x="5610225" y="4122738"/>
            <a:ext cx="215900" cy="215900"/>
          </a:xfrm>
          <a:prstGeom prst="downArrow">
            <a:avLst>
              <a:gd name="adj1" fmla="val 50000"/>
              <a:gd name="adj2" fmla="val 25000"/>
            </a:avLst>
          </a:prstGeom>
          <a:solidFill>
            <a:srgbClr val="FF0000"/>
          </a:solid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05554" name="Rectangle 51"/>
          <p:cNvSpPr>
            <a:spLocks noChangeArrowheads="1"/>
          </p:cNvSpPr>
          <p:nvPr/>
        </p:nvSpPr>
        <p:spPr bwMode="auto">
          <a:xfrm>
            <a:off x="568325" y="1063625"/>
            <a:ext cx="6732588"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4400" b="1" u="sng">
                <a:latin typeface="Cordia New" panose="020B0304020202020204" pitchFamily="34" charset="-34"/>
                <a:cs typeface="Cordia New" panose="020B0304020202020204" pitchFamily="34" charset="-34"/>
              </a:rPr>
              <a:t>Reduce COD and Color of Waste water</a:t>
            </a:r>
            <a:endParaRPr lang="th-TH" altLang="en-US" sz="4400" b="1" u="sng">
              <a:latin typeface="Cordia New" panose="020B0304020202020204" pitchFamily="34" charset="-34"/>
            </a:endParaRPr>
          </a:p>
        </p:txBody>
      </p:sp>
      <p:sp>
        <p:nvSpPr>
          <p:cNvPr id="405555" name="Text Box 52"/>
          <p:cNvSpPr txBox="1">
            <a:spLocks noChangeArrowheads="1"/>
          </p:cNvSpPr>
          <p:nvPr/>
        </p:nvSpPr>
        <p:spPr bwMode="auto">
          <a:xfrm>
            <a:off x="568325" y="4699000"/>
            <a:ext cx="663416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th-TH" altLang="en-US" sz="2000" b="1" u="sng">
                <a:latin typeface="Cordia New" panose="020B0304020202020204" pitchFamily="34" charset="-34"/>
              </a:rPr>
              <a:t>ข้อมูล </a:t>
            </a:r>
            <a:r>
              <a:rPr lang="en-US" altLang="en-US" sz="2000" b="1">
                <a:latin typeface="Cordia New" panose="020B0304020202020204" pitchFamily="34" charset="-34"/>
                <a:cs typeface="Cordia New" panose="020B0304020202020204" pitchFamily="34" charset="-34"/>
              </a:rPr>
              <a:t>: </a:t>
            </a:r>
            <a:r>
              <a:rPr lang="th-TH" altLang="en-US" sz="2000" b="1">
                <a:latin typeface="Cordia New" panose="020B0304020202020204" pitchFamily="34" charset="-34"/>
              </a:rPr>
              <a:t>จากบันทึก เรื่อง ปริมาณสีก่อนและหลังการปรับปรุง </a:t>
            </a:r>
            <a:r>
              <a:rPr lang="en-US" altLang="en-US" sz="2000" b="1">
                <a:latin typeface="Cordia New" panose="020B0304020202020204" pitchFamily="34" charset="-34"/>
                <a:cs typeface="Cordia New" panose="020B0304020202020204" pitchFamily="34" charset="-34"/>
              </a:rPr>
              <a:t>Double Oxygen </a:t>
            </a:r>
            <a:r>
              <a:rPr lang="th-TH" altLang="en-US" sz="2000" b="1">
                <a:latin typeface="Cordia New" panose="020B0304020202020204" pitchFamily="34" charset="-34"/>
              </a:rPr>
              <a:t>ของ </a:t>
            </a:r>
            <a:r>
              <a:rPr lang="en-US" altLang="en-US" sz="2000" b="1">
                <a:latin typeface="Cordia New" panose="020B0304020202020204" pitchFamily="34" charset="-34"/>
                <a:cs typeface="Cordia New" panose="020B0304020202020204" pitchFamily="34" charset="-34"/>
              </a:rPr>
              <a:t>SCL</a:t>
            </a:r>
          </a:p>
          <a:p>
            <a:pPr>
              <a:spcBef>
                <a:spcPct val="0"/>
              </a:spcBef>
              <a:buFontTx/>
              <a:buNone/>
            </a:pPr>
            <a:r>
              <a:rPr lang="en-US" altLang="en-US" sz="2000" b="1">
                <a:latin typeface="Cordia New" panose="020B0304020202020204" pitchFamily="34" charset="-34"/>
                <a:cs typeface="Cordia New" panose="020B0304020202020204" pitchFamily="34" charset="-34"/>
              </a:rPr>
              <a:t>           </a:t>
            </a:r>
            <a:r>
              <a:rPr lang="th-TH" altLang="en-US" sz="2000" b="1">
                <a:latin typeface="Cordia New" panose="020B0304020202020204" pitchFamily="34" charset="-34"/>
              </a:rPr>
              <a:t>โดย แผนกจัดการสิ่งแวดล้อม </a:t>
            </a:r>
            <a:r>
              <a:rPr lang="en-US" altLang="en-US" sz="2000" b="1">
                <a:latin typeface="Cordia New" panose="020B0304020202020204" pitchFamily="34" charset="-34"/>
                <a:cs typeface="Cordia New" panose="020B0304020202020204" pitchFamily="34" charset="-34"/>
              </a:rPr>
              <a:t>TKIC </a:t>
            </a:r>
            <a:r>
              <a:rPr lang="th-TH" altLang="en-US" sz="2000" b="1">
                <a:latin typeface="Cordia New" panose="020B0304020202020204" pitchFamily="34" charset="-34"/>
              </a:rPr>
              <a:t>เมื่อวันที่ </a:t>
            </a:r>
            <a:r>
              <a:rPr lang="en-US" altLang="en-US" sz="2000" b="1">
                <a:latin typeface="Cordia New" panose="020B0304020202020204" pitchFamily="34" charset="-34"/>
                <a:cs typeface="Cordia New" panose="020B0304020202020204" pitchFamily="34" charset="-34"/>
              </a:rPr>
              <a:t>25 </a:t>
            </a:r>
            <a:r>
              <a:rPr lang="th-TH" altLang="en-US" sz="2000" b="1">
                <a:latin typeface="Cordia New" panose="020B0304020202020204" pitchFamily="34" charset="-34"/>
              </a:rPr>
              <a:t>ก</a:t>
            </a:r>
            <a:r>
              <a:rPr lang="en-US" altLang="en-US" sz="2000" b="1">
                <a:latin typeface="Cordia New" panose="020B0304020202020204" pitchFamily="34" charset="-34"/>
                <a:cs typeface="Cordia New" panose="020B0304020202020204" pitchFamily="34" charset="-34"/>
              </a:rPr>
              <a:t>.</a:t>
            </a:r>
            <a:r>
              <a:rPr lang="th-TH" altLang="en-US" sz="2000" b="1">
                <a:latin typeface="Cordia New" panose="020B0304020202020204" pitchFamily="34" charset="-34"/>
              </a:rPr>
              <a:t>พ</a:t>
            </a:r>
            <a:r>
              <a:rPr lang="en-US" altLang="en-US" sz="2000" b="1">
                <a:latin typeface="Cordia New" panose="020B0304020202020204" pitchFamily="34" charset="-34"/>
                <a:cs typeface="Cordia New" panose="020B0304020202020204" pitchFamily="34" charset="-34"/>
              </a:rPr>
              <a:t>.2549</a:t>
            </a:r>
            <a:endParaRPr lang="th-TH" altLang="en-US" sz="2000" b="1">
              <a:latin typeface="Cordia New" panose="020B0304020202020204" pitchFamily="34" charset="-34"/>
            </a:endParaRPr>
          </a:p>
        </p:txBody>
      </p:sp>
      <p:sp>
        <p:nvSpPr>
          <p:cNvPr id="405556" name="Text Box 54"/>
          <p:cNvSpPr txBox="1">
            <a:spLocks noChangeArrowheads="1"/>
          </p:cNvSpPr>
          <p:nvPr/>
        </p:nvSpPr>
        <p:spPr bwMode="auto">
          <a:xfrm>
            <a:off x="493713" y="285750"/>
            <a:ext cx="6119812"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Benefit of Double Stage ODL at SCL</a:t>
            </a:r>
          </a:p>
        </p:txBody>
      </p:sp>
    </p:spTree>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653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24025" y="1233488"/>
            <a:ext cx="5830888" cy="2451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0653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9550" y="3640138"/>
            <a:ext cx="4464050" cy="21605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0653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46625" y="3616325"/>
            <a:ext cx="4248150" cy="218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6533" name="Rectangle 5"/>
          <p:cNvSpPr>
            <a:spLocks noChangeArrowheads="1"/>
          </p:cNvSpPr>
          <p:nvPr/>
        </p:nvSpPr>
        <p:spPr bwMode="auto">
          <a:xfrm>
            <a:off x="187325" y="739775"/>
            <a:ext cx="5545138"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3600" b="1" u="sng">
                <a:latin typeface="Cordia New" panose="020B0304020202020204" pitchFamily="34" charset="-34"/>
                <a:cs typeface="Cordia New" panose="020B0304020202020204" pitchFamily="34" charset="-34"/>
              </a:rPr>
              <a:t>Reduce COD and Color of Waste water</a:t>
            </a:r>
            <a:endParaRPr lang="th-TH" altLang="en-US" sz="3600" b="1" u="sng">
              <a:latin typeface="Cordia New" panose="020B0304020202020204" pitchFamily="34" charset="-34"/>
            </a:endParaRPr>
          </a:p>
        </p:txBody>
      </p:sp>
      <p:sp>
        <p:nvSpPr>
          <p:cNvPr id="406534" name="Text Box 8"/>
          <p:cNvSpPr txBox="1">
            <a:spLocks noChangeArrowheads="1"/>
          </p:cNvSpPr>
          <p:nvPr/>
        </p:nvSpPr>
        <p:spPr bwMode="auto">
          <a:xfrm>
            <a:off x="641350" y="300038"/>
            <a:ext cx="6119813" cy="585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Benefit of Double Stage ODL at SCL</a:t>
            </a:r>
          </a:p>
        </p:txBody>
      </p:sp>
    </p:spTree>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618" name="Group 2"/>
          <p:cNvGraphicFramePr>
            <a:graphicFrameLocks noGrp="1"/>
          </p:cNvGraphicFramePr>
          <p:nvPr/>
        </p:nvGraphicFramePr>
        <p:xfrm>
          <a:off x="506413" y="1233488"/>
          <a:ext cx="7954963" cy="4400552"/>
        </p:xfrm>
        <a:graphic>
          <a:graphicData uri="http://schemas.openxmlformats.org/drawingml/2006/table">
            <a:tbl>
              <a:tblPr/>
              <a:tblGrid>
                <a:gridCol w="1581150"/>
                <a:gridCol w="903288"/>
                <a:gridCol w="882650"/>
                <a:gridCol w="1096962"/>
                <a:gridCol w="882650"/>
                <a:gridCol w="882650"/>
                <a:gridCol w="915988"/>
                <a:gridCol w="809625"/>
              </a:tblGrid>
              <a:tr h="868361">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Pulp properties</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marL="90000" marR="90000" marT="46800" marB="4680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400" b="0"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Unit</a:t>
                      </a:r>
                      <a:endParaRPr kumimoji="0" lang="th-TH" altLang="en-US" sz="1400" b="0"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marL="90000" marR="90000" marT="46800" marB="468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AA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(Act’05)</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marL="90000" marR="90000" marT="46800" marB="468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PHOENIX</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(Act’05)</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marL="90000" marR="90000" marT="46800" marB="468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SPPC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(Act’05)</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marL="90000" marR="90000" marT="46800" marB="468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SCL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(Act’05)</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marL="90000" marR="90000" marT="46800" marB="468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FFFF"/>
                          </a:solidFill>
                          <a:effectLst>
                            <a:outerShdw blurRad="38100" dist="38100" dir="2700000" algn="tl">
                              <a:srgbClr val="000000"/>
                            </a:outerShdw>
                          </a:effectLst>
                          <a:latin typeface="Microsoft Sans Serif" panose="020B0604020202020204" pitchFamily="34" charset="0"/>
                          <a:cs typeface="Microsoft Sans Serif" panose="020B0604020202020204" pitchFamily="34" charset="0"/>
                        </a:rPr>
                        <a:t>SCL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FFFF"/>
                          </a:solidFill>
                          <a:effectLst>
                            <a:outerShdw blurRad="38100" dist="38100" dir="2700000" algn="tl">
                              <a:srgbClr val="000000"/>
                            </a:outerShdw>
                          </a:effectLst>
                          <a:latin typeface="Microsoft Sans Serif" panose="020B0604020202020204" pitchFamily="34" charset="0"/>
                          <a:cs typeface="Microsoft Sans Serif" panose="020B0604020202020204" pitchFamily="34" charset="0"/>
                        </a:rPr>
                        <a:t>(Act’06)</a:t>
                      </a:r>
                      <a:endParaRPr kumimoji="0" lang="th-TH" altLang="en-US" sz="1600" b="1" i="0" u="none" strike="noStrike" cap="none" normalizeH="0" baseline="0" smtClean="0">
                        <a:ln>
                          <a:noFill/>
                        </a:ln>
                        <a:solidFill>
                          <a:srgbClr val="FFFFFF"/>
                        </a:solidFill>
                        <a:effectLst>
                          <a:outerShdw blurRad="38100" dist="38100" dir="2700000" algn="tl">
                            <a:srgbClr val="000000"/>
                          </a:outerShdw>
                        </a:effectLst>
                        <a:latin typeface="Microsoft Sans Serif" panose="020B0604020202020204" pitchFamily="34" charset="0"/>
                        <a:cs typeface="Microsoft Sans Serif" panose="020B0604020202020204" pitchFamily="34" charset="0"/>
                      </a:endParaRPr>
                    </a:p>
                  </a:txBody>
                  <a:tcPr marL="90000" marR="90000" marT="46800" marB="468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0099"/>
                    </a:solid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Diff</a:t>
                      </a:r>
                      <a:r>
                        <a:rPr kumimoji="0" lang="th-TH"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 </a:t>
                      </a:r>
                      <a:r>
                        <a:rPr kumimoji="0" lang="en-US"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SCL 05’-06’</a:t>
                      </a:r>
                      <a:endParaRPr kumimoji="0" lang="th-TH"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marL="90000" marR="90000" marT="46800" marB="4680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r>
              <a:tr h="500063">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Tensile index</a:t>
                      </a:r>
                      <a:endParaRPr kumimoji="0" lang="th-TH"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400" b="0"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Nm/g</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45.3</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45.1</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44.6</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52.3</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FFFF"/>
                          </a:solidFill>
                          <a:effectLst>
                            <a:outerShdw blurRad="38100" dist="38100" dir="2700000" algn="tl">
                              <a:srgbClr val="000000"/>
                            </a:outerShdw>
                          </a:effectLst>
                          <a:latin typeface="Microsoft Sans Serif" panose="020B0604020202020204" pitchFamily="34" charset="0"/>
                          <a:cs typeface="Microsoft Sans Serif" panose="020B0604020202020204" pitchFamily="34" charset="0"/>
                        </a:rPr>
                        <a:t>54.7</a:t>
                      </a:r>
                      <a:endParaRPr kumimoji="0" lang="th-TH" altLang="en-US" sz="1600" b="1" i="0" u="none" strike="noStrike" cap="none" normalizeH="0" baseline="0" smtClean="0">
                        <a:ln>
                          <a:noFill/>
                        </a:ln>
                        <a:solidFill>
                          <a:srgbClr val="FFFFFF"/>
                        </a:solidFill>
                        <a:effectLst>
                          <a:outerShdw blurRad="38100" dist="38100" dir="2700000" algn="tl">
                            <a:srgbClr val="00000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0099"/>
                    </a:solid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+2.4</a:t>
                      </a:r>
                      <a:endParaRPr kumimoji="0" lang="th-TH"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r>
              <a:tr h="509588">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Tear index</a:t>
                      </a:r>
                      <a:endParaRPr kumimoji="0" lang="th-TH"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400" b="0"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mNm2/g</a:t>
                      </a:r>
                      <a:endParaRPr kumimoji="0" lang="th-TH" altLang="en-US" sz="1400" b="0"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7.7</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8.0</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5.9</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7.1</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FFFF"/>
                          </a:solidFill>
                          <a:effectLst>
                            <a:outerShdw blurRad="38100" dist="38100" dir="2700000" algn="tl">
                              <a:srgbClr val="000000"/>
                            </a:outerShdw>
                          </a:effectLst>
                          <a:latin typeface="Microsoft Sans Serif" panose="020B0604020202020204" pitchFamily="34" charset="0"/>
                          <a:cs typeface="Microsoft Sans Serif" panose="020B0604020202020204" pitchFamily="34" charset="0"/>
                        </a:rPr>
                        <a:t>7.9</a:t>
                      </a:r>
                      <a:endParaRPr kumimoji="0" lang="th-TH" altLang="en-US" sz="1600" b="1" i="0" u="none" strike="noStrike" cap="none" normalizeH="0" baseline="0" smtClean="0">
                        <a:ln>
                          <a:noFill/>
                        </a:ln>
                        <a:solidFill>
                          <a:srgbClr val="FFFFFF"/>
                        </a:solidFill>
                        <a:effectLst>
                          <a:outerShdw blurRad="38100" dist="38100" dir="2700000" algn="tl">
                            <a:srgbClr val="00000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0099"/>
                    </a:solid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+0.8</a:t>
                      </a:r>
                      <a:endParaRPr kumimoji="0" lang="th-TH"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r>
              <a:tr h="509588">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Stiffness index</a:t>
                      </a:r>
                      <a:endParaRPr kumimoji="0" lang="th-TH"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400" b="0"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mN.m2/g</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0.9</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1.0</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1.2</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1.0</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FFFF"/>
                          </a:solidFill>
                          <a:effectLst>
                            <a:outerShdw blurRad="38100" dist="38100" dir="2700000" algn="tl">
                              <a:srgbClr val="000000"/>
                            </a:outerShdw>
                          </a:effectLst>
                          <a:latin typeface="Microsoft Sans Serif" panose="020B0604020202020204" pitchFamily="34" charset="0"/>
                          <a:cs typeface="Microsoft Sans Serif" panose="020B0604020202020204" pitchFamily="34" charset="0"/>
                        </a:rPr>
                        <a:t>1.0</a:t>
                      </a:r>
                      <a:endParaRPr kumimoji="0" lang="th-TH" altLang="en-US" sz="1600" b="1" i="0" u="none" strike="noStrike" cap="none" normalizeH="0" baseline="0" smtClean="0">
                        <a:ln>
                          <a:noFill/>
                        </a:ln>
                        <a:solidFill>
                          <a:srgbClr val="FFFFFF"/>
                        </a:solidFill>
                        <a:effectLst>
                          <a:outerShdw blurRad="38100" dist="38100" dir="2700000" algn="tl">
                            <a:srgbClr val="00000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0099"/>
                    </a:solid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0.0</a:t>
                      </a:r>
                      <a:endParaRPr kumimoji="0" lang="th-TH"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r>
              <a:tr h="503238">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Opacity </a:t>
                      </a:r>
                      <a:endParaRPr kumimoji="0" lang="th-TH"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400" b="0"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a:t>
                      </a:r>
                      <a:endParaRPr kumimoji="0" lang="th-TH" altLang="en-US" sz="1400" b="0"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81.0</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80.9</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84.8</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81.2</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FFFF"/>
                          </a:solidFill>
                          <a:effectLst>
                            <a:outerShdw blurRad="38100" dist="38100" dir="2700000" algn="tl">
                              <a:srgbClr val="000000"/>
                            </a:outerShdw>
                          </a:effectLst>
                          <a:latin typeface="Microsoft Sans Serif" panose="020B0604020202020204" pitchFamily="34" charset="0"/>
                          <a:cs typeface="Microsoft Sans Serif" panose="020B0604020202020204" pitchFamily="34" charset="0"/>
                        </a:rPr>
                        <a:t>80.5</a:t>
                      </a:r>
                      <a:endParaRPr kumimoji="0" lang="th-TH" altLang="en-US" sz="1600" b="1" i="0" u="none" strike="noStrike" cap="none" normalizeH="0" baseline="0" smtClean="0">
                        <a:ln>
                          <a:noFill/>
                        </a:ln>
                        <a:solidFill>
                          <a:srgbClr val="FFFFFF"/>
                        </a:solidFill>
                        <a:effectLst>
                          <a:outerShdw blurRad="38100" dist="38100" dir="2700000" algn="tl">
                            <a:srgbClr val="00000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0099"/>
                    </a:solid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(0.7)</a:t>
                      </a:r>
                      <a:endParaRPr kumimoji="0" lang="th-TH"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r>
              <a:tr h="503238">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Brightness</a:t>
                      </a:r>
                      <a:endParaRPr kumimoji="0" lang="th-TH"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400" b="0"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%ISO</a:t>
                      </a:r>
                      <a:endParaRPr kumimoji="0" lang="th-TH" altLang="en-US" sz="1400" b="0"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89.1</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89.2</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83.8</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85.0</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FFFF"/>
                          </a:solidFill>
                          <a:effectLst>
                            <a:outerShdw blurRad="38100" dist="38100" dir="2700000" algn="tl">
                              <a:srgbClr val="000000"/>
                            </a:outerShdw>
                          </a:effectLst>
                          <a:latin typeface="Microsoft Sans Serif" panose="020B0604020202020204" pitchFamily="34" charset="0"/>
                          <a:cs typeface="Microsoft Sans Serif" panose="020B0604020202020204" pitchFamily="34" charset="0"/>
                        </a:rPr>
                        <a:t>85.7</a:t>
                      </a:r>
                      <a:endParaRPr kumimoji="0" lang="th-TH" altLang="en-US" sz="1600" b="1" i="0" u="none" strike="noStrike" cap="none" normalizeH="0" baseline="0" smtClean="0">
                        <a:ln>
                          <a:noFill/>
                        </a:ln>
                        <a:solidFill>
                          <a:srgbClr val="FFFFFF"/>
                        </a:solidFill>
                        <a:effectLst>
                          <a:outerShdw blurRad="38100" dist="38100" dir="2700000" algn="tl">
                            <a:srgbClr val="00000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0099"/>
                    </a:solid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+0.7</a:t>
                      </a:r>
                      <a:endParaRPr kumimoji="0" lang="th-TH"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r>
              <a:tr h="503238">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Dirt count</a:t>
                      </a:r>
                      <a:endParaRPr kumimoji="0" lang="th-TH"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400" b="0"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ppm</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0.2</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0.19</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1.1</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0.38</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FFFF"/>
                          </a:solidFill>
                          <a:effectLst>
                            <a:outerShdw blurRad="38100" dist="38100" dir="2700000" algn="tl">
                              <a:srgbClr val="000000"/>
                            </a:outerShdw>
                          </a:effectLst>
                          <a:latin typeface="Microsoft Sans Serif" panose="020B0604020202020204" pitchFamily="34" charset="0"/>
                          <a:cs typeface="Microsoft Sans Serif" panose="020B0604020202020204" pitchFamily="34" charset="0"/>
                        </a:rPr>
                        <a:t>0.28</a:t>
                      </a:r>
                      <a:endParaRPr kumimoji="0" lang="th-TH" altLang="en-US" sz="1600" b="1" i="0" u="none" strike="noStrike" cap="none" normalizeH="0" baseline="0" smtClean="0">
                        <a:ln>
                          <a:noFill/>
                        </a:ln>
                        <a:solidFill>
                          <a:srgbClr val="FFFFFF"/>
                        </a:solidFill>
                        <a:effectLst>
                          <a:outerShdw blurRad="38100" dist="38100" dir="2700000" algn="tl">
                            <a:srgbClr val="00000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0099"/>
                    </a:solid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+0.1</a:t>
                      </a:r>
                      <a:endParaRPr kumimoji="0" lang="th-TH"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r>
              <a:tr h="503238">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Shives</a:t>
                      </a:r>
                      <a:endParaRPr kumimoji="0" lang="th-TH" altLang="en-US" sz="1600" b="1" i="0" u="none" strike="noStrike" cap="none" normalizeH="0" baseline="0" smtClean="0">
                        <a:ln>
                          <a:noFill/>
                        </a:ln>
                        <a:solidFill>
                          <a:srgbClr val="FF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1400" b="0"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ppm</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0.0</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0.06</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1.7</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0.51</a:t>
                      </a:r>
                      <a:endParaRPr kumimoji="0" lang="th-TH" altLang="en-US" sz="1600" b="1" i="0" u="none" strike="noStrike" cap="none" normalizeH="0" baseline="0" smtClean="0">
                        <a:ln>
                          <a:noFill/>
                        </a:ln>
                        <a:solidFill>
                          <a:srgbClr val="000000"/>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FFFFFF"/>
                          </a:solidFill>
                          <a:effectLst>
                            <a:outerShdw blurRad="38100" dist="38100" dir="2700000" algn="tl">
                              <a:srgbClr val="000000"/>
                            </a:outerShdw>
                          </a:effectLst>
                          <a:latin typeface="Microsoft Sans Serif" panose="020B0604020202020204" pitchFamily="34" charset="0"/>
                          <a:cs typeface="Microsoft Sans Serif" panose="020B0604020202020204" pitchFamily="34" charset="0"/>
                        </a:rPr>
                        <a:t>0.20</a:t>
                      </a:r>
                      <a:endParaRPr kumimoji="0" lang="th-TH" altLang="en-US" sz="1600" b="1" i="0" u="none" strike="noStrike" cap="none" normalizeH="0" baseline="0" smtClean="0">
                        <a:ln>
                          <a:noFill/>
                        </a:ln>
                        <a:solidFill>
                          <a:srgbClr val="FFFFFF"/>
                        </a:solidFill>
                        <a:effectLst>
                          <a:outerShdw blurRad="38100" dist="38100" dir="2700000" algn="tl">
                            <a:srgbClr val="00000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000099"/>
                    </a:solid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rPr>
                        <a:t>+0.31</a:t>
                      </a:r>
                      <a:endParaRPr kumimoji="0" lang="th-TH" altLang="en-US" sz="1600" b="1" i="0" u="none" strike="noStrike" cap="none" normalizeH="0" baseline="0" smtClean="0">
                        <a:ln>
                          <a:noFill/>
                        </a:ln>
                        <a:solidFill>
                          <a:srgbClr val="000099"/>
                        </a:solidFill>
                        <a:effectLst>
                          <a:outerShdw blurRad="38100" dist="38100" dir="2700000" algn="tl">
                            <a:srgbClr val="C0C0C0"/>
                          </a:outerShdw>
                        </a:effectLst>
                        <a:latin typeface="Microsoft Sans Serif" panose="020B0604020202020204" pitchFamily="34" charset="0"/>
                        <a:cs typeface="Microsoft Sans Serif" panose="020B0604020202020204" pitchFamily="34" charset="0"/>
                      </a:endParaRP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solidFill>
                      <a:srgbClr val="FFFFFF"/>
                    </a:solidFill>
                  </a:tcPr>
                </a:tc>
              </a:tr>
            </a:tbl>
          </a:graphicData>
        </a:graphic>
      </p:graphicFrame>
      <p:sp>
        <p:nvSpPr>
          <p:cNvPr id="407637" name="Rectangle 85"/>
          <p:cNvSpPr>
            <a:spLocks noChangeArrowheads="1"/>
          </p:cNvSpPr>
          <p:nvPr/>
        </p:nvSpPr>
        <p:spPr bwMode="auto">
          <a:xfrm>
            <a:off x="434975" y="685800"/>
            <a:ext cx="29368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3600" b="1" u="sng">
                <a:latin typeface="Cordia New" panose="020B0304020202020204" pitchFamily="34" charset="-34"/>
                <a:cs typeface="Cordia New" panose="020B0304020202020204" pitchFamily="34" charset="-34"/>
              </a:rPr>
              <a:t>Improve Pulp quality</a:t>
            </a:r>
            <a:endParaRPr lang="th-TH" altLang="en-US" sz="3600" b="1" u="sng">
              <a:latin typeface="Cordia New" panose="020B0304020202020204" pitchFamily="34" charset="-34"/>
            </a:endParaRPr>
          </a:p>
        </p:txBody>
      </p:sp>
      <p:sp>
        <p:nvSpPr>
          <p:cNvPr id="407638" name="Text Box 88"/>
          <p:cNvSpPr txBox="1">
            <a:spLocks noChangeArrowheads="1"/>
          </p:cNvSpPr>
          <p:nvPr/>
        </p:nvSpPr>
        <p:spPr bwMode="auto">
          <a:xfrm>
            <a:off x="508000" y="285750"/>
            <a:ext cx="6119813"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Benefit of Double Stage ODL at SCL</a:t>
            </a:r>
          </a:p>
        </p:txBody>
      </p:sp>
    </p:spTree>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5" name="Text Box 5"/>
          <p:cNvSpPr txBox="1">
            <a:spLocks noChangeArrowheads="1"/>
          </p:cNvSpPr>
          <p:nvPr/>
        </p:nvSpPr>
        <p:spPr bwMode="auto">
          <a:xfrm>
            <a:off x="314325" y="825500"/>
            <a:ext cx="8686800" cy="5346700"/>
          </a:xfrm>
          <a:prstGeom prst="rect">
            <a:avLst/>
          </a:prstGeom>
          <a:noFill/>
          <a:ln>
            <a:noFill/>
          </a:ln>
          <a:effectLst/>
          <a:extLst>
            <a:ext uri="{909E8E84-426E-40DD-AFC4-6F175D3DCCD1}">
              <a14:hiddenFill xmlns:a14="http://schemas.microsoft.com/office/drawing/2010/main">
                <a:gradFill rotWithShape="1">
                  <a:gsLst>
                    <a:gs pos="0">
                      <a:schemeClr val="accent1">
                        <a:alpha val="60001"/>
                      </a:schemeClr>
                    </a:gs>
                    <a:gs pos="50000">
                      <a:schemeClr val="bg1"/>
                    </a:gs>
                    <a:gs pos="100000">
                      <a:schemeClr val="accent1">
                        <a:alpha val="60001"/>
                      </a:schemeClr>
                    </a:gs>
                  </a:gsLst>
                  <a:lin ang="5400000" scaled="1"/>
                </a:gra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533400" indent="-533400" algn="l">
              <a:defRPr sz="2800">
                <a:solidFill>
                  <a:schemeClr val="tx1"/>
                </a:solidFill>
                <a:latin typeface="Arial" panose="020B0604020202020204" pitchFamily="34" charset="0"/>
                <a:cs typeface="Angsana New" panose="02020603050405020304" pitchFamily="18" charset="-34"/>
              </a:defRPr>
            </a:lvl1pPr>
            <a:lvl2pPr marL="990600" indent="-533400" algn="l">
              <a:defRPr sz="2800">
                <a:solidFill>
                  <a:schemeClr val="tx1"/>
                </a:solidFill>
                <a:latin typeface="Arial" panose="020B0604020202020204" pitchFamily="34" charset="0"/>
                <a:cs typeface="Angsana New" panose="02020603050405020304" pitchFamily="18" charset="-34"/>
              </a:defRPr>
            </a:lvl2pPr>
            <a:lvl3pPr marL="1447800" indent="-533400" algn="l">
              <a:defRPr sz="2800">
                <a:solidFill>
                  <a:schemeClr val="tx1"/>
                </a:solidFill>
                <a:latin typeface="Arial" panose="020B0604020202020204" pitchFamily="34" charset="0"/>
                <a:cs typeface="Angsana New" panose="02020603050405020304" pitchFamily="18" charset="-34"/>
              </a:defRPr>
            </a:lvl3pPr>
            <a:lvl4pPr marL="1905000" indent="-533400" algn="l">
              <a:defRPr sz="2800">
                <a:solidFill>
                  <a:schemeClr val="tx1"/>
                </a:solidFill>
                <a:latin typeface="Arial" panose="020B0604020202020204" pitchFamily="34" charset="0"/>
                <a:cs typeface="Angsana New" panose="02020603050405020304" pitchFamily="18" charset="-34"/>
              </a:defRPr>
            </a:lvl4pPr>
            <a:lvl5pPr marL="2362200" indent="-533400" algn="l">
              <a:defRPr sz="2800">
                <a:solidFill>
                  <a:schemeClr val="tx1"/>
                </a:solidFill>
                <a:latin typeface="Arial" panose="020B0604020202020204" pitchFamily="34" charset="0"/>
                <a:cs typeface="Angsana New" panose="02020603050405020304" pitchFamily="18" charset="-34"/>
              </a:defRPr>
            </a:lvl5pPr>
            <a:lvl6pPr marL="2819400" indent="-533400" fontAlgn="base">
              <a:spcBef>
                <a:spcPct val="0"/>
              </a:spcBef>
              <a:spcAft>
                <a:spcPct val="0"/>
              </a:spcAft>
              <a:defRPr sz="2800">
                <a:solidFill>
                  <a:schemeClr val="tx1"/>
                </a:solidFill>
                <a:latin typeface="Arial" panose="020B0604020202020204" pitchFamily="34" charset="0"/>
                <a:cs typeface="Angsana New" panose="02020603050405020304" pitchFamily="18" charset="-34"/>
              </a:defRPr>
            </a:lvl6pPr>
            <a:lvl7pPr marL="3276600" indent="-533400" fontAlgn="base">
              <a:spcBef>
                <a:spcPct val="0"/>
              </a:spcBef>
              <a:spcAft>
                <a:spcPct val="0"/>
              </a:spcAft>
              <a:defRPr sz="2800">
                <a:solidFill>
                  <a:schemeClr val="tx1"/>
                </a:solidFill>
                <a:latin typeface="Arial" panose="020B0604020202020204" pitchFamily="34" charset="0"/>
                <a:cs typeface="Angsana New" panose="02020603050405020304" pitchFamily="18" charset="-34"/>
              </a:defRPr>
            </a:lvl7pPr>
            <a:lvl8pPr marL="3733800" indent="-533400" fontAlgn="base">
              <a:spcBef>
                <a:spcPct val="0"/>
              </a:spcBef>
              <a:spcAft>
                <a:spcPct val="0"/>
              </a:spcAft>
              <a:defRPr sz="2800">
                <a:solidFill>
                  <a:schemeClr val="tx1"/>
                </a:solidFill>
                <a:latin typeface="Arial" panose="020B0604020202020204" pitchFamily="34" charset="0"/>
                <a:cs typeface="Angsana New" panose="02020603050405020304" pitchFamily="18" charset="-34"/>
              </a:defRPr>
            </a:lvl8pPr>
            <a:lvl9pPr marL="4191000" indent="-533400" fontAlgn="base">
              <a:spcBef>
                <a:spcPct val="0"/>
              </a:spcBef>
              <a:spcAft>
                <a:spcPct val="0"/>
              </a:spcAft>
              <a:defRPr sz="2800">
                <a:solidFill>
                  <a:schemeClr val="tx1"/>
                </a:solidFill>
                <a:latin typeface="Arial" panose="020B0604020202020204" pitchFamily="34" charset="0"/>
                <a:cs typeface="Angsana New" panose="02020603050405020304" pitchFamily="18" charset="-34"/>
              </a:defRPr>
            </a:lvl9pPr>
          </a:lstStyle>
          <a:p>
            <a:pPr>
              <a:spcBef>
                <a:spcPct val="50000"/>
              </a:spcBef>
              <a:defRPr/>
            </a:pPr>
            <a:r>
              <a:rPr lang="en-US" altLang="en-US" sz="2200" b="1" smtClean="0">
                <a:effectLst>
                  <a:outerShdw blurRad="38100" dist="38100" dir="2700000" algn="tl">
                    <a:srgbClr val="C0C0C0"/>
                  </a:outerShdw>
                </a:effectLst>
                <a:cs typeface="Cordia New" panose="020B0304020202020204" pitchFamily="34" charset="-34"/>
              </a:rPr>
              <a:t>Technology selected: </a:t>
            </a:r>
            <a:r>
              <a:rPr lang="en-US" altLang="en-US" sz="2200" smtClean="0">
                <a:effectLst>
                  <a:outerShdw blurRad="38100" dist="38100" dir="2700000" algn="tl">
                    <a:srgbClr val="C0C0C0"/>
                  </a:outerShdw>
                </a:effectLst>
                <a:cs typeface="Cordia New" panose="020B0304020202020204" pitchFamily="34" charset="-34"/>
              </a:rPr>
              <a:t>Metso OxyTrac Oxygen Delignification</a:t>
            </a:r>
          </a:p>
          <a:p>
            <a:pPr>
              <a:lnSpc>
                <a:spcPct val="110000"/>
              </a:lnSpc>
              <a:spcBef>
                <a:spcPct val="50000"/>
              </a:spcBef>
              <a:defRPr/>
            </a:pPr>
            <a:r>
              <a:rPr lang="en-US" altLang="en-US" sz="2200" b="1" smtClean="0">
                <a:effectLst>
                  <a:outerShdw blurRad="38100" dist="38100" dir="2700000" algn="tl">
                    <a:srgbClr val="C0C0C0"/>
                  </a:outerShdw>
                </a:effectLst>
                <a:cs typeface="Cordia New" panose="020B0304020202020204" pitchFamily="34" charset="-34"/>
              </a:rPr>
              <a:t>Scheduled startup:      </a:t>
            </a:r>
            <a:r>
              <a:rPr lang="en-US" altLang="en-US" sz="2200" smtClean="0">
                <a:effectLst>
                  <a:outerShdw blurRad="38100" dist="38100" dir="2700000" algn="tl">
                    <a:srgbClr val="C0C0C0"/>
                  </a:outerShdw>
                </a:effectLst>
                <a:cs typeface="Cordia New" panose="020B0304020202020204" pitchFamily="34" charset="-34"/>
              </a:rPr>
              <a:t>Dec 05</a:t>
            </a:r>
            <a:r>
              <a:rPr lang="en-US" altLang="en-US" sz="2200" b="1" smtClean="0">
                <a:effectLst>
                  <a:outerShdw blurRad="38100" dist="38100" dir="2700000" algn="tl">
                    <a:srgbClr val="C0C0C0"/>
                  </a:outerShdw>
                </a:effectLst>
                <a:cs typeface="Cordia New" panose="020B0304020202020204" pitchFamily="34" charset="-34"/>
              </a:rPr>
              <a:t>                                                </a:t>
            </a:r>
          </a:p>
          <a:p>
            <a:pPr>
              <a:lnSpc>
                <a:spcPct val="40000"/>
              </a:lnSpc>
              <a:spcBef>
                <a:spcPct val="50000"/>
              </a:spcBef>
              <a:defRPr/>
            </a:pPr>
            <a:r>
              <a:rPr lang="en-US" altLang="en-US" sz="2200" b="1" smtClean="0">
                <a:effectLst>
                  <a:outerShdw blurRad="38100" dist="38100" dir="2700000" algn="tl">
                    <a:srgbClr val="C0C0C0"/>
                  </a:outerShdw>
                </a:effectLst>
                <a:cs typeface="Cordia New" panose="020B0304020202020204" pitchFamily="34" charset="-34"/>
              </a:rPr>
              <a:t>Actual Start up      : </a:t>
            </a:r>
            <a:r>
              <a:rPr lang="en-US" altLang="en-US" sz="2200" smtClean="0">
                <a:effectLst>
                  <a:outerShdw blurRad="38100" dist="38100" dir="2700000" algn="tl">
                    <a:srgbClr val="C0C0C0"/>
                  </a:outerShdw>
                </a:effectLst>
                <a:cs typeface="Cordia New" panose="020B0304020202020204" pitchFamily="34" charset="-34"/>
              </a:rPr>
              <a:t>25 Dec 05</a:t>
            </a:r>
            <a:endParaRPr lang="th-TH" altLang="en-US" sz="2200" smtClean="0">
              <a:effectLst>
                <a:outerShdw blurRad="38100" dist="38100" dir="2700000" algn="tl">
                  <a:srgbClr val="C0C0C0"/>
                </a:outerShdw>
              </a:effectLst>
              <a:cs typeface="Cordia New" panose="020B0304020202020204" pitchFamily="34" charset="-34"/>
            </a:endParaRPr>
          </a:p>
          <a:p>
            <a:pPr>
              <a:lnSpc>
                <a:spcPct val="140000"/>
              </a:lnSpc>
              <a:spcBef>
                <a:spcPct val="50000"/>
              </a:spcBef>
              <a:defRPr/>
            </a:pPr>
            <a:r>
              <a:rPr lang="en-US" altLang="en-US" sz="2200" b="1" smtClean="0">
                <a:effectLst>
                  <a:outerShdw blurRad="38100" dist="38100" dir="2700000" algn="tl">
                    <a:srgbClr val="C0C0C0"/>
                  </a:outerShdw>
                </a:effectLst>
                <a:cs typeface="Cordia New" panose="020B0304020202020204" pitchFamily="34" charset="-34"/>
              </a:rPr>
              <a:t>Budget Approved :</a:t>
            </a:r>
            <a:r>
              <a:rPr lang="th-TH" altLang="en-US" sz="2200" b="1" smtClean="0">
                <a:effectLst>
                  <a:outerShdw blurRad="38100" dist="38100" dir="2700000" algn="tl">
                    <a:srgbClr val="C0C0C0"/>
                  </a:outerShdw>
                </a:effectLst>
                <a:cs typeface="Cordia New" panose="020B0304020202020204" pitchFamily="34" charset="-34"/>
              </a:rPr>
              <a:t>  </a:t>
            </a:r>
            <a:r>
              <a:rPr lang="en-US" altLang="en-US" sz="2200" smtClean="0">
                <a:effectLst>
                  <a:outerShdw blurRad="38100" dist="38100" dir="2700000" algn="tl">
                    <a:srgbClr val="C0C0C0"/>
                  </a:outerShdw>
                </a:effectLst>
                <a:cs typeface="Cordia New" panose="020B0304020202020204" pitchFamily="34" charset="-34"/>
              </a:rPr>
              <a:t>94.5 MB</a:t>
            </a:r>
            <a:r>
              <a:rPr lang="en-US" altLang="en-US" sz="2200" b="1" smtClean="0">
                <a:effectLst>
                  <a:outerShdw blurRad="38100" dist="38100" dir="2700000" algn="tl">
                    <a:srgbClr val="C0C0C0"/>
                  </a:outerShdw>
                </a:effectLst>
                <a:cs typeface="Cordia New" panose="020B0304020202020204" pitchFamily="34" charset="-34"/>
              </a:rPr>
              <a:t>                                           </a:t>
            </a:r>
          </a:p>
          <a:p>
            <a:pPr>
              <a:lnSpc>
                <a:spcPct val="50000"/>
              </a:lnSpc>
              <a:spcBef>
                <a:spcPct val="50000"/>
              </a:spcBef>
              <a:defRPr/>
            </a:pPr>
            <a:r>
              <a:rPr lang="en-US" altLang="en-US" sz="2200" b="1" smtClean="0">
                <a:effectLst>
                  <a:outerShdw blurRad="38100" dist="38100" dir="2700000" algn="tl">
                    <a:srgbClr val="C0C0C0"/>
                  </a:outerShdw>
                </a:effectLst>
                <a:cs typeface="Cordia New" panose="020B0304020202020204" pitchFamily="34" charset="-34"/>
              </a:rPr>
              <a:t>Actual expensed   :  </a:t>
            </a:r>
            <a:r>
              <a:rPr lang="en-US" altLang="en-US" sz="2200" smtClean="0">
                <a:effectLst>
                  <a:outerShdw blurRad="38100" dist="38100" dir="2700000" algn="tl">
                    <a:srgbClr val="C0C0C0"/>
                  </a:outerShdw>
                </a:effectLst>
                <a:cs typeface="Cordia New" panose="020B0304020202020204" pitchFamily="34" charset="-34"/>
              </a:rPr>
              <a:t>98.7 MB (-4.4%)</a:t>
            </a:r>
          </a:p>
          <a:p>
            <a:pPr>
              <a:lnSpc>
                <a:spcPct val="140000"/>
              </a:lnSpc>
              <a:spcBef>
                <a:spcPct val="50000"/>
              </a:spcBef>
              <a:defRPr/>
            </a:pPr>
            <a:r>
              <a:rPr lang="en-US" altLang="en-US" sz="2200" b="1" smtClean="0">
                <a:solidFill>
                  <a:srgbClr val="FF3300"/>
                </a:solidFill>
                <a:effectLst>
                  <a:outerShdw blurRad="38100" dist="38100" dir="2700000" algn="tl">
                    <a:srgbClr val="C0C0C0"/>
                  </a:outerShdw>
                </a:effectLst>
                <a:cs typeface="Cordia New" panose="020B0304020202020204" pitchFamily="34" charset="-34"/>
              </a:rPr>
              <a:t>Benefits </a:t>
            </a:r>
            <a:r>
              <a:rPr lang="en-US" altLang="en-US" sz="2200" b="1" smtClean="0">
                <a:effectLst>
                  <a:outerShdw blurRad="38100" dist="38100" dir="2700000" algn="tl">
                    <a:srgbClr val="C0C0C0"/>
                  </a:outerShdw>
                </a:effectLst>
                <a:cs typeface="Cordia New" panose="020B0304020202020204" pitchFamily="34" charset="-34"/>
              </a:rPr>
              <a:t>:</a:t>
            </a:r>
            <a:r>
              <a:rPr lang="en-US" altLang="en-US" sz="2200" b="1" smtClean="0">
                <a:solidFill>
                  <a:srgbClr val="FF3300"/>
                </a:solidFill>
                <a:effectLst>
                  <a:outerShdw blurRad="38100" dist="38100" dir="2700000" algn="tl">
                    <a:srgbClr val="C0C0C0"/>
                  </a:outerShdw>
                </a:effectLst>
                <a:cs typeface="Cordia New" panose="020B0304020202020204" pitchFamily="34" charset="-34"/>
              </a:rPr>
              <a:t> Total 55 MB/y</a:t>
            </a:r>
            <a:r>
              <a:rPr lang="en-US" altLang="en-US" sz="2200" b="1" smtClean="0">
                <a:effectLst>
                  <a:outerShdw blurRad="38100" dist="38100" dir="2700000" algn="tl">
                    <a:srgbClr val="C0C0C0"/>
                  </a:outerShdw>
                </a:effectLst>
                <a:cs typeface="Cordia New" panose="020B0304020202020204" pitchFamily="34" charset="-34"/>
              </a:rPr>
              <a:t>	</a:t>
            </a:r>
            <a:r>
              <a:rPr lang="en-US" altLang="en-US" sz="2400" b="1" smtClean="0">
                <a:effectLst>
                  <a:outerShdw blurRad="38100" dist="38100" dir="2700000" algn="tl">
                    <a:srgbClr val="C0C0C0"/>
                  </a:outerShdw>
                </a:effectLst>
                <a:cs typeface="Cordia New" panose="020B0304020202020204" pitchFamily="34" charset="-34"/>
              </a:rPr>
              <a:t>                                                                          </a:t>
            </a:r>
          </a:p>
          <a:p>
            <a:pPr>
              <a:lnSpc>
                <a:spcPct val="80000"/>
              </a:lnSpc>
              <a:spcBef>
                <a:spcPct val="50000"/>
              </a:spcBef>
              <a:buFontTx/>
              <a:buAutoNum type="arabicPeriod"/>
              <a:defRPr/>
            </a:pPr>
            <a:r>
              <a:rPr lang="en-US" altLang="en-US" sz="1800" smtClean="0">
                <a:solidFill>
                  <a:schemeClr val="accent2"/>
                </a:solidFill>
                <a:effectLst>
                  <a:outerShdw blurRad="38100" dist="38100" dir="2700000" algn="tl">
                    <a:srgbClr val="C0C0C0"/>
                  </a:outerShdw>
                </a:effectLst>
                <a:cs typeface="Cordia New" panose="020B0304020202020204" pitchFamily="34" charset="-34"/>
              </a:rPr>
              <a:t>Chemicals saving 555 Baht/ADT (48 MB/y)                                                 </a:t>
            </a:r>
          </a:p>
          <a:p>
            <a:pPr>
              <a:lnSpc>
                <a:spcPct val="80000"/>
              </a:lnSpc>
              <a:spcBef>
                <a:spcPct val="50000"/>
              </a:spcBef>
              <a:buFontTx/>
              <a:buAutoNum type="arabicPeriod"/>
              <a:defRPr/>
            </a:pPr>
            <a:r>
              <a:rPr lang="en-US" altLang="en-US" sz="1800" smtClean="0">
                <a:effectLst>
                  <a:outerShdw blurRad="38100" dist="38100" dir="2700000" algn="tl">
                    <a:srgbClr val="C0C0C0"/>
                  </a:outerShdw>
                </a:effectLst>
                <a:cs typeface="Cordia New" panose="020B0304020202020204" pitchFamily="34" charset="-34"/>
              </a:rPr>
              <a:t>Reduction of waste water color by 45%  </a:t>
            </a:r>
          </a:p>
          <a:p>
            <a:pPr>
              <a:lnSpc>
                <a:spcPct val="80000"/>
              </a:lnSpc>
              <a:spcBef>
                <a:spcPct val="50000"/>
              </a:spcBef>
              <a:defRPr/>
            </a:pPr>
            <a:r>
              <a:rPr lang="en-US" altLang="en-US" sz="1800" smtClean="0">
                <a:effectLst>
                  <a:outerShdw blurRad="38100" dist="38100" dir="2700000" algn="tl">
                    <a:srgbClr val="C0C0C0"/>
                  </a:outerShdw>
                </a:effectLst>
                <a:cs typeface="Cordia New" panose="020B0304020202020204" pitchFamily="34" charset="-34"/>
              </a:rPr>
              <a:t>         and COD load by 30% </a:t>
            </a:r>
            <a:r>
              <a:rPr lang="en-US" altLang="en-US" sz="1800" smtClean="0">
                <a:effectLst>
                  <a:outerShdw blurRad="38100" dist="38100" dir="2700000" algn="tl">
                    <a:srgbClr val="C0C0C0"/>
                  </a:outerShdw>
                </a:effectLst>
                <a:cs typeface="Cordia New" panose="020B0304020202020204" pitchFamily="34" charset="-34"/>
                <a:sym typeface="Wingdings" panose="05000000000000000000" pitchFamily="2" charset="2"/>
              </a:rPr>
              <a:t> </a:t>
            </a:r>
            <a:r>
              <a:rPr lang="en-US" altLang="en-US" sz="1800" smtClean="0">
                <a:solidFill>
                  <a:schemeClr val="accent2"/>
                </a:solidFill>
                <a:effectLst>
                  <a:outerShdw blurRad="38100" dist="38100" dir="2700000" algn="tl">
                    <a:srgbClr val="C0C0C0"/>
                  </a:outerShdw>
                </a:effectLst>
                <a:cs typeface="Cordia New" panose="020B0304020202020204" pitchFamily="34" charset="-34"/>
              </a:rPr>
              <a:t>saving of Alum (7 MB/y)</a:t>
            </a:r>
            <a:r>
              <a:rPr lang="en-US" altLang="en-US" sz="1800" smtClean="0">
                <a:effectLst>
                  <a:outerShdw blurRad="38100" dist="38100" dir="2700000" algn="tl">
                    <a:srgbClr val="C0C0C0"/>
                  </a:outerShdw>
                </a:effectLst>
                <a:cs typeface="Cordia New" panose="020B0304020202020204" pitchFamily="34" charset="-34"/>
              </a:rPr>
              <a:t>                                                        </a:t>
            </a:r>
          </a:p>
          <a:p>
            <a:pPr>
              <a:lnSpc>
                <a:spcPct val="80000"/>
              </a:lnSpc>
              <a:spcBef>
                <a:spcPct val="50000"/>
              </a:spcBef>
              <a:buFontTx/>
              <a:buAutoNum type="arabicPeriod" startAt="3"/>
              <a:defRPr/>
            </a:pPr>
            <a:r>
              <a:rPr lang="en-US" altLang="en-US" sz="1800" smtClean="0">
                <a:effectLst>
                  <a:outerShdw blurRad="38100" dist="38100" dir="2700000" algn="tl">
                    <a:srgbClr val="C0C0C0"/>
                  </a:outerShdw>
                </a:effectLst>
                <a:cs typeface="Cordia New" panose="020B0304020202020204" pitchFamily="34" charset="-34"/>
              </a:rPr>
              <a:t>Improve pulp quality: Tear index by 10%,                                       				   Tensile index by 5%                         			   		   Brightness 85% </a:t>
            </a:r>
            <a:r>
              <a:rPr lang="en-US" altLang="en-US" sz="1800" smtClean="0">
                <a:effectLst>
                  <a:outerShdw blurRad="38100" dist="38100" dir="2700000" algn="tl">
                    <a:srgbClr val="C0C0C0"/>
                  </a:outerShdw>
                </a:effectLst>
                <a:cs typeface="Cordia New" panose="020B0304020202020204" pitchFamily="34" charset="-34"/>
                <a:sym typeface="Wingdings" panose="05000000000000000000" pitchFamily="2" charset="2"/>
              </a:rPr>
              <a:t> 86% ISO</a:t>
            </a:r>
          </a:p>
          <a:p>
            <a:pPr>
              <a:spcBef>
                <a:spcPct val="50000"/>
              </a:spcBef>
              <a:defRPr/>
            </a:pPr>
            <a:r>
              <a:rPr lang="en-US" altLang="en-US" sz="2400" b="1" smtClean="0">
                <a:solidFill>
                  <a:srgbClr val="FF3300"/>
                </a:solidFill>
                <a:effectLst>
                  <a:outerShdw blurRad="38100" dist="38100" dir="2700000" algn="tl">
                    <a:srgbClr val="C0C0C0"/>
                  </a:outerShdw>
                </a:effectLst>
                <a:cs typeface="Cordia New" panose="020B0304020202020204" pitchFamily="34" charset="-34"/>
                <a:sym typeface="Wingdings" panose="05000000000000000000" pitchFamily="2" charset="2"/>
              </a:rPr>
              <a:t>Performance test</a:t>
            </a:r>
            <a:r>
              <a:rPr lang="en-US" altLang="en-US" sz="2400" b="1" smtClean="0">
                <a:effectLst>
                  <a:outerShdw blurRad="38100" dist="38100" dir="2700000" algn="tl">
                    <a:srgbClr val="C0C0C0"/>
                  </a:outerShdw>
                </a:effectLst>
                <a:cs typeface="Cordia New" panose="020B0304020202020204" pitchFamily="34" charset="-34"/>
                <a:sym typeface="Wingdings" panose="05000000000000000000" pitchFamily="2" charset="2"/>
              </a:rPr>
              <a:t> : </a:t>
            </a:r>
            <a:r>
              <a:rPr lang="en-US" altLang="en-US" sz="2400" b="1" smtClean="0">
                <a:solidFill>
                  <a:srgbClr val="FF3300"/>
                </a:solidFill>
                <a:effectLst>
                  <a:outerShdw blurRad="38100" dist="38100" dir="2700000" algn="tl">
                    <a:srgbClr val="C0C0C0"/>
                  </a:outerShdw>
                </a:effectLst>
                <a:cs typeface="Cordia New" panose="020B0304020202020204" pitchFamily="34" charset="-34"/>
                <a:sym typeface="Wingdings" panose="05000000000000000000" pitchFamily="2" charset="2"/>
              </a:rPr>
              <a:t>Fulfilled on 28 Feb06</a:t>
            </a:r>
            <a:endParaRPr lang="th-TH" altLang="en-US" sz="2400" b="1" smtClean="0">
              <a:solidFill>
                <a:srgbClr val="FF3300"/>
              </a:solidFill>
              <a:effectLst>
                <a:outerShdw blurRad="38100" dist="38100" dir="2700000" algn="tl">
                  <a:srgbClr val="C0C0C0"/>
                </a:outerShdw>
              </a:effectLst>
              <a:cs typeface="Cordia New" panose="020B0304020202020204" pitchFamily="34" charset="-34"/>
            </a:endParaRPr>
          </a:p>
        </p:txBody>
      </p:sp>
      <p:pic>
        <p:nvPicPr>
          <p:cNvPr id="408579" name="Picture 3" descr="DSC0189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70538" y="1257300"/>
            <a:ext cx="2952750" cy="2214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8580" name="Picture 4" descr="DSC0190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78600" y="3490913"/>
            <a:ext cx="2114550" cy="281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8581" name="Text Box 8"/>
          <p:cNvSpPr txBox="1">
            <a:spLocks noChangeArrowheads="1"/>
          </p:cNvSpPr>
          <p:nvPr/>
        </p:nvSpPr>
        <p:spPr bwMode="auto">
          <a:xfrm>
            <a:off x="601663" y="163513"/>
            <a:ext cx="7837487" cy="585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Summary Benefit of Double Stage ODL at SCL</a:t>
            </a:r>
          </a:p>
        </p:txBody>
      </p:sp>
    </p:spTree>
  </p:cSld>
  <p:clrMapOvr>
    <a:masterClrMapping/>
  </p:clrMapOvr>
  <p:transition/>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02" name="Text Box 2"/>
          <p:cNvSpPr txBox="1">
            <a:spLocks noChangeArrowheads="1"/>
          </p:cNvSpPr>
          <p:nvPr/>
        </p:nvSpPr>
        <p:spPr bwMode="auto">
          <a:xfrm>
            <a:off x="823913" y="987425"/>
            <a:ext cx="26003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b="1">
                <a:cs typeface="Cordia New" panose="020B0304020202020204" pitchFamily="34" charset="-34"/>
              </a:rPr>
              <a:t>COD, Soda loss : kg/BDT</a:t>
            </a:r>
          </a:p>
          <a:p>
            <a:pPr>
              <a:spcBef>
                <a:spcPct val="0"/>
              </a:spcBef>
              <a:buFontTx/>
              <a:buNone/>
            </a:pPr>
            <a:r>
              <a:rPr lang="en-US" altLang="en-US" sz="1600" b="1">
                <a:cs typeface="Cordia New" panose="020B0304020202020204" pitchFamily="34" charset="-34"/>
              </a:rPr>
              <a:t>Chemical : kg/ADT</a:t>
            </a:r>
            <a:endParaRPr lang="th-TH" altLang="en-US" sz="1600" b="1"/>
          </a:p>
        </p:txBody>
      </p:sp>
      <p:graphicFrame>
        <p:nvGraphicFramePr>
          <p:cNvPr id="409603" name="Object 3"/>
          <p:cNvGraphicFramePr>
            <a:graphicFrameLocks noChangeAspect="1"/>
          </p:cNvGraphicFramePr>
          <p:nvPr/>
        </p:nvGraphicFramePr>
        <p:xfrm>
          <a:off x="596900" y="1136650"/>
          <a:ext cx="7423150" cy="4951413"/>
        </p:xfrm>
        <a:graphic>
          <a:graphicData uri="http://schemas.openxmlformats.org/presentationml/2006/ole">
            <mc:AlternateContent xmlns:mc="http://schemas.openxmlformats.org/markup-compatibility/2006">
              <mc:Choice xmlns:v="urn:schemas-microsoft-com:vml" Requires="v">
                <p:oleObj spid="_x0000_s409613" name="Chart" r:id="rId3" imgW="6096146" imgH="4067251" progId="MSGraph.Chart.8">
                  <p:embed followColorScheme="full"/>
                </p:oleObj>
              </mc:Choice>
              <mc:Fallback>
                <p:oleObj name="Chart" r:id="rId3" imgW="6096146" imgH="4067251" progId="MSGraph.Chart.8">
                  <p:embed followColorScheme="full"/>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6900" y="1136650"/>
                        <a:ext cx="7423150" cy="49514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09604" name="Text Box 4"/>
          <p:cNvSpPr txBox="1">
            <a:spLocks noChangeArrowheads="1"/>
          </p:cNvSpPr>
          <p:nvPr/>
        </p:nvSpPr>
        <p:spPr bwMode="auto">
          <a:xfrm>
            <a:off x="596900" y="344488"/>
            <a:ext cx="6119813"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Benefit of Double Stage ODL at SCL</a:t>
            </a:r>
          </a:p>
        </p:txBody>
      </p:sp>
    </p:spTree>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626" name="Text Box 2"/>
          <p:cNvSpPr txBox="1">
            <a:spLocks noChangeArrowheads="1"/>
          </p:cNvSpPr>
          <p:nvPr/>
        </p:nvSpPr>
        <p:spPr bwMode="auto">
          <a:xfrm>
            <a:off x="541338" y="522288"/>
            <a:ext cx="5372100"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Oxygen Delignification Outline</a:t>
            </a:r>
            <a:endParaRPr lang="th-TH" altLang="en-US" b="1"/>
          </a:p>
        </p:txBody>
      </p:sp>
      <p:sp>
        <p:nvSpPr>
          <p:cNvPr id="410627" name="Text Box 3"/>
          <p:cNvSpPr txBox="1">
            <a:spLocks noChangeArrowheads="1"/>
          </p:cNvSpPr>
          <p:nvPr/>
        </p:nvSpPr>
        <p:spPr bwMode="auto">
          <a:xfrm>
            <a:off x="468313" y="1458913"/>
            <a:ext cx="6426200" cy="3743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Char char="•"/>
            </a:pPr>
            <a:r>
              <a:rPr lang="en-US" altLang="en-US" sz="2400">
                <a:solidFill>
                  <a:srgbClr val="EAEAEA"/>
                </a:solidFill>
              </a:rPr>
              <a:t> Objective of Oxygen Delignification &amp; Benefit</a:t>
            </a:r>
          </a:p>
          <a:p>
            <a:pPr>
              <a:spcBef>
                <a:spcPct val="0"/>
              </a:spcBef>
              <a:buFontTx/>
              <a:buNone/>
            </a:pPr>
            <a:endParaRPr lang="en-US" altLang="en-US" sz="2400">
              <a:solidFill>
                <a:srgbClr val="EAEAEA"/>
              </a:solidFill>
            </a:endParaRPr>
          </a:p>
          <a:p>
            <a:pPr>
              <a:spcBef>
                <a:spcPct val="0"/>
              </a:spcBef>
              <a:buFontTx/>
              <a:buChar char="•"/>
            </a:pPr>
            <a:r>
              <a:rPr lang="en-US" altLang="en-US" sz="2400">
                <a:solidFill>
                  <a:srgbClr val="EAEAEA"/>
                </a:solidFill>
              </a:rPr>
              <a:t> Oxygen Delignification Process</a:t>
            </a:r>
          </a:p>
          <a:p>
            <a:pPr>
              <a:spcBef>
                <a:spcPct val="0"/>
              </a:spcBef>
              <a:buFontTx/>
              <a:buNone/>
            </a:pPr>
            <a:endParaRPr lang="en-US" altLang="en-US" sz="2400">
              <a:solidFill>
                <a:srgbClr val="EAEAEA"/>
              </a:solidFill>
            </a:endParaRPr>
          </a:p>
          <a:p>
            <a:pPr>
              <a:spcBef>
                <a:spcPct val="0"/>
              </a:spcBef>
              <a:buFontTx/>
              <a:buChar char="•"/>
            </a:pPr>
            <a:r>
              <a:rPr lang="en-US" altLang="en-US" sz="2400">
                <a:solidFill>
                  <a:srgbClr val="EAEAEA"/>
                </a:solidFill>
              </a:rPr>
              <a:t> Double Stage Delignification</a:t>
            </a:r>
          </a:p>
          <a:p>
            <a:pPr>
              <a:spcBef>
                <a:spcPct val="0"/>
              </a:spcBef>
              <a:buFontTx/>
              <a:buChar char="•"/>
            </a:pPr>
            <a:endParaRPr lang="en-US" altLang="en-US" sz="2400">
              <a:solidFill>
                <a:srgbClr val="EAEAEA"/>
              </a:solidFill>
            </a:endParaRPr>
          </a:p>
          <a:p>
            <a:pPr>
              <a:spcBef>
                <a:spcPct val="0"/>
              </a:spcBef>
              <a:buFontTx/>
              <a:buChar char="•"/>
            </a:pPr>
            <a:r>
              <a:rPr lang="en-US" altLang="en-US" sz="2400"/>
              <a:t> Operation and Control</a:t>
            </a:r>
          </a:p>
          <a:p>
            <a:pPr>
              <a:spcBef>
                <a:spcPct val="0"/>
              </a:spcBef>
              <a:buFontTx/>
              <a:buChar char="•"/>
            </a:pPr>
            <a:endParaRPr lang="en-US" altLang="en-US" sz="2400">
              <a:solidFill>
                <a:srgbClr val="DDDDDD"/>
              </a:solidFill>
            </a:endParaRPr>
          </a:p>
          <a:p>
            <a:pPr>
              <a:spcBef>
                <a:spcPct val="0"/>
              </a:spcBef>
              <a:buFontTx/>
              <a:buChar char="•"/>
            </a:pPr>
            <a:endParaRPr lang="th-TH" altLang="en-US" sz="2400"/>
          </a:p>
          <a:p>
            <a:pPr>
              <a:spcBef>
                <a:spcPct val="0"/>
              </a:spcBef>
              <a:buFontTx/>
              <a:buChar char="-"/>
            </a:pPr>
            <a:endParaRPr lang="th-TH" altLang="en-US" sz="2400"/>
          </a:p>
        </p:txBody>
      </p:sp>
    </p:spTree>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650" name="Text Box 2"/>
          <p:cNvSpPr txBox="1">
            <a:spLocks noChangeArrowheads="1"/>
          </p:cNvSpPr>
          <p:nvPr/>
        </p:nvSpPr>
        <p:spPr bwMode="auto">
          <a:xfrm>
            <a:off x="625475" y="388938"/>
            <a:ext cx="7013575"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What we concern about Delignification?</a:t>
            </a:r>
            <a:endParaRPr lang="th-TH" altLang="en-US" b="1"/>
          </a:p>
        </p:txBody>
      </p:sp>
      <p:sp>
        <p:nvSpPr>
          <p:cNvPr id="411651" name="Text Box 12"/>
          <p:cNvSpPr txBox="1">
            <a:spLocks noChangeArrowheads="1"/>
          </p:cNvSpPr>
          <p:nvPr/>
        </p:nvSpPr>
        <p:spPr bwMode="auto">
          <a:xfrm>
            <a:off x="409575" y="1346200"/>
            <a:ext cx="4318000" cy="4446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Char char="•"/>
            </a:pPr>
            <a:r>
              <a:rPr lang="en-US" altLang="en-US" sz="2200"/>
              <a:t> Reliability of Operation</a:t>
            </a:r>
          </a:p>
          <a:p>
            <a:pPr>
              <a:spcBef>
                <a:spcPct val="0"/>
              </a:spcBef>
              <a:buFontTx/>
              <a:buNone/>
            </a:pPr>
            <a:endParaRPr lang="en-US" altLang="en-US" sz="2200"/>
          </a:p>
          <a:p>
            <a:pPr>
              <a:spcBef>
                <a:spcPct val="0"/>
              </a:spcBef>
              <a:buFontTx/>
              <a:buChar char="•"/>
            </a:pPr>
            <a:r>
              <a:rPr lang="en-US" altLang="en-US" sz="2200"/>
              <a:t> Delignification Degree</a:t>
            </a:r>
          </a:p>
          <a:p>
            <a:pPr>
              <a:spcBef>
                <a:spcPct val="0"/>
              </a:spcBef>
              <a:buFontTx/>
              <a:buChar char="•"/>
            </a:pPr>
            <a:endParaRPr lang="en-US" altLang="en-US" sz="2200"/>
          </a:p>
          <a:p>
            <a:pPr>
              <a:spcBef>
                <a:spcPct val="0"/>
              </a:spcBef>
              <a:buFontTx/>
              <a:buChar char="•"/>
            </a:pPr>
            <a:r>
              <a:rPr lang="en-US" altLang="en-US" sz="2200"/>
              <a:t> Chemical Dosage</a:t>
            </a:r>
          </a:p>
          <a:p>
            <a:pPr>
              <a:spcBef>
                <a:spcPct val="0"/>
              </a:spcBef>
              <a:buFontTx/>
              <a:buNone/>
            </a:pPr>
            <a:r>
              <a:rPr lang="en-US" altLang="en-US" sz="2200"/>
              <a:t>   - Oxygen</a:t>
            </a:r>
          </a:p>
          <a:p>
            <a:pPr>
              <a:spcBef>
                <a:spcPct val="0"/>
              </a:spcBef>
              <a:buFontTx/>
              <a:buNone/>
            </a:pPr>
            <a:r>
              <a:rPr lang="en-US" altLang="en-US" sz="2200"/>
              <a:t>   - NaOH</a:t>
            </a:r>
          </a:p>
          <a:p>
            <a:pPr>
              <a:spcBef>
                <a:spcPct val="0"/>
              </a:spcBef>
              <a:buFontTx/>
              <a:buNone/>
            </a:pPr>
            <a:endParaRPr lang="en-US" altLang="en-US" sz="2200"/>
          </a:p>
          <a:p>
            <a:pPr>
              <a:spcBef>
                <a:spcPct val="0"/>
              </a:spcBef>
              <a:buFontTx/>
              <a:buChar char="•"/>
            </a:pPr>
            <a:r>
              <a:rPr lang="en-US" altLang="en-US" sz="2200"/>
              <a:t> Process Condition </a:t>
            </a:r>
          </a:p>
          <a:p>
            <a:pPr>
              <a:spcBef>
                <a:spcPct val="0"/>
              </a:spcBef>
              <a:buFontTx/>
              <a:buNone/>
            </a:pPr>
            <a:r>
              <a:rPr lang="en-US" altLang="en-US" sz="2200"/>
              <a:t>   - Pressure, Temperature,</a:t>
            </a:r>
          </a:p>
          <a:p>
            <a:pPr>
              <a:spcBef>
                <a:spcPct val="0"/>
              </a:spcBef>
              <a:buFontTx/>
              <a:buNone/>
            </a:pPr>
            <a:r>
              <a:rPr lang="en-US" altLang="en-US" sz="2200"/>
              <a:t>     %consistency, Reaction Time,</a:t>
            </a:r>
          </a:p>
          <a:p>
            <a:pPr>
              <a:spcBef>
                <a:spcPct val="0"/>
              </a:spcBef>
              <a:buFontTx/>
              <a:buNone/>
            </a:pPr>
            <a:r>
              <a:rPr lang="en-US" altLang="en-US" sz="2200"/>
              <a:t>     and </a:t>
            </a:r>
            <a:r>
              <a:rPr lang="en-US" altLang="en-US" sz="2200" b="1">
                <a:solidFill>
                  <a:srgbClr val="FF0000"/>
                </a:solidFill>
              </a:rPr>
              <a:t>End-PH</a:t>
            </a:r>
            <a:endParaRPr lang="th-TH" altLang="en-US" sz="2200" b="1">
              <a:solidFill>
                <a:srgbClr val="FF0000"/>
              </a:solidFill>
            </a:endParaRPr>
          </a:p>
          <a:p>
            <a:pPr>
              <a:spcBef>
                <a:spcPct val="0"/>
              </a:spcBef>
              <a:buFontTx/>
              <a:buChar char="-"/>
            </a:pPr>
            <a:endParaRPr lang="th-TH" altLang="en-US" sz="2200" b="1"/>
          </a:p>
        </p:txBody>
      </p:sp>
      <p:pic>
        <p:nvPicPr>
          <p:cNvPr id="411652" name="Picture 13" descr="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52900" y="1524000"/>
            <a:ext cx="4826000" cy="289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2674" name="Text Box 2"/>
          <p:cNvSpPr txBox="1">
            <a:spLocks noChangeArrowheads="1"/>
          </p:cNvSpPr>
          <p:nvPr/>
        </p:nvSpPr>
        <p:spPr bwMode="auto">
          <a:xfrm>
            <a:off x="727075" y="565150"/>
            <a:ext cx="3956050" cy="585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Delignification Degree</a:t>
            </a:r>
            <a:endParaRPr lang="th-TH" altLang="en-US" b="1"/>
          </a:p>
        </p:txBody>
      </p:sp>
      <p:grpSp>
        <p:nvGrpSpPr>
          <p:cNvPr id="412675" name="Group 3"/>
          <p:cNvGrpSpPr>
            <a:grpSpLocks/>
          </p:cNvGrpSpPr>
          <p:nvPr/>
        </p:nvGrpSpPr>
        <p:grpSpPr bwMode="auto">
          <a:xfrm>
            <a:off x="5335588" y="1646238"/>
            <a:ext cx="1943100" cy="1128712"/>
            <a:chOff x="1066" y="1706"/>
            <a:chExt cx="1224" cy="711"/>
          </a:xfrm>
        </p:grpSpPr>
        <p:sp>
          <p:nvSpPr>
            <p:cNvPr id="412681" name="Text Box 4"/>
            <p:cNvSpPr txBox="1">
              <a:spLocks noChangeArrowheads="1"/>
            </p:cNvSpPr>
            <p:nvPr/>
          </p:nvSpPr>
          <p:spPr bwMode="auto">
            <a:xfrm>
              <a:off x="1111" y="1706"/>
              <a:ext cx="1070"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th-TH" altLang="en-US" sz="2800" b="1"/>
                <a:t>  </a:t>
              </a:r>
              <a:r>
                <a:rPr lang="en-US" altLang="en-US" sz="2800" b="1"/>
                <a:t>K</a:t>
              </a:r>
              <a:r>
                <a:rPr lang="en-US" altLang="en-US" sz="2800" b="1" baseline="-25000"/>
                <a:t>in</a:t>
              </a:r>
              <a:r>
                <a:rPr lang="en-US" altLang="en-US" sz="2800" b="1"/>
                <a:t>  -  K</a:t>
              </a:r>
              <a:r>
                <a:rPr lang="en-US" altLang="en-US" sz="2800" b="1" baseline="-25000"/>
                <a:t>out</a:t>
              </a:r>
              <a:endParaRPr lang="th-TH" altLang="en-US" sz="2800" b="1" baseline="-25000"/>
            </a:p>
          </p:txBody>
        </p:sp>
        <p:sp>
          <p:nvSpPr>
            <p:cNvPr id="412682" name="Line 5"/>
            <p:cNvSpPr>
              <a:spLocks noChangeShapeType="1"/>
            </p:cNvSpPr>
            <p:nvPr/>
          </p:nvSpPr>
          <p:spPr bwMode="auto">
            <a:xfrm>
              <a:off x="1066" y="2042"/>
              <a:ext cx="12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2683" name="Text Box 6"/>
            <p:cNvSpPr txBox="1">
              <a:spLocks noChangeArrowheads="1"/>
            </p:cNvSpPr>
            <p:nvPr/>
          </p:nvSpPr>
          <p:spPr bwMode="auto">
            <a:xfrm>
              <a:off x="1469" y="2087"/>
              <a:ext cx="359"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b="1"/>
                <a:t>K</a:t>
              </a:r>
              <a:r>
                <a:rPr lang="en-US" altLang="en-US" sz="2800" b="1" baseline="-25000"/>
                <a:t>in</a:t>
              </a:r>
              <a:endParaRPr lang="th-TH" altLang="en-US" sz="2800" b="1" baseline="-25000"/>
            </a:p>
          </p:txBody>
        </p:sp>
      </p:grpSp>
      <p:sp>
        <p:nvSpPr>
          <p:cNvPr id="412676" name="Text Box 7"/>
          <p:cNvSpPr txBox="1">
            <a:spLocks noChangeArrowheads="1"/>
          </p:cNvSpPr>
          <p:nvPr/>
        </p:nvSpPr>
        <p:spPr bwMode="auto">
          <a:xfrm>
            <a:off x="1497013" y="1857375"/>
            <a:ext cx="3748087"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b="1"/>
              <a:t>Delignification Degree =</a:t>
            </a:r>
            <a:endParaRPr lang="th-TH" altLang="en-US" sz="2800" b="1"/>
          </a:p>
        </p:txBody>
      </p:sp>
      <p:sp>
        <p:nvSpPr>
          <p:cNvPr id="412677" name="Text Box 8"/>
          <p:cNvSpPr txBox="1">
            <a:spLocks noChangeArrowheads="1"/>
          </p:cNvSpPr>
          <p:nvPr/>
        </p:nvSpPr>
        <p:spPr bwMode="auto">
          <a:xfrm>
            <a:off x="368300" y="2581275"/>
            <a:ext cx="5472113" cy="1036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a:t>K</a:t>
            </a:r>
            <a:r>
              <a:rPr lang="en-US" altLang="en-US" sz="2000" baseline="-25000"/>
              <a:t>in</a:t>
            </a:r>
            <a:r>
              <a:rPr lang="th-TH" altLang="en-US" sz="2000" baseline="-25000"/>
              <a:t> </a:t>
            </a:r>
            <a:r>
              <a:rPr lang="en-US" altLang="en-US" sz="2000"/>
              <a:t>~ Kappa no. before O2 delignification </a:t>
            </a:r>
          </a:p>
          <a:p>
            <a:pPr>
              <a:spcBef>
                <a:spcPct val="0"/>
              </a:spcBef>
              <a:buFontTx/>
              <a:buNone/>
            </a:pPr>
            <a:r>
              <a:rPr lang="en-US" altLang="en-US" sz="2000"/>
              <a:t>K</a:t>
            </a:r>
            <a:r>
              <a:rPr lang="en-US" altLang="en-US" sz="2000" baseline="-25000"/>
              <a:t>out</a:t>
            </a:r>
            <a:r>
              <a:rPr lang="en-US" altLang="en-US" sz="2000" b="1" baseline="-25000"/>
              <a:t> </a:t>
            </a:r>
            <a:r>
              <a:rPr lang="en-US" altLang="en-US" sz="2000" b="1"/>
              <a:t>~ </a:t>
            </a:r>
            <a:r>
              <a:rPr lang="en-US" altLang="en-US" sz="2000"/>
              <a:t>Kappa no. after O2 delignification </a:t>
            </a:r>
          </a:p>
          <a:p>
            <a:pPr>
              <a:spcBef>
                <a:spcPct val="0"/>
              </a:spcBef>
              <a:buFontTx/>
              <a:buNone/>
            </a:pPr>
            <a:r>
              <a:rPr lang="en-US" altLang="en-US" sz="2200" b="1" baseline="-25000">
                <a:solidFill>
                  <a:srgbClr val="FF0000"/>
                </a:solidFill>
              </a:rPr>
              <a:t>Normal delignification degree ~ 40-50%</a:t>
            </a:r>
            <a:r>
              <a:rPr lang="th-TH" altLang="en-US" sz="2200" b="1" baseline="-25000">
                <a:solidFill>
                  <a:srgbClr val="FF0000"/>
                </a:solidFill>
              </a:rPr>
              <a:t> (</a:t>
            </a:r>
            <a:r>
              <a:rPr lang="en-US" altLang="en-US" sz="2200" b="1" baseline="-25000">
                <a:solidFill>
                  <a:srgbClr val="FF0000"/>
                </a:solidFill>
              </a:rPr>
              <a:t>Hard Wood)</a:t>
            </a:r>
            <a:endParaRPr lang="th-TH" altLang="en-US" sz="2200">
              <a:solidFill>
                <a:srgbClr val="FF0000"/>
              </a:solidFill>
            </a:endParaRPr>
          </a:p>
        </p:txBody>
      </p:sp>
      <p:pic>
        <p:nvPicPr>
          <p:cNvPr id="412678" name="Picture 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06513" y="3683000"/>
            <a:ext cx="7837487" cy="2757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12679" name="Text Box 10"/>
          <p:cNvSpPr txBox="1">
            <a:spLocks noChangeArrowheads="1"/>
          </p:cNvSpPr>
          <p:nvPr/>
        </p:nvSpPr>
        <p:spPr bwMode="auto">
          <a:xfrm>
            <a:off x="3811588" y="3913188"/>
            <a:ext cx="5159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a:solidFill>
                  <a:srgbClr val="FF3300"/>
                </a:solidFill>
              </a:rPr>
              <a:t>K</a:t>
            </a:r>
            <a:r>
              <a:rPr lang="en-US" altLang="en-US" sz="2000" b="1" baseline="-25000">
                <a:solidFill>
                  <a:srgbClr val="FF3300"/>
                </a:solidFill>
              </a:rPr>
              <a:t>in</a:t>
            </a:r>
            <a:endParaRPr lang="th-TH" altLang="en-US" sz="2000" b="1" baseline="-25000">
              <a:solidFill>
                <a:srgbClr val="FF3300"/>
              </a:solidFill>
            </a:endParaRPr>
          </a:p>
        </p:txBody>
      </p:sp>
      <p:sp>
        <p:nvSpPr>
          <p:cNvPr id="412680" name="Text Box 11"/>
          <p:cNvSpPr txBox="1">
            <a:spLocks noChangeArrowheads="1"/>
          </p:cNvSpPr>
          <p:nvPr/>
        </p:nvSpPr>
        <p:spPr bwMode="auto">
          <a:xfrm>
            <a:off x="6488113" y="3913188"/>
            <a:ext cx="6270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a:solidFill>
                  <a:srgbClr val="FF3300"/>
                </a:solidFill>
              </a:rPr>
              <a:t>K</a:t>
            </a:r>
            <a:r>
              <a:rPr lang="en-US" altLang="en-US" sz="2000" b="1" baseline="-25000">
                <a:solidFill>
                  <a:srgbClr val="FF3300"/>
                </a:solidFill>
              </a:rPr>
              <a:t>out</a:t>
            </a:r>
            <a:endParaRPr lang="th-TH" altLang="en-US" sz="2000" b="1" baseline="-25000">
              <a:solidFill>
                <a:srgbClr val="FF3300"/>
              </a:solidFill>
            </a:endParaRPr>
          </a:p>
        </p:txBody>
      </p:sp>
    </p:spTree>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698" name="Text Box 2"/>
          <p:cNvSpPr txBox="1">
            <a:spLocks noChangeArrowheads="1"/>
          </p:cNvSpPr>
          <p:nvPr/>
        </p:nvSpPr>
        <p:spPr bwMode="auto">
          <a:xfrm>
            <a:off x="611188" y="492125"/>
            <a:ext cx="3070225"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Chemical Dosage</a:t>
            </a:r>
            <a:endParaRPr lang="th-TH" altLang="en-US" b="1"/>
          </a:p>
        </p:txBody>
      </p:sp>
      <p:sp>
        <p:nvSpPr>
          <p:cNvPr id="413699" name="Text Box 12"/>
          <p:cNvSpPr txBox="1">
            <a:spLocks noChangeArrowheads="1"/>
          </p:cNvSpPr>
          <p:nvPr/>
        </p:nvSpPr>
        <p:spPr bwMode="auto">
          <a:xfrm>
            <a:off x="611188" y="1196975"/>
            <a:ext cx="21320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i="1">
                <a:solidFill>
                  <a:srgbClr val="FF0000"/>
                </a:solidFill>
              </a:rPr>
              <a:t>Alkali Charge</a:t>
            </a:r>
            <a:endParaRPr lang="th-TH" altLang="en-US" sz="2400" b="1" i="1">
              <a:solidFill>
                <a:srgbClr val="FF0000"/>
              </a:solidFill>
            </a:endParaRPr>
          </a:p>
        </p:txBody>
      </p:sp>
      <p:sp>
        <p:nvSpPr>
          <p:cNvPr id="413700" name="Text Box 13"/>
          <p:cNvSpPr txBox="1">
            <a:spLocks noChangeArrowheads="1"/>
          </p:cNvSpPr>
          <p:nvPr/>
        </p:nvSpPr>
        <p:spPr bwMode="auto">
          <a:xfrm>
            <a:off x="1397000" y="2246313"/>
            <a:ext cx="611188" cy="92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13701" name="Text Box 14"/>
          <p:cNvSpPr txBox="1">
            <a:spLocks noChangeArrowheads="1"/>
          </p:cNvSpPr>
          <p:nvPr/>
        </p:nvSpPr>
        <p:spPr bwMode="auto">
          <a:xfrm>
            <a:off x="242888" y="2035175"/>
            <a:ext cx="8901112" cy="830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a:t>1.5  - 2.5 kg NaOH per ADT and Kappa number decrease for Softwood</a:t>
            </a:r>
          </a:p>
          <a:p>
            <a:pPr>
              <a:spcBef>
                <a:spcPct val="0"/>
              </a:spcBef>
              <a:buFontTx/>
              <a:buNone/>
            </a:pPr>
            <a:r>
              <a:rPr lang="en-US" altLang="en-US" sz="2400"/>
              <a:t>2.0 – 3.0 kg NaOH per ADT and Kappa number decrease for hardwood</a:t>
            </a:r>
            <a:endParaRPr lang="th-TH" altLang="en-US" sz="2400"/>
          </a:p>
        </p:txBody>
      </p:sp>
      <p:sp>
        <p:nvSpPr>
          <p:cNvPr id="413702" name="Text Box 15"/>
          <p:cNvSpPr txBox="1">
            <a:spLocks noChangeArrowheads="1"/>
          </p:cNvSpPr>
          <p:nvPr/>
        </p:nvSpPr>
        <p:spPr bwMode="auto">
          <a:xfrm>
            <a:off x="709613" y="3246438"/>
            <a:ext cx="5957887" cy="831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a:t>Kappa number decrease = the incoming kappa</a:t>
            </a:r>
          </a:p>
          <a:p>
            <a:pPr>
              <a:spcBef>
                <a:spcPct val="0"/>
              </a:spcBef>
              <a:buFontTx/>
              <a:buNone/>
            </a:pPr>
            <a:r>
              <a:rPr lang="en-US" altLang="en-US" sz="2400"/>
              <a:t>Number minus the set point for the outgoing</a:t>
            </a:r>
            <a:endParaRPr lang="th-TH" altLang="en-US" sz="2400"/>
          </a:p>
        </p:txBody>
      </p:sp>
    </p:spTree>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4722" name="Text Box 2"/>
          <p:cNvSpPr txBox="1">
            <a:spLocks noChangeArrowheads="1"/>
          </p:cNvSpPr>
          <p:nvPr/>
        </p:nvSpPr>
        <p:spPr bwMode="auto">
          <a:xfrm>
            <a:off x="611188" y="388938"/>
            <a:ext cx="3070225"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Chemical Dosage</a:t>
            </a:r>
            <a:endParaRPr lang="th-TH" altLang="en-US" b="1"/>
          </a:p>
        </p:txBody>
      </p:sp>
      <p:sp>
        <p:nvSpPr>
          <p:cNvPr id="414723" name="Text Box 3"/>
          <p:cNvSpPr txBox="1">
            <a:spLocks noChangeArrowheads="1"/>
          </p:cNvSpPr>
          <p:nvPr/>
        </p:nvSpPr>
        <p:spPr bwMode="auto">
          <a:xfrm>
            <a:off x="611188" y="1093788"/>
            <a:ext cx="24368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i="1">
                <a:solidFill>
                  <a:srgbClr val="FF0000"/>
                </a:solidFill>
              </a:rPr>
              <a:t>Oxygen Charge</a:t>
            </a:r>
            <a:endParaRPr lang="th-TH" altLang="en-US" sz="2400" b="1" i="1">
              <a:solidFill>
                <a:srgbClr val="FF0000"/>
              </a:solidFill>
            </a:endParaRPr>
          </a:p>
        </p:txBody>
      </p:sp>
      <p:sp>
        <p:nvSpPr>
          <p:cNvPr id="414724" name="Text Box 4"/>
          <p:cNvSpPr txBox="1">
            <a:spLocks noChangeArrowheads="1"/>
          </p:cNvSpPr>
          <p:nvPr/>
        </p:nvSpPr>
        <p:spPr bwMode="auto">
          <a:xfrm>
            <a:off x="1397000" y="2143125"/>
            <a:ext cx="611188" cy="92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14725" name="Text Box 5"/>
          <p:cNvSpPr txBox="1">
            <a:spLocks noChangeArrowheads="1"/>
          </p:cNvSpPr>
          <p:nvPr/>
        </p:nvSpPr>
        <p:spPr bwMode="auto">
          <a:xfrm>
            <a:off x="611188" y="1903413"/>
            <a:ext cx="7596187" cy="138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a:t>Oxygen Charge is proportional to the alkali charge, </a:t>
            </a:r>
          </a:p>
          <a:p>
            <a:pPr>
              <a:spcBef>
                <a:spcPct val="0"/>
              </a:spcBef>
              <a:buFontTx/>
              <a:buNone/>
            </a:pPr>
            <a:r>
              <a:rPr lang="en-US" altLang="en-US" sz="2800" b="1"/>
              <a:t> it is usually 0.5 – 0.8 times the alkali charge,</a:t>
            </a:r>
          </a:p>
          <a:p>
            <a:pPr>
              <a:spcBef>
                <a:spcPct val="0"/>
              </a:spcBef>
              <a:buFontTx/>
              <a:buNone/>
            </a:pPr>
            <a:r>
              <a:rPr lang="en-US" altLang="en-US" sz="2800"/>
              <a:t>(Upper Limit ~ 25 kg O</a:t>
            </a:r>
            <a:r>
              <a:rPr lang="en-US" altLang="en-US" sz="2800" baseline="-25000"/>
              <a:t>2</a:t>
            </a:r>
            <a:r>
              <a:rPr lang="en-US" altLang="en-US" sz="2800"/>
              <a:t>/t)</a:t>
            </a:r>
            <a:endParaRPr lang="th-TH" altLang="en-US" sz="2800"/>
          </a:p>
        </p:txBody>
      </p:sp>
    </p:spTree>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5746" name="Text Box 3"/>
          <p:cNvSpPr txBox="1">
            <a:spLocks noChangeArrowheads="1"/>
          </p:cNvSpPr>
          <p:nvPr/>
        </p:nvSpPr>
        <p:spPr bwMode="auto">
          <a:xfrm>
            <a:off x="611188" y="388938"/>
            <a:ext cx="7354887"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Effect of NaOH Charge on %Delignification</a:t>
            </a:r>
            <a:endParaRPr lang="th-TH" altLang="en-US" b="1"/>
          </a:p>
        </p:txBody>
      </p:sp>
      <p:pic>
        <p:nvPicPr>
          <p:cNvPr id="415747" name="Picture 2" descr="KE000290"/>
          <p:cNvPicPr>
            <a:picLocks noChangeAspect="1" noChangeArrowheads="1"/>
          </p:cNvPicPr>
          <p:nvPr/>
        </p:nvPicPr>
        <p:blipFill>
          <a:blip r:embed="rId2">
            <a:extLst>
              <a:ext uri="{28A0092B-C50C-407E-A947-70E740481C1C}">
                <a14:useLocalDpi xmlns:a14="http://schemas.microsoft.com/office/drawing/2010/main" val="0"/>
              </a:ext>
            </a:extLst>
          </a:blip>
          <a:srcRect l="9166" t="7594" r="4167" b="8861"/>
          <a:stretch>
            <a:fillRect/>
          </a:stretch>
        </p:blipFill>
        <p:spPr bwMode="auto">
          <a:xfrm>
            <a:off x="1131888" y="1328738"/>
            <a:ext cx="7200900" cy="449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70" name="Rectangle 2"/>
          <p:cNvSpPr>
            <a:spLocks noChangeArrowheads="1"/>
          </p:cNvSpPr>
          <p:nvPr/>
        </p:nvSpPr>
        <p:spPr bwMode="gray">
          <a:xfrm>
            <a:off x="1960563" y="1519238"/>
            <a:ext cx="5359400" cy="3136900"/>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16771" name="Line 3"/>
          <p:cNvSpPr>
            <a:spLocks noChangeShapeType="1"/>
          </p:cNvSpPr>
          <p:nvPr/>
        </p:nvSpPr>
        <p:spPr bwMode="gray">
          <a:xfrm>
            <a:off x="1960563" y="4340225"/>
            <a:ext cx="53594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72" name="Line 4"/>
          <p:cNvSpPr>
            <a:spLocks noChangeShapeType="1"/>
          </p:cNvSpPr>
          <p:nvPr/>
        </p:nvSpPr>
        <p:spPr bwMode="gray">
          <a:xfrm>
            <a:off x="1960563" y="4029075"/>
            <a:ext cx="53594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73" name="Line 5"/>
          <p:cNvSpPr>
            <a:spLocks noChangeShapeType="1"/>
          </p:cNvSpPr>
          <p:nvPr/>
        </p:nvSpPr>
        <p:spPr bwMode="gray">
          <a:xfrm>
            <a:off x="1960563" y="3713163"/>
            <a:ext cx="535940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74" name="Line 6"/>
          <p:cNvSpPr>
            <a:spLocks noChangeShapeType="1"/>
          </p:cNvSpPr>
          <p:nvPr/>
        </p:nvSpPr>
        <p:spPr bwMode="gray">
          <a:xfrm>
            <a:off x="1960563" y="3402013"/>
            <a:ext cx="535940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75" name="Line 7"/>
          <p:cNvSpPr>
            <a:spLocks noChangeShapeType="1"/>
          </p:cNvSpPr>
          <p:nvPr/>
        </p:nvSpPr>
        <p:spPr bwMode="gray">
          <a:xfrm>
            <a:off x="1960563" y="3087688"/>
            <a:ext cx="535940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76" name="Line 8"/>
          <p:cNvSpPr>
            <a:spLocks noChangeShapeType="1"/>
          </p:cNvSpPr>
          <p:nvPr/>
        </p:nvSpPr>
        <p:spPr bwMode="gray">
          <a:xfrm>
            <a:off x="1960563" y="2771775"/>
            <a:ext cx="53594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77" name="Line 9"/>
          <p:cNvSpPr>
            <a:spLocks noChangeShapeType="1"/>
          </p:cNvSpPr>
          <p:nvPr/>
        </p:nvSpPr>
        <p:spPr bwMode="gray">
          <a:xfrm>
            <a:off x="1960563" y="2460625"/>
            <a:ext cx="53594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78" name="Line 10"/>
          <p:cNvSpPr>
            <a:spLocks noChangeShapeType="1"/>
          </p:cNvSpPr>
          <p:nvPr/>
        </p:nvSpPr>
        <p:spPr bwMode="gray">
          <a:xfrm>
            <a:off x="1960563" y="2144713"/>
            <a:ext cx="535940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79" name="Line 11"/>
          <p:cNvSpPr>
            <a:spLocks noChangeShapeType="1"/>
          </p:cNvSpPr>
          <p:nvPr/>
        </p:nvSpPr>
        <p:spPr bwMode="gray">
          <a:xfrm>
            <a:off x="1960563" y="1838325"/>
            <a:ext cx="53594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80" name="Line 12"/>
          <p:cNvSpPr>
            <a:spLocks noChangeShapeType="1"/>
          </p:cNvSpPr>
          <p:nvPr/>
        </p:nvSpPr>
        <p:spPr bwMode="gray">
          <a:xfrm>
            <a:off x="1960563" y="1519238"/>
            <a:ext cx="535940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81" name="Line 13"/>
          <p:cNvSpPr>
            <a:spLocks noChangeShapeType="1"/>
          </p:cNvSpPr>
          <p:nvPr/>
        </p:nvSpPr>
        <p:spPr bwMode="gray">
          <a:xfrm>
            <a:off x="2854325" y="1519238"/>
            <a:ext cx="1588" cy="31369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82" name="Line 14"/>
          <p:cNvSpPr>
            <a:spLocks noChangeShapeType="1"/>
          </p:cNvSpPr>
          <p:nvPr/>
        </p:nvSpPr>
        <p:spPr bwMode="gray">
          <a:xfrm>
            <a:off x="3752850" y="1519238"/>
            <a:ext cx="1588" cy="31369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83" name="Line 15"/>
          <p:cNvSpPr>
            <a:spLocks noChangeShapeType="1"/>
          </p:cNvSpPr>
          <p:nvPr/>
        </p:nvSpPr>
        <p:spPr bwMode="gray">
          <a:xfrm>
            <a:off x="4641850" y="1519238"/>
            <a:ext cx="1588" cy="31369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84" name="Line 16"/>
          <p:cNvSpPr>
            <a:spLocks noChangeShapeType="1"/>
          </p:cNvSpPr>
          <p:nvPr/>
        </p:nvSpPr>
        <p:spPr bwMode="gray">
          <a:xfrm>
            <a:off x="5532438" y="1519238"/>
            <a:ext cx="1587" cy="31369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85" name="Line 17"/>
          <p:cNvSpPr>
            <a:spLocks noChangeShapeType="1"/>
          </p:cNvSpPr>
          <p:nvPr/>
        </p:nvSpPr>
        <p:spPr bwMode="gray">
          <a:xfrm>
            <a:off x="6430963" y="1519238"/>
            <a:ext cx="1587" cy="31369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86" name="Line 18"/>
          <p:cNvSpPr>
            <a:spLocks noChangeShapeType="1"/>
          </p:cNvSpPr>
          <p:nvPr/>
        </p:nvSpPr>
        <p:spPr bwMode="gray">
          <a:xfrm>
            <a:off x="7319963" y="1519238"/>
            <a:ext cx="1587" cy="31369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87" name="Freeform 19"/>
          <p:cNvSpPr>
            <a:spLocks/>
          </p:cNvSpPr>
          <p:nvPr/>
        </p:nvSpPr>
        <p:spPr bwMode="gray">
          <a:xfrm>
            <a:off x="1955800" y="1514475"/>
            <a:ext cx="5368925" cy="9525"/>
          </a:xfrm>
          <a:custGeom>
            <a:avLst/>
            <a:gdLst>
              <a:gd name="T0" fmla="*/ 2147483646 w 3382"/>
              <a:gd name="T1" fmla="*/ 0 h 6"/>
              <a:gd name="T2" fmla="*/ 0 w 3382"/>
              <a:gd name="T3" fmla="*/ 0 h 6"/>
              <a:gd name="T4" fmla="*/ 0 w 3382"/>
              <a:gd name="T5" fmla="*/ 2147483646 h 6"/>
              <a:gd name="T6" fmla="*/ 2147483646 w 3382"/>
              <a:gd name="T7" fmla="*/ 2147483646 h 6"/>
              <a:gd name="T8" fmla="*/ 2147483646 w 3382"/>
              <a:gd name="T9" fmla="*/ 0 h 6"/>
              <a:gd name="T10" fmla="*/ 2147483646 w 3382"/>
              <a:gd name="T11" fmla="*/ 0 h 6"/>
              <a:gd name="T12" fmla="*/ 2147483646 w 3382"/>
              <a:gd name="T13" fmla="*/ 0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82" h="6">
                <a:moveTo>
                  <a:pt x="3" y="0"/>
                </a:moveTo>
                <a:lnTo>
                  <a:pt x="0" y="0"/>
                </a:lnTo>
                <a:lnTo>
                  <a:pt x="0" y="6"/>
                </a:lnTo>
                <a:lnTo>
                  <a:pt x="3382" y="6"/>
                </a:lnTo>
                <a:lnTo>
                  <a:pt x="3382" y="0"/>
                </a:lnTo>
                <a:lnTo>
                  <a:pt x="3379" y="0"/>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6788" name="Freeform 20"/>
          <p:cNvSpPr>
            <a:spLocks/>
          </p:cNvSpPr>
          <p:nvPr/>
        </p:nvSpPr>
        <p:spPr bwMode="gray">
          <a:xfrm>
            <a:off x="7315200" y="1514475"/>
            <a:ext cx="9525" cy="3146425"/>
          </a:xfrm>
          <a:custGeom>
            <a:avLst/>
            <a:gdLst>
              <a:gd name="T0" fmla="*/ 2147483646 w 6"/>
              <a:gd name="T1" fmla="*/ 2147483646 h 1982"/>
              <a:gd name="T2" fmla="*/ 2147483646 w 6"/>
              <a:gd name="T3" fmla="*/ 0 h 1982"/>
              <a:gd name="T4" fmla="*/ 0 w 6"/>
              <a:gd name="T5" fmla="*/ 0 h 1982"/>
              <a:gd name="T6" fmla="*/ 0 w 6"/>
              <a:gd name="T7" fmla="*/ 2147483646 h 1982"/>
              <a:gd name="T8" fmla="*/ 2147483646 w 6"/>
              <a:gd name="T9" fmla="*/ 2147483646 h 1982"/>
              <a:gd name="T10" fmla="*/ 2147483646 w 6"/>
              <a:gd name="T11" fmla="*/ 2147483646 h 1982"/>
              <a:gd name="T12" fmla="*/ 2147483646 w 6"/>
              <a:gd name="T13" fmla="*/ 2147483646 h 19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1982">
                <a:moveTo>
                  <a:pt x="6" y="3"/>
                </a:moveTo>
                <a:lnTo>
                  <a:pt x="6" y="0"/>
                </a:lnTo>
                <a:lnTo>
                  <a:pt x="0" y="0"/>
                </a:lnTo>
                <a:lnTo>
                  <a:pt x="0" y="1982"/>
                </a:lnTo>
                <a:lnTo>
                  <a:pt x="6" y="1982"/>
                </a:lnTo>
                <a:lnTo>
                  <a:pt x="6" y="1979"/>
                </a:lnTo>
                <a:lnTo>
                  <a:pt x="6" y="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6789" name="Freeform 21"/>
          <p:cNvSpPr>
            <a:spLocks/>
          </p:cNvSpPr>
          <p:nvPr/>
        </p:nvSpPr>
        <p:spPr bwMode="gray">
          <a:xfrm>
            <a:off x="1955800" y="4651375"/>
            <a:ext cx="5368925" cy="9525"/>
          </a:xfrm>
          <a:custGeom>
            <a:avLst/>
            <a:gdLst>
              <a:gd name="T0" fmla="*/ 2147483646 w 3382"/>
              <a:gd name="T1" fmla="*/ 2147483646 h 6"/>
              <a:gd name="T2" fmla="*/ 2147483646 w 3382"/>
              <a:gd name="T3" fmla="*/ 2147483646 h 6"/>
              <a:gd name="T4" fmla="*/ 2147483646 w 3382"/>
              <a:gd name="T5" fmla="*/ 0 h 6"/>
              <a:gd name="T6" fmla="*/ 0 w 3382"/>
              <a:gd name="T7" fmla="*/ 0 h 6"/>
              <a:gd name="T8" fmla="*/ 0 w 3382"/>
              <a:gd name="T9" fmla="*/ 2147483646 h 6"/>
              <a:gd name="T10" fmla="*/ 2147483646 w 3382"/>
              <a:gd name="T11" fmla="*/ 2147483646 h 6"/>
              <a:gd name="T12" fmla="*/ 2147483646 w 3382"/>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82" h="6">
                <a:moveTo>
                  <a:pt x="3379" y="6"/>
                </a:moveTo>
                <a:lnTo>
                  <a:pt x="3382" y="6"/>
                </a:lnTo>
                <a:lnTo>
                  <a:pt x="3382" y="0"/>
                </a:lnTo>
                <a:lnTo>
                  <a:pt x="0" y="0"/>
                </a:lnTo>
                <a:lnTo>
                  <a:pt x="0" y="6"/>
                </a:lnTo>
                <a:lnTo>
                  <a:pt x="3" y="6"/>
                </a:lnTo>
                <a:lnTo>
                  <a:pt x="3379" y="6"/>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6790" name="Freeform 22"/>
          <p:cNvSpPr>
            <a:spLocks/>
          </p:cNvSpPr>
          <p:nvPr/>
        </p:nvSpPr>
        <p:spPr bwMode="gray">
          <a:xfrm>
            <a:off x="1955800" y="1514475"/>
            <a:ext cx="9525" cy="3146425"/>
          </a:xfrm>
          <a:custGeom>
            <a:avLst/>
            <a:gdLst>
              <a:gd name="T0" fmla="*/ 0 w 6"/>
              <a:gd name="T1" fmla="*/ 2147483646 h 1982"/>
              <a:gd name="T2" fmla="*/ 0 w 6"/>
              <a:gd name="T3" fmla="*/ 2147483646 h 1982"/>
              <a:gd name="T4" fmla="*/ 2147483646 w 6"/>
              <a:gd name="T5" fmla="*/ 2147483646 h 1982"/>
              <a:gd name="T6" fmla="*/ 2147483646 w 6"/>
              <a:gd name="T7" fmla="*/ 0 h 1982"/>
              <a:gd name="T8" fmla="*/ 0 w 6"/>
              <a:gd name="T9" fmla="*/ 0 h 1982"/>
              <a:gd name="T10" fmla="*/ 0 w 6"/>
              <a:gd name="T11" fmla="*/ 2147483646 h 1982"/>
              <a:gd name="T12" fmla="*/ 0 w 6"/>
              <a:gd name="T13" fmla="*/ 2147483646 h 19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1982">
                <a:moveTo>
                  <a:pt x="0" y="1979"/>
                </a:moveTo>
                <a:lnTo>
                  <a:pt x="0" y="1982"/>
                </a:lnTo>
                <a:lnTo>
                  <a:pt x="6" y="1982"/>
                </a:lnTo>
                <a:lnTo>
                  <a:pt x="6" y="0"/>
                </a:lnTo>
                <a:lnTo>
                  <a:pt x="0" y="0"/>
                </a:lnTo>
                <a:lnTo>
                  <a:pt x="0" y="3"/>
                </a:lnTo>
                <a:lnTo>
                  <a:pt x="0" y="197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6791" name="Line 23"/>
          <p:cNvSpPr>
            <a:spLocks noChangeShapeType="1"/>
          </p:cNvSpPr>
          <p:nvPr/>
        </p:nvSpPr>
        <p:spPr bwMode="gray">
          <a:xfrm>
            <a:off x="1960563" y="1519238"/>
            <a:ext cx="1587" cy="31369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92" name="Line 24"/>
          <p:cNvSpPr>
            <a:spLocks noChangeShapeType="1"/>
          </p:cNvSpPr>
          <p:nvPr/>
        </p:nvSpPr>
        <p:spPr bwMode="gray">
          <a:xfrm>
            <a:off x="1898650" y="4656138"/>
            <a:ext cx="61913"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93" name="Line 25"/>
          <p:cNvSpPr>
            <a:spLocks noChangeShapeType="1"/>
          </p:cNvSpPr>
          <p:nvPr/>
        </p:nvSpPr>
        <p:spPr bwMode="gray">
          <a:xfrm>
            <a:off x="1898650" y="4340225"/>
            <a:ext cx="61913"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94" name="Line 26"/>
          <p:cNvSpPr>
            <a:spLocks noChangeShapeType="1"/>
          </p:cNvSpPr>
          <p:nvPr/>
        </p:nvSpPr>
        <p:spPr bwMode="gray">
          <a:xfrm>
            <a:off x="1898650" y="4029075"/>
            <a:ext cx="61913"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95" name="Line 27"/>
          <p:cNvSpPr>
            <a:spLocks noChangeShapeType="1"/>
          </p:cNvSpPr>
          <p:nvPr/>
        </p:nvSpPr>
        <p:spPr bwMode="gray">
          <a:xfrm>
            <a:off x="1898650" y="3713163"/>
            <a:ext cx="61913"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96" name="Line 28"/>
          <p:cNvSpPr>
            <a:spLocks noChangeShapeType="1"/>
          </p:cNvSpPr>
          <p:nvPr/>
        </p:nvSpPr>
        <p:spPr bwMode="gray">
          <a:xfrm>
            <a:off x="1898650" y="3402013"/>
            <a:ext cx="61913"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97" name="Line 29"/>
          <p:cNvSpPr>
            <a:spLocks noChangeShapeType="1"/>
          </p:cNvSpPr>
          <p:nvPr/>
        </p:nvSpPr>
        <p:spPr bwMode="gray">
          <a:xfrm>
            <a:off x="1898650" y="3087688"/>
            <a:ext cx="61913"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98" name="Line 30"/>
          <p:cNvSpPr>
            <a:spLocks noChangeShapeType="1"/>
          </p:cNvSpPr>
          <p:nvPr/>
        </p:nvSpPr>
        <p:spPr bwMode="gray">
          <a:xfrm>
            <a:off x="1898650" y="2771775"/>
            <a:ext cx="61913"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99" name="Line 31"/>
          <p:cNvSpPr>
            <a:spLocks noChangeShapeType="1"/>
          </p:cNvSpPr>
          <p:nvPr/>
        </p:nvSpPr>
        <p:spPr bwMode="gray">
          <a:xfrm>
            <a:off x="1898650" y="2460625"/>
            <a:ext cx="61913"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00" name="Line 32"/>
          <p:cNvSpPr>
            <a:spLocks noChangeShapeType="1"/>
          </p:cNvSpPr>
          <p:nvPr/>
        </p:nvSpPr>
        <p:spPr bwMode="gray">
          <a:xfrm>
            <a:off x="1898650" y="2144713"/>
            <a:ext cx="61913"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01" name="Line 33"/>
          <p:cNvSpPr>
            <a:spLocks noChangeShapeType="1"/>
          </p:cNvSpPr>
          <p:nvPr/>
        </p:nvSpPr>
        <p:spPr bwMode="gray">
          <a:xfrm>
            <a:off x="1898650" y="1838325"/>
            <a:ext cx="61913"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02" name="Line 34"/>
          <p:cNvSpPr>
            <a:spLocks noChangeShapeType="1"/>
          </p:cNvSpPr>
          <p:nvPr/>
        </p:nvSpPr>
        <p:spPr bwMode="gray">
          <a:xfrm>
            <a:off x="1898650" y="1519238"/>
            <a:ext cx="61913"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03" name="Line 35"/>
          <p:cNvSpPr>
            <a:spLocks noChangeShapeType="1"/>
          </p:cNvSpPr>
          <p:nvPr/>
        </p:nvSpPr>
        <p:spPr bwMode="gray">
          <a:xfrm>
            <a:off x="1960563" y="4656138"/>
            <a:ext cx="535940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04" name="Line 36"/>
          <p:cNvSpPr>
            <a:spLocks noChangeShapeType="1"/>
          </p:cNvSpPr>
          <p:nvPr/>
        </p:nvSpPr>
        <p:spPr bwMode="gray">
          <a:xfrm flipV="1">
            <a:off x="1960563" y="4656138"/>
            <a:ext cx="1587" cy="60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05" name="Line 37"/>
          <p:cNvSpPr>
            <a:spLocks noChangeShapeType="1"/>
          </p:cNvSpPr>
          <p:nvPr/>
        </p:nvSpPr>
        <p:spPr bwMode="gray">
          <a:xfrm flipV="1">
            <a:off x="2854325" y="4656138"/>
            <a:ext cx="1588" cy="60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06" name="Line 38"/>
          <p:cNvSpPr>
            <a:spLocks noChangeShapeType="1"/>
          </p:cNvSpPr>
          <p:nvPr/>
        </p:nvSpPr>
        <p:spPr bwMode="gray">
          <a:xfrm flipV="1">
            <a:off x="3752850" y="4656138"/>
            <a:ext cx="1588" cy="60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07" name="Line 39"/>
          <p:cNvSpPr>
            <a:spLocks noChangeShapeType="1"/>
          </p:cNvSpPr>
          <p:nvPr/>
        </p:nvSpPr>
        <p:spPr bwMode="gray">
          <a:xfrm flipV="1">
            <a:off x="4641850" y="4656138"/>
            <a:ext cx="1588" cy="60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08" name="Line 40"/>
          <p:cNvSpPr>
            <a:spLocks noChangeShapeType="1"/>
          </p:cNvSpPr>
          <p:nvPr/>
        </p:nvSpPr>
        <p:spPr bwMode="gray">
          <a:xfrm flipV="1">
            <a:off x="5532438" y="4656138"/>
            <a:ext cx="1587" cy="60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09" name="Line 41"/>
          <p:cNvSpPr>
            <a:spLocks noChangeShapeType="1"/>
          </p:cNvSpPr>
          <p:nvPr/>
        </p:nvSpPr>
        <p:spPr bwMode="gray">
          <a:xfrm flipV="1">
            <a:off x="6430963" y="4656138"/>
            <a:ext cx="1587" cy="60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10" name="Line 42"/>
          <p:cNvSpPr>
            <a:spLocks noChangeShapeType="1"/>
          </p:cNvSpPr>
          <p:nvPr/>
        </p:nvSpPr>
        <p:spPr bwMode="gray">
          <a:xfrm flipV="1">
            <a:off x="7319963" y="4656138"/>
            <a:ext cx="1587" cy="603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11" name="Line 43"/>
          <p:cNvSpPr>
            <a:spLocks noChangeShapeType="1"/>
          </p:cNvSpPr>
          <p:nvPr/>
        </p:nvSpPr>
        <p:spPr bwMode="gray">
          <a:xfrm>
            <a:off x="7319963" y="1519238"/>
            <a:ext cx="1587" cy="31369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12" name="Line 44"/>
          <p:cNvSpPr>
            <a:spLocks noChangeShapeType="1"/>
          </p:cNvSpPr>
          <p:nvPr/>
        </p:nvSpPr>
        <p:spPr bwMode="gray">
          <a:xfrm>
            <a:off x="7258050" y="4656138"/>
            <a:ext cx="122238"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13" name="Line 45"/>
          <p:cNvSpPr>
            <a:spLocks noChangeShapeType="1"/>
          </p:cNvSpPr>
          <p:nvPr/>
        </p:nvSpPr>
        <p:spPr bwMode="gray">
          <a:xfrm>
            <a:off x="7258050" y="4340225"/>
            <a:ext cx="122238"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14" name="Line 46"/>
          <p:cNvSpPr>
            <a:spLocks noChangeShapeType="1"/>
          </p:cNvSpPr>
          <p:nvPr/>
        </p:nvSpPr>
        <p:spPr bwMode="gray">
          <a:xfrm>
            <a:off x="7258050" y="4029075"/>
            <a:ext cx="122238"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15" name="Line 47"/>
          <p:cNvSpPr>
            <a:spLocks noChangeShapeType="1"/>
          </p:cNvSpPr>
          <p:nvPr/>
        </p:nvSpPr>
        <p:spPr bwMode="gray">
          <a:xfrm>
            <a:off x="7258050" y="3713163"/>
            <a:ext cx="122238"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16" name="Line 48"/>
          <p:cNvSpPr>
            <a:spLocks noChangeShapeType="1"/>
          </p:cNvSpPr>
          <p:nvPr/>
        </p:nvSpPr>
        <p:spPr bwMode="gray">
          <a:xfrm>
            <a:off x="7258050" y="3402013"/>
            <a:ext cx="122238"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17" name="Line 49"/>
          <p:cNvSpPr>
            <a:spLocks noChangeShapeType="1"/>
          </p:cNvSpPr>
          <p:nvPr/>
        </p:nvSpPr>
        <p:spPr bwMode="gray">
          <a:xfrm>
            <a:off x="7258050" y="3087688"/>
            <a:ext cx="122238"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18" name="Line 50"/>
          <p:cNvSpPr>
            <a:spLocks noChangeShapeType="1"/>
          </p:cNvSpPr>
          <p:nvPr/>
        </p:nvSpPr>
        <p:spPr bwMode="gray">
          <a:xfrm>
            <a:off x="7258050" y="2771775"/>
            <a:ext cx="122238"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19" name="Line 51"/>
          <p:cNvSpPr>
            <a:spLocks noChangeShapeType="1"/>
          </p:cNvSpPr>
          <p:nvPr/>
        </p:nvSpPr>
        <p:spPr bwMode="gray">
          <a:xfrm>
            <a:off x="7258050" y="2460625"/>
            <a:ext cx="122238"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20" name="Line 52"/>
          <p:cNvSpPr>
            <a:spLocks noChangeShapeType="1"/>
          </p:cNvSpPr>
          <p:nvPr/>
        </p:nvSpPr>
        <p:spPr bwMode="gray">
          <a:xfrm>
            <a:off x="7258050" y="2144713"/>
            <a:ext cx="122238"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21" name="Line 53"/>
          <p:cNvSpPr>
            <a:spLocks noChangeShapeType="1"/>
          </p:cNvSpPr>
          <p:nvPr/>
        </p:nvSpPr>
        <p:spPr bwMode="gray">
          <a:xfrm>
            <a:off x="7258050" y="1838325"/>
            <a:ext cx="122238"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22" name="Line 54"/>
          <p:cNvSpPr>
            <a:spLocks noChangeShapeType="1"/>
          </p:cNvSpPr>
          <p:nvPr/>
        </p:nvSpPr>
        <p:spPr bwMode="gray">
          <a:xfrm>
            <a:off x="7258050" y="1519238"/>
            <a:ext cx="122238"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1127" name="Rectangle 55"/>
          <p:cNvSpPr>
            <a:spLocks noChangeArrowheads="1"/>
          </p:cNvSpPr>
          <p:nvPr/>
        </p:nvSpPr>
        <p:spPr bwMode="gray">
          <a:xfrm>
            <a:off x="3157538" y="4730750"/>
            <a:ext cx="161925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defRPr/>
            </a:pPr>
            <a:r>
              <a:rPr lang="en-US" altLang="en-US" sz="2400" b="1">
                <a:solidFill>
                  <a:srgbClr val="000000"/>
                </a:solidFill>
                <a:cs typeface="Arial" panose="020B0604020202020204" pitchFamily="34" charset="0"/>
              </a:rPr>
              <a:t>O</a:t>
            </a:r>
            <a:r>
              <a:rPr lang="en-US" altLang="en-US" sz="2400" b="1" baseline="-25000">
                <a:solidFill>
                  <a:srgbClr val="000000"/>
                </a:solidFill>
                <a:cs typeface="Arial" panose="020B0604020202020204" pitchFamily="34" charset="0"/>
              </a:rPr>
              <a:t>2</a:t>
            </a:r>
            <a:r>
              <a:rPr lang="en-US" altLang="en-US" sz="2400" b="1">
                <a:solidFill>
                  <a:srgbClr val="000000"/>
                </a:solidFill>
                <a:cs typeface="Arial" panose="020B0604020202020204" pitchFamily="34" charset="0"/>
              </a:rPr>
              <a:t> Dosage </a:t>
            </a:r>
            <a:endParaRPr lang="en-US" altLang="en-US" sz="3200" b="1">
              <a:effectLst>
                <a:outerShdw blurRad="38100" dist="38100" dir="2700000" algn="tl">
                  <a:srgbClr val="C0C0C0"/>
                </a:outerShdw>
              </a:effectLst>
              <a:latin typeface="Times New Roman" panose="02020603050405020304" pitchFamily="18" charset="0"/>
              <a:cs typeface="Times New Roman" panose="02020603050405020304" pitchFamily="18" charset="0"/>
            </a:endParaRPr>
          </a:p>
        </p:txBody>
      </p:sp>
      <p:sp>
        <p:nvSpPr>
          <p:cNvPr id="131128" name="Rectangle 56"/>
          <p:cNvSpPr>
            <a:spLocks noChangeArrowheads="1"/>
          </p:cNvSpPr>
          <p:nvPr/>
        </p:nvSpPr>
        <p:spPr bwMode="gray">
          <a:xfrm>
            <a:off x="4803775" y="4670425"/>
            <a:ext cx="744538"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defRPr/>
            </a:pPr>
            <a:r>
              <a:rPr lang="en-US" altLang="en-US" sz="2400" b="1">
                <a:solidFill>
                  <a:srgbClr val="000000"/>
                </a:solidFill>
                <a:cs typeface="Arial" panose="020B0604020202020204" pitchFamily="34" charset="0"/>
              </a:rPr>
              <a:t>[kg/t]</a:t>
            </a:r>
            <a:endParaRPr lang="en-US" altLang="en-US" sz="3200" b="1">
              <a:effectLst>
                <a:outerShdw blurRad="38100" dist="38100" dir="2700000" algn="tl">
                  <a:srgbClr val="C0C0C0"/>
                </a:outerShdw>
              </a:effectLst>
              <a:latin typeface="Times New Roman" panose="02020603050405020304" pitchFamily="18" charset="0"/>
              <a:cs typeface="Times New Roman" panose="02020603050405020304" pitchFamily="18" charset="0"/>
            </a:endParaRPr>
          </a:p>
        </p:txBody>
      </p:sp>
      <p:sp>
        <p:nvSpPr>
          <p:cNvPr id="131129" name="Rectangle 57"/>
          <p:cNvSpPr>
            <a:spLocks noChangeArrowheads="1"/>
          </p:cNvSpPr>
          <p:nvPr/>
        </p:nvSpPr>
        <p:spPr bwMode="gray">
          <a:xfrm rot="16200000">
            <a:off x="390526" y="2963862"/>
            <a:ext cx="2303462" cy="33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defRPr/>
            </a:pPr>
            <a:r>
              <a:rPr lang="en-US" altLang="en-US" sz="2200" b="1">
                <a:solidFill>
                  <a:srgbClr val="000000"/>
                </a:solidFill>
                <a:cs typeface="Arial" panose="020B0604020202020204" pitchFamily="34" charset="0"/>
              </a:rPr>
              <a:t>Kappa Reduction</a:t>
            </a:r>
            <a:endParaRPr lang="en-US" altLang="en-US" b="1">
              <a:effectLst>
                <a:outerShdw blurRad="38100" dist="38100" dir="2700000" algn="tl">
                  <a:srgbClr val="C0C0C0"/>
                </a:outerShdw>
              </a:effectLst>
              <a:cs typeface="Arial" panose="020B0604020202020204" pitchFamily="34" charset="0"/>
            </a:endParaRPr>
          </a:p>
        </p:txBody>
      </p:sp>
      <p:sp>
        <p:nvSpPr>
          <p:cNvPr id="416826" name="Rectangle 58"/>
          <p:cNvSpPr>
            <a:spLocks noChangeArrowheads="1"/>
          </p:cNvSpPr>
          <p:nvPr/>
        </p:nvSpPr>
        <p:spPr bwMode="gray">
          <a:xfrm>
            <a:off x="2058988" y="1651000"/>
            <a:ext cx="1366837" cy="2906713"/>
          </a:xfrm>
          <a:prstGeom prst="rect">
            <a:avLst/>
          </a:prstGeom>
          <a:solidFill>
            <a:srgbClr val="FFBBBB">
              <a:alpha val="50195"/>
            </a:srgbClr>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tIns="46800" anchor="b" anchorCtr="1"/>
          <a:lstStyle>
            <a:lvl1pPr defTabSz="762000">
              <a:spcBef>
                <a:spcPct val="20000"/>
              </a:spcBef>
              <a:buFont typeface="Arial" panose="020B0604020202020204" pitchFamily="34" charset="0"/>
              <a:buChar char="•"/>
              <a:defRPr sz="3200">
                <a:solidFill>
                  <a:schemeClr val="tx1"/>
                </a:solidFill>
                <a:latin typeface="Calibri" panose="020F0502020204030204" pitchFamily="34" charset="0"/>
              </a:defRPr>
            </a:lvl1pPr>
            <a:lvl2pPr marL="571500" indent="-285750" defTabSz="76200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defTabSz="7620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714500" indent="-228600" defTabSz="7620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286000" indent="-228600" defTabSz="7620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7432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32004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6576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41148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fi-FI" altLang="en-US" sz="2000" b="1">
                <a:latin typeface="Arial" panose="020B0604020202020204" pitchFamily="34" charset="0"/>
                <a:cs typeface="Arial" panose="020B0604020202020204" pitchFamily="34" charset="0"/>
              </a:rPr>
              <a:t>High</a:t>
            </a:r>
          </a:p>
          <a:p>
            <a:pPr algn="ctr">
              <a:spcBef>
                <a:spcPct val="0"/>
              </a:spcBef>
              <a:buFontTx/>
              <a:buNone/>
            </a:pPr>
            <a:r>
              <a:rPr lang="fi-FI" altLang="en-US" sz="2000" b="1">
                <a:latin typeface="Arial" panose="020B0604020202020204" pitchFamily="34" charset="0"/>
                <a:cs typeface="Arial" panose="020B0604020202020204" pitchFamily="34" charset="0"/>
              </a:rPr>
              <a:t> Kappa in</a:t>
            </a:r>
            <a:endParaRPr lang="fi-FI" altLang="en-US" sz="1600" b="1">
              <a:latin typeface="Arial" panose="020B0604020202020204" pitchFamily="34" charset="0"/>
              <a:cs typeface="Arial" panose="020B0604020202020204" pitchFamily="34" charset="0"/>
            </a:endParaRPr>
          </a:p>
        </p:txBody>
      </p:sp>
      <p:pic>
        <p:nvPicPr>
          <p:cNvPr id="416827"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2228850" y="1828800"/>
            <a:ext cx="5027613" cy="2011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16828" name="Rectangle 60"/>
          <p:cNvSpPr>
            <a:spLocks noChangeArrowheads="1"/>
          </p:cNvSpPr>
          <p:nvPr/>
        </p:nvSpPr>
        <p:spPr bwMode="gray">
          <a:xfrm>
            <a:off x="4140200" y="3130550"/>
            <a:ext cx="2857500" cy="1389063"/>
          </a:xfrm>
          <a:prstGeom prst="rect">
            <a:avLst/>
          </a:prstGeom>
          <a:solidFill>
            <a:srgbClr val="FFBBBB">
              <a:alpha val="50195"/>
            </a:srgbClr>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tIns="46800" anchor="b" anchorCtr="1"/>
          <a:lstStyle>
            <a:lvl1pPr defTabSz="762000">
              <a:spcBef>
                <a:spcPct val="20000"/>
              </a:spcBef>
              <a:buFont typeface="Arial" panose="020B0604020202020204" pitchFamily="34" charset="0"/>
              <a:buChar char="•"/>
              <a:defRPr sz="3200">
                <a:solidFill>
                  <a:schemeClr val="tx1"/>
                </a:solidFill>
                <a:latin typeface="Calibri" panose="020F0502020204030204" pitchFamily="34" charset="0"/>
              </a:defRPr>
            </a:lvl1pPr>
            <a:lvl2pPr marL="571500" indent="-285750" defTabSz="76200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defTabSz="7620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714500" indent="-228600" defTabSz="7620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286000" indent="-228600" defTabSz="7620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7432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32004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6576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41148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fi-FI" altLang="en-US" sz="2000" b="1">
                <a:solidFill>
                  <a:schemeClr val="hlink"/>
                </a:solidFill>
                <a:latin typeface="Arial" panose="020B0604020202020204" pitchFamily="34" charset="0"/>
                <a:cs typeface="Arial" panose="020B0604020202020204" pitchFamily="34" charset="0"/>
              </a:rPr>
              <a:t>High O</a:t>
            </a:r>
            <a:r>
              <a:rPr lang="fi-FI" altLang="en-US" sz="2000" b="1" baseline="-25000">
                <a:solidFill>
                  <a:schemeClr val="hlink"/>
                </a:solidFill>
                <a:latin typeface="Arial" panose="020B0604020202020204" pitchFamily="34" charset="0"/>
                <a:cs typeface="Arial" panose="020B0604020202020204" pitchFamily="34" charset="0"/>
              </a:rPr>
              <a:t>2</a:t>
            </a:r>
            <a:r>
              <a:rPr lang="fi-FI" altLang="en-US" sz="2000" b="1">
                <a:solidFill>
                  <a:schemeClr val="hlink"/>
                </a:solidFill>
                <a:latin typeface="Arial" panose="020B0604020202020204" pitchFamily="34" charset="0"/>
                <a:cs typeface="Arial" panose="020B0604020202020204" pitchFamily="34" charset="0"/>
              </a:rPr>
              <a:t> Dosage</a:t>
            </a:r>
          </a:p>
          <a:p>
            <a:pPr algn="ctr">
              <a:spcBef>
                <a:spcPct val="0"/>
              </a:spcBef>
              <a:buFontTx/>
              <a:buNone/>
            </a:pPr>
            <a:r>
              <a:rPr lang="fi-FI" altLang="en-US" sz="2000" b="1">
                <a:solidFill>
                  <a:schemeClr val="hlink"/>
                </a:solidFill>
                <a:latin typeface="Arial" panose="020B0604020202020204" pitchFamily="34" charset="0"/>
                <a:cs typeface="Arial" panose="020B0604020202020204" pitchFamily="34" charset="0"/>
              </a:rPr>
              <a:t>or Low Kappa in</a:t>
            </a:r>
          </a:p>
          <a:p>
            <a:pPr algn="ctr">
              <a:spcBef>
                <a:spcPct val="0"/>
              </a:spcBef>
              <a:buFontTx/>
              <a:buNone/>
            </a:pPr>
            <a:r>
              <a:rPr lang="fi-FI" altLang="en-US" sz="2000" b="1">
                <a:solidFill>
                  <a:schemeClr val="hlink"/>
                </a:solidFill>
                <a:latin typeface="Arial" panose="020B0604020202020204" pitchFamily="34" charset="0"/>
                <a:cs typeface="Arial" panose="020B0604020202020204" pitchFamily="34" charset="0"/>
              </a:rPr>
              <a:t>=&gt; Mixing Problem</a:t>
            </a:r>
          </a:p>
          <a:p>
            <a:pPr algn="ctr">
              <a:spcBef>
                <a:spcPct val="0"/>
              </a:spcBef>
              <a:buFontTx/>
              <a:buNone/>
            </a:pPr>
            <a:r>
              <a:rPr lang="fi-FI" altLang="en-US" sz="2000" b="1">
                <a:solidFill>
                  <a:schemeClr val="hlink"/>
                </a:solidFill>
                <a:latin typeface="Arial" panose="020B0604020202020204" pitchFamily="34" charset="0"/>
                <a:cs typeface="Arial" panose="020B0604020202020204" pitchFamily="34" charset="0"/>
              </a:rPr>
              <a:t>=&gt;Low Bleachability</a:t>
            </a:r>
            <a:endParaRPr lang="fi-FI" altLang="en-US" sz="1800">
              <a:solidFill>
                <a:schemeClr val="hlink"/>
              </a:solidFill>
              <a:latin typeface="Arial" panose="020B0604020202020204" pitchFamily="34" charset="0"/>
              <a:cs typeface="Arial" panose="020B0604020202020204" pitchFamily="34" charset="0"/>
            </a:endParaRPr>
          </a:p>
        </p:txBody>
      </p:sp>
      <p:sp>
        <p:nvSpPr>
          <p:cNvPr id="131133" name="Text Box 61"/>
          <p:cNvSpPr txBox="1">
            <a:spLocks noChangeArrowheads="1"/>
          </p:cNvSpPr>
          <p:nvPr/>
        </p:nvSpPr>
        <p:spPr bwMode="gray">
          <a:xfrm rot="-28071">
            <a:off x="4768850" y="1582738"/>
            <a:ext cx="2344738" cy="336550"/>
          </a:xfrm>
          <a:prstGeom prst="rect">
            <a:avLst/>
          </a:prstGeom>
          <a:solidFill>
            <a:srgbClr val="FFFF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indent="292100" algn="l">
              <a:tabLst>
                <a:tab pos="292100" algn="l"/>
                <a:tab pos="762000" algn="l"/>
              </a:tabLst>
              <a:defRPr sz="2800">
                <a:solidFill>
                  <a:schemeClr val="tx1"/>
                </a:solidFill>
                <a:latin typeface="Arial" panose="020B0604020202020204" pitchFamily="34" charset="0"/>
                <a:cs typeface="Angsana New" panose="02020603050405020304" pitchFamily="18" charset="-34"/>
              </a:defRPr>
            </a:lvl1pPr>
            <a:lvl2pPr marL="482600" indent="279400" algn="l">
              <a:tabLst>
                <a:tab pos="292100" algn="l"/>
                <a:tab pos="762000" algn="l"/>
              </a:tabLst>
              <a:defRPr sz="2800">
                <a:solidFill>
                  <a:schemeClr val="tx1"/>
                </a:solidFill>
                <a:latin typeface="Arial" panose="020B0604020202020204" pitchFamily="34" charset="0"/>
                <a:cs typeface="Angsana New" panose="02020603050405020304" pitchFamily="18" charset="-34"/>
              </a:defRPr>
            </a:lvl2pPr>
            <a:lvl3pPr marL="952500" algn="l">
              <a:tabLst>
                <a:tab pos="292100" algn="l"/>
                <a:tab pos="762000" algn="l"/>
              </a:tabLst>
              <a:defRPr sz="2800">
                <a:solidFill>
                  <a:schemeClr val="tx1"/>
                </a:solidFill>
                <a:latin typeface="Arial" panose="020B0604020202020204" pitchFamily="34" charset="0"/>
                <a:cs typeface="Angsana New" panose="02020603050405020304" pitchFamily="18" charset="-34"/>
              </a:defRPr>
            </a:lvl3pPr>
            <a:lvl4pPr algn="l">
              <a:tabLst>
                <a:tab pos="292100" algn="l"/>
                <a:tab pos="762000" algn="l"/>
              </a:tabLst>
              <a:defRPr sz="2800">
                <a:solidFill>
                  <a:schemeClr val="tx1"/>
                </a:solidFill>
                <a:latin typeface="Arial" panose="020B0604020202020204" pitchFamily="34" charset="0"/>
                <a:cs typeface="Angsana New" panose="02020603050405020304" pitchFamily="18" charset="-34"/>
              </a:defRPr>
            </a:lvl4pPr>
            <a:lvl5pPr algn="l">
              <a:tabLst>
                <a:tab pos="292100" algn="l"/>
                <a:tab pos="762000" algn="l"/>
              </a:tabLst>
              <a:defRPr sz="2800">
                <a:solidFill>
                  <a:schemeClr val="tx1"/>
                </a:solidFill>
                <a:latin typeface="Arial" panose="020B0604020202020204" pitchFamily="34" charset="0"/>
                <a:cs typeface="Angsana New" panose="02020603050405020304" pitchFamily="18" charset="-34"/>
              </a:defRPr>
            </a:lvl5pPr>
            <a:lvl6pPr fontAlgn="base">
              <a:spcBef>
                <a:spcPct val="0"/>
              </a:spcBef>
              <a:spcAft>
                <a:spcPct val="0"/>
              </a:spcAft>
              <a:tabLst>
                <a:tab pos="292100" algn="l"/>
                <a:tab pos="762000" algn="l"/>
              </a:tabLst>
              <a:defRPr sz="2800">
                <a:solidFill>
                  <a:schemeClr val="tx1"/>
                </a:solidFill>
                <a:latin typeface="Arial" panose="020B0604020202020204" pitchFamily="34" charset="0"/>
                <a:cs typeface="Angsana New" panose="02020603050405020304" pitchFamily="18" charset="-34"/>
              </a:defRPr>
            </a:lvl6pPr>
            <a:lvl7pPr fontAlgn="base">
              <a:spcBef>
                <a:spcPct val="0"/>
              </a:spcBef>
              <a:spcAft>
                <a:spcPct val="0"/>
              </a:spcAft>
              <a:tabLst>
                <a:tab pos="292100" algn="l"/>
                <a:tab pos="762000" algn="l"/>
              </a:tabLst>
              <a:defRPr sz="2800">
                <a:solidFill>
                  <a:schemeClr val="tx1"/>
                </a:solidFill>
                <a:latin typeface="Arial" panose="020B0604020202020204" pitchFamily="34" charset="0"/>
                <a:cs typeface="Angsana New" panose="02020603050405020304" pitchFamily="18" charset="-34"/>
              </a:defRPr>
            </a:lvl7pPr>
            <a:lvl8pPr fontAlgn="base">
              <a:spcBef>
                <a:spcPct val="0"/>
              </a:spcBef>
              <a:spcAft>
                <a:spcPct val="0"/>
              </a:spcAft>
              <a:tabLst>
                <a:tab pos="292100" algn="l"/>
                <a:tab pos="762000" algn="l"/>
              </a:tabLst>
              <a:defRPr sz="2800">
                <a:solidFill>
                  <a:schemeClr val="tx1"/>
                </a:solidFill>
                <a:latin typeface="Arial" panose="020B0604020202020204" pitchFamily="34" charset="0"/>
                <a:cs typeface="Angsana New" panose="02020603050405020304" pitchFamily="18" charset="-34"/>
              </a:defRPr>
            </a:lvl8pPr>
            <a:lvl9pPr fontAlgn="base">
              <a:spcBef>
                <a:spcPct val="0"/>
              </a:spcBef>
              <a:spcAft>
                <a:spcPct val="0"/>
              </a:spcAft>
              <a:tabLst>
                <a:tab pos="292100" algn="l"/>
                <a:tab pos="762000" algn="l"/>
              </a:tabLst>
              <a:defRPr sz="2800">
                <a:solidFill>
                  <a:schemeClr val="tx1"/>
                </a:solidFill>
                <a:latin typeface="Arial" panose="020B0604020202020204" pitchFamily="34" charset="0"/>
                <a:cs typeface="Angsana New" panose="02020603050405020304" pitchFamily="18" charset="-34"/>
              </a:defRPr>
            </a:lvl9pPr>
          </a:lstStyle>
          <a:p>
            <a:pPr>
              <a:buClr>
                <a:srgbClr val="3021F9"/>
              </a:buClr>
              <a:buFont typeface="Wingdings" panose="05000000000000000000" pitchFamily="2" charset="2"/>
              <a:buChar char="l"/>
              <a:defRPr/>
            </a:pPr>
            <a:r>
              <a:rPr lang="fi-FI" altLang="en-US" sz="1600" b="1" smtClean="0">
                <a:solidFill>
                  <a:schemeClr val="bg2"/>
                </a:solidFill>
                <a:effectLst>
                  <a:outerShdw blurRad="38100" dist="38100" dir="2700000" algn="tl">
                    <a:srgbClr val="000000"/>
                  </a:outerShdw>
                </a:effectLst>
                <a:cs typeface="Arial" panose="020B0604020202020204" pitchFamily="34" charset="0"/>
              </a:rPr>
              <a:t>Kappa reduction</a:t>
            </a:r>
          </a:p>
        </p:txBody>
      </p:sp>
      <p:sp>
        <p:nvSpPr>
          <p:cNvPr id="416830" name="Text Box 62"/>
          <p:cNvSpPr txBox="1">
            <a:spLocks noChangeArrowheads="1"/>
          </p:cNvSpPr>
          <p:nvPr/>
        </p:nvSpPr>
        <p:spPr bwMode="gray">
          <a:xfrm rot="-28071">
            <a:off x="5889625" y="4683125"/>
            <a:ext cx="1341438" cy="214313"/>
          </a:xfrm>
          <a:prstGeom prst="rect">
            <a:avLst/>
          </a:prstGeom>
          <a:noFill/>
          <a:ln>
            <a:noFill/>
          </a:ln>
          <a:effectLst/>
          <a:extLst>
            <a:ext uri="{909E8E84-426E-40DD-AFC4-6F175D3DCCD1}">
              <a14:hiddenFill xmlns:a14="http://schemas.microsoft.com/office/drawing/2010/main">
                <a:solidFill>
                  <a:srgbClr val="FFFF00">
                    <a:alpha val="50195"/>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tabLst>
                <a:tab pos="0" algn="l"/>
                <a:tab pos="762000" algn="l"/>
              </a:tabLst>
              <a:defRPr sz="3200">
                <a:solidFill>
                  <a:schemeClr val="tx1"/>
                </a:solidFill>
                <a:latin typeface="Calibri" panose="020F0502020204030204" pitchFamily="34" charset="0"/>
              </a:defRPr>
            </a:lvl1pPr>
            <a:lvl2pPr marL="482600" indent="279400">
              <a:spcBef>
                <a:spcPct val="20000"/>
              </a:spcBef>
              <a:buFont typeface="Arial" panose="020B0604020202020204" pitchFamily="34" charset="0"/>
              <a:buChar char="–"/>
              <a:tabLst>
                <a:tab pos="0" algn="l"/>
                <a:tab pos="762000" algn="l"/>
              </a:tabLst>
              <a:defRPr sz="2800">
                <a:solidFill>
                  <a:schemeClr val="tx1"/>
                </a:solidFill>
                <a:latin typeface="Calibri" panose="020F0502020204030204" pitchFamily="34" charset="0"/>
              </a:defRPr>
            </a:lvl2pPr>
            <a:lvl3pPr marL="952500" indent="-228600">
              <a:spcBef>
                <a:spcPct val="20000"/>
              </a:spcBef>
              <a:buFont typeface="Arial" panose="020B0604020202020204" pitchFamily="34" charset="0"/>
              <a:buChar char="•"/>
              <a:tabLst>
                <a:tab pos="0" algn="l"/>
                <a:tab pos="762000" algn="l"/>
              </a:tabLst>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tabLst>
                <a:tab pos="0" algn="l"/>
                <a:tab pos="762000" algn="l"/>
              </a:tabLst>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tabLst>
                <a:tab pos="0" algn="l"/>
                <a:tab pos="762000" algn="l"/>
              </a:tabLst>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tabLst>
                <a:tab pos="0" algn="l"/>
                <a:tab pos="762000" algn="l"/>
              </a:tabLst>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tabLst>
                <a:tab pos="0" algn="l"/>
                <a:tab pos="762000" algn="l"/>
              </a:tabLst>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tabLst>
                <a:tab pos="0" algn="l"/>
                <a:tab pos="762000" algn="l"/>
              </a:tabLst>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tabLst>
                <a:tab pos="0" algn="l"/>
                <a:tab pos="762000" algn="l"/>
              </a:tabLst>
              <a:defRPr sz="2000">
                <a:solidFill>
                  <a:schemeClr val="tx1"/>
                </a:solidFill>
                <a:latin typeface="Calibri" panose="020F0502020204030204" pitchFamily="34" charset="0"/>
              </a:defRPr>
            </a:lvl9pPr>
          </a:lstStyle>
          <a:p>
            <a:pPr>
              <a:spcBef>
                <a:spcPct val="0"/>
              </a:spcBef>
              <a:buClr>
                <a:srgbClr val="3021F9"/>
              </a:buClr>
              <a:buFont typeface="Wingdings" panose="05000000000000000000" pitchFamily="2" charset="2"/>
              <a:buNone/>
            </a:pPr>
            <a:r>
              <a:rPr lang="en-US" altLang="en-US" sz="800">
                <a:latin typeface="Times New Roman" panose="02020603050405020304" pitchFamily="18" charset="0"/>
                <a:cs typeface="Times New Roman" panose="02020603050405020304" pitchFamily="18" charset="0"/>
              </a:rPr>
              <a:t>TP60-K# O2-variables</a:t>
            </a:r>
            <a:endParaRPr lang="fi-FI" altLang="en-US" sz="800">
              <a:latin typeface="Times New Roman" panose="02020603050405020304" pitchFamily="18" charset="0"/>
              <a:cs typeface="Times New Roman" panose="02020603050405020304" pitchFamily="18" charset="0"/>
            </a:endParaRPr>
          </a:p>
        </p:txBody>
      </p:sp>
      <p:sp>
        <p:nvSpPr>
          <p:cNvPr id="416831" name="Text Box 63"/>
          <p:cNvSpPr txBox="1">
            <a:spLocks noChangeArrowheads="1"/>
          </p:cNvSpPr>
          <p:nvPr/>
        </p:nvSpPr>
        <p:spPr bwMode="auto">
          <a:xfrm>
            <a:off x="611188" y="506413"/>
            <a:ext cx="5999162" cy="585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Effect of too much Oxygen Dosage</a:t>
            </a:r>
            <a:endParaRPr lang="th-TH" altLang="en-US" b="1"/>
          </a:p>
        </p:txBody>
      </p:sp>
    </p:spTree>
  </p:cSld>
  <p:clrMapOvr>
    <a:masterClrMapping/>
  </p:clrMapOvr>
  <p:transition/>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8818" name="Text Box 2"/>
          <p:cNvSpPr txBox="1">
            <a:spLocks noChangeArrowheads="1"/>
          </p:cNvSpPr>
          <p:nvPr/>
        </p:nvSpPr>
        <p:spPr bwMode="auto">
          <a:xfrm>
            <a:off x="611188" y="330200"/>
            <a:ext cx="3227387"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Process Condition</a:t>
            </a:r>
            <a:endParaRPr lang="th-TH" altLang="en-US" b="1"/>
          </a:p>
        </p:txBody>
      </p:sp>
      <p:sp>
        <p:nvSpPr>
          <p:cNvPr id="418819" name="Text Box 3"/>
          <p:cNvSpPr txBox="1">
            <a:spLocks noChangeArrowheads="1"/>
          </p:cNvSpPr>
          <p:nvPr/>
        </p:nvSpPr>
        <p:spPr bwMode="auto">
          <a:xfrm>
            <a:off x="611188" y="1035050"/>
            <a:ext cx="2098675"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b="1" i="1">
                <a:solidFill>
                  <a:srgbClr val="FF0000"/>
                </a:solidFill>
              </a:rPr>
              <a:t>Temperature</a:t>
            </a:r>
            <a:endParaRPr lang="th-TH" altLang="en-US" sz="2800" b="1" i="1">
              <a:solidFill>
                <a:srgbClr val="FF0000"/>
              </a:solidFill>
            </a:endParaRPr>
          </a:p>
        </p:txBody>
      </p:sp>
      <p:sp>
        <p:nvSpPr>
          <p:cNvPr id="418820" name="Text Box 4"/>
          <p:cNvSpPr txBox="1">
            <a:spLocks noChangeArrowheads="1"/>
          </p:cNvSpPr>
          <p:nvPr/>
        </p:nvSpPr>
        <p:spPr bwMode="auto">
          <a:xfrm>
            <a:off x="1397000" y="2084388"/>
            <a:ext cx="611188" cy="92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18821" name="Text Box 5"/>
          <p:cNvSpPr txBox="1">
            <a:spLocks noChangeArrowheads="1"/>
          </p:cNvSpPr>
          <p:nvPr/>
        </p:nvSpPr>
        <p:spPr bwMode="auto">
          <a:xfrm>
            <a:off x="284163" y="1668463"/>
            <a:ext cx="8728075" cy="831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t>First Reactor</a:t>
            </a:r>
            <a:r>
              <a:rPr lang="en-US" altLang="en-US" sz="2400"/>
              <a:t>  is Low (80 - 85 </a:t>
            </a:r>
            <a:r>
              <a:rPr lang="en-US" altLang="en-US" sz="2400" baseline="30000"/>
              <a:t>o</a:t>
            </a:r>
            <a:r>
              <a:rPr lang="en-US" altLang="en-US" sz="2400"/>
              <a:t>C) so that the pulp fibers are protected</a:t>
            </a:r>
          </a:p>
          <a:p>
            <a:pPr>
              <a:spcBef>
                <a:spcPct val="0"/>
              </a:spcBef>
              <a:buFontTx/>
              <a:buNone/>
            </a:pPr>
            <a:r>
              <a:rPr lang="en-US" altLang="en-US" sz="2400"/>
              <a:t>                        from degradation during delignification   </a:t>
            </a:r>
            <a:endParaRPr lang="th-TH" altLang="en-US" sz="2400"/>
          </a:p>
        </p:txBody>
      </p:sp>
      <p:sp>
        <p:nvSpPr>
          <p:cNvPr id="418822" name="Text Box 7"/>
          <p:cNvSpPr txBox="1">
            <a:spLocks noChangeArrowheads="1"/>
          </p:cNvSpPr>
          <p:nvPr/>
        </p:nvSpPr>
        <p:spPr bwMode="auto">
          <a:xfrm>
            <a:off x="307975" y="2530475"/>
            <a:ext cx="8674100" cy="831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t>Second Reactor</a:t>
            </a:r>
            <a:r>
              <a:rPr lang="en-US" altLang="en-US" sz="2400"/>
              <a:t>  is adjusted (90 - 105 </a:t>
            </a:r>
            <a:r>
              <a:rPr lang="en-US" altLang="en-US" sz="2400" baseline="30000"/>
              <a:t>o</a:t>
            </a:r>
            <a:r>
              <a:rPr lang="en-US" altLang="en-US" sz="2400"/>
              <a:t>C) so that alkali charge will be</a:t>
            </a:r>
          </a:p>
          <a:p>
            <a:pPr>
              <a:spcBef>
                <a:spcPct val="0"/>
              </a:spcBef>
              <a:buFontTx/>
              <a:buNone/>
            </a:pPr>
            <a:r>
              <a:rPr lang="en-US" altLang="en-US" sz="2400"/>
              <a:t>                              consumed and end-PH of 10.5 to 11.0 is obtained.</a:t>
            </a:r>
            <a:endParaRPr lang="th-TH" altLang="en-US" sz="2400"/>
          </a:p>
        </p:txBody>
      </p:sp>
      <p:pic>
        <p:nvPicPr>
          <p:cNvPr id="418823" name="Picture 8" descr="Untitled8"/>
          <p:cNvPicPr>
            <a:picLocks noChangeAspect="1" noChangeArrowheads="1"/>
          </p:cNvPicPr>
          <p:nvPr/>
        </p:nvPicPr>
        <p:blipFill>
          <a:blip r:embed="rId2" cstate="print">
            <a:extLst>
              <a:ext uri="{28A0092B-C50C-407E-A947-70E740481C1C}">
                <a14:useLocalDpi xmlns:a14="http://schemas.microsoft.com/office/drawing/2010/main" val="0"/>
              </a:ext>
            </a:extLst>
          </a:blip>
          <a:srcRect l="34500" t="12956" b="13060"/>
          <a:stretch>
            <a:fillRect/>
          </a:stretch>
        </p:blipFill>
        <p:spPr bwMode="auto">
          <a:xfrm>
            <a:off x="5148263" y="3427413"/>
            <a:ext cx="2520950"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42" name="Text Box 2"/>
          <p:cNvSpPr txBox="1">
            <a:spLocks noChangeArrowheads="1"/>
          </p:cNvSpPr>
          <p:nvPr/>
        </p:nvSpPr>
        <p:spPr bwMode="auto">
          <a:xfrm>
            <a:off x="611188" y="330200"/>
            <a:ext cx="3227387"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Process Condition</a:t>
            </a:r>
            <a:endParaRPr lang="th-TH" altLang="en-US" b="1"/>
          </a:p>
        </p:txBody>
      </p:sp>
      <p:sp>
        <p:nvSpPr>
          <p:cNvPr id="419843" name="Text Box 3"/>
          <p:cNvSpPr txBox="1">
            <a:spLocks noChangeArrowheads="1"/>
          </p:cNvSpPr>
          <p:nvPr/>
        </p:nvSpPr>
        <p:spPr bwMode="auto">
          <a:xfrm>
            <a:off x="611188" y="1035050"/>
            <a:ext cx="1263650"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b="1" i="1">
                <a:solidFill>
                  <a:srgbClr val="FF0000"/>
                </a:solidFill>
              </a:rPr>
              <a:t>End-PH</a:t>
            </a:r>
            <a:endParaRPr lang="th-TH" altLang="en-US" sz="2800" b="1" i="1">
              <a:solidFill>
                <a:srgbClr val="FF0000"/>
              </a:solidFill>
            </a:endParaRPr>
          </a:p>
        </p:txBody>
      </p:sp>
      <p:sp>
        <p:nvSpPr>
          <p:cNvPr id="419844" name="Text Box 4"/>
          <p:cNvSpPr txBox="1">
            <a:spLocks noChangeArrowheads="1"/>
          </p:cNvSpPr>
          <p:nvPr/>
        </p:nvSpPr>
        <p:spPr bwMode="auto">
          <a:xfrm>
            <a:off x="1397000" y="2084388"/>
            <a:ext cx="611188" cy="92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19845" name="Text Box 6"/>
          <p:cNvSpPr txBox="1">
            <a:spLocks noChangeArrowheads="1"/>
          </p:cNvSpPr>
          <p:nvPr/>
        </p:nvSpPr>
        <p:spPr bwMode="auto">
          <a:xfrm>
            <a:off x="4763" y="1512888"/>
            <a:ext cx="8070850" cy="831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a:t>The end-PH is controlled to provide the best environmental for </a:t>
            </a:r>
          </a:p>
          <a:p>
            <a:pPr>
              <a:spcBef>
                <a:spcPct val="0"/>
              </a:spcBef>
              <a:buFontTx/>
              <a:buNone/>
            </a:pPr>
            <a:r>
              <a:rPr lang="en-US" altLang="en-US" sz="2400"/>
              <a:t>Oxygen/lignin reaction to take place</a:t>
            </a:r>
            <a:endParaRPr lang="th-TH" altLang="en-US" sz="2400"/>
          </a:p>
        </p:txBody>
      </p:sp>
      <p:sp>
        <p:nvSpPr>
          <p:cNvPr id="419846" name="Text Box 7"/>
          <p:cNvSpPr txBox="1">
            <a:spLocks noChangeArrowheads="1"/>
          </p:cNvSpPr>
          <p:nvPr/>
        </p:nvSpPr>
        <p:spPr bwMode="auto">
          <a:xfrm>
            <a:off x="0" y="2354263"/>
            <a:ext cx="925512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a:t>The end-PH is controlled by dosage of alkali and the reactor temperature</a:t>
            </a:r>
            <a:endParaRPr lang="th-TH" altLang="en-US" sz="2400"/>
          </a:p>
        </p:txBody>
      </p:sp>
      <p:sp>
        <p:nvSpPr>
          <p:cNvPr id="419847" name="Text Box 8"/>
          <p:cNvSpPr txBox="1">
            <a:spLocks noChangeArrowheads="1"/>
          </p:cNvSpPr>
          <p:nvPr/>
        </p:nvSpPr>
        <p:spPr bwMode="auto">
          <a:xfrm>
            <a:off x="2808288" y="2978150"/>
            <a:ext cx="2982912" cy="461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t>End-PH ~ 10.5 to 11.0 </a:t>
            </a:r>
            <a:endParaRPr lang="th-TH" altLang="en-US" sz="2400" b="1"/>
          </a:p>
        </p:txBody>
      </p:sp>
      <p:pic>
        <p:nvPicPr>
          <p:cNvPr id="419848" name="Picture 1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187450" y="3765550"/>
            <a:ext cx="6143625" cy="1885950"/>
          </a:xfrm>
          <a:prstGeom prst="rect">
            <a:avLst/>
          </a:prstGeom>
          <a:solidFill>
            <a:schemeClr val="bg1">
              <a:alpha val="50195"/>
            </a:schemeClr>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35187" name="Text Box 19"/>
          <p:cNvSpPr txBox="1">
            <a:spLocks noChangeAspect="1" noChangeArrowheads="1"/>
          </p:cNvSpPr>
          <p:nvPr/>
        </p:nvSpPr>
        <p:spPr bwMode="gray">
          <a:xfrm>
            <a:off x="5508625" y="4368800"/>
            <a:ext cx="1541463" cy="581025"/>
          </a:xfrm>
          <a:prstGeom prst="rect">
            <a:avLst/>
          </a:prstGeom>
          <a:solidFill>
            <a:schemeClr val="bg1">
              <a:alpha val="60001"/>
            </a:schemeClr>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defTabSz="762000">
              <a:defRPr sz="2800">
                <a:solidFill>
                  <a:schemeClr val="tx1"/>
                </a:solidFill>
                <a:latin typeface="Arial" panose="020B0604020202020204" pitchFamily="34" charset="0"/>
                <a:cs typeface="Angsana New" panose="02020603050405020304" pitchFamily="18" charset="-34"/>
              </a:defRPr>
            </a:lvl1pPr>
            <a:lvl2pPr marL="571500" algn="l" defTabSz="762000">
              <a:defRPr sz="2800">
                <a:solidFill>
                  <a:schemeClr val="tx1"/>
                </a:solidFill>
                <a:latin typeface="Arial" panose="020B0604020202020204" pitchFamily="34" charset="0"/>
                <a:cs typeface="Angsana New" panose="02020603050405020304" pitchFamily="18" charset="-34"/>
              </a:defRPr>
            </a:lvl2pPr>
            <a:lvl3pPr marL="1143000" algn="l" defTabSz="762000">
              <a:defRPr sz="2800">
                <a:solidFill>
                  <a:schemeClr val="tx1"/>
                </a:solidFill>
                <a:latin typeface="Arial" panose="020B0604020202020204" pitchFamily="34" charset="0"/>
                <a:cs typeface="Angsana New" panose="02020603050405020304" pitchFamily="18" charset="-34"/>
              </a:defRPr>
            </a:lvl3pPr>
            <a:lvl4pPr marL="1714500" algn="l" defTabSz="762000">
              <a:defRPr sz="2800">
                <a:solidFill>
                  <a:schemeClr val="tx1"/>
                </a:solidFill>
                <a:latin typeface="Arial" panose="020B0604020202020204" pitchFamily="34" charset="0"/>
                <a:cs typeface="Angsana New" panose="02020603050405020304" pitchFamily="18" charset="-34"/>
              </a:defRPr>
            </a:lvl4pPr>
            <a:lvl5pPr marL="2286000" algn="l" defTabSz="762000">
              <a:defRPr sz="2800">
                <a:solidFill>
                  <a:schemeClr val="tx1"/>
                </a:solidFill>
                <a:latin typeface="Arial" panose="020B0604020202020204" pitchFamily="34" charset="0"/>
                <a:cs typeface="Angsana New" panose="02020603050405020304" pitchFamily="18" charset="-34"/>
              </a:defRPr>
            </a:lvl5pPr>
            <a:lvl6pPr marL="2743200" defTabSz="762000" fontAlgn="base">
              <a:spcBef>
                <a:spcPct val="0"/>
              </a:spcBef>
              <a:spcAft>
                <a:spcPct val="0"/>
              </a:spcAft>
              <a:defRPr sz="2800">
                <a:solidFill>
                  <a:schemeClr val="tx1"/>
                </a:solidFill>
                <a:latin typeface="Arial" panose="020B0604020202020204" pitchFamily="34" charset="0"/>
                <a:cs typeface="Angsana New" panose="02020603050405020304" pitchFamily="18" charset="-34"/>
              </a:defRPr>
            </a:lvl6pPr>
            <a:lvl7pPr marL="3200400" defTabSz="762000" fontAlgn="base">
              <a:spcBef>
                <a:spcPct val="0"/>
              </a:spcBef>
              <a:spcAft>
                <a:spcPct val="0"/>
              </a:spcAft>
              <a:defRPr sz="2800">
                <a:solidFill>
                  <a:schemeClr val="tx1"/>
                </a:solidFill>
                <a:latin typeface="Arial" panose="020B0604020202020204" pitchFamily="34" charset="0"/>
                <a:cs typeface="Angsana New" panose="02020603050405020304" pitchFamily="18" charset="-34"/>
              </a:defRPr>
            </a:lvl7pPr>
            <a:lvl8pPr marL="3657600" defTabSz="762000" fontAlgn="base">
              <a:spcBef>
                <a:spcPct val="0"/>
              </a:spcBef>
              <a:spcAft>
                <a:spcPct val="0"/>
              </a:spcAft>
              <a:defRPr sz="2800">
                <a:solidFill>
                  <a:schemeClr val="tx1"/>
                </a:solidFill>
                <a:latin typeface="Arial" panose="020B0604020202020204" pitchFamily="34" charset="0"/>
                <a:cs typeface="Angsana New" panose="02020603050405020304" pitchFamily="18" charset="-34"/>
              </a:defRPr>
            </a:lvl8pPr>
            <a:lvl9pPr marL="4114800" defTabSz="762000" fontAlgn="base">
              <a:spcBef>
                <a:spcPct val="0"/>
              </a:spcBef>
              <a:spcAft>
                <a:spcPct val="0"/>
              </a:spcAft>
              <a:defRPr sz="2800">
                <a:solidFill>
                  <a:schemeClr val="tx1"/>
                </a:solidFill>
                <a:latin typeface="Arial" panose="020B0604020202020204" pitchFamily="34" charset="0"/>
                <a:cs typeface="Angsana New" panose="02020603050405020304" pitchFamily="18" charset="-34"/>
              </a:defRPr>
            </a:lvl9pPr>
          </a:lstStyle>
          <a:p>
            <a:pPr algn="ctr">
              <a:defRPr/>
            </a:pPr>
            <a:r>
              <a:rPr lang="en-US" altLang="en-US" sz="1600" b="1" smtClean="0">
                <a:solidFill>
                  <a:srgbClr val="000000"/>
                </a:solidFill>
                <a:effectLst>
                  <a:outerShdw blurRad="38100" dist="38100" dir="2700000" algn="tl">
                    <a:srgbClr val="C0C0C0"/>
                  </a:outerShdw>
                </a:effectLst>
                <a:cs typeface="Arial" panose="020B0604020202020204" pitchFamily="34" charset="0"/>
              </a:rPr>
              <a:t>Kajaani</a:t>
            </a:r>
          </a:p>
          <a:p>
            <a:pPr algn="ctr">
              <a:defRPr/>
            </a:pPr>
            <a:r>
              <a:rPr lang="en-US" altLang="en-US" sz="1600" b="1" smtClean="0">
                <a:solidFill>
                  <a:srgbClr val="000000"/>
                </a:solidFill>
                <a:effectLst>
                  <a:outerShdw blurRad="38100" dist="38100" dir="2700000" algn="tl">
                    <a:srgbClr val="C0C0C0"/>
                  </a:outerShdw>
                </a:effectLst>
                <a:cs typeface="Arial" panose="020B0604020202020204" pitchFamily="34" charset="0"/>
              </a:rPr>
              <a:t>Filtrate Piston</a:t>
            </a:r>
          </a:p>
        </p:txBody>
      </p:sp>
      <p:sp>
        <p:nvSpPr>
          <p:cNvPr id="135188" name="Text Box 20"/>
          <p:cNvSpPr txBox="1">
            <a:spLocks noChangeAspect="1" noChangeArrowheads="1"/>
          </p:cNvSpPr>
          <p:nvPr/>
        </p:nvSpPr>
        <p:spPr bwMode="gray">
          <a:xfrm>
            <a:off x="2514600" y="4875213"/>
            <a:ext cx="1395413" cy="641350"/>
          </a:xfrm>
          <a:prstGeom prst="rect">
            <a:avLst/>
          </a:prstGeom>
          <a:solidFill>
            <a:schemeClr val="bg1">
              <a:alpha val="59000"/>
            </a:schemeClr>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defTabSz="762000">
              <a:defRPr sz="2800">
                <a:solidFill>
                  <a:schemeClr val="tx1"/>
                </a:solidFill>
                <a:latin typeface="Arial" panose="020B0604020202020204" pitchFamily="34" charset="0"/>
                <a:cs typeface="Angsana New" panose="02020603050405020304" pitchFamily="18" charset="-34"/>
              </a:defRPr>
            </a:lvl1pPr>
            <a:lvl2pPr marL="571500" algn="l" defTabSz="762000">
              <a:defRPr sz="2800">
                <a:solidFill>
                  <a:schemeClr val="tx1"/>
                </a:solidFill>
                <a:latin typeface="Arial" panose="020B0604020202020204" pitchFamily="34" charset="0"/>
                <a:cs typeface="Angsana New" panose="02020603050405020304" pitchFamily="18" charset="-34"/>
              </a:defRPr>
            </a:lvl2pPr>
            <a:lvl3pPr marL="1143000" algn="l" defTabSz="762000">
              <a:defRPr sz="2800">
                <a:solidFill>
                  <a:schemeClr val="tx1"/>
                </a:solidFill>
                <a:latin typeface="Arial" panose="020B0604020202020204" pitchFamily="34" charset="0"/>
                <a:cs typeface="Angsana New" panose="02020603050405020304" pitchFamily="18" charset="-34"/>
              </a:defRPr>
            </a:lvl3pPr>
            <a:lvl4pPr marL="1714500" algn="l" defTabSz="762000">
              <a:defRPr sz="2800">
                <a:solidFill>
                  <a:schemeClr val="tx1"/>
                </a:solidFill>
                <a:latin typeface="Arial" panose="020B0604020202020204" pitchFamily="34" charset="0"/>
                <a:cs typeface="Angsana New" panose="02020603050405020304" pitchFamily="18" charset="-34"/>
              </a:defRPr>
            </a:lvl4pPr>
            <a:lvl5pPr marL="2286000" algn="l" defTabSz="762000">
              <a:defRPr sz="2800">
                <a:solidFill>
                  <a:schemeClr val="tx1"/>
                </a:solidFill>
                <a:latin typeface="Arial" panose="020B0604020202020204" pitchFamily="34" charset="0"/>
                <a:cs typeface="Angsana New" panose="02020603050405020304" pitchFamily="18" charset="-34"/>
              </a:defRPr>
            </a:lvl5pPr>
            <a:lvl6pPr marL="2743200" defTabSz="762000" fontAlgn="base">
              <a:spcBef>
                <a:spcPct val="0"/>
              </a:spcBef>
              <a:spcAft>
                <a:spcPct val="0"/>
              </a:spcAft>
              <a:defRPr sz="2800">
                <a:solidFill>
                  <a:schemeClr val="tx1"/>
                </a:solidFill>
                <a:latin typeface="Arial" panose="020B0604020202020204" pitchFamily="34" charset="0"/>
                <a:cs typeface="Angsana New" panose="02020603050405020304" pitchFamily="18" charset="-34"/>
              </a:defRPr>
            </a:lvl6pPr>
            <a:lvl7pPr marL="3200400" defTabSz="762000" fontAlgn="base">
              <a:spcBef>
                <a:spcPct val="0"/>
              </a:spcBef>
              <a:spcAft>
                <a:spcPct val="0"/>
              </a:spcAft>
              <a:defRPr sz="2800">
                <a:solidFill>
                  <a:schemeClr val="tx1"/>
                </a:solidFill>
                <a:latin typeface="Arial" panose="020B0604020202020204" pitchFamily="34" charset="0"/>
                <a:cs typeface="Angsana New" panose="02020603050405020304" pitchFamily="18" charset="-34"/>
              </a:defRPr>
            </a:lvl7pPr>
            <a:lvl8pPr marL="3657600" defTabSz="762000" fontAlgn="base">
              <a:spcBef>
                <a:spcPct val="0"/>
              </a:spcBef>
              <a:spcAft>
                <a:spcPct val="0"/>
              </a:spcAft>
              <a:defRPr sz="2800">
                <a:solidFill>
                  <a:schemeClr val="tx1"/>
                </a:solidFill>
                <a:latin typeface="Arial" panose="020B0604020202020204" pitchFamily="34" charset="0"/>
                <a:cs typeface="Angsana New" panose="02020603050405020304" pitchFamily="18" charset="-34"/>
              </a:defRPr>
            </a:lvl8pPr>
            <a:lvl9pPr marL="4114800" defTabSz="762000" fontAlgn="base">
              <a:spcBef>
                <a:spcPct val="0"/>
              </a:spcBef>
              <a:spcAft>
                <a:spcPct val="0"/>
              </a:spcAft>
              <a:defRPr sz="2800">
                <a:solidFill>
                  <a:schemeClr val="tx1"/>
                </a:solidFill>
                <a:latin typeface="Arial" panose="020B0604020202020204" pitchFamily="34" charset="0"/>
                <a:cs typeface="Angsana New" panose="02020603050405020304" pitchFamily="18" charset="-34"/>
              </a:defRPr>
            </a:lvl9pPr>
          </a:lstStyle>
          <a:p>
            <a:pPr algn="ctr">
              <a:defRPr/>
            </a:pPr>
            <a:r>
              <a:rPr lang="en-US" altLang="en-US" sz="1800" b="1" smtClean="0">
                <a:solidFill>
                  <a:srgbClr val="3021F9"/>
                </a:solidFill>
                <a:effectLst>
                  <a:outerShdw blurRad="38100" dist="38100" dir="2700000" algn="tl">
                    <a:srgbClr val="C0C0C0"/>
                  </a:outerShdw>
                </a:effectLst>
                <a:cs typeface="Arial" panose="020B0604020202020204" pitchFamily="34" charset="0"/>
              </a:rPr>
              <a:t>Pre O</a:t>
            </a:r>
            <a:r>
              <a:rPr lang="en-US" altLang="en-US" sz="1800" b="1" baseline="-25000" smtClean="0">
                <a:solidFill>
                  <a:srgbClr val="3021F9"/>
                </a:solidFill>
                <a:effectLst>
                  <a:outerShdw blurRad="38100" dist="38100" dir="2700000" algn="tl">
                    <a:srgbClr val="C0C0C0"/>
                  </a:outerShdw>
                </a:effectLst>
                <a:cs typeface="Arial" panose="020B0604020202020204" pitchFamily="34" charset="0"/>
              </a:rPr>
              <a:t>2</a:t>
            </a:r>
            <a:r>
              <a:rPr lang="en-US" altLang="en-US" sz="1800" b="1" smtClean="0">
                <a:solidFill>
                  <a:srgbClr val="3021F9"/>
                </a:solidFill>
                <a:effectLst>
                  <a:outerShdw blurRad="38100" dist="38100" dir="2700000" algn="tl">
                    <a:srgbClr val="C0C0C0"/>
                  </a:outerShdw>
                </a:effectLst>
                <a:cs typeface="Arial" panose="020B0604020202020204" pitchFamily="34" charset="0"/>
              </a:rPr>
              <a:t> Kappa</a:t>
            </a:r>
          </a:p>
        </p:txBody>
      </p:sp>
      <p:sp>
        <p:nvSpPr>
          <p:cNvPr id="419851" name="Text Box 21"/>
          <p:cNvSpPr txBox="1">
            <a:spLocks noChangeAspect="1" noChangeArrowheads="1"/>
          </p:cNvSpPr>
          <p:nvPr/>
        </p:nvSpPr>
        <p:spPr bwMode="gray">
          <a:xfrm>
            <a:off x="5651500" y="3476625"/>
            <a:ext cx="1296988" cy="517525"/>
          </a:xfrm>
          <a:prstGeom prst="rect">
            <a:avLst/>
          </a:prstGeom>
          <a:solidFill>
            <a:schemeClr val="bg1">
              <a:alpha val="50195"/>
            </a:schemeClr>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62000">
              <a:spcBef>
                <a:spcPct val="20000"/>
              </a:spcBef>
              <a:buFont typeface="Arial" panose="020B0604020202020204" pitchFamily="34" charset="0"/>
              <a:buChar char="•"/>
              <a:defRPr sz="3200">
                <a:solidFill>
                  <a:schemeClr val="tx1"/>
                </a:solidFill>
                <a:latin typeface="Calibri" panose="020F0502020204030204" pitchFamily="34" charset="0"/>
              </a:defRPr>
            </a:lvl1pPr>
            <a:lvl2pPr marL="571500" indent="-285750" defTabSz="76200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defTabSz="7620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714500" indent="-228600" defTabSz="7620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286000" indent="-228600" defTabSz="7620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7432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32004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6576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41148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a:latin typeface="Arial" panose="020B0604020202020204" pitchFamily="34" charset="0"/>
                <a:cs typeface="Arial" panose="020B0604020202020204" pitchFamily="34" charset="0"/>
              </a:rPr>
              <a:t> </a:t>
            </a:r>
            <a:r>
              <a:rPr lang="en-US" altLang="en-US" sz="1400" b="1">
                <a:latin typeface="Arial" panose="020B0604020202020204" pitchFamily="34" charset="0"/>
                <a:cs typeface="Arial" panose="020B0604020202020204" pitchFamily="34" charset="0"/>
              </a:rPr>
              <a:t>Optimum</a:t>
            </a:r>
          </a:p>
          <a:p>
            <a:pPr>
              <a:spcBef>
                <a:spcPct val="0"/>
              </a:spcBef>
              <a:buFontTx/>
              <a:buNone/>
            </a:pPr>
            <a:r>
              <a:rPr lang="en-US" altLang="en-US" sz="1400" b="1">
                <a:latin typeface="Arial" panose="020B0604020202020204" pitchFamily="34" charset="0"/>
                <a:cs typeface="Arial" panose="020B0604020202020204" pitchFamily="34" charset="0"/>
              </a:rPr>
              <a:t> pH 10.5-11</a:t>
            </a:r>
            <a:endParaRPr lang="en-US" altLang="en-US" sz="1400">
              <a:latin typeface="Arial" panose="020B0604020202020204" pitchFamily="34" charset="0"/>
              <a:cs typeface="Arial" panose="020B0604020202020204" pitchFamily="34" charset="0"/>
            </a:endParaRPr>
          </a:p>
        </p:txBody>
      </p:sp>
      <p:sp>
        <p:nvSpPr>
          <p:cNvPr id="419852" name="Line 22"/>
          <p:cNvSpPr>
            <a:spLocks noChangeAspect="1" noChangeShapeType="1"/>
          </p:cNvSpPr>
          <p:nvPr/>
        </p:nvSpPr>
        <p:spPr bwMode="gray">
          <a:xfrm>
            <a:off x="6132513" y="4313238"/>
            <a:ext cx="0" cy="22860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853" name="Text Box 23"/>
          <p:cNvSpPr txBox="1">
            <a:spLocks noChangeAspect="1" noChangeArrowheads="1"/>
          </p:cNvSpPr>
          <p:nvPr/>
        </p:nvSpPr>
        <p:spPr bwMode="gray">
          <a:xfrm rot="-5400000">
            <a:off x="2807494" y="3629819"/>
            <a:ext cx="534987" cy="396875"/>
          </a:xfrm>
          <a:prstGeom prst="rect">
            <a:avLst/>
          </a:prstGeom>
          <a:solidFill>
            <a:schemeClr val="bg1">
              <a:alpha val="50195"/>
            </a:schemeClr>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62000">
              <a:spcBef>
                <a:spcPct val="20000"/>
              </a:spcBef>
              <a:buFont typeface="Arial" panose="020B0604020202020204" pitchFamily="34" charset="0"/>
              <a:buChar char="•"/>
              <a:defRPr sz="3200">
                <a:solidFill>
                  <a:schemeClr val="tx1"/>
                </a:solidFill>
                <a:latin typeface="Calibri" panose="020F0502020204030204" pitchFamily="34" charset="0"/>
              </a:defRPr>
            </a:lvl1pPr>
            <a:lvl2pPr marL="571500" indent="-285750" defTabSz="76200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defTabSz="7620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714500" indent="-228600" defTabSz="7620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286000" indent="-228600" defTabSz="7620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7432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32004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6576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41148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000" b="1">
                <a:latin typeface="Arial" panose="020B0604020202020204" pitchFamily="34" charset="0"/>
                <a:cs typeface="Arial" panose="020B0604020202020204" pitchFamily="34" charset="0"/>
              </a:rPr>
              <a:t>NaOH</a:t>
            </a:r>
            <a:endParaRPr lang="en-US" altLang="en-US" sz="1800">
              <a:solidFill>
                <a:srgbClr val="0000FF"/>
              </a:solidFill>
              <a:latin typeface="Arial" panose="020B0604020202020204" pitchFamily="34" charset="0"/>
              <a:cs typeface="Arial" panose="020B0604020202020204" pitchFamily="34" charset="0"/>
            </a:endParaRPr>
          </a:p>
        </p:txBody>
      </p:sp>
      <p:sp>
        <p:nvSpPr>
          <p:cNvPr id="419854" name="Text Box 24"/>
          <p:cNvSpPr txBox="1">
            <a:spLocks noChangeAspect="1" noChangeArrowheads="1"/>
          </p:cNvSpPr>
          <p:nvPr/>
        </p:nvSpPr>
        <p:spPr bwMode="gray">
          <a:xfrm rot="-5400000">
            <a:off x="3421063" y="3690938"/>
            <a:ext cx="333375" cy="244475"/>
          </a:xfrm>
          <a:prstGeom prst="rect">
            <a:avLst/>
          </a:prstGeom>
          <a:solidFill>
            <a:schemeClr val="bg1">
              <a:alpha val="50195"/>
            </a:schemeClr>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62000">
              <a:spcBef>
                <a:spcPct val="20000"/>
              </a:spcBef>
              <a:buFont typeface="Arial" panose="020B0604020202020204" pitchFamily="34" charset="0"/>
              <a:buChar char="•"/>
              <a:defRPr sz="3200">
                <a:solidFill>
                  <a:schemeClr val="tx1"/>
                </a:solidFill>
                <a:latin typeface="Calibri" panose="020F0502020204030204" pitchFamily="34" charset="0"/>
              </a:defRPr>
            </a:lvl1pPr>
            <a:lvl2pPr marL="571500" indent="-285750" defTabSz="76200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defTabSz="7620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714500" indent="-228600" defTabSz="7620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286000" indent="-228600" defTabSz="7620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7432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32004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6576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41148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000" b="1">
                <a:latin typeface="Arial" panose="020B0604020202020204" pitchFamily="34" charset="0"/>
                <a:cs typeface="Arial" panose="020B0604020202020204" pitchFamily="34" charset="0"/>
              </a:rPr>
              <a:t>O</a:t>
            </a:r>
            <a:r>
              <a:rPr lang="en-US" altLang="en-US" sz="1000" b="1" baseline="-25000">
                <a:latin typeface="Arial" panose="020B0604020202020204" pitchFamily="34" charset="0"/>
                <a:cs typeface="Arial" panose="020B0604020202020204" pitchFamily="34" charset="0"/>
              </a:rPr>
              <a:t>2</a:t>
            </a:r>
            <a:endParaRPr lang="en-US" altLang="en-US" sz="1800">
              <a:solidFill>
                <a:srgbClr val="0000FF"/>
              </a:solidFill>
              <a:latin typeface="Arial" panose="020B0604020202020204" pitchFamily="34" charset="0"/>
              <a:cs typeface="Arial" panose="020B0604020202020204" pitchFamily="34" charset="0"/>
            </a:endParaRPr>
          </a:p>
        </p:txBody>
      </p:sp>
      <p:sp>
        <p:nvSpPr>
          <p:cNvPr id="419855" name="Text Box 25"/>
          <p:cNvSpPr txBox="1">
            <a:spLocks noChangeAspect="1" noChangeArrowheads="1"/>
          </p:cNvSpPr>
          <p:nvPr/>
        </p:nvSpPr>
        <p:spPr bwMode="gray">
          <a:xfrm rot="-5400000">
            <a:off x="4199732" y="3831431"/>
            <a:ext cx="563562" cy="244475"/>
          </a:xfrm>
          <a:prstGeom prst="rect">
            <a:avLst/>
          </a:prstGeom>
          <a:solidFill>
            <a:schemeClr val="bg1">
              <a:alpha val="50195"/>
            </a:schemeClr>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defTabSz="762000">
              <a:spcBef>
                <a:spcPct val="20000"/>
              </a:spcBef>
              <a:buFont typeface="Arial" panose="020B0604020202020204" pitchFamily="34" charset="0"/>
              <a:buChar char="•"/>
              <a:defRPr sz="3200">
                <a:solidFill>
                  <a:schemeClr val="tx1"/>
                </a:solidFill>
                <a:latin typeface="Calibri" panose="020F0502020204030204" pitchFamily="34" charset="0"/>
              </a:defRPr>
            </a:lvl1pPr>
            <a:lvl2pPr marL="571500" indent="-285750" defTabSz="76200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defTabSz="7620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714500" indent="-228600" defTabSz="7620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286000" indent="-228600" defTabSz="7620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7432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32004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6576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4114800" indent="-228600" defTabSz="762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000" b="1">
                <a:latin typeface="Arial" panose="020B0604020202020204" pitchFamily="34" charset="0"/>
                <a:cs typeface="Arial" panose="020B0604020202020204" pitchFamily="34" charset="0"/>
              </a:rPr>
              <a:t>Steam</a:t>
            </a:r>
            <a:endParaRPr lang="en-US" altLang="en-US" sz="1800">
              <a:solidFill>
                <a:srgbClr val="0000FF"/>
              </a:solidFill>
              <a:latin typeface="Arial" panose="020B0604020202020204" pitchFamily="34" charset="0"/>
              <a:cs typeface="Arial" panose="020B0604020202020204" pitchFamily="34" charset="0"/>
            </a:endParaRPr>
          </a:p>
        </p:txBody>
      </p:sp>
      <p:sp>
        <p:nvSpPr>
          <p:cNvPr id="135194" name="Text Box 26"/>
          <p:cNvSpPr txBox="1">
            <a:spLocks noChangeAspect="1" noChangeArrowheads="1"/>
          </p:cNvSpPr>
          <p:nvPr/>
        </p:nvSpPr>
        <p:spPr bwMode="gray">
          <a:xfrm>
            <a:off x="6240463" y="5018088"/>
            <a:ext cx="1395412" cy="641350"/>
          </a:xfrm>
          <a:prstGeom prst="rect">
            <a:avLst/>
          </a:prstGeom>
          <a:solidFill>
            <a:schemeClr val="bg1">
              <a:alpha val="60001"/>
            </a:schemeClr>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defTabSz="762000">
              <a:defRPr sz="2800">
                <a:solidFill>
                  <a:schemeClr val="tx1"/>
                </a:solidFill>
                <a:latin typeface="Arial" panose="020B0604020202020204" pitchFamily="34" charset="0"/>
                <a:cs typeface="Angsana New" panose="02020603050405020304" pitchFamily="18" charset="-34"/>
              </a:defRPr>
            </a:lvl1pPr>
            <a:lvl2pPr marL="571500" algn="l" defTabSz="762000">
              <a:defRPr sz="2800">
                <a:solidFill>
                  <a:schemeClr val="tx1"/>
                </a:solidFill>
                <a:latin typeface="Arial" panose="020B0604020202020204" pitchFamily="34" charset="0"/>
                <a:cs typeface="Angsana New" panose="02020603050405020304" pitchFamily="18" charset="-34"/>
              </a:defRPr>
            </a:lvl2pPr>
            <a:lvl3pPr marL="1143000" algn="l" defTabSz="762000">
              <a:defRPr sz="2800">
                <a:solidFill>
                  <a:schemeClr val="tx1"/>
                </a:solidFill>
                <a:latin typeface="Arial" panose="020B0604020202020204" pitchFamily="34" charset="0"/>
                <a:cs typeface="Angsana New" panose="02020603050405020304" pitchFamily="18" charset="-34"/>
              </a:defRPr>
            </a:lvl3pPr>
            <a:lvl4pPr marL="1714500" algn="l" defTabSz="762000">
              <a:defRPr sz="2800">
                <a:solidFill>
                  <a:schemeClr val="tx1"/>
                </a:solidFill>
                <a:latin typeface="Arial" panose="020B0604020202020204" pitchFamily="34" charset="0"/>
                <a:cs typeface="Angsana New" panose="02020603050405020304" pitchFamily="18" charset="-34"/>
              </a:defRPr>
            </a:lvl4pPr>
            <a:lvl5pPr marL="2286000" algn="l" defTabSz="762000">
              <a:defRPr sz="2800">
                <a:solidFill>
                  <a:schemeClr val="tx1"/>
                </a:solidFill>
                <a:latin typeface="Arial" panose="020B0604020202020204" pitchFamily="34" charset="0"/>
                <a:cs typeface="Angsana New" panose="02020603050405020304" pitchFamily="18" charset="-34"/>
              </a:defRPr>
            </a:lvl5pPr>
            <a:lvl6pPr marL="2743200" defTabSz="762000" fontAlgn="base">
              <a:spcBef>
                <a:spcPct val="0"/>
              </a:spcBef>
              <a:spcAft>
                <a:spcPct val="0"/>
              </a:spcAft>
              <a:defRPr sz="2800">
                <a:solidFill>
                  <a:schemeClr val="tx1"/>
                </a:solidFill>
                <a:latin typeface="Arial" panose="020B0604020202020204" pitchFamily="34" charset="0"/>
                <a:cs typeface="Angsana New" panose="02020603050405020304" pitchFamily="18" charset="-34"/>
              </a:defRPr>
            </a:lvl6pPr>
            <a:lvl7pPr marL="3200400" defTabSz="762000" fontAlgn="base">
              <a:spcBef>
                <a:spcPct val="0"/>
              </a:spcBef>
              <a:spcAft>
                <a:spcPct val="0"/>
              </a:spcAft>
              <a:defRPr sz="2800">
                <a:solidFill>
                  <a:schemeClr val="tx1"/>
                </a:solidFill>
                <a:latin typeface="Arial" panose="020B0604020202020204" pitchFamily="34" charset="0"/>
                <a:cs typeface="Angsana New" panose="02020603050405020304" pitchFamily="18" charset="-34"/>
              </a:defRPr>
            </a:lvl7pPr>
            <a:lvl8pPr marL="3657600" defTabSz="762000" fontAlgn="base">
              <a:spcBef>
                <a:spcPct val="0"/>
              </a:spcBef>
              <a:spcAft>
                <a:spcPct val="0"/>
              </a:spcAft>
              <a:defRPr sz="2800">
                <a:solidFill>
                  <a:schemeClr val="tx1"/>
                </a:solidFill>
                <a:latin typeface="Arial" panose="020B0604020202020204" pitchFamily="34" charset="0"/>
                <a:cs typeface="Angsana New" panose="02020603050405020304" pitchFamily="18" charset="-34"/>
              </a:defRPr>
            </a:lvl8pPr>
            <a:lvl9pPr marL="4114800" defTabSz="762000" fontAlgn="base">
              <a:spcBef>
                <a:spcPct val="0"/>
              </a:spcBef>
              <a:spcAft>
                <a:spcPct val="0"/>
              </a:spcAft>
              <a:defRPr sz="2800">
                <a:solidFill>
                  <a:schemeClr val="tx1"/>
                </a:solidFill>
                <a:latin typeface="Arial" panose="020B0604020202020204" pitchFamily="34" charset="0"/>
                <a:cs typeface="Angsana New" panose="02020603050405020304" pitchFamily="18" charset="-34"/>
              </a:defRPr>
            </a:lvl9pPr>
          </a:lstStyle>
          <a:p>
            <a:pPr algn="ctr">
              <a:defRPr/>
            </a:pPr>
            <a:r>
              <a:rPr lang="en-US" altLang="en-US" sz="1800" b="1" smtClean="0">
                <a:solidFill>
                  <a:srgbClr val="3021F9"/>
                </a:solidFill>
                <a:effectLst>
                  <a:outerShdw blurRad="38100" dist="38100" dir="2700000" algn="tl">
                    <a:srgbClr val="C0C0C0"/>
                  </a:outerShdw>
                </a:effectLst>
                <a:cs typeface="Arial" panose="020B0604020202020204" pitchFamily="34" charset="0"/>
              </a:rPr>
              <a:t>Post O</a:t>
            </a:r>
            <a:r>
              <a:rPr lang="en-US" altLang="en-US" sz="1800" b="1" baseline="-25000" smtClean="0">
                <a:solidFill>
                  <a:srgbClr val="3021F9"/>
                </a:solidFill>
                <a:effectLst>
                  <a:outerShdw blurRad="38100" dist="38100" dir="2700000" algn="tl">
                    <a:srgbClr val="C0C0C0"/>
                  </a:outerShdw>
                </a:effectLst>
                <a:cs typeface="Arial" panose="020B0604020202020204" pitchFamily="34" charset="0"/>
              </a:rPr>
              <a:t>2</a:t>
            </a:r>
            <a:r>
              <a:rPr lang="en-US" altLang="en-US" sz="1800" b="1" smtClean="0">
                <a:solidFill>
                  <a:srgbClr val="3021F9"/>
                </a:solidFill>
                <a:effectLst>
                  <a:outerShdw blurRad="38100" dist="38100" dir="2700000" algn="tl">
                    <a:srgbClr val="C0C0C0"/>
                  </a:outerShdw>
                </a:effectLst>
                <a:cs typeface="Arial" panose="020B0604020202020204" pitchFamily="34" charset="0"/>
              </a:rPr>
              <a:t> Kappa</a:t>
            </a:r>
          </a:p>
        </p:txBody>
      </p:sp>
    </p:spTree>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866" name="Text Box 2"/>
          <p:cNvSpPr txBox="1">
            <a:spLocks noChangeArrowheads="1"/>
          </p:cNvSpPr>
          <p:nvPr/>
        </p:nvSpPr>
        <p:spPr bwMode="auto">
          <a:xfrm>
            <a:off x="611188" y="358775"/>
            <a:ext cx="3227387" cy="585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Process Condition</a:t>
            </a:r>
            <a:endParaRPr lang="th-TH" altLang="en-US" b="1"/>
          </a:p>
        </p:txBody>
      </p:sp>
      <p:sp>
        <p:nvSpPr>
          <p:cNvPr id="420867" name="Text Box 3"/>
          <p:cNvSpPr txBox="1">
            <a:spLocks noChangeArrowheads="1"/>
          </p:cNvSpPr>
          <p:nvPr/>
        </p:nvSpPr>
        <p:spPr bwMode="auto">
          <a:xfrm>
            <a:off x="611188" y="1063625"/>
            <a:ext cx="2657475"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b="1" i="1">
                <a:solidFill>
                  <a:srgbClr val="FF0000"/>
                </a:solidFill>
              </a:rPr>
              <a:t>Pulp Consistency</a:t>
            </a:r>
            <a:endParaRPr lang="th-TH" altLang="en-US" sz="2800" b="1" i="1">
              <a:solidFill>
                <a:srgbClr val="FF0000"/>
              </a:solidFill>
            </a:endParaRPr>
          </a:p>
        </p:txBody>
      </p:sp>
      <p:sp>
        <p:nvSpPr>
          <p:cNvPr id="420868" name="Text Box 4"/>
          <p:cNvSpPr txBox="1">
            <a:spLocks noChangeArrowheads="1"/>
          </p:cNvSpPr>
          <p:nvPr/>
        </p:nvSpPr>
        <p:spPr bwMode="auto">
          <a:xfrm>
            <a:off x="1397000" y="2112963"/>
            <a:ext cx="611188" cy="92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20869" name="Text Box 5"/>
          <p:cNvSpPr txBox="1">
            <a:spLocks noChangeArrowheads="1"/>
          </p:cNvSpPr>
          <p:nvPr/>
        </p:nvSpPr>
        <p:spPr bwMode="auto">
          <a:xfrm>
            <a:off x="207963" y="1531938"/>
            <a:ext cx="8936037" cy="15700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a:t>Consistency is controlled with </a:t>
            </a:r>
            <a:r>
              <a:rPr lang="en-US" altLang="en-US" sz="2400" b="1"/>
              <a:t>medium consistency(10-12%) </a:t>
            </a:r>
            <a:r>
              <a:rPr lang="en-US" altLang="en-US" sz="2400"/>
              <a:t>because. </a:t>
            </a:r>
          </a:p>
          <a:p>
            <a:pPr>
              <a:spcBef>
                <a:spcPct val="0"/>
              </a:spcBef>
              <a:buFontTx/>
              <a:buChar char="•"/>
            </a:pPr>
            <a:r>
              <a:rPr lang="en-US" altLang="en-US" sz="2400"/>
              <a:t> It is easier to transport the pulp, </a:t>
            </a:r>
          </a:p>
          <a:p>
            <a:pPr>
              <a:spcBef>
                <a:spcPct val="0"/>
              </a:spcBef>
              <a:buFontTx/>
              <a:buChar char="•"/>
            </a:pPr>
            <a:r>
              <a:rPr lang="en-US" altLang="en-US" sz="2400"/>
              <a:t> Reaction Selectivity, </a:t>
            </a:r>
          </a:p>
          <a:p>
            <a:pPr>
              <a:spcBef>
                <a:spcPct val="0"/>
              </a:spcBef>
              <a:buFontTx/>
              <a:buChar char="•"/>
            </a:pPr>
            <a:r>
              <a:rPr lang="en-US" altLang="en-US" sz="2400"/>
              <a:t> protect channeling  in the Reactor</a:t>
            </a:r>
            <a:r>
              <a:rPr lang="en-US" altLang="en-US" sz="2400" b="1"/>
              <a:t> </a:t>
            </a:r>
            <a:endParaRPr lang="th-TH" altLang="en-US" sz="2400" b="1"/>
          </a:p>
        </p:txBody>
      </p:sp>
      <p:sp>
        <p:nvSpPr>
          <p:cNvPr id="420870" name="Text Box 17"/>
          <p:cNvSpPr txBox="1">
            <a:spLocks noChangeArrowheads="1"/>
          </p:cNvSpPr>
          <p:nvPr/>
        </p:nvSpPr>
        <p:spPr bwMode="auto">
          <a:xfrm>
            <a:off x="611188" y="3141663"/>
            <a:ext cx="1452562"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b="1" i="1">
                <a:solidFill>
                  <a:srgbClr val="FF0000"/>
                </a:solidFill>
              </a:rPr>
              <a:t>Pressure</a:t>
            </a:r>
            <a:endParaRPr lang="th-TH" altLang="en-US" sz="2800" b="1" i="1">
              <a:solidFill>
                <a:srgbClr val="FF0000"/>
              </a:solidFill>
            </a:endParaRPr>
          </a:p>
        </p:txBody>
      </p:sp>
      <p:sp>
        <p:nvSpPr>
          <p:cNvPr id="420871" name="Text Box 18"/>
          <p:cNvSpPr txBox="1">
            <a:spLocks noChangeArrowheads="1"/>
          </p:cNvSpPr>
          <p:nvPr/>
        </p:nvSpPr>
        <p:spPr bwMode="auto">
          <a:xfrm>
            <a:off x="207963" y="3741738"/>
            <a:ext cx="8896350"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a:t>The high pressure in the first Reactor help to keep the oxygen bubbles</a:t>
            </a:r>
            <a:endParaRPr lang="th-TH" altLang="en-US" sz="2400" b="1"/>
          </a:p>
        </p:txBody>
      </p:sp>
      <p:sp>
        <p:nvSpPr>
          <p:cNvPr id="420872" name="Text Box 19"/>
          <p:cNvSpPr txBox="1">
            <a:spLocks noChangeArrowheads="1"/>
          </p:cNvSpPr>
          <p:nvPr/>
        </p:nvSpPr>
        <p:spPr bwMode="auto">
          <a:xfrm>
            <a:off x="1933575" y="4460875"/>
            <a:ext cx="5022850" cy="831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t>Pressure in First Reactor ~ 8 – 10 </a:t>
            </a:r>
          </a:p>
          <a:p>
            <a:pPr>
              <a:spcBef>
                <a:spcPct val="0"/>
              </a:spcBef>
              <a:buFontTx/>
              <a:buNone/>
            </a:pPr>
            <a:r>
              <a:rPr lang="en-US" altLang="en-US" sz="2400" b="1"/>
              <a:t>Pressure in Second Reactor ~ 3 – 5 bar </a:t>
            </a:r>
            <a:endParaRPr lang="th-TH" altLang="en-US" sz="2400" b="1"/>
          </a:p>
        </p:txBody>
      </p:sp>
    </p:spTree>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1890" name="Text Box 2"/>
          <p:cNvSpPr txBox="1">
            <a:spLocks noChangeArrowheads="1"/>
          </p:cNvSpPr>
          <p:nvPr/>
        </p:nvSpPr>
        <p:spPr bwMode="auto">
          <a:xfrm>
            <a:off x="611188" y="419100"/>
            <a:ext cx="5354637"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Operating Condition Summary</a:t>
            </a:r>
            <a:endParaRPr lang="th-TH" altLang="en-US" b="1"/>
          </a:p>
        </p:txBody>
      </p:sp>
      <p:sp>
        <p:nvSpPr>
          <p:cNvPr id="421891" name="Text Box 4"/>
          <p:cNvSpPr txBox="1">
            <a:spLocks noChangeArrowheads="1"/>
          </p:cNvSpPr>
          <p:nvPr/>
        </p:nvSpPr>
        <p:spPr bwMode="auto">
          <a:xfrm>
            <a:off x="1397000" y="2173288"/>
            <a:ext cx="611188" cy="92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aphicFrame>
        <p:nvGraphicFramePr>
          <p:cNvPr id="137306" name="Group 90"/>
          <p:cNvGraphicFramePr>
            <a:graphicFrameLocks noGrp="1"/>
          </p:cNvGraphicFramePr>
          <p:nvPr/>
        </p:nvGraphicFramePr>
        <p:xfrm>
          <a:off x="1042988" y="1282700"/>
          <a:ext cx="6842125" cy="4371976"/>
        </p:xfrm>
        <a:graphic>
          <a:graphicData uri="http://schemas.openxmlformats.org/drawingml/2006/table">
            <a:tbl>
              <a:tblPr/>
              <a:tblGrid>
                <a:gridCol w="3024187"/>
                <a:gridCol w="1944688"/>
                <a:gridCol w="1873250"/>
              </a:tblGrid>
              <a:tr h="649167">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Parameter</a:t>
                      </a:r>
                      <a:endParaRPr kumimoji="0" lang="th-TH"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1</a:t>
                      </a:r>
                      <a:r>
                        <a:rPr kumimoji="0" lang="en-US" altLang="en-US" sz="2400" b="1" i="0" u="none" strike="noStrike" cap="none" normalizeH="0" baseline="30000" smtClean="0">
                          <a:ln>
                            <a:noFill/>
                          </a:ln>
                          <a:solidFill>
                            <a:schemeClr val="tx1"/>
                          </a:solidFill>
                          <a:effectLst/>
                          <a:latin typeface="Arial" panose="020B0604020202020204" pitchFamily="34" charset="0"/>
                          <a:cs typeface="Angsana New" panose="02020603050405020304" pitchFamily="18" charset="-34"/>
                        </a:rPr>
                        <a:t>st</a:t>
                      </a:r>
                      <a:r>
                        <a:rPr kumimoji="0" lang="en-US"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 Stage</a:t>
                      </a:r>
                      <a:endParaRPr kumimoji="0" lang="th-TH"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2</a:t>
                      </a:r>
                      <a:r>
                        <a:rPr kumimoji="0" lang="en-US" altLang="en-US" sz="2400" b="1" i="0" u="none" strike="noStrike" cap="none" normalizeH="0" baseline="30000" smtClean="0">
                          <a:ln>
                            <a:noFill/>
                          </a:ln>
                          <a:solidFill>
                            <a:schemeClr val="tx1"/>
                          </a:solidFill>
                          <a:effectLst/>
                          <a:latin typeface="Arial" panose="020B0604020202020204" pitchFamily="34" charset="0"/>
                          <a:cs typeface="Angsana New" panose="02020603050405020304" pitchFamily="18" charset="-34"/>
                        </a:rPr>
                        <a:t>nd</a:t>
                      </a:r>
                      <a:r>
                        <a:rPr kumimoji="0" lang="en-US"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 Stage</a:t>
                      </a:r>
                      <a:endParaRPr kumimoji="0" lang="th-TH"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70544">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Alkali Charge</a:t>
                      </a:r>
                      <a:endParaRPr kumimoji="0" lang="th-TH"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2.0 – 3.0 </a:t>
                      </a:r>
                      <a:r>
                        <a:rPr kumimoji="0" lang="en-US" altLang="en-US" sz="18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kg/ADT/</a:t>
                      </a:r>
                      <a:r>
                        <a:rPr kumimoji="0" lang="el-GR" altLang="en-US" sz="1800" b="0" i="0" u="none" strike="noStrike" cap="none" normalizeH="0" baseline="0" smtClean="0">
                          <a:ln>
                            <a:noFill/>
                          </a:ln>
                          <a:solidFill>
                            <a:schemeClr val="tx1"/>
                          </a:solidFill>
                          <a:effectLst/>
                          <a:latin typeface="Arial" panose="020B0604020202020204" pitchFamily="34" charset="0"/>
                          <a:cs typeface="Arial" panose="020B0604020202020204" pitchFamily="34" charset="0"/>
                        </a:rPr>
                        <a:t>Δ</a:t>
                      </a:r>
                      <a:r>
                        <a:rPr kumimoji="0" lang="en-US" altLang="en-US" sz="1800" b="0" i="0" u="none" strike="noStrike" cap="none" normalizeH="0" baseline="0" smtClean="0">
                          <a:ln>
                            <a:noFill/>
                          </a:ln>
                          <a:solidFill>
                            <a:schemeClr val="tx1"/>
                          </a:solidFill>
                          <a:effectLst/>
                          <a:latin typeface="Arial" panose="020B0604020202020204" pitchFamily="34" charset="0"/>
                          <a:cs typeface="Arial" panose="020B0604020202020204" pitchFamily="34" charset="0"/>
                        </a:rPr>
                        <a:t>Kappa</a:t>
                      </a:r>
                      <a:endParaRPr kumimoji="0" lang="el-GR" altLang="en-US" sz="1800" b="0" i="0" u="none" strike="noStrike" cap="none" normalizeH="0" baseline="0" smtClean="0">
                        <a:ln>
                          <a:noFill/>
                        </a:ln>
                        <a:solidFill>
                          <a:schemeClr val="tx1"/>
                        </a:solidFill>
                        <a:effectLst/>
                        <a:latin typeface="Arial" panose="020B0604020202020204" pitchFamily="34" charset="0"/>
                        <a:cs typeface="Arial" panose="020B0604020202020204" pitchFamily="34" charset="0"/>
                      </a:endParaRPr>
                    </a:p>
                  </a:txBody>
                  <a:tcPr marT="45712" marB="4571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a:t>
                      </a:r>
                      <a:endParaRPr kumimoji="0" lang="th-TH"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63458">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Oxygen Charge</a:t>
                      </a:r>
                      <a:endParaRPr kumimoji="0" lang="th-TH"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0.5 – 0.8 </a:t>
                      </a:r>
                      <a:r>
                        <a:rPr kumimoji="0" lang="en-US" altLang="en-US" sz="18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times the alkali charge</a:t>
                      </a:r>
                      <a:endParaRPr kumimoji="0" lang="th-TH" altLang="en-US" sz="18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r>
              <a:tr h="457184">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End-PH</a:t>
                      </a:r>
                      <a:endParaRPr kumimoji="0" lang="th-TH"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a:t>
                      </a:r>
                      <a:endParaRPr kumimoji="0" lang="th-TH"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10.5 – 11.0</a:t>
                      </a:r>
                      <a:endParaRPr kumimoji="0" lang="th-TH"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90447">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Temperature</a:t>
                      </a:r>
                      <a:endParaRPr kumimoji="0" lang="th-TH"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80 – 85 </a:t>
                      </a:r>
                      <a:r>
                        <a:rPr kumimoji="0" lang="en-US" altLang="en-US" sz="2000" b="0" i="0" u="none" strike="noStrike" cap="none" normalizeH="0" baseline="30000" smtClean="0">
                          <a:ln>
                            <a:noFill/>
                          </a:ln>
                          <a:solidFill>
                            <a:schemeClr val="tx1"/>
                          </a:solidFill>
                          <a:effectLst/>
                          <a:latin typeface="Arial" panose="020B0604020202020204" pitchFamily="34" charset="0"/>
                          <a:cs typeface="Angsana New" panose="02020603050405020304" pitchFamily="18" charset="-34"/>
                        </a:rPr>
                        <a:t>o</a:t>
                      </a:r>
                      <a:r>
                        <a:rPr kumimoji="0" lang="en-US"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C</a:t>
                      </a:r>
                      <a:endParaRPr kumimoji="0" lang="th-TH"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90 – 105 </a:t>
                      </a:r>
                      <a:r>
                        <a:rPr kumimoji="0" lang="en-US" altLang="en-US" sz="2000" b="0" i="0" u="none" strike="noStrike" cap="none" normalizeH="0" baseline="30000" smtClean="0">
                          <a:ln>
                            <a:noFill/>
                          </a:ln>
                          <a:solidFill>
                            <a:schemeClr val="tx1"/>
                          </a:solidFill>
                          <a:effectLst/>
                          <a:latin typeface="Arial" panose="020B0604020202020204" pitchFamily="34" charset="0"/>
                          <a:cs typeface="Angsana New" panose="02020603050405020304" pitchFamily="18" charset="-34"/>
                        </a:rPr>
                        <a:t>o</a:t>
                      </a:r>
                      <a:r>
                        <a:rPr kumimoji="0" lang="en-US"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C</a:t>
                      </a:r>
                      <a:endParaRPr kumimoji="0" lang="th-TH"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25365">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Pulp Consistency</a:t>
                      </a:r>
                      <a:endParaRPr kumimoji="0" lang="th-TH"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&gt; 11%</a:t>
                      </a:r>
                      <a:endParaRPr kumimoji="0" lang="th-TH"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&gt; 11%</a:t>
                      </a:r>
                      <a:endParaRPr kumimoji="0" lang="th-TH"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26952">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Residence Time</a:t>
                      </a:r>
                      <a:endParaRPr kumimoji="0" lang="th-TH"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30 min</a:t>
                      </a:r>
                      <a:endParaRPr kumimoji="0" lang="th-TH"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60 min</a:t>
                      </a:r>
                      <a:endParaRPr kumimoji="0" lang="th-TH"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488859">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Pressure Top</a:t>
                      </a:r>
                      <a:endParaRPr kumimoji="0" lang="th-TH" altLang="en-US" sz="2400" b="1"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8 – 10 bar</a:t>
                      </a:r>
                      <a:endParaRPr kumimoji="0" lang="th-TH"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defRPr sz="2800">
                          <a:solidFill>
                            <a:schemeClr val="tx1"/>
                          </a:solidFill>
                          <a:latin typeface="Arial" panose="020B0604020202020204" pitchFamily="34" charset="0"/>
                          <a:cs typeface="Angsana New" panose="02020603050405020304" pitchFamily="18" charset="-34"/>
                        </a:defRPr>
                      </a:lvl1pPr>
                      <a:lvl2pPr algn="l">
                        <a:spcBef>
                          <a:spcPct val="20000"/>
                        </a:spcBef>
                        <a:defRPr sz="2400">
                          <a:solidFill>
                            <a:schemeClr val="tx1"/>
                          </a:solidFill>
                          <a:latin typeface="Arial" panose="020B0604020202020204" pitchFamily="34" charset="0"/>
                          <a:cs typeface="Angsana New" panose="02020603050405020304" pitchFamily="18" charset="-34"/>
                        </a:defRPr>
                      </a:lvl2pPr>
                      <a:lvl3pPr algn="l">
                        <a:spcBef>
                          <a:spcPct val="20000"/>
                        </a:spcBef>
                        <a:defRPr sz="2000">
                          <a:solidFill>
                            <a:schemeClr val="tx1"/>
                          </a:solidFill>
                          <a:latin typeface="Arial" panose="020B0604020202020204" pitchFamily="34" charset="0"/>
                          <a:cs typeface="Angsana New" panose="02020603050405020304" pitchFamily="18" charset="-34"/>
                        </a:defRPr>
                      </a:lvl3pPr>
                      <a:lvl4pPr algn="l">
                        <a:spcBef>
                          <a:spcPct val="20000"/>
                        </a:spcBef>
                        <a:defRPr>
                          <a:solidFill>
                            <a:schemeClr val="tx1"/>
                          </a:solidFill>
                          <a:latin typeface="Arial" panose="020B0604020202020204" pitchFamily="34" charset="0"/>
                          <a:cs typeface="Angsana New" panose="02020603050405020304" pitchFamily="18" charset="-34"/>
                        </a:defRPr>
                      </a:lvl4pPr>
                      <a:lvl5pPr algn="l">
                        <a:spcBef>
                          <a:spcPct val="20000"/>
                        </a:spcBef>
                        <a:defRPr>
                          <a:solidFill>
                            <a:schemeClr val="tx1"/>
                          </a:solidFill>
                          <a:latin typeface="Arial" panose="020B0604020202020204" pitchFamily="34" charset="0"/>
                          <a:cs typeface="Angsana New" panose="02020603050405020304" pitchFamily="18" charset="-34"/>
                        </a:defRPr>
                      </a:lvl5pPr>
                      <a:lvl6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6pPr>
                      <a:lvl7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7pPr>
                      <a:lvl8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8pPr>
                      <a:lvl9pPr fontAlgn="base">
                        <a:spcBef>
                          <a:spcPct val="20000"/>
                        </a:spcBef>
                        <a:spcAft>
                          <a:spcPct val="0"/>
                        </a:spcAft>
                        <a:defRPr>
                          <a:solidFill>
                            <a:schemeClr val="tx1"/>
                          </a:solidFill>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rPr>
                        <a:t>3 -5 bar</a:t>
                      </a:r>
                      <a:endParaRPr kumimoji="0" lang="th-TH" altLang="en-US" sz="2000" b="0" i="0" u="none" strike="noStrike" cap="none" normalizeH="0" baseline="0" smtClean="0">
                        <a:ln>
                          <a:noFill/>
                        </a:ln>
                        <a:solidFill>
                          <a:schemeClr val="tx1"/>
                        </a:solidFill>
                        <a:effectLst/>
                        <a:latin typeface="Arial" panose="020B0604020202020204" pitchFamily="34" charset="0"/>
                        <a:cs typeface="Angsana New" panose="02020603050405020304" pitchFamily="18" charset="-34"/>
                      </a:endParaRPr>
                    </a:p>
                  </a:txBody>
                  <a:tcPr marT="45712" marB="45712"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2291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650" y="915988"/>
            <a:ext cx="7489825" cy="4743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22915" name="Text Box 3"/>
          <p:cNvSpPr txBox="1">
            <a:spLocks noChangeArrowheads="1"/>
          </p:cNvSpPr>
          <p:nvPr/>
        </p:nvSpPr>
        <p:spPr bwMode="auto">
          <a:xfrm>
            <a:off x="611188" y="330200"/>
            <a:ext cx="3636962"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Operation Guideline</a:t>
            </a:r>
            <a:endParaRPr lang="th-TH" altLang="en-US" b="1"/>
          </a:p>
        </p:txBody>
      </p:sp>
    </p:spTree>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23938" name="Text Box 4"/>
          <p:cNvSpPr txBox="1">
            <a:spLocks noChangeArrowheads="1"/>
          </p:cNvSpPr>
          <p:nvPr/>
        </p:nvSpPr>
        <p:spPr bwMode="auto">
          <a:xfrm>
            <a:off x="611188" y="388938"/>
            <a:ext cx="1630362"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t>Example</a:t>
            </a:r>
            <a:endParaRPr lang="th-TH" altLang="en-US" b="1"/>
          </a:p>
        </p:txBody>
      </p:sp>
      <p:sp>
        <p:nvSpPr>
          <p:cNvPr id="423939" name="Text Box 5"/>
          <p:cNvSpPr txBox="1">
            <a:spLocks noChangeArrowheads="1"/>
          </p:cNvSpPr>
          <p:nvPr/>
        </p:nvSpPr>
        <p:spPr bwMode="auto">
          <a:xfrm>
            <a:off x="395288" y="1366838"/>
            <a:ext cx="7907337" cy="161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u="sng"/>
              <a:t>Ex1</a:t>
            </a:r>
            <a:r>
              <a:rPr lang="en-US" altLang="en-US" sz="2000"/>
              <a:t> If the kappa number inlet is 24 and the desired kappa</a:t>
            </a:r>
          </a:p>
          <a:p>
            <a:pPr>
              <a:spcBef>
                <a:spcPct val="0"/>
              </a:spcBef>
              <a:buFontTx/>
              <a:buNone/>
            </a:pPr>
            <a:r>
              <a:rPr lang="en-US" altLang="en-US" sz="2000"/>
              <a:t>        number outlet is 11, and charge factor is 2.2 kg NaOH/t/kappa</a:t>
            </a:r>
          </a:p>
          <a:p>
            <a:pPr>
              <a:spcBef>
                <a:spcPct val="0"/>
              </a:spcBef>
              <a:buFontTx/>
              <a:buNone/>
            </a:pPr>
            <a:r>
              <a:rPr lang="en-US" altLang="en-US" sz="2000"/>
              <a:t>        number decrease, if production is 250 Adt/day, Alkali strength is</a:t>
            </a:r>
          </a:p>
          <a:p>
            <a:pPr>
              <a:spcBef>
                <a:spcPct val="0"/>
              </a:spcBef>
              <a:buFontTx/>
              <a:buNone/>
            </a:pPr>
            <a:r>
              <a:rPr lang="en-US" altLang="en-US" sz="2000"/>
              <a:t>        100 g/l, </a:t>
            </a:r>
          </a:p>
          <a:p>
            <a:pPr>
              <a:spcBef>
                <a:spcPct val="0"/>
              </a:spcBef>
              <a:buFontTx/>
              <a:buNone/>
            </a:pPr>
            <a:endParaRPr lang="th-TH" altLang="en-US" sz="2000"/>
          </a:p>
        </p:txBody>
      </p:sp>
      <p:sp>
        <p:nvSpPr>
          <p:cNvPr id="423940" name="Text Box 6"/>
          <p:cNvSpPr txBox="1">
            <a:spLocks noChangeArrowheads="1"/>
          </p:cNvSpPr>
          <p:nvPr/>
        </p:nvSpPr>
        <p:spPr bwMode="auto">
          <a:xfrm>
            <a:off x="468313" y="2735263"/>
            <a:ext cx="8542337" cy="2530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a:t>1.1 How much Delignification Degree ?(%)</a:t>
            </a:r>
          </a:p>
          <a:p>
            <a:pPr>
              <a:spcBef>
                <a:spcPct val="0"/>
              </a:spcBef>
              <a:buFontTx/>
              <a:buNone/>
            </a:pPr>
            <a:r>
              <a:rPr lang="en-US" altLang="en-US" sz="2000" b="1"/>
              <a:t>1.2 How much</a:t>
            </a:r>
            <a:r>
              <a:rPr lang="th-TH" altLang="en-US" sz="2000" b="1"/>
              <a:t> </a:t>
            </a:r>
            <a:r>
              <a:rPr lang="en-US" altLang="en-US" sz="2000" b="1"/>
              <a:t>Alkali will be charged? (m3/h)</a:t>
            </a:r>
          </a:p>
          <a:p>
            <a:pPr>
              <a:spcBef>
                <a:spcPct val="0"/>
              </a:spcBef>
              <a:buFontTx/>
              <a:buNone/>
            </a:pPr>
            <a:r>
              <a:rPr lang="en-US" altLang="en-US" sz="2000" b="1"/>
              <a:t>1.3 If Oxygen charge is 0.6 times the alkali charge, How much oxygen</a:t>
            </a:r>
          </a:p>
          <a:p>
            <a:pPr>
              <a:spcBef>
                <a:spcPct val="0"/>
              </a:spcBef>
              <a:buFontTx/>
              <a:buNone/>
            </a:pPr>
            <a:r>
              <a:rPr lang="en-US" altLang="en-US" sz="2000" b="1"/>
              <a:t>      Will be charged? (kg/hr)</a:t>
            </a:r>
          </a:p>
          <a:p>
            <a:pPr>
              <a:spcBef>
                <a:spcPct val="0"/>
              </a:spcBef>
              <a:buFontTx/>
              <a:buNone/>
            </a:pPr>
            <a:r>
              <a:rPr lang="en-US" altLang="en-US" sz="2000" b="1"/>
              <a:t>1.4 If consistency of pulp inlet to Reactor is 10% , How much pulp</a:t>
            </a:r>
          </a:p>
          <a:p>
            <a:pPr>
              <a:spcBef>
                <a:spcPct val="0"/>
              </a:spcBef>
              <a:buFontTx/>
              <a:buNone/>
            </a:pPr>
            <a:r>
              <a:rPr lang="en-US" altLang="en-US" sz="2000" b="1"/>
              <a:t>      flow will be fed into Reactor? (m3/hr)</a:t>
            </a:r>
            <a:endParaRPr lang="th-TH" altLang="en-US" sz="2000" b="1"/>
          </a:p>
          <a:p>
            <a:pPr>
              <a:spcBef>
                <a:spcPct val="0"/>
              </a:spcBef>
              <a:buFontTx/>
              <a:buNone/>
            </a:pPr>
            <a:r>
              <a:rPr lang="en-US" altLang="en-US" sz="2000" b="1"/>
              <a:t>1.5 Finally If kappa no. Reduction and End-PH are too small, </a:t>
            </a:r>
          </a:p>
          <a:p>
            <a:pPr>
              <a:spcBef>
                <a:spcPct val="0"/>
              </a:spcBef>
              <a:buFontTx/>
              <a:buNone/>
            </a:pPr>
            <a:r>
              <a:rPr lang="en-US" altLang="en-US" sz="2000" b="1"/>
              <a:t>      What action to do? (Alkali charge and Temperature)  </a:t>
            </a:r>
            <a:endParaRPr lang="th-TH" altLang="en-US" sz="2000" b="1"/>
          </a:p>
        </p:txBody>
      </p:sp>
    </p:spTree>
  </p:cSld>
  <p:clrMapOvr>
    <a:masterClrMapping/>
  </p:clrMapOvr>
  <p:transition spd="slow"/>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24962" name="Rectangle 2"/>
          <p:cNvSpPr>
            <a:spLocks noGrp="1" noChangeArrowheads="1"/>
          </p:cNvSpPr>
          <p:nvPr>
            <p:ph type="title"/>
          </p:nvPr>
        </p:nvSpPr>
        <p:spPr>
          <a:xfrm>
            <a:off x="487363" y="287338"/>
            <a:ext cx="5407025" cy="762000"/>
          </a:xfrm>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nchor="t" anchorCtr="1"/>
          <a:lstStyle/>
          <a:p>
            <a:pPr algn="l"/>
            <a:r>
              <a:rPr lang="en-US" altLang="en-US" sz="6000" b="1" smtClean="0">
                <a:solidFill>
                  <a:srgbClr val="FF0000"/>
                </a:solidFill>
              </a:rPr>
              <a:t>Pulp Bleaching</a:t>
            </a:r>
          </a:p>
        </p:txBody>
      </p:sp>
      <p:sp>
        <p:nvSpPr>
          <p:cNvPr id="424963" name="Rectangle 3"/>
          <p:cNvSpPr>
            <a:spLocks noGrp="1" noChangeArrowheads="1"/>
          </p:cNvSpPr>
          <p:nvPr>
            <p:ph type="body" idx="1"/>
          </p:nvPr>
        </p:nvSpPr>
        <p:spPr>
          <a:xfrm>
            <a:off x="798513" y="1395413"/>
            <a:ext cx="8051800" cy="1250950"/>
          </a:xfrm>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lstStyle/>
          <a:p>
            <a:pPr>
              <a:spcBef>
                <a:spcPct val="55000"/>
              </a:spcBef>
            </a:pPr>
            <a:r>
              <a:rPr lang="en-US" altLang="en-US" sz="2800" smtClean="0"/>
              <a:t>To Finish The Delignification of the Pulp and Brighten Any Lignin That Remains In the Pulp</a:t>
            </a:r>
          </a:p>
          <a:p>
            <a:pPr>
              <a:spcBef>
                <a:spcPct val="55000"/>
              </a:spcBef>
            </a:pPr>
            <a:endParaRPr lang="en-US" altLang="en-US" sz="2800" smtClean="0"/>
          </a:p>
          <a:p>
            <a:pPr algn="ctr">
              <a:spcBef>
                <a:spcPct val="55000"/>
              </a:spcBef>
              <a:buFont typeface="Wingdings" panose="05000000000000000000" pitchFamily="2" charset="2"/>
              <a:buNone/>
            </a:pPr>
            <a:r>
              <a:rPr lang="en-US" altLang="en-US" sz="2800" smtClean="0"/>
              <a:t>	</a:t>
            </a:r>
            <a:endParaRPr lang="en-US" altLang="en-US" sz="2400" smtClean="0"/>
          </a:p>
        </p:txBody>
      </p:sp>
      <p:pic>
        <p:nvPicPr>
          <p:cNvPr id="424964" name="Picture 4" descr="pulp unbleached to bleached"/>
          <p:cNvPicPr>
            <a:picLocks noChangeAspect="1" noChangeArrowheads="1"/>
          </p:cNvPicPr>
          <p:nvPr/>
        </p:nvPicPr>
        <p:blipFill>
          <a:blip r:embed="rId3">
            <a:extLst>
              <a:ext uri="{28A0092B-C50C-407E-A947-70E740481C1C}">
                <a14:useLocalDpi xmlns:a14="http://schemas.microsoft.com/office/drawing/2010/main" val="0"/>
              </a:ext>
            </a:extLst>
          </a:blip>
          <a:srcRect t="24403"/>
          <a:stretch>
            <a:fillRect/>
          </a:stretch>
        </p:blipFill>
        <p:spPr bwMode="auto">
          <a:xfrm>
            <a:off x="798513" y="2451100"/>
            <a:ext cx="7772400" cy="39068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10"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5. Bleaching sequences </a:t>
            </a:r>
          </a:p>
        </p:txBody>
      </p:sp>
      <p:pic>
        <p:nvPicPr>
          <p:cNvPr id="427011" name="Picture 8"/>
          <p:cNvPicPr>
            <a:picLocks noGrp="1" noChangeAspect="1" noChangeArrowheads="1"/>
          </p:cNvPicPr>
          <p:nvPr>
            <p:ph idx="4294967295"/>
          </p:nvPr>
        </p:nvPicPr>
        <p:blipFill>
          <a:blip r:embed="rId3">
            <a:extLst>
              <a:ext uri="{28A0092B-C50C-407E-A947-70E740481C1C}">
                <a14:useLocalDpi xmlns:a14="http://schemas.microsoft.com/office/drawing/2010/main" val="0"/>
              </a:ext>
            </a:extLst>
          </a:blip>
          <a:srcRect/>
          <a:stretch>
            <a:fillRect/>
          </a:stretch>
        </p:blipFill>
        <p:spPr>
          <a:xfrm>
            <a:off x="0" y="1712913"/>
            <a:ext cx="9144000" cy="3162300"/>
          </a:xfrm>
          <a:noFill/>
        </p:spPr>
      </p:pic>
      <p:sp>
        <p:nvSpPr>
          <p:cNvPr id="427012" name="TextBox 3"/>
          <p:cNvSpPr txBox="1">
            <a:spLocks noChangeArrowheads="1"/>
          </p:cNvSpPr>
          <p:nvPr/>
        </p:nvSpPr>
        <p:spPr bwMode="auto">
          <a:xfrm>
            <a:off x="-36513" y="6115050"/>
            <a:ext cx="2416176"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a:t>Credit: Weerachai Seachao</a:t>
            </a:r>
          </a:p>
        </p:txBody>
      </p:sp>
      <p:sp>
        <p:nvSpPr>
          <p:cNvPr id="427013" name="TextBox 415"/>
          <p:cNvSpPr txBox="1">
            <a:spLocks noChangeArrowheads="1"/>
          </p:cNvSpPr>
          <p:nvPr/>
        </p:nvSpPr>
        <p:spPr bwMode="auto">
          <a:xfrm>
            <a:off x="2049463" y="939800"/>
            <a:ext cx="4506912" cy="738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1">
                <a:solidFill>
                  <a:srgbClr val="0000CC"/>
                </a:solidFill>
                <a:latin typeface="Arial" panose="020B0604020202020204" pitchFamily="34" charset="0"/>
                <a:cs typeface="Arial" panose="020B0604020202020204" pitchFamily="34" charset="0"/>
              </a:rPr>
              <a:t>SCL </a:t>
            </a:r>
            <a:r>
              <a:rPr lang="en-US" altLang="en-US" sz="1400" b="1">
                <a:latin typeface="Arial" panose="020B0604020202020204" pitchFamily="34" charset="0"/>
                <a:cs typeface="Arial" panose="020B0604020202020204" pitchFamily="34" charset="0"/>
              </a:rPr>
              <a:t>Wangsala Pulp Mill</a:t>
            </a:r>
          </a:p>
          <a:p>
            <a:pPr>
              <a:spcBef>
                <a:spcPct val="0"/>
              </a:spcBef>
              <a:buFontTx/>
              <a:buNone/>
            </a:pPr>
            <a:r>
              <a:rPr lang="en-US" altLang="en-US" sz="1600" b="1">
                <a:solidFill>
                  <a:srgbClr val="FF0000"/>
                </a:solidFill>
                <a:latin typeface="Arial" panose="020B0604020202020204" pitchFamily="34" charset="0"/>
                <a:cs typeface="Arial" panose="020B0604020202020204" pitchFamily="34" charset="0"/>
              </a:rPr>
              <a:t>CHEMICAL PULP PROCESS DIAGRAM</a:t>
            </a:r>
          </a:p>
          <a:p>
            <a:pPr>
              <a:spcBef>
                <a:spcPct val="0"/>
              </a:spcBef>
              <a:buFontTx/>
              <a:buNone/>
            </a:pPr>
            <a:r>
              <a:rPr lang="en-US" altLang="en-US" sz="1200" b="1">
                <a:latin typeface="Arial" panose="020B0604020202020204" pitchFamily="34" charset="0"/>
                <a:cs typeface="Arial" panose="020B0604020202020204" pitchFamily="34" charset="0"/>
              </a:rPr>
              <a:t>250 adt/d, 65,000ADT/Y, Bleached Eucalypts pulp 85</a:t>
            </a:r>
            <a:r>
              <a:rPr lang="en-US" altLang="en-US" sz="1200" b="1" u="sng">
                <a:latin typeface="Arial" panose="020B0604020202020204" pitchFamily="34" charset="0"/>
                <a:cs typeface="Arial" panose="020B0604020202020204" pitchFamily="34" charset="0"/>
              </a:rPr>
              <a:t>+</a:t>
            </a:r>
            <a:r>
              <a:rPr lang="en-US" altLang="en-US" sz="1200" b="1">
                <a:latin typeface="Arial" panose="020B0604020202020204" pitchFamily="34" charset="0"/>
                <a:cs typeface="Arial" panose="020B0604020202020204" pitchFamily="34" charset="0"/>
              </a:rPr>
              <a:t>1%ISO</a:t>
            </a:r>
            <a:endParaRPr lang="th-TH" altLang="en-US" sz="1200" b="1">
              <a:latin typeface="Arial" panose="020B0604020202020204" pitchFamily="34" charset="0"/>
            </a:endParaRPr>
          </a:p>
        </p:txBody>
      </p:sp>
      <p:sp>
        <p:nvSpPr>
          <p:cNvPr id="6" name="Rectangle 8"/>
          <p:cNvSpPr>
            <a:spLocks noChangeArrowheads="1"/>
          </p:cNvSpPr>
          <p:nvPr/>
        </p:nvSpPr>
        <p:spPr bwMode="auto">
          <a:xfrm>
            <a:off x="4705350" y="1712913"/>
            <a:ext cx="2444750" cy="3200400"/>
          </a:xfrm>
          <a:prstGeom prst="rect">
            <a:avLst/>
          </a:prstGeom>
          <a:noFill/>
          <a:ln w="38100">
            <a:solidFill>
              <a:srgbClr val="FF0000"/>
            </a:solidFill>
            <a:miter lim="800000"/>
            <a:headEnd/>
            <a:tailEnd/>
          </a:ln>
          <a:effectLst/>
          <a:extLst>
            <a:ext uri="{909E8E84-426E-40DD-AFC4-6F175D3DCCD1}">
              <a14:hiddenFill xmlns:a14="http://schemas.microsoft.com/office/drawing/2010/main">
                <a:solidFill>
                  <a:schemeClr val="accent1">
                    <a:alpha val="50195"/>
                  </a:scheme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9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29058" name="Rectangle 3"/>
          <p:cNvSpPr>
            <a:spLocks noGrp="1" noChangeArrowheads="1"/>
          </p:cNvSpPr>
          <p:nvPr>
            <p:ph type="title"/>
          </p:nvPr>
        </p:nvSpPr>
        <p:spPr>
          <a:xfrm>
            <a:off x="889000" y="501650"/>
            <a:ext cx="7302500" cy="217488"/>
          </a:xfrm>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nchor="t" anchorCtr="1"/>
          <a:lstStyle/>
          <a:p>
            <a:r>
              <a:rPr lang="en-US" altLang="en-US" smtClean="0"/>
              <a:t>Causes Of Pulp Fiber Coloration In Pulp Mill</a:t>
            </a:r>
            <a:br>
              <a:rPr lang="en-US" altLang="en-US" smtClean="0"/>
            </a:br>
            <a:endParaRPr lang="en-US" altLang="en-US" smtClean="0"/>
          </a:p>
        </p:txBody>
      </p:sp>
      <p:sp>
        <p:nvSpPr>
          <p:cNvPr id="429059" name="Rectangle 4"/>
          <p:cNvSpPr>
            <a:spLocks noGrp="1" noChangeArrowheads="1"/>
          </p:cNvSpPr>
          <p:nvPr>
            <p:ph type="body" idx="1"/>
          </p:nvPr>
        </p:nvSpPr>
        <p:spPr>
          <a:xfrm>
            <a:off x="1425575" y="2714625"/>
            <a:ext cx="5848350" cy="1760538"/>
          </a:xfrm>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lstStyle/>
          <a:p>
            <a:r>
              <a:rPr lang="en-US" altLang="en-US" smtClean="0"/>
              <a:t>Lignin</a:t>
            </a:r>
          </a:p>
          <a:p>
            <a:r>
              <a:rPr lang="en-US" altLang="en-US" smtClean="0"/>
              <a:t>Resins</a:t>
            </a:r>
          </a:p>
          <a:p>
            <a:r>
              <a:rPr lang="en-US" altLang="en-US" smtClean="0"/>
              <a:t>Metal Ions (i.e., Fe, Mn, Cu)</a:t>
            </a:r>
          </a:p>
          <a:p>
            <a:r>
              <a:rPr lang="en-US" altLang="en-US" smtClean="0"/>
              <a:t>Hemicellulose</a:t>
            </a:r>
          </a:p>
        </p:txBody>
      </p:sp>
      <p:sp>
        <p:nvSpPr>
          <p:cNvPr id="429060" name="Rectangle 5"/>
          <p:cNvSpPr>
            <a:spLocks noChangeArrowheads="1"/>
          </p:cNvSpPr>
          <p:nvPr/>
        </p:nvSpPr>
        <p:spPr bwMode="auto">
          <a:xfrm>
            <a:off x="889000" y="3810000"/>
            <a:ext cx="7302500" cy="344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nchorCtr="1"/>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th-TH" altLang="en-US" sz="3600" b="1">
              <a:solidFill>
                <a:srgbClr val="0030E0"/>
              </a:solidFill>
              <a:latin typeface="Times New Roman" panose="02020603050405020304" pitchFamily="18" charset="0"/>
            </a:endParaRPr>
          </a:p>
        </p:txBody>
      </p:sp>
      <p:sp>
        <p:nvSpPr>
          <p:cNvPr id="429061" name="Rectangle 6"/>
          <p:cNvSpPr>
            <a:spLocks noChangeArrowheads="1"/>
          </p:cNvSpPr>
          <p:nvPr/>
        </p:nvSpPr>
        <p:spPr bwMode="auto">
          <a:xfrm>
            <a:off x="2032000" y="4422775"/>
            <a:ext cx="4876800" cy="153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lvl="1">
              <a:buFontTx/>
              <a:buChar char="•"/>
            </a:pPr>
            <a:endParaRPr lang="th-TH" altLang="en-US" sz="2400" b="1">
              <a:latin typeface="Arial" panose="020B0604020202020204" pitchFamily="34" charset="0"/>
            </a:endParaRPr>
          </a:p>
        </p:txBody>
      </p:sp>
    </p:spTree>
  </p:cSld>
  <p:clrMapOvr>
    <a:masterClrMapping/>
  </p:clrMapOvr>
  <p:transition/>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31106" name="Rectangle 2"/>
          <p:cNvSpPr>
            <a:spLocks noGrp="1" noChangeArrowheads="1"/>
          </p:cNvSpPr>
          <p:nvPr>
            <p:ph type="title"/>
          </p:nvPr>
        </p:nvSpPr>
        <p:spPr>
          <a:xfrm>
            <a:off x="73025" y="430213"/>
            <a:ext cx="8843963" cy="1066800"/>
          </a:xfrm>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nchor="t" anchorCtr="1"/>
          <a:lstStyle/>
          <a:p>
            <a:r>
              <a:rPr lang="en-US" altLang="en-US" smtClean="0"/>
              <a:t>Objectives Of Pulp Bleaching</a:t>
            </a:r>
          </a:p>
        </p:txBody>
      </p:sp>
      <p:sp>
        <p:nvSpPr>
          <p:cNvPr id="431107" name="Rectangle 3"/>
          <p:cNvSpPr>
            <a:spLocks noGrp="1" noChangeArrowheads="1"/>
          </p:cNvSpPr>
          <p:nvPr>
            <p:ph type="body" idx="1"/>
          </p:nvPr>
        </p:nvSpPr>
        <p:spPr>
          <a:xfrm>
            <a:off x="469900" y="1497013"/>
            <a:ext cx="8051800" cy="4406900"/>
          </a:xfrm>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lstStyle/>
          <a:p>
            <a:pPr>
              <a:spcBef>
                <a:spcPct val="55000"/>
              </a:spcBef>
            </a:pPr>
            <a:r>
              <a:rPr lang="en-US" altLang="en-US" smtClean="0"/>
              <a:t>Mill Wants To Obtain a Pulp That Has the Following Qualities:</a:t>
            </a:r>
          </a:p>
          <a:p>
            <a:pPr lvl="1">
              <a:spcBef>
                <a:spcPct val="55000"/>
              </a:spcBef>
            </a:pPr>
            <a:r>
              <a:rPr lang="en-US" altLang="en-US" smtClean="0"/>
              <a:t>High Brightness</a:t>
            </a:r>
          </a:p>
          <a:p>
            <a:pPr lvl="1">
              <a:spcBef>
                <a:spcPct val="55000"/>
              </a:spcBef>
            </a:pPr>
            <a:r>
              <a:rPr lang="en-US" altLang="en-US" smtClean="0"/>
              <a:t>Low Dirt Count (Shives, Bark, Scale, Pitch, Etc.)</a:t>
            </a:r>
          </a:p>
          <a:p>
            <a:pPr lvl="1">
              <a:spcBef>
                <a:spcPct val="55000"/>
              </a:spcBef>
            </a:pPr>
            <a:r>
              <a:rPr lang="en-US" altLang="en-US" smtClean="0"/>
              <a:t>Good Strength/High Viscosity*</a:t>
            </a:r>
          </a:p>
          <a:p>
            <a:pPr lvl="1">
              <a:spcBef>
                <a:spcPct val="55000"/>
              </a:spcBef>
            </a:pPr>
            <a:r>
              <a:rPr lang="en-US" altLang="en-US" smtClean="0"/>
              <a:t>High Brightness Stability/Low Brightness Reversion</a:t>
            </a:r>
          </a:p>
          <a:p>
            <a:pPr algn="ctr">
              <a:spcBef>
                <a:spcPct val="55000"/>
              </a:spcBef>
              <a:buFont typeface="Wingdings" panose="05000000000000000000" pitchFamily="2" charset="2"/>
              <a:buNone/>
            </a:pPr>
            <a:endParaRPr lang="en-US" altLang="en-US" sz="2800" smtClean="0"/>
          </a:p>
        </p:txBody>
      </p:sp>
    </p:spTree>
  </p:cSld>
  <p:clrMapOvr>
    <a:masterClrMapping/>
  </p:clrMapOvr>
  <p:transition/>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33154" name="Rectangle 2"/>
          <p:cNvSpPr>
            <a:spLocks noGrp="1" noChangeArrowheads="1"/>
          </p:cNvSpPr>
          <p:nvPr>
            <p:ph type="title"/>
          </p:nvPr>
        </p:nvSpPr>
        <p:spPr>
          <a:xfrm>
            <a:off x="136525" y="384175"/>
            <a:ext cx="8843963" cy="838200"/>
          </a:xfrm>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nchor="t" anchorCtr="1"/>
          <a:lstStyle/>
          <a:p>
            <a:r>
              <a:rPr lang="en-US" altLang="en-US" smtClean="0"/>
              <a:t>Objectives Of Pulp Bleaching</a:t>
            </a:r>
          </a:p>
        </p:txBody>
      </p:sp>
      <p:sp>
        <p:nvSpPr>
          <p:cNvPr id="433155" name="Rectangle 3"/>
          <p:cNvSpPr>
            <a:spLocks noGrp="1" noChangeArrowheads="1"/>
          </p:cNvSpPr>
          <p:nvPr>
            <p:ph type="body" idx="1"/>
          </p:nvPr>
        </p:nvSpPr>
        <p:spPr>
          <a:xfrm>
            <a:off x="533400" y="1676400"/>
            <a:ext cx="8051800" cy="4406900"/>
          </a:xfrm>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lstStyle/>
          <a:p>
            <a:pPr>
              <a:spcBef>
                <a:spcPct val="55000"/>
              </a:spcBef>
            </a:pPr>
            <a:r>
              <a:rPr lang="en-US" altLang="en-US" smtClean="0"/>
              <a:t>Brightening</a:t>
            </a:r>
          </a:p>
          <a:p>
            <a:pPr>
              <a:spcBef>
                <a:spcPct val="55000"/>
              </a:spcBef>
            </a:pPr>
            <a:r>
              <a:rPr lang="en-US" altLang="en-US" smtClean="0"/>
              <a:t>Cleaning</a:t>
            </a:r>
          </a:p>
          <a:p>
            <a:pPr>
              <a:spcBef>
                <a:spcPct val="55000"/>
              </a:spcBef>
            </a:pPr>
            <a:r>
              <a:rPr lang="en-US" altLang="en-US" smtClean="0"/>
              <a:t>Purification</a:t>
            </a:r>
          </a:p>
          <a:p>
            <a:pPr>
              <a:spcBef>
                <a:spcPct val="55000"/>
              </a:spcBef>
            </a:pPr>
            <a:endParaRPr lang="en-US" altLang="en-US" smtClean="0"/>
          </a:p>
          <a:p>
            <a:pPr algn="ctr">
              <a:spcBef>
                <a:spcPct val="55000"/>
              </a:spcBef>
            </a:pPr>
            <a:r>
              <a:rPr lang="en-US" altLang="en-US" sz="2800" smtClean="0"/>
              <a:t>Viscosity Is An Indirect Way Of Measuring Fiber Strength</a:t>
            </a:r>
          </a:p>
        </p:txBody>
      </p:sp>
    </p:spTree>
  </p:cSld>
  <p:clrMapOvr>
    <a:masterClrMapping/>
  </p:clrMapOvr>
  <p:transition/>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5202"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5. Bleaching sequences </a:t>
            </a:r>
          </a:p>
        </p:txBody>
      </p:sp>
      <p:pic>
        <p:nvPicPr>
          <p:cNvPr id="435203"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036638" y="1125538"/>
            <a:ext cx="7070725" cy="530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5204" name="TextBox 7"/>
          <p:cNvSpPr txBox="1">
            <a:spLocks noChangeArrowheads="1"/>
          </p:cNvSpPr>
          <p:nvPr/>
        </p:nvSpPr>
        <p:spPr bwMode="auto">
          <a:xfrm>
            <a:off x="457200" y="895350"/>
            <a:ext cx="1420813" cy="4603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t>Bleaching</a:t>
            </a:r>
          </a:p>
        </p:txBody>
      </p:sp>
    </p:spTree>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37250" name="Rectangle 2"/>
          <p:cNvSpPr>
            <a:spLocks noGrp="1" noChangeArrowheads="1"/>
          </p:cNvSpPr>
          <p:nvPr>
            <p:ph type="title"/>
          </p:nvPr>
        </p:nvSpPr>
        <p:spPr>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nchor="t" anchorCtr="1"/>
          <a:lstStyle/>
          <a:p>
            <a:r>
              <a:rPr lang="en-US" altLang="en-US" smtClean="0"/>
              <a:t>Factors Interfering With The </a:t>
            </a:r>
            <a:br>
              <a:rPr lang="en-US" altLang="en-US" smtClean="0"/>
            </a:br>
            <a:r>
              <a:rPr lang="en-US" altLang="en-US" smtClean="0"/>
              <a:t>Achievement Of Bleaching Objectives</a:t>
            </a:r>
          </a:p>
        </p:txBody>
      </p:sp>
      <p:sp>
        <p:nvSpPr>
          <p:cNvPr id="437251" name="Rectangle 3"/>
          <p:cNvSpPr>
            <a:spLocks noGrp="1" noChangeArrowheads="1"/>
          </p:cNvSpPr>
          <p:nvPr>
            <p:ph type="body" idx="1"/>
          </p:nvPr>
        </p:nvSpPr>
        <p:spPr>
          <a:xfrm>
            <a:off x="457200" y="2159000"/>
            <a:ext cx="8229600" cy="3971925"/>
          </a:xfrm>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lstStyle/>
          <a:p>
            <a:endParaRPr lang="en-US" altLang="en-US" smtClean="0"/>
          </a:p>
          <a:p>
            <a:endParaRPr lang="en-US" altLang="en-US" smtClean="0"/>
          </a:p>
          <a:p>
            <a:r>
              <a:rPr lang="en-US" altLang="en-US" smtClean="0"/>
              <a:t>High Kappa No. Unbleached Pulp</a:t>
            </a:r>
          </a:p>
          <a:p>
            <a:r>
              <a:rPr lang="en-US" altLang="en-US" smtClean="0"/>
              <a:t>Large Kappa No. Variation Of Unbleached Pulp</a:t>
            </a:r>
          </a:p>
          <a:p>
            <a:r>
              <a:rPr lang="en-US" altLang="en-US" smtClean="0"/>
              <a:t>Poor Brown Stock Washing</a:t>
            </a:r>
          </a:p>
          <a:p>
            <a:r>
              <a:rPr lang="en-US" altLang="en-US" smtClean="0"/>
              <a:t>Poor Bleach Plant Washing</a:t>
            </a:r>
          </a:p>
        </p:txBody>
      </p:sp>
    </p:spTree>
  </p:cSld>
  <p:clrMapOvr>
    <a:masterClrMapping/>
  </p:clrMapOvr>
  <p:transition/>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39298" name="Rectangle 2"/>
          <p:cNvSpPr>
            <a:spLocks noGrp="1" noChangeArrowheads="1"/>
          </p:cNvSpPr>
          <p:nvPr>
            <p:ph type="title"/>
          </p:nvPr>
        </p:nvSpPr>
        <p:spPr>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nchor="t" anchorCtr="1"/>
          <a:lstStyle/>
          <a:p>
            <a:r>
              <a:rPr lang="en-US" altLang="en-US" smtClean="0"/>
              <a:t>Factors Interfering With The </a:t>
            </a:r>
            <a:br>
              <a:rPr lang="en-US" altLang="en-US" smtClean="0"/>
            </a:br>
            <a:r>
              <a:rPr lang="en-US" altLang="en-US" smtClean="0"/>
              <a:t>Achievement Of Bleaching Objectives</a:t>
            </a:r>
          </a:p>
        </p:txBody>
      </p:sp>
      <p:sp>
        <p:nvSpPr>
          <p:cNvPr id="439299" name="Rectangle 3"/>
          <p:cNvSpPr>
            <a:spLocks noGrp="1" noChangeArrowheads="1"/>
          </p:cNvSpPr>
          <p:nvPr>
            <p:ph type="body" idx="1"/>
          </p:nvPr>
        </p:nvSpPr>
        <p:spPr>
          <a:xfrm>
            <a:off x="457200" y="2159000"/>
            <a:ext cx="8229600" cy="3971925"/>
          </a:xfrm>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lstStyle/>
          <a:p>
            <a:endParaRPr lang="en-US" altLang="en-US" smtClean="0"/>
          </a:p>
          <a:p>
            <a:r>
              <a:rPr lang="en-US" altLang="en-US" smtClean="0"/>
              <a:t>High Shive Content</a:t>
            </a:r>
          </a:p>
          <a:p>
            <a:r>
              <a:rPr lang="en-US" altLang="en-US" smtClean="0"/>
              <a:t>High Dirt Content From Bark, Pitch, Etc.</a:t>
            </a:r>
          </a:p>
          <a:p>
            <a:r>
              <a:rPr lang="en-US" altLang="en-US" smtClean="0"/>
              <a:t>High Metal Ion Content In Pulp (Iron, Manganese)</a:t>
            </a:r>
          </a:p>
          <a:p>
            <a:r>
              <a:rPr lang="en-US" altLang="en-US" smtClean="0"/>
              <a:t>Blinding of Process Control Sensors With Scale Or Pitch</a:t>
            </a:r>
          </a:p>
        </p:txBody>
      </p:sp>
    </p:spTree>
  </p:cSld>
  <p:clrMapOvr>
    <a:masterClrMapping/>
  </p:clrMapOvr>
  <p:transition/>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346" name="Rectangle 3"/>
          <p:cNvSpPr>
            <a:spLocks noGrp="1" noChangeArrowheads="1"/>
          </p:cNvSpPr>
          <p:nvPr>
            <p:ph type="title"/>
          </p:nvPr>
        </p:nvSpPr>
        <p:spPr>
          <a:xfrm>
            <a:off x="889000" y="501650"/>
            <a:ext cx="7302500" cy="217488"/>
          </a:xfrm>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nchor="t" anchorCtr="1"/>
          <a:lstStyle/>
          <a:p>
            <a:r>
              <a:rPr lang="en-US" altLang="en-US" smtClean="0"/>
              <a:t/>
            </a:r>
            <a:br>
              <a:rPr lang="en-US" altLang="en-US" smtClean="0"/>
            </a:br>
            <a:endParaRPr lang="en-US" altLang="en-US" smtClean="0"/>
          </a:p>
        </p:txBody>
      </p:sp>
      <p:sp>
        <p:nvSpPr>
          <p:cNvPr id="433157" name="Rectangle 5"/>
          <p:cNvSpPr>
            <a:spLocks noChangeArrowheads="1"/>
          </p:cNvSpPr>
          <p:nvPr/>
        </p:nvSpPr>
        <p:spPr bwMode="auto">
          <a:xfrm>
            <a:off x="0" y="396875"/>
            <a:ext cx="9144000" cy="1371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nchorCtr="1"/>
          <a:lstStyle/>
          <a:p>
            <a:pPr algn="ctr">
              <a:defRPr/>
            </a:pPr>
            <a:r>
              <a:rPr lang="en-US" altLang="en-US" sz="4000" dirty="0">
                <a:solidFill>
                  <a:srgbClr val="CF0E30"/>
                </a:solidFill>
                <a:effectLst>
                  <a:outerShdw blurRad="38100" dist="38100" dir="2700000" algn="tl">
                    <a:srgbClr val="C0C0C0"/>
                  </a:outerShdw>
                </a:effectLst>
                <a:latin typeface="Georgia" panose="02040502050405020303" pitchFamily="18" charset="0"/>
              </a:rPr>
              <a:t>Processes involved in Pulp Bleaching</a:t>
            </a:r>
            <a:r>
              <a:rPr lang="en-US" altLang="en-US" sz="4000" b="1" dirty="0">
                <a:solidFill>
                  <a:srgbClr val="0030E0"/>
                </a:solidFill>
                <a:latin typeface="Times New Roman" panose="02020603050405020304" pitchFamily="18" charset="0"/>
              </a:rPr>
              <a:t/>
            </a:r>
            <a:br>
              <a:rPr lang="en-US" altLang="en-US" sz="4000" b="1" dirty="0">
                <a:solidFill>
                  <a:srgbClr val="0030E0"/>
                </a:solidFill>
                <a:latin typeface="Times New Roman" panose="02020603050405020304" pitchFamily="18" charset="0"/>
              </a:rPr>
            </a:br>
            <a:endParaRPr lang="en-US" altLang="en-US" sz="4000" b="1" dirty="0">
              <a:solidFill>
                <a:srgbClr val="0030E0"/>
              </a:solidFill>
              <a:latin typeface="Times New Roman" panose="02020603050405020304" pitchFamily="18" charset="0"/>
            </a:endParaRPr>
          </a:p>
        </p:txBody>
      </p:sp>
      <p:sp>
        <p:nvSpPr>
          <p:cNvPr id="441348" name="Rectangle 6"/>
          <p:cNvSpPr>
            <a:spLocks noChangeArrowheads="1"/>
          </p:cNvSpPr>
          <p:nvPr/>
        </p:nvSpPr>
        <p:spPr bwMode="auto">
          <a:xfrm>
            <a:off x="2101850" y="1873250"/>
            <a:ext cx="4876800" cy="3219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lvl="1">
              <a:buFontTx/>
              <a:buChar char="•"/>
            </a:pPr>
            <a:r>
              <a:rPr lang="en-US" altLang="en-US" sz="2400" b="1">
                <a:latin typeface="Arial" panose="020B0604020202020204" pitchFamily="34" charset="0"/>
              </a:rPr>
              <a:t>Delignification</a:t>
            </a:r>
          </a:p>
          <a:p>
            <a:pPr lvl="1">
              <a:buFontTx/>
              <a:buChar char="•"/>
            </a:pPr>
            <a:endParaRPr lang="en-US" altLang="en-US" sz="2400" b="1">
              <a:latin typeface="Arial" panose="020B0604020202020204" pitchFamily="34" charset="0"/>
            </a:endParaRPr>
          </a:p>
          <a:p>
            <a:pPr lvl="1">
              <a:buFontTx/>
              <a:buChar char="•"/>
            </a:pPr>
            <a:r>
              <a:rPr lang="en-US" altLang="en-US" sz="2400" b="1">
                <a:latin typeface="Arial" panose="020B0604020202020204" pitchFamily="34" charset="0"/>
              </a:rPr>
              <a:t>Extraction </a:t>
            </a:r>
          </a:p>
          <a:p>
            <a:pPr lvl="1">
              <a:buFontTx/>
              <a:buChar char="•"/>
            </a:pPr>
            <a:endParaRPr lang="en-US" altLang="en-US" sz="2400" b="1">
              <a:latin typeface="Arial" panose="020B0604020202020204" pitchFamily="34" charset="0"/>
            </a:endParaRPr>
          </a:p>
          <a:p>
            <a:pPr lvl="1">
              <a:buFontTx/>
              <a:buChar char="•"/>
            </a:pPr>
            <a:r>
              <a:rPr lang="en-US" altLang="en-US" sz="2400" b="1">
                <a:latin typeface="Arial" panose="020B0604020202020204" pitchFamily="34" charset="0"/>
              </a:rPr>
              <a:t>Brightening</a:t>
            </a:r>
          </a:p>
          <a:p>
            <a:pPr lvl="1">
              <a:buFontTx/>
              <a:buChar char="•"/>
            </a:pPr>
            <a:endParaRPr lang="en-US" altLang="en-US" sz="2400" b="1">
              <a:latin typeface="Arial" panose="020B0604020202020204" pitchFamily="34" charset="0"/>
            </a:endParaRPr>
          </a:p>
          <a:p>
            <a:pPr lvl="1">
              <a:buFontTx/>
              <a:buChar char="•"/>
            </a:pPr>
            <a:r>
              <a:rPr lang="en-US" altLang="en-US" sz="2400" b="1">
                <a:latin typeface="Arial" panose="020B0604020202020204" pitchFamily="34" charset="0"/>
              </a:rPr>
              <a:t>Washing</a:t>
            </a:r>
          </a:p>
        </p:txBody>
      </p:sp>
    </p:spTree>
  </p:cSld>
  <p:clrMapOvr>
    <a:masterClrMapping/>
  </p:clrMapOvr>
  <p:transition/>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43394" name="Rectangle 2"/>
          <p:cNvSpPr>
            <a:spLocks noGrp="1" noChangeArrowheads="1"/>
          </p:cNvSpPr>
          <p:nvPr>
            <p:ph type="title"/>
          </p:nvPr>
        </p:nvSpPr>
        <p:spPr>
          <a:xfrm>
            <a:off x="114300" y="211138"/>
            <a:ext cx="8843963" cy="609600"/>
          </a:xfrm>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nchor="t" anchorCtr="1"/>
          <a:lstStyle/>
          <a:p>
            <a:r>
              <a:rPr lang="en-US" altLang="en-US" sz="3600" b="1" smtClean="0"/>
              <a:t>Bleach Chemicals Used in Pulp Mills</a:t>
            </a:r>
          </a:p>
        </p:txBody>
      </p:sp>
      <p:sp>
        <p:nvSpPr>
          <p:cNvPr id="443395" name="Rectangle 3"/>
          <p:cNvSpPr>
            <a:spLocks noGrp="1" noChangeArrowheads="1"/>
          </p:cNvSpPr>
          <p:nvPr>
            <p:ph type="body" idx="1"/>
          </p:nvPr>
        </p:nvSpPr>
        <p:spPr>
          <a:xfrm>
            <a:off x="1600200" y="944563"/>
            <a:ext cx="6489700" cy="4456112"/>
          </a:xfrm>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lstStyle/>
          <a:p>
            <a:r>
              <a:rPr lang="en-US" altLang="en-US" sz="2800" smtClean="0"/>
              <a:t>Delignifiers</a:t>
            </a:r>
          </a:p>
          <a:p>
            <a:pPr lvl="1"/>
            <a:r>
              <a:rPr lang="en-US" altLang="en-US" sz="2300" smtClean="0"/>
              <a:t>Oxygen (O</a:t>
            </a:r>
            <a:r>
              <a:rPr lang="en-US" altLang="en-US" sz="2300" baseline="-25000" smtClean="0"/>
              <a:t>2</a:t>
            </a:r>
            <a:r>
              <a:rPr lang="en-US" altLang="en-US" sz="2300" smtClean="0"/>
              <a:t>)</a:t>
            </a:r>
          </a:p>
          <a:p>
            <a:pPr lvl="1"/>
            <a:r>
              <a:rPr lang="en-US" altLang="en-US" sz="2300" smtClean="0"/>
              <a:t>Chlorine Dioxide (ClO</a:t>
            </a:r>
            <a:r>
              <a:rPr lang="en-US" altLang="en-US" sz="2300" baseline="-25000" smtClean="0"/>
              <a:t>2</a:t>
            </a:r>
            <a:r>
              <a:rPr lang="en-US" altLang="en-US" sz="2300" smtClean="0"/>
              <a:t>)</a:t>
            </a:r>
          </a:p>
          <a:p>
            <a:pPr lvl="1"/>
            <a:r>
              <a:rPr lang="en-US" altLang="en-US" sz="2300" smtClean="0"/>
              <a:t>Chlorine (Cl</a:t>
            </a:r>
            <a:r>
              <a:rPr lang="en-US" altLang="en-US" sz="2300" baseline="-25000" smtClean="0"/>
              <a:t>2</a:t>
            </a:r>
            <a:r>
              <a:rPr lang="en-US" altLang="en-US" sz="2300" smtClean="0"/>
              <a:t>)</a:t>
            </a:r>
          </a:p>
          <a:p>
            <a:pPr lvl="1"/>
            <a:r>
              <a:rPr lang="en-US" altLang="en-US" sz="2300" smtClean="0"/>
              <a:t>Ozone (O</a:t>
            </a:r>
            <a:r>
              <a:rPr lang="en-US" altLang="en-US" sz="2300" baseline="-25000" smtClean="0"/>
              <a:t>3</a:t>
            </a:r>
            <a:r>
              <a:rPr lang="en-US" altLang="en-US" sz="2300" smtClean="0"/>
              <a:t>)</a:t>
            </a:r>
          </a:p>
          <a:p>
            <a:r>
              <a:rPr lang="en-US" altLang="en-US" sz="2800" smtClean="0"/>
              <a:t>Extracter</a:t>
            </a:r>
          </a:p>
          <a:p>
            <a:pPr lvl="1"/>
            <a:r>
              <a:rPr lang="en-US" altLang="en-US" sz="2300" smtClean="0"/>
              <a:t>Caustic (NaOH)</a:t>
            </a:r>
          </a:p>
          <a:p>
            <a:r>
              <a:rPr lang="en-US" altLang="en-US" sz="2800" smtClean="0"/>
              <a:t>Brighteners</a:t>
            </a:r>
          </a:p>
          <a:p>
            <a:pPr lvl="1"/>
            <a:r>
              <a:rPr lang="en-US" altLang="en-US" sz="2300" smtClean="0"/>
              <a:t>Chlorine Dioxide (ClO</a:t>
            </a:r>
            <a:r>
              <a:rPr lang="en-US" altLang="en-US" sz="2300" baseline="-25000" smtClean="0"/>
              <a:t>2</a:t>
            </a:r>
            <a:r>
              <a:rPr lang="en-US" altLang="en-US" sz="2300" smtClean="0"/>
              <a:t>)</a:t>
            </a:r>
          </a:p>
          <a:p>
            <a:pPr lvl="1"/>
            <a:r>
              <a:rPr lang="en-US" altLang="en-US" sz="2300" smtClean="0"/>
              <a:t>Chlorine (Cl</a:t>
            </a:r>
            <a:r>
              <a:rPr lang="en-US" altLang="en-US" sz="2300" baseline="-25000" smtClean="0"/>
              <a:t>2</a:t>
            </a:r>
            <a:r>
              <a:rPr lang="en-US" altLang="en-US" sz="2300" smtClean="0"/>
              <a:t>)</a:t>
            </a:r>
          </a:p>
          <a:p>
            <a:pPr lvl="1"/>
            <a:r>
              <a:rPr lang="en-US" altLang="en-US" sz="2300" smtClean="0"/>
              <a:t>Sodium Hypochlorite (NaOCl)</a:t>
            </a:r>
          </a:p>
          <a:p>
            <a:pPr lvl="1"/>
            <a:r>
              <a:rPr lang="en-US" altLang="en-US" sz="2300" smtClean="0"/>
              <a:t>Peroxide (H</a:t>
            </a:r>
            <a:r>
              <a:rPr lang="en-US" altLang="en-US" sz="2300" baseline="-25000" smtClean="0"/>
              <a:t>2</a:t>
            </a:r>
            <a:r>
              <a:rPr lang="en-US" altLang="en-US" sz="2300" smtClean="0"/>
              <a:t>O</a:t>
            </a:r>
            <a:r>
              <a:rPr lang="en-US" altLang="en-US" sz="2300" baseline="-25000" smtClean="0"/>
              <a:t>2</a:t>
            </a:r>
            <a:r>
              <a:rPr lang="en-US" altLang="en-US" sz="2300" smtClean="0"/>
              <a:t>)</a:t>
            </a:r>
          </a:p>
        </p:txBody>
      </p:sp>
    </p:spTree>
  </p:cSld>
  <p:clrMapOvr>
    <a:masterClrMapping/>
  </p:clrMapOvr>
  <p:transition/>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5442" name="Rectangle 2"/>
          <p:cNvSpPr>
            <a:spLocks noGrp="1" noChangeArrowheads="1"/>
          </p:cNvSpPr>
          <p:nvPr>
            <p:ph type="title"/>
          </p:nvPr>
        </p:nvSpPr>
        <p:spPr>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nchor="t" anchorCtr="1"/>
          <a:lstStyle/>
          <a:p>
            <a:r>
              <a:rPr lang="en-US" altLang="en-US" b="1" smtClean="0"/>
              <a:t>Selection of Bleach chemicals</a:t>
            </a:r>
          </a:p>
        </p:txBody>
      </p:sp>
      <p:sp>
        <p:nvSpPr>
          <p:cNvPr id="445443" name="Rectangle 3"/>
          <p:cNvSpPr>
            <a:spLocks noChangeArrowheads="1"/>
          </p:cNvSpPr>
          <p:nvPr/>
        </p:nvSpPr>
        <p:spPr bwMode="auto">
          <a:xfrm>
            <a:off x="2287588" y="1830388"/>
            <a:ext cx="5727700" cy="3078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Char char="•"/>
            </a:pPr>
            <a:r>
              <a:rPr lang="en-US" altLang="en-US" sz="2800" b="1">
                <a:latin typeface="Times New Roman" panose="02020603050405020304" pitchFamily="18" charset="0"/>
              </a:rPr>
              <a:t>Cost</a:t>
            </a:r>
          </a:p>
          <a:p>
            <a:pPr>
              <a:spcBef>
                <a:spcPct val="0"/>
              </a:spcBef>
              <a:buFontTx/>
              <a:buChar char="•"/>
            </a:pPr>
            <a:r>
              <a:rPr lang="en-US" altLang="en-US" sz="2800" b="1">
                <a:latin typeface="Times New Roman" panose="02020603050405020304" pitchFamily="18" charset="0"/>
              </a:rPr>
              <a:t>Selectivity</a:t>
            </a:r>
          </a:p>
          <a:p>
            <a:pPr>
              <a:spcBef>
                <a:spcPct val="0"/>
              </a:spcBef>
              <a:buFontTx/>
              <a:buChar char="•"/>
            </a:pPr>
            <a:r>
              <a:rPr lang="en-US" altLang="en-US" sz="2800" b="1">
                <a:latin typeface="Times New Roman" panose="02020603050405020304" pitchFamily="18" charset="0"/>
              </a:rPr>
              <a:t>Particle bleaching</a:t>
            </a:r>
          </a:p>
          <a:p>
            <a:pPr>
              <a:spcBef>
                <a:spcPct val="0"/>
              </a:spcBef>
              <a:buFontTx/>
              <a:buChar char="•"/>
            </a:pPr>
            <a:r>
              <a:rPr lang="en-US" altLang="en-US" sz="2800" b="1">
                <a:latin typeface="Times New Roman" panose="02020603050405020304" pitchFamily="18" charset="0"/>
              </a:rPr>
              <a:t>Capital Investment</a:t>
            </a:r>
          </a:p>
          <a:p>
            <a:pPr>
              <a:spcBef>
                <a:spcPct val="0"/>
              </a:spcBef>
              <a:buFontTx/>
              <a:buChar char="•"/>
            </a:pPr>
            <a:r>
              <a:rPr lang="en-US" altLang="en-US" sz="2800" b="1">
                <a:latin typeface="Times New Roman" panose="02020603050405020304" pitchFamily="18" charset="0"/>
              </a:rPr>
              <a:t>Hazard in handling</a:t>
            </a:r>
          </a:p>
          <a:p>
            <a:pPr>
              <a:spcBef>
                <a:spcPct val="0"/>
              </a:spcBef>
              <a:buFontTx/>
              <a:buChar char="•"/>
            </a:pPr>
            <a:r>
              <a:rPr lang="en-US" altLang="en-US" sz="2800" b="1">
                <a:latin typeface="Times New Roman" panose="02020603050405020304" pitchFamily="18" charset="0"/>
              </a:rPr>
              <a:t>Availability</a:t>
            </a:r>
          </a:p>
          <a:p>
            <a:pPr>
              <a:spcBef>
                <a:spcPct val="0"/>
              </a:spcBef>
              <a:buFontTx/>
              <a:buChar char="•"/>
            </a:pPr>
            <a:r>
              <a:rPr lang="en-US" altLang="en-US" sz="2800" b="1">
                <a:latin typeface="Times New Roman" panose="02020603050405020304" pitchFamily="18" charset="0"/>
              </a:rPr>
              <a:t>Hazard to Environment</a:t>
            </a:r>
          </a:p>
        </p:txBody>
      </p:sp>
    </p:spTree>
  </p:cSld>
  <p:clrMapOvr>
    <a:masterClrMapping/>
  </p:clrMapOvr>
  <p:transition spd="slow"/>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47490" name="Rectangle 2"/>
          <p:cNvSpPr>
            <a:spLocks noGrp="1" noChangeArrowheads="1"/>
          </p:cNvSpPr>
          <p:nvPr>
            <p:ph type="title"/>
          </p:nvPr>
        </p:nvSpPr>
        <p:spPr>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nchor="t" anchorCtr="1"/>
          <a:lstStyle/>
          <a:p>
            <a:r>
              <a:rPr lang="en-US" altLang="en-US" b="1" smtClean="0"/>
              <a:t>Important Bleaching Parameters</a:t>
            </a:r>
          </a:p>
        </p:txBody>
      </p:sp>
      <p:sp>
        <p:nvSpPr>
          <p:cNvPr id="447491" name="Rectangle 3"/>
          <p:cNvSpPr>
            <a:spLocks noGrp="1" noChangeArrowheads="1"/>
          </p:cNvSpPr>
          <p:nvPr>
            <p:ph type="body" idx="1"/>
          </p:nvPr>
        </p:nvSpPr>
        <p:spPr>
          <a:xfrm>
            <a:off x="1439863" y="1157288"/>
            <a:ext cx="6656387" cy="4530725"/>
          </a:xfrm>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lstStyle/>
          <a:p>
            <a:pPr>
              <a:spcBef>
                <a:spcPct val="55000"/>
              </a:spcBef>
            </a:pPr>
            <a:r>
              <a:rPr lang="en-US" altLang="en-US" sz="2800" smtClean="0"/>
              <a:t>pH:  &lt; 2 to remove heavy metals</a:t>
            </a:r>
          </a:p>
          <a:p>
            <a:pPr>
              <a:spcBef>
                <a:spcPct val="55000"/>
              </a:spcBef>
              <a:buFont typeface="Wingdings" panose="05000000000000000000" pitchFamily="2" charset="2"/>
              <a:buNone/>
            </a:pPr>
            <a:r>
              <a:rPr lang="en-US" altLang="en-US" sz="2800" smtClean="0"/>
              <a:t>		 &gt; 10.5 to solubilize pitch</a:t>
            </a:r>
          </a:p>
          <a:p>
            <a:pPr>
              <a:spcBef>
                <a:spcPct val="55000"/>
              </a:spcBef>
            </a:pPr>
            <a:r>
              <a:rPr lang="en-US" altLang="en-US" sz="2800" smtClean="0"/>
              <a:t>Retention Time</a:t>
            </a:r>
          </a:p>
          <a:p>
            <a:pPr>
              <a:spcBef>
                <a:spcPct val="55000"/>
              </a:spcBef>
            </a:pPr>
            <a:r>
              <a:rPr lang="en-US" altLang="en-US" sz="2800" smtClean="0"/>
              <a:t>Temperature</a:t>
            </a:r>
          </a:p>
          <a:p>
            <a:pPr>
              <a:spcBef>
                <a:spcPct val="55000"/>
              </a:spcBef>
            </a:pPr>
            <a:r>
              <a:rPr lang="en-US" altLang="en-US" sz="2800" smtClean="0"/>
              <a:t>Mixing</a:t>
            </a:r>
          </a:p>
          <a:p>
            <a:pPr>
              <a:spcBef>
                <a:spcPct val="55000"/>
              </a:spcBef>
            </a:pPr>
            <a:r>
              <a:rPr lang="en-US" altLang="en-US" sz="2800" smtClean="0"/>
              <a:t>Consistency</a:t>
            </a:r>
          </a:p>
          <a:p>
            <a:pPr>
              <a:spcBef>
                <a:spcPct val="55000"/>
              </a:spcBef>
            </a:pPr>
            <a:r>
              <a:rPr lang="en-US" altLang="en-US" sz="2800" smtClean="0"/>
              <a:t>Concentration of Bleach</a:t>
            </a:r>
          </a:p>
          <a:p>
            <a:pPr>
              <a:spcBef>
                <a:spcPct val="55000"/>
              </a:spcBef>
            </a:pPr>
            <a:r>
              <a:rPr lang="en-US" altLang="en-US" sz="2800" smtClean="0"/>
              <a:t>Chemicals Being Added</a:t>
            </a:r>
          </a:p>
        </p:txBody>
      </p:sp>
    </p:spTree>
  </p:cSld>
  <p:clrMapOvr>
    <a:masterClrMapping/>
  </p:clrMapOvr>
  <p:transition/>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538" name="Rectangle 2"/>
          <p:cNvSpPr>
            <a:spLocks noGrp="1" noChangeArrowheads="1"/>
          </p:cNvSpPr>
          <p:nvPr>
            <p:ph type="title"/>
          </p:nvPr>
        </p:nvSpPr>
        <p:spPr/>
        <p:txBody>
          <a:bodyPr/>
          <a:lstStyle/>
          <a:p>
            <a:r>
              <a:rPr lang="en-US" altLang="en-US" b="1" smtClean="0"/>
              <a:t>Environmental concerns of Bleaching</a:t>
            </a:r>
          </a:p>
        </p:txBody>
      </p:sp>
      <p:sp>
        <p:nvSpPr>
          <p:cNvPr id="449539" name="Text Box 3"/>
          <p:cNvSpPr txBox="1">
            <a:spLocks noChangeArrowheads="1"/>
          </p:cNvSpPr>
          <p:nvPr/>
        </p:nvSpPr>
        <p:spPr bwMode="auto">
          <a:xfrm>
            <a:off x="974725" y="2200275"/>
            <a:ext cx="7169150" cy="3081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a:latin typeface="Georgia" panose="02040502050405020303" pitchFamily="18" charset="0"/>
              </a:rPr>
              <a:t>   </a:t>
            </a:r>
            <a:r>
              <a:rPr lang="en-US" altLang="en-US" sz="2800">
                <a:solidFill>
                  <a:srgbClr val="4038A6"/>
                </a:solidFill>
                <a:latin typeface="Georgia" panose="02040502050405020303" pitchFamily="18" charset="0"/>
              </a:rPr>
              <a:t>“Chlorine an Environmental Hazard”</a:t>
            </a:r>
          </a:p>
          <a:p>
            <a:pPr>
              <a:spcBef>
                <a:spcPct val="0"/>
              </a:spcBef>
              <a:buFontTx/>
              <a:buNone/>
            </a:pPr>
            <a:endParaRPr lang="en-US" altLang="en-US" sz="2800">
              <a:solidFill>
                <a:srgbClr val="4038A6"/>
              </a:solidFill>
              <a:latin typeface="Georgia" panose="02040502050405020303" pitchFamily="18" charset="0"/>
            </a:endParaRPr>
          </a:p>
          <a:p>
            <a:pPr>
              <a:spcBef>
                <a:spcPct val="0"/>
              </a:spcBef>
              <a:buFontTx/>
              <a:buNone/>
            </a:pPr>
            <a:endParaRPr lang="en-US" altLang="en-US" sz="2800">
              <a:solidFill>
                <a:srgbClr val="4038A6"/>
              </a:solidFill>
              <a:latin typeface="Georgia" panose="02040502050405020303" pitchFamily="18" charset="0"/>
            </a:endParaRPr>
          </a:p>
          <a:p>
            <a:pPr>
              <a:spcBef>
                <a:spcPct val="0"/>
              </a:spcBef>
              <a:buFontTx/>
              <a:buChar char="•"/>
            </a:pPr>
            <a:r>
              <a:rPr lang="en-US" altLang="en-US" sz="2800">
                <a:solidFill>
                  <a:srgbClr val="4038A6"/>
                </a:solidFill>
                <a:latin typeface="Georgia" panose="02040502050405020303" pitchFamily="18" charset="0"/>
              </a:rPr>
              <a:t>    </a:t>
            </a:r>
            <a:r>
              <a:rPr lang="en-US" altLang="en-US" sz="2800">
                <a:latin typeface="Georgia" panose="02040502050405020303" pitchFamily="18" charset="0"/>
              </a:rPr>
              <a:t> ECF Bleaching ( Elemental chlorine free)</a:t>
            </a:r>
          </a:p>
          <a:p>
            <a:pPr>
              <a:spcBef>
                <a:spcPct val="0"/>
              </a:spcBef>
              <a:buFontTx/>
              <a:buChar char="•"/>
            </a:pPr>
            <a:endParaRPr lang="en-US" altLang="en-US" sz="2800">
              <a:latin typeface="Georgia" panose="02040502050405020303" pitchFamily="18" charset="0"/>
            </a:endParaRPr>
          </a:p>
          <a:p>
            <a:pPr>
              <a:spcBef>
                <a:spcPct val="0"/>
              </a:spcBef>
              <a:buFontTx/>
              <a:buChar char="•"/>
            </a:pPr>
            <a:r>
              <a:rPr lang="en-US" altLang="en-US" sz="2800">
                <a:latin typeface="Georgia" panose="02040502050405020303" pitchFamily="18" charset="0"/>
              </a:rPr>
              <a:t>     TCF Bleaching ( Total chlorine free)</a:t>
            </a:r>
          </a:p>
          <a:p>
            <a:pPr>
              <a:spcBef>
                <a:spcPct val="0"/>
              </a:spcBef>
              <a:buFontTx/>
              <a:buNone/>
            </a:pPr>
            <a:r>
              <a:rPr lang="en-US" altLang="en-US" sz="2800">
                <a:solidFill>
                  <a:srgbClr val="4038A6"/>
                </a:solidFill>
                <a:latin typeface="Georgia" panose="02040502050405020303" pitchFamily="18" charset="0"/>
              </a:rPr>
              <a:t>       </a:t>
            </a:r>
            <a:r>
              <a:rPr lang="en-US" altLang="en-US" sz="2800">
                <a:latin typeface="Georgia" panose="02040502050405020303" pitchFamily="18" charset="0"/>
              </a:rPr>
              <a:t>-Very expensive.Popular only in Europe</a:t>
            </a:r>
            <a:endParaRPr lang="en-US" altLang="en-US" sz="2800">
              <a:solidFill>
                <a:srgbClr val="4038A6"/>
              </a:solidFill>
              <a:latin typeface="Georgia" panose="02040502050405020303" pitchFamily="18" charset="0"/>
            </a:endParaRPr>
          </a:p>
        </p:txBody>
      </p:sp>
    </p:spTree>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50562" name="Rectangle 2"/>
          <p:cNvSpPr>
            <a:spLocks noChangeArrowheads="1"/>
          </p:cNvSpPr>
          <p:nvPr/>
        </p:nvSpPr>
        <p:spPr bwMode="auto">
          <a:xfrm>
            <a:off x="946150" y="1022350"/>
            <a:ext cx="7000875" cy="963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50563" name="Rectangle 3"/>
          <p:cNvSpPr>
            <a:spLocks noGrp="1" noChangeArrowheads="1"/>
          </p:cNvSpPr>
          <p:nvPr>
            <p:ph type="title"/>
          </p:nvPr>
        </p:nvSpPr>
        <p:spPr>
          <a:xfrm>
            <a:off x="61913" y="503238"/>
            <a:ext cx="8842375" cy="519112"/>
          </a:xfrm>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nchor="t" anchorCtr="1"/>
          <a:lstStyle/>
          <a:p>
            <a:r>
              <a:rPr lang="en-US" altLang="en-US" sz="3400" b="1" smtClean="0"/>
              <a:t>Ways To Reduce AOX &amp; Dioxin Formation</a:t>
            </a:r>
            <a:br>
              <a:rPr lang="en-US" altLang="en-US" sz="3400" b="1" smtClean="0"/>
            </a:br>
            <a:endParaRPr lang="en-US" altLang="en-US" sz="3400" b="1" smtClean="0"/>
          </a:p>
        </p:txBody>
      </p:sp>
      <p:sp>
        <p:nvSpPr>
          <p:cNvPr id="450564" name="Rectangle 4"/>
          <p:cNvSpPr>
            <a:spLocks noGrp="1" noChangeArrowheads="1"/>
          </p:cNvSpPr>
          <p:nvPr>
            <p:ph type="body" idx="1"/>
          </p:nvPr>
        </p:nvSpPr>
        <p:spPr>
          <a:xfrm>
            <a:off x="1150938" y="1655763"/>
            <a:ext cx="6845300" cy="3733800"/>
          </a:xfrm>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lstStyle/>
          <a:p>
            <a:r>
              <a:rPr lang="en-US" altLang="en-US" sz="2800" smtClean="0"/>
              <a:t>Lower Brown Stock Kappa No.</a:t>
            </a:r>
          </a:p>
          <a:p>
            <a:r>
              <a:rPr lang="en-US" altLang="en-US" sz="2800" smtClean="0"/>
              <a:t>Improve Brown Stock Washing</a:t>
            </a:r>
          </a:p>
          <a:p>
            <a:r>
              <a:rPr lang="en-US" altLang="en-US" sz="2800" smtClean="0"/>
              <a:t>100% ClO</a:t>
            </a:r>
            <a:r>
              <a:rPr lang="en-US" altLang="en-US" sz="2800" baseline="-25000" smtClean="0"/>
              <a:t>2</a:t>
            </a:r>
            <a:r>
              <a:rPr lang="en-US" altLang="en-US" sz="2800" smtClean="0"/>
              <a:t> Substitution</a:t>
            </a:r>
          </a:p>
          <a:p>
            <a:r>
              <a:rPr lang="en-US" altLang="en-US" sz="2800" smtClean="0"/>
              <a:t>Improve Mixing</a:t>
            </a:r>
          </a:p>
          <a:p>
            <a:r>
              <a:rPr lang="en-US" altLang="en-US" sz="2800" smtClean="0"/>
              <a:t>Lower Temperature</a:t>
            </a:r>
          </a:p>
          <a:p>
            <a:r>
              <a:rPr lang="en-US" altLang="en-US" sz="2800" smtClean="0"/>
              <a:t>Defoamers</a:t>
            </a:r>
          </a:p>
        </p:txBody>
      </p:sp>
      <p:sp>
        <p:nvSpPr>
          <p:cNvPr id="450565" name="Rectangle 5"/>
          <p:cNvSpPr>
            <a:spLocks noChangeArrowheads="1"/>
          </p:cNvSpPr>
          <p:nvPr/>
        </p:nvSpPr>
        <p:spPr bwMode="auto">
          <a:xfrm>
            <a:off x="714375" y="4076700"/>
            <a:ext cx="6981825"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buFontTx/>
              <a:buChar char="•"/>
            </a:pPr>
            <a:endParaRPr lang="th-TH" altLang="en-US" sz="2000">
              <a:latin typeface="Arial" panose="020B0604020202020204" pitchFamily="34" charset="0"/>
            </a:endParaRPr>
          </a:p>
        </p:txBody>
      </p:sp>
      <p:sp>
        <p:nvSpPr>
          <p:cNvPr id="450566" name="Rectangle 6"/>
          <p:cNvSpPr>
            <a:spLocks noChangeArrowheads="1"/>
          </p:cNvSpPr>
          <p:nvPr/>
        </p:nvSpPr>
        <p:spPr bwMode="auto">
          <a:xfrm>
            <a:off x="244475" y="5389563"/>
            <a:ext cx="8477250" cy="1095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lvl="1">
              <a:buFontTx/>
              <a:buChar char="•"/>
            </a:pPr>
            <a:endParaRPr lang="th-TH" altLang="en-US" sz="2000">
              <a:latin typeface="Arial" panose="020B0604020202020204" pitchFamily="34" charset="0"/>
            </a:endParaRPr>
          </a:p>
        </p:txBody>
      </p:sp>
      <p:sp>
        <p:nvSpPr>
          <p:cNvPr id="450567" name="Rectangle 7"/>
          <p:cNvSpPr>
            <a:spLocks noChangeArrowheads="1"/>
          </p:cNvSpPr>
          <p:nvPr/>
        </p:nvSpPr>
        <p:spPr bwMode="auto">
          <a:xfrm>
            <a:off x="15875" y="3433763"/>
            <a:ext cx="9115425" cy="542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nchorCtr="1"/>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th-TH" altLang="en-US" b="1">
              <a:solidFill>
                <a:srgbClr val="0030E0"/>
              </a:solidFill>
              <a:latin typeface="Times New Roman" panose="02020603050405020304" pitchFamily="18" charset="0"/>
            </a:endParaRPr>
          </a:p>
        </p:txBody>
      </p:sp>
      <p:sp>
        <p:nvSpPr>
          <p:cNvPr id="450568" name="Rectangle 8"/>
          <p:cNvSpPr>
            <a:spLocks noChangeArrowheads="1"/>
          </p:cNvSpPr>
          <p:nvPr/>
        </p:nvSpPr>
        <p:spPr bwMode="auto">
          <a:xfrm>
            <a:off x="0" y="4818063"/>
            <a:ext cx="9115425" cy="542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nchorCtr="1"/>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th-TH" altLang="en-US" b="1">
              <a:solidFill>
                <a:srgbClr val="0030E0"/>
              </a:solidFill>
              <a:latin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2610" name="Rectangle 2"/>
          <p:cNvSpPr>
            <a:spLocks noChangeArrowheads="1"/>
          </p:cNvSpPr>
          <p:nvPr/>
        </p:nvSpPr>
        <p:spPr bwMode="auto">
          <a:xfrm>
            <a:off x="946150" y="1022350"/>
            <a:ext cx="7000875" cy="963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52611" name="Rectangle 3"/>
          <p:cNvSpPr>
            <a:spLocks noGrp="1" noChangeArrowheads="1"/>
          </p:cNvSpPr>
          <p:nvPr>
            <p:ph type="title"/>
          </p:nvPr>
        </p:nvSpPr>
        <p:spPr>
          <a:xfrm>
            <a:off x="457200" y="806450"/>
            <a:ext cx="8229600" cy="611188"/>
          </a:xfrm>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nchor="t" anchorCtr="1"/>
          <a:lstStyle/>
          <a:p>
            <a:r>
              <a:rPr lang="en-US" altLang="en-US" sz="3400" smtClean="0"/>
              <a:t>Ways To Reduce AOX &amp; Dioxin Formation</a:t>
            </a:r>
            <a:br>
              <a:rPr lang="en-US" altLang="en-US" sz="3400" smtClean="0"/>
            </a:br>
            <a:endParaRPr lang="en-US" altLang="en-US" sz="3400" smtClean="0"/>
          </a:p>
        </p:txBody>
      </p:sp>
      <p:sp>
        <p:nvSpPr>
          <p:cNvPr id="452612" name="Rectangle 5"/>
          <p:cNvSpPr>
            <a:spLocks noChangeArrowheads="1"/>
          </p:cNvSpPr>
          <p:nvPr/>
        </p:nvSpPr>
        <p:spPr bwMode="auto">
          <a:xfrm>
            <a:off x="714375" y="2819400"/>
            <a:ext cx="6981825" cy="1765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buFontTx/>
              <a:buChar char="•"/>
            </a:pPr>
            <a:r>
              <a:rPr lang="en-US" altLang="en-US" sz="2000">
                <a:latin typeface="Arial" panose="020B0604020202020204" pitchFamily="34" charset="0"/>
              </a:rPr>
              <a:t>100% ClO</a:t>
            </a:r>
            <a:r>
              <a:rPr lang="en-US" altLang="en-US" sz="2000" baseline="-25000">
                <a:latin typeface="Arial" panose="020B0604020202020204" pitchFamily="34" charset="0"/>
              </a:rPr>
              <a:t>2</a:t>
            </a:r>
            <a:r>
              <a:rPr lang="en-US" altLang="en-US" sz="2000">
                <a:latin typeface="Arial" panose="020B0604020202020204" pitchFamily="34" charset="0"/>
              </a:rPr>
              <a:t> Substitution</a:t>
            </a:r>
          </a:p>
        </p:txBody>
      </p:sp>
      <p:sp>
        <p:nvSpPr>
          <p:cNvPr id="452613" name="Rectangle 6"/>
          <p:cNvSpPr>
            <a:spLocks noChangeArrowheads="1"/>
          </p:cNvSpPr>
          <p:nvPr/>
        </p:nvSpPr>
        <p:spPr bwMode="auto">
          <a:xfrm>
            <a:off x="244475" y="4724400"/>
            <a:ext cx="8477250" cy="1760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lvl="1">
              <a:buFontTx/>
              <a:buChar char="•"/>
            </a:pPr>
            <a:r>
              <a:rPr lang="en-US" altLang="en-US" sz="2000">
                <a:latin typeface="Arial" panose="020B0604020202020204" pitchFamily="34" charset="0"/>
              </a:rPr>
              <a:t>Use No Halides (Cl</a:t>
            </a:r>
            <a:r>
              <a:rPr lang="en-US" altLang="en-US" sz="2000" baseline="-25000">
                <a:latin typeface="Arial" panose="020B0604020202020204" pitchFamily="34" charset="0"/>
              </a:rPr>
              <a:t>2, </a:t>
            </a:r>
            <a:r>
              <a:rPr lang="en-US" altLang="en-US" sz="2000">
                <a:latin typeface="Arial" panose="020B0604020202020204" pitchFamily="34" charset="0"/>
              </a:rPr>
              <a:t>ClO</a:t>
            </a:r>
            <a:r>
              <a:rPr lang="en-US" altLang="en-US" sz="2000" baseline="-25000">
                <a:latin typeface="Arial" panose="020B0604020202020204" pitchFamily="34" charset="0"/>
              </a:rPr>
              <a:t>2</a:t>
            </a:r>
            <a:r>
              <a:rPr lang="en-US" altLang="en-US" sz="2000">
                <a:latin typeface="Arial" panose="020B0604020202020204" pitchFamily="34" charset="0"/>
              </a:rPr>
              <a:t>, NaOCl, Br</a:t>
            </a:r>
            <a:r>
              <a:rPr lang="en-US" altLang="en-US" sz="2000" baseline="-25000">
                <a:latin typeface="Arial" panose="020B0604020202020204" pitchFamily="34" charset="0"/>
              </a:rPr>
              <a:t>2</a:t>
            </a:r>
            <a:r>
              <a:rPr lang="en-US" altLang="en-US" sz="2000">
                <a:latin typeface="Arial" panose="020B0604020202020204" pitchFamily="34" charset="0"/>
              </a:rPr>
              <a:t>, etc.) in Pulping or Bleaching Process</a:t>
            </a:r>
          </a:p>
        </p:txBody>
      </p:sp>
      <p:sp>
        <p:nvSpPr>
          <p:cNvPr id="452614" name="Rectangle 7"/>
          <p:cNvSpPr>
            <a:spLocks noChangeArrowheads="1"/>
          </p:cNvSpPr>
          <p:nvPr/>
        </p:nvSpPr>
        <p:spPr bwMode="auto">
          <a:xfrm>
            <a:off x="15875" y="2057400"/>
            <a:ext cx="9115425"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nchorCtr="1"/>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b="1">
                <a:solidFill>
                  <a:srgbClr val="0030E0"/>
                </a:solidFill>
                <a:latin typeface="Times New Roman" panose="02020603050405020304" pitchFamily="18" charset="0"/>
              </a:rPr>
              <a:t>Eliminate Dioxin Formation</a:t>
            </a:r>
            <a:br>
              <a:rPr lang="en-US" altLang="en-US" b="1">
                <a:solidFill>
                  <a:srgbClr val="0030E0"/>
                </a:solidFill>
                <a:latin typeface="Times New Roman" panose="02020603050405020304" pitchFamily="18" charset="0"/>
              </a:rPr>
            </a:br>
            <a:endParaRPr lang="en-US" altLang="en-US" b="1">
              <a:solidFill>
                <a:srgbClr val="0030E0"/>
              </a:solidFill>
              <a:latin typeface="Times New Roman" panose="02020603050405020304" pitchFamily="18" charset="0"/>
            </a:endParaRPr>
          </a:p>
        </p:txBody>
      </p:sp>
      <p:sp>
        <p:nvSpPr>
          <p:cNvPr id="452615" name="Rectangle 8"/>
          <p:cNvSpPr>
            <a:spLocks noChangeArrowheads="1"/>
          </p:cNvSpPr>
          <p:nvPr/>
        </p:nvSpPr>
        <p:spPr bwMode="auto">
          <a:xfrm>
            <a:off x="0" y="3733800"/>
            <a:ext cx="9115425" cy="162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nchorCtr="1"/>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b="1">
                <a:solidFill>
                  <a:srgbClr val="0030E0"/>
                </a:solidFill>
                <a:latin typeface="Times New Roman" panose="02020603050405020304" pitchFamily="18" charset="0"/>
              </a:rPr>
              <a:t>Eliminate AOX Formation</a:t>
            </a:r>
            <a:br>
              <a:rPr lang="en-US" altLang="en-US" b="1">
                <a:solidFill>
                  <a:srgbClr val="0030E0"/>
                </a:solidFill>
                <a:latin typeface="Times New Roman" panose="02020603050405020304" pitchFamily="18" charset="0"/>
              </a:rPr>
            </a:br>
            <a:endParaRPr lang="en-US" altLang="en-US" b="1">
              <a:solidFill>
                <a:srgbClr val="0030E0"/>
              </a:solidFill>
              <a:latin typeface="Times New Roman" panose="02020603050405020304" pitchFamily="18" charset="0"/>
            </a:endParaRPr>
          </a:p>
        </p:txBody>
      </p:sp>
    </p:spTree>
  </p:cSld>
  <p:clrMapOvr>
    <a:masterClrMapping/>
  </p:clrMapOvr>
  <p:transition/>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4658" name="Text Box 2"/>
          <p:cNvSpPr txBox="1">
            <a:spLocks noChangeArrowheads="1"/>
          </p:cNvSpPr>
          <p:nvPr/>
        </p:nvSpPr>
        <p:spPr bwMode="auto">
          <a:xfrm>
            <a:off x="1042988" y="1935163"/>
            <a:ext cx="7129462" cy="278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30000"/>
              </a:lnSpc>
              <a:spcBef>
                <a:spcPct val="50000"/>
              </a:spcBef>
              <a:buFontTx/>
              <a:buChar char="•"/>
            </a:pPr>
            <a:r>
              <a:rPr lang="en-US" altLang="en-US" sz="3600"/>
              <a:t>  Increased system closer</a:t>
            </a:r>
          </a:p>
          <a:p>
            <a:pPr>
              <a:lnSpc>
                <a:spcPct val="130000"/>
              </a:lnSpc>
              <a:spcBef>
                <a:spcPct val="50000"/>
              </a:spcBef>
              <a:buFontTx/>
              <a:buChar char="•"/>
            </a:pPr>
            <a:r>
              <a:rPr lang="en-US" altLang="en-US" sz="3600"/>
              <a:t>  Extended delignification</a:t>
            </a:r>
          </a:p>
          <a:p>
            <a:pPr>
              <a:lnSpc>
                <a:spcPct val="130000"/>
              </a:lnSpc>
              <a:spcBef>
                <a:spcPct val="50000"/>
              </a:spcBef>
              <a:buFontTx/>
              <a:buChar char="•"/>
            </a:pPr>
            <a:r>
              <a:rPr lang="en-US" altLang="en-US" sz="3600"/>
              <a:t>  ECF/TCF - bleaching</a:t>
            </a:r>
            <a:endParaRPr lang="th-TH" altLang="en-US" sz="3600">
              <a:cs typeface="Angsana New" panose="02020603050405020304" pitchFamily="18" charset="-34"/>
            </a:endParaRPr>
          </a:p>
        </p:txBody>
      </p:sp>
      <p:sp>
        <p:nvSpPr>
          <p:cNvPr id="454659" name="Text Box 3"/>
          <p:cNvSpPr txBox="1">
            <a:spLocks noChangeArrowheads="1"/>
          </p:cNvSpPr>
          <p:nvPr/>
        </p:nvSpPr>
        <p:spPr bwMode="auto">
          <a:xfrm>
            <a:off x="396875" y="422275"/>
            <a:ext cx="77755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50000"/>
              </a:spcBef>
              <a:buFontTx/>
              <a:buNone/>
            </a:pPr>
            <a:r>
              <a:rPr lang="en-US" altLang="en-US" sz="4000" b="1" u="sng"/>
              <a:t>Trend in Chemical Pulping</a:t>
            </a:r>
            <a:endParaRPr lang="th-TH" altLang="en-US" sz="4000" b="1" u="sng"/>
          </a:p>
        </p:txBody>
      </p:sp>
    </p:spTree>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5682"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23863" y="1420813"/>
            <a:ext cx="8556625" cy="45862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455683"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5. Bleaching sequences </a:t>
            </a:r>
          </a:p>
        </p:txBody>
      </p:sp>
      <p:sp>
        <p:nvSpPr>
          <p:cNvPr id="455684" name="TextBox 7"/>
          <p:cNvSpPr txBox="1">
            <a:spLocks noChangeArrowheads="1"/>
          </p:cNvSpPr>
          <p:nvPr/>
        </p:nvSpPr>
        <p:spPr bwMode="auto">
          <a:xfrm>
            <a:off x="457200" y="895350"/>
            <a:ext cx="3216275" cy="4603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t>Bleaching Development</a:t>
            </a:r>
          </a:p>
        </p:txBody>
      </p:sp>
      <p:sp>
        <p:nvSpPr>
          <p:cNvPr id="455685" name="TextBox 1"/>
          <p:cNvSpPr txBox="1">
            <a:spLocks noChangeArrowheads="1"/>
          </p:cNvSpPr>
          <p:nvPr/>
        </p:nvSpPr>
        <p:spPr bwMode="auto">
          <a:xfrm>
            <a:off x="4168775" y="4011613"/>
            <a:ext cx="45180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latin typeface="Tahoma" panose="020B0604030504040204" pitchFamily="34" charset="0"/>
                <a:cs typeface="Tahoma" panose="020B0604030504040204" pitchFamily="34" charset="0"/>
              </a:rPr>
              <a:t>Elemental Chlorine-Free (Chlorine Dioxide)</a:t>
            </a:r>
          </a:p>
        </p:txBody>
      </p:sp>
      <p:sp>
        <p:nvSpPr>
          <p:cNvPr id="455686" name="TextBox 5"/>
          <p:cNvSpPr txBox="1">
            <a:spLocks noChangeArrowheads="1"/>
          </p:cNvSpPr>
          <p:nvPr/>
        </p:nvSpPr>
        <p:spPr bwMode="auto">
          <a:xfrm>
            <a:off x="5065713" y="2998788"/>
            <a:ext cx="36163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latin typeface="Tahoma" panose="020B0604030504040204" pitchFamily="34" charset="0"/>
                <a:cs typeface="Tahoma" panose="020B0604030504040204" pitchFamily="34" charset="0"/>
              </a:rPr>
              <a:t>Elemental Chlorine (Chlorine Gas)</a:t>
            </a:r>
          </a:p>
        </p:txBody>
      </p:sp>
      <p:sp>
        <p:nvSpPr>
          <p:cNvPr id="455687" name="TextBox 6"/>
          <p:cNvSpPr txBox="1">
            <a:spLocks noChangeArrowheads="1"/>
          </p:cNvSpPr>
          <p:nvPr/>
        </p:nvSpPr>
        <p:spPr bwMode="auto">
          <a:xfrm>
            <a:off x="5589588" y="4976813"/>
            <a:ext cx="299402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latin typeface="Tahoma" panose="020B0604030504040204" pitchFamily="34" charset="0"/>
                <a:cs typeface="Tahoma" panose="020B0604030504040204" pitchFamily="34" charset="0"/>
              </a:rPr>
              <a:t>Total Chlorine-Free (Ozone)</a:t>
            </a:r>
          </a:p>
        </p:txBody>
      </p:sp>
      <p:sp>
        <p:nvSpPr>
          <p:cNvPr id="455688" name="TextBox 6"/>
          <p:cNvSpPr txBox="1">
            <a:spLocks noChangeArrowheads="1"/>
          </p:cNvSpPr>
          <p:nvPr/>
        </p:nvSpPr>
        <p:spPr bwMode="auto">
          <a:xfrm>
            <a:off x="169863" y="5851525"/>
            <a:ext cx="67611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800" b="1"/>
              <a:t>Remarks:</a:t>
            </a:r>
            <a:r>
              <a:rPr lang="en-US" altLang="en-US" sz="1800"/>
              <a:t> ECF is invented to prevents the formation of dioxins and dioxin-like compounds, carcinogens.</a:t>
            </a:r>
          </a:p>
        </p:txBody>
      </p:sp>
    </p:spTree>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7730" name="Text Box 2"/>
          <p:cNvSpPr txBox="1">
            <a:spLocks noChangeArrowheads="1"/>
          </p:cNvSpPr>
          <p:nvPr/>
        </p:nvSpPr>
        <p:spPr bwMode="auto">
          <a:xfrm>
            <a:off x="304800" y="1447800"/>
            <a:ext cx="8675688" cy="4762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tabLst>
                <a:tab pos="4657725" algn="l"/>
              </a:tabLst>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tabLst>
                <a:tab pos="4657725" algn="l"/>
              </a:tabLst>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tabLst>
                <a:tab pos="4657725" algn="l"/>
              </a:tabLst>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tabLst>
                <a:tab pos="4657725" algn="l"/>
              </a:tabLst>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tabLst>
                <a:tab pos="4657725" algn="l"/>
              </a:tabLst>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tabLst>
                <a:tab pos="4657725" algn="l"/>
              </a:tabLst>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tabLst>
                <a:tab pos="4657725" algn="l"/>
              </a:tabLst>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tabLst>
                <a:tab pos="4657725" algn="l"/>
              </a:tabLst>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tabLst>
                <a:tab pos="4657725" algn="l"/>
              </a:tabLst>
              <a:defRPr sz="2000">
                <a:solidFill>
                  <a:schemeClr val="tx1"/>
                </a:solidFill>
                <a:latin typeface="Calibri" panose="020F0502020204030204" pitchFamily="34" charset="0"/>
              </a:defRPr>
            </a:lvl9pPr>
          </a:lstStyle>
          <a:p>
            <a:pPr eaLnBrk="1" hangingPunct="1">
              <a:lnSpc>
                <a:spcPct val="130000"/>
              </a:lnSpc>
              <a:spcBef>
                <a:spcPct val="50000"/>
              </a:spcBef>
              <a:buFontTx/>
              <a:buChar char="•"/>
            </a:pPr>
            <a:r>
              <a:rPr lang="en-US" altLang="en-US" sz="3600">
                <a:latin typeface="Arial" panose="020B0604020202020204" pitchFamily="34" charset="0"/>
                <a:cs typeface="Angsana New" panose="02020603050405020304" pitchFamily="18" charset="-34"/>
              </a:rPr>
              <a:t> ECF Elemental Chlorine-Free Bleaching</a:t>
            </a:r>
          </a:p>
          <a:p>
            <a:pPr eaLnBrk="1" hangingPunct="1">
              <a:lnSpc>
                <a:spcPct val="130000"/>
              </a:lnSpc>
              <a:spcBef>
                <a:spcPct val="50000"/>
              </a:spcBef>
              <a:buFontTx/>
              <a:buNone/>
            </a:pPr>
            <a:r>
              <a:rPr lang="en-US" altLang="en-US" sz="3600">
                <a:latin typeface="Arial" panose="020B0604020202020204" pitchFamily="34" charset="0"/>
                <a:cs typeface="Angsana New" panose="02020603050405020304" pitchFamily="18" charset="-34"/>
              </a:rPr>
              <a:t>           =  Bleaching without chlorine – gas</a:t>
            </a:r>
          </a:p>
          <a:p>
            <a:pPr eaLnBrk="1" hangingPunct="1">
              <a:lnSpc>
                <a:spcPct val="130000"/>
              </a:lnSpc>
              <a:spcBef>
                <a:spcPct val="50000"/>
              </a:spcBef>
              <a:buFontTx/>
              <a:buChar char="•"/>
            </a:pPr>
            <a:r>
              <a:rPr lang="en-US" altLang="en-US" sz="3600">
                <a:latin typeface="Arial" panose="020B0604020202020204" pitchFamily="34" charset="0"/>
                <a:cs typeface="Angsana New" panose="02020603050405020304" pitchFamily="18" charset="-34"/>
              </a:rPr>
              <a:t> TCF Totally Chlorine-Free Bleaching</a:t>
            </a:r>
          </a:p>
          <a:p>
            <a:pPr eaLnBrk="1" hangingPunct="1">
              <a:lnSpc>
                <a:spcPct val="130000"/>
              </a:lnSpc>
              <a:spcBef>
                <a:spcPct val="50000"/>
              </a:spcBef>
              <a:buFontTx/>
              <a:buNone/>
            </a:pPr>
            <a:r>
              <a:rPr lang="en-US" altLang="en-US" sz="3600">
                <a:latin typeface="Arial" panose="020B0604020202020204" pitchFamily="34" charset="0"/>
                <a:cs typeface="Angsana New" panose="02020603050405020304" pitchFamily="18" charset="-34"/>
              </a:rPr>
              <a:t>          = Bleaching without chlorine -	  	    </a:t>
            </a:r>
          </a:p>
          <a:p>
            <a:pPr eaLnBrk="1" hangingPunct="1">
              <a:lnSpc>
                <a:spcPct val="130000"/>
              </a:lnSpc>
              <a:spcBef>
                <a:spcPct val="50000"/>
              </a:spcBef>
              <a:buFontTx/>
              <a:buNone/>
            </a:pPr>
            <a:r>
              <a:rPr lang="en-US" altLang="en-US" sz="3600">
                <a:latin typeface="Arial" panose="020B0604020202020204" pitchFamily="34" charset="0"/>
                <a:cs typeface="Angsana New" panose="02020603050405020304" pitchFamily="18" charset="-34"/>
              </a:rPr>
              <a:t>             compound</a:t>
            </a:r>
            <a:endParaRPr lang="th-TH" altLang="en-US" sz="3600">
              <a:latin typeface="Arial" panose="020B0604020202020204" pitchFamily="34" charset="0"/>
              <a:cs typeface="Angsana New" panose="02020603050405020304" pitchFamily="18" charset="-34"/>
            </a:endParaRPr>
          </a:p>
        </p:txBody>
      </p:sp>
      <p:sp>
        <p:nvSpPr>
          <p:cNvPr id="457731" name="Text Box 3"/>
          <p:cNvSpPr txBox="1">
            <a:spLocks noChangeArrowheads="1"/>
          </p:cNvSpPr>
          <p:nvPr/>
        </p:nvSpPr>
        <p:spPr bwMode="auto">
          <a:xfrm>
            <a:off x="1066800" y="304800"/>
            <a:ext cx="72390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4000" b="1"/>
              <a:t>Definition of ECF, TCF</a:t>
            </a:r>
            <a:endParaRPr lang="th-TH" altLang="en-US" sz="4000" b="1"/>
          </a:p>
        </p:txBody>
      </p:sp>
    </p:spTree>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8754" name="Text Box 2"/>
          <p:cNvSpPr txBox="1">
            <a:spLocks noChangeArrowheads="1"/>
          </p:cNvSpPr>
          <p:nvPr/>
        </p:nvSpPr>
        <p:spPr bwMode="auto">
          <a:xfrm>
            <a:off x="958850" y="830263"/>
            <a:ext cx="7272338" cy="564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Char char="•"/>
            </a:pPr>
            <a:r>
              <a:rPr lang="en-US" altLang="en-US" sz="2800">
                <a:cs typeface="Angsana New" panose="02020603050405020304" pitchFamily="18" charset="-34"/>
              </a:rPr>
              <a:t>  O	=	oxygen delignification</a:t>
            </a:r>
          </a:p>
          <a:p>
            <a:pPr>
              <a:spcBef>
                <a:spcPct val="50000"/>
              </a:spcBef>
              <a:buFontTx/>
              <a:buChar char="•"/>
            </a:pPr>
            <a:r>
              <a:rPr lang="en-US" altLang="en-US" sz="2800">
                <a:cs typeface="Angsana New" panose="02020603050405020304" pitchFamily="18" charset="-34"/>
              </a:rPr>
              <a:t>  D	=	chlorine dioxide</a:t>
            </a:r>
          </a:p>
          <a:p>
            <a:pPr>
              <a:spcBef>
                <a:spcPct val="50000"/>
              </a:spcBef>
              <a:buFontTx/>
              <a:buChar char="•"/>
            </a:pPr>
            <a:r>
              <a:rPr lang="en-US" altLang="en-US" sz="2800">
                <a:cs typeface="Angsana New" panose="02020603050405020304" pitchFamily="18" charset="-34"/>
              </a:rPr>
              <a:t>  E	=	alkali extraction</a:t>
            </a:r>
          </a:p>
          <a:p>
            <a:pPr>
              <a:spcBef>
                <a:spcPct val="50000"/>
              </a:spcBef>
              <a:buFontTx/>
              <a:buChar char="•"/>
            </a:pPr>
            <a:r>
              <a:rPr lang="en-US" altLang="en-US" sz="2800">
                <a:cs typeface="Angsana New" panose="02020603050405020304" pitchFamily="18" charset="-34"/>
              </a:rPr>
              <a:t>  A	=	acid treatment at pH2</a:t>
            </a:r>
          </a:p>
          <a:p>
            <a:pPr>
              <a:spcBef>
                <a:spcPct val="50000"/>
              </a:spcBef>
              <a:buFontTx/>
              <a:buChar char="•"/>
            </a:pPr>
            <a:r>
              <a:rPr lang="en-US" altLang="en-US" sz="2800">
                <a:cs typeface="Angsana New" panose="02020603050405020304" pitchFamily="18" charset="-34"/>
              </a:rPr>
              <a:t>  Z	=	ozone (pH 2)</a:t>
            </a:r>
          </a:p>
          <a:p>
            <a:pPr>
              <a:spcBef>
                <a:spcPct val="50000"/>
              </a:spcBef>
              <a:buFontTx/>
              <a:buChar char="•"/>
            </a:pPr>
            <a:r>
              <a:rPr lang="en-US" altLang="en-US" sz="2800">
                <a:cs typeface="Angsana New" panose="02020603050405020304" pitchFamily="18" charset="-34"/>
              </a:rPr>
              <a:t>  Q	=	chelating treatment with EDTA</a:t>
            </a:r>
            <a:endParaRPr lang="th-TH" altLang="en-US" sz="2800">
              <a:cs typeface="Angsana New" panose="02020603050405020304" pitchFamily="18" charset="-34"/>
            </a:endParaRPr>
          </a:p>
          <a:p>
            <a:pPr>
              <a:spcBef>
                <a:spcPct val="50000"/>
              </a:spcBef>
              <a:buFontTx/>
              <a:buChar char="•"/>
            </a:pPr>
            <a:r>
              <a:rPr lang="th-TH" altLang="en-US" sz="2800">
                <a:cs typeface="Angsana New" panose="02020603050405020304" pitchFamily="18" charset="-34"/>
              </a:rPr>
              <a:t>  </a:t>
            </a:r>
            <a:r>
              <a:rPr lang="en-US" altLang="en-US" sz="2800">
                <a:solidFill>
                  <a:srgbClr val="4650D4"/>
                </a:solidFill>
                <a:cs typeface="Angsana New" panose="02020603050405020304" pitchFamily="18" charset="-34"/>
              </a:rPr>
              <a:t>P	=	hydrogen peroxide</a:t>
            </a:r>
          </a:p>
          <a:p>
            <a:pPr>
              <a:spcBef>
                <a:spcPct val="50000"/>
              </a:spcBef>
              <a:buFontTx/>
              <a:buChar char="•"/>
            </a:pPr>
            <a:r>
              <a:rPr lang="en-US" altLang="en-US" sz="2800">
                <a:cs typeface="Angsana New" panose="02020603050405020304" pitchFamily="18" charset="-34"/>
              </a:rPr>
              <a:t>  </a:t>
            </a:r>
            <a:r>
              <a:rPr lang="en-US" altLang="en-US" sz="2800">
                <a:solidFill>
                  <a:srgbClr val="4650D4"/>
                </a:solidFill>
                <a:cs typeface="Angsana New" panose="02020603050405020304" pitchFamily="18" charset="-34"/>
              </a:rPr>
              <a:t>P*	=	hydrogen peroxide</a:t>
            </a:r>
          </a:p>
          <a:p>
            <a:pPr>
              <a:spcBef>
                <a:spcPct val="50000"/>
              </a:spcBef>
              <a:buFontTx/>
              <a:buNone/>
            </a:pPr>
            <a:r>
              <a:rPr lang="en-US" altLang="en-US" sz="2800">
                <a:solidFill>
                  <a:srgbClr val="4650D4"/>
                </a:solidFill>
                <a:cs typeface="Angsana New" panose="02020603050405020304" pitchFamily="18" charset="-34"/>
              </a:rPr>
              <a:t>		with megnesium addition</a:t>
            </a:r>
            <a:endParaRPr lang="th-TH" altLang="en-US" sz="2800">
              <a:solidFill>
                <a:srgbClr val="4650D4"/>
              </a:solidFill>
              <a:cs typeface="Angsana New" panose="02020603050405020304" pitchFamily="18" charset="-34"/>
            </a:endParaRPr>
          </a:p>
        </p:txBody>
      </p:sp>
      <p:sp>
        <p:nvSpPr>
          <p:cNvPr id="458755" name="Text Box 3"/>
          <p:cNvSpPr txBox="1">
            <a:spLocks noChangeArrowheads="1"/>
          </p:cNvSpPr>
          <p:nvPr/>
        </p:nvSpPr>
        <p:spPr bwMode="auto">
          <a:xfrm>
            <a:off x="757238" y="188913"/>
            <a:ext cx="73437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50000"/>
              </a:spcBef>
              <a:buFontTx/>
              <a:buNone/>
            </a:pPr>
            <a:r>
              <a:rPr lang="en-US" altLang="en-US" sz="3600" b="1" u="sng"/>
              <a:t>Symbols for Bleaching Stages</a:t>
            </a:r>
            <a:endParaRPr lang="th-TH" altLang="en-US" sz="3600" b="1" u="sng"/>
          </a:p>
        </p:txBody>
      </p:sp>
    </p:spTree>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9778" name="Rectangle 2"/>
          <p:cNvSpPr>
            <a:spLocks noGrp="1" noChangeArrowheads="1"/>
          </p:cNvSpPr>
          <p:nvPr>
            <p:ph type="title"/>
          </p:nvPr>
        </p:nvSpPr>
        <p:spPr/>
        <p:txBody>
          <a:bodyPr/>
          <a:lstStyle/>
          <a:p>
            <a:r>
              <a:rPr lang="en-US" altLang="en-US" sz="3400" smtClean="0"/>
              <a:t>Bleaching sequences to achive 85%ISO brightness</a:t>
            </a:r>
            <a:endParaRPr lang="th-TH" altLang="en-US" sz="3400" smtClean="0"/>
          </a:p>
        </p:txBody>
      </p:sp>
      <p:sp>
        <p:nvSpPr>
          <p:cNvPr id="459779" name="Rectangle 3"/>
          <p:cNvSpPr>
            <a:spLocks noGrp="1" noChangeArrowheads="1"/>
          </p:cNvSpPr>
          <p:nvPr>
            <p:ph type="body" idx="1"/>
          </p:nvPr>
        </p:nvSpPr>
        <p:spPr/>
        <p:txBody>
          <a:bodyPr/>
          <a:lstStyle/>
          <a:p>
            <a:r>
              <a:rPr lang="en-US" altLang="en-US" smtClean="0"/>
              <a:t>C-Eop-H</a:t>
            </a:r>
          </a:p>
          <a:p>
            <a:r>
              <a:rPr lang="en-US" altLang="en-US" smtClean="0"/>
              <a:t>C-Eop-H1-H2</a:t>
            </a:r>
          </a:p>
          <a:p>
            <a:r>
              <a:rPr lang="en-US" altLang="en-US" smtClean="0"/>
              <a:t>C-Eop-HED</a:t>
            </a:r>
          </a:p>
          <a:p>
            <a:endParaRPr lang="th-TH" altLang="en-US" smtClean="0"/>
          </a:p>
        </p:txBody>
      </p:sp>
    </p:spTree>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02" name="Text Box 2"/>
          <p:cNvSpPr txBox="1">
            <a:spLocks noChangeArrowheads="1"/>
          </p:cNvSpPr>
          <p:nvPr/>
        </p:nvSpPr>
        <p:spPr bwMode="auto">
          <a:xfrm>
            <a:off x="898525" y="2960688"/>
            <a:ext cx="7345363" cy="1300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lnSpc>
                <a:spcPct val="120000"/>
              </a:lnSpc>
              <a:spcBef>
                <a:spcPct val="50000"/>
              </a:spcBef>
              <a:buFontTx/>
              <a:buNone/>
            </a:pPr>
            <a:r>
              <a:rPr lang="en-US" altLang="en-US" sz="6600" b="1">
                <a:cs typeface="Angsana New" panose="02020603050405020304" pitchFamily="18" charset="-34"/>
              </a:rPr>
              <a:t>OD (Eop) D D</a:t>
            </a:r>
            <a:endParaRPr lang="th-TH" altLang="en-US" sz="6600" b="1">
              <a:cs typeface="Angsana New" panose="02020603050405020304" pitchFamily="18" charset="-34"/>
            </a:endParaRPr>
          </a:p>
        </p:txBody>
      </p:sp>
      <p:sp>
        <p:nvSpPr>
          <p:cNvPr id="460803" name="Text Box 3"/>
          <p:cNvSpPr txBox="1">
            <a:spLocks noChangeArrowheads="1"/>
          </p:cNvSpPr>
          <p:nvPr/>
        </p:nvSpPr>
        <p:spPr bwMode="auto">
          <a:xfrm>
            <a:off x="323850" y="627063"/>
            <a:ext cx="8351838" cy="695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90000"/>
              </a:lnSpc>
              <a:spcBef>
                <a:spcPct val="50000"/>
              </a:spcBef>
              <a:buFontTx/>
              <a:buNone/>
            </a:pPr>
            <a:r>
              <a:rPr lang="en-US" altLang="en-US" sz="4400" b="1"/>
              <a:t>Standard Bleaching 1992-2006</a:t>
            </a:r>
            <a:endParaRPr lang="th-TH" altLang="en-US" sz="4400" b="1"/>
          </a:p>
        </p:txBody>
      </p:sp>
    </p:spTree>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Text Box 2"/>
          <p:cNvSpPr txBox="1">
            <a:spLocks noChangeArrowheads="1"/>
          </p:cNvSpPr>
          <p:nvPr/>
        </p:nvSpPr>
        <p:spPr bwMode="auto">
          <a:xfrm>
            <a:off x="271463" y="1427163"/>
            <a:ext cx="4537075" cy="2746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70000"/>
              </a:lnSpc>
              <a:spcBef>
                <a:spcPct val="50000"/>
              </a:spcBef>
              <a:buFontTx/>
              <a:buChar char="•"/>
            </a:pPr>
            <a:r>
              <a:rPr lang="en-US" altLang="en-US" sz="2800" b="1">
                <a:cs typeface="Angsana New" panose="02020603050405020304" pitchFamily="18" charset="-34"/>
              </a:rPr>
              <a:t>  Typical ECF sequences	</a:t>
            </a:r>
          </a:p>
          <a:p>
            <a:pPr>
              <a:lnSpc>
                <a:spcPct val="40000"/>
              </a:lnSpc>
              <a:spcBef>
                <a:spcPct val="50000"/>
              </a:spcBef>
              <a:buFontTx/>
              <a:buNone/>
            </a:pPr>
            <a:r>
              <a:rPr lang="en-US" altLang="en-US" sz="2800">
                <a:cs typeface="Angsana New" panose="02020603050405020304" pitchFamily="18" charset="-34"/>
              </a:rPr>
              <a:t>    D-EOP-D			</a:t>
            </a:r>
          </a:p>
          <a:p>
            <a:pPr>
              <a:lnSpc>
                <a:spcPct val="40000"/>
              </a:lnSpc>
              <a:spcBef>
                <a:spcPct val="50000"/>
              </a:spcBef>
              <a:buFontTx/>
              <a:buNone/>
            </a:pPr>
            <a:r>
              <a:rPr lang="en-US" altLang="en-US" sz="2800">
                <a:cs typeface="Angsana New" panose="02020603050405020304" pitchFamily="18" charset="-34"/>
              </a:rPr>
              <a:t>    EOP-D-PO-D			</a:t>
            </a:r>
          </a:p>
          <a:p>
            <a:pPr>
              <a:lnSpc>
                <a:spcPct val="40000"/>
              </a:lnSpc>
              <a:spcBef>
                <a:spcPct val="50000"/>
              </a:spcBef>
              <a:buFontTx/>
              <a:buNone/>
            </a:pPr>
            <a:r>
              <a:rPr lang="en-US" altLang="en-US" sz="2800">
                <a:cs typeface="Angsana New" panose="02020603050405020304" pitchFamily="18" charset="-34"/>
              </a:rPr>
              <a:t>    D-EOP-PQ-PO			</a:t>
            </a:r>
          </a:p>
          <a:p>
            <a:pPr>
              <a:lnSpc>
                <a:spcPct val="40000"/>
              </a:lnSpc>
              <a:spcBef>
                <a:spcPct val="50000"/>
              </a:spcBef>
              <a:buFontTx/>
              <a:buNone/>
            </a:pPr>
            <a:r>
              <a:rPr lang="en-US" altLang="en-US" sz="2800">
                <a:cs typeface="Angsana New" panose="02020603050405020304" pitchFamily="18" charset="-34"/>
              </a:rPr>
              <a:t>    ZQ-EO-D-D</a:t>
            </a:r>
            <a:endParaRPr lang="th-TH" altLang="en-US" sz="2800">
              <a:cs typeface="Angsana New" panose="02020603050405020304" pitchFamily="18" charset="-34"/>
            </a:endParaRPr>
          </a:p>
        </p:txBody>
      </p:sp>
      <p:sp>
        <p:nvSpPr>
          <p:cNvPr id="461827" name="Text Box 3"/>
          <p:cNvSpPr txBox="1">
            <a:spLocks noChangeArrowheads="1"/>
          </p:cNvSpPr>
          <p:nvPr/>
        </p:nvSpPr>
        <p:spPr bwMode="auto">
          <a:xfrm>
            <a:off x="296863" y="149225"/>
            <a:ext cx="849630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90000"/>
              </a:lnSpc>
              <a:spcBef>
                <a:spcPct val="50000"/>
              </a:spcBef>
              <a:buFontTx/>
              <a:buNone/>
            </a:pPr>
            <a:r>
              <a:rPr lang="en-US" altLang="en-US" sz="4000" b="1"/>
              <a:t>Modern Bleaching Sequences (Examples)</a:t>
            </a:r>
            <a:endParaRPr lang="th-TH" altLang="en-US" sz="4000" b="1"/>
          </a:p>
        </p:txBody>
      </p:sp>
      <p:sp>
        <p:nvSpPr>
          <p:cNvPr id="461828" name="Text Box 4"/>
          <p:cNvSpPr txBox="1">
            <a:spLocks noChangeArrowheads="1"/>
          </p:cNvSpPr>
          <p:nvPr/>
        </p:nvSpPr>
        <p:spPr bwMode="auto">
          <a:xfrm>
            <a:off x="271463" y="3879850"/>
            <a:ext cx="5113337" cy="2443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Char char="•"/>
            </a:pPr>
            <a:r>
              <a:rPr lang="en-US" altLang="en-US" sz="2800" b="1">
                <a:cs typeface="Angsana New" panose="02020603050405020304" pitchFamily="18" charset="-34"/>
              </a:rPr>
              <a:t>  Shorter Sequences for</a:t>
            </a:r>
          </a:p>
          <a:p>
            <a:pPr>
              <a:spcBef>
                <a:spcPct val="50000"/>
              </a:spcBef>
              <a:buFontTx/>
              <a:buNone/>
            </a:pPr>
            <a:r>
              <a:rPr lang="en-US" altLang="en-US" sz="2800" b="1">
                <a:cs typeface="Angsana New" panose="02020603050405020304" pitchFamily="18" charset="-34"/>
              </a:rPr>
              <a:t>   HW Pulp can be	</a:t>
            </a:r>
            <a:r>
              <a:rPr lang="en-US" altLang="en-US" sz="2800">
                <a:cs typeface="Angsana New" panose="02020603050405020304" pitchFamily="18" charset="-34"/>
              </a:rPr>
              <a:t>	</a:t>
            </a:r>
          </a:p>
          <a:p>
            <a:pPr>
              <a:spcBef>
                <a:spcPct val="50000"/>
              </a:spcBef>
              <a:buFontTx/>
              <a:buNone/>
            </a:pPr>
            <a:r>
              <a:rPr lang="en-US" altLang="en-US" sz="2800">
                <a:cs typeface="Angsana New" panose="02020603050405020304" pitchFamily="18" charset="-34"/>
              </a:rPr>
              <a:t>   ADQ-EOP-D</a:t>
            </a:r>
          </a:p>
          <a:p>
            <a:pPr>
              <a:spcBef>
                <a:spcPct val="50000"/>
              </a:spcBef>
              <a:buFontTx/>
              <a:buNone/>
            </a:pPr>
            <a:r>
              <a:rPr lang="en-US" altLang="en-US" sz="2800">
                <a:cs typeface="Angsana New" panose="02020603050405020304" pitchFamily="18" charset="-34"/>
              </a:rPr>
              <a:t>   ZDQ-PO</a:t>
            </a:r>
            <a:endParaRPr lang="th-TH" altLang="en-US" sz="2800">
              <a:cs typeface="Angsana New" panose="02020603050405020304" pitchFamily="18" charset="-34"/>
            </a:endParaRPr>
          </a:p>
        </p:txBody>
      </p:sp>
      <p:sp>
        <p:nvSpPr>
          <p:cNvPr id="461829" name="Text Box 5"/>
          <p:cNvSpPr txBox="1">
            <a:spLocks noChangeArrowheads="1"/>
          </p:cNvSpPr>
          <p:nvPr/>
        </p:nvSpPr>
        <p:spPr bwMode="auto">
          <a:xfrm>
            <a:off x="4799013" y="1339850"/>
            <a:ext cx="4502150" cy="1673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90000"/>
              </a:lnSpc>
              <a:spcBef>
                <a:spcPct val="50000"/>
              </a:spcBef>
              <a:buFontTx/>
              <a:buChar char="•"/>
            </a:pPr>
            <a:r>
              <a:rPr lang="en-US" altLang="en-US" sz="2800" b="1">
                <a:cs typeface="Angsana New" panose="02020603050405020304" pitchFamily="18" charset="-34"/>
              </a:rPr>
              <a:t> Typical TCF sequences</a:t>
            </a:r>
          </a:p>
          <a:p>
            <a:pPr>
              <a:lnSpc>
                <a:spcPct val="90000"/>
              </a:lnSpc>
              <a:spcBef>
                <a:spcPct val="50000"/>
              </a:spcBef>
              <a:buFontTx/>
              <a:buNone/>
            </a:pPr>
            <a:r>
              <a:rPr lang="en-US" altLang="en-US" sz="2800">
                <a:cs typeface="Angsana New" panose="02020603050405020304" pitchFamily="18" charset="-34"/>
              </a:rPr>
              <a:t>   ZQ-PO-ZQ-PO</a:t>
            </a:r>
          </a:p>
          <a:p>
            <a:pPr>
              <a:lnSpc>
                <a:spcPct val="90000"/>
              </a:lnSpc>
              <a:spcBef>
                <a:spcPct val="50000"/>
              </a:spcBef>
              <a:buFontTx/>
              <a:buNone/>
            </a:pPr>
            <a:r>
              <a:rPr lang="en-US" altLang="en-US" sz="2800">
                <a:cs typeface="Angsana New" panose="02020603050405020304" pitchFamily="18" charset="-34"/>
              </a:rPr>
              <a:t>   Q-EOP-PaaQ-PO</a:t>
            </a:r>
            <a:endParaRPr lang="th-TH" altLang="en-US" sz="2800">
              <a:cs typeface="Angsana New" panose="02020603050405020304" pitchFamily="18" charset="-34"/>
            </a:endParaRPr>
          </a:p>
        </p:txBody>
      </p:sp>
    </p:spTree>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50" name="Text Box 2"/>
          <p:cNvSpPr txBox="1">
            <a:spLocks noChangeArrowheads="1"/>
          </p:cNvSpPr>
          <p:nvPr/>
        </p:nvSpPr>
        <p:spPr bwMode="auto">
          <a:xfrm>
            <a:off x="323850" y="476250"/>
            <a:ext cx="8424863" cy="1323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50000"/>
              </a:spcBef>
              <a:buFontTx/>
              <a:buNone/>
            </a:pPr>
            <a:r>
              <a:rPr lang="en-US" altLang="en-US" sz="4000" b="1">
                <a:latin typeface="Angsana New" panose="02020603050405020304" pitchFamily="18" charset="-34"/>
              </a:rPr>
              <a:t>A block diagram for the sequence </a:t>
            </a:r>
            <a:r>
              <a:rPr lang="en-US" altLang="en-US" sz="4000" b="1" i="1">
                <a:latin typeface="Angsana New" panose="02020603050405020304" pitchFamily="18" charset="-34"/>
              </a:rPr>
              <a:t>C</a:t>
            </a:r>
            <a:r>
              <a:rPr lang="en-US" altLang="en-US" sz="4000" b="1" i="1" baseline="-25000">
                <a:latin typeface="Angsana New" panose="02020603050405020304" pitchFamily="18" charset="-34"/>
              </a:rPr>
              <a:t>D</a:t>
            </a:r>
            <a:r>
              <a:rPr lang="en-US" altLang="en-US" sz="4000" b="1" i="1">
                <a:latin typeface="Angsana New" panose="02020603050405020304" pitchFamily="18" charset="-34"/>
              </a:rPr>
              <a:t>EODED</a:t>
            </a:r>
            <a:r>
              <a:rPr lang="en-US" altLang="en-US" sz="4000" b="1">
                <a:latin typeface="Angsana New" panose="02020603050405020304" pitchFamily="18" charset="-34"/>
              </a:rPr>
              <a:t> is shown in Fig. 148,</a:t>
            </a:r>
            <a:endParaRPr lang="en-US" altLang="en-US" sz="4000" b="1" baseline="30000">
              <a:latin typeface="Angsana New" panose="02020603050405020304" pitchFamily="18" charset="-34"/>
            </a:endParaRPr>
          </a:p>
        </p:txBody>
      </p:sp>
      <p:pic>
        <p:nvPicPr>
          <p:cNvPr id="462851" name="Picture 3"/>
          <p:cNvPicPr>
            <a:picLocks noGrp="1" noChangeAspect="1" noChangeArrowheads="1"/>
          </p:cNvPicPr>
          <p:nvPr>
            <p:ph/>
          </p:nvPr>
        </p:nvPicPr>
        <p:blipFill>
          <a:blip r:embed="rId3">
            <a:extLst>
              <a:ext uri="{28A0092B-C50C-407E-A947-70E740481C1C}">
                <a14:useLocalDpi xmlns:a14="http://schemas.microsoft.com/office/drawing/2010/main" val="0"/>
              </a:ext>
            </a:extLst>
          </a:blip>
          <a:srcRect/>
          <a:stretch>
            <a:fillRect/>
          </a:stretch>
        </p:blipFill>
        <p:spPr>
          <a:xfrm>
            <a:off x="323850" y="2109788"/>
            <a:ext cx="8569325" cy="3384550"/>
          </a:xfrm>
          <a:noFill/>
        </p:spPr>
      </p:pic>
      <p:sp>
        <p:nvSpPr>
          <p:cNvPr id="462852" name="Text Box 5"/>
          <p:cNvSpPr txBox="1">
            <a:spLocks noChangeArrowheads="1"/>
          </p:cNvSpPr>
          <p:nvPr/>
        </p:nvSpPr>
        <p:spPr bwMode="auto">
          <a:xfrm>
            <a:off x="323850" y="5441950"/>
            <a:ext cx="8424863"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50000"/>
              </a:spcBef>
              <a:buFontTx/>
              <a:buNone/>
            </a:pPr>
            <a:r>
              <a:rPr lang="en-US" altLang="en-US" b="1">
                <a:latin typeface="Angsana New" panose="02020603050405020304" pitchFamily="18" charset="-34"/>
              </a:rPr>
              <a:t>Figure 148. Simplified bleach plant block diagram.</a:t>
            </a:r>
            <a:endParaRPr lang="en-US" altLang="en-US" b="1" baseline="30000">
              <a:latin typeface="Angsana New" panose="02020603050405020304" pitchFamily="18" charset="-34"/>
            </a:endParaRPr>
          </a:p>
        </p:txBody>
      </p:sp>
    </p:spTree>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4898" name="Picture 2"/>
          <p:cNvPicPr>
            <a:picLocks noGrp="1" noChangeAspect="1" noChangeArrowheads="1"/>
          </p:cNvPicPr>
          <p:nvPr>
            <p:ph/>
          </p:nvPr>
        </p:nvPicPr>
        <p:blipFill>
          <a:blip r:embed="rId3">
            <a:extLst>
              <a:ext uri="{28A0092B-C50C-407E-A947-70E740481C1C}">
                <a14:useLocalDpi xmlns:a14="http://schemas.microsoft.com/office/drawing/2010/main" val="0"/>
              </a:ext>
            </a:extLst>
          </a:blip>
          <a:srcRect/>
          <a:stretch>
            <a:fillRect/>
          </a:stretch>
        </p:blipFill>
        <p:spPr>
          <a:xfrm>
            <a:off x="331788" y="1725613"/>
            <a:ext cx="8497887" cy="3095625"/>
          </a:xfrm>
          <a:noFill/>
        </p:spPr>
      </p:pic>
      <p:sp>
        <p:nvSpPr>
          <p:cNvPr id="464899" name="Text Box 4"/>
          <p:cNvSpPr txBox="1">
            <a:spLocks noChangeArrowheads="1"/>
          </p:cNvSpPr>
          <p:nvPr/>
        </p:nvSpPr>
        <p:spPr bwMode="auto">
          <a:xfrm>
            <a:off x="755650" y="5373688"/>
            <a:ext cx="7561263"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50000"/>
              </a:spcBef>
              <a:buFontTx/>
              <a:buNone/>
            </a:pPr>
            <a:r>
              <a:rPr lang="en-US" altLang="en-US" b="1">
                <a:latin typeface="Angsana New" panose="02020603050405020304" pitchFamily="18" charset="-34"/>
              </a:rPr>
              <a:t>Figure 149.  A tower and drum washer bleach plant.</a:t>
            </a:r>
          </a:p>
        </p:txBody>
      </p:sp>
    </p:spTree>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6" name="Rectangle 2"/>
          <p:cNvSpPr>
            <a:spLocks noGrp="1" noChangeArrowheads="1"/>
          </p:cNvSpPr>
          <p:nvPr>
            <p:ph type="title"/>
          </p:nvPr>
        </p:nvSpPr>
        <p:spPr>
          <a:noFill/>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nchor="t" anchorCtr="1"/>
          <a:lstStyle/>
          <a:p>
            <a:r>
              <a:rPr lang="en-US" altLang="en-US" smtClean="0"/>
              <a:t>Bleach Plant Process Control Scheme</a:t>
            </a:r>
          </a:p>
        </p:txBody>
      </p:sp>
      <p:graphicFrame>
        <p:nvGraphicFramePr>
          <p:cNvPr id="466947" name="Object 3">
            <a:hlinkClick r:id="" action="ppaction://ole?verb=0"/>
          </p:cNvPr>
          <p:cNvGraphicFramePr>
            <a:graphicFrameLocks/>
          </p:cNvGraphicFramePr>
          <p:nvPr/>
        </p:nvGraphicFramePr>
        <p:xfrm>
          <a:off x="396875" y="2065338"/>
          <a:ext cx="8361363" cy="3141662"/>
        </p:xfrm>
        <a:graphic>
          <a:graphicData uri="http://schemas.openxmlformats.org/presentationml/2006/ole">
            <mc:AlternateContent xmlns:mc="http://schemas.openxmlformats.org/markup-compatibility/2006">
              <mc:Choice xmlns:v="urn:schemas-microsoft-com:vml" Requires="v">
                <p:oleObj spid="_x0000_s466956" r:id="rId4" imgW="8361363" imgH="3141663" progId="">
                  <p:embed/>
                </p:oleObj>
              </mc:Choice>
              <mc:Fallback>
                <p:oleObj r:id="rId4" imgW="8361363" imgH="3141663" progId="">
                  <p:embed/>
                  <p:pic>
                    <p:nvPicPr>
                      <p:cNvPr id="0" name="Object 3"/>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6875" y="2065338"/>
                        <a:ext cx="8361363" cy="314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ransition/>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8994" name="Rectangle 2"/>
          <p:cNvSpPr>
            <a:spLocks noGrp="1" noChangeArrowheads="1"/>
          </p:cNvSpPr>
          <p:nvPr>
            <p:ph type="title"/>
          </p:nvPr>
        </p:nvSpPr>
        <p:spPr/>
        <p:txBody>
          <a:bodyPr/>
          <a:lstStyle/>
          <a:p>
            <a:r>
              <a:rPr lang="en-US" altLang="en-US" sz="3400" smtClean="0">
                <a:cs typeface="Angsana New" panose="02020603050405020304" pitchFamily="18" charset="-34"/>
              </a:rPr>
              <a:t>Less impact to environment</a:t>
            </a:r>
            <a:r>
              <a:rPr lang="th-TH" altLang="en-US" sz="3400" smtClean="0"/>
              <a:t/>
            </a:r>
            <a:br>
              <a:rPr lang="th-TH" altLang="en-US" sz="3400" smtClean="0"/>
            </a:br>
            <a:endParaRPr lang="th-TH" altLang="en-US" sz="3400" smtClean="0"/>
          </a:p>
        </p:txBody>
      </p:sp>
      <p:sp>
        <p:nvSpPr>
          <p:cNvPr id="468995" name="Rectangle 3"/>
          <p:cNvSpPr>
            <a:spLocks noGrp="1" noChangeArrowheads="1"/>
          </p:cNvSpPr>
          <p:nvPr>
            <p:ph type="body" idx="1"/>
          </p:nvPr>
        </p:nvSpPr>
        <p:spPr/>
        <p:txBody>
          <a:bodyPr/>
          <a:lstStyle/>
          <a:p>
            <a:pPr>
              <a:buFont typeface="Wingdings" panose="05000000000000000000" pitchFamily="2" charset="2"/>
              <a:buNone/>
            </a:pPr>
            <a:r>
              <a:rPr lang="en-US" altLang="en-US" smtClean="0">
                <a:cs typeface="Angsana New" panose="02020603050405020304" pitchFamily="18" charset="-34"/>
              </a:rPr>
              <a:t>Bleaching sequences:</a:t>
            </a:r>
          </a:p>
          <a:p>
            <a:pPr>
              <a:buFont typeface="Wingdings" panose="05000000000000000000" pitchFamily="2" charset="2"/>
              <a:buNone/>
            </a:pPr>
            <a:r>
              <a:rPr lang="en-US" altLang="en-US" smtClean="0">
                <a:cs typeface="Angsana New" panose="02020603050405020304" pitchFamily="18" charset="-34"/>
              </a:rPr>
              <a:t>ZQ-PO-ZQ-PO </a:t>
            </a:r>
          </a:p>
          <a:p>
            <a:pPr>
              <a:buFont typeface="Wingdings" panose="05000000000000000000" pitchFamily="2" charset="2"/>
              <a:buNone/>
            </a:pPr>
            <a:r>
              <a:rPr lang="en-US" altLang="en-US" smtClean="0">
                <a:cs typeface="Angsana New" panose="02020603050405020304" pitchFamily="18" charset="-34"/>
              </a:rPr>
              <a:t>Minimum effluent </a:t>
            </a:r>
            <a:endParaRPr lang="th-TH" altLang="en-US" smtClean="0">
              <a:cs typeface="Angsana New" panose="02020603050405020304" pitchFamily="18" charset="-34"/>
            </a:endParaRPr>
          </a:p>
          <a:p>
            <a:pPr>
              <a:buFont typeface="Wingdings" panose="05000000000000000000" pitchFamily="2" charset="2"/>
              <a:buNone/>
            </a:pPr>
            <a:r>
              <a:rPr lang="en-US" altLang="en-US" smtClean="0">
                <a:cs typeface="Angsana New" panose="02020603050405020304" pitchFamily="18" charset="-34"/>
              </a:rPr>
              <a:t>Recycle to evaporotor</a:t>
            </a:r>
          </a:p>
          <a:p>
            <a:pPr>
              <a:buFont typeface="Wingdings" panose="05000000000000000000" pitchFamily="2" charset="2"/>
              <a:buNone/>
            </a:pPr>
            <a:r>
              <a:rPr lang="en-US" altLang="en-US" smtClean="0">
                <a:cs typeface="Angsana New" panose="02020603050405020304" pitchFamily="18" charset="-34"/>
              </a:rPr>
              <a:t>No chloride ion to corrode the evaporators, recovery boiler</a:t>
            </a:r>
            <a:endParaRPr lang="th-TH" altLang="en-US" smtClean="0">
              <a:cs typeface="Angsana New" panose="02020603050405020304" pitchFamily="18" charset="-34"/>
            </a:endParaRPr>
          </a:p>
        </p:txBody>
      </p:sp>
    </p:spTree>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0018" name="Picture 2" descr="SCL Flow Diagra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2413" cy="6856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0019" name="Text Box 3"/>
          <p:cNvSpPr txBox="1">
            <a:spLocks noChangeArrowheads="1"/>
          </p:cNvSpPr>
          <p:nvPr/>
        </p:nvSpPr>
        <p:spPr bwMode="auto">
          <a:xfrm>
            <a:off x="4405313" y="6500813"/>
            <a:ext cx="3492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endParaRPr lang="th-TH" altLang="en-US" sz="2000">
              <a:solidFill>
                <a:srgbClr val="FF3300"/>
              </a:solidFill>
            </a:endParaRPr>
          </a:p>
        </p:txBody>
      </p:sp>
      <p:sp>
        <p:nvSpPr>
          <p:cNvPr id="470020" name="Rectangle 4"/>
          <p:cNvSpPr>
            <a:spLocks noChangeArrowheads="1"/>
          </p:cNvSpPr>
          <p:nvPr/>
        </p:nvSpPr>
        <p:spPr bwMode="auto">
          <a:xfrm>
            <a:off x="4405313" y="6500813"/>
            <a:ext cx="315912" cy="357187"/>
          </a:xfrm>
          <a:prstGeom prst="rect">
            <a:avLst/>
          </a:prstGeom>
          <a:solidFill>
            <a:srgbClr val="3333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th-TH" altLang="en-US" sz="2400">
              <a:solidFill>
                <a:schemeClr val="bg1"/>
              </a:solidFill>
              <a:latin typeface="Times New Roman" panose="02020603050405020304" pitchFamily="18" charset="0"/>
              <a:cs typeface="Angsana New" panose="02020603050405020304" pitchFamily="18" charset="-34"/>
            </a:endParaRPr>
          </a:p>
        </p:txBody>
      </p:sp>
      <p:sp>
        <p:nvSpPr>
          <p:cNvPr id="606213" name="Rectangle 5"/>
          <p:cNvSpPr>
            <a:spLocks noChangeArrowheads="1"/>
          </p:cNvSpPr>
          <p:nvPr/>
        </p:nvSpPr>
        <p:spPr bwMode="auto">
          <a:xfrm>
            <a:off x="304800" y="2971800"/>
            <a:ext cx="6934200" cy="1905000"/>
          </a:xfrm>
          <a:prstGeom prst="rect">
            <a:avLst/>
          </a:prstGeom>
          <a:solidFill>
            <a:srgbClr val="C0C0C0">
              <a:alpha val="23921"/>
            </a:srgbClr>
          </a:solidFill>
          <a:ln w="25400">
            <a:solidFill>
              <a:srgbClr val="FFFF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62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6213"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42" name="Rectangle 2"/>
          <p:cNvSpPr>
            <a:spLocks noGrp="1" noChangeArrowheads="1"/>
          </p:cNvSpPr>
          <p:nvPr>
            <p:ph type="title"/>
          </p:nvPr>
        </p:nvSpPr>
        <p:spPr/>
        <p:txBody>
          <a:bodyPr/>
          <a:lstStyle/>
          <a:p>
            <a:pPr rtl="1"/>
            <a:r>
              <a:rPr lang="en-US" altLang="en-US" smtClean="0">
                <a:cs typeface="Angsana New" panose="02020603050405020304" pitchFamily="18" charset="-34"/>
              </a:rPr>
              <a:t>Visual </a:t>
            </a:r>
            <a:r>
              <a:rPr lang="en-US" altLang="en-US" smtClean="0"/>
              <a:t>Process control</a:t>
            </a:r>
            <a:endParaRPr lang="th-TH" altLang="en-US" smtClean="0"/>
          </a:p>
        </p:txBody>
      </p:sp>
      <p:pic>
        <p:nvPicPr>
          <p:cNvPr id="471043" name="Picture 3" descr="MVC-020S"/>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1554163" y="1600200"/>
            <a:ext cx="6034087" cy="4530725"/>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Title 1"/>
          <p:cNvSpPr>
            <a:spLocks noGrp="1"/>
          </p:cNvSpPr>
          <p:nvPr>
            <p:ph type="title"/>
          </p:nvPr>
        </p:nvSpPr>
        <p:spPr>
          <a:xfrm>
            <a:off x="441325" y="2660650"/>
            <a:ext cx="8229600" cy="1143000"/>
          </a:xfrm>
        </p:spPr>
        <p:txBody>
          <a:bodyPr/>
          <a:lstStyle/>
          <a:p>
            <a:pPr eaLnBrk="1" hangingPunct="1"/>
            <a:r>
              <a:rPr lang="en-US" altLang="en-US" sz="3600" b="1" smtClean="0">
                <a:latin typeface="Tahoma" panose="020B0604030504040204" pitchFamily="34" charset="0"/>
                <a:cs typeface="Tahoma" panose="020B0604030504040204" pitchFamily="34" charset="0"/>
              </a:rPr>
              <a:t>6. Principle of chemical recovery </a:t>
            </a:r>
          </a:p>
        </p:txBody>
      </p:sp>
    </p:spTree>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114"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6. Principle of chemical recovery </a:t>
            </a:r>
          </a:p>
        </p:txBody>
      </p:sp>
      <p:pic>
        <p:nvPicPr>
          <p:cNvPr id="474115"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79388" y="963613"/>
            <a:ext cx="4356100" cy="325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4116" name="Picture 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635500" y="963613"/>
            <a:ext cx="4356100" cy="325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4117" name="TextBox 10"/>
          <p:cNvSpPr txBox="1">
            <a:spLocks noChangeArrowheads="1"/>
          </p:cNvSpPr>
          <p:nvPr/>
        </p:nvSpPr>
        <p:spPr bwMode="auto">
          <a:xfrm>
            <a:off x="165100" y="4292600"/>
            <a:ext cx="88265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800"/>
              <a:t>The used, inorganic pulping chemicals and dissolved, organic wood components that are washed out of sulfite and kraft pulps after cooking have value, so the wash water undergoes several process steps. First, it is concentrated by evaporating as much water as possible. Then, it is fired into a recovery boiler. Two things happen in the recovery boiler: </a:t>
            </a:r>
          </a:p>
        </p:txBody>
      </p:sp>
      <p:sp>
        <p:nvSpPr>
          <p:cNvPr id="474118" name="TextBox 5"/>
          <p:cNvSpPr txBox="1">
            <a:spLocks noChangeArrowheads="1"/>
          </p:cNvSpPr>
          <p:nvPr/>
        </p:nvSpPr>
        <p:spPr bwMode="auto">
          <a:xfrm>
            <a:off x="-14288" y="6092825"/>
            <a:ext cx="25701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a:t>Credit: Convergence Training</a:t>
            </a:r>
          </a:p>
        </p:txBody>
      </p:sp>
    </p:spTree>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6162"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6. Principle of chemical recovery </a:t>
            </a:r>
          </a:p>
        </p:txBody>
      </p:sp>
      <p:pic>
        <p:nvPicPr>
          <p:cNvPr id="476163"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79388" y="908050"/>
            <a:ext cx="4337050" cy="324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6164"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665663" y="917575"/>
            <a:ext cx="4337050" cy="3235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6165" name="TextBox 6"/>
          <p:cNvSpPr txBox="1">
            <a:spLocks noChangeArrowheads="1"/>
          </p:cNvSpPr>
          <p:nvPr/>
        </p:nvSpPr>
        <p:spPr bwMode="auto">
          <a:xfrm>
            <a:off x="165100" y="4292600"/>
            <a:ext cx="4344988"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800"/>
              <a:t>1.  The used pulping chemicals are converted to a form from which fresh pulping chemicals can be made. </a:t>
            </a:r>
          </a:p>
        </p:txBody>
      </p:sp>
      <p:sp>
        <p:nvSpPr>
          <p:cNvPr id="476166" name="TextBox 7"/>
          <p:cNvSpPr txBox="1">
            <a:spLocks noChangeArrowheads="1"/>
          </p:cNvSpPr>
          <p:nvPr/>
        </p:nvSpPr>
        <p:spPr bwMode="auto">
          <a:xfrm>
            <a:off x="4637088" y="4292600"/>
            <a:ext cx="4344987"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2000"/>
              <a:t>2.  The organic wood components are burned to produce steam for use in several key mill processes. </a:t>
            </a:r>
          </a:p>
        </p:txBody>
      </p:sp>
      <p:sp>
        <p:nvSpPr>
          <p:cNvPr id="476167" name="TextBox 6"/>
          <p:cNvSpPr txBox="1">
            <a:spLocks noChangeArrowheads="1"/>
          </p:cNvSpPr>
          <p:nvPr/>
        </p:nvSpPr>
        <p:spPr bwMode="auto">
          <a:xfrm>
            <a:off x="-14288" y="6092825"/>
            <a:ext cx="25701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a:t>Credit: Convergence Training</a:t>
            </a:r>
          </a:p>
        </p:txBody>
      </p:sp>
    </p:spTree>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210"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6. Principle of chemical recovery </a:t>
            </a:r>
          </a:p>
        </p:txBody>
      </p:sp>
      <p:pic>
        <p:nvPicPr>
          <p:cNvPr id="478211" name="Picture 8"/>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84150" y="917575"/>
            <a:ext cx="4354513" cy="325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8212" name="Picture 9"/>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681538" y="908050"/>
            <a:ext cx="4354512" cy="325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8213" name="TextBox 8"/>
          <p:cNvSpPr txBox="1">
            <a:spLocks noChangeArrowheads="1"/>
          </p:cNvSpPr>
          <p:nvPr/>
        </p:nvSpPr>
        <p:spPr bwMode="auto">
          <a:xfrm>
            <a:off x="165100" y="4292600"/>
            <a:ext cx="4344988"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800"/>
              <a:t>Any water that entered the boiler with the concentrated wash water simply evaporates. </a:t>
            </a:r>
          </a:p>
        </p:txBody>
      </p:sp>
      <p:sp>
        <p:nvSpPr>
          <p:cNvPr id="478214" name="TextBox 9"/>
          <p:cNvSpPr txBox="1">
            <a:spLocks noChangeArrowheads="1"/>
          </p:cNvSpPr>
          <p:nvPr/>
        </p:nvSpPr>
        <p:spPr bwMode="auto">
          <a:xfrm>
            <a:off x="4637088" y="4292600"/>
            <a:ext cx="4344987" cy="163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2000"/>
              <a:t>The recovery of the pulping chemicals and the production of steam are both critical to the economic viability of a pulp and paper mill. They also greatly reduce its environmental impact. </a:t>
            </a:r>
          </a:p>
        </p:txBody>
      </p:sp>
      <p:sp>
        <p:nvSpPr>
          <p:cNvPr id="478215" name="TextBox 6"/>
          <p:cNvSpPr txBox="1">
            <a:spLocks noChangeArrowheads="1"/>
          </p:cNvSpPr>
          <p:nvPr/>
        </p:nvSpPr>
        <p:spPr bwMode="auto">
          <a:xfrm>
            <a:off x="-14288" y="6092825"/>
            <a:ext cx="25701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a:t>Credit: Convergence Training</a:t>
            </a:r>
          </a:p>
        </p:txBody>
      </p:sp>
    </p:spTree>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0258"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6. Principle of chemical recovery </a:t>
            </a:r>
          </a:p>
        </p:txBody>
      </p:sp>
      <p:pic>
        <p:nvPicPr>
          <p:cNvPr id="480259" name="Picture 8"/>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5425" y="981075"/>
            <a:ext cx="8693150" cy="5208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0260" name="TextBox 9"/>
          <p:cNvSpPr txBox="1">
            <a:spLocks noChangeArrowheads="1"/>
          </p:cNvSpPr>
          <p:nvPr/>
        </p:nvSpPr>
        <p:spPr bwMode="auto">
          <a:xfrm>
            <a:off x="0" y="6189663"/>
            <a:ext cx="8410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a:t>Ref: http://www.tappsa.co.za/archive2/APPW_2004/Title2004/Applying_best_sustainable_prac/2004-27fig1a.jpg</a:t>
            </a:r>
          </a:p>
        </p:txBody>
      </p:sp>
      <p:sp>
        <p:nvSpPr>
          <p:cNvPr id="38" name="Freeform 37"/>
          <p:cNvSpPr/>
          <p:nvPr/>
        </p:nvSpPr>
        <p:spPr>
          <a:xfrm>
            <a:off x="280988" y="1017588"/>
            <a:ext cx="8642350" cy="5191125"/>
          </a:xfrm>
          <a:custGeom>
            <a:avLst/>
            <a:gdLst>
              <a:gd name="connsiteX0" fmla="*/ 14749 w 8642555"/>
              <a:gd name="connsiteY0" fmla="*/ 0 h 5191432"/>
              <a:gd name="connsiteX1" fmla="*/ 8642555 w 8642555"/>
              <a:gd name="connsiteY1" fmla="*/ 0 h 5191432"/>
              <a:gd name="connsiteX2" fmla="*/ 8642555 w 8642555"/>
              <a:gd name="connsiteY2" fmla="*/ 5191432 h 5191432"/>
              <a:gd name="connsiteX3" fmla="*/ 5589639 w 8642555"/>
              <a:gd name="connsiteY3" fmla="*/ 5191432 h 5191432"/>
              <a:gd name="connsiteX4" fmla="*/ 5589639 w 8642555"/>
              <a:gd name="connsiteY4" fmla="*/ 4114800 h 5191432"/>
              <a:gd name="connsiteX5" fmla="*/ 7005484 w 8642555"/>
              <a:gd name="connsiteY5" fmla="*/ 3288890 h 5191432"/>
              <a:gd name="connsiteX6" fmla="*/ 4704736 w 8642555"/>
              <a:gd name="connsiteY6" fmla="*/ 2153264 h 5191432"/>
              <a:gd name="connsiteX7" fmla="*/ 3097162 w 8642555"/>
              <a:gd name="connsiteY7" fmla="*/ 2728451 h 5191432"/>
              <a:gd name="connsiteX8" fmla="*/ 737420 w 8642555"/>
              <a:gd name="connsiteY8" fmla="*/ 2684206 h 5191432"/>
              <a:gd name="connsiteX9" fmla="*/ 737420 w 8642555"/>
              <a:gd name="connsiteY9" fmla="*/ 5088193 h 5191432"/>
              <a:gd name="connsiteX10" fmla="*/ 0 w 8642555"/>
              <a:gd name="connsiteY10" fmla="*/ 5088193 h 5191432"/>
              <a:gd name="connsiteX11" fmla="*/ 14749 w 8642555"/>
              <a:gd name="connsiteY11" fmla="*/ 0 h 5191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642555" h="5191432">
                <a:moveTo>
                  <a:pt x="14749" y="0"/>
                </a:moveTo>
                <a:lnTo>
                  <a:pt x="8642555" y="0"/>
                </a:lnTo>
                <a:lnTo>
                  <a:pt x="8642555" y="5191432"/>
                </a:lnTo>
                <a:lnTo>
                  <a:pt x="5589639" y="5191432"/>
                </a:lnTo>
                <a:lnTo>
                  <a:pt x="5589639" y="4114800"/>
                </a:lnTo>
                <a:lnTo>
                  <a:pt x="7005484" y="3288890"/>
                </a:lnTo>
                <a:lnTo>
                  <a:pt x="4704736" y="2153264"/>
                </a:lnTo>
                <a:lnTo>
                  <a:pt x="3097162" y="2728451"/>
                </a:lnTo>
                <a:lnTo>
                  <a:pt x="737420" y="2684206"/>
                </a:lnTo>
                <a:lnTo>
                  <a:pt x="737420" y="5088193"/>
                </a:lnTo>
                <a:lnTo>
                  <a:pt x="0" y="5088193"/>
                </a:lnTo>
                <a:cubicBezTo>
                  <a:pt x="4916" y="3392129"/>
                  <a:pt x="9833" y="1696064"/>
                  <a:pt x="14749" y="0"/>
                </a:cubicBezTo>
                <a:close/>
              </a:path>
            </a:pathLst>
          </a:custGeom>
          <a:solidFill>
            <a:schemeClr val="bg1">
              <a:alpha val="94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2306" name="Rectangle 2"/>
          <p:cNvSpPr>
            <a:spLocks noGrp="1" noChangeArrowheads="1"/>
          </p:cNvSpPr>
          <p:nvPr>
            <p:ph type="title"/>
          </p:nvPr>
        </p:nvSpPr>
        <p:spPr>
          <a:xfrm>
            <a:off x="381000" y="-252413"/>
            <a:ext cx="8540750" cy="1143001"/>
          </a:xfrm>
        </p:spPr>
        <p:txBody>
          <a:bodyPr/>
          <a:lstStyle/>
          <a:p>
            <a:r>
              <a:rPr lang="en-US" altLang="en-US" sz="6600" smtClean="0">
                <a:solidFill>
                  <a:srgbClr val="FF0000"/>
                </a:solidFill>
                <a:latin typeface="Angsana New" panose="02020603050405020304" pitchFamily="18" charset="-34"/>
              </a:rPr>
              <a:t>Chemical Recovery Section</a:t>
            </a:r>
            <a:endParaRPr lang="th-TH" altLang="en-US" sz="6600" smtClean="0">
              <a:solidFill>
                <a:srgbClr val="FF0000"/>
              </a:solidFill>
              <a:latin typeface="Angsana New" panose="02020603050405020304" pitchFamily="18" charset="-34"/>
            </a:endParaRPr>
          </a:p>
        </p:txBody>
      </p:sp>
      <p:pic>
        <p:nvPicPr>
          <p:cNvPr id="482307" name="Picture 9" descr="IMG_1636"/>
          <p:cNvPicPr>
            <a:picLocks noGrp="1" noChangeAspect="1" noChangeArrowheads="1"/>
          </p:cNvPicPr>
          <p:nvPr>
            <p:ph sz="half" idx="2"/>
          </p:nvPr>
        </p:nvPicPr>
        <p:blipFill>
          <a:blip r:embed="rId2">
            <a:extLst>
              <a:ext uri="{28A0092B-C50C-407E-A947-70E740481C1C}">
                <a14:useLocalDpi xmlns:a14="http://schemas.microsoft.com/office/drawing/2010/main" val="0"/>
              </a:ext>
            </a:extLst>
          </a:blip>
          <a:srcRect/>
          <a:stretch>
            <a:fillRect/>
          </a:stretch>
        </p:blipFill>
        <p:spPr>
          <a:xfrm>
            <a:off x="1031875" y="3249613"/>
            <a:ext cx="3100388" cy="2751137"/>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482308" name="Picture 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24163" y="671513"/>
            <a:ext cx="3379787" cy="2463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82309" name="Picture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14850" y="3262313"/>
            <a:ext cx="3194050" cy="2724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03828" name="Group 20"/>
          <p:cNvGrpSpPr>
            <a:grpSpLocks/>
          </p:cNvGrpSpPr>
          <p:nvPr/>
        </p:nvGrpSpPr>
        <p:grpSpPr bwMode="auto">
          <a:xfrm>
            <a:off x="381000" y="1327150"/>
            <a:ext cx="2271713" cy="457200"/>
            <a:chOff x="0" y="1233"/>
            <a:chExt cx="1431" cy="288"/>
          </a:xfrm>
        </p:grpSpPr>
        <p:sp>
          <p:nvSpPr>
            <p:cNvPr id="482317" name="AutoShape 13"/>
            <p:cNvSpPr>
              <a:spLocks noChangeArrowheads="1"/>
            </p:cNvSpPr>
            <p:nvPr/>
          </p:nvSpPr>
          <p:spPr bwMode="auto">
            <a:xfrm>
              <a:off x="1152" y="1305"/>
              <a:ext cx="279" cy="216"/>
            </a:xfrm>
            <a:prstGeom prst="rightArrow">
              <a:avLst>
                <a:gd name="adj1" fmla="val 50000"/>
                <a:gd name="adj2" fmla="val 32292"/>
              </a:avLst>
            </a:prstGeom>
            <a:solidFill>
              <a:srgbClr val="FF3300"/>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03822" name="Text Box 14"/>
            <p:cNvSpPr txBox="1">
              <a:spLocks noChangeArrowheads="1"/>
            </p:cNvSpPr>
            <p:nvPr/>
          </p:nvSpPr>
          <p:spPr bwMode="auto">
            <a:xfrm>
              <a:off x="0" y="1233"/>
              <a:ext cx="115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2400" dirty="0">
                  <a:solidFill>
                    <a:srgbClr val="FF3300"/>
                  </a:solidFill>
                  <a:effectLst>
                    <a:outerShdw blurRad="38100" dist="38100" dir="2700000" algn="tl">
                      <a:srgbClr val="000000"/>
                    </a:outerShdw>
                  </a:effectLst>
                </a:rPr>
                <a:t>Evaporator</a:t>
              </a:r>
              <a:endParaRPr lang="th-TH" altLang="en-US" sz="2400" dirty="0">
                <a:solidFill>
                  <a:srgbClr val="FF3300"/>
                </a:solidFill>
                <a:effectLst>
                  <a:outerShdw blurRad="38100" dist="38100" dir="2700000" algn="tl">
                    <a:srgbClr val="000000"/>
                  </a:outerShdw>
                </a:effectLst>
              </a:endParaRPr>
            </a:p>
          </p:txBody>
        </p:sp>
      </p:grpSp>
      <p:grpSp>
        <p:nvGrpSpPr>
          <p:cNvPr id="503829" name="Group 21"/>
          <p:cNvGrpSpPr>
            <a:grpSpLocks/>
          </p:cNvGrpSpPr>
          <p:nvPr/>
        </p:nvGrpSpPr>
        <p:grpSpPr bwMode="auto">
          <a:xfrm>
            <a:off x="1457325" y="6003925"/>
            <a:ext cx="3057525" cy="457200"/>
            <a:chOff x="918" y="3959"/>
            <a:chExt cx="1926" cy="288"/>
          </a:xfrm>
        </p:grpSpPr>
        <p:sp>
          <p:nvSpPr>
            <p:cNvPr id="503823" name="Text Box 15"/>
            <p:cNvSpPr txBox="1">
              <a:spLocks noChangeArrowheads="1"/>
            </p:cNvSpPr>
            <p:nvPr/>
          </p:nvSpPr>
          <p:spPr bwMode="auto">
            <a:xfrm>
              <a:off x="1152" y="3959"/>
              <a:ext cx="16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2400">
                  <a:solidFill>
                    <a:srgbClr val="FF3300"/>
                  </a:solidFill>
                  <a:effectLst>
                    <a:outerShdw blurRad="38100" dist="38100" dir="2700000" algn="tl">
                      <a:srgbClr val="000000"/>
                    </a:outerShdw>
                  </a:effectLst>
                </a:rPr>
                <a:t>Recovery Boiler</a:t>
              </a:r>
              <a:endParaRPr lang="th-TH" altLang="en-US" sz="2400">
                <a:solidFill>
                  <a:srgbClr val="FF3300"/>
                </a:solidFill>
                <a:effectLst>
                  <a:outerShdw blurRad="38100" dist="38100" dir="2700000" algn="tl">
                    <a:srgbClr val="000000"/>
                  </a:outerShdw>
                </a:effectLst>
              </a:endParaRPr>
            </a:p>
          </p:txBody>
        </p:sp>
        <p:sp>
          <p:nvSpPr>
            <p:cNvPr id="482316" name="AutoShape 17"/>
            <p:cNvSpPr>
              <a:spLocks noChangeArrowheads="1"/>
            </p:cNvSpPr>
            <p:nvPr/>
          </p:nvSpPr>
          <p:spPr bwMode="auto">
            <a:xfrm>
              <a:off x="918" y="4004"/>
              <a:ext cx="234" cy="243"/>
            </a:xfrm>
            <a:prstGeom prst="upArrow">
              <a:avLst>
                <a:gd name="adj1" fmla="val 50000"/>
                <a:gd name="adj2" fmla="val 25962"/>
              </a:avLst>
            </a:prstGeom>
            <a:solidFill>
              <a:srgbClr val="FF3300"/>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grpSp>
        <p:nvGrpSpPr>
          <p:cNvPr id="503830" name="Group 22"/>
          <p:cNvGrpSpPr>
            <a:grpSpLocks/>
          </p:cNvGrpSpPr>
          <p:nvPr/>
        </p:nvGrpSpPr>
        <p:grpSpPr bwMode="auto">
          <a:xfrm>
            <a:off x="4651375" y="6003925"/>
            <a:ext cx="3649663" cy="457200"/>
            <a:chOff x="2930" y="4004"/>
            <a:chExt cx="2299" cy="288"/>
          </a:xfrm>
        </p:grpSpPr>
        <p:sp>
          <p:nvSpPr>
            <p:cNvPr id="503826" name="Text Box 18"/>
            <p:cNvSpPr txBox="1">
              <a:spLocks noChangeArrowheads="1"/>
            </p:cNvSpPr>
            <p:nvPr/>
          </p:nvSpPr>
          <p:spPr bwMode="auto">
            <a:xfrm>
              <a:off x="3164" y="4004"/>
              <a:ext cx="2065" cy="288"/>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2400" dirty="0" err="1">
                  <a:solidFill>
                    <a:srgbClr val="FF3300"/>
                  </a:solidFill>
                  <a:effectLst>
                    <a:outerShdw blurRad="38100" dist="38100" dir="2700000" algn="tl">
                      <a:srgbClr val="000000"/>
                    </a:outerShdw>
                  </a:effectLst>
                </a:rPr>
                <a:t>Recausticizing</a:t>
              </a:r>
              <a:r>
                <a:rPr lang="en-US" altLang="en-US" sz="2400" dirty="0">
                  <a:solidFill>
                    <a:srgbClr val="FF3300"/>
                  </a:solidFill>
                  <a:effectLst>
                    <a:outerShdw blurRad="38100" dist="38100" dir="2700000" algn="tl">
                      <a:srgbClr val="000000"/>
                    </a:outerShdw>
                  </a:effectLst>
                </a:rPr>
                <a:t> Plant</a:t>
              </a:r>
              <a:endParaRPr lang="th-TH" altLang="en-US" sz="2400" dirty="0">
                <a:solidFill>
                  <a:srgbClr val="FF3300"/>
                </a:solidFill>
                <a:effectLst>
                  <a:outerShdw blurRad="38100" dist="38100" dir="2700000" algn="tl">
                    <a:srgbClr val="000000"/>
                  </a:outerShdw>
                </a:effectLst>
              </a:endParaRPr>
            </a:p>
          </p:txBody>
        </p:sp>
        <p:sp>
          <p:nvSpPr>
            <p:cNvPr id="482314" name="AutoShape 19"/>
            <p:cNvSpPr>
              <a:spLocks noChangeArrowheads="1"/>
            </p:cNvSpPr>
            <p:nvPr/>
          </p:nvSpPr>
          <p:spPr bwMode="auto">
            <a:xfrm>
              <a:off x="2930" y="4049"/>
              <a:ext cx="234" cy="243"/>
            </a:xfrm>
            <a:prstGeom prst="upArrow">
              <a:avLst>
                <a:gd name="adj1" fmla="val 50000"/>
                <a:gd name="adj2" fmla="val 25962"/>
              </a:avLst>
            </a:prstGeom>
            <a:solidFill>
              <a:srgbClr val="FF3300"/>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503828"/>
                                        </p:tgtEl>
                                        <p:attrNameLst>
                                          <p:attrName>style.visibility</p:attrName>
                                        </p:attrNameLst>
                                      </p:cBhvr>
                                      <p:to>
                                        <p:strVal val="visible"/>
                                      </p:to>
                                    </p:set>
                                    <p:animEffect transition="in" filter="box(in)">
                                      <p:cBhvr>
                                        <p:cTn id="7" dur="500"/>
                                        <p:tgtEl>
                                          <p:spTgt spid="50382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2" presetClass="entr" presetSubtype="4" fill="hold" nodeType="clickEffect">
                                  <p:stCondLst>
                                    <p:cond delay="0"/>
                                  </p:stCondLst>
                                  <p:childTnLst>
                                    <p:set>
                                      <p:cBhvr>
                                        <p:cTn id="11" dur="1" fill="hold">
                                          <p:stCondLst>
                                            <p:cond delay="0"/>
                                          </p:stCondLst>
                                        </p:cTn>
                                        <p:tgtEl>
                                          <p:spTgt spid="503829"/>
                                        </p:tgtEl>
                                        <p:attrNameLst>
                                          <p:attrName>style.visibility</p:attrName>
                                        </p:attrNameLst>
                                      </p:cBhvr>
                                      <p:to>
                                        <p:strVal val="visible"/>
                                      </p:to>
                                    </p:set>
                                    <p:animEffect transition="in" filter="slide(fromBottom)">
                                      <p:cBhvr>
                                        <p:cTn id="12" dur="500"/>
                                        <p:tgtEl>
                                          <p:spTgt spid="50382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2" presetClass="entr" presetSubtype="4" fill="hold" nodeType="clickEffect">
                                  <p:stCondLst>
                                    <p:cond delay="0"/>
                                  </p:stCondLst>
                                  <p:childTnLst>
                                    <p:set>
                                      <p:cBhvr>
                                        <p:cTn id="16" dur="1" fill="hold">
                                          <p:stCondLst>
                                            <p:cond delay="0"/>
                                          </p:stCondLst>
                                        </p:cTn>
                                        <p:tgtEl>
                                          <p:spTgt spid="503830"/>
                                        </p:tgtEl>
                                        <p:attrNameLst>
                                          <p:attrName>style.visibility</p:attrName>
                                        </p:attrNameLst>
                                      </p:cBhvr>
                                      <p:to>
                                        <p:strVal val="visible"/>
                                      </p:to>
                                    </p:set>
                                    <p:animEffect transition="in" filter="slide(fromBottom)">
                                      <p:cBhvr>
                                        <p:cTn id="17" dur="500"/>
                                        <p:tgtEl>
                                          <p:spTgt spid="5038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1219" name="Text Box 3"/>
          <p:cNvSpPr txBox="1">
            <a:spLocks noChangeArrowheads="1"/>
          </p:cNvSpPr>
          <p:nvPr/>
        </p:nvSpPr>
        <p:spPr bwMode="auto">
          <a:xfrm>
            <a:off x="1193800" y="123825"/>
            <a:ext cx="6516688"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th-TH" altLang="en-US" sz="5400">
                <a:solidFill>
                  <a:srgbClr val="FF0000"/>
                </a:solidFill>
                <a:effectLst>
                  <a:outerShdw blurRad="38100" dist="38100" dir="2700000" algn="tl">
                    <a:srgbClr val="000000"/>
                  </a:outerShdw>
                </a:effectLst>
                <a:latin typeface="Angsana New" panose="02020603050405020304" pitchFamily="18" charset="-34"/>
              </a:rPr>
              <a:t>จุดประสงค์ที่มี </a:t>
            </a:r>
            <a:r>
              <a:rPr lang="en-US" altLang="en-US" sz="5400">
                <a:solidFill>
                  <a:srgbClr val="FF0000"/>
                </a:solidFill>
                <a:effectLst>
                  <a:outerShdw blurRad="38100" dist="38100" dir="2700000" algn="tl">
                    <a:srgbClr val="000000"/>
                  </a:outerShdw>
                </a:effectLst>
                <a:latin typeface="Angsana New" panose="02020603050405020304" pitchFamily="18" charset="-34"/>
              </a:rPr>
              <a:t>Recovery  Process</a:t>
            </a:r>
            <a:endParaRPr lang="th-TH" altLang="en-US" sz="5400">
              <a:solidFill>
                <a:srgbClr val="FF0000"/>
              </a:solidFill>
              <a:effectLst>
                <a:outerShdw blurRad="38100" dist="38100" dir="2700000" algn="tl">
                  <a:srgbClr val="000000"/>
                </a:outerShdw>
              </a:effectLst>
              <a:latin typeface="Angsana New" panose="02020603050405020304" pitchFamily="18" charset="-34"/>
            </a:endParaRPr>
          </a:p>
        </p:txBody>
      </p:sp>
      <p:sp>
        <p:nvSpPr>
          <p:cNvPr id="521220" name="Text Box 4"/>
          <p:cNvSpPr txBox="1">
            <a:spLocks noChangeArrowheads="1"/>
          </p:cNvSpPr>
          <p:nvPr/>
        </p:nvSpPr>
        <p:spPr bwMode="auto">
          <a:xfrm>
            <a:off x="304800" y="1593850"/>
            <a:ext cx="8597900"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533400" indent="-533400">
              <a:defRPr>
                <a:solidFill>
                  <a:schemeClr val="tx1"/>
                </a:solidFill>
                <a:latin typeface="Calibri" panose="020F0502020204030204" pitchFamily="34" charset="0"/>
              </a:defRPr>
            </a:lvl1pPr>
            <a:lvl2pPr marL="990600" indent="-533400">
              <a:defRPr>
                <a:solidFill>
                  <a:schemeClr val="tx1"/>
                </a:solidFill>
                <a:latin typeface="Calibri" panose="020F0502020204030204" pitchFamily="34" charset="0"/>
              </a:defRPr>
            </a:lvl2pPr>
            <a:lvl3pPr marL="1447800" indent="-533400">
              <a:defRPr>
                <a:solidFill>
                  <a:schemeClr val="tx1"/>
                </a:solidFill>
                <a:latin typeface="Calibri" panose="020F0502020204030204" pitchFamily="34" charset="0"/>
              </a:defRPr>
            </a:lvl3pPr>
            <a:lvl4pPr marL="1905000" indent="-533400">
              <a:defRPr>
                <a:solidFill>
                  <a:schemeClr val="tx1"/>
                </a:solidFill>
                <a:latin typeface="Calibri" panose="020F0502020204030204" pitchFamily="34" charset="0"/>
              </a:defRPr>
            </a:lvl4pPr>
            <a:lvl5pPr marL="2362200" indent="-533400">
              <a:defRPr>
                <a:solidFill>
                  <a:schemeClr val="tx1"/>
                </a:solidFill>
                <a:latin typeface="Calibri" panose="020F0502020204030204" pitchFamily="34" charset="0"/>
              </a:defRPr>
            </a:lvl5pPr>
            <a:lvl6pPr marL="2819400" indent="-533400" eaLnBrk="0" fontAlgn="base" hangingPunct="0">
              <a:spcBef>
                <a:spcPct val="0"/>
              </a:spcBef>
              <a:spcAft>
                <a:spcPct val="0"/>
              </a:spcAft>
              <a:defRPr>
                <a:solidFill>
                  <a:schemeClr val="tx1"/>
                </a:solidFill>
                <a:latin typeface="Calibri" panose="020F0502020204030204" pitchFamily="34" charset="0"/>
              </a:defRPr>
            </a:lvl6pPr>
            <a:lvl7pPr marL="3276600" indent="-533400" eaLnBrk="0" fontAlgn="base" hangingPunct="0">
              <a:spcBef>
                <a:spcPct val="0"/>
              </a:spcBef>
              <a:spcAft>
                <a:spcPct val="0"/>
              </a:spcAft>
              <a:defRPr>
                <a:solidFill>
                  <a:schemeClr val="tx1"/>
                </a:solidFill>
                <a:latin typeface="Calibri" panose="020F0502020204030204" pitchFamily="34" charset="0"/>
              </a:defRPr>
            </a:lvl7pPr>
            <a:lvl8pPr marL="3733800" indent="-533400" eaLnBrk="0" fontAlgn="base" hangingPunct="0">
              <a:spcBef>
                <a:spcPct val="0"/>
              </a:spcBef>
              <a:spcAft>
                <a:spcPct val="0"/>
              </a:spcAft>
              <a:defRPr>
                <a:solidFill>
                  <a:schemeClr val="tx1"/>
                </a:solidFill>
                <a:latin typeface="Calibri" panose="020F0502020204030204" pitchFamily="34" charset="0"/>
              </a:defRPr>
            </a:lvl8pPr>
            <a:lvl9pPr marL="4191000" indent="-533400" eaLnBrk="0" fontAlgn="base" hangingPunct="0">
              <a:spcBef>
                <a:spcPct val="0"/>
              </a:spcBef>
              <a:spcAft>
                <a:spcPct val="0"/>
              </a:spcAft>
              <a:defRPr>
                <a:solidFill>
                  <a:schemeClr val="tx1"/>
                </a:solidFill>
                <a:latin typeface="Calibri" panose="020F0502020204030204" pitchFamily="34" charset="0"/>
              </a:defRPr>
            </a:lvl9pPr>
          </a:lstStyle>
          <a:p>
            <a:r>
              <a:rPr lang="th-TH" altLang="en-US" sz="4000">
                <a:solidFill>
                  <a:srgbClr val="000000"/>
                </a:solidFill>
                <a:latin typeface="Angsana New" panose="02020603050405020304" pitchFamily="18" charset="-34"/>
                <a:cs typeface="Angsana New" panose="02020603050405020304" pitchFamily="18" charset="-34"/>
              </a:rPr>
              <a:t>1.   เพื่อจัดการน้ำดำ </a:t>
            </a:r>
            <a:r>
              <a:rPr lang="en-US" altLang="en-US" sz="4000">
                <a:solidFill>
                  <a:srgbClr val="000000"/>
                </a:solidFill>
                <a:latin typeface="Angsana New" panose="02020603050405020304" pitchFamily="18" charset="-34"/>
                <a:cs typeface="Angsana New" panose="02020603050405020304" pitchFamily="18" charset="-34"/>
              </a:rPr>
              <a:t>(Black Liquor)</a:t>
            </a:r>
            <a:r>
              <a:rPr lang="th-TH" altLang="en-US" sz="4000">
                <a:solidFill>
                  <a:srgbClr val="000000"/>
                </a:solidFill>
                <a:latin typeface="Angsana New" panose="02020603050405020304" pitchFamily="18" charset="-34"/>
                <a:cs typeface="Angsana New" panose="02020603050405020304" pitchFamily="18" charset="-34"/>
              </a:rPr>
              <a:t> ที่เกิดจาก </a:t>
            </a:r>
          </a:p>
          <a:p>
            <a:r>
              <a:rPr lang="th-TH" altLang="en-US" sz="4000">
                <a:solidFill>
                  <a:srgbClr val="000000"/>
                </a:solidFill>
                <a:latin typeface="Angsana New" panose="02020603050405020304" pitchFamily="18" charset="-34"/>
                <a:cs typeface="Angsana New" panose="02020603050405020304" pitchFamily="18" charset="-34"/>
              </a:rPr>
              <a:t>      กระบวนการล้างเยื่อให้กลายเป็น </a:t>
            </a:r>
            <a:r>
              <a:rPr lang="en-US" altLang="en-US" sz="4000">
                <a:solidFill>
                  <a:srgbClr val="000000"/>
                </a:solidFill>
                <a:latin typeface="Angsana New" panose="02020603050405020304" pitchFamily="18" charset="-34"/>
                <a:cs typeface="Angsana New" panose="02020603050405020304" pitchFamily="18" charset="-34"/>
              </a:rPr>
              <a:t>Caustic Soda </a:t>
            </a:r>
            <a:r>
              <a:rPr lang="th-TH" altLang="en-US" sz="4000">
                <a:solidFill>
                  <a:srgbClr val="000000"/>
                </a:solidFill>
                <a:latin typeface="Angsana New" panose="02020603050405020304" pitchFamily="18" charset="-34"/>
                <a:cs typeface="Angsana New" panose="02020603050405020304" pitchFamily="18" charset="-34"/>
              </a:rPr>
              <a:t>เพื่อใช้เป็นสารเคมีในการต้มเยื่อกระดาษต่อไป</a:t>
            </a:r>
          </a:p>
          <a:p>
            <a:r>
              <a:rPr lang="th-TH" altLang="en-US" sz="4000">
                <a:solidFill>
                  <a:srgbClr val="000000"/>
                </a:solidFill>
                <a:latin typeface="Angsana New" panose="02020603050405020304" pitchFamily="18" charset="-34"/>
                <a:cs typeface="Angsana New" panose="02020603050405020304" pitchFamily="18" charset="-34"/>
              </a:rPr>
              <a:t>2.   ผลพลอยได้จากการผลิตจะได้ </a:t>
            </a:r>
            <a:r>
              <a:rPr lang="en-US" altLang="en-US" sz="4000">
                <a:solidFill>
                  <a:srgbClr val="000000"/>
                </a:solidFill>
                <a:latin typeface="Angsana New" panose="02020603050405020304" pitchFamily="18" charset="-34"/>
                <a:cs typeface="Angsana New" panose="02020603050405020304" pitchFamily="18" charset="-34"/>
              </a:rPr>
              <a:t>Steam </a:t>
            </a:r>
            <a:r>
              <a:rPr lang="th-TH" altLang="en-US" sz="4000">
                <a:solidFill>
                  <a:srgbClr val="000000"/>
                </a:solidFill>
                <a:latin typeface="Angsana New" panose="02020603050405020304" pitchFamily="18" charset="-34"/>
                <a:cs typeface="Angsana New" panose="02020603050405020304" pitchFamily="18" charset="-34"/>
              </a:rPr>
              <a:t>และ ไฟฟ้านำไปใช้ในกระบวนการผลิตต่อไป</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521220"/>
                                        </p:tgtEl>
                                        <p:attrNameLst>
                                          <p:attrName>style.visibility</p:attrName>
                                        </p:attrNameLst>
                                      </p:cBhvr>
                                      <p:to>
                                        <p:strVal val="visible"/>
                                      </p:to>
                                    </p:set>
                                    <p:animEffect transition="in" filter="slide(fromBottom)">
                                      <p:cBhvr>
                                        <p:cTn id="7" dur="500"/>
                                        <p:tgtEl>
                                          <p:spTgt spid="5212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1220"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355" name="WordArt 4"/>
          <p:cNvSpPr>
            <a:spLocks noChangeArrowheads="1" noChangeShapeType="1" noTextEdit="1"/>
          </p:cNvSpPr>
          <p:nvPr/>
        </p:nvSpPr>
        <p:spPr bwMode="auto">
          <a:xfrm>
            <a:off x="1708150" y="242888"/>
            <a:ext cx="5727700" cy="514350"/>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200" kern="10">
                <a:gradFill rotWithShape="1">
                  <a:gsLst>
                    <a:gs pos="0">
                      <a:srgbClr val="660066"/>
                    </a:gs>
                    <a:gs pos="100000">
                      <a:srgbClr val="FF0000"/>
                    </a:gs>
                  </a:gsLst>
                  <a:path path="rect">
                    <a:fillToRect r="100000" b="100000"/>
                  </a:path>
                </a:gradFill>
                <a:effectLst>
                  <a:outerShdw dist="35921" dir="2700000" algn="ctr" rotWithShape="0">
                    <a:srgbClr val="C0C0C0">
                      <a:alpha val="79999"/>
                    </a:srgbClr>
                  </a:outerShdw>
                </a:effectLst>
                <a:latin typeface="Impact" panose="020B0806030902050204" pitchFamily="34" charset="0"/>
              </a:rPr>
              <a:t>Chemical Recovery Section</a:t>
            </a:r>
          </a:p>
        </p:txBody>
      </p:sp>
      <p:sp>
        <p:nvSpPr>
          <p:cNvPr id="484356" name="Rectangle 6"/>
          <p:cNvSpPr>
            <a:spLocks noChangeArrowheads="1"/>
          </p:cNvSpPr>
          <p:nvPr/>
        </p:nvSpPr>
        <p:spPr bwMode="auto">
          <a:xfrm>
            <a:off x="415925" y="2763838"/>
            <a:ext cx="1298575" cy="2217737"/>
          </a:xfrm>
          <a:prstGeom prst="rect">
            <a:avLst/>
          </a:prstGeom>
          <a:noFill/>
          <a:ln w="31750"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84357" name="Text Box 7"/>
          <p:cNvSpPr txBox="1">
            <a:spLocks noChangeArrowheads="1"/>
          </p:cNvSpPr>
          <p:nvPr/>
        </p:nvSpPr>
        <p:spPr bwMode="auto">
          <a:xfrm>
            <a:off x="447675" y="3416300"/>
            <a:ext cx="1271588" cy="793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lnSpc>
                <a:spcPct val="90000"/>
              </a:lnSpc>
              <a:spcBef>
                <a:spcPct val="50000"/>
              </a:spcBef>
              <a:buFontTx/>
              <a:buNone/>
            </a:pPr>
            <a:r>
              <a:rPr lang="en-US" altLang="en-US" sz="2000">
                <a:solidFill>
                  <a:srgbClr val="000000"/>
                </a:solidFill>
                <a:cs typeface="LilyUPC" panose="020B0604020202020204" pitchFamily="34" charset="-34"/>
              </a:rPr>
              <a:t>Digester</a:t>
            </a:r>
          </a:p>
          <a:p>
            <a:pPr algn="ctr">
              <a:lnSpc>
                <a:spcPct val="90000"/>
              </a:lnSpc>
              <a:spcBef>
                <a:spcPct val="50000"/>
              </a:spcBef>
              <a:buFontTx/>
              <a:buNone/>
            </a:pPr>
            <a:r>
              <a:rPr lang="th-TH" altLang="en-US" sz="2000">
                <a:solidFill>
                  <a:srgbClr val="000000"/>
                </a:solidFill>
                <a:cs typeface="LilyUPC" panose="020B0604020202020204" pitchFamily="34" charset="-34"/>
              </a:rPr>
              <a:t>(หม้อต้มเยื่อ)</a:t>
            </a:r>
          </a:p>
        </p:txBody>
      </p:sp>
      <p:sp>
        <p:nvSpPr>
          <p:cNvPr id="484358" name="Rectangle 10"/>
          <p:cNvSpPr>
            <a:spLocks noChangeArrowheads="1"/>
          </p:cNvSpPr>
          <p:nvPr/>
        </p:nvSpPr>
        <p:spPr bwMode="auto">
          <a:xfrm>
            <a:off x="3244850" y="1931988"/>
            <a:ext cx="2076450" cy="674687"/>
          </a:xfrm>
          <a:prstGeom prst="rect">
            <a:avLst/>
          </a:prstGeom>
          <a:noFill/>
          <a:ln w="31750"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84359" name="Rectangle 11"/>
          <p:cNvSpPr>
            <a:spLocks noChangeArrowheads="1"/>
          </p:cNvSpPr>
          <p:nvPr/>
        </p:nvSpPr>
        <p:spPr bwMode="auto">
          <a:xfrm>
            <a:off x="6721475" y="2973388"/>
            <a:ext cx="1482725" cy="2008187"/>
          </a:xfrm>
          <a:prstGeom prst="rect">
            <a:avLst/>
          </a:prstGeom>
          <a:noFill/>
          <a:ln w="31750"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84360" name="Rectangle 12"/>
          <p:cNvSpPr>
            <a:spLocks noChangeArrowheads="1"/>
          </p:cNvSpPr>
          <p:nvPr/>
        </p:nvSpPr>
        <p:spPr bwMode="auto">
          <a:xfrm>
            <a:off x="3116263" y="5297488"/>
            <a:ext cx="2427287" cy="839787"/>
          </a:xfrm>
          <a:prstGeom prst="rect">
            <a:avLst/>
          </a:prstGeom>
          <a:noFill/>
          <a:ln w="31750"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84361" name="Text Box 13"/>
          <p:cNvSpPr txBox="1">
            <a:spLocks noChangeArrowheads="1"/>
          </p:cNvSpPr>
          <p:nvPr/>
        </p:nvSpPr>
        <p:spPr bwMode="auto">
          <a:xfrm>
            <a:off x="6765925" y="3473450"/>
            <a:ext cx="1397000" cy="733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lnSpc>
                <a:spcPct val="80000"/>
              </a:lnSpc>
              <a:spcBef>
                <a:spcPct val="50000"/>
              </a:spcBef>
              <a:buFontTx/>
              <a:buNone/>
            </a:pPr>
            <a:r>
              <a:rPr lang="en-US" altLang="en-US" sz="2000">
                <a:solidFill>
                  <a:srgbClr val="9E0075"/>
                </a:solidFill>
                <a:cs typeface="LilyUPC" panose="020B0604020202020204" pitchFamily="34" charset="-34"/>
              </a:rPr>
              <a:t>Recovery</a:t>
            </a:r>
          </a:p>
          <a:p>
            <a:pPr algn="ctr">
              <a:lnSpc>
                <a:spcPct val="80000"/>
              </a:lnSpc>
              <a:spcBef>
                <a:spcPct val="50000"/>
              </a:spcBef>
              <a:buFontTx/>
              <a:buNone/>
            </a:pPr>
            <a:r>
              <a:rPr lang="en-US" altLang="en-US" sz="2000">
                <a:solidFill>
                  <a:srgbClr val="9E0075"/>
                </a:solidFill>
                <a:cs typeface="LilyUPC" panose="020B0604020202020204" pitchFamily="34" charset="-34"/>
              </a:rPr>
              <a:t>Boiler</a:t>
            </a:r>
            <a:endParaRPr lang="th-TH" altLang="en-US" sz="2000">
              <a:solidFill>
                <a:srgbClr val="9E0075"/>
              </a:solidFill>
              <a:cs typeface="LilyUPC" panose="020B0604020202020204" pitchFamily="34" charset="-34"/>
            </a:endParaRPr>
          </a:p>
        </p:txBody>
      </p:sp>
      <p:sp>
        <p:nvSpPr>
          <p:cNvPr id="484362" name="Line 16"/>
          <p:cNvSpPr>
            <a:spLocks noChangeShapeType="1"/>
          </p:cNvSpPr>
          <p:nvPr/>
        </p:nvSpPr>
        <p:spPr bwMode="auto">
          <a:xfrm>
            <a:off x="525463" y="1684338"/>
            <a:ext cx="0" cy="1079500"/>
          </a:xfrm>
          <a:prstGeom prst="line">
            <a:avLst/>
          </a:prstGeom>
          <a:noFill/>
          <a:ln w="31750">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4363" name="Line 17"/>
          <p:cNvSpPr>
            <a:spLocks noChangeShapeType="1"/>
          </p:cNvSpPr>
          <p:nvPr/>
        </p:nvSpPr>
        <p:spPr bwMode="auto">
          <a:xfrm>
            <a:off x="525463" y="4981575"/>
            <a:ext cx="0" cy="525463"/>
          </a:xfrm>
          <a:prstGeom prst="line">
            <a:avLst/>
          </a:prstGeom>
          <a:noFill/>
          <a:ln w="31750">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4364" name="Line 18"/>
          <p:cNvSpPr>
            <a:spLocks noChangeShapeType="1"/>
          </p:cNvSpPr>
          <p:nvPr/>
        </p:nvSpPr>
        <p:spPr bwMode="auto">
          <a:xfrm>
            <a:off x="7440613" y="4981575"/>
            <a:ext cx="0" cy="525463"/>
          </a:xfrm>
          <a:prstGeom prst="line">
            <a:avLst/>
          </a:prstGeom>
          <a:noFill/>
          <a:ln w="31750">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4365" name="Line 19"/>
          <p:cNvSpPr>
            <a:spLocks noChangeShapeType="1"/>
          </p:cNvSpPr>
          <p:nvPr/>
        </p:nvSpPr>
        <p:spPr bwMode="auto">
          <a:xfrm flipH="1">
            <a:off x="5543550" y="5607050"/>
            <a:ext cx="1897063" cy="0"/>
          </a:xfrm>
          <a:prstGeom prst="line">
            <a:avLst/>
          </a:prstGeom>
          <a:noFill/>
          <a:ln w="31750">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4366" name="Line 20"/>
          <p:cNvSpPr>
            <a:spLocks noChangeShapeType="1"/>
          </p:cNvSpPr>
          <p:nvPr/>
        </p:nvSpPr>
        <p:spPr bwMode="auto">
          <a:xfrm flipH="1">
            <a:off x="7688263" y="5607050"/>
            <a:ext cx="763587" cy="0"/>
          </a:xfrm>
          <a:prstGeom prst="line">
            <a:avLst/>
          </a:prstGeom>
          <a:noFill/>
          <a:ln w="31750">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4367" name="Freeform 21"/>
          <p:cNvSpPr>
            <a:spLocks/>
          </p:cNvSpPr>
          <p:nvPr/>
        </p:nvSpPr>
        <p:spPr bwMode="auto">
          <a:xfrm>
            <a:off x="1438275" y="4981575"/>
            <a:ext cx="1663700" cy="630238"/>
          </a:xfrm>
          <a:custGeom>
            <a:avLst/>
            <a:gdLst>
              <a:gd name="T0" fmla="*/ 2147483646 w 1048"/>
              <a:gd name="T1" fmla="*/ 2147483646 h 444"/>
              <a:gd name="T2" fmla="*/ 0 w 1048"/>
              <a:gd name="T3" fmla="*/ 2147483646 h 444"/>
              <a:gd name="T4" fmla="*/ 0 w 1048"/>
              <a:gd name="T5" fmla="*/ 0 h 444"/>
              <a:gd name="T6" fmla="*/ 0 60000 65536"/>
              <a:gd name="T7" fmla="*/ 0 60000 65536"/>
              <a:gd name="T8" fmla="*/ 0 60000 65536"/>
            </a:gdLst>
            <a:ahLst/>
            <a:cxnLst>
              <a:cxn ang="T6">
                <a:pos x="T0" y="T1"/>
              </a:cxn>
              <a:cxn ang="T7">
                <a:pos x="T2" y="T3"/>
              </a:cxn>
              <a:cxn ang="T8">
                <a:pos x="T4" y="T5"/>
              </a:cxn>
            </a:cxnLst>
            <a:rect l="0" t="0" r="r" b="b"/>
            <a:pathLst>
              <a:path w="1048" h="444">
                <a:moveTo>
                  <a:pt x="1048" y="444"/>
                </a:moveTo>
                <a:lnTo>
                  <a:pt x="0" y="444"/>
                </a:lnTo>
                <a:lnTo>
                  <a:pt x="0" y="0"/>
                </a:lnTo>
              </a:path>
            </a:pathLst>
          </a:custGeom>
          <a:noFill/>
          <a:ln w="31750" cap="flat" cmpd="sng">
            <a:solidFill>
              <a:schemeClr val="tx1"/>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4368" name="Freeform 22"/>
          <p:cNvSpPr>
            <a:spLocks/>
          </p:cNvSpPr>
          <p:nvPr/>
        </p:nvSpPr>
        <p:spPr bwMode="auto">
          <a:xfrm>
            <a:off x="1317625" y="2209800"/>
            <a:ext cx="1927225" cy="554038"/>
          </a:xfrm>
          <a:custGeom>
            <a:avLst/>
            <a:gdLst>
              <a:gd name="T0" fmla="*/ 0 w 708"/>
              <a:gd name="T1" fmla="*/ 2147483646 h 312"/>
              <a:gd name="T2" fmla="*/ 0 w 708"/>
              <a:gd name="T3" fmla="*/ 0 h 312"/>
              <a:gd name="T4" fmla="*/ 2147483646 w 708"/>
              <a:gd name="T5" fmla="*/ 0 h 312"/>
              <a:gd name="T6" fmla="*/ 0 60000 65536"/>
              <a:gd name="T7" fmla="*/ 0 60000 65536"/>
              <a:gd name="T8" fmla="*/ 0 60000 65536"/>
            </a:gdLst>
            <a:ahLst/>
            <a:cxnLst>
              <a:cxn ang="T6">
                <a:pos x="T0" y="T1"/>
              </a:cxn>
              <a:cxn ang="T7">
                <a:pos x="T2" y="T3"/>
              </a:cxn>
              <a:cxn ang="T8">
                <a:pos x="T4" y="T5"/>
              </a:cxn>
            </a:cxnLst>
            <a:rect l="0" t="0" r="r" b="b"/>
            <a:pathLst>
              <a:path w="708" h="312">
                <a:moveTo>
                  <a:pt x="0" y="312"/>
                </a:moveTo>
                <a:lnTo>
                  <a:pt x="0" y="0"/>
                </a:lnTo>
                <a:lnTo>
                  <a:pt x="708" y="0"/>
                </a:lnTo>
              </a:path>
            </a:pathLst>
          </a:custGeom>
          <a:noFill/>
          <a:ln w="31750" cap="flat" cmpd="sng">
            <a:solidFill>
              <a:schemeClr val="tx1"/>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4369" name="Freeform 25"/>
          <p:cNvSpPr>
            <a:spLocks/>
          </p:cNvSpPr>
          <p:nvPr/>
        </p:nvSpPr>
        <p:spPr bwMode="auto">
          <a:xfrm>
            <a:off x="5321300" y="2224088"/>
            <a:ext cx="2036763" cy="749300"/>
          </a:xfrm>
          <a:custGeom>
            <a:avLst/>
            <a:gdLst>
              <a:gd name="T0" fmla="*/ 0 w 454"/>
              <a:gd name="T1" fmla="*/ 0 h 472"/>
              <a:gd name="T2" fmla="*/ 2147483646 w 454"/>
              <a:gd name="T3" fmla="*/ 0 h 472"/>
              <a:gd name="T4" fmla="*/ 2147483646 w 454"/>
              <a:gd name="T5" fmla="*/ 2147483646 h 472"/>
              <a:gd name="T6" fmla="*/ 0 60000 65536"/>
              <a:gd name="T7" fmla="*/ 0 60000 65536"/>
              <a:gd name="T8" fmla="*/ 0 60000 65536"/>
            </a:gdLst>
            <a:ahLst/>
            <a:cxnLst>
              <a:cxn ang="T6">
                <a:pos x="T0" y="T1"/>
              </a:cxn>
              <a:cxn ang="T7">
                <a:pos x="T2" y="T3"/>
              </a:cxn>
              <a:cxn ang="T8">
                <a:pos x="T4" y="T5"/>
              </a:cxn>
            </a:cxnLst>
            <a:rect l="0" t="0" r="r" b="b"/>
            <a:pathLst>
              <a:path w="454" h="472">
                <a:moveTo>
                  <a:pt x="0" y="0"/>
                </a:moveTo>
                <a:lnTo>
                  <a:pt x="454" y="0"/>
                </a:lnTo>
                <a:lnTo>
                  <a:pt x="454" y="472"/>
                </a:lnTo>
              </a:path>
            </a:pathLst>
          </a:custGeom>
          <a:noFill/>
          <a:ln w="31750" cap="flat" cmpd="sng">
            <a:solidFill>
              <a:schemeClr val="tx1"/>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4370" name="Text Box 26"/>
          <p:cNvSpPr txBox="1">
            <a:spLocks noChangeArrowheads="1"/>
          </p:cNvSpPr>
          <p:nvPr/>
        </p:nvSpPr>
        <p:spPr bwMode="auto">
          <a:xfrm>
            <a:off x="2898775" y="5578475"/>
            <a:ext cx="2882900" cy="31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lnSpc>
                <a:spcPct val="80000"/>
              </a:lnSpc>
              <a:spcBef>
                <a:spcPct val="50000"/>
              </a:spcBef>
              <a:buFontTx/>
              <a:buNone/>
            </a:pPr>
            <a:r>
              <a:rPr lang="en-US" altLang="en-US" sz="1800">
                <a:solidFill>
                  <a:srgbClr val="9E0075"/>
                </a:solidFill>
                <a:cs typeface="LilyUPC" panose="020B0604020202020204" pitchFamily="34" charset="-34"/>
              </a:rPr>
              <a:t>Recausticizing Plant</a:t>
            </a:r>
            <a:endParaRPr lang="th-TH" altLang="en-US" sz="1800">
              <a:solidFill>
                <a:srgbClr val="9E0075"/>
              </a:solidFill>
              <a:cs typeface="LilyUPC" panose="020B0604020202020204" pitchFamily="34" charset="-34"/>
            </a:endParaRPr>
          </a:p>
        </p:txBody>
      </p:sp>
      <p:sp>
        <p:nvSpPr>
          <p:cNvPr id="484371" name="Text Box 27"/>
          <p:cNvSpPr txBox="1">
            <a:spLocks noChangeArrowheads="1"/>
          </p:cNvSpPr>
          <p:nvPr/>
        </p:nvSpPr>
        <p:spPr bwMode="auto">
          <a:xfrm>
            <a:off x="5027613" y="5668963"/>
            <a:ext cx="2881312" cy="31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lnSpc>
                <a:spcPct val="80000"/>
              </a:lnSpc>
              <a:spcBef>
                <a:spcPct val="50000"/>
              </a:spcBef>
              <a:buFontTx/>
              <a:buNone/>
            </a:pPr>
            <a:r>
              <a:rPr lang="en-US" altLang="en-US" sz="1800">
                <a:solidFill>
                  <a:srgbClr val="00CC00"/>
                </a:solidFill>
                <a:cs typeface="LilyUPC" panose="020B0604020202020204" pitchFamily="34" charset="-34"/>
              </a:rPr>
              <a:t>Green Liquor</a:t>
            </a:r>
            <a:endParaRPr lang="th-TH" altLang="en-US" sz="1800">
              <a:solidFill>
                <a:srgbClr val="00CC00"/>
              </a:solidFill>
              <a:cs typeface="LilyUPC" panose="020B0604020202020204" pitchFamily="34" charset="-34"/>
            </a:endParaRPr>
          </a:p>
        </p:txBody>
      </p:sp>
      <p:sp>
        <p:nvSpPr>
          <p:cNvPr id="484372" name="Text Box 28"/>
          <p:cNvSpPr txBox="1">
            <a:spLocks noChangeArrowheads="1"/>
          </p:cNvSpPr>
          <p:nvPr/>
        </p:nvSpPr>
        <p:spPr bwMode="auto">
          <a:xfrm>
            <a:off x="7991475" y="5668963"/>
            <a:ext cx="1009650" cy="31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r">
              <a:lnSpc>
                <a:spcPct val="80000"/>
              </a:lnSpc>
              <a:spcBef>
                <a:spcPct val="50000"/>
              </a:spcBef>
              <a:buFontTx/>
              <a:buNone/>
            </a:pPr>
            <a:r>
              <a:rPr lang="en-US" altLang="en-US" sz="1800">
                <a:cs typeface="LilyUPC" panose="020B0604020202020204" pitchFamily="34" charset="-34"/>
              </a:rPr>
              <a:t>Water</a:t>
            </a:r>
            <a:endParaRPr lang="th-TH" altLang="en-US" sz="1800">
              <a:cs typeface="LilyUPC" panose="020B0604020202020204" pitchFamily="34" charset="-34"/>
            </a:endParaRPr>
          </a:p>
        </p:txBody>
      </p:sp>
      <p:sp>
        <p:nvSpPr>
          <p:cNvPr id="484373" name="Text Box 29"/>
          <p:cNvSpPr txBox="1">
            <a:spLocks noChangeArrowheads="1"/>
          </p:cNvSpPr>
          <p:nvPr/>
        </p:nvSpPr>
        <p:spPr bwMode="auto">
          <a:xfrm>
            <a:off x="7296150" y="5070475"/>
            <a:ext cx="1008063" cy="31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r">
              <a:lnSpc>
                <a:spcPct val="80000"/>
              </a:lnSpc>
              <a:spcBef>
                <a:spcPct val="50000"/>
              </a:spcBef>
              <a:buFontTx/>
              <a:buNone/>
            </a:pPr>
            <a:r>
              <a:rPr lang="en-US" altLang="en-US" sz="1800">
                <a:solidFill>
                  <a:srgbClr val="FF0000"/>
                </a:solidFill>
                <a:cs typeface="LilyUPC" panose="020B0604020202020204" pitchFamily="34" charset="-34"/>
              </a:rPr>
              <a:t>Smelt</a:t>
            </a:r>
            <a:endParaRPr lang="th-TH" altLang="en-US" sz="1800">
              <a:solidFill>
                <a:srgbClr val="FF0000"/>
              </a:solidFill>
              <a:cs typeface="LilyUPC" panose="020B0604020202020204" pitchFamily="34" charset="-34"/>
            </a:endParaRPr>
          </a:p>
        </p:txBody>
      </p:sp>
      <p:sp>
        <p:nvSpPr>
          <p:cNvPr id="484374" name="Text Box 30"/>
          <p:cNvSpPr txBox="1">
            <a:spLocks noChangeArrowheads="1"/>
          </p:cNvSpPr>
          <p:nvPr/>
        </p:nvSpPr>
        <p:spPr bwMode="auto">
          <a:xfrm>
            <a:off x="5726113" y="1725613"/>
            <a:ext cx="1892300" cy="53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80000"/>
              </a:lnSpc>
              <a:spcBef>
                <a:spcPct val="50000"/>
              </a:spcBef>
              <a:buFontTx/>
              <a:buNone/>
            </a:pPr>
            <a:r>
              <a:rPr lang="en-US" altLang="en-US" sz="1800">
                <a:solidFill>
                  <a:srgbClr val="000000"/>
                </a:solidFill>
                <a:cs typeface="LilyUPC" panose="020B0604020202020204" pitchFamily="34" charset="-34"/>
              </a:rPr>
              <a:t>Strong Black Liquor</a:t>
            </a:r>
            <a:endParaRPr lang="th-TH" altLang="en-US" sz="1800">
              <a:solidFill>
                <a:srgbClr val="000000"/>
              </a:solidFill>
              <a:cs typeface="LilyUPC" panose="020B0604020202020204" pitchFamily="34" charset="-34"/>
            </a:endParaRPr>
          </a:p>
        </p:txBody>
      </p:sp>
      <p:sp>
        <p:nvSpPr>
          <p:cNvPr id="484375" name="Text Box 31"/>
          <p:cNvSpPr txBox="1">
            <a:spLocks noChangeArrowheads="1"/>
          </p:cNvSpPr>
          <p:nvPr/>
        </p:nvSpPr>
        <p:spPr bwMode="auto">
          <a:xfrm>
            <a:off x="3336925" y="2098675"/>
            <a:ext cx="1892300" cy="31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lnSpc>
                <a:spcPct val="80000"/>
              </a:lnSpc>
              <a:spcBef>
                <a:spcPct val="50000"/>
              </a:spcBef>
              <a:buFontTx/>
              <a:buNone/>
            </a:pPr>
            <a:r>
              <a:rPr lang="en-US" altLang="en-US" sz="1800">
                <a:solidFill>
                  <a:srgbClr val="9E0075"/>
                </a:solidFill>
                <a:cs typeface="LilyUPC" panose="020B0604020202020204" pitchFamily="34" charset="-34"/>
              </a:rPr>
              <a:t>Evaporator</a:t>
            </a:r>
            <a:endParaRPr lang="th-TH" altLang="en-US" sz="1800">
              <a:solidFill>
                <a:srgbClr val="9E0075"/>
              </a:solidFill>
              <a:cs typeface="LilyUPC" panose="020B0604020202020204" pitchFamily="34" charset="-34"/>
            </a:endParaRPr>
          </a:p>
        </p:txBody>
      </p:sp>
      <p:sp>
        <p:nvSpPr>
          <p:cNvPr id="484376" name="Text Box 32"/>
          <p:cNvSpPr txBox="1">
            <a:spLocks noChangeArrowheads="1"/>
          </p:cNvSpPr>
          <p:nvPr/>
        </p:nvSpPr>
        <p:spPr bwMode="auto">
          <a:xfrm>
            <a:off x="1484313" y="1693863"/>
            <a:ext cx="1617662" cy="53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80000"/>
              </a:lnSpc>
              <a:spcBef>
                <a:spcPct val="50000"/>
              </a:spcBef>
              <a:buFontTx/>
              <a:buNone/>
            </a:pPr>
            <a:r>
              <a:rPr lang="en-US" altLang="en-US" sz="1800">
                <a:solidFill>
                  <a:srgbClr val="000000"/>
                </a:solidFill>
                <a:cs typeface="LilyUPC" panose="020B0604020202020204" pitchFamily="34" charset="-34"/>
              </a:rPr>
              <a:t>Weak Black Liquor</a:t>
            </a:r>
            <a:endParaRPr lang="th-TH" altLang="en-US" sz="1800">
              <a:solidFill>
                <a:srgbClr val="000000"/>
              </a:solidFill>
              <a:cs typeface="LilyUPC" panose="020B0604020202020204" pitchFamily="34" charset="-34"/>
            </a:endParaRPr>
          </a:p>
        </p:txBody>
      </p:sp>
      <p:sp>
        <p:nvSpPr>
          <p:cNvPr id="484377" name="Text Box 33"/>
          <p:cNvSpPr txBox="1">
            <a:spLocks noChangeArrowheads="1"/>
          </p:cNvSpPr>
          <p:nvPr/>
        </p:nvSpPr>
        <p:spPr bwMode="auto">
          <a:xfrm>
            <a:off x="-117475" y="1352550"/>
            <a:ext cx="2555875" cy="31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lnSpc>
                <a:spcPct val="80000"/>
              </a:lnSpc>
              <a:spcBef>
                <a:spcPct val="50000"/>
              </a:spcBef>
              <a:buFontTx/>
              <a:buNone/>
            </a:pPr>
            <a:r>
              <a:rPr lang="en-US" altLang="en-US" sz="1800">
                <a:solidFill>
                  <a:srgbClr val="9E0075"/>
                </a:solidFill>
                <a:cs typeface="EucrosiaUPC" panose="02020603050405020304" pitchFamily="18" charset="-34"/>
              </a:rPr>
              <a:t>Wood/Non-Wood</a:t>
            </a:r>
            <a:endParaRPr lang="th-TH" altLang="en-US" sz="1800">
              <a:solidFill>
                <a:srgbClr val="9E0075"/>
              </a:solidFill>
              <a:cs typeface="EucrosiaUPC" panose="02020603050405020304" pitchFamily="18" charset="-34"/>
            </a:endParaRPr>
          </a:p>
        </p:txBody>
      </p:sp>
      <p:sp>
        <p:nvSpPr>
          <p:cNvPr id="484378" name="Text Box 34"/>
          <p:cNvSpPr txBox="1">
            <a:spLocks noChangeArrowheads="1"/>
          </p:cNvSpPr>
          <p:nvPr/>
        </p:nvSpPr>
        <p:spPr bwMode="auto">
          <a:xfrm>
            <a:off x="79375" y="5559425"/>
            <a:ext cx="1879600" cy="379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80000"/>
              </a:lnSpc>
              <a:spcBef>
                <a:spcPct val="50000"/>
              </a:spcBef>
              <a:buFontTx/>
              <a:buNone/>
            </a:pPr>
            <a:r>
              <a:rPr lang="th-TH" altLang="en-US" sz="2200">
                <a:solidFill>
                  <a:srgbClr val="FF0000"/>
                </a:solidFill>
                <a:cs typeface="EucrosiaUPC" panose="02020603050405020304" pitchFamily="18" charset="-34"/>
              </a:rPr>
              <a:t>เยื่อกระดาษ</a:t>
            </a:r>
          </a:p>
        </p:txBody>
      </p:sp>
      <p:sp>
        <p:nvSpPr>
          <p:cNvPr id="484379" name="Text Box 35"/>
          <p:cNvSpPr txBox="1">
            <a:spLocks noChangeArrowheads="1"/>
          </p:cNvSpPr>
          <p:nvPr/>
        </p:nvSpPr>
        <p:spPr bwMode="auto">
          <a:xfrm>
            <a:off x="447675" y="5764213"/>
            <a:ext cx="2928938" cy="668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lnSpc>
                <a:spcPct val="80000"/>
              </a:lnSpc>
              <a:spcBef>
                <a:spcPct val="50000"/>
              </a:spcBef>
              <a:buFontTx/>
              <a:buNone/>
            </a:pPr>
            <a:r>
              <a:rPr lang="en-US" altLang="en-US" sz="1800">
                <a:cs typeface="LilyUPC" panose="020B0604020202020204" pitchFamily="34" charset="-34"/>
              </a:rPr>
              <a:t>Caustic soda/</a:t>
            </a:r>
          </a:p>
          <a:p>
            <a:pPr algn="ctr">
              <a:lnSpc>
                <a:spcPct val="80000"/>
              </a:lnSpc>
              <a:spcBef>
                <a:spcPct val="50000"/>
              </a:spcBef>
              <a:buFontTx/>
              <a:buNone/>
            </a:pPr>
            <a:r>
              <a:rPr lang="en-US" altLang="en-US" sz="1800">
                <a:solidFill>
                  <a:srgbClr val="000000"/>
                </a:solidFill>
                <a:cs typeface="LilyUPC" panose="020B0604020202020204" pitchFamily="34" charset="-34"/>
              </a:rPr>
              <a:t>Sodium Sulfide</a:t>
            </a:r>
            <a:endParaRPr lang="th-TH" altLang="en-US" sz="1800">
              <a:solidFill>
                <a:srgbClr val="000000"/>
              </a:solidFill>
              <a:cs typeface="LilyUPC" panose="020B0604020202020204" pitchFamily="34" charset="-34"/>
            </a:endParaRPr>
          </a:p>
        </p:txBody>
      </p:sp>
      <p:grpSp>
        <p:nvGrpSpPr>
          <p:cNvPr id="258092" name="Group 44"/>
          <p:cNvGrpSpPr>
            <a:grpSpLocks/>
          </p:cNvGrpSpPr>
          <p:nvPr/>
        </p:nvGrpSpPr>
        <p:grpSpPr bwMode="auto">
          <a:xfrm>
            <a:off x="3467100" y="4062413"/>
            <a:ext cx="3559175" cy="1263650"/>
            <a:chOff x="2184" y="2559"/>
            <a:chExt cx="2242" cy="796"/>
          </a:xfrm>
        </p:grpSpPr>
        <p:sp>
          <p:nvSpPr>
            <p:cNvPr id="484385" name="Line 36"/>
            <p:cNvSpPr>
              <a:spLocks noChangeShapeType="1"/>
            </p:cNvSpPr>
            <p:nvPr/>
          </p:nvSpPr>
          <p:spPr bwMode="auto">
            <a:xfrm flipV="1">
              <a:off x="3058" y="2984"/>
              <a:ext cx="0" cy="353"/>
            </a:xfrm>
            <a:prstGeom prst="line">
              <a:avLst/>
            </a:prstGeom>
            <a:noFill/>
            <a:ln w="317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4386" name="Rectangle 37"/>
            <p:cNvSpPr>
              <a:spLocks noChangeArrowheads="1"/>
            </p:cNvSpPr>
            <p:nvPr/>
          </p:nvSpPr>
          <p:spPr bwMode="auto">
            <a:xfrm>
              <a:off x="2513" y="2559"/>
              <a:ext cx="1308" cy="425"/>
            </a:xfrm>
            <a:prstGeom prst="rect">
              <a:avLst/>
            </a:prstGeom>
            <a:noFill/>
            <a:ln w="31750"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84387" name="Text Box 38"/>
            <p:cNvSpPr txBox="1">
              <a:spLocks noChangeArrowheads="1"/>
            </p:cNvSpPr>
            <p:nvPr/>
          </p:nvSpPr>
          <p:spPr bwMode="auto">
            <a:xfrm>
              <a:off x="2259" y="2650"/>
              <a:ext cx="1816" cy="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1750"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lnSpc>
                  <a:spcPct val="80000"/>
                </a:lnSpc>
                <a:spcBef>
                  <a:spcPct val="50000"/>
                </a:spcBef>
                <a:buFontTx/>
                <a:buNone/>
              </a:pPr>
              <a:r>
                <a:rPr lang="en-US" altLang="en-US" sz="1800">
                  <a:solidFill>
                    <a:srgbClr val="9E0075"/>
                  </a:solidFill>
                  <a:cs typeface="LilyUPC" panose="020B0604020202020204" pitchFamily="34" charset="-34"/>
                </a:rPr>
                <a:t>Lime Kiln</a:t>
              </a:r>
              <a:endParaRPr lang="th-TH" altLang="en-US" sz="1800">
                <a:solidFill>
                  <a:srgbClr val="9E0075"/>
                </a:solidFill>
                <a:cs typeface="LilyUPC" panose="020B0604020202020204" pitchFamily="34" charset="-34"/>
              </a:endParaRPr>
            </a:p>
          </p:txBody>
        </p:sp>
        <p:sp>
          <p:nvSpPr>
            <p:cNvPr id="484388" name="Line 41"/>
            <p:cNvSpPr>
              <a:spLocks noChangeShapeType="1"/>
            </p:cNvSpPr>
            <p:nvPr/>
          </p:nvSpPr>
          <p:spPr bwMode="auto">
            <a:xfrm>
              <a:off x="3363" y="3002"/>
              <a:ext cx="0" cy="353"/>
            </a:xfrm>
            <a:prstGeom prst="line">
              <a:avLst/>
            </a:prstGeom>
            <a:noFill/>
            <a:ln w="317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4389" name="Text Box 42"/>
            <p:cNvSpPr txBox="1">
              <a:spLocks noChangeArrowheads="1"/>
            </p:cNvSpPr>
            <p:nvPr/>
          </p:nvSpPr>
          <p:spPr bwMode="auto">
            <a:xfrm>
              <a:off x="2184" y="3040"/>
              <a:ext cx="872" cy="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1750"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lnSpc>
                  <a:spcPct val="80000"/>
                </a:lnSpc>
                <a:spcBef>
                  <a:spcPct val="50000"/>
                </a:spcBef>
                <a:buFontTx/>
                <a:buNone/>
              </a:pPr>
              <a:r>
                <a:rPr lang="en-US" altLang="en-US" sz="1800">
                  <a:cs typeface="LilyUPC" panose="020B0604020202020204" pitchFamily="34" charset="-34"/>
                </a:rPr>
                <a:t>Lime Mud</a:t>
              </a:r>
              <a:endParaRPr lang="th-TH" altLang="en-US" sz="1800">
                <a:cs typeface="LilyUPC" panose="020B0604020202020204" pitchFamily="34" charset="-34"/>
              </a:endParaRPr>
            </a:p>
          </p:txBody>
        </p:sp>
        <p:sp>
          <p:nvSpPr>
            <p:cNvPr id="484390" name="Text Box 43"/>
            <p:cNvSpPr txBox="1">
              <a:spLocks noChangeArrowheads="1"/>
            </p:cNvSpPr>
            <p:nvPr/>
          </p:nvSpPr>
          <p:spPr bwMode="auto">
            <a:xfrm>
              <a:off x="3215" y="3040"/>
              <a:ext cx="1211" cy="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1750"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lnSpc>
                  <a:spcPct val="80000"/>
                </a:lnSpc>
                <a:spcBef>
                  <a:spcPct val="50000"/>
                </a:spcBef>
                <a:buFontTx/>
                <a:buNone/>
              </a:pPr>
              <a:r>
                <a:rPr lang="en-US" altLang="en-US" sz="1800">
                  <a:cs typeface="LilyUPC" panose="020B0604020202020204" pitchFamily="34" charset="-34"/>
                </a:rPr>
                <a:t>Quick Lime</a:t>
              </a:r>
              <a:endParaRPr lang="th-TH" altLang="en-US" sz="1800">
                <a:cs typeface="LilyUPC" panose="020B0604020202020204" pitchFamily="34" charset="-34"/>
              </a:endParaRPr>
            </a:p>
          </p:txBody>
        </p:sp>
      </p:grpSp>
      <p:grpSp>
        <p:nvGrpSpPr>
          <p:cNvPr id="258094" name="Group 46"/>
          <p:cNvGrpSpPr>
            <a:grpSpLocks/>
          </p:cNvGrpSpPr>
          <p:nvPr/>
        </p:nvGrpSpPr>
        <p:grpSpPr bwMode="auto">
          <a:xfrm>
            <a:off x="1851025" y="3105150"/>
            <a:ext cx="3057525" cy="2192338"/>
            <a:chOff x="1166" y="1956"/>
            <a:chExt cx="1926" cy="1381"/>
          </a:xfrm>
        </p:grpSpPr>
        <p:sp>
          <p:nvSpPr>
            <p:cNvPr id="484382" name="Line 39"/>
            <p:cNvSpPr>
              <a:spLocks noChangeShapeType="1"/>
            </p:cNvSpPr>
            <p:nvPr/>
          </p:nvSpPr>
          <p:spPr bwMode="auto">
            <a:xfrm flipV="1">
              <a:off x="2184" y="2220"/>
              <a:ext cx="0" cy="1117"/>
            </a:xfrm>
            <a:prstGeom prst="line">
              <a:avLst/>
            </a:prstGeom>
            <a:noFill/>
            <a:ln w="317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4383" name="Text Box 40"/>
            <p:cNvSpPr txBox="1">
              <a:spLocks noChangeArrowheads="1"/>
            </p:cNvSpPr>
            <p:nvPr/>
          </p:nvSpPr>
          <p:spPr bwMode="auto">
            <a:xfrm>
              <a:off x="1276" y="1956"/>
              <a:ext cx="1816" cy="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1750"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lnSpc>
                  <a:spcPct val="80000"/>
                </a:lnSpc>
                <a:spcBef>
                  <a:spcPct val="50000"/>
                </a:spcBef>
                <a:buFontTx/>
                <a:buNone/>
              </a:pPr>
              <a:r>
                <a:rPr lang="en-US" altLang="en-US" sz="1800" dirty="0">
                  <a:cs typeface="LilyUPC" panose="020B0604020202020204" pitchFamily="34" charset="-34"/>
                </a:rPr>
                <a:t>Land Fill</a:t>
              </a:r>
              <a:endParaRPr lang="th-TH" altLang="en-US" sz="1800" dirty="0">
                <a:cs typeface="LilyUPC" panose="020B0604020202020204" pitchFamily="34" charset="-34"/>
              </a:endParaRPr>
            </a:p>
          </p:txBody>
        </p:sp>
        <p:sp>
          <p:nvSpPr>
            <p:cNvPr id="484384" name="Text Box 45"/>
            <p:cNvSpPr txBox="1">
              <a:spLocks noChangeArrowheads="1"/>
            </p:cNvSpPr>
            <p:nvPr/>
          </p:nvSpPr>
          <p:spPr bwMode="auto">
            <a:xfrm>
              <a:off x="1166" y="2748"/>
              <a:ext cx="961" cy="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1750"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r">
                <a:lnSpc>
                  <a:spcPct val="80000"/>
                </a:lnSpc>
                <a:spcBef>
                  <a:spcPct val="50000"/>
                </a:spcBef>
                <a:buFontTx/>
                <a:buNone/>
              </a:pPr>
              <a:r>
                <a:rPr lang="en-US" altLang="en-US" sz="1800">
                  <a:cs typeface="LilyUPC" panose="020B0604020202020204" pitchFamily="34" charset="-34"/>
                </a:rPr>
                <a:t>Lime Mud</a:t>
              </a:r>
              <a:endParaRPr lang="th-TH" altLang="en-US" sz="1800">
                <a:cs typeface="LilyUPC" panose="020B0604020202020204" pitchFamily="34" charset="-34"/>
              </a:endParaRPr>
            </a:p>
          </p:txBody>
        </p:sp>
      </p:grpSp>
    </p:spTree>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402"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6. Principle of chemical recovery </a:t>
            </a:r>
          </a:p>
        </p:txBody>
      </p:sp>
      <p:pic>
        <p:nvPicPr>
          <p:cNvPr id="486403" name="Picture 3" descr="MVC-066S"/>
          <p:cNvPicPr>
            <a:picLocks noGrp="1" noChangeAspect="1" noChangeArrowheads="1"/>
          </p:cNvPicPr>
          <p:nvPr>
            <p:ph idx="1"/>
          </p:nvPr>
        </p:nvPicPr>
        <p:blipFill>
          <a:blip r:embed="rId3">
            <a:extLst>
              <a:ext uri="{28A0092B-C50C-407E-A947-70E740481C1C}">
                <a14:useLocalDpi xmlns:a14="http://schemas.microsoft.com/office/drawing/2010/main" val="0"/>
              </a:ext>
            </a:extLst>
          </a:blip>
          <a:srcRect/>
          <a:stretch>
            <a:fillRect/>
          </a:stretch>
        </p:blipFill>
        <p:spPr>
          <a:xfrm>
            <a:off x="190500" y="1355725"/>
            <a:ext cx="4505325" cy="3378200"/>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486404" name="Picture 2" descr="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600" y="4572000"/>
            <a:ext cx="2832100" cy="21240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486405" name="Picture 2" descr="figure6"/>
          <p:cNvPicPr>
            <a:picLocks noChangeAspect="1" noChangeArrowheads="1"/>
          </p:cNvPicPr>
          <p:nvPr/>
        </p:nvPicPr>
        <p:blipFill>
          <a:blip r:embed="rId5">
            <a:lum bright="10000"/>
            <a:extLst>
              <a:ext uri="{28A0092B-C50C-407E-A947-70E740481C1C}">
                <a14:useLocalDpi xmlns:a14="http://schemas.microsoft.com/office/drawing/2010/main" val="0"/>
              </a:ext>
            </a:extLst>
          </a:blip>
          <a:srcRect/>
          <a:stretch>
            <a:fillRect/>
          </a:stretch>
        </p:blipFill>
        <p:spPr bwMode="auto">
          <a:xfrm>
            <a:off x="4875213" y="1125538"/>
            <a:ext cx="4078287" cy="36083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486406" name="TextBox 9"/>
          <p:cNvSpPr txBox="1">
            <a:spLocks noChangeArrowheads="1"/>
          </p:cNvSpPr>
          <p:nvPr/>
        </p:nvSpPr>
        <p:spPr bwMode="auto">
          <a:xfrm>
            <a:off x="3024188" y="4733925"/>
            <a:ext cx="5678487"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600" b="1"/>
              <a:t>Evaporator: </a:t>
            </a:r>
            <a:r>
              <a:rPr lang="en-US" altLang="en-US" sz="1600"/>
              <a:t>To Evaporate the water content in Black Liquor from Digester call “Weak Black Liquor” (appx.10 – 12 %Solid), After evaporate it become more viscose and concentrated (appx. 55 – 70% Solid) this is call “Strong Black Liquor” which is deriver to next stage</a:t>
            </a:r>
          </a:p>
        </p:txBody>
      </p:sp>
      <p:sp>
        <p:nvSpPr>
          <p:cNvPr id="486407" name="TextBox 1"/>
          <p:cNvSpPr txBox="1">
            <a:spLocks noChangeArrowheads="1"/>
          </p:cNvSpPr>
          <p:nvPr/>
        </p:nvSpPr>
        <p:spPr bwMode="auto">
          <a:xfrm>
            <a:off x="457200" y="895350"/>
            <a:ext cx="1581150" cy="4603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t>Evaporator</a:t>
            </a:r>
          </a:p>
        </p:txBody>
      </p:sp>
    </p:spTree>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8450" name="Rectangle 2"/>
          <p:cNvSpPr>
            <a:spLocks noGrp="1" noChangeArrowheads="1"/>
          </p:cNvSpPr>
          <p:nvPr>
            <p:ph type="title"/>
          </p:nvPr>
        </p:nvSpPr>
        <p:spPr/>
        <p:txBody>
          <a:bodyPr/>
          <a:lstStyle/>
          <a:p>
            <a:r>
              <a:rPr lang="en-US" altLang="en-US" smtClean="0"/>
              <a:t>Evaporator</a:t>
            </a:r>
            <a:endParaRPr lang="th-TH" altLang="en-US" smtClean="0"/>
          </a:p>
        </p:txBody>
      </p:sp>
      <p:sp>
        <p:nvSpPr>
          <p:cNvPr id="488451" name="Rectangle 3"/>
          <p:cNvSpPr>
            <a:spLocks noGrp="1" noChangeArrowheads="1"/>
          </p:cNvSpPr>
          <p:nvPr>
            <p:ph type="body" idx="1"/>
          </p:nvPr>
        </p:nvSpPr>
        <p:spPr/>
        <p:txBody>
          <a:bodyPr/>
          <a:lstStyle/>
          <a:p>
            <a:pPr marL="609600" indent="-609600">
              <a:buFont typeface="Wingdings" panose="05000000000000000000" pitchFamily="2" charset="2"/>
              <a:buNone/>
            </a:pPr>
            <a:r>
              <a:rPr lang="en-US" altLang="en-US" b="1" smtClean="0">
                <a:latin typeface="Angsana New" panose="02020603050405020304" pitchFamily="18" charset="-34"/>
              </a:rPr>
              <a:t>Evaporator</a:t>
            </a:r>
            <a:r>
              <a:rPr lang="en-US" altLang="en-US" b="1" smtClean="0"/>
              <a:t> </a:t>
            </a:r>
            <a:r>
              <a:rPr lang="th-TH" altLang="en-US" b="1" smtClean="0"/>
              <a:t>มีหน้าที่สำหรับทำการต้มระเหยน้ำดำเจือจาง </a:t>
            </a:r>
            <a:r>
              <a:rPr lang="en-US" altLang="en-US" b="1" smtClean="0">
                <a:latin typeface="Angsana New" panose="02020603050405020304" pitchFamily="18" charset="-34"/>
              </a:rPr>
              <a:t>(Weak</a:t>
            </a:r>
            <a:r>
              <a:rPr lang="en-US" altLang="en-US" b="1" smtClean="0"/>
              <a:t> </a:t>
            </a:r>
            <a:r>
              <a:rPr lang="en-US" altLang="en-US" b="1" smtClean="0">
                <a:latin typeface="Angsana New" panose="02020603050405020304" pitchFamily="18" charset="-34"/>
              </a:rPr>
              <a:t>Black Liquor) </a:t>
            </a:r>
            <a:r>
              <a:rPr lang="th-TH" altLang="en-US" b="1" smtClean="0">
                <a:latin typeface="Angsana New" panose="02020603050405020304" pitchFamily="18" charset="-34"/>
              </a:rPr>
              <a:t>ให้มีความเข้มข้นเพิ่มมากขึ้น </a:t>
            </a:r>
            <a:r>
              <a:rPr lang="en-US" altLang="en-US" b="1" smtClean="0">
                <a:latin typeface="Angsana New" panose="02020603050405020304" pitchFamily="18" charset="-34"/>
              </a:rPr>
              <a:t>(</a:t>
            </a:r>
            <a:r>
              <a:rPr lang="th-TH" altLang="en-US" b="1" smtClean="0">
                <a:latin typeface="Angsana New" panose="02020603050405020304" pitchFamily="18" charset="-34"/>
              </a:rPr>
              <a:t>%</a:t>
            </a:r>
            <a:r>
              <a:rPr lang="en-US" altLang="en-US" b="1" smtClean="0">
                <a:latin typeface="Angsana New" panose="02020603050405020304" pitchFamily="18" charset="-34"/>
              </a:rPr>
              <a:t>Dry Solids </a:t>
            </a:r>
            <a:r>
              <a:rPr lang="th-TH" altLang="en-US" b="1" smtClean="0">
                <a:latin typeface="Angsana New" panose="02020603050405020304" pitchFamily="18" charset="-34"/>
              </a:rPr>
              <a:t>สูงขึ้น</a:t>
            </a:r>
            <a:r>
              <a:rPr lang="en-US" altLang="en-US" b="1" smtClean="0">
                <a:latin typeface="Angsana New" panose="02020603050405020304" pitchFamily="18" charset="-34"/>
              </a:rPr>
              <a:t>)</a:t>
            </a:r>
          </a:p>
          <a:p>
            <a:pPr marL="609600" indent="-609600">
              <a:buFont typeface="Wingdings" panose="05000000000000000000" pitchFamily="2" charset="2"/>
              <a:buNone/>
            </a:pPr>
            <a:r>
              <a:rPr lang="th-TH" altLang="en-US" b="1" smtClean="0">
                <a:latin typeface="Angsana New" panose="02020603050405020304" pitchFamily="18" charset="-34"/>
              </a:rPr>
              <a:t>เพื่อ</a:t>
            </a:r>
          </a:p>
          <a:p>
            <a:pPr marL="609600" indent="-609600">
              <a:buFont typeface="Wingdings" panose="05000000000000000000" pitchFamily="2" charset="2"/>
              <a:buNone/>
            </a:pPr>
            <a:r>
              <a:rPr lang="th-TH" altLang="en-US" b="1" smtClean="0">
                <a:latin typeface="Angsana New" panose="02020603050405020304" pitchFamily="18" charset="-34"/>
              </a:rPr>
              <a:t> 1. ให้สามารถใช้เป็นเชื้อเพลิงเผาไหม้ที่ </a:t>
            </a:r>
            <a:r>
              <a:rPr lang="en-US" altLang="en-US" b="1" smtClean="0">
                <a:latin typeface="Angsana New" panose="02020603050405020304" pitchFamily="18" charset="-34"/>
              </a:rPr>
              <a:t>Recovery Boiler </a:t>
            </a:r>
            <a:r>
              <a:rPr lang="th-TH" altLang="en-US" b="1" smtClean="0">
                <a:latin typeface="Angsana New" panose="02020603050405020304" pitchFamily="18" charset="-34"/>
              </a:rPr>
              <a:t>ได้</a:t>
            </a:r>
          </a:p>
          <a:p>
            <a:pPr marL="609600" indent="-609600">
              <a:buFont typeface="Wingdings" panose="05000000000000000000" pitchFamily="2" charset="2"/>
              <a:buNone/>
            </a:pPr>
            <a:r>
              <a:rPr lang="th-TH" altLang="en-US" b="1" smtClean="0">
                <a:latin typeface="Angsana New" panose="02020603050405020304" pitchFamily="18" charset="-34"/>
              </a:rPr>
              <a:t> 2. ประหยัดพลังงานในการกระบวนการระเหยน้ำ </a:t>
            </a:r>
            <a:r>
              <a:rPr lang="en-US" altLang="en-US" b="1" smtClean="0">
                <a:latin typeface="Angsana New" panose="02020603050405020304" pitchFamily="18" charset="-34"/>
              </a:rPr>
              <a:t>(Drying) </a:t>
            </a:r>
            <a:r>
              <a:rPr lang="th-TH" altLang="en-US" b="1" smtClean="0">
                <a:latin typeface="Angsana New" panose="02020603050405020304" pitchFamily="18" charset="-34"/>
              </a:rPr>
              <a:t>ใน</a:t>
            </a:r>
          </a:p>
          <a:p>
            <a:pPr marL="609600" indent="-609600">
              <a:buFont typeface="Wingdings" panose="05000000000000000000" pitchFamily="2" charset="2"/>
              <a:buNone/>
            </a:pPr>
            <a:r>
              <a:rPr lang="th-TH" altLang="en-US" b="1" smtClean="0">
                <a:latin typeface="Angsana New" panose="02020603050405020304" pitchFamily="18" charset="-34"/>
              </a:rPr>
              <a:t>     กระบวนการเผาไหม้ใน </a:t>
            </a:r>
            <a:r>
              <a:rPr lang="en-US" altLang="en-US" b="1" smtClean="0">
                <a:latin typeface="Angsana New" panose="02020603050405020304" pitchFamily="18" charset="-34"/>
              </a:rPr>
              <a:t>Recovery Boiler</a:t>
            </a:r>
            <a:endParaRPr lang="th-TH" altLang="en-US" b="1" smtClean="0">
              <a:latin typeface="Angsana New" panose="02020603050405020304" pitchFamily="18" charset="-34"/>
            </a:endParaRPr>
          </a:p>
        </p:txBody>
      </p:sp>
    </p:spTree>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9474" name="Rectangle 2"/>
          <p:cNvSpPr>
            <a:spLocks noGrp="1" noChangeArrowheads="1"/>
          </p:cNvSpPr>
          <p:nvPr>
            <p:ph type="title"/>
          </p:nvPr>
        </p:nvSpPr>
        <p:spPr/>
        <p:txBody>
          <a:bodyPr/>
          <a:lstStyle/>
          <a:p>
            <a:r>
              <a:rPr lang="en-US" altLang="en-US" smtClean="0"/>
              <a:t>Evaporator</a:t>
            </a:r>
            <a:endParaRPr lang="th-TH" altLang="en-US" smtClean="0"/>
          </a:p>
        </p:txBody>
      </p:sp>
      <p:sp>
        <p:nvSpPr>
          <p:cNvPr id="489475" name="Rectangle 3"/>
          <p:cNvSpPr>
            <a:spLocks noGrp="1" noChangeArrowheads="1"/>
          </p:cNvSpPr>
          <p:nvPr>
            <p:ph type="body" idx="1"/>
          </p:nvPr>
        </p:nvSpPr>
        <p:spPr/>
        <p:txBody>
          <a:bodyPr/>
          <a:lstStyle/>
          <a:p>
            <a:pPr>
              <a:buFont typeface="Wingdings" panose="05000000000000000000" pitchFamily="2" charset="2"/>
              <a:buNone/>
            </a:pPr>
            <a:r>
              <a:rPr lang="th-TH" altLang="en-US" u="sng" smtClean="0"/>
              <a:t>หลักการทำงานโดยสังเขป</a:t>
            </a:r>
          </a:p>
        </p:txBody>
      </p:sp>
      <p:sp>
        <p:nvSpPr>
          <p:cNvPr id="489476" name="Rectangle 4"/>
          <p:cNvSpPr>
            <a:spLocks noChangeArrowheads="1"/>
          </p:cNvSpPr>
          <p:nvPr/>
        </p:nvSpPr>
        <p:spPr bwMode="auto">
          <a:xfrm>
            <a:off x="1281113" y="2646363"/>
            <a:ext cx="1349375" cy="974725"/>
          </a:xfrm>
          <a:prstGeom prst="rect">
            <a:avLst/>
          </a:prstGeom>
          <a:noFill/>
          <a:ln w="31750"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89477" name="Rectangle 5"/>
          <p:cNvSpPr>
            <a:spLocks noChangeArrowheads="1"/>
          </p:cNvSpPr>
          <p:nvPr/>
        </p:nvSpPr>
        <p:spPr bwMode="auto">
          <a:xfrm>
            <a:off x="3714750" y="2646363"/>
            <a:ext cx="1350963" cy="974725"/>
          </a:xfrm>
          <a:prstGeom prst="rect">
            <a:avLst/>
          </a:prstGeom>
          <a:noFill/>
          <a:ln w="31750"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89478" name="Rectangle 6"/>
          <p:cNvSpPr>
            <a:spLocks noChangeArrowheads="1"/>
          </p:cNvSpPr>
          <p:nvPr/>
        </p:nvSpPr>
        <p:spPr bwMode="auto">
          <a:xfrm>
            <a:off x="6329363" y="2646363"/>
            <a:ext cx="1349375" cy="974725"/>
          </a:xfrm>
          <a:prstGeom prst="rect">
            <a:avLst/>
          </a:prstGeom>
          <a:noFill/>
          <a:ln w="31750"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89479" name="Line 7"/>
          <p:cNvSpPr>
            <a:spLocks noChangeShapeType="1"/>
          </p:cNvSpPr>
          <p:nvPr/>
        </p:nvSpPr>
        <p:spPr bwMode="auto">
          <a:xfrm flipV="1">
            <a:off x="1281113" y="2646363"/>
            <a:ext cx="1349375" cy="974725"/>
          </a:xfrm>
          <a:prstGeom prst="line">
            <a:avLst/>
          </a:prstGeom>
          <a:noFill/>
          <a:ln w="317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9480" name="Line 8"/>
          <p:cNvSpPr>
            <a:spLocks noChangeShapeType="1"/>
          </p:cNvSpPr>
          <p:nvPr/>
        </p:nvSpPr>
        <p:spPr bwMode="auto">
          <a:xfrm flipV="1">
            <a:off x="3714750" y="2646363"/>
            <a:ext cx="1350963" cy="974725"/>
          </a:xfrm>
          <a:prstGeom prst="line">
            <a:avLst/>
          </a:prstGeom>
          <a:noFill/>
          <a:ln w="317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9481" name="Line 9"/>
          <p:cNvSpPr>
            <a:spLocks noChangeShapeType="1"/>
          </p:cNvSpPr>
          <p:nvPr/>
        </p:nvSpPr>
        <p:spPr bwMode="auto">
          <a:xfrm flipV="1">
            <a:off x="6329363" y="2646363"/>
            <a:ext cx="1349375" cy="974725"/>
          </a:xfrm>
          <a:prstGeom prst="line">
            <a:avLst/>
          </a:prstGeom>
          <a:noFill/>
          <a:ln w="317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9482" name="Line 10"/>
          <p:cNvSpPr>
            <a:spLocks noChangeShapeType="1"/>
          </p:cNvSpPr>
          <p:nvPr/>
        </p:nvSpPr>
        <p:spPr bwMode="auto">
          <a:xfrm>
            <a:off x="209550" y="2841625"/>
            <a:ext cx="1071563" cy="0"/>
          </a:xfrm>
          <a:prstGeom prst="line">
            <a:avLst/>
          </a:prstGeom>
          <a:noFill/>
          <a:ln w="31750">
            <a:solidFill>
              <a:srgbClr val="FF0000"/>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9483" name="Line 11"/>
          <p:cNvSpPr>
            <a:spLocks noChangeShapeType="1"/>
          </p:cNvSpPr>
          <p:nvPr/>
        </p:nvSpPr>
        <p:spPr bwMode="auto">
          <a:xfrm>
            <a:off x="2643188" y="2841625"/>
            <a:ext cx="1071562" cy="0"/>
          </a:xfrm>
          <a:prstGeom prst="line">
            <a:avLst/>
          </a:prstGeom>
          <a:noFill/>
          <a:ln w="31750">
            <a:solidFill>
              <a:srgbClr val="FF6600"/>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9484" name="Line 12"/>
          <p:cNvSpPr>
            <a:spLocks noChangeShapeType="1"/>
          </p:cNvSpPr>
          <p:nvPr/>
        </p:nvSpPr>
        <p:spPr bwMode="auto">
          <a:xfrm>
            <a:off x="5065713" y="2841625"/>
            <a:ext cx="1263650" cy="0"/>
          </a:xfrm>
          <a:prstGeom prst="line">
            <a:avLst/>
          </a:prstGeom>
          <a:noFill/>
          <a:ln w="31750">
            <a:solidFill>
              <a:srgbClr val="FF6600"/>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9485" name="Line 13"/>
          <p:cNvSpPr>
            <a:spLocks noChangeShapeType="1"/>
          </p:cNvSpPr>
          <p:nvPr/>
        </p:nvSpPr>
        <p:spPr bwMode="auto">
          <a:xfrm>
            <a:off x="7678738" y="2841625"/>
            <a:ext cx="1071562" cy="0"/>
          </a:xfrm>
          <a:prstGeom prst="line">
            <a:avLst/>
          </a:prstGeom>
          <a:noFill/>
          <a:ln w="34925">
            <a:solidFill>
              <a:srgbClr val="FF6600"/>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9486" name="Line 14"/>
          <p:cNvSpPr>
            <a:spLocks noChangeShapeType="1"/>
          </p:cNvSpPr>
          <p:nvPr/>
        </p:nvSpPr>
        <p:spPr bwMode="auto">
          <a:xfrm flipH="1">
            <a:off x="209550" y="3411538"/>
            <a:ext cx="1071563" cy="0"/>
          </a:xfrm>
          <a:prstGeom prst="line">
            <a:avLst/>
          </a:prstGeom>
          <a:noFill/>
          <a:ln w="31750">
            <a:solidFill>
              <a:srgbClr val="0000CC"/>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9487" name="Line 15"/>
          <p:cNvSpPr>
            <a:spLocks noChangeShapeType="1"/>
          </p:cNvSpPr>
          <p:nvPr/>
        </p:nvSpPr>
        <p:spPr bwMode="auto">
          <a:xfrm>
            <a:off x="1873250" y="3746500"/>
            <a:ext cx="0" cy="1184275"/>
          </a:xfrm>
          <a:prstGeom prst="line">
            <a:avLst/>
          </a:prstGeom>
          <a:noFill/>
          <a:ln w="31750">
            <a:solidFill>
              <a:srgbClr val="0000CC"/>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9488" name="Freeform 16"/>
          <p:cNvSpPr>
            <a:spLocks/>
          </p:cNvSpPr>
          <p:nvPr/>
        </p:nvSpPr>
        <p:spPr bwMode="auto">
          <a:xfrm>
            <a:off x="2622550" y="3455988"/>
            <a:ext cx="1709738" cy="869950"/>
          </a:xfrm>
          <a:custGeom>
            <a:avLst/>
            <a:gdLst>
              <a:gd name="T0" fmla="*/ 2147483646 w 1077"/>
              <a:gd name="T1" fmla="*/ 2147483646 h 548"/>
              <a:gd name="T2" fmla="*/ 2147483646 w 1077"/>
              <a:gd name="T3" fmla="*/ 2147483646 h 548"/>
              <a:gd name="T4" fmla="*/ 2147483646 w 1077"/>
              <a:gd name="T5" fmla="*/ 2147483646 h 548"/>
              <a:gd name="T6" fmla="*/ 2147483646 w 1077"/>
              <a:gd name="T7" fmla="*/ 0 h 548"/>
              <a:gd name="T8" fmla="*/ 0 w 1077"/>
              <a:gd name="T9" fmla="*/ 0 h 5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7" h="548">
                <a:moveTo>
                  <a:pt x="1077" y="104"/>
                </a:moveTo>
                <a:lnTo>
                  <a:pt x="1077" y="548"/>
                </a:lnTo>
                <a:lnTo>
                  <a:pt x="388" y="548"/>
                </a:lnTo>
                <a:lnTo>
                  <a:pt x="388" y="0"/>
                </a:lnTo>
                <a:lnTo>
                  <a:pt x="0" y="0"/>
                </a:lnTo>
              </a:path>
            </a:pathLst>
          </a:custGeom>
          <a:noFill/>
          <a:ln w="31750" cap="flat" cmpd="sng">
            <a:solidFill>
              <a:srgbClr val="0000CC"/>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9489" name="Freeform 17"/>
          <p:cNvSpPr>
            <a:spLocks/>
          </p:cNvSpPr>
          <p:nvPr/>
        </p:nvSpPr>
        <p:spPr bwMode="auto">
          <a:xfrm>
            <a:off x="5053013" y="3441700"/>
            <a:ext cx="1949450" cy="868363"/>
          </a:xfrm>
          <a:custGeom>
            <a:avLst/>
            <a:gdLst>
              <a:gd name="T0" fmla="*/ 2147483646 w 1228"/>
              <a:gd name="T1" fmla="*/ 2147483646 h 547"/>
              <a:gd name="T2" fmla="*/ 2147483646 w 1228"/>
              <a:gd name="T3" fmla="*/ 2147483646 h 547"/>
              <a:gd name="T4" fmla="*/ 2147483646 w 1228"/>
              <a:gd name="T5" fmla="*/ 2147483646 h 547"/>
              <a:gd name="T6" fmla="*/ 2147483646 w 1228"/>
              <a:gd name="T7" fmla="*/ 0 h 547"/>
              <a:gd name="T8" fmla="*/ 0 w 1228"/>
              <a:gd name="T9" fmla="*/ 0 h 5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8" h="547">
                <a:moveTo>
                  <a:pt x="1228" y="122"/>
                </a:moveTo>
                <a:lnTo>
                  <a:pt x="1228" y="547"/>
                </a:lnTo>
                <a:lnTo>
                  <a:pt x="472" y="547"/>
                </a:lnTo>
                <a:lnTo>
                  <a:pt x="472" y="0"/>
                </a:lnTo>
                <a:lnTo>
                  <a:pt x="0" y="0"/>
                </a:lnTo>
              </a:path>
            </a:pathLst>
          </a:custGeom>
          <a:noFill/>
          <a:ln w="31750" cap="flat" cmpd="sng">
            <a:solidFill>
              <a:srgbClr val="0000CC"/>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9490" name="Freeform 18"/>
          <p:cNvSpPr>
            <a:spLocks/>
          </p:cNvSpPr>
          <p:nvPr/>
        </p:nvSpPr>
        <p:spPr bwMode="auto">
          <a:xfrm>
            <a:off x="7675563" y="3425825"/>
            <a:ext cx="898525" cy="900113"/>
          </a:xfrm>
          <a:custGeom>
            <a:avLst/>
            <a:gdLst>
              <a:gd name="T0" fmla="*/ 0 w 566"/>
              <a:gd name="T1" fmla="*/ 0 h 567"/>
              <a:gd name="T2" fmla="*/ 2147483646 w 566"/>
              <a:gd name="T3" fmla="*/ 0 h 567"/>
              <a:gd name="T4" fmla="*/ 2147483646 w 566"/>
              <a:gd name="T5" fmla="*/ 2147483646 h 567"/>
              <a:gd name="T6" fmla="*/ 0 60000 65536"/>
              <a:gd name="T7" fmla="*/ 0 60000 65536"/>
              <a:gd name="T8" fmla="*/ 0 60000 65536"/>
            </a:gdLst>
            <a:ahLst/>
            <a:cxnLst>
              <a:cxn ang="T6">
                <a:pos x="T0" y="T1"/>
              </a:cxn>
              <a:cxn ang="T7">
                <a:pos x="T2" y="T3"/>
              </a:cxn>
              <a:cxn ang="T8">
                <a:pos x="T4" y="T5"/>
              </a:cxn>
            </a:cxnLst>
            <a:rect l="0" t="0" r="r" b="b"/>
            <a:pathLst>
              <a:path w="566" h="567">
                <a:moveTo>
                  <a:pt x="0" y="0"/>
                </a:moveTo>
                <a:lnTo>
                  <a:pt x="566" y="0"/>
                </a:lnTo>
                <a:lnTo>
                  <a:pt x="566" y="567"/>
                </a:lnTo>
              </a:path>
            </a:pathLst>
          </a:custGeom>
          <a:noFill/>
          <a:ln w="31750" cap="flat" cmpd="sng">
            <a:solidFill>
              <a:srgbClr val="0000CC"/>
            </a:solidFill>
            <a:prstDash val="solid"/>
            <a:round/>
            <a:headEnd type="stealth" w="lg" len="lg"/>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9491" name="Text Box 19"/>
          <p:cNvSpPr txBox="1">
            <a:spLocks noChangeArrowheads="1"/>
          </p:cNvSpPr>
          <p:nvPr/>
        </p:nvSpPr>
        <p:spPr bwMode="auto">
          <a:xfrm>
            <a:off x="266700" y="2466975"/>
            <a:ext cx="10779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2000">
                <a:solidFill>
                  <a:srgbClr val="FF0000"/>
                </a:solidFill>
              </a:rPr>
              <a:t>Steam</a:t>
            </a:r>
            <a:endParaRPr lang="th-TH" altLang="en-US" sz="2000">
              <a:solidFill>
                <a:srgbClr val="FF0000"/>
              </a:solidFill>
            </a:endParaRPr>
          </a:p>
        </p:txBody>
      </p:sp>
      <p:sp>
        <p:nvSpPr>
          <p:cNvPr id="489492" name="Text Box 20"/>
          <p:cNvSpPr txBox="1">
            <a:spLocks noChangeArrowheads="1"/>
          </p:cNvSpPr>
          <p:nvPr/>
        </p:nvSpPr>
        <p:spPr bwMode="auto">
          <a:xfrm>
            <a:off x="2620963" y="2454275"/>
            <a:ext cx="1079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2000">
                <a:solidFill>
                  <a:srgbClr val="FF6600"/>
                </a:solidFill>
              </a:rPr>
              <a:t>Vapour</a:t>
            </a:r>
            <a:endParaRPr lang="th-TH" altLang="en-US" sz="2000">
              <a:solidFill>
                <a:srgbClr val="FF6600"/>
              </a:solidFill>
            </a:endParaRPr>
          </a:p>
        </p:txBody>
      </p:sp>
      <p:sp>
        <p:nvSpPr>
          <p:cNvPr id="489493" name="Text Box 21"/>
          <p:cNvSpPr txBox="1">
            <a:spLocks noChangeArrowheads="1"/>
          </p:cNvSpPr>
          <p:nvPr/>
        </p:nvSpPr>
        <p:spPr bwMode="auto">
          <a:xfrm>
            <a:off x="5122863" y="2451100"/>
            <a:ext cx="1079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2000">
                <a:solidFill>
                  <a:srgbClr val="FF6600"/>
                </a:solidFill>
              </a:rPr>
              <a:t>Vapour</a:t>
            </a:r>
            <a:endParaRPr lang="th-TH" altLang="en-US" sz="2000">
              <a:solidFill>
                <a:srgbClr val="FF6600"/>
              </a:solidFill>
            </a:endParaRPr>
          </a:p>
        </p:txBody>
      </p:sp>
      <p:sp>
        <p:nvSpPr>
          <p:cNvPr id="489494" name="Text Box 22"/>
          <p:cNvSpPr txBox="1">
            <a:spLocks noChangeArrowheads="1"/>
          </p:cNvSpPr>
          <p:nvPr/>
        </p:nvSpPr>
        <p:spPr bwMode="auto">
          <a:xfrm>
            <a:off x="169863" y="3757613"/>
            <a:ext cx="1411287" cy="757237"/>
          </a:xfrm>
          <a:prstGeom prst="rect">
            <a:avLst/>
          </a:prstGeom>
          <a:noFill/>
          <a:ln w="9525" algn="ctr">
            <a:solidFill>
              <a:schemeClr val="tx1"/>
            </a:solidFill>
            <a:prstDash val="lgDash"/>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20000"/>
              </a:lnSpc>
              <a:spcBef>
                <a:spcPct val="50000"/>
              </a:spcBef>
              <a:buFontTx/>
              <a:buNone/>
            </a:pPr>
            <a:endParaRPr lang="th-TH" altLang="en-US" sz="2000">
              <a:solidFill>
                <a:srgbClr val="0000CC"/>
              </a:solidFill>
            </a:endParaRPr>
          </a:p>
          <a:p>
            <a:pPr>
              <a:lnSpc>
                <a:spcPct val="20000"/>
              </a:lnSpc>
              <a:spcBef>
                <a:spcPct val="50000"/>
              </a:spcBef>
              <a:buFontTx/>
              <a:buNone/>
            </a:pPr>
            <a:r>
              <a:rPr lang="en-US" altLang="en-US" sz="2000">
                <a:solidFill>
                  <a:srgbClr val="0000CC"/>
                </a:solidFill>
              </a:rPr>
              <a:t>Condensate</a:t>
            </a:r>
          </a:p>
          <a:p>
            <a:pPr>
              <a:lnSpc>
                <a:spcPct val="20000"/>
              </a:lnSpc>
              <a:spcBef>
                <a:spcPct val="50000"/>
              </a:spcBef>
              <a:buFontTx/>
              <a:buNone/>
            </a:pPr>
            <a:r>
              <a:rPr lang="th-TH" altLang="en-US" sz="2800">
                <a:solidFill>
                  <a:srgbClr val="0000CC"/>
                </a:solidFill>
              </a:rPr>
              <a:t>จาก </a:t>
            </a:r>
            <a:r>
              <a:rPr lang="en-US" altLang="en-US" sz="2000">
                <a:solidFill>
                  <a:srgbClr val="0000CC"/>
                </a:solidFill>
              </a:rPr>
              <a:t>Steam</a:t>
            </a:r>
            <a:endParaRPr lang="th-TH" altLang="en-US" sz="2000">
              <a:solidFill>
                <a:srgbClr val="0000CC"/>
              </a:solidFill>
            </a:endParaRPr>
          </a:p>
        </p:txBody>
      </p:sp>
      <p:sp>
        <p:nvSpPr>
          <p:cNvPr id="489495" name="Text Box 23"/>
          <p:cNvSpPr txBox="1">
            <a:spLocks noChangeArrowheads="1"/>
          </p:cNvSpPr>
          <p:nvPr/>
        </p:nvSpPr>
        <p:spPr bwMode="auto">
          <a:xfrm>
            <a:off x="449263" y="4903788"/>
            <a:ext cx="2743200" cy="430212"/>
          </a:xfrm>
          <a:prstGeom prst="rect">
            <a:avLst/>
          </a:prstGeom>
          <a:noFill/>
          <a:ln w="9525" algn="ctr">
            <a:solidFill>
              <a:schemeClr val="tx1"/>
            </a:solidFill>
            <a:prstDash val="lgDash"/>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600">
                <a:solidFill>
                  <a:srgbClr val="0000CC"/>
                </a:solidFill>
              </a:rPr>
              <a:t>Strong Black Liquor </a:t>
            </a:r>
            <a:r>
              <a:rPr lang="th-TH" altLang="en-US" sz="2200">
                <a:solidFill>
                  <a:srgbClr val="0000CC"/>
                </a:solidFill>
              </a:rPr>
              <a:t>(เข้มข้น)</a:t>
            </a:r>
          </a:p>
        </p:txBody>
      </p:sp>
      <p:sp>
        <p:nvSpPr>
          <p:cNvPr id="489496" name="Text Box 24"/>
          <p:cNvSpPr txBox="1">
            <a:spLocks noChangeArrowheads="1"/>
          </p:cNvSpPr>
          <p:nvPr/>
        </p:nvSpPr>
        <p:spPr bwMode="auto">
          <a:xfrm>
            <a:off x="6807200" y="4483100"/>
            <a:ext cx="2171700" cy="671513"/>
          </a:xfrm>
          <a:prstGeom prst="rect">
            <a:avLst/>
          </a:prstGeom>
          <a:noFill/>
          <a:ln w="9525" algn="ctr">
            <a:solidFill>
              <a:schemeClr val="tx1"/>
            </a:solidFill>
            <a:prstDash val="lgDash"/>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600">
                <a:solidFill>
                  <a:srgbClr val="000000"/>
                </a:solidFill>
              </a:rPr>
              <a:t>Weak Bleach Liquor </a:t>
            </a:r>
            <a:r>
              <a:rPr lang="th-TH" altLang="en-US" sz="2200">
                <a:solidFill>
                  <a:srgbClr val="000000"/>
                </a:solidFill>
              </a:rPr>
              <a:t>(เจือจาง)</a:t>
            </a:r>
          </a:p>
        </p:txBody>
      </p:sp>
      <p:sp>
        <p:nvSpPr>
          <p:cNvPr id="489497" name="Text Box 25"/>
          <p:cNvSpPr txBox="1">
            <a:spLocks noChangeArrowheads="1"/>
          </p:cNvSpPr>
          <p:nvPr/>
        </p:nvSpPr>
        <p:spPr bwMode="auto">
          <a:xfrm>
            <a:off x="7632700" y="2425700"/>
            <a:ext cx="1079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2000">
                <a:solidFill>
                  <a:srgbClr val="FF6600"/>
                </a:solidFill>
              </a:rPr>
              <a:t>Vapour</a:t>
            </a:r>
            <a:endParaRPr lang="th-TH" altLang="en-US" sz="2000">
              <a:solidFill>
                <a:srgbClr val="FF6600"/>
              </a:solidFill>
            </a:endParaRPr>
          </a:p>
        </p:txBody>
      </p:sp>
      <p:sp>
        <p:nvSpPr>
          <p:cNvPr id="1034266" name="Text Box 26"/>
          <p:cNvSpPr txBox="1">
            <a:spLocks noChangeArrowheads="1"/>
          </p:cNvSpPr>
          <p:nvPr/>
        </p:nvSpPr>
        <p:spPr bwMode="auto">
          <a:xfrm>
            <a:off x="6553200" y="5154613"/>
            <a:ext cx="202088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th-TH" altLang="en-US" sz="2400">
                <a:solidFill>
                  <a:srgbClr val="000000"/>
                </a:solidFill>
                <a:effectLst>
                  <a:outerShdw blurRad="38100" dist="38100" dir="2700000" algn="tl">
                    <a:srgbClr val="FFFFFF"/>
                  </a:outerShdw>
                </a:effectLst>
                <a:latin typeface="Angsana New" panose="02020603050405020304" pitchFamily="18" charset="-34"/>
              </a:rPr>
              <a:t>ความเข้มข้น 10-11% </a:t>
            </a:r>
            <a:r>
              <a:rPr lang="en-US" altLang="en-US" sz="2400">
                <a:solidFill>
                  <a:srgbClr val="000000"/>
                </a:solidFill>
                <a:effectLst>
                  <a:outerShdw blurRad="38100" dist="38100" dir="2700000" algn="tl">
                    <a:srgbClr val="FFFFFF"/>
                  </a:outerShdw>
                </a:effectLst>
                <a:latin typeface="Angsana New" panose="02020603050405020304" pitchFamily="18" charset="-34"/>
              </a:rPr>
              <a:t>Dry Solids</a:t>
            </a:r>
            <a:endParaRPr lang="th-TH" altLang="en-US" sz="2400">
              <a:solidFill>
                <a:srgbClr val="000000"/>
              </a:solidFill>
              <a:effectLst>
                <a:outerShdw blurRad="38100" dist="38100" dir="2700000" algn="tl">
                  <a:srgbClr val="FFFFFF"/>
                </a:outerShdw>
              </a:effectLst>
              <a:latin typeface="Angsana New" panose="02020603050405020304" pitchFamily="18" charset="-34"/>
            </a:endParaRPr>
          </a:p>
        </p:txBody>
      </p:sp>
      <p:sp>
        <p:nvSpPr>
          <p:cNvPr id="1034267" name="Text Box 27"/>
          <p:cNvSpPr txBox="1">
            <a:spLocks noChangeArrowheads="1"/>
          </p:cNvSpPr>
          <p:nvPr/>
        </p:nvSpPr>
        <p:spPr bwMode="auto">
          <a:xfrm>
            <a:off x="601663" y="5575300"/>
            <a:ext cx="2020887" cy="830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th-TH" altLang="en-US" sz="2400" dirty="0">
                <a:effectLst>
                  <a:outerShdw blurRad="38100" dist="38100" dir="2700000" algn="tl">
                    <a:srgbClr val="000000"/>
                  </a:outerShdw>
                </a:effectLst>
                <a:latin typeface="Angsana New" panose="02020603050405020304" pitchFamily="18" charset="-34"/>
              </a:rPr>
              <a:t>ความเข้มข้น 48-49% </a:t>
            </a:r>
            <a:r>
              <a:rPr lang="en-US" altLang="en-US" sz="2400" dirty="0">
                <a:effectLst>
                  <a:outerShdw blurRad="38100" dist="38100" dir="2700000" algn="tl">
                    <a:srgbClr val="000000"/>
                  </a:outerShdw>
                </a:effectLst>
                <a:latin typeface="Angsana New" panose="02020603050405020304" pitchFamily="18" charset="-34"/>
              </a:rPr>
              <a:t>Dry Solids</a:t>
            </a:r>
            <a:endParaRPr lang="th-TH" altLang="en-US" sz="2400" dirty="0">
              <a:effectLst>
                <a:outerShdw blurRad="38100" dist="38100" dir="2700000" algn="tl">
                  <a:srgbClr val="000000"/>
                </a:outerShdw>
              </a:effectLst>
              <a:latin typeface="Angsana New" panose="02020603050405020304" pitchFamily="18" charset="-34"/>
            </a:endParaRPr>
          </a:p>
        </p:txBody>
      </p:sp>
    </p:spTree>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0498" name="Slide Number Placeholder 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fld id="{4C504E51-57FB-400E-A42E-27476C16C4F2}" type="slidenum">
              <a:rPr lang="en-US" altLang="en-US" sz="1800" smtClean="0"/>
              <a:pPr>
                <a:spcBef>
                  <a:spcPct val="0"/>
                </a:spcBef>
                <a:buFontTx/>
                <a:buNone/>
              </a:pPr>
              <a:t>130</a:t>
            </a:fld>
            <a:endParaRPr lang="th-TH" altLang="en-US" sz="1800" smtClean="0"/>
          </a:p>
        </p:txBody>
      </p:sp>
      <p:pic>
        <p:nvPicPr>
          <p:cNvPr id="490499" name="Picture 2" descr="10"/>
          <p:cNvPicPr>
            <a:picLocks noGrp="1" noChangeAspect="1" noChangeArrowheads="1"/>
          </p:cNvPicPr>
          <p:nvPr>
            <p:ph/>
          </p:nvPr>
        </p:nvPicPr>
        <p:blipFill>
          <a:blip r:embed="rId2">
            <a:extLst>
              <a:ext uri="{28A0092B-C50C-407E-A947-70E740481C1C}">
                <a14:useLocalDpi xmlns:a14="http://schemas.microsoft.com/office/drawing/2010/main" val="0"/>
              </a:ext>
            </a:extLst>
          </a:blip>
          <a:srcRect/>
          <a:stretch>
            <a:fillRect/>
          </a:stretch>
        </p:blipFill>
        <p:spPr>
          <a:xfrm>
            <a:off x="0" y="0"/>
            <a:ext cx="9144000" cy="6858000"/>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22" name="Rectangle 2"/>
          <p:cNvSpPr>
            <a:spLocks noGrp="1" noChangeArrowheads="1"/>
          </p:cNvSpPr>
          <p:nvPr>
            <p:ph type="title"/>
          </p:nvPr>
        </p:nvSpPr>
        <p:spPr>
          <a:xfrm>
            <a:off x="457200" y="0"/>
            <a:ext cx="8229600" cy="1143000"/>
          </a:xfrm>
        </p:spPr>
        <p:txBody>
          <a:bodyPr/>
          <a:lstStyle/>
          <a:p>
            <a:r>
              <a:rPr lang="en-US" altLang="en-US" sz="4800" u="sng" smtClean="0"/>
              <a:t>Evaporator</a:t>
            </a:r>
            <a:endParaRPr lang="th-TH" altLang="en-US" sz="4800" u="sng" smtClean="0"/>
          </a:p>
        </p:txBody>
      </p:sp>
      <p:pic>
        <p:nvPicPr>
          <p:cNvPr id="491523" name="Picture 3" descr="MVC-066S"/>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928688" y="901700"/>
            <a:ext cx="7518400" cy="5637213"/>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2546" name="Rectangle 2"/>
          <p:cNvSpPr>
            <a:spLocks noGrp="1" noChangeArrowheads="1"/>
          </p:cNvSpPr>
          <p:nvPr>
            <p:ph type="title"/>
          </p:nvPr>
        </p:nvSpPr>
        <p:spPr>
          <a:xfrm>
            <a:off x="163513" y="214313"/>
            <a:ext cx="8782050" cy="742950"/>
          </a:xfrm>
        </p:spPr>
        <p:txBody>
          <a:bodyPr/>
          <a:lstStyle/>
          <a:p>
            <a:r>
              <a:rPr lang="en-US" altLang="en-US" u="sng" smtClean="0"/>
              <a:t>Evaporator</a:t>
            </a:r>
            <a:endParaRPr lang="th-TH" altLang="en-US" u="sng" smtClean="0"/>
          </a:p>
        </p:txBody>
      </p:sp>
      <p:pic>
        <p:nvPicPr>
          <p:cNvPr id="492547" name="Picture 3"/>
          <p:cNvPicPr>
            <a:picLocks noGrp="1" noChangeAspect="1" noChangeArrowheads="1"/>
          </p:cNvPicPr>
          <p:nvPr>
            <p:ph type="body" idx="1"/>
          </p:nvPr>
        </p:nvPicPr>
        <p:blipFill>
          <a:blip r:embed="rId2">
            <a:extLst>
              <a:ext uri="{28A0092B-C50C-407E-A947-70E740481C1C}">
                <a14:useLocalDpi xmlns:a14="http://schemas.microsoft.com/office/drawing/2010/main" val="0"/>
              </a:ext>
            </a:extLst>
          </a:blip>
          <a:srcRect/>
          <a:stretch>
            <a:fillRect/>
          </a:stretch>
        </p:blipFill>
        <p:spPr>
          <a:xfrm>
            <a:off x="1041400" y="1014413"/>
            <a:ext cx="7475538" cy="5341937"/>
          </a:xfrm>
        </p:spPr>
      </p:pic>
    </p:spTree>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Slide Number Placeholder 5"/>
          <p:cNvSpPr>
            <a:spLocks noGrp="1"/>
          </p:cNvSpPr>
          <p:nvPr>
            <p:ph type="sldNum" sz="quarter" idx="12"/>
          </p:nvPr>
        </p:nvSpPr>
        <p:spPr/>
        <p:txBody>
          <a:bodyPr/>
          <a:lstStyle/>
          <a:p>
            <a:pPr>
              <a:defRPr/>
            </a:pPr>
            <a:fld id="{17FB1214-95FD-4D77-8FCF-38B488E48DDC}" type="slidenum">
              <a:rPr lang="en-US" altLang="en-US"/>
              <a:pPr>
                <a:defRPr/>
              </a:pPr>
              <a:t>133</a:t>
            </a:fld>
            <a:endParaRPr lang="th-TH" altLang="en-US"/>
          </a:p>
        </p:txBody>
      </p:sp>
      <p:sp>
        <p:nvSpPr>
          <p:cNvPr id="493571" name="Rectangle 2"/>
          <p:cNvSpPr>
            <a:spLocks noGrp="1" noChangeArrowheads="1"/>
          </p:cNvSpPr>
          <p:nvPr>
            <p:ph type="title"/>
          </p:nvPr>
        </p:nvSpPr>
        <p:spPr/>
        <p:txBody>
          <a:bodyPr/>
          <a:lstStyle/>
          <a:p>
            <a:r>
              <a:rPr lang="en-US" altLang="en-US" smtClean="0"/>
              <a:t>Evaporator</a:t>
            </a:r>
            <a:endParaRPr lang="th-TH" altLang="en-US" smtClean="0"/>
          </a:p>
        </p:txBody>
      </p:sp>
      <p:sp>
        <p:nvSpPr>
          <p:cNvPr id="493572" name="Rectangle 3"/>
          <p:cNvSpPr>
            <a:spLocks noGrp="1" noChangeArrowheads="1"/>
          </p:cNvSpPr>
          <p:nvPr>
            <p:ph type="body" idx="1"/>
          </p:nvPr>
        </p:nvSpPr>
        <p:spPr/>
        <p:txBody>
          <a:bodyPr/>
          <a:lstStyle/>
          <a:p>
            <a:pPr marL="609600" indent="-609600">
              <a:buFont typeface="Wingdings" panose="05000000000000000000" pitchFamily="2" charset="2"/>
              <a:buNone/>
            </a:pPr>
            <a:r>
              <a:rPr lang="th-TH" altLang="en-US" smtClean="0"/>
              <a:t>ชนิดของ </a:t>
            </a:r>
            <a:r>
              <a:rPr lang="en-US" altLang="en-US" smtClean="0"/>
              <a:t>Evaporator</a:t>
            </a:r>
          </a:p>
          <a:p>
            <a:pPr marL="609600" indent="-609600">
              <a:buFont typeface="Wingdings" panose="05000000000000000000" pitchFamily="2" charset="2"/>
              <a:buNone/>
            </a:pPr>
            <a:r>
              <a:rPr lang="en-US" altLang="en-US" smtClean="0"/>
              <a:t>1. Rising Film Evaporator</a:t>
            </a:r>
          </a:p>
          <a:p>
            <a:pPr marL="609600" indent="-609600">
              <a:buFont typeface="Wingdings" panose="05000000000000000000" pitchFamily="2" charset="2"/>
              <a:buNone/>
            </a:pPr>
            <a:r>
              <a:rPr lang="en-US" altLang="en-US" smtClean="0"/>
              <a:t>2. Falling Film Evaporator </a:t>
            </a:r>
            <a:endParaRPr lang="th-TH" altLang="en-US" smtClean="0"/>
          </a:p>
        </p:txBody>
      </p:sp>
      <p:grpSp>
        <p:nvGrpSpPr>
          <p:cNvPr id="1041412" name="Group 4"/>
          <p:cNvGrpSpPr>
            <a:grpSpLocks/>
          </p:cNvGrpSpPr>
          <p:nvPr/>
        </p:nvGrpSpPr>
        <p:grpSpPr bwMode="auto">
          <a:xfrm>
            <a:off x="457200" y="3317875"/>
            <a:ext cx="5651500" cy="1344613"/>
            <a:chOff x="520" y="2304"/>
            <a:chExt cx="3560" cy="847"/>
          </a:xfrm>
        </p:grpSpPr>
        <p:sp>
          <p:nvSpPr>
            <p:cNvPr id="1041413" name="Text Box 5"/>
            <p:cNvSpPr txBox="1">
              <a:spLocks noChangeArrowheads="1"/>
            </p:cNvSpPr>
            <p:nvPr/>
          </p:nvSpPr>
          <p:spPr bwMode="auto">
            <a:xfrm>
              <a:off x="520" y="2744"/>
              <a:ext cx="3560" cy="4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th-TH" altLang="en-US" sz="3600" dirty="0">
                  <a:solidFill>
                    <a:srgbClr val="FF0000"/>
                  </a:solidFill>
                  <a:effectLst>
                    <a:outerShdw blurRad="38100" dist="38100" dir="2700000" algn="tl">
                      <a:srgbClr val="000000"/>
                    </a:outerShdw>
                  </a:effectLst>
                  <a:latin typeface="Angsana New" panose="02020603050405020304" pitchFamily="18" charset="-34"/>
                </a:rPr>
                <a:t>ประสิทธิภาพสูงกว่า </a:t>
              </a:r>
              <a:r>
                <a:rPr lang="en-US" altLang="en-US" sz="3600" dirty="0">
                  <a:solidFill>
                    <a:srgbClr val="FF0000"/>
                  </a:solidFill>
                  <a:effectLst>
                    <a:outerShdw blurRad="38100" dist="38100" dir="2700000" algn="tl">
                      <a:srgbClr val="000000"/>
                    </a:outerShdw>
                  </a:effectLst>
                  <a:latin typeface="Angsana New" panose="02020603050405020304" pitchFamily="18" charset="-34"/>
                </a:rPr>
                <a:t>Rising Film</a:t>
              </a:r>
              <a:endParaRPr lang="th-TH" altLang="en-US" sz="3600" dirty="0">
                <a:solidFill>
                  <a:srgbClr val="FF0000"/>
                </a:solidFill>
                <a:effectLst>
                  <a:outerShdw blurRad="38100" dist="38100" dir="2700000" algn="tl">
                    <a:srgbClr val="000000"/>
                  </a:outerShdw>
                </a:effectLst>
                <a:latin typeface="Angsana New" panose="02020603050405020304" pitchFamily="18" charset="-34"/>
              </a:endParaRPr>
            </a:p>
          </p:txBody>
        </p:sp>
        <p:sp>
          <p:nvSpPr>
            <p:cNvPr id="493575" name="AutoShape 6"/>
            <p:cNvSpPr>
              <a:spLocks noChangeArrowheads="1"/>
            </p:cNvSpPr>
            <p:nvPr/>
          </p:nvSpPr>
          <p:spPr bwMode="auto">
            <a:xfrm>
              <a:off x="1784" y="2304"/>
              <a:ext cx="376" cy="440"/>
            </a:xfrm>
            <a:prstGeom prst="upArrow">
              <a:avLst>
                <a:gd name="adj1" fmla="val 50000"/>
                <a:gd name="adj2" fmla="val 29255"/>
              </a:avLst>
            </a:prstGeom>
            <a:solidFill>
              <a:srgbClr val="FFFF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1041412"/>
                                        </p:tgtEl>
                                        <p:attrNameLst>
                                          <p:attrName>style.visibility</p:attrName>
                                        </p:attrNameLst>
                                      </p:cBhvr>
                                      <p:to>
                                        <p:strVal val="visible"/>
                                      </p:to>
                                    </p:set>
                                    <p:animEffect transition="in" filter="blinds(horizontal)">
                                      <p:cBhvr>
                                        <p:cTn id="7" dur="500"/>
                                        <p:tgtEl>
                                          <p:spTgt spid="10414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4594" name="Rectangle 2"/>
          <p:cNvSpPr>
            <a:spLocks noGrp="1" noChangeArrowheads="1"/>
          </p:cNvSpPr>
          <p:nvPr>
            <p:ph type="title"/>
          </p:nvPr>
        </p:nvSpPr>
        <p:spPr>
          <a:xfrm>
            <a:off x="457200" y="95250"/>
            <a:ext cx="8229600" cy="676275"/>
          </a:xfrm>
        </p:spPr>
        <p:txBody>
          <a:bodyPr/>
          <a:lstStyle/>
          <a:p>
            <a:r>
              <a:rPr lang="en-US" altLang="en-US" b="1" u="sng" smtClean="0"/>
              <a:t>Evaporator</a:t>
            </a:r>
            <a:endParaRPr lang="th-TH" altLang="en-US" b="1" u="sng" smtClean="0"/>
          </a:p>
        </p:txBody>
      </p:sp>
      <p:sp>
        <p:nvSpPr>
          <p:cNvPr id="494595" name="Rectangle 3"/>
          <p:cNvSpPr>
            <a:spLocks noGrp="1" noChangeArrowheads="1"/>
          </p:cNvSpPr>
          <p:nvPr>
            <p:ph type="body" idx="1"/>
          </p:nvPr>
        </p:nvSpPr>
        <p:spPr>
          <a:xfrm>
            <a:off x="457200" y="969963"/>
            <a:ext cx="4071938" cy="614362"/>
          </a:xfrm>
        </p:spPr>
        <p:txBody>
          <a:bodyPr/>
          <a:lstStyle/>
          <a:p>
            <a:pPr>
              <a:buFont typeface="Wingdings" panose="05000000000000000000" pitchFamily="2" charset="2"/>
              <a:buNone/>
            </a:pPr>
            <a:r>
              <a:rPr lang="th-TH" altLang="en-US" b="1" u="sng" smtClean="0"/>
              <a:t>ชนิดของ </a:t>
            </a:r>
            <a:r>
              <a:rPr lang="en-US" altLang="en-US" sz="2800" b="1" u="sng" smtClean="0"/>
              <a:t>Evaporator</a:t>
            </a:r>
            <a:endParaRPr lang="th-TH" altLang="en-US" sz="2800" b="1" u="sng" smtClean="0"/>
          </a:p>
        </p:txBody>
      </p:sp>
      <p:sp>
        <p:nvSpPr>
          <p:cNvPr id="1010692" name="Rectangle 4"/>
          <p:cNvSpPr>
            <a:spLocks noChangeArrowheads="1"/>
          </p:cNvSpPr>
          <p:nvPr/>
        </p:nvSpPr>
        <p:spPr bwMode="auto">
          <a:xfrm>
            <a:off x="442913" y="1527175"/>
            <a:ext cx="8543925" cy="1843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hlink"/>
              </a:buClr>
              <a:buSzPct val="80000"/>
              <a:buFont typeface="Wingdings" panose="05000000000000000000" pitchFamily="2" charset="2"/>
              <a:buChar char="Ø"/>
              <a:defRPr sz="32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buChar char="l"/>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buChar char="•"/>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buChar char="l"/>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a:buFont typeface="Wingdings" panose="05000000000000000000" pitchFamily="2" charset="2"/>
              <a:buNone/>
              <a:defRPr/>
            </a:pPr>
            <a:r>
              <a:rPr lang="th-TH" altLang="en-US" smtClean="0">
                <a:solidFill>
                  <a:srgbClr val="000066"/>
                </a:solidFill>
              </a:rPr>
              <a:t>1.  </a:t>
            </a:r>
            <a:r>
              <a:rPr lang="en-US" altLang="en-US" sz="2000" u="sng" smtClean="0">
                <a:solidFill>
                  <a:srgbClr val="000066"/>
                </a:solidFill>
              </a:rPr>
              <a:t>Rising Film (RF) Evaporator</a:t>
            </a:r>
            <a:r>
              <a:rPr lang="th-TH" altLang="en-US" sz="2000" smtClean="0">
                <a:solidFill>
                  <a:srgbClr val="000066"/>
                </a:solidFill>
              </a:rPr>
              <a:t> </a:t>
            </a:r>
            <a:r>
              <a:rPr lang="th-TH" altLang="en-US" sz="2500" smtClean="0">
                <a:solidFill>
                  <a:srgbClr val="000066"/>
                </a:solidFill>
              </a:rPr>
              <a:t> เป็น</a:t>
            </a:r>
            <a:r>
              <a:rPr lang="th-TH" altLang="en-US" sz="2000" smtClean="0">
                <a:solidFill>
                  <a:srgbClr val="000066"/>
                </a:solidFill>
              </a:rPr>
              <a:t> </a:t>
            </a:r>
            <a:r>
              <a:rPr lang="en-US" altLang="en-US" sz="2000" smtClean="0">
                <a:solidFill>
                  <a:srgbClr val="000066"/>
                </a:solidFill>
              </a:rPr>
              <a:t>Evaporator </a:t>
            </a:r>
            <a:r>
              <a:rPr lang="th-TH" altLang="en-US" sz="2500" smtClean="0">
                <a:solidFill>
                  <a:srgbClr val="000066"/>
                </a:solidFill>
              </a:rPr>
              <a:t>รุ่นเก่าซึ่งประกอบไปด้วย</a:t>
            </a:r>
            <a:r>
              <a:rPr lang="th-TH" altLang="en-US" sz="2000" smtClean="0">
                <a:solidFill>
                  <a:srgbClr val="000066"/>
                </a:solidFill>
              </a:rPr>
              <a:t> </a:t>
            </a:r>
            <a:r>
              <a:rPr lang="en-US" altLang="en-US" sz="2000" smtClean="0">
                <a:solidFill>
                  <a:srgbClr val="000066"/>
                </a:solidFill>
              </a:rPr>
              <a:t>Shell </a:t>
            </a:r>
            <a:r>
              <a:rPr lang="th-TH" altLang="en-US" sz="2500" smtClean="0">
                <a:solidFill>
                  <a:srgbClr val="000066"/>
                </a:solidFill>
              </a:rPr>
              <a:t>และมีชุดท่ออยู่ภายใน เส้นผ่านศูนย์กลางโดยประมาณ 2” และจะทำการป้อน</a:t>
            </a:r>
            <a:r>
              <a:rPr lang="th-TH" altLang="en-US" sz="2000" smtClean="0">
                <a:solidFill>
                  <a:srgbClr val="000066"/>
                </a:solidFill>
              </a:rPr>
              <a:t> </a:t>
            </a:r>
            <a:r>
              <a:rPr lang="en-US" altLang="en-US" sz="2000" smtClean="0">
                <a:solidFill>
                  <a:srgbClr val="000066"/>
                </a:solidFill>
              </a:rPr>
              <a:t>Black Liquor </a:t>
            </a:r>
            <a:r>
              <a:rPr lang="th-TH" altLang="en-US" sz="2500" smtClean="0">
                <a:solidFill>
                  <a:srgbClr val="000066"/>
                </a:solidFill>
              </a:rPr>
              <a:t>เข้าไปในชุดท่อโดย</a:t>
            </a:r>
            <a:r>
              <a:rPr lang="th-TH" altLang="en-US" sz="2000" smtClean="0">
                <a:solidFill>
                  <a:srgbClr val="000066"/>
                </a:solidFill>
              </a:rPr>
              <a:t> </a:t>
            </a:r>
            <a:r>
              <a:rPr lang="en-US" altLang="en-US" sz="2000" smtClean="0">
                <a:solidFill>
                  <a:srgbClr val="000066"/>
                </a:solidFill>
              </a:rPr>
              <a:t>Pump </a:t>
            </a:r>
            <a:r>
              <a:rPr lang="th-TH" altLang="en-US" sz="2500" smtClean="0">
                <a:solidFill>
                  <a:srgbClr val="000066"/>
                </a:solidFill>
              </a:rPr>
              <a:t>และจะจ่าย</a:t>
            </a:r>
            <a:r>
              <a:rPr lang="th-TH" altLang="en-US" sz="2000" smtClean="0">
                <a:solidFill>
                  <a:srgbClr val="000066"/>
                </a:solidFill>
              </a:rPr>
              <a:t> </a:t>
            </a:r>
            <a:r>
              <a:rPr lang="en-US" altLang="en-US" sz="2000" smtClean="0">
                <a:solidFill>
                  <a:srgbClr val="000066"/>
                </a:solidFill>
              </a:rPr>
              <a:t>Steam </a:t>
            </a:r>
            <a:r>
              <a:rPr lang="th-TH" altLang="en-US" sz="2500" smtClean="0">
                <a:solidFill>
                  <a:srgbClr val="000066"/>
                </a:solidFill>
              </a:rPr>
              <a:t>เข้ามาทำการระเหยน้ำใน</a:t>
            </a:r>
            <a:r>
              <a:rPr lang="th-TH" altLang="en-US" sz="2000" smtClean="0">
                <a:solidFill>
                  <a:srgbClr val="000066"/>
                </a:solidFill>
              </a:rPr>
              <a:t> </a:t>
            </a:r>
            <a:r>
              <a:rPr lang="en-US" altLang="en-US" sz="2000" smtClean="0">
                <a:solidFill>
                  <a:srgbClr val="000066"/>
                </a:solidFill>
              </a:rPr>
              <a:t>Black Liquor </a:t>
            </a:r>
            <a:r>
              <a:rPr lang="th-TH" altLang="en-US" sz="2500" smtClean="0">
                <a:solidFill>
                  <a:srgbClr val="000066"/>
                </a:solidFill>
              </a:rPr>
              <a:t>นอกชุดท่อ ดังรูป</a:t>
            </a:r>
            <a:endParaRPr lang="th-TH" altLang="en-US" sz="2500" u="sng" smtClean="0">
              <a:solidFill>
                <a:srgbClr val="000066"/>
              </a:solidFill>
            </a:endParaRPr>
          </a:p>
        </p:txBody>
      </p:sp>
      <p:sp>
        <p:nvSpPr>
          <p:cNvPr id="494597" name="Oval 5"/>
          <p:cNvSpPr>
            <a:spLocks noChangeArrowheads="1"/>
          </p:cNvSpPr>
          <p:nvPr/>
        </p:nvSpPr>
        <p:spPr bwMode="auto">
          <a:xfrm>
            <a:off x="477838" y="3835400"/>
            <a:ext cx="1885950" cy="1814513"/>
          </a:xfrm>
          <a:prstGeom prst="ellipse">
            <a:avLst/>
          </a:prstGeom>
          <a:solidFill>
            <a:schemeClr val="bg1"/>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598" name="Oval 6"/>
          <p:cNvSpPr>
            <a:spLocks noChangeArrowheads="1"/>
          </p:cNvSpPr>
          <p:nvPr/>
        </p:nvSpPr>
        <p:spPr bwMode="auto">
          <a:xfrm>
            <a:off x="1214438" y="4603750"/>
            <a:ext cx="342900" cy="314325"/>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599" name="Oval 7"/>
          <p:cNvSpPr>
            <a:spLocks noChangeArrowheads="1"/>
          </p:cNvSpPr>
          <p:nvPr/>
        </p:nvSpPr>
        <p:spPr bwMode="auto">
          <a:xfrm>
            <a:off x="1144588" y="4157663"/>
            <a:ext cx="138112"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00" name="Oval 8"/>
          <p:cNvSpPr>
            <a:spLocks noChangeArrowheads="1"/>
          </p:cNvSpPr>
          <p:nvPr/>
        </p:nvSpPr>
        <p:spPr bwMode="auto">
          <a:xfrm>
            <a:off x="890588" y="4157663"/>
            <a:ext cx="138112"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01" name="Oval 9"/>
          <p:cNvSpPr>
            <a:spLocks noChangeArrowheads="1"/>
          </p:cNvSpPr>
          <p:nvPr/>
        </p:nvSpPr>
        <p:spPr bwMode="auto">
          <a:xfrm>
            <a:off x="754063" y="4464050"/>
            <a:ext cx="136525"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02" name="Oval 10"/>
          <p:cNvSpPr>
            <a:spLocks noChangeArrowheads="1"/>
          </p:cNvSpPr>
          <p:nvPr/>
        </p:nvSpPr>
        <p:spPr bwMode="auto">
          <a:xfrm>
            <a:off x="595313" y="4603750"/>
            <a:ext cx="139700"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03" name="Oval 11"/>
          <p:cNvSpPr>
            <a:spLocks noChangeArrowheads="1"/>
          </p:cNvSpPr>
          <p:nvPr/>
        </p:nvSpPr>
        <p:spPr bwMode="auto">
          <a:xfrm>
            <a:off x="614363" y="4918075"/>
            <a:ext cx="139700"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04" name="Oval 12"/>
          <p:cNvSpPr>
            <a:spLocks noChangeArrowheads="1"/>
          </p:cNvSpPr>
          <p:nvPr/>
        </p:nvSpPr>
        <p:spPr bwMode="auto">
          <a:xfrm>
            <a:off x="1274763" y="4394200"/>
            <a:ext cx="136525"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05" name="Oval 13"/>
          <p:cNvSpPr>
            <a:spLocks noChangeArrowheads="1"/>
          </p:cNvSpPr>
          <p:nvPr/>
        </p:nvSpPr>
        <p:spPr bwMode="auto">
          <a:xfrm>
            <a:off x="820738" y="5010150"/>
            <a:ext cx="138112"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06" name="Oval 14"/>
          <p:cNvSpPr>
            <a:spLocks noChangeArrowheads="1"/>
          </p:cNvSpPr>
          <p:nvPr/>
        </p:nvSpPr>
        <p:spPr bwMode="auto">
          <a:xfrm>
            <a:off x="1028700" y="4367213"/>
            <a:ext cx="138113"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07" name="Oval 15"/>
          <p:cNvSpPr>
            <a:spLocks noChangeArrowheads="1"/>
          </p:cNvSpPr>
          <p:nvPr/>
        </p:nvSpPr>
        <p:spPr bwMode="auto">
          <a:xfrm>
            <a:off x="788988" y="5219700"/>
            <a:ext cx="138112"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08" name="Oval 16"/>
          <p:cNvSpPr>
            <a:spLocks noChangeArrowheads="1"/>
          </p:cNvSpPr>
          <p:nvPr/>
        </p:nvSpPr>
        <p:spPr bwMode="auto">
          <a:xfrm>
            <a:off x="996950" y="4603750"/>
            <a:ext cx="138113"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09" name="Oval 17"/>
          <p:cNvSpPr>
            <a:spLocks noChangeArrowheads="1"/>
          </p:cNvSpPr>
          <p:nvPr/>
        </p:nvSpPr>
        <p:spPr bwMode="auto">
          <a:xfrm>
            <a:off x="1066800" y="5289550"/>
            <a:ext cx="138113"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10" name="Oval 18"/>
          <p:cNvSpPr>
            <a:spLocks noChangeArrowheads="1"/>
          </p:cNvSpPr>
          <p:nvPr/>
        </p:nvSpPr>
        <p:spPr bwMode="auto">
          <a:xfrm>
            <a:off x="788988" y="4778375"/>
            <a:ext cx="138112"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11" name="Oval 19"/>
          <p:cNvSpPr>
            <a:spLocks noChangeArrowheads="1"/>
          </p:cNvSpPr>
          <p:nvPr/>
        </p:nvSpPr>
        <p:spPr bwMode="auto">
          <a:xfrm>
            <a:off x="1028700" y="4918075"/>
            <a:ext cx="138113"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12" name="Oval 20"/>
          <p:cNvSpPr>
            <a:spLocks noChangeArrowheads="1"/>
          </p:cNvSpPr>
          <p:nvPr/>
        </p:nvSpPr>
        <p:spPr bwMode="auto">
          <a:xfrm>
            <a:off x="1214438" y="5010150"/>
            <a:ext cx="138112"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13" name="Oval 21"/>
          <p:cNvSpPr>
            <a:spLocks noChangeArrowheads="1"/>
          </p:cNvSpPr>
          <p:nvPr/>
        </p:nvSpPr>
        <p:spPr bwMode="auto">
          <a:xfrm>
            <a:off x="1479550" y="4254500"/>
            <a:ext cx="138113"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14" name="Oval 22"/>
          <p:cNvSpPr>
            <a:spLocks noChangeArrowheads="1"/>
          </p:cNvSpPr>
          <p:nvPr/>
        </p:nvSpPr>
        <p:spPr bwMode="auto">
          <a:xfrm>
            <a:off x="1341438" y="4017963"/>
            <a:ext cx="138112"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15" name="Oval 23"/>
          <p:cNvSpPr>
            <a:spLocks noChangeArrowheads="1"/>
          </p:cNvSpPr>
          <p:nvPr/>
        </p:nvSpPr>
        <p:spPr bwMode="auto">
          <a:xfrm>
            <a:off x="1852613" y="4227513"/>
            <a:ext cx="136525"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16" name="Oval 24"/>
          <p:cNvSpPr>
            <a:spLocks noChangeArrowheads="1"/>
          </p:cNvSpPr>
          <p:nvPr/>
        </p:nvSpPr>
        <p:spPr bwMode="auto">
          <a:xfrm>
            <a:off x="1625600" y="4437063"/>
            <a:ext cx="138113"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17" name="Oval 25"/>
          <p:cNvSpPr>
            <a:spLocks noChangeArrowheads="1"/>
          </p:cNvSpPr>
          <p:nvPr/>
        </p:nvSpPr>
        <p:spPr bwMode="auto">
          <a:xfrm>
            <a:off x="1712913" y="4918075"/>
            <a:ext cx="139700"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18" name="Oval 26"/>
          <p:cNvSpPr>
            <a:spLocks noChangeArrowheads="1"/>
          </p:cNvSpPr>
          <p:nvPr/>
        </p:nvSpPr>
        <p:spPr bwMode="auto">
          <a:xfrm>
            <a:off x="1992313" y="4940300"/>
            <a:ext cx="136525"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19" name="Oval 27"/>
          <p:cNvSpPr>
            <a:spLocks noChangeArrowheads="1"/>
          </p:cNvSpPr>
          <p:nvPr/>
        </p:nvSpPr>
        <p:spPr bwMode="auto">
          <a:xfrm>
            <a:off x="1625600" y="4017963"/>
            <a:ext cx="138113"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20" name="Oval 28"/>
          <p:cNvSpPr>
            <a:spLocks noChangeArrowheads="1"/>
          </p:cNvSpPr>
          <p:nvPr/>
        </p:nvSpPr>
        <p:spPr bwMode="auto">
          <a:xfrm>
            <a:off x="1487488" y="5080000"/>
            <a:ext cx="138112"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21" name="Oval 29"/>
          <p:cNvSpPr>
            <a:spLocks noChangeArrowheads="1"/>
          </p:cNvSpPr>
          <p:nvPr/>
        </p:nvSpPr>
        <p:spPr bwMode="auto">
          <a:xfrm>
            <a:off x="1992313" y="4437063"/>
            <a:ext cx="136525"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22" name="Oval 30"/>
          <p:cNvSpPr>
            <a:spLocks noChangeArrowheads="1"/>
          </p:cNvSpPr>
          <p:nvPr/>
        </p:nvSpPr>
        <p:spPr bwMode="auto">
          <a:xfrm>
            <a:off x="1782763" y="5219700"/>
            <a:ext cx="136525"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23" name="Oval 31"/>
          <p:cNvSpPr>
            <a:spLocks noChangeArrowheads="1"/>
          </p:cNvSpPr>
          <p:nvPr/>
        </p:nvSpPr>
        <p:spPr bwMode="auto">
          <a:xfrm>
            <a:off x="1763713" y="4638675"/>
            <a:ext cx="139700"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24" name="Oval 32"/>
          <p:cNvSpPr>
            <a:spLocks noChangeArrowheads="1"/>
          </p:cNvSpPr>
          <p:nvPr/>
        </p:nvSpPr>
        <p:spPr bwMode="auto">
          <a:xfrm>
            <a:off x="2097088" y="4673600"/>
            <a:ext cx="138112"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25" name="Oval 33"/>
          <p:cNvSpPr>
            <a:spLocks noChangeArrowheads="1"/>
          </p:cNvSpPr>
          <p:nvPr/>
        </p:nvSpPr>
        <p:spPr bwMode="auto">
          <a:xfrm>
            <a:off x="1352550" y="5289550"/>
            <a:ext cx="138113"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26" name="Oval 34"/>
          <p:cNvSpPr>
            <a:spLocks noChangeArrowheads="1"/>
          </p:cNvSpPr>
          <p:nvPr/>
        </p:nvSpPr>
        <p:spPr bwMode="auto">
          <a:xfrm>
            <a:off x="1555750" y="5359400"/>
            <a:ext cx="138113" cy="139700"/>
          </a:xfrm>
          <a:prstGeom prst="ellipse">
            <a:avLst/>
          </a:prstGeom>
          <a:solidFill>
            <a:schemeClr val="bg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nvGrpSpPr>
          <p:cNvPr id="494627" name="Group 35"/>
          <p:cNvGrpSpPr>
            <a:grpSpLocks/>
          </p:cNvGrpSpPr>
          <p:nvPr/>
        </p:nvGrpSpPr>
        <p:grpSpPr bwMode="auto">
          <a:xfrm>
            <a:off x="3746500" y="3175000"/>
            <a:ext cx="3371850" cy="2933700"/>
            <a:chOff x="2360" y="2223"/>
            <a:chExt cx="2124" cy="1848"/>
          </a:xfrm>
        </p:grpSpPr>
        <p:sp>
          <p:nvSpPr>
            <p:cNvPr id="494636" name="Rectangle 36" descr="Wave"/>
            <p:cNvSpPr>
              <a:spLocks noChangeArrowheads="1"/>
            </p:cNvSpPr>
            <p:nvPr/>
          </p:nvSpPr>
          <p:spPr bwMode="auto">
            <a:xfrm>
              <a:off x="2756" y="3751"/>
              <a:ext cx="99" cy="212"/>
            </a:xfrm>
            <a:prstGeom prst="rect">
              <a:avLst/>
            </a:prstGeom>
            <a:pattFill prst="wave">
              <a:fgClr>
                <a:srgbClr val="000066"/>
              </a:fgClr>
              <a:bgClr>
                <a:schemeClr val="folHlink"/>
              </a:bgClr>
            </a:patt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37" name="Freeform 37"/>
            <p:cNvSpPr>
              <a:spLocks/>
            </p:cNvSpPr>
            <p:nvPr/>
          </p:nvSpPr>
          <p:spPr bwMode="auto">
            <a:xfrm>
              <a:off x="2360" y="2445"/>
              <a:ext cx="1111" cy="1115"/>
            </a:xfrm>
            <a:custGeom>
              <a:avLst/>
              <a:gdLst>
                <a:gd name="T0" fmla="*/ 63 w 1314"/>
                <a:gd name="T1" fmla="*/ 396 h 1269"/>
                <a:gd name="T2" fmla="*/ 271 w 1314"/>
                <a:gd name="T3" fmla="*/ 396 h 1269"/>
                <a:gd name="T4" fmla="*/ 271 w 1314"/>
                <a:gd name="T5" fmla="*/ 73 h 1269"/>
                <a:gd name="T6" fmla="*/ 289 w 1314"/>
                <a:gd name="T7" fmla="*/ 73 h 1269"/>
                <a:gd name="T8" fmla="*/ 289 w 1314"/>
                <a:gd name="T9" fmla="*/ 0 h 1269"/>
                <a:gd name="T10" fmla="*/ 20 w 1314"/>
                <a:gd name="T11" fmla="*/ 0 h 1269"/>
                <a:gd name="T12" fmla="*/ 20 w 1314"/>
                <a:gd name="T13" fmla="*/ 70 h 1269"/>
                <a:gd name="T14" fmla="*/ 44 w 1314"/>
                <a:gd name="T15" fmla="*/ 70 h 1269"/>
                <a:gd name="T16" fmla="*/ 44 w 1314"/>
                <a:gd name="T17" fmla="*/ 120 h 1269"/>
                <a:gd name="T18" fmla="*/ 0 w 1314"/>
                <a:gd name="T19" fmla="*/ 120 h 12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14" h="1269">
                  <a:moveTo>
                    <a:pt x="288" y="1269"/>
                  </a:moveTo>
                  <a:lnTo>
                    <a:pt x="1224" y="1269"/>
                  </a:lnTo>
                  <a:lnTo>
                    <a:pt x="1224" y="234"/>
                  </a:lnTo>
                  <a:lnTo>
                    <a:pt x="1314" y="234"/>
                  </a:lnTo>
                  <a:lnTo>
                    <a:pt x="1314" y="0"/>
                  </a:lnTo>
                  <a:lnTo>
                    <a:pt x="90" y="0"/>
                  </a:lnTo>
                  <a:lnTo>
                    <a:pt x="90" y="225"/>
                  </a:lnTo>
                  <a:lnTo>
                    <a:pt x="198" y="225"/>
                  </a:lnTo>
                  <a:lnTo>
                    <a:pt x="198" y="387"/>
                  </a:lnTo>
                  <a:lnTo>
                    <a:pt x="0" y="387"/>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4638" name="Freeform 38"/>
            <p:cNvSpPr>
              <a:spLocks/>
            </p:cNvSpPr>
            <p:nvPr/>
          </p:nvSpPr>
          <p:spPr bwMode="auto">
            <a:xfrm>
              <a:off x="2368" y="2896"/>
              <a:ext cx="236" cy="664"/>
            </a:xfrm>
            <a:custGeom>
              <a:avLst/>
              <a:gdLst>
                <a:gd name="T0" fmla="*/ 62 w 279"/>
                <a:gd name="T1" fmla="*/ 235 h 756"/>
                <a:gd name="T2" fmla="*/ 62 w 279"/>
                <a:gd name="T3" fmla="*/ 0 h 756"/>
                <a:gd name="T4" fmla="*/ 0 w 279"/>
                <a:gd name="T5" fmla="*/ 0 h 756"/>
                <a:gd name="T6" fmla="*/ 0 60000 65536"/>
                <a:gd name="T7" fmla="*/ 0 60000 65536"/>
                <a:gd name="T8" fmla="*/ 0 60000 65536"/>
              </a:gdLst>
              <a:ahLst/>
              <a:cxnLst>
                <a:cxn ang="T6">
                  <a:pos x="T0" y="T1"/>
                </a:cxn>
                <a:cxn ang="T7">
                  <a:pos x="T2" y="T3"/>
                </a:cxn>
                <a:cxn ang="T8">
                  <a:pos x="T4" y="T5"/>
                </a:cxn>
              </a:cxnLst>
              <a:rect l="0" t="0" r="r" b="b"/>
              <a:pathLst>
                <a:path w="279" h="756">
                  <a:moveTo>
                    <a:pt x="279" y="756"/>
                  </a:moveTo>
                  <a:lnTo>
                    <a:pt x="279" y="0"/>
                  </a:lnTo>
                  <a:lnTo>
                    <a:pt x="0" y="0"/>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4639" name="Line 39"/>
            <p:cNvSpPr>
              <a:spLocks noChangeShapeType="1"/>
            </p:cNvSpPr>
            <p:nvPr/>
          </p:nvSpPr>
          <p:spPr bwMode="auto">
            <a:xfrm flipV="1">
              <a:off x="2695" y="2674"/>
              <a:ext cx="0" cy="8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4640" name="Line 40"/>
            <p:cNvSpPr>
              <a:spLocks noChangeShapeType="1"/>
            </p:cNvSpPr>
            <p:nvPr/>
          </p:nvSpPr>
          <p:spPr bwMode="auto">
            <a:xfrm flipV="1">
              <a:off x="2756" y="2669"/>
              <a:ext cx="0" cy="88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4641" name="Line 41"/>
            <p:cNvSpPr>
              <a:spLocks noChangeShapeType="1"/>
            </p:cNvSpPr>
            <p:nvPr/>
          </p:nvSpPr>
          <p:spPr bwMode="auto">
            <a:xfrm flipV="1">
              <a:off x="2855" y="2674"/>
              <a:ext cx="0" cy="8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4642" name="Line 42"/>
            <p:cNvSpPr>
              <a:spLocks noChangeShapeType="1"/>
            </p:cNvSpPr>
            <p:nvPr/>
          </p:nvSpPr>
          <p:spPr bwMode="auto">
            <a:xfrm flipV="1">
              <a:off x="2916" y="2669"/>
              <a:ext cx="0" cy="88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4643" name="Line 43"/>
            <p:cNvSpPr>
              <a:spLocks noChangeShapeType="1"/>
            </p:cNvSpPr>
            <p:nvPr/>
          </p:nvSpPr>
          <p:spPr bwMode="auto">
            <a:xfrm flipV="1">
              <a:off x="3030" y="2666"/>
              <a:ext cx="0" cy="8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4644" name="Line 44"/>
            <p:cNvSpPr>
              <a:spLocks noChangeShapeType="1"/>
            </p:cNvSpPr>
            <p:nvPr/>
          </p:nvSpPr>
          <p:spPr bwMode="auto">
            <a:xfrm flipV="1">
              <a:off x="3091" y="2669"/>
              <a:ext cx="0" cy="88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4645" name="Line 45"/>
            <p:cNvSpPr>
              <a:spLocks noChangeShapeType="1"/>
            </p:cNvSpPr>
            <p:nvPr/>
          </p:nvSpPr>
          <p:spPr bwMode="auto">
            <a:xfrm flipV="1">
              <a:off x="3213" y="2673"/>
              <a:ext cx="0" cy="88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4646" name="Line 46"/>
            <p:cNvSpPr>
              <a:spLocks noChangeShapeType="1"/>
            </p:cNvSpPr>
            <p:nvPr/>
          </p:nvSpPr>
          <p:spPr bwMode="auto">
            <a:xfrm flipV="1">
              <a:off x="3274" y="2675"/>
              <a:ext cx="0" cy="8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4647" name="AutoShape 47" descr="Zig zag"/>
            <p:cNvSpPr>
              <a:spLocks noChangeArrowheads="1"/>
            </p:cNvSpPr>
            <p:nvPr/>
          </p:nvSpPr>
          <p:spPr bwMode="auto">
            <a:xfrm rot="5400000">
              <a:off x="2890" y="3280"/>
              <a:ext cx="232" cy="805"/>
            </a:xfrm>
            <a:prstGeom prst="flowChartDelay">
              <a:avLst/>
            </a:prstGeom>
            <a:pattFill prst="zigZag">
              <a:fgClr>
                <a:srgbClr val="000066"/>
              </a:fgClr>
              <a:bgClr>
                <a:schemeClr val="folHlink"/>
              </a:bgClr>
            </a:patt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48" name="Rectangle 48" descr="Zig zag"/>
            <p:cNvSpPr>
              <a:spLocks noChangeArrowheads="1"/>
            </p:cNvSpPr>
            <p:nvPr/>
          </p:nvSpPr>
          <p:spPr bwMode="auto">
            <a:xfrm>
              <a:off x="2360" y="3963"/>
              <a:ext cx="495" cy="108"/>
            </a:xfrm>
            <a:prstGeom prst="rect">
              <a:avLst/>
            </a:prstGeom>
            <a:pattFill prst="zigZag">
              <a:fgClr>
                <a:srgbClr val="000066"/>
              </a:fgClr>
              <a:bgClr>
                <a:schemeClr val="folHlink"/>
              </a:bgClr>
            </a:patt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49" name="Rectangle 49" descr="Zig zag"/>
            <p:cNvSpPr>
              <a:spLocks noChangeArrowheads="1"/>
            </p:cNvSpPr>
            <p:nvPr/>
          </p:nvSpPr>
          <p:spPr bwMode="auto">
            <a:xfrm flipV="1">
              <a:off x="3400" y="2716"/>
              <a:ext cx="193" cy="68"/>
            </a:xfrm>
            <a:prstGeom prst="rect">
              <a:avLst/>
            </a:prstGeom>
            <a:pattFill prst="zigZag">
              <a:fgClr>
                <a:srgbClr val="000066"/>
              </a:fgClr>
              <a:bgClr>
                <a:schemeClr val="folHlink"/>
              </a:bgClr>
            </a:patt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50" name="Line 50"/>
            <p:cNvSpPr>
              <a:spLocks noChangeShapeType="1"/>
            </p:cNvSpPr>
            <p:nvPr/>
          </p:nvSpPr>
          <p:spPr bwMode="auto">
            <a:xfrm>
              <a:off x="2603" y="2784"/>
              <a:ext cx="79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4651" name="Rectangle 51" descr="Zig zag"/>
            <p:cNvSpPr>
              <a:spLocks noChangeArrowheads="1"/>
            </p:cNvSpPr>
            <p:nvPr/>
          </p:nvSpPr>
          <p:spPr bwMode="auto">
            <a:xfrm>
              <a:off x="3593" y="2716"/>
              <a:ext cx="69" cy="999"/>
            </a:xfrm>
            <a:prstGeom prst="rect">
              <a:avLst/>
            </a:prstGeom>
            <a:pattFill prst="zigZag">
              <a:fgClr>
                <a:srgbClr val="000066"/>
              </a:fgClr>
              <a:bgClr>
                <a:schemeClr val="folHlink"/>
              </a:bgClr>
            </a:patt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52" name="Rectangle 52" descr="Zig zag"/>
            <p:cNvSpPr>
              <a:spLocks noChangeArrowheads="1"/>
            </p:cNvSpPr>
            <p:nvPr/>
          </p:nvSpPr>
          <p:spPr bwMode="auto">
            <a:xfrm>
              <a:off x="3662" y="3638"/>
              <a:ext cx="563" cy="77"/>
            </a:xfrm>
            <a:prstGeom prst="rect">
              <a:avLst/>
            </a:prstGeom>
            <a:pattFill prst="zigZag">
              <a:fgClr>
                <a:srgbClr val="000066"/>
              </a:fgClr>
              <a:bgClr>
                <a:schemeClr val="folHlink"/>
              </a:bgClr>
            </a:patt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53" name="Rectangle 53" descr="Zig zag"/>
            <p:cNvSpPr>
              <a:spLocks noChangeArrowheads="1"/>
            </p:cNvSpPr>
            <p:nvPr/>
          </p:nvSpPr>
          <p:spPr bwMode="auto">
            <a:xfrm>
              <a:off x="4157" y="3445"/>
              <a:ext cx="68" cy="193"/>
            </a:xfrm>
            <a:prstGeom prst="rect">
              <a:avLst/>
            </a:prstGeom>
            <a:pattFill prst="zigZag">
              <a:fgClr>
                <a:srgbClr val="000066"/>
              </a:fgClr>
              <a:bgClr>
                <a:schemeClr val="folHlink"/>
              </a:bgClr>
            </a:patt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54" name="Rectangle 54" descr="Zig zag"/>
            <p:cNvSpPr>
              <a:spLocks noChangeArrowheads="1"/>
            </p:cNvSpPr>
            <p:nvPr/>
          </p:nvSpPr>
          <p:spPr bwMode="auto">
            <a:xfrm>
              <a:off x="4225" y="3445"/>
              <a:ext cx="259" cy="77"/>
            </a:xfrm>
            <a:prstGeom prst="rect">
              <a:avLst/>
            </a:prstGeom>
            <a:pattFill prst="zigZag">
              <a:fgClr>
                <a:srgbClr val="000066"/>
              </a:fgClr>
              <a:bgClr>
                <a:schemeClr val="folHlink"/>
              </a:bgClr>
            </a:patt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nvGrpSpPr>
            <p:cNvPr id="494655" name="Group 55"/>
            <p:cNvGrpSpPr>
              <a:grpSpLocks/>
            </p:cNvGrpSpPr>
            <p:nvPr/>
          </p:nvGrpSpPr>
          <p:grpSpPr bwMode="auto">
            <a:xfrm rot="10800000">
              <a:off x="3833" y="3580"/>
              <a:ext cx="160" cy="179"/>
              <a:chOff x="1906" y="3502"/>
              <a:chExt cx="239" cy="248"/>
            </a:xfrm>
          </p:grpSpPr>
          <p:sp>
            <p:nvSpPr>
              <p:cNvPr id="494658" name="Oval 56"/>
              <p:cNvSpPr>
                <a:spLocks noChangeArrowheads="1"/>
              </p:cNvSpPr>
              <p:nvPr/>
            </p:nvSpPr>
            <p:spPr bwMode="auto">
              <a:xfrm rot="16200000" flipH="1">
                <a:off x="1902" y="3506"/>
                <a:ext cx="248" cy="23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494659" name="AutoShape 57"/>
              <p:cNvSpPr>
                <a:spLocks noChangeArrowheads="1"/>
              </p:cNvSpPr>
              <p:nvPr/>
            </p:nvSpPr>
            <p:spPr bwMode="auto">
              <a:xfrm rot="16200000" flipH="1">
                <a:off x="1903" y="3533"/>
                <a:ext cx="197" cy="192"/>
              </a:xfrm>
              <a:prstGeom prst="triangle">
                <a:avLst>
                  <a:gd name="adj" fmla="val 50000"/>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sp>
          <p:nvSpPr>
            <p:cNvPr id="494656" name="Freeform 58"/>
            <p:cNvSpPr>
              <a:spLocks/>
            </p:cNvSpPr>
            <p:nvPr/>
          </p:nvSpPr>
          <p:spPr bwMode="auto">
            <a:xfrm>
              <a:off x="3051" y="2223"/>
              <a:ext cx="1152" cy="216"/>
            </a:xfrm>
            <a:custGeom>
              <a:avLst/>
              <a:gdLst>
                <a:gd name="T0" fmla="*/ 0 w 1152"/>
                <a:gd name="T1" fmla="*/ 216 h 216"/>
                <a:gd name="T2" fmla="*/ 0 w 1152"/>
                <a:gd name="T3" fmla="*/ 0 h 216"/>
                <a:gd name="T4" fmla="*/ 945 w 1152"/>
                <a:gd name="T5" fmla="*/ 0 h 216"/>
                <a:gd name="T6" fmla="*/ 945 w 1152"/>
                <a:gd name="T7" fmla="*/ 117 h 216"/>
                <a:gd name="T8" fmla="*/ 1152 w 1152"/>
                <a:gd name="T9" fmla="*/ 117 h 2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2" h="216">
                  <a:moveTo>
                    <a:pt x="0" y="216"/>
                  </a:moveTo>
                  <a:lnTo>
                    <a:pt x="0" y="0"/>
                  </a:lnTo>
                  <a:lnTo>
                    <a:pt x="945" y="0"/>
                  </a:lnTo>
                  <a:lnTo>
                    <a:pt x="945" y="117"/>
                  </a:lnTo>
                  <a:lnTo>
                    <a:pt x="1152" y="117"/>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4657" name="Freeform 59"/>
            <p:cNvSpPr>
              <a:spLocks/>
            </p:cNvSpPr>
            <p:nvPr/>
          </p:nvSpPr>
          <p:spPr bwMode="auto">
            <a:xfrm>
              <a:off x="3168" y="2331"/>
              <a:ext cx="1035" cy="108"/>
            </a:xfrm>
            <a:custGeom>
              <a:avLst/>
              <a:gdLst>
                <a:gd name="T0" fmla="*/ 0 w 1035"/>
                <a:gd name="T1" fmla="*/ 18 h 135"/>
                <a:gd name="T2" fmla="*/ 0 w 1035"/>
                <a:gd name="T3" fmla="*/ 0 h 135"/>
                <a:gd name="T4" fmla="*/ 720 w 1035"/>
                <a:gd name="T5" fmla="*/ 0 h 135"/>
                <a:gd name="T6" fmla="*/ 720 w 1035"/>
                <a:gd name="T7" fmla="*/ 18 h 135"/>
                <a:gd name="T8" fmla="*/ 1035 w 1035"/>
                <a:gd name="T9" fmla="*/ 18 h 1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5" h="135">
                  <a:moveTo>
                    <a:pt x="0" y="135"/>
                  </a:moveTo>
                  <a:lnTo>
                    <a:pt x="0" y="0"/>
                  </a:lnTo>
                  <a:lnTo>
                    <a:pt x="720" y="0"/>
                  </a:lnTo>
                  <a:lnTo>
                    <a:pt x="720" y="135"/>
                  </a:lnTo>
                  <a:lnTo>
                    <a:pt x="1035" y="135"/>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494628" name="Line 60"/>
          <p:cNvSpPr>
            <a:spLocks noChangeShapeType="1"/>
          </p:cNvSpPr>
          <p:nvPr/>
        </p:nvSpPr>
        <p:spPr bwMode="auto">
          <a:xfrm>
            <a:off x="6707188" y="3446463"/>
            <a:ext cx="411162"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4629" name="Text Box 61"/>
          <p:cNvSpPr txBox="1">
            <a:spLocks noChangeArrowheads="1"/>
          </p:cNvSpPr>
          <p:nvPr/>
        </p:nvSpPr>
        <p:spPr bwMode="auto">
          <a:xfrm>
            <a:off x="7118350" y="3175000"/>
            <a:ext cx="15684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800"/>
              <a:t>Vapour Out</a:t>
            </a:r>
            <a:endParaRPr lang="th-TH" altLang="en-US" sz="1800"/>
          </a:p>
        </p:txBody>
      </p:sp>
      <p:sp>
        <p:nvSpPr>
          <p:cNvPr id="494630" name="Line 62"/>
          <p:cNvSpPr>
            <a:spLocks noChangeShapeType="1"/>
          </p:cNvSpPr>
          <p:nvPr/>
        </p:nvSpPr>
        <p:spPr bwMode="auto">
          <a:xfrm>
            <a:off x="3335338" y="4157663"/>
            <a:ext cx="411162"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4631" name="Text Box 63"/>
          <p:cNvSpPr txBox="1">
            <a:spLocks noChangeArrowheads="1"/>
          </p:cNvSpPr>
          <p:nvPr/>
        </p:nvSpPr>
        <p:spPr bwMode="auto">
          <a:xfrm>
            <a:off x="2259013" y="3944938"/>
            <a:ext cx="15684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800"/>
              <a:t>Steam in</a:t>
            </a:r>
            <a:endParaRPr lang="th-TH" altLang="en-US" sz="1800"/>
          </a:p>
        </p:txBody>
      </p:sp>
      <p:sp>
        <p:nvSpPr>
          <p:cNvPr id="494632" name="Line 64"/>
          <p:cNvSpPr>
            <a:spLocks noChangeShapeType="1"/>
          </p:cNvSpPr>
          <p:nvPr/>
        </p:nvSpPr>
        <p:spPr bwMode="auto">
          <a:xfrm>
            <a:off x="3276600" y="6022975"/>
            <a:ext cx="411163"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4633" name="Text Box 65"/>
          <p:cNvSpPr txBox="1">
            <a:spLocks noChangeArrowheads="1"/>
          </p:cNvSpPr>
          <p:nvPr/>
        </p:nvSpPr>
        <p:spPr bwMode="auto">
          <a:xfrm>
            <a:off x="2120900" y="5824538"/>
            <a:ext cx="15684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800"/>
              <a:t>Liquor in</a:t>
            </a:r>
            <a:endParaRPr lang="th-TH" altLang="en-US" sz="1800"/>
          </a:p>
        </p:txBody>
      </p:sp>
      <p:sp>
        <p:nvSpPr>
          <p:cNvPr id="494634" name="Line 66"/>
          <p:cNvSpPr>
            <a:spLocks noChangeShapeType="1"/>
          </p:cNvSpPr>
          <p:nvPr/>
        </p:nvSpPr>
        <p:spPr bwMode="auto">
          <a:xfrm>
            <a:off x="7161213" y="5164138"/>
            <a:ext cx="41275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4635" name="Text Box 67"/>
          <p:cNvSpPr txBox="1">
            <a:spLocks noChangeArrowheads="1"/>
          </p:cNvSpPr>
          <p:nvPr/>
        </p:nvSpPr>
        <p:spPr bwMode="auto">
          <a:xfrm>
            <a:off x="7575550" y="5010150"/>
            <a:ext cx="15684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800"/>
              <a:t>Liquor out</a:t>
            </a:r>
            <a:endParaRPr lang="th-TH" altLang="en-US" sz="1800"/>
          </a:p>
        </p:txBody>
      </p:sp>
    </p:spTree>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5618" name="Picture 2" descr="figure6"/>
          <p:cNvPicPr>
            <a:picLocks noGrp="1" noChangeAspect="1" noChangeArrowheads="1"/>
          </p:cNvPicPr>
          <p:nvPr>
            <p:ph/>
          </p:nvPr>
        </p:nvPicPr>
        <p:blipFill>
          <a:blip r:embed="rId2">
            <a:extLst>
              <a:ext uri="{28A0092B-C50C-407E-A947-70E740481C1C}">
                <a14:useLocalDpi xmlns:a14="http://schemas.microsoft.com/office/drawing/2010/main" val="0"/>
              </a:ext>
            </a:extLst>
          </a:blip>
          <a:srcRect/>
          <a:stretch>
            <a:fillRect/>
          </a:stretch>
        </p:blipFill>
        <p:spPr>
          <a:xfrm>
            <a:off x="1887538" y="1176338"/>
            <a:ext cx="5789612" cy="5122862"/>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038340" name="Rectangle 4"/>
          <p:cNvSpPr>
            <a:spLocks noChangeArrowheads="1"/>
          </p:cNvSpPr>
          <p:nvPr/>
        </p:nvSpPr>
        <p:spPr bwMode="auto">
          <a:xfrm>
            <a:off x="327025" y="463550"/>
            <a:ext cx="4289425"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20000"/>
              </a:spcBef>
              <a:buClr>
                <a:schemeClr val="hlink"/>
              </a:buClr>
              <a:buSzPct val="80000"/>
              <a:buFont typeface="Wingdings" panose="05000000000000000000" pitchFamily="2" charset="2"/>
              <a:buNone/>
              <a:defRPr/>
            </a:pPr>
            <a:r>
              <a:rPr lang="en-US" altLang="en-US" sz="3200" dirty="0">
                <a:effectLst>
                  <a:outerShdw blurRad="38100" dist="38100" dir="2700000" algn="tl">
                    <a:srgbClr val="000000"/>
                  </a:outerShdw>
                </a:effectLst>
              </a:rPr>
              <a:t>Rising Film Evaporator</a:t>
            </a:r>
            <a:endParaRPr lang="th-TH" altLang="en-US" sz="3200" dirty="0">
              <a:effectLst>
                <a:outerShdw blurRad="38100" dist="38100" dir="2700000" algn="tl">
                  <a:srgbClr val="000000"/>
                </a:outerShdw>
              </a:effectLst>
            </a:endParaRPr>
          </a:p>
        </p:txBody>
      </p:sp>
    </p:spTree>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6642" name="Rectangle 2"/>
          <p:cNvSpPr>
            <a:spLocks noGrp="1" noChangeArrowheads="1"/>
          </p:cNvSpPr>
          <p:nvPr>
            <p:ph type="title"/>
          </p:nvPr>
        </p:nvSpPr>
        <p:spPr>
          <a:xfrm>
            <a:off x="431800" y="-104775"/>
            <a:ext cx="8229600" cy="1143000"/>
          </a:xfrm>
        </p:spPr>
        <p:txBody>
          <a:bodyPr/>
          <a:lstStyle/>
          <a:p>
            <a:r>
              <a:rPr lang="en-US" altLang="en-US" smtClean="0"/>
              <a:t>Evaporator</a:t>
            </a:r>
            <a:endParaRPr lang="th-TH" altLang="en-US" smtClean="0"/>
          </a:p>
        </p:txBody>
      </p:sp>
      <p:sp>
        <p:nvSpPr>
          <p:cNvPr id="1083397" name="Text Box 5"/>
          <p:cNvSpPr txBox="1">
            <a:spLocks noChangeArrowheads="1"/>
          </p:cNvSpPr>
          <p:nvPr/>
        </p:nvSpPr>
        <p:spPr bwMode="auto">
          <a:xfrm>
            <a:off x="431800" y="814388"/>
            <a:ext cx="51435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3200" u="sng" dirty="0">
                <a:solidFill>
                  <a:srgbClr val="00CC00"/>
                </a:solidFill>
                <a:effectLst>
                  <a:outerShdw blurRad="38100" dist="38100" dir="2700000" algn="tl">
                    <a:srgbClr val="000000"/>
                  </a:outerShdw>
                </a:effectLst>
              </a:rPr>
              <a:t>Tube Evaporator</a:t>
            </a:r>
            <a:endParaRPr lang="th-TH" altLang="en-US" sz="3200" u="sng" dirty="0">
              <a:solidFill>
                <a:srgbClr val="00CC00"/>
              </a:solidFill>
              <a:effectLst>
                <a:outerShdw blurRad="38100" dist="38100" dir="2700000" algn="tl">
                  <a:srgbClr val="000000"/>
                </a:outerShdw>
              </a:effectLst>
            </a:endParaRPr>
          </a:p>
        </p:txBody>
      </p:sp>
      <p:pic>
        <p:nvPicPr>
          <p:cNvPr id="496644" name="Picture 4" descr="IMG_7430"/>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371600" y="1517650"/>
            <a:ext cx="6350000" cy="476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6" name="Rectangle 2"/>
          <p:cNvSpPr>
            <a:spLocks noGrp="1" noChangeArrowheads="1"/>
          </p:cNvSpPr>
          <p:nvPr>
            <p:ph type="title"/>
          </p:nvPr>
        </p:nvSpPr>
        <p:spPr>
          <a:xfrm>
            <a:off x="515938" y="0"/>
            <a:ext cx="8229600" cy="817563"/>
          </a:xfrm>
        </p:spPr>
        <p:txBody>
          <a:bodyPr/>
          <a:lstStyle/>
          <a:p>
            <a:r>
              <a:rPr lang="en-US" altLang="en-US" sz="6000" u="sng" smtClean="0"/>
              <a:t>Evaporator</a:t>
            </a:r>
            <a:endParaRPr lang="th-TH" altLang="en-US" sz="6000" u="sng" smtClean="0"/>
          </a:p>
        </p:txBody>
      </p:sp>
      <p:sp>
        <p:nvSpPr>
          <p:cNvPr id="497667" name="Rectangle 3"/>
          <p:cNvSpPr>
            <a:spLocks noGrp="1" noChangeArrowheads="1"/>
          </p:cNvSpPr>
          <p:nvPr>
            <p:ph type="body" idx="1"/>
          </p:nvPr>
        </p:nvSpPr>
        <p:spPr>
          <a:xfrm>
            <a:off x="357188" y="1916113"/>
            <a:ext cx="8229600" cy="4156075"/>
          </a:xfrm>
        </p:spPr>
        <p:txBody>
          <a:bodyPr/>
          <a:lstStyle/>
          <a:p>
            <a:pPr marL="609600" indent="-609600">
              <a:lnSpc>
                <a:spcPct val="90000"/>
              </a:lnSpc>
              <a:buFont typeface="Wingdings" panose="05000000000000000000" pitchFamily="2" charset="2"/>
              <a:buNone/>
            </a:pPr>
            <a:r>
              <a:rPr lang="th-TH" altLang="en-US" b="1" smtClean="0">
                <a:solidFill>
                  <a:srgbClr val="9E0075"/>
                </a:solidFill>
              </a:rPr>
              <a:t>1.    ถ้าเดิน </a:t>
            </a:r>
            <a:r>
              <a:rPr lang="en-US" altLang="en-US" sz="2200" b="1" smtClean="0">
                <a:solidFill>
                  <a:srgbClr val="9E0075"/>
                </a:solidFill>
              </a:rPr>
              <a:t>Load</a:t>
            </a:r>
            <a:r>
              <a:rPr lang="en-US" altLang="en-US" b="1" smtClean="0">
                <a:solidFill>
                  <a:srgbClr val="9E0075"/>
                </a:solidFill>
              </a:rPr>
              <a:t> </a:t>
            </a:r>
            <a:r>
              <a:rPr lang="th-TH" altLang="en-US" b="1" smtClean="0">
                <a:solidFill>
                  <a:srgbClr val="9E0075"/>
                </a:solidFill>
              </a:rPr>
              <a:t>ต่ำกว่า </a:t>
            </a:r>
            <a:r>
              <a:rPr lang="en-US" altLang="en-US" sz="2200" b="1" smtClean="0">
                <a:solidFill>
                  <a:srgbClr val="9E0075"/>
                </a:solidFill>
              </a:rPr>
              <a:t>50%</a:t>
            </a:r>
            <a:r>
              <a:rPr lang="en-US" altLang="en-US" b="1" smtClean="0">
                <a:solidFill>
                  <a:srgbClr val="9E0075"/>
                </a:solidFill>
              </a:rPr>
              <a:t> </a:t>
            </a:r>
            <a:r>
              <a:rPr lang="th-TH" altLang="en-US" b="1" smtClean="0">
                <a:solidFill>
                  <a:srgbClr val="9E0075"/>
                </a:solidFill>
              </a:rPr>
              <a:t>จะทำให้ประสิทธิภาพในการต้มระเหยต่ำและจะทำให้เกิดตัว </a:t>
            </a:r>
            <a:r>
              <a:rPr lang="en-US" altLang="en-US" sz="2200" b="1" smtClean="0">
                <a:solidFill>
                  <a:srgbClr val="9E0075"/>
                </a:solidFill>
              </a:rPr>
              <a:t>Scale </a:t>
            </a:r>
            <a:r>
              <a:rPr lang="th-TH" altLang="en-US" b="1" smtClean="0">
                <a:solidFill>
                  <a:srgbClr val="9E0075"/>
                </a:solidFill>
              </a:rPr>
              <a:t>ในเส้นท่อได้ง่าย ซึ่งเนื่องมาจาก</a:t>
            </a:r>
          </a:p>
          <a:p>
            <a:pPr marL="609600" indent="-609600">
              <a:lnSpc>
                <a:spcPct val="90000"/>
              </a:lnSpc>
              <a:buFont typeface="Wingdings" panose="05000000000000000000" pitchFamily="2" charset="2"/>
              <a:buNone/>
            </a:pPr>
            <a:r>
              <a:rPr lang="th-TH" altLang="en-US" b="1" smtClean="0">
                <a:solidFill>
                  <a:srgbClr val="9E0075"/>
                </a:solidFill>
              </a:rPr>
              <a:t>	1.1 การต้มระเหยจะไม่เสถียรเมื่อความเร็วของ</a:t>
            </a:r>
            <a:r>
              <a:rPr lang="en-US" altLang="en-US" b="1" smtClean="0">
                <a:solidFill>
                  <a:srgbClr val="9E0075"/>
                </a:solidFill>
              </a:rPr>
              <a:t> </a:t>
            </a:r>
            <a:r>
              <a:rPr lang="en-US" altLang="en-US" sz="2200" b="1" smtClean="0">
                <a:solidFill>
                  <a:srgbClr val="9E0075"/>
                </a:solidFill>
              </a:rPr>
              <a:t>Black</a:t>
            </a:r>
            <a:r>
              <a:rPr lang="th-TH" altLang="en-US" sz="2200" b="1" smtClean="0">
                <a:solidFill>
                  <a:srgbClr val="9E0075"/>
                </a:solidFill>
              </a:rPr>
              <a:t> </a:t>
            </a:r>
            <a:r>
              <a:rPr lang="en-US" altLang="en-US" sz="2200" b="1" smtClean="0">
                <a:solidFill>
                  <a:srgbClr val="9E0075"/>
                </a:solidFill>
              </a:rPr>
              <a:t>Liquor </a:t>
            </a:r>
            <a:r>
              <a:rPr lang="th-TH" altLang="en-US" b="1" smtClean="0">
                <a:solidFill>
                  <a:srgbClr val="9E0075"/>
                </a:solidFill>
              </a:rPr>
              <a:t>ต่ำ</a:t>
            </a:r>
          </a:p>
          <a:p>
            <a:pPr marL="609600" indent="-609600">
              <a:lnSpc>
                <a:spcPct val="90000"/>
              </a:lnSpc>
              <a:buFont typeface="Wingdings" panose="05000000000000000000" pitchFamily="2" charset="2"/>
              <a:buNone/>
            </a:pPr>
            <a:r>
              <a:rPr lang="th-TH" altLang="en-US" b="1" smtClean="0">
                <a:solidFill>
                  <a:srgbClr val="9E0075"/>
                </a:solidFill>
              </a:rPr>
              <a:t>	1.2 ที่ความเร็วต่ำจะทำให้เกิด </a:t>
            </a:r>
            <a:r>
              <a:rPr lang="th-TH" altLang="en-US" b="1" smtClean="0">
                <a:solidFill>
                  <a:srgbClr val="FF0000"/>
                </a:solidFill>
              </a:rPr>
              <a:t>จุดร้อน </a:t>
            </a:r>
            <a:r>
              <a:rPr lang="th-TH" altLang="en-US" sz="2200" b="1" smtClean="0">
                <a:solidFill>
                  <a:srgbClr val="FF0000"/>
                </a:solidFill>
              </a:rPr>
              <a:t>(</a:t>
            </a:r>
            <a:r>
              <a:rPr lang="en-US" altLang="en-US" sz="2200" b="1" smtClean="0">
                <a:solidFill>
                  <a:srgbClr val="FF0000"/>
                </a:solidFill>
              </a:rPr>
              <a:t>Hot Spot)</a:t>
            </a:r>
            <a:r>
              <a:rPr lang="en-US" altLang="en-US" b="1" smtClean="0">
                <a:solidFill>
                  <a:srgbClr val="9E0075"/>
                </a:solidFill>
              </a:rPr>
              <a:t> </a:t>
            </a:r>
            <a:r>
              <a:rPr lang="th-TH" altLang="en-US" b="1" smtClean="0">
                <a:solidFill>
                  <a:srgbClr val="9E0075"/>
                </a:solidFill>
              </a:rPr>
              <a:t>ซึ่งทำให้เกิด </a:t>
            </a:r>
            <a:r>
              <a:rPr lang="en-US" altLang="en-US" b="1" smtClean="0">
                <a:solidFill>
                  <a:srgbClr val="9E0075"/>
                </a:solidFill>
              </a:rPr>
              <a:t> </a:t>
            </a:r>
          </a:p>
          <a:p>
            <a:pPr marL="609600" indent="-609600">
              <a:lnSpc>
                <a:spcPct val="90000"/>
              </a:lnSpc>
              <a:buFont typeface="Wingdings" panose="05000000000000000000" pitchFamily="2" charset="2"/>
              <a:buNone/>
            </a:pPr>
            <a:r>
              <a:rPr lang="en-US" altLang="en-US" b="1" smtClean="0">
                <a:solidFill>
                  <a:srgbClr val="9E0075"/>
                </a:solidFill>
              </a:rPr>
              <a:t>          </a:t>
            </a:r>
            <a:r>
              <a:rPr lang="en-US" altLang="en-US" sz="2200" b="1" smtClean="0">
                <a:solidFill>
                  <a:srgbClr val="9E0075"/>
                </a:solidFill>
              </a:rPr>
              <a:t>Scale</a:t>
            </a:r>
            <a:r>
              <a:rPr lang="en-US" altLang="en-US" b="1" smtClean="0">
                <a:solidFill>
                  <a:srgbClr val="9E0075"/>
                </a:solidFill>
              </a:rPr>
              <a:t> </a:t>
            </a:r>
            <a:r>
              <a:rPr lang="th-TH" altLang="en-US" b="1" smtClean="0">
                <a:solidFill>
                  <a:srgbClr val="9E0075"/>
                </a:solidFill>
              </a:rPr>
              <a:t>ได้ </a:t>
            </a:r>
          </a:p>
          <a:p>
            <a:pPr marL="609600" indent="-609600">
              <a:lnSpc>
                <a:spcPct val="90000"/>
              </a:lnSpc>
              <a:buFont typeface="Wingdings" panose="05000000000000000000" pitchFamily="2" charset="2"/>
              <a:buNone/>
            </a:pPr>
            <a:r>
              <a:rPr lang="th-TH" altLang="en-US" b="1" smtClean="0">
                <a:solidFill>
                  <a:srgbClr val="000066"/>
                </a:solidFill>
              </a:rPr>
              <a:t>2.    ถ้าเกิดการอุดตันของ </a:t>
            </a:r>
            <a:r>
              <a:rPr lang="en-US" altLang="en-US" sz="2200" b="1" smtClean="0">
                <a:solidFill>
                  <a:srgbClr val="000066"/>
                </a:solidFill>
              </a:rPr>
              <a:t>Black Liquor</a:t>
            </a:r>
            <a:r>
              <a:rPr lang="en-US" altLang="en-US" b="1" smtClean="0">
                <a:solidFill>
                  <a:srgbClr val="000066"/>
                </a:solidFill>
              </a:rPr>
              <a:t> </a:t>
            </a:r>
            <a:r>
              <a:rPr lang="th-TH" altLang="en-US" b="1" smtClean="0">
                <a:solidFill>
                  <a:srgbClr val="000066"/>
                </a:solidFill>
              </a:rPr>
              <a:t>ขึ้นในเส้นท่อจะทำการ </a:t>
            </a:r>
            <a:r>
              <a:rPr lang="en-US" altLang="en-US" sz="2200" b="1" smtClean="0">
                <a:solidFill>
                  <a:srgbClr val="000066"/>
                </a:solidFill>
              </a:rPr>
              <a:t>Clean </a:t>
            </a:r>
            <a:r>
              <a:rPr lang="th-TH" altLang="en-US" b="1" smtClean="0">
                <a:solidFill>
                  <a:srgbClr val="000066"/>
                </a:solidFill>
              </a:rPr>
              <a:t>โดยใช้การล้างไม่ได้ จะต้องใช้การ </a:t>
            </a:r>
            <a:r>
              <a:rPr lang="en-US" altLang="en-US" sz="2200" b="1" smtClean="0">
                <a:solidFill>
                  <a:srgbClr val="000066"/>
                </a:solidFill>
              </a:rPr>
              <a:t>Clean</a:t>
            </a:r>
            <a:r>
              <a:rPr lang="en-US" altLang="en-US" b="1" smtClean="0">
                <a:solidFill>
                  <a:srgbClr val="000066"/>
                </a:solidFill>
              </a:rPr>
              <a:t> </a:t>
            </a:r>
            <a:r>
              <a:rPr lang="th-TH" altLang="en-US" b="1" smtClean="0">
                <a:solidFill>
                  <a:srgbClr val="000066"/>
                </a:solidFill>
              </a:rPr>
              <a:t>โดยเครื่องมือเท่านั้น</a:t>
            </a:r>
          </a:p>
        </p:txBody>
      </p:sp>
      <p:sp>
        <p:nvSpPr>
          <p:cNvPr id="497668" name="Text Box 4"/>
          <p:cNvSpPr txBox="1">
            <a:spLocks noChangeArrowheads="1"/>
          </p:cNvSpPr>
          <p:nvPr/>
        </p:nvSpPr>
        <p:spPr bwMode="auto">
          <a:xfrm>
            <a:off x="357188" y="877888"/>
            <a:ext cx="52387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2800">
                <a:solidFill>
                  <a:srgbClr val="000066"/>
                </a:solidFill>
              </a:rPr>
              <a:t>Rising Film (RF) Evaporator</a:t>
            </a:r>
            <a:endParaRPr lang="th-TH" altLang="en-US" sz="2800">
              <a:solidFill>
                <a:srgbClr val="000066"/>
              </a:solidFill>
            </a:endParaRPr>
          </a:p>
        </p:txBody>
      </p:sp>
      <p:sp>
        <p:nvSpPr>
          <p:cNvPr id="497669" name="Text Box 5"/>
          <p:cNvSpPr txBox="1">
            <a:spLocks noChangeArrowheads="1"/>
          </p:cNvSpPr>
          <p:nvPr/>
        </p:nvSpPr>
        <p:spPr bwMode="auto">
          <a:xfrm>
            <a:off x="357188" y="1274763"/>
            <a:ext cx="7662862"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th-TH" altLang="en-US" sz="3600" u="sng">
                <a:solidFill>
                  <a:srgbClr val="A80000"/>
                </a:solidFill>
                <a:cs typeface="FreesiaUPC" panose="020B0604020202020204" pitchFamily="34" charset="-34"/>
              </a:rPr>
              <a:t>ข้อเสียของ </a:t>
            </a:r>
            <a:r>
              <a:rPr lang="en-US" altLang="en-US" sz="2500" u="sng">
                <a:solidFill>
                  <a:srgbClr val="A80000"/>
                </a:solidFill>
                <a:cs typeface="FreesiaUPC" panose="020B0604020202020204" pitchFamily="34" charset="-34"/>
              </a:rPr>
              <a:t>Rising Film (RF) Evaporator</a:t>
            </a:r>
            <a:endParaRPr lang="th-TH" altLang="en-US" sz="2500" u="sng">
              <a:solidFill>
                <a:srgbClr val="A80000"/>
              </a:solidFill>
              <a:cs typeface="FreesiaUPC" panose="020B0604020202020204" pitchFamily="34" charset="-34"/>
            </a:endParaRPr>
          </a:p>
        </p:txBody>
      </p:sp>
    </p:spTree>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8690" name="Picture 3" descr="Picture 07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363" y="1820863"/>
            <a:ext cx="4322762" cy="324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691" name="Picture 4" descr="Picture 07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56125" y="1817688"/>
            <a:ext cx="4325938" cy="324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692" name="Rectangle 2"/>
          <p:cNvSpPr>
            <a:spLocks noGrp="1" noChangeArrowheads="1"/>
          </p:cNvSpPr>
          <p:nvPr>
            <p:ph type="title"/>
          </p:nvPr>
        </p:nvSpPr>
        <p:spPr/>
        <p:txBody>
          <a:bodyPr/>
          <a:lstStyle/>
          <a:p>
            <a:r>
              <a:rPr lang="en-US" altLang="en-US" u="sng" smtClean="0"/>
              <a:t>Evaporator</a:t>
            </a:r>
            <a:endParaRPr lang="th-TH" altLang="en-US" u="sng" smtClean="0"/>
          </a:p>
        </p:txBody>
      </p:sp>
      <p:sp>
        <p:nvSpPr>
          <p:cNvPr id="498693" name="Text Box 5"/>
          <p:cNvSpPr>
            <a:spLocks noGrp="1" noChangeArrowheads="1"/>
          </p:cNvSpPr>
          <p:nvPr>
            <p:ph type="body" idx="1"/>
          </p:nvPr>
        </p:nvSpPr>
        <p:spPr>
          <a:xfrm>
            <a:off x="457200" y="1054100"/>
            <a:ext cx="8229600" cy="749300"/>
          </a:xfrm>
          <a:noFill/>
          <a:extLst>
            <a:ext uri="{91240B29-F687-4F45-9708-019B960494DF}">
              <a14:hiddenLine xmlns:a14="http://schemas.microsoft.com/office/drawing/2010/main" w="9525" cap="flat" cmpd="sng" algn="ctr">
                <a:solidFill>
                  <a:schemeClr val="tx1"/>
                </a:solidFill>
                <a:prstDash val="lgDash"/>
                <a:miter lim="800000"/>
                <a:headEnd type="none" w="med" len="med"/>
                <a:tailEnd type="none" w="med" len="med"/>
              </a14:hiddenLine>
            </a:ext>
          </a:extLst>
        </p:spPr>
        <p:txBody>
          <a:bodyPr/>
          <a:lstStyle/>
          <a:p>
            <a:pPr>
              <a:spcBef>
                <a:spcPct val="50000"/>
              </a:spcBef>
              <a:buFontTx/>
              <a:buNone/>
            </a:pPr>
            <a:r>
              <a:rPr lang="en-US" altLang="en-US" b="1" u="sng" smtClean="0">
                <a:solidFill>
                  <a:srgbClr val="00CC00"/>
                </a:solidFill>
              </a:rPr>
              <a:t>Scale in Evaporator Tube</a:t>
            </a:r>
            <a:endParaRPr lang="th-TH" altLang="en-US" b="1" u="sng" smtClean="0">
              <a:solidFill>
                <a:srgbClr val="00CC00"/>
              </a:solidFill>
            </a:endParaRPr>
          </a:p>
        </p:txBody>
      </p:sp>
      <p:sp>
        <p:nvSpPr>
          <p:cNvPr id="1098758" name="Line 6"/>
          <p:cNvSpPr>
            <a:spLocks noChangeShapeType="1"/>
          </p:cNvSpPr>
          <p:nvPr/>
        </p:nvSpPr>
        <p:spPr bwMode="auto">
          <a:xfrm flipV="1">
            <a:off x="5340350" y="4021138"/>
            <a:ext cx="469900" cy="825500"/>
          </a:xfrm>
          <a:prstGeom prst="line">
            <a:avLst/>
          </a:prstGeom>
          <a:noFill/>
          <a:ln w="3492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98759" name="Freeform 7"/>
          <p:cNvSpPr>
            <a:spLocks/>
          </p:cNvSpPr>
          <p:nvPr/>
        </p:nvSpPr>
        <p:spPr bwMode="auto">
          <a:xfrm>
            <a:off x="5700713" y="3575050"/>
            <a:ext cx="406400" cy="977900"/>
          </a:xfrm>
          <a:custGeom>
            <a:avLst/>
            <a:gdLst>
              <a:gd name="T0" fmla="*/ 2147483646 w 256"/>
              <a:gd name="T1" fmla="*/ 0 h 616"/>
              <a:gd name="T2" fmla="*/ 2147483646 w 256"/>
              <a:gd name="T3" fmla="*/ 2147483646 h 616"/>
              <a:gd name="T4" fmla="*/ 0 w 256"/>
              <a:gd name="T5" fmla="*/ 2147483646 h 616"/>
              <a:gd name="T6" fmla="*/ 2147483646 w 256"/>
              <a:gd name="T7" fmla="*/ 2147483646 h 616"/>
              <a:gd name="T8" fmla="*/ 2147483646 w 256"/>
              <a:gd name="T9" fmla="*/ 2147483646 h 616"/>
              <a:gd name="T10" fmla="*/ 2147483646 w 256"/>
              <a:gd name="T11" fmla="*/ 2147483646 h 616"/>
              <a:gd name="T12" fmla="*/ 2147483646 w 256"/>
              <a:gd name="T13" fmla="*/ 2147483646 h 616"/>
              <a:gd name="T14" fmla="*/ 2147483646 w 256"/>
              <a:gd name="T15" fmla="*/ 2147483646 h 616"/>
              <a:gd name="T16" fmla="*/ 2147483646 w 256"/>
              <a:gd name="T17" fmla="*/ 2147483646 h 6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56" h="616">
                <a:moveTo>
                  <a:pt x="24" y="0"/>
                </a:moveTo>
                <a:cubicBezTo>
                  <a:pt x="21" y="11"/>
                  <a:pt x="19" y="21"/>
                  <a:pt x="16" y="32"/>
                </a:cubicBezTo>
                <a:cubicBezTo>
                  <a:pt x="11" y="48"/>
                  <a:pt x="0" y="80"/>
                  <a:pt x="0" y="80"/>
                </a:cubicBezTo>
                <a:cubicBezTo>
                  <a:pt x="12" y="138"/>
                  <a:pt x="29" y="199"/>
                  <a:pt x="48" y="256"/>
                </a:cubicBezTo>
                <a:cubicBezTo>
                  <a:pt x="54" y="274"/>
                  <a:pt x="74" y="286"/>
                  <a:pt x="80" y="304"/>
                </a:cubicBezTo>
                <a:cubicBezTo>
                  <a:pt x="96" y="352"/>
                  <a:pt x="109" y="411"/>
                  <a:pt x="152" y="440"/>
                </a:cubicBezTo>
                <a:cubicBezTo>
                  <a:pt x="179" y="480"/>
                  <a:pt x="160" y="459"/>
                  <a:pt x="216" y="496"/>
                </a:cubicBezTo>
                <a:cubicBezTo>
                  <a:pt x="224" y="501"/>
                  <a:pt x="240" y="512"/>
                  <a:pt x="240" y="512"/>
                </a:cubicBezTo>
                <a:cubicBezTo>
                  <a:pt x="245" y="547"/>
                  <a:pt x="256" y="581"/>
                  <a:pt x="256" y="616"/>
                </a:cubicBezTo>
              </a:path>
            </a:pathLst>
          </a:custGeom>
          <a:noFill/>
          <a:ln w="41275"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98761" name="Text Box 9"/>
          <p:cNvSpPr txBox="1">
            <a:spLocks noChangeArrowheads="1"/>
          </p:cNvSpPr>
          <p:nvPr/>
        </p:nvSpPr>
        <p:spPr bwMode="auto">
          <a:xfrm>
            <a:off x="1358900" y="5232400"/>
            <a:ext cx="7327900"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th-TH" altLang="en-US" sz="4000" dirty="0">
                <a:effectLst>
                  <a:outerShdw blurRad="38100" dist="38100" dir="2700000" algn="tl">
                    <a:srgbClr val="000000"/>
                  </a:outerShdw>
                </a:effectLst>
              </a:rPr>
              <a:t>จะเป็นตัวต้านทานการถ่ายเทความร้อน</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098759"/>
                                        </p:tgtEl>
                                        <p:attrNameLst>
                                          <p:attrName>style.visibility</p:attrName>
                                        </p:attrNameLst>
                                      </p:cBhvr>
                                      <p:to>
                                        <p:strVal val="visible"/>
                                      </p:to>
                                    </p:set>
                                    <p:animEffect transition="in" filter="blinds(horizontal)">
                                      <p:cBhvr>
                                        <p:cTn id="7" dur="500"/>
                                        <p:tgtEl>
                                          <p:spTgt spid="109875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098758"/>
                                        </p:tgtEl>
                                        <p:attrNameLst>
                                          <p:attrName>style.visibility</p:attrName>
                                        </p:attrNameLst>
                                      </p:cBhvr>
                                      <p:to>
                                        <p:strVal val="visible"/>
                                      </p:to>
                                    </p:set>
                                    <p:animEffect transition="in" filter="blinds(horizontal)">
                                      <p:cBhvr>
                                        <p:cTn id="12" dur="500"/>
                                        <p:tgtEl>
                                          <p:spTgt spid="109875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1098761"/>
                                        </p:tgtEl>
                                        <p:attrNameLst>
                                          <p:attrName>style.visibility</p:attrName>
                                        </p:attrNameLst>
                                      </p:cBhvr>
                                      <p:to>
                                        <p:strVal val="visible"/>
                                      </p:to>
                                    </p:set>
                                    <p:animEffect transition="in" filter="blinds(horizontal)">
                                      <p:cBhvr>
                                        <p:cTn id="17" dur="500"/>
                                        <p:tgtEl>
                                          <p:spTgt spid="10987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8758" grpId="0" animBg="1"/>
      <p:bldP spid="1098759" grpId="0" animBg="1"/>
      <p:bldP spid="1098761"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9714" name="Rectangle 2"/>
          <p:cNvSpPr>
            <a:spLocks noGrp="1" noChangeArrowheads="1"/>
          </p:cNvSpPr>
          <p:nvPr>
            <p:ph type="title"/>
          </p:nvPr>
        </p:nvSpPr>
        <p:spPr>
          <a:xfrm>
            <a:off x="163513" y="214313"/>
            <a:ext cx="8782050" cy="742950"/>
          </a:xfrm>
        </p:spPr>
        <p:txBody>
          <a:bodyPr/>
          <a:lstStyle/>
          <a:p>
            <a:r>
              <a:rPr lang="en-US" altLang="en-US" u="sng" smtClean="0"/>
              <a:t>Evaporator</a:t>
            </a:r>
            <a:endParaRPr lang="th-TH" altLang="en-US" u="sng" smtClean="0"/>
          </a:p>
        </p:txBody>
      </p:sp>
      <p:sp>
        <p:nvSpPr>
          <p:cNvPr id="499715" name="Rectangle 3"/>
          <p:cNvSpPr>
            <a:spLocks noGrp="1" noChangeArrowheads="1"/>
          </p:cNvSpPr>
          <p:nvPr>
            <p:ph type="body" idx="1"/>
          </p:nvPr>
        </p:nvSpPr>
        <p:spPr>
          <a:xfrm>
            <a:off x="261938" y="1131888"/>
            <a:ext cx="8755062" cy="5341937"/>
          </a:xfrm>
        </p:spPr>
        <p:txBody>
          <a:bodyPr/>
          <a:lstStyle/>
          <a:p>
            <a:pPr>
              <a:buFont typeface="Wingdings" panose="05000000000000000000" pitchFamily="2" charset="2"/>
              <a:buNone/>
            </a:pPr>
            <a:r>
              <a:rPr lang="en-US" altLang="en-US" sz="5300" b="1" u="sng" smtClean="0">
                <a:solidFill>
                  <a:srgbClr val="FF0000"/>
                </a:solidFill>
                <a:latin typeface="Browallia New" panose="020B0604020202020204" pitchFamily="34" charset="-34"/>
                <a:cs typeface="FreesiaUPC" panose="020B0604020202020204" pitchFamily="34" charset="-34"/>
              </a:rPr>
              <a:t>Falling Film (FF) Evaporator</a:t>
            </a:r>
            <a:endParaRPr lang="th-TH" altLang="en-US" sz="5300" b="1" u="sng" smtClean="0">
              <a:solidFill>
                <a:srgbClr val="FF0000"/>
              </a:solidFill>
              <a:latin typeface="Browallia New" panose="020B0604020202020204" pitchFamily="34" charset="-34"/>
              <a:cs typeface="FreesiaUPC" panose="020B0604020202020204" pitchFamily="34" charset="-34"/>
            </a:endParaRPr>
          </a:p>
          <a:p>
            <a:pPr algn="thaiDist">
              <a:buFont typeface="Wingdings" panose="05000000000000000000" pitchFamily="2" charset="2"/>
              <a:buChar char="§"/>
            </a:pPr>
            <a:r>
              <a:rPr lang="en-US" altLang="en-US" sz="3700" b="1" smtClean="0">
                <a:latin typeface="Browallia New" panose="020B0604020202020204" pitchFamily="34" charset="-34"/>
                <a:cs typeface="FreesiaUPC" panose="020B0604020202020204" pitchFamily="34" charset="-34"/>
              </a:rPr>
              <a:t>Evaporator </a:t>
            </a:r>
            <a:r>
              <a:rPr lang="th-TH" altLang="en-US" sz="3700" b="1" smtClean="0">
                <a:latin typeface="Browallia New" panose="020B0604020202020204" pitchFamily="34" charset="-34"/>
                <a:cs typeface="FreesiaUPC" panose="020B0604020202020204" pitchFamily="34" charset="-34"/>
              </a:rPr>
              <a:t>ชนิดนี้จะทำการป้อน </a:t>
            </a:r>
            <a:r>
              <a:rPr lang="en-US" altLang="en-US" sz="3700" b="1" smtClean="0">
                <a:latin typeface="Browallia New" panose="020B0604020202020204" pitchFamily="34" charset="-34"/>
                <a:cs typeface="FreesiaUPC" panose="020B0604020202020204" pitchFamily="34" charset="-34"/>
              </a:rPr>
              <a:t>Black Liquor </a:t>
            </a:r>
            <a:r>
              <a:rPr lang="th-TH" altLang="en-US" sz="3700" b="1" smtClean="0">
                <a:latin typeface="Browallia New" panose="020B0604020202020204" pitchFamily="34" charset="-34"/>
                <a:cs typeface="FreesiaUPC" panose="020B0604020202020204" pitchFamily="34" charset="-34"/>
              </a:rPr>
              <a:t>เข้าด้านใต้ </a:t>
            </a:r>
            <a:r>
              <a:rPr lang="en-US" altLang="en-US" sz="3700" b="1" smtClean="0">
                <a:latin typeface="Browallia New" panose="020B0604020202020204" pitchFamily="34" charset="-34"/>
                <a:cs typeface="FreesiaUPC" panose="020B0604020202020204" pitchFamily="34" charset="-34"/>
              </a:rPr>
              <a:t>Shell </a:t>
            </a:r>
            <a:r>
              <a:rPr lang="th-TH" altLang="en-US" sz="3700" b="1" smtClean="0">
                <a:latin typeface="Browallia New" panose="020B0604020202020204" pitchFamily="34" charset="-34"/>
                <a:cs typeface="FreesiaUPC" panose="020B0604020202020204" pitchFamily="34" charset="-34"/>
              </a:rPr>
              <a:t>ของ </a:t>
            </a:r>
            <a:r>
              <a:rPr lang="en-US" altLang="en-US" sz="3700" b="1" smtClean="0">
                <a:latin typeface="Browallia New" panose="020B0604020202020204" pitchFamily="34" charset="-34"/>
                <a:cs typeface="FreesiaUPC" panose="020B0604020202020204" pitchFamily="34" charset="-34"/>
              </a:rPr>
              <a:t>Evaporator </a:t>
            </a:r>
            <a:r>
              <a:rPr lang="th-TH" altLang="en-US" sz="3700" b="1" smtClean="0">
                <a:latin typeface="Browallia New" panose="020B0604020202020204" pitchFamily="34" charset="-34"/>
                <a:cs typeface="FreesiaUPC" panose="020B0604020202020204" pitchFamily="34" charset="-34"/>
              </a:rPr>
              <a:t>โดยมีการควบคุมระดับที่แน่นอนเอาไว้และจะทำการ </a:t>
            </a:r>
            <a:r>
              <a:rPr lang="en-US" altLang="en-US" sz="3700" b="1" smtClean="0">
                <a:latin typeface="Browallia New" panose="020B0604020202020204" pitchFamily="34" charset="-34"/>
                <a:cs typeface="FreesiaUPC" panose="020B0604020202020204" pitchFamily="34" charset="-34"/>
              </a:rPr>
              <a:t>Spray </a:t>
            </a:r>
            <a:r>
              <a:rPr lang="th-TH" altLang="en-US" sz="3700" b="1" smtClean="0">
                <a:latin typeface="Browallia New" panose="020B0604020202020204" pitchFamily="34" charset="-34"/>
                <a:cs typeface="FreesiaUPC" panose="020B0604020202020204" pitchFamily="34" charset="-34"/>
              </a:rPr>
              <a:t>ตัว </a:t>
            </a:r>
            <a:r>
              <a:rPr lang="en-US" altLang="en-US" sz="3700" b="1" smtClean="0">
                <a:latin typeface="Browallia New" panose="020B0604020202020204" pitchFamily="34" charset="-34"/>
                <a:cs typeface="FreesiaUPC" panose="020B0604020202020204" pitchFamily="34" charset="-34"/>
              </a:rPr>
              <a:t>Black Liquor </a:t>
            </a:r>
            <a:r>
              <a:rPr lang="th-TH" altLang="en-US" sz="3700" b="1" smtClean="0">
                <a:latin typeface="Browallia New" panose="020B0604020202020204" pitchFamily="34" charset="-34"/>
                <a:cs typeface="FreesiaUPC" panose="020B0604020202020204" pitchFamily="34" charset="-34"/>
              </a:rPr>
              <a:t>ไปด้านบนของแผ่น </a:t>
            </a:r>
            <a:r>
              <a:rPr lang="en-US" altLang="en-US" sz="3700" b="1" smtClean="0">
                <a:latin typeface="Browallia New" panose="020B0604020202020204" pitchFamily="34" charset="-34"/>
                <a:cs typeface="FreesiaUPC" panose="020B0604020202020204" pitchFamily="34" charset="-34"/>
              </a:rPr>
              <a:t>Plate (Heating Element) </a:t>
            </a:r>
            <a:r>
              <a:rPr lang="th-TH" altLang="en-US" sz="3700" b="1" smtClean="0">
                <a:latin typeface="Browallia New" panose="020B0604020202020204" pitchFamily="34" charset="-34"/>
                <a:cs typeface="FreesiaUPC" panose="020B0604020202020204" pitchFamily="34" charset="-34"/>
              </a:rPr>
              <a:t>โดยจัด </a:t>
            </a:r>
            <a:r>
              <a:rPr lang="en-US" altLang="en-US" sz="3700" b="1" smtClean="0">
                <a:latin typeface="Browallia New" panose="020B0604020202020204" pitchFamily="34" charset="-34"/>
                <a:cs typeface="FreesiaUPC" panose="020B0604020202020204" pitchFamily="34" charset="-34"/>
              </a:rPr>
              <a:t>Pump </a:t>
            </a:r>
            <a:r>
              <a:rPr lang="th-TH" altLang="en-US" sz="3700" b="1" smtClean="0">
                <a:latin typeface="Browallia New" panose="020B0604020202020204" pitchFamily="34" charset="-34"/>
                <a:cs typeface="FreesiaUPC" panose="020B0604020202020204" pitchFamily="34" charset="-34"/>
              </a:rPr>
              <a:t>ดังรูป และจะไหลลงมาเคลือบตัว </a:t>
            </a:r>
            <a:r>
              <a:rPr lang="en-US" altLang="en-US" sz="3700" b="1" smtClean="0">
                <a:latin typeface="Browallia New" panose="020B0604020202020204" pitchFamily="34" charset="-34"/>
                <a:cs typeface="FreesiaUPC" panose="020B0604020202020204" pitchFamily="34" charset="-34"/>
              </a:rPr>
              <a:t>Plate </a:t>
            </a:r>
            <a:r>
              <a:rPr lang="th-TH" altLang="en-US" sz="3700" b="1" smtClean="0">
                <a:latin typeface="Browallia New" panose="020B0604020202020204" pitchFamily="34" charset="-34"/>
                <a:cs typeface="FreesiaUPC" panose="020B0604020202020204" pitchFamily="34" charset="-34"/>
              </a:rPr>
              <a:t>โดยน้ำหนัก โดยตัว </a:t>
            </a:r>
            <a:r>
              <a:rPr lang="en-US" altLang="en-US" sz="3700" b="1" smtClean="0">
                <a:latin typeface="Browallia New" panose="020B0604020202020204" pitchFamily="34" charset="-34"/>
                <a:cs typeface="FreesiaUPC" panose="020B0604020202020204" pitchFamily="34" charset="-34"/>
              </a:rPr>
              <a:t>Vapour </a:t>
            </a:r>
            <a:r>
              <a:rPr lang="th-TH" altLang="en-US" sz="3700" b="1" smtClean="0">
                <a:latin typeface="Browallia New" panose="020B0604020202020204" pitchFamily="34" charset="-34"/>
                <a:cs typeface="FreesiaUPC" panose="020B0604020202020204" pitchFamily="34" charset="-34"/>
              </a:rPr>
              <a:t>หรือ </a:t>
            </a:r>
            <a:r>
              <a:rPr lang="en-US" altLang="en-US" sz="3700" b="1" smtClean="0">
                <a:latin typeface="Browallia New" panose="020B0604020202020204" pitchFamily="34" charset="-34"/>
                <a:cs typeface="FreesiaUPC" panose="020B0604020202020204" pitchFamily="34" charset="-34"/>
              </a:rPr>
              <a:t>Steam </a:t>
            </a:r>
            <a:r>
              <a:rPr lang="th-TH" altLang="en-US" sz="3700" b="1" smtClean="0">
                <a:latin typeface="Browallia New" panose="020B0604020202020204" pitchFamily="34" charset="-34"/>
                <a:cs typeface="FreesiaUPC" panose="020B0604020202020204" pitchFamily="34" charset="-34"/>
              </a:rPr>
              <a:t>จะเป็นตัวให้ความร้อนอยู่ใน </a:t>
            </a:r>
            <a:r>
              <a:rPr lang="en-US" altLang="en-US" sz="3700" b="1" smtClean="0">
                <a:latin typeface="Browallia New" panose="020B0604020202020204" pitchFamily="34" charset="-34"/>
                <a:cs typeface="FreesiaUPC" panose="020B0604020202020204" pitchFamily="34" charset="-34"/>
              </a:rPr>
              <a:t>Plate </a:t>
            </a:r>
            <a:r>
              <a:rPr lang="th-TH" altLang="en-US" sz="3700" b="1" smtClean="0">
                <a:latin typeface="Browallia New" panose="020B0604020202020204" pitchFamily="34" charset="-34"/>
                <a:cs typeface="FreesiaUPC" panose="020B0604020202020204" pitchFamily="34" charset="-34"/>
              </a:rPr>
              <a:t>โดยเราเรียก </a:t>
            </a:r>
            <a:r>
              <a:rPr lang="en-US" altLang="en-US" sz="3700" b="1" smtClean="0">
                <a:latin typeface="Browallia New" panose="020B0604020202020204" pitchFamily="34" charset="-34"/>
                <a:cs typeface="FreesiaUPC" panose="020B0604020202020204" pitchFamily="34" charset="-34"/>
              </a:rPr>
              <a:t>Plate </a:t>
            </a:r>
            <a:r>
              <a:rPr lang="th-TH" altLang="en-US" sz="3700" b="1" smtClean="0">
                <a:latin typeface="Browallia New" panose="020B0604020202020204" pitchFamily="34" charset="-34"/>
                <a:cs typeface="FreesiaUPC" panose="020B0604020202020204" pitchFamily="34" charset="-34"/>
              </a:rPr>
              <a:t>ชนิดนี้ว่า </a:t>
            </a:r>
            <a:r>
              <a:rPr lang="en-US" altLang="en-US" sz="3700" b="1" smtClean="0">
                <a:latin typeface="Browallia New" panose="020B0604020202020204" pitchFamily="34" charset="-34"/>
                <a:cs typeface="FreesiaUPC" panose="020B0604020202020204" pitchFamily="34" charset="-34"/>
              </a:rPr>
              <a:t>“Lamella”</a:t>
            </a:r>
            <a:endParaRPr lang="th-TH" altLang="en-US" sz="3700" b="1" smtClean="0">
              <a:latin typeface="Browallia New" panose="020B0604020202020204" pitchFamily="34" charset="-34"/>
              <a:cs typeface="FreesiaUPC" panose="020B0604020202020204" pitchFamily="34" charset="-34"/>
            </a:endParaRPr>
          </a:p>
        </p:txBody>
      </p:sp>
    </p:spTree>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738" name="Rectangle 2"/>
          <p:cNvSpPr>
            <a:spLocks noGrp="1" noChangeArrowheads="1"/>
          </p:cNvSpPr>
          <p:nvPr>
            <p:ph type="title"/>
          </p:nvPr>
        </p:nvSpPr>
        <p:spPr>
          <a:xfrm>
            <a:off x="457200" y="104775"/>
            <a:ext cx="8229600" cy="1143000"/>
          </a:xfrm>
        </p:spPr>
        <p:txBody>
          <a:bodyPr/>
          <a:lstStyle/>
          <a:p>
            <a:r>
              <a:rPr lang="en-US" altLang="en-US" smtClean="0"/>
              <a:t>Evaporator</a:t>
            </a:r>
            <a:endParaRPr lang="th-TH" altLang="en-US" smtClean="0"/>
          </a:p>
        </p:txBody>
      </p:sp>
      <p:pic>
        <p:nvPicPr>
          <p:cNvPr id="500739" name="Picture 4" descr="free flow"/>
          <p:cNvPicPr>
            <a:picLocks noGrp="1" noChangeAspect="1" noChangeArrowheads="1"/>
          </p:cNvPicPr>
          <p:nvPr>
            <p:ph sz="half" idx="2"/>
          </p:nvPr>
        </p:nvPicPr>
        <p:blipFill>
          <a:blip r:embed="rId2">
            <a:extLst>
              <a:ext uri="{28A0092B-C50C-407E-A947-70E740481C1C}">
                <a14:useLocalDpi xmlns:a14="http://schemas.microsoft.com/office/drawing/2010/main" val="0"/>
              </a:ext>
            </a:extLst>
          </a:blip>
          <a:srcRect/>
          <a:stretch>
            <a:fillRect/>
          </a:stretch>
        </p:blipFill>
        <p:spPr>
          <a:xfrm>
            <a:off x="2713038" y="1417638"/>
            <a:ext cx="3717925" cy="4979987"/>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00740" name="Rectangle 3"/>
          <p:cNvSpPr>
            <a:spLocks noGrp="1" noChangeArrowheads="1"/>
          </p:cNvSpPr>
          <p:nvPr>
            <p:ph type="body" sz="half" idx="1"/>
          </p:nvPr>
        </p:nvSpPr>
        <p:spPr>
          <a:xfrm>
            <a:off x="457200" y="1077913"/>
            <a:ext cx="4038600" cy="4525962"/>
          </a:xfrm>
        </p:spPr>
        <p:txBody>
          <a:bodyPr/>
          <a:lstStyle/>
          <a:p>
            <a:pPr>
              <a:buFont typeface="Wingdings" panose="05000000000000000000" pitchFamily="2" charset="2"/>
              <a:buNone/>
            </a:pPr>
            <a:r>
              <a:rPr lang="en-US" altLang="en-US" sz="2800" smtClean="0"/>
              <a:t>Falling Film Evaporator</a:t>
            </a:r>
            <a:endParaRPr lang="th-TH" altLang="en-US" sz="2800" smtClean="0"/>
          </a:p>
        </p:txBody>
      </p:sp>
    </p:spTree>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Slide Number Placeholder 5"/>
          <p:cNvSpPr>
            <a:spLocks noGrp="1"/>
          </p:cNvSpPr>
          <p:nvPr>
            <p:ph type="sldNum" sz="quarter" idx="12"/>
          </p:nvPr>
        </p:nvSpPr>
        <p:spPr/>
        <p:txBody>
          <a:bodyPr/>
          <a:lstStyle/>
          <a:p>
            <a:pPr>
              <a:defRPr/>
            </a:pPr>
            <a:fld id="{0E46CC01-D812-47DB-AC64-F7D11AB9C114}" type="slidenum">
              <a:rPr lang="en-US" altLang="en-US"/>
              <a:pPr>
                <a:defRPr/>
              </a:pPr>
              <a:t>141</a:t>
            </a:fld>
            <a:endParaRPr lang="th-TH" altLang="en-US"/>
          </a:p>
        </p:txBody>
      </p:sp>
      <p:sp>
        <p:nvSpPr>
          <p:cNvPr id="501763" name="AutoShape 2"/>
          <p:cNvSpPr>
            <a:spLocks noChangeArrowheads="1"/>
          </p:cNvSpPr>
          <p:nvPr/>
        </p:nvSpPr>
        <p:spPr bwMode="auto">
          <a:xfrm rot="5400000">
            <a:off x="2262982" y="2277268"/>
            <a:ext cx="4165600" cy="2430463"/>
          </a:xfrm>
          <a:prstGeom prst="flowChartTerminator">
            <a:avLst/>
          </a:prstGeom>
          <a:noFill/>
          <a:ln w="952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01764" name="Rectangle 3" descr="Wide downward diagonal"/>
          <p:cNvSpPr>
            <a:spLocks noChangeArrowheads="1"/>
          </p:cNvSpPr>
          <p:nvPr/>
        </p:nvSpPr>
        <p:spPr bwMode="auto">
          <a:xfrm>
            <a:off x="3822700" y="2278063"/>
            <a:ext cx="1141413" cy="2308225"/>
          </a:xfrm>
          <a:prstGeom prst="rect">
            <a:avLst/>
          </a:prstGeom>
          <a:pattFill prst="wdDnDiag">
            <a:fgClr>
              <a:srgbClr val="003399"/>
            </a:fgClr>
            <a:bgClr>
              <a:schemeClr val="bg1"/>
            </a:bgClr>
          </a:patt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01765" name="Rectangle 4"/>
          <p:cNvSpPr>
            <a:spLocks noChangeArrowheads="1"/>
          </p:cNvSpPr>
          <p:nvPr/>
        </p:nvSpPr>
        <p:spPr bwMode="auto">
          <a:xfrm>
            <a:off x="4157663" y="1079500"/>
            <a:ext cx="388937" cy="554038"/>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01766" name="Line 5"/>
          <p:cNvSpPr>
            <a:spLocks noChangeShapeType="1"/>
          </p:cNvSpPr>
          <p:nvPr/>
        </p:nvSpPr>
        <p:spPr bwMode="auto">
          <a:xfrm flipV="1">
            <a:off x="4335463" y="360363"/>
            <a:ext cx="0" cy="719137"/>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67" name="Text Box 6"/>
          <p:cNvSpPr txBox="1">
            <a:spLocks noChangeArrowheads="1"/>
          </p:cNvSpPr>
          <p:nvPr/>
        </p:nvSpPr>
        <p:spPr bwMode="auto">
          <a:xfrm>
            <a:off x="4546600" y="569913"/>
            <a:ext cx="2798763"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2500"/>
              <a:t>Vapour Out</a:t>
            </a:r>
            <a:endParaRPr lang="th-TH" altLang="en-US" sz="2500"/>
          </a:p>
        </p:txBody>
      </p:sp>
      <p:sp>
        <p:nvSpPr>
          <p:cNvPr id="501768" name="Freeform 7"/>
          <p:cNvSpPr>
            <a:spLocks/>
          </p:cNvSpPr>
          <p:nvPr/>
        </p:nvSpPr>
        <p:spPr bwMode="auto">
          <a:xfrm>
            <a:off x="3448050" y="1814513"/>
            <a:ext cx="1560513" cy="4376737"/>
          </a:xfrm>
          <a:custGeom>
            <a:avLst/>
            <a:gdLst>
              <a:gd name="T0" fmla="*/ 2147483646 w 982"/>
              <a:gd name="T1" fmla="*/ 2147483646 h 2720"/>
              <a:gd name="T2" fmla="*/ 2147483646 w 982"/>
              <a:gd name="T3" fmla="*/ 2147483646 h 2720"/>
              <a:gd name="T4" fmla="*/ 0 w 982"/>
              <a:gd name="T5" fmla="*/ 2147483646 h 2720"/>
              <a:gd name="T6" fmla="*/ 0 w 982"/>
              <a:gd name="T7" fmla="*/ 2147483646 h 2720"/>
              <a:gd name="T8" fmla="*/ 2147483646 w 982"/>
              <a:gd name="T9" fmla="*/ 0 h 2720"/>
              <a:gd name="T10" fmla="*/ 2147483646 w 982"/>
              <a:gd name="T11" fmla="*/ 0 h 2720"/>
              <a:gd name="T12" fmla="*/ 2147483646 w 982"/>
              <a:gd name="T13" fmla="*/ 2147483646 h 27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2" h="2720">
                <a:moveTo>
                  <a:pt x="982" y="2267"/>
                </a:moveTo>
                <a:lnTo>
                  <a:pt x="982" y="2720"/>
                </a:lnTo>
                <a:lnTo>
                  <a:pt x="0" y="2720"/>
                </a:lnTo>
                <a:lnTo>
                  <a:pt x="0" y="95"/>
                </a:lnTo>
                <a:lnTo>
                  <a:pt x="55" y="0"/>
                </a:lnTo>
                <a:lnTo>
                  <a:pt x="557" y="0"/>
                </a:lnTo>
                <a:lnTo>
                  <a:pt x="557" y="104"/>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69" name="Line 8"/>
          <p:cNvSpPr>
            <a:spLocks noChangeShapeType="1"/>
          </p:cNvSpPr>
          <p:nvPr/>
        </p:nvSpPr>
        <p:spPr bwMode="auto">
          <a:xfrm flipH="1">
            <a:off x="4157663" y="1993900"/>
            <a:ext cx="177800" cy="1031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70" name="Line 9"/>
          <p:cNvSpPr>
            <a:spLocks noChangeShapeType="1"/>
          </p:cNvSpPr>
          <p:nvPr/>
        </p:nvSpPr>
        <p:spPr bwMode="auto">
          <a:xfrm flipH="1">
            <a:off x="4211638" y="1993900"/>
            <a:ext cx="123825" cy="1730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71" name="Line 10"/>
          <p:cNvSpPr>
            <a:spLocks noChangeShapeType="1"/>
          </p:cNvSpPr>
          <p:nvPr/>
        </p:nvSpPr>
        <p:spPr bwMode="auto">
          <a:xfrm>
            <a:off x="4335463" y="1993900"/>
            <a:ext cx="115887" cy="1730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72" name="Line 11"/>
          <p:cNvSpPr>
            <a:spLocks noChangeShapeType="1"/>
          </p:cNvSpPr>
          <p:nvPr/>
        </p:nvSpPr>
        <p:spPr bwMode="auto">
          <a:xfrm>
            <a:off x="4335463" y="1993900"/>
            <a:ext cx="211137" cy="1031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01773" name="Group 12"/>
          <p:cNvGrpSpPr>
            <a:grpSpLocks/>
          </p:cNvGrpSpPr>
          <p:nvPr/>
        </p:nvGrpSpPr>
        <p:grpSpPr bwMode="auto">
          <a:xfrm>
            <a:off x="3632200" y="5994400"/>
            <a:ext cx="379413" cy="393700"/>
            <a:chOff x="1906" y="3502"/>
            <a:chExt cx="239" cy="248"/>
          </a:xfrm>
        </p:grpSpPr>
        <p:sp>
          <p:nvSpPr>
            <p:cNvPr id="501797" name="Oval 13"/>
            <p:cNvSpPr>
              <a:spLocks noChangeArrowheads="1"/>
            </p:cNvSpPr>
            <p:nvPr/>
          </p:nvSpPr>
          <p:spPr bwMode="auto">
            <a:xfrm rot="16200000" flipH="1">
              <a:off x="1902" y="3506"/>
              <a:ext cx="248" cy="23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01798" name="AutoShape 14"/>
            <p:cNvSpPr>
              <a:spLocks noChangeArrowheads="1"/>
            </p:cNvSpPr>
            <p:nvPr/>
          </p:nvSpPr>
          <p:spPr bwMode="auto">
            <a:xfrm rot="16200000" flipH="1">
              <a:off x="1903" y="3533"/>
              <a:ext cx="197" cy="192"/>
            </a:xfrm>
            <a:prstGeom prst="triangle">
              <a:avLst>
                <a:gd name="adj" fmla="val 50000"/>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sp>
        <p:nvSpPr>
          <p:cNvPr id="501774" name="Rectangle 15"/>
          <p:cNvSpPr>
            <a:spLocks noChangeArrowheads="1"/>
          </p:cNvSpPr>
          <p:nvPr/>
        </p:nvSpPr>
        <p:spPr bwMode="auto">
          <a:xfrm>
            <a:off x="2459038" y="4316413"/>
            <a:ext cx="1363662" cy="269875"/>
          </a:xfrm>
          <a:prstGeom prst="rect">
            <a:avLst/>
          </a:prstGeom>
          <a:solidFill>
            <a:schemeClr val="accent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01775" name="Line 16"/>
          <p:cNvSpPr>
            <a:spLocks noChangeShapeType="1"/>
          </p:cNvSpPr>
          <p:nvPr/>
        </p:nvSpPr>
        <p:spPr bwMode="auto">
          <a:xfrm flipH="1">
            <a:off x="3357563" y="4979988"/>
            <a:ext cx="184150" cy="180975"/>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76" name="Line 17"/>
          <p:cNvSpPr>
            <a:spLocks noChangeShapeType="1"/>
          </p:cNvSpPr>
          <p:nvPr/>
        </p:nvSpPr>
        <p:spPr bwMode="auto">
          <a:xfrm flipH="1">
            <a:off x="3479800" y="5040313"/>
            <a:ext cx="184150" cy="180975"/>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77" name="Line 18"/>
          <p:cNvSpPr>
            <a:spLocks noChangeShapeType="1"/>
          </p:cNvSpPr>
          <p:nvPr/>
        </p:nvSpPr>
        <p:spPr bwMode="auto">
          <a:xfrm flipH="1">
            <a:off x="3608388" y="5024438"/>
            <a:ext cx="260350" cy="28733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78" name="Line 19"/>
          <p:cNvSpPr>
            <a:spLocks noChangeShapeType="1"/>
          </p:cNvSpPr>
          <p:nvPr/>
        </p:nvSpPr>
        <p:spPr bwMode="auto">
          <a:xfrm flipH="1">
            <a:off x="3792538" y="5070475"/>
            <a:ext cx="214312" cy="2413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79" name="Line 20"/>
          <p:cNvSpPr>
            <a:spLocks noChangeShapeType="1"/>
          </p:cNvSpPr>
          <p:nvPr/>
        </p:nvSpPr>
        <p:spPr bwMode="auto">
          <a:xfrm flipH="1">
            <a:off x="3941763" y="5070475"/>
            <a:ext cx="215900" cy="2714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80" name="Line 21"/>
          <p:cNvSpPr>
            <a:spLocks noChangeShapeType="1"/>
          </p:cNvSpPr>
          <p:nvPr/>
        </p:nvSpPr>
        <p:spPr bwMode="auto">
          <a:xfrm flipH="1">
            <a:off x="4106863" y="5070475"/>
            <a:ext cx="228600" cy="3000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81" name="Line 22"/>
          <p:cNvSpPr>
            <a:spLocks noChangeShapeType="1"/>
          </p:cNvSpPr>
          <p:nvPr/>
        </p:nvSpPr>
        <p:spPr bwMode="auto">
          <a:xfrm flipH="1">
            <a:off x="4335463" y="5070475"/>
            <a:ext cx="184150" cy="257175"/>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82" name="Line 23"/>
          <p:cNvSpPr>
            <a:spLocks noChangeShapeType="1"/>
          </p:cNvSpPr>
          <p:nvPr/>
        </p:nvSpPr>
        <p:spPr bwMode="auto">
          <a:xfrm flipH="1">
            <a:off x="4503738" y="5010150"/>
            <a:ext cx="228600" cy="31591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83" name="Line 24"/>
          <p:cNvSpPr>
            <a:spLocks noChangeShapeType="1"/>
          </p:cNvSpPr>
          <p:nvPr/>
        </p:nvSpPr>
        <p:spPr bwMode="auto">
          <a:xfrm flipH="1">
            <a:off x="4703763" y="4979988"/>
            <a:ext cx="215900" cy="27146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84" name="Line 25"/>
          <p:cNvSpPr>
            <a:spLocks noChangeShapeType="1"/>
          </p:cNvSpPr>
          <p:nvPr/>
        </p:nvSpPr>
        <p:spPr bwMode="auto">
          <a:xfrm flipH="1">
            <a:off x="4887913" y="4979988"/>
            <a:ext cx="212725" cy="27146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85" name="Line 26"/>
          <p:cNvSpPr>
            <a:spLocks noChangeShapeType="1"/>
          </p:cNvSpPr>
          <p:nvPr/>
        </p:nvSpPr>
        <p:spPr bwMode="auto">
          <a:xfrm flipH="1">
            <a:off x="5072063" y="4979988"/>
            <a:ext cx="215900" cy="27146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86" name="Freeform 27"/>
          <p:cNvSpPr>
            <a:spLocks/>
          </p:cNvSpPr>
          <p:nvPr/>
        </p:nvSpPr>
        <p:spPr bwMode="auto">
          <a:xfrm>
            <a:off x="3148013" y="4706938"/>
            <a:ext cx="2422525" cy="338137"/>
          </a:xfrm>
          <a:custGeom>
            <a:avLst/>
            <a:gdLst>
              <a:gd name="T0" fmla="*/ 0 w 1526"/>
              <a:gd name="T1" fmla="*/ 2147483646 h 213"/>
              <a:gd name="T2" fmla="*/ 2147483646 w 1526"/>
              <a:gd name="T3" fmla="*/ 2147483646 h 213"/>
              <a:gd name="T4" fmla="*/ 2147483646 w 1526"/>
              <a:gd name="T5" fmla="*/ 2147483646 h 213"/>
              <a:gd name="T6" fmla="*/ 2147483646 w 1526"/>
              <a:gd name="T7" fmla="*/ 2147483646 h 213"/>
              <a:gd name="T8" fmla="*/ 2147483646 w 1526"/>
              <a:gd name="T9" fmla="*/ 2147483646 h 213"/>
              <a:gd name="T10" fmla="*/ 2147483646 w 1526"/>
              <a:gd name="T11" fmla="*/ 2147483646 h 213"/>
              <a:gd name="T12" fmla="*/ 2147483646 w 1526"/>
              <a:gd name="T13" fmla="*/ 2147483646 h 213"/>
              <a:gd name="T14" fmla="*/ 2147483646 w 1526"/>
              <a:gd name="T15" fmla="*/ 2147483646 h 213"/>
              <a:gd name="T16" fmla="*/ 2147483646 w 1526"/>
              <a:gd name="T17" fmla="*/ 2147483646 h 213"/>
              <a:gd name="T18" fmla="*/ 2147483646 w 1526"/>
              <a:gd name="T19" fmla="*/ 2147483646 h 213"/>
              <a:gd name="T20" fmla="*/ 2147483646 w 1526"/>
              <a:gd name="T21" fmla="*/ 2147483646 h 213"/>
              <a:gd name="T22" fmla="*/ 2147483646 w 1526"/>
              <a:gd name="T23" fmla="*/ 2147483646 h 213"/>
              <a:gd name="T24" fmla="*/ 2147483646 w 1526"/>
              <a:gd name="T25" fmla="*/ 2147483646 h 213"/>
              <a:gd name="T26" fmla="*/ 2147483646 w 1526"/>
              <a:gd name="T27" fmla="*/ 2147483646 h 213"/>
              <a:gd name="T28" fmla="*/ 2147483646 w 1526"/>
              <a:gd name="T29" fmla="*/ 2147483646 h 213"/>
              <a:gd name="T30" fmla="*/ 2147483646 w 1526"/>
              <a:gd name="T31" fmla="*/ 2147483646 h 213"/>
              <a:gd name="T32" fmla="*/ 2147483646 w 1526"/>
              <a:gd name="T33" fmla="*/ 0 h 213"/>
              <a:gd name="T34" fmla="*/ 2147483646 w 1526"/>
              <a:gd name="T35" fmla="*/ 2147483646 h 213"/>
              <a:gd name="T36" fmla="*/ 2147483646 w 1526"/>
              <a:gd name="T37" fmla="*/ 2147483646 h 21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26" h="213">
                <a:moveTo>
                  <a:pt x="0" y="161"/>
                </a:moveTo>
                <a:cubicBezTo>
                  <a:pt x="81" y="213"/>
                  <a:pt x="179" y="142"/>
                  <a:pt x="236" y="85"/>
                </a:cubicBezTo>
                <a:cubicBezTo>
                  <a:pt x="267" y="106"/>
                  <a:pt x="281" y="131"/>
                  <a:pt x="312" y="151"/>
                </a:cubicBezTo>
                <a:cubicBezTo>
                  <a:pt x="331" y="149"/>
                  <a:pt x="417" y="153"/>
                  <a:pt x="453" y="132"/>
                </a:cubicBezTo>
                <a:cubicBezTo>
                  <a:pt x="473" y="121"/>
                  <a:pt x="510" y="94"/>
                  <a:pt x="510" y="94"/>
                </a:cubicBezTo>
                <a:cubicBezTo>
                  <a:pt x="516" y="85"/>
                  <a:pt x="518" y="66"/>
                  <a:pt x="529" y="66"/>
                </a:cubicBezTo>
                <a:cubicBezTo>
                  <a:pt x="539" y="66"/>
                  <a:pt x="534" y="85"/>
                  <a:pt x="538" y="94"/>
                </a:cubicBezTo>
                <a:cubicBezTo>
                  <a:pt x="555" y="129"/>
                  <a:pt x="552" y="121"/>
                  <a:pt x="585" y="132"/>
                </a:cubicBezTo>
                <a:cubicBezTo>
                  <a:pt x="623" y="128"/>
                  <a:pt x="669" y="137"/>
                  <a:pt x="699" y="113"/>
                </a:cubicBezTo>
                <a:cubicBezTo>
                  <a:pt x="720" y="97"/>
                  <a:pt x="736" y="76"/>
                  <a:pt x="755" y="57"/>
                </a:cubicBezTo>
                <a:cubicBezTo>
                  <a:pt x="765" y="47"/>
                  <a:pt x="784" y="28"/>
                  <a:pt x="784" y="28"/>
                </a:cubicBezTo>
                <a:cubicBezTo>
                  <a:pt x="796" y="80"/>
                  <a:pt x="804" y="114"/>
                  <a:pt x="859" y="132"/>
                </a:cubicBezTo>
                <a:cubicBezTo>
                  <a:pt x="894" y="129"/>
                  <a:pt x="929" y="128"/>
                  <a:pt x="963" y="123"/>
                </a:cubicBezTo>
                <a:cubicBezTo>
                  <a:pt x="1005" y="117"/>
                  <a:pt x="1036" y="80"/>
                  <a:pt x="1076" y="66"/>
                </a:cubicBezTo>
                <a:cubicBezTo>
                  <a:pt x="1101" y="137"/>
                  <a:pt x="1106" y="124"/>
                  <a:pt x="1180" y="113"/>
                </a:cubicBezTo>
                <a:cubicBezTo>
                  <a:pt x="1211" y="103"/>
                  <a:pt x="1234" y="86"/>
                  <a:pt x="1265" y="76"/>
                </a:cubicBezTo>
                <a:cubicBezTo>
                  <a:pt x="1295" y="46"/>
                  <a:pt x="1326" y="35"/>
                  <a:pt x="1350" y="0"/>
                </a:cubicBezTo>
                <a:cubicBezTo>
                  <a:pt x="1372" y="33"/>
                  <a:pt x="1389" y="44"/>
                  <a:pt x="1426" y="57"/>
                </a:cubicBezTo>
                <a:cubicBezTo>
                  <a:pt x="1504" y="47"/>
                  <a:pt x="1526" y="47"/>
                  <a:pt x="1492" y="47"/>
                </a:cubicBezTo>
              </a:path>
            </a:pathLst>
          </a:custGeom>
          <a:noFill/>
          <a:ln w="28575" cap="flat"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87" name="Line 28"/>
          <p:cNvSpPr>
            <a:spLocks noChangeShapeType="1"/>
          </p:cNvSpPr>
          <p:nvPr/>
        </p:nvSpPr>
        <p:spPr bwMode="auto">
          <a:xfrm flipH="1">
            <a:off x="5259388" y="4979988"/>
            <a:ext cx="184150" cy="180975"/>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88" name="Freeform 29"/>
          <p:cNvSpPr>
            <a:spLocks/>
          </p:cNvSpPr>
          <p:nvPr/>
        </p:nvSpPr>
        <p:spPr bwMode="auto">
          <a:xfrm>
            <a:off x="4964113" y="4422775"/>
            <a:ext cx="822325" cy="1408113"/>
          </a:xfrm>
          <a:custGeom>
            <a:avLst/>
            <a:gdLst>
              <a:gd name="T0" fmla="*/ 0 w 519"/>
              <a:gd name="T1" fmla="*/ 0 h 887"/>
              <a:gd name="T2" fmla="*/ 2147483646 w 519"/>
              <a:gd name="T3" fmla="*/ 0 h 887"/>
              <a:gd name="T4" fmla="*/ 2147483646 w 519"/>
              <a:gd name="T5" fmla="*/ 2147483646 h 887"/>
              <a:gd name="T6" fmla="*/ 2147483646 w 519"/>
              <a:gd name="T7" fmla="*/ 2147483646 h 887"/>
              <a:gd name="T8" fmla="*/ 2147483646 w 519"/>
              <a:gd name="T9" fmla="*/ 2147483646 h 887"/>
              <a:gd name="T10" fmla="*/ 2147483646 w 519"/>
              <a:gd name="T11" fmla="*/ 2147483646 h 887"/>
              <a:gd name="T12" fmla="*/ 2147483646 w 519"/>
              <a:gd name="T13" fmla="*/ 2147483646 h 887"/>
              <a:gd name="T14" fmla="*/ 2147483646 w 519"/>
              <a:gd name="T15" fmla="*/ 2147483646 h 887"/>
              <a:gd name="T16" fmla="*/ 2147483646 w 519"/>
              <a:gd name="T17" fmla="*/ 2147483646 h 887"/>
              <a:gd name="T18" fmla="*/ 2147483646 w 519"/>
              <a:gd name="T19" fmla="*/ 2147483646 h 887"/>
              <a:gd name="T20" fmla="*/ 2147483646 w 519"/>
              <a:gd name="T21" fmla="*/ 2147483646 h 887"/>
              <a:gd name="T22" fmla="*/ 0 w 519"/>
              <a:gd name="T23" fmla="*/ 2147483646 h 88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19" h="887">
                <a:moveTo>
                  <a:pt x="0" y="0"/>
                </a:moveTo>
                <a:lnTo>
                  <a:pt x="283" y="0"/>
                </a:lnTo>
                <a:lnTo>
                  <a:pt x="339" y="28"/>
                </a:lnTo>
                <a:lnTo>
                  <a:pt x="349" y="103"/>
                </a:lnTo>
                <a:lnTo>
                  <a:pt x="349" y="755"/>
                </a:lnTo>
                <a:lnTo>
                  <a:pt x="519" y="755"/>
                </a:lnTo>
                <a:lnTo>
                  <a:pt x="519" y="887"/>
                </a:lnTo>
                <a:lnTo>
                  <a:pt x="292" y="887"/>
                </a:lnTo>
                <a:lnTo>
                  <a:pt x="226" y="868"/>
                </a:lnTo>
                <a:lnTo>
                  <a:pt x="226" y="802"/>
                </a:lnTo>
                <a:lnTo>
                  <a:pt x="236" y="103"/>
                </a:lnTo>
                <a:lnTo>
                  <a:pt x="0" y="103"/>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89" name="Line 30"/>
          <p:cNvSpPr>
            <a:spLocks noChangeShapeType="1"/>
          </p:cNvSpPr>
          <p:nvPr/>
        </p:nvSpPr>
        <p:spPr bwMode="auto">
          <a:xfrm flipH="1">
            <a:off x="5561013" y="3913188"/>
            <a:ext cx="644525"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90" name="Text Box 31"/>
          <p:cNvSpPr txBox="1">
            <a:spLocks noChangeArrowheads="1"/>
          </p:cNvSpPr>
          <p:nvPr/>
        </p:nvSpPr>
        <p:spPr bwMode="auto">
          <a:xfrm>
            <a:off x="6205538" y="3676650"/>
            <a:ext cx="2798762"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2500"/>
              <a:t>Black Liquor In</a:t>
            </a:r>
            <a:endParaRPr lang="th-TH" altLang="en-US" sz="2500"/>
          </a:p>
        </p:txBody>
      </p:sp>
      <p:sp>
        <p:nvSpPr>
          <p:cNvPr id="501791" name="Line 32"/>
          <p:cNvSpPr>
            <a:spLocks noChangeShapeType="1"/>
          </p:cNvSpPr>
          <p:nvPr/>
        </p:nvSpPr>
        <p:spPr bwMode="auto">
          <a:xfrm>
            <a:off x="5834063" y="5713413"/>
            <a:ext cx="688975"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92" name="Text Box 33"/>
          <p:cNvSpPr txBox="1">
            <a:spLocks noChangeArrowheads="1"/>
          </p:cNvSpPr>
          <p:nvPr/>
        </p:nvSpPr>
        <p:spPr bwMode="auto">
          <a:xfrm>
            <a:off x="6494463" y="5476875"/>
            <a:ext cx="2509837"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2500"/>
              <a:t>Condensate</a:t>
            </a:r>
            <a:endParaRPr lang="th-TH" altLang="en-US" sz="2500"/>
          </a:p>
        </p:txBody>
      </p:sp>
      <p:sp>
        <p:nvSpPr>
          <p:cNvPr id="501793" name="Line 34"/>
          <p:cNvSpPr>
            <a:spLocks noChangeShapeType="1"/>
          </p:cNvSpPr>
          <p:nvPr/>
        </p:nvSpPr>
        <p:spPr bwMode="auto">
          <a:xfrm flipH="1">
            <a:off x="1274763" y="5713413"/>
            <a:ext cx="2173287"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94" name="Text Box 35"/>
          <p:cNvSpPr txBox="1">
            <a:spLocks noChangeArrowheads="1"/>
          </p:cNvSpPr>
          <p:nvPr/>
        </p:nvSpPr>
        <p:spPr bwMode="auto">
          <a:xfrm>
            <a:off x="833438" y="5221288"/>
            <a:ext cx="2798762"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2500"/>
              <a:t>Black Liquor Out</a:t>
            </a:r>
            <a:endParaRPr lang="th-TH" altLang="en-US" sz="2500"/>
          </a:p>
        </p:txBody>
      </p:sp>
      <p:sp>
        <p:nvSpPr>
          <p:cNvPr id="501795" name="Line 36"/>
          <p:cNvSpPr>
            <a:spLocks noChangeShapeType="1"/>
          </p:cNvSpPr>
          <p:nvPr/>
        </p:nvSpPr>
        <p:spPr bwMode="auto">
          <a:xfrm>
            <a:off x="833438" y="4422775"/>
            <a:ext cx="162560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1796" name="Text Box 37"/>
          <p:cNvSpPr txBox="1">
            <a:spLocks noChangeArrowheads="1"/>
          </p:cNvSpPr>
          <p:nvPr/>
        </p:nvSpPr>
        <p:spPr bwMode="auto">
          <a:xfrm>
            <a:off x="681038" y="3949700"/>
            <a:ext cx="2798762"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2500"/>
              <a:t>Vapour In</a:t>
            </a:r>
            <a:endParaRPr lang="th-TH" altLang="en-US" sz="2500"/>
          </a:p>
        </p:txBody>
      </p:sp>
    </p:spTree>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p:txBody>
          <a:bodyPr/>
          <a:lstStyle/>
          <a:p>
            <a:pPr>
              <a:defRPr/>
            </a:pPr>
            <a:fld id="{829B8018-8251-4E44-B6CC-B10577D8082B}" type="slidenum">
              <a:rPr lang="en-US" altLang="en-US"/>
              <a:pPr>
                <a:defRPr/>
              </a:pPr>
              <a:t>142</a:t>
            </a:fld>
            <a:endParaRPr lang="th-TH" altLang="en-US"/>
          </a:p>
        </p:txBody>
      </p:sp>
      <p:pic>
        <p:nvPicPr>
          <p:cNvPr id="502787" name="Picture 2"/>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2430463" y="1150938"/>
            <a:ext cx="4256087" cy="5707062"/>
          </a:xfrm>
          <a:noFill/>
          <a:extLst>
            <a:ext uri="{91240B29-F687-4F45-9708-019B960494DF}">
              <a14:hiddenLine xmlns:a14="http://schemas.microsoft.com/office/drawing/2010/main" w="9525" cap="flat" cmpd="sng" algn="ctr">
                <a:solidFill>
                  <a:schemeClr val="tx1"/>
                </a:solidFill>
                <a:prstDash val="lgDash"/>
                <a:miter lim="800000"/>
                <a:headEnd type="none" w="med" len="med"/>
                <a:tailEnd type="none" w="med" len="med"/>
              </a14:hiddenLine>
            </a:ext>
          </a:extLst>
        </p:spPr>
      </p:pic>
      <p:sp>
        <p:nvSpPr>
          <p:cNvPr id="502788" name="WordArt 3"/>
          <p:cNvSpPr>
            <a:spLocks noChangeArrowheads="1" noChangeShapeType="1" noTextEdit="1"/>
          </p:cNvSpPr>
          <p:nvPr/>
        </p:nvSpPr>
        <p:spPr bwMode="auto">
          <a:xfrm>
            <a:off x="2309813" y="222250"/>
            <a:ext cx="4235450" cy="820738"/>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FREE FLOW FALLING FILM</a:t>
            </a:r>
          </a:p>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EVAPORATOR UNIT</a:t>
            </a:r>
          </a:p>
        </p:txBody>
      </p:sp>
    </p:spTree>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Slide Number Placeholder 5"/>
          <p:cNvSpPr>
            <a:spLocks noGrp="1"/>
          </p:cNvSpPr>
          <p:nvPr>
            <p:ph type="sldNum" sz="quarter" idx="12"/>
          </p:nvPr>
        </p:nvSpPr>
        <p:spPr/>
        <p:txBody>
          <a:bodyPr/>
          <a:lstStyle/>
          <a:p>
            <a:pPr>
              <a:defRPr/>
            </a:pPr>
            <a:fld id="{17648621-3225-4198-8BC9-DAD049D981F4}" type="slidenum">
              <a:rPr lang="en-US" altLang="en-US"/>
              <a:pPr>
                <a:defRPr/>
              </a:pPr>
              <a:t>143</a:t>
            </a:fld>
            <a:endParaRPr lang="th-TH" altLang="en-US"/>
          </a:p>
        </p:txBody>
      </p:sp>
      <p:sp>
        <p:nvSpPr>
          <p:cNvPr id="503811" name="Rectangle 2"/>
          <p:cNvSpPr>
            <a:spLocks noGrp="1" noChangeArrowheads="1"/>
          </p:cNvSpPr>
          <p:nvPr>
            <p:ph type="title"/>
          </p:nvPr>
        </p:nvSpPr>
        <p:spPr>
          <a:xfrm>
            <a:off x="442913" y="122238"/>
            <a:ext cx="8229600" cy="720725"/>
          </a:xfrm>
        </p:spPr>
        <p:txBody>
          <a:bodyPr/>
          <a:lstStyle/>
          <a:p>
            <a:r>
              <a:rPr lang="en-US" altLang="en-US" sz="4800" b="1" u="sng" smtClean="0"/>
              <a:t>Evaporator</a:t>
            </a:r>
            <a:endParaRPr lang="th-TH" altLang="en-US" sz="4800" b="1" u="sng" smtClean="0"/>
          </a:p>
        </p:txBody>
      </p:sp>
      <p:sp>
        <p:nvSpPr>
          <p:cNvPr id="503812" name="Rectangle 3"/>
          <p:cNvSpPr>
            <a:spLocks noGrp="1" noChangeArrowheads="1"/>
          </p:cNvSpPr>
          <p:nvPr>
            <p:ph type="body" idx="1"/>
          </p:nvPr>
        </p:nvSpPr>
        <p:spPr>
          <a:xfrm>
            <a:off x="442913" y="1120775"/>
            <a:ext cx="8229600" cy="817563"/>
          </a:xfrm>
        </p:spPr>
        <p:txBody>
          <a:bodyPr/>
          <a:lstStyle/>
          <a:p>
            <a:pPr>
              <a:buFont typeface="Wingdings" panose="05000000000000000000" pitchFamily="2" charset="2"/>
              <a:buNone/>
            </a:pPr>
            <a:r>
              <a:rPr lang="en-US" altLang="en-US" b="1" u="sng" smtClean="0">
                <a:solidFill>
                  <a:srgbClr val="FF0000"/>
                </a:solidFill>
              </a:rPr>
              <a:t>Falling Film (FF) Evaporator</a:t>
            </a:r>
            <a:endParaRPr lang="th-TH" altLang="en-US" b="1" u="sng" smtClean="0">
              <a:solidFill>
                <a:srgbClr val="FF0000"/>
              </a:solidFill>
            </a:endParaRPr>
          </a:p>
        </p:txBody>
      </p:sp>
      <p:sp>
        <p:nvSpPr>
          <p:cNvPr id="1015812" name="Rectangle 4"/>
          <p:cNvSpPr>
            <a:spLocks noChangeArrowheads="1"/>
          </p:cNvSpPr>
          <p:nvPr/>
        </p:nvSpPr>
        <p:spPr bwMode="auto">
          <a:xfrm>
            <a:off x="1477963" y="1795463"/>
            <a:ext cx="6186487" cy="817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hlink"/>
              </a:buClr>
              <a:buSzPct val="80000"/>
              <a:buFont typeface="Wingdings" panose="05000000000000000000" pitchFamily="2" charset="2"/>
              <a:buChar char="Ø"/>
              <a:defRPr sz="32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buChar char="l"/>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buChar char="•"/>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buChar char="l"/>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a:buFont typeface="Wingdings" panose="05000000000000000000" pitchFamily="2" charset="2"/>
              <a:buNone/>
              <a:defRPr/>
            </a:pPr>
            <a:r>
              <a:rPr lang="th-TH" altLang="en-US" sz="4000" u="sng" smtClean="0">
                <a:solidFill>
                  <a:srgbClr val="FFB685"/>
                </a:solidFill>
                <a:cs typeface="Browallia New" panose="020B0604020202020204" pitchFamily="34" charset="-34"/>
              </a:rPr>
              <a:t>ข้อดีของ</a:t>
            </a:r>
            <a:r>
              <a:rPr lang="th-TH" altLang="en-US" u="sng" smtClean="0">
                <a:solidFill>
                  <a:srgbClr val="FFB685"/>
                </a:solidFill>
              </a:rPr>
              <a:t> </a:t>
            </a:r>
            <a:r>
              <a:rPr lang="en-US" altLang="en-US" u="sng" smtClean="0">
                <a:solidFill>
                  <a:srgbClr val="FFB685"/>
                </a:solidFill>
              </a:rPr>
              <a:t>Falling Film Evaporator</a:t>
            </a:r>
            <a:endParaRPr lang="th-TH" altLang="en-US" u="sng" smtClean="0">
              <a:solidFill>
                <a:srgbClr val="FFB685"/>
              </a:solidFill>
            </a:endParaRPr>
          </a:p>
        </p:txBody>
      </p:sp>
      <p:sp>
        <p:nvSpPr>
          <p:cNvPr id="1015813" name="Rectangle 5"/>
          <p:cNvSpPr>
            <a:spLocks noChangeArrowheads="1"/>
          </p:cNvSpPr>
          <p:nvPr/>
        </p:nvSpPr>
        <p:spPr bwMode="auto">
          <a:xfrm>
            <a:off x="681038" y="2576513"/>
            <a:ext cx="8048625" cy="25415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hlink"/>
              </a:buClr>
              <a:buSzPct val="80000"/>
              <a:buFont typeface="Wingdings" panose="05000000000000000000" pitchFamily="2" charset="2"/>
              <a:buChar char="Ø"/>
              <a:defRPr sz="32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buChar char="l"/>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buChar char="•"/>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buChar char="l"/>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a:buFont typeface="Wingdings" panose="05000000000000000000" pitchFamily="2" charset="2"/>
              <a:buNone/>
              <a:defRPr/>
            </a:pPr>
            <a:r>
              <a:rPr lang="th-TH" altLang="en-US" sz="4000" smtClean="0">
                <a:cs typeface="FreesiaUPC" panose="020B0604020202020204" pitchFamily="34" charset="-34"/>
              </a:rPr>
              <a:t>1. ประสิทธิภาพการต้มระเหยของ </a:t>
            </a:r>
            <a:r>
              <a:rPr lang="en-US" altLang="en-US" sz="3000" smtClean="0">
                <a:cs typeface="FreesiaUPC" panose="020B0604020202020204" pitchFamily="34" charset="-34"/>
              </a:rPr>
              <a:t>Evaporator</a:t>
            </a:r>
            <a:r>
              <a:rPr lang="en-US" altLang="en-US" sz="4000" smtClean="0">
                <a:cs typeface="FreesiaUPC" panose="020B0604020202020204" pitchFamily="34" charset="-34"/>
              </a:rPr>
              <a:t> </a:t>
            </a:r>
            <a:r>
              <a:rPr lang="th-TH" altLang="en-US" sz="4000" smtClean="0">
                <a:cs typeface="FreesiaUPC" panose="020B0604020202020204" pitchFamily="34" charset="-34"/>
              </a:rPr>
              <a:t>ชนิดนี้จะไม่เปลี่ยนแปลงตาม </a:t>
            </a:r>
            <a:r>
              <a:rPr lang="en-US" altLang="en-US" sz="3000" smtClean="0">
                <a:cs typeface="FreesiaUPC" panose="020B0604020202020204" pitchFamily="34" charset="-34"/>
              </a:rPr>
              <a:t>Load</a:t>
            </a:r>
            <a:r>
              <a:rPr lang="en-US" altLang="en-US" sz="4000" smtClean="0">
                <a:cs typeface="FreesiaUPC" panose="020B0604020202020204" pitchFamily="34" charset="-34"/>
              </a:rPr>
              <a:t> </a:t>
            </a:r>
            <a:r>
              <a:rPr lang="th-TH" altLang="en-US" sz="4000" smtClean="0">
                <a:cs typeface="FreesiaUPC" panose="020B0604020202020204" pitchFamily="34" charset="-34"/>
              </a:rPr>
              <a:t>มากนัก โดยสามารถเปลี่ยนแปลง </a:t>
            </a:r>
            <a:r>
              <a:rPr lang="en-US" altLang="en-US" sz="3000" smtClean="0">
                <a:cs typeface="FreesiaUPC" panose="020B0604020202020204" pitchFamily="34" charset="-34"/>
              </a:rPr>
              <a:t>Load</a:t>
            </a:r>
            <a:r>
              <a:rPr lang="en-US" altLang="en-US" sz="4000" smtClean="0">
                <a:cs typeface="FreesiaUPC" panose="020B0604020202020204" pitchFamily="34" charset="-34"/>
              </a:rPr>
              <a:t> </a:t>
            </a:r>
            <a:r>
              <a:rPr lang="th-TH" altLang="en-US" sz="4000" smtClean="0">
                <a:cs typeface="FreesiaUPC" panose="020B0604020202020204" pitchFamily="34" charset="-34"/>
              </a:rPr>
              <a:t>ได้ </a:t>
            </a:r>
            <a:r>
              <a:rPr lang="en-US" altLang="en-US" sz="3000" smtClean="0">
                <a:cs typeface="FreesiaUPC" panose="020B0604020202020204" pitchFamily="34" charset="-34"/>
              </a:rPr>
              <a:t>30 – 100 %</a:t>
            </a:r>
            <a:r>
              <a:rPr lang="en-US" altLang="en-US" sz="4000" smtClean="0">
                <a:cs typeface="FreesiaUPC" panose="020B0604020202020204" pitchFamily="34" charset="-34"/>
              </a:rPr>
              <a:t> </a:t>
            </a:r>
            <a:r>
              <a:rPr lang="th-TH" altLang="en-US" sz="4000" smtClean="0">
                <a:cs typeface="FreesiaUPC" panose="020B0604020202020204" pitchFamily="34" charset="-34"/>
              </a:rPr>
              <a:t>เนื่องมาจาก</a:t>
            </a:r>
          </a:p>
        </p:txBody>
      </p:sp>
      <p:sp>
        <p:nvSpPr>
          <p:cNvPr id="1015814" name="Rectangle 6"/>
          <p:cNvSpPr>
            <a:spLocks noChangeArrowheads="1"/>
          </p:cNvSpPr>
          <p:nvPr/>
        </p:nvSpPr>
        <p:spPr bwMode="auto">
          <a:xfrm>
            <a:off x="798513" y="4710113"/>
            <a:ext cx="8047037" cy="815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hlink"/>
              </a:buClr>
              <a:buSzPct val="80000"/>
              <a:buFont typeface="Wingdings" panose="05000000000000000000" pitchFamily="2" charset="2"/>
              <a:buChar char="Ø"/>
              <a:defRPr sz="32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buChar char="l"/>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buChar char="•"/>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buChar char="l"/>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a:buFont typeface="Wingdings" panose="05000000000000000000" pitchFamily="2" charset="2"/>
              <a:buNone/>
              <a:defRPr/>
            </a:pPr>
            <a:r>
              <a:rPr lang="th-TH" altLang="en-US" sz="4000" dirty="0" smtClean="0">
                <a:solidFill>
                  <a:srgbClr val="66FFFF"/>
                </a:solidFill>
                <a:cs typeface="FreesiaUPC" panose="020B0604020202020204" pitchFamily="34" charset="-34"/>
              </a:rPr>
              <a:t>	1.1 </a:t>
            </a:r>
            <a:r>
              <a:rPr lang="en-US" altLang="en-US" sz="3000" dirty="0" smtClean="0">
                <a:solidFill>
                  <a:srgbClr val="66FFFF"/>
                </a:solidFill>
                <a:cs typeface="FreesiaUPC" panose="020B0604020202020204" pitchFamily="34" charset="-34"/>
              </a:rPr>
              <a:t>Circulation Rate</a:t>
            </a:r>
            <a:r>
              <a:rPr lang="en-US" altLang="en-US" sz="4000" dirty="0" smtClean="0">
                <a:solidFill>
                  <a:srgbClr val="66FFFF"/>
                </a:solidFill>
                <a:cs typeface="FreesiaUPC" panose="020B0604020202020204" pitchFamily="34" charset="-34"/>
              </a:rPr>
              <a:t> </a:t>
            </a:r>
            <a:r>
              <a:rPr lang="th-TH" altLang="en-US" sz="4000" dirty="0" smtClean="0">
                <a:solidFill>
                  <a:srgbClr val="66FFFF"/>
                </a:solidFill>
                <a:cs typeface="FreesiaUPC" panose="020B0604020202020204" pitchFamily="34" charset="-34"/>
              </a:rPr>
              <a:t>คงที่อยู่ตลอดเวลา</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015813"/>
                                        </p:tgtEl>
                                        <p:attrNameLst>
                                          <p:attrName>style.visibility</p:attrName>
                                        </p:attrNameLst>
                                      </p:cBhvr>
                                      <p:to>
                                        <p:strVal val="visible"/>
                                      </p:to>
                                    </p:set>
                                    <p:animEffect transition="in" filter="checkerboard(across)">
                                      <p:cBhvr>
                                        <p:cTn id="7" dur="500"/>
                                        <p:tgtEl>
                                          <p:spTgt spid="101581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015814"/>
                                        </p:tgtEl>
                                        <p:attrNameLst>
                                          <p:attrName>style.visibility</p:attrName>
                                        </p:attrNameLst>
                                      </p:cBhvr>
                                      <p:to>
                                        <p:strVal val="visible"/>
                                      </p:to>
                                    </p:set>
                                    <p:animEffect transition="in" filter="blinds(horizontal)">
                                      <p:cBhvr>
                                        <p:cTn id="12" dur="500"/>
                                        <p:tgtEl>
                                          <p:spTgt spid="10158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5813" grpId="0"/>
      <p:bldP spid="1015814"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4834" name="Rectangle 2"/>
          <p:cNvSpPr>
            <a:spLocks noGrp="1" noChangeArrowheads="1"/>
          </p:cNvSpPr>
          <p:nvPr>
            <p:ph type="title"/>
          </p:nvPr>
        </p:nvSpPr>
        <p:spPr>
          <a:xfrm>
            <a:off x="457200" y="277813"/>
            <a:ext cx="8229600" cy="736600"/>
          </a:xfrm>
        </p:spPr>
        <p:txBody>
          <a:bodyPr/>
          <a:lstStyle/>
          <a:p>
            <a:r>
              <a:rPr lang="en-US" altLang="en-US" b="1" u="sng" smtClean="0">
                <a:solidFill>
                  <a:srgbClr val="FF0000"/>
                </a:solidFill>
              </a:rPr>
              <a:t>Evaporator</a:t>
            </a:r>
            <a:endParaRPr lang="th-TH" altLang="en-US" b="1" u="sng" smtClean="0">
              <a:solidFill>
                <a:srgbClr val="FF0000"/>
              </a:solidFill>
            </a:endParaRPr>
          </a:p>
        </p:txBody>
      </p:sp>
      <p:sp>
        <p:nvSpPr>
          <p:cNvPr id="504835" name="AutoShape 3"/>
          <p:cNvSpPr>
            <a:spLocks noChangeArrowheads="1"/>
          </p:cNvSpPr>
          <p:nvPr/>
        </p:nvSpPr>
        <p:spPr bwMode="auto">
          <a:xfrm rot="5400000">
            <a:off x="1270794" y="1864519"/>
            <a:ext cx="1228725" cy="442913"/>
          </a:xfrm>
          <a:prstGeom prst="flowChartTerminator">
            <a:avLst/>
          </a:prstGeom>
          <a:solidFill>
            <a:schemeClr val="accent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04836" name="AutoShape 4"/>
          <p:cNvSpPr>
            <a:spLocks noChangeArrowheads="1"/>
          </p:cNvSpPr>
          <p:nvPr/>
        </p:nvSpPr>
        <p:spPr bwMode="auto">
          <a:xfrm rot="5400000">
            <a:off x="2128044" y="1878806"/>
            <a:ext cx="1228725" cy="442913"/>
          </a:xfrm>
          <a:prstGeom prst="flowChartTerminator">
            <a:avLst/>
          </a:prstGeom>
          <a:solidFill>
            <a:schemeClr val="accent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04837" name="AutoShape 5"/>
          <p:cNvSpPr>
            <a:spLocks noChangeArrowheads="1"/>
          </p:cNvSpPr>
          <p:nvPr/>
        </p:nvSpPr>
        <p:spPr bwMode="auto">
          <a:xfrm rot="5400000">
            <a:off x="2999581" y="1878807"/>
            <a:ext cx="1228725" cy="442912"/>
          </a:xfrm>
          <a:prstGeom prst="flowChartTerminator">
            <a:avLst/>
          </a:prstGeom>
          <a:solidFill>
            <a:schemeClr val="accent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04838" name="AutoShape 6"/>
          <p:cNvSpPr>
            <a:spLocks noChangeArrowheads="1"/>
          </p:cNvSpPr>
          <p:nvPr/>
        </p:nvSpPr>
        <p:spPr bwMode="auto">
          <a:xfrm rot="5400000">
            <a:off x="3871913" y="1879600"/>
            <a:ext cx="1228725" cy="441325"/>
          </a:xfrm>
          <a:prstGeom prst="flowChartTerminator">
            <a:avLst/>
          </a:prstGeom>
          <a:solidFill>
            <a:schemeClr val="accent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04839" name="AutoShape 7"/>
          <p:cNvSpPr>
            <a:spLocks noChangeArrowheads="1"/>
          </p:cNvSpPr>
          <p:nvPr/>
        </p:nvSpPr>
        <p:spPr bwMode="auto">
          <a:xfrm rot="5400000">
            <a:off x="4743450" y="1878013"/>
            <a:ext cx="1228725" cy="444500"/>
          </a:xfrm>
          <a:prstGeom prst="flowChartTerminator">
            <a:avLst/>
          </a:prstGeom>
          <a:solidFill>
            <a:schemeClr val="accent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04840" name="Freeform 8"/>
          <p:cNvSpPr>
            <a:spLocks/>
          </p:cNvSpPr>
          <p:nvPr/>
        </p:nvSpPr>
        <p:spPr bwMode="auto">
          <a:xfrm>
            <a:off x="2100263" y="1300163"/>
            <a:ext cx="628650" cy="428625"/>
          </a:xfrm>
          <a:custGeom>
            <a:avLst/>
            <a:gdLst>
              <a:gd name="T0" fmla="*/ 0 w 396"/>
              <a:gd name="T1" fmla="*/ 2147483646 h 270"/>
              <a:gd name="T2" fmla="*/ 2147483646 w 396"/>
              <a:gd name="T3" fmla="*/ 2147483646 h 270"/>
              <a:gd name="T4" fmla="*/ 2147483646 w 396"/>
              <a:gd name="T5" fmla="*/ 0 h 270"/>
              <a:gd name="T6" fmla="*/ 2147483646 w 396"/>
              <a:gd name="T7" fmla="*/ 0 h 270"/>
              <a:gd name="T8" fmla="*/ 2147483646 w 396"/>
              <a:gd name="T9" fmla="*/ 2147483646 h 2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6" h="270">
                <a:moveTo>
                  <a:pt x="0" y="270"/>
                </a:moveTo>
                <a:lnTo>
                  <a:pt x="90" y="270"/>
                </a:lnTo>
                <a:lnTo>
                  <a:pt x="90" y="0"/>
                </a:lnTo>
                <a:lnTo>
                  <a:pt x="396" y="0"/>
                </a:lnTo>
                <a:lnTo>
                  <a:pt x="396" y="108"/>
                </a:lnTo>
              </a:path>
            </a:pathLst>
          </a:custGeom>
          <a:noFill/>
          <a:ln w="9525" cap="flat" cmpd="sng">
            <a:solidFill>
              <a:schemeClr val="tx1"/>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4841" name="Freeform 9"/>
          <p:cNvSpPr>
            <a:spLocks/>
          </p:cNvSpPr>
          <p:nvPr/>
        </p:nvSpPr>
        <p:spPr bwMode="auto">
          <a:xfrm>
            <a:off x="2971800" y="1300163"/>
            <a:ext cx="628650" cy="428625"/>
          </a:xfrm>
          <a:custGeom>
            <a:avLst/>
            <a:gdLst>
              <a:gd name="T0" fmla="*/ 0 w 396"/>
              <a:gd name="T1" fmla="*/ 2147483646 h 270"/>
              <a:gd name="T2" fmla="*/ 2147483646 w 396"/>
              <a:gd name="T3" fmla="*/ 2147483646 h 270"/>
              <a:gd name="T4" fmla="*/ 2147483646 w 396"/>
              <a:gd name="T5" fmla="*/ 0 h 270"/>
              <a:gd name="T6" fmla="*/ 2147483646 w 396"/>
              <a:gd name="T7" fmla="*/ 0 h 270"/>
              <a:gd name="T8" fmla="*/ 2147483646 w 396"/>
              <a:gd name="T9" fmla="*/ 2147483646 h 2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6" h="270">
                <a:moveTo>
                  <a:pt x="0" y="270"/>
                </a:moveTo>
                <a:lnTo>
                  <a:pt x="90" y="270"/>
                </a:lnTo>
                <a:lnTo>
                  <a:pt x="90" y="0"/>
                </a:lnTo>
                <a:lnTo>
                  <a:pt x="396" y="0"/>
                </a:lnTo>
                <a:lnTo>
                  <a:pt x="396" y="108"/>
                </a:lnTo>
              </a:path>
            </a:pathLst>
          </a:custGeom>
          <a:noFill/>
          <a:ln w="9525" cap="flat" cmpd="sng">
            <a:solidFill>
              <a:schemeClr val="tx1"/>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4842" name="Freeform 10"/>
          <p:cNvSpPr>
            <a:spLocks/>
          </p:cNvSpPr>
          <p:nvPr/>
        </p:nvSpPr>
        <p:spPr bwMode="auto">
          <a:xfrm>
            <a:off x="3843338" y="1300163"/>
            <a:ext cx="628650" cy="428625"/>
          </a:xfrm>
          <a:custGeom>
            <a:avLst/>
            <a:gdLst>
              <a:gd name="T0" fmla="*/ 0 w 396"/>
              <a:gd name="T1" fmla="*/ 2147483646 h 270"/>
              <a:gd name="T2" fmla="*/ 2147483646 w 396"/>
              <a:gd name="T3" fmla="*/ 2147483646 h 270"/>
              <a:gd name="T4" fmla="*/ 2147483646 w 396"/>
              <a:gd name="T5" fmla="*/ 0 h 270"/>
              <a:gd name="T6" fmla="*/ 2147483646 w 396"/>
              <a:gd name="T7" fmla="*/ 0 h 270"/>
              <a:gd name="T8" fmla="*/ 2147483646 w 396"/>
              <a:gd name="T9" fmla="*/ 2147483646 h 2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6" h="270">
                <a:moveTo>
                  <a:pt x="0" y="270"/>
                </a:moveTo>
                <a:lnTo>
                  <a:pt x="90" y="270"/>
                </a:lnTo>
                <a:lnTo>
                  <a:pt x="90" y="0"/>
                </a:lnTo>
                <a:lnTo>
                  <a:pt x="396" y="0"/>
                </a:lnTo>
                <a:lnTo>
                  <a:pt x="396" y="108"/>
                </a:lnTo>
              </a:path>
            </a:pathLst>
          </a:custGeom>
          <a:noFill/>
          <a:ln w="9525" cap="flat" cmpd="sng">
            <a:solidFill>
              <a:schemeClr val="tx1"/>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4843" name="Freeform 11"/>
          <p:cNvSpPr>
            <a:spLocks/>
          </p:cNvSpPr>
          <p:nvPr/>
        </p:nvSpPr>
        <p:spPr bwMode="auto">
          <a:xfrm>
            <a:off x="4700588" y="1300163"/>
            <a:ext cx="628650" cy="428625"/>
          </a:xfrm>
          <a:custGeom>
            <a:avLst/>
            <a:gdLst>
              <a:gd name="T0" fmla="*/ 0 w 396"/>
              <a:gd name="T1" fmla="*/ 2147483646 h 270"/>
              <a:gd name="T2" fmla="*/ 2147483646 w 396"/>
              <a:gd name="T3" fmla="*/ 2147483646 h 270"/>
              <a:gd name="T4" fmla="*/ 2147483646 w 396"/>
              <a:gd name="T5" fmla="*/ 0 h 270"/>
              <a:gd name="T6" fmla="*/ 2147483646 w 396"/>
              <a:gd name="T7" fmla="*/ 0 h 270"/>
              <a:gd name="T8" fmla="*/ 2147483646 w 396"/>
              <a:gd name="T9" fmla="*/ 2147483646 h 2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6" h="270">
                <a:moveTo>
                  <a:pt x="0" y="270"/>
                </a:moveTo>
                <a:lnTo>
                  <a:pt x="90" y="270"/>
                </a:lnTo>
                <a:lnTo>
                  <a:pt x="90" y="0"/>
                </a:lnTo>
                <a:lnTo>
                  <a:pt x="396" y="0"/>
                </a:lnTo>
                <a:lnTo>
                  <a:pt x="396" y="108"/>
                </a:lnTo>
              </a:path>
            </a:pathLst>
          </a:custGeom>
          <a:noFill/>
          <a:ln w="9525" cap="flat" cmpd="sng">
            <a:solidFill>
              <a:schemeClr val="tx1"/>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4844" name="Rectangle 12"/>
          <p:cNvSpPr>
            <a:spLocks noChangeArrowheads="1"/>
          </p:cNvSpPr>
          <p:nvPr/>
        </p:nvSpPr>
        <p:spPr bwMode="auto">
          <a:xfrm>
            <a:off x="1485900" y="1014413"/>
            <a:ext cx="4357688" cy="2028825"/>
          </a:xfrm>
          <a:prstGeom prst="rect">
            <a:avLst/>
          </a:prstGeom>
          <a:noFill/>
          <a:ln w="9525" algn="ctr">
            <a:solidFill>
              <a:schemeClr val="tx1"/>
            </a:solidFill>
            <a:prstDash val="lgDash"/>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04845" name="Line 13"/>
          <p:cNvSpPr>
            <a:spLocks noChangeShapeType="1"/>
          </p:cNvSpPr>
          <p:nvPr/>
        </p:nvSpPr>
        <p:spPr bwMode="auto">
          <a:xfrm>
            <a:off x="157163" y="1628775"/>
            <a:ext cx="147955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4846" name="Text Box 14"/>
          <p:cNvSpPr txBox="1">
            <a:spLocks noChangeArrowheads="1"/>
          </p:cNvSpPr>
          <p:nvPr/>
        </p:nvSpPr>
        <p:spPr bwMode="auto">
          <a:xfrm>
            <a:off x="157163" y="1371600"/>
            <a:ext cx="147955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500">
                <a:solidFill>
                  <a:srgbClr val="000099"/>
                </a:solidFill>
              </a:rPr>
              <a:t>m4 Steam in</a:t>
            </a:r>
            <a:endParaRPr lang="th-TH" altLang="en-US" sz="1500">
              <a:solidFill>
                <a:srgbClr val="000099"/>
              </a:solidFill>
            </a:endParaRPr>
          </a:p>
        </p:txBody>
      </p:sp>
      <p:sp>
        <p:nvSpPr>
          <p:cNvPr id="504847" name="Text Box 15"/>
          <p:cNvSpPr txBox="1">
            <a:spLocks noChangeArrowheads="1"/>
          </p:cNvSpPr>
          <p:nvPr/>
        </p:nvSpPr>
        <p:spPr bwMode="auto">
          <a:xfrm>
            <a:off x="157163" y="1620838"/>
            <a:ext cx="147955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500">
                <a:solidFill>
                  <a:srgbClr val="000099"/>
                </a:solidFill>
              </a:rPr>
              <a:t>(Ton/hr.)</a:t>
            </a:r>
            <a:endParaRPr lang="th-TH" altLang="en-US" sz="1500">
              <a:solidFill>
                <a:srgbClr val="000099"/>
              </a:solidFill>
            </a:endParaRPr>
          </a:p>
        </p:txBody>
      </p:sp>
      <p:sp>
        <p:nvSpPr>
          <p:cNvPr id="504848" name="Line 16"/>
          <p:cNvSpPr>
            <a:spLocks noChangeShapeType="1"/>
          </p:cNvSpPr>
          <p:nvPr/>
        </p:nvSpPr>
        <p:spPr bwMode="auto">
          <a:xfrm flipH="1">
            <a:off x="457200" y="2528888"/>
            <a:ext cx="1179513"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4849" name="Text Box 17"/>
          <p:cNvSpPr txBox="1">
            <a:spLocks noChangeArrowheads="1"/>
          </p:cNvSpPr>
          <p:nvPr/>
        </p:nvSpPr>
        <p:spPr bwMode="auto">
          <a:xfrm>
            <a:off x="157163" y="1979613"/>
            <a:ext cx="1506537" cy="549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500">
                <a:solidFill>
                  <a:srgbClr val="993300"/>
                </a:solidFill>
              </a:rPr>
              <a:t>Strong Black Liquor Out</a:t>
            </a:r>
            <a:endParaRPr lang="th-TH" altLang="en-US" sz="1500">
              <a:solidFill>
                <a:srgbClr val="993300"/>
              </a:solidFill>
            </a:endParaRPr>
          </a:p>
        </p:txBody>
      </p:sp>
      <p:sp>
        <p:nvSpPr>
          <p:cNvPr id="504850" name="Text Box 18"/>
          <p:cNvSpPr txBox="1">
            <a:spLocks noChangeArrowheads="1"/>
          </p:cNvSpPr>
          <p:nvPr/>
        </p:nvSpPr>
        <p:spPr bwMode="auto">
          <a:xfrm>
            <a:off x="157163" y="2554288"/>
            <a:ext cx="147955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500">
                <a:solidFill>
                  <a:srgbClr val="993300"/>
                </a:solidFill>
              </a:rPr>
              <a:t>Q2 (m</a:t>
            </a:r>
            <a:r>
              <a:rPr lang="en-US" altLang="en-US" sz="1500" baseline="30000">
                <a:solidFill>
                  <a:srgbClr val="993300"/>
                </a:solidFill>
              </a:rPr>
              <a:t>3</a:t>
            </a:r>
            <a:r>
              <a:rPr lang="en-US" altLang="en-US" sz="1500">
                <a:solidFill>
                  <a:srgbClr val="993300"/>
                </a:solidFill>
              </a:rPr>
              <a:t>/hr.)</a:t>
            </a:r>
            <a:endParaRPr lang="th-TH" altLang="en-US" sz="1500">
              <a:solidFill>
                <a:srgbClr val="993300"/>
              </a:solidFill>
            </a:endParaRPr>
          </a:p>
        </p:txBody>
      </p:sp>
      <p:sp>
        <p:nvSpPr>
          <p:cNvPr id="504851" name="Line 19"/>
          <p:cNvSpPr>
            <a:spLocks noChangeShapeType="1"/>
          </p:cNvSpPr>
          <p:nvPr/>
        </p:nvSpPr>
        <p:spPr bwMode="auto">
          <a:xfrm flipH="1">
            <a:off x="5630863" y="2528888"/>
            <a:ext cx="1684337"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4852" name="Text Box 20"/>
          <p:cNvSpPr txBox="1">
            <a:spLocks noChangeArrowheads="1"/>
          </p:cNvSpPr>
          <p:nvPr/>
        </p:nvSpPr>
        <p:spPr bwMode="auto">
          <a:xfrm>
            <a:off x="6272213" y="2208213"/>
            <a:ext cx="2414587"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500">
                <a:solidFill>
                  <a:srgbClr val="006600"/>
                </a:solidFill>
              </a:rPr>
              <a:t>Weak Black Liquor in</a:t>
            </a:r>
            <a:endParaRPr lang="th-TH" altLang="en-US" sz="1500">
              <a:solidFill>
                <a:srgbClr val="006600"/>
              </a:solidFill>
            </a:endParaRPr>
          </a:p>
        </p:txBody>
      </p:sp>
      <p:sp>
        <p:nvSpPr>
          <p:cNvPr id="504853" name="Text Box 21"/>
          <p:cNvSpPr txBox="1">
            <a:spLocks noChangeArrowheads="1"/>
          </p:cNvSpPr>
          <p:nvPr/>
        </p:nvSpPr>
        <p:spPr bwMode="auto">
          <a:xfrm>
            <a:off x="6272213" y="2554288"/>
            <a:ext cx="2414587"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500">
                <a:solidFill>
                  <a:srgbClr val="006600"/>
                </a:solidFill>
              </a:rPr>
              <a:t>Q1 (m</a:t>
            </a:r>
            <a:r>
              <a:rPr lang="en-US" altLang="en-US" sz="1500" baseline="30000">
                <a:solidFill>
                  <a:srgbClr val="006600"/>
                </a:solidFill>
              </a:rPr>
              <a:t>3</a:t>
            </a:r>
            <a:r>
              <a:rPr lang="en-US" altLang="en-US" sz="1500">
                <a:solidFill>
                  <a:srgbClr val="006600"/>
                </a:solidFill>
              </a:rPr>
              <a:t>/hr.)</a:t>
            </a:r>
            <a:endParaRPr lang="th-TH" altLang="en-US" sz="1500">
              <a:solidFill>
                <a:srgbClr val="006600"/>
              </a:solidFill>
            </a:endParaRPr>
          </a:p>
        </p:txBody>
      </p:sp>
      <p:sp>
        <p:nvSpPr>
          <p:cNvPr id="504854" name="Line 22"/>
          <p:cNvSpPr>
            <a:spLocks noChangeShapeType="1"/>
          </p:cNvSpPr>
          <p:nvPr/>
        </p:nvSpPr>
        <p:spPr bwMode="auto">
          <a:xfrm>
            <a:off x="3600450" y="3043238"/>
            <a:ext cx="0" cy="328612"/>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4855" name="Text Box 23"/>
          <p:cNvSpPr txBox="1">
            <a:spLocks noChangeArrowheads="1"/>
          </p:cNvSpPr>
          <p:nvPr/>
        </p:nvSpPr>
        <p:spPr bwMode="auto">
          <a:xfrm>
            <a:off x="2449513" y="3429000"/>
            <a:ext cx="2308225" cy="527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lnSpc>
                <a:spcPct val="70000"/>
              </a:lnSpc>
              <a:spcBef>
                <a:spcPct val="50000"/>
              </a:spcBef>
              <a:buFontTx/>
              <a:buNone/>
            </a:pPr>
            <a:r>
              <a:rPr lang="en-US" altLang="en-US" sz="1500"/>
              <a:t>Evaporated Water</a:t>
            </a:r>
          </a:p>
          <a:p>
            <a:pPr algn="ctr">
              <a:lnSpc>
                <a:spcPct val="70000"/>
              </a:lnSpc>
              <a:spcBef>
                <a:spcPct val="50000"/>
              </a:spcBef>
              <a:buFontTx/>
              <a:buNone/>
            </a:pPr>
            <a:r>
              <a:rPr lang="en-US" altLang="en-US" sz="1500"/>
              <a:t>Q3 (m</a:t>
            </a:r>
            <a:r>
              <a:rPr lang="en-US" altLang="en-US" sz="1500" baseline="30000"/>
              <a:t>3</a:t>
            </a:r>
            <a:r>
              <a:rPr lang="en-US" altLang="en-US" sz="1500"/>
              <a:t>/hr.)</a:t>
            </a:r>
            <a:endParaRPr lang="th-TH" altLang="en-US" sz="1500"/>
          </a:p>
        </p:txBody>
      </p:sp>
      <p:sp>
        <p:nvSpPr>
          <p:cNvPr id="504856" name="Text Box 24"/>
          <p:cNvSpPr txBox="1">
            <a:spLocks noChangeArrowheads="1"/>
          </p:cNvSpPr>
          <p:nvPr/>
        </p:nvSpPr>
        <p:spPr bwMode="auto">
          <a:xfrm>
            <a:off x="900113" y="4279900"/>
            <a:ext cx="4943475" cy="527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th-TH" altLang="en-US" sz="2500">
                <a:solidFill>
                  <a:srgbClr val="000066"/>
                </a:solidFill>
              </a:rPr>
              <a:t>อัตราการระเหยน้ำ</a:t>
            </a:r>
            <a:r>
              <a:rPr lang="th-TH" altLang="en-US" sz="1500">
                <a:solidFill>
                  <a:srgbClr val="000066"/>
                </a:solidFill>
              </a:rPr>
              <a:t> </a:t>
            </a:r>
            <a:r>
              <a:rPr lang="en-US" altLang="en-US" sz="1500">
                <a:solidFill>
                  <a:srgbClr val="000066"/>
                </a:solidFill>
              </a:rPr>
              <a:t>(Q3)   =  Q2 – Q1   (m</a:t>
            </a:r>
            <a:r>
              <a:rPr lang="en-US" altLang="en-US" sz="1500" baseline="30000">
                <a:solidFill>
                  <a:srgbClr val="000066"/>
                </a:solidFill>
              </a:rPr>
              <a:t>3</a:t>
            </a:r>
            <a:r>
              <a:rPr lang="en-US" altLang="en-US" sz="1500">
                <a:solidFill>
                  <a:srgbClr val="000066"/>
                </a:solidFill>
              </a:rPr>
              <a:t>/hr.)</a:t>
            </a:r>
            <a:endParaRPr lang="th-TH" altLang="en-US" sz="1500">
              <a:solidFill>
                <a:srgbClr val="000066"/>
              </a:solidFill>
            </a:endParaRPr>
          </a:p>
        </p:txBody>
      </p:sp>
      <p:sp>
        <p:nvSpPr>
          <p:cNvPr id="504857" name="Text Box 25"/>
          <p:cNvSpPr txBox="1">
            <a:spLocks noChangeArrowheads="1"/>
          </p:cNvSpPr>
          <p:nvPr/>
        </p:nvSpPr>
        <p:spPr bwMode="auto">
          <a:xfrm>
            <a:off x="919163" y="5180013"/>
            <a:ext cx="4946650"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th-TH" altLang="en-US" sz="2500">
                <a:solidFill>
                  <a:srgbClr val="000066"/>
                </a:solidFill>
              </a:rPr>
              <a:t>อัตราส่วนน้ำที่ระเหย</a:t>
            </a:r>
            <a:r>
              <a:rPr lang="th-TH" altLang="en-US" sz="1500">
                <a:solidFill>
                  <a:srgbClr val="000066"/>
                </a:solidFill>
              </a:rPr>
              <a:t> </a:t>
            </a:r>
            <a:r>
              <a:rPr lang="en-US" altLang="en-US" sz="1500">
                <a:solidFill>
                  <a:srgbClr val="000066"/>
                </a:solidFill>
              </a:rPr>
              <a:t>     m</a:t>
            </a:r>
            <a:r>
              <a:rPr lang="en-US" altLang="en-US" sz="1500" baseline="30000">
                <a:solidFill>
                  <a:srgbClr val="000066"/>
                </a:solidFill>
              </a:rPr>
              <a:t>3</a:t>
            </a:r>
            <a:r>
              <a:rPr lang="en-US" altLang="en-US" sz="1500">
                <a:solidFill>
                  <a:srgbClr val="000066"/>
                </a:solidFill>
              </a:rPr>
              <a:t>             =         Q3</a:t>
            </a:r>
            <a:endParaRPr lang="th-TH" altLang="en-US" sz="1500">
              <a:solidFill>
                <a:srgbClr val="000066"/>
              </a:solidFill>
            </a:endParaRPr>
          </a:p>
        </p:txBody>
      </p:sp>
      <p:sp>
        <p:nvSpPr>
          <p:cNvPr id="504858" name="Text Box 26"/>
          <p:cNvSpPr txBox="1">
            <a:spLocks noChangeArrowheads="1"/>
          </p:cNvSpPr>
          <p:nvPr/>
        </p:nvSpPr>
        <p:spPr bwMode="auto">
          <a:xfrm>
            <a:off x="1176338" y="5524500"/>
            <a:ext cx="1344612"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500">
                <a:solidFill>
                  <a:srgbClr val="000066"/>
                </a:solidFill>
              </a:rPr>
              <a:t>Steam</a:t>
            </a:r>
            <a:r>
              <a:rPr lang="th-TH" altLang="en-US" sz="2500">
                <a:solidFill>
                  <a:srgbClr val="000066"/>
                </a:solidFill>
              </a:rPr>
              <a:t> ที่ใช้</a:t>
            </a:r>
            <a:endParaRPr lang="th-TH" altLang="en-US" sz="1500">
              <a:solidFill>
                <a:srgbClr val="000066"/>
              </a:solidFill>
            </a:endParaRPr>
          </a:p>
        </p:txBody>
      </p:sp>
      <p:sp>
        <p:nvSpPr>
          <p:cNvPr id="504859" name="Text Box 27"/>
          <p:cNvSpPr txBox="1">
            <a:spLocks noChangeArrowheads="1"/>
          </p:cNvSpPr>
          <p:nvPr/>
        </p:nvSpPr>
        <p:spPr bwMode="auto">
          <a:xfrm>
            <a:off x="2928938" y="5605463"/>
            <a:ext cx="663575"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500">
                <a:solidFill>
                  <a:srgbClr val="000066"/>
                </a:solidFill>
              </a:rPr>
              <a:t>Ton</a:t>
            </a:r>
            <a:endParaRPr lang="th-TH" altLang="en-US" sz="1500">
              <a:solidFill>
                <a:srgbClr val="000066"/>
              </a:solidFill>
            </a:endParaRPr>
          </a:p>
        </p:txBody>
      </p:sp>
      <p:sp>
        <p:nvSpPr>
          <p:cNvPr id="504860" name="Text Box 28"/>
          <p:cNvSpPr txBox="1">
            <a:spLocks noChangeArrowheads="1"/>
          </p:cNvSpPr>
          <p:nvPr/>
        </p:nvSpPr>
        <p:spPr bwMode="auto">
          <a:xfrm>
            <a:off x="4214813" y="5605463"/>
            <a:ext cx="663575"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500">
                <a:solidFill>
                  <a:srgbClr val="000066"/>
                </a:solidFill>
              </a:rPr>
              <a:t>m4</a:t>
            </a:r>
            <a:endParaRPr lang="th-TH" altLang="en-US" sz="1500">
              <a:solidFill>
                <a:srgbClr val="000066"/>
              </a:solidFill>
            </a:endParaRPr>
          </a:p>
        </p:txBody>
      </p:sp>
      <p:sp>
        <p:nvSpPr>
          <p:cNvPr id="504861" name="AutoShape 29"/>
          <p:cNvSpPr>
            <a:spLocks noChangeArrowheads="1"/>
          </p:cNvSpPr>
          <p:nvPr/>
        </p:nvSpPr>
        <p:spPr bwMode="auto">
          <a:xfrm>
            <a:off x="2928938" y="5326063"/>
            <a:ext cx="514350" cy="557212"/>
          </a:xfrm>
          <a:prstGeom prst="bracketPair">
            <a:avLst>
              <a:gd name="adj" fmla="val 16667"/>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04862" name="Line 30"/>
          <p:cNvSpPr>
            <a:spLocks noChangeShapeType="1"/>
          </p:cNvSpPr>
          <p:nvPr/>
        </p:nvSpPr>
        <p:spPr bwMode="auto">
          <a:xfrm>
            <a:off x="963613" y="5548313"/>
            <a:ext cx="18097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4863" name="Line 31"/>
          <p:cNvSpPr>
            <a:spLocks noChangeShapeType="1"/>
          </p:cNvSpPr>
          <p:nvPr/>
        </p:nvSpPr>
        <p:spPr bwMode="auto">
          <a:xfrm>
            <a:off x="4214813" y="5556250"/>
            <a:ext cx="4206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4864" name="Rectangle 32"/>
          <p:cNvSpPr>
            <a:spLocks noChangeArrowheads="1"/>
          </p:cNvSpPr>
          <p:nvPr/>
        </p:nvSpPr>
        <p:spPr bwMode="auto">
          <a:xfrm>
            <a:off x="755650" y="4113213"/>
            <a:ext cx="4430713" cy="796925"/>
          </a:xfrm>
          <a:prstGeom prst="rect">
            <a:avLst/>
          </a:prstGeom>
          <a:noFill/>
          <a:ln w="9525" algn="ctr">
            <a:solidFill>
              <a:srgbClr val="000066"/>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04865" name="Rectangle 33"/>
          <p:cNvSpPr>
            <a:spLocks noChangeArrowheads="1"/>
          </p:cNvSpPr>
          <p:nvPr/>
        </p:nvSpPr>
        <p:spPr bwMode="auto">
          <a:xfrm>
            <a:off x="755650" y="5180013"/>
            <a:ext cx="4430713" cy="817562"/>
          </a:xfrm>
          <a:prstGeom prst="rect">
            <a:avLst/>
          </a:prstGeom>
          <a:noFill/>
          <a:ln w="9525" algn="ctr">
            <a:solidFill>
              <a:srgbClr val="000066"/>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04866" name="Line 34"/>
          <p:cNvSpPr>
            <a:spLocks noChangeShapeType="1"/>
          </p:cNvSpPr>
          <p:nvPr/>
        </p:nvSpPr>
        <p:spPr bwMode="auto">
          <a:xfrm>
            <a:off x="5329238" y="5548313"/>
            <a:ext cx="74295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4867" name="Text Box 35"/>
          <p:cNvSpPr txBox="1">
            <a:spLocks noChangeArrowheads="1"/>
          </p:cNvSpPr>
          <p:nvPr/>
        </p:nvSpPr>
        <p:spPr bwMode="auto">
          <a:xfrm>
            <a:off x="6072188" y="5167313"/>
            <a:ext cx="2614612" cy="873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lnSpc>
                <a:spcPct val="50000"/>
              </a:lnSpc>
              <a:spcBef>
                <a:spcPct val="50000"/>
              </a:spcBef>
              <a:buFontTx/>
              <a:buNone/>
            </a:pPr>
            <a:r>
              <a:rPr lang="th-TH" altLang="en-US" sz="2200"/>
              <a:t>ใช้เป็นตัวบอกประสิทธิภาพของ</a:t>
            </a:r>
          </a:p>
          <a:p>
            <a:pPr algn="ctr">
              <a:lnSpc>
                <a:spcPct val="50000"/>
              </a:lnSpc>
              <a:spcBef>
                <a:spcPct val="50000"/>
              </a:spcBef>
              <a:buFontTx/>
              <a:buNone/>
            </a:pPr>
            <a:r>
              <a:rPr lang="en-US" altLang="en-US" sz="1800"/>
              <a:t>Evaporator</a:t>
            </a:r>
          </a:p>
          <a:p>
            <a:pPr algn="ctr">
              <a:lnSpc>
                <a:spcPct val="50000"/>
              </a:lnSpc>
              <a:spcBef>
                <a:spcPct val="50000"/>
              </a:spcBef>
              <a:buFontTx/>
              <a:buNone/>
            </a:pPr>
            <a:r>
              <a:rPr lang="th-TH" altLang="en-US" sz="2200"/>
              <a:t>ขณะเดินเครื่อง</a:t>
            </a:r>
          </a:p>
        </p:txBody>
      </p:sp>
    </p:spTree>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858" name="Rectangle 2"/>
          <p:cNvSpPr>
            <a:spLocks noGrp="1" noChangeArrowheads="1"/>
          </p:cNvSpPr>
          <p:nvPr>
            <p:ph type="title"/>
          </p:nvPr>
        </p:nvSpPr>
        <p:spPr/>
        <p:txBody>
          <a:bodyPr/>
          <a:lstStyle/>
          <a:p>
            <a:r>
              <a:rPr lang="en-US" altLang="en-US" sz="4200" u="sng" smtClean="0">
                <a:latin typeface="Arial Black" panose="020B0A04020102020204" pitchFamily="34" charset="0"/>
              </a:rPr>
              <a:t>Live steam and liquor flows</a:t>
            </a:r>
            <a:endParaRPr lang="th-TH" altLang="en-US" sz="4200" u="sng" smtClean="0">
              <a:latin typeface="Arial Black" panose="020B0A04020102020204" pitchFamily="34" charset="0"/>
            </a:endParaRPr>
          </a:p>
        </p:txBody>
      </p:sp>
      <p:graphicFrame>
        <p:nvGraphicFramePr>
          <p:cNvPr id="1020931" name="Group 3"/>
          <p:cNvGraphicFramePr>
            <a:graphicFrameLocks noGrp="1"/>
          </p:cNvGraphicFramePr>
          <p:nvPr>
            <p:ph idx="1"/>
          </p:nvPr>
        </p:nvGraphicFramePr>
        <p:xfrm>
          <a:off x="457200" y="1289050"/>
          <a:ext cx="8229600" cy="4643440"/>
        </p:xfrm>
        <a:graphic>
          <a:graphicData uri="http://schemas.openxmlformats.org/drawingml/2006/table">
            <a:tbl>
              <a:tblPr/>
              <a:tblGrid>
                <a:gridCol w="2057400"/>
                <a:gridCol w="2057400"/>
                <a:gridCol w="2057400"/>
                <a:gridCol w="2057400"/>
              </a:tblGrid>
              <a:tr h="920494">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dirty="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STEAM</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dirty="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t/h</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dirty="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(FRCQ-001)</a:t>
                      </a:r>
                      <a:endParaRPr kumimoji="0" lang="th-TH" altLang="en-US" sz="1600" b="1" i="0" u="none" strike="noStrike" cap="none" normalizeH="0" baseline="0" dirty="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LIQUOR TO 1 AB m</a:t>
                      </a:r>
                      <a:r>
                        <a:rPr kumimoji="0" lang="en-US" altLang="en-US" sz="1600" b="1" i="0" u="none" strike="noStrike" cap="none" normalizeH="0" baseline="3000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3</a:t>
                      </a: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/h</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(FRCQ-002)</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STRONG LIQUOR</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m</a:t>
                      </a:r>
                      <a:r>
                        <a:rPr kumimoji="0" lang="en-US" altLang="en-US" sz="1600" b="1" i="0" u="none" strike="noStrike" cap="none" normalizeH="0" baseline="3000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3</a:t>
                      </a: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/h</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(FR-010)</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FEED LIQUOR</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m</a:t>
                      </a:r>
                      <a:r>
                        <a:rPr kumimoji="0" lang="en-US" altLang="en-US" sz="1600" b="1" i="0" u="none" strike="noStrike" cap="none" normalizeH="0" baseline="3000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3</a:t>
                      </a: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/h</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(FIQ-003)</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a:noFill/>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9719">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1</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1,64</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0,72</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4,89</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8132">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2</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dirty="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3,28</a:t>
                      </a:r>
                      <a:endParaRPr kumimoji="0" lang="th-TH" altLang="en-US" sz="1600" b="1" i="0" u="none" strike="noStrike" cap="none" normalizeH="0" baseline="0" dirty="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1,45</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9,78</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8132">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3</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4,92</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2,17</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14,67</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9719">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4</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6,56</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2,89</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19,56</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8132">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5</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8,20</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3,62</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24,45</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8132">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6</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9,84</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4,34</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29,34</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9719">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7</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11,49</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5,06</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34,23</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8132">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8</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13,13</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5,78</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39,12</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8132">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9</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14,77</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6,51</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44,01</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9719">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10</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16,41</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7,23</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48,90</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35278">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11</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18,05</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7,95</a:t>
                      </a:r>
                      <a:endParaRPr kumimoji="0" lang="th-TH" altLang="en-US" sz="1600" b="1" i="0" u="none" strike="noStrike" cap="none" normalizeH="0" baseline="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344488">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693738">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989013">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12827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17399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1971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26543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1115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anose="05000000000000000000" pitchFamily="2" charset="2"/>
                        <a:buNone/>
                        <a:tabLst/>
                      </a:pPr>
                      <a:r>
                        <a:rPr kumimoji="0" lang="en-US" altLang="en-US" sz="1600" b="1" i="0" u="none" strike="noStrike" cap="none" normalizeH="0" baseline="0" dirty="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rPr>
                        <a:t>53,79</a:t>
                      </a:r>
                      <a:endParaRPr kumimoji="0" lang="th-TH" altLang="en-US" sz="1600" b="1" i="0" u="none" strike="noStrike" cap="none" normalizeH="0" baseline="0" dirty="0" smtClean="0">
                        <a:ln>
                          <a:noFill/>
                        </a:ln>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505926" name="Text Box 72"/>
          <p:cNvSpPr txBox="1">
            <a:spLocks noChangeArrowheads="1"/>
          </p:cNvSpPr>
          <p:nvPr/>
        </p:nvSpPr>
        <p:spPr bwMode="auto">
          <a:xfrm>
            <a:off x="457200" y="6002338"/>
            <a:ext cx="75438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2000">
                <a:latin typeface="SimSun" panose="02010600030101010101" pitchFamily="2" charset="-122"/>
              </a:rPr>
              <a:t>Table IV.1. Live steam feed and liquor flow</a:t>
            </a:r>
            <a:endParaRPr lang="th-TH" altLang="en-US" sz="2000">
              <a:latin typeface="SimSun" panose="02010600030101010101" pitchFamily="2" charset="-122"/>
            </a:endParaRPr>
          </a:p>
        </p:txBody>
      </p:sp>
      <p:sp>
        <p:nvSpPr>
          <p:cNvPr id="505927" name="Line 73"/>
          <p:cNvSpPr>
            <a:spLocks noChangeShapeType="1"/>
          </p:cNvSpPr>
          <p:nvPr/>
        </p:nvSpPr>
        <p:spPr bwMode="auto">
          <a:xfrm>
            <a:off x="6629400" y="1687513"/>
            <a:ext cx="0" cy="8683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2" name="Rectangle 2"/>
          <p:cNvSpPr>
            <a:spLocks noGrp="1" noChangeArrowheads="1"/>
          </p:cNvSpPr>
          <p:nvPr>
            <p:ph type="title"/>
          </p:nvPr>
        </p:nvSpPr>
        <p:spPr/>
        <p:txBody>
          <a:bodyPr/>
          <a:lstStyle/>
          <a:p>
            <a:r>
              <a:rPr lang="en-US" altLang="en-US" sz="3600" u="sng" smtClean="0">
                <a:latin typeface="Book Antiqua" panose="02040602050305030304" pitchFamily="18" charset="0"/>
              </a:rPr>
              <a:t>Chart IV.1 : Live steam versus liquor flow</a:t>
            </a:r>
            <a:endParaRPr lang="th-TH" altLang="en-US" sz="3600" u="sng" smtClean="0">
              <a:latin typeface="Book Antiqua" panose="02040602050305030304" pitchFamily="18" charset="0"/>
            </a:endParaRPr>
          </a:p>
        </p:txBody>
      </p:sp>
      <p:pic>
        <p:nvPicPr>
          <p:cNvPr id="506883" name="Picture 3" descr="chart"/>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609600" y="1417638"/>
            <a:ext cx="8077200" cy="4986337"/>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6" name="Rectangle 2"/>
          <p:cNvSpPr>
            <a:spLocks noGrp="1" noChangeArrowheads="1"/>
          </p:cNvSpPr>
          <p:nvPr>
            <p:ph type="title"/>
          </p:nvPr>
        </p:nvSpPr>
        <p:spPr/>
        <p:txBody>
          <a:bodyPr/>
          <a:lstStyle/>
          <a:p>
            <a:r>
              <a:rPr lang="en-US" altLang="en-US" smtClean="0"/>
              <a:t>Recovery Boiler</a:t>
            </a:r>
            <a:endParaRPr lang="th-TH" altLang="en-US" smtClean="0"/>
          </a:p>
        </p:txBody>
      </p:sp>
      <p:sp>
        <p:nvSpPr>
          <p:cNvPr id="507907" name="Rectangle 3"/>
          <p:cNvSpPr>
            <a:spLocks noGrp="1" noChangeArrowheads="1"/>
          </p:cNvSpPr>
          <p:nvPr>
            <p:ph type="body" idx="1"/>
          </p:nvPr>
        </p:nvSpPr>
        <p:spPr/>
        <p:txBody>
          <a:bodyPr/>
          <a:lstStyle/>
          <a:p>
            <a:pPr>
              <a:buFont typeface="Wingdings" panose="05000000000000000000" pitchFamily="2" charset="2"/>
              <a:buNone/>
            </a:pPr>
            <a:r>
              <a:rPr lang="en-US" altLang="en-US" smtClean="0"/>
              <a:t> </a:t>
            </a:r>
            <a:endParaRPr lang="th-TH" altLang="en-US" smtClean="0"/>
          </a:p>
        </p:txBody>
      </p:sp>
      <p:sp>
        <p:nvSpPr>
          <p:cNvPr id="1032196" name="Text Box 4"/>
          <p:cNvSpPr txBox="1">
            <a:spLocks noChangeArrowheads="1"/>
          </p:cNvSpPr>
          <p:nvPr/>
        </p:nvSpPr>
        <p:spPr bwMode="auto">
          <a:xfrm>
            <a:off x="457200" y="1417638"/>
            <a:ext cx="8458200" cy="228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3200">
                <a:effectLst>
                  <a:outerShdw blurRad="38100" dist="38100" dir="2700000" algn="tl">
                    <a:srgbClr val="000000"/>
                  </a:outerShdw>
                </a:effectLst>
                <a:latin typeface="Angsana New" panose="02020603050405020304" pitchFamily="18" charset="-34"/>
              </a:rPr>
              <a:t>Recovery boiler</a:t>
            </a:r>
            <a:r>
              <a:rPr lang="th-TH" altLang="en-US" sz="3200">
                <a:effectLst>
                  <a:outerShdw blurRad="38100" dist="38100" dir="2700000" algn="tl">
                    <a:srgbClr val="000000"/>
                  </a:outerShdw>
                </a:effectLst>
                <a:latin typeface="Angsana New" panose="02020603050405020304" pitchFamily="18" charset="-34"/>
              </a:rPr>
              <a:t> มีหน้าที่ในการเผาไหม้สารอินทีย์ใน </a:t>
            </a:r>
            <a:r>
              <a:rPr lang="en-US" altLang="en-US" sz="3200">
                <a:effectLst>
                  <a:outerShdw blurRad="38100" dist="38100" dir="2700000" algn="tl">
                    <a:srgbClr val="000000"/>
                  </a:outerShdw>
                </a:effectLst>
                <a:latin typeface="Angsana New" panose="02020603050405020304" pitchFamily="18" charset="-34"/>
              </a:rPr>
              <a:t>Black Liquor</a:t>
            </a:r>
          </a:p>
          <a:p>
            <a:pPr>
              <a:spcBef>
                <a:spcPct val="50000"/>
              </a:spcBef>
              <a:defRPr/>
            </a:pPr>
            <a:r>
              <a:rPr lang="th-TH" altLang="en-US" sz="3200">
                <a:effectLst>
                  <a:outerShdw blurRad="38100" dist="38100" dir="2700000" algn="tl">
                    <a:srgbClr val="000000"/>
                  </a:outerShdw>
                </a:effectLst>
                <a:latin typeface="Angsana New" panose="02020603050405020304" pitchFamily="18" charset="-34"/>
              </a:rPr>
              <a:t>ให้ได้ </a:t>
            </a:r>
            <a:r>
              <a:rPr lang="en-US" altLang="en-US" sz="3200">
                <a:effectLst>
                  <a:outerShdw blurRad="38100" dist="38100" dir="2700000" algn="tl">
                    <a:srgbClr val="000000"/>
                  </a:outerShdw>
                </a:effectLst>
                <a:latin typeface="Angsana New" panose="02020603050405020304" pitchFamily="18" charset="-34"/>
              </a:rPr>
              <a:t>Green Liquor </a:t>
            </a:r>
            <a:r>
              <a:rPr lang="th-TH" altLang="en-US" sz="3200">
                <a:effectLst>
                  <a:outerShdw blurRad="38100" dist="38100" dir="2700000" algn="tl">
                    <a:srgbClr val="000000"/>
                  </a:outerShdw>
                </a:effectLst>
                <a:latin typeface="Angsana New" panose="02020603050405020304" pitchFamily="18" charset="-34"/>
              </a:rPr>
              <a:t>หรือ </a:t>
            </a:r>
            <a:r>
              <a:rPr lang="en-US" altLang="en-US" sz="3200">
                <a:effectLst>
                  <a:outerShdw blurRad="38100" dist="38100" dir="2700000" algn="tl">
                    <a:srgbClr val="000000"/>
                  </a:outerShdw>
                </a:effectLst>
                <a:latin typeface="Angsana New" panose="02020603050405020304" pitchFamily="18" charset="-34"/>
              </a:rPr>
              <a:t>NaCO</a:t>
            </a:r>
            <a:r>
              <a:rPr lang="en-US" altLang="en-US" sz="3200" baseline="-25000">
                <a:effectLst>
                  <a:outerShdw blurRad="38100" dist="38100" dir="2700000" algn="tl">
                    <a:srgbClr val="000000"/>
                  </a:outerShdw>
                </a:effectLst>
                <a:latin typeface="Angsana New" panose="02020603050405020304" pitchFamily="18" charset="-34"/>
              </a:rPr>
              <a:t>3</a:t>
            </a:r>
            <a:r>
              <a:rPr lang="th-TH" altLang="en-US" sz="3200" baseline="-25000">
                <a:effectLst>
                  <a:outerShdw blurRad="38100" dist="38100" dir="2700000" algn="tl">
                    <a:srgbClr val="000000"/>
                  </a:outerShdw>
                </a:effectLst>
                <a:latin typeface="Angsana New" panose="02020603050405020304" pitchFamily="18" charset="-34"/>
              </a:rPr>
              <a:t> </a:t>
            </a:r>
            <a:r>
              <a:rPr lang="th-TH" altLang="en-US" sz="3200">
                <a:effectLst>
                  <a:outerShdw blurRad="38100" dist="38100" dir="2700000" algn="tl">
                    <a:srgbClr val="000000"/>
                  </a:outerShdw>
                </a:effectLst>
                <a:latin typeface="Angsana New" panose="02020603050405020304" pitchFamily="18" charset="-34"/>
              </a:rPr>
              <a:t>เพื่อใช้เป็นวัตถุดิบในระบบ </a:t>
            </a:r>
            <a:r>
              <a:rPr lang="en-US" altLang="en-US" sz="3200">
                <a:effectLst>
                  <a:outerShdw blurRad="38100" dist="38100" dir="2700000" algn="tl">
                    <a:srgbClr val="000000"/>
                  </a:outerShdw>
                </a:effectLst>
                <a:latin typeface="Angsana New" panose="02020603050405020304" pitchFamily="18" charset="-34"/>
              </a:rPr>
              <a:t>Recausticizing Plant </a:t>
            </a:r>
            <a:r>
              <a:rPr lang="th-TH" altLang="en-US" sz="3200">
                <a:effectLst>
                  <a:outerShdw blurRad="38100" dist="38100" dir="2700000" algn="tl">
                    <a:srgbClr val="000000"/>
                  </a:outerShdw>
                </a:effectLst>
                <a:latin typeface="Angsana New" panose="02020603050405020304" pitchFamily="18" charset="-34"/>
              </a:rPr>
              <a:t>เพื่อทำการผลิต </a:t>
            </a:r>
            <a:r>
              <a:rPr lang="en-US" altLang="en-US" sz="3200">
                <a:effectLst>
                  <a:outerShdw blurRad="38100" dist="38100" dir="2700000" algn="tl">
                    <a:srgbClr val="000000"/>
                  </a:outerShdw>
                </a:effectLst>
                <a:latin typeface="Angsana New" panose="02020603050405020304" pitchFamily="18" charset="-34"/>
              </a:rPr>
              <a:t>Caustic Soda (NaOH) </a:t>
            </a:r>
            <a:r>
              <a:rPr lang="th-TH" altLang="en-US" sz="3200">
                <a:effectLst>
                  <a:outerShdw blurRad="38100" dist="38100" dir="2700000" algn="tl">
                    <a:srgbClr val="000000"/>
                  </a:outerShdw>
                </a:effectLst>
                <a:latin typeface="Angsana New" panose="02020603050405020304" pitchFamily="18" charset="-34"/>
              </a:rPr>
              <a:t>นำกลับไปใช้ในกระบวนการผลิตเยื่อต่อไป</a:t>
            </a:r>
          </a:p>
        </p:txBody>
      </p:sp>
    </p:spTree>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8930" name="Picture 2"/>
          <p:cNvPicPr>
            <a:picLocks noChangeAspect="1"/>
          </p:cNvPicPr>
          <p:nvPr/>
        </p:nvPicPr>
        <p:blipFill>
          <a:blip r:embed="rId3">
            <a:extLst>
              <a:ext uri="{28A0092B-C50C-407E-A947-70E740481C1C}">
                <a14:useLocalDpi xmlns:a14="http://schemas.microsoft.com/office/drawing/2010/main" val="0"/>
              </a:ext>
            </a:extLst>
          </a:blip>
          <a:srcRect t="15919" b="14662"/>
          <a:stretch>
            <a:fillRect/>
          </a:stretch>
        </p:blipFill>
        <p:spPr bwMode="auto">
          <a:xfrm>
            <a:off x="398463" y="798513"/>
            <a:ext cx="8628062" cy="5732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8931"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6. Principle of chemical recovery </a:t>
            </a:r>
          </a:p>
        </p:txBody>
      </p:sp>
      <p:sp>
        <p:nvSpPr>
          <p:cNvPr id="508932" name="TextBox 1"/>
          <p:cNvSpPr txBox="1">
            <a:spLocks noChangeArrowheads="1"/>
          </p:cNvSpPr>
          <p:nvPr/>
        </p:nvSpPr>
        <p:spPr bwMode="auto">
          <a:xfrm>
            <a:off x="457200" y="895350"/>
            <a:ext cx="2176463" cy="4603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t>Recovery Boiler</a:t>
            </a:r>
          </a:p>
        </p:txBody>
      </p:sp>
      <p:sp>
        <p:nvSpPr>
          <p:cNvPr id="508933" name="TextBox 5"/>
          <p:cNvSpPr txBox="1">
            <a:spLocks noChangeArrowheads="1"/>
          </p:cNvSpPr>
          <p:nvPr/>
        </p:nvSpPr>
        <p:spPr bwMode="auto">
          <a:xfrm>
            <a:off x="398463" y="6229350"/>
            <a:ext cx="88487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600" b="1"/>
              <a:t>Ref:http://img.bhs4.com/D3/3/D33F32A8AEF36A75E43FB04A34492319D592B35C_large.jpg</a:t>
            </a:r>
            <a:endParaRPr lang="en-US" altLang="en-US" sz="1600"/>
          </a:p>
        </p:txBody>
      </p:sp>
    </p:spTree>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8" name="Rectangle 2"/>
          <p:cNvSpPr>
            <a:spLocks noGrp="1" noChangeArrowheads="1"/>
          </p:cNvSpPr>
          <p:nvPr>
            <p:ph type="title"/>
          </p:nvPr>
        </p:nvSpPr>
        <p:spPr>
          <a:xfrm>
            <a:off x="457200" y="-177800"/>
            <a:ext cx="8229600" cy="1139825"/>
          </a:xfrm>
        </p:spPr>
        <p:txBody>
          <a:bodyPr/>
          <a:lstStyle/>
          <a:p>
            <a:r>
              <a:rPr lang="en-US" altLang="en-US" smtClean="0"/>
              <a:t>Recovery Boiler</a:t>
            </a:r>
            <a:endParaRPr lang="th-TH" altLang="en-US" smtClean="0"/>
          </a:p>
        </p:txBody>
      </p:sp>
      <p:grpSp>
        <p:nvGrpSpPr>
          <p:cNvPr id="1030147" name="Group 3"/>
          <p:cNvGrpSpPr>
            <a:grpSpLocks/>
          </p:cNvGrpSpPr>
          <p:nvPr/>
        </p:nvGrpSpPr>
        <p:grpSpPr bwMode="auto">
          <a:xfrm>
            <a:off x="2732088" y="971550"/>
            <a:ext cx="4187825" cy="5448300"/>
            <a:chOff x="1994" y="981"/>
            <a:chExt cx="1884" cy="3116"/>
          </a:xfrm>
        </p:grpSpPr>
        <p:sp>
          <p:nvSpPr>
            <p:cNvPr id="511005" name="Rectangle 4"/>
            <p:cNvSpPr>
              <a:spLocks noChangeArrowheads="1"/>
            </p:cNvSpPr>
            <p:nvPr/>
          </p:nvSpPr>
          <p:spPr bwMode="auto">
            <a:xfrm>
              <a:off x="2118" y="1200"/>
              <a:ext cx="989" cy="2884"/>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1006" name="AutoShape 5"/>
            <p:cNvSpPr>
              <a:spLocks noChangeArrowheads="1"/>
            </p:cNvSpPr>
            <p:nvPr/>
          </p:nvSpPr>
          <p:spPr bwMode="auto">
            <a:xfrm>
              <a:off x="3203" y="2895"/>
              <a:ext cx="675" cy="4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12 w 21600"/>
                <a:gd name="T13" fmla="*/ 4478 h 21600"/>
                <a:gd name="T14" fmla="*/ 17088 w 21600"/>
                <a:gd name="T15" fmla="*/ 17122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gradFill rotWithShape="0">
              <a:gsLst>
                <a:gs pos="0">
                  <a:srgbClr val="FFF200"/>
                </a:gs>
                <a:gs pos="45000">
                  <a:srgbClr val="FF7A00"/>
                </a:gs>
                <a:gs pos="70000">
                  <a:srgbClr val="FF0300"/>
                </a:gs>
                <a:gs pos="100000">
                  <a:srgbClr val="4D0808"/>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1007" name="Rectangle 6"/>
            <p:cNvSpPr>
              <a:spLocks noChangeArrowheads="1"/>
            </p:cNvSpPr>
            <p:nvPr/>
          </p:nvSpPr>
          <p:spPr bwMode="auto">
            <a:xfrm>
              <a:off x="3193" y="1200"/>
              <a:ext cx="685" cy="1695"/>
            </a:xfrm>
            <a:prstGeom prst="rect">
              <a:avLst/>
            </a:prstGeom>
            <a:gradFill rotWithShape="0">
              <a:gsLst>
                <a:gs pos="0">
                  <a:srgbClr val="FFF200"/>
                </a:gs>
                <a:gs pos="45000">
                  <a:srgbClr val="FF7A00"/>
                </a:gs>
                <a:gs pos="70000">
                  <a:srgbClr val="FF0300"/>
                </a:gs>
                <a:gs pos="100000">
                  <a:srgbClr val="4D0808"/>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1008" name="Rectangle 7"/>
            <p:cNvSpPr>
              <a:spLocks noChangeArrowheads="1"/>
            </p:cNvSpPr>
            <p:nvPr/>
          </p:nvSpPr>
          <p:spPr bwMode="auto">
            <a:xfrm>
              <a:off x="2200" y="1207"/>
              <a:ext cx="856" cy="2816"/>
            </a:xfrm>
            <a:prstGeom prst="rect">
              <a:avLst/>
            </a:prstGeom>
            <a:gradFill rotWithShape="0">
              <a:gsLst>
                <a:gs pos="0">
                  <a:srgbClr val="FFF200"/>
                </a:gs>
                <a:gs pos="45000">
                  <a:srgbClr val="FF7A00"/>
                </a:gs>
                <a:gs pos="70000">
                  <a:srgbClr val="FF0300"/>
                </a:gs>
                <a:gs pos="100000">
                  <a:srgbClr val="4D0808"/>
                </a:gs>
              </a:gsLst>
              <a:lin ang="5400000" scaled="1"/>
            </a:gradFill>
            <a:ln w="9525">
              <a:solidFill>
                <a:srgbClr val="000000"/>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1009" name="Line 8"/>
            <p:cNvSpPr>
              <a:spLocks noChangeShapeType="1"/>
            </p:cNvSpPr>
            <p:nvPr/>
          </p:nvSpPr>
          <p:spPr bwMode="auto">
            <a:xfrm flipH="1">
              <a:off x="3088" y="2430"/>
              <a:ext cx="0" cy="16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10" name="Line 9"/>
            <p:cNvSpPr>
              <a:spLocks noChangeShapeType="1"/>
            </p:cNvSpPr>
            <p:nvPr/>
          </p:nvSpPr>
          <p:spPr bwMode="auto">
            <a:xfrm flipH="1">
              <a:off x="2137" y="4084"/>
              <a:ext cx="9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11" name="Line 10"/>
            <p:cNvSpPr>
              <a:spLocks noChangeShapeType="1"/>
            </p:cNvSpPr>
            <p:nvPr/>
          </p:nvSpPr>
          <p:spPr bwMode="auto">
            <a:xfrm flipH="1">
              <a:off x="2137" y="1200"/>
              <a:ext cx="0" cy="28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12" name="Line 11"/>
            <p:cNvSpPr>
              <a:spLocks noChangeShapeType="1"/>
            </p:cNvSpPr>
            <p:nvPr/>
          </p:nvSpPr>
          <p:spPr bwMode="auto">
            <a:xfrm>
              <a:off x="3184" y="2430"/>
              <a:ext cx="9" cy="47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13" name="Line 12"/>
            <p:cNvSpPr>
              <a:spLocks noChangeShapeType="1"/>
            </p:cNvSpPr>
            <p:nvPr/>
          </p:nvSpPr>
          <p:spPr bwMode="auto">
            <a:xfrm>
              <a:off x="3869" y="1200"/>
              <a:ext cx="0" cy="172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14" name="Oval 13"/>
            <p:cNvSpPr>
              <a:spLocks noChangeArrowheads="1"/>
            </p:cNvSpPr>
            <p:nvPr/>
          </p:nvSpPr>
          <p:spPr bwMode="auto">
            <a:xfrm>
              <a:off x="1994" y="981"/>
              <a:ext cx="295" cy="410"/>
            </a:xfrm>
            <a:prstGeom prst="ellipse">
              <a:avLst/>
            </a:prstGeom>
            <a:solidFill>
              <a:srgbClr val="008000"/>
            </a:solidFill>
            <a:ln w="12700">
              <a:solidFill>
                <a:srgbClr val="000000"/>
              </a:solidFill>
              <a:round/>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1015" name="Rectangle 14" descr="Narrow vertical"/>
            <p:cNvSpPr>
              <a:spLocks noChangeArrowheads="1"/>
            </p:cNvSpPr>
            <p:nvPr/>
          </p:nvSpPr>
          <p:spPr bwMode="auto">
            <a:xfrm>
              <a:off x="3279" y="1268"/>
              <a:ext cx="247" cy="1599"/>
            </a:xfrm>
            <a:prstGeom prst="rect">
              <a:avLst/>
            </a:prstGeom>
            <a:pattFill prst="narVert">
              <a:fgClr>
                <a:srgbClr val="000000"/>
              </a:fgClr>
              <a:bgClr>
                <a:srgbClr val="FFFFFF"/>
              </a:bgClr>
            </a:pattFill>
            <a:ln w="9525">
              <a:solidFill>
                <a:srgbClr val="000000"/>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1016" name="Rectangle 15" descr="Narrow vertical"/>
            <p:cNvSpPr>
              <a:spLocks noChangeArrowheads="1"/>
            </p:cNvSpPr>
            <p:nvPr/>
          </p:nvSpPr>
          <p:spPr bwMode="auto">
            <a:xfrm>
              <a:off x="3574" y="1268"/>
              <a:ext cx="247" cy="1599"/>
            </a:xfrm>
            <a:prstGeom prst="rect">
              <a:avLst/>
            </a:prstGeom>
            <a:pattFill prst="narVert">
              <a:fgClr>
                <a:srgbClr val="000000"/>
              </a:fgClr>
              <a:bgClr>
                <a:srgbClr val="FFFFFF"/>
              </a:bgClr>
            </a:pattFill>
            <a:ln w="9525">
              <a:solidFill>
                <a:srgbClr val="000000"/>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nvGrpSpPr>
            <p:cNvPr id="511017" name="Group 16"/>
            <p:cNvGrpSpPr>
              <a:grpSpLocks/>
            </p:cNvGrpSpPr>
            <p:nvPr/>
          </p:nvGrpSpPr>
          <p:grpSpPr bwMode="auto">
            <a:xfrm>
              <a:off x="2660" y="1254"/>
              <a:ext cx="276" cy="1340"/>
              <a:chOff x="1125" y="695"/>
              <a:chExt cx="29" cy="67"/>
            </a:xfrm>
          </p:grpSpPr>
          <p:sp>
            <p:nvSpPr>
              <p:cNvPr id="511029" name="Rectangle 17" descr="Narrow vertical"/>
              <p:cNvSpPr>
                <a:spLocks noChangeArrowheads="1"/>
              </p:cNvSpPr>
              <p:nvPr/>
            </p:nvSpPr>
            <p:spPr bwMode="auto">
              <a:xfrm>
                <a:off x="1125" y="695"/>
                <a:ext cx="28" cy="41"/>
              </a:xfrm>
              <a:prstGeom prst="rect">
                <a:avLst/>
              </a:prstGeom>
              <a:pattFill prst="narVert">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1030" name="AutoShape 18" descr="Narrow vertical"/>
              <p:cNvSpPr>
                <a:spLocks noChangeArrowheads="1"/>
              </p:cNvSpPr>
              <p:nvPr/>
            </p:nvSpPr>
            <p:spPr bwMode="auto">
              <a:xfrm flipV="1">
                <a:off x="1125" y="736"/>
                <a:ext cx="29" cy="26"/>
              </a:xfrm>
              <a:prstGeom prst="rtTriangle">
                <a:avLst/>
              </a:prstGeom>
              <a:pattFill prst="narVert">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1031" name="Line 19"/>
              <p:cNvSpPr>
                <a:spLocks noChangeShapeType="1"/>
              </p:cNvSpPr>
              <p:nvPr/>
            </p:nvSpPr>
            <p:spPr bwMode="auto">
              <a:xfrm>
                <a:off x="1125" y="696"/>
                <a:ext cx="2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32" name="Line 20"/>
              <p:cNvSpPr>
                <a:spLocks noChangeShapeType="1"/>
              </p:cNvSpPr>
              <p:nvPr/>
            </p:nvSpPr>
            <p:spPr bwMode="auto">
              <a:xfrm flipV="1">
                <a:off x="1127" y="738"/>
                <a:ext cx="26" cy="2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11018" name="Line 21"/>
            <p:cNvSpPr>
              <a:spLocks noChangeShapeType="1"/>
            </p:cNvSpPr>
            <p:nvPr/>
          </p:nvSpPr>
          <p:spPr bwMode="auto">
            <a:xfrm>
              <a:off x="3355" y="3305"/>
              <a:ext cx="37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19" name="Line 22"/>
            <p:cNvSpPr>
              <a:spLocks noChangeShapeType="1"/>
            </p:cNvSpPr>
            <p:nvPr/>
          </p:nvSpPr>
          <p:spPr bwMode="auto">
            <a:xfrm>
              <a:off x="3193" y="2867"/>
              <a:ext cx="162" cy="4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20" name="Line 23"/>
            <p:cNvSpPr>
              <a:spLocks noChangeShapeType="1"/>
            </p:cNvSpPr>
            <p:nvPr/>
          </p:nvSpPr>
          <p:spPr bwMode="auto">
            <a:xfrm flipH="1">
              <a:off x="3716" y="2908"/>
              <a:ext cx="162" cy="3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21" name="Rectangle 24"/>
            <p:cNvSpPr>
              <a:spLocks noChangeArrowheads="1"/>
            </p:cNvSpPr>
            <p:nvPr/>
          </p:nvSpPr>
          <p:spPr bwMode="auto">
            <a:xfrm>
              <a:off x="2955" y="1200"/>
              <a:ext cx="286" cy="997"/>
            </a:xfrm>
            <a:prstGeom prst="rect">
              <a:avLst/>
            </a:prstGeom>
            <a:solidFill>
              <a:srgbClr val="FFCC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1022" name="AutoShape 25"/>
            <p:cNvSpPr>
              <a:spLocks noChangeArrowheads="1"/>
            </p:cNvSpPr>
            <p:nvPr/>
          </p:nvSpPr>
          <p:spPr bwMode="auto">
            <a:xfrm flipH="1">
              <a:off x="2774" y="1992"/>
              <a:ext cx="429" cy="616"/>
            </a:xfrm>
            <a:prstGeom prst="rtTriangle">
              <a:avLst/>
            </a:prstGeom>
            <a:solidFill>
              <a:srgbClr val="808080"/>
            </a:solidFill>
            <a:ln w="9525">
              <a:solidFill>
                <a:srgbClr val="000000"/>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nvGrpSpPr>
            <p:cNvPr id="511023" name="Group 26"/>
            <p:cNvGrpSpPr>
              <a:grpSpLocks/>
            </p:cNvGrpSpPr>
            <p:nvPr/>
          </p:nvGrpSpPr>
          <p:grpSpPr bwMode="auto">
            <a:xfrm>
              <a:off x="2965" y="1268"/>
              <a:ext cx="276" cy="916"/>
              <a:chOff x="1125" y="695"/>
              <a:chExt cx="29" cy="67"/>
            </a:xfrm>
          </p:grpSpPr>
          <p:sp>
            <p:nvSpPr>
              <p:cNvPr id="511025" name="Rectangle 27" descr="Narrow vertical"/>
              <p:cNvSpPr>
                <a:spLocks noChangeArrowheads="1"/>
              </p:cNvSpPr>
              <p:nvPr/>
            </p:nvSpPr>
            <p:spPr bwMode="auto">
              <a:xfrm>
                <a:off x="1125" y="695"/>
                <a:ext cx="28" cy="41"/>
              </a:xfrm>
              <a:prstGeom prst="rect">
                <a:avLst/>
              </a:prstGeom>
              <a:pattFill prst="narVert">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1026" name="AutoShape 28" descr="Narrow vertical"/>
              <p:cNvSpPr>
                <a:spLocks noChangeArrowheads="1"/>
              </p:cNvSpPr>
              <p:nvPr/>
            </p:nvSpPr>
            <p:spPr bwMode="auto">
              <a:xfrm flipV="1">
                <a:off x="1125" y="736"/>
                <a:ext cx="29" cy="26"/>
              </a:xfrm>
              <a:prstGeom prst="rtTriangle">
                <a:avLst/>
              </a:prstGeom>
              <a:pattFill prst="narVert">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1027" name="Line 29"/>
              <p:cNvSpPr>
                <a:spLocks noChangeShapeType="1"/>
              </p:cNvSpPr>
              <p:nvPr/>
            </p:nvSpPr>
            <p:spPr bwMode="auto">
              <a:xfrm>
                <a:off x="1125" y="696"/>
                <a:ext cx="2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28" name="Line 30"/>
              <p:cNvSpPr>
                <a:spLocks noChangeShapeType="1"/>
              </p:cNvSpPr>
              <p:nvPr/>
            </p:nvSpPr>
            <p:spPr bwMode="auto">
              <a:xfrm flipV="1">
                <a:off x="1127" y="738"/>
                <a:ext cx="26" cy="2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11024" name="Line 31"/>
            <p:cNvSpPr>
              <a:spLocks noChangeShapeType="1"/>
            </p:cNvSpPr>
            <p:nvPr/>
          </p:nvSpPr>
          <p:spPr bwMode="auto">
            <a:xfrm>
              <a:off x="2318" y="1186"/>
              <a:ext cx="15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0176" name="Group 32"/>
          <p:cNvGrpSpPr>
            <a:grpSpLocks/>
          </p:cNvGrpSpPr>
          <p:nvPr/>
        </p:nvGrpSpPr>
        <p:grpSpPr bwMode="auto">
          <a:xfrm>
            <a:off x="1158875" y="3792538"/>
            <a:ext cx="1839913" cy="641350"/>
            <a:chOff x="730" y="2584"/>
            <a:chExt cx="1159" cy="404"/>
          </a:xfrm>
        </p:grpSpPr>
        <p:sp>
          <p:nvSpPr>
            <p:cNvPr id="511003" name="AutoShape 33"/>
            <p:cNvSpPr>
              <a:spLocks noChangeArrowheads="1"/>
            </p:cNvSpPr>
            <p:nvPr/>
          </p:nvSpPr>
          <p:spPr bwMode="auto">
            <a:xfrm>
              <a:off x="1304" y="2773"/>
              <a:ext cx="585" cy="215"/>
            </a:xfrm>
            <a:prstGeom prst="rightArrow">
              <a:avLst>
                <a:gd name="adj1" fmla="val 50000"/>
                <a:gd name="adj2" fmla="val 68023"/>
              </a:avLst>
            </a:prstGeom>
            <a:solidFill>
              <a:srgbClr val="000000"/>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1030178" name="Text Box 34"/>
            <p:cNvSpPr txBox="1">
              <a:spLocks noChangeArrowheads="1"/>
            </p:cNvSpPr>
            <p:nvPr/>
          </p:nvSpPr>
          <p:spPr bwMode="auto">
            <a:xfrm>
              <a:off x="730" y="2584"/>
              <a:ext cx="1159"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a:solidFill>
                    <a:srgbClr val="000000"/>
                  </a:solidFill>
                  <a:effectLst>
                    <a:outerShdw blurRad="38100" dist="38100" dir="2700000" algn="tl">
                      <a:srgbClr val="FFFFFF"/>
                    </a:outerShdw>
                  </a:effectLst>
                </a:rPr>
                <a:t>Strong Black Liquor</a:t>
              </a:r>
              <a:endParaRPr lang="th-TH" altLang="en-US">
                <a:solidFill>
                  <a:srgbClr val="000000"/>
                </a:solidFill>
                <a:effectLst>
                  <a:outerShdw blurRad="38100" dist="38100" dir="2700000" algn="tl">
                    <a:srgbClr val="FFFFFF"/>
                  </a:outerShdw>
                </a:effectLst>
              </a:endParaRPr>
            </a:p>
          </p:txBody>
        </p:sp>
      </p:grpSp>
      <p:grpSp>
        <p:nvGrpSpPr>
          <p:cNvPr id="1030179" name="Group 35"/>
          <p:cNvGrpSpPr>
            <a:grpSpLocks/>
          </p:cNvGrpSpPr>
          <p:nvPr/>
        </p:nvGrpSpPr>
        <p:grpSpPr bwMode="auto">
          <a:xfrm>
            <a:off x="1149350" y="4614863"/>
            <a:ext cx="1849438" cy="641350"/>
            <a:chOff x="724" y="3102"/>
            <a:chExt cx="1165" cy="404"/>
          </a:xfrm>
        </p:grpSpPr>
        <p:sp>
          <p:nvSpPr>
            <p:cNvPr id="511001" name="AutoShape 36"/>
            <p:cNvSpPr>
              <a:spLocks noChangeArrowheads="1"/>
            </p:cNvSpPr>
            <p:nvPr/>
          </p:nvSpPr>
          <p:spPr bwMode="auto">
            <a:xfrm>
              <a:off x="1304" y="3259"/>
              <a:ext cx="585" cy="215"/>
            </a:xfrm>
            <a:prstGeom prst="rightArrow">
              <a:avLst>
                <a:gd name="adj1" fmla="val 50000"/>
                <a:gd name="adj2" fmla="val 68023"/>
              </a:avLst>
            </a:prstGeom>
            <a:solidFill>
              <a:srgbClr val="FF3300"/>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1030181" name="Text Box 37"/>
            <p:cNvSpPr txBox="1">
              <a:spLocks noChangeArrowheads="1"/>
            </p:cNvSpPr>
            <p:nvPr/>
          </p:nvSpPr>
          <p:spPr bwMode="auto">
            <a:xfrm>
              <a:off x="724" y="3102"/>
              <a:ext cx="1159"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a:solidFill>
                    <a:srgbClr val="FF3300"/>
                  </a:solidFill>
                  <a:effectLst>
                    <a:outerShdw blurRad="38100" dist="38100" dir="2700000" algn="tl">
                      <a:srgbClr val="000000"/>
                    </a:outerShdw>
                  </a:effectLst>
                </a:rPr>
                <a:t>Combustion Air</a:t>
              </a:r>
              <a:endParaRPr lang="th-TH" altLang="en-US">
                <a:solidFill>
                  <a:srgbClr val="FF3300"/>
                </a:solidFill>
                <a:effectLst>
                  <a:outerShdw blurRad="38100" dist="38100" dir="2700000" algn="tl">
                    <a:srgbClr val="000000"/>
                  </a:outerShdw>
                </a:effectLst>
              </a:endParaRPr>
            </a:p>
          </p:txBody>
        </p:sp>
      </p:grpSp>
      <p:grpSp>
        <p:nvGrpSpPr>
          <p:cNvPr id="1030182" name="Group 38"/>
          <p:cNvGrpSpPr>
            <a:grpSpLocks/>
          </p:cNvGrpSpPr>
          <p:nvPr/>
        </p:nvGrpSpPr>
        <p:grpSpPr bwMode="auto">
          <a:xfrm>
            <a:off x="923925" y="5492750"/>
            <a:ext cx="2065338" cy="366713"/>
            <a:chOff x="582" y="3655"/>
            <a:chExt cx="1301" cy="231"/>
          </a:xfrm>
        </p:grpSpPr>
        <p:sp>
          <p:nvSpPr>
            <p:cNvPr id="1030183" name="AutoShape 39"/>
            <p:cNvSpPr>
              <a:spLocks noChangeArrowheads="1"/>
            </p:cNvSpPr>
            <p:nvPr/>
          </p:nvSpPr>
          <p:spPr bwMode="auto">
            <a:xfrm>
              <a:off x="1298" y="3655"/>
              <a:ext cx="585" cy="215"/>
            </a:xfrm>
            <a:prstGeom prst="rightArrow">
              <a:avLst>
                <a:gd name="adj1" fmla="val 50000"/>
                <a:gd name="adj2" fmla="val 68023"/>
              </a:avLst>
            </a:prstGeom>
            <a:solidFill>
              <a:schemeClr val="accent2">
                <a:lumMod val="75000"/>
              </a:schemeClr>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a:solidFill>
                  <a:schemeClr val="accent2">
                    <a:lumMod val="75000"/>
                  </a:schemeClr>
                </a:solidFill>
              </a:endParaRPr>
            </a:p>
          </p:txBody>
        </p:sp>
        <p:sp>
          <p:nvSpPr>
            <p:cNvPr id="1030184" name="Text Box 40"/>
            <p:cNvSpPr txBox="1">
              <a:spLocks noChangeArrowheads="1"/>
            </p:cNvSpPr>
            <p:nvPr/>
          </p:nvSpPr>
          <p:spPr bwMode="auto">
            <a:xfrm>
              <a:off x="582" y="3655"/>
              <a:ext cx="72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a:solidFill>
                    <a:schemeClr val="accent2">
                      <a:lumMod val="75000"/>
                    </a:schemeClr>
                  </a:solidFill>
                  <a:effectLst>
                    <a:outerShdw blurRad="38100" dist="38100" dir="2700000" algn="tl">
                      <a:srgbClr val="000000"/>
                    </a:outerShdw>
                  </a:effectLst>
                </a:rPr>
                <a:t>Fuel Oil</a:t>
              </a:r>
              <a:endParaRPr lang="th-TH" altLang="en-US">
                <a:solidFill>
                  <a:schemeClr val="accent2">
                    <a:lumMod val="75000"/>
                  </a:schemeClr>
                </a:solidFill>
                <a:effectLst>
                  <a:outerShdw blurRad="38100" dist="38100" dir="2700000" algn="tl">
                    <a:srgbClr val="000000"/>
                  </a:outerShdw>
                </a:effectLst>
              </a:endParaRPr>
            </a:p>
          </p:txBody>
        </p:sp>
      </p:grpSp>
      <p:grpSp>
        <p:nvGrpSpPr>
          <p:cNvPr id="1030185" name="Group 41"/>
          <p:cNvGrpSpPr>
            <a:grpSpLocks/>
          </p:cNvGrpSpPr>
          <p:nvPr/>
        </p:nvGrpSpPr>
        <p:grpSpPr bwMode="auto">
          <a:xfrm>
            <a:off x="3413125" y="1820863"/>
            <a:ext cx="1600200" cy="3367087"/>
            <a:chOff x="2150" y="1342"/>
            <a:chExt cx="1008" cy="2121"/>
          </a:xfrm>
        </p:grpSpPr>
        <p:sp>
          <p:nvSpPr>
            <p:cNvPr id="510997" name="AutoShape 42"/>
            <p:cNvSpPr>
              <a:spLocks noChangeArrowheads="1"/>
            </p:cNvSpPr>
            <p:nvPr/>
          </p:nvSpPr>
          <p:spPr bwMode="auto">
            <a:xfrm>
              <a:off x="2150" y="1342"/>
              <a:ext cx="1008" cy="2121"/>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29 w 21600"/>
                <a:gd name="T13" fmla="*/ 2913 h 21600"/>
                <a:gd name="T14" fmla="*/ 18236 w 21600"/>
                <a:gd name="T15" fmla="*/ 9247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rgbClr val="FF33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0998" name="Text Box 43"/>
            <p:cNvSpPr txBox="1">
              <a:spLocks noChangeArrowheads="1"/>
            </p:cNvSpPr>
            <p:nvPr/>
          </p:nvSpPr>
          <p:spPr bwMode="auto">
            <a:xfrm>
              <a:off x="2491" y="1714"/>
              <a:ext cx="630"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2400">
                  <a:solidFill>
                    <a:schemeClr val="bg1"/>
                  </a:solidFill>
                </a:rPr>
                <a:t>Flue Gas</a:t>
              </a:r>
              <a:endParaRPr lang="th-TH" altLang="en-US" sz="2400">
                <a:solidFill>
                  <a:schemeClr val="bg1"/>
                </a:solidFill>
              </a:endParaRPr>
            </a:p>
          </p:txBody>
        </p:sp>
      </p:grpSp>
      <p:grpSp>
        <p:nvGrpSpPr>
          <p:cNvPr id="1030188" name="Group 44"/>
          <p:cNvGrpSpPr>
            <a:grpSpLocks/>
          </p:cNvGrpSpPr>
          <p:nvPr/>
        </p:nvGrpSpPr>
        <p:grpSpPr bwMode="auto">
          <a:xfrm>
            <a:off x="5205413" y="5376863"/>
            <a:ext cx="2089150" cy="798512"/>
            <a:chOff x="3279" y="3582"/>
            <a:chExt cx="1316" cy="503"/>
          </a:xfrm>
        </p:grpSpPr>
        <p:sp>
          <p:nvSpPr>
            <p:cNvPr id="510995" name="AutoShape 45"/>
            <p:cNvSpPr>
              <a:spLocks noChangeArrowheads="1"/>
            </p:cNvSpPr>
            <p:nvPr/>
          </p:nvSpPr>
          <p:spPr bwMode="auto">
            <a:xfrm>
              <a:off x="3348" y="3870"/>
              <a:ext cx="585" cy="215"/>
            </a:xfrm>
            <a:prstGeom prst="rightArrow">
              <a:avLst>
                <a:gd name="adj1" fmla="val 50000"/>
                <a:gd name="adj2" fmla="val 68023"/>
              </a:avLst>
            </a:prstGeom>
            <a:solidFill>
              <a:srgbClr val="FF3300"/>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1030190" name="Text Box 46"/>
            <p:cNvSpPr txBox="1">
              <a:spLocks noChangeArrowheads="1"/>
            </p:cNvSpPr>
            <p:nvPr/>
          </p:nvSpPr>
          <p:spPr bwMode="auto">
            <a:xfrm>
              <a:off x="3279" y="3582"/>
              <a:ext cx="13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2400">
                  <a:solidFill>
                    <a:srgbClr val="FF3300"/>
                  </a:solidFill>
                  <a:effectLst>
                    <a:outerShdw blurRad="38100" dist="38100" dir="2700000" algn="tl">
                      <a:srgbClr val="000000"/>
                    </a:outerShdw>
                  </a:effectLst>
                </a:rPr>
                <a:t>Smelt</a:t>
              </a:r>
              <a:endParaRPr lang="th-TH" altLang="en-US" sz="2400">
                <a:solidFill>
                  <a:srgbClr val="FF3300"/>
                </a:solidFill>
                <a:effectLst>
                  <a:outerShdw blurRad="38100" dist="38100" dir="2700000" algn="tl">
                    <a:srgbClr val="000000"/>
                  </a:outerShdw>
                </a:effectLst>
              </a:endParaRPr>
            </a:p>
          </p:txBody>
        </p:sp>
      </p:grpSp>
      <p:grpSp>
        <p:nvGrpSpPr>
          <p:cNvPr id="1030191" name="Group 47"/>
          <p:cNvGrpSpPr>
            <a:grpSpLocks/>
          </p:cNvGrpSpPr>
          <p:nvPr/>
        </p:nvGrpSpPr>
        <p:grpSpPr bwMode="auto">
          <a:xfrm>
            <a:off x="1101725" y="738188"/>
            <a:ext cx="3384550" cy="2144712"/>
            <a:chOff x="0" y="568"/>
            <a:chExt cx="2803" cy="2123"/>
          </a:xfrm>
        </p:grpSpPr>
        <p:grpSp>
          <p:nvGrpSpPr>
            <p:cNvPr id="510990" name="Group 48"/>
            <p:cNvGrpSpPr>
              <a:grpSpLocks/>
            </p:cNvGrpSpPr>
            <p:nvPr/>
          </p:nvGrpSpPr>
          <p:grpSpPr bwMode="auto">
            <a:xfrm>
              <a:off x="288" y="568"/>
              <a:ext cx="2515" cy="1835"/>
              <a:chOff x="582" y="576"/>
              <a:chExt cx="1339" cy="766"/>
            </a:xfrm>
          </p:grpSpPr>
          <p:sp>
            <p:nvSpPr>
              <p:cNvPr id="510992" name="Line 49"/>
              <p:cNvSpPr>
                <a:spLocks noChangeShapeType="1"/>
              </p:cNvSpPr>
              <p:nvPr/>
            </p:nvSpPr>
            <p:spPr bwMode="auto">
              <a:xfrm flipV="1">
                <a:off x="1921" y="576"/>
                <a:ext cx="0" cy="231"/>
              </a:xfrm>
              <a:prstGeom prst="line">
                <a:avLst/>
              </a:prstGeom>
              <a:noFill/>
              <a:ln w="603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0993" name="Line 50"/>
              <p:cNvSpPr>
                <a:spLocks noChangeShapeType="1"/>
              </p:cNvSpPr>
              <p:nvPr/>
            </p:nvSpPr>
            <p:spPr bwMode="auto">
              <a:xfrm flipH="1">
                <a:off x="582" y="576"/>
                <a:ext cx="1339" cy="0"/>
              </a:xfrm>
              <a:prstGeom prst="line">
                <a:avLst/>
              </a:prstGeom>
              <a:noFill/>
              <a:ln w="603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0994" name="Line 51"/>
              <p:cNvSpPr>
                <a:spLocks noChangeShapeType="1"/>
              </p:cNvSpPr>
              <p:nvPr/>
            </p:nvSpPr>
            <p:spPr bwMode="auto">
              <a:xfrm>
                <a:off x="582" y="576"/>
                <a:ext cx="0" cy="766"/>
              </a:xfrm>
              <a:prstGeom prst="line">
                <a:avLst/>
              </a:prstGeom>
              <a:noFill/>
              <a:ln w="6032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030196" name="Text Box 52"/>
            <p:cNvSpPr txBox="1">
              <a:spLocks noChangeArrowheads="1"/>
            </p:cNvSpPr>
            <p:nvPr/>
          </p:nvSpPr>
          <p:spPr bwMode="auto">
            <a:xfrm>
              <a:off x="0" y="2403"/>
              <a:ext cx="144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2400">
                  <a:solidFill>
                    <a:srgbClr val="FF3300"/>
                  </a:solidFill>
                  <a:effectLst>
                    <a:outerShdw blurRad="38100" dist="38100" dir="2700000" algn="tl">
                      <a:srgbClr val="000000"/>
                    </a:outerShdw>
                  </a:effectLst>
                </a:rPr>
                <a:t>Steam</a:t>
              </a:r>
              <a:endParaRPr lang="th-TH" altLang="en-US" sz="2400">
                <a:solidFill>
                  <a:srgbClr val="FF3300"/>
                </a:solidFill>
                <a:effectLst>
                  <a:outerShdw blurRad="38100" dist="38100" dir="2700000" algn="tl">
                    <a:srgbClr val="000000"/>
                  </a:outerShdw>
                </a:effectLst>
              </a:endParaRPr>
            </a:p>
          </p:txBody>
        </p:sp>
      </p:grpSp>
      <p:sp>
        <p:nvSpPr>
          <p:cNvPr id="1030197" name="Text Box 53"/>
          <p:cNvSpPr txBox="1">
            <a:spLocks noChangeArrowheads="1"/>
          </p:cNvSpPr>
          <p:nvPr/>
        </p:nvSpPr>
        <p:spPr bwMode="auto">
          <a:xfrm>
            <a:off x="6229350" y="692150"/>
            <a:ext cx="3098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2400" dirty="0">
                <a:effectLst>
                  <a:outerShdw blurRad="38100" dist="38100" dir="2700000" algn="tl">
                    <a:srgbClr val="000000"/>
                  </a:outerShdw>
                </a:effectLst>
              </a:rPr>
              <a:t>Process Overview</a:t>
            </a:r>
            <a:endParaRPr lang="th-TH" altLang="en-US" sz="2400" dirty="0">
              <a:effectLst>
                <a:outerShdw blurRad="38100" dist="38100" dir="2700000" algn="tl">
                  <a:srgbClr val="000000"/>
                </a:outerShdw>
              </a:effectLst>
            </a:endParaRPr>
          </a:p>
        </p:txBody>
      </p:sp>
      <p:grpSp>
        <p:nvGrpSpPr>
          <p:cNvPr id="1030198" name="Group 54"/>
          <p:cNvGrpSpPr>
            <a:grpSpLocks/>
          </p:cNvGrpSpPr>
          <p:nvPr/>
        </p:nvGrpSpPr>
        <p:grpSpPr bwMode="auto">
          <a:xfrm>
            <a:off x="6453188" y="3863975"/>
            <a:ext cx="2398712" cy="1325563"/>
            <a:chOff x="4065" y="2629"/>
            <a:chExt cx="1511" cy="835"/>
          </a:xfrm>
        </p:grpSpPr>
        <p:sp>
          <p:nvSpPr>
            <p:cNvPr id="1030199" name="AutoShape 55"/>
            <p:cNvSpPr>
              <a:spLocks noChangeArrowheads="1"/>
            </p:cNvSpPr>
            <p:nvPr/>
          </p:nvSpPr>
          <p:spPr bwMode="auto">
            <a:xfrm>
              <a:off x="4065" y="2629"/>
              <a:ext cx="1060" cy="255"/>
            </a:xfrm>
            <a:prstGeom prst="leftArrow">
              <a:avLst>
                <a:gd name="adj1" fmla="val 50000"/>
                <a:gd name="adj2" fmla="val 103922"/>
              </a:avLst>
            </a:prstGeom>
            <a:solidFill>
              <a:srgbClr val="00CC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altLang="en-US">
                <a:solidFill>
                  <a:schemeClr val="hlink"/>
                </a:solidFill>
                <a:effectLst>
                  <a:outerShdw blurRad="38100" dist="38100" dir="2700000" algn="tl">
                    <a:srgbClr val="000000"/>
                  </a:outerShdw>
                </a:effectLst>
              </a:endParaRPr>
            </a:p>
          </p:txBody>
        </p:sp>
        <p:sp>
          <p:nvSpPr>
            <p:cNvPr id="1030200" name="Text Box 56"/>
            <p:cNvSpPr txBox="1">
              <a:spLocks noChangeArrowheads="1"/>
            </p:cNvSpPr>
            <p:nvPr/>
          </p:nvSpPr>
          <p:spPr bwMode="auto">
            <a:xfrm>
              <a:off x="4359" y="2945"/>
              <a:ext cx="1217" cy="5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a:solidFill>
                    <a:srgbClr val="00CC00"/>
                  </a:solidFill>
                  <a:effectLst>
                    <a:outerShdw blurRad="38100" dist="38100" dir="2700000" algn="tl">
                      <a:srgbClr val="000000"/>
                    </a:outerShdw>
                  </a:effectLst>
                </a:rPr>
                <a:t>Water</a:t>
              </a:r>
              <a:endParaRPr lang="th-TH" altLang="en-US">
                <a:solidFill>
                  <a:srgbClr val="00CC00"/>
                </a:solidFill>
                <a:effectLst>
                  <a:outerShdw blurRad="38100" dist="38100" dir="2700000" algn="tl">
                    <a:srgbClr val="000000"/>
                  </a:outerShdw>
                </a:effectLs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1030147"/>
                                        </p:tgtEl>
                                        <p:attrNameLst>
                                          <p:attrName>style.visibility</p:attrName>
                                        </p:attrNameLst>
                                      </p:cBhvr>
                                      <p:to>
                                        <p:strVal val="visible"/>
                                      </p:to>
                                    </p:set>
                                    <p:animEffect transition="in" filter="box(in)">
                                      <p:cBhvr>
                                        <p:cTn id="7" dur="500"/>
                                        <p:tgtEl>
                                          <p:spTgt spid="103014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1030176"/>
                                        </p:tgtEl>
                                        <p:attrNameLst>
                                          <p:attrName>style.visibility</p:attrName>
                                        </p:attrNameLst>
                                      </p:cBhvr>
                                      <p:to>
                                        <p:strVal val="visible"/>
                                      </p:to>
                                    </p:set>
                                    <p:animEffect transition="in" filter="blinds(horizontal)">
                                      <p:cBhvr>
                                        <p:cTn id="12" dur="500"/>
                                        <p:tgtEl>
                                          <p:spTgt spid="103017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1030179"/>
                                        </p:tgtEl>
                                        <p:attrNameLst>
                                          <p:attrName>style.visibility</p:attrName>
                                        </p:attrNameLst>
                                      </p:cBhvr>
                                      <p:to>
                                        <p:strVal val="visible"/>
                                      </p:to>
                                    </p:set>
                                    <p:animEffect transition="in" filter="blinds(horizontal)">
                                      <p:cBhvr>
                                        <p:cTn id="17" dur="500"/>
                                        <p:tgtEl>
                                          <p:spTgt spid="103017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1030182"/>
                                        </p:tgtEl>
                                        <p:attrNameLst>
                                          <p:attrName>style.visibility</p:attrName>
                                        </p:attrNameLst>
                                      </p:cBhvr>
                                      <p:to>
                                        <p:strVal val="visible"/>
                                      </p:to>
                                    </p:set>
                                    <p:animEffect transition="in" filter="blinds(horizontal)">
                                      <p:cBhvr>
                                        <p:cTn id="22" dur="500"/>
                                        <p:tgtEl>
                                          <p:spTgt spid="103018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1030198"/>
                                        </p:tgtEl>
                                        <p:attrNameLst>
                                          <p:attrName>style.visibility</p:attrName>
                                        </p:attrNameLst>
                                      </p:cBhvr>
                                      <p:to>
                                        <p:strVal val="visible"/>
                                      </p:to>
                                    </p:set>
                                    <p:animEffect transition="in" filter="blinds(horizontal)">
                                      <p:cBhvr>
                                        <p:cTn id="27" dur="500"/>
                                        <p:tgtEl>
                                          <p:spTgt spid="103019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1030185"/>
                                        </p:tgtEl>
                                        <p:attrNameLst>
                                          <p:attrName>style.visibility</p:attrName>
                                        </p:attrNameLst>
                                      </p:cBhvr>
                                      <p:to>
                                        <p:strVal val="visible"/>
                                      </p:to>
                                    </p:set>
                                    <p:animEffect transition="in" filter="blinds(horizontal)">
                                      <p:cBhvr>
                                        <p:cTn id="32" dur="500"/>
                                        <p:tgtEl>
                                          <p:spTgt spid="103018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nodeType="clickEffect">
                                  <p:stCondLst>
                                    <p:cond delay="0"/>
                                  </p:stCondLst>
                                  <p:childTnLst>
                                    <p:set>
                                      <p:cBhvr>
                                        <p:cTn id="36" dur="1" fill="hold">
                                          <p:stCondLst>
                                            <p:cond delay="0"/>
                                          </p:stCondLst>
                                        </p:cTn>
                                        <p:tgtEl>
                                          <p:spTgt spid="1030191"/>
                                        </p:tgtEl>
                                        <p:attrNameLst>
                                          <p:attrName>style.visibility</p:attrName>
                                        </p:attrNameLst>
                                      </p:cBhvr>
                                      <p:to>
                                        <p:strVal val="visible"/>
                                      </p:to>
                                    </p:set>
                                    <p:animEffect transition="in" filter="blinds(horizontal)">
                                      <p:cBhvr>
                                        <p:cTn id="37" dur="500"/>
                                        <p:tgtEl>
                                          <p:spTgt spid="103019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nodeType="clickEffect">
                                  <p:stCondLst>
                                    <p:cond delay="0"/>
                                  </p:stCondLst>
                                  <p:childTnLst>
                                    <p:set>
                                      <p:cBhvr>
                                        <p:cTn id="41" dur="1" fill="hold">
                                          <p:stCondLst>
                                            <p:cond delay="0"/>
                                          </p:stCondLst>
                                        </p:cTn>
                                        <p:tgtEl>
                                          <p:spTgt spid="1030188"/>
                                        </p:tgtEl>
                                        <p:attrNameLst>
                                          <p:attrName>style.visibility</p:attrName>
                                        </p:attrNameLst>
                                      </p:cBhvr>
                                      <p:to>
                                        <p:strVal val="visible"/>
                                      </p:to>
                                    </p:set>
                                    <p:animEffect transition="in" filter="blinds(horizontal)">
                                      <p:cBhvr>
                                        <p:cTn id="42" dur="500"/>
                                        <p:tgtEl>
                                          <p:spTgt spid="10301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lide Number Placeholder 3"/>
          <p:cNvSpPr>
            <a:spLocks noGrp="1"/>
          </p:cNvSpPr>
          <p:nvPr>
            <p:ph type="sldNum" sz="quarter" idx="12"/>
          </p:nvPr>
        </p:nvSpPr>
        <p:spPr/>
        <p:txBody>
          <a:bodyPr/>
          <a:lstStyle/>
          <a:p>
            <a:pPr>
              <a:defRPr/>
            </a:pPr>
            <a:fld id="{9EF0F013-4AB4-45B7-8B2A-9BDA67F5A664}" type="slidenum">
              <a:rPr lang="en-US" altLang="en-US"/>
              <a:pPr>
                <a:defRPr/>
              </a:pPr>
              <a:t>150</a:t>
            </a:fld>
            <a:endParaRPr lang="th-TH" altLang="en-US"/>
          </a:p>
        </p:txBody>
      </p:sp>
      <p:sp>
        <p:nvSpPr>
          <p:cNvPr id="513027" name="Text Box 2"/>
          <p:cNvSpPr txBox="1">
            <a:spLocks noChangeArrowheads="1"/>
          </p:cNvSpPr>
          <p:nvPr/>
        </p:nvSpPr>
        <p:spPr bwMode="auto">
          <a:xfrm>
            <a:off x="350838" y="2106613"/>
            <a:ext cx="68167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50000"/>
              </a:spcBef>
              <a:buFontTx/>
              <a:buNone/>
            </a:pPr>
            <a:r>
              <a:rPr lang="th-TH" altLang="en-US" sz="4000" u="sng">
                <a:solidFill>
                  <a:srgbClr val="000000"/>
                </a:solidFill>
                <a:latin typeface="Angsana New" panose="02020603050405020304" pitchFamily="18" charset="-34"/>
              </a:rPr>
              <a:t>สิ่งที่ป้อนเป็นเชื้อเพลิงให้กับ </a:t>
            </a:r>
            <a:r>
              <a:rPr lang="en-US" altLang="en-US" sz="4000" u="sng">
                <a:solidFill>
                  <a:srgbClr val="000000"/>
                </a:solidFill>
                <a:latin typeface="Angsana New" panose="02020603050405020304" pitchFamily="18" charset="-34"/>
              </a:rPr>
              <a:t>Recovery Boiler</a:t>
            </a:r>
            <a:endParaRPr lang="th-TH" altLang="en-US" sz="4000" u="sng">
              <a:solidFill>
                <a:srgbClr val="000000"/>
              </a:solidFill>
              <a:latin typeface="Angsana New" panose="02020603050405020304" pitchFamily="18" charset="-34"/>
            </a:endParaRPr>
          </a:p>
        </p:txBody>
      </p:sp>
      <p:sp>
        <p:nvSpPr>
          <p:cNvPr id="513028" name="Text Box 3"/>
          <p:cNvSpPr txBox="1">
            <a:spLocks noChangeArrowheads="1"/>
          </p:cNvSpPr>
          <p:nvPr/>
        </p:nvSpPr>
        <p:spPr bwMode="auto">
          <a:xfrm>
            <a:off x="1622425" y="3108325"/>
            <a:ext cx="5761038" cy="1655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th-TH" altLang="en-US" sz="4100">
                <a:solidFill>
                  <a:srgbClr val="000000"/>
                </a:solidFill>
                <a:latin typeface="Angsana New" panose="02020603050405020304" pitchFamily="18" charset="-34"/>
              </a:rPr>
              <a:t>1.1 น้ำมันเตา</a:t>
            </a:r>
          </a:p>
          <a:p>
            <a:pPr>
              <a:spcBef>
                <a:spcPct val="50000"/>
              </a:spcBef>
              <a:buFontTx/>
              <a:buNone/>
            </a:pPr>
            <a:r>
              <a:rPr lang="th-TH" altLang="en-US" sz="4100">
                <a:solidFill>
                  <a:srgbClr val="000000"/>
                </a:solidFill>
                <a:latin typeface="Angsana New" panose="02020603050405020304" pitchFamily="18" charset="-34"/>
              </a:rPr>
              <a:t>1.2 </a:t>
            </a:r>
            <a:r>
              <a:rPr lang="en-US" altLang="en-US" sz="4100">
                <a:solidFill>
                  <a:srgbClr val="000000"/>
                </a:solidFill>
                <a:latin typeface="Angsana New" panose="02020603050405020304" pitchFamily="18" charset="-34"/>
              </a:rPr>
              <a:t>Strong Black Liquor</a:t>
            </a:r>
            <a:endParaRPr lang="th-TH" altLang="en-US" sz="4100">
              <a:solidFill>
                <a:srgbClr val="000000"/>
              </a:solidFill>
              <a:latin typeface="Angsana New" panose="02020603050405020304" pitchFamily="18" charset="-34"/>
            </a:endParaRPr>
          </a:p>
        </p:txBody>
      </p:sp>
      <p:sp>
        <p:nvSpPr>
          <p:cNvPr id="1003524" name="Text Box 4"/>
          <p:cNvSpPr txBox="1">
            <a:spLocks noChangeArrowheads="1"/>
          </p:cNvSpPr>
          <p:nvPr/>
        </p:nvSpPr>
        <p:spPr bwMode="auto">
          <a:xfrm>
            <a:off x="2573338" y="73025"/>
            <a:ext cx="4213225" cy="1200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defRPr/>
            </a:pPr>
            <a:r>
              <a:rPr lang="en-US" altLang="en-US" sz="7200" dirty="0">
                <a:effectLst>
                  <a:outerShdw blurRad="38100" dist="38100" dir="2700000" algn="tl">
                    <a:srgbClr val="000000"/>
                  </a:outerShdw>
                </a:effectLst>
                <a:latin typeface="Angsana New" panose="02020603050405020304" pitchFamily="18" charset="-34"/>
              </a:rPr>
              <a:t>Fuel Process</a:t>
            </a:r>
            <a:endParaRPr lang="th-TH" altLang="en-US" sz="7200" dirty="0">
              <a:effectLst>
                <a:outerShdw blurRad="38100" dist="38100" dir="2700000" algn="tl">
                  <a:srgbClr val="000000"/>
                </a:outerShdw>
              </a:effectLst>
              <a:latin typeface="Angsana New" panose="02020603050405020304" pitchFamily="18" charset="-34"/>
            </a:endParaRPr>
          </a:p>
        </p:txBody>
      </p:sp>
      <p:sp>
        <p:nvSpPr>
          <p:cNvPr id="1003525" name="Text Box 5"/>
          <p:cNvSpPr txBox="1">
            <a:spLocks noChangeArrowheads="1"/>
          </p:cNvSpPr>
          <p:nvPr/>
        </p:nvSpPr>
        <p:spPr bwMode="auto">
          <a:xfrm>
            <a:off x="655638" y="1204913"/>
            <a:ext cx="2752725" cy="769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defRPr/>
            </a:pPr>
            <a:r>
              <a:rPr lang="th-TH" altLang="en-US" sz="4400" dirty="0">
                <a:effectLst>
                  <a:outerShdw blurRad="38100" dist="38100" dir="2700000" algn="tl">
                    <a:srgbClr val="000000"/>
                  </a:outerShdw>
                </a:effectLst>
              </a:rPr>
              <a:t>วงจรเชื้อเพลิง</a:t>
            </a:r>
          </a:p>
        </p:txBody>
      </p:sp>
    </p:spTree>
  </p:cSld>
  <p:clrMapOvr>
    <a:masterClrMapping/>
  </p:clrMapOvr>
  <p:transition spd="med">
    <p:plus/>
  </p:transition>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5074" name="Slide Number Placeholder 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fld id="{692B90FC-5D9D-4D22-90AA-6A1DA2067903}" type="slidenum">
              <a:rPr lang="en-US" altLang="en-US" sz="1800" smtClean="0"/>
              <a:pPr>
                <a:spcBef>
                  <a:spcPct val="0"/>
                </a:spcBef>
                <a:buFontTx/>
                <a:buNone/>
              </a:pPr>
              <a:t>151</a:t>
            </a:fld>
            <a:endParaRPr lang="th-TH" altLang="en-US" sz="1800" smtClean="0"/>
          </a:p>
        </p:txBody>
      </p:sp>
      <p:pic>
        <p:nvPicPr>
          <p:cNvPr id="515075" name="Picture 2" descr="12"/>
          <p:cNvPicPr>
            <a:picLocks noGrp="1" noChangeAspect="1" noChangeArrowheads="1"/>
          </p:cNvPicPr>
          <p:nvPr>
            <p:ph/>
          </p:nvPr>
        </p:nvPicPr>
        <p:blipFill>
          <a:blip r:embed="rId2">
            <a:extLst>
              <a:ext uri="{28A0092B-C50C-407E-A947-70E740481C1C}">
                <a14:useLocalDpi xmlns:a14="http://schemas.microsoft.com/office/drawing/2010/main" val="0"/>
              </a:ext>
            </a:extLst>
          </a:blip>
          <a:srcRect/>
          <a:stretch>
            <a:fillRect/>
          </a:stretch>
        </p:blipFill>
        <p:spPr>
          <a:xfrm>
            <a:off x="0" y="0"/>
            <a:ext cx="9144000" cy="6858000"/>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 name="Slide Number Placeholder 3"/>
          <p:cNvSpPr>
            <a:spLocks noGrp="1"/>
          </p:cNvSpPr>
          <p:nvPr>
            <p:ph type="sldNum" sz="quarter" idx="12"/>
          </p:nvPr>
        </p:nvSpPr>
        <p:spPr/>
        <p:txBody>
          <a:bodyPr/>
          <a:lstStyle/>
          <a:p>
            <a:pPr>
              <a:defRPr/>
            </a:pPr>
            <a:fld id="{3E5DFE24-45F8-44D5-9114-701EC68D0300}" type="slidenum">
              <a:rPr lang="en-US" altLang="en-US"/>
              <a:pPr>
                <a:defRPr/>
              </a:pPr>
              <a:t>152</a:t>
            </a:fld>
            <a:endParaRPr lang="th-TH" altLang="en-US"/>
          </a:p>
        </p:txBody>
      </p:sp>
      <p:sp>
        <p:nvSpPr>
          <p:cNvPr id="516099" name="WordArt 2"/>
          <p:cNvSpPr>
            <a:spLocks noChangeArrowheads="1" noChangeShapeType="1" noTextEdit="1"/>
          </p:cNvSpPr>
          <p:nvPr/>
        </p:nvSpPr>
        <p:spPr bwMode="auto">
          <a:xfrm>
            <a:off x="2849563" y="115888"/>
            <a:ext cx="3451225" cy="800100"/>
          </a:xfrm>
          <a:prstGeom prst="rect">
            <a:avLst/>
          </a:prstGeom>
        </p:spPr>
        <p:txBody>
          <a:bodyPr wrap="none" fromWordArt="1">
            <a:prstTxWarp prst="textPlain">
              <a:avLst>
                <a:gd name="adj" fmla="val 50000"/>
              </a:avLst>
            </a:prstTxWarp>
          </a:bodyPr>
          <a:lstStyle/>
          <a:p>
            <a:pPr algn="ctr"/>
            <a:r>
              <a:rPr lang="th-TH" sz="6600" kern="10">
                <a:ln w="19050">
                  <a:solidFill>
                    <a:srgbClr val="333333"/>
                  </a:solidFill>
                  <a:round/>
                  <a:headEnd/>
                  <a:tailEnd/>
                </a:ln>
                <a:gradFill rotWithShape="1">
                  <a:gsLst>
                    <a:gs pos="0">
                      <a:srgbClr val="FF0000"/>
                    </a:gs>
                    <a:gs pos="50000">
                      <a:srgbClr val="760000"/>
                    </a:gs>
                    <a:gs pos="100000">
                      <a:srgbClr val="FF0000"/>
                    </a:gs>
                  </a:gsLst>
                  <a:lin ang="2700000" scaled="1"/>
                </a:gradFill>
                <a:effectLst>
                  <a:outerShdw dist="35921" dir="2700000" algn="ctr" rotWithShape="0">
                    <a:schemeClr val="accent1"/>
                  </a:outerShdw>
                </a:effectLst>
                <a:latin typeface="LilyUPC" panose="020B0604020202020204" pitchFamily="34" charset="-34"/>
                <a:cs typeface="LilyUPC" panose="020B0604020202020204" pitchFamily="34" charset="-34"/>
              </a:rPr>
              <a:t>วงจรเชื้อเพลิง</a:t>
            </a:r>
            <a:endParaRPr lang="en-US" sz="6600" kern="10">
              <a:ln w="19050">
                <a:solidFill>
                  <a:srgbClr val="333333"/>
                </a:solidFill>
                <a:round/>
                <a:headEnd/>
                <a:tailEnd/>
              </a:ln>
              <a:gradFill rotWithShape="1">
                <a:gsLst>
                  <a:gs pos="0">
                    <a:srgbClr val="FF0000"/>
                  </a:gs>
                  <a:gs pos="50000">
                    <a:srgbClr val="760000"/>
                  </a:gs>
                  <a:gs pos="100000">
                    <a:srgbClr val="FF0000"/>
                  </a:gs>
                </a:gsLst>
                <a:lin ang="2700000" scaled="1"/>
              </a:gradFill>
              <a:effectLst>
                <a:outerShdw dist="35921" dir="2700000" algn="ctr" rotWithShape="0">
                  <a:schemeClr val="accent1"/>
                </a:outerShdw>
              </a:effectLst>
              <a:latin typeface="LilyUPC" panose="020B0604020202020204" pitchFamily="34" charset="-34"/>
              <a:cs typeface="LilyUPC" panose="020B0604020202020204" pitchFamily="34" charset="-34"/>
            </a:endParaRPr>
          </a:p>
        </p:txBody>
      </p:sp>
      <p:sp>
        <p:nvSpPr>
          <p:cNvPr id="516100" name="Line 3"/>
          <p:cNvSpPr>
            <a:spLocks noChangeShapeType="1"/>
          </p:cNvSpPr>
          <p:nvPr/>
        </p:nvSpPr>
        <p:spPr bwMode="auto">
          <a:xfrm>
            <a:off x="2919413" y="979488"/>
            <a:ext cx="33147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16101" name="Group 4"/>
          <p:cNvGrpSpPr>
            <a:grpSpLocks/>
          </p:cNvGrpSpPr>
          <p:nvPr/>
        </p:nvGrpSpPr>
        <p:grpSpPr bwMode="auto">
          <a:xfrm>
            <a:off x="1160463" y="2114550"/>
            <a:ext cx="831850" cy="1666875"/>
            <a:chOff x="612" y="1706"/>
            <a:chExt cx="635" cy="1125"/>
          </a:xfrm>
        </p:grpSpPr>
        <p:sp>
          <p:nvSpPr>
            <p:cNvPr id="516195" name="Rectangle 5"/>
            <p:cNvSpPr>
              <a:spLocks noChangeArrowheads="1"/>
            </p:cNvSpPr>
            <p:nvPr/>
          </p:nvSpPr>
          <p:spPr bwMode="auto">
            <a:xfrm>
              <a:off x="612" y="1706"/>
              <a:ext cx="635" cy="726"/>
            </a:xfrm>
            <a:prstGeom prst="rect">
              <a:avLst/>
            </a:prstGeom>
            <a:solidFill>
              <a:srgbClr val="FF505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6196" name="AutoShape 6"/>
            <p:cNvSpPr>
              <a:spLocks noChangeArrowheads="1"/>
            </p:cNvSpPr>
            <p:nvPr/>
          </p:nvSpPr>
          <p:spPr bwMode="auto">
            <a:xfrm rot="10800000">
              <a:off x="612" y="2423"/>
              <a:ext cx="635" cy="408"/>
            </a:xfrm>
            <a:prstGeom prst="triangle">
              <a:avLst>
                <a:gd name="adj" fmla="val 50000"/>
              </a:avLst>
            </a:prstGeom>
            <a:solidFill>
              <a:srgbClr val="FF505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grpSp>
        <p:nvGrpSpPr>
          <p:cNvPr id="516102" name="Group 7"/>
          <p:cNvGrpSpPr>
            <a:grpSpLocks/>
          </p:cNvGrpSpPr>
          <p:nvPr/>
        </p:nvGrpSpPr>
        <p:grpSpPr bwMode="auto">
          <a:xfrm>
            <a:off x="919163" y="4132263"/>
            <a:ext cx="300037" cy="336550"/>
            <a:chOff x="1337" y="2613"/>
            <a:chExt cx="228" cy="227"/>
          </a:xfrm>
        </p:grpSpPr>
        <p:sp>
          <p:nvSpPr>
            <p:cNvPr id="516193" name="Oval 8"/>
            <p:cNvSpPr>
              <a:spLocks noChangeArrowheads="1"/>
            </p:cNvSpPr>
            <p:nvPr/>
          </p:nvSpPr>
          <p:spPr bwMode="auto">
            <a:xfrm rot="-5400000">
              <a:off x="1338" y="2613"/>
              <a:ext cx="227" cy="227"/>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6194" name="AutoShape 9"/>
            <p:cNvSpPr>
              <a:spLocks noChangeArrowheads="1"/>
            </p:cNvSpPr>
            <p:nvPr/>
          </p:nvSpPr>
          <p:spPr bwMode="auto">
            <a:xfrm rot="-5400000">
              <a:off x="1337" y="2641"/>
              <a:ext cx="181" cy="182"/>
            </a:xfrm>
            <a:prstGeom prst="triangle">
              <a:avLst>
                <a:gd name="adj" fmla="val 50000"/>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sp>
        <p:nvSpPr>
          <p:cNvPr id="516103" name="Freeform 10"/>
          <p:cNvSpPr>
            <a:spLocks/>
          </p:cNvSpPr>
          <p:nvPr/>
        </p:nvSpPr>
        <p:spPr bwMode="auto">
          <a:xfrm>
            <a:off x="1217613" y="3795713"/>
            <a:ext cx="355600" cy="538162"/>
          </a:xfrm>
          <a:custGeom>
            <a:avLst/>
            <a:gdLst>
              <a:gd name="T0" fmla="*/ 2147483646 w 272"/>
              <a:gd name="T1" fmla="*/ 0 h 363"/>
              <a:gd name="T2" fmla="*/ 2147483646 w 272"/>
              <a:gd name="T3" fmla="*/ 2147483646 h 363"/>
              <a:gd name="T4" fmla="*/ 0 w 272"/>
              <a:gd name="T5" fmla="*/ 2147483646 h 363"/>
              <a:gd name="T6" fmla="*/ 0 60000 65536"/>
              <a:gd name="T7" fmla="*/ 0 60000 65536"/>
              <a:gd name="T8" fmla="*/ 0 60000 65536"/>
            </a:gdLst>
            <a:ahLst/>
            <a:cxnLst>
              <a:cxn ang="T6">
                <a:pos x="T0" y="T1"/>
              </a:cxn>
              <a:cxn ang="T7">
                <a:pos x="T2" y="T3"/>
              </a:cxn>
              <a:cxn ang="T8">
                <a:pos x="T4" y="T5"/>
              </a:cxn>
            </a:cxnLst>
            <a:rect l="0" t="0" r="r" b="b"/>
            <a:pathLst>
              <a:path w="272" h="363">
                <a:moveTo>
                  <a:pt x="272" y="0"/>
                </a:moveTo>
                <a:lnTo>
                  <a:pt x="272" y="363"/>
                </a:lnTo>
                <a:lnTo>
                  <a:pt x="0" y="363"/>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04" name="Freeform 11"/>
          <p:cNvSpPr>
            <a:spLocks/>
          </p:cNvSpPr>
          <p:nvPr/>
        </p:nvSpPr>
        <p:spPr bwMode="auto">
          <a:xfrm>
            <a:off x="684213" y="1844675"/>
            <a:ext cx="889000" cy="2489200"/>
          </a:xfrm>
          <a:custGeom>
            <a:avLst/>
            <a:gdLst>
              <a:gd name="T0" fmla="*/ 2147483646 w 680"/>
              <a:gd name="T1" fmla="*/ 2147483646 h 1679"/>
              <a:gd name="T2" fmla="*/ 0 w 680"/>
              <a:gd name="T3" fmla="*/ 2147483646 h 1679"/>
              <a:gd name="T4" fmla="*/ 0 w 680"/>
              <a:gd name="T5" fmla="*/ 0 h 1679"/>
              <a:gd name="T6" fmla="*/ 2147483646 w 680"/>
              <a:gd name="T7" fmla="*/ 0 h 1679"/>
              <a:gd name="T8" fmla="*/ 2147483646 w 680"/>
              <a:gd name="T9" fmla="*/ 2147483646 h 1679"/>
              <a:gd name="T10" fmla="*/ 2147483646 w 680"/>
              <a:gd name="T11" fmla="*/ 2147483646 h 167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0" h="1679">
                <a:moveTo>
                  <a:pt x="181" y="1679"/>
                </a:moveTo>
                <a:lnTo>
                  <a:pt x="0" y="1679"/>
                </a:lnTo>
                <a:lnTo>
                  <a:pt x="0" y="0"/>
                </a:lnTo>
                <a:lnTo>
                  <a:pt x="680" y="0"/>
                </a:lnTo>
                <a:lnTo>
                  <a:pt x="680" y="182"/>
                </a:lnTo>
                <a:lnTo>
                  <a:pt x="408" y="339"/>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05" name="Line 12"/>
          <p:cNvSpPr>
            <a:spLocks noChangeShapeType="1"/>
          </p:cNvSpPr>
          <p:nvPr/>
        </p:nvSpPr>
        <p:spPr bwMode="auto">
          <a:xfrm>
            <a:off x="1573213" y="2114550"/>
            <a:ext cx="357187" cy="268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06" name="Freeform 13"/>
          <p:cNvSpPr>
            <a:spLocks/>
          </p:cNvSpPr>
          <p:nvPr/>
        </p:nvSpPr>
        <p:spPr bwMode="auto">
          <a:xfrm>
            <a:off x="1217613" y="2316163"/>
            <a:ext cx="90487" cy="144462"/>
          </a:xfrm>
          <a:custGeom>
            <a:avLst/>
            <a:gdLst>
              <a:gd name="T0" fmla="*/ 0 w 69"/>
              <a:gd name="T1" fmla="*/ 2147483646 h 97"/>
              <a:gd name="T2" fmla="*/ 2147483646 w 69"/>
              <a:gd name="T3" fmla="*/ 0 h 97"/>
              <a:gd name="T4" fmla="*/ 2147483646 w 69"/>
              <a:gd name="T5" fmla="*/ 2147483646 h 97"/>
              <a:gd name="T6" fmla="*/ 0 60000 65536"/>
              <a:gd name="T7" fmla="*/ 0 60000 65536"/>
              <a:gd name="T8" fmla="*/ 0 60000 65536"/>
            </a:gdLst>
            <a:ahLst/>
            <a:cxnLst>
              <a:cxn ang="T6">
                <a:pos x="T0" y="T1"/>
              </a:cxn>
              <a:cxn ang="T7">
                <a:pos x="T2" y="T3"/>
              </a:cxn>
              <a:cxn ang="T8">
                <a:pos x="T4" y="T5"/>
              </a:cxn>
            </a:cxnLst>
            <a:rect l="0" t="0" r="r" b="b"/>
            <a:pathLst>
              <a:path w="69" h="97">
                <a:moveTo>
                  <a:pt x="0" y="97"/>
                </a:moveTo>
                <a:lnTo>
                  <a:pt x="50" y="0"/>
                </a:lnTo>
                <a:lnTo>
                  <a:pt x="69" y="94"/>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07" name="Freeform 14"/>
          <p:cNvSpPr>
            <a:spLocks/>
          </p:cNvSpPr>
          <p:nvPr/>
        </p:nvSpPr>
        <p:spPr bwMode="auto">
          <a:xfrm>
            <a:off x="1384300" y="2208213"/>
            <a:ext cx="90488" cy="142875"/>
          </a:xfrm>
          <a:custGeom>
            <a:avLst/>
            <a:gdLst>
              <a:gd name="T0" fmla="*/ 0 w 69"/>
              <a:gd name="T1" fmla="*/ 2147483646 h 97"/>
              <a:gd name="T2" fmla="*/ 2147483646 w 69"/>
              <a:gd name="T3" fmla="*/ 0 h 97"/>
              <a:gd name="T4" fmla="*/ 2147483646 w 69"/>
              <a:gd name="T5" fmla="*/ 2147483646 h 97"/>
              <a:gd name="T6" fmla="*/ 0 60000 65536"/>
              <a:gd name="T7" fmla="*/ 0 60000 65536"/>
              <a:gd name="T8" fmla="*/ 0 60000 65536"/>
            </a:gdLst>
            <a:ahLst/>
            <a:cxnLst>
              <a:cxn ang="T6">
                <a:pos x="T0" y="T1"/>
              </a:cxn>
              <a:cxn ang="T7">
                <a:pos x="T2" y="T3"/>
              </a:cxn>
              <a:cxn ang="T8">
                <a:pos x="T4" y="T5"/>
              </a:cxn>
            </a:cxnLst>
            <a:rect l="0" t="0" r="r" b="b"/>
            <a:pathLst>
              <a:path w="69" h="97">
                <a:moveTo>
                  <a:pt x="0" y="97"/>
                </a:moveTo>
                <a:lnTo>
                  <a:pt x="50" y="0"/>
                </a:lnTo>
                <a:lnTo>
                  <a:pt x="69" y="94"/>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08" name="Freeform 15"/>
          <p:cNvSpPr>
            <a:spLocks/>
          </p:cNvSpPr>
          <p:nvPr/>
        </p:nvSpPr>
        <p:spPr bwMode="auto">
          <a:xfrm>
            <a:off x="1611313" y="2209800"/>
            <a:ext cx="90487" cy="142875"/>
          </a:xfrm>
          <a:custGeom>
            <a:avLst/>
            <a:gdLst>
              <a:gd name="T0" fmla="*/ 0 w 69"/>
              <a:gd name="T1" fmla="*/ 2147483646 h 97"/>
              <a:gd name="T2" fmla="*/ 2147483646 w 69"/>
              <a:gd name="T3" fmla="*/ 0 h 97"/>
              <a:gd name="T4" fmla="*/ 2147483646 w 69"/>
              <a:gd name="T5" fmla="*/ 2147483646 h 97"/>
              <a:gd name="T6" fmla="*/ 0 60000 65536"/>
              <a:gd name="T7" fmla="*/ 0 60000 65536"/>
              <a:gd name="T8" fmla="*/ 0 60000 65536"/>
            </a:gdLst>
            <a:ahLst/>
            <a:cxnLst>
              <a:cxn ang="T6">
                <a:pos x="T0" y="T1"/>
              </a:cxn>
              <a:cxn ang="T7">
                <a:pos x="T2" y="T3"/>
              </a:cxn>
              <a:cxn ang="T8">
                <a:pos x="T4" y="T5"/>
              </a:cxn>
            </a:cxnLst>
            <a:rect l="0" t="0" r="r" b="b"/>
            <a:pathLst>
              <a:path w="69" h="97">
                <a:moveTo>
                  <a:pt x="0" y="97"/>
                </a:moveTo>
                <a:lnTo>
                  <a:pt x="50" y="0"/>
                </a:lnTo>
                <a:lnTo>
                  <a:pt x="69" y="94"/>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09" name="Freeform 16"/>
          <p:cNvSpPr>
            <a:spLocks/>
          </p:cNvSpPr>
          <p:nvPr/>
        </p:nvSpPr>
        <p:spPr bwMode="auto">
          <a:xfrm>
            <a:off x="1763713" y="2316163"/>
            <a:ext cx="90487" cy="144462"/>
          </a:xfrm>
          <a:custGeom>
            <a:avLst/>
            <a:gdLst>
              <a:gd name="T0" fmla="*/ 0 w 69"/>
              <a:gd name="T1" fmla="*/ 2147483646 h 97"/>
              <a:gd name="T2" fmla="*/ 2147483646 w 69"/>
              <a:gd name="T3" fmla="*/ 0 h 97"/>
              <a:gd name="T4" fmla="*/ 2147483646 w 69"/>
              <a:gd name="T5" fmla="*/ 2147483646 h 97"/>
              <a:gd name="T6" fmla="*/ 0 60000 65536"/>
              <a:gd name="T7" fmla="*/ 0 60000 65536"/>
              <a:gd name="T8" fmla="*/ 0 60000 65536"/>
            </a:gdLst>
            <a:ahLst/>
            <a:cxnLst>
              <a:cxn ang="T6">
                <a:pos x="T0" y="T1"/>
              </a:cxn>
              <a:cxn ang="T7">
                <a:pos x="T2" y="T3"/>
              </a:cxn>
              <a:cxn ang="T8">
                <a:pos x="T4" y="T5"/>
              </a:cxn>
            </a:cxnLst>
            <a:rect l="0" t="0" r="r" b="b"/>
            <a:pathLst>
              <a:path w="69" h="97">
                <a:moveTo>
                  <a:pt x="0" y="97"/>
                </a:moveTo>
                <a:lnTo>
                  <a:pt x="50" y="0"/>
                </a:lnTo>
                <a:lnTo>
                  <a:pt x="69" y="94"/>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16110" name="Group 17"/>
          <p:cNvGrpSpPr>
            <a:grpSpLocks/>
          </p:cNvGrpSpPr>
          <p:nvPr/>
        </p:nvGrpSpPr>
        <p:grpSpPr bwMode="auto">
          <a:xfrm>
            <a:off x="1814513" y="4467225"/>
            <a:ext cx="236537" cy="268288"/>
            <a:chOff x="1519" y="2614"/>
            <a:chExt cx="182" cy="181"/>
          </a:xfrm>
        </p:grpSpPr>
        <p:sp>
          <p:nvSpPr>
            <p:cNvPr id="516190" name="Freeform 18"/>
            <p:cNvSpPr>
              <a:spLocks/>
            </p:cNvSpPr>
            <p:nvPr/>
          </p:nvSpPr>
          <p:spPr bwMode="auto">
            <a:xfrm>
              <a:off x="1519" y="2614"/>
              <a:ext cx="91" cy="181"/>
            </a:xfrm>
            <a:custGeom>
              <a:avLst/>
              <a:gdLst>
                <a:gd name="T0" fmla="*/ 0 w 91"/>
                <a:gd name="T1" fmla="*/ 0 h 181"/>
                <a:gd name="T2" fmla="*/ 91 w 91"/>
                <a:gd name="T3" fmla="*/ 0 h 181"/>
                <a:gd name="T4" fmla="*/ 0 w 91"/>
                <a:gd name="T5" fmla="*/ 181 h 181"/>
                <a:gd name="T6" fmla="*/ 91 w 91"/>
                <a:gd name="T7" fmla="*/ 181 h 181"/>
                <a:gd name="T8" fmla="*/ 0 w 91"/>
                <a:gd name="T9" fmla="*/ 0 h 1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 h="181">
                  <a:moveTo>
                    <a:pt x="0" y="0"/>
                  </a:moveTo>
                  <a:lnTo>
                    <a:pt x="91" y="0"/>
                  </a:lnTo>
                  <a:lnTo>
                    <a:pt x="0" y="181"/>
                  </a:lnTo>
                  <a:lnTo>
                    <a:pt x="91" y="181"/>
                  </a:lnTo>
                  <a:lnTo>
                    <a:pt x="0" y="0"/>
                  </a:lnTo>
                  <a:close/>
                </a:path>
              </a:pathLst>
            </a:custGeom>
            <a:solidFill>
              <a:schemeClr val="hlink"/>
            </a:solidFill>
            <a:ln w="9525" cap="flat"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91" name="AutoShape 19"/>
            <p:cNvSpPr>
              <a:spLocks noChangeArrowheads="1"/>
            </p:cNvSpPr>
            <p:nvPr/>
          </p:nvSpPr>
          <p:spPr bwMode="auto">
            <a:xfrm>
              <a:off x="1655" y="2659"/>
              <a:ext cx="46" cy="90"/>
            </a:xfrm>
            <a:prstGeom prst="flowChartDelay">
              <a:avLst/>
            </a:prstGeom>
            <a:solidFill>
              <a:schemeClr val="hlink"/>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6192" name="Line 20"/>
            <p:cNvSpPr>
              <a:spLocks noChangeShapeType="1"/>
            </p:cNvSpPr>
            <p:nvPr/>
          </p:nvSpPr>
          <p:spPr bwMode="auto">
            <a:xfrm>
              <a:off x="1565" y="2704"/>
              <a:ext cx="9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16111" name="Group 21"/>
          <p:cNvGrpSpPr>
            <a:grpSpLocks/>
          </p:cNvGrpSpPr>
          <p:nvPr/>
        </p:nvGrpSpPr>
        <p:grpSpPr bwMode="auto">
          <a:xfrm rot="10800000">
            <a:off x="1098550" y="5180013"/>
            <a:ext cx="298450" cy="336550"/>
            <a:chOff x="1337" y="2613"/>
            <a:chExt cx="228" cy="227"/>
          </a:xfrm>
        </p:grpSpPr>
        <p:sp>
          <p:nvSpPr>
            <p:cNvPr id="516188" name="Oval 22"/>
            <p:cNvSpPr>
              <a:spLocks noChangeArrowheads="1"/>
            </p:cNvSpPr>
            <p:nvPr/>
          </p:nvSpPr>
          <p:spPr bwMode="auto">
            <a:xfrm rot="-5400000">
              <a:off x="1338" y="2613"/>
              <a:ext cx="227" cy="227"/>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6189" name="AutoShape 23"/>
            <p:cNvSpPr>
              <a:spLocks noChangeArrowheads="1"/>
            </p:cNvSpPr>
            <p:nvPr/>
          </p:nvSpPr>
          <p:spPr bwMode="auto">
            <a:xfrm rot="-5400000">
              <a:off x="1337" y="2641"/>
              <a:ext cx="181" cy="182"/>
            </a:xfrm>
            <a:prstGeom prst="triangle">
              <a:avLst>
                <a:gd name="adj" fmla="val 50000"/>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sp>
        <p:nvSpPr>
          <p:cNvPr id="516112" name="Freeform 24"/>
          <p:cNvSpPr>
            <a:spLocks/>
          </p:cNvSpPr>
          <p:nvPr/>
        </p:nvSpPr>
        <p:spPr bwMode="auto">
          <a:xfrm>
            <a:off x="1573213" y="4064000"/>
            <a:ext cx="298450" cy="403225"/>
          </a:xfrm>
          <a:custGeom>
            <a:avLst/>
            <a:gdLst>
              <a:gd name="T0" fmla="*/ 0 w 227"/>
              <a:gd name="T1" fmla="*/ 0 h 272"/>
              <a:gd name="T2" fmla="*/ 2147483646 w 227"/>
              <a:gd name="T3" fmla="*/ 0 h 272"/>
              <a:gd name="T4" fmla="*/ 2147483646 w 227"/>
              <a:gd name="T5" fmla="*/ 2147483646 h 272"/>
              <a:gd name="T6" fmla="*/ 0 60000 65536"/>
              <a:gd name="T7" fmla="*/ 0 60000 65536"/>
              <a:gd name="T8" fmla="*/ 0 60000 65536"/>
            </a:gdLst>
            <a:ahLst/>
            <a:cxnLst>
              <a:cxn ang="T6">
                <a:pos x="T0" y="T1"/>
              </a:cxn>
              <a:cxn ang="T7">
                <a:pos x="T2" y="T3"/>
              </a:cxn>
              <a:cxn ang="T8">
                <a:pos x="T4" y="T5"/>
              </a:cxn>
            </a:cxnLst>
            <a:rect l="0" t="0" r="r" b="b"/>
            <a:pathLst>
              <a:path w="227" h="272">
                <a:moveTo>
                  <a:pt x="0" y="0"/>
                </a:moveTo>
                <a:lnTo>
                  <a:pt x="227" y="0"/>
                </a:lnTo>
                <a:lnTo>
                  <a:pt x="227" y="272"/>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13" name="Freeform 25"/>
          <p:cNvSpPr>
            <a:spLocks/>
          </p:cNvSpPr>
          <p:nvPr/>
        </p:nvSpPr>
        <p:spPr bwMode="auto">
          <a:xfrm>
            <a:off x="1395413" y="4737100"/>
            <a:ext cx="476250" cy="604838"/>
          </a:xfrm>
          <a:custGeom>
            <a:avLst/>
            <a:gdLst>
              <a:gd name="T0" fmla="*/ 2147483646 w 363"/>
              <a:gd name="T1" fmla="*/ 0 h 408"/>
              <a:gd name="T2" fmla="*/ 2147483646 w 363"/>
              <a:gd name="T3" fmla="*/ 2147483646 h 408"/>
              <a:gd name="T4" fmla="*/ 0 w 363"/>
              <a:gd name="T5" fmla="*/ 2147483646 h 408"/>
              <a:gd name="T6" fmla="*/ 0 60000 65536"/>
              <a:gd name="T7" fmla="*/ 0 60000 65536"/>
              <a:gd name="T8" fmla="*/ 0 60000 65536"/>
            </a:gdLst>
            <a:ahLst/>
            <a:cxnLst>
              <a:cxn ang="T6">
                <a:pos x="T0" y="T1"/>
              </a:cxn>
              <a:cxn ang="T7">
                <a:pos x="T2" y="T3"/>
              </a:cxn>
              <a:cxn ang="T8">
                <a:pos x="T4" y="T5"/>
              </a:cxn>
            </a:cxnLst>
            <a:rect l="0" t="0" r="r" b="b"/>
            <a:pathLst>
              <a:path w="363" h="408">
                <a:moveTo>
                  <a:pt x="363" y="0"/>
                </a:moveTo>
                <a:lnTo>
                  <a:pt x="363" y="408"/>
                </a:lnTo>
                <a:lnTo>
                  <a:pt x="0" y="408"/>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14" name="Line 26"/>
          <p:cNvSpPr>
            <a:spLocks noChangeShapeType="1"/>
          </p:cNvSpPr>
          <p:nvPr/>
        </p:nvSpPr>
        <p:spPr bwMode="auto">
          <a:xfrm>
            <a:off x="684213" y="5341938"/>
            <a:ext cx="4143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16115" name="Group 27"/>
          <p:cNvGrpSpPr>
            <a:grpSpLocks/>
          </p:cNvGrpSpPr>
          <p:nvPr/>
        </p:nvGrpSpPr>
        <p:grpSpPr bwMode="auto">
          <a:xfrm>
            <a:off x="1979613" y="2276475"/>
            <a:ext cx="2160587" cy="1219200"/>
            <a:chOff x="1383" y="1434"/>
            <a:chExt cx="1361" cy="768"/>
          </a:xfrm>
        </p:grpSpPr>
        <p:sp>
          <p:nvSpPr>
            <p:cNvPr id="516185" name="Line 28"/>
            <p:cNvSpPr>
              <a:spLocks noChangeShapeType="1"/>
            </p:cNvSpPr>
            <p:nvPr/>
          </p:nvSpPr>
          <p:spPr bwMode="auto">
            <a:xfrm flipH="1">
              <a:off x="1383" y="1570"/>
              <a:ext cx="182" cy="91"/>
            </a:xfrm>
            <a:prstGeom prst="line">
              <a:avLst/>
            </a:prstGeom>
            <a:noFill/>
            <a:ln w="9525">
              <a:solidFill>
                <a:schemeClr val="tx1"/>
              </a:solidFill>
              <a:round/>
              <a:headE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86" name="Text Box 29"/>
            <p:cNvSpPr txBox="1">
              <a:spLocks noChangeArrowheads="1"/>
            </p:cNvSpPr>
            <p:nvPr/>
          </p:nvSpPr>
          <p:spPr bwMode="auto">
            <a:xfrm>
              <a:off x="1519" y="1434"/>
              <a:ext cx="81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800"/>
                <a:t>Flue Gas</a:t>
              </a:r>
              <a:endParaRPr lang="th-TH" altLang="en-US" sz="1800"/>
            </a:p>
          </p:txBody>
        </p:sp>
        <p:sp>
          <p:nvSpPr>
            <p:cNvPr id="516187" name="Text Box 30"/>
            <p:cNvSpPr txBox="1">
              <a:spLocks noChangeArrowheads="1"/>
            </p:cNvSpPr>
            <p:nvPr/>
          </p:nvSpPr>
          <p:spPr bwMode="auto">
            <a:xfrm>
              <a:off x="1383" y="1706"/>
              <a:ext cx="1361" cy="4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300"/>
                <a:t>DCE</a:t>
              </a:r>
            </a:p>
            <a:p>
              <a:pPr>
                <a:spcBef>
                  <a:spcPct val="50000"/>
                </a:spcBef>
                <a:buFontTx/>
                <a:buNone/>
              </a:pPr>
              <a:r>
                <a:rPr lang="en-US" altLang="en-US" sz="1300"/>
                <a:t>(Direct Contact Evaporator)</a:t>
              </a:r>
              <a:endParaRPr lang="th-TH" altLang="en-US" sz="1300"/>
            </a:p>
          </p:txBody>
        </p:sp>
      </p:grpSp>
      <p:sp>
        <p:nvSpPr>
          <p:cNvPr id="516116" name="Text Box 31"/>
          <p:cNvSpPr txBox="1">
            <a:spLocks noChangeArrowheads="1"/>
          </p:cNvSpPr>
          <p:nvPr/>
        </p:nvSpPr>
        <p:spPr bwMode="auto">
          <a:xfrm>
            <a:off x="252413" y="4437063"/>
            <a:ext cx="1727200" cy="488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300"/>
              <a:t>Ricirculate Black Liquor Pump</a:t>
            </a:r>
            <a:endParaRPr lang="th-TH" altLang="en-US" sz="1300"/>
          </a:p>
        </p:txBody>
      </p:sp>
      <p:sp>
        <p:nvSpPr>
          <p:cNvPr id="516117" name="Text Box 32"/>
          <p:cNvSpPr txBox="1">
            <a:spLocks noChangeArrowheads="1"/>
          </p:cNvSpPr>
          <p:nvPr/>
        </p:nvSpPr>
        <p:spPr bwMode="auto">
          <a:xfrm>
            <a:off x="1116013" y="5516563"/>
            <a:ext cx="2520950" cy="290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300"/>
              <a:t>19 m</a:t>
            </a:r>
            <a:r>
              <a:rPr lang="en-US" altLang="en-US" sz="1300" baseline="30000"/>
              <a:t>3</a:t>
            </a:r>
            <a:r>
              <a:rPr lang="en-US" altLang="en-US" sz="1300"/>
              <a:t>/hr Black Liquor Pump</a:t>
            </a:r>
            <a:endParaRPr lang="th-TH" altLang="en-US" sz="1300"/>
          </a:p>
        </p:txBody>
      </p:sp>
      <p:sp>
        <p:nvSpPr>
          <p:cNvPr id="516118" name="Text Box 33"/>
          <p:cNvSpPr txBox="1">
            <a:spLocks noChangeArrowheads="1"/>
          </p:cNvSpPr>
          <p:nvPr/>
        </p:nvSpPr>
        <p:spPr bwMode="auto">
          <a:xfrm>
            <a:off x="0" y="5300663"/>
            <a:ext cx="1258888" cy="88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300"/>
              <a:t>Black Liquor From Evaporator (47-49%)</a:t>
            </a:r>
            <a:endParaRPr lang="th-TH" altLang="en-US" sz="1300"/>
          </a:p>
        </p:txBody>
      </p:sp>
      <p:grpSp>
        <p:nvGrpSpPr>
          <p:cNvPr id="516119" name="Group 34"/>
          <p:cNvGrpSpPr>
            <a:grpSpLocks/>
          </p:cNvGrpSpPr>
          <p:nvPr/>
        </p:nvGrpSpPr>
        <p:grpSpPr bwMode="auto">
          <a:xfrm>
            <a:off x="3852863" y="2420938"/>
            <a:ext cx="647700" cy="922337"/>
            <a:chOff x="2426" y="1525"/>
            <a:chExt cx="409" cy="581"/>
          </a:xfrm>
        </p:grpSpPr>
        <p:sp>
          <p:nvSpPr>
            <p:cNvPr id="516183" name="Rectangle 35"/>
            <p:cNvSpPr>
              <a:spLocks noChangeArrowheads="1"/>
            </p:cNvSpPr>
            <p:nvPr/>
          </p:nvSpPr>
          <p:spPr bwMode="auto">
            <a:xfrm>
              <a:off x="2426" y="1525"/>
              <a:ext cx="409" cy="408"/>
            </a:xfrm>
            <a:prstGeom prst="rect">
              <a:avLst/>
            </a:prstGeom>
            <a:solidFill>
              <a:srgbClr val="FF505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6184" name="AutoShape 36"/>
            <p:cNvSpPr>
              <a:spLocks noChangeArrowheads="1"/>
            </p:cNvSpPr>
            <p:nvPr/>
          </p:nvSpPr>
          <p:spPr bwMode="auto">
            <a:xfrm rot="10800000">
              <a:off x="2426" y="1924"/>
              <a:ext cx="409" cy="182"/>
            </a:xfrm>
            <a:prstGeom prst="triangle">
              <a:avLst>
                <a:gd name="adj" fmla="val 50000"/>
              </a:avLst>
            </a:prstGeom>
            <a:solidFill>
              <a:srgbClr val="FF5050"/>
            </a:solidFill>
            <a:ln>
              <a:noFill/>
            </a:ln>
            <a:effectLst/>
            <a:extLs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sp>
        <p:nvSpPr>
          <p:cNvPr id="516120" name="Line 37"/>
          <p:cNvSpPr>
            <a:spLocks noChangeShapeType="1"/>
          </p:cNvSpPr>
          <p:nvPr/>
        </p:nvSpPr>
        <p:spPr bwMode="auto">
          <a:xfrm>
            <a:off x="3924300" y="3011488"/>
            <a:ext cx="7921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16121" name="Group 38"/>
          <p:cNvGrpSpPr>
            <a:grpSpLocks/>
          </p:cNvGrpSpPr>
          <p:nvPr/>
        </p:nvGrpSpPr>
        <p:grpSpPr bwMode="auto">
          <a:xfrm>
            <a:off x="3924300" y="2781300"/>
            <a:ext cx="144463" cy="215900"/>
            <a:chOff x="2426" y="2478"/>
            <a:chExt cx="91" cy="136"/>
          </a:xfrm>
        </p:grpSpPr>
        <p:sp>
          <p:nvSpPr>
            <p:cNvPr id="516181" name="Freeform 39"/>
            <p:cNvSpPr>
              <a:spLocks/>
            </p:cNvSpPr>
            <p:nvPr/>
          </p:nvSpPr>
          <p:spPr bwMode="auto">
            <a:xfrm>
              <a:off x="2426" y="2478"/>
              <a:ext cx="46" cy="136"/>
            </a:xfrm>
            <a:custGeom>
              <a:avLst/>
              <a:gdLst>
                <a:gd name="T0" fmla="*/ 0 w 46"/>
                <a:gd name="T1" fmla="*/ 45 h 136"/>
                <a:gd name="T2" fmla="*/ 46 w 46"/>
                <a:gd name="T3" fmla="*/ 136 h 136"/>
                <a:gd name="T4" fmla="*/ 46 w 46"/>
                <a:gd name="T5" fmla="*/ 0 h 136"/>
                <a:gd name="T6" fmla="*/ 0 60000 65536"/>
                <a:gd name="T7" fmla="*/ 0 60000 65536"/>
                <a:gd name="T8" fmla="*/ 0 60000 65536"/>
              </a:gdLst>
              <a:ahLst/>
              <a:cxnLst>
                <a:cxn ang="T6">
                  <a:pos x="T0" y="T1"/>
                </a:cxn>
                <a:cxn ang="T7">
                  <a:pos x="T2" y="T3"/>
                </a:cxn>
                <a:cxn ang="T8">
                  <a:pos x="T4" y="T5"/>
                </a:cxn>
              </a:cxnLst>
              <a:rect l="0" t="0" r="r" b="b"/>
              <a:pathLst>
                <a:path w="46" h="136">
                  <a:moveTo>
                    <a:pt x="0" y="45"/>
                  </a:moveTo>
                  <a:lnTo>
                    <a:pt x="46" y="136"/>
                  </a:lnTo>
                  <a:lnTo>
                    <a:pt x="46" y="0"/>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82" name="Line 40"/>
            <p:cNvSpPr>
              <a:spLocks noChangeShapeType="1"/>
            </p:cNvSpPr>
            <p:nvPr/>
          </p:nvSpPr>
          <p:spPr bwMode="auto">
            <a:xfrm flipV="1">
              <a:off x="2472" y="2523"/>
              <a:ext cx="45" cy="9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16122" name="Group 41"/>
          <p:cNvGrpSpPr>
            <a:grpSpLocks/>
          </p:cNvGrpSpPr>
          <p:nvPr/>
        </p:nvGrpSpPr>
        <p:grpSpPr bwMode="auto">
          <a:xfrm>
            <a:off x="4227513" y="2781300"/>
            <a:ext cx="146050" cy="215900"/>
            <a:chOff x="2426" y="2478"/>
            <a:chExt cx="91" cy="136"/>
          </a:xfrm>
        </p:grpSpPr>
        <p:sp>
          <p:nvSpPr>
            <p:cNvPr id="516179" name="Freeform 42"/>
            <p:cNvSpPr>
              <a:spLocks/>
            </p:cNvSpPr>
            <p:nvPr/>
          </p:nvSpPr>
          <p:spPr bwMode="auto">
            <a:xfrm>
              <a:off x="2426" y="2478"/>
              <a:ext cx="46" cy="136"/>
            </a:xfrm>
            <a:custGeom>
              <a:avLst/>
              <a:gdLst>
                <a:gd name="T0" fmla="*/ 0 w 46"/>
                <a:gd name="T1" fmla="*/ 45 h 136"/>
                <a:gd name="T2" fmla="*/ 46 w 46"/>
                <a:gd name="T3" fmla="*/ 136 h 136"/>
                <a:gd name="T4" fmla="*/ 46 w 46"/>
                <a:gd name="T5" fmla="*/ 0 h 136"/>
                <a:gd name="T6" fmla="*/ 0 60000 65536"/>
                <a:gd name="T7" fmla="*/ 0 60000 65536"/>
                <a:gd name="T8" fmla="*/ 0 60000 65536"/>
              </a:gdLst>
              <a:ahLst/>
              <a:cxnLst>
                <a:cxn ang="T6">
                  <a:pos x="T0" y="T1"/>
                </a:cxn>
                <a:cxn ang="T7">
                  <a:pos x="T2" y="T3"/>
                </a:cxn>
                <a:cxn ang="T8">
                  <a:pos x="T4" y="T5"/>
                </a:cxn>
              </a:cxnLst>
              <a:rect l="0" t="0" r="r" b="b"/>
              <a:pathLst>
                <a:path w="46" h="136">
                  <a:moveTo>
                    <a:pt x="0" y="45"/>
                  </a:moveTo>
                  <a:lnTo>
                    <a:pt x="46" y="136"/>
                  </a:lnTo>
                  <a:lnTo>
                    <a:pt x="46" y="0"/>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80" name="Line 43"/>
            <p:cNvSpPr>
              <a:spLocks noChangeShapeType="1"/>
            </p:cNvSpPr>
            <p:nvPr/>
          </p:nvSpPr>
          <p:spPr bwMode="auto">
            <a:xfrm flipV="1">
              <a:off x="2472" y="2523"/>
              <a:ext cx="45" cy="9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16123" name="Text Box 44"/>
          <p:cNvSpPr txBox="1">
            <a:spLocks noChangeArrowheads="1"/>
          </p:cNvSpPr>
          <p:nvPr/>
        </p:nvSpPr>
        <p:spPr bwMode="auto">
          <a:xfrm>
            <a:off x="4643438" y="2781300"/>
            <a:ext cx="936625" cy="430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60000"/>
              </a:lnSpc>
              <a:spcBef>
                <a:spcPct val="50000"/>
              </a:spcBef>
              <a:buFontTx/>
              <a:buNone/>
            </a:pPr>
            <a:r>
              <a:rPr lang="en-US" altLang="en-US" sz="1300"/>
              <a:t>3 bar</a:t>
            </a:r>
          </a:p>
          <a:p>
            <a:pPr>
              <a:lnSpc>
                <a:spcPct val="60000"/>
              </a:lnSpc>
              <a:spcBef>
                <a:spcPct val="50000"/>
              </a:spcBef>
              <a:buFontTx/>
              <a:buNone/>
            </a:pPr>
            <a:r>
              <a:rPr lang="en-US" altLang="en-US" sz="1300"/>
              <a:t>Steam</a:t>
            </a:r>
            <a:endParaRPr lang="th-TH" altLang="en-US" sz="1300"/>
          </a:p>
        </p:txBody>
      </p:sp>
      <p:grpSp>
        <p:nvGrpSpPr>
          <p:cNvPr id="516124" name="Group 45"/>
          <p:cNvGrpSpPr>
            <a:grpSpLocks/>
          </p:cNvGrpSpPr>
          <p:nvPr/>
        </p:nvGrpSpPr>
        <p:grpSpPr bwMode="auto">
          <a:xfrm>
            <a:off x="5421313" y="2478088"/>
            <a:ext cx="649287" cy="922337"/>
            <a:chOff x="2426" y="1525"/>
            <a:chExt cx="409" cy="581"/>
          </a:xfrm>
        </p:grpSpPr>
        <p:sp>
          <p:nvSpPr>
            <p:cNvPr id="516177" name="Rectangle 46"/>
            <p:cNvSpPr>
              <a:spLocks noChangeArrowheads="1"/>
            </p:cNvSpPr>
            <p:nvPr/>
          </p:nvSpPr>
          <p:spPr bwMode="auto">
            <a:xfrm>
              <a:off x="2426" y="1525"/>
              <a:ext cx="409" cy="408"/>
            </a:xfrm>
            <a:prstGeom prst="rect">
              <a:avLst/>
            </a:prstGeom>
            <a:solidFill>
              <a:srgbClr val="FF505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6178" name="AutoShape 47"/>
            <p:cNvSpPr>
              <a:spLocks noChangeArrowheads="1"/>
            </p:cNvSpPr>
            <p:nvPr/>
          </p:nvSpPr>
          <p:spPr bwMode="auto">
            <a:xfrm rot="10800000">
              <a:off x="2426" y="1924"/>
              <a:ext cx="409" cy="182"/>
            </a:xfrm>
            <a:prstGeom prst="triangle">
              <a:avLst>
                <a:gd name="adj" fmla="val 50000"/>
              </a:avLst>
            </a:prstGeom>
            <a:solidFill>
              <a:srgbClr val="FF5050"/>
            </a:solidFill>
            <a:ln>
              <a:noFill/>
            </a:ln>
            <a:effectLst/>
            <a:extLs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sp>
        <p:nvSpPr>
          <p:cNvPr id="516125" name="Line 48"/>
          <p:cNvSpPr>
            <a:spLocks noChangeShapeType="1"/>
          </p:cNvSpPr>
          <p:nvPr/>
        </p:nvSpPr>
        <p:spPr bwMode="auto">
          <a:xfrm flipV="1">
            <a:off x="5753100" y="2608263"/>
            <a:ext cx="0" cy="792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26" name="Freeform 49"/>
          <p:cNvSpPr>
            <a:spLocks/>
          </p:cNvSpPr>
          <p:nvPr/>
        </p:nvSpPr>
        <p:spPr bwMode="auto">
          <a:xfrm>
            <a:off x="5649913" y="2565400"/>
            <a:ext cx="203200" cy="215900"/>
          </a:xfrm>
          <a:custGeom>
            <a:avLst/>
            <a:gdLst>
              <a:gd name="T0" fmla="*/ 0 w 91"/>
              <a:gd name="T1" fmla="*/ 0 h 91"/>
              <a:gd name="T2" fmla="*/ 2147483646 w 91"/>
              <a:gd name="T3" fmla="*/ 2147483646 h 91"/>
              <a:gd name="T4" fmla="*/ 2147483646 w 91"/>
              <a:gd name="T5" fmla="*/ 0 h 91"/>
              <a:gd name="T6" fmla="*/ 0 60000 65536"/>
              <a:gd name="T7" fmla="*/ 0 60000 65536"/>
              <a:gd name="T8" fmla="*/ 0 60000 65536"/>
            </a:gdLst>
            <a:ahLst/>
            <a:cxnLst>
              <a:cxn ang="T6">
                <a:pos x="T0" y="T1"/>
              </a:cxn>
              <a:cxn ang="T7">
                <a:pos x="T2" y="T3"/>
              </a:cxn>
              <a:cxn ang="T8">
                <a:pos x="T4" y="T5"/>
              </a:cxn>
            </a:cxnLst>
            <a:rect l="0" t="0" r="r" b="b"/>
            <a:pathLst>
              <a:path w="91" h="91">
                <a:moveTo>
                  <a:pt x="0" y="0"/>
                </a:moveTo>
                <a:lnTo>
                  <a:pt x="46" y="91"/>
                </a:lnTo>
                <a:lnTo>
                  <a:pt x="91" y="0"/>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27" name="Freeform 50"/>
          <p:cNvSpPr>
            <a:spLocks/>
          </p:cNvSpPr>
          <p:nvPr/>
        </p:nvSpPr>
        <p:spPr bwMode="auto">
          <a:xfrm>
            <a:off x="5624513" y="2708275"/>
            <a:ext cx="244475" cy="231775"/>
          </a:xfrm>
          <a:custGeom>
            <a:avLst/>
            <a:gdLst>
              <a:gd name="T0" fmla="*/ 0 w 91"/>
              <a:gd name="T1" fmla="*/ 0 h 91"/>
              <a:gd name="T2" fmla="*/ 2147483646 w 91"/>
              <a:gd name="T3" fmla="*/ 2147483646 h 91"/>
              <a:gd name="T4" fmla="*/ 2147483646 w 91"/>
              <a:gd name="T5" fmla="*/ 0 h 91"/>
              <a:gd name="T6" fmla="*/ 0 60000 65536"/>
              <a:gd name="T7" fmla="*/ 0 60000 65536"/>
              <a:gd name="T8" fmla="*/ 0 60000 65536"/>
            </a:gdLst>
            <a:ahLst/>
            <a:cxnLst>
              <a:cxn ang="T6">
                <a:pos x="T0" y="T1"/>
              </a:cxn>
              <a:cxn ang="T7">
                <a:pos x="T2" y="T3"/>
              </a:cxn>
              <a:cxn ang="T8">
                <a:pos x="T4" y="T5"/>
              </a:cxn>
            </a:cxnLst>
            <a:rect l="0" t="0" r="r" b="b"/>
            <a:pathLst>
              <a:path w="91" h="91">
                <a:moveTo>
                  <a:pt x="0" y="0"/>
                </a:moveTo>
                <a:lnTo>
                  <a:pt x="46" y="91"/>
                </a:lnTo>
                <a:lnTo>
                  <a:pt x="91" y="0"/>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28" name="Freeform 51"/>
          <p:cNvSpPr>
            <a:spLocks/>
          </p:cNvSpPr>
          <p:nvPr/>
        </p:nvSpPr>
        <p:spPr bwMode="auto">
          <a:xfrm>
            <a:off x="5624513" y="2924175"/>
            <a:ext cx="244475" cy="201613"/>
          </a:xfrm>
          <a:custGeom>
            <a:avLst/>
            <a:gdLst>
              <a:gd name="T0" fmla="*/ 0 w 91"/>
              <a:gd name="T1" fmla="*/ 0 h 91"/>
              <a:gd name="T2" fmla="*/ 2147483646 w 91"/>
              <a:gd name="T3" fmla="*/ 2147483646 h 91"/>
              <a:gd name="T4" fmla="*/ 2147483646 w 91"/>
              <a:gd name="T5" fmla="*/ 0 h 91"/>
              <a:gd name="T6" fmla="*/ 0 60000 65536"/>
              <a:gd name="T7" fmla="*/ 0 60000 65536"/>
              <a:gd name="T8" fmla="*/ 0 60000 65536"/>
            </a:gdLst>
            <a:ahLst/>
            <a:cxnLst>
              <a:cxn ang="T6">
                <a:pos x="T0" y="T1"/>
              </a:cxn>
              <a:cxn ang="T7">
                <a:pos x="T2" y="T3"/>
              </a:cxn>
              <a:cxn ang="T8">
                <a:pos x="T4" y="T5"/>
              </a:cxn>
            </a:cxnLst>
            <a:rect l="0" t="0" r="r" b="b"/>
            <a:pathLst>
              <a:path w="91" h="91">
                <a:moveTo>
                  <a:pt x="0" y="0"/>
                </a:moveTo>
                <a:lnTo>
                  <a:pt x="46" y="91"/>
                </a:lnTo>
                <a:lnTo>
                  <a:pt x="91" y="0"/>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29" name="Rectangle 52"/>
          <p:cNvSpPr>
            <a:spLocks noChangeArrowheads="1"/>
          </p:cNvSpPr>
          <p:nvPr/>
        </p:nvSpPr>
        <p:spPr bwMode="auto">
          <a:xfrm>
            <a:off x="6948488" y="2349500"/>
            <a:ext cx="1008062" cy="792163"/>
          </a:xfrm>
          <a:prstGeom prst="rect">
            <a:avLst/>
          </a:prstGeom>
          <a:solidFill>
            <a:srgbClr val="FF5050"/>
          </a:solidFill>
          <a:ln>
            <a:noFill/>
          </a:ln>
          <a:effectLst/>
          <a:extLs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6130" name="Rectangle 53"/>
          <p:cNvSpPr>
            <a:spLocks noChangeArrowheads="1"/>
          </p:cNvSpPr>
          <p:nvPr/>
        </p:nvSpPr>
        <p:spPr bwMode="auto">
          <a:xfrm>
            <a:off x="7092950" y="4652963"/>
            <a:ext cx="1008063" cy="792162"/>
          </a:xfrm>
          <a:prstGeom prst="rect">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400"/>
              <a:t>Dissolving</a:t>
            </a:r>
          </a:p>
          <a:p>
            <a:pPr algn="ctr">
              <a:spcBef>
                <a:spcPct val="0"/>
              </a:spcBef>
              <a:buFontTx/>
              <a:buNone/>
            </a:pPr>
            <a:r>
              <a:rPr lang="en-US" altLang="en-US" sz="1400"/>
              <a:t>Tank</a:t>
            </a:r>
            <a:endParaRPr lang="th-TH" altLang="en-US" sz="1400"/>
          </a:p>
        </p:txBody>
      </p:sp>
      <p:grpSp>
        <p:nvGrpSpPr>
          <p:cNvPr id="516131" name="Group 54"/>
          <p:cNvGrpSpPr>
            <a:grpSpLocks/>
          </p:cNvGrpSpPr>
          <p:nvPr/>
        </p:nvGrpSpPr>
        <p:grpSpPr bwMode="auto">
          <a:xfrm rot="10800000">
            <a:off x="4356100" y="3760788"/>
            <a:ext cx="298450" cy="336550"/>
            <a:chOff x="1337" y="2613"/>
            <a:chExt cx="228" cy="227"/>
          </a:xfrm>
        </p:grpSpPr>
        <p:sp>
          <p:nvSpPr>
            <p:cNvPr id="516175" name="Oval 55"/>
            <p:cNvSpPr>
              <a:spLocks noChangeArrowheads="1"/>
            </p:cNvSpPr>
            <p:nvPr/>
          </p:nvSpPr>
          <p:spPr bwMode="auto">
            <a:xfrm rot="-5400000">
              <a:off x="1338" y="2613"/>
              <a:ext cx="227" cy="227"/>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6176" name="AutoShape 56"/>
            <p:cNvSpPr>
              <a:spLocks noChangeArrowheads="1"/>
            </p:cNvSpPr>
            <p:nvPr/>
          </p:nvSpPr>
          <p:spPr bwMode="auto">
            <a:xfrm rot="-5400000">
              <a:off x="1337" y="2641"/>
              <a:ext cx="181" cy="182"/>
            </a:xfrm>
            <a:prstGeom prst="triangle">
              <a:avLst>
                <a:gd name="adj" fmla="val 50000"/>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grpSp>
        <p:nvGrpSpPr>
          <p:cNvPr id="516132" name="Group 57"/>
          <p:cNvGrpSpPr>
            <a:grpSpLocks/>
          </p:cNvGrpSpPr>
          <p:nvPr/>
        </p:nvGrpSpPr>
        <p:grpSpPr bwMode="auto">
          <a:xfrm>
            <a:off x="6216650" y="5013325"/>
            <a:ext cx="300038" cy="336550"/>
            <a:chOff x="1337" y="2613"/>
            <a:chExt cx="228" cy="227"/>
          </a:xfrm>
        </p:grpSpPr>
        <p:sp>
          <p:nvSpPr>
            <p:cNvPr id="516173" name="Oval 58"/>
            <p:cNvSpPr>
              <a:spLocks noChangeArrowheads="1"/>
            </p:cNvSpPr>
            <p:nvPr/>
          </p:nvSpPr>
          <p:spPr bwMode="auto">
            <a:xfrm rot="-5400000">
              <a:off x="1338" y="2613"/>
              <a:ext cx="227" cy="227"/>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6174" name="AutoShape 59"/>
            <p:cNvSpPr>
              <a:spLocks noChangeArrowheads="1"/>
            </p:cNvSpPr>
            <p:nvPr/>
          </p:nvSpPr>
          <p:spPr bwMode="auto">
            <a:xfrm rot="-5400000">
              <a:off x="1337" y="2641"/>
              <a:ext cx="181" cy="182"/>
            </a:xfrm>
            <a:prstGeom prst="triangle">
              <a:avLst>
                <a:gd name="adj" fmla="val 50000"/>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grpSp>
        <p:nvGrpSpPr>
          <p:cNvPr id="516133" name="Group 60"/>
          <p:cNvGrpSpPr>
            <a:grpSpLocks/>
          </p:cNvGrpSpPr>
          <p:nvPr/>
        </p:nvGrpSpPr>
        <p:grpSpPr bwMode="auto">
          <a:xfrm>
            <a:off x="3924300" y="1700213"/>
            <a:ext cx="239713" cy="268287"/>
            <a:chOff x="1519" y="2614"/>
            <a:chExt cx="182" cy="181"/>
          </a:xfrm>
        </p:grpSpPr>
        <p:sp>
          <p:nvSpPr>
            <p:cNvPr id="516170" name="Freeform 61"/>
            <p:cNvSpPr>
              <a:spLocks/>
            </p:cNvSpPr>
            <p:nvPr/>
          </p:nvSpPr>
          <p:spPr bwMode="auto">
            <a:xfrm>
              <a:off x="1519" y="2614"/>
              <a:ext cx="91" cy="181"/>
            </a:xfrm>
            <a:custGeom>
              <a:avLst/>
              <a:gdLst>
                <a:gd name="T0" fmla="*/ 0 w 91"/>
                <a:gd name="T1" fmla="*/ 0 h 181"/>
                <a:gd name="T2" fmla="*/ 91 w 91"/>
                <a:gd name="T3" fmla="*/ 0 h 181"/>
                <a:gd name="T4" fmla="*/ 0 w 91"/>
                <a:gd name="T5" fmla="*/ 181 h 181"/>
                <a:gd name="T6" fmla="*/ 91 w 91"/>
                <a:gd name="T7" fmla="*/ 181 h 181"/>
                <a:gd name="T8" fmla="*/ 0 w 91"/>
                <a:gd name="T9" fmla="*/ 0 h 1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 h="181">
                  <a:moveTo>
                    <a:pt x="0" y="0"/>
                  </a:moveTo>
                  <a:lnTo>
                    <a:pt x="91" y="0"/>
                  </a:lnTo>
                  <a:lnTo>
                    <a:pt x="0" y="181"/>
                  </a:lnTo>
                  <a:lnTo>
                    <a:pt x="91" y="181"/>
                  </a:lnTo>
                  <a:lnTo>
                    <a:pt x="0" y="0"/>
                  </a:lnTo>
                  <a:close/>
                </a:path>
              </a:pathLst>
            </a:custGeom>
            <a:solidFill>
              <a:schemeClr val="hlink"/>
            </a:solidFill>
            <a:ln w="9525" cap="flat"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71" name="AutoShape 62"/>
            <p:cNvSpPr>
              <a:spLocks noChangeArrowheads="1"/>
            </p:cNvSpPr>
            <p:nvPr/>
          </p:nvSpPr>
          <p:spPr bwMode="auto">
            <a:xfrm>
              <a:off x="1655" y="2659"/>
              <a:ext cx="46" cy="90"/>
            </a:xfrm>
            <a:prstGeom prst="flowChartDelay">
              <a:avLst/>
            </a:prstGeom>
            <a:solidFill>
              <a:schemeClr val="hlink"/>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6172" name="Line 63"/>
            <p:cNvSpPr>
              <a:spLocks noChangeShapeType="1"/>
            </p:cNvSpPr>
            <p:nvPr/>
          </p:nvSpPr>
          <p:spPr bwMode="auto">
            <a:xfrm>
              <a:off x="1565" y="2704"/>
              <a:ext cx="9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16134" name="Group 64"/>
          <p:cNvGrpSpPr>
            <a:grpSpLocks/>
          </p:cNvGrpSpPr>
          <p:nvPr/>
        </p:nvGrpSpPr>
        <p:grpSpPr bwMode="auto">
          <a:xfrm>
            <a:off x="8675688" y="1700213"/>
            <a:ext cx="238125" cy="268287"/>
            <a:chOff x="1519" y="2614"/>
            <a:chExt cx="182" cy="181"/>
          </a:xfrm>
        </p:grpSpPr>
        <p:sp>
          <p:nvSpPr>
            <p:cNvPr id="516167" name="Freeform 65"/>
            <p:cNvSpPr>
              <a:spLocks/>
            </p:cNvSpPr>
            <p:nvPr/>
          </p:nvSpPr>
          <p:spPr bwMode="auto">
            <a:xfrm>
              <a:off x="1519" y="2614"/>
              <a:ext cx="91" cy="181"/>
            </a:xfrm>
            <a:custGeom>
              <a:avLst/>
              <a:gdLst>
                <a:gd name="T0" fmla="*/ 0 w 91"/>
                <a:gd name="T1" fmla="*/ 0 h 181"/>
                <a:gd name="T2" fmla="*/ 91 w 91"/>
                <a:gd name="T3" fmla="*/ 0 h 181"/>
                <a:gd name="T4" fmla="*/ 0 w 91"/>
                <a:gd name="T5" fmla="*/ 181 h 181"/>
                <a:gd name="T6" fmla="*/ 91 w 91"/>
                <a:gd name="T7" fmla="*/ 181 h 181"/>
                <a:gd name="T8" fmla="*/ 0 w 91"/>
                <a:gd name="T9" fmla="*/ 0 h 1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 h="181">
                  <a:moveTo>
                    <a:pt x="0" y="0"/>
                  </a:moveTo>
                  <a:lnTo>
                    <a:pt x="91" y="0"/>
                  </a:lnTo>
                  <a:lnTo>
                    <a:pt x="0" y="181"/>
                  </a:lnTo>
                  <a:lnTo>
                    <a:pt x="91" y="181"/>
                  </a:lnTo>
                  <a:lnTo>
                    <a:pt x="0" y="0"/>
                  </a:lnTo>
                  <a:close/>
                </a:path>
              </a:pathLst>
            </a:custGeom>
            <a:solidFill>
              <a:schemeClr val="hlink"/>
            </a:solidFill>
            <a:ln w="9525" cap="flat"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68" name="AutoShape 66"/>
            <p:cNvSpPr>
              <a:spLocks noChangeArrowheads="1"/>
            </p:cNvSpPr>
            <p:nvPr/>
          </p:nvSpPr>
          <p:spPr bwMode="auto">
            <a:xfrm>
              <a:off x="1655" y="2659"/>
              <a:ext cx="46" cy="90"/>
            </a:xfrm>
            <a:prstGeom prst="flowChartDelay">
              <a:avLst/>
            </a:prstGeom>
            <a:solidFill>
              <a:schemeClr val="hlink"/>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16169" name="Line 67"/>
            <p:cNvSpPr>
              <a:spLocks noChangeShapeType="1"/>
            </p:cNvSpPr>
            <p:nvPr/>
          </p:nvSpPr>
          <p:spPr bwMode="auto">
            <a:xfrm>
              <a:off x="1565" y="2704"/>
              <a:ext cx="9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16135" name="Freeform 68"/>
          <p:cNvSpPr>
            <a:spLocks/>
          </p:cNvSpPr>
          <p:nvPr/>
        </p:nvSpPr>
        <p:spPr bwMode="auto">
          <a:xfrm>
            <a:off x="684213" y="1268413"/>
            <a:ext cx="3311525" cy="576262"/>
          </a:xfrm>
          <a:custGeom>
            <a:avLst/>
            <a:gdLst>
              <a:gd name="T0" fmla="*/ 0 w 2086"/>
              <a:gd name="T1" fmla="*/ 2147483646 h 363"/>
              <a:gd name="T2" fmla="*/ 0 w 2086"/>
              <a:gd name="T3" fmla="*/ 0 h 363"/>
              <a:gd name="T4" fmla="*/ 2147483646 w 2086"/>
              <a:gd name="T5" fmla="*/ 0 h 363"/>
              <a:gd name="T6" fmla="*/ 2147483646 w 2086"/>
              <a:gd name="T7" fmla="*/ 2147483646 h 36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86" h="363">
                <a:moveTo>
                  <a:pt x="0" y="363"/>
                </a:moveTo>
                <a:lnTo>
                  <a:pt x="0" y="0"/>
                </a:lnTo>
                <a:lnTo>
                  <a:pt x="2086" y="0"/>
                </a:lnTo>
                <a:lnTo>
                  <a:pt x="2086" y="272"/>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36" name="Line 69"/>
          <p:cNvSpPr>
            <a:spLocks noChangeShapeType="1"/>
          </p:cNvSpPr>
          <p:nvPr/>
        </p:nvSpPr>
        <p:spPr bwMode="auto">
          <a:xfrm>
            <a:off x="3995738" y="1989138"/>
            <a:ext cx="0" cy="431800"/>
          </a:xfrm>
          <a:prstGeom prst="line">
            <a:avLst/>
          </a:prstGeom>
          <a:noFill/>
          <a:ln w="9525">
            <a:solidFill>
              <a:schemeClr val="tx1"/>
            </a:solidFill>
            <a:round/>
            <a:headE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37" name="Line 70"/>
          <p:cNvSpPr>
            <a:spLocks noChangeShapeType="1"/>
          </p:cNvSpPr>
          <p:nvPr/>
        </p:nvSpPr>
        <p:spPr bwMode="auto">
          <a:xfrm>
            <a:off x="6084888" y="2708275"/>
            <a:ext cx="10080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16138" name="Group 71"/>
          <p:cNvGrpSpPr>
            <a:grpSpLocks/>
          </p:cNvGrpSpPr>
          <p:nvPr/>
        </p:nvGrpSpPr>
        <p:grpSpPr bwMode="auto">
          <a:xfrm>
            <a:off x="7092950" y="2593975"/>
            <a:ext cx="287338" cy="233363"/>
            <a:chOff x="2776" y="2993"/>
            <a:chExt cx="104" cy="192"/>
          </a:xfrm>
        </p:grpSpPr>
        <p:sp>
          <p:nvSpPr>
            <p:cNvPr id="516165" name="Freeform 72"/>
            <p:cNvSpPr>
              <a:spLocks/>
            </p:cNvSpPr>
            <p:nvPr/>
          </p:nvSpPr>
          <p:spPr bwMode="auto">
            <a:xfrm>
              <a:off x="2776" y="2993"/>
              <a:ext cx="104" cy="95"/>
            </a:xfrm>
            <a:custGeom>
              <a:avLst/>
              <a:gdLst>
                <a:gd name="T0" fmla="*/ 95 w 104"/>
                <a:gd name="T1" fmla="*/ 0 h 95"/>
                <a:gd name="T2" fmla="*/ 0 w 104"/>
                <a:gd name="T3" fmla="*/ 95 h 95"/>
                <a:gd name="T4" fmla="*/ 104 w 104"/>
                <a:gd name="T5" fmla="*/ 95 h 95"/>
                <a:gd name="T6" fmla="*/ 0 60000 65536"/>
                <a:gd name="T7" fmla="*/ 0 60000 65536"/>
                <a:gd name="T8" fmla="*/ 0 60000 65536"/>
              </a:gdLst>
              <a:ahLst/>
              <a:cxnLst>
                <a:cxn ang="T6">
                  <a:pos x="T0" y="T1"/>
                </a:cxn>
                <a:cxn ang="T7">
                  <a:pos x="T2" y="T3"/>
                </a:cxn>
                <a:cxn ang="T8">
                  <a:pos x="T4" y="T5"/>
                </a:cxn>
              </a:cxnLst>
              <a:rect l="0" t="0" r="r" b="b"/>
              <a:pathLst>
                <a:path w="104" h="95">
                  <a:moveTo>
                    <a:pt x="95" y="0"/>
                  </a:moveTo>
                  <a:cubicBezTo>
                    <a:pt x="58" y="28"/>
                    <a:pt x="33" y="62"/>
                    <a:pt x="0" y="95"/>
                  </a:cubicBezTo>
                  <a:lnTo>
                    <a:pt x="104" y="95"/>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66" name="Line 73"/>
            <p:cNvSpPr>
              <a:spLocks noChangeShapeType="1"/>
            </p:cNvSpPr>
            <p:nvPr/>
          </p:nvSpPr>
          <p:spPr bwMode="auto">
            <a:xfrm>
              <a:off x="2780" y="3094"/>
              <a:ext cx="73" cy="9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16139" name="Freeform 74"/>
          <p:cNvSpPr>
            <a:spLocks/>
          </p:cNvSpPr>
          <p:nvPr/>
        </p:nvSpPr>
        <p:spPr bwMode="auto">
          <a:xfrm>
            <a:off x="4356100" y="1268413"/>
            <a:ext cx="4392613" cy="1152525"/>
          </a:xfrm>
          <a:custGeom>
            <a:avLst/>
            <a:gdLst>
              <a:gd name="T0" fmla="*/ 0 w 2767"/>
              <a:gd name="T1" fmla="*/ 2147483646 h 726"/>
              <a:gd name="T2" fmla="*/ 0 w 2767"/>
              <a:gd name="T3" fmla="*/ 0 h 726"/>
              <a:gd name="T4" fmla="*/ 2147483646 w 2767"/>
              <a:gd name="T5" fmla="*/ 0 h 726"/>
              <a:gd name="T6" fmla="*/ 2147483646 w 2767"/>
              <a:gd name="T7" fmla="*/ 2147483646 h 72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67" h="726">
                <a:moveTo>
                  <a:pt x="0" y="726"/>
                </a:moveTo>
                <a:lnTo>
                  <a:pt x="0" y="0"/>
                </a:lnTo>
                <a:lnTo>
                  <a:pt x="2767" y="0"/>
                </a:lnTo>
                <a:lnTo>
                  <a:pt x="2767" y="272"/>
                </a:lnTo>
              </a:path>
            </a:pathLst>
          </a:custGeom>
          <a:noFill/>
          <a:ln w="9525" cap="flat" cmpd="sng">
            <a:solidFill>
              <a:schemeClr val="tx1"/>
            </a:solidFill>
            <a:prstDash val="solid"/>
            <a:round/>
            <a:headEnd type="triangle" w="lg" len="lg"/>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40" name="Freeform 75"/>
          <p:cNvSpPr>
            <a:spLocks/>
          </p:cNvSpPr>
          <p:nvPr/>
        </p:nvSpPr>
        <p:spPr bwMode="auto">
          <a:xfrm>
            <a:off x="6516688" y="1989138"/>
            <a:ext cx="2232025" cy="1584325"/>
          </a:xfrm>
          <a:custGeom>
            <a:avLst/>
            <a:gdLst>
              <a:gd name="T0" fmla="*/ 2147483646 w 1406"/>
              <a:gd name="T1" fmla="*/ 0 h 998"/>
              <a:gd name="T2" fmla="*/ 2147483646 w 1406"/>
              <a:gd name="T3" fmla="*/ 2147483646 h 998"/>
              <a:gd name="T4" fmla="*/ 0 w 1406"/>
              <a:gd name="T5" fmla="*/ 2147483646 h 998"/>
              <a:gd name="T6" fmla="*/ 0 w 1406"/>
              <a:gd name="T7" fmla="*/ 2147483646 h 9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06" h="998">
                <a:moveTo>
                  <a:pt x="1406" y="0"/>
                </a:moveTo>
                <a:lnTo>
                  <a:pt x="1406" y="998"/>
                </a:lnTo>
                <a:lnTo>
                  <a:pt x="0" y="998"/>
                </a:lnTo>
                <a:lnTo>
                  <a:pt x="0" y="453"/>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41" name="Line 76"/>
          <p:cNvSpPr>
            <a:spLocks noChangeShapeType="1"/>
          </p:cNvSpPr>
          <p:nvPr/>
        </p:nvSpPr>
        <p:spPr bwMode="auto">
          <a:xfrm>
            <a:off x="7740650" y="2565400"/>
            <a:ext cx="10080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42" name="Line 77"/>
          <p:cNvSpPr>
            <a:spLocks noChangeShapeType="1"/>
          </p:cNvSpPr>
          <p:nvPr/>
        </p:nvSpPr>
        <p:spPr bwMode="auto">
          <a:xfrm>
            <a:off x="7740650" y="2924175"/>
            <a:ext cx="3603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16143" name="Group 78"/>
          <p:cNvGrpSpPr>
            <a:grpSpLocks/>
          </p:cNvGrpSpPr>
          <p:nvPr/>
        </p:nvGrpSpPr>
        <p:grpSpPr bwMode="auto">
          <a:xfrm flipH="1">
            <a:off x="7480300" y="2449513"/>
            <a:ext cx="266700" cy="231775"/>
            <a:chOff x="2776" y="2993"/>
            <a:chExt cx="104" cy="192"/>
          </a:xfrm>
        </p:grpSpPr>
        <p:sp>
          <p:nvSpPr>
            <p:cNvPr id="516163" name="Freeform 79"/>
            <p:cNvSpPr>
              <a:spLocks/>
            </p:cNvSpPr>
            <p:nvPr/>
          </p:nvSpPr>
          <p:spPr bwMode="auto">
            <a:xfrm>
              <a:off x="2776" y="2993"/>
              <a:ext cx="104" cy="95"/>
            </a:xfrm>
            <a:custGeom>
              <a:avLst/>
              <a:gdLst>
                <a:gd name="T0" fmla="*/ 95 w 104"/>
                <a:gd name="T1" fmla="*/ 0 h 95"/>
                <a:gd name="T2" fmla="*/ 0 w 104"/>
                <a:gd name="T3" fmla="*/ 95 h 95"/>
                <a:gd name="T4" fmla="*/ 104 w 104"/>
                <a:gd name="T5" fmla="*/ 95 h 95"/>
                <a:gd name="T6" fmla="*/ 0 60000 65536"/>
                <a:gd name="T7" fmla="*/ 0 60000 65536"/>
                <a:gd name="T8" fmla="*/ 0 60000 65536"/>
              </a:gdLst>
              <a:ahLst/>
              <a:cxnLst>
                <a:cxn ang="T6">
                  <a:pos x="T0" y="T1"/>
                </a:cxn>
                <a:cxn ang="T7">
                  <a:pos x="T2" y="T3"/>
                </a:cxn>
                <a:cxn ang="T8">
                  <a:pos x="T4" y="T5"/>
                </a:cxn>
              </a:cxnLst>
              <a:rect l="0" t="0" r="r" b="b"/>
              <a:pathLst>
                <a:path w="104" h="95">
                  <a:moveTo>
                    <a:pt x="95" y="0"/>
                  </a:moveTo>
                  <a:cubicBezTo>
                    <a:pt x="58" y="28"/>
                    <a:pt x="33" y="62"/>
                    <a:pt x="0" y="95"/>
                  </a:cubicBezTo>
                  <a:lnTo>
                    <a:pt x="104" y="95"/>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64" name="Line 80"/>
            <p:cNvSpPr>
              <a:spLocks noChangeShapeType="1"/>
            </p:cNvSpPr>
            <p:nvPr/>
          </p:nvSpPr>
          <p:spPr bwMode="auto">
            <a:xfrm>
              <a:off x="2780" y="3094"/>
              <a:ext cx="73" cy="9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16144" name="Group 81"/>
          <p:cNvGrpSpPr>
            <a:grpSpLocks/>
          </p:cNvGrpSpPr>
          <p:nvPr/>
        </p:nvGrpSpPr>
        <p:grpSpPr bwMode="auto">
          <a:xfrm flipH="1">
            <a:off x="7524750" y="2809875"/>
            <a:ext cx="266700" cy="231775"/>
            <a:chOff x="2776" y="2993"/>
            <a:chExt cx="104" cy="192"/>
          </a:xfrm>
        </p:grpSpPr>
        <p:sp>
          <p:nvSpPr>
            <p:cNvPr id="516161" name="Freeform 82"/>
            <p:cNvSpPr>
              <a:spLocks/>
            </p:cNvSpPr>
            <p:nvPr/>
          </p:nvSpPr>
          <p:spPr bwMode="auto">
            <a:xfrm>
              <a:off x="2776" y="2993"/>
              <a:ext cx="104" cy="95"/>
            </a:xfrm>
            <a:custGeom>
              <a:avLst/>
              <a:gdLst>
                <a:gd name="T0" fmla="*/ 95 w 104"/>
                <a:gd name="T1" fmla="*/ 0 h 95"/>
                <a:gd name="T2" fmla="*/ 0 w 104"/>
                <a:gd name="T3" fmla="*/ 95 h 95"/>
                <a:gd name="T4" fmla="*/ 104 w 104"/>
                <a:gd name="T5" fmla="*/ 95 h 95"/>
                <a:gd name="T6" fmla="*/ 0 60000 65536"/>
                <a:gd name="T7" fmla="*/ 0 60000 65536"/>
                <a:gd name="T8" fmla="*/ 0 60000 65536"/>
              </a:gdLst>
              <a:ahLst/>
              <a:cxnLst>
                <a:cxn ang="T6">
                  <a:pos x="T0" y="T1"/>
                </a:cxn>
                <a:cxn ang="T7">
                  <a:pos x="T2" y="T3"/>
                </a:cxn>
                <a:cxn ang="T8">
                  <a:pos x="T4" y="T5"/>
                </a:cxn>
              </a:cxnLst>
              <a:rect l="0" t="0" r="r" b="b"/>
              <a:pathLst>
                <a:path w="104" h="95">
                  <a:moveTo>
                    <a:pt x="95" y="0"/>
                  </a:moveTo>
                  <a:cubicBezTo>
                    <a:pt x="58" y="28"/>
                    <a:pt x="33" y="62"/>
                    <a:pt x="0" y="95"/>
                  </a:cubicBezTo>
                  <a:lnTo>
                    <a:pt x="104" y="95"/>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62" name="Line 83"/>
            <p:cNvSpPr>
              <a:spLocks noChangeShapeType="1"/>
            </p:cNvSpPr>
            <p:nvPr/>
          </p:nvSpPr>
          <p:spPr bwMode="auto">
            <a:xfrm>
              <a:off x="2780" y="3094"/>
              <a:ext cx="73" cy="9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16145" name="Rectangle 84"/>
          <p:cNvSpPr>
            <a:spLocks noChangeArrowheads="1"/>
          </p:cNvSpPr>
          <p:nvPr/>
        </p:nvSpPr>
        <p:spPr bwMode="auto">
          <a:xfrm>
            <a:off x="8075613" y="2708275"/>
            <a:ext cx="74453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70000"/>
              </a:lnSpc>
              <a:spcBef>
                <a:spcPct val="30000"/>
              </a:spcBef>
              <a:buFontTx/>
              <a:buNone/>
            </a:pPr>
            <a:r>
              <a:rPr lang="th-TH" altLang="en-US" sz="2000"/>
              <a:t>น้ำมันเตา</a:t>
            </a:r>
          </a:p>
        </p:txBody>
      </p:sp>
      <p:sp>
        <p:nvSpPr>
          <p:cNvPr id="516146" name="Text Box 85"/>
          <p:cNvSpPr txBox="1">
            <a:spLocks noChangeArrowheads="1"/>
          </p:cNvSpPr>
          <p:nvPr/>
        </p:nvSpPr>
        <p:spPr bwMode="auto">
          <a:xfrm>
            <a:off x="6805613" y="3213100"/>
            <a:ext cx="935037" cy="211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60000"/>
              </a:lnSpc>
              <a:spcBef>
                <a:spcPct val="50000"/>
              </a:spcBef>
              <a:buFontTx/>
              <a:buNone/>
            </a:pPr>
            <a:r>
              <a:rPr lang="en-US" altLang="en-US" sz="1300"/>
              <a:t>Furnace</a:t>
            </a:r>
            <a:endParaRPr lang="th-TH" altLang="en-US" sz="1300"/>
          </a:p>
        </p:txBody>
      </p:sp>
      <p:sp>
        <p:nvSpPr>
          <p:cNvPr id="516147" name="Line 86"/>
          <p:cNvSpPr>
            <a:spLocks noChangeShapeType="1"/>
          </p:cNvSpPr>
          <p:nvPr/>
        </p:nvSpPr>
        <p:spPr bwMode="auto">
          <a:xfrm>
            <a:off x="5753100" y="1989138"/>
            <a:ext cx="0" cy="503237"/>
          </a:xfrm>
          <a:prstGeom prst="line">
            <a:avLst/>
          </a:prstGeom>
          <a:noFill/>
          <a:ln w="9525">
            <a:solidFill>
              <a:schemeClr val="tx1"/>
            </a:solidFill>
            <a:round/>
            <a:headE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48" name="Text Box 87"/>
          <p:cNvSpPr txBox="1">
            <a:spLocks noChangeArrowheads="1"/>
          </p:cNvSpPr>
          <p:nvPr/>
        </p:nvSpPr>
        <p:spPr bwMode="auto">
          <a:xfrm>
            <a:off x="5294313" y="1704975"/>
            <a:ext cx="1511300" cy="211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60000"/>
              </a:lnSpc>
              <a:spcBef>
                <a:spcPct val="50000"/>
              </a:spcBef>
              <a:buFontTx/>
              <a:buNone/>
            </a:pPr>
            <a:r>
              <a:rPr lang="en-US" altLang="en-US" sz="1300"/>
              <a:t>10 bar steam</a:t>
            </a:r>
            <a:endParaRPr lang="th-TH" altLang="en-US" sz="1300"/>
          </a:p>
        </p:txBody>
      </p:sp>
      <p:sp>
        <p:nvSpPr>
          <p:cNvPr id="516149" name="Text Box 88"/>
          <p:cNvSpPr txBox="1">
            <a:spLocks noChangeArrowheads="1"/>
          </p:cNvSpPr>
          <p:nvPr/>
        </p:nvSpPr>
        <p:spPr bwMode="auto">
          <a:xfrm>
            <a:off x="6227763" y="2497138"/>
            <a:ext cx="1511300" cy="211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60000"/>
              </a:lnSpc>
              <a:spcBef>
                <a:spcPct val="50000"/>
              </a:spcBef>
              <a:buFontTx/>
              <a:buNone/>
            </a:pPr>
            <a:r>
              <a:rPr lang="en-US" altLang="en-US" sz="1300"/>
              <a:t>55-60%</a:t>
            </a:r>
            <a:endParaRPr lang="th-TH" altLang="en-US" sz="1300"/>
          </a:p>
        </p:txBody>
      </p:sp>
      <p:sp>
        <p:nvSpPr>
          <p:cNvPr id="516150" name="Text Box 89"/>
          <p:cNvSpPr txBox="1">
            <a:spLocks noChangeArrowheads="1"/>
          </p:cNvSpPr>
          <p:nvPr/>
        </p:nvSpPr>
        <p:spPr bwMode="auto">
          <a:xfrm>
            <a:off x="7021513" y="2065338"/>
            <a:ext cx="1511300" cy="211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60000"/>
              </a:lnSpc>
              <a:spcBef>
                <a:spcPct val="50000"/>
              </a:spcBef>
              <a:buFontTx/>
              <a:buNone/>
            </a:pPr>
            <a:r>
              <a:rPr lang="en-US" altLang="en-US" sz="1300"/>
              <a:t>16 m</a:t>
            </a:r>
            <a:r>
              <a:rPr lang="en-US" altLang="en-US" sz="1300" baseline="30000"/>
              <a:t>3</a:t>
            </a:r>
            <a:r>
              <a:rPr lang="en-US" altLang="en-US" sz="1300"/>
              <a:t>/hr</a:t>
            </a:r>
            <a:endParaRPr lang="th-TH" altLang="en-US" sz="1300"/>
          </a:p>
        </p:txBody>
      </p:sp>
      <p:sp>
        <p:nvSpPr>
          <p:cNvPr id="516151" name="Arc 90"/>
          <p:cNvSpPr>
            <a:spLocks/>
          </p:cNvSpPr>
          <p:nvPr/>
        </p:nvSpPr>
        <p:spPr bwMode="auto">
          <a:xfrm rot="-5627943">
            <a:off x="7585075" y="3851276"/>
            <a:ext cx="358775" cy="215900"/>
          </a:xfrm>
          <a:custGeom>
            <a:avLst/>
            <a:gdLst>
              <a:gd name="T0" fmla="*/ 2147483646 w 43089"/>
              <a:gd name="T1" fmla="*/ 2147483646 h 21943"/>
              <a:gd name="T2" fmla="*/ 577132622 w 43089"/>
              <a:gd name="T3" fmla="*/ 0 h 21943"/>
              <a:gd name="T4" fmla="*/ 2147483646 w 43089"/>
              <a:gd name="T5" fmla="*/ 2147483646 h 21943"/>
              <a:gd name="T6" fmla="*/ 0 60000 65536"/>
              <a:gd name="T7" fmla="*/ 0 60000 65536"/>
              <a:gd name="T8" fmla="*/ 0 60000 65536"/>
            </a:gdLst>
            <a:ahLst/>
            <a:cxnLst>
              <a:cxn ang="T6">
                <a:pos x="T0" y="T1"/>
              </a:cxn>
              <a:cxn ang="T7">
                <a:pos x="T2" y="T3"/>
              </a:cxn>
              <a:cxn ang="T8">
                <a:pos x="T4" y="T5"/>
              </a:cxn>
            </a:cxnLst>
            <a:rect l="0" t="0" r="r" b="b"/>
            <a:pathLst>
              <a:path w="43089" h="21943" fill="none" extrusionOk="0">
                <a:moveTo>
                  <a:pt x="43088" y="2533"/>
                </a:moveTo>
                <a:cubicBezTo>
                  <a:pt x="41964" y="13557"/>
                  <a:pt x="32680" y="21943"/>
                  <a:pt x="21600" y="21943"/>
                </a:cubicBezTo>
                <a:cubicBezTo>
                  <a:pt x="9670" y="21943"/>
                  <a:pt x="0" y="12272"/>
                  <a:pt x="0" y="343"/>
                </a:cubicBezTo>
                <a:cubicBezTo>
                  <a:pt x="0" y="228"/>
                  <a:pt x="0" y="114"/>
                  <a:pt x="2" y="-1"/>
                </a:cubicBezTo>
              </a:path>
              <a:path w="43089" h="21943" stroke="0" extrusionOk="0">
                <a:moveTo>
                  <a:pt x="43088" y="2533"/>
                </a:moveTo>
                <a:cubicBezTo>
                  <a:pt x="41964" y="13557"/>
                  <a:pt x="32680" y="21943"/>
                  <a:pt x="21600" y="21943"/>
                </a:cubicBezTo>
                <a:cubicBezTo>
                  <a:pt x="9670" y="21943"/>
                  <a:pt x="0" y="12272"/>
                  <a:pt x="0" y="343"/>
                </a:cubicBezTo>
                <a:cubicBezTo>
                  <a:pt x="0" y="228"/>
                  <a:pt x="0" y="114"/>
                  <a:pt x="2" y="-1"/>
                </a:cubicBezTo>
                <a:lnTo>
                  <a:pt x="21600" y="343"/>
                </a:lnTo>
                <a:lnTo>
                  <a:pt x="43088" y="2533"/>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6152" name="Line 91"/>
          <p:cNvSpPr>
            <a:spLocks noChangeShapeType="1"/>
          </p:cNvSpPr>
          <p:nvPr/>
        </p:nvSpPr>
        <p:spPr bwMode="auto">
          <a:xfrm>
            <a:off x="7669213" y="3141663"/>
            <a:ext cx="0" cy="647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53" name="Line 92"/>
          <p:cNvSpPr>
            <a:spLocks noChangeShapeType="1"/>
          </p:cNvSpPr>
          <p:nvPr/>
        </p:nvSpPr>
        <p:spPr bwMode="auto">
          <a:xfrm>
            <a:off x="7683500" y="4149725"/>
            <a:ext cx="0" cy="431800"/>
          </a:xfrm>
          <a:prstGeom prst="line">
            <a:avLst/>
          </a:prstGeom>
          <a:noFill/>
          <a:ln w="9525">
            <a:solidFill>
              <a:schemeClr val="tx1"/>
            </a:solidFill>
            <a:round/>
            <a:headE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54" name="Text Box 93"/>
          <p:cNvSpPr txBox="1">
            <a:spLocks noChangeArrowheads="1"/>
          </p:cNvSpPr>
          <p:nvPr/>
        </p:nvSpPr>
        <p:spPr bwMode="auto">
          <a:xfrm>
            <a:off x="7812088" y="4221163"/>
            <a:ext cx="936625" cy="211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60000"/>
              </a:lnSpc>
              <a:spcBef>
                <a:spcPct val="50000"/>
              </a:spcBef>
              <a:buFontTx/>
              <a:buNone/>
            </a:pPr>
            <a:r>
              <a:rPr lang="en-US" altLang="en-US" sz="1300"/>
              <a:t>Smelt</a:t>
            </a:r>
            <a:endParaRPr lang="th-TH" altLang="en-US" sz="1300"/>
          </a:p>
        </p:txBody>
      </p:sp>
      <p:sp>
        <p:nvSpPr>
          <p:cNvPr id="516155" name="Line 94"/>
          <p:cNvSpPr>
            <a:spLocks noChangeShapeType="1"/>
          </p:cNvSpPr>
          <p:nvPr/>
        </p:nvSpPr>
        <p:spPr bwMode="auto">
          <a:xfrm>
            <a:off x="6516688" y="5157788"/>
            <a:ext cx="5762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56" name="Line 95"/>
          <p:cNvSpPr>
            <a:spLocks noChangeShapeType="1"/>
          </p:cNvSpPr>
          <p:nvPr/>
        </p:nvSpPr>
        <p:spPr bwMode="auto">
          <a:xfrm flipH="1">
            <a:off x="5651500" y="5200650"/>
            <a:ext cx="576263" cy="0"/>
          </a:xfrm>
          <a:prstGeom prst="line">
            <a:avLst/>
          </a:prstGeom>
          <a:noFill/>
          <a:ln w="9525">
            <a:solidFill>
              <a:schemeClr val="tx1"/>
            </a:solidFill>
            <a:round/>
            <a:headE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57" name="Text Box 96"/>
          <p:cNvSpPr txBox="1">
            <a:spLocks noChangeArrowheads="1"/>
          </p:cNvSpPr>
          <p:nvPr/>
        </p:nvSpPr>
        <p:spPr bwMode="auto">
          <a:xfrm>
            <a:off x="5003800" y="5373688"/>
            <a:ext cx="2520950"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10000"/>
              </a:lnSpc>
              <a:spcBef>
                <a:spcPct val="50000"/>
              </a:spcBef>
              <a:buFontTx/>
              <a:buNone/>
            </a:pPr>
            <a:r>
              <a:rPr lang="en-US" altLang="en-US" sz="1500"/>
              <a:t>To Recausticizing Plant</a:t>
            </a:r>
            <a:endParaRPr lang="th-TH" altLang="en-US" sz="1500"/>
          </a:p>
        </p:txBody>
      </p:sp>
      <p:sp>
        <p:nvSpPr>
          <p:cNvPr id="516158" name="Freeform 97"/>
          <p:cNvSpPr>
            <a:spLocks/>
          </p:cNvSpPr>
          <p:nvPr/>
        </p:nvSpPr>
        <p:spPr bwMode="auto">
          <a:xfrm>
            <a:off x="4656138" y="3387725"/>
            <a:ext cx="1101725" cy="531813"/>
          </a:xfrm>
          <a:custGeom>
            <a:avLst/>
            <a:gdLst>
              <a:gd name="T0" fmla="*/ 2147483646 w 681"/>
              <a:gd name="T1" fmla="*/ 0 h 318"/>
              <a:gd name="T2" fmla="*/ 2147483646 w 681"/>
              <a:gd name="T3" fmla="*/ 2147483646 h 318"/>
              <a:gd name="T4" fmla="*/ 0 w 681"/>
              <a:gd name="T5" fmla="*/ 2147483646 h 318"/>
              <a:gd name="T6" fmla="*/ 0 60000 65536"/>
              <a:gd name="T7" fmla="*/ 0 60000 65536"/>
              <a:gd name="T8" fmla="*/ 0 60000 65536"/>
            </a:gdLst>
            <a:ahLst/>
            <a:cxnLst>
              <a:cxn ang="T6">
                <a:pos x="T0" y="T1"/>
              </a:cxn>
              <a:cxn ang="T7">
                <a:pos x="T2" y="T3"/>
              </a:cxn>
              <a:cxn ang="T8">
                <a:pos x="T4" y="T5"/>
              </a:cxn>
            </a:cxnLst>
            <a:rect l="0" t="0" r="r" b="b"/>
            <a:pathLst>
              <a:path w="681" h="318">
                <a:moveTo>
                  <a:pt x="681" y="0"/>
                </a:moveTo>
                <a:lnTo>
                  <a:pt x="681" y="318"/>
                </a:lnTo>
                <a:lnTo>
                  <a:pt x="0" y="318"/>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59" name="Freeform 98"/>
          <p:cNvSpPr>
            <a:spLocks/>
          </p:cNvSpPr>
          <p:nvPr/>
        </p:nvSpPr>
        <p:spPr bwMode="auto">
          <a:xfrm>
            <a:off x="4170363" y="3327400"/>
            <a:ext cx="185737" cy="606425"/>
          </a:xfrm>
          <a:custGeom>
            <a:avLst/>
            <a:gdLst>
              <a:gd name="T0" fmla="*/ 0 w 136"/>
              <a:gd name="T1" fmla="*/ 0 h 363"/>
              <a:gd name="T2" fmla="*/ 0 w 136"/>
              <a:gd name="T3" fmla="*/ 2147483646 h 363"/>
              <a:gd name="T4" fmla="*/ 2147483646 w 136"/>
              <a:gd name="T5" fmla="*/ 2147483646 h 363"/>
              <a:gd name="T6" fmla="*/ 0 60000 65536"/>
              <a:gd name="T7" fmla="*/ 0 60000 65536"/>
              <a:gd name="T8" fmla="*/ 0 60000 65536"/>
            </a:gdLst>
            <a:ahLst/>
            <a:cxnLst>
              <a:cxn ang="T6">
                <a:pos x="T0" y="T1"/>
              </a:cxn>
              <a:cxn ang="T7">
                <a:pos x="T2" y="T3"/>
              </a:cxn>
              <a:cxn ang="T8">
                <a:pos x="T4" y="T5"/>
              </a:cxn>
            </a:cxnLst>
            <a:rect l="0" t="0" r="r" b="b"/>
            <a:pathLst>
              <a:path w="136" h="363">
                <a:moveTo>
                  <a:pt x="0" y="0"/>
                </a:moveTo>
                <a:lnTo>
                  <a:pt x="0" y="363"/>
                </a:lnTo>
                <a:lnTo>
                  <a:pt x="136" y="363"/>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6160" name="Text Box 99"/>
          <p:cNvSpPr txBox="1">
            <a:spLocks noChangeArrowheads="1"/>
          </p:cNvSpPr>
          <p:nvPr/>
        </p:nvSpPr>
        <p:spPr bwMode="auto">
          <a:xfrm>
            <a:off x="3276600" y="4149725"/>
            <a:ext cx="2951163"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10000"/>
              </a:lnSpc>
              <a:spcBef>
                <a:spcPct val="50000"/>
              </a:spcBef>
              <a:buFontTx/>
              <a:buNone/>
            </a:pPr>
            <a:r>
              <a:rPr lang="en-US" altLang="en-US" sz="1500"/>
              <a:t>Black Liquor Burner Pump</a:t>
            </a:r>
            <a:endParaRPr lang="th-TH" altLang="en-US" sz="1500"/>
          </a:p>
        </p:txBody>
      </p:sp>
    </p:spTree>
  </p:cSld>
  <p:clrMapOvr>
    <a:masterClrMapping/>
  </p:clrMapOvr>
  <p:transition spd="med">
    <p:plus/>
  </p:transition>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Slide Number Placeholder 5"/>
          <p:cNvSpPr>
            <a:spLocks noGrp="1"/>
          </p:cNvSpPr>
          <p:nvPr>
            <p:ph type="sldNum" sz="quarter" idx="12"/>
          </p:nvPr>
        </p:nvSpPr>
        <p:spPr/>
        <p:txBody>
          <a:bodyPr/>
          <a:lstStyle/>
          <a:p>
            <a:pPr>
              <a:defRPr/>
            </a:pPr>
            <a:fld id="{5F9726B0-1F07-41EA-B15A-B3B807E51740}" type="slidenum">
              <a:rPr lang="en-US" altLang="en-US"/>
              <a:pPr>
                <a:defRPr/>
              </a:pPr>
              <a:t>153</a:t>
            </a:fld>
            <a:endParaRPr lang="th-TH" altLang="en-US"/>
          </a:p>
        </p:txBody>
      </p:sp>
      <p:sp>
        <p:nvSpPr>
          <p:cNvPr id="518147" name="Rectangle 2"/>
          <p:cNvSpPr>
            <a:spLocks noGrp="1" noChangeArrowheads="1"/>
          </p:cNvSpPr>
          <p:nvPr>
            <p:ph type="title"/>
          </p:nvPr>
        </p:nvSpPr>
        <p:spPr>
          <a:xfrm>
            <a:off x="303213" y="28575"/>
            <a:ext cx="8540750" cy="1143000"/>
          </a:xfrm>
        </p:spPr>
        <p:txBody>
          <a:bodyPr/>
          <a:lstStyle/>
          <a:p>
            <a:r>
              <a:rPr lang="en-US" altLang="en-US" sz="6600" b="1" smtClean="0">
                <a:latin typeface="Angsana New" panose="02020603050405020304" pitchFamily="18" charset="-34"/>
              </a:rPr>
              <a:t>Fuel Process</a:t>
            </a:r>
            <a:endParaRPr lang="th-TH" altLang="en-US" sz="6600" b="1" smtClean="0">
              <a:latin typeface="Angsana New" panose="02020603050405020304" pitchFamily="18" charset="-34"/>
            </a:endParaRPr>
          </a:p>
        </p:txBody>
      </p:sp>
      <p:pic>
        <p:nvPicPr>
          <p:cNvPr id="518148" name="Picture 3" descr="MVC-119S"/>
          <p:cNvPicPr>
            <a:picLocks noGrp="1" noChangeAspect="1" noChangeArrowheads="1"/>
          </p:cNvPicPr>
          <p:nvPr>
            <p:ph idx="1"/>
          </p:nvPr>
        </p:nvPicPr>
        <p:blipFill>
          <a:blip r:embed="rId3">
            <a:extLst>
              <a:ext uri="{28A0092B-C50C-407E-A947-70E740481C1C}">
                <a14:useLocalDpi xmlns:a14="http://schemas.microsoft.com/office/drawing/2010/main" val="0"/>
              </a:ext>
            </a:extLst>
          </a:blip>
          <a:srcRect/>
          <a:stretch>
            <a:fillRect/>
          </a:stretch>
        </p:blipFill>
        <p:spPr>
          <a:xfrm>
            <a:off x="990600" y="1171575"/>
            <a:ext cx="7191375" cy="5394325"/>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099782" name="Text Box 6"/>
          <p:cNvSpPr txBox="1">
            <a:spLocks noChangeArrowheads="1"/>
          </p:cNvSpPr>
          <p:nvPr/>
        </p:nvSpPr>
        <p:spPr bwMode="auto">
          <a:xfrm>
            <a:off x="4271963" y="3844925"/>
            <a:ext cx="987425" cy="708025"/>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4000" dirty="0">
                <a:effectLst>
                  <a:outerShdw blurRad="38100" dist="38100" dir="2700000" algn="tl">
                    <a:srgbClr val="000000"/>
                  </a:outerShdw>
                </a:effectLst>
                <a:latin typeface="Angsana New" panose="02020603050405020304" pitchFamily="18" charset="-34"/>
              </a:rPr>
              <a:t>DCE</a:t>
            </a:r>
            <a:endParaRPr lang="th-TH" altLang="en-US" sz="4000" dirty="0">
              <a:effectLst>
                <a:outerShdw blurRad="38100" dist="38100" dir="2700000" algn="tl">
                  <a:srgbClr val="000000"/>
                </a:outerShdw>
              </a:effectLst>
              <a:latin typeface="Angsana New" panose="02020603050405020304" pitchFamily="18" charset="-34"/>
            </a:endParaRPr>
          </a:p>
        </p:txBody>
      </p:sp>
      <p:sp>
        <p:nvSpPr>
          <p:cNvPr id="1099783" name="AutoShape 7"/>
          <p:cNvSpPr>
            <a:spLocks noChangeArrowheads="1"/>
          </p:cNvSpPr>
          <p:nvPr/>
        </p:nvSpPr>
        <p:spPr bwMode="auto">
          <a:xfrm>
            <a:off x="4381500" y="1543050"/>
            <a:ext cx="384175" cy="752475"/>
          </a:xfrm>
          <a:prstGeom prst="upArrow">
            <a:avLst>
              <a:gd name="adj1" fmla="val 50000"/>
              <a:gd name="adj2" fmla="val 48967"/>
            </a:avLst>
          </a:prstGeom>
          <a:solidFill>
            <a:srgbClr val="FF00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1099784" name="Text Box 8"/>
          <p:cNvSpPr txBox="1">
            <a:spLocks noChangeArrowheads="1"/>
          </p:cNvSpPr>
          <p:nvPr/>
        </p:nvSpPr>
        <p:spPr bwMode="auto">
          <a:xfrm>
            <a:off x="3343275" y="2354263"/>
            <a:ext cx="2460625" cy="701675"/>
          </a:xfrm>
          <a:prstGeom prst="rect">
            <a:avLst/>
          </a:prstGeom>
          <a:solidFill>
            <a:schemeClr val="bg1"/>
          </a:solidFill>
          <a:ln>
            <a:noFill/>
          </a:ln>
          <a:effectLst/>
        </p:spPr>
        <p:txBody>
          <a:bodyPr>
            <a:spAutoFit/>
          </a:bodyPr>
          <a:lstStyle/>
          <a:p>
            <a:pPr>
              <a:spcBef>
                <a:spcPct val="50000"/>
              </a:spcBef>
              <a:defRPr/>
            </a:pPr>
            <a:r>
              <a:rPr lang="en-US" altLang="en-US" sz="4000" dirty="0">
                <a:effectLst>
                  <a:outerShdw blurRad="38100" dist="38100" dir="2700000" algn="tl">
                    <a:srgbClr val="000000"/>
                  </a:outerShdw>
                </a:effectLst>
                <a:latin typeface="Angsana New" panose="02020603050405020304" pitchFamily="18" charset="-34"/>
              </a:rPr>
              <a:t>Flue Gas Outlet</a:t>
            </a:r>
            <a:endParaRPr lang="th-TH" altLang="en-US" sz="4000" dirty="0">
              <a:effectLst>
                <a:outerShdw blurRad="38100" dist="38100" dir="2700000" algn="tl">
                  <a:srgbClr val="000000"/>
                </a:outerShdw>
              </a:effectLst>
              <a:latin typeface="Angsana New" panose="02020603050405020304" pitchFamily="18" charset="-34"/>
            </a:endParaRPr>
          </a:p>
        </p:txBody>
      </p:sp>
      <p:grpSp>
        <p:nvGrpSpPr>
          <p:cNvPr id="1099785" name="Group 9"/>
          <p:cNvGrpSpPr>
            <a:grpSpLocks/>
          </p:cNvGrpSpPr>
          <p:nvPr/>
        </p:nvGrpSpPr>
        <p:grpSpPr bwMode="auto">
          <a:xfrm>
            <a:off x="1165225" y="5327650"/>
            <a:ext cx="2286000" cy="1087438"/>
            <a:chOff x="762" y="3075"/>
            <a:chExt cx="1440" cy="685"/>
          </a:xfrm>
        </p:grpSpPr>
        <p:sp>
          <p:nvSpPr>
            <p:cNvPr id="1099786" name="AutoShape 10"/>
            <p:cNvSpPr>
              <a:spLocks noChangeArrowheads="1"/>
            </p:cNvSpPr>
            <p:nvPr/>
          </p:nvSpPr>
          <p:spPr bwMode="auto">
            <a:xfrm rot="10800000">
              <a:off x="1092" y="3555"/>
              <a:ext cx="808" cy="205"/>
            </a:xfrm>
            <a:prstGeom prst="leftArrow">
              <a:avLst>
                <a:gd name="adj1" fmla="val 50000"/>
                <a:gd name="adj2" fmla="val 98537"/>
              </a:avLst>
            </a:prstGeom>
            <a:solidFill>
              <a:srgbClr val="FF00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altLang="en-US" sz="4000">
                <a:effectLst>
                  <a:outerShdw blurRad="38100" dist="38100" dir="2700000" algn="tl">
                    <a:srgbClr val="000000"/>
                  </a:outerShdw>
                </a:effectLst>
              </a:endParaRPr>
            </a:p>
          </p:txBody>
        </p:sp>
        <p:sp>
          <p:nvSpPr>
            <p:cNvPr id="1099787" name="Text Box 11"/>
            <p:cNvSpPr txBox="1">
              <a:spLocks noChangeArrowheads="1"/>
            </p:cNvSpPr>
            <p:nvPr/>
          </p:nvSpPr>
          <p:spPr bwMode="auto">
            <a:xfrm>
              <a:off x="762" y="3075"/>
              <a:ext cx="1440" cy="480"/>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4400" dirty="0">
                  <a:effectLst>
                    <a:outerShdw blurRad="38100" dist="38100" dir="2700000" algn="tl">
                      <a:srgbClr val="000000"/>
                    </a:outerShdw>
                  </a:effectLst>
                  <a:latin typeface="Angsana New" panose="02020603050405020304" pitchFamily="18" charset="-34"/>
                </a:rPr>
                <a:t>Flue Gas Inlet</a:t>
              </a:r>
              <a:endParaRPr lang="th-TH" altLang="en-US" sz="4400" dirty="0">
                <a:effectLst>
                  <a:outerShdw blurRad="38100" dist="38100" dir="2700000" algn="tl">
                    <a:srgbClr val="000000"/>
                  </a:outerShdw>
                </a:effectLst>
                <a:latin typeface="Angsana New" panose="02020603050405020304" pitchFamily="18" charset="-34"/>
              </a:endParaRPr>
            </a:p>
          </p:txBody>
        </p:sp>
      </p:grpSp>
      <p:sp>
        <p:nvSpPr>
          <p:cNvPr id="1099788" name="Text Box 12"/>
          <p:cNvSpPr txBox="1">
            <a:spLocks noChangeArrowheads="1"/>
          </p:cNvSpPr>
          <p:nvPr/>
        </p:nvSpPr>
        <p:spPr bwMode="auto">
          <a:xfrm>
            <a:off x="171450" y="469900"/>
            <a:ext cx="27527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defRPr/>
            </a:pPr>
            <a:r>
              <a:rPr lang="th-TH" altLang="en-US" sz="4000" u="sng">
                <a:solidFill>
                  <a:srgbClr val="FF0000"/>
                </a:solidFill>
                <a:effectLst>
                  <a:outerShdw blurRad="38100" dist="38100" dir="2700000" algn="tl">
                    <a:srgbClr val="000000"/>
                  </a:outerShdw>
                </a:effectLst>
                <a:latin typeface="Angsana New" panose="02020603050405020304" pitchFamily="18" charset="-34"/>
              </a:rPr>
              <a:t>วงจรเชื้อเพลิง</a:t>
            </a:r>
          </a:p>
        </p:txBody>
      </p:sp>
      <p:grpSp>
        <p:nvGrpSpPr>
          <p:cNvPr id="14" name="Group 9"/>
          <p:cNvGrpSpPr>
            <a:grpSpLocks/>
          </p:cNvGrpSpPr>
          <p:nvPr/>
        </p:nvGrpSpPr>
        <p:grpSpPr bwMode="auto">
          <a:xfrm>
            <a:off x="4760913" y="5654675"/>
            <a:ext cx="2870200" cy="904875"/>
            <a:chOff x="353" y="3416"/>
            <a:chExt cx="1808" cy="570"/>
          </a:xfrm>
        </p:grpSpPr>
        <p:sp>
          <p:nvSpPr>
            <p:cNvPr id="16" name="AutoShape 10"/>
            <p:cNvSpPr>
              <a:spLocks noChangeArrowheads="1"/>
            </p:cNvSpPr>
            <p:nvPr/>
          </p:nvSpPr>
          <p:spPr bwMode="auto">
            <a:xfrm rot="16200000">
              <a:off x="232" y="3601"/>
              <a:ext cx="506" cy="281"/>
            </a:xfrm>
            <a:prstGeom prst="leftArrow">
              <a:avLst>
                <a:gd name="adj1" fmla="val 50000"/>
                <a:gd name="adj2" fmla="val 98537"/>
              </a:avLst>
            </a:prstGeom>
            <a:solidFill>
              <a:srgbClr val="FF00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altLang="en-US" sz="4000">
                <a:effectLst>
                  <a:outerShdw blurRad="38100" dist="38100" dir="2700000" algn="tl">
                    <a:srgbClr val="000000"/>
                  </a:outerShdw>
                </a:effectLst>
              </a:endParaRPr>
            </a:p>
          </p:txBody>
        </p:sp>
        <p:sp>
          <p:nvSpPr>
            <p:cNvPr id="17" name="Text Box 11"/>
            <p:cNvSpPr txBox="1">
              <a:spLocks noChangeArrowheads="1"/>
            </p:cNvSpPr>
            <p:nvPr/>
          </p:nvSpPr>
          <p:spPr bwMode="auto">
            <a:xfrm>
              <a:off x="721" y="3416"/>
              <a:ext cx="1440" cy="480"/>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4400" dirty="0">
                  <a:effectLst>
                    <a:outerShdw blurRad="38100" dist="38100" dir="2700000" algn="tl">
                      <a:srgbClr val="000000"/>
                    </a:outerShdw>
                  </a:effectLst>
                  <a:latin typeface="Angsana New" panose="02020603050405020304" pitchFamily="18" charset="-34"/>
                </a:rPr>
                <a:t>SBL Outlet</a:t>
              </a:r>
              <a:endParaRPr lang="th-TH" altLang="en-US" sz="4400" dirty="0">
                <a:effectLst>
                  <a:outerShdw blurRad="38100" dist="38100" dir="2700000" algn="tl">
                    <a:srgbClr val="000000"/>
                  </a:outerShdw>
                </a:effectLst>
                <a:latin typeface="Angsana New" panose="02020603050405020304" pitchFamily="18" charset="-34"/>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1099785"/>
                                        </p:tgtEl>
                                        <p:attrNameLst>
                                          <p:attrName>style.visibility</p:attrName>
                                        </p:attrNameLst>
                                      </p:cBhvr>
                                      <p:to>
                                        <p:strVal val="visible"/>
                                      </p:to>
                                    </p:set>
                                    <p:animEffect transition="in" filter="checkerboard(across)">
                                      <p:cBhvr>
                                        <p:cTn id="7" dur="500"/>
                                        <p:tgtEl>
                                          <p:spTgt spid="109978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1099783"/>
                                        </p:tgtEl>
                                        <p:attrNameLst>
                                          <p:attrName>style.visibility</p:attrName>
                                        </p:attrNameLst>
                                      </p:cBhvr>
                                      <p:to>
                                        <p:strVal val="visible"/>
                                      </p:to>
                                    </p:set>
                                    <p:anim calcmode="lin" valueType="num">
                                      <p:cBhvr additive="base">
                                        <p:cTn id="12" dur="500" fill="hold"/>
                                        <p:tgtEl>
                                          <p:spTgt spid="1099783"/>
                                        </p:tgtEl>
                                        <p:attrNameLst>
                                          <p:attrName>ppt_x</p:attrName>
                                        </p:attrNameLst>
                                      </p:cBhvr>
                                      <p:tavLst>
                                        <p:tav tm="0">
                                          <p:val>
                                            <p:strVal val="#ppt_x"/>
                                          </p:val>
                                        </p:tav>
                                        <p:tav tm="100000">
                                          <p:val>
                                            <p:strVal val="#ppt_x"/>
                                          </p:val>
                                        </p:tav>
                                      </p:tavLst>
                                    </p:anim>
                                    <p:anim calcmode="lin" valueType="num">
                                      <p:cBhvr additive="base">
                                        <p:cTn id="13" dur="500" fill="hold"/>
                                        <p:tgtEl>
                                          <p:spTgt spid="1099783"/>
                                        </p:tgtEl>
                                        <p:attrNameLst>
                                          <p:attrName>ppt_y</p:attrName>
                                        </p:attrNameLst>
                                      </p:cBhvr>
                                      <p:tavLst>
                                        <p:tav tm="0">
                                          <p:val>
                                            <p:strVal val="1+#ppt_h/2"/>
                                          </p:val>
                                        </p:tav>
                                        <p:tav tm="100000">
                                          <p:val>
                                            <p:strVal val="#ppt_y"/>
                                          </p:val>
                                        </p:tav>
                                      </p:tavLst>
                                    </p:anim>
                                  </p:childTnLst>
                                </p:cTn>
                              </p:par>
                              <p:par>
                                <p:cTn id="14" presetID="2" presetClass="entr" presetSubtype="4" fill="hold" grpId="0" nodeType="withEffect">
                                  <p:stCondLst>
                                    <p:cond delay="0"/>
                                  </p:stCondLst>
                                  <p:childTnLst>
                                    <p:set>
                                      <p:cBhvr>
                                        <p:cTn id="15" dur="1" fill="hold">
                                          <p:stCondLst>
                                            <p:cond delay="0"/>
                                          </p:stCondLst>
                                        </p:cTn>
                                        <p:tgtEl>
                                          <p:spTgt spid="1099784"/>
                                        </p:tgtEl>
                                        <p:attrNameLst>
                                          <p:attrName>style.visibility</p:attrName>
                                        </p:attrNameLst>
                                      </p:cBhvr>
                                      <p:to>
                                        <p:strVal val="visible"/>
                                      </p:to>
                                    </p:set>
                                    <p:anim calcmode="lin" valueType="num">
                                      <p:cBhvr additive="base">
                                        <p:cTn id="16" dur="500" fill="hold"/>
                                        <p:tgtEl>
                                          <p:spTgt spid="1099784"/>
                                        </p:tgtEl>
                                        <p:attrNameLst>
                                          <p:attrName>ppt_x</p:attrName>
                                        </p:attrNameLst>
                                      </p:cBhvr>
                                      <p:tavLst>
                                        <p:tav tm="0">
                                          <p:val>
                                            <p:strVal val="#ppt_x"/>
                                          </p:val>
                                        </p:tav>
                                        <p:tav tm="100000">
                                          <p:val>
                                            <p:strVal val="#ppt_x"/>
                                          </p:val>
                                        </p:tav>
                                      </p:tavLst>
                                    </p:anim>
                                    <p:anim calcmode="lin" valueType="num">
                                      <p:cBhvr additive="base">
                                        <p:cTn id="17" dur="500" fill="hold"/>
                                        <p:tgtEl>
                                          <p:spTgt spid="1099784"/>
                                        </p:tgtEl>
                                        <p:attrNameLst>
                                          <p:attrName>ppt_y</p:attrName>
                                        </p:attrNameLst>
                                      </p:cBhvr>
                                      <p:tavLst>
                                        <p:tav tm="0">
                                          <p:val>
                                            <p:strVal val="1+#ppt_h/2"/>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checkerboard(across)">
                                      <p:cBhvr>
                                        <p:cTn id="2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9783" grpId="0" animBg="1"/>
      <p:bldP spid="1099784"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2"/>
          <p:cNvSpPr>
            <a:spLocks noGrp="1" noChangeArrowheads="1"/>
          </p:cNvSpPr>
          <p:nvPr>
            <p:ph type="title"/>
          </p:nvPr>
        </p:nvSpPr>
        <p:spPr>
          <a:xfrm>
            <a:off x="2455863" y="14288"/>
            <a:ext cx="4306887" cy="1143000"/>
          </a:xfrm>
        </p:spPr>
        <p:txBody>
          <a:bodyPr/>
          <a:lstStyle/>
          <a:p>
            <a:r>
              <a:rPr lang="en-US" altLang="en-US" sz="6600" b="1" smtClean="0">
                <a:latin typeface="Angsana New" panose="02020603050405020304" pitchFamily="18" charset="-34"/>
              </a:rPr>
              <a:t>Fuel Process</a:t>
            </a:r>
            <a:endParaRPr lang="th-TH" altLang="en-US" b="1" smtClean="0"/>
          </a:p>
        </p:txBody>
      </p:sp>
      <p:pic>
        <p:nvPicPr>
          <p:cNvPr id="520195" name="Picture 3" descr="MVC-067S"/>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757238" y="954088"/>
            <a:ext cx="7704137" cy="5584825"/>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101828" name="Text Box 4"/>
          <p:cNvSpPr txBox="1">
            <a:spLocks noChangeArrowheads="1"/>
          </p:cNvSpPr>
          <p:nvPr/>
        </p:nvSpPr>
        <p:spPr bwMode="auto">
          <a:xfrm>
            <a:off x="230188" y="420688"/>
            <a:ext cx="27527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defRPr/>
            </a:pPr>
            <a:r>
              <a:rPr lang="th-TH" altLang="en-US" sz="4000" u="sng" dirty="0">
                <a:solidFill>
                  <a:srgbClr val="FF0000"/>
                </a:solidFill>
                <a:effectLst>
                  <a:outerShdw blurRad="38100" dist="38100" dir="2700000" algn="tl">
                    <a:srgbClr val="000000"/>
                  </a:outerShdw>
                </a:effectLst>
                <a:latin typeface="Angsana New" panose="02020603050405020304" pitchFamily="18" charset="-34"/>
              </a:rPr>
              <a:t>วงจรเชื้อเพลิง</a:t>
            </a:r>
          </a:p>
        </p:txBody>
      </p:sp>
    </p:spTree>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1218" name="Picture 3" descr="IMG_2114"/>
          <p:cNvPicPr>
            <a:picLocks noGrp="1" noChangeAspect="1" noChangeArrowheads="1"/>
          </p:cNvPicPr>
          <p:nvPr>
            <p:ph sz="half" idx="1"/>
          </p:nvPr>
        </p:nvPicPr>
        <p:blipFill>
          <a:blip r:embed="rId3">
            <a:extLst>
              <a:ext uri="{28A0092B-C50C-407E-A947-70E740481C1C}">
                <a14:useLocalDpi xmlns:a14="http://schemas.microsoft.com/office/drawing/2010/main" val="0"/>
              </a:ext>
            </a:extLst>
          </a:blip>
          <a:srcRect/>
          <a:stretch>
            <a:fillRect/>
          </a:stretch>
        </p:blipFill>
        <p:spPr>
          <a:xfrm>
            <a:off x="142875" y="1460500"/>
            <a:ext cx="3944938" cy="5257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521219" name="Picture 4" descr="IMG_2161"/>
          <p:cNvPicPr>
            <a:picLocks noGrp="1" noChangeAspect="1" noChangeArrowheads="1"/>
          </p:cNvPicPr>
          <p:nvPr>
            <p:ph sz="half" idx="2"/>
          </p:nvPr>
        </p:nvPicPr>
        <p:blipFill>
          <a:blip r:embed="rId4">
            <a:extLst>
              <a:ext uri="{28A0092B-C50C-407E-A947-70E740481C1C}">
                <a14:useLocalDpi xmlns:a14="http://schemas.microsoft.com/office/drawing/2010/main" val="0"/>
              </a:ext>
            </a:extLst>
          </a:blip>
          <a:srcRect/>
          <a:stretch>
            <a:fillRect/>
          </a:stretch>
        </p:blipFill>
        <p:spPr>
          <a:xfrm>
            <a:off x="4087813" y="1600200"/>
            <a:ext cx="5056187" cy="3794125"/>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21220" name="Rectangle 2"/>
          <p:cNvSpPr>
            <a:spLocks noGrp="1" noChangeArrowheads="1"/>
          </p:cNvSpPr>
          <p:nvPr>
            <p:ph type="title"/>
          </p:nvPr>
        </p:nvSpPr>
        <p:spPr>
          <a:xfrm>
            <a:off x="417513" y="-88900"/>
            <a:ext cx="8229600" cy="1139825"/>
          </a:xfrm>
        </p:spPr>
        <p:txBody>
          <a:bodyPr/>
          <a:lstStyle/>
          <a:p>
            <a:r>
              <a:rPr lang="en-US" altLang="en-US" sz="6600" b="1" smtClean="0">
                <a:latin typeface="Angsana New" panose="02020603050405020304" pitchFamily="18" charset="-34"/>
              </a:rPr>
              <a:t>Fuel Process</a:t>
            </a:r>
            <a:endParaRPr lang="th-TH" altLang="en-US" sz="6600" b="1" smtClean="0">
              <a:latin typeface="Angsana New" panose="02020603050405020304" pitchFamily="18" charset="-34"/>
            </a:endParaRPr>
          </a:p>
        </p:txBody>
      </p:sp>
      <p:sp>
        <p:nvSpPr>
          <p:cNvPr id="1102853" name="Freeform 5"/>
          <p:cNvSpPr>
            <a:spLocks/>
          </p:cNvSpPr>
          <p:nvPr/>
        </p:nvSpPr>
        <p:spPr bwMode="auto">
          <a:xfrm>
            <a:off x="835025" y="2411413"/>
            <a:ext cx="1862138" cy="3694112"/>
          </a:xfrm>
          <a:custGeom>
            <a:avLst/>
            <a:gdLst>
              <a:gd name="T0" fmla="*/ 2147483646 w 1173"/>
              <a:gd name="T1" fmla="*/ 2147483646 h 2327"/>
              <a:gd name="T2" fmla="*/ 2147483646 w 1173"/>
              <a:gd name="T3" fmla="*/ 2147483646 h 2327"/>
              <a:gd name="T4" fmla="*/ 2147483646 w 1173"/>
              <a:gd name="T5" fmla="*/ 2147483646 h 2327"/>
              <a:gd name="T6" fmla="*/ 2147483646 w 1173"/>
              <a:gd name="T7" fmla="*/ 2147483646 h 2327"/>
              <a:gd name="T8" fmla="*/ 2147483646 w 1173"/>
              <a:gd name="T9" fmla="*/ 2147483646 h 2327"/>
              <a:gd name="T10" fmla="*/ 2147483646 w 1173"/>
              <a:gd name="T11" fmla="*/ 2147483646 h 2327"/>
              <a:gd name="T12" fmla="*/ 2147483646 w 1173"/>
              <a:gd name="T13" fmla="*/ 2147483646 h 2327"/>
              <a:gd name="T14" fmla="*/ 2147483646 w 1173"/>
              <a:gd name="T15" fmla="*/ 2147483646 h 2327"/>
              <a:gd name="T16" fmla="*/ 2147483646 w 1173"/>
              <a:gd name="T17" fmla="*/ 2147483646 h 2327"/>
              <a:gd name="T18" fmla="*/ 2147483646 w 1173"/>
              <a:gd name="T19" fmla="*/ 2147483646 h 2327"/>
              <a:gd name="T20" fmla="*/ 2147483646 w 1173"/>
              <a:gd name="T21" fmla="*/ 2147483646 h 2327"/>
              <a:gd name="T22" fmla="*/ 2147483646 w 1173"/>
              <a:gd name="T23" fmla="*/ 2147483646 h 2327"/>
              <a:gd name="T24" fmla="*/ 2147483646 w 1173"/>
              <a:gd name="T25" fmla="*/ 2147483646 h 2327"/>
              <a:gd name="T26" fmla="*/ 0 w 1173"/>
              <a:gd name="T27" fmla="*/ 2147483646 h 2327"/>
              <a:gd name="T28" fmla="*/ 2147483646 w 1173"/>
              <a:gd name="T29" fmla="*/ 2147483646 h 2327"/>
              <a:gd name="T30" fmla="*/ 2147483646 w 1173"/>
              <a:gd name="T31" fmla="*/ 2147483646 h 2327"/>
              <a:gd name="T32" fmla="*/ 2147483646 w 1173"/>
              <a:gd name="T33" fmla="*/ 2147483646 h 2327"/>
              <a:gd name="T34" fmla="*/ 2147483646 w 1173"/>
              <a:gd name="T35" fmla="*/ 2147483646 h 2327"/>
              <a:gd name="T36" fmla="*/ 2147483646 w 1173"/>
              <a:gd name="T37" fmla="*/ 2147483646 h 2327"/>
              <a:gd name="T38" fmla="*/ 2147483646 w 1173"/>
              <a:gd name="T39" fmla="*/ 2147483646 h 2327"/>
              <a:gd name="T40" fmla="*/ 2147483646 w 1173"/>
              <a:gd name="T41" fmla="*/ 2147483646 h 2327"/>
              <a:gd name="T42" fmla="*/ 2147483646 w 1173"/>
              <a:gd name="T43" fmla="*/ 2147483646 h 2327"/>
              <a:gd name="T44" fmla="*/ 2147483646 w 1173"/>
              <a:gd name="T45" fmla="*/ 2147483646 h 2327"/>
              <a:gd name="T46" fmla="*/ 2147483646 w 1173"/>
              <a:gd name="T47" fmla="*/ 2147483646 h 2327"/>
              <a:gd name="T48" fmla="*/ 2147483646 w 1173"/>
              <a:gd name="T49" fmla="*/ 2147483646 h 2327"/>
              <a:gd name="T50" fmla="*/ 2147483646 w 1173"/>
              <a:gd name="T51" fmla="*/ 2147483646 h 2327"/>
              <a:gd name="T52" fmla="*/ 2147483646 w 1173"/>
              <a:gd name="T53" fmla="*/ 2147483646 h 2327"/>
              <a:gd name="T54" fmla="*/ 2147483646 w 1173"/>
              <a:gd name="T55" fmla="*/ 2147483646 h 2327"/>
              <a:gd name="T56" fmla="*/ 2147483646 w 1173"/>
              <a:gd name="T57" fmla="*/ 2147483646 h 2327"/>
              <a:gd name="T58" fmla="*/ 2147483646 w 1173"/>
              <a:gd name="T59" fmla="*/ 2147483646 h 2327"/>
              <a:gd name="T60" fmla="*/ 2147483646 w 1173"/>
              <a:gd name="T61" fmla="*/ 2147483646 h 2327"/>
              <a:gd name="T62" fmla="*/ 2147483646 w 1173"/>
              <a:gd name="T63" fmla="*/ 2147483646 h 2327"/>
              <a:gd name="T64" fmla="*/ 2147483646 w 1173"/>
              <a:gd name="T65" fmla="*/ 2147483646 h 2327"/>
              <a:gd name="T66" fmla="*/ 2147483646 w 1173"/>
              <a:gd name="T67" fmla="*/ 2147483646 h 2327"/>
              <a:gd name="T68" fmla="*/ 2147483646 w 1173"/>
              <a:gd name="T69" fmla="*/ 2147483646 h 2327"/>
              <a:gd name="T70" fmla="*/ 2147483646 w 1173"/>
              <a:gd name="T71" fmla="*/ 2147483646 h 2327"/>
              <a:gd name="T72" fmla="*/ 2147483646 w 1173"/>
              <a:gd name="T73" fmla="*/ 2147483646 h 2327"/>
              <a:gd name="T74" fmla="*/ 2147483646 w 1173"/>
              <a:gd name="T75" fmla="*/ 2147483646 h 2327"/>
              <a:gd name="T76" fmla="*/ 2147483646 w 1173"/>
              <a:gd name="T77" fmla="*/ 2147483646 h 2327"/>
              <a:gd name="T78" fmla="*/ 2147483646 w 1173"/>
              <a:gd name="T79" fmla="*/ 2147483646 h 2327"/>
              <a:gd name="T80" fmla="*/ 2147483646 w 1173"/>
              <a:gd name="T81" fmla="*/ 2147483646 h 2327"/>
              <a:gd name="T82" fmla="*/ 2147483646 w 1173"/>
              <a:gd name="T83" fmla="*/ 2147483646 h 2327"/>
              <a:gd name="T84" fmla="*/ 2147483646 w 1173"/>
              <a:gd name="T85" fmla="*/ 2147483646 h 2327"/>
              <a:gd name="T86" fmla="*/ 2147483646 w 1173"/>
              <a:gd name="T87" fmla="*/ 2147483646 h 2327"/>
              <a:gd name="T88" fmla="*/ 2147483646 w 1173"/>
              <a:gd name="T89" fmla="*/ 2147483646 h 2327"/>
              <a:gd name="T90" fmla="*/ 2147483646 w 1173"/>
              <a:gd name="T91" fmla="*/ 2147483646 h 2327"/>
              <a:gd name="T92" fmla="*/ 2147483646 w 1173"/>
              <a:gd name="T93" fmla="*/ 2147483646 h 2327"/>
              <a:gd name="T94" fmla="*/ 2147483646 w 1173"/>
              <a:gd name="T95" fmla="*/ 2147483646 h 2327"/>
              <a:gd name="T96" fmla="*/ 2147483646 w 1173"/>
              <a:gd name="T97" fmla="*/ 2147483646 h 2327"/>
              <a:gd name="T98" fmla="*/ 2147483646 w 1173"/>
              <a:gd name="T99" fmla="*/ 2147483646 h 2327"/>
              <a:gd name="T100" fmla="*/ 2147483646 w 1173"/>
              <a:gd name="T101" fmla="*/ 2147483646 h 2327"/>
              <a:gd name="T102" fmla="*/ 2147483646 w 1173"/>
              <a:gd name="T103" fmla="*/ 2147483646 h 2327"/>
              <a:gd name="T104" fmla="*/ 2147483646 w 1173"/>
              <a:gd name="T105" fmla="*/ 2147483646 h 2327"/>
              <a:gd name="T106" fmla="*/ 2147483646 w 1173"/>
              <a:gd name="T107" fmla="*/ 2147483646 h 2327"/>
              <a:gd name="T108" fmla="*/ 2147483646 w 1173"/>
              <a:gd name="T109" fmla="*/ 2147483646 h 2327"/>
              <a:gd name="T110" fmla="*/ 2147483646 w 1173"/>
              <a:gd name="T111" fmla="*/ 2147483646 h 2327"/>
              <a:gd name="T112" fmla="*/ 2147483646 w 1173"/>
              <a:gd name="T113" fmla="*/ 2147483646 h 2327"/>
              <a:gd name="T114" fmla="*/ 2147483646 w 1173"/>
              <a:gd name="T115" fmla="*/ 2147483646 h 2327"/>
              <a:gd name="T116" fmla="*/ 2147483646 w 1173"/>
              <a:gd name="T117" fmla="*/ 2147483646 h 2327"/>
              <a:gd name="T118" fmla="*/ 2147483646 w 1173"/>
              <a:gd name="T119" fmla="*/ 2147483646 h 2327"/>
              <a:gd name="T120" fmla="*/ 2147483646 w 1173"/>
              <a:gd name="T121" fmla="*/ 0 h 2327"/>
              <a:gd name="T122" fmla="*/ 2147483646 w 1173"/>
              <a:gd name="T123" fmla="*/ 2147483646 h 232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173" h="2327">
                <a:moveTo>
                  <a:pt x="90" y="10"/>
                </a:moveTo>
                <a:cubicBezTo>
                  <a:pt x="77" y="89"/>
                  <a:pt x="86" y="53"/>
                  <a:pt x="60" y="130"/>
                </a:cubicBezTo>
                <a:cubicBezTo>
                  <a:pt x="53" y="150"/>
                  <a:pt x="40" y="189"/>
                  <a:pt x="40" y="189"/>
                </a:cubicBezTo>
                <a:cubicBezTo>
                  <a:pt x="55" y="262"/>
                  <a:pt x="40" y="225"/>
                  <a:pt x="90" y="298"/>
                </a:cubicBezTo>
                <a:cubicBezTo>
                  <a:pt x="103" y="318"/>
                  <a:pt x="149" y="338"/>
                  <a:pt x="149" y="338"/>
                </a:cubicBezTo>
                <a:cubicBezTo>
                  <a:pt x="156" y="348"/>
                  <a:pt x="161" y="360"/>
                  <a:pt x="169" y="368"/>
                </a:cubicBezTo>
                <a:cubicBezTo>
                  <a:pt x="177" y="376"/>
                  <a:pt x="197" y="376"/>
                  <a:pt x="199" y="388"/>
                </a:cubicBezTo>
                <a:cubicBezTo>
                  <a:pt x="204" y="414"/>
                  <a:pt x="194" y="441"/>
                  <a:pt x="189" y="467"/>
                </a:cubicBezTo>
                <a:cubicBezTo>
                  <a:pt x="187" y="477"/>
                  <a:pt x="186" y="489"/>
                  <a:pt x="179" y="497"/>
                </a:cubicBezTo>
                <a:cubicBezTo>
                  <a:pt x="162" y="514"/>
                  <a:pt x="140" y="524"/>
                  <a:pt x="120" y="537"/>
                </a:cubicBezTo>
                <a:cubicBezTo>
                  <a:pt x="110" y="544"/>
                  <a:pt x="90" y="557"/>
                  <a:pt x="90" y="557"/>
                </a:cubicBezTo>
                <a:cubicBezTo>
                  <a:pt x="51" y="613"/>
                  <a:pt x="44" y="603"/>
                  <a:pt x="20" y="676"/>
                </a:cubicBezTo>
                <a:cubicBezTo>
                  <a:pt x="17" y="686"/>
                  <a:pt x="13" y="696"/>
                  <a:pt x="10" y="706"/>
                </a:cubicBezTo>
                <a:cubicBezTo>
                  <a:pt x="7" y="716"/>
                  <a:pt x="0" y="735"/>
                  <a:pt x="0" y="735"/>
                </a:cubicBezTo>
                <a:cubicBezTo>
                  <a:pt x="15" y="780"/>
                  <a:pt x="37" y="822"/>
                  <a:pt x="70" y="855"/>
                </a:cubicBezTo>
                <a:cubicBezTo>
                  <a:pt x="62" y="958"/>
                  <a:pt x="36" y="1063"/>
                  <a:pt x="70" y="1162"/>
                </a:cubicBezTo>
                <a:cubicBezTo>
                  <a:pt x="73" y="1199"/>
                  <a:pt x="72" y="1236"/>
                  <a:pt x="80" y="1272"/>
                </a:cubicBezTo>
                <a:cubicBezTo>
                  <a:pt x="82" y="1283"/>
                  <a:pt x="99" y="1289"/>
                  <a:pt x="100" y="1301"/>
                </a:cubicBezTo>
                <a:cubicBezTo>
                  <a:pt x="105" y="1364"/>
                  <a:pt x="96" y="1384"/>
                  <a:pt x="80" y="1431"/>
                </a:cubicBezTo>
                <a:cubicBezTo>
                  <a:pt x="72" y="1537"/>
                  <a:pt x="60" y="1620"/>
                  <a:pt x="120" y="1709"/>
                </a:cubicBezTo>
                <a:cubicBezTo>
                  <a:pt x="145" y="1786"/>
                  <a:pt x="154" y="1869"/>
                  <a:pt x="199" y="1937"/>
                </a:cubicBezTo>
                <a:cubicBezTo>
                  <a:pt x="210" y="1980"/>
                  <a:pt x="230" y="2022"/>
                  <a:pt x="239" y="2066"/>
                </a:cubicBezTo>
                <a:cubicBezTo>
                  <a:pt x="248" y="2109"/>
                  <a:pt x="249" y="2155"/>
                  <a:pt x="268" y="2195"/>
                </a:cubicBezTo>
                <a:cubicBezTo>
                  <a:pt x="273" y="2206"/>
                  <a:pt x="283" y="2214"/>
                  <a:pt x="288" y="2225"/>
                </a:cubicBezTo>
                <a:cubicBezTo>
                  <a:pt x="313" y="2280"/>
                  <a:pt x="296" y="2303"/>
                  <a:pt x="358" y="2324"/>
                </a:cubicBezTo>
                <a:cubicBezTo>
                  <a:pt x="445" y="2314"/>
                  <a:pt x="453" y="2327"/>
                  <a:pt x="477" y="2255"/>
                </a:cubicBezTo>
                <a:cubicBezTo>
                  <a:pt x="474" y="2225"/>
                  <a:pt x="473" y="2195"/>
                  <a:pt x="467" y="2165"/>
                </a:cubicBezTo>
                <a:cubicBezTo>
                  <a:pt x="463" y="2145"/>
                  <a:pt x="447" y="2106"/>
                  <a:pt x="447" y="2106"/>
                </a:cubicBezTo>
                <a:cubicBezTo>
                  <a:pt x="461" y="2023"/>
                  <a:pt x="453" y="2045"/>
                  <a:pt x="527" y="2026"/>
                </a:cubicBezTo>
                <a:cubicBezTo>
                  <a:pt x="559" y="1979"/>
                  <a:pt x="543" y="2009"/>
                  <a:pt x="566" y="1937"/>
                </a:cubicBezTo>
                <a:cubicBezTo>
                  <a:pt x="569" y="1927"/>
                  <a:pt x="573" y="1917"/>
                  <a:pt x="576" y="1907"/>
                </a:cubicBezTo>
                <a:cubicBezTo>
                  <a:pt x="579" y="1897"/>
                  <a:pt x="586" y="1877"/>
                  <a:pt x="586" y="1877"/>
                </a:cubicBezTo>
                <a:cubicBezTo>
                  <a:pt x="589" y="1827"/>
                  <a:pt x="588" y="1777"/>
                  <a:pt x="596" y="1728"/>
                </a:cubicBezTo>
                <a:cubicBezTo>
                  <a:pt x="610" y="1640"/>
                  <a:pt x="697" y="1647"/>
                  <a:pt x="765" y="1639"/>
                </a:cubicBezTo>
                <a:cubicBezTo>
                  <a:pt x="825" y="1579"/>
                  <a:pt x="810" y="1507"/>
                  <a:pt x="835" y="1431"/>
                </a:cubicBezTo>
                <a:cubicBezTo>
                  <a:pt x="841" y="1411"/>
                  <a:pt x="834" y="1378"/>
                  <a:pt x="854" y="1371"/>
                </a:cubicBezTo>
                <a:cubicBezTo>
                  <a:pt x="884" y="1361"/>
                  <a:pt x="914" y="1351"/>
                  <a:pt x="944" y="1341"/>
                </a:cubicBezTo>
                <a:cubicBezTo>
                  <a:pt x="954" y="1338"/>
                  <a:pt x="974" y="1331"/>
                  <a:pt x="974" y="1331"/>
                </a:cubicBezTo>
                <a:cubicBezTo>
                  <a:pt x="1022" y="1254"/>
                  <a:pt x="960" y="1344"/>
                  <a:pt x="1023" y="1282"/>
                </a:cubicBezTo>
                <a:cubicBezTo>
                  <a:pt x="1060" y="1246"/>
                  <a:pt x="1090" y="1189"/>
                  <a:pt x="1113" y="1143"/>
                </a:cubicBezTo>
                <a:cubicBezTo>
                  <a:pt x="1110" y="1080"/>
                  <a:pt x="1109" y="1017"/>
                  <a:pt x="1103" y="954"/>
                </a:cubicBezTo>
                <a:cubicBezTo>
                  <a:pt x="1098" y="900"/>
                  <a:pt x="1045" y="859"/>
                  <a:pt x="1023" y="815"/>
                </a:cubicBezTo>
                <a:cubicBezTo>
                  <a:pt x="1006" y="781"/>
                  <a:pt x="995" y="751"/>
                  <a:pt x="984" y="715"/>
                </a:cubicBezTo>
                <a:cubicBezTo>
                  <a:pt x="994" y="682"/>
                  <a:pt x="1001" y="649"/>
                  <a:pt x="1033" y="626"/>
                </a:cubicBezTo>
                <a:cubicBezTo>
                  <a:pt x="1060" y="606"/>
                  <a:pt x="1113" y="567"/>
                  <a:pt x="1113" y="567"/>
                </a:cubicBezTo>
                <a:cubicBezTo>
                  <a:pt x="1143" y="519"/>
                  <a:pt x="1128" y="548"/>
                  <a:pt x="1152" y="477"/>
                </a:cubicBezTo>
                <a:cubicBezTo>
                  <a:pt x="1155" y="467"/>
                  <a:pt x="1159" y="457"/>
                  <a:pt x="1162" y="447"/>
                </a:cubicBezTo>
                <a:cubicBezTo>
                  <a:pt x="1165" y="437"/>
                  <a:pt x="1172" y="418"/>
                  <a:pt x="1172" y="418"/>
                </a:cubicBezTo>
                <a:cubicBezTo>
                  <a:pt x="1169" y="395"/>
                  <a:pt x="1173" y="369"/>
                  <a:pt x="1162" y="348"/>
                </a:cubicBezTo>
                <a:cubicBezTo>
                  <a:pt x="1157" y="339"/>
                  <a:pt x="1139" y="346"/>
                  <a:pt x="1132" y="338"/>
                </a:cubicBezTo>
                <a:cubicBezTo>
                  <a:pt x="1125" y="331"/>
                  <a:pt x="1128" y="317"/>
                  <a:pt x="1123" y="308"/>
                </a:cubicBezTo>
                <a:cubicBezTo>
                  <a:pt x="1118" y="297"/>
                  <a:pt x="1110" y="289"/>
                  <a:pt x="1103" y="279"/>
                </a:cubicBezTo>
                <a:cubicBezTo>
                  <a:pt x="1085" y="224"/>
                  <a:pt x="1082" y="201"/>
                  <a:pt x="1033" y="169"/>
                </a:cubicBezTo>
                <a:cubicBezTo>
                  <a:pt x="1009" y="99"/>
                  <a:pt x="1030" y="122"/>
                  <a:pt x="984" y="90"/>
                </a:cubicBezTo>
                <a:cubicBezTo>
                  <a:pt x="891" y="121"/>
                  <a:pt x="964" y="124"/>
                  <a:pt x="825" y="110"/>
                </a:cubicBezTo>
                <a:cubicBezTo>
                  <a:pt x="722" y="117"/>
                  <a:pt x="671" y="132"/>
                  <a:pt x="576" y="120"/>
                </a:cubicBezTo>
                <a:cubicBezTo>
                  <a:pt x="456" y="89"/>
                  <a:pt x="653" y="137"/>
                  <a:pt x="358" y="100"/>
                </a:cubicBezTo>
                <a:cubicBezTo>
                  <a:pt x="337" y="97"/>
                  <a:pt x="298" y="80"/>
                  <a:pt x="298" y="80"/>
                </a:cubicBezTo>
                <a:cubicBezTo>
                  <a:pt x="262" y="44"/>
                  <a:pt x="226" y="36"/>
                  <a:pt x="179" y="20"/>
                </a:cubicBezTo>
                <a:cubicBezTo>
                  <a:pt x="169" y="17"/>
                  <a:pt x="159" y="13"/>
                  <a:pt x="149" y="10"/>
                </a:cubicBezTo>
                <a:cubicBezTo>
                  <a:pt x="139" y="7"/>
                  <a:pt x="120" y="0"/>
                  <a:pt x="120" y="0"/>
                </a:cubicBezTo>
                <a:cubicBezTo>
                  <a:pt x="110" y="3"/>
                  <a:pt x="90" y="10"/>
                  <a:pt x="90" y="10"/>
                </a:cubicBezTo>
                <a:close/>
              </a:path>
            </a:pathLst>
          </a:custGeom>
          <a:solidFill>
            <a:srgbClr val="000000"/>
          </a:solidFill>
          <a:ln w="9525" cap="flat"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102854" name="Group 6"/>
          <p:cNvGrpSpPr>
            <a:grpSpLocks/>
          </p:cNvGrpSpPr>
          <p:nvPr/>
        </p:nvGrpSpPr>
        <p:grpSpPr bwMode="auto">
          <a:xfrm>
            <a:off x="303213" y="3357563"/>
            <a:ext cx="3232150" cy="1998662"/>
            <a:chOff x="191" y="2115"/>
            <a:chExt cx="2036" cy="1259"/>
          </a:xfrm>
        </p:grpSpPr>
        <p:sp>
          <p:nvSpPr>
            <p:cNvPr id="521237" name="AutoShape 7"/>
            <p:cNvSpPr>
              <a:spLocks noChangeArrowheads="1"/>
            </p:cNvSpPr>
            <p:nvPr/>
          </p:nvSpPr>
          <p:spPr bwMode="auto">
            <a:xfrm>
              <a:off x="191" y="2115"/>
              <a:ext cx="1984" cy="686"/>
            </a:xfrm>
            <a:prstGeom prst="curvedLeftArrow">
              <a:avLst>
                <a:gd name="adj1" fmla="val 20000"/>
                <a:gd name="adj2" fmla="val 40000"/>
                <a:gd name="adj3" fmla="val 96404"/>
              </a:avLst>
            </a:prstGeom>
            <a:solidFill>
              <a:srgbClr val="FF0000"/>
            </a:solidFill>
            <a:ln w="9525">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600"/>
            </a:p>
          </p:txBody>
        </p:sp>
        <p:sp>
          <p:nvSpPr>
            <p:cNvPr id="1102856" name="Text Box 8"/>
            <p:cNvSpPr txBox="1">
              <a:spLocks noChangeArrowheads="1"/>
            </p:cNvSpPr>
            <p:nvPr/>
          </p:nvSpPr>
          <p:spPr bwMode="auto">
            <a:xfrm>
              <a:off x="279" y="2792"/>
              <a:ext cx="1948" cy="582"/>
            </a:xfrm>
            <a:prstGeom prst="rect">
              <a:avLst/>
            </a:prstGeom>
            <a:noFill/>
            <a:ln>
              <a:noFill/>
            </a:ln>
            <a:effectLst/>
            <a:extLs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5400" dirty="0">
                  <a:solidFill>
                    <a:srgbClr val="FF0000"/>
                  </a:solidFill>
                  <a:effectLst>
                    <a:outerShdw blurRad="38100" dist="38100" dir="2700000" algn="tl">
                      <a:srgbClr val="000000"/>
                    </a:outerShdw>
                  </a:effectLst>
                  <a:latin typeface="Angsana New" panose="02020603050405020304" pitchFamily="18" charset="-34"/>
                </a:rPr>
                <a:t>Flue Gas 260 C</a:t>
              </a:r>
              <a:endParaRPr lang="th-TH" altLang="en-US" sz="5400" dirty="0">
                <a:solidFill>
                  <a:srgbClr val="FF0000"/>
                </a:solidFill>
                <a:effectLst>
                  <a:outerShdw blurRad="38100" dist="38100" dir="2700000" algn="tl">
                    <a:srgbClr val="000000"/>
                  </a:outerShdw>
                </a:effectLst>
                <a:latin typeface="Angsana New" panose="02020603050405020304" pitchFamily="18" charset="-34"/>
              </a:endParaRPr>
            </a:p>
          </p:txBody>
        </p:sp>
      </p:grpSp>
      <p:sp>
        <p:nvSpPr>
          <p:cNvPr id="1102857" name="Freeform 9"/>
          <p:cNvSpPr>
            <a:spLocks/>
          </p:cNvSpPr>
          <p:nvPr/>
        </p:nvSpPr>
        <p:spPr bwMode="auto">
          <a:xfrm>
            <a:off x="4745038" y="3468688"/>
            <a:ext cx="3760787" cy="1276350"/>
          </a:xfrm>
          <a:custGeom>
            <a:avLst/>
            <a:gdLst>
              <a:gd name="T0" fmla="*/ 2147483646 w 2369"/>
              <a:gd name="T1" fmla="*/ 2147483646 h 804"/>
              <a:gd name="T2" fmla="*/ 2147483646 w 2369"/>
              <a:gd name="T3" fmla="*/ 2147483646 h 804"/>
              <a:gd name="T4" fmla="*/ 2147483646 w 2369"/>
              <a:gd name="T5" fmla="*/ 2147483646 h 804"/>
              <a:gd name="T6" fmla="*/ 2147483646 w 2369"/>
              <a:gd name="T7" fmla="*/ 2147483646 h 804"/>
              <a:gd name="T8" fmla="*/ 2147483646 w 2369"/>
              <a:gd name="T9" fmla="*/ 2147483646 h 804"/>
              <a:gd name="T10" fmla="*/ 2147483646 w 2369"/>
              <a:gd name="T11" fmla="*/ 2147483646 h 804"/>
              <a:gd name="T12" fmla="*/ 2147483646 w 2369"/>
              <a:gd name="T13" fmla="*/ 2147483646 h 804"/>
              <a:gd name="T14" fmla="*/ 2147483646 w 2369"/>
              <a:gd name="T15" fmla="*/ 2147483646 h 804"/>
              <a:gd name="T16" fmla="*/ 2147483646 w 2369"/>
              <a:gd name="T17" fmla="*/ 2147483646 h 804"/>
              <a:gd name="T18" fmla="*/ 2147483646 w 2369"/>
              <a:gd name="T19" fmla="*/ 2147483646 h 804"/>
              <a:gd name="T20" fmla="*/ 2147483646 w 2369"/>
              <a:gd name="T21" fmla="*/ 2147483646 h 804"/>
              <a:gd name="T22" fmla="*/ 2147483646 w 2369"/>
              <a:gd name="T23" fmla="*/ 2147483646 h 804"/>
              <a:gd name="T24" fmla="*/ 0 w 2369"/>
              <a:gd name="T25" fmla="*/ 2147483646 h 804"/>
              <a:gd name="T26" fmla="*/ 2147483646 w 2369"/>
              <a:gd name="T27" fmla="*/ 2147483646 h 804"/>
              <a:gd name="T28" fmla="*/ 2147483646 w 2369"/>
              <a:gd name="T29" fmla="*/ 2147483646 h 804"/>
              <a:gd name="T30" fmla="*/ 2147483646 w 2369"/>
              <a:gd name="T31" fmla="*/ 2147483646 h 804"/>
              <a:gd name="T32" fmla="*/ 2147483646 w 2369"/>
              <a:gd name="T33" fmla="*/ 2147483646 h 804"/>
              <a:gd name="T34" fmla="*/ 2147483646 w 2369"/>
              <a:gd name="T35" fmla="*/ 2147483646 h 804"/>
              <a:gd name="T36" fmla="*/ 2147483646 w 2369"/>
              <a:gd name="T37" fmla="*/ 2147483646 h 804"/>
              <a:gd name="T38" fmla="*/ 2147483646 w 2369"/>
              <a:gd name="T39" fmla="*/ 2147483646 h 804"/>
              <a:gd name="T40" fmla="*/ 2147483646 w 2369"/>
              <a:gd name="T41" fmla="*/ 2147483646 h 804"/>
              <a:gd name="T42" fmla="*/ 2147483646 w 2369"/>
              <a:gd name="T43" fmla="*/ 0 h 804"/>
              <a:gd name="T44" fmla="*/ 2147483646 w 2369"/>
              <a:gd name="T45" fmla="*/ 2147483646 h 804"/>
              <a:gd name="T46" fmla="*/ 2147483646 w 2369"/>
              <a:gd name="T47" fmla="*/ 2147483646 h 804"/>
              <a:gd name="T48" fmla="*/ 2147483646 w 2369"/>
              <a:gd name="T49" fmla="*/ 2147483646 h 804"/>
              <a:gd name="T50" fmla="*/ 2147483646 w 2369"/>
              <a:gd name="T51" fmla="*/ 2147483646 h 804"/>
              <a:gd name="T52" fmla="*/ 2147483646 w 2369"/>
              <a:gd name="T53" fmla="*/ 2147483646 h 804"/>
              <a:gd name="T54" fmla="*/ 2147483646 w 2369"/>
              <a:gd name="T55" fmla="*/ 2147483646 h 804"/>
              <a:gd name="T56" fmla="*/ 2147483646 w 2369"/>
              <a:gd name="T57" fmla="*/ 2147483646 h 804"/>
              <a:gd name="T58" fmla="*/ 2147483646 w 2369"/>
              <a:gd name="T59" fmla="*/ 2147483646 h 804"/>
              <a:gd name="T60" fmla="*/ 2147483646 w 2369"/>
              <a:gd name="T61" fmla="*/ 2147483646 h 804"/>
              <a:gd name="T62" fmla="*/ 2147483646 w 2369"/>
              <a:gd name="T63" fmla="*/ 2147483646 h 804"/>
              <a:gd name="T64" fmla="*/ 2147483646 w 2369"/>
              <a:gd name="T65" fmla="*/ 2147483646 h 804"/>
              <a:gd name="T66" fmla="*/ 2147483646 w 2369"/>
              <a:gd name="T67" fmla="*/ 2147483646 h 804"/>
              <a:gd name="T68" fmla="*/ 2147483646 w 2369"/>
              <a:gd name="T69" fmla="*/ 2147483646 h 804"/>
              <a:gd name="T70" fmla="*/ 2147483646 w 2369"/>
              <a:gd name="T71" fmla="*/ 2147483646 h 804"/>
              <a:gd name="T72" fmla="*/ 2147483646 w 2369"/>
              <a:gd name="T73" fmla="*/ 2147483646 h 804"/>
              <a:gd name="T74" fmla="*/ 2147483646 w 2369"/>
              <a:gd name="T75" fmla="*/ 2147483646 h 804"/>
              <a:gd name="T76" fmla="*/ 2147483646 w 2369"/>
              <a:gd name="T77" fmla="*/ 2147483646 h 804"/>
              <a:gd name="T78" fmla="*/ 2147483646 w 2369"/>
              <a:gd name="T79" fmla="*/ 2147483646 h 80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369" h="804">
                <a:moveTo>
                  <a:pt x="1788" y="655"/>
                </a:moveTo>
                <a:cubicBezTo>
                  <a:pt x="1736" y="638"/>
                  <a:pt x="1682" y="630"/>
                  <a:pt x="1629" y="616"/>
                </a:cubicBezTo>
                <a:cubicBezTo>
                  <a:pt x="1521" y="587"/>
                  <a:pt x="1683" y="629"/>
                  <a:pt x="1569" y="586"/>
                </a:cubicBezTo>
                <a:cubicBezTo>
                  <a:pt x="1546" y="577"/>
                  <a:pt x="1453" y="568"/>
                  <a:pt x="1440" y="566"/>
                </a:cubicBezTo>
                <a:cubicBezTo>
                  <a:pt x="1377" y="545"/>
                  <a:pt x="1337" y="548"/>
                  <a:pt x="1271" y="556"/>
                </a:cubicBezTo>
                <a:cubicBezTo>
                  <a:pt x="1261" y="559"/>
                  <a:pt x="1251" y="561"/>
                  <a:pt x="1242" y="566"/>
                </a:cubicBezTo>
                <a:cubicBezTo>
                  <a:pt x="1231" y="571"/>
                  <a:pt x="1223" y="581"/>
                  <a:pt x="1212" y="586"/>
                </a:cubicBezTo>
                <a:cubicBezTo>
                  <a:pt x="1193" y="595"/>
                  <a:pt x="1152" y="606"/>
                  <a:pt x="1152" y="606"/>
                </a:cubicBezTo>
                <a:cubicBezTo>
                  <a:pt x="1108" y="649"/>
                  <a:pt x="1094" y="640"/>
                  <a:pt x="1033" y="655"/>
                </a:cubicBezTo>
                <a:cubicBezTo>
                  <a:pt x="963" y="673"/>
                  <a:pt x="920" y="687"/>
                  <a:pt x="844" y="695"/>
                </a:cubicBezTo>
                <a:cubicBezTo>
                  <a:pt x="768" y="721"/>
                  <a:pt x="716" y="736"/>
                  <a:pt x="636" y="745"/>
                </a:cubicBezTo>
                <a:cubicBezTo>
                  <a:pt x="523" y="773"/>
                  <a:pt x="414" y="792"/>
                  <a:pt x="298" y="804"/>
                </a:cubicBezTo>
                <a:cubicBezTo>
                  <a:pt x="198" y="795"/>
                  <a:pt x="100" y="772"/>
                  <a:pt x="0" y="755"/>
                </a:cubicBezTo>
                <a:cubicBezTo>
                  <a:pt x="69" y="709"/>
                  <a:pt x="78" y="614"/>
                  <a:pt x="149" y="566"/>
                </a:cubicBezTo>
                <a:cubicBezTo>
                  <a:pt x="172" y="531"/>
                  <a:pt x="188" y="510"/>
                  <a:pt x="229" y="496"/>
                </a:cubicBezTo>
                <a:cubicBezTo>
                  <a:pt x="280" y="445"/>
                  <a:pt x="295" y="357"/>
                  <a:pt x="318" y="288"/>
                </a:cubicBezTo>
                <a:cubicBezTo>
                  <a:pt x="325" y="268"/>
                  <a:pt x="358" y="275"/>
                  <a:pt x="378" y="268"/>
                </a:cubicBezTo>
                <a:cubicBezTo>
                  <a:pt x="427" y="252"/>
                  <a:pt x="476" y="245"/>
                  <a:pt x="527" y="238"/>
                </a:cubicBezTo>
                <a:cubicBezTo>
                  <a:pt x="597" y="190"/>
                  <a:pt x="563" y="203"/>
                  <a:pt x="626" y="189"/>
                </a:cubicBezTo>
                <a:cubicBezTo>
                  <a:pt x="684" y="150"/>
                  <a:pt x="675" y="89"/>
                  <a:pt x="735" y="59"/>
                </a:cubicBezTo>
                <a:cubicBezTo>
                  <a:pt x="773" y="40"/>
                  <a:pt x="813" y="24"/>
                  <a:pt x="854" y="10"/>
                </a:cubicBezTo>
                <a:cubicBezTo>
                  <a:pt x="864" y="7"/>
                  <a:pt x="884" y="0"/>
                  <a:pt x="884" y="0"/>
                </a:cubicBezTo>
                <a:cubicBezTo>
                  <a:pt x="1016" y="13"/>
                  <a:pt x="1115" y="17"/>
                  <a:pt x="1252" y="10"/>
                </a:cubicBezTo>
                <a:cubicBezTo>
                  <a:pt x="1308" y="29"/>
                  <a:pt x="1363" y="42"/>
                  <a:pt x="1420" y="59"/>
                </a:cubicBezTo>
                <a:cubicBezTo>
                  <a:pt x="1450" y="68"/>
                  <a:pt x="1484" y="71"/>
                  <a:pt x="1510" y="89"/>
                </a:cubicBezTo>
                <a:cubicBezTo>
                  <a:pt x="1577" y="134"/>
                  <a:pt x="1640" y="214"/>
                  <a:pt x="1718" y="238"/>
                </a:cubicBezTo>
                <a:cubicBezTo>
                  <a:pt x="1737" y="244"/>
                  <a:pt x="1758" y="243"/>
                  <a:pt x="1778" y="248"/>
                </a:cubicBezTo>
                <a:cubicBezTo>
                  <a:pt x="1818" y="258"/>
                  <a:pt x="1858" y="275"/>
                  <a:pt x="1897" y="288"/>
                </a:cubicBezTo>
                <a:cubicBezTo>
                  <a:pt x="1979" y="315"/>
                  <a:pt x="1934" y="322"/>
                  <a:pt x="1986" y="357"/>
                </a:cubicBezTo>
                <a:cubicBezTo>
                  <a:pt x="1995" y="363"/>
                  <a:pt x="2007" y="362"/>
                  <a:pt x="2016" y="367"/>
                </a:cubicBezTo>
                <a:cubicBezTo>
                  <a:pt x="2050" y="384"/>
                  <a:pt x="2081" y="412"/>
                  <a:pt x="2116" y="427"/>
                </a:cubicBezTo>
                <a:cubicBezTo>
                  <a:pt x="2217" y="471"/>
                  <a:pt x="2250" y="452"/>
                  <a:pt x="2334" y="536"/>
                </a:cubicBezTo>
                <a:cubicBezTo>
                  <a:pt x="2346" y="571"/>
                  <a:pt x="2369" y="608"/>
                  <a:pt x="2344" y="645"/>
                </a:cubicBezTo>
                <a:cubicBezTo>
                  <a:pt x="2338" y="654"/>
                  <a:pt x="2323" y="650"/>
                  <a:pt x="2314" y="655"/>
                </a:cubicBezTo>
                <a:cubicBezTo>
                  <a:pt x="2303" y="660"/>
                  <a:pt x="2294" y="668"/>
                  <a:pt x="2284" y="675"/>
                </a:cubicBezTo>
                <a:cubicBezTo>
                  <a:pt x="2234" y="672"/>
                  <a:pt x="2184" y="672"/>
                  <a:pt x="2135" y="665"/>
                </a:cubicBezTo>
                <a:cubicBezTo>
                  <a:pt x="2069" y="655"/>
                  <a:pt x="2011" y="613"/>
                  <a:pt x="1947" y="596"/>
                </a:cubicBezTo>
                <a:cubicBezTo>
                  <a:pt x="1910" y="599"/>
                  <a:pt x="1874" y="601"/>
                  <a:pt x="1837" y="606"/>
                </a:cubicBezTo>
                <a:cubicBezTo>
                  <a:pt x="1808" y="610"/>
                  <a:pt x="1758" y="620"/>
                  <a:pt x="1758" y="635"/>
                </a:cubicBezTo>
                <a:cubicBezTo>
                  <a:pt x="1758" y="647"/>
                  <a:pt x="1778" y="648"/>
                  <a:pt x="1788" y="655"/>
                </a:cubicBezTo>
                <a:close/>
              </a:path>
            </a:pathLst>
          </a:custGeom>
          <a:solidFill>
            <a:srgbClr val="000000"/>
          </a:solidFill>
          <a:ln w="9525" cap="flat"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02858" name="Text Box 10"/>
          <p:cNvSpPr txBox="1">
            <a:spLocks noChangeArrowheads="1"/>
          </p:cNvSpPr>
          <p:nvPr/>
        </p:nvSpPr>
        <p:spPr bwMode="auto">
          <a:xfrm>
            <a:off x="4779963" y="5534025"/>
            <a:ext cx="4271962" cy="646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th-TH" altLang="en-US" sz="3600" dirty="0">
                <a:solidFill>
                  <a:srgbClr val="FF0000"/>
                </a:solidFill>
                <a:effectLst>
                  <a:outerShdw blurRad="38100" dist="38100" dir="2700000" algn="tl">
                    <a:srgbClr val="000000"/>
                  </a:outerShdw>
                </a:effectLst>
                <a:latin typeface="Angsana New" panose="02020603050405020304" pitchFamily="18" charset="-34"/>
              </a:rPr>
              <a:t>%</a:t>
            </a:r>
            <a:r>
              <a:rPr lang="en-US" altLang="en-US" sz="3600" dirty="0">
                <a:solidFill>
                  <a:srgbClr val="FF0000"/>
                </a:solidFill>
                <a:effectLst>
                  <a:outerShdw blurRad="38100" dist="38100" dir="2700000" algn="tl">
                    <a:srgbClr val="000000"/>
                  </a:outerShdw>
                </a:effectLst>
                <a:latin typeface="Angsana New" panose="02020603050405020304" pitchFamily="18" charset="-34"/>
              </a:rPr>
              <a:t>Solid </a:t>
            </a:r>
            <a:r>
              <a:rPr lang="th-TH" altLang="en-US" sz="3600" dirty="0">
                <a:solidFill>
                  <a:srgbClr val="FF0000"/>
                </a:solidFill>
                <a:effectLst>
                  <a:outerShdw blurRad="38100" dist="38100" dir="2700000" algn="tl">
                    <a:srgbClr val="000000"/>
                  </a:outerShdw>
                </a:effectLst>
                <a:latin typeface="Angsana New" panose="02020603050405020304" pitchFamily="18" charset="-34"/>
              </a:rPr>
              <a:t>เพิ่มขึ้น 5-10%</a:t>
            </a:r>
            <a:r>
              <a:rPr lang="en-US" altLang="en-US" sz="3600" dirty="0">
                <a:solidFill>
                  <a:srgbClr val="FF0000"/>
                </a:solidFill>
                <a:effectLst>
                  <a:outerShdw blurRad="38100" dist="38100" dir="2700000" algn="tl">
                    <a:srgbClr val="000000"/>
                  </a:outerShdw>
                </a:effectLst>
                <a:latin typeface="Angsana New" panose="02020603050405020304" pitchFamily="18" charset="-34"/>
              </a:rPr>
              <a:t> </a:t>
            </a:r>
            <a:endParaRPr lang="th-TH" altLang="en-US" sz="3600" dirty="0">
              <a:solidFill>
                <a:srgbClr val="FF0000"/>
              </a:solidFill>
              <a:effectLst>
                <a:outerShdw blurRad="38100" dist="38100" dir="2700000" algn="tl">
                  <a:srgbClr val="000000"/>
                </a:outerShdw>
              </a:effectLst>
              <a:latin typeface="Angsana New" panose="02020603050405020304" pitchFamily="18" charset="-34"/>
            </a:endParaRPr>
          </a:p>
        </p:txBody>
      </p:sp>
      <p:grpSp>
        <p:nvGrpSpPr>
          <p:cNvPr id="1102859" name="Group 11"/>
          <p:cNvGrpSpPr>
            <a:grpSpLocks/>
          </p:cNvGrpSpPr>
          <p:nvPr/>
        </p:nvGrpSpPr>
        <p:grpSpPr bwMode="auto">
          <a:xfrm>
            <a:off x="4013200" y="1782763"/>
            <a:ext cx="4557713" cy="1765300"/>
            <a:chOff x="2528" y="1211"/>
            <a:chExt cx="2871" cy="1112"/>
          </a:xfrm>
        </p:grpSpPr>
        <p:sp>
          <p:nvSpPr>
            <p:cNvPr id="521235" name="AutoShape 12"/>
            <p:cNvSpPr>
              <a:spLocks noChangeArrowheads="1"/>
            </p:cNvSpPr>
            <p:nvPr/>
          </p:nvSpPr>
          <p:spPr bwMode="auto">
            <a:xfrm>
              <a:off x="2722" y="1847"/>
              <a:ext cx="1004" cy="476"/>
            </a:xfrm>
            <a:prstGeom prst="curvedDownArrow">
              <a:avLst>
                <a:gd name="adj1" fmla="val 42185"/>
                <a:gd name="adj2" fmla="val 84370"/>
                <a:gd name="adj3" fmla="val 33333"/>
              </a:avLst>
            </a:prstGeom>
            <a:solidFill>
              <a:srgbClr val="FFFF00"/>
            </a:solidFill>
            <a:ln w="9525">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1102861" name="Text Box 13"/>
            <p:cNvSpPr txBox="1">
              <a:spLocks noChangeArrowheads="1"/>
            </p:cNvSpPr>
            <p:nvPr/>
          </p:nvSpPr>
          <p:spPr bwMode="auto">
            <a:xfrm>
              <a:off x="2528" y="1211"/>
              <a:ext cx="2871" cy="5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5400">
                  <a:solidFill>
                    <a:schemeClr val="bg1"/>
                  </a:solidFill>
                  <a:effectLst>
                    <a:outerShdw blurRad="38100" dist="38100" dir="2700000" algn="tl">
                      <a:srgbClr val="000000"/>
                    </a:outerShdw>
                  </a:effectLst>
                  <a:latin typeface="Angsana New" panose="02020603050405020304" pitchFamily="18" charset="-34"/>
                </a:rPr>
                <a:t>Black Liquor </a:t>
              </a:r>
              <a:r>
                <a:rPr lang="th-TH" altLang="en-US" sz="5400" dirty="0">
                  <a:solidFill>
                    <a:schemeClr val="bg1"/>
                  </a:solidFill>
                  <a:effectLst>
                    <a:outerShdw blurRad="38100" dist="38100" dir="2700000" algn="tl">
                      <a:srgbClr val="000000"/>
                    </a:outerShdw>
                  </a:effectLst>
                  <a:latin typeface="Angsana New" panose="02020603050405020304" pitchFamily="18" charset="-34"/>
                </a:rPr>
                <a:t>ไหลลง</a:t>
              </a:r>
            </a:p>
          </p:txBody>
        </p:sp>
      </p:grpSp>
      <p:sp>
        <p:nvSpPr>
          <p:cNvPr id="1102862" name="Text Box 14"/>
          <p:cNvSpPr txBox="1">
            <a:spLocks noChangeArrowheads="1"/>
          </p:cNvSpPr>
          <p:nvPr/>
        </p:nvSpPr>
        <p:spPr bwMode="auto">
          <a:xfrm>
            <a:off x="1852613" y="833438"/>
            <a:ext cx="5978525"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3200" dirty="0">
                <a:solidFill>
                  <a:srgbClr val="FF0000"/>
                </a:solidFill>
                <a:effectLst>
                  <a:outerShdw blurRad="38100" dist="38100" dir="2700000" algn="tl">
                    <a:srgbClr val="000000"/>
                  </a:outerShdw>
                </a:effectLst>
              </a:rPr>
              <a:t>Direct Contact Evaporator (DCE)</a:t>
            </a:r>
            <a:endParaRPr lang="th-TH" altLang="en-US" sz="3200" dirty="0">
              <a:solidFill>
                <a:srgbClr val="FF0000"/>
              </a:solidFill>
              <a:effectLst>
                <a:outerShdw blurRad="38100" dist="38100" dir="2700000" algn="tl">
                  <a:srgbClr val="000000"/>
                </a:outerShdw>
              </a:effectLst>
            </a:endParaRPr>
          </a:p>
        </p:txBody>
      </p:sp>
      <p:grpSp>
        <p:nvGrpSpPr>
          <p:cNvPr id="1102863" name="Group 15"/>
          <p:cNvGrpSpPr>
            <a:grpSpLocks/>
          </p:cNvGrpSpPr>
          <p:nvPr/>
        </p:nvGrpSpPr>
        <p:grpSpPr bwMode="auto">
          <a:xfrm>
            <a:off x="1244600" y="1727200"/>
            <a:ext cx="1289050" cy="1179513"/>
            <a:chOff x="784" y="1088"/>
            <a:chExt cx="812" cy="743"/>
          </a:xfrm>
        </p:grpSpPr>
        <p:sp>
          <p:nvSpPr>
            <p:cNvPr id="521230" name="Freeform 16"/>
            <p:cNvSpPr>
              <a:spLocks/>
            </p:cNvSpPr>
            <p:nvPr/>
          </p:nvSpPr>
          <p:spPr bwMode="auto">
            <a:xfrm>
              <a:off x="784" y="1088"/>
              <a:ext cx="166" cy="641"/>
            </a:xfrm>
            <a:custGeom>
              <a:avLst/>
              <a:gdLst>
                <a:gd name="T0" fmla="*/ 0 w 166"/>
                <a:gd name="T1" fmla="*/ 0 h 641"/>
                <a:gd name="T2" fmla="*/ 56 w 166"/>
                <a:gd name="T3" fmla="*/ 136 h 641"/>
                <a:gd name="T4" fmla="*/ 88 w 166"/>
                <a:gd name="T5" fmla="*/ 184 h 641"/>
                <a:gd name="T6" fmla="*/ 32 w 166"/>
                <a:gd name="T7" fmla="*/ 280 h 641"/>
                <a:gd name="T8" fmla="*/ 104 w 166"/>
                <a:gd name="T9" fmla="*/ 352 h 641"/>
                <a:gd name="T10" fmla="*/ 152 w 166"/>
                <a:gd name="T11" fmla="*/ 392 h 641"/>
                <a:gd name="T12" fmla="*/ 136 w 166"/>
                <a:gd name="T13" fmla="*/ 440 h 641"/>
                <a:gd name="T14" fmla="*/ 88 w 166"/>
                <a:gd name="T15" fmla="*/ 512 h 641"/>
                <a:gd name="T16" fmla="*/ 64 w 166"/>
                <a:gd name="T17" fmla="*/ 560 h 641"/>
                <a:gd name="T18" fmla="*/ 80 w 166"/>
                <a:gd name="T19" fmla="*/ 584 h 641"/>
                <a:gd name="T20" fmla="*/ 104 w 166"/>
                <a:gd name="T21" fmla="*/ 600 h 641"/>
                <a:gd name="T22" fmla="*/ 128 w 166"/>
                <a:gd name="T23" fmla="*/ 632 h 6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6" h="641">
                  <a:moveTo>
                    <a:pt x="0" y="0"/>
                  </a:moveTo>
                  <a:cubicBezTo>
                    <a:pt x="9" y="72"/>
                    <a:pt x="18" y="78"/>
                    <a:pt x="56" y="136"/>
                  </a:cubicBezTo>
                  <a:cubicBezTo>
                    <a:pt x="67" y="152"/>
                    <a:pt x="88" y="184"/>
                    <a:pt x="88" y="184"/>
                  </a:cubicBezTo>
                  <a:cubicBezTo>
                    <a:pt x="66" y="217"/>
                    <a:pt x="44" y="243"/>
                    <a:pt x="32" y="280"/>
                  </a:cubicBezTo>
                  <a:cubicBezTo>
                    <a:pt x="51" y="338"/>
                    <a:pt x="65" y="319"/>
                    <a:pt x="104" y="352"/>
                  </a:cubicBezTo>
                  <a:cubicBezTo>
                    <a:pt x="166" y="403"/>
                    <a:pt x="92" y="352"/>
                    <a:pt x="152" y="392"/>
                  </a:cubicBezTo>
                  <a:cubicBezTo>
                    <a:pt x="147" y="408"/>
                    <a:pt x="145" y="426"/>
                    <a:pt x="136" y="440"/>
                  </a:cubicBezTo>
                  <a:cubicBezTo>
                    <a:pt x="120" y="464"/>
                    <a:pt x="97" y="485"/>
                    <a:pt x="88" y="512"/>
                  </a:cubicBezTo>
                  <a:cubicBezTo>
                    <a:pt x="77" y="545"/>
                    <a:pt x="85" y="529"/>
                    <a:pt x="64" y="560"/>
                  </a:cubicBezTo>
                  <a:cubicBezTo>
                    <a:pt x="69" y="568"/>
                    <a:pt x="73" y="577"/>
                    <a:pt x="80" y="584"/>
                  </a:cubicBezTo>
                  <a:cubicBezTo>
                    <a:pt x="87" y="591"/>
                    <a:pt x="98" y="592"/>
                    <a:pt x="104" y="600"/>
                  </a:cubicBezTo>
                  <a:cubicBezTo>
                    <a:pt x="137" y="641"/>
                    <a:pt x="88" y="612"/>
                    <a:pt x="128" y="632"/>
                  </a:cubicBezTo>
                </a:path>
              </a:pathLst>
            </a:custGeom>
            <a:noFill/>
            <a:ln w="31750" cap="flat" cmpd="sng">
              <a:solidFill>
                <a:srgbClr val="FFFF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1231" name="Freeform 17"/>
            <p:cNvSpPr>
              <a:spLocks/>
            </p:cNvSpPr>
            <p:nvPr/>
          </p:nvSpPr>
          <p:spPr bwMode="auto">
            <a:xfrm>
              <a:off x="954" y="1122"/>
              <a:ext cx="166" cy="641"/>
            </a:xfrm>
            <a:custGeom>
              <a:avLst/>
              <a:gdLst>
                <a:gd name="T0" fmla="*/ 0 w 166"/>
                <a:gd name="T1" fmla="*/ 0 h 641"/>
                <a:gd name="T2" fmla="*/ 56 w 166"/>
                <a:gd name="T3" fmla="*/ 136 h 641"/>
                <a:gd name="T4" fmla="*/ 88 w 166"/>
                <a:gd name="T5" fmla="*/ 184 h 641"/>
                <a:gd name="T6" fmla="*/ 32 w 166"/>
                <a:gd name="T7" fmla="*/ 280 h 641"/>
                <a:gd name="T8" fmla="*/ 104 w 166"/>
                <a:gd name="T9" fmla="*/ 352 h 641"/>
                <a:gd name="T10" fmla="*/ 152 w 166"/>
                <a:gd name="T11" fmla="*/ 392 h 641"/>
                <a:gd name="T12" fmla="*/ 136 w 166"/>
                <a:gd name="T13" fmla="*/ 440 h 641"/>
                <a:gd name="T14" fmla="*/ 88 w 166"/>
                <a:gd name="T15" fmla="*/ 512 h 641"/>
                <a:gd name="T16" fmla="*/ 64 w 166"/>
                <a:gd name="T17" fmla="*/ 560 h 641"/>
                <a:gd name="T18" fmla="*/ 80 w 166"/>
                <a:gd name="T19" fmla="*/ 584 h 641"/>
                <a:gd name="T20" fmla="*/ 104 w 166"/>
                <a:gd name="T21" fmla="*/ 600 h 641"/>
                <a:gd name="T22" fmla="*/ 128 w 166"/>
                <a:gd name="T23" fmla="*/ 632 h 6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6" h="641">
                  <a:moveTo>
                    <a:pt x="0" y="0"/>
                  </a:moveTo>
                  <a:cubicBezTo>
                    <a:pt x="9" y="72"/>
                    <a:pt x="18" y="78"/>
                    <a:pt x="56" y="136"/>
                  </a:cubicBezTo>
                  <a:cubicBezTo>
                    <a:pt x="67" y="152"/>
                    <a:pt x="88" y="184"/>
                    <a:pt x="88" y="184"/>
                  </a:cubicBezTo>
                  <a:cubicBezTo>
                    <a:pt x="66" y="217"/>
                    <a:pt x="44" y="243"/>
                    <a:pt x="32" y="280"/>
                  </a:cubicBezTo>
                  <a:cubicBezTo>
                    <a:pt x="51" y="338"/>
                    <a:pt x="65" y="319"/>
                    <a:pt x="104" y="352"/>
                  </a:cubicBezTo>
                  <a:cubicBezTo>
                    <a:pt x="166" y="403"/>
                    <a:pt x="92" y="352"/>
                    <a:pt x="152" y="392"/>
                  </a:cubicBezTo>
                  <a:cubicBezTo>
                    <a:pt x="147" y="408"/>
                    <a:pt x="145" y="426"/>
                    <a:pt x="136" y="440"/>
                  </a:cubicBezTo>
                  <a:cubicBezTo>
                    <a:pt x="120" y="464"/>
                    <a:pt x="97" y="485"/>
                    <a:pt x="88" y="512"/>
                  </a:cubicBezTo>
                  <a:cubicBezTo>
                    <a:pt x="77" y="545"/>
                    <a:pt x="85" y="529"/>
                    <a:pt x="64" y="560"/>
                  </a:cubicBezTo>
                  <a:cubicBezTo>
                    <a:pt x="69" y="568"/>
                    <a:pt x="73" y="577"/>
                    <a:pt x="80" y="584"/>
                  </a:cubicBezTo>
                  <a:cubicBezTo>
                    <a:pt x="87" y="591"/>
                    <a:pt x="98" y="592"/>
                    <a:pt x="104" y="600"/>
                  </a:cubicBezTo>
                  <a:cubicBezTo>
                    <a:pt x="137" y="641"/>
                    <a:pt x="88" y="612"/>
                    <a:pt x="128" y="632"/>
                  </a:cubicBezTo>
                </a:path>
              </a:pathLst>
            </a:custGeom>
            <a:noFill/>
            <a:ln w="31750" cap="flat" cmpd="sng">
              <a:solidFill>
                <a:srgbClr val="FFFF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1232" name="Freeform 18"/>
            <p:cNvSpPr>
              <a:spLocks/>
            </p:cNvSpPr>
            <p:nvPr/>
          </p:nvSpPr>
          <p:spPr bwMode="auto">
            <a:xfrm>
              <a:off x="1124" y="1132"/>
              <a:ext cx="166" cy="641"/>
            </a:xfrm>
            <a:custGeom>
              <a:avLst/>
              <a:gdLst>
                <a:gd name="T0" fmla="*/ 0 w 166"/>
                <a:gd name="T1" fmla="*/ 0 h 641"/>
                <a:gd name="T2" fmla="*/ 56 w 166"/>
                <a:gd name="T3" fmla="*/ 136 h 641"/>
                <a:gd name="T4" fmla="*/ 88 w 166"/>
                <a:gd name="T5" fmla="*/ 184 h 641"/>
                <a:gd name="T6" fmla="*/ 32 w 166"/>
                <a:gd name="T7" fmla="*/ 280 h 641"/>
                <a:gd name="T8" fmla="*/ 104 w 166"/>
                <a:gd name="T9" fmla="*/ 352 h 641"/>
                <a:gd name="T10" fmla="*/ 152 w 166"/>
                <a:gd name="T11" fmla="*/ 392 h 641"/>
                <a:gd name="T12" fmla="*/ 136 w 166"/>
                <a:gd name="T13" fmla="*/ 440 h 641"/>
                <a:gd name="T14" fmla="*/ 88 w 166"/>
                <a:gd name="T15" fmla="*/ 512 h 641"/>
                <a:gd name="T16" fmla="*/ 64 w 166"/>
                <a:gd name="T17" fmla="*/ 560 h 641"/>
                <a:gd name="T18" fmla="*/ 80 w 166"/>
                <a:gd name="T19" fmla="*/ 584 h 641"/>
                <a:gd name="T20" fmla="*/ 104 w 166"/>
                <a:gd name="T21" fmla="*/ 600 h 641"/>
                <a:gd name="T22" fmla="*/ 128 w 166"/>
                <a:gd name="T23" fmla="*/ 632 h 6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6" h="641">
                  <a:moveTo>
                    <a:pt x="0" y="0"/>
                  </a:moveTo>
                  <a:cubicBezTo>
                    <a:pt x="9" y="72"/>
                    <a:pt x="18" y="78"/>
                    <a:pt x="56" y="136"/>
                  </a:cubicBezTo>
                  <a:cubicBezTo>
                    <a:pt x="67" y="152"/>
                    <a:pt x="88" y="184"/>
                    <a:pt x="88" y="184"/>
                  </a:cubicBezTo>
                  <a:cubicBezTo>
                    <a:pt x="66" y="217"/>
                    <a:pt x="44" y="243"/>
                    <a:pt x="32" y="280"/>
                  </a:cubicBezTo>
                  <a:cubicBezTo>
                    <a:pt x="51" y="338"/>
                    <a:pt x="65" y="319"/>
                    <a:pt x="104" y="352"/>
                  </a:cubicBezTo>
                  <a:cubicBezTo>
                    <a:pt x="166" y="403"/>
                    <a:pt x="92" y="352"/>
                    <a:pt x="152" y="392"/>
                  </a:cubicBezTo>
                  <a:cubicBezTo>
                    <a:pt x="147" y="408"/>
                    <a:pt x="145" y="426"/>
                    <a:pt x="136" y="440"/>
                  </a:cubicBezTo>
                  <a:cubicBezTo>
                    <a:pt x="120" y="464"/>
                    <a:pt x="97" y="485"/>
                    <a:pt x="88" y="512"/>
                  </a:cubicBezTo>
                  <a:cubicBezTo>
                    <a:pt x="77" y="545"/>
                    <a:pt x="85" y="529"/>
                    <a:pt x="64" y="560"/>
                  </a:cubicBezTo>
                  <a:cubicBezTo>
                    <a:pt x="69" y="568"/>
                    <a:pt x="73" y="577"/>
                    <a:pt x="80" y="584"/>
                  </a:cubicBezTo>
                  <a:cubicBezTo>
                    <a:pt x="87" y="591"/>
                    <a:pt x="98" y="592"/>
                    <a:pt x="104" y="600"/>
                  </a:cubicBezTo>
                  <a:cubicBezTo>
                    <a:pt x="137" y="641"/>
                    <a:pt x="88" y="612"/>
                    <a:pt x="128" y="632"/>
                  </a:cubicBezTo>
                </a:path>
              </a:pathLst>
            </a:custGeom>
            <a:noFill/>
            <a:ln w="31750" cap="flat" cmpd="sng">
              <a:solidFill>
                <a:srgbClr val="FFFF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1233" name="Freeform 19"/>
            <p:cNvSpPr>
              <a:spLocks/>
            </p:cNvSpPr>
            <p:nvPr/>
          </p:nvSpPr>
          <p:spPr bwMode="auto">
            <a:xfrm>
              <a:off x="1430" y="1190"/>
              <a:ext cx="166" cy="641"/>
            </a:xfrm>
            <a:custGeom>
              <a:avLst/>
              <a:gdLst>
                <a:gd name="T0" fmla="*/ 0 w 166"/>
                <a:gd name="T1" fmla="*/ 0 h 641"/>
                <a:gd name="T2" fmla="*/ 56 w 166"/>
                <a:gd name="T3" fmla="*/ 136 h 641"/>
                <a:gd name="T4" fmla="*/ 88 w 166"/>
                <a:gd name="T5" fmla="*/ 184 h 641"/>
                <a:gd name="T6" fmla="*/ 32 w 166"/>
                <a:gd name="T7" fmla="*/ 280 h 641"/>
                <a:gd name="T8" fmla="*/ 104 w 166"/>
                <a:gd name="T9" fmla="*/ 352 h 641"/>
                <a:gd name="T10" fmla="*/ 152 w 166"/>
                <a:gd name="T11" fmla="*/ 392 h 641"/>
                <a:gd name="T12" fmla="*/ 136 w 166"/>
                <a:gd name="T13" fmla="*/ 440 h 641"/>
                <a:gd name="T14" fmla="*/ 88 w 166"/>
                <a:gd name="T15" fmla="*/ 512 h 641"/>
                <a:gd name="T16" fmla="*/ 64 w 166"/>
                <a:gd name="T17" fmla="*/ 560 h 641"/>
                <a:gd name="T18" fmla="*/ 80 w 166"/>
                <a:gd name="T19" fmla="*/ 584 h 641"/>
                <a:gd name="T20" fmla="*/ 104 w 166"/>
                <a:gd name="T21" fmla="*/ 600 h 641"/>
                <a:gd name="T22" fmla="*/ 128 w 166"/>
                <a:gd name="T23" fmla="*/ 632 h 6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6" h="641">
                  <a:moveTo>
                    <a:pt x="0" y="0"/>
                  </a:moveTo>
                  <a:cubicBezTo>
                    <a:pt x="9" y="72"/>
                    <a:pt x="18" y="78"/>
                    <a:pt x="56" y="136"/>
                  </a:cubicBezTo>
                  <a:cubicBezTo>
                    <a:pt x="67" y="152"/>
                    <a:pt x="88" y="184"/>
                    <a:pt x="88" y="184"/>
                  </a:cubicBezTo>
                  <a:cubicBezTo>
                    <a:pt x="66" y="217"/>
                    <a:pt x="44" y="243"/>
                    <a:pt x="32" y="280"/>
                  </a:cubicBezTo>
                  <a:cubicBezTo>
                    <a:pt x="51" y="338"/>
                    <a:pt x="65" y="319"/>
                    <a:pt x="104" y="352"/>
                  </a:cubicBezTo>
                  <a:cubicBezTo>
                    <a:pt x="166" y="403"/>
                    <a:pt x="92" y="352"/>
                    <a:pt x="152" y="392"/>
                  </a:cubicBezTo>
                  <a:cubicBezTo>
                    <a:pt x="147" y="408"/>
                    <a:pt x="145" y="426"/>
                    <a:pt x="136" y="440"/>
                  </a:cubicBezTo>
                  <a:cubicBezTo>
                    <a:pt x="120" y="464"/>
                    <a:pt x="97" y="485"/>
                    <a:pt x="88" y="512"/>
                  </a:cubicBezTo>
                  <a:cubicBezTo>
                    <a:pt x="77" y="545"/>
                    <a:pt x="85" y="529"/>
                    <a:pt x="64" y="560"/>
                  </a:cubicBezTo>
                  <a:cubicBezTo>
                    <a:pt x="69" y="568"/>
                    <a:pt x="73" y="577"/>
                    <a:pt x="80" y="584"/>
                  </a:cubicBezTo>
                  <a:cubicBezTo>
                    <a:pt x="87" y="591"/>
                    <a:pt x="98" y="592"/>
                    <a:pt x="104" y="600"/>
                  </a:cubicBezTo>
                  <a:cubicBezTo>
                    <a:pt x="137" y="641"/>
                    <a:pt x="88" y="612"/>
                    <a:pt x="128" y="632"/>
                  </a:cubicBezTo>
                </a:path>
              </a:pathLst>
            </a:custGeom>
            <a:noFill/>
            <a:ln w="31750" cap="flat" cmpd="sng">
              <a:solidFill>
                <a:srgbClr val="FFFF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1234" name="Freeform 20"/>
            <p:cNvSpPr>
              <a:spLocks/>
            </p:cNvSpPr>
            <p:nvPr/>
          </p:nvSpPr>
          <p:spPr bwMode="auto">
            <a:xfrm>
              <a:off x="1288" y="1168"/>
              <a:ext cx="166" cy="641"/>
            </a:xfrm>
            <a:custGeom>
              <a:avLst/>
              <a:gdLst>
                <a:gd name="T0" fmla="*/ 0 w 166"/>
                <a:gd name="T1" fmla="*/ 0 h 641"/>
                <a:gd name="T2" fmla="*/ 56 w 166"/>
                <a:gd name="T3" fmla="*/ 136 h 641"/>
                <a:gd name="T4" fmla="*/ 88 w 166"/>
                <a:gd name="T5" fmla="*/ 184 h 641"/>
                <a:gd name="T6" fmla="*/ 32 w 166"/>
                <a:gd name="T7" fmla="*/ 280 h 641"/>
                <a:gd name="T8" fmla="*/ 104 w 166"/>
                <a:gd name="T9" fmla="*/ 352 h 641"/>
                <a:gd name="T10" fmla="*/ 152 w 166"/>
                <a:gd name="T11" fmla="*/ 392 h 641"/>
                <a:gd name="T12" fmla="*/ 136 w 166"/>
                <a:gd name="T13" fmla="*/ 440 h 641"/>
                <a:gd name="T14" fmla="*/ 88 w 166"/>
                <a:gd name="T15" fmla="*/ 512 h 641"/>
                <a:gd name="T16" fmla="*/ 64 w 166"/>
                <a:gd name="T17" fmla="*/ 560 h 641"/>
                <a:gd name="T18" fmla="*/ 80 w 166"/>
                <a:gd name="T19" fmla="*/ 584 h 641"/>
                <a:gd name="T20" fmla="*/ 104 w 166"/>
                <a:gd name="T21" fmla="*/ 600 h 641"/>
                <a:gd name="T22" fmla="*/ 128 w 166"/>
                <a:gd name="T23" fmla="*/ 632 h 6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6" h="641">
                  <a:moveTo>
                    <a:pt x="0" y="0"/>
                  </a:moveTo>
                  <a:cubicBezTo>
                    <a:pt x="9" y="72"/>
                    <a:pt x="18" y="78"/>
                    <a:pt x="56" y="136"/>
                  </a:cubicBezTo>
                  <a:cubicBezTo>
                    <a:pt x="67" y="152"/>
                    <a:pt x="88" y="184"/>
                    <a:pt x="88" y="184"/>
                  </a:cubicBezTo>
                  <a:cubicBezTo>
                    <a:pt x="66" y="217"/>
                    <a:pt x="44" y="243"/>
                    <a:pt x="32" y="280"/>
                  </a:cubicBezTo>
                  <a:cubicBezTo>
                    <a:pt x="51" y="338"/>
                    <a:pt x="65" y="319"/>
                    <a:pt x="104" y="352"/>
                  </a:cubicBezTo>
                  <a:cubicBezTo>
                    <a:pt x="166" y="403"/>
                    <a:pt x="92" y="352"/>
                    <a:pt x="152" y="392"/>
                  </a:cubicBezTo>
                  <a:cubicBezTo>
                    <a:pt x="147" y="408"/>
                    <a:pt x="145" y="426"/>
                    <a:pt x="136" y="440"/>
                  </a:cubicBezTo>
                  <a:cubicBezTo>
                    <a:pt x="120" y="464"/>
                    <a:pt x="97" y="485"/>
                    <a:pt x="88" y="512"/>
                  </a:cubicBezTo>
                  <a:cubicBezTo>
                    <a:pt x="77" y="545"/>
                    <a:pt x="85" y="529"/>
                    <a:pt x="64" y="560"/>
                  </a:cubicBezTo>
                  <a:cubicBezTo>
                    <a:pt x="69" y="568"/>
                    <a:pt x="73" y="577"/>
                    <a:pt x="80" y="584"/>
                  </a:cubicBezTo>
                  <a:cubicBezTo>
                    <a:pt x="87" y="591"/>
                    <a:pt x="98" y="592"/>
                    <a:pt x="104" y="600"/>
                  </a:cubicBezTo>
                  <a:cubicBezTo>
                    <a:pt x="137" y="641"/>
                    <a:pt x="88" y="612"/>
                    <a:pt x="128" y="632"/>
                  </a:cubicBezTo>
                </a:path>
              </a:pathLst>
            </a:custGeom>
            <a:noFill/>
            <a:ln w="31750" cap="flat" cmpd="sng">
              <a:solidFill>
                <a:srgbClr val="FFFF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102869" name="Text Box 21"/>
          <p:cNvSpPr txBox="1">
            <a:spLocks noChangeArrowheads="1"/>
          </p:cNvSpPr>
          <p:nvPr/>
        </p:nvSpPr>
        <p:spPr bwMode="auto">
          <a:xfrm>
            <a:off x="4722813" y="4748213"/>
            <a:ext cx="2501900" cy="646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3600">
                <a:solidFill>
                  <a:schemeClr val="bg1"/>
                </a:solidFill>
              </a:rPr>
              <a:t>90-100 C</a:t>
            </a:r>
            <a:endParaRPr lang="th-TH" altLang="en-US" sz="3600">
              <a:solidFill>
                <a:schemeClr val="bg1"/>
              </a:solidFill>
            </a:endParaRPr>
          </a:p>
        </p:txBody>
      </p:sp>
      <p:sp>
        <p:nvSpPr>
          <p:cNvPr id="521229" name="AutoShape 22">
            <a:hlinkClick r:id="rId5" action="ppaction://hlinksldjump" highlightClick="1"/>
          </p:cNvPr>
          <p:cNvSpPr>
            <a:spLocks noChangeArrowheads="1"/>
          </p:cNvSpPr>
          <p:nvPr/>
        </p:nvSpPr>
        <p:spPr bwMode="auto">
          <a:xfrm>
            <a:off x="4321175" y="5443538"/>
            <a:ext cx="423863" cy="374650"/>
          </a:xfrm>
          <a:prstGeom prst="actionButtonHome">
            <a:avLst/>
          </a:prstGeom>
          <a:solidFill>
            <a:schemeClr val="accent1"/>
          </a:solidFill>
          <a:ln>
            <a:noFill/>
          </a:ln>
          <a:effectLst/>
          <a:extLst>
            <a:ext uri="{91240B29-F687-4F45-9708-019B960494DF}">
              <a14:hiddenLine xmlns:a14="http://schemas.microsoft.com/office/drawing/2010/main" w="9525">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102857"/>
                                        </p:tgtEl>
                                        <p:attrNameLst>
                                          <p:attrName>style.visibility</p:attrName>
                                        </p:attrNameLst>
                                      </p:cBhvr>
                                      <p:to>
                                        <p:strVal val="visible"/>
                                      </p:to>
                                    </p:set>
                                    <p:animEffect transition="in" filter="checkerboard(across)">
                                      <p:cBhvr>
                                        <p:cTn id="7" dur="500"/>
                                        <p:tgtEl>
                                          <p:spTgt spid="110285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102869"/>
                                        </p:tgtEl>
                                        <p:attrNameLst>
                                          <p:attrName>style.visibility</p:attrName>
                                        </p:attrNameLst>
                                      </p:cBhvr>
                                      <p:to>
                                        <p:strVal val="visible"/>
                                      </p:to>
                                    </p:set>
                                    <p:animEffect transition="in" filter="blinds(horizontal)">
                                      <p:cBhvr>
                                        <p:cTn id="12" dur="500"/>
                                        <p:tgtEl>
                                          <p:spTgt spid="110286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1102859"/>
                                        </p:tgtEl>
                                        <p:attrNameLst>
                                          <p:attrName>style.visibility</p:attrName>
                                        </p:attrNameLst>
                                      </p:cBhvr>
                                      <p:to>
                                        <p:strVal val="visible"/>
                                      </p:to>
                                    </p:set>
                                    <p:animEffect transition="in" filter="blinds(horizontal)">
                                      <p:cBhvr>
                                        <p:cTn id="17" dur="500"/>
                                        <p:tgtEl>
                                          <p:spTgt spid="110285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7" presetClass="entr" presetSubtype="0" fill="hold" grpId="0" nodeType="clickEffect">
                                  <p:stCondLst>
                                    <p:cond delay="0"/>
                                  </p:stCondLst>
                                  <p:childTnLst>
                                    <p:set>
                                      <p:cBhvr>
                                        <p:cTn id="21" dur="1" fill="hold">
                                          <p:stCondLst>
                                            <p:cond delay="0"/>
                                          </p:stCondLst>
                                        </p:cTn>
                                        <p:tgtEl>
                                          <p:spTgt spid="1102853"/>
                                        </p:tgtEl>
                                        <p:attrNameLst>
                                          <p:attrName>style.visibility</p:attrName>
                                        </p:attrNameLst>
                                      </p:cBhvr>
                                      <p:to>
                                        <p:strVal val="visible"/>
                                      </p:to>
                                    </p:set>
                                    <p:animEffect transition="in" filter="fade">
                                      <p:cBhvr>
                                        <p:cTn id="22" dur="1000"/>
                                        <p:tgtEl>
                                          <p:spTgt spid="1102853"/>
                                        </p:tgtEl>
                                      </p:cBhvr>
                                    </p:animEffect>
                                    <p:anim calcmode="lin" valueType="num">
                                      <p:cBhvr>
                                        <p:cTn id="23" dur="1000" fill="hold"/>
                                        <p:tgtEl>
                                          <p:spTgt spid="1102853"/>
                                        </p:tgtEl>
                                        <p:attrNameLst>
                                          <p:attrName>ppt_x</p:attrName>
                                        </p:attrNameLst>
                                      </p:cBhvr>
                                      <p:tavLst>
                                        <p:tav tm="0">
                                          <p:val>
                                            <p:strVal val="#ppt_x"/>
                                          </p:val>
                                        </p:tav>
                                        <p:tav tm="100000">
                                          <p:val>
                                            <p:strVal val="#ppt_x"/>
                                          </p:val>
                                        </p:tav>
                                      </p:tavLst>
                                    </p:anim>
                                    <p:anim calcmode="lin" valueType="num">
                                      <p:cBhvr>
                                        <p:cTn id="24" dur="1000" fill="hold"/>
                                        <p:tgtEl>
                                          <p:spTgt spid="1102853"/>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4" fill="hold" nodeType="clickEffect">
                                  <p:stCondLst>
                                    <p:cond delay="0"/>
                                  </p:stCondLst>
                                  <p:childTnLst>
                                    <p:set>
                                      <p:cBhvr>
                                        <p:cTn id="28" dur="1" fill="hold">
                                          <p:stCondLst>
                                            <p:cond delay="0"/>
                                          </p:stCondLst>
                                        </p:cTn>
                                        <p:tgtEl>
                                          <p:spTgt spid="1102854"/>
                                        </p:tgtEl>
                                        <p:attrNameLst>
                                          <p:attrName>style.visibility</p:attrName>
                                        </p:attrNameLst>
                                      </p:cBhvr>
                                      <p:to>
                                        <p:strVal val="visible"/>
                                      </p:to>
                                    </p:set>
                                    <p:anim calcmode="lin" valueType="num">
                                      <p:cBhvr additive="base">
                                        <p:cTn id="29" dur="500" fill="hold"/>
                                        <p:tgtEl>
                                          <p:spTgt spid="1102854"/>
                                        </p:tgtEl>
                                        <p:attrNameLst>
                                          <p:attrName>ppt_x</p:attrName>
                                        </p:attrNameLst>
                                      </p:cBhvr>
                                      <p:tavLst>
                                        <p:tav tm="0">
                                          <p:val>
                                            <p:strVal val="#ppt_x"/>
                                          </p:val>
                                        </p:tav>
                                        <p:tav tm="100000">
                                          <p:val>
                                            <p:strVal val="#ppt_x"/>
                                          </p:val>
                                        </p:tav>
                                      </p:tavLst>
                                    </p:anim>
                                    <p:anim calcmode="lin" valueType="num">
                                      <p:cBhvr additive="base">
                                        <p:cTn id="30" dur="500" fill="hold"/>
                                        <p:tgtEl>
                                          <p:spTgt spid="1102854"/>
                                        </p:tgtEl>
                                        <p:attrNameLst>
                                          <p:attrName>ppt_y</p:attrName>
                                        </p:attrNameLst>
                                      </p:cBhvr>
                                      <p:tavLst>
                                        <p:tav tm="0">
                                          <p:val>
                                            <p:strVal val="1+#ppt_h/2"/>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3" presetClass="entr" presetSubtype="10" fill="hold" nodeType="clickEffect">
                                  <p:stCondLst>
                                    <p:cond delay="0"/>
                                  </p:stCondLst>
                                  <p:childTnLst>
                                    <p:set>
                                      <p:cBhvr>
                                        <p:cTn id="34" dur="1" fill="hold">
                                          <p:stCondLst>
                                            <p:cond delay="0"/>
                                          </p:stCondLst>
                                        </p:cTn>
                                        <p:tgtEl>
                                          <p:spTgt spid="1102863"/>
                                        </p:tgtEl>
                                        <p:attrNameLst>
                                          <p:attrName>style.visibility</p:attrName>
                                        </p:attrNameLst>
                                      </p:cBhvr>
                                      <p:to>
                                        <p:strVal val="visible"/>
                                      </p:to>
                                    </p:set>
                                    <p:animEffect transition="in" filter="blinds(horizontal)">
                                      <p:cBhvr>
                                        <p:cTn id="35" dur="500"/>
                                        <p:tgtEl>
                                          <p:spTgt spid="1102863"/>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3" presetClass="entr" presetSubtype="10" fill="hold" grpId="0" nodeType="clickEffect">
                                  <p:stCondLst>
                                    <p:cond delay="0"/>
                                  </p:stCondLst>
                                  <p:childTnLst>
                                    <p:set>
                                      <p:cBhvr>
                                        <p:cTn id="39" dur="1" fill="hold">
                                          <p:stCondLst>
                                            <p:cond delay="0"/>
                                          </p:stCondLst>
                                        </p:cTn>
                                        <p:tgtEl>
                                          <p:spTgt spid="1102858"/>
                                        </p:tgtEl>
                                        <p:attrNameLst>
                                          <p:attrName>style.visibility</p:attrName>
                                        </p:attrNameLst>
                                      </p:cBhvr>
                                      <p:to>
                                        <p:strVal val="visible"/>
                                      </p:to>
                                    </p:set>
                                    <p:animEffect transition="in" filter="blinds(horizontal)">
                                      <p:cBhvr>
                                        <p:cTn id="40" dur="500"/>
                                        <p:tgtEl>
                                          <p:spTgt spid="11028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2853" grpId="0" animBg="1"/>
      <p:bldP spid="1102857" grpId="0" animBg="1"/>
      <p:bldP spid="1102858" grpId="0"/>
      <p:bldP spid="1102869"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3266" name="Picture 2" descr="13"/>
          <p:cNvPicPr>
            <a:picLocks noGrp="1" noChangeAspect="1" noChangeArrowheads="1"/>
          </p:cNvPicPr>
          <p:nvPr>
            <p:ph/>
          </p:nvPr>
        </p:nvPicPr>
        <p:blipFill>
          <a:blip r:embed="rId2">
            <a:extLst>
              <a:ext uri="{28A0092B-C50C-407E-A947-70E740481C1C}">
                <a14:useLocalDpi xmlns:a14="http://schemas.microsoft.com/office/drawing/2010/main" val="0"/>
              </a:ext>
            </a:extLst>
          </a:blip>
          <a:srcRect/>
          <a:stretch>
            <a:fillRect/>
          </a:stretch>
        </p:blipFill>
        <p:spPr>
          <a:xfrm>
            <a:off x="0" y="265113"/>
            <a:ext cx="9144000" cy="5980112"/>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4290" name="Group 2"/>
          <p:cNvGrpSpPr>
            <a:grpSpLocks/>
          </p:cNvGrpSpPr>
          <p:nvPr/>
        </p:nvGrpSpPr>
        <p:grpSpPr bwMode="auto">
          <a:xfrm>
            <a:off x="812800" y="1644650"/>
            <a:ext cx="7493000" cy="5160963"/>
            <a:chOff x="512" y="1036"/>
            <a:chExt cx="4720" cy="3251"/>
          </a:xfrm>
        </p:grpSpPr>
        <p:pic>
          <p:nvPicPr>
            <p:cNvPr id="524305" name="Picture 3" descr="IMG_160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00" y="1036"/>
              <a:ext cx="2432" cy="15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524306" name="Picture 4" descr="IMG_160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2" y="1036"/>
              <a:ext cx="2288" cy="15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524307" name="Picture 5" descr="IMG_197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2" y="2593"/>
              <a:ext cx="2288" cy="1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4308" name="Picture 6" descr="IMG_197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00" y="2589"/>
              <a:ext cx="2432" cy="16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24291" name="Rectangle 7"/>
          <p:cNvSpPr>
            <a:spLocks noGrp="1" noChangeArrowheads="1"/>
          </p:cNvSpPr>
          <p:nvPr>
            <p:ph type="title"/>
          </p:nvPr>
        </p:nvSpPr>
        <p:spPr>
          <a:xfrm>
            <a:off x="457200" y="-127000"/>
            <a:ext cx="8229600" cy="1139825"/>
          </a:xfrm>
        </p:spPr>
        <p:txBody>
          <a:bodyPr/>
          <a:lstStyle/>
          <a:p>
            <a:r>
              <a:rPr lang="en-US" altLang="en-US" sz="6600" smtClean="0">
                <a:latin typeface="Angsana New" panose="02020603050405020304" pitchFamily="18" charset="-34"/>
              </a:rPr>
              <a:t>Fuel Process</a:t>
            </a:r>
            <a:endParaRPr lang="th-TH" altLang="en-US" sz="6600" smtClean="0">
              <a:latin typeface="Angsana New" panose="02020603050405020304" pitchFamily="18" charset="-34"/>
            </a:endParaRPr>
          </a:p>
        </p:txBody>
      </p:sp>
      <p:sp>
        <p:nvSpPr>
          <p:cNvPr id="524292" name="Rectangle 8"/>
          <p:cNvSpPr>
            <a:spLocks noGrp="1" noChangeArrowheads="1"/>
          </p:cNvSpPr>
          <p:nvPr>
            <p:ph type="body" sz="half" idx="1"/>
          </p:nvPr>
        </p:nvSpPr>
        <p:spPr>
          <a:xfrm>
            <a:off x="390525" y="658813"/>
            <a:ext cx="2932113" cy="638175"/>
          </a:xfrm>
        </p:spPr>
        <p:txBody>
          <a:bodyPr/>
          <a:lstStyle/>
          <a:p>
            <a:pPr>
              <a:buFont typeface="Wingdings" panose="05000000000000000000" pitchFamily="2" charset="2"/>
              <a:buNone/>
            </a:pPr>
            <a:r>
              <a:rPr lang="en-US" altLang="en-US" sz="4800" smtClean="0">
                <a:solidFill>
                  <a:srgbClr val="FF0000"/>
                </a:solidFill>
                <a:latin typeface="Angsana New" panose="02020603050405020304" pitchFamily="18" charset="-34"/>
              </a:rPr>
              <a:t>Spraying System </a:t>
            </a:r>
            <a:endParaRPr lang="th-TH" altLang="en-US" sz="4800" smtClean="0">
              <a:solidFill>
                <a:srgbClr val="FF0000"/>
              </a:solidFill>
              <a:latin typeface="Angsana New" panose="02020603050405020304" pitchFamily="18" charset="-34"/>
            </a:endParaRPr>
          </a:p>
        </p:txBody>
      </p:sp>
      <p:sp>
        <p:nvSpPr>
          <p:cNvPr id="1091598" name="Text Box 14"/>
          <p:cNvSpPr txBox="1">
            <a:spLocks noChangeArrowheads="1"/>
          </p:cNvSpPr>
          <p:nvPr/>
        </p:nvSpPr>
        <p:spPr bwMode="auto">
          <a:xfrm>
            <a:off x="3322638" y="2740025"/>
            <a:ext cx="3544887"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3200" b="1" dirty="0">
                <a:solidFill>
                  <a:schemeClr val="bg1"/>
                </a:solidFill>
                <a:effectLst>
                  <a:outerShdw blurRad="38100" dist="38100" dir="2700000" algn="tl">
                    <a:srgbClr val="000000"/>
                  </a:outerShdw>
                </a:effectLst>
              </a:rPr>
              <a:t>Moving Spraying System</a:t>
            </a:r>
            <a:endParaRPr lang="th-TH" altLang="en-US" sz="3200" b="1" dirty="0">
              <a:solidFill>
                <a:schemeClr val="bg1"/>
              </a:solidFill>
              <a:effectLst>
                <a:outerShdw blurRad="38100" dist="38100" dir="2700000" algn="tl">
                  <a:srgbClr val="000000"/>
                </a:outerShdw>
              </a:effectLst>
            </a:endParaRPr>
          </a:p>
        </p:txBody>
      </p:sp>
      <p:grpSp>
        <p:nvGrpSpPr>
          <p:cNvPr id="1091599" name="Group 15"/>
          <p:cNvGrpSpPr>
            <a:grpSpLocks/>
          </p:cNvGrpSpPr>
          <p:nvPr/>
        </p:nvGrpSpPr>
        <p:grpSpPr bwMode="auto">
          <a:xfrm>
            <a:off x="3322638" y="4483100"/>
            <a:ext cx="3200400" cy="830263"/>
            <a:chOff x="2074" y="3019"/>
            <a:chExt cx="2016" cy="523"/>
          </a:xfrm>
        </p:grpSpPr>
        <p:grpSp>
          <p:nvGrpSpPr>
            <p:cNvPr id="524301" name="Group 16"/>
            <p:cNvGrpSpPr>
              <a:grpSpLocks/>
            </p:cNvGrpSpPr>
            <p:nvPr/>
          </p:nvGrpSpPr>
          <p:grpSpPr bwMode="auto">
            <a:xfrm>
              <a:off x="2074" y="3019"/>
              <a:ext cx="1638" cy="523"/>
              <a:chOff x="3577" y="2999"/>
              <a:chExt cx="1638" cy="523"/>
            </a:xfrm>
          </p:grpSpPr>
          <p:sp>
            <p:nvSpPr>
              <p:cNvPr id="524303" name="AutoShape 17"/>
              <p:cNvSpPr>
                <a:spLocks noChangeArrowheads="1"/>
              </p:cNvSpPr>
              <p:nvPr/>
            </p:nvSpPr>
            <p:spPr bwMode="auto">
              <a:xfrm>
                <a:off x="3577" y="3019"/>
                <a:ext cx="482" cy="278"/>
              </a:xfrm>
              <a:prstGeom prst="leftArrow">
                <a:avLst>
                  <a:gd name="adj1" fmla="val 50000"/>
                  <a:gd name="adj2" fmla="val 43345"/>
                </a:avLst>
              </a:prstGeom>
              <a:solidFill>
                <a:srgbClr val="FF00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1091602" name="Text Box 18"/>
              <p:cNvSpPr txBox="1">
                <a:spLocks noChangeArrowheads="1"/>
              </p:cNvSpPr>
              <p:nvPr/>
            </p:nvSpPr>
            <p:spPr bwMode="auto">
              <a:xfrm>
                <a:off x="4059" y="2999"/>
                <a:ext cx="1156"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2400" dirty="0">
                    <a:solidFill>
                      <a:schemeClr val="bg1"/>
                    </a:solidFill>
                    <a:effectLst>
                      <a:outerShdw blurRad="38100" dist="38100" dir="2700000" algn="tl">
                        <a:srgbClr val="000000"/>
                      </a:outerShdw>
                    </a:effectLst>
                  </a:rPr>
                  <a:t>Spray Nozzle SPPC</a:t>
                </a:r>
                <a:endParaRPr lang="th-TH" altLang="en-US" sz="2400" dirty="0">
                  <a:solidFill>
                    <a:schemeClr val="bg1"/>
                  </a:solidFill>
                  <a:effectLst>
                    <a:outerShdw blurRad="38100" dist="38100" dir="2700000" algn="tl">
                      <a:srgbClr val="000000"/>
                    </a:outerShdw>
                  </a:effectLst>
                </a:endParaRPr>
              </a:p>
            </p:txBody>
          </p:sp>
        </p:grpSp>
        <p:sp>
          <p:nvSpPr>
            <p:cNvPr id="524302" name="AutoShape 19"/>
            <p:cNvSpPr>
              <a:spLocks noChangeArrowheads="1"/>
            </p:cNvSpPr>
            <p:nvPr/>
          </p:nvSpPr>
          <p:spPr bwMode="auto">
            <a:xfrm>
              <a:off x="3712" y="3039"/>
              <a:ext cx="378" cy="278"/>
            </a:xfrm>
            <a:prstGeom prst="rightArrow">
              <a:avLst>
                <a:gd name="adj1" fmla="val 50000"/>
                <a:gd name="adj2" fmla="val 33993"/>
              </a:avLst>
            </a:prstGeom>
            <a:solidFill>
              <a:srgbClr val="FF00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sp>
        <p:nvSpPr>
          <p:cNvPr id="1091604" name="Text Box 20"/>
          <p:cNvSpPr txBox="1">
            <a:spLocks noChangeArrowheads="1"/>
          </p:cNvSpPr>
          <p:nvPr/>
        </p:nvSpPr>
        <p:spPr bwMode="auto">
          <a:xfrm>
            <a:off x="2978150" y="5184775"/>
            <a:ext cx="3544888"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3200" b="1" dirty="0">
                <a:solidFill>
                  <a:schemeClr val="bg1"/>
                </a:solidFill>
                <a:effectLst>
                  <a:outerShdw blurRad="38100" dist="38100" dir="2700000" algn="tl">
                    <a:srgbClr val="000000"/>
                  </a:outerShdw>
                </a:effectLst>
              </a:rPr>
              <a:t>Stationary Spraying System</a:t>
            </a:r>
            <a:endParaRPr lang="th-TH" altLang="en-US" sz="3200" b="1" dirty="0">
              <a:solidFill>
                <a:schemeClr val="bg1"/>
              </a:solidFill>
              <a:effectLst>
                <a:outerShdw blurRad="38100" dist="38100" dir="2700000" algn="tl">
                  <a:srgbClr val="000000"/>
                </a:outerShdw>
              </a:effectLst>
            </a:endParaRPr>
          </a:p>
        </p:txBody>
      </p:sp>
      <p:grpSp>
        <p:nvGrpSpPr>
          <p:cNvPr id="26" name="Group 9"/>
          <p:cNvGrpSpPr>
            <a:grpSpLocks/>
          </p:cNvGrpSpPr>
          <p:nvPr/>
        </p:nvGrpSpPr>
        <p:grpSpPr bwMode="auto">
          <a:xfrm>
            <a:off x="3322638" y="925513"/>
            <a:ext cx="3052762" cy="1822450"/>
            <a:chOff x="2272" y="590"/>
            <a:chExt cx="1923" cy="1148"/>
          </a:xfrm>
        </p:grpSpPr>
        <p:sp>
          <p:nvSpPr>
            <p:cNvPr id="524297" name="AutoShape 10"/>
            <p:cNvSpPr>
              <a:spLocks noChangeArrowheads="1"/>
            </p:cNvSpPr>
            <p:nvPr/>
          </p:nvSpPr>
          <p:spPr bwMode="auto">
            <a:xfrm>
              <a:off x="3577" y="1253"/>
              <a:ext cx="288" cy="485"/>
            </a:xfrm>
            <a:prstGeom prst="downArrow">
              <a:avLst>
                <a:gd name="adj1" fmla="val 50000"/>
                <a:gd name="adj2" fmla="val 42101"/>
              </a:avLst>
            </a:prstGeom>
            <a:solidFill>
              <a:srgbClr val="FF0000"/>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nvGrpSpPr>
            <p:cNvPr id="524298" name="Group 11"/>
            <p:cNvGrpSpPr>
              <a:grpSpLocks/>
            </p:cNvGrpSpPr>
            <p:nvPr/>
          </p:nvGrpSpPr>
          <p:grpSpPr bwMode="auto">
            <a:xfrm>
              <a:off x="2272" y="590"/>
              <a:ext cx="1923" cy="1015"/>
              <a:chOff x="2272" y="590"/>
              <a:chExt cx="1923" cy="1015"/>
            </a:xfrm>
          </p:grpSpPr>
          <p:sp>
            <p:nvSpPr>
              <p:cNvPr id="29" name="Text Box 12"/>
              <p:cNvSpPr txBox="1">
                <a:spLocks noChangeArrowheads="1"/>
              </p:cNvSpPr>
              <p:nvPr/>
            </p:nvSpPr>
            <p:spPr bwMode="auto">
              <a:xfrm>
                <a:off x="2800" y="590"/>
                <a:ext cx="1395"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2000" dirty="0">
                    <a:solidFill>
                      <a:srgbClr val="FF0000"/>
                    </a:solidFill>
                    <a:effectLst>
                      <a:outerShdw blurRad="38100" dist="38100" dir="2700000" algn="tl">
                        <a:srgbClr val="000000"/>
                      </a:outerShdw>
                    </a:effectLst>
                  </a:rPr>
                  <a:t>Previously SCL Spraying system</a:t>
                </a:r>
                <a:endParaRPr lang="th-TH" altLang="en-US" sz="2000" dirty="0">
                  <a:solidFill>
                    <a:srgbClr val="FF0000"/>
                  </a:solidFill>
                  <a:effectLst>
                    <a:outerShdw blurRad="38100" dist="38100" dir="2700000" algn="tl">
                      <a:srgbClr val="000000"/>
                    </a:outerShdw>
                  </a:effectLst>
                </a:endParaRPr>
              </a:p>
            </p:txBody>
          </p:sp>
          <p:sp>
            <p:nvSpPr>
              <p:cNvPr id="524300" name="AutoShape 13"/>
              <p:cNvSpPr>
                <a:spLocks noChangeArrowheads="1"/>
              </p:cNvSpPr>
              <p:nvPr/>
            </p:nvSpPr>
            <p:spPr bwMode="auto">
              <a:xfrm>
                <a:off x="2272" y="1296"/>
                <a:ext cx="424" cy="309"/>
              </a:xfrm>
              <a:prstGeom prst="leftArrow">
                <a:avLst>
                  <a:gd name="adj1" fmla="val 50000"/>
                  <a:gd name="adj2" fmla="val 34304"/>
                </a:avLst>
              </a:prstGeom>
              <a:solidFill>
                <a:srgbClr val="FF00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091598"/>
                                        </p:tgtEl>
                                        <p:attrNameLst>
                                          <p:attrName>style.visibility</p:attrName>
                                        </p:attrNameLst>
                                      </p:cBhvr>
                                      <p:to>
                                        <p:strVal val="visible"/>
                                      </p:to>
                                    </p:set>
                                    <p:animEffect transition="in" filter="blinds(horizontal)">
                                      <p:cBhvr>
                                        <p:cTn id="7" dur="500"/>
                                        <p:tgtEl>
                                          <p:spTgt spid="109159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1091599"/>
                                        </p:tgtEl>
                                        <p:attrNameLst>
                                          <p:attrName>style.visibility</p:attrName>
                                        </p:attrNameLst>
                                      </p:cBhvr>
                                      <p:to>
                                        <p:strVal val="visible"/>
                                      </p:to>
                                    </p:set>
                                    <p:animEffect transition="in" filter="blinds(horizontal)">
                                      <p:cBhvr>
                                        <p:cTn id="12" dur="500"/>
                                        <p:tgtEl>
                                          <p:spTgt spid="109159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1091604"/>
                                        </p:tgtEl>
                                        <p:attrNameLst>
                                          <p:attrName>style.visibility</p:attrName>
                                        </p:attrNameLst>
                                      </p:cBhvr>
                                      <p:to>
                                        <p:strVal val="visible"/>
                                      </p:to>
                                    </p:set>
                                    <p:animEffect transition="in" filter="blinds(horizontal)">
                                      <p:cBhvr>
                                        <p:cTn id="17" dur="500"/>
                                        <p:tgtEl>
                                          <p:spTgt spid="109160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blinds(horizontal)">
                                      <p:cBhvr>
                                        <p:cTn id="22"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1598" grpId="0"/>
      <p:bldP spid="1091604"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Rectangle 2"/>
          <p:cNvSpPr>
            <a:spLocks noGrp="1" noChangeArrowheads="1"/>
          </p:cNvSpPr>
          <p:nvPr>
            <p:ph type="title"/>
          </p:nvPr>
        </p:nvSpPr>
        <p:spPr>
          <a:xfrm>
            <a:off x="500063" y="58738"/>
            <a:ext cx="8229600" cy="1143000"/>
          </a:xfrm>
        </p:spPr>
        <p:txBody>
          <a:bodyPr/>
          <a:lstStyle/>
          <a:p>
            <a:r>
              <a:rPr lang="en-US" altLang="en-US" b="1" smtClean="0"/>
              <a:t>Fuel Process</a:t>
            </a:r>
            <a:endParaRPr lang="th-TH" altLang="en-US" b="1" smtClean="0"/>
          </a:p>
        </p:txBody>
      </p:sp>
      <p:sp>
        <p:nvSpPr>
          <p:cNvPr id="526339" name="Text Box 3"/>
          <p:cNvSpPr>
            <a:spLocks noGrp="1" noChangeArrowheads="1"/>
          </p:cNvSpPr>
          <p:nvPr>
            <p:ph type="body" idx="1"/>
          </p:nvPr>
        </p:nvSpPr>
        <p:spPr>
          <a:xfrm>
            <a:off x="203200" y="1182688"/>
            <a:ext cx="8229600" cy="723900"/>
          </a:xfrm>
          <a:noFill/>
          <a:extLst>
            <a:ext uri="{91240B29-F687-4F45-9708-019B960494DF}">
              <a14:hiddenLine xmlns:a14="http://schemas.microsoft.com/office/drawing/2010/main" w="9525" algn="ctr">
                <a:solidFill>
                  <a:schemeClr val="tx1"/>
                </a:solidFill>
                <a:prstDash val="lgDash"/>
                <a:miter lim="800000"/>
                <a:headEnd/>
                <a:tailEnd/>
              </a14:hiddenLine>
            </a:ext>
          </a:extLst>
        </p:spPr>
        <p:txBody>
          <a:bodyPr/>
          <a:lstStyle/>
          <a:p>
            <a:pPr>
              <a:lnSpc>
                <a:spcPct val="90000"/>
              </a:lnSpc>
              <a:spcBef>
                <a:spcPct val="0"/>
              </a:spcBef>
              <a:buFontTx/>
              <a:buNone/>
            </a:pPr>
            <a:r>
              <a:rPr lang="th-TH" altLang="en-US" sz="2800" b="1" smtClean="0"/>
              <a:t>กระบวนการเผาไหม้ใน </a:t>
            </a:r>
            <a:r>
              <a:rPr lang="en-US" altLang="en-US" sz="2800" b="1" smtClean="0"/>
              <a:t>Recovery Boiler</a:t>
            </a:r>
            <a:r>
              <a:rPr lang="th-TH" altLang="en-US" sz="2800" b="1" smtClean="0"/>
              <a:t> จาก </a:t>
            </a:r>
            <a:r>
              <a:rPr lang="en-US" altLang="en-US" sz="2800" b="1" smtClean="0"/>
              <a:t>CFD Modelling</a:t>
            </a:r>
            <a:endParaRPr lang="th-TH" altLang="en-US" sz="2800" b="1" smtClean="0"/>
          </a:p>
        </p:txBody>
      </p:sp>
      <p:pic>
        <p:nvPicPr>
          <p:cNvPr id="52634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23050" y="1776413"/>
            <a:ext cx="2403475" cy="4516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2634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300" y="1768475"/>
            <a:ext cx="2727325" cy="4676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26342"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625" y="1768475"/>
            <a:ext cx="1836738" cy="449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26343"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165600" y="1768475"/>
            <a:ext cx="2647950" cy="3575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8386" name="Rectangle 2"/>
          <p:cNvSpPr>
            <a:spLocks noGrp="1" noChangeArrowheads="1"/>
          </p:cNvSpPr>
          <p:nvPr>
            <p:ph type="title"/>
          </p:nvPr>
        </p:nvSpPr>
        <p:spPr>
          <a:xfrm>
            <a:off x="152400" y="152400"/>
            <a:ext cx="8915400" cy="838200"/>
          </a:xfrm>
        </p:spPr>
        <p:txBody>
          <a:bodyPr/>
          <a:lstStyle/>
          <a:p>
            <a:pPr>
              <a:lnSpc>
                <a:spcPct val="80000"/>
              </a:lnSpc>
            </a:pPr>
            <a:r>
              <a:rPr lang="en-US" altLang="en-US" b="1" smtClean="0"/>
              <a:t>Fuel Process</a:t>
            </a:r>
          </a:p>
        </p:txBody>
      </p:sp>
      <p:pic>
        <p:nvPicPr>
          <p:cNvPr id="528387" name="Picture 3" descr="2dtkyz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23025" y="1562100"/>
            <a:ext cx="2347913" cy="466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8388" name="Picture 4" descr="2dtkyz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825" y="1574800"/>
            <a:ext cx="2347913" cy="466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8389" name="Picture 5" descr="2dtkyzc"/>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27425" y="1574800"/>
            <a:ext cx="2347913" cy="466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5686" name="Text Box 6"/>
          <p:cNvSpPr txBox="1">
            <a:spLocks noChangeArrowheads="1"/>
          </p:cNvSpPr>
          <p:nvPr/>
        </p:nvSpPr>
        <p:spPr bwMode="auto">
          <a:xfrm>
            <a:off x="631825" y="990600"/>
            <a:ext cx="5243513"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3200" u="sng">
                <a:solidFill>
                  <a:srgbClr val="000000"/>
                </a:solidFill>
                <a:effectLst>
                  <a:outerShdw blurRad="38100" dist="38100" dir="2700000" algn="tl">
                    <a:srgbClr val="FFFFFF"/>
                  </a:outerShdw>
                </a:effectLst>
              </a:rPr>
              <a:t>Gas Temperature Profile</a:t>
            </a:r>
            <a:endParaRPr lang="th-TH" altLang="en-US" sz="3200" u="sng">
              <a:solidFill>
                <a:srgbClr val="000000"/>
              </a:solidFill>
              <a:effectLst>
                <a:outerShdw blurRad="38100" dist="38100" dir="2700000" algn="tl">
                  <a:srgbClr val="FFFFFF"/>
                </a:outerShdw>
              </a:effectLst>
            </a:endParaRPr>
          </a:p>
        </p:txBody>
      </p:sp>
    </p:spTree>
  </p:cSld>
  <p:clrMapOvr>
    <a:masterClrMapping/>
  </p:clrMapOvr>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0434" name="Picture 3" descr="3do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02363" y="1736725"/>
            <a:ext cx="2268537" cy="4513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0435" name="Picture 4" descr="3do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4963" y="1736725"/>
            <a:ext cx="2268537" cy="4513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0436" name="Picture 5" descr="3do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06763" y="1736725"/>
            <a:ext cx="2268537" cy="4513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0437" name="Rectangle 7"/>
          <p:cNvSpPr>
            <a:spLocks noGrp="1" noChangeArrowheads="1"/>
          </p:cNvSpPr>
          <p:nvPr>
            <p:ph type="title"/>
          </p:nvPr>
        </p:nvSpPr>
        <p:spPr>
          <a:xfrm>
            <a:off x="457200" y="0"/>
            <a:ext cx="8229600" cy="1143000"/>
          </a:xfrm>
          <a:noFill/>
        </p:spPr>
        <p:txBody>
          <a:bodyPr/>
          <a:lstStyle/>
          <a:p>
            <a:r>
              <a:rPr lang="en-US" altLang="en-US" b="1" smtClean="0"/>
              <a:t>Fuel Process</a:t>
            </a:r>
            <a:endParaRPr lang="th-TH" altLang="en-US" b="1" smtClean="0"/>
          </a:p>
        </p:txBody>
      </p:sp>
      <p:sp>
        <p:nvSpPr>
          <p:cNvPr id="1096712" name="Text Box 8"/>
          <p:cNvSpPr txBox="1">
            <a:spLocks noChangeArrowheads="1"/>
          </p:cNvSpPr>
          <p:nvPr/>
        </p:nvSpPr>
        <p:spPr bwMode="auto">
          <a:xfrm>
            <a:off x="457200" y="852488"/>
            <a:ext cx="5243513"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3200" u="sng" dirty="0">
                <a:solidFill>
                  <a:srgbClr val="000000"/>
                </a:solidFill>
                <a:effectLst>
                  <a:outerShdw blurRad="38100" dist="38100" dir="2700000" algn="tl">
                    <a:srgbClr val="FFFFFF"/>
                  </a:outerShdw>
                </a:effectLst>
              </a:rPr>
              <a:t>O</a:t>
            </a:r>
            <a:r>
              <a:rPr lang="en-US" altLang="en-US" sz="3200" u="sng" baseline="-25000" dirty="0">
                <a:solidFill>
                  <a:srgbClr val="000000"/>
                </a:solidFill>
                <a:effectLst>
                  <a:outerShdw blurRad="38100" dist="38100" dir="2700000" algn="tl">
                    <a:srgbClr val="FFFFFF"/>
                  </a:outerShdw>
                </a:effectLst>
              </a:rPr>
              <a:t>2</a:t>
            </a:r>
            <a:r>
              <a:rPr lang="th-TH" altLang="en-US" sz="3200" u="sng" baseline="-25000" dirty="0">
                <a:solidFill>
                  <a:srgbClr val="000000"/>
                </a:solidFill>
                <a:effectLst>
                  <a:outerShdw blurRad="38100" dist="38100" dir="2700000" algn="tl">
                    <a:srgbClr val="FFFFFF"/>
                  </a:outerShdw>
                </a:effectLst>
              </a:rPr>
              <a:t> </a:t>
            </a:r>
            <a:r>
              <a:rPr lang="en-US" altLang="en-US" sz="3200" u="sng" dirty="0">
                <a:solidFill>
                  <a:srgbClr val="000000"/>
                </a:solidFill>
                <a:effectLst>
                  <a:outerShdw blurRad="38100" dist="38100" dir="2700000" algn="tl">
                    <a:srgbClr val="FFFFFF"/>
                  </a:outerShdw>
                </a:effectLst>
              </a:rPr>
              <a:t>Concentration profile</a:t>
            </a:r>
            <a:endParaRPr lang="th-TH" altLang="en-US" sz="3200" u="sng" dirty="0">
              <a:solidFill>
                <a:srgbClr val="000000"/>
              </a:solidFill>
              <a:effectLst>
                <a:outerShdw blurRad="38100" dist="38100" dir="2700000" algn="tl">
                  <a:srgbClr val="FFFFFF"/>
                </a:outerShdw>
              </a:effectLst>
            </a:endParaRPr>
          </a:p>
        </p:txBody>
      </p:sp>
    </p:spTree>
  </p:cSld>
  <p:clrMapOvr>
    <a:masterClrMapping/>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2"/>
          <p:cNvSpPr>
            <a:spLocks noGrp="1" noChangeArrowheads="1"/>
          </p:cNvSpPr>
          <p:nvPr>
            <p:ph type="title"/>
          </p:nvPr>
        </p:nvSpPr>
        <p:spPr>
          <a:xfrm>
            <a:off x="457200" y="-6350"/>
            <a:ext cx="8229600" cy="1143000"/>
          </a:xfrm>
        </p:spPr>
        <p:txBody>
          <a:bodyPr/>
          <a:lstStyle/>
          <a:p>
            <a:r>
              <a:rPr lang="en-US" altLang="en-US" sz="4000" b="1" u="sng" smtClean="0"/>
              <a:t>Recovery Boiler</a:t>
            </a:r>
            <a:endParaRPr lang="th-TH" altLang="en-US" sz="4000" b="1" u="sng" smtClean="0"/>
          </a:p>
        </p:txBody>
      </p:sp>
      <p:sp>
        <p:nvSpPr>
          <p:cNvPr id="1045507" name="Rectangle 3"/>
          <p:cNvSpPr>
            <a:spLocks noChangeArrowheads="1"/>
          </p:cNvSpPr>
          <p:nvPr/>
        </p:nvSpPr>
        <p:spPr bwMode="auto">
          <a:xfrm>
            <a:off x="474663" y="1158875"/>
            <a:ext cx="8229600" cy="742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457200" algn="ctr" fontAlgn="base">
              <a:spcBef>
                <a:spcPct val="0"/>
              </a:spcBef>
              <a:spcAft>
                <a:spcPct val="0"/>
              </a:spcAft>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914400" algn="ctr" fontAlgn="base">
              <a:spcBef>
                <a:spcPct val="0"/>
              </a:spcBef>
              <a:spcAft>
                <a:spcPct val="0"/>
              </a:spcAft>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1371600" algn="ctr" fontAlgn="base">
              <a:spcBef>
                <a:spcPct val="0"/>
              </a:spcBef>
              <a:spcAft>
                <a:spcPct val="0"/>
              </a:spcAft>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1828800" algn="ctr" fontAlgn="base">
              <a:spcBef>
                <a:spcPct val="0"/>
              </a:spcBef>
              <a:spcAft>
                <a:spcPct val="0"/>
              </a:spcAft>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a:defRPr/>
            </a:pPr>
            <a:endParaRPr lang="en-US" altLang="en-US" sz="3400" u="sng" smtClean="0"/>
          </a:p>
        </p:txBody>
      </p:sp>
      <p:pic>
        <p:nvPicPr>
          <p:cNvPr id="531460" name="Picture 4" descr="black"/>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303213" y="987425"/>
            <a:ext cx="8401050" cy="5491163"/>
          </a:xfrm>
          <a:noFill/>
          <a:ln w="38100">
            <a:solidFill>
              <a:srgbClr val="CCFFFF"/>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2"/>
          <p:cNvSpPr>
            <a:spLocks noGrp="1" noChangeArrowheads="1"/>
          </p:cNvSpPr>
          <p:nvPr>
            <p:ph type="title"/>
          </p:nvPr>
        </p:nvSpPr>
        <p:spPr>
          <a:xfrm>
            <a:off x="307975" y="-88900"/>
            <a:ext cx="8540750" cy="1143000"/>
          </a:xfrm>
        </p:spPr>
        <p:txBody>
          <a:bodyPr/>
          <a:lstStyle/>
          <a:p>
            <a:r>
              <a:rPr lang="en-US" altLang="en-US" sz="6600" smtClean="0">
                <a:latin typeface="Angsana New" panose="02020603050405020304" pitchFamily="18" charset="-34"/>
              </a:rPr>
              <a:t>Air System</a:t>
            </a:r>
            <a:endParaRPr lang="th-TH" altLang="en-US" sz="6600" smtClean="0">
              <a:latin typeface="Angsana New" panose="02020603050405020304" pitchFamily="18" charset="-34"/>
            </a:endParaRPr>
          </a:p>
        </p:txBody>
      </p:sp>
      <p:sp>
        <p:nvSpPr>
          <p:cNvPr id="532483" name="Picture 3" descr="IMG_2429"/>
          <p:cNvSpPr>
            <a:spLocks noGrp="1" noChangeAspect="1" noChangeArrowheads="1"/>
          </p:cNvSpPr>
          <p:nvPr>
            <p:ph idx="1"/>
          </p:nvPr>
        </p:nvSpPr>
        <p:spPr>
          <a:xfrm>
            <a:off x="668338" y="957263"/>
            <a:ext cx="7972425" cy="5557837"/>
          </a:xfrm>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ltLang="en-US" smtClean="0"/>
          </a:p>
        </p:txBody>
      </p:sp>
      <p:grpSp>
        <p:nvGrpSpPr>
          <p:cNvPr id="1052676" name="Group 4"/>
          <p:cNvGrpSpPr>
            <a:grpSpLocks/>
          </p:cNvGrpSpPr>
          <p:nvPr/>
        </p:nvGrpSpPr>
        <p:grpSpPr bwMode="auto">
          <a:xfrm>
            <a:off x="1270000" y="1931988"/>
            <a:ext cx="3111500" cy="571500"/>
            <a:chOff x="800" y="1328"/>
            <a:chExt cx="1960" cy="360"/>
          </a:xfrm>
        </p:grpSpPr>
        <p:sp>
          <p:nvSpPr>
            <p:cNvPr id="532524" name="AutoShape 5"/>
            <p:cNvSpPr>
              <a:spLocks noChangeArrowheads="1"/>
            </p:cNvSpPr>
            <p:nvPr/>
          </p:nvSpPr>
          <p:spPr bwMode="auto">
            <a:xfrm>
              <a:off x="2224" y="1328"/>
              <a:ext cx="536" cy="360"/>
            </a:xfrm>
            <a:prstGeom prst="rightArrow">
              <a:avLst>
                <a:gd name="adj1" fmla="val 50000"/>
                <a:gd name="adj2" fmla="val 37222"/>
              </a:avLst>
            </a:prstGeom>
            <a:solidFill>
              <a:srgbClr val="FF0000"/>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1052678" name="Text Box 6"/>
            <p:cNvSpPr txBox="1">
              <a:spLocks noChangeArrowheads="1"/>
            </p:cNvSpPr>
            <p:nvPr/>
          </p:nvSpPr>
          <p:spPr bwMode="auto">
            <a:xfrm>
              <a:off x="800" y="1328"/>
              <a:ext cx="142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2800">
                  <a:solidFill>
                    <a:srgbClr val="FF0000"/>
                  </a:solidFill>
                  <a:effectLst>
                    <a:outerShdw blurRad="38100" dist="38100" dir="2700000" algn="tl">
                      <a:srgbClr val="000000"/>
                    </a:outerShdw>
                  </a:effectLst>
                </a:rPr>
                <a:t>Smelt spout</a:t>
              </a:r>
              <a:endParaRPr lang="th-TH" altLang="en-US" sz="2800">
                <a:solidFill>
                  <a:srgbClr val="FF0000"/>
                </a:solidFill>
                <a:effectLst>
                  <a:outerShdw blurRad="38100" dist="38100" dir="2700000" algn="tl">
                    <a:srgbClr val="000000"/>
                  </a:outerShdw>
                </a:effectLst>
              </a:endParaRPr>
            </a:p>
          </p:txBody>
        </p:sp>
      </p:grpSp>
      <p:sp>
        <p:nvSpPr>
          <p:cNvPr id="1052679" name="Freeform 7"/>
          <p:cNvSpPr>
            <a:spLocks/>
          </p:cNvSpPr>
          <p:nvPr/>
        </p:nvSpPr>
        <p:spPr bwMode="auto">
          <a:xfrm>
            <a:off x="212725" y="3132138"/>
            <a:ext cx="8931275" cy="3395662"/>
          </a:xfrm>
          <a:custGeom>
            <a:avLst/>
            <a:gdLst>
              <a:gd name="T0" fmla="*/ 2147483646 w 5626"/>
              <a:gd name="T1" fmla="*/ 2147483646 h 2887"/>
              <a:gd name="T2" fmla="*/ 2147483646 w 5626"/>
              <a:gd name="T3" fmla="*/ 2147483646 h 2887"/>
              <a:gd name="T4" fmla="*/ 2147483646 w 5626"/>
              <a:gd name="T5" fmla="*/ 2147483646 h 2887"/>
              <a:gd name="T6" fmla="*/ 2147483646 w 5626"/>
              <a:gd name="T7" fmla="*/ 2147483646 h 2887"/>
              <a:gd name="T8" fmla="*/ 2147483646 w 5626"/>
              <a:gd name="T9" fmla="*/ 2147483646 h 2887"/>
              <a:gd name="T10" fmla="*/ 2147483646 w 5626"/>
              <a:gd name="T11" fmla="*/ 2147483646 h 2887"/>
              <a:gd name="T12" fmla="*/ 2147483646 w 5626"/>
              <a:gd name="T13" fmla="*/ 2147483646 h 2887"/>
              <a:gd name="T14" fmla="*/ 2147483646 w 5626"/>
              <a:gd name="T15" fmla="*/ 2147483646 h 2887"/>
              <a:gd name="T16" fmla="*/ 2147483646 w 5626"/>
              <a:gd name="T17" fmla="*/ 2147483646 h 2887"/>
              <a:gd name="T18" fmla="*/ 2147483646 w 5626"/>
              <a:gd name="T19" fmla="*/ 2147483646 h 28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626" h="2887">
                <a:moveTo>
                  <a:pt x="675" y="2710"/>
                </a:moveTo>
                <a:cubicBezTo>
                  <a:pt x="0" y="2591"/>
                  <a:pt x="781" y="2354"/>
                  <a:pt x="888" y="2116"/>
                </a:cubicBezTo>
                <a:cubicBezTo>
                  <a:pt x="995" y="1878"/>
                  <a:pt x="1183" y="1511"/>
                  <a:pt x="1316" y="1280"/>
                </a:cubicBezTo>
                <a:cubicBezTo>
                  <a:pt x="1449" y="1049"/>
                  <a:pt x="1521" y="904"/>
                  <a:pt x="1687" y="732"/>
                </a:cubicBezTo>
                <a:cubicBezTo>
                  <a:pt x="1853" y="560"/>
                  <a:pt x="2078" y="355"/>
                  <a:pt x="2310" y="248"/>
                </a:cubicBezTo>
                <a:cubicBezTo>
                  <a:pt x="2542" y="141"/>
                  <a:pt x="2787" y="0"/>
                  <a:pt x="3081" y="90"/>
                </a:cubicBezTo>
                <a:cubicBezTo>
                  <a:pt x="3375" y="180"/>
                  <a:pt x="3787" y="412"/>
                  <a:pt x="4075" y="787"/>
                </a:cubicBezTo>
                <a:cubicBezTo>
                  <a:pt x="4363" y="1162"/>
                  <a:pt x="4665" y="1998"/>
                  <a:pt x="4809" y="2339"/>
                </a:cubicBezTo>
                <a:cubicBezTo>
                  <a:pt x="4953" y="2680"/>
                  <a:pt x="5626" y="2775"/>
                  <a:pt x="4939" y="2831"/>
                </a:cubicBezTo>
                <a:cubicBezTo>
                  <a:pt x="4252" y="2887"/>
                  <a:pt x="1350" y="2829"/>
                  <a:pt x="675" y="2710"/>
                </a:cubicBezTo>
                <a:close/>
              </a:path>
            </a:pathLst>
          </a:custGeom>
          <a:solidFill>
            <a:srgbClr val="FF0000"/>
          </a:solidFill>
          <a:ln w="9525" cap="flat"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052680" name="Group 8"/>
          <p:cNvGrpSpPr>
            <a:grpSpLocks/>
          </p:cNvGrpSpPr>
          <p:nvPr/>
        </p:nvGrpSpPr>
        <p:grpSpPr bwMode="auto">
          <a:xfrm>
            <a:off x="331788" y="1076325"/>
            <a:ext cx="4633912" cy="2243138"/>
            <a:chOff x="209" y="789"/>
            <a:chExt cx="2919" cy="1413"/>
          </a:xfrm>
        </p:grpSpPr>
        <p:sp>
          <p:nvSpPr>
            <p:cNvPr id="532521" name="AutoShape 9"/>
            <p:cNvSpPr>
              <a:spLocks noChangeArrowheads="1"/>
            </p:cNvSpPr>
            <p:nvPr/>
          </p:nvSpPr>
          <p:spPr bwMode="auto">
            <a:xfrm>
              <a:off x="1652" y="789"/>
              <a:ext cx="1443" cy="539"/>
            </a:xfrm>
            <a:prstGeom prst="curvedDownArrow">
              <a:avLst>
                <a:gd name="adj1" fmla="val 53544"/>
                <a:gd name="adj2" fmla="val 107087"/>
                <a:gd name="adj3" fmla="val 33333"/>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522" name="AutoShape 10"/>
            <p:cNvSpPr>
              <a:spLocks noChangeArrowheads="1"/>
            </p:cNvSpPr>
            <p:nvPr/>
          </p:nvSpPr>
          <p:spPr bwMode="auto">
            <a:xfrm>
              <a:off x="209" y="1442"/>
              <a:ext cx="1443" cy="539"/>
            </a:xfrm>
            <a:prstGeom prst="curvedDownArrow">
              <a:avLst>
                <a:gd name="adj1" fmla="val 53544"/>
                <a:gd name="adj2" fmla="val 107087"/>
                <a:gd name="adj3" fmla="val 33333"/>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1052683" name="Text Box 11"/>
            <p:cNvSpPr txBox="1">
              <a:spLocks noChangeArrowheads="1"/>
            </p:cNvSpPr>
            <p:nvPr/>
          </p:nvSpPr>
          <p:spPr bwMode="auto">
            <a:xfrm>
              <a:off x="1320" y="1760"/>
              <a:ext cx="180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4000">
                  <a:solidFill>
                    <a:srgbClr val="0000FF"/>
                  </a:solidFill>
                  <a:effectLst>
                    <a:outerShdw blurRad="38100" dist="38100" dir="2700000" algn="tl">
                      <a:srgbClr val="000000"/>
                    </a:outerShdw>
                  </a:effectLst>
                </a:rPr>
                <a:t>Smelt Out</a:t>
              </a:r>
              <a:endParaRPr lang="th-TH" altLang="en-US" sz="4000">
                <a:solidFill>
                  <a:srgbClr val="0000FF"/>
                </a:solidFill>
                <a:effectLst>
                  <a:outerShdw blurRad="38100" dist="38100" dir="2700000" algn="tl">
                    <a:srgbClr val="000000"/>
                  </a:outerShdw>
                </a:effectLst>
              </a:endParaRPr>
            </a:p>
          </p:txBody>
        </p:sp>
      </p:grpSp>
      <p:grpSp>
        <p:nvGrpSpPr>
          <p:cNvPr id="1052684" name="Group 12"/>
          <p:cNvGrpSpPr>
            <a:grpSpLocks/>
          </p:cNvGrpSpPr>
          <p:nvPr/>
        </p:nvGrpSpPr>
        <p:grpSpPr bwMode="auto">
          <a:xfrm>
            <a:off x="2517775" y="1255713"/>
            <a:ext cx="5257800" cy="3349625"/>
            <a:chOff x="1586" y="902"/>
            <a:chExt cx="3312" cy="2110"/>
          </a:xfrm>
        </p:grpSpPr>
        <p:sp>
          <p:nvSpPr>
            <p:cNvPr id="532518" name="Line 13"/>
            <p:cNvSpPr>
              <a:spLocks noChangeShapeType="1"/>
            </p:cNvSpPr>
            <p:nvPr/>
          </p:nvSpPr>
          <p:spPr bwMode="auto">
            <a:xfrm>
              <a:off x="1586" y="902"/>
              <a:ext cx="940" cy="1668"/>
            </a:xfrm>
            <a:prstGeom prst="line">
              <a:avLst/>
            </a:prstGeom>
            <a:noFill/>
            <a:ln w="454025">
              <a:solidFill>
                <a:srgbClr val="00FF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2519" name="Line 14"/>
            <p:cNvSpPr>
              <a:spLocks noChangeShapeType="1"/>
            </p:cNvSpPr>
            <p:nvPr/>
          </p:nvSpPr>
          <p:spPr bwMode="auto">
            <a:xfrm flipH="1">
              <a:off x="3128" y="1140"/>
              <a:ext cx="1770" cy="1288"/>
            </a:xfrm>
            <a:prstGeom prst="line">
              <a:avLst/>
            </a:prstGeom>
            <a:noFill/>
            <a:ln w="454025">
              <a:solidFill>
                <a:srgbClr val="00FF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52687" name="Text Box 15"/>
            <p:cNvSpPr txBox="1">
              <a:spLocks noChangeArrowheads="1"/>
            </p:cNvSpPr>
            <p:nvPr/>
          </p:nvSpPr>
          <p:spPr bwMode="auto">
            <a:xfrm>
              <a:off x="2707" y="2570"/>
              <a:ext cx="776"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4000">
                  <a:solidFill>
                    <a:srgbClr val="00FF00"/>
                  </a:solidFill>
                  <a:effectLst>
                    <a:outerShdw blurRad="38100" dist="38100" dir="2700000" algn="tl">
                      <a:srgbClr val="000000"/>
                    </a:outerShdw>
                  </a:effectLst>
                </a:rPr>
                <a:t>Air</a:t>
              </a:r>
              <a:endParaRPr lang="th-TH" altLang="en-US" sz="4000">
                <a:solidFill>
                  <a:srgbClr val="00FF00"/>
                </a:solidFill>
                <a:effectLst>
                  <a:outerShdw blurRad="38100" dist="38100" dir="2700000" algn="tl">
                    <a:srgbClr val="000000"/>
                  </a:outerShdw>
                </a:effectLst>
              </a:endParaRPr>
            </a:p>
          </p:txBody>
        </p:sp>
      </p:grpSp>
      <p:grpSp>
        <p:nvGrpSpPr>
          <p:cNvPr id="1052688" name="Group 16"/>
          <p:cNvGrpSpPr>
            <a:grpSpLocks/>
          </p:cNvGrpSpPr>
          <p:nvPr/>
        </p:nvGrpSpPr>
        <p:grpSpPr bwMode="auto">
          <a:xfrm>
            <a:off x="2622550" y="1544638"/>
            <a:ext cx="1158875" cy="1073150"/>
            <a:chOff x="3156" y="3106"/>
            <a:chExt cx="730" cy="676"/>
          </a:xfrm>
        </p:grpSpPr>
        <p:sp>
          <p:nvSpPr>
            <p:cNvPr id="532496" name="AutoShape 17"/>
            <p:cNvSpPr>
              <a:spLocks noChangeArrowheads="1"/>
            </p:cNvSpPr>
            <p:nvPr/>
          </p:nvSpPr>
          <p:spPr bwMode="auto">
            <a:xfrm>
              <a:off x="3693" y="3358"/>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497" name="AutoShape 18"/>
            <p:cNvSpPr>
              <a:spLocks noChangeArrowheads="1"/>
            </p:cNvSpPr>
            <p:nvPr/>
          </p:nvSpPr>
          <p:spPr bwMode="auto">
            <a:xfrm>
              <a:off x="3188" y="3218"/>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nvGrpSpPr>
            <p:cNvPr id="532498" name="Group 19"/>
            <p:cNvGrpSpPr>
              <a:grpSpLocks/>
            </p:cNvGrpSpPr>
            <p:nvPr/>
          </p:nvGrpSpPr>
          <p:grpSpPr bwMode="auto">
            <a:xfrm>
              <a:off x="3156" y="3106"/>
              <a:ext cx="730" cy="676"/>
              <a:chOff x="2494" y="2600"/>
              <a:chExt cx="730" cy="676"/>
            </a:xfrm>
          </p:grpSpPr>
          <p:sp>
            <p:nvSpPr>
              <p:cNvPr id="532499" name="AutoShape 20"/>
              <p:cNvSpPr>
                <a:spLocks noChangeArrowheads="1"/>
              </p:cNvSpPr>
              <p:nvPr/>
            </p:nvSpPr>
            <p:spPr bwMode="auto">
              <a:xfrm>
                <a:off x="2868" y="2740"/>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500" name="AutoShape 21"/>
              <p:cNvSpPr>
                <a:spLocks noChangeArrowheads="1"/>
              </p:cNvSpPr>
              <p:nvPr/>
            </p:nvSpPr>
            <p:spPr bwMode="auto">
              <a:xfrm>
                <a:off x="3160" y="2824"/>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501" name="AutoShape 22"/>
              <p:cNvSpPr>
                <a:spLocks noChangeArrowheads="1"/>
              </p:cNvSpPr>
              <p:nvPr/>
            </p:nvSpPr>
            <p:spPr bwMode="auto">
              <a:xfrm>
                <a:off x="3096" y="3162"/>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502" name="AutoShape 23"/>
              <p:cNvSpPr>
                <a:spLocks noChangeArrowheads="1"/>
              </p:cNvSpPr>
              <p:nvPr/>
            </p:nvSpPr>
            <p:spPr bwMode="auto">
              <a:xfrm>
                <a:off x="2558" y="2824"/>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503" name="AutoShape 24"/>
              <p:cNvSpPr>
                <a:spLocks noChangeArrowheads="1"/>
              </p:cNvSpPr>
              <p:nvPr/>
            </p:nvSpPr>
            <p:spPr bwMode="auto">
              <a:xfrm>
                <a:off x="2494" y="2936"/>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504" name="AutoShape 25"/>
              <p:cNvSpPr>
                <a:spLocks noChangeArrowheads="1"/>
              </p:cNvSpPr>
              <p:nvPr/>
            </p:nvSpPr>
            <p:spPr bwMode="auto">
              <a:xfrm>
                <a:off x="2686" y="2740"/>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505" name="AutoShape 26"/>
              <p:cNvSpPr>
                <a:spLocks noChangeArrowheads="1"/>
              </p:cNvSpPr>
              <p:nvPr/>
            </p:nvSpPr>
            <p:spPr bwMode="auto">
              <a:xfrm>
                <a:off x="3160" y="2992"/>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506" name="AutoShape 27"/>
              <p:cNvSpPr>
                <a:spLocks noChangeArrowheads="1"/>
              </p:cNvSpPr>
              <p:nvPr/>
            </p:nvSpPr>
            <p:spPr bwMode="auto">
              <a:xfrm>
                <a:off x="2672" y="2600"/>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507" name="AutoShape 28"/>
              <p:cNvSpPr>
                <a:spLocks noChangeArrowheads="1"/>
              </p:cNvSpPr>
              <p:nvPr/>
            </p:nvSpPr>
            <p:spPr bwMode="auto">
              <a:xfrm>
                <a:off x="2850" y="2628"/>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508" name="AutoShape 29"/>
              <p:cNvSpPr>
                <a:spLocks noChangeArrowheads="1"/>
              </p:cNvSpPr>
              <p:nvPr/>
            </p:nvSpPr>
            <p:spPr bwMode="auto">
              <a:xfrm>
                <a:off x="3064" y="2684"/>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509" name="AutoShape 30"/>
              <p:cNvSpPr>
                <a:spLocks noChangeArrowheads="1"/>
              </p:cNvSpPr>
              <p:nvPr/>
            </p:nvSpPr>
            <p:spPr bwMode="auto">
              <a:xfrm>
                <a:off x="3031" y="2964"/>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510" name="AutoShape 31"/>
              <p:cNvSpPr>
                <a:spLocks noChangeArrowheads="1"/>
              </p:cNvSpPr>
              <p:nvPr/>
            </p:nvSpPr>
            <p:spPr bwMode="auto">
              <a:xfrm>
                <a:off x="2622" y="2992"/>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511" name="AutoShape 32"/>
              <p:cNvSpPr>
                <a:spLocks noChangeArrowheads="1"/>
              </p:cNvSpPr>
              <p:nvPr/>
            </p:nvSpPr>
            <p:spPr bwMode="auto">
              <a:xfrm>
                <a:off x="2736" y="3106"/>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512" name="AutoShape 33"/>
              <p:cNvSpPr>
                <a:spLocks noChangeArrowheads="1"/>
              </p:cNvSpPr>
              <p:nvPr/>
            </p:nvSpPr>
            <p:spPr bwMode="auto">
              <a:xfrm>
                <a:off x="2850" y="3220"/>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513" name="AutoShape 34"/>
              <p:cNvSpPr>
                <a:spLocks noChangeArrowheads="1"/>
              </p:cNvSpPr>
              <p:nvPr/>
            </p:nvSpPr>
            <p:spPr bwMode="auto">
              <a:xfrm>
                <a:off x="2932" y="3106"/>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514" name="AutoShape 35"/>
              <p:cNvSpPr>
                <a:spLocks noChangeArrowheads="1"/>
              </p:cNvSpPr>
              <p:nvPr/>
            </p:nvSpPr>
            <p:spPr bwMode="auto">
              <a:xfrm>
                <a:off x="2654" y="3220"/>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515" name="AutoShape 36"/>
              <p:cNvSpPr>
                <a:spLocks noChangeArrowheads="1"/>
              </p:cNvSpPr>
              <p:nvPr/>
            </p:nvSpPr>
            <p:spPr bwMode="auto">
              <a:xfrm>
                <a:off x="2800" y="2992"/>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516" name="AutoShape 37"/>
              <p:cNvSpPr>
                <a:spLocks noChangeArrowheads="1"/>
              </p:cNvSpPr>
              <p:nvPr/>
            </p:nvSpPr>
            <p:spPr bwMode="auto">
              <a:xfrm>
                <a:off x="2786" y="2880"/>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517" name="AutoShape 38"/>
              <p:cNvSpPr>
                <a:spLocks noChangeArrowheads="1"/>
              </p:cNvSpPr>
              <p:nvPr/>
            </p:nvSpPr>
            <p:spPr bwMode="auto">
              <a:xfrm>
                <a:off x="2900" y="2936"/>
                <a:ext cx="64" cy="56"/>
              </a:xfrm>
              <a:prstGeom prst="flowChartConnector">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grpSp>
      <p:grpSp>
        <p:nvGrpSpPr>
          <p:cNvPr id="1052711" name="Group 39"/>
          <p:cNvGrpSpPr>
            <a:grpSpLocks/>
          </p:cNvGrpSpPr>
          <p:nvPr/>
        </p:nvGrpSpPr>
        <p:grpSpPr bwMode="auto">
          <a:xfrm>
            <a:off x="3289300" y="2779713"/>
            <a:ext cx="823913" cy="1077912"/>
            <a:chOff x="796" y="2789"/>
            <a:chExt cx="519" cy="679"/>
          </a:xfrm>
        </p:grpSpPr>
        <p:sp>
          <p:nvSpPr>
            <p:cNvPr id="532490" name="AutoShape 40"/>
            <p:cNvSpPr>
              <a:spLocks noChangeArrowheads="1"/>
            </p:cNvSpPr>
            <p:nvPr/>
          </p:nvSpPr>
          <p:spPr bwMode="auto">
            <a:xfrm>
              <a:off x="823" y="2789"/>
              <a:ext cx="173" cy="223"/>
            </a:xfrm>
            <a:prstGeom prst="irregularSeal1">
              <a:avLst/>
            </a:prstGeom>
            <a:solidFill>
              <a:srgbClr val="FF00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491" name="AutoShape 41"/>
            <p:cNvSpPr>
              <a:spLocks noChangeArrowheads="1"/>
            </p:cNvSpPr>
            <p:nvPr/>
          </p:nvSpPr>
          <p:spPr bwMode="auto">
            <a:xfrm>
              <a:off x="796" y="3011"/>
              <a:ext cx="173" cy="223"/>
            </a:xfrm>
            <a:prstGeom prst="irregularSeal1">
              <a:avLst/>
            </a:prstGeom>
            <a:solidFill>
              <a:srgbClr val="FF00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492" name="AutoShape 42"/>
            <p:cNvSpPr>
              <a:spLocks noChangeArrowheads="1"/>
            </p:cNvSpPr>
            <p:nvPr/>
          </p:nvSpPr>
          <p:spPr bwMode="auto">
            <a:xfrm>
              <a:off x="996" y="2900"/>
              <a:ext cx="173" cy="223"/>
            </a:xfrm>
            <a:prstGeom prst="irregularSeal1">
              <a:avLst/>
            </a:prstGeom>
            <a:solidFill>
              <a:srgbClr val="FF00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493" name="AutoShape 43"/>
            <p:cNvSpPr>
              <a:spLocks noChangeArrowheads="1"/>
            </p:cNvSpPr>
            <p:nvPr/>
          </p:nvSpPr>
          <p:spPr bwMode="auto">
            <a:xfrm>
              <a:off x="969" y="3131"/>
              <a:ext cx="173" cy="223"/>
            </a:xfrm>
            <a:prstGeom prst="irregularSeal1">
              <a:avLst/>
            </a:prstGeom>
            <a:solidFill>
              <a:srgbClr val="FF00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494" name="AutoShape 44"/>
            <p:cNvSpPr>
              <a:spLocks noChangeArrowheads="1"/>
            </p:cNvSpPr>
            <p:nvPr/>
          </p:nvSpPr>
          <p:spPr bwMode="auto">
            <a:xfrm>
              <a:off x="1083" y="3245"/>
              <a:ext cx="173" cy="223"/>
            </a:xfrm>
            <a:prstGeom prst="irregularSeal1">
              <a:avLst/>
            </a:prstGeom>
            <a:solidFill>
              <a:srgbClr val="FF00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32495" name="AutoShape 45"/>
            <p:cNvSpPr>
              <a:spLocks noChangeArrowheads="1"/>
            </p:cNvSpPr>
            <p:nvPr/>
          </p:nvSpPr>
          <p:spPr bwMode="auto">
            <a:xfrm>
              <a:off x="1142" y="3022"/>
              <a:ext cx="173" cy="223"/>
            </a:xfrm>
            <a:prstGeom prst="irregularSeal1">
              <a:avLst/>
            </a:prstGeom>
            <a:solidFill>
              <a:srgbClr val="FF00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1052676"/>
                                        </p:tgtEl>
                                        <p:attrNameLst>
                                          <p:attrName>style.visibility</p:attrName>
                                        </p:attrNameLst>
                                      </p:cBhvr>
                                      <p:to>
                                        <p:strVal val="visible"/>
                                      </p:to>
                                    </p:set>
                                    <p:anim calcmode="lin" valueType="num">
                                      <p:cBhvr additive="base">
                                        <p:cTn id="7" dur="500" fill="hold"/>
                                        <p:tgtEl>
                                          <p:spTgt spid="1052676"/>
                                        </p:tgtEl>
                                        <p:attrNameLst>
                                          <p:attrName>ppt_x</p:attrName>
                                        </p:attrNameLst>
                                      </p:cBhvr>
                                      <p:tavLst>
                                        <p:tav tm="0">
                                          <p:val>
                                            <p:strVal val="#ppt_x"/>
                                          </p:val>
                                        </p:tav>
                                        <p:tav tm="100000">
                                          <p:val>
                                            <p:strVal val="#ppt_x"/>
                                          </p:val>
                                        </p:tav>
                                      </p:tavLst>
                                    </p:anim>
                                    <p:anim calcmode="lin" valueType="num">
                                      <p:cBhvr additive="base">
                                        <p:cTn id="8" dur="500" fill="hold"/>
                                        <p:tgtEl>
                                          <p:spTgt spid="1052676"/>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3" presetClass="entr" presetSubtype="10" fill="hold" nodeType="clickEffect">
                                  <p:stCondLst>
                                    <p:cond delay="0"/>
                                  </p:stCondLst>
                                  <p:childTnLst>
                                    <p:set>
                                      <p:cBhvr>
                                        <p:cTn id="12" dur="1" fill="hold">
                                          <p:stCondLst>
                                            <p:cond delay="0"/>
                                          </p:stCondLst>
                                        </p:cTn>
                                        <p:tgtEl>
                                          <p:spTgt spid="1052688"/>
                                        </p:tgtEl>
                                        <p:attrNameLst>
                                          <p:attrName>style.visibility</p:attrName>
                                        </p:attrNameLst>
                                      </p:cBhvr>
                                      <p:to>
                                        <p:strVal val="visible"/>
                                      </p:to>
                                    </p:set>
                                    <p:animEffect transition="in" filter="blinds(horizontal)">
                                      <p:cBhvr>
                                        <p:cTn id="13" dur="500"/>
                                        <p:tgtEl>
                                          <p:spTgt spid="1052688"/>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3" presetClass="entr" presetSubtype="10" fill="hold" grpId="0" nodeType="clickEffect">
                                  <p:stCondLst>
                                    <p:cond delay="0"/>
                                  </p:stCondLst>
                                  <p:childTnLst>
                                    <p:set>
                                      <p:cBhvr>
                                        <p:cTn id="17" dur="1" fill="hold">
                                          <p:stCondLst>
                                            <p:cond delay="0"/>
                                          </p:stCondLst>
                                        </p:cTn>
                                        <p:tgtEl>
                                          <p:spTgt spid="1052679"/>
                                        </p:tgtEl>
                                        <p:attrNameLst>
                                          <p:attrName>style.visibility</p:attrName>
                                        </p:attrNameLst>
                                      </p:cBhvr>
                                      <p:to>
                                        <p:strVal val="visible"/>
                                      </p:to>
                                    </p:set>
                                    <p:animEffect transition="in" filter="blinds(horizontal)">
                                      <p:cBhvr>
                                        <p:cTn id="18" dur="500"/>
                                        <p:tgtEl>
                                          <p:spTgt spid="1052679"/>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3" presetClass="entr" presetSubtype="10" fill="hold" nodeType="clickEffect">
                                  <p:stCondLst>
                                    <p:cond delay="0"/>
                                  </p:stCondLst>
                                  <p:childTnLst>
                                    <p:set>
                                      <p:cBhvr>
                                        <p:cTn id="22" dur="1" fill="hold">
                                          <p:stCondLst>
                                            <p:cond delay="0"/>
                                          </p:stCondLst>
                                        </p:cTn>
                                        <p:tgtEl>
                                          <p:spTgt spid="1052711"/>
                                        </p:tgtEl>
                                        <p:attrNameLst>
                                          <p:attrName>style.visibility</p:attrName>
                                        </p:attrNameLst>
                                      </p:cBhvr>
                                      <p:to>
                                        <p:strVal val="visible"/>
                                      </p:to>
                                    </p:set>
                                    <p:animEffect transition="in" filter="blinds(horizontal)">
                                      <p:cBhvr>
                                        <p:cTn id="23" dur="500"/>
                                        <p:tgtEl>
                                          <p:spTgt spid="1052711"/>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9" presetClass="entr" presetSubtype="0" fill="hold" nodeType="clickEffect">
                                  <p:stCondLst>
                                    <p:cond delay="0"/>
                                  </p:stCondLst>
                                  <p:childTnLst>
                                    <p:set>
                                      <p:cBhvr>
                                        <p:cTn id="27" dur="1" fill="hold">
                                          <p:stCondLst>
                                            <p:cond delay="0"/>
                                          </p:stCondLst>
                                        </p:cTn>
                                        <p:tgtEl>
                                          <p:spTgt spid="1052684"/>
                                        </p:tgtEl>
                                        <p:attrNameLst>
                                          <p:attrName>style.visibility</p:attrName>
                                        </p:attrNameLst>
                                      </p:cBhvr>
                                      <p:to>
                                        <p:strVal val="visible"/>
                                      </p:to>
                                    </p:set>
                                    <p:animEffect transition="in" filter="dissolve">
                                      <p:cBhvr>
                                        <p:cTn id="28" dur="500"/>
                                        <p:tgtEl>
                                          <p:spTgt spid="1052684"/>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4" presetClass="exit" presetSubtype="16" fill="hold" nodeType="clickEffect">
                                  <p:stCondLst>
                                    <p:cond delay="0"/>
                                  </p:stCondLst>
                                  <p:childTnLst>
                                    <p:animEffect transition="out" filter="box(in)">
                                      <p:cBhvr>
                                        <p:cTn id="32" dur="500"/>
                                        <p:tgtEl>
                                          <p:spTgt spid="1052688"/>
                                        </p:tgtEl>
                                      </p:cBhvr>
                                    </p:animEffect>
                                    <p:set>
                                      <p:cBhvr>
                                        <p:cTn id="33" dur="1" fill="hold">
                                          <p:stCondLst>
                                            <p:cond delay="499"/>
                                          </p:stCondLst>
                                        </p:cTn>
                                        <p:tgtEl>
                                          <p:spTgt spid="1052688"/>
                                        </p:tgtEl>
                                        <p:attrNameLst>
                                          <p:attrName>style.visibility</p:attrName>
                                        </p:attrNameLst>
                                      </p:cBhvr>
                                      <p:to>
                                        <p:strVal val="hidden"/>
                                      </p:to>
                                    </p:se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xit" presetSubtype="10" fill="hold" nodeType="clickEffect">
                                  <p:stCondLst>
                                    <p:cond delay="0"/>
                                  </p:stCondLst>
                                  <p:childTnLst>
                                    <p:animEffect transition="out" filter="checkerboard(across)">
                                      <p:cBhvr>
                                        <p:cTn id="37" dur="500"/>
                                        <p:tgtEl>
                                          <p:spTgt spid="1052676"/>
                                        </p:tgtEl>
                                      </p:cBhvr>
                                    </p:animEffect>
                                    <p:set>
                                      <p:cBhvr>
                                        <p:cTn id="38" dur="1" fill="hold">
                                          <p:stCondLst>
                                            <p:cond delay="499"/>
                                          </p:stCondLst>
                                        </p:cTn>
                                        <p:tgtEl>
                                          <p:spTgt spid="1052676"/>
                                        </p:tgtEl>
                                        <p:attrNameLst>
                                          <p:attrName>style.visibility</p:attrName>
                                        </p:attrNameLst>
                                      </p:cBhvr>
                                      <p:to>
                                        <p:strVal val="hidden"/>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3" presetClass="exit" presetSubtype="10" fill="hold" grpId="1" nodeType="clickEffect">
                                  <p:stCondLst>
                                    <p:cond delay="0"/>
                                  </p:stCondLst>
                                  <p:childTnLst>
                                    <p:animEffect transition="out" filter="blinds(horizontal)">
                                      <p:cBhvr>
                                        <p:cTn id="42" dur="500"/>
                                        <p:tgtEl>
                                          <p:spTgt spid="1052679"/>
                                        </p:tgtEl>
                                      </p:cBhvr>
                                    </p:animEffect>
                                    <p:set>
                                      <p:cBhvr>
                                        <p:cTn id="43" dur="1" fill="hold">
                                          <p:stCondLst>
                                            <p:cond delay="499"/>
                                          </p:stCondLst>
                                        </p:cTn>
                                        <p:tgtEl>
                                          <p:spTgt spid="1052679"/>
                                        </p:tgtEl>
                                        <p:attrNameLst>
                                          <p:attrName>style.visibility</p:attrName>
                                        </p:attrNameLst>
                                      </p:cBhvr>
                                      <p:to>
                                        <p:strVal val="hidden"/>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8" presetClass="exit" presetSubtype="16" fill="hold" nodeType="clickEffect">
                                  <p:stCondLst>
                                    <p:cond delay="0"/>
                                  </p:stCondLst>
                                  <p:childTnLst>
                                    <p:animEffect transition="out" filter="diamond(in)">
                                      <p:cBhvr>
                                        <p:cTn id="47" dur="2000"/>
                                        <p:tgtEl>
                                          <p:spTgt spid="1052684"/>
                                        </p:tgtEl>
                                      </p:cBhvr>
                                    </p:animEffect>
                                    <p:set>
                                      <p:cBhvr>
                                        <p:cTn id="48" dur="1" fill="hold">
                                          <p:stCondLst>
                                            <p:cond delay="1999"/>
                                          </p:stCondLst>
                                        </p:cTn>
                                        <p:tgtEl>
                                          <p:spTgt spid="1052684"/>
                                        </p:tgtEl>
                                        <p:attrNameLst>
                                          <p:attrName>style.visibility</p:attrName>
                                        </p:attrNameLst>
                                      </p:cBhvr>
                                      <p:to>
                                        <p:strVal val="hidden"/>
                                      </p:to>
                                    </p:set>
                                  </p:childTnLst>
                                </p:cTn>
                              </p:par>
                            </p:childTnLst>
                          </p:cTn>
                        </p:par>
                      </p:childTnLst>
                    </p:cTn>
                  </p:par>
                  <p:par>
                    <p:cTn id="49" fill="hold" nodeType="clickPar">
                      <p:stCondLst>
                        <p:cond delay="indefinite"/>
                      </p:stCondLst>
                      <p:childTnLst>
                        <p:par>
                          <p:cTn id="50" fill="hold" nodeType="withGroup">
                            <p:stCondLst>
                              <p:cond delay="0"/>
                            </p:stCondLst>
                            <p:childTnLst>
                              <p:par>
                                <p:cTn id="51" presetID="5" presetClass="exit" presetSubtype="10" fill="hold" nodeType="clickEffect">
                                  <p:stCondLst>
                                    <p:cond delay="0"/>
                                  </p:stCondLst>
                                  <p:childTnLst>
                                    <p:animEffect transition="out" filter="checkerboard(across)">
                                      <p:cBhvr>
                                        <p:cTn id="52" dur="500"/>
                                        <p:tgtEl>
                                          <p:spTgt spid="1052711"/>
                                        </p:tgtEl>
                                      </p:cBhvr>
                                    </p:animEffect>
                                    <p:set>
                                      <p:cBhvr>
                                        <p:cTn id="53" dur="1" fill="hold">
                                          <p:stCondLst>
                                            <p:cond delay="499"/>
                                          </p:stCondLst>
                                        </p:cTn>
                                        <p:tgtEl>
                                          <p:spTgt spid="1052711"/>
                                        </p:tgtEl>
                                        <p:attrNameLst>
                                          <p:attrName>style.visibility</p:attrName>
                                        </p:attrNameLst>
                                      </p:cBhvr>
                                      <p:to>
                                        <p:strVal val="hidden"/>
                                      </p:to>
                                    </p:set>
                                  </p:childTnLst>
                                </p:cTn>
                              </p:par>
                            </p:childTnLst>
                          </p:cTn>
                        </p:par>
                      </p:childTnLst>
                    </p:cTn>
                  </p:par>
                  <p:par>
                    <p:cTn id="54" fill="hold" nodeType="clickPar">
                      <p:stCondLst>
                        <p:cond delay="indefinite"/>
                      </p:stCondLst>
                      <p:childTnLst>
                        <p:par>
                          <p:cTn id="55" fill="hold" nodeType="withGroup">
                            <p:stCondLst>
                              <p:cond delay="0"/>
                            </p:stCondLst>
                            <p:childTnLst>
                              <p:par>
                                <p:cTn id="56" presetID="2" presetClass="entr" presetSubtype="4" fill="hold" nodeType="clickEffect">
                                  <p:stCondLst>
                                    <p:cond delay="0"/>
                                  </p:stCondLst>
                                  <p:childTnLst>
                                    <p:set>
                                      <p:cBhvr>
                                        <p:cTn id="57" dur="1" fill="hold">
                                          <p:stCondLst>
                                            <p:cond delay="0"/>
                                          </p:stCondLst>
                                        </p:cTn>
                                        <p:tgtEl>
                                          <p:spTgt spid="1052680"/>
                                        </p:tgtEl>
                                        <p:attrNameLst>
                                          <p:attrName>style.visibility</p:attrName>
                                        </p:attrNameLst>
                                      </p:cBhvr>
                                      <p:to>
                                        <p:strVal val="visible"/>
                                      </p:to>
                                    </p:set>
                                    <p:anim calcmode="lin" valueType="num">
                                      <p:cBhvr additive="base">
                                        <p:cTn id="58" dur="500" fill="hold"/>
                                        <p:tgtEl>
                                          <p:spTgt spid="1052680"/>
                                        </p:tgtEl>
                                        <p:attrNameLst>
                                          <p:attrName>ppt_x</p:attrName>
                                        </p:attrNameLst>
                                      </p:cBhvr>
                                      <p:tavLst>
                                        <p:tav tm="0">
                                          <p:val>
                                            <p:strVal val="#ppt_x"/>
                                          </p:val>
                                        </p:tav>
                                        <p:tav tm="100000">
                                          <p:val>
                                            <p:strVal val="#ppt_x"/>
                                          </p:val>
                                        </p:tav>
                                      </p:tavLst>
                                    </p:anim>
                                    <p:anim calcmode="lin" valueType="num">
                                      <p:cBhvr additive="base">
                                        <p:cTn id="59" dur="500" fill="hold"/>
                                        <p:tgtEl>
                                          <p:spTgt spid="105268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2679" grpId="0" animBg="1"/>
      <p:bldP spid="1052679" grpId="1"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4530" name="Rectangle 2"/>
          <p:cNvSpPr>
            <a:spLocks noGrp="1" noChangeArrowheads="1"/>
          </p:cNvSpPr>
          <p:nvPr>
            <p:ph type="title"/>
          </p:nvPr>
        </p:nvSpPr>
        <p:spPr>
          <a:xfrm>
            <a:off x="1651000" y="0"/>
            <a:ext cx="6057900" cy="1139825"/>
          </a:xfrm>
        </p:spPr>
        <p:txBody>
          <a:bodyPr/>
          <a:lstStyle/>
          <a:p>
            <a:r>
              <a:rPr lang="en-US" altLang="en-US" sz="4800" b="1" smtClean="0"/>
              <a:t>Fuel Process</a:t>
            </a:r>
            <a:endParaRPr lang="th-TH" altLang="en-US" sz="4800" b="1" smtClean="0"/>
          </a:p>
        </p:txBody>
      </p:sp>
      <p:sp>
        <p:nvSpPr>
          <p:cNvPr id="1054731" name="Text Box 11"/>
          <p:cNvSpPr txBox="1">
            <a:spLocks noChangeArrowheads="1"/>
          </p:cNvSpPr>
          <p:nvPr/>
        </p:nvSpPr>
        <p:spPr bwMode="auto">
          <a:xfrm>
            <a:off x="301625" y="715963"/>
            <a:ext cx="41148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3200" dirty="0">
                <a:solidFill>
                  <a:srgbClr val="FF0000"/>
                </a:solidFill>
                <a:effectLst>
                  <a:outerShdw blurRad="38100" dist="38100" dir="2700000" algn="tl">
                    <a:srgbClr val="000000"/>
                  </a:outerShdw>
                </a:effectLst>
              </a:rPr>
              <a:t>Smelt Spouts</a:t>
            </a:r>
            <a:endParaRPr lang="th-TH" altLang="en-US" sz="3200" dirty="0">
              <a:solidFill>
                <a:srgbClr val="FF0000"/>
              </a:solidFill>
              <a:effectLst>
                <a:outerShdw blurRad="38100" dist="38100" dir="2700000" algn="tl">
                  <a:srgbClr val="000000"/>
                </a:outerShdw>
              </a:effectLst>
            </a:endParaRPr>
          </a:p>
        </p:txBody>
      </p:sp>
      <p:sp>
        <p:nvSpPr>
          <p:cNvPr id="12" name="Slide Number Placeholder 6"/>
          <p:cNvSpPr>
            <a:spLocks noGrp="1"/>
          </p:cNvSpPr>
          <p:nvPr>
            <p:ph type="sldNum" sz="quarter" idx="12"/>
          </p:nvPr>
        </p:nvSpPr>
        <p:spPr>
          <a:xfrm>
            <a:off x="6553200" y="6245225"/>
            <a:ext cx="2133600" cy="476250"/>
          </a:xfrm>
        </p:spPr>
        <p:txBody>
          <a:bodyPr/>
          <a:lstStyle/>
          <a:p>
            <a:pPr>
              <a:defRPr/>
            </a:pPr>
            <a:fld id="{0F0973FF-A5D0-4FE6-9A6F-FE370AC968EC}" type="slidenum">
              <a:rPr lang="en-US" altLang="en-US"/>
              <a:pPr>
                <a:defRPr/>
              </a:pPr>
              <a:t>163</a:t>
            </a:fld>
            <a:endParaRPr lang="th-TH" altLang="en-US"/>
          </a:p>
        </p:txBody>
      </p:sp>
      <p:pic>
        <p:nvPicPr>
          <p:cNvPr id="534533" name="Picture 3" descr="IMG_1961"/>
          <p:cNvPicPr>
            <a:picLocks noGrp="1" noChangeAspect="1" noChangeArrowheads="1"/>
          </p:cNvPicPr>
          <p:nvPr>
            <p:ph sz="half" idx="1"/>
          </p:nvPr>
        </p:nvPicPr>
        <p:blipFill>
          <a:blip r:embed="rId3">
            <a:extLst>
              <a:ext uri="{28A0092B-C50C-407E-A947-70E740481C1C}">
                <a14:useLocalDpi xmlns:a14="http://schemas.microsoft.com/office/drawing/2010/main" val="0"/>
              </a:ext>
            </a:extLst>
          </a:blip>
          <a:srcRect/>
          <a:stretch>
            <a:fillRect/>
          </a:stretch>
        </p:blipFill>
        <p:spPr>
          <a:xfrm>
            <a:off x="457200" y="1417638"/>
            <a:ext cx="8229600" cy="5287962"/>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4" name="Picture 4" descr="IMG_1963"/>
          <p:cNvPicPr>
            <a:picLocks noGrp="1" noChangeAspect="1" noChangeArrowheads="1"/>
          </p:cNvPicPr>
          <p:nvPr>
            <p:ph sz="half" idx="2"/>
          </p:nvPr>
        </p:nvPicPr>
        <p:blipFill>
          <a:blip r:embed="rId4">
            <a:extLst>
              <a:ext uri="{28A0092B-C50C-407E-A947-70E740481C1C}">
                <a14:useLocalDpi xmlns:a14="http://schemas.microsoft.com/office/drawing/2010/main" val="0"/>
              </a:ext>
            </a:extLst>
          </a:blip>
          <a:srcRect/>
          <a:stretch>
            <a:fillRect/>
          </a:stretch>
        </p:blipFill>
        <p:spPr>
          <a:xfrm>
            <a:off x="2489200" y="1417638"/>
            <a:ext cx="4292600" cy="5287962"/>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15" name="Group 5"/>
          <p:cNvGrpSpPr>
            <a:grpSpLocks/>
          </p:cNvGrpSpPr>
          <p:nvPr/>
        </p:nvGrpSpPr>
        <p:grpSpPr bwMode="auto">
          <a:xfrm>
            <a:off x="4991100" y="3200400"/>
            <a:ext cx="2717800" cy="2243138"/>
            <a:chOff x="3144" y="2016"/>
            <a:chExt cx="1712" cy="1413"/>
          </a:xfrm>
        </p:grpSpPr>
        <p:sp>
          <p:nvSpPr>
            <p:cNvPr id="534539" name="Line 6"/>
            <p:cNvSpPr>
              <a:spLocks noChangeShapeType="1"/>
            </p:cNvSpPr>
            <p:nvPr/>
          </p:nvSpPr>
          <p:spPr bwMode="auto">
            <a:xfrm flipH="1">
              <a:off x="3144" y="2016"/>
              <a:ext cx="96" cy="1264"/>
            </a:xfrm>
            <a:prstGeom prst="line">
              <a:avLst/>
            </a:prstGeom>
            <a:noFill/>
            <a:ln w="85725">
              <a:solidFill>
                <a:srgbClr val="FFFF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 name="Text Box 7"/>
            <p:cNvSpPr txBox="1">
              <a:spLocks noChangeArrowheads="1"/>
            </p:cNvSpPr>
            <p:nvPr/>
          </p:nvSpPr>
          <p:spPr bwMode="auto">
            <a:xfrm>
              <a:off x="3440" y="2440"/>
              <a:ext cx="1416" cy="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3200" dirty="0">
                  <a:solidFill>
                    <a:srgbClr val="FFFF00"/>
                  </a:solidFill>
                  <a:effectLst>
                    <a:outerShdw blurRad="38100" dist="38100" dir="2700000" algn="tl">
                      <a:srgbClr val="000000"/>
                    </a:outerShdw>
                  </a:effectLst>
                </a:rPr>
                <a:t>Smelt flowing to Dissolving</a:t>
              </a:r>
              <a:endParaRPr lang="th-TH" altLang="en-US" sz="3200" dirty="0">
                <a:solidFill>
                  <a:srgbClr val="FFFF00"/>
                </a:solidFill>
                <a:effectLst>
                  <a:outerShdw blurRad="38100" dist="38100" dir="2700000" algn="tl">
                    <a:srgbClr val="000000"/>
                  </a:outerShdw>
                </a:effectLst>
              </a:endParaRPr>
            </a:p>
          </p:txBody>
        </p:sp>
      </p:grpSp>
      <p:grpSp>
        <p:nvGrpSpPr>
          <p:cNvPr id="18" name="Group 8"/>
          <p:cNvGrpSpPr>
            <a:grpSpLocks/>
          </p:cNvGrpSpPr>
          <p:nvPr/>
        </p:nvGrpSpPr>
        <p:grpSpPr bwMode="auto">
          <a:xfrm>
            <a:off x="2679700" y="3937000"/>
            <a:ext cx="2946400" cy="1790700"/>
            <a:chOff x="1688" y="2480"/>
            <a:chExt cx="1856" cy="1128"/>
          </a:xfrm>
        </p:grpSpPr>
        <p:sp>
          <p:nvSpPr>
            <p:cNvPr id="534537" name="AutoShape 9"/>
            <p:cNvSpPr>
              <a:spLocks noChangeArrowheads="1"/>
            </p:cNvSpPr>
            <p:nvPr/>
          </p:nvSpPr>
          <p:spPr bwMode="auto">
            <a:xfrm>
              <a:off x="2392" y="3229"/>
              <a:ext cx="224" cy="379"/>
            </a:xfrm>
            <a:prstGeom prst="downArrow">
              <a:avLst>
                <a:gd name="adj1" fmla="val 50000"/>
                <a:gd name="adj2" fmla="val 42299"/>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20" name="Text Box 10"/>
            <p:cNvSpPr txBox="1">
              <a:spLocks noChangeArrowheads="1"/>
            </p:cNvSpPr>
            <p:nvPr/>
          </p:nvSpPr>
          <p:spPr bwMode="auto">
            <a:xfrm>
              <a:off x="1688" y="2480"/>
              <a:ext cx="1856" cy="6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3200" dirty="0">
                  <a:solidFill>
                    <a:schemeClr val="bg1"/>
                  </a:solidFill>
                  <a:effectLst>
                    <a:outerShdw blurRad="38100" dist="38100" dir="2700000" algn="tl">
                      <a:srgbClr val="000000"/>
                    </a:outerShdw>
                  </a:effectLst>
                </a:rPr>
                <a:t>10 bar steam shattering</a:t>
              </a:r>
              <a:endParaRPr lang="th-TH" altLang="en-US" sz="3200" dirty="0">
                <a:solidFill>
                  <a:schemeClr val="bg1"/>
                </a:solidFill>
                <a:effectLst>
                  <a:outerShdw blurRad="38100" dist="38100" dir="2700000" algn="tl">
                    <a:srgbClr val="000000"/>
                  </a:outerShdw>
                </a:effectLs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2000"/>
                                        <p:tgtEl>
                                          <p:spTgt spid="1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blinds(horizontal)">
                                      <p:cBhvr>
                                        <p:cTn id="1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6578" name="Picture 2"/>
          <p:cNvPicPr>
            <a:picLocks noGrp="1" noChangeAspect="1" noChangeArrowheads="1"/>
          </p:cNvPicPr>
          <p:nvPr>
            <p:ph sz="half" idx="2"/>
          </p:nvPr>
        </p:nvPicPr>
        <p:blipFill>
          <a:blip r:embed="rId2">
            <a:extLst>
              <a:ext uri="{28A0092B-C50C-407E-A947-70E740481C1C}">
                <a14:useLocalDpi xmlns:a14="http://schemas.microsoft.com/office/drawing/2010/main" val="0"/>
              </a:ext>
            </a:extLst>
          </a:blip>
          <a:srcRect/>
          <a:stretch>
            <a:fillRect/>
          </a:stretch>
        </p:blipFill>
        <p:spPr>
          <a:xfrm>
            <a:off x="977900" y="1974850"/>
            <a:ext cx="6964363" cy="2965450"/>
          </a:xfrm>
          <a:noFill/>
          <a:extLst>
            <a:ext uri="{91240B29-F687-4F45-9708-019B960494DF}">
              <a14:hiddenLine xmlns:a14="http://schemas.microsoft.com/office/drawing/2010/main" w="9525" cap="flat" cmpd="sng" algn="ctr">
                <a:solidFill>
                  <a:schemeClr val="tx1"/>
                </a:solidFill>
                <a:prstDash val="lgDash"/>
                <a:miter lim="800000"/>
                <a:headEnd type="none" w="med" len="med"/>
                <a:tailEnd type="none" w="med" len="med"/>
              </a14:hiddenLine>
            </a:ext>
          </a:extLst>
        </p:spPr>
      </p:pic>
      <p:sp>
        <p:nvSpPr>
          <p:cNvPr id="536579" name="Rectangle 3"/>
          <p:cNvSpPr>
            <a:spLocks noGrp="1" noChangeArrowheads="1"/>
          </p:cNvSpPr>
          <p:nvPr>
            <p:ph type="title"/>
          </p:nvPr>
        </p:nvSpPr>
        <p:spPr/>
        <p:txBody>
          <a:bodyPr/>
          <a:lstStyle/>
          <a:p>
            <a:pPr>
              <a:lnSpc>
                <a:spcPct val="60000"/>
              </a:lnSpc>
            </a:pPr>
            <a:r>
              <a:rPr lang="en-US" altLang="en-US" b="1" smtClean="0"/>
              <a:t>Recovery Boiler</a:t>
            </a:r>
            <a:br>
              <a:rPr lang="en-US" altLang="en-US" b="1" smtClean="0"/>
            </a:br>
            <a:r>
              <a:rPr lang="th-TH" altLang="en-US" sz="3900" b="1" u="sng" smtClean="0">
                <a:solidFill>
                  <a:srgbClr val="660033"/>
                </a:solidFill>
              </a:rPr>
              <a:t>กระบวนการการเผาไหม้</a:t>
            </a:r>
            <a:r>
              <a:rPr lang="th-TH" altLang="en-US" b="1" u="sng" smtClean="0">
                <a:solidFill>
                  <a:srgbClr val="660033"/>
                </a:solidFill>
              </a:rPr>
              <a:t> </a:t>
            </a:r>
            <a:r>
              <a:rPr lang="en-US" altLang="en-US" sz="2900" b="1" u="sng" smtClean="0">
                <a:solidFill>
                  <a:srgbClr val="660033"/>
                </a:solidFill>
              </a:rPr>
              <a:t>Strong Black Liquor</a:t>
            </a:r>
            <a:r>
              <a:rPr lang="en-US" altLang="en-US" b="1" smtClean="0">
                <a:solidFill>
                  <a:srgbClr val="660033"/>
                </a:solidFill>
              </a:rPr>
              <a:t/>
            </a:r>
            <a:br>
              <a:rPr lang="en-US" altLang="en-US" b="1" smtClean="0">
                <a:solidFill>
                  <a:srgbClr val="660033"/>
                </a:solidFill>
              </a:rPr>
            </a:br>
            <a:r>
              <a:rPr lang="th-TH" altLang="en-US" sz="3900" b="1" u="sng" smtClean="0">
                <a:solidFill>
                  <a:srgbClr val="660033"/>
                </a:solidFill>
              </a:rPr>
              <a:t>ใน</a:t>
            </a:r>
            <a:r>
              <a:rPr lang="th-TH" altLang="en-US" b="1" u="sng" smtClean="0">
                <a:solidFill>
                  <a:srgbClr val="660033"/>
                </a:solidFill>
              </a:rPr>
              <a:t> </a:t>
            </a:r>
            <a:r>
              <a:rPr lang="en-US" altLang="en-US" sz="2900" b="1" u="sng" smtClean="0">
                <a:solidFill>
                  <a:srgbClr val="660033"/>
                </a:solidFill>
              </a:rPr>
              <a:t>Recovery Boiler</a:t>
            </a:r>
            <a:endParaRPr lang="th-TH" altLang="en-US" sz="2900" b="1" u="sng" smtClean="0">
              <a:solidFill>
                <a:srgbClr val="660033"/>
              </a:solidFill>
            </a:endParaRPr>
          </a:p>
        </p:txBody>
      </p:sp>
      <p:sp>
        <p:nvSpPr>
          <p:cNvPr id="536580" name="Rectangle 4"/>
          <p:cNvSpPr>
            <a:spLocks noGrp="1" noChangeArrowheads="1"/>
          </p:cNvSpPr>
          <p:nvPr>
            <p:ph type="body" sz="half" idx="1"/>
          </p:nvPr>
        </p:nvSpPr>
        <p:spPr>
          <a:xfrm>
            <a:off x="457200" y="1600200"/>
            <a:ext cx="8172450" cy="744538"/>
          </a:xfrm>
        </p:spPr>
        <p:txBody>
          <a:bodyPr/>
          <a:lstStyle/>
          <a:p>
            <a:pPr>
              <a:buFont typeface="Wingdings" panose="05000000000000000000" pitchFamily="2" charset="2"/>
              <a:buNone/>
            </a:pPr>
            <a:r>
              <a:rPr lang="en-US" altLang="en-US" sz="2600" b="1" smtClean="0">
                <a:solidFill>
                  <a:srgbClr val="336600"/>
                </a:solidFill>
              </a:rPr>
              <a:t>Conversing of Black Liquor</a:t>
            </a:r>
            <a:endParaRPr lang="th-TH" altLang="en-US" sz="2600" b="1" smtClean="0">
              <a:solidFill>
                <a:srgbClr val="336600"/>
              </a:solidFill>
            </a:endParaRPr>
          </a:p>
        </p:txBody>
      </p:sp>
      <p:sp>
        <p:nvSpPr>
          <p:cNvPr id="536581" name="Text Box 5"/>
          <p:cNvSpPr txBox="1">
            <a:spLocks noChangeArrowheads="1"/>
          </p:cNvSpPr>
          <p:nvPr/>
        </p:nvSpPr>
        <p:spPr bwMode="auto">
          <a:xfrm>
            <a:off x="749300" y="5087938"/>
            <a:ext cx="7880350" cy="1492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80000"/>
              </a:lnSpc>
              <a:spcBef>
                <a:spcPct val="50000"/>
              </a:spcBef>
              <a:buFontTx/>
              <a:buNone/>
            </a:pPr>
            <a:r>
              <a:rPr lang="th-TH" altLang="en-US" sz="3000">
                <a:solidFill>
                  <a:srgbClr val="000099"/>
                </a:solidFill>
              </a:rPr>
              <a:t>เพื่อที่จะให้ทำการเผาไหม้</a:t>
            </a:r>
            <a:r>
              <a:rPr lang="th-TH" altLang="en-US" sz="2500">
                <a:solidFill>
                  <a:srgbClr val="000099"/>
                </a:solidFill>
              </a:rPr>
              <a:t> </a:t>
            </a:r>
            <a:r>
              <a:rPr lang="en-US" altLang="en-US" sz="2500">
                <a:solidFill>
                  <a:srgbClr val="000099"/>
                </a:solidFill>
              </a:rPr>
              <a:t>Strong Black Liquor </a:t>
            </a:r>
            <a:r>
              <a:rPr lang="th-TH" altLang="en-US" sz="3000">
                <a:solidFill>
                  <a:srgbClr val="000099"/>
                </a:solidFill>
              </a:rPr>
              <a:t>ภายใน </a:t>
            </a:r>
            <a:r>
              <a:rPr lang="en-US" altLang="en-US" sz="2500">
                <a:solidFill>
                  <a:srgbClr val="000099"/>
                </a:solidFill>
              </a:rPr>
              <a:t>Recovery Boiler </a:t>
            </a:r>
            <a:r>
              <a:rPr lang="th-TH" altLang="en-US" sz="3000">
                <a:solidFill>
                  <a:srgbClr val="000099"/>
                </a:solidFill>
              </a:rPr>
              <a:t>ให้มีประสิทธิภาพ เราจะต้องทำการ</a:t>
            </a:r>
            <a:r>
              <a:rPr lang="th-TH" altLang="en-US" sz="2500">
                <a:solidFill>
                  <a:srgbClr val="000099"/>
                </a:solidFill>
              </a:rPr>
              <a:t> </a:t>
            </a:r>
            <a:r>
              <a:rPr lang="en-US" altLang="en-US" sz="2500">
                <a:solidFill>
                  <a:srgbClr val="000099"/>
                </a:solidFill>
              </a:rPr>
              <a:t>Spray Strong Black Liquor </a:t>
            </a:r>
            <a:r>
              <a:rPr lang="th-TH" altLang="en-US" sz="3000">
                <a:solidFill>
                  <a:srgbClr val="000099"/>
                </a:solidFill>
              </a:rPr>
              <a:t>ให้เป็นเม็ดๆ</a:t>
            </a:r>
            <a:r>
              <a:rPr lang="th-TH" altLang="en-US" sz="2500">
                <a:solidFill>
                  <a:srgbClr val="000099"/>
                </a:solidFill>
              </a:rPr>
              <a:t> </a:t>
            </a:r>
            <a:r>
              <a:rPr lang="en-US" altLang="en-US" sz="2500">
                <a:solidFill>
                  <a:srgbClr val="000099"/>
                </a:solidFill>
              </a:rPr>
              <a:t>(Droplet) </a:t>
            </a:r>
            <a:r>
              <a:rPr lang="th-TH" altLang="en-US" sz="3000">
                <a:solidFill>
                  <a:srgbClr val="000099"/>
                </a:solidFill>
              </a:rPr>
              <a:t>เข้าไปใน</a:t>
            </a:r>
            <a:r>
              <a:rPr lang="th-TH" altLang="en-US" sz="2500">
                <a:solidFill>
                  <a:srgbClr val="000099"/>
                </a:solidFill>
              </a:rPr>
              <a:t> </a:t>
            </a:r>
            <a:r>
              <a:rPr lang="en-US" altLang="en-US" sz="2500">
                <a:solidFill>
                  <a:srgbClr val="000099"/>
                </a:solidFill>
              </a:rPr>
              <a:t>Recovery Boiler</a:t>
            </a:r>
            <a:endParaRPr lang="th-TH" altLang="en-US" sz="2500">
              <a:solidFill>
                <a:srgbClr val="000099"/>
              </a:solidFill>
            </a:endParaRPr>
          </a:p>
        </p:txBody>
      </p:sp>
    </p:spTree>
  </p:cSld>
  <p:clrMapOvr>
    <a:masterClrMapping/>
  </p:clrMapOvr>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7602" name="Rectangle 2"/>
          <p:cNvSpPr>
            <a:spLocks noGrp="1" noChangeArrowheads="1"/>
          </p:cNvSpPr>
          <p:nvPr>
            <p:ph type="title"/>
          </p:nvPr>
        </p:nvSpPr>
        <p:spPr>
          <a:xfrm>
            <a:off x="457200" y="177800"/>
            <a:ext cx="8229600" cy="741363"/>
          </a:xfrm>
        </p:spPr>
        <p:txBody>
          <a:bodyPr/>
          <a:lstStyle/>
          <a:p>
            <a:r>
              <a:rPr lang="en-US" altLang="en-US" sz="5400" u="sng" smtClean="0">
                <a:latin typeface="Angsana New" panose="02020603050405020304" pitchFamily="18" charset="-34"/>
              </a:rPr>
              <a:t>Recovery Boiler</a:t>
            </a:r>
            <a:endParaRPr lang="th-TH" altLang="en-US" sz="5400" u="sng" smtClean="0">
              <a:latin typeface="Angsana New" panose="02020603050405020304" pitchFamily="18" charset="-34"/>
            </a:endParaRPr>
          </a:p>
        </p:txBody>
      </p:sp>
      <p:sp>
        <p:nvSpPr>
          <p:cNvPr id="1049603" name="Rectangle 3"/>
          <p:cNvSpPr>
            <a:spLocks noGrp="1" noChangeArrowheads="1"/>
          </p:cNvSpPr>
          <p:nvPr>
            <p:ph type="body" idx="1"/>
          </p:nvPr>
        </p:nvSpPr>
        <p:spPr>
          <a:xfrm>
            <a:off x="463550" y="3049588"/>
            <a:ext cx="8229600" cy="3089275"/>
          </a:xfrm>
        </p:spPr>
        <p:txBody>
          <a:bodyPr/>
          <a:lstStyle/>
          <a:p>
            <a:pPr marL="609600" indent="-609600" algn="thaiDist">
              <a:buFont typeface="Wingdings" panose="05000000000000000000" pitchFamily="2" charset="2"/>
              <a:buAutoNum type="arabicPeriod" startAt="2"/>
            </a:pPr>
            <a:r>
              <a:rPr lang="th-TH" altLang="en-US" b="1" smtClean="0">
                <a:latin typeface="Angsana New" panose="02020603050405020304" pitchFamily="18" charset="-34"/>
              </a:rPr>
              <a:t>เม็ดของ </a:t>
            </a:r>
            <a:r>
              <a:rPr lang="en-US" altLang="en-US" b="1" smtClean="0">
                <a:latin typeface="Angsana New" panose="02020603050405020304" pitchFamily="18" charset="-34"/>
              </a:rPr>
              <a:t>Black Liquor </a:t>
            </a:r>
            <a:r>
              <a:rPr lang="th-TH" altLang="en-US" b="1" smtClean="0">
                <a:latin typeface="Angsana New" panose="02020603050405020304" pitchFamily="18" charset="-34"/>
              </a:rPr>
              <a:t>จะเข้าสู้ช่วง </a:t>
            </a:r>
            <a:r>
              <a:rPr lang="en-US" altLang="en-US" b="1" smtClean="0">
                <a:latin typeface="Angsana New" panose="02020603050405020304" pitchFamily="18" charset="-34"/>
              </a:rPr>
              <a:t>Pyrolysis Stage </a:t>
            </a:r>
            <a:r>
              <a:rPr lang="th-TH" altLang="en-US" b="1" smtClean="0">
                <a:latin typeface="Angsana New" panose="02020603050405020304" pitchFamily="18" charset="-34"/>
              </a:rPr>
              <a:t>โดยสารอินทรีย์ </a:t>
            </a:r>
            <a:r>
              <a:rPr lang="en-US" altLang="en-US" b="1" smtClean="0">
                <a:latin typeface="Angsana New" panose="02020603050405020304" pitchFamily="18" charset="-34"/>
              </a:rPr>
              <a:t>(Organic Matter) </a:t>
            </a:r>
            <a:r>
              <a:rPr lang="th-TH" altLang="en-US" b="1" smtClean="0">
                <a:latin typeface="Angsana New" panose="02020603050405020304" pitchFamily="18" charset="-34"/>
              </a:rPr>
              <a:t>ใน</a:t>
            </a:r>
            <a:r>
              <a:rPr lang="en-US" altLang="en-US" b="1" smtClean="0">
                <a:latin typeface="Angsana New" panose="02020603050405020304" pitchFamily="18" charset="-34"/>
              </a:rPr>
              <a:t> Black Liquor </a:t>
            </a:r>
            <a:r>
              <a:rPr lang="th-TH" altLang="en-US" b="1" smtClean="0">
                <a:latin typeface="Angsana New" panose="02020603050405020304" pitchFamily="18" charset="-34"/>
              </a:rPr>
              <a:t>จะเริ่มสลายตัวและปลดปล่อยแก๊สออกมา โดยเวลาในช่วง </a:t>
            </a:r>
            <a:r>
              <a:rPr lang="en-US" altLang="en-US" b="1" smtClean="0">
                <a:latin typeface="Angsana New" panose="02020603050405020304" pitchFamily="18" charset="-34"/>
              </a:rPr>
              <a:t>Pyrolysis </a:t>
            </a:r>
            <a:r>
              <a:rPr lang="th-TH" altLang="en-US" b="1" smtClean="0">
                <a:latin typeface="Angsana New" panose="02020603050405020304" pitchFamily="18" charset="-34"/>
              </a:rPr>
              <a:t> จะช้าเร็วขึ้นอยู่กับปริมาณของ </a:t>
            </a:r>
            <a:r>
              <a:rPr lang="en-US" altLang="en-US" b="1" smtClean="0">
                <a:latin typeface="Angsana New" panose="02020603050405020304" pitchFamily="18" charset="-34"/>
              </a:rPr>
              <a:t>O</a:t>
            </a:r>
            <a:r>
              <a:rPr lang="en-US" altLang="en-US" b="1" baseline="-25000" smtClean="0">
                <a:latin typeface="Angsana New" panose="02020603050405020304" pitchFamily="18" charset="-34"/>
              </a:rPr>
              <a:t>2</a:t>
            </a:r>
            <a:r>
              <a:rPr lang="en-US" altLang="en-US" b="1" smtClean="0">
                <a:latin typeface="Angsana New" panose="02020603050405020304" pitchFamily="18" charset="-34"/>
              </a:rPr>
              <a:t> </a:t>
            </a:r>
            <a:r>
              <a:rPr lang="th-TH" altLang="en-US" b="1" smtClean="0">
                <a:latin typeface="Angsana New" panose="02020603050405020304" pitchFamily="18" charset="-34"/>
              </a:rPr>
              <a:t>โดยถ้า </a:t>
            </a:r>
            <a:r>
              <a:rPr lang="en-US" altLang="en-US" b="1" smtClean="0">
                <a:latin typeface="Angsana New" panose="02020603050405020304" pitchFamily="18" charset="-34"/>
              </a:rPr>
              <a:t>O</a:t>
            </a:r>
            <a:r>
              <a:rPr lang="en-US" altLang="en-US" b="1" baseline="-25000" smtClean="0">
                <a:latin typeface="Angsana New" panose="02020603050405020304" pitchFamily="18" charset="-34"/>
              </a:rPr>
              <a:t>2</a:t>
            </a:r>
            <a:r>
              <a:rPr lang="en-US" altLang="en-US" b="1" smtClean="0">
                <a:latin typeface="Angsana New" panose="02020603050405020304" pitchFamily="18" charset="-34"/>
              </a:rPr>
              <a:t> </a:t>
            </a:r>
            <a:r>
              <a:rPr lang="th-TH" altLang="en-US" b="1" smtClean="0">
                <a:latin typeface="Angsana New" panose="02020603050405020304" pitchFamily="18" charset="-34"/>
              </a:rPr>
              <a:t>ต่ำจะใช้เวลาในช่วง </a:t>
            </a:r>
            <a:r>
              <a:rPr lang="en-US" altLang="en-US" b="1" smtClean="0">
                <a:latin typeface="Angsana New" panose="02020603050405020304" pitchFamily="18" charset="-34"/>
              </a:rPr>
              <a:t>Pyrolysis </a:t>
            </a:r>
            <a:r>
              <a:rPr lang="th-TH" altLang="en-US" b="1" smtClean="0">
                <a:latin typeface="Angsana New" panose="02020603050405020304" pitchFamily="18" charset="-34"/>
              </a:rPr>
              <a:t>มาก โดยแก๊สที่ปลดปล่อยออกมาโดยทั่วไปแล้ว คือ </a:t>
            </a:r>
            <a:r>
              <a:rPr lang="en-US" altLang="en-US" b="1" smtClean="0">
                <a:latin typeface="Angsana New" panose="02020603050405020304" pitchFamily="18" charset="-34"/>
              </a:rPr>
              <a:t>H</a:t>
            </a:r>
            <a:r>
              <a:rPr lang="en-US" altLang="en-US" b="1" baseline="-25000" smtClean="0">
                <a:latin typeface="Angsana New" panose="02020603050405020304" pitchFamily="18" charset="-34"/>
              </a:rPr>
              <a:t>2</a:t>
            </a:r>
            <a:r>
              <a:rPr lang="en-US" altLang="en-US" b="1" smtClean="0">
                <a:latin typeface="Angsana New" panose="02020603050405020304" pitchFamily="18" charset="-34"/>
              </a:rPr>
              <a:t>, CO, CH</a:t>
            </a:r>
            <a:r>
              <a:rPr lang="en-US" altLang="en-US" b="1" baseline="-25000" smtClean="0">
                <a:latin typeface="Angsana New" panose="02020603050405020304" pitchFamily="18" charset="-34"/>
              </a:rPr>
              <a:t>4</a:t>
            </a:r>
            <a:r>
              <a:rPr lang="en-US" altLang="en-US" b="1" smtClean="0">
                <a:latin typeface="Angsana New" panose="02020603050405020304" pitchFamily="18" charset="-34"/>
              </a:rPr>
              <a:t>, TRS-gases, Co</a:t>
            </a:r>
            <a:r>
              <a:rPr lang="en-US" altLang="en-US" b="1" baseline="-25000" smtClean="0">
                <a:latin typeface="Angsana New" panose="02020603050405020304" pitchFamily="18" charset="-34"/>
              </a:rPr>
              <a:t>2</a:t>
            </a:r>
            <a:r>
              <a:rPr lang="en-US" altLang="en-US" b="1" smtClean="0">
                <a:latin typeface="Angsana New" panose="02020603050405020304" pitchFamily="18" charset="-34"/>
              </a:rPr>
              <a:t>, H</a:t>
            </a:r>
            <a:r>
              <a:rPr lang="en-US" altLang="en-US" b="1" baseline="-25000" smtClean="0">
                <a:latin typeface="Angsana New" panose="02020603050405020304" pitchFamily="18" charset="-34"/>
              </a:rPr>
              <a:t>2</a:t>
            </a:r>
            <a:r>
              <a:rPr lang="en-US" altLang="en-US" b="1" smtClean="0">
                <a:latin typeface="Angsana New" panose="02020603050405020304" pitchFamily="18" charset="-34"/>
              </a:rPr>
              <a:t>o</a:t>
            </a:r>
            <a:endParaRPr lang="th-TH" altLang="en-US" b="1" smtClean="0">
              <a:latin typeface="Angsana New" panose="02020603050405020304" pitchFamily="18" charset="-34"/>
            </a:endParaRPr>
          </a:p>
        </p:txBody>
      </p:sp>
      <p:sp>
        <p:nvSpPr>
          <p:cNvPr id="1049604" name="Rectangle 4"/>
          <p:cNvSpPr>
            <a:spLocks noChangeArrowheads="1"/>
          </p:cNvSpPr>
          <p:nvPr/>
        </p:nvSpPr>
        <p:spPr bwMode="auto">
          <a:xfrm>
            <a:off x="271463" y="1001713"/>
            <a:ext cx="8686800" cy="927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457200" algn="ctr" fontAlgn="base">
              <a:spcBef>
                <a:spcPct val="0"/>
              </a:spcBef>
              <a:spcAft>
                <a:spcPct val="0"/>
              </a:spcAft>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914400" algn="ctr" fontAlgn="base">
              <a:spcBef>
                <a:spcPct val="0"/>
              </a:spcBef>
              <a:spcAft>
                <a:spcPct val="0"/>
              </a:spcAft>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1371600" algn="ctr" fontAlgn="base">
              <a:spcBef>
                <a:spcPct val="0"/>
              </a:spcBef>
              <a:spcAft>
                <a:spcPct val="0"/>
              </a:spcAft>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1828800" algn="ctr" fontAlgn="base">
              <a:spcBef>
                <a:spcPct val="0"/>
              </a:spcBef>
              <a:spcAft>
                <a:spcPct val="0"/>
              </a:spcAft>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a:lnSpc>
                <a:spcPct val="90000"/>
              </a:lnSpc>
              <a:defRPr/>
            </a:pPr>
            <a:r>
              <a:rPr lang="th-TH" altLang="en-US" sz="4000" dirty="0" smtClean="0">
                <a:solidFill>
                  <a:srgbClr val="FF0000"/>
                </a:solidFill>
                <a:latin typeface="Angsana New" panose="02020603050405020304" pitchFamily="18" charset="-34"/>
              </a:rPr>
              <a:t>กระบวนการการเผาไหม้ </a:t>
            </a:r>
            <a:r>
              <a:rPr lang="en-US" altLang="en-US" sz="4000" dirty="0" smtClean="0">
                <a:solidFill>
                  <a:srgbClr val="FF0000"/>
                </a:solidFill>
                <a:latin typeface="Angsana New" panose="02020603050405020304" pitchFamily="18" charset="-34"/>
              </a:rPr>
              <a:t>Strong Black Liquor </a:t>
            </a:r>
            <a:r>
              <a:rPr lang="th-TH" altLang="en-US" sz="4000" dirty="0" smtClean="0">
                <a:solidFill>
                  <a:srgbClr val="FF0000"/>
                </a:solidFill>
                <a:latin typeface="Angsana New" panose="02020603050405020304" pitchFamily="18" charset="-34"/>
              </a:rPr>
              <a:t>ภายใน </a:t>
            </a:r>
            <a:r>
              <a:rPr lang="en-US" altLang="en-US" sz="4000" dirty="0" smtClean="0">
                <a:solidFill>
                  <a:srgbClr val="FF0000"/>
                </a:solidFill>
                <a:latin typeface="Angsana New" panose="02020603050405020304" pitchFamily="18" charset="-34"/>
              </a:rPr>
              <a:t/>
            </a:r>
            <a:br>
              <a:rPr lang="en-US" altLang="en-US" sz="4000" dirty="0" smtClean="0">
                <a:solidFill>
                  <a:srgbClr val="FF0000"/>
                </a:solidFill>
                <a:latin typeface="Angsana New" panose="02020603050405020304" pitchFamily="18" charset="-34"/>
              </a:rPr>
            </a:br>
            <a:r>
              <a:rPr lang="en-US" altLang="en-US" sz="4000" dirty="0" smtClean="0">
                <a:solidFill>
                  <a:srgbClr val="FF0000"/>
                </a:solidFill>
                <a:latin typeface="Angsana New" panose="02020603050405020304" pitchFamily="18" charset="-34"/>
              </a:rPr>
              <a:t>Recovery Boiler</a:t>
            </a:r>
            <a:endParaRPr lang="th-TH" altLang="en-US" sz="4000" dirty="0" smtClean="0">
              <a:solidFill>
                <a:srgbClr val="FF0000"/>
              </a:solidFill>
              <a:latin typeface="Angsana New" panose="02020603050405020304" pitchFamily="18" charset="-34"/>
            </a:endParaRPr>
          </a:p>
        </p:txBody>
      </p:sp>
      <p:sp>
        <p:nvSpPr>
          <p:cNvPr id="1049605" name="Rectangle 5"/>
          <p:cNvSpPr>
            <a:spLocks noChangeArrowheads="1"/>
          </p:cNvSpPr>
          <p:nvPr/>
        </p:nvSpPr>
        <p:spPr bwMode="auto">
          <a:xfrm>
            <a:off x="463550" y="1943100"/>
            <a:ext cx="8229600" cy="1063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609600" indent="-609600">
              <a:spcBef>
                <a:spcPct val="20000"/>
              </a:spcBef>
              <a:buFont typeface="Arial" panose="020B0604020202020204" pitchFamily="34" charset="0"/>
              <a:buChar char="•"/>
              <a:defRPr sz="3200">
                <a:solidFill>
                  <a:schemeClr val="tx1"/>
                </a:solidFill>
                <a:latin typeface="Calibri" panose="020F0502020204030204" pitchFamily="34" charset="0"/>
              </a:defRPr>
            </a:lvl1pPr>
            <a:lvl2pPr marL="990600" indent="-533400">
              <a:spcBef>
                <a:spcPct val="20000"/>
              </a:spcBef>
              <a:buFont typeface="Arial" panose="020B0604020202020204" pitchFamily="34" charset="0"/>
              <a:buChar char="–"/>
              <a:defRPr sz="2800">
                <a:solidFill>
                  <a:schemeClr val="tx1"/>
                </a:solidFill>
                <a:latin typeface="Calibri" panose="020F0502020204030204" pitchFamily="34" charset="0"/>
              </a:defRPr>
            </a:lvl2pPr>
            <a:lvl3pPr marL="1371600" indent="-4572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752600" indent="-3810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209800" indent="-3810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667000" indent="-381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3124200" indent="-381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581400" indent="-381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4038600" indent="-381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thaiDist">
              <a:lnSpc>
                <a:spcPct val="90000"/>
              </a:lnSpc>
              <a:buClr>
                <a:schemeClr val="hlink"/>
              </a:buClr>
              <a:buSzPct val="80000"/>
              <a:buFont typeface="Wingdings" panose="05000000000000000000" pitchFamily="2" charset="2"/>
              <a:buAutoNum type="arabicPeriod"/>
            </a:pPr>
            <a:r>
              <a:rPr lang="th-TH" altLang="en-US" sz="3600">
                <a:latin typeface="Angsana New" panose="02020603050405020304" pitchFamily="18" charset="-34"/>
                <a:cs typeface="Angsana New" panose="02020603050405020304" pitchFamily="18" charset="-34"/>
              </a:rPr>
              <a:t>เม็ดของ </a:t>
            </a:r>
            <a:r>
              <a:rPr lang="en-US" altLang="en-US" sz="3600">
                <a:latin typeface="Angsana New" panose="02020603050405020304" pitchFamily="18" charset="-34"/>
                <a:cs typeface="Angsana New" panose="02020603050405020304" pitchFamily="18" charset="-34"/>
              </a:rPr>
              <a:t>Black Liquor </a:t>
            </a:r>
            <a:r>
              <a:rPr lang="th-TH" altLang="en-US" sz="3600">
                <a:latin typeface="Angsana New" panose="02020603050405020304" pitchFamily="18" charset="-34"/>
                <a:cs typeface="Angsana New" panose="02020603050405020304" pitchFamily="18" charset="-34"/>
              </a:rPr>
              <a:t>ถูกระเหยน้ำและความชื้นออก </a:t>
            </a:r>
            <a:r>
              <a:rPr lang="en-US" altLang="en-US" sz="3600">
                <a:latin typeface="Angsana New" panose="02020603050405020304" pitchFamily="18" charset="-34"/>
                <a:cs typeface="Angsana New" panose="02020603050405020304" pitchFamily="18" charset="-34"/>
              </a:rPr>
              <a:t>(Dries) </a:t>
            </a:r>
            <a:r>
              <a:rPr lang="th-TH" altLang="en-US" sz="3600">
                <a:latin typeface="Angsana New" panose="02020603050405020304" pitchFamily="18" charset="-34"/>
                <a:cs typeface="Angsana New" panose="02020603050405020304" pitchFamily="18" charset="-34"/>
              </a:rPr>
              <a:t>ซึ่งจะระเหยน้ำและความชื้นออกได้เร็วที่อุณหภูมิสูงๆ</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1049605"/>
                                        </p:tgtEl>
                                        <p:attrNameLst>
                                          <p:attrName>style.visibility</p:attrName>
                                        </p:attrNameLst>
                                      </p:cBhvr>
                                      <p:to>
                                        <p:strVal val="visible"/>
                                      </p:to>
                                    </p:set>
                                    <p:anim calcmode="lin" valueType="num">
                                      <p:cBhvr>
                                        <p:cTn id="7" dur="500" fill="hold"/>
                                        <p:tgtEl>
                                          <p:spTgt spid="1049605"/>
                                        </p:tgtEl>
                                        <p:attrNameLst>
                                          <p:attrName>ppt_w</p:attrName>
                                        </p:attrNameLst>
                                      </p:cBhvr>
                                      <p:tavLst>
                                        <p:tav tm="0">
                                          <p:val>
                                            <p:fltVal val="0"/>
                                          </p:val>
                                        </p:tav>
                                        <p:tav tm="100000">
                                          <p:val>
                                            <p:strVal val="#ppt_w"/>
                                          </p:val>
                                        </p:tav>
                                      </p:tavLst>
                                    </p:anim>
                                    <p:anim calcmode="lin" valueType="num">
                                      <p:cBhvr>
                                        <p:cTn id="8" dur="500" fill="hold"/>
                                        <p:tgtEl>
                                          <p:spTgt spid="1049605"/>
                                        </p:tgtEl>
                                        <p:attrNameLst>
                                          <p:attrName>ppt_h</p:attrName>
                                        </p:attrNameLst>
                                      </p:cBhvr>
                                      <p:tavLst>
                                        <p:tav tm="0">
                                          <p:val>
                                            <p:strVal val="#ppt_h"/>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17" presetClass="entr" presetSubtype="10" fill="hold" grpId="0" nodeType="clickEffect">
                                  <p:stCondLst>
                                    <p:cond delay="0"/>
                                  </p:stCondLst>
                                  <p:childTnLst>
                                    <p:set>
                                      <p:cBhvr>
                                        <p:cTn id="12" dur="1" fill="hold">
                                          <p:stCondLst>
                                            <p:cond delay="0"/>
                                          </p:stCondLst>
                                        </p:cTn>
                                        <p:tgtEl>
                                          <p:spTgt spid="1049603">
                                            <p:txEl>
                                              <p:pRg st="0" end="0"/>
                                            </p:txEl>
                                          </p:spTgt>
                                        </p:tgtEl>
                                        <p:attrNameLst>
                                          <p:attrName>style.visibility</p:attrName>
                                        </p:attrNameLst>
                                      </p:cBhvr>
                                      <p:to>
                                        <p:strVal val="visible"/>
                                      </p:to>
                                    </p:set>
                                    <p:anim calcmode="lin" valueType="num">
                                      <p:cBhvr>
                                        <p:cTn id="13" dur="500" fill="hold"/>
                                        <p:tgtEl>
                                          <p:spTgt spid="1049603">
                                            <p:txEl>
                                              <p:pRg st="0" end="0"/>
                                            </p:txEl>
                                          </p:spTgt>
                                        </p:tgtEl>
                                        <p:attrNameLst>
                                          <p:attrName>ppt_w</p:attrName>
                                        </p:attrNameLst>
                                      </p:cBhvr>
                                      <p:tavLst>
                                        <p:tav tm="0">
                                          <p:val>
                                            <p:fltVal val="0"/>
                                          </p:val>
                                        </p:tav>
                                        <p:tav tm="100000">
                                          <p:val>
                                            <p:strVal val="#ppt_w"/>
                                          </p:val>
                                        </p:tav>
                                      </p:tavLst>
                                    </p:anim>
                                    <p:anim calcmode="lin" valueType="num">
                                      <p:cBhvr>
                                        <p:cTn id="14" dur="500" fill="hold"/>
                                        <p:tgtEl>
                                          <p:spTgt spid="1049603">
                                            <p:txEl>
                                              <p:pRg st="0" end="0"/>
                                            </p:txEl>
                                          </p:spTgt>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9603" grpId="0" build="p"/>
      <p:bldP spid="1049605"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8626" name="Rectangle 2"/>
          <p:cNvSpPr>
            <a:spLocks noGrp="1" noChangeArrowheads="1"/>
          </p:cNvSpPr>
          <p:nvPr>
            <p:ph type="title"/>
          </p:nvPr>
        </p:nvSpPr>
        <p:spPr>
          <a:xfrm>
            <a:off x="457200" y="77788"/>
            <a:ext cx="8229600" cy="741362"/>
          </a:xfrm>
        </p:spPr>
        <p:txBody>
          <a:bodyPr/>
          <a:lstStyle/>
          <a:p>
            <a:r>
              <a:rPr lang="en-US" altLang="en-US" sz="5400" u="sng" smtClean="0">
                <a:latin typeface="Angsana New" panose="02020603050405020304" pitchFamily="18" charset="-34"/>
              </a:rPr>
              <a:t>Recovery Boiler</a:t>
            </a:r>
            <a:endParaRPr lang="th-TH" altLang="en-US" sz="5400" u="sng" smtClean="0">
              <a:latin typeface="Angsana New" panose="02020603050405020304" pitchFamily="18" charset="-34"/>
            </a:endParaRPr>
          </a:p>
        </p:txBody>
      </p:sp>
      <p:sp>
        <p:nvSpPr>
          <p:cNvPr id="1050627" name="Rectangle 3"/>
          <p:cNvSpPr>
            <a:spLocks noChangeArrowheads="1"/>
          </p:cNvSpPr>
          <p:nvPr/>
        </p:nvSpPr>
        <p:spPr bwMode="auto">
          <a:xfrm>
            <a:off x="457200" y="1030288"/>
            <a:ext cx="8229600" cy="741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457200" algn="ctr" fontAlgn="base">
              <a:spcBef>
                <a:spcPct val="0"/>
              </a:spcBef>
              <a:spcAft>
                <a:spcPct val="0"/>
              </a:spcAft>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914400" algn="ctr" fontAlgn="base">
              <a:spcBef>
                <a:spcPct val="0"/>
              </a:spcBef>
              <a:spcAft>
                <a:spcPct val="0"/>
              </a:spcAft>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1371600" algn="ctr" fontAlgn="base">
              <a:spcBef>
                <a:spcPct val="0"/>
              </a:spcBef>
              <a:spcAft>
                <a:spcPct val="0"/>
              </a:spcAft>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1828800" algn="ctr" fontAlgn="base">
              <a:spcBef>
                <a:spcPct val="0"/>
              </a:spcBef>
              <a:spcAft>
                <a:spcPct val="0"/>
              </a:spcAft>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a:lnSpc>
                <a:spcPct val="90000"/>
              </a:lnSpc>
              <a:defRPr/>
            </a:pPr>
            <a:r>
              <a:rPr lang="th-TH" altLang="en-US" sz="4000" dirty="0" smtClean="0">
                <a:solidFill>
                  <a:srgbClr val="FF0000"/>
                </a:solidFill>
                <a:latin typeface="Angsana New" panose="02020603050405020304" pitchFamily="18" charset="-34"/>
              </a:rPr>
              <a:t>กระบวนการการเผาไหม้ </a:t>
            </a:r>
            <a:r>
              <a:rPr lang="en-US" altLang="en-US" sz="4000" dirty="0" smtClean="0">
                <a:solidFill>
                  <a:srgbClr val="FF0000"/>
                </a:solidFill>
                <a:latin typeface="Angsana New" panose="02020603050405020304" pitchFamily="18" charset="-34"/>
              </a:rPr>
              <a:t>Strong Black Liquor </a:t>
            </a:r>
            <a:r>
              <a:rPr lang="th-TH" altLang="en-US" sz="4000" dirty="0" smtClean="0">
                <a:solidFill>
                  <a:srgbClr val="FF0000"/>
                </a:solidFill>
                <a:latin typeface="Angsana New" panose="02020603050405020304" pitchFamily="18" charset="-34"/>
              </a:rPr>
              <a:t>ภายใน </a:t>
            </a:r>
            <a:r>
              <a:rPr lang="en-US" altLang="en-US" sz="4000" dirty="0" smtClean="0">
                <a:solidFill>
                  <a:srgbClr val="FF0000"/>
                </a:solidFill>
                <a:latin typeface="Angsana New" panose="02020603050405020304" pitchFamily="18" charset="-34"/>
              </a:rPr>
              <a:t>Recovery Boiler</a:t>
            </a:r>
            <a:endParaRPr lang="th-TH" altLang="en-US" sz="4000" dirty="0" smtClean="0">
              <a:solidFill>
                <a:srgbClr val="FF0000"/>
              </a:solidFill>
              <a:latin typeface="Angsana New" panose="02020603050405020304" pitchFamily="18" charset="-34"/>
            </a:endParaRPr>
          </a:p>
        </p:txBody>
      </p:sp>
      <p:sp>
        <p:nvSpPr>
          <p:cNvPr id="1050628" name="Rectangle 4"/>
          <p:cNvSpPr>
            <a:spLocks noChangeArrowheads="1"/>
          </p:cNvSpPr>
          <p:nvPr/>
        </p:nvSpPr>
        <p:spPr bwMode="auto">
          <a:xfrm>
            <a:off x="206375" y="1900238"/>
            <a:ext cx="8694738" cy="47005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609600" indent="-609600">
              <a:spcBef>
                <a:spcPct val="20000"/>
              </a:spcBef>
              <a:buFont typeface="Arial" panose="020B0604020202020204" pitchFamily="34" charset="0"/>
              <a:buChar char="•"/>
              <a:defRPr sz="3200">
                <a:solidFill>
                  <a:schemeClr val="tx1"/>
                </a:solidFill>
                <a:latin typeface="Calibri" panose="020F0502020204030204" pitchFamily="34" charset="0"/>
              </a:defRPr>
            </a:lvl1pPr>
            <a:lvl2pPr marL="990600" indent="-533400">
              <a:spcBef>
                <a:spcPct val="20000"/>
              </a:spcBef>
              <a:buFont typeface="Arial" panose="020B0604020202020204" pitchFamily="34" charset="0"/>
              <a:buChar char="–"/>
              <a:defRPr sz="2800">
                <a:solidFill>
                  <a:schemeClr val="tx1"/>
                </a:solidFill>
                <a:latin typeface="Calibri" panose="020F0502020204030204" pitchFamily="34" charset="0"/>
              </a:defRPr>
            </a:lvl2pPr>
            <a:lvl3pPr marL="1371600" indent="-4572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752600" indent="-3810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209800" indent="-3810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667000" indent="-381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3124200" indent="-381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581400" indent="-381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4038600" indent="-381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thaiDist">
              <a:lnSpc>
                <a:spcPct val="130000"/>
              </a:lnSpc>
              <a:buClr>
                <a:schemeClr val="hlink"/>
              </a:buClr>
              <a:buSzPct val="80000"/>
              <a:buFont typeface="Wingdings" panose="05000000000000000000" pitchFamily="2" charset="2"/>
              <a:buAutoNum type="arabicPeriod" startAt="3"/>
            </a:pPr>
            <a:r>
              <a:rPr lang="th-TH" altLang="en-US" sz="3600">
                <a:latin typeface="Angsana New" panose="02020603050405020304" pitchFamily="18" charset="-34"/>
                <a:cs typeface="Angsana New" panose="02020603050405020304" pitchFamily="18" charset="-34"/>
              </a:rPr>
              <a:t>ผลจากกระบวนการ </a:t>
            </a:r>
            <a:r>
              <a:rPr lang="en-US" altLang="en-US" sz="3600">
                <a:latin typeface="Angsana New" panose="02020603050405020304" pitchFamily="18" charset="-34"/>
                <a:cs typeface="Angsana New" panose="02020603050405020304" pitchFamily="18" charset="-34"/>
              </a:rPr>
              <a:t>Pyrolysis </a:t>
            </a:r>
            <a:r>
              <a:rPr lang="th-TH" altLang="en-US" sz="3600">
                <a:latin typeface="Angsana New" panose="02020603050405020304" pitchFamily="18" charset="-34"/>
                <a:cs typeface="Angsana New" panose="02020603050405020304" pitchFamily="18" charset="-34"/>
              </a:rPr>
              <a:t>จะกลายเป็นสารอินทรีย์ที่ไม่ระเหย 25% และกลายเป็นเกลืออนินทรีย์ </a:t>
            </a:r>
            <a:r>
              <a:rPr lang="en-US" altLang="en-US" sz="3600">
                <a:latin typeface="Angsana New" panose="02020603050405020304" pitchFamily="18" charset="-34"/>
                <a:cs typeface="Angsana New" panose="02020603050405020304" pitchFamily="18" charset="-34"/>
              </a:rPr>
              <a:t>(Inorganic Salts) </a:t>
            </a:r>
            <a:r>
              <a:rPr lang="th-TH" altLang="en-US" sz="3600">
                <a:latin typeface="Angsana New" panose="02020603050405020304" pitchFamily="18" charset="-34"/>
                <a:cs typeface="Angsana New" panose="02020603050405020304" pitchFamily="18" charset="-34"/>
              </a:rPr>
              <a:t>75% ซึ่งประกอบไปด้วย </a:t>
            </a:r>
            <a:r>
              <a:rPr lang="en-US" altLang="en-US" sz="3600">
                <a:latin typeface="Angsana New" panose="02020603050405020304" pitchFamily="18" charset="-34"/>
                <a:cs typeface="Angsana New" panose="02020603050405020304" pitchFamily="18" charset="-34"/>
              </a:rPr>
              <a:t>Na</a:t>
            </a:r>
            <a:r>
              <a:rPr lang="en-US" altLang="en-US" sz="3600" baseline="-25000">
                <a:latin typeface="Angsana New" panose="02020603050405020304" pitchFamily="18" charset="-34"/>
                <a:cs typeface="Angsana New" panose="02020603050405020304" pitchFamily="18" charset="-34"/>
              </a:rPr>
              <a:t>2</a:t>
            </a:r>
            <a:r>
              <a:rPr lang="en-US" altLang="en-US" sz="3600">
                <a:latin typeface="Angsana New" panose="02020603050405020304" pitchFamily="18" charset="-34"/>
                <a:cs typeface="Angsana New" panose="02020603050405020304" pitchFamily="18" charset="-34"/>
              </a:rPr>
              <a:t>CO</a:t>
            </a:r>
            <a:r>
              <a:rPr lang="en-US" altLang="en-US" sz="3600" baseline="-25000">
                <a:latin typeface="Angsana New" panose="02020603050405020304" pitchFamily="18" charset="-34"/>
                <a:cs typeface="Angsana New" panose="02020603050405020304" pitchFamily="18" charset="-34"/>
              </a:rPr>
              <a:t>3</a:t>
            </a:r>
            <a:r>
              <a:rPr lang="en-US" altLang="en-US" sz="3600">
                <a:latin typeface="Angsana New" panose="02020603050405020304" pitchFamily="18" charset="-34"/>
                <a:cs typeface="Angsana New" panose="02020603050405020304" pitchFamily="18" charset="-34"/>
              </a:rPr>
              <a:t>, Na</a:t>
            </a:r>
            <a:r>
              <a:rPr lang="en-US" altLang="en-US" sz="3600" baseline="-25000">
                <a:latin typeface="Angsana New" panose="02020603050405020304" pitchFamily="18" charset="-34"/>
                <a:cs typeface="Angsana New" panose="02020603050405020304" pitchFamily="18" charset="-34"/>
              </a:rPr>
              <a:t>2</a:t>
            </a:r>
            <a:r>
              <a:rPr lang="en-US" altLang="en-US" sz="3600">
                <a:latin typeface="Angsana New" panose="02020603050405020304" pitchFamily="18" charset="-34"/>
                <a:cs typeface="Angsana New" panose="02020603050405020304" pitchFamily="18" charset="-34"/>
              </a:rPr>
              <a:t>SO</a:t>
            </a:r>
            <a:r>
              <a:rPr lang="en-US" altLang="en-US" sz="3600" baseline="-25000">
                <a:latin typeface="Angsana New" panose="02020603050405020304" pitchFamily="18" charset="-34"/>
                <a:cs typeface="Angsana New" panose="02020603050405020304" pitchFamily="18" charset="-34"/>
              </a:rPr>
              <a:t>4</a:t>
            </a:r>
            <a:r>
              <a:rPr lang="en-US" altLang="en-US" sz="3600">
                <a:latin typeface="Angsana New" panose="02020603050405020304" pitchFamily="18" charset="-34"/>
                <a:cs typeface="Angsana New" panose="02020603050405020304" pitchFamily="18" charset="-34"/>
              </a:rPr>
              <a:t> </a:t>
            </a:r>
            <a:r>
              <a:rPr lang="th-TH" altLang="en-US" sz="3600">
                <a:latin typeface="Angsana New" panose="02020603050405020304" pitchFamily="18" charset="-34"/>
                <a:cs typeface="Angsana New" panose="02020603050405020304" pitchFamily="18" charset="-34"/>
              </a:rPr>
              <a:t>และเกลือโปรแตสเซียม      โดยสารอินทรีย์ที่ไม่ระเหยนี้จะอยู่ในรูปของแข็ง และเกลืออนินทรีย์จะอยู่ในรูปของเหลว โดยในช่วงนี้ขนาดของเม็ด </a:t>
            </a:r>
            <a:r>
              <a:rPr lang="en-US" altLang="en-US" sz="3600">
                <a:latin typeface="Angsana New" panose="02020603050405020304" pitchFamily="18" charset="-34"/>
                <a:cs typeface="Angsana New" panose="02020603050405020304" pitchFamily="18" charset="-34"/>
              </a:rPr>
              <a:t>Black Liquor </a:t>
            </a:r>
            <a:r>
              <a:rPr lang="th-TH" altLang="en-US" sz="3600">
                <a:latin typeface="Angsana New" panose="02020603050405020304" pitchFamily="18" charset="-34"/>
                <a:cs typeface="Angsana New" panose="02020603050405020304" pitchFamily="18" charset="-34"/>
              </a:rPr>
              <a:t>        จะขยายใหญ่ขึ้นประมาณ 30 เท่าจากเดิม</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grpId="0" nodeType="clickEffect">
                                  <p:stCondLst>
                                    <p:cond delay="0"/>
                                  </p:stCondLst>
                                  <p:childTnLst>
                                    <p:set>
                                      <p:cBhvr>
                                        <p:cTn id="6" dur="1" fill="hold">
                                          <p:stCondLst>
                                            <p:cond delay="0"/>
                                          </p:stCondLst>
                                        </p:cTn>
                                        <p:tgtEl>
                                          <p:spTgt spid="1050628"/>
                                        </p:tgtEl>
                                        <p:attrNameLst>
                                          <p:attrName>style.visibility</p:attrName>
                                        </p:attrNameLst>
                                      </p:cBhvr>
                                      <p:to>
                                        <p:strVal val="visible"/>
                                      </p:to>
                                    </p:set>
                                    <p:anim calcmode="lin" valueType="num">
                                      <p:cBhvr>
                                        <p:cTn id="7" dur="500" fill="hold"/>
                                        <p:tgtEl>
                                          <p:spTgt spid="1050628"/>
                                        </p:tgtEl>
                                        <p:attrNameLst>
                                          <p:attrName>ppt_w</p:attrName>
                                        </p:attrNameLst>
                                      </p:cBhvr>
                                      <p:tavLst>
                                        <p:tav tm="0">
                                          <p:val>
                                            <p:fltVal val="0"/>
                                          </p:val>
                                        </p:tav>
                                        <p:tav tm="100000">
                                          <p:val>
                                            <p:strVal val="#ppt_w"/>
                                          </p:val>
                                        </p:tav>
                                      </p:tavLst>
                                    </p:anim>
                                    <p:anim calcmode="lin" valueType="num">
                                      <p:cBhvr>
                                        <p:cTn id="8" dur="500" fill="hold"/>
                                        <p:tgtEl>
                                          <p:spTgt spid="1050628"/>
                                        </p:tgtEl>
                                        <p:attrNameLst>
                                          <p:attrName>ppt_h</p:attrName>
                                        </p:attrNameLst>
                                      </p:cBhvr>
                                      <p:tavLst>
                                        <p:tav tm="0">
                                          <p:val>
                                            <p:fltVal val="0"/>
                                          </p:val>
                                        </p:tav>
                                        <p:tav tm="100000">
                                          <p:val>
                                            <p:strVal val="#ppt_h"/>
                                          </p:val>
                                        </p:tav>
                                      </p:tavLst>
                                    </p:anim>
                                    <p:animEffect transition="in" filter="fade">
                                      <p:cBhvr>
                                        <p:cTn id="9" dur="500"/>
                                        <p:tgtEl>
                                          <p:spTgt spid="10506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0628" grpId="0"/>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9650" name="Rectangle 2"/>
          <p:cNvSpPr>
            <a:spLocks noGrp="1" noChangeArrowheads="1"/>
          </p:cNvSpPr>
          <p:nvPr>
            <p:ph type="title"/>
          </p:nvPr>
        </p:nvSpPr>
        <p:spPr>
          <a:xfrm>
            <a:off x="457200" y="149225"/>
            <a:ext cx="8229600" cy="741363"/>
          </a:xfrm>
        </p:spPr>
        <p:txBody>
          <a:bodyPr/>
          <a:lstStyle/>
          <a:p>
            <a:r>
              <a:rPr lang="en-US" altLang="en-US" sz="5400" u="sng" smtClean="0">
                <a:latin typeface="Angsana New" panose="02020603050405020304" pitchFamily="18" charset="-34"/>
              </a:rPr>
              <a:t>Recovery Boiler</a:t>
            </a:r>
            <a:endParaRPr lang="th-TH" altLang="en-US" sz="5400" u="sng" smtClean="0">
              <a:latin typeface="Angsana New" panose="02020603050405020304" pitchFamily="18" charset="-34"/>
            </a:endParaRPr>
          </a:p>
        </p:txBody>
      </p:sp>
      <p:sp>
        <p:nvSpPr>
          <p:cNvPr id="1051651" name="Rectangle 3"/>
          <p:cNvSpPr>
            <a:spLocks noChangeArrowheads="1"/>
          </p:cNvSpPr>
          <p:nvPr/>
        </p:nvSpPr>
        <p:spPr bwMode="auto">
          <a:xfrm>
            <a:off x="457200" y="1004888"/>
            <a:ext cx="8229600" cy="895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algn="ctr">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457200" algn="ctr" fontAlgn="base">
              <a:spcBef>
                <a:spcPct val="0"/>
              </a:spcBef>
              <a:spcAft>
                <a:spcPct val="0"/>
              </a:spcAft>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914400" algn="ctr" fontAlgn="base">
              <a:spcBef>
                <a:spcPct val="0"/>
              </a:spcBef>
              <a:spcAft>
                <a:spcPct val="0"/>
              </a:spcAft>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1371600" algn="ctr" fontAlgn="base">
              <a:spcBef>
                <a:spcPct val="0"/>
              </a:spcBef>
              <a:spcAft>
                <a:spcPct val="0"/>
              </a:spcAft>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1828800" algn="ctr" fontAlgn="base">
              <a:spcBef>
                <a:spcPct val="0"/>
              </a:spcBef>
              <a:spcAft>
                <a:spcPct val="0"/>
              </a:spcAft>
              <a:defRPr sz="4400">
                <a:solidFill>
                  <a:schemeClr val="tx2"/>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a:lnSpc>
                <a:spcPct val="90000"/>
              </a:lnSpc>
              <a:defRPr/>
            </a:pPr>
            <a:r>
              <a:rPr lang="th-TH" altLang="en-US" sz="4000" dirty="0" smtClean="0">
                <a:solidFill>
                  <a:srgbClr val="FF0000"/>
                </a:solidFill>
                <a:latin typeface="Angsana New" panose="02020603050405020304" pitchFamily="18" charset="-34"/>
              </a:rPr>
              <a:t>กระบวนการการเผาไหม้ </a:t>
            </a:r>
            <a:r>
              <a:rPr lang="en-US" altLang="en-US" sz="4000" dirty="0" smtClean="0">
                <a:solidFill>
                  <a:srgbClr val="FF0000"/>
                </a:solidFill>
                <a:latin typeface="Angsana New" panose="02020603050405020304" pitchFamily="18" charset="-34"/>
              </a:rPr>
              <a:t>Strong Black Liquor </a:t>
            </a:r>
            <a:r>
              <a:rPr lang="th-TH" altLang="en-US" sz="4000" dirty="0" smtClean="0">
                <a:solidFill>
                  <a:srgbClr val="FF0000"/>
                </a:solidFill>
                <a:latin typeface="Angsana New" panose="02020603050405020304" pitchFamily="18" charset="-34"/>
              </a:rPr>
              <a:t>ภายใน </a:t>
            </a:r>
            <a:r>
              <a:rPr lang="en-US" altLang="en-US" sz="4000" dirty="0" smtClean="0">
                <a:solidFill>
                  <a:srgbClr val="FF0000"/>
                </a:solidFill>
                <a:latin typeface="Angsana New" panose="02020603050405020304" pitchFamily="18" charset="-34"/>
              </a:rPr>
              <a:t>Recovery Boiler</a:t>
            </a:r>
            <a:endParaRPr lang="th-TH" altLang="en-US" sz="4000" dirty="0" smtClean="0">
              <a:solidFill>
                <a:srgbClr val="FF0000"/>
              </a:solidFill>
              <a:latin typeface="Angsana New" panose="02020603050405020304" pitchFamily="18" charset="-34"/>
            </a:endParaRPr>
          </a:p>
        </p:txBody>
      </p:sp>
      <p:sp>
        <p:nvSpPr>
          <p:cNvPr id="1051652" name="Rectangle 4"/>
          <p:cNvSpPr>
            <a:spLocks noChangeArrowheads="1"/>
          </p:cNvSpPr>
          <p:nvPr/>
        </p:nvSpPr>
        <p:spPr bwMode="auto">
          <a:xfrm>
            <a:off x="463550" y="2100263"/>
            <a:ext cx="8229600" cy="4057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609600" indent="-609600">
              <a:spcBef>
                <a:spcPct val="20000"/>
              </a:spcBef>
              <a:buFont typeface="Arial" panose="020B0604020202020204" pitchFamily="34" charset="0"/>
              <a:buChar char="•"/>
              <a:defRPr sz="3200">
                <a:solidFill>
                  <a:schemeClr val="tx1"/>
                </a:solidFill>
                <a:latin typeface="Calibri" panose="020F0502020204030204" pitchFamily="34" charset="0"/>
              </a:defRPr>
            </a:lvl1pPr>
            <a:lvl2pPr marL="990600" indent="-533400">
              <a:spcBef>
                <a:spcPct val="20000"/>
              </a:spcBef>
              <a:buFont typeface="Arial" panose="020B0604020202020204" pitchFamily="34" charset="0"/>
              <a:buChar char="–"/>
              <a:defRPr sz="2800">
                <a:solidFill>
                  <a:schemeClr val="tx1"/>
                </a:solidFill>
                <a:latin typeface="Calibri" panose="020F0502020204030204" pitchFamily="34" charset="0"/>
              </a:defRPr>
            </a:lvl2pPr>
            <a:lvl3pPr marL="1371600" indent="-4572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752600" indent="-3810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209800" indent="-3810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667000" indent="-381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3124200" indent="-381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581400" indent="-381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4038600" indent="-3810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thaiDist">
              <a:buClr>
                <a:schemeClr val="hlink"/>
              </a:buClr>
              <a:buSzPct val="80000"/>
              <a:buFont typeface="Wingdings" panose="05000000000000000000" pitchFamily="2" charset="2"/>
              <a:buAutoNum type="arabicPeriod" startAt="4"/>
            </a:pPr>
            <a:r>
              <a:rPr lang="en-US" altLang="en-US" sz="3300">
                <a:latin typeface="Angsana New" panose="02020603050405020304" pitchFamily="18" charset="-34"/>
                <a:cs typeface="Angsana New" panose="02020603050405020304" pitchFamily="18" charset="-34"/>
              </a:rPr>
              <a:t>Char Conversion Stage : </a:t>
            </a:r>
            <a:r>
              <a:rPr lang="th-TH" altLang="en-US" sz="3300">
                <a:latin typeface="Angsana New" panose="02020603050405020304" pitchFamily="18" charset="-34"/>
                <a:cs typeface="Angsana New" panose="02020603050405020304" pitchFamily="18" charset="-34"/>
              </a:rPr>
              <a:t>กระบวนการนี้จะเป็นกระบวนการสุดท้ายของการเผาไหม้ </a:t>
            </a:r>
            <a:r>
              <a:rPr lang="en-US" altLang="en-US" sz="3300">
                <a:latin typeface="Angsana New" panose="02020603050405020304" pitchFamily="18" charset="-34"/>
                <a:cs typeface="Angsana New" panose="02020603050405020304" pitchFamily="18" charset="-34"/>
              </a:rPr>
              <a:t>Black Liquor </a:t>
            </a:r>
            <a:r>
              <a:rPr lang="th-TH" altLang="en-US" sz="3300">
                <a:latin typeface="Angsana New" panose="02020603050405020304" pitchFamily="18" charset="-34"/>
                <a:cs typeface="Angsana New" panose="02020603050405020304" pitchFamily="18" charset="-34"/>
              </a:rPr>
              <a:t>โดยแก๊สต่างๆ จะทำปฏิกิริยากับสารอนินทรีย์ใน </a:t>
            </a:r>
            <a:r>
              <a:rPr lang="en-US" altLang="en-US" sz="3300">
                <a:latin typeface="Angsana New" panose="02020603050405020304" pitchFamily="18" charset="-34"/>
                <a:cs typeface="Angsana New" panose="02020603050405020304" pitchFamily="18" charset="-34"/>
              </a:rPr>
              <a:t>Char Particle </a:t>
            </a:r>
            <a:r>
              <a:rPr lang="th-TH" altLang="en-US" sz="3300">
                <a:latin typeface="Angsana New" panose="02020603050405020304" pitchFamily="18" charset="-34"/>
                <a:cs typeface="Angsana New" panose="02020603050405020304" pitchFamily="18" charset="-34"/>
              </a:rPr>
              <a:t>และจะเปลี่ยนแปลงกลายเป็นแก๊สในที่สุด ตอนท้ายสุดของกระบวนการนี้ตัวเม็ดของ </a:t>
            </a:r>
            <a:r>
              <a:rPr lang="en-US" altLang="en-US" sz="3300">
                <a:latin typeface="Angsana New" panose="02020603050405020304" pitchFamily="18" charset="-34"/>
                <a:cs typeface="Angsana New" panose="02020603050405020304" pitchFamily="18" charset="-34"/>
              </a:rPr>
              <a:t>Black Liquor </a:t>
            </a:r>
            <a:r>
              <a:rPr lang="th-TH" altLang="en-US" sz="3300">
                <a:latin typeface="Angsana New" panose="02020603050405020304" pitchFamily="18" charset="-34"/>
                <a:cs typeface="Angsana New" panose="02020603050405020304" pitchFamily="18" charset="-34"/>
              </a:rPr>
              <a:t>จะกลายเป็นขี้เถ้าและแตกตัวกลายเป็น </a:t>
            </a:r>
            <a:r>
              <a:rPr lang="en-US" altLang="en-US" sz="3300">
                <a:latin typeface="Angsana New" panose="02020603050405020304" pitchFamily="18" charset="-34"/>
                <a:cs typeface="Angsana New" panose="02020603050405020304" pitchFamily="18" charset="-34"/>
              </a:rPr>
              <a:t>Smelt </a:t>
            </a:r>
            <a:r>
              <a:rPr lang="th-TH" altLang="en-US" sz="3300">
                <a:latin typeface="Angsana New" panose="02020603050405020304" pitchFamily="18" charset="-34"/>
                <a:cs typeface="Angsana New" panose="02020603050405020304" pitchFamily="18" charset="-34"/>
              </a:rPr>
              <a:t>โดยประกอบไปด้วยสารอนินทรีย์อย่างเดียว ตัวเม็ด </a:t>
            </a:r>
            <a:r>
              <a:rPr lang="en-US" altLang="en-US" sz="3300">
                <a:latin typeface="Angsana New" panose="02020603050405020304" pitchFamily="18" charset="-34"/>
                <a:cs typeface="Angsana New" panose="02020603050405020304" pitchFamily="18" charset="-34"/>
              </a:rPr>
              <a:t>Black Liquor </a:t>
            </a:r>
            <a:r>
              <a:rPr lang="th-TH" altLang="en-US" sz="3300">
                <a:latin typeface="Angsana New" panose="02020603050405020304" pitchFamily="18" charset="-34"/>
                <a:cs typeface="Angsana New" panose="02020603050405020304" pitchFamily="18" charset="-34"/>
              </a:rPr>
              <a:t>จะลดลงเหลือประมาณครึ่งหนึ่งของเม็ด </a:t>
            </a:r>
            <a:r>
              <a:rPr lang="en-US" altLang="en-US" sz="3300">
                <a:latin typeface="Angsana New" panose="02020603050405020304" pitchFamily="18" charset="-34"/>
                <a:cs typeface="Angsana New" panose="02020603050405020304" pitchFamily="18" charset="-34"/>
              </a:rPr>
              <a:t>Black Liquor </a:t>
            </a:r>
            <a:r>
              <a:rPr lang="th-TH" altLang="en-US" sz="3300">
                <a:latin typeface="Angsana New" panose="02020603050405020304" pitchFamily="18" charset="-34"/>
                <a:cs typeface="Angsana New" panose="02020603050405020304" pitchFamily="18" charset="-34"/>
              </a:rPr>
              <a:t>ที่ </a:t>
            </a:r>
            <a:r>
              <a:rPr lang="en-US" altLang="en-US" sz="3300">
                <a:latin typeface="Angsana New" panose="02020603050405020304" pitchFamily="18" charset="-34"/>
                <a:cs typeface="Angsana New" panose="02020603050405020304" pitchFamily="18" charset="-34"/>
              </a:rPr>
              <a:t>Spray </a:t>
            </a:r>
            <a:r>
              <a:rPr lang="th-TH" altLang="en-US" sz="3300">
                <a:latin typeface="Angsana New" panose="02020603050405020304" pitchFamily="18" charset="-34"/>
                <a:cs typeface="Angsana New" panose="02020603050405020304" pitchFamily="18" charset="-34"/>
              </a:rPr>
              <a:t>เข้าไปในเตา ซึ่งประกอบไปด้วย </a:t>
            </a:r>
            <a:r>
              <a:rPr lang="en-US" altLang="en-US" sz="3300">
                <a:latin typeface="Angsana New" panose="02020603050405020304" pitchFamily="18" charset="-34"/>
                <a:cs typeface="Angsana New" panose="02020603050405020304" pitchFamily="18" charset="-34"/>
              </a:rPr>
              <a:t>Na</a:t>
            </a:r>
            <a:r>
              <a:rPr lang="en-US" altLang="en-US" sz="3300" baseline="-25000">
                <a:latin typeface="Angsana New" panose="02020603050405020304" pitchFamily="18" charset="-34"/>
                <a:cs typeface="Angsana New" panose="02020603050405020304" pitchFamily="18" charset="-34"/>
              </a:rPr>
              <a:t>2</a:t>
            </a:r>
            <a:r>
              <a:rPr lang="en-US" altLang="en-US" sz="3300">
                <a:latin typeface="Angsana New" panose="02020603050405020304" pitchFamily="18" charset="-34"/>
                <a:cs typeface="Angsana New" panose="02020603050405020304" pitchFamily="18" charset="-34"/>
              </a:rPr>
              <a:t>S </a:t>
            </a:r>
            <a:r>
              <a:rPr lang="th-TH" altLang="en-US" sz="3300">
                <a:latin typeface="Angsana New" panose="02020603050405020304" pitchFamily="18" charset="-34"/>
                <a:cs typeface="Angsana New" panose="02020603050405020304" pitchFamily="18" charset="-34"/>
              </a:rPr>
              <a:t>และ </a:t>
            </a:r>
            <a:r>
              <a:rPr lang="en-US" altLang="en-US" sz="3300">
                <a:latin typeface="Angsana New" panose="02020603050405020304" pitchFamily="18" charset="-34"/>
                <a:cs typeface="Angsana New" panose="02020603050405020304" pitchFamily="18" charset="-34"/>
              </a:rPr>
              <a:t>Na</a:t>
            </a:r>
            <a:r>
              <a:rPr lang="en-US" altLang="en-US" sz="3300" baseline="-25000">
                <a:latin typeface="Angsana New" panose="02020603050405020304" pitchFamily="18" charset="-34"/>
                <a:cs typeface="Angsana New" panose="02020603050405020304" pitchFamily="18" charset="-34"/>
              </a:rPr>
              <a:t>2</a:t>
            </a:r>
            <a:r>
              <a:rPr lang="en-US" altLang="en-US" sz="3300">
                <a:latin typeface="Angsana New" panose="02020603050405020304" pitchFamily="18" charset="-34"/>
                <a:cs typeface="Angsana New" panose="02020603050405020304" pitchFamily="18" charset="-34"/>
              </a:rPr>
              <a:t>CO</a:t>
            </a:r>
            <a:r>
              <a:rPr lang="en-US" altLang="en-US" sz="3300" baseline="-25000">
                <a:latin typeface="Angsana New" panose="02020603050405020304" pitchFamily="18" charset="-34"/>
                <a:cs typeface="Angsana New" panose="02020603050405020304" pitchFamily="18" charset="-34"/>
              </a:rPr>
              <a:t>3</a:t>
            </a:r>
            <a:endParaRPr lang="th-TH" altLang="en-US" sz="3300" baseline="-25000">
              <a:latin typeface="Angsana New" panose="02020603050405020304" pitchFamily="18" charset="-34"/>
              <a:cs typeface="Angsana New" panose="02020603050405020304" pitchFamily="18" charset="-34"/>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grpId="0" nodeType="clickEffect">
                                  <p:stCondLst>
                                    <p:cond delay="0"/>
                                  </p:stCondLst>
                                  <p:childTnLst>
                                    <p:set>
                                      <p:cBhvr>
                                        <p:cTn id="6" dur="1" fill="hold">
                                          <p:stCondLst>
                                            <p:cond delay="0"/>
                                          </p:stCondLst>
                                        </p:cTn>
                                        <p:tgtEl>
                                          <p:spTgt spid="1051652"/>
                                        </p:tgtEl>
                                        <p:attrNameLst>
                                          <p:attrName>style.visibility</p:attrName>
                                        </p:attrNameLst>
                                      </p:cBhvr>
                                      <p:to>
                                        <p:strVal val="visible"/>
                                      </p:to>
                                    </p:set>
                                    <p:anim calcmode="lin" valueType="num">
                                      <p:cBhvr>
                                        <p:cTn id="7" dur="500" fill="hold"/>
                                        <p:tgtEl>
                                          <p:spTgt spid="1051652"/>
                                        </p:tgtEl>
                                        <p:attrNameLst>
                                          <p:attrName>ppt_w</p:attrName>
                                        </p:attrNameLst>
                                      </p:cBhvr>
                                      <p:tavLst>
                                        <p:tav tm="0">
                                          <p:val>
                                            <p:fltVal val="0"/>
                                          </p:val>
                                        </p:tav>
                                        <p:tav tm="100000">
                                          <p:val>
                                            <p:strVal val="#ppt_w"/>
                                          </p:val>
                                        </p:tav>
                                      </p:tavLst>
                                    </p:anim>
                                    <p:anim calcmode="lin" valueType="num">
                                      <p:cBhvr>
                                        <p:cTn id="8" dur="500" fill="hold"/>
                                        <p:tgtEl>
                                          <p:spTgt spid="1051652"/>
                                        </p:tgtEl>
                                        <p:attrNameLst>
                                          <p:attrName>ppt_h</p:attrName>
                                        </p:attrNameLst>
                                      </p:cBhvr>
                                      <p:tavLst>
                                        <p:tav tm="0">
                                          <p:val>
                                            <p:fltVal val="0"/>
                                          </p:val>
                                        </p:tav>
                                        <p:tav tm="100000">
                                          <p:val>
                                            <p:strVal val="#ppt_h"/>
                                          </p:val>
                                        </p:tav>
                                      </p:tavLst>
                                    </p:anim>
                                    <p:animEffect transition="in" filter="fade">
                                      <p:cBhvr>
                                        <p:cTn id="9" dur="500"/>
                                        <p:tgtEl>
                                          <p:spTgt spid="10516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1652"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674" name="Rectangle 2"/>
          <p:cNvSpPr>
            <a:spLocks noGrp="1" noChangeArrowheads="1"/>
          </p:cNvSpPr>
          <p:nvPr>
            <p:ph type="title"/>
          </p:nvPr>
        </p:nvSpPr>
        <p:spPr>
          <a:xfrm>
            <a:off x="457200" y="-115888"/>
            <a:ext cx="8229600" cy="1139826"/>
          </a:xfrm>
        </p:spPr>
        <p:txBody>
          <a:bodyPr/>
          <a:lstStyle/>
          <a:p>
            <a:r>
              <a:rPr lang="en-US" altLang="en-US" sz="6600" smtClean="0">
                <a:latin typeface="Angsana New" panose="02020603050405020304" pitchFamily="18" charset="-34"/>
              </a:rPr>
              <a:t>Fuel Process</a:t>
            </a:r>
            <a:endParaRPr lang="th-TH" altLang="en-US" sz="6600" smtClean="0">
              <a:latin typeface="Angsana New" panose="02020603050405020304" pitchFamily="18" charset="-34"/>
            </a:endParaRPr>
          </a:p>
        </p:txBody>
      </p:sp>
      <p:sp>
        <p:nvSpPr>
          <p:cNvPr id="1064963" name="Text Box 3"/>
          <p:cNvSpPr txBox="1">
            <a:spLocks noChangeArrowheads="1"/>
          </p:cNvSpPr>
          <p:nvPr/>
        </p:nvSpPr>
        <p:spPr bwMode="auto">
          <a:xfrm>
            <a:off x="225425" y="758825"/>
            <a:ext cx="75295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th-TH" altLang="en-US" sz="4000" dirty="0">
                <a:solidFill>
                  <a:srgbClr val="FF0000"/>
                </a:solidFill>
                <a:effectLst>
                  <a:outerShdw blurRad="38100" dist="38100" dir="2700000" algn="tl">
                    <a:srgbClr val="000000"/>
                  </a:outerShdw>
                </a:effectLst>
                <a:latin typeface="Angsana New" panose="02020603050405020304" pitchFamily="18" charset="-34"/>
              </a:rPr>
              <a:t>กระบวนการในการเผาไหม้ </a:t>
            </a:r>
            <a:r>
              <a:rPr lang="en-US" altLang="en-US" sz="4000" dirty="0">
                <a:solidFill>
                  <a:srgbClr val="FF0000"/>
                </a:solidFill>
                <a:effectLst>
                  <a:outerShdw blurRad="38100" dist="38100" dir="2700000" algn="tl">
                    <a:srgbClr val="000000"/>
                  </a:outerShdw>
                </a:effectLst>
                <a:latin typeface="Angsana New" panose="02020603050405020304" pitchFamily="18" charset="-34"/>
              </a:rPr>
              <a:t>Black Liquor</a:t>
            </a:r>
            <a:endParaRPr lang="th-TH" altLang="en-US" sz="4000" dirty="0">
              <a:solidFill>
                <a:srgbClr val="FF0000"/>
              </a:solidFill>
              <a:effectLst>
                <a:outerShdw blurRad="38100" dist="38100" dir="2700000" algn="tl">
                  <a:srgbClr val="000000"/>
                </a:outerShdw>
              </a:effectLst>
              <a:latin typeface="Angsana New" panose="02020603050405020304" pitchFamily="18" charset="-34"/>
            </a:endParaRPr>
          </a:p>
        </p:txBody>
      </p:sp>
      <p:graphicFrame>
        <p:nvGraphicFramePr>
          <p:cNvPr id="1064964" name="Group 4"/>
          <p:cNvGraphicFramePr>
            <a:graphicFrameLocks noGrp="1"/>
          </p:cNvGraphicFramePr>
          <p:nvPr>
            <p:ph idx="1"/>
          </p:nvPr>
        </p:nvGraphicFramePr>
        <p:xfrm>
          <a:off x="225425" y="1327150"/>
          <a:ext cx="8688388" cy="5053013"/>
        </p:xfrm>
        <a:graphic>
          <a:graphicData uri="http://schemas.openxmlformats.org/drawingml/2006/table">
            <a:tbl>
              <a:tblPr/>
              <a:tblGrid>
                <a:gridCol w="2217738"/>
                <a:gridCol w="2441575"/>
                <a:gridCol w="4029075"/>
              </a:tblGrid>
              <a:tr h="346075">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ctr" defTabSz="914400" rtl="0" eaLnBrk="1" fontAlgn="b" latinLnBrk="0" hangingPunct="1">
                        <a:lnSpc>
                          <a:spcPct val="100000"/>
                        </a:lnSpc>
                        <a:spcBef>
                          <a:spcPct val="0"/>
                        </a:spcBef>
                        <a:spcAft>
                          <a:spcPct val="0"/>
                        </a:spcAft>
                        <a:buClrTx/>
                        <a:buSzTx/>
                        <a:buFontTx/>
                        <a:buNone/>
                        <a:tabLst/>
                      </a:pPr>
                      <a:r>
                        <a:rPr kumimoji="0" lang="th-TH" altLang="en-US" sz="2000" b="1" i="0" u="none" strike="noStrike" cap="none" normalizeH="0" baseline="0" dirty="0" err="1" smtClean="0">
                          <a:ln>
                            <a:noFill/>
                          </a:ln>
                          <a:solidFill>
                            <a:srgbClr val="000000"/>
                          </a:solidFill>
                          <a:effectLst/>
                          <a:latin typeface="Arial" panose="020B0604020202020204" pitchFamily="34" charset="0"/>
                          <a:cs typeface="Angsana New" panose="02020603050405020304" pitchFamily="18" charset="-34"/>
                        </a:rPr>
                        <a:t>Stage</a:t>
                      </a:r>
                      <a:endParaRPr kumimoji="0" lang="th-TH" altLang="en-US" sz="2000" b="1" i="0" u="none" strike="noStrike" cap="none" normalizeH="0" baseline="0" dirty="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ctr" defTabSz="914400" rtl="0" eaLnBrk="1" fontAlgn="b" latinLnBrk="0" hangingPunct="1">
                        <a:lnSpc>
                          <a:spcPct val="100000"/>
                        </a:lnSpc>
                        <a:spcBef>
                          <a:spcPct val="0"/>
                        </a:spcBef>
                        <a:spcAft>
                          <a:spcPct val="0"/>
                        </a:spcAft>
                        <a:buClrTx/>
                        <a:buSzTx/>
                        <a:buFontTx/>
                        <a:buNone/>
                        <a:tabLst/>
                      </a:pPr>
                      <a:r>
                        <a:rPr kumimoji="0" lang="th-TH" altLang="en-US" sz="2000" b="1"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Characterized by</a:t>
                      </a:r>
                      <a:endParaRPr kumimoji="0" lang="th-TH" altLang="en-US" sz="20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2000" b="1"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Time Scale in furnace for 2 mm Droplet</a:t>
                      </a:r>
                      <a:endParaRPr kumimoji="0" lang="th-TH" altLang="en-US" sz="20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346075">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2000" b="1"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1.Drying</a:t>
                      </a: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600" b="1"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เกิดการระเหยน้ำในเม็ด B.L.</a:t>
                      </a: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altLang="en-US" sz="2000" b="1" i="0" u="none" strike="noStrike" cap="none" normalizeH="0" baseline="0" dirty="0" smtClean="0">
                          <a:ln>
                            <a:noFill/>
                          </a:ln>
                          <a:solidFill>
                            <a:srgbClr val="000000"/>
                          </a:solidFill>
                          <a:effectLst/>
                          <a:latin typeface="+mj-lt"/>
                          <a:cs typeface="Angsana New" panose="02020603050405020304" pitchFamily="18" charset="-34"/>
                        </a:rPr>
                        <a:t>0.1 – 0.2 S</a:t>
                      </a:r>
                      <a:endParaRPr kumimoji="0" lang="th-TH" altLang="en-US" sz="2000" b="1" i="0" u="none" strike="noStrike" cap="none" normalizeH="0" baseline="0" dirty="0" smtClean="0">
                        <a:ln>
                          <a:noFill/>
                        </a:ln>
                        <a:solidFill>
                          <a:srgbClr val="000000"/>
                        </a:solidFill>
                        <a:effectLst/>
                        <a:latin typeface="+mj-lt"/>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r>
              <a:tr h="346075">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0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 </a:t>
                      </a:r>
                      <a:endParaRPr kumimoji="0" lang="th-TH" altLang="en-US" sz="28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600" b="1"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ขนาด Size คงที่</a:t>
                      </a: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0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 </a:t>
                      </a:r>
                      <a:endParaRPr kumimoji="0" lang="th-TH" altLang="en-US" sz="28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r>
              <a:tr h="384175">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2000" b="1"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2.Devolatilization</a:t>
                      </a: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600" b="1"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เกิดการลุกไหม้ของเม็ดและ</a:t>
                      </a: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altLang="en-US" sz="2000" b="1" i="0" u="none" strike="noStrike" cap="none" normalizeH="0" baseline="0" dirty="0" smtClean="0">
                          <a:ln>
                            <a:noFill/>
                          </a:ln>
                          <a:solidFill>
                            <a:srgbClr val="000000"/>
                          </a:solidFill>
                          <a:effectLst/>
                          <a:latin typeface="Arial" panose="020B0604020202020204" pitchFamily="34" charset="0"/>
                          <a:cs typeface="Angsana New" panose="02020603050405020304" pitchFamily="18" charset="-34"/>
                        </a:rPr>
                        <a:t>0.2 – 0.3 S</a:t>
                      </a:r>
                      <a:endParaRPr kumimoji="0" lang="th-TH" altLang="en-US" sz="2000" b="1" i="0" u="none" strike="noStrike" cap="none" normalizeH="0" baseline="0" dirty="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r>
              <a:tr h="346075">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0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 </a:t>
                      </a:r>
                      <a:endParaRPr kumimoji="0" lang="th-TH" altLang="en-US" sz="28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600" b="1"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ติดไฟของเม็ด B.L. และมี</a:t>
                      </a: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0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 </a:t>
                      </a:r>
                      <a:endParaRPr kumimoji="0" lang="th-TH" altLang="en-US" sz="28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r>
              <a:tr h="346075">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0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 </a:t>
                      </a:r>
                      <a:endParaRPr kumimoji="0" lang="th-TH" altLang="en-US" sz="28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600" b="1"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การปลดปล่อยสารระเหย</a:t>
                      </a: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0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 </a:t>
                      </a:r>
                      <a:endParaRPr kumimoji="0" lang="th-TH" altLang="en-US" sz="28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r>
              <a:tr h="344488">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0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 </a:t>
                      </a:r>
                      <a:endParaRPr kumimoji="0" lang="th-TH" altLang="en-US" sz="28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600" b="1"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ออกมา</a:t>
                      </a: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0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 </a:t>
                      </a:r>
                      <a:endParaRPr kumimoji="0" lang="th-TH" altLang="en-US" sz="28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r>
              <a:tr h="346075">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2000" b="1"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3. Char burning</a:t>
                      </a: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600" b="1"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เปลวไฟหายไปขนาด</a:t>
                      </a: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altLang="en-US" sz="2000" b="1" i="0" u="none" strike="noStrike" cap="none" normalizeH="0" baseline="0" dirty="0" smtClean="0">
                          <a:ln>
                            <a:noFill/>
                          </a:ln>
                          <a:solidFill>
                            <a:srgbClr val="000000"/>
                          </a:solidFill>
                          <a:effectLst/>
                          <a:latin typeface="Arial" panose="020B0604020202020204" pitchFamily="34" charset="0"/>
                          <a:cs typeface="Angsana New" panose="02020603050405020304" pitchFamily="18" charset="-34"/>
                        </a:rPr>
                        <a:t>0.5 – 1.0 S</a:t>
                      </a:r>
                      <a:endParaRPr kumimoji="0" lang="th-TH" altLang="en-US" sz="2000" b="1" i="0" u="none" strike="noStrike" cap="none" normalizeH="0" baseline="0" dirty="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r>
              <a:tr h="346075">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0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 </a:t>
                      </a:r>
                      <a:endParaRPr kumimoji="0" lang="th-TH" altLang="en-US" sz="28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600" b="1"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Diameter ลดลงและเกิด</a:t>
                      </a: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000" b="0" i="0" u="none" strike="noStrike" cap="none" normalizeH="0" baseline="0" dirty="0" smtClean="0">
                          <a:ln>
                            <a:noFill/>
                          </a:ln>
                          <a:solidFill>
                            <a:srgbClr val="000000"/>
                          </a:solidFill>
                          <a:effectLst/>
                          <a:latin typeface="Arial" panose="020B0604020202020204" pitchFamily="34" charset="0"/>
                          <a:cs typeface="Angsana New" panose="02020603050405020304" pitchFamily="18" charset="-34"/>
                        </a:rPr>
                        <a:t> </a:t>
                      </a:r>
                      <a:endParaRPr kumimoji="0" lang="th-TH" altLang="en-US" sz="2800" b="0" i="0" u="none" strike="noStrike" cap="none" normalizeH="0" baseline="0" dirty="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r>
              <a:tr h="346075">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0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 </a:t>
                      </a:r>
                      <a:endParaRPr kumimoji="0" lang="th-TH" altLang="en-US" sz="28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600" b="1"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ปฏิกิริยา Reduction</a:t>
                      </a: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0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 </a:t>
                      </a:r>
                      <a:endParaRPr kumimoji="0" lang="th-TH" altLang="en-US" sz="28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r>
              <a:tr h="346075">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2000" b="1"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4. Smelt</a:t>
                      </a: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600" b="1"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ขนาด Diameter คงที่หรือ</a:t>
                      </a: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2000" b="1"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Long</a:t>
                      </a: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r>
              <a:tr h="346075">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0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 </a:t>
                      </a:r>
                      <a:endParaRPr kumimoji="0" lang="th-TH" altLang="en-US" sz="28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600" b="1"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เพิ่มขึ้นและเกิดปฏิกิริยา </a:t>
                      </a: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000" b="0" i="0" u="none" strike="noStrike" cap="none" normalizeH="0" baseline="0" dirty="0" smtClean="0">
                          <a:ln>
                            <a:noFill/>
                          </a:ln>
                          <a:solidFill>
                            <a:srgbClr val="000000"/>
                          </a:solidFill>
                          <a:effectLst/>
                          <a:latin typeface="Arial" panose="020B0604020202020204" pitchFamily="34" charset="0"/>
                          <a:cs typeface="Angsana New" panose="02020603050405020304" pitchFamily="18" charset="-34"/>
                        </a:rPr>
                        <a:t> </a:t>
                      </a:r>
                      <a:endParaRPr kumimoji="0" lang="th-TH" altLang="en-US" sz="2800" b="0" i="0" u="none" strike="noStrike" cap="none" normalizeH="0" baseline="0" dirty="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r>
              <a:tr h="346075">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0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 </a:t>
                      </a:r>
                      <a:endParaRPr kumimoji="0" lang="th-TH" altLang="en-US" sz="2800" b="0"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600" b="1" i="0" u="none" strike="noStrike" cap="none" normalizeH="0" baseline="0" smtClean="0">
                          <a:ln>
                            <a:noFill/>
                          </a:ln>
                          <a:solidFill>
                            <a:srgbClr val="000000"/>
                          </a:solidFill>
                          <a:effectLst/>
                          <a:latin typeface="Arial" panose="020B0604020202020204" pitchFamily="34" charset="0"/>
                          <a:cs typeface="Angsana New" panose="02020603050405020304" pitchFamily="18" charset="-34"/>
                        </a:rPr>
                        <a:t>Reoxidation</a:t>
                      </a: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2900">
                        <a:spcBef>
                          <a:spcPct val="20000"/>
                        </a:spcBef>
                        <a:buClr>
                          <a:schemeClr val="hlink"/>
                        </a:buClr>
                        <a:buSzPct val="80000"/>
                        <a:buFont typeface="Wingdings" panose="05000000000000000000" pitchFamily="2" charset="2"/>
                        <a:defRPr sz="28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1pPr>
                      <a:lvl2pPr marL="742950" indent="-285750">
                        <a:spcBef>
                          <a:spcPct val="20000"/>
                        </a:spcBef>
                        <a:buClr>
                          <a:schemeClr val="tx2"/>
                        </a:buClr>
                        <a:buSzPct val="50000"/>
                        <a:buFont typeface="Wingdings" panose="05000000000000000000" pitchFamily="2" charset="2"/>
                        <a:defRPr sz="24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2pPr>
                      <a:lvl3pPr marL="1143000" indent="-228600">
                        <a:spcBef>
                          <a:spcPct val="20000"/>
                        </a:spcBef>
                        <a:buClr>
                          <a:schemeClr val="accent2"/>
                        </a:buClr>
                        <a:defRPr sz="2000">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3pPr>
                      <a:lvl4pPr marL="1600200" indent="-228600">
                        <a:spcBef>
                          <a:spcPct val="20000"/>
                        </a:spcBef>
                        <a:buClr>
                          <a:schemeClr val="folHlink"/>
                        </a:buClr>
                        <a:buSzPct val="50000"/>
                        <a:buFont typeface="Wingdings" panose="05000000000000000000" pitchFamily="2" charset="2"/>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4pPr>
                      <a:lvl5pPr marL="2057400" indent="-228600">
                        <a:spcBef>
                          <a:spcPct val="20000"/>
                        </a:spcBef>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5pPr>
                      <a:lvl6pPr marL="25146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6pPr>
                      <a:lvl7pPr marL="29718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7pPr>
                      <a:lvl8pPr marL="34290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8pPr>
                      <a:lvl9pPr marL="3886200" indent="-228600" fontAlgn="base">
                        <a:spcBef>
                          <a:spcPct val="20000"/>
                        </a:spcBef>
                        <a:spcAft>
                          <a:spcPct val="0"/>
                        </a:spcAft>
                        <a:buClr>
                          <a:schemeClr val="hlink"/>
                        </a:buClr>
                        <a:defRPr>
                          <a:solidFill>
                            <a:schemeClr val="tx1"/>
                          </a:solidFill>
                          <a:effectLst>
                            <a:outerShdw blurRad="38100" dist="38100" dir="2700000" algn="tl">
                              <a:srgbClr val="000000"/>
                            </a:outerShdw>
                          </a:effectLst>
                          <a:latin typeface="Arial" panose="020B0604020202020204" pitchFamily="34" charset="0"/>
                          <a:cs typeface="Angsana New" panose="02020603050405020304" pitchFamily="18" charset="-34"/>
                        </a:defRPr>
                      </a:lvl9p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th-TH" altLang="en-US" sz="1000" b="0" i="0" u="none" strike="noStrike" cap="none" normalizeH="0" baseline="0" dirty="0" smtClean="0">
                          <a:ln>
                            <a:noFill/>
                          </a:ln>
                          <a:solidFill>
                            <a:srgbClr val="000000"/>
                          </a:solidFill>
                          <a:effectLst/>
                          <a:latin typeface="Arial" panose="020B0604020202020204" pitchFamily="34" charset="0"/>
                          <a:cs typeface="Angsana New" panose="02020603050405020304" pitchFamily="18" charset="-34"/>
                        </a:rPr>
                        <a:t> </a:t>
                      </a:r>
                      <a:endParaRPr kumimoji="0" lang="th-TH" altLang="en-US" sz="2800" b="0" i="0" u="none" strike="noStrike" cap="none" normalizeH="0" baseline="0" dirty="0" smtClean="0">
                        <a:ln>
                          <a:noFill/>
                        </a:ln>
                        <a:solidFill>
                          <a:srgbClr val="000000"/>
                        </a:solidFill>
                        <a:effectLst/>
                        <a:latin typeface="Arial" panose="020B0604020202020204" pitchFamily="34" charset="0"/>
                        <a:cs typeface="Angsana New" panose="02020603050405020304" pitchFamily="18" charset="-34"/>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r>
            </a:tbl>
          </a:graphicData>
        </a:graphic>
      </p:graphicFrame>
      <p:sp>
        <p:nvSpPr>
          <p:cNvPr id="1065014" name="AutoShape 54"/>
          <p:cNvSpPr>
            <a:spLocks noChangeArrowheads="1"/>
          </p:cNvSpPr>
          <p:nvPr/>
        </p:nvSpPr>
        <p:spPr bwMode="auto">
          <a:xfrm>
            <a:off x="6275388" y="2047875"/>
            <a:ext cx="1158875" cy="346075"/>
          </a:xfrm>
          <a:prstGeom prst="leftArrow">
            <a:avLst>
              <a:gd name="adj1" fmla="val 50000"/>
              <a:gd name="adj2" fmla="val 83716"/>
            </a:avLst>
          </a:prstGeom>
          <a:solidFill>
            <a:srgbClr val="FF00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1065015" name="AutoShape 55"/>
          <p:cNvSpPr>
            <a:spLocks noChangeArrowheads="1"/>
          </p:cNvSpPr>
          <p:nvPr/>
        </p:nvSpPr>
        <p:spPr bwMode="auto">
          <a:xfrm>
            <a:off x="6275388" y="2789238"/>
            <a:ext cx="1158875" cy="346075"/>
          </a:xfrm>
          <a:prstGeom prst="leftArrow">
            <a:avLst>
              <a:gd name="adj1" fmla="val 50000"/>
              <a:gd name="adj2" fmla="val 83716"/>
            </a:avLst>
          </a:prstGeom>
          <a:solidFill>
            <a:srgbClr val="FF00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1065016" name="AutoShape 56"/>
          <p:cNvSpPr>
            <a:spLocks noChangeArrowheads="1"/>
          </p:cNvSpPr>
          <p:nvPr/>
        </p:nvSpPr>
        <p:spPr bwMode="auto">
          <a:xfrm>
            <a:off x="6275388" y="4221163"/>
            <a:ext cx="1158875" cy="346075"/>
          </a:xfrm>
          <a:prstGeom prst="leftArrow">
            <a:avLst>
              <a:gd name="adj1" fmla="val 50000"/>
              <a:gd name="adj2" fmla="val 83716"/>
            </a:avLst>
          </a:prstGeom>
          <a:solidFill>
            <a:srgbClr val="FF00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1065017" name="AutoShape 57"/>
          <p:cNvSpPr>
            <a:spLocks noChangeArrowheads="1"/>
          </p:cNvSpPr>
          <p:nvPr/>
        </p:nvSpPr>
        <p:spPr bwMode="auto">
          <a:xfrm>
            <a:off x="6275388" y="5308600"/>
            <a:ext cx="1158875" cy="346075"/>
          </a:xfrm>
          <a:prstGeom prst="leftArrow">
            <a:avLst>
              <a:gd name="adj1" fmla="val 50000"/>
              <a:gd name="adj2" fmla="val 83716"/>
            </a:avLst>
          </a:prstGeom>
          <a:solidFill>
            <a:srgbClr val="FF00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065014"/>
                                        </p:tgtEl>
                                        <p:attrNameLst>
                                          <p:attrName>style.visibility</p:attrName>
                                        </p:attrNameLst>
                                      </p:cBhvr>
                                      <p:to>
                                        <p:strVal val="visible"/>
                                      </p:to>
                                    </p:set>
                                    <p:animEffect transition="in" filter="blinds(horizontal)">
                                      <p:cBhvr>
                                        <p:cTn id="7" dur="500"/>
                                        <p:tgtEl>
                                          <p:spTgt spid="106501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065015"/>
                                        </p:tgtEl>
                                        <p:attrNameLst>
                                          <p:attrName>style.visibility</p:attrName>
                                        </p:attrNameLst>
                                      </p:cBhvr>
                                      <p:to>
                                        <p:strVal val="visible"/>
                                      </p:to>
                                    </p:set>
                                    <p:animEffect transition="in" filter="blinds(horizontal)">
                                      <p:cBhvr>
                                        <p:cTn id="12" dur="500"/>
                                        <p:tgtEl>
                                          <p:spTgt spid="106501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1065016"/>
                                        </p:tgtEl>
                                        <p:attrNameLst>
                                          <p:attrName>style.visibility</p:attrName>
                                        </p:attrNameLst>
                                      </p:cBhvr>
                                      <p:to>
                                        <p:strVal val="visible"/>
                                      </p:to>
                                    </p:set>
                                    <p:animEffect transition="in" filter="blinds(horizontal)">
                                      <p:cBhvr>
                                        <p:cTn id="17" dur="500"/>
                                        <p:tgtEl>
                                          <p:spTgt spid="106501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1065017"/>
                                        </p:tgtEl>
                                        <p:attrNameLst>
                                          <p:attrName>style.visibility</p:attrName>
                                        </p:attrNameLst>
                                      </p:cBhvr>
                                      <p:to>
                                        <p:strVal val="visible"/>
                                      </p:to>
                                    </p:set>
                                    <p:animEffect transition="in" filter="blinds(horizontal)">
                                      <p:cBhvr>
                                        <p:cTn id="22" dur="500"/>
                                        <p:tgtEl>
                                          <p:spTgt spid="10650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5014" grpId="0" animBg="1"/>
      <p:bldP spid="1065015" grpId="0" animBg="1"/>
      <p:bldP spid="1065016" grpId="0" animBg="1"/>
      <p:bldP spid="1065017" grpId="0" animBg="1"/>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22" name="Slide Number Placeholder 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fld id="{E26AD545-5EFF-405C-A623-E112B52D770D}" type="slidenum">
              <a:rPr lang="en-US" altLang="en-US" sz="1800" smtClean="0"/>
              <a:pPr>
                <a:spcBef>
                  <a:spcPct val="0"/>
                </a:spcBef>
                <a:buFontTx/>
                <a:buNone/>
              </a:pPr>
              <a:t>169</a:t>
            </a:fld>
            <a:endParaRPr lang="th-TH" altLang="en-US" sz="1800" smtClean="0"/>
          </a:p>
        </p:txBody>
      </p:sp>
      <p:pic>
        <p:nvPicPr>
          <p:cNvPr id="542723" name="Picture 2" descr="19"/>
          <p:cNvPicPr>
            <a:picLocks noGrp="1" noChangeAspect="1" noChangeArrowheads="1"/>
          </p:cNvPicPr>
          <p:nvPr>
            <p:ph/>
          </p:nvPr>
        </p:nvPicPr>
        <p:blipFill>
          <a:blip r:embed="rId2">
            <a:extLst>
              <a:ext uri="{28A0092B-C50C-407E-A947-70E740481C1C}">
                <a14:useLocalDpi xmlns:a14="http://schemas.microsoft.com/office/drawing/2010/main" val="0"/>
              </a:ext>
            </a:extLst>
          </a:blip>
          <a:srcRect/>
          <a:stretch>
            <a:fillRect/>
          </a:stretch>
        </p:blipFill>
        <p:spPr>
          <a:xfrm>
            <a:off x="700088" y="1214438"/>
            <a:ext cx="7629525" cy="5668962"/>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057795" name="Text Box 3"/>
          <p:cNvSpPr txBox="1">
            <a:spLocks noChangeArrowheads="1"/>
          </p:cNvSpPr>
          <p:nvPr/>
        </p:nvSpPr>
        <p:spPr bwMode="auto">
          <a:xfrm>
            <a:off x="1917700" y="219075"/>
            <a:ext cx="5383213"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defRPr/>
            </a:pPr>
            <a:r>
              <a:rPr lang="en-US" altLang="en-US" sz="4000" dirty="0">
                <a:effectLst>
                  <a:outerShdw blurRad="38100" dist="38100" dir="2700000" algn="tl">
                    <a:srgbClr val="000000"/>
                  </a:outerShdw>
                </a:effectLst>
              </a:rPr>
              <a:t>Water and Steam System</a:t>
            </a:r>
            <a:endParaRPr lang="th-TH" altLang="en-US" sz="4000" dirty="0">
              <a:effectLst>
                <a:outerShdw blurRad="38100" dist="38100" dir="2700000" algn="tl">
                  <a:srgbClr val="000000"/>
                </a:outerShdw>
              </a:effectLst>
            </a:endParaRPr>
          </a:p>
        </p:txBody>
      </p:sp>
      <p:sp>
        <p:nvSpPr>
          <p:cNvPr id="1057796" name="Text Box 4"/>
          <p:cNvSpPr txBox="1">
            <a:spLocks noChangeArrowheads="1"/>
          </p:cNvSpPr>
          <p:nvPr/>
        </p:nvSpPr>
        <p:spPr bwMode="auto">
          <a:xfrm>
            <a:off x="700088" y="2806700"/>
            <a:ext cx="2290762" cy="1554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th-TH" altLang="en-US" sz="3200">
                <a:solidFill>
                  <a:srgbClr val="FF3300"/>
                </a:solidFill>
                <a:effectLst>
                  <a:outerShdw blurRad="38100" dist="38100" dir="2700000" algn="tl">
                    <a:srgbClr val="000000"/>
                  </a:outerShdw>
                </a:effectLst>
                <a:latin typeface="Angsana New" panose="02020603050405020304" pitchFamily="18" charset="-34"/>
              </a:rPr>
              <a:t>การแลกเปลี่ยนความร้อนระหว่าง </a:t>
            </a:r>
            <a:r>
              <a:rPr lang="en-US" altLang="en-US" sz="3200">
                <a:solidFill>
                  <a:srgbClr val="FF3300"/>
                </a:solidFill>
                <a:effectLst>
                  <a:outerShdw blurRad="38100" dist="38100" dir="2700000" algn="tl">
                    <a:srgbClr val="000000"/>
                  </a:outerShdw>
                </a:effectLst>
                <a:latin typeface="Angsana New" panose="02020603050405020304" pitchFamily="18" charset="-34"/>
              </a:rPr>
              <a:t>Flue Gas </a:t>
            </a:r>
            <a:r>
              <a:rPr lang="th-TH" altLang="en-US" sz="3200">
                <a:solidFill>
                  <a:srgbClr val="FF3300"/>
                </a:solidFill>
                <a:effectLst>
                  <a:outerShdw blurRad="38100" dist="38100" dir="2700000" algn="tl">
                    <a:srgbClr val="000000"/>
                  </a:outerShdw>
                </a:effectLst>
                <a:latin typeface="Angsana New" panose="02020603050405020304" pitchFamily="18" charset="-34"/>
              </a:rPr>
              <a:t>กับน้ำ</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057796"/>
                                        </p:tgtEl>
                                        <p:attrNameLst>
                                          <p:attrName>style.visibility</p:attrName>
                                        </p:attrNameLst>
                                      </p:cBhvr>
                                      <p:to>
                                        <p:strVal val="visible"/>
                                      </p:to>
                                    </p:set>
                                    <p:anim calcmode="lin" valueType="num">
                                      <p:cBhvr additive="base">
                                        <p:cTn id="7" dur="500" fill="hold"/>
                                        <p:tgtEl>
                                          <p:spTgt spid="1057796"/>
                                        </p:tgtEl>
                                        <p:attrNameLst>
                                          <p:attrName>ppt_x</p:attrName>
                                        </p:attrNameLst>
                                      </p:cBhvr>
                                      <p:tavLst>
                                        <p:tav tm="0">
                                          <p:val>
                                            <p:strVal val="#ppt_x"/>
                                          </p:val>
                                        </p:tav>
                                        <p:tav tm="100000">
                                          <p:val>
                                            <p:strVal val="#ppt_x"/>
                                          </p:val>
                                        </p:tav>
                                      </p:tavLst>
                                    </p:anim>
                                    <p:anim calcmode="lin" valueType="num">
                                      <p:cBhvr additive="base">
                                        <p:cTn id="8" dur="500" fill="hold"/>
                                        <p:tgtEl>
                                          <p:spTgt spid="105779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7796" grpId="0"/>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 name="Slide Number Placeholder 3"/>
          <p:cNvSpPr>
            <a:spLocks noGrp="1"/>
          </p:cNvSpPr>
          <p:nvPr>
            <p:ph type="sldNum" sz="quarter" idx="12"/>
          </p:nvPr>
        </p:nvSpPr>
        <p:spPr/>
        <p:txBody>
          <a:bodyPr/>
          <a:lstStyle/>
          <a:p>
            <a:pPr>
              <a:defRPr/>
            </a:pPr>
            <a:fld id="{9CAA989C-24C8-4DFA-A668-ABE4C14858C9}" type="slidenum">
              <a:rPr lang="en-US" altLang="en-US"/>
              <a:pPr>
                <a:defRPr/>
              </a:pPr>
              <a:t>170</a:t>
            </a:fld>
            <a:endParaRPr lang="th-TH" altLang="en-US"/>
          </a:p>
        </p:txBody>
      </p:sp>
      <p:sp>
        <p:nvSpPr>
          <p:cNvPr id="1062914" name="WordArt 2"/>
          <p:cNvSpPr>
            <a:spLocks noChangeArrowheads="1" noChangeShapeType="1" noTextEdit="1"/>
          </p:cNvSpPr>
          <p:nvPr/>
        </p:nvSpPr>
        <p:spPr bwMode="auto">
          <a:xfrm>
            <a:off x="2411413" y="115888"/>
            <a:ext cx="4321175" cy="800100"/>
          </a:xfrm>
          <a:prstGeom prst="rect">
            <a:avLst/>
          </a:prstGeom>
        </p:spPr>
        <p:txBody>
          <a:bodyPr wrap="none" fromWordArt="1">
            <a:prstTxWarp prst="textPlain">
              <a:avLst>
                <a:gd name="adj" fmla="val 50000"/>
              </a:avLst>
            </a:prstTxWarp>
          </a:bodyPr>
          <a:lstStyle/>
          <a:p>
            <a:pPr algn="ctr">
              <a:defRPr/>
            </a:pPr>
            <a:r>
              <a:rPr lang="th-TH" sz="6600" kern="10">
                <a:ln w="19050">
                  <a:solidFill>
                    <a:srgbClr val="333333"/>
                  </a:solidFill>
                  <a:round/>
                  <a:headEnd/>
                  <a:tailEnd/>
                </a:ln>
                <a:gradFill rotWithShape="1">
                  <a:gsLst>
                    <a:gs pos="0">
                      <a:srgbClr val="0099FF"/>
                    </a:gs>
                    <a:gs pos="100000">
                      <a:srgbClr val="0000FF"/>
                    </a:gs>
                  </a:gsLst>
                  <a:path path="rect">
                    <a:fillToRect l="50000" t="50000" r="50000" b="50000"/>
                  </a:path>
                </a:gradFill>
                <a:effectLst>
                  <a:outerShdw dist="63500" dir="3187806" algn="ctr" rotWithShape="0">
                    <a:srgbClr val="4299A0">
                      <a:alpha val="50000"/>
                    </a:srgbClr>
                  </a:outerShdw>
                </a:effectLst>
                <a:latin typeface="LilyUPC" panose="020B0604020202020204" pitchFamily="34" charset="-34"/>
                <a:cs typeface="LilyUPC" panose="020B0604020202020204" pitchFamily="34" charset="-34"/>
              </a:rPr>
              <a:t>วงจรน้ำ + ไอน้ำ (</a:t>
            </a:r>
            <a:r>
              <a:rPr lang="en-US" sz="6600" kern="10">
                <a:ln w="19050">
                  <a:solidFill>
                    <a:srgbClr val="333333"/>
                  </a:solidFill>
                  <a:round/>
                  <a:headEnd/>
                  <a:tailEnd/>
                </a:ln>
                <a:gradFill rotWithShape="1">
                  <a:gsLst>
                    <a:gs pos="0">
                      <a:srgbClr val="0099FF"/>
                    </a:gs>
                    <a:gs pos="100000">
                      <a:srgbClr val="0000FF"/>
                    </a:gs>
                  </a:gsLst>
                  <a:path path="rect">
                    <a:fillToRect l="50000" t="50000" r="50000" b="50000"/>
                  </a:path>
                </a:gradFill>
                <a:effectLst>
                  <a:outerShdw dist="63500" dir="3187806" algn="ctr" rotWithShape="0">
                    <a:srgbClr val="4299A0">
                      <a:alpha val="50000"/>
                    </a:srgbClr>
                  </a:outerShdw>
                </a:effectLst>
                <a:latin typeface="LilyUPC" panose="020B0604020202020204" pitchFamily="34" charset="-34"/>
                <a:cs typeface="LilyUPC" panose="020B0604020202020204" pitchFamily="34" charset="-34"/>
              </a:rPr>
              <a:t>Steam)</a:t>
            </a:r>
          </a:p>
        </p:txBody>
      </p:sp>
      <p:grpSp>
        <p:nvGrpSpPr>
          <p:cNvPr id="543748" name="Group 3"/>
          <p:cNvGrpSpPr>
            <a:grpSpLocks/>
          </p:cNvGrpSpPr>
          <p:nvPr/>
        </p:nvGrpSpPr>
        <p:grpSpPr bwMode="auto">
          <a:xfrm>
            <a:off x="36513" y="890588"/>
            <a:ext cx="8783637" cy="5595937"/>
            <a:chOff x="22" y="812"/>
            <a:chExt cx="5534" cy="3525"/>
          </a:xfrm>
        </p:grpSpPr>
        <p:grpSp>
          <p:nvGrpSpPr>
            <p:cNvPr id="543749" name="Group 4"/>
            <p:cNvGrpSpPr>
              <a:grpSpLocks/>
            </p:cNvGrpSpPr>
            <p:nvPr/>
          </p:nvGrpSpPr>
          <p:grpSpPr bwMode="auto">
            <a:xfrm>
              <a:off x="4268" y="1144"/>
              <a:ext cx="953" cy="351"/>
              <a:chOff x="1292" y="1538"/>
              <a:chExt cx="862" cy="305"/>
            </a:xfrm>
          </p:grpSpPr>
          <p:sp>
            <p:nvSpPr>
              <p:cNvPr id="543923" name="AutoShape 5"/>
              <p:cNvSpPr>
                <a:spLocks noChangeArrowheads="1"/>
              </p:cNvSpPr>
              <p:nvPr/>
            </p:nvSpPr>
            <p:spPr bwMode="auto">
              <a:xfrm>
                <a:off x="1292" y="1538"/>
                <a:ext cx="862" cy="305"/>
              </a:xfrm>
              <a:prstGeom prst="flowChartTerminator">
                <a:avLst/>
              </a:prstGeom>
              <a:solidFill>
                <a:srgbClr val="0099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924" name="Freeform 6"/>
              <p:cNvSpPr>
                <a:spLocks/>
              </p:cNvSpPr>
              <p:nvPr/>
            </p:nvSpPr>
            <p:spPr bwMode="auto">
              <a:xfrm>
                <a:off x="1294" y="1652"/>
                <a:ext cx="849" cy="48"/>
              </a:xfrm>
              <a:custGeom>
                <a:avLst/>
                <a:gdLst>
                  <a:gd name="T0" fmla="*/ 0 w 849"/>
                  <a:gd name="T1" fmla="*/ 19 h 48"/>
                  <a:gd name="T2" fmla="*/ 141 w 849"/>
                  <a:gd name="T3" fmla="*/ 10 h 48"/>
                  <a:gd name="T4" fmla="*/ 207 w 849"/>
                  <a:gd name="T5" fmla="*/ 19 h 48"/>
                  <a:gd name="T6" fmla="*/ 255 w 849"/>
                  <a:gd name="T7" fmla="*/ 29 h 48"/>
                  <a:gd name="T8" fmla="*/ 340 w 849"/>
                  <a:gd name="T9" fmla="*/ 10 h 48"/>
                  <a:gd name="T10" fmla="*/ 519 w 849"/>
                  <a:gd name="T11" fmla="*/ 29 h 48"/>
                  <a:gd name="T12" fmla="*/ 642 w 849"/>
                  <a:gd name="T13" fmla="*/ 10 h 48"/>
                  <a:gd name="T14" fmla="*/ 849 w 849"/>
                  <a:gd name="T15" fmla="*/ 0 h 4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49" h="48">
                    <a:moveTo>
                      <a:pt x="0" y="19"/>
                    </a:moveTo>
                    <a:cubicBezTo>
                      <a:pt x="51" y="30"/>
                      <a:pt x="91" y="26"/>
                      <a:pt x="141" y="10"/>
                    </a:cubicBezTo>
                    <a:cubicBezTo>
                      <a:pt x="199" y="48"/>
                      <a:pt x="139" y="19"/>
                      <a:pt x="207" y="19"/>
                    </a:cubicBezTo>
                    <a:cubicBezTo>
                      <a:pt x="223" y="19"/>
                      <a:pt x="239" y="26"/>
                      <a:pt x="255" y="29"/>
                    </a:cubicBezTo>
                    <a:cubicBezTo>
                      <a:pt x="284" y="24"/>
                      <a:pt x="311" y="10"/>
                      <a:pt x="340" y="10"/>
                    </a:cubicBezTo>
                    <a:cubicBezTo>
                      <a:pt x="400" y="10"/>
                      <a:pt x="459" y="25"/>
                      <a:pt x="519" y="29"/>
                    </a:cubicBezTo>
                    <a:cubicBezTo>
                      <a:pt x="564" y="43"/>
                      <a:pt x="599" y="23"/>
                      <a:pt x="642" y="10"/>
                    </a:cubicBezTo>
                    <a:cubicBezTo>
                      <a:pt x="715" y="27"/>
                      <a:pt x="781" y="38"/>
                      <a:pt x="849" y="0"/>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925" name="Line 7"/>
              <p:cNvSpPr>
                <a:spLocks noChangeShapeType="1"/>
              </p:cNvSpPr>
              <p:nvPr/>
            </p:nvSpPr>
            <p:spPr bwMode="auto">
              <a:xfrm flipV="1">
                <a:off x="1338" y="1699"/>
                <a:ext cx="91" cy="53"/>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926" name="Line 8"/>
              <p:cNvSpPr>
                <a:spLocks noChangeShapeType="1"/>
              </p:cNvSpPr>
              <p:nvPr/>
            </p:nvSpPr>
            <p:spPr bwMode="auto">
              <a:xfrm flipV="1">
                <a:off x="1429" y="1706"/>
                <a:ext cx="91" cy="53"/>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927" name="Line 9"/>
              <p:cNvSpPr>
                <a:spLocks noChangeShapeType="1"/>
              </p:cNvSpPr>
              <p:nvPr/>
            </p:nvSpPr>
            <p:spPr bwMode="auto">
              <a:xfrm flipV="1">
                <a:off x="1519" y="1706"/>
                <a:ext cx="91" cy="53"/>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928" name="Line 10"/>
              <p:cNvSpPr>
                <a:spLocks noChangeShapeType="1"/>
              </p:cNvSpPr>
              <p:nvPr/>
            </p:nvSpPr>
            <p:spPr bwMode="auto">
              <a:xfrm flipV="1">
                <a:off x="1610" y="1706"/>
                <a:ext cx="91" cy="53"/>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929" name="Line 11"/>
              <p:cNvSpPr>
                <a:spLocks noChangeShapeType="1"/>
              </p:cNvSpPr>
              <p:nvPr/>
            </p:nvSpPr>
            <p:spPr bwMode="auto">
              <a:xfrm flipV="1">
                <a:off x="1701" y="1706"/>
                <a:ext cx="91" cy="53"/>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930" name="Line 12"/>
              <p:cNvSpPr>
                <a:spLocks noChangeShapeType="1"/>
              </p:cNvSpPr>
              <p:nvPr/>
            </p:nvSpPr>
            <p:spPr bwMode="auto">
              <a:xfrm flipV="1">
                <a:off x="1791" y="1706"/>
                <a:ext cx="91" cy="53"/>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931" name="Line 13"/>
              <p:cNvSpPr>
                <a:spLocks noChangeShapeType="1"/>
              </p:cNvSpPr>
              <p:nvPr/>
            </p:nvSpPr>
            <p:spPr bwMode="auto">
              <a:xfrm flipV="1">
                <a:off x="1882" y="1706"/>
                <a:ext cx="91" cy="53"/>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932" name="Line 14"/>
              <p:cNvSpPr>
                <a:spLocks noChangeShapeType="1"/>
              </p:cNvSpPr>
              <p:nvPr/>
            </p:nvSpPr>
            <p:spPr bwMode="auto">
              <a:xfrm flipV="1">
                <a:off x="1973" y="1699"/>
                <a:ext cx="91" cy="53"/>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43750" name="Text Box 15"/>
            <p:cNvSpPr txBox="1">
              <a:spLocks noChangeArrowheads="1"/>
            </p:cNvSpPr>
            <p:nvPr/>
          </p:nvSpPr>
          <p:spPr bwMode="auto">
            <a:xfrm>
              <a:off x="703" y="1615"/>
              <a:ext cx="1179" cy="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10000"/>
                </a:lnSpc>
                <a:spcBef>
                  <a:spcPct val="50000"/>
                </a:spcBef>
                <a:buFontTx/>
                <a:buNone/>
              </a:pPr>
              <a:r>
                <a:rPr lang="en-US" altLang="en-US" sz="1500"/>
                <a:t>Feed Water Tank</a:t>
              </a:r>
              <a:endParaRPr lang="th-TH" altLang="en-US" sz="1500"/>
            </a:p>
          </p:txBody>
        </p:sp>
        <p:sp>
          <p:nvSpPr>
            <p:cNvPr id="543751" name="Text Box 16"/>
            <p:cNvSpPr txBox="1">
              <a:spLocks noChangeArrowheads="1"/>
            </p:cNvSpPr>
            <p:nvPr/>
          </p:nvSpPr>
          <p:spPr bwMode="auto">
            <a:xfrm>
              <a:off x="2336" y="1207"/>
              <a:ext cx="590"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60000"/>
                </a:lnSpc>
                <a:spcBef>
                  <a:spcPct val="50000"/>
                </a:spcBef>
                <a:buFontTx/>
                <a:buNone/>
              </a:pPr>
              <a:r>
                <a:rPr lang="en-US" altLang="en-US" sz="1300"/>
                <a:t>3 bar</a:t>
              </a:r>
            </a:p>
            <a:p>
              <a:pPr>
                <a:lnSpc>
                  <a:spcPct val="60000"/>
                </a:lnSpc>
                <a:spcBef>
                  <a:spcPct val="50000"/>
                </a:spcBef>
                <a:buFontTx/>
                <a:buNone/>
              </a:pPr>
              <a:r>
                <a:rPr lang="en-US" altLang="en-US" sz="1300"/>
                <a:t>Steam</a:t>
              </a:r>
              <a:endParaRPr lang="th-TH" altLang="en-US" sz="1300"/>
            </a:p>
          </p:txBody>
        </p:sp>
        <p:sp>
          <p:nvSpPr>
            <p:cNvPr id="543752" name="Rectangle 17"/>
            <p:cNvSpPr>
              <a:spLocks noChangeArrowheads="1"/>
            </p:cNvSpPr>
            <p:nvPr/>
          </p:nvSpPr>
          <p:spPr bwMode="auto">
            <a:xfrm>
              <a:off x="78" y="948"/>
              <a:ext cx="806" cy="485"/>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300"/>
                <a:t>Demineralization </a:t>
              </a:r>
            </a:p>
            <a:p>
              <a:pPr algn="ctr">
                <a:spcBef>
                  <a:spcPct val="0"/>
                </a:spcBef>
                <a:buFontTx/>
                <a:buNone/>
              </a:pPr>
              <a:r>
                <a:rPr lang="en-US" altLang="en-US" sz="1300"/>
                <a:t>Tank</a:t>
              </a:r>
              <a:endParaRPr lang="th-TH" altLang="en-US" sz="1300"/>
            </a:p>
          </p:txBody>
        </p:sp>
        <p:sp>
          <p:nvSpPr>
            <p:cNvPr id="543753" name="Rectangle 18"/>
            <p:cNvSpPr>
              <a:spLocks noChangeArrowheads="1"/>
            </p:cNvSpPr>
            <p:nvPr/>
          </p:nvSpPr>
          <p:spPr bwMode="auto">
            <a:xfrm>
              <a:off x="4423" y="1187"/>
              <a:ext cx="90" cy="91"/>
            </a:xfrm>
            <a:prstGeom prst="rect">
              <a:avLst/>
            </a:prstGeom>
            <a:solidFill>
              <a:srgbClr val="0000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754" name="Rectangle 19"/>
            <p:cNvSpPr>
              <a:spLocks noChangeArrowheads="1"/>
            </p:cNvSpPr>
            <p:nvPr/>
          </p:nvSpPr>
          <p:spPr bwMode="auto">
            <a:xfrm>
              <a:off x="4604" y="1177"/>
              <a:ext cx="90" cy="91"/>
            </a:xfrm>
            <a:prstGeom prst="rect">
              <a:avLst/>
            </a:prstGeom>
            <a:solidFill>
              <a:srgbClr val="0000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755" name="Rectangle 20"/>
            <p:cNvSpPr>
              <a:spLocks noChangeArrowheads="1"/>
            </p:cNvSpPr>
            <p:nvPr/>
          </p:nvSpPr>
          <p:spPr bwMode="auto">
            <a:xfrm>
              <a:off x="4795" y="1172"/>
              <a:ext cx="90" cy="91"/>
            </a:xfrm>
            <a:prstGeom prst="rect">
              <a:avLst/>
            </a:prstGeom>
            <a:solidFill>
              <a:srgbClr val="0000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756" name="Rectangle 21"/>
            <p:cNvSpPr>
              <a:spLocks noChangeArrowheads="1"/>
            </p:cNvSpPr>
            <p:nvPr/>
          </p:nvSpPr>
          <p:spPr bwMode="auto">
            <a:xfrm>
              <a:off x="4977" y="1172"/>
              <a:ext cx="90" cy="91"/>
            </a:xfrm>
            <a:prstGeom prst="rect">
              <a:avLst/>
            </a:prstGeom>
            <a:solidFill>
              <a:srgbClr val="0000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757" name="Line 22"/>
            <p:cNvSpPr>
              <a:spLocks noChangeShapeType="1"/>
            </p:cNvSpPr>
            <p:nvPr/>
          </p:nvSpPr>
          <p:spPr bwMode="auto">
            <a:xfrm>
              <a:off x="4893" y="1227"/>
              <a:ext cx="8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758" name="Line 23"/>
            <p:cNvSpPr>
              <a:spLocks noChangeShapeType="1"/>
            </p:cNvSpPr>
            <p:nvPr/>
          </p:nvSpPr>
          <p:spPr bwMode="auto">
            <a:xfrm>
              <a:off x="4695" y="1227"/>
              <a:ext cx="8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759" name="Line 24"/>
            <p:cNvSpPr>
              <a:spLocks noChangeShapeType="1"/>
            </p:cNvSpPr>
            <p:nvPr/>
          </p:nvSpPr>
          <p:spPr bwMode="auto">
            <a:xfrm>
              <a:off x="4513" y="1227"/>
              <a:ext cx="8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43760" name="Group 25"/>
            <p:cNvGrpSpPr>
              <a:grpSpLocks/>
            </p:cNvGrpSpPr>
            <p:nvPr/>
          </p:nvGrpSpPr>
          <p:grpSpPr bwMode="auto">
            <a:xfrm>
              <a:off x="4150" y="2250"/>
              <a:ext cx="318" cy="408"/>
              <a:chOff x="1837" y="2976"/>
              <a:chExt cx="453" cy="499"/>
            </a:xfrm>
          </p:grpSpPr>
          <p:sp>
            <p:nvSpPr>
              <p:cNvPr id="543918" name="AutoShape 26"/>
              <p:cNvSpPr>
                <a:spLocks noChangeArrowheads="1"/>
              </p:cNvSpPr>
              <p:nvPr/>
            </p:nvSpPr>
            <p:spPr bwMode="auto">
              <a:xfrm>
                <a:off x="1837" y="2976"/>
                <a:ext cx="90" cy="499"/>
              </a:xfrm>
              <a:prstGeom prst="can">
                <a:avLst>
                  <a:gd name="adj" fmla="val 138611"/>
                </a:avLst>
              </a:prstGeom>
              <a:solidFill>
                <a:srgbClr val="62B7BE"/>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919" name="AutoShape 27"/>
              <p:cNvSpPr>
                <a:spLocks noChangeArrowheads="1"/>
              </p:cNvSpPr>
              <p:nvPr/>
            </p:nvSpPr>
            <p:spPr bwMode="auto">
              <a:xfrm>
                <a:off x="1927" y="2976"/>
                <a:ext cx="90" cy="499"/>
              </a:xfrm>
              <a:prstGeom prst="can">
                <a:avLst>
                  <a:gd name="adj" fmla="val 138611"/>
                </a:avLst>
              </a:prstGeom>
              <a:solidFill>
                <a:srgbClr val="62B7BE"/>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920" name="AutoShape 28"/>
              <p:cNvSpPr>
                <a:spLocks noChangeArrowheads="1"/>
              </p:cNvSpPr>
              <p:nvPr/>
            </p:nvSpPr>
            <p:spPr bwMode="auto">
              <a:xfrm>
                <a:off x="2018" y="2976"/>
                <a:ext cx="90" cy="499"/>
              </a:xfrm>
              <a:prstGeom prst="can">
                <a:avLst>
                  <a:gd name="adj" fmla="val 138611"/>
                </a:avLst>
              </a:prstGeom>
              <a:solidFill>
                <a:srgbClr val="62B7BE"/>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921" name="AutoShape 29"/>
              <p:cNvSpPr>
                <a:spLocks noChangeArrowheads="1"/>
              </p:cNvSpPr>
              <p:nvPr/>
            </p:nvSpPr>
            <p:spPr bwMode="auto">
              <a:xfrm>
                <a:off x="2109" y="2976"/>
                <a:ext cx="90" cy="499"/>
              </a:xfrm>
              <a:prstGeom prst="can">
                <a:avLst>
                  <a:gd name="adj" fmla="val 138611"/>
                </a:avLst>
              </a:prstGeom>
              <a:solidFill>
                <a:srgbClr val="62B7BE"/>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922" name="AutoShape 30"/>
              <p:cNvSpPr>
                <a:spLocks noChangeArrowheads="1"/>
              </p:cNvSpPr>
              <p:nvPr/>
            </p:nvSpPr>
            <p:spPr bwMode="auto">
              <a:xfrm>
                <a:off x="2200" y="2976"/>
                <a:ext cx="90" cy="499"/>
              </a:xfrm>
              <a:prstGeom prst="can">
                <a:avLst>
                  <a:gd name="adj" fmla="val 138611"/>
                </a:avLst>
              </a:prstGeom>
              <a:solidFill>
                <a:srgbClr val="62B7BE"/>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grpSp>
          <p:nvGrpSpPr>
            <p:cNvPr id="543761" name="Group 31"/>
            <p:cNvGrpSpPr>
              <a:grpSpLocks/>
            </p:cNvGrpSpPr>
            <p:nvPr/>
          </p:nvGrpSpPr>
          <p:grpSpPr bwMode="auto">
            <a:xfrm>
              <a:off x="4332" y="3203"/>
              <a:ext cx="317" cy="408"/>
              <a:chOff x="1837" y="2976"/>
              <a:chExt cx="453" cy="499"/>
            </a:xfrm>
          </p:grpSpPr>
          <p:sp>
            <p:nvSpPr>
              <p:cNvPr id="543913" name="AutoShape 32"/>
              <p:cNvSpPr>
                <a:spLocks noChangeArrowheads="1"/>
              </p:cNvSpPr>
              <p:nvPr/>
            </p:nvSpPr>
            <p:spPr bwMode="auto">
              <a:xfrm>
                <a:off x="1837" y="2976"/>
                <a:ext cx="90" cy="499"/>
              </a:xfrm>
              <a:prstGeom prst="can">
                <a:avLst>
                  <a:gd name="adj" fmla="val 138611"/>
                </a:avLst>
              </a:prstGeom>
              <a:solidFill>
                <a:srgbClr val="62B7BE"/>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914" name="AutoShape 33"/>
              <p:cNvSpPr>
                <a:spLocks noChangeArrowheads="1"/>
              </p:cNvSpPr>
              <p:nvPr/>
            </p:nvSpPr>
            <p:spPr bwMode="auto">
              <a:xfrm>
                <a:off x="1927" y="2976"/>
                <a:ext cx="90" cy="499"/>
              </a:xfrm>
              <a:prstGeom prst="can">
                <a:avLst>
                  <a:gd name="adj" fmla="val 138611"/>
                </a:avLst>
              </a:prstGeom>
              <a:solidFill>
                <a:srgbClr val="62B7BE"/>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915" name="AutoShape 34"/>
              <p:cNvSpPr>
                <a:spLocks noChangeArrowheads="1"/>
              </p:cNvSpPr>
              <p:nvPr/>
            </p:nvSpPr>
            <p:spPr bwMode="auto">
              <a:xfrm>
                <a:off x="2018" y="2976"/>
                <a:ext cx="90" cy="499"/>
              </a:xfrm>
              <a:prstGeom prst="can">
                <a:avLst>
                  <a:gd name="adj" fmla="val 138611"/>
                </a:avLst>
              </a:prstGeom>
              <a:solidFill>
                <a:srgbClr val="62B7BE"/>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916" name="AutoShape 35"/>
              <p:cNvSpPr>
                <a:spLocks noChangeArrowheads="1"/>
              </p:cNvSpPr>
              <p:nvPr/>
            </p:nvSpPr>
            <p:spPr bwMode="auto">
              <a:xfrm>
                <a:off x="2109" y="2976"/>
                <a:ext cx="90" cy="499"/>
              </a:xfrm>
              <a:prstGeom prst="can">
                <a:avLst>
                  <a:gd name="adj" fmla="val 138611"/>
                </a:avLst>
              </a:prstGeom>
              <a:solidFill>
                <a:srgbClr val="62B7BE"/>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917" name="AutoShape 36"/>
              <p:cNvSpPr>
                <a:spLocks noChangeArrowheads="1"/>
              </p:cNvSpPr>
              <p:nvPr/>
            </p:nvSpPr>
            <p:spPr bwMode="auto">
              <a:xfrm>
                <a:off x="2200" y="2976"/>
                <a:ext cx="90" cy="499"/>
              </a:xfrm>
              <a:prstGeom prst="can">
                <a:avLst>
                  <a:gd name="adj" fmla="val 138611"/>
                </a:avLst>
              </a:prstGeom>
              <a:solidFill>
                <a:srgbClr val="62B7BE"/>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grpSp>
          <p:nvGrpSpPr>
            <p:cNvPr id="543762" name="Group 37"/>
            <p:cNvGrpSpPr>
              <a:grpSpLocks/>
            </p:cNvGrpSpPr>
            <p:nvPr/>
          </p:nvGrpSpPr>
          <p:grpSpPr bwMode="auto">
            <a:xfrm>
              <a:off x="3243" y="1502"/>
              <a:ext cx="363" cy="384"/>
              <a:chOff x="3152" y="1684"/>
              <a:chExt cx="363" cy="384"/>
            </a:xfrm>
          </p:grpSpPr>
          <p:grpSp>
            <p:nvGrpSpPr>
              <p:cNvPr id="543892" name="Group 38"/>
              <p:cNvGrpSpPr>
                <a:grpSpLocks/>
              </p:cNvGrpSpPr>
              <p:nvPr/>
            </p:nvGrpSpPr>
            <p:grpSpPr bwMode="auto">
              <a:xfrm>
                <a:off x="3152" y="1684"/>
                <a:ext cx="363" cy="44"/>
                <a:chOff x="3152" y="1661"/>
                <a:chExt cx="363" cy="136"/>
              </a:xfrm>
            </p:grpSpPr>
            <p:sp>
              <p:nvSpPr>
                <p:cNvPr id="543904" name="Rectangle 39"/>
                <p:cNvSpPr>
                  <a:spLocks noChangeArrowheads="1"/>
                </p:cNvSpPr>
                <p:nvPr/>
              </p:nvSpPr>
              <p:spPr bwMode="auto">
                <a:xfrm>
                  <a:off x="3152" y="1661"/>
                  <a:ext cx="363" cy="136"/>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rgbClr val="AFF1E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905" name="Line 40"/>
                <p:cNvSpPr>
                  <a:spLocks noChangeShapeType="1"/>
                </p:cNvSpPr>
                <p:nvPr/>
              </p:nvSpPr>
              <p:spPr bwMode="auto">
                <a:xfrm flipV="1">
                  <a:off x="3198"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906" name="Line 41"/>
                <p:cNvSpPr>
                  <a:spLocks noChangeShapeType="1"/>
                </p:cNvSpPr>
                <p:nvPr/>
              </p:nvSpPr>
              <p:spPr bwMode="auto">
                <a:xfrm flipV="1">
                  <a:off x="3243"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907" name="Line 42"/>
                <p:cNvSpPr>
                  <a:spLocks noChangeShapeType="1"/>
                </p:cNvSpPr>
                <p:nvPr/>
              </p:nvSpPr>
              <p:spPr bwMode="auto">
                <a:xfrm flipV="1">
                  <a:off x="3288"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908" name="Line 43"/>
                <p:cNvSpPr>
                  <a:spLocks noChangeShapeType="1"/>
                </p:cNvSpPr>
                <p:nvPr/>
              </p:nvSpPr>
              <p:spPr bwMode="auto">
                <a:xfrm flipV="1">
                  <a:off x="3334"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909" name="Line 44"/>
                <p:cNvSpPr>
                  <a:spLocks noChangeShapeType="1"/>
                </p:cNvSpPr>
                <p:nvPr/>
              </p:nvSpPr>
              <p:spPr bwMode="auto">
                <a:xfrm flipV="1">
                  <a:off x="3379"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910" name="Line 45"/>
                <p:cNvSpPr>
                  <a:spLocks noChangeShapeType="1"/>
                </p:cNvSpPr>
                <p:nvPr/>
              </p:nvSpPr>
              <p:spPr bwMode="auto">
                <a:xfrm flipV="1">
                  <a:off x="3424"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911" name="Line 46"/>
                <p:cNvSpPr>
                  <a:spLocks noChangeShapeType="1"/>
                </p:cNvSpPr>
                <p:nvPr/>
              </p:nvSpPr>
              <p:spPr bwMode="auto">
                <a:xfrm flipV="1">
                  <a:off x="3152"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912" name="Line 47"/>
                <p:cNvSpPr>
                  <a:spLocks noChangeShapeType="1"/>
                </p:cNvSpPr>
                <p:nvPr/>
              </p:nvSpPr>
              <p:spPr bwMode="auto">
                <a:xfrm flipV="1">
                  <a:off x="3378"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43893" name="Group 48"/>
              <p:cNvGrpSpPr>
                <a:grpSpLocks/>
              </p:cNvGrpSpPr>
              <p:nvPr/>
            </p:nvGrpSpPr>
            <p:grpSpPr bwMode="auto">
              <a:xfrm>
                <a:off x="3152" y="2024"/>
                <a:ext cx="363" cy="44"/>
                <a:chOff x="3152" y="1661"/>
                <a:chExt cx="363" cy="136"/>
              </a:xfrm>
            </p:grpSpPr>
            <p:sp>
              <p:nvSpPr>
                <p:cNvPr id="543895" name="Rectangle 49"/>
                <p:cNvSpPr>
                  <a:spLocks noChangeArrowheads="1"/>
                </p:cNvSpPr>
                <p:nvPr/>
              </p:nvSpPr>
              <p:spPr bwMode="auto">
                <a:xfrm>
                  <a:off x="3152" y="1661"/>
                  <a:ext cx="363" cy="136"/>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rgbClr val="AFF1E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896" name="Line 50"/>
                <p:cNvSpPr>
                  <a:spLocks noChangeShapeType="1"/>
                </p:cNvSpPr>
                <p:nvPr/>
              </p:nvSpPr>
              <p:spPr bwMode="auto">
                <a:xfrm flipV="1">
                  <a:off x="3198"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97" name="Line 51"/>
                <p:cNvSpPr>
                  <a:spLocks noChangeShapeType="1"/>
                </p:cNvSpPr>
                <p:nvPr/>
              </p:nvSpPr>
              <p:spPr bwMode="auto">
                <a:xfrm flipV="1">
                  <a:off x="3243"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98" name="Line 52"/>
                <p:cNvSpPr>
                  <a:spLocks noChangeShapeType="1"/>
                </p:cNvSpPr>
                <p:nvPr/>
              </p:nvSpPr>
              <p:spPr bwMode="auto">
                <a:xfrm flipV="1">
                  <a:off x="3288"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99" name="Line 53"/>
                <p:cNvSpPr>
                  <a:spLocks noChangeShapeType="1"/>
                </p:cNvSpPr>
                <p:nvPr/>
              </p:nvSpPr>
              <p:spPr bwMode="auto">
                <a:xfrm flipV="1">
                  <a:off x="3334"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900" name="Line 54"/>
                <p:cNvSpPr>
                  <a:spLocks noChangeShapeType="1"/>
                </p:cNvSpPr>
                <p:nvPr/>
              </p:nvSpPr>
              <p:spPr bwMode="auto">
                <a:xfrm flipV="1">
                  <a:off x="3379"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901" name="Line 55"/>
                <p:cNvSpPr>
                  <a:spLocks noChangeShapeType="1"/>
                </p:cNvSpPr>
                <p:nvPr/>
              </p:nvSpPr>
              <p:spPr bwMode="auto">
                <a:xfrm flipV="1">
                  <a:off x="3424"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902" name="Line 56"/>
                <p:cNvSpPr>
                  <a:spLocks noChangeShapeType="1"/>
                </p:cNvSpPr>
                <p:nvPr/>
              </p:nvSpPr>
              <p:spPr bwMode="auto">
                <a:xfrm flipV="1">
                  <a:off x="3152"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903" name="Line 57"/>
                <p:cNvSpPr>
                  <a:spLocks noChangeShapeType="1"/>
                </p:cNvSpPr>
                <p:nvPr/>
              </p:nvSpPr>
              <p:spPr bwMode="auto">
                <a:xfrm flipV="1">
                  <a:off x="3378"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43894" name="Freeform 58"/>
              <p:cNvSpPr>
                <a:spLocks/>
              </p:cNvSpPr>
              <p:nvPr/>
            </p:nvSpPr>
            <p:spPr bwMode="auto">
              <a:xfrm>
                <a:off x="3198" y="1736"/>
                <a:ext cx="226" cy="271"/>
              </a:xfrm>
              <a:custGeom>
                <a:avLst/>
                <a:gdLst>
                  <a:gd name="T0" fmla="*/ 52 w 272"/>
                  <a:gd name="T1" fmla="*/ 0 h 363"/>
                  <a:gd name="T2" fmla="*/ 0 w 272"/>
                  <a:gd name="T3" fmla="*/ 7 h 363"/>
                  <a:gd name="T4" fmla="*/ 52 w 272"/>
                  <a:gd name="T5" fmla="*/ 7 h 363"/>
                  <a:gd name="T6" fmla="*/ 8 w 272"/>
                  <a:gd name="T7" fmla="*/ 13 h 363"/>
                  <a:gd name="T8" fmla="*/ 43 w 272"/>
                  <a:gd name="T9" fmla="*/ 13 h 363"/>
                  <a:gd name="T10" fmla="*/ 8 w 272"/>
                  <a:gd name="T11" fmla="*/ 19 h 363"/>
                  <a:gd name="T12" fmla="*/ 34 w 272"/>
                  <a:gd name="T13" fmla="*/ 19 h 363"/>
                  <a:gd name="T14" fmla="*/ 17 w 272"/>
                  <a:gd name="T15" fmla="*/ 26 h 36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2" h="363">
                    <a:moveTo>
                      <a:pt x="272" y="0"/>
                    </a:moveTo>
                    <a:lnTo>
                      <a:pt x="0" y="91"/>
                    </a:lnTo>
                    <a:lnTo>
                      <a:pt x="272" y="91"/>
                    </a:lnTo>
                    <a:lnTo>
                      <a:pt x="45" y="181"/>
                    </a:lnTo>
                    <a:lnTo>
                      <a:pt x="226" y="181"/>
                    </a:lnTo>
                    <a:lnTo>
                      <a:pt x="45" y="272"/>
                    </a:lnTo>
                    <a:lnTo>
                      <a:pt x="181" y="272"/>
                    </a:lnTo>
                    <a:lnTo>
                      <a:pt x="90" y="363"/>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43763" name="Text Box 59"/>
            <p:cNvSpPr txBox="1">
              <a:spLocks noChangeArrowheads="1"/>
            </p:cNvSpPr>
            <p:nvPr/>
          </p:nvSpPr>
          <p:spPr bwMode="auto">
            <a:xfrm>
              <a:off x="3606" y="1660"/>
              <a:ext cx="907" cy="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30000"/>
                </a:lnSpc>
                <a:spcBef>
                  <a:spcPct val="50000"/>
                </a:spcBef>
                <a:buFontTx/>
                <a:buNone/>
              </a:pPr>
              <a:r>
                <a:rPr lang="en-US" altLang="en-US" sz="1300"/>
                <a:t>Economizor</a:t>
              </a:r>
              <a:endParaRPr lang="th-TH" altLang="en-US" sz="1300"/>
            </a:p>
          </p:txBody>
        </p:sp>
        <p:sp>
          <p:nvSpPr>
            <p:cNvPr id="543764" name="Text Box 60"/>
            <p:cNvSpPr txBox="1">
              <a:spLocks noChangeArrowheads="1"/>
            </p:cNvSpPr>
            <p:nvPr/>
          </p:nvSpPr>
          <p:spPr bwMode="auto">
            <a:xfrm>
              <a:off x="2926" y="1298"/>
              <a:ext cx="907" cy="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30000"/>
                </a:lnSpc>
                <a:spcBef>
                  <a:spcPct val="50000"/>
                </a:spcBef>
                <a:buFontTx/>
                <a:buNone/>
              </a:pPr>
              <a:r>
                <a:rPr lang="en-US" altLang="en-US" sz="1300"/>
                <a:t>230 c</a:t>
              </a:r>
              <a:r>
                <a:rPr lang="en-US" altLang="en-US" sz="800" baseline="80000"/>
                <a:t>0</a:t>
              </a:r>
              <a:endParaRPr lang="th-TH" altLang="en-US" sz="800" baseline="80000"/>
            </a:p>
          </p:txBody>
        </p:sp>
        <p:grpSp>
          <p:nvGrpSpPr>
            <p:cNvPr id="543765" name="Group 61"/>
            <p:cNvGrpSpPr>
              <a:grpSpLocks/>
            </p:cNvGrpSpPr>
            <p:nvPr/>
          </p:nvGrpSpPr>
          <p:grpSpPr bwMode="auto">
            <a:xfrm rot="10800000">
              <a:off x="2200" y="1988"/>
              <a:ext cx="170" cy="193"/>
              <a:chOff x="1337" y="2613"/>
              <a:chExt cx="228" cy="227"/>
            </a:xfrm>
          </p:grpSpPr>
          <p:sp>
            <p:nvSpPr>
              <p:cNvPr id="543890" name="Oval 62"/>
              <p:cNvSpPr>
                <a:spLocks noChangeArrowheads="1"/>
              </p:cNvSpPr>
              <p:nvPr/>
            </p:nvSpPr>
            <p:spPr bwMode="auto">
              <a:xfrm rot="-5400000">
                <a:off x="1338" y="2613"/>
                <a:ext cx="227" cy="227"/>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891" name="AutoShape 63"/>
              <p:cNvSpPr>
                <a:spLocks noChangeArrowheads="1"/>
              </p:cNvSpPr>
              <p:nvPr/>
            </p:nvSpPr>
            <p:spPr bwMode="auto">
              <a:xfrm rot="-5400000">
                <a:off x="1337" y="2641"/>
                <a:ext cx="181" cy="182"/>
              </a:xfrm>
              <a:prstGeom prst="triangle">
                <a:avLst>
                  <a:gd name="adj" fmla="val 50000"/>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sp>
          <p:nvSpPr>
            <p:cNvPr id="543766" name="Freeform 64"/>
            <p:cNvSpPr>
              <a:spLocks/>
            </p:cNvSpPr>
            <p:nvPr/>
          </p:nvSpPr>
          <p:spPr bwMode="auto">
            <a:xfrm>
              <a:off x="2018" y="1660"/>
              <a:ext cx="182" cy="409"/>
            </a:xfrm>
            <a:custGeom>
              <a:avLst/>
              <a:gdLst>
                <a:gd name="T0" fmla="*/ 0 w 182"/>
                <a:gd name="T1" fmla="*/ 0 h 454"/>
                <a:gd name="T2" fmla="*/ 0 w 182"/>
                <a:gd name="T3" fmla="*/ 177 h 454"/>
                <a:gd name="T4" fmla="*/ 182 w 182"/>
                <a:gd name="T5" fmla="*/ 177 h 454"/>
                <a:gd name="T6" fmla="*/ 0 60000 65536"/>
                <a:gd name="T7" fmla="*/ 0 60000 65536"/>
                <a:gd name="T8" fmla="*/ 0 60000 65536"/>
              </a:gdLst>
              <a:ahLst/>
              <a:cxnLst>
                <a:cxn ang="T6">
                  <a:pos x="T0" y="T1"/>
                </a:cxn>
                <a:cxn ang="T7">
                  <a:pos x="T2" y="T3"/>
                </a:cxn>
                <a:cxn ang="T8">
                  <a:pos x="T4" y="T5"/>
                </a:cxn>
              </a:cxnLst>
              <a:rect l="0" t="0" r="r" b="b"/>
              <a:pathLst>
                <a:path w="182" h="454">
                  <a:moveTo>
                    <a:pt x="0" y="0"/>
                  </a:moveTo>
                  <a:lnTo>
                    <a:pt x="0" y="454"/>
                  </a:lnTo>
                  <a:lnTo>
                    <a:pt x="182" y="454"/>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767" name="Freeform 65"/>
            <p:cNvSpPr>
              <a:spLocks/>
            </p:cNvSpPr>
            <p:nvPr/>
          </p:nvSpPr>
          <p:spPr bwMode="auto">
            <a:xfrm>
              <a:off x="2381" y="1887"/>
              <a:ext cx="1044" cy="192"/>
            </a:xfrm>
            <a:custGeom>
              <a:avLst/>
              <a:gdLst>
                <a:gd name="T0" fmla="*/ 0 w 1044"/>
                <a:gd name="T1" fmla="*/ 295 h 182"/>
                <a:gd name="T2" fmla="*/ 1044 w 1044"/>
                <a:gd name="T3" fmla="*/ 295 h 182"/>
                <a:gd name="T4" fmla="*/ 1044 w 1044"/>
                <a:gd name="T5" fmla="*/ 0 h 182"/>
                <a:gd name="T6" fmla="*/ 0 60000 65536"/>
                <a:gd name="T7" fmla="*/ 0 60000 65536"/>
                <a:gd name="T8" fmla="*/ 0 60000 65536"/>
              </a:gdLst>
              <a:ahLst/>
              <a:cxnLst>
                <a:cxn ang="T6">
                  <a:pos x="T0" y="T1"/>
                </a:cxn>
                <a:cxn ang="T7">
                  <a:pos x="T2" y="T3"/>
                </a:cxn>
                <a:cxn ang="T8">
                  <a:pos x="T4" y="T5"/>
                </a:cxn>
              </a:cxnLst>
              <a:rect l="0" t="0" r="r" b="b"/>
              <a:pathLst>
                <a:path w="1044" h="182">
                  <a:moveTo>
                    <a:pt x="0" y="182"/>
                  </a:moveTo>
                  <a:lnTo>
                    <a:pt x="1044" y="182"/>
                  </a:lnTo>
                  <a:lnTo>
                    <a:pt x="1044" y="0"/>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768" name="Text Box 66"/>
            <p:cNvSpPr txBox="1">
              <a:spLocks noChangeArrowheads="1"/>
            </p:cNvSpPr>
            <p:nvPr/>
          </p:nvSpPr>
          <p:spPr bwMode="auto">
            <a:xfrm>
              <a:off x="2744" y="1887"/>
              <a:ext cx="907" cy="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30000"/>
                </a:lnSpc>
                <a:spcBef>
                  <a:spcPct val="50000"/>
                </a:spcBef>
                <a:buFontTx/>
                <a:buNone/>
              </a:pPr>
              <a:r>
                <a:rPr lang="en-US" altLang="en-US" sz="1300"/>
                <a:t>132 c</a:t>
              </a:r>
              <a:r>
                <a:rPr lang="en-US" altLang="en-US" sz="800" baseline="80000"/>
                <a:t>0</a:t>
              </a:r>
              <a:r>
                <a:rPr lang="en-US" altLang="en-US" sz="1300"/>
                <a:t>,83 bar</a:t>
              </a:r>
              <a:endParaRPr lang="th-TH" altLang="en-US" sz="1300" baseline="30000"/>
            </a:p>
          </p:txBody>
        </p:sp>
        <p:sp>
          <p:nvSpPr>
            <p:cNvPr id="543769" name="Freeform 67"/>
            <p:cNvSpPr>
              <a:spLocks/>
            </p:cNvSpPr>
            <p:nvPr/>
          </p:nvSpPr>
          <p:spPr bwMode="auto">
            <a:xfrm>
              <a:off x="3425" y="1316"/>
              <a:ext cx="842" cy="181"/>
            </a:xfrm>
            <a:custGeom>
              <a:avLst/>
              <a:gdLst>
                <a:gd name="T0" fmla="*/ 0 w 861"/>
                <a:gd name="T1" fmla="*/ 181 h 181"/>
                <a:gd name="T2" fmla="*/ 0 w 861"/>
                <a:gd name="T3" fmla="*/ 0 h 181"/>
                <a:gd name="T4" fmla="*/ 704 w 861"/>
                <a:gd name="T5" fmla="*/ 0 h 181"/>
                <a:gd name="T6" fmla="*/ 0 60000 65536"/>
                <a:gd name="T7" fmla="*/ 0 60000 65536"/>
                <a:gd name="T8" fmla="*/ 0 60000 65536"/>
              </a:gdLst>
              <a:ahLst/>
              <a:cxnLst>
                <a:cxn ang="T6">
                  <a:pos x="T0" y="T1"/>
                </a:cxn>
                <a:cxn ang="T7">
                  <a:pos x="T2" y="T3"/>
                </a:cxn>
                <a:cxn ang="T8">
                  <a:pos x="T4" y="T5"/>
                </a:cxn>
              </a:cxnLst>
              <a:rect l="0" t="0" r="r" b="b"/>
              <a:pathLst>
                <a:path w="861" h="181">
                  <a:moveTo>
                    <a:pt x="0" y="181"/>
                  </a:moveTo>
                  <a:lnTo>
                    <a:pt x="0" y="0"/>
                  </a:lnTo>
                  <a:lnTo>
                    <a:pt x="861" y="0"/>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770" name="Text Box 68"/>
            <p:cNvSpPr txBox="1">
              <a:spLocks noChangeArrowheads="1"/>
            </p:cNvSpPr>
            <p:nvPr/>
          </p:nvSpPr>
          <p:spPr bwMode="auto">
            <a:xfrm>
              <a:off x="4060" y="1485"/>
              <a:ext cx="907" cy="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30000"/>
                </a:lnSpc>
                <a:spcBef>
                  <a:spcPct val="50000"/>
                </a:spcBef>
                <a:buFontTx/>
                <a:buNone/>
              </a:pPr>
              <a:r>
                <a:rPr lang="en-US" altLang="en-US" sz="1300"/>
                <a:t>Steam Pump</a:t>
              </a:r>
              <a:endParaRPr lang="th-TH" altLang="en-US" sz="1300"/>
            </a:p>
          </p:txBody>
        </p:sp>
        <p:sp>
          <p:nvSpPr>
            <p:cNvPr id="543771" name="Text Box 69"/>
            <p:cNvSpPr txBox="1">
              <a:spLocks noChangeArrowheads="1"/>
            </p:cNvSpPr>
            <p:nvPr/>
          </p:nvSpPr>
          <p:spPr bwMode="auto">
            <a:xfrm>
              <a:off x="3833" y="1122"/>
              <a:ext cx="907" cy="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30000"/>
                </a:lnSpc>
                <a:spcBef>
                  <a:spcPct val="50000"/>
                </a:spcBef>
                <a:buFontTx/>
                <a:buNone/>
              </a:pPr>
              <a:r>
                <a:rPr lang="en-US" altLang="en-US" sz="1300"/>
                <a:t>63 bar</a:t>
              </a:r>
              <a:endParaRPr lang="th-TH" altLang="en-US" sz="1300"/>
            </a:p>
          </p:txBody>
        </p:sp>
        <p:sp>
          <p:nvSpPr>
            <p:cNvPr id="543772" name="Freeform 70"/>
            <p:cNvSpPr>
              <a:spLocks/>
            </p:cNvSpPr>
            <p:nvPr/>
          </p:nvSpPr>
          <p:spPr bwMode="auto">
            <a:xfrm>
              <a:off x="4241" y="906"/>
              <a:ext cx="272" cy="319"/>
            </a:xfrm>
            <a:custGeom>
              <a:avLst/>
              <a:gdLst>
                <a:gd name="T0" fmla="*/ 182 w 272"/>
                <a:gd name="T1" fmla="*/ 19 h 454"/>
                <a:gd name="T2" fmla="*/ 0 w 272"/>
                <a:gd name="T3" fmla="*/ 19 h 454"/>
                <a:gd name="T4" fmla="*/ 0 w 272"/>
                <a:gd name="T5" fmla="*/ 0 h 454"/>
                <a:gd name="T6" fmla="*/ 272 w 272"/>
                <a:gd name="T7" fmla="*/ 0 h 45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2" h="454">
                  <a:moveTo>
                    <a:pt x="182" y="454"/>
                  </a:moveTo>
                  <a:lnTo>
                    <a:pt x="0" y="454"/>
                  </a:lnTo>
                  <a:lnTo>
                    <a:pt x="0" y="0"/>
                  </a:lnTo>
                  <a:lnTo>
                    <a:pt x="272" y="0"/>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773" name="Freeform 71"/>
            <p:cNvSpPr>
              <a:spLocks/>
            </p:cNvSpPr>
            <p:nvPr/>
          </p:nvSpPr>
          <p:spPr bwMode="auto">
            <a:xfrm>
              <a:off x="4552" y="812"/>
              <a:ext cx="52" cy="136"/>
            </a:xfrm>
            <a:custGeom>
              <a:avLst/>
              <a:gdLst>
                <a:gd name="T0" fmla="*/ 1 w 104"/>
                <a:gd name="T1" fmla="*/ 0 h 182"/>
                <a:gd name="T2" fmla="*/ 1 w 104"/>
                <a:gd name="T3" fmla="*/ 7 h 182"/>
                <a:gd name="T4" fmla="*/ 1 w 104"/>
                <a:gd name="T5" fmla="*/ 7 h 182"/>
                <a:gd name="T6" fmla="*/ 1 w 104"/>
                <a:gd name="T7" fmla="*/ 10 h 182"/>
                <a:gd name="T8" fmla="*/ 1 w 104"/>
                <a:gd name="T9" fmla="*/ 13 h 1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82">
                  <a:moveTo>
                    <a:pt x="52" y="0"/>
                  </a:moveTo>
                  <a:cubicBezTo>
                    <a:pt x="26" y="38"/>
                    <a:pt x="0" y="76"/>
                    <a:pt x="7" y="91"/>
                  </a:cubicBezTo>
                  <a:cubicBezTo>
                    <a:pt x="14" y="106"/>
                    <a:pt x="90" y="84"/>
                    <a:pt x="97" y="91"/>
                  </a:cubicBezTo>
                  <a:cubicBezTo>
                    <a:pt x="104" y="98"/>
                    <a:pt x="67" y="121"/>
                    <a:pt x="52" y="136"/>
                  </a:cubicBezTo>
                  <a:cubicBezTo>
                    <a:pt x="37" y="151"/>
                    <a:pt x="22" y="166"/>
                    <a:pt x="7" y="182"/>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774" name="Freeform 72"/>
            <p:cNvSpPr>
              <a:spLocks/>
            </p:cNvSpPr>
            <p:nvPr/>
          </p:nvSpPr>
          <p:spPr bwMode="auto">
            <a:xfrm>
              <a:off x="4631" y="812"/>
              <a:ext cx="52" cy="136"/>
            </a:xfrm>
            <a:custGeom>
              <a:avLst/>
              <a:gdLst>
                <a:gd name="T0" fmla="*/ 1 w 104"/>
                <a:gd name="T1" fmla="*/ 0 h 182"/>
                <a:gd name="T2" fmla="*/ 1 w 104"/>
                <a:gd name="T3" fmla="*/ 7 h 182"/>
                <a:gd name="T4" fmla="*/ 1 w 104"/>
                <a:gd name="T5" fmla="*/ 7 h 182"/>
                <a:gd name="T6" fmla="*/ 1 w 104"/>
                <a:gd name="T7" fmla="*/ 10 h 182"/>
                <a:gd name="T8" fmla="*/ 1 w 104"/>
                <a:gd name="T9" fmla="*/ 13 h 1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82">
                  <a:moveTo>
                    <a:pt x="52" y="0"/>
                  </a:moveTo>
                  <a:cubicBezTo>
                    <a:pt x="26" y="38"/>
                    <a:pt x="0" y="76"/>
                    <a:pt x="7" y="91"/>
                  </a:cubicBezTo>
                  <a:cubicBezTo>
                    <a:pt x="14" y="106"/>
                    <a:pt x="90" y="84"/>
                    <a:pt x="97" y="91"/>
                  </a:cubicBezTo>
                  <a:cubicBezTo>
                    <a:pt x="104" y="98"/>
                    <a:pt x="67" y="121"/>
                    <a:pt x="52" y="136"/>
                  </a:cubicBezTo>
                  <a:cubicBezTo>
                    <a:pt x="37" y="151"/>
                    <a:pt x="22" y="166"/>
                    <a:pt x="7" y="182"/>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775" name="Freeform 73"/>
            <p:cNvSpPr>
              <a:spLocks/>
            </p:cNvSpPr>
            <p:nvPr/>
          </p:nvSpPr>
          <p:spPr bwMode="auto">
            <a:xfrm>
              <a:off x="4513" y="1496"/>
              <a:ext cx="408" cy="936"/>
            </a:xfrm>
            <a:custGeom>
              <a:avLst/>
              <a:gdLst>
                <a:gd name="T0" fmla="*/ 408 w 408"/>
                <a:gd name="T1" fmla="*/ 0 h 908"/>
                <a:gd name="T2" fmla="*/ 408 w 408"/>
                <a:gd name="T3" fmla="*/ 1196 h 908"/>
                <a:gd name="T4" fmla="*/ 0 w 408"/>
                <a:gd name="T5" fmla="*/ 1196 h 908"/>
                <a:gd name="T6" fmla="*/ 0 60000 65536"/>
                <a:gd name="T7" fmla="*/ 0 60000 65536"/>
                <a:gd name="T8" fmla="*/ 0 60000 65536"/>
              </a:gdLst>
              <a:ahLst/>
              <a:cxnLst>
                <a:cxn ang="T6">
                  <a:pos x="T0" y="T1"/>
                </a:cxn>
                <a:cxn ang="T7">
                  <a:pos x="T2" y="T3"/>
                </a:cxn>
                <a:cxn ang="T8">
                  <a:pos x="T4" y="T5"/>
                </a:cxn>
              </a:cxnLst>
              <a:rect l="0" t="0" r="r" b="b"/>
              <a:pathLst>
                <a:path w="408" h="908">
                  <a:moveTo>
                    <a:pt x="408" y="0"/>
                  </a:moveTo>
                  <a:lnTo>
                    <a:pt x="408" y="908"/>
                  </a:lnTo>
                  <a:lnTo>
                    <a:pt x="0" y="908"/>
                  </a:lnTo>
                </a:path>
              </a:pathLst>
            </a:custGeom>
            <a:noFill/>
            <a:ln w="9525" cap="flat" cmpd="sng">
              <a:solidFill>
                <a:schemeClr val="tx1"/>
              </a:solidFill>
              <a:prstDash val="solid"/>
              <a:round/>
              <a:headEnd type="none" w="med" len="med"/>
              <a:tailEnd type="triangl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776" name="Freeform 74"/>
            <p:cNvSpPr>
              <a:spLocks/>
            </p:cNvSpPr>
            <p:nvPr/>
          </p:nvSpPr>
          <p:spPr bwMode="auto">
            <a:xfrm>
              <a:off x="4332" y="2658"/>
              <a:ext cx="317" cy="91"/>
            </a:xfrm>
            <a:custGeom>
              <a:avLst/>
              <a:gdLst>
                <a:gd name="T0" fmla="*/ 0 w 317"/>
                <a:gd name="T1" fmla="*/ 0 h 136"/>
                <a:gd name="T2" fmla="*/ 0 w 317"/>
                <a:gd name="T3" fmla="*/ 3 h 136"/>
                <a:gd name="T4" fmla="*/ 317 w 317"/>
                <a:gd name="T5" fmla="*/ 3 h 136"/>
                <a:gd name="T6" fmla="*/ 0 60000 65536"/>
                <a:gd name="T7" fmla="*/ 0 60000 65536"/>
                <a:gd name="T8" fmla="*/ 0 60000 65536"/>
              </a:gdLst>
              <a:ahLst/>
              <a:cxnLst>
                <a:cxn ang="T6">
                  <a:pos x="T0" y="T1"/>
                </a:cxn>
                <a:cxn ang="T7">
                  <a:pos x="T2" y="T3"/>
                </a:cxn>
                <a:cxn ang="T8">
                  <a:pos x="T4" y="T5"/>
                </a:cxn>
              </a:cxnLst>
              <a:rect l="0" t="0" r="r" b="b"/>
              <a:pathLst>
                <a:path w="317" h="136">
                  <a:moveTo>
                    <a:pt x="0" y="0"/>
                  </a:moveTo>
                  <a:lnTo>
                    <a:pt x="0" y="136"/>
                  </a:lnTo>
                  <a:lnTo>
                    <a:pt x="317" y="136"/>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777" name="Text Box 75"/>
            <p:cNvSpPr txBox="1">
              <a:spLocks noChangeArrowheads="1"/>
            </p:cNvSpPr>
            <p:nvPr/>
          </p:nvSpPr>
          <p:spPr bwMode="auto">
            <a:xfrm>
              <a:off x="4604" y="2613"/>
              <a:ext cx="907" cy="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30000"/>
                </a:lnSpc>
                <a:spcBef>
                  <a:spcPct val="50000"/>
                </a:spcBef>
                <a:buFontTx/>
                <a:buNone/>
              </a:pPr>
              <a:r>
                <a:rPr lang="en-US" altLang="en-US" sz="1300"/>
                <a:t>272 c</a:t>
              </a:r>
              <a:r>
                <a:rPr lang="en-US" altLang="en-US" sz="800" baseline="80000"/>
                <a:t>0</a:t>
              </a:r>
              <a:endParaRPr lang="th-TH" altLang="en-US" sz="800" baseline="80000"/>
            </a:p>
          </p:txBody>
        </p:sp>
        <p:sp>
          <p:nvSpPr>
            <p:cNvPr id="543778" name="Text Box 76"/>
            <p:cNvSpPr txBox="1">
              <a:spLocks noChangeArrowheads="1"/>
            </p:cNvSpPr>
            <p:nvPr/>
          </p:nvSpPr>
          <p:spPr bwMode="auto">
            <a:xfrm>
              <a:off x="3878" y="2704"/>
              <a:ext cx="907" cy="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30000"/>
                </a:lnSpc>
                <a:spcBef>
                  <a:spcPct val="50000"/>
                </a:spcBef>
                <a:buFontTx/>
                <a:buNone/>
              </a:pPr>
              <a:r>
                <a:rPr lang="en-US" altLang="en-US" sz="1300"/>
                <a:t>Wall Tube</a:t>
              </a:r>
              <a:endParaRPr lang="th-TH" altLang="en-US" sz="1300"/>
            </a:p>
          </p:txBody>
        </p:sp>
        <p:sp>
          <p:nvSpPr>
            <p:cNvPr id="543779" name="Text Box 77"/>
            <p:cNvSpPr txBox="1">
              <a:spLocks noChangeArrowheads="1"/>
            </p:cNvSpPr>
            <p:nvPr/>
          </p:nvSpPr>
          <p:spPr bwMode="auto">
            <a:xfrm>
              <a:off x="4286" y="2976"/>
              <a:ext cx="907" cy="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30000"/>
                </a:lnSpc>
                <a:spcBef>
                  <a:spcPct val="50000"/>
                </a:spcBef>
                <a:buFontTx/>
                <a:buNone/>
              </a:pPr>
              <a:r>
                <a:rPr lang="en-US" altLang="en-US" sz="1300"/>
                <a:t>Bank Tube</a:t>
              </a:r>
              <a:endParaRPr lang="th-TH" altLang="en-US" sz="1300"/>
            </a:p>
          </p:txBody>
        </p:sp>
        <p:sp>
          <p:nvSpPr>
            <p:cNvPr id="543780" name="Freeform 78"/>
            <p:cNvSpPr>
              <a:spLocks/>
            </p:cNvSpPr>
            <p:nvPr/>
          </p:nvSpPr>
          <p:spPr bwMode="auto">
            <a:xfrm>
              <a:off x="3742" y="2432"/>
              <a:ext cx="544" cy="952"/>
            </a:xfrm>
            <a:custGeom>
              <a:avLst/>
              <a:gdLst>
                <a:gd name="T0" fmla="*/ 408 w 544"/>
                <a:gd name="T1" fmla="*/ 0 h 952"/>
                <a:gd name="T2" fmla="*/ 0 w 544"/>
                <a:gd name="T3" fmla="*/ 0 h 952"/>
                <a:gd name="T4" fmla="*/ 0 w 544"/>
                <a:gd name="T5" fmla="*/ 952 h 952"/>
                <a:gd name="T6" fmla="*/ 544 w 544"/>
                <a:gd name="T7" fmla="*/ 952 h 95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44" h="952">
                  <a:moveTo>
                    <a:pt x="408" y="0"/>
                  </a:moveTo>
                  <a:lnTo>
                    <a:pt x="0" y="0"/>
                  </a:lnTo>
                  <a:lnTo>
                    <a:pt x="0" y="952"/>
                  </a:lnTo>
                  <a:lnTo>
                    <a:pt x="544" y="952"/>
                  </a:lnTo>
                </a:path>
              </a:pathLst>
            </a:custGeom>
            <a:noFill/>
            <a:ln w="9525" cap="flat" cmpd="sng">
              <a:solidFill>
                <a:schemeClr val="tx1"/>
              </a:solidFill>
              <a:prstDash val="solid"/>
              <a:round/>
              <a:headEnd type="none" w="med" len="med"/>
              <a:tailEnd type="triangl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781" name="Freeform 79"/>
            <p:cNvSpPr>
              <a:spLocks/>
            </p:cNvSpPr>
            <p:nvPr/>
          </p:nvSpPr>
          <p:spPr bwMode="auto">
            <a:xfrm>
              <a:off x="4468" y="1035"/>
              <a:ext cx="1088" cy="2349"/>
            </a:xfrm>
            <a:custGeom>
              <a:avLst/>
              <a:gdLst>
                <a:gd name="T0" fmla="*/ 0 w 1088"/>
                <a:gd name="T1" fmla="*/ 128 h 2359"/>
                <a:gd name="T2" fmla="*/ 0 w 1088"/>
                <a:gd name="T3" fmla="*/ 0 h 2359"/>
                <a:gd name="T4" fmla="*/ 1088 w 1088"/>
                <a:gd name="T5" fmla="*/ 0 h 2359"/>
                <a:gd name="T6" fmla="*/ 1088 w 1088"/>
                <a:gd name="T7" fmla="*/ 2269 h 2359"/>
                <a:gd name="T8" fmla="*/ 181 w 1088"/>
                <a:gd name="T9" fmla="*/ 2269 h 23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88" h="2359">
                  <a:moveTo>
                    <a:pt x="0" y="137"/>
                  </a:moveTo>
                  <a:lnTo>
                    <a:pt x="0" y="0"/>
                  </a:lnTo>
                  <a:lnTo>
                    <a:pt x="1088" y="0"/>
                  </a:lnTo>
                  <a:lnTo>
                    <a:pt x="1088" y="2359"/>
                  </a:lnTo>
                  <a:lnTo>
                    <a:pt x="181" y="2359"/>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43782" name="Group 80"/>
            <p:cNvGrpSpPr>
              <a:grpSpLocks/>
            </p:cNvGrpSpPr>
            <p:nvPr/>
          </p:nvGrpSpPr>
          <p:grpSpPr bwMode="auto">
            <a:xfrm>
              <a:off x="1565" y="1071"/>
              <a:ext cx="227" cy="285"/>
              <a:chOff x="1837" y="1298"/>
              <a:chExt cx="181" cy="240"/>
            </a:xfrm>
          </p:grpSpPr>
          <p:sp>
            <p:nvSpPr>
              <p:cNvPr id="543879" name="AutoShape 81"/>
              <p:cNvSpPr>
                <a:spLocks noChangeArrowheads="1"/>
              </p:cNvSpPr>
              <p:nvPr/>
            </p:nvSpPr>
            <p:spPr bwMode="auto">
              <a:xfrm rot="-5400000">
                <a:off x="1808" y="1327"/>
                <a:ext cx="240" cy="181"/>
              </a:xfrm>
              <a:prstGeom prst="flowChartDelay">
                <a:avLst/>
              </a:prstGeom>
              <a:solidFill>
                <a:srgbClr val="33CC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nvGrpSpPr>
              <p:cNvPr id="543880" name="Group 82"/>
              <p:cNvGrpSpPr>
                <a:grpSpLocks/>
              </p:cNvGrpSpPr>
              <p:nvPr/>
            </p:nvGrpSpPr>
            <p:grpSpPr bwMode="auto">
              <a:xfrm>
                <a:off x="1837" y="1389"/>
                <a:ext cx="181" cy="46"/>
                <a:chOff x="1728" y="1298"/>
                <a:chExt cx="363" cy="46"/>
              </a:xfrm>
            </p:grpSpPr>
            <p:sp>
              <p:nvSpPr>
                <p:cNvPr id="543881" name="Line 83"/>
                <p:cNvSpPr>
                  <a:spLocks noChangeShapeType="1"/>
                </p:cNvSpPr>
                <p:nvPr/>
              </p:nvSpPr>
              <p:spPr bwMode="auto">
                <a:xfrm>
                  <a:off x="1746" y="1298"/>
                  <a:ext cx="31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82" name="Line 84"/>
                <p:cNvSpPr>
                  <a:spLocks noChangeShapeType="1"/>
                </p:cNvSpPr>
                <p:nvPr/>
              </p:nvSpPr>
              <p:spPr bwMode="auto">
                <a:xfrm>
                  <a:off x="1728" y="1344"/>
                  <a:ext cx="3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83" name="Line 85"/>
                <p:cNvSpPr>
                  <a:spLocks noChangeShapeType="1"/>
                </p:cNvSpPr>
                <p:nvPr/>
              </p:nvSpPr>
              <p:spPr bwMode="auto">
                <a:xfrm>
                  <a:off x="1791" y="1298"/>
                  <a:ext cx="0" cy="0"/>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84" name="Line 86"/>
                <p:cNvSpPr>
                  <a:spLocks noChangeShapeType="1"/>
                </p:cNvSpPr>
                <p:nvPr/>
              </p:nvSpPr>
              <p:spPr bwMode="auto">
                <a:xfrm>
                  <a:off x="1791" y="1298"/>
                  <a:ext cx="0" cy="46"/>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85" name="Line 87"/>
                <p:cNvSpPr>
                  <a:spLocks noChangeShapeType="1"/>
                </p:cNvSpPr>
                <p:nvPr/>
              </p:nvSpPr>
              <p:spPr bwMode="auto">
                <a:xfrm>
                  <a:off x="1819" y="1298"/>
                  <a:ext cx="0" cy="46"/>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86" name="Line 88"/>
                <p:cNvSpPr>
                  <a:spLocks noChangeShapeType="1"/>
                </p:cNvSpPr>
                <p:nvPr/>
              </p:nvSpPr>
              <p:spPr bwMode="auto">
                <a:xfrm>
                  <a:off x="1882" y="1298"/>
                  <a:ext cx="0" cy="46"/>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87" name="Line 89"/>
                <p:cNvSpPr>
                  <a:spLocks noChangeShapeType="1"/>
                </p:cNvSpPr>
                <p:nvPr/>
              </p:nvSpPr>
              <p:spPr bwMode="auto">
                <a:xfrm>
                  <a:off x="1909" y="1298"/>
                  <a:ext cx="0" cy="46"/>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88" name="Line 90"/>
                <p:cNvSpPr>
                  <a:spLocks noChangeShapeType="1"/>
                </p:cNvSpPr>
                <p:nvPr/>
              </p:nvSpPr>
              <p:spPr bwMode="auto">
                <a:xfrm>
                  <a:off x="1991" y="1298"/>
                  <a:ext cx="0" cy="46"/>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89" name="Line 91"/>
                <p:cNvSpPr>
                  <a:spLocks noChangeShapeType="1"/>
                </p:cNvSpPr>
                <p:nvPr/>
              </p:nvSpPr>
              <p:spPr bwMode="auto">
                <a:xfrm>
                  <a:off x="2018" y="1298"/>
                  <a:ext cx="0" cy="46"/>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grpSp>
          <p:nvGrpSpPr>
            <p:cNvPr id="543783" name="Group 92"/>
            <p:cNvGrpSpPr>
              <a:grpSpLocks/>
            </p:cNvGrpSpPr>
            <p:nvPr/>
          </p:nvGrpSpPr>
          <p:grpSpPr bwMode="auto">
            <a:xfrm>
              <a:off x="1637" y="1234"/>
              <a:ext cx="672" cy="100"/>
              <a:chOff x="1546" y="1416"/>
              <a:chExt cx="672" cy="100"/>
            </a:xfrm>
          </p:grpSpPr>
          <p:sp>
            <p:nvSpPr>
              <p:cNvPr id="543875" name="Line 93"/>
              <p:cNvSpPr>
                <a:spLocks noChangeShapeType="1"/>
              </p:cNvSpPr>
              <p:nvPr/>
            </p:nvSpPr>
            <p:spPr bwMode="auto">
              <a:xfrm>
                <a:off x="1579" y="1516"/>
                <a:ext cx="63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43876" name="Group 94"/>
              <p:cNvGrpSpPr>
                <a:grpSpLocks/>
              </p:cNvGrpSpPr>
              <p:nvPr/>
            </p:nvGrpSpPr>
            <p:grpSpPr bwMode="auto">
              <a:xfrm>
                <a:off x="1546" y="1416"/>
                <a:ext cx="69" cy="100"/>
                <a:chOff x="2426" y="2478"/>
                <a:chExt cx="91" cy="136"/>
              </a:xfrm>
            </p:grpSpPr>
            <p:sp>
              <p:nvSpPr>
                <p:cNvPr id="543877" name="Freeform 95"/>
                <p:cNvSpPr>
                  <a:spLocks/>
                </p:cNvSpPr>
                <p:nvPr/>
              </p:nvSpPr>
              <p:spPr bwMode="auto">
                <a:xfrm>
                  <a:off x="2426" y="2478"/>
                  <a:ext cx="46" cy="136"/>
                </a:xfrm>
                <a:custGeom>
                  <a:avLst/>
                  <a:gdLst>
                    <a:gd name="T0" fmla="*/ 0 w 46"/>
                    <a:gd name="T1" fmla="*/ 45 h 136"/>
                    <a:gd name="T2" fmla="*/ 46 w 46"/>
                    <a:gd name="T3" fmla="*/ 136 h 136"/>
                    <a:gd name="T4" fmla="*/ 46 w 46"/>
                    <a:gd name="T5" fmla="*/ 0 h 136"/>
                    <a:gd name="T6" fmla="*/ 0 60000 65536"/>
                    <a:gd name="T7" fmla="*/ 0 60000 65536"/>
                    <a:gd name="T8" fmla="*/ 0 60000 65536"/>
                  </a:gdLst>
                  <a:ahLst/>
                  <a:cxnLst>
                    <a:cxn ang="T6">
                      <a:pos x="T0" y="T1"/>
                    </a:cxn>
                    <a:cxn ang="T7">
                      <a:pos x="T2" y="T3"/>
                    </a:cxn>
                    <a:cxn ang="T8">
                      <a:pos x="T4" y="T5"/>
                    </a:cxn>
                  </a:cxnLst>
                  <a:rect l="0" t="0" r="r" b="b"/>
                  <a:pathLst>
                    <a:path w="46" h="136">
                      <a:moveTo>
                        <a:pt x="0" y="45"/>
                      </a:moveTo>
                      <a:lnTo>
                        <a:pt x="46" y="136"/>
                      </a:lnTo>
                      <a:lnTo>
                        <a:pt x="46" y="0"/>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78" name="Line 96"/>
                <p:cNvSpPr>
                  <a:spLocks noChangeShapeType="1"/>
                </p:cNvSpPr>
                <p:nvPr/>
              </p:nvSpPr>
              <p:spPr bwMode="auto">
                <a:xfrm flipV="1">
                  <a:off x="2472" y="2523"/>
                  <a:ext cx="45" cy="9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grpSp>
          <p:nvGrpSpPr>
            <p:cNvPr id="543784" name="Group 97"/>
            <p:cNvGrpSpPr>
              <a:grpSpLocks/>
            </p:cNvGrpSpPr>
            <p:nvPr/>
          </p:nvGrpSpPr>
          <p:grpSpPr bwMode="auto">
            <a:xfrm>
              <a:off x="1383" y="1356"/>
              <a:ext cx="862" cy="305"/>
              <a:chOff x="1292" y="1538"/>
              <a:chExt cx="862" cy="305"/>
            </a:xfrm>
          </p:grpSpPr>
          <p:sp>
            <p:nvSpPr>
              <p:cNvPr id="543865" name="AutoShape 98"/>
              <p:cNvSpPr>
                <a:spLocks noChangeArrowheads="1"/>
              </p:cNvSpPr>
              <p:nvPr/>
            </p:nvSpPr>
            <p:spPr bwMode="auto">
              <a:xfrm>
                <a:off x="1292" y="1538"/>
                <a:ext cx="862" cy="305"/>
              </a:xfrm>
              <a:prstGeom prst="flowChartTerminator">
                <a:avLst/>
              </a:prstGeom>
              <a:solidFill>
                <a:srgbClr val="33CC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866" name="Freeform 99"/>
              <p:cNvSpPr>
                <a:spLocks/>
              </p:cNvSpPr>
              <p:nvPr/>
            </p:nvSpPr>
            <p:spPr bwMode="auto">
              <a:xfrm>
                <a:off x="1294" y="1652"/>
                <a:ext cx="849" cy="48"/>
              </a:xfrm>
              <a:custGeom>
                <a:avLst/>
                <a:gdLst>
                  <a:gd name="T0" fmla="*/ 0 w 849"/>
                  <a:gd name="T1" fmla="*/ 19 h 48"/>
                  <a:gd name="T2" fmla="*/ 141 w 849"/>
                  <a:gd name="T3" fmla="*/ 10 h 48"/>
                  <a:gd name="T4" fmla="*/ 207 w 849"/>
                  <a:gd name="T5" fmla="*/ 19 h 48"/>
                  <a:gd name="T6" fmla="*/ 255 w 849"/>
                  <a:gd name="T7" fmla="*/ 29 h 48"/>
                  <a:gd name="T8" fmla="*/ 340 w 849"/>
                  <a:gd name="T9" fmla="*/ 10 h 48"/>
                  <a:gd name="T10" fmla="*/ 519 w 849"/>
                  <a:gd name="T11" fmla="*/ 29 h 48"/>
                  <a:gd name="T12" fmla="*/ 642 w 849"/>
                  <a:gd name="T13" fmla="*/ 10 h 48"/>
                  <a:gd name="T14" fmla="*/ 849 w 849"/>
                  <a:gd name="T15" fmla="*/ 0 h 4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49" h="48">
                    <a:moveTo>
                      <a:pt x="0" y="19"/>
                    </a:moveTo>
                    <a:cubicBezTo>
                      <a:pt x="51" y="30"/>
                      <a:pt x="91" y="26"/>
                      <a:pt x="141" y="10"/>
                    </a:cubicBezTo>
                    <a:cubicBezTo>
                      <a:pt x="199" y="48"/>
                      <a:pt x="139" y="19"/>
                      <a:pt x="207" y="19"/>
                    </a:cubicBezTo>
                    <a:cubicBezTo>
                      <a:pt x="223" y="19"/>
                      <a:pt x="239" y="26"/>
                      <a:pt x="255" y="29"/>
                    </a:cubicBezTo>
                    <a:cubicBezTo>
                      <a:pt x="284" y="24"/>
                      <a:pt x="311" y="10"/>
                      <a:pt x="340" y="10"/>
                    </a:cubicBezTo>
                    <a:cubicBezTo>
                      <a:pt x="400" y="10"/>
                      <a:pt x="459" y="25"/>
                      <a:pt x="519" y="29"/>
                    </a:cubicBezTo>
                    <a:cubicBezTo>
                      <a:pt x="564" y="43"/>
                      <a:pt x="599" y="23"/>
                      <a:pt x="642" y="10"/>
                    </a:cubicBezTo>
                    <a:cubicBezTo>
                      <a:pt x="715" y="27"/>
                      <a:pt x="781" y="38"/>
                      <a:pt x="849" y="0"/>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67" name="Line 100"/>
              <p:cNvSpPr>
                <a:spLocks noChangeShapeType="1"/>
              </p:cNvSpPr>
              <p:nvPr/>
            </p:nvSpPr>
            <p:spPr bwMode="auto">
              <a:xfrm flipV="1">
                <a:off x="1338" y="1699"/>
                <a:ext cx="91" cy="53"/>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68" name="Line 101"/>
              <p:cNvSpPr>
                <a:spLocks noChangeShapeType="1"/>
              </p:cNvSpPr>
              <p:nvPr/>
            </p:nvSpPr>
            <p:spPr bwMode="auto">
              <a:xfrm flipV="1">
                <a:off x="1429" y="1706"/>
                <a:ext cx="91" cy="53"/>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69" name="Line 102"/>
              <p:cNvSpPr>
                <a:spLocks noChangeShapeType="1"/>
              </p:cNvSpPr>
              <p:nvPr/>
            </p:nvSpPr>
            <p:spPr bwMode="auto">
              <a:xfrm flipV="1">
                <a:off x="1519" y="1706"/>
                <a:ext cx="91" cy="53"/>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70" name="Line 103"/>
              <p:cNvSpPr>
                <a:spLocks noChangeShapeType="1"/>
              </p:cNvSpPr>
              <p:nvPr/>
            </p:nvSpPr>
            <p:spPr bwMode="auto">
              <a:xfrm flipV="1">
                <a:off x="1610" y="1706"/>
                <a:ext cx="91" cy="53"/>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71" name="Line 104"/>
              <p:cNvSpPr>
                <a:spLocks noChangeShapeType="1"/>
              </p:cNvSpPr>
              <p:nvPr/>
            </p:nvSpPr>
            <p:spPr bwMode="auto">
              <a:xfrm flipV="1">
                <a:off x="1701" y="1706"/>
                <a:ext cx="91" cy="53"/>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72" name="Line 105"/>
              <p:cNvSpPr>
                <a:spLocks noChangeShapeType="1"/>
              </p:cNvSpPr>
              <p:nvPr/>
            </p:nvSpPr>
            <p:spPr bwMode="auto">
              <a:xfrm flipV="1">
                <a:off x="1791" y="1706"/>
                <a:ext cx="91" cy="53"/>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73" name="Line 106"/>
              <p:cNvSpPr>
                <a:spLocks noChangeShapeType="1"/>
              </p:cNvSpPr>
              <p:nvPr/>
            </p:nvSpPr>
            <p:spPr bwMode="auto">
              <a:xfrm flipV="1">
                <a:off x="1882" y="1706"/>
                <a:ext cx="91" cy="53"/>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74" name="Line 107"/>
              <p:cNvSpPr>
                <a:spLocks noChangeShapeType="1"/>
              </p:cNvSpPr>
              <p:nvPr/>
            </p:nvSpPr>
            <p:spPr bwMode="auto">
              <a:xfrm flipV="1">
                <a:off x="1973" y="1699"/>
                <a:ext cx="91" cy="53"/>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43785" name="Text Box 108"/>
            <p:cNvSpPr txBox="1">
              <a:spLocks noChangeArrowheads="1"/>
            </p:cNvSpPr>
            <p:nvPr/>
          </p:nvSpPr>
          <p:spPr bwMode="auto">
            <a:xfrm>
              <a:off x="1474" y="2117"/>
              <a:ext cx="952" cy="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10000"/>
                </a:lnSpc>
                <a:spcBef>
                  <a:spcPct val="50000"/>
                </a:spcBef>
                <a:buFontTx/>
                <a:buNone/>
              </a:pPr>
              <a:r>
                <a:rPr lang="en-US" altLang="en-US" sz="1300"/>
                <a:t>130 c</a:t>
              </a:r>
              <a:r>
                <a:rPr lang="en-US" altLang="en-US" sz="800" baseline="80000"/>
                <a:t>0</a:t>
              </a:r>
              <a:r>
                <a:rPr lang="en-US" altLang="en-US" sz="1300"/>
                <a:t>, 18 bar</a:t>
              </a:r>
              <a:endParaRPr lang="th-TH" altLang="en-US" sz="1300"/>
            </a:p>
          </p:txBody>
        </p:sp>
        <p:sp>
          <p:nvSpPr>
            <p:cNvPr id="543786" name="Text Box 109"/>
            <p:cNvSpPr txBox="1">
              <a:spLocks noChangeArrowheads="1"/>
            </p:cNvSpPr>
            <p:nvPr/>
          </p:nvSpPr>
          <p:spPr bwMode="auto">
            <a:xfrm>
              <a:off x="2200" y="2159"/>
              <a:ext cx="1179" cy="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10000"/>
                </a:lnSpc>
                <a:spcBef>
                  <a:spcPct val="50000"/>
                </a:spcBef>
                <a:buFontTx/>
                <a:buNone/>
              </a:pPr>
              <a:r>
                <a:rPr lang="en-US" altLang="en-US" sz="1500"/>
                <a:t>Feed Water Pump</a:t>
              </a:r>
              <a:endParaRPr lang="th-TH" altLang="en-US" sz="1500"/>
            </a:p>
          </p:txBody>
        </p:sp>
        <p:sp>
          <p:nvSpPr>
            <p:cNvPr id="543787" name="AutoShape 110"/>
            <p:cNvSpPr>
              <a:spLocks noChangeArrowheads="1"/>
            </p:cNvSpPr>
            <p:nvPr/>
          </p:nvSpPr>
          <p:spPr bwMode="auto">
            <a:xfrm>
              <a:off x="1988" y="3052"/>
              <a:ext cx="392" cy="105"/>
            </a:xfrm>
            <a:prstGeom prst="flowChartOnlineStorage">
              <a:avLst/>
            </a:prstGeom>
            <a:solidFill>
              <a:srgbClr val="0099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788" name="Freeform 111"/>
            <p:cNvSpPr>
              <a:spLocks/>
            </p:cNvSpPr>
            <p:nvPr/>
          </p:nvSpPr>
          <p:spPr bwMode="auto">
            <a:xfrm>
              <a:off x="2324" y="3051"/>
              <a:ext cx="57" cy="73"/>
            </a:xfrm>
            <a:custGeom>
              <a:avLst/>
              <a:gdLst>
                <a:gd name="T0" fmla="*/ 0 w 66"/>
                <a:gd name="T1" fmla="*/ 9 h 94"/>
                <a:gd name="T2" fmla="*/ 17 w 66"/>
                <a:gd name="T3" fmla="*/ 4 h 94"/>
                <a:gd name="T4" fmla="*/ 12 w 66"/>
                <a:gd name="T5" fmla="*/ 0 h 94"/>
                <a:gd name="T6" fmla="*/ 0 60000 65536"/>
                <a:gd name="T7" fmla="*/ 0 60000 65536"/>
                <a:gd name="T8" fmla="*/ 0 60000 65536"/>
              </a:gdLst>
              <a:ahLst/>
              <a:cxnLst>
                <a:cxn ang="T6">
                  <a:pos x="T0" y="T1"/>
                </a:cxn>
                <a:cxn ang="T7">
                  <a:pos x="T2" y="T3"/>
                </a:cxn>
                <a:cxn ang="T8">
                  <a:pos x="T4" y="T5"/>
                </a:cxn>
              </a:cxnLst>
              <a:rect l="0" t="0" r="r" b="b"/>
              <a:pathLst>
                <a:path w="66" h="94">
                  <a:moveTo>
                    <a:pt x="0" y="94"/>
                  </a:moveTo>
                  <a:cubicBezTo>
                    <a:pt x="38" y="82"/>
                    <a:pt x="54" y="76"/>
                    <a:pt x="66" y="37"/>
                  </a:cubicBezTo>
                  <a:cubicBezTo>
                    <a:pt x="56" y="5"/>
                    <a:pt x="64" y="16"/>
                    <a:pt x="48" y="0"/>
                  </a:cubicBezTo>
                </a:path>
              </a:pathLst>
            </a:custGeom>
            <a:solidFill>
              <a:srgbClr val="0099FF"/>
            </a:solidFill>
            <a:ln w="9525">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43789" name="Group 112"/>
            <p:cNvGrpSpPr>
              <a:grpSpLocks/>
            </p:cNvGrpSpPr>
            <p:nvPr/>
          </p:nvGrpSpPr>
          <p:grpSpPr bwMode="auto">
            <a:xfrm>
              <a:off x="376" y="2674"/>
              <a:ext cx="272" cy="292"/>
              <a:chOff x="3152" y="1684"/>
              <a:chExt cx="363" cy="384"/>
            </a:xfrm>
          </p:grpSpPr>
          <p:grpSp>
            <p:nvGrpSpPr>
              <p:cNvPr id="543844" name="Group 113"/>
              <p:cNvGrpSpPr>
                <a:grpSpLocks/>
              </p:cNvGrpSpPr>
              <p:nvPr/>
            </p:nvGrpSpPr>
            <p:grpSpPr bwMode="auto">
              <a:xfrm>
                <a:off x="3152" y="1684"/>
                <a:ext cx="363" cy="44"/>
                <a:chOff x="3152" y="1661"/>
                <a:chExt cx="363" cy="136"/>
              </a:xfrm>
            </p:grpSpPr>
            <p:sp>
              <p:nvSpPr>
                <p:cNvPr id="543856" name="Rectangle 114"/>
                <p:cNvSpPr>
                  <a:spLocks noChangeArrowheads="1"/>
                </p:cNvSpPr>
                <p:nvPr/>
              </p:nvSpPr>
              <p:spPr bwMode="auto">
                <a:xfrm>
                  <a:off x="3152" y="1661"/>
                  <a:ext cx="363" cy="136"/>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rgbClr val="AFF1E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857" name="Line 115"/>
                <p:cNvSpPr>
                  <a:spLocks noChangeShapeType="1"/>
                </p:cNvSpPr>
                <p:nvPr/>
              </p:nvSpPr>
              <p:spPr bwMode="auto">
                <a:xfrm flipV="1">
                  <a:off x="3198"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58" name="Line 116"/>
                <p:cNvSpPr>
                  <a:spLocks noChangeShapeType="1"/>
                </p:cNvSpPr>
                <p:nvPr/>
              </p:nvSpPr>
              <p:spPr bwMode="auto">
                <a:xfrm flipV="1">
                  <a:off x="3243"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59" name="Line 117"/>
                <p:cNvSpPr>
                  <a:spLocks noChangeShapeType="1"/>
                </p:cNvSpPr>
                <p:nvPr/>
              </p:nvSpPr>
              <p:spPr bwMode="auto">
                <a:xfrm flipV="1">
                  <a:off x="3288"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60" name="Line 118"/>
                <p:cNvSpPr>
                  <a:spLocks noChangeShapeType="1"/>
                </p:cNvSpPr>
                <p:nvPr/>
              </p:nvSpPr>
              <p:spPr bwMode="auto">
                <a:xfrm flipV="1">
                  <a:off x="3334"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61" name="Line 119"/>
                <p:cNvSpPr>
                  <a:spLocks noChangeShapeType="1"/>
                </p:cNvSpPr>
                <p:nvPr/>
              </p:nvSpPr>
              <p:spPr bwMode="auto">
                <a:xfrm flipV="1">
                  <a:off x="3379"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62" name="Line 120"/>
                <p:cNvSpPr>
                  <a:spLocks noChangeShapeType="1"/>
                </p:cNvSpPr>
                <p:nvPr/>
              </p:nvSpPr>
              <p:spPr bwMode="auto">
                <a:xfrm flipV="1">
                  <a:off x="3424"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63" name="Line 121"/>
                <p:cNvSpPr>
                  <a:spLocks noChangeShapeType="1"/>
                </p:cNvSpPr>
                <p:nvPr/>
              </p:nvSpPr>
              <p:spPr bwMode="auto">
                <a:xfrm flipV="1">
                  <a:off x="3152"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64" name="Line 122"/>
                <p:cNvSpPr>
                  <a:spLocks noChangeShapeType="1"/>
                </p:cNvSpPr>
                <p:nvPr/>
              </p:nvSpPr>
              <p:spPr bwMode="auto">
                <a:xfrm flipV="1">
                  <a:off x="3378"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43845" name="Group 123"/>
              <p:cNvGrpSpPr>
                <a:grpSpLocks/>
              </p:cNvGrpSpPr>
              <p:nvPr/>
            </p:nvGrpSpPr>
            <p:grpSpPr bwMode="auto">
              <a:xfrm>
                <a:off x="3152" y="2024"/>
                <a:ext cx="363" cy="44"/>
                <a:chOff x="3152" y="1661"/>
                <a:chExt cx="363" cy="136"/>
              </a:xfrm>
            </p:grpSpPr>
            <p:sp>
              <p:nvSpPr>
                <p:cNvPr id="543847" name="Rectangle 124"/>
                <p:cNvSpPr>
                  <a:spLocks noChangeArrowheads="1"/>
                </p:cNvSpPr>
                <p:nvPr/>
              </p:nvSpPr>
              <p:spPr bwMode="auto">
                <a:xfrm>
                  <a:off x="3152" y="1661"/>
                  <a:ext cx="363" cy="136"/>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rgbClr val="AFF1E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848" name="Line 125"/>
                <p:cNvSpPr>
                  <a:spLocks noChangeShapeType="1"/>
                </p:cNvSpPr>
                <p:nvPr/>
              </p:nvSpPr>
              <p:spPr bwMode="auto">
                <a:xfrm flipV="1">
                  <a:off x="3198"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49" name="Line 126"/>
                <p:cNvSpPr>
                  <a:spLocks noChangeShapeType="1"/>
                </p:cNvSpPr>
                <p:nvPr/>
              </p:nvSpPr>
              <p:spPr bwMode="auto">
                <a:xfrm flipV="1">
                  <a:off x="3243"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50" name="Line 127"/>
                <p:cNvSpPr>
                  <a:spLocks noChangeShapeType="1"/>
                </p:cNvSpPr>
                <p:nvPr/>
              </p:nvSpPr>
              <p:spPr bwMode="auto">
                <a:xfrm flipV="1">
                  <a:off x="3288"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51" name="Line 128"/>
                <p:cNvSpPr>
                  <a:spLocks noChangeShapeType="1"/>
                </p:cNvSpPr>
                <p:nvPr/>
              </p:nvSpPr>
              <p:spPr bwMode="auto">
                <a:xfrm flipV="1">
                  <a:off x="3334"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52" name="Line 129"/>
                <p:cNvSpPr>
                  <a:spLocks noChangeShapeType="1"/>
                </p:cNvSpPr>
                <p:nvPr/>
              </p:nvSpPr>
              <p:spPr bwMode="auto">
                <a:xfrm flipV="1">
                  <a:off x="3379"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53" name="Line 130"/>
                <p:cNvSpPr>
                  <a:spLocks noChangeShapeType="1"/>
                </p:cNvSpPr>
                <p:nvPr/>
              </p:nvSpPr>
              <p:spPr bwMode="auto">
                <a:xfrm flipV="1">
                  <a:off x="3424"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54" name="Line 131"/>
                <p:cNvSpPr>
                  <a:spLocks noChangeShapeType="1"/>
                </p:cNvSpPr>
                <p:nvPr/>
              </p:nvSpPr>
              <p:spPr bwMode="auto">
                <a:xfrm flipV="1">
                  <a:off x="3152"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55" name="Line 132"/>
                <p:cNvSpPr>
                  <a:spLocks noChangeShapeType="1"/>
                </p:cNvSpPr>
                <p:nvPr/>
              </p:nvSpPr>
              <p:spPr bwMode="auto">
                <a:xfrm flipV="1">
                  <a:off x="3378"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43846" name="Freeform 133"/>
              <p:cNvSpPr>
                <a:spLocks/>
              </p:cNvSpPr>
              <p:nvPr/>
            </p:nvSpPr>
            <p:spPr bwMode="auto">
              <a:xfrm>
                <a:off x="3198" y="1736"/>
                <a:ext cx="226" cy="271"/>
              </a:xfrm>
              <a:custGeom>
                <a:avLst/>
                <a:gdLst>
                  <a:gd name="T0" fmla="*/ 52 w 272"/>
                  <a:gd name="T1" fmla="*/ 0 h 363"/>
                  <a:gd name="T2" fmla="*/ 0 w 272"/>
                  <a:gd name="T3" fmla="*/ 7 h 363"/>
                  <a:gd name="T4" fmla="*/ 52 w 272"/>
                  <a:gd name="T5" fmla="*/ 7 h 363"/>
                  <a:gd name="T6" fmla="*/ 8 w 272"/>
                  <a:gd name="T7" fmla="*/ 13 h 363"/>
                  <a:gd name="T8" fmla="*/ 43 w 272"/>
                  <a:gd name="T9" fmla="*/ 13 h 363"/>
                  <a:gd name="T10" fmla="*/ 8 w 272"/>
                  <a:gd name="T11" fmla="*/ 19 h 363"/>
                  <a:gd name="T12" fmla="*/ 34 w 272"/>
                  <a:gd name="T13" fmla="*/ 19 h 363"/>
                  <a:gd name="T14" fmla="*/ 17 w 272"/>
                  <a:gd name="T15" fmla="*/ 26 h 36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2" h="363">
                    <a:moveTo>
                      <a:pt x="272" y="0"/>
                    </a:moveTo>
                    <a:lnTo>
                      <a:pt x="0" y="91"/>
                    </a:lnTo>
                    <a:lnTo>
                      <a:pt x="272" y="91"/>
                    </a:lnTo>
                    <a:lnTo>
                      <a:pt x="45" y="181"/>
                    </a:lnTo>
                    <a:lnTo>
                      <a:pt x="226" y="181"/>
                    </a:lnTo>
                    <a:lnTo>
                      <a:pt x="45" y="272"/>
                    </a:lnTo>
                    <a:lnTo>
                      <a:pt x="181" y="272"/>
                    </a:lnTo>
                    <a:lnTo>
                      <a:pt x="90" y="363"/>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43790" name="Rectangle 134"/>
            <p:cNvSpPr>
              <a:spLocks noChangeArrowheads="1"/>
            </p:cNvSpPr>
            <p:nvPr/>
          </p:nvSpPr>
          <p:spPr bwMode="auto">
            <a:xfrm>
              <a:off x="431" y="3082"/>
              <a:ext cx="136" cy="272"/>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nvGrpSpPr>
            <p:cNvPr id="543791" name="Group 135"/>
            <p:cNvGrpSpPr>
              <a:grpSpLocks/>
            </p:cNvGrpSpPr>
            <p:nvPr/>
          </p:nvGrpSpPr>
          <p:grpSpPr bwMode="auto">
            <a:xfrm>
              <a:off x="385" y="3536"/>
              <a:ext cx="272" cy="292"/>
              <a:chOff x="3152" y="1684"/>
              <a:chExt cx="363" cy="384"/>
            </a:xfrm>
          </p:grpSpPr>
          <p:grpSp>
            <p:nvGrpSpPr>
              <p:cNvPr id="543823" name="Group 136"/>
              <p:cNvGrpSpPr>
                <a:grpSpLocks/>
              </p:cNvGrpSpPr>
              <p:nvPr/>
            </p:nvGrpSpPr>
            <p:grpSpPr bwMode="auto">
              <a:xfrm>
                <a:off x="3152" y="1684"/>
                <a:ext cx="363" cy="44"/>
                <a:chOff x="3152" y="1661"/>
                <a:chExt cx="363" cy="136"/>
              </a:xfrm>
            </p:grpSpPr>
            <p:sp>
              <p:nvSpPr>
                <p:cNvPr id="543835" name="Rectangle 137"/>
                <p:cNvSpPr>
                  <a:spLocks noChangeArrowheads="1"/>
                </p:cNvSpPr>
                <p:nvPr/>
              </p:nvSpPr>
              <p:spPr bwMode="auto">
                <a:xfrm>
                  <a:off x="3152" y="1661"/>
                  <a:ext cx="363" cy="136"/>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rgbClr val="AFF1E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836" name="Line 138"/>
                <p:cNvSpPr>
                  <a:spLocks noChangeShapeType="1"/>
                </p:cNvSpPr>
                <p:nvPr/>
              </p:nvSpPr>
              <p:spPr bwMode="auto">
                <a:xfrm flipV="1">
                  <a:off x="3198"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37" name="Line 139"/>
                <p:cNvSpPr>
                  <a:spLocks noChangeShapeType="1"/>
                </p:cNvSpPr>
                <p:nvPr/>
              </p:nvSpPr>
              <p:spPr bwMode="auto">
                <a:xfrm flipV="1">
                  <a:off x="3243"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38" name="Line 140"/>
                <p:cNvSpPr>
                  <a:spLocks noChangeShapeType="1"/>
                </p:cNvSpPr>
                <p:nvPr/>
              </p:nvSpPr>
              <p:spPr bwMode="auto">
                <a:xfrm flipV="1">
                  <a:off x="3288"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39" name="Line 141"/>
                <p:cNvSpPr>
                  <a:spLocks noChangeShapeType="1"/>
                </p:cNvSpPr>
                <p:nvPr/>
              </p:nvSpPr>
              <p:spPr bwMode="auto">
                <a:xfrm flipV="1">
                  <a:off x="3334"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40" name="Line 142"/>
                <p:cNvSpPr>
                  <a:spLocks noChangeShapeType="1"/>
                </p:cNvSpPr>
                <p:nvPr/>
              </p:nvSpPr>
              <p:spPr bwMode="auto">
                <a:xfrm flipV="1">
                  <a:off x="3379"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41" name="Line 143"/>
                <p:cNvSpPr>
                  <a:spLocks noChangeShapeType="1"/>
                </p:cNvSpPr>
                <p:nvPr/>
              </p:nvSpPr>
              <p:spPr bwMode="auto">
                <a:xfrm flipV="1">
                  <a:off x="3424"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42" name="Line 144"/>
                <p:cNvSpPr>
                  <a:spLocks noChangeShapeType="1"/>
                </p:cNvSpPr>
                <p:nvPr/>
              </p:nvSpPr>
              <p:spPr bwMode="auto">
                <a:xfrm flipV="1">
                  <a:off x="3152"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43" name="Line 145"/>
                <p:cNvSpPr>
                  <a:spLocks noChangeShapeType="1"/>
                </p:cNvSpPr>
                <p:nvPr/>
              </p:nvSpPr>
              <p:spPr bwMode="auto">
                <a:xfrm flipV="1">
                  <a:off x="3378"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43824" name="Group 146"/>
              <p:cNvGrpSpPr>
                <a:grpSpLocks/>
              </p:cNvGrpSpPr>
              <p:nvPr/>
            </p:nvGrpSpPr>
            <p:grpSpPr bwMode="auto">
              <a:xfrm>
                <a:off x="3152" y="2024"/>
                <a:ext cx="363" cy="44"/>
                <a:chOff x="3152" y="1661"/>
                <a:chExt cx="363" cy="136"/>
              </a:xfrm>
            </p:grpSpPr>
            <p:sp>
              <p:nvSpPr>
                <p:cNvPr id="543826" name="Rectangle 147"/>
                <p:cNvSpPr>
                  <a:spLocks noChangeArrowheads="1"/>
                </p:cNvSpPr>
                <p:nvPr/>
              </p:nvSpPr>
              <p:spPr bwMode="auto">
                <a:xfrm>
                  <a:off x="3152" y="1661"/>
                  <a:ext cx="363" cy="136"/>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rgbClr val="AFF1E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827" name="Line 148"/>
                <p:cNvSpPr>
                  <a:spLocks noChangeShapeType="1"/>
                </p:cNvSpPr>
                <p:nvPr/>
              </p:nvSpPr>
              <p:spPr bwMode="auto">
                <a:xfrm flipV="1">
                  <a:off x="3198"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28" name="Line 149"/>
                <p:cNvSpPr>
                  <a:spLocks noChangeShapeType="1"/>
                </p:cNvSpPr>
                <p:nvPr/>
              </p:nvSpPr>
              <p:spPr bwMode="auto">
                <a:xfrm flipV="1">
                  <a:off x="3243"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29" name="Line 150"/>
                <p:cNvSpPr>
                  <a:spLocks noChangeShapeType="1"/>
                </p:cNvSpPr>
                <p:nvPr/>
              </p:nvSpPr>
              <p:spPr bwMode="auto">
                <a:xfrm flipV="1">
                  <a:off x="3288"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30" name="Line 151"/>
                <p:cNvSpPr>
                  <a:spLocks noChangeShapeType="1"/>
                </p:cNvSpPr>
                <p:nvPr/>
              </p:nvSpPr>
              <p:spPr bwMode="auto">
                <a:xfrm flipV="1">
                  <a:off x="3334"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31" name="Line 152"/>
                <p:cNvSpPr>
                  <a:spLocks noChangeShapeType="1"/>
                </p:cNvSpPr>
                <p:nvPr/>
              </p:nvSpPr>
              <p:spPr bwMode="auto">
                <a:xfrm flipV="1">
                  <a:off x="3379"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32" name="Line 153"/>
                <p:cNvSpPr>
                  <a:spLocks noChangeShapeType="1"/>
                </p:cNvSpPr>
                <p:nvPr/>
              </p:nvSpPr>
              <p:spPr bwMode="auto">
                <a:xfrm flipV="1">
                  <a:off x="3424"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33" name="Line 154"/>
                <p:cNvSpPr>
                  <a:spLocks noChangeShapeType="1"/>
                </p:cNvSpPr>
                <p:nvPr/>
              </p:nvSpPr>
              <p:spPr bwMode="auto">
                <a:xfrm flipV="1">
                  <a:off x="3152"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34" name="Line 155"/>
                <p:cNvSpPr>
                  <a:spLocks noChangeShapeType="1"/>
                </p:cNvSpPr>
                <p:nvPr/>
              </p:nvSpPr>
              <p:spPr bwMode="auto">
                <a:xfrm flipV="1">
                  <a:off x="3378" y="1661"/>
                  <a:ext cx="78"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43825" name="Freeform 156"/>
              <p:cNvSpPr>
                <a:spLocks/>
              </p:cNvSpPr>
              <p:nvPr/>
            </p:nvSpPr>
            <p:spPr bwMode="auto">
              <a:xfrm>
                <a:off x="3198" y="1736"/>
                <a:ext cx="226" cy="271"/>
              </a:xfrm>
              <a:custGeom>
                <a:avLst/>
                <a:gdLst>
                  <a:gd name="T0" fmla="*/ 52 w 272"/>
                  <a:gd name="T1" fmla="*/ 0 h 363"/>
                  <a:gd name="T2" fmla="*/ 0 w 272"/>
                  <a:gd name="T3" fmla="*/ 7 h 363"/>
                  <a:gd name="T4" fmla="*/ 52 w 272"/>
                  <a:gd name="T5" fmla="*/ 7 h 363"/>
                  <a:gd name="T6" fmla="*/ 8 w 272"/>
                  <a:gd name="T7" fmla="*/ 13 h 363"/>
                  <a:gd name="T8" fmla="*/ 43 w 272"/>
                  <a:gd name="T9" fmla="*/ 13 h 363"/>
                  <a:gd name="T10" fmla="*/ 8 w 272"/>
                  <a:gd name="T11" fmla="*/ 19 h 363"/>
                  <a:gd name="T12" fmla="*/ 34 w 272"/>
                  <a:gd name="T13" fmla="*/ 19 h 363"/>
                  <a:gd name="T14" fmla="*/ 17 w 272"/>
                  <a:gd name="T15" fmla="*/ 26 h 36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2" h="363">
                    <a:moveTo>
                      <a:pt x="272" y="0"/>
                    </a:moveTo>
                    <a:lnTo>
                      <a:pt x="0" y="91"/>
                    </a:lnTo>
                    <a:lnTo>
                      <a:pt x="272" y="91"/>
                    </a:lnTo>
                    <a:lnTo>
                      <a:pt x="45" y="181"/>
                    </a:lnTo>
                    <a:lnTo>
                      <a:pt x="226" y="181"/>
                    </a:lnTo>
                    <a:lnTo>
                      <a:pt x="45" y="272"/>
                    </a:lnTo>
                    <a:lnTo>
                      <a:pt x="181" y="272"/>
                    </a:lnTo>
                    <a:lnTo>
                      <a:pt x="90" y="363"/>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43792" name="Line 157"/>
            <p:cNvSpPr>
              <a:spLocks noChangeShapeType="1"/>
            </p:cNvSpPr>
            <p:nvPr/>
          </p:nvSpPr>
          <p:spPr bwMode="auto">
            <a:xfrm>
              <a:off x="503" y="2946"/>
              <a:ext cx="0"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793" name="Line 158"/>
            <p:cNvSpPr>
              <a:spLocks noChangeShapeType="1"/>
            </p:cNvSpPr>
            <p:nvPr/>
          </p:nvSpPr>
          <p:spPr bwMode="auto">
            <a:xfrm>
              <a:off x="503" y="3354"/>
              <a:ext cx="0" cy="18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794" name="Line 159"/>
            <p:cNvSpPr>
              <a:spLocks noChangeShapeType="1"/>
            </p:cNvSpPr>
            <p:nvPr/>
          </p:nvSpPr>
          <p:spPr bwMode="auto">
            <a:xfrm>
              <a:off x="385" y="3037"/>
              <a:ext cx="22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795" name="Line 160"/>
            <p:cNvSpPr>
              <a:spLocks noChangeShapeType="1"/>
            </p:cNvSpPr>
            <p:nvPr/>
          </p:nvSpPr>
          <p:spPr bwMode="auto">
            <a:xfrm>
              <a:off x="385" y="3445"/>
              <a:ext cx="22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43796" name="Group 161"/>
            <p:cNvGrpSpPr>
              <a:grpSpLocks/>
            </p:cNvGrpSpPr>
            <p:nvPr/>
          </p:nvGrpSpPr>
          <p:grpSpPr bwMode="auto">
            <a:xfrm flipV="1">
              <a:off x="458" y="3173"/>
              <a:ext cx="90" cy="126"/>
              <a:chOff x="2426" y="2478"/>
              <a:chExt cx="91" cy="136"/>
            </a:xfrm>
          </p:grpSpPr>
          <p:sp>
            <p:nvSpPr>
              <p:cNvPr id="543821" name="Freeform 162"/>
              <p:cNvSpPr>
                <a:spLocks/>
              </p:cNvSpPr>
              <p:nvPr/>
            </p:nvSpPr>
            <p:spPr bwMode="auto">
              <a:xfrm>
                <a:off x="2426" y="2478"/>
                <a:ext cx="46" cy="136"/>
              </a:xfrm>
              <a:custGeom>
                <a:avLst/>
                <a:gdLst>
                  <a:gd name="T0" fmla="*/ 0 w 46"/>
                  <a:gd name="T1" fmla="*/ 45 h 136"/>
                  <a:gd name="T2" fmla="*/ 46 w 46"/>
                  <a:gd name="T3" fmla="*/ 136 h 136"/>
                  <a:gd name="T4" fmla="*/ 46 w 46"/>
                  <a:gd name="T5" fmla="*/ 0 h 136"/>
                  <a:gd name="T6" fmla="*/ 0 60000 65536"/>
                  <a:gd name="T7" fmla="*/ 0 60000 65536"/>
                  <a:gd name="T8" fmla="*/ 0 60000 65536"/>
                </a:gdLst>
                <a:ahLst/>
                <a:cxnLst>
                  <a:cxn ang="T6">
                    <a:pos x="T0" y="T1"/>
                  </a:cxn>
                  <a:cxn ang="T7">
                    <a:pos x="T2" y="T3"/>
                  </a:cxn>
                  <a:cxn ang="T8">
                    <a:pos x="T4" y="T5"/>
                  </a:cxn>
                </a:cxnLst>
                <a:rect l="0" t="0" r="r" b="b"/>
                <a:pathLst>
                  <a:path w="46" h="136">
                    <a:moveTo>
                      <a:pt x="0" y="45"/>
                    </a:moveTo>
                    <a:lnTo>
                      <a:pt x="46" y="136"/>
                    </a:lnTo>
                    <a:lnTo>
                      <a:pt x="46" y="0"/>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22" name="Line 163"/>
              <p:cNvSpPr>
                <a:spLocks noChangeShapeType="1"/>
              </p:cNvSpPr>
              <p:nvPr/>
            </p:nvSpPr>
            <p:spPr bwMode="auto">
              <a:xfrm flipV="1">
                <a:off x="2472" y="2523"/>
                <a:ext cx="45" cy="9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43797" name="Freeform 164"/>
            <p:cNvSpPr>
              <a:spLocks/>
            </p:cNvSpPr>
            <p:nvPr/>
          </p:nvSpPr>
          <p:spPr bwMode="auto">
            <a:xfrm>
              <a:off x="158" y="3174"/>
              <a:ext cx="471" cy="982"/>
            </a:xfrm>
            <a:custGeom>
              <a:avLst/>
              <a:gdLst>
                <a:gd name="T0" fmla="*/ 217 w 499"/>
                <a:gd name="T1" fmla="*/ 0 h 816"/>
                <a:gd name="T2" fmla="*/ 0 w 499"/>
                <a:gd name="T3" fmla="*/ 0 h 816"/>
                <a:gd name="T4" fmla="*/ 0 w 499"/>
                <a:gd name="T5" fmla="*/ 4319 h 816"/>
                <a:gd name="T6" fmla="*/ 296 w 499"/>
                <a:gd name="T7" fmla="*/ 4319 h 8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9" h="816">
                  <a:moveTo>
                    <a:pt x="363" y="0"/>
                  </a:moveTo>
                  <a:lnTo>
                    <a:pt x="0" y="0"/>
                  </a:lnTo>
                  <a:lnTo>
                    <a:pt x="0" y="816"/>
                  </a:lnTo>
                  <a:lnTo>
                    <a:pt x="499" y="816"/>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43798" name="Group 165"/>
            <p:cNvGrpSpPr>
              <a:grpSpLocks/>
            </p:cNvGrpSpPr>
            <p:nvPr/>
          </p:nvGrpSpPr>
          <p:grpSpPr bwMode="auto">
            <a:xfrm>
              <a:off x="612" y="4054"/>
              <a:ext cx="180" cy="202"/>
              <a:chOff x="1337" y="2613"/>
              <a:chExt cx="228" cy="227"/>
            </a:xfrm>
          </p:grpSpPr>
          <p:sp>
            <p:nvSpPr>
              <p:cNvPr id="543819" name="Oval 166"/>
              <p:cNvSpPr>
                <a:spLocks noChangeArrowheads="1"/>
              </p:cNvSpPr>
              <p:nvPr/>
            </p:nvSpPr>
            <p:spPr bwMode="auto">
              <a:xfrm rot="-5400000">
                <a:off x="1338" y="2613"/>
                <a:ext cx="227" cy="227"/>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820" name="AutoShape 167"/>
              <p:cNvSpPr>
                <a:spLocks noChangeArrowheads="1"/>
              </p:cNvSpPr>
              <p:nvPr/>
            </p:nvSpPr>
            <p:spPr bwMode="auto">
              <a:xfrm rot="-5400000">
                <a:off x="1337" y="2641"/>
                <a:ext cx="181" cy="182"/>
              </a:xfrm>
              <a:prstGeom prst="triangle">
                <a:avLst>
                  <a:gd name="adj" fmla="val 50000"/>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sp>
          <p:nvSpPr>
            <p:cNvPr id="543799" name="Freeform 168"/>
            <p:cNvSpPr>
              <a:spLocks/>
            </p:cNvSpPr>
            <p:nvPr/>
          </p:nvSpPr>
          <p:spPr bwMode="auto">
            <a:xfrm>
              <a:off x="476" y="2538"/>
              <a:ext cx="1451" cy="408"/>
            </a:xfrm>
            <a:custGeom>
              <a:avLst/>
              <a:gdLst>
                <a:gd name="T0" fmla="*/ 0 w 1225"/>
                <a:gd name="T1" fmla="*/ 136 h 408"/>
                <a:gd name="T2" fmla="*/ 0 w 1225"/>
                <a:gd name="T3" fmla="*/ 0 h 408"/>
                <a:gd name="T4" fmla="*/ 5623 w 1225"/>
                <a:gd name="T5" fmla="*/ 0 h 408"/>
                <a:gd name="T6" fmla="*/ 5623 w 1225"/>
                <a:gd name="T7" fmla="*/ 408 h 40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25" h="408">
                  <a:moveTo>
                    <a:pt x="0" y="136"/>
                  </a:moveTo>
                  <a:lnTo>
                    <a:pt x="0" y="0"/>
                  </a:lnTo>
                  <a:lnTo>
                    <a:pt x="1225" y="0"/>
                  </a:lnTo>
                  <a:lnTo>
                    <a:pt x="1225" y="408"/>
                  </a:lnTo>
                </a:path>
              </a:pathLst>
            </a:custGeom>
            <a:noFill/>
            <a:ln w="9525" cap="flat" cmpd="sng">
              <a:solidFill>
                <a:schemeClr val="tx1"/>
              </a:solidFill>
              <a:prstDash val="solid"/>
              <a:round/>
              <a:headEnd type="none" w="med" len="med"/>
              <a:tailEnd type="triangl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00" name="Text Box 169"/>
            <p:cNvSpPr txBox="1">
              <a:spLocks noChangeArrowheads="1"/>
            </p:cNvSpPr>
            <p:nvPr/>
          </p:nvSpPr>
          <p:spPr bwMode="auto">
            <a:xfrm>
              <a:off x="1157" y="2387"/>
              <a:ext cx="952" cy="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10000"/>
                </a:lnSpc>
                <a:spcBef>
                  <a:spcPct val="50000"/>
                </a:spcBef>
                <a:buFontTx/>
                <a:buNone/>
              </a:pPr>
              <a:r>
                <a:rPr lang="en-US" altLang="en-US" sz="1300"/>
                <a:t>450 c</a:t>
              </a:r>
              <a:r>
                <a:rPr lang="en-US" altLang="en-US" sz="800" baseline="80000"/>
                <a:t>0</a:t>
              </a:r>
              <a:r>
                <a:rPr lang="en-US" altLang="en-US" sz="1300"/>
                <a:t>, 61 bar</a:t>
              </a:r>
              <a:endParaRPr lang="th-TH" altLang="en-US" sz="1300"/>
            </a:p>
          </p:txBody>
        </p:sp>
        <p:sp>
          <p:nvSpPr>
            <p:cNvPr id="543801" name="Text Box 170"/>
            <p:cNvSpPr txBox="1">
              <a:spLocks noChangeArrowheads="1"/>
            </p:cNvSpPr>
            <p:nvPr/>
          </p:nvSpPr>
          <p:spPr bwMode="auto">
            <a:xfrm>
              <a:off x="612" y="2663"/>
              <a:ext cx="1905" cy="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10000"/>
                </a:lnSpc>
                <a:spcBef>
                  <a:spcPct val="50000"/>
                </a:spcBef>
                <a:buFontTx/>
                <a:buNone/>
              </a:pPr>
              <a:r>
                <a:rPr lang="en-US" altLang="en-US" sz="1300"/>
                <a:t>Secondery Superheater</a:t>
              </a:r>
              <a:endParaRPr lang="th-TH" altLang="en-US" sz="1300"/>
            </a:p>
          </p:txBody>
        </p:sp>
        <p:sp>
          <p:nvSpPr>
            <p:cNvPr id="543802" name="Text Box 171"/>
            <p:cNvSpPr txBox="1">
              <a:spLocks noChangeArrowheads="1"/>
            </p:cNvSpPr>
            <p:nvPr/>
          </p:nvSpPr>
          <p:spPr bwMode="auto">
            <a:xfrm>
              <a:off x="657" y="2992"/>
              <a:ext cx="952" cy="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10000"/>
                </a:lnSpc>
                <a:spcBef>
                  <a:spcPct val="50000"/>
                </a:spcBef>
                <a:buFontTx/>
                <a:buNone/>
              </a:pPr>
              <a:r>
                <a:rPr lang="en-US" altLang="en-US" sz="1300"/>
                <a:t>278 c</a:t>
              </a:r>
              <a:r>
                <a:rPr lang="en-US" altLang="en-US" sz="800" baseline="80000"/>
                <a:t>0</a:t>
              </a:r>
              <a:endParaRPr lang="th-TH" altLang="en-US" sz="1300"/>
            </a:p>
          </p:txBody>
        </p:sp>
        <p:sp>
          <p:nvSpPr>
            <p:cNvPr id="543803" name="Text Box 172"/>
            <p:cNvSpPr txBox="1">
              <a:spLocks noChangeArrowheads="1"/>
            </p:cNvSpPr>
            <p:nvPr/>
          </p:nvSpPr>
          <p:spPr bwMode="auto">
            <a:xfrm>
              <a:off x="612" y="3354"/>
              <a:ext cx="952" cy="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10000"/>
                </a:lnSpc>
                <a:spcBef>
                  <a:spcPct val="50000"/>
                </a:spcBef>
                <a:buFontTx/>
                <a:buNone/>
              </a:pPr>
              <a:r>
                <a:rPr lang="en-US" altLang="en-US" sz="1300"/>
                <a:t>365 c</a:t>
              </a:r>
              <a:r>
                <a:rPr lang="en-US" altLang="en-US" sz="800" baseline="80000"/>
                <a:t>0</a:t>
              </a:r>
              <a:endParaRPr lang="th-TH" altLang="en-US" sz="1300"/>
            </a:p>
          </p:txBody>
        </p:sp>
        <p:sp>
          <p:nvSpPr>
            <p:cNvPr id="543804" name="Text Box 173"/>
            <p:cNvSpPr txBox="1">
              <a:spLocks noChangeArrowheads="1"/>
            </p:cNvSpPr>
            <p:nvPr/>
          </p:nvSpPr>
          <p:spPr bwMode="auto">
            <a:xfrm>
              <a:off x="657" y="3581"/>
              <a:ext cx="1905" cy="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10000"/>
                </a:lnSpc>
                <a:spcBef>
                  <a:spcPct val="50000"/>
                </a:spcBef>
                <a:buFontTx/>
                <a:buNone/>
              </a:pPr>
              <a:r>
                <a:rPr lang="en-US" altLang="en-US" sz="1300"/>
                <a:t>Primary Superheater</a:t>
              </a:r>
              <a:endParaRPr lang="th-TH" altLang="en-US" sz="1300"/>
            </a:p>
          </p:txBody>
        </p:sp>
        <p:sp>
          <p:nvSpPr>
            <p:cNvPr id="543805" name="Line 174"/>
            <p:cNvSpPr>
              <a:spLocks noChangeShapeType="1"/>
            </p:cNvSpPr>
            <p:nvPr/>
          </p:nvSpPr>
          <p:spPr bwMode="auto">
            <a:xfrm>
              <a:off x="802" y="4156"/>
              <a:ext cx="2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06" name="Text Box 175"/>
            <p:cNvSpPr txBox="1">
              <a:spLocks noChangeArrowheads="1"/>
            </p:cNvSpPr>
            <p:nvPr/>
          </p:nvSpPr>
          <p:spPr bwMode="auto">
            <a:xfrm>
              <a:off x="1066" y="4065"/>
              <a:ext cx="1905" cy="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110000"/>
                </a:lnSpc>
                <a:spcBef>
                  <a:spcPct val="50000"/>
                </a:spcBef>
                <a:buFontTx/>
                <a:buNone/>
              </a:pPr>
              <a:r>
                <a:rPr lang="en-US" altLang="en-US" sz="1300"/>
                <a:t>Spray Water</a:t>
              </a:r>
              <a:endParaRPr lang="th-TH" altLang="en-US" sz="1300"/>
            </a:p>
          </p:txBody>
        </p:sp>
        <p:sp>
          <p:nvSpPr>
            <p:cNvPr id="543807" name="Freeform 176"/>
            <p:cNvSpPr>
              <a:spLocks/>
            </p:cNvSpPr>
            <p:nvPr/>
          </p:nvSpPr>
          <p:spPr bwMode="auto">
            <a:xfrm>
              <a:off x="494" y="3835"/>
              <a:ext cx="1452" cy="154"/>
            </a:xfrm>
            <a:custGeom>
              <a:avLst/>
              <a:gdLst>
                <a:gd name="T0" fmla="*/ 0 w 1452"/>
                <a:gd name="T1" fmla="*/ 0 h 91"/>
                <a:gd name="T2" fmla="*/ 0 w 1452"/>
                <a:gd name="T3" fmla="*/ 10382 h 91"/>
                <a:gd name="T4" fmla="*/ 1452 w 1452"/>
                <a:gd name="T5" fmla="*/ 10382 h 91"/>
                <a:gd name="T6" fmla="*/ 0 60000 65536"/>
                <a:gd name="T7" fmla="*/ 0 60000 65536"/>
                <a:gd name="T8" fmla="*/ 0 60000 65536"/>
              </a:gdLst>
              <a:ahLst/>
              <a:cxnLst>
                <a:cxn ang="T6">
                  <a:pos x="T0" y="T1"/>
                </a:cxn>
                <a:cxn ang="T7">
                  <a:pos x="T2" y="T3"/>
                </a:cxn>
                <a:cxn ang="T8">
                  <a:pos x="T4" y="T5"/>
                </a:cxn>
              </a:cxnLst>
              <a:rect l="0" t="0" r="r" b="b"/>
              <a:pathLst>
                <a:path w="1452" h="91">
                  <a:moveTo>
                    <a:pt x="0" y="0"/>
                  </a:moveTo>
                  <a:lnTo>
                    <a:pt x="0" y="91"/>
                  </a:lnTo>
                  <a:lnTo>
                    <a:pt x="1452" y="91"/>
                  </a:lnTo>
                </a:path>
              </a:pathLst>
            </a:custGeom>
            <a:noFill/>
            <a:ln w="9525" cap="flat" cmpd="sng">
              <a:solidFill>
                <a:schemeClr val="tx1"/>
              </a:solidFill>
              <a:prstDash val="solid"/>
              <a:round/>
              <a:headEnd type="triangle" w="lg" len="lg"/>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08" name="Freeform 177"/>
            <p:cNvSpPr>
              <a:spLocks/>
            </p:cNvSpPr>
            <p:nvPr/>
          </p:nvSpPr>
          <p:spPr bwMode="auto">
            <a:xfrm>
              <a:off x="2018" y="3929"/>
              <a:ext cx="52" cy="136"/>
            </a:xfrm>
            <a:custGeom>
              <a:avLst/>
              <a:gdLst>
                <a:gd name="T0" fmla="*/ 1 w 104"/>
                <a:gd name="T1" fmla="*/ 0 h 182"/>
                <a:gd name="T2" fmla="*/ 1 w 104"/>
                <a:gd name="T3" fmla="*/ 7 h 182"/>
                <a:gd name="T4" fmla="*/ 1 w 104"/>
                <a:gd name="T5" fmla="*/ 7 h 182"/>
                <a:gd name="T6" fmla="*/ 1 w 104"/>
                <a:gd name="T7" fmla="*/ 10 h 182"/>
                <a:gd name="T8" fmla="*/ 1 w 104"/>
                <a:gd name="T9" fmla="*/ 13 h 1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82">
                  <a:moveTo>
                    <a:pt x="52" y="0"/>
                  </a:moveTo>
                  <a:cubicBezTo>
                    <a:pt x="26" y="38"/>
                    <a:pt x="0" y="76"/>
                    <a:pt x="7" y="91"/>
                  </a:cubicBezTo>
                  <a:cubicBezTo>
                    <a:pt x="14" y="106"/>
                    <a:pt x="90" y="84"/>
                    <a:pt x="97" y="91"/>
                  </a:cubicBezTo>
                  <a:cubicBezTo>
                    <a:pt x="104" y="98"/>
                    <a:pt x="67" y="121"/>
                    <a:pt x="52" y="136"/>
                  </a:cubicBezTo>
                  <a:cubicBezTo>
                    <a:pt x="37" y="151"/>
                    <a:pt x="22" y="166"/>
                    <a:pt x="7" y="182"/>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09" name="Freeform 178"/>
            <p:cNvSpPr>
              <a:spLocks/>
            </p:cNvSpPr>
            <p:nvPr/>
          </p:nvSpPr>
          <p:spPr bwMode="auto">
            <a:xfrm>
              <a:off x="2097" y="3929"/>
              <a:ext cx="52" cy="136"/>
            </a:xfrm>
            <a:custGeom>
              <a:avLst/>
              <a:gdLst>
                <a:gd name="T0" fmla="*/ 1 w 104"/>
                <a:gd name="T1" fmla="*/ 0 h 182"/>
                <a:gd name="T2" fmla="*/ 1 w 104"/>
                <a:gd name="T3" fmla="*/ 7 h 182"/>
                <a:gd name="T4" fmla="*/ 1 w 104"/>
                <a:gd name="T5" fmla="*/ 7 h 182"/>
                <a:gd name="T6" fmla="*/ 1 w 104"/>
                <a:gd name="T7" fmla="*/ 10 h 182"/>
                <a:gd name="T8" fmla="*/ 1 w 104"/>
                <a:gd name="T9" fmla="*/ 13 h 1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82">
                  <a:moveTo>
                    <a:pt x="52" y="0"/>
                  </a:moveTo>
                  <a:cubicBezTo>
                    <a:pt x="26" y="38"/>
                    <a:pt x="0" y="76"/>
                    <a:pt x="7" y="91"/>
                  </a:cubicBezTo>
                  <a:cubicBezTo>
                    <a:pt x="14" y="106"/>
                    <a:pt x="90" y="84"/>
                    <a:pt x="97" y="91"/>
                  </a:cubicBezTo>
                  <a:cubicBezTo>
                    <a:pt x="104" y="98"/>
                    <a:pt x="67" y="121"/>
                    <a:pt x="52" y="136"/>
                  </a:cubicBezTo>
                  <a:cubicBezTo>
                    <a:pt x="37" y="151"/>
                    <a:pt x="22" y="166"/>
                    <a:pt x="7" y="182"/>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10" name="Freeform 179"/>
            <p:cNvSpPr>
              <a:spLocks/>
            </p:cNvSpPr>
            <p:nvPr/>
          </p:nvSpPr>
          <p:spPr bwMode="auto">
            <a:xfrm>
              <a:off x="22" y="2387"/>
              <a:ext cx="3176" cy="1950"/>
            </a:xfrm>
            <a:custGeom>
              <a:avLst/>
              <a:gdLst>
                <a:gd name="T0" fmla="*/ 0 w 3176"/>
                <a:gd name="T1" fmla="*/ 0 h 1950"/>
                <a:gd name="T2" fmla="*/ 2178 w 3176"/>
                <a:gd name="T3" fmla="*/ 0 h 1950"/>
                <a:gd name="T4" fmla="*/ 2178 w 3176"/>
                <a:gd name="T5" fmla="*/ 227 h 1950"/>
                <a:gd name="T6" fmla="*/ 3176 w 3176"/>
                <a:gd name="T7" fmla="*/ 227 h 1950"/>
                <a:gd name="T8" fmla="*/ 3176 w 3176"/>
                <a:gd name="T9" fmla="*/ 1950 h 19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76" h="1950">
                  <a:moveTo>
                    <a:pt x="0" y="0"/>
                  </a:moveTo>
                  <a:lnTo>
                    <a:pt x="2178" y="0"/>
                  </a:lnTo>
                  <a:lnTo>
                    <a:pt x="2178" y="227"/>
                  </a:lnTo>
                  <a:lnTo>
                    <a:pt x="3176" y="227"/>
                  </a:lnTo>
                  <a:lnTo>
                    <a:pt x="3176" y="1950"/>
                  </a:lnTo>
                </a:path>
              </a:pathLst>
            </a:custGeom>
            <a:noFill/>
            <a:ln w="952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11" name="Freeform 180"/>
            <p:cNvSpPr>
              <a:spLocks/>
            </p:cNvSpPr>
            <p:nvPr/>
          </p:nvSpPr>
          <p:spPr bwMode="auto">
            <a:xfrm>
              <a:off x="1973" y="3249"/>
              <a:ext cx="317" cy="226"/>
            </a:xfrm>
            <a:custGeom>
              <a:avLst/>
              <a:gdLst>
                <a:gd name="T0" fmla="*/ 0 w 317"/>
                <a:gd name="T1" fmla="*/ 0 h 226"/>
                <a:gd name="T2" fmla="*/ 0 w 317"/>
                <a:gd name="T3" fmla="*/ 226 h 226"/>
                <a:gd name="T4" fmla="*/ 317 w 317"/>
                <a:gd name="T5" fmla="*/ 226 h 226"/>
                <a:gd name="T6" fmla="*/ 0 60000 65536"/>
                <a:gd name="T7" fmla="*/ 0 60000 65536"/>
                <a:gd name="T8" fmla="*/ 0 60000 65536"/>
              </a:gdLst>
              <a:ahLst/>
              <a:cxnLst>
                <a:cxn ang="T6">
                  <a:pos x="T0" y="T1"/>
                </a:cxn>
                <a:cxn ang="T7">
                  <a:pos x="T2" y="T3"/>
                </a:cxn>
                <a:cxn ang="T8">
                  <a:pos x="T4" y="T5"/>
                </a:cxn>
              </a:cxnLst>
              <a:rect l="0" t="0" r="r" b="b"/>
              <a:pathLst>
                <a:path w="317" h="226">
                  <a:moveTo>
                    <a:pt x="0" y="0"/>
                  </a:moveTo>
                  <a:lnTo>
                    <a:pt x="0" y="226"/>
                  </a:lnTo>
                  <a:lnTo>
                    <a:pt x="317" y="226"/>
                  </a:lnTo>
                </a:path>
              </a:pathLst>
            </a:custGeom>
            <a:noFill/>
            <a:ln w="9525" cap="flat" cmpd="sng">
              <a:solidFill>
                <a:schemeClr val="tx1"/>
              </a:solidFill>
              <a:prstDash val="solid"/>
              <a:round/>
              <a:headEnd type="none" w="med" len="med"/>
              <a:tailEnd type="triangl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3812" name="Text Box 181"/>
            <p:cNvSpPr txBox="1">
              <a:spLocks noChangeArrowheads="1"/>
            </p:cNvSpPr>
            <p:nvPr/>
          </p:nvSpPr>
          <p:spPr bwMode="auto">
            <a:xfrm>
              <a:off x="2290" y="3339"/>
              <a:ext cx="681"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th-TH" altLang="en-US" sz="2000"/>
                <a:t>นำไปใช้งาน</a:t>
              </a:r>
            </a:p>
          </p:txBody>
        </p:sp>
        <p:sp>
          <p:nvSpPr>
            <p:cNvPr id="543813" name="Text Box 182"/>
            <p:cNvSpPr txBox="1">
              <a:spLocks noChangeArrowheads="1"/>
            </p:cNvSpPr>
            <p:nvPr/>
          </p:nvSpPr>
          <p:spPr bwMode="auto">
            <a:xfrm>
              <a:off x="2064" y="3632"/>
              <a:ext cx="952" cy="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70000"/>
                </a:lnSpc>
                <a:spcBef>
                  <a:spcPct val="50000"/>
                </a:spcBef>
                <a:buFontTx/>
                <a:buNone/>
              </a:pPr>
              <a:r>
                <a:rPr lang="en-US" altLang="en-US" sz="1300"/>
                <a:t>3 bar </a:t>
              </a:r>
            </a:p>
            <a:p>
              <a:pPr>
                <a:lnSpc>
                  <a:spcPct val="70000"/>
                </a:lnSpc>
                <a:spcBef>
                  <a:spcPct val="50000"/>
                </a:spcBef>
                <a:buFontTx/>
                <a:buNone/>
              </a:pPr>
              <a:r>
                <a:rPr lang="en-US" altLang="en-US" sz="1300"/>
                <a:t>258 c</a:t>
              </a:r>
              <a:r>
                <a:rPr lang="en-US" altLang="en-US" sz="800" baseline="80000"/>
                <a:t>0</a:t>
              </a:r>
              <a:endParaRPr lang="th-TH" altLang="en-US" sz="1300"/>
            </a:p>
          </p:txBody>
        </p:sp>
        <p:sp>
          <p:nvSpPr>
            <p:cNvPr id="543814" name="Freeform 183"/>
            <p:cNvSpPr>
              <a:spLocks/>
            </p:cNvSpPr>
            <p:nvPr/>
          </p:nvSpPr>
          <p:spPr bwMode="auto">
            <a:xfrm>
              <a:off x="878" y="1124"/>
              <a:ext cx="684" cy="245"/>
            </a:xfrm>
            <a:custGeom>
              <a:avLst/>
              <a:gdLst>
                <a:gd name="T0" fmla="*/ 0 w 633"/>
                <a:gd name="T1" fmla="*/ 245 h 245"/>
                <a:gd name="T2" fmla="*/ 606 w 633"/>
                <a:gd name="T3" fmla="*/ 245 h 245"/>
                <a:gd name="T4" fmla="*/ 606 w 633"/>
                <a:gd name="T5" fmla="*/ 0 h 245"/>
                <a:gd name="T6" fmla="*/ 1272 w 633"/>
                <a:gd name="T7" fmla="*/ 0 h 2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33" h="245">
                  <a:moveTo>
                    <a:pt x="0" y="245"/>
                  </a:moveTo>
                  <a:lnTo>
                    <a:pt x="302" y="245"/>
                  </a:lnTo>
                  <a:lnTo>
                    <a:pt x="302" y="0"/>
                  </a:lnTo>
                  <a:lnTo>
                    <a:pt x="633" y="0"/>
                  </a:lnTo>
                </a:path>
              </a:pathLst>
            </a:custGeom>
            <a:noFill/>
            <a:ln w="9525" cap="flat" cmpd="sng">
              <a:solidFill>
                <a:schemeClr val="tx1"/>
              </a:solidFill>
              <a:prstDash val="solid"/>
              <a:round/>
              <a:headEnd type="none" w="med" len="med"/>
              <a:tailEnd type="triangl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43815" name="Group 184"/>
            <p:cNvGrpSpPr>
              <a:grpSpLocks/>
            </p:cNvGrpSpPr>
            <p:nvPr/>
          </p:nvGrpSpPr>
          <p:grpSpPr bwMode="auto">
            <a:xfrm rot="10800000">
              <a:off x="954" y="1289"/>
              <a:ext cx="150" cy="165"/>
              <a:chOff x="1337" y="2613"/>
              <a:chExt cx="228" cy="227"/>
            </a:xfrm>
          </p:grpSpPr>
          <p:sp>
            <p:nvSpPr>
              <p:cNvPr id="543817" name="Oval 185"/>
              <p:cNvSpPr>
                <a:spLocks noChangeArrowheads="1"/>
              </p:cNvSpPr>
              <p:nvPr/>
            </p:nvSpPr>
            <p:spPr bwMode="auto">
              <a:xfrm rot="-5400000">
                <a:off x="1338" y="2613"/>
                <a:ext cx="227" cy="22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3818" name="AutoShape 186"/>
              <p:cNvSpPr>
                <a:spLocks noChangeArrowheads="1"/>
              </p:cNvSpPr>
              <p:nvPr/>
            </p:nvSpPr>
            <p:spPr bwMode="auto">
              <a:xfrm rot="-5400000">
                <a:off x="1337" y="2641"/>
                <a:ext cx="181" cy="182"/>
              </a:xfrm>
              <a:prstGeom prst="triangle">
                <a:avLst>
                  <a:gd name="adj" fmla="val 50000"/>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sp>
          <p:nvSpPr>
            <p:cNvPr id="543816" name="AutoShape 187"/>
            <p:cNvSpPr>
              <a:spLocks noChangeArrowheads="1"/>
            </p:cNvSpPr>
            <p:nvPr/>
          </p:nvSpPr>
          <p:spPr bwMode="auto">
            <a:xfrm rot="5400000">
              <a:off x="1771" y="2967"/>
              <a:ext cx="317" cy="2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7 w 21600"/>
                <a:gd name="T13" fmla="*/ 4477 h 21600"/>
                <a:gd name="T14" fmla="*/ 17103 w 21600"/>
                <a:gd name="T15" fmla="*/ 17123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0099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Tree>
  </p:cSld>
  <p:clrMapOvr>
    <a:masterClrMapping/>
  </p:clrMapOvr>
  <p:transition/>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5794" name="Text Box 2"/>
          <p:cNvSpPr txBox="1">
            <a:spLocks noChangeArrowheads="1"/>
          </p:cNvSpPr>
          <p:nvPr/>
        </p:nvSpPr>
        <p:spPr bwMode="auto">
          <a:xfrm>
            <a:off x="4994275" y="5481638"/>
            <a:ext cx="392113" cy="52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2800"/>
          </a:p>
        </p:txBody>
      </p:sp>
      <p:sp>
        <p:nvSpPr>
          <p:cNvPr id="545795" name="Text Box 3"/>
          <p:cNvSpPr txBox="1">
            <a:spLocks noChangeArrowheads="1"/>
          </p:cNvSpPr>
          <p:nvPr/>
        </p:nvSpPr>
        <p:spPr bwMode="auto">
          <a:xfrm>
            <a:off x="6186488" y="1749425"/>
            <a:ext cx="377825" cy="52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2800"/>
          </a:p>
        </p:txBody>
      </p:sp>
      <p:sp>
        <p:nvSpPr>
          <p:cNvPr id="545796" name="Text Box 4"/>
          <p:cNvSpPr txBox="1">
            <a:spLocks noChangeArrowheads="1"/>
          </p:cNvSpPr>
          <p:nvPr/>
        </p:nvSpPr>
        <p:spPr bwMode="auto">
          <a:xfrm>
            <a:off x="1187450" y="4114800"/>
            <a:ext cx="377825" cy="52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2800"/>
          </a:p>
        </p:txBody>
      </p:sp>
      <p:sp>
        <p:nvSpPr>
          <p:cNvPr id="545797" name="Text Box 5"/>
          <p:cNvSpPr txBox="1">
            <a:spLocks noChangeArrowheads="1"/>
          </p:cNvSpPr>
          <p:nvPr/>
        </p:nvSpPr>
        <p:spPr bwMode="auto">
          <a:xfrm>
            <a:off x="1943100" y="5308600"/>
            <a:ext cx="377825" cy="52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2800"/>
          </a:p>
        </p:txBody>
      </p:sp>
      <p:grpSp>
        <p:nvGrpSpPr>
          <p:cNvPr id="545798" name="Group 6"/>
          <p:cNvGrpSpPr>
            <a:grpSpLocks/>
          </p:cNvGrpSpPr>
          <p:nvPr/>
        </p:nvGrpSpPr>
        <p:grpSpPr bwMode="auto">
          <a:xfrm>
            <a:off x="3165475" y="1423988"/>
            <a:ext cx="2990850" cy="4946650"/>
            <a:chOff x="1994" y="981"/>
            <a:chExt cx="1884" cy="3116"/>
          </a:xfrm>
        </p:grpSpPr>
        <p:sp>
          <p:nvSpPr>
            <p:cNvPr id="545861" name="Rectangle 7"/>
            <p:cNvSpPr>
              <a:spLocks noChangeArrowheads="1"/>
            </p:cNvSpPr>
            <p:nvPr/>
          </p:nvSpPr>
          <p:spPr bwMode="auto">
            <a:xfrm>
              <a:off x="2118" y="1200"/>
              <a:ext cx="989" cy="2884"/>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5862" name="AutoShape 8"/>
            <p:cNvSpPr>
              <a:spLocks noChangeArrowheads="1"/>
            </p:cNvSpPr>
            <p:nvPr/>
          </p:nvSpPr>
          <p:spPr bwMode="auto">
            <a:xfrm>
              <a:off x="3203" y="2895"/>
              <a:ext cx="675" cy="4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12 w 21600"/>
                <a:gd name="T13" fmla="*/ 4478 h 21600"/>
                <a:gd name="T14" fmla="*/ 17088 w 21600"/>
                <a:gd name="T15" fmla="*/ 17122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gradFill rotWithShape="0">
              <a:gsLst>
                <a:gs pos="0">
                  <a:srgbClr val="FFF200"/>
                </a:gs>
                <a:gs pos="45000">
                  <a:srgbClr val="FF7A00"/>
                </a:gs>
                <a:gs pos="70000">
                  <a:srgbClr val="FF0300"/>
                </a:gs>
                <a:gs pos="100000">
                  <a:srgbClr val="4D0808"/>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45863" name="Rectangle 9"/>
            <p:cNvSpPr>
              <a:spLocks noChangeArrowheads="1"/>
            </p:cNvSpPr>
            <p:nvPr/>
          </p:nvSpPr>
          <p:spPr bwMode="auto">
            <a:xfrm>
              <a:off x="3193" y="1200"/>
              <a:ext cx="685" cy="1695"/>
            </a:xfrm>
            <a:prstGeom prst="rect">
              <a:avLst/>
            </a:prstGeom>
            <a:gradFill rotWithShape="0">
              <a:gsLst>
                <a:gs pos="0">
                  <a:srgbClr val="FFF200"/>
                </a:gs>
                <a:gs pos="45000">
                  <a:srgbClr val="FF7A00"/>
                </a:gs>
                <a:gs pos="70000">
                  <a:srgbClr val="FF0300"/>
                </a:gs>
                <a:gs pos="100000">
                  <a:srgbClr val="4D0808"/>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5864" name="Rectangle 10"/>
            <p:cNvSpPr>
              <a:spLocks noChangeArrowheads="1"/>
            </p:cNvSpPr>
            <p:nvPr/>
          </p:nvSpPr>
          <p:spPr bwMode="auto">
            <a:xfrm>
              <a:off x="2200" y="1207"/>
              <a:ext cx="856" cy="2816"/>
            </a:xfrm>
            <a:prstGeom prst="rect">
              <a:avLst/>
            </a:prstGeom>
            <a:gradFill rotWithShape="0">
              <a:gsLst>
                <a:gs pos="0">
                  <a:srgbClr val="FFF200"/>
                </a:gs>
                <a:gs pos="45000">
                  <a:srgbClr val="FF7A00"/>
                </a:gs>
                <a:gs pos="70000">
                  <a:srgbClr val="FF0300"/>
                </a:gs>
                <a:gs pos="100000">
                  <a:srgbClr val="4D0808"/>
                </a:gs>
              </a:gsLst>
              <a:lin ang="5400000" scaled="1"/>
            </a:gradFill>
            <a:ln w="9525">
              <a:solidFill>
                <a:srgbClr val="000000"/>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5865" name="Line 11"/>
            <p:cNvSpPr>
              <a:spLocks noChangeShapeType="1"/>
            </p:cNvSpPr>
            <p:nvPr/>
          </p:nvSpPr>
          <p:spPr bwMode="auto">
            <a:xfrm flipH="1">
              <a:off x="3088" y="2430"/>
              <a:ext cx="0" cy="16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866" name="Line 12"/>
            <p:cNvSpPr>
              <a:spLocks noChangeShapeType="1"/>
            </p:cNvSpPr>
            <p:nvPr/>
          </p:nvSpPr>
          <p:spPr bwMode="auto">
            <a:xfrm flipH="1">
              <a:off x="2137" y="4084"/>
              <a:ext cx="9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867" name="Line 13"/>
            <p:cNvSpPr>
              <a:spLocks noChangeShapeType="1"/>
            </p:cNvSpPr>
            <p:nvPr/>
          </p:nvSpPr>
          <p:spPr bwMode="auto">
            <a:xfrm flipH="1">
              <a:off x="2137" y="1200"/>
              <a:ext cx="0" cy="28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868" name="Line 14"/>
            <p:cNvSpPr>
              <a:spLocks noChangeShapeType="1"/>
            </p:cNvSpPr>
            <p:nvPr/>
          </p:nvSpPr>
          <p:spPr bwMode="auto">
            <a:xfrm>
              <a:off x="3184" y="2430"/>
              <a:ext cx="9" cy="47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869" name="Line 15"/>
            <p:cNvSpPr>
              <a:spLocks noChangeShapeType="1"/>
            </p:cNvSpPr>
            <p:nvPr/>
          </p:nvSpPr>
          <p:spPr bwMode="auto">
            <a:xfrm>
              <a:off x="3869" y="1200"/>
              <a:ext cx="0" cy="172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870" name="Oval 16"/>
            <p:cNvSpPr>
              <a:spLocks noChangeArrowheads="1"/>
            </p:cNvSpPr>
            <p:nvPr/>
          </p:nvSpPr>
          <p:spPr bwMode="auto">
            <a:xfrm>
              <a:off x="1994" y="981"/>
              <a:ext cx="295" cy="410"/>
            </a:xfrm>
            <a:prstGeom prst="ellipse">
              <a:avLst/>
            </a:prstGeom>
            <a:solidFill>
              <a:srgbClr val="008000"/>
            </a:solidFill>
            <a:ln w="12700">
              <a:solidFill>
                <a:srgbClr val="000000"/>
              </a:solidFill>
              <a:round/>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5871" name="Rectangle 17" descr="Narrow vertical"/>
            <p:cNvSpPr>
              <a:spLocks noChangeArrowheads="1"/>
            </p:cNvSpPr>
            <p:nvPr/>
          </p:nvSpPr>
          <p:spPr bwMode="auto">
            <a:xfrm>
              <a:off x="3279" y="1268"/>
              <a:ext cx="247" cy="1599"/>
            </a:xfrm>
            <a:prstGeom prst="rect">
              <a:avLst/>
            </a:prstGeom>
            <a:pattFill prst="narVert">
              <a:fgClr>
                <a:srgbClr val="000000"/>
              </a:fgClr>
              <a:bgClr>
                <a:srgbClr val="FFFFFF"/>
              </a:bgClr>
            </a:pattFill>
            <a:ln w="9525">
              <a:solidFill>
                <a:srgbClr val="000000"/>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5872" name="Rectangle 18" descr="Narrow vertical"/>
            <p:cNvSpPr>
              <a:spLocks noChangeArrowheads="1"/>
            </p:cNvSpPr>
            <p:nvPr/>
          </p:nvSpPr>
          <p:spPr bwMode="auto">
            <a:xfrm>
              <a:off x="3574" y="1268"/>
              <a:ext cx="247" cy="1599"/>
            </a:xfrm>
            <a:prstGeom prst="rect">
              <a:avLst/>
            </a:prstGeom>
            <a:pattFill prst="narVert">
              <a:fgClr>
                <a:srgbClr val="000000"/>
              </a:fgClr>
              <a:bgClr>
                <a:srgbClr val="FFFFFF"/>
              </a:bgClr>
            </a:pattFill>
            <a:ln w="9525">
              <a:solidFill>
                <a:srgbClr val="000000"/>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nvGrpSpPr>
            <p:cNvPr id="545873" name="Group 19"/>
            <p:cNvGrpSpPr>
              <a:grpSpLocks/>
            </p:cNvGrpSpPr>
            <p:nvPr/>
          </p:nvGrpSpPr>
          <p:grpSpPr bwMode="auto">
            <a:xfrm>
              <a:off x="2660" y="1254"/>
              <a:ext cx="276" cy="1340"/>
              <a:chOff x="1125" y="695"/>
              <a:chExt cx="29" cy="67"/>
            </a:xfrm>
          </p:grpSpPr>
          <p:sp>
            <p:nvSpPr>
              <p:cNvPr id="545885" name="Rectangle 20" descr="Narrow vertical"/>
              <p:cNvSpPr>
                <a:spLocks noChangeArrowheads="1"/>
              </p:cNvSpPr>
              <p:nvPr/>
            </p:nvSpPr>
            <p:spPr bwMode="auto">
              <a:xfrm>
                <a:off x="1125" y="695"/>
                <a:ext cx="28" cy="41"/>
              </a:xfrm>
              <a:prstGeom prst="rect">
                <a:avLst/>
              </a:prstGeom>
              <a:pattFill prst="narVert">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5886" name="AutoShape 21" descr="Narrow vertical"/>
              <p:cNvSpPr>
                <a:spLocks noChangeArrowheads="1"/>
              </p:cNvSpPr>
              <p:nvPr/>
            </p:nvSpPr>
            <p:spPr bwMode="auto">
              <a:xfrm flipV="1">
                <a:off x="1125" y="736"/>
                <a:ext cx="29" cy="26"/>
              </a:xfrm>
              <a:prstGeom prst="rtTriangle">
                <a:avLst/>
              </a:prstGeom>
              <a:pattFill prst="narVert">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5887" name="Line 22"/>
              <p:cNvSpPr>
                <a:spLocks noChangeShapeType="1"/>
              </p:cNvSpPr>
              <p:nvPr/>
            </p:nvSpPr>
            <p:spPr bwMode="auto">
              <a:xfrm>
                <a:off x="1125" y="696"/>
                <a:ext cx="2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888" name="Line 23"/>
              <p:cNvSpPr>
                <a:spLocks noChangeShapeType="1"/>
              </p:cNvSpPr>
              <p:nvPr/>
            </p:nvSpPr>
            <p:spPr bwMode="auto">
              <a:xfrm flipV="1">
                <a:off x="1127" y="738"/>
                <a:ext cx="26" cy="2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45874" name="Line 24"/>
            <p:cNvSpPr>
              <a:spLocks noChangeShapeType="1"/>
            </p:cNvSpPr>
            <p:nvPr/>
          </p:nvSpPr>
          <p:spPr bwMode="auto">
            <a:xfrm>
              <a:off x="3355" y="3305"/>
              <a:ext cx="37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875" name="Line 25"/>
            <p:cNvSpPr>
              <a:spLocks noChangeShapeType="1"/>
            </p:cNvSpPr>
            <p:nvPr/>
          </p:nvSpPr>
          <p:spPr bwMode="auto">
            <a:xfrm>
              <a:off x="3193" y="2867"/>
              <a:ext cx="162" cy="4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876" name="Line 26"/>
            <p:cNvSpPr>
              <a:spLocks noChangeShapeType="1"/>
            </p:cNvSpPr>
            <p:nvPr/>
          </p:nvSpPr>
          <p:spPr bwMode="auto">
            <a:xfrm flipH="1">
              <a:off x="3716" y="2908"/>
              <a:ext cx="162" cy="3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877" name="Rectangle 27"/>
            <p:cNvSpPr>
              <a:spLocks noChangeArrowheads="1"/>
            </p:cNvSpPr>
            <p:nvPr/>
          </p:nvSpPr>
          <p:spPr bwMode="auto">
            <a:xfrm>
              <a:off x="2955" y="1200"/>
              <a:ext cx="286" cy="997"/>
            </a:xfrm>
            <a:prstGeom prst="rect">
              <a:avLst/>
            </a:prstGeom>
            <a:solidFill>
              <a:srgbClr val="FFCC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5878" name="AutoShape 28"/>
            <p:cNvSpPr>
              <a:spLocks noChangeArrowheads="1"/>
            </p:cNvSpPr>
            <p:nvPr/>
          </p:nvSpPr>
          <p:spPr bwMode="auto">
            <a:xfrm flipH="1">
              <a:off x="2774" y="1992"/>
              <a:ext cx="429" cy="616"/>
            </a:xfrm>
            <a:prstGeom prst="rtTriangle">
              <a:avLst/>
            </a:prstGeom>
            <a:solidFill>
              <a:srgbClr val="808080"/>
            </a:solidFill>
            <a:ln w="9525">
              <a:solidFill>
                <a:srgbClr val="000000"/>
              </a:solidFill>
              <a:miter lim="800000"/>
              <a:headEnd/>
              <a:tailEnd/>
            </a:ln>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nvGrpSpPr>
            <p:cNvPr id="545879" name="Group 29"/>
            <p:cNvGrpSpPr>
              <a:grpSpLocks/>
            </p:cNvGrpSpPr>
            <p:nvPr/>
          </p:nvGrpSpPr>
          <p:grpSpPr bwMode="auto">
            <a:xfrm>
              <a:off x="2965" y="1268"/>
              <a:ext cx="276" cy="916"/>
              <a:chOff x="1125" y="695"/>
              <a:chExt cx="29" cy="67"/>
            </a:xfrm>
          </p:grpSpPr>
          <p:sp>
            <p:nvSpPr>
              <p:cNvPr id="545881" name="Rectangle 30" descr="Narrow vertical"/>
              <p:cNvSpPr>
                <a:spLocks noChangeArrowheads="1"/>
              </p:cNvSpPr>
              <p:nvPr/>
            </p:nvSpPr>
            <p:spPr bwMode="auto">
              <a:xfrm>
                <a:off x="1125" y="695"/>
                <a:ext cx="28" cy="41"/>
              </a:xfrm>
              <a:prstGeom prst="rect">
                <a:avLst/>
              </a:prstGeom>
              <a:pattFill prst="narVert">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5882" name="AutoShape 31" descr="Narrow vertical"/>
              <p:cNvSpPr>
                <a:spLocks noChangeArrowheads="1"/>
              </p:cNvSpPr>
              <p:nvPr/>
            </p:nvSpPr>
            <p:spPr bwMode="auto">
              <a:xfrm flipV="1">
                <a:off x="1125" y="736"/>
                <a:ext cx="29" cy="26"/>
              </a:xfrm>
              <a:prstGeom prst="rtTriangle">
                <a:avLst/>
              </a:prstGeom>
              <a:pattFill prst="narVert">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5883" name="Line 32"/>
              <p:cNvSpPr>
                <a:spLocks noChangeShapeType="1"/>
              </p:cNvSpPr>
              <p:nvPr/>
            </p:nvSpPr>
            <p:spPr bwMode="auto">
              <a:xfrm>
                <a:off x="1125" y="696"/>
                <a:ext cx="2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884" name="Line 33"/>
              <p:cNvSpPr>
                <a:spLocks noChangeShapeType="1"/>
              </p:cNvSpPr>
              <p:nvPr/>
            </p:nvSpPr>
            <p:spPr bwMode="auto">
              <a:xfrm flipV="1">
                <a:off x="1127" y="738"/>
                <a:ext cx="26" cy="2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45880" name="Line 34"/>
            <p:cNvSpPr>
              <a:spLocks noChangeShapeType="1"/>
            </p:cNvSpPr>
            <p:nvPr/>
          </p:nvSpPr>
          <p:spPr bwMode="auto">
            <a:xfrm>
              <a:off x="2318" y="1186"/>
              <a:ext cx="15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8851" name="Group 35"/>
          <p:cNvGrpSpPr>
            <a:grpSpLocks/>
          </p:cNvGrpSpPr>
          <p:nvPr/>
        </p:nvGrpSpPr>
        <p:grpSpPr bwMode="auto">
          <a:xfrm>
            <a:off x="4572000" y="1423988"/>
            <a:ext cx="431800" cy="431800"/>
            <a:chOff x="2880" y="981"/>
            <a:chExt cx="272" cy="272"/>
          </a:xfrm>
        </p:grpSpPr>
        <p:sp>
          <p:nvSpPr>
            <p:cNvPr id="545858" name="Line 36"/>
            <p:cNvSpPr>
              <a:spLocks noChangeShapeType="1"/>
            </p:cNvSpPr>
            <p:nvPr/>
          </p:nvSpPr>
          <p:spPr bwMode="auto">
            <a:xfrm flipV="1">
              <a:off x="3152" y="981"/>
              <a:ext cx="0" cy="272"/>
            </a:xfrm>
            <a:prstGeom prst="line">
              <a:avLst/>
            </a:prstGeom>
            <a:noFill/>
            <a:ln w="317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5859" name="Line 37"/>
            <p:cNvSpPr>
              <a:spLocks noChangeShapeType="1"/>
            </p:cNvSpPr>
            <p:nvPr/>
          </p:nvSpPr>
          <p:spPr bwMode="auto">
            <a:xfrm flipH="1">
              <a:off x="2880" y="981"/>
              <a:ext cx="272" cy="0"/>
            </a:xfrm>
            <a:prstGeom prst="line">
              <a:avLst/>
            </a:prstGeom>
            <a:noFill/>
            <a:ln w="317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5860" name="Line 38"/>
            <p:cNvSpPr>
              <a:spLocks noChangeShapeType="1"/>
            </p:cNvSpPr>
            <p:nvPr/>
          </p:nvSpPr>
          <p:spPr bwMode="auto">
            <a:xfrm>
              <a:off x="2880" y="981"/>
              <a:ext cx="0" cy="272"/>
            </a:xfrm>
            <a:prstGeom prst="line">
              <a:avLst/>
            </a:prstGeom>
            <a:noFill/>
            <a:ln w="317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058855" name="Group 39"/>
          <p:cNvGrpSpPr>
            <a:grpSpLocks/>
          </p:cNvGrpSpPr>
          <p:nvPr/>
        </p:nvGrpSpPr>
        <p:grpSpPr bwMode="auto">
          <a:xfrm>
            <a:off x="4073525" y="2874963"/>
            <a:ext cx="1797050" cy="1373187"/>
            <a:chOff x="2566" y="1895"/>
            <a:chExt cx="1132" cy="865"/>
          </a:xfrm>
        </p:grpSpPr>
        <p:sp>
          <p:nvSpPr>
            <p:cNvPr id="545856" name="AutoShape 40"/>
            <p:cNvSpPr>
              <a:spLocks noChangeArrowheads="1"/>
            </p:cNvSpPr>
            <p:nvPr/>
          </p:nvSpPr>
          <p:spPr bwMode="auto">
            <a:xfrm>
              <a:off x="2978" y="1895"/>
              <a:ext cx="234" cy="438"/>
            </a:xfrm>
            <a:prstGeom prst="upArrow">
              <a:avLst>
                <a:gd name="adj1" fmla="val 50000"/>
                <a:gd name="adj2" fmla="val 46795"/>
              </a:avLst>
            </a:prstGeom>
            <a:solidFill>
              <a:srgbClr val="00FF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1058857" name="Text Box 41"/>
            <p:cNvSpPr txBox="1">
              <a:spLocks noChangeArrowheads="1"/>
            </p:cNvSpPr>
            <p:nvPr/>
          </p:nvSpPr>
          <p:spPr bwMode="auto">
            <a:xfrm>
              <a:off x="2566" y="2356"/>
              <a:ext cx="1132"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dirty="0">
                  <a:solidFill>
                    <a:srgbClr val="00FF00"/>
                  </a:solidFill>
                  <a:effectLst>
                    <a:outerShdw blurRad="38100" dist="38100" dir="2700000" algn="tl">
                      <a:srgbClr val="000000">
                        <a:alpha val="43137"/>
                      </a:srgbClr>
                    </a:outerShdw>
                  </a:effectLst>
                </a:rPr>
                <a:t>Primary Super Heater</a:t>
              </a:r>
              <a:endParaRPr lang="th-TH" altLang="en-US" dirty="0">
                <a:solidFill>
                  <a:srgbClr val="00FF00"/>
                </a:solidFill>
                <a:effectLst>
                  <a:outerShdw blurRad="38100" dist="38100" dir="2700000" algn="tl">
                    <a:srgbClr val="000000">
                      <a:alpha val="43137"/>
                    </a:srgbClr>
                  </a:outerShdw>
                </a:effectLst>
              </a:endParaRPr>
            </a:p>
          </p:txBody>
        </p:sp>
      </p:grpSp>
      <p:grpSp>
        <p:nvGrpSpPr>
          <p:cNvPr id="1058858" name="Group 42"/>
          <p:cNvGrpSpPr>
            <a:grpSpLocks/>
          </p:cNvGrpSpPr>
          <p:nvPr/>
        </p:nvGrpSpPr>
        <p:grpSpPr bwMode="auto">
          <a:xfrm>
            <a:off x="3495675" y="2043113"/>
            <a:ext cx="2192338" cy="2322512"/>
            <a:chOff x="667" y="1698"/>
            <a:chExt cx="1381" cy="1463"/>
          </a:xfrm>
        </p:grpSpPr>
        <p:sp>
          <p:nvSpPr>
            <p:cNvPr id="545854" name="AutoShape 43"/>
            <p:cNvSpPr>
              <a:spLocks noChangeArrowheads="1"/>
            </p:cNvSpPr>
            <p:nvPr/>
          </p:nvSpPr>
          <p:spPr bwMode="auto">
            <a:xfrm>
              <a:off x="748" y="1698"/>
              <a:ext cx="602" cy="1463"/>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15 w 21600"/>
                <a:gd name="T13" fmla="*/ 2909 h 21600"/>
                <a:gd name="T14" fmla="*/ 18227 w 21600"/>
                <a:gd name="T15" fmla="*/ 9242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rgbClr val="FF66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5855" name="Text Box 44"/>
            <p:cNvSpPr txBox="1">
              <a:spLocks noChangeArrowheads="1"/>
            </p:cNvSpPr>
            <p:nvPr/>
          </p:nvSpPr>
          <p:spPr bwMode="auto">
            <a:xfrm>
              <a:off x="667" y="1958"/>
              <a:ext cx="1381"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2400">
                  <a:solidFill>
                    <a:schemeClr val="bg1"/>
                  </a:solidFill>
                </a:rPr>
                <a:t>Flue Gas</a:t>
              </a:r>
              <a:endParaRPr lang="th-TH" altLang="en-US" sz="2400">
                <a:solidFill>
                  <a:schemeClr val="bg1"/>
                </a:solidFill>
              </a:endParaRPr>
            </a:p>
          </p:txBody>
        </p:sp>
      </p:grpSp>
      <p:grpSp>
        <p:nvGrpSpPr>
          <p:cNvPr id="1058861" name="Group 45"/>
          <p:cNvGrpSpPr>
            <a:grpSpLocks/>
          </p:cNvGrpSpPr>
          <p:nvPr/>
        </p:nvGrpSpPr>
        <p:grpSpPr bwMode="auto">
          <a:xfrm>
            <a:off x="4572000" y="4276725"/>
            <a:ext cx="1992313" cy="1216025"/>
            <a:chOff x="2926" y="2771"/>
            <a:chExt cx="1255" cy="766"/>
          </a:xfrm>
        </p:grpSpPr>
        <p:sp>
          <p:nvSpPr>
            <p:cNvPr id="545852" name="AutoShape 46"/>
            <p:cNvSpPr>
              <a:spLocks noChangeArrowheads="1"/>
            </p:cNvSpPr>
            <p:nvPr/>
          </p:nvSpPr>
          <p:spPr bwMode="auto">
            <a:xfrm>
              <a:off x="3288" y="2771"/>
              <a:ext cx="238" cy="465"/>
            </a:xfrm>
            <a:prstGeom prst="upArrow">
              <a:avLst>
                <a:gd name="adj1" fmla="val 50000"/>
                <a:gd name="adj2" fmla="val 48845"/>
              </a:avLst>
            </a:prstGeom>
            <a:solidFill>
              <a:srgbClr val="0000FF"/>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1058863" name="Text Box 47"/>
            <p:cNvSpPr txBox="1">
              <a:spLocks noChangeArrowheads="1"/>
            </p:cNvSpPr>
            <p:nvPr/>
          </p:nvSpPr>
          <p:spPr bwMode="auto">
            <a:xfrm>
              <a:off x="2926" y="3325"/>
              <a:ext cx="1255"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1600">
                  <a:solidFill>
                    <a:srgbClr val="0000FF"/>
                  </a:solidFill>
                  <a:effectLst>
                    <a:outerShdw blurRad="38100" dist="38100" dir="2700000" algn="tl">
                      <a:srgbClr val="000000"/>
                    </a:outerShdw>
                  </a:effectLst>
                </a:rPr>
                <a:t>Boiler Bank</a:t>
              </a:r>
              <a:endParaRPr lang="th-TH" altLang="en-US" sz="1600">
                <a:solidFill>
                  <a:srgbClr val="0000FF"/>
                </a:solidFill>
                <a:effectLst>
                  <a:outerShdw blurRad="38100" dist="38100" dir="2700000" algn="tl">
                    <a:srgbClr val="000000"/>
                  </a:outerShdw>
                </a:effectLst>
              </a:endParaRPr>
            </a:p>
          </p:txBody>
        </p:sp>
      </p:grpSp>
      <p:grpSp>
        <p:nvGrpSpPr>
          <p:cNvPr id="1058864" name="Group 48"/>
          <p:cNvGrpSpPr>
            <a:grpSpLocks/>
          </p:cNvGrpSpPr>
          <p:nvPr/>
        </p:nvGrpSpPr>
        <p:grpSpPr bwMode="auto">
          <a:xfrm>
            <a:off x="5705475" y="4010025"/>
            <a:ext cx="1655763" cy="1665288"/>
            <a:chOff x="3594" y="2610"/>
            <a:chExt cx="1043" cy="1049"/>
          </a:xfrm>
        </p:grpSpPr>
        <p:sp>
          <p:nvSpPr>
            <p:cNvPr id="545850" name="AutoShape 49"/>
            <p:cNvSpPr>
              <a:spLocks noChangeArrowheads="1"/>
            </p:cNvSpPr>
            <p:nvPr/>
          </p:nvSpPr>
          <p:spPr bwMode="auto">
            <a:xfrm>
              <a:off x="3594" y="2610"/>
              <a:ext cx="189" cy="787"/>
            </a:xfrm>
            <a:prstGeom prst="upArrow">
              <a:avLst>
                <a:gd name="adj1" fmla="val 50000"/>
                <a:gd name="adj2" fmla="val 104101"/>
              </a:avLst>
            </a:prstGeom>
            <a:solidFill>
              <a:srgbClr val="9E0075"/>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1058866" name="Text Box 50"/>
            <p:cNvSpPr txBox="1">
              <a:spLocks noChangeArrowheads="1"/>
            </p:cNvSpPr>
            <p:nvPr/>
          </p:nvSpPr>
          <p:spPr bwMode="auto">
            <a:xfrm>
              <a:off x="3632" y="3428"/>
              <a:ext cx="1005"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a:solidFill>
                    <a:srgbClr val="9E0075"/>
                  </a:solidFill>
                  <a:effectLst>
                    <a:outerShdw blurRad="38100" dist="38100" dir="2700000" algn="tl">
                      <a:srgbClr val="000000"/>
                    </a:outerShdw>
                  </a:effectLst>
                </a:rPr>
                <a:t>Economizer</a:t>
              </a:r>
              <a:endParaRPr lang="th-TH" altLang="en-US">
                <a:solidFill>
                  <a:srgbClr val="9E0075"/>
                </a:solidFill>
                <a:effectLst>
                  <a:outerShdw blurRad="38100" dist="38100" dir="2700000" algn="tl">
                    <a:srgbClr val="000000"/>
                  </a:outerShdw>
                </a:effectLst>
              </a:endParaRPr>
            </a:p>
          </p:txBody>
        </p:sp>
      </p:grpSp>
      <p:sp>
        <p:nvSpPr>
          <p:cNvPr id="1058867" name="Text Box 51"/>
          <p:cNvSpPr txBox="1">
            <a:spLocks noChangeArrowheads="1"/>
          </p:cNvSpPr>
          <p:nvPr/>
        </p:nvSpPr>
        <p:spPr bwMode="auto">
          <a:xfrm>
            <a:off x="2320925" y="1225550"/>
            <a:ext cx="9223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2000" dirty="0">
                <a:effectLst>
                  <a:outerShdw blurRad="38100" dist="38100" dir="2700000" algn="tl">
                    <a:srgbClr val="000000"/>
                  </a:outerShdw>
                </a:effectLst>
              </a:rPr>
              <a:t>Drum</a:t>
            </a:r>
            <a:endParaRPr lang="th-TH" altLang="en-US" sz="2000" dirty="0">
              <a:effectLst>
                <a:outerShdw blurRad="38100" dist="38100" dir="2700000" algn="tl">
                  <a:srgbClr val="000000"/>
                </a:outerShdw>
              </a:effectLst>
            </a:endParaRPr>
          </a:p>
        </p:txBody>
      </p:sp>
      <p:grpSp>
        <p:nvGrpSpPr>
          <p:cNvPr id="1058868" name="Group 52"/>
          <p:cNvGrpSpPr>
            <a:grpSpLocks/>
          </p:cNvGrpSpPr>
          <p:nvPr/>
        </p:nvGrpSpPr>
        <p:grpSpPr bwMode="auto">
          <a:xfrm>
            <a:off x="6005513" y="4114800"/>
            <a:ext cx="3559175" cy="1714500"/>
            <a:chOff x="3783" y="2676"/>
            <a:chExt cx="2242" cy="1080"/>
          </a:xfrm>
        </p:grpSpPr>
        <p:sp>
          <p:nvSpPr>
            <p:cNvPr id="1058869" name="Text Box 53"/>
            <p:cNvSpPr txBox="1">
              <a:spLocks noChangeArrowheads="1"/>
            </p:cNvSpPr>
            <p:nvPr/>
          </p:nvSpPr>
          <p:spPr bwMode="auto">
            <a:xfrm>
              <a:off x="4293" y="2899"/>
              <a:ext cx="173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2000" dirty="0">
                  <a:solidFill>
                    <a:schemeClr val="hlink"/>
                  </a:solidFill>
                  <a:effectLst>
                    <a:outerShdw blurRad="38100" dist="38100" dir="2700000" algn="tl">
                      <a:srgbClr val="000000"/>
                    </a:outerShdw>
                  </a:effectLst>
                </a:rPr>
                <a:t>Feed Water Pump</a:t>
              </a:r>
              <a:endParaRPr lang="th-TH" altLang="en-US" sz="2000" dirty="0">
                <a:solidFill>
                  <a:schemeClr val="hlink"/>
                </a:solidFill>
                <a:effectLst>
                  <a:outerShdw blurRad="38100" dist="38100" dir="2700000" algn="tl">
                    <a:srgbClr val="000000"/>
                  </a:outerShdw>
                </a:effectLst>
              </a:endParaRPr>
            </a:p>
          </p:txBody>
        </p:sp>
        <p:grpSp>
          <p:nvGrpSpPr>
            <p:cNvPr id="545845" name="Group 54"/>
            <p:cNvGrpSpPr>
              <a:grpSpLocks/>
            </p:cNvGrpSpPr>
            <p:nvPr/>
          </p:nvGrpSpPr>
          <p:grpSpPr bwMode="auto">
            <a:xfrm>
              <a:off x="3783" y="2676"/>
              <a:ext cx="1729" cy="1080"/>
              <a:chOff x="3783" y="2676"/>
              <a:chExt cx="1729" cy="1080"/>
            </a:xfrm>
          </p:grpSpPr>
          <p:sp>
            <p:nvSpPr>
              <p:cNvPr id="545846" name="AutoShape 55"/>
              <p:cNvSpPr>
                <a:spLocks noChangeArrowheads="1"/>
              </p:cNvSpPr>
              <p:nvPr/>
            </p:nvSpPr>
            <p:spPr bwMode="auto">
              <a:xfrm rot="10800000">
                <a:off x="5005" y="3161"/>
                <a:ext cx="507" cy="595"/>
              </a:xfrm>
              <a:prstGeom prst="flowChartMagneticTape">
                <a:avLst/>
              </a:prstGeom>
              <a:solidFill>
                <a:srgbClr val="3366FF"/>
              </a:solidFill>
              <a:ln w="19050"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545847" name="Line 56"/>
              <p:cNvSpPr>
                <a:spLocks noChangeShapeType="1"/>
              </p:cNvSpPr>
              <p:nvPr/>
            </p:nvSpPr>
            <p:spPr bwMode="auto">
              <a:xfrm flipH="1">
                <a:off x="4135" y="3241"/>
                <a:ext cx="870" cy="0"/>
              </a:xfrm>
              <a:prstGeom prst="line">
                <a:avLst/>
              </a:prstGeom>
              <a:noFill/>
              <a:ln w="539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5848" name="Line 57"/>
              <p:cNvSpPr>
                <a:spLocks noChangeShapeType="1"/>
              </p:cNvSpPr>
              <p:nvPr/>
            </p:nvSpPr>
            <p:spPr bwMode="auto">
              <a:xfrm flipV="1">
                <a:off x="4135" y="2676"/>
                <a:ext cx="0" cy="565"/>
              </a:xfrm>
              <a:prstGeom prst="line">
                <a:avLst/>
              </a:prstGeom>
              <a:noFill/>
              <a:ln w="539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5849" name="Line 58"/>
              <p:cNvSpPr>
                <a:spLocks noChangeShapeType="1"/>
              </p:cNvSpPr>
              <p:nvPr/>
            </p:nvSpPr>
            <p:spPr bwMode="auto">
              <a:xfrm flipH="1">
                <a:off x="3783" y="2676"/>
                <a:ext cx="352" cy="0"/>
              </a:xfrm>
              <a:prstGeom prst="line">
                <a:avLst/>
              </a:prstGeom>
              <a:noFill/>
              <a:ln w="53975">
                <a:solidFill>
                  <a:srgbClr val="00FF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545806" name="AutoShape 59"/>
          <p:cNvSpPr>
            <a:spLocks noChangeArrowheads="1"/>
          </p:cNvSpPr>
          <p:nvPr/>
        </p:nvSpPr>
        <p:spPr bwMode="auto">
          <a:xfrm>
            <a:off x="4064000" y="6350000"/>
            <a:ext cx="377825" cy="325438"/>
          </a:xfrm>
          <a:prstGeom prst="flowChartConnector">
            <a:avLst/>
          </a:prstGeom>
          <a:solidFill>
            <a:srgbClr val="0000FF"/>
          </a:solidFill>
          <a:ln w="34925" algn="ctr">
            <a:solidFill>
              <a:srgbClr val="00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grpSp>
        <p:nvGrpSpPr>
          <p:cNvPr id="1058876" name="Group 60"/>
          <p:cNvGrpSpPr>
            <a:grpSpLocks/>
          </p:cNvGrpSpPr>
          <p:nvPr/>
        </p:nvGrpSpPr>
        <p:grpSpPr bwMode="auto">
          <a:xfrm>
            <a:off x="215900" y="5773738"/>
            <a:ext cx="3027363" cy="479425"/>
            <a:chOff x="136" y="3721"/>
            <a:chExt cx="1907" cy="302"/>
          </a:xfrm>
        </p:grpSpPr>
        <p:sp>
          <p:nvSpPr>
            <p:cNvPr id="545842" name="AutoShape 61"/>
            <p:cNvSpPr>
              <a:spLocks noChangeArrowheads="1"/>
            </p:cNvSpPr>
            <p:nvPr/>
          </p:nvSpPr>
          <p:spPr bwMode="auto">
            <a:xfrm>
              <a:off x="1224" y="3756"/>
              <a:ext cx="819" cy="267"/>
            </a:xfrm>
            <a:prstGeom prst="rightArrow">
              <a:avLst>
                <a:gd name="adj1" fmla="val 50000"/>
                <a:gd name="adj2" fmla="val 76685"/>
              </a:avLst>
            </a:prstGeom>
            <a:solidFill>
              <a:srgbClr val="FF0000"/>
            </a:solidFill>
            <a:ln w="9525" algn="ctr">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1058878" name="Text Box 62"/>
            <p:cNvSpPr txBox="1">
              <a:spLocks noChangeArrowheads="1"/>
            </p:cNvSpPr>
            <p:nvPr/>
          </p:nvSpPr>
          <p:spPr bwMode="auto">
            <a:xfrm>
              <a:off x="136" y="3721"/>
              <a:ext cx="108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2400">
                  <a:solidFill>
                    <a:schemeClr val="hlink"/>
                  </a:solidFill>
                  <a:effectLst>
                    <a:outerShdw blurRad="38100" dist="38100" dir="2700000" algn="tl">
                      <a:srgbClr val="000000"/>
                    </a:outerShdw>
                  </a:effectLst>
                </a:rPr>
                <a:t>Wall tube</a:t>
              </a:r>
              <a:endParaRPr lang="th-TH" altLang="en-US" sz="2400">
                <a:solidFill>
                  <a:schemeClr val="hlink"/>
                </a:solidFill>
                <a:effectLst>
                  <a:outerShdw blurRad="38100" dist="38100" dir="2700000" algn="tl">
                    <a:srgbClr val="000000"/>
                  </a:outerShdw>
                </a:effectLst>
              </a:endParaRPr>
            </a:p>
          </p:txBody>
        </p:sp>
      </p:grpSp>
      <p:grpSp>
        <p:nvGrpSpPr>
          <p:cNvPr id="1058879" name="Group 63"/>
          <p:cNvGrpSpPr>
            <a:grpSpLocks/>
          </p:cNvGrpSpPr>
          <p:nvPr/>
        </p:nvGrpSpPr>
        <p:grpSpPr bwMode="auto">
          <a:xfrm>
            <a:off x="215900" y="1782763"/>
            <a:ext cx="3886200" cy="4616450"/>
            <a:chOff x="136" y="1207"/>
            <a:chExt cx="2448" cy="2908"/>
          </a:xfrm>
        </p:grpSpPr>
        <p:grpSp>
          <p:nvGrpSpPr>
            <p:cNvPr id="545835" name="Group 64"/>
            <p:cNvGrpSpPr>
              <a:grpSpLocks/>
            </p:cNvGrpSpPr>
            <p:nvPr/>
          </p:nvGrpSpPr>
          <p:grpSpPr bwMode="auto">
            <a:xfrm>
              <a:off x="1803" y="1207"/>
              <a:ext cx="781" cy="2908"/>
              <a:chOff x="1803" y="1207"/>
              <a:chExt cx="781" cy="2908"/>
            </a:xfrm>
          </p:grpSpPr>
          <p:sp>
            <p:nvSpPr>
              <p:cNvPr id="545839" name="Line 65"/>
              <p:cNvSpPr>
                <a:spLocks noChangeShapeType="1"/>
              </p:cNvSpPr>
              <p:nvPr/>
            </p:nvSpPr>
            <p:spPr bwMode="auto">
              <a:xfrm flipH="1">
                <a:off x="1803" y="1207"/>
                <a:ext cx="191" cy="307"/>
              </a:xfrm>
              <a:prstGeom prst="line">
                <a:avLst/>
              </a:prstGeom>
              <a:noFill/>
              <a:ln w="41275">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5840" name="Line 66"/>
              <p:cNvSpPr>
                <a:spLocks noChangeShapeType="1"/>
              </p:cNvSpPr>
              <p:nvPr/>
            </p:nvSpPr>
            <p:spPr bwMode="auto">
              <a:xfrm>
                <a:off x="1803" y="1514"/>
                <a:ext cx="0" cy="2601"/>
              </a:xfrm>
              <a:prstGeom prst="line">
                <a:avLst/>
              </a:prstGeom>
              <a:noFill/>
              <a:ln w="41275">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5841" name="Line 67"/>
              <p:cNvSpPr>
                <a:spLocks noChangeShapeType="1"/>
              </p:cNvSpPr>
              <p:nvPr/>
            </p:nvSpPr>
            <p:spPr bwMode="auto">
              <a:xfrm flipH="1">
                <a:off x="1803" y="4115"/>
                <a:ext cx="781" cy="0"/>
              </a:xfrm>
              <a:prstGeom prst="line">
                <a:avLst/>
              </a:prstGeom>
              <a:noFill/>
              <a:ln w="41275">
                <a:solidFill>
                  <a:srgbClr val="FF66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45836" name="Group 68"/>
            <p:cNvGrpSpPr>
              <a:grpSpLocks/>
            </p:cNvGrpSpPr>
            <p:nvPr/>
          </p:nvGrpSpPr>
          <p:grpSpPr bwMode="auto">
            <a:xfrm>
              <a:off x="136" y="2757"/>
              <a:ext cx="1564" cy="329"/>
              <a:chOff x="136" y="2757"/>
              <a:chExt cx="1564" cy="329"/>
            </a:xfrm>
          </p:grpSpPr>
          <p:sp>
            <p:nvSpPr>
              <p:cNvPr id="545837" name="AutoShape 69"/>
              <p:cNvSpPr>
                <a:spLocks noChangeArrowheads="1"/>
              </p:cNvSpPr>
              <p:nvPr/>
            </p:nvSpPr>
            <p:spPr bwMode="auto">
              <a:xfrm>
                <a:off x="1306" y="2758"/>
                <a:ext cx="394" cy="328"/>
              </a:xfrm>
              <a:prstGeom prst="rightArrow">
                <a:avLst>
                  <a:gd name="adj1" fmla="val 50000"/>
                  <a:gd name="adj2" fmla="val 30030"/>
                </a:avLst>
              </a:prstGeom>
              <a:solidFill>
                <a:srgbClr val="FF0000"/>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1058886" name="Text Box 70"/>
              <p:cNvSpPr txBox="1">
                <a:spLocks noChangeArrowheads="1"/>
              </p:cNvSpPr>
              <p:nvPr/>
            </p:nvSpPr>
            <p:spPr bwMode="auto">
              <a:xfrm>
                <a:off x="136" y="2757"/>
                <a:ext cx="1564"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2000">
                    <a:solidFill>
                      <a:schemeClr val="hlink"/>
                    </a:solidFill>
                    <a:effectLst>
                      <a:outerShdw blurRad="38100" dist="38100" dir="2700000" algn="tl">
                        <a:srgbClr val="000000"/>
                      </a:outerShdw>
                    </a:effectLst>
                  </a:rPr>
                  <a:t>Down Comer</a:t>
                </a:r>
                <a:endParaRPr lang="th-TH" altLang="en-US" sz="2000">
                  <a:solidFill>
                    <a:schemeClr val="hlink"/>
                  </a:solidFill>
                  <a:effectLst>
                    <a:outerShdw blurRad="38100" dist="38100" dir="2700000" algn="tl">
                      <a:srgbClr val="000000"/>
                    </a:outerShdw>
                  </a:effectLst>
                </a:endParaRPr>
              </a:p>
            </p:txBody>
          </p:sp>
        </p:grpSp>
      </p:grpSp>
      <p:grpSp>
        <p:nvGrpSpPr>
          <p:cNvPr id="1058887" name="Group 71"/>
          <p:cNvGrpSpPr>
            <a:grpSpLocks/>
          </p:cNvGrpSpPr>
          <p:nvPr/>
        </p:nvGrpSpPr>
        <p:grpSpPr bwMode="auto">
          <a:xfrm>
            <a:off x="3392488" y="782638"/>
            <a:ext cx="2522537" cy="1096962"/>
            <a:chOff x="2137" y="577"/>
            <a:chExt cx="1589" cy="691"/>
          </a:xfrm>
        </p:grpSpPr>
        <p:sp>
          <p:nvSpPr>
            <p:cNvPr id="545832" name="Line 72"/>
            <p:cNvSpPr>
              <a:spLocks noChangeShapeType="1"/>
            </p:cNvSpPr>
            <p:nvPr/>
          </p:nvSpPr>
          <p:spPr bwMode="auto">
            <a:xfrm flipV="1">
              <a:off x="3726" y="577"/>
              <a:ext cx="0" cy="691"/>
            </a:xfrm>
            <a:prstGeom prst="line">
              <a:avLst/>
            </a:prstGeom>
            <a:noFill/>
            <a:ln w="47625">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5833" name="Line 73"/>
            <p:cNvSpPr>
              <a:spLocks noChangeShapeType="1"/>
            </p:cNvSpPr>
            <p:nvPr/>
          </p:nvSpPr>
          <p:spPr bwMode="auto">
            <a:xfrm flipH="1">
              <a:off x="2137" y="577"/>
              <a:ext cx="1589" cy="0"/>
            </a:xfrm>
            <a:prstGeom prst="line">
              <a:avLst/>
            </a:prstGeom>
            <a:noFill/>
            <a:ln w="47625">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5834" name="Line 74"/>
            <p:cNvSpPr>
              <a:spLocks noChangeShapeType="1"/>
            </p:cNvSpPr>
            <p:nvPr/>
          </p:nvSpPr>
          <p:spPr bwMode="auto">
            <a:xfrm>
              <a:off x="2137" y="577"/>
              <a:ext cx="0" cy="404"/>
            </a:xfrm>
            <a:prstGeom prst="line">
              <a:avLst/>
            </a:prstGeom>
            <a:noFill/>
            <a:ln w="47625">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058891" name="Group 75"/>
          <p:cNvGrpSpPr>
            <a:grpSpLocks/>
          </p:cNvGrpSpPr>
          <p:nvPr/>
        </p:nvGrpSpPr>
        <p:grpSpPr bwMode="auto">
          <a:xfrm>
            <a:off x="3492500" y="1225550"/>
            <a:ext cx="1358900" cy="630238"/>
            <a:chOff x="2200" y="775"/>
            <a:chExt cx="460" cy="478"/>
          </a:xfrm>
        </p:grpSpPr>
        <p:sp>
          <p:nvSpPr>
            <p:cNvPr id="545829" name="Line 76"/>
            <p:cNvSpPr>
              <a:spLocks noChangeShapeType="1"/>
            </p:cNvSpPr>
            <p:nvPr/>
          </p:nvSpPr>
          <p:spPr bwMode="auto">
            <a:xfrm flipV="1">
              <a:off x="2200" y="775"/>
              <a:ext cx="0" cy="206"/>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5830" name="Line 77"/>
            <p:cNvSpPr>
              <a:spLocks noChangeShapeType="1"/>
            </p:cNvSpPr>
            <p:nvPr/>
          </p:nvSpPr>
          <p:spPr bwMode="auto">
            <a:xfrm>
              <a:off x="2200" y="775"/>
              <a:ext cx="460"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5831" name="Line 78"/>
            <p:cNvSpPr>
              <a:spLocks noChangeShapeType="1"/>
            </p:cNvSpPr>
            <p:nvPr/>
          </p:nvSpPr>
          <p:spPr bwMode="auto">
            <a:xfrm>
              <a:off x="2660" y="775"/>
              <a:ext cx="0" cy="478"/>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058895" name="Group 79"/>
          <p:cNvGrpSpPr>
            <a:grpSpLocks/>
          </p:cNvGrpSpPr>
          <p:nvPr/>
        </p:nvGrpSpPr>
        <p:grpSpPr bwMode="auto">
          <a:xfrm>
            <a:off x="4252913" y="1096963"/>
            <a:ext cx="4497387" cy="758825"/>
            <a:chOff x="2679" y="775"/>
            <a:chExt cx="2833" cy="478"/>
          </a:xfrm>
        </p:grpSpPr>
        <p:grpSp>
          <p:nvGrpSpPr>
            <p:cNvPr id="545825" name="Group 80"/>
            <p:cNvGrpSpPr>
              <a:grpSpLocks/>
            </p:cNvGrpSpPr>
            <p:nvPr/>
          </p:nvGrpSpPr>
          <p:grpSpPr bwMode="auto">
            <a:xfrm>
              <a:off x="2679" y="775"/>
              <a:ext cx="2118" cy="478"/>
              <a:chOff x="2679" y="775"/>
              <a:chExt cx="2118" cy="478"/>
            </a:xfrm>
          </p:grpSpPr>
          <p:sp>
            <p:nvSpPr>
              <p:cNvPr id="545827" name="Line 81"/>
              <p:cNvSpPr>
                <a:spLocks noChangeShapeType="1"/>
              </p:cNvSpPr>
              <p:nvPr/>
            </p:nvSpPr>
            <p:spPr bwMode="auto">
              <a:xfrm flipV="1">
                <a:off x="2679" y="775"/>
                <a:ext cx="0" cy="478"/>
              </a:xfrm>
              <a:prstGeom prst="line">
                <a:avLst/>
              </a:prstGeom>
              <a:noFill/>
              <a:ln w="38100">
                <a:solidFill>
                  <a:srgbClr val="99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5828" name="Line 82"/>
              <p:cNvSpPr>
                <a:spLocks noChangeShapeType="1"/>
              </p:cNvSpPr>
              <p:nvPr/>
            </p:nvSpPr>
            <p:spPr bwMode="auto">
              <a:xfrm>
                <a:off x="2679" y="775"/>
                <a:ext cx="2118" cy="0"/>
              </a:xfrm>
              <a:prstGeom prst="line">
                <a:avLst/>
              </a:prstGeom>
              <a:noFill/>
              <a:ln w="38100">
                <a:solidFill>
                  <a:srgbClr val="9933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058899" name="Text Box 83"/>
            <p:cNvSpPr txBox="1">
              <a:spLocks noChangeArrowheads="1"/>
            </p:cNvSpPr>
            <p:nvPr/>
          </p:nvSpPr>
          <p:spPr bwMode="auto">
            <a:xfrm>
              <a:off x="4409" y="856"/>
              <a:ext cx="110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2400">
                  <a:solidFill>
                    <a:srgbClr val="FF0000"/>
                  </a:solidFill>
                  <a:effectLst>
                    <a:outerShdw blurRad="38100" dist="38100" dir="2700000" algn="tl">
                      <a:srgbClr val="000000"/>
                    </a:outerShdw>
                  </a:effectLst>
                </a:rPr>
                <a:t>To turbine</a:t>
              </a:r>
              <a:endParaRPr lang="th-TH" altLang="en-US" sz="2400">
                <a:solidFill>
                  <a:srgbClr val="FF0000"/>
                </a:solidFill>
                <a:effectLst>
                  <a:outerShdw blurRad="38100" dist="38100" dir="2700000" algn="tl">
                    <a:srgbClr val="000000"/>
                  </a:outerShdw>
                </a:effectLst>
              </a:endParaRPr>
            </a:p>
          </p:txBody>
        </p:sp>
      </p:grpSp>
      <p:grpSp>
        <p:nvGrpSpPr>
          <p:cNvPr id="1058900" name="Group 84"/>
          <p:cNvGrpSpPr>
            <a:grpSpLocks/>
          </p:cNvGrpSpPr>
          <p:nvPr/>
        </p:nvGrpSpPr>
        <p:grpSpPr bwMode="auto">
          <a:xfrm>
            <a:off x="4902200" y="4418013"/>
            <a:ext cx="695325" cy="347662"/>
            <a:chOff x="3088" y="2867"/>
            <a:chExt cx="438" cy="219"/>
          </a:xfrm>
        </p:grpSpPr>
        <p:sp>
          <p:nvSpPr>
            <p:cNvPr id="545823" name="Line 85"/>
            <p:cNvSpPr>
              <a:spLocks noChangeShapeType="1"/>
            </p:cNvSpPr>
            <p:nvPr/>
          </p:nvSpPr>
          <p:spPr bwMode="auto">
            <a:xfrm>
              <a:off x="3088" y="3086"/>
              <a:ext cx="438" cy="0"/>
            </a:xfrm>
            <a:prstGeom prst="line">
              <a:avLst/>
            </a:prstGeom>
            <a:noFill/>
            <a:ln w="412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5824" name="Line 86"/>
            <p:cNvSpPr>
              <a:spLocks noChangeShapeType="1"/>
            </p:cNvSpPr>
            <p:nvPr/>
          </p:nvSpPr>
          <p:spPr bwMode="auto">
            <a:xfrm flipV="1">
              <a:off x="3526" y="2867"/>
              <a:ext cx="0" cy="219"/>
            </a:xfrm>
            <a:prstGeom prst="line">
              <a:avLst/>
            </a:prstGeom>
            <a:noFill/>
            <a:ln w="41275">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058903" name="Group 87"/>
          <p:cNvGrpSpPr>
            <a:grpSpLocks/>
          </p:cNvGrpSpPr>
          <p:nvPr/>
        </p:nvGrpSpPr>
        <p:grpSpPr bwMode="auto">
          <a:xfrm>
            <a:off x="3243263" y="544513"/>
            <a:ext cx="2143125" cy="1335087"/>
            <a:chOff x="2043" y="427"/>
            <a:chExt cx="1350" cy="841"/>
          </a:xfrm>
        </p:grpSpPr>
        <p:sp>
          <p:nvSpPr>
            <p:cNvPr id="545820" name="Line 88"/>
            <p:cNvSpPr>
              <a:spLocks noChangeShapeType="1"/>
            </p:cNvSpPr>
            <p:nvPr/>
          </p:nvSpPr>
          <p:spPr bwMode="auto">
            <a:xfrm flipV="1">
              <a:off x="3393" y="427"/>
              <a:ext cx="0" cy="841"/>
            </a:xfrm>
            <a:prstGeom prst="line">
              <a:avLst/>
            </a:prstGeom>
            <a:noFill/>
            <a:ln w="412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5821" name="Line 89"/>
            <p:cNvSpPr>
              <a:spLocks noChangeShapeType="1"/>
            </p:cNvSpPr>
            <p:nvPr/>
          </p:nvSpPr>
          <p:spPr bwMode="auto">
            <a:xfrm flipH="1">
              <a:off x="2043" y="427"/>
              <a:ext cx="1350" cy="0"/>
            </a:xfrm>
            <a:prstGeom prst="line">
              <a:avLst/>
            </a:prstGeom>
            <a:noFill/>
            <a:ln w="412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5822" name="Line 90"/>
            <p:cNvSpPr>
              <a:spLocks noChangeShapeType="1"/>
            </p:cNvSpPr>
            <p:nvPr/>
          </p:nvSpPr>
          <p:spPr bwMode="auto">
            <a:xfrm>
              <a:off x="2043" y="427"/>
              <a:ext cx="0" cy="600"/>
            </a:xfrm>
            <a:prstGeom prst="line">
              <a:avLst/>
            </a:prstGeom>
            <a:noFill/>
            <a:ln w="412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058907" name="Group 91"/>
          <p:cNvGrpSpPr>
            <a:grpSpLocks/>
          </p:cNvGrpSpPr>
          <p:nvPr/>
        </p:nvGrpSpPr>
        <p:grpSpPr bwMode="auto">
          <a:xfrm>
            <a:off x="4252913" y="782638"/>
            <a:ext cx="2311400" cy="1119187"/>
            <a:chOff x="2679" y="577"/>
            <a:chExt cx="1456" cy="705"/>
          </a:xfrm>
        </p:grpSpPr>
        <p:sp>
          <p:nvSpPr>
            <p:cNvPr id="545818" name="AutoShape 92"/>
            <p:cNvSpPr>
              <a:spLocks noChangeArrowheads="1"/>
            </p:cNvSpPr>
            <p:nvPr/>
          </p:nvSpPr>
          <p:spPr bwMode="auto">
            <a:xfrm>
              <a:off x="2679" y="775"/>
              <a:ext cx="201" cy="507"/>
            </a:xfrm>
            <a:prstGeom prst="downArrow">
              <a:avLst>
                <a:gd name="adj1" fmla="val 50000"/>
                <a:gd name="adj2" fmla="val 63060"/>
              </a:avLst>
            </a:prstGeom>
            <a:solidFill>
              <a:srgbClr val="FF0000"/>
            </a:solidFill>
            <a:ln w="9525" algn="ctr">
              <a:solidFill>
                <a:schemeClr val="tx1"/>
              </a:solidFill>
              <a:prstDash val="lg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1058909" name="Text Box 93"/>
            <p:cNvSpPr txBox="1">
              <a:spLocks noChangeArrowheads="1"/>
            </p:cNvSpPr>
            <p:nvPr/>
          </p:nvSpPr>
          <p:spPr bwMode="auto">
            <a:xfrm>
              <a:off x="2926" y="577"/>
              <a:ext cx="1209"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a:solidFill>
                    <a:srgbClr val="FF0000"/>
                  </a:solidFill>
                  <a:effectLst>
                    <a:outerShdw blurRad="38100" dist="38100" dir="2700000" algn="tl">
                      <a:srgbClr val="000000"/>
                    </a:outerShdw>
                  </a:effectLst>
                </a:rPr>
                <a:t>Secondary Superheater</a:t>
              </a:r>
              <a:endParaRPr lang="th-TH" altLang="en-US">
                <a:solidFill>
                  <a:srgbClr val="FF0000"/>
                </a:solidFill>
                <a:effectLst>
                  <a:outerShdw blurRad="38100" dist="38100" dir="2700000" algn="tl">
                    <a:srgbClr val="000000"/>
                  </a:outerShdw>
                </a:effectLst>
              </a:endParaRPr>
            </a:p>
          </p:txBody>
        </p:sp>
      </p:grpSp>
      <p:sp>
        <p:nvSpPr>
          <p:cNvPr id="1058910" name="Text Box 94"/>
          <p:cNvSpPr txBox="1">
            <a:spLocks noChangeArrowheads="1"/>
          </p:cNvSpPr>
          <p:nvPr/>
        </p:nvSpPr>
        <p:spPr bwMode="auto">
          <a:xfrm>
            <a:off x="406400" y="385763"/>
            <a:ext cx="2316163"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th-TH" altLang="en-US" sz="3600" u="sng">
                <a:solidFill>
                  <a:srgbClr val="FF0000"/>
                </a:solidFill>
                <a:effectLst>
                  <a:outerShdw blurRad="38100" dist="38100" dir="2700000" algn="tl">
                    <a:srgbClr val="000000"/>
                  </a:outerShdw>
                </a:effectLst>
                <a:latin typeface="Angsana New" panose="02020603050405020304" pitchFamily="18" charset="-34"/>
              </a:rPr>
              <a:t>วงจรน้ำและไอน้ำ</a:t>
            </a:r>
          </a:p>
        </p:txBody>
      </p:sp>
      <p:sp>
        <p:nvSpPr>
          <p:cNvPr id="1058911" name="Text Box 95"/>
          <p:cNvSpPr txBox="1">
            <a:spLocks noChangeArrowheads="1"/>
          </p:cNvSpPr>
          <p:nvPr/>
        </p:nvSpPr>
        <p:spPr bwMode="auto">
          <a:xfrm>
            <a:off x="215900" y="2270125"/>
            <a:ext cx="248285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3200">
                <a:solidFill>
                  <a:srgbClr val="FF0000"/>
                </a:solidFill>
                <a:effectLst>
                  <a:outerShdw blurRad="38100" dist="38100" dir="2700000" algn="tl">
                    <a:srgbClr val="000000"/>
                  </a:outerShdw>
                </a:effectLst>
              </a:rPr>
              <a:t>Natural Circulation</a:t>
            </a:r>
            <a:endParaRPr lang="th-TH" altLang="en-US" sz="3200">
              <a:solidFill>
                <a:srgbClr val="FF0000"/>
              </a:solidFill>
              <a:effectLst>
                <a:outerShdw blurRad="38100" dist="38100" dir="2700000" algn="tl">
                  <a:srgbClr val="000000"/>
                </a:outerShdw>
              </a:effectLst>
            </a:endParaRPr>
          </a:p>
        </p:txBody>
      </p:sp>
      <p:sp>
        <p:nvSpPr>
          <p:cNvPr id="1058912" name="Rectangle 96"/>
          <p:cNvSpPr>
            <a:spLocks noChangeArrowheads="1"/>
          </p:cNvSpPr>
          <p:nvPr/>
        </p:nvSpPr>
        <p:spPr bwMode="auto">
          <a:xfrm>
            <a:off x="2320925" y="-60325"/>
            <a:ext cx="4357688" cy="585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sz="3200" dirty="0">
                <a:effectLst>
                  <a:outerShdw blurRad="38100" dist="38100" dir="2700000" algn="tl">
                    <a:srgbClr val="000000"/>
                  </a:outerShdw>
                </a:effectLst>
              </a:rPr>
              <a:t>Water and Steam System</a:t>
            </a:r>
            <a:endParaRPr lang="th-TH" altLang="en-US" sz="3200" dirty="0">
              <a:effectLst>
                <a:outerShdw blurRad="38100" dist="38100" dir="2700000" algn="tl">
                  <a:srgbClr val="000000"/>
                </a:outerShdw>
              </a:effectLst>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058867"/>
                                        </p:tgtEl>
                                        <p:attrNameLst>
                                          <p:attrName>style.visibility</p:attrName>
                                        </p:attrNameLst>
                                      </p:cBhvr>
                                      <p:to>
                                        <p:strVal val="visible"/>
                                      </p:to>
                                    </p:set>
                                    <p:anim calcmode="lin" valueType="num">
                                      <p:cBhvr additive="base">
                                        <p:cTn id="7" dur="500" fill="hold"/>
                                        <p:tgtEl>
                                          <p:spTgt spid="1058867"/>
                                        </p:tgtEl>
                                        <p:attrNameLst>
                                          <p:attrName>ppt_x</p:attrName>
                                        </p:attrNameLst>
                                      </p:cBhvr>
                                      <p:tavLst>
                                        <p:tav tm="0">
                                          <p:val>
                                            <p:strVal val="#ppt_x"/>
                                          </p:val>
                                        </p:tav>
                                        <p:tav tm="100000">
                                          <p:val>
                                            <p:strVal val="#ppt_x"/>
                                          </p:val>
                                        </p:tav>
                                      </p:tavLst>
                                    </p:anim>
                                    <p:anim calcmode="lin" valueType="num">
                                      <p:cBhvr additive="base">
                                        <p:cTn id="8" dur="500" fill="hold"/>
                                        <p:tgtEl>
                                          <p:spTgt spid="1058867"/>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3" presetClass="entr" presetSubtype="10" fill="hold" nodeType="clickEffect">
                                  <p:stCondLst>
                                    <p:cond delay="0"/>
                                  </p:stCondLst>
                                  <p:childTnLst>
                                    <p:set>
                                      <p:cBhvr>
                                        <p:cTn id="12" dur="1" fill="hold">
                                          <p:stCondLst>
                                            <p:cond delay="0"/>
                                          </p:stCondLst>
                                        </p:cTn>
                                        <p:tgtEl>
                                          <p:spTgt spid="1058864"/>
                                        </p:tgtEl>
                                        <p:attrNameLst>
                                          <p:attrName>style.visibility</p:attrName>
                                        </p:attrNameLst>
                                      </p:cBhvr>
                                      <p:to>
                                        <p:strVal val="visible"/>
                                      </p:to>
                                    </p:set>
                                    <p:animEffect transition="in" filter="blinds(horizontal)">
                                      <p:cBhvr>
                                        <p:cTn id="13" dur="500"/>
                                        <p:tgtEl>
                                          <p:spTgt spid="1058864"/>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3" presetClass="entr" presetSubtype="10" fill="hold" nodeType="clickEffect">
                                  <p:stCondLst>
                                    <p:cond delay="0"/>
                                  </p:stCondLst>
                                  <p:childTnLst>
                                    <p:set>
                                      <p:cBhvr>
                                        <p:cTn id="17" dur="1" fill="hold">
                                          <p:stCondLst>
                                            <p:cond delay="0"/>
                                          </p:stCondLst>
                                        </p:cTn>
                                        <p:tgtEl>
                                          <p:spTgt spid="1058861"/>
                                        </p:tgtEl>
                                        <p:attrNameLst>
                                          <p:attrName>style.visibility</p:attrName>
                                        </p:attrNameLst>
                                      </p:cBhvr>
                                      <p:to>
                                        <p:strVal val="visible"/>
                                      </p:to>
                                    </p:set>
                                    <p:animEffect transition="in" filter="blinds(horizontal)">
                                      <p:cBhvr>
                                        <p:cTn id="18" dur="500"/>
                                        <p:tgtEl>
                                          <p:spTgt spid="1058861"/>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4" fill="hold" nodeType="clickEffect">
                                  <p:stCondLst>
                                    <p:cond delay="0"/>
                                  </p:stCondLst>
                                  <p:childTnLst>
                                    <p:set>
                                      <p:cBhvr>
                                        <p:cTn id="22" dur="1" fill="hold">
                                          <p:stCondLst>
                                            <p:cond delay="0"/>
                                          </p:stCondLst>
                                        </p:cTn>
                                        <p:tgtEl>
                                          <p:spTgt spid="1058855"/>
                                        </p:tgtEl>
                                        <p:attrNameLst>
                                          <p:attrName>style.visibility</p:attrName>
                                        </p:attrNameLst>
                                      </p:cBhvr>
                                      <p:to>
                                        <p:strVal val="visible"/>
                                      </p:to>
                                    </p:set>
                                    <p:anim calcmode="lin" valueType="num">
                                      <p:cBhvr additive="base">
                                        <p:cTn id="23" dur="500" fill="hold"/>
                                        <p:tgtEl>
                                          <p:spTgt spid="1058855"/>
                                        </p:tgtEl>
                                        <p:attrNameLst>
                                          <p:attrName>ppt_x</p:attrName>
                                        </p:attrNameLst>
                                      </p:cBhvr>
                                      <p:tavLst>
                                        <p:tav tm="0">
                                          <p:val>
                                            <p:strVal val="#ppt_x"/>
                                          </p:val>
                                        </p:tav>
                                        <p:tav tm="100000">
                                          <p:val>
                                            <p:strVal val="#ppt_x"/>
                                          </p:val>
                                        </p:tav>
                                      </p:tavLst>
                                    </p:anim>
                                    <p:anim calcmode="lin" valueType="num">
                                      <p:cBhvr additive="base">
                                        <p:cTn id="24" dur="500" fill="hold"/>
                                        <p:tgtEl>
                                          <p:spTgt spid="1058855"/>
                                        </p:tgtEl>
                                        <p:attrNameLst>
                                          <p:attrName>ppt_y</p:attrName>
                                        </p:attrNameLst>
                                      </p:cBhvr>
                                      <p:tavLst>
                                        <p:tav tm="0">
                                          <p:val>
                                            <p:strVal val="1+#ppt_h/2"/>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4" fill="hold" nodeType="clickEffect">
                                  <p:stCondLst>
                                    <p:cond delay="0"/>
                                  </p:stCondLst>
                                  <p:childTnLst>
                                    <p:set>
                                      <p:cBhvr>
                                        <p:cTn id="28" dur="1" fill="hold">
                                          <p:stCondLst>
                                            <p:cond delay="0"/>
                                          </p:stCondLst>
                                        </p:cTn>
                                        <p:tgtEl>
                                          <p:spTgt spid="1058907"/>
                                        </p:tgtEl>
                                        <p:attrNameLst>
                                          <p:attrName>style.visibility</p:attrName>
                                        </p:attrNameLst>
                                      </p:cBhvr>
                                      <p:to>
                                        <p:strVal val="visible"/>
                                      </p:to>
                                    </p:set>
                                    <p:anim calcmode="lin" valueType="num">
                                      <p:cBhvr additive="base">
                                        <p:cTn id="29" dur="500" fill="hold"/>
                                        <p:tgtEl>
                                          <p:spTgt spid="1058907"/>
                                        </p:tgtEl>
                                        <p:attrNameLst>
                                          <p:attrName>ppt_x</p:attrName>
                                        </p:attrNameLst>
                                      </p:cBhvr>
                                      <p:tavLst>
                                        <p:tav tm="0">
                                          <p:val>
                                            <p:strVal val="#ppt_x"/>
                                          </p:val>
                                        </p:tav>
                                        <p:tav tm="100000">
                                          <p:val>
                                            <p:strVal val="#ppt_x"/>
                                          </p:val>
                                        </p:tav>
                                      </p:tavLst>
                                    </p:anim>
                                    <p:anim calcmode="lin" valueType="num">
                                      <p:cBhvr additive="base">
                                        <p:cTn id="30" dur="500" fill="hold"/>
                                        <p:tgtEl>
                                          <p:spTgt spid="1058907"/>
                                        </p:tgtEl>
                                        <p:attrNameLst>
                                          <p:attrName>ppt_y</p:attrName>
                                        </p:attrNameLst>
                                      </p:cBhvr>
                                      <p:tavLst>
                                        <p:tav tm="0">
                                          <p:val>
                                            <p:strVal val="1+#ppt_h/2"/>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4" fill="hold" nodeType="clickEffect">
                                  <p:stCondLst>
                                    <p:cond delay="0"/>
                                  </p:stCondLst>
                                  <p:childTnLst>
                                    <p:set>
                                      <p:cBhvr>
                                        <p:cTn id="34" dur="1" fill="hold">
                                          <p:stCondLst>
                                            <p:cond delay="0"/>
                                          </p:stCondLst>
                                        </p:cTn>
                                        <p:tgtEl>
                                          <p:spTgt spid="1058876"/>
                                        </p:tgtEl>
                                        <p:attrNameLst>
                                          <p:attrName>style.visibility</p:attrName>
                                        </p:attrNameLst>
                                      </p:cBhvr>
                                      <p:to>
                                        <p:strVal val="visible"/>
                                      </p:to>
                                    </p:set>
                                    <p:anim calcmode="lin" valueType="num">
                                      <p:cBhvr additive="base">
                                        <p:cTn id="35" dur="500" fill="hold"/>
                                        <p:tgtEl>
                                          <p:spTgt spid="1058876"/>
                                        </p:tgtEl>
                                        <p:attrNameLst>
                                          <p:attrName>ppt_x</p:attrName>
                                        </p:attrNameLst>
                                      </p:cBhvr>
                                      <p:tavLst>
                                        <p:tav tm="0">
                                          <p:val>
                                            <p:strVal val="#ppt_x"/>
                                          </p:val>
                                        </p:tav>
                                        <p:tav tm="100000">
                                          <p:val>
                                            <p:strVal val="#ppt_x"/>
                                          </p:val>
                                        </p:tav>
                                      </p:tavLst>
                                    </p:anim>
                                    <p:anim calcmode="lin" valueType="num">
                                      <p:cBhvr additive="base">
                                        <p:cTn id="36" dur="500" fill="hold"/>
                                        <p:tgtEl>
                                          <p:spTgt spid="1058876"/>
                                        </p:tgtEl>
                                        <p:attrNameLst>
                                          <p:attrName>ppt_y</p:attrName>
                                        </p:attrNameLst>
                                      </p:cBhvr>
                                      <p:tavLst>
                                        <p:tav tm="0">
                                          <p:val>
                                            <p:strVal val="1+#ppt_h/2"/>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2" presetClass="entr" presetSubtype="4" fill="hold" nodeType="clickEffect">
                                  <p:stCondLst>
                                    <p:cond delay="0"/>
                                  </p:stCondLst>
                                  <p:childTnLst>
                                    <p:set>
                                      <p:cBhvr>
                                        <p:cTn id="40" dur="1" fill="hold">
                                          <p:stCondLst>
                                            <p:cond delay="0"/>
                                          </p:stCondLst>
                                        </p:cTn>
                                        <p:tgtEl>
                                          <p:spTgt spid="1058858"/>
                                        </p:tgtEl>
                                        <p:attrNameLst>
                                          <p:attrName>style.visibility</p:attrName>
                                        </p:attrNameLst>
                                      </p:cBhvr>
                                      <p:to>
                                        <p:strVal val="visible"/>
                                      </p:to>
                                    </p:set>
                                    <p:anim calcmode="lin" valueType="num">
                                      <p:cBhvr additive="base">
                                        <p:cTn id="41" dur="500" fill="hold"/>
                                        <p:tgtEl>
                                          <p:spTgt spid="1058858"/>
                                        </p:tgtEl>
                                        <p:attrNameLst>
                                          <p:attrName>ppt_x</p:attrName>
                                        </p:attrNameLst>
                                      </p:cBhvr>
                                      <p:tavLst>
                                        <p:tav tm="0">
                                          <p:val>
                                            <p:strVal val="#ppt_x"/>
                                          </p:val>
                                        </p:tav>
                                        <p:tav tm="100000">
                                          <p:val>
                                            <p:strVal val="#ppt_x"/>
                                          </p:val>
                                        </p:tav>
                                      </p:tavLst>
                                    </p:anim>
                                    <p:anim calcmode="lin" valueType="num">
                                      <p:cBhvr additive="base">
                                        <p:cTn id="42" dur="500" fill="hold"/>
                                        <p:tgtEl>
                                          <p:spTgt spid="1058858"/>
                                        </p:tgtEl>
                                        <p:attrNameLst>
                                          <p:attrName>ppt_y</p:attrName>
                                        </p:attrNameLst>
                                      </p:cBhvr>
                                      <p:tavLst>
                                        <p:tav tm="0">
                                          <p:val>
                                            <p:strVal val="1+#ppt_h/2"/>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nodeType="clickEffect">
                                  <p:stCondLst>
                                    <p:cond delay="0"/>
                                  </p:stCondLst>
                                  <p:childTnLst>
                                    <p:set>
                                      <p:cBhvr>
                                        <p:cTn id="46" dur="1" fill="hold">
                                          <p:stCondLst>
                                            <p:cond delay="0"/>
                                          </p:stCondLst>
                                        </p:cTn>
                                        <p:tgtEl>
                                          <p:spTgt spid="1058868"/>
                                        </p:tgtEl>
                                        <p:attrNameLst>
                                          <p:attrName>style.visibility</p:attrName>
                                        </p:attrNameLst>
                                      </p:cBhvr>
                                      <p:to>
                                        <p:strVal val="visible"/>
                                      </p:to>
                                    </p:set>
                                    <p:animEffect transition="in" filter="blinds(horizontal)">
                                      <p:cBhvr>
                                        <p:cTn id="47" dur="500"/>
                                        <p:tgtEl>
                                          <p:spTgt spid="105886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3" presetClass="entr" presetSubtype="10" fill="hold" nodeType="clickEffect">
                                  <p:stCondLst>
                                    <p:cond delay="0"/>
                                  </p:stCondLst>
                                  <p:childTnLst>
                                    <p:set>
                                      <p:cBhvr>
                                        <p:cTn id="51" dur="1" fill="hold">
                                          <p:stCondLst>
                                            <p:cond delay="0"/>
                                          </p:stCondLst>
                                        </p:cTn>
                                        <p:tgtEl>
                                          <p:spTgt spid="1058887"/>
                                        </p:tgtEl>
                                        <p:attrNameLst>
                                          <p:attrName>style.visibility</p:attrName>
                                        </p:attrNameLst>
                                      </p:cBhvr>
                                      <p:to>
                                        <p:strVal val="visible"/>
                                      </p:to>
                                    </p:set>
                                    <p:animEffect transition="in" filter="blinds(horizontal)">
                                      <p:cBhvr>
                                        <p:cTn id="52" dur="500"/>
                                        <p:tgtEl>
                                          <p:spTgt spid="1058887"/>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3" presetClass="entr" presetSubtype="10" fill="hold" nodeType="clickEffect">
                                  <p:stCondLst>
                                    <p:cond delay="0"/>
                                  </p:stCondLst>
                                  <p:childTnLst>
                                    <p:set>
                                      <p:cBhvr>
                                        <p:cTn id="56" dur="1" fill="hold">
                                          <p:stCondLst>
                                            <p:cond delay="0"/>
                                          </p:stCondLst>
                                        </p:cTn>
                                        <p:tgtEl>
                                          <p:spTgt spid="1058879"/>
                                        </p:tgtEl>
                                        <p:attrNameLst>
                                          <p:attrName>style.visibility</p:attrName>
                                        </p:attrNameLst>
                                      </p:cBhvr>
                                      <p:to>
                                        <p:strVal val="visible"/>
                                      </p:to>
                                    </p:set>
                                    <p:animEffect transition="in" filter="blinds(horizontal)">
                                      <p:cBhvr>
                                        <p:cTn id="57" dur="500"/>
                                        <p:tgtEl>
                                          <p:spTgt spid="1058879"/>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3" presetClass="entr" presetSubtype="10" fill="hold" nodeType="clickEffect">
                                  <p:stCondLst>
                                    <p:cond delay="0"/>
                                  </p:stCondLst>
                                  <p:childTnLst>
                                    <p:set>
                                      <p:cBhvr>
                                        <p:cTn id="61" dur="1" fill="hold">
                                          <p:stCondLst>
                                            <p:cond delay="0"/>
                                          </p:stCondLst>
                                        </p:cTn>
                                        <p:tgtEl>
                                          <p:spTgt spid="1058900"/>
                                        </p:tgtEl>
                                        <p:attrNameLst>
                                          <p:attrName>style.visibility</p:attrName>
                                        </p:attrNameLst>
                                      </p:cBhvr>
                                      <p:to>
                                        <p:strVal val="visible"/>
                                      </p:to>
                                    </p:set>
                                    <p:animEffect transition="in" filter="blinds(horizontal)">
                                      <p:cBhvr>
                                        <p:cTn id="62" dur="500"/>
                                        <p:tgtEl>
                                          <p:spTgt spid="1058900"/>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3" presetClass="entr" presetSubtype="10" fill="hold" nodeType="clickEffect">
                                  <p:stCondLst>
                                    <p:cond delay="0"/>
                                  </p:stCondLst>
                                  <p:childTnLst>
                                    <p:set>
                                      <p:cBhvr>
                                        <p:cTn id="66" dur="1" fill="hold">
                                          <p:stCondLst>
                                            <p:cond delay="0"/>
                                          </p:stCondLst>
                                        </p:cTn>
                                        <p:tgtEl>
                                          <p:spTgt spid="1058903"/>
                                        </p:tgtEl>
                                        <p:attrNameLst>
                                          <p:attrName>style.visibility</p:attrName>
                                        </p:attrNameLst>
                                      </p:cBhvr>
                                      <p:to>
                                        <p:strVal val="visible"/>
                                      </p:to>
                                    </p:set>
                                    <p:animEffect transition="in" filter="blinds(horizontal)">
                                      <p:cBhvr>
                                        <p:cTn id="67" dur="500"/>
                                        <p:tgtEl>
                                          <p:spTgt spid="1058903"/>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47" presetClass="entr" presetSubtype="0" fill="hold" nodeType="clickEffect">
                                  <p:stCondLst>
                                    <p:cond delay="0"/>
                                  </p:stCondLst>
                                  <p:childTnLst>
                                    <p:set>
                                      <p:cBhvr>
                                        <p:cTn id="71" dur="1" fill="hold">
                                          <p:stCondLst>
                                            <p:cond delay="0"/>
                                          </p:stCondLst>
                                        </p:cTn>
                                        <p:tgtEl>
                                          <p:spTgt spid="1058891"/>
                                        </p:tgtEl>
                                        <p:attrNameLst>
                                          <p:attrName>style.visibility</p:attrName>
                                        </p:attrNameLst>
                                      </p:cBhvr>
                                      <p:to>
                                        <p:strVal val="visible"/>
                                      </p:to>
                                    </p:set>
                                    <p:animEffect transition="in" filter="fade">
                                      <p:cBhvr>
                                        <p:cTn id="72" dur="1000"/>
                                        <p:tgtEl>
                                          <p:spTgt spid="1058891"/>
                                        </p:tgtEl>
                                      </p:cBhvr>
                                    </p:animEffect>
                                    <p:anim calcmode="lin" valueType="num">
                                      <p:cBhvr>
                                        <p:cTn id="73" dur="1000" fill="hold"/>
                                        <p:tgtEl>
                                          <p:spTgt spid="1058891"/>
                                        </p:tgtEl>
                                        <p:attrNameLst>
                                          <p:attrName>ppt_x</p:attrName>
                                        </p:attrNameLst>
                                      </p:cBhvr>
                                      <p:tavLst>
                                        <p:tav tm="0">
                                          <p:val>
                                            <p:strVal val="#ppt_x"/>
                                          </p:val>
                                        </p:tav>
                                        <p:tav tm="100000">
                                          <p:val>
                                            <p:strVal val="#ppt_x"/>
                                          </p:val>
                                        </p:tav>
                                      </p:tavLst>
                                    </p:anim>
                                    <p:anim calcmode="lin" valueType="num">
                                      <p:cBhvr>
                                        <p:cTn id="74" dur="1000" fill="hold"/>
                                        <p:tgtEl>
                                          <p:spTgt spid="1058891"/>
                                        </p:tgtEl>
                                        <p:attrNameLst>
                                          <p:attrName>ppt_y</p:attrName>
                                        </p:attrNameLst>
                                      </p:cBhvr>
                                      <p:tavLst>
                                        <p:tav tm="0">
                                          <p:val>
                                            <p:strVal val="#ppt_y-.1"/>
                                          </p:val>
                                        </p:tav>
                                        <p:tav tm="100000">
                                          <p:val>
                                            <p:strVal val="#ppt_y"/>
                                          </p:val>
                                        </p:tav>
                                      </p:tavLst>
                                    </p:anim>
                                  </p:childTnLst>
                                </p:cTn>
                              </p:par>
                            </p:childTnLst>
                          </p:cTn>
                        </p:par>
                      </p:childTnLst>
                    </p:cTn>
                  </p:par>
                  <p:par>
                    <p:cTn id="75" fill="hold" nodeType="clickPar">
                      <p:stCondLst>
                        <p:cond delay="indefinite"/>
                      </p:stCondLst>
                      <p:childTnLst>
                        <p:par>
                          <p:cTn id="76" fill="hold" nodeType="withGroup">
                            <p:stCondLst>
                              <p:cond delay="0"/>
                            </p:stCondLst>
                            <p:childTnLst>
                              <p:par>
                                <p:cTn id="77" presetID="47" presetClass="entr" presetSubtype="0" fill="hold" nodeType="clickEffect">
                                  <p:stCondLst>
                                    <p:cond delay="0"/>
                                  </p:stCondLst>
                                  <p:childTnLst>
                                    <p:set>
                                      <p:cBhvr>
                                        <p:cTn id="78" dur="1" fill="hold">
                                          <p:stCondLst>
                                            <p:cond delay="0"/>
                                          </p:stCondLst>
                                        </p:cTn>
                                        <p:tgtEl>
                                          <p:spTgt spid="1058851"/>
                                        </p:tgtEl>
                                        <p:attrNameLst>
                                          <p:attrName>style.visibility</p:attrName>
                                        </p:attrNameLst>
                                      </p:cBhvr>
                                      <p:to>
                                        <p:strVal val="visible"/>
                                      </p:to>
                                    </p:set>
                                    <p:animEffect transition="in" filter="fade">
                                      <p:cBhvr>
                                        <p:cTn id="79" dur="1000"/>
                                        <p:tgtEl>
                                          <p:spTgt spid="1058851"/>
                                        </p:tgtEl>
                                      </p:cBhvr>
                                    </p:animEffect>
                                    <p:anim calcmode="lin" valueType="num">
                                      <p:cBhvr>
                                        <p:cTn id="80" dur="1000" fill="hold"/>
                                        <p:tgtEl>
                                          <p:spTgt spid="1058851"/>
                                        </p:tgtEl>
                                        <p:attrNameLst>
                                          <p:attrName>ppt_x</p:attrName>
                                        </p:attrNameLst>
                                      </p:cBhvr>
                                      <p:tavLst>
                                        <p:tav tm="0">
                                          <p:val>
                                            <p:strVal val="#ppt_x"/>
                                          </p:val>
                                        </p:tav>
                                        <p:tav tm="100000">
                                          <p:val>
                                            <p:strVal val="#ppt_x"/>
                                          </p:val>
                                        </p:tav>
                                      </p:tavLst>
                                    </p:anim>
                                    <p:anim calcmode="lin" valueType="num">
                                      <p:cBhvr>
                                        <p:cTn id="81" dur="1000" fill="hold"/>
                                        <p:tgtEl>
                                          <p:spTgt spid="1058851"/>
                                        </p:tgtEl>
                                        <p:attrNameLst>
                                          <p:attrName>ppt_y</p:attrName>
                                        </p:attrNameLst>
                                      </p:cBhvr>
                                      <p:tavLst>
                                        <p:tav tm="0">
                                          <p:val>
                                            <p:strVal val="#ppt_y-.1"/>
                                          </p:val>
                                        </p:tav>
                                        <p:tav tm="100000">
                                          <p:val>
                                            <p:strVal val="#ppt_y"/>
                                          </p:val>
                                        </p:tav>
                                      </p:tavLst>
                                    </p:anim>
                                  </p:childTnLst>
                                </p:cTn>
                              </p:par>
                            </p:childTnLst>
                          </p:cTn>
                        </p:par>
                      </p:childTnLst>
                    </p:cTn>
                  </p:par>
                  <p:par>
                    <p:cTn id="82" fill="hold" nodeType="clickPar">
                      <p:stCondLst>
                        <p:cond delay="indefinite"/>
                      </p:stCondLst>
                      <p:childTnLst>
                        <p:par>
                          <p:cTn id="83" fill="hold" nodeType="withGroup">
                            <p:stCondLst>
                              <p:cond delay="0"/>
                            </p:stCondLst>
                            <p:childTnLst>
                              <p:par>
                                <p:cTn id="84" presetID="10" presetClass="entr" presetSubtype="0" fill="hold" nodeType="clickEffect">
                                  <p:stCondLst>
                                    <p:cond delay="0"/>
                                  </p:stCondLst>
                                  <p:childTnLst>
                                    <p:set>
                                      <p:cBhvr>
                                        <p:cTn id="85" dur="1" fill="hold">
                                          <p:stCondLst>
                                            <p:cond delay="0"/>
                                          </p:stCondLst>
                                        </p:cTn>
                                        <p:tgtEl>
                                          <p:spTgt spid="1058895"/>
                                        </p:tgtEl>
                                        <p:attrNameLst>
                                          <p:attrName>style.visibility</p:attrName>
                                        </p:attrNameLst>
                                      </p:cBhvr>
                                      <p:to>
                                        <p:strVal val="visible"/>
                                      </p:to>
                                    </p:set>
                                    <p:animEffect transition="in" filter="fade">
                                      <p:cBhvr>
                                        <p:cTn id="86" dur="2000"/>
                                        <p:tgtEl>
                                          <p:spTgt spid="1058895"/>
                                        </p:tgtEl>
                                      </p:cBhvr>
                                    </p:animEffect>
                                  </p:childTnLst>
                                </p:cTn>
                              </p:par>
                            </p:childTnLst>
                          </p:cTn>
                        </p:par>
                      </p:childTnLst>
                    </p:cTn>
                  </p:par>
                  <p:par>
                    <p:cTn id="87" fill="hold" nodeType="clickPar">
                      <p:stCondLst>
                        <p:cond delay="indefinite"/>
                      </p:stCondLst>
                      <p:childTnLst>
                        <p:par>
                          <p:cTn id="88" fill="hold" nodeType="withGroup">
                            <p:stCondLst>
                              <p:cond delay="0"/>
                            </p:stCondLst>
                            <p:childTnLst>
                              <p:par>
                                <p:cTn id="89" presetID="3" presetClass="entr" presetSubtype="10" fill="hold" grpId="0" nodeType="clickEffect">
                                  <p:stCondLst>
                                    <p:cond delay="0"/>
                                  </p:stCondLst>
                                  <p:childTnLst>
                                    <p:set>
                                      <p:cBhvr>
                                        <p:cTn id="90" dur="1" fill="hold">
                                          <p:stCondLst>
                                            <p:cond delay="0"/>
                                          </p:stCondLst>
                                        </p:cTn>
                                        <p:tgtEl>
                                          <p:spTgt spid="1058911"/>
                                        </p:tgtEl>
                                        <p:attrNameLst>
                                          <p:attrName>style.visibility</p:attrName>
                                        </p:attrNameLst>
                                      </p:cBhvr>
                                      <p:to>
                                        <p:strVal val="visible"/>
                                      </p:to>
                                    </p:set>
                                    <p:animEffect transition="in" filter="blinds(horizontal)">
                                      <p:cBhvr>
                                        <p:cTn id="91" dur="500"/>
                                        <p:tgtEl>
                                          <p:spTgt spid="10589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8867" grpId="0"/>
      <p:bldP spid="1058911" grpId="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7842" name="Picture 2" descr="11"/>
          <p:cNvPicPr>
            <a:picLocks noGrp="1" noChangeAspect="1" noChangeArrowheads="1"/>
          </p:cNvPicPr>
          <p:nvPr>
            <p:ph/>
          </p:nvPr>
        </p:nvPicPr>
        <p:blipFill>
          <a:blip r:embed="rId3">
            <a:extLst>
              <a:ext uri="{28A0092B-C50C-407E-A947-70E740481C1C}">
                <a14:useLocalDpi xmlns:a14="http://schemas.microsoft.com/office/drawing/2010/main" val="0"/>
              </a:ext>
            </a:extLst>
          </a:blip>
          <a:srcRect/>
          <a:stretch>
            <a:fillRect/>
          </a:stretch>
        </p:blipFill>
        <p:spPr>
          <a:xfrm>
            <a:off x="457200" y="1104900"/>
            <a:ext cx="8204200" cy="5283200"/>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060867" name="Rectangle 3"/>
          <p:cNvSpPr>
            <a:spLocks noChangeArrowheads="1"/>
          </p:cNvSpPr>
          <p:nvPr/>
        </p:nvSpPr>
        <p:spPr bwMode="auto">
          <a:xfrm>
            <a:off x="1990725" y="180975"/>
            <a:ext cx="4808538"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sz="3200">
                <a:solidFill>
                  <a:srgbClr val="FFFF00"/>
                </a:solidFill>
                <a:effectLst>
                  <a:outerShdw blurRad="38100" dist="38100" dir="2700000" algn="tl">
                    <a:srgbClr val="000000"/>
                  </a:outerShdw>
                </a:effectLst>
              </a:rPr>
              <a:t>Water and Steam System</a:t>
            </a:r>
            <a:endParaRPr lang="th-TH" altLang="en-US" sz="3200">
              <a:solidFill>
                <a:srgbClr val="FFFF00"/>
              </a:solidFill>
              <a:effectLst>
                <a:outerShdw blurRad="38100" dist="38100" dir="2700000" algn="tl">
                  <a:srgbClr val="000000"/>
                </a:outerShdw>
              </a:effectLst>
            </a:endParaRPr>
          </a:p>
        </p:txBody>
      </p:sp>
      <p:sp>
        <p:nvSpPr>
          <p:cNvPr id="1060868" name="Oval 4"/>
          <p:cNvSpPr>
            <a:spLocks noChangeArrowheads="1"/>
          </p:cNvSpPr>
          <p:nvPr/>
        </p:nvSpPr>
        <p:spPr bwMode="auto">
          <a:xfrm>
            <a:off x="457200" y="1371600"/>
            <a:ext cx="3425825" cy="3365500"/>
          </a:xfrm>
          <a:prstGeom prst="ellipse">
            <a:avLst/>
          </a:prstGeom>
          <a:noFill/>
          <a:ln w="44450" algn="ctr">
            <a:solidFill>
              <a:srgbClr val="FF0000"/>
            </a:solidFill>
            <a:round/>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060868"/>
                                        </p:tgtEl>
                                        <p:attrNameLst>
                                          <p:attrName>style.visibility</p:attrName>
                                        </p:attrNameLst>
                                      </p:cBhvr>
                                      <p:to>
                                        <p:strVal val="visible"/>
                                      </p:to>
                                    </p:set>
                                    <p:animEffect transition="in" filter="blinds(horizontal)">
                                      <p:cBhvr>
                                        <p:cTn id="7" dur="500"/>
                                        <p:tgtEl>
                                          <p:spTgt spid="10608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0868"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9890" name="Group 2"/>
          <p:cNvGrpSpPr>
            <a:grpSpLocks/>
          </p:cNvGrpSpPr>
          <p:nvPr/>
        </p:nvGrpSpPr>
        <p:grpSpPr bwMode="auto">
          <a:xfrm>
            <a:off x="827088" y="407988"/>
            <a:ext cx="7416800" cy="860425"/>
            <a:chOff x="567" y="73"/>
            <a:chExt cx="4672" cy="542"/>
          </a:xfrm>
        </p:grpSpPr>
        <p:sp>
          <p:nvSpPr>
            <p:cNvPr id="549893" name="Line 3"/>
            <p:cNvSpPr>
              <a:spLocks noChangeShapeType="1"/>
            </p:cNvSpPr>
            <p:nvPr/>
          </p:nvSpPr>
          <p:spPr bwMode="auto">
            <a:xfrm>
              <a:off x="612" y="527"/>
              <a:ext cx="4627" cy="0"/>
            </a:xfrm>
            <a:prstGeom prst="line">
              <a:avLst/>
            </a:prstGeom>
            <a:noFill/>
            <a:ln w="28575">
              <a:solidFill>
                <a:schemeClr val="tx1"/>
              </a:solidFill>
              <a:round/>
              <a:headEnd/>
              <a:tailEnd/>
            </a:ln>
            <a:effectLst>
              <a:outerShdw dist="35921" dir="2700000" algn="ctr" rotWithShape="0">
                <a:schemeClr val="bg2"/>
              </a:outerShdw>
            </a:effectLst>
            <a:extLst>
              <a:ext uri="{909E8E84-426E-40DD-AFC4-6F175D3DCCD1}">
                <a14:hiddenFill xmlns:a14="http://schemas.microsoft.com/office/drawing/2010/main">
                  <a:noFill/>
                </a14:hiddenFill>
              </a:ext>
            </a:extLst>
          </p:spPr>
          <p:txBody>
            <a:bodyPr/>
            <a:lstStyle/>
            <a:p>
              <a:endParaRPr lang="en-US"/>
            </a:p>
          </p:txBody>
        </p:sp>
        <p:sp>
          <p:nvSpPr>
            <p:cNvPr id="1067012" name="WordArt 4"/>
            <p:cNvSpPr>
              <a:spLocks noChangeArrowheads="1" noChangeShapeType="1" noTextEdit="1"/>
            </p:cNvSpPr>
            <p:nvPr/>
          </p:nvSpPr>
          <p:spPr bwMode="auto">
            <a:xfrm>
              <a:off x="567" y="73"/>
              <a:ext cx="4672" cy="542"/>
            </a:xfrm>
            <a:prstGeom prst="rect">
              <a:avLst/>
            </a:prstGeom>
          </p:spPr>
          <p:txBody>
            <a:bodyPr wrap="none" fromWordArt="1">
              <a:prstTxWarp prst="textPlain">
                <a:avLst>
                  <a:gd name="adj" fmla="val 50000"/>
                </a:avLst>
              </a:prstTxWarp>
            </a:bodyPr>
            <a:lstStyle/>
            <a:p>
              <a:pPr algn="ctr">
                <a:defRPr/>
              </a:pPr>
              <a:r>
                <a:rPr lang="th-TH" sz="5400" kern="10">
                  <a:ln w="19050">
                    <a:solidFill>
                      <a:srgbClr val="333333"/>
                    </a:solidFill>
                    <a:round/>
                    <a:headEnd/>
                    <a:tailEnd/>
                  </a:ln>
                  <a:gradFill rotWithShape="1">
                    <a:gsLst>
                      <a:gs pos="0">
                        <a:srgbClr val="00FFFF"/>
                      </a:gs>
                      <a:gs pos="50000">
                        <a:schemeClr val="tx1"/>
                      </a:gs>
                      <a:gs pos="100000">
                        <a:srgbClr val="00FFFF"/>
                      </a:gs>
                    </a:gsLst>
                    <a:lin ang="2700000" scaled="1"/>
                  </a:gradFill>
                  <a:effectLst>
                    <a:outerShdw dist="35921" dir="2700000" algn="ctr" rotWithShape="0">
                      <a:schemeClr val="accent1"/>
                    </a:outerShdw>
                  </a:effectLst>
                  <a:latin typeface="LilyUPC" panose="020B0604020202020204" pitchFamily="34" charset="-34"/>
                  <a:cs typeface="LilyUPC" panose="020B0604020202020204" pitchFamily="34" charset="-34"/>
                </a:rPr>
                <a:t>ความสูญเสียทางความร้อนของ </a:t>
              </a:r>
              <a:r>
                <a:rPr lang="en-US" sz="5400" kern="10">
                  <a:ln w="19050">
                    <a:solidFill>
                      <a:srgbClr val="333333"/>
                    </a:solidFill>
                    <a:round/>
                    <a:headEnd/>
                    <a:tailEnd/>
                  </a:ln>
                  <a:gradFill rotWithShape="1">
                    <a:gsLst>
                      <a:gs pos="0">
                        <a:srgbClr val="00FFFF"/>
                      </a:gs>
                      <a:gs pos="50000">
                        <a:schemeClr val="tx1"/>
                      </a:gs>
                      <a:gs pos="100000">
                        <a:srgbClr val="00FFFF"/>
                      </a:gs>
                    </a:gsLst>
                    <a:lin ang="2700000" scaled="1"/>
                  </a:gradFill>
                  <a:effectLst>
                    <a:outerShdw dist="35921" dir="2700000" algn="ctr" rotWithShape="0">
                      <a:schemeClr val="accent1"/>
                    </a:outerShdw>
                  </a:effectLst>
                  <a:latin typeface="LilyUPC" panose="020B0604020202020204" pitchFamily="34" charset="-34"/>
                  <a:cs typeface="LilyUPC" panose="020B0604020202020204" pitchFamily="34" charset="-34"/>
                </a:rPr>
                <a:t>Recovery Boiler Cycle</a:t>
              </a:r>
            </a:p>
          </p:txBody>
        </p:sp>
      </p:grpSp>
      <p:sp>
        <p:nvSpPr>
          <p:cNvPr id="549891" name="Text Box 5"/>
          <p:cNvSpPr txBox="1">
            <a:spLocks noChangeArrowheads="1"/>
          </p:cNvSpPr>
          <p:nvPr/>
        </p:nvSpPr>
        <p:spPr bwMode="auto">
          <a:xfrm>
            <a:off x="468313" y="1644650"/>
            <a:ext cx="8351837" cy="3513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533400" indent="-533400">
              <a:tabLst>
                <a:tab pos="269875" algn="l"/>
              </a:tabLst>
              <a:defRPr>
                <a:solidFill>
                  <a:schemeClr val="tx1"/>
                </a:solidFill>
                <a:latin typeface="Calibri" panose="020F0502020204030204" pitchFamily="34" charset="0"/>
              </a:defRPr>
            </a:lvl1pPr>
            <a:lvl2pPr marL="990600" indent="-533400">
              <a:tabLst>
                <a:tab pos="269875" algn="l"/>
              </a:tabLst>
              <a:defRPr>
                <a:solidFill>
                  <a:schemeClr val="tx1"/>
                </a:solidFill>
                <a:latin typeface="Calibri" panose="020F0502020204030204" pitchFamily="34" charset="0"/>
              </a:defRPr>
            </a:lvl2pPr>
            <a:lvl3pPr marL="1447800" indent="-533400">
              <a:tabLst>
                <a:tab pos="269875" algn="l"/>
              </a:tabLst>
              <a:defRPr>
                <a:solidFill>
                  <a:schemeClr val="tx1"/>
                </a:solidFill>
                <a:latin typeface="Calibri" panose="020F0502020204030204" pitchFamily="34" charset="0"/>
              </a:defRPr>
            </a:lvl3pPr>
            <a:lvl4pPr marL="1905000" indent="-533400">
              <a:tabLst>
                <a:tab pos="269875" algn="l"/>
              </a:tabLst>
              <a:defRPr>
                <a:solidFill>
                  <a:schemeClr val="tx1"/>
                </a:solidFill>
                <a:latin typeface="Calibri" panose="020F0502020204030204" pitchFamily="34" charset="0"/>
              </a:defRPr>
            </a:lvl4pPr>
            <a:lvl5pPr marL="2362200" indent="-533400">
              <a:tabLst>
                <a:tab pos="269875" algn="l"/>
              </a:tabLst>
              <a:defRPr>
                <a:solidFill>
                  <a:schemeClr val="tx1"/>
                </a:solidFill>
                <a:latin typeface="Calibri" panose="020F0502020204030204" pitchFamily="34" charset="0"/>
              </a:defRPr>
            </a:lvl5pPr>
            <a:lvl6pPr marL="2819400" indent="-533400" eaLnBrk="0" fontAlgn="base" hangingPunct="0">
              <a:spcBef>
                <a:spcPct val="0"/>
              </a:spcBef>
              <a:spcAft>
                <a:spcPct val="0"/>
              </a:spcAft>
              <a:tabLst>
                <a:tab pos="269875" algn="l"/>
              </a:tabLst>
              <a:defRPr>
                <a:solidFill>
                  <a:schemeClr val="tx1"/>
                </a:solidFill>
                <a:latin typeface="Calibri" panose="020F0502020204030204" pitchFamily="34" charset="0"/>
              </a:defRPr>
            </a:lvl6pPr>
            <a:lvl7pPr marL="3276600" indent="-533400" eaLnBrk="0" fontAlgn="base" hangingPunct="0">
              <a:spcBef>
                <a:spcPct val="0"/>
              </a:spcBef>
              <a:spcAft>
                <a:spcPct val="0"/>
              </a:spcAft>
              <a:tabLst>
                <a:tab pos="269875" algn="l"/>
              </a:tabLst>
              <a:defRPr>
                <a:solidFill>
                  <a:schemeClr val="tx1"/>
                </a:solidFill>
                <a:latin typeface="Calibri" panose="020F0502020204030204" pitchFamily="34" charset="0"/>
              </a:defRPr>
            </a:lvl7pPr>
            <a:lvl8pPr marL="3733800" indent="-533400" eaLnBrk="0" fontAlgn="base" hangingPunct="0">
              <a:spcBef>
                <a:spcPct val="0"/>
              </a:spcBef>
              <a:spcAft>
                <a:spcPct val="0"/>
              </a:spcAft>
              <a:tabLst>
                <a:tab pos="269875" algn="l"/>
              </a:tabLst>
              <a:defRPr>
                <a:solidFill>
                  <a:schemeClr val="tx1"/>
                </a:solidFill>
                <a:latin typeface="Calibri" panose="020F0502020204030204" pitchFamily="34" charset="0"/>
              </a:defRPr>
            </a:lvl8pPr>
            <a:lvl9pPr marL="4191000" indent="-533400" eaLnBrk="0" fontAlgn="base" hangingPunct="0">
              <a:spcBef>
                <a:spcPct val="0"/>
              </a:spcBef>
              <a:spcAft>
                <a:spcPct val="0"/>
              </a:spcAft>
              <a:tabLst>
                <a:tab pos="269875" algn="l"/>
              </a:tabLst>
              <a:defRPr>
                <a:solidFill>
                  <a:schemeClr val="tx1"/>
                </a:solidFill>
                <a:latin typeface="Calibri" panose="020F0502020204030204" pitchFamily="34" charset="0"/>
              </a:defRPr>
            </a:lvl9pPr>
          </a:lstStyle>
          <a:p>
            <a:pPr>
              <a:lnSpc>
                <a:spcPct val="130000"/>
              </a:lnSpc>
              <a:spcBef>
                <a:spcPct val="50000"/>
              </a:spcBef>
              <a:buFontTx/>
              <a:buAutoNum type="arabicPeriod"/>
            </a:pPr>
            <a:r>
              <a:rPr lang="th-TH" altLang="en-US" sz="2800">
                <a:latin typeface="Angsana New" panose="02020603050405020304" pitchFamily="18" charset="-34"/>
                <a:cs typeface="Angsana New" panose="02020603050405020304" pitchFamily="18" charset="-34"/>
              </a:rPr>
              <a:t>สูญเสียความร้อนเนื่องจากการถ่ายเทความร้อนของพื้นผิวต่างๆ (เช่น ท่อต่างๆ ),  	พื้นผิวแลกเปลี่ยนความร้อนของตัว </a:t>
            </a:r>
            <a:r>
              <a:rPr lang="en-US" altLang="en-US" sz="2800">
                <a:latin typeface="Angsana New" panose="02020603050405020304" pitchFamily="18" charset="-34"/>
                <a:cs typeface="Angsana New" panose="02020603050405020304" pitchFamily="18" charset="-34"/>
              </a:rPr>
              <a:t>Boiler, </a:t>
            </a:r>
            <a:r>
              <a:rPr lang="th-TH" altLang="en-US" sz="2800">
                <a:latin typeface="Angsana New" panose="02020603050405020304" pitchFamily="18" charset="-34"/>
                <a:cs typeface="Angsana New" panose="02020603050405020304" pitchFamily="18" charset="-34"/>
              </a:rPr>
              <a:t>พื้นผิวของ </a:t>
            </a:r>
            <a:r>
              <a:rPr lang="en-US" altLang="en-US" sz="2800">
                <a:latin typeface="Angsana New" panose="02020603050405020304" pitchFamily="18" charset="-34"/>
                <a:cs typeface="Angsana New" panose="02020603050405020304" pitchFamily="18" charset="-34"/>
              </a:rPr>
              <a:t>Steam Turbine, </a:t>
            </a:r>
            <a:r>
              <a:rPr lang="th-TH" altLang="en-US" sz="2800">
                <a:latin typeface="Angsana New" panose="02020603050405020304" pitchFamily="18" charset="-34"/>
                <a:cs typeface="Angsana New" panose="02020603050405020304" pitchFamily="18" charset="-34"/>
              </a:rPr>
              <a:t>ฯลฯ</a:t>
            </a:r>
          </a:p>
          <a:p>
            <a:pPr>
              <a:lnSpc>
                <a:spcPct val="130000"/>
              </a:lnSpc>
              <a:spcBef>
                <a:spcPct val="50000"/>
              </a:spcBef>
              <a:buFontTx/>
              <a:buAutoNum type="arabicPeriod"/>
            </a:pPr>
            <a:r>
              <a:rPr lang="th-TH" altLang="en-US" sz="2800">
                <a:latin typeface="Angsana New" panose="02020603050405020304" pitchFamily="18" charset="-34"/>
                <a:cs typeface="Angsana New" panose="02020603050405020304" pitchFamily="18" charset="-34"/>
              </a:rPr>
              <a:t>สูญเสียความร้อนเนื่องจากไอเสีย </a:t>
            </a:r>
            <a:r>
              <a:rPr lang="en-US" altLang="en-US" sz="2800">
                <a:latin typeface="Angsana New" panose="02020603050405020304" pitchFamily="18" charset="-34"/>
                <a:cs typeface="Angsana New" panose="02020603050405020304" pitchFamily="18" charset="-34"/>
              </a:rPr>
              <a:t>(Flue Gas) </a:t>
            </a:r>
            <a:r>
              <a:rPr lang="th-TH" altLang="en-US" sz="2800">
                <a:latin typeface="Angsana New" panose="02020603050405020304" pitchFamily="18" charset="-34"/>
                <a:cs typeface="Angsana New" panose="02020603050405020304" pitchFamily="18" charset="-34"/>
              </a:rPr>
              <a:t>(ตัวไอเสียยังคงมีความร้อน)</a:t>
            </a:r>
          </a:p>
          <a:p>
            <a:pPr>
              <a:lnSpc>
                <a:spcPct val="130000"/>
              </a:lnSpc>
              <a:spcBef>
                <a:spcPct val="50000"/>
              </a:spcBef>
              <a:buFontTx/>
              <a:buAutoNum type="arabicPeriod"/>
            </a:pPr>
            <a:r>
              <a:rPr lang="th-TH" altLang="en-US" sz="2800">
                <a:latin typeface="Angsana New" panose="02020603050405020304" pitchFamily="18" charset="-34"/>
                <a:cs typeface="Angsana New" panose="02020603050405020304" pitchFamily="18" charset="-34"/>
              </a:rPr>
              <a:t>สูญเสียความร้อนเนื่องจากตัว </a:t>
            </a:r>
            <a:r>
              <a:rPr lang="en-US" altLang="en-US" sz="2800">
                <a:latin typeface="Angsana New" panose="02020603050405020304" pitchFamily="18" charset="-34"/>
                <a:cs typeface="Angsana New" panose="02020603050405020304" pitchFamily="18" charset="-34"/>
              </a:rPr>
              <a:t>Smelt </a:t>
            </a:r>
            <a:r>
              <a:rPr lang="th-TH" altLang="en-US" sz="2800">
                <a:latin typeface="Angsana New" panose="02020603050405020304" pitchFamily="18" charset="-34"/>
                <a:cs typeface="Angsana New" panose="02020603050405020304" pitchFamily="18" charset="-34"/>
              </a:rPr>
              <a:t>ที่ออก (ตัว </a:t>
            </a:r>
            <a:r>
              <a:rPr lang="en-US" altLang="en-US" sz="2800">
                <a:latin typeface="Angsana New" panose="02020603050405020304" pitchFamily="18" charset="-34"/>
                <a:cs typeface="Angsana New" panose="02020603050405020304" pitchFamily="18" charset="-34"/>
              </a:rPr>
              <a:t>Smelt </a:t>
            </a:r>
            <a:r>
              <a:rPr lang="th-TH" altLang="en-US" sz="2800">
                <a:latin typeface="Angsana New" panose="02020603050405020304" pitchFamily="18" charset="-34"/>
                <a:cs typeface="Angsana New" panose="02020603050405020304" pitchFamily="18" charset="-34"/>
              </a:rPr>
              <a:t>ยังคงมีความร้อน)</a:t>
            </a:r>
          </a:p>
          <a:p>
            <a:pPr>
              <a:lnSpc>
                <a:spcPct val="130000"/>
              </a:lnSpc>
              <a:spcBef>
                <a:spcPct val="50000"/>
              </a:spcBef>
              <a:buFontTx/>
              <a:buAutoNum type="arabicPeriod"/>
            </a:pPr>
            <a:endParaRPr lang="th-TH" altLang="en-US" sz="2800">
              <a:latin typeface="Angsana New" panose="02020603050405020304" pitchFamily="18" charset="-34"/>
              <a:cs typeface="Angsana New" panose="02020603050405020304" pitchFamily="18" charset="-34"/>
            </a:endParaRPr>
          </a:p>
        </p:txBody>
      </p:sp>
      <p:sp>
        <p:nvSpPr>
          <p:cNvPr id="1067014" name="Text Box 6"/>
          <p:cNvSpPr txBox="1">
            <a:spLocks noChangeArrowheads="1"/>
          </p:cNvSpPr>
          <p:nvPr/>
        </p:nvSpPr>
        <p:spPr bwMode="auto">
          <a:xfrm>
            <a:off x="1331913" y="4972050"/>
            <a:ext cx="6624637" cy="83343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lnSpc>
                <a:spcPct val="160000"/>
              </a:lnSpc>
              <a:spcBef>
                <a:spcPct val="50000"/>
              </a:spcBef>
              <a:defRPr/>
            </a:pPr>
            <a:r>
              <a:rPr lang="th-TH" altLang="en-US" sz="3000">
                <a:effectLst>
                  <a:outerShdw blurRad="38100" dist="38100" dir="2700000" algn="tl">
                    <a:srgbClr val="000000"/>
                  </a:outerShdw>
                </a:effectLst>
              </a:rPr>
              <a:t>ความสูญเสียดังกล่าวจะทำให้ประสิทธิภาพของวัฏจักรลดลง</a:t>
            </a:r>
          </a:p>
        </p:txBody>
      </p:sp>
    </p:spTree>
  </p:cSld>
  <p:clrMapOvr>
    <a:masterClrMapping/>
  </p:clrMapOvr>
  <p:transition spd="med">
    <p:newsflash/>
  </p:transition>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0914" name="Group 2"/>
          <p:cNvGrpSpPr>
            <a:grpSpLocks/>
          </p:cNvGrpSpPr>
          <p:nvPr/>
        </p:nvGrpSpPr>
        <p:grpSpPr bwMode="auto">
          <a:xfrm>
            <a:off x="827088" y="407988"/>
            <a:ext cx="7416800" cy="860425"/>
            <a:chOff x="567" y="73"/>
            <a:chExt cx="4672" cy="542"/>
          </a:xfrm>
        </p:grpSpPr>
        <p:sp>
          <p:nvSpPr>
            <p:cNvPr id="550917" name="Line 3"/>
            <p:cNvSpPr>
              <a:spLocks noChangeShapeType="1"/>
            </p:cNvSpPr>
            <p:nvPr/>
          </p:nvSpPr>
          <p:spPr bwMode="auto">
            <a:xfrm>
              <a:off x="612" y="527"/>
              <a:ext cx="4627" cy="0"/>
            </a:xfrm>
            <a:prstGeom prst="line">
              <a:avLst/>
            </a:prstGeom>
            <a:noFill/>
            <a:ln w="28575">
              <a:solidFill>
                <a:schemeClr val="tx1"/>
              </a:solidFill>
              <a:round/>
              <a:headEnd/>
              <a:tailEnd/>
            </a:ln>
            <a:effectLst>
              <a:outerShdw dist="35921" dir="2700000" algn="ctr" rotWithShape="0">
                <a:schemeClr val="bg2"/>
              </a:outerShdw>
            </a:effectLst>
            <a:extLst>
              <a:ext uri="{909E8E84-426E-40DD-AFC4-6F175D3DCCD1}">
                <a14:hiddenFill xmlns:a14="http://schemas.microsoft.com/office/drawing/2010/main">
                  <a:noFill/>
                </a14:hiddenFill>
              </a:ext>
            </a:extLst>
          </p:spPr>
          <p:txBody>
            <a:bodyPr/>
            <a:lstStyle/>
            <a:p>
              <a:endParaRPr lang="en-US"/>
            </a:p>
          </p:txBody>
        </p:sp>
        <p:sp>
          <p:nvSpPr>
            <p:cNvPr id="550918" name="WordArt 4"/>
            <p:cNvSpPr>
              <a:spLocks noChangeArrowheads="1" noChangeShapeType="1" noTextEdit="1"/>
            </p:cNvSpPr>
            <p:nvPr/>
          </p:nvSpPr>
          <p:spPr bwMode="auto">
            <a:xfrm>
              <a:off x="567" y="73"/>
              <a:ext cx="4672" cy="542"/>
            </a:xfrm>
            <a:prstGeom prst="rect">
              <a:avLst/>
            </a:prstGeom>
          </p:spPr>
          <p:txBody>
            <a:bodyPr wrap="none" fromWordArt="1">
              <a:prstTxWarp prst="textPlain">
                <a:avLst>
                  <a:gd name="adj" fmla="val 50000"/>
                </a:avLst>
              </a:prstTxWarp>
            </a:bodyPr>
            <a:lstStyle/>
            <a:p>
              <a:pPr algn="ctr"/>
              <a:r>
                <a:rPr lang="th-TH" sz="5400" kern="10">
                  <a:ln w="19050">
                    <a:solidFill>
                      <a:srgbClr val="333333"/>
                    </a:solidFill>
                    <a:round/>
                    <a:headEnd/>
                    <a:tailEnd/>
                  </a:ln>
                  <a:effectLst>
                    <a:outerShdw dist="35921" dir="2700000" algn="ctr" rotWithShape="0">
                      <a:schemeClr val="accent1"/>
                    </a:outerShdw>
                  </a:effectLst>
                  <a:latin typeface="LilyUPC" panose="020B0604020202020204" pitchFamily="34" charset="-34"/>
                  <a:cs typeface="LilyUPC" panose="020B0604020202020204" pitchFamily="34" charset="-34"/>
                </a:rPr>
                <a:t>วิธีการลดความสูญเสียทางความร้อน</a:t>
              </a:r>
              <a:endParaRPr lang="en-US" sz="5400" kern="10">
                <a:ln w="19050">
                  <a:solidFill>
                    <a:srgbClr val="333333"/>
                  </a:solidFill>
                  <a:round/>
                  <a:headEnd/>
                  <a:tailEnd/>
                </a:ln>
                <a:effectLst>
                  <a:outerShdw dist="35921" dir="2700000" algn="ctr" rotWithShape="0">
                    <a:schemeClr val="accent1"/>
                  </a:outerShdw>
                </a:effectLst>
                <a:latin typeface="LilyUPC" panose="020B0604020202020204" pitchFamily="34" charset="-34"/>
                <a:cs typeface="LilyUPC" panose="020B0604020202020204" pitchFamily="34" charset="-34"/>
              </a:endParaRPr>
            </a:p>
          </p:txBody>
        </p:sp>
      </p:grpSp>
      <p:sp>
        <p:nvSpPr>
          <p:cNvPr id="550915" name="Text Box 5"/>
          <p:cNvSpPr txBox="1">
            <a:spLocks noChangeArrowheads="1"/>
          </p:cNvSpPr>
          <p:nvPr/>
        </p:nvSpPr>
        <p:spPr bwMode="auto">
          <a:xfrm>
            <a:off x="395288" y="1849438"/>
            <a:ext cx="8351837" cy="2439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533400" indent="-533400">
              <a:tabLst>
                <a:tab pos="269875" algn="l"/>
              </a:tabLst>
              <a:defRPr>
                <a:solidFill>
                  <a:schemeClr val="tx1"/>
                </a:solidFill>
                <a:latin typeface="Calibri" panose="020F0502020204030204" pitchFamily="34" charset="0"/>
              </a:defRPr>
            </a:lvl1pPr>
            <a:lvl2pPr marL="990600" indent="-533400">
              <a:tabLst>
                <a:tab pos="269875" algn="l"/>
              </a:tabLst>
              <a:defRPr>
                <a:solidFill>
                  <a:schemeClr val="tx1"/>
                </a:solidFill>
                <a:latin typeface="Calibri" panose="020F0502020204030204" pitchFamily="34" charset="0"/>
              </a:defRPr>
            </a:lvl2pPr>
            <a:lvl3pPr marL="1447800" indent="-533400">
              <a:tabLst>
                <a:tab pos="269875" algn="l"/>
              </a:tabLst>
              <a:defRPr>
                <a:solidFill>
                  <a:schemeClr val="tx1"/>
                </a:solidFill>
                <a:latin typeface="Calibri" panose="020F0502020204030204" pitchFamily="34" charset="0"/>
              </a:defRPr>
            </a:lvl3pPr>
            <a:lvl4pPr marL="1905000" indent="-533400">
              <a:tabLst>
                <a:tab pos="269875" algn="l"/>
              </a:tabLst>
              <a:defRPr>
                <a:solidFill>
                  <a:schemeClr val="tx1"/>
                </a:solidFill>
                <a:latin typeface="Calibri" panose="020F0502020204030204" pitchFamily="34" charset="0"/>
              </a:defRPr>
            </a:lvl4pPr>
            <a:lvl5pPr marL="2362200" indent="-533400">
              <a:tabLst>
                <a:tab pos="269875" algn="l"/>
              </a:tabLst>
              <a:defRPr>
                <a:solidFill>
                  <a:schemeClr val="tx1"/>
                </a:solidFill>
                <a:latin typeface="Calibri" panose="020F0502020204030204" pitchFamily="34" charset="0"/>
              </a:defRPr>
            </a:lvl5pPr>
            <a:lvl6pPr marL="2819400" indent="-533400" eaLnBrk="0" fontAlgn="base" hangingPunct="0">
              <a:spcBef>
                <a:spcPct val="0"/>
              </a:spcBef>
              <a:spcAft>
                <a:spcPct val="0"/>
              </a:spcAft>
              <a:tabLst>
                <a:tab pos="269875" algn="l"/>
              </a:tabLst>
              <a:defRPr>
                <a:solidFill>
                  <a:schemeClr val="tx1"/>
                </a:solidFill>
                <a:latin typeface="Calibri" panose="020F0502020204030204" pitchFamily="34" charset="0"/>
              </a:defRPr>
            </a:lvl6pPr>
            <a:lvl7pPr marL="3276600" indent="-533400" eaLnBrk="0" fontAlgn="base" hangingPunct="0">
              <a:spcBef>
                <a:spcPct val="0"/>
              </a:spcBef>
              <a:spcAft>
                <a:spcPct val="0"/>
              </a:spcAft>
              <a:tabLst>
                <a:tab pos="269875" algn="l"/>
              </a:tabLst>
              <a:defRPr>
                <a:solidFill>
                  <a:schemeClr val="tx1"/>
                </a:solidFill>
                <a:latin typeface="Calibri" panose="020F0502020204030204" pitchFamily="34" charset="0"/>
              </a:defRPr>
            </a:lvl7pPr>
            <a:lvl8pPr marL="3733800" indent="-533400" eaLnBrk="0" fontAlgn="base" hangingPunct="0">
              <a:spcBef>
                <a:spcPct val="0"/>
              </a:spcBef>
              <a:spcAft>
                <a:spcPct val="0"/>
              </a:spcAft>
              <a:tabLst>
                <a:tab pos="269875" algn="l"/>
              </a:tabLst>
              <a:defRPr>
                <a:solidFill>
                  <a:schemeClr val="tx1"/>
                </a:solidFill>
                <a:latin typeface="Calibri" panose="020F0502020204030204" pitchFamily="34" charset="0"/>
              </a:defRPr>
            </a:lvl8pPr>
            <a:lvl9pPr marL="4191000" indent="-533400" eaLnBrk="0" fontAlgn="base" hangingPunct="0">
              <a:spcBef>
                <a:spcPct val="0"/>
              </a:spcBef>
              <a:spcAft>
                <a:spcPct val="0"/>
              </a:spcAft>
              <a:tabLst>
                <a:tab pos="269875" algn="l"/>
              </a:tabLst>
              <a:defRPr>
                <a:solidFill>
                  <a:schemeClr val="tx1"/>
                </a:solidFill>
                <a:latin typeface="Calibri" panose="020F0502020204030204" pitchFamily="34" charset="0"/>
              </a:defRPr>
            </a:lvl9pPr>
          </a:lstStyle>
          <a:p>
            <a:pPr>
              <a:lnSpc>
                <a:spcPct val="130000"/>
              </a:lnSpc>
              <a:spcBef>
                <a:spcPct val="50000"/>
              </a:spcBef>
              <a:buFontTx/>
              <a:buAutoNum type="arabicPeriod"/>
            </a:pPr>
            <a:r>
              <a:rPr lang="th-TH" altLang="en-US" sz="3500">
                <a:latin typeface="Angsana New" panose="02020603050405020304" pitchFamily="18" charset="-34"/>
                <a:cs typeface="Angsana New" panose="02020603050405020304" pitchFamily="18" charset="-34"/>
              </a:rPr>
              <a:t>หุ้มฉนวนพื้นผิวต่างๆ ที่สามารถถ่ายเทความร้อนได้                         (เช่น หุ้มฉนวนท่อต่างๆ, หุ้มฉนวนตัวผนัง </a:t>
            </a:r>
            <a:r>
              <a:rPr lang="en-US" altLang="en-US" sz="3500">
                <a:latin typeface="Angsana New" panose="02020603050405020304" pitchFamily="18" charset="-34"/>
                <a:cs typeface="Angsana New" panose="02020603050405020304" pitchFamily="18" charset="-34"/>
              </a:rPr>
              <a:t>Boiler, </a:t>
            </a:r>
            <a:r>
              <a:rPr lang="th-TH" altLang="en-US" sz="3500">
                <a:latin typeface="Angsana New" panose="02020603050405020304" pitchFamily="18" charset="-34"/>
                <a:cs typeface="Angsana New" panose="02020603050405020304" pitchFamily="18" charset="-34"/>
              </a:rPr>
              <a:t>ฯลฯ)</a:t>
            </a:r>
          </a:p>
          <a:p>
            <a:pPr>
              <a:lnSpc>
                <a:spcPct val="130000"/>
              </a:lnSpc>
              <a:spcBef>
                <a:spcPct val="50000"/>
              </a:spcBef>
              <a:buFontTx/>
              <a:buAutoNum type="arabicPeriod"/>
            </a:pPr>
            <a:r>
              <a:rPr lang="th-TH" altLang="en-US" sz="3500">
                <a:latin typeface="Angsana New" panose="02020603050405020304" pitchFamily="18" charset="-34"/>
                <a:cs typeface="Angsana New" panose="02020603050405020304" pitchFamily="18" charset="-34"/>
              </a:rPr>
              <a:t>ไอเสียที่ได้นำไปให้ความร้อน น้ำในชุดท่อ </a:t>
            </a:r>
            <a:r>
              <a:rPr lang="en-US" altLang="en-US" sz="3500">
                <a:latin typeface="Angsana New" panose="02020603050405020304" pitchFamily="18" charset="-34"/>
                <a:cs typeface="Angsana New" panose="02020603050405020304" pitchFamily="18" charset="-34"/>
              </a:rPr>
              <a:t>Economizer </a:t>
            </a:r>
            <a:r>
              <a:rPr lang="th-TH" altLang="en-US" sz="3500">
                <a:latin typeface="Angsana New" panose="02020603050405020304" pitchFamily="18" charset="-34"/>
                <a:cs typeface="Angsana New" panose="02020603050405020304" pitchFamily="18" charset="-34"/>
              </a:rPr>
              <a:t>เป็นต้น</a:t>
            </a:r>
          </a:p>
        </p:txBody>
      </p:sp>
      <p:sp>
        <p:nvSpPr>
          <p:cNvPr id="550916" name="Text Box 6"/>
          <p:cNvSpPr txBox="1">
            <a:spLocks noChangeArrowheads="1"/>
          </p:cNvSpPr>
          <p:nvPr/>
        </p:nvSpPr>
        <p:spPr bwMode="auto">
          <a:xfrm>
            <a:off x="395288" y="4667250"/>
            <a:ext cx="8351837" cy="895350"/>
          </a:xfrm>
          <a:prstGeom prst="rect">
            <a:avLst/>
          </a:prstGeom>
          <a:noFill/>
          <a:ln w="9525">
            <a:solidFill>
              <a:schemeClr val="tx1"/>
            </a:solidFill>
            <a:miter lim="800000"/>
            <a:headEnd/>
            <a:tailEnd/>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lnSpc>
                <a:spcPct val="160000"/>
              </a:lnSpc>
              <a:spcBef>
                <a:spcPct val="50000"/>
              </a:spcBef>
              <a:buFontTx/>
              <a:buNone/>
            </a:pPr>
            <a:r>
              <a:rPr lang="th-TH" altLang="en-US" sz="3600"/>
              <a:t>ความสูญเสียดังกล่าวจะทำให้ประสิทธิภาพของวัฏจักรลดลง</a:t>
            </a:r>
          </a:p>
        </p:txBody>
      </p:sp>
    </p:spTree>
  </p:cSld>
  <p:clrMapOvr>
    <a:masterClrMapping/>
  </p:clrMapOvr>
  <p:transition spd="med">
    <p:fade thruBlk="1"/>
  </p:transition>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1938" name="Picture 2" descr="12"/>
          <p:cNvPicPr>
            <a:picLocks noGrp="1" noChangeAspect="1" noChangeArrowheads="1"/>
          </p:cNvPicPr>
          <p:nvPr>
            <p:ph/>
          </p:nvPr>
        </p:nvPicPr>
        <p:blipFill>
          <a:blip r:embed="rId3">
            <a:extLst>
              <a:ext uri="{28A0092B-C50C-407E-A947-70E740481C1C}">
                <a14:useLocalDpi xmlns:a14="http://schemas.microsoft.com/office/drawing/2010/main" val="0"/>
              </a:ext>
            </a:extLst>
          </a:blip>
          <a:srcRect/>
          <a:stretch>
            <a:fillRect/>
          </a:stretch>
        </p:blipFill>
        <p:spPr>
          <a:xfrm>
            <a:off x="42863" y="2965450"/>
            <a:ext cx="4837112" cy="3627438"/>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51939"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6. Principle of chemical recovery </a:t>
            </a:r>
          </a:p>
        </p:txBody>
      </p:sp>
      <p:sp>
        <p:nvSpPr>
          <p:cNvPr id="551940" name="TextBox 1"/>
          <p:cNvSpPr txBox="1">
            <a:spLocks noChangeArrowheads="1"/>
          </p:cNvSpPr>
          <p:nvPr/>
        </p:nvSpPr>
        <p:spPr bwMode="auto">
          <a:xfrm>
            <a:off x="457200" y="895350"/>
            <a:ext cx="2176463" cy="4603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t>Recovery Boiler</a:t>
            </a:r>
          </a:p>
        </p:txBody>
      </p:sp>
      <p:sp>
        <p:nvSpPr>
          <p:cNvPr id="4" name="Oval 3"/>
          <p:cNvSpPr/>
          <p:nvPr/>
        </p:nvSpPr>
        <p:spPr>
          <a:xfrm>
            <a:off x="5634038" y="1711325"/>
            <a:ext cx="1444625" cy="1444625"/>
          </a:xfrm>
          <a:prstGeom prst="ellipse">
            <a:avLst/>
          </a:prstGeom>
          <a:solidFill>
            <a:srgbClr val="FFC000">
              <a:alpha val="60000"/>
            </a:srgb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b="1" dirty="0">
                <a:solidFill>
                  <a:schemeClr val="tx1"/>
                </a:solidFill>
              </a:rPr>
              <a:t>Organic</a:t>
            </a:r>
          </a:p>
        </p:txBody>
      </p:sp>
      <p:sp>
        <p:nvSpPr>
          <p:cNvPr id="7" name="Oval 6"/>
          <p:cNvSpPr/>
          <p:nvPr/>
        </p:nvSpPr>
        <p:spPr>
          <a:xfrm>
            <a:off x="6884988" y="1681163"/>
            <a:ext cx="1506537" cy="1474787"/>
          </a:xfrm>
          <a:prstGeom prst="ellipse">
            <a:avLst/>
          </a:prstGeom>
          <a:solidFill>
            <a:srgbClr val="00B0F0">
              <a:alpha val="64000"/>
            </a:srgb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b="1" dirty="0">
                <a:solidFill>
                  <a:schemeClr val="tx1"/>
                </a:solidFill>
              </a:rPr>
              <a:t>Inorganic</a:t>
            </a:r>
          </a:p>
        </p:txBody>
      </p:sp>
      <p:sp>
        <p:nvSpPr>
          <p:cNvPr id="8" name="Oval 7"/>
          <p:cNvSpPr/>
          <p:nvPr/>
        </p:nvSpPr>
        <p:spPr>
          <a:xfrm>
            <a:off x="6400800" y="1017588"/>
            <a:ext cx="1117600" cy="1062037"/>
          </a:xfrm>
          <a:prstGeom prst="ellipse">
            <a:avLst/>
          </a:prstGeom>
          <a:solidFill>
            <a:srgbClr val="92D050">
              <a:alpha val="70000"/>
            </a:srgb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b="1" dirty="0">
                <a:solidFill>
                  <a:schemeClr val="tx1"/>
                </a:solidFill>
              </a:rPr>
              <a:t>Water</a:t>
            </a:r>
          </a:p>
        </p:txBody>
      </p:sp>
      <p:sp>
        <p:nvSpPr>
          <p:cNvPr id="551944" name="TextBox 9"/>
          <p:cNvSpPr txBox="1">
            <a:spLocks noChangeArrowheads="1"/>
          </p:cNvSpPr>
          <p:nvPr/>
        </p:nvSpPr>
        <p:spPr bwMode="auto">
          <a:xfrm>
            <a:off x="4240213" y="3408363"/>
            <a:ext cx="473392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600">
                <a:latin typeface="Tahoma" panose="020B0604030504040204" pitchFamily="34" charset="0"/>
                <a:cs typeface="Tahoma" panose="020B0604030504040204" pitchFamily="34" charset="0"/>
              </a:rPr>
              <a:t>Black Liquor is fired in Recovery Boiler furnace the organic is the main thing that burn, water is evaporate.</a:t>
            </a:r>
          </a:p>
          <a:p>
            <a:pPr eaLnBrk="1" hangingPunct="1">
              <a:spcBef>
                <a:spcPct val="0"/>
              </a:spcBef>
              <a:buFontTx/>
              <a:buNone/>
            </a:pPr>
            <a:r>
              <a:rPr lang="en-US" altLang="en-US" sz="1600">
                <a:latin typeface="Tahoma" panose="020B0604030504040204" pitchFamily="34" charset="0"/>
                <a:cs typeface="Tahoma" panose="020B0604030504040204" pitchFamily="34" charset="0"/>
              </a:rPr>
              <a:t>Therefore, the inorganic get separated and become a very hot and viscose liquid (Like Lava). This liquid is call “Smelt” which then run out at the bottom of the furnace to Dissolving Tank. The Smelt then mix with water to form new substance call “Green Liquor” </a:t>
            </a:r>
          </a:p>
        </p:txBody>
      </p:sp>
      <p:sp>
        <p:nvSpPr>
          <p:cNvPr id="551945" name="TextBox 5"/>
          <p:cNvSpPr txBox="1">
            <a:spLocks noChangeArrowheads="1"/>
          </p:cNvSpPr>
          <p:nvPr/>
        </p:nvSpPr>
        <p:spPr bwMode="auto">
          <a:xfrm>
            <a:off x="931863" y="1498600"/>
            <a:ext cx="4733925"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1085850" indent="-34290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600">
                <a:latin typeface="Tahoma" panose="020B0604030504040204" pitchFamily="34" charset="0"/>
                <a:cs typeface="Tahoma" panose="020B0604030504040204" pitchFamily="34" charset="0"/>
              </a:rPr>
              <a:t>In Strong Black Liquor we have three main substance </a:t>
            </a:r>
          </a:p>
          <a:p>
            <a:pPr lvl="1" eaLnBrk="1" hangingPunct="1">
              <a:spcBef>
                <a:spcPct val="0"/>
              </a:spcBef>
              <a:buFontTx/>
              <a:buAutoNum type="arabicParenR"/>
            </a:pPr>
            <a:r>
              <a:rPr lang="en-US" altLang="en-US" sz="1600">
                <a:latin typeface="Tahoma" panose="020B0604030504040204" pitchFamily="34" charset="0"/>
                <a:cs typeface="Tahoma" panose="020B0604030504040204" pitchFamily="34" charset="0"/>
              </a:rPr>
              <a:t>Water (H</a:t>
            </a:r>
            <a:r>
              <a:rPr lang="en-US" altLang="en-US" sz="1600" baseline="-25000">
                <a:latin typeface="Tahoma" panose="020B0604030504040204" pitchFamily="34" charset="0"/>
                <a:cs typeface="Tahoma" panose="020B0604030504040204" pitchFamily="34" charset="0"/>
              </a:rPr>
              <a:t>2</a:t>
            </a:r>
            <a:r>
              <a:rPr lang="en-US" altLang="en-US" sz="1600">
                <a:latin typeface="Tahoma" panose="020B0604030504040204" pitchFamily="34" charset="0"/>
                <a:cs typeface="Tahoma" panose="020B0604030504040204" pitchFamily="34" charset="0"/>
              </a:rPr>
              <a:t>O)</a:t>
            </a:r>
          </a:p>
          <a:p>
            <a:pPr lvl="1" eaLnBrk="1" hangingPunct="1">
              <a:spcBef>
                <a:spcPct val="0"/>
              </a:spcBef>
              <a:buFontTx/>
              <a:buAutoNum type="arabicParenR"/>
            </a:pPr>
            <a:r>
              <a:rPr lang="en-US" altLang="en-US" sz="1600">
                <a:latin typeface="Tahoma" panose="020B0604030504040204" pitchFamily="34" charset="0"/>
                <a:cs typeface="Tahoma" panose="020B0604030504040204" pitchFamily="34" charset="0"/>
              </a:rPr>
              <a:t>Organic  (Lignin)</a:t>
            </a:r>
          </a:p>
          <a:p>
            <a:pPr lvl="1" eaLnBrk="1" hangingPunct="1">
              <a:spcBef>
                <a:spcPct val="0"/>
              </a:spcBef>
              <a:buFontTx/>
              <a:buAutoNum type="arabicParenR"/>
            </a:pPr>
            <a:r>
              <a:rPr lang="en-US" altLang="en-US" sz="1600">
                <a:latin typeface="Tahoma" panose="020B0604030504040204" pitchFamily="34" charset="0"/>
                <a:cs typeface="Tahoma" panose="020B0604030504040204" pitchFamily="34" charset="0"/>
              </a:rPr>
              <a:t>Inorganic (Na</a:t>
            </a:r>
            <a:r>
              <a:rPr lang="en-US" altLang="en-US" sz="1600" baseline="-25000">
                <a:latin typeface="Tahoma" panose="020B0604030504040204" pitchFamily="34" charset="0"/>
                <a:cs typeface="Tahoma" panose="020B0604030504040204" pitchFamily="34" charset="0"/>
              </a:rPr>
              <a:t>2</a:t>
            </a:r>
            <a:r>
              <a:rPr lang="en-US" altLang="en-US" sz="1600">
                <a:latin typeface="Tahoma" panose="020B0604030504040204" pitchFamily="34" charset="0"/>
                <a:cs typeface="Tahoma" panose="020B0604030504040204" pitchFamily="34" charset="0"/>
              </a:rPr>
              <a:t>CO</a:t>
            </a:r>
            <a:r>
              <a:rPr lang="en-US" altLang="en-US" sz="1600" baseline="-25000">
                <a:latin typeface="Tahoma" panose="020B0604030504040204" pitchFamily="34" charset="0"/>
                <a:cs typeface="Tahoma" panose="020B0604030504040204" pitchFamily="34" charset="0"/>
              </a:rPr>
              <a:t>3</a:t>
            </a:r>
            <a:r>
              <a:rPr lang="en-US" altLang="en-US" sz="1600">
                <a:latin typeface="Tahoma" panose="020B0604030504040204" pitchFamily="34" charset="0"/>
                <a:cs typeface="Tahoma" panose="020B0604030504040204" pitchFamily="34" charset="0"/>
              </a:rPr>
              <a:t>)</a:t>
            </a:r>
          </a:p>
        </p:txBody>
      </p:sp>
    </p:spTree>
  </p:cSld>
  <p:clrMapOvr>
    <a:masterClrMapping/>
  </p:clrMapOvr>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03.mp4">
            <a:hlinkClick r:id="" action="ppaction://media"/>
          </p:cNvPr>
          <p:cNvPicPr>
            <a:picLocks noChangeAspect="1"/>
          </p:cNvPicPr>
          <p:nvPr>
            <a:videoFile r:link="rId2"/>
            <p:extLst>
              <p:ext uri="{DAA4B4D4-6D71-4841-9C94-3DE7FCFB9230}">
                <p14:media xmlns:p14="http://schemas.microsoft.com/office/powerpoint/2010/main" r:link="rId1"/>
              </p:ext>
            </p:extLst>
          </p:nvPr>
        </p:nvPicPr>
        <p:blipFill>
          <a:blip r:embed="rId5">
            <a:extLst>
              <a:ext uri="{28A0092B-C50C-407E-A947-70E740481C1C}">
                <a14:useLocalDpi xmlns:a14="http://schemas.microsoft.com/office/drawing/2010/main" val="0"/>
              </a:ext>
            </a:extLst>
          </a:blip>
          <a:srcRect/>
          <a:stretch>
            <a:fillRect/>
          </a:stretch>
        </p:blipFill>
        <p:spPr bwMode="auto">
          <a:xfrm>
            <a:off x="1400175" y="1539875"/>
            <a:ext cx="6546850" cy="4910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3987" name="Picture 9"/>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487363" y="-176213"/>
            <a:ext cx="8231187" cy="1144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3988" name="TextBox 1"/>
          <p:cNvSpPr txBox="1">
            <a:spLocks noChangeArrowheads="1"/>
          </p:cNvSpPr>
          <p:nvPr/>
        </p:nvSpPr>
        <p:spPr bwMode="auto">
          <a:xfrm>
            <a:off x="252413" y="968375"/>
            <a:ext cx="2297112"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t>RECAUSTICIZING</a:t>
            </a:r>
          </a:p>
        </p:txBody>
      </p:sp>
    </p:spTree>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fullScrn="1">
              <p:cMediaNode vol="80000">
                <p:cTn id="7" fill="hold" display="0">
                  <p:stCondLst>
                    <p:cond delay="indefinite"/>
                  </p:stCondLst>
                </p:cTn>
                <p:tgtEl>
                  <p:spTgt spid="2"/>
                </p:tgtEl>
              </p:cMediaNode>
            </p:video>
          </p:childTnLst>
        </p:cTn>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6034"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03188" y="1766888"/>
            <a:ext cx="5224462" cy="391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6035" name="TextBox 6"/>
          <p:cNvSpPr txBox="1">
            <a:spLocks noChangeArrowheads="1"/>
          </p:cNvSpPr>
          <p:nvPr/>
        </p:nvSpPr>
        <p:spPr bwMode="auto">
          <a:xfrm>
            <a:off x="201613" y="227013"/>
            <a:ext cx="8770937" cy="1322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u="sng">
                <a:latin typeface="Tahoma" panose="020B0604030504040204" pitchFamily="34" charset="0"/>
                <a:cs typeface="Tahoma" panose="020B0604030504040204" pitchFamily="34" charset="0"/>
              </a:rPr>
              <a:t>Recausticizing</a:t>
            </a:r>
          </a:p>
          <a:p>
            <a:pPr>
              <a:spcBef>
                <a:spcPct val="0"/>
              </a:spcBef>
              <a:buFontTx/>
              <a:buNone/>
            </a:pPr>
            <a:r>
              <a:rPr lang="en-US" altLang="en-US" sz="2000">
                <a:latin typeface="Tahoma" panose="020B0604030504040204" pitchFamily="34" charset="0"/>
                <a:cs typeface="Tahoma" panose="020B0604030504040204" pitchFamily="34" charset="0"/>
              </a:rPr>
              <a:t>- </a:t>
            </a:r>
            <a:r>
              <a:rPr lang="th-TH" altLang="en-US" sz="2000">
                <a:latin typeface="Tahoma" panose="020B0604030504040204" pitchFamily="34" charset="0"/>
                <a:cs typeface="Tahoma" panose="020B0604030504040204" pitchFamily="34" charset="0"/>
              </a:rPr>
              <a:t>เป็นกระบวน การเปลียสารเคมีในน้ำยาที่ผ่านการต้มเยื่อมาแล้วให้กลับสู่สถานะเดิมเพื่อให้น้ำยานั้นสามารถส่งกลับไปใช้ผลิตเยื่อได้อีกครั้ง หรือเรียกอีกทางว่าเป็นการเปลี่ยนน้ำยาจาก </a:t>
            </a:r>
            <a:r>
              <a:rPr lang="en-US" altLang="en-US" sz="2000">
                <a:latin typeface="Tahoma" panose="020B0604030504040204" pitchFamily="34" charset="0"/>
                <a:cs typeface="Tahoma" panose="020B0604030504040204" pitchFamily="34" charset="0"/>
              </a:rPr>
              <a:t>“</a:t>
            </a:r>
            <a:r>
              <a:rPr lang="en-US" altLang="en-US" sz="2000" b="1">
                <a:latin typeface="Tahoma" panose="020B0604030504040204" pitchFamily="34" charset="0"/>
                <a:cs typeface="Tahoma" panose="020B0604030504040204" pitchFamily="34" charset="0"/>
              </a:rPr>
              <a:t>Green Liquor”</a:t>
            </a:r>
            <a:r>
              <a:rPr lang="en-US" altLang="en-US" sz="2000">
                <a:latin typeface="Tahoma" panose="020B0604030504040204" pitchFamily="34" charset="0"/>
                <a:cs typeface="Tahoma" panose="020B0604030504040204" pitchFamily="34" charset="0"/>
              </a:rPr>
              <a:t> </a:t>
            </a:r>
            <a:r>
              <a:rPr lang="th-TH" altLang="en-US" sz="2000">
                <a:latin typeface="Tahoma" panose="020B0604030504040204" pitchFamily="34" charset="0"/>
                <a:cs typeface="Tahoma" panose="020B0604030504040204" pitchFamily="34" charset="0"/>
              </a:rPr>
              <a:t>ให้เป็นน้ำยา </a:t>
            </a:r>
            <a:r>
              <a:rPr lang="en-US" altLang="en-US" sz="2000">
                <a:latin typeface="Tahoma" panose="020B0604030504040204" pitchFamily="34" charset="0"/>
                <a:cs typeface="Tahoma" panose="020B0604030504040204" pitchFamily="34" charset="0"/>
              </a:rPr>
              <a:t>“</a:t>
            </a:r>
            <a:r>
              <a:rPr lang="en-US" altLang="en-US" sz="2000" b="1">
                <a:latin typeface="Tahoma" panose="020B0604030504040204" pitchFamily="34" charset="0"/>
                <a:cs typeface="Tahoma" panose="020B0604030504040204" pitchFamily="34" charset="0"/>
              </a:rPr>
              <a:t>White Liquor”</a:t>
            </a:r>
            <a:endParaRPr lang="th-TH" altLang="en-US" sz="2000" b="1">
              <a:latin typeface="Tahoma" panose="020B0604030504040204" pitchFamily="34" charset="0"/>
              <a:cs typeface="Tahoma" panose="020B0604030504040204" pitchFamily="34" charset="0"/>
            </a:endParaRPr>
          </a:p>
        </p:txBody>
      </p:sp>
      <p:pic>
        <p:nvPicPr>
          <p:cNvPr id="556036" name="Picture 11"/>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21313" y="2954338"/>
            <a:ext cx="3635375" cy="272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fade/>
  </p:transition>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8082"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816350" y="971550"/>
            <a:ext cx="5211763" cy="3906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8083" name="TextBox 8"/>
          <p:cNvSpPr txBox="1">
            <a:spLocks noChangeArrowheads="1"/>
          </p:cNvSpPr>
          <p:nvPr/>
        </p:nvSpPr>
        <p:spPr bwMode="auto">
          <a:xfrm>
            <a:off x="130175" y="3641725"/>
            <a:ext cx="8897938" cy="1938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u="sng">
                <a:latin typeface="Tahoma" panose="020B0604030504040204" pitchFamily="34" charset="0"/>
                <a:cs typeface="Tahoma" panose="020B0604030504040204" pitchFamily="34" charset="0"/>
              </a:rPr>
              <a:t>Green Liquor</a:t>
            </a:r>
          </a:p>
          <a:p>
            <a:pPr>
              <a:spcBef>
                <a:spcPct val="0"/>
              </a:spcBef>
              <a:buFontTx/>
              <a:buNone/>
            </a:pPr>
            <a:r>
              <a:rPr lang="en-US" altLang="en-US" sz="2000">
                <a:latin typeface="Tahoma" panose="020B0604030504040204" pitchFamily="34" charset="0"/>
                <a:cs typeface="Tahoma" panose="020B0604030504040204" pitchFamily="34" charset="0"/>
              </a:rPr>
              <a:t>- </a:t>
            </a:r>
            <a:r>
              <a:rPr lang="th-TH" altLang="en-US" sz="2000">
                <a:latin typeface="Tahoma" panose="020B0604030504040204" pitchFamily="34" charset="0"/>
                <a:cs typeface="Tahoma" panose="020B0604030504040204" pitchFamily="34" charset="0"/>
              </a:rPr>
              <a:t>สารสีเขียวที่มาจาก </a:t>
            </a:r>
            <a:r>
              <a:rPr lang="en-US" altLang="en-US" sz="2000">
                <a:latin typeface="Tahoma" panose="020B0604030504040204" pitchFamily="34" charset="0"/>
                <a:cs typeface="Tahoma" panose="020B0604030504040204" pitchFamily="34" charset="0"/>
              </a:rPr>
              <a:t>Smelt </a:t>
            </a:r>
          </a:p>
          <a:p>
            <a:pPr>
              <a:spcBef>
                <a:spcPct val="0"/>
              </a:spcBef>
              <a:buFontTx/>
              <a:buNone/>
            </a:pPr>
            <a:r>
              <a:rPr lang="en-US" altLang="en-US" sz="2000">
                <a:latin typeface="Tahoma" panose="020B0604030504040204" pitchFamily="34" charset="0"/>
                <a:cs typeface="Tahoma" panose="020B0604030504040204" pitchFamily="34" charset="0"/>
              </a:rPr>
              <a:t>Dissolving Tank </a:t>
            </a:r>
            <a:r>
              <a:rPr lang="th-TH" altLang="en-US" sz="2000">
                <a:latin typeface="Tahoma" panose="020B0604030504040204" pitchFamily="34" charset="0"/>
                <a:cs typeface="Tahoma" panose="020B0604030504040204" pitchFamily="34" charset="0"/>
              </a:rPr>
              <a:t>จะถูก </a:t>
            </a:r>
            <a:r>
              <a:rPr lang="en-US" altLang="en-US" sz="2000">
                <a:latin typeface="Tahoma" panose="020B0604030504040204" pitchFamily="34" charset="0"/>
                <a:cs typeface="Tahoma" panose="020B0604030504040204" pitchFamily="34" charset="0"/>
              </a:rPr>
              <a:t>pump </a:t>
            </a:r>
            <a:endParaRPr lang="th-TH" altLang="en-US" sz="2000">
              <a:latin typeface="Tahoma" panose="020B0604030504040204" pitchFamily="34" charset="0"/>
              <a:cs typeface="Tahoma" panose="020B0604030504040204" pitchFamily="34" charset="0"/>
            </a:endParaRPr>
          </a:p>
          <a:p>
            <a:pPr>
              <a:spcBef>
                <a:spcPct val="0"/>
              </a:spcBef>
              <a:buFontTx/>
              <a:buNone/>
            </a:pPr>
            <a:r>
              <a:rPr lang="th-TH" altLang="en-US" sz="2000">
                <a:latin typeface="Tahoma" panose="020B0604030504040204" pitchFamily="34" charset="0"/>
                <a:cs typeface="Tahoma" panose="020B0604030504040204" pitchFamily="34" charset="0"/>
              </a:rPr>
              <a:t>ส่งไปที่ถัง </a:t>
            </a:r>
            <a:r>
              <a:rPr lang="en-US" altLang="en-US" sz="2000">
                <a:latin typeface="Tahoma" panose="020B0604030504040204" pitchFamily="34" charset="0"/>
                <a:cs typeface="Tahoma" panose="020B0604030504040204" pitchFamily="34" charset="0"/>
              </a:rPr>
              <a:t>Green Liquor Clarifier </a:t>
            </a:r>
          </a:p>
          <a:p>
            <a:pPr>
              <a:spcBef>
                <a:spcPct val="0"/>
              </a:spcBef>
              <a:buFontTx/>
              <a:buNone/>
            </a:pPr>
            <a:r>
              <a:rPr lang="en-US" altLang="en-US" sz="2000">
                <a:latin typeface="Tahoma" panose="020B0604030504040204" pitchFamily="34" charset="0"/>
                <a:cs typeface="Tahoma" panose="020B0604030504040204" pitchFamily="34" charset="0"/>
              </a:rPr>
              <a:t>- </a:t>
            </a:r>
            <a:r>
              <a:rPr lang="th-TH" altLang="en-US" sz="2000">
                <a:latin typeface="Tahoma" panose="020B0604030504040204" pitchFamily="34" charset="0"/>
                <a:cs typeface="Tahoma" panose="020B0604030504040204" pitchFamily="34" charset="0"/>
              </a:rPr>
              <a:t>ซึ่งถังนี้จะทำการตกตะกอนสารปลอมปนต่างๆใช้หลักการแรงโน้มถ่วงของโลก</a:t>
            </a:r>
            <a:r>
              <a:rPr lang="en-US" altLang="en-US" sz="2000">
                <a:latin typeface="Tahoma" panose="020B0604030504040204" pitchFamily="34" charset="0"/>
                <a:cs typeface="Tahoma" panose="020B0604030504040204" pitchFamily="34" charset="0"/>
              </a:rPr>
              <a:t>(gravity)</a:t>
            </a:r>
            <a:r>
              <a:rPr lang="th-TH" altLang="en-US" sz="2000">
                <a:latin typeface="Tahoma" panose="020B0604030504040204" pitchFamily="34" charset="0"/>
                <a:cs typeface="Tahoma" panose="020B0604030504040204" pitchFamily="34" charset="0"/>
              </a:rPr>
              <a:t> ซึ่งสารที่ตกตะกอนนั้นเราเรียกว่า </a:t>
            </a:r>
            <a:r>
              <a:rPr lang="th-TH" altLang="en-US" sz="2000" b="1">
                <a:latin typeface="Tahoma" panose="020B0604030504040204" pitchFamily="34" charset="0"/>
                <a:cs typeface="Tahoma" panose="020B0604030504040204" pitchFamily="34" charset="0"/>
              </a:rPr>
              <a:t>“</a:t>
            </a:r>
            <a:r>
              <a:rPr lang="en-US" altLang="en-US" sz="2000" b="1">
                <a:latin typeface="Tahoma" panose="020B0604030504040204" pitchFamily="34" charset="0"/>
                <a:cs typeface="Tahoma" panose="020B0604030504040204" pitchFamily="34" charset="0"/>
              </a:rPr>
              <a:t>Dregs”</a:t>
            </a:r>
            <a:endParaRPr lang="th-TH" altLang="en-US" sz="2000" b="1">
              <a:latin typeface="Tahoma" panose="020B0604030504040204" pitchFamily="34" charset="0"/>
              <a:cs typeface="Tahoma" panose="020B0604030504040204" pitchFamily="34" charset="0"/>
            </a:endParaRPr>
          </a:p>
        </p:txBody>
      </p:sp>
      <p:pic>
        <p:nvPicPr>
          <p:cNvPr id="558084" name="Picture 9"/>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30175" y="987425"/>
            <a:ext cx="3540125" cy="265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8085" name="TextBox 7"/>
          <p:cNvSpPr txBox="1">
            <a:spLocks noChangeArrowheads="1"/>
          </p:cNvSpPr>
          <p:nvPr/>
        </p:nvSpPr>
        <p:spPr bwMode="auto">
          <a:xfrm>
            <a:off x="6834188" y="2825750"/>
            <a:ext cx="9096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solidFill>
                  <a:schemeClr val="bg1"/>
                </a:solidFill>
              </a:rPr>
              <a:t>Dregs</a:t>
            </a:r>
          </a:p>
        </p:txBody>
      </p:sp>
    </p:spTree>
  </p:cSld>
  <p:clrMapOvr>
    <a:masterClrMapping/>
  </p:clrMapOvr>
  <p:transition>
    <p:fade/>
  </p:transition>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0130" name="TextBox 8"/>
          <p:cNvSpPr txBox="1">
            <a:spLocks noChangeArrowheads="1"/>
          </p:cNvSpPr>
          <p:nvPr/>
        </p:nvSpPr>
        <p:spPr bwMode="auto">
          <a:xfrm>
            <a:off x="314325" y="3876675"/>
            <a:ext cx="4830763" cy="2246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u="sng">
                <a:latin typeface="Tahoma" panose="020B0604030504040204" pitchFamily="34" charset="0"/>
                <a:cs typeface="Tahoma" panose="020B0604030504040204" pitchFamily="34" charset="0"/>
              </a:rPr>
              <a:t>Causticizer </a:t>
            </a:r>
          </a:p>
          <a:p>
            <a:pPr>
              <a:spcBef>
                <a:spcPct val="0"/>
              </a:spcBef>
              <a:buFontTx/>
              <a:buNone/>
            </a:pPr>
            <a:r>
              <a:rPr lang="en-US" altLang="en-US" sz="2000">
                <a:latin typeface="Tahoma" panose="020B0604030504040204" pitchFamily="34" charset="0"/>
                <a:cs typeface="Tahoma" panose="020B0604030504040204" pitchFamily="34" charset="0"/>
              </a:rPr>
              <a:t>- </a:t>
            </a:r>
            <a:r>
              <a:rPr lang="th-TH" altLang="en-US" sz="2000">
                <a:latin typeface="Tahoma" panose="020B0604030504040204" pitchFamily="34" charset="0"/>
                <a:cs typeface="Tahoma" panose="020B0604030504040204" pitchFamily="34" charset="0"/>
              </a:rPr>
              <a:t>น้ำยาที่ผสมกับปูนขาวก็จะถูกส่งไปยัง </a:t>
            </a:r>
            <a:r>
              <a:rPr lang="en-US" altLang="en-US" sz="2000">
                <a:latin typeface="Tahoma" panose="020B0604030504040204" pitchFamily="34" charset="0"/>
                <a:cs typeface="Tahoma" panose="020B0604030504040204" pitchFamily="34" charset="0"/>
              </a:rPr>
              <a:t>Causticizer Tank </a:t>
            </a:r>
            <a:r>
              <a:rPr lang="th-TH" altLang="en-US" sz="2000">
                <a:latin typeface="Tahoma" panose="020B0604030504040204" pitchFamily="34" charset="0"/>
                <a:cs typeface="Tahoma" panose="020B0604030504040204" pitchFamily="34" charset="0"/>
              </a:rPr>
              <a:t>เพื่อให้เกิดปฏิกริยา </a:t>
            </a:r>
            <a:r>
              <a:rPr lang="en-US" altLang="en-US" sz="2000">
                <a:latin typeface="Tahoma" panose="020B0604030504040204" pitchFamily="34" charset="0"/>
                <a:cs typeface="Tahoma" panose="020B0604030504040204" pitchFamily="34" charset="0"/>
              </a:rPr>
              <a:t>Causticizing </a:t>
            </a:r>
            <a:r>
              <a:rPr lang="th-TH" altLang="en-US" sz="2000">
                <a:latin typeface="Tahoma" panose="020B0604030504040204" pitchFamily="34" charset="0"/>
                <a:cs typeface="Tahoma" panose="020B0604030504040204" pitchFamily="34" charset="0"/>
              </a:rPr>
              <a:t>ซึ่งปฎิกริยานี้จะทำให้น้ำยา </a:t>
            </a:r>
            <a:r>
              <a:rPr lang="en-US" altLang="en-US" sz="2000">
                <a:latin typeface="Tahoma" panose="020B0604030504040204" pitchFamily="34" charset="0"/>
                <a:cs typeface="Tahoma" panose="020B0604030504040204" pitchFamily="34" charset="0"/>
              </a:rPr>
              <a:t>Green Liquor </a:t>
            </a:r>
            <a:r>
              <a:rPr lang="th-TH" altLang="en-US" sz="2000">
                <a:latin typeface="Tahoma" panose="020B0604030504040204" pitchFamily="34" charset="0"/>
                <a:cs typeface="Tahoma" panose="020B0604030504040204" pitchFamily="34" charset="0"/>
              </a:rPr>
              <a:t>เปลี่ยนเป็น </a:t>
            </a:r>
            <a:r>
              <a:rPr lang="en-US" altLang="en-US" sz="2000">
                <a:latin typeface="Tahoma" panose="020B0604030504040204" pitchFamily="34" charset="0"/>
                <a:cs typeface="Tahoma" panose="020B0604030504040204" pitchFamily="34" charset="0"/>
              </a:rPr>
              <a:t>White Liquor </a:t>
            </a:r>
            <a:endParaRPr lang="th-TH" altLang="en-US" sz="2000">
              <a:latin typeface="Tahoma" panose="020B0604030504040204" pitchFamily="34" charset="0"/>
              <a:cs typeface="Tahoma" panose="020B0604030504040204" pitchFamily="34" charset="0"/>
            </a:endParaRPr>
          </a:p>
          <a:p>
            <a:pPr>
              <a:spcBef>
                <a:spcPct val="0"/>
              </a:spcBef>
              <a:buFontTx/>
              <a:buNone/>
            </a:pPr>
            <a:r>
              <a:rPr lang="th-TH" altLang="en-US" sz="2000">
                <a:latin typeface="Tahoma" panose="020B0604030504040204" pitchFamily="34" charset="0"/>
                <a:cs typeface="Tahoma" panose="020B0604030504040204" pitchFamily="34" charset="0"/>
              </a:rPr>
              <a:t>และเปลี่ยน </a:t>
            </a:r>
            <a:r>
              <a:rPr lang="en-US" altLang="en-US" sz="2000">
                <a:latin typeface="Tahoma" panose="020B0604030504040204" pitchFamily="34" charset="0"/>
                <a:cs typeface="Tahoma" panose="020B0604030504040204" pitchFamily="34" charset="0"/>
              </a:rPr>
              <a:t>Lime (CaO)</a:t>
            </a:r>
            <a:r>
              <a:rPr lang="th-TH" altLang="en-US" sz="2000">
                <a:latin typeface="Tahoma" panose="020B0604030504040204" pitchFamily="34" charset="0"/>
                <a:cs typeface="Tahoma" panose="020B0604030504040204" pitchFamily="34" charset="0"/>
              </a:rPr>
              <a:t> มาเป็น </a:t>
            </a:r>
            <a:r>
              <a:rPr lang="en-US" altLang="en-US" sz="2000">
                <a:latin typeface="Tahoma" panose="020B0604030504040204" pitchFamily="34" charset="0"/>
                <a:cs typeface="Tahoma" panose="020B0604030504040204" pitchFamily="34" charset="0"/>
              </a:rPr>
              <a:t>Lime Mud (CaCO</a:t>
            </a:r>
            <a:r>
              <a:rPr lang="en-US" altLang="en-US" sz="2000" baseline="-25000">
                <a:latin typeface="Tahoma" panose="020B0604030504040204" pitchFamily="34" charset="0"/>
                <a:cs typeface="Tahoma" panose="020B0604030504040204" pitchFamily="34" charset="0"/>
              </a:rPr>
              <a:t>3</a:t>
            </a:r>
            <a:r>
              <a:rPr lang="en-US" altLang="en-US" sz="2000">
                <a:latin typeface="Tahoma" panose="020B0604030504040204" pitchFamily="34" charset="0"/>
                <a:cs typeface="Tahoma" panose="020B0604030504040204" pitchFamily="34" charset="0"/>
              </a:rPr>
              <a:t>)</a:t>
            </a:r>
            <a:endParaRPr lang="th-TH" altLang="en-US" sz="2000">
              <a:latin typeface="Tahoma" panose="020B0604030504040204" pitchFamily="34" charset="0"/>
              <a:cs typeface="Tahoma" panose="020B0604030504040204" pitchFamily="34" charset="0"/>
            </a:endParaRPr>
          </a:p>
        </p:txBody>
      </p:sp>
      <p:pic>
        <p:nvPicPr>
          <p:cNvPr id="560131" name="Picture 1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14325" y="290513"/>
            <a:ext cx="4230688" cy="317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132" name="TextBox 12"/>
          <p:cNvSpPr txBox="1">
            <a:spLocks noChangeArrowheads="1"/>
          </p:cNvSpPr>
          <p:nvPr/>
        </p:nvSpPr>
        <p:spPr bwMode="auto">
          <a:xfrm>
            <a:off x="4735513" y="407988"/>
            <a:ext cx="4216400" cy="19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u="sng">
                <a:latin typeface="Tahoma" panose="020B0604030504040204" pitchFamily="34" charset="0"/>
                <a:cs typeface="Tahoma" panose="020B0604030504040204" pitchFamily="34" charset="0"/>
              </a:rPr>
              <a:t>Slaker</a:t>
            </a:r>
          </a:p>
          <a:p>
            <a:pPr>
              <a:spcBef>
                <a:spcPct val="0"/>
              </a:spcBef>
              <a:buFontTx/>
              <a:buNone/>
            </a:pPr>
            <a:r>
              <a:rPr lang="en-US" altLang="en-US" sz="2000">
                <a:latin typeface="Tahoma" panose="020B0604030504040204" pitchFamily="34" charset="0"/>
                <a:cs typeface="Tahoma" panose="020B0604030504040204" pitchFamily="34" charset="0"/>
              </a:rPr>
              <a:t>- Green Liquor </a:t>
            </a:r>
            <a:r>
              <a:rPr lang="th-TH" altLang="en-US" sz="2000">
                <a:latin typeface="Tahoma" panose="020B0604030504040204" pitchFamily="34" charset="0"/>
                <a:cs typeface="Tahoma" panose="020B0604030504040204" pitchFamily="34" charset="0"/>
              </a:rPr>
              <a:t>น้ำยาส่วนที่มีความใสจะถูกส่งมาที่ถัง </a:t>
            </a:r>
            <a:r>
              <a:rPr lang="en-US" altLang="en-US" sz="2000">
                <a:latin typeface="Tahoma" panose="020B0604030504040204" pitchFamily="34" charset="0"/>
                <a:cs typeface="Tahoma" panose="020B0604030504040204" pitchFamily="34" charset="0"/>
              </a:rPr>
              <a:t>Slaker </a:t>
            </a:r>
            <a:r>
              <a:rPr lang="th-TH" altLang="en-US" sz="2000">
                <a:latin typeface="Tahoma" panose="020B0604030504040204" pitchFamily="34" charset="0"/>
                <a:cs typeface="Tahoma" panose="020B0604030504040204" pitchFamily="34" charset="0"/>
              </a:rPr>
              <a:t>ซึ่งเป็นถังที่นำ </a:t>
            </a:r>
            <a:r>
              <a:rPr lang="en-US" altLang="en-US" sz="2000">
                <a:latin typeface="Tahoma" panose="020B0604030504040204" pitchFamily="34" charset="0"/>
                <a:cs typeface="Tahoma" panose="020B0604030504040204" pitchFamily="34" charset="0"/>
              </a:rPr>
              <a:t>Lime </a:t>
            </a:r>
            <a:r>
              <a:rPr lang="th-TH" altLang="en-US" sz="2000">
                <a:latin typeface="Tahoma" panose="020B0604030504040204" pitchFamily="34" charset="0"/>
                <a:cs typeface="Tahoma" panose="020B0604030504040204" pitchFamily="34" charset="0"/>
              </a:rPr>
              <a:t>(ปูนขาว) เติมเข้ามาผสมกัน ทำให้เกิดปฎิกริยาทางเคมีที่เรียกว่า </a:t>
            </a:r>
            <a:r>
              <a:rPr lang="en-US" altLang="en-US" sz="2000">
                <a:latin typeface="Tahoma" panose="020B0604030504040204" pitchFamily="34" charset="0"/>
                <a:cs typeface="Tahoma" panose="020B0604030504040204" pitchFamily="34" charset="0"/>
              </a:rPr>
              <a:t>Recausticizing </a:t>
            </a:r>
            <a:r>
              <a:rPr lang="th-TH" altLang="en-US" sz="2000">
                <a:latin typeface="Tahoma" panose="020B0604030504040204" pitchFamily="34" charset="0"/>
                <a:cs typeface="Tahoma" panose="020B0604030504040204" pitchFamily="34" charset="0"/>
              </a:rPr>
              <a:t>หรือ </a:t>
            </a:r>
            <a:r>
              <a:rPr lang="en-US" altLang="en-US" sz="2000">
                <a:latin typeface="Tahoma" panose="020B0604030504040204" pitchFamily="34" charset="0"/>
                <a:cs typeface="Tahoma" panose="020B0604030504040204" pitchFamily="34" charset="0"/>
              </a:rPr>
              <a:t>Recaust</a:t>
            </a:r>
          </a:p>
        </p:txBody>
      </p:sp>
      <p:pic>
        <p:nvPicPr>
          <p:cNvPr id="560133" name="Picture 1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016500" y="3289300"/>
            <a:ext cx="4043363" cy="303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134" name="TextBox 14"/>
          <p:cNvSpPr txBox="1">
            <a:spLocks noChangeArrowheads="1"/>
          </p:cNvSpPr>
          <p:nvPr/>
        </p:nvSpPr>
        <p:spPr bwMode="auto">
          <a:xfrm>
            <a:off x="1958975" y="3009900"/>
            <a:ext cx="962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solidFill>
                  <a:schemeClr val="bg1"/>
                </a:solidFill>
              </a:rPr>
              <a:t>Slaker</a:t>
            </a:r>
          </a:p>
        </p:txBody>
      </p:sp>
      <p:sp>
        <p:nvSpPr>
          <p:cNvPr id="560135" name="TextBox 15"/>
          <p:cNvSpPr txBox="1">
            <a:spLocks noChangeArrowheads="1"/>
          </p:cNvSpPr>
          <p:nvPr/>
        </p:nvSpPr>
        <p:spPr bwMode="auto">
          <a:xfrm>
            <a:off x="7550150" y="5876925"/>
            <a:ext cx="15525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solidFill>
                  <a:schemeClr val="bg1"/>
                </a:solidFill>
              </a:rPr>
              <a:t>Causticizer</a:t>
            </a:r>
          </a:p>
        </p:txBody>
      </p:sp>
    </p:spTree>
  </p:cSld>
  <p:clrMapOvr>
    <a:masterClrMapping/>
  </p:clrMapOvr>
  <p:transition>
    <p:fade/>
  </p:transition>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2178"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20700" y="234950"/>
            <a:ext cx="8221663" cy="6165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fade/>
  </p:transition>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04.mp4">
            <a:hlinkClick r:id="" action="ppaction://media"/>
          </p:cNvPr>
          <p:cNvPicPr>
            <a:picLocks noRot="1" noChangeAspect="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787400" y="496888"/>
            <a:ext cx="7485063" cy="561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childTnLst>
        </p:cTn>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6274"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28613" y="2347913"/>
            <a:ext cx="4246562" cy="3184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6275" name="Picture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33925" y="2347913"/>
            <a:ext cx="4244975" cy="3184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Box 6"/>
          <p:cNvSpPr txBox="1"/>
          <p:nvPr/>
        </p:nvSpPr>
        <p:spPr>
          <a:xfrm>
            <a:off x="165100" y="528638"/>
            <a:ext cx="8978900" cy="1630362"/>
          </a:xfrm>
          <a:prstGeom prst="rect">
            <a:avLst/>
          </a:prstGeom>
          <a:noFill/>
        </p:spPr>
        <p:txBody>
          <a:bodyPr>
            <a:spAutoFit/>
          </a:bodyPr>
          <a:lstStyle/>
          <a:p>
            <a:pPr>
              <a:defRPr/>
            </a:pPr>
            <a:r>
              <a:rPr lang="en-US" sz="2000" b="1" u="sng" dirty="0">
                <a:latin typeface="Tahoma" panose="020B0604030504040204" pitchFamily="34" charset="0"/>
                <a:ea typeface="Tahoma" panose="020B0604030504040204" pitchFamily="34" charset="0"/>
                <a:cs typeface="Tahoma" panose="020B0604030504040204" pitchFamily="34" charset="0"/>
              </a:rPr>
              <a:t>White Liquor Clarifier</a:t>
            </a:r>
          </a:p>
          <a:p>
            <a:pPr marL="342900" indent="-342900">
              <a:buFontTx/>
              <a:buChar char="-"/>
              <a:defRPr/>
            </a:pPr>
            <a:r>
              <a:rPr lang="th-TH" sz="2000" dirty="0">
                <a:latin typeface="Tahoma" panose="020B0604030504040204" pitchFamily="34" charset="0"/>
                <a:ea typeface="Tahoma" panose="020B0604030504040204" pitchFamily="34" charset="0"/>
                <a:cs typeface="Tahoma" panose="020B0604030504040204" pitchFamily="34" charset="0"/>
              </a:rPr>
              <a:t>หลังจากปฎิกริยา </a:t>
            </a:r>
            <a:r>
              <a:rPr lang="en-US" sz="2000" dirty="0" err="1">
                <a:latin typeface="Tahoma" panose="020B0604030504040204" pitchFamily="34" charset="0"/>
                <a:ea typeface="Tahoma" panose="020B0604030504040204" pitchFamily="34" charset="0"/>
                <a:cs typeface="Tahoma" panose="020B0604030504040204" pitchFamily="34" charset="0"/>
              </a:rPr>
              <a:t>Causticizer</a:t>
            </a:r>
            <a:r>
              <a:rPr lang="en-US" sz="2000" dirty="0">
                <a:latin typeface="Tahoma" panose="020B0604030504040204" pitchFamily="34" charset="0"/>
                <a:ea typeface="Tahoma" panose="020B0604030504040204" pitchFamily="34" charset="0"/>
                <a:cs typeface="Tahoma" panose="020B0604030504040204" pitchFamily="34" charset="0"/>
              </a:rPr>
              <a:t> </a:t>
            </a:r>
            <a:r>
              <a:rPr lang="th-TH" sz="2000" dirty="0">
                <a:latin typeface="Tahoma" panose="020B0604030504040204" pitchFamily="34" charset="0"/>
                <a:ea typeface="Tahoma" panose="020B0604030504040204" pitchFamily="34" charset="0"/>
                <a:cs typeface="Tahoma" panose="020B0604030504040204" pitchFamily="34" charset="0"/>
              </a:rPr>
              <a:t>สมบูรณ์แล้วน้ำยาจะถูกส่งมาที่ถังตกตะกอนปูนขาวหรือที่เรียกว่า “</a:t>
            </a:r>
            <a:r>
              <a:rPr lang="en-US" sz="2000" dirty="0">
                <a:latin typeface="Tahoma" panose="020B0604030504040204" pitchFamily="34" charset="0"/>
                <a:ea typeface="Tahoma" panose="020B0604030504040204" pitchFamily="34" charset="0"/>
                <a:cs typeface="Tahoma" panose="020B0604030504040204" pitchFamily="34" charset="0"/>
              </a:rPr>
              <a:t>White Liquor Clarifier” </a:t>
            </a:r>
            <a:r>
              <a:rPr lang="th-TH" sz="2000" dirty="0">
                <a:latin typeface="Tahoma" panose="020B0604030504040204" pitchFamily="34" charset="0"/>
                <a:ea typeface="Tahoma" panose="020B0604030504040204" pitchFamily="34" charset="0"/>
                <a:cs typeface="Tahoma" panose="020B0604030504040204" pitchFamily="34" charset="0"/>
              </a:rPr>
              <a:t>โดยมีหน้าที่ตกตะกอน </a:t>
            </a:r>
            <a:r>
              <a:rPr lang="en-US" sz="2000" dirty="0">
                <a:latin typeface="Tahoma" panose="020B0604030504040204" pitchFamily="34" charset="0"/>
                <a:ea typeface="Tahoma" panose="020B0604030504040204" pitchFamily="34" charset="0"/>
                <a:cs typeface="Tahoma" panose="020B0604030504040204" pitchFamily="34" charset="0"/>
              </a:rPr>
              <a:t>Lime Mud </a:t>
            </a:r>
            <a:r>
              <a:rPr lang="th-TH" sz="2000" dirty="0">
                <a:latin typeface="Tahoma" panose="020B0604030504040204" pitchFamily="34" charset="0"/>
                <a:ea typeface="Tahoma" panose="020B0604030504040204" pitchFamily="34" charset="0"/>
                <a:cs typeface="Tahoma" panose="020B0604030504040204" pitchFamily="34" charset="0"/>
              </a:rPr>
              <a:t>และ ส่งน้ำยาส่วนใสไปที่ </a:t>
            </a:r>
            <a:r>
              <a:rPr lang="en-US" sz="2000" dirty="0">
                <a:latin typeface="Tahoma" panose="020B0604030504040204" pitchFamily="34" charset="0"/>
                <a:ea typeface="Tahoma" panose="020B0604030504040204" pitchFamily="34" charset="0"/>
                <a:cs typeface="Tahoma" panose="020B0604030504040204" pitchFamily="34" charset="0"/>
              </a:rPr>
              <a:t>“White Liquor Storage” </a:t>
            </a:r>
            <a:r>
              <a:rPr lang="th-TH" sz="2000" dirty="0">
                <a:latin typeface="Tahoma" panose="020B0604030504040204" pitchFamily="34" charset="0"/>
                <a:ea typeface="Tahoma" panose="020B0604030504040204" pitchFamily="34" charset="0"/>
                <a:cs typeface="Tahoma" panose="020B0604030504040204" pitchFamily="34" charset="0"/>
              </a:rPr>
              <a:t>เพื่อนำไปใช้งานในส่วนของแผนกผลิตเยื่อต่อไป</a:t>
            </a:r>
          </a:p>
        </p:txBody>
      </p:sp>
    </p:spTree>
  </p:cSld>
  <p:clrMapOvr>
    <a:masterClrMapping/>
  </p:clrMapOvr>
  <p:transition>
    <p:fade/>
  </p:transition>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8322" name="TextBox 6"/>
          <p:cNvSpPr txBox="1">
            <a:spLocks noChangeArrowheads="1"/>
          </p:cNvSpPr>
          <p:nvPr/>
        </p:nvSpPr>
        <p:spPr bwMode="auto">
          <a:xfrm>
            <a:off x="73025" y="209550"/>
            <a:ext cx="8978900"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u="sng">
                <a:latin typeface="Tahoma" panose="020B0604030504040204" pitchFamily="34" charset="0"/>
                <a:cs typeface="Tahoma" panose="020B0604030504040204" pitchFamily="34" charset="0"/>
              </a:rPr>
              <a:t>Lime Mud Washer &amp; Lime Mud Storage</a:t>
            </a:r>
          </a:p>
          <a:p>
            <a:pPr>
              <a:spcBef>
                <a:spcPct val="0"/>
              </a:spcBef>
              <a:buFontTx/>
              <a:buNone/>
            </a:pPr>
            <a:r>
              <a:rPr lang="en-US" altLang="en-US" sz="2000">
                <a:latin typeface="Tahoma" panose="020B0604030504040204" pitchFamily="34" charset="0"/>
                <a:cs typeface="Tahoma" panose="020B0604030504040204" pitchFamily="34" charset="0"/>
              </a:rPr>
              <a:t>- Lime Mud </a:t>
            </a:r>
            <a:r>
              <a:rPr lang="th-TH" altLang="en-US" sz="2000">
                <a:latin typeface="Tahoma" panose="020B0604030504040204" pitchFamily="34" charset="0"/>
                <a:cs typeface="Tahoma" panose="020B0604030504040204" pitchFamily="34" charset="0"/>
              </a:rPr>
              <a:t>ที่ได้จากการตกตะกอนจะถูก </a:t>
            </a:r>
            <a:r>
              <a:rPr lang="en-US" altLang="en-US" sz="2000">
                <a:latin typeface="Tahoma" panose="020B0604030504040204" pitchFamily="34" charset="0"/>
                <a:cs typeface="Tahoma" panose="020B0604030504040204" pitchFamily="34" charset="0"/>
              </a:rPr>
              <a:t>pump </a:t>
            </a:r>
            <a:r>
              <a:rPr lang="th-TH" altLang="en-US" sz="2000">
                <a:latin typeface="Tahoma" panose="020B0604030504040204" pitchFamily="34" charset="0"/>
                <a:cs typeface="Tahoma" panose="020B0604030504040204" pitchFamily="34" charset="0"/>
              </a:rPr>
              <a:t>ไปที่ถัง “</a:t>
            </a:r>
            <a:r>
              <a:rPr lang="en-US" altLang="en-US" sz="2000">
                <a:latin typeface="Tahoma" panose="020B0604030504040204" pitchFamily="34" charset="0"/>
                <a:cs typeface="Tahoma" panose="020B0604030504040204" pitchFamily="34" charset="0"/>
              </a:rPr>
              <a:t>Lime Mud Washer” </a:t>
            </a:r>
            <a:r>
              <a:rPr lang="th-TH" altLang="en-US" sz="2000">
                <a:latin typeface="Tahoma" panose="020B0604030504040204" pitchFamily="34" charset="0"/>
                <a:cs typeface="Tahoma" panose="020B0604030504040204" pitchFamily="34" charset="0"/>
              </a:rPr>
              <a:t>เพื่อทำการล้างสารเคมี </a:t>
            </a:r>
            <a:r>
              <a:rPr lang="en-US" altLang="en-US" sz="2000">
                <a:latin typeface="Tahoma" panose="020B0604030504040204" pitchFamily="34" charset="0"/>
                <a:cs typeface="Tahoma" panose="020B0604030504040204" pitchFamily="34" charset="0"/>
              </a:rPr>
              <a:t>(cooking chemical) </a:t>
            </a:r>
            <a:r>
              <a:rPr lang="th-TH" altLang="en-US" sz="2000">
                <a:latin typeface="Tahoma" panose="020B0604030504040204" pitchFamily="34" charset="0"/>
                <a:cs typeface="Tahoma" panose="020B0604030504040204" pitchFamily="34" charset="0"/>
              </a:rPr>
              <a:t>ออก โดนน้ำยาที่ถูกล้างออกมานั้นจะมีความเข้มข้นของสารเคมีน้อย เราจึงเรียกว่า </a:t>
            </a:r>
            <a:r>
              <a:rPr lang="en-US" altLang="en-US" sz="2000">
                <a:latin typeface="Tahoma" panose="020B0604030504040204" pitchFamily="34" charset="0"/>
                <a:cs typeface="Tahoma" panose="020B0604030504040204" pitchFamily="34" charset="0"/>
              </a:rPr>
              <a:t>“Weak Wash” </a:t>
            </a:r>
            <a:r>
              <a:rPr lang="th-TH" altLang="en-US" sz="2000">
                <a:latin typeface="Tahoma" panose="020B0604030504040204" pitchFamily="34" charset="0"/>
                <a:cs typeface="Tahoma" panose="020B0604030504040204" pitchFamily="34" charset="0"/>
              </a:rPr>
              <a:t>น้ำยานี้จะถูกส่งกลับไปที่ ถัง </a:t>
            </a:r>
            <a:r>
              <a:rPr lang="en-US" altLang="en-US" sz="2000">
                <a:latin typeface="Tahoma" panose="020B0604030504040204" pitchFamily="34" charset="0"/>
                <a:cs typeface="Tahoma" panose="020B0604030504040204" pitchFamily="34" charset="0"/>
              </a:rPr>
              <a:t>“Smelt Dissolving Tank” </a:t>
            </a:r>
          </a:p>
          <a:p>
            <a:pPr>
              <a:spcBef>
                <a:spcPct val="0"/>
              </a:spcBef>
              <a:buFontTx/>
              <a:buNone/>
            </a:pPr>
            <a:r>
              <a:rPr lang="en-US" altLang="en-US" sz="2000">
                <a:latin typeface="Tahoma" panose="020B0604030504040204" pitchFamily="34" charset="0"/>
                <a:cs typeface="Tahoma" panose="020B0604030504040204" pitchFamily="34" charset="0"/>
              </a:rPr>
              <a:t>- Lime Mud </a:t>
            </a:r>
            <a:r>
              <a:rPr lang="th-TH" altLang="en-US" sz="2000">
                <a:latin typeface="Tahoma" panose="020B0604030504040204" pitchFamily="34" charset="0"/>
                <a:cs typeface="Tahoma" panose="020B0604030504040204" pitchFamily="34" charset="0"/>
              </a:rPr>
              <a:t>ที่ล้างแล้วจะถูกส่งไปยัง </a:t>
            </a:r>
            <a:r>
              <a:rPr lang="en-US" altLang="en-US" sz="2000">
                <a:latin typeface="Tahoma" panose="020B0604030504040204" pitchFamily="34" charset="0"/>
                <a:cs typeface="Tahoma" panose="020B0604030504040204" pitchFamily="34" charset="0"/>
              </a:rPr>
              <a:t>Lime Mud Storage </a:t>
            </a:r>
            <a:r>
              <a:rPr lang="th-TH" altLang="en-US" sz="2000">
                <a:latin typeface="Tahoma" panose="020B0604030504040204" pitchFamily="34" charset="0"/>
                <a:cs typeface="Tahoma" panose="020B0604030504040204" pitchFamily="34" charset="0"/>
              </a:rPr>
              <a:t>ซึ่ง </a:t>
            </a:r>
            <a:r>
              <a:rPr lang="en-US" altLang="en-US" sz="2000">
                <a:latin typeface="Tahoma" panose="020B0604030504040204" pitchFamily="34" charset="0"/>
                <a:cs typeface="Tahoma" panose="020B0604030504040204" pitchFamily="34" charset="0"/>
              </a:rPr>
              <a:t>Lime Mud </a:t>
            </a:r>
            <a:r>
              <a:rPr lang="th-TH" altLang="en-US" sz="2000">
                <a:latin typeface="Tahoma" panose="020B0604030504040204" pitchFamily="34" charset="0"/>
                <a:cs typeface="Tahoma" panose="020B0604030504040204" pitchFamily="34" charset="0"/>
              </a:rPr>
              <a:t>เปียกเหล่านี้จะถูกดูดน้ำยาออก และส่งไปยัง </a:t>
            </a:r>
            <a:r>
              <a:rPr lang="en-US" altLang="en-US" sz="2000">
                <a:latin typeface="Tahoma" panose="020B0604030504040204" pitchFamily="34" charset="0"/>
                <a:cs typeface="Tahoma" panose="020B0604030504040204" pitchFamily="34" charset="0"/>
              </a:rPr>
              <a:t>Lime Kiln </a:t>
            </a:r>
            <a:r>
              <a:rPr lang="th-TH" altLang="en-US" sz="2000">
                <a:latin typeface="Tahoma" panose="020B0604030504040204" pitchFamily="34" charset="0"/>
                <a:cs typeface="Tahoma" panose="020B0604030504040204" pitchFamily="34" charset="0"/>
              </a:rPr>
              <a:t>เพื่อทำให้กลับมาเป็น </a:t>
            </a:r>
            <a:r>
              <a:rPr lang="en-US" altLang="en-US" sz="2000">
                <a:latin typeface="Tahoma" panose="020B0604030504040204" pitchFamily="34" charset="0"/>
                <a:cs typeface="Tahoma" panose="020B0604030504040204" pitchFamily="34" charset="0"/>
              </a:rPr>
              <a:t>Lime </a:t>
            </a:r>
            <a:r>
              <a:rPr lang="th-TH" altLang="en-US" sz="2000">
                <a:latin typeface="Tahoma" panose="020B0604030504040204" pitchFamily="34" charset="0"/>
                <a:cs typeface="Tahoma" panose="020B0604030504040204" pitchFamily="34" charset="0"/>
              </a:rPr>
              <a:t>สำหรับใช้ใน </a:t>
            </a:r>
            <a:r>
              <a:rPr lang="en-US" altLang="en-US" sz="2000">
                <a:latin typeface="Tahoma" panose="020B0604030504040204" pitchFamily="34" charset="0"/>
                <a:cs typeface="Tahoma" panose="020B0604030504040204" pitchFamily="34" charset="0"/>
              </a:rPr>
              <a:t>Recaust </a:t>
            </a:r>
            <a:r>
              <a:rPr lang="th-TH" altLang="en-US" sz="2000">
                <a:latin typeface="Tahoma" panose="020B0604030504040204" pitchFamily="34" charset="0"/>
                <a:cs typeface="Tahoma" panose="020B0604030504040204" pitchFamily="34" charset="0"/>
              </a:rPr>
              <a:t>ต่อไป</a:t>
            </a:r>
            <a:endParaRPr lang="en-US" altLang="en-US" sz="2000">
              <a:latin typeface="Tahoma" panose="020B0604030504040204" pitchFamily="34" charset="0"/>
              <a:cs typeface="Tahoma" panose="020B0604030504040204" pitchFamily="34" charset="0"/>
            </a:endParaRPr>
          </a:p>
        </p:txBody>
      </p:sp>
      <p:pic>
        <p:nvPicPr>
          <p:cNvPr id="568323"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706938" y="2763838"/>
            <a:ext cx="4344987" cy="325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8324" name="Picture 8"/>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07950" y="2763838"/>
            <a:ext cx="4344988" cy="325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fade/>
  </p:transition>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05.mp4">
            <a:hlinkClick r:id="" action="ppaction://media"/>
          </p:cNvPr>
          <p:cNvPicPr>
            <a:picLocks noRot="1" noChangeAspect="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801688" y="792163"/>
            <a:ext cx="7485062" cy="561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0371" name="Title 1"/>
          <p:cNvSpPr>
            <a:spLocks noGrp="1"/>
          </p:cNvSpPr>
          <p:nvPr>
            <p:ph type="title"/>
          </p:nvPr>
        </p:nvSpPr>
        <p:spPr>
          <a:xfrm>
            <a:off x="0" y="-20638"/>
            <a:ext cx="9144000" cy="812801"/>
          </a:xfrm>
        </p:spPr>
        <p:txBody>
          <a:bodyPr anchor="t"/>
          <a:lstStyle/>
          <a:p>
            <a:r>
              <a:rPr lang="en-US" altLang="en-US" sz="2800" smtClean="0"/>
              <a:t>Role of Lime and Lime Kiln in RE</a:t>
            </a:r>
            <a:endParaRPr lang="th-TH" altLang="en-US" sz="2800" smtClean="0"/>
          </a:p>
        </p:txBody>
      </p:sp>
      <p:cxnSp>
        <p:nvCxnSpPr>
          <p:cNvPr id="4" name="Straight Connector 3"/>
          <p:cNvCxnSpPr/>
          <p:nvPr/>
        </p:nvCxnSpPr>
        <p:spPr>
          <a:xfrm>
            <a:off x="26988" y="531813"/>
            <a:ext cx="9034462" cy="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spTree>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childTnLst>
        </p:cTn>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0" y="-20638"/>
            <a:ext cx="9144000" cy="812801"/>
          </a:xfrm>
        </p:spPr>
        <p:txBody>
          <a:bodyPr anchor="t"/>
          <a:lstStyle/>
          <a:p>
            <a:pPr>
              <a:defRPr/>
            </a:pPr>
            <a:r>
              <a:rPr lang="en-US" dirty="0" smtClean="0">
                <a:solidFill>
                  <a:srgbClr val="FF0000"/>
                </a:solidFill>
                <a:effectLst>
                  <a:outerShdw blurRad="38100" dist="38100" dir="2700000" algn="tl">
                    <a:srgbClr val="000000">
                      <a:alpha val="43137"/>
                    </a:srgbClr>
                  </a:outerShdw>
                </a:effectLst>
              </a:rPr>
              <a:t>  </a:t>
            </a:r>
            <a:r>
              <a:rPr lang="en-US" sz="3200" dirty="0" smtClean="0">
                <a:solidFill>
                  <a:srgbClr val="FF0000"/>
                </a:solidFill>
                <a:effectLst>
                  <a:outerShdw blurRad="38100" dist="38100" dir="2700000" algn="tl">
                    <a:srgbClr val="000000">
                      <a:alpha val="43137"/>
                    </a:srgbClr>
                  </a:outerShdw>
                </a:effectLst>
              </a:rPr>
              <a:t>B</a:t>
            </a:r>
            <a:r>
              <a:rPr lang="en-US" sz="2200" dirty="0" smtClean="0"/>
              <a:t>asic Theory of Lime </a:t>
            </a:r>
            <a:r>
              <a:rPr lang="en-US" sz="2200" dirty="0"/>
              <a:t>Recycling </a:t>
            </a:r>
            <a:r>
              <a:rPr lang="en-US" sz="2200" dirty="0" smtClean="0"/>
              <a:t>(Role </a:t>
            </a:r>
            <a:r>
              <a:rPr lang="en-US" sz="2200" dirty="0"/>
              <a:t>of Lime and Lime Kiln in </a:t>
            </a:r>
            <a:r>
              <a:rPr lang="en-US" sz="2200" dirty="0" smtClean="0"/>
              <a:t>RE)</a:t>
            </a:r>
            <a:endParaRPr lang="th-TH" sz="2200" dirty="0"/>
          </a:p>
        </p:txBody>
      </p:sp>
      <p:cxnSp>
        <p:nvCxnSpPr>
          <p:cNvPr id="4" name="Straight Connector 3"/>
          <p:cNvCxnSpPr/>
          <p:nvPr/>
        </p:nvCxnSpPr>
        <p:spPr>
          <a:xfrm>
            <a:off x="26988" y="531813"/>
            <a:ext cx="9034462" cy="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pic>
        <p:nvPicPr>
          <p:cNvPr id="572420"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71463" y="1042988"/>
            <a:ext cx="4144962" cy="3108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2421" name="Picture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679950" y="1047750"/>
            <a:ext cx="4138613" cy="3103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2422" name="TextBox 7"/>
          <p:cNvSpPr txBox="1">
            <a:spLocks noChangeArrowheads="1"/>
          </p:cNvSpPr>
          <p:nvPr/>
        </p:nvSpPr>
        <p:spPr bwMode="auto">
          <a:xfrm>
            <a:off x="53975" y="4278313"/>
            <a:ext cx="8980488" cy="1630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914400" indent="-45720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u="sng">
                <a:latin typeface="Tahoma" panose="020B0604030504040204" pitchFamily="34" charset="0"/>
                <a:cs typeface="Tahoma" panose="020B0604030504040204" pitchFamily="34" charset="0"/>
              </a:rPr>
              <a:t>Recausticizing Process</a:t>
            </a:r>
          </a:p>
          <a:p>
            <a:pPr>
              <a:spcBef>
                <a:spcPct val="0"/>
              </a:spcBef>
              <a:buFontTx/>
              <a:buNone/>
            </a:pPr>
            <a:r>
              <a:rPr lang="en-US" altLang="en-US" sz="2000">
                <a:latin typeface="Tahoma" panose="020B0604030504040204" pitchFamily="34" charset="0"/>
                <a:cs typeface="Tahoma" panose="020B0604030504040204" pitchFamily="34" charset="0"/>
              </a:rPr>
              <a:t>- </a:t>
            </a:r>
            <a:r>
              <a:rPr lang="th-TH" altLang="en-US" sz="2000">
                <a:latin typeface="Tahoma" panose="020B0604030504040204" pitchFamily="34" charset="0"/>
                <a:cs typeface="Tahoma" panose="020B0604030504040204" pitchFamily="34" charset="0"/>
              </a:rPr>
              <a:t>จากกระบวนการ</a:t>
            </a:r>
            <a:r>
              <a:rPr lang="en-US" altLang="en-US" sz="2000">
                <a:latin typeface="Tahoma" panose="020B0604030504040204" pitchFamily="34" charset="0"/>
                <a:cs typeface="Tahoma" panose="020B0604030504040204" pitchFamily="34" charset="0"/>
              </a:rPr>
              <a:t> Recausticizing, Lime </a:t>
            </a:r>
            <a:r>
              <a:rPr lang="th-TH" altLang="en-US" sz="2000">
                <a:latin typeface="Tahoma" panose="020B0604030504040204" pitchFamily="34" charset="0"/>
                <a:cs typeface="Tahoma" panose="020B0604030504040204" pitchFamily="34" charset="0"/>
              </a:rPr>
              <a:t>หรือปูนขาวถูกเติมเข้าไปใน </a:t>
            </a:r>
            <a:r>
              <a:rPr lang="en-US" altLang="en-US" sz="2000">
                <a:latin typeface="Tahoma" panose="020B0604030504040204" pitchFamily="34" charset="0"/>
                <a:cs typeface="Tahoma" panose="020B0604030504040204" pitchFamily="34" charset="0"/>
              </a:rPr>
              <a:t>Green Liquor </a:t>
            </a:r>
            <a:r>
              <a:rPr lang="th-TH" altLang="en-US" sz="2000">
                <a:latin typeface="Tahoma" panose="020B0604030504040204" pitchFamily="34" charset="0"/>
                <a:cs typeface="Tahoma" panose="020B0604030504040204" pitchFamily="34" charset="0"/>
              </a:rPr>
              <a:t>เพื่อทำให้เกิดปฎิกริยา </a:t>
            </a:r>
            <a:r>
              <a:rPr lang="en-US" altLang="en-US" sz="2000">
                <a:latin typeface="Tahoma" panose="020B0604030504040204" pitchFamily="34" charset="0"/>
                <a:cs typeface="Tahoma" panose="020B0604030504040204" pitchFamily="34" charset="0"/>
              </a:rPr>
              <a:t>2 </a:t>
            </a:r>
            <a:r>
              <a:rPr lang="th-TH" altLang="en-US" sz="2000">
                <a:latin typeface="Tahoma" panose="020B0604030504040204" pitchFamily="34" charset="0"/>
                <a:cs typeface="Tahoma" panose="020B0604030504040204" pitchFamily="34" charset="0"/>
              </a:rPr>
              <a:t>อย่างนั่นก็คือ </a:t>
            </a:r>
          </a:p>
          <a:p>
            <a:pPr lvl="1">
              <a:spcBef>
                <a:spcPct val="0"/>
              </a:spcBef>
              <a:buFontTx/>
              <a:buAutoNum type="arabicParenR"/>
            </a:pPr>
            <a:r>
              <a:rPr lang="th-TH" altLang="en-US" sz="2000">
                <a:latin typeface="Tahoma" panose="020B0604030504040204" pitchFamily="34" charset="0"/>
                <a:cs typeface="Tahoma" panose="020B0604030504040204" pitchFamily="34" charset="0"/>
              </a:rPr>
              <a:t>เปลี่ยน </a:t>
            </a:r>
            <a:r>
              <a:rPr lang="en-US" altLang="en-US" sz="2000">
                <a:latin typeface="Tahoma" panose="020B0604030504040204" pitchFamily="34" charset="0"/>
                <a:cs typeface="Tahoma" panose="020B0604030504040204" pitchFamily="34" charset="0"/>
              </a:rPr>
              <a:t>Green Liquor </a:t>
            </a:r>
            <a:r>
              <a:rPr lang="th-TH" altLang="en-US" sz="2000">
                <a:latin typeface="Tahoma" panose="020B0604030504040204" pitchFamily="34" charset="0"/>
                <a:cs typeface="Tahoma" panose="020B0604030504040204" pitchFamily="34" charset="0"/>
              </a:rPr>
              <a:t>ให้เป็น </a:t>
            </a:r>
            <a:r>
              <a:rPr lang="en-US" altLang="en-US" sz="2000">
                <a:latin typeface="Tahoma" panose="020B0604030504040204" pitchFamily="34" charset="0"/>
                <a:cs typeface="Tahoma" panose="020B0604030504040204" pitchFamily="34" charset="0"/>
              </a:rPr>
              <a:t>White Liquor</a:t>
            </a:r>
          </a:p>
          <a:p>
            <a:pPr lvl="1">
              <a:spcBef>
                <a:spcPct val="0"/>
              </a:spcBef>
              <a:buFontTx/>
              <a:buAutoNum type="arabicParenR"/>
            </a:pPr>
            <a:r>
              <a:rPr lang="th-TH" altLang="en-US" sz="2000">
                <a:latin typeface="Tahoma" panose="020B0604030504040204" pitchFamily="34" charset="0"/>
                <a:cs typeface="Tahoma" panose="020B0604030504040204" pitchFamily="34" charset="0"/>
              </a:rPr>
              <a:t>เปลี่ยน </a:t>
            </a:r>
            <a:r>
              <a:rPr lang="en-US" altLang="en-US" sz="2000">
                <a:latin typeface="Tahoma" panose="020B0604030504040204" pitchFamily="34" charset="0"/>
                <a:cs typeface="Tahoma" panose="020B0604030504040204" pitchFamily="34" charset="0"/>
              </a:rPr>
              <a:t>Lime (CaO) </a:t>
            </a:r>
            <a:r>
              <a:rPr lang="th-TH" altLang="en-US" sz="2000">
                <a:latin typeface="Tahoma" panose="020B0604030504040204" pitchFamily="34" charset="0"/>
                <a:cs typeface="Tahoma" panose="020B0604030504040204" pitchFamily="34" charset="0"/>
              </a:rPr>
              <a:t>เป็น </a:t>
            </a:r>
            <a:r>
              <a:rPr lang="en-US" altLang="en-US" sz="2000">
                <a:latin typeface="Tahoma" panose="020B0604030504040204" pitchFamily="34" charset="0"/>
                <a:cs typeface="Tahoma" panose="020B0604030504040204" pitchFamily="34" charset="0"/>
              </a:rPr>
              <a:t>Lime Mud (CaCO</a:t>
            </a:r>
            <a:r>
              <a:rPr lang="en-US" altLang="en-US" sz="2000" baseline="-25000">
                <a:latin typeface="Tahoma" panose="020B0604030504040204" pitchFamily="34" charset="0"/>
                <a:cs typeface="Tahoma" panose="020B0604030504040204" pitchFamily="34" charset="0"/>
              </a:rPr>
              <a:t>3</a:t>
            </a:r>
            <a:r>
              <a:rPr lang="en-US" altLang="en-US" sz="2000">
                <a:latin typeface="Tahoma" panose="020B0604030504040204" pitchFamily="34" charset="0"/>
                <a:cs typeface="Tahoma" panose="020B0604030504040204" pitchFamily="34" charset="0"/>
              </a:rPr>
              <a:t>)</a:t>
            </a:r>
          </a:p>
        </p:txBody>
      </p:sp>
    </p:spTree>
  </p:cSld>
  <p:clrMapOvr>
    <a:masterClrMapping/>
  </p:clrMapOvr>
  <p:transition>
    <p:fade/>
  </p:transition>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0" y="-20638"/>
            <a:ext cx="9144000" cy="812801"/>
          </a:xfrm>
        </p:spPr>
        <p:txBody>
          <a:bodyPr anchor="t"/>
          <a:lstStyle/>
          <a:p>
            <a:pPr>
              <a:defRPr/>
            </a:pPr>
            <a:r>
              <a:rPr lang="en-US" dirty="0" smtClean="0">
                <a:solidFill>
                  <a:srgbClr val="FF0000"/>
                </a:solidFill>
                <a:effectLst>
                  <a:outerShdw blurRad="38100" dist="38100" dir="2700000" algn="tl">
                    <a:srgbClr val="000000">
                      <a:alpha val="43137"/>
                    </a:srgbClr>
                  </a:outerShdw>
                </a:effectLst>
              </a:rPr>
              <a:t>  </a:t>
            </a:r>
            <a:r>
              <a:rPr lang="en-US" sz="3200" dirty="0" smtClean="0">
                <a:solidFill>
                  <a:srgbClr val="FF0000"/>
                </a:solidFill>
                <a:effectLst>
                  <a:outerShdw blurRad="38100" dist="38100" dir="2700000" algn="tl">
                    <a:srgbClr val="000000">
                      <a:alpha val="43137"/>
                    </a:srgbClr>
                  </a:outerShdw>
                </a:effectLst>
              </a:rPr>
              <a:t>B</a:t>
            </a:r>
            <a:r>
              <a:rPr lang="en-US" sz="2200" dirty="0" smtClean="0"/>
              <a:t>asic Theory of Lime </a:t>
            </a:r>
            <a:r>
              <a:rPr lang="en-US" sz="2200" dirty="0"/>
              <a:t>Recycling </a:t>
            </a:r>
            <a:r>
              <a:rPr lang="en-US" sz="2200" dirty="0" smtClean="0"/>
              <a:t>(Role </a:t>
            </a:r>
            <a:r>
              <a:rPr lang="en-US" sz="2200" dirty="0"/>
              <a:t>of Lime and Lime Kiln in </a:t>
            </a:r>
            <a:r>
              <a:rPr lang="en-US" sz="2200" dirty="0" smtClean="0"/>
              <a:t>RE)</a:t>
            </a:r>
            <a:endParaRPr lang="th-TH" sz="2200" dirty="0"/>
          </a:p>
        </p:txBody>
      </p:sp>
      <p:cxnSp>
        <p:nvCxnSpPr>
          <p:cNvPr id="4" name="Straight Connector 3"/>
          <p:cNvCxnSpPr/>
          <p:nvPr/>
        </p:nvCxnSpPr>
        <p:spPr>
          <a:xfrm>
            <a:off x="26988" y="531813"/>
            <a:ext cx="9034462" cy="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sp>
        <p:nvSpPr>
          <p:cNvPr id="574468" name="TextBox 7"/>
          <p:cNvSpPr txBox="1">
            <a:spLocks noChangeArrowheads="1"/>
          </p:cNvSpPr>
          <p:nvPr/>
        </p:nvSpPr>
        <p:spPr bwMode="auto">
          <a:xfrm>
            <a:off x="53975" y="4567238"/>
            <a:ext cx="8980488" cy="1630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th-TH" altLang="en-US" sz="2000" b="1" u="sng">
                <a:latin typeface="Tahoma" panose="020B0604030504040204" pitchFamily="34" charset="0"/>
                <a:cs typeface="Tahoma" panose="020B0604030504040204" pitchFamily="34" charset="0"/>
              </a:rPr>
              <a:t>หลังผ่านกระบวนการ </a:t>
            </a:r>
            <a:r>
              <a:rPr lang="en-US" altLang="en-US" sz="2000" b="1" u="sng">
                <a:latin typeface="Tahoma" panose="020B0604030504040204" pitchFamily="34" charset="0"/>
                <a:cs typeface="Tahoma" panose="020B0604030504040204" pitchFamily="34" charset="0"/>
              </a:rPr>
              <a:t>Causticizing</a:t>
            </a:r>
          </a:p>
          <a:p>
            <a:pPr>
              <a:spcBef>
                <a:spcPct val="0"/>
              </a:spcBef>
              <a:buFontTx/>
              <a:buNone/>
            </a:pPr>
            <a:r>
              <a:rPr lang="en-US" altLang="en-US" sz="2000">
                <a:latin typeface="Tahoma" panose="020B0604030504040204" pitchFamily="34" charset="0"/>
                <a:cs typeface="Tahoma" panose="020B0604030504040204" pitchFamily="34" charset="0"/>
              </a:rPr>
              <a:t>- Lime Mud </a:t>
            </a:r>
            <a:r>
              <a:rPr lang="th-TH" altLang="en-US" sz="2000">
                <a:latin typeface="Tahoma" panose="020B0604030504040204" pitchFamily="34" charset="0"/>
                <a:cs typeface="Tahoma" panose="020B0604030504040204" pitchFamily="34" charset="0"/>
              </a:rPr>
              <a:t>และ </a:t>
            </a:r>
            <a:r>
              <a:rPr lang="en-US" altLang="en-US" sz="2000">
                <a:latin typeface="Tahoma" panose="020B0604030504040204" pitchFamily="34" charset="0"/>
                <a:cs typeface="Tahoma" panose="020B0604030504040204" pitchFamily="34" charset="0"/>
              </a:rPr>
              <a:t>White Liquor </a:t>
            </a:r>
            <a:r>
              <a:rPr lang="th-TH" altLang="en-US" sz="2000">
                <a:latin typeface="Tahoma" panose="020B0604030504040204" pitchFamily="34" charset="0"/>
                <a:cs typeface="Tahoma" panose="020B0604030504040204" pitchFamily="34" charset="0"/>
              </a:rPr>
              <a:t>จะถูกแยกจากกัน โดย </a:t>
            </a:r>
            <a:r>
              <a:rPr lang="en-US" altLang="en-US" sz="2000">
                <a:latin typeface="Tahoma" panose="020B0604030504040204" pitchFamily="34" charset="0"/>
                <a:cs typeface="Tahoma" panose="020B0604030504040204" pitchFamily="34" charset="0"/>
              </a:rPr>
              <a:t>White Liquor </a:t>
            </a:r>
            <a:r>
              <a:rPr lang="th-TH" altLang="en-US" sz="2000">
                <a:latin typeface="Tahoma" panose="020B0604030504040204" pitchFamily="34" charset="0"/>
                <a:cs typeface="Tahoma" panose="020B0604030504040204" pitchFamily="34" charset="0"/>
              </a:rPr>
              <a:t>จะถูกนำกลับไปใช้ที่ กระบวนการผลิตเยื่อ </a:t>
            </a:r>
          </a:p>
          <a:p>
            <a:pPr>
              <a:spcBef>
                <a:spcPct val="0"/>
              </a:spcBef>
              <a:buFontTx/>
              <a:buNone/>
            </a:pPr>
            <a:r>
              <a:rPr lang="en-US" altLang="en-US" sz="2000">
                <a:latin typeface="Tahoma" panose="020B0604030504040204" pitchFamily="34" charset="0"/>
                <a:cs typeface="Tahoma" panose="020B0604030504040204" pitchFamily="34" charset="0"/>
              </a:rPr>
              <a:t>- Lime Mud </a:t>
            </a:r>
            <a:r>
              <a:rPr lang="th-TH" altLang="en-US" sz="2000">
                <a:latin typeface="Tahoma" panose="020B0604030504040204" pitchFamily="34" charset="0"/>
                <a:cs typeface="Tahoma" panose="020B0604030504040204" pitchFamily="34" charset="0"/>
              </a:rPr>
              <a:t>จะถูกส่งไปที่ </a:t>
            </a:r>
            <a:r>
              <a:rPr lang="en-US" altLang="en-US" sz="2000">
                <a:latin typeface="Tahoma" panose="020B0604030504040204" pitchFamily="34" charset="0"/>
                <a:cs typeface="Tahoma" panose="020B0604030504040204" pitchFamily="34" charset="0"/>
              </a:rPr>
              <a:t>Lime Kiln </a:t>
            </a:r>
            <a:r>
              <a:rPr lang="th-TH" altLang="en-US" sz="2000">
                <a:latin typeface="Tahoma" panose="020B0604030504040204" pitchFamily="34" charset="0"/>
                <a:cs typeface="Tahoma" panose="020B0604030504040204" pitchFamily="34" charset="0"/>
              </a:rPr>
              <a:t>เพื่อเปลี่ยนสถานะให้กลับมาเป็นปูนขาวทั้งหมดและนำกลับมาใช้ที่ </a:t>
            </a:r>
            <a:r>
              <a:rPr lang="en-US" altLang="en-US" sz="2000">
                <a:latin typeface="Tahoma" panose="020B0604030504040204" pitchFamily="34" charset="0"/>
                <a:cs typeface="Tahoma" panose="020B0604030504040204" pitchFamily="34" charset="0"/>
              </a:rPr>
              <a:t>Recaust</a:t>
            </a:r>
          </a:p>
        </p:txBody>
      </p:sp>
      <p:pic>
        <p:nvPicPr>
          <p:cNvPr id="574469"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89138" y="638175"/>
            <a:ext cx="5205412" cy="390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fade/>
  </p:transition>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Rectangle 2"/>
          <p:cNvSpPr>
            <a:spLocks noGrp="1" noChangeArrowheads="1"/>
          </p:cNvSpPr>
          <p:nvPr>
            <p:ph type="title"/>
          </p:nvPr>
        </p:nvSpPr>
        <p:spPr>
          <a:xfrm>
            <a:off x="554038" y="0"/>
            <a:ext cx="8229600" cy="1143000"/>
          </a:xfrm>
        </p:spPr>
        <p:txBody>
          <a:bodyPr/>
          <a:lstStyle/>
          <a:p>
            <a:r>
              <a:rPr lang="en-US" altLang="en-US" b="1" u="sng" smtClean="0">
                <a:latin typeface="Arial Narrow" panose="020B0606020202030204" pitchFamily="34" charset="0"/>
              </a:rPr>
              <a:t>Recausticizing Plant</a:t>
            </a:r>
            <a:endParaRPr lang="th-TH" altLang="en-US" b="1" u="sng" smtClean="0">
              <a:latin typeface="Arial Narrow" panose="020B0606020202030204" pitchFamily="34" charset="0"/>
            </a:endParaRPr>
          </a:p>
        </p:txBody>
      </p:sp>
      <p:pic>
        <p:nvPicPr>
          <p:cNvPr id="576515" name="Picture 3"/>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842963" y="1031875"/>
            <a:ext cx="7651750" cy="5257800"/>
          </a:xfrm>
        </p:spPr>
      </p:pic>
    </p:spTree>
  </p:cSld>
  <p:clrMapOvr>
    <a:masterClrMapping/>
  </p:clrMapOvr>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7538" name="Picture 2" descr="21"/>
          <p:cNvPicPr>
            <a:picLocks noGrp="1" noChangeAspect="1" noChangeArrowheads="1"/>
          </p:cNvPicPr>
          <p:nvPr>
            <p:ph/>
          </p:nvPr>
        </p:nvPicPr>
        <p:blipFill>
          <a:blip r:embed="rId2">
            <a:extLst>
              <a:ext uri="{28A0092B-C50C-407E-A947-70E740481C1C}">
                <a14:useLocalDpi xmlns:a14="http://schemas.microsoft.com/office/drawing/2010/main" val="0"/>
              </a:ext>
            </a:extLst>
          </a:blip>
          <a:srcRect b="6023"/>
          <a:stretch>
            <a:fillRect/>
          </a:stretch>
        </p:blipFill>
        <p:spPr>
          <a:xfrm>
            <a:off x="0" y="1084263"/>
            <a:ext cx="9144000" cy="5494337"/>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77539" name="Text Box 4"/>
          <p:cNvSpPr txBox="1">
            <a:spLocks noChangeArrowheads="1"/>
          </p:cNvSpPr>
          <p:nvPr/>
        </p:nvSpPr>
        <p:spPr bwMode="auto">
          <a:xfrm>
            <a:off x="3260725" y="1944688"/>
            <a:ext cx="3714750" cy="646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3600" b="1" u="sng">
                <a:solidFill>
                  <a:srgbClr val="FF0000"/>
                </a:solidFill>
              </a:rPr>
              <a:t>GL Clarifier Tank</a:t>
            </a:r>
            <a:endParaRPr lang="th-TH" altLang="en-US" sz="3600" b="1" u="sng">
              <a:solidFill>
                <a:srgbClr val="FF0000"/>
              </a:solidFill>
            </a:endParaRPr>
          </a:p>
        </p:txBody>
      </p:sp>
      <p:pic>
        <p:nvPicPr>
          <p:cNvPr id="577540"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57200" y="0"/>
            <a:ext cx="8229600" cy="1182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7541" name="TextBox 3"/>
          <p:cNvSpPr txBox="1">
            <a:spLocks noChangeArrowheads="1"/>
          </p:cNvSpPr>
          <p:nvPr/>
        </p:nvSpPr>
        <p:spPr bwMode="auto">
          <a:xfrm>
            <a:off x="4956175" y="5376863"/>
            <a:ext cx="1533525" cy="12017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r>
              <a:rPr lang="en-US" altLang="en-US" sz="3600" b="1"/>
              <a:t>Dregs</a:t>
            </a:r>
          </a:p>
          <a:p>
            <a:endParaRPr lang="en-US" altLang="en-US" sz="3600" b="1"/>
          </a:p>
        </p:txBody>
      </p:sp>
      <p:sp>
        <p:nvSpPr>
          <p:cNvPr id="577542" name="TextBox 5"/>
          <p:cNvSpPr txBox="1">
            <a:spLocks noChangeArrowheads="1"/>
          </p:cNvSpPr>
          <p:nvPr/>
        </p:nvSpPr>
        <p:spPr bwMode="auto">
          <a:xfrm>
            <a:off x="6862763" y="1944688"/>
            <a:ext cx="1533525" cy="12001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r>
              <a:rPr lang="en-US" altLang="en-US" sz="3600" b="1"/>
              <a:t>Green</a:t>
            </a:r>
          </a:p>
          <a:p>
            <a:r>
              <a:rPr lang="en-US" altLang="en-US" sz="3600" b="1"/>
              <a:t>Liquor</a:t>
            </a:r>
          </a:p>
        </p:txBody>
      </p:sp>
    </p:spTree>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2"/>
          <p:cNvSpPr>
            <a:spLocks noGrp="1" noChangeArrowheads="1"/>
          </p:cNvSpPr>
          <p:nvPr>
            <p:ph type="title"/>
          </p:nvPr>
        </p:nvSpPr>
        <p:spPr>
          <a:xfrm>
            <a:off x="457200" y="0"/>
            <a:ext cx="8229600" cy="1143000"/>
          </a:xfrm>
        </p:spPr>
        <p:txBody>
          <a:bodyPr/>
          <a:lstStyle/>
          <a:p>
            <a:r>
              <a:rPr lang="en-US" altLang="en-US" b="1" u="sng" smtClean="0">
                <a:latin typeface="Arial Narrow" panose="020B0606020202030204" pitchFamily="34" charset="0"/>
              </a:rPr>
              <a:t>Recausticizing Plant</a:t>
            </a:r>
            <a:endParaRPr lang="th-TH" altLang="en-US" b="1" u="sng" smtClean="0">
              <a:latin typeface="Arial Narrow" panose="020B0606020202030204" pitchFamily="34" charset="0"/>
            </a:endParaRPr>
          </a:p>
        </p:txBody>
      </p:sp>
      <p:sp>
        <p:nvSpPr>
          <p:cNvPr id="578563" name="Text Box 4"/>
          <p:cNvSpPr txBox="1">
            <a:spLocks noChangeArrowheads="1"/>
          </p:cNvSpPr>
          <p:nvPr/>
        </p:nvSpPr>
        <p:spPr bwMode="auto">
          <a:xfrm>
            <a:off x="827088" y="979488"/>
            <a:ext cx="3714750"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4000"/>
              <a:t>Dregs Filter</a:t>
            </a:r>
            <a:endParaRPr lang="th-TH" altLang="en-US" sz="4000"/>
          </a:p>
        </p:txBody>
      </p:sp>
      <p:pic>
        <p:nvPicPr>
          <p:cNvPr id="578564"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09550" y="2328863"/>
            <a:ext cx="4702175" cy="296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8565" name="Picture 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024438" y="2328863"/>
            <a:ext cx="4076700" cy="296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8566" name="TextBox 13"/>
          <p:cNvSpPr txBox="1">
            <a:spLocks noChangeArrowheads="1"/>
          </p:cNvSpPr>
          <p:nvPr/>
        </p:nvSpPr>
        <p:spPr bwMode="auto">
          <a:xfrm>
            <a:off x="254000" y="4846638"/>
            <a:ext cx="2514600" cy="3698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r>
              <a:rPr lang="en-US" altLang="en-US" b="1"/>
              <a:t>Dregs Filter (Drum Type)</a:t>
            </a:r>
          </a:p>
        </p:txBody>
      </p:sp>
      <p:sp>
        <p:nvSpPr>
          <p:cNvPr id="578567" name="TextBox 14"/>
          <p:cNvSpPr txBox="1">
            <a:spLocks noChangeArrowheads="1"/>
          </p:cNvSpPr>
          <p:nvPr/>
        </p:nvSpPr>
        <p:spPr bwMode="auto">
          <a:xfrm>
            <a:off x="5140325" y="4846638"/>
            <a:ext cx="725488" cy="3698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r>
              <a:rPr lang="en-US" altLang="en-US" b="1"/>
              <a:t>Dregs</a:t>
            </a:r>
          </a:p>
        </p:txBody>
      </p:sp>
    </p:spTree>
  </p:cSld>
  <p:clrMapOvr>
    <a:masterClrMapping/>
  </p:clrMapOvr>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Rectangle 2"/>
          <p:cNvSpPr>
            <a:spLocks noGrp="1" noChangeArrowheads="1"/>
          </p:cNvSpPr>
          <p:nvPr>
            <p:ph type="title"/>
          </p:nvPr>
        </p:nvSpPr>
        <p:spPr>
          <a:xfrm>
            <a:off x="457200" y="0"/>
            <a:ext cx="8229600" cy="1143000"/>
          </a:xfrm>
        </p:spPr>
        <p:txBody>
          <a:bodyPr/>
          <a:lstStyle/>
          <a:p>
            <a:r>
              <a:rPr lang="en-US" altLang="en-US" b="1" u="sng" smtClean="0">
                <a:latin typeface="Arial Narrow" panose="020B0606020202030204" pitchFamily="34" charset="0"/>
              </a:rPr>
              <a:t>Recausticizing Plant</a:t>
            </a:r>
            <a:endParaRPr lang="th-TH" altLang="en-US" b="1" u="sng" smtClean="0">
              <a:latin typeface="Arial Narrow" panose="020B0606020202030204" pitchFamily="34" charset="0"/>
            </a:endParaRPr>
          </a:p>
        </p:txBody>
      </p:sp>
      <p:sp>
        <p:nvSpPr>
          <p:cNvPr id="579587" name="Text Box 3"/>
          <p:cNvSpPr txBox="1">
            <a:spLocks noChangeArrowheads="1"/>
          </p:cNvSpPr>
          <p:nvPr/>
        </p:nvSpPr>
        <p:spPr bwMode="auto">
          <a:xfrm>
            <a:off x="1387475" y="928688"/>
            <a:ext cx="4319588"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4000"/>
              <a:t>Slaker Tank</a:t>
            </a:r>
            <a:endParaRPr lang="th-TH" altLang="en-US" sz="4000"/>
          </a:p>
        </p:txBody>
      </p:sp>
      <p:pic>
        <p:nvPicPr>
          <p:cNvPr id="579588" name="Picture 4"/>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1387475" y="1414463"/>
            <a:ext cx="6661150" cy="4498975"/>
          </a:xfrm>
          <a:noFill/>
          <a:extLst>
            <a:ext uri="{91240B29-F687-4F45-9708-019B960494DF}">
              <a14:hiddenLine xmlns:a14="http://schemas.microsoft.com/office/drawing/2010/main" w="9525" cap="flat" cmpd="sng" algn="ctr">
                <a:solidFill>
                  <a:schemeClr val="tx1"/>
                </a:solidFill>
                <a:prstDash val="lgDash"/>
                <a:miter lim="800000"/>
                <a:headEnd type="none" w="med" len="med"/>
                <a:tailEnd type="none" w="med" len="med"/>
              </a14:hiddenLine>
            </a:ext>
          </a:extLst>
        </p:spPr>
      </p:pic>
    </p:spTree>
  </p:cSld>
  <p:clrMapOvr>
    <a:masterClrMapping/>
  </p:clrMapOvr>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Rectangle 2"/>
          <p:cNvSpPr>
            <a:spLocks noGrp="1" noChangeArrowheads="1"/>
          </p:cNvSpPr>
          <p:nvPr>
            <p:ph type="title"/>
          </p:nvPr>
        </p:nvSpPr>
        <p:spPr>
          <a:xfrm>
            <a:off x="457200" y="7938"/>
            <a:ext cx="8229600" cy="1143000"/>
          </a:xfrm>
        </p:spPr>
        <p:txBody>
          <a:bodyPr/>
          <a:lstStyle/>
          <a:p>
            <a:r>
              <a:rPr lang="en-US" altLang="en-US" b="1" u="sng" smtClean="0">
                <a:latin typeface="Arial Narrow" panose="020B0606020202030204" pitchFamily="34" charset="0"/>
              </a:rPr>
              <a:t>Recausticizing Plant</a:t>
            </a:r>
            <a:endParaRPr lang="th-TH" altLang="en-US" b="1" u="sng" smtClean="0">
              <a:latin typeface="Arial Narrow" panose="020B0606020202030204" pitchFamily="34" charset="0"/>
            </a:endParaRPr>
          </a:p>
        </p:txBody>
      </p:sp>
      <p:sp>
        <p:nvSpPr>
          <p:cNvPr id="580611" name="Text Box 4"/>
          <p:cNvSpPr txBox="1">
            <a:spLocks noChangeArrowheads="1"/>
          </p:cNvSpPr>
          <p:nvPr/>
        </p:nvSpPr>
        <p:spPr bwMode="auto">
          <a:xfrm>
            <a:off x="1387475" y="973138"/>
            <a:ext cx="5249863"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4000"/>
              <a:t>Slaker (Classifier)</a:t>
            </a:r>
            <a:endParaRPr lang="th-TH" altLang="en-US" sz="4000"/>
          </a:p>
        </p:txBody>
      </p:sp>
      <p:pic>
        <p:nvPicPr>
          <p:cNvPr id="580612" name="Picture 3"/>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1493838" y="1674813"/>
            <a:ext cx="6427787" cy="4310062"/>
          </a:xfrm>
          <a:noFill/>
          <a:extLst>
            <a:ext uri="{91240B29-F687-4F45-9708-019B960494DF}">
              <a14:hiddenLine xmlns:a14="http://schemas.microsoft.com/office/drawing/2010/main" w="9525" cap="flat" cmpd="sng" algn="ctr">
                <a:solidFill>
                  <a:schemeClr val="tx1"/>
                </a:solidFill>
                <a:prstDash val="lgDash"/>
                <a:miter lim="800000"/>
                <a:headEnd type="none" w="med" len="med"/>
                <a:tailEnd type="none" w="med" len="med"/>
              </a14:hiddenLine>
            </a:ext>
          </a:extLst>
        </p:spPr>
      </p:pic>
    </p:spTree>
  </p:cSld>
  <p:clrMapOvr>
    <a:masterClrMapping/>
  </p:clrMapOvr>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2"/>
          <p:cNvSpPr>
            <a:spLocks noGrp="1" noChangeArrowheads="1"/>
          </p:cNvSpPr>
          <p:nvPr>
            <p:ph type="title"/>
          </p:nvPr>
        </p:nvSpPr>
        <p:spPr>
          <a:xfrm>
            <a:off x="457200" y="0"/>
            <a:ext cx="8229600" cy="1143000"/>
          </a:xfrm>
        </p:spPr>
        <p:txBody>
          <a:bodyPr/>
          <a:lstStyle/>
          <a:p>
            <a:r>
              <a:rPr lang="en-US" altLang="en-US" b="1" u="sng" smtClean="0">
                <a:latin typeface="Arial Narrow" panose="020B0606020202030204" pitchFamily="34" charset="0"/>
              </a:rPr>
              <a:t>Recausticizing Plant</a:t>
            </a:r>
            <a:endParaRPr lang="th-TH" altLang="en-US" b="1" u="sng" smtClean="0">
              <a:latin typeface="Arial Narrow" panose="020B0606020202030204" pitchFamily="34" charset="0"/>
            </a:endParaRPr>
          </a:p>
        </p:txBody>
      </p:sp>
      <p:pic>
        <p:nvPicPr>
          <p:cNvPr id="581635" name="Picture 3"/>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1489075" y="1589088"/>
            <a:ext cx="6165850" cy="4337050"/>
          </a:xfrm>
        </p:spPr>
      </p:pic>
      <p:sp>
        <p:nvSpPr>
          <p:cNvPr id="581636" name="Text Box 4"/>
          <p:cNvSpPr txBox="1">
            <a:spLocks noChangeArrowheads="1"/>
          </p:cNvSpPr>
          <p:nvPr/>
        </p:nvSpPr>
        <p:spPr bwMode="auto">
          <a:xfrm>
            <a:off x="1387475" y="1017588"/>
            <a:ext cx="3714750"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4000"/>
              <a:t>Slaker Overflow</a:t>
            </a:r>
            <a:endParaRPr lang="th-TH" altLang="en-US" sz="4000"/>
          </a:p>
        </p:txBody>
      </p:sp>
    </p:spTree>
  </p:cSld>
  <p:clrMapOvr>
    <a:masterClrMapping/>
  </p:clrMapOvr>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2658" name="Picture 2" descr="21"/>
          <p:cNvPicPr>
            <a:picLocks noGrp="1" noChangeAspect="1" noChangeArrowheads="1"/>
          </p:cNvPicPr>
          <p:nvPr>
            <p:ph/>
          </p:nvPr>
        </p:nvPicPr>
        <p:blipFill>
          <a:blip r:embed="rId2">
            <a:extLst>
              <a:ext uri="{28A0092B-C50C-407E-A947-70E740481C1C}">
                <a14:useLocalDpi xmlns:a14="http://schemas.microsoft.com/office/drawing/2010/main" val="0"/>
              </a:ext>
            </a:extLst>
          </a:blip>
          <a:srcRect b="6023"/>
          <a:stretch>
            <a:fillRect/>
          </a:stretch>
        </p:blipFill>
        <p:spPr>
          <a:xfrm>
            <a:off x="0" y="1084263"/>
            <a:ext cx="9144000" cy="5494337"/>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82659" name="Text Box 4"/>
          <p:cNvSpPr txBox="1">
            <a:spLocks noChangeArrowheads="1"/>
          </p:cNvSpPr>
          <p:nvPr/>
        </p:nvSpPr>
        <p:spPr bwMode="auto">
          <a:xfrm>
            <a:off x="3260725" y="1944688"/>
            <a:ext cx="3714750" cy="646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3600" b="1" u="sng">
                <a:solidFill>
                  <a:srgbClr val="FF0000"/>
                </a:solidFill>
              </a:rPr>
              <a:t>WL Clarifier Tank</a:t>
            </a:r>
            <a:endParaRPr lang="th-TH" altLang="en-US" sz="3600" b="1" u="sng">
              <a:solidFill>
                <a:srgbClr val="FF0000"/>
              </a:solidFill>
            </a:endParaRPr>
          </a:p>
        </p:txBody>
      </p:sp>
      <p:pic>
        <p:nvPicPr>
          <p:cNvPr id="582660"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57200" y="0"/>
            <a:ext cx="8229600" cy="1182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682" name="Picture 3"/>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449263" y="1687513"/>
            <a:ext cx="3487737" cy="2393950"/>
          </a:xfrm>
        </p:spPr>
      </p:pic>
      <p:sp>
        <p:nvSpPr>
          <p:cNvPr id="583683" name="Rectangle 2"/>
          <p:cNvSpPr>
            <a:spLocks noGrp="1" noChangeArrowheads="1"/>
          </p:cNvSpPr>
          <p:nvPr>
            <p:ph type="title"/>
          </p:nvPr>
        </p:nvSpPr>
        <p:spPr>
          <a:xfrm>
            <a:off x="457200" y="0"/>
            <a:ext cx="8229600" cy="1143000"/>
          </a:xfrm>
        </p:spPr>
        <p:txBody>
          <a:bodyPr/>
          <a:lstStyle/>
          <a:p>
            <a:r>
              <a:rPr lang="en-US" altLang="en-US" b="1" u="sng" smtClean="0">
                <a:latin typeface="Arial Narrow" panose="020B0606020202030204" pitchFamily="34" charset="0"/>
              </a:rPr>
              <a:t>Recausticizing Plant</a:t>
            </a:r>
            <a:endParaRPr lang="th-TH" altLang="en-US" b="1" u="sng" smtClean="0">
              <a:latin typeface="Arial Narrow" panose="020B0606020202030204" pitchFamily="34" charset="0"/>
            </a:endParaRPr>
          </a:p>
        </p:txBody>
      </p:sp>
      <p:sp>
        <p:nvSpPr>
          <p:cNvPr id="583684" name="Text Box 4"/>
          <p:cNvSpPr txBox="1">
            <a:spLocks noChangeArrowheads="1"/>
          </p:cNvSpPr>
          <p:nvPr/>
        </p:nvSpPr>
        <p:spPr bwMode="auto">
          <a:xfrm>
            <a:off x="827088" y="979488"/>
            <a:ext cx="3714750"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prstDash val="lg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4000"/>
              <a:t>Lime Mud Filter</a:t>
            </a:r>
            <a:endParaRPr lang="th-TH" altLang="en-US" sz="4000"/>
          </a:p>
        </p:txBody>
      </p:sp>
      <p:pic>
        <p:nvPicPr>
          <p:cNvPr id="583685" name="Picture 1"/>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38625" y="1557338"/>
            <a:ext cx="4751388" cy="3792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3686" name="Picture 2"/>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49263" y="4211638"/>
            <a:ext cx="3487737" cy="227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3687" name="TextBox 4"/>
          <p:cNvSpPr txBox="1">
            <a:spLocks noChangeArrowheads="1"/>
          </p:cNvSpPr>
          <p:nvPr/>
        </p:nvSpPr>
        <p:spPr bwMode="auto">
          <a:xfrm>
            <a:off x="560388" y="3667125"/>
            <a:ext cx="2279650" cy="3698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r>
              <a:rPr lang="en-US" altLang="en-US" b="1"/>
              <a:t>Lime Mud Drum Filter</a:t>
            </a:r>
          </a:p>
        </p:txBody>
      </p:sp>
      <p:sp>
        <p:nvSpPr>
          <p:cNvPr id="583688" name="TextBox 8"/>
          <p:cNvSpPr txBox="1">
            <a:spLocks noChangeArrowheads="1"/>
          </p:cNvSpPr>
          <p:nvPr/>
        </p:nvSpPr>
        <p:spPr bwMode="auto">
          <a:xfrm>
            <a:off x="554038" y="6043613"/>
            <a:ext cx="2130425" cy="3698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r>
              <a:rPr lang="en-US" altLang="en-US" b="1"/>
              <a:t>Lime Mud Disc Filter</a:t>
            </a:r>
          </a:p>
        </p:txBody>
      </p:sp>
      <p:sp>
        <p:nvSpPr>
          <p:cNvPr id="583689" name="TextBox 9"/>
          <p:cNvSpPr txBox="1">
            <a:spLocks noChangeArrowheads="1"/>
          </p:cNvSpPr>
          <p:nvPr/>
        </p:nvSpPr>
        <p:spPr bwMode="auto">
          <a:xfrm>
            <a:off x="5159375" y="1503363"/>
            <a:ext cx="2652713" cy="3683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r>
              <a:rPr lang="en-US" altLang="en-US" b="1"/>
              <a:t>Lime Mud Disc Filter Loop</a:t>
            </a:r>
          </a:p>
        </p:txBody>
      </p:sp>
    </p:spTree>
  </p:cSld>
  <p:clrMapOvr>
    <a:masterClrMapping/>
  </p:clrMapOvr>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8738" name="Group 1"/>
          <p:cNvGrpSpPr>
            <a:grpSpLocks/>
          </p:cNvGrpSpPr>
          <p:nvPr/>
        </p:nvGrpSpPr>
        <p:grpSpPr bwMode="auto">
          <a:xfrm>
            <a:off x="138113" y="1293813"/>
            <a:ext cx="8867775" cy="5040312"/>
            <a:chOff x="179512" y="1124744"/>
            <a:chExt cx="8868117" cy="5112568"/>
          </a:xfrm>
        </p:grpSpPr>
        <p:grpSp>
          <p:nvGrpSpPr>
            <p:cNvPr id="628742" name="Group 2"/>
            <p:cNvGrpSpPr>
              <a:grpSpLocks/>
            </p:cNvGrpSpPr>
            <p:nvPr/>
          </p:nvGrpSpPr>
          <p:grpSpPr bwMode="auto">
            <a:xfrm>
              <a:off x="251520" y="2708920"/>
              <a:ext cx="1258678" cy="1368152"/>
              <a:chOff x="5940152" y="1124744"/>
              <a:chExt cx="1983031" cy="1728192"/>
            </a:xfrm>
          </p:grpSpPr>
          <p:pic>
            <p:nvPicPr>
              <p:cNvPr id="628778"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00192" y="1484784"/>
                <a:ext cx="648072" cy="981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28779"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16216" y="1655248"/>
                <a:ext cx="648072" cy="981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2878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32240" y="1871272"/>
                <a:ext cx="648072" cy="981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sp>
            <p:nvSpPr>
              <p:cNvPr id="7" name="TextBox 6"/>
              <p:cNvSpPr txBox="1"/>
              <p:nvPr/>
            </p:nvSpPr>
            <p:spPr>
              <a:xfrm>
                <a:off x="5940152" y="1124744"/>
                <a:ext cx="1983031" cy="330455"/>
              </a:xfrm>
              <a:prstGeom prst="rect">
                <a:avLst/>
              </a:prstGeom>
              <a:solidFill>
                <a:schemeClr val="bg1">
                  <a:lumMod val="75000"/>
                </a:schemeClr>
              </a:solidFill>
            </p:spPr>
            <p:style>
              <a:lnRef idx="0">
                <a:schemeClr val="accent6"/>
              </a:lnRef>
              <a:fillRef idx="3">
                <a:schemeClr val="accent6"/>
              </a:fillRef>
              <a:effectRef idx="3">
                <a:schemeClr val="accent6"/>
              </a:effectRef>
              <a:fontRef idx="minor">
                <a:schemeClr val="lt1"/>
              </a:fontRef>
            </p:style>
            <p:txBody>
              <a:bodyPr wrap="none">
                <a:spAutoFit/>
              </a:bodyPr>
              <a:lstStyle/>
              <a:p>
                <a:pPr>
                  <a:defRPr/>
                </a:pPr>
                <a:r>
                  <a:rPr lang="en-US" sz="1100" dirty="0">
                    <a:solidFill>
                      <a:schemeClr val="tx1"/>
                    </a:solidFill>
                    <a:latin typeface="Arial" pitchFamily="34" charset="0"/>
                    <a:cs typeface="Arial" pitchFamily="34" charset="0"/>
                  </a:rPr>
                  <a:t>Evaporator Line1</a:t>
                </a:r>
                <a:endParaRPr lang="th-TH" sz="1100" dirty="0">
                  <a:solidFill>
                    <a:schemeClr val="tx1"/>
                  </a:solidFill>
                  <a:latin typeface="Arial" pitchFamily="34" charset="0"/>
                </a:endParaRPr>
              </a:p>
            </p:txBody>
          </p:sp>
        </p:grpSp>
        <p:grpSp>
          <p:nvGrpSpPr>
            <p:cNvPr id="628743" name="Group 7"/>
            <p:cNvGrpSpPr>
              <a:grpSpLocks/>
            </p:cNvGrpSpPr>
            <p:nvPr/>
          </p:nvGrpSpPr>
          <p:grpSpPr bwMode="auto">
            <a:xfrm>
              <a:off x="1403648" y="3140968"/>
              <a:ext cx="1258678" cy="1440160"/>
              <a:chOff x="5940152" y="2977207"/>
              <a:chExt cx="1669921" cy="1819945"/>
            </a:xfrm>
          </p:grpSpPr>
          <p:pic>
            <p:nvPicPr>
              <p:cNvPr id="628772" name="Picture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21384" y="3340224"/>
                <a:ext cx="438104" cy="1152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28773" name="Picture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73784" y="3492624"/>
                <a:ext cx="438104" cy="1152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28774" name="Picture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26184" y="3645024"/>
                <a:ext cx="438104" cy="1152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sp>
            <p:nvSpPr>
              <p:cNvPr id="12" name="TextBox 11"/>
              <p:cNvSpPr txBox="1"/>
              <p:nvPr/>
            </p:nvSpPr>
            <p:spPr>
              <a:xfrm>
                <a:off x="5940152" y="2977207"/>
                <a:ext cx="1669921" cy="330599"/>
              </a:xfrm>
              <a:prstGeom prst="rect">
                <a:avLst/>
              </a:prstGeom>
              <a:solidFill>
                <a:schemeClr val="bg1">
                  <a:lumMod val="75000"/>
                </a:schemeClr>
              </a:solidFill>
            </p:spPr>
            <p:style>
              <a:lnRef idx="0">
                <a:schemeClr val="accent6"/>
              </a:lnRef>
              <a:fillRef idx="3">
                <a:schemeClr val="accent6"/>
              </a:fillRef>
              <a:effectRef idx="3">
                <a:schemeClr val="accent6"/>
              </a:effectRef>
              <a:fontRef idx="minor">
                <a:schemeClr val="lt1"/>
              </a:fontRef>
            </p:style>
            <p:txBody>
              <a:bodyPr wrap="none">
                <a:spAutoFit/>
              </a:bodyPr>
              <a:lstStyle/>
              <a:p>
                <a:pPr>
                  <a:defRPr/>
                </a:pPr>
                <a:r>
                  <a:rPr lang="en-US" sz="1100" dirty="0">
                    <a:solidFill>
                      <a:schemeClr val="tx1"/>
                    </a:solidFill>
                    <a:latin typeface="Arial" pitchFamily="34" charset="0"/>
                    <a:cs typeface="Arial" pitchFamily="34" charset="0"/>
                  </a:rPr>
                  <a:t>Evaporator Line2</a:t>
                </a:r>
                <a:endParaRPr lang="th-TH" sz="1100" dirty="0">
                  <a:solidFill>
                    <a:schemeClr val="tx1"/>
                  </a:solidFill>
                  <a:latin typeface="Arial" pitchFamily="34" charset="0"/>
                </a:endParaRPr>
              </a:p>
            </p:txBody>
          </p:sp>
        </p:grpSp>
        <p:sp>
          <p:nvSpPr>
            <p:cNvPr id="13" name="TextBox 12"/>
            <p:cNvSpPr txBox="1"/>
            <p:nvPr/>
          </p:nvSpPr>
          <p:spPr>
            <a:xfrm>
              <a:off x="3694024" y="2924025"/>
              <a:ext cx="2246128" cy="307777"/>
            </a:xfrm>
            <a:prstGeom prst="rect">
              <a:avLst/>
            </a:prstGeom>
            <a:solidFill>
              <a:srgbClr val="FF0000"/>
            </a:solidFill>
          </p:spPr>
          <p:style>
            <a:lnRef idx="0">
              <a:schemeClr val="accent6"/>
            </a:lnRef>
            <a:fillRef idx="3">
              <a:schemeClr val="accent6"/>
            </a:fillRef>
            <a:effectRef idx="3">
              <a:schemeClr val="accent6"/>
            </a:effectRef>
            <a:fontRef idx="minor">
              <a:schemeClr val="lt1"/>
            </a:fontRef>
          </p:style>
          <p:txBody>
            <a:bodyPr wrap="none">
              <a:spAutoFit/>
            </a:bodyPr>
            <a:lstStyle/>
            <a:p>
              <a:pPr>
                <a:defRPr/>
              </a:pPr>
              <a:r>
                <a:rPr lang="en-US" sz="1400" dirty="0">
                  <a:solidFill>
                    <a:schemeClr val="bg1"/>
                  </a:solidFill>
                  <a:latin typeface="Arial" pitchFamily="34" charset="0"/>
                  <a:cs typeface="Arial" pitchFamily="34" charset="0"/>
                </a:rPr>
                <a:t>Chemical Recovery Boiler</a:t>
              </a:r>
              <a:endParaRPr lang="th-TH" sz="1400" dirty="0">
                <a:solidFill>
                  <a:schemeClr val="bg1"/>
                </a:solidFill>
                <a:latin typeface="Arial" pitchFamily="34" charset="0"/>
              </a:endParaRPr>
            </a:p>
          </p:txBody>
        </p:sp>
        <p:pic>
          <p:nvPicPr>
            <p:cNvPr id="628747"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23928" y="3231802"/>
              <a:ext cx="2030411" cy="19253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8748" name="Picture 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660232" y="3284984"/>
              <a:ext cx="2155640" cy="1404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TextBox 15"/>
            <p:cNvSpPr txBox="1"/>
            <p:nvPr/>
          </p:nvSpPr>
          <p:spPr>
            <a:xfrm>
              <a:off x="6733550" y="2871762"/>
              <a:ext cx="1798890" cy="307777"/>
            </a:xfrm>
            <a:prstGeom prst="rect">
              <a:avLst/>
            </a:prstGeom>
            <a:solidFill>
              <a:schemeClr val="bg1">
                <a:lumMod val="75000"/>
              </a:schemeClr>
            </a:solidFill>
          </p:spPr>
          <p:style>
            <a:lnRef idx="0">
              <a:schemeClr val="accent6"/>
            </a:lnRef>
            <a:fillRef idx="3">
              <a:schemeClr val="accent6"/>
            </a:fillRef>
            <a:effectRef idx="3">
              <a:schemeClr val="accent6"/>
            </a:effectRef>
            <a:fontRef idx="minor">
              <a:schemeClr val="lt1"/>
            </a:fontRef>
          </p:style>
          <p:txBody>
            <a:bodyPr wrap="none">
              <a:spAutoFit/>
            </a:bodyPr>
            <a:lstStyle/>
            <a:p>
              <a:pPr>
                <a:defRPr/>
              </a:pPr>
              <a:r>
                <a:rPr lang="en-US" sz="1400" dirty="0" err="1">
                  <a:solidFill>
                    <a:schemeClr val="tx1"/>
                  </a:solidFill>
                  <a:latin typeface="Arial" pitchFamily="34" charset="0"/>
                  <a:cs typeface="Arial" pitchFamily="34" charset="0"/>
                </a:rPr>
                <a:t>Recausticizing</a:t>
              </a:r>
              <a:r>
                <a:rPr lang="en-US" sz="1400" dirty="0">
                  <a:solidFill>
                    <a:schemeClr val="tx1"/>
                  </a:solidFill>
                  <a:latin typeface="Arial" pitchFamily="34" charset="0"/>
                  <a:cs typeface="Arial" pitchFamily="34" charset="0"/>
                </a:rPr>
                <a:t> Plant</a:t>
              </a:r>
              <a:endParaRPr lang="th-TH" sz="1400" dirty="0">
                <a:solidFill>
                  <a:schemeClr val="tx1"/>
                </a:solidFill>
                <a:latin typeface="Arial" pitchFamily="34" charset="0"/>
              </a:endParaRPr>
            </a:p>
          </p:txBody>
        </p:sp>
        <p:sp>
          <p:nvSpPr>
            <p:cNvPr id="17" name="Freeform 16"/>
            <p:cNvSpPr/>
            <p:nvPr/>
          </p:nvSpPr>
          <p:spPr>
            <a:xfrm>
              <a:off x="898677" y="4081177"/>
              <a:ext cx="3108445" cy="843775"/>
            </a:xfrm>
            <a:custGeom>
              <a:avLst/>
              <a:gdLst>
                <a:gd name="connsiteX0" fmla="*/ 0 w 3108960"/>
                <a:gd name="connsiteY0" fmla="*/ 0 h 844061"/>
                <a:gd name="connsiteX1" fmla="*/ 0 w 3108960"/>
                <a:gd name="connsiteY1" fmla="*/ 844061 h 844061"/>
                <a:gd name="connsiteX2" fmla="*/ 3108960 w 3108960"/>
                <a:gd name="connsiteY2" fmla="*/ 844061 h 844061"/>
              </a:gdLst>
              <a:ahLst/>
              <a:cxnLst>
                <a:cxn ang="0">
                  <a:pos x="connsiteX0" y="connsiteY0"/>
                </a:cxn>
                <a:cxn ang="0">
                  <a:pos x="connsiteX1" y="connsiteY1"/>
                </a:cxn>
                <a:cxn ang="0">
                  <a:pos x="connsiteX2" y="connsiteY2"/>
                </a:cxn>
              </a:cxnLst>
              <a:rect l="l" t="t" r="r" b="b"/>
              <a:pathLst>
                <a:path w="3108960" h="844061">
                  <a:moveTo>
                    <a:pt x="0" y="0"/>
                  </a:moveTo>
                  <a:lnTo>
                    <a:pt x="0" y="844061"/>
                  </a:lnTo>
                  <a:lnTo>
                    <a:pt x="3108960" y="844061"/>
                  </a:lnTo>
                </a:path>
              </a:pathLst>
            </a:cu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18" name="Freeform 17"/>
            <p:cNvSpPr/>
            <p:nvPr/>
          </p:nvSpPr>
          <p:spPr>
            <a:xfrm>
              <a:off x="2151263" y="4586798"/>
              <a:ext cx="0" cy="323661"/>
            </a:xfrm>
            <a:custGeom>
              <a:avLst/>
              <a:gdLst>
                <a:gd name="connsiteX0" fmla="*/ 0 w 0"/>
                <a:gd name="connsiteY0" fmla="*/ 0 h 323557"/>
                <a:gd name="connsiteX1" fmla="*/ 0 w 0"/>
                <a:gd name="connsiteY1" fmla="*/ 323557 h 323557"/>
              </a:gdLst>
              <a:ahLst/>
              <a:cxnLst>
                <a:cxn ang="0">
                  <a:pos x="connsiteX0" y="connsiteY0"/>
                </a:cxn>
                <a:cxn ang="0">
                  <a:pos x="connsiteX1" y="connsiteY1"/>
                </a:cxn>
              </a:cxnLst>
              <a:rect l="l" t="t" r="r" b="b"/>
              <a:pathLst>
                <a:path h="323557">
                  <a:moveTo>
                    <a:pt x="0" y="0"/>
                  </a:moveTo>
                  <a:lnTo>
                    <a:pt x="0" y="323557"/>
                  </a:lnTo>
                </a:path>
              </a:pathLst>
            </a:custGeom>
            <a:ln w="381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pic>
          <p:nvPicPr>
            <p:cNvPr id="628754"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812360" y="4725144"/>
              <a:ext cx="762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8755" name="TextBox 19"/>
            <p:cNvSpPr txBox="1">
              <a:spLocks noChangeArrowheads="1"/>
            </p:cNvSpPr>
            <p:nvPr/>
          </p:nvSpPr>
          <p:spPr bwMode="auto">
            <a:xfrm>
              <a:off x="7596336" y="5733256"/>
              <a:ext cx="1337226" cy="249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000" b="1">
                  <a:latin typeface="Arial" panose="020B0604020202020204" pitchFamily="34" charset="0"/>
                  <a:cs typeface="Arial" panose="020B0604020202020204" pitchFamily="34" charset="0"/>
                </a:rPr>
                <a:t>Lime mud </a:t>
              </a:r>
              <a:r>
                <a:rPr lang="en-US" altLang="en-US" sz="1000" b="1">
                  <a:solidFill>
                    <a:schemeClr val="bg1"/>
                  </a:solidFill>
                  <a:latin typeface="Arial" panose="020B0604020202020204" pitchFamily="34" charset="0"/>
                  <a:cs typeface="Arial" panose="020B0604020202020204" pitchFamily="34" charset="0"/>
                </a:rPr>
                <a:t>(CaCO3)</a:t>
              </a:r>
              <a:endParaRPr lang="th-TH" altLang="en-US" sz="1000" b="1">
                <a:solidFill>
                  <a:schemeClr val="bg1"/>
                </a:solidFill>
                <a:latin typeface="Arial" panose="020B0604020202020204" pitchFamily="34" charset="0"/>
              </a:endParaRPr>
            </a:p>
          </p:txBody>
        </p:sp>
        <p:pic>
          <p:nvPicPr>
            <p:cNvPr id="628756" name="Picture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11560" y="1124744"/>
              <a:ext cx="507963" cy="936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8757" name="Picture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915816" y="3676963"/>
              <a:ext cx="514500" cy="936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8758" name="Picture 1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884368" y="1412776"/>
              <a:ext cx="517097" cy="864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8759" name="TextBox 23"/>
            <p:cNvSpPr txBox="1">
              <a:spLocks noChangeArrowheads="1"/>
            </p:cNvSpPr>
            <p:nvPr/>
          </p:nvSpPr>
          <p:spPr bwMode="auto">
            <a:xfrm>
              <a:off x="7274388" y="2276872"/>
              <a:ext cx="177324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000" b="1">
                  <a:latin typeface="Arial" panose="020B0604020202020204" pitchFamily="34" charset="0"/>
                  <a:cs typeface="Arial" panose="020B0604020202020204" pitchFamily="34" charset="0"/>
                </a:rPr>
                <a:t>Strong White Liquor, SWL</a:t>
              </a:r>
            </a:p>
            <a:p>
              <a:pPr algn="ctr">
                <a:spcBef>
                  <a:spcPct val="0"/>
                </a:spcBef>
                <a:buFontTx/>
                <a:buNone/>
              </a:pPr>
              <a:r>
                <a:rPr lang="en-US" altLang="en-US" sz="1000" b="1">
                  <a:latin typeface="Arial" panose="020B0604020202020204" pitchFamily="34" charset="0"/>
                  <a:cs typeface="Arial" panose="020B0604020202020204" pitchFamily="34" charset="0"/>
                </a:rPr>
                <a:t>(NaOH)</a:t>
              </a:r>
              <a:endParaRPr lang="th-TH" altLang="en-US" sz="1000" b="1">
                <a:latin typeface="Arial" panose="020B0604020202020204" pitchFamily="34" charset="0"/>
              </a:endParaRPr>
            </a:p>
          </p:txBody>
        </p:sp>
        <p:sp>
          <p:nvSpPr>
            <p:cNvPr id="628760" name="TextBox 24"/>
            <p:cNvSpPr txBox="1">
              <a:spLocks noChangeArrowheads="1"/>
            </p:cNvSpPr>
            <p:nvPr/>
          </p:nvSpPr>
          <p:spPr bwMode="auto">
            <a:xfrm>
              <a:off x="179512" y="2060848"/>
              <a:ext cx="13276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000" b="1">
                  <a:latin typeface="Arial" panose="020B0604020202020204" pitchFamily="34" charset="0"/>
                  <a:cs typeface="Arial" panose="020B0604020202020204" pitchFamily="34" charset="0"/>
                </a:rPr>
                <a:t>Weak Black Liquor</a:t>
              </a:r>
            </a:p>
            <a:p>
              <a:pPr algn="ctr">
                <a:spcBef>
                  <a:spcPct val="0"/>
                </a:spcBef>
                <a:buFontTx/>
                <a:buNone/>
              </a:pPr>
              <a:r>
                <a:rPr lang="en-US" altLang="en-US" sz="1000" b="1">
                  <a:latin typeface="Arial" panose="020B0604020202020204" pitchFamily="34" charset="0"/>
                  <a:cs typeface="Arial" panose="020B0604020202020204" pitchFamily="34" charset="0"/>
                </a:rPr>
                <a:t>(WBL)</a:t>
              </a:r>
              <a:endParaRPr lang="th-TH" altLang="en-US" sz="1000" b="1">
                <a:latin typeface="Arial" panose="020B0604020202020204" pitchFamily="34" charset="0"/>
              </a:endParaRPr>
            </a:p>
          </p:txBody>
        </p:sp>
        <p:sp>
          <p:nvSpPr>
            <p:cNvPr id="628761" name="TextBox 25"/>
            <p:cNvSpPr txBox="1">
              <a:spLocks noChangeArrowheads="1"/>
            </p:cNvSpPr>
            <p:nvPr/>
          </p:nvSpPr>
          <p:spPr bwMode="auto">
            <a:xfrm>
              <a:off x="2526614" y="4541058"/>
              <a:ext cx="14077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000" b="1">
                  <a:latin typeface="Arial" panose="020B0604020202020204" pitchFamily="34" charset="0"/>
                  <a:cs typeface="Arial" panose="020B0604020202020204" pitchFamily="34" charset="0"/>
                </a:rPr>
                <a:t>Strong Black Liquor</a:t>
              </a:r>
            </a:p>
            <a:p>
              <a:pPr algn="ctr">
                <a:spcBef>
                  <a:spcPct val="0"/>
                </a:spcBef>
                <a:buFontTx/>
                <a:buNone/>
              </a:pPr>
              <a:r>
                <a:rPr lang="en-US" altLang="en-US" sz="1000" b="1">
                  <a:latin typeface="Arial" panose="020B0604020202020204" pitchFamily="34" charset="0"/>
                  <a:cs typeface="Arial" panose="020B0604020202020204" pitchFamily="34" charset="0"/>
                </a:rPr>
                <a:t>(SBL)</a:t>
              </a:r>
              <a:endParaRPr lang="th-TH" altLang="en-US" sz="1000" b="1">
                <a:latin typeface="Arial" panose="020B0604020202020204" pitchFamily="34" charset="0"/>
              </a:endParaRPr>
            </a:p>
          </p:txBody>
        </p:sp>
        <p:sp>
          <p:nvSpPr>
            <p:cNvPr id="628762" name="TextBox 26"/>
            <p:cNvSpPr txBox="1">
              <a:spLocks noChangeArrowheads="1"/>
            </p:cNvSpPr>
            <p:nvPr/>
          </p:nvSpPr>
          <p:spPr bwMode="auto">
            <a:xfrm>
              <a:off x="5661699" y="5837202"/>
              <a:ext cx="164660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000" b="1">
                  <a:latin typeface="Arial" panose="020B0604020202020204" pitchFamily="34" charset="0"/>
                  <a:cs typeface="Arial" panose="020B0604020202020204" pitchFamily="34" charset="0"/>
                </a:rPr>
                <a:t>Green Black Liquor, GL </a:t>
              </a:r>
            </a:p>
            <a:p>
              <a:pPr algn="ctr">
                <a:spcBef>
                  <a:spcPct val="0"/>
                </a:spcBef>
                <a:buFontTx/>
                <a:buNone/>
              </a:pPr>
              <a:r>
                <a:rPr lang="en-US" altLang="en-US" sz="1000" b="1">
                  <a:latin typeface="Arial" panose="020B0604020202020204" pitchFamily="34" charset="0"/>
                  <a:cs typeface="Arial" panose="020B0604020202020204" pitchFamily="34" charset="0"/>
                </a:rPr>
                <a:t>(Na2CO3)</a:t>
              </a:r>
              <a:endParaRPr lang="th-TH" altLang="en-US" sz="1000" b="1">
                <a:latin typeface="Arial" panose="020B0604020202020204" pitchFamily="34" charset="0"/>
              </a:endParaRPr>
            </a:p>
          </p:txBody>
        </p:sp>
        <p:sp>
          <p:nvSpPr>
            <p:cNvPr id="28" name="Freeform 27"/>
            <p:cNvSpPr/>
            <p:nvPr/>
          </p:nvSpPr>
          <p:spPr>
            <a:xfrm>
              <a:off x="814536" y="2421001"/>
              <a:ext cx="0" cy="281796"/>
            </a:xfrm>
            <a:custGeom>
              <a:avLst/>
              <a:gdLst>
                <a:gd name="connsiteX0" fmla="*/ 0 w 0"/>
                <a:gd name="connsiteY0" fmla="*/ 0 h 281354"/>
                <a:gd name="connsiteX1" fmla="*/ 0 w 0"/>
                <a:gd name="connsiteY1" fmla="*/ 0 h 281354"/>
                <a:gd name="connsiteX2" fmla="*/ 0 w 0"/>
                <a:gd name="connsiteY2" fmla="*/ 253218 h 281354"/>
                <a:gd name="connsiteX3" fmla="*/ 0 w 0"/>
                <a:gd name="connsiteY3" fmla="*/ 281354 h 281354"/>
              </a:gdLst>
              <a:ahLst/>
              <a:cxnLst>
                <a:cxn ang="0">
                  <a:pos x="connsiteX0" y="connsiteY0"/>
                </a:cxn>
                <a:cxn ang="0">
                  <a:pos x="connsiteX1" y="connsiteY1"/>
                </a:cxn>
                <a:cxn ang="0">
                  <a:pos x="connsiteX2" y="connsiteY2"/>
                </a:cxn>
                <a:cxn ang="0">
                  <a:pos x="connsiteX3" y="connsiteY3"/>
                </a:cxn>
              </a:cxnLst>
              <a:rect l="l" t="t" r="r" b="b"/>
              <a:pathLst>
                <a:path h="281354">
                  <a:moveTo>
                    <a:pt x="0" y="0"/>
                  </a:moveTo>
                  <a:lnTo>
                    <a:pt x="0" y="0"/>
                  </a:lnTo>
                  <a:lnTo>
                    <a:pt x="0" y="253218"/>
                  </a:lnTo>
                  <a:lnTo>
                    <a:pt x="0" y="281354"/>
                  </a:lnTo>
                </a:path>
              </a:pathLst>
            </a:cu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29" name="Freeform 28"/>
            <p:cNvSpPr/>
            <p:nvPr/>
          </p:nvSpPr>
          <p:spPr>
            <a:xfrm>
              <a:off x="8604699" y="2575586"/>
              <a:ext cx="0" cy="801908"/>
            </a:xfrm>
            <a:custGeom>
              <a:avLst/>
              <a:gdLst>
                <a:gd name="connsiteX0" fmla="*/ 0 w 0"/>
                <a:gd name="connsiteY0" fmla="*/ 801859 h 801859"/>
                <a:gd name="connsiteX1" fmla="*/ 0 w 0"/>
                <a:gd name="connsiteY1" fmla="*/ 0 h 801859"/>
              </a:gdLst>
              <a:ahLst/>
              <a:cxnLst>
                <a:cxn ang="0">
                  <a:pos x="connsiteX0" y="connsiteY0"/>
                </a:cxn>
                <a:cxn ang="0">
                  <a:pos x="connsiteX1" y="connsiteY1"/>
                </a:cxn>
              </a:cxnLst>
              <a:rect l="l" t="t" r="r" b="b"/>
              <a:pathLst>
                <a:path h="801859">
                  <a:moveTo>
                    <a:pt x="0" y="801859"/>
                  </a:moveTo>
                  <a:lnTo>
                    <a:pt x="0" y="0"/>
                  </a:lnTo>
                </a:path>
              </a:pathLst>
            </a:custGeom>
            <a:ln w="38100">
              <a:solidFill>
                <a:schemeClr val="bg2">
                  <a:lumMod val="7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30" name="Freeform 29"/>
            <p:cNvSpPr/>
            <p:nvPr/>
          </p:nvSpPr>
          <p:spPr>
            <a:xfrm>
              <a:off x="814536" y="2506345"/>
              <a:ext cx="1265286" cy="645713"/>
            </a:xfrm>
            <a:custGeom>
              <a:avLst/>
              <a:gdLst>
                <a:gd name="connsiteX0" fmla="*/ 0 w 1266092"/>
                <a:gd name="connsiteY0" fmla="*/ 0 h 647114"/>
                <a:gd name="connsiteX1" fmla="*/ 1266092 w 1266092"/>
                <a:gd name="connsiteY1" fmla="*/ 0 h 647114"/>
                <a:gd name="connsiteX2" fmla="*/ 1266092 w 1266092"/>
                <a:gd name="connsiteY2" fmla="*/ 647114 h 647114"/>
              </a:gdLst>
              <a:ahLst/>
              <a:cxnLst>
                <a:cxn ang="0">
                  <a:pos x="connsiteX0" y="connsiteY0"/>
                </a:cxn>
                <a:cxn ang="0">
                  <a:pos x="connsiteX1" y="connsiteY1"/>
                </a:cxn>
                <a:cxn ang="0">
                  <a:pos x="connsiteX2" y="connsiteY2"/>
                </a:cxn>
              </a:cxnLst>
              <a:rect l="l" t="t" r="r" b="b"/>
              <a:pathLst>
                <a:path w="1266092" h="647114">
                  <a:moveTo>
                    <a:pt x="0" y="0"/>
                  </a:moveTo>
                  <a:lnTo>
                    <a:pt x="1266092" y="0"/>
                  </a:lnTo>
                  <a:lnTo>
                    <a:pt x="1266092" y="647114"/>
                  </a:lnTo>
                </a:path>
              </a:pathLst>
            </a:cu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pic>
          <p:nvPicPr>
            <p:cNvPr id="628766" name="Picture 1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860032" y="5157192"/>
              <a:ext cx="613903" cy="803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8767" name="Picture 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53477" y="1508991"/>
              <a:ext cx="4104456" cy="1261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8768" name="TextBox 32"/>
            <p:cNvSpPr txBox="1">
              <a:spLocks noChangeArrowheads="1"/>
            </p:cNvSpPr>
            <p:nvPr/>
          </p:nvSpPr>
          <p:spPr bwMode="auto">
            <a:xfrm>
              <a:off x="4860032" y="5949280"/>
              <a:ext cx="5325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000" b="1">
                  <a:latin typeface="Arial" panose="020B0604020202020204" pitchFamily="34" charset="0"/>
                  <a:cs typeface="Arial" panose="020B0604020202020204" pitchFamily="34" charset="0"/>
                </a:rPr>
                <a:t>Smelt</a:t>
              </a:r>
              <a:endParaRPr lang="th-TH" altLang="en-US" sz="1000" b="1">
                <a:latin typeface="Arial" panose="020B0604020202020204" pitchFamily="34" charset="0"/>
              </a:endParaRPr>
            </a:p>
          </p:txBody>
        </p:sp>
        <p:sp>
          <p:nvSpPr>
            <p:cNvPr id="628769" name="TextBox 33"/>
            <p:cNvSpPr txBox="1">
              <a:spLocks noChangeArrowheads="1"/>
            </p:cNvSpPr>
            <p:nvPr/>
          </p:nvSpPr>
          <p:spPr bwMode="auto">
            <a:xfrm>
              <a:off x="7364802" y="3398803"/>
              <a:ext cx="44755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000" b="1">
                  <a:latin typeface="Arial" panose="020B0604020202020204" pitchFamily="34" charset="0"/>
                  <a:cs typeface="Arial" panose="020B0604020202020204" pitchFamily="34" charset="0"/>
                </a:rPr>
                <a:t>CaO</a:t>
              </a:r>
              <a:endParaRPr lang="th-TH" altLang="en-US" sz="1000" b="1">
                <a:latin typeface="Arial" panose="020B0604020202020204" pitchFamily="34" charset="0"/>
              </a:endParaRPr>
            </a:p>
          </p:txBody>
        </p:sp>
        <p:sp>
          <p:nvSpPr>
            <p:cNvPr id="35" name="Freeform 34"/>
            <p:cNvSpPr/>
            <p:nvPr/>
          </p:nvSpPr>
          <p:spPr>
            <a:xfrm>
              <a:off x="5470853" y="3359782"/>
              <a:ext cx="1570099" cy="2188340"/>
            </a:xfrm>
            <a:custGeom>
              <a:avLst/>
              <a:gdLst>
                <a:gd name="connsiteX0" fmla="*/ 0 w 1569808"/>
                <a:gd name="connsiteY0" fmla="*/ 2188217 h 2188217"/>
                <a:gd name="connsiteX1" fmla="*/ 951399 w 1569808"/>
                <a:gd name="connsiteY1" fmla="*/ 2188217 h 2188217"/>
                <a:gd name="connsiteX2" fmla="*/ 951399 w 1569808"/>
                <a:gd name="connsiteY2" fmla="*/ 0 h 2188217"/>
                <a:gd name="connsiteX3" fmla="*/ 1569808 w 1569808"/>
                <a:gd name="connsiteY3" fmla="*/ 0 h 2188217"/>
              </a:gdLst>
              <a:ahLst/>
              <a:cxnLst>
                <a:cxn ang="0">
                  <a:pos x="connsiteX0" y="connsiteY0"/>
                </a:cxn>
                <a:cxn ang="0">
                  <a:pos x="connsiteX1" y="connsiteY1"/>
                </a:cxn>
                <a:cxn ang="0">
                  <a:pos x="connsiteX2" y="connsiteY2"/>
                </a:cxn>
                <a:cxn ang="0">
                  <a:pos x="connsiteX3" y="connsiteY3"/>
                </a:cxn>
              </a:cxnLst>
              <a:rect l="l" t="t" r="r" b="b"/>
              <a:pathLst>
                <a:path w="1569808" h="2188217">
                  <a:moveTo>
                    <a:pt x="0" y="2188217"/>
                  </a:moveTo>
                  <a:lnTo>
                    <a:pt x="951399" y="2188217"/>
                  </a:lnTo>
                  <a:lnTo>
                    <a:pt x="951399" y="0"/>
                  </a:lnTo>
                  <a:lnTo>
                    <a:pt x="1569808" y="0"/>
                  </a:lnTo>
                </a:path>
              </a:pathLst>
            </a:custGeom>
            <a:ln w="38100">
              <a:solidFill>
                <a:srgbClr val="00B05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pic>
          <p:nvPicPr>
            <p:cNvPr id="628771"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156176" y="4941168"/>
              <a:ext cx="527739" cy="9308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28739" name="TextBox 3"/>
          <p:cNvSpPr txBox="1">
            <a:spLocks noChangeArrowheads="1"/>
          </p:cNvSpPr>
          <p:nvPr/>
        </p:nvSpPr>
        <p:spPr bwMode="auto">
          <a:xfrm>
            <a:off x="-36513" y="6165850"/>
            <a:ext cx="2416176"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a:t>Credit: Weerachai Seachao</a:t>
            </a:r>
          </a:p>
        </p:txBody>
      </p:sp>
      <p:sp>
        <p:nvSpPr>
          <p:cNvPr id="628740" name="TextBox 38"/>
          <p:cNvSpPr txBox="1">
            <a:spLocks noChangeArrowheads="1"/>
          </p:cNvSpPr>
          <p:nvPr/>
        </p:nvSpPr>
        <p:spPr bwMode="auto">
          <a:xfrm>
            <a:off x="1908175" y="873125"/>
            <a:ext cx="5200650" cy="661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200" b="1">
                <a:solidFill>
                  <a:srgbClr val="0000CC"/>
                </a:solidFill>
                <a:latin typeface="Arial" panose="020B0604020202020204" pitchFamily="34" charset="0"/>
                <a:cs typeface="Arial" panose="020B0604020202020204" pitchFamily="34" charset="0"/>
              </a:rPr>
              <a:t>SCL </a:t>
            </a:r>
            <a:r>
              <a:rPr lang="en-US" altLang="en-US" sz="1200" b="1">
                <a:latin typeface="Arial" panose="020B0604020202020204" pitchFamily="34" charset="0"/>
                <a:cs typeface="Arial" panose="020B0604020202020204" pitchFamily="34" charset="0"/>
              </a:rPr>
              <a:t>Ban Pong Pulp Mill</a:t>
            </a:r>
          </a:p>
          <a:p>
            <a:pPr>
              <a:spcBef>
                <a:spcPct val="0"/>
              </a:spcBef>
              <a:buFontTx/>
              <a:buNone/>
            </a:pPr>
            <a:r>
              <a:rPr lang="en-US" altLang="en-US" sz="1400" b="1">
                <a:solidFill>
                  <a:srgbClr val="FF0000"/>
                </a:solidFill>
                <a:latin typeface="Arial" panose="020B0604020202020204" pitchFamily="34" charset="0"/>
                <a:cs typeface="Arial" panose="020B0604020202020204" pitchFamily="34" charset="0"/>
              </a:rPr>
              <a:t>LIQUOR LINE DIAGRAM</a:t>
            </a:r>
          </a:p>
          <a:p>
            <a:pPr>
              <a:spcBef>
                <a:spcPct val="0"/>
              </a:spcBef>
              <a:buFontTx/>
              <a:buNone/>
            </a:pPr>
            <a:r>
              <a:rPr lang="en-US" altLang="en-US" sz="1100" b="1">
                <a:latin typeface="Arial" panose="020B0604020202020204" pitchFamily="34" charset="0"/>
                <a:cs typeface="Arial" panose="020B0604020202020204" pitchFamily="34" charset="0"/>
              </a:rPr>
              <a:t>Chemical pulp 44,000ADT/Y, Semi-Chemical pulp 63,000ADT/Y, RB 300TDS</a:t>
            </a:r>
            <a:endParaRPr lang="th-TH" altLang="en-US" sz="1100" b="1">
              <a:latin typeface="Arial" panose="020B0604020202020204" pitchFamily="34" charset="0"/>
            </a:endParaRPr>
          </a:p>
        </p:txBody>
      </p:sp>
      <p:sp>
        <p:nvSpPr>
          <p:cNvPr id="628741"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6. Principle of chemical recovery </a:t>
            </a:r>
          </a:p>
        </p:txBody>
      </p:sp>
    </p:spTree>
  </p:cSld>
  <p:clrMapOvr>
    <a:masterClrMapping/>
  </p:clrMapOvr>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786"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6. Principle of chemical recovery </a:t>
            </a:r>
          </a:p>
        </p:txBody>
      </p:sp>
      <p:grpSp>
        <p:nvGrpSpPr>
          <p:cNvPr id="630787" name="Group 1"/>
          <p:cNvGrpSpPr>
            <a:grpSpLocks/>
          </p:cNvGrpSpPr>
          <p:nvPr/>
        </p:nvGrpSpPr>
        <p:grpSpPr bwMode="auto">
          <a:xfrm>
            <a:off x="-36513" y="1268413"/>
            <a:ext cx="9217026" cy="4968875"/>
            <a:chOff x="-36512" y="980728"/>
            <a:chExt cx="9217024" cy="5111988"/>
          </a:xfrm>
        </p:grpSpPr>
        <p:pic>
          <p:nvPicPr>
            <p:cNvPr id="630790"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48064" y="2348880"/>
              <a:ext cx="357557" cy="4320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0791" name="Picture 8"/>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27584" y="1484189"/>
              <a:ext cx="236526" cy="304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792"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71600" y="1484189"/>
              <a:ext cx="236526" cy="304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793" name="Picture 10"/>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115616" y="1484189"/>
              <a:ext cx="236526" cy="304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794" name="Picture 1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259632" y="1484189"/>
              <a:ext cx="236526" cy="304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795" name="Picture 1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403648" y="1484189"/>
              <a:ext cx="236526" cy="304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796" name="Picture 1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27584" y="1910723"/>
              <a:ext cx="236526" cy="304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797" name="Picture 1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71600" y="1910723"/>
              <a:ext cx="236526" cy="304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798" name="Picture 1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115616" y="1910723"/>
              <a:ext cx="236526" cy="304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799" name="Picture 16"/>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259632" y="1910723"/>
              <a:ext cx="236526" cy="304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800" name="Picture 17"/>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403648" y="1910723"/>
              <a:ext cx="236526" cy="304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801" name="Picture 18"/>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80364" y="1910723"/>
              <a:ext cx="236526" cy="304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802" name="Picture 1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899592" y="2362213"/>
              <a:ext cx="204928" cy="4879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80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flipH="1">
              <a:off x="1036117" y="2397686"/>
              <a:ext cx="204928" cy="4879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804" name="Picture 2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flipH="1">
              <a:off x="1172642" y="2459123"/>
              <a:ext cx="204928" cy="4879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805" name="Picture 2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flipH="1">
              <a:off x="1309167" y="2520056"/>
              <a:ext cx="204928" cy="4879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806" name="Picture 2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flipH="1">
              <a:off x="1445692" y="2580990"/>
              <a:ext cx="204928" cy="4879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807" name="Picture 2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496" y="1849789"/>
              <a:ext cx="426229" cy="426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25"/>
            <p:cNvSpPr/>
            <p:nvPr/>
          </p:nvSpPr>
          <p:spPr>
            <a:xfrm>
              <a:off x="395289" y="1622584"/>
              <a:ext cx="477837" cy="537331"/>
            </a:xfrm>
            <a:custGeom>
              <a:avLst/>
              <a:gdLst>
                <a:gd name="connsiteX0" fmla="*/ 0 w 699715"/>
                <a:gd name="connsiteY0" fmla="*/ 636105 h 636105"/>
                <a:gd name="connsiteX1" fmla="*/ 286247 w 699715"/>
                <a:gd name="connsiteY1" fmla="*/ 636105 h 636105"/>
                <a:gd name="connsiteX2" fmla="*/ 286247 w 699715"/>
                <a:gd name="connsiteY2" fmla="*/ 0 h 636105"/>
                <a:gd name="connsiteX3" fmla="*/ 699715 w 699715"/>
                <a:gd name="connsiteY3" fmla="*/ 0 h 636105"/>
              </a:gdLst>
              <a:ahLst/>
              <a:cxnLst>
                <a:cxn ang="0">
                  <a:pos x="connsiteX0" y="connsiteY0"/>
                </a:cxn>
                <a:cxn ang="0">
                  <a:pos x="connsiteX1" y="connsiteY1"/>
                </a:cxn>
                <a:cxn ang="0">
                  <a:pos x="connsiteX2" y="connsiteY2"/>
                </a:cxn>
                <a:cxn ang="0">
                  <a:pos x="connsiteX3" y="connsiteY3"/>
                </a:cxn>
              </a:cxnLst>
              <a:rect l="l" t="t" r="r" b="b"/>
              <a:pathLst>
                <a:path w="699715" h="636105">
                  <a:moveTo>
                    <a:pt x="0" y="636105"/>
                  </a:moveTo>
                  <a:lnTo>
                    <a:pt x="286247" y="636105"/>
                  </a:lnTo>
                  <a:lnTo>
                    <a:pt x="286247" y="0"/>
                  </a:lnTo>
                  <a:lnTo>
                    <a:pt x="699715" y="0"/>
                  </a:lnTo>
                </a:path>
              </a:pathLst>
            </a:cu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pic>
          <p:nvPicPr>
            <p:cNvPr id="630809" name="Picture 2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95736" y="1788856"/>
              <a:ext cx="426229" cy="426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0810" name="Picture 2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95736" y="2641923"/>
              <a:ext cx="426229" cy="426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28"/>
            <p:cNvSpPr/>
            <p:nvPr/>
          </p:nvSpPr>
          <p:spPr>
            <a:xfrm>
              <a:off x="1619251" y="2019458"/>
              <a:ext cx="214313" cy="0"/>
            </a:xfrm>
            <a:custGeom>
              <a:avLst/>
              <a:gdLst>
                <a:gd name="connsiteX0" fmla="*/ 0 w 238540"/>
                <a:gd name="connsiteY0" fmla="*/ 0 h 0"/>
                <a:gd name="connsiteX1" fmla="*/ 238540 w 238540"/>
                <a:gd name="connsiteY1" fmla="*/ 0 h 0"/>
              </a:gdLst>
              <a:ahLst/>
              <a:cxnLst>
                <a:cxn ang="0">
                  <a:pos x="connsiteX0" y="connsiteY0"/>
                </a:cxn>
                <a:cxn ang="0">
                  <a:pos x="connsiteX1" y="connsiteY1"/>
                </a:cxn>
              </a:cxnLst>
              <a:rect l="l" t="t" r="r" b="b"/>
              <a:pathLst>
                <a:path w="238540">
                  <a:moveTo>
                    <a:pt x="0" y="0"/>
                  </a:moveTo>
                  <a:lnTo>
                    <a:pt x="238540" y="0"/>
                  </a:lnTo>
                </a:path>
              </a:pathLst>
            </a:custGeom>
            <a:ln w="1905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30" name="Freeform 29"/>
            <p:cNvSpPr/>
            <p:nvPr/>
          </p:nvSpPr>
          <p:spPr>
            <a:xfrm>
              <a:off x="1619251" y="1581754"/>
              <a:ext cx="93663" cy="431171"/>
            </a:xfrm>
            <a:custGeom>
              <a:avLst/>
              <a:gdLst>
                <a:gd name="connsiteX0" fmla="*/ 0 w 103367"/>
                <a:gd name="connsiteY0" fmla="*/ 0 h 508884"/>
                <a:gd name="connsiteX1" fmla="*/ 103367 w 103367"/>
                <a:gd name="connsiteY1" fmla="*/ 0 h 508884"/>
                <a:gd name="connsiteX2" fmla="*/ 103367 w 103367"/>
                <a:gd name="connsiteY2" fmla="*/ 508884 h 508884"/>
              </a:gdLst>
              <a:ahLst/>
              <a:cxnLst>
                <a:cxn ang="0">
                  <a:pos x="connsiteX0" y="connsiteY0"/>
                </a:cxn>
                <a:cxn ang="0">
                  <a:pos x="connsiteX1" y="connsiteY1"/>
                </a:cxn>
                <a:cxn ang="0">
                  <a:pos x="connsiteX2" y="connsiteY2"/>
                </a:cxn>
              </a:cxnLst>
              <a:rect l="l" t="t" r="r" b="b"/>
              <a:pathLst>
                <a:path w="103367" h="508884">
                  <a:moveTo>
                    <a:pt x="0" y="0"/>
                  </a:moveTo>
                  <a:lnTo>
                    <a:pt x="103367" y="0"/>
                  </a:lnTo>
                  <a:lnTo>
                    <a:pt x="103367" y="508884"/>
                  </a:lnTo>
                </a:path>
              </a:pathLst>
            </a:cu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31" name="Freeform 30"/>
            <p:cNvSpPr/>
            <p:nvPr/>
          </p:nvSpPr>
          <p:spPr>
            <a:xfrm>
              <a:off x="1976439" y="2019458"/>
              <a:ext cx="269875" cy="0"/>
            </a:xfrm>
            <a:custGeom>
              <a:avLst/>
              <a:gdLst>
                <a:gd name="connsiteX0" fmla="*/ 0 w 302149"/>
                <a:gd name="connsiteY0" fmla="*/ 0 h 0"/>
                <a:gd name="connsiteX1" fmla="*/ 302149 w 302149"/>
                <a:gd name="connsiteY1" fmla="*/ 0 h 0"/>
              </a:gdLst>
              <a:ahLst/>
              <a:cxnLst>
                <a:cxn ang="0">
                  <a:pos x="connsiteX0" y="connsiteY0"/>
                </a:cxn>
                <a:cxn ang="0">
                  <a:pos x="connsiteX1" y="connsiteY1"/>
                </a:cxn>
              </a:cxnLst>
              <a:rect l="l" t="t" r="r" b="b"/>
              <a:pathLst>
                <a:path w="302149">
                  <a:moveTo>
                    <a:pt x="0" y="0"/>
                  </a:moveTo>
                  <a:lnTo>
                    <a:pt x="302149" y="0"/>
                  </a:lnTo>
                </a:path>
              </a:pathLst>
            </a:custGeom>
            <a:ln w="1905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pic>
          <p:nvPicPr>
            <p:cNvPr id="63081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71800" y="1340768"/>
              <a:ext cx="1878540" cy="1781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0815" name="Picture 3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716015" y="2204864"/>
              <a:ext cx="360040" cy="371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816" name="Picture 3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724128" y="2343757"/>
              <a:ext cx="864096" cy="437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grpSp>
          <p:nvGrpSpPr>
            <p:cNvPr id="630817" name="Group 34"/>
            <p:cNvGrpSpPr>
              <a:grpSpLocks/>
            </p:cNvGrpSpPr>
            <p:nvPr/>
          </p:nvGrpSpPr>
          <p:grpSpPr bwMode="auto">
            <a:xfrm>
              <a:off x="6588224" y="2636912"/>
              <a:ext cx="360040" cy="432048"/>
              <a:chOff x="3987552" y="3924672"/>
              <a:chExt cx="914400" cy="1323975"/>
            </a:xfrm>
          </p:grpSpPr>
          <p:pic>
            <p:nvPicPr>
              <p:cNvPr id="630907" name="Picture 3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87552" y="3924672"/>
                <a:ext cx="609600" cy="101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908" name="Picture 36"/>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39952" y="4077072"/>
                <a:ext cx="609600" cy="101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909" name="Picture 37"/>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292352" y="4229472"/>
                <a:ext cx="609600" cy="101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grpSp>
        <p:grpSp>
          <p:nvGrpSpPr>
            <p:cNvPr id="630818" name="Group 38"/>
            <p:cNvGrpSpPr>
              <a:grpSpLocks/>
            </p:cNvGrpSpPr>
            <p:nvPr/>
          </p:nvGrpSpPr>
          <p:grpSpPr bwMode="auto">
            <a:xfrm>
              <a:off x="7092280" y="2780928"/>
              <a:ext cx="288032" cy="432048"/>
              <a:chOff x="5436096" y="3933056"/>
              <a:chExt cx="762000" cy="1171575"/>
            </a:xfrm>
          </p:grpSpPr>
          <p:pic>
            <p:nvPicPr>
              <p:cNvPr id="630905" name="Picture 3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436096" y="3933056"/>
                <a:ext cx="609600" cy="101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906" name="Picture 4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588496" y="4085456"/>
                <a:ext cx="609600" cy="101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grpSp>
        <p:pic>
          <p:nvPicPr>
            <p:cNvPr id="630819" name="Picture 4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596335" y="2402305"/>
              <a:ext cx="785337" cy="810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820" name="Picture 4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308304" y="5285497"/>
              <a:ext cx="432048" cy="59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821" name="Picture 4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04048" y="4932015"/>
              <a:ext cx="829816" cy="1002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0822" name="Picture 4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532440" y="2635374"/>
              <a:ext cx="381435" cy="5776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0823"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flipH="1">
              <a:off x="3275856" y="5292055"/>
              <a:ext cx="936104"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46"/>
            <p:cNvSpPr/>
            <p:nvPr/>
          </p:nvSpPr>
          <p:spPr>
            <a:xfrm>
              <a:off x="3624263" y="2060288"/>
              <a:ext cx="1165225" cy="1125291"/>
            </a:xfrm>
            <a:custGeom>
              <a:avLst/>
              <a:gdLst>
                <a:gd name="connsiteX0" fmla="*/ 0 w 1164566"/>
                <a:gd name="connsiteY0" fmla="*/ 905774 h 1026544"/>
                <a:gd name="connsiteX1" fmla="*/ 0 w 1164566"/>
                <a:gd name="connsiteY1" fmla="*/ 1026544 h 1026544"/>
                <a:gd name="connsiteX2" fmla="*/ 1017917 w 1164566"/>
                <a:gd name="connsiteY2" fmla="*/ 1026544 h 1026544"/>
                <a:gd name="connsiteX3" fmla="*/ 1017917 w 1164566"/>
                <a:gd name="connsiteY3" fmla="*/ 0 h 1026544"/>
                <a:gd name="connsiteX4" fmla="*/ 1164566 w 1164566"/>
                <a:gd name="connsiteY4" fmla="*/ 0 h 1026544"/>
                <a:gd name="connsiteX5" fmla="*/ 1164566 w 1164566"/>
                <a:gd name="connsiteY5" fmla="*/ 129397 h 1026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4566" h="1026544">
                  <a:moveTo>
                    <a:pt x="0" y="905774"/>
                  </a:moveTo>
                  <a:lnTo>
                    <a:pt x="0" y="1026544"/>
                  </a:lnTo>
                  <a:lnTo>
                    <a:pt x="1017917" y="1026544"/>
                  </a:lnTo>
                  <a:lnTo>
                    <a:pt x="1017917" y="0"/>
                  </a:lnTo>
                  <a:lnTo>
                    <a:pt x="1164566" y="0"/>
                  </a:lnTo>
                  <a:lnTo>
                    <a:pt x="1164566" y="129397"/>
                  </a:lnTo>
                </a:path>
              </a:pathLst>
            </a:custGeom>
            <a:ln w="28575">
              <a:solidFill>
                <a:schemeClr val="accent5">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48" name="Freeform 47"/>
            <p:cNvSpPr/>
            <p:nvPr/>
          </p:nvSpPr>
          <p:spPr>
            <a:xfrm>
              <a:off x="5057775" y="2277507"/>
              <a:ext cx="223838" cy="111059"/>
            </a:xfrm>
            <a:custGeom>
              <a:avLst/>
              <a:gdLst>
                <a:gd name="connsiteX0" fmla="*/ 0 w 224287"/>
                <a:gd name="connsiteY0" fmla="*/ 0 h 112143"/>
                <a:gd name="connsiteX1" fmla="*/ 224287 w 224287"/>
                <a:gd name="connsiteY1" fmla="*/ 0 h 112143"/>
                <a:gd name="connsiteX2" fmla="*/ 224287 w 224287"/>
                <a:gd name="connsiteY2" fmla="*/ 112143 h 112143"/>
              </a:gdLst>
              <a:ahLst/>
              <a:cxnLst>
                <a:cxn ang="0">
                  <a:pos x="connsiteX0" y="connsiteY0"/>
                </a:cxn>
                <a:cxn ang="0">
                  <a:pos x="connsiteX1" y="connsiteY1"/>
                </a:cxn>
                <a:cxn ang="0">
                  <a:pos x="connsiteX2" y="connsiteY2"/>
                </a:cxn>
              </a:cxnLst>
              <a:rect l="l" t="t" r="r" b="b"/>
              <a:pathLst>
                <a:path w="224287" h="112143">
                  <a:moveTo>
                    <a:pt x="0" y="0"/>
                  </a:moveTo>
                  <a:lnTo>
                    <a:pt x="224287" y="0"/>
                  </a:lnTo>
                  <a:lnTo>
                    <a:pt x="224287" y="112143"/>
                  </a:lnTo>
                </a:path>
              </a:pathLst>
            </a:custGeom>
            <a:ln w="28575">
              <a:solidFill>
                <a:schemeClr val="accent5">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49" name="Freeform 48"/>
            <p:cNvSpPr/>
            <p:nvPr/>
          </p:nvSpPr>
          <p:spPr>
            <a:xfrm>
              <a:off x="6380163" y="2651515"/>
              <a:ext cx="215900" cy="86561"/>
            </a:xfrm>
            <a:custGeom>
              <a:avLst/>
              <a:gdLst>
                <a:gd name="connsiteX0" fmla="*/ 0 w 215661"/>
                <a:gd name="connsiteY0" fmla="*/ 0 h 86264"/>
                <a:gd name="connsiteX1" fmla="*/ 0 w 215661"/>
                <a:gd name="connsiteY1" fmla="*/ 86264 h 86264"/>
                <a:gd name="connsiteX2" fmla="*/ 215661 w 215661"/>
                <a:gd name="connsiteY2" fmla="*/ 86264 h 86264"/>
              </a:gdLst>
              <a:ahLst/>
              <a:cxnLst>
                <a:cxn ang="0">
                  <a:pos x="connsiteX0" y="connsiteY0"/>
                </a:cxn>
                <a:cxn ang="0">
                  <a:pos x="connsiteX1" y="connsiteY1"/>
                </a:cxn>
                <a:cxn ang="0">
                  <a:pos x="connsiteX2" y="connsiteY2"/>
                </a:cxn>
              </a:cxnLst>
              <a:rect l="l" t="t" r="r" b="b"/>
              <a:pathLst>
                <a:path w="215661" h="86264">
                  <a:moveTo>
                    <a:pt x="0" y="0"/>
                  </a:moveTo>
                  <a:lnTo>
                    <a:pt x="0" y="86264"/>
                  </a:lnTo>
                  <a:lnTo>
                    <a:pt x="215661" y="86264"/>
                  </a:lnTo>
                </a:path>
              </a:pathLst>
            </a:custGeom>
            <a:ln w="28575">
              <a:solidFill>
                <a:schemeClr val="accent5">
                  <a:lumMod val="50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50" name="Freeform 49"/>
            <p:cNvSpPr/>
            <p:nvPr/>
          </p:nvSpPr>
          <p:spPr>
            <a:xfrm>
              <a:off x="6932612" y="2832803"/>
              <a:ext cx="163512" cy="0"/>
            </a:xfrm>
            <a:custGeom>
              <a:avLst/>
              <a:gdLst>
                <a:gd name="connsiteX0" fmla="*/ 0 w 163902"/>
                <a:gd name="connsiteY0" fmla="*/ 0 h 0"/>
                <a:gd name="connsiteX1" fmla="*/ 163902 w 163902"/>
                <a:gd name="connsiteY1" fmla="*/ 0 h 0"/>
              </a:gdLst>
              <a:ahLst/>
              <a:cxnLst>
                <a:cxn ang="0">
                  <a:pos x="connsiteX0" y="connsiteY0"/>
                </a:cxn>
                <a:cxn ang="0">
                  <a:pos x="connsiteX1" y="connsiteY1"/>
                </a:cxn>
              </a:cxnLst>
              <a:rect l="l" t="t" r="r" b="b"/>
              <a:pathLst>
                <a:path w="163902">
                  <a:moveTo>
                    <a:pt x="0" y="0"/>
                  </a:moveTo>
                  <a:lnTo>
                    <a:pt x="163902" y="0"/>
                  </a:lnTo>
                </a:path>
              </a:pathLst>
            </a:custGeom>
            <a:ln w="28575">
              <a:solidFill>
                <a:schemeClr val="accent5">
                  <a:lumMod val="50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51" name="Freeform 50"/>
            <p:cNvSpPr/>
            <p:nvPr/>
          </p:nvSpPr>
          <p:spPr>
            <a:xfrm>
              <a:off x="7364412" y="2538823"/>
              <a:ext cx="241300" cy="388707"/>
            </a:xfrm>
            <a:custGeom>
              <a:avLst/>
              <a:gdLst>
                <a:gd name="connsiteX0" fmla="*/ 0 w 241539"/>
                <a:gd name="connsiteY0" fmla="*/ 388188 h 388188"/>
                <a:gd name="connsiteX1" fmla="*/ 129396 w 241539"/>
                <a:gd name="connsiteY1" fmla="*/ 388188 h 388188"/>
                <a:gd name="connsiteX2" fmla="*/ 129396 w 241539"/>
                <a:gd name="connsiteY2" fmla="*/ 0 h 388188"/>
                <a:gd name="connsiteX3" fmla="*/ 241539 w 241539"/>
                <a:gd name="connsiteY3" fmla="*/ 0 h 388188"/>
              </a:gdLst>
              <a:ahLst/>
              <a:cxnLst>
                <a:cxn ang="0">
                  <a:pos x="connsiteX0" y="connsiteY0"/>
                </a:cxn>
                <a:cxn ang="0">
                  <a:pos x="connsiteX1" y="connsiteY1"/>
                </a:cxn>
                <a:cxn ang="0">
                  <a:pos x="connsiteX2" y="connsiteY2"/>
                </a:cxn>
                <a:cxn ang="0">
                  <a:pos x="connsiteX3" y="connsiteY3"/>
                </a:cxn>
              </a:cxnLst>
              <a:rect l="l" t="t" r="r" b="b"/>
              <a:pathLst>
                <a:path w="241539" h="388188">
                  <a:moveTo>
                    <a:pt x="0" y="388188"/>
                  </a:moveTo>
                  <a:lnTo>
                    <a:pt x="129396" y="388188"/>
                  </a:lnTo>
                  <a:lnTo>
                    <a:pt x="129396" y="0"/>
                  </a:lnTo>
                  <a:lnTo>
                    <a:pt x="241539" y="0"/>
                  </a:lnTo>
                </a:path>
              </a:pathLst>
            </a:custGeom>
            <a:ln w="28575">
              <a:solidFill>
                <a:schemeClr val="accent5">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52" name="Freeform 51"/>
            <p:cNvSpPr/>
            <p:nvPr/>
          </p:nvSpPr>
          <p:spPr>
            <a:xfrm>
              <a:off x="8364537" y="2546988"/>
              <a:ext cx="268287" cy="173122"/>
            </a:xfrm>
            <a:custGeom>
              <a:avLst/>
              <a:gdLst>
                <a:gd name="connsiteX0" fmla="*/ 0 w 267419"/>
                <a:gd name="connsiteY0" fmla="*/ 0 h 172528"/>
                <a:gd name="connsiteX1" fmla="*/ 267419 w 267419"/>
                <a:gd name="connsiteY1" fmla="*/ 0 h 172528"/>
                <a:gd name="connsiteX2" fmla="*/ 267419 w 267419"/>
                <a:gd name="connsiteY2" fmla="*/ 172528 h 172528"/>
              </a:gdLst>
              <a:ahLst/>
              <a:cxnLst>
                <a:cxn ang="0">
                  <a:pos x="connsiteX0" y="connsiteY0"/>
                </a:cxn>
                <a:cxn ang="0">
                  <a:pos x="connsiteX1" y="connsiteY1"/>
                </a:cxn>
                <a:cxn ang="0">
                  <a:pos x="connsiteX2" y="connsiteY2"/>
                </a:cxn>
              </a:cxnLst>
              <a:rect l="l" t="t" r="r" b="b"/>
              <a:pathLst>
                <a:path w="267419" h="172528">
                  <a:moveTo>
                    <a:pt x="0" y="0"/>
                  </a:moveTo>
                  <a:lnTo>
                    <a:pt x="267419" y="0"/>
                  </a:lnTo>
                  <a:lnTo>
                    <a:pt x="267419" y="172528"/>
                  </a:lnTo>
                </a:path>
              </a:pathLst>
            </a:custGeom>
            <a:ln w="28575">
              <a:solidFill>
                <a:schemeClr val="accent5">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pic>
          <p:nvPicPr>
            <p:cNvPr id="630830" name="Picture 5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496" y="2354394"/>
              <a:ext cx="426229" cy="426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Freeform 53"/>
            <p:cNvSpPr/>
            <p:nvPr/>
          </p:nvSpPr>
          <p:spPr>
            <a:xfrm>
              <a:off x="428626" y="2151748"/>
              <a:ext cx="155575" cy="507933"/>
            </a:xfrm>
            <a:custGeom>
              <a:avLst/>
              <a:gdLst>
                <a:gd name="connsiteX0" fmla="*/ 155276 w 155276"/>
                <a:gd name="connsiteY0" fmla="*/ 0 h 508959"/>
                <a:gd name="connsiteX1" fmla="*/ 155276 w 155276"/>
                <a:gd name="connsiteY1" fmla="*/ 508959 h 508959"/>
                <a:gd name="connsiteX2" fmla="*/ 0 w 155276"/>
                <a:gd name="connsiteY2" fmla="*/ 508959 h 508959"/>
              </a:gdLst>
              <a:ahLst/>
              <a:cxnLst>
                <a:cxn ang="0">
                  <a:pos x="connsiteX0" y="connsiteY0"/>
                </a:cxn>
                <a:cxn ang="0">
                  <a:pos x="connsiteX1" y="connsiteY1"/>
                </a:cxn>
                <a:cxn ang="0">
                  <a:pos x="connsiteX2" y="connsiteY2"/>
                </a:cxn>
              </a:cxnLst>
              <a:rect l="l" t="t" r="r" b="b"/>
              <a:pathLst>
                <a:path w="155276" h="508959">
                  <a:moveTo>
                    <a:pt x="155276" y="0"/>
                  </a:moveTo>
                  <a:lnTo>
                    <a:pt x="155276" y="508959"/>
                  </a:lnTo>
                  <a:lnTo>
                    <a:pt x="0" y="508959"/>
                  </a:lnTo>
                </a:path>
              </a:pathLst>
            </a:cu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55" name="Freeform 54"/>
            <p:cNvSpPr/>
            <p:nvPr/>
          </p:nvSpPr>
          <p:spPr>
            <a:xfrm>
              <a:off x="584201" y="2012925"/>
              <a:ext cx="301625" cy="0"/>
            </a:xfrm>
            <a:custGeom>
              <a:avLst/>
              <a:gdLst>
                <a:gd name="connsiteX0" fmla="*/ 0 w 301924"/>
                <a:gd name="connsiteY0" fmla="*/ 0 h 0"/>
                <a:gd name="connsiteX1" fmla="*/ 301924 w 301924"/>
                <a:gd name="connsiteY1" fmla="*/ 0 h 0"/>
              </a:gdLst>
              <a:ahLst/>
              <a:cxnLst>
                <a:cxn ang="0">
                  <a:pos x="connsiteX0" y="connsiteY0"/>
                </a:cxn>
                <a:cxn ang="0">
                  <a:pos x="connsiteX1" y="connsiteY1"/>
                </a:cxn>
              </a:cxnLst>
              <a:rect l="l" t="t" r="r" b="b"/>
              <a:pathLst>
                <a:path w="301924">
                  <a:moveTo>
                    <a:pt x="0" y="0"/>
                  </a:moveTo>
                  <a:lnTo>
                    <a:pt x="301924" y="0"/>
                  </a:lnTo>
                </a:path>
              </a:pathLst>
            </a:cu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56" name="Freeform 55"/>
            <p:cNvSpPr/>
            <p:nvPr/>
          </p:nvSpPr>
          <p:spPr>
            <a:xfrm>
              <a:off x="584201" y="2470227"/>
              <a:ext cx="327025" cy="0"/>
            </a:xfrm>
            <a:custGeom>
              <a:avLst/>
              <a:gdLst>
                <a:gd name="connsiteX0" fmla="*/ 0 w 327803"/>
                <a:gd name="connsiteY0" fmla="*/ 0 h 0"/>
                <a:gd name="connsiteX1" fmla="*/ 327803 w 327803"/>
                <a:gd name="connsiteY1" fmla="*/ 0 h 0"/>
              </a:gdLst>
              <a:ahLst/>
              <a:cxnLst>
                <a:cxn ang="0">
                  <a:pos x="connsiteX0" y="connsiteY0"/>
                </a:cxn>
                <a:cxn ang="0">
                  <a:pos x="connsiteX1" y="connsiteY1"/>
                </a:cxn>
              </a:cxnLst>
              <a:rect l="l" t="t" r="r" b="b"/>
              <a:pathLst>
                <a:path w="327803">
                  <a:moveTo>
                    <a:pt x="0" y="0"/>
                  </a:moveTo>
                  <a:lnTo>
                    <a:pt x="327803" y="0"/>
                  </a:lnTo>
                </a:path>
              </a:pathLst>
            </a:cu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57" name="Freeform 56"/>
            <p:cNvSpPr/>
            <p:nvPr/>
          </p:nvSpPr>
          <p:spPr>
            <a:xfrm>
              <a:off x="3995738" y="1196313"/>
              <a:ext cx="284162" cy="233550"/>
            </a:xfrm>
            <a:custGeom>
              <a:avLst/>
              <a:gdLst>
                <a:gd name="connsiteX0" fmla="*/ 0 w 284672"/>
                <a:gd name="connsiteY0" fmla="*/ 0 h 232913"/>
                <a:gd name="connsiteX1" fmla="*/ 0 w 284672"/>
                <a:gd name="connsiteY1" fmla="*/ 232913 h 232913"/>
                <a:gd name="connsiteX2" fmla="*/ 284672 w 284672"/>
                <a:gd name="connsiteY2" fmla="*/ 146649 h 232913"/>
                <a:gd name="connsiteX3" fmla="*/ 284672 w 284672"/>
                <a:gd name="connsiteY3" fmla="*/ 51758 h 232913"/>
                <a:gd name="connsiteX4" fmla="*/ 0 w 284672"/>
                <a:gd name="connsiteY4" fmla="*/ 0 h 2329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72" h="232913">
                  <a:moveTo>
                    <a:pt x="0" y="0"/>
                  </a:moveTo>
                  <a:lnTo>
                    <a:pt x="0" y="232913"/>
                  </a:lnTo>
                  <a:lnTo>
                    <a:pt x="284672" y="146649"/>
                  </a:lnTo>
                  <a:lnTo>
                    <a:pt x="284672" y="51758"/>
                  </a:lnTo>
                  <a:lnTo>
                    <a:pt x="0" y="0"/>
                  </a:lnTo>
                  <a:close/>
                </a:path>
              </a:pathLst>
            </a:custGeom>
            <a:ln w="127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th-TH"/>
            </a:p>
          </p:txBody>
        </p:sp>
        <p:sp>
          <p:nvSpPr>
            <p:cNvPr id="58" name="Oval 57"/>
            <p:cNvSpPr/>
            <p:nvPr/>
          </p:nvSpPr>
          <p:spPr>
            <a:xfrm>
              <a:off x="4427538" y="1196313"/>
              <a:ext cx="215900" cy="217218"/>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050" b="1" dirty="0">
                  <a:latin typeface="Arial" pitchFamily="34" charset="0"/>
                  <a:cs typeface="Arial" pitchFamily="34" charset="0"/>
                </a:rPr>
                <a:t>G</a:t>
              </a:r>
              <a:endParaRPr lang="th-TH" sz="1050" b="1" dirty="0">
                <a:latin typeface="Arial" pitchFamily="34" charset="0"/>
              </a:endParaRPr>
            </a:p>
          </p:txBody>
        </p:sp>
        <p:sp>
          <p:nvSpPr>
            <p:cNvPr id="59" name="Freeform 58"/>
            <p:cNvSpPr/>
            <p:nvPr/>
          </p:nvSpPr>
          <p:spPr>
            <a:xfrm>
              <a:off x="3711575" y="1305739"/>
              <a:ext cx="284163" cy="107793"/>
            </a:xfrm>
            <a:custGeom>
              <a:avLst/>
              <a:gdLst>
                <a:gd name="connsiteX0" fmla="*/ 0 w 577970"/>
                <a:gd name="connsiteY0" fmla="*/ 138023 h 138023"/>
                <a:gd name="connsiteX1" fmla="*/ 0 w 577970"/>
                <a:gd name="connsiteY1" fmla="*/ 0 h 138023"/>
                <a:gd name="connsiteX2" fmla="*/ 577970 w 577970"/>
                <a:gd name="connsiteY2" fmla="*/ 0 h 138023"/>
              </a:gdLst>
              <a:ahLst/>
              <a:cxnLst>
                <a:cxn ang="0">
                  <a:pos x="connsiteX0" y="connsiteY0"/>
                </a:cxn>
                <a:cxn ang="0">
                  <a:pos x="connsiteX1" y="connsiteY1"/>
                </a:cxn>
                <a:cxn ang="0">
                  <a:pos x="connsiteX2" y="connsiteY2"/>
                </a:cxn>
              </a:cxnLst>
              <a:rect l="l" t="t" r="r" b="b"/>
              <a:pathLst>
                <a:path w="577970" h="138023">
                  <a:moveTo>
                    <a:pt x="0" y="138023"/>
                  </a:moveTo>
                  <a:lnTo>
                    <a:pt x="0" y="0"/>
                  </a:lnTo>
                  <a:lnTo>
                    <a:pt x="577970" y="0"/>
                  </a:lnTo>
                </a:path>
              </a:pathLst>
            </a:custGeom>
            <a:ln w="19050">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60" name="Freeform 59"/>
            <p:cNvSpPr/>
            <p:nvPr/>
          </p:nvSpPr>
          <p:spPr>
            <a:xfrm>
              <a:off x="4276725" y="1287774"/>
              <a:ext cx="180975" cy="0"/>
            </a:xfrm>
            <a:custGeom>
              <a:avLst/>
              <a:gdLst>
                <a:gd name="connsiteX0" fmla="*/ 0 w 181155"/>
                <a:gd name="connsiteY0" fmla="*/ 0 h 0"/>
                <a:gd name="connsiteX1" fmla="*/ 181155 w 181155"/>
                <a:gd name="connsiteY1" fmla="*/ 0 h 0"/>
              </a:gdLst>
              <a:ahLst/>
              <a:cxnLst>
                <a:cxn ang="0">
                  <a:pos x="connsiteX0" y="connsiteY0"/>
                </a:cxn>
                <a:cxn ang="0">
                  <a:pos x="connsiteX1" y="connsiteY1"/>
                </a:cxn>
              </a:cxnLst>
              <a:rect l="l" t="t" r="r" b="b"/>
              <a:pathLst>
                <a:path w="181155">
                  <a:moveTo>
                    <a:pt x="0" y="0"/>
                  </a:moveTo>
                  <a:lnTo>
                    <a:pt x="181155" y="0"/>
                  </a:lnTo>
                </a:path>
              </a:pathLst>
            </a:custGeom>
            <a:ln w="19050">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61" name="Freeform 60"/>
            <p:cNvSpPr/>
            <p:nvPr/>
          </p:nvSpPr>
          <p:spPr>
            <a:xfrm flipV="1">
              <a:off x="5795963" y="5625614"/>
              <a:ext cx="1512887" cy="45730"/>
            </a:xfrm>
            <a:custGeom>
              <a:avLst/>
              <a:gdLst>
                <a:gd name="connsiteX0" fmla="*/ 897147 w 897147"/>
                <a:gd name="connsiteY0" fmla="*/ 0 h 0"/>
                <a:gd name="connsiteX1" fmla="*/ 0 w 897147"/>
                <a:gd name="connsiteY1" fmla="*/ 0 h 0"/>
              </a:gdLst>
              <a:ahLst/>
              <a:cxnLst>
                <a:cxn ang="0">
                  <a:pos x="connsiteX0" y="connsiteY0"/>
                </a:cxn>
                <a:cxn ang="0">
                  <a:pos x="connsiteX1" y="connsiteY1"/>
                </a:cxn>
              </a:cxnLst>
              <a:rect l="l" t="t" r="r" b="b"/>
              <a:pathLst>
                <a:path w="897147">
                  <a:moveTo>
                    <a:pt x="897147" y="0"/>
                  </a:moveTo>
                  <a:lnTo>
                    <a:pt x="0" y="0"/>
                  </a:lnTo>
                </a:path>
              </a:pathLst>
            </a:custGeom>
            <a:ln w="19050">
              <a:solidFill>
                <a:schemeClr val="bg2">
                  <a:lumMod val="50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pic>
          <p:nvPicPr>
            <p:cNvPr id="630839" name="Picture 6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923928" y="4548846"/>
              <a:ext cx="664489" cy="515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 name="Freeform 62"/>
            <p:cNvSpPr/>
            <p:nvPr/>
          </p:nvSpPr>
          <p:spPr>
            <a:xfrm>
              <a:off x="4511675" y="4541154"/>
              <a:ext cx="565150" cy="1095892"/>
            </a:xfrm>
            <a:custGeom>
              <a:avLst/>
              <a:gdLst>
                <a:gd name="connsiteX0" fmla="*/ 698739 w 698739"/>
                <a:gd name="connsiteY0" fmla="*/ 1095554 h 1095554"/>
                <a:gd name="connsiteX1" fmla="*/ 336430 w 698739"/>
                <a:gd name="connsiteY1" fmla="*/ 1095554 h 1095554"/>
                <a:gd name="connsiteX2" fmla="*/ 336430 w 698739"/>
                <a:gd name="connsiteY2" fmla="*/ 0 h 1095554"/>
                <a:gd name="connsiteX3" fmla="*/ 0 w 698739"/>
                <a:gd name="connsiteY3" fmla="*/ 0 h 1095554"/>
                <a:gd name="connsiteX4" fmla="*/ 0 w 698739"/>
                <a:gd name="connsiteY4" fmla="*/ 112143 h 1095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8739" h="1095554">
                  <a:moveTo>
                    <a:pt x="698739" y="1095554"/>
                  </a:moveTo>
                  <a:lnTo>
                    <a:pt x="336430" y="1095554"/>
                  </a:lnTo>
                  <a:lnTo>
                    <a:pt x="336430" y="0"/>
                  </a:lnTo>
                  <a:lnTo>
                    <a:pt x="0" y="0"/>
                  </a:lnTo>
                  <a:lnTo>
                    <a:pt x="0" y="112143"/>
                  </a:lnTo>
                </a:path>
              </a:pathLst>
            </a:custGeom>
            <a:ln w="28575">
              <a:solidFill>
                <a:schemeClr val="bg2">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64" name="Freeform 63"/>
            <p:cNvSpPr/>
            <p:nvPr/>
          </p:nvSpPr>
          <p:spPr>
            <a:xfrm>
              <a:off x="4068763" y="5049086"/>
              <a:ext cx="0" cy="215585"/>
            </a:xfrm>
            <a:custGeom>
              <a:avLst/>
              <a:gdLst>
                <a:gd name="connsiteX0" fmla="*/ 0 w 0"/>
                <a:gd name="connsiteY0" fmla="*/ 0 h 215661"/>
                <a:gd name="connsiteX1" fmla="*/ 0 w 0"/>
                <a:gd name="connsiteY1" fmla="*/ 215661 h 215661"/>
              </a:gdLst>
              <a:ahLst/>
              <a:cxnLst>
                <a:cxn ang="0">
                  <a:pos x="connsiteX0" y="connsiteY0"/>
                </a:cxn>
                <a:cxn ang="0">
                  <a:pos x="connsiteX1" y="connsiteY1"/>
                </a:cxn>
              </a:cxnLst>
              <a:rect l="l" t="t" r="r" b="b"/>
              <a:pathLst>
                <a:path h="215661">
                  <a:moveTo>
                    <a:pt x="0" y="0"/>
                  </a:moveTo>
                  <a:lnTo>
                    <a:pt x="0" y="215661"/>
                  </a:lnTo>
                </a:path>
              </a:pathLst>
            </a:custGeom>
            <a:ln w="28575">
              <a:solidFill>
                <a:schemeClr val="bg2">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65" name="Freeform 64"/>
            <p:cNvSpPr/>
            <p:nvPr/>
          </p:nvSpPr>
          <p:spPr>
            <a:xfrm>
              <a:off x="1644651" y="2832803"/>
              <a:ext cx="587375" cy="0"/>
            </a:xfrm>
            <a:custGeom>
              <a:avLst/>
              <a:gdLst>
                <a:gd name="connsiteX0" fmla="*/ 0 w 586596"/>
                <a:gd name="connsiteY0" fmla="*/ 0 h 0"/>
                <a:gd name="connsiteX1" fmla="*/ 586596 w 586596"/>
                <a:gd name="connsiteY1" fmla="*/ 0 h 0"/>
              </a:gdLst>
              <a:ahLst/>
              <a:cxnLst>
                <a:cxn ang="0">
                  <a:pos x="connsiteX0" y="connsiteY0"/>
                </a:cxn>
                <a:cxn ang="0">
                  <a:pos x="connsiteX1" y="connsiteY1"/>
                </a:cxn>
              </a:cxnLst>
              <a:rect l="l" t="t" r="r" b="b"/>
              <a:pathLst>
                <a:path w="586596">
                  <a:moveTo>
                    <a:pt x="0" y="0"/>
                  </a:moveTo>
                  <a:lnTo>
                    <a:pt x="586596" y="0"/>
                  </a:lnTo>
                </a:path>
              </a:pathLst>
            </a:custGeom>
            <a:ln w="19050">
              <a:solidFill>
                <a:schemeClr val="bg2">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66" name="Freeform 65"/>
            <p:cNvSpPr/>
            <p:nvPr/>
          </p:nvSpPr>
          <p:spPr>
            <a:xfrm>
              <a:off x="5465763" y="2280774"/>
              <a:ext cx="319087" cy="362576"/>
            </a:xfrm>
            <a:custGeom>
              <a:avLst/>
              <a:gdLst>
                <a:gd name="connsiteX0" fmla="*/ 0 w 319178"/>
                <a:gd name="connsiteY0" fmla="*/ 362310 h 362310"/>
                <a:gd name="connsiteX1" fmla="*/ 146650 w 319178"/>
                <a:gd name="connsiteY1" fmla="*/ 362310 h 362310"/>
                <a:gd name="connsiteX2" fmla="*/ 146650 w 319178"/>
                <a:gd name="connsiteY2" fmla="*/ 0 h 362310"/>
                <a:gd name="connsiteX3" fmla="*/ 319178 w 319178"/>
                <a:gd name="connsiteY3" fmla="*/ 0 h 362310"/>
                <a:gd name="connsiteX4" fmla="*/ 319178 w 319178"/>
                <a:gd name="connsiteY4" fmla="*/ 189781 h 362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178" h="362310">
                  <a:moveTo>
                    <a:pt x="0" y="362310"/>
                  </a:moveTo>
                  <a:lnTo>
                    <a:pt x="146650" y="362310"/>
                  </a:lnTo>
                  <a:lnTo>
                    <a:pt x="146650" y="0"/>
                  </a:lnTo>
                  <a:lnTo>
                    <a:pt x="319178" y="0"/>
                  </a:lnTo>
                  <a:lnTo>
                    <a:pt x="319178" y="189781"/>
                  </a:lnTo>
                </a:path>
              </a:pathLst>
            </a:custGeom>
            <a:ln w="28575">
              <a:solidFill>
                <a:schemeClr val="accent5">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67" name="Freeform 66"/>
            <p:cNvSpPr/>
            <p:nvPr/>
          </p:nvSpPr>
          <p:spPr>
            <a:xfrm>
              <a:off x="2593975" y="2021091"/>
              <a:ext cx="155575" cy="914605"/>
            </a:xfrm>
            <a:custGeom>
              <a:avLst/>
              <a:gdLst>
                <a:gd name="connsiteX0" fmla="*/ 0 w 155276"/>
                <a:gd name="connsiteY0" fmla="*/ 0 h 914400"/>
                <a:gd name="connsiteX1" fmla="*/ 155276 w 155276"/>
                <a:gd name="connsiteY1" fmla="*/ 0 h 914400"/>
                <a:gd name="connsiteX2" fmla="*/ 155276 w 155276"/>
                <a:gd name="connsiteY2" fmla="*/ 914400 h 914400"/>
                <a:gd name="connsiteX3" fmla="*/ 0 w 155276"/>
                <a:gd name="connsiteY3" fmla="*/ 914400 h 914400"/>
              </a:gdLst>
              <a:ahLst/>
              <a:cxnLst>
                <a:cxn ang="0">
                  <a:pos x="connsiteX0" y="connsiteY0"/>
                </a:cxn>
                <a:cxn ang="0">
                  <a:pos x="connsiteX1" y="connsiteY1"/>
                </a:cxn>
                <a:cxn ang="0">
                  <a:pos x="connsiteX2" y="connsiteY2"/>
                </a:cxn>
                <a:cxn ang="0">
                  <a:pos x="connsiteX3" y="connsiteY3"/>
                </a:cxn>
              </a:cxnLst>
              <a:rect l="l" t="t" r="r" b="b"/>
              <a:pathLst>
                <a:path w="155276" h="914400">
                  <a:moveTo>
                    <a:pt x="0" y="0"/>
                  </a:moveTo>
                  <a:lnTo>
                    <a:pt x="155276" y="0"/>
                  </a:lnTo>
                  <a:lnTo>
                    <a:pt x="155276" y="914400"/>
                  </a:lnTo>
                  <a:lnTo>
                    <a:pt x="0" y="914400"/>
                  </a:lnTo>
                </a:path>
              </a:pathLst>
            </a:custGeom>
            <a:ln w="381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68" name="Freeform 67"/>
            <p:cNvSpPr/>
            <p:nvPr/>
          </p:nvSpPr>
          <p:spPr>
            <a:xfrm>
              <a:off x="2740025" y="2383666"/>
              <a:ext cx="534988" cy="0"/>
            </a:xfrm>
            <a:custGeom>
              <a:avLst/>
              <a:gdLst>
                <a:gd name="connsiteX0" fmla="*/ 0 w 534838"/>
                <a:gd name="connsiteY0" fmla="*/ 0 h 0"/>
                <a:gd name="connsiteX1" fmla="*/ 534838 w 534838"/>
                <a:gd name="connsiteY1" fmla="*/ 0 h 0"/>
              </a:gdLst>
              <a:ahLst/>
              <a:cxnLst>
                <a:cxn ang="0">
                  <a:pos x="connsiteX0" y="connsiteY0"/>
                </a:cxn>
                <a:cxn ang="0">
                  <a:pos x="connsiteX1" y="connsiteY1"/>
                </a:cxn>
              </a:cxnLst>
              <a:rect l="l" t="t" r="r" b="b"/>
              <a:pathLst>
                <a:path w="534838">
                  <a:moveTo>
                    <a:pt x="0" y="0"/>
                  </a:moveTo>
                  <a:lnTo>
                    <a:pt x="534838" y="0"/>
                  </a:lnTo>
                </a:path>
              </a:pathLst>
            </a:cu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pic>
          <p:nvPicPr>
            <p:cNvPr id="630846" name="Picture 6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411760" y="5285497"/>
              <a:ext cx="288032" cy="59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pic>
          <p:nvPicPr>
            <p:cNvPr id="630847" name="Picture 6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15385" y="5229200"/>
              <a:ext cx="536335" cy="6480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0848" name="Picture 7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39552" y="4926276"/>
              <a:ext cx="576064" cy="4469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0849"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flipH="1">
              <a:off x="179512" y="5445224"/>
              <a:ext cx="576064" cy="404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Freeform 72"/>
            <p:cNvSpPr/>
            <p:nvPr/>
          </p:nvSpPr>
          <p:spPr>
            <a:xfrm>
              <a:off x="7492999" y="3056554"/>
              <a:ext cx="103188" cy="2244048"/>
            </a:xfrm>
            <a:custGeom>
              <a:avLst/>
              <a:gdLst>
                <a:gd name="connsiteX0" fmla="*/ 112143 w 112143"/>
                <a:gd name="connsiteY0" fmla="*/ 0 h 2001328"/>
                <a:gd name="connsiteX1" fmla="*/ 0 w 112143"/>
                <a:gd name="connsiteY1" fmla="*/ 0 h 2001328"/>
                <a:gd name="connsiteX2" fmla="*/ 0 w 112143"/>
                <a:gd name="connsiteY2" fmla="*/ 2001328 h 2001328"/>
              </a:gdLst>
              <a:ahLst/>
              <a:cxnLst>
                <a:cxn ang="0">
                  <a:pos x="connsiteX0" y="connsiteY0"/>
                </a:cxn>
                <a:cxn ang="0">
                  <a:pos x="connsiteX1" y="connsiteY1"/>
                </a:cxn>
                <a:cxn ang="0">
                  <a:pos x="connsiteX2" y="connsiteY2"/>
                </a:cxn>
              </a:cxnLst>
              <a:rect l="l" t="t" r="r" b="b"/>
              <a:pathLst>
                <a:path w="112143" h="2001328">
                  <a:moveTo>
                    <a:pt x="112143" y="0"/>
                  </a:moveTo>
                  <a:lnTo>
                    <a:pt x="0" y="0"/>
                  </a:lnTo>
                  <a:lnTo>
                    <a:pt x="0" y="2001328"/>
                  </a:lnTo>
                </a:path>
              </a:pathLst>
            </a:cu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74" name="Freeform 73"/>
            <p:cNvSpPr/>
            <p:nvPr/>
          </p:nvSpPr>
          <p:spPr>
            <a:xfrm>
              <a:off x="2555875" y="2478393"/>
              <a:ext cx="2565399" cy="2820577"/>
            </a:xfrm>
            <a:custGeom>
              <a:avLst/>
              <a:gdLst>
                <a:gd name="connsiteX0" fmla="*/ 2380891 w 2441276"/>
                <a:gd name="connsiteY0" fmla="*/ 0 h 2820838"/>
                <a:gd name="connsiteX1" fmla="*/ 2441276 w 2441276"/>
                <a:gd name="connsiteY1" fmla="*/ 0 h 2820838"/>
                <a:gd name="connsiteX2" fmla="*/ 2441276 w 2441276"/>
                <a:gd name="connsiteY2" fmla="*/ 1639019 h 2820838"/>
                <a:gd name="connsiteX3" fmla="*/ 0 w 2441276"/>
                <a:gd name="connsiteY3" fmla="*/ 1639019 h 2820838"/>
                <a:gd name="connsiteX4" fmla="*/ 0 w 2441276"/>
                <a:gd name="connsiteY4" fmla="*/ 2820838 h 2820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1276" h="2820838">
                  <a:moveTo>
                    <a:pt x="2380891" y="0"/>
                  </a:moveTo>
                  <a:lnTo>
                    <a:pt x="2441276" y="0"/>
                  </a:lnTo>
                  <a:lnTo>
                    <a:pt x="2441276" y="1639019"/>
                  </a:lnTo>
                  <a:lnTo>
                    <a:pt x="0" y="1639019"/>
                  </a:lnTo>
                  <a:lnTo>
                    <a:pt x="0" y="2820838"/>
                  </a:lnTo>
                </a:path>
              </a:pathLst>
            </a:custGeom>
            <a:ln w="19050">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75" name="Freeform 74"/>
            <p:cNvSpPr/>
            <p:nvPr/>
          </p:nvSpPr>
          <p:spPr>
            <a:xfrm>
              <a:off x="2017714" y="5635414"/>
              <a:ext cx="396875" cy="0"/>
            </a:xfrm>
            <a:custGeom>
              <a:avLst/>
              <a:gdLst>
                <a:gd name="connsiteX0" fmla="*/ 396815 w 396815"/>
                <a:gd name="connsiteY0" fmla="*/ 0 h 0"/>
                <a:gd name="connsiteX1" fmla="*/ 0 w 396815"/>
                <a:gd name="connsiteY1" fmla="*/ 0 h 0"/>
              </a:gdLst>
              <a:ahLst/>
              <a:cxnLst>
                <a:cxn ang="0">
                  <a:pos x="connsiteX0" y="connsiteY0"/>
                </a:cxn>
                <a:cxn ang="0">
                  <a:pos x="connsiteX1" y="connsiteY1"/>
                </a:cxn>
              </a:cxnLst>
              <a:rect l="l" t="t" r="r" b="b"/>
              <a:pathLst>
                <a:path w="396815">
                  <a:moveTo>
                    <a:pt x="396815" y="0"/>
                  </a:moveTo>
                  <a:lnTo>
                    <a:pt x="0" y="0"/>
                  </a:lnTo>
                </a:path>
              </a:pathLst>
            </a:custGeom>
            <a:ln w="19050"/>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76" name="Freeform 75"/>
            <p:cNvSpPr/>
            <p:nvPr/>
          </p:nvSpPr>
          <p:spPr>
            <a:xfrm>
              <a:off x="1042989" y="4946193"/>
              <a:ext cx="509587" cy="699019"/>
            </a:xfrm>
            <a:custGeom>
              <a:avLst/>
              <a:gdLst>
                <a:gd name="connsiteX0" fmla="*/ 508958 w 508958"/>
                <a:gd name="connsiteY0" fmla="*/ 698739 h 698739"/>
                <a:gd name="connsiteX1" fmla="*/ 241539 w 508958"/>
                <a:gd name="connsiteY1" fmla="*/ 698739 h 698739"/>
                <a:gd name="connsiteX2" fmla="*/ 241539 w 508958"/>
                <a:gd name="connsiteY2" fmla="*/ 0 h 698739"/>
                <a:gd name="connsiteX3" fmla="*/ 0 w 508958"/>
                <a:gd name="connsiteY3" fmla="*/ 0 h 698739"/>
                <a:gd name="connsiteX4" fmla="*/ 0 w 508958"/>
                <a:gd name="connsiteY4" fmla="*/ 146649 h 698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958" h="698739">
                  <a:moveTo>
                    <a:pt x="508958" y="698739"/>
                  </a:moveTo>
                  <a:lnTo>
                    <a:pt x="241539" y="698739"/>
                  </a:lnTo>
                  <a:lnTo>
                    <a:pt x="241539" y="0"/>
                  </a:lnTo>
                  <a:lnTo>
                    <a:pt x="0" y="0"/>
                  </a:lnTo>
                  <a:lnTo>
                    <a:pt x="0" y="146649"/>
                  </a:lnTo>
                </a:path>
              </a:pathLst>
            </a:custGeom>
            <a:ln w="19050">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77" name="Freeform 76"/>
            <p:cNvSpPr/>
            <p:nvPr/>
          </p:nvSpPr>
          <p:spPr>
            <a:xfrm>
              <a:off x="628651" y="5359398"/>
              <a:ext cx="0" cy="112693"/>
            </a:xfrm>
            <a:custGeom>
              <a:avLst/>
              <a:gdLst>
                <a:gd name="connsiteX0" fmla="*/ 0 w 0"/>
                <a:gd name="connsiteY0" fmla="*/ 0 h 112144"/>
                <a:gd name="connsiteX1" fmla="*/ 0 w 0"/>
                <a:gd name="connsiteY1" fmla="*/ 112144 h 112144"/>
              </a:gdLst>
              <a:ahLst/>
              <a:cxnLst>
                <a:cxn ang="0">
                  <a:pos x="connsiteX0" y="connsiteY0"/>
                </a:cxn>
                <a:cxn ang="0">
                  <a:pos x="connsiteX1" y="connsiteY1"/>
                </a:cxn>
              </a:cxnLst>
              <a:rect l="l" t="t" r="r" b="b"/>
              <a:pathLst>
                <a:path h="112144">
                  <a:moveTo>
                    <a:pt x="0" y="0"/>
                  </a:moveTo>
                  <a:lnTo>
                    <a:pt x="0" y="112144"/>
                  </a:lnTo>
                </a:path>
              </a:pathLst>
            </a:custGeom>
            <a:ln w="19050">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pic>
          <p:nvPicPr>
            <p:cNvPr id="630855" name="Picture 7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532440" y="3429000"/>
              <a:ext cx="404522" cy="60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Freeform 78"/>
            <p:cNvSpPr/>
            <p:nvPr/>
          </p:nvSpPr>
          <p:spPr>
            <a:xfrm>
              <a:off x="8477249" y="2546988"/>
              <a:ext cx="85725" cy="1303312"/>
            </a:xfrm>
            <a:custGeom>
              <a:avLst/>
              <a:gdLst>
                <a:gd name="connsiteX0" fmla="*/ 86265 w 86265"/>
                <a:gd name="connsiteY0" fmla="*/ 1302589 h 1302589"/>
                <a:gd name="connsiteX1" fmla="*/ 0 w 86265"/>
                <a:gd name="connsiteY1" fmla="*/ 1302589 h 1302589"/>
                <a:gd name="connsiteX2" fmla="*/ 0 w 86265"/>
                <a:gd name="connsiteY2" fmla="*/ 0 h 1302589"/>
              </a:gdLst>
              <a:ahLst/>
              <a:cxnLst>
                <a:cxn ang="0">
                  <a:pos x="connsiteX0" y="connsiteY0"/>
                </a:cxn>
                <a:cxn ang="0">
                  <a:pos x="connsiteX1" y="connsiteY1"/>
                </a:cxn>
                <a:cxn ang="0">
                  <a:pos x="connsiteX2" y="connsiteY2"/>
                </a:cxn>
              </a:cxnLst>
              <a:rect l="l" t="t" r="r" b="b"/>
              <a:pathLst>
                <a:path w="86265" h="1302589">
                  <a:moveTo>
                    <a:pt x="86265" y="1302589"/>
                  </a:moveTo>
                  <a:lnTo>
                    <a:pt x="0" y="1302589"/>
                  </a:lnTo>
                  <a:lnTo>
                    <a:pt x="0" y="0"/>
                  </a:lnTo>
                </a:path>
              </a:pathLst>
            </a:custGeom>
            <a:ln w="28575">
              <a:solidFill>
                <a:schemeClr val="accent5">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pic>
          <p:nvPicPr>
            <p:cNvPr id="630857" name="Picture 7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96136" y="4509120"/>
              <a:ext cx="297964" cy="360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0858" name="TextBox 80"/>
            <p:cNvSpPr txBox="1">
              <a:spLocks noChangeArrowheads="1"/>
            </p:cNvSpPr>
            <p:nvPr/>
          </p:nvSpPr>
          <p:spPr bwMode="auto">
            <a:xfrm>
              <a:off x="6012160" y="5877272"/>
              <a:ext cx="13789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Lime Mud Washer clarifier</a:t>
              </a:r>
              <a:endParaRPr lang="th-TH" altLang="en-US" sz="800">
                <a:latin typeface="Arial" panose="020B0604020202020204" pitchFamily="34" charset="0"/>
              </a:endParaRPr>
            </a:p>
          </p:txBody>
        </p:sp>
        <p:pic>
          <p:nvPicPr>
            <p:cNvPr id="630859" name="Picture 4"/>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6012160" y="1628800"/>
              <a:ext cx="360040" cy="6207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30860" name="Group 82"/>
            <p:cNvGrpSpPr>
              <a:grpSpLocks/>
            </p:cNvGrpSpPr>
            <p:nvPr/>
          </p:nvGrpSpPr>
          <p:grpSpPr bwMode="auto">
            <a:xfrm>
              <a:off x="4139952" y="1700808"/>
              <a:ext cx="216024" cy="504056"/>
              <a:chOff x="7667773" y="404664"/>
              <a:chExt cx="627063" cy="1347787"/>
            </a:xfrm>
          </p:grpSpPr>
          <p:sp>
            <p:nvSpPr>
              <p:cNvPr id="84" name="AutoShape 179"/>
              <p:cNvSpPr>
                <a:spLocks noChangeArrowheads="1"/>
              </p:cNvSpPr>
              <p:nvPr/>
            </p:nvSpPr>
            <p:spPr bwMode="auto">
              <a:xfrm flipV="1">
                <a:off x="7737616" y="614739"/>
                <a:ext cx="345607" cy="1083027"/>
              </a:xfrm>
              <a:custGeom>
                <a:avLst/>
                <a:gdLst>
                  <a:gd name="T0" fmla="*/ 194 w 21600"/>
                  <a:gd name="T1" fmla="*/ 341 h 21600"/>
                  <a:gd name="T2" fmla="*/ 109 w 21600"/>
                  <a:gd name="T3" fmla="*/ 681 h 21600"/>
                  <a:gd name="T4" fmla="*/ 23 w 21600"/>
                  <a:gd name="T5" fmla="*/ 341 h 21600"/>
                  <a:gd name="T6" fmla="*/ 109 w 21600"/>
                  <a:gd name="T7" fmla="*/ 0 h 21600"/>
                  <a:gd name="T8" fmla="*/ 0 60000 65536"/>
                  <a:gd name="T9" fmla="*/ 0 60000 65536"/>
                  <a:gd name="T10" fmla="*/ 0 60000 65536"/>
                  <a:gd name="T11" fmla="*/ 0 60000 65536"/>
                  <a:gd name="T12" fmla="*/ 4081 w 21600"/>
                  <a:gd name="T13" fmla="*/ 4092 h 21600"/>
                  <a:gd name="T14" fmla="*/ 17519 w 21600"/>
                  <a:gd name="T15" fmla="*/ 17508 h 21600"/>
                </a:gdLst>
                <a:ahLst/>
                <a:cxnLst>
                  <a:cxn ang="T8">
                    <a:pos x="T0" y="T1"/>
                  </a:cxn>
                  <a:cxn ang="T9">
                    <a:pos x="T2" y="T3"/>
                  </a:cxn>
                  <a:cxn ang="T10">
                    <a:pos x="T4" y="T5"/>
                  </a:cxn>
                  <a:cxn ang="T11">
                    <a:pos x="T6" y="T7"/>
                  </a:cxn>
                </a:cxnLst>
                <a:rect l="T12" t="T13" r="T14" b="T15"/>
                <a:pathLst>
                  <a:path w="21600" h="21600">
                    <a:moveTo>
                      <a:pt x="0" y="0"/>
                    </a:moveTo>
                    <a:lnTo>
                      <a:pt x="4589" y="21600"/>
                    </a:lnTo>
                    <a:lnTo>
                      <a:pt x="17011" y="21600"/>
                    </a:lnTo>
                    <a:lnTo>
                      <a:pt x="21600" y="0"/>
                    </a:lnTo>
                    <a:close/>
                  </a:path>
                </a:pathLst>
              </a:custGeom>
              <a:gradFill rotWithShape="0">
                <a:gsLst>
                  <a:gs pos="0">
                    <a:srgbClr val="E5E5E5"/>
                  </a:gs>
                  <a:gs pos="50000">
                    <a:schemeClr val="bg1"/>
                  </a:gs>
                  <a:gs pos="100000">
                    <a:srgbClr val="E5E5E5"/>
                  </a:gs>
                </a:gsLst>
                <a:lin ang="0" scaled="1"/>
              </a:gradFill>
              <a:ln w="12700">
                <a:solidFill>
                  <a:schemeClr val="tx1"/>
                </a:solidFill>
                <a:miter lim="800000"/>
                <a:headEnd/>
                <a:tailEnd/>
              </a:ln>
            </p:spPr>
            <p:txBody>
              <a:bodyPr rot="10800000" wrap="none" anchor="ctr"/>
              <a:lstStyle/>
              <a:p>
                <a:pPr>
                  <a:defRPr/>
                </a:pPr>
                <a:endParaRPr lang="th-TH"/>
              </a:p>
            </p:txBody>
          </p:sp>
          <p:sp>
            <p:nvSpPr>
              <p:cNvPr id="630899" name="Rectangle 180"/>
              <p:cNvSpPr>
                <a:spLocks noChangeArrowheads="1"/>
              </p:cNvSpPr>
              <p:nvPr/>
            </p:nvSpPr>
            <p:spPr bwMode="auto">
              <a:xfrm>
                <a:off x="7809061" y="677714"/>
                <a:ext cx="201612" cy="53975"/>
              </a:xfrm>
              <a:prstGeom prst="rect">
                <a:avLst/>
              </a:prstGeom>
              <a:solidFill>
                <a:srgbClr val="CC33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th-TH" altLang="en-US" sz="1800"/>
              </a:p>
            </p:txBody>
          </p:sp>
          <p:sp>
            <p:nvSpPr>
              <p:cNvPr id="630900" name="AutoShape 181"/>
              <p:cNvSpPr>
                <a:spLocks noChangeArrowheads="1"/>
              </p:cNvSpPr>
              <p:nvPr/>
            </p:nvSpPr>
            <p:spPr bwMode="auto">
              <a:xfrm flipV="1">
                <a:off x="7809061" y="806301"/>
                <a:ext cx="201612" cy="5238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041 w 21600"/>
                  <a:gd name="T13" fmla="*/ 1964 h 21600"/>
                  <a:gd name="T14" fmla="*/ 19559 w 21600"/>
                  <a:gd name="T15" fmla="*/ 19636 h 21600"/>
                </a:gdLst>
                <a:ahLst/>
                <a:cxnLst>
                  <a:cxn ang="T8">
                    <a:pos x="T0" y="T1"/>
                  </a:cxn>
                  <a:cxn ang="T9">
                    <a:pos x="T2" y="T3"/>
                  </a:cxn>
                  <a:cxn ang="T10">
                    <a:pos x="T4" y="T5"/>
                  </a:cxn>
                  <a:cxn ang="T11">
                    <a:pos x="T6" y="T7"/>
                  </a:cxn>
                </a:cxnLst>
                <a:rect l="T12" t="T13" r="T14" b="T15"/>
                <a:pathLst>
                  <a:path w="21600" h="21600">
                    <a:moveTo>
                      <a:pt x="0" y="0"/>
                    </a:moveTo>
                    <a:lnTo>
                      <a:pt x="441" y="21600"/>
                    </a:lnTo>
                    <a:lnTo>
                      <a:pt x="21159" y="21600"/>
                    </a:lnTo>
                    <a:lnTo>
                      <a:pt x="21600" y="0"/>
                    </a:lnTo>
                    <a:lnTo>
                      <a:pt x="0" y="0"/>
                    </a:lnTo>
                    <a:close/>
                  </a:path>
                </a:pathLst>
              </a:custGeom>
              <a:solidFill>
                <a:srgbClr val="CC3300"/>
              </a:solidFill>
              <a:ln w="12700">
                <a:solidFill>
                  <a:schemeClr val="tx1"/>
                </a:solidFill>
                <a:miter lim="800000"/>
                <a:headEnd/>
                <a:tailEnd/>
              </a:ln>
            </p:spPr>
            <p:txBody>
              <a:bodyPr rot="10800000" wrap="none" anchor="ctr"/>
              <a:lstStyle/>
              <a:p>
                <a:endParaRPr lang="en-US"/>
              </a:p>
            </p:txBody>
          </p:sp>
          <p:sp>
            <p:nvSpPr>
              <p:cNvPr id="630901" name="Rectangle 182"/>
              <p:cNvSpPr>
                <a:spLocks noChangeArrowheads="1"/>
              </p:cNvSpPr>
              <p:nvPr/>
            </p:nvSpPr>
            <p:spPr bwMode="auto">
              <a:xfrm>
                <a:off x="7667773" y="1700064"/>
                <a:ext cx="485775" cy="52387"/>
              </a:xfrm>
              <a:prstGeom prst="rect">
                <a:avLst/>
              </a:prstGeom>
              <a:solidFill>
                <a:schemeClr val="accent2"/>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th-TH" altLang="en-US" sz="1800"/>
              </a:p>
            </p:txBody>
          </p:sp>
          <p:sp>
            <p:nvSpPr>
              <p:cNvPr id="88" name="Freeform 183"/>
              <p:cNvSpPr>
                <a:spLocks/>
              </p:cNvSpPr>
              <p:nvPr/>
            </p:nvSpPr>
            <p:spPr bwMode="auto">
              <a:xfrm>
                <a:off x="7875859" y="413855"/>
                <a:ext cx="216580" cy="131011"/>
              </a:xfrm>
              <a:custGeom>
                <a:avLst/>
                <a:gdLst/>
                <a:ahLst/>
                <a:cxnLst>
                  <a:cxn ang="0">
                    <a:pos x="0" y="98"/>
                  </a:cxn>
                  <a:cxn ang="0">
                    <a:pos x="3" y="62"/>
                  </a:cxn>
                  <a:cxn ang="0">
                    <a:pos x="3" y="41"/>
                  </a:cxn>
                  <a:cxn ang="0">
                    <a:pos x="23" y="34"/>
                  </a:cxn>
                  <a:cxn ang="0">
                    <a:pos x="44" y="34"/>
                  </a:cxn>
                  <a:cxn ang="0">
                    <a:pos x="64" y="21"/>
                  </a:cxn>
                  <a:cxn ang="0">
                    <a:pos x="78" y="0"/>
                  </a:cxn>
                  <a:cxn ang="0">
                    <a:pos x="99" y="0"/>
                  </a:cxn>
                  <a:cxn ang="0">
                    <a:pos x="119" y="0"/>
                  </a:cxn>
                  <a:cxn ang="0">
                    <a:pos x="144" y="2"/>
                  </a:cxn>
                  <a:cxn ang="0">
                    <a:pos x="126" y="0"/>
                  </a:cxn>
                  <a:cxn ang="0">
                    <a:pos x="105" y="7"/>
                  </a:cxn>
                  <a:cxn ang="0">
                    <a:pos x="92" y="28"/>
                  </a:cxn>
                  <a:cxn ang="0">
                    <a:pos x="78" y="48"/>
                  </a:cxn>
                  <a:cxn ang="0">
                    <a:pos x="58" y="55"/>
                  </a:cxn>
                  <a:cxn ang="0">
                    <a:pos x="51" y="75"/>
                  </a:cxn>
                  <a:cxn ang="0">
                    <a:pos x="64" y="96"/>
                  </a:cxn>
                  <a:cxn ang="0">
                    <a:pos x="44" y="96"/>
                  </a:cxn>
                  <a:cxn ang="0">
                    <a:pos x="0" y="98"/>
                  </a:cxn>
                  <a:cxn ang="0">
                    <a:pos x="0" y="98"/>
                  </a:cxn>
                </a:cxnLst>
                <a:rect l="0" t="0" r="r" b="b"/>
                <a:pathLst>
                  <a:path w="145" h="99">
                    <a:moveTo>
                      <a:pt x="0" y="98"/>
                    </a:moveTo>
                    <a:lnTo>
                      <a:pt x="3" y="62"/>
                    </a:lnTo>
                    <a:lnTo>
                      <a:pt x="3" y="41"/>
                    </a:lnTo>
                    <a:lnTo>
                      <a:pt x="23" y="34"/>
                    </a:lnTo>
                    <a:lnTo>
                      <a:pt x="44" y="34"/>
                    </a:lnTo>
                    <a:lnTo>
                      <a:pt x="64" y="21"/>
                    </a:lnTo>
                    <a:lnTo>
                      <a:pt x="78" y="0"/>
                    </a:lnTo>
                    <a:lnTo>
                      <a:pt x="99" y="0"/>
                    </a:lnTo>
                    <a:lnTo>
                      <a:pt x="119" y="0"/>
                    </a:lnTo>
                    <a:lnTo>
                      <a:pt x="144" y="2"/>
                    </a:lnTo>
                    <a:lnTo>
                      <a:pt x="126" y="0"/>
                    </a:lnTo>
                    <a:lnTo>
                      <a:pt x="105" y="7"/>
                    </a:lnTo>
                    <a:lnTo>
                      <a:pt x="92" y="28"/>
                    </a:lnTo>
                    <a:lnTo>
                      <a:pt x="78" y="48"/>
                    </a:lnTo>
                    <a:lnTo>
                      <a:pt x="58" y="55"/>
                    </a:lnTo>
                    <a:lnTo>
                      <a:pt x="51" y="75"/>
                    </a:lnTo>
                    <a:lnTo>
                      <a:pt x="64" y="96"/>
                    </a:lnTo>
                    <a:lnTo>
                      <a:pt x="44" y="96"/>
                    </a:lnTo>
                    <a:lnTo>
                      <a:pt x="0" y="98"/>
                    </a:lnTo>
                    <a:lnTo>
                      <a:pt x="0" y="98"/>
                    </a:lnTo>
                  </a:path>
                </a:pathLst>
              </a:custGeom>
              <a:gradFill rotWithShape="0">
                <a:gsLst>
                  <a:gs pos="0">
                    <a:schemeClr val="folHlink">
                      <a:gamma/>
                      <a:tint val="0"/>
                      <a:invGamma/>
                    </a:schemeClr>
                  </a:gs>
                  <a:gs pos="100000">
                    <a:schemeClr val="folHlink"/>
                  </a:gs>
                </a:gsLst>
                <a:lin ang="5400000" scaled="1"/>
              </a:gradFill>
              <a:ln w="12700" cap="rnd" cmpd="sng">
                <a:solidFill>
                  <a:schemeClr val="tx1"/>
                </a:solidFill>
                <a:prstDash val="solid"/>
                <a:round/>
                <a:headEnd/>
                <a:tailEnd/>
              </a:ln>
              <a:effectLst/>
            </p:spPr>
            <p:txBody>
              <a:bodyPr/>
              <a:lstStyle/>
              <a:p>
                <a:pPr>
                  <a:defRPr/>
                </a:pPr>
                <a:endParaRPr lang="th-TH"/>
              </a:p>
            </p:txBody>
          </p:sp>
          <p:sp>
            <p:nvSpPr>
              <p:cNvPr id="89" name="Freeform 184"/>
              <p:cNvSpPr>
                <a:spLocks/>
              </p:cNvSpPr>
              <p:nvPr/>
            </p:nvSpPr>
            <p:spPr bwMode="auto">
              <a:xfrm>
                <a:off x="8018709" y="461894"/>
                <a:ext cx="193541" cy="34936"/>
              </a:xfrm>
              <a:custGeom>
                <a:avLst/>
                <a:gdLst/>
                <a:ahLst/>
                <a:cxnLst>
                  <a:cxn ang="0">
                    <a:pos x="0" y="15"/>
                  </a:cxn>
                  <a:cxn ang="0">
                    <a:pos x="30" y="0"/>
                  </a:cxn>
                  <a:cxn ang="0">
                    <a:pos x="51" y="7"/>
                  </a:cxn>
                  <a:cxn ang="0">
                    <a:pos x="71" y="7"/>
                  </a:cxn>
                  <a:cxn ang="0">
                    <a:pos x="91" y="7"/>
                  </a:cxn>
                  <a:cxn ang="0">
                    <a:pos x="112" y="7"/>
                  </a:cxn>
                  <a:cxn ang="0">
                    <a:pos x="132" y="0"/>
                  </a:cxn>
                  <a:cxn ang="0">
                    <a:pos x="112" y="7"/>
                  </a:cxn>
                  <a:cxn ang="0">
                    <a:pos x="91" y="7"/>
                  </a:cxn>
                  <a:cxn ang="0">
                    <a:pos x="64" y="20"/>
                  </a:cxn>
                  <a:cxn ang="0">
                    <a:pos x="44" y="27"/>
                  </a:cxn>
                  <a:cxn ang="0">
                    <a:pos x="0" y="15"/>
                  </a:cxn>
                  <a:cxn ang="0">
                    <a:pos x="0" y="15"/>
                  </a:cxn>
                </a:cxnLst>
                <a:rect l="0" t="0" r="r" b="b"/>
                <a:pathLst>
                  <a:path w="133" h="28">
                    <a:moveTo>
                      <a:pt x="0" y="15"/>
                    </a:moveTo>
                    <a:lnTo>
                      <a:pt x="30" y="0"/>
                    </a:lnTo>
                    <a:lnTo>
                      <a:pt x="51" y="7"/>
                    </a:lnTo>
                    <a:lnTo>
                      <a:pt x="71" y="7"/>
                    </a:lnTo>
                    <a:lnTo>
                      <a:pt x="91" y="7"/>
                    </a:lnTo>
                    <a:lnTo>
                      <a:pt x="112" y="7"/>
                    </a:lnTo>
                    <a:lnTo>
                      <a:pt x="132" y="0"/>
                    </a:lnTo>
                    <a:lnTo>
                      <a:pt x="112" y="7"/>
                    </a:lnTo>
                    <a:lnTo>
                      <a:pt x="91" y="7"/>
                    </a:lnTo>
                    <a:lnTo>
                      <a:pt x="64" y="20"/>
                    </a:lnTo>
                    <a:lnTo>
                      <a:pt x="44" y="27"/>
                    </a:lnTo>
                    <a:lnTo>
                      <a:pt x="0" y="15"/>
                    </a:lnTo>
                    <a:lnTo>
                      <a:pt x="0" y="15"/>
                    </a:lnTo>
                  </a:path>
                </a:pathLst>
              </a:custGeom>
              <a:gradFill rotWithShape="0">
                <a:gsLst>
                  <a:gs pos="0">
                    <a:schemeClr val="folHlink">
                      <a:gamma/>
                      <a:tint val="0"/>
                      <a:invGamma/>
                    </a:schemeClr>
                  </a:gs>
                  <a:gs pos="100000">
                    <a:schemeClr val="folHlink"/>
                  </a:gs>
                </a:gsLst>
                <a:lin ang="5400000" scaled="1"/>
              </a:gradFill>
              <a:ln w="12700" cap="rnd" cmpd="sng">
                <a:solidFill>
                  <a:schemeClr val="tx1"/>
                </a:solidFill>
                <a:prstDash val="solid"/>
                <a:round/>
                <a:headEnd/>
                <a:tailEnd/>
              </a:ln>
              <a:effectLst/>
            </p:spPr>
            <p:txBody>
              <a:bodyPr/>
              <a:lstStyle/>
              <a:p>
                <a:pPr>
                  <a:defRPr/>
                </a:pPr>
                <a:endParaRPr lang="th-TH"/>
              </a:p>
            </p:txBody>
          </p:sp>
          <p:sp>
            <p:nvSpPr>
              <p:cNvPr id="90" name="Freeform 185"/>
              <p:cNvSpPr>
                <a:spLocks/>
              </p:cNvSpPr>
              <p:nvPr/>
            </p:nvSpPr>
            <p:spPr bwMode="auto">
              <a:xfrm>
                <a:off x="8161562" y="405121"/>
                <a:ext cx="133634" cy="39305"/>
              </a:xfrm>
              <a:custGeom>
                <a:avLst/>
                <a:gdLst/>
                <a:ahLst/>
                <a:cxnLst>
                  <a:cxn ang="0">
                    <a:pos x="0" y="8"/>
                  </a:cxn>
                  <a:cxn ang="0">
                    <a:pos x="29" y="20"/>
                  </a:cxn>
                  <a:cxn ang="0">
                    <a:pos x="50" y="0"/>
                  </a:cxn>
                  <a:cxn ang="0">
                    <a:pos x="70" y="0"/>
                  </a:cxn>
                  <a:cxn ang="0">
                    <a:pos x="91" y="0"/>
                  </a:cxn>
                  <a:cxn ang="0">
                    <a:pos x="70" y="0"/>
                  </a:cxn>
                  <a:cxn ang="0">
                    <a:pos x="63" y="20"/>
                  </a:cxn>
                  <a:cxn ang="0">
                    <a:pos x="43" y="27"/>
                  </a:cxn>
                  <a:cxn ang="0">
                    <a:pos x="0" y="8"/>
                  </a:cxn>
                  <a:cxn ang="0">
                    <a:pos x="0" y="8"/>
                  </a:cxn>
                </a:cxnLst>
                <a:rect l="0" t="0" r="r" b="b"/>
                <a:pathLst>
                  <a:path w="92" h="28">
                    <a:moveTo>
                      <a:pt x="0" y="8"/>
                    </a:moveTo>
                    <a:lnTo>
                      <a:pt x="29" y="20"/>
                    </a:lnTo>
                    <a:lnTo>
                      <a:pt x="50" y="0"/>
                    </a:lnTo>
                    <a:lnTo>
                      <a:pt x="70" y="0"/>
                    </a:lnTo>
                    <a:lnTo>
                      <a:pt x="91" y="0"/>
                    </a:lnTo>
                    <a:lnTo>
                      <a:pt x="70" y="0"/>
                    </a:lnTo>
                    <a:lnTo>
                      <a:pt x="63" y="20"/>
                    </a:lnTo>
                    <a:lnTo>
                      <a:pt x="43" y="27"/>
                    </a:lnTo>
                    <a:lnTo>
                      <a:pt x="0" y="8"/>
                    </a:lnTo>
                    <a:lnTo>
                      <a:pt x="0" y="8"/>
                    </a:lnTo>
                  </a:path>
                </a:pathLst>
              </a:custGeom>
              <a:gradFill rotWithShape="0">
                <a:gsLst>
                  <a:gs pos="0">
                    <a:schemeClr val="folHlink">
                      <a:gamma/>
                      <a:tint val="0"/>
                      <a:invGamma/>
                    </a:schemeClr>
                  </a:gs>
                  <a:gs pos="100000">
                    <a:schemeClr val="folHlink"/>
                  </a:gs>
                </a:gsLst>
                <a:lin ang="5400000" scaled="1"/>
              </a:gradFill>
              <a:ln w="12700" cap="rnd" cmpd="sng">
                <a:solidFill>
                  <a:schemeClr val="tx1"/>
                </a:solidFill>
                <a:prstDash val="solid"/>
                <a:round/>
                <a:headEnd/>
                <a:tailEnd/>
              </a:ln>
              <a:effectLst/>
            </p:spPr>
            <p:txBody>
              <a:bodyPr/>
              <a:lstStyle/>
              <a:p>
                <a:pPr>
                  <a:defRPr/>
                </a:pPr>
                <a:endParaRPr lang="th-TH"/>
              </a:p>
            </p:txBody>
          </p:sp>
        </p:grpSp>
        <p:sp>
          <p:nvSpPr>
            <p:cNvPr id="91" name="Freeform 90"/>
            <p:cNvSpPr/>
            <p:nvPr/>
          </p:nvSpPr>
          <p:spPr>
            <a:xfrm>
              <a:off x="5949950" y="2115817"/>
              <a:ext cx="163513" cy="346243"/>
            </a:xfrm>
            <a:custGeom>
              <a:avLst/>
              <a:gdLst>
                <a:gd name="connsiteX0" fmla="*/ 163902 w 163902"/>
                <a:gd name="connsiteY0" fmla="*/ 0 h 345057"/>
                <a:gd name="connsiteX1" fmla="*/ 0 w 163902"/>
                <a:gd name="connsiteY1" fmla="*/ 0 h 345057"/>
                <a:gd name="connsiteX2" fmla="*/ 0 w 163902"/>
                <a:gd name="connsiteY2" fmla="*/ 345057 h 345057"/>
              </a:gdLst>
              <a:ahLst/>
              <a:cxnLst>
                <a:cxn ang="0">
                  <a:pos x="connsiteX0" y="connsiteY0"/>
                </a:cxn>
                <a:cxn ang="0">
                  <a:pos x="connsiteX1" y="connsiteY1"/>
                </a:cxn>
                <a:cxn ang="0">
                  <a:pos x="connsiteX2" y="connsiteY2"/>
                </a:cxn>
              </a:cxnLst>
              <a:rect l="l" t="t" r="r" b="b"/>
              <a:pathLst>
                <a:path w="163902" h="345057">
                  <a:moveTo>
                    <a:pt x="163902" y="0"/>
                  </a:moveTo>
                  <a:lnTo>
                    <a:pt x="0" y="0"/>
                  </a:lnTo>
                  <a:lnTo>
                    <a:pt x="0" y="345057"/>
                  </a:lnTo>
                </a:path>
              </a:pathLst>
            </a:custGeom>
            <a:ln w="28575">
              <a:solidFill>
                <a:schemeClr val="accent2">
                  <a:lumMod val="60000"/>
                  <a:lumOff val="4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630862" name="TextBox 91"/>
            <p:cNvSpPr txBox="1">
              <a:spLocks noChangeArrowheads="1"/>
            </p:cNvSpPr>
            <p:nvPr/>
          </p:nvSpPr>
          <p:spPr bwMode="auto">
            <a:xfrm>
              <a:off x="4788024" y="5877272"/>
              <a:ext cx="125226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Lime Mud Storage tank</a:t>
              </a:r>
              <a:endParaRPr lang="th-TH" altLang="en-US" sz="800">
                <a:latin typeface="Arial" panose="020B0604020202020204" pitchFamily="34" charset="0"/>
              </a:endParaRPr>
            </a:p>
          </p:txBody>
        </p:sp>
        <p:sp>
          <p:nvSpPr>
            <p:cNvPr id="630863" name="TextBox 92"/>
            <p:cNvSpPr txBox="1">
              <a:spLocks noChangeArrowheads="1"/>
            </p:cNvSpPr>
            <p:nvPr/>
          </p:nvSpPr>
          <p:spPr bwMode="auto">
            <a:xfrm>
              <a:off x="3703946" y="4293096"/>
              <a:ext cx="11560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Lime Mud Filter drum</a:t>
              </a:r>
              <a:endParaRPr lang="th-TH" altLang="en-US" sz="800">
                <a:latin typeface="Arial" panose="020B0604020202020204" pitchFamily="34" charset="0"/>
              </a:endParaRPr>
            </a:p>
          </p:txBody>
        </p:sp>
        <p:sp>
          <p:nvSpPr>
            <p:cNvPr id="630864" name="TextBox 93"/>
            <p:cNvSpPr txBox="1">
              <a:spLocks noChangeArrowheads="1"/>
            </p:cNvSpPr>
            <p:nvPr/>
          </p:nvSpPr>
          <p:spPr bwMode="auto">
            <a:xfrm>
              <a:off x="2987824" y="5085184"/>
              <a:ext cx="107593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Lime Mud (CaCO3)</a:t>
              </a:r>
              <a:endParaRPr lang="th-TH" altLang="en-US" sz="800">
                <a:latin typeface="Arial" panose="020B0604020202020204" pitchFamily="34" charset="0"/>
              </a:endParaRPr>
            </a:p>
          </p:txBody>
        </p:sp>
        <p:sp>
          <p:nvSpPr>
            <p:cNvPr id="630865" name="TextBox 94"/>
            <p:cNvSpPr txBox="1">
              <a:spLocks noChangeArrowheads="1"/>
            </p:cNvSpPr>
            <p:nvPr/>
          </p:nvSpPr>
          <p:spPr bwMode="auto">
            <a:xfrm>
              <a:off x="1979712" y="5877272"/>
              <a:ext cx="11496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Dreg Washer clarifier</a:t>
              </a:r>
              <a:endParaRPr lang="th-TH" altLang="en-US" sz="800">
                <a:latin typeface="Arial" panose="020B0604020202020204" pitchFamily="34" charset="0"/>
              </a:endParaRPr>
            </a:p>
          </p:txBody>
        </p:sp>
        <p:sp>
          <p:nvSpPr>
            <p:cNvPr id="630866" name="TextBox 95"/>
            <p:cNvSpPr txBox="1">
              <a:spLocks noChangeArrowheads="1"/>
            </p:cNvSpPr>
            <p:nvPr/>
          </p:nvSpPr>
          <p:spPr bwMode="auto">
            <a:xfrm>
              <a:off x="1331640" y="5085764"/>
              <a:ext cx="10230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Dreg Storage tank</a:t>
              </a:r>
              <a:endParaRPr lang="th-TH" altLang="en-US" sz="800">
                <a:latin typeface="Arial" panose="020B0604020202020204" pitchFamily="34" charset="0"/>
              </a:endParaRPr>
            </a:p>
          </p:txBody>
        </p:sp>
        <p:sp>
          <p:nvSpPr>
            <p:cNvPr id="630867" name="TextBox 96"/>
            <p:cNvSpPr txBox="1">
              <a:spLocks noChangeArrowheads="1"/>
            </p:cNvSpPr>
            <p:nvPr/>
          </p:nvSpPr>
          <p:spPr bwMode="auto">
            <a:xfrm>
              <a:off x="523660" y="4725144"/>
              <a:ext cx="66396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Dreg Filter</a:t>
              </a:r>
              <a:endParaRPr lang="th-TH" altLang="en-US" sz="800">
                <a:latin typeface="Arial" panose="020B0604020202020204" pitchFamily="34" charset="0"/>
              </a:endParaRPr>
            </a:p>
          </p:txBody>
        </p:sp>
        <p:sp>
          <p:nvSpPr>
            <p:cNvPr id="630868" name="TextBox 97"/>
            <p:cNvSpPr txBox="1">
              <a:spLocks noChangeArrowheads="1"/>
            </p:cNvSpPr>
            <p:nvPr/>
          </p:nvSpPr>
          <p:spPr bwMode="auto">
            <a:xfrm>
              <a:off x="5148064" y="4509120"/>
              <a:ext cx="76815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Weak White </a:t>
              </a:r>
            </a:p>
            <a:p>
              <a:pPr>
                <a:spcBef>
                  <a:spcPct val="0"/>
                </a:spcBef>
                <a:buFontTx/>
                <a:buNone/>
              </a:pPr>
              <a:r>
                <a:rPr lang="en-US" altLang="en-US" sz="800">
                  <a:latin typeface="Arial" panose="020B0604020202020204" pitchFamily="34" charset="0"/>
                  <a:cs typeface="Arial" panose="020B0604020202020204" pitchFamily="34" charset="0"/>
                </a:rPr>
                <a:t>Liquor tank</a:t>
              </a:r>
              <a:endParaRPr lang="th-TH" altLang="en-US" sz="800">
                <a:latin typeface="Arial" panose="020B0604020202020204" pitchFamily="34" charset="0"/>
              </a:endParaRPr>
            </a:p>
          </p:txBody>
        </p:sp>
        <p:sp>
          <p:nvSpPr>
            <p:cNvPr id="630869" name="TextBox 98"/>
            <p:cNvSpPr txBox="1">
              <a:spLocks noChangeArrowheads="1"/>
            </p:cNvSpPr>
            <p:nvPr/>
          </p:nvSpPr>
          <p:spPr bwMode="auto">
            <a:xfrm>
              <a:off x="7917279" y="4005064"/>
              <a:ext cx="11192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NaOH make up tank</a:t>
              </a:r>
              <a:endParaRPr lang="th-TH" altLang="en-US" sz="800">
                <a:latin typeface="Arial" panose="020B0604020202020204" pitchFamily="34" charset="0"/>
              </a:endParaRPr>
            </a:p>
          </p:txBody>
        </p:sp>
        <p:sp>
          <p:nvSpPr>
            <p:cNvPr id="630870" name="TextBox 99"/>
            <p:cNvSpPr txBox="1">
              <a:spLocks noChangeArrowheads="1"/>
            </p:cNvSpPr>
            <p:nvPr/>
          </p:nvSpPr>
          <p:spPr bwMode="auto">
            <a:xfrm>
              <a:off x="8440088" y="3212976"/>
              <a:ext cx="6319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SWL tank</a:t>
              </a:r>
              <a:endParaRPr lang="th-TH" altLang="en-US" sz="800">
                <a:latin typeface="Arial" panose="020B0604020202020204" pitchFamily="34" charset="0"/>
              </a:endParaRPr>
            </a:p>
          </p:txBody>
        </p:sp>
        <p:sp>
          <p:nvSpPr>
            <p:cNvPr id="630871" name="TextBox 100"/>
            <p:cNvSpPr txBox="1">
              <a:spLocks noChangeArrowheads="1"/>
            </p:cNvSpPr>
            <p:nvPr/>
          </p:nvSpPr>
          <p:spPr bwMode="auto">
            <a:xfrm>
              <a:off x="7308304" y="2204864"/>
              <a:ext cx="13692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White Liquor Clarifier tank</a:t>
              </a:r>
              <a:endParaRPr lang="th-TH" altLang="en-US" sz="800">
                <a:latin typeface="Arial" panose="020B0604020202020204" pitchFamily="34" charset="0"/>
              </a:endParaRPr>
            </a:p>
          </p:txBody>
        </p:sp>
        <p:sp>
          <p:nvSpPr>
            <p:cNvPr id="102" name="Freeform 101"/>
            <p:cNvSpPr/>
            <p:nvPr/>
          </p:nvSpPr>
          <p:spPr>
            <a:xfrm>
              <a:off x="8882062" y="1857768"/>
              <a:ext cx="120650" cy="1206952"/>
            </a:xfrm>
            <a:custGeom>
              <a:avLst/>
              <a:gdLst>
                <a:gd name="connsiteX0" fmla="*/ 0 w 120770"/>
                <a:gd name="connsiteY0" fmla="*/ 1207698 h 1207698"/>
                <a:gd name="connsiteX1" fmla="*/ 120770 w 120770"/>
                <a:gd name="connsiteY1" fmla="*/ 1207698 h 1207698"/>
                <a:gd name="connsiteX2" fmla="*/ 120770 w 120770"/>
                <a:gd name="connsiteY2" fmla="*/ 0 h 1207698"/>
              </a:gdLst>
              <a:ahLst/>
              <a:cxnLst>
                <a:cxn ang="0">
                  <a:pos x="connsiteX0" y="connsiteY0"/>
                </a:cxn>
                <a:cxn ang="0">
                  <a:pos x="connsiteX1" y="connsiteY1"/>
                </a:cxn>
                <a:cxn ang="0">
                  <a:pos x="connsiteX2" y="connsiteY2"/>
                </a:cxn>
              </a:cxnLst>
              <a:rect l="l" t="t" r="r" b="b"/>
              <a:pathLst>
                <a:path w="120770" h="1207698">
                  <a:moveTo>
                    <a:pt x="0" y="1207698"/>
                  </a:moveTo>
                  <a:lnTo>
                    <a:pt x="120770" y="1207698"/>
                  </a:lnTo>
                  <a:lnTo>
                    <a:pt x="120770" y="0"/>
                  </a:lnTo>
                </a:path>
              </a:pathLst>
            </a:custGeom>
            <a:ln w="38100">
              <a:solidFill>
                <a:schemeClr val="accent5">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630873" name="TextBox 102"/>
            <p:cNvSpPr txBox="1">
              <a:spLocks noChangeArrowheads="1"/>
            </p:cNvSpPr>
            <p:nvPr/>
          </p:nvSpPr>
          <p:spPr bwMode="auto">
            <a:xfrm>
              <a:off x="8245641" y="1700808"/>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SWL to CP/SCP</a:t>
              </a:r>
              <a:endParaRPr lang="th-TH" altLang="en-US" sz="800">
                <a:latin typeface="Arial" panose="020B0604020202020204" pitchFamily="34" charset="0"/>
              </a:endParaRPr>
            </a:p>
          </p:txBody>
        </p:sp>
        <p:sp>
          <p:nvSpPr>
            <p:cNvPr id="630874" name="TextBox 103"/>
            <p:cNvSpPr txBox="1">
              <a:spLocks noChangeArrowheads="1"/>
            </p:cNvSpPr>
            <p:nvPr/>
          </p:nvSpPr>
          <p:spPr bwMode="auto">
            <a:xfrm>
              <a:off x="6516216" y="3212976"/>
              <a:ext cx="9637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Causticizing tank</a:t>
              </a:r>
              <a:endParaRPr lang="th-TH" altLang="en-US" sz="800">
                <a:latin typeface="Arial" panose="020B0604020202020204" pitchFamily="34" charset="0"/>
              </a:endParaRPr>
            </a:p>
          </p:txBody>
        </p:sp>
        <p:sp>
          <p:nvSpPr>
            <p:cNvPr id="630875" name="TextBox 104"/>
            <p:cNvSpPr txBox="1">
              <a:spLocks noChangeArrowheads="1"/>
            </p:cNvSpPr>
            <p:nvPr/>
          </p:nvSpPr>
          <p:spPr bwMode="auto">
            <a:xfrm>
              <a:off x="5652120" y="2780928"/>
              <a:ext cx="72808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Lime Slaker</a:t>
              </a:r>
              <a:endParaRPr lang="th-TH" altLang="en-US" sz="800">
                <a:latin typeface="Arial" panose="020B0604020202020204" pitchFamily="34" charset="0"/>
              </a:endParaRPr>
            </a:p>
          </p:txBody>
        </p:sp>
        <p:sp>
          <p:nvSpPr>
            <p:cNvPr id="630876" name="TextBox 105"/>
            <p:cNvSpPr txBox="1">
              <a:spLocks noChangeArrowheads="1"/>
            </p:cNvSpPr>
            <p:nvPr/>
          </p:nvSpPr>
          <p:spPr bwMode="auto">
            <a:xfrm>
              <a:off x="5508104" y="1485364"/>
              <a:ext cx="14879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Lime Silo (Quick Lime, CaO)</a:t>
              </a:r>
              <a:endParaRPr lang="th-TH" altLang="en-US" sz="800">
                <a:latin typeface="Arial" panose="020B0604020202020204" pitchFamily="34" charset="0"/>
              </a:endParaRPr>
            </a:p>
          </p:txBody>
        </p:sp>
        <p:sp>
          <p:nvSpPr>
            <p:cNvPr id="630877" name="TextBox 106"/>
            <p:cNvSpPr txBox="1">
              <a:spLocks noChangeArrowheads="1"/>
            </p:cNvSpPr>
            <p:nvPr/>
          </p:nvSpPr>
          <p:spPr bwMode="auto">
            <a:xfrm>
              <a:off x="5076056" y="2780928"/>
              <a:ext cx="5469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GL tank</a:t>
              </a:r>
              <a:endParaRPr lang="th-TH" altLang="en-US" sz="800">
                <a:latin typeface="Arial" panose="020B0604020202020204" pitchFamily="34" charset="0"/>
              </a:endParaRPr>
            </a:p>
          </p:txBody>
        </p:sp>
        <p:sp>
          <p:nvSpPr>
            <p:cNvPr id="630878" name="TextBox 107"/>
            <p:cNvSpPr txBox="1">
              <a:spLocks noChangeArrowheads="1"/>
            </p:cNvSpPr>
            <p:nvPr/>
          </p:nvSpPr>
          <p:spPr bwMode="auto">
            <a:xfrm>
              <a:off x="4499992" y="1844824"/>
              <a:ext cx="9284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GL Clarifier tank</a:t>
              </a:r>
              <a:endParaRPr lang="th-TH" altLang="en-US" sz="800">
                <a:latin typeface="Arial" panose="020B0604020202020204" pitchFamily="34" charset="0"/>
              </a:endParaRPr>
            </a:p>
          </p:txBody>
        </p:sp>
        <p:sp>
          <p:nvSpPr>
            <p:cNvPr id="630879" name="TextBox 108"/>
            <p:cNvSpPr txBox="1">
              <a:spLocks noChangeArrowheads="1"/>
            </p:cNvSpPr>
            <p:nvPr/>
          </p:nvSpPr>
          <p:spPr bwMode="auto">
            <a:xfrm>
              <a:off x="3635896" y="980728"/>
              <a:ext cx="122982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Turbine and Generator</a:t>
              </a:r>
              <a:endParaRPr lang="th-TH" altLang="en-US" sz="800">
                <a:latin typeface="Arial" panose="020B0604020202020204" pitchFamily="34" charset="0"/>
              </a:endParaRPr>
            </a:p>
          </p:txBody>
        </p:sp>
        <p:sp>
          <p:nvSpPr>
            <p:cNvPr id="630880" name="TextBox 109"/>
            <p:cNvSpPr txBox="1">
              <a:spLocks noChangeArrowheads="1"/>
            </p:cNvSpPr>
            <p:nvPr/>
          </p:nvSpPr>
          <p:spPr bwMode="auto">
            <a:xfrm>
              <a:off x="3005800" y="3212976"/>
              <a:ext cx="142218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000" b="1">
                  <a:latin typeface="Arial" panose="020B0604020202020204" pitchFamily="34" charset="0"/>
                  <a:cs typeface="Arial" panose="020B0604020202020204" pitchFamily="34" charset="0"/>
                </a:rPr>
                <a:t>RECOVERY BOILER</a:t>
              </a:r>
              <a:endParaRPr lang="th-TH" altLang="en-US" sz="1000" b="1">
                <a:latin typeface="Arial" panose="020B0604020202020204" pitchFamily="34" charset="0"/>
              </a:endParaRPr>
            </a:p>
          </p:txBody>
        </p:sp>
        <p:sp>
          <p:nvSpPr>
            <p:cNvPr id="630881" name="TextBox 110"/>
            <p:cNvSpPr txBox="1">
              <a:spLocks noChangeArrowheads="1"/>
            </p:cNvSpPr>
            <p:nvPr/>
          </p:nvSpPr>
          <p:spPr bwMode="auto">
            <a:xfrm>
              <a:off x="2123728" y="2204864"/>
              <a:ext cx="60465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SBL tank</a:t>
              </a:r>
              <a:endParaRPr lang="th-TH" altLang="en-US" sz="800">
                <a:latin typeface="Arial" panose="020B0604020202020204" pitchFamily="34" charset="0"/>
              </a:endParaRPr>
            </a:p>
          </p:txBody>
        </p:sp>
        <p:sp>
          <p:nvSpPr>
            <p:cNvPr id="630882" name="TextBox 111"/>
            <p:cNvSpPr txBox="1">
              <a:spLocks noChangeArrowheads="1"/>
            </p:cNvSpPr>
            <p:nvPr/>
          </p:nvSpPr>
          <p:spPr bwMode="auto">
            <a:xfrm>
              <a:off x="2123728" y="3069540"/>
              <a:ext cx="60465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SBL tank</a:t>
              </a:r>
              <a:endParaRPr lang="th-TH" altLang="en-US" sz="800">
                <a:latin typeface="Arial" panose="020B0604020202020204" pitchFamily="34" charset="0"/>
              </a:endParaRPr>
            </a:p>
          </p:txBody>
        </p:sp>
        <p:sp>
          <p:nvSpPr>
            <p:cNvPr id="630883" name="TextBox 112"/>
            <p:cNvSpPr txBox="1">
              <a:spLocks noChangeArrowheads="1"/>
            </p:cNvSpPr>
            <p:nvPr/>
          </p:nvSpPr>
          <p:spPr bwMode="auto">
            <a:xfrm>
              <a:off x="467544" y="1268760"/>
              <a:ext cx="169309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000" b="1">
                  <a:latin typeface="Arial" panose="020B0604020202020204" pitchFamily="34" charset="0"/>
                  <a:cs typeface="Arial" panose="020B0604020202020204" pitchFamily="34" charset="0"/>
                </a:rPr>
                <a:t>EVAPORATOR PLANT#1</a:t>
              </a:r>
              <a:endParaRPr lang="th-TH" altLang="en-US" sz="1000" b="1">
                <a:latin typeface="Arial" panose="020B0604020202020204" pitchFamily="34" charset="0"/>
              </a:endParaRPr>
            </a:p>
          </p:txBody>
        </p:sp>
        <p:sp>
          <p:nvSpPr>
            <p:cNvPr id="630884" name="TextBox 113"/>
            <p:cNvSpPr txBox="1">
              <a:spLocks noChangeArrowheads="1"/>
            </p:cNvSpPr>
            <p:nvPr/>
          </p:nvSpPr>
          <p:spPr bwMode="auto">
            <a:xfrm>
              <a:off x="502644" y="3068960"/>
              <a:ext cx="169309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000" b="1">
                  <a:latin typeface="Arial" panose="020B0604020202020204" pitchFamily="34" charset="0"/>
                  <a:cs typeface="Arial" panose="020B0604020202020204" pitchFamily="34" charset="0"/>
                </a:rPr>
                <a:t>EVAPORATOR PLANT#2</a:t>
              </a:r>
              <a:endParaRPr lang="th-TH" altLang="en-US" sz="1000" b="1">
                <a:latin typeface="Arial" panose="020B0604020202020204" pitchFamily="34" charset="0"/>
              </a:endParaRPr>
            </a:p>
          </p:txBody>
        </p:sp>
        <p:sp>
          <p:nvSpPr>
            <p:cNvPr id="630885" name="TextBox 114"/>
            <p:cNvSpPr txBox="1">
              <a:spLocks noChangeArrowheads="1"/>
            </p:cNvSpPr>
            <p:nvPr/>
          </p:nvSpPr>
          <p:spPr bwMode="auto">
            <a:xfrm>
              <a:off x="-36512" y="2780928"/>
              <a:ext cx="6319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WBL tank</a:t>
              </a:r>
              <a:endParaRPr lang="th-TH" altLang="en-US" sz="800">
                <a:latin typeface="Arial" panose="020B0604020202020204" pitchFamily="34" charset="0"/>
              </a:endParaRPr>
            </a:p>
          </p:txBody>
        </p:sp>
        <p:sp>
          <p:nvSpPr>
            <p:cNvPr id="116" name="Freeform 115"/>
            <p:cNvSpPr/>
            <p:nvPr/>
          </p:nvSpPr>
          <p:spPr>
            <a:xfrm>
              <a:off x="5549900" y="2640083"/>
              <a:ext cx="0" cy="731684"/>
            </a:xfrm>
            <a:custGeom>
              <a:avLst/>
              <a:gdLst>
                <a:gd name="connsiteX0" fmla="*/ 0 w 0"/>
                <a:gd name="connsiteY0" fmla="*/ 0 h 731520"/>
                <a:gd name="connsiteX1" fmla="*/ 0 w 0"/>
                <a:gd name="connsiteY1" fmla="*/ 731520 h 731520"/>
              </a:gdLst>
              <a:ahLst/>
              <a:cxnLst>
                <a:cxn ang="0">
                  <a:pos x="connsiteX0" y="connsiteY0"/>
                </a:cxn>
                <a:cxn ang="0">
                  <a:pos x="connsiteX1" y="connsiteY1"/>
                </a:cxn>
              </a:cxnLst>
              <a:rect l="l" t="t" r="r" b="b"/>
              <a:pathLst>
                <a:path h="731520">
                  <a:moveTo>
                    <a:pt x="0" y="0"/>
                  </a:moveTo>
                  <a:lnTo>
                    <a:pt x="0" y="731520"/>
                  </a:lnTo>
                </a:path>
              </a:pathLst>
            </a:custGeom>
            <a:ln w="28575">
              <a:solidFill>
                <a:schemeClr val="accent5">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630887" name="TextBox 116"/>
            <p:cNvSpPr txBox="1">
              <a:spLocks noChangeArrowheads="1"/>
            </p:cNvSpPr>
            <p:nvPr/>
          </p:nvSpPr>
          <p:spPr bwMode="auto">
            <a:xfrm>
              <a:off x="5220072" y="3429000"/>
              <a:ext cx="6783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GL to SCP</a:t>
              </a:r>
              <a:endParaRPr lang="th-TH" altLang="en-US" sz="800">
                <a:latin typeface="Arial" panose="020B0604020202020204" pitchFamily="34" charset="0"/>
              </a:endParaRPr>
            </a:p>
          </p:txBody>
        </p:sp>
        <p:pic>
          <p:nvPicPr>
            <p:cNvPr id="630888"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148064" y="1222167"/>
              <a:ext cx="2160240" cy="190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0889"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444208" y="1988840"/>
              <a:ext cx="2435180"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0890" name="TextBox 119"/>
            <p:cNvSpPr txBox="1">
              <a:spLocks noChangeArrowheads="1"/>
            </p:cNvSpPr>
            <p:nvPr/>
          </p:nvSpPr>
          <p:spPr bwMode="auto">
            <a:xfrm>
              <a:off x="2699792" y="3933056"/>
              <a:ext cx="6880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Dreg reject</a:t>
              </a:r>
              <a:endParaRPr lang="th-TH" altLang="en-US" sz="800">
                <a:latin typeface="Arial" panose="020B0604020202020204" pitchFamily="34" charset="0"/>
              </a:endParaRPr>
            </a:p>
          </p:txBody>
        </p:sp>
        <p:sp>
          <p:nvSpPr>
            <p:cNvPr id="630891" name="TextBox 120"/>
            <p:cNvSpPr txBox="1">
              <a:spLocks noChangeArrowheads="1"/>
            </p:cNvSpPr>
            <p:nvPr/>
          </p:nvSpPr>
          <p:spPr bwMode="auto">
            <a:xfrm>
              <a:off x="6876256" y="3861048"/>
              <a:ext cx="6367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Lime mud</a:t>
              </a:r>
              <a:endParaRPr lang="th-TH" altLang="en-US" sz="800">
                <a:latin typeface="Arial" panose="020B0604020202020204" pitchFamily="34" charset="0"/>
              </a:endParaRPr>
            </a:p>
          </p:txBody>
        </p:sp>
        <p:sp>
          <p:nvSpPr>
            <p:cNvPr id="630892" name="TextBox 121"/>
            <p:cNvSpPr txBox="1">
              <a:spLocks noChangeArrowheads="1"/>
            </p:cNvSpPr>
            <p:nvPr/>
          </p:nvSpPr>
          <p:spPr bwMode="auto">
            <a:xfrm>
              <a:off x="4572000" y="2874422"/>
              <a:ext cx="64807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GL</a:t>
              </a:r>
            </a:p>
            <a:p>
              <a:pPr>
                <a:spcBef>
                  <a:spcPct val="0"/>
                </a:spcBef>
                <a:buFontTx/>
                <a:buNone/>
              </a:pPr>
              <a:r>
                <a:rPr lang="en-US" altLang="en-US" sz="800">
                  <a:latin typeface="Arial" panose="020B0604020202020204" pitchFamily="34" charset="0"/>
                  <a:cs typeface="Arial" panose="020B0604020202020204" pitchFamily="34" charset="0"/>
                </a:rPr>
                <a:t>(Na2CO3)</a:t>
              </a:r>
              <a:endParaRPr lang="th-TH" altLang="en-US" sz="800">
                <a:latin typeface="Arial" panose="020B0604020202020204" pitchFamily="34" charset="0"/>
              </a:endParaRPr>
            </a:p>
          </p:txBody>
        </p:sp>
        <p:sp>
          <p:nvSpPr>
            <p:cNvPr id="123" name="Freeform 122"/>
            <p:cNvSpPr/>
            <p:nvPr/>
          </p:nvSpPr>
          <p:spPr>
            <a:xfrm>
              <a:off x="5178425" y="3722909"/>
              <a:ext cx="688975" cy="857443"/>
            </a:xfrm>
            <a:custGeom>
              <a:avLst/>
              <a:gdLst>
                <a:gd name="connsiteX0" fmla="*/ 1404518 w 1404518"/>
                <a:gd name="connsiteY0" fmla="*/ 1404518 h 1404518"/>
                <a:gd name="connsiteX1" fmla="*/ 1404518 w 1404518"/>
                <a:gd name="connsiteY1" fmla="*/ 0 h 1404518"/>
                <a:gd name="connsiteX2" fmla="*/ 0 w 1404518"/>
                <a:gd name="connsiteY2" fmla="*/ 0 h 1404518"/>
              </a:gdLst>
              <a:ahLst/>
              <a:cxnLst>
                <a:cxn ang="0">
                  <a:pos x="connsiteX0" y="connsiteY0"/>
                </a:cxn>
                <a:cxn ang="0">
                  <a:pos x="connsiteX1" y="connsiteY1"/>
                </a:cxn>
                <a:cxn ang="0">
                  <a:pos x="connsiteX2" y="connsiteY2"/>
                </a:cxn>
              </a:cxnLst>
              <a:rect l="l" t="t" r="r" b="b"/>
              <a:pathLst>
                <a:path w="1404518" h="1404518">
                  <a:moveTo>
                    <a:pt x="1404518" y="1404518"/>
                  </a:moveTo>
                  <a:lnTo>
                    <a:pt x="1404518" y="0"/>
                  </a:lnTo>
                  <a:lnTo>
                    <a:pt x="0" y="0"/>
                  </a:lnTo>
                </a:path>
              </a:pathLst>
            </a:cu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124" name="Freeform 123"/>
            <p:cNvSpPr/>
            <p:nvPr/>
          </p:nvSpPr>
          <p:spPr>
            <a:xfrm>
              <a:off x="4395788" y="3197011"/>
              <a:ext cx="636587" cy="525898"/>
            </a:xfrm>
            <a:custGeom>
              <a:avLst/>
              <a:gdLst>
                <a:gd name="connsiteX0" fmla="*/ 636423 w 636423"/>
                <a:gd name="connsiteY0" fmla="*/ 526695 h 526695"/>
                <a:gd name="connsiteX1" fmla="*/ 0 w 636423"/>
                <a:gd name="connsiteY1" fmla="*/ 526695 h 526695"/>
                <a:gd name="connsiteX2" fmla="*/ 0 w 636423"/>
                <a:gd name="connsiteY2" fmla="*/ 0 h 526695"/>
              </a:gdLst>
              <a:ahLst/>
              <a:cxnLst>
                <a:cxn ang="0">
                  <a:pos x="connsiteX0" y="connsiteY0"/>
                </a:cxn>
                <a:cxn ang="0">
                  <a:pos x="connsiteX1" y="connsiteY1"/>
                </a:cxn>
                <a:cxn ang="0">
                  <a:pos x="connsiteX2" y="connsiteY2"/>
                </a:cxn>
              </a:cxnLst>
              <a:rect l="l" t="t" r="r" b="b"/>
              <a:pathLst>
                <a:path w="636423" h="526695">
                  <a:moveTo>
                    <a:pt x="636423" y="526695"/>
                  </a:moveTo>
                  <a:lnTo>
                    <a:pt x="0" y="526695"/>
                  </a:lnTo>
                  <a:lnTo>
                    <a:pt x="0" y="0"/>
                  </a:lnTo>
                </a:path>
              </a:pathLst>
            </a:custGeom>
            <a:ln>
              <a:solidFill>
                <a:schemeClr val="accent2">
                  <a:lumMod val="60000"/>
                  <a:lumOff val="4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pic>
          <p:nvPicPr>
            <p:cNvPr id="630895" name="Picture 1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228184" y="5085184"/>
              <a:ext cx="785337" cy="810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
                  <a:solidFill>
                    <a:srgbClr val="000000"/>
                  </a:solidFill>
                  <a:miter lim="800000"/>
                  <a:headEnd/>
                  <a:tailEnd/>
                </a14:hiddenLine>
              </a:ext>
            </a:extLst>
          </p:spPr>
        </p:pic>
        <p:sp>
          <p:nvSpPr>
            <p:cNvPr id="126" name="Freeform 125"/>
            <p:cNvSpPr/>
            <p:nvPr/>
          </p:nvSpPr>
          <p:spPr>
            <a:xfrm>
              <a:off x="5986463" y="4840033"/>
              <a:ext cx="258762" cy="465469"/>
            </a:xfrm>
            <a:custGeom>
              <a:avLst/>
              <a:gdLst>
                <a:gd name="connsiteX0" fmla="*/ 258793 w 258793"/>
                <a:gd name="connsiteY0" fmla="*/ 465826 h 465826"/>
                <a:gd name="connsiteX1" fmla="*/ 0 w 258793"/>
                <a:gd name="connsiteY1" fmla="*/ 465826 h 465826"/>
                <a:gd name="connsiteX2" fmla="*/ 0 w 258793"/>
                <a:gd name="connsiteY2" fmla="*/ 0 h 465826"/>
              </a:gdLst>
              <a:ahLst/>
              <a:cxnLst>
                <a:cxn ang="0">
                  <a:pos x="connsiteX0" y="connsiteY0"/>
                </a:cxn>
                <a:cxn ang="0">
                  <a:pos x="connsiteX1" y="connsiteY1"/>
                </a:cxn>
                <a:cxn ang="0">
                  <a:pos x="connsiteX2" y="connsiteY2"/>
                </a:cxn>
              </a:cxnLst>
              <a:rect l="l" t="t" r="r" b="b"/>
              <a:pathLst>
                <a:path w="258793" h="465826">
                  <a:moveTo>
                    <a:pt x="258793" y="465826"/>
                  </a:moveTo>
                  <a:lnTo>
                    <a:pt x="0" y="465826"/>
                  </a:lnTo>
                  <a:lnTo>
                    <a:pt x="0" y="0"/>
                  </a:lnTo>
                </a:path>
              </a:pathLst>
            </a:custGeom>
            <a:ln>
              <a:solidFill>
                <a:schemeClr val="accent6">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630897" name="TextBox 126"/>
            <p:cNvSpPr txBox="1">
              <a:spLocks noChangeArrowheads="1"/>
            </p:cNvSpPr>
            <p:nvPr/>
          </p:nvSpPr>
          <p:spPr bwMode="auto">
            <a:xfrm>
              <a:off x="7765096" y="5373216"/>
              <a:ext cx="70564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800">
                  <a:latin typeface="Arial" panose="020B0604020202020204" pitchFamily="34" charset="0"/>
                  <a:cs typeface="Arial" panose="020B0604020202020204" pitchFamily="34" charset="0"/>
                </a:rPr>
                <a:t>Lime Mud </a:t>
              </a:r>
            </a:p>
            <a:p>
              <a:pPr>
                <a:spcBef>
                  <a:spcPct val="0"/>
                </a:spcBef>
                <a:buFontTx/>
                <a:buNone/>
              </a:pPr>
              <a:r>
                <a:rPr lang="en-US" altLang="en-US" sz="800">
                  <a:latin typeface="Arial" panose="020B0604020202020204" pitchFamily="34" charset="0"/>
                  <a:cs typeface="Arial" panose="020B0604020202020204" pitchFamily="34" charset="0"/>
                </a:rPr>
                <a:t>Mixing tank</a:t>
              </a:r>
              <a:endParaRPr lang="th-TH" altLang="en-US" sz="800">
                <a:latin typeface="Arial" panose="020B0604020202020204" pitchFamily="34" charset="0"/>
              </a:endParaRPr>
            </a:p>
          </p:txBody>
        </p:sp>
      </p:grpSp>
      <p:sp>
        <p:nvSpPr>
          <p:cNvPr id="630788" name="TextBox 127"/>
          <p:cNvSpPr txBox="1">
            <a:spLocks noChangeArrowheads="1"/>
          </p:cNvSpPr>
          <p:nvPr/>
        </p:nvSpPr>
        <p:spPr bwMode="auto">
          <a:xfrm>
            <a:off x="103188" y="793750"/>
            <a:ext cx="4016375" cy="677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200" b="1">
                <a:solidFill>
                  <a:srgbClr val="0000CC"/>
                </a:solidFill>
                <a:latin typeface="Arial" panose="020B0604020202020204" pitchFamily="34" charset="0"/>
                <a:cs typeface="Arial" panose="020B0604020202020204" pitchFamily="34" charset="0"/>
              </a:rPr>
              <a:t>SCL </a:t>
            </a:r>
            <a:r>
              <a:rPr lang="en-US" altLang="en-US" sz="1200" b="1">
                <a:latin typeface="Arial" panose="020B0604020202020204" pitchFamily="34" charset="0"/>
                <a:cs typeface="Arial" panose="020B0604020202020204" pitchFamily="34" charset="0"/>
              </a:rPr>
              <a:t>Ban Pong Pulp Mill</a:t>
            </a:r>
          </a:p>
          <a:p>
            <a:pPr>
              <a:spcBef>
                <a:spcPct val="0"/>
              </a:spcBef>
              <a:buFontTx/>
              <a:buNone/>
            </a:pPr>
            <a:r>
              <a:rPr lang="en-US" altLang="en-US" sz="1400" b="1">
                <a:solidFill>
                  <a:srgbClr val="FF0000"/>
                </a:solidFill>
                <a:latin typeface="Arial" panose="020B0604020202020204" pitchFamily="34" charset="0"/>
                <a:cs typeface="Arial" panose="020B0604020202020204" pitchFamily="34" charset="0"/>
              </a:rPr>
              <a:t>CHEMICAL RECOVERY PROCESS DIAGRAM</a:t>
            </a:r>
          </a:p>
          <a:p>
            <a:pPr>
              <a:spcBef>
                <a:spcPct val="0"/>
              </a:spcBef>
              <a:buFontTx/>
              <a:buNone/>
            </a:pPr>
            <a:r>
              <a:rPr lang="en-US" altLang="en-US" sz="1100" b="1">
                <a:latin typeface="Arial" panose="020B0604020202020204" pitchFamily="34" charset="0"/>
                <a:cs typeface="Arial" panose="020B0604020202020204" pitchFamily="34" charset="0"/>
              </a:rPr>
              <a:t>300TDS/d, Steam 63bar, 40ton/hr</a:t>
            </a:r>
            <a:endParaRPr lang="th-TH" altLang="en-US" sz="1100" b="1">
              <a:latin typeface="Arial" panose="020B0604020202020204" pitchFamily="34" charset="0"/>
            </a:endParaRPr>
          </a:p>
        </p:txBody>
      </p:sp>
      <p:sp>
        <p:nvSpPr>
          <p:cNvPr id="630789" name="TextBox 3"/>
          <p:cNvSpPr txBox="1">
            <a:spLocks noChangeArrowheads="1"/>
          </p:cNvSpPr>
          <p:nvPr/>
        </p:nvSpPr>
        <p:spPr bwMode="auto">
          <a:xfrm>
            <a:off x="-36513" y="6165850"/>
            <a:ext cx="2416176"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a:t>Credit: Weerachai Seachao</a:t>
            </a:r>
          </a:p>
        </p:txBody>
      </p:sp>
    </p:spTree>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706" name="Title 1"/>
          <p:cNvSpPr>
            <a:spLocks noGrp="1"/>
          </p:cNvSpPr>
          <p:nvPr>
            <p:ph type="title"/>
          </p:nvPr>
        </p:nvSpPr>
        <p:spPr/>
        <p:txBody>
          <a:bodyPr/>
          <a:lstStyle/>
          <a:p>
            <a:r>
              <a:rPr lang="en-US" altLang="en-US" b="1" smtClean="0"/>
              <a:t>Lime Kiln</a:t>
            </a:r>
          </a:p>
        </p:txBody>
      </p:sp>
      <p:pic>
        <p:nvPicPr>
          <p:cNvPr id="584707"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814513"/>
            <a:ext cx="9117013" cy="3170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06.mp4">
            <a:hlinkClick r:id="" action="ppaction://media"/>
          </p:cNvPr>
          <p:cNvPicPr>
            <a:picLocks noRot="1" noChangeAspect="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801688" y="792163"/>
            <a:ext cx="7485062" cy="561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itle 1"/>
          <p:cNvSpPr>
            <a:spLocks noGrp="1"/>
          </p:cNvSpPr>
          <p:nvPr>
            <p:ph type="title"/>
          </p:nvPr>
        </p:nvSpPr>
        <p:spPr>
          <a:xfrm>
            <a:off x="0" y="-20638"/>
            <a:ext cx="9144000" cy="812801"/>
          </a:xfrm>
        </p:spPr>
        <p:txBody>
          <a:bodyPr anchor="t"/>
          <a:lstStyle/>
          <a:p>
            <a:pPr>
              <a:defRPr/>
            </a:pPr>
            <a:r>
              <a:rPr lang="en-US" dirty="0" smtClean="0">
                <a:solidFill>
                  <a:srgbClr val="FF0000"/>
                </a:solidFill>
                <a:effectLst>
                  <a:outerShdw blurRad="38100" dist="38100" dir="2700000" algn="tl">
                    <a:srgbClr val="000000">
                      <a:alpha val="43137"/>
                    </a:srgbClr>
                  </a:outerShdw>
                </a:effectLst>
              </a:rPr>
              <a:t>  </a:t>
            </a:r>
            <a:r>
              <a:rPr lang="en-US" sz="3200" dirty="0" smtClean="0">
                <a:solidFill>
                  <a:srgbClr val="FF0000"/>
                </a:solidFill>
                <a:effectLst>
                  <a:outerShdw blurRad="38100" dist="38100" dir="2700000" algn="tl">
                    <a:srgbClr val="000000">
                      <a:alpha val="43137"/>
                    </a:srgbClr>
                  </a:outerShdw>
                </a:effectLst>
              </a:rPr>
              <a:t>B</a:t>
            </a:r>
            <a:r>
              <a:rPr lang="en-US" sz="2200" dirty="0" smtClean="0"/>
              <a:t>asic Theory of Lime Recycling (Lime Kiln Overview)</a:t>
            </a:r>
            <a:endParaRPr lang="th-TH" sz="2200" dirty="0"/>
          </a:p>
        </p:txBody>
      </p:sp>
      <p:cxnSp>
        <p:nvCxnSpPr>
          <p:cNvPr id="4" name="Straight Connector 3"/>
          <p:cNvCxnSpPr/>
          <p:nvPr/>
        </p:nvCxnSpPr>
        <p:spPr>
          <a:xfrm>
            <a:off x="26988" y="531813"/>
            <a:ext cx="9034462" cy="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spTree>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childTnLst>
        </p:cTn>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0" y="-20638"/>
            <a:ext cx="9144000" cy="812801"/>
          </a:xfrm>
        </p:spPr>
        <p:txBody>
          <a:bodyPr anchor="t"/>
          <a:lstStyle/>
          <a:p>
            <a:pPr>
              <a:defRPr/>
            </a:pPr>
            <a:r>
              <a:rPr lang="en-US" dirty="0" smtClean="0">
                <a:solidFill>
                  <a:srgbClr val="FF0000"/>
                </a:solidFill>
                <a:effectLst>
                  <a:outerShdw blurRad="38100" dist="38100" dir="2700000" algn="tl">
                    <a:srgbClr val="000000">
                      <a:alpha val="43137"/>
                    </a:srgbClr>
                  </a:outerShdw>
                </a:effectLst>
              </a:rPr>
              <a:t>  </a:t>
            </a:r>
            <a:r>
              <a:rPr lang="en-US" sz="3200" dirty="0" smtClean="0">
                <a:solidFill>
                  <a:srgbClr val="FF0000"/>
                </a:solidFill>
                <a:effectLst>
                  <a:outerShdw blurRad="38100" dist="38100" dir="2700000" algn="tl">
                    <a:srgbClr val="000000">
                      <a:alpha val="43137"/>
                    </a:srgbClr>
                  </a:outerShdw>
                </a:effectLst>
              </a:rPr>
              <a:t>B</a:t>
            </a:r>
            <a:r>
              <a:rPr lang="en-US" sz="2200" dirty="0" smtClean="0"/>
              <a:t>asic Theory of Lime Recycling (Lime Kiln Overview)</a:t>
            </a:r>
            <a:endParaRPr lang="th-TH" sz="2200" dirty="0"/>
          </a:p>
        </p:txBody>
      </p:sp>
      <p:cxnSp>
        <p:nvCxnSpPr>
          <p:cNvPr id="4" name="Straight Connector 3"/>
          <p:cNvCxnSpPr/>
          <p:nvPr/>
        </p:nvCxnSpPr>
        <p:spPr>
          <a:xfrm>
            <a:off x="26988" y="531813"/>
            <a:ext cx="9034462" cy="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pic>
        <p:nvPicPr>
          <p:cNvPr id="587780"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07950" y="2452688"/>
            <a:ext cx="4383088" cy="3287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7781" name="Picture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630738" y="2452688"/>
            <a:ext cx="4384675" cy="3287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7782" name="TextBox 6"/>
          <p:cNvSpPr txBox="1">
            <a:spLocks noChangeArrowheads="1"/>
          </p:cNvSpPr>
          <p:nvPr/>
        </p:nvSpPr>
        <p:spPr bwMode="auto">
          <a:xfrm>
            <a:off x="69850" y="1204913"/>
            <a:ext cx="8907463" cy="1014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u="sng">
                <a:latin typeface="Tahoma" panose="020B0604030504040204" pitchFamily="34" charset="0"/>
                <a:cs typeface="Tahoma" panose="020B0604030504040204" pitchFamily="34" charset="0"/>
              </a:rPr>
              <a:t>Lime Kiln Concept</a:t>
            </a:r>
          </a:p>
          <a:p>
            <a:pPr>
              <a:spcBef>
                <a:spcPct val="0"/>
              </a:spcBef>
              <a:buFontTx/>
              <a:buNone/>
            </a:pPr>
            <a:r>
              <a:rPr lang="en-US" altLang="en-US" sz="2000">
                <a:latin typeface="Tahoma" panose="020B0604030504040204" pitchFamily="34" charset="0"/>
                <a:cs typeface="Tahoma" panose="020B0604030504040204" pitchFamily="34" charset="0"/>
              </a:rPr>
              <a:t>- </a:t>
            </a:r>
            <a:r>
              <a:rPr lang="th-TH" altLang="en-US" sz="2000">
                <a:latin typeface="Tahoma" panose="020B0604030504040204" pitchFamily="34" charset="0"/>
                <a:cs typeface="Tahoma" panose="020B0604030504040204" pitchFamily="34" charset="0"/>
              </a:rPr>
              <a:t>ใช้องค์ประกอบ </a:t>
            </a:r>
            <a:r>
              <a:rPr lang="en-US" altLang="en-US" sz="2000">
                <a:latin typeface="Tahoma" panose="020B0604030504040204" pitchFamily="34" charset="0"/>
                <a:cs typeface="Tahoma" panose="020B0604030504040204" pitchFamily="34" charset="0"/>
              </a:rPr>
              <a:t>3 </a:t>
            </a:r>
            <a:r>
              <a:rPr lang="th-TH" altLang="en-US" sz="2000">
                <a:latin typeface="Tahoma" panose="020B0604030504040204" pitchFamily="34" charset="0"/>
                <a:cs typeface="Tahoma" panose="020B0604030504040204" pitchFamily="34" charset="0"/>
              </a:rPr>
              <a:t>อย่างคือ ความร้อน, การหมุนของ </a:t>
            </a:r>
            <a:r>
              <a:rPr lang="en-US" altLang="en-US" sz="2000">
                <a:latin typeface="Tahoma" panose="020B0604030504040204" pitchFamily="34" charset="0"/>
                <a:cs typeface="Tahoma" panose="020B0604030504040204" pitchFamily="34" charset="0"/>
              </a:rPr>
              <a:t>Kiln</a:t>
            </a:r>
            <a:r>
              <a:rPr lang="th-TH" altLang="en-US" sz="2000">
                <a:latin typeface="Tahoma" panose="020B0604030504040204" pitchFamily="34" charset="0"/>
                <a:cs typeface="Tahoma" panose="020B0604030504040204" pitchFamily="34" charset="0"/>
              </a:rPr>
              <a:t> และความเร็วลมเพื่อเปลี่ยน </a:t>
            </a:r>
            <a:r>
              <a:rPr lang="en-US" altLang="en-US" sz="2000">
                <a:latin typeface="Tahoma" panose="020B0604030504040204" pitchFamily="34" charset="0"/>
                <a:cs typeface="Tahoma" panose="020B0604030504040204" pitchFamily="34" charset="0"/>
              </a:rPr>
              <a:t>Lime Mud </a:t>
            </a:r>
            <a:r>
              <a:rPr lang="th-TH" altLang="en-US" sz="2000">
                <a:latin typeface="Tahoma" panose="020B0604030504040204" pitchFamily="34" charset="0"/>
                <a:cs typeface="Tahoma" panose="020B0604030504040204" pitchFamily="34" charset="0"/>
              </a:rPr>
              <a:t>ให้กลายเป็น </a:t>
            </a:r>
            <a:r>
              <a:rPr lang="en-US" altLang="en-US" sz="2000">
                <a:latin typeface="Tahoma" panose="020B0604030504040204" pitchFamily="34" charset="0"/>
                <a:cs typeface="Tahoma" panose="020B0604030504040204" pitchFamily="34" charset="0"/>
              </a:rPr>
              <a:t>Lime </a:t>
            </a:r>
            <a:r>
              <a:rPr lang="th-TH" altLang="en-US" sz="2000">
                <a:latin typeface="Tahoma" panose="020B0604030504040204" pitchFamily="34" charset="0"/>
                <a:cs typeface="Tahoma" panose="020B0604030504040204" pitchFamily="34" charset="0"/>
              </a:rPr>
              <a:t>ซึ่งเราเรียกกระบวนการนี้ว่า </a:t>
            </a:r>
            <a:r>
              <a:rPr lang="en-US" altLang="en-US" sz="2000">
                <a:latin typeface="Tahoma" panose="020B0604030504040204" pitchFamily="34" charset="0"/>
                <a:cs typeface="Tahoma" panose="020B0604030504040204" pitchFamily="34" charset="0"/>
              </a:rPr>
              <a:t>“</a:t>
            </a:r>
            <a:r>
              <a:rPr lang="en-US" altLang="en-US" sz="2000" b="1">
                <a:latin typeface="Tahoma" panose="020B0604030504040204" pitchFamily="34" charset="0"/>
                <a:cs typeface="Tahoma" panose="020B0604030504040204" pitchFamily="34" charset="0"/>
              </a:rPr>
              <a:t>Calcining</a:t>
            </a:r>
            <a:r>
              <a:rPr lang="en-US" altLang="en-US" sz="2000">
                <a:latin typeface="Tahoma" panose="020B0604030504040204" pitchFamily="34" charset="0"/>
                <a:cs typeface="Tahoma" panose="020B0604030504040204" pitchFamily="34" charset="0"/>
              </a:rPr>
              <a:t>”</a:t>
            </a:r>
          </a:p>
        </p:txBody>
      </p:sp>
    </p:spTree>
  </p:cSld>
  <p:clrMapOvr>
    <a:masterClrMapping/>
  </p:clrMapOvr>
  <p:transition>
    <p:fade/>
  </p:transition>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0" y="-20638"/>
            <a:ext cx="9144000" cy="812801"/>
          </a:xfrm>
        </p:spPr>
        <p:txBody>
          <a:bodyPr anchor="t"/>
          <a:lstStyle/>
          <a:p>
            <a:pPr>
              <a:defRPr/>
            </a:pPr>
            <a:r>
              <a:rPr lang="en-US" dirty="0" smtClean="0">
                <a:solidFill>
                  <a:srgbClr val="FF0000"/>
                </a:solidFill>
                <a:effectLst>
                  <a:outerShdw blurRad="38100" dist="38100" dir="2700000" algn="tl">
                    <a:srgbClr val="000000">
                      <a:alpha val="43137"/>
                    </a:srgbClr>
                  </a:outerShdw>
                </a:effectLst>
              </a:rPr>
              <a:t>  </a:t>
            </a:r>
            <a:r>
              <a:rPr lang="en-US" sz="3200" dirty="0" smtClean="0">
                <a:solidFill>
                  <a:srgbClr val="FF0000"/>
                </a:solidFill>
                <a:effectLst>
                  <a:outerShdw blurRad="38100" dist="38100" dir="2700000" algn="tl">
                    <a:srgbClr val="000000">
                      <a:alpha val="43137"/>
                    </a:srgbClr>
                  </a:outerShdw>
                </a:effectLst>
              </a:rPr>
              <a:t>B</a:t>
            </a:r>
            <a:r>
              <a:rPr lang="en-US" sz="2200" dirty="0" smtClean="0"/>
              <a:t>asic Theory of Lime Recycling (Lime Kiln Overview)</a:t>
            </a:r>
            <a:endParaRPr lang="th-TH" sz="2200" dirty="0"/>
          </a:p>
        </p:txBody>
      </p:sp>
      <p:cxnSp>
        <p:nvCxnSpPr>
          <p:cNvPr id="4" name="Straight Connector 3"/>
          <p:cNvCxnSpPr/>
          <p:nvPr/>
        </p:nvCxnSpPr>
        <p:spPr>
          <a:xfrm>
            <a:off x="26988" y="531813"/>
            <a:ext cx="9034462" cy="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sp>
        <p:nvSpPr>
          <p:cNvPr id="589828" name="TextBox 6"/>
          <p:cNvSpPr txBox="1">
            <a:spLocks noChangeArrowheads="1"/>
          </p:cNvSpPr>
          <p:nvPr/>
        </p:nvSpPr>
        <p:spPr bwMode="auto">
          <a:xfrm>
            <a:off x="3865563" y="1255713"/>
            <a:ext cx="5434012"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914400" indent="-45720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u="sng">
                <a:latin typeface="Tahoma" panose="020B0604030504040204" pitchFamily="34" charset="0"/>
                <a:cs typeface="Tahoma" panose="020B0604030504040204" pitchFamily="34" charset="0"/>
              </a:rPr>
              <a:t>Lime Kiln for Kraft Mill</a:t>
            </a:r>
          </a:p>
          <a:p>
            <a:pPr>
              <a:spcBef>
                <a:spcPct val="0"/>
              </a:spcBef>
              <a:buFontTx/>
              <a:buNone/>
            </a:pPr>
            <a:r>
              <a:rPr lang="en-US" altLang="en-US" sz="2000">
                <a:latin typeface="Tahoma" panose="020B0604030504040204" pitchFamily="34" charset="0"/>
                <a:cs typeface="Tahoma" panose="020B0604030504040204" pitchFamily="34" charset="0"/>
              </a:rPr>
              <a:t>- Design </a:t>
            </a:r>
            <a:r>
              <a:rPr lang="th-TH" altLang="en-US" sz="2000">
                <a:latin typeface="Tahoma" panose="020B0604030504040204" pitchFamily="34" charset="0"/>
                <a:cs typeface="Tahoma" panose="020B0604030504040204" pitchFamily="34" charset="0"/>
              </a:rPr>
              <a:t>ที่ใช้พบว่าใช้กันมากสำหรับ </a:t>
            </a:r>
            <a:r>
              <a:rPr lang="en-US" altLang="en-US" sz="2000">
                <a:latin typeface="Tahoma" panose="020B0604030504040204" pitchFamily="34" charset="0"/>
                <a:cs typeface="Tahoma" panose="020B0604030504040204" pitchFamily="34" charset="0"/>
              </a:rPr>
              <a:t>Kraft pulp mill </a:t>
            </a:r>
            <a:r>
              <a:rPr lang="th-TH" altLang="en-US" sz="2000">
                <a:latin typeface="Tahoma" panose="020B0604030504040204" pitchFamily="34" charset="0"/>
                <a:cs typeface="Tahoma" panose="020B0604030504040204" pitchFamily="34" charset="0"/>
              </a:rPr>
              <a:t>คือ “</a:t>
            </a:r>
            <a:r>
              <a:rPr lang="en-US" altLang="en-US" sz="2000">
                <a:latin typeface="Tahoma" panose="020B0604030504040204" pitchFamily="34" charset="0"/>
                <a:cs typeface="Tahoma" panose="020B0604030504040204" pitchFamily="34" charset="0"/>
              </a:rPr>
              <a:t>Rotary Lime Kiln” </a:t>
            </a:r>
            <a:r>
              <a:rPr lang="th-TH" altLang="en-US" sz="2000">
                <a:latin typeface="Tahoma" panose="020B0604030504040204" pitchFamily="34" charset="0"/>
                <a:cs typeface="Tahoma" panose="020B0604030504040204" pitchFamily="34" charset="0"/>
              </a:rPr>
              <a:t>ซึ่งมีองค์ประกอบหลักๆ </a:t>
            </a:r>
            <a:r>
              <a:rPr lang="en-US" altLang="en-US" sz="2000">
                <a:latin typeface="Tahoma" panose="020B0604030504040204" pitchFamily="34" charset="0"/>
                <a:cs typeface="Tahoma" panose="020B0604030504040204" pitchFamily="34" charset="0"/>
              </a:rPr>
              <a:t>3 </a:t>
            </a:r>
            <a:r>
              <a:rPr lang="th-TH" altLang="en-US" sz="2000">
                <a:latin typeface="Tahoma" panose="020B0604030504040204" pitchFamily="34" charset="0"/>
                <a:cs typeface="Tahoma" panose="020B0604030504040204" pitchFamily="34" charset="0"/>
              </a:rPr>
              <a:t>ประการคือ</a:t>
            </a:r>
          </a:p>
          <a:p>
            <a:pPr lvl="1">
              <a:spcBef>
                <a:spcPct val="0"/>
              </a:spcBef>
              <a:buFontTx/>
              <a:buAutoNum type="arabicParenR"/>
            </a:pPr>
            <a:r>
              <a:rPr lang="th-TH" altLang="en-US" sz="2000">
                <a:latin typeface="Tahoma" panose="020B0604030504040204" pitchFamily="34" charset="0"/>
                <a:cs typeface="Tahoma" panose="020B0604030504040204" pitchFamily="34" charset="0"/>
              </a:rPr>
              <a:t>เป็นทรงกระบอกยาว</a:t>
            </a:r>
          </a:p>
          <a:p>
            <a:pPr lvl="1">
              <a:spcBef>
                <a:spcPct val="0"/>
              </a:spcBef>
              <a:buFontTx/>
              <a:buAutoNum type="arabicParenR"/>
            </a:pPr>
            <a:r>
              <a:rPr lang="th-TH" altLang="en-US" sz="2000">
                <a:latin typeface="Tahoma" panose="020B0604030504040204" pitchFamily="34" charset="0"/>
                <a:cs typeface="Tahoma" panose="020B0604030504040204" pitchFamily="34" charset="0"/>
              </a:rPr>
              <a:t>ทั้งให้เอียงให้สูงจากแนวนอนขึ้นเล็กน้อย</a:t>
            </a:r>
          </a:p>
          <a:p>
            <a:pPr lvl="1">
              <a:spcBef>
                <a:spcPct val="0"/>
              </a:spcBef>
              <a:buFontTx/>
              <a:buAutoNum type="arabicParenR"/>
            </a:pPr>
            <a:r>
              <a:rPr lang="th-TH" altLang="en-US" sz="2000">
                <a:latin typeface="Tahoma" panose="020B0604030504040204" pitchFamily="34" charset="0"/>
                <a:cs typeface="Tahoma" panose="020B0604030504040204" pitchFamily="34" charset="0"/>
              </a:rPr>
              <a:t>หมุนรอบตัวเองช้าๆ</a:t>
            </a:r>
            <a:endParaRPr lang="en-US" altLang="en-US" sz="2000">
              <a:latin typeface="Tahoma" panose="020B0604030504040204" pitchFamily="34" charset="0"/>
              <a:cs typeface="Tahoma" panose="020B0604030504040204" pitchFamily="34" charset="0"/>
            </a:endParaRPr>
          </a:p>
        </p:txBody>
      </p:sp>
      <p:pic>
        <p:nvPicPr>
          <p:cNvPr id="589829"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06363" y="914400"/>
            <a:ext cx="3751262" cy="281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9830"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03188" y="3962400"/>
            <a:ext cx="2905125" cy="2179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9831" name="Picture 8"/>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3154363" y="3938588"/>
            <a:ext cx="2938462" cy="220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9832" name="Picture 9"/>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6207125" y="3938588"/>
            <a:ext cx="2936875" cy="220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9833" name="TextBox 10"/>
          <p:cNvSpPr txBox="1">
            <a:spLocks noChangeArrowheads="1"/>
          </p:cNvSpPr>
          <p:nvPr/>
        </p:nvSpPr>
        <p:spPr bwMode="auto">
          <a:xfrm>
            <a:off x="485775" y="5448300"/>
            <a:ext cx="220503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b="1">
                <a:solidFill>
                  <a:schemeClr val="bg1"/>
                </a:solidFill>
              </a:rPr>
              <a:t>Long Cylinder</a:t>
            </a:r>
            <a:endParaRPr lang="en-US" altLang="en-US" sz="2800" b="1" baseline="-25000">
              <a:solidFill>
                <a:schemeClr val="bg1"/>
              </a:solidFill>
            </a:endParaRPr>
          </a:p>
        </p:txBody>
      </p:sp>
      <p:sp>
        <p:nvSpPr>
          <p:cNvPr id="589834" name="TextBox 11"/>
          <p:cNvSpPr txBox="1">
            <a:spLocks noChangeArrowheads="1"/>
          </p:cNvSpPr>
          <p:nvPr/>
        </p:nvSpPr>
        <p:spPr bwMode="auto">
          <a:xfrm>
            <a:off x="3479800" y="5464175"/>
            <a:ext cx="234473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b="1">
                <a:solidFill>
                  <a:schemeClr val="bg1"/>
                </a:solidFill>
              </a:rPr>
              <a:t>Slightly Incline</a:t>
            </a:r>
            <a:endParaRPr lang="en-US" altLang="en-US" sz="2800" b="1" baseline="-25000">
              <a:solidFill>
                <a:schemeClr val="bg1"/>
              </a:solidFill>
            </a:endParaRPr>
          </a:p>
        </p:txBody>
      </p:sp>
      <p:sp>
        <p:nvSpPr>
          <p:cNvPr id="589835" name="TextBox 12"/>
          <p:cNvSpPr txBox="1">
            <a:spLocks noChangeArrowheads="1"/>
          </p:cNvSpPr>
          <p:nvPr/>
        </p:nvSpPr>
        <p:spPr bwMode="auto">
          <a:xfrm>
            <a:off x="6567488" y="5497513"/>
            <a:ext cx="22288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b="1">
                <a:solidFill>
                  <a:schemeClr val="bg1"/>
                </a:solidFill>
              </a:rPr>
              <a:t>Slowly Rotate</a:t>
            </a:r>
            <a:endParaRPr lang="en-US" altLang="en-US" sz="2800" b="1" baseline="-25000">
              <a:solidFill>
                <a:schemeClr val="bg1"/>
              </a:solidFill>
            </a:endParaRPr>
          </a:p>
        </p:txBody>
      </p:sp>
    </p:spTree>
  </p:cSld>
  <p:clrMapOvr>
    <a:masterClrMapping/>
  </p:clrMapOvr>
  <p:transition>
    <p:fade/>
  </p:transition>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0" y="-20638"/>
            <a:ext cx="9144000" cy="812801"/>
          </a:xfrm>
        </p:spPr>
        <p:txBody>
          <a:bodyPr anchor="t"/>
          <a:lstStyle/>
          <a:p>
            <a:pPr>
              <a:defRPr/>
            </a:pPr>
            <a:r>
              <a:rPr lang="en-US" dirty="0" smtClean="0">
                <a:solidFill>
                  <a:srgbClr val="FF0000"/>
                </a:solidFill>
                <a:effectLst>
                  <a:outerShdw blurRad="38100" dist="38100" dir="2700000" algn="tl">
                    <a:srgbClr val="000000">
                      <a:alpha val="43137"/>
                    </a:srgbClr>
                  </a:outerShdw>
                </a:effectLst>
              </a:rPr>
              <a:t>  </a:t>
            </a:r>
            <a:r>
              <a:rPr lang="en-US" sz="3200" dirty="0" smtClean="0">
                <a:solidFill>
                  <a:srgbClr val="FF0000"/>
                </a:solidFill>
                <a:effectLst>
                  <a:outerShdw blurRad="38100" dist="38100" dir="2700000" algn="tl">
                    <a:srgbClr val="000000">
                      <a:alpha val="43137"/>
                    </a:srgbClr>
                  </a:outerShdw>
                </a:effectLst>
              </a:rPr>
              <a:t>B</a:t>
            </a:r>
            <a:r>
              <a:rPr lang="en-US" sz="2200" dirty="0" smtClean="0"/>
              <a:t>asic Theory of Lime Recycling (Lime Kiln Overview)</a:t>
            </a:r>
            <a:endParaRPr lang="th-TH" sz="2200" dirty="0"/>
          </a:p>
        </p:txBody>
      </p:sp>
      <p:cxnSp>
        <p:nvCxnSpPr>
          <p:cNvPr id="4" name="Straight Connector 3"/>
          <p:cNvCxnSpPr/>
          <p:nvPr/>
        </p:nvCxnSpPr>
        <p:spPr>
          <a:xfrm>
            <a:off x="26988" y="531813"/>
            <a:ext cx="9034462" cy="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sp>
        <p:nvSpPr>
          <p:cNvPr id="591876" name="TextBox 6"/>
          <p:cNvSpPr txBox="1">
            <a:spLocks noChangeArrowheads="1"/>
          </p:cNvSpPr>
          <p:nvPr/>
        </p:nvSpPr>
        <p:spPr bwMode="auto">
          <a:xfrm>
            <a:off x="146050" y="3706813"/>
            <a:ext cx="8915400" cy="1939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th-TH" altLang="en-US" sz="2000" b="1" u="sng">
                <a:latin typeface="Tahoma" panose="020B0604030504040204" pitchFamily="34" charset="0"/>
                <a:cs typeface="Tahoma" panose="020B0604030504040204" pitchFamily="34" charset="0"/>
              </a:rPr>
              <a:t>หน้าที่แต่ละส่วนของ </a:t>
            </a:r>
            <a:r>
              <a:rPr lang="en-US" altLang="en-US" sz="2000" b="1" u="sng">
                <a:latin typeface="Tahoma" panose="020B0604030504040204" pitchFamily="34" charset="0"/>
                <a:cs typeface="Tahoma" panose="020B0604030504040204" pitchFamily="34" charset="0"/>
              </a:rPr>
              <a:t>Lime Kiln </a:t>
            </a:r>
          </a:p>
          <a:p>
            <a:pPr>
              <a:spcBef>
                <a:spcPct val="0"/>
              </a:spcBef>
              <a:buFontTx/>
              <a:buNone/>
            </a:pPr>
            <a:r>
              <a:rPr lang="en-US" altLang="en-US" sz="2000">
                <a:latin typeface="Tahoma" panose="020B0604030504040204" pitchFamily="34" charset="0"/>
                <a:cs typeface="Tahoma" panose="020B0604030504040204" pitchFamily="34" charset="0"/>
              </a:rPr>
              <a:t>- Lime Mud </a:t>
            </a:r>
            <a:r>
              <a:rPr lang="th-TH" altLang="en-US" sz="2000">
                <a:latin typeface="Tahoma" panose="020B0604030504040204" pitchFamily="34" charset="0"/>
                <a:cs typeface="Tahoma" panose="020B0604030504040204" pitchFamily="34" charset="0"/>
              </a:rPr>
              <a:t>จะถูก</a:t>
            </a:r>
            <a:r>
              <a:rPr lang="en-US" altLang="en-US" sz="2000">
                <a:latin typeface="Tahoma" panose="020B0604030504040204" pitchFamily="34" charset="0"/>
                <a:cs typeface="Tahoma" panose="020B0604030504040204" pitchFamily="34" charset="0"/>
              </a:rPr>
              <a:t> Feed </a:t>
            </a:r>
            <a:r>
              <a:rPr lang="th-TH" altLang="en-US" sz="2000">
                <a:latin typeface="Tahoma" panose="020B0604030504040204" pitchFamily="34" charset="0"/>
                <a:cs typeface="Tahoma" panose="020B0604030504040204" pitchFamily="34" charset="0"/>
              </a:rPr>
              <a:t>เข้ามาอย่างต่อเนื่องจากด้านที่สูงกว่าของ </a:t>
            </a:r>
            <a:r>
              <a:rPr lang="en-US" altLang="en-US" sz="2000">
                <a:latin typeface="Tahoma" panose="020B0604030504040204" pitchFamily="34" charset="0"/>
                <a:cs typeface="Tahoma" panose="020B0604030504040204" pitchFamily="34" charset="0"/>
              </a:rPr>
              <a:t>Kiln, </a:t>
            </a:r>
            <a:r>
              <a:rPr lang="th-TH" altLang="en-US" sz="2000">
                <a:latin typeface="Tahoma" panose="020B0604030504040204" pitchFamily="34" charset="0"/>
                <a:cs typeface="Tahoma" panose="020B0604030504040204" pitchFamily="34" charset="0"/>
              </a:rPr>
              <a:t>จากหลักการที่ </a:t>
            </a:r>
            <a:r>
              <a:rPr lang="en-US" altLang="en-US" sz="2000">
                <a:latin typeface="Tahoma" panose="020B0604030504040204" pitchFamily="34" charset="0"/>
                <a:cs typeface="Tahoma" panose="020B0604030504040204" pitchFamily="34" charset="0"/>
              </a:rPr>
              <a:t>Kiln </a:t>
            </a:r>
            <a:r>
              <a:rPr lang="th-TH" altLang="en-US" sz="2000">
                <a:latin typeface="Tahoma" panose="020B0604030504040204" pitchFamily="34" charset="0"/>
                <a:cs typeface="Tahoma" panose="020B0604030504040204" pitchFamily="34" charset="0"/>
              </a:rPr>
              <a:t>เอียงและหมุนรอบตัวเองจึงทำให้ </a:t>
            </a:r>
            <a:r>
              <a:rPr lang="en-US" altLang="en-US" sz="2000">
                <a:latin typeface="Tahoma" panose="020B0604030504040204" pitchFamily="34" charset="0"/>
                <a:cs typeface="Tahoma" panose="020B0604030504040204" pitchFamily="34" charset="0"/>
              </a:rPr>
              <a:t>Lime Mud </a:t>
            </a:r>
            <a:r>
              <a:rPr lang="th-TH" altLang="en-US" sz="2000">
                <a:latin typeface="Tahoma" panose="020B0604030504040204" pitchFamily="34" charset="0"/>
                <a:cs typeface="Tahoma" panose="020B0604030504040204" pitchFamily="34" charset="0"/>
              </a:rPr>
              <a:t>กลิ้งไหลมาด้านที่ต่ำกว่าอย่างต่อเนื่อง</a:t>
            </a:r>
          </a:p>
          <a:p>
            <a:pPr>
              <a:spcBef>
                <a:spcPct val="0"/>
              </a:spcBef>
              <a:buFontTx/>
              <a:buNone/>
            </a:pPr>
            <a:r>
              <a:rPr lang="en-US" altLang="en-US" sz="2000">
                <a:latin typeface="Tahoma" panose="020B0604030504040204" pitchFamily="34" charset="0"/>
                <a:cs typeface="Tahoma" panose="020B0604030504040204" pitchFamily="34" charset="0"/>
              </a:rPr>
              <a:t>- Burner </a:t>
            </a:r>
            <a:r>
              <a:rPr lang="th-TH" altLang="en-US" sz="2000">
                <a:latin typeface="Tahoma" panose="020B0604030504040204" pitchFamily="34" charset="0"/>
                <a:cs typeface="Tahoma" panose="020B0604030504040204" pitchFamily="34" charset="0"/>
              </a:rPr>
              <a:t>ถูกติดตั้งอยู่ที่ด้านตรงข้ามมีหน้าที่ส่งความร้อนสำหรับปฎิกริยา </a:t>
            </a:r>
            <a:r>
              <a:rPr lang="en-US" altLang="en-US" sz="2000">
                <a:latin typeface="Tahoma" panose="020B0604030504040204" pitchFamily="34" charset="0"/>
                <a:cs typeface="Tahoma" panose="020B0604030504040204" pitchFamily="34" charset="0"/>
              </a:rPr>
              <a:t>Calcining</a:t>
            </a:r>
          </a:p>
          <a:p>
            <a:pPr>
              <a:spcBef>
                <a:spcPct val="0"/>
              </a:spcBef>
              <a:buFontTx/>
              <a:buNone/>
            </a:pPr>
            <a:r>
              <a:rPr lang="en-US" altLang="en-US" sz="2000">
                <a:latin typeface="Tahoma" panose="020B0604030504040204" pitchFamily="34" charset="0"/>
                <a:cs typeface="Tahoma" panose="020B0604030504040204" pitchFamily="34" charset="0"/>
              </a:rPr>
              <a:t>- ID Fan </a:t>
            </a:r>
            <a:r>
              <a:rPr lang="th-TH" altLang="en-US" sz="2000">
                <a:latin typeface="Tahoma" panose="020B0604030504040204" pitchFamily="34" charset="0"/>
                <a:cs typeface="Tahoma" panose="020B0604030504040204" pitchFamily="34" charset="0"/>
              </a:rPr>
              <a:t>ถูกติดตั้งอยู่ที่ด้าน </a:t>
            </a:r>
            <a:r>
              <a:rPr lang="en-US" altLang="en-US" sz="2000">
                <a:latin typeface="Tahoma" panose="020B0604030504040204" pitchFamily="34" charset="0"/>
                <a:cs typeface="Tahoma" panose="020B0604030504040204" pitchFamily="34" charset="0"/>
              </a:rPr>
              <a:t>Feed </a:t>
            </a:r>
            <a:r>
              <a:rPr lang="th-TH" altLang="en-US" sz="2000">
                <a:latin typeface="Tahoma" panose="020B0604030504040204" pitchFamily="34" charset="0"/>
                <a:cs typeface="Tahoma" panose="020B0604030504040204" pitchFamily="34" charset="0"/>
              </a:rPr>
              <a:t>เพื่อดูดลมร้อนให้เข้ามาใน </a:t>
            </a:r>
            <a:r>
              <a:rPr lang="en-US" altLang="en-US" sz="2000">
                <a:latin typeface="Tahoma" panose="020B0604030504040204" pitchFamily="34" charset="0"/>
                <a:cs typeface="Tahoma" panose="020B0604030504040204" pitchFamily="34" charset="0"/>
              </a:rPr>
              <a:t>Kiln </a:t>
            </a:r>
            <a:r>
              <a:rPr lang="th-TH" altLang="en-US" sz="2000">
                <a:latin typeface="Tahoma" panose="020B0604030504040204" pitchFamily="34" charset="0"/>
                <a:cs typeface="Tahoma" panose="020B0604030504040204" pitchFamily="34" charset="0"/>
              </a:rPr>
              <a:t>อย่างต่อเนื่อง</a:t>
            </a:r>
            <a:endParaRPr lang="en-US" altLang="en-US" sz="2000">
              <a:latin typeface="Tahoma" panose="020B0604030504040204" pitchFamily="34" charset="0"/>
              <a:cs typeface="Tahoma" panose="020B0604030504040204" pitchFamily="34" charset="0"/>
            </a:endParaRPr>
          </a:p>
        </p:txBody>
      </p:sp>
      <p:pic>
        <p:nvPicPr>
          <p:cNvPr id="591877"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1750" y="1223963"/>
            <a:ext cx="2957513" cy="2217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1878" name="Picture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078163" y="1223963"/>
            <a:ext cx="2955925" cy="2217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1879" name="Picture 13"/>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122988" y="1195388"/>
            <a:ext cx="2994025"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fade/>
  </p:transition>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0" y="-20638"/>
            <a:ext cx="9144000" cy="812801"/>
          </a:xfrm>
        </p:spPr>
        <p:txBody>
          <a:bodyPr anchor="t"/>
          <a:lstStyle/>
          <a:p>
            <a:pPr>
              <a:defRPr/>
            </a:pPr>
            <a:r>
              <a:rPr lang="en-US" dirty="0" smtClean="0">
                <a:solidFill>
                  <a:srgbClr val="FF0000"/>
                </a:solidFill>
                <a:effectLst>
                  <a:outerShdw blurRad="38100" dist="38100" dir="2700000" algn="tl">
                    <a:srgbClr val="000000">
                      <a:alpha val="43137"/>
                    </a:srgbClr>
                  </a:outerShdw>
                </a:effectLst>
              </a:rPr>
              <a:t>  </a:t>
            </a:r>
            <a:r>
              <a:rPr lang="en-US" sz="3200" dirty="0" smtClean="0">
                <a:solidFill>
                  <a:srgbClr val="FF0000"/>
                </a:solidFill>
                <a:effectLst>
                  <a:outerShdw blurRad="38100" dist="38100" dir="2700000" algn="tl">
                    <a:srgbClr val="000000">
                      <a:alpha val="43137"/>
                    </a:srgbClr>
                  </a:outerShdw>
                </a:effectLst>
              </a:rPr>
              <a:t>B</a:t>
            </a:r>
            <a:r>
              <a:rPr lang="en-US" sz="2200" dirty="0" smtClean="0"/>
              <a:t>asic Theory of Lime Recycling (Lime Kiln Overview)</a:t>
            </a:r>
            <a:endParaRPr lang="th-TH" sz="2200" dirty="0"/>
          </a:p>
        </p:txBody>
      </p:sp>
      <p:cxnSp>
        <p:nvCxnSpPr>
          <p:cNvPr id="4" name="Straight Connector 3"/>
          <p:cNvCxnSpPr/>
          <p:nvPr/>
        </p:nvCxnSpPr>
        <p:spPr>
          <a:xfrm>
            <a:off x="26988" y="531813"/>
            <a:ext cx="9034462" cy="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sp>
        <p:nvSpPr>
          <p:cNvPr id="593924" name="TextBox 6"/>
          <p:cNvSpPr txBox="1">
            <a:spLocks noChangeArrowheads="1"/>
          </p:cNvSpPr>
          <p:nvPr/>
        </p:nvSpPr>
        <p:spPr bwMode="auto">
          <a:xfrm>
            <a:off x="98425" y="1165225"/>
            <a:ext cx="8915400" cy="1938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th-TH" altLang="en-US" sz="2000" b="1" u="sng">
                <a:latin typeface="Tahoma" panose="020B0604030504040204" pitchFamily="34" charset="0"/>
                <a:cs typeface="Tahoma" panose="020B0604030504040204" pitchFamily="34" charset="0"/>
              </a:rPr>
              <a:t>ผลิตภัณฑ์จาก </a:t>
            </a:r>
            <a:r>
              <a:rPr lang="en-US" altLang="en-US" sz="2000" b="1" u="sng">
                <a:latin typeface="Tahoma" panose="020B0604030504040204" pitchFamily="34" charset="0"/>
                <a:cs typeface="Tahoma" panose="020B0604030504040204" pitchFamily="34" charset="0"/>
              </a:rPr>
              <a:t>Lime Kiln </a:t>
            </a:r>
          </a:p>
          <a:p>
            <a:pPr>
              <a:spcBef>
                <a:spcPct val="0"/>
              </a:spcBef>
              <a:buFontTx/>
              <a:buNone/>
            </a:pPr>
            <a:r>
              <a:rPr lang="en-US" altLang="en-US" sz="2000">
                <a:latin typeface="Tahoma" panose="020B0604030504040204" pitchFamily="34" charset="0"/>
                <a:cs typeface="Tahoma" panose="020B0604030504040204" pitchFamily="34" charset="0"/>
              </a:rPr>
              <a:t>- </a:t>
            </a:r>
            <a:r>
              <a:rPr lang="th-TH" altLang="en-US" sz="2000">
                <a:latin typeface="Tahoma" panose="020B0604030504040204" pitchFamily="34" charset="0"/>
                <a:cs typeface="Tahoma" panose="020B0604030504040204" pitchFamily="34" charset="0"/>
              </a:rPr>
              <a:t>การหมุนของ </a:t>
            </a:r>
            <a:r>
              <a:rPr lang="en-US" altLang="en-US" sz="2000">
                <a:latin typeface="Tahoma" panose="020B0604030504040204" pitchFamily="34" charset="0"/>
                <a:cs typeface="Tahoma" panose="020B0604030504040204" pitchFamily="34" charset="0"/>
              </a:rPr>
              <a:t>Kiln </a:t>
            </a:r>
            <a:r>
              <a:rPr lang="th-TH" altLang="en-US" sz="2000">
                <a:latin typeface="Tahoma" panose="020B0604030504040204" pitchFamily="34" charset="0"/>
                <a:cs typeface="Tahoma" panose="020B0604030504040204" pitchFamily="34" charset="0"/>
              </a:rPr>
              <a:t>จะทำให้ </a:t>
            </a:r>
            <a:r>
              <a:rPr lang="en-US" altLang="en-US" sz="2000">
                <a:latin typeface="Tahoma" panose="020B0604030504040204" pitchFamily="34" charset="0"/>
                <a:cs typeface="Tahoma" panose="020B0604030504040204" pitchFamily="34" charset="0"/>
              </a:rPr>
              <a:t>Lime Mud </a:t>
            </a:r>
            <a:r>
              <a:rPr lang="th-TH" altLang="en-US" sz="2000">
                <a:latin typeface="Tahoma" panose="020B0604030504040204" pitchFamily="34" charset="0"/>
                <a:cs typeface="Tahoma" panose="020B0604030504040204" pitchFamily="34" charset="0"/>
              </a:rPr>
              <a:t>คลุกเคล้ากันในระหว่างที่มันกำลังเดินทางจาก ด้านหนึ่งไปหาอีกด้านหนึ่ง</a:t>
            </a:r>
          </a:p>
          <a:p>
            <a:pPr>
              <a:spcBef>
                <a:spcPct val="0"/>
              </a:spcBef>
              <a:buFontTx/>
              <a:buNone/>
            </a:pPr>
            <a:r>
              <a:rPr lang="en-US" altLang="en-US" sz="2000">
                <a:latin typeface="Tahoma" panose="020B0604030504040204" pitchFamily="34" charset="0"/>
                <a:cs typeface="Tahoma" panose="020B0604030504040204" pitchFamily="34" charset="0"/>
              </a:rPr>
              <a:t>- </a:t>
            </a:r>
            <a:r>
              <a:rPr lang="th-TH" altLang="en-US" sz="2000">
                <a:latin typeface="Tahoma" panose="020B0604030504040204" pitchFamily="34" charset="0"/>
                <a:cs typeface="Tahoma" panose="020B0604030504040204" pitchFamily="34" charset="0"/>
              </a:rPr>
              <a:t>หลังจากที่ </a:t>
            </a:r>
            <a:r>
              <a:rPr lang="en-US" altLang="en-US" sz="2000">
                <a:latin typeface="Tahoma" panose="020B0604030504040204" pitchFamily="34" charset="0"/>
                <a:cs typeface="Tahoma" panose="020B0604030504040204" pitchFamily="34" charset="0"/>
              </a:rPr>
              <a:t>Lime Mud </a:t>
            </a:r>
            <a:r>
              <a:rPr lang="th-TH" altLang="en-US" sz="2000">
                <a:latin typeface="Tahoma" panose="020B0604030504040204" pitchFamily="34" charset="0"/>
                <a:cs typeface="Tahoma" panose="020B0604030504040204" pitchFamily="34" charset="0"/>
              </a:rPr>
              <a:t>เดินทางไปถึงจุดหมายปลายทางและกลายสภาพเป็น </a:t>
            </a:r>
            <a:r>
              <a:rPr lang="en-US" altLang="en-US" sz="2000">
                <a:latin typeface="Tahoma" panose="020B0604030504040204" pitchFamily="34" charset="0"/>
                <a:cs typeface="Tahoma" panose="020B0604030504040204" pitchFamily="34" charset="0"/>
              </a:rPr>
              <a:t>Lime </a:t>
            </a:r>
            <a:r>
              <a:rPr lang="th-TH" altLang="en-US" sz="2000">
                <a:latin typeface="Tahoma" panose="020B0604030504040204" pitchFamily="34" charset="0"/>
                <a:cs typeface="Tahoma" panose="020B0604030504040204" pitchFamily="34" charset="0"/>
              </a:rPr>
              <a:t>โดยมีค่า </a:t>
            </a:r>
            <a:r>
              <a:rPr lang="en-US" altLang="en-US" sz="2000">
                <a:latin typeface="Tahoma" panose="020B0604030504040204" pitchFamily="34" charset="0"/>
                <a:cs typeface="Tahoma" panose="020B0604030504040204" pitchFamily="34" charset="0"/>
              </a:rPr>
              <a:t>Calcined </a:t>
            </a:r>
            <a:r>
              <a:rPr lang="th-TH" altLang="en-US" sz="2000">
                <a:latin typeface="Tahoma" panose="020B0604030504040204" pitchFamily="34" charset="0"/>
                <a:cs typeface="Tahoma" panose="020B0604030504040204" pitchFamily="34" charset="0"/>
              </a:rPr>
              <a:t>อยู่ที่ </a:t>
            </a:r>
            <a:r>
              <a:rPr lang="en-US" altLang="en-US" sz="2000">
                <a:latin typeface="Tahoma" panose="020B0604030504040204" pitchFamily="34" charset="0"/>
                <a:cs typeface="Tahoma" panose="020B0604030504040204" pitchFamily="34" charset="0"/>
              </a:rPr>
              <a:t>98% </a:t>
            </a:r>
            <a:r>
              <a:rPr lang="th-TH" altLang="en-US" sz="2000">
                <a:latin typeface="Tahoma" panose="020B0604030504040204" pitchFamily="34" charset="0"/>
                <a:cs typeface="Tahoma" panose="020B0604030504040204" pitchFamily="34" charset="0"/>
              </a:rPr>
              <a:t>ถึงตอนนี้ </a:t>
            </a:r>
            <a:r>
              <a:rPr lang="en-US" altLang="en-US" sz="2000">
                <a:latin typeface="Tahoma" panose="020B0604030504040204" pitchFamily="34" charset="0"/>
                <a:cs typeface="Tahoma" panose="020B0604030504040204" pitchFamily="34" charset="0"/>
              </a:rPr>
              <a:t>Lime </a:t>
            </a:r>
            <a:r>
              <a:rPr lang="th-TH" altLang="en-US" sz="2000">
                <a:latin typeface="Tahoma" panose="020B0604030504040204" pitchFamily="34" charset="0"/>
                <a:cs typeface="Tahoma" panose="020B0604030504040204" pitchFamily="34" charset="0"/>
              </a:rPr>
              <a:t>สามารถนำกลับไปใช้งานที่ </a:t>
            </a:r>
            <a:r>
              <a:rPr lang="en-US" altLang="en-US" sz="2000">
                <a:latin typeface="Tahoma" panose="020B0604030504040204" pitchFamily="34" charset="0"/>
                <a:cs typeface="Tahoma" panose="020B0604030504040204" pitchFamily="34" charset="0"/>
              </a:rPr>
              <a:t>Recaust </a:t>
            </a:r>
            <a:r>
              <a:rPr lang="th-TH" altLang="en-US" sz="2000">
                <a:latin typeface="Tahoma" panose="020B0604030504040204" pitchFamily="34" charset="0"/>
                <a:cs typeface="Tahoma" panose="020B0604030504040204" pitchFamily="34" charset="0"/>
              </a:rPr>
              <a:t>ได้แล้ว</a:t>
            </a:r>
            <a:endParaRPr lang="en-US" altLang="en-US" sz="2000">
              <a:latin typeface="Tahoma" panose="020B0604030504040204" pitchFamily="34" charset="0"/>
              <a:cs typeface="Tahoma" panose="020B0604030504040204" pitchFamily="34" charset="0"/>
            </a:endParaRPr>
          </a:p>
        </p:txBody>
      </p:sp>
      <p:pic>
        <p:nvPicPr>
          <p:cNvPr id="593925"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2075" y="3363913"/>
            <a:ext cx="2930525" cy="2198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26"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121025" y="3363913"/>
            <a:ext cx="2928938" cy="2198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27" name="Picture 8"/>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132513" y="3363913"/>
            <a:ext cx="2928937" cy="2198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fade/>
  </p:transition>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07.mp4">
            <a:hlinkClick r:id="" action="ppaction://media"/>
          </p:cNvPr>
          <p:cNvPicPr>
            <a:picLocks noRot="1" noChangeAspect="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801688" y="792163"/>
            <a:ext cx="7485062" cy="561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itle 1"/>
          <p:cNvSpPr>
            <a:spLocks noGrp="1"/>
          </p:cNvSpPr>
          <p:nvPr>
            <p:ph type="title"/>
          </p:nvPr>
        </p:nvSpPr>
        <p:spPr>
          <a:xfrm>
            <a:off x="0" y="-20638"/>
            <a:ext cx="9144000" cy="812801"/>
          </a:xfrm>
        </p:spPr>
        <p:txBody>
          <a:bodyPr anchor="t"/>
          <a:lstStyle/>
          <a:p>
            <a:pPr>
              <a:defRPr/>
            </a:pPr>
            <a:r>
              <a:rPr lang="en-US" dirty="0" smtClean="0">
                <a:solidFill>
                  <a:srgbClr val="FF0000"/>
                </a:solidFill>
                <a:effectLst>
                  <a:outerShdw blurRad="38100" dist="38100" dir="2700000" algn="tl">
                    <a:srgbClr val="000000">
                      <a:alpha val="43137"/>
                    </a:srgbClr>
                  </a:outerShdw>
                </a:effectLst>
              </a:rPr>
              <a:t>  </a:t>
            </a:r>
            <a:r>
              <a:rPr lang="en-US" sz="3200" dirty="0" smtClean="0">
                <a:solidFill>
                  <a:srgbClr val="FF0000"/>
                </a:solidFill>
                <a:effectLst>
                  <a:outerShdw blurRad="38100" dist="38100" dir="2700000" algn="tl">
                    <a:srgbClr val="000000">
                      <a:alpha val="43137"/>
                    </a:srgbClr>
                  </a:outerShdw>
                </a:effectLst>
              </a:rPr>
              <a:t>B</a:t>
            </a:r>
            <a:r>
              <a:rPr lang="en-US" sz="2200" dirty="0" smtClean="0"/>
              <a:t>asic Theory of Lime </a:t>
            </a:r>
            <a:r>
              <a:rPr lang="en-US" sz="2200" dirty="0"/>
              <a:t>Recycling </a:t>
            </a:r>
            <a:r>
              <a:rPr lang="en-US" sz="2200" dirty="0" smtClean="0"/>
              <a:t>(Components </a:t>
            </a:r>
            <a:r>
              <a:rPr lang="en-US" sz="2200" dirty="0"/>
              <a:t>of a Lime Kiln </a:t>
            </a:r>
            <a:r>
              <a:rPr lang="en-US" sz="2200" dirty="0" smtClean="0"/>
              <a:t>1/3)</a:t>
            </a:r>
            <a:endParaRPr lang="th-TH" sz="2200" dirty="0"/>
          </a:p>
        </p:txBody>
      </p:sp>
      <p:cxnSp>
        <p:nvCxnSpPr>
          <p:cNvPr id="4" name="Straight Connector 3"/>
          <p:cNvCxnSpPr/>
          <p:nvPr/>
        </p:nvCxnSpPr>
        <p:spPr>
          <a:xfrm>
            <a:off x="26988" y="531813"/>
            <a:ext cx="9034462" cy="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spTree>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childTnLst>
        </p:cTn>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0" y="-20638"/>
            <a:ext cx="9144000" cy="812801"/>
          </a:xfrm>
        </p:spPr>
        <p:txBody>
          <a:bodyPr anchor="t"/>
          <a:lstStyle/>
          <a:p>
            <a:pPr>
              <a:defRPr/>
            </a:pPr>
            <a:r>
              <a:rPr lang="en-US" dirty="0" smtClean="0">
                <a:solidFill>
                  <a:srgbClr val="FF0000"/>
                </a:solidFill>
                <a:effectLst>
                  <a:outerShdw blurRad="38100" dist="38100" dir="2700000" algn="tl">
                    <a:srgbClr val="000000">
                      <a:alpha val="43137"/>
                    </a:srgbClr>
                  </a:outerShdw>
                </a:effectLst>
              </a:rPr>
              <a:t>  </a:t>
            </a:r>
            <a:r>
              <a:rPr lang="en-US" sz="3200" dirty="0" smtClean="0">
                <a:solidFill>
                  <a:srgbClr val="FF0000"/>
                </a:solidFill>
                <a:effectLst>
                  <a:outerShdw blurRad="38100" dist="38100" dir="2700000" algn="tl">
                    <a:srgbClr val="000000">
                      <a:alpha val="43137"/>
                    </a:srgbClr>
                  </a:outerShdw>
                </a:effectLst>
              </a:rPr>
              <a:t>B</a:t>
            </a:r>
            <a:r>
              <a:rPr lang="en-US" sz="2200" dirty="0" smtClean="0"/>
              <a:t>asic Theory of Lime </a:t>
            </a:r>
            <a:r>
              <a:rPr lang="en-US" sz="2200" dirty="0"/>
              <a:t>Recycling </a:t>
            </a:r>
            <a:r>
              <a:rPr lang="en-US" sz="2200" dirty="0" smtClean="0"/>
              <a:t>(Components </a:t>
            </a:r>
            <a:r>
              <a:rPr lang="en-US" sz="2200" dirty="0"/>
              <a:t>of a Lime Kiln </a:t>
            </a:r>
            <a:r>
              <a:rPr lang="en-US" sz="2200" dirty="0" smtClean="0"/>
              <a:t>1/3)</a:t>
            </a:r>
            <a:endParaRPr lang="th-TH" sz="2200" dirty="0"/>
          </a:p>
        </p:txBody>
      </p:sp>
      <p:cxnSp>
        <p:nvCxnSpPr>
          <p:cNvPr id="4" name="Straight Connector 3"/>
          <p:cNvCxnSpPr/>
          <p:nvPr/>
        </p:nvCxnSpPr>
        <p:spPr>
          <a:xfrm>
            <a:off x="26988" y="531813"/>
            <a:ext cx="9034462" cy="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pic>
        <p:nvPicPr>
          <p:cNvPr id="598020"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6838" y="2759075"/>
            <a:ext cx="2952750" cy="221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8021" name="Picture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117850" y="2759075"/>
            <a:ext cx="2954338" cy="221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8022" name="Picture 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107113" y="2759075"/>
            <a:ext cx="2954337" cy="221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8023" name="TextBox 7"/>
          <p:cNvSpPr txBox="1">
            <a:spLocks noChangeArrowheads="1"/>
          </p:cNvSpPr>
          <p:nvPr/>
        </p:nvSpPr>
        <p:spPr bwMode="auto">
          <a:xfrm>
            <a:off x="306388" y="1373188"/>
            <a:ext cx="8531225"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u="sng">
                <a:latin typeface="Tahoma" panose="020B0604030504040204" pitchFamily="34" charset="0"/>
                <a:cs typeface="Tahoma" panose="020B0604030504040204" pitchFamily="34" charset="0"/>
              </a:rPr>
              <a:t>Lime Kiln Design </a:t>
            </a:r>
          </a:p>
          <a:p>
            <a:pPr>
              <a:spcBef>
                <a:spcPct val="0"/>
              </a:spcBef>
              <a:buFontTx/>
              <a:buNone/>
            </a:pPr>
            <a:r>
              <a:rPr lang="en-US" altLang="en-US" sz="2000">
                <a:latin typeface="Tahoma" panose="020B0604030504040204" pitchFamily="34" charset="0"/>
                <a:cs typeface="Tahoma" panose="020B0604030504040204" pitchFamily="34" charset="0"/>
              </a:rPr>
              <a:t>- Rotary Lime Kiln </a:t>
            </a:r>
            <a:r>
              <a:rPr lang="th-TH" altLang="en-US" sz="2000">
                <a:latin typeface="Tahoma" panose="020B0604030504040204" pitchFamily="34" charset="0"/>
                <a:cs typeface="Tahoma" panose="020B0604030504040204" pitchFamily="34" charset="0"/>
              </a:rPr>
              <a:t>ถือเป็นเครื่องจักรที่มีขนาดใหญ่ มีพื้นที่หน้าตัด </a:t>
            </a:r>
            <a:r>
              <a:rPr lang="en-US" altLang="en-US" sz="2000">
                <a:latin typeface="Tahoma" panose="020B0604030504040204" pitchFamily="34" charset="0"/>
                <a:cs typeface="Tahoma" panose="020B0604030504040204" pitchFamily="34" charset="0"/>
              </a:rPr>
              <a:t>2.5 - 4.5 </a:t>
            </a:r>
            <a:r>
              <a:rPr lang="th-TH" altLang="en-US" sz="2000">
                <a:latin typeface="Tahoma" panose="020B0604030504040204" pitchFamily="34" charset="0"/>
                <a:cs typeface="Tahoma" panose="020B0604030504040204" pitchFamily="34" charset="0"/>
              </a:rPr>
              <a:t>เมตร มีความยาวตั้งแต่ </a:t>
            </a:r>
            <a:r>
              <a:rPr lang="en-US" altLang="en-US" sz="2000">
                <a:latin typeface="Tahoma" panose="020B0604030504040204" pitchFamily="34" charset="0"/>
                <a:cs typeface="Tahoma" panose="020B0604030504040204" pitchFamily="34" charset="0"/>
              </a:rPr>
              <a:t>40 – 135 </a:t>
            </a:r>
            <a:r>
              <a:rPr lang="th-TH" altLang="en-US" sz="2000">
                <a:latin typeface="Tahoma" panose="020B0604030504040204" pitchFamily="34" charset="0"/>
                <a:cs typeface="Tahoma" panose="020B0604030504040204" pitchFamily="34" charset="0"/>
              </a:rPr>
              <a:t>เมตร และมีมุมเอียงอยู่ที่ </a:t>
            </a:r>
            <a:r>
              <a:rPr lang="en-US" altLang="en-US" sz="2000">
                <a:latin typeface="Tahoma" panose="020B0604030504040204" pitchFamily="34" charset="0"/>
                <a:cs typeface="Tahoma" panose="020B0604030504040204" pitchFamily="34" charset="0"/>
              </a:rPr>
              <a:t>1-3 </a:t>
            </a:r>
            <a:r>
              <a:rPr lang="th-TH" altLang="en-US" sz="2000">
                <a:latin typeface="Tahoma" panose="020B0604030504040204" pitchFamily="34" charset="0"/>
                <a:cs typeface="Tahoma" panose="020B0604030504040204" pitchFamily="34" charset="0"/>
              </a:rPr>
              <a:t>องศา</a:t>
            </a:r>
          </a:p>
        </p:txBody>
      </p:sp>
    </p:spTree>
  </p:cSld>
  <p:clrMapOvr>
    <a:masterClrMapping/>
  </p:clrMapOvr>
  <p:transition>
    <p:fade/>
  </p:transition>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0" y="-20638"/>
            <a:ext cx="9144000" cy="812801"/>
          </a:xfrm>
        </p:spPr>
        <p:txBody>
          <a:bodyPr anchor="t"/>
          <a:lstStyle/>
          <a:p>
            <a:pPr>
              <a:defRPr/>
            </a:pPr>
            <a:r>
              <a:rPr lang="en-US" dirty="0" smtClean="0">
                <a:solidFill>
                  <a:srgbClr val="FF0000"/>
                </a:solidFill>
                <a:effectLst>
                  <a:outerShdw blurRad="38100" dist="38100" dir="2700000" algn="tl">
                    <a:srgbClr val="000000">
                      <a:alpha val="43137"/>
                    </a:srgbClr>
                  </a:outerShdw>
                </a:effectLst>
              </a:rPr>
              <a:t>  </a:t>
            </a:r>
            <a:r>
              <a:rPr lang="en-US" sz="3200" dirty="0" smtClean="0">
                <a:solidFill>
                  <a:srgbClr val="FF0000"/>
                </a:solidFill>
                <a:effectLst>
                  <a:outerShdw blurRad="38100" dist="38100" dir="2700000" algn="tl">
                    <a:srgbClr val="000000">
                      <a:alpha val="43137"/>
                    </a:srgbClr>
                  </a:outerShdw>
                </a:effectLst>
              </a:rPr>
              <a:t>B</a:t>
            </a:r>
            <a:r>
              <a:rPr lang="en-US" sz="2200" dirty="0" smtClean="0"/>
              <a:t>asic Theory of Lime </a:t>
            </a:r>
            <a:r>
              <a:rPr lang="en-US" sz="2200" dirty="0"/>
              <a:t>Recycling </a:t>
            </a:r>
            <a:r>
              <a:rPr lang="en-US" sz="2200" dirty="0" smtClean="0"/>
              <a:t>(Components </a:t>
            </a:r>
            <a:r>
              <a:rPr lang="en-US" sz="2200" dirty="0"/>
              <a:t>of a Lime Kiln </a:t>
            </a:r>
            <a:r>
              <a:rPr lang="en-US" sz="2200" dirty="0" smtClean="0"/>
              <a:t>1/3)</a:t>
            </a:r>
            <a:endParaRPr lang="th-TH" sz="2200" dirty="0"/>
          </a:p>
        </p:txBody>
      </p:sp>
      <p:cxnSp>
        <p:nvCxnSpPr>
          <p:cNvPr id="4" name="Straight Connector 3"/>
          <p:cNvCxnSpPr/>
          <p:nvPr/>
        </p:nvCxnSpPr>
        <p:spPr>
          <a:xfrm>
            <a:off x="26988" y="531813"/>
            <a:ext cx="9034462" cy="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sp>
        <p:nvSpPr>
          <p:cNvPr id="600068" name="TextBox 7"/>
          <p:cNvSpPr txBox="1">
            <a:spLocks noChangeArrowheads="1"/>
          </p:cNvSpPr>
          <p:nvPr/>
        </p:nvSpPr>
        <p:spPr bwMode="auto">
          <a:xfrm>
            <a:off x="3228975" y="695325"/>
            <a:ext cx="5722938" cy="224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u="sng">
                <a:latin typeface="Tahoma" panose="020B0604030504040204" pitchFamily="34" charset="0"/>
                <a:cs typeface="Tahoma" panose="020B0604030504040204" pitchFamily="34" charset="0"/>
              </a:rPr>
              <a:t>Lime Kiln Design </a:t>
            </a:r>
          </a:p>
          <a:p>
            <a:pPr>
              <a:spcBef>
                <a:spcPct val="0"/>
              </a:spcBef>
              <a:buFontTx/>
              <a:buNone/>
            </a:pPr>
            <a:r>
              <a:rPr lang="en-US" altLang="en-US" sz="2000">
                <a:latin typeface="Tahoma" panose="020B0604030504040204" pitchFamily="34" charset="0"/>
                <a:cs typeface="Tahoma" panose="020B0604030504040204" pitchFamily="34" charset="0"/>
              </a:rPr>
              <a:t>- Drive Motor </a:t>
            </a:r>
            <a:r>
              <a:rPr lang="th-TH" altLang="en-US" sz="2000">
                <a:latin typeface="Tahoma" panose="020B0604030504040204" pitchFamily="34" charset="0"/>
                <a:cs typeface="Tahoma" panose="020B0604030504040204" pitchFamily="34" charset="0"/>
              </a:rPr>
              <a:t>ทำงานโดยผ่าน </a:t>
            </a:r>
            <a:r>
              <a:rPr lang="en-US" altLang="en-US" sz="2000">
                <a:latin typeface="Tahoma" panose="020B0604030504040204" pitchFamily="34" charset="0"/>
                <a:cs typeface="Tahoma" panose="020B0604030504040204" pitchFamily="34" charset="0"/>
              </a:rPr>
              <a:t>Reducing Gearbox </a:t>
            </a:r>
            <a:r>
              <a:rPr lang="th-TH" altLang="en-US" sz="2000">
                <a:latin typeface="Tahoma" panose="020B0604030504040204" pitchFamily="34" charset="0"/>
                <a:cs typeface="Tahoma" panose="020B0604030504040204" pitchFamily="34" charset="0"/>
              </a:rPr>
              <a:t>เพื่อขับเคลื่อน </a:t>
            </a:r>
            <a:r>
              <a:rPr lang="en-US" altLang="en-US" sz="2000">
                <a:latin typeface="Tahoma" panose="020B0604030504040204" pitchFamily="34" charset="0"/>
                <a:cs typeface="Tahoma" panose="020B0604030504040204" pitchFamily="34" charset="0"/>
              </a:rPr>
              <a:t>Kiln </a:t>
            </a:r>
            <a:r>
              <a:rPr lang="th-TH" altLang="en-US" sz="2000">
                <a:latin typeface="Tahoma" panose="020B0604030504040204" pitchFamily="34" charset="0"/>
                <a:cs typeface="Tahoma" panose="020B0604030504040204" pitchFamily="34" charset="0"/>
              </a:rPr>
              <a:t>ที่นั่งอยู่บน </a:t>
            </a:r>
            <a:r>
              <a:rPr lang="en-US" altLang="en-US" sz="2000">
                <a:latin typeface="Tahoma" panose="020B0604030504040204" pitchFamily="34" charset="0"/>
                <a:cs typeface="Tahoma" panose="020B0604030504040204" pitchFamily="34" charset="0"/>
              </a:rPr>
              <a:t>Riding Rings 3 </a:t>
            </a:r>
            <a:r>
              <a:rPr lang="th-TH" altLang="en-US" sz="2000">
                <a:latin typeface="Tahoma" panose="020B0604030504040204" pitchFamily="34" charset="0"/>
                <a:cs typeface="Tahoma" panose="020B0604030504040204" pitchFamily="34" charset="0"/>
              </a:rPr>
              <a:t>ชุด (แล้วแต่ความยาวของ </a:t>
            </a:r>
            <a:r>
              <a:rPr lang="en-US" altLang="en-US" sz="2000">
                <a:latin typeface="Tahoma" panose="020B0604030504040204" pitchFamily="34" charset="0"/>
                <a:cs typeface="Tahoma" panose="020B0604030504040204" pitchFamily="34" charset="0"/>
              </a:rPr>
              <a:t>Kiln) </a:t>
            </a:r>
            <a:r>
              <a:rPr lang="th-TH" altLang="en-US" sz="2000">
                <a:latin typeface="Tahoma" panose="020B0604030504040204" pitchFamily="34" charset="0"/>
                <a:cs typeface="Tahoma" panose="020B0604030504040204" pitchFamily="34" charset="0"/>
              </a:rPr>
              <a:t>เพื่อให้ </a:t>
            </a:r>
            <a:r>
              <a:rPr lang="en-US" altLang="en-US" sz="2000">
                <a:latin typeface="Tahoma" panose="020B0604030504040204" pitchFamily="34" charset="0"/>
                <a:cs typeface="Tahoma" panose="020B0604030504040204" pitchFamily="34" charset="0"/>
              </a:rPr>
              <a:t>Kiln </a:t>
            </a:r>
            <a:r>
              <a:rPr lang="th-TH" altLang="en-US" sz="2000">
                <a:latin typeface="Tahoma" panose="020B0604030504040204" pitchFamily="34" charset="0"/>
                <a:cs typeface="Tahoma" panose="020B0604030504040204" pitchFamily="34" charset="0"/>
              </a:rPr>
              <a:t>สามารถหมุนได้อย่างคล่องตัว</a:t>
            </a:r>
          </a:p>
          <a:p>
            <a:pPr>
              <a:spcBef>
                <a:spcPct val="0"/>
              </a:spcBef>
              <a:buFontTx/>
              <a:buNone/>
            </a:pPr>
            <a:r>
              <a:rPr lang="en-US" altLang="en-US" sz="2000">
                <a:latin typeface="Tahoma" panose="020B0604030504040204" pitchFamily="34" charset="0"/>
                <a:cs typeface="Tahoma" panose="020B0604030504040204" pitchFamily="34" charset="0"/>
              </a:rPr>
              <a:t>- Kiln </a:t>
            </a:r>
            <a:r>
              <a:rPr lang="th-TH" altLang="en-US" sz="2000">
                <a:latin typeface="Tahoma" panose="020B0604030504040204" pitchFamily="34" charset="0"/>
                <a:cs typeface="Tahoma" panose="020B0604030504040204" pitchFamily="34" charset="0"/>
              </a:rPr>
              <a:t>ส่วนใหญ่จะหมุนอยู่ที่ประมาณ </a:t>
            </a:r>
            <a:r>
              <a:rPr lang="en-US" altLang="en-US" sz="2000">
                <a:latin typeface="Tahoma" panose="020B0604030504040204" pitchFamily="34" charset="0"/>
                <a:cs typeface="Tahoma" panose="020B0604030504040204" pitchFamily="34" charset="0"/>
              </a:rPr>
              <a:t>1.5 rpm </a:t>
            </a:r>
            <a:r>
              <a:rPr lang="th-TH" altLang="en-US" sz="2000">
                <a:latin typeface="Tahoma" panose="020B0604030504040204" pitchFamily="34" charset="0"/>
                <a:cs typeface="Tahoma" panose="020B0604030504040204" pitchFamily="34" charset="0"/>
              </a:rPr>
              <a:t>ถึง </a:t>
            </a:r>
            <a:r>
              <a:rPr lang="en-US" altLang="en-US" sz="2000">
                <a:latin typeface="Tahoma" panose="020B0604030504040204" pitchFamily="34" charset="0"/>
                <a:cs typeface="Tahoma" panose="020B0604030504040204" pitchFamily="34" charset="0"/>
              </a:rPr>
              <a:t>2 rpm (rpm = </a:t>
            </a:r>
            <a:r>
              <a:rPr lang="th-TH" altLang="en-US" sz="2000">
                <a:latin typeface="Tahoma" panose="020B0604030504040204" pitchFamily="34" charset="0"/>
                <a:cs typeface="Tahoma" panose="020B0604030504040204" pitchFamily="34" charset="0"/>
              </a:rPr>
              <a:t>รอบต่อนาที)</a:t>
            </a:r>
          </a:p>
        </p:txBody>
      </p:sp>
      <p:pic>
        <p:nvPicPr>
          <p:cNvPr id="600069"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60375" y="695325"/>
            <a:ext cx="2549525" cy="1912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0070" name="Picture 8"/>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698875" y="3048000"/>
            <a:ext cx="4783138" cy="3587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0071" name="Picture 9"/>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50850" y="2701925"/>
            <a:ext cx="2559050" cy="191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0072" name="Picture 10"/>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450850" y="4716463"/>
            <a:ext cx="2559050" cy="1919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0073" name="TextBox 11"/>
          <p:cNvSpPr txBox="1">
            <a:spLocks noChangeArrowheads="1"/>
          </p:cNvSpPr>
          <p:nvPr/>
        </p:nvSpPr>
        <p:spPr bwMode="auto">
          <a:xfrm>
            <a:off x="476250" y="2708275"/>
            <a:ext cx="12541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b="1">
                <a:solidFill>
                  <a:schemeClr val="bg1"/>
                </a:solidFill>
              </a:rPr>
              <a:t>Riding Ring</a:t>
            </a:r>
            <a:endParaRPr lang="en-US" altLang="en-US" sz="1800" b="1" baseline="-25000">
              <a:solidFill>
                <a:schemeClr val="bg1"/>
              </a:solidFill>
            </a:endParaRPr>
          </a:p>
        </p:txBody>
      </p:sp>
    </p:spTree>
  </p:cSld>
  <p:clrMapOvr>
    <a:masterClrMapping/>
  </p:clrMapOvr>
  <p:transition>
    <p:fade/>
  </p:transition>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08.mp4">
            <a:hlinkClick r:id="" action="ppaction://media"/>
          </p:cNvPr>
          <p:cNvPicPr>
            <a:picLocks noRot="1" noChangeAspect="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801688" y="792163"/>
            <a:ext cx="7485062" cy="561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itle 1"/>
          <p:cNvSpPr>
            <a:spLocks noGrp="1"/>
          </p:cNvSpPr>
          <p:nvPr>
            <p:ph type="title"/>
          </p:nvPr>
        </p:nvSpPr>
        <p:spPr>
          <a:xfrm>
            <a:off x="0" y="-20638"/>
            <a:ext cx="9144000" cy="812801"/>
          </a:xfrm>
        </p:spPr>
        <p:txBody>
          <a:bodyPr anchor="t"/>
          <a:lstStyle/>
          <a:p>
            <a:pPr>
              <a:defRPr/>
            </a:pPr>
            <a:r>
              <a:rPr lang="en-US" dirty="0" smtClean="0">
                <a:solidFill>
                  <a:srgbClr val="FF0000"/>
                </a:solidFill>
                <a:effectLst>
                  <a:outerShdw blurRad="38100" dist="38100" dir="2700000" algn="tl">
                    <a:srgbClr val="000000">
                      <a:alpha val="43137"/>
                    </a:srgbClr>
                  </a:outerShdw>
                </a:effectLst>
              </a:rPr>
              <a:t>  </a:t>
            </a:r>
            <a:r>
              <a:rPr lang="en-US" sz="3200" dirty="0" smtClean="0">
                <a:solidFill>
                  <a:srgbClr val="FF0000"/>
                </a:solidFill>
                <a:effectLst>
                  <a:outerShdw blurRad="38100" dist="38100" dir="2700000" algn="tl">
                    <a:srgbClr val="000000">
                      <a:alpha val="43137"/>
                    </a:srgbClr>
                  </a:outerShdw>
                </a:effectLst>
              </a:rPr>
              <a:t>B</a:t>
            </a:r>
            <a:r>
              <a:rPr lang="en-US" sz="2200" dirty="0" smtClean="0"/>
              <a:t>asic Theory of Lime </a:t>
            </a:r>
            <a:r>
              <a:rPr lang="en-US" sz="2200" dirty="0"/>
              <a:t>Recycling (Components of a Lime Kiln </a:t>
            </a:r>
            <a:r>
              <a:rPr lang="en-US" sz="2200" dirty="0" smtClean="0"/>
              <a:t>2/3</a:t>
            </a:r>
            <a:r>
              <a:rPr lang="en-US" sz="2200" dirty="0"/>
              <a:t>)</a:t>
            </a:r>
            <a:endParaRPr lang="th-TH" sz="2200" dirty="0"/>
          </a:p>
        </p:txBody>
      </p:sp>
      <p:cxnSp>
        <p:nvCxnSpPr>
          <p:cNvPr id="4" name="Straight Connector 3"/>
          <p:cNvCxnSpPr/>
          <p:nvPr/>
        </p:nvCxnSpPr>
        <p:spPr>
          <a:xfrm>
            <a:off x="26988" y="531813"/>
            <a:ext cx="9034462" cy="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spTree>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childTnLst>
        </p:cTn>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0" y="-20638"/>
            <a:ext cx="9144000" cy="812801"/>
          </a:xfrm>
        </p:spPr>
        <p:txBody>
          <a:bodyPr anchor="t"/>
          <a:lstStyle/>
          <a:p>
            <a:pPr>
              <a:defRPr/>
            </a:pPr>
            <a:r>
              <a:rPr lang="en-US" dirty="0" smtClean="0">
                <a:solidFill>
                  <a:srgbClr val="FF0000"/>
                </a:solidFill>
                <a:effectLst>
                  <a:outerShdw blurRad="38100" dist="38100" dir="2700000" algn="tl">
                    <a:srgbClr val="000000">
                      <a:alpha val="43137"/>
                    </a:srgbClr>
                  </a:outerShdw>
                </a:effectLst>
              </a:rPr>
              <a:t>  </a:t>
            </a:r>
            <a:r>
              <a:rPr lang="en-US" sz="3200" dirty="0" smtClean="0">
                <a:solidFill>
                  <a:srgbClr val="FF0000"/>
                </a:solidFill>
                <a:effectLst>
                  <a:outerShdw blurRad="38100" dist="38100" dir="2700000" algn="tl">
                    <a:srgbClr val="000000">
                      <a:alpha val="43137"/>
                    </a:srgbClr>
                  </a:outerShdw>
                </a:effectLst>
              </a:rPr>
              <a:t>B</a:t>
            </a:r>
            <a:r>
              <a:rPr lang="en-US" sz="2200" dirty="0" smtClean="0"/>
              <a:t>asic Theory of Lime </a:t>
            </a:r>
            <a:r>
              <a:rPr lang="en-US" sz="2200" dirty="0"/>
              <a:t>Recycling (Components of a Lime Kiln </a:t>
            </a:r>
            <a:r>
              <a:rPr lang="en-US" sz="2200" dirty="0" smtClean="0"/>
              <a:t>2/3</a:t>
            </a:r>
            <a:r>
              <a:rPr lang="en-US" sz="2200" dirty="0"/>
              <a:t>)</a:t>
            </a:r>
            <a:endParaRPr lang="th-TH" sz="2200" dirty="0"/>
          </a:p>
        </p:txBody>
      </p:sp>
      <p:cxnSp>
        <p:nvCxnSpPr>
          <p:cNvPr id="4" name="Straight Connector 3"/>
          <p:cNvCxnSpPr/>
          <p:nvPr/>
        </p:nvCxnSpPr>
        <p:spPr>
          <a:xfrm>
            <a:off x="26988" y="531813"/>
            <a:ext cx="9034462" cy="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pic>
        <p:nvPicPr>
          <p:cNvPr id="604164"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01675" y="792163"/>
            <a:ext cx="3422650" cy="2566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165" name="Picture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71500" y="3865563"/>
            <a:ext cx="3684588" cy="2763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4166" name="TextBox 6"/>
          <p:cNvSpPr txBox="1">
            <a:spLocks noChangeArrowheads="1"/>
          </p:cNvSpPr>
          <p:nvPr/>
        </p:nvSpPr>
        <p:spPr bwMode="auto">
          <a:xfrm>
            <a:off x="4206875" y="695325"/>
            <a:ext cx="4854575" cy="317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u="sng">
                <a:latin typeface="Tahoma" panose="020B0604030504040204" pitchFamily="34" charset="0"/>
                <a:cs typeface="Tahoma" panose="020B0604030504040204" pitchFamily="34" charset="0"/>
              </a:rPr>
              <a:t>Lime Kiln Design </a:t>
            </a:r>
          </a:p>
          <a:p>
            <a:pPr>
              <a:spcBef>
                <a:spcPct val="0"/>
              </a:spcBef>
              <a:buFontTx/>
              <a:buNone/>
            </a:pPr>
            <a:r>
              <a:rPr lang="en-US" altLang="en-US" sz="2000">
                <a:latin typeface="Tahoma" panose="020B0604030504040204" pitchFamily="34" charset="0"/>
                <a:cs typeface="Tahoma" panose="020B0604030504040204" pitchFamily="34" charset="0"/>
              </a:rPr>
              <a:t>- </a:t>
            </a:r>
            <a:r>
              <a:rPr lang="th-TH" altLang="en-US" sz="2000">
                <a:latin typeface="Tahoma" panose="020B0604030504040204" pitchFamily="34" charset="0"/>
                <a:cs typeface="Tahoma" panose="020B0604030504040204" pitchFamily="34" charset="0"/>
              </a:rPr>
              <a:t>เปลือกด้านนอกของ </a:t>
            </a:r>
            <a:r>
              <a:rPr lang="en-US" altLang="en-US" sz="2000">
                <a:latin typeface="Tahoma" panose="020B0604030504040204" pitchFamily="34" charset="0"/>
                <a:cs typeface="Tahoma" panose="020B0604030504040204" pitchFamily="34" charset="0"/>
              </a:rPr>
              <a:t>Kiln </a:t>
            </a:r>
            <a:r>
              <a:rPr lang="th-TH" altLang="en-US" sz="2000">
                <a:latin typeface="Tahoma" panose="020B0604030504040204" pitchFamily="34" charset="0"/>
                <a:cs typeface="Tahoma" panose="020B0604030504040204" pitchFamily="34" charset="0"/>
              </a:rPr>
              <a:t>ทำด้วย </a:t>
            </a:r>
            <a:r>
              <a:rPr lang="en-US" altLang="en-US" sz="2000">
                <a:latin typeface="Tahoma" panose="020B0604030504040204" pitchFamily="34" charset="0"/>
                <a:cs typeface="Tahoma" panose="020B0604030504040204" pitchFamily="34" charset="0"/>
              </a:rPr>
              <a:t>Carbon Steel</a:t>
            </a:r>
          </a:p>
          <a:p>
            <a:pPr>
              <a:spcBef>
                <a:spcPct val="0"/>
              </a:spcBef>
              <a:buFontTx/>
              <a:buNone/>
            </a:pPr>
            <a:r>
              <a:rPr lang="en-US" altLang="en-US" sz="2000">
                <a:latin typeface="Tahoma" panose="020B0604030504040204" pitchFamily="34" charset="0"/>
                <a:cs typeface="Tahoma" panose="020B0604030504040204" pitchFamily="34" charset="0"/>
              </a:rPr>
              <a:t>- </a:t>
            </a:r>
            <a:r>
              <a:rPr lang="th-TH" altLang="en-US" sz="2000">
                <a:latin typeface="Tahoma" panose="020B0604030504040204" pitchFamily="34" charset="0"/>
                <a:cs typeface="Tahoma" panose="020B0604030504040204" pitchFamily="34" charset="0"/>
              </a:rPr>
              <a:t>ด้านในของ </a:t>
            </a:r>
            <a:r>
              <a:rPr lang="en-US" altLang="en-US" sz="2000">
                <a:latin typeface="Tahoma" panose="020B0604030504040204" pitchFamily="34" charset="0"/>
                <a:cs typeface="Tahoma" panose="020B0604030504040204" pitchFamily="34" charset="0"/>
              </a:rPr>
              <a:t>Kiln </a:t>
            </a:r>
            <a:r>
              <a:rPr lang="th-TH" altLang="en-US" sz="2000">
                <a:latin typeface="Tahoma" panose="020B0604030504040204" pitchFamily="34" charset="0"/>
                <a:cs typeface="Tahoma" panose="020B0604030504040204" pitchFamily="34" charset="0"/>
              </a:rPr>
              <a:t>ประกอบด้วยอิฐทนไฟ (</a:t>
            </a:r>
            <a:r>
              <a:rPr lang="en-US" altLang="en-US" sz="2000">
                <a:latin typeface="Tahoma" panose="020B0604030504040204" pitchFamily="34" charset="0"/>
                <a:cs typeface="Tahoma" panose="020B0604030504040204" pitchFamily="34" charset="0"/>
              </a:rPr>
              <a:t>Refractory Brick)</a:t>
            </a:r>
          </a:p>
          <a:p>
            <a:pPr>
              <a:spcBef>
                <a:spcPct val="0"/>
              </a:spcBef>
              <a:buFontTx/>
              <a:buNone/>
            </a:pPr>
            <a:r>
              <a:rPr lang="en-US" altLang="en-US" sz="2000">
                <a:latin typeface="Tahoma" panose="020B0604030504040204" pitchFamily="34" charset="0"/>
                <a:cs typeface="Tahoma" panose="020B0604030504040204" pitchFamily="34" charset="0"/>
              </a:rPr>
              <a:t>- Refractory Brick </a:t>
            </a:r>
            <a:r>
              <a:rPr lang="th-TH" altLang="en-US" sz="2000">
                <a:latin typeface="Tahoma" panose="020B0604030504040204" pitchFamily="34" charset="0"/>
                <a:cs typeface="Tahoma" panose="020B0604030504040204" pitchFamily="34" charset="0"/>
              </a:rPr>
              <a:t>แต่ละ </a:t>
            </a:r>
            <a:r>
              <a:rPr lang="en-US" altLang="en-US" sz="2000">
                <a:latin typeface="Tahoma" panose="020B0604030504040204" pitchFamily="34" charset="0"/>
                <a:cs typeface="Tahoma" panose="020B0604030504040204" pitchFamily="34" charset="0"/>
              </a:rPr>
              <a:t>zone </a:t>
            </a:r>
            <a:r>
              <a:rPr lang="th-TH" altLang="en-US" sz="2000">
                <a:latin typeface="Tahoma" panose="020B0604030504040204" pitchFamily="34" charset="0"/>
                <a:cs typeface="Tahoma" panose="020B0604030504040204" pitchFamily="34" charset="0"/>
              </a:rPr>
              <a:t>จะมีคุณสมบัติการทนความร้อนแตกต่างกันตามความร้อนของแต่ละ </a:t>
            </a:r>
            <a:r>
              <a:rPr lang="en-US" altLang="en-US" sz="2000">
                <a:latin typeface="Tahoma" panose="020B0604030504040204" pitchFamily="34" charset="0"/>
                <a:cs typeface="Tahoma" panose="020B0604030504040204" pitchFamily="34" charset="0"/>
              </a:rPr>
              <a:t>zone </a:t>
            </a:r>
          </a:p>
          <a:p>
            <a:pPr>
              <a:spcBef>
                <a:spcPct val="0"/>
              </a:spcBef>
              <a:buFontTx/>
              <a:buNone/>
            </a:pPr>
            <a:r>
              <a:rPr lang="en-US" altLang="en-US" sz="2000">
                <a:latin typeface="Tahoma" panose="020B0604030504040204" pitchFamily="34" charset="0"/>
                <a:cs typeface="Tahoma" panose="020B0604030504040204" pitchFamily="34" charset="0"/>
              </a:rPr>
              <a:t>- </a:t>
            </a:r>
            <a:r>
              <a:rPr lang="th-TH" altLang="en-US" sz="2000">
                <a:latin typeface="Tahoma" panose="020B0604030504040204" pitchFamily="34" charset="0"/>
                <a:cs typeface="Tahoma" panose="020B0604030504040204" pitchFamily="34" charset="0"/>
              </a:rPr>
              <a:t>บาง </a:t>
            </a:r>
            <a:r>
              <a:rPr lang="en-US" altLang="en-US" sz="2000">
                <a:latin typeface="Tahoma" panose="020B0604030504040204" pitchFamily="34" charset="0"/>
                <a:cs typeface="Tahoma" panose="020B0604030504040204" pitchFamily="34" charset="0"/>
              </a:rPr>
              <a:t>Design </a:t>
            </a:r>
            <a:r>
              <a:rPr lang="th-TH" altLang="en-US" sz="2000">
                <a:latin typeface="Tahoma" panose="020B0604030504040204" pitchFamily="34" charset="0"/>
                <a:cs typeface="Tahoma" panose="020B0604030504040204" pitchFamily="34" charset="0"/>
              </a:rPr>
              <a:t>จะมี </a:t>
            </a:r>
            <a:r>
              <a:rPr lang="en-US" altLang="en-US" sz="2000">
                <a:latin typeface="Tahoma" panose="020B0604030504040204" pitchFamily="34" charset="0"/>
                <a:cs typeface="Tahoma" panose="020B0604030504040204" pitchFamily="34" charset="0"/>
              </a:rPr>
              <a:t>Refractory 2 </a:t>
            </a:r>
            <a:r>
              <a:rPr lang="th-TH" altLang="en-US" sz="2000">
                <a:latin typeface="Tahoma" panose="020B0604030504040204" pitchFamily="34" charset="0"/>
                <a:cs typeface="Tahoma" panose="020B0604030504040204" pitchFamily="34" charset="0"/>
              </a:rPr>
              <a:t>ชั้นเพื่อป้องกันเปลือกภายนอกด้วย</a:t>
            </a:r>
            <a:endParaRPr lang="en-US" altLang="en-US" sz="2000">
              <a:latin typeface="Tahoma" panose="020B0604030504040204" pitchFamily="34" charset="0"/>
              <a:cs typeface="Tahoma" panose="020B0604030504040204" pitchFamily="34" charset="0"/>
            </a:endParaRPr>
          </a:p>
        </p:txBody>
      </p:sp>
      <p:pic>
        <p:nvPicPr>
          <p:cNvPr id="604167" name="Picture 7"/>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5008563" y="3865563"/>
            <a:ext cx="3686175" cy="2763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fade/>
  </p:transition>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0" y="-20638"/>
            <a:ext cx="9144000" cy="812801"/>
          </a:xfrm>
        </p:spPr>
        <p:txBody>
          <a:bodyPr anchor="t"/>
          <a:lstStyle/>
          <a:p>
            <a:pPr>
              <a:defRPr/>
            </a:pPr>
            <a:r>
              <a:rPr lang="en-US" dirty="0" smtClean="0">
                <a:solidFill>
                  <a:srgbClr val="FF0000"/>
                </a:solidFill>
                <a:effectLst>
                  <a:outerShdw blurRad="38100" dist="38100" dir="2700000" algn="tl">
                    <a:srgbClr val="000000">
                      <a:alpha val="43137"/>
                    </a:srgbClr>
                  </a:outerShdw>
                </a:effectLst>
              </a:rPr>
              <a:t>  </a:t>
            </a:r>
            <a:r>
              <a:rPr lang="en-US" sz="3200" dirty="0" smtClean="0">
                <a:solidFill>
                  <a:srgbClr val="FF0000"/>
                </a:solidFill>
                <a:effectLst>
                  <a:outerShdw blurRad="38100" dist="38100" dir="2700000" algn="tl">
                    <a:srgbClr val="000000">
                      <a:alpha val="43137"/>
                    </a:srgbClr>
                  </a:outerShdw>
                </a:effectLst>
              </a:rPr>
              <a:t>B</a:t>
            </a:r>
            <a:r>
              <a:rPr lang="en-US" sz="2200" dirty="0" smtClean="0"/>
              <a:t>asic Theory of Lime </a:t>
            </a:r>
            <a:r>
              <a:rPr lang="en-US" sz="2200" dirty="0"/>
              <a:t>Recycling (Components of a Lime Kiln </a:t>
            </a:r>
            <a:r>
              <a:rPr lang="en-US" sz="2200" dirty="0" smtClean="0"/>
              <a:t>2/3</a:t>
            </a:r>
            <a:r>
              <a:rPr lang="en-US" sz="2200" dirty="0"/>
              <a:t>)</a:t>
            </a:r>
            <a:endParaRPr lang="th-TH" sz="2200" dirty="0"/>
          </a:p>
        </p:txBody>
      </p:sp>
      <p:cxnSp>
        <p:nvCxnSpPr>
          <p:cNvPr id="4" name="Straight Connector 3"/>
          <p:cNvCxnSpPr/>
          <p:nvPr/>
        </p:nvCxnSpPr>
        <p:spPr>
          <a:xfrm>
            <a:off x="26988" y="531813"/>
            <a:ext cx="9034462" cy="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sp>
        <p:nvSpPr>
          <p:cNvPr id="606212" name="TextBox 6"/>
          <p:cNvSpPr txBox="1">
            <a:spLocks noChangeArrowheads="1"/>
          </p:cNvSpPr>
          <p:nvPr/>
        </p:nvSpPr>
        <p:spPr bwMode="auto">
          <a:xfrm>
            <a:off x="320675" y="4125913"/>
            <a:ext cx="8389938"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u="sng">
                <a:latin typeface="Tahoma" panose="020B0604030504040204" pitchFamily="34" charset="0"/>
                <a:cs typeface="Tahoma" panose="020B0604030504040204" pitchFamily="34" charset="0"/>
              </a:rPr>
              <a:t>Lime Kiln Design </a:t>
            </a:r>
          </a:p>
          <a:p>
            <a:pPr>
              <a:spcBef>
                <a:spcPct val="0"/>
              </a:spcBef>
              <a:buFontTx/>
              <a:buNone/>
            </a:pPr>
            <a:r>
              <a:rPr lang="en-US" altLang="en-US" sz="2000">
                <a:latin typeface="Tahoma" panose="020B0604030504040204" pitchFamily="34" charset="0"/>
                <a:cs typeface="Tahoma" panose="020B0604030504040204" pitchFamily="34" charset="0"/>
              </a:rPr>
              <a:t>- </a:t>
            </a:r>
            <a:r>
              <a:rPr lang="th-TH" altLang="en-US" sz="2000">
                <a:latin typeface="Tahoma" panose="020B0604030504040204" pitchFamily="34" charset="0"/>
                <a:cs typeface="Tahoma" panose="020B0604030504040204" pitchFamily="34" charset="0"/>
              </a:rPr>
              <a:t>ด้านสูงของ </a:t>
            </a:r>
            <a:r>
              <a:rPr lang="en-US" altLang="en-US" sz="2000">
                <a:latin typeface="Tahoma" panose="020B0604030504040204" pitchFamily="34" charset="0"/>
                <a:cs typeface="Tahoma" panose="020B0604030504040204" pitchFamily="34" charset="0"/>
              </a:rPr>
              <a:t>Kiln </a:t>
            </a:r>
            <a:r>
              <a:rPr lang="th-TH" altLang="en-US" sz="2000">
                <a:latin typeface="Tahoma" panose="020B0604030504040204" pitchFamily="34" charset="0"/>
                <a:cs typeface="Tahoma" panose="020B0604030504040204" pitchFamily="34" charset="0"/>
              </a:rPr>
              <a:t>เป็นด้านที่ </a:t>
            </a:r>
            <a:r>
              <a:rPr lang="en-US" altLang="en-US" sz="2000">
                <a:latin typeface="Tahoma" panose="020B0604030504040204" pitchFamily="34" charset="0"/>
                <a:cs typeface="Tahoma" panose="020B0604030504040204" pitchFamily="34" charset="0"/>
              </a:rPr>
              <a:t>Lime Mud </a:t>
            </a:r>
            <a:r>
              <a:rPr lang="th-TH" altLang="en-US" sz="2000">
                <a:latin typeface="Tahoma" panose="020B0604030504040204" pitchFamily="34" charset="0"/>
                <a:cs typeface="Tahoma" panose="020B0604030504040204" pitchFamily="34" charset="0"/>
              </a:rPr>
              <a:t>ถูก </a:t>
            </a:r>
            <a:r>
              <a:rPr lang="en-US" altLang="en-US" sz="2000">
                <a:latin typeface="Tahoma" panose="020B0604030504040204" pitchFamily="34" charset="0"/>
                <a:cs typeface="Tahoma" panose="020B0604030504040204" pitchFamily="34" charset="0"/>
              </a:rPr>
              <a:t>Feed </a:t>
            </a:r>
            <a:r>
              <a:rPr lang="th-TH" altLang="en-US" sz="2000">
                <a:latin typeface="Tahoma" panose="020B0604030504040204" pitchFamily="34" charset="0"/>
                <a:cs typeface="Tahoma" panose="020B0604030504040204" pitchFamily="34" charset="0"/>
              </a:rPr>
              <a:t>เข้ามา ซึ่งมีชื่อเรียกว่า “</a:t>
            </a:r>
            <a:r>
              <a:rPr lang="en-US" altLang="en-US" sz="2000">
                <a:latin typeface="Tahoma" panose="020B0604030504040204" pitchFamily="34" charset="0"/>
                <a:cs typeface="Tahoma" panose="020B0604030504040204" pitchFamily="34" charset="0"/>
              </a:rPr>
              <a:t>Cold End” </a:t>
            </a:r>
            <a:r>
              <a:rPr lang="th-TH" altLang="en-US" sz="2000">
                <a:latin typeface="Tahoma" panose="020B0604030504040204" pitchFamily="34" charset="0"/>
                <a:cs typeface="Tahoma" panose="020B0604030504040204" pitchFamily="34" charset="0"/>
              </a:rPr>
              <a:t>หรือ “</a:t>
            </a:r>
            <a:r>
              <a:rPr lang="en-US" altLang="en-US" sz="2000">
                <a:latin typeface="Tahoma" panose="020B0604030504040204" pitchFamily="34" charset="0"/>
                <a:cs typeface="Tahoma" panose="020B0604030504040204" pitchFamily="34" charset="0"/>
              </a:rPr>
              <a:t>Feed End”</a:t>
            </a:r>
          </a:p>
          <a:p>
            <a:pPr>
              <a:spcBef>
                <a:spcPct val="0"/>
              </a:spcBef>
              <a:buFontTx/>
              <a:buNone/>
            </a:pPr>
            <a:r>
              <a:rPr lang="en-US" altLang="en-US" sz="2000">
                <a:latin typeface="Tahoma" panose="020B0604030504040204" pitchFamily="34" charset="0"/>
                <a:cs typeface="Tahoma" panose="020B0604030504040204" pitchFamily="34" charset="0"/>
              </a:rPr>
              <a:t>- </a:t>
            </a:r>
            <a:r>
              <a:rPr lang="th-TH" altLang="en-US" sz="2000">
                <a:latin typeface="Tahoma" panose="020B0604030504040204" pitchFamily="34" charset="0"/>
                <a:cs typeface="Tahoma" panose="020B0604030504040204" pitchFamily="34" charset="0"/>
              </a:rPr>
              <a:t>ด้าน </a:t>
            </a:r>
            <a:r>
              <a:rPr lang="en-US" altLang="en-US" sz="2000">
                <a:latin typeface="Tahoma" panose="020B0604030504040204" pitchFamily="34" charset="0"/>
                <a:cs typeface="Tahoma" panose="020B0604030504040204" pitchFamily="34" charset="0"/>
              </a:rPr>
              <a:t>Cold End </a:t>
            </a:r>
            <a:r>
              <a:rPr lang="th-TH" altLang="en-US" sz="2000">
                <a:latin typeface="Tahoma" panose="020B0604030504040204" pitchFamily="34" charset="0"/>
                <a:cs typeface="Tahoma" panose="020B0604030504040204" pitchFamily="34" charset="0"/>
              </a:rPr>
              <a:t>มักจะติดตั้งชุดโซ่สำหรับแลกเปลี่ยนความร้อนกับ </a:t>
            </a:r>
            <a:r>
              <a:rPr lang="en-US" altLang="en-US" sz="2000">
                <a:latin typeface="Tahoma" panose="020B0604030504040204" pitchFamily="34" charset="0"/>
                <a:cs typeface="Tahoma" panose="020B0604030504040204" pitchFamily="34" charset="0"/>
              </a:rPr>
              <a:t>Lime Mud </a:t>
            </a:r>
            <a:r>
              <a:rPr lang="th-TH" altLang="en-US" sz="2000">
                <a:latin typeface="Tahoma" panose="020B0604030504040204" pitchFamily="34" charset="0"/>
                <a:cs typeface="Tahoma" panose="020B0604030504040204" pitchFamily="34" charset="0"/>
              </a:rPr>
              <a:t>เพื่อให้ </a:t>
            </a:r>
            <a:r>
              <a:rPr lang="en-US" altLang="en-US" sz="2000">
                <a:latin typeface="Tahoma" panose="020B0604030504040204" pitchFamily="34" charset="0"/>
                <a:cs typeface="Tahoma" panose="020B0604030504040204" pitchFamily="34" charset="0"/>
              </a:rPr>
              <a:t>Lime Mud </a:t>
            </a:r>
            <a:r>
              <a:rPr lang="th-TH" altLang="en-US" sz="2000">
                <a:latin typeface="Tahoma" panose="020B0604030504040204" pitchFamily="34" charset="0"/>
                <a:cs typeface="Tahoma" panose="020B0604030504040204" pitchFamily="34" charset="0"/>
              </a:rPr>
              <a:t>แห้ง</a:t>
            </a:r>
          </a:p>
          <a:p>
            <a:pPr>
              <a:spcBef>
                <a:spcPct val="0"/>
              </a:spcBef>
              <a:buFontTx/>
              <a:buNone/>
            </a:pPr>
            <a:r>
              <a:rPr lang="en-US" altLang="en-US" sz="2000">
                <a:latin typeface="Tahoma" panose="020B0604030504040204" pitchFamily="34" charset="0"/>
                <a:cs typeface="Tahoma" panose="020B0604030504040204" pitchFamily="34" charset="0"/>
              </a:rPr>
              <a:t>- </a:t>
            </a:r>
            <a:r>
              <a:rPr lang="th-TH" altLang="en-US" sz="2000">
                <a:latin typeface="Tahoma" panose="020B0604030504040204" pitchFamily="34" charset="0"/>
                <a:cs typeface="Tahoma" panose="020B0604030504040204" pitchFamily="34" charset="0"/>
              </a:rPr>
              <a:t>ด้านต่ำกว่าของ </a:t>
            </a:r>
            <a:r>
              <a:rPr lang="en-US" altLang="en-US" sz="2000">
                <a:latin typeface="Tahoma" panose="020B0604030504040204" pitchFamily="34" charset="0"/>
                <a:cs typeface="Tahoma" panose="020B0604030504040204" pitchFamily="34" charset="0"/>
              </a:rPr>
              <a:t>Kiln </a:t>
            </a:r>
            <a:r>
              <a:rPr lang="th-TH" altLang="en-US" sz="2000">
                <a:latin typeface="Tahoma" panose="020B0604030504040204" pitchFamily="34" charset="0"/>
                <a:cs typeface="Tahoma" panose="020B0604030504040204" pitchFamily="34" charset="0"/>
              </a:rPr>
              <a:t>เป็นด้านของเปลวไฟและความร้อนสูงเพื่อทำให้เกิด </a:t>
            </a:r>
            <a:r>
              <a:rPr lang="en-US" altLang="en-US" sz="2000">
                <a:latin typeface="Tahoma" panose="020B0604030504040204" pitchFamily="34" charset="0"/>
                <a:cs typeface="Tahoma" panose="020B0604030504040204" pitchFamily="34" charset="0"/>
              </a:rPr>
              <a:t>Calcining </a:t>
            </a:r>
            <a:r>
              <a:rPr lang="th-TH" altLang="en-US" sz="2000">
                <a:latin typeface="Tahoma" panose="020B0604030504040204" pitchFamily="34" charset="0"/>
                <a:cs typeface="Tahoma" panose="020B0604030504040204" pitchFamily="34" charset="0"/>
              </a:rPr>
              <a:t>ด้านนี้มีชื่อเรียกว่า </a:t>
            </a:r>
            <a:r>
              <a:rPr lang="en-US" altLang="en-US" sz="2000">
                <a:latin typeface="Tahoma" panose="020B0604030504040204" pitchFamily="34" charset="0"/>
                <a:cs typeface="Tahoma" panose="020B0604030504040204" pitchFamily="34" charset="0"/>
              </a:rPr>
              <a:t>“Hot End” </a:t>
            </a:r>
            <a:r>
              <a:rPr lang="th-TH" altLang="en-US" sz="2000">
                <a:latin typeface="Tahoma" panose="020B0604030504040204" pitchFamily="34" charset="0"/>
                <a:cs typeface="Tahoma" panose="020B0604030504040204" pitchFamily="34" charset="0"/>
              </a:rPr>
              <a:t>หรือ </a:t>
            </a:r>
            <a:r>
              <a:rPr lang="en-US" altLang="en-US" sz="2000">
                <a:latin typeface="Tahoma" panose="020B0604030504040204" pitchFamily="34" charset="0"/>
                <a:cs typeface="Tahoma" panose="020B0604030504040204" pitchFamily="34" charset="0"/>
              </a:rPr>
              <a:t>“Fire End”</a:t>
            </a:r>
          </a:p>
        </p:txBody>
      </p:sp>
      <p:grpSp>
        <p:nvGrpSpPr>
          <p:cNvPr id="606213" name="Group 11"/>
          <p:cNvGrpSpPr>
            <a:grpSpLocks/>
          </p:cNvGrpSpPr>
          <p:nvPr/>
        </p:nvGrpSpPr>
        <p:grpSpPr bwMode="auto">
          <a:xfrm>
            <a:off x="139700" y="792163"/>
            <a:ext cx="4316413" cy="3238500"/>
            <a:chOff x="-182366" y="696047"/>
            <a:chExt cx="4572000" cy="3429000"/>
          </a:xfrm>
        </p:grpSpPr>
        <p:pic>
          <p:nvPicPr>
            <p:cNvPr id="606215" name="Picture 8"/>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82366" y="696047"/>
              <a:ext cx="4572000" cy="3429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6216" name="Picture 1"/>
            <p:cNvPicPr>
              <a:picLocks noChangeAspect="1"/>
            </p:cNvPicPr>
            <p:nvPr/>
          </p:nvPicPr>
          <p:blipFill>
            <a:blip r:embed="rId4">
              <a:extLst>
                <a:ext uri="{28A0092B-C50C-407E-A947-70E740481C1C}">
                  <a14:useLocalDpi xmlns:a14="http://schemas.microsoft.com/office/drawing/2010/main" val="0"/>
                </a:ext>
              </a:extLst>
            </a:blip>
            <a:srcRect l="16089" t="16289" r="54086" b="69209"/>
            <a:stretch>
              <a:fillRect/>
            </a:stretch>
          </p:blipFill>
          <p:spPr bwMode="auto">
            <a:xfrm>
              <a:off x="520534" y="1309385"/>
              <a:ext cx="1363579" cy="4973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606214" name="Picture 10"/>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646613" y="792163"/>
            <a:ext cx="4318000" cy="3238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fade/>
  </p:transition>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09.mp4">
            <a:hlinkClick r:id="" action="ppaction://media"/>
          </p:cNvPr>
          <p:cNvPicPr>
            <a:picLocks noRot="1" noChangeAspect="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801688" y="792163"/>
            <a:ext cx="7485062" cy="561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itle 1"/>
          <p:cNvSpPr>
            <a:spLocks noGrp="1"/>
          </p:cNvSpPr>
          <p:nvPr>
            <p:ph type="title"/>
          </p:nvPr>
        </p:nvSpPr>
        <p:spPr>
          <a:xfrm>
            <a:off x="0" y="-20638"/>
            <a:ext cx="9144000" cy="812801"/>
          </a:xfrm>
        </p:spPr>
        <p:txBody>
          <a:bodyPr anchor="t"/>
          <a:lstStyle/>
          <a:p>
            <a:pPr>
              <a:defRPr/>
            </a:pPr>
            <a:r>
              <a:rPr lang="en-US" dirty="0" smtClean="0">
                <a:solidFill>
                  <a:srgbClr val="FF0000"/>
                </a:solidFill>
                <a:effectLst>
                  <a:outerShdw blurRad="38100" dist="38100" dir="2700000" algn="tl">
                    <a:srgbClr val="000000">
                      <a:alpha val="43137"/>
                    </a:srgbClr>
                  </a:outerShdw>
                </a:effectLst>
              </a:rPr>
              <a:t>  </a:t>
            </a:r>
            <a:r>
              <a:rPr lang="en-US" sz="3200" dirty="0" smtClean="0">
                <a:solidFill>
                  <a:srgbClr val="FF0000"/>
                </a:solidFill>
                <a:effectLst>
                  <a:outerShdw blurRad="38100" dist="38100" dir="2700000" algn="tl">
                    <a:srgbClr val="000000">
                      <a:alpha val="43137"/>
                    </a:srgbClr>
                  </a:outerShdw>
                </a:effectLst>
              </a:rPr>
              <a:t>B</a:t>
            </a:r>
            <a:r>
              <a:rPr lang="en-US" sz="2200" dirty="0" smtClean="0"/>
              <a:t>asic Theory of Lime </a:t>
            </a:r>
            <a:r>
              <a:rPr lang="en-US" sz="2200" dirty="0"/>
              <a:t>Recycling (Components of a Lime Kiln </a:t>
            </a:r>
            <a:r>
              <a:rPr lang="en-US" sz="2200" dirty="0" smtClean="0"/>
              <a:t>3/3</a:t>
            </a:r>
            <a:r>
              <a:rPr lang="en-US" sz="2200" dirty="0"/>
              <a:t>)</a:t>
            </a:r>
            <a:endParaRPr lang="th-TH" sz="2200" dirty="0"/>
          </a:p>
        </p:txBody>
      </p:sp>
      <p:cxnSp>
        <p:nvCxnSpPr>
          <p:cNvPr id="4" name="Straight Connector 3"/>
          <p:cNvCxnSpPr/>
          <p:nvPr/>
        </p:nvCxnSpPr>
        <p:spPr>
          <a:xfrm>
            <a:off x="26988" y="531813"/>
            <a:ext cx="9034462" cy="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spTree>
  </p:cSld>
  <p:clrMapOvr>
    <a:masterClrMapping/>
  </p:clrMapOvr>
  <p:transition>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childTnLst>
        </p:cTn>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0" y="-20638"/>
            <a:ext cx="9144000" cy="812801"/>
          </a:xfrm>
        </p:spPr>
        <p:txBody>
          <a:bodyPr anchor="t"/>
          <a:lstStyle/>
          <a:p>
            <a:pPr>
              <a:defRPr/>
            </a:pPr>
            <a:r>
              <a:rPr lang="en-US" dirty="0" smtClean="0">
                <a:solidFill>
                  <a:srgbClr val="FF0000"/>
                </a:solidFill>
                <a:effectLst>
                  <a:outerShdw blurRad="38100" dist="38100" dir="2700000" algn="tl">
                    <a:srgbClr val="000000">
                      <a:alpha val="43137"/>
                    </a:srgbClr>
                  </a:outerShdw>
                </a:effectLst>
              </a:rPr>
              <a:t>  </a:t>
            </a:r>
            <a:r>
              <a:rPr lang="en-US" sz="3200" dirty="0" smtClean="0">
                <a:solidFill>
                  <a:srgbClr val="FF0000"/>
                </a:solidFill>
                <a:effectLst>
                  <a:outerShdw blurRad="38100" dist="38100" dir="2700000" algn="tl">
                    <a:srgbClr val="000000">
                      <a:alpha val="43137"/>
                    </a:srgbClr>
                  </a:outerShdw>
                </a:effectLst>
              </a:rPr>
              <a:t>B</a:t>
            </a:r>
            <a:r>
              <a:rPr lang="en-US" sz="2200" dirty="0" smtClean="0"/>
              <a:t>asic Theory of Lime </a:t>
            </a:r>
            <a:r>
              <a:rPr lang="en-US" sz="2200" dirty="0"/>
              <a:t>Recycling (Components of a Lime Kiln </a:t>
            </a:r>
            <a:r>
              <a:rPr lang="en-US" sz="2200" dirty="0" smtClean="0"/>
              <a:t>3/3</a:t>
            </a:r>
            <a:r>
              <a:rPr lang="en-US" sz="2200" dirty="0"/>
              <a:t>)</a:t>
            </a:r>
            <a:endParaRPr lang="th-TH" sz="2200" dirty="0"/>
          </a:p>
        </p:txBody>
      </p:sp>
      <p:cxnSp>
        <p:nvCxnSpPr>
          <p:cNvPr id="4" name="Straight Connector 3"/>
          <p:cNvCxnSpPr/>
          <p:nvPr/>
        </p:nvCxnSpPr>
        <p:spPr>
          <a:xfrm>
            <a:off x="26988" y="531813"/>
            <a:ext cx="9034462" cy="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pic>
        <p:nvPicPr>
          <p:cNvPr id="610308"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15888" y="3133725"/>
            <a:ext cx="4421187" cy="331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0309" name="Picture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638675" y="3133725"/>
            <a:ext cx="4422775" cy="331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0310" name="TextBox 6"/>
          <p:cNvSpPr txBox="1">
            <a:spLocks noChangeArrowheads="1"/>
          </p:cNvSpPr>
          <p:nvPr/>
        </p:nvSpPr>
        <p:spPr bwMode="auto">
          <a:xfrm>
            <a:off x="320675" y="792163"/>
            <a:ext cx="8389938"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u="sng">
                <a:latin typeface="Tahoma" panose="020B0604030504040204" pitchFamily="34" charset="0"/>
                <a:cs typeface="Tahoma" panose="020B0604030504040204" pitchFamily="34" charset="0"/>
              </a:rPr>
              <a:t>Induced Draft Fan (ID Fan)</a:t>
            </a:r>
          </a:p>
          <a:p>
            <a:pPr>
              <a:spcBef>
                <a:spcPct val="0"/>
              </a:spcBef>
              <a:buFontTx/>
              <a:buNone/>
            </a:pPr>
            <a:r>
              <a:rPr lang="en-US" altLang="en-US" sz="2000">
                <a:latin typeface="Tahoma" panose="020B0604030504040204" pitchFamily="34" charset="0"/>
                <a:cs typeface="Tahoma" panose="020B0604030504040204" pitchFamily="34" charset="0"/>
              </a:rPr>
              <a:t>- Induced Draft Fan </a:t>
            </a:r>
            <a:r>
              <a:rPr lang="th-TH" altLang="en-US" sz="2000">
                <a:latin typeface="Tahoma" panose="020B0604030504040204" pitchFamily="34" charset="0"/>
                <a:cs typeface="Tahoma" panose="020B0604030504040204" pitchFamily="34" charset="0"/>
              </a:rPr>
              <a:t>จะติดตั้งอยู่ที่ด้าน </a:t>
            </a:r>
            <a:r>
              <a:rPr lang="en-US" altLang="en-US" sz="2000">
                <a:latin typeface="Tahoma" panose="020B0604030504040204" pitchFamily="34" charset="0"/>
                <a:cs typeface="Tahoma" panose="020B0604030504040204" pitchFamily="34" charset="0"/>
              </a:rPr>
              <a:t>Cold End </a:t>
            </a:r>
            <a:r>
              <a:rPr lang="th-TH" altLang="en-US" sz="2000">
                <a:latin typeface="Tahoma" panose="020B0604030504040204" pitchFamily="34" charset="0"/>
                <a:cs typeface="Tahoma" panose="020B0604030504040204" pitchFamily="34" charset="0"/>
              </a:rPr>
              <a:t>ทำหน้าที่ดึงลมร้อนที่เกิดจากด้าน </a:t>
            </a:r>
            <a:r>
              <a:rPr lang="en-US" altLang="en-US" sz="2000">
                <a:latin typeface="Tahoma" panose="020B0604030504040204" pitchFamily="34" charset="0"/>
                <a:cs typeface="Tahoma" panose="020B0604030504040204" pitchFamily="34" charset="0"/>
              </a:rPr>
              <a:t>burner </a:t>
            </a:r>
            <a:r>
              <a:rPr lang="th-TH" altLang="en-US" sz="2000">
                <a:latin typeface="Tahoma" panose="020B0604030504040204" pitchFamily="34" charset="0"/>
                <a:cs typeface="Tahoma" panose="020B0604030504040204" pitchFamily="34" charset="0"/>
              </a:rPr>
              <a:t>ผ่านมาตาม </a:t>
            </a:r>
            <a:r>
              <a:rPr lang="en-US" altLang="en-US" sz="2000">
                <a:latin typeface="Tahoma" panose="020B0604030504040204" pitchFamily="34" charset="0"/>
                <a:cs typeface="Tahoma" panose="020B0604030504040204" pitchFamily="34" charset="0"/>
              </a:rPr>
              <a:t>zone </a:t>
            </a:r>
            <a:r>
              <a:rPr lang="th-TH" altLang="en-US" sz="2000">
                <a:latin typeface="Tahoma" panose="020B0604030504040204" pitchFamily="34" charset="0"/>
                <a:cs typeface="Tahoma" panose="020B0604030504040204" pitchFamily="34" charset="0"/>
              </a:rPr>
              <a:t>ต่างๆของ </a:t>
            </a:r>
            <a:r>
              <a:rPr lang="en-US" altLang="en-US" sz="2000">
                <a:latin typeface="Tahoma" panose="020B0604030504040204" pitchFamily="34" charset="0"/>
                <a:cs typeface="Tahoma" panose="020B0604030504040204" pitchFamily="34" charset="0"/>
              </a:rPr>
              <a:t>Lime Kiln</a:t>
            </a:r>
          </a:p>
          <a:p>
            <a:pPr>
              <a:spcBef>
                <a:spcPct val="0"/>
              </a:spcBef>
              <a:buFontTx/>
              <a:buNone/>
            </a:pPr>
            <a:r>
              <a:rPr lang="en-US" altLang="en-US" sz="2000">
                <a:latin typeface="Tahoma" panose="020B0604030504040204" pitchFamily="34" charset="0"/>
                <a:cs typeface="Tahoma" panose="020B0604030504040204" pitchFamily="34" charset="0"/>
              </a:rPr>
              <a:t>- </a:t>
            </a:r>
            <a:r>
              <a:rPr lang="th-TH" altLang="en-US" sz="2000">
                <a:latin typeface="Tahoma" panose="020B0604030504040204" pitchFamily="34" charset="0"/>
                <a:cs typeface="Tahoma" panose="020B0604030504040204" pitchFamily="34" charset="0"/>
              </a:rPr>
              <a:t>ลมร้อนภายในเตา มีหน้าที่ดังนี้</a:t>
            </a:r>
          </a:p>
          <a:p>
            <a:pPr>
              <a:spcBef>
                <a:spcPct val="0"/>
              </a:spcBef>
              <a:buFontTx/>
              <a:buNone/>
            </a:pPr>
            <a:r>
              <a:rPr lang="th-TH" altLang="en-US" sz="2000">
                <a:latin typeface="Tahoma" panose="020B0604030504040204" pitchFamily="34" charset="0"/>
                <a:cs typeface="Tahoma" panose="020B0604030504040204" pitchFamily="34" charset="0"/>
              </a:rPr>
              <a:t>	</a:t>
            </a:r>
            <a:r>
              <a:rPr lang="en-US" altLang="en-US" sz="2000">
                <a:latin typeface="Tahoma" panose="020B0604030504040204" pitchFamily="34" charset="0"/>
                <a:cs typeface="Tahoma" panose="020B0604030504040204" pitchFamily="34" charset="0"/>
              </a:rPr>
              <a:t>- </a:t>
            </a:r>
            <a:r>
              <a:rPr lang="th-TH" altLang="en-US" sz="2000">
                <a:latin typeface="Tahoma" panose="020B0604030504040204" pitchFamily="34" charset="0"/>
                <a:cs typeface="Tahoma" panose="020B0604030504040204" pitchFamily="34" charset="0"/>
              </a:rPr>
              <a:t>เพื่ออุ่นผนังเตา, โซ่ และ </a:t>
            </a:r>
            <a:r>
              <a:rPr lang="en-US" altLang="en-US" sz="2000">
                <a:latin typeface="Tahoma" panose="020B0604030504040204" pitchFamily="34" charset="0"/>
                <a:cs typeface="Tahoma" panose="020B0604030504040204" pitchFamily="34" charset="0"/>
              </a:rPr>
              <a:t>Lime Mud </a:t>
            </a:r>
            <a:r>
              <a:rPr lang="th-TH" altLang="en-US" sz="2000">
                <a:latin typeface="Tahoma" panose="020B0604030504040204" pitchFamily="34" charset="0"/>
                <a:cs typeface="Tahoma" panose="020B0604030504040204" pitchFamily="34" charset="0"/>
              </a:rPr>
              <a:t>ขณะที่ลมร้อนผ่าน </a:t>
            </a:r>
            <a:r>
              <a:rPr lang="en-US" altLang="en-US" sz="2000">
                <a:latin typeface="Tahoma" panose="020B0604030504040204" pitchFamily="34" charset="0"/>
                <a:cs typeface="Tahoma" panose="020B0604030504040204" pitchFamily="34" charset="0"/>
              </a:rPr>
              <a:t>Kiln</a:t>
            </a:r>
          </a:p>
          <a:p>
            <a:pPr>
              <a:spcBef>
                <a:spcPct val="0"/>
              </a:spcBef>
              <a:buFontTx/>
              <a:buNone/>
            </a:pPr>
            <a:r>
              <a:rPr lang="en-US" altLang="en-US" sz="2000">
                <a:latin typeface="Tahoma" panose="020B0604030504040204" pitchFamily="34" charset="0"/>
                <a:cs typeface="Tahoma" panose="020B0604030504040204" pitchFamily="34" charset="0"/>
              </a:rPr>
              <a:t>	- </a:t>
            </a:r>
            <a:r>
              <a:rPr lang="th-TH" altLang="en-US" sz="2000">
                <a:latin typeface="Tahoma" panose="020B0604030504040204" pitchFamily="34" charset="0"/>
                <a:cs typeface="Tahoma" panose="020B0604030504040204" pitchFamily="34" charset="0"/>
              </a:rPr>
              <a:t>เพื่อกำจัด </a:t>
            </a:r>
            <a:r>
              <a:rPr lang="en-US" altLang="en-US" sz="2000">
                <a:latin typeface="Tahoma" panose="020B0604030504040204" pitchFamily="34" charset="0"/>
                <a:cs typeface="Tahoma" panose="020B0604030504040204" pitchFamily="34" charset="0"/>
              </a:rPr>
              <a:t>Carbon Dioxide </a:t>
            </a:r>
            <a:r>
              <a:rPr lang="th-TH" altLang="en-US" sz="2000">
                <a:latin typeface="Tahoma" panose="020B0604030504040204" pitchFamily="34" charset="0"/>
                <a:cs typeface="Tahoma" panose="020B0604030504040204" pitchFamily="34" charset="0"/>
              </a:rPr>
              <a:t>ที่เกิดขึ้นระหว่างกระบวนการ </a:t>
            </a:r>
            <a:r>
              <a:rPr lang="en-US" altLang="en-US" sz="2000">
                <a:latin typeface="Tahoma" panose="020B0604030504040204" pitchFamily="34" charset="0"/>
                <a:cs typeface="Tahoma" panose="020B0604030504040204" pitchFamily="34" charset="0"/>
              </a:rPr>
              <a:t>Calcining </a:t>
            </a:r>
            <a:r>
              <a:rPr lang="th-TH" altLang="en-US" sz="2000">
                <a:latin typeface="Tahoma" panose="020B0604030504040204" pitchFamily="34" charset="0"/>
                <a:cs typeface="Tahoma" panose="020B0604030504040204" pitchFamily="34" charset="0"/>
              </a:rPr>
              <a:t>และ เพื่อระเหยน้ำออกจาก </a:t>
            </a:r>
            <a:r>
              <a:rPr lang="en-US" altLang="en-US" sz="2000">
                <a:latin typeface="Tahoma" panose="020B0604030504040204" pitchFamily="34" charset="0"/>
                <a:cs typeface="Tahoma" panose="020B0604030504040204" pitchFamily="34" charset="0"/>
              </a:rPr>
              <a:t>Lime Mud </a:t>
            </a:r>
            <a:r>
              <a:rPr lang="th-TH" altLang="en-US" sz="2000">
                <a:latin typeface="Tahoma" panose="020B0604030504040204" pitchFamily="34" charset="0"/>
                <a:cs typeface="Tahoma" panose="020B0604030504040204" pitchFamily="34" charset="0"/>
              </a:rPr>
              <a:t>ที่บริเวณที่เป็นโซ่</a:t>
            </a:r>
          </a:p>
        </p:txBody>
      </p:sp>
    </p:spTree>
  </p:cSld>
  <p:clrMapOvr>
    <a:masterClrMapping/>
  </p:clrMapOvr>
  <p:transition>
    <p:fade/>
  </p:transition>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0" y="-20638"/>
            <a:ext cx="9144000" cy="812801"/>
          </a:xfrm>
        </p:spPr>
        <p:txBody>
          <a:bodyPr anchor="t"/>
          <a:lstStyle/>
          <a:p>
            <a:pPr>
              <a:defRPr/>
            </a:pPr>
            <a:r>
              <a:rPr lang="en-US" dirty="0" smtClean="0">
                <a:solidFill>
                  <a:srgbClr val="FF0000"/>
                </a:solidFill>
                <a:effectLst>
                  <a:outerShdw blurRad="38100" dist="38100" dir="2700000" algn="tl">
                    <a:srgbClr val="000000">
                      <a:alpha val="43137"/>
                    </a:srgbClr>
                  </a:outerShdw>
                </a:effectLst>
              </a:rPr>
              <a:t>  </a:t>
            </a:r>
            <a:r>
              <a:rPr lang="en-US" sz="3200" dirty="0" smtClean="0">
                <a:solidFill>
                  <a:srgbClr val="FF0000"/>
                </a:solidFill>
                <a:effectLst>
                  <a:outerShdw blurRad="38100" dist="38100" dir="2700000" algn="tl">
                    <a:srgbClr val="000000">
                      <a:alpha val="43137"/>
                    </a:srgbClr>
                  </a:outerShdw>
                </a:effectLst>
              </a:rPr>
              <a:t>B</a:t>
            </a:r>
            <a:r>
              <a:rPr lang="en-US" sz="2200" dirty="0" smtClean="0"/>
              <a:t>asic Theory of Lime </a:t>
            </a:r>
            <a:r>
              <a:rPr lang="en-US" sz="2200" dirty="0"/>
              <a:t>Recycling (Components of a Lime Kiln </a:t>
            </a:r>
            <a:r>
              <a:rPr lang="en-US" sz="2200" dirty="0" smtClean="0"/>
              <a:t>3/3</a:t>
            </a:r>
            <a:r>
              <a:rPr lang="en-US" sz="2200" dirty="0"/>
              <a:t>)</a:t>
            </a:r>
            <a:endParaRPr lang="th-TH" sz="2200" dirty="0"/>
          </a:p>
        </p:txBody>
      </p:sp>
      <p:cxnSp>
        <p:nvCxnSpPr>
          <p:cNvPr id="4" name="Straight Connector 3"/>
          <p:cNvCxnSpPr/>
          <p:nvPr/>
        </p:nvCxnSpPr>
        <p:spPr>
          <a:xfrm>
            <a:off x="26988" y="531813"/>
            <a:ext cx="9034462" cy="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sp>
        <p:nvSpPr>
          <p:cNvPr id="612356" name="TextBox 6"/>
          <p:cNvSpPr txBox="1">
            <a:spLocks noChangeArrowheads="1"/>
          </p:cNvSpPr>
          <p:nvPr/>
        </p:nvSpPr>
        <p:spPr bwMode="auto">
          <a:xfrm>
            <a:off x="4043363" y="760413"/>
            <a:ext cx="5018087" cy="2554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u="sng">
                <a:latin typeface="Tahoma" panose="020B0604030504040204" pitchFamily="34" charset="0"/>
                <a:cs typeface="Tahoma" panose="020B0604030504040204" pitchFamily="34" charset="0"/>
              </a:rPr>
              <a:t>Hood </a:t>
            </a:r>
            <a:r>
              <a:rPr lang="th-TH" altLang="en-US" sz="2000" b="1" u="sng">
                <a:latin typeface="Tahoma" panose="020B0604030504040204" pitchFamily="34" charset="0"/>
                <a:cs typeface="Tahoma" panose="020B0604030504040204" pitchFamily="34" charset="0"/>
              </a:rPr>
              <a:t>และ </a:t>
            </a:r>
            <a:r>
              <a:rPr lang="en-US" altLang="en-US" sz="2000" b="1" u="sng">
                <a:latin typeface="Tahoma" panose="020B0604030504040204" pitchFamily="34" charset="0"/>
                <a:cs typeface="Tahoma" panose="020B0604030504040204" pitchFamily="34" charset="0"/>
              </a:rPr>
              <a:t>Seals </a:t>
            </a:r>
            <a:r>
              <a:rPr lang="th-TH" altLang="en-US" sz="2000" b="1" u="sng">
                <a:latin typeface="Tahoma" panose="020B0604030504040204" pitchFamily="34" charset="0"/>
                <a:cs typeface="Tahoma" panose="020B0604030504040204" pitchFamily="34" charset="0"/>
              </a:rPr>
              <a:t>ของ </a:t>
            </a:r>
            <a:r>
              <a:rPr lang="en-US" altLang="en-US" sz="2000" b="1" u="sng">
                <a:latin typeface="Tahoma" panose="020B0604030504040204" pitchFamily="34" charset="0"/>
                <a:cs typeface="Tahoma" panose="020B0604030504040204" pitchFamily="34" charset="0"/>
              </a:rPr>
              <a:t>Hot </a:t>
            </a:r>
            <a:r>
              <a:rPr lang="th-TH" altLang="en-US" sz="2000" b="1" u="sng">
                <a:latin typeface="Tahoma" panose="020B0604030504040204" pitchFamily="34" charset="0"/>
                <a:cs typeface="Tahoma" panose="020B0604030504040204" pitchFamily="34" charset="0"/>
              </a:rPr>
              <a:t>และ </a:t>
            </a:r>
            <a:r>
              <a:rPr lang="en-US" altLang="en-US" sz="2000" b="1" u="sng">
                <a:latin typeface="Tahoma" panose="020B0604030504040204" pitchFamily="34" charset="0"/>
                <a:cs typeface="Tahoma" panose="020B0604030504040204" pitchFamily="34" charset="0"/>
              </a:rPr>
              <a:t>Cold End</a:t>
            </a:r>
          </a:p>
          <a:p>
            <a:pPr>
              <a:spcBef>
                <a:spcPct val="0"/>
              </a:spcBef>
              <a:buFontTx/>
              <a:buNone/>
            </a:pPr>
            <a:r>
              <a:rPr lang="en-US" altLang="en-US" sz="2000">
                <a:latin typeface="Tahoma" panose="020B0604030504040204" pitchFamily="34" charset="0"/>
                <a:cs typeface="Tahoma" panose="020B0604030504040204" pitchFamily="34" charset="0"/>
              </a:rPr>
              <a:t>- Hood </a:t>
            </a:r>
            <a:r>
              <a:rPr lang="th-TH" altLang="en-US" sz="2000">
                <a:latin typeface="Tahoma" panose="020B0604030504040204" pitchFamily="34" charset="0"/>
                <a:cs typeface="Tahoma" panose="020B0604030504040204" pitchFamily="34" charset="0"/>
              </a:rPr>
              <a:t>ที่ด้าน </a:t>
            </a:r>
            <a:r>
              <a:rPr lang="en-US" altLang="en-US" sz="2000">
                <a:latin typeface="Tahoma" panose="020B0604030504040204" pitchFamily="34" charset="0"/>
                <a:cs typeface="Tahoma" panose="020B0604030504040204" pitchFamily="34" charset="0"/>
              </a:rPr>
              <a:t>Cold End </a:t>
            </a:r>
            <a:r>
              <a:rPr lang="th-TH" altLang="en-US" sz="2000">
                <a:latin typeface="Tahoma" panose="020B0604030504040204" pitchFamily="34" charset="0"/>
                <a:cs typeface="Tahoma" panose="020B0604030504040204" pitchFamily="34" charset="0"/>
              </a:rPr>
              <a:t>เป็นด้านที่เปิดให้สำหรับ จุด </a:t>
            </a:r>
            <a:r>
              <a:rPr lang="en-US" altLang="en-US" sz="2000">
                <a:latin typeface="Tahoma" panose="020B0604030504040204" pitchFamily="34" charset="0"/>
                <a:cs typeface="Tahoma" panose="020B0604030504040204" pitchFamily="34" charset="0"/>
              </a:rPr>
              <a:t>Feed Lime Mud </a:t>
            </a:r>
            <a:r>
              <a:rPr lang="th-TH" altLang="en-US" sz="2000">
                <a:latin typeface="Tahoma" panose="020B0604030504040204" pitchFamily="34" charset="0"/>
                <a:cs typeface="Tahoma" panose="020B0604030504040204" pitchFamily="34" charset="0"/>
              </a:rPr>
              <a:t>และ ช่องสำหรับดูดลมร้อนของ </a:t>
            </a:r>
            <a:r>
              <a:rPr lang="en-US" altLang="en-US" sz="2000">
                <a:latin typeface="Tahoma" panose="020B0604030504040204" pitchFamily="34" charset="0"/>
                <a:cs typeface="Tahoma" panose="020B0604030504040204" pitchFamily="34" charset="0"/>
              </a:rPr>
              <a:t>ID Fan</a:t>
            </a:r>
            <a:r>
              <a:rPr lang="th-TH" altLang="en-US" sz="2000">
                <a:latin typeface="Tahoma" panose="020B0604030504040204" pitchFamily="34" charset="0"/>
                <a:cs typeface="Tahoma" panose="020B0604030504040204" pitchFamily="34" charset="0"/>
              </a:rPr>
              <a:t>	</a:t>
            </a:r>
            <a:endParaRPr lang="en-US" altLang="en-US" sz="2000">
              <a:latin typeface="Tahoma" panose="020B0604030504040204" pitchFamily="34" charset="0"/>
              <a:cs typeface="Tahoma" panose="020B0604030504040204" pitchFamily="34" charset="0"/>
            </a:endParaRPr>
          </a:p>
          <a:p>
            <a:pPr>
              <a:spcBef>
                <a:spcPct val="0"/>
              </a:spcBef>
              <a:buFontTx/>
              <a:buNone/>
            </a:pPr>
            <a:r>
              <a:rPr lang="en-US" altLang="en-US" sz="2000">
                <a:latin typeface="Tahoma" panose="020B0604030504040204" pitchFamily="34" charset="0"/>
                <a:cs typeface="Tahoma" panose="020B0604030504040204" pitchFamily="34" charset="0"/>
              </a:rPr>
              <a:t>- </a:t>
            </a:r>
            <a:r>
              <a:rPr lang="th-TH" altLang="en-US" sz="2000">
                <a:latin typeface="Tahoma" panose="020B0604030504040204" pitchFamily="34" charset="0"/>
                <a:cs typeface="Tahoma" panose="020B0604030504040204" pitchFamily="34" charset="0"/>
              </a:rPr>
              <a:t>ส่วน </a:t>
            </a:r>
            <a:r>
              <a:rPr lang="en-US" altLang="en-US" sz="2000">
                <a:latin typeface="Tahoma" panose="020B0604030504040204" pitchFamily="34" charset="0"/>
                <a:cs typeface="Tahoma" panose="020B0604030504040204" pitchFamily="34" charset="0"/>
              </a:rPr>
              <a:t>Hood </a:t>
            </a:r>
            <a:r>
              <a:rPr lang="th-TH" altLang="en-US" sz="2000">
                <a:latin typeface="Tahoma" panose="020B0604030504040204" pitchFamily="34" charset="0"/>
                <a:cs typeface="Tahoma" panose="020B0604030504040204" pitchFamily="34" charset="0"/>
              </a:rPr>
              <a:t>ด้าน </a:t>
            </a:r>
            <a:r>
              <a:rPr lang="en-US" altLang="en-US" sz="2000">
                <a:latin typeface="Tahoma" panose="020B0604030504040204" pitchFamily="34" charset="0"/>
                <a:cs typeface="Tahoma" panose="020B0604030504040204" pitchFamily="34" charset="0"/>
              </a:rPr>
              <a:t>Hot End </a:t>
            </a:r>
            <a:r>
              <a:rPr lang="th-TH" altLang="en-US" sz="2000">
                <a:latin typeface="Tahoma" panose="020B0604030504040204" pitchFamily="34" charset="0"/>
                <a:cs typeface="Tahoma" panose="020B0604030504040204" pitchFamily="34" charset="0"/>
              </a:rPr>
              <a:t>จะเป็นตัว </a:t>
            </a:r>
            <a:r>
              <a:rPr lang="en-US" altLang="en-US" sz="2000">
                <a:latin typeface="Tahoma" panose="020B0604030504040204" pitchFamily="34" charset="0"/>
                <a:cs typeface="Tahoma" panose="020B0604030504040204" pitchFamily="34" charset="0"/>
              </a:rPr>
              <a:t>Support </a:t>
            </a:r>
            <a:r>
              <a:rPr lang="th-TH" altLang="en-US" sz="2000">
                <a:latin typeface="Tahoma" panose="020B0604030504040204" pitchFamily="34" charset="0"/>
                <a:cs typeface="Tahoma" panose="020B0604030504040204" pitchFamily="34" charset="0"/>
              </a:rPr>
              <a:t>ให้กับ </a:t>
            </a:r>
            <a:r>
              <a:rPr lang="en-US" altLang="en-US" sz="2000">
                <a:latin typeface="Tahoma" panose="020B0604030504040204" pitchFamily="34" charset="0"/>
                <a:cs typeface="Tahoma" panose="020B0604030504040204" pitchFamily="34" charset="0"/>
              </a:rPr>
              <a:t>Burner </a:t>
            </a:r>
            <a:r>
              <a:rPr lang="th-TH" altLang="en-US" sz="2000">
                <a:latin typeface="Tahoma" panose="020B0604030504040204" pitchFamily="34" charset="0"/>
                <a:cs typeface="Tahoma" panose="020B0604030504040204" pitchFamily="34" charset="0"/>
              </a:rPr>
              <a:t>และ อุปกรณ์ที่ใช้ปรับเปลวไฟ และเป็นด้านที่ใช้ สำหรับ </a:t>
            </a:r>
            <a:r>
              <a:rPr lang="en-US" altLang="en-US" sz="2000">
                <a:latin typeface="Tahoma" panose="020B0604030504040204" pitchFamily="34" charset="0"/>
                <a:cs typeface="Tahoma" panose="020B0604030504040204" pitchFamily="34" charset="0"/>
              </a:rPr>
              <a:t>discharged </a:t>
            </a:r>
            <a:r>
              <a:rPr lang="th-TH" altLang="en-US" sz="2000">
                <a:latin typeface="Tahoma" panose="020B0604030504040204" pitchFamily="34" charset="0"/>
                <a:cs typeface="Tahoma" panose="020B0604030504040204" pitchFamily="34" charset="0"/>
              </a:rPr>
              <a:t>ตัว </a:t>
            </a:r>
            <a:r>
              <a:rPr lang="en-US" altLang="en-US" sz="2000">
                <a:latin typeface="Tahoma" panose="020B0604030504040204" pitchFamily="34" charset="0"/>
                <a:cs typeface="Tahoma" panose="020B0604030504040204" pitchFamily="34" charset="0"/>
              </a:rPr>
              <a:t>“Reburned Lime” </a:t>
            </a:r>
            <a:r>
              <a:rPr lang="th-TH" altLang="en-US" sz="2000">
                <a:latin typeface="Tahoma" panose="020B0604030504040204" pitchFamily="34" charset="0"/>
                <a:cs typeface="Tahoma" panose="020B0604030504040204" pitchFamily="34" charset="0"/>
              </a:rPr>
              <a:t>อีกด้วย</a:t>
            </a:r>
          </a:p>
        </p:txBody>
      </p:sp>
      <p:pic>
        <p:nvPicPr>
          <p:cNvPr id="612357"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61938" y="792163"/>
            <a:ext cx="3663950" cy="2747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2358"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31825" y="3817938"/>
            <a:ext cx="3411538" cy="255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2359" name="Picture 8"/>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5091113" y="3783013"/>
            <a:ext cx="3459162" cy="259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2360" name="TextBox 11"/>
          <p:cNvSpPr txBox="1">
            <a:spLocks noChangeArrowheads="1"/>
          </p:cNvSpPr>
          <p:nvPr/>
        </p:nvSpPr>
        <p:spPr bwMode="auto">
          <a:xfrm>
            <a:off x="631825" y="3170238"/>
            <a:ext cx="1020763"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b="1">
                <a:solidFill>
                  <a:schemeClr val="bg1"/>
                </a:solidFill>
              </a:rPr>
              <a:t>Cold End</a:t>
            </a:r>
            <a:endParaRPr lang="en-US" altLang="en-US" sz="1800" b="1" baseline="-25000">
              <a:solidFill>
                <a:schemeClr val="bg1"/>
              </a:solidFill>
            </a:endParaRPr>
          </a:p>
        </p:txBody>
      </p:sp>
      <p:sp>
        <p:nvSpPr>
          <p:cNvPr id="612361" name="TextBox 11"/>
          <p:cNvSpPr txBox="1">
            <a:spLocks noChangeArrowheads="1"/>
          </p:cNvSpPr>
          <p:nvPr/>
        </p:nvSpPr>
        <p:spPr bwMode="auto">
          <a:xfrm>
            <a:off x="2565400" y="3173413"/>
            <a:ext cx="94615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b="1">
                <a:solidFill>
                  <a:schemeClr val="bg1"/>
                </a:solidFill>
              </a:rPr>
              <a:t>Hot End</a:t>
            </a:r>
            <a:endParaRPr lang="en-US" altLang="en-US" sz="1800" b="1" baseline="-25000">
              <a:solidFill>
                <a:schemeClr val="bg1"/>
              </a:solidFill>
            </a:endParaRPr>
          </a:p>
        </p:txBody>
      </p:sp>
      <p:sp>
        <p:nvSpPr>
          <p:cNvPr id="612362" name="TextBox 11"/>
          <p:cNvSpPr txBox="1">
            <a:spLocks noChangeArrowheads="1"/>
          </p:cNvSpPr>
          <p:nvPr/>
        </p:nvSpPr>
        <p:spPr bwMode="auto">
          <a:xfrm>
            <a:off x="3048000" y="3843338"/>
            <a:ext cx="1020763" cy="369887"/>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b="1">
                <a:solidFill>
                  <a:schemeClr val="bg1"/>
                </a:solidFill>
              </a:rPr>
              <a:t>Cold End</a:t>
            </a:r>
            <a:endParaRPr lang="en-US" altLang="en-US" sz="1800" b="1" baseline="-25000">
              <a:solidFill>
                <a:schemeClr val="bg1"/>
              </a:solidFill>
            </a:endParaRPr>
          </a:p>
        </p:txBody>
      </p:sp>
      <p:sp>
        <p:nvSpPr>
          <p:cNvPr id="612363" name="TextBox 11"/>
          <p:cNvSpPr txBox="1">
            <a:spLocks noChangeArrowheads="1"/>
          </p:cNvSpPr>
          <p:nvPr/>
        </p:nvSpPr>
        <p:spPr bwMode="auto">
          <a:xfrm>
            <a:off x="7480300" y="3810000"/>
            <a:ext cx="946150" cy="36988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b="1">
                <a:solidFill>
                  <a:schemeClr val="bg1"/>
                </a:solidFill>
              </a:rPr>
              <a:t>Hot End</a:t>
            </a:r>
            <a:endParaRPr lang="en-US" altLang="en-US" sz="1800" b="1" baseline="-25000">
              <a:solidFill>
                <a:schemeClr val="bg1"/>
              </a:solidFill>
            </a:endParaRPr>
          </a:p>
        </p:txBody>
      </p:sp>
      <p:sp>
        <p:nvSpPr>
          <p:cNvPr id="612364" name="TextBox 13"/>
          <p:cNvSpPr txBox="1">
            <a:spLocks noChangeArrowheads="1"/>
          </p:cNvSpPr>
          <p:nvPr/>
        </p:nvSpPr>
        <p:spPr bwMode="auto">
          <a:xfrm>
            <a:off x="1577975" y="3802063"/>
            <a:ext cx="11430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b="1">
                <a:solidFill>
                  <a:schemeClr val="bg1"/>
                </a:solidFill>
              </a:rPr>
              <a:t>Lime Mud</a:t>
            </a:r>
            <a:endParaRPr lang="en-US" altLang="en-US" sz="1800" b="1" baseline="-25000">
              <a:solidFill>
                <a:schemeClr val="bg1"/>
              </a:solidFill>
            </a:endParaRPr>
          </a:p>
        </p:txBody>
      </p:sp>
      <p:sp>
        <p:nvSpPr>
          <p:cNvPr id="612365" name="TextBox 14"/>
          <p:cNvSpPr txBox="1">
            <a:spLocks noChangeArrowheads="1"/>
          </p:cNvSpPr>
          <p:nvPr/>
        </p:nvSpPr>
        <p:spPr bwMode="auto">
          <a:xfrm>
            <a:off x="585788" y="5970588"/>
            <a:ext cx="86518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b="1">
                <a:solidFill>
                  <a:schemeClr val="bg1"/>
                </a:solidFill>
              </a:rPr>
              <a:t>Hot Air</a:t>
            </a:r>
            <a:endParaRPr lang="en-US" altLang="en-US" sz="1800" b="1" baseline="-25000">
              <a:solidFill>
                <a:schemeClr val="bg1"/>
              </a:solidFill>
            </a:endParaRPr>
          </a:p>
        </p:txBody>
      </p:sp>
      <p:sp>
        <p:nvSpPr>
          <p:cNvPr id="612366" name="TextBox 15"/>
          <p:cNvSpPr txBox="1">
            <a:spLocks noChangeArrowheads="1"/>
          </p:cNvSpPr>
          <p:nvPr/>
        </p:nvSpPr>
        <p:spPr bwMode="auto">
          <a:xfrm>
            <a:off x="5381625" y="5948363"/>
            <a:ext cx="162718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b="1">
                <a:solidFill>
                  <a:schemeClr val="bg1"/>
                </a:solidFill>
              </a:rPr>
              <a:t>Reburned Lime</a:t>
            </a:r>
            <a:endParaRPr lang="en-US" altLang="en-US" sz="1800" b="1" baseline="-25000">
              <a:solidFill>
                <a:schemeClr val="bg1"/>
              </a:solidFill>
            </a:endParaRPr>
          </a:p>
        </p:txBody>
      </p:sp>
    </p:spTree>
  </p:cSld>
  <p:clrMapOvr>
    <a:masterClrMapping/>
  </p:clrMapOvr>
  <p:transition>
    <p:fade/>
  </p:transition>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02"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6. Principle of chemical recovery </a:t>
            </a:r>
          </a:p>
        </p:txBody>
      </p:sp>
      <p:sp>
        <p:nvSpPr>
          <p:cNvPr id="614403" name="TextBox 1"/>
          <p:cNvSpPr txBox="1">
            <a:spLocks noChangeArrowheads="1"/>
          </p:cNvSpPr>
          <p:nvPr/>
        </p:nvSpPr>
        <p:spPr bwMode="auto">
          <a:xfrm>
            <a:off x="457200" y="839788"/>
            <a:ext cx="1347788" cy="46196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t>Lime Kiln</a:t>
            </a:r>
          </a:p>
        </p:txBody>
      </p:sp>
      <p:pic>
        <p:nvPicPr>
          <p:cNvPr id="614404"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03225" y="1246188"/>
            <a:ext cx="4738688" cy="3554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4405" name="Picture 5"/>
          <p:cNvPicPr>
            <a:picLocks noChangeAspect="1"/>
          </p:cNvPicPr>
          <p:nvPr/>
        </p:nvPicPr>
        <p:blipFill>
          <a:blip r:embed="rId4">
            <a:extLst>
              <a:ext uri="{28A0092B-C50C-407E-A947-70E740481C1C}">
                <a14:useLocalDpi xmlns:a14="http://schemas.microsoft.com/office/drawing/2010/main" val="0"/>
              </a:ext>
            </a:extLst>
          </a:blip>
          <a:srcRect t="21425" b="33379"/>
          <a:stretch>
            <a:fillRect/>
          </a:stretch>
        </p:blipFill>
        <p:spPr bwMode="auto">
          <a:xfrm>
            <a:off x="5462588" y="1125538"/>
            <a:ext cx="3281362" cy="1112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4406" name="Picture 6"/>
          <p:cNvPicPr>
            <a:picLocks noChangeAspect="1"/>
          </p:cNvPicPr>
          <p:nvPr/>
        </p:nvPicPr>
        <p:blipFill>
          <a:blip r:embed="rId5">
            <a:extLst>
              <a:ext uri="{28A0092B-C50C-407E-A947-70E740481C1C}">
                <a14:useLocalDpi xmlns:a14="http://schemas.microsoft.com/office/drawing/2010/main" val="0"/>
              </a:ext>
            </a:extLst>
          </a:blip>
          <a:srcRect t="21198" b="36331"/>
          <a:stretch>
            <a:fillRect/>
          </a:stretch>
        </p:blipFill>
        <p:spPr bwMode="auto">
          <a:xfrm>
            <a:off x="5462588" y="2390775"/>
            <a:ext cx="3281362" cy="10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4407" name="Picture 7"/>
          <p:cNvPicPr>
            <a:picLocks noChangeAspect="1"/>
          </p:cNvPicPr>
          <p:nvPr/>
        </p:nvPicPr>
        <p:blipFill>
          <a:blip r:embed="rId6">
            <a:extLst>
              <a:ext uri="{28A0092B-C50C-407E-A947-70E740481C1C}">
                <a14:useLocalDpi xmlns:a14="http://schemas.microsoft.com/office/drawing/2010/main" val="0"/>
              </a:ext>
            </a:extLst>
          </a:blip>
          <a:srcRect t="21004" b="37514"/>
          <a:stretch>
            <a:fillRect/>
          </a:stretch>
        </p:blipFill>
        <p:spPr bwMode="auto">
          <a:xfrm>
            <a:off x="5462588" y="3602038"/>
            <a:ext cx="3281362" cy="1020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4408" name="Picture 8"/>
          <p:cNvPicPr>
            <a:picLocks noChangeAspect="1"/>
          </p:cNvPicPr>
          <p:nvPr/>
        </p:nvPicPr>
        <p:blipFill>
          <a:blip r:embed="rId7">
            <a:extLst>
              <a:ext uri="{28A0092B-C50C-407E-A947-70E740481C1C}">
                <a14:useLocalDpi xmlns:a14="http://schemas.microsoft.com/office/drawing/2010/main" val="0"/>
              </a:ext>
            </a:extLst>
          </a:blip>
          <a:srcRect t="22665" b="12000"/>
          <a:stretch>
            <a:fillRect/>
          </a:stretch>
        </p:blipFill>
        <p:spPr bwMode="auto">
          <a:xfrm>
            <a:off x="5121275" y="4864100"/>
            <a:ext cx="4022725" cy="1970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409" name="TextBox 51"/>
          <p:cNvSpPr txBox="1">
            <a:spLocks noChangeArrowheads="1"/>
          </p:cNvSpPr>
          <p:nvPr/>
        </p:nvSpPr>
        <p:spPr bwMode="auto">
          <a:xfrm>
            <a:off x="6334125" y="1938338"/>
            <a:ext cx="159702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600" b="1">
                <a:solidFill>
                  <a:schemeClr val="bg1"/>
                </a:solidFill>
              </a:rPr>
              <a:t>Long Metal Tube</a:t>
            </a:r>
          </a:p>
        </p:txBody>
      </p:sp>
      <p:sp>
        <p:nvSpPr>
          <p:cNvPr id="614410" name="TextBox 51"/>
          <p:cNvSpPr txBox="1">
            <a:spLocks noChangeArrowheads="1"/>
          </p:cNvSpPr>
          <p:nvPr/>
        </p:nvSpPr>
        <p:spPr bwMode="auto">
          <a:xfrm>
            <a:off x="6688138" y="3117850"/>
            <a:ext cx="7493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600" b="1">
                <a:solidFill>
                  <a:schemeClr val="bg1"/>
                </a:solidFill>
              </a:rPr>
              <a:t>Incline</a:t>
            </a:r>
          </a:p>
        </p:txBody>
      </p:sp>
      <p:sp>
        <p:nvSpPr>
          <p:cNvPr id="614411" name="TextBox 51"/>
          <p:cNvSpPr txBox="1">
            <a:spLocks noChangeArrowheads="1"/>
          </p:cNvSpPr>
          <p:nvPr/>
        </p:nvSpPr>
        <p:spPr bwMode="auto">
          <a:xfrm>
            <a:off x="6348413" y="4338638"/>
            <a:ext cx="1430337"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600" b="1">
                <a:solidFill>
                  <a:schemeClr val="bg1"/>
                </a:solidFill>
              </a:rPr>
              <a:t>Rotates Slowly</a:t>
            </a:r>
          </a:p>
        </p:txBody>
      </p:sp>
      <p:sp>
        <p:nvSpPr>
          <p:cNvPr id="614412" name="TextBox 12"/>
          <p:cNvSpPr txBox="1">
            <a:spLocks noChangeArrowheads="1"/>
          </p:cNvSpPr>
          <p:nvPr/>
        </p:nvSpPr>
        <p:spPr bwMode="auto">
          <a:xfrm>
            <a:off x="261938" y="4878388"/>
            <a:ext cx="4879975"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 typeface="Arial" panose="020B0604020202020204" pitchFamily="34" charset="0"/>
              <a:buNone/>
            </a:pPr>
            <a:r>
              <a:rPr lang="en-US" altLang="en-US" sz="1600">
                <a:latin typeface="Tahoma" panose="020B0604030504040204" pitchFamily="34" charset="0"/>
                <a:cs typeface="Tahoma" panose="020B0604030504040204" pitchFamily="34" charset="0"/>
              </a:rPr>
              <a:t>The lime kiln is critical to the chemical recovery process at a kraft pulp mill. A rotary lime kiln is a long metal tube, set at a slight incline, that rotates slowly. The lime mud (CaCO3) is fed into the high, cool end and lime (CaO) exits from the lower, hot end.</a:t>
            </a:r>
          </a:p>
        </p:txBody>
      </p:sp>
    </p:spTree>
  </p:cSld>
  <p:clrMapOvr>
    <a:masterClrMapping/>
  </p:clrMapOvr>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6450"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6. Principle of chemical recovery </a:t>
            </a:r>
          </a:p>
        </p:txBody>
      </p:sp>
      <p:sp>
        <p:nvSpPr>
          <p:cNvPr id="616451" name="TextBox 1"/>
          <p:cNvSpPr txBox="1">
            <a:spLocks noChangeArrowheads="1"/>
          </p:cNvSpPr>
          <p:nvPr/>
        </p:nvSpPr>
        <p:spPr bwMode="auto">
          <a:xfrm>
            <a:off x="457200" y="839788"/>
            <a:ext cx="1347788" cy="46196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t>Lime Kiln</a:t>
            </a:r>
          </a:p>
        </p:txBody>
      </p:sp>
      <p:sp>
        <p:nvSpPr>
          <p:cNvPr id="616452" name="TextBox 12"/>
          <p:cNvSpPr txBox="1">
            <a:spLocks noChangeArrowheads="1"/>
          </p:cNvSpPr>
          <p:nvPr/>
        </p:nvSpPr>
        <p:spPr bwMode="auto">
          <a:xfrm>
            <a:off x="195263" y="4144963"/>
            <a:ext cx="8491537"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r>
              <a:rPr lang="en-US" altLang="en-US" sz="1600"/>
              <a:t>The calcining reaction that takes place inside </a:t>
            </a:r>
          </a:p>
          <a:p>
            <a:pPr>
              <a:buFont typeface="Arial" panose="020B0604020202020204" pitchFamily="34" charset="0"/>
              <a:buNone/>
            </a:pPr>
            <a:r>
              <a:rPr lang="en-US" altLang="en-US" sz="1600"/>
              <a:t>the lime kiln converts lime mud to lime, or </a:t>
            </a:r>
          </a:p>
          <a:p>
            <a:pPr>
              <a:buFont typeface="Arial" panose="020B0604020202020204" pitchFamily="34" charset="0"/>
              <a:buNone/>
            </a:pPr>
            <a:r>
              <a:rPr lang="en-US" altLang="en-US" sz="1600"/>
              <a:t>calcium carbonate (CaCO3) to calcium oxide </a:t>
            </a:r>
          </a:p>
          <a:p>
            <a:pPr>
              <a:buFont typeface="Arial" panose="020B0604020202020204" pitchFamily="34" charset="0"/>
              <a:buNone/>
            </a:pPr>
            <a:r>
              <a:rPr lang="en-US" altLang="en-US" sz="1600"/>
              <a:t>(CaO). The kiln does this by heating the lime mud to a very high temperature. The "reburned" lime can then be re-used in the recausticizing process to convert green liquor back to white liquor.</a:t>
            </a:r>
          </a:p>
          <a:p>
            <a:r>
              <a:rPr lang="en-US" altLang="en-US" sz="1600"/>
              <a:t>It is important to control and maintain conditions inside the lime kiln. Stable operation of the lime kiln, including sufficient mud retention time, combustion air and gas flows, and burner </a:t>
            </a:r>
          </a:p>
          <a:p>
            <a:pPr>
              <a:buFont typeface="Arial" panose="020B0604020202020204" pitchFamily="34" charset="0"/>
              <a:buNone/>
            </a:pPr>
            <a:r>
              <a:rPr lang="en-US" altLang="en-US" sz="1600"/>
              <a:t>temperature, allows the calcining reaction to go to completion.</a:t>
            </a:r>
            <a:endParaRPr lang="th-TH" altLang="en-US" sz="1600"/>
          </a:p>
        </p:txBody>
      </p:sp>
      <p:pic>
        <p:nvPicPr>
          <p:cNvPr id="616453" name="Picture 1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92100" y="1301750"/>
            <a:ext cx="3700463" cy="277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6454" name="Picture 14"/>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157663" y="1301750"/>
            <a:ext cx="4783137" cy="3586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6455" name="TextBox 51"/>
          <p:cNvSpPr txBox="1">
            <a:spLocks noChangeArrowheads="1"/>
          </p:cNvSpPr>
          <p:nvPr/>
        </p:nvSpPr>
        <p:spPr bwMode="auto">
          <a:xfrm>
            <a:off x="741363" y="2473325"/>
            <a:ext cx="1036637"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600" b="1">
                <a:solidFill>
                  <a:schemeClr val="bg1"/>
                </a:solidFill>
              </a:rPr>
              <a:t>Lime Mud</a:t>
            </a:r>
          </a:p>
        </p:txBody>
      </p:sp>
      <p:sp>
        <p:nvSpPr>
          <p:cNvPr id="616456" name="TextBox 51"/>
          <p:cNvSpPr txBox="1">
            <a:spLocks noChangeArrowheads="1"/>
          </p:cNvSpPr>
          <p:nvPr/>
        </p:nvSpPr>
        <p:spPr bwMode="auto">
          <a:xfrm>
            <a:off x="2708275" y="2457450"/>
            <a:ext cx="590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600" b="1">
                <a:solidFill>
                  <a:schemeClr val="bg1"/>
                </a:solidFill>
              </a:rPr>
              <a:t>Lime</a:t>
            </a:r>
          </a:p>
        </p:txBody>
      </p:sp>
      <p:sp>
        <p:nvSpPr>
          <p:cNvPr id="616457" name="TextBox 51"/>
          <p:cNvSpPr txBox="1">
            <a:spLocks noChangeArrowheads="1"/>
          </p:cNvSpPr>
          <p:nvPr/>
        </p:nvSpPr>
        <p:spPr bwMode="auto">
          <a:xfrm>
            <a:off x="458788" y="3160713"/>
            <a:ext cx="5635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600" b="1">
                <a:solidFill>
                  <a:schemeClr val="bg1"/>
                </a:solidFill>
              </a:rPr>
              <a:t>Cold</a:t>
            </a:r>
          </a:p>
          <a:p>
            <a:pPr algn="ctr">
              <a:spcBef>
                <a:spcPct val="0"/>
              </a:spcBef>
              <a:buFontTx/>
              <a:buNone/>
            </a:pPr>
            <a:r>
              <a:rPr lang="en-US" altLang="en-US" sz="1600" b="1">
                <a:solidFill>
                  <a:schemeClr val="bg1"/>
                </a:solidFill>
              </a:rPr>
              <a:t>End</a:t>
            </a:r>
          </a:p>
        </p:txBody>
      </p:sp>
      <p:sp>
        <p:nvSpPr>
          <p:cNvPr id="616458" name="TextBox 51"/>
          <p:cNvSpPr txBox="1">
            <a:spLocks noChangeArrowheads="1"/>
          </p:cNvSpPr>
          <p:nvPr/>
        </p:nvSpPr>
        <p:spPr bwMode="auto">
          <a:xfrm>
            <a:off x="3282950" y="3178175"/>
            <a:ext cx="50482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600" b="1">
                <a:solidFill>
                  <a:schemeClr val="bg1"/>
                </a:solidFill>
              </a:rPr>
              <a:t>Hot</a:t>
            </a:r>
          </a:p>
          <a:p>
            <a:pPr algn="ctr">
              <a:spcBef>
                <a:spcPct val="0"/>
              </a:spcBef>
              <a:buFontTx/>
              <a:buNone/>
            </a:pPr>
            <a:r>
              <a:rPr lang="en-US" altLang="en-US" sz="1600" b="1">
                <a:solidFill>
                  <a:schemeClr val="bg1"/>
                </a:solidFill>
              </a:rPr>
              <a:t>End</a:t>
            </a:r>
          </a:p>
        </p:txBody>
      </p:sp>
    </p:spTree>
  </p:cSld>
  <p:clrMapOvr>
    <a:masterClrMapping/>
  </p:clrMapOvr>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8498" name="Title 1"/>
          <p:cNvSpPr txBox="1">
            <a:spLocks/>
          </p:cNvSpPr>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4400" b="1"/>
              <a:t>Bark Dryer</a:t>
            </a:r>
          </a:p>
        </p:txBody>
      </p:sp>
      <p:pic>
        <p:nvPicPr>
          <p:cNvPr id="618499" name="Picture 1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2713" y="1144588"/>
            <a:ext cx="8918575" cy="4999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9522" name="Title 1"/>
          <p:cNvSpPr txBox="1">
            <a:spLocks/>
          </p:cNvSpPr>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4400" b="1"/>
              <a:t>Hammer Mill</a:t>
            </a:r>
          </a:p>
        </p:txBody>
      </p:sp>
      <p:sp>
        <p:nvSpPr>
          <p:cNvPr id="619523" name="TextBox 12"/>
          <p:cNvSpPr txBox="1">
            <a:spLocks noChangeArrowheads="1"/>
          </p:cNvSpPr>
          <p:nvPr/>
        </p:nvSpPr>
        <p:spPr bwMode="auto">
          <a:xfrm>
            <a:off x="4941888" y="1462088"/>
            <a:ext cx="3889375" cy="3292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 typeface="Arial" panose="020B0604020202020204" pitchFamily="34" charset="0"/>
              <a:buNone/>
            </a:pPr>
            <a:r>
              <a:rPr lang="en-US" altLang="en-US" sz="1600" b="1">
                <a:latin typeface="Tahoma" panose="020B0604030504040204" pitchFamily="34" charset="0"/>
                <a:cs typeface="Tahoma" panose="020B0604030504040204" pitchFamily="34" charset="0"/>
              </a:rPr>
              <a:t>Hammer Mill </a:t>
            </a:r>
            <a:r>
              <a:rPr lang="th-TH" altLang="en-US" sz="1600">
                <a:latin typeface="Tahoma" panose="020B0604030504040204" pitchFamily="34" charset="0"/>
                <a:cs typeface="Tahoma" panose="020B0604030504040204" pitchFamily="34" charset="0"/>
              </a:rPr>
              <a:t>จะรับเปลือกไม้จาก </a:t>
            </a:r>
            <a:r>
              <a:rPr lang="en-US" altLang="en-US" sz="1600">
                <a:latin typeface="Tahoma" panose="020B0604030504040204" pitchFamily="34" charset="0"/>
                <a:cs typeface="Tahoma" panose="020B0604030504040204" pitchFamily="34" charset="0"/>
              </a:rPr>
              <a:t>Buffer Bin </a:t>
            </a:r>
            <a:r>
              <a:rPr lang="th-TH" altLang="en-US" sz="1600">
                <a:latin typeface="Tahoma" panose="020B0604030504040204" pitchFamily="34" charset="0"/>
                <a:cs typeface="Tahoma" panose="020B0604030504040204" pitchFamily="34" charset="0"/>
              </a:rPr>
              <a:t>ซึ่งเปลือกไม้จะมีขนาดใหญ่และมีความชื้นอยู่ประมาณ 50-60</a:t>
            </a:r>
            <a:r>
              <a:rPr lang="en-US" altLang="en-US" sz="1600">
                <a:latin typeface="Tahoma" panose="020B0604030504040204" pitchFamily="34" charset="0"/>
                <a:cs typeface="Tahoma" panose="020B0604030504040204" pitchFamily="34" charset="0"/>
              </a:rPr>
              <a:t>% </a:t>
            </a:r>
            <a:r>
              <a:rPr lang="th-TH" altLang="en-US" sz="1600">
                <a:latin typeface="Tahoma" panose="020B0604030504040204" pitchFamily="34" charset="0"/>
                <a:cs typeface="Tahoma" panose="020B0604030504040204" pitchFamily="34" charset="0"/>
              </a:rPr>
              <a:t>ขณะทำงาน </a:t>
            </a:r>
            <a:r>
              <a:rPr lang="en-US" altLang="en-US" sz="1600">
                <a:latin typeface="Tahoma" panose="020B0604030504040204" pitchFamily="34" charset="0"/>
                <a:cs typeface="Tahoma" panose="020B0604030504040204" pitchFamily="34" charset="0"/>
              </a:rPr>
              <a:t>Motor </a:t>
            </a:r>
            <a:r>
              <a:rPr lang="th-TH" altLang="en-US" sz="1600">
                <a:latin typeface="Tahoma" panose="020B0604030504040204" pitchFamily="34" charset="0"/>
                <a:cs typeface="Tahoma" panose="020B0604030504040204" pitchFamily="34" charset="0"/>
              </a:rPr>
              <a:t>ของ </a:t>
            </a:r>
            <a:r>
              <a:rPr lang="en-US" altLang="en-US" sz="1600">
                <a:latin typeface="Tahoma" panose="020B0604030504040204" pitchFamily="34" charset="0"/>
                <a:cs typeface="Tahoma" panose="020B0604030504040204" pitchFamily="34" charset="0"/>
              </a:rPr>
              <a:t>Hammer Mill </a:t>
            </a:r>
            <a:r>
              <a:rPr lang="th-TH" altLang="en-US" sz="1600">
                <a:latin typeface="Tahoma" panose="020B0604030504040204" pitchFamily="34" charset="0"/>
                <a:cs typeface="Tahoma" panose="020B0604030504040204" pitchFamily="34" charset="0"/>
              </a:rPr>
              <a:t>จะขับ ค้อนภายในห้องบด ให้หมุดด้วยความเร็ว เมื่อเปลือกไม้ถูกลำเลียงเข้ามาในห้องบด ก็จะถูกค้อนทุบบดเข้ากับกับผนังและถูกลำเลียงไปตามแรงเหวี่ยง สู่ด้านล่างของห้องบด พื้นของห้องบดจะมีลักษณะเป็นตะแกรงและมีรู</a:t>
            </a:r>
            <a:r>
              <a:rPr lang="en-US" altLang="en-US" sz="1600">
                <a:latin typeface="Tahoma" panose="020B0604030504040204" pitchFamily="34" charset="0"/>
                <a:cs typeface="Tahoma" panose="020B0604030504040204" pitchFamily="34" charset="0"/>
              </a:rPr>
              <a:t> (Grate)</a:t>
            </a:r>
            <a:r>
              <a:rPr lang="th-TH" altLang="en-US" sz="1600">
                <a:latin typeface="Tahoma" panose="020B0604030504040204" pitchFamily="34" charset="0"/>
                <a:cs typeface="Tahoma" panose="020B0604030504040204" pitchFamily="34" charset="0"/>
              </a:rPr>
              <a:t>ให้เปลือกที่บดแล้วรอดผ่านไปได้ ซึ่งรูนี้สามารถปรับเปลี่ยนให้เล็กหรือใหญ่ได้ เพื่อเป็นการคัดแยกขนาดเปลือกไม้ให้ได้ตาม </a:t>
            </a:r>
            <a:r>
              <a:rPr lang="en-US" altLang="en-US" sz="1600">
                <a:latin typeface="Tahoma" panose="020B0604030504040204" pitchFamily="34" charset="0"/>
                <a:cs typeface="Tahoma" panose="020B0604030504040204" pitchFamily="34" charset="0"/>
              </a:rPr>
              <a:t>spec </a:t>
            </a:r>
            <a:r>
              <a:rPr lang="th-TH" altLang="en-US" sz="1600">
                <a:latin typeface="Tahoma" panose="020B0604030504040204" pitchFamily="34" charset="0"/>
                <a:cs typeface="Tahoma" panose="020B0604030504040204" pitchFamily="34" charset="0"/>
              </a:rPr>
              <a:t>ที่เราต้องการ</a:t>
            </a:r>
            <a:endParaRPr lang="en-US" altLang="en-US" sz="1600">
              <a:latin typeface="Tahoma" panose="020B0604030504040204" pitchFamily="34" charset="0"/>
              <a:cs typeface="Tahoma" panose="020B0604030504040204" pitchFamily="34" charset="0"/>
            </a:endParaRPr>
          </a:p>
        </p:txBody>
      </p:sp>
      <p:pic>
        <p:nvPicPr>
          <p:cNvPr id="619524"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811213" y="1038225"/>
            <a:ext cx="3819525" cy="293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9525" name="Picture 5"/>
          <p:cNvPicPr>
            <a:picLocks noChangeAspect="1"/>
          </p:cNvPicPr>
          <p:nvPr/>
        </p:nvPicPr>
        <p:blipFill>
          <a:blip r:embed="rId3">
            <a:extLst>
              <a:ext uri="{28A0092B-C50C-407E-A947-70E740481C1C}">
                <a14:useLocalDpi xmlns:a14="http://schemas.microsoft.com/office/drawing/2010/main" val="0"/>
              </a:ext>
            </a:extLst>
          </a:blip>
          <a:srcRect l="13106" t="22189" r="11417" b="2699"/>
          <a:stretch>
            <a:fillRect/>
          </a:stretch>
        </p:blipFill>
        <p:spPr bwMode="auto">
          <a:xfrm>
            <a:off x="1160463" y="4129088"/>
            <a:ext cx="3121025"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0546" name="Title 1"/>
          <p:cNvSpPr txBox="1">
            <a:spLocks/>
          </p:cNvSpPr>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4400" b="1"/>
              <a:t>Cyclonic Burner </a:t>
            </a:r>
          </a:p>
        </p:txBody>
      </p:sp>
      <p:sp>
        <p:nvSpPr>
          <p:cNvPr id="620547" name="TextBox 12"/>
          <p:cNvSpPr txBox="1">
            <a:spLocks noChangeArrowheads="1"/>
          </p:cNvSpPr>
          <p:nvPr/>
        </p:nvSpPr>
        <p:spPr bwMode="auto">
          <a:xfrm>
            <a:off x="4797425" y="1631950"/>
            <a:ext cx="388937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 typeface="Arial" panose="020B0604020202020204" pitchFamily="34" charset="0"/>
              <a:buNone/>
            </a:pPr>
            <a:r>
              <a:rPr lang="en-US" altLang="en-US" sz="1600" b="1">
                <a:latin typeface="Tahoma" panose="020B0604030504040204" pitchFamily="34" charset="0"/>
                <a:cs typeface="Tahoma" panose="020B0604030504040204" pitchFamily="34" charset="0"/>
              </a:rPr>
              <a:t>Cyclonic Burner </a:t>
            </a:r>
            <a:r>
              <a:rPr lang="th-TH" altLang="en-US" sz="1600">
                <a:latin typeface="Tahoma" panose="020B0604030504040204" pitchFamily="34" charset="0"/>
                <a:cs typeface="Tahoma" panose="020B0604030504040204" pitchFamily="34" charset="0"/>
              </a:rPr>
              <a:t>มีหน้าที่ผลิตลมร้อนเพื่อไปอบหรือระเหยน้ำ ออกจากเปลือกไม้ใน </a:t>
            </a:r>
            <a:r>
              <a:rPr lang="en-US" altLang="en-US" sz="1600">
                <a:latin typeface="Tahoma" panose="020B0604030504040204" pitchFamily="34" charset="0"/>
                <a:cs typeface="Tahoma" panose="020B0604030504040204" pitchFamily="34" charset="0"/>
              </a:rPr>
              <a:t>Triple Pass Dryer </a:t>
            </a:r>
            <a:r>
              <a:rPr lang="th-TH" altLang="en-US" sz="1600">
                <a:latin typeface="Tahoma" panose="020B0604030504040204" pitchFamily="34" charset="0"/>
                <a:cs typeface="Tahoma" panose="020B0604030504040204" pitchFamily="34" charset="0"/>
              </a:rPr>
              <a:t>โดยจะนำ เปลือกไม้แห้งแล้วมา </a:t>
            </a:r>
            <a:r>
              <a:rPr lang="en-US" altLang="en-US" sz="1600">
                <a:latin typeface="Tahoma" panose="020B0604030504040204" pitchFamily="34" charset="0"/>
                <a:cs typeface="Tahoma" panose="020B0604030504040204" pitchFamily="34" charset="0"/>
              </a:rPr>
              <a:t>Feed </a:t>
            </a:r>
            <a:r>
              <a:rPr lang="th-TH" altLang="en-US" sz="1600">
                <a:latin typeface="Tahoma" panose="020B0604030504040204" pitchFamily="34" charset="0"/>
                <a:cs typeface="Tahoma" panose="020B0604030504040204" pitchFamily="34" charset="0"/>
              </a:rPr>
              <a:t>เข้าด้านบนของเตา เปลือกไม้จะถูกเผาไหม้โดยอาศัยความร้อนและอากาศจาก </a:t>
            </a:r>
            <a:r>
              <a:rPr lang="en-US" altLang="en-US" sz="1600">
                <a:latin typeface="Tahoma" panose="020B0604030504040204" pitchFamily="34" charset="0"/>
                <a:cs typeface="Tahoma" panose="020B0604030504040204" pitchFamily="34" charset="0"/>
              </a:rPr>
              <a:t>Air Inlet (FD Fan) </a:t>
            </a:r>
            <a:r>
              <a:rPr lang="th-TH" altLang="en-US" sz="1600">
                <a:latin typeface="Tahoma" panose="020B0604030504040204" pitchFamily="34" charset="0"/>
                <a:cs typeface="Tahoma" panose="020B0604030504040204" pitchFamily="34" charset="0"/>
              </a:rPr>
              <a:t>ด้านในเตา ทำให้เกิดลมร้อน จากนั้นลมร้อนจะถูกลำเลียงส่งออกมาทางด้าน </a:t>
            </a:r>
            <a:r>
              <a:rPr lang="en-US" altLang="en-US" sz="1600">
                <a:latin typeface="Tahoma" panose="020B0604030504040204" pitchFamily="34" charset="0"/>
                <a:cs typeface="Tahoma" panose="020B0604030504040204" pitchFamily="34" charset="0"/>
              </a:rPr>
              <a:t>Hot Air outlet </a:t>
            </a:r>
            <a:r>
              <a:rPr lang="th-TH" altLang="en-US" sz="1600">
                <a:latin typeface="Tahoma" panose="020B0604030504040204" pitchFamily="34" charset="0"/>
                <a:cs typeface="Tahoma" panose="020B0604030504040204" pitchFamily="34" charset="0"/>
              </a:rPr>
              <a:t>เพื่อวิ่งเข้าสู่ </a:t>
            </a:r>
            <a:r>
              <a:rPr lang="en-US" altLang="en-US" sz="1600">
                <a:latin typeface="Tahoma" panose="020B0604030504040204" pitchFamily="34" charset="0"/>
                <a:cs typeface="Tahoma" panose="020B0604030504040204" pitchFamily="34" charset="0"/>
              </a:rPr>
              <a:t>Triple Pass Dryer</a:t>
            </a:r>
            <a:r>
              <a:rPr lang="th-TH" altLang="en-US" sz="1600">
                <a:latin typeface="Tahoma" panose="020B0604030504040204" pitchFamily="34" charset="0"/>
                <a:cs typeface="Tahoma" panose="020B0604030504040204" pitchFamily="34" charset="0"/>
              </a:rPr>
              <a:t>ต่อไป</a:t>
            </a:r>
            <a:endParaRPr lang="en-US" altLang="en-US" sz="1600">
              <a:latin typeface="Tahoma" panose="020B0604030504040204" pitchFamily="34" charset="0"/>
              <a:cs typeface="Tahoma" panose="020B0604030504040204" pitchFamily="34" charset="0"/>
            </a:endParaRPr>
          </a:p>
        </p:txBody>
      </p:sp>
      <p:pic>
        <p:nvPicPr>
          <p:cNvPr id="620548"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950913" y="1631950"/>
            <a:ext cx="3324225" cy="434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0549" name="TextBox 6"/>
          <p:cNvSpPr txBox="1">
            <a:spLocks noChangeArrowheads="1"/>
          </p:cNvSpPr>
          <p:nvPr/>
        </p:nvSpPr>
        <p:spPr bwMode="auto">
          <a:xfrm>
            <a:off x="1247775" y="1169988"/>
            <a:ext cx="21002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t>Bark / Biomass</a:t>
            </a:r>
          </a:p>
        </p:txBody>
      </p:sp>
      <p:sp>
        <p:nvSpPr>
          <p:cNvPr id="620550" name="TextBox 7"/>
          <p:cNvSpPr txBox="1">
            <a:spLocks noChangeArrowheads="1"/>
          </p:cNvSpPr>
          <p:nvPr/>
        </p:nvSpPr>
        <p:spPr bwMode="auto">
          <a:xfrm>
            <a:off x="157163" y="4879975"/>
            <a:ext cx="788987"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800" b="1"/>
              <a:t>Air Inlet</a:t>
            </a:r>
          </a:p>
        </p:txBody>
      </p:sp>
      <p:sp>
        <p:nvSpPr>
          <p:cNvPr id="620551" name="TextBox 8"/>
          <p:cNvSpPr txBox="1">
            <a:spLocks noChangeArrowheads="1"/>
          </p:cNvSpPr>
          <p:nvPr/>
        </p:nvSpPr>
        <p:spPr bwMode="auto">
          <a:xfrm>
            <a:off x="4284663" y="4603750"/>
            <a:ext cx="823912"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800" b="1"/>
              <a:t>Hot Air outlet</a:t>
            </a:r>
          </a:p>
        </p:txBody>
      </p:sp>
    </p:spTree>
  </p:cSld>
  <p:clrMapOvr>
    <a:masterClrMapping/>
  </p:clrMapOvr>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1570" name="Title 1"/>
          <p:cNvSpPr txBox="1">
            <a:spLocks/>
          </p:cNvSpPr>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4400" b="1"/>
              <a:t>Triple Pass Dryer</a:t>
            </a:r>
          </a:p>
        </p:txBody>
      </p:sp>
      <p:pic>
        <p:nvPicPr>
          <p:cNvPr id="621571"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885825"/>
            <a:ext cx="6307138" cy="3932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1572"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516563" y="1671638"/>
            <a:ext cx="3509962" cy="275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1573" name="TextBox 12"/>
          <p:cNvSpPr txBox="1">
            <a:spLocks noChangeArrowheads="1"/>
          </p:cNvSpPr>
          <p:nvPr/>
        </p:nvSpPr>
        <p:spPr bwMode="auto">
          <a:xfrm>
            <a:off x="228600" y="5070475"/>
            <a:ext cx="8686800" cy="13239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 typeface="Arial" panose="020B0604020202020204" pitchFamily="34" charset="0"/>
              <a:buNone/>
            </a:pPr>
            <a:r>
              <a:rPr lang="en-US" altLang="en-US" sz="1600">
                <a:latin typeface="Tahoma" panose="020B0604030504040204" pitchFamily="34" charset="0"/>
                <a:cs typeface="Tahoma" panose="020B0604030504040204" pitchFamily="34" charset="0"/>
              </a:rPr>
              <a:t>Triple Pass Dryer </a:t>
            </a:r>
            <a:r>
              <a:rPr lang="th-TH" altLang="en-US" sz="1600">
                <a:latin typeface="Tahoma" panose="020B0604030504040204" pitchFamily="34" charset="0"/>
                <a:cs typeface="Tahoma" panose="020B0604030504040204" pitchFamily="34" charset="0"/>
              </a:rPr>
              <a:t>จะนำเปลือกไม้ที่ได้ขนาดแล้วมาระเหยน้ำออก โดยการ </a:t>
            </a:r>
            <a:r>
              <a:rPr lang="en-US" altLang="en-US" sz="1600">
                <a:latin typeface="Tahoma" panose="020B0604030504040204" pitchFamily="34" charset="0"/>
                <a:cs typeface="Tahoma" panose="020B0604030504040204" pitchFamily="34" charset="0"/>
              </a:rPr>
              <a:t>Feed </a:t>
            </a:r>
            <a:r>
              <a:rPr lang="th-TH" altLang="en-US" sz="1600">
                <a:latin typeface="Tahoma" panose="020B0604030504040204" pitchFamily="34" charset="0"/>
                <a:cs typeface="Tahoma" panose="020B0604030504040204" pitchFamily="34" charset="0"/>
              </a:rPr>
              <a:t>เปลือกไม้เข้าทาง</a:t>
            </a:r>
            <a:r>
              <a:rPr lang="en-US" altLang="en-US" sz="1600">
                <a:latin typeface="Tahoma" panose="020B0604030504040204" pitchFamily="34" charset="0"/>
                <a:cs typeface="Tahoma" panose="020B0604030504040204" pitchFamily="34" charset="0"/>
              </a:rPr>
              <a:t> Wet Feed </a:t>
            </a:r>
            <a:r>
              <a:rPr lang="th-TH" altLang="en-US" sz="1600">
                <a:latin typeface="Tahoma" panose="020B0604030504040204" pitchFamily="34" charset="0"/>
                <a:cs typeface="Tahoma" panose="020B0604030504040204" pitchFamily="34" charset="0"/>
              </a:rPr>
              <a:t>จากนั้นตัว </a:t>
            </a:r>
            <a:r>
              <a:rPr lang="en-US" altLang="en-US" sz="1600">
                <a:latin typeface="Tahoma" panose="020B0604030504040204" pitchFamily="34" charset="0"/>
                <a:cs typeface="Tahoma" panose="020B0604030504040204" pitchFamily="34" charset="0"/>
              </a:rPr>
              <a:t>Dryer </a:t>
            </a:r>
            <a:r>
              <a:rPr lang="th-TH" altLang="en-US" sz="1600">
                <a:latin typeface="Tahoma" panose="020B0604030504040204" pitchFamily="34" charset="0"/>
                <a:cs typeface="Tahoma" panose="020B0604030504040204" pitchFamily="34" charset="0"/>
              </a:rPr>
              <a:t>จะถูกขับให้หมุนรอบตัวเองด้วยความเร็วคงที่เพื่อให้ เปลือกไปสัมผัสกับผนังและลมร้อนที่อยู่ภายใน เปลือกกะถูกกลิ้งให้ไปตามทางตามภาพ เมื่อถึงปลายทางน้ำก็จะถูกระเหยออกจนมีความชื้นเหลืออยู่เพียง </a:t>
            </a:r>
            <a:r>
              <a:rPr lang="en-US" altLang="en-US" sz="1600">
                <a:latin typeface="Tahoma" panose="020B0604030504040204" pitchFamily="34" charset="0"/>
                <a:cs typeface="Tahoma" panose="020B0604030504040204" pitchFamily="34" charset="0"/>
              </a:rPr>
              <a:t>15-20% </a:t>
            </a:r>
            <a:r>
              <a:rPr lang="th-TH" altLang="en-US" sz="1600">
                <a:latin typeface="Tahoma" panose="020B0604030504040204" pitchFamily="34" charset="0"/>
                <a:cs typeface="Tahoma" panose="020B0604030504040204" pitchFamily="34" charset="0"/>
              </a:rPr>
              <a:t>และจะถูกส่งไปยัง </a:t>
            </a:r>
            <a:r>
              <a:rPr lang="en-US" altLang="en-US" sz="1600">
                <a:latin typeface="Tahoma" panose="020B0604030504040204" pitchFamily="34" charset="0"/>
                <a:cs typeface="Tahoma" panose="020B0604030504040204" pitchFamily="34" charset="0"/>
              </a:rPr>
              <a:t>Cyclone Separator </a:t>
            </a:r>
            <a:r>
              <a:rPr lang="th-TH" altLang="en-US" sz="1600">
                <a:latin typeface="Tahoma" panose="020B0604030504040204" pitchFamily="34" charset="0"/>
                <a:cs typeface="Tahoma" panose="020B0604030504040204" pitchFamily="34" charset="0"/>
              </a:rPr>
              <a:t>เพื่อแยก </a:t>
            </a:r>
            <a:r>
              <a:rPr lang="en-US" altLang="en-US" sz="1600">
                <a:latin typeface="Tahoma" panose="020B0604030504040204" pitchFamily="34" charset="0"/>
                <a:cs typeface="Tahoma" panose="020B0604030504040204" pitchFamily="34" charset="0"/>
              </a:rPr>
              <a:t>Exhaust Gas </a:t>
            </a:r>
            <a:r>
              <a:rPr lang="th-TH" altLang="en-US" sz="1600">
                <a:latin typeface="Tahoma" panose="020B0604030504040204" pitchFamily="34" charset="0"/>
                <a:cs typeface="Tahoma" panose="020B0604030504040204" pitchFamily="34" charset="0"/>
              </a:rPr>
              <a:t>กับ เปลือกออกจากกัน</a:t>
            </a:r>
            <a:endParaRPr lang="en-US" altLang="en-US" sz="1600">
              <a:latin typeface="Tahoma" panose="020B0604030504040204" pitchFamily="34" charset="0"/>
              <a:cs typeface="Tahoma" panose="020B0604030504040204" pitchFamily="34" charset="0"/>
            </a:endParaRPr>
          </a:p>
        </p:txBody>
      </p:sp>
      <p:sp>
        <p:nvSpPr>
          <p:cNvPr id="621574" name="TextBox 6"/>
          <p:cNvSpPr txBox="1">
            <a:spLocks noChangeArrowheads="1"/>
          </p:cNvSpPr>
          <p:nvPr/>
        </p:nvSpPr>
        <p:spPr bwMode="auto">
          <a:xfrm>
            <a:off x="5010150" y="2028825"/>
            <a:ext cx="806450" cy="4619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200"/>
              <a:t>Discharge Hood</a:t>
            </a:r>
          </a:p>
        </p:txBody>
      </p:sp>
    </p:spTree>
  </p:cSld>
  <p:clrMapOvr>
    <a:masterClrMapping/>
  </p:clrMapOvr>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2594" name="Title 1"/>
          <p:cNvSpPr txBox="1">
            <a:spLocks/>
          </p:cNvSpPr>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4400" b="1"/>
              <a:t>Cyclone Separator</a:t>
            </a:r>
          </a:p>
        </p:txBody>
      </p:sp>
      <p:sp>
        <p:nvSpPr>
          <p:cNvPr id="622595" name="TextBox 12"/>
          <p:cNvSpPr txBox="1">
            <a:spLocks noChangeArrowheads="1"/>
          </p:cNvSpPr>
          <p:nvPr/>
        </p:nvSpPr>
        <p:spPr bwMode="auto">
          <a:xfrm>
            <a:off x="3825875" y="1277938"/>
            <a:ext cx="4860925"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 typeface="Arial" panose="020B0604020202020204" pitchFamily="34" charset="0"/>
              <a:buNone/>
            </a:pPr>
            <a:r>
              <a:rPr lang="th-TH" altLang="en-US" sz="1600">
                <a:latin typeface="Tahoma" panose="020B0604030504040204" pitchFamily="34" charset="0"/>
                <a:cs typeface="Tahoma" panose="020B0604030504040204" pitchFamily="34" charset="0"/>
              </a:rPr>
              <a:t>เมื่อเปลือกและลมร้อนถูกส่งมาที่ </a:t>
            </a:r>
            <a:r>
              <a:rPr lang="en-US" altLang="en-US" sz="1600">
                <a:latin typeface="Tahoma" panose="020B0604030504040204" pitchFamily="34" charset="0"/>
                <a:cs typeface="Tahoma" panose="020B0604030504040204" pitchFamily="34" charset="0"/>
              </a:rPr>
              <a:t>Cyclone Separator </a:t>
            </a:r>
            <a:r>
              <a:rPr lang="th-TH" altLang="en-US" sz="1600">
                <a:latin typeface="Tahoma" panose="020B0604030504040204" pitchFamily="34" charset="0"/>
                <a:cs typeface="Tahoma" panose="020B0604030504040204" pitchFamily="34" charset="0"/>
              </a:rPr>
              <a:t>เปลือกซึ่งเป็นของแข็งและมีน้ำหนักจะถูกเหวี่ยงใน </a:t>
            </a:r>
            <a:r>
              <a:rPr lang="en-US" altLang="en-US" sz="1600">
                <a:latin typeface="Tahoma" panose="020B0604030504040204" pitchFamily="34" charset="0"/>
                <a:cs typeface="Tahoma" panose="020B0604030504040204" pitchFamily="34" charset="0"/>
              </a:rPr>
              <a:t>cyclone </a:t>
            </a:r>
            <a:r>
              <a:rPr lang="th-TH" altLang="en-US" sz="1600">
                <a:latin typeface="Tahoma" panose="020B0604030504040204" pitchFamily="34" charset="0"/>
                <a:cs typeface="Tahoma" panose="020B0604030504040204" pitchFamily="34" charset="0"/>
              </a:rPr>
              <a:t>และ ถูกบังคับให้ตกลงไปยังด้าน </a:t>
            </a:r>
            <a:r>
              <a:rPr lang="en-US" altLang="en-US" sz="1600">
                <a:latin typeface="Tahoma" panose="020B0604030504040204" pitchFamily="34" charset="0"/>
                <a:cs typeface="Tahoma" panose="020B0604030504040204" pitchFamily="34" charset="0"/>
              </a:rPr>
              <a:t>Bark Outlet </a:t>
            </a:r>
            <a:r>
              <a:rPr lang="th-TH" altLang="en-US" sz="1600">
                <a:latin typeface="Tahoma" panose="020B0604030504040204" pitchFamily="34" charset="0"/>
                <a:cs typeface="Tahoma" panose="020B0604030504040204" pitchFamily="34" charset="0"/>
              </a:rPr>
              <a:t>และถูกลำเลียงไปยัง </a:t>
            </a:r>
            <a:r>
              <a:rPr lang="en-US" altLang="en-US" sz="1600">
                <a:latin typeface="Tahoma" panose="020B0604030504040204" pitchFamily="34" charset="0"/>
                <a:cs typeface="Tahoma" panose="020B0604030504040204" pitchFamily="34" charset="0"/>
              </a:rPr>
              <a:t>Bark Silo </a:t>
            </a:r>
            <a:r>
              <a:rPr lang="th-TH" altLang="en-US" sz="1600">
                <a:latin typeface="Tahoma" panose="020B0604030504040204" pitchFamily="34" charset="0"/>
                <a:cs typeface="Tahoma" panose="020B0604030504040204" pitchFamily="34" charset="0"/>
              </a:rPr>
              <a:t>ในส่วนของลมร้อน </a:t>
            </a:r>
            <a:r>
              <a:rPr lang="en-US" altLang="en-US" sz="1600">
                <a:latin typeface="Tahoma" panose="020B0604030504040204" pitchFamily="34" charset="0"/>
                <a:cs typeface="Tahoma" panose="020B0604030504040204" pitchFamily="34" charset="0"/>
              </a:rPr>
              <a:t>(Exhaust Gas) </a:t>
            </a:r>
            <a:r>
              <a:rPr lang="th-TH" altLang="en-US" sz="1600">
                <a:latin typeface="Tahoma" panose="020B0604030504040204" pitchFamily="34" charset="0"/>
                <a:cs typeface="Tahoma" panose="020B0604030504040204" pitchFamily="34" charset="0"/>
              </a:rPr>
              <a:t>จะถูกลำเลียงออกด้านบน ซึ่งถูกดูดออกโดย </a:t>
            </a:r>
            <a:r>
              <a:rPr lang="en-US" altLang="en-US" sz="1600">
                <a:latin typeface="Tahoma" panose="020B0604030504040204" pitchFamily="34" charset="0"/>
                <a:cs typeface="Tahoma" panose="020B0604030504040204" pitchFamily="34" charset="0"/>
              </a:rPr>
              <a:t>ID Fan</a:t>
            </a:r>
          </a:p>
        </p:txBody>
      </p:sp>
      <p:grpSp>
        <p:nvGrpSpPr>
          <p:cNvPr id="622596" name="Group 12"/>
          <p:cNvGrpSpPr>
            <a:grpSpLocks/>
          </p:cNvGrpSpPr>
          <p:nvPr/>
        </p:nvGrpSpPr>
        <p:grpSpPr bwMode="auto">
          <a:xfrm>
            <a:off x="311150" y="1162050"/>
            <a:ext cx="3514725" cy="5375275"/>
            <a:chOff x="384268" y="1162412"/>
            <a:chExt cx="3514542" cy="5374144"/>
          </a:xfrm>
        </p:grpSpPr>
        <p:pic>
          <p:nvPicPr>
            <p:cNvPr id="622598"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31372" y="1277258"/>
              <a:ext cx="2778763" cy="4900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ight Arrow 6"/>
            <p:cNvSpPr/>
            <p:nvPr/>
          </p:nvSpPr>
          <p:spPr>
            <a:xfrm>
              <a:off x="457289" y="2421035"/>
              <a:ext cx="601632" cy="434883"/>
            </a:xfrm>
            <a:prstGeom prst="rightArrow">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2600" name="TextBox 7"/>
            <p:cNvSpPr txBox="1">
              <a:spLocks noChangeArrowheads="1"/>
            </p:cNvSpPr>
            <p:nvPr/>
          </p:nvSpPr>
          <p:spPr bwMode="auto">
            <a:xfrm>
              <a:off x="384268" y="1162412"/>
              <a:ext cx="1034087" cy="120032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800"/>
                <a:t>Dry Bark with Exhaust Gas</a:t>
              </a:r>
            </a:p>
          </p:txBody>
        </p:sp>
        <p:sp>
          <p:nvSpPr>
            <p:cNvPr id="622601" name="TextBox 8"/>
            <p:cNvSpPr txBox="1">
              <a:spLocks noChangeArrowheads="1"/>
            </p:cNvSpPr>
            <p:nvPr/>
          </p:nvSpPr>
          <p:spPr bwMode="auto">
            <a:xfrm>
              <a:off x="2465427" y="1714492"/>
              <a:ext cx="1433383"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t>Exhaust Gas</a:t>
              </a:r>
            </a:p>
          </p:txBody>
        </p:sp>
        <p:sp>
          <p:nvSpPr>
            <p:cNvPr id="10" name="Right Arrow 9"/>
            <p:cNvSpPr/>
            <p:nvPr/>
          </p:nvSpPr>
          <p:spPr>
            <a:xfrm rot="5400000">
              <a:off x="1666928" y="6033389"/>
              <a:ext cx="330131" cy="434952"/>
            </a:xfrm>
            <a:prstGeom prst="rightArrow">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2603" name="TextBox 10"/>
            <p:cNvSpPr txBox="1">
              <a:spLocks noChangeArrowheads="1"/>
            </p:cNvSpPr>
            <p:nvPr/>
          </p:nvSpPr>
          <p:spPr bwMode="auto">
            <a:xfrm>
              <a:off x="2209029" y="5890225"/>
              <a:ext cx="1041858" cy="64633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t>Dry Bark</a:t>
              </a:r>
              <a:r>
                <a:rPr lang="th-TH" altLang="en-US" sz="1800"/>
                <a:t> </a:t>
              </a:r>
              <a:r>
                <a:rPr lang="en-US" altLang="en-US" sz="1800"/>
                <a:t>Outlet</a:t>
              </a:r>
            </a:p>
          </p:txBody>
        </p:sp>
        <p:sp>
          <p:nvSpPr>
            <p:cNvPr id="12" name="Rectangle 11"/>
            <p:cNvSpPr/>
            <p:nvPr/>
          </p:nvSpPr>
          <p:spPr>
            <a:xfrm>
              <a:off x="2224085" y="4441497"/>
              <a:ext cx="1360416" cy="139353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4" name="Right Arrow 13"/>
          <p:cNvSpPr/>
          <p:nvPr/>
        </p:nvSpPr>
        <p:spPr>
          <a:xfrm>
            <a:off x="2392363" y="1279525"/>
            <a:ext cx="944562" cy="434975"/>
          </a:xfrm>
          <a:prstGeom prst="right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3618" name="Slide Number Placeholder 3"/>
          <p:cNvSpPr>
            <a:spLocks noGrp="1"/>
          </p:cNvSpPr>
          <p:nvPr>
            <p:ph type="sldNum" sz="quarter" idx="12"/>
          </p:nvPr>
        </p:nvSpPr>
        <p:spPr bwMode="auto">
          <a:xfrm>
            <a:off x="2555875" y="6429375"/>
            <a:ext cx="2133600" cy="36512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FontTx/>
              <a:buNone/>
            </a:pPr>
            <a:fld id="{E6CA53F6-CDBD-4AAA-9B05-F10DE18CE212}" type="slidenum">
              <a:rPr lang="en-US" altLang="en-US" sz="1400" b="1" smtClean="0">
                <a:solidFill>
                  <a:schemeClr val="bg1"/>
                </a:solidFill>
                <a:latin typeface="SCG"/>
                <a:ea typeface="SCG"/>
                <a:cs typeface="SCG"/>
              </a:rPr>
              <a:pPr fontAlgn="base">
                <a:spcBef>
                  <a:spcPct val="0"/>
                </a:spcBef>
                <a:spcAft>
                  <a:spcPct val="0"/>
                </a:spcAft>
                <a:buFontTx/>
                <a:buNone/>
              </a:pPr>
              <a:t>219</a:t>
            </a:fld>
            <a:endParaRPr lang="en-US" altLang="en-US" sz="1400" b="1" smtClean="0">
              <a:solidFill>
                <a:schemeClr val="bg1"/>
              </a:solidFill>
              <a:latin typeface="SCG"/>
              <a:ea typeface="SCG"/>
              <a:cs typeface="SCG"/>
            </a:endParaRPr>
          </a:p>
        </p:txBody>
      </p:sp>
      <p:sp>
        <p:nvSpPr>
          <p:cNvPr id="623619" name="TextBox 1"/>
          <p:cNvSpPr txBox="1">
            <a:spLocks noChangeArrowheads="1"/>
          </p:cNvSpPr>
          <p:nvPr/>
        </p:nvSpPr>
        <p:spPr bwMode="auto">
          <a:xfrm>
            <a:off x="546100" y="314325"/>
            <a:ext cx="7894638"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1" hangingPunct="1">
              <a:spcBef>
                <a:spcPct val="0"/>
              </a:spcBef>
              <a:buFontTx/>
              <a:buNone/>
            </a:pPr>
            <a:r>
              <a:rPr lang="en-US" altLang="en-US" b="1">
                <a:solidFill>
                  <a:srgbClr val="FF0000"/>
                </a:solidFill>
                <a:latin typeface="Arial" panose="020B0604020202020204" pitchFamily="34" charset="0"/>
                <a:cs typeface="Angsana New" panose="02020603050405020304" pitchFamily="18" charset="-34"/>
              </a:rPr>
              <a:t>SCL BARK DRYER DESIGN CAPACITY</a:t>
            </a:r>
          </a:p>
        </p:txBody>
      </p:sp>
      <p:pic>
        <p:nvPicPr>
          <p:cNvPr id="623620" name="Picture 5" descr="DSCF5076"/>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auto">
          <a:xfrm>
            <a:off x="1971675" y="1001713"/>
            <a:ext cx="5200650" cy="350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3621" name="Content Placeholder 2"/>
          <p:cNvSpPr>
            <a:spLocks/>
          </p:cNvSpPr>
          <p:nvPr/>
        </p:nvSpPr>
        <p:spPr bwMode="auto">
          <a:xfrm>
            <a:off x="809625" y="4675188"/>
            <a:ext cx="7567613" cy="1754187"/>
          </a:xfrm>
          <a:prstGeom prst="rect">
            <a:avLst/>
          </a:prstGeom>
          <a:solidFill>
            <a:schemeClr val="bg1"/>
          </a:solidFill>
          <a:ln w="9525">
            <a:solidFill>
              <a:schemeClr val="tx1"/>
            </a:solidFill>
            <a:miter lim="800000"/>
            <a:headEnd/>
            <a:tailEnd/>
          </a:ln>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90000"/>
              </a:lnSpc>
              <a:spcBef>
                <a:spcPct val="0"/>
              </a:spcBef>
              <a:buFontTx/>
              <a:buNone/>
            </a:pPr>
            <a:r>
              <a:rPr lang="en-US" altLang="en-US" sz="2000" b="1">
                <a:latin typeface="Arial" panose="020B0604020202020204" pitchFamily="34" charset="0"/>
                <a:ea typeface="MS PGothic" panose="020B0600070205080204" pitchFamily="34" charset="-128"/>
                <a:cs typeface="Arial" panose="020B0604020202020204" pitchFamily="34" charset="0"/>
              </a:rPr>
              <a:t>Manufacturer	</a:t>
            </a:r>
            <a:r>
              <a:rPr lang="th-TH" altLang="en-US" sz="2000" b="1">
                <a:latin typeface="Arial" panose="020B0604020202020204" pitchFamily="34" charset="0"/>
                <a:ea typeface="MS PGothic" panose="020B0600070205080204" pitchFamily="34" charset="-128"/>
                <a:cs typeface="Arial" panose="020B0604020202020204" pitchFamily="34" charset="0"/>
              </a:rPr>
              <a:t>	</a:t>
            </a:r>
            <a:r>
              <a:rPr lang="en-US" altLang="en-US" sz="2000" b="1">
                <a:latin typeface="Arial" panose="020B0604020202020204" pitchFamily="34" charset="0"/>
                <a:ea typeface="MS PGothic" panose="020B0600070205080204" pitchFamily="34" charset="-128"/>
                <a:cs typeface="Arial" panose="020B0604020202020204" pitchFamily="34" charset="0"/>
              </a:rPr>
              <a:t>: Rung Charoen (Thai) </a:t>
            </a:r>
          </a:p>
          <a:p>
            <a:pPr>
              <a:lnSpc>
                <a:spcPct val="90000"/>
              </a:lnSpc>
              <a:spcBef>
                <a:spcPct val="0"/>
              </a:spcBef>
              <a:buFontTx/>
              <a:buNone/>
            </a:pPr>
            <a:r>
              <a:rPr lang="en-US" altLang="en-US" sz="2000" b="1">
                <a:latin typeface="Arial" panose="020B0604020202020204" pitchFamily="34" charset="0"/>
                <a:ea typeface="MS PGothic" panose="020B0600070205080204" pitchFamily="34" charset="-128"/>
                <a:cs typeface="Arial" panose="020B0604020202020204" pitchFamily="34" charset="0"/>
              </a:rPr>
              <a:t>Capacity		: 100 Ton as is Bark </a:t>
            </a:r>
          </a:p>
          <a:p>
            <a:pPr>
              <a:lnSpc>
                <a:spcPct val="90000"/>
              </a:lnSpc>
              <a:spcBef>
                <a:spcPct val="0"/>
              </a:spcBef>
              <a:buFontTx/>
              <a:buNone/>
            </a:pPr>
            <a:r>
              <a:rPr lang="en-US" altLang="en-US" sz="2000" b="1">
                <a:latin typeface="Arial" panose="020B0604020202020204" pitchFamily="34" charset="0"/>
                <a:ea typeface="MS PGothic" panose="020B0600070205080204" pitchFamily="34" charset="-128"/>
                <a:cs typeface="Arial" panose="020B0604020202020204" pitchFamily="34" charset="0"/>
              </a:rPr>
              <a:t>Purpose		: Crush and dry bark </a:t>
            </a:r>
          </a:p>
          <a:p>
            <a:pPr>
              <a:lnSpc>
                <a:spcPct val="90000"/>
              </a:lnSpc>
              <a:spcBef>
                <a:spcPct val="0"/>
              </a:spcBef>
              <a:buFontTx/>
              <a:buNone/>
            </a:pPr>
            <a:r>
              <a:rPr lang="en-US" altLang="en-US" sz="2000" b="1">
                <a:latin typeface="Arial" panose="020B0604020202020204" pitchFamily="34" charset="0"/>
                <a:ea typeface="MS PGothic" panose="020B0600070205080204" pitchFamily="34" charset="-128"/>
                <a:cs typeface="Arial" panose="020B0604020202020204" pitchFamily="34" charset="0"/>
              </a:rPr>
              <a:t>Design Moisture	: Input 55 % Output 15 % </a:t>
            </a:r>
          </a:p>
          <a:p>
            <a:pPr>
              <a:lnSpc>
                <a:spcPct val="90000"/>
              </a:lnSpc>
              <a:spcBef>
                <a:spcPct val="0"/>
              </a:spcBef>
              <a:buFontTx/>
              <a:buNone/>
            </a:pPr>
            <a:r>
              <a:rPr lang="en-US" altLang="en-US" sz="2000" b="1">
                <a:latin typeface="Arial" panose="020B0604020202020204" pitchFamily="34" charset="0"/>
                <a:ea typeface="MS PGothic" panose="020B0600070205080204" pitchFamily="34" charset="-128"/>
                <a:cs typeface="Arial" panose="020B0604020202020204" pitchFamily="34" charset="0"/>
              </a:rPr>
              <a:t>Equipment	</a:t>
            </a:r>
            <a:r>
              <a:rPr lang="th-TH" altLang="en-US" sz="2000" b="1">
                <a:latin typeface="Arial" panose="020B0604020202020204" pitchFamily="34" charset="0"/>
                <a:ea typeface="MS PGothic" panose="020B0600070205080204" pitchFamily="34" charset="-128"/>
                <a:cs typeface="Arial" panose="020B0604020202020204" pitchFamily="34" charset="0"/>
              </a:rPr>
              <a:t>	</a:t>
            </a:r>
            <a:r>
              <a:rPr lang="en-US" altLang="en-US" sz="2000" b="1">
                <a:latin typeface="Arial" panose="020B0604020202020204" pitchFamily="34" charset="0"/>
                <a:ea typeface="MS PGothic" panose="020B0600070205080204" pitchFamily="34" charset="-128"/>
                <a:cs typeface="Arial" panose="020B0604020202020204" pitchFamily="34" charset="0"/>
              </a:rPr>
              <a:t>: Crusher, Triple Pass Dryer, Cyclonic, </a:t>
            </a:r>
            <a:endParaRPr lang="th-TH" altLang="en-US" sz="2000" b="1">
              <a:latin typeface="Arial" panose="020B0604020202020204" pitchFamily="34" charset="0"/>
              <a:ea typeface="MS PGothic" panose="020B0600070205080204" pitchFamily="34" charset="-128"/>
              <a:cs typeface="Arial" panose="020B0604020202020204" pitchFamily="34" charset="0"/>
            </a:endParaRPr>
          </a:p>
          <a:p>
            <a:pPr>
              <a:lnSpc>
                <a:spcPct val="90000"/>
              </a:lnSpc>
              <a:spcBef>
                <a:spcPct val="0"/>
              </a:spcBef>
              <a:buFontTx/>
              <a:buNone/>
            </a:pPr>
            <a:r>
              <a:rPr lang="th-TH" altLang="en-US" sz="2000" b="1">
                <a:latin typeface="Arial" panose="020B0604020202020204" pitchFamily="34" charset="0"/>
                <a:ea typeface="MS PGothic" panose="020B0600070205080204" pitchFamily="34" charset="-128"/>
                <a:cs typeface="Arial" panose="020B0604020202020204" pitchFamily="34" charset="0"/>
              </a:rPr>
              <a:t>			  </a:t>
            </a:r>
            <a:r>
              <a:rPr lang="en-US" altLang="en-US" sz="2000" b="1">
                <a:latin typeface="Arial" panose="020B0604020202020204" pitchFamily="34" charset="0"/>
                <a:ea typeface="MS PGothic" panose="020B0600070205080204" pitchFamily="34" charset="-128"/>
                <a:cs typeface="Arial" panose="020B0604020202020204" pitchFamily="34" charset="0"/>
              </a:rPr>
              <a:t>Cyclone  </a:t>
            </a:r>
          </a:p>
        </p:txBody>
      </p:sp>
    </p:spTree>
  </p:cSld>
  <p:clrMapOvr>
    <a:masterClrMapping/>
  </p:clrMapOvr>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39700" y="188913"/>
            <a:ext cx="7323138" cy="6119812"/>
          </a:xfrm>
          <a:prstGeom prst="rect">
            <a:avLst/>
          </a:prstGeom>
          <a:solidFill>
            <a:srgbClr val="92D050"/>
          </a:solidFill>
          <a:ln w="38100">
            <a:prstDash val="dash"/>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th-TH"/>
          </a:p>
        </p:txBody>
      </p:sp>
      <p:pic>
        <p:nvPicPr>
          <p:cNvPr id="2" name="Picture 1"/>
          <p:cNvPicPr>
            <a:picLocks noChangeAspect="1"/>
          </p:cNvPicPr>
          <p:nvPr/>
        </p:nvPicPr>
        <p:blipFill rotWithShape="1">
          <a:blip r:embed="rId2">
            <a:clrChange>
              <a:clrFrom>
                <a:srgbClr val="99BD91"/>
              </a:clrFrom>
              <a:clrTo>
                <a:srgbClr val="99BD91">
                  <a:alpha val="0"/>
                </a:srgbClr>
              </a:clrTo>
            </a:clrChange>
          </a:blip>
          <a:srcRect l="21974" t="7110" r="16026"/>
          <a:stretch/>
        </p:blipFill>
        <p:spPr>
          <a:xfrm>
            <a:off x="139700" y="188913"/>
            <a:ext cx="8169275" cy="6249987"/>
          </a:xfrm>
          <a:prstGeom prst="rect">
            <a:avLst/>
          </a:prstGeom>
          <a:noFill/>
          <a:effectLst>
            <a:outerShdw blurRad="203200" dist="50800" dir="5400000" algn="ctr" rotWithShape="0">
              <a:srgbClr val="000000">
                <a:alpha val="69000"/>
              </a:srgbClr>
            </a:outerShdw>
          </a:effectLst>
        </p:spPr>
      </p:pic>
      <p:pic>
        <p:nvPicPr>
          <p:cNvPr id="62464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07250" y="1695450"/>
            <a:ext cx="1757363" cy="3678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Box 4"/>
          <p:cNvSpPr txBox="1"/>
          <p:nvPr/>
        </p:nvSpPr>
        <p:spPr>
          <a:xfrm>
            <a:off x="6235700" y="379413"/>
            <a:ext cx="2816225" cy="522287"/>
          </a:xfrm>
          <a:prstGeom prst="rect">
            <a:avLst/>
          </a:prstGeom>
        </p:spPr>
        <p:style>
          <a:lnRef idx="3">
            <a:schemeClr val="lt1"/>
          </a:lnRef>
          <a:fillRef idx="1">
            <a:schemeClr val="accent2"/>
          </a:fillRef>
          <a:effectRef idx="1">
            <a:schemeClr val="accent2"/>
          </a:effectRef>
          <a:fontRef idx="minor">
            <a:schemeClr val="lt1"/>
          </a:fontRef>
        </p:style>
        <p:txBody>
          <a:bodyPr wrap="none">
            <a:spAutoFit/>
          </a:bodyPr>
          <a:lstStyle/>
          <a:p>
            <a:pPr>
              <a:defRPr/>
            </a:pPr>
            <a:r>
              <a:rPr lang="en-US" sz="2800" b="1" dirty="0"/>
              <a:t>SCL Dryer Process</a:t>
            </a:r>
            <a:endParaRPr lang="th-TH" sz="2800" b="1" dirty="0"/>
          </a:p>
        </p:txBody>
      </p:sp>
      <p:sp>
        <p:nvSpPr>
          <p:cNvPr id="6" name="TextBox 5"/>
          <p:cNvSpPr txBox="1"/>
          <p:nvPr/>
        </p:nvSpPr>
        <p:spPr>
          <a:xfrm>
            <a:off x="285750" y="1431925"/>
            <a:ext cx="1152525" cy="307975"/>
          </a:xfrm>
          <a:prstGeom prst="rect">
            <a:avLst/>
          </a:prstGeom>
        </p:spPr>
        <p:style>
          <a:lnRef idx="3">
            <a:schemeClr val="lt1"/>
          </a:lnRef>
          <a:fillRef idx="1">
            <a:schemeClr val="accent2"/>
          </a:fillRef>
          <a:effectRef idx="1">
            <a:schemeClr val="accent2"/>
          </a:effectRef>
          <a:fontRef idx="minor">
            <a:schemeClr val="lt1"/>
          </a:fontRef>
        </p:style>
        <p:txBody>
          <a:bodyPr wrap="none">
            <a:spAutoFit/>
          </a:bodyPr>
          <a:lstStyle/>
          <a:p>
            <a:pPr>
              <a:defRPr/>
            </a:pPr>
            <a:r>
              <a:rPr lang="en-US" sz="1400" b="1" dirty="0">
                <a:latin typeface="Tahoma" pitchFamily="34" charset="0"/>
                <a:cs typeface="Tahoma" pitchFamily="34" charset="0"/>
              </a:rPr>
              <a:t>Fresh Bark</a:t>
            </a:r>
            <a:endParaRPr lang="th-TH" sz="1400" b="1" dirty="0">
              <a:latin typeface="Tahoma" pitchFamily="34" charset="0"/>
              <a:cs typeface="Tahoma" pitchFamily="34" charset="0"/>
            </a:endParaRPr>
          </a:p>
        </p:txBody>
      </p:sp>
      <p:sp>
        <p:nvSpPr>
          <p:cNvPr id="7" name="Down Arrow 6"/>
          <p:cNvSpPr/>
          <p:nvPr/>
        </p:nvSpPr>
        <p:spPr>
          <a:xfrm>
            <a:off x="539750" y="1790700"/>
            <a:ext cx="576263" cy="180975"/>
          </a:xfrm>
          <a:prstGeom prst="downArrow">
            <a:avLst/>
          </a:prstGeom>
          <a:ln w="9525"/>
        </p:spPr>
        <p:style>
          <a:lnRef idx="3">
            <a:schemeClr val="lt1"/>
          </a:lnRef>
          <a:fillRef idx="1">
            <a:schemeClr val="dk1"/>
          </a:fillRef>
          <a:effectRef idx="1">
            <a:schemeClr val="dk1"/>
          </a:effectRef>
          <a:fontRef idx="minor">
            <a:schemeClr val="lt1"/>
          </a:fontRef>
        </p:style>
        <p:txBody>
          <a:bodyPr anchor="ctr"/>
          <a:lstStyle/>
          <a:p>
            <a:pPr algn="ctr">
              <a:defRPr/>
            </a:pPr>
            <a:endParaRPr lang="th-TH"/>
          </a:p>
        </p:txBody>
      </p:sp>
      <p:sp>
        <p:nvSpPr>
          <p:cNvPr id="8" name="TextBox 7"/>
          <p:cNvSpPr txBox="1"/>
          <p:nvPr/>
        </p:nvSpPr>
        <p:spPr>
          <a:xfrm>
            <a:off x="1438275" y="593725"/>
            <a:ext cx="973138" cy="307975"/>
          </a:xfrm>
          <a:prstGeom prst="rect">
            <a:avLst/>
          </a:prstGeom>
        </p:spPr>
        <p:style>
          <a:lnRef idx="3">
            <a:schemeClr val="lt1"/>
          </a:lnRef>
          <a:fillRef idx="1">
            <a:schemeClr val="accent2"/>
          </a:fillRef>
          <a:effectRef idx="1">
            <a:schemeClr val="accent2"/>
          </a:effectRef>
          <a:fontRef idx="minor">
            <a:schemeClr val="lt1"/>
          </a:fontRef>
        </p:style>
        <p:txBody>
          <a:bodyPr wrap="none">
            <a:spAutoFit/>
          </a:bodyPr>
          <a:lstStyle/>
          <a:p>
            <a:pPr>
              <a:defRPr/>
            </a:pPr>
            <a:r>
              <a:rPr lang="en-US" sz="1400" b="1" dirty="0">
                <a:latin typeface="Tahoma" pitchFamily="34" charset="0"/>
                <a:cs typeface="Tahoma" pitchFamily="34" charset="0"/>
              </a:rPr>
              <a:t>Dry Bark</a:t>
            </a:r>
            <a:endParaRPr lang="th-TH" sz="1400" b="1" dirty="0">
              <a:latin typeface="Tahoma" pitchFamily="34" charset="0"/>
              <a:cs typeface="Tahoma" pitchFamily="34" charset="0"/>
            </a:endParaRPr>
          </a:p>
        </p:txBody>
      </p:sp>
      <p:sp>
        <p:nvSpPr>
          <p:cNvPr id="9" name="Down Arrow 8"/>
          <p:cNvSpPr/>
          <p:nvPr/>
        </p:nvSpPr>
        <p:spPr>
          <a:xfrm rot="13738379">
            <a:off x="1621631" y="965994"/>
            <a:ext cx="576263" cy="269875"/>
          </a:xfrm>
          <a:prstGeom prst="downArrow">
            <a:avLst/>
          </a:prstGeom>
          <a:ln w="9525"/>
        </p:spPr>
        <p:style>
          <a:lnRef idx="3">
            <a:schemeClr val="lt1"/>
          </a:lnRef>
          <a:fillRef idx="1">
            <a:schemeClr val="dk1"/>
          </a:fillRef>
          <a:effectRef idx="1">
            <a:schemeClr val="dk1"/>
          </a:effectRef>
          <a:fontRef idx="minor">
            <a:schemeClr val="lt1"/>
          </a:fontRef>
        </p:style>
        <p:txBody>
          <a:bodyPr anchor="ctr"/>
          <a:lstStyle/>
          <a:p>
            <a:pPr algn="ctr">
              <a:defRPr/>
            </a:pPr>
            <a:endParaRPr lang="th-TH"/>
          </a:p>
        </p:txBody>
      </p:sp>
      <p:sp>
        <p:nvSpPr>
          <p:cNvPr id="10" name="TextBox 9"/>
          <p:cNvSpPr txBox="1"/>
          <p:nvPr/>
        </p:nvSpPr>
        <p:spPr>
          <a:xfrm>
            <a:off x="2143125" y="2090738"/>
            <a:ext cx="473075" cy="215900"/>
          </a:xfrm>
          <a:prstGeom prst="rect">
            <a:avLst/>
          </a:prstGeom>
          <a:ln w="12700"/>
        </p:spPr>
        <p:style>
          <a:lnRef idx="3">
            <a:schemeClr val="lt1"/>
          </a:lnRef>
          <a:fillRef idx="1">
            <a:schemeClr val="accent1"/>
          </a:fillRef>
          <a:effectRef idx="1">
            <a:schemeClr val="accent1"/>
          </a:effectRef>
          <a:fontRef idx="minor">
            <a:schemeClr val="lt1"/>
          </a:fontRef>
        </p:style>
        <p:txBody>
          <a:bodyPr wrap="none">
            <a:spAutoFit/>
          </a:bodyPr>
          <a:lstStyle/>
          <a:p>
            <a:pPr>
              <a:defRPr/>
            </a:pPr>
            <a:r>
              <a:rPr lang="en-US" sz="800" b="1" dirty="0">
                <a:latin typeface="Tahoma" pitchFamily="34" charset="0"/>
                <a:cs typeface="Tahoma" pitchFamily="34" charset="0"/>
              </a:rPr>
              <a:t>Dryer</a:t>
            </a:r>
            <a:endParaRPr lang="th-TH" sz="800" b="1" dirty="0">
              <a:latin typeface="Tahoma" pitchFamily="34" charset="0"/>
              <a:cs typeface="Tahoma" pitchFamily="34" charset="0"/>
            </a:endParaRPr>
          </a:p>
        </p:txBody>
      </p:sp>
      <p:sp>
        <p:nvSpPr>
          <p:cNvPr id="11" name="TextBox 10"/>
          <p:cNvSpPr txBox="1"/>
          <p:nvPr/>
        </p:nvSpPr>
        <p:spPr>
          <a:xfrm>
            <a:off x="4643438" y="342900"/>
            <a:ext cx="588962" cy="215900"/>
          </a:xfrm>
          <a:prstGeom prst="rect">
            <a:avLst/>
          </a:prstGeom>
          <a:ln w="12700"/>
        </p:spPr>
        <p:style>
          <a:lnRef idx="3">
            <a:schemeClr val="lt1"/>
          </a:lnRef>
          <a:fillRef idx="1">
            <a:schemeClr val="accent1"/>
          </a:fillRef>
          <a:effectRef idx="1">
            <a:schemeClr val="accent1"/>
          </a:effectRef>
          <a:fontRef idx="minor">
            <a:schemeClr val="lt1"/>
          </a:fontRef>
        </p:style>
        <p:txBody>
          <a:bodyPr wrap="none">
            <a:spAutoFit/>
          </a:bodyPr>
          <a:lstStyle/>
          <a:p>
            <a:pPr>
              <a:defRPr/>
            </a:pPr>
            <a:r>
              <a:rPr lang="en-US" sz="800" b="1" dirty="0">
                <a:latin typeface="Tahoma" pitchFamily="34" charset="0"/>
                <a:cs typeface="Tahoma" pitchFamily="34" charset="0"/>
              </a:rPr>
              <a:t>Cyclone</a:t>
            </a:r>
            <a:endParaRPr lang="th-TH" sz="800" b="1" dirty="0">
              <a:latin typeface="Tahoma" pitchFamily="34" charset="0"/>
              <a:cs typeface="Tahoma" pitchFamily="34" charset="0"/>
            </a:endParaRPr>
          </a:p>
        </p:txBody>
      </p:sp>
      <p:sp>
        <p:nvSpPr>
          <p:cNvPr id="12" name="TextBox 11"/>
          <p:cNvSpPr txBox="1"/>
          <p:nvPr/>
        </p:nvSpPr>
        <p:spPr>
          <a:xfrm>
            <a:off x="2813050" y="4076700"/>
            <a:ext cx="663575" cy="231775"/>
          </a:xfrm>
          <a:prstGeom prst="rect">
            <a:avLst/>
          </a:prstGeom>
          <a:ln w="12700"/>
        </p:spPr>
        <p:style>
          <a:lnRef idx="3">
            <a:schemeClr val="lt1"/>
          </a:lnRef>
          <a:fillRef idx="1">
            <a:schemeClr val="accent2"/>
          </a:fillRef>
          <a:effectRef idx="1">
            <a:schemeClr val="accent2"/>
          </a:effectRef>
          <a:fontRef idx="minor">
            <a:schemeClr val="lt1"/>
          </a:fontRef>
        </p:style>
        <p:txBody>
          <a:bodyPr wrap="none">
            <a:spAutoFit/>
          </a:bodyPr>
          <a:lstStyle/>
          <a:p>
            <a:pPr>
              <a:defRPr/>
            </a:pPr>
            <a:r>
              <a:rPr lang="en-US" sz="900" b="1" dirty="0">
                <a:latin typeface="Tahoma" pitchFamily="34" charset="0"/>
                <a:cs typeface="Tahoma" pitchFamily="34" charset="0"/>
              </a:rPr>
              <a:t>Cyclonic</a:t>
            </a:r>
            <a:endParaRPr lang="th-TH" sz="900" b="1" dirty="0">
              <a:latin typeface="Tahoma" pitchFamily="34" charset="0"/>
              <a:cs typeface="Tahoma" pitchFamily="34" charset="0"/>
            </a:endParaRPr>
          </a:p>
        </p:txBody>
      </p:sp>
      <p:sp>
        <p:nvSpPr>
          <p:cNvPr id="13" name="TextBox 12"/>
          <p:cNvSpPr txBox="1"/>
          <p:nvPr/>
        </p:nvSpPr>
        <p:spPr>
          <a:xfrm>
            <a:off x="2805113" y="5467350"/>
            <a:ext cx="1001712" cy="247650"/>
          </a:xfrm>
          <a:prstGeom prst="rect">
            <a:avLst/>
          </a:prstGeom>
          <a:ln w="12700"/>
        </p:spPr>
        <p:style>
          <a:lnRef idx="3">
            <a:schemeClr val="lt1"/>
          </a:lnRef>
          <a:fillRef idx="1">
            <a:schemeClr val="accent4"/>
          </a:fillRef>
          <a:effectRef idx="1">
            <a:schemeClr val="accent4"/>
          </a:effectRef>
          <a:fontRef idx="minor">
            <a:schemeClr val="lt1"/>
          </a:fontRef>
        </p:style>
        <p:txBody>
          <a:bodyPr wrap="none">
            <a:spAutoFit/>
          </a:bodyPr>
          <a:lstStyle/>
          <a:p>
            <a:pPr>
              <a:defRPr/>
            </a:pPr>
            <a:r>
              <a:rPr lang="en-US" sz="1000" b="1" dirty="0">
                <a:latin typeface="Tahoma" pitchFamily="34" charset="0"/>
                <a:cs typeface="Tahoma" pitchFamily="34" charset="0"/>
              </a:rPr>
              <a:t>Hammer Mill</a:t>
            </a:r>
            <a:endParaRPr lang="th-TH" sz="1000" b="1" dirty="0">
              <a:latin typeface="Tahoma" pitchFamily="34" charset="0"/>
              <a:cs typeface="Tahoma" pitchFamily="34" charset="0"/>
            </a:endParaRPr>
          </a:p>
        </p:txBody>
      </p:sp>
      <p:sp>
        <p:nvSpPr>
          <p:cNvPr id="14" name="TextBox 13"/>
          <p:cNvSpPr txBox="1"/>
          <p:nvPr/>
        </p:nvSpPr>
        <p:spPr>
          <a:xfrm>
            <a:off x="673100" y="4941888"/>
            <a:ext cx="765175" cy="230187"/>
          </a:xfrm>
          <a:prstGeom prst="rect">
            <a:avLst/>
          </a:prstGeom>
          <a:ln w="12700"/>
        </p:spPr>
        <p:style>
          <a:lnRef idx="3">
            <a:schemeClr val="lt1"/>
          </a:lnRef>
          <a:fillRef idx="1">
            <a:schemeClr val="accent4"/>
          </a:fillRef>
          <a:effectRef idx="1">
            <a:schemeClr val="accent4"/>
          </a:effectRef>
          <a:fontRef idx="minor">
            <a:schemeClr val="lt1"/>
          </a:fontRef>
        </p:style>
        <p:txBody>
          <a:bodyPr wrap="none">
            <a:spAutoFit/>
          </a:bodyPr>
          <a:lstStyle/>
          <a:p>
            <a:pPr>
              <a:defRPr/>
            </a:pPr>
            <a:r>
              <a:rPr lang="en-US" sz="900" b="1" dirty="0">
                <a:latin typeface="Tahoma" pitchFamily="34" charset="0"/>
                <a:cs typeface="Tahoma" pitchFamily="34" charset="0"/>
              </a:rPr>
              <a:t>Buffer Bin</a:t>
            </a:r>
            <a:endParaRPr lang="th-TH" sz="900" b="1" dirty="0">
              <a:latin typeface="Tahoma" pitchFamily="34" charset="0"/>
              <a:cs typeface="Tahoma" pitchFamily="34" charset="0"/>
            </a:endParaRPr>
          </a:p>
        </p:txBody>
      </p:sp>
      <p:sp>
        <p:nvSpPr>
          <p:cNvPr id="15" name="Rectangle 14"/>
          <p:cNvSpPr/>
          <p:nvPr/>
        </p:nvSpPr>
        <p:spPr>
          <a:xfrm>
            <a:off x="7207250" y="1695450"/>
            <a:ext cx="1708150" cy="3771900"/>
          </a:xfrm>
          <a:prstGeom prst="rect">
            <a:avLst/>
          </a:prstGeom>
          <a:noFill/>
          <a:ln w="38100">
            <a:solidFill>
              <a:srgbClr val="C00000"/>
            </a:solidFill>
            <a:prstDash val="lgDashDot"/>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th-TH"/>
          </a:p>
        </p:txBody>
      </p:sp>
    </p:spTree>
  </p:cSld>
  <p:clrMapOvr>
    <a:masterClrMapping/>
  </p:clrMapOvr>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5666" name="Slide Number Placeholder 3"/>
          <p:cNvSpPr>
            <a:spLocks noGrp="1"/>
          </p:cNvSpPr>
          <p:nvPr>
            <p:ph type="sldNum" sz="quarter" idx="12"/>
          </p:nvPr>
        </p:nvSpPr>
        <p:spPr bwMode="auto">
          <a:xfrm>
            <a:off x="2555875" y="6429375"/>
            <a:ext cx="2133600" cy="36512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FontTx/>
              <a:buNone/>
            </a:pPr>
            <a:fld id="{15564956-A433-4C52-9F15-5BEFCB273265}" type="slidenum">
              <a:rPr lang="en-US" altLang="en-US" sz="1400" b="1" smtClean="0">
                <a:solidFill>
                  <a:schemeClr val="bg1"/>
                </a:solidFill>
                <a:latin typeface="SCG"/>
                <a:ea typeface="SCG"/>
                <a:cs typeface="SCG"/>
              </a:rPr>
              <a:pPr fontAlgn="base">
                <a:spcBef>
                  <a:spcPct val="0"/>
                </a:spcBef>
                <a:spcAft>
                  <a:spcPct val="0"/>
                </a:spcAft>
                <a:buFontTx/>
                <a:buNone/>
              </a:pPr>
              <a:t>221</a:t>
            </a:fld>
            <a:endParaRPr lang="en-US" altLang="en-US" sz="1400" b="1" smtClean="0">
              <a:solidFill>
                <a:schemeClr val="bg1"/>
              </a:solidFill>
              <a:latin typeface="SCG"/>
              <a:ea typeface="SCG"/>
              <a:cs typeface="SCG"/>
            </a:endParaRPr>
          </a:p>
        </p:txBody>
      </p:sp>
      <p:pic>
        <p:nvPicPr>
          <p:cNvPr id="625667" name="Picture 1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455988" y="3878263"/>
            <a:ext cx="3105150" cy="2325687"/>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pic>
      <p:pic>
        <p:nvPicPr>
          <p:cNvPr id="625668" name="Picture 13"/>
          <p:cNvPicPr>
            <a:picLocks noChangeAspect="1"/>
          </p:cNvPicPr>
          <p:nvPr/>
        </p:nvPicPr>
        <p:blipFill>
          <a:blip r:embed="rId3">
            <a:extLst>
              <a:ext uri="{28A0092B-C50C-407E-A947-70E740481C1C}">
                <a14:useLocalDpi xmlns:a14="http://schemas.microsoft.com/office/drawing/2010/main" val="0"/>
              </a:ext>
            </a:extLst>
          </a:blip>
          <a:srcRect t="-3"/>
          <a:stretch>
            <a:fillRect/>
          </a:stretch>
        </p:blipFill>
        <p:spPr bwMode="auto">
          <a:xfrm>
            <a:off x="6705600" y="3870325"/>
            <a:ext cx="2255838" cy="2371725"/>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pic>
      <p:pic>
        <p:nvPicPr>
          <p:cNvPr id="62566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8763" y="3848100"/>
            <a:ext cx="3078162" cy="239395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625670" name="Picture 5" descr="D:\Dirrect\New Folder (3)\New folder (8)\IMG_0172.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68913" y="900113"/>
            <a:ext cx="3709987" cy="277971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pic>
        <p:nvPicPr>
          <p:cNvPr id="625671" name="Picture 1" descr="F:\Coconut_Husk_Chips_dryer.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150" y="1006475"/>
            <a:ext cx="5014913" cy="2149475"/>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pic>
      <p:sp>
        <p:nvSpPr>
          <p:cNvPr id="625672" name="TextBox 14"/>
          <p:cNvSpPr txBox="1">
            <a:spLocks noChangeArrowheads="1"/>
          </p:cNvSpPr>
          <p:nvPr/>
        </p:nvSpPr>
        <p:spPr bwMode="auto">
          <a:xfrm>
            <a:off x="1130300" y="3248025"/>
            <a:ext cx="3022600" cy="338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600">
                <a:solidFill>
                  <a:srgbClr val="0000FF"/>
                </a:solidFill>
              </a:rPr>
              <a:t>Triple Pass Dryer Technology</a:t>
            </a:r>
            <a:endParaRPr lang="th-TH" altLang="en-US" sz="1600">
              <a:solidFill>
                <a:srgbClr val="0000FF"/>
              </a:solidFill>
            </a:endParaRPr>
          </a:p>
        </p:txBody>
      </p:sp>
      <p:sp>
        <p:nvSpPr>
          <p:cNvPr id="625673" name="TextBox 15"/>
          <p:cNvSpPr txBox="1">
            <a:spLocks noChangeArrowheads="1"/>
          </p:cNvSpPr>
          <p:nvPr/>
        </p:nvSpPr>
        <p:spPr bwMode="auto">
          <a:xfrm>
            <a:off x="6064250" y="3321050"/>
            <a:ext cx="2185988" cy="338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600">
                <a:solidFill>
                  <a:srgbClr val="0000FF"/>
                </a:solidFill>
              </a:rPr>
              <a:t>Triple Pass Dryer</a:t>
            </a:r>
            <a:endParaRPr lang="th-TH" altLang="en-US" sz="1600">
              <a:solidFill>
                <a:srgbClr val="0000FF"/>
              </a:solidFill>
            </a:endParaRPr>
          </a:p>
        </p:txBody>
      </p:sp>
      <p:sp>
        <p:nvSpPr>
          <p:cNvPr id="625674" name="TextBox 16"/>
          <p:cNvSpPr txBox="1">
            <a:spLocks noChangeArrowheads="1"/>
          </p:cNvSpPr>
          <p:nvPr/>
        </p:nvSpPr>
        <p:spPr bwMode="auto">
          <a:xfrm>
            <a:off x="720725" y="6242050"/>
            <a:ext cx="2185988" cy="338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600">
                <a:solidFill>
                  <a:srgbClr val="0000FF"/>
                </a:solidFill>
              </a:rPr>
              <a:t>Crusher</a:t>
            </a:r>
            <a:endParaRPr lang="th-TH" altLang="en-US" sz="1600">
              <a:solidFill>
                <a:srgbClr val="0000FF"/>
              </a:solidFill>
            </a:endParaRPr>
          </a:p>
        </p:txBody>
      </p:sp>
      <p:sp>
        <p:nvSpPr>
          <p:cNvPr id="625675" name="TextBox 17"/>
          <p:cNvSpPr txBox="1">
            <a:spLocks noChangeArrowheads="1"/>
          </p:cNvSpPr>
          <p:nvPr/>
        </p:nvSpPr>
        <p:spPr bwMode="auto">
          <a:xfrm>
            <a:off x="3810000" y="6242050"/>
            <a:ext cx="2184400" cy="338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600">
                <a:solidFill>
                  <a:srgbClr val="0000FF"/>
                </a:solidFill>
              </a:rPr>
              <a:t>Crusher Test#1</a:t>
            </a:r>
            <a:endParaRPr lang="th-TH" altLang="en-US" sz="1600">
              <a:solidFill>
                <a:srgbClr val="0000FF"/>
              </a:solidFill>
            </a:endParaRPr>
          </a:p>
        </p:txBody>
      </p:sp>
      <p:sp>
        <p:nvSpPr>
          <p:cNvPr id="625676" name="TextBox 18"/>
          <p:cNvSpPr txBox="1">
            <a:spLocks noChangeArrowheads="1"/>
          </p:cNvSpPr>
          <p:nvPr/>
        </p:nvSpPr>
        <p:spPr bwMode="auto">
          <a:xfrm>
            <a:off x="6627813" y="6242050"/>
            <a:ext cx="2185987" cy="338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600">
                <a:solidFill>
                  <a:srgbClr val="0000FF"/>
                </a:solidFill>
              </a:rPr>
              <a:t>Crushed Bark</a:t>
            </a:r>
            <a:endParaRPr lang="th-TH" altLang="en-US" sz="1600">
              <a:solidFill>
                <a:srgbClr val="0000FF"/>
              </a:solidFill>
            </a:endParaRPr>
          </a:p>
        </p:txBody>
      </p:sp>
      <p:sp>
        <p:nvSpPr>
          <p:cNvPr id="625677" name="TextBox 1"/>
          <p:cNvSpPr txBox="1">
            <a:spLocks noChangeArrowheads="1"/>
          </p:cNvSpPr>
          <p:nvPr/>
        </p:nvSpPr>
        <p:spPr bwMode="auto">
          <a:xfrm>
            <a:off x="546100" y="314325"/>
            <a:ext cx="7894638"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1" hangingPunct="1">
              <a:spcBef>
                <a:spcPct val="0"/>
              </a:spcBef>
              <a:buFontTx/>
              <a:buNone/>
            </a:pPr>
            <a:r>
              <a:rPr lang="en-US" altLang="en-US" b="1">
                <a:solidFill>
                  <a:srgbClr val="FF0000"/>
                </a:solidFill>
                <a:latin typeface="Arial" panose="020B0604020202020204" pitchFamily="34" charset="0"/>
                <a:cs typeface="Angsana New" panose="02020603050405020304" pitchFamily="18" charset="-34"/>
              </a:rPr>
              <a:t>SCL BARK DRYER DESIGN CAPACITY</a:t>
            </a:r>
          </a:p>
        </p:txBody>
      </p:sp>
    </p:spTree>
  </p:cSld>
  <p:clrMapOvr>
    <a:masterClrMapping/>
  </p:clrMapOvr>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2236086051"/>
      </p:ext>
    </p:extLst>
  </p:cSld>
  <p:clrMapOvr>
    <a:masterClrMapping/>
  </p:clrMapOvr>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3760050976"/>
      </p:ext>
    </p:extLst>
  </p:cSld>
  <p:clrMapOvr>
    <a:masterClrMapping/>
  </p:clrMapOvr>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549442096"/>
      </p:ext>
    </p:extLst>
  </p:cSld>
  <p:clrMapOvr>
    <a:masterClrMapping/>
  </p:clrMapOvr>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1790406419"/>
      </p:ext>
    </p:extLst>
  </p:cSld>
  <p:clrMapOvr>
    <a:masterClrMapping/>
  </p:clrMapOvr>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865957347"/>
      </p:ext>
    </p:extLst>
  </p:cSld>
  <p:clrMapOvr>
    <a:masterClrMapping/>
  </p:clrMapOvr>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6463862"/>
          </a:xfrm>
          <a:prstGeom prst="rect">
            <a:avLst/>
          </a:prstGeom>
        </p:spPr>
      </p:pic>
    </p:spTree>
    <p:extLst>
      <p:ext uri="{BB962C8B-B14F-4D97-AF65-F5344CB8AC3E}">
        <p14:creationId xmlns:p14="http://schemas.microsoft.com/office/powerpoint/2010/main" val="1327440673"/>
      </p:ext>
    </p:extLst>
  </p:cSld>
  <p:clrMapOvr>
    <a:masterClrMapping/>
  </p:clrMapOvr>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2910664232"/>
      </p:ext>
    </p:extLst>
  </p:cSld>
  <p:clrMapOvr>
    <a:masterClrMapping/>
  </p:clrMapOvr>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3091482698"/>
      </p:ext>
    </p:extLst>
  </p:cSld>
  <p:clrMapOvr>
    <a:masterClrMapping/>
  </p:clrMapOvr>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2645089937"/>
      </p:ext>
    </p:extLst>
  </p:cSld>
  <p:clrMapOvr>
    <a:masterClrMapping/>
  </p:clrMapOvr>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1388299444"/>
      </p:ext>
    </p:extLst>
  </p:cSld>
  <p:clrMapOvr>
    <a:masterClrMapping/>
  </p:clrMapOvr>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2035725657"/>
      </p:ext>
    </p:extLst>
  </p:cSld>
  <p:clrMapOvr>
    <a:masterClrMapping/>
  </p:clrMapOvr>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3734511761"/>
      </p:ext>
    </p:extLst>
  </p:cSld>
  <p:clrMapOvr>
    <a:masterClrMapping/>
  </p:clrMapOvr>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2758749065"/>
      </p:ext>
    </p:extLst>
  </p:cSld>
  <p:clrMapOvr>
    <a:masterClrMapping/>
  </p:clrMapOvr>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203523204"/>
      </p:ext>
    </p:extLst>
  </p:cSld>
  <p:clrMapOvr>
    <a:masterClrMapping/>
  </p:clrMapOvr>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1875494377"/>
      </p:ext>
    </p:extLst>
  </p:cSld>
  <p:clrMapOvr>
    <a:masterClrMapping/>
  </p:clrMapOvr>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646180846"/>
      </p:ext>
    </p:extLst>
  </p:cSld>
  <p:clrMapOvr>
    <a:masterClrMapping/>
  </p:clrMapOvr>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4293148114"/>
      </p:ext>
    </p:extLst>
  </p:cSld>
  <p:clrMapOvr>
    <a:masterClrMapping/>
  </p:clrMapOvr>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6459891"/>
          </a:xfrm>
          <a:prstGeom prst="rect">
            <a:avLst/>
          </a:prstGeom>
        </p:spPr>
      </p:pic>
    </p:spTree>
    <p:extLst>
      <p:ext uri="{BB962C8B-B14F-4D97-AF65-F5344CB8AC3E}">
        <p14:creationId xmlns:p14="http://schemas.microsoft.com/office/powerpoint/2010/main" val="852280908"/>
      </p:ext>
    </p:extLst>
  </p:cSld>
  <p:clrMapOvr>
    <a:masterClrMapping/>
  </p:clrMapOvr>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6459891"/>
          </a:xfrm>
          <a:prstGeom prst="rect">
            <a:avLst/>
          </a:prstGeom>
        </p:spPr>
      </p:pic>
    </p:spTree>
    <p:extLst>
      <p:ext uri="{BB962C8B-B14F-4D97-AF65-F5344CB8AC3E}">
        <p14:creationId xmlns:p14="http://schemas.microsoft.com/office/powerpoint/2010/main" val="2788695463"/>
      </p:ext>
    </p:extLst>
  </p:cSld>
  <p:clrMapOvr>
    <a:masterClrMapping/>
  </p:clrMapOvr>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1241968236"/>
      </p:ext>
    </p:extLst>
  </p:cSld>
  <p:clrMapOvr>
    <a:masterClrMapping/>
  </p:clrMapOvr>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6465126"/>
          </a:xfrm>
          <a:prstGeom prst="rect">
            <a:avLst/>
          </a:prstGeom>
        </p:spPr>
      </p:pic>
    </p:spTree>
    <p:extLst>
      <p:ext uri="{BB962C8B-B14F-4D97-AF65-F5344CB8AC3E}">
        <p14:creationId xmlns:p14="http://schemas.microsoft.com/office/powerpoint/2010/main" val="2018326217"/>
      </p:ext>
    </p:extLst>
  </p:cSld>
  <p:clrMapOvr>
    <a:masterClrMapping/>
  </p:clrMapOvr>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6467498"/>
          </a:xfrm>
          <a:prstGeom prst="rect">
            <a:avLst/>
          </a:prstGeom>
        </p:spPr>
      </p:pic>
    </p:spTree>
    <p:extLst>
      <p:ext uri="{BB962C8B-B14F-4D97-AF65-F5344CB8AC3E}">
        <p14:creationId xmlns:p14="http://schemas.microsoft.com/office/powerpoint/2010/main" val="2197620416"/>
      </p:ext>
    </p:extLst>
  </p:cSld>
  <p:clrMapOvr>
    <a:masterClrMapping/>
  </p:clrMapOvr>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4414"/>
          </a:xfrm>
          <a:prstGeom prst="rect">
            <a:avLst/>
          </a:prstGeom>
        </p:spPr>
      </p:pic>
    </p:spTree>
    <p:extLst>
      <p:ext uri="{BB962C8B-B14F-4D97-AF65-F5344CB8AC3E}">
        <p14:creationId xmlns:p14="http://schemas.microsoft.com/office/powerpoint/2010/main" val="1379736598"/>
      </p:ext>
    </p:extLst>
  </p:cSld>
  <p:clrMapOvr>
    <a:masterClrMapping/>
  </p:clrMapOvr>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6465126"/>
          </a:xfrm>
          <a:prstGeom prst="rect">
            <a:avLst/>
          </a:prstGeom>
        </p:spPr>
      </p:pic>
    </p:spTree>
    <p:extLst>
      <p:ext uri="{BB962C8B-B14F-4D97-AF65-F5344CB8AC3E}">
        <p14:creationId xmlns:p14="http://schemas.microsoft.com/office/powerpoint/2010/main" val="2678557040"/>
      </p:ext>
    </p:extLst>
  </p:cSld>
  <p:clrMapOvr>
    <a:masterClrMapping/>
  </p:clrMapOvr>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3706824924"/>
      </p:ext>
    </p:extLst>
  </p:cSld>
  <p:clrMapOvr>
    <a:masterClrMapping/>
  </p:clrMapOvr>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6463349"/>
          </a:xfrm>
          <a:prstGeom prst="rect">
            <a:avLst/>
          </a:prstGeom>
        </p:spPr>
      </p:pic>
    </p:spTree>
    <p:extLst>
      <p:ext uri="{BB962C8B-B14F-4D97-AF65-F5344CB8AC3E}">
        <p14:creationId xmlns:p14="http://schemas.microsoft.com/office/powerpoint/2010/main" val="1553870382"/>
      </p:ext>
    </p:extLst>
  </p:cSld>
  <p:clrMapOvr>
    <a:masterClrMapping/>
  </p:clrMapOvr>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6465126"/>
          </a:xfrm>
          <a:prstGeom prst="rect">
            <a:avLst/>
          </a:prstGeom>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6465126"/>
          </a:xfrm>
          <a:prstGeom prst="rect">
            <a:avLst/>
          </a:prstGeom>
        </p:spPr>
      </p:pic>
    </p:spTree>
    <p:extLst>
      <p:ext uri="{BB962C8B-B14F-4D97-AF65-F5344CB8AC3E}">
        <p14:creationId xmlns:p14="http://schemas.microsoft.com/office/powerpoint/2010/main" val="796070701"/>
      </p:ext>
    </p:extLst>
  </p:cSld>
  <p:clrMapOvr>
    <a:masterClrMapping/>
  </p:clrMapOvr>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4414"/>
          </a:xfrm>
          <a:prstGeom prst="rect">
            <a:avLst/>
          </a:prstGeom>
        </p:spPr>
      </p:pic>
    </p:spTree>
    <p:extLst>
      <p:ext uri="{BB962C8B-B14F-4D97-AF65-F5344CB8AC3E}">
        <p14:creationId xmlns:p14="http://schemas.microsoft.com/office/powerpoint/2010/main" val="823268004"/>
      </p:ext>
    </p:extLst>
  </p:cSld>
  <p:clrMapOvr>
    <a:masterClrMapping/>
  </p:clrMapOvr>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4414"/>
          </a:xfrm>
          <a:prstGeom prst="rect">
            <a:avLst/>
          </a:prstGeom>
        </p:spPr>
      </p:pic>
    </p:spTree>
    <p:extLst>
      <p:ext uri="{BB962C8B-B14F-4D97-AF65-F5344CB8AC3E}">
        <p14:creationId xmlns:p14="http://schemas.microsoft.com/office/powerpoint/2010/main" val="3491328121"/>
      </p:ext>
    </p:extLst>
  </p:cSld>
  <p:clrMapOvr>
    <a:masterClrMapping/>
  </p:clrMapOvr>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3163645925"/>
      </p:ext>
    </p:extLst>
  </p:cSld>
  <p:clrMapOvr>
    <a:masterClrMapping/>
  </p:clrMapOvr>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4414"/>
          </a:xfrm>
          <a:prstGeom prst="rect">
            <a:avLst/>
          </a:prstGeom>
        </p:spPr>
      </p:pic>
    </p:spTree>
    <p:extLst>
      <p:ext uri="{BB962C8B-B14F-4D97-AF65-F5344CB8AC3E}">
        <p14:creationId xmlns:p14="http://schemas.microsoft.com/office/powerpoint/2010/main" val="3444644303"/>
      </p:ext>
    </p:extLst>
  </p:cSld>
  <p:clrMapOvr>
    <a:masterClrMapping/>
  </p:clrMapOvr>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4414"/>
          </a:xfrm>
          <a:prstGeom prst="rect">
            <a:avLst/>
          </a:prstGeom>
        </p:spPr>
      </p:pic>
    </p:spTree>
    <p:extLst>
      <p:ext uri="{BB962C8B-B14F-4D97-AF65-F5344CB8AC3E}">
        <p14:creationId xmlns:p14="http://schemas.microsoft.com/office/powerpoint/2010/main" val="1221754211"/>
      </p:ext>
    </p:extLst>
  </p:cSld>
  <p:clrMapOvr>
    <a:masterClrMapping/>
  </p:clrMapOvr>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4414"/>
          </a:xfrm>
          <a:prstGeom prst="rect">
            <a:avLst/>
          </a:prstGeom>
        </p:spPr>
      </p:pic>
    </p:spTree>
    <p:extLst>
      <p:ext uri="{BB962C8B-B14F-4D97-AF65-F5344CB8AC3E}">
        <p14:creationId xmlns:p14="http://schemas.microsoft.com/office/powerpoint/2010/main" val="1888986616"/>
      </p:ext>
    </p:extLst>
  </p:cSld>
  <p:clrMapOvr>
    <a:masterClrMapping/>
  </p:clrMapOvr>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4414"/>
          </a:xfrm>
          <a:prstGeom prst="rect">
            <a:avLst/>
          </a:prstGeom>
        </p:spPr>
      </p:pic>
    </p:spTree>
    <p:extLst>
      <p:ext uri="{BB962C8B-B14F-4D97-AF65-F5344CB8AC3E}">
        <p14:creationId xmlns:p14="http://schemas.microsoft.com/office/powerpoint/2010/main" val="2926420394"/>
      </p:ext>
    </p:extLst>
  </p:cSld>
  <p:clrMapOvr>
    <a:masterClrMapping/>
  </p:clrMapOvr>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1229702930"/>
      </p:ext>
    </p:extLst>
  </p:cSld>
  <p:clrMapOvr>
    <a:masterClrMapping/>
  </p:clrMapOvr>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6465126"/>
          </a:xfrm>
          <a:prstGeom prst="rect">
            <a:avLst/>
          </a:prstGeom>
        </p:spPr>
      </p:pic>
    </p:spTree>
    <p:extLst>
      <p:ext uri="{BB962C8B-B14F-4D97-AF65-F5344CB8AC3E}">
        <p14:creationId xmlns:p14="http://schemas.microsoft.com/office/powerpoint/2010/main" val="3928313522"/>
      </p:ext>
    </p:extLst>
  </p:cSld>
  <p:clrMapOvr>
    <a:masterClrMapping/>
  </p:clrMapOvr>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3462"/>
          </a:xfrm>
          <a:prstGeom prst="rect">
            <a:avLst/>
          </a:prstGeom>
        </p:spPr>
      </p:pic>
    </p:spTree>
    <p:extLst>
      <p:ext uri="{BB962C8B-B14F-4D97-AF65-F5344CB8AC3E}">
        <p14:creationId xmlns:p14="http://schemas.microsoft.com/office/powerpoint/2010/main" val="1042584189"/>
      </p:ext>
    </p:extLst>
  </p:cSld>
  <p:clrMapOvr>
    <a:masterClrMapping/>
  </p:clrMapOvr>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6465126"/>
          </a:xfrm>
          <a:prstGeom prst="rect">
            <a:avLst/>
          </a:prstGeom>
        </p:spPr>
      </p:pic>
    </p:spTree>
    <p:extLst>
      <p:ext uri="{BB962C8B-B14F-4D97-AF65-F5344CB8AC3E}">
        <p14:creationId xmlns:p14="http://schemas.microsoft.com/office/powerpoint/2010/main" val="2469047538"/>
      </p:ext>
    </p:extLst>
  </p:cSld>
  <p:clrMapOvr>
    <a:masterClrMapping/>
  </p:clrMapOvr>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6465126"/>
          </a:xfrm>
          <a:prstGeom prst="rect">
            <a:avLst/>
          </a:prstGeom>
        </p:spPr>
      </p:pic>
    </p:spTree>
    <p:extLst>
      <p:ext uri="{BB962C8B-B14F-4D97-AF65-F5344CB8AC3E}">
        <p14:creationId xmlns:p14="http://schemas.microsoft.com/office/powerpoint/2010/main" val="1734161085"/>
      </p:ext>
    </p:extLst>
  </p:cSld>
  <p:clrMapOvr>
    <a:masterClrMapping/>
  </p:clrMapOvr>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3128"/>
          </a:xfrm>
          <a:prstGeom prst="rect">
            <a:avLst/>
          </a:prstGeom>
        </p:spPr>
      </p:pic>
    </p:spTree>
    <p:extLst>
      <p:ext uri="{BB962C8B-B14F-4D97-AF65-F5344CB8AC3E}">
        <p14:creationId xmlns:p14="http://schemas.microsoft.com/office/powerpoint/2010/main" val="9556506"/>
      </p:ext>
    </p:extLst>
  </p:cSld>
  <p:clrMapOvr>
    <a:masterClrMapping/>
  </p:clrMapOvr>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6462177"/>
          </a:xfrm>
          <a:prstGeom prst="rect">
            <a:avLst/>
          </a:prstGeom>
        </p:spPr>
      </p:pic>
    </p:spTree>
    <p:extLst>
      <p:ext uri="{BB962C8B-B14F-4D97-AF65-F5344CB8AC3E}">
        <p14:creationId xmlns:p14="http://schemas.microsoft.com/office/powerpoint/2010/main" val="2128096095"/>
      </p:ext>
    </p:extLst>
  </p:cSld>
  <p:clrMapOvr>
    <a:masterClrMapping/>
  </p:clrMapOvr>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6462346"/>
          </a:xfrm>
          <a:prstGeom prst="rect">
            <a:avLst/>
          </a:prstGeom>
        </p:spPr>
      </p:pic>
    </p:spTree>
    <p:extLst>
      <p:ext uri="{BB962C8B-B14F-4D97-AF65-F5344CB8AC3E}">
        <p14:creationId xmlns:p14="http://schemas.microsoft.com/office/powerpoint/2010/main" val="3460926939"/>
      </p:ext>
    </p:extLst>
  </p:cSld>
  <p:clrMapOvr>
    <a:masterClrMapping/>
  </p:clrMapOvr>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6690" name="Slide Number Placeholder 3"/>
          <p:cNvSpPr>
            <a:spLocks noGrp="1"/>
          </p:cNvSpPr>
          <p:nvPr>
            <p:ph type="sldNum" sz="quarter" idx="12"/>
          </p:nvPr>
        </p:nvSpPr>
        <p:spPr bwMode="auto">
          <a:xfrm>
            <a:off x="2555875" y="6429375"/>
            <a:ext cx="2133600" cy="36512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FontTx/>
              <a:buNone/>
            </a:pPr>
            <a:fld id="{AEC3E3AE-44C0-4948-B371-A328F0FD333A}" type="slidenum">
              <a:rPr lang="en-US" altLang="en-US" sz="1400" b="1" smtClean="0">
                <a:solidFill>
                  <a:schemeClr val="bg1"/>
                </a:solidFill>
                <a:latin typeface="SCG"/>
                <a:ea typeface="SCG"/>
                <a:cs typeface="SCG"/>
              </a:rPr>
              <a:pPr fontAlgn="base">
                <a:spcBef>
                  <a:spcPct val="0"/>
                </a:spcBef>
                <a:spcAft>
                  <a:spcPct val="0"/>
                </a:spcAft>
                <a:buFontTx/>
                <a:buNone/>
              </a:pPr>
              <a:t>264</a:t>
            </a:fld>
            <a:endParaRPr lang="en-US" altLang="en-US" sz="1400" b="1" smtClean="0">
              <a:solidFill>
                <a:schemeClr val="bg1"/>
              </a:solidFill>
              <a:latin typeface="SCG"/>
              <a:ea typeface="SCG"/>
              <a:cs typeface="SCG"/>
            </a:endParaRPr>
          </a:p>
        </p:txBody>
      </p:sp>
      <p:sp>
        <p:nvSpPr>
          <p:cNvPr id="8" name="Rectangle 7"/>
          <p:cNvSpPr>
            <a:spLocks noChangeArrowheads="1"/>
          </p:cNvSpPr>
          <p:nvPr/>
        </p:nvSpPr>
        <p:spPr bwMode="auto">
          <a:xfrm>
            <a:off x="0" y="0"/>
            <a:ext cx="9144000" cy="836613"/>
          </a:xfrm>
          <a:prstGeom prst="rect">
            <a:avLst/>
          </a:prstGeom>
          <a:solidFill>
            <a:srgbClr val="FF0000"/>
          </a:solid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fontAlgn="auto">
              <a:spcBef>
                <a:spcPts val="0"/>
              </a:spcBef>
              <a:spcAft>
                <a:spcPts val="0"/>
              </a:spcAft>
              <a:defRPr/>
            </a:pPr>
            <a:endParaRPr lang="en-US">
              <a:solidFill>
                <a:schemeClr val="lt1"/>
              </a:solidFill>
              <a:latin typeface="+mn-lt"/>
            </a:endParaRPr>
          </a:p>
        </p:txBody>
      </p:sp>
      <p:sp>
        <p:nvSpPr>
          <p:cNvPr id="626692" name="TextBox 1"/>
          <p:cNvSpPr txBox="1">
            <a:spLocks noChangeArrowheads="1"/>
          </p:cNvSpPr>
          <p:nvPr/>
        </p:nvSpPr>
        <p:spPr bwMode="auto">
          <a:xfrm>
            <a:off x="179388" y="169863"/>
            <a:ext cx="72009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2800" b="1">
                <a:solidFill>
                  <a:schemeClr val="bg1"/>
                </a:solidFill>
                <a:latin typeface="Arial" panose="020B0604020202020204" pitchFamily="34" charset="0"/>
                <a:cs typeface="Angsana New" panose="02020603050405020304" pitchFamily="18" charset="-34"/>
              </a:rPr>
              <a:t>SCL </a:t>
            </a:r>
            <a:r>
              <a:rPr lang="en-US" altLang="en-US" sz="2800" b="1">
                <a:solidFill>
                  <a:srgbClr val="FFFF00"/>
                </a:solidFill>
                <a:latin typeface="Arial" panose="020B0604020202020204" pitchFamily="34" charset="0"/>
                <a:cs typeface="Angsana New" panose="02020603050405020304" pitchFamily="18" charset="-34"/>
              </a:rPr>
              <a:t>GASIFIER </a:t>
            </a:r>
            <a:r>
              <a:rPr lang="en-US" altLang="en-US" sz="2800" b="1">
                <a:solidFill>
                  <a:schemeClr val="bg1"/>
                </a:solidFill>
                <a:latin typeface="Arial" panose="020B0604020202020204" pitchFamily="34" charset="0"/>
                <a:cs typeface="Angsana New" panose="02020603050405020304" pitchFamily="18" charset="-34"/>
              </a:rPr>
              <a:t>DESIGN CAPACITY</a:t>
            </a:r>
          </a:p>
        </p:txBody>
      </p:sp>
      <p:pic>
        <p:nvPicPr>
          <p:cNvPr id="626693" name="Picture 6" descr="DSCF000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78063" y="1184275"/>
            <a:ext cx="4824412" cy="327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6694" name="Content Placeholder 2"/>
          <p:cNvSpPr>
            <a:spLocks/>
          </p:cNvSpPr>
          <p:nvPr/>
        </p:nvSpPr>
        <p:spPr bwMode="auto">
          <a:xfrm>
            <a:off x="781050" y="4608513"/>
            <a:ext cx="7666038" cy="1422400"/>
          </a:xfrm>
          <a:prstGeom prst="rect">
            <a:avLst/>
          </a:prstGeom>
          <a:solidFill>
            <a:schemeClr val="bg1"/>
          </a:solidFill>
          <a:ln w="9525">
            <a:solidFill>
              <a:schemeClr val="tx1"/>
            </a:solidFill>
            <a:miter lim="800000"/>
            <a:headEnd/>
            <a:tailEnd/>
          </a:ln>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90000"/>
              </a:lnSpc>
              <a:spcBef>
                <a:spcPct val="0"/>
              </a:spcBef>
              <a:buFontTx/>
              <a:buNone/>
            </a:pPr>
            <a:r>
              <a:rPr lang="en-US" altLang="en-US" sz="1600" b="1">
                <a:latin typeface="Arial" panose="020B0604020202020204" pitchFamily="34" charset="0"/>
                <a:ea typeface="MS PGothic" panose="020B0600070205080204" pitchFamily="34" charset="-128"/>
                <a:cs typeface="Arial" panose="020B0604020202020204" pitchFamily="34" charset="0"/>
              </a:rPr>
              <a:t>Manufacturer		: Eco Plant Service, Siam Cement</a:t>
            </a:r>
          </a:p>
          <a:p>
            <a:pPr>
              <a:lnSpc>
                <a:spcPct val="90000"/>
              </a:lnSpc>
              <a:spcBef>
                <a:spcPct val="0"/>
              </a:spcBef>
              <a:buFontTx/>
              <a:buNone/>
            </a:pPr>
            <a:r>
              <a:rPr lang="en-US" altLang="en-US" sz="1600" b="1">
                <a:latin typeface="Arial" panose="020B0604020202020204" pitchFamily="34" charset="0"/>
                <a:ea typeface="MS PGothic" panose="020B0600070205080204" pitchFamily="34" charset="-128"/>
                <a:cs typeface="Arial" panose="020B0604020202020204" pitchFamily="34" charset="0"/>
              </a:rPr>
              <a:t>Capacity			: 15 MWth, 700</a:t>
            </a:r>
            <a:r>
              <a:rPr lang="th-TH" altLang="en-US" sz="1600" b="1">
                <a:latin typeface="Arial" panose="020B0604020202020204" pitchFamily="34" charset="0"/>
                <a:ea typeface="MS PGothic" panose="020B0600070205080204" pitchFamily="34" charset="-128"/>
                <a:cs typeface="Arial" panose="020B0604020202020204" pitchFamily="34" charset="0"/>
              </a:rPr>
              <a:t>๐</a:t>
            </a:r>
            <a:r>
              <a:rPr lang="en-US" altLang="en-US" sz="1600" b="1">
                <a:latin typeface="Arial" panose="020B0604020202020204" pitchFamily="34" charset="0"/>
                <a:ea typeface="MS PGothic" panose="020B0600070205080204" pitchFamily="34" charset="-128"/>
                <a:cs typeface="Arial" panose="020B0604020202020204" pitchFamily="34" charset="0"/>
              </a:rPr>
              <a:t>C </a:t>
            </a:r>
          </a:p>
          <a:p>
            <a:pPr>
              <a:lnSpc>
                <a:spcPct val="90000"/>
              </a:lnSpc>
              <a:spcBef>
                <a:spcPct val="0"/>
              </a:spcBef>
              <a:buFontTx/>
              <a:buNone/>
            </a:pPr>
            <a:r>
              <a:rPr lang="en-US" altLang="en-US" sz="1600" b="1">
                <a:latin typeface="Arial" panose="020B0604020202020204" pitchFamily="34" charset="0"/>
                <a:ea typeface="MS PGothic" panose="020B0600070205080204" pitchFamily="34" charset="-128"/>
                <a:cs typeface="Arial" panose="020B0604020202020204" pitchFamily="34" charset="0"/>
              </a:rPr>
              <a:t>Purpose			: Convert Biomass to Synthetic Gas</a:t>
            </a:r>
          </a:p>
          <a:p>
            <a:pPr>
              <a:lnSpc>
                <a:spcPct val="90000"/>
              </a:lnSpc>
              <a:spcBef>
                <a:spcPct val="0"/>
              </a:spcBef>
              <a:buFontTx/>
              <a:buNone/>
            </a:pPr>
            <a:r>
              <a:rPr lang="en-US" altLang="en-US" sz="1600" b="1">
                <a:latin typeface="Arial" panose="020B0604020202020204" pitchFamily="34" charset="0"/>
                <a:ea typeface="MS PGothic" panose="020B0600070205080204" pitchFamily="34" charset="-128"/>
                <a:cs typeface="Arial" panose="020B0604020202020204" pitchFamily="34" charset="0"/>
              </a:rPr>
              <a:t>			  Replace Heavy oil in Lime Kiln 550 l/hr</a:t>
            </a:r>
          </a:p>
          <a:p>
            <a:pPr>
              <a:lnSpc>
                <a:spcPct val="90000"/>
              </a:lnSpc>
              <a:spcBef>
                <a:spcPct val="0"/>
              </a:spcBef>
              <a:buFontTx/>
              <a:buNone/>
            </a:pPr>
            <a:r>
              <a:rPr lang="en-US" altLang="en-US" sz="1600" b="1">
                <a:latin typeface="Arial" panose="020B0604020202020204" pitchFamily="34" charset="0"/>
                <a:ea typeface="MS PGothic" panose="020B0600070205080204" pitchFamily="34" charset="-128"/>
                <a:cs typeface="Arial" panose="020B0604020202020204" pitchFamily="34" charset="0"/>
              </a:rPr>
              <a:t>Concept 			: </a:t>
            </a:r>
            <a:r>
              <a:rPr lang="en-US" altLang="en-US" sz="1200" b="1">
                <a:latin typeface="Arial" panose="020B0604020202020204" pitchFamily="34" charset="0"/>
                <a:ea typeface="MS PGothic" panose="020B0600070205080204" pitchFamily="34" charset="-128"/>
                <a:cs typeface="Arial" panose="020B0604020202020204" pitchFamily="34" charset="0"/>
              </a:rPr>
              <a:t>C+O2 </a:t>
            </a:r>
            <a:r>
              <a:rPr lang="en-US" altLang="en-US" sz="1200" b="1">
                <a:latin typeface="Arial" panose="020B0604020202020204" pitchFamily="34" charset="0"/>
                <a:ea typeface="MS PGothic" panose="020B0600070205080204" pitchFamily="34" charset="-128"/>
                <a:cs typeface="Arial" panose="020B0604020202020204" pitchFamily="34" charset="0"/>
                <a:sym typeface="Wingdings" panose="05000000000000000000" pitchFamily="2" charset="2"/>
              </a:rPr>
              <a:t> </a:t>
            </a:r>
            <a:r>
              <a:rPr lang="en-US" altLang="en-US" sz="1200" b="1">
                <a:latin typeface="Arial" panose="020B0604020202020204" pitchFamily="34" charset="0"/>
                <a:ea typeface="MS PGothic" panose="020B0600070205080204" pitchFamily="34" charset="-128"/>
                <a:cs typeface="Arial" panose="020B0604020202020204" pitchFamily="34" charset="0"/>
              </a:rPr>
              <a:t>CO2, C+CO2 </a:t>
            </a:r>
            <a:r>
              <a:rPr lang="en-US" altLang="en-US" sz="1200" b="1">
                <a:latin typeface="Arial" panose="020B0604020202020204" pitchFamily="34" charset="0"/>
                <a:ea typeface="MS PGothic" panose="020B0600070205080204" pitchFamily="34" charset="-128"/>
                <a:cs typeface="Arial" panose="020B0604020202020204" pitchFamily="34" charset="0"/>
                <a:sym typeface="Wingdings" panose="05000000000000000000" pitchFamily="2" charset="2"/>
              </a:rPr>
              <a:t> </a:t>
            </a:r>
            <a:r>
              <a:rPr lang="en-US" altLang="en-US" sz="1200" b="1">
                <a:latin typeface="Arial" panose="020B0604020202020204" pitchFamily="34" charset="0"/>
                <a:ea typeface="MS PGothic" panose="020B0600070205080204" pitchFamily="34" charset="-128"/>
                <a:cs typeface="Arial" panose="020B0604020202020204" pitchFamily="34" charset="0"/>
              </a:rPr>
              <a:t>2CO, C+H2O </a:t>
            </a:r>
            <a:r>
              <a:rPr lang="en-US" altLang="en-US" sz="1200" b="1">
                <a:latin typeface="Arial" panose="020B0604020202020204" pitchFamily="34" charset="0"/>
                <a:ea typeface="MS PGothic" panose="020B0600070205080204" pitchFamily="34" charset="-128"/>
                <a:cs typeface="Arial" panose="020B0604020202020204" pitchFamily="34" charset="0"/>
                <a:sym typeface="Wingdings" panose="05000000000000000000" pitchFamily="2" charset="2"/>
              </a:rPr>
              <a:t> </a:t>
            </a:r>
            <a:r>
              <a:rPr lang="en-US" altLang="en-US" sz="1200" b="1">
                <a:latin typeface="Arial" panose="020B0604020202020204" pitchFamily="34" charset="0"/>
                <a:ea typeface="MS PGothic" panose="020B0600070205080204" pitchFamily="34" charset="-128"/>
                <a:cs typeface="Arial" panose="020B0604020202020204" pitchFamily="34" charset="0"/>
              </a:rPr>
              <a:t>CO+H2, C+2H2 </a:t>
            </a:r>
            <a:r>
              <a:rPr lang="en-US" altLang="en-US" sz="1200" b="1">
                <a:latin typeface="Arial" panose="020B0604020202020204" pitchFamily="34" charset="0"/>
                <a:ea typeface="MS PGothic" panose="020B0600070205080204" pitchFamily="34" charset="-128"/>
                <a:cs typeface="Arial" panose="020B0604020202020204" pitchFamily="34" charset="0"/>
                <a:sym typeface="Wingdings" panose="05000000000000000000" pitchFamily="2" charset="2"/>
              </a:rPr>
              <a:t> </a:t>
            </a:r>
            <a:r>
              <a:rPr lang="en-US" altLang="en-US" sz="1200" b="1">
                <a:latin typeface="Arial" panose="020B0604020202020204" pitchFamily="34" charset="0"/>
                <a:ea typeface="MS PGothic" panose="020B0600070205080204" pitchFamily="34" charset="-128"/>
                <a:cs typeface="Arial" panose="020B0604020202020204" pitchFamily="34" charset="0"/>
              </a:rPr>
              <a:t>CH4  </a:t>
            </a:r>
          </a:p>
          <a:p>
            <a:pPr>
              <a:lnSpc>
                <a:spcPct val="90000"/>
              </a:lnSpc>
              <a:spcBef>
                <a:spcPct val="0"/>
              </a:spcBef>
              <a:buFontTx/>
              <a:buNone/>
            </a:pPr>
            <a:r>
              <a:rPr lang="en-US" altLang="en-US" sz="1600" b="1">
                <a:latin typeface="Arial" panose="020B0604020202020204" pitchFamily="34" charset="0"/>
                <a:ea typeface="MS PGothic" panose="020B0600070205080204" pitchFamily="34" charset="-128"/>
                <a:cs typeface="Arial" panose="020B0604020202020204" pitchFamily="34" charset="0"/>
              </a:rPr>
              <a:t>Equipment		: Storage, Feeder, Reactor and Cyclone </a:t>
            </a:r>
          </a:p>
        </p:txBody>
      </p:sp>
    </p:spTree>
  </p:cSld>
  <p:clrMapOvr>
    <a:masterClrMapping/>
  </p:clrMapOvr>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a:spLocks noChangeArrowheads="1"/>
          </p:cNvSpPr>
          <p:nvPr/>
        </p:nvSpPr>
        <p:spPr bwMode="auto">
          <a:xfrm>
            <a:off x="0" y="0"/>
            <a:ext cx="9144000" cy="836613"/>
          </a:xfrm>
          <a:prstGeom prst="rect">
            <a:avLst/>
          </a:prstGeom>
          <a:solidFill>
            <a:srgbClr val="FF0000"/>
          </a:solid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fontAlgn="auto">
              <a:spcBef>
                <a:spcPts val="0"/>
              </a:spcBef>
              <a:spcAft>
                <a:spcPts val="0"/>
              </a:spcAft>
              <a:defRPr/>
            </a:pPr>
            <a:endParaRPr lang="en-US">
              <a:solidFill>
                <a:schemeClr val="lt1"/>
              </a:solidFill>
              <a:latin typeface="+mn-lt"/>
            </a:endParaRPr>
          </a:p>
        </p:txBody>
      </p:sp>
      <p:sp>
        <p:nvSpPr>
          <p:cNvPr id="627715" name="TextBox 1"/>
          <p:cNvSpPr txBox="1">
            <a:spLocks noChangeArrowheads="1"/>
          </p:cNvSpPr>
          <p:nvPr/>
        </p:nvSpPr>
        <p:spPr bwMode="auto">
          <a:xfrm>
            <a:off x="179388" y="169863"/>
            <a:ext cx="72009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2800" b="1">
                <a:solidFill>
                  <a:schemeClr val="bg1"/>
                </a:solidFill>
                <a:latin typeface="Arial" panose="020B0604020202020204" pitchFamily="34" charset="0"/>
                <a:cs typeface="Angsana New" panose="02020603050405020304" pitchFamily="18" charset="-34"/>
              </a:rPr>
              <a:t>SCL </a:t>
            </a:r>
            <a:r>
              <a:rPr lang="en-US" altLang="en-US" sz="2800" b="1">
                <a:solidFill>
                  <a:srgbClr val="FFFF00"/>
                </a:solidFill>
                <a:latin typeface="Arial" panose="020B0604020202020204" pitchFamily="34" charset="0"/>
                <a:cs typeface="Angsana New" panose="02020603050405020304" pitchFamily="18" charset="-34"/>
              </a:rPr>
              <a:t>GASIFIER </a:t>
            </a:r>
            <a:r>
              <a:rPr lang="en-US" altLang="en-US" sz="2800" b="1">
                <a:solidFill>
                  <a:schemeClr val="bg1"/>
                </a:solidFill>
                <a:latin typeface="Arial" panose="020B0604020202020204" pitchFamily="34" charset="0"/>
                <a:cs typeface="Angsana New" panose="02020603050405020304" pitchFamily="18" charset="-34"/>
              </a:rPr>
              <a:t>DESIGN CAPACITY</a:t>
            </a:r>
          </a:p>
        </p:txBody>
      </p:sp>
      <p:pic>
        <p:nvPicPr>
          <p:cNvPr id="627716" name="Picture 1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476375" y="3798888"/>
            <a:ext cx="2867025" cy="2151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7717" name="Picture 12"/>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584700" y="3795713"/>
            <a:ext cx="2867025" cy="2149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7718" name="Picture 13"/>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69900" y="1052513"/>
            <a:ext cx="2724150" cy="2043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7719" name="Picture 14"/>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3284538" y="1062038"/>
            <a:ext cx="2693987" cy="202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start up before feed.MPG"/>
          <p:cNvPicPr>
            <a:picLocks noRot="1" noChangeAspect="1"/>
          </p:cNvPicPr>
          <p:nvPr>
            <a:videoFile r:link="rId1"/>
          </p:nvPr>
        </p:nvPicPr>
        <p:blipFill>
          <a:blip r:embed="rId7">
            <a:extLst>
              <a:ext uri="{28A0092B-C50C-407E-A947-70E740481C1C}">
                <a14:useLocalDpi xmlns:a14="http://schemas.microsoft.com/office/drawing/2010/main" val="0"/>
              </a:ext>
            </a:extLst>
          </a:blip>
          <a:srcRect/>
          <a:stretch>
            <a:fillRect/>
          </a:stretch>
        </p:blipFill>
        <p:spPr bwMode="auto">
          <a:xfrm>
            <a:off x="6113463" y="1052513"/>
            <a:ext cx="2851150" cy="198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7721" name="TextBox 3"/>
          <p:cNvSpPr txBox="1">
            <a:spLocks noChangeArrowheads="1"/>
          </p:cNvSpPr>
          <p:nvPr/>
        </p:nvSpPr>
        <p:spPr bwMode="auto">
          <a:xfrm>
            <a:off x="468313" y="3111500"/>
            <a:ext cx="2590800" cy="339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600">
                <a:solidFill>
                  <a:srgbClr val="0000FF"/>
                </a:solidFill>
              </a:rPr>
              <a:t>Bark conveyor</a:t>
            </a:r>
            <a:endParaRPr lang="th-TH" altLang="en-US" sz="1600">
              <a:solidFill>
                <a:srgbClr val="0000FF"/>
              </a:solidFill>
            </a:endParaRPr>
          </a:p>
        </p:txBody>
      </p:sp>
      <p:sp>
        <p:nvSpPr>
          <p:cNvPr id="627722" name="TextBox 12"/>
          <p:cNvSpPr txBox="1">
            <a:spLocks noChangeArrowheads="1"/>
          </p:cNvSpPr>
          <p:nvPr/>
        </p:nvSpPr>
        <p:spPr bwMode="auto">
          <a:xfrm>
            <a:off x="3284538" y="3082925"/>
            <a:ext cx="2592387" cy="339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600">
                <a:solidFill>
                  <a:srgbClr val="0000FF"/>
                </a:solidFill>
              </a:rPr>
              <a:t>Nozzle </a:t>
            </a:r>
            <a:endParaRPr lang="th-TH" altLang="en-US" sz="1600">
              <a:solidFill>
                <a:srgbClr val="0000FF"/>
              </a:solidFill>
            </a:endParaRPr>
          </a:p>
        </p:txBody>
      </p:sp>
      <p:sp>
        <p:nvSpPr>
          <p:cNvPr id="627723" name="TextBox 13"/>
          <p:cNvSpPr txBox="1">
            <a:spLocks noChangeArrowheads="1"/>
          </p:cNvSpPr>
          <p:nvPr/>
        </p:nvSpPr>
        <p:spPr bwMode="auto">
          <a:xfrm>
            <a:off x="6242050" y="3063875"/>
            <a:ext cx="2592388" cy="338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600">
                <a:solidFill>
                  <a:srgbClr val="0000FF"/>
                </a:solidFill>
              </a:rPr>
              <a:t>Fluidized Bed</a:t>
            </a:r>
            <a:endParaRPr lang="th-TH" altLang="en-US" sz="1600">
              <a:solidFill>
                <a:srgbClr val="0000FF"/>
              </a:solidFill>
            </a:endParaRPr>
          </a:p>
        </p:txBody>
      </p:sp>
      <p:sp>
        <p:nvSpPr>
          <p:cNvPr id="627724" name="TextBox 14"/>
          <p:cNvSpPr txBox="1">
            <a:spLocks noChangeArrowheads="1"/>
          </p:cNvSpPr>
          <p:nvPr/>
        </p:nvSpPr>
        <p:spPr bwMode="auto">
          <a:xfrm>
            <a:off x="1612900" y="5970588"/>
            <a:ext cx="2592388" cy="3381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600">
                <a:solidFill>
                  <a:srgbClr val="0000FF"/>
                </a:solidFill>
              </a:rPr>
              <a:t>Syn Gas generated</a:t>
            </a:r>
            <a:endParaRPr lang="th-TH" altLang="en-US" sz="1600">
              <a:solidFill>
                <a:srgbClr val="0000FF"/>
              </a:solidFill>
            </a:endParaRPr>
          </a:p>
        </p:txBody>
      </p:sp>
      <p:sp>
        <p:nvSpPr>
          <p:cNvPr id="627725" name="TextBox 15"/>
          <p:cNvSpPr txBox="1">
            <a:spLocks noChangeArrowheads="1"/>
          </p:cNvSpPr>
          <p:nvPr/>
        </p:nvSpPr>
        <p:spPr bwMode="auto">
          <a:xfrm>
            <a:off x="4722813" y="5973763"/>
            <a:ext cx="2592387" cy="339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600">
                <a:solidFill>
                  <a:srgbClr val="0000FF"/>
                </a:solidFill>
              </a:rPr>
              <a:t>Syn Gas flame</a:t>
            </a:r>
            <a:endParaRPr lang="th-TH" altLang="en-US" sz="1600">
              <a:solidFill>
                <a:srgbClr val="0000FF"/>
              </a:solidFill>
            </a:endParaRPr>
          </a:p>
        </p:txBody>
      </p:sp>
    </p:spTree>
  </p:cSld>
  <p:clrMapOvr>
    <a:masterClrMapping/>
  </p:clrMapOvr>
  <p:timing>
    <p:tnLst>
      <p:par>
        <p:cTn id="1" dur="indefinite" restart="never" nodeType="tmRoot">
          <p:childTnLst>
            <p:video>
              <p:cMediaNode>
                <p:cTn id="2" fill="hold" display="0">
                  <p:stCondLst>
                    <p:cond delay="indefinite"/>
                  </p:stCondLst>
                  <p:endCondLst>
                    <p:cond evt="onNext" delay="0">
                      <p:tgtEl>
                        <p:sldTgt/>
                      </p:tgtEl>
                    </p:cond>
                    <p:cond evt="onPrev" delay="0">
                      <p:tgtEl>
                        <p:sldTgt/>
                      </p:tgtEl>
                    </p:cond>
                  </p:endCondLst>
                </p:cTn>
                <p:tgtEl>
                  <p:spTgt spid="16"/>
                </p:tgtEl>
              </p:cMediaNode>
            </p:video>
          </p:childTnLst>
        </p:cTn>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2834" name="Title 1"/>
          <p:cNvSpPr>
            <a:spLocks noGrp="1"/>
          </p:cNvSpPr>
          <p:nvPr>
            <p:ph type="title"/>
          </p:nvPr>
        </p:nvSpPr>
        <p:spPr>
          <a:xfrm>
            <a:off x="441325" y="2660650"/>
            <a:ext cx="8229600" cy="1143000"/>
          </a:xfrm>
        </p:spPr>
        <p:txBody>
          <a:bodyPr/>
          <a:lstStyle/>
          <a:p>
            <a:pPr eaLnBrk="1" hangingPunct="1"/>
            <a:r>
              <a:rPr lang="en-US" altLang="en-US" sz="3600" b="1" smtClean="0">
                <a:latin typeface="Tahoma" panose="020B0604030504040204" pitchFamily="34" charset="0"/>
                <a:cs typeface="Tahoma" panose="020B0604030504040204" pitchFamily="34" charset="0"/>
              </a:rPr>
              <a:t>7. Properties and Testing of pulp</a:t>
            </a:r>
          </a:p>
        </p:txBody>
      </p:sp>
    </p:spTree>
  </p:cSld>
  <p:clrMapOvr>
    <a:masterClrMapping/>
  </p:clrMapOvr>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7. Properties and Testing of pulp</a:t>
            </a:r>
          </a:p>
        </p:txBody>
      </p:sp>
      <p:sp>
        <p:nvSpPr>
          <p:cNvPr id="210947" name="Rectangle 3"/>
          <p:cNvSpPr txBox="1">
            <a:spLocks noChangeArrowheads="1"/>
          </p:cNvSpPr>
          <p:nvPr/>
        </p:nvSpPr>
        <p:spPr bwMode="auto">
          <a:xfrm>
            <a:off x="201613" y="1571625"/>
            <a:ext cx="8677275" cy="5005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484188" indent="-381000">
              <a:spcBef>
                <a:spcPct val="20000"/>
              </a:spcBef>
              <a:buFont typeface="Arial" panose="020B0604020202020204" pitchFamily="34" charset="0"/>
              <a:buChar char="•"/>
              <a:tabLst>
                <a:tab pos="3048000" algn="l"/>
                <a:tab pos="3810000" algn="l"/>
              </a:tabLst>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tabLst>
                <a:tab pos="3048000" algn="l"/>
                <a:tab pos="3810000" algn="l"/>
              </a:tabLst>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tabLst>
                <a:tab pos="3048000" algn="l"/>
                <a:tab pos="3810000" algn="l"/>
              </a:tabLst>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tabLst>
                <a:tab pos="3048000" algn="l"/>
                <a:tab pos="3810000" algn="l"/>
              </a:tabLst>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tabLst>
                <a:tab pos="3048000" algn="l"/>
                <a:tab pos="3810000" algn="l"/>
              </a:tabLst>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tabLst>
                <a:tab pos="3048000" algn="l"/>
                <a:tab pos="3810000" algn="l"/>
              </a:tabLst>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tabLst>
                <a:tab pos="3048000" algn="l"/>
                <a:tab pos="3810000" algn="l"/>
              </a:tabLst>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tabLst>
                <a:tab pos="3048000" algn="l"/>
                <a:tab pos="3810000" algn="l"/>
              </a:tabLst>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tabLst>
                <a:tab pos="3048000" algn="l"/>
                <a:tab pos="3810000" algn="l"/>
              </a:tabLst>
              <a:defRPr sz="2000">
                <a:solidFill>
                  <a:schemeClr val="tx1"/>
                </a:solidFill>
                <a:latin typeface="Calibri" panose="020F0502020204030204" pitchFamily="34" charset="0"/>
              </a:defRPr>
            </a:lvl9pPr>
          </a:lstStyle>
          <a:p>
            <a:pPr>
              <a:lnSpc>
                <a:spcPct val="90000"/>
              </a:lnSpc>
              <a:buClr>
                <a:schemeClr val="bg1"/>
              </a:buClr>
              <a:buFont typeface="Wingdings" panose="05000000000000000000" pitchFamily="2" charset="2"/>
              <a:buChar char="Ø"/>
            </a:pPr>
            <a:r>
              <a:rPr lang="en-US" altLang="en-US" sz="2000"/>
              <a:t>Raw material control	</a:t>
            </a:r>
            <a:r>
              <a:rPr lang="th-TH" altLang="en-US" sz="2000"/>
              <a:t>	</a:t>
            </a:r>
            <a:r>
              <a:rPr lang="en-US" altLang="en-US" sz="1800"/>
              <a:t>- monitor incoming raw material quality</a:t>
            </a:r>
          </a:p>
          <a:p>
            <a:pPr>
              <a:lnSpc>
                <a:spcPct val="90000"/>
              </a:lnSpc>
              <a:buClr>
                <a:schemeClr val="bg1"/>
              </a:buClr>
              <a:buFont typeface="Wingdings" panose="05000000000000000000" pitchFamily="2" charset="2"/>
              <a:buChar char="Ø"/>
            </a:pPr>
            <a:r>
              <a:rPr lang="en-US" altLang="en-US" sz="2000"/>
              <a:t>Process control		</a:t>
            </a:r>
            <a:r>
              <a:rPr lang="en-US" altLang="en-US" sz="1800"/>
              <a:t>- control process within  specified   limit</a:t>
            </a:r>
          </a:p>
          <a:p>
            <a:pPr>
              <a:lnSpc>
                <a:spcPct val="90000"/>
              </a:lnSpc>
              <a:buClr>
                <a:schemeClr val="bg1"/>
              </a:buClr>
              <a:buFont typeface="Wingdings" panose="05000000000000000000" pitchFamily="2" charset="2"/>
              <a:buChar char="Ø"/>
            </a:pPr>
            <a:r>
              <a:rPr lang="en-US" altLang="en-US" sz="2000"/>
              <a:t>Quality control		</a:t>
            </a:r>
            <a:r>
              <a:rPr lang="en-US" altLang="en-US" sz="1800"/>
              <a:t>- monitor product quality</a:t>
            </a:r>
          </a:p>
          <a:p>
            <a:pPr>
              <a:lnSpc>
                <a:spcPct val="90000"/>
              </a:lnSpc>
              <a:buFont typeface="Wingdings" panose="05000000000000000000" pitchFamily="2" charset="2"/>
              <a:buNone/>
            </a:pPr>
            <a:r>
              <a:rPr lang="en-US" altLang="en-US" sz="1800"/>
              <a:t>			- minimize  off-grade  production</a:t>
            </a:r>
          </a:p>
          <a:p>
            <a:pPr>
              <a:lnSpc>
                <a:spcPct val="90000"/>
              </a:lnSpc>
              <a:buClr>
                <a:schemeClr val="bg1"/>
              </a:buClr>
              <a:buFont typeface="Wingdings" panose="05000000000000000000" pitchFamily="2" charset="2"/>
              <a:buChar char="Ø"/>
            </a:pPr>
            <a:r>
              <a:rPr lang="en-US" altLang="en-US" sz="2000"/>
              <a:t>Pollution control		</a:t>
            </a:r>
            <a:r>
              <a:rPr lang="en-US" altLang="en-US" sz="1800"/>
              <a:t>- control waste discharges</a:t>
            </a:r>
            <a:r>
              <a:rPr lang="en-US" altLang="en-US" sz="2000"/>
              <a:t> </a:t>
            </a:r>
          </a:p>
          <a:p>
            <a:pPr>
              <a:lnSpc>
                <a:spcPct val="90000"/>
              </a:lnSpc>
              <a:buFont typeface="Wingdings" panose="05000000000000000000" pitchFamily="2" charset="2"/>
              <a:buNone/>
            </a:pPr>
            <a:r>
              <a:rPr lang="en-US" altLang="en-US" sz="2000"/>
              <a:t>			</a:t>
            </a:r>
            <a:r>
              <a:rPr lang="en-US" altLang="en-US" sz="1800"/>
              <a:t>- control fiber loss</a:t>
            </a:r>
            <a:r>
              <a:rPr lang="en-US" altLang="en-US" sz="2000"/>
              <a:t> </a:t>
            </a:r>
          </a:p>
          <a:p>
            <a:pPr>
              <a:lnSpc>
                <a:spcPct val="90000"/>
              </a:lnSpc>
              <a:buClr>
                <a:schemeClr val="bg1"/>
              </a:buClr>
              <a:buFont typeface="Wingdings" panose="05000000000000000000" pitchFamily="2" charset="2"/>
              <a:buChar char="Ø"/>
            </a:pPr>
            <a:r>
              <a:rPr lang="en-US" altLang="en-US" sz="2000"/>
              <a:t>Process Monitoring	</a:t>
            </a:r>
            <a:r>
              <a:rPr lang="th-TH" altLang="en-US" sz="2000"/>
              <a:t>	</a:t>
            </a:r>
            <a:r>
              <a:rPr lang="en-US" altLang="en-US" sz="1800"/>
              <a:t>- assess  performance</a:t>
            </a:r>
          </a:p>
          <a:p>
            <a:pPr>
              <a:lnSpc>
                <a:spcPct val="90000"/>
              </a:lnSpc>
              <a:buFont typeface="Wingdings" panose="05000000000000000000" pitchFamily="2" charset="2"/>
              <a:buNone/>
            </a:pPr>
            <a:r>
              <a:rPr lang="en-US" altLang="en-US" sz="2000"/>
              <a:t>			</a:t>
            </a:r>
            <a:r>
              <a:rPr lang="en-US" altLang="en-US" sz="1800"/>
              <a:t>-  follow  progress  toward  process </a:t>
            </a:r>
          </a:p>
          <a:p>
            <a:pPr>
              <a:lnSpc>
                <a:spcPct val="90000"/>
              </a:lnSpc>
              <a:buFont typeface="Wingdings" panose="05000000000000000000" pitchFamily="2" charset="2"/>
              <a:buNone/>
            </a:pPr>
            <a:r>
              <a:rPr lang="en-US" altLang="en-US" sz="1800"/>
              <a:t>			   objectives</a:t>
            </a:r>
          </a:p>
          <a:p>
            <a:pPr>
              <a:lnSpc>
                <a:spcPct val="90000"/>
              </a:lnSpc>
              <a:buFont typeface="Wingdings" panose="05000000000000000000" pitchFamily="2" charset="2"/>
              <a:buNone/>
            </a:pPr>
            <a:r>
              <a:rPr lang="en-US" altLang="en-US" sz="1800"/>
              <a:t>			-  compare performance with  other mills</a:t>
            </a:r>
          </a:p>
          <a:p>
            <a:pPr>
              <a:lnSpc>
                <a:spcPct val="90000"/>
              </a:lnSpc>
              <a:buFont typeface="Wingdings" panose="05000000000000000000" pitchFamily="2" charset="2"/>
              <a:buNone/>
            </a:pPr>
            <a:r>
              <a:rPr lang="en-US" altLang="en-US" sz="1800"/>
              <a:t>			-  pinpoint  problem area.</a:t>
            </a:r>
          </a:p>
          <a:p>
            <a:pPr>
              <a:lnSpc>
                <a:spcPct val="90000"/>
              </a:lnSpc>
              <a:buClr>
                <a:schemeClr val="bg1"/>
              </a:buClr>
              <a:buFont typeface="Wingdings" panose="05000000000000000000" pitchFamily="2" charset="2"/>
              <a:buChar char="Ø"/>
            </a:pPr>
            <a:r>
              <a:rPr lang="en-US" altLang="en-US" sz="2000"/>
              <a:t>Monetary control		</a:t>
            </a:r>
            <a:r>
              <a:rPr lang="en-US" altLang="en-US" sz="1800"/>
              <a:t>- establish  cost  breakdown</a:t>
            </a:r>
          </a:p>
          <a:p>
            <a:pPr>
              <a:lnSpc>
                <a:spcPct val="90000"/>
              </a:lnSpc>
              <a:buFont typeface="Wingdings" panose="05000000000000000000" pitchFamily="2" charset="2"/>
              <a:buNone/>
            </a:pPr>
            <a:r>
              <a:rPr lang="en-US" altLang="en-US" sz="1800"/>
              <a:t>			-  provide  monetary  basis  for  </a:t>
            </a:r>
          </a:p>
          <a:p>
            <a:pPr>
              <a:lnSpc>
                <a:spcPct val="90000"/>
              </a:lnSpc>
              <a:buFont typeface="Wingdings" panose="05000000000000000000" pitchFamily="2" charset="2"/>
              <a:buNone/>
            </a:pPr>
            <a:r>
              <a:rPr lang="en-US" altLang="en-US" sz="1800"/>
              <a:t>			   consideration of alternative proposals</a:t>
            </a:r>
          </a:p>
          <a:p>
            <a:pPr>
              <a:lnSpc>
                <a:spcPct val="90000"/>
              </a:lnSpc>
              <a:buFont typeface="Wingdings" panose="05000000000000000000" pitchFamily="2" charset="2"/>
              <a:buNone/>
            </a:pPr>
            <a:r>
              <a:rPr lang="en-US" altLang="en-US" sz="1800"/>
              <a:t>			-  pinpoint high  cost  area</a:t>
            </a:r>
            <a:endParaRPr lang="en-US" altLang="en-US" sz="2000"/>
          </a:p>
        </p:txBody>
      </p:sp>
      <p:sp>
        <p:nvSpPr>
          <p:cNvPr id="2" name="Rectangle 1"/>
          <p:cNvSpPr/>
          <p:nvPr/>
        </p:nvSpPr>
        <p:spPr>
          <a:xfrm>
            <a:off x="655638" y="881063"/>
            <a:ext cx="4049712" cy="646112"/>
          </a:xfrm>
          <a:prstGeom prst="rect">
            <a:avLst/>
          </a:prstGeom>
        </p:spPr>
        <p:txBody>
          <a:bodyPr wrap="none">
            <a:spAutoFit/>
          </a:bodyPr>
          <a:lstStyle/>
          <a:p>
            <a:pPr>
              <a:defRPr/>
            </a:pPr>
            <a:r>
              <a:rPr lang="en-US" altLang="en-US" sz="3600" b="1" dirty="0">
                <a:solidFill>
                  <a:srgbClr val="FF0000"/>
                </a:solidFill>
                <a:effectLst>
                  <a:outerShdw blurRad="38100" dist="38100" dir="2700000" algn="tl">
                    <a:srgbClr val="000000"/>
                  </a:outerShdw>
                </a:effectLst>
                <a:latin typeface="Angsana New" panose="02020603050405020304" pitchFamily="18" charset="-34"/>
              </a:rPr>
              <a:t>OBJECTIVES OF TESTING</a:t>
            </a:r>
            <a:endParaRPr lang="en-US" sz="3600" dirty="0">
              <a:solidFill>
                <a:srgbClr val="FF0000"/>
              </a:solidFill>
            </a:endParaRPr>
          </a:p>
        </p:txBody>
      </p:sp>
    </p:spTree>
    <p:extLst>
      <p:ext uri="{BB962C8B-B14F-4D97-AF65-F5344CB8AC3E}">
        <p14:creationId xmlns:p14="http://schemas.microsoft.com/office/powerpoint/2010/main" val="2327072025"/>
      </p:ext>
    </p:extLst>
  </p:cSld>
  <p:clrMapOvr>
    <a:masterClrMapping/>
  </p:clrMapOvr>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7. Properties and Testing of pulp</a:t>
            </a:r>
          </a:p>
        </p:txBody>
      </p:sp>
      <p:sp>
        <p:nvSpPr>
          <p:cNvPr id="212995" name="Rectangle 2"/>
          <p:cNvSpPr txBox="1">
            <a:spLocks noChangeArrowheads="1"/>
          </p:cNvSpPr>
          <p:nvPr/>
        </p:nvSpPr>
        <p:spPr bwMode="auto">
          <a:xfrm>
            <a:off x="533400" y="1474788"/>
            <a:ext cx="8480425" cy="1400175"/>
          </a:xfrm>
          <a:prstGeom prst="rect">
            <a:avLst/>
          </a:prstGeom>
          <a:noFill/>
          <a:ln>
            <a:noFill/>
          </a:ln>
          <a:extLst>
            <a:ext uri="{909E8E84-426E-40DD-AFC4-6F175D3DCCD1}">
              <a14:hiddenFill xmlns:a14="http://schemas.microsoft.com/office/drawing/2010/main">
                <a:solidFill>
                  <a:srgbClr val="FFCC99"/>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482600" indent="-482600">
              <a:spcBef>
                <a:spcPct val="20000"/>
              </a:spcBef>
              <a:buFont typeface="Arial" panose="020B0604020202020204" pitchFamily="34" charset="0"/>
              <a:buChar char="•"/>
              <a:tabLst>
                <a:tab pos="1333500" algn="l"/>
              </a:tabLst>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tabLst>
                <a:tab pos="1333500" algn="l"/>
              </a:tabLst>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tabLst>
                <a:tab pos="1333500" algn="l"/>
              </a:tabLst>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tabLst>
                <a:tab pos="1333500" algn="l"/>
              </a:tabLst>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tabLst>
                <a:tab pos="1333500" algn="l"/>
              </a:tabLst>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tabLst>
                <a:tab pos="1333500" algn="l"/>
              </a:tabLst>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tabLst>
                <a:tab pos="1333500" algn="l"/>
              </a:tabLst>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tabLst>
                <a:tab pos="1333500" algn="l"/>
              </a:tabLst>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tabLst>
                <a:tab pos="1333500" algn="l"/>
              </a:tabLst>
              <a:defRPr sz="2000">
                <a:solidFill>
                  <a:schemeClr val="tx1"/>
                </a:solidFill>
                <a:latin typeface="Calibri" panose="020F0502020204030204" pitchFamily="34" charset="0"/>
              </a:defRPr>
            </a:lvl9pPr>
          </a:lstStyle>
          <a:p>
            <a:pPr lvl="1">
              <a:lnSpc>
                <a:spcPct val="90000"/>
              </a:lnSpc>
            </a:pPr>
            <a:r>
              <a:rPr lang="en-US" altLang="en-US" sz="2000" b="1">
                <a:solidFill>
                  <a:srgbClr val="663300"/>
                </a:solidFill>
                <a:latin typeface="Tahoma" panose="020B0604030504040204" pitchFamily="34" charset="0"/>
                <a:cs typeface="Tahoma" panose="020B0604030504040204" pitchFamily="34" charset="0"/>
              </a:rPr>
              <a:t>Wood density   </a:t>
            </a:r>
          </a:p>
          <a:p>
            <a:pPr lvl="1">
              <a:lnSpc>
                <a:spcPct val="90000"/>
              </a:lnSpc>
            </a:pPr>
            <a:r>
              <a:rPr lang="en-US" altLang="en-US" sz="2000" b="1">
                <a:solidFill>
                  <a:srgbClr val="663300"/>
                </a:solidFill>
                <a:latin typeface="Tahoma" panose="020B0604030504040204" pitchFamily="34" charset="0"/>
                <a:cs typeface="Tahoma" panose="020B0604030504040204" pitchFamily="34" charset="0"/>
              </a:rPr>
              <a:t>Fiber Morphology </a:t>
            </a:r>
          </a:p>
          <a:p>
            <a:pPr lvl="1">
              <a:lnSpc>
                <a:spcPct val="90000"/>
              </a:lnSpc>
            </a:pPr>
            <a:r>
              <a:rPr lang="en-US" altLang="en-US" sz="2000" b="1">
                <a:solidFill>
                  <a:srgbClr val="663300"/>
                </a:solidFill>
                <a:latin typeface="Tahoma" panose="020B0604030504040204" pitchFamily="34" charset="0"/>
                <a:cs typeface="Tahoma" panose="020B0604030504040204" pitchFamily="34" charset="0"/>
              </a:rPr>
              <a:t>Chemical compositions of wood </a:t>
            </a:r>
          </a:p>
          <a:p>
            <a:pPr>
              <a:lnSpc>
                <a:spcPct val="90000"/>
              </a:lnSpc>
              <a:buFont typeface="Wingdings" panose="05000000000000000000" pitchFamily="2" charset="2"/>
              <a:buNone/>
            </a:pPr>
            <a:r>
              <a:rPr lang="en-US" altLang="en-US" sz="2000" b="1">
                <a:solidFill>
                  <a:srgbClr val="663300"/>
                </a:solidFill>
                <a:latin typeface="Tahoma" panose="020B0604030504040204" pitchFamily="34" charset="0"/>
                <a:cs typeface="Tahoma" panose="020B0604030504040204" pitchFamily="34" charset="0"/>
              </a:rPr>
              <a:t>          (Cellulose , Hemicellulose , Lignin , Extractive)</a:t>
            </a:r>
          </a:p>
          <a:p>
            <a:pPr>
              <a:lnSpc>
                <a:spcPct val="90000"/>
              </a:lnSpc>
              <a:buFont typeface="Wingdings" panose="05000000000000000000" pitchFamily="2" charset="2"/>
              <a:buNone/>
            </a:pPr>
            <a:r>
              <a:rPr lang="en-US" altLang="en-US" sz="2000" b="1">
                <a:latin typeface="Tahoma" panose="020B0604030504040204" pitchFamily="34" charset="0"/>
                <a:cs typeface="Tahoma" panose="020B0604030504040204" pitchFamily="34" charset="0"/>
              </a:rPr>
              <a:t>	 </a:t>
            </a:r>
            <a:endParaRPr lang="en-US" altLang="en-US" sz="2000" b="1">
              <a:solidFill>
                <a:srgbClr val="663300"/>
              </a:solidFill>
              <a:latin typeface="Tahoma" panose="020B0604030504040204" pitchFamily="34" charset="0"/>
              <a:cs typeface="Tahoma" panose="020B0604030504040204" pitchFamily="34" charset="0"/>
            </a:endParaRPr>
          </a:p>
        </p:txBody>
      </p:sp>
      <p:sp>
        <p:nvSpPr>
          <p:cNvPr id="212996" name="Rectangle 1"/>
          <p:cNvSpPr>
            <a:spLocks noChangeArrowheads="1"/>
          </p:cNvSpPr>
          <p:nvPr/>
        </p:nvSpPr>
        <p:spPr bwMode="auto">
          <a:xfrm>
            <a:off x="533400" y="950913"/>
            <a:ext cx="74183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b="1"/>
              <a:t>Wood Properties – To define wood characteristic</a:t>
            </a:r>
          </a:p>
        </p:txBody>
      </p:sp>
      <p:sp>
        <p:nvSpPr>
          <p:cNvPr id="212997" name="Rectangle 1026"/>
          <p:cNvSpPr txBox="1">
            <a:spLocks noChangeArrowheads="1"/>
          </p:cNvSpPr>
          <p:nvPr/>
        </p:nvSpPr>
        <p:spPr bwMode="auto">
          <a:xfrm>
            <a:off x="263525" y="3324225"/>
            <a:ext cx="263683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buSzPct val="90000"/>
              <a:buFont typeface="Monotype Sorts" pitchFamily="2" charset="2"/>
              <a:buNone/>
            </a:pPr>
            <a:r>
              <a:rPr lang="en-US" altLang="en-US" sz="2000" b="1">
                <a:latin typeface="Comic Sans MS" panose="030F0702030302020204" pitchFamily="66" charset="0"/>
              </a:rPr>
              <a:t>Fiber Classification</a:t>
            </a:r>
          </a:p>
          <a:p>
            <a:pPr>
              <a:buSzPct val="90000"/>
              <a:buFont typeface="Monotype Sorts" pitchFamily="2" charset="2"/>
              <a:buNone/>
            </a:pPr>
            <a:r>
              <a:rPr lang="en-US" altLang="en-US" sz="2000" b="1">
                <a:solidFill>
                  <a:srgbClr val="438E00"/>
                </a:solidFill>
                <a:latin typeface="Comic Sans MS" panose="030F0702030302020204" pitchFamily="66" charset="0"/>
              </a:rPr>
              <a:t>  </a:t>
            </a:r>
            <a:r>
              <a:rPr lang="en-US" altLang="en-US" sz="2000" b="1">
                <a:solidFill>
                  <a:srgbClr val="438E00"/>
                </a:solidFill>
                <a:latin typeface="Comic Sans MS" panose="030F0702030302020204" pitchFamily="66" charset="0"/>
                <a:hlinkClick r:id="rId4" action="ppaction://hlinksldjump"/>
              </a:rPr>
              <a:t> </a:t>
            </a:r>
            <a:endParaRPr lang="en-US" altLang="en-US" sz="2000" b="1">
              <a:solidFill>
                <a:srgbClr val="438E00"/>
              </a:solidFill>
              <a:latin typeface="Comic Sans MS" panose="030F0702030302020204" pitchFamily="66" charset="0"/>
            </a:endParaRPr>
          </a:p>
        </p:txBody>
      </p:sp>
      <p:pic>
        <p:nvPicPr>
          <p:cNvPr id="212998" name="Picture 1030" descr="DSC000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3525" y="4056063"/>
            <a:ext cx="2692400" cy="2136775"/>
          </a:xfrm>
          <a:prstGeom prst="rect">
            <a:avLst/>
          </a:prstGeom>
          <a:noFill/>
          <a:ln w="57150" cmpd="thinThick">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212999" name="Rectangle 2"/>
          <p:cNvSpPr txBox="1">
            <a:spLocks noChangeArrowheads="1"/>
          </p:cNvSpPr>
          <p:nvPr/>
        </p:nvSpPr>
        <p:spPr bwMode="auto">
          <a:xfrm>
            <a:off x="3260725" y="3305175"/>
            <a:ext cx="4010025"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buSzPct val="90000"/>
              <a:buFont typeface="Monotype Sorts" pitchFamily="2" charset="2"/>
              <a:buNone/>
            </a:pPr>
            <a:r>
              <a:rPr lang="en-US" altLang="en-US" sz="1800" b="1">
                <a:latin typeface="Comic Sans MS" panose="030F0702030302020204" pitchFamily="66" charset="0"/>
              </a:rPr>
              <a:t>Fiber length Analyzer, </a:t>
            </a:r>
          </a:p>
          <a:p>
            <a:pPr>
              <a:buSzPct val="90000"/>
              <a:buFont typeface="Monotype Sorts" pitchFamily="2" charset="2"/>
              <a:buNone/>
            </a:pPr>
            <a:r>
              <a:rPr lang="en-US" altLang="en-US" sz="1800" b="1">
                <a:latin typeface="Comic Sans MS" panose="030F0702030302020204" pitchFamily="66" charset="0"/>
              </a:rPr>
              <a:t>Kajaani FS 200</a:t>
            </a:r>
          </a:p>
          <a:p>
            <a:pPr>
              <a:buSzPct val="90000"/>
              <a:buFont typeface="Monotype Sorts" pitchFamily="2" charset="2"/>
              <a:buNone/>
            </a:pPr>
            <a:r>
              <a:rPr lang="en-US" altLang="en-US" sz="1800" b="1">
                <a:solidFill>
                  <a:srgbClr val="438E00"/>
                </a:solidFill>
                <a:latin typeface="Comic Sans MS" panose="030F0702030302020204" pitchFamily="66" charset="0"/>
              </a:rPr>
              <a:t>  </a:t>
            </a:r>
            <a:r>
              <a:rPr lang="en-US" altLang="en-US" sz="1800" b="1">
                <a:solidFill>
                  <a:srgbClr val="438E00"/>
                </a:solidFill>
                <a:latin typeface="Comic Sans MS" panose="030F0702030302020204" pitchFamily="66" charset="0"/>
                <a:hlinkClick r:id="rId4" action="ppaction://hlinksldjump"/>
              </a:rPr>
              <a:t> </a:t>
            </a:r>
            <a:endParaRPr lang="en-US" altLang="en-US" sz="1800" b="1">
              <a:solidFill>
                <a:srgbClr val="438E00"/>
              </a:solidFill>
              <a:latin typeface="Comic Sans MS" panose="030F0702030302020204" pitchFamily="66" charset="0"/>
            </a:endParaRPr>
          </a:p>
        </p:txBody>
      </p:sp>
      <p:pic>
        <p:nvPicPr>
          <p:cNvPr id="213000" name="Picture 5" descr="DSC0007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06775" y="4052888"/>
            <a:ext cx="2952750" cy="2152650"/>
          </a:xfrm>
          <a:prstGeom prst="rect">
            <a:avLst/>
          </a:prstGeom>
          <a:noFill/>
          <a:ln w="88900" cmpd="thickThin">
            <a:solidFill>
              <a:schemeClr val="tx1"/>
            </a:solidFill>
            <a:miter lim="800000"/>
            <a:headEnd/>
            <a:tailEnd/>
          </a:ln>
          <a:extLst>
            <a:ext uri="{909E8E84-426E-40DD-AFC4-6F175D3DCCD1}">
              <a14:hiddenFill xmlns:a14="http://schemas.microsoft.com/office/drawing/2010/main">
                <a:solidFill>
                  <a:srgbClr val="FFFFFF"/>
                </a:solidFill>
              </a14:hiddenFill>
            </a:ext>
          </a:extLst>
        </p:spPr>
      </p:pic>
      <p:graphicFrame>
        <p:nvGraphicFramePr>
          <p:cNvPr id="213001" name="Object 3"/>
          <p:cNvGraphicFramePr>
            <a:graphicFrameLocks noChangeAspect="1"/>
          </p:cNvGraphicFramePr>
          <p:nvPr/>
        </p:nvGraphicFramePr>
        <p:xfrm>
          <a:off x="6680200" y="3549650"/>
          <a:ext cx="2333625" cy="3048000"/>
        </p:xfrm>
        <a:graphic>
          <a:graphicData uri="http://schemas.openxmlformats.org/presentationml/2006/ole">
            <mc:AlternateContent xmlns:mc="http://schemas.openxmlformats.org/markup-compatibility/2006">
              <mc:Choice xmlns:v="urn:schemas-microsoft-com:vml" Requires="v">
                <p:oleObj spid="_x0000_s637959" name="Photo Editor Photo" r:id="rId7" imgW="7114286" imgH="9380952" progId="MSPhotoEd.3">
                  <p:embed/>
                </p:oleObj>
              </mc:Choice>
              <mc:Fallback>
                <p:oleObj name="Photo Editor Photo" r:id="rId7" imgW="7114286" imgH="9380952" progId="MSPhotoEd.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680200" y="3549650"/>
                        <a:ext cx="2333625" cy="3048000"/>
                      </a:xfrm>
                      <a:prstGeom prst="rect">
                        <a:avLst/>
                      </a:prstGeom>
                      <a:solidFill>
                        <a:srgbClr val="FF0000"/>
                      </a:solidFill>
                      <a:ln w="57150" cmpd="thinThick">
                        <a:solidFill>
                          <a:srgbClr val="FF0000"/>
                        </a:solidFill>
                        <a:miter lim="800000"/>
                        <a:headEnd/>
                        <a:tailEnd/>
                      </a:ln>
                    </p:spPr>
                  </p:pic>
                </p:oleObj>
              </mc:Fallback>
            </mc:AlternateContent>
          </a:graphicData>
        </a:graphic>
      </p:graphicFrame>
    </p:spTree>
    <p:extLst>
      <p:ext uri="{BB962C8B-B14F-4D97-AF65-F5344CB8AC3E}">
        <p14:creationId xmlns:p14="http://schemas.microsoft.com/office/powerpoint/2010/main" val="1098706106"/>
      </p:ext>
    </p:extLst>
  </p:cSld>
  <p:clrMapOvr>
    <a:masterClrMapping/>
  </p:clrMapOvr>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7. Properties and Testing of pulp</a:t>
            </a:r>
          </a:p>
        </p:txBody>
      </p:sp>
      <p:sp>
        <p:nvSpPr>
          <p:cNvPr id="3" name="Rectangle 2"/>
          <p:cNvSpPr txBox="1">
            <a:spLocks noChangeArrowheads="1"/>
          </p:cNvSpPr>
          <p:nvPr/>
        </p:nvSpPr>
        <p:spPr bwMode="auto">
          <a:xfrm>
            <a:off x="533400" y="1484313"/>
            <a:ext cx="7977188" cy="5033962"/>
          </a:xfrm>
          <a:prstGeom prst="rect">
            <a:avLst/>
          </a:prstGeom>
          <a:noFill/>
          <a:ln>
            <a:noFill/>
          </a:ln>
          <a:extLst>
            <a:ext uri="{909E8E84-426E-40DD-AFC4-6F175D3DCCD1}">
              <a14:hiddenFill xmlns:a14="http://schemas.microsoft.com/office/drawing/2010/main">
                <a:solidFill>
                  <a:srgbClr val="FFCC99"/>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tabLst>
                <a:tab pos="1333500" algn="l"/>
              </a:tabLst>
              <a:defRPr/>
            </a:pPr>
            <a:r>
              <a:rPr lang="en-US" altLang="en-US" sz="2000" b="1" dirty="0" smtClean="0">
                <a:solidFill>
                  <a:srgbClr val="663300"/>
                </a:solidFill>
                <a:latin typeface="Tahoma" panose="020B0604030504040204" pitchFamily="34" charset="0"/>
                <a:ea typeface="Tahoma" panose="020B0604030504040204" pitchFamily="34" charset="0"/>
                <a:cs typeface="Tahoma" panose="020B0604030504040204" pitchFamily="34" charset="0"/>
              </a:rPr>
              <a:t>Kappa No.</a:t>
            </a:r>
          </a:p>
          <a:p>
            <a:pPr lvl="1">
              <a:lnSpc>
                <a:spcPct val="90000"/>
              </a:lnSpc>
              <a:tabLst>
                <a:tab pos="1333500" algn="l"/>
              </a:tabLst>
              <a:defRPr/>
            </a:pPr>
            <a:r>
              <a:rPr lang="en-US" altLang="en-US" sz="1800" dirty="0" smtClean="0">
                <a:solidFill>
                  <a:srgbClr val="663300"/>
                </a:solidFill>
                <a:latin typeface="Tahoma" panose="020B0604030504040204" pitchFamily="34" charset="0"/>
                <a:ea typeface="Tahoma" panose="020B0604030504040204" pitchFamily="34" charset="0"/>
                <a:cs typeface="Tahoma" panose="020B0604030504040204" pitchFamily="34" charset="0"/>
              </a:rPr>
              <a:t>To indicate Lignin content in pulp high Kappa No , higher lignin content</a:t>
            </a:r>
          </a:p>
          <a:p>
            <a:pPr lvl="1">
              <a:lnSpc>
                <a:spcPct val="90000"/>
              </a:lnSpc>
              <a:tabLst>
                <a:tab pos="1333500" algn="l"/>
              </a:tabLst>
              <a:defRPr/>
            </a:pPr>
            <a:r>
              <a:rPr lang="en-US" altLang="en-US" sz="1800" dirty="0" smtClean="0">
                <a:solidFill>
                  <a:srgbClr val="663300"/>
                </a:solidFill>
                <a:latin typeface="Tahoma" panose="020B0604030504040204" pitchFamily="34" charset="0"/>
                <a:ea typeface="Tahoma" panose="020B0604030504040204" pitchFamily="34" charset="0"/>
                <a:cs typeface="Tahoma" panose="020B0604030504040204" pitchFamily="34" charset="0"/>
              </a:rPr>
              <a:t>To indicate the chemical requirement for  bleaching</a:t>
            </a:r>
          </a:p>
          <a:p>
            <a:pPr>
              <a:lnSpc>
                <a:spcPct val="90000"/>
              </a:lnSpc>
              <a:tabLst>
                <a:tab pos="1333500" algn="l"/>
              </a:tabLst>
              <a:defRPr/>
            </a:pPr>
            <a:r>
              <a:rPr lang="en-US" altLang="en-US" sz="2000" b="1" dirty="0" smtClean="0">
                <a:solidFill>
                  <a:srgbClr val="663300"/>
                </a:solidFill>
                <a:latin typeface="Tahoma" panose="020B0604030504040204" pitchFamily="34" charset="0"/>
                <a:ea typeface="Tahoma" panose="020B0604030504040204" pitchFamily="34" charset="0"/>
                <a:cs typeface="Tahoma" panose="020B0604030504040204" pitchFamily="34" charset="0"/>
              </a:rPr>
              <a:t>Cellulose solution viscosity</a:t>
            </a:r>
          </a:p>
          <a:p>
            <a:pPr lvl="1">
              <a:lnSpc>
                <a:spcPct val="90000"/>
              </a:lnSpc>
              <a:tabLst>
                <a:tab pos="1333500" algn="l"/>
              </a:tabLst>
              <a:defRPr/>
            </a:pPr>
            <a:r>
              <a:rPr lang="en-US" altLang="en-US" sz="1800" dirty="0" smtClean="0">
                <a:solidFill>
                  <a:srgbClr val="663300"/>
                </a:solidFill>
                <a:latin typeface="Tahoma" panose="020B0604030504040204" pitchFamily="34" charset="0"/>
                <a:ea typeface="Tahoma" panose="020B0604030504040204" pitchFamily="34" charset="0"/>
                <a:cs typeface="Tahoma" panose="020B0604030504040204" pitchFamily="34" charset="0"/>
              </a:rPr>
              <a:t>To indicate the cellulose DP (degree of polymerization) </a:t>
            </a:r>
          </a:p>
          <a:p>
            <a:pPr lvl="1">
              <a:lnSpc>
                <a:spcPct val="90000"/>
              </a:lnSpc>
              <a:tabLst>
                <a:tab pos="1333500" algn="l"/>
              </a:tabLst>
              <a:defRPr/>
            </a:pPr>
            <a:r>
              <a:rPr lang="en-US" altLang="en-US" sz="1800" dirty="0" smtClean="0">
                <a:solidFill>
                  <a:srgbClr val="663300"/>
                </a:solidFill>
                <a:latin typeface="Tahoma" panose="020B0604030504040204" pitchFamily="34" charset="0"/>
                <a:ea typeface="Tahoma" panose="020B0604030504040204" pitchFamily="34" charset="0"/>
                <a:cs typeface="Tahoma" panose="020B0604030504040204" pitchFamily="34" charset="0"/>
              </a:rPr>
              <a:t>Average chain length of cellulose higher viscosity ,high DP and therefore stronger pulp</a:t>
            </a:r>
          </a:p>
          <a:p>
            <a:pPr lvl="1">
              <a:lnSpc>
                <a:spcPct val="90000"/>
              </a:lnSpc>
              <a:tabLst>
                <a:tab pos="1333500" algn="l"/>
              </a:tabLst>
              <a:defRPr/>
            </a:pPr>
            <a:r>
              <a:rPr lang="en-US" altLang="en-US" sz="1800" dirty="0" smtClean="0">
                <a:solidFill>
                  <a:srgbClr val="663300"/>
                </a:solidFill>
                <a:latin typeface="Tahoma" panose="020B0604030504040204" pitchFamily="34" charset="0"/>
                <a:ea typeface="Tahoma" panose="020B0604030504040204" pitchFamily="34" charset="0"/>
                <a:cs typeface="Tahoma" panose="020B0604030504040204" pitchFamily="34" charset="0"/>
              </a:rPr>
              <a:t>Measuring the viscosity of cellulose solution of known concentration </a:t>
            </a:r>
          </a:p>
          <a:p>
            <a:pPr marL="342900" lvl="1" indent="-342900">
              <a:lnSpc>
                <a:spcPct val="90000"/>
              </a:lnSpc>
              <a:buFont typeface="Arial" panose="020B0604020202020204" pitchFamily="34" charset="0"/>
              <a:buChar char="•"/>
              <a:tabLst>
                <a:tab pos="1333500" algn="l"/>
              </a:tabLst>
              <a:defRPr/>
            </a:pPr>
            <a:r>
              <a:rPr lang="en-US" altLang="en-US" sz="2000" b="1" dirty="0">
                <a:solidFill>
                  <a:srgbClr val="663300"/>
                </a:solidFill>
                <a:latin typeface="Tahoma" panose="020B0604030504040204" pitchFamily="34" charset="0"/>
                <a:ea typeface="Tahoma" panose="020B0604030504040204" pitchFamily="34" charset="0"/>
                <a:cs typeface="Tahoma" panose="020B0604030504040204" pitchFamily="34" charset="0"/>
              </a:rPr>
              <a:t>Alpha </a:t>
            </a:r>
            <a:r>
              <a:rPr lang="en-US" altLang="en-US" sz="2000" b="1" dirty="0" smtClean="0">
                <a:solidFill>
                  <a:srgbClr val="663300"/>
                </a:solidFill>
                <a:latin typeface="Tahoma" panose="020B0604030504040204" pitchFamily="34" charset="0"/>
                <a:ea typeface="Tahoma" panose="020B0604030504040204" pitchFamily="34" charset="0"/>
                <a:cs typeface="Tahoma" panose="020B0604030504040204" pitchFamily="34" charset="0"/>
              </a:rPr>
              <a:t>cellulose</a:t>
            </a:r>
            <a:endParaRPr lang="en-US" altLang="en-US" sz="2000" b="1" dirty="0">
              <a:solidFill>
                <a:srgbClr val="663300"/>
              </a:solidFill>
              <a:latin typeface="Tahoma" panose="020B0604030504040204" pitchFamily="34" charset="0"/>
              <a:ea typeface="Tahoma" panose="020B0604030504040204" pitchFamily="34" charset="0"/>
              <a:cs typeface="Tahoma" panose="020B0604030504040204" pitchFamily="34" charset="0"/>
            </a:endParaRPr>
          </a:p>
          <a:p>
            <a:pPr lvl="1">
              <a:lnSpc>
                <a:spcPct val="90000"/>
              </a:lnSpc>
              <a:tabLst>
                <a:tab pos="1333500" algn="l"/>
              </a:tabLst>
              <a:defRPr/>
            </a:pPr>
            <a:r>
              <a:rPr lang="en-US" altLang="en-US" sz="1800" dirty="0" smtClean="0">
                <a:solidFill>
                  <a:srgbClr val="663300"/>
                </a:solidFill>
                <a:latin typeface="Tahoma" panose="020B0604030504040204" pitchFamily="34" charset="0"/>
                <a:ea typeface="Tahoma" panose="020B0604030504040204" pitchFamily="34" charset="0"/>
                <a:cs typeface="Tahoma" panose="020B0604030504040204" pitchFamily="34" charset="0"/>
              </a:rPr>
              <a:t>Long chain cellulose </a:t>
            </a:r>
            <a:r>
              <a:rPr lang="en-US" altLang="en-US" sz="1800" dirty="0" smtClean="0">
                <a:solidFill>
                  <a:srgbClr val="663300"/>
                </a:solidFill>
                <a:latin typeface="Tahoma" panose="020B0604030504040204" pitchFamily="34" charset="0"/>
                <a:ea typeface="Tahoma" panose="020B0604030504040204" pitchFamily="34" charset="0"/>
                <a:cs typeface="Tahoma" panose="020B0604030504040204" pitchFamily="34" charset="0"/>
                <a:sym typeface="Wingdings" panose="05000000000000000000" pitchFamily="2" charset="2"/>
              </a:rPr>
              <a:t> </a:t>
            </a:r>
            <a:r>
              <a:rPr lang="en-US" altLang="en-US" sz="1800" dirty="0" smtClean="0">
                <a:solidFill>
                  <a:srgbClr val="663300"/>
                </a:solidFill>
                <a:latin typeface="Tahoma" panose="020B0604030504040204" pitchFamily="34" charset="0"/>
                <a:ea typeface="Tahoma" panose="020B0604030504040204" pitchFamily="34" charset="0"/>
                <a:cs typeface="Tahoma" panose="020B0604030504040204" pitchFamily="34" charset="0"/>
              </a:rPr>
              <a:t>effect to pulp yield and structural properties</a:t>
            </a:r>
          </a:p>
          <a:p>
            <a:pPr marL="342900" lvl="1" indent="-342900">
              <a:lnSpc>
                <a:spcPct val="90000"/>
              </a:lnSpc>
              <a:buFont typeface="Arial" panose="020B0604020202020204" pitchFamily="34" charset="0"/>
              <a:buChar char="•"/>
              <a:tabLst>
                <a:tab pos="1333500" algn="l"/>
              </a:tabLst>
              <a:defRPr/>
            </a:pPr>
            <a:r>
              <a:rPr lang="en-US" altLang="en-US" sz="2000" b="1" dirty="0" err="1">
                <a:solidFill>
                  <a:srgbClr val="663300"/>
                </a:solidFill>
                <a:latin typeface="Tahoma" panose="020B0604030504040204" pitchFamily="34" charset="0"/>
                <a:ea typeface="Tahoma" panose="020B0604030504040204" pitchFamily="34" charset="0"/>
                <a:cs typeface="Tahoma" panose="020B0604030504040204" pitchFamily="34" charset="0"/>
              </a:rPr>
              <a:t>Pentosan</a:t>
            </a:r>
            <a:endParaRPr lang="en-US" altLang="en-US" sz="2000" b="1" dirty="0">
              <a:solidFill>
                <a:srgbClr val="663300"/>
              </a:solidFill>
              <a:latin typeface="Tahoma" panose="020B0604030504040204" pitchFamily="34" charset="0"/>
              <a:ea typeface="Tahoma" panose="020B0604030504040204" pitchFamily="34" charset="0"/>
              <a:cs typeface="Tahoma" panose="020B0604030504040204" pitchFamily="34" charset="0"/>
            </a:endParaRPr>
          </a:p>
          <a:p>
            <a:pPr lvl="1">
              <a:lnSpc>
                <a:spcPct val="90000"/>
              </a:lnSpc>
              <a:tabLst>
                <a:tab pos="1333500" algn="l"/>
              </a:tabLst>
              <a:defRPr/>
            </a:pPr>
            <a:r>
              <a:rPr lang="en-US" altLang="en-US" sz="1800" dirty="0">
                <a:solidFill>
                  <a:srgbClr val="663300"/>
                </a:solidFill>
                <a:latin typeface="Tahoma" panose="020B0604030504040204" pitchFamily="34" charset="0"/>
                <a:ea typeface="Tahoma" panose="020B0604030504040204" pitchFamily="34" charset="0"/>
                <a:cs typeface="Tahoma" panose="020B0604030504040204" pitchFamily="34" charset="0"/>
              </a:rPr>
              <a:t>Part of Hemicellulose fraction consists of </a:t>
            </a:r>
            <a:r>
              <a:rPr lang="en-US" altLang="en-US" sz="1800" dirty="0" smtClean="0">
                <a:solidFill>
                  <a:srgbClr val="663300"/>
                </a:solidFill>
                <a:latin typeface="Tahoma" panose="020B0604030504040204" pitchFamily="34" charset="0"/>
                <a:ea typeface="Tahoma" panose="020B0604030504040204" pitchFamily="34" charset="0"/>
                <a:cs typeface="Tahoma" panose="020B0604030504040204" pitchFamily="34" charset="0"/>
              </a:rPr>
              <a:t>pentose sugar </a:t>
            </a:r>
            <a:r>
              <a:rPr lang="en-US" altLang="en-US" sz="1800" dirty="0">
                <a:solidFill>
                  <a:srgbClr val="663300"/>
                </a:solidFill>
                <a:latin typeface="Tahoma" panose="020B0604030504040204" pitchFamily="34" charset="0"/>
                <a:ea typeface="Tahoma" panose="020B0604030504040204" pitchFamily="34" charset="0"/>
                <a:cs typeface="Tahoma" panose="020B0604030504040204" pitchFamily="34" charset="0"/>
              </a:rPr>
              <a:t>mainly xylose and  arabinose</a:t>
            </a:r>
          </a:p>
          <a:p>
            <a:pPr lvl="1">
              <a:lnSpc>
                <a:spcPct val="90000"/>
              </a:lnSpc>
              <a:tabLst>
                <a:tab pos="1333500" algn="l"/>
              </a:tabLst>
              <a:defRPr/>
            </a:pPr>
            <a:r>
              <a:rPr lang="en-US" altLang="en-US" sz="1800" dirty="0">
                <a:solidFill>
                  <a:srgbClr val="663300"/>
                </a:solidFill>
                <a:latin typeface="Tahoma" panose="020B0604030504040204" pitchFamily="34" charset="0"/>
                <a:ea typeface="Tahoma" panose="020B0604030504040204" pitchFamily="34" charset="0"/>
                <a:cs typeface="Tahoma" panose="020B0604030504040204" pitchFamily="34" charset="0"/>
              </a:rPr>
              <a:t>branch chain  cellulose effect to </a:t>
            </a:r>
            <a:r>
              <a:rPr lang="en-US" altLang="en-US" sz="1800" dirty="0" err="1">
                <a:solidFill>
                  <a:srgbClr val="663300"/>
                </a:solidFill>
                <a:latin typeface="Tahoma" panose="020B0604030504040204" pitchFamily="34" charset="0"/>
                <a:ea typeface="Tahoma" panose="020B0604030504040204" pitchFamily="34" charset="0"/>
                <a:cs typeface="Tahoma" panose="020B0604030504040204" pitchFamily="34" charset="0"/>
              </a:rPr>
              <a:t>interfiber</a:t>
            </a:r>
            <a:r>
              <a:rPr lang="en-US" altLang="en-US" sz="1800" dirty="0">
                <a:solidFill>
                  <a:srgbClr val="663300"/>
                </a:solidFill>
                <a:latin typeface="Tahoma" panose="020B0604030504040204" pitchFamily="34" charset="0"/>
                <a:ea typeface="Tahoma" panose="020B0604030504040204" pitchFamily="34" charset="0"/>
                <a:cs typeface="Tahoma" panose="020B0604030504040204" pitchFamily="34" charset="0"/>
              </a:rPr>
              <a:t> </a:t>
            </a:r>
            <a:r>
              <a:rPr lang="en-US" altLang="en-US" sz="1800" dirty="0" smtClean="0">
                <a:solidFill>
                  <a:srgbClr val="663300"/>
                </a:solidFill>
                <a:latin typeface="Tahoma" panose="020B0604030504040204" pitchFamily="34" charset="0"/>
                <a:ea typeface="Tahoma" panose="020B0604030504040204" pitchFamily="34" charset="0"/>
                <a:cs typeface="Tahoma" panose="020B0604030504040204" pitchFamily="34" charset="0"/>
              </a:rPr>
              <a:t>bonding in </a:t>
            </a:r>
            <a:r>
              <a:rPr lang="en-US" altLang="en-US" sz="1800" dirty="0">
                <a:solidFill>
                  <a:srgbClr val="663300"/>
                </a:solidFill>
                <a:latin typeface="Tahoma" panose="020B0604030504040204" pitchFamily="34" charset="0"/>
                <a:ea typeface="Tahoma" panose="020B0604030504040204" pitchFamily="34" charset="0"/>
                <a:cs typeface="Tahoma" panose="020B0604030504040204" pitchFamily="34" charset="0"/>
              </a:rPr>
              <a:t>paper properties</a:t>
            </a:r>
          </a:p>
          <a:p>
            <a:pPr lvl="1">
              <a:lnSpc>
                <a:spcPct val="90000"/>
              </a:lnSpc>
              <a:tabLst>
                <a:tab pos="1333500" algn="l"/>
              </a:tabLst>
              <a:defRPr/>
            </a:pPr>
            <a:endParaRPr lang="en-US" altLang="en-US" sz="1800" b="1" dirty="0" smtClean="0">
              <a:solidFill>
                <a:srgbClr val="663300"/>
              </a:solidFill>
              <a:latin typeface="Tahoma" panose="020B0604030504040204" pitchFamily="34" charset="0"/>
              <a:ea typeface="Tahoma" panose="020B0604030504040204" pitchFamily="34" charset="0"/>
              <a:cs typeface="Tahoma" panose="020B0604030504040204" pitchFamily="34" charset="0"/>
            </a:endParaRPr>
          </a:p>
          <a:p>
            <a:pPr marL="482600" indent="-482600">
              <a:lnSpc>
                <a:spcPct val="90000"/>
              </a:lnSpc>
              <a:buFont typeface="Wingdings" panose="05000000000000000000" pitchFamily="2" charset="2"/>
              <a:buNone/>
              <a:tabLst>
                <a:tab pos="1333500" algn="l"/>
              </a:tabLst>
              <a:defRPr/>
            </a:pPr>
            <a:r>
              <a:rPr lang="en-US" altLang="en-US" sz="1800" b="1" dirty="0" smtClean="0">
                <a:latin typeface="Tahoma" panose="020B0604030504040204" pitchFamily="34" charset="0"/>
                <a:ea typeface="Tahoma" panose="020B0604030504040204" pitchFamily="34" charset="0"/>
                <a:cs typeface="Tahoma" panose="020B0604030504040204" pitchFamily="34" charset="0"/>
              </a:rPr>
              <a:t>	 </a:t>
            </a:r>
            <a:endParaRPr lang="en-US" altLang="en-US" sz="1800" b="1" dirty="0">
              <a:solidFill>
                <a:srgbClr val="663300"/>
              </a:solidFill>
              <a:latin typeface="Tahoma" panose="020B0604030504040204" pitchFamily="34" charset="0"/>
              <a:ea typeface="Tahoma" panose="020B0604030504040204" pitchFamily="34" charset="0"/>
              <a:cs typeface="Tahoma" panose="020B0604030504040204" pitchFamily="34" charset="0"/>
            </a:endParaRPr>
          </a:p>
        </p:txBody>
      </p:sp>
      <p:sp>
        <p:nvSpPr>
          <p:cNvPr id="215044" name="Rectangle 3"/>
          <p:cNvSpPr>
            <a:spLocks noChangeArrowheads="1"/>
          </p:cNvSpPr>
          <p:nvPr/>
        </p:nvSpPr>
        <p:spPr bwMode="auto">
          <a:xfrm>
            <a:off x="533400" y="960438"/>
            <a:ext cx="38004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b="1"/>
              <a:t>Chemical Testing of Pulp</a:t>
            </a:r>
          </a:p>
        </p:txBody>
      </p:sp>
    </p:spTree>
    <p:extLst>
      <p:ext uri="{BB962C8B-B14F-4D97-AF65-F5344CB8AC3E}">
        <p14:creationId xmlns:p14="http://schemas.microsoft.com/office/powerpoint/2010/main" val="928067198"/>
      </p:ext>
    </p:extLst>
  </p:cSld>
  <p:clrMapOvr>
    <a:masterClrMapping/>
  </p:clrMapOvr>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7. Properties and Testing of pulp</a:t>
            </a:r>
          </a:p>
        </p:txBody>
      </p:sp>
      <p:sp>
        <p:nvSpPr>
          <p:cNvPr id="217091" name="Rectangle 3"/>
          <p:cNvSpPr>
            <a:spLocks noChangeArrowheads="1"/>
          </p:cNvSpPr>
          <p:nvPr/>
        </p:nvSpPr>
        <p:spPr bwMode="auto">
          <a:xfrm>
            <a:off x="533400" y="960438"/>
            <a:ext cx="37957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b="1"/>
              <a:t>Physical Testing of Pulp </a:t>
            </a:r>
          </a:p>
        </p:txBody>
      </p:sp>
      <p:sp>
        <p:nvSpPr>
          <p:cNvPr id="5" name="Rectangle 2"/>
          <p:cNvSpPr txBox="1">
            <a:spLocks noChangeArrowheads="1"/>
          </p:cNvSpPr>
          <p:nvPr/>
        </p:nvSpPr>
        <p:spPr bwMode="auto">
          <a:xfrm>
            <a:off x="533400" y="1484313"/>
            <a:ext cx="7977188" cy="1657350"/>
          </a:xfrm>
          <a:prstGeom prst="rect">
            <a:avLst/>
          </a:prstGeom>
          <a:noFill/>
          <a:ln>
            <a:noFill/>
          </a:ln>
          <a:extLst>
            <a:ext uri="{909E8E84-426E-40DD-AFC4-6F175D3DCCD1}">
              <a14:hiddenFill xmlns:a14="http://schemas.microsoft.com/office/drawing/2010/main">
                <a:solidFill>
                  <a:srgbClr val="FFCC99"/>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tabLst>
                <a:tab pos="1333500" algn="l"/>
              </a:tabLst>
              <a:defRPr/>
            </a:pPr>
            <a:r>
              <a:rPr lang="en-US" altLang="en-US" sz="2000" b="1" dirty="0" smtClean="0">
                <a:solidFill>
                  <a:srgbClr val="663300"/>
                </a:solidFill>
                <a:latin typeface="Tahoma" panose="020B0604030504040204" pitchFamily="34" charset="0"/>
                <a:ea typeface="Tahoma" panose="020B0604030504040204" pitchFamily="34" charset="0"/>
                <a:cs typeface="Tahoma" panose="020B0604030504040204" pitchFamily="34" charset="0"/>
              </a:rPr>
              <a:t>DRAINABILITY</a:t>
            </a:r>
          </a:p>
          <a:p>
            <a:pPr lvl="1">
              <a:lnSpc>
                <a:spcPct val="90000"/>
              </a:lnSpc>
              <a:tabLst>
                <a:tab pos="1333500" algn="l"/>
              </a:tabLst>
              <a:defRPr/>
            </a:pPr>
            <a:r>
              <a:rPr lang="en-US" altLang="en-US" sz="1800" dirty="0" smtClean="0">
                <a:solidFill>
                  <a:srgbClr val="663300"/>
                </a:solidFill>
                <a:latin typeface="Tahoma" panose="020B0604030504040204" pitchFamily="34" charset="0"/>
                <a:ea typeface="Tahoma" panose="020B0604030504040204" pitchFamily="34" charset="0"/>
                <a:cs typeface="Tahoma" panose="020B0604030504040204" pitchFamily="34" charset="0"/>
              </a:rPr>
              <a:t>Freeness, Drainage Time, % consist. </a:t>
            </a:r>
          </a:p>
          <a:p>
            <a:pPr>
              <a:lnSpc>
                <a:spcPct val="90000"/>
              </a:lnSpc>
              <a:tabLst>
                <a:tab pos="1333500" algn="l"/>
              </a:tabLst>
              <a:defRPr/>
            </a:pPr>
            <a:r>
              <a:rPr lang="en-US" altLang="en-US" sz="2000" b="1" dirty="0" smtClean="0">
                <a:solidFill>
                  <a:srgbClr val="663300"/>
                </a:solidFill>
                <a:latin typeface="Tahoma" panose="020B0604030504040204" pitchFamily="34" charset="0"/>
                <a:ea typeface="Tahoma" panose="020B0604030504040204" pitchFamily="34" charset="0"/>
                <a:cs typeface="Tahoma" panose="020B0604030504040204" pitchFamily="34" charset="0"/>
              </a:rPr>
              <a:t>PULP STRENGTH</a:t>
            </a:r>
          </a:p>
          <a:p>
            <a:pPr lvl="1">
              <a:lnSpc>
                <a:spcPct val="90000"/>
              </a:lnSpc>
              <a:tabLst>
                <a:tab pos="1333500" algn="l"/>
              </a:tabLst>
              <a:defRPr/>
            </a:pPr>
            <a:r>
              <a:rPr lang="en-US" altLang="en-US" sz="1800" dirty="0" smtClean="0">
                <a:solidFill>
                  <a:srgbClr val="663300"/>
                </a:solidFill>
                <a:latin typeface="Tahoma" panose="020B0604030504040204" pitchFamily="34" charset="0"/>
                <a:ea typeface="Tahoma" panose="020B0604030504040204" pitchFamily="34" charset="0"/>
                <a:cs typeface="Tahoma" panose="020B0604030504040204" pitchFamily="34" charset="0"/>
              </a:rPr>
              <a:t>PULP EVALUATION : Valley Beater, PFI mill      </a:t>
            </a:r>
          </a:p>
          <a:p>
            <a:pPr lvl="1">
              <a:lnSpc>
                <a:spcPct val="90000"/>
              </a:lnSpc>
              <a:tabLst>
                <a:tab pos="1333500" algn="l"/>
              </a:tabLst>
              <a:defRPr/>
            </a:pPr>
            <a:r>
              <a:rPr lang="en-US" altLang="en-US" sz="1800" dirty="0" smtClean="0">
                <a:solidFill>
                  <a:srgbClr val="663300"/>
                </a:solidFill>
                <a:latin typeface="Tahoma" panose="020B0604030504040204" pitchFamily="34" charset="0"/>
                <a:ea typeface="Tahoma" panose="020B0604030504040204" pitchFamily="34" charset="0"/>
                <a:cs typeface="Tahoma" panose="020B0604030504040204" pitchFamily="34" charset="0"/>
              </a:rPr>
              <a:t>PULP STRENGTH COMPARISON </a:t>
            </a:r>
            <a:endParaRPr lang="en-US" altLang="en-US" sz="1800" b="1" dirty="0" smtClean="0">
              <a:solidFill>
                <a:srgbClr val="663300"/>
              </a:solidFill>
              <a:latin typeface="Tahoma" panose="020B0604030504040204" pitchFamily="34" charset="0"/>
              <a:ea typeface="Tahoma" panose="020B0604030504040204" pitchFamily="34" charset="0"/>
              <a:cs typeface="Tahoma" panose="020B0604030504040204" pitchFamily="34" charset="0"/>
            </a:endParaRPr>
          </a:p>
          <a:p>
            <a:pPr marL="482600" indent="-482600">
              <a:lnSpc>
                <a:spcPct val="90000"/>
              </a:lnSpc>
              <a:buFont typeface="Wingdings" panose="05000000000000000000" pitchFamily="2" charset="2"/>
              <a:buNone/>
              <a:tabLst>
                <a:tab pos="1333500" algn="l"/>
              </a:tabLst>
              <a:defRPr/>
            </a:pPr>
            <a:r>
              <a:rPr lang="en-US" altLang="en-US" sz="1800" b="1" dirty="0" smtClean="0">
                <a:latin typeface="Tahoma" panose="020B0604030504040204" pitchFamily="34" charset="0"/>
                <a:ea typeface="Tahoma" panose="020B0604030504040204" pitchFamily="34" charset="0"/>
                <a:cs typeface="Tahoma" panose="020B0604030504040204" pitchFamily="34" charset="0"/>
              </a:rPr>
              <a:t>	 </a:t>
            </a:r>
            <a:endParaRPr lang="en-US" altLang="en-US" sz="1800" b="1" dirty="0">
              <a:solidFill>
                <a:srgbClr val="663300"/>
              </a:solidFill>
              <a:latin typeface="Tahoma" panose="020B0604030504040204" pitchFamily="34" charset="0"/>
              <a:ea typeface="Tahoma" panose="020B0604030504040204" pitchFamily="34" charset="0"/>
              <a:cs typeface="Tahoma" panose="020B0604030504040204" pitchFamily="34" charset="0"/>
            </a:endParaRPr>
          </a:p>
        </p:txBody>
      </p:sp>
      <p:sp>
        <p:nvSpPr>
          <p:cNvPr id="217093" name="Text Box 5"/>
          <p:cNvSpPr txBox="1">
            <a:spLocks noChangeArrowheads="1"/>
          </p:cNvSpPr>
          <p:nvPr/>
        </p:nvSpPr>
        <p:spPr bwMode="auto">
          <a:xfrm>
            <a:off x="800100" y="3925888"/>
            <a:ext cx="184150" cy="1128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3600">
              <a:latin typeface="Angsana New" panose="02020603050405020304" pitchFamily="18" charset="-34"/>
              <a:cs typeface="Angsana New" panose="02020603050405020304" pitchFamily="18" charset="-34"/>
            </a:endParaRPr>
          </a:p>
          <a:p>
            <a:pPr>
              <a:spcBef>
                <a:spcPct val="0"/>
              </a:spcBef>
              <a:buFontTx/>
              <a:buNone/>
            </a:pPr>
            <a:endParaRPr lang="en-US" altLang="en-US">
              <a:latin typeface="Angsana New" panose="02020603050405020304" pitchFamily="18" charset="-34"/>
              <a:cs typeface="Angsana New" panose="02020603050405020304" pitchFamily="18" charset="-34"/>
            </a:endParaRPr>
          </a:p>
        </p:txBody>
      </p:sp>
      <p:sp>
        <p:nvSpPr>
          <p:cNvPr id="217094" name="Text Box 6"/>
          <p:cNvSpPr txBox="1">
            <a:spLocks noChangeArrowheads="1"/>
          </p:cNvSpPr>
          <p:nvPr/>
        </p:nvSpPr>
        <p:spPr bwMode="auto">
          <a:xfrm>
            <a:off x="815975" y="5238750"/>
            <a:ext cx="184150" cy="1128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3600">
              <a:latin typeface="Angsana New" panose="02020603050405020304" pitchFamily="18" charset="-34"/>
              <a:cs typeface="Angsana New" panose="02020603050405020304" pitchFamily="18" charset="-34"/>
            </a:endParaRPr>
          </a:p>
          <a:p>
            <a:pPr>
              <a:spcBef>
                <a:spcPct val="0"/>
              </a:spcBef>
              <a:buFontTx/>
              <a:buNone/>
            </a:pPr>
            <a:endParaRPr lang="en-US" altLang="en-US">
              <a:latin typeface="Angsana New" panose="02020603050405020304" pitchFamily="18" charset="-34"/>
              <a:cs typeface="Angsana New" panose="02020603050405020304" pitchFamily="18" charset="-34"/>
            </a:endParaRPr>
          </a:p>
        </p:txBody>
      </p:sp>
      <p:sp>
        <p:nvSpPr>
          <p:cNvPr id="217095" name="Text Box 9"/>
          <p:cNvSpPr txBox="1">
            <a:spLocks noChangeArrowheads="1"/>
          </p:cNvSpPr>
          <p:nvPr/>
        </p:nvSpPr>
        <p:spPr bwMode="auto">
          <a:xfrm>
            <a:off x="3536950" y="3830638"/>
            <a:ext cx="5607050" cy="2446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700">
                <a:latin typeface="Tahoma" panose="020B0604030504040204" pitchFamily="34" charset="0"/>
                <a:cs typeface="Tahoma" panose="020B0604030504040204" pitchFamily="34" charset="0"/>
              </a:rPr>
              <a:t>1.  Indication  of  a  pulp  suitability or  quality</a:t>
            </a:r>
          </a:p>
          <a:p>
            <a:pPr>
              <a:spcBef>
                <a:spcPct val="0"/>
              </a:spcBef>
              <a:buFontTx/>
              <a:buNone/>
            </a:pPr>
            <a:r>
              <a:rPr lang="en-US" altLang="en-US" sz="1700">
                <a:solidFill>
                  <a:srgbClr val="0066FF"/>
                </a:solidFill>
                <a:latin typeface="Tahoma" panose="020B0604030504040204" pitchFamily="34" charset="0"/>
                <a:cs typeface="Tahoma" panose="020B0604030504040204" pitchFamily="34" charset="0"/>
              </a:rPr>
              <a:t>2.  For Process control :</a:t>
            </a:r>
          </a:p>
          <a:p>
            <a:pPr>
              <a:spcBef>
                <a:spcPct val="0"/>
              </a:spcBef>
              <a:buFontTx/>
              <a:buNone/>
            </a:pPr>
            <a:r>
              <a:rPr lang="en-US" altLang="en-US" sz="1700">
                <a:solidFill>
                  <a:srgbClr val="0066FF"/>
                </a:solidFill>
                <a:latin typeface="Tahoma" panose="020B0604030504040204" pitchFamily="34" charset="0"/>
                <a:cs typeface="Tahoma" panose="020B0604030504040204" pitchFamily="34" charset="0"/>
              </a:rPr>
              <a:t>       2.1 Mechanical pulp : adjust energy during refining </a:t>
            </a:r>
          </a:p>
          <a:p>
            <a:pPr>
              <a:spcBef>
                <a:spcPct val="0"/>
              </a:spcBef>
              <a:buFontTx/>
              <a:buNone/>
            </a:pPr>
            <a:r>
              <a:rPr lang="en-US" altLang="en-US" sz="1700">
                <a:solidFill>
                  <a:srgbClr val="0066FF"/>
                </a:solidFill>
                <a:latin typeface="Tahoma" panose="020B0604030504040204" pitchFamily="34" charset="0"/>
                <a:cs typeface="Tahoma" panose="020B0604030504040204" pitchFamily="34" charset="0"/>
              </a:rPr>
              <a:t>       process to maintain the freeness within narrow </a:t>
            </a:r>
          </a:p>
          <a:p>
            <a:pPr>
              <a:spcBef>
                <a:spcPct val="0"/>
              </a:spcBef>
              <a:buFontTx/>
              <a:buNone/>
            </a:pPr>
            <a:r>
              <a:rPr lang="en-US" altLang="en-US" sz="1700">
                <a:solidFill>
                  <a:srgbClr val="0066FF"/>
                </a:solidFill>
                <a:latin typeface="Tahoma" panose="020B0604030504040204" pitchFamily="34" charset="0"/>
                <a:cs typeface="Tahoma" panose="020B0604030504040204" pitchFamily="34" charset="0"/>
              </a:rPr>
              <a:t>       range.</a:t>
            </a:r>
          </a:p>
          <a:p>
            <a:pPr>
              <a:spcBef>
                <a:spcPct val="0"/>
              </a:spcBef>
              <a:buFontTx/>
              <a:buNone/>
            </a:pPr>
            <a:r>
              <a:rPr lang="en-US" altLang="en-US" sz="1700">
                <a:solidFill>
                  <a:srgbClr val="0066FF"/>
                </a:solidFill>
                <a:latin typeface="Tahoma" panose="020B0604030504040204" pitchFamily="34" charset="0"/>
                <a:cs typeface="Tahoma" panose="020B0604030504040204" pitchFamily="34" charset="0"/>
              </a:rPr>
              <a:t>       2.2 Chemical pulp : refined to target freeness  </a:t>
            </a:r>
          </a:p>
          <a:p>
            <a:pPr>
              <a:spcBef>
                <a:spcPct val="0"/>
              </a:spcBef>
              <a:buFontTx/>
              <a:buNone/>
            </a:pPr>
            <a:r>
              <a:rPr lang="en-US" altLang="en-US" sz="1700">
                <a:solidFill>
                  <a:srgbClr val="0066FF"/>
                </a:solidFill>
                <a:latin typeface="Tahoma" panose="020B0604030504040204" pitchFamily="34" charset="0"/>
                <a:cs typeface="Tahoma" panose="020B0604030504040204" pitchFamily="34" charset="0"/>
              </a:rPr>
              <a:t>       before  being add to the papermaking furnish</a:t>
            </a:r>
            <a:r>
              <a:rPr lang="en-US" altLang="en-US" sz="1700">
                <a:solidFill>
                  <a:schemeClr val="hlink"/>
                </a:solidFill>
                <a:latin typeface="Tahoma" panose="020B0604030504040204" pitchFamily="34" charset="0"/>
                <a:cs typeface="Tahoma" panose="020B0604030504040204" pitchFamily="34" charset="0"/>
              </a:rPr>
              <a:t>  </a:t>
            </a:r>
          </a:p>
          <a:p>
            <a:pPr>
              <a:spcBef>
                <a:spcPct val="0"/>
              </a:spcBef>
              <a:buFontTx/>
              <a:buNone/>
            </a:pPr>
            <a:r>
              <a:rPr lang="en-US" altLang="en-US" sz="1700">
                <a:solidFill>
                  <a:srgbClr val="6600CC"/>
                </a:solidFill>
                <a:latin typeface="Tahoma" panose="020B0604030504040204" pitchFamily="34" charset="0"/>
                <a:cs typeface="Tahoma" panose="020B0604030504040204" pitchFamily="34" charset="0"/>
              </a:rPr>
              <a:t>3. Optimization drainage on  wire part</a:t>
            </a:r>
            <a:r>
              <a:rPr lang="en-US" altLang="en-US" sz="1700">
                <a:latin typeface="Tahoma" panose="020B0604030504040204" pitchFamily="34" charset="0"/>
                <a:cs typeface="Tahoma" panose="020B0604030504040204" pitchFamily="34" charset="0"/>
              </a:rPr>
              <a:t> </a:t>
            </a:r>
          </a:p>
          <a:p>
            <a:pPr>
              <a:spcBef>
                <a:spcPct val="0"/>
              </a:spcBef>
              <a:buFontTx/>
              <a:buNone/>
            </a:pPr>
            <a:endParaRPr lang="en-US" altLang="en-US" sz="1700">
              <a:latin typeface="Tahoma" panose="020B0604030504040204" pitchFamily="34" charset="0"/>
              <a:cs typeface="Tahoma" panose="020B0604030504040204" pitchFamily="34" charset="0"/>
            </a:endParaRPr>
          </a:p>
        </p:txBody>
      </p:sp>
      <p:sp>
        <p:nvSpPr>
          <p:cNvPr id="217096" name="Rectangle 1"/>
          <p:cNvSpPr txBox="1">
            <a:spLocks noChangeArrowheads="1"/>
          </p:cNvSpPr>
          <p:nvPr/>
        </p:nvSpPr>
        <p:spPr bwMode="auto">
          <a:xfrm>
            <a:off x="3536950" y="3313113"/>
            <a:ext cx="4556125" cy="608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latin typeface="Tahoma" panose="020B0604030504040204" pitchFamily="34" charset="0"/>
                <a:cs typeface="Tahoma" panose="020B0604030504040204" pitchFamily="34" charset="0"/>
              </a:rPr>
              <a:t> </a:t>
            </a:r>
            <a:r>
              <a:rPr lang="en-US" altLang="en-US" sz="1800" b="1">
                <a:solidFill>
                  <a:schemeClr val="hlink"/>
                </a:solidFill>
                <a:latin typeface="Tahoma" panose="020B0604030504040204" pitchFamily="34" charset="0"/>
                <a:cs typeface="Tahoma" panose="020B0604030504040204" pitchFamily="34" charset="0"/>
              </a:rPr>
              <a:t>FREENESS  TEST  : DRAINAGE   TEST</a:t>
            </a:r>
            <a:endParaRPr lang="th-TH" altLang="en-US" sz="1800">
              <a:latin typeface="Tahoma" panose="020B0604030504040204" pitchFamily="34" charset="0"/>
              <a:cs typeface="Tahoma" panose="020B0604030504040204" pitchFamily="34" charset="0"/>
            </a:endParaRPr>
          </a:p>
        </p:txBody>
      </p:sp>
      <p:pic>
        <p:nvPicPr>
          <p:cNvPr id="217097" name="Picture 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0100" y="3384550"/>
            <a:ext cx="2363788" cy="2982913"/>
          </a:xfrm>
          <a:prstGeom prst="rect">
            <a:avLst/>
          </a:prstGeom>
          <a:noFill/>
          <a:ln w="57150" cmpd="thinThick">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743587322"/>
      </p:ext>
    </p:extLst>
  </p:cSld>
  <p:clrMapOvr>
    <a:masterClrMapping/>
  </p:clrMapOvr>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7. Properties and Testing of pulp</a:t>
            </a:r>
          </a:p>
        </p:txBody>
      </p:sp>
      <p:sp>
        <p:nvSpPr>
          <p:cNvPr id="219139" name="Text Box 1029"/>
          <p:cNvSpPr txBox="1">
            <a:spLocks noChangeArrowheads="1"/>
          </p:cNvSpPr>
          <p:nvPr/>
        </p:nvSpPr>
        <p:spPr bwMode="auto">
          <a:xfrm>
            <a:off x="593725" y="2363788"/>
            <a:ext cx="18415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2800">
              <a:latin typeface="Angsana New" panose="02020603050405020304" pitchFamily="18" charset="-34"/>
              <a:cs typeface="Angsana New" panose="02020603050405020304" pitchFamily="18" charset="-34"/>
            </a:endParaRPr>
          </a:p>
          <a:p>
            <a:pPr>
              <a:spcBef>
                <a:spcPct val="0"/>
              </a:spcBef>
              <a:buFontTx/>
              <a:buNone/>
            </a:pPr>
            <a:endParaRPr lang="en-US" altLang="en-US" sz="2800">
              <a:latin typeface="Angsana New" panose="02020603050405020304" pitchFamily="18" charset="-34"/>
              <a:cs typeface="Angsana New" panose="02020603050405020304" pitchFamily="18" charset="-34"/>
            </a:endParaRPr>
          </a:p>
        </p:txBody>
      </p:sp>
      <p:sp>
        <p:nvSpPr>
          <p:cNvPr id="219140" name="Text Box 1037"/>
          <p:cNvSpPr txBox="1">
            <a:spLocks noChangeArrowheads="1"/>
          </p:cNvSpPr>
          <p:nvPr/>
        </p:nvSpPr>
        <p:spPr bwMode="auto">
          <a:xfrm>
            <a:off x="388938" y="2085975"/>
            <a:ext cx="5145087" cy="3354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solidFill>
                  <a:schemeClr val="folHlink"/>
                </a:solidFill>
                <a:latin typeface="Tahoma" panose="020B0604030504040204" pitchFamily="34" charset="0"/>
                <a:cs typeface="Tahoma" panose="020B0604030504040204" pitchFamily="34" charset="0"/>
              </a:rPr>
              <a:t>- To simulate the type of drainage (microturbulence , oriented shear) that occure in</a:t>
            </a:r>
            <a:r>
              <a:rPr lang="en-US" altLang="en-US" sz="1800">
                <a:solidFill>
                  <a:schemeClr val="bg1"/>
                </a:solidFill>
                <a:latin typeface="Tahoma" panose="020B0604030504040204" pitchFamily="34" charset="0"/>
                <a:cs typeface="Tahoma" panose="020B0604030504040204" pitchFamily="34" charset="0"/>
              </a:rPr>
              <a:t> </a:t>
            </a:r>
            <a:r>
              <a:rPr lang="en-US" altLang="en-US" sz="1800">
                <a:solidFill>
                  <a:schemeClr val="folHlink"/>
                </a:solidFill>
                <a:latin typeface="Tahoma" panose="020B0604030504040204" pitchFamily="34" charset="0"/>
                <a:cs typeface="Tahoma" panose="020B0604030504040204" pitchFamily="34" charset="0"/>
              </a:rPr>
              <a:t>the paper machine wire.</a:t>
            </a:r>
          </a:p>
          <a:p>
            <a:pPr>
              <a:spcBef>
                <a:spcPct val="0"/>
              </a:spcBef>
              <a:buFontTx/>
              <a:buNone/>
            </a:pPr>
            <a:r>
              <a:rPr lang="en-US" altLang="en-US" sz="1800">
                <a:latin typeface="Tahoma" panose="020B0604030504040204" pitchFamily="34" charset="0"/>
                <a:cs typeface="Tahoma" panose="020B0604030504040204" pitchFamily="34" charset="0"/>
              </a:rPr>
              <a:t>- To study stock  drainage phenomena under conditions more closely approaching the paper machine.</a:t>
            </a:r>
          </a:p>
          <a:p>
            <a:pPr>
              <a:spcBef>
                <a:spcPct val="0"/>
              </a:spcBef>
              <a:buFontTx/>
              <a:buNone/>
            </a:pPr>
            <a:r>
              <a:rPr lang="en-US" altLang="en-US" sz="1800">
                <a:solidFill>
                  <a:srgbClr val="CC0066"/>
                </a:solidFill>
                <a:latin typeface="Tahoma" panose="020B0604030504040204" pitchFamily="34" charset="0"/>
                <a:cs typeface="Tahoma" panose="020B0604030504040204" pitchFamily="34" charset="0"/>
              </a:rPr>
              <a:t>- To characterizing stock drainage on</a:t>
            </a:r>
          </a:p>
          <a:p>
            <a:pPr>
              <a:spcBef>
                <a:spcPct val="0"/>
              </a:spcBef>
              <a:buFontTx/>
              <a:buNone/>
            </a:pPr>
            <a:r>
              <a:rPr lang="en-US" altLang="en-US" sz="1800">
                <a:solidFill>
                  <a:srgbClr val="CC0066"/>
                </a:solidFill>
                <a:latin typeface="Tahoma" panose="020B0604030504040204" pitchFamily="34" charset="0"/>
                <a:cs typeface="Tahoma" panose="020B0604030504040204" pitchFamily="34" charset="0"/>
              </a:rPr>
              <a:t>   the forming wire  </a:t>
            </a:r>
          </a:p>
          <a:p>
            <a:pPr>
              <a:spcBef>
                <a:spcPct val="0"/>
              </a:spcBef>
              <a:buFontTx/>
              <a:buNone/>
            </a:pPr>
            <a:r>
              <a:rPr lang="en-US" altLang="en-US" sz="1800">
                <a:solidFill>
                  <a:srgbClr val="CC0066"/>
                </a:solidFill>
                <a:latin typeface="Tahoma" panose="020B0604030504040204" pitchFamily="34" charset="0"/>
                <a:cs typeface="Tahoma" panose="020B0604030504040204" pitchFamily="34" charset="0"/>
              </a:rPr>
              <a:t>- Measuring the first pass retention</a:t>
            </a:r>
          </a:p>
          <a:p>
            <a:pPr>
              <a:spcBef>
                <a:spcPct val="0"/>
              </a:spcBef>
              <a:buFontTx/>
              <a:buNone/>
            </a:pPr>
            <a:r>
              <a:rPr lang="en-US" altLang="en-US" sz="1800">
                <a:solidFill>
                  <a:srgbClr val="CC0066"/>
                </a:solidFill>
                <a:latin typeface="Tahoma" panose="020B0604030504040204" pitchFamily="34" charset="0"/>
                <a:cs typeface="Tahoma" panose="020B0604030504040204" pitchFamily="34" charset="0"/>
              </a:rPr>
              <a:t>- Carrying out retention aid studies</a:t>
            </a:r>
          </a:p>
          <a:p>
            <a:pPr>
              <a:spcBef>
                <a:spcPct val="0"/>
              </a:spcBef>
              <a:buFontTx/>
              <a:buNone/>
            </a:pPr>
            <a:endParaRPr lang="en-US" altLang="en-US">
              <a:latin typeface="Angsana New" panose="02020603050405020304" pitchFamily="18" charset="-34"/>
              <a:cs typeface="Angsana New" panose="02020603050405020304" pitchFamily="18" charset="-34"/>
            </a:endParaRPr>
          </a:p>
        </p:txBody>
      </p:sp>
      <p:pic>
        <p:nvPicPr>
          <p:cNvPr id="219141" name="Picture 10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34025" y="1571625"/>
            <a:ext cx="3432175" cy="3762375"/>
          </a:xfrm>
          <a:prstGeom prst="rect">
            <a:avLst/>
          </a:prstGeom>
          <a:noFill/>
          <a:ln w="57150" cmpd="thinThick">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9142" name="Rectangle 1025"/>
          <p:cNvSpPr txBox="1">
            <a:spLocks noChangeArrowheads="1"/>
          </p:cNvSpPr>
          <p:nvPr/>
        </p:nvSpPr>
        <p:spPr bwMode="auto">
          <a:xfrm>
            <a:off x="358775" y="1571625"/>
            <a:ext cx="5653088"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a:solidFill>
                  <a:srgbClr val="0066FF"/>
                </a:solidFill>
                <a:latin typeface="Tahoma" panose="020B0604030504040204" pitchFamily="34" charset="0"/>
                <a:cs typeface="Tahoma" panose="020B0604030504040204" pitchFamily="34" charset="0"/>
              </a:rPr>
              <a:t>DYNAMIC  DRAINAGE  :</a:t>
            </a:r>
            <a:endParaRPr lang="th-TH" altLang="en-US" sz="2000" b="1">
              <a:solidFill>
                <a:srgbClr val="0066FF"/>
              </a:solidFill>
              <a:latin typeface="Tahoma" panose="020B0604030504040204" pitchFamily="34" charset="0"/>
              <a:cs typeface="Tahoma" panose="020B0604030504040204" pitchFamily="34" charset="0"/>
            </a:endParaRPr>
          </a:p>
        </p:txBody>
      </p:sp>
    </p:spTree>
    <p:extLst>
      <p:ext uri="{BB962C8B-B14F-4D97-AF65-F5344CB8AC3E}">
        <p14:creationId xmlns:p14="http://schemas.microsoft.com/office/powerpoint/2010/main" val="1162856744"/>
      </p:ext>
    </p:extLst>
  </p:cSld>
  <p:clrMapOvr>
    <a:masterClrMapping/>
  </p:clrMapOvr>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7. Properties and Testing of pulp</a:t>
            </a:r>
          </a:p>
        </p:txBody>
      </p:sp>
      <p:sp>
        <p:nvSpPr>
          <p:cNvPr id="10" name="Rectangle 1025"/>
          <p:cNvSpPr txBox="1">
            <a:spLocks noChangeArrowheads="1"/>
          </p:cNvSpPr>
          <p:nvPr/>
        </p:nvSpPr>
        <p:spPr bwMode="auto">
          <a:xfrm>
            <a:off x="342900" y="962025"/>
            <a:ext cx="3832225" cy="539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anose="020F0502020204030204" pitchFamily="34" charset="0"/>
              </a:defRPr>
            </a:lvl2pPr>
            <a:lvl3pPr algn="ctr" rtl="0" eaLnBrk="0" fontAlgn="base" hangingPunct="0">
              <a:spcBef>
                <a:spcPct val="0"/>
              </a:spcBef>
              <a:spcAft>
                <a:spcPct val="0"/>
              </a:spcAft>
              <a:defRPr sz="4400">
                <a:solidFill>
                  <a:schemeClr val="tx1"/>
                </a:solidFill>
                <a:latin typeface="Calibri" panose="020F0502020204030204" pitchFamily="34" charset="0"/>
              </a:defRPr>
            </a:lvl3pPr>
            <a:lvl4pPr algn="ctr" rtl="0" eaLnBrk="0" fontAlgn="base" hangingPunct="0">
              <a:spcBef>
                <a:spcPct val="0"/>
              </a:spcBef>
              <a:spcAft>
                <a:spcPct val="0"/>
              </a:spcAft>
              <a:defRPr sz="4400">
                <a:solidFill>
                  <a:schemeClr val="tx1"/>
                </a:solidFill>
                <a:latin typeface="Calibri" panose="020F0502020204030204" pitchFamily="34" charset="0"/>
              </a:defRPr>
            </a:lvl4pPr>
            <a:lvl5pPr algn="ctr" rtl="0" eaLnBrk="0" fontAlgn="base" hangingPunct="0">
              <a:spcBef>
                <a:spcPct val="0"/>
              </a:spcBef>
              <a:spcAft>
                <a:spcPct val="0"/>
              </a:spcAft>
              <a:defRPr sz="4400">
                <a:solidFill>
                  <a:schemeClr val="tx1"/>
                </a:solidFill>
                <a:latin typeface="Calibri" panose="020F0502020204030204" pitchFamily="34"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a:lstStyle>
          <a:p>
            <a:pPr algn="l">
              <a:defRPr/>
            </a:pPr>
            <a:r>
              <a:rPr lang="en-US" altLang="en-US" sz="2800" b="1" dirty="0" smtClean="0">
                <a:effectLst>
                  <a:outerShdw blurRad="38100" dist="38100" dir="2700000" algn="tl">
                    <a:srgbClr val="C0C0C0"/>
                  </a:outerShdw>
                </a:effectLst>
                <a:latin typeface="Tahoma" panose="020B0604030504040204" pitchFamily="34" charset="0"/>
                <a:ea typeface="Tahoma" panose="020B0604030504040204" pitchFamily="34" charset="0"/>
                <a:cs typeface="Tahoma" panose="020B0604030504040204" pitchFamily="34" charset="0"/>
              </a:rPr>
              <a:t> PULP  EVALUATION</a:t>
            </a:r>
            <a:r>
              <a:rPr lang="en-US" altLang="en-US" sz="2000" dirty="0" smtClean="0">
                <a:latin typeface="Tahoma" panose="020B0604030504040204" pitchFamily="34" charset="0"/>
                <a:ea typeface="Tahoma" panose="020B0604030504040204" pitchFamily="34" charset="0"/>
                <a:cs typeface="Tahoma" panose="020B0604030504040204" pitchFamily="34" charset="0"/>
              </a:rPr>
              <a:t> </a:t>
            </a:r>
            <a:endParaRPr lang="th-TH" altLang="en-US" sz="2000" dirty="0">
              <a:latin typeface="Tahoma" panose="020B0604030504040204" pitchFamily="34" charset="0"/>
              <a:ea typeface="Tahoma" panose="020B0604030504040204" pitchFamily="34" charset="0"/>
              <a:cs typeface="Tahoma" panose="020B0604030504040204" pitchFamily="34" charset="0"/>
            </a:endParaRPr>
          </a:p>
        </p:txBody>
      </p:sp>
      <p:sp>
        <p:nvSpPr>
          <p:cNvPr id="221188" name="Text Box 1032"/>
          <p:cNvSpPr txBox="1">
            <a:spLocks noChangeArrowheads="1"/>
          </p:cNvSpPr>
          <p:nvPr/>
        </p:nvSpPr>
        <p:spPr bwMode="auto">
          <a:xfrm>
            <a:off x="384175" y="1501775"/>
            <a:ext cx="8391525" cy="923925"/>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solidFill>
                  <a:srgbClr val="CC0066"/>
                </a:solidFill>
                <a:latin typeface="Tahoma" panose="020B0604030504040204" pitchFamily="34" charset="0"/>
                <a:cs typeface="Tahoma" panose="020B0604030504040204" pitchFamily="34" charset="0"/>
              </a:rPr>
              <a:t>This testing method is for evaluating the quality of pulp. By beating the pulp at control condition. After that the pulp is made into Handsheet that will be tested for pulp strength properties, brightness </a:t>
            </a:r>
          </a:p>
        </p:txBody>
      </p:sp>
      <p:sp>
        <p:nvSpPr>
          <p:cNvPr id="221189" name="Text Box 3"/>
          <p:cNvSpPr txBox="1">
            <a:spLocks noChangeArrowheads="1"/>
          </p:cNvSpPr>
          <p:nvPr/>
        </p:nvSpPr>
        <p:spPr bwMode="auto">
          <a:xfrm>
            <a:off x="146050" y="3328988"/>
            <a:ext cx="1003300" cy="522287"/>
          </a:xfrm>
          <a:prstGeom prst="rect">
            <a:avLst/>
          </a:prstGeom>
          <a:solidFill>
            <a:srgbClr val="FFFF00"/>
          </a:solidFill>
          <a:ln w="76200">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50000"/>
              </a:spcBef>
              <a:buFontTx/>
              <a:buNone/>
            </a:pPr>
            <a:r>
              <a:rPr lang="en-US" altLang="en-US" sz="2800" b="1">
                <a:solidFill>
                  <a:srgbClr val="CC0066"/>
                </a:solidFill>
                <a:latin typeface="Angsana New" panose="02020603050405020304" pitchFamily="18" charset="-34"/>
                <a:cs typeface="Angsana New" panose="02020603050405020304" pitchFamily="18" charset="-34"/>
              </a:rPr>
              <a:t>PULP </a:t>
            </a:r>
          </a:p>
        </p:txBody>
      </p:sp>
      <p:sp>
        <p:nvSpPr>
          <p:cNvPr id="221190" name="Text Box 4"/>
          <p:cNvSpPr txBox="1">
            <a:spLocks noChangeArrowheads="1"/>
          </p:cNvSpPr>
          <p:nvPr/>
        </p:nvSpPr>
        <p:spPr bwMode="auto">
          <a:xfrm>
            <a:off x="1636713" y="3328988"/>
            <a:ext cx="2006600" cy="522287"/>
          </a:xfrm>
          <a:prstGeom prst="rect">
            <a:avLst/>
          </a:prstGeom>
          <a:solidFill>
            <a:srgbClr val="FFFF00"/>
          </a:solidFill>
          <a:ln w="76200">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50000"/>
              </a:spcBef>
              <a:buFontTx/>
              <a:buNone/>
            </a:pPr>
            <a:r>
              <a:rPr lang="en-US" altLang="en-US" sz="2800" b="1">
                <a:solidFill>
                  <a:srgbClr val="CC0066"/>
                </a:solidFill>
                <a:latin typeface="Angsana New" panose="02020603050405020304" pitchFamily="18" charset="-34"/>
                <a:cs typeface="Angsana New" panose="02020603050405020304" pitchFamily="18" charset="-34"/>
              </a:rPr>
              <a:t>DISINTEGRATE</a:t>
            </a:r>
          </a:p>
        </p:txBody>
      </p:sp>
      <p:sp>
        <p:nvSpPr>
          <p:cNvPr id="221191" name="Text Box 5"/>
          <p:cNvSpPr txBox="1">
            <a:spLocks noChangeArrowheads="1"/>
          </p:cNvSpPr>
          <p:nvPr/>
        </p:nvSpPr>
        <p:spPr bwMode="auto">
          <a:xfrm>
            <a:off x="4229100" y="3328988"/>
            <a:ext cx="1387475" cy="522287"/>
          </a:xfrm>
          <a:prstGeom prst="rect">
            <a:avLst/>
          </a:prstGeom>
          <a:solidFill>
            <a:srgbClr val="FFFF00"/>
          </a:solidFill>
          <a:ln w="76200">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50000"/>
              </a:spcBef>
              <a:buFontTx/>
              <a:buNone/>
            </a:pPr>
            <a:r>
              <a:rPr lang="en-US" altLang="en-US" sz="2800" b="1">
                <a:solidFill>
                  <a:srgbClr val="CC0066"/>
                </a:solidFill>
                <a:latin typeface="Angsana New" panose="02020603050405020304" pitchFamily="18" charset="-34"/>
                <a:cs typeface="Angsana New" panose="02020603050405020304" pitchFamily="18" charset="-34"/>
              </a:rPr>
              <a:t>BEATING</a:t>
            </a:r>
          </a:p>
        </p:txBody>
      </p:sp>
      <p:sp>
        <p:nvSpPr>
          <p:cNvPr id="221192" name="Text Box 6"/>
          <p:cNvSpPr txBox="1">
            <a:spLocks noChangeArrowheads="1"/>
          </p:cNvSpPr>
          <p:nvPr/>
        </p:nvSpPr>
        <p:spPr bwMode="auto">
          <a:xfrm>
            <a:off x="6035675" y="3359150"/>
            <a:ext cx="1662113" cy="461963"/>
          </a:xfrm>
          <a:prstGeom prst="rect">
            <a:avLst/>
          </a:prstGeom>
          <a:solidFill>
            <a:srgbClr val="FFFF00"/>
          </a:solidFill>
          <a:ln w="25400">
            <a:solidFill>
              <a:srgbClr val="FFFF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50000"/>
              </a:spcBef>
              <a:buFontTx/>
              <a:buNone/>
            </a:pPr>
            <a:r>
              <a:rPr lang="en-US" altLang="en-US" sz="2400" b="1">
                <a:solidFill>
                  <a:srgbClr val="CC0066"/>
                </a:solidFill>
                <a:latin typeface="Angsana New" panose="02020603050405020304" pitchFamily="18" charset="-34"/>
                <a:cs typeface="Angsana New" panose="02020603050405020304" pitchFamily="18" charset="-34"/>
              </a:rPr>
              <a:t>FORMING  H/S</a:t>
            </a:r>
          </a:p>
        </p:txBody>
      </p:sp>
      <p:sp>
        <p:nvSpPr>
          <p:cNvPr id="221193" name="Text Box 7"/>
          <p:cNvSpPr txBox="1">
            <a:spLocks noChangeArrowheads="1"/>
          </p:cNvSpPr>
          <p:nvPr/>
        </p:nvSpPr>
        <p:spPr bwMode="auto">
          <a:xfrm>
            <a:off x="8016875" y="3328988"/>
            <a:ext cx="1038225" cy="522287"/>
          </a:xfrm>
          <a:prstGeom prst="rect">
            <a:avLst/>
          </a:prstGeom>
          <a:solidFill>
            <a:srgbClr val="FFFF00"/>
          </a:solidFill>
          <a:ln w="25400">
            <a:solidFill>
              <a:srgbClr val="FFFF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50000"/>
              </a:spcBef>
              <a:buFontTx/>
              <a:buNone/>
            </a:pPr>
            <a:r>
              <a:rPr lang="en-US" altLang="en-US" sz="2800" b="1">
                <a:solidFill>
                  <a:srgbClr val="CC0066"/>
                </a:solidFill>
                <a:latin typeface="Angsana New" panose="02020603050405020304" pitchFamily="18" charset="-34"/>
                <a:cs typeface="Angsana New" panose="02020603050405020304" pitchFamily="18" charset="-34"/>
              </a:rPr>
              <a:t>TEST</a:t>
            </a:r>
          </a:p>
        </p:txBody>
      </p:sp>
      <p:cxnSp>
        <p:nvCxnSpPr>
          <p:cNvPr id="7" name="Straight Arrow Connector 6"/>
          <p:cNvCxnSpPr>
            <a:stCxn id="221189" idx="3"/>
            <a:endCxn id="221190" idx="1"/>
          </p:cNvCxnSpPr>
          <p:nvPr/>
        </p:nvCxnSpPr>
        <p:spPr>
          <a:xfrm>
            <a:off x="1149350" y="3590925"/>
            <a:ext cx="48736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a:stCxn id="221190" idx="3"/>
            <a:endCxn id="221191" idx="1"/>
          </p:cNvCxnSpPr>
          <p:nvPr/>
        </p:nvCxnSpPr>
        <p:spPr>
          <a:xfrm>
            <a:off x="3643313" y="3590925"/>
            <a:ext cx="585787"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stCxn id="221191" idx="3"/>
            <a:endCxn id="221192" idx="1"/>
          </p:cNvCxnSpPr>
          <p:nvPr/>
        </p:nvCxnSpPr>
        <p:spPr>
          <a:xfrm>
            <a:off x="5616575" y="3590925"/>
            <a:ext cx="41910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p:cNvCxnSpPr>
            <a:stCxn id="221192" idx="3"/>
            <a:endCxn id="221193" idx="1"/>
          </p:cNvCxnSpPr>
          <p:nvPr/>
        </p:nvCxnSpPr>
        <p:spPr>
          <a:xfrm>
            <a:off x="7697788" y="3590925"/>
            <a:ext cx="319087"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2" name="Rectangle 14"/>
          <p:cNvSpPr txBox="1">
            <a:spLocks noChangeArrowheads="1"/>
          </p:cNvSpPr>
          <p:nvPr/>
        </p:nvSpPr>
        <p:spPr bwMode="auto">
          <a:xfrm>
            <a:off x="495300" y="2530475"/>
            <a:ext cx="7467600" cy="542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anose="020F0502020204030204" pitchFamily="34" charset="0"/>
              </a:defRPr>
            </a:lvl2pPr>
            <a:lvl3pPr algn="ctr" rtl="0" eaLnBrk="0" fontAlgn="base" hangingPunct="0">
              <a:spcBef>
                <a:spcPct val="0"/>
              </a:spcBef>
              <a:spcAft>
                <a:spcPct val="0"/>
              </a:spcAft>
              <a:defRPr sz="4400">
                <a:solidFill>
                  <a:schemeClr val="tx1"/>
                </a:solidFill>
                <a:latin typeface="Calibri" panose="020F0502020204030204" pitchFamily="34" charset="0"/>
              </a:defRPr>
            </a:lvl3pPr>
            <a:lvl4pPr algn="ctr" rtl="0" eaLnBrk="0" fontAlgn="base" hangingPunct="0">
              <a:spcBef>
                <a:spcPct val="0"/>
              </a:spcBef>
              <a:spcAft>
                <a:spcPct val="0"/>
              </a:spcAft>
              <a:defRPr sz="4400">
                <a:solidFill>
                  <a:schemeClr val="tx1"/>
                </a:solidFill>
                <a:latin typeface="Calibri" panose="020F0502020204030204" pitchFamily="34" charset="0"/>
              </a:defRPr>
            </a:lvl4pPr>
            <a:lvl5pPr algn="ctr" rtl="0" eaLnBrk="0" fontAlgn="base" hangingPunct="0">
              <a:spcBef>
                <a:spcPct val="0"/>
              </a:spcBef>
              <a:spcAft>
                <a:spcPct val="0"/>
              </a:spcAft>
              <a:defRPr sz="4400">
                <a:solidFill>
                  <a:schemeClr val="tx1"/>
                </a:solidFill>
                <a:latin typeface="Calibri" panose="020F0502020204030204" pitchFamily="34"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a:lstStyle>
          <a:p>
            <a:pPr algn="l">
              <a:defRPr/>
            </a:pPr>
            <a:r>
              <a:rPr lang="en-US" altLang="en-US" sz="2800" b="1" dirty="0">
                <a:effectLst>
                  <a:outerShdw blurRad="38100" dist="38100" dir="2700000" algn="tl">
                    <a:srgbClr val="C0C0C0"/>
                  </a:outerShdw>
                </a:effectLst>
                <a:latin typeface="Tahoma" panose="020B0604030504040204" pitchFamily="34" charset="0"/>
                <a:ea typeface="Tahoma" panose="020B0604030504040204" pitchFamily="34" charset="0"/>
                <a:cs typeface="Tahoma" panose="020B0604030504040204" pitchFamily="34" charset="0"/>
              </a:rPr>
              <a:t>BEATER </a:t>
            </a:r>
            <a:r>
              <a:rPr lang="en-US" altLang="en-US" sz="2800" b="1" dirty="0" smtClean="0">
                <a:effectLst>
                  <a:outerShdw blurRad="38100" dist="38100" dir="2700000" algn="tl">
                    <a:srgbClr val="C0C0C0"/>
                  </a:outerShdw>
                </a:effectLst>
                <a:latin typeface="Tahoma" panose="020B0604030504040204" pitchFamily="34" charset="0"/>
                <a:ea typeface="Tahoma" panose="020B0604030504040204" pitchFamily="34" charset="0"/>
                <a:cs typeface="Tahoma" panose="020B0604030504040204" pitchFamily="34" charset="0"/>
              </a:rPr>
              <a:t>EVALUATION PROCEDURE </a:t>
            </a:r>
            <a:r>
              <a:rPr lang="en-US" altLang="en-US" sz="2800" b="1" dirty="0">
                <a:effectLst>
                  <a:outerShdw blurRad="38100" dist="38100" dir="2700000" algn="tl">
                    <a:srgbClr val="C0C0C0"/>
                  </a:outerShdw>
                </a:effectLst>
                <a:latin typeface="Tahoma" panose="020B0604030504040204" pitchFamily="34" charset="0"/>
                <a:ea typeface="Tahoma" panose="020B0604030504040204" pitchFamily="34" charset="0"/>
                <a:cs typeface="Tahoma" panose="020B0604030504040204" pitchFamily="34" charset="0"/>
              </a:rPr>
              <a:t>:</a:t>
            </a:r>
            <a:endParaRPr lang="th-TH" altLang="en-US" sz="2800" b="1" dirty="0">
              <a:effectLst>
                <a:outerShdw blurRad="38100" dist="38100" dir="2700000" algn="tl">
                  <a:srgbClr val="C0C0C0"/>
                </a:outerShdw>
              </a:effectLst>
              <a:latin typeface="Tahoma" panose="020B0604030504040204" pitchFamily="34" charset="0"/>
              <a:ea typeface="Tahoma" panose="020B0604030504040204" pitchFamily="34" charset="0"/>
              <a:cs typeface="Tahoma" panose="020B0604030504040204" pitchFamily="34" charset="0"/>
            </a:endParaRPr>
          </a:p>
        </p:txBody>
      </p:sp>
      <p:pic>
        <p:nvPicPr>
          <p:cNvPr id="221199"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6050" y="4368800"/>
            <a:ext cx="1154113" cy="1558925"/>
          </a:xfrm>
          <a:prstGeom prst="rect">
            <a:avLst/>
          </a:prstGeom>
          <a:noFill/>
          <a:ln w="9525">
            <a:solidFill>
              <a:srgbClr val="E6B9B8"/>
            </a:solidFill>
            <a:miter lim="800000"/>
            <a:headEnd/>
            <a:tailEnd/>
          </a:ln>
          <a:extLst>
            <a:ext uri="{909E8E84-426E-40DD-AFC4-6F175D3DCCD1}">
              <a14:hiddenFill xmlns:a14="http://schemas.microsoft.com/office/drawing/2010/main">
                <a:solidFill>
                  <a:srgbClr val="FFFFFF"/>
                </a:solidFill>
              </a14:hiddenFill>
            </a:ext>
          </a:extLst>
        </p:spPr>
      </p:pic>
      <p:pic>
        <p:nvPicPr>
          <p:cNvPr id="221200" name="Picture 6" descr="DSC0006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35413" y="4113213"/>
            <a:ext cx="1752600" cy="2205037"/>
          </a:xfrm>
          <a:prstGeom prst="rect">
            <a:avLst/>
          </a:prstGeom>
          <a:noFill/>
          <a:ln w="57150" cmpd="thinThick">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221201" name="Picture 3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5991225" y="4051300"/>
            <a:ext cx="1706563" cy="2525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1202" name="Picture 71"/>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7342188" y="4065588"/>
            <a:ext cx="882650" cy="94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1203" name="Picture 8" descr="DSC00068"/>
          <p:cNvPicPr>
            <a:picLocks noChangeAspect="1" noChangeArrowheads="1"/>
          </p:cNvPicPr>
          <p:nvPr/>
        </p:nvPicPr>
        <p:blipFill>
          <a:blip r:embed="rId7">
            <a:extLst>
              <a:ext uri="{28A0092B-C50C-407E-A947-70E740481C1C}">
                <a14:useLocalDpi xmlns:a14="http://schemas.microsoft.com/office/drawing/2010/main" val="0"/>
              </a:ext>
            </a:extLst>
          </a:blip>
          <a:srcRect l="17204" t="7402" r="26089" b="8315"/>
          <a:stretch>
            <a:fillRect/>
          </a:stretch>
        </p:blipFill>
        <p:spPr bwMode="auto">
          <a:xfrm>
            <a:off x="1798638" y="4113213"/>
            <a:ext cx="1562100" cy="2076450"/>
          </a:xfrm>
          <a:prstGeom prst="rect">
            <a:avLst/>
          </a:prstGeom>
          <a:noFill/>
          <a:ln w="57150" cmpd="thinThick">
            <a:solidFill>
              <a:schemeClr val="tx1"/>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01519682"/>
      </p:ext>
    </p:extLst>
  </p:cSld>
  <p:clrMapOvr>
    <a:masterClrMapping/>
  </p:clrMapOvr>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4"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7. Properties and Testing of pulp</a:t>
            </a:r>
          </a:p>
        </p:txBody>
      </p:sp>
      <p:pic>
        <p:nvPicPr>
          <p:cNvPr id="223235" name="Picture 10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38875" y="990600"/>
            <a:ext cx="2652713" cy="3074988"/>
          </a:xfrm>
          <a:prstGeom prst="rect">
            <a:avLst/>
          </a:prstGeom>
          <a:noFill/>
          <a:ln w="57150" cmpd="thinThick">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3236" name="Text Box 1034"/>
          <p:cNvSpPr txBox="1">
            <a:spLocks noChangeArrowheads="1"/>
          </p:cNvSpPr>
          <p:nvPr/>
        </p:nvSpPr>
        <p:spPr bwMode="auto">
          <a:xfrm>
            <a:off x="293688" y="1398588"/>
            <a:ext cx="5651500" cy="1754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solidFill>
                  <a:srgbClr val="6600CC"/>
                </a:solidFill>
                <a:latin typeface="Tahoma" panose="020B0604030504040204" pitchFamily="34" charset="0"/>
                <a:cs typeface="Tahoma" panose="020B0604030504040204" pitchFamily="34" charset="0"/>
              </a:rPr>
              <a:t>A  measured amount of  pulp of specified  stock  concentration  is  beaten  between  the  roll  bars and bedplate  of  a beater. Samples  are withdrawn at regular  intervals  during treatment  to  determine  their  beating   degree and  to be made  into laboratory  handsheets  for evaluation. </a:t>
            </a:r>
          </a:p>
        </p:txBody>
      </p:sp>
      <p:sp>
        <p:nvSpPr>
          <p:cNvPr id="21" name="Rectangle 1025"/>
          <p:cNvSpPr txBox="1">
            <a:spLocks noChangeArrowheads="1"/>
          </p:cNvSpPr>
          <p:nvPr/>
        </p:nvSpPr>
        <p:spPr bwMode="auto">
          <a:xfrm>
            <a:off x="0" y="795338"/>
            <a:ext cx="6238875"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anose="020F0502020204030204" pitchFamily="34" charset="0"/>
              </a:defRPr>
            </a:lvl2pPr>
            <a:lvl3pPr algn="ctr" rtl="0" eaLnBrk="0" fontAlgn="base" hangingPunct="0">
              <a:spcBef>
                <a:spcPct val="0"/>
              </a:spcBef>
              <a:spcAft>
                <a:spcPct val="0"/>
              </a:spcAft>
              <a:defRPr sz="4400">
                <a:solidFill>
                  <a:schemeClr val="tx1"/>
                </a:solidFill>
                <a:latin typeface="Calibri" panose="020F0502020204030204" pitchFamily="34" charset="0"/>
              </a:defRPr>
            </a:lvl3pPr>
            <a:lvl4pPr algn="ctr" rtl="0" eaLnBrk="0" fontAlgn="base" hangingPunct="0">
              <a:spcBef>
                <a:spcPct val="0"/>
              </a:spcBef>
              <a:spcAft>
                <a:spcPct val="0"/>
              </a:spcAft>
              <a:defRPr sz="4400">
                <a:solidFill>
                  <a:schemeClr val="tx1"/>
                </a:solidFill>
                <a:latin typeface="Calibri" panose="020F0502020204030204" pitchFamily="34" charset="0"/>
              </a:defRPr>
            </a:lvl4pPr>
            <a:lvl5pPr algn="ctr" rtl="0" eaLnBrk="0" fontAlgn="base" hangingPunct="0">
              <a:spcBef>
                <a:spcPct val="0"/>
              </a:spcBef>
              <a:spcAft>
                <a:spcPct val="0"/>
              </a:spcAft>
              <a:defRPr sz="4400">
                <a:solidFill>
                  <a:schemeClr val="tx1"/>
                </a:solidFill>
                <a:latin typeface="Calibri" panose="020F0502020204030204" pitchFamily="34"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a:lstStyle>
          <a:p>
            <a:pPr>
              <a:defRPr/>
            </a:pPr>
            <a:r>
              <a:rPr lang="en-US" altLang="en-US" sz="2100" b="1" dirty="0" smtClean="0">
                <a:solidFill>
                  <a:srgbClr val="990000"/>
                </a:solidFill>
                <a:effectLst>
                  <a:outerShdw blurRad="38100" dist="38100" dir="2700000" algn="tl">
                    <a:srgbClr val="C0C0C0"/>
                  </a:outerShdw>
                </a:effectLst>
                <a:latin typeface="Tahoma" panose="020B0604030504040204" pitchFamily="34" charset="0"/>
                <a:ea typeface="Tahoma" panose="020B0604030504040204" pitchFamily="34" charset="0"/>
                <a:cs typeface="Tahoma" panose="020B0604030504040204" pitchFamily="34" charset="0"/>
              </a:rPr>
              <a:t>BEATER  EVALUATION :  </a:t>
            </a:r>
            <a:r>
              <a:rPr lang="en-US" altLang="en-US" sz="2100" b="1" dirty="0" smtClean="0">
                <a:effectLst>
                  <a:outerShdw blurRad="38100" dist="38100" dir="2700000" algn="tl">
                    <a:srgbClr val="C0C0C0"/>
                  </a:outerShdw>
                </a:effectLst>
                <a:latin typeface="Tahoma" panose="020B0604030504040204" pitchFamily="34" charset="0"/>
                <a:ea typeface="Tahoma" panose="020B0604030504040204" pitchFamily="34" charset="0"/>
                <a:cs typeface="Tahoma" panose="020B0604030504040204" pitchFamily="34" charset="0"/>
              </a:rPr>
              <a:t>VALLEY  BEATER</a:t>
            </a:r>
            <a:endParaRPr lang="th-TH" altLang="en-US" sz="2100" b="1" dirty="0">
              <a:solidFill>
                <a:srgbClr val="990000"/>
              </a:solidFill>
              <a:latin typeface="Tahoma" panose="020B0604030504040204" pitchFamily="34" charset="0"/>
              <a:ea typeface="Tahoma" panose="020B0604030504040204" pitchFamily="34" charset="0"/>
              <a:cs typeface="Tahoma" panose="020B0604030504040204" pitchFamily="34" charset="0"/>
            </a:endParaRPr>
          </a:p>
        </p:txBody>
      </p:sp>
      <p:pic>
        <p:nvPicPr>
          <p:cNvPr id="223238"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6863" y="3979863"/>
            <a:ext cx="2470150" cy="2689225"/>
          </a:xfrm>
          <a:prstGeom prst="rect">
            <a:avLst/>
          </a:prstGeom>
          <a:noFill/>
          <a:ln w="57150" cmpd="thinThick">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3239" name="Text Box 10"/>
          <p:cNvSpPr txBox="1">
            <a:spLocks noChangeArrowheads="1"/>
          </p:cNvSpPr>
          <p:nvPr/>
        </p:nvSpPr>
        <p:spPr bwMode="auto">
          <a:xfrm>
            <a:off x="2832100" y="4252913"/>
            <a:ext cx="5854700" cy="1816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a:solidFill>
                  <a:srgbClr val="6600CC"/>
                </a:solidFill>
                <a:latin typeface="Tahoma" panose="020B0604030504040204" pitchFamily="34" charset="0"/>
                <a:cs typeface="Tahoma" panose="020B0604030504040204" pitchFamily="34" charset="0"/>
              </a:rPr>
              <a:t>A  measured  amount  of  pulp  at  specified concentration  is  beaten  between  a  roll with  bars  and  a  smooth-walled  beater  housing , both  rotating  in  the same  direction  but at  different peripheral speeds . Beating action  is  achieved through  the differential rotational  action  and  the  application  of  a specified load  between  the  beater  roll  and  housing  for a  specified  number of  revolutions.</a:t>
            </a:r>
          </a:p>
        </p:txBody>
      </p:sp>
      <p:sp>
        <p:nvSpPr>
          <p:cNvPr id="25" name="Rectangle 1"/>
          <p:cNvSpPr txBox="1">
            <a:spLocks noChangeArrowheads="1"/>
          </p:cNvSpPr>
          <p:nvPr/>
        </p:nvSpPr>
        <p:spPr bwMode="auto">
          <a:xfrm>
            <a:off x="147638" y="3340100"/>
            <a:ext cx="4968875"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anose="020F0502020204030204" pitchFamily="34" charset="0"/>
              </a:defRPr>
            </a:lvl2pPr>
            <a:lvl3pPr algn="ctr" rtl="0" eaLnBrk="0" fontAlgn="base" hangingPunct="0">
              <a:spcBef>
                <a:spcPct val="0"/>
              </a:spcBef>
              <a:spcAft>
                <a:spcPct val="0"/>
              </a:spcAft>
              <a:defRPr sz="4400">
                <a:solidFill>
                  <a:schemeClr val="tx1"/>
                </a:solidFill>
                <a:latin typeface="Calibri" panose="020F0502020204030204" pitchFamily="34" charset="0"/>
              </a:defRPr>
            </a:lvl3pPr>
            <a:lvl4pPr algn="ctr" rtl="0" eaLnBrk="0" fontAlgn="base" hangingPunct="0">
              <a:spcBef>
                <a:spcPct val="0"/>
              </a:spcBef>
              <a:spcAft>
                <a:spcPct val="0"/>
              </a:spcAft>
              <a:defRPr sz="4400">
                <a:solidFill>
                  <a:schemeClr val="tx1"/>
                </a:solidFill>
                <a:latin typeface="Calibri" panose="020F0502020204030204" pitchFamily="34" charset="0"/>
              </a:defRPr>
            </a:lvl4pPr>
            <a:lvl5pPr algn="ctr" rtl="0" eaLnBrk="0" fontAlgn="base" hangingPunct="0">
              <a:spcBef>
                <a:spcPct val="0"/>
              </a:spcBef>
              <a:spcAft>
                <a:spcPct val="0"/>
              </a:spcAft>
              <a:defRPr sz="4400">
                <a:solidFill>
                  <a:schemeClr val="tx1"/>
                </a:solidFill>
                <a:latin typeface="Calibri" panose="020F0502020204030204" pitchFamily="34"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a:lstStyle>
          <a:p>
            <a:pPr>
              <a:defRPr/>
            </a:pPr>
            <a:r>
              <a:rPr lang="en-US" altLang="en-US" sz="2100" b="1" dirty="0">
                <a:solidFill>
                  <a:srgbClr val="990000"/>
                </a:solidFill>
                <a:effectLst>
                  <a:outerShdw blurRad="38100" dist="38100" dir="2700000" algn="tl">
                    <a:srgbClr val="C0C0C0"/>
                  </a:outerShdw>
                </a:effectLst>
                <a:latin typeface="Tahoma" panose="020B0604030504040204" pitchFamily="34" charset="0"/>
                <a:ea typeface="Tahoma" panose="020B0604030504040204" pitchFamily="34" charset="0"/>
                <a:cs typeface="Tahoma" panose="020B0604030504040204" pitchFamily="34" charset="0"/>
              </a:rPr>
              <a:t>BEATER  EVALUATION :  </a:t>
            </a:r>
            <a:r>
              <a:rPr lang="en-US" altLang="en-US" sz="2100" b="1" dirty="0">
                <a:effectLst>
                  <a:outerShdw blurRad="38100" dist="38100" dir="2700000" algn="tl">
                    <a:srgbClr val="C0C0C0"/>
                  </a:outerShdw>
                </a:effectLst>
                <a:latin typeface="Tahoma" panose="020B0604030504040204" pitchFamily="34" charset="0"/>
                <a:ea typeface="Tahoma" panose="020B0604030504040204" pitchFamily="34" charset="0"/>
                <a:cs typeface="Tahoma" panose="020B0604030504040204" pitchFamily="34" charset="0"/>
              </a:rPr>
              <a:t>PFI  MILL</a:t>
            </a:r>
            <a:endParaRPr lang="th-TH" altLang="en-US" sz="2100" b="1" dirty="0">
              <a:effectLst>
                <a:outerShdw blurRad="38100" dist="38100" dir="2700000" algn="tl">
                  <a:srgbClr val="C0C0C0"/>
                </a:outerShdw>
              </a:effectLst>
              <a:latin typeface="Tahoma" panose="020B0604030504040204" pitchFamily="34" charset="0"/>
              <a:ea typeface="Tahoma" panose="020B0604030504040204" pitchFamily="34" charset="0"/>
              <a:cs typeface="Tahoma" panose="020B0604030504040204" pitchFamily="34" charset="0"/>
            </a:endParaRPr>
          </a:p>
        </p:txBody>
      </p:sp>
    </p:spTree>
    <p:extLst>
      <p:ext uri="{BB962C8B-B14F-4D97-AF65-F5344CB8AC3E}">
        <p14:creationId xmlns:p14="http://schemas.microsoft.com/office/powerpoint/2010/main" val="4094746804"/>
      </p:ext>
    </p:extLst>
  </p:cSld>
  <p:clrMapOvr>
    <a:masterClrMapping/>
  </p:clrMapOvr>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7. Properties and Testing of pulp</a:t>
            </a:r>
          </a:p>
        </p:txBody>
      </p:sp>
      <p:sp>
        <p:nvSpPr>
          <p:cNvPr id="3" name="Rectangle 2"/>
          <p:cNvSpPr txBox="1">
            <a:spLocks noChangeArrowheads="1"/>
          </p:cNvSpPr>
          <p:nvPr/>
        </p:nvSpPr>
        <p:spPr bwMode="auto">
          <a:xfrm>
            <a:off x="1519238" y="1125538"/>
            <a:ext cx="168592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lst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buSzPct val="90000"/>
              <a:buFont typeface="Monotype Sorts" pitchFamily="2" charset="2"/>
              <a:buNone/>
              <a:defRPr/>
            </a:pPr>
            <a:r>
              <a:rPr lang="en-US" altLang="en-US" sz="2800" b="1" smtClean="0">
                <a:solidFill>
                  <a:srgbClr val="FC0128"/>
                </a:solidFill>
                <a:effectLst>
                  <a:outerShdw blurRad="38100" dist="38100" dir="2700000" algn="tl">
                    <a:srgbClr val="C0C0C0"/>
                  </a:outerShdw>
                </a:effectLst>
                <a:latin typeface="Comic Sans MS" panose="030F0702030302020204" pitchFamily="66" charset="0"/>
              </a:rPr>
              <a:t>PFI Mill</a:t>
            </a:r>
          </a:p>
          <a:p>
            <a:pPr>
              <a:buSzPct val="90000"/>
              <a:buFont typeface="Monotype Sorts" pitchFamily="2" charset="2"/>
              <a:buNone/>
              <a:defRPr/>
            </a:pPr>
            <a:endParaRPr lang="en-US" altLang="en-US" sz="2800" b="1">
              <a:solidFill>
                <a:srgbClr val="438E00"/>
              </a:solidFill>
              <a:effectLst>
                <a:outerShdw blurRad="38100" dist="38100" dir="2700000" algn="tl">
                  <a:srgbClr val="C0C0C0"/>
                </a:outerShdw>
              </a:effectLst>
              <a:latin typeface="Comic Sans MS" panose="030F0702030302020204" pitchFamily="66" charset="0"/>
            </a:endParaRPr>
          </a:p>
        </p:txBody>
      </p:sp>
      <p:sp>
        <p:nvSpPr>
          <p:cNvPr id="4" name="Rectangle 4"/>
          <p:cNvSpPr>
            <a:spLocks noChangeArrowheads="1"/>
          </p:cNvSpPr>
          <p:nvPr/>
        </p:nvSpPr>
        <p:spPr bwMode="auto">
          <a:xfrm>
            <a:off x="5338763" y="1125538"/>
            <a:ext cx="2743200"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lstStyle/>
          <a:p>
            <a:pPr>
              <a:buFont typeface="Monotype Sorts" pitchFamily="2" charset="2"/>
              <a:buNone/>
              <a:defRPr/>
            </a:pPr>
            <a:r>
              <a:rPr lang="en-US" altLang="en-US" sz="2800" b="1" dirty="0">
                <a:solidFill>
                  <a:srgbClr val="FC0128"/>
                </a:solidFill>
                <a:effectLst>
                  <a:outerShdw blurRad="38100" dist="38100" dir="2700000" algn="tl">
                    <a:srgbClr val="C0C0C0"/>
                  </a:outerShdw>
                </a:effectLst>
                <a:latin typeface="Comic Sans MS" panose="030F0702030302020204" pitchFamily="66" charset="0"/>
                <a:cs typeface="Angsana New" panose="02020603050405020304" pitchFamily="18" charset="-34"/>
              </a:rPr>
              <a:t>Valley Beater</a:t>
            </a:r>
          </a:p>
          <a:p>
            <a:pPr>
              <a:buFont typeface="Monotype Sorts" pitchFamily="2" charset="2"/>
              <a:buNone/>
              <a:defRPr/>
            </a:pPr>
            <a:endParaRPr lang="en-US" altLang="en-US" sz="2800" b="1" dirty="0">
              <a:solidFill>
                <a:srgbClr val="438E00"/>
              </a:solidFill>
              <a:effectLst>
                <a:outerShdw blurRad="38100" dist="38100" dir="2700000" algn="tl">
                  <a:srgbClr val="C0C0C0"/>
                </a:outerShdw>
              </a:effectLst>
              <a:latin typeface="Comic Sans MS" panose="030F0702030302020204" pitchFamily="66" charset="0"/>
              <a:cs typeface="Angsana New" panose="02020603050405020304" pitchFamily="18" charset="-34"/>
            </a:endParaRPr>
          </a:p>
        </p:txBody>
      </p:sp>
      <p:pic>
        <p:nvPicPr>
          <p:cNvPr id="225285" name="Picture 5" descr="DSC0006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7200" y="1828800"/>
            <a:ext cx="3810000" cy="4114800"/>
          </a:xfrm>
          <a:prstGeom prst="rect">
            <a:avLst/>
          </a:prstGeom>
          <a:noFill/>
          <a:ln w="57150" cmpd="thinThick">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225286" name="Picture 6" descr="DSC0006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48200" y="1828800"/>
            <a:ext cx="3886200" cy="4191000"/>
          </a:xfrm>
          <a:prstGeom prst="rect">
            <a:avLst/>
          </a:prstGeom>
          <a:noFill/>
          <a:ln w="57150" cmpd="thinThick">
            <a:solidFill>
              <a:schemeClr val="tx1"/>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6700902"/>
      </p:ext>
    </p:extLst>
  </p:cSld>
  <p:clrMapOvr>
    <a:masterClrMapping/>
  </p:clrMapOvr>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7. Properties and Testing of pulp</a:t>
            </a:r>
          </a:p>
        </p:txBody>
      </p:sp>
      <p:sp>
        <p:nvSpPr>
          <p:cNvPr id="9" name="Rectangle 4"/>
          <p:cNvSpPr>
            <a:spLocks noChangeArrowheads="1"/>
          </p:cNvSpPr>
          <p:nvPr/>
        </p:nvSpPr>
        <p:spPr bwMode="auto">
          <a:xfrm>
            <a:off x="685800" y="1447800"/>
            <a:ext cx="3657600"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lstStyle/>
          <a:p>
            <a:pPr>
              <a:buFont typeface="Monotype Sorts" pitchFamily="2" charset="2"/>
              <a:buNone/>
              <a:defRPr/>
            </a:pPr>
            <a:r>
              <a:rPr lang="en-US" altLang="en-US" sz="2800" b="1" dirty="0" err="1">
                <a:solidFill>
                  <a:srgbClr val="FC0128"/>
                </a:solidFill>
                <a:effectLst>
                  <a:outerShdw blurRad="38100" dist="38100" dir="2700000" algn="tl">
                    <a:srgbClr val="C0C0C0"/>
                  </a:outerShdw>
                </a:effectLst>
                <a:latin typeface="Comic Sans MS" panose="030F0702030302020204" pitchFamily="66" charset="0"/>
                <a:cs typeface="Angsana New" panose="02020603050405020304" pitchFamily="18" charset="-34"/>
              </a:rPr>
              <a:t>Handsheet</a:t>
            </a:r>
            <a:r>
              <a:rPr lang="en-US" altLang="en-US" sz="2800" b="1" dirty="0">
                <a:solidFill>
                  <a:srgbClr val="FC0128"/>
                </a:solidFill>
                <a:effectLst>
                  <a:outerShdw blurRad="38100" dist="38100" dir="2700000" algn="tl">
                    <a:srgbClr val="C0C0C0"/>
                  </a:outerShdw>
                </a:effectLst>
                <a:latin typeface="Comic Sans MS" panose="030F0702030302020204" pitchFamily="66" charset="0"/>
                <a:cs typeface="Angsana New" panose="02020603050405020304" pitchFamily="18" charset="-34"/>
              </a:rPr>
              <a:t> machine</a:t>
            </a:r>
          </a:p>
          <a:p>
            <a:pPr>
              <a:buFont typeface="Monotype Sorts" pitchFamily="2" charset="2"/>
              <a:buNone/>
              <a:defRPr/>
            </a:pPr>
            <a:endParaRPr lang="en-US" altLang="en-US" sz="2800" b="1" dirty="0">
              <a:solidFill>
                <a:srgbClr val="438E00"/>
              </a:solidFill>
              <a:effectLst>
                <a:outerShdw blurRad="38100" dist="38100" dir="2700000" algn="tl">
                  <a:srgbClr val="C0C0C0"/>
                </a:outerShdw>
              </a:effectLst>
              <a:latin typeface="Comic Sans MS" panose="030F0702030302020204" pitchFamily="66" charset="0"/>
              <a:cs typeface="Angsana New" panose="02020603050405020304" pitchFamily="18" charset="-34"/>
            </a:endParaRPr>
          </a:p>
        </p:txBody>
      </p:sp>
      <p:pic>
        <p:nvPicPr>
          <p:cNvPr id="227332" name="Picture 5" descr="DSC0008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7200" y="2133600"/>
            <a:ext cx="4114800" cy="3714750"/>
          </a:xfrm>
          <a:prstGeom prst="rect">
            <a:avLst/>
          </a:prstGeom>
          <a:noFill/>
          <a:ln w="88900" cmpd="thickThin">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227333" name="Picture 1"/>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64175" y="2484438"/>
            <a:ext cx="3016250" cy="3235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Rectangle 4"/>
          <p:cNvSpPr>
            <a:spLocks noChangeArrowheads="1"/>
          </p:cNvSpPr>
          <p:nvPr/>
        </p:nvSpPr>
        <p:spPr bwMode="auto">
          <a:xfrm>
            <a:off x="5600700" y="1787525"/>
            <a:ext cx="2743200"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lstStyle/>
          <a:p>
            <a:pPr algn="ctr">
              <a:buFont typeface="Monotype Sorts" pitchFamily="2" charset="2"/>
              <a:buNone/>
              <a:defRPr/>
            </a:pPr>
            <a:r>
              <a:rPr lang="en-US" altLang="en-US" sz="2800" b="1" dirty="0" err="1">
                <a:solidFill>
                  <a:srgbClr val="FC0128"/>
                </a:solidFill>
                <a:effectLst>
                  <a:outerShdw blurRad="38100" dist="38100" dir="2700000" algn="tl">
                    <a:srgbClr val="C0C0C0"/>
                  </a:outerShdw>
                </a:effectLst>
                <a:latin typeface="Comic Sans MS" panose="030F0702030302020204" pitchFamily="66" charset="0"/>
                <a:cs typeface="Angsana New" panose="02020603050405020304" pitchFamily="18" charset="-34"/>
              </a:rPr>
              <a:t>Handsheet</a:t>
            </a:r>
            <a:endParaRPr lang="en-US" altLang="en-US" sz="2800" b="1" dirty="0">
              <a:solidFill>
                <a:srgbClr val="FC0128"/>
              </a:solidFill>
              <a:effectLst>
                <a:outerShdw blurRad="38100" dist="38100" dir="2700000" algn="tl">
                  <a:srgbClr val="C0C0C0"/>
                </a:outerShdw>
              </a:effectLst>
              <a:latin typeface="Comic Sans MS" panose="030F0702030302020204" pitchFamily="66" charset="0"/>
              <a:cs typeface="Angsana New" panose="02020603050405020304" pitchFamily="18" charset="-34"/>
            </a:endParaRPr>
          </a:p>
          <a:p>
            <a:pPr algn="ctr">
              <a:buFont typeface="Monotype Sorts" pitchFamily="2" charset="2"/>
              <a:buNone/>
              <a:defRPr/>
            </a:pPr>
            <a:endParaRPr lang="en-US" altLang="en-US" sz="2800" b="1" dirty="0">
              <a:solidFill>
                <a:srgbClr val="438E00"/>
              </a:solidFill>
              <a:effectLst>
                <a:outerShdw blurRad="38100" dist="38100" dir="2700000" algn="tl">
                  <a:srgbClr val="C0C0C0"/>
                </a:outerShdw>
              </a:effectLst>
              <a:latin typeface="Comic Sans MS" panose="030F0702030302020204" pitchFamily="66" charset="0"/>
              <a:cs typeface="Angsana New" panose="02020603050405020304" pitchFamily="18" charset="-34"/>
            </a:endParaRPr>
          </a:p>
        </p:txBody>
      </p:sp>
    </p:spTree>
    <p:extLst>
      <p:ext uri="{BB962C8B-B14F-4D97-AF65-F5344CB8AC3E}">
        <p14:creationId xmlns:p14="http://schemas.microsoft.com/office/powerpoint/2010/main" val="3838798732"/>
      </p:ext>
    </p:extLst>
  </p:cSld>
  <p:clrMapOvr>
    <a:masterClrMapping/>
  </p:clrMapOvr>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7. Properties and Testing of pulp</a:t>
            </a:r>
          </a:p>
        </p:txBody>
      </p:sp>
      <p:sp>
        <p:nvSpPr>
          <p:cNvPr id="3" name="Rectangle 5"/>
          <p:cNvSpPr txBox="1">
            <a:spLocks noChangeArrowheads="1"/>
          </p:cNvSpPr>
          <p:nvPr/>
        </p:nvSpPr>
        <p:spPr bwMode="auto">
          <a:xfrm>
            <a:off x="596900" y="1730375"/>
            <a:ext cx="3886200" cy="3276600"/>
          </a:xfrm>
          <a:prstGeom prst="rect">
            <a:avLst/>
          </a:prstGeom>
          <a:solidFill>
            <a:schemeClr val="accent2">
              <a:lumMod val="40000"/>
              <a:lumOff val="60000"/>
              <a:alpha val="50000"/>
            </a:schemeClr>
          </a:solidFill>
          <a:ln>
            <a:noFill/>
          </a:ln>
        </p:spPr>
        <p:txBody>
          <a:bodyPr/>
          <a:lst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76250" indent="-476250" algn="ctr">
              <a:lnSpc>
                <a:spcPct val="80000"/>
              </a:lnSpc>
              <a:buFont typeface="Wingdings" panose="05000000000000000000" pitchFamily="2" charset="2"/>
              <a:buNone/>
              <a:defRPr/>
            </a:pPr>
            <a:r>
              <a:rPr lang="en-US" altLang="en-US" sz="2800" b="1" dirty="0" smtClean="0">
                <a:latin typeface="Tahoma" panose="020B0604030504040204" pitchFamily="34" charset="0"/>
                <a:ea typeface="Tahoma" panose="020B0604030504040204" pitchFamily="34" charset="0"/>
                <a:cs typeface="Tahoma" panose="020B0604030504040204" pitchFamily="34" charset="0"/>
              </a:rPr>
              <a:t>  H/S  60 g/m</a:t>
            </a:r>
            <a:r>
              <a:rPr lang="en-US" altLang="en-US" sz="2800" b="1" baseline="30000" dirty="0" smtClean="0">
                <a:latin typeface="Tahoma" panose="020B0604030504040204" pitchFamily="34" charset="0"/>
                <a:ea typeface="Tahoma" panose="020B0604030504040204" pitchFamily="34" charset="0"/>
                <a:cs typeface="Tahoma" panose="020B0604030504040204" pitchFamily="34" charset="0"/>
              </a:rPr>
              <a:t>2</a:t>
            </a:r>
          </a:p>
          <a:p>
            <a:pPr marL="476250" indent="-476250" algn="ctr">
              <a:lnSpc>
                <a:spcPct val="80000"/>
              </a:lnSpc>
              <a:buFont typeface="Wingdings" panose="05000000000000000000" pitchFamily="2" charset="2"/>
              <a:buNone/>
              <a:defRPr/>
            </a:pPr>
            <a:endParaRPr lang="en-US" altLang="en-US" sz="2800" b="1" baseline="30000" dirty="0" smtClean="0">
              <a:latin typeface="Tahoma" panose="020B0604030504040204" pitchFamily="34" charset="0"/>
              <a:ea typeface="Tahoma" panose="020B0604030504040204" pitchFamily="34" charset="0"/>
              <a:cs typeface="Tahoma" panose="020B0604030504040204" pitchFamily="34" charset="0"/>
            </a:endParaRPr>
          </a:p>
          <a:p>
            <a:pPr marL="476250" indent="-476250">
              <a:lnSpc>
                <a:spcPct val="80000"/>
              </a:lnSpc>
              <a:defRPr/>
            </a:pPr>
            <a:r>
              <a:rPr lang="en-US" altLang="en-US" sz="2400" b="1" dirty="0" smtClean="0">
                <a:latin typeface="Tahoma" panose="020B0604030504040204" pitchFamily="34" charset="0"/>
                <a:ea typeface="Tahoma" panose="020B0604030504040204" pitchFamily="34" charset="0"/>
                <a:cs typeface="Tahoma" panose="020B0604030504040204" pitchFamily="34" charset="0"/>
              </a:rPr>
              <a:t>Basis  weight                                   </a:t>
            </a:r>
          </a:p>
          <a:p>
            <a:pPr marL="476250" indent="-476250">
              <a:lnSpc>
                <a:spcPct val="80000"/>
              </a:lnSpc>
              <a:defRPr/>
            </a:pPr>
            <a:r>
              <a:rPr lang="en-US" altLang="en-US" sz="2400" b="1" dirty="0" smtClean="0">
                <a:latin typeface="Tahoma" panose="020B0604030504040204" pitchFamily="34" charset="0"/>
                <a:ea typeface="Tahoma" panose="020B0604030504040204" pitchFamily="34" charset="0"/>
                <a:cs typeface="Tahoma" panose="020B0604030504040204" pitchFamily="34" charset="0"/>
              </a:rPr>
              <a:t>Tensile Strength</a:t>
            </a:r>
          </a:p>
          <a:p>
            <a:pPr marL="476250" indent="-476250">
              <a:lnSpc>
                <a:spcPct val="80000"/>
              </a:lnSpc>
              <a:defRPr/>
            </a:pPr>
            <a:r>
              <a:rPr lang="en-US" altLang="en-US" sz="2400" b="1" dirty="0" smtClean="0">
                <a:latin typeface="Tahoma" panose="020B0604030504040204" pitchFamily="34" charset="0"/>
                <a:ea typeface="Tahoma" panose="020B0604030504040204" pitchFamily="34" charset="0"/>
                <a:cs typeface="Tahoma" panose="020B0604030504040204" pitchFamily="34" charset="0"/>
              </a:rPr>
              <a:t>Tearing Strength</a:t>
            </a:r>
          </a:p>
          <a:p>
            <a:pPr marL="476250" indent="-476250">
              <a:lnSpc>
                <a:spcPct val="80000"/>
              </a:lnSpc>
              <a:defRPr/>
            </a:pPr>
            <a:r>
              <a:rPr lang="en-US" altLang="en-US" sz="2400" b="1" dirty="0" smtClean="0">
                <a:latin typeface="Tahoma" panose="020B0604030504040204" pitchFamily="34" charset="0"/>
                <a:ea typeface="Tahoma" panose="020B0604030504040204" pitchFamily="34" charset="0"/>
                <a:cs typeface="Tahoma" panose="020B0604030504040204" pitchFamily="34" charset="0"/>
              </a:rPr>
              <a:t>Apparent  density</a:t>
            </a:r>
          </a:p>
          <a:p>
            <a:pPr marL="476250" indent="-476250">
              <a:lnSpc>
                <a:spcPct val="80000"/>
              </a:lnSpc>
              <a:defRPr/>
            </a:pPr>
            <a:r>
              <a:rPr lang="en-US" altLang="en-US" sz="2400" b="1" dirty="0" smtClean="0">
                <a:latin typeface="Tahoma" panose="020B0604030504040204" pitchFamily="34" charset="0"/>
                <a:ea typeface="Tahoma" panose="020B0604030504040204" pitchFamily="34" charset="0"/>
                <a:cs typeface="Tahoma" panose="020B0604030504040204" pitchFamily="34" charset="0"/>
              </a:rPr>
              <a:t>Folding endurance</a:t>
            </a:r>
          </a:p>
          <a:p>
            <a:pPr marL="476250" indent="-476250">
              <a:lnSpc>
                <a:spcPct val="80000"/>
              </a:lnSpc>
              <a:defRPr/>
            </a:pPr>
            <a:r>
              <a:rPr lang="en-US" altLang="en-US" sz="2400" b="1" dirty="0" smtClean="0">
                <a:latin typeface="Tahoma" panose="020B0604030504040204" pitchFamily="34" charset="0"/>
                <a:ea typeface="Tahoma" panose="020B0604030504040204" pitchFamily="34" charset="0"/>
                <a:cs typeface="Tahoma" panose="020B0604030504040204" pitchFamily="34" charset="0"/>
              </a:rPr>
              <a:t>Bursting strength</a:t>
            </a:r>
            <a:endParaRPr lang="en-US" altLang="en-US" sz="2800" b="1" dirty="0">
              <a:latin typeface="Tahoma" panose="020B0604030504040204" pitchFamily="34" charset="0"/>
              <a:ea typeface="Tahoma" panose="020B0604030504040204" pitchFamily="34" charset="0"/>
              <a:cs typeface="Tahoma" panose="020B0604030504040204" pitchFamily="34" charset="0"/>
            </a:endParaRPr>
          </a:p>
        </p:txBody>
      </p:sp>
      <p:sp>
        <p:nvSpPr>
          <p:cNvPr id="4" name="Rectangle 8"/>
          <p:cNvSpPr>
            <a:spLocks noChangeArrowheads="1"/>
          </p:cNvSpPr>
          <p:nvPr/>
        </p:nvSpPr>
        <p:spPr bwMode="auto">
          <a:xfrm>
            <a:off x="596900" y="5159375"/>
            <a:ext cx="8001000" cy="1219200"/>
          </a:xfrm>
          <a:prstGeom prst="rect">
            <a:avLst/>
          </a:prstGeom>
          <a:solidFill>
            <a:schemeClr val="accent5">
              <a:lumMod val="40000"/>
              <a:lumOff val="60000"/>
              <a:alpha val="68000"/>
            </a:schemeClr>
          </a:solidFill>
          <a:ln>
            <a:noFill/>
          </a:ln>
          <a:effectLst/>
        </p:spPr>
        <p:txBody>
          <a:bodyPr/>
          <a:lstStyle>
            <a:lvl1pPr marL="476250" indent="-476250" eaLnBrk="0" hangingPunct="0">
              <a:defRPr sz="2800">
                <a:solidFill>
                  <a:schemeClr val="tx1"/>
                </a:solidFill>
                <a:latin typeface="Angsana New" panose="02020603050405020304" pitchFamily="18" charset="-34"/>
                <a:cs typeface="Angsana New" panose="02020603050405020304" pitchFamily="18" charset="-34"/>
              </a:defRPr>
            </a:lvl1pPr>
            <a:lvl2pPr marL="952500" indent="-285750" eaLnBrk="0" hangingPunct="0">
              <a:defRPr sz="2800">
                <a:solidFill>
                  <a:schemeClr val="tx1"/>
                </a:solidFill>
                <a:latin typeface="Angsana New" panose="02020603050405020304" pitchFamily="18" charset="-34"/>
                <a:cs typeface="Angsana New" panose="02020603050405020304" pitchFamily="18" charset="-34"/>
              </a:defRPr>
            </a:lvl2pPr>
            <a:lvl3pPr marL="1371600" indent="-228600" eaLnBrk="0" hangingPunct="0">
              <a:defRPr sz="2800">
                <a:solidFill>
                  <a:schemeClr val="tx1"/>
                </a:solidFill>
                <a:latin typeface="Angsana New" panose="02020603050405020304" pitchFamily="18" charset="-34"/>
                <a:cs typeface="Angsana New" panose="02020603050405020304" pitchFamily="18" charset="-34"/>
              </a:defRPr>
            </a:lvl3pPr>
            <a:lvl4pPr marL="1790700" indent="-228600" eaLnBrk="0" hangingPunct="0">
              <a:defRPr sz="2800">
                <a:solidFill>
                  <a:schemeClr val="tx1"/>
                </a:solidFill>
                <a:latin typeface="Angsana New" panose="02020603050405020304" pitchFamily="18" charset="-34"/>
                <a:cs typeface="Angsana New" panose="02020603050405020304" pitchFamily="18" charset="-34"/>
              </a:defRPr>
            </a:lvl4pPr>
            <a:lvl5pPr marL="2209800" indent="-228600" eaLnBrk="0" hangingPunct="0">
              <a:defRPr sz="2800">
                <a:solidFill>
                  <a:schemeClr val="tx1"/>
                </a:solidFill>
                <a:latin typeface="Angsana New" panose="02020603050405020304" pitchFamily="18" charset="-34"/>
                <a:cs typeface="Angsana New" panose="02020603050405020304" pitchFamily="18" charset="-34"/>
              </a:defRPr>
            </a:lvl5pPr>
            <a:lvl6pPr marL="2667000" indent="-228600" eaLnBrk="0" fontAlgn="base" hangingPunct="0">
              <a:spcBef>
                <a:spcPct val="0"/>
              </a:spcBef>
              <a:spcAft>
                <a:spcPct val="0"/>
              </a:spcAft>
              <a:defRPr sz="2800">
                <a:solidFill>
                  <a:schemeClr val="tx1"/>
                </a:solidFill>
                <a:latin typeface="Angsana New" panose="02020603050405020304" pitchFamily="18" charset="-34"/>
                <a:cs typeface="Angsana New" panose="02020603050405020304" pitchFamily="18" charset="-34"/>
              </a:defRPr>
            </a:lvl6pPr>
            <a:lvl7pPr marL="3124200" indent="-228600" eaLnBrk="0" fontAlgn="base" hangingPunct="0">
              <a:spcBef>
                <a:spcPct val="0"/>
              </a:spcBef>
              <a:spcAft>
                <a:spcPct val="0"/>
              </a:spcAft>
              <a:defRPr sz="2800">
                <a:solidFill>
                  <a:schemeClr val="tx1"/>
                </a:solidFill>
                <a:latin typeface="Angsana New" panose="02020603050405020304" pitchFamily="18" charset="-34"/>
                <a:cs typeface="Angsana New" panose="02020603050405020304" pitchFamily="18" charset="-34"/>
              </a:defRPr>
            </a:lvl7pPr>
            <a:lvl8pPr marL="3581400" indent="-228600" eaLnBrk="0" fontAlgn="base" hangingPunct="0">
              <a:spcBef>
                <a:spcPct val="0"/>
              </a:spcBef>
              <a:spcAft>
                <a:spcPct val="0"/>
              </a:spcAft>
              <a:defRPr sz="2800">
                <a:solidFill>
                  <a:schemeClr val="tx1"/>
                </a:solidFill>
                <a:latin typeface="Angsana New" panose="02020603050405020304" pitchFamily="18" charset="-34"/>
                <a:cs typeface="Angsana New" panose="02020603050405020304" pitchFamily="18" charset="-34"/>
              </a:defRPr>
            </a:lvl8pPr>
            <a:lvl9pPr marL="4038600" indent="-228600" eaLnBrk="0" fontAlgn="base" hangingPunct="0">
              <a:spcBef>
                <a:spcPct val="0"/>
              </a:spcBef>
              <a:spcAft>
                <a:spcPct val="0"/>
              </a:spcAft>
              <a:defRPr sz="2800">
                <a:solidFill>
                  <a:schemeClr val="tx1"/>
                </a:solidFill>
                <a:latin typeface="Angsana New" panose="02020603050405020304" pitchFamily="18" charset="-34"/>
                <a:cs typeface="Angsana New" panose="02020603050405020304" pitchFamily="18" charset="-34"/>
              </a:defRPr>
            </a:lvl9pPr>
          </a:lstStyle>
          <a:p>
            <a:pPr algn="ctr" eaLnBrk="1" hangingPunct="1">
              <a:lnSpc>
                <a:spcPct val="80000"/>
              </a:lnSpc>
              <a:spcBef>
                <a:spcPct val="20000"/>
              </a:spcBef>
              <a:buClr>
                <a:schemeClr val="bg2"/>
              </a:buClr>
              <a:buSzPct val="65000"/>
              <a:buFont typeface="Wingdings" panose="05000000000000000000" pitchFamily="2" charset="2"/>
              <a:buNone/>
              <a:defRPr/>
            </a:pPr>
            <a:r>
              <a:rPr lang="en-US" altLang="en-US" b="1" dirty="0" smtClean="0">
                <a:latin typeface="Tahoma" panose="020B0604030504040204" pitchFamily="34" charset="0"/>
                <a:ea typeface="Tahoma" panose="020B0604030504040204" pitchFamily="34" charset="0"/>
                <a:cs typeface="Tahoma" panose="020B0604030504040204" pitchFamily="34" charset="0"/>
              </a:rPr>
              <a:t>Optical properties</a:t>
            </a:r>
            <a:endParaRPr lang="en-US" altLang="en-US" b="1" baseline="30000" dirty="0" smtClean="0">
              <a:latin typeface="Tahoma" panose="020B0604030504040204" pitchFamily="34" charset="0"/>
              <a:ea typeface="Tahoma" panose="020B0604030504040204" pitchFamily="34" charset="0"/>
              <a:cs typeface="Tahoma" panose="020B0604030504040204" pitchFamily="34" charset="0"/>
            </a:endParaRPr>
          </a:p>
          <a:p>
            <a:pPr algn="ctr" eaLnBrk="1" hangingPunct="1">
              <a:lnSpc>
                <a:spcPct val="80000"/>
              </a:lnSpc>
              <a:spcBef>
                <a:spcPct val="20000"/>
              </a:spcBef>
              <a:buClr>
                <a:schemeClr val="bg2"/>
              </a:buClr>
              <a:buSzPct val="65000"/>
              <a:buFont typeface="Wingdings" panose="05000000000000000000" pitchFamily="2" charset="2"/>
              <a:buNone/>
              <a:defRPr/>
            </a:pPr>
            <a:endParaRPr lang="en-US" altLang="en-US" b="1" baseline="30000" dirty="0" smtClean="0">
              <a:latin typeface="Tahoma" panose="020B0604030504040204" pitchFamily="34" charset="0"/>
              <a:ea typeface="Tahoma" panose="020B0604030504040204" pitchFamily="34" charset="0"/>
              <a:cs typeface="Tahoma" panose="020B0604030504040204" pitchFamily="34" charset="0"/>
            </a:endParaRPr>
          </a:p>
          <a:p>
            <a:pPr eaLnBrk="1" hangingPunct="1">
              <a:lnSpc>
                <a:spcPct val="80000"/>
              </a:lnSpc>
              <a:spcBef>
                <a:spcPct val="20000"/>
              </a:spcBef>
              <a:buSzPct val="65000"/>
              <a:buFont typeface="Wingdings" panose="05000000000000000000" pitchFamily="2" charset="2"/>
              <a:buChar char="­"/>
              <a:defRPr/>
            </a:pPr>
            <a:r>
              <a:rPr lang="en-US" altLang="en-US" sz="2400" b="1" dirty="0" smtClean="0">
                <a:latin typeface="Tahoma" panose="020B0604030504040204" pitchFamily="34" charset="0"/>
                <a:ea typeface="Tahoma" panose="020B0604030504040204" pitchFamily="34" charset="0"/>
                <a:cs typeface="Tahoma" panose="020B0604030504040204" pitchFamily="34" charset="0"/>
              </a:rPr>
              <a:t>Brightness ,Opacity , Whiteness , CIE Lab</a:t>
            </a:r>
            <a:endParaRPr lang="en-US" altLang="en-US" b="1" dirty="0" smtClean="0">
              <a:latin typeface="Tahoma" panose="020B0604030504040204" pitchFamily="34" charset="0"/>
              <a:ea typeface="Tahoma" panose="020B0604030504040204" pitchFamily="34" charset="0"/>
              <a:cs typeface="Tahoma" panose="020B0604030504040204" pitchFamily="34" charset="0"/>
            </a:endParaRPr>
          </a:p>
        </p:txBody>
      </p:sp>
      <p:sp>
        <p:nvSpPr>
          <p:cNvPr id="5" name="Rectangle 9"/>
          <p:cNvSpPr>
            <a:spLocks noChangeArrowheads="1"/>
          </p:cNvSpPr>
          <p:nvPr/>
        </p:nvSpPr>
        <p:spPr bwMode="auto">
          <a:xfrm>
            <a:off x="4635500" y="1730375"/>
            <a:ext cx="3962400" cy="3276600"/>
          </a:xfrm>
          <a:prstGeom prst="rect">
            <a:avLst/>
          </a:prstGeom>
          <a:solidFill>
            <a:schemeClr val="accent2">
              <a:lumMod val="40000"/>
              <a:lumOff val="60000"/>
              <a:alpha val="57000"/>
            </a:schemeClr>
          </a:solidFill>
          <a:ln>
            <a:noFill/>
          </a:ln>
          <a:effectLst/>
        </p:spPr>
        <p:txBody>
          <a:bodyPr/>
          <a:lstStyle>
            <a:lvl1pPr marL="476250" indent="-476250" eaLnBrk="0" hangingPunct="0">
              <a:defRPr sz="2800">
                <a:solidFill>
                  <a:schemeClr val="tx1"/>
                </a:solidFill>
                <a:latin typeface="Angsana New" panose="02020603050405020304" pitchFamily="18" charset="-34"/>
                <a:cs typeface="Angsana New" panose="02020603050405020304" pitchFamily="18" charset="-34"/>
              </a:defRPr>
            </a:lvl1pPr>
            <a:lvl2pPr marL="952500" indent="-285750" eaLnBrk="0" hangingPunct="0">
              <a:defRPr sz="2800">
                <a:solidFill>
                  <a:schemeClr val="tx1"/>
                </a:solidFill>
                <a:latin typeface="Angsana New" panose="02020603050405020304" pitchFamily="18" charset="-34"/>
                <a:cs typeface="Angsana New" panose="02020603050405020304" pitchFamily="18" charset="-34"/>
              </a:defRPr>
            </a:lvl2pPr>
            <a:lvl3pPr marL="1371600" indent="-228600" eaLnBrk="0" hangingPunct="0">
              <a:defRPr sz="2800">
                <a:solidFill>
                  <a:schemeClr val="tx1"/>
                </a:solidFill>
                <a:latin typeface="Angsana New" panose="02020603050405020304" pitchFamily="18" charset="-34"/>
                <a:cs typeface="Angsana New" panose="02020603050405020304" pitchFamily="18" charset="-34"/>
              </a:defRPr>
            </a:lvl3pPr>
            <a:lvl4pPr marL="1790700" indent="-228600" eaLnBrk="0" hangingPunct="0">
              <a:defRPr sz="2800">
                <a:solidFill>
                  <a:schemeClr val="tx1"/>
                </a:solidFill>
                <a:latin typeface="Angsana New" panose="02020603050405020304" pitchFamily="18" charset="-34"/>
                <a:cs typeface="Angsana New" panose="02020603050405020304" pitchFamily="18" charset="-34"/>
              </a:defRPr>
            </a:lvl4pPr>
            <a:lvl5pPr marL="2209800" indent="-228600" eaLnBrk="0" hangingPunct="0">
              <a:defRPr sz="2800">
                <a:solidFill>
                  <a:schemeClr val="tx1"/>
                </a:solidFill>
                <a:latin typeface="Angsana New" panose="02020603050405020304" pitchFamily="18" charset="-34"/>
                <a:cs typeface="Angsana New" panose="02020603050405020304" pitchFamily="18" charset="-34"/>
              </a:defRPr>
            </a:lvl5pPr>
            <a:lvl6pPr marL="2667000" indent="-228600" eaLnBrk="0" fontAlgn="base" hangingPunct="0">
              <a:spcBef>
                <a:spcPct val="0"/>
              </a:spcBef>
              <a:spcAft>
                <a:spcPct val="0"/>
              </a:spcAft>
              <a:defRPr sz="2800">
                <a:solidFill>
                  <a:schemeClr val="tx1"/>
                </a:solidFill>
                <a:latin typeface="Angsana New" panose="02020603050405020304" pitchFamily="18" charset="-34"/>
                <a:cs typeface="Angsana New" panose="02020603050405020304" pitchFamily="18" charset="-34"/>
              </a:defRPr>
            </a:lvl6pPr>
            <a:lvl7pPr marL="3124200" indent="-228600" eaLnBrk="0" fontAlgn="base" hangingPunct="0">
              <a:spcBef>
                <a:spcPct val="0"/>
              </a:spcBef>
              <a:spcAft>
                <a:spcPct val="0"/>
              </a:spcAft>
              <a:defRPr sz="2800">
                <a:solidFill>
                  <a:schemeClr val="tx1"/>
                </a:solidFill>
                <a:latin typeface="Angsana New" panose="02020603050405020304" pitchFamily="18" charset="-34"/>
                <a:cs typeface="Angsana New" panose="02020603050405020304" pitchFamily="18" charset="-34"/>
              </a:defRPr>
            </a:lvl7pPr>
            <a:lvl8pPr marL="3581400" indent="-228600" eaLnBrk="0" fontAlgn="base" hangingPunct="0">
              <a:spcBef>
                <a:spcPct val="0"/>
              </a:spcBef>
              <a:spcAft>
                <a:spcPct val="0"/>
              </a:spcAft>
              <a:defRPr sz="2800">
                <a:solidFill>
                  <a:schemeClr val="tx1"/>
                </a:solidFill>
                <a:latin typeface="Angsana New" panose="02020603050405020304" pitchFamily="18" charset="-34"/>
                <a:cs typeface="Angsana New" panose="02020603050405020304" pitchFamily="18" charset="-34"/>
              </a:defRPr>
            </a:lvl8pPr>
            <a:lvl9pPr marL="4038600" indent="-228600" eaLnBrk="0" fontAlgn="base" hangingPunct="0">
              <a:spcBef>
                <a:spcPct val="0"/>
              </a:spcBef>
              <a:spcAft>
                <a:spcPct val="0"/>
              </a:spcAft>
              <a:defRPr sz="2800">
                <a:solidFill>
                  <a:schemeClr val="tx1"/>
                </a:solidFill>
                <a:latin typeface="Angsana New" panose="02020603050405020304" pitchFamily="18" charset="-34"/>
                <a:cs typeface="Angsana New" panose="02020603050405020304" pitchFamily="18" charset="-34"/>
              </a:defRPr>
            </a:lvl9pPr>
          </a:lstStyle>
          <a:p>
            <a:pPr algn="ctr" eaLnBrk="1" hangingPunct="1">
              <a:lnSpc>
                <a:spcPct val="80000"/>
              </a:lnSpc>
              <a:spcBef>
                <a:spcPct val="20000"/>
              </a:spcBef>
              <a:buClr>
                <a:schemeClr val="bg2"/>
              </a:buClr>
              <a:buSzPct val="65000"/>
              <a:buFont typeface="Wingdings" panose="05000000000000000000" pitchFamily="2" charset="2"/>
              <a:buNone/>
              <a:defRPr/>
            </a:pPr>
            <a:r>
              <a:rPr lang="en-US" altLang="en-US" b="1" dirty="0" smtClean="0">
                <a:latin typeface="Tahoma" panose="020B0604030504040204" pitchFamily="34" charset="0"/>
                <a:ea typeface="Tahoma" panose="020B0604030504040204" pitchFamily="34" charset="0"/>
                <a:cs typeface="Tahoma" panose="020B0604030504040204" pitchFamily="34" charset="0"/>
              </a:rPr>
              <a:t>  H/S  150 g/m</a:t>
            </a:r>
            <a:r>
              <a:rPr lang="en-US" altLang="en-US" b="1" baseline="30000" dirty="0" smtClean="0">
                <a:latin typeface="Tahoma" panose="020B0604030504040204" pitchFamily="34" charset="0"/>
                <a:ea typeface="Tahoma" panose="020B0604030504040204" pitchFamily="34" charset="0"/>
                <a:cs typeface="Tahoma" panose="020B0604030504040204" pitchFamily="34" charset="0"/>
              </a:rPr>
              <a:t>2</a:t>
            </a:r>
          </a:p>
          <a:p>
            <a:pPr algn="ctr" eaLnBrk="1" hangingPunct="1">
              <a:lnSpc>
                <a:spcPct val="80000"/>
              </a:lnSpc>
              <a:spcBef>
                <a:spcPct val="20000"/>
              </a:spcBef>
              <a:buClr>
                <a:schemeClr val="bg2"/>
              </a:buClr>
              <a:buSzPct val="65000"/>
              <a:buFont typeface="Wingdings" panose="05000000000000000000" pitchFamily="2" charset="2"/>
              <a:buNone/>
              <a:defRPr/>
            </a:pPr>
            <a:endParaRPr lang="en-US" altLang="en-US" b="1" baseline="30000" dirty="0" smtClean="0">
              <a:latin typeface="Tahoma" panose="020B0604030504040204" pitchFamily="34" charset="0"/>
              <a:ea typeface="Tahoma" panose="020B0604030504040204" pitchFamily="34" charset="0"/>
              <a:cs typeface="Tahoma" panose="020B0604030504040204" pitchFamily="34" charset="0"/>
            </a:endParaRPr>
          </a:p>
          <a:p>
            <a:pPr eaLnBrk="1" hangingPunct="1">
              <a:lnSpc>
                <a:spcPct val="80000"/>
              </a:lnSpc>
              <a:spcBef>
                <a:spcPct val="20000"/>
              </a:spcBef>
              <a:buSzPct val="65000"/>
              <a:buFont typeface="Wingdings" panose="05000000000000000000" pitchFamily="2" charset="2"/>
              <a:buChar char="­"/>
              <a:defRPr/>
            </a:pPr>
            <a:r>
              <a:rPr lang="en-US" altLang="en-US" sz="2400" b="1" dirty="0" smtClean="0">
                <a:latin typeface="Tahoma" panose="020B0604030504040204" pitchFamily="34" charset="0"/>
                <a:ea typeface="Tahoma" panose="020B0604030504040204" pitchFamily="34" charset="0"/>
                <a:cs typeface="Tahoma" panose="020B0604030504040204" pitchFamily="34" charset="0"/>
              </a:rPr>
              <a:t>Basis  weight                                   </a:t>
            </a:r>
          </a:p>
          <a:p>
            <a:pPr eaLnBrk="1" hangingPunct="1">
              <a:lnSpc>
                <a:spcPct val="80000"/>
              </a:lnSpc>
              <a:spcBef>
                <a:spcPct val="20000"/>
              </a:spcBef>
              <a:buSzPct val="65000"/>
              <a:buFont typeface="Wingdings" panose="05000000000000000000" pitchFamily="2" charset="2"/>
              <a:buChar char="­"/>
              <a:defRPr/>
            </a:pPr>
            <a:r>
              <a:rPr lang="en-US" altLang="en-US" sz="2400" b="1" dirty="0" smtClean="0">
                <a:latin typeface="Tahoma" panose="020B0604030504040204" pitchFamily="34" charset="0"/>
                <a:ea typeface="Tahoma" panose="020B0604030504040204" pitchFamily="34" charset="0"/>
                <a:cs typeface="Tahoma" panose="020B0604030504040204" pitchFamily="34" charset="0"/>
              </a:rPr>
              <a:t>Ring crush</a:t>
            </a:r>
          </a:p>
          <a:p>
            <a:pPr eaLnBrk="1" hangingPunct="1">
              <a:lnSpc>
                <a:spcPct val="80000"/>
              </a:lnSpc>
              <a:spcBef>
                <a:spcPct val="20000"/>
              </a:spcBef>
              <a:buSzPct val="65000"/>
              <a:buFont typeface="Wingdings" panose="05000000000000000000" pitchFamily="2" charset="2"/>
              <a:buChar char="­"/>
              <a:defRPr/>
            </a:pPr>
            <a:r>
              <a:rPr lang="en-US" altLang="en-US" sz="2400" b="1" dirty="0" err="1" smtClean="0">
                <a:latin typeface="Tahoma" panose="020B0604030504040204" pitchFamily="34" charset="0"/>
                <a:ea typeface="Tahoma" panose="020B0604030504040204" pitchFamily="34" charset="0"/>
                <a:cs typeface="Tahoma" panose="020B0604030504040204" pitchFamily="34" charset="0"/>
              </a:rPr>
              <a:t>Concora</a:t>
            </a:r>
            <a:r>
              <a:rPr lang="en-US" altLang="en-US" sz="2400" b="1" dirty="0" smtClean="0">
                <a:latin typeface="Tahoma" panose="020B0604030504040204" pitchFamily="34" charset="0"/>
                <a:ea typeface="Tahoma" panose="020B0604030504040204" pitchFamily="34" charset="0"/>
                <a:cs typeface="Tahoma" panose="020B0604030504040204" pitchFamily="34" charset="0"/>
              </a:rPr>
              <a:t> crush test</a:t>
            </a:r>
          </a:p>
          <a:p>
            <a:pPr eaLnBrk="1" hangingPunct="1">
              <a:lnSpc>
                <a:spcPct val="80000"/>
              </a:lnSpc>
              <a:spcBef>
                <a:spcPct val="20000"/>
              </a:spcBef>
              <a:buSzPct val="65000"/>
              <a:buFont typeface="Wingdings" panose="05000000000000000000" pitchFamily="2" charset="2"/>
              <a:buChar char="­"/>
              <a:defRPr/>
            </a:pPr>
            <a:r>
              <a:rPr lang="en-US" altLang="en-US" sz="2400" b="1" dirty="0" smtClean="0">
                <a:latin typeface="Tahoma" panose="020B0604030504040204" pitchFamily="34" charset="0"/>
                <a:ea typeface="Tahoma" panose="020B0604030504040204" pitchFamily="34" charset="0"/>
                <a:cs typeface="Tahoma" panose="020B0604030504040204" pitchFamily="34" charset="0"/>
              </a:rPr>
              <a:t>Bending stiffness</a:t>
            </a:r>
            <a:endParaRPr lang="en-US" altLang="en-US" b="1" dirty="0" smtClean="0">
              <a:latin typeface="Tahoma" panose="020B0604030504040204" pitchFamily="34" charset="0"/>
              <a:ea typeface="Tahoma" panose="020B0604030504040204" pitchFamily="34" charset="0"/>
              <a:cs typeface="Tahoma" panose="020B0604030504040204" pitchFamily="34" charset="0"/>
            </a:endParaRPr>
          </a:p>
          <a:p>
            <a:pPr eaLnBrk="1" hangingPunct="1">
              <a:lnSpc>
                <a:spcPct val="80000"/>
              </a:lnSpc>
              <a:spcBef>
                <a:spcPct val="20000"/>
              </a:spcBef>
              <a:buClr>
                <a:schemeClr val="bg2"/>
              </a:buClr>
              <a:buSzPct val="65000"/>
              <a:buFont typeface="Wingdings" panose="05000000000000000000" pitchFamily="2" charset="2"/>
              <a:buNone/>
              <a:defRPr/>
            </a:pPr>
            <a:endParaRPr lang="en-US" altLang="en-US" sz="2400" dirty="0" smtClean="0">
              <a:latin typeface="Tahoma" panose="020B0604030504040204" pitchFamily="34" charset="0"/>
              <a:ea typeface="Tahoma" panose="020B0604030504040204" pitchFamily="34" charset="0"/>
              <a:cs typeface="Tahoma" panose="020B0604030504040204" pitchFamily="34" charset="0"/>
            </a:endParaRPr>
          </a:p>
        </p:txBody>
      </p:sp>
      <p:sp>
        <p:nvSpPr>
          <p:cNvPr id="229382" name="Rectangle 1"/>
          <p:cNvSpPr txBox="1">
            <a:spLocks noChangeArrowheads="1"/>
          </p:cNvSpPr>
          <p:nvPr/>
        </p:nvSpPr>
        <p:spPr bwMode="auto">
          <a:xfrm>
            <a:off x="901700" y="1125538"/>
            <a:ext cx="74676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800" b="1">
                <a:solidFill>
                  <a:srgbClr val="FF0000"/>
                </a:solidFill>
                <a:latin typeface="Tahoma" panose="020B0604030504040204" pitchFamily="34" charset="0"/>
                <a:cs typeface="Tahoma" panose="020B0604030504040204" pitchFamily="34" charset="0"/>
              </a:rPr>
              <a:t>BASIC PULP STRENGTH PROPERTIES</a:t>
            </a:r>
            <a:endParaRPr lang="th-TH" altLang="en-US" sz="2800" b="1">
              <a:solidFill>
                <a:srgbClr val="FF0000"/>
              </a:solidFill>
              <a:latin typeface="Tahoma" panose="020B0604030504040204" pitchFamily="34" charset="0"/>
              <a:cs typeface="Tahoma" panose="020B0604030504040204" pitchFamily="34" charset="0"/>
            </a:endParaRPr>
          </a:p>
        </p:txBody>
      </p:sp>
    </p:spTree>
    <p:extLst>
      <p:ext uri="{BB962C8B-B14F-4D97-AF65-F5344CB8AC3E}">
        <p14:creationId xmlns:p14="http://schemas.microsoft.com/office/powerpoint/2010/main" val="3847066480"/>
      </p:ext>
    </p:extLst>
  </p:cSld>
  <p:clrMapOvr>
    <a:masterClrMapping/>
  </p:clrMapOvr>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7. Properties and Testing of pulp</a:t>
            </a:r>
          </a:p>
        </p:txBody>
      </p:sp>
      <p:sp>
        <p:nvSpPr>
          <p:cNvPr id="231427" name="Rectangle 4"/>
          <p:cNvSpPr>
            <a:spLocks noChangeArrowheads="1"/>
          </p:cNvSpPr>
          <p:nvPr/>
        </p:nvSpPr>
        <p:spPr bwMode="auto">
          <a:xfrm>
            <a:off x="0" y="1371600"/>
            <a:ext cx="403860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3600" b="1">
                <a:solidFill>
                  <a:srgbClr val="990000"/>
                </a:solidFill>
                <a:latin typeface="Angsana New" panose="02020603050405020304" pitchFamily="18" charset="-34"/>
                <a:cs typeface="Angsana New" panose="02020603050405020304" pitchFamily="18" charset="-34"/>
              </a:rPr>
              <a:t>FORMING HANDSHEET</a:t>
            </a:r>
          </a:p>
          <a:p>
            <a:pPr>
              <a:spcBef>
                <a:spcPct val="0"/>
              </a:spcBef>
              <a:buFontTx/>
              <a:buNone/>
            </a:pPr>
            <a:r>
              <a:rPr lang="en-US" altLang="en-US" sz="3600" b="1">
                <a:solidFill>
                  <a:srgbClr val="990000"/>
                </a:solidFill>
                <a:latin typeface="Angsana New" panose="02020603050405020304" pitchFamily="18" charset="-34"/>
                <a:cs typeface="Angsana New" panose="02020603050405020304" pitchFamily="18" charset="-34"/>
              </a:rPr>
              <a:t>    H/S  60 g/m2</a:t>
            </a:r>
            <a:endParaRPr lang="en-US" altLang="en-US" sz="2800" b="1">
              <a:solidFill>
                <a:srgbClr val="990000"/>
              </a:solidFill>
              <a:latin typeface="Angsana New" panose="02020603050405020304" pitchFamily="18" charset="-34"/>
              <a:cs typeface="Angsana New" panose="02020603050405020304" pitchFamily="18" charset="-34"/>
            </a:endParaRPr>
          </a:p>
        </p:txBody>
      </p:sp>
      <p:sp>
        <p:nvSpPr>
          <p:cNvPr id="231428" name="Rectangle 5"/>
          <p:cNvSpPr txBox="1">
            <a:spLocks noChangeArrowheads="1"/>
          </p:cNvSpPr>
          <p:nvPr/>
        </p:nvSpPr>
        <p:spPr bwMode="auto">
          <a:xfrm>
            <a:off x="609600" y="2362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buFont typeface="Wingdings" panose="05000000000000000000" pitchFamily="2" charset="2"/>
              <a:buNone/>
            </a:pPr>
            <a:r>
              <a:rPr lang="en-US" altLang="en-US" b="1">
                <a:solidFill>
                  <a:schemeClr val="hlink"/>
                </a:solidFill>
              </a:rPr>
              <a:t> </a:t>
            </a:r>
            <a:r>
              <a:rPr lang="en-US" altLang="en-US" b="1">
                <a:solidFill>
                  <a:srgbClr val="CC0066"/>
                </a:solidFill>
              </a:rPr>
              <a:t> </a:t>
            </a:r>
            <a:endParaRPr lang="en-US" altLang="en-US" b="1"/>
          </a:p>
          <a:p>
            <a:pPr>
              <a:buFont typeface="Wingdings" panose="05000000000000000000" pitchFamily="2" charset="2"/>
              <a:buNone/>
            </a:pPr>
            <a:endParaRPr lang="en-US" altLang="en-US" b="1">
              <a:solidFill>
                <a:schemeClr val="bg2"/>
              </a:solidFill>
            </a:endParaRPr>
          </a:p>
          <a:p>
            <a:pPr>
              <a:buFont typeface="Wingdings" panose="05000000000000000000" pitchFamily="2" charset="2"/>
              <a:buNone/>
            </a:pPr>
            <a:endParaRPr lang="en-US" altLang="en-US">
              <a:solidFill>
                <a:srgbClr val="009900"/>
              </a:solidFill>
            </a:endParaRPr>
          </a:p>
        </p:txBody>
      </p:sp>
      <p:sp>
        <p:nvSpPr>
          <p:cNvPr id="231429" name="Text Box 6"/>
          <p:cNvSpPr txBox="1">
            <a:spLocks noChangeArrowheads="1"/>
          </p:cNvSpPr>
          <p:nvPr/>
        </p:nvSpPr>
        <p:spPr bwMode="auto">
          <a:xfrm>
            <a:off x="4327525" y="2392363"/>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a:latin typeface="Angsana New" panose="02020603050405020304" pitchFamily="18" charset="-34"/>
              <a:cs typeface="Angsana New" panose="02020603050405020304" pitchFamily="18" charset="-34"/>
            </a:endParaRPr>
          </a:p>
        </p:txBody>
      </p:sp>
      <p:sp>
        <p:nvSpPr>
          <p:cNvPr id="231430" name="Oval 7"/>
          <p:cNvSpPr>
            <a:spLocks noChangeArrowheads="1"/>
          </p:cNvSpPr>
          <p:nvPr/>
        </p:nvSpPr>
        <p:spPr bwMode="auto">
          <a:xfrm>
            <a:off x="2590800" y="1524000"/>
            <a:ext cx="4267200" cy="4267200"/>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a:latin typeface="Angsana New" panose="02020603050405020304" pitchFamily="18" charset="-34"/>
                <a:cs typeface="Angsana New" panose="02020603050405020304" pitchFamily="18" charset="-34"/>
              </a:rPr>
              <a:t>   </a:t>
            </a:r>
          </a:p>
        </p:txBody>
      </p:sp>
      <p:sp>
        <p:nvSpPr>
          <p:cNvPr id="231431" name="Oval 11"/>
          <p:cNvSpPr>
            <a:spLocks noChangeArrowheads="1"/>
          </p:cNvSpPr>
          <p:nvPr/>
        </p:nvSpPr>
        <p:spPr bwMode="auto">
          <a:xfrm>
            <a:off x="3708400" y="2349500"/>
            <a:ext cx="990600" cy="990600"/>
          </a:xfrm>
          <a:prstGeom prst="ellipse">
            <a:avLst/>
          </a:prstGeom>
          <a:solidFill>
            <a:srgbClr val="00FF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231432" name="Oval 12"/>
          <p:cNvSpPr>
            <a:spLocks noChangeArrowheads="1"/>
          </p:cNvSpPr>
          <p:nvPr/>
        </p:nvSpPr>
        <p:spPr bwMode="auto">
          <a:xfrm>
            <a:off x="5076825" y="2276475"/>
            <a:ext cx="990600" cy="990600"/>
          </a:xfrm>
          <a:prstGeom prst="ellipse">
            <a:avLst/>
          </a:prstGeom>
          <a:solidFill>
            <a:srgbClr val="00FF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231433" name="Rectangle 13"/>
          <p:cNvSpPr>
            <a:spLocks noChangeArrowheads="1"/>
          </p:cNvSpPr>
          <p:nvPr/>
        </p:nvSpPr>
        <p:spPr bwMode="auto">
          <a:xfrm>
            <a:off x="2627313" y="3429000"/>
            <a:ext cx="4267200" cy="381000"/>
          </a:xfrm>
          <a:prstGeom prst="rect">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a:solidFill>
                  <a:srgbClr val="CC0066"/>
                </a:solidFill>
                <a:latin typeface="Angsana New" panose="02020603050405020304" pitchFamily="18" charset="-34"/>
                <a:cs typeface="Angsana New" panose="02020603050405020304" pitchFamily="18" charset="-34"/>
              </a:rPr>
              <a:t>Tensile  and  fold</a:t>
            </a:r>
          </a:p>
        </p:txBody>
      </p:sp>
      <p:sp>
        <p:nvSpPr>
          <p:cNvPr id="231434" name="Rectangle 14"/>
          <p:cNvSpPr>
            <a:spLocks noChangeArrowheads="1"/>
          </p:cNvSpPr>
          <p:nvPr/>
        </p:nvSpPr>
        <p:spPr bwMode="auto">
          <a:xfrm>
            <a:off x="2627313" y="3789363"/>
            <a:ext cx="4267200" cy="381000"/>
          </a:xfrm>
          <a:prstGeom prst="rect">
            <a:avLst/>
          </a:prstGeom>
          <a:solidFill>
            <a:srgbClr val="FFC000"/>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a:solidFill>
                  <a:schemeClr val="bg1"/>
                </a:solidFill>
                <a:latin typeface="Angsana New" panose="02020603050405020304" pitchFamily="18" charset="-34"/>
                <a:cs typeface="Angsana New" panose="02020603050405020304" pitchFamily="18" charset="-34"/>
              </a:rPr>
              <a:t>Tensile and fold</a:t>
            </a:r>
          </a:p>
        </p:txBody>
      </p:sp>
      <p:sp>
        <p:nvSpPr>
          <p:cNvPr id="231435" name="Line 15"/>
          <p:cNvSpPr>
            <a:spLocks noChangeShapeType="1"/>
          </p:cNvSpPr>
          <p:nvPr/>
        </p:nvSpPr>
        <p:spPr bwMode="auto">
          <a:xfrm>
            <a:off x="4114800" y="6324600"/>
            <a:ext cx="15240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1436" name="Text Box 16"/>
          <p:cNvSpPr txBox="1">
            <a:spLocks noChangeArrowheads="1"/>
          </p:cNvSpPr>
          <p:nvPr/>
        </p:nvSpPr>
        <p:spPr bwMode="auto">
          <a:xfrm>
            <a:off x="4427538" y="1916113"/>
            <a:ext cx="766762"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a:solidFill>
                  <a:schemeClr val="bg1"/>
                </a:solidFill>
                <a:latin typeface="Angsana New" panose="02020603050405020304" pitchFamily="18" charset="-34"/>
                <a:cs typeface="Angsana New" panose="02020603050405020304" pitchFamily="18" charset="-34"/>
              </a:rPr>
              <a:t>Burst</a:t>
            </a:r>
          </a:p>
        </p:txBody>
      </p:sp>
      <p:sp>
        <p:nvSpPr>
          <p:cNvPr id="231437" name="Text Box 17"/>
          <p:cNvSpPr txBox="1">
            <a:spLocks noChangeArrowheads="1"/>
          </p:cNvSpPr>
          <p:nvPr/>
        </p:nvSpPr>
        <p:spPr bwMode="auto">
          <a:xfrm>
            <a:off x="4327525" y="4837113"/>
            <a:ext cx="674688"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a:solidFill>
                  <a:schemeClr val="bg1"/>
                </a:solidFill>
                <a:latin typeface="Angsana New" panose="02020603050405020304" pitchFamily="18" charset="-34"/>
                <a:cs typeface="Angsana New" panose="02020603050405020304" pitchFamily="18" charset="-34"/>
              </a:rPr>
              <a:t>Tear</a:t>
            </a:r>
          </a:p>
        </p:txBody>
      </p:sp>
      <p:sp>
        <p:nvSpPr>
          <p:cNvPr id="231438" name="Line 18"/>
          <p:cNvSpPr>
            <a:spLocks noChangeShapeType="1"/>
          </p:cNvSpPr>
          <p:nvPr/>
        </p:nvSpPr>
        <p:spPr bwMode="auto">
          <a:xfrm>
            <a:off x="2027238" y="3789363"/>
            <a:ext cx="4572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1439" name="Line 19"/>
          <p:cNvSpPr>
            <a:spLocks noChangeShapeType="1"/>
          </p:cNvSpPr>
          <p:nvPr/>
        </p:nvSpPr>
        <p:spPr bwMode="auto">
          <a:xfrm>
            <a:off x="2027238" y="3429000"/>
            <a:ext cx="4572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1440" name="Line 20"/>
          <p:cNvSpPr>
            <a:spLocks noChangeShapeType="1"/>
          </p:cNvSpPr>
          <p:nvPr/>
        </p:nvSpPr>
        <p:spPr bwMode="auto">
          <a:xfrm>
            <a:off x="7315200" y="6324600"/>
            <a:ext cx="4572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1441" name="Text Box 21"/>
          <p:cNvSpPr txBox="1">
            <a:spLocks noChangeArrowheads="1"/>
          </p:cNvSpPr>
          <p:nvPr/>
        </p:nvSpPr>
        <p:spPr bwMode="auto">
          <a:xfrm>
            <a:off x="1055688" y="3281363"/>
            <a:ext cx="936625" cy="5794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a:latin typeface="Angsana New" panose="02020603050405020304" pitchFamily="18" charset="-34"/>
                <a:cs typeface="Angsana New" panose="02020603050405020304" pitchFamily="18" charset="-34"/>
              </a:rPr>
              <a:t>15 mm</a:t>
            </a:r>
          </a:p>
        </p:txBody>
      </p:sp>
      <p:sp>
        <p:nvSpPr>
          <p:cNvPr id="231442" name="Text Box 22"/>
          <p:cNvSpPr txBox="1">
            <a:spLocks noChangeArrowheads="1"/>
          </p:cNvSpPr>
          <p:nvPr/>
        </p:nvSpPr>
        <p:spPr bwMode="auto">
          <a:xfrm>
            <a:off x="1128713" y="4721225"/>
            <a:ext cx="936625" cy="57943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a:latin typeface="Angsana New" panose="02020603050405020304" pitchFamily="18" charset="-34"/>
                <a:cs typeface="Angsana New" panose="02020603050405020304" pitchFamily="18" charset="-34"/>
              </a:rPr>
              <a:t>63 mm</a:t>
            </a:r>
          </a:p>
        </p:txBody>
      </p:sp>
      <p:sp>
        <p:nvSpPr>
          <p:cNvPr id="231443" name="Line 23"/>
          <p:cNvSpPr>
            <a:spLocks noChangeShapeType="1"/>
          </p:cNvSpPr>
          <p:nvPr/>
        </p:nvSpPr>
        <p:spPr bwMode="auto">
          <a:xfrm>
            <a:off x="2243138" y="2781300"/>
            <a:ext cx="0" cy="685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1444" name="Line 24"/>
          <p:cNvSpPr>
            <a:spLocks noChangeShapeType="1"/>
          </p:cNvSpPr>
          <p:nvPr/>
        </p:nvSpPr>
        <p:spPr bwMode="auto">
          <a:xfrm flipV="1">
            <a:off x="2243138" y="4149725"/>
            <a:ext cx="0" cy="1524000"/>
          </a:xfrm>
          <a:prstGeom prst="line">
            <a:avLst/>
          </a:prstGeom>
          <a:noFill/>
          <a:ln w="9525">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1445" name="Line 25"/>
          <p:cNvSpPr>
            <a:spLocks noChangeShapeType="1"/>
          </p:cNvSpPr>
          <p:nvPr/>
        </p:nvSpPr>
        <p:spPr bwMode="auto">
          <a:xfrm>
            <a:off x="3851275" y="5516563"/>
            <a:ext cx="1800225" cy="0"/>
          </a:xfrm>
          <a:prstGeom prst="line">
            <a:avLst/>
          </a:prstGeom>
          <a:noFill/>
          <a:ln w="38100" cap="rnd">
            <a:solidFill>
              <a:schemeClr val="bg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1446" name="Line 26"/>
          <p:cNvSpPr>
            <a:spLocks noChangeShapeType="1"/>
          </p:cNvSpPr>
          <p:nvPr/>
        </p:nvSpPr>
        <p:spPr bwMode="auto">
          <a:xfrm>
            <a:off x="4932363" y="5373688"/>
            <a:ext cx="0" cy="473075"/>
          </a:xfrm>
          <a:prstGeom prst="line">
            <a:avLst/>
          </a:prstGeom>
          <a:noFill/>
          <a:ln w="38100" cap="rnd">
            <a:solidFill>
              <a:schemeClr val="bg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1447" name="Line 27"/>
          <p:cNvSpPr>
            <a:spLocks noChangeShapeType="1"/>
          </p:cNvSpPr>
          <p:nvPr/>
        </p:nvSpPr>
        <p:spPr bwMode="auto">
          <a:xfrm>
            <a:off x="5292725" y="5373688"/>
            <a:ext cx="0" cy="401637"/>
          </a:xfrm>
          <a:prstGeom prst="line">
            <a:avLst/>
          </a:prstGeom>
          <a:noFill/>
          <a:ln w="38100" cap="rnd">
            <a:solidFill>
              <a:schemeClr val="bg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1448" name="Line 28"/>
          <p:cNvSpPr>
            <a:spLocks noChangeShapeType="1"/>
          </p:cNvSpPr>
          <p:nvPr/>
        </p:nvSpPr>
        <p:spPr bwMode="auto">
          <a:xfrm>
            <a:off x="4511675" y="5373688"/>
            <a:ext cx="0" cy="473075"/>
          </a:xfrm>
          <a:prstGeom prst="line">
            <a:avLst/>
          </a:prstGeom>
          <a:noFill/>
          <a:ln w="38100" cap="rnd">
            <a:solidFill>
              <a:schemeClr val="bg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1449" name="Line 29"/>
          <p:cNvSpPr>
            <a:spLocks noChangeShapeType="1"/>
          </p:cNvSpPr>
          <p:nvPr/>
        </p:nvSpPr>
        <p:spPr bwMode="auto">
          <a:xfrm>
            <a:off x="4140200" y="5300663"/>
            <a:ext cx="0" cy="403225"/>
          </a:xfrm>
          <a:prstGeom prst="line">
            <a:avLst/>
          </a:prstGeom>
          <a:noFill/>
          <a:ln w="38100" cap="rnd">
            <a:solidFill>
              <a:schemeClr val="bg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1450" name="Line 30"/>
          <p:cNvSpPr>
            <a:spLocks noChangeShapeType="1"/>
          </p:cNvSpPr>
          <p:nvPr/>
        </p:nvSpPr>
        <p:spPr bwMode="auto">
          <a:xfrm>
            <a:off x="3708400" y="4149725"/>
            <a:ext cx="0" cy="1143000"/>
          </a:xfrm>
          <a:prstGeom prst="line">
            <a:avLst/>
          </a:prstGeom>
          <a:noFill/>
          <a:ln w="9525">
            <a:solidFill>
              <a:schemeClr val="bg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1451" name="Text Box 31"/>
          <p:cNvSpPr txBox="1">
            <a:spLocks noChangeArrowheads="1"/>
          </p:cNvSpPr>
          <p:nvPr/>
        </p:nvSpPr>
        <p:spPr bwMode="auto">
          <a:xfrm>
            <a:off x="2947988" y="4543425"/>
            <a:ext cx="8001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a:solidFill>
                  <a:schemeClr val="bg1"/>
                </a:solidFill>
                <a:latin typeface="Angsana New" panose="02020603050405020304" pitchFamily="18" charset="-34"/>
                <a:cs typeface="Angsana New" panose="02020603050405020304" pitchFamily="18" charset="-34"/>
              </a:rPr>
              <a:t>47  mm</a:t>
            </a:r>
            <a:endParaRPr lang="en-US" altLang="en-US">
              <a:solidFill>
                <a:schemeClr val="bg1"/>
              </a:solidFill>
              <a:latin typeface="Angsana New" panose="02020603050405020304" pitchFamily="18" charset="-34"/>
              <a:cs typeface="Angsana New" panose="02020603050405020304" pitchFamily="18" charset="-34"/>
            </a:endParaRPr>
          </a:p>
        </p:txBody>
      </p:sp>
      <p:sp>
        <p:nvSpPr>
          <p:cNvPr id="231452" name="AutoShape 32"/>
          <p:cNvSpPr>
            <a:spLocks noChangeArrowheads="1"/>
          </p:cNvSpPr>
          <p:nvPr/>
        </p:nvSpPr>
        <p:spPr bwMode="auto">
          <a:xfrm>
            <a:off x="685800" y="5791200"/>
            <a:ext cx="7315200" cy="762000"/>
          </a:xfrm>
          <a:prstGeom prst="horizontalScroll">
            <a:avLst>
              <a:gd name="adj" fmla="val 12500"/>
            </a:avLst>
          </a:pr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p>
        </p:txBody>
      </p:sp>
      <p:sp>
        <p:nvSpPr>
          <p:cNvPr id="231453" name="Rectangle 33"/>
          <p:cNvSpPr>
            <a:spLocks noChangeArrowheads="1"/>
          </p:cNvSpPr>
          <p:nvPr/>
        </p:nvSpPr>
        <p:spPr bwMode="auto">
          <a:xfrm>
            <a:off x="1447800" y="5867400"/>
            <a:ext cx="60547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b="1">
                <a:solidFill>
                  <a:srgbClr val="CC0066"/>
                </a:solidFill>
                <a:latin typeface="Angsana New" panose="02020603050405020304" pitchFamily="18" charset="-34"/>
                <a:cs typeface="Angsana New" panose="02020603050405020304" pitchFamily="18" charset="-34"/>
              </a:rPr>
              <a:t> - T 205 : Forming  Handsheets  for  Physical  Test of  Pulp</a:t>
            </a:r>
          </a:p>
        </p:txBody>
      </p:sp>
    </p:spTree>
    <p:extLst>
      <p:ext uri="{BB962C8B-B14F-4D97-AF65-F5344CB8AC3E}">
        <p14:creationId xmlns:p14="http://schemas.microsoft.com/office/powerpoint/2010/main" val="2066094335"/>
      </p:ext>
    </p:extLst>
  </p:cSld>
  <p:clrMapOvr>
    <a:masterClrMapping/>
  </p:clrMapOvr>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7. Properties and Testing of pulp</a:t>
            </a:r>
          </a:p>
        </p:txBody>
      </p:sp>
      <p:sp>
        <p:nvSpPr>
          <p:cNvPr id="233475" name="Text Box 3"/>
          <p:cNvSpPr txBox="1">
            <a:spLocks noChangeArrowheads="1"/>
          </p:cNvSpPr>
          <p:nvPr/>
        </p:nvSpPr>
        <p:spPr bwMode="auto">
          <a:xfrm>
            <a:off x="4327525" y="2392363"/>
            <a:ext cx="2413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b="1">
              <a:solidFill>
                <a:schemeClr val="bg1"/>
              </a:solidFill>
              <a:latin typeface="Angsana New" panose="02020603050405020304" pitchFamily="18" charset="-34"/>
              <a:cs typeface="Angsana New" panose="02020603050405020304" pitchFamily="18" charset="-34"/>
            </a:endParaRPr>
          </a:p>
        </p:txBody>
      </p:sp>
      <p:sp>
        <p:nvSpPr>
          <p:cNvPr id="31" name="Oval 4"/>
          <p:cNvSpPr>
            <a:spLocks noChangeArrowheads="1"/>
          </p:cNvSpPr>
          <p:nvPr/>
        </p:nvSpPr>
        <p:spPr bwMode="auto">
          <a:xfrm>
            <a:off x="2627313" y="1557338"/>
            <a:ext cx="4267200" cy="4267200"/>
          </a:xfrm>
          <a:prstGeom prst="ellipse">
            <a:avLst/>
          </a:prstGeom>
          <a:solidFill>
            <a:schemeClr val="tx2">
              <a:lumMod val="60000"/>
              <a:lumOff val="40000"/>
            </a:schemeClr>
          </a:solidFill>
          <a:ln w="9525">
            <a:solidFill>
              <a:schemeClr val="tx1"/>
            </a:solidFill>
            <a:round/>
            <a:headEnd/>
            <a:tailEnd/>
          </a:ln>
          <a:effectLst/>
        </p:spPr>
        <p:txBody>
          <a:bodyPr wrap="none" anchor="ctr"/>
          <a:lstStyle/>
          <a:p>
            <a:pPr algn="ctr">
              <a:defRPr/>
            </a:pPr>
            <a:r>
              <a:rPr lang="en-US" altLang="en-US" sz="3200">
                <a:latin typeface="Angsana New" panose="02020603050405020304" pitchFamily="18" charset="-34"/>
                <a:cs typeface="Angsana New" panose="02020603050405020304" pitchFamily="18" charset="-34"/>
              </a:rPr>
              <a:t>   </a:t>
            </a:r>
          </a:p>
        </p:txBody>
      </p:sp>
      <p:sp>
        <p:nvSpPr>
          <p:cNvPr id="233477" name="Rectangle 5"/>
          <p:cNvSpPr>
            <a:spLocks noChangeArrowheads="1"/>
          </p:cNvSpPr>
          <p:nvPr/>
        </p:nvSpPr>
        <p:spPr bwMode="auto">
          <a:xfrm>
            <a:off x="2667000" y="3429000"/>
            <a:ext cx="4267200" cy="381000"/>
          </a:xfrm>
          <a:prstGeom prst="rect">
            <a:avLst/>
          </a:prstGeom>
          <a:solidFill>
            <a:srgbClr val="00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a:solidFill>
                  <a:srgbClr val="CC0066"/>
                </a:solidFill>
                <a:latin typeface="Angsana New" panose="02020603050405020304" pitchFamily="18" charset="-34"/>
                <a:cs typeface="Angsana New" panose="02020603050405020304" pitchFamily="18" charset="-34"/>
              </a:rPr>
              <a:t>Ring crush and  CMT</a:t>
            </a:r>
          </a:p>
        </p:txBody>
      </p:sp>
      <p:sp>
        <p:nvSpPr>
          <p:cNvPr id="233478" name="Rectangle 6"/>
          <p:cNvSpPr>
            <a:spLocks noChangeArrowheads="1"/>
          </p:cNvSpPr>
          <p:nvPr/>
        </p:nvSpPr>
        <p:spPr bwMode="auto">
          <a:xfrm>
            <a:off x="2627313" y="3789363"/>
            <a:ext cx="4267200" cy="381000"/>
          </a:xfrm>
          <a:prstGeom prst="rect">
            <a:avLst/>
          </a:prstGeom>
          <a:solidFill>
            <a:srgbClr val="FF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a:solidFill>
                  <a:schemeClr val="bg1"/>
                </a:solidFill>
                <a:latin typeface="Angsana New" panose="02020603050405020304" pitchFamily="18" charset="-34"/>
                <a:cs typeface="Angsana New" panose="02020603050405020304" pitchFamily="18" charset="-34"/>
              </a:rPr>
              <a:t>Ring crush and CMT</a:t>
            </a:r>
          </a:p>
        </p:txBody>
      </p:sp>
      <p:sp>
        <p:nvSpPr>
          <p:cNvPr id="233479" name="Text Box 7"/>
          <p:cNvSpPr txBox="1">
            <a:spLocks noChangeArrowheads="1"/>
          </p:cNvSpPr>
          <p:nvPr/>
        </p:nvSpPr>
        <p:spPr bwMode="auto">
          <a:xfrm>
            <a:off x="4267200" y="4419600"/>
            <a:ext cx="11239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a:solidFill>
                  <a:schemeClr val="bg1"/>
                </a:solidFill>
                <a:latin typeface="Angsana New" panose="02020603050405020304" pitchFamily="18" charset="-34"/>
                <a:cs typeface="Angsana New" panose="02020603050405020304" pitchFamily="18" charset="-34"/>
              </a:rPr>
              <a:t>Stiffness</a:t>
            </a:r>
          </a:p>
        </p:txBody>
      </p:sp>
      <p:sp>
        <p:nvSpPr>
          <p:cNvPr id="233480" name="Line 8"/>
          <p:cNvSpPr>
            <a:spLocks noChangeShapeType="1"/>
          </p:cNvSpPr>
          <p:nvPr/>
        </p:nvSpPr>
        <p:spPr bwMode="auto">
          <a:xfrm>
            <a:off x="7235825" y="3789363"/>
            <a:ext cx="4572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3481" name="Line 9"/>
          <p:cNvSpPr>
            <a:spLocks noChangeShapeType="1"/>
          </p:cNvSpPr>
          <p:nvPr/>
        </p:nvSpPr>
        <p:spPr bwMode="auto">
          <a:xfrm>
            <a:off x="7235825" y="3429000"/>
            <a:ext cx="4572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3482" name="Text Box 10"/>
          <p:cNvSpPr txBox="1">
            <a:spLocks noChangeArrowheads="1"/>
          </p:cNvSpPr>
          <p:nvPr/>
        </p:nvSpPr>
        <p:spPr bwMode="auto">
          <a:xfrm>
            <a:off x="7812088" y="3284538"/>
            <a:ext cx="936625" cy="5794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a:latin typeface="Angsana New" panose="02020603050405020304" pitchFamily="18" charset="-34"/>
                <a:cs typeface="Angsana New" panose="02020603050405020304" pitchFamily="18" charset="-34"/>
              </a:rPr>
              <a:t>15 mm</a:t>
            </a:r>
          </a:p>
        </p:txBody>
      </p:sp>
      <p:sp>
        <p:nvSpPr>
          <p:cNvPr id="233483" name="Line 11"/>
          <p:cNvSpPr>
            <a:spLocks noChangeShapeType="1"/>
          </p:cNvSpPr>
          <p:nvPr/>
        </p:nvSpPr>
        <p:spPr bwMode="auto">
          <a:xfrm>
            <a:off x="7391400" y="2743200"/>
            <a:ext cx="0" cy="685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3484" name="Text Box 12"/>
          <p:cNvSpPr txBox="1">
            <a:spLocks noChangeArrowheads="1"/>
          </p:cNvSpPr>
          <p:nvPr/>
        </p:nvSpPr>
        <p:spPr bwMode="auto">
          <a:xfrm>
            <a:off x="2743200" y="2819400"/>
            <a:ext cx="1047750" cy="461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solidFill>
                  <a:schemeClr val="bg1"/>
                </a:solidFill>
                <a:latin typeface="Angsana New" panose="02020603050405020304" pitchFamily="18" charset="-34"/>
                <a:cs typeface="Angsana New" panose="02020603050405020304" pitchFamily="18" charset="-34"/>
              </a:rPr>
              <a:t>38  mm</a:t>
            </a:r>
            <a:endParaRPr lang="en-US" altLang="en-US" b="1">
              <a:solidFill>
                <a:schemeClr val="bg1"/>
              </a:solidFill>
              <a:latin typeface="Angsana New" panose="02020603050405020304" pitchFamily="18" charset="-34"/>
              <a:cs typeface="Angsana New" panose="02020603050405020304" pitchFamily="18" charset="-34"/>
            </a:endParaRPr>
          </a:p>
        </p:txBody>
      </p:sp>
      <p:sp>
        <p:nvSpPr>
          <p:cNvPr id="233485" name="Text Box 13"/>
          <p:cNvSpPr txBox="1">
            <a:spLocks noChangeArrowheads="1"/>
          </p:cNvSpPr>
          <p:nvPr/>
        </p:nvSpPr>
        <p:spPr bwMode="auto">
          <a:xfrm>
            <a:off x="4114800" y="2438400"/>
            <a:ext cx="1522413"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a:solidFill>
                  <a:schemeClr val="bg1"/>
                </a:solidFill>
                <a:latin typeface="Angsana New" panose="02020603050405020304" pitchFamily="18" charset="-34"/>
                <a:cs typeface="Angsana New" panose="02020603050405020304" pitchFamily="18" charset="-34"/>
              </a:rPr>
              <a:t>Stiffness</a:t>
            </a:r>
          </a:p>
        </p:txBody>
      </p:sp>
      <p:sp>
        <p:nvSpPr>
          <p:cNvPr id="233486" name="Line 14"/>
          <p:cNvSpPr>
            <a:spLocks noChangeShapeType="1"/>
          </p:cNvSpPr>
          <p:nvPr/>
        </p:nvSpPr>
        <p:spPr bwMode="auto">
          <a:xfrm>
            <a:off x="3352800" y="2514600"/>
            <a:ext cx="0" cy="914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3487" name="Line 15"/>
          <p:cNvSpPr>
            <a:spLocks noChangeShapeType="1"/>
          </p:cNvSpPr>
          <p:nvPr/>
        </p:nvSpPr>
        <p:spPr bwMode="auto">
          <a:xfrm>
            <a:off x="3352800" y="2514600"/>
            <a:ext cx="28194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3488" name="Line 16"/>
          <p:cNvSpPr>
            <a:spLocks noChangeShapeType="1"/>
          </p:cNvSpPr>
          <p:nvPr/>
        </p:nvSpPr>
        <p:spPr bwMode="auto">
          <a:xfrm>
            <a:off x="6172200" y="2514600"/>
            <a:ext cx="0" cy="914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3489" name="Line 17"/>
          <p:cNvSpPr>
            <a:spLocks noChangeShapeType="1"/>
          </p:cNvSpPr>
          <p:nvPr/>
        </p:nvSpPr>
        <p:spPr bwMode="auto">
          <a:xfrm flipV="1">
            <a:off x="7391400" y="3810000"/>
            <a:ext cx="0" cy="5334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3490" name="Text Box 18"/>
          <p:cNvSpPr txBox="1">
            <a:spLocks noChangeArrowheads="1"/>
          </p:cNvSpPr>
          <p:nvPr/>
        </p:nvSpPr>
        <p:spPr bwMode="auto">
          <a:xfrm>
            <a:off x="4343400" y="1981200"/>
            <a:ext cx="1047750" cy="461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400" b="1">
                <a:solidFill>
                  <a:schemeClr val="bg1"/>
                </a:solidFill>
                <a:latin typeface="Angsana New" panose="02020603050405020304" pitchFamily="18" charset="-34"/>
                <a:cs typeface="Angsana New" panose="02020603050405020304" pitchFamily="18" charset="-34"/>
              </a:rPr>
              <a:t>70  mm</a:t>
            </a:r>
            <a:endParaRPr lang="en-US" altLang="en-US" b="1">
              <a:solidFill>
                <a:schemeClr val="bg1"/>
              </a:solidFill>
              <a:latin typeface="Angsana New" panose="02020603050405020304" pitchFamily="18" charset="-34"/>
              <a:cs typeface="Angsana New" panose="02020603050405020304" pitchFamily="18" charset="-34"/>
            </a:endParaRPr>
          </a:p>
        </p:txBody>
      </p:sp>
      <p:sp>
        <p:nvSpPr>
          <p:cNvPr id="233491" name="Rectangle 20"/>
          <p:cNvSpPr>
            <a:spLocks noChangeArrowheads="1"/>
          </p:cNvSpPr>
          <p:nvPr/>
        </p:nvSpPr>
        <p:spPr bwMode="auto">
          <a:xfrm>
            <a:off x="0" y="1371600"/>
            <a:ext cx="403860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3600" b="1">
                <a:solidFill>
                  <a:srgbClr val="990000"/>
                </a:solidFill>
                <a:latin typeface="Angsana New" panose="02020603050405020304" pitchFamily="18" charset="-34"/>
                <a:cs typeface="Angsana New" panose="02020603050405020304" pitchFamily="18" charset="-34"/>
              </a:rPr>
              <a:t>FORMING HANDSHEET</a:t>
            </a:r>
          </a:p>
          <a:p>
            <a:pPr>
              <a:spcBef>
                <a:spcPct val="0"/>
              </a:spcBef>
              <a:buFontTx/>
              <a:buNone/>
            </a:pPr>
            <a:r>
              <a:rPr lang="en-US" altLang="en-US" sz="3600" b="1">
                <a:solidFill>
                  <a:srgbClr val="990000"/>
                </a:solidFill>
                <a:latin typeface="Angsana New" panose="02020603050405020304" pitchFamily="18" charset="-34"/>
                <a:cs typeface="Angsana New" panose="02020603050405020304" pitchFamily="18" charset="-34"/>
              </a:rPr>
              <a:t>    H/S  150 g/m2</a:t>
            </a:r>
            <a:endParaRPr lang="en-US" altLang="en-US" sz="2800" b="1">
              <a:solidFill>
                <a:srgbClr val="990000"/>
              </a:solidFill>
              <a:latin typeface="Angsana New" panose="02020603050405020304" pitchFamily="18" charset="-34"/>
              <a:cs typeface="Angsana New" panose="02020603050405020304" pitchFamily="18" charset="-34"/>
            </a:endParaRPr>
          </a:p>
        </p:txBody>
      </p:sp>
    </p:spTree>
    <p:extLst>
      <p:ext uri="{BB962C8B-B14F-4D97-AF65-F5344CB8AC3E}">
        <p14:creationId xmlns:p14="http://schemas.microsoft.com/office/powerpoint/2010/main" val="3577758855"/>
      </p:ext>
    </p:extLst>
  </p:cSld>
  <p:clrMapOvr>
    <a:masterClrMapping/>
  </p:clrMapOvr>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7. Properties and Testing of pulp</a:t>
            </a:r>
          </a:p>
        </p:txBody>
      </p:sp>
      <p:pic>
        <p:nvPicPr>
          <p:cNvPr id="235523"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5263" y="2225675"/>
            <a:ext cx="2681287" cy="3260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1025"/>
          <p:cNvSpPr txBox="1">
            <a:spLocks noChangeArrowheads="1"/>
          </p:cNvSpPr>
          <p:nvPr/>
        </p:nvSpPr>
        <p:spPr bwMode="auto">
          <a:xfrm>
            <a:off x="342900" y="962025"/>
            <a:ext cx="4641850" cy="539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anose="020F0502020204030204" pitchFamily="34" charset="0"/>
              </a:defRPr>
            </a:lvl2pPr>
            <a:lvl3pPr algn="ctr" rtl="0" eaLnBrk="0" fontAlgn="base" hangingPunct="0">
              <a:spcBef>
                <a:spcPct val="0"/>
              </a:spcBef>
              <a:spcAft>
                <a:spcPct val="0"/>
              </a:spcAft>
              <a:defRPr sz="4400">
                <a:solidFill>
                  <a:schemeClr val="tx1"/>
                </a:solidFill>
                <a:latin typeface="Calibri" panose="020F0502020204030204" pitchFamily="34" charset="0"/>
              </a:defRPr>
            </a:lvl3pPr>
            <a:lvl4pPr algn="ctr" rtl="0" eaLnBrk="0" fontAlgn="base" hangingPunct="0">
              <a:spcBef>
                <a:spcPct val="0"/>
              </a:spcBef>
              <a:spcAft>
                <a:spcPct val="0"/>
              </a:spcAft>
              <a:defRPr sz="4400">
                <a:solidFill>
                  <a:schemeClr val="tx1"/>
                </a:solidFill>
                <a:latin typeface="Calibri" panose="020F0502020204030204" pitchFamily="34" charset="0"/>
              </a:defRPr>
            </a:lvl4pPr>
            <a:lvl5pPr algn="ctr" rtl="0" eaLnBrk="0" fontAlgn="base" hangingPunct="0">
              <a:spcBef>
                <a:spcPct val="0"/>
              </a:spcBef>
              <a:spcAft>
                <a:spcPct val="0"/>
              </a:spcAft>
              <a:defRPr sz="4400">
                <a:solidFill>
                  <a:schemeClr val="tx1"/>
                </a:solidFill>
                <a:latin typeface="Calibri" panose="020F0502020204030204" pitchFamily="34"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a:lstStyle>
          <a:p>
            <a:pPr algn="l">
              <a:defRPr/>
            </a:pPr>
            <a:r>
              <a:rPr lang="en-US" altLang="en-US" sz="2800" b="1" dirty="0" smtClean="0">
                <a:effectLst>
                  <a:outerShdw blurRad="38100" dist="38100" dir="2700000" algn="tl">
                    <a:srgbClr val="C0C0C0"/>
                  </a:outerShdw>
                </a:effectLst>
                <a:latin typeface="Tahoma" panose="020B0604030504040204" pitchFamily="34" charset="0"/>
                <a:ea typeface="Tahoma" panose="020B0604030504040204" pitchFamily="34" charset="0"/>
                <a:cs typeface="Tahoma" panose="020B0604030504040204" pitchFamily="34" charset="0"/>
              </a:rPr>
              <a:t> Bleached PULP Quality</a:t>
            </a:r>
            <a:endParaRPr lang="th-TH" altLang="en-US" sz="2000" dirty="0">
              <a:latin typeface="Tahoma" panose="020B0604030504040204" pitchFamily="34" charset="0"/>
              <a:ea typeface="Tahoma" panose="020B0604030504040204" pitchFamily="34" charset="0"/>
              <a:cs typeface="Tahoma" panose="020B0604030504040204" pitchFamily="34" charset="0"/>
            </a:endParaRPr>
          </a:p>
        </p:txBody>
      </p:sp>
      <p:sp>
        <p:nvSpPr>
          <p:cNvPr id="235525" name="TextBox 2"/>
          <p:cNvSpPr txBox="1">
            <a:spLocks noChangeArrowheads="1"/>
          </p:cNvSpPr>
          <p:nvPr/>
        </p:nvSpPr>
        <p:spPr bwMode="auto">
          <a:xfrm>
            <a:off x="342900" y="1725613"/>
            <a:ext cx="2387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a:t>Brightness (86 %ISO)</a:t>
            </a:r>
          </a:p>
        </p:txBody>
      </p:sp>
      <p:sp>
        <p:nvSpPr>
          <p:cNvPr id="235526" name="TextBox 22"/>
          <p:cNvSpPr txBox="1">
            <a:spLocks noChangeArrowheads="1"/>
          </p:cNvSpPr>
          <p:nvPr/>
        </p:nvSpPr>
        <p:spPr bwMode="auto">
          <a:xfrm>
            <a:off x="3295650" y="1704975"/>
            <a:ext cx="25638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a:t>Dirt+Shive (&lt; 1.5 ppm)</a:t>
            </a:r>
          </a:p>
        </p:txBody>
      </p:sp>
      <p:sp>
        <p:nvSpPr>
          <p:cNvPr id="235527" name="TextBox 23"/>
          <p:cNvSpPr txBox="1">
            <a:spLocks noChangeArrowheads="1"/>
          </p:cNvSpPr>
          <p:nvPr/>
        </p:nvSpPr>
        <p:spPr bwMode="auto">
          <a:xfrm>
            <a:off x="6491288" y="1704975"/>
            <a:ext cx="243363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a:t>Freeness (500 mlCSF)</a:t>
            </a:r>
          </a:p>
        </p:txBody>
      </p:sp>
      <p:pic>
        <p:nvPicPr>
          <p:cNvPr id="235528" name="Picture 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295650" y="2349500"/>
            <a:ext cx="2552700" cy="2370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5529" name="Picture 6" descr="DSC0007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473825" y="2260600"/>
            <a:ext cx="2466975" cy="3225800"/>
          </a:xfrm>
          <a:prstGeom prst="rect">
            <a:avLst/>
          </a:prstGeom>
          <a:noFill/>
          <a:ln w="57150" cmpd="thinThick">
            <a:solidFill>
              <a:schemeClr val="tx1"/>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17705444"/>
      </p:ext>
    </p:extLst>
  </p:cSld>
  <p:clrMapOvr>
    <a:masterClrMapping/>
  </p:clrMapOvr>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7. Properties and Testing of pulp</a:t>
            </a:r>
          </a:p>
        </p:txBody>
      </p:sp>
      <p:sp>
        <p:nvSpPr>
          <p:cNvPr id="21" name="Rectangle 1025"/>
          <p:cNvSpPr txBox="1">
            <a:spLocks noChangeArrowheads="1"/>
          </p:cNvSpPr>
          <p:nvPr/>
        </p:nvSpPr>
        <p:spPr bwMode="auto">
          <a:xfrm>
            <a:off x="342900" y="962025"/>
            <a:ext cx="4641850" cy="539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anose="020F0502020204030204" pitchFamily="34" charset="0"/>
              </a:defRPr>
            </a:lvl2pPr>
            <a:lvl3pPr algn="ctr" rtl="0" eaLnBrk="0" fontAlgn="base" hangingPunct="0">
              <a:spcBef>
                <a:spcPct val="0"/>
              </a:spcBef>
              <a:spcAft>
                <a:spcPct val="0"/>
              </a:spcAft>
              <a:defRPr sz="4400">
                <a:solidFill>
                  <a:schemeClr val="tx1"/>
                </a:solidFill>
                <a:latin typeface="Calibri" panose="020F0502020204030204" pitchFamily="34" charset="0"/>
              </a:defRPr>
            </a:lvl3pPr>
            <a:lvl4pPr algn="ctr" rtl="0" eaLnBrk="0" fontAlgn="base" hangingPunct="0">
              <a:spcBef>
                <a:spcPct val="0"/>
              </a:spcBef>
              <a:spcAft>
                <a:spcPct val="0"/>
              </a:spcAft>
              <a:defRPr sz="4400">
                <a:solidFill>
                  <a:schemeClr val="tx1"/>
                </a:solidFill>
                <a:latin typeface="Calibri" panose="020F0502020204030204" pitchFamily="34" charset="0"/>
              </a:defRPr>
            </a:lvl4pPr>
            <a:lvl5pPr algn="ctr" rtl="0" eaLnBrk="0" fontAlgn="base" hangingPunct="0">
              <a:spcBef>
                <a:spcPct val="0"/>
              </a:spcBef>
              <a:spcAft>
                <a:spcPct val="0"/>
              </a:spcAft>
              <a:defRPr sz="4400">
                <a:solidFill>
                  <a:schemeClr val="tx1"/>
                </a:solidFill>
                <a:latin typeface="Calibri" panose="020F0502020204030204" pitchFamily="34"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a:lstStyle>
          <a:p>
            <a:pPr algn="l">
              <a:defRPr/>
            </a:pPr>
            <a:r>
              <a:rPr lang="en-US" altLang="en-US" sz="2800" b="1" dirty="0" smtClean="0">
                <a:effectLst>
                  <a:outerShdw blurRad="38100" dist="38100" dir="2700000" algn="tl">
                    <a:srgbClr val="C0C0C0"/>
                  </a:outerShdw>
                </a:effectLst>
                <a:latin typeface="Tahoma" panose="020B0604030504040204" pitchFamily="34" charset="0"/>
                <a:ea typeface="Tahoma" panose="020B0604030504040204" pitchFamily="34" charset="0"/>
                <a:cs typeface="Tahoma" panose="020B0604030504040204" pitchFamily="34" charset="0"/>
              </a:rPr>
              <a:t> SCP Quality</a:t>
            </a:r>
            <a:endParaRPr lang="th-TH" altLang="en-US" sz="2000" dirty="0">
              <a:latin typeface="Tahoma" panose="020B0604030504040204" pitchFamily="34" charset="0"/>
              <a:ea typeface="Tahoma" panose="020B0604030504040204" pitchFamily="34" charset="0"/>
              <a:cs typeface="Tahoma" panose="020B0604030504040204" pitchFamily="34" charset="0"/>
            </a:endParaRPr>
          </a:p>
        </p:txBody>
      </p:sp>
      <p:sp>
        <p:nvSpPr>
          <p:cNvPr id="237572" name="TextBox 2"/>
          <p:cNvSpPr txBox="1">
            <a:spLocks noChangeArrowheads="1"/>
          </p:cNvSpPr>
          <p:nvPr/>
        </p:nvSpPr>
        <p:spPr bwMode="auto">
          <a:xfrm>
            <a:off x="457200" y="1700213"/>
            <a:ext cx="206533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a:t>RCT (index) 270 N</a:t>
            </a:r>
          </a:p>
        </p:txBody>
      </p:sp>
      <p:sp>
        <p:nvSpPr>
          <p:cNvPr id="237573" name="TextBox 22"/>
          <p:cNvSpPr txBox="1">
            <a:spLocks noChangeArrowheads="1"/>
          </p:cNvSpPr>
          <p:nvPr/>
        </p:nvSpPr>
        <p:spPr bwMode="auto">
          <a:xfrm>
            <a:off x="3295650" y="1704975"/>
            <a:ext cx="2089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a:t>CMT (index) 270N</a:t>
            </a:r>
          </a:p>
        </p:txBody>
      </p:sp>
      <p:sp>
        <p:nvSpPr>
          <p:cNvPr id="237574" name="TextBox 23"/>
          <p:cNvSpPr txBox="1">
            <a:spLocks noChangeArrowheads="1"/>
          </p:cNvSpPr>
          <p:nvPr/>
        </p:nvSpPr>
        <p:spPr bwMode="auto">
          <a:xfrm>
            <a:off x="6003925" y="1700213"/>
            <a:ext cx="29368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b="1"/>
              <a:t>Freeness (380 ± 50 mlCSF)</a:t>
            </a:r>
          </a:p>
        </p:txBody>
      </p:sp>
      <p:pic>
        <p:nvPicPr>
          <p:cNvPr id="237575" name="Picture 6" descr="DSC0007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45250" y="2493963"/>
            <a:ext cx="2052638" cy="2684462"/>
          </a:xfrm>
          <a:prstGeom prst="rect">
            <a:avLst/>
          </a:prstGeom>
          <a:noFill/>
          <a:ln w="57150" cmpd="thinThick">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237576" name="Picture 6" descr="test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2088" y="2297113"/>
            <a:ext cx="5575300" cy="388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88591109"/>
      </p:ext>
    </p:extLst>
  </p:cSld>
  <p:clrMapOvr>
    <a:masterClrMapping/>
  </p:clrMapOvr>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Title 1"/>
          <p:cNvSpPr>
            <a:spLocks noGrp="1"/>
          </p:cNvSpPr>
          <p:nvPr>
            <p:ph type="title"/>
          </p:nvPr>
        </p:nvSpPr>
        <p:spPr>
          <a:xfrm>
            <a:off x="441325" y="2660650"/>
            <a:ext cx="8229600" cy="1143000"/>
          </a:xfrm>
        </p:spPr>
        <p:txBody>
          <a:bodyPr/>
          <a:lstStyle/>
          <a:p>
            <a:pPr eaLnBrk="1" hangingPunct="1"/>
            <a:r>
              <a:rPr lang="en-US" altLang="en-US" b="1" smtClean="0">
                <a:latin typeface="Tahoma" panose="020B0604030504040204" pitchFamily="34" charset="0"/>
                <a:cs typeface="Tahoma" panose="020B0604030504040204" pitchFamily="34" charset="0"/>
              </a:rPr>
              <a:t>Conclusion</a:t>
            </a:r>
          </a:p>
        </p:txBody>
      </p:sp>
    </p:spTree>
    <p:extLst>
      <p:ext uri="{BB962C8B-B14F-4D97-AF65-F5344CB8AC3E}">
        <p14:creationId xmlns:p14="http://schemas.microsoft.com/office/powerpoint/2010/main" val="1656017057"/>
      </p:ext>
    </p:extLst>
  </p:cSld>
  <p:clrMapOvr>
    <a:masterClrMapping/>
  </p:clrMapOvr>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3"/>
          <p:cNvSpPr/>
          <p:nvPr/>
        </p:nvSpPr>
        <p:spPr>
          <a:xfrm>
            <a:off x="3516313" y="4629150"/>
            <a:ext cx="1646237" cy="1103313"/>
          </a:xfrm>
          <a:custGeom>
            <a:avLst/>
            <a:gdLst>
              <a:gd name="connsiteX0" fmla="*/ 0 w 1645920"/>
              <a:gd name="connsiteY0" fmla="*/ 0 h 984739"/>
              <a:gd name="connsiteX1" fmla="*/ 0 w 1645920"/>
              <a:gd name="connsiteY1" fmla="*/ 984739 h 984739"/>
              <a:gd name="connsiteX2" fmla="*/ 1645920 w 1645920"/>
              <a:gd name="connsiteY2" fmla="*/ 984739 h 984739"/>
              <a:gd name="connsiteX3" fmla="*/ 1645920 w 1645920"/>
              <a:gd name="connsiteY3" fmla="*/ 14068 h 984739"/>
            </a:gdLst>
            <a:ahLst/>
            <a:cxnLst>
              <a:cxn ang="0">
                <a:pos x="connsiteX0" y="connsiteY0"/>
              </a:cxn>
              <a:cxn ang="0">
                <a:pos x="connsiteX1" y="connsiteY1"/>
              </a:cxn>
              <a:cxn ang="0">
                <a:pos x="connsiteX2" y="connsiteY2"/>
              </a:cxn>
              <a:cxn ang="0">
                <a:pos x="connsiteX3" y="connsiteY3"/>
              </a:cxn>
            </a:cxnLst>
            <a:rect l="l" t="t" r="r" b="b"/>
            <a:pathLst>
              <a:path w="1645920" h="984739">
                <a:moveTo>
                  <a:pt x="0" y="0"/>
                </a:moveTo>
                <a:lnTo>
                  <a:pt x="0" y="984739"/>
                </a:lnTo>
                <a:lnTo>
                  <a:pt x="1645920" y="984739"/>
                </a:lnTo>
                <a:lnTo>
                  <a:pt x="1645920" y="14068"/>
                </a:lnTo>
              </a:path>
            </a:pathLst>
          </a:custGeom>
          <a:ln w="57150">
            <a:solidFill>
              <a:srgbClr val="0000CC"/>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5" name="Freeform 4"/>
          <p:cNvSpPr/>
          <p:nvPr/>
        </p:nvSpPr>
        <p:spPr>
          <a:xfrm>
            <a:off x="4248150" y="1997075"/>
            <a:ext cx="3276600" cy="1617663"/>
          </a:xfrm>
          <a:custGeom>
            <a:avLst/>
            <a:gdLst>
              <a:gd name="connsiteX0" fmla="*/ 0 w 1913206"/>
              <a:gd name="connsiteY0" fmla="*/ 0 h 1617784"/>
              <a:gd name="connsiteX1" fmla="*/ 0 w 1913206"/>
              <a:gd name="connsiteY1" fmla="*/ 1617784 h 1617784"/>
              <a:gd name="connsiteX2" fmla="*/ 1913206 w 1913206"/>
              <a:gd name="connsiteY2" fmla="*/ 1617784 h 1617784"/>
            </a:gdLst>
            <a:ahLst/>
            <a:cxnLst>
              <a:cxn ang="0">
                <a:pos x="connsiteX0" y="connsiteY0"/>
              </a:cxn>
              <a:cxn ang="0">
                <a:pos x="connsiteX1" y="connsiteY1"/>
              </a:cxn>
              <a:cxn ang="0">
                <a:pos x="connsiteX2" y="connsiteY2"/>
              </a:cxn>
            </a:cxnLst>
            <a:rect l="l" t="t" r="r" b="b"/>
            <a:pathLst>
              <a:path w="1913206" h="1617784">
                <a:moveTo>
                  <a:pt x="0" y="0"/>
                </a:moveTo>
                <a:lnTo>
                  <a:pt x="0" y="1617784"/>
                </a:lnTo>
                <a:lnTo>
                  <a:pt x="1913206" y="1617784"/>
                </a:lnTo>
              </a:path>
            </a:pathLst>
          </a:custGeom>
          <a:ln w="762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6" name="Freeform 5"/>
          <p:cNvSpPr/>
          <p:nvPr/>
        </p:nvSpPr>
        <p:spPr>
          <a:xfrm>
            <a:off x="2771775" y="2009775"/>
            <a:ext cx="4968875" cy="2571750"/>
          </a:xfrm>
          <a:custGeom>
            <a:avLst/>
            <a:gdLst>
              <a:gd name="connsiteX0" fmla="*/ 3530991 w 3530991"/>
              <a:gd name="connsiteY0" fmla="*/ 1899138 h 2391507"/>
              <a:gd name="connsiteX1" fmla="*/ 3530991 w 3530991"/>
              <a:gd name="connsiteY1" fmla="*/ 2391507 h 2391507"/>
              <a:gd name="connsiteX2" fmla="*/ 0 w 3530991"/>
              <a:gd name="connsiteY2" fmla="*/ 2391507 h 2391507"/>
              <a:gd name="connsiteX3" fmla="*/ 0 w 3530991"/>
              <a:gd name="connsiteY3" fmla="*/ 0 h 2391507"/>
            </a:gdLst>
            <a:ahLst/>
            <a:cxnLst>
              <a:cxn ang="0">
                <a:pos x="connsiteX0" y="connsiteY0"/>
              </a:cxn>
              <a:cxn ang="0">
                <a:pos x="connsiteX1" y="connsiteY1"/>
              </a:cxn>
              <a:cxn ang="0">
                <a:pos x="connsiteX2" y="connsiteY2"/>
              </a:cxn>
              <a:cxn ang="0">
                <a:pos x="connsiteX3" y="connsiteY3"/>
              </a:cxn>
            </a:cxnLst>
            <a:rect l="l" t="t" r="r" b="b"/>
            <a:pathLst>
              <a:path w="3530991" h="2391507">
                <a:moveTo>
                  <a:pt x="3530991" y="1899138"/>
                </a:moveTo>
                <a:lnTo>
                  <a:pt x="3530991" y="2391507"/>
                </a:lnTo>
                <a:lnTo>
                  <a:pt x="0" y="2391507"/>
                </a:lnTo>
                <a:lnTo>
                  <a:pt x="0" y="0"/>
                </a:lnTo>
              </a:path>
            </a:pathLst>
          </a:custGeom>
          <a:ln w="76200">
            <a:solidFill>
              <a:schemeClr val="accent5">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7" name="Right Arrow 6"/>
          <p:cNvSpPr/>
          <p:nvPr/>
        </p:nvSpPr>
        <p:spPr>
          <a:xfrm>
            <a:off x="971550" y="1730375"/>
            <a:ext cx="6696075" cy="360363"/>
          </a:xfrm>
          <a:prstGeom prst="rightArrow">
            <a:avLst/>
          </a:prstGeom>
          <a:solidFill>
            <a:srgbClr val="FF000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th-TH"/>
          </a:p>
        </p:txBody>
      </p:sp>
      <p:sp>
        <p:nvSpPr>
          <p:cNvPr id="241670" name="TextBox 7"/>
          <p:cNvSpPr txBox="1">
            <a:spLocks noChangeArrowheads="1"/>
          </p:cNvSpPr>
          <p:nvPr/>
        </p:nvSpPr>
        <p:spPr bwMode="auto">
          <a:xfrm>
            <a:off x="1116013" y="44450"/>
            <a:ext cx="4427537" cy="677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b="1">
                <a:solidFill>
                  <a:srgbClr val="0000CC"/>
                </a:solidFill>
                <a:latin typeface="Arial" panose="020B0604020202020204" pitchFamily="34" charset="0"/>
                <a:cs typeface="Arial" panose="020B0604020202020204" pitchFamily="34" charset="0"/>
              </a:rPr>
              <a:t>SCL </a:t>
            </a:r>
            <a:r>
              <a:rPr lang="en-US" altLang="en-US" sz="1800" b="1">
                <a:latin typeface="Arial" panose="020B0604020202020204" pitchFamily="34" charset="0"/>
                <a:cs typeface="Arial" panose="020B0604020202020204" pitchFamily="34" charset="0"/>
              </a:rPr>
              <a:t>Ban Pong Pulp Mill</a:t>
            </a:r>
          </a:p>
          <a:p>
            <a:pPr>
              <a:spcBef>
                <a:spcPct val="0"/>
              </a:spcBef>
              <a:buFontTx/>
              <a:buNone/>
            </a:pPr>
            <a:r>
              <a:rPr lang="en-US" altLang="en-US" sz="2000" b="1">
                <a:solidFill>
                  <a:srgbClr val="FF0000"/>
                </a:solidFill>
                <a:latin typeface="Arial" panose="020B0604020202020204" pitchFamily="34" charset="0"/>
                <a:cs typeface="Arial" panose="020B0604020202020204" pitchFamily="34" charset="0"/>
              </a:rPr>
              <a:t>MODERN CHEMICAL PULP PLANT</a:t>
            </a:r>
          </a:p>
        </p:txBody>
      </p:sp>
      <p:pic>
        <p:nvPicPr>
          <p:cNvPr id="9"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03575" y="5199063"/>
            <a:ext cx="762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29150" y="5313363"/>
            <a:ext cx="1095375" cy="809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2703513" y="4941888"/>
            <a:ext cx="788987"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000" b="1">
                <a:latin typeface="Arial" panose="020B0604020202020204" pitchFamily="34" charset="0"/>
                <a:cs typeface="Arial" panose="020B0604020202020204" pitchFamily="34" charset="0"/>
              </a:rPr>
              <a:t>Lime mud</a:t>
            </a:r>
            <a:endParaRPr lang="th-TH" altLang="en-US" sz="1000" b="1">
              <a:latin typeface="Arial" panose="020B0604020202020204" pitchFamily="34" charset="0"/>
            </a:endParaRPr>
          </a:p>
        </p:txBody>
      </p:sp>
      <p:sp>
        <p:nvSpPr>
          <p:cNvPr id="12" name="TextBox 11"/>
          <p:cNvSpPr txBox="1">
            <a:spLocks noChangeArrowheads="1"/>
          </p:cNvSpPr>
          <p:nvPr/>
        </p:nvSpPr>
        <p:spPr bwMode="auto">
          <a:xfrm>
            <a:off x="5148263" y="5013325"/>
            <a:ext cx="860425"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000" b="1">
                <a:latin typeface="Arial" panose="020B0604020202020204" pitchFamily="34" charset="0"/>
                <a:cs typeface="Arial" panose="020B0604020202020204" pitchFamily="34" charset="0"/>
              </a:rPr>
              <a:t>Burnt Lime</a:t>
            </a:r>
            <a:endParaRPr lang="th-TH" altLang="en-US" sz="1000" b="1">
              <a:latin typeface="Arial" panose="020B0604020202020204" pitchFamily="34" charset="0"/>
            </a:endParaRPr>
          </a:p>
        </p:txBody>
      </p:sp>
      <p:pic>
        <p:nvPicPr>
          <p:cNvPr id="13" name="Picture 6"/>
          <p:cNvPicPr>
            <a:picLocks noChangeAspect="1" noChangeArrowheads="1"/>
          </p:cNvPicPr>
          <p:nvPr/>
        </p:nvPicPr>
        <p:blipFill>
          <a:blip r:embed="rId5"/>
          <a:srcRect/>
          <a:stretch>
            <a:fillRect/>
          </a:stretch>
        </p:blipFill>
        <p:spPr bwMode="auto">
          <a:xfrm>
            <a:off x="179388" y="1298575"/>
            <a:ext cx="800100" cy="1038225"/>
          </a:xfrm>
          <a:prstGeom prst="rect">
            <a:avLst/>
          </a:prstGeom>
          <a:noFill/>
          <a:ln w="9525">
            <a:solidFill>
              <a:schemeClr val="accent2">
                <a:lumMod val="40000"/>
                <a:lumOff val="60000"/>
              </a:schemeClr>
            </a:solidFill>
            <a:miter lim="800000"/>
            <a:headEnd/>
            <a:tailEnd/>
          </a:ln>
        </p:spPr>
      </p:pic>
      <p:pic>
        <p:nvPicPr>
          <p:cNvPr id="14" name="Picture 7"/>
          <p:cNvPicPr>
            <a:picLocks noChangeAspect="1" noChangeArrowheads="1"/>
          </p:cNvPicPr>
          <p:nvPr/>
        </p:nvPicPr>
        <p:blipFill>
          <a:blip r:embed="rId6"/>
          <a:srcRect/>
          <a:stretch>
            <a:fillRect/>
          </a:stretch>
        </p:blipFill>
        <p:spPr bwMode="auto">
          <a:xfrm>
            <a:off x="1476375" y="1506538"/>
            <a:ext cx="1038225" cy="800100"/>
          </a:xfrm>
          <a:prstGeom prst="rect">
            <a:avLst/>
          </a:prstGeom>
          <a:noFill/>
          <a:ln w="9525">
            <a:solidFill>
              <a:schemeClr val="accent2">
                <a:lumMod val="40000"/>
                <a:lumOff val="60000"/>
              </a:schemeClr>
            </a:solidFill>
            <a:miter lim="800000"/>
            <a:headEnd/>
            <a:tailEnd/>
          </a:ln>
        </p:spPr>
      </p:pic>
      <p:pic>
        <p:nvPicPr>
          <p:cNvPr id="15" name="Picture 10"/>
          <p:cNvPicPr>
            <a:picLocks noChangeAspect="1" noChangeArrowheads="1"/>
          </p:cNvPicPr>
          <p:nvPr/>
        </p:nvPicPr>
        <p:blipFill>
          <a:blip r:embed="rId7"/>
          <a:srcRect/>
          <a:stretch>
            <a:fillRect/>
          </a:stretch>
        </p:blipFill>
        <p:spPr bwMode="auto">
          <a:xfrm>
            <a:off x="2987675" y="1514475"/>
            <a:ext cx="1079500" cy="792163"/>
          </a:xfrm>
          <a:prstGeom prst="rect">
            <a:avLst/>
          </a:prstGeom>
          <a:noFill/>
          <a:ln w="9525">
            <a:solidFill>
              <a:schemeClr val="accent2">
                <a:lumMod val="40000"/>
                <a:lumOff val="60000"/>
              </a:schemeClr>
            </a:solidFill>
            <a:miter lim="800000"/>
            <a:headEnd/>
            <a:tailEnd/>
          </a:ln>
        </p:spPr>
      </p:pic>
      <p:pic>
        <p:nvPicPr>
          <p:cNvPr id="16" name="Picture 11"/>
          <p:cNvPicPr>
            <a:picLocks noChangeAspect="1" noChangeArrowheads="1"/>
          </p:cNvPicPr>
          <p:nvPr/>
        </p:nvPicPr>
        <p:blipFill>
          <a:blip r:embed="rId8"/>
          <a:srcRect/>
          <a:stretch>
            <a:fillRect/>
          </a:stretch>
        </p:blipFill>
        <p:spPr bwMode="auto">
          <a:xfrm>
            <a:off x="4460875" y="1514475"/>
            <a:ext cx="1190625" cy="809625"/>
          </a:xfrm>
          <a:prstGeom prst="rect">
            <a:avLst/>
          </a:prstGeom>
          <a:noFill/>
          <a:ln w="9525">
            <a:solidFill>
              <a:schemeClr val="accent2">
                <a:lumMod val="40000"/>
                <a:lumOff val="60000"/>
              </a:schemeClr>
            </a:solidFill>
            <a:miter lim="800000"/>
            <a:headEnd/>
            <a:tailEnd/>
          </a:ln>
        </p:spPr>
      </p:pic>
      <p:pic>
        <p:nvPicPr>
          <p:cNvPr id="17" name="Picture 12"/>
          <p:cNvPicPr>
            <a:picLocks noChangeAspect="1" noChangeArrowheads="1"/>
          </p:cNvPicPr>
          <p:nvPr/>
        </p:nvPicPr>
        <p:blipFill>
          <a:blip r:embed="rId9"/>
          <a:srcRect/>
          <a:stretch>
            <a:fillRect/>
          </a:stretch>
        </p:blipFill>
        <p:spPr bwMode="auto">
          <a:xfrm>
            <a:off x="6045200" y="1514475"/>
            <a:ext cx="1190625" cy="790575"/>
          </a:xfrm>
          <a:prstGeom prst="rect">
            <a:avLst/>
          </a:prstGeom>
          <a:noFill/>
          <a:ln w="9525">
            <a:solidFill>
              <a:schemeClr val="accent2">
                <a:lumMod val="40000"/>
                <a:lumOff val="60000"/>
              </a:schemeClr>
            </a:solidFill>
            <a:miter lim="800000"/>
            <a:headEnd/>
            <a:tailEnd/>
          </a:ln>
        </p:spPr>
      </p:pic>
      <p:pic>
        <p:nvPicPr>
          <p:cNvPr id="18" name="Picture 13"/>
          <p:cNvPicPr>
            <a:picLocks noChangeAspect="1" noChangeArrowheads="1"/>
          </p:cNvPicPr>
          <p:nvPr/>
        </p:nvPicPr>
        <p:blipFill>
          <a:blip r:embed="rId10">
            <a:lum bright="-4000"/>
          </a:blip>
          <a:srcRect/>
          <a:stretch>
            <a:fillRect/>
          </a:stretch>
        </p:blipFill>
        <p:spPr bwMode="auto">
          <a:xfrm>
            <a:off x="7667625" y="1514475"/>
            <a:ext cx="1081088" cy="800100"/>
          </a:xfrm>
          <a:prstGeom prst="rect">
            <a:avLst/>
          </a:prstGeom>
          <a:noFill/>
          <a:ln w="9525">
            <a:solidFill>
              <a:schemeClr val="accent2">
                <a:lumMod val="40000"/>
                <a:lumOff val="60000"/>
              </a:schemeClr>
            </a:solidFill>
            <a:miter lim="800000"/>
            <a:headEnd/>
            <a:tailEnd/>
          </a:ln>
        </p:spPr>
      </p:pic>
      <p:pic>
        <p:nvPicPr>
          <p:cNvPr id="19" name="Picture 1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995738" y="3141663"/>
            <a:ext cx="508000" cy="935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219700" y="3213100"/>
            <a:ext cx="514350"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500938" y="3217863"/>
            <a:ext cx="527050" cy="931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139113" y="3213100"/>
            <a:ext cx="536575"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1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484438" y="3141663"/>
            <a:ext cx="515937" cy="86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TextBox 23"/>
          <p:cNvSpPr txBox="1">
            <a:spLocks noChangeArrowheads="1"/>
          </p:cNvSpPr>
          <p:nvPr/>
        </p:nvSpPr>
        <p:spPr bwMode="auto">
          <a:xfrm>
            <a:off x="1116013" y="3460750"/>
            <a:ext cx="141763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000" b="1">
                <a:latin typeface="Arial" panose="020B0604020202020204" pitchFamily="34" charset="0"/>
                <a:cs typeface="Arial" panose="020B0604020202020204" pitchFamily="34" charset="0"/>
              </a:rPr>
              <a:t>Strong White Liquor</a:t>
            </a:r>
          </a:p>
          <a:p>
            <a:pPr algn="ctr">
              <a:spcBef>
                <a:spcPct val="0"/>
              </a:spcBef>
              <a:buFontTx/>
              <a:buNone/>
            </a:pPr>
            <a:r>
              <a:rPr lang="en-US" altLang="en-US" sz="1000" b="1">
                <a:latin typeface="Arial" panose="020B0604020202020204" pitchFamily="34" charset="0"/>
                <a:cs typeface="Arial" panose="020B0604020202020204" pitchFamily="34" charset="0"/>
              </a:rPr>
              <a:t>(SWL)</a:t>
            </a:r>
            <a:endParaRPr lang="th-TH" altLang="en-US" sz="1000" b="1">
              <a:latin typeface="Arial" panose="020B0604020202020204" pitchFamily="34" charset="0"/>
            </a:endParaRPr>
          </a:p>
        </p:txBody>
      </p:sp>
      <p:sp>
        <p:nvSpPr>
          <p:cNvPr id="25" name="TextBox 24"/>
          <p:cNvSpPr txBox="1">
            <a:spLocks noChangeArrowheads="1"/>
          </p:cNvSpPr>
          <p:nvPr/>
        </p:nvSpPr>
        <p:spPr bwMode="auto">
          <a:xfrm>
            <a:off x="3563938" y="4076700"/>
            <a:ext cx="1327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000" b="1">
                <a:latin typeface="Arial" panose="020B0604020202020204" pitchFamily="34" charset="0"/>
                <a:cs typeface="Arial" panose="020B0604020202020204" pitchFamily="34" charset="0"/>
              </a:rPr>
              <a:t>Weak Black Liquor</a:t>
            </a:r>
          </a:p>
          <a:p>
            <a:pPr algn="ctr">
              <a:spcBef>
                <a:spcPct val="0"/>
              </a:spcBef>
              <a:buFontTx/>
              <a:buNone/>
            </a:pPr>
            <a:r>
              <a:rPr lang="en-US" altLang="en-US" sz="1000" b="1">
                <a:latin typeface="Arial" panose="020B0604020202020204" pitchFamily="34" charset="0"/>
                <a:cs typeface="Arial" panose="020B0604020202020204" pitchFamily="34" charset="0"/>
              </a:rPr>
              <a:t>(WBL)</a:t>
            </a:r>
            <a:endParaRPr lang="th-TH" altLang="en-US" sz="1000" b="1">
              <a:latin typeface="Arial" panose="020B0604020202020204" pitchFamily="34" charset="0"/>
            </a:endParaRPr>
          </a:p>
        </p:txBody>
      </p:sp>
      <p:sp>
        <p:nvSpPr>
          <p:cNvPr id="26" name="TextBox 25"/>
          <p:cNvSpPr txBox="1">
            <a:spLocks noChangeArrowheads="1"/>
          </p:cNvSpPr>
          <p:nvPr/>
        </p:nvSpPr>
        <p:spPr bwMode="auto">
          <a:xfrm>
            <a:off x="4859338" y="4076700"/>
            <a:ext cx="14081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000" b="1">
                <a:latin typeface="Arial" panose="020B0604020202020204" pitchFamily="34" charset="0"/>
                <a:cs typeface="Arial" panose="020B0604020202020204" pitchFamily="34" charset="0"/>
              </a:rPr>
              <a:t>Strong Black Liquor</a:t>
            </a:r>
          </a:p>
          <a:p>
            <a:pPr algn="ctr">
              <a:spcBef>
                <a:spcPct val="0"/>
              </a:spcBef>
              <a:buFontTx/>
              <a:buNone/>
            </a:pPr>
            <a:r>
              <a:rPr lang="en-US" altLang="en-US" sz="1000" b="1">
                <a:latin typeface="Arial" panose="020B0604020202020204" pitchFamily="34" charset="0"/>
                <a:cs typeface="Arial" panose="020B0604020202020204" pitchFamily="34" charset="0"/>
              </a:rPr>
              <a:t>(SBL)</a:t>
            </a:r>
            <a:endParaRPr lang="th-TH" altLang="en-US" sz="1000" b="1">
              <a:latin typeface="Arial" panose="020B0604020202020204" pitchFamily="34" charset="0"/>
            </a:endParaRPr>
          </a:p>
        </p:txBody>
      </p:sp>
      <p:sp>
        <p:nvSpPr>
          <p:cNvPr id="27" name="TextBox 26"/>
          <p:cNvSpPr txBox="1">
            <a:spLocks noChangeArrowheads="1"/>
          </p:cNvSpPr>
          <p:nvPr/>
        </p:nvSpPr>
        <p:spPr bwMode="auto">
          <a:xfrm>
            <a:off x="7097713" y="2813050"/>
            <a:ext cx="13620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000" b="1">
                <a:latin typeface="Arial" panose="020B0604020202020204" pitchFamily="34" charset="0"/>
                <a:cs typeface="Arial" panose="020B0604020202020204" pitchFamily="34" charset="0"/>
              </a:rPr>
              <a:t>Green Black Liquor</a:t>
            </a:r>
          </a:p>
          <a:p>
            <a:pPr algn="ctr">
              <a:spcBef>
                <a:spcPct val="0"/>
              </a:spcBef>
              <a:buFontTx/>
              <a:buNone/>
            </a:pPr>
            <a:r>
              <a:rPr lang="en-US" altLang="en-US" sz="1000" b="1">
                <a:latin typeface="Arial" panose="020B0604020202020204" pitchFamily="34" charset="0"/>
                <a:cs typeface="Arial" panose="020B0604020202020204" pitchFamily="34" charset="0"/>
              </a:rPr>
              <a:t>(GL)</a:t>
            </a:r>
            <a:endParaRPr lang="th-TH" altLang="en-US" sz="1000" b="1">
              <a:latin typeface="Arial" panose="020B0604020202020204" pitchFamily="34" charset="0"/>
            </a:endParaRPr>
          </a:p>
        </p:txBody>
      </p:sp>
      <p:sp>
        <p:nvSpPr>
          <p:cNvPr id="28" name="TextBox 27"/>
          <p:cNvSpPr txBox="1">
            <a:spLocks noChangeArrowheads="1"/>
          </p:cNvSpPr>
          <p:nvPr/>
        </p:nvSpPr>
        <p:spPr bwMode="auto">
          <a:xfrm>
            <a:off x="7989888" y="4149725"/>
            <a:ext cx="8302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000" b="1">
                <a:latin typeface="Arial" panose="020B0604020202020204" pitchFamily="34" charset="0"/>
                <a:cs typeface="Arial" panose="020B0604020202020204" pitchFamily="34" charset="0"/>
              </a:rPr>
              <a:t>Electricity </a:t>
            </a:r>
          </a:p>
          <a:p>
            <a:pPr algn="ctr">
              <a:spcBef>
                <a:spcPct val="0"/>
              </a:spcBef>
              <a:buFontTx/>
              <a:buNone/>
            </a:pPr>
            <a:r>
              <a:rPr lang="en-US" altLang="en-US" sz="1000" b="1">
                <a:latin typeface="Arial" panose="020B0604020202020204" pitchFamily="34" charset="0"/>
                <a:cs typeface="Arial" panose="020B0604020202020204" pitchFamily="34" charset="0"/>
              </a:rPr>
              <a:t>and Steam</a:t>
            </a:r>
            <a:endParaRPr lang="th-TH" altLang="en-US" sz="1000" b="1">
              <a:latin typeface="Arial" panose="020B0604020202020204" pitchFamily="34" charset="0"/>
            </a:endParaRPr>
          </a:p>
        </p:txBody>
      </p:sp>
      <p:sp>
        <p:nvSpPr>
          <p:cNvPr id="29" name="TextBox 28"/>
          <p:cNvSpPr txBox="1">
            <a:spLocks noChangeArrowheads="1"/>
          </p:cNvSpPr>
          <p:nvPr/>
        </p:nvSpPr>
        <p:spPr bwMode="auto">
          <a:xfrm>
            <a:off x="158750" y="1052513"/>
            <a:ext cx="88058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000" b="1">
                <a:latin typeface="Arial" panose="020B0604020202020204" pitchFamily="34" charset="0"/>
                <a:cs typeface="Arial" panose="020B0604020202020204" pitchFamily="34" charset="0"/>
              </a:rPr>
              <a:t>Wood Log                    Wood Chip                       Cooking Pulp                    Washing Pulp                         ODL Pulp                        Bleaching Pulp</a:t>
            </a:r>
          </a:p>
          <a:p>
            <a:pPr>
              <a:spcBef>
                <a:spcPct val="0"/>
              </a:spcBef>
              <a:buFontTx/>
              <a:buNone/>
            </a:pPr>
            <a:r>
              <a:rPr lang="en-US" altLang="en-US" sz="1000" b="1">
                <a:latin typeface="Arial" panose="020B0604020202020204" pitchFamily="34" charset="0"/>
                <a:cs typeface="Arial" panose="020B0604020202020204" pitchFamily="34" charset="0"/>
              </a:rPr>
              <a:t>                                                                              Kappa No. 23-25                                                             Kappa No. 10-12               Brightness 86%ISO</a:t>
            </a:r>
            <a:endParaRPr lang="th-TH" altLang="en-US" sz="1000" b="1">
              <a:latin typeface="Arial" panose="020B0604020202020204" pitchFamily="34" charset="0"/>
            </a:endParaRPr>
          </a:p>
        </p:txBody>
      </p:sp>
      <p:sp>
        <p:nvSpPr>
          <p:cNvPr id="241692" name="TextBox 29"/>
          <p:cNvSpPr txBox="1">
            <a:spLocks noChangeArrowheads="1"/>
          </p:cNvSpPr>
          <p:nvPr/>
        </p:nvSpPr>
        <p:spPr bwMode="auto">
          <a:xfrm>
            <a:off x="107950" y="2420938"/>
            <a:ext cx="23034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b="1">
                <a:solidFill>
                  <a:srgbClr val="FF0000"/>
                </a:solidFill>
                <a:latin typeface="Arial" panose="020B0604020202020204" pitchFamily="34" charset="0"/>
                <a:cs typeface="Arial" panose="020B0604020202020204" pitchFamily="34" charset="0"/>
              </a:rPr>
              <a:t>Chemical Recovery </a:t>
            </a:r>
          </a:p>
          <a:p>
            <a:pPr>
              <a:spcBef>
                <a:spcPct val="0"/>
              </a:spcBef>
              <a:buFontTx/>
              <a:buNone/>
            </a:pPr>
            <a:r>
              <a:rPr lang="en-US" altLang="en-US" sz="1600" b="1">
                <a:solidFill>
                  <a:srgbClr val="FF0000"/>
                </a:solidFill>
                <a:latin typeface="Arial" panose="020B0604020202020204" pitchFamily="34" charset="0"/>
                <a:cs typeface="Arial" panose="020B0604020202020204" pitchFamily="34" charset="0"/>
              </a:rPr>
              <a:t>Process</a:t>
            </a:r>
            <a:endParaRPr lang="th-TH" altLang="en-US" sz="1600" b="1">
              <a:solidFill>
                <a:srgbClr val="FF0000"/>
              </a:solidFill>
              <a:latin typeface="Arial" panose="020B0604020202020204" pitchFamily="34" charset="0"/>
            </a:endParaRPr>
          </a:p>
        </p:txBody>
      </p:sp>
      <p:sp>
        <p:nvSpPr>
          <p:cNvPr id="241693" name="TextBox 30"/>
          <p:cNvSpPr txBox="1">
            <a:spLocks noChangeArrowheads="1"/>
          </p:cNvSpPr>
          <p:nvPr/>
        </p:nvSpPr>
        <p:spPr bwMode="auto">
          <a:xfrm>
            <a:off x="107950" y="765175"/>
            <a:ext cx="17907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600" b="1">
                <a:solidFill>
                  <a:srgbClr val="0000CC"/>
                </a:solidFill>
                <a:latin typeface="Arial" panose="020B0604020202020204" pitchFamily="34" charset="0"/>
                <a:cs typeface="Arial" panose="020B0604020202020204" pitchFamily="34" charset="0"/>
              </a:rPr>
              <a:t>Pulping Process</a:t>
            </a:r>
            <a:endParaRPr lang="th-TH" altLang="en-US" sz="1600" b="1">
              <a:solidFill>
                <a:srgbClr val="0000CC"/>
              </a:solidFill>
              <a:latin typeface="Arial" panose="020B0604020202020204" pitchFamily="34" charset="0"/>
            </a:endParaRPr>
          </a:p>
        </p:txBody>
      </p:sp>
      <p:pic>
        <p:nvPicPr>
          <p:cNvPr id="32" name="Picture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372225" y="3213100"/>
            <a:ext cx="614363" cy="803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Freeform 32"/>
          <p:cNvSpPr/>
          <p:nvPr/>
        </p:nvSpPr>
        <p:spPr>
          <a:xfrm>
            <a:off x="112713" y="2420938"/>
            <a:ext cx="8877300" cy="0"/>
          </a:xfrm>
          <a:custGeom>
            <a:avLst/>
            <a:gdLst>
              <a:gd name="connsiteX0" fmla="*/ 0 w 8876713"/>
              <a:gd name="connsiteY0" fmla="*/ 0 h 0"/>
              <a:gd name="connsiteX1" fmla="*/ 8876713 w 8876713"/>
              <a:gd name="connsiteY1" fmla="*/ 0 h 0"/>
            </a:gdLst>
            <a:ahLst/>
            <a:cxnLst>
              <a:cxn ang="0">
                <a:pos x="connsiteX0" y="connsiteY0"/>
              </a:cxn>
              <a:cxn ang="0">
                <a:pos x="connsiteX1" y="connsiteY1"/>
              </a:cxn>
            </a:cxnLst>
            <a:rect l="l" t="t" r="r" b="b"/>
            <a:pathLst>
              <a:path w="8876713">
                <a:moveTo>
                  <a:pt x="0" y="0"/>
                </a:moveTo>
                <a:lnTo>
                  <a:pt x="8876713" y="0"/>
                </a:lnTo>
              </a:path>
            </a:pathLst>
          </a:custGeom>
          <a:ln w="28575">
            <a:solidFill>
              <a:srgbClr val="0000CC"/>
            </a:solidFill>
            <a:prstDash val="sysDot"/>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th-TH"/>
          </a:p>
        </p:txBody>
      </p:sp>
      <p:sp>
        <p:nvSpPr>
          <p:cNvPr id="34" name="TextBox 33"/>
          <p:cNvSpPr txBox="1">
            <a:spLocks noChangeArrowheads="1"/>
          </p:cNvSpPr>
          <p:nvPr/>
        </p:nvSpPr>
        <p:spPr bwMode="auto">
          <a:xfrm>
            <a:off x="6372225" y="4076700"/>
            <a:ext cx="531813"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000" b="1">
                <a:latin typeface="Arial" panose="020B0604020202020204" pitchFamily="34" charset="0"/>
                <a:cs typeface="Arial" panose="020B0604020202020204" pitchFamily="34" charset="0"/>
              </a:rPr>
              <a:t>Smelt</a:t>
            </a:r>
            <a:endParaRPr lang="th-TH" altLang="en-US" sz="1000" b="1">
              <a:latin typeface="Arial" panose="020B0604020202020204" pitchFamily="34" charset="0"/>
            </a:endParaRPr>
          </a:p>
        </p:txBody>
      </p:sp>
      <p:sp>
        <p:nvSpPr>
          <p:cNvPr id="241697" name="TextBox 3"/>
          <p:cNvSpPr txBox="1">
            <a:spLocks noChangeArrowheads="1"/>
          </p:cNvSpPr>
          <p:nvPr/>
        </p:nvSpPr>
        <p:spPr bwMode="auto">
          <a:xfrm>
            <a:off x="-36513" y="6165850"/>
            <a:ext cx="2416176"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600"/>
              <a:t>Credit: Weerachai Seachao</a:t>
            </a:r>
          </a:p>
        </p:txBody>
      </p:sp>
    </p:spTree>
    <p:extLst>
      <p:ext uri="{BB962C8B-B14F-4D97-AF65-F5344CB8AC3E}">
        <p14:creationId xmlns:p14="http://schemas.microsoft.com/office/powerpoint/2010/main" val="269176132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fade">
                                      <p:cBhvr>
                                        <p:cTn id="17" dur="500"/>
                                        <p:tgtEl>
                                          <p:spTgt spid="1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0" presetClass="entr" presetSubtype="0" fill="hold"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0" presetClass="entr" presetSubtype="0" fill="hold" nodeType="click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500"/>
                                        <p:tgtEl>
                                          <p:spTgt spid="7"/>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9"/>
                                        </p:tgtEl>
                                        <p:attrNameLst>
                                          <p:attrName>style.visibility</p:attrName>
                                        </p:attrNameLst>
                                      </p:cBhvr>
                                      <p:to>
                                        <p:strVal val="visible"/>
                                      </p:to>
                                    </p:set>
                                    <p:animEffect transition="in" filter="fade">
                                      <p:cBhvr>
                                        <p:cTn id="40" dur="500"/>
                                        <p:tgtEl>
                                          <p:spTgt spid="29"/>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10" presetClass="entr" presetSubtype="0" fill="hold" nodeType="clickEffect">
                                  <p:stCondLst>
                                    <p:cond delay="0"/>
                                  </p:stCondLst>
                                  <p:childTnLst>
                                    <p:set>
                                      <p:cBhvr>
                                        <p:cTn id="44" dur="1" fill="hold">
                                          <p:stCondLst>
                                            <p:cond delay="0"/>
                                          </p:stCondLst>
                                        </p:cTn>
                                        <p:tgtEl>
                                          <p:spTgt spid="5"/>
                                        </p:tgtEl>
                                        <p:attrNameLst>
                                          <p:attrName>style.visibility</p:attrName>
                                        </p:attrNameLst>
                                      </p:cBhvr>
                                      <p:to>
                                        <p:strVal val="visible"/>
                                      </p:to>
                                    </p:set>
                                    <p:animEffect transition="in" filter="fade">
                                      <p:cBhvr>
                                        <p:cTn id="45" dur="500"/>
                                        <p:tgtEl>
                                          <p:spTgt spid="5"/>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10" presetClass="entr" presetSubtype="0" fill="hold" nodeType="click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fade">
                                      <p:cBhvr>
                                        <p:cTn id="50" dur="500"/>
                                        <p:tgtEl>
                                          <p:spTgt spid="19"/>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5"/>
                                        </p:tgtEl>
                                        <p:attrNameLst>
                                          <p:attrName>style.visibility</p:attrName>
                                        </p:attrNameLst>
                                      </p:cBhvr>
                                      <p:to>
                                        <p:strVal val="visible"/>
                                      </p:to>
                                    </p:set>
                                    <p:animEffect transition="in" filter="fade">
                                      <p:cBhvr>
                                        <p:cTn id="53" dur="500"/>
                                        <p:tgtEl>
                                          <p:spTgt spid="25"/>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10" presetClass="entr" presetSubtype="0" fill="hold" nodeType="click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fade">
                                      <p:cBhvr>
                                        <p:cTn id="58" dur="500"/>
                                        <p:tgtEl>
                                          <p:spTgt spid="21"/>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7"/>
                                        </p:tgtEl>
                                        <p:attrNameLst>
                                          <p:attrName>style.visibility</p:attrName>
                                        </p:attrNameLst>
                                      </p:cBhvr>
                                      <p:to>
                                        <p:strVal val="visible"/>
                                      </p:to>
                                    </p:set>
                                    <p:animEffect transition="in" filter="fade">
                                      <p:cBhvr>
                                        <p:cTn id="61" dur="500"/>
                                        <p:tgtEl>
                                          <p:spTgt spid="27"/>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10" presetClass="entr" presetSubtype="0" fill="hold" nodeType="click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fade">
                                      <p:cBhvr>
                                        <p:cTn id="66" dur="500"/>
                                        <p:tgtEl>
                                          <p:spTgt spid="20"/>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26"/>
                                        </p:tgtEl>
                                        <p:attrNameLst>
                                          <p:attrName>style.visibility</p:attrName>
                                        </p:attrNameLst>
                                      </p:cBhvr>
                                      <p:to>
                                        <p:strVal val="visible"/>
                                      </p:to>
                                    </p:set>
                                    <p:animEffect transition="in" filter="fade">
                                      <p:cBhvr>
                                        <p:cTn id="69" dur="500"/>
                                        <p:tgtEl>
                                          <p:spTgt spid="26"/>
                                        </p:tgtEl>
                                      </p:cBhvr>
                                    </p:animEffect>
                                  </p:childTnLst>
                                </p:cTn>
                              </p:par>
                              <p:par>
                                <p:cTn id="70" presetID="10" presetClass="entr" presetSubtype="0" fill="hold" nodeType="withEffect">
                                  <p:stCondLst>
                                    <p:cond delay="0"/>
                                  </p:stCondLst>
                                  <p:childTnLst>
                                    <p:set>
                                      <p:cBhvr>
                                        <p:cTn id="71" dur="1" fill="hold">
                                          <p:stCondLst>
                                            <p:cond delay="0"/>
                                          </p:stCondLst>
                                        </p:cTn>
                                        <p:tgtEl>
                                          <p:spTgt spid="32"/>
                                        </p:tgtEl>
                                        <p:attrNameLst>
                                          <p:attrName>style.visibility</p:attrName>
                                        </p:attrNameLst>
                                      </p:cBhvr>
                                      <p:to>
                                        <p:strVal val="visible"/>
                                      </p:to>
                                    </p:set>
                                    <p:animEffect transition="in" filter="fade">
                                      <p:cBhvr>
                                        <p:cTn id="72" dur="500"/>
                                        <p:tgtEl>
                                          <p:spTgt spid="32"/>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34"/>
                                        </p:tgtEl>
                                        <p:attrNameLst>
                                          <p:attrName>style.visibility</p:attrName>
                                        </p:attrNameLst>
                                      </p:cBhvr>
                                      <p:to>
                                        <p:strVal val="visible"/>
                                      </p:to>
                                    </p:set>
                                    <p:animEffect transition="in" filter="fade">
                                      <p:cBhvr>
                                        <p:cTn id="75" dur="500"/>
                                        <p:tgtEl>
                                          <p:spTgt spid="34"/>
                                        </p:tgtEl>
                                      </p:cBhvr>
                                    </p:animEffect>
                                  </p:childTnLst>
                                </p:cTn>
                              </p:par>
                            </p:childTnLst>
                          </p:cTn>
                        </p:par>
                      </p:childTnLst>
                    </p:cTn>
                  </p:par>
                  <p:par>
                    <p:cTn id="76" fill="hold" nodeType="clickPar">
                      <p:stCondLst>
                        <p:cond delay="indefinite"/>
                      </p:stCondLst>
                      <p:childTnLst>
                        <p:par>
                          <p:cTn id="77" fill="hold" nodeType="withGroup">
                            <p:stCondLst>
                              <p:cond delay="0"/>
                            </p:stCondLst>
                            <p:childTnLst>
                              <p:par>
                                <p:cTn id="78" presetID="10" presetClass="entr" presetSubtype="0" fill="hold" nodeType="clickEffect">
                                  <p:stCondLst>
                                    <p:cond delay="0"/>
                                  </p:stCondLst>
                                  <p:childTnLst>
                                    <p:set>
                                      <p:cBhvr>
                                        <p:cTn id="79" dur="1" fill="hold">
                                          <p:stCondLst>
                                            <p:cond delay="0"/>
                                          </p:stCondLst>
                                        </p:cTn>
                                        <p:tgtEl>
                                          <p:spTgt spid="22"/>
                                        </p:tgtEl>
                                        <p:attrNameLst>
                                          <p:attrName>style.visibility</p:attrName>
                                        </p:attrNameLst>
                                      </p:cBhvr>
                                      <p:to>
                                        <p:strVal val="visible"/>
                                      </p:to>
                                    </p:set>
                                    <p:animEffect transition="in" filter="fade">
                                      <p:cBhvr>
                                        <p:cTn id="80" dur="500"/>
                                        <p:tgtEl>
                                          <p:spTgt spid="22"/>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28"/>
                                        </p:tgtEl>
                                        <p:attrNameLst>
                                          <p:attrName>style.visibility</p:attrName>
                                        </p:attrNameLst>
                                      </p:cBhvr>
                                      <p:to>
                                        <p:strVal val="visible"/>
                                      </p:to>
                                    </p:set>
                                    <p:animEffect transition="in" filter="fade">
                                      <p:cBhvr>
                                        <p:cTn id="83" dur="500"/>
                                        <p:tgtEl>
                                          <p:spTgt spid="28"/>
                                        </p:tgtEl>
                                      </p:cBhvr>
                                    </p:animEffect>
                                  </p:childTnLst>
                                </p:cTn>
                              </p:par>
                            </p:childTnLst>
                          </p:cTn>
                        </p:par>
                      </p:childTnLst>
                    </p:cTn>
                  </p:par>
                  <p:par>
                    <p:cTn id="84" fill="hold" nodeType="clickPar">
                      <p:stCondLst>
                        <p:cond delay="indefinite"/>
                      </p:stCondLst>
                      <p:childTnLst>
                        <p:par>
                          <p:cTn id="85" fill="hold" nodeType="withGroup">
                            <p:stCondLst>
                              <p:cond delay="0"/>
                            </p:stCondLst>
                            <p:childTnLst>
                              <p:par>
                                <p:cTn id="86" presetID="10" presetClass="entr" presetSubtype="0" fill="hold" nodeType="clickEffect">
                                  <p:stCondLst>
                                    <p:cond delay="0"/>
                                  </p:stCondLst>
                                  <p:childTnLst>
                                    <p:set>
                                      <p:cBhvr>
                                        <p:cTn id="87" dur="1" fill="hold">
                                          <p:stCondLst>
                                            <p:cond delay="0"/>
                                          </p:stCondLst>
                                        </p:cTn>
                                        <p:tgtEl>
                                          <p:spTgt spid="6"/>
                                        </p:tgtEl>
                                        <p:attrNameLst>
                                          <p:attrName>style.visibility</p:attrName>
                                        </p:attrNameLst>
                                      </p:cBhvr>
                                      <p:to>
                                        <p:strVal val="visible"/>
                                      </p:to>
                                    </p:set>
                                    <p:animEffect transition="in" filter="fade">
                                      <p:cBhvr>
                                        <p:cTn id="88" dur="500"/>
                                        <p:tgtEl>
                                          <p:spTgt spid="6"/>
                                        </p:tgtEl>
                                      </p:cBhvr>
                                    </p:animEffect>
                                  </p:childTnLst>
                                </p:cTn>
                              </p:par>
                            </p:childTnLst>
                          </p:cTn>
                        </p:par>
                      </p:childTnLst>
                    </p:cTn>
                  </p:par>
                  <p:par>
                    <p:cTn id="89" fill="hold" nodeType="clickPar">
                      <p:stCondLst>
                        <p:cond delay="indefinite"/>
                      </p:stCondLst>
                      <p:childTnLst>
                        <p:par>
                          <p:cTn id="90" fill="hold" nodeType="withGroup">
                            <p:stCondLst>
                              <p:cond delay="0"/>
                            </p:stCondLst>
                            <p:childTnLst>
                              <p:par>
                                <p:cTn id="91" presetID="10" presetClass="entr" presetSubtype="0" fill="hold" nodeType="clickEffect">
                                  <p:stCondLst>
                                    <p:cond delay="0"/>
                                  </p:stCondLst>
                                  <p:childTnLst>
                                    <p:set>
                                      <p:cBhvr>
                                        <p:cTn id="92" dur="1" fill="hold">
                                          <p:stCondLst>
                                            <p:cond delay="0"/>
                                          </p:stCondLst>
                                        </p:cTn>
                                        <p:tgtEl>
                                          <p:spTgt spid="23"/>
                                        </p:tgtEl>
                                        <p:attrNameLst>
                                          <p:attrName>style.visibility</p:attrName>
                                        </p:attrNameLst>
                                      </p:cBhvr>
                                      <p:to>
                                        <p:strVal val="visible"/>
                                      </p:to>
                                    </p:set>
                                    <p:animEffect transition="in" filter="fade">
                                      <p:cBhvr>
                                        <p:cTn id="93" dur="500"/>
                                        <p:tgtEl>
                                          <p:spTgt spid="23"/>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24"/>
                                        </p:tgtEl>
                                        <p:attrNameLst>
                                          <p:attrName>style.visibility</p:attrName>
                                        </p:attrNameLst>
                                      </p:cBhvr>
                                      <p:to>
                                        <p:strVal val="visible"/>
                                      </p:to>
                                    </p:set>
                                    <p:animEffect transition="in" filter="fade">
                                      <p:cBhvr>
                                        <p:cTn id="96" dur="500"/>
                                        <p:tgtEl>
                                          <p:spTgt spid="24"/>
                                        </p:tgtEl>
                                      </p:cBhvr>
                                    </p:animEffect>
                                  </p:childTnLst>
                                </p:cTn>
                              </p:par>
                            </p:childTnLst>
                          </p:cTn>
                        </p:par>
                      </p:childTnLst>
                    </p:cTn>
                  </p:par>
                  <p:par>
                    <p:cTn id="97" fill="hold" nodeType="clickPar">
                      <p:stCondLst>
                        <p:cond delay="indefinite"/>
                      </p:stCondLst>
                      <p:childTnLst>
                        <p:par>
                          <p:cTn id="98" fill="hold" nodeType="withGroup">
                            <p:stCondLst>
                              <p:cond delay="0"/>
                            </p:stCondLst>
                            <p:childTnLst>
                              <p:par>
                                <p:cTn id="99" presetID="10" presetClass="entr" presetSubtype="0" fill="hold" nodeType="clickEffect">
                                  <p:stCondLst>
                                    <p:cond delay="0"/>
                                  </p:stCondLst>
                                  <p:childTnLst>
                                    <p:set>
                                      <p:cBhvr>
                                        <p:cTn id="100" dur="1" fill="hold">
                                          <p:stCondLst>
                                            <p:cond delay="0"/>
                                          </p:stCondLst>
                                        </p:cTn>
                                        <p:tgtEl>
                                          <p:spTgt spid="10"/>
                                        </p:tgtEl>
                                        <p:attrNameLst>
                                          <p:attrName>style.visibility</p:attrName>
                                        </p:attrNameLst>
                                      </p:cBhvr>
                                      <p:to>
                                        <p:strVal val="visible"/>
                                      </p:to>
                                    </p:set>
                                    <p:animEffect transition="in" filter="fade">
                                      <p:cBhvr>
                                        <p:cTn id="101" dur="500"/>
                                        <p:tgtEl>
                                          <p:spTgt spid="10"/>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12"/>
                                        </p:tgtEl>
                                        <p:attrNameLst>
                                          <p:attrName>style.visibility</p:attrName>
                                        </p:attrNameLst>
                                      </p:cBhvr>
                                      <p:to>
                                        <p:strVal val="visible"/>
                                      </p:to>
                                    </p:set>
                                    <p:animEffect transition="in" filter="fade">
                                      <p:cBhvr>
                                        <p:cTn id="104" dur="500"/>
                                        <p:tgtEl>
                                          <p:spTgt spid="12"/>
                                        </p:tgtEl>
                                      </p:cBhvr>
                                    </p:animEffec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10" presetClass="entr" presetSubtype="0" fill="hold" nodeType="clickEffect">
                                  <p:stCondLst>
                                    <p:cond delay="0"/>
                                  </p:stCondLst>
                                  <p:childTnLst>
                                    <p:set>
                                      <p:cBhvr>
                                        <p:cTn id="108" dur="1" fill="hold">
                                          <p:stCondLst>
                                            <p:cond delay="0"/>
                                          </p:stCondLst>
                                        </p:cTn>
                                        <p:tgtEl>
                                          <p:spTgt spid="9"/>
                                        </p:tgtEl>
                                        <p:attrNameLst>
                                          <p:attrName>style.visibility</p:attrName>
                                        </p:attrNameLst>
                                      </p:cBhvr>
                                      <p:to>
                                        <p:strVal val="visible"/>
                                      </p:to>
                                    </p:set>
                                    <p:animEffect transition="in" filter="fade">
                                      <p:cBhvr>
                                        <p:cTn id="109" dur="500"/>
                                        <p:tgtEl>
                                          <p:spTgt spid="9"/>
                                        </p:tgtEl>
                                      </p:cBhvr>
                                    </p:animEffect>
                                  </p:childTnLst>
                                </p:cTn>
                              </p:par>
                              <p:par>
                                <p:cTn id="110" presetID="10" presetClass="entr" presetSubtype="0" fill="hold" grpId="0" nodeType="withEffect">
                                  <p:stCondLst>
                                    <p:cond delay="0"/>
                                  </p:stCondLst>
                                  <p:childTnLst>
                                    <p:set>
                                      <p:cBhvr>
                                        <p:cTn id="111" dur="1" fill="hold">
                                          <p:stCondLst>
                                            <p:cond delay="0"/>
                                          </p:stCondLst>
                                        </p:cTn>
                                        <p:tgtEl>
                                          <p:spTgt spid="11"/>
                                        </p:tgtEl>
                                        <p:attrNameLst>
                                          <p:attrName>style.visibility</p:attrName>
                                        </p:attrNameLst>
                                      </p:cBhvr>
                                      <p:to>
                                        <p:strVal val="visible"/>
                                      </p:to>
                                    </p:set>
                                    <p:animEffect transition="in" filter="fade">
                                      <p:cBhvr>
                                        <p:cTn id="112" dur="500"/>
                                        <p:tgtEl>
                                          <p:spTgt spid="11"/>
                                        </p:tgtEl>
                                      </p:cBhvr>
                                    </p:animEffec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10" presetClass="entr" presetSubtype="0" fill="hold" nodeType="clickEffect">
                                  <p:stCondLst>
                                    <p:cond delay="0"/>
                                  </p:stCondLst>
                                  <p:childTnLst>
                                    <p:set>
                                      <p:cBhvr>
                                        <p:cTn id="116" dur="1" fill="hold">
                                          <p:stCondLst>
                                            <p:cond delay="0"/>
                                          </p:stCondLst>
                                        </p:cTn>
                                        <p:tgtEl>
                                          <p:spTgt spid="4"/>
                                        </p:tgtEl>
                                        <p:attrNameLst>
                                          <p:attrName>style.visibility</p:attrName>
                                        </p:attrNameLst>
                                      </p:cBhvr>
                                      <p:to>
                                        <p:strVal val="visible"/>
                                      </p:to>
                                    </p:set>
                                    <p:animEffect transition="in" filter="fade">
                                      <p:cBhvr>
                                        <p:cTn id="1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1" grpId="0"/>
      <p:bldP spid="12" grpId="0"/>
      <p:bldP spid="24" grpId="0"/>
      <p:bldP spid="25" grpId="0"/>
      <p:bldP spid="26" grpId="0"/>
      <p:bldP spid="27" grpId="0"/>
      <p:bldP spid="28" grpId="0"/>
      <p:bldP spid="29" grpId="0"/>
      <p:bldP spid="34" grpId="0"/>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7650" name="Title 1"/>
          <p:cNvSpPr>
            <a:spLocks noGrp="1"/>
          </p:cNvSpPr>
          <p:nvPr>
            <p:ph type="title"/>
          </p:nvPr>
        </p:nvSpPr>
        <p:spPr>
          <a:xfrm>
            <a:off x="441325" y="2660650"/>
            <a:ext cx="8229600" cy="1143000"/>
          </a:xfrm>
        </p:spPr>
        <p:txBody>
          <a:bodyPr/>
          <a:lstStyle/>
          <a:p>
            <a:pPr eaLnBrk="1" hangingPunct="1"/>
            <a:r>
              <a:rPr lang="en-US" altLang="en-US" sz="11500" b="1" smtClean="0">
                <a:latin typeface="Tahoma" panose="020B0604030504040204" pitchFamily="34" charset="0"/>
                <a:cs typeface="Tahoma" panose="020B0604030504040204" pitchFamily="34" charset="0"/>
              </a:rPr>
              <a:t>Q&amp;A</a:t>
            </a:r>
          </a:p>
        </p:txBody>
      </p:sp>
      <p:sp>
        <p:nvSpPr>
          <p:cNvPr id="667651" name="TextBox 1"/>
          <p:cNvSpPr txBox="1">
            <a:spLocks noChangeArrowheads="1"/>
          </p:cNvSpPr>
          <p:nvPr/>
        </p:nvSpPr>
        <p:spPr bwMode="auto">
          <a:xfrm>
            <a:off x="265113" y="5383213"/>
            <a:ext cx="3230562"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t>Pisan Chitphanthanakorn</a:t>
            </a:r>
          </a:p>
          <a:p>
            <a:pPr>
              <a:spcBef>
                <a:spcPct val="0"/>
              </a:spcBef>
              <a:buFontTx/>
              <a:buNone/>
            </a:pPr>
            <a:r>
              <a:rPr lang="en-US" altLang="en-US" sz="1800"/>
              <a:t>Email: </a:t>
            </a:r>
            <a:r>
              <a:rPr lang="en-US" altLang="en-US" sz="1800">
                <a:hlinkClick r:id="rId3"/>
              </a:rPr>
              <a:t>pisach@scg.co.th</a:t>
            </a:r>
            <a:endParaRPr lang="en-US" altLang="en-US" sz="1800"/>
          </a:p>
          <a:p>
            <a:pPr>
              <a:spcBef>
                <a:spcPct val="0"/>
              </a:spcBef>
              <a:buFontTx/>
              <a:buNone/>
            </a:pPr>
            <a:r>
              <a:rPr lang="en-US" altLang="en-US" sz="1800"/>
              <a:t>Tel: 032-339800 – 20 Ext. 24927 </a:t>
            </a:r>
          </a:p>
        </p:txBody>
      </p:sp>
    </p:spTree>
  </p:cSld>
  <p:clrMapOvr>
    <a:masterClrMapping/>
  </p:clrMapOvr>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9698"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Quiz</a:t>
            </a:r>
          </a:p>
        </p:txBody>
      </p:sp>
      <p:sp>
        <p:nvSpPr>
          <p:cNvPr id="4" name="TextBox 3"/>
          <p:cNvSpPr txBox="1"/>
          <p:nvPr/>
        </p:nvSpPr>
        <p:spPr>
          <a:xfrm>
            <a:off x="738188" y="1125538"/>
            <a:ext cx="7772400" cy="3416300"/>
          </a:xfrm>
          <a:prstGeom prst="rect">
            <a:avLst/>
          </a:prstGeom>
          <a:noFill/>
        </p:spPr>
        <p:txBody>
          <a:bodyPr>
            <a:spAutoFit/>
          </a:bodyPr>
          <a:lstStyle/>
          <a:p>
            <a:pPr>
              <a:defRPr/>
            </a:pPr>
            <a:r>
              <a:rPr lang="en-US" b="1" dirty="0"/>
              <a:t>1) Which of the following are some of the advantages of chemical pulping, </a:t>
            </a:r>
          </a:p>
          <a:p>
            <a:pPr>
              <a:defRPr/>
            </a:pPr>
            <a:r>
              <a:rPr lang="en-US" b="1" dirty="0"/>
              <a:t>compared to mechanical pulping? (Select all that apply.) </a:t>
            </a:r>
          </a:p>
          <a:p>
            <a:pPr>
              <a:defRPr/>
            </a:pPr>
            <a:r>
              <a:rPr lang="en-US" dirty="0"/>
              <a:t>A.   Produces longer, stronger fibers which produce strong paper  </a:t>
            </a:r>
          </a:p>
          <a:p>
            <a:pPr>
              <a:defRPr/>
            </a:pPr>
            <a:r>
              <a:rPr lang="en-US" dirty="0"/>
              <a:t>B.   Higher yields (pulp weight as % of original dry wood weight)  </a:t>
            </a:r>
          </a:p>
          <a:p>
            <a:pPr>
              <a:defRPr/>
            </a:pPr>
            <a:r>
              <a:rPr lang="en-US" dirty="0"/>
              <a:t>C.   Pulp can be bleached to high brightness  </a:t>
            </a:r>
          </a:p>
          <a:p>
            <a:pPr marL="342900" indent="-342900">
              <a:buFontTx/>
              <a:buAutoNum type="alphaUcPeriod" startAt="4"/>
              <a:defRPr/>
            </a:pPr>
            <a:r>
              <a:rPr lang="en-US" dirty="0"/>
              <a:t>Fibers contribute to high opacity and smooth surface of paper</a:t>
            </a:r>
          </a:p>
          <a:p>
            <a:pPr marL="342900" indent="-342900">
              <a:buFontTx/>
              <a:buAutoNum type="alphaUcPeriod" startAt="4"/>
              <a:defRPr/>
            </a:pPr>
            <a:endParaRPr lang="en-US" dirty="0"/>
          </a:p>
          <a:p>
            <a:pPr>
              <a:defRPr/>
            </a:pPr>
            <a:r>
              <a:rPr lang="en-US" b="1" dirty="0"/>
              <a:t>2) Which of the pulping processes listed below has the highest yield (pulp weight as % of original dry wood weight)? </a:t>
            </a:r>
          </a:p>
          <a:p>
            <a:pPr>
              <a:defRPr/>
            </a:pPr>
            <a:r>
              <a:rPr lang="en-US" dirty="0"/>
              <a:t>A.   Mechanical  </a:t>
            </a:r>
          </a:p>
          <a:p>
            <a:pPr>
              <a:defRPr/>
            </a:pPr>
            <a:r>
              <a:rPr lang="en-US" dirty="0"/>
              <a:t>B.   Sulfite  </a:t>
            </a:r>
          </a:p>
          <a:p>
            <a:pPr>
              <a:defRPr/>
            </a:pPr>
            <a:r>
              <a:rPr lang="en-US" dirty="0"/>
              <a:t>C.   Kraft </a:t>
            </a:r>
          </a:p>
        </p:txBody>
      </p:sp>
      <p:sp>
        <p:nvSpPr>
          <p:cNvPr id="10" name="Oval 9"/>
          <p:cNvSpPr/>
          <p:nvPr/>
        </p:nvSpPr>
        <p:spPr>
          <a:xfrm>
            <a:off x="738188" y="2268538"/>
            <a:ext cx="352425" cy="280987"/>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 name="Oval 11"/>
          <p:cNvSpPr/>
          <p:nvPr/>
        </p:nvSpPr>
        <p:spPr>
          <a:xfrm>
            <a:off x="722313" y="1735138"/>
            <a:ext cx="354012" cy="2794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 name="Oval 13"/>
          <p:cNvSpPr/>
          <p:nvPr/>
        </p:nvSpPr>
        <p:spPr>
          <a:xfrm>
            <a:off x="722313" y="3648075"/>
            <a:ext cx="354012" cy="2794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4" grpId="0" animBg="1"/>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1746"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Quiz</a:t>
            </a:r>
          </a:p>
        </p:txBody>
      </p:sp>
      <p:sp>
        <p:nvSpPr>
          <p:cNvPr id="671747" name="TextBox 3"/>
          <p:cNvSpPr txBox="1">
            <a:spLocks noChangeArrowheads="1"/>
          </p:cNvSpPr>
          <p:nvPr/>
        </p:nvSpPr>
        <p:spPr bwMode="auto">
          <a:xfrm>
            <a:off x="293688" y="941388"/>
            <a:ext cx="8583612" cy="563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b="1"/>
              <a:t>3) Match the pulping processes listed with their appropriate descriptions. (Click an item on the left, then click its matching item on the right. Not all choices will be used.)</a:t>
            </a:r>
          </a:p>
          <a:p>
            <a:pPr>
              <a:spcBef>
                <a:spcPct val="0"/>
              </a:spcBef>
              <a:buFontTx/>
              <a:buNone/>
            </a:pPr>
            <a:endParaRPr lang="en-US" altLang="en-US" sz="1800"/>
          </a:p>
          <a:p>
            <a:pPr>
              <a:spcBef>
                <a:spcPct val="0"/>
              </a:spcBef>
              <a:buFontTx/>
              <a:buNone/>
            </a:pPr>
            <a:r>
              <a:rPr lang="en-US" altLang="en-US" sz="1800"/>
              <a:t>Mechanical </a:t>
            </a:r>
          </a:p>
          <a:p>
            <a:pPr>
              <a:spcBef>
                <a:spcPct val="0"/>
              </a:spcBef>
              <a:buFontTx/>
              <a:buNone/>
            </a:pPr>
            <a:r>
              <a:rPr lang="en-US" altLang="en-US" sz="1800"/>
              <a:t>		Acidic chemical pulping process that is sensitive to wood species </a:t>
            </a:r>
          </a:p>
          <a:p>
            <a:pPr>
              <a:spcBef>
                <a:spcPct val="0"/>
              </a:spcBef>
              <a:buFontTx/>
              <a:buNone/>
            </a:pPr>
            <a:r>
              <a:rPr lang="en-US" altLang="en-US" sz="1800"/>
              <a:t>Sulfite </a:t>
            </a:r>
          </a:p>
          <a:p>
            <a:pPr>
              <a:spcBef>
                <a:spcPct val="0"/>
              </a:spcBef>
              <a:buFontTx/>
              <a:buNone/>
            </a:pPr>
            <a:r>
              <a:rPr lang="en-US" altLang="en-US" sz="1800"/>
              <a:t>		Uses mechanical and chemical means to separate fibers in wood </a:t>
            </a:r>
          </a:p>
          <a:p>
            <a:pPr>
              <a:spcBef>
                <a:spcPct val="0"/>
              </a:spcBef>
              <a:buFontTx/>
              <a:buNone/>
            </a:pPr>
            <a:r>
              <a:rPr lang="en-US" altLang="en-US" sz="1800"/>
              <a:t>Kraft </a:t>
            </a:r>
          </a:p>
          <a:p>
            <a:pPr>
              <a:spcBef>
                <a:spcPct val="0"/>
              </a:spcBef>
              <a:buFontTx/>
              <a:buNone/>
            </a:pPr>
            <a:r>
              <a:rPr lang="en-US" altLang="en-US" sz="1800"/>
              <a:t>		Uses water, shear forces, and heat to liberate fibers in wood </a:t>
            </a:r>
          </a:p>
          <a:p>
            <a:pPr>
              <a:spcBef>
                <a:spcPct val="0"/>
              </a:spcBef>
              <a:buFontTx/>
              <a:buNone/>
            </a:pPr>
            <a:r>
              <a:rPr lang="en-US" altLang="en-US" sz="1800"/>
              <a:t>Semichemical</a:t>
            </a:r>
          </a:p>
          <a:p>
            <a:pPr>
              <a:spcBef>
                <a:spcPct val="0"/>
              </a:spcBef>
              <a:buFontTx/>
              <a:buNone/>
            </a:pPr>
            <a:r>
              <a:rPr lang="en-US" altLang="en-US" sz="1800"/>
              <a:t>		Alkaline chemical pulping process that produces very strong pulp </a:t>
            </a:r>
          </a:p>
          <a:p>
            <a:pPr>
              <a:spcBef>
                <a:spcPct val="0"/>
              </a:spcBef>
              <a:buFontTx/>
              <a:buNone/>
            </a:pPr>
            <a:r>
              <a:rPr lang="en-US" altLang="en-US" sz="1800"/>
              <a:t> Separation </a:t>
            </a:r>
          </a:p>
          <a:p>
            <a:pPr>
              <a:spcBef>
                <a:spcPct val="0"/>
              </a:spcBef>
              <a:buFontTx/>
              <a:buNone/>
            </a:pPr>
            <a:endParaRPr lang="en-US" altLang="en-US" sz="1800"/>
          </a:p>
          <a:p>
            <a:pPr>
              <a:spcBef>
                <a:spcPct val="0"/>
              </a:spcBef>
              <a:buFontTx/>
              <a:buNone/>
            </a:pPr>
            <a:r>
              <a:rPr lang="en-US" altLang="en-US" sz="1800" b="1"/>
              <a:t>4) Hardwood fibers are usually shorter than softwood fibers, but within each group, fiber lengths do not vary. So, all fibers from all softwood tree species are the same length, and all fibers from all hardwood tree species are the same length. </a:t>
            </a:r>
          </a:p>
          <a:p>
            <a:pPr>
              <a:spcBef>
                <a:spcPct val="0"/>
              </a:spcBef>
              <a:buFontTx/>
              <a:buNone/>
            </a:pPr>
            <a:r>
              <a:rPr lang="en-US" altLang="en-US" sz="1800"/>
              <a:t>A.   True  </a:t>
            </a:r>
          </a:p>
          <a:p>
            <a:pPr>
              <a:spcBef>
                <a:spcPct val="0"/>
              </a:spcBef>
              <a:buFontTx/>
              <a:buNone/>
            </a:pPr>
            <a:r>
              <a:rPr lang="en-US" altLang="en-US" sz="1800"/>
              <a:t>B.   False</a:t>
            </a:r>
          </a:p>
          <a:p>
            <a:pPr>
              <a:spcBef>
                <a:spcPct val="0"/>
              </a:spcBef>
              <a:buFontTx/>
              <a:buNone/>
            </a:pPr>
            <a:endParaRPr lang="en-US" altLang="en-US" sz="1800"/>
          </a:p>
          <a:p>
            <a:pPr>
              <a:spcBef>
                <a:spcPct val="0"/>
              </a:spcBef>
              <a:buFontTx/>
              <a:buNone/>
            </a:pPr>
            <a:r>
              <a:rPr lang="en-US" altLang="en-US" sz="1800" b="1"/>
              <a:t>		</a:t>
            </a:r>
            <a:endParaRPr lang="en-US" altLang="en-US" sz="1800"/>
          </a:p>
        </p:txBody>
      </p:sp>
      <p:sp>
        <p:nvSpPr>
          <p:cNvPr id="14" name="Oval 13"/>
          <p:cNvSpPr/>
          <p:nvPr/>
        </p:nvSpPr>
        <p:spPr>
          <a:xfrm>
            <a:off x="261938" y="5638800"/>
            <a:ext cx="354012" cy="280988"/>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7" name="Straight Arrow Connector 16"/>
          <p:cNvCxnSpPr/>
          <p:nvPr/>
        </p:nvCxnSpPr>
        <p:spPr>
          <a:xfrm>
            <a:off x="1470025" y="1976438"/>
            <a:ext cx="701675" cy="130492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flipV="1">
            <a:off x="1028700" y="2270125"/>
            <a:ext cx="1044575" cy="28098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a:off x="1012825" y="2927350"/>
            <a:ext cx="1260475" cy="85248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V="1">
            <a:off x="1665288" y="2736850"/>
            <a:ext cx="506412" cy="93345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500"/>
                                        <p:tgtEl>
                                          <p:spTgt spid="1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fade">
                                      <p:cBhvr>
                                        <p:cTn id="17" dur="500"/>
                                        <p:tgtEl>
                                          <p:spTgt spid="2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nodeType="click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3794"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Quiz</a:t>
            </a:r>
          </a:p>
        </p:txBody>
      </p:sp>
      <p:sp>
        <p:nvSpPr>
          <p:cNvPr id="4" name="TextBox 3"/>
          <p:cNvSpPr txBox="1"/>
          <p:nvPr/>
        </p:nvSpPr>
        <p:spPr>
          <a:xfrm>
            <a:off x="293688" y="941388"/>
            <a:ext cx="8583612" cy="4524375"/>
          </a:xfrm>
          <a:prstGeom prst="rect">
            <a:avLst/>
          </a:prstGeom>
          <a:noFill/>
        </p:spPr>
        <p:txBody>
          <a:bodyPr>
            <a:spAutoFit/>
          </a:bodyPr>
          <a:lstStyle/>
          <a:p>
            <a:pPr>
              <a:defRPr/>
            </a:pPr>
            <a:r>
              <a:rPr lang="en-US" b="1" dirty="0"/>
              <a:t>5) Because paper made from mechanical pulp contains all of the constituents of the wood, it is called "______" paper.</a:t>
            </a:r>
          </a:p>
          <a:p>
            <a:pPr>
              <a:defRPr/>
            </a:pPr>
            <a:r>
              <a:rPr lang="en-US" dirty="0"/>
              <a:t>A.   wood-free  </a:t>
            </a:r>
          </a:p>
          <a:p>
            <a:pPr>
              <a:defRPr/>
            </a:pPr>
            <a:r>
              <a:rPr lang="en-US" dirty="0"/>
              <a:t>B.   woody  </a:t>
            </a:r>
          </a:p>
          <a:p>
            <a:pPr marL="342900" indent="-342900">
              <a:buFontTx/>
              <a:buAutoNum type="alphaUcPeriod" startAt="3"/>
              <a:defRPr/>
            </a:pPr>
            <a:r>
              <a:rPr lang="en-US" dirty="0"/>
              <a:t>wood-containing </a:t>
            </a:r>
          </a:p>
          <a:p>
            <a:pPr>
              <a:defRPr/>
            </a:pPr>
            <a:endParaRPr lang="en-US" dirty="0"/>
          </a:p>
          <a:p>
            <a:pPr>
              <a:defRPr/>
            </a:pPr>
            <a:r>
              <a:rPr lang="en-US" b="1" dirty="0"/>
              <a:t>6) Match the pulp processing operations listed with their correct descriptions. (Click an item on the left, then click its matching item on the right. Not all choices will be used.) </a:t>
            </a:r>
          </a:p>
          <a:p>
            <a:pPr>
              <a:defRPr/>
            </a:pPr>
            <a:endParaRPr lang="en-US" dirty="0"/>
          </a:p>
          <a:p>
            <a:pPr>
              <a:defRPr/>
            </a:pPr>
            <a:r>
              <a:rPr lang="en-US" dirty="0"/>
              <a:t>Pulp screening</a:t>
            </a:r>
          </a:p>
          <a:p>
            <a:pPr>
              <a:defRPr/>
            </a:pPr>
            <a:r>
              <a:rPr lang="en-US" dirty="0"/>
              <a:t>			Remove impurities and contaminants from pulp</a:t>
            </a:r>
          </a:p>
          <a:p>
            <a:pPr>
              <a:defRPr/>
            </a:pPr>
            <a:r>
              <a:rPr lang="en-US" dirty="0"/>
              <a:t>Pulp bleaching</a:t>
            </a:r>
          </a:p>
          <a:p>
            <a:pPr>
              <a:defRPr/>
            </a:pPr>
            <a:r>
              <a:rPr lang="en-US" dirty="0"/>
              <a:t>			Chemicals used to increase brightness of pulp</a:t>
            </a:r>
          </a:p>
          <a:p>
            <a:pPr>
              <a:defRPr/>
            </a:pPr>
            <a:r>
              <a:rPr lang="en-US" dirty="0"/>
              <a:t>Refining</a:t>
            </a:r>
          </a:p>
          <a:p>
            <a:pPr>
              <a:defRPr/>
            </a:pPr>
            <a:r>
              <a:rPr lang="en-US" dirty="0"/>
              <a:t>			Treats fibers to improve strength of paper produced</a:t>
            </a:r>
          </a:p>
          <a:p>
            <a:pPr>
              <a:defRPr/>
            </a:pPr>
            <a:r>
              <a:rPr lang="en-US" dirty="0"/>
              <a:t>Pulp recycling</a:t>
            </a:r>
          </a:p>
        </p:txBody>
      </p:sp>
      <p:sp>
        <p:nvSpPr>
          <p:cNvPr id="10" name="Oval 9"/>
          <p:cNvSpPr/>
          <p:nvPr/>
        </p:nvSpPr>
        <p:spPr>
          <a:xfrm>
            <a:off x="293688" y="2084388"/>
            <a:ext cx="354012" cy="280987"/>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5" name="Straight Arrow Connector 24"/>
          <p:cNvCxnSpPr/>
          <p:nvPr/>
        </p:nvCxnSpPr>
        <p:spPr>
          <a:xfrm>
            <a:off x="1812925" y="3640138"/>
            <a:ext cx="1223963" cy="1397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a:off x="1812925" y="4179888"/>
            <a:ext cx="1223963" cy="24447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p:cNvCxnSpPr/>
          <p:nvPr/>
        </p:nvCxnSpPr>
        <p:spPr>
          <a:xfrm>
            <a:off x="1273175" y="4738688"/>
            <a:ext cx="1763713" cy="22542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fade">
                                      <p:cBhvr>
                                        <p:cTn id="12" dur="500"/>
                                        <p:tgtEl>
                                          <p:spTgt spid="2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500"/>
                                        <p:tgtEl>
                                          <p:spTgt spid="2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nodeType="click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fade">
                                      <p:cBhvr>
                                        <p:cTn id="22"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42"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Quiz</a:t>
            </a:r>
          </a:p>
        </p:txBody>
      </p:sp>
      <p:sp>
        <p:nvSpPr>
          <p:cNvPr id="675843" name="TextBox 3"/>
          <p:cNvSpPr txBox="1">
            <a:spLocks noChangeArrowheads="1"/>
          </p:cNvSpPr>
          <p:nvPr/>
        </p:nvSpPr>
        <p:spPr bwMode="auto">
          <a:xfrm>
            <a:off x="293688" y="941388"/>
            <a:ext cx="8583612" cy="535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b="1"/>
              <a:t>7) Wood fibers from softwood trees and hardwood trees have some physical differences but they are structurally and chemically similar. So, they can be pulped and made into paper by the same basic processes. </a:t>
            </a:r>
          </a:p>
          <a:p>
            <a:pPr>
              <a:spcBef>
                <a:spcPct val="0"/>
              </a:spcBef>
              <a:buFontTx/>
              <a:buNone/>
            </a:pPr>
            <a:r>
              <a:rPr lang="en-US" altLang="en-US" sz="1800"/>
              <a:t>A.   True  </a:t>
            </a:r>
          </a:p>
          <a:p>
            <a:pPr>
              <a:spcBef>
                <a:spcPct val="0"/>
              </a:spcBef>
              <a:buFontTx/>
              <a:buNone/>
            </a:pPr>
            <a:r>
              <a:rPr lang="en-US" altLang="en-US" sz="1800"/>
              <a:t>B.   False  </a:t>
            </a:r>
          </a:p>
          <a:p>
            <a:pPr>
              <a:spcBef>
                <a:spcPct val="0"/>
              </a:spcBef>
              <a:buFontTx/>
              <a:buNone/>
            </a:pPr>
            <a:endParaRPr lang="en-US" altLang="en-US" sz="1800"/>
          </a:p>
          <a:p>
            <a:pPr>
              <a:spcBef>
                <a:spcPct val="0"/>
              </a:spcBef>
              <a:buFontTx/>
              <a:buNone/>
            </a:pPr>
            <a:r>
              <a:rPr lang="en-US" altLang="en-US" sz="1800" b="1"/>
              <a:t>8) Which of the following statements about pulp bleaching are true? (Select all that apply.) </a:t>
            </a:r>
          </a:p>
          <a:p>
            <a:pPr>
              <a:spcBef>
                <a:spcPct val="0"/>
              </a:spcBef>
              <a:buFontTx/>
              <a:buNone/>
            </a:pPr>
            <a:r>
              <a:rPr lang="en-US" altLang="en-US" sz="1800"/>
              <a:t>A.   The goal of bleaching is the same for mechanical and chemical pulps – to alter the colored-compounds in the lignin to lighten and brighten the pulp.  </a:t>
            </a:r>
          </a:p>
          <a:p>
            <a:pPr>
              <a:spcBef>
                <a:spcPct val="0"/>
              </a:spcBef>
              <a:buFontTx/>
              <a:buNone/>
            </a:pPr>
            <a:r>
              <a:rPr lang="en-US" altLang="en-US" sz="1800"/>
              <a:t>B.   Mechanical pulps still contain most of the lignin from wood, and so the goal of bleaching is to alter the colored-compounds in the lignin to lighten and brighten the pulp.  </a:t>
            </a:r>
          </a:p>
          <a:p>
            <a:pPr>
              <a:spcBef>
                <a:spcPct val="0"/>
              </a:spcBef>
              <a:buFontTx/>
              <a:buNone/>
            </a:pPr>
            <a:r>
              <a:rPr lang="en-US" altLang="en-US" sz="1800"/>
              <a:t>C.   For chemical pulps, the goal of bleaching is to remove the remaining lignin in order to brighten and whiten the pulp.  </a:t>
            </a:r>
          </a:p>
          <a:p>
            <a:pPr>
              <a:spcBef>
                <a:spcPct val="0"/>
              </a:spcBef>
              <a:buFontTx/>
              <a:buNone/>
            </a:pPr>
            <a:r>
              <a:rPr lang="en-US" altLang="en-US" sz="1800"/>
              <a:t>D.   Several different chemicals can be used to bleach chemical pulps, and the number of stages and order of addition varies.  </a:t>
            </a:r>
          </a:p>
          <a:p>
            <a:pPr>
              <a:spcBef>
                <a:spcPct val="0"/>
              </a:spcBef>
              <a:buFontTx/>
              <a:buNone/>
            </a:pPr>
            <a:r>
              <a:rPr lang="en-US" altLang="en-US" sz="1800"/>
              <a:t>E.   Bleaching of chemical pulps is typically done in a single stage. If more than one chemical is used, they are all added at the same time. </a:t>
            </a:r>
          </a:p>
          <a:p>
            <a:pPr>
              <a:spcBef>
                <a:spcPct val="0"/>
              </a:spcBef>
              <a:buFontTx/>
              <a:buNone/>
            </a:pPr>
            <a:r>
              <a:rPr lang="en-US" altLang="en-US" sz="1800"/>
              <a:t> </a:t>
            </a:r>
          </a:p>
        </p:txBody>
      </p:sp>
      <p:sp>
        <p:nvSpPr>
          <p:cNvPr id="10" name="Oval 9"/>
          <p:cNvSpPr/>
          <p:nvPr/>
        </p:nvSpPr>
        <p:spPr>
          <a:xfrm>
            <a:off x="293688" y="1824038"/>
            <a:ext cx="354012" cy="280987"/>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 name="Oval 12"/>
          <p:cNvSpPr/>
          <p:nvPr/>
        </p:nvSpPr>
        <p:spPr>
          <a:xfrm>
            <a:off x="261938" y="3714750"/>
            <a:ext cx="354012" cy="280988"/>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 name="Oval 13"/>
          <p:cNvSpPr/>
          <p:nvPr/>
        </p:nvSpPr>
        <p:spPr>
          <a:xfrm>
            <a:off x="282575" y="4275138"/>
            <a:ext cx="354013" cy="280987"/>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 name="Oval 14"/>
          <p:cNvSpPr/>
          <p:nvPr/>
        </p:nvSpPr>
        <p:spPr>
          <a:xfrm>
            <a:off x="288925" y="4819650"/>
            <a:ext cx="354013" cy="280988"/>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500"/>
                                        <p:tgtEl>
                                          <p:spTgt spid="1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3" grpId="0" animBg="1"/>
      <p:bldP spid="14" grpId="0" animBg="1"/>
      <p:bldP spid="15" grpId="0" animBg="1"/>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7890" name="Title 1"/>
          <p:cNvSpPr>
            <a:spLocks noGrp="1"/>
          </p:cNvSpPr>
          <p:nvPr>
            <p:ph type="title"/>
          </p:nvPr>
        </p:nvSpPr>
        <p:spPr>
          <a:xfrm>
            <a:off x="457200" y="-17463"/>
            <a:ext cx="8229600" cy="1143001"/>
          </a:xfrm>
        </p:spPr>
        <p:txBody>
          <a:bodyPr/>
          <a:lstStyle/>
          <a:p>
            <a:pPr eaLnBrk="1" hangingPunct="1"/>
            <a:r>
              <a:rPr lang="en-US" altLang="en-US" sz="3200" smtClean="0">
                <a:latin typeface="Tahoma" panose="020B0604030504040204" pitchFamily="34" charset="0"/>
                <a:cs typeface="Tahoma" panose="020B0604030504040204" pitchFamily="34" charset="0"/>
              </a:rPr>
              <a:t>Quiz</a:t>
            </a:r>
          </a:p>
        </p:txBody>
      </p:sp>
      <p:sp>
        <p:nvSpPr>
          <p:cNvPr id="4" name="TextBox 3"/>
          <p:cNvSpPr txBox="1"/>
          <p:nvPr/>
        </p:nvSpPr>
        <p:spPr>
          <a:xfrm>
            <a:off x="293688" y="941388"/>
            <a:ext cx="8583612" cy="3694112"/>
          </a:xfrm>
          <a:prstGeom prst="rect">
            <a:avLst/>
          </a:prstGeom>
          <a:noFill/>
        </p:spPr>
        <p:txBody>
          <a:bodyPr>
            <a:spAutoFit/>
          </a:bodyPr>
          <a:lstStyle/>
          <a:p>
            <a:pPr>
              <a:defRPr/>
            </a:pPr>
            <a:r>
              <a:rPr lang="en-US" b="1" dirty="0"/>
              <a:t>9) For many centuries and for most of its history, paper was primarily used as (a) ________. </a:t>
            </a:r>
          </a:p>
          <a:p>
            <a:pPr>
              <a:defRPr/>
            </a:pPr>
            <a:r>
              <a:rPr lang="en-US" dirty="0"/>
              <a:t>A.   packaging material  </a:t>
            </a:r>
          </a:p>
          <a:p>
            <a:pPr>
              <a:defRPr/>
            </a:pPr>
            <a:r>
              <a:rPr lang="en-US" dirty="0"/>
              <a:t>B.   filter medium  </a:t>
            </a:r>
          </a:p>
          <a:p>
            <a:pPr>
              <a:defRPr/>
            </a:pPr>
            <a:r>
              <a:rPr lang="en-US" dirty="0"/>
              <a:t>C.   writing surface  </a:t>
            </a:r>
          </a:p>
          <a:p>
            <a:pPr marL="342900" indent="-342900">
              <a:buFontTx/>
              <a:buAutoNum type="alphaUcPeriod" startAt="4"/>
              <a:defRPr/>
            </a:pPr>
            <a:r>
              <a:rPr lang="en-US" dirty="0"/>
              <a:t>currency medium  </a:t>
            </a:r>
          </a:p>
          <a:p>
            <a:pPr>
              <a:defRPr/>
            </a:pPr>
            <a:endParaRPr lang="en-US" dirty="0"/>
          </a:p>
          <a:p>
            <a:pPr>
              <a:defRPr/>
            </a:pPr>
            <a:r>
              <a:rPr lang="en-US" b="1" dirty="0"/>
              <a:t>10) For chemical pulping processes, what two valuable items end up being fired into the recovery boiler? </a:t>
            </a:r>
          </a:p>
          <a:p>
            <a:pPr>
              <a:defRPr/>
            </a:pPr>
            <a:r>
              <a:rPr lang="en-US" dirty="0"/>
              <a:t>A.   Wood fibers  </a:t>
            </a:r>
          </a:p>
          <a:p>
            <a:pPr>
              <a:defRPr/>
            </a:pPr>
            <a:r>
              <a:rPr lang="en-US" dirty="0"/>
              <a:t>B.   Used, inorganic pulping chemicals  </a:t>
            </a:r>
          </a:p>
          <a:p>
            <a:pPr>
              <a:defRPr/>
            </a:pPr>
            <a:r>
              <a:rPr lang="en-US" dirty="0"/>
              <a:t>C.   Dissolved, organic wood components  </a:t>
            </a:r>
          </a:p>
          <a:p>
            <a:pPr>
              <a:defRPr/>
            </a:pPr>
            <a:r>
              <a:rPr lang="en-US" dirty="0"/>
              <a:t>D.   Bark-contaminated wood </a:t>
            </a:r>
          </a:p>
        </p:txBody>
      </p:sp>
      <p:sp>
        <p:nvSpPr>
          <p:cNvPr id="10" name="Oval 9"/>
          <p:cNvSpPr/>
          <p:nvPr/>
        </p:nvSpPr>
        <p:spPr>
          <a:xfrm>
            <a:off x="293688" y="2079625"/>
            <a:ext cx="354012" cy="280988"/>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Oval 7"/>
          <p:cNvSpPr/>
          <p:nvPr/>
        </p:nvSpPr>
        <p:spPr>
          <a:xfrm>
            <a:off x="280988" y="3727450"/>
            <a:ext cx="352425" cy="280988"/>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 name="Oval 8"/>
          <p:cNvSpPr/>
          <p:nvPr/>
        </p:nvSpPr>
        <p:spPr>
          <a:xfrm>
            <a:off x="293688" y="4008438"/>
            <a:ext cx="354012" cy="2794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8" grpId="0" animBg="1"/>
      <p:bldP spid="9" grpId="0" animBg="1"/>
    </p:bldLst>
  </p:timing>
</p:sld>
</file>

<file path=ppt/theme/theme1.xml><?xml version="1.0" encoding="utf-8"?>
<a:theme xmlns:a="http://schemas.openxmlformats.org/drawingml/2006/main" name="Custom Design">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5790</TotalTime>
  <Words>11246</Words>
  <Application>Microsoft Office PowerPoint</Application>
  <PresentationFormat>On-screen Show (4:3)</PresentationFormat>
  <Paragraphs>1893</Paragraphs>
  <Slides>288</Slides>
  <Notes>103</Notes>
  <HiddenSlides>1</HiddenSlides>
  <MMClips>9</MMClips>
  <ScaleCrop>false</ScaleCrop>
  <HeadingPairs>
    <vt:vector size="6" baseType="variant">
      <vt:variant>
        <vt:lpstr>Theme</vt:lpstr>
      </vt:variant>
      <vt:variant>
        <vt:i4>1</vt:i4>
      </vt:variant>
      <vt:variant>
        <vt:lpstr>Embedded OLE Servers</vt:lpstr>
      </vt:variant>
      <vt:variant>
        <vt:i4>3</vt:i4>
      </vt:variant>
      <vt:variant>
        <vt:lpstr>Slide Titles</vt:lpstr>
      </vt:variant>
      <vt:variant>
        <vt:i4>288</vt:i4>
      </vt:variant>
    </vt:vector>
  </HeadingPairs>
  <TitlesOfParts>
    <vt:vector size="292" baseType="lpstr">
      <vt:lpstr>Custom Design</vt:lpstr>
      <vt:lpstr>Worksheet</vt:lpstr>
      <vt:lpstr>Chart</vt:lpstr>
      <vt:lpstr>Photo Editor Photo</vt:lpstr>
      <vt:lpstr>Topic outlines</vt:lpstr>
      <vt:lpstr>PowerPoint Presentation</vt:lpstr>
      <vt:lpstr>PowerPoint Presentation</vt:lpstr>
      <vt:lpstr>Displacement principle of rotary vacuum washer</vt:lpstr>
      <vt:lpstr>PowerPoint Presentation</vt:lpstr>
      <vt:lpstr>PowerPoint Presentation</vt:lpstr>
      <vt:lpstr>PowerPoint Presentation</vt:lpstr>
      <vt:lpstr>Topic outlines</vt:lpstr>
      <vt:lpstr>PowerPoint Presentation</vt:lpstr>
      <vt:lpstr>PowerPoint Presentation</vt:lpstr>
      <vt:lpstr>PowerPoint Presentation</vt:lpstr>
      <vt:lpstr>Topic outlines</vt:lpstr>
      <vt:lpstr>Ideal Washing Efficiency</vt:lpstr>
      <vt:lpstr>Measuring Washing Efficiency</vt:lpstr>
      <vt:lpstr>Dilution Factor</vt:lpstr>
      <vt:lpstr>PowerPoint Presentation</vt:lpstr>
      <vt:lpstr>PowerPoint Presentation</vt:lpstr>
      <vt:lpstr>PowerPoint Presentation</vt:lpstr>
      <vt:lpstr>Principles of washing Theory</vt:lpstr>
      <vt:lpstr>PowerPoint Presentation</vt:lpstr>
      <vt:lpstr>Displacement Ratio (อัตราส่วนการแทนที่ด้วยน้ำล้างเยื่อ)</vt:lpstr>
      <vt:lpstr>PowerPoint Presentation</vt:lpstr>
      <vt:lpstr>Thickening Factor</vt:lpstr>
      <vt:lpstr>PowerPoint Presentation</vt:lpstr>
      <vt:lpstr>PowerPoint Presentation</vt:lpstr>
      <vt:lpstr>PowerPoint Presentation</vt:lpstr>
      <vt:lpstr>PowerPoint Presentation</vt:lpstr>
      <vt:lpstr>4. Overview of Pulping methodology </vt:lpstr>
      <vt:lpstr>4. Overview of Pulping methodology </vt:lpstr>
      <vt:lpstr>5. Bleaching sequences </vt:lpstr>
      <vt:lpstr>5. Bleaching sequences </vt:lpstr>
      <vt:lpstr>5. Bleaching sequences </vt:lpstr>
      <vt:lpstr>5. Bleaching sequences </vt:lpstr>
      <vt:lpstr>5. Bleaching sequences </vt:lpstr>
      <vt:lpstr>5. Bleaching sequences </vt:lpstr>
      <vt:lpstr>5. Bleaching sequences </vt:lpstr>
      <vt:lpstr>Oxygen Delignification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Pulp Bleaching</vt:lpstr>
      <vt:lpstr>5. Bleaching sequences </vt:lpstr>
      <vt:lpstr>Causes Of Pulp Fiber Coloration In Pulp Mill </vt:lpstr>
      <vt:lpstr>Objectives Of Pulp Bleaching</vt:lpstr>
      <vt:lpstr>Objectives Of Pulp Bleaching</vt:lpstr>
      <vt:lpstr>5. Bleaching sequences </vt:lpstr>
      <vt:lpstr>Factors Interfering With The  Achievement Of Bleaching Objectives</vt:lpstr>
      <vt:lpstr>Factors Interfering With The  Achievement Of Bleaching Objectives</vt:lpstr>
      <vt:lpstr> </vt:lpstr>
      <vt:lpstr>Bleach Chemicals Used in Pulp Mills</vt:lpstr>
      <vt:lpstr>Selection of Bleach chemicals</vt:lpstr>
      <vt:lpstr>Important Bleaching Parameters</vt:lpstr>
      <vt:lpstr>Environmental concerns of Bleaching</vt:lpstr>
      <vt:lpstr>Ways To Reduce AOX &amp; Dioxin Formation </vt:lpstr>
      <vt:lpstr>Ways To Reduce AOX &amp; Dioxin Formation </vt:lpstr>
      <vt:lpstr>PowerPoint Presentation</vt:lpstr>
      <vt:lpstr>5. Bleaching sequences </vt:lpstr>
      <vt:lpstr>PowerPoint Presentation</vt:lpstr>
      <vt:lpstr>PowerPoint Presentation</vt:lpstr>
      <vt:lpstr>Bleaching sequences to achive 85%ISO brightness</vt:lpstr>
      <vt:lpstr>PowerPoint Presentation</vt:lpstr>
      <vt:lpstr>PowerPoint Presentation</vt:lpstr>
      <vt:lpstr>PowerPoint Presentation</vt:lpstr>
      <vt:lpstr>PowerPoint Presentation</vt:lpstr>
      <vt:lpstr>Bleach Plant Process Control Scheme</vt:lpstr>
      <vt:lpstr>Less impact to environment </vt:lpstr>
      <vt:lpstr>PowerPoint Presentation</vt:lpstr>
      <vt:lpstr>Visual Process control</vt:lpstr>
      <vt:lpstr>6. Principle of chemical recovery </vt:lpstr>
      <vt:lpstr>6. Principle of chemical recovery </vt:lpstr>
      <vt:lpstr>6. Principle of chemical recovery </vt:lpstr>
      <vt:lpstr>6. Principle of chemical recovery </vt:lpstr>
      <vt:lpstr>6. Principle of chemical recovery </vt:lpstr>
      <vt:lpstr>Chemical Recovery Section</vt:lpstr>
      <vt:lpstr>PowerPoint Presentation</vt:lpstr>
      <vt:lpstr>PowerPoint Presentation</vt:lpstr>
      <vt:lpstr>6. Principle of chemical recovery </vt:lpstr>
      <vt:lpstr>Evaporator</vt:lpstr>
      <vt:lpstr>Evaporator</vt:lpstr>
      <vt:lpstr>PowerPoint Presentation</vt:lpstr>
      <vt:lpstr>Evaporator</vt:lpstr>
      <vt:lpstr>Evaporator</vt:lpstr>
      <vt:lpstr>Evaporator</vt:lpstr>
      <vt:lpstr>Evaporator</vt:lpstr>
      <vt:lpstr>PowerPoint Presentation</vt:lpstr>
      <vt:lpstr>Evaporator</vt:lpstr>
      <vt:lpstr>Evaporator</vt:lpstr>
      <vt:lpstr>Evaporator</vt:lpstr>
      <vt:lpstr>Evaporator</vt:lpstr>
      <vt:lpstr>Evaporator</vt:lpstr>
      <vt:lpstr>PowerPoint Presentation</vt:lpstr>
      <vt:lpstr>PowerPoint Presentation</vt:lpstr>
      <vt:lpstr>Evaporator</vt:lpstr>
      <vt:lpstr>Evaporator</vt:lpstr>
      <vt:lpstr>Live steam and liquor flows</vt:lpstr>
      <vt:lpstr>Chart IV.1 : Live steam versus liquor flow</vt:lpstr>
      <vt:lpstr>Recovery Boiler</vt:lpstr>
      <vt:lpstr>6. Principle of chemical recovery </vt:lpstr>
      <vt:lpstr>Recovery Boiler</vt:lpstr>
      <vt:lpstr>PowerPoint Presentation</vt:lpstr>
      <vt:lpstr>PowerPoint Presentation</vt:lpstr>
      <vt:lpstr>PowerPoint Presentation</vt:lpstr>
      <vt:lpstr>Fuel Process</vt:lpstr>
      <vt:lpstr>Fuel Process</vt:lpstr>
      <vt:lpstr>Fuel Process</vt:lpstr>
      <vt:lpstr>PowerPoint Presentation</vt:lpstr>
      <vt:lpstr>Fuel Process</vt:lpstr>
      <vt:lpstr>Fuel Process</vt:lpstr>
      <vt:lpstr>Fuel Process</vt:lpstr>
      <vt:lpstr>Fuel Process</vt:lpstr>
      <vt:lpstr>Recovery Boiler</vt:lpstr>
      <vt:lpstr>Air System</vt:lpstr>
      <vt:lpstr>Fuel Process</vt:lpstr>
      <vt:lpstr>Recovery Boiler กระบวนการการเผาไหม้ Strong Black Liquor ใน Recovery Boiler</vt:lpstr>
      <vt:lpstr>Recovery Boiler</vt:lpstr>
      <vt:lpstr>Recovery Boiler</vt:lpstr>
      <vt:lpstr>Recovery Boiler</vt:lpstr>
      <vt:lpstr>Fuel Process</vt:lpstr>
      <vt:lpstr>PowerPoint Presentation</vt:lpstr>
      <vt:lpstr>PowerPoint Presentation</vt:lpstr>
      <vt:lpstr>PowerPoint Presentation</vt:lpstr>
      <vt:lpstr>PowerPoint Presentation</vt:lpstr>
      <vt:lpstr>PowerPoint Presentation</vt:lpstr>
      <vt:lpstr>PowerPoint Presentation</vt:lpstr>
      <vt:lpstr>6. Principle of chemical recovery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Role of Lime and Lime Kiln in RE</vt:lpstr>
      <vt:lpstr>  Basic Theory of Lime Recycling (Role of Lime and Lime Kiln in RE)</vt:lpstr>
      <vt:lpstr>  Basic Theory of Lime Recycling (Role of Lime and Lime Kiln in RE)</vt:lpstr>
      <vt:lpstr>Recausticizing Plant</vt:lpstr>
      <vt:lpstr>PowerPoint Presentation</vt:lpstr>
      <vt:lpstr>Recausticizing Plant</vt:lpstr>
      <vt:lpstr>Recausticizing Plant</vt:lpstr>
      <vt:lpstr>Recausticizing Plant</vt:lpstr>
      <vt:lpstr>Recausticizing Plant</vt:lpstr>
      <vt:lpstr>PowerPoint Presentation</vt:lpstr>
      <vt:lpstr>Recausticizing Plant</vt:lpstr>
      <vt:lpstr>6. Principle of chemical recovery </vt:lpstr>
      <vt:lpstr>6. Principle of chemical recovery </vt:lpstr>
      <vt:lpstr>Lime Kiln</vt:lpstr>
      <vt:lpstr>  Basic Theory of Lime Recycling (Lime Kiln Overview)</vt:lpstr>
      <vt:lpstr>  Basic Theory of Lime Recycling (Lime Kiln Overview)</vt:lpstr>
      <vt:lpstr>  Basic Theory of Lime Recycling (Lime Kiln Overview)</vt:lpstr>
      <vt:lpstr>  Basic Theory of Lime Recycling (Lime Kiln Overview)</vt:lpstr>
      <vt:lpstr>  Basic Theory of Lime Recycling (Lime Kiln Overview)</vt:lpstr>
      <vt:lpstr>  Basic Theory of Lime Recycling (Components of a Lime Kiln 1/3)</vt:lpstr>
      <vt:lpstr>  Basic Theory of Lime Recycling (Components of a Lime Kiln 1/3)</vt:lpstr>
      <vt:lpstr>  Basic Theory of Lime Recycling (Components of a Lime Kiln 1/3)</vt:lpstr>
      <vt:lpstr>  Basic Theory of Lime Recycling (Components of a Lime Kiln 2/3)</vt:lpstr>
      <vt:lpstr>  Basic Theory of Lime Recycling (Components of a Lime Kiln 2/3)</vt:lpstr>
      <vt:lpstr>  Basic Theory of Lime Recycling (Components of a Lime Kiln 2/3)</vt:lpstr>
      <vt:lpstr>  Basic Theory of Lime Recycling (Components of a Lime Kiln 3/3)</vt:lpstr>
      <vt:lpstr>  Basic Theory of Lime Recycling (Components of a Lime Kiln 3/3)</vt:lpstr>
      <vt:lpstr>  Basic Theory of Lime Recycling (Components of a Lime Kiln 3/3)</vt:lpstr>
      <vt:lpstr>6. Principle of chemical recovery </vt:lpstr>
      <vt:lpstr>6. Principle of chemical recovery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7. Properties and Testing of pulp</vt:lpstr>
      <vt:lpstr>7. Properties and Testing of pulp</vt:lpstr>
      <vt:lpstr>7. Properties and Testing of pulp</vt:lpstr>
      <vt:lpstr>7. Properties and Testing of pulp</vt:lpstr>
      <vt:lpstr>7. Properties and Testing of pulp</vt:lpstr>
      <vt:lpstr>7. Properties and Testing of pulp</vt:lpstr>
      <vt:lpstr>7. Properties and Testing of pulp</vt:lpstr>
      <vt:lpstr>7. Properties and Testing of pulp</vt:lpstr>
      <vt:lpstr>7. Properties and Testing of pulp</vt:lpstr>
      <vt:lpstr>7. Properties and Testing of pulp</vt:lpstr>
      <vt:lpstr>7. Properties and Testing of pulp</vt:lpstr>
      <vt:lpstr>7. Properties and Testing of pulp</vt:lpstr>
      <vt:lpstr>7. Properties and Testing of pulp</vt:lpstr>
      <vt:lpstr>7. Properties and Testing of pulp</vt:lpstr>
      <vt:lpstr>7. Properties and Testing of pulp</vt:lpstr>
      <vt:lpstr>Conclusion</vt:lpstr>
      <vt:lpstr>PowerPoint Presentation</vt:lpstr>
      <vt:lpstr>Q&amp;A</vt:lpstr>
      <vt:lpstr>Quiz</vt:lpstr>
      <vt:lpstr>Quiz</vt:lpstr>
      <vt:lpstr>Quiz</vt:lpstr>
      <vt:lpstr>Quiz</vt:lpstr>
      <vt:lpstr>Quiz</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Acer</dc:creator>
  <cp:lastModifiedBy>hp</cp:lastModifiedBy>
  <cp:revision>289</cp:revision>
  <dcterms:created xsi:type="dcterms:W3CDTF">2014-06-06T06:55:23Z</dcterms:created>
  <dcterms:modified xsi:type="dcterms:W3CDTF">2016-06-07T07:15:17Z</dcterms:modified>
</cp:coreProperties>
</file>